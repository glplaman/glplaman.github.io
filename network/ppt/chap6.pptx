
<file path=[Content_Types].xml><?xml version="1.0" encoding="utf-8"?>
<Types xmlns="http://schemas.openxmlformats.org/package/2006/content-types">
  <Default Extension="bin" ContentType="application/vnd.openxmlformats-officedocument.oleObject"/>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56" r:id="rId1"/>
  </p:sldMasterIdLst>
  <p:notesMasterIdLst>
    <p:notesMasterId r:id="rId273"/>
  </p:notesMasterIdLst>
  <p:sldIdLst>
    <p:sldId id="257" r:id="rId2"/>
    <p:sldId id="256" r:id="rId3"/>
    <p:sldId id="646" r:id="rId4"/>
    <p:sldId id="572" r:id="rId5"/>
    <p:sldId id="258" r:id="rId6"/>
    <p:sldId id="573" r:id="rId7"/>
    <p:sldId id="259" r:id="rId8"/>
    <p:sldId id="642" r:id="rId9"/>
    <p:sldId id="644" r:id="rId10"/>
    <p:sldId id="260" r:id="rId11"/>
    <p:sldId id="577" r:id="rId12"/>
    <p:sldId id="575" r:id="rId13"/>
    <p:sldId id="261" r:id="rId14"/>
    <p:sldId id="582" r:id="rId15"/>
    <p:sldId id="584" r:id="rId16"/>
    <p:sldId id="267" r:id="rId17"/>
    <p:sldId id="585" r:id="rId18"/>
    <p:sldId id="268" r:id="rId19"/>
    <p:sldId id="269" r:id="rId20"/>
    <p:sldId id="270" r:id="rId21"/>
    <p:sldId id="271" r:id="rId22"/>
    <p:sldId id="272" r:id="rId23"/>
    <p:sldId id="588" r:id="rId24"/>
    <p:sldId id="274" r:id="rId25"/>
    <p:sldId id="590" r:id="rId26"/>
    <p:sldId id="276" r:id="rId27"/>
    <p:sldId id="277" r:id="rId28"/>
    <p:sldId id="278" r:id="rId29"/>
    <p:sldId id="279" r:id="rId30"/>
    <p:sldId id="591" r:id="rId31"/>
    <p:sldId id="280" r:id="rId32"/>
    <p:sldId id="647" r:id="rId33"/>
    <p:sldId id="282" r:id="rId34"/>
    <p:sldId id="283" r:id="rId35"/>
    <p:sldId id="665" r:id="rId36"/>
    <p:sldId id="284" r:id="rId37"/>
    <p:sldId id="285" r:id="rId38"/>
    <p:sldId id="286" r:id="rId39"/>
    <p:sldId id="645" r:id="rId40"/>
    <p:sldId id="287" r:id="rId41"/>
    <p:sldId id="288" r:id="rId42"/>
    <p:sldId id="290" r:id="rId43"/>
    <p:sldId id="592" r:id="rId44"/>
    <p:sldId id="293" r:id="rId45"/>
    <p:sldId id="294" r:id="rId46"/>
    <p:sldId id="295" r:id="rId47"/>
    <p:sldId id="296" r:id="rId48"/>
    <p:sldId id="297" r:id="rId49"/>
    <p:sldId id="663" r:id="rId50"/>
    <p:sldId id="298" r:id="rId51"/>
    <p:sldId id="299" r:id="rId52"/>
    <p:sldId id="300" r:id="rId53"/>
    <p:sldId id="548" r:id="rId54"/>
    <p:sldId id="302" r:id="rId55"/>
    <p:sldId id="303" r:id="rId56"/>
    <p:sldId id="304" r:id="rId57"/>
    <p:sldId id="549" r:id="rId58"/>
    <p:sldId id="306" r:id="rId59"/>
    <p:sldId id="307" r:id="rId60"/>
    <p:sldId id="311" r:id="rId61"/>
    <p:sldId id="593" r:id="rId62"/>
    <p:sldId id="317" r:id="rId63"/>
    <p:sldId id="643" r:id="rId64"/>
    <p:sldId id="322" r:id="rId65"/>
    <p:sldId id="599" r:id="rId66"/>
    <p:sldId id="598" r:id="rId67"/>
    <p:sldId id="326" r:id="rId68"/>
    <p:sldId id="327" r:id="rId69"/>
    <p:sldId id="328" r:id="rId70"/>
    <p:sldId id="329" r:id="rId71"/>
    <p:sldId id="600" r:id="rId72"/>
    <p:sldId id="601" r:id="rId73"/>
    <p:sldId id="603" r:id="rId74"/>
    <p:sldId id="602" r:id="rId75"/>
    <p:sldId id="331" r:id="rId76"/>
    <p:sldId id="332" r:id="rId77"/>
    <p:sldId id="333" r:id="rId78"/>
    <p:sldId id="334" r:id="rId79"/>
    <p:sldId id="335" r:id="rId80"/>
    <p:sldId id="605" r:id="rId81"/>
    <p:sldId id="607" r:id="rId82"/>
    <p:sldId id="338" r:id="rId83"/>
    <p:sldId id="339" r:id="rId84"/>
    <p:sldId id="340" r:id="rId85"/>
    <p:sldId id="341" r:id="rId86"/>
    <p:sldId id="608" r:id="rId87"/>
    <p:sldId id="609" r:id="rId88"/>
    <p:sldId id="610" r:id="rId89"/>
    <p:sldId id="611" r:id="rId90"/>
    <p:sldId id="345" r:id="rId91"/>
    <p:sldId id="346" r:id="rId92"/>
    <p:sldId id="347" r:id="rId93"/>
    <p:sldId id="613" r:id="rId94"/>
    <p:sldId id="612" r:id="rId95"/>
    <p:sldId id="615" r:id="rId96"/>
    <p:sldId id="624" r:id="rId97"/>
    <p:sldId id="360" r:id="rId98"/>
    <p:sldId id="361" r:id="rId99"/>
    <p:sldId id="362" r:id="rId100"/>
    <p:sldId id="664" r:id="rId101"/>
    <p:sldId id="363" r:id="rId102"/>
    <p:sldId id="364" r:id="rId103"/>
    <p:sldId id="365" r:id="rId104"/>
    <p:sldId id="366" r:id="rId105"/>
    <p:sldId id="367" r:id="rId106"/>
    <p:sldId id="368" r:id="rId107"/>
    <p:sldId id="369" r:id="rId108"/>
    <p:sldId id="370" r:id="rId109"/>
    <p:sldId id="375" r:id="rId110"/>
    <p:sldId id="625" r:id="rId111"/>
    <p:sldId id="626" r:id="rId112"/>
    <p:sldId id="377" r:id="rId113"/>
    <p:sldId id="627" r:id="rId114"/>
    <p:sldId id="378" r:id="rId115"/>
    <p:sldId id="628" r:id="rId116"/>
    <p:sldId id="379" r:id="rId117"/>
    <p:sldId id="383" r:id="rId118"/>
    <p:sldId id="386" r:id="rId119"/>
    <p:sldId id="387" r:id="rId120"/>
    <p:sldId id="389" r:id="rId121"/>
    <p:sldId id="395" r:id="rId122"/>
    <p:sldId id="396" r:id="rId123"/>
    <p:sldId id="397" r:id="rId124"/>
    <p:sldId id="398" r:id="rId125"/>
    <p:sldId id="399" r:id="rId126"/>
    <p:sldId id="400" r:id="rId127"/>
    <p:sldId id="401" r:id="rId128"/>
    <p:sldId id="402" r:id="rId129"/>
    <p:sldId id="403" r:id="rId130"/>
    <p:sldId id="404" r:id="rId131"/>
    <p:sldId id="405" r:id="rId132"/>
    <p:sldId id="406" r:id="rId133"/>
    <p:sldId id="631" r:id="rId134"/>
    <p:sldId id="408" r:id="rId135"/>
    <p:sldId id="409" r:id="rId136"/>
    <p:sldId id="410" r:id="rId137"/>
    <p:sldId id="411" r:id="rId138"/>
    <p:sldId id="412" r:id="rId139"/>
    <p:sldId id="414" r:id="rId140"/>
    <p:sldId id="415" r:id="rId141"/>
    <p:sldId id="417" r:id="rId142"/>
    <p:sldId id="418" r:id="rId143"/>
    <p:sldId id="419" r:id="rId144"/>
    <p:sldId id="422" r:id="rId145"/>
    <p:sldId id="420" r:id="rId146"/>
    <p:sldId id="424" r:id="rId147"/>
    <p:sldId id="427" r:id="rId148"/>
    <p:sldId id="428" r:id="rId149"/>
    <p:sldId id="656" r:id="rId150"/>
    <p:sldId id="657" r:id="rId151"/>
    <p:sldId id="429" r:id="rId152"/>
    <p:sldId id="659" r:id="rId153"/>
    <p:sldId id="430" r:id="rId154"/>
    <p:sldId id="431" r:id="rId155"/>
    <p:sldId id="660" r:id="rId156"/>
    <p:sldId id="432" r:id="rId157"/>
    <p:sldId id="633" r:id="rId158"/>
    <p:sldId id="661" r:id="rId159"/>
    <p:sldId id="434" r:id="rId160"/>
    <p:sldId id="435" r:id="rId161"/>
    <p:sldId id="658" r:id="rId162"/>
    <p:sldId id="662" r:id="rId163"/>
    <p:sldId id="437" r:id="rId164"/>
    <p:sldId id="438" r:id="rId165"/>
    <p:sldId id="563" r:id="rId166"/>
    <p:sldId id="439" r:id="rId167"/>
    <p:sldId id="440" r:id="rId168"/>
    <p:sldId id="441" r:id="rId169"/>
    <p:sldId id="442" r:id="rId170"/>
    <p:sldId id="443" r:id="rId171"/>
    <p:sldId id="444" r:id="rId172"/>
    <p:sldId id="445" r:id="rId173"/>
    <p:sldId id="446" r:id="rId174"/>
    <p:sldId id="447" r:id="rId175"/>
    <p:sldId id="448" r:id="rId176"/>
    <p:sldId id="449" r:id="rId177"/>
    <p:sldId id="450" r:id="rId178"/>
    <p:sldId id="451" r:id="rId179"/>
    <p:sldId id="452" r:id="rId180"/>
    <p:sldId id="453" r:id="rId181"/>
    <p:sldId id="454" r:id="rId182"/>
    <p:sldId id="455" r:id="rId183"/>
    <p:sldId id="456" r:id="rId184"/>
    <p:sldId id="457" r:id="rId185"/>
    <p:sldId id="458" r:id="rId186"/>
    <p:sldId id="459" r:id="rId187"/>
    <p:sldId id="460" r:id="rId188"/>
    <p:sldId id="461" r:id="rId189"/>
    <p:sldId id="462" r:id="rId190"/>
    <p:sldId id="463" r:id="rId191"/>
    <p:sldId id="464" r:id="rId192"/>
    <p:sldId id="466" r:id="rId193"/>
    <p:sldId id="467" r:id="rId194"/>
    <p:sldId id="468" r:id="rId195"/>
    <p:sldId id="469" r:id="rId196"/>
    <p:sldId id="470" r:id="rId197"/>
    <p:sldId id="471" r:id="rId198"/>
    <p:sldId id="472" r:id="rId199"/>
    <p:sldId id="473" r:id="rId200"/>
    <p:sldId id="474" r:id="rId201"/>
    <p:sldId id="475" r:id="rId202"/>
    <p:sldId id="476" r:id="rId203"/>
    <p:sldId id="477" r:id="rId204"/>
    <p:sldId id="478" r:id="rId205"/>
    <p:sldId id="479" r:id="rId206"/>
    <p:sldId id="480" r:id="rId207"/>
    <p:sldId id="481" r:id="rId208"/>
    <p:sldId id="482" r:id="rId209"/>
    <p:sldId id="483" r:id="rId210"/>
    <p:sldId id="484" r:id="rId211"/>
    <p:sldId id="485" r:id="rId212"/>
    <p:sldId id="486" r:id="rId213"/>
    <p:sldId id="487" r:id="rId214"/>
    <p:sldId id="488" r:id="rId215"/>
    <p:sldId id="489" r:id="rId216"/>
    <p:sldId id="490" r:id="rId217"/>
    <p:sldId id="491" r:id="rId218"/>
    <p:sldId id="492" r:id="rId219"/>
    <p:sldId id="493" r:id="rId220"/>
    <p:sldId id="494" r:id="rId221"/>
    <p:sldId id="495" r:id="rId222"/>
    <p:sldId id="496" r:id="rId223"/>
    <p:sldId id="497" r:id="rId224"/>
    <p:sldId id="498" r:id="rId225"/>
    <p:sldId id="499" r:id="rId226"/>
    <p:sldId id="500" r:id="rId227"/>
    <p:sldId id="501" r:id="rId228"/>
    <p:sldId id="502" r:id="rId229"/>
    <p:sldId id="503" r:id="rId230"/>
    <p:sldId id="504" r:id="rId231"/>
    <p:sldId id="506" r:id="rId232"/>
    <p:sldId id="507" r:id="rId233"/>
    <p:sldId id="508" r:id="rId234"/>
    <p:sldId id="509" r:id="rId235"/>
    <p:sldId id="510" r:id="rId236"/>
    <p:sldId id="511" r:id="rId237"/>
    <p:sldId id="512" r:id="rId238"/>
    <p:sldId id="513" r:id="rId239"/>
    <p:sldId id="515" r:id="rId240"/>
    <p:sldId id="634" r:id="rId241"/>
    <p:sldId id="635" r:id="rId242"/>
    <p:sldId id="636" r:id="rId243"/>
    <p:sldId id="519" r:id="rId244"/>
    <p:sldId id="641" r:id="rId245"/>
    <p:sldId id="637" r:id="rId246"/>
    <p:sldId id="638" r:id="rId247"/>
    <p:sldId id="523" r:id="rId248"/>
    <p:sldId id="648" r:id="rId249"/>
    <p:sldId id="649" r:id="rId250"/>
    <p:sldId id="526" r:id="rId251"/>
    <p:sldId id="527" r:id="rId252"/>
    <p:sldId id="650" r:id="rId253"/>
    <p:sldId id="532" r:id="rId254"/>
    <p:sldId id="651" r:id="rId255"/>
    <p:sldId id="533" r:id="rId256"/>
    <p:sldId id="639" r:id="rId257"/>
    <p:sldId id="534" r:id="rId258"/>
    <p:sldId id="535" r:id="rId259"/>
    <p:sldId id="538" r:id="rId260"/>
    <p:sldId id="571" r:id="rId261"/>
    <p:sldId id="654" r:id="rId262"/>
    <p:sldId id="540" r:id="rId263"/>
    <p:sldId id="541" r:id="rId264"/>
    <p:sldId id="653" r:id="rId265"/>
    <p:sldId id="652" r:id="rId266"/>
    <p:sldId id="655" r:id="rId267"/>
    <p:sldId id="542" r:id="rId268"/>
    <p:sldId id="543" r:id="rId269"/>
    <p:sldId id="544" r:id="rId270"/>
    <p:sldId id="640" r:id="rId271"/>
    <p:sldId id="546" r:id="rId272"/>
  </p:sldIdLst>
  <p:sldSz cx="9144000" cy="5143500" type="screen16x9"/>
  <p:notesSz cx="6858000" cy="9144000"/>
  <p:embeddedFontLst>
    <p:embeddedFont>
      <p:font typeface="Montserrat" panose="00000500000000000000" pitchFamily="2" charset="0"/>
      <p:regular r:id="rId274"/>
    </p:embeddedFont>
    <p:embeddedFont>
      <p:font typeface="微软雅黑" panose="020B0503020204020204" pitchFamily="34" charset="-122"/>
      <p:regular r:id="rId275"/>
      <p:bold r:id="rId276"/>
    </p:embeddedFont>
    <p:embeddedFont>
      <p:font typeface="微软雅黑 Light" panose="020B0502040204020203" pitchFamily="34" charset="-122"/>
      <p:regular r:id="rId277"/>
    </p:embeddedFont>
  </p:embeddedFont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BACC6"/>
    <a:srgbClr val="F79646"/>
    <a:srgbClr val="D7E4BD"/>
    <a:srgbClr val="FF00FF"/>
    <a:srgbClr val="5780CA"/>
    <a:srgbClr val="DDA19F"/>
    <a:srgbClr val="FFFFFF"/>
    <a:srgbClr val="F7AA5F"/>
    <a:srgbClr val="FDEEDF"/>
    <a:srgbClr val="1AC38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93296810-A885-4BE3-A3E7-6D5BEEA58F35}" styleName="中度样式 2 - 强调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35758FB7-9AC5-4552-8A53-C91805E547FA}" styleName="主题样式 1 - 强调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8FD4443E-F989-4FC4-A0C8-D5A2AF1F390B}" styleName="深色样式 1 - 强调 5">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5"/>
          </a:solidFill>
        </a:fill>
      </a:tcStyle>
    </a:wholeTbl>
    <a:band1H>
      <a:tcStyle>
        <a:tcBdr/>
        <a:fill>
          <a:solidFill>
            <a:schemeClr val="accent5">
              <a:shade val="60000"/>
            </a:schemeClr>
          </a:solidFill>
        </a:fill>
      </a:tcStyle>
    </a:band1H>
    <a:band1V>
      <a:tcStyle>
        <a:tcBdr/>
        <a:fill>
          <a:solidFill>
            <a:schemeClr val="accent5">
              <a:shade val="60000"/>
            </a:schemeClr>
          </a:solidFill>
        </a:fill>
      </a:tcStyle>
    </a:band1V>
    <a:lastCol>
      <a:tcTxStyle b="on"/>
      <a:tcStyle>
        <a:tcBdr>
          <a:left>
            <a:ln w="25400" cmpd="sng">
              <a:solidFill>
                <a:schemeClr val="lt1"/>
              </a:solidFill>
            </a:ln>
          </a:left>
        </a:tcBdr>
        <a:fill>
          <a:solidFill>
            <a:schemeClr val="accent5">
              <a:shade val="60000"/>
            </a:schemeClr>
          </a:solidFill>
        </a:fill>
      </a:tcStyle>
    </a:lastCol>
    <a:firstCol>
      <a:tcTxStyle b="on"/>
      <a:tcStyle>
        <a:tcBdr>
          <a:right>
            <a:ln w="25400" cmpd="sng">
              <a:solidFill>
                <a:schemeClr val="lt1"/>
              </a:solidFill>
            </a:ln>
          </a:right>
        </a:tcBdr>
        <a:fill>
          <a:solidFill>
            <a:schemeClr val="accent5">
              <a:shade val="60000"/>
            </a:schemeClr>
          </a:solidFill>
        </a:fill>
      </a:tcStyle>
    </a:firstCol>
    <a:lastRow>
      <a:tcTxStyle b="on"/>
      <a:tcStyle>
        <a:tcBdr>
          <a:top>
            <a:ln w="25400" cmpd="sng">
              <a:solidFill>
                <a:schemeClr val="lt1"/>
              </a:solidFill>
            </a:ln>
          </a:top>
        </a:tcBdr>
        <a:fill>
          <a:solidFill>
            <a:schemeClr val="accent5">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AF606853-7671-496A-8E4F-DF71F8EC918B}" styleName="深色样式 1 - 强调 6">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6"/>
          </a:solidFill>
        </a:fill>
      </a:tcStyle>
    </a:wholeTbl>
    <a:band1H>
      <a:tcStyle>
        <a:tcBdr/>
        <a:fill>
          <a:solidFill>
            <a:schemeClr val="accent6">
              <a:shade val="60000"/>
            </a:schemeClr>
          </a:solidFill>
        </a:fill>
      </a:tcStyle>
    </a:band1H>
    <a:band1V>
      <a:tcStyle>
        <a:tcBdr/>
        <a:fill>
          <a:solidFill>
            <a:schemeClr val="accent6">
              <a:shade val="60000"/>
            </a:schemeClr>
          </a:solidFill>
        </a:fill>
      </a:tcStyle>
    </a:band1V>
    <a:lastCol>
      <a:tcTxStyle b="on"/>
      <a:tcStyle>
        <a:tcBdr>
          <a:left>
            <a:ln w="25400" cmpd="sng">
              <a:solidFill>
                <a:schemeClr val="lt1"/>
              </a:solidFill>
            </a:ln>
          </a:left>
        </a:tcBdr>
        <a:fill>
          <a:solidFill>
            <a:schemeClr val="accent6">
              <a:shade val="60000"/>
            </a:schemeClr>
          </a:solidFill>
        </a:fill>
      </a:tcStyle>
    </a:lastCol>
    <a:firstCol>
      <a:tcTxStyle b="on"/>
      <a:tcStyle>
        <a:tcBdr>
          <a:right>
            <a:ln w="25400" cmpd="sng">
              <a:solidFill>
                <a:schemeClr val="lt1"/>
              </a:solidFill>
            </a:ln>
          </a:right>
        </a:tcBdr>
        <a:fill>
          <a:solidFill>
            <a:schemeClr val="accent6">
              <a:shade val="60000"/>
            </a:schemeClr>
          </a:solidFill>
        </a:fill>
      </a:tcStyle>
    </a:firstCol>
    <a:lastRow>
      <a:tcTxStyle b="on"/>
      <a:tcStyle>
        <a:tcBdr>
          <a:top>
            <a:ln w="25400" cmpd="sng">
              <a:solidFill>
                <a:schemeClr val="lt1"/>
              </a:solidFill>
            </a:ln>
          </a:top>
        </a:tcBdr>
        <a:fill>
          <a:solidFill>
            <a:schemeClr val="accent6">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D113A9D2-9D6B-4929-AA2D-F23B5EE8CBE7}" styleName="主题样式 2 - 强调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E269D01E-BC32-4049-B463-5C60D7B0CCD2}" styleName="主题样式 2 - 强调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BDBED569-4797-4DF1-A0F4-6AAB3CD982D8}" styleName="浅色样式 3 - 强调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中度样式 1 - 强调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10A1B5D5-9B99-4C35-A422-299274C87663}" styleName="中度样式 1 - 强调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912C8C85-51F0-491E-9774-3900AFEF0FD7}" styleName="浅色样式 2 - 强调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E8B1032C-EA38-4F05-BA0D-38AFFFC7BED3}" styleName="浅色样式 3 - 强调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786" autoAdjust="0"/>
    <p:restoredTop sz="87796" autoAdjust="0"/>
  </p:normalViewPr>
  <p:slideViewPr>
    <p:cSldViewPr snapToGrid="0">
      <p:cViewPr>
        <p:scale>
          <a:sx n="100" d="100"/>
          <a:sy n="100" d="100"/>
        </p:scale>
        <p:origin x="1758" y="912"/>
      </p:cViewPr>
      <p:guideLst>
        <p:guide orient="horz" pos="1620"/>
        <p:guide pos="2880"/>
      </p:guideLst>
    </p:cSldViewPr>
  </p:slideViewPr>
  <p:notesTextViewPr>
    <p:cViewPr>
      <p:scale>
        <a:sx n="1" d="1"/>
        <a:sy n="1" d="1"/>
      </p:scale>
      <p:origin x="0" y="0"/>
    </p:cViewPr>
  </p:notesTextViewPr>
  <p:notesViewPr>
    <p:cSldViewPr snapToGrid="0">
      <p:cViewPr varScale="1">
        <p:scale>
          <a:sx n="86" d="100"/>
          <a:sy n="86" d="100"/>
        </p:scale>
        <p:origin x="2772" y="90"/>
      </p:cViewPr>
      <p:guideLst/>
    </p:cSldViewPr>
  </p:notes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170" Type="http://schemas.openxmlformats.org/officeDocument/2006/relationships/slide" Target="slides/slide169.xml"/><Relationship Id="rId226" Type="http://schemas.openxmlformats.org/officeDocument/2006/relationships/slide" Target="slides/slide225.xml"/><Relationship Id="rId268" Type="http://schemas.openxmlformats.org/officeDocument/2006/relationships/slide" Target="slides/slide267.xml"/><Relationship Id="rId32" Type="http://schemas.openxmlformats.org/officeDocument/2006/relationships/slide" Target="slides/slide31.xml"/><Relationship Id="rId74" Type="http://schemas.openxmlformats.org/officeDocument/2006/relationships/slide" Target="slides/slide73.xml"/><Relationship Id="rId128" Type="http://schemas.openxmlformats.org/officeDocument/2006/relationships/slide" Target="slides/slide127.xml"/><Relationship Id="rId5" Type="http://schemas.openxmlformats.org/officeDocument/2006/relationships/slide" Target="slides/slide4.xml"/><Relationship Id="rId181" Type="http://schemas.openxmlformats.org/officeDocument/2006/relationships/slide" Target="slides/slide180.xml"/><Relationship Id="rId237" Type="http://schemas.openxmlformats.org/officeDocument/2006/relationships/slide" Target="slides/slide236.xml"/><Relationship Id="rId279" Type="http://schemas.openxmlformats.org/officeDocument/2006/relationships/viewProps" Target="viewProps.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slide" Target="slides/slide205.xml"/><Relationship Id="rId227" Type="http://schemas.openxmlformats.org/officeDocument/2006/relationships/slide" Target="slides/slide226.xml"/><Relationship Id="rId248" Type="http://schemas.openxmlformats.org/officeDocument/2006/relationships/slide" Target="slides/slide247.xml"/><Relationship Id="rId269" Type="http://schemas.openxmlformats.org/officeDocument/2006/relationships/slide" Target="slides/slide268.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280" Type="http://schemas.openxmlformats.org/officeDocument/2006/relationships/theme" Target="theme/theme1.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slide" Target="slides/slide216.xml"/><Relationship Id="rId6" Type="http://schemas.openxmlformats.org/officeDocument/2006/relationships/slide" Target="slides/slide5.xml"/><Relationship Id="rId238" Type="http://schemas.openxmlformats.org/officeDocument/2006/relationships/slide" Target="slides/slide237.xml"/><Relationship Id="rId259" Type="http://schemas.openxmlformats.org/officeDocument/2006/relationships/slide" Target="slides/slide258.xml"/><Relationship Id="rId23" Type="http://schemas.openxmlformats.org/officeDocument/2006/relationships/slide" Target="slides/slide22.xml"/><Relationship Id="rId119" Type="http://schemas.openxmlformats.org/officeDocument/2006/relationships/slide" Target="slides/slide118.xml"/><Relationship Id="rId270" Type="http://schemas.openxmlformats.org/officeDocument/2006/relationships/slide" Target="slides/slide269.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228" Type="http://schemas.openxmlformats.org/officeDocument/2006/relationships/slide" Target="slides/slide227.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281" Type="http://schemas.openxmlformats.org/officeDocument/2006/relationships/tableStyles" Target="tableStyles.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slide" Target="slides/slide217.xml"/><Relationship Id="rId239" Type="http://schemas.openxmlformats.org/officeDocument/2006/relationships/slide" Target="slides/slide238.xml"/><Relationship Id="rId250" Type="http://schemas.openxmlformats.org/officeDocument/2006/relationships/slide" Target="slides/slide249.xml"/><Relationship Id="rId271" Type="http://schemas.openxmlformats.org/officeDocument/2006/relationships/slide" Target="slides/slide270.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229" Type="http://schemas.openxmlformats.org/officeDocument/2006/relationships/slide" Target="slides/slide228.xml"/><Relationship Id="rId240" Type="http://schemas.openxmlformats.org/officeDocument/2006/relationships/slide" Target="slides/slide239.xml"/><Relationship Id="rId261" Type="http://schemas.openxmlformats.org/officeDocument/2006/relationships/slide" Target="slides/slide260.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slide" Target="slides/slide250.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72" Type="http://schemas.openxmlformats.org/officeDocument/2006/relationships/slide" Target="slides/slide271.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262" Type="http://schemas.openxmlformats.org/officeDocument/2006/relationships/slide" Target="slides/slide261.xml"/><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slide" Target="slides/slide251.xml"/><Relationship Id="rId273" Type="http://schemas.openxmlformats.org/officeDocument/2006/relationships/notesMaster" Target="notesMasters/notesMaster1.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263" Type="http://schemas.openxmlformats.org/officeDocument/2006/relationships/slide" Target="slides/slide262.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slide" Target="slides/slide252.xml"/><Relationship Id="rId274" Type="http://schemas.openxmlformats.org/officeDocument/2006/relationships/font" Target="fonts/font1.fntdata"/><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264" Type="http://schemas.openxmlformats.org/officeDocument/2006/relationships/slide" Target="slides/slide263.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slide" Target="slides/slide253.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275" Type="http://schemas.openxmlformats.org/officeDocument/2006/relationships/font" Target="fonts/font2.fntdata"/><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265" Type="http://schemas.openxmlformats.org/officeDocument/2006/relationships/slide" Target="slides/slide264.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slide" Target="slides/slide254.xml"/><Relationship Id="rId276" Type="http://schemas.openxmlformats.org/officeDocument/2006/relationships/font" Target="fonts/font3.fntdata"/><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266" Type="http://schemas.openxmlformats.org/officeDocument/2006/relationships/slide" Target="slides/slide265.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slide" Target="slides/slide255.xml"/><Relationship Id="rId277" Type="http://schemas.openxmlformats.org/officeDocument/2006/relationships/font" Target="fonts/font4.fntdata"/><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267" Type="http://schemas.openxmlformats.org/officeDocument/2006/relationships/slide" Target="slides/slide26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278" Type="http://schemas.openxmlformats.org/officeDocument/2006/relationships/presProps" Target="presProps.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 Id="rId107" Type="http://schemas.openxmlformats.org/officeDocument/2006/relationships/slide" Target="slides/slide106.xml"/><Relationship Id="rId11" Type="http://schemas.openxmlformats.org/officeDocument/2006/relationships/slide" Target="slides/slide10.xml"/><Relationship Id="rId53" Type="http://schemas.openxmlformats.org/officeDocument/2006/relationships/slide" Target="slides/slide52.xml"/><Relationship Id="rId149" Type="http://schemas.openxmlformats.org/officeDocument/2006/relationships/slide" Target="slides/slide148.xml"/><Relationship Id="rId95" Type="http://schemas.openxmlformats.org/officeDocument/2006/relationships/slide" Target="slides/slide94.xml"/><Relationship Id="rId160" Type="http://schemas.openxmlformats.org/officeDocument/2006/relationships/slide" Target="slides/slide159.xml"/><Relationship Id="rId216" Type="http://schemas.openxmlformats.org/officeDocument/2006/relationships/slide" Target="slides/slide215.xml"/><Relationship Id="rId258" Type="http://schemas.openxmlformats.org/officeDocument/2006/relationships/slide" Target="slides/slide257.xml"/></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3">
  <dgm:title val=""/>
  <dgm:desc val=""/>
  <dgm:catLst>
    <dgm:cat type="colorful" pri="10300"/>
  </dgm:catLst>
  <dgm:styleLbl name="node0">
    <dgm:fillClrLst meth="repeat">
      <a:schemeClr val="accent2"/>
    </dgm:fillClrLst>
    <dgm:linClrLst meth="repeat">
      <a:schemeClr val="lt1"/>
    </dgm:linClrLst>
    <dgm:effectClrLst/>
    <dgm:txLinClrLst/>
    <dgm:txFillClrLst/>
    <dgm:txEffectClrLst/>
  </dgm:styleLbl>
  <dgm:styleLbl name="node1">
    <dgm:fillClrLst>
      <a:schemeClr val="accent3"/>
      <a:schemeClr val="accent4"/>
    </dgm:fillClrLst>
    <dgm:linClrLst meth="repeat">
      <a:schemeClr val="lt1"/>
    </dgm:linClrLst>
    <dgm:effectClrLst/>
    <dgm:txLinClrLst/>
    <dgm:txFillClrLst/>
    <dgm:txEffectClrLst/>
  </dgm:styleLbl>
  <dgm:styleLbl name="alignNode1">
    <dgm:fillClrLst>
      <a:schemeClr val="accent3"/>
      <a:schemeClr val="accent4"/>
    </dgm:fillClrLst>
    <dgm:linClrLst>
      <a:schemeClr val="accent3"/>
      <a:schemeClr val="accent4"/>
    </dgm:linClrLst>
    <dgm:effectClrLst/>
    <dgm:txLinClrLst/>
    <dgm:txFillClrLst/>
    <dgm:txEffectClrLst/>
  </dgm:styleLbl>
  <dgm:styleLbl name="lnNode1">
    <dgm:fillClrLst>
      <a:schemeClr val="accent3"/>
      <a:schemeClr val="accent4"/>
    </dgm:fillClrLst>
    <dgm:linClrLst meth="repeat">
      <a:schemeClr val="lt1"/>
    </dgm:linClrLst>
    <dgm:effectClrLst/>
    <dgm:txLinClrLst/>
    <dgm:txFillClrLst/>
    <dgm:txEffectClrLst/>
  </dgm:styleLbl>
  <dgm:styleLbl name="vennNode1">
    <dgm:fillClrLst>
      <a:schemeClr val="accent3">
        <a:alpha val="50000"/>
      </a:schemeClr>
      <a:schemeClr val="accent4">
        <a:alpha val="50000"/>
      </a:schemeClr>
    </dgm:fillClrLst>
    <dgm:linClrLst meth="repeat">
      <a:schemeClr val="lt1"/>
    </dgm:linClrLst>
    <dgm:effectClrLst/>
    <dgm:txLinClrLst/>
    <dgm:txFillClrLst/>
    <dgm:txEffectClrLst/>
  </dgm:styleLbl>
  <dgm:styleLbl name="node2">
    <dgm:fillClrLst>
      <a:schemeClr val="accent4"/>
    </dgm:fillClrLst>
    <dgm:linClrLst meth="repeat">
      <a:schemeClr val="lt1"/>
    </dgm:linClrLst>
    <dgm:effectClrLst/>
    <dgm:txLinClrLst/>
    <dgm:txFillClrLst/>
    <dgm:txEffectClrLst/>
  </dgm:styleLbl>
  <dgm:styleLbl name="node3">
    <dgm:fillClrLst>
      <a:schemeClr val="accent5"/>
    </dgm:fillClrLst>
    <dgm:linClrLst meth="repeat">
      <a:schemeClr val="lt1"/>
    </dgm:linClrLst>
    <dgm:effectClrLst/>
    <dgm:txLinClrLst/>
    <dgm:txFillClrLst/>
    <dgm:txEffectClrLst/>
  </dgm:styleLbl>
  <dgm:styleLbl name="node4">
    <dgm:fillClrLst>
      <a:schemeClr val="accent6"/>
    </dgm:fillClrLst>
    <dgm:linClrLst meth="repeat">
      <a:schemeClr val="lt1"/>
    </dgm:linClrLst>
    <dgm:effectClrLst/>
    <dgm:txLinClrLst/>
    <dgm:txFillClrLst/>
    <dgm:txEffectClrLst/>
  </dgm:styleLbl>
  <dgm:styleLbl name="fgImgPlace1">
    <dgm:fillClrLst>
      <a:schemeClr val="accent3">
        <a:tint val="50000"/>
      </a:schemeClr>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3"/>
      <a:schemeClr val="accent4"/>
    </dgm:fillClrLst>
    <dgm:linClrLst meth="repeat">
      <a:schemeClr val="lt1"/>
    </dgm:linClrLst>
    <dgm:effectClrLst/>
    <dgm:txLinClrLst/>
    <dgm:txFillClrLst/>
    <dgm:txEffectClrLst/>
  </dgm:styleLbl>
  <dgm:styleLbl name="fgSibTrans2D1">
    <dgm:fillClrLst>
      <a:schemeClr val="accent3"/>
      <a:schemeClr val="accent4"/>
    </dgm:fillClrLst>
    <dgm:linClrLst meth="repeat">
      <a:schemeClr val="lt1"/>
    </dgm:linClrLst>
    <dgm:effectClrLst/>
    <dgm:txLinClrLst/>
    <dgm:txFillClrLst meth="repeat">
      <a:schemeClr val="lt1"/>
    </dgm:txFillClrLst>
    <dgm:txEffectClrLst/>
  </dgm:styleLbl>
  <dgm:styleLbl name="bgSibTrans2D1">
    <dgm:fillClrLst>
      <a:schemeClr val="accent3"/>
      <a:schemeClr val="accent4"/>
    </dgm:fillClrLst>
    <dgm:linClrLst meth="repeat">
      <a:schemeClr val="lt1"/>
    </dgm:linClrLst>
    <dgm:effectClrLst/>
    <dgm:txLinClrLst/>
    <dgm:txFillClrLst meth="repeat">
      <a:schemeClr val="lt1"/>
    </dgm:txFillClrLst>
    <dgm:txEffectClrLst/>
  </dgm:styleLbl>
  <dgm:styleLbl name="sibTrans1D1">
    <dgm:fillClrLst/>
    <dgm:linClrLst>
      <a:schemeClr val="accent3"/>
      <a:schemeClr val="accent4"/>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a:shade val="80000"/>
      </a:schemeClr>
    </dgm:linClrLst>
    <dgm:effectClrLst/>
    <dgm:txLinClrLst/>
    <dgm:txFillClrLst/>
    <dgm:txEffectClrLst/>
  </dgm:styleLbl>
  <dgm:styleLbl name="asst1">
    <dgm:fillClrLst meth="repeat">
      <a:schemeClr val="accent4"/>
    </dgm:fillClrLst>
    <dgm:linClrLst meth="repeat">
      <a:schemeClr val="lt1">
        <a:shade val="80000"/>
      </a:schemeClr>
    </dgm:linClrLst>
    <dgm:effectClrLst/>
    <dgm:txLinClrLst/>
    <dgm:txFillClrLst/>
    <dgm:txEffectClrLst/>
  </dgm:styleLbl>
  <dgm:styleLbl name="asst2">
    <dgm:fillClrLst>
      <a:schemeClr val="accent5"/>
    </dgm:fillClrLst>
    <dgm:linClrLst meth="repeat">
      <a:schemeClr val="lt1"/>
    </dgm:linClrLst>
    <dgm:effectClrLst/>
    <dgm:txLinClrLst/>
    <dgm:txFillClrLst/>
    <dgm:txEffectClrLst/>
  </dgm:styleLbl>
  <dgm:styleLbl name="asst3">
    <dgm:fillClrLst>
      <a:schemeClr val="accent6"/>
    </dgm:fillClrLst>
    <dgm:linClrLst meth="repeat">
      <a:schemeClr val="lt1"/>
    </dgm:linClrLst>
    <dgm:effectClrLst/>
    <dgm:txLinClrLst/>
    <dgm:txFillClrLst/>
    <dgm:txEffectClrLst/>
  </dgm:styleLbl>
  <dgm:styleLbl name="asst4">
    <dgm:fillClrLst>
      <a:schemeClr val="accent1"/>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3"/>
    </dgm:fillClrLst>
    <dgm:linClrLst meth="repeat">
      <a:schemeClr val="accent3"/>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4"/>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5"/>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6"/>
    </dgm:linClrLst>
    <dgm:effectClrLst/>
    <dgm:txLinClrLst/>
    <dgm:txFillClrLst meth="repeat">
      <a:schemeClr val="tx1"/>
    </dgm:txFillClrLst>
    <dgm:txEffectClrLst/>
  </dgm:styleLbl>
  <dgm:styleLbl name="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solidFgAcc1">
    <dgm:fillClrLst meth="repeat">
      <a:schemeClr val="lt1"/>
    </dgm:fillClrLst>
    <dgm:linClrLst>
      <a:schemeClr val="accent3"/>
      <a:schemeClr val="accent4"/>
    </dgm:linClrLst>
    <dgm:effectClrLst/>
    <dgm:txLinClrLst/>
    <dgm:txFillClrLst meth="repeat">
      <a:schemeClr val="dk1"/>
    </dgm:txFillClrLst>
    <dgm:txEffectClrLst/>
  </dgm:styleLbl>
  <dgm:styleLbl name="solidAlignAcc1">
    <dgm:fillClrLst meth="repeat">
      <a:schemeClr val="lt1"/>
    </dgm:fillClrLst>
    <dgm:linClrLst>
      <a:schemeClr val="accent3"/>
      <a:schemeClr val="accent4"/>
    </dgm:linClrLst>
    <dgm:effectClrLst/>
    <dgm:txLinClrLst/>
    <dgm:txFillClrLst meth="repeat">
      <a:schemeClr val="dk1"/>
    </dgm:txFillClrLst>
    <dgm:txEffectClrLst/>
  </dgm:styleLbl>
  <dgm:styleLbl name="solidBgAcc1">
    <dgm:fillClrLst meth="repeat">
      <a:schemeClr val="lt1"/>
    </dgm:fillClrLst>
    <dgm:linClrLst>
      <a:schemeClr val="accent3"/>
      <a:schemeClr val="accent4"/>
    </dgm:linClrLst>
    <dgm:effectClrLst/>
    <dgm:txLinClrLst/>
    <dgm:txFillClrLst meth="repeat">
      <a:schemeClr val="dk1"/>
    </dgm:txFillClrLst>
    <dgm:txEffectClrLst/>
  </dgm:styleLbl>
  <dgm:styleLbl name="f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align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b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2"/>
    </dgm:linClrLst>
    <dgm:effectClrLst/>
    <dgm:txLinClrLst/>
    <dgm:txFillClrLst meth="repeat">
      <a:schemeClr val="dk1"/>
    </dgm:txFillClrLst>
    <dgm:txEffectClrLst/>
  </dgm:styleLbl>
  <dgm:styleLbl name="fgAcc2">
    <dgm:fillClrLst meth="repeat">
      <a:schemeClr val="lt1">
        <a:alpha val="90000"/>
      </a:schemeClr>
    </dgm:fillClrLst>
    <dgm:linClrLst>
      <a:schemeClr val="accent4"/>
    </dgm:linClrLst>
    <dgm:effectClrLst/>
    <dgm:txLinClrLst/>
    <dgm:txFillClrLst meth="repeat">
      <a:schemeClr val="dk1"/>
    </dgm:txFillClrLst>
    <dgm:txEffectClrLst/>
  </dgm:styleLbl>
  <dgm:styleLbl name="fgAcc3">
    <dgm:fillClrLst meth="repeat">
      <a:schemeClr val="lt1">
        <a:alpha val="90000"/>
      </a:schemeClr>
    </dgm:fillClrLst>
    <dgm:linClrLst>
      <a:schemeClr val="accent5"/>
    </dgm:linClrLst>
    <dgm:effectClrLst/>
    <dgm:txLinClrLst/>
    <dgm:txFillClrLst meth="repeat">
      <a:schemeClr val="dk1"/>
    </dgm:txFillClrLst>
    <dgm:txEffectClrLst/>
  </dgm:styleLbl>
  <dgm:styleLbl name="fgAcc4">
    <dgm:fillClrLst meth="repeat">
      <a:schemeClr val="lt1">
        <a:alpha val="90000"/>
      </a:schemeClr>
    </dgm:fillClrLst>
    <dgm:linClrLst>
      <a:schemeClr val="accent6"/>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3">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1#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1#2">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2832C718-DAF0-4C4D-A446-27C1389A0F92}" type="doc">
      <dgm:prSet loTypeId="urn:microsoft.com/office/officeart/2005/8/layout/hierarchy4" loCatId="list" qsTypeId="urn:microsoft.com/office/officeart/2005/8/quickstyle/simple3" qsCatId="simple" csTypeId="urn:microsoft.com/office/officeart/2005/8/colors/colorful2" csCatId="colorful" phldr="1"/>
      <dgm:spPr/>
      <dgm:t>
        <a:bodyPr/>
        <a:lstStyle/>
        <a:p>
          <a:endParaRPr lang="zh-CN" altLang="en-US"/>
        </a:p>
      </dgm:t>
    </dgm:pt>
    <dgm:pt modelId="{078891F9-34FA-4EF4-89D8-5A412AD764F4}">
      <dgm:prSet phldrT="[文本]" custT="1"/>
      <dgm:spPr/>
      <dgm:t>
        <a:bodyPr/>
        <a:lstStyle/>
        <a:p>
          <a:pPr>
            <a:spcAft>
              <a:spcPts val="0"/>
            </a:spcAft>
          </a:pPr>
          <a:r>
            <a:rPr lang="zh-CN" sz="1400" b="0" dirty="0">
              <a:latin typeface="Montserrat" panose="00000500000000000000" pitchFamily="2" charset="0"/>
              <a:ea typeface="微软雅黑 Light" panose="020B0502040204020203" pitchFamily="34" charset="-122"/>
            </a:rPr>
            <a:t>万维网</a:t>
          </a:r>
          <a:endParaRPr lang="en-US" altLang="zh-CN" sz="1400" b="0" dirty="0">
            <a:latin typeface="Montserrat" panose="00000500000000000000" pitchFamily="2" charset="0"/>
            <a:ea typeface="微软雅黑 Light" panose="020B0502040204020203" pitchFamily="34" charset="-122"/>
          </a:endParaRPr>
        </a:p>
      </dgm:t>
    </dgm:pt>
    <dgm:pt modelId="{4B643090-A914-42B9-B238-056D4FF63DC6}" type="parTrans" cxnId="{4D4A52C9-E9C4-4696-91DC-BD7EA7EBBD56}">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FE766D9F-0EF6-4186-882A-CE5D9C859966}" type="sibTrans" cxnId="{4D4A52C9-E9C4-4696-91DC-BD7EA7EBBD56}">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FA7BE1A0-586E-4E75-A7A2-8E8D9C81DB65}">
      <dgm:prSet phldrT="[文本]" custT="1"/>
      <dgm:spPr/>
      <dgm:t>
        <a:bodyPr/>
        <a:lstStyle/>
        <a:p>
          <a:pPr>
            <a:spcAft>
              <a:spcPts val="0"/>
            </a:spcAft>
          </a:pPr>
          <a:r>
            <a:rPr lang="en-US" altLang="zh-CN" sz="1400" b="0" dirty="0">
              <a:latin typeface="Montserrat" panose="00000500000000000000" pitchFamily="2" charset="0"/>
              <a:ea typeface="微软雅黑 Light" panose="020B0502040204020203" pitchFamily="34" charset="-122"/>
            </a:rPr>
            <a:t>SMTP</a:t>
          </a:r>
          <a:r>
            <a:rPr lang="zh-CN" altLang="en-US" sz="1400" b="0" dirty="0">
              <a:latin typeface="Montserrat" panose="00000500000000000000" pitchFamily="2" charset="0"/>
              <a:ea typeface="微软雅黑 Light" panose="020B0502040204020203" pitchFamily="34" charset="-122"/>
            </a:rPr>
            <a:t>，</a:t>
          </a:r>
          <a:r>
            <a:rPr lang="en-US" altLang="zh-CN" sz="1400" b="0" dirty="0">
              <a:latin typeface="Montserrat" panose="00000500000000000000" pitchFamily="2" charset="0"/>
              <a:ea typeface="微软雅黑 Light" panose="020B0502040204020203" pitchFamily="34" charset="-122"/>
            </a:rPr>
            <a:t>POP3</a:t>
          </a:r>
          <a:endParaRPr lang="zh-CN" altLang="en-US" sz="1400" b="0" dirty="0">
            <a:latin typeface="Montserrat" panose="00000500000000000000" pitchFamily="2" charset="0"/>
            <a:ea typeface="微软雅黑 Light" panose="020B0502040204020203" pitchFamily="34" charset="-122"/>
          </a:endParaRPr>
        </a:p>
      </dgm:t>
    </dgm:pt>
    <dgm:pt modelId="{D877AC74-80D2-46D3-88D7-2B19FF468A57}" type="parTrans" cxnId="{8A3EA2AA-42A8-4AEA-B0B4-11120F121170}">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6F9E388-D379-4831-A10F-3BB4C241D915}" type="sibTrans" cxnId="{8A3EA2AA-42A8-4AEA-B0B4-11120F121170}">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354A271C-6390-4DF4-9AC0-ADE68E742430}">
      <dgm:prSet phldrT="[文本]" custT="1"/>
      <dgm:spPr/>
      <dgm:t>
        <a:bodyPr/>
        <a:lstStyle/>
        <a:p>
          <a:pPr>
            <a:spcAft>
              <a:spcPts val="0"/>
            </a:spcAft>
          </a:pPr>
          <a:r>
            <a:rPr lang="en-US" sz="1400" b="0" dirty="0">
              <a:latin typeface="Montserrat" panose="00000500000000000000" pitchFamily="2" charset="0"/>
              <a:ea typeface="微软雅黑 Light" panose="020B0502040204020203" pitchFamily="34" charset="-122"/>
            </a:rPr>
            <a:t>HTTP</a:t>
          </a:r>
          <a:endParaRPr lang="en-US" altLang="zh-CN" sz="1400" b="0" dirty="0">
            <a:latin typeface="Montserrat" panose="00000500000000000000" pitchFamily="2" charset="0"/>
            <a:ea typeface="微软雅黑 Light" panose="020B0502040204020203" pitchFamily="34" charset="-122"/>
          </a:endParaRPr>
        </a:p>
      </dgm:t>
    </dgm:pt>
    <dgm:pt modelId="{0E2096BF-A648-4344-82E4-9E96ECC476E6}" type="parTrans" cxnId="{28922770-A65C-4E3E-A3DA-16CCB81274A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99FD693A-956F-40F6-AB1E-763E1B809B76}" type="sibTrans" cxnId="{28922770-A65C-4E3E-A3DA-16CCB81274A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0453551A-5977-423D-B5EC-B8426DA6E162}">
      <dgm:prSet phldrT="[文本]" custT="1"/>
      <dgm:spPr/>
      <dgm:t>
        <a:bodyPr/>
        <a:lstStyle/>
        <a:p>
          <a:pPr>
            <a:spcAft>
              <a:spcPts val="0"/>
            </a:spcAft>
          </a:pPr>
          <a:r>
            <a:rPr lang="zh-CN" altLang="zh-CN" sz="1400" b="0" dirty="0">
              <a:latin typeface="Montserrat" panose="00000500000000000000" pitchFamily="2" charset="0"/>
              <a:ea typeface="微软雅黑 Light" panose="020B0502040204020203" pitchFamily="34" charset="-122"/>
            </a:rPr>
            <a:t>电子邮件</a:t>
          </a:r>
          <a:endParaRPr lang="en-US" altLang="zh-CN" sz="1400" b="0" dirty="0">
            <a:latin typeface="Montserrat" panose="00000500000000000000" pitchFamily="2" charset="0"/>
            <a:ea typeface="微软雅黑 Light" panose="020B0502040204020203" pitchFamily="34" charset="-122"/>
          </a:endParaRPr>
        </a:p>
      </dgm:t>
    </dgm:pt>
    <dgm:pt modelId="{647AE668-B33C-4713-93F9-613FF5C0205D}" type="parTrans" cxnId="{F99D0580-FAE8-4372-9FCA-57C11D86F9D1}">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6411E134-4EF0-49CA-87DE-3BB911E496CF}" type="sibTrans" cxnId="{F99D0580-FAE8-4372-9FCA-57C11D86F9D1}">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4AC447A3-3923-4C66-9E6E-9E85452007A2}">
      <dgm:prSet phldrT="[文本]" custT="1"/>
      <dgm:spPr/>
      <dgm:t>
        <a:bodyPr/>
        <a:lstStyle/>
        <a:p>
          <a:pPr>
            <a:spcAft>
              <a:spcPts val="0"/>
            </a:spcAft>
          </a:pPr>
          <a:r>
            <a:rPr lang="zh-CN" altLang="en-US" sz="1400" b="0" dirty="0">
              <a:latin typeface="Montserrat" panose="00000500000000000000" pitchFamily="2" charset="0"/>
              <a:ea typeface="微软雅黑 Light" panose="020B0502040204020203" pitchFamily="34" charset="-122"/>
            </a:rPr>
            <a:t>文件传输</a:t>
          </a:r>
          <a:endParaRPr lang="en-US" altLang="zh-CN" sz="1400" b="0" dirty="0">
            <a:latin typeface="Montserrat" panose="00000500000000000000" pitchFamily="2" charset="0"/>
            <a:ea typeface="微软雅黑 Light" panose="020B0502040204020203" pitchFamily="34" charset="-122"/>
          </a:endParaRPr>
        </a:p>
      </dgm:t>
    </dgm:pt>
    <dgm:pt modelId="{940A24D1-38C6-45BF-BBD5-710C5CD3DF15}" type="parTrans" cxnId="{EC5B7AE1-7D79-43BD-8A23-277F057D5D8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F74ABCB-B1AD-4B2F-B725-25FDF1FB8267}" type="sibTrans" cxnId="{EC5B7AE1-7D79-43BD-8A23-277F057D5D8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94B30E0-BBF3-4013-AA95-F36A73A99BE9}">
      <dgm:prSet phldrT="[文本]" custT="1"/>
      <dgm:spPr/>
      <dgm:t>
        <a:bodyPr/>
        <a:lstStyle/>
        <a:p>
          <a:pPr>
            <a:spcAft>
              <a:spcPts val="0"/>
            </a:spcAft>
          </a:pPr>
          <a:r>
            <a:rPr lang="en-US" altLang="zh-CN" sz="1400" b="0" dirty="0">
              <a:latin typeface="Montserrat" panose="00000500000000000000" pitchFamily="2" charset="0"/>
              <a:ea typeface="微软雅黑 Light" panose="020B0502040204020203" pitchFamily="34" charset="-122"/>
            </a:rPr>
            <a:t>FTP</a:t>
          </a:r>
          <a:endParaRPr lang="zh-CN" altLang="en-US" sz="1400" b="0" dirty="0">
            <a:latin typeface="Montserrat" panose="00000500000000000000" pitchFamily="2" charset="0"/>
            <a:ea typeface="微软雅黑 Light" panose="020B0502040204020203" pitchFamily="34" charset="-122"/>
          </a:endParaRPr>
        </a:p>
      </dgm:t>
    </dgm:pt>
    <dgm:pt modelId="{F1920C41-8FA1-43C2-947F-37DE49CDBC93}" type="parTrans" cxnId="{13DAA706-1759-414C-A9E1-D7C4BBDA2A67}">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7339F0ED-B46A-44B7-8FEC-EC74442AAED0}" type="sibTrans" cxnId="{13DAA706-1759-414C-A9E1-D7C4BBDA2A67}">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5A02E71B-2C78-495B-B0C5-EECEC8CAF54C}">
      <dgm:prSet phldrT="[文本]" custT="1"/>
      <dgm:spPr/>
      <dgm:t>
        <a:bodyPr/>
        <a:lstStyle/>
        <a:p>
          <a:r>
            <a:rPr lang="zh-CN" altLang="en-US" sz="1600" b="0" dirty="0">
              <a:latin typeface="Montserrat" panose="00000500000000000000" pitchFamily="2" charset="0"/>
              <a:ea typeface="微软雅黑 Light" panose="020B0502040204020203" pitchFamily="34" charset="-122"/>
            </a:rPr>
            <a:t>不同于网络应用</a:t>
          </a:r>
        </a:p>
      </dgm:t>
    </dgm:pt>
    <dgm:pt modelId="{28DD6B13-3ADE-4F3E-8AB8-43B85AB567B6}" type="parTrans" cxnId="{EBA0DB19-E670-45E1-97DE-A8F3744E3D69}">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D9B750CA-5D66-4BE3-A57A-7E529C9C9314}" type="sibTrans" cxnId="{EBA0DB19-E670-45E1-97DE-A8F3744E3D69}">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E5B734C7-BD06-4002-8C05-19CC466CF4FE}" type="pres">
      <dgm:prSet presAssocID="{2832C718-DAF0-4C4D-A446-27C1389A0F92}" presName="Name0" presStyleCnt="0">
        <dgm:presLayoutVars>
          <dgm:chPref val="1"/>
          <dgm:dir/>
          <dgm:animOne val="branch"/>
          <dgm:animLvl val="lvl"/>
          <dgm:resizeHandles/>
        </dgm:presLayoutVars>
      </dgm:prSet>
      <dgm:spPr/>
    </dgm:pt>
    <dgm:pt modelId="{DE938D13-ED6F-4563-8879-D6F4FAD5423D}" type="pres">
      <dgm:prSet presAssocID="{5A02E71B-2C78-495B-B0C5-EECEC8CAF54C}" presName="vertOne" presStyleCnt="0"/>
      <dgm:spPr/>
    </dgm:pt>
    <dgm:pt modelId="{7908BCB8-DE9B-4BF1-8D07-3A3FD24C7968}" type="pres">
      <dgm:prSet presAssocID="{5A02E71B-2C78-495B-B0C5-EECEC8CAF54C}" presName="txOne" presStyleLbl="node0" presStyleIdx="0" presStyleCnt="1" custScaleY="148588">
        <dgm:presLayoutVars>
          <dgm:chPref val="3"/>
        </dgm:presLayoutVars>
      </dgm:prSet>
      <dgm:spPr/>
    </dgm:pt>
    <dgm:pt modelId="{77C2260A-88CB-404E-8002-B464BA4290E6}" type="pres">
      <dgm:prSet presAssocID="{5A02E71B-2C78-495B-B0C5-EECEC8CAF54C}" presName="parTransOne" presStyleCnt="0"/>
      <dgm:spPr/>
    </dgm:pt>
    <dgm:pt modelId="{9C479166-312B-48A4-93F0-D456429370FF}" type="pres">
      <dgm:prSet presAssocID="{5A02E71B-2C78-495B-B0C5-EECEC8CAF54C}" presName="horzOne" presStyleCnt="0"/>
      <dgm:spPr/>
    </dgm:pt>
    <dgm:pt modelId="{F2AFACB0-1F05-45BA-97F0-0BBE2336FA96}" type="pres">
      <dgm:prSet presAssocID="{078891F9-34FA-4EF4-89D8-5A412AD764F4}" presName="vertTwo" presStyleCnt="0"/>
      <dgm:spPr/>
    </dgm:pt>
    <dgm:pt modelId="{F381CC4E-322C-45E6-B7E7-4ED70FA8CF2E}" type="pres">
      <dgm:prSet presAssocID="{078891F9-34FA-4EF4-89D8-5A412AD764F4}" presName="txTwo" presStyleLbl="node2" presStyleIdx="0" presStyleCnt="2">
        <dgm:presLayoutVars>
          <dgm:chPref val="3"/>
        </dgm:presLayoutVars>
      </dgm:prSet>
      <dgm:spPr/>
    </dgm:pt>
    <dgm:pt modelId="{B3E991A3-B236-4009-AEA5-6315F665B524}" type="pres">
      <dgm:prSet presAssocID="{078891F9-34FA-4EF4-89D8-5A412AD764F4}" presName="parTransTwo" presStyleCnt="0"/>
      <dgm:spPr/>
    </dgm:pt>
    <dgm:pt modelId="{B811FD53-087C-4B2F-8C51-3DB5E68B2452}" type="pres">
      <dgm:prSet presAssocID="{078891F9-34FA-4EF4-89D8-5A412AD764F4}" presName="horzTwo" presStyleCnt="0"/>
      <dgm:spPr/>
    </dgm:pt>
    <dgm:pt modelId="{F137DE85-E402-4C6C-ACA5-A1FB6D3400DE}" type="pres">
      <dgm:prSet presAssocID="{0453551A-5977-423D-B5EC-B8426DA6E162}" presName="vertThree" presStyleCnt="0"/>
      <dgm:spPr/>
    </dgm:pt>
    <dgm:pt modelId="{49899EA7-F8C0-4BB7-A6AD-5F40B1731420}" type="pres">
      <dgm:prSet presAssocID="{0453551A-5977-423D-B5EC-B8426DA6E162}" presName="txThree" presStyleLbl="node3" presStyleIdx="0" presStyleCnt="2">
        <dgm:presLayoutVars>
          <dgm:chPref val="3"/>
        </dgm:presLayoutVars>
      </dgm:prSet>
      <dgm:spPr/>
    </dgm:pt>
    <dgm:pt modelId="{527615C5-1330-4FA6-969A-D08DBDC89918}" type="pres">
      <dgm:prSet presAssocID="{0453551A-5977-423D-B5EC-B8426DA6E162}" presName="parTransThree" presStyleCnt="0"/>
      <dgm:spPr/>
    </dgm:pt>
    <dgm:pt modelId="{3C812A00-E9E7-473C-888C-D9088EEFCFD0}" type="pres">
      <dgm:prSet presAssocID="{0453551A-5977-423D-B5EC-B8426DA6E162}" presName="horzThree" presStyleCnt="0"/>
      <dgm:spPr/>
    </dgm:pt>
    <dgm:pt modelId="{2D3A1175-7EF3-4CE1-B64F-50931D3385A7}" type="pres">
      <dgm:prSet presAssocID="{4AC447A3-3923-4C66-9E6E-9E85452007A2}" presName="vertFour" presStyleCnt="0">
        <dgm:presLayoutVars>
          <dgm:chPref val="3"/>
        </dgm:presLayoutVars>
      </dgm:prSet>
      <dgm:spPr/>
    </dgm:pt>
    <dgm:pt modelId="{D772C529-9144-4F64-AC62-C41998E87A93}" type="pres">
      <dgm:prSet presAssocID="{4AC447A3-3923-4C66-9E6E-9E85452007A2}" presName="txFour" presStyleLbl="node4" presStyleIdx="0" presStyleCnt="2">
        <dgm:presLayoutVars>
          <dgm:chPref val="3"/>
        </dgm:presLayoutVars>
      </dgm:prSet>
      <dgm:spPr/>
    </dgm:pt>
    <dgm:pt modelId="{4688D703-232E-45EE-8323-BB294B9A4457}" type="pres">
      <dgm:prSet presAssocID="{4AC447A3-3923-4C66-9E6E-9E85452007A2}" presName="horzFour" presStyleCnt="0"/>
      <dgm:spPr/>
    </dgm:pt>
    <dgm:pt modelId="{70F65FB5-B308-4B2A-8221-05077A40B6F6}" type="pres">
      <dgm:prSet presAssocID="{FE766D9F-0EF6-4186-882A-CE5D9C859966}" presName="sibSpaceTwo" presStyleCnt="0"/>
      <dgm:spPr/>
    </dgm:pt>
    <dgm:pt modelId="{34C62D5E-69F7-4F2D-BDFF-C2DD14D12CE3}" type="pres">
      <dgm:prSet presAssocID="{354A271C-6390-4DF4-9AC0-ADE68E742430}" presName="vertTwo" presStyleCnt="0"/>
      <dgm:spPr/>
    </dgm:pt>
    <dgm:pt modelId="{1F36E606-4D05-483A-959D-7AFAA3F99964}" type="pres">
      <dgm:prSet presAssocID="{354A271C-6390-4DF4-9AC0-ADE68E742430}" presName="txTwo" presStyleLbl="node2" presStyleIdx="1" presStyleCnt="2">
        <dgm:presLayoutVars>
          <dgm:chPref val="3"/>
        </dgm:presLayoutVars>
      </dgm:prSet>
      <dgm:spPr/>
    </dgm:pt>
    <dgm:pt modelId="{5DC20216-E672-4C6A-BDA8-1E3B833D9157}" type="pres">
      <dgm:prSet presAssocID="{354A271C-6390-4DF4-9AC0-ADE68E742430}" presName="parTransTwo" presStyleCnt="0"/>
      <dgm:spPr/>
    </dgm:pt>
    <dgm:pt modelId="{9E7D5553-D08B-48C9-B301-9F127E3C9F9F}" type="pres">
      <dgm:prSet presAssocID="{354A271C-6390-4DF4-9AC0-ADE68E742430}" presName="horzTwo" presStyleCnt="0"/>
      <dgm:spPr/>
    </dgm:pt>
    <dgm:pt modelId="{5CF68A6D-5F73-424F-908D-5BC7BE54C39B}" type="pres">
      <dgm:prSet presAssocID="{FA7BE1A0-586E-4E75-A7A2-8E8D9C81DB65}" presName="vertThree" presStyleCnt="0"/>
      <dgm:spPr/>
    </dgm:pt>
    <dgm:pt modelId="{07CD9CA8-8213-4B82-96DE-5A2E23AB39DC}" type="pres">
      <dgm:prSet presAssocID="{FA7BE1A0-586E-4E75-A7A2-8E8D9C81DB65}" presName="txThree" presStyleLbl="node3" presStyleIdx="1" presStyleCnt="2">
        <dgm:presLayoutVars>
          <dgm:chPref val="3"/>
        </dgm:presLayoutVars>
      </dgm:prSet>
      <dgm:spPr/>
    </dgm:pt>
    <dgm:pt modelId="{B67490C8-45DF-4199-AD0D-13934A09531B}" type="pres">
      <dgm:prSet presAssocID="{FA7BE1A0-586E-4E75-A7A2-8E8D9C81DB65}" presName="parTransThree" presStyleCnt="0"/>
      <dgm:spPr/>
    </dgm:pt>
    <dgm:pt modelId="{ADBFBFED-38EF-4D0F-8DAC-C066A33AD792}" type="pres">
      <dgm:prSet presAssocID="{FA7BE1A0-586E-4E75-A7A2-8E8D9C81DB65}" presName="horzThree" presStyleCnt="0"/>
      <dgm:spPr/>
    </dgm:pt>
    <dgm:pt modelId="{EE17AF5B-8D4D-48E1-85E0-8D239D91431B}" type="pres">
      <dgm:prSet presAssocID="{194B30E0-BBF3-4013-AA95-F36A73A99BE9}" presName="vertFour" presStyleCnt="0">
        <dgm:presLayoutVars>
          <dgm:chPref val="3"/>
        </dgm:presLayoutVars>
      </dgm:prSet>
      <dgm:spPr/>
    </dgm:pt>
    <dgm:pt modelId="{629FD194-4F20-42AB-A0D3-D63455B286FC}" type="pres">
      <dgm:prSet presAssocID="{194B30E0-BBF3-4013-AA95-F36A73A99BE9}" presName="txFour" presStyleLbl="node4" presStyleIdx="1" presStyleCnt="2">
        <dgm:presLayoutVars>
          <dgm:chPref val="3"/>
        </dgm:presLayoutVars>
      </dgm:prSet>
      <dgm:spPr/>
    </dgm:pt>
    <dgm:pt modelId="{8D72D0DE-AA86-44B5-BAD3-4A56104B0618}" type="pres">
      <dgm:prSet presAssocID="{194B30E0-BBF3-4013-AA95-F36A73A99BE9}" presName="horzFour" presStyleCnt="0"/>
      <dgm:spPr/>
    </dgm:pt>
  </dgm:ptLst>
  <dgm:cxnLst>
    <dgm:cxn modelId="{13DAA706-1759-414C-A9E1-D7C4BBDA2A67}" srcId="{FA7BE1A0-586E-4E75-A7A2-8E8D9C81DB65}" destId="{194B30E0-BBF3-4013-AA95-F36A73A99BE9}" srcOrd="0" destOrd="0" parTransId="{F1920C41-8FA1-43C2-947F-37DE49CDBC93}" sibTransId="{7339F0ED-B46A-44B7-8FEC-EC74442AAED0}"/>
    <dgm:cxn modelId="{A7553C0C-489D-471C-AAB6-F8FE0699A02E}" type="presOf" srcId="{078891F9-34FA-4EF4-89D8-5A412AD764F4}" destId="{F381CC4E-322C-45E6-B7E7-4ED70FA8CF2E}" srcOrd="0" destOrd="0" presId="urn:microsoft.com/office/officeart/2005/8/layout/hierarchy4"/>
    <dgm:cxn modelId="{DFB0CF12-3CDA-449C-8B95-F600015C40A7}" type="presOf" srcId="{354A271C-6390-4DF4-9AC0-ADE68E742430}" destId="{1F36E606-4D05-483A-959D-7AFAA3F99964}" srcOrd="0" destOrd="0" presId="urn:microsoft.com/office/officeart/2005/8/layout/hierarchy4"/>
    <dgm:cxn modelId="{EBA0DB19-E670-45E1-97DE-A8F3744E3D69}" srcId="{2832C718-DAF0-4C4D-A446-27C1389A0F92}" destId="{5A02E71B-2C78-495B-B0C5-EECEC8CAF54C}" srcOrd="0" destOrd="0" parTransId="{28DD6B13-3ADE-4F3E-8AB8-43B85AB567B6}" sibTransId="{D9B750CA-5D66-4BE3-A57A-7E529C9C9314}"/>
    <dgm:cxn modelId="{8B8FD01C-7374-4520-A993-CABF85F0D4E0}" type="presOf" srcId="{0453551A-5977-423D-B5EC-B8426DA6E162}" destId="{49899EA7-F8C0-4BB7-A6AD-5F40B1731420}" srcOrd="0" destOrd="0" presId="urn:microsoft.com/office/officeart/2005/8/layout/hierarchy4"/>
    <dgm:cxn modelId="{28922770-A65C-4E3E-A3DA-16CCB81274A3}" srcId="{5A02E71B-2C78-495B-B0C5-EECEC8CAF54C}" destId="{354A271C-6390-4DF4-9AC0-ADE68E742430}" srcOrd="1" destOrd="0" parTransId="{0E2096BF-A648-4344-82E4-9E96ECC476E6}" sibTransId="{99FD693A-956F-40F6-AB1E-763E1B809B76}"/>
    <dgm:cxn modelId="{61668259-2802-4CF5-97DB-A927910C09B7}" type="presOf" srcId="{FA7BE1A0-586E-4E75-A7A2-8E8D9C81DB65}" destId="{07CD9CA8-8213-4B82-96DE-5A2E23AB39DC}" srcOrd="0" destOrd="0" presId="urn:microsoft.com/office/officeart/2005/8/layout/hierarchy4"/>
    <dgm:cxn modelId="{8B5B757C-9AA4-494F-8111-E33687EF58A9}" type="presOf" srcId="{2832C718-DAF0-4C4D-A446-27C1389A0F92}" destId="{E5B734C7-BD06-4002-8C05-19CC466CF4FE}" srcOrd="0" destOrd="0" presId="urn:microsoft.com/office/officeart/2005/8/layout/hierarchy4"/>
    <dgm:cxn modelId="{F99D0580-FAE8-4372-9FCA-57C11D86F9D1}" srcId="{078891F9-34FA-4EF4-89D8-5A412AD764F4}" destId="{0453551A-5977-423D-B5EC-B8426DA6E162}" srcOrd="0" destOrd="0" parTransId="{647AE668-B33C-4713-93F9-613FF5C0205D}" sibTransId="{6411E134-4EF0-49CA-87DE-3BB911E496CF}"/>
    <dgm:cxn modelId="{5BA3F38E-E1B0-4D0C-BD88-A468FB0818F2}" type="presOf" srcId="{4AC447A3-3923-4C66-9E6E-9E85452007A2}" destId="{D772C529-9144-4F64-AC62-C41998E87A93}" srcOrd="0" destOrd="0" presId="urn:microsoft.com/office/officeart/2005/8/layout/hierarchy4"/>
    <dgm:cxn modelId="{8A3EA2AA-42A8-4AEA-B0B4-11120F121170}" srcId="{354A271C-6390-4DF4-9AC0-ADE68E742430}" destId="{FA7BE1A0-586E-4E75-A7A2-8E8D9C81DB65}" srcOrd="0" destOrd="0" parTransId="{D877AC74-80D2-46D3-88D7-2B19FF468A57}" sibTransId="{16F9E388-D379-4831-A10F-3BB4C241D915}"/>
    <dgm:cxn modelId="{EB0C08B8-3AB8-4F5F-8218-34C18BD26F98}" type="presOf" srcId="{5A02E71B-2C78-495B-B0C5-EECEC8CAF54C}" destId="{7908BCB8-DE9B-4BF1-8D07-3A3FD24C7968}" srcOrd="0" destOrd="0" presId="urn:microsoft.com/office/officeart/2005/8/layout/hierarchy4"/>
    <dgm:cxn modelId="{4D4A52C9-E9C4-4696-91DC-BD7EA7EBBD56}" srcId="{5A02E71B-2C78-495B-B0C5-EECEC8CAF54C}" destId="{078891F9-34FA-4EF4-89D8-5A412AD764F4}" srcOrd="0" destOrd="0" parTransId="{4B643090-A914-42B9-B238-056D4FF63DC6}" sibTransId="{FE766D9F-0EF6-4186-882A-CE5D9C859966}"/>
    <dgm:cxn modelId="{EC5B7AE1-7D79-43BD-8A23-277F057D5D83}" srcId="{0453551A-5977-423D-B5EC-B8426DA6E162}" destId="{4AC447A3-3923-4C66-9E6E-9E85452007A2}" srcOrd="0" destOrd="0" parTransId="{940A24D1-38C6-45BF-BBD5-710C5CD3DF15}" sibTransId="{1F74ABCB-B1AD-4B2F-B725-25FDF1FB8267}"/>
    <dgm:cxn modelId="{D672B4F9-C6C3-4E07-A613-A7B5F1B874B7}" type="presOf" srcId="{194B30E0-BBF3-4013-AA95-F36A73A99BE9}" destId="{629FD194-4F20-42AB-A0D3-D63455B286FC}" srcOrd="0" destOrd="0" presId="urn:microsoft.com/office/officeart/2005/8/layout/hierarchy4"/>
    <dgm:cxn modelId="{47ADB5B0-C6BF-4598-BE07-E9379D703FFA}" type="presParOf" srcId="{E5B734C7-BD06-4002-8C05-19CC466CF4FE}" destId="{DE938D13-ED6F-4563-8879-D6F4FAD5423D}" srcOrd="0" destOrd="0" presId="urn:microsoft.com/office/officeart/2005/8/layout/hierarchy4"/>
    <dgm:cxn modelId="{B53DACEF-1917-4724-84A4-BACD8190C70C}" type="presParOf" srcId="{DE938D13-ED6F-4563-8879-D6F4FAD5423D}" destId="{7908BCB8-DE9B-4BF1-8D07-3A3FD24C7968}" srcOrd="0" destOrd="0" presId="urn:microsoft.com/office/officeart/2005/8/layout/hierarchy4"/>
    <dgm:cxn modelId="{0DA3B6B8-21EA-4B45-86DD-060643776A85}" type="presParOf" srcId="{DE938D13-ED6F-4563-8879-D6F4FAD5423D}" destId="{77C2260A-88CB-404E-8002-B464BA4290E6}" srcOrd="1" destOrd="0" presId="urn:microsoft.com/office/officeart/2005/8/layout/hierarchy4"/>
    <dgm:cxn modelId="{31627BAD-3866-4368-8A4F-482D970E87CE}" type="presParOf" srcId="{DE938D13-ED6F-4563-8879-D6F4FAD5423D}" destId="{9C479166-312B-48A4-93F0-D456429370FF}" srcOrd="2" destOrd="0" presId="urn:microsoft.com/office/officeart/2005/8/layout/hierarchy4"/>
    <dgm:cxn modelId="{927F0DA0-5BC4-4264-998B-D2632266E7D4}" type="presParOf" srcId="{9C479166-312B-48A4-93F0-D456429370FF}" destId="{F2AFACB0-1F05-45BA-97F0-0BBE2336FA96}" srcOrd="0" destOrd="0" presId="urn:microsoft.com/office/officeart/2005/8/layout/hierarchy4"/>
    <dgm:cxn modelId="{25884923-721C-47D8-8280-790B16121736}" type="presParOf" srcId="{F2AFACB0-1F05-45BA-97F0-0BBE2336FA96}" destId="{F381CC4E-322C-45E6-B7E7-4ED70FA8CF2E}" srcOrd="0" destOrd="0" presId="urn:microsoft.com/office/officeart/2005/8/layout/hierarchy4"/>
    <dgm:cxn modelId="{D0319AE3-6F4E-4430-8347-A1250425D150}" type="presParOf" srcId="{F2AFACB0-1F05-45BA-97F0-0BBE2336FA96}" destId="{B3E991A3-B236-4009-AEA5-6315F665B524}" srcOrd="1" destOrd="0" presId="urn:microsoft.com/office/officeart/2005/8/layout/hierarchy4"/>
    <dgm:cxn modelId="{61AE9488-507A-4808-AC12-85138AF32370}" type="presParOf" srcId="{F2AFACB0-1F05-45BA-97F0-0BBE2336FA96}" destId="{B811FD53-087C-4B2F-8C51-3DB5E68B2452}" srcOrd="2" destOrd="0" presId="urn:microsoft.com/office/officeart/2005/8/layout/hierarchy4"/>
    <dgm:cxn modelId="{2CA9AE27-20E4-47A2-BABB-E81CD8585EEF}" type="presParOf" srcId="{B811FD53-087C-4B2F-8C51-3DB5E68B2452}" destId="{F137DE85-E402-4C6C-ACA5-A1FB6D3400DE}" srcOrd="0" destOrd="0" presId="urn:microsoft.com/office/officeart/2005/8/layout/hierarchy4"/>
    <dgm:cxn modelId="{199BCECB-2E3D-48AB-89B5-F17E9C8E88B0}" type="presParOf" srcId="{F137DE85-E402-4C6C-ACA5-A1FB6D3400DE}" destId="{49899EA7-F8C0-4BB7-A6AD-5F40B1731420}" srcOrd="0" destOrd="0" presId="urn:microsoft.com/office/officeart/2005/8/layout/hierarchy4"/>
    <dgm:cxn modelId="{62DBA9DB-AB7D-404F-B415-32C9109538B3}" type="presParOf" srcId="{F137DE85-E402-4C6C-ACA5-A1FB6D3400DE}" destId="{527615C5-1330-4FA6-969A-D08DBDC89918}" srcOrd="1" destOrd="0" presId="urn:microsoft.com/office/officeart/2005/8/layout/hierarchy4"/>
    <dgm:cxn modelId="{B2EB76A5-3700-42E2-9242-2CB67FD2CDD6}" type="presParOf" srcId="{F137DE85-E402-4C6C-ACA5-A1FB6D3400DE}" destId="{3C812A00-E9E7-473C-888C-D9088EEFCFD0}" srcOrd="2" destOrd="0" presId="urn:microsoft.com/office/officeart/2005/8/layout/hierarchy4"/>
    <dgm:cxn modelId="{3BAB383F-3D9D-4AA5-AEDF-4C4F4AC5F29C}" type="presParOf" srcId="{3C812A00-E9E7-473C-888C-D9088EEFCFD0}" destId="{2D3A1175-7EF3-4CE1-B64F-50931D3385A7}" srcOrd="0" destOrd="0" presId="urn:microsoft.com/office/officeart/2005/8/layout/hierarchy4"/>
    <dgm:cxn modelId="{DBD904BB-E1DB-4B1A-A924-D232B1B17AAA}" type="presParOf" srcId="{2D3A1175-7EF3-4CE1-B64F-50931D3385A7}" destId="{D772C529-9144-4F64-AC62-C41998E87A93}" srcOrd="0" destOrd="0" presId="urn:microsoft.com/office/officeart/2005/8/layout/hierarchy4"/>
    <dgm:cxn modelId="{11A7B253-9FCC-4261-9A1A-255F7CA43E94}" type="presParOf" srcId="{2D3A1175-7EF3-4CE1-B64F-50931D3385A7}" destId="{4688D703-232E-45EE-8323-BB294B9A4457}" srcOrd="1" destOrd="0" presId="urn:microsoft.com/office/officeart/2005/8/layout/hierarchy4"/>
    <dgm:cxn modelId="{AB57B8CA-6132-468E-ABD4-1C90A3212A93}" type="presParOf" srcId="{9C479166-312B-48A4-93F0-D456429370FF}" destId="{70F65FB5-B308-4B2A-8221-05077A40B6F6}" srcOrd="1" destOrd="0" presId="urn:microsoft.com/office/officeart/2005/8/layout/hierarchy4"/>
    <dgm:cxn modelId="{84AA138E-118F-4DC7-9FEA-91DEF2C7B609}" type="presParOf" srcId="{9C479166-312B-48A4-93F0-D456429370FF}" destId="{34C62D5E-69F7-4F2D-BDFF-C2DD14D12CE3}" srcOrd="2" destOrd="0" presId="urn:microsoft.com/office/officeart/2005/8/layout/hierarchy4"/>
    <dgm:cxn modelId="{2B4781D4-A58A-4B19-BFA1-112E2C5D58A0}" type="presParOf" srcId="{34C62D5E-69F7-4F2D-BDFF-C2DD14D12CE3}" destId="{1F36E606-4D05-483A-959D-7AFAA3F99964}" srcOrd="0" destOrd="0" presId="urn:microsoft.com/office/officeart/2005/8/layout/hierarchy4"/>
    <dgm:cxn modelId="{27BF8734-FC17-465C-9BC2-F035DE7DD952}" type="presParOf" srcId="{34C62D5E-69F7-4F2D-BDFF-C2DD14D12CE3}" destId="{5DC20216-E672-4C6A-BDA8-1E3B833D9157}" srcOrd="1" destOrd="0" presId="urn:microsoft.com/office/officeart/2005/8/layout/hierarchy4"/>
    <dgm:cxn modelId="{599C3FB5-920E-4359-A2B3-760250EEA7DB}" type="presParOf" srcId="{34C62D5E-69F7-4F2D-BDFF-C2DD14D12CE3}" destId="{9E7D5553-D08B-48C9-B301-9F127E3C9F9F}" srcOrd="2" destOrd="0" presId="urn:microsoft.com/office/officeart/2005/8/layout/hierarchy4"/>
    <dgm:cxn modelId="{3A4DAA37-F9E6-4575-B538-1072A4FD94CE}" type="presParOf" srcId="{9E7D5553-D08B-48C9-B301-9F127E3C9F9F}" destId="{5CF68A6D-5F73-424F-908D-5BC7BE54C39B}" srcOrd="0" destOrd="0" presId="urn:microsoft.com/office/officeart/2005/8/layout/hierarchy4"/>
    <dgm:cxn modelId="{F016FE93-BA20-4402-B819-C0F6527E1174}" type="presParOf" srcId="{5CF68A6D-5F73-424F-908D-5BC7BE54C39B}" destId="{07CD9CA8-8213-4B82-96DE-5A2E23AB39DC}" srcOrd="0" destOrd="0" presId="urn:microsoft.com/office/officeart/2005/8/layout/hierarchy4"/>
    <dgm:cxn modelId="{0ADA855B-CA19-449F-A6BC-1EEE879E8147}" type="presParOf" srcId="{5CF68A6D-5F73-424F-908D-5BC7BE54C39B}" destId="{B67490C8-45DF-4199-AD0D-13934A09531B}" srcOrd="1" destOrd="0" presId="urn:microsoft.com/office/officeart/2005/8/layout/hierarchy4"/>
    <dgm:cxn modelId="{4326E8CC-2D4F-43C5-A789-DAB54215102F}" type="presParOf" srcId="{5CF68A6D-5F73-424F-908D-5BC7BE54C39B}" destId="{ADBFBFED-38EF-4D0F-8DAC-C066A33AD792}" srcOrd="2" destOrd="0" presId="urn:microsoft.com/office/officeart/2005/8/layout/hierarchy4"/>
    <dgm:cxn modelId="{6D5622E7-7295-44C4-8C37-9220C45A6583}" type="presParOf" srcId="{ADBFBFED-38EF-4D0F-8DAC-C066A33AD792}" destId="{EE17AF5B-8D4D-48E1-85E0-8D239D91431B}" srcOrd="0" destOrd="0" presId="urn:microsoft.com/office/officeart/2005/8/layout/hierarchy4"/>
    <dgm:cxn modelId="{39AFD52F-B1BF-4803-89CC-38EAD01B354C}" type="presParOf" srcId="{EE17AF5B-8D4D-48E1-85E0-8D239D91431B}" destId="{629FD194-4F20-42AB-A0D3-D63455B286FC}" srcOrd="0" destOrd="0" presId="urn:microsoft.com/office/officeart/2005/8/layout/hierarchy4"/>
    <dgm:cxn modelId="{2B0E892A-16EB-4FC6-BF3A-FD9F232F9AE0}" type="presParOf" srcId="{EE17AF5B-8D4D-48E1-85E0-8D239D91431B}" destId="{8D72D0DE-AA86-44B5-BAD3-4A56104B0618}" srcOrd="1" destOrd="0" presId="urn:microsoft.com/office/officeart/2005/8/layout/hierarchy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2832C718-DAF0-4C4D-A446-27C1389A0F92}" type="doc">
      <dgm:prSet loTypeId="urn:microsoft.com/office/officeart/2005/8/layout/hierarchy4" loCatId="list" qsTypeId="urn:microsoft.com/office/officeart/2005/8/quickstyle/simple3" qsCatId="simple" csTypeId="urn:microsoft.com/office/officeart/2005/8/colors/colorful3" csCatId="colorful" phldr="1"/>
      <dgm:spPr/>
      <dgm:t>
        <a:bodyPr/>
        <a:lstStyle/>
        <a:p>
          <a:endParaRPr lang="zh-CN" altLang="en-US"/>
        </a:p>
      </dgm:t>
    </dgm:pt>
    <dgm:pt modelId="{078891F9-34FA-4EF4-89D8-5A412AD764F4}">
      <dgm:prSet phldrT="[文本]" custT="1"/>
      <dgm:spPr/>
      <dgm:t>
        <a:bodyPr/>
        <a:lstStyle/>
        <a:p>
          <a:pPr>
            <a:spcAft>
              <a:spcPts val="0"/>
            </a:spcAft>
          </a:pPr>
          <a:r>
            <a:rPr lang="zh-CN" altLang="en-US" sz="1400" b="0" dirty="0">
              <a:latin typeface="Montserrat" panose="00000500000000000000" pitchFamily="2" charset="0"/>
              <a:ea typeface="微软雅黑 Light" panose="020B0502040204020203" pitchFamily="34" charset="-122"/>
            </a:rPr>
            <a:t>客户 </a:t>
          </a:r>
          <a:r>
            <a:rPr lang="en-US" altLang="zh-CN" sz="1400" b="0" dirty="0">
              <a:latin typeface="Montserrat" panose="00000500000000000000" pitchFamily="2" charset="0"/>
              <a:ea typeface="微软雅黑 Light" panose="020B0502040204020203" pitchFamily="34" charset="-122"/>
            </a:rPr>
            <a:t>Client</a:t>
          </a:r>
        </a:p>
      </dgm:t>
    </dgm:pt>
    <dgm:pt modelId="{4B643090-A914-42B9-B238-056D4FF63DC6}" type="parTrans" cxnId="{4D4A52C9-E9C4-4696-91DC-BD7EA7EBBD56}">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FE766D9F-0EF6-4186-882A-CE5D9C859966}" type="sibTrans" cxnId="{4D4A52C9-E9C4-4696-91DC-BD7EA7EBBD56}">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FA7BE1A0-586E-4E75-A7A2-8E8D9C81DB65}">
      <dgm:prSet phldrT="[文本]" custT="1"/>
      <dgm:spPr/>
      <dgm:t>
        <a:bodyPr/>
        <a:lstStyle/>
        <a:p>
          <a:pPr>
            <a:spcAft>
              <a:spcPts val="0"/>
            </a:spcAft>
          </a:pPr>
          <a:r>
            <a:rPr lang="zh-CN" altLang="zh-CN" sz="1400" b="0" dirty="0">
              <a:latin typeface="Montserrat" panose="00000500000000000000" pitchFamily="2" charset="0"/>
              <a:ea typeface="微软雅黑 Light" panose="020B0502040204020203" pitchFamily="34" charset="-122"/>
            </a:rPr>
            <a:t>服务提供方</a:t>
          </a:r>
          <a:endParaRPr lang="zh-CN" altLang="en-US" sz="1400" b="0" dirty="0">
            <a:latin typeface="Montserrat" panose="00000500000000000000" pitchFamily="2" charset="0"/>
            <a:ea typeface="微软雅黑 Light" panose="020B0502040204020203" pitchFamily="34" charset="-122"/>
          </a:endParaRPr>
        </a:p>
      </dgm:t>
    </dgm:pt>
    <dgm:pt modelId="{D877AC74-80D2-46D3-88D7-2B19FF468A57}" type="parTrans" cxnId="{8A3EA2AA-42A8-4AEA-B0B4-11120F121170}">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6F9E388-D379-4831-A10F-3BB4C241D915}" type="sibTrans" cxnId="{8A3EA2AA-42A8-4AEA-B0B4-11120F121170}">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354A271C-6390-4DF4-9AC0-ADE68E742430}">
      <dgm:prSet phldrT="[文本]" custT="1"/>
      <dgm:spPr/>
      <dgm:t>
        <a:bodyPr/>
        <a:lstStyle/>
        <a:p>
          <a:pPr>
            <a:spcAft>
              <a:spcPts val="0"/>
            </a:spcAft>
          </a:pPr>
          <a:r>
            <a:rPr lang="zh-CN" altLang="en-US" sz="1400" b="0" dirty="0">
              <a:latin typeface="Montserrat" panose="00000500000000000000" pitchFamily="2" charset="0"/>
              <a:ea typeface="微软雅黑 Light" panose="020B0502040204020203" pitchFamily="34" charset="-122"/>
            </a:rPr>
            <a:t>服务器 </a:t>
          </a:r>
          <a:r>
            <a:rPr lang="en-US" altLang="zh-CN" sz="1400" b="0" dirty="0">
              <a:latin typeface="Montserrat" panose="00000500000000000000" pitchFamily="2" charset="0"/>
              <a:ea typeface="微软雅黑 Light" panose="020B0502040204020203" pitchFamily="34" charset="-122"/>
            </a:rPr>
            <a:t>Server</a:t>
          </a:r>
        </a:p>
      </dgm:t>
    </dgm:pt>
    <dgm:pt modelId="{0E2096BF-A648-4344-82E4-9E96ECC476E6}" type="parTrans" cxnId="{28922770-A65C-4E3E-A3DA-16CCB81274A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99FD693A-956F-40F6-AB1E-763E1B809B76}" type="sibTrans" cxnId="{28922770-A65C-4E3E-A3DA-16CCB81274A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0453551A-5977-423D-B5EC-B8426DA6E162}">
      <dgm:prSet phldrT="[文本]" custT="1"/>
      <dgm:spPr/>
      <dgm:t>
        <a:bodyPr/>
        <a:lstStyle/>
        <a:p>
          <a:pPr>
            <a:spcAft>
              <a:spcPts val="0"/>
            </a:spcAft>
          </a:pPr>
          <a:r>
            <a:rPr lang="zh-CN" altLang="zh-CN" sz="1400" b="0" dirty="0">
              <a:latin typeface="Montserrat" panose="00000500000000000000" pitchFamily="2" charset="0"/>
              <a:ea typeface="微软雅黑 Light" panose="020B0502040204020203" pitchFamily="34" charset="-122"/>
            </a:rPr>
            <a:t>服务请求方</a:t>
          </a:r>
          <a:endParaRPr lang="en-US" altLang="zh-CN" sz="1400" b="0" dirty="0">
            <a:latin typeface="Montserrat" panose="00000500000000000000" pitchFamily="2" charset="0"/>
            <a:ea typeface="微软雅黑 Light" panose="020B0502040204020203" pitchFamily="34" charset="-122"/>
          </a:endParaRPr>
        </a:p>
      </dgm:t>
    </dgm:pt>
    <dgm:pt modelId="{647AE668-B33C-4713-93F9-613FF5C0205D}" type="parTrans" cxnId="{F99D0580-FAE8-4372-9FCA-57C11D86F9D1}">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6411E134-4EF0-49CA-87DE-3BB911E496CF}" type="sibTrans" cxnId="{F99D0580-FAE8-4372-9FCA-57C11D86F9D1}">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4AC447A3-3923-4C66-9E6E-9E85452007A2}">
      <dgm:prSet phldrT="[文本]" custT="1"/>
      <dgm:spPr/>
      <dgm:t>
        <a:bodyPr/>
        <a:lstStyle/>
        <a:p>
          <a:pPr>
            <a:spcAft>
              <a:spcPts val="0"/>
            </a:spcAft>
          </a:pPr>
          <a:r>
            <a:rPr lang="zh-CN" altLang="en-US" sz="1400" b="0" dirty="0">
              <a:latin typeface="Montserrat" panose="00000500000000000000" pitchFamily="2" charset="0"/>
              <a:ea typeface="微软雅黑 Light" panose="020B0502040204020203" pitchFamily="34" charset="-122"/>
            </a:rPr>
            <a:t>应用进程</a:t>
          </a:r>
          <a:endParaRPr lang="en-US" altLang="zh-CN" sz="1400" b="0" dirty="0">
            <a:latin typeface="Montserrat" panose="00000500000000000000" pitchFamily="2" charset="0"/>
            <a:ea typeface="微软雅黑 Light" panose="020B0502040204020203" pitchFamily="34" charset="-122"/>
          </a:endParaRPr>
        </a:p>
      </dgm:t>
    </dgm:pt>
    <dgm:pt modelId="{940A24D1-38C6-45BF-BBD5-710C5CD3DF15}" type="parTrans" cxnId="{EC5B7AE1-7D79-43BD-8A23-277F057D5D8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F74ABCB-B1AD-4B2F-B725-25FDF1FB8267}" type="sibTrans" cxnId="{EC5B7AE1-7D79-43BD-8A23-277F057D5D8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94B30E0-BBF3-4013-AA95-F36A73A99BE9}">
      <dgm:prSet phldrT="[文本]" custT="1"/>
      <dgm:spPr/>
      <dgm:t>
        <a:bodyPr/>
        <a:lstStyle/>
        <a:p>
          <a:pPr>
            <a:spcAft>
              <a:spcPts val="0"/>
            </a:spcAft>
          </a:pPr>
          <a:r>
            <a:rPr lang="zh-CN" altLang="en-US" sz="1400" b="0" dirty="0">
              <a:latin typeface="Montserrat" panose="00000500000000000000" pitchFamily="2" charset="0"/>
              <a:ea typeface="微软雅黑 Light" panose="020B0502040204020203" pitchFamily="34" charset="-122"/>
            </a:rPr>
            <a:t>应用进程</a:t>
          </a:r>
        </a:p>
      </dgm:t>
    </dgm:pt>
    <dgm:pt modelId="{F1920C41-8FA1-43C2-947F-37DE49CDBC93}" type="parTrans" cxnId="{13DAA706-1759-414C-A9E1-D7C4BBDA2A67}">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7339F0ED-B46A-44B7-8FEC-EC74442AAED0}" type="sibTrans" cxnId="{13DAA706-1759-414C-A9E1-D7C4BBDA2A67}">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5A02E71B-2C78-495B-B0C5-EECEC8CAF54C}">
      <dgm:prSet phldrT="[文本]" custT="1"/>
      <dgm:spPr/>
      <dgm:t>
        <a:bodyPr/>
        <a:lstStyle/>
        <a:p>
          <a:r>
            <a:rPr lang="zh-CN" altLang="en-US" sz="1600" b="0" dirty="0">
              <a:latin typeface="Montserrat" panose="00000500000000000000" pitchFamily="2" charset="0"/>
              <a:ea typeface="微软雅黑 Light" panose="020B0502040204020203" pitchFamily="34" charset="-122"/>
            </a:rPr>
            <a:t>许多都基于客户</a:t>
          </a:r>
          <a:r>
            <a:rPr lang="en-US" altLang="zh-CN" sz="1600" b="0" dirty="0">
              <a:latin typeface="Montserrat" panose="00000500000000000000" pitchFamily="2" charset="0"/>
              <a:ea typeface="微软雅黑 Light" panose="020B0502040204020203" pitchFamily="34" charset="-122"/>
            </a:rPr>
            <a:t>/</a:t>
          </a:r>
          <a:r>
            <a:rPr lang="zh-CN" altLang="en-US" sz="1600" b="0" dirty="0">
              <a:latin typeface="Montserrat" panose="00000500000000000000" pitchFamily="2" charset="0"/>
              <a:ea typeface="微软雅黑 Light" panose="020B0502040204020203" pitchFamily="34" charset="-122"/>
            </a:rPr>
            <a:t>服务器 </a:t>
          </a:r>
          <a:r>
            <a:rPr lang="en-US" altLang="zh-CN" sz="1600" b="0" dirty="0">
              <a:latin typeface="Montserrat" panose="00000500000000000000" pitchFamily="2" charset="0"/>
              <a:ea typeface="微软雅黑 Light" panose="020B0502040204020203" pitchFamily="34" charset="-122"/>
            </a:rPr>
            <a:t>C/S </a:t>
          </a:r>
          <a:r>
            <a:rPr lang="zh-CN" altLang="en-US" sz="1600" b="0" dirty="0">
              <a:latin typeface="Montserrat" panose="00000500000000000000" pitchFamily="2" charset="0"/>
              <a:ea typeface="微软雅黑 Light" panose="020B0502040204020203" pitchFamily="34" charset="-122"/>
            </a:rPr>
            <a:t>方式</a:t>
          </a:r>
        </a:p>
      </dgm:t>
    </dgm:pt>
    <dgm:pt modelId="{28DD6B13-3ADE-4F3E-8AB8-43B85AB567B6}" type="parTrans" cxnId="{EBA0DB19-E670-45E1-97DE-A8F3744E3D69}">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D9B750CA-5D66-4BE3-A57A-7E529C9C9314}" type="sibTrans" cxnId="{EBA0DB19-E670-45E1-97DE-A8F3744E3D69}">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E5B734C7-BD06-4002-8C05-19CC466CF4FE}" type="pres">
      <dgm:prSet presAssocID="{2832C718-DAF0-4C4D-A446-27C1389A0F92}" presName="Name0" presStyleCnt="0">
        <dgm:presLayoutVars>
          <dgm:chPref val="1"/>
          <dgm:dir/>
          <dgm:animOne val="branch"/>
          <dgm:animLvl val="lvl"/>
          <dgm:resizeHandles/>
        </dgm:presLayoutVars>
      </dgm:prSet>
      <dgm:spPr/>
    </dgm:pt>
    <dgm:pt modelId="{DE938D13-ED6F-4563-8879-D6F4FAD5423D}" type="pres">
      <dgm:prSet presAssocID="{5A02E71B-2C78-495B-B0C5-EECEC8CAF54C}" presName="vertOne" presStyleCnt="0"/>
      <dgm:spPr/>
    </dgm:pt>
    <dgm:pt modelId="{7908BCB8-DE9B-4BF1-8D07-3A3FD24C7968}" type="pres">
      <dgm:prSet presAssocID="{5A02E71B-2C78-495B-B0C5-EECEC8CAF54C}" presName="txOne" presStyleLbl="node0" presStyleIdx="0" presStyleCnt="1" custScaleY="148588">
        <dgm:presLayoutVars>
          <dgm:chPref val="3"/>
        </dgm:presLayoutVars>
      </dgm:prSet>
      <dgm:spPr/>
    </dgm:pt>
    <dgm:pt modelId="{77C2260A-88CB-404E-8002-B464BA4290E6}" type="pres">
      <dgm:prSet presAssocID="{5A02E71B-2C78-495B-B0C5-EECEC8CAF54C}" presName="parTransOne" presStyleCnt="0"/>
      <dgm:spPr/>
    </dgm:pt>
    <dgm:pt modelId="{9C479166-312B-48A4-93F0-D456429370FF}" type="pres">
      <dgm:prSet presAssocID="{5A02E71B-2C78-495B-B0C5-EECEC8CAF54C}" presName="horzOne" presStyleCnt="0"/>
      <dgm:spPr/>
    </dgm:pt>
    <dgm:pt modelId="{F2AFACB0-1F05-45BA-97F0-0BBE2336FA96}" type="pres">
      <dgm:prSet presAssocID="{078891F9-34FA-4EF4-89D8-5A412AD764F4}" presName="vertTwo" presStyleCnt="0"/>
      <dgm:spPr/>
    </dgm:pt>
    <dgm:pt modelId="{F381CC4E-322C-45E6-B7E7-4ED70FA8CF2E}" type="pres">
      <dgm:prSet presAssocID="{078891F9-34FA-4EF4-89D8-5A412AD764F4}" presName="txTwo" presStyleLbl="node2" presStyleIdx="0" presStyleCnt="2">
        <dgm:presLayoutVars>
          <dgm:chPref val="3"/>
        </dgm:presLayoutVars>
      </dgm:prSet>
      <dgm:spPr/>
    </dgm:pt>
    <dgm:pt modelId="{B3E991A3-B236-4009-AEA5-6315F665B524}" type="pres">
      <dgm:prSet presAssocID="{078891F9-34FA-4EF4-89D8-5A412AD764F4}" presName="parTransTwo" presStyleCnt="0"/>
      <dgm:spPr/>
    </dgm:pt>
    <dgm:pt modelId="{B811FD53-087C-4B2F-8C51-3DB5E68B2452}" type="pres">
      <dgm:prSet presAssocID="{078891F9-34FA-4EF4-89D8-5A412AD764F4}" presName="horzTwo" presStyleCnt="0"/>
      <dgm:spPr/>
    </dgm:pt>
    <dgm:pt modelId="{F137DE85-E402-4C6C-ACA5-A1FB6D3400DE}" type="pres">
      <dgm:prSet presAssocID="{0453551A-5977-423D-B5EC-B8426DA6E162}" presName="vertThree" presStyleCnt="0"/>
      <dgm:spPr/>
    </dgm:pt>
    <dgm:pt modelId="{49899EA7-F8C0-4BB7-A6AD-5F40B1731420}" type="pres">
      <dgm:prSet presAssocID="{0453551A-5977-423D-B5EC-B8426DA6E162}" presName="txThree" presStyleLbl="node3" presStyleIdx="0" presStyleCnt="2">
        <dgm:presLayoutVars>
          <dgm:chPref val="3"/>
        </dgm:presLayoutVars>
      </dgm:prSet>
      <dgm:spPr/>
    </dgm:pt>
    <dgm:pt modelId="{527615C5-1330-4FA6-969A-D08DBDC89918}" type="pres">
      <dgm:prSet presAssocID="{0453551A-5977-423D-B5EC-B8426DA6E162}" presName="parTransThree" presStyleCnt="0"/>
      <dgm:spPr/>
    </dgm:pt>
    <dgm:pt modelId="{3C812A00-E9E7-473C-888C-D9088EEFCFD0}" type="pres">
      <dgm:prSet presAssocID="{0453551A-5977-423D-B5EC-B8426DA6E162}" presName="horzThree" presStyleCnt="0"/>
      <dgm:spPr/>
    </dgm:pt>
    <dgm:pt modelId="{2D3A1175-7EF3-4CE1-B64F-50931D3385A7}" type="pres">
      <dgm:prSet presAssocID="{4AC447A3-3923-4C66-9E6E-9E85452007A2}" presName="vertFour" presStyleCnt="0">
        <dgm:presLayoutVars>
          <dgm:chPref val="3"/>
        </dgm:presLayoutVars>
      </dgm:prSet>
      <dgm:spPr/>
    </dgm:pt>
    <dgm:pt modelId="{D772C529-9144-4F64-AC62-C41998E87A93}" type="pres">
      <dgm:prSet presAssocID="{4AC447A3-3923-4C66-9E6E-9E85452007A2}" presName="txFour" presStyleLbl="node4" presStyleIdx="0" presStyleCnt="2">
        <dgm:presLayoutVars>
          <dgm:chPref val="3"/>
        </dgm:presLayoutVars>
      </dgm:prSet>
      <dgm:spPr/>
    </dgm:pt>
    <dgm:pt modelId="{4688D703-232E-45EE-8323-BB294B9A4457}" type="pres">
      <dgm:prSet presAssocID="{4AC447A3-3923-4C66-9E6E-9E85452007A2}" presName="horzFour" presStyleCnt="0"/>
      <dgm:spPr/>
    </dgm:pt>
    <dgm:pt modelId="{70F65FB5-B308-4B2A-8221-05077A40B6F6}" type="pres">
      <dgm:prSet presAssocID="{FE766D9F-0EF6-4186-882A-CE5D9C859966}" presName="sibSpaceTwo" presStyleCnt="0"/>
      <dgm:spPr/>
    </dgm:pt>
    <dgm:pt modelId="{34C62D5E-69F7-4F2D-BDFF-C2DD14D12CE3}" type="pres">
      <dgm:prSet presAssocID="{354A271C-6390-4DF4-9AC0-ADE68E742430}" presName="vertTwo" presStyleCnt="0"/>
      <dgm:spPr/>
    </dgm:pt>
    <dgm:pt modelId="{1F36E606-4D05-483A-959D-7AFAA3F99964}" type="pres">
      <dgm:prSet presAssocID="{354A271C-6390-4DF4-9AC0-ADE68E742430}" presName="txTwo" presStyleLbl="node2" presStyleIdx="1" presStyleCnt="2">
        <dgm:presLayoutVars>
          <dgm:chPref val="3"/>
        </dgm:presLayoutVars>
      </dgm:prSet>
      <dgm:spPr/>
    </dgm:pt>
    <dgm:pt modelId="{5DC20216-E672-4C6A-BDA8-1E3B833D9157}" type="pres">
      <dgm:prSet presAssocID="{354A271C-6390-4DF4-9AC0-ADE68E742430}" presName="parTransTwo" presStyleCnt="0"/>
      <dgm:spPr/>
    </dgm:pt>
    <dgm:pt modelId="{9E7D5553-D08B-48C9-B301-9F127E3C9F9F}" type="pres">
      <dgm:prSet presAssocID="{354A271C-6390-4DF4-9AC0-ADE68E742430}" presName="horzTwo" presStyleCnt="0"/>
      <dgm:spPr/>
    </dgm:pt>
    <dgm:pt modelId="{5CF68A6D-5F73-424F-908D-5BC7BE54C39B}" type="pres">
      <dgm:prSet presAssocID="{FA7BE1A0-586E-4E75-A7A2-8E8D9C81DB65}" presName="vertThree" presStyleCnt="0"/>
      <dgm:spPr/>
    </dgm:pt>
    <dgm:pt modelId="{07CD9CA8-8213-4B82-96DE-5A2E23AB39DC}" type="pres">
      <dgm:prSet presAssocID="{FA7BE1A0-586E-4E75-A7A2-8E8D9C81DB65}" presName="txThree" presStyleLbl="node3" presStyleIdx="1" presStyleCnt="2">
        <dgm:presLayoutVars>
          <dgm:chPref val="3"/>
        </dgm:presLayoutVars>
      </dgm:prSet>
      <dgm:spPr/>
    </dgm:pt>
    <dgm:pt modelId="{B67490C8-45DF-4199-AD0D-13934A09531B}" type="pres">
      <dgm:prSet presAssocID="{FA7BE1A0-586E-4E75-A7A2-8E8D9C81DB65}" presName="parTransThree" presStyleCnt="0"/>
      <dgm:spPr/>
    </dgm:pt>
    <dgm:pt modelId="{ADBFBFED-38EF-4D0F-8DAC-C066A33AD792}" type="pres">
      <dgm:prSet presAssocID="{FA7BE1A0-586E-4E75-A7A2-8E8D9C81DB65}" presName="horzThree" presStyleCnt="0"/>
      <dgm:spPr/>
    </dgm:pt>
    <dgm:pt modelId="{EE17AF5B-8D4D-48E1-85E0-8D239D91431B}" type="pres">
      <dgm:prSet presAssocID="{194B30E0-BBF3-4013-AA95-F36A73A99BE9}" presName="vertFour" presStyleCnt="0">
        <dgm:presLayoutVars>
          <dgm:chPref val="3"/>
        </dgm:presLayoutVars>
      </dgm:prSet>
      <dgm:spPr/>
    </dgm:pt>
    <dgm:pt modelId="{629FD194-4F20-42AB-A0D3-D63455B286FC}" type="pres">
      <dgm:prSet presAssocID="{194B30E0-BBF3-4013-AA95-F36A73A99BE9}" presName="txFour" presStyleLbl="node4" presStyleIdx="1" presStyleCnt="2">
        <dgm:presLayoutVars>
          <dgm:chPref val="3"/>
        </dgm:presLayoutVars>
      </dgm:prSet>
      <dgm:spPr/>
    </dgm:pt>
    <dgm:pt modelId="{8D72D0DE-AA86-44B5-BAD3-4A56104B0618}" type="pres">
      <dgm:prSet presAssocID="{194B30E0-BBF3-4013-AA95-F36A73A99BE9}" presName="horzFour" presStyleCnt="0"/>
      <dgm:spPr/>
    </dgm:pt>
  </dgm:ptLst>
  <dgm:cxnLst>
    <dgm:cxn modelId="{13DAA706-1759-414C-A9E1-D7C4BBDA2A67}" srcId="{FA7BE1A0-586E-4E75-A7A2-8E8D9C81DB65}" destId="{194B30E0-BBF3-4013-AA95-F36A73A99BE9}" srcOrd="0" destOrd="0" parTransId="{F1920C41-8FA1-43C2-947F-37DE49CDBC93}" sibTransId="{7339F0ED-B46A-44B7-8FEC-EC74442AAED0}"/>
    <dgm:cxn modelId="{A7553C0C-489D-471C-AAB6-F8FE0699A02E}" type="presOf" srcId="{078891F9-34FA-4EF4-89D8-5A412AD764F4}" destId="{F381CC4E-322C-45E6-B7E7-4ED70FA8CF2E}" srcOrd="0" destOrd="0" presId="urn:microsoft.com/office/officeart/2005/8/layout/hierarchy4"/>
    <dgm:cxn modelId="{DFB0CF12-3CDA-449C-8B95-F600015C40A7}" type="presOf" srcId="{354A271C-6390-4DF4-9AC0-ADE68E742430}" destId="{1F36E606-4D05-483A-959D-7AFAA3F99964}" srcOrd="0" destOrd="0" presId="urn:microsoft.com/office/officeart/2005/8/layout/hierarchy4"/>
    <dgm:cxn modelId="{EBA0DB19-E670-45E1-97DE-A8F3744E3D69}" srcId="{2832C718-DAF0-4C4D-A446-27C1389A0F92}" destId="{5A02E71B-2C78-495B-B0C5-EECEC8CAF54C}" srcOrd="0" destOrd="0" parTransId="{28DD6B13-3ADE-4F3E-8AB8-43B85AB567B6}" sibTransId="{D9B750CA-5D66-4BE3-A57A-7E529C9C9314}"/>
    <dgm:cxn modelId="{8B8FD01C-7374-4520-A993-CABF85F0D4E0}" type="presOf" srcId="{0453551A-5977-423D-B5EC-B8426DA6E162}" destId="{49899EA7-F8C0-4BB7-A6AD-5F40B1731420}" srcOrd="0" destOrd="0" presId="urn:microsoft.com/office/officeart/2005/8/layout/hierarchy4"/>
    <dgm:cxn modelId="{28922770-A65C-4E3E-A3DA-16CCB81274A3}" srcId="{5A02E71B-2C78-495B-B0C5-EECEC8CAF54C}" destId="{354A271C-6390-4DF4-9AC0-ADE68E742430}" srcOrd="1" destOrd="0" parTransId="{0E2096BF-A648-4344-82E4-9E96ECC476E6}" sibTransId="{99FD693A-956F-40F6-AB1E-763E1B809B76}"/>
    <dgm:cxn modelId="{61668259-2802-4CF5-97DB-A927910C09B7}" type="presOf" srcId="{FA7BE1A0-586E-4E75-A7A2-8E8D9C81DB65}" destId="{07CD9CA8-8213-4B82-96DE-5A2E23AB39DC}" srcOrd="0" destOrd="0" presId="urn:microsoft.com/office/officeart/2005/8/layout/hierarchy4"/>
    <dgm:cxn modelId="{8B5B757C-9AA4-494F-8111-E33687EF58A9}" type="presOf" srcId="{2832C718-DAF0-4C4D-A446-27C1389A0F92}" destId="{E5B734C7-BD06-4002-8C05-19CC466CF4FE}" srcOrd="0" destOrd="0" presId="urn:microsoft.com/office/officeart/2005/8/layout/hierarchy4"/>
    <dgm:cxn modelId="{F99D0580-FAE8-4372-9FCA-57C11D86F9D1}" srcId="{078891F9-34FA-4EF4-89D8-5A412AD764F4}" destId="{0453551A-5977-423D-B5EC-B8426DA6E162}" srcOrd="0" destOrd="0" parTransId="{647AE668-B33C-4713-93F9-613FF5C0205D}" sibTransId="{6411E134-4EF0-49CA-87DE-3BB911E496CF}"/>
    <dgm:cxn modelId="{5BA3F38E-E1B0-4D0C-BD88-A468FB0818F2}" type="presOf" srcId="{4AC447A3-3923-4C66-9E6E-9E85452007A2}" destId="{D772C529-9144-4F64-AC62-C41998E87A93}" srcOrd="0" destOrd="0" presId="urn:microsoft.com/office/officeart/2005/8/layout/hierarchy4"/>
    <dgm:cxn modelId="{8A3EA2AA-42A8-4AEA-B0B4-11120F121170}" srcId="{354A271C-6390-4DF4-9AC0-ADE68E742430}" destId="{FA7BE1A0-586E-4E75-A7A2-8E8D9C81DB65}" srcOrd="0" destOrd="0" parTransId="{D877AC74-80D2-46D3-88D7-2B19FF468A57}" sibTransId="{16F9E388-D379-4831-A10F-3BB4C241D915}"/>
    <dgm:cxn modelId="{EB0C08B8-3AB8-4F5F-8218-34C18BD26F98}" type="presOf" srcId="{5A02E71B-2C78-495B-B0C5-EECEC8CAF54C}" destId="{7908BCB8-DE9B-4BF1-8D07-3A3FD24C7968}" srcOrd="0" destOrd="0" presId="urn:microsoft.com/office/officeart/2005/8/layout/hierarchy4"/>
    <dgm:cxn modelId="{4D4A52C9-E9C4-4696-91DC-BD7EA7EBBD56}" srcId="{5A02E71B-2C78-495B-B0C5-EECEC8CAF54C}" destId="{078891F9-34FA-4EF4-89D8-5A412AD764F4}" srcOrd="0" destOrd="0" parTransId="{4B643090-A914-42B9-B238-056D4FF63DC6}" sibTransId="{FE766D9F-0EF6-4186-882A-CE5D9C859966}"/>
    <dgm:cxn modelId="{EC5B7AE1-7D79-43BD-8A23-277F057D5D83}" srcId="{0453551A-5977-423D-B5EC-B8426DA6E162}" destId="{4AC447A3-3923-4C66-9E6E-9E85452007A2}" srcOrd="0" destOrd="0" parTransId="{940A24D1-38C6-45BF-BBD5-710C5CD3DF15}" sibTransId="{1F74ABCB-B1AD-4B2F-B725-25FDF1FB8267}"/>
    <dgm:cxn modelId="{D672B4F9-C6C3-4E07-A613-A7B5F1B874B7}" type="presOf" srcId="{194B30E0-BBF3-4013-AA95-F36A73A99BE9}" destId="{629FD194-4F20-42AB-A0D3-D63455B286FC}" srcOrd="0" destOrd="0" presId="urn:microsoft.com/office/officeart/2005/8/layout/hierarchy4"/>
    <dgm:cxn modelId="{47ADB5B0-C6BF-4598-BE07-E9379D703FFA}" type="presParOf" srcId="{E5B734C7-BD06-4002-8C05-19CC466CF4FE}" destId="{DE938D13-ED6F-4563-8879-D6F4FAD5423D}" srcOrd="0" destOrd="0" presId="urn:microsoft.com/office/officeart/2005/8/layout/hierarchy4"/>
    <dgm:cxn modelId="{B53DACEF-1917-4724-84A4-BACD8190C70C}" type="presParOf" srcId="{DE938D13-ED6F-4563-8879-D6F4FAD5423D}" destId="{7908BCB8-DE9B-4BF1-8D07-3A3FD24C7968}" srcOrd="0" destOrd="0" presId="urn:microsoft.com/office/officeart/2005/8/layout/hierarchy4"/>
    <dgm:cxn modelId="{0DA3B6B8-21EA-4B45-86DD-060643776A85}" type="presParOf" srcId="{DE938D13-ED6F-4563-8879-D6F4FAD5423D}" destId="{77C2260A-88CB-404E-8002-B464BA4290E6}" srcOrd="1" destOrd="0" presId="urn:microsoft.com/office/officeart/2005/8/layout/hierarchy4"/>
    <dgm:cxn modelId="{31627BAD-3866-4368-8A4F-482D970E87CE}" type="presParOf" srcId="{DE938D13-ED6F-4563-8879-D6F4FAD5423D}" destId="{9C479166-312B-48A4-93F0-D456429370FF}" srcOrd="2" destOrd="0" presId="urn:microsoft.com/office/officeart/2005/8/layout/hierarchy4"/>
    <dgm:cxn modelId="{927F0DA0-5BC4-4264-998B-D2632266E7D4}" type="presParOf" srcId="{9C479166-312B-48A4-93F0-D456429370FF}" destId="{F2AFACB0-1F05-45BA-97F0-0BBE2336FA96}" srcOrd="0" destOrd="0" presId="urn:microsoft.com/office/officeart/2005/8/layout/hierarchy4"/>
    <dgm:cxn modelId="{25884923-721C-47D8-8280-790B16121736}" type="presParOf" srcId="{F2AFACB0-1F05-45BA-97F0-0BBE2336FA96}" destId="{F381CC4E-322C-45E6-B7E7-4ED70FA8CF2E}" srcOrd="0" destOrd="0" presId="urn:microsoft.com/office/officeart/2005/8/layout/hierarchy4"/>
    <dgm:cxn modelId="{D0319AE3-6F4E-4430-8347-A1250425D150}" type="presParOf" srcId="{F2AFACB0-1F05-45BA-97F0-0BBE2336FA96}" destId="{B3E991A3-B236-4009-AEA5-6315F665B524}" srcOrd="1" destOrd="0" presId="urn:microsoft.com/office/officeart/2005/8/layout/hierarchy4"/>
    <dgm:cxn modelId="{61AE9488-507A-4808-AC12-85138AF32370}" type="presParOf" srcId="{F2AFACB0-1F05-45BA-97F0-0BBE2336FA96}" destId="{B811FD53-087C-4B2F-8C51-3DB5E68B2452}" srcOrd="2" destOrd="0" presId="urn:microsoft.com/office/officeart/2005/8/layout/hierarchy4"/>
    <dgm:cxn modelId="{2CA9AE27-20E4-47A2-BABB-E81CD8585EEF}" type="presParOf" srcId="{B811FD53-087C-4B2F-8C51-3DB5E68B2452}" destId="{F137DE85-E402-4C6C-ACA5-A1FB6D3400DE}" srcOrd="0" destOrd="0" presId="urn:microsoft.com/office/officeart/2005/8/layout/hierarchy4"/>
    <dgm:cxn modelId="{199BCECB-2E3D-48AB-89B5-F17E9C8E88B0}" type="presParOf" srcId="{F137DE85-E402-4C6C-ACA5-A1FB6D3400DE}" destId="{49899EA7-F8C0-4BB7-A6AD-5F40B1731420}" srcOrd="0" destOrd="0" presId="urn:microsoft.com/office/officeart/2005/8/layout/hierarchy4"/>
    <dgm:cxn modelId="{62DBA9DB-AB7D-404F-B415-32C9109538B3}" type="presParOf" srcId="{F137DE85-E402-4C6C-ACA5-A1FB6D3400DE}" destId="{527615C5-1330-4FA6-969A-D08DBDC89918}" srcOrd="1" destOrd="0" presId="urn:microsoft.com/office/officeart/2005/8/layout/hierarchy4"/>
    <dgm:cxn modelId="{B2EB76A5-3700-42E2-9242-2CB67FD2CDD6}" type="presParOf" srcId="{F137DE85-E402-4C6C-ACA5-A1FB6D3400DE}" destId="{3C812A00-E9E7-473C-888C-D9088EEFCFD0}" srcOrd="2" destOrd="0" presId="urn:microsoft.com/office/officeart/2005/8/layout/hierarchy4"/>
    <dgm:cxn modelId="{3BAB383F-3D9D-4AA5-AEDF-4C4F4AC5F29C}" type="presParOf" srcId="{3C812A00-E9E7-473C-888C-D9088EEFCFD0}" destId="{2D3A1175-7EF3-4CE1-B64F-50931D3385A7}" srcOrd="0" destOrd="0" presId="urn:microsoft.com/office/officeart/2005/8/layout/hierarchy4"/>
    <dgm:cxn modelId="{DBD904BB-E1DB-4B1A-A924-D232B1B17AAA}" type="presParOf" srcId="{2D3A1175-7EF3-4CE1-B64F-50931D3385A7}" destId="{D772C529-9144-4F64-AC62-C41998E87A93}" srcOrd="0" destOrd="0" presId="urn:microsoft.com/office/officeart/2005/8/layout/hierarchy4"/>
    <dgm:cxn modelId="{11A7B253-9FCC-4261-9A1A-255F7CA43E94}" type="presParOf" srcId="{2D3A1175-7EF3-4CE1-B64F-50931D3385A7}" destId="{4688D703-232E-45EE-8323-BB294B9A4457}" srcOrd="1" destOrd="0" presId="urn:microsoft.com/office/officeart/2005/8/layout/hierarchy4"/>
    <dgm:cxn modelId="{AB57B8CA-6132-468E-ABD4-1C90A3212A93}" type="presParOf" srcId="{9C479166-312B-48A4-93F0-D456429370FF}" destId="{70F65FB5-B308-4B2A-8221-05077A40B6F6}" srcOrd="1" destOrd="0" presId="urn:microsoft.com/office/officeart/2005/8/layout/hierarchy4"/>
    <dgm:cxn modelId="{84AA138E-118F-4DC7-9FEA-91DEF2C7B609}" type="presParOf" srcId="{9C479166-312B-48A4-93F0-D456429370FF}" destId="{34C62D5E-69F7-4F2D-BDFF-C2DD14D12CE3}" srcOrd="2" destOrd="0" presId="urn:microsoft.com/office/officeart/2005/8/layout/hierarchy4"/>
    <dgm:cxn modelId="{2B4781D4-A58A-4B19-BFA1-112E2C5D58A0}" type="presParOf" srcId="{34C62D5E-69F7-4F2D-BDFF-C2DD14D12CE3}" destId="{1F36E606-4D05-483A-959D-7AFAA3F99964}" srcOrd="0" destOrd="0" presId="urn:microsoft.com/office/officeart/2005/8/layout/hierarchy4"/>
    <dgm:cxn modelId="{27BF8734-FC17-465C-9BC2-F035DE7DD952}" type="presParOf" srcId="{34C62D5E-69F7-4F2D-BDFF-C2DD14D12CE3}" destId="{5DC20216-E672-4C6A-BDA8-1E3B833D9157}" srcOrd="1" destOrd="0" presId="urn:microsoft.com/office/officeart/2005/8/layout/hierarchy4"/>
    <dgm:cxn modelId="{599C3FB5-920E-4359-A2B3-760250EEA7DB}" type="presParOf" srcId="{34C62D5E-69F7-4F2D-BDFF-C2DD14D12CE3}" destId="{9E7D5553-D08B-48C9-B301-9F127E3C9F9F}" srcOrd="2" destOrd="0" presId="urn:microsoft.com/office/officeart/2005/8/layout/hierarchy4"/>
    <dgm:cxn modelId="{3A4DAA37-F9E6-4575-B538-1072A4FD94CE}" type="presParOf" srcId="{9E7D5553-D08B-48C9-B301-9F127E3C9F9F}" destId="{5CF68A6D-5F73-424F-908D-5BC7BE54C39B}" srcOrd="0" destOrd="0" presId="urn:microsoft.com/office/officeart/2005/8/layout/hierarchy4"/>
    <dgm:cxn modelId="{F016FE93-BA20-4402-B819-C0F6527E1174}" type="presParOf" srcId="{5CF68A6D-5F73-424F-908D-5BC7BE54C39B}" destId="{07CD9CA8-8213-4B82-96DE-5A2E23AB39DC}" srcOrd="0" destOrd="0" presId="urn:microsoft.com/office/officeart/2005/8/layout/hierarchy4"/>
    <dgm:cxn modelId="{0ADA855B-CA19-449F-A6BC-1EEE879E8147}" type="presParOf" srcId="{5CF68A6D-5F73-424F-908D-5BC7BE54C39B}" destId="{B67490C8-45DF-4199-AD0D-13934A09531B}" srcOrd="1" destOrd="0" presId="urn:microsoft.com/office/officeart/2005/8/layout/hierarchy4"/>
    <dgm:cxn modelId="{4326E8CC-2D4F-43C5-A789-DAB54215102F}" type="presParOf" srcId="{5CF68A6D-5F73-424F-908D-5BC7BE54C39B}" destId="{ADBFBFED-38EF-4D0F-8DAC-C066A33AD792}" srcOrd="2" destOrd="0" presId="urn:microsoft.com/office/officeart/2005/8/layout/hierarchy4"/>
    <dgm:cxn modelId="{6D5622E7-7295-44C4-8C37-9220C45A6583}" type="presParOf" srcId="{ADBFBFED-38EF-4D0F-8DAC-C066A33AD792}" destId="{EE17AF5B-8D4D-48E1-85E0-8D239D91431B}" srcOrd="0" destOrd="0" presId="urn:microsoft.com/office/officeart/2005/8/layout/hierarchy4"/>
    <dgm:cxn modelId="{39AFD52F-B1BF-4803-89CC-38EAD01B354C}" type="presParOf" srcId="{EE17AF5B-8D4D-48E1-85E0-8D239D91431B}" destId="{629FD194-4F20-42AB-A0D3-D63455B286FC}" srcOrd="0" destOrd="0" presId="urn:microsoft.com/office/officeart/2005/8/layout/hierarchy4"/>
    <dgm:cxn modelId="{2B0E892A-16EB-4FC6-BF3A-FD9F232F9AE0}" type="presParOf" srcId="{EE17AF5B-8D4D-48E1-85E0-8D239D91431B}" destId="{8D72D0DE-AA86-44B5-BAD3-4A56104B0618}" srcOrd="1" destOrd="0" presId="urn:microsoft.com/office/officeart/2005/8/layout/hierarchy4"/>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361C9BC5-B29F-48D4-9051-8080622C2265}" type="doc">
      <dgm:prSet loTypeId="urn:microsoft.com/office/officeart/2005/8/layout/hList1" loCatId="list" qsTypeId="urn:microsoft.com/office/officeart/2005/8/quickstyle/simple1" qsCatId="simple" csTypeId="urn:microsoft.com/office/officeart/2005/8/colors/colorful4" csCatId="colorful" phldr="1"/>
      <dgm:spPr/>
      <dgm:t>
        <a:bodyPr/>
        <a:lstStyle/>
        <a:p>
          <a:endParaRPr lang="zh-CN" altLang="en-US"/>
        </a:p>
      </dgm:t>
    </dgm:pt>
    <dgm:pt modelId="{1F6D49FA-F901-4B50-ADEC-FB4488F0ECDE}">
      <dgm:prSet phldrT="[文本]" custT="1"/>
      <dgm:spPr/>
      <dgm:t>
        <a:bodyPr/>
        <a:lstStyle/>
        <a:p>
          <a:r>
            <a:rPr lang="zh-CN" altLang="en-US" sz="1800" b="0" dirty="0">
              <a:latin typeface="Montserrat" panose="00000500000000000000" pitchFamily="2" charset="0"/>
              <a:ea typeface="微软雅黑 Light" panose="020B0502040204020203" pitchFamily="34" charset="-122"/>
            </a:rPr>
            <a:t>递归查询</a:t>
          </a:r>
        </a:p>
      </dgm:t>
    </dgm:pt>
    <dgm:pt modelId="{3BCE62CD-17F6-4BDE-88CF-B2E57C113250}" type="parTrans" cxnId="{B8FBCF65-8CE6-4959-A94A-4AFCB263801D}">
      <dgm:prSet/>
      <dgm:spPr/>
      <dgm:t>
        <a:bodyPr/>
        <a:lstStyle/>
        <a:p>
          <a:endParaRPr lang="zh-CN" altLang="en-US" sz="1600" b="0">
            <a:latin typeface="Montserrat" panose="00000500000000000000" pitchFamily="2" charset="0"/>
            <a:ea typeface="微软雅黑" panose="020B0503020204020204" pitchFamily="34" charset="-122"/>
          </a:endParaRPr>
        </a:p>
      </dgm:t>
    </dgm:pt>
    <dgm:pt modelId="{C712D40E-2867-4325-981C-5EED6888713A}" type="sibTrans" cxnId="{B8FBCF65-8CE6-4959-A94A-4AFCB263801D}">
      <dgm:prSet/>
      <dgm:spPr/>
      <dgm:t>
        <a:bodyPr/>
        <a:lstStyle/>
        <a:p>
          <a:endParaRPr lang="zh-CN" altLang="en-US" sz="1600" b="0">
            <a:latin typeface="Montserrat" panose="00000500000000000000" pitchFamily="2" charset="0"/>
            <a:ea typeface="微软雅黑" panose="020B0503020204020204" pitchFamily="34" charset="-122"/>
          </a:endParaRPr>
        </a:p>
      </dgm:t>
    </dgm:pt>
    <dgm:pt modelId="{A7353B7C-3B7F-483A-9D5D-EF2CA979FE0F}">
      <dgm:prSet phldrT="[文本]" custT="1"/>
      <dgm:spPr>
        <a:noFill/>
      </dgm:spPr>
      <dgm:t>
        <a:bodyPr/>
        <a:lstStyle/>
        <a:p>
          <a:pPr algn="just"/>
          <a:r>
            <a:rPr lang="zh-CN" altLang="en-US" sz="1600" b="0" dirty="0">
              <a:latin typeface="Montserrat" panose="00000500000000000000" pitchFamily="2" charset="0"/>
              <a:ea typeface="微软雅黑 Light" panose="020B0502040204020203" pitchFamily="34" charset="-122"/>
            </a:rPr>
            <a:t>通常，主机向本地域名服务器查询时使用</a:t>
          </a:r>
        </a:p>
      </dgm:t>
    </dgm:pt>
    <dgm:pt modelId="{BCE185A7-04EA-450F-8DE8-10725E84408C}" type="parTrans" cxnId="{D31F8A4A-4BE7-48FE-B7E3-22A5225B721F}">
      <dgm:prSet/>
      <dgm:spPr/>
      <dgm:t>
        <a:bodyPr/>
        <a:lstStyle/>
        <a:p>
          <a:endParaRPr lang="zh-CN" altLang="en-US" sz="1600" b="0">
            <a:latin typeface="Montserrat" panose="00000500000000000000" pitchFamily="2" charset="0"/>
            <a:ea typeface="微软雅黑" panose="020B0503020204020204" pitchFamily="34" charset="-122"/>
          </a:endParaRPr>
        </a:p>
      </dgm:t>
    </dgm:pt>
    <dgm:pt modelId="{949DC585-CA63-48CC-A0DD-6DDF763B9D5E}" type="sibTrans" cxnId="{D31F8A4A-4BE7-48FE-B7E3-22A5225B721F}">
      <dgm:prSet/>
      <dgm:spPr/>
      <dgm:t>
        <a:bodyPr/>
        <a:lstStyle/>
        <a:p>
          <a:endParaRPr lang="zh-CN" altLang="en-US" sz="1600" b="0">
            <a:latin typeface="Montserrat" panose="00000500000000000000" pitchFamily="2" charset="0"/>
            <a:ea typeface="微软雅黑" panose="020B0503020204020204" pitchFamily="34" charset="-122"/>
          </a:endParaRPr>
        </a:p>
      </dgm:t>
    </dgm:pt>
    <dgm:pt modelId="{B3C1C06F-F101-4097-8E76-7221602C9DCD}">
      <dgm:prSet phldrT="[文本]" custT="1"/>
      <dgm:spPr>
        <a:noFill/>
      </dgm:spPr>
      <dgm:t>
        <a:bodyPr/>
        <a:lstStyle/>
        <a:p>
          <a:pPr algn="just"/>
          <a:r>
            <a:rPr lang="zh-CN" altLang="en-US" sz="1600" b="0" dirty="0">
              <a:latin typeface="Montserrat" panose="00000500000000000000" pitchFamily="2" charset="0"/>
              <a:ea typeface="微软雅黑 Light" panose="020B0502040204020203" pitchFamily="34" charset="-122"/>
            </a:rPr>
            <a:t>若不知道，就以 </a:t>
          </a:r>
          <a:r>
            <a:rPr lang="en-US" altLang="en-US" sz="1600" b="0" dirty="0">
              <a:latin typeface="Montserrat" panose="00000500000000000000" pitchFamily="2" charset="0"/>
              <a:ea typeface="微软雅黑 Light" panose="020B0502040204020203" pitchFamily="34" charset="-122"/>
            </a:rPr>
            <a:t>DNS </a:t>
          </a:r>
          <a:r>
            <a:rPr lang="zh-CN" altLang="en-US" sz="1600" b="0" dirty="0">
              <a:latin typeface="Montserrat" panose="00000500000000000000" pitchFamily="2" charset="0"/>
              <a:ea typeface="微软雅黑 Light" panose="020B0502040204020203" pitchFamily="34" charset="-122"/>
            </a:rPr>
            <a:t>客户的身份，向其他根域名服务器继续发出查询请求报文</a:t>
          </a:r>
        </a:p>
      </dgm:t>
    </dgm:pt>
    <dgm:pt modelId="{394E42C2-1DBF-4E2F-9E18-2CBF2BCF68B0}" type="parTrans" cxnId="{EE3D05E0-647B-4AE0-9969-EF9A6CEF939E}">
      <dgm:prSet/>
      <dgm:spPr/>
      <dgm:t>
        <a:bodyPr/>
        <a:lstStyle/>
        <a:p>
          <a:endParaRPr lang="zh-CN" altLang="en-US" sz="1600" b="0">
            <a:latin typeface="Montserrat" panose="00000500000000000000" pitchFamily="2" charset="0"/>
            <a:ea typeface="微软雅黑" panose="020B0503020204020204" pitchFamily="34" charset="-122"/>
          </a:endParaRPr>
        </a:p>
      </dgm:t>
    </dgm:pt>
    <dgm:pt modelId="{512E8C54-A45B-4F19-A2E1-DFAF120AE3AC}" type="sibTrans" cxnId="{EE3D05E0-647B-4AE0-9969-EF9A6CEF939E}">
      <dgm:prSet/>
      <dgm:spPr/>
      <dgm:t>
        <a:bodyPr/>
        <a:lstStyle/>
        <a:p>
          <a:endParaRPr lang="zh-CN" altLang="en-US" sz="1600" b="0">
            <a:latin typeface="Montserrat" panose="00000500000000000000" pitchFamily="2" charset="0"/>
            <a:ea typeface="微软雅黑" panose="020B0503020204020204" pitchFamily="34" charset="-122"/>
          </a:endParaRPr>
        </a:p>
      </dgm:t>
    </dgm:pt>
    <dgm:pt modelId="{B4C27B1A-540E-4AE1-A0FA-2373F8C7C00D}">
      <dgm:prSet phldrT="[文本]" custT="1"/>
      <dgm:spPr/>
      <dgm:t>
        <a:bodyPr/>
        <a:lstStyle/>
        <a:p>
          <a:r>
            <a:rPr lang="zh-CN" altLang="en-US" sz="1800" b="0" dirty="0">
              <a:latin typeface="Montserrat" panose="00000500000000000000" pitchFamily="2" charset="0"/>
              <a:ea typeface="微软雅黑 Light" panose="020B0502040204020203" pitchFamily="34" charset="-122"/>
            </a:rPr>
            <a:t>迭代查询</a:t>
          </a:r>
        </a:p>
      </dgm:t>
    </dgm:pt>
    <dgm:pt modelId="{2AF68E5C-339F-43E9-9BD8-1A6F133890E6}" type="parTrans" cxnId="{E3527060-511E-407B-94F7-F1B7A8110B43}">
      <dgm:prSet/>
      <dgm:spPr/>
      <dgm:t>
        <a:bodyPr/>
        <a:lstStyle/>
        <a:p>
          <a:endParaRPr lang="zh-CN" altLang="en-US" sz="1600" b="0">
            <a:latin typeface="Montserrat" panose="00000500000000000000" pitchFamily="2" charset="0"/>
            <a:ea typeface="微软雅黑" panose="020B0503020204020204" pitchFamily="34" charset="-122"/>
          </a:endParaRPr>
        </a:p>
      </dgm:t>
    </dgm:pt>
    <dgm:pt modelId="{D0BBCA65-D6FF-4282-863E-E4E8ADE1401C}" type="sibTrans" cxnId="{E3527060-511E-407B-94F7-F1B7A8110B43}">
      <dgm:prSet/>
      <dgm:spPr/>
      <dgm:t>
        <a:bodyPr/>
        <a:lstStyle/>
        <a:p>
          <a:endParaRPr lang="zh-CN" altLang="en-US" sz="1600" b="0">
            <a:latin typeface="Montserrat" panose="00000500000000000000" pitchFamily="2" charset="0"/>
            <a:ea typeface="微软雅黑" panose="020B0503020204020204" pitchFamily="34" charset="-122"/>
          </a:endParaRPr>
        </a:p>
      </dgm:t>
    </dgm:pt>
    <dgm:pt modelId="{E4ED0C5A-041D-4179-B2D9-667F95556395}">
      <dgm:prSet phldrT="[文本]" custT="1"/>
      <dgm:spPr>
        <a:noFill/>
      </dgm:spPr>
      <dgm:t>
        <a:bodyPr/>
        <a:lstStyle/>
        <a:p>
          <a:pPr algn="just"/>
          <a:r>
            <a:rPr lang="zh-CN" altLang="en-US" sz="1600" b="0" dirty="0">
              <a:latin typeface="Montserrat" panose="00000500000000000000" pitchFamily="2" charset="0"/>
              <a:ea typeface="微软雅黑 Light" panose="020B0502040204020203" pitchFamily="34" charset="-122"/>
            </a:rPr>
            <a:t>本地域名服务器向根域名服务器查询时使用</a:t>
          </a:r>
        </a:p>
      </dgm:t>
    </dgm:pt>
    <dgm:pt modelId="{9EA42626-615E-4243-9D5E-9458C4479806}" type="parTrans" cxnId="{AC98711B-30F1-4F9A-90F2-E5CCA3B9A35E}">
      <dgm:prSet/>
      <dgm:spPr/>
      <dgm:t>
        <a:bodyPr/>
        <a:lstStyle/>
        <a:p>
          <a:endParaRPr lang="zh-CN" altLang="en-US" sz="1600" b="0">
            <a:latin typeface="Montserrat" panose="00000500000000000000" pitchFamily="2" charset="0"/>
            <a:ea typeface="微软雅黑" panose="020B0503020204020204" pitchFamily="34" charset="-122"/>
          </a:endParaRPr>
        </a:p>
      </dgm:t>
    </dgm:pt>
    <dgm:pt modelId="{242AF108-920E-4047-82C5-21EF27E335D8}" type="sibTrans" cxnId="{AC98711B-30F1-4F9A-90F2-E5CCA3B9A35E}">
      <dgm:prSet/>
      <dgm:spPr/>
      <dgm:t>
        <a:bodyPr/>
        <a:lstStyle/>
        <a:p>
          <a:endParaRPr lang="zh-CN" altLang="en-US" sz="1600" b="0">
            <a:latin typeface="Montserrat" panose="00000500000000000000" pitchFamily="2" charset="0"/>
            <a:ea typeface="微软雅黑" panose="020B0503020204020204" pitchFamily="34" charset="-122"/>
          </a:endParaRPr>
        </a:p>
      </dgm:t>
    </dgm:pt>
    <dgm:pt modelId="{C99DE165-A6A2-4E3C-8084-9A776539F414}">
      <dgm:prSet phldrT="[文本]" custT="1"/>
      <dgm:spPr>
        <a:noFill/>
      </dgm:spPr>
      <dgm:t>
        <a:bodyPr/>
        <a:lstStyle/>
        <a:p>
          <a:pPr algn="just"/>
          <a:r>
            <a:rPr lang="zh-CN" altLang="en-US" sz="1600" b="0" dirty="0">
              <a:latin typeface="Montserrat" panose="00000500000000000000" pitchFamily="2" charset="0"/>
              <a:ea typeface="微软雅黑 Light" panose="020B0502040204020203" pitchFamily="34" charset="-122"/>
            </a:rPr>
            <a:t>要么给出所要查询的 </a:t>
          </a:r>
          <a:r>
            <a:rPr lang="en-US" altLang="en-US" sz="1600" b="0" dirty="0">
              <a:latin typeface="Montserrat" panose="00000500000000000000" pitchFamily="2" charset="0"/>
              <a:ea typeface="微软雅黑 Light" panose="020B0502040204020203" pitchFamily="34" charset="-122"/>
            </a:rPr>
            <a:t>IP </a:t>
          </a:r>
          <a:r>
            <a:rPr lang="zh-CN" altLang="en-US" sz="1600" b="0" dirty="0">
              <a:latin typeface="Montserrat" panose="00000500000000000000" pitchFamily="2" charset="0"/>
              <a:ea typeface="微软雅黑 Light" panose="020B0502040204020203" pitchFamily="34" charset="-122"/>
            </a:rPr>
            <a:t>地址，要么告诉下一个要查询的域名服务器的 </a:t>
          </a:r>
          <a:r>
            <a:rPr lang="en-US" altLang="zh-CN" sz="1600" b="0" dirty="0">
              <a:latin typeface="Montserrat" panose="00000500000000000000" pitchFamily="2" charset="0"/>
              <a:ea typeface="微软雅黑 Light" panose="020B0502040204020203" pitchFamily="34" charset="-122"/>
            </a:rPr>
            <a:t>IP </a:t>
          </a:r>
          <a:r>
            <a:rPr lang="zh-CN" altLang="en-US" sz="1600" b="0" dirty="0">
              <a:latin typeface="Montserrat" panose="00000500000000000000" pitchFamily="2" charset="0"/>
              <a:ea typeface="微软雅黑 Light" panose="020B0502040204020203" pitchFamily="34" charset="-122"/>
            </a:rPr>
            <a:t>地址</a:t>
          </a:r>
        </a:p>
      </dgm:t>
    </dgm:pt>
    <dgm:pt modelId="{15A961B9-3A0A-4FA7-8F0F-40C05929148C}" type="parTrans" cxnId="{8797336C-4331-4DC2-AE25-347037722617}">
      <dgm:prSet/>
      <dgm:spPr/>
      <dgm:t>
        <a:bodyPr/>
        <a:lstStyle/>
        <a:p>
          <a:endParaRPr lang="zh-CN" altLang="en-US" sz="1600" b="0">
            <a:latin typeface="Montserrat" panose="00000500000000000000" pitchFamily="2" charset="0"/>
          </a:endParaRPr>
        </a:p>
      </dgm:t>
    </dgm:pt>
    <dgm:pt modelId="{39426DE8-50A8-4767-823C-76D6C28D84CD}" type="sibTrans" cxnId="{8797336C-4331-4DC2-AE25-347037722617}">
      <dgm:prSet/>
      <dgm:spPr/>
      <dgm:t>
        <a:bodyPr/>
        <a:lstStyle/>
        <a:p>
          <a:endParaRPr lang="zh-CN" altLang="en-US" sz="1600" b="0">
            <a:latin typeface="Montserrat" panose="00000500000000000000" pitchFamily="2" charset="0"/>
          </a:endParaRPr>
        </a:p>
      </dgm:t>
    </dgm:pt>
    <dgm:pt modelId="{888A2276-89F3-4140-9592-FE63CBE9FC6F}">
      <dgm:prSet phldrT="[文本]" custT="1"/>
      <dgm:spPr>
        <a:noFill/>
      </dgm:spPr>
      <dgm:t>
        <a:bodyPr/>
        <a:lstStyle/>
        <a:p>
          <a:pPr algn="just"/>
          <a:r>
            <a:rPr lang="zh-CN" altLang="en-US" sz="1600" b="0" dirty="0">
              <a:latin typeface="Montserrat" panose="00000500000000000000" pitchFamily="2" charset="0"/>
              <a:ea typeface="微软雅黑 Light" panose="020B0502040204020203" pitchFamily="34" charset="-122"/>
            </a:rPr>
            <a:t>本地域名服务器继续后续查询</a:t>
          </a:r>
        </a:p>
      </dgm:t>
    </dgm:pt>
    <dgm:pt modelId="{818B4799-89CB-4238-BB9D-472D60B40326}" type="parTrans" cxnId="{748B2594-474D-425B-8D6A-157BB949C56E}">
      <dgm:prSet/>
      <dgm:spPr/>
      <dgm:t>
        <a:bodyPr/>
        <a:lstStyle/>
        <a:p>
          <a:endParaRPr lang="zh-CN" altLang="en-US" b="0">
            <a:latin typeface="Montserrat" panose="00000500000000000000" pitchFamily="2" charset="0"/>
          </a:endParaRPr>
        </a:p>
      </dgm:t>
    </dgm:pt>
    <dgm:pt modelId="{91715877-E58D-486D-8BF0-DC8A4048A0A2}" type="sibTrans" cxnId="{748B2594-474D-425B-8D6A-157BB949C56E}">
      <dgm:prSet/>
      <dgm:spPr/>
      <dgm:t>
        <a:bodyPr/>
        <a:lstStyle/>
        <a:p>
          <a:endParaRPr lang="zh-CN" altLang="en-US" b="0">
            <a:latin typeface="Montserrat" panose="00000500000000000000" pitchFamily="2" charset="0"/>
          </a:endParaRPr>
        </a:p>
      </dgm:t>
    </dgm:pt>
    <dgm:pt modelId="{855C61C3-9681-46A9-85A5-1E65B56A782C}" type="pres">
      <dgm:prSet presAssocID="{361C9BC5-B29F-48D4-9051-8080622C2265}" presName="Name0" presStyleCnt="0">
        <dgm:presLayoutVars>
          <dgm:dir/>
          <dgm:animLvl val="lvl"/>
          <dgm:resizeHandles val="exact"/>
        </dgm:presLayoutVars>
      </dgm:prSet>
      <dgm:spPr/>
    </dgm:pt>
    <dgm:pt modelId="{C9C28BD1-EF4F-4CA1-9BA9-72A7B8BFFCFD}" type="pres">
      <dgm:prSet presAssocID="{1F6D49FA-F901-4B50-ADEC-FB4488F0ECDE}" presName="composite" presStyleCnt="0"/>
      <dgm:spPr/>
    </dgm:pt>
    <dgm:pt modelId="{CD69D0B0-1884-46A2-8F10-145B05B89842}" type="pres">
      <dgm:prSet presAssocID="{1F6D49FA-F901-4B50-ADEC-FB4488F0ECDE}" presName="parTx" presStyleLbl="alignNode1" presStyleIdx="0" presStyleCnt="2">
        <dgm:presLayoutVars>
          <dgm:chMax val="0"/>
          <dgm:chPref val="0"/>
          <dgm:bulletEnabled val="1"/>
        </dgm:presLayoutVars>
      </dgm:prSet>
      <dgm:spPr/>
    </dgm:pt>
    <dgm:pt modelId="{03A5736B-9407-4E51-943F-C4127641647B}" type="pres">
      <dgm:prSet presAssocID="{1F6D49FA-F901-4B50-ADEC-FB4488F0ECDE}" presName="desTx" presStyleLbl="alignAccFollowNode1" presStyleIdx="0" presStyleCnt="2">
        <dgm:presLayoutVars>
          <dgm:bulletEnabled val="1"/>
        </dgm:presLayoutVars>
      </dgm:prSet>
      <dgm:spPr/>
    </dgm:pt>
    <dgm:pt modelId="{E002B729-091C-462E-96C9-907AFB120A8D}" type="pres">
      <dgm:prSet presAssocID="{C712D40E-2867-4325-981C-5EED6888713A}" presName="space" presStyleCnt="0"/>
      <dgm:spPr/>
    </dgm:pt>
    <dgm:pt modelId="{7C58811D-8D19-40CE-89EC-CCE20868CD33}" type="pres">
      <dgm:prSet presAssocID="{B4C27B1A-540E-4AE1-A0FA-2373F8C7C00D}" presName="composite" presStyleCnt="0"/>
      <dgm:spPr/>
    </dgm:pt>
    <dgm:pt modelId="{B2079A84-D30A-43B1-81D6-28B09A3A7626}" type="pres">
      <dgm:prSet presAssocID="{B4C27B1A-540E-4AE1-A0FA-2373F8C7C00D}" presName="parTx" presStyleLbl="alignNode1" presStyleIdx="1" presStyleCnt="2">
        <dgm:presLayoutVars>
          <dgm:chMax val="0"/>
          <dgm:chPref val="0"/>
          <dgm:bulletEnabled val="1"/>
        </dgm:presLayoutVars>
      </dgm:prSet>
      <dgm:spPr/>
    </dgm:pt>
    <dgm:pt modelId="{802EC7D4-495D-4461-A980-1E7E46187315}" type="pres">
      <dgm:prSet presAssocID="{B4C27B1A-540E-4AE1-A0FA-2373F8C7C00D}" presName="desTx" presStyleLbl="alignAccFollowNode1" presStyleIdx="1" presStyleCnt="2">
        <dgm:presLayoutVars>
          <dgm:bulletEnabled val="1"/>
        </dgm:presLayoutVars>
      </dgm:prSet>
      <dgm:spPr/>
    </dgm:pt>
  </dgm:ptLst>
  <dgm:cxnLst>
    <dgm:cxn modelId="{AC98711B-30F1-4F9A-90F2-E5CCA3B9A35E}" srcId="{B4C27B1A-540E-4AE1-A0FA-2373F8C7C00D}" destId="{E4ED0C5A-041D-4179-B2D9-667F95556395}" srcOrd="0" destOrd="0" parTransId="{9EA42626-615E-4243-9D5E-9458C4479806}" sibTransId="{242AF108-920E-4047-82C5-21EF27E335D8}"/>
    <dgm:cxn modelId="{E3527060-511E-407B-94F7-F1B7A8110B43}" srcId="{361C9BC5-B29F-48D4-9051-8080622C2265}" destId="{B4C27B1A-540E-4AE1-A0FA-2373F8C7C00D}" srcOrd="1" destOrd="0" parTransId="{2AF68E5C-339F-43E9-9BD8-1A6F133890E6}" sibTransId="{D0BBCA65-D6FF-4282-863E-E4E8ADE1401C}"/>
    <dgm:cxn modelId="{B8FBCF65-8CE6-4959-A94A-4AFCB263801D}" srcId="{361C9BC5-B29F-48D4-9051-8080622C2265}" destId="{1F6D49FA-F901-4B50-ADEC-FB4488F0ECDE}" srcOrd="0" destOrd="0" parTransId="{3BCE62CD-17F6-4BDE-88CF-B2E57C113250}" sibTransId="{C712D40E-2867-4325-981C-5EED6888713A}"/>
    <dgm:cxn modelId="{0E812949-F4E6-4FAE-A911-F22FFCB65A29}" type="presOf" srcId="{A7353B7C-3B7F-483A-9D5D-EF2CA979FE0F}" destId="{03A5736B-9407-4E51-943F-C4127641647B}" srcOrd="0" destOrd="0" presId="urn:microsoft.com/office/officeart/2005/8/layout/hList1"/>
    <dgm:cxn modelId="{D31F8A4A-4BE7-48FE-B7E3-22A5225B721F}" srcId="{1F6D49FA-F901-4B50-ADEC-FB4488F0ECDE}" destId="{A7353B7C-3B7F-483A-9D5D-EF2CA979FE0F}" srcOrd="0" destOrd="0" parTransId="{BCE185A7-04EA-450F-8DE8-10725E84408C}" sibTransId="{949DC585-CA63-48CC-A0DD-6DDF763B9D5E}"/>
    <dgm:cxn modelId="{8797336C-4331-4DC2-AE25-347037722617}" srcId="{B4C27B1A-540E-4AE1-A0FA-2373F8C7C00D}" destId="{C99DE165-A6A2-4E3C-8084-9A776539F414}" srcOrd="1" destOrd="0" parTransId="{15A961B9-3A0A-4FA7-8F0F-40C05929148C}" sibTransId="{39426DE8-50A8-4767-823C-76D6C28D84CD}"/>
    <dgm:cxn modelId="{FB5B8E72-0B22-4D45-99E3-6EC7140F0AB3}" type="presOf" srcId="{361C9BC5-B29F-48D4-9051-8080622C2265}" destId="{855C61C3-9681-46A9-85A5-1E65B56A782C}" srcOrd="0" destOrd="0" presId="urn:microsoft.com/office/officeart/2005/8/layout/hList1"/>
    <dgm:cxn modelId="{90A5E980-4063-4E8B-B918-C4BAF3B1F2BA}" type="presOf" srcId="{B3C1C06F-F101-4097-8E76-7221602C9DCD}" destId="{03A5736B-9407-4E51-943F-C4127641647B}" srcOrd="0" destOrd="1" presId="urn:microsoft.com/office/officeart/2005/8/layout/hList1"/>
    <dgm:cxn modelId="{7588A984-A004-4D3A-B9AD-8EBCD3E5E060}" type="presOf" srcId="{1F6D49FA-F901-4B50-ADEC-FB4488F0ECDE}" destId="{CD69D0B0-1884-46A2-8F10-145B05B89842}" srcOrd="0" destOrd="0" presId="urn:microsoft.com/office/officeart/2005/8/layout/hList1"/>
    <dgm:cxn modelId="{748B2594-474D-425B-8D6A-157BB949C56E}" srcId="{B4C27B1A-540E-4AE1-A0FA-2373F8C7C00D}" destId="{888A2276-89F3-4140-9592-FE63CBE9FC6F}" srcOrd="2" destOrd="0" parTransId="{818B4799-89CB-4238-BB9D-472D60B40326}" sibTransId="{91715877-E58D-486D-8BF0-DC8A4048A0A2}"/>
    <dgm:cxn modelId="{BE63DE9B-CDE6-4C28-B84D-A080B2864CB1}" type="presOf" srcId="{B4C27B1A-540E-4AE1-A0FA-2373F8C7C00D}" destId="{B2079A84-D30A-43B1-81D6-28B09A3A7626}" srcOrd="0" destOrd="0" presId="urn:microsoft.com/office/officeart/2005/8/layout/hList1"/>
    <dgm:cxn modelId="{C8999BBC-2F22-4036-BE2F-27BE3D94CD58}" type="presOf" srcId="{C99DE165-A6A2-4E3C-8084-9A776539F414}" destId="{802EC7D4-495D-4461-A980-1E7E46187315}" srcOrd="0" destOrd="1" presId="urn:microsoft.com/office/officeart/2005/8/layout/hList1"/>
    <dgm:cxn modelId="{9018C1BE-37B3-488E-A8BA-C8A16612C9FC}" type="presOf" srcId="{888A2276-89F3-4140-9592-FE63CBE9FC6F}" destId="{802EC7D4-495D-4461-A980-1E7E46187315}" srcOrd="0" destOrd="2" presId="urn:microsoft.com/office/officeart/2005/8/layout/hList1"/>
    <dgm:cxn modelId="{EE3D05E0-647B-4AE0-9969-EF9A6CEF939E}" srcId="{1F6D49FA-F901-4B50-ADEC-FB4488F0ECDE}" destId="{B3C1C06F-F101-4097-8E76-7221602C9DCD}" srcOrd="1" destOrd="0" parTransId="{394E42C2-1DBF-4E2F-9E18-2CBF2BCF68B0}" sibTransId="{512E8C54-A45B-4F19-A2E1-DFAF120AE3AC}"/>
    <dgm:cxn modelId="{5D0AE4FB-E321-463C-B9B1-FD65C5AF83CD}" type="presOf" srcId="{E4ED0C5A-041D-4179-B2D9-667F95556395}" destId="{802EC7D4-495D-4461-A980-1E7E46187315}" srcOrd="0" destOrd="0" presId="urn:microsoft.com/office/officeart/2005/8/layout/hList1"/>
    <dgm:cxn modelId="{88BF604C-1904-459E-B3C1-82432CC3C6AA}" type="presParOf" srcId="{855C61C3-9681-46A9-85A5-1E65B56A782C}" destId="{C9C28BD1-EF4F-4CA1-9BA9-72A7B8BFFCFD}" srcOrd="0" destOrd="0" presId="urn:microsoft.com/office/officeart/2005/8/layout/hList1"/>
    <dgm:cxn modelId="{8D44B271-6CFA-498C-9A7C-9B0866F8B7E8}" type="presParOf" srcId="{C9C28BD1-EF4F-4CA1-9BA9-72A7B8BFFCFD}" destId="{CD69D0B0-1884-46A2-8F10-145B05B89842}" srcOrd="0" destOrd="0" presId="urn:microsoft.com/office/officeart/2005/8/layout/hList1"/>
    <dgm:cxn modelId="{E6030247-9935-40B7-97A0-29A74D32B9B3}" type="presParOf" srcId="{C9C28BD1-EF4F-4CA1-9BA9-72A7B8BFFCFD}" destId="{03A5736B-9407-4E51-943F-C4127641647B}" srcOrd="1" destOrd="0" presId="urn:microsoft.com/office/officeart/2005/8/layout/hList1"/>
    <dgm:cxn modelId="{7A0C3FFE-0952-48F8-A6F9-DFCD5564103D}" type="presParOf" srcId="{855C61C3-9681-46A9-85A5-1E65B56A782C}" destId="{E002B729-091C-462E-96C9-907AFB120A8D}" srcOrd="1" destOrd="0" presId="urn:microsoft.com/office/officeart/2005/8/layout/hList1"/>
    <dgm:cxn modelId="{607FB96D-1A3C-4ABF-B086-75C824EE5DFA}" type="presParOf" srcId="{855C61C3-9681-46A9-85A5-1E65B56A782C}" destId="{7C58811D-8D19-40CE-89EC-CCE20868CD33}" srcOrd="2" destOrd="0" presId="urn:microsoft.com/office/officeart/2005/8/layout/hList1"/>
    <dgm:cxn modelId="{CD61260C-10A3-495F-B435-EF004E25E192}" type="presParOf" srcId="{7C58811D-8D19-40CE-89EC-CCE20868CD33}" destId="{B2079A84-D30A-43B1-81D6-28B09A3A7626}" srcOrd="0" destOrd="0" presId="urn:microsoft.com/office/officeart/2005/8/layout/hList1"/>
    <dgm:cxn modelId="{D65B1510-D8CD-42E0-B790-D98AD9EADCD5}" type="presParOf" srcId="{7C58811D-8D19-40CE-89EC-CCE20868CD33}" destId="{802EC7D4-495D-4461-A980-1E7E46187315}"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ED4ABD43-DDCE-4440-B189-B8BC99419A8C}" type="doc">
      <dgm:prSet loTypeId="urn:microsoft.com/office/officeart/2005/8/layout/vList2" loCatId="list" qsTypeId="urn:microsoft.com/office/officeart/2005/8/quickstyle/simple1" qsCatId="simple" csTypeId="urn:microsoft.com/office/officeart/2005/8/colors/accent1_2" csCatId="accent1" phldr="1"/>
      <dgm:spPr/>
      <dgm:t>
        <a:bodyPr/>
        <a:lstStyle/>
        <a:p>
          <a:endParaRPr lang="zh-CN" altLang="en-US"/>
        </a:p>
      </dgm:t>
    </dgm:pt>
    <dgm:pt modelId="{6B1D83A1-F256-427B-A1DC-7ADE79857098}">
      <dgm:prSet custT="1"/>
      <dgm:spPr>
        <a:solidFill>
          <a:srgbClr val="0070C0"/>
        </a:solidFill>
      </dgm:spPr>
      <dgm:t>
        <a:bodyPr/>
        <a:lstStyle/>
        <a:p>
          <a:pPr rtl="0"/>
          <a:r>
            <a:rPr lang="en-US" altLang="zh-CN" sz="1400" b="1" dirty="0">
              <a:solidFill>
                <a:schemeClr val="bg1"/>
              </a:solidFill>
              <a:latin typeface="微软雅黑 Light" panose="020B0502040204020203" pitchFamily="34" charset="-122"/>
              <a:ea typeface="微软雅黑 Light" panose="020B0502040204020203" pitchFamily="34" charset="-122"/>
            </a:rPr>
            <a:t>	</a:t>
          </a:r>
          <a:r>
            <a:rPr lang="zh-CN" sz="1600" b="1" dirty="0">
              <a:solidFill>
                <a:schemeClr val="bg1"/>
              </a:solidFill>
              <a:latin typeface="微软雅黑 Light" panose="020B0502040204020203" pitchFamily="34" charset="-122"/>
              <a:ea typeface="微软雅黑 Light" panose="020B0502040204020203" pitchFamily="34" charset="-122"/>
            </a:rPr>
            <a:t>方法（操作）</a:t>
          </a:r>
          <a:r>
            <a:rPr lang="en-US" sz="1600" b="1" dirty="0">
              <a:solidFill>
                <a:schemeClr val="bg1"/>
              </a:solidFill>
              <a:latin typeface="微软雅黑 Light" panose="020B0502040204020203" pitchFamily="34" charset="-122"/>
              <a:ea typeface="微软雅黑 Light" panose="020B0502040204020203" pitchFamily="34" charset="-122"/>
            </a:rPr>
            <a:t>				</a:t>
          </a:r>
          <a:r>
            <a:rPr lang="zh-CN" sz="1600" b="1" dirty="0">
              <a:solidFill>
                <a:schemeClr val="bg1"/>
              </a:solidFill>
              <a:latin typeface="微软雅黑 Light" panose="020B0502040204020203" pitchFamily="34" charset="-122"/>
              <a:ea typeface="微软雅黑 Light" panose="020B0502040204020203" pitchFamily="34" charset="-122"/>
            </a:rPr>
            <a:t>意义</a:t>
          </a:r>
          <a:endParaRPr lang="zh-CN" sz="1600" dirty="0">
            <a:solidFill>
              <a:schemeClr val="bg1"/>
            </a:solidFill>
            <a:latin typeface="微软雅黑 Light" panose="020B0502040204020203" pitchFamily="34" charset="-122"/>
            <a:ea typeface="微软雅黑 Light" panose="020B0502040204020203" pitchFamily="34" charset="-122"/>
          </a:endParaRPr>
        </a:p>
      </dgm:t>
    </dgm:pt>
    <dgm:pt modelId="{27CE23E2-20D6-4DA6-8FDE-164A9143B325}" type="parTrans" cxnId="{F05DA65B-F8ED-4E81-94E7-A2A3A92D746E}">
      <dgm:prSet/>
      <dgm:spPr/>
      <dgm:t>
        <a:bodyPr/>
        <a:lstStyle/>
        <a:p>
          <a:endParaRPr lang="zh-CN" altLang="en-US" sz="2000"/>
        </a:p>
      </dgm:t>
    </dgm:pt>
    <dgm:pt modelId="{04EB3969-0881-486F-B9ED-3D997F33DE3D}" type="sibTrans" cxnId="{F05DA65B-F8ED-4E81-94E7-A2A3A92D746E}">
      <dgm:prSet/>
      <dgm:spPr/>
      <dgm:t>
        <a:bodyPr/>
        <a:lstStyle/>
        <a:p>
          <a:endParaRPr lang="zh-CN" altLang="en-US" sz="2000"/>
        </a:p>
      </dgm:t>
    </dgm:pt>
    <dgm:pt modelId="{14A0F9A2-BA5E-473C-A26A-07D95F39FF2B}">
      <dgm:prSet custT="1"/>
      <dgm:spPr>
        <a:solidFill>
          <a:srgbClr val="99FFCC"/>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OPTION		  </a:t>
          </a:r>
          <a:r>
            <a:rPr lang="zh-CN" sz="1400" b="1" dirty="0">
              <a:solidFill>
                <a:schemeClr val="tx1"/>
              </a:solidFill>
              <a:latin typeface="微软雅黑 Light" panose="020B0502040204020203" pitchFamily="34" charset="-122"/>
              <a:ea typeface="微软雅黑 Light" panose="020B0502040204020203" pitchFamily="34" charset="-122"/>
            </a:rPr>
            <a:t>请求一些选项的信息</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F428299F-92F4-4EC3-8F69-F35A1F2197D3}" type="parTrans" cxnId="{1F5B8AB9-56BA-4B3C-93A2-CD67F067C1A5}">
      <dgm:prSet/>
      <dgm:spPr/>
      <dgm:t>
        <a:bodyPr/>
        <a:lstStyle/>
        <a:p>
          <a:endParaRPr lang="zh-CN" altLang="en-US" sz="2000"/>
        </a:p>
      </dgm:t>
    </dgm:pt>
    <dgm:pt modelId="{09F3E21C-1E3E-4245-BD23-D7EF14018618}" type="sibTrans" cxnId="{1F5B8AB9-56BA-4B3C-93A2-CD67F067C1A5}">
      <dgm:prSet/>
      <dgm:spPr/>
      <dgm:t>
        <a:bodyPr/>
        <a:lstStyle/>
        <a:p>
          <a:endParaRPr lang="zh-CN" altLang="en-US" sz="2000"/>
        </a:p>
      </dgm:t>
    </dgm:pt>
    <dgm:pt modelId="{D32D8361-DF8C-48A0-8647-ACE46C5DA45A}">
      <dgm:prSet custT="1"/>
      <dgm:spPr>
        <a:solidFill>
          <a:schemeClr val="accent1">
            <a:lumMod val="40000"/>
            <a:lumOff val="60000"/>
          </a:schemeClr>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GET               		  </a:t>
          </a:r>
          <a:r>
            <a:rPr lang="zh-CN" sz="1400" b="1" dirty="0">
              <a:solidFill>
                <a:schemeClr val="tx1"/>
              </a:solidFill>
              <a:latin typeface="微软雅黑 Light" panose="020B0502040204020203" pitchFamily="34" charset="-122"/>
              <a:ea typeface="微软雅黑 Light" panose="020B0502040204020203" pitchFamily="34" charset="-122"/>
            </a:rPr>
            <a:t>请求读取由 </a:t>
          </a:r>
          <a:r>
            <a:rPr lang="en-US" sz="1400" b="1" dirty="0">
              <a:solidFill>
                <a:schemeClr val="tx1"/>
              </a:solidFill>
              <a:latin typeface="微软雅黑 Light" panose="020B0502040204020203" pitchFamily="34" charset="-122"/>
              <a:ea typeface="微软雅黑 Light" panose="020B0502040204020203" pitchFamily="34" charset="-122"/>
            </a:rPr>
            <a:t>URL</a:t>
          </a:r>
          <a:r>
            <a:rPr lang="zh-CN" sz="1400" b="1" dirty="0">
              <a:solidFill>
                <a:schemeClr val="tx1"/>
              </a:solidFill>
              <a:latin typeface="微软雅黑 Light" panose="020B0502040204020203" pitchFamily="34" charset="-122"/>
              <a:ea typeface="微软雅黑 Light" panose="020B0502040204020203" pitchFamily="34" charset="-122"/>
            </a:rPr>
            <a:t>所标志的信息</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47CA20CA-28BF-4089-8B81-7E9E84CA28B5}" type="parTrans" cxnId="{C3922EF1-C25D-4D0E-A360-802694E5B206}">
      <dgm:prSet/>
      <dgm:spPr/>
      <dgm:t>
        <a:bodyPr/>
        <a:lstStyle/>
        <a:p>
          <a:endParaRPr lang="zh-CN" altLang="en-US" sz="2000"/>
        </a:p>
      </dgm:t>
    </dgm:pt>
    <dgm:pt modelId="{9BD60071-19A1-4A88-A60A-8FB6F147096F}" type="sibTrans" cxnId="{C3922EF1-C25D-4D0E-A360-802694E5B206}">
      <dgm:prSet/>
      <dgm:spPr/>
      <dgm:t>
        <a:bodyPr/>
        <a:lstStyle/>
        <a:p>
          <a:endParaRPr lang="zh-CN" altLang="en-US" sz="2000"/>
        </a:p>
      </dgm:t>
    </dgm:pt>
    <dgm:pt modelId="{5F2F9BD6-F24E-4255-85FC-E2350396D805}">
      <dgm:prSet custT="1"/>
      <dgm:spPr>
        <a:solidFill>
          <a:srgbClr val="99FFCC"/>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HEAD              	  </a:t>
          </a:r>
          <a:r>
            <a:rPr lang="zh-CN" sz="1400" b="1" dirty="0">
              <a:solidFill>
                <a:schemeClr val="tx1"/>
              </a:solidFill>
              <a:latin typeface="微软雅黑 Light" panose="020B0502040204020203" pitchFamily="34" charset="-122"/>
              <a:ea typeface="微软雅黑 Light" panose="020B0502040204020203" pitchFamily="34" charset="-122"/>
            </a:rPr>
            <a:t>请求读取由 </a:t>
          </a:r>
          <a:r>
            <a:rPr lang="en-US" sz="1400" b="1" dirty="0">
              <a:solidFill>
                <a:schemeClr val="tx1"/>
              </a:solidFill>
              <a:latin typeface="微软雅黑 Light" panose="020B0502040204020203" pitchFamily="34" charset="-122"/>
              <a:ea typeface="微软雅黑 Light" panose="020B0502040204020203" pitchFamily="34" charset="-122"/>
            </a:rPr>
            <a:t>URL</a:t>
          </a:r>
          <a:r>
            <a:rPr lang="zh-CN" sz="1400" b="1" dirty="0">
              <a:solidFill>
                <a:schemeClr val="tx1"/>
              </a:solidFill>
              <a:latin typeface="微软雅黑 Light" panose="020B0502040204020203" pitchFamily="34" charset="-122"/>
              <a:ea typeface="微软雅黑 Light" panose="020B0502040204020203" pitchFamily="34" charset="-122"/>
            </a:rPr>
            <a:t>所标志的信息的首部</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01AAAC48-EC48-440E-A5E2-88572E88C756}" type="parTrans" cxnId="{22E6D2E9-025D-4FE7-ADBC-975B6274EA23}">
      <dgm:prSet/>
      <dgm:spPr/>
      <dgm:t>
        <a:bodyPr/>
        <a:lstStyle/>
        <a:p>
          <a:endParaRPr lang="zh-CN" altLang="en-US" sz="2000"/>
        </a:p>
      </dgm:t>
    </dgm:pt>
    <dgm:pt modelId="{1287D65E-3DAA-4426-89B8-BA3E376A4119}" type="sibTrans" cxnId="{22E6D2E9-025D-4FE7-ADBC-975B6274EA23}">
      <dgm:prSet/>
      <dgm:spPr/>
      <dgm:t>
        <a:bodyPr/>
        <a:lstStyle/>
        <a:p>
          <a:endParaRPr lang="zh-CN" altLang="en-US" sz="2000"/>
        </a:p>
      </dgm:t>
    </dgm:pt>
    <dgm:pt modelId="{B3D81C7E-05E3-49CF-989C-070CE891B722}">
      <dgm:prSet custT="1"/>
      <dgm:spPr>
        <a:solidFill>
          <a:schemeClr val="accent1">
            <a:lumMod val="40000"/>
            <a:lumOff val="60000"/>
          </a:schemeClr>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POST     	    	  </a:t>
          </a:r>
          <a:r>
            <a:rPr lang="zh-CN" sz="1400" b="1" dirty="0">
              <a:solidFill>
                <a:schemeClr val="tx1"/>
              </a:solidFill>
              <a:latin typeface="微软雅黑 Light" panose="020B0502040204020203" pitchFamily="34" charset="-122"/>
              <a:ea typeface="微软雅黑 Light" panose="020B0502040204020203" pitchFamily="34" charset="-122"/>
            </a:rPr>
            <a:t>给服务器添加信息（例如，注释）</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B5132612-45C6-41E7-B856-574DE76148DF}" type="parTrans" cxnId="{6FB93842-5A12-41B3-86BF-64E06F25EF4F}">
      <dgm:prSet/>
      <dgm:spPr/>
      <dgm:t>
        <a:bodyPr/>
        <a:lstStyle/>
        <a:p>
          <a:endParaRPr lang="zh-CN" altLang="en-US" sz="2000"/>
        </a:p>
      </dgm:t>
    </dgm:pt>
    <dgm:pt modelId="{967E2E43-1BFB-45FB-ABC6-E9B961CBA7DF}" type="sibTrans" cxnId="{6FB93842-5A12-41B3-86BF-64E06F25EF4F}">
      <dgm:prSet/>
      <dgm:spPr/>
      <dgm:t>
        <a:bodyPr/>
        <a:lstStyle/>
        <a:p>
          <a:endParaRPr lang="zh-CN" altLang="en-US" sz="2000"/>
        </a:p>
      </dgm:t>
    </dgm:pt>
    <dgm:pt modelId="{258A2F10-98A6-45AC-9A9C-BB262FDEF029}">
      <dgm:prSet custT="1"/>
      <dgm:spPr>
        <a:solidFill>
          <a:srgbClr val="99FFCC"/>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PUT			  </a:t>
          </a:r>
          <a:r>
            <a:rPr lang="zh-CN" sz="1400" b="1" dirty="0">
              <a:solidFill>
                <a:schemeClr val="tx1"/>
              </a:solidFill>
              <a:latin typeface="微软雅黑 Light" panose="020B0502040204020203" pitchFamily="34" charset="-122"/>
              <a:ea typeface="微软雅黑 Light" panose="020B0502040204020203" pitchFamily="34" charset="-122"/>
            </a:rPr>
            <a:t>在指明的 </a:t>
          </a:r>
          <a:r>
            <a:rPr lang="en-US" sz="1400" b="1" dirty="0">
              <a:solidFill>
                <a:schemeClr val="tx1"/>
              </a:solidFill>
              <a:latin typeface="微软雅黑 Light" panose="020B0502040204020203" pitchFamily="34" charset="-122"/>
              <a:ea typeface="微软雅黑 Light" panose="020B0502040204020203" pitchFamily="34" charset="-122"/>
            </a:rPr>
            <a:t>URL</a:t>
          </a:r>
          <a:r>
            <a:rPr lang="zh-CN" sz="1400" b="1" dirty="0">
              <a:solidFill>
                <a:schemeClr val="tx1"/>
              </a:solidFill>
              <a:latin typeface="微软雅黑 Light" panose="020B0502040204020203" pitchFamily="34" charset="-122"/>
              <a:ea typeface="微软雅黑 Light" panose="020B0502040204020203" pitchFamily="34" charset="-122"/>
            </a:rPr>
            <a:t>下存储一个文档</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D2D2868A-62C4-410B-B3D8-7DF502EAB38D}" type="parTrans" cxnId="{0E53C646-4BC7-40A4-8EBC-CB6A10ECCF93}">
      <dgm:prSet/>
      <dgm:spPr/>
      <dgm:t>
        <a:bodyPr/>
        <a:lstStyle/>
        <a:p>
          <a:endParaRPr lang="zh-CN" altLang="en-US" sz="2000"/>
        </a:p>
      </dgm:t>
    </dgm:pt>
    <dgm:pt modelId="{196481A8-5918-4487-AE93-E8C148F56D79}" type="sibTrans" cxnId="{0E53C646-4BC7-40A4-8EBC-CB6A10ECCF93}">
      <dgm:prSet/>
      <dgm:spPr/>
      <dgm:t>
        <a:bodyPr/>
        <a:lstStyle/>
        <a:p>
          <a:endParaRPr lang="zh-CN" altLang="en-US" sz="2000"/>
        </a:p>
      </dgm:t>
    </dgm:pt>
    <dgm:pt modelId="{63AFF0E2-A007-4F85-97C5-0E10709F7E5C}">
      <dgm:prSet custT="1"/>
      <dgm:spPr>
        <a:solidFill>
          <a:schemeClr val="accent1">
            <a:lumMod val="40000"/>
            <a:lumOff val="60000"/>
          </a:schemeClr>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DELETE		  </a:t>
          </a:r>
          <a:r>
            <a:rPr lang="zh-CN" sz="1400" b="1" dirty="0">
              <a:solidFill>
                <a:schemeClr val="tx1"/>
              </a:solidFill>
              <a:latin typeface="微软雅黑 Light" panose="020B0502040204020203" pitchFamily="34" charset="-122"/>
              <a:ea typeface="微软雅黑 Light" panose="020B0502040204020203" pitchFamily="34" charset="-122"/>
            </a:rPr>
            <a:t>删除指明的 </a:t>
          </a:r>
          <a:r>
            <a:rPr lang="en-US" sz="1400" b="1" dirty="0">
              <a:solidFill>
                <a:schemeClr val="tx1"/>
              </a:solidFill>
              <a:latin typeface="微软雅黑 Light" panose="020B0502040204020203" pitchFamily="34" charset="-122"/>
              <a:ea typeface="微软雅黑 Light" panose="020B0502040204020203" pitchFamily="34" charset="-122"/>
            </a:rPr>
            <a:t>URL</a:t>
          </a:r>
          <a:r>
            <a:rPr lang="zh-CN" sz="1400" b="1" dirty="0">
              <a:solidFill>
                <a:schemeClr val="tx1"/>
              </a:solidFill>
              <a:latin typeface="微软雅黑 Light" panose="020B0502040204020203" pitchFamily="34" charset="-122"/>
              <a:ea typeface="微软雅黑 Light" panose="020B0502040204020203" pitchFamily="34" charset="-122"/>
            </a:rPr>
            <a:t>所标志的资源</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D6DDE952-B0DE-47D8-B71F-7EF423B3547D}" type="parTrans" cxnId="{53A1F586-4C70-408A-97C9-D8C804FE3C81}">
      <dgm:prSet/>
      <dgm:spPr/>
      <dgm:t>
        <a:bodyPr/>
        <a:lstStyle/>
        <a:p>
          <a:endParaRPr lang="zh-CN" altLang="en-US" sz="2000"/>
        </a:p>
      </dgm:t>
    </dgm:pt>
    <dgm:pt modelId="{4399A9B5-36A9-4B6F-8820-694DF2DF950C}" type="sibTrans" cxnId="{53A1F586-4C70-408A-97C9-D8C804FE3C81}">
      <dgm:prSet/>
      <dgm:spPr/>
      <dgm:t>
        <a:bodyPr/>
        <a:lstStyle/>
        <a:p>
          <a:endParaRPr lang="zh-CN" altLang="en-US" sz="2000"/>
        </a:p>
      </dgm:t>
    </dgm:pt>
    <dgm:pt modelId="{07B4F805-20D4-4BC2-A365-667098FF337D}">
      <dgm:prSet custT="1"/>
      <dgm:spPr>
        <a:solidFill>
          <a:srgbClr val="99FFCC"/>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TRACE			  </a:t>
          </a:r>
          <a:r>
            <a:rPr lang="zh-CN" sz="1400" b="1" dirty="0">
              <a:solidFill>
                <a:schemeClr val="tx1"/>
              </a:solidFill>
              <a:latin typeface="微软雅黑 Light" panose="020B0502040204020203" pitchFamily="34" charset="-122"/>
              <a:ea typeface="微软雅黑 Light" panose="020B0502040204020203" pitchFamily="34" charset="-122"/>
            </a:rPr>
            <a:t>用来进行环回测试的请求报文</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E1C34BCD-65C7-4C0E-9A76-8FC4FE780A8E}" type="parTrans" cxnId="{3CAC8A55-DD07-40E8-8A00-4729478CF17D}">
      <dgm:prSet/>
      <dgm:spPr/>
      <dgm:t>
        <a:bodyPr/>
        <a:lstStyle/>
        <a:p>
          <a:endParaRPr lang="zh-CN" altLang="en-US" sz="2000"/>
        </a:p>
      </dgm:t>
    </dgm:pt>
    <dgm:pt modelId="{5CF980BE-E654-4424-8AA0-131C7CAB0A00}" type="sibTrans" cxnId="{3CAC8A55-DD07-40E8-8A00-4729478CF17D}">
      <dgm:prSet/>
      <dgm:spPr/>
      <dgm:t>
        <a:bodyPr/>
        <a:lstStyle/>
        <a:p>
          <a:endParaRPr lang="zh-CN" altLang="en-US" sz="2000"/>
        </a:p>
      </dgm:t>
    </dgm:pt>
    <dgm:pt modelId="{C616A960-C11D-48B4-BA4F-337251C61470}">
      <dgm:prSet custT="1"/>
      <dgm:spPr>
        <a:solidFill>
          <a:schemeClr val="accent1">
            <a:lumMod val="40000"/>
            <a:lumOff val="60000"/>
          </a:schemeClr>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CONNECT		  </a:t>
          </a:r>
          <a:r>
            <a:rPr lang="zh-CN" sz="1400" b="1" dirty="0">
              <a:solidFill>
                <a:schemeClr val="tx1"/>
              </a:solidFill>
              <a:latin typeface="微软雅黑 Light" panose="020B0502040204020203" pitchFamily="34" charset="-122"/>
              <a:ea typeface="微软雅黑 Light" panose="020B0502040204020203" pitchFamily="34" charset="-122"/>
            </a:rPr>
            <a:t>用于代理服务器</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5B569C4F-E263-4D62-874B-1A2E3B1B9E32}" type="parTrans" cxnId="{721A12FC-6CA4-4E93-AE77-B928A1B14CE1}">
      <dgm:prSet/>
      <dgm:spPr/>
      <dgm:t>
        <a:bodyPr/>
        <a:lstStyle/>
        <a:p>
          <a:endParaRPr lang="zh-CN" altLang="en-US" sz="2000"/>
        </a:p>
      </dgm:t>
    </dgm:pt>
    <dgm:pt modelId="{ECA1C154-7A47-4D18-B8BB-6870073C2A59}" type="sibTrans" cxnId="{721A12FC-6CA4-4E93-AE77-B928A1B14CE1}">
      <dgm:prSet/>
      <dgm:spPr/>
      <dgm:t>
        <a:bodyPr/>
        <a:lstStyle/>
        <a:p>
          <a:endParaRPr lang="zh-CN" altLang="en-US" sz="2000"/>
        </a:p>
      </dgm:t>
    </dgm:pt>
    <dgm:pt modelId="{F4952754-BFC9-4911-B4D0-7A50D557351A}" type="pres">
      <dgm:prSet presAssocID="{ED4ABD43-DDCE-4440-B189-B8BC99419A8C}" presName="linear" presStyleCnt="0">
        <dgm:presLayoutVars>
          <dgm:animLvl val="lvl"/>
          <dgm:resizeHandles val="exact"/>
        </dgm:presLayoutVars>
      </dgm:prSet>
      <dgm:spPr/>
    </dgm:pt>
    <dgm:pt modelId="{5F526FD6-3C16-45F7-931B-D3253D84A49B}" type="pres">
      <dgm:prSet presAssocID="{6B1D83A1-F256-427B-A1DC-7ADE79857098}" presName="parentText" presStyleLbl="node1" presStyleIdx="0" presStyleCnt="9">
        <dgm:presLayoutVars>
          <dgm:chMax val="0"/>
          <dgm:bulletEnabled val="1"/>
        </dgm:presLayoutVars>
      </dgm:prSet>
      <dgm:spPr/>
    </dgm:pt>
    <dgm:pt modelId="{70B8B93F-D17B-4288-8E8A-4E14EC79485F}" type="pres">
      <dgm:prSet presAssocID="{04EB3969-0881-486F-B9ED-3D997F33DE3D}" presName="spacer" presStyleCnt="0"/>
      <dgm:spPr/>
    </dgm:pt>
    <dgm:pt modelId="{50B73F1F-44EA-4F89-8398-75FE0BB22E10}" type="pres">
      <dgm:prSet presAssocID="{14A0F9A2-BA5E-473C-A26A-07D95F39FF2B}" presName="parentText" presStyleLbl="node1" presStyleIdx="1" presStyleCnt="9">
        <dgm:presLayoutVars>
          <dgm:chMax val="0"/>
          <dgm:bulletEnabled val="1"/>
        </dgm:presLayoutVars>
      </dgm:prSet>
      <dgm:spPr/>
    </dgm:pt>
    <dgm:pt modelId="{D34EC1E6-6907-428C-9D5F-AF01907B324C}" type="pres">
      <dgm:prSet presAssocID="{09F3E21C-1E3E-4245-BD23-D7EF14018618}" presName="spacer" presStyleCnt="0"/>
      <dgm:spPr/>
    </dgm:pt>
    <dgm:pt modelId="{FD5606E7-7379-4F33-830F-006516F4DFDB}" type="pres">
      <dgm:prSet presAssocID="{D32D8361-DF8C-48A0-8647-ACE46C5DA45A}" presName="parentText" presStyleLbl="node1" presStyleIdx="2" presStyleCnt="9">
        <dgm:presLayoutVars>
          <dgm:chMax val="0"/>
          <dgm:bulletEnabled val="1"/>
        </dgm:presLayoutVars>
      </dgm:prSet>
      <dgm:spPr/>
    </dgm:pt>
    <dgm:pt modelId="{A3A91749-FBEB-4655-AFB4-033C7D74953C}" type="pres">
      <dgm:prSet presAssocID="{9BD60071-19A1-4A88-A60A-8FB6F147096F}" presName="spacer" presStyleCnt="0"/>
      <dgm:spPr/>
    </dgm:pt>
    <dgm:pt modelId="{E1C3FBBC-EA1F-4BAD-A2D7-05E9F414FDC7}" type="pres">
      <dgm:prSet presAssocID="{5F2F9BD6-F24E-4255-85FC-E2350396D805}" presName="parentText" presStyleLbl="node1" presStyleIdx="3" presStyleCnt="9">
        <dgm:presLayoutVars>
          <dgm:chMax val="0"/>
          <dgm:bulletEnabled val="1"/>
        </dgm:presLayoutVars>
      </dgm:prSet>
      <dgm:spPr/>
    </dgm:pt>
    <dgm:pt modelId="{337E9823-B5CB-43BA-8F01-2BD744123BF2}" type="pres">
      <dgm:prSet presAssocID="{1287D65E-3DAA-4426-89B8-BA3E376A4119}" presName="spacer" presStyleCnt="0"/>
      <dgm:spPr/>
    </dgm:pt>
    <dgm:pt modelId="{0EB52B51-C389-4A36-BC05-864D852DF5FC}" type="pres">
      <dgm:prSet presAssocID="{B3D81C7E-05E3-49CF-989C-070CE891B722}" presName="parentText" presStyleLbl="node1" presStyleIdx="4" presStyleCnt="9">
        <dgm:presLayoutVars>
          <dgm:chMax val="0"/>
          <dgm:bulletEnabled val="1"/>
        </dgm:presLayoutVars>
      </dgm:prSet>
      <dgm:spPr/>
    </dgm:pt>
    <dgm:pt modelId="{2D368CEE-5AD2-460D-8088-9CA2F6997FA2}" type="pres">
      <dgm:prSet presAssocID="{967E2E43-1BFB-45FB-ABC6-E9B961CBA7DF}" presName="spacer" presStyleCnt="0"/>
      <dgm:spPr/>
    </dgm:pt>
    <dgm:pt modelId="{4E4C0534-037E-45A5-BADC-B7406AF7B1C3}" type="pres">
      <dgm:prSet presAssocID="{258A2F10-98A6-45AC-9A9C-BB262FDEF029}" presName="parentText" presStyleLbl="node1" presStyleIdx="5" presStyleCnt="9">
        <dgm:presLayoutVars>
          <dgm:chMax val="0"/>
          <dgm:bulletEnabled val="1"/>
        </dgm:presLayoutVars>
      </dgm:prSet>
      <dgm:spPr/>
    </dgm:pt>
    <dgm:pt modelId="{C039C7DD-0E08-48C1-A6EC-72D7F9D82548}" type="pres">
      <dgm:prSet presAssocID="{196481A8-5918-4487-AE93-E8C148F56D79}" presName="spacer" presStyleCnt="0"/>
      <dgm:spPr/>
    </dgm:pt>
    <dgm:pt modelId="{EC4E5CDF-5396-4684-B963-9679F944855F}" type="pres">
      <dgm:prSet presAssocID="{63AFF0E2-A007-4F85-97C5-0E10709F7E5C}" presName="parentText" presStyleLbl="node1" presStyleIdx="6" presStyleCnt="9">
        <dgm:presLayoutVars>
          <dgm:chMax val="0"/>
          <dgm:bulletEnabled val="1"/>
        </dgm:presLayoutVars>
      </dgm:prSet>
      <dgm:spPr/>
    </dgm:pt>
    <dgm:pt modelId="{E4EC7552-37A5-4003-B7CF-035B11AA3598}" type="pres">
      <dgm:prSet presAssocID="{4399A9B5-36A9-4B6F-8820-694DF2DF950C}" presName="spacer" presStyleCnt="0"/>
      <dgm:spPr/>
    </dgm:pt>
    <dgm:pt modelId="{21855FA6-2BB4-499A-A8A9-433441C6C9C7}" type="pres">
      <dgm:prSet presAssocID="{07B4F805-20D4-4BC2-A365-667098FF337D}" presName="parentText" presStyleLbl="node1" presStyleIdx="7" presStyleCnt="9">
        <dgm:presLayoutVars>
          <dgm:chMax val="0"/>
          <dgm:bulletEnabled val="1"/>
        </dgm:presLayoutVars>
      </dgm:prSet>
      <dgm:spPr/>
    </dgm:pt>
    <dgm:pt modelId="{66723406-0C3F-437D-80D6-FA1C8062C148}" type="pres">
      <dgm:prSet presAssocID="{5CF980BE-E654-4424-8AA0-131C7CAB0A00}" presName="spacer" presStyleCnt="0"/>
      <dgm:spPr/>
    </dgm:pt>
    <dgm:pt modelId="{08F040B1-2CBD-4876-96AA-45AF94F7D94E}" type="pres">
      <dgm:prSet presAssocID="{C616A960-C11D-48B4-BA4F-337251C61470}" presName="parentText" presStyleLbl="node1" presStyleIdx="8" presStyleCnt="9">
        <dgm:presLayoutVars>
          <dgm:chMax val="0"/>
          <dgm:bulletEnabled val="1"/>
        </dgm:presLayoutVars>
      </dgm:prSet>
      <dgm:spPr/>
    </dgm:pt>
  </dgm:ptLst>
  <dgm:cxnLst>
    <dgm:cxn modelId="{0540C91C-EAF7-4EFA-B74E-527657268102}" type="presOf" srcId="{6B1D83A1-F256-427B-A1DC-7ADE79857098}" destId="{5F526FD6-3C16-45F7-931B-D3253D84A49B}" srcOrd="0" destOrd="0" presId="urn:microsoft.com/office/officeart/2005/8/layout/vList2"/>
    <dgm:cxn modelId="{F05DA65B-F8ED-4E81-94E7-A2A3A92D746E}" srcId="{ED4ABD43-DDCE-4440-B189-B8BC99419A8C}" destId="{6B1D83A1-F256-427B-A1DC-7ADE79857098}" srcOrd="0" destOrd="0" parTransId="{27CE23E2-20D6-4DA6-8FDE-164A9143B325}" sibTransId="{04EB3969-0881-486F-B9ED-3D997F33DE3D}"/>
    <dgm:cxn modelId="{6FB93842-5A12-41B3-86BF-64E06F25EF4F}" srcId="{ED4ABD43-DDCE-4440-B189-B8BC99419A8C}" destId="{B3D81C7E-05E3-49CF-989C-070CE891B722}" srcOrd="4" destOrd="0" parTransId="{B5132612-45C6-41E7-B856-574DE76148DF}" sibTransId="{967E2E43-1BFB-45FB-ABC6-E9B961CBA7DF}"/>
    <dgm:cxn modelId="{8FF67364-7DEB-49FE-8192-3E7830B06CAF}" type="presOf" srcId="{258A2F10-98A6-45AC-9A9C-BB262FDEF029}" destId="{4E4C0534-037E-45A5-BADC-B7406AF7B1C3}" srcOrd="0" destOrd="0" presId="urn:microsoft.com/office/officeart/2005/8/layout/vList2"/>
    <dgm:cxn modelId="{0E53C646-4BC7-40A4-8EBC-CB6A10ECCF93}" srcId="{ED4ABD43-DDCE-4440-B189-B8BC99419A8C}" destId="{258A2F10-98A6-45AC-9A9C-BB262FDEF029}" srcOrd="5" destOrd="0" parTransId="{D2D2868A-62C4-410B-B3D8-7DF502EAB38D}" sibTransId="{196481A8-5918-4487-AE93-E8C148F56D79}"/>
    <dgm:cxn modelId="{BA001C70-062E-4DD3-A57D-6BD7E453C49C}" type="presOf" srcId="{07B4F805-20D4-4BC2-A365-667098FF337D}" destId="{21855FA6-2BB4-499A-A8A9-433441C6C9C7}" srcOrd="0" destOrd="0" presId="urn:microsoft.com/office/officeart/2005/8/layout/vList2"/>
    <dgm:cxn modelId="{1AA63E50-9899-4EB9-9DC6-E5CFEBE9AA52}" type="presOf" srcId="{C616A960-C11D-48B4-BA4F-337251C61470}" destId="{08F040B1-2CBD-4876-96AA-45AF94F7D94E}" srcOrd="0" destOrd="0" presId="urn:microsoft.com/office/officeart/2005/8/layout/vList2"/>
    <dgm:cxn modelId="{3CAC8A55-DD07-40E8-8A00-4729478CF17D}" srcId="{ED4ABD43-DDCE-4440-B189-B8BC99419A8C}" destId="{07B4F805-20D4-4BC2-A365-667098FF337D}" srcOrd="7" destOrd="0" parTransId="{E1C34BCD-65C7-4C0E-9A76-8FC4FE780A8E}" sibTransId="{5CF980BE-E654-4424-8AA0-131C7CAB0A00}"/>
    <dgm:cxn modelId="{0E29C981-1B57-48D5-876F-395BA29D6BA7}" type="presOf" srcId="{B3D81C7E-05E3-49CF-989C-070CE891B722}" destId="{0EB52B51-C389-4A36-BC05-864D852DF5FC}" srcOrd="0" destOrd="0" presId="urn:microsoft.com/office/officeart/2005/8/layout/vList2"/>
    <dgm:cxn modelId="{53A1F586-4C70-408A-97C9-D8C804FE3C81}" srcId="{ED4ABD43-DDCE-4440-B189-B8BC99419A8C}" destId="{63AFF0E2-A007-4F85-97C5-0E10709F7E5C}" srcOrd="6" destOrd="0" parTransId="{D6DDE952-B0DE-47D8-B71F-7EF423B3547D}" sibTransId="{4399A9B5-36A9-4B6F-8820-694DF2DF950C}"/>
    <dgm:cxn modelId="{8346098B-6D4A-4876-BD6E-94E423230B8C}" type="presOf" srcId="{63AFF0E2-A007-4F85-97C5-0E10709F7E5C}" destId="{EC4E5CDF-5396-4684-B963-9679F944855F}" srcOrd="0" destOrd="0" presId="urn:microsoft.com/office/officeart/2005/8/layout/vList2"/>
    <dgm:cxn modelId="{1F5B8AB9-56BA-4B3C-93A2-CD67F067C1A5}" srcId="{ED4ABD43-DDCE-4440-B189-B8BC99419A8C}" destId="{14A0F9A2-BA5E-473C-A26A-07D95F39FF2B}" srcOrd="1" destOrd="0" parTransId="{F428299F-92F4-4EC3-8F69-F35A1F2197D3}" sibTransId="{09F3E21C-1E3E-4245-BD23-D7EF14018618}"/>
    <dgm:cxn modelId="{A610C3C6-FD98-4CF8-8058-5E1E28A4F7E8}" type="presOf" srcId="{ED4ABD43-DDCE-4440-B189-B8BC99419A8C}" destId="{F4952754-BFC9-4911-B4D0-7A50D557351A}" srcOrd="0" destOrd="0" presId="urn:microsoft.com/office/officeart/2005/8/layout/vList2"/>
    <dgm:cxn modelId="{3DE9CDCC-39B1-4776-A172-C290216078E3}" type="presOf" srcId="{5F2F9BD6-F24E-4255-85FC-E2350396D805}" destId="{E1C3FBBC-EA1F-4BAD-A2D7-05E9F414FDC7}" srcOrd="0" destOrd="0" presId="urn:microsoft.com/office/officeart/2005/8/layout/vList2"/>
    <dgm:cxn modelId="{CF44E6D7-8243-4343-9257-F0185984D0A4}" type="presOf" srcId="{14A0F9A2-BA5E-473C-A26A-07D95F39FF2B}" destId="{50B73F1F-44EA-4F89-8398-75FE0BB22E10}" srcOrd="0" destOrd="0" presId="urn:microsoft.com/office/officeart/2005/8/layout/vList2"/>
    <dgm:cxn modelId="{22E6D2E9-025D-4FE7-ADBC-975B6274EA23}" srcId="{ED4ABD43-DDCE-4440-B189-B8BC99419A8C}" destId="{5F2F9BD6-F24E-4255-85FC-E2350396D805}" srcOrd="3" destOrd="0" parTransId="{01AAAC48-EC48-440E-A5E2-88572E88C756}" sibTransId="{1287D65E-3DAA-4426-89B8-BA3E376A4119}"/>
    <dgm:cxn modelId="{D69FD6EE-E9E5-43FF-86CA-09AFA75CB2C2}" type="presOf" srcId="{D32D8361-DF8C-48A0-8647-ACE46C5DA45A}" destId="{FD5606E7-7379-4F33-830F-006516F4DFDB}" srcOrd="0" destOrd="0" presId="urn:microsoft.com/office/officeart/2005/8/layout/vList2"/>
    <dgm:cxn modelId="{C3922EF1-C25D-4D0E-A360-802694E5B206}" srcId="{ED4ABD43-DDCE-4440-B189-B8BC99419A8C}" destId="{D32D8361-DF8C-48A0-8647-ACE46C5DA45A}" srcOrd="2" destOrd="0" parTransId="{47CA20CA-28BF-4089-8B81-7E9E84CA28B5}" sibTransId="{9BD60071-19A1-4A88-A60A-8FB6F147096F}"/>
    <dgm:cxn modelId="{721A12FC-6CA4-4E93-AE77-B928A1B14CE1}" srcId="{ED4ABD43-DDCE-4440-B189-B8BC99419A8C}" destId="{C616A960-C11D-48B4-BA4F-337251C61470}" srcOrd="8" destOrd="0" parTransId="{5B569C4F-E263-4D62-874B-1A2E3B1B9E32}" sibTransId="{ECA1C154-7A47-4D18-B8BB-6870073C2A59}"/>
    <dgm:cxn modelId="{8B043B42-CEA0-49E2-9182-57E5EE364CA8}" type="presParOf" srcId="{F4952754-BFC9-4911-B4D0-7A50D557351A}" destId="{5F526FD6-3C16-45F7-931B-D3253D84A49B}" srcOrd="0" destOrd="0" presId="urn:microsoft.com/office/officeart/2005/8/layout/vList2"/>
    <dgm:cxn modelId="{E323F154-53F9-418D-A3F5-5E1AE7022CBD}" type="presParOf" srcId="{F4952754-BFC9-4911-B4D0-7A50D557351A}" destId="{70B8B93F-D17B-4288-8E8A-4E14EC79485F}" srcOrd="1" destOrd="0" presId="urn:microsoft.com/office/officeart/2005/8/layout/vList2"/>
    <dgm:cxn modelId="{5F65A232-A817-4763-B0A7-CC42A8ACC53E}" type="presParOf" srcId="{F4952754-BFC9-4911-B4D0-7A50D557351A}" destId="{50B73F1F-44EA-4F89-8398-75FE0BB22E10}" srcOrd="2" destOrd="0" presId="urn:microsoft.com/office/officeart/2005/8/layout/vList2"/>
    <dgm:cxn modelId="{8BE3ED8B-3534-4A6B-B916-5ED1F6C5D12C}" type="presParOf" srcId="{F4952754-BFC9-4911-B4D0-7A50D557351A}" destId="{D34EC1E6-6907-428C-9D5F-AF01907B324C}" srcOrd="3" destOrd="0" presId="urn:microsoft.com/office/officeart/2005/8/layout/vList2"/>
    <dgm:cxn modelId="{88AF628F-6B21-43E3-8510-139C0A68CDDB}" type="presParOf" srcId="{F4952754-BFC9-4911-B4D0-7A50D557351A}" destId="{FD5606E7-7379-4F33-830F-006516F4DFDB}" srcOrd="4" destOrd="0" presId="urn:microsoft.com/office/officeart/2005/8/layout/vList2"/>
    <dgm:cxn modelId="{E81F9F7F-3008-4FFD-A34C-B24836CE2789}" type="presParOf" srcId="{F4952754-BFC9-4911-B4D0-7A50D557351A}" destId="{A3A91749-FBEB-4655-AFB4-033C7D74953C}" srcOrd="5" destOrd="0" presId="urn:microsoft.com/office/officeart/2005/8/layout/vList2"/>
    <dgm:cxn modelId="{BF26FA07-DB15-4003-9CD7-79A48440DF7F}" type="presParOf" srcId="{F4952754-BFC9-4911-B4D0-7A50D557351A}" destId="{E1C3FBBC-EA1F-4BAD-A2D7-05E9F414FDC7}" srcOrd="6" destOrd="0" presId="urn:microsoft.com/office/officeart/2005/8/layout/vList2"/>
    <dgm:cxn modelId="{AACCE79E-EBA4-4FA5-BA95-EC663504198B}" type="presParOf" srcId="{F4952754-BFC9-4911-B4D0-7A50D557351A}" destId="{337E9823-B5CB-43BA-8F01-2BD744123BF2}" srcOrd="7" destOrd="0" presId="urn:microsoft.com/office/officeart/2005/8/layout/vList2"/>
    <dgm:cxn modelId="{BF7FE5B6-8D0C-4465-817E-22AFA0D783BE}" type="presParOf" srcId="{F4952754-BFC9-4911-B4D0-7A50D557351A}" destId="{0EB52B51-C389-4A36-BC05-864D852DF5FC}" srcOrd="8" destOrd="0" presId="urn:microsoft.com/office/officeart/2005/8/layout/vList2"/>
    <dgm:cxn modelId="{1732B9D0-DF1E-4D2F-B6A5-8A2A406CF108}" type="presParOf" srcId="{F4952754-BFC9-4911-B4D0-7A50D557351A}" destId="{2D368CEE-5AD2-460D-8088-9CA2F6997FA2}" srcOrd="9" destOrd="0" presId="urn:microsoft.com/office/officeart/2005/8/layout/vList2"/>
    <dgm:cxn modelId="{A1CFA4E7-48B9-4DF3-AB07-876A25DFF48E}" type="presParOf" srcId="{F4952754-BFC9-4911-B4D0-7A50D557351A}" destId="{4E4C0534-037E-45A5-BADC-B7406AF7B1C3}" srcOrd="10" destOrd="0" presId="urn:microsoft.com/office/officeart/2005/8/layout/vList2"/>
    <dgm:cxn modelId="{8C621798-C527-41B7-8DE5-808CFCC784AE}" type="presParOf" srcId="{F4952754-BFC9-4911-B4D0-7A50D557351A}" destId="{C039C7DD-0E08-48C1-A6EC-72D7F9D82548}" srcOrd="11" destOrd="0" presId="urn:microsoft.com/office/officeart/2005/8/layout/vList2"/>
    <dgm:cxn modelId="{743FB023-60A0-4E8B-9CEB-11616042108F}" type="presParOf" srcId="{F4952754-BFC9-4911-B4D0-7A50D557351A}" destId="{EC4E5CDF-5396-4684-B963-9679F944855F}" srcOrd="12" destOrd="0" presId="urn:microsoft.com/office/officeart/2005/8/layout/vList2"/>
    <dgm:cxn modelId="{B00F3713-C00F-423A-A166-9EAAC35C07CE}" type="presParOf" srcId="{F4952754-BFC9-4911-B4D0-7A50D557351A}" destId="{E4EC7552-37A5-4003-B7CF-035B11AA3598}" srcOrd="13" destOrd="0" presId="urn:microsoft.com/office/officeart/2005/8/layout/vList2"/>
    <dgm:cxn modelId="{EBB0F5D1-9D26-4409-8C19-2CA476CCC5AA}" type="presParOf" srcId="{F4952754-BFC9-4911-B4D0-7A50D557351A}" destId="{21855FA6-2BB4-499A-A8A9-433441C6C9C7}" srcOrd="14" destOrd="0" presId="urn:microsoft.com/office/officeart/2005/8/layout/vList2"/>
    <dgm:cxn modelId="{889C6B30-6315-4929-B518-6E19398F2A1F}" type="presParOf" srcId="{F4952754-BFC9-4911-B4D0-7A50D557351A}" destId="{66723406-0C3F-437D-80D6-FA1C8062C148}" srcOrd="15" destOrd="0" presId="urn:microsoft.com/office/officeart/2005/8/layout/vList2"/>
    <dgm:cxn modelId="{A203E2E4-4A48-48D9-B283-388C7A09B2A3}" type="presParOf" srcId="{F4952754-BFC9-4911-B4D0-7A50D557351A}" destId="{08F040B1-2CBD-4876-96AA-45AF94F7D94E}" srcOrd="16"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640FA84E-D24C-4A71-8726-ABEBB11DBFA7}" type="doc">
      <dgm:prSet loTypeId="urn:microsoft.com/office/officeart/2005/8/layout/hList1" loCatId="list" qsTypeId="urn:microsoft.com/office/officeart/2005/8/quickstyle/simple1" qsCatId="simple" csTypeId="urn:microsoft.com/office/officeart/2005/8/colors/colorful1#1" csCatId="colorful" phldr="1"/>
      <dgm:spPr/>
      <dgm:t>
        <a:bodyPr/>
        <a:lstStyle/>
        <a:p>
          <a:endParaRPr lang="zh-CN" altLang="en-US"/>
        </a:p>
      </dgm:t>
    </dgm:pt>
    <dgm:pt modelId="{4A67B12B-F27E-4426-AA87-6EFCC170D45C}">
      <dgm:prSet phldrT="[文本]" custT="1"/>
      <dgm:spPr/>
      <dgm:t>
        <a:bodyPr/>
        <a:lstStyle/>
        <a:p>
          <a:r>
            <a:rPr lang="zh-CN" altLang="en-US" sz="1400" b="1" dirty="0">
              <a:latin typeface="微软雅黑 Light" panose="020B0502040204020203" pitchFamily="34" charset="-122"/>
              <a:ea typeface="微软雅黑 Light" panose="020B0502040204020203" pitchFamily="34" charset="-122"/>
            </a:rPr>
            <a:t>全文检索搜索引擎</a:t>
          </a:r>
        </a:p>
      </dgm:t>
    </dgm:pt>
    <dgm:pt modelId="{5BEE43B6-8E9E-4602-B465-7FED085A3832}" type="parTrans" cxnId="{3A5BA247-2FD8-41F6-A0FA-D35ED6ABC45F}">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D99E4612-C65B-423F-A46B-414E3F4A9548}" type="sibTrans" cxnId="{3A5BA247-2FD8-41F6-A0FA-D35ED6ABC45F}">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09A0DAAE-BBFE-4AB5-AD9D-1D5FFFFCD3E3}">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一种纯技术型的检索工具</a:t>
          </a:r>
        </a:p>
      </dgm:t>
    </dgm:pt>
    <dgm:pt modelId="{A57610D4-26F8-4604-B151-839C46B7150C}" type="parTrans" cxnId="{6A610126-55CF-4099-BACD-73F722678D52}">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40900141-49FB-4448-A9A4-DDD3FD4ED3EE}" type="sibTrans" cxnId="{6A610126-55CF-4099-BACD-73F722678D52}">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9F607C1B-80D0-4E37-9532-5DEF8092D95F}">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不采集网站的任何信息，而是利用各网站向搜索引擎提交的网站信息时填写的关键词和网站描述等信息，经过人工审核编辑后，输入到分类目录的数据库中，供网上用户查询</a:t>
          </a:r>
        </a:p>
      </dgm:t>
    </dgm:pt>
    <dgm:pt modelId="{129CC8E6-B479-4A11-9A5C-F331665CEF58}" type="parTrans" cxnId="{D5DEB2F0-BE16-44F9-82A1-3A74268E7224}">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E389A9B5-441E-42CC-BEA3-51AA982AD6CE}" type="sibTrans" cxnId="{D5DEB2F0-BE16-44F9-82A1-3A74268E7224}">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61C60E65-B106-4C3D-AAF8-FC1FD0A02A4B}">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通过搜索软件（例如一种叫做“蜘蛛”或“网络机器人”的 </a:t>
          </a:r>
          <a:r>
            <a:rPr lang="en-US" altLang="en-US" sz="1400" b="0" dirty="0">
              <a:latin typeface="Montserrat" panose="00000500000000000000" pitchFamily="2" charset="0"/>
              <a:ea typeface="微软雅黑 Light" panose="020B0502040204020203" pitchFamily="34" charset="-122"/>
            </a:rPr>
            <a:t>Spider </a:t>
          </a:r>
          <a:r>
            <a:rPr lang="zh-CN" altLang="en-US" sz="1400" b="0" dirty="0">
              <a:latin typeface="Montserrat" panose="00000500000000000000" pitchFamily="2" charset="0"/>
              <a:ea typeface="微软雅黑 Light" panose="020B0502040204020203" pitchFamily="34" charset="-122"/>
            </a:rPr>
            <a:t>程序）到互联网上的各网站收集信息</a:t>
          </a:r>
        </a:p>
      </dgm:t>
    </dgm:pt>
    <dgm:pt modelId="{C254F781-548E-478F-BAF2-126F5E2F3D7A}" type="parTrans" cxnId="{6514846C-E978-4C49-8BB5-1C4EF2E4803B}">
      <dgm:prSet/>
      <dgm:spPr/>
      <dgm:t>
        <a:bodyPr/>
        <a:lstStyle/>
        <a:p>
          <a:endParaRPr lang="zh-CN" altLang="en-US" sz="1400"/>
        </a:p>
      </dgm:t>
    </dgm:pt>
    <dgm:pt modelId="{8AD171DB-28FE-4ACB-B0C1-15945DC4A62A}" type="sibTrans" cxnId="{6514846C-E978-4C49-8BB5-1C4EF2E4803B}">
      <dgm:prSet/>
      <dgm:spPr/>
      <dgm:t>
        <a:bodyPr/>
        <a:lstStyle/>
        <a:p>
          <a:endParaRPr lang="zh-CN" altLang="en-US" sz="1400"/>
        </a:p>
      </dgm:t>
    </dgm:pt>
    <dgm:pt modelId="{328CB23F-D8F3-4B6A-B4B9-F64BFB9CA47F}">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用户在查询时只要输入关键词，从已经建立的索引数据库里查询（非实时）</a:t>
          </a:r>
        </a:p>
      </dgm:t>
    </dgm:pt>
    <dgm:pt modelId="{77010FA5-DC68-4DEB-93B3-B53DAC9E6ABC}" type="parTrans" cxnId="{021637B2-6265-427F-8249-22D6800BF362}">
      <dgm:prSet/>
      <dgm:spPr/>
      <dgm:t>
        <a:bodyPr/>
        <a:lstStyle/>
        <a:p>
          <a:endParaRPr lang="zh-CN" altLang="en-US" sz="1400"/>
        </a:p>
      </dgm:t>
    </dgm:pt>
    <dgm:pt modelId="{118F7781-722A-4376-B3E0-5E4C4F274A72}" type="sibTrans" cxnId="{021637B2-6265-427F-8249-22D6800BF362}">
      <dgm:prSet/>
      <dgm:spPr/>
      <dgm:t>
        <a:bodyPr/>
        <a:lstStyle/>
        <a:p>
          <a:endParaRPr lang="zh-CN" altLang="en-US" sz="1400"/>
        </a:p>
      </dgm:t>
    </dgm:pt>
    <dgm:pt modelId="{050C4E28-BA13-4764-8595-89E113C63E70}">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需要定期更新维护数据库</a:t>
          </a:r>
        </a:p>
      </dgm:t>
    </dgm:pt>
    <dgm:pt modelId="{9464634E-D6F1-4FE9-B86E-6F1B48EA7169}" type="parTrans" cxnId="{4554409D-A1B1-4700-B815-DC22BB410C36}">
      <dgm:prSet/>
      <dgm:spPr/>
      <dgm:t>
        <a:bodyPr/>
        <a:lstStyle/>
        <a:p>
          <a:endParaRPr lang="zh-CN" altLang="en-US"/>
        </a:p>
      </dgm:t>
    </dgm:pt>
    <dgm:pt modelId="{9AB1F0C5-8DF9-4CAC-BABA-22C83EBF2A4D}" type="sibTrans" cxnId="{4554409D-A1B1-4700-B815-DC22BB410C36}">
      <dgm:prSet/>
      <dgm:spPr/>
      <dgm:t>
        <a:bodyPr/>
        <a:lstStyle/>
        <a:p>
          <a:endParaRPr lang="zh-CN" altLang="en-US"/>
        </a:p>
      </dgm:t>
    </dgm:pt>
    <dgm:pt modelId="{5449751D-EB9D-4373-893A-D2F5888DB8FC}">
      <dgm:prSet phldrT="[文本]" custT="1"/>
      <dgm:spPr/>
      <dgm:t>
        <a:bodyPr/>
        <a:lstStyle/>
        <a:p>
          <a:r>
            <a:rPr lang="zh-CN" altLang="en-US" sz="1400" b="1" dirty="0">
              <a:latin typeface="微软雅黑 Light" panose="020B0502040204020203" pitchFamily="34" charset="-122"/>
              <a:ea typeface="微软雅黑 Light" panose="020B0502040204020203" pitchFamily="34" charset="-122"/>
            </a:rPr>
            <a:t>分类目录搜索引擎</a:t>
          </a:r>
        </a:p>
      </dgm:t>
    </dgm:pt>
    <dgm:pt modelId="{328CCA76-77A8-4316-A94F-1D0317492727}" type="parTrans" cxnId="{6D0F46F1-4AC4-4736-B900-19ECDC23E479}">
      <dgm:prSet/>
      <dgm:spPr/>
      <dgm:t>
        <a:bodyPr/>
        <a:lstStyle/>
        <a:p>
          <a:endParaRPr lang="zh-CN" altLang="en-US"/>
        </a:p>
      </dgm:t>
    </dgm:pt>
    <dgm:pt modelId="{F6B66E90-AD5B-457C-AAB4-88F3EC4A38ED}" type="sibTrans" cxnId="{6D0F46F1-4AC4-4736-B900-19ECDC23E479}">
      <dgm:prSet/>
      <dgm:spPr/>
      <dgm:t>
        <a:bodyPr/>
        <a:lstStyle/>
        <a:p>
          <a:endParaRPr lang="zh-CN" altLang="en-US"/>
        </a:p>
      </dgm:t>
    </dgm:pt>
    <dgm:pt modelId="{CE71DC2E-5525-4979-B6CC-33CC9C5CCDE8}">
      <dgm:prSet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分类目录搜索也叫做分类网站搜索。</a:t>
          </a:r>
        </a:p>
      </dgm:t>
    </dgm:pt>
    <dgm:pt modelId="{F8466C81-619C-4EDF-AD7B-C61C08441610}" type="parTrans" cxnId="{F5AAB865-104E-411B-9B3C-BEE8F1D0D046}">
      <dgm:prSet/>
      <dgm:spPr/>
      <dgm:t>
        <a:bodyPr/>
        <a:lstStyle/>
        <a:p>
          <a:endParaRPr lang="zh-CN" altLang="en-US"/>
        </a:p>
      </dgm:t>
    </dgm:pt>
    <dgm:pt modelId="{5B8DBDFD-DE8C-4AEF-97F4-5037A2D9F0E8}" type="sibTrans" cxnId="{F5AAB865-104E-411B-9B3C-BEE8F1D0D046}">
      <dgm:prSet/>
      <dgm:spPr/>
      <dgm:t>
        <a:bodyPr/>
        <a:lstStyle/>
        <a:p>
          <a:endParaRPr lang="zh-CN" altLang="en-US"/>
        </a:p>
      </dgm:t>
    </dgm:pt>
    <dgm:pt modelId="{03B7B585-4274-466B-9BFA-67A3A8D9458C}">
      <dgm:prSet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查询时只需要按照分类，不需要使用关键词，查询的准确性较好</a:t>
          </a:r>
        </a:p>
      </dgm:t>
    </dgm:pt>
    <dgm:pt modelId="{A952DB3C-805E-4A71-8677-121621D53B56}" type="parTrans" cxnId="{AD1B10FF-C036-4E2D-81C6-4650BD7AE0A2}">
      <dgm:prSet/>
      <dgm:spPr/>
      <dgm:t>
        <a:bodyPr/>
        <a:lstStyle/>
        <a:p>
          <a:endParaRPr lang="zh-CN" altLang="en-US"/>
        </a:p>
      </dgm:t>
    </dgm:pt>
    <dgm:pt modelId="{760ED4A1-D3FB-4E3E-9FAF-B1345895BD7A}" type="sibTrans" cxnId="{AD1B10FF-C036-4E2D-81C6-4650BD7AE0A2}">
      <dgm:prSet/>
      <dgm:spPr/>
      <dgm:t>
        <a:bodyPr/>
        <a:lstStyle/>
        <a:p>
          <a:endParaRPr lang="zh-CN" altLang="en-US"/>
        </a:p>
      </dgm:t>
    </dgm:pt>
    <dgm:pt modelId="{6339AE21-B307-4792-AF9D-64765A81105C}">
      <dgm:prSet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查询的结果不是具体的页面，而是被收录网站主页的 </a:t>
          </a:r>
          <a:r>
            <a:rPr lang="en-US" altLang="en-US" sz="1400" b="0" dirty="0">
              <a:latin typeface="Montserrat" panose="00000500000000000000" pitchFamily="2" charset="0"/>
              <a:ea typeface="微软雅黑 Light" panose="020B0502040204020203" pitchFamily="34" charset="-122"/>
            </a:rPr>
            <a:t>URL </a:t>
          </a:r>
          <a:r>
            <a:rPr lang="zh-CN" altLang="en-US" sz="1400" b="0" dirty="0">
              <a:latin typeface="Montserrat" panose="00000500000000000000" pitchFamily="2" charset="0"/>
              <a:ea typeface="微软雅黑 Light" panose="020B0502040204020203" pitchFamily="34" charset="-122"/>
            </a:rPr>
            <a:t>地址</a:t>
          </a:r>
        </a:p>
      </dgm:t>
    </dgm:pt>
    <dgm:pt modelId="{9567897E-214A-48CD-89B6-83D5184D2F2A}" type="parTrans" cxnId="{F5A8529D-26B9-45B9-A973-9E127E73CE38}">
      <dgm:prSet/>
      <dgm:spPr/>
      <dgm:t>
        <a:bodyPr/>
        <a:lstStyle/>
        <a:p>
          <a:endParaRPr lang="zh-CN" altLang="en-US"/>
        </a:p>
      </dgm:t>
    </dgm:pt>
    <dgm:pt modelId="{569B0100-1CBF-4344-9FD1-DFB338417209}" type="sibTrans" cxnId="{F5A8529D-26B9-45B9-A973-9E127E73CE38}">
      <dgm:prSet/>
      <dgm:spPr/>
      <dgm:t>
        <a:bodyPr/>
        <a:lstStyle/>
        <a:p>
          <a:endParaRPr lang="zh-CN" altLang="en-US"/>
        </a:p>
      </dgm:t>
    </dgm:pt>
    <dgm:pt modelId="{C0D8ADDD-B14C-4A4B-8F66-FA1E12F27746}">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按照一定的规则建立一个很大的在线索引数据库</a:t>
          </a:r>
        </a:p>
      </dgm:t>
    </dgm:pt>
    <dgm:pt modelId="{7673687D-617F-4DD5-A0DC-4CE6C4420FBA}" type="parTrans" cxnId="{1995B44A-319A-4391-8AC4-57E9F719C2EF}">
      <dgm:prSet/>
      <dgm:spPr/>
      <dgm:t>
        <a:bodyPr/>
        <a:lstStyle/>
        <a:p>
          <a:endParaRPr lang="zh-CN" altLang="en-US"/>
        </a:p>
      </dgm:t>
    </dgm:pt>
    <dgm:pt modelId="{B4C73580-2708-4C61-A24E-944871042CDA}" type="sibTrans" cxnId="{1995B44A-319A-4391-8AC4-57E9F719C2EF}">
      <dgm:prSet/>
      <dgm:spPr/>
      <dgm:t>
        <a:bodyPr/>
        <a:lstStyle/>
        <a:p>
          <a:endParaRPr lang="zh-CN" altLang="en-US"/>
        </a:p>
      </dgm:t>
    </dgm:pt>
    <dgm:pt modelId="{18114A28-018D-44D7-AF7A-D60D965430EC}" type="pres">
      <dgm:prSet presAssocID="{640FA84E-D24C-4A71-8726-ABEBB11DBFA7}" presName="Name0" presStyleCnt="0">
        <dgm:presLayoutVars>
          <dgm:dir/>
          <dgm:animLvl val="lvl"/>
          <dgm:resizeHandles val="exact"/>
        </dgm:presLayoutVars>
      </dgm:prSet>
      <dgm:spPr/>
    </dgm:pt>
    <dgm:pt modelId="{655DEBF3-4B57-4FEF-858C-B45140B250AD}" type="pres">
      <dgm:prSet presAssocID="{4A67B12B-F27E-4426-AA87-6EFCC170D45C}" presName="composite" presStyleCnt="0"/>
      <dgm:spPr/>
    </dgm:pt>
    <dgm:pt modelId="{73F60847-C5CB-4E1F-92CA-969FDFBB52DB}" type="pres">
      <dgm:prSet presAssocID="{4A67B12B-F27E-4426-AA87-6EFCC170D45C}" presName="parTx" presStyleLbl="alignNode1" presStyleIdx="0" presStyleCnt="2">
        <dgm:presLayoutVars>
          <dgm:chMax val="0"/>
          <dgm:chPref val="0"/>
          <dgm:bulletEnabled val="1"/>
        </dgm:presLayoutVars>
      </dgm:prSet>
      <dgm:spPr/>
    </dgm:pt>
    <dgm:pt modelId="{4E1C6945-3361-4332-9057-7162DBC9BE74}" type="pres">
      <dgm:prSet presAssocID="{4A67B12B-F27E-4426-AA87-6EFCC170D45C}" presName="desTx" presStyleLbl="alignAccFollowNode1" presStyleIdx="0" presStyleCnt="2">
        <dgm:presLayoutVars>
          <dgm:bulletEnabled val="1"/>
        </dgm:presLayoutVars>
      </dgm:prSet>
      <dgm:spPr/>
    </dgm:pt>
    <dgm:pt modelId="{34F180CF-8913-440D-869F-709B62B80AEA}" type="pres">
      <dgm:prSet presAssocID="{D99E4612-C65B-423F-A46B-414E3F4A9548}" presName="space" presStyleCnt="0"/>
      <dgm:spPr/>
    </dgm:pt>
    <dgm:pt modelId="{AB71EA2A-E790-4838-8A47-6BD6BF1916C4}" type="pres">
      <dgm:prSet presAssocID="{5449751D-EB9D-4373-893A-D2F5888DB8FC}" presName="composite" presStyleCnt="0"/>
      <dgm:spPr/>
    </dgm:pt>
    <dgm:pt modelId="{68DA0B6D-3EBF-4324-92AB-1CC040E6E5B2}" type="pres">
      <dgm:prSet presAssocID="{5449751D-EB9D-4373-893A-D2F5888DB8FC}" presName="parTx" presStyleLbl="alignNode1" presStyleIdx="1" presStyleCnt="2">
        <dgm:presLayoutVars>
          <dgm:chMax val="0"/>
          <dgm:chPref val="0"/>
          <dgm:bulletEnabled val="1"/>
        </dgm:presLayoutVars>
      </dgm:prSet>
      <dgm:spPr/>
    </dgm:pt>
    <dgm:pt modelId="{56308F05-9C6F-4168-94D1-139E66E21E29}" type="pres">
      <dgm:prSet presAssocID="{5449751D-EB9D-4373-893A-D2F5888DB8FC}" presName="desTx" presStyleLbl="alignAccFollowNode1" presStyleIdx="1" presStyleCnt="2">
        <dgm:presLayoutVars>
          <dgm:bulletEnabled val="1"/>
        </dgm:presLayoutVars>
      </dgm:prSet>
      <dgm:spPr/>
    </dgm:pt>
  </dgm:ptLst>
  <dgm:cxnLst>
    <dgm:cxn modelId="{9EC04E04-7BBD-42A1-AFF5-CDFF6F65FF51}" type="presOf" srcId="{4A67B12B-F27E-4426-AA87-6EFCC170D45C}" destId="{73F60847-C5CB-4E1F-92CA-969FDFBB52DB}" srcOrd="0" destOrd="0" presId="urn:microsoft.com/office/officeart/2005/8/layout/hList1"/>
    <dgm:cxn modelId="{EF3E2D13-5487-44EF-8C7D-630C24300665}" type="presOf" srcId="{6339AE21-B307-4792-AF9D-64765A81105C}" destId="{56308F05-9C6F-4168-94D1-139E66E21E29}" srcOrd="0" destOrd="3" presId="urn:microsoft.com/office/officeart/2005/8/layout/hList1"/>
    <dgm:cxn modelId="{7EF01D21-D98D-474C-8C7F-420E03D07E1A}" type="presOf" srcId="{050C4E28-BA13-4764-8595-89E113C63E70}" destId="{4E1C6945-3361-4332-9057-7162DBC9BE74}" srcOrd="0" destOrd="4" presId="urn:microsoft.com/office/officeart/2005/8/layout/hList1"/>
    <dgm:cxn modelId="{6A610126-55CF-4099-BACD-73F722678D52}" srcId="{4A67B12B-F27E-4426-AA87-6EFCC170D45C}" destId="{09A0DAAE-BBFE-4AB5-AD9D-1D5FFFFCD3E3}" srcOrd="0" destOrd="0" parTransId="{A57610D4-26F8-4604-B151-839C46B7150C}" sibTransId="{40900141-49FB-4448-A9A4-DDD3FD4ED3EE}"/>
    <dgm:cxn modelId="{F2EC2B2A-3CA3-4E1B-A7CD-A463B4F86B4B}" type="presOf" srcId="{03B7B585-4274-466B-9BFA-67A3A8D9458C}" destId="{56308F05-9C6F-4168-94D1-139E66E21E29}" srcOrd="0" destOrd="2" presId="urn:microsoft.com/office/officeart/2005/8/layout/hList1"/>
    <dgm:cxn modelId="{F5AAB865-104E-411B-9B3C-BEE8F1D0D046}" srcId="{5449751D-EB9D-4373-893A-D2F5888DB8FC}" destId="{CE71DC2E-5525-4979-B6CC-33CC9C5CCDE8}" srcOrd="1" destOrd="0" parTransId="{F8466C81-619C-4EDF-AD7B-C61C08441610}" sibTransId="{5B8DBDFD-DE8C-4AEF-97F4-5037A2D9F0E8}"/>
    <dgm:cxn modelId="{3A5BA247-2FD8-41F6-A0FA-D35ED6ABC45F}" srcId="{640FA84E-D24C-4A71-8726-ABEBB11DBFA7}" destId="{4A67B12B-F27E-4426-AA87-6EFCC170D45C}" srcOrd="0" destOrd="0" parTransId="{5BEE43B6-8E9E-4602-B465-7FED085A3832}" sibTransId="{D99E4612-C65B-423F-A46B-414E3F4A9548}"/>
    <dgm:cxn modelId="{1995B44A-319A-4391-8AC4-57E9F719C2EF}" srcId="{4A67B12B-F27E-4426-AA87-6EFCC170D45C}" destId="{C0D8ADDD-B14C-4A4B-8F66-FA1E12F27746}" srcOrd="2" destOrd="0" parTransId="{7673687D-617F-4DD5-A0DC-4CE6C4420FBA}" sibTransId="{B4C73580-2708-4C61-A24E-944871042CDA}"/>
    <dgm:cxn modelId="{6514846C-E978-4C49-8BB5-1C4EF2E4803B}" srcId="{4A67B12B-F27E-4426-AA87-6EFCC170D45C}" destId="{61C60E65-B106-4C3D-AAF8-FC1FD0A02A4B}" srcOrd="1" destOrd="0" parTransId="{C254F781-548E-478F-BAF2-126F5E2F3D7A}" sibTransId="{8AD171DB-28FE-4ACB-B0C1-15945DC4A62A}"/>
    <dgm:cxn modelId="{B96D9B56-5617-48F7-B19C-343E3F206AA8}" type="presOf" srcId="{5449751D-EB9D-4373-893A-D2F5888DB8FC}" destId="{68DA0B6D-3EBF-4324-92AB-1CC040E6E5B2}" srcOrd="0" destOrd="0" presId="urn:microsoft.com/office/officeart/2005/8/layout/hList1"/>
    <dgm:cxn modelId="{4F82438A-4352-41EB-A568-354AB46CCDED}" type="presOf" srcId="{61C60E65-B106-4C3D-AAF8-FC1FD0A02A4B}" destId="{4E1C6945-3361-4332-9057-7162DBC9BE74}" srcOrd="0" destOrd="1" presId="urn:microsoft.com/office/officeart/2005/8/layout/hList1"/>
    <dgm:cxn modelId="{55B80895-AEA4-4B34-A2C3-3A99CBE000CA}" type="presOf" srcId="{09A0DAAE-BBFE-4AB5-AD9D-1D5FFFFCD3E3}" destId="{4E1C6945-3361-4332-9057-7162DBC9BE74}" srcOrd="0" destOrd="0" presId="urn:microsoft.com/office/officeart/2005/8/layout/hList1"/>
    <dgm:cxn modelId="{04A54596-543B-4F6D-9EE7-19A93944811E}" type="presOf" srcId="{328CB23F-D8F3-4B6A-B4B9-F64BFB9CA47F}" destId="{4E1C6945-3361-4332-9057-7162DBC9BE74}" srcOrd="0" destOrd="3" presId="urn:microsoft.com/office/officeart/2005/8/layout/hList1"/>
    <dgm:cxn modelId="{4554409D-A1B1-4700-B815-DC22BB410C36}" srcId="{4A67B12B-F27E-4426-AA87-6EFCC170D45C}" destId="{050C4E28-BA13-4764-8595-89E113C63E70}" srcOrd="4" destOrd="0" parTransId="{9464634E-D6F1-4FE9-B86E-6F1B48EA7169}" sibTransId="{9AB1F0C5-8DF9-4CAC-BABA-22C83EBF2A4D}"/>
    <dgm:cxn modelId="{F5A8529D-26B9-45B9-A973-9E127E73CE38}" srcId="{5449751D-EB9D-4373-893A-D2F5888DB8FC}" destId="{6339AE21-B307-4792-AF9D-64765A81105C}" srcOrd="3" destOrd="0" parTransId="{9567897E-214A-48CD-89B6-83D5184D2F2A}" sibTransId="{569B0100-1CBF-4344-9FD1-DFB338417209}"/>
    <dgm:cxn modelId="{286FC2A6-8859-4845-86F0-9E9BE12E588A}" type="presOf" srcId="{9F607C1B-80D0-4E37-9532-5DEF8092D95F}" destId="{56308F05-9C6F-4168-94D1-139E66E21E29}" srcOrd="0" destOrd="0" presId="urn:microsoft.com/office/officeart/2005/8/layout/hList1"/>
    <dgm:cxn modelId="{66F6AFA8-7EFE-4A43-9A3D-72A92C3E3AC0}" type="presOf" srcId="{640FA84E-D24C-4A71-8726-ABEBB11DBFA7}" destId="{18114A28-018D-44D7-AF7A-D60D965430EC}" srcOrd="0" destOrd="0" presId="urn:microsoft.com/office/officeart/2005/8/layout/hList1"/>
    <dgm:cxn modelId="{021637B2-6265-427F-8249-22D6800BF362}" srcId="{4A67B12B-F27E-4426-AA87-6EFCC170D45C}" destId="{328CB23F-D8F3-4B6A-B4B9-F64BFB9CA47F}" srcOrd="3" destOrd="0" parTransId="{77010FA5-DC68-4DEB-93B3-B53DAC9E6ABC}" sibTransId="{118F7781-722A-4376-B3E0-5E4C4F274A72}"/>
    <dgm:cxn modelId="{6C8AC5BD-9059-4C85-B5FF-822C28A50264}" type="presOf" srcId="{CE71DC2E-5525-4979-B6CC-33CC9C5CCDE8}" destId="{56308F05-9C6F-4168-94D1-139E66E21E29}" srcOrd="0" destOrd="1" presId="urn:microsoft.com/office/officeart/2005/8/layout/hList1"/>
    <dgm:cxn modelId="{975272D0-8E49-407C-BF50-D9C808514A4D}" type="presOf" srcId="{C0D8ADDD-B14C-4A4B-8F66-FA1E12F27746}" destId="{4E1C6945-3361-4332-9057-7162DBC9BE74}" srcOrd="0" destOrd="2" presId="urn:microsoft.com/office/officeart/2005/8/layout/hList1"/>
    <dgm:cxn modelId="{D5DEB2F0-BE16-44F9-82A1-3A74268E7224}" srcId="{5449751D-EB9D-4373-893A-D2F5888DB8FC}" destId="{9F607C1B-80D0-4E37-9532-5DEF8092D95F}" srcOrd="0" destOrd="0" parTransId="{129CC8E6-B479-4A11-9A5C-F331665CEF58}" sibTransId="{E389A9B5-441E-42CC-BEA3-51AA982AD6CE}"/>
    <dgm:cxn modelId="{6D0F46F1-4AC4-4736-B900-19ECDC23E479}" srcId="{640FA84E-D24C-4A71-8726-ABEBB11DBFA7}" destId="{5449751D-EB9D-4373-893A-D2F5888DB8FC}" srcOrd="1" destOrd="0" parTransId="{328CCA76-77A8-4316-A94F-1D0317492727}" sibTransId="{F6B66E90-AD5B-457C-AAB4-88F3EC4A38ED}"/>
    <dgm:cxn modelId="{AD1B10FF-C036-4E2D-81C6-4650BD7AE0A2}" srcId="{5449751D-EB9D-4373-893A-D2F5888DB8FC}" destId="{03B7B585-4274-466B-9BFA-67A3A8D9458C}" srcOrd="2" destOrd="0" parTransId="{A952DB3C-805E-4A71-8677-121621D53B56}" sibTransId="{760ED4A1-D3FB-4E3E-9FAF-B1345895BD7A}"/>
    <dgm:cxn modelId="{E9FE9383-E800-431A-8C49-E98798F5C705}" type="presParOf" srcId="{18114A28-018D-44D7-AF7A-D60D965430EC}" destId="{655DEBF3-4B57-4FEF-858C-B45140B250AD}" srcOrd="0" destOrd="0" presId="urn:microsoft.com/office/officeart/2005/8/layout/hList1"/>
    <dgm:cxn modelId="{584BDA81-8B5F-4879-AFA7-79C94CDB8406}" type="presParOf" srcId="{655DEBF3-4B57-4FEF-858C-B45140B250AD}" destId="{73F60847-C5CB-4E1F-92CA-969FDFBB52DB}" srcOrd="0" destOrd="0" presId="urn:microsoft.com/office/officeart/2005/8/layout/hList1"/>
    <dgm:cxn modelId="{DC05DAA2-3500-4464-8B3C-A76B0510AC1F}" type="presParOf" srcId="{655DEBF3-4B57-4FEF-858C-B45140B250AD}" destId="{4E1C6945-3361-4332-9057-7162DBC9BE74}" srcOrd="1" destOrd="0" presId="urn:microsoft.com/office/officeart/2005/8/layout/hList1"/>
    <dgm:cxn modelId="{7E1EC5E9-90F5-4F62-9057-347ECA9D79F3}" type="presParOf" srcId="{18114A28-018D-44D7-AF7A-D60D965430EC}" destId="{34F180CF-8913-440D-869F-709B62B80AEA}" srcOrd="1" destOrd="0" presId="urn:microsoft.com/office/officeart/2005/8/layout/hList1"/>
    <dgm:cxn modelId="{36146050-84B8-42A0-BFAE-9BCEB0C1A1F9}" type="presParOf" srcId="{18114A28-018D-44D7-AF7A-D60D965430EC}" destId="{AB71EA2A-E790-4838-8A47-6BD6BF1916C4}" srcOrd="2" destOrd="0" presId="urn:microsoft.com/office/officeart/2005/8/layout/hList1"/>
    <dgm:cxn modelId="{6ABD188A-18F6-43A0-9380-80D95FA81564}" type="presParOf" srcId="{AB71EA2A-E790-4838-8A47-6BD6BF1916C4}" destId="{68DA0B6D-3EBF-4324-92AB-1CC040E6E5B2}" srcOrd="0" destOrd="0" presId="urn:microsoft.com/office/officeart/2005/8/layout/hList1"/>
    <dgm:cxn modelId="{23CA8CD7-F317-4CBF-8583-030B15C75F34}" type="presParOf" srcId="{AB71EA2A-E790-4838-8A47-6BD6BF1916C4}" destId="{56308F05-9C6F-4168-94D1-139E66E21E29}"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640FA84E-D24C-4A71-8726-ABEBB11DBFA7}" type="doc">
      <dgm:prSet loTypeId="urn:microsoft.com/office/officeart/2005/8/layout/hList1" loCatId="list" qsTypeId="urn:microsoft.com/office/officeart/2005/8/quickstyle/simple1" qsCatId="simple" csTypeId="urn:microsoft.com/office/officeart/2005/8/colors/colorful1#2" csCatId="colorful" phldr="1"/>
      <dgm:spPr/>
      <dgm:t>
        <a:bodyPr/>
        <a:lstStyle/>
        <a:p>
          <a:endParaRPr lang="zh-CN" altLang="en-US"/>
        </a:p>
      </dgm:t>
    </dgm:pt>
    <dgm:pt modelId="{4A67B12B-F27E-4426-AA87-6EFCC170D45C}">
      <dgm:prSet phldrT="[文本]" custT="1"/>
      <dgm:spPr/>
      <dgm:t>
        <a:bodyPr/>
        <a:lstStyle/>
        <a:p>
          <a:r>
            <a:rPr lang="en-US" altLang="en-US" sz="1800" b="1" dirty="0">
              <a:latin typeface="微软雅黑 Light" panose="020B0502040204020203" pitchFamily="34" charset="-122"/>
              <a:ea typeface="微软雅黑 Light" panose="020B0502040204020203" pitchFamily="34" charset="-122"/>
            </a:rPr>
            <a:t>1. </a:t>
          </a:r>
          <a:r>
            <a:rPr lang="zh-CN" altLang="en-US" sz="1800" b="1" dirty="0">
              <a:latin typeface="微软雅黑 Light" panose="020B0502040204020203" pitchFamily="34" charset="-122"/>
              <a:ea typeface="微软雅黑 Light" panose="020B0502040204020203" pitchFamily="34" charset="-122"/>
            </a:rPr>
            <a:t>博客</a:t>
          </a:r>
        </a:p>
      </dgm:t>
    </dgm:pt>
    <dgm:pt modelId="{5BEE43B6-8E9E-4602-B465-7FED085A3832}" type="parTrans" cxnId="{3A5BA247-2FD8-41F6-A0FA-D35ED6ABC45F}">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D99E4612-C65B-423F-A46B-414E3F4A9548}" type="sibTrans" cxnId="{3A5BA247-2FD8-41F6-A0FA-D35ED6ABC45F}">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09A0DAAE-BBFE-4AB5-AD9D-1D5FFFFCD3E3}">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万维网日志 </a:t>
          </a:r>
          <a:r>
            <a:rPr lang="en-US" altLang="en-US" sz="1400" b="0" dirty="0">
              <a:latin typeface="Montserrat" panose="00000500000000000000" pitchFamily="2" charset="0"/>
              <a:ea typeface="微软雅黑 Light" panose="020B0502040204020203" pitchFamily="34" charset="-122"/>
            </a:rPr>
            <a:t>(weblog) </a:t>
          </a:r>
          <a:r>
            <a:rPr lang="zh-CN" altLang="en-US" sz="1400" b="0" dirty="0">
              <a:latin typeface="Montserrat" panose="00000500000000000000" pitchFamily="2" charset="0"/>
              <a:ea typeface="微软雅黑 Light" panose="020B0502040204020203" pitchFamily="34" charset="-122"/>
            </a:rPr>
            <a:t>的简称</a:t>
          </a:r>
        </a:p>
      </dgm:t>
    </dgm:pt>
    <dgm:pt modelId="{A57610D4-26F8-4604-B151-839C46B7150C}" type="parTrans" cxnId="{6A610126-55CF-4099-BACD-73F722678D52}">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40900141-49FB-4448-A9A4-DDD3FD4ED3EE}" type="sibTrans" cxnId="{6A610126-55CF-4099-BACD-73F722678D52}">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5449751D-EB9D-4373-893A-D2F5888DB8FC}">
      <dgm:prSet phldrT="[文本]" custT="1"/>
      <dgm:spPr/>
      <dgm:t>
        <a:bodyPr/>
        <a:lstStyle/>
        <a:p>
          <a:r>
            <a:rPr lang="en-US" altLang="en-US" sz="1800" b="1" dirty="0">
              <a:latin typeface="微软雅黑 Light" panose="020B0502040204020203" pitchFamily="34" charset="-122"/>
              <a:ea typeface="微软雅黑 Light" panose="020B0502040204020203" pitchFamily="34" charset="-122"/>
            </a:rPr>
            <a:t>2. </a:t>
          </a:r>
          <a:r>
            <a:rPr lang="zh-CN" altLang="en-US" sz="1800" b="1" dirty="0">
              <a:latin typeface="微软雅黑 Light" panose="020B0502040204020203" pitchFamily="34" charset="-122"/>
              <a:ea typeface="微软雅黑 Light" panose="020B0502040204020203" pitchFamily="34" charset="-122"/>
            </a:rPr>
            <a:t>微博</a:t>
          </a:r>
        </a:p>
      </dgm:t>
    </dgm:pt>
    <dgm:pt modelId="{328CCA76-77A8-4316-A94F-1D0317492727}" type="parTrans" cxnId="{6D0F46F1-4AC4-4736-B900-19ECDC23E479}">
      <dgm:prSet/>
      <dgm:spPr/>
      <dgm:t>
        <a:bodyPr/>
        <a:lstStyle/>
        <a:p>
          <a:endParaRPr lang="zh-CN" altLang="en-US" sz="1600"/>
        </a:p>
      </dgm:t>
    </dgm:pt>
    <dgm:pt modelId="{F6B66E90-AD5B-457C-AAB4-88F3EC4A38ED}" type="sibTrans" cxnId="{6D0F46F1-4AC4-4736-B900-19ECDC23E479}">
      <dgm:prSet/>
      <dgm:spPr/>
      <dgm:t>
        <a:bodyPr/>
        <a:lstStyle/>
        <a:p>
          <a:endParaRPr lang="zh-CN" altLang="en-US" sz="1600"/>
        </a:p>
      </dgm:t>
    </dgm:pt>
    <dgm:pt modelId="{64E223BE-32F1-486C-B4B4-A6AF93F9F36C}">
      <dgm:prSet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使网民不仅是互联网上内容的消费者，而且还是互联网上内容的生产者</a:t>
          </a:r>
        </a:p>
      </dgm:t>
    </dgm:pt>
    <dgm:pt modelId="{5349B983-CC63-40F5-9599-070B484B227A}" type="parTrans" cxnId="{BDE0994F-91FE-4665-86F0-4A11BDE9BB10}">
      <dgm:prSet/>
      <dgm:spPr/>
      <dgm:t>
        <a:bodyPr/>
        <a:lstStyle/>
        <a:p>
          <a:endParaRPr lang="zh-CN" altLang="en-US" sz="1600"/>
        </a:p>
      </dgm:t>
    </dgm:pt>
    <dgm:pt modelId="{72B9F3AD-116E-4F82-9B5B-F5F26528299A}" type="sibTrans" cxnId="{BDE0994F-91FE-4665-86F0-4A11BDE9BB10}">
      <dgm:prSet/>
      <dgm:spPr/>
      <dgm:t>
        <a:bodyPr/>
        <a:lstStyle/>
        <a:p>
          <a:endParaRPr lang="zh-CN" altLang="en-US" sz="1600"/>
        </a:p>
      </dgm:t>
    </dgm:pt>
    <dgm:pt modelId="{A63C9B60-172B-4DC9-9A5C-1AEAC4875897}">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微型博客 </a:t>
          </a:r>
          <a:r>
            <a:rPr lang="en-US" altLang="en-US" sz="1400" b="0" dirty="0">
              <a:latin typeface="Montserrat" panose="00000500000000000000" pitchFamily="2" charset="0"/>
              <a:ea typeface="微软雅黑 Light" panose="020B0502040204020203" pitchFamily="34" charset="-122"/>
            </a:rPr>
            <a:t>(microblog)</a:t>
          </a:r>
          <a:r>
            <a:rPr lang="zh-CN" altLang="en-US" sz="1400" b="0" dirty="0">
              <a:latin typeface="Montserrat" panose="00000500000000000000" pitchFamily="2" charset="0"/>
              <a:ea typeface="微软雅黑 Light" panose="020B0502040204020203" pitchFamily="34" charset="-122"/>
            </a:rPr>
            <a:t>，又称为微博客</a:t>
          </a:r>
        </a:p>
      </dgm:t>
    </dgm:pt>
    <dgm:pt modelId="{6EEAD8AA-246A-4E0F-B3B7-C0CC12FB0CB7}" type="parTrans" cxnId="{DF1AD42E-CB2D-42D1-B825-99E8FC2086F1}">
      <dgm:prSet/>
      <dgm:spPr/>
      <dgm:t>
        <a:bodyPr/>
        <a:lstStyle/>
        <a:p>
          <a:endParaRPr lang="zh-CN" altLang="en-US" sz="1600"/>
        </a:p>
      </dgm:t>
    </dgm:pt>
    <dgm:pt modelId="{7E736B33-8943-43C4-8301-E5C19CBA7CE8}" type="sibTrans" cxnId="{DF1AD42E-CB2D-42D1-B825-99E8FC2086F1}">
      <dgm:prSet/>
      <dgm:spPr/>
      <dgm:t>
        <a:bodyPr/>
        <a:lstStyle/>
        <a:p>
          <a:endParaRPr lang="zh-CN" altLang="en-US" sz="1600"/>
        </a:p>
      </dgm:t>
    </dgm:pt>
    <dgm:pt modelId="{C4C756D0-11A8-4F58-ADD6-109F69DB6D46}">
      <dgm:prSet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只记录片段、碎语，三言两语，现场记录，发发感慨，晒晒心情，永远只针对一个问题进行回答</a:t>
          </a:r>
        </a:p>
      </dgm:t>
    </dgm:pt>
    <dgm:pt modelId="{D683D10C-57AB-4C10-9769-DBF4097AA893}" type="parTrans" cxnId="{4638EDD7-45CD-4B25-8286-1B7EF72C1585}">
      <dgm:prSet/>
      <dgm:spPr/>
      <dgm:t>
        <a:bodyPr/>
        <a:lstStyle/>
        <a:p>
          <a:endParaRPr lang="zh-CN" altLang="en-US" sz="1600"/>
        </a:p>
      </dgm:t>
    </dgm:pt>
    <dgm:pt modelId="{86F29A84-6C15-4571-8FF5-B3A5C153DFAD}" type="sibTrans" cxnId="{4638EDD7-45CD-4B25-8286-1B7EF72C1585}">
      <dgm:prSet/>
      <dgm:spPr/>
      <dgm:t>
        <a:bodyPr/>
        <a:lstStyle/>
        <a:p>
          <a:endParaRPr lang="zh-CN" altLang="en-US" sz="1600"/>
        </a:p>
      </dgm:t>
    </dgm:pt>
    <dgm:pt modelId="{7CCBB12D-9E4D-487D-8378-589BB6565FF3}">
      <dgm:prSet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是一种互动及传播性极快的工具</a:t>
          </a:r>
        </a:p>
      </dgm:t>
    </dgm:pt>
    <dgm:pt modelId="{293005E5-8ACC-47EE-A886-CF5964C56A19}" type="parTrans" cxnId="{759464FF-C27D-425C-96F3-EEC7F1676B35}">
      <dgm:prSet/>
      <dgm:spPr/>
      <dgm:t>
        <a:bodyPr/>
        <a:lstStyle/>
        <a:p>
          <a:endParaRPr lang="zh-CN" altLang="en-US" sz="1600"/>
        </a:p>
      </dgm:t>
    </dgm:pt>
    <dgm:pt modelId="{E387F7B8-20A7-4DEA-856A-6B567157E9D8}" type="sibTrans" cxnId="{759464FF-C27D-425C-96F3-EEC7F1676B35}">
      <dgm:prSet/>
      <dgm:spPr/>
      <dgm:t>
        <a:bodyPr/>
        <a:lstStyle/>
        <a:p>
          <a:endParaRPr lang="zh-CN" altLang="en-US" sz="1600"/>
        </a:p>
      </dgm:t>
    </dgm:pt>
    <dgm:pt modelId="{FD7B538E-BA8B-4398-A456-7F49453E20B7}">
      <dgm:prSet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开通的多种 </a:t>
          </a:r>
          <a:r>
            <a:rPr lang="en-US" altLang="en-US" sz="1400" b="0" dirty="0">
              <a:latin typeface="Montserrat" panose="00000500000000000000" pitchFamily="2" charset="0"/>
              <a:ea typeface="微软雅黑 Light" panose="020B0502040204020203" pitchFamily="34" charset="-122"/>
            </a:rPr>
            <a:t>API </a:t>
          </a:r>
          <a:r>
            <a:rPr lang="zh-CN" altLang="en-US" sz="1400" b="0" dirty="0">
              <a:latin typeface="Montserrat" panose="00000500000000000000" pitchFamily="2" charset="0"/>
              <a:ea typeface="微软雅黑 Light" panose="020B0502040204020203" pitchFamily="34" charset="-122"/>
            </a:rPr>
            <a:t>使用户可通过手机、网络等方式即时更新自己的信息</a:t>
          </a:r>
        </a:p>
      </dgm:t>
    </dgm:pt>
    <dgm:pt modelId="{9D640870-A10C-44BF-9CD5-3CDCBF003B8C}" type="parTrans" cxnId="{B753547C-2B29-4B1B-A72E-60EA9B6F6E91}">
      <dgm:prSet/>
      <dgm:spPr/>
      <dgm:t>
        <a:bodyPr/>
        <a:lstStyle/>
        <a:p>
          <a:endParaRPr lang="zh-CN" altLang="en-US" sz="1600"/>
        </a:p>
      </dgm:t>
    </dgm:pt>
    <dgm:pt modelId="{2E9E6DAA-946C-403F-87E2-162E0AACC27A}" type="sibTrans" cxnId="{B753547C-2B29-4B1B-A72E-60EA9B6F6E91}">
      <dgm:prSet/>
      <dgm:spPr/>
      <dgm:t>
        <a:bodyPr/>
        <a:lstStyle/>
        <a:p>
          <a:endParaRPr lang="zh-CN" altLang="en-US" sz="1600"/>
        </a:p>
      </dgm:t>
    </dgm:pt>
    <dgm:pt modelId="{18114A28-018D-44D7-AF7A-D60D965430EC}" type="pres">
      <dgm:prSet presAssocID="{640FA84E-D24C-4A71-8726-ABEBB11DBFA7}" presName="Name0" presStyleCnt="0">
        <dgm:presLayoutVars>
          <dgm:dir/>
          <dgm:animLvl val="lvl"/>
          <dgm:resizeHandles val="exact"/>
        </dgm:presLayoutVars>
      </dgm:prSet>
      <dgm:spPr/>
    </dgm:pt>
    <dgm:pt modelId="{655DEBF3-4B57-4FEF-858C-B45140B250AD}" type="pres">
      <dgm:prSet presAssocID="{4A67B12B-F27E-4426-AA87-6EFCC170D45C}" presName="composite" presStyleCnt="0"/>
      <dgm:spPr/>
    </dgm:pt>
    <dgm:pt modelId="{73F60847-C5CB-4E1F-92CA-969FDFBB52DB}" type="pres">
      <dgm:prSet presAssocID="{4A67B12B-F27E-4426-AA87-6EFCC170D45C}" presName="parTx" presStyleLbl="alignNode1" presStyleIdx="0" presStyleCnt="2">
        <dgm:presLayoutVars>
          <dgm:chMax val="0"/>
          <dgm:chPref val="0"/>
          <dgm:bulletEnabled val="1"/>
        </dgm:presLayoutVars>
      </dgm:prSet>
      <dgm:spPr/>
    </dgm:pt>
    <dgm:pt modelId="{4E1C6945-3361-4332-9057-7162DBC9BE74}" type="pres">
      <dgm:prSet presAssocID="{4A67B12B-F27E-4426-AA87-6EFCC170D45C}" presName="desTx" presStyleLbl="alignAccFollowNode1" presStyleIdx="0" presStyleCnt="2">
        <dgm:presLayoutVars>
          <dgm:bulletEnabled val="1"/>
        </dgm:presLayoutVars>
      </dgm:prSet>
      <dgm:spPr/>
    </dgm:pt>
    <dgm:pt modelId="{34F180CF-8913-440D-869F-709B62B80AEA}" type="pres">
      <dgm:prSet presAssocID="{D99E4612-C65B-423F-A46B-414E3F4A9548}" presName="space" presStyleCnt="0"/>
      <dgm:spPr/>
    </dgm:pt>
    <dgm:pt modelId="{AB71EA2A-E790-4838-8A47-6BD6BF1916C4}" type="pres">
      <dgm:prSet presAssocID="{5449751D-EB9D-4373-893A-D2F5888DB8FC}" presName="composite" presStyleCnt="0"/>
      <dgm:spPr/>
    </dgm:pt>
    <dgm:pt modelId="{68DA0B6D-3EBF-4324-92AB-1CC040E6E5B2}" type="pres">
      <dgm:prSet presAssocID="{5449751D-EB9D-4373-893A-D2F5888DB8FC}" presName="parTx" presStyleLbl="alignNode1" presStyleIdx="1" presStyleCnt="2">
        <dgm:presLayoutVars>
          <dgm:chMax val="0"/>
          <dgm:chPref val="0"/>
          <dgm:bulletEnabled val="1"/>
        </dgm:presLayoutVars>
      </dgm:prSet>
      <dgm:spPr/>
    </dgm:pt>
    <dgm:pt modelId="{56308F05-9C6F-4168-94D1-139E66E21E29}" type="pres">
      <dgm:prSet presAssocID="{5449751D-EB9D-4373-893A-D2F5888DB8FC}" presName="desTx" presStyleLbl="alignAccFollowNode1" presStyleIdx="1" presStyleCnt="2">
        <dgm:presLayoutVars>
          <dgm:bulletEnabled val="1"/>
        </dgm:presLayoutVars>
      </dgm:prSet>
      <dgm:spPr/>
    </dgm:pt>
  </dgm:ptLst>
  <dgm:cxnLst>
    <dgm:cxn modelId="{9EC04E04-7BBD-42A1-AFF5-CDFF6F65FF51}" type="presOf" srcId="{4A67B12B-F27E-4426-AA87-6EFCC170D45C}" destId="{73F60847-C5CB-4E1F-92CA-969FDFBB52DB}" srcOrd="0" destOrd="0" presId="urn:microsoft.com/office/officeart/2005/8/layout/hList1"/>
    <dgm:cxn modelId="{7D5A0A0D-4290-4EEE-BE5D-94B3943B33FB}" type="presOf" srcId="{64E223BE-32F1-486C-B4B4-A6AF93F9F36C}" destId="{4E1C6945-3361-4332-9057-7162DBC9BE74}" srcOrd="0" destOrd="1" presId="urn:microsoft.com/office/officeart/2005/8/layout/hList1"/>
    <dgm:cxn modelId="{6A610126-55CF-4099-BACD-73F722678D52}" srcId="{4A67B12B-F27E-4426-AA87-6EFCC170D45C}" destId="{09A0DAAE-BBFE-4AB5-AD9D-1D5FFFFCD3E3}" srcOrd="0" destOrd="0" parTransId="{A57610D4-26F8-4604-B151-839C46B7150C}" sibTransId="{40900141-49FB-4448-A9A4-DDD3FD4ED3EE}"/>
    <dgm:cxn modelId="{459C802C-FBE1-44FB-907E-8CB3451091E5}" type="presOf" srcId="{FD7B538E-BA8B-4398-A456-7F49453E20B7}" destId="{56308F05-9C6F-4168-94D1-139E66E21E29}" srcOrd="0" destOrd="2" presId="urn:microsoft.com/office/officeart/2005/8/layout/hList1"/>
    <dgm:cxn modelId="{DF1AD42E-CB2D-42D1-B825-99E8FC2086F1}" srcId="{5449751D-EB9D-4373-893A-D2F5888DB8FC}" destId="{A63C9B60-172B-4DC9-9A5C-1AEAC4875897}" srcOrd="0" destOrd="0" parTransId="{6EEAD8AA-246A-4E0F-B3B7-C0CC12FB0CB7}" sibTransId="{7E736B33-8943-43C4-8301-E5C19CBA7CE8}"/>
    <dgm:cxn modelId="{3A5BA247-2FD8-41F6-A0FA-D35ED6ABC45F}" srcId="{640FA84E-D24C-4A71-8726-ABEBB11DBFA7}" destId="{4A67B12B-F27E-4426-AA87-6EFCC170D45C}" srcOrd="0" destOrd="0" parTransId="{5BEE43B6-8E9E-4602-B465-7FED085A3832}" sibTransId="{D99E4612-C65B-423F-A46B-414E3F4A9548}"/>
    <dgm:cxn modelId="{8551894B-0E24-43B6-ADCF-1077DF74389C}" type="presOf" srcId="{A63C9B60-172B-4DC9-9A5C-1AEAC4875897}" destId="{56308F05-9C6F-4168-94D1-139E66E21E29}" srcOrd="0" destOrd="0" presId="urn:microsoft.com/office/officeart/2005/8/layout/hList1"/>
    <dgm:cxn modelId="{BDE0994F-91FE-4665-86F0-4A11BDE9BB10}" srcId="{4A67B12B-F27E-4426-AA87-6EFCC170D45C}" destId="{64E223BE-32F1-486C-B4B4-A6AF93F9F36C}" srcOrd="1" destOrd="0" parTransId="{5349B983-CC63-40F5-9599-070B484B227A}" sibTransId="{72B9F3AD-116E-4F82-9B5B-F5F26528299A}"/>
    <dgm:cxn modelId="{B96D9B56-5617-48F7-B19C-343E3F206AA8}" type="presOf" srcId="{5449751D-EB9D-4373-893A-D2F5888DB8FC}" destId="{68DA0B6D-3EBF-4324-92AB-1CC040E6E5B2}" srcOrd="0" destOrd="0" presId="urn:microsoft.com/office/officeart/2005/8/layout/hList1"/>
    <dgm:cxn modelId="{B753547C-2B29-4B1B-A72E-60EA9B6F6E91}" srcId="{5449751D-EB9D-4373-893A-D2F5888DB8FC}" destId="{FD7B538E-BA8B-4398-A456-7F49453E20B7}" srcOrd="2" destOrd="0" parTransId="{9D640870-A10C-44BF-9CD5-3CDCBF003B8C}" sibTransId="{2E9E6DAA-946C-403F-87E2-162E0AACC27A}"/>
    <dgm:cxn modelId="{424DF999-509C-4CBE-938B-E6AB41036969}" type="presOf" srcId="{09A0DAAE-BBFE-4AB5-AD9D-1D5FFFFCD3E3}" destId="{4E1C6945-3361-4332-9057-7162DBC9BE74}" srcOrd="0" destOrd="0" presId="urn:microsoft.com/office/officeart/2005/8/layout/hList1"/>
    <dgm:cxn modelId="{ACC7B2A1-17E2-4C23-B541-224E817BA20C}" type="presOf" srcId="{C4C756D0-11A8-4F58-ADD6-109F69DB6D46}" destId="{56308F05-9C6F-4168-94D1-139E66E21E29}" srcOrd="0" destOrd="1" presId="urn:microsoft.com/office/officeart/2005/8/layout/hList1"/>
    <dgm:cxn modelId="{66F6AFA8-7EFE-4A43-9A3D-72A92C3E3AC0}" type="presOf" srcId="{640FA84E-D24C-4A71-8726-ABEBB11DBFA7}" destId="{18114A28-018D-44D7-AF7A-D60D965430EC}" srcOrd="0" destOrd="0" presId="urn:microsoft.com/office/officeart/2005/8/layout/hList1"/>
    <dgm:cxn modelId="{4638EDD7-45CD-4B25-8286-1B7EF72C1585}" srcId="{5449751D-EB9D-4373-893A-D2F5888DB8FC}" destId="{C4C756D0-11A8-4F58-ADD6-109F69DB6D46}" srcOrd="1" destOrd="0" parTransId="{D683D10C-57AB-4C10-9769-DBF4097AA893}" sibTransId="{86F29A84-6C15-4571-8FF5-B3A5C153DFAD}"/>
    <dgm:cxn modelId="{F55C9EEB-F37C-4E56-889B-76432DD5F50F}" type="presOf" srcId="{7CCBB12D-9E4D-487D-8378-589BB6565FF3}" destId="{56308F05-9C6F-4168-94D1-139E66E21E29}" srcOrd="0" destOrd="3" presId="urn:microsoft.com/office/officeart/2005/8/layout/hList1"/>
    <dgm:cxn modelId="{6D0F46F1-4AC4-4736-B900-19ECDC23E479}" srcId="{640FA84E-D24C-4A71-8726-ABEBB11DBFA7}" destId="{5449751D-EB9D-4373-893A-D2F5888DB8FC}" srcOrd="1" destOrd="0" parTransId="{328CCA76-77A8-4316-A94F-1D0317492727}" sibTransId="{F6B66E90-AD5B-457C-AAB4-88F3EC4A38ED}"/>
    <dgm:cxn modelId="{759464FF-C27D-425C-96F3-EEC7F1676B35}" srcId="{5449751D-EB9D-4373-893A-D2F5888DB8FC}" destId="{7CCBB12D-9E4D-487D-8378-589BB6565FF3}" srcOrd="3" destOrd="0" parTransId="{293005E5-8ACC-47EE-A886-CF5964C56A19}" sibTransId="{E387F7B8-20A7-4DEA-856A-6B567157E9D8}"/>
    <dgm:cxn modelId="{E9FE9383-E800-431A-8C49-E98798F5C705}" type="presParOf" srcId="{18114A28-018D-44D7-AF7A-D60D965430EC}" destId="{655DEBF3-4B57-4FEF-858C-B45140B250AD}" srcOrd="0" destOrd="0" presId="urn:microsoft.com/office/officeart/2005/8/layout/hList1"/>
    <dgm:cxn modelId="{584BDA81-8B5F-4879-AFA7-79C94CDB8406}" type="presParOf" srcId="{655DEBF3-4B57-4FEF-858C-B45140B250AD}" destId="{73F60847-C5CB-4E1F-92CA-969FDFBB52DB}" srcOrd="0" destOrd="0" presId="urn:microsoft.com/office/officeart/2005/8/layout/hList1"/>
    <dgm:cxn modelId="{DC05DAA2-3500-4464-8B3C-A76B0510AC1F}" type="presParOf" srcId="{655DEBF3-4B57-4FEF-858C-B45140B250AD}" destId="{4E1C6945-3361-4332-9057-7162DBC9BE74}" srcOrd="1" destOrd="0" presId="urn:microsoft.com/office/officeart/2005/8/layout/hList1"/>
    <dgm:cxn modelId="{7E1EC5E9-90F5-4F62-9057-347ECA9D79F3}" type="presParOf" srcId="{18114A28-018D-44D7-AF7A-D60D965430EC}" destId="{34F180CF-8913-440D-869F-709B62B80AEA}" srcOrd="1" destOrd="0" presId="urn:microsoft.com/office/officeart/2005/8/layout/hList1"/>
    <dgm:cxn modelId="{36146050-84B8-42A0-BFAE-9BCEB0C1A1F9}" type="presParOf" srcId="{18114A28-018D-44D7-AF7A-D60D965430EC}" destId="{AB71EA2A-E790-4838-8A47-6BD6BF1916C4}" srcOrd="2" destOrd="0" presId="urn:microsoft.com/office/officeart/2005/8/layout/hList1"/>
    <dgm:cxn modelId="{6ABD188A-18F6-43A0-9380-80D95FA81564}" type="presParOf" srcId="{AB71EA2A-E790-4838-8A47-6BD6BF1916C4}" destId="{68DA0B6D-3EBF-4324-92AB-1CC040E6E5B2}" srcOrd="0" destOrd="0" presId="urn:microsoft.com/office/officeart/2005/8/layout/hList1"/>
    <dgm:cxn modelId="{23CA8CD7-F317-4CBF-8583-030B15C75F34}" type="presParOf" srcId="{AB71EA2A-E790-4838-8A47-6BD6BF1916C4}" destId="{56308F05-9C6F-4168-94D1-139E66E21E29}" srcOrd="1" destOrd="0" presId="urn:microsoft.com/office/officeart/2005/8/layout/hList1"/>
  </dgm:cxnLst>
  <dgm:bg>
    <a:noFill/>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908BCB8-DE9B-4BF1-8D07-3A3FD24C7968}">
      <dsp:nvSpPr>
        <dsp:cNvPr id="0" name=""/>
        <dsp:cNvSpPr/>
      </dsp:nvSpPr>
      <dsp:spPr>
        <a:xfrm>
          <a:off x="1406" y="785"/>
          <a:ext cx="3808663" cy="482503"/>
        </a:xfrm>
        <a:prstGeom prst="roundRect">
          <a:avLst>
            <a:gd name="adj" fmla="val 10000"/>
          </a:avLst>
        </a:prstGeom>
        <a:gradFill rotWithShape="0">
          <a:gsLst>
            <a:gs pos="0">
              <a:schemeClr val="accent1">
                <a:hueOff val="0"/>
                <a:satOff val="0"/>
                <a:lumOff val="0"/>
                <a:alphaOff val="0"/>
                <a:tint val="50000"/>
                <a:satMod val="300000"/>
              </a:schemeClr>
            </a:gs>
            <a:gs pos="35000">
              <a:schemeClr val="accent1">
                <a:hueOff val="0"/>
                <a:satOff val="0"/>
                <a:lumOff val="0"/>
                <a:alphaOff val="0"/>
                <a:tint val="37000"/>
                <a:satMod val="300000"/>
              </a:schemeClr>
            </a:gs>
            <a:gs pos="100000">
              <a:schemeClr val="accent1">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0" kern="1200" dirty="0">
              <a:latin typeface="Montserrat" panose="00000500000000000000" pitchFamily="2" charset="0"/>
              <a:ea typeface="微软雅黑 Light" panose="020B0502040204020203" pitchFamily="34" charset="-122"/>
            </a:rPr>
            <a:t>不同于网络应用</a:t>
          </a:r>
        </a:p>
      </dsp:txBody>
      <dsp:txXfrm>
        <a:off x="15538" y="14917"/>
        <a:ext cx="3780399" cy="454239"/>
      </dsp:txXfrm>
    </dsp:sp>
    <dsp:sp modelId="{F381CC4E-322C-45E6-B7E7-4ED70FA8CF2E}">
      <dsp:nvSpPr>
        <dsp:cNvPr id="0" name=""/>
        <dsp:cNvSpPr/>
      </dsp:nvSpPr>
      <dsp:spPr>
        <a:xfrm>
          <a:off x="1406" y="526905"/>
          <a:ext cx="1827573" cy="324725"/>
        </a:xfrm>
        <a:prstGeom prst="roundRect">
          <a:avLst>
            <a:gd name="adj" fmla="val 10000"/>
          </a:avLst>
        </a:prstGeom>
        <a:gradFill rotWithShape="0">
          <a:gsLst>
            <a:gs pos="0">
              <a:schemeClr val="accent3">
                <a:hueOff val="0"/>
                <a:satOff val="0"/>
                <a:lumOff val="0"/>
                <a:alphaOff val="0"/>
                <a:tint val="50000"/>
                <a:satMod val="300000"/>
              </a:schemeClr>
            </a:gs>
            <a:gs pos="35000">
              <a:schemeClr val="accent3">
                <a:hueOff val="0"/>
                <a:satOff val="0"/>
                <a:lumOff val="0"/>
                <a:alphaOff val="0"/>
                <a:tint val="37000"/>
                <a:satMod val="300000"/>
              </a:schemeClr>
            </a:gs>
            <a:gs pos="100000">
              <a:schemeClr val="accent3">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sz="1400" b="0" kern="1200" dirty="0">
              <a:latin typeface="Montserrat" panose="00000500000000000000" pitchFamily="2" charset="0"/>
              <a:ea typeface="微软雅黑 Light" panose="020B0502040204020203" pitchFamily="34" charset="-122"/>
            </a:rPr>
            <a:t>万维网</a:t>
          </a:r>
          <a:endParaRPr lang="en-US" altLang="zh-CN" sz="1400" b="0" kern="1200" dirty="0">
            <a:latin typeface="Montserrat" panose="00000500000000000000" pitchFamily="2" charset="0"/>
            <a:ea typeface="微软雅黑 Light" panose="020B0502040204020203" pitchFamily="34" charset="-122"/>
          </a:endParaRPr>
        </a:p>
      </dsp:txBody>
      <dsp:txXfrm>
        <a:off x="10917" y="536416"/>
        <a:ext cx="1808551" cy="305703"/>
      </dsp:txXfrm>
    </dsp:sp>
    <dsp:sp modelId="{49899EA7-F8C0-4BB7-A6AD-5F40B1731420}">
      <dsp:nvSpPr>
        <dsp:cNvPr id="0" name=""/>
        <dsp:cNvSpPr/>
      </dsp:nvSpPr>
      <dsp:spPr>
        <a:xfrm>
          <a:off x="1406" y="895246"/>
          <a:ext cx="1827573" cy="324725"/>
        </a:xfrm>
        <a:prstGeom prst="roundRect">
          <a:avLst>
            <a:gd name="adj" fmla="val 10000"/>
          </a:avLst>
        </a:prstGeom>
        <a:gradFill rotWithShape="0">
          <a:gsLst>
            <a:gs pos="0">
              <a:schemeClr val="accent4">
                <a:hueOff val="0"/>
                <a:satOff val="0"/>
                <a:lumOff val="0"/>
                <a:alphaOff val="0"/>
                <a:tint val="50000"/>
                <a:satMod val="300000"/>
              </a:schemeClr>
            </a:gs>
            <a:gs pos="35000">
              <a:schemeClr val="accent4">
                <a:hueOff val="0"/>
                <a:satOff val="0"/>
                <a:lumOff val="0"/>
                <a:alphaOff val="0"/>
                <a:tint val="37000"/>
                <a:satMod val="300000"/>
              </a:schemeClr>
            </a:gs>
            <a:gs pos="100000">
              <a:schemeClr val="accent4">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zh-CN" sz="1400" b="0" kern="1200" dirty="0">
              <a:latin typeface="Montserrat" panose="00000500000000000000" pitchFamily="2" charset="0"/>
              <a:ea typeface="微软雅黑 Light" panose="020B0502040204020203" pitchFamily="34" charset="-122"/>
            </a:rPr>
            <a:t>电子邮件</a:t>
          </a:r>
          <a:endParaRPr lang="en-US" altLang="zh-CN" sz="1400" b="0" kern="1200" dirty="0">
            <a:latin typeface="Montserrat" panose="00000500000000000000" pitchFamily="2" charset="0"/>
            <a:ea typeface="微软雅黑 Light" panose="020B0502040204020203" pitchFamily="34" charset="-122"/>
          </a:endParaRPr>
        </a:p>
      </dsp:txBody>
      <dsp:txXfrm>
        <a:off x="10917" y="904757"/>
        <a:ext cx="1808551" cy="305703"/>
      </dsp:txXfrm>
    </dsp:sp>
    <dsp:sp modelId="{D772C529-9144-4F64-AC62-C41998E87A93}">
      <dsp:nvSpPr>
        <dsp:cNvPr id="0" name=""/>
        <dsp:cNvSpPr/>
      </dsp:nvSpPr>
      <dsp:spPr>
        <a:xfrm>
          <a:off x="1406" y="1263588"/>
          <a:ext cx="1827573" cy="324725"/>
        </a:xfrm>
        <a:prstGeom prst="roundRect">
          <a:avLst>
            <a:gd name="adj" fmla="val 10000"/>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en-US" sz="1400" b="0" kern="1200" dirty="0">
              <a:latin typeface="Montserrat" panose="00000500000000000000" pitchFamily="2" charset="0"/>
              <a:ea typeface="微软雅黑 Light" panose="020B0502040204020203" pitchFamily="34" charset="-122"/>
            </a:rPr>
            <a:t>文件传输</a:t>
          </a:r>
          <a:endParaRPr lang="en-US" altLang="zh-CN" sz="1400" b="0" kern="1200" dirty="0">
            <a:latin typeface="Montserrat" panose="00000500000000000000" pitchFamily="2" charset="0"/>
            <a:ea typeface="微软雅黑 Light" panose="020B0502040204020203" pitchFamily="34" charset="-122"/>
          </a:endParaRPr>
        </a:p>
      </dsp:txBody>
      <dsp:txXfrm>
        <a:off x="10917" y="1273099"/>
        <a:ext cx="1808551" cy="305703"/>
      </dsp:txXfrm>
    </dsp:sp>
    <dsp:sp modelId="{1F36E606-4D05-483A-959D-7AFAA3F99964}">
      <dsp:nvSpPr>
        <dsp:cNvPr id="0" name=""/>
        <dsp:cNvSpPr/>
      </dsp:nvSpPr>
      <dsp:spPr>
        <a:xfrm>
          <a:off x="1982496" y="526905"/>
          <a:ext cx="1827573" cy="324725"/>
        </a:xfrm>
        <a:prstGeom prst="roundRect">
          <a:avLst>
            <a:gd name="adj" fmla="val 10000"/>
          </a:avLst>
        </a:prstGeom>
        <a:gradFill rotWithShape="0">
          <a:gsLst>
            <a:gs pos="0">
              <a:schemeClr val="accent3">
                <a:hueOff val="0"/>
                <a:satOff val="0"/>
                <a:lumOff val="0"/>
                <a:alphaOff val="0"/>
                <a:tint val="50000"/>
                <a:satMod val="300000"/>
              </a:schemeClr>
            </a:gs>
            <a:gs pos="35000">
              <a:schemeClr val="accent3">
                <a:hueOff val="0"/>
                <a:satOff val="0"/>
                <a:lumOff val="0"/>
                <a:alphaOff val="0"/>
                <a:tint val="37000"/>
                <a:satMod val="300000"/>
              </a:schemeClr>
            </a:gs>
            <a:gs pos="100000">
              <a:schemeClr val="accent3">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en-US" sz="1400" b="0" kern="1200" dirty="0">
              <a:latin typeface="Montserrat" panose="00000500000000000000" pitchFamily="2" charset="0"/>
              <a:ea typeface="微软雅黑 Light" panose="020B0502040204020203" pitchFamily="34" charset="-122"/>
            </a:rPr>
            <a:t>HTTP</a:t>
          </a:r>
          <a:endParaRPr lang="en-US" altLang="zh-CN" sz="1400" b="0" kern="1200" dirty="0">
            <a:latin typeface="Montserrat" panose="00000500000000000000" pitchFamily="2" charset="0"/>
            <a:ea typeface="微软雅黑 Light" panose="020B0502040204020203" pitchFamily="34" charset="-122"/>
          </a:endParaRPr>
        </a:p>
      </dsp:txBody>
      <dsp:txXfrm>
        <a:off x="1992007" y="536416"/>
        <a:ext cx="1808551" cy="305703"/>
      </dsp:txXfrm>
    </dsp:sp>
    <dsp:sp modelId="{07CD9CA8-8213-4B82-96DE-5A2E23AB39DC}">
      <dsp:nvSpPr>
        <dsp:cNvPr id="0" name=""/>
        <dsp:cNvSpPr/>
      </dsp:nvSpPr>
      <dsp:spPr>
        <a:xfrm>
          <a:off x="1982496" y="895246"/>
          <a:ext cx="1827573" cy="324725"/>
        </a:xfrm>
        <a:prstGeom prst="roundRect">
          <a:avLst>
            <a:gd name="adj" fmla="val 10000"/>
          </a:avLst>
        </a:prstGeom>
        <a:gradFill rotWithShape="0">
          <a:gsLst>
            <a:gs pos="0">
              <a:schemeClr val="accent4">
                <a:hueOff val="0"/>
                <a:satOff val="0"/>
                <a:lumOff val="0"/>
                <a:alphaOff val="0"/>
                <a:tint val="50000"/>
                <a:satMod val="300000"/>
              </a:schemeClr>
            </a:gs>
            <a:gs pos="35000">
              <a:schemeClr val="accent4">
                <a:hueOff val="0"/>
                <a:satOff val="0"/>
                <a:lumOff val="0"/>
                <a:alphaOff val="0"/>
                <a:tint val="37000"/>
                <a:satMod val="300000"/>
              </a:schemeClr>
            </a:gs>
            <a:gs pos="100000">
              <a:schemeClr val="accent4">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en-US" altLang="zh-CN" sz="1400" b="0" kern="1200" dirty="0">
              <a:latin typeface="Montserrat" panose="00000500000000000000" pitchFamily="2" charset="0"/>
              <a:ea typeface="微软雅黑 Light" panose="020B0502040204020203" pitchFamily="34" charset="-122"/>
            </a:rPr>
            <a:t>SMTP</a:t>
          </a:r>
          <a:r>
            <a:rPr lang="zh-CN" altLang="en-US" sz="1400" b="0" kern="1200" dirty="0">
              <a:latin typeface="Montserrat" panose="00000500000000000000" pitchFamily="2" charset="0"/>
              <a:ea typeface="微软雅黑 Light" panose="020B0502040204020203" pitchFamily="34" charset="-122"/>
            </a:rPr>
            <a:t>，</a:t>
          </a:r>
          <a:r>
            <a:rPr lang="en-US" altLang="zh-CN" sz="1400" b="0" kern="1200" dirty="0">
              <a:latin typeface="Montserrat" panose="00000500000000000000" pitchFamily="2" charset="0"/>
              <a:ea typeface="微软雅黑 Light" panose="020B0502040204020203" pitchFamily="34" charset="-122"/>
            </a:rPr>
            <a:t>POP3</a:t>
          </a:r>
          <a:endParaRPr lang="zh-CN" altLang="en-US" sz="1400" b="0" kern="1200" dirty="0">
            <a:latin typeface="Montserrat" panose="00000500000000000000" pitchFamily="2" charset="0"/>
            <a:ea typeface="微软雅黑 Light" panose="020B0502040204020203" pitchFamily="34" charset="-122"/>
          </a:endParaRPr>
        </a:p>
      </dsp:txBody>
      <dsp:txXfrm>
        <a:off x="1992007" y="904757"/>
        <a:ext cx="1808551" cy="305703"/>
      </dsp:txXfrm>
    </dsp:sp>
    <dsp:sp modelId="{629FD194-4F20-42AB-A0D3-D63455B286FC}">
      <dsp:nvSpPr>
        <dsp:cNvPr id="0" name=""/>
        <dsp:cNvSpPr/>
      </dsp:nvSpPr>
      <dsp:spPr>
        <a:xfrm>
          <a:off x="1982496" y="1263588"/>
          <a:ext cx="1827573" cy="324725"/>
        </a:xfrm>
        <a:prstGeom prst="roundRect">
          <a:avLst>
            <a:gd name="adj" fmla="val 10000"/>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en-US" altLang="zh-CN" sz="1400" b="0" kern="1200" dirty="0">
              <a:latin typeface="Montserrat" panose="00000500000000000000" pitchFamily="2" charset="0"/>
              <a:ea typeface="微软雅黑 Light" panose="020B0502040204020203" pitchFamily="34" charset="-122"/>
            </a:rPr>
            <a:t>FTP</a:t>
          </a:r>
          <a:endParaRPr lang="zh-CN" altLang="en-US" sz="1400" b="0" kern="1200" dirty="0">
            <a:latin typeface="Montserrat" panose="00000500000000000000" pitchFamily="2" charset="0"/>
            <a:ea typeface="微软雅黑 Light" panose="020B0502040204020203" pitchFamily="34" charset="-122"/>
          </a:endParaRPr>
        </a:p>
      </dsp:txBody>
      <dsp:txXfrm>
        <a:off x="1992007" y="1273099"/>
        <a:ext cx="1808551" cy="305703"/>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908BCB8-DE9B-4BF1-8D07-3A3FD24C7968}">
      <dsp:nvSpPr>
        <dsp:cNvPr id="0" name=""/>
        <dsp:cNvSpPr/>
      </dsp:nvSpPr>
      <dsp:spPr>
        <a:xfrm>
          <a:off x="1406" y="785"/>
          <a:ext cx="3808663" cy="482503"/>
        </a:xfrm>
        <a:prstGeom prst="roundRect">
          <a:avLst>
            <a:gd name="adj" fmla="val 10000"/>
          </a:avLst>
        </a:prstGeom>
        <a:gradFill rotWithShape="0">
          <a:gsLst>
            <a:gs pos="0">
              <a:schemeClr val="accent2">
                <a:hueOff val="0"/>
                <a:satOff val="0"/>
                <a:lumOff val="0"/>
                <a:alphaOff val="0"/>
                <a:tint val="50000"/>
                <a:satMod val="300000"/>
              </a:schemeClr>
            </a:gs>
            <a:gs pos="35000">
              <a:schemeClr val="accent2">
                <a:hueOff val="0"/>
                <a:satOff val="0"/>
                <a:lumOff val="0"/>
                <a:alphaOff val="0"/>
                <a:tint val="37000"/>
                <a:satMod val="300000"/>
              </a:schemeClr>
            </a:gs>
            <a:gs pos="100000">
              <a:schemeClr val="accent2">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0" kern="1200" dirty="0">
              <a:latin typeface="Montserrat" panose="00000500000000000000" pitchFamily="2" charset="0"/>
              <a:ea typeface="微软雅黑 Light" panose="020B0502040204020203" pitchFamily="34" charset="-122"/>
            </a:rPr>
            <a:t>许多都基于客户</a:t>
          </a:r>
          <a:r>
            <a:rPr lang="en-US" altLang="zh-CN" sz="1600" b="0" kern="1200" dirty="0">
              <a:latin typeface="Montserrat" panose="00000500000000000000" pitchFamily="2" charset="0"/>
              <a:ea typeface="微软雅黑 Light" panose="020B0502040204020203" pitchFamily="34" charset="-122"/>
            </a:rPr>
            <a:t>/</a:t>
          </a:r>
          <a:r>
            <a:rPr lang="zh-CN" altLang="en-US" sz="1600" b="0" kern="1200" dirty="0">
              <a:latin typeface="Montserrat" panose="00000500000000000000" pitchFamily="2" charset="0"/>
              <a:ea typeface="微软雅黑 Light" panose="020B0502040204020203" pitchFamily="34" charset="-122"/>
            </a:rPr>
            <a:t>服务器 </a:t>
          </a:r>
          <a:r>
            <a:rPr lang="en-US" altLang="zh-CN" sz="1600" b="0" kern="1200" dirty="0">
              <a:latin typeface="Montserrat" panose="00000500000000000000" pitchFamily="2" charset="0"/>
              <a:ea typeface="微软雅黑 Light" panose="020B0502040204020203" pitchFamily="34" charset="-122"/>
            </a:rPr>
            <a:t>C/S </a:t>
          </a:r>
          <a:r>
            <a:rPr lang="zh-CN" altLang="en-US" sz="1600" b="0" kern="1200" dirty="0">
              <a:latin typeface="Montserrat" panose="00000500000000000000" pitchFamily="2" charset="0"/>
              <a:ea typeface="微软雅黑 Light" panose="020B0502040204020203" pitchFamily="34" charset="-122"/>
            </a:rPr>
            <a:t>方式</a:t>
          </a:r>
        </a:p>
      </dsp:txBody>
      <dsp:txXfrm>
        <a:off x="15538" y="14917"/>
        <a:ext cx="3780399" cy="454239"/>
      </dsp:txXfrm>
    </dsp:sp>
    <dsp:sp modelId="{F381CC4E-322C-45E6-B7E7-4ED70FA8CF2E}">
      <dsp:nvSpPr>
        <dsp:cNvPr id="0" name=""/>
        <dsp:cNvSpPr/>
      </dsp:nvSpPr>
      <dsp:spPr>
        <a:xfrm>
          <a:off x="1406" y="526905"/>
          <a:ext cx="1827573" cy="324725"/>
        </a:xfrm>
        <a:prstGeom prst="roundRect">
          <a:avLst>
            <a:gd name="adj" fmla="val 10000"/>
          </a:avLst>
        </a:prstGeom>
        <a:gradFill rotWithShape="0">
          <a:gsLst>
            <a:gs pos="0">
              <a:schemeClr val="accent4">
                <a:hueOff val="0"/>
                <a:satOff val="0"/>
                <a:lumOff val="0"/>
                <a:alphaOff val="0"/>
                <a:tint val="50000"/>
                <a:satMod val="300000"/>
              </a:schemeClr>
            </a:gs>
            <a:gs pos="35000">
              <a:schemeClr val="accent4">
                <a:hueOff val="0"/>
                <a:satOff val="0"/>
                <a:lumOff val="0"/>
                <a:alphaOff val="0"/>
                <a:tint val="37000"/>
                <a:satMod val="300000"/>
              </a:schemeClr>
            </a:gs>
            <a:gs pos="100000">
              <a:schemeClr val="accent4">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en-US" sz="1400" b="0" kern="1200" dirty="0">
              <a:latin typeface="Montserrat" panose="00000500000000000000" pitchFamily="2" charset="0"/>
              <a:ea typeface="微软雅黑 Light" panose="020B0502040204020203" pitchFamily="34" charset="-122"/>
            </a:rPr>
            <a:t>客户 </a:t>
          </a:r>
          <a:r>
            <a:rPr lang="en-US" altLang="zh-CN" sz="1400" b="0" kern="1200" dirty="0">
              <a:latin typeface="Montserrat" panose="00000500000000000000" pitchFamily="2" charset="0"/>
              <a:ea typeface="微软雅黑 Light" panose="020B0502040204020203" pitchFamily="34" charset="-122"/>
            </a:rPr>
            <a:t>Client</a:t>
          </a:r>
        </a:p>
      </dsp:txBody>
      <dsp:txXfrm>
        <a:off x="10917" y="536416"/>
        <a:ext cx="1808551" cy="305703"/>
      </dsp:txXfrm>
    </dsp:sp>
    <dsp:sp modelId="{49899EA7-F8C0-4BB7-A6AD-5F40B1731420}">
      <dsp:nvSpPr>
        <dsp:cNvPr id="0" name=""/>
        <dsp:cNvSpPr/>
      </dsp:nvSpPr>
      <dsp:spPr>
        <a:xfrm>
          <a:off x="1406" y="895246"/>
          <a:ext cx="1827573" cy="324725"/>
        </a:xfrm>
        <a:prstGeom prst="roundRect">
          <a:avLst>
            <a:gd name="adj" fmla="val 10000"/>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zh-CN" sz="1400" b="0" kern="1200" dirty="0">
              <a:latin typeface="Montserrat" panose="00000500000000000000" pitchFamily="2" charset="0"/>
              <a:ea typeface="微软雅黑 Light" panose="020B0502040204020203" pitchFamily="34" charset="-122"/>
            </a:rPr>
            <a:t>服务请求方</a:t>
          </a:r>
          <a:endParaRPr lang="en-US" altLang="zh-CN" sz="1400" b="0" kern="1200" dirty="0">
            <a:latin typeface="Montserrat" panose="00000500000000000000" pitchFamily="2" charset="0"/>
            <a:ea typeface="微软雅黑 Light" panose="020B0502040204020203" pitchFamily="34" charset="-122"/>
          </a:endParaRPr>
        </a:p>
      </dsp:txBody>
      <dsp:txXfrm>
        <a:off x="10917" y="904757"/>
        <a:ext cx="1808551" cy="305703"/>
      </dsp:txXfrm>
    </dsp:sp>
    <dsp:sp modelId="{D772C529-9144-4F64-AC62-C41998E87A93}">
      <dsp:nvSpPr>
        <dsp:cNvPr id="0" name=""/>
        <dsp:cNvSpPr/>
      </dsp:nvSpPr>
      <dsp:spPr>
        <a:xfrm>
          <a:off x="1406" y="1263588"/>
          <a:ext cx="1827573" cy="324725"/>
        </a:xfrm>
        <a:prstGeom prst="roundRect">
          <a:avLst>
            <a:gd name="adj" fmla="val 10000"/>
          </a:avLst>
        </a:prstGeom>
        <a:gradFill rotWithShape="0">
          <a:gsLst>
            <a:gs pos="0">
              <a:schemeClr val="accent6">
                <a:hueOff val="0"/>
                <a:satOff val="0"/>
                <a:lumOff val="0"/>
                <a:alphaOff val="0"/>
                <a:tint val="50000"/>
                <a:satMod val="300000"/>
              </a:schemeClr>
            </a:gs>
            <a:gs pos="35000">
              <a:schemeClr val="accent6">
                <a:hueOff val="0"/>
                <a:satOff val="0"/>
                <a:lumOff val="0"/>
                <a:alphaOff val="0"/>
                <a:tint val="37000"/>
                <a:satMod val="300000"/>
              </a:schemeClr>
            </a:gs>
            <a:gs pos="100000">
              <a:schemeClr val="accent6">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en-US" sz="1400" b="0" kern="1200" dirty="0">
              <a:latin typeface="Montserrat" panose="00000500000000000000" pitchFamily="2" charset="0"/>
              <a:ea typeface="微软雅黑 Light" panose="020B0502040204020203" pitchFamily="34" charset="-122"/>
            </a:rPr>
            <a:t>应用进程</a:t>
          </a:r>
          <a:endParaRPr lang="en-US" altLang="zh-CN" sz="1400" b="0" kern="1200" dirty="0">
            <a:latin typeface="Montserrat" panose="00000500000000000000" pitchFamily="2" charset="0"/>
            <a:ea typeface="微软雅黑 Light" panose="020B0502040204020203" pitchFamily="34" charset="-122"/>
          </a:endParaRPr>
        </a:p>
      </dsp:txBody>
      <dsp:txXfrm>
        <a:off x="10917" y="1273099"/>
        <a:ext cx="1808551" cy="305703"/>
      </dsp:txXfrm>
    </dsp:sp>
    <dsp:sp modelId="{1F36E606-4D05-483A-959D-7AFAA3F99964}">
      <dsp:nvSpPr>
        <dsp:cNvPr id="0" name=""/>
        <dsp:cNvSpPr/>
      </dsp:nvSpPr>
      <dsp:spPr>
        <a:xfrm>
          <a:off x="1982496" y="526905"/>
          <a:ext cx="1827573" cy="324725"/>
        </a:xfrm>
        <a:prstGeom prst="roundRect">
          <a:avLst>
            <a:gd name="adj" fmla="val 10000"/>
          </a:avLst>
        </a:prstGeom>
        <a:gradFill rotWithShape="0">
          <a:gsLst>
            <a:gs pos="0">
              <a:schemeClr val="accent4">
                <a:hueOff val="0"/>
                <a:satOff val="0"/>
                <a:lumOff val="0"/>
                <a:alphaOff val="0"/>
                <a:tint val="50000"/>
                <a:satMod val="300000"/>
              </a:schemeClr>
            </a:gs>
            <a:gs pos="35000">
              <a:schemeClr val="accent4">
                <a:hueOff val="0"/>
                <a:satOff val="0"/>
                <a:lumOff val="0"/>
                <a:alphaOff val="0"/>
                <a:tint val="37000"/>
                <a:satMod val="300000"/>
              </a:schemeClr>
            </a:gs>
            <a:gs pos="100000">
              <a:schemeClr val="accent4">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en-US" sz="1400" b="0" kern="1200" dirty="0">
              <a:latin typeface="Montserrat" panose="00000500000000000000" pitchFamily="2" charset="0"/>
              <a:ea typeface="微软雅黑 Light" panose="020B0502040204020203" pitchFamily="34" charset="-122"/>
            </a:rPr>
            <a:t>服务器 </a:t>
          </a:r>
          <a:r>
            <a:rPr lang="en-US" altLang="zh-CN" sz="1400" b="0" kern="1200" dirty="0">
              <a:latin typeface="Montserrat" panose="00000500000000000000" pitchFamily="2" charset="0"/>
              <a:ea typeface="微软雅黑 Light" panose="020B0502040204020203" pitchFamily="34" charset="-122"/>
            </a:rPr>
            <a:t>Server</a:t>
          </a:r>
        </a:p>
      </dsp:txBody>
      <dsp:txXfrm>
        <a:off x="1992007" y="536416"/>
        <a:ext cx="1808551" cy="305703"/>
      </dsp:txXfrm>
    </dsp:sp>
    <dsp:sp modelId="{07CD9CA8-8213-4B82-96DE-5A2E23AB39DC}">
      <dsp:nvSpPr>
        <dsp:cNvPr id="0" name=""/>
        <dsp:cNvSpPr/>
      </dsp:nvSpPr>
      <dsp:spPr>
        <a:xfrm>
          <a:off x="1982496" y="895246"/>
          <a:ext cx="1827573" cy="324725"/>
        </a:xfrm>
        <a:prstGeom prst="roundRect">
          <a:avLst>
            <a:gd name="adj" fmla="val 10000"/>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en-US" sz="1400" b="0" kern="1200" dirty="0">
              <a:latin typeface="Montserrat" panose="00000500000000000000" pitchFamily="2" charset="0"/>
              <a:ea typeface="微软雅黑 Light" panose="020B0502040204020203" pitchFamily="34" charset="-122"/>
            </a:rPr>
            <a:t>服务提供方</a:t>
          </a:r>
        </a:p>
      </dsp:txBody>
      <dsp:txXfrm>
        <a:off x="1992007" y="904757"/>
        <a:ext cx="1808551" cy="305703"/>
      </dsp:txXfrm>
    </dsp:sp>
    <dsp:sp modelId="{629FD194-4F20-42AB-A0D3-D63455B286FC}">
      <dsp:nvSpPr>
        <dsp:cNvPr id="0" name=""/>
        <dsp:cNvSpPr/>
      </dsp:nvSpPr>
      <dsp:spPr>
        <a:xfrm>
          <a:off x="1982496" y="1263588"/>
          <a:ext cx="1827573" cy="324725"/>
        </a:xfrm>
        <a:prstGeom prst="roundRect">
          <a:avLst>
            <a:gd name="adj" fmla="val 10000"/>
          </a:avLst>
        </a:prstGeom>
        <a:gradFill rotWithShape="0">
          <a:gsLst>
            <a:gs pos="0">
              <a:schemeClr val="accent6">
                <a:hueOff val="0"/>
                <a:satOff val="0"/>
                <a:lumOff val="0"/>
                <a:alphaOff val="0"/>
                <a:tint val="50000"/>
                <a:satMod val="300000"/>
              </a:schemeClr>
            </a:gs>
            <a:gs pos="35000">
              <a:schemeClr val="accent6">
                <a:hueOff val="0"/>
                <a:satOff val="0"/>
                <a:lumOff val="0"/>
                <a:alphaOff val="0"/>
                <a:tint val="37000"/>
                <a:satMod val="300000"/>
              </a:schemeClr>
            </a:gs>
            <a:gs pos="100000">
              <a:schemeClr val="accent6">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en-US" sz="1400" b="0" kern="1200" dirty="0">
              <a:latin typeface="Montserrat" panose="00000500000000000000" pitchFamily="2" charset="0"/>
              <a:ea typeface="微软雅黑 Light" panose="020B0502040204020203" pitchFamily="34" charset="-122"/>
            </a:rPr>
            <a:t>应用进程</a:t>
          </a:r>
        </a:p>
      </dsp:txBody>
      <dsp:txXfrm>
        <a:off x="1992007" y="1273099"/>
        <a:ext cx="1808551" cy="305703"/>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D69D0B0-1884-46A2-8F10-145B05B89842}">
      <dsp:nvSpPr>
        <dsp:cNvPr id="0" name=""/>
        <dsp:cNvSpPr/>
      </dsp:nvSpPr>
      <dsp:spPr>
        <a:xfrm>
          <a:off x="39" y="13657"/>
          <a:ext cx="3818864" cy="691200"/>
        </a:xfrm>
        <a:prstGeom prst="rect">
          <a:avLst/>
        </a:prstGeom>
        <a:solidFill>
          <a:schemeClr val="accent4">
            <a:hueOff val="0"/>
            <a:satOff val="0"/>
            <a:lumOff val="0"/>
            <a:alphaOff val="0"/>
          </a:schemeClr>
        </a:solidFill>
        <a:ln w="25400"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zh-CN" altLang="en-US" sz="1800" b="0" kern="1200" dirty="0">
              <a:latin typeface="Montserrat" panose="00000500000000000000" pitchFamily="2" charset="0"/>
              <a:ea typeface="微软雅黑 Light" panose="020B0502040204020203" pitchFamily="34" charset="-122"/>
            </a:rPr>
            <a:t>递归查询</a:t>
          </a:r>
        </a:p>
      </dsp:txBody>
      <dsp:txXfrm>
        <a:off x="39" y="13657"/>
        <a:ext cx="3818864" cy="691200"/>
      </dsp:txXfrm>
    </dsp:sp>
    <dsp:sp modelId="{03A5736B-9407-4E51-943F-C4127641647B}">
      <dsp:nvSpPr>
        <dsp:cNvPr id="0" name=""/>
        <dsp:cNvSpPr/>
      </dsp:nvSpPr>
      <dsp:spPr>
        <a:xfrm>
          <a:off x="39" y="704857"/>
          <a:ext cx="3818864" cy="2151393"/>
        </a:xfrm>
        <a:prstGeom prst="rect">
          <a:avLst/>
        </a:prstGeom>
        <a:noFill/>
        <a:ln w="25400" cap="flat" cmpd="sng" algn="ctr">
          <a:solidFill>
            <a:schemeClr val="accent4">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just" defTabSz="711200">
            <a:lnSpc>
              <a:spcPct val="90000"/>
            </a:lnSpc>
            <a:spcBef>
              <a:spcPct val="0"/>
            </a:spcBef>
            <a:spcAft>
              <a:spcPct val="15000"/>
            </a:spcAft>
            <a:buChar char="•"/>
          </a:pPr>
          <a:r>
            <a:rPr lang="zh-CN" altLang="en-US" sz="1600" b="0" kern="1200" dirty="0">
              <a:latin typeface="Montserrat" panose="00000500000000000000" pitchFamily="2" charset="0"/>
              <a:ea typeface="微软雅黑 Light" panose="020B0502040204020203" pitchFamily="34" charset="-122"/>
            </a:rPr>
            <a:t>通常，主机向本地域名服务器查询时使用</a:t>
          </a:r>
        </a:p>
        <a:p>
          <a:pPr marL="171450" lvl="1" indent="-171450" algn="just" defTabSz="711200">
            <a:lnSpc>
              <a:spcPct val="90000"/>
            </a:lnSpc>
            <a:spcBef>
              <a:spcPct val="0"/>
            </a:spcBef>
            <a:spcAft>
              <a:spcPct val="15000"/>
            </a:spcAft>
            <a:buChar char="•"/>
          </a:pPr>
          <a:r>
            <a:rPr lang="zh-CN" altLang="en-US" sz="1600" b="0" kern="1200" dirty="0">
              <a:latin typeface="Montserrat" panose="00000500000000000000" pitchFamily="2" charset="0"/>
              <a:ea typeface="微软雅黑 Light" panose="020B0502040204020203" pitchFamily="34" charset="-122"/>
            </a:rPr>
            <a:t>若不知道，就以 </a:t>
          </a:r>
          <a:r>
            <a:rPr lang="en-US" altLang="en-US" sz="1600" b="0" kern="1200" dirty="0">
              <a:latin typeface="Montserrat" panose="00000500000000000000" pitchFamily="2" charset="0"/>
              <a:ea typeface="微软雅黑 Light" panose="020B0502040204020203" pitchFamily="34" charset="-122"/>
            </a:rPr>
            <a:t>DNS </a:t>
          </a:r>
          <a:r>
            <a:rPr lang="zh-CN" altLang="en-US" sz="1600" b="0" kern="1200" dirty="0">
              <a:latin typeface="Montserrat" panose="00000500000000000000" pitchFamily="2" charset="0"/>
              <a:ea typeface="微软雅黑 Light" panose="020B0502040204020203" pitchFamily="34" charset="-122"/>
            </a:rPr>
            <a:t>客户的身份，向其他根域名服务器继续发出查询请求报文</a:t>
          </a:r>
        </a:p>
      </dsp:txBody>
      <dsp:txXfrm>
        <a:off x="39" y="704857"/>
        <a:ext cx="3818864" cy="2151393"/>
      </dsp:txXfrm>
    </dsp:sp>
    <dsp:sp modelId="{B2079A84-D30A-43B1-81D6-28B09A3A7626}">
      <dsp:nvSpPr>
        <dsp:cNvPr id="0" name=""/>
        <dsp:cNvSpPr/>
      </dsp:nvSpPr>
      <dsp:spPr>
        <a:xfrm>
          <a:off x="4353545" y="13657"/>
          <a:ext cx="3818864" cy="691200"/>
        </a:xfrm>
        <a:prstGeom prst="rect">
          <a:avLst/>
        </a:prstGeom>
        <a:solidFill>
          <a:schemeClr val="accent4">
            <a:hueOff val="-4464770"/>
            <a:satOff val="26899"/>
            <a:lumOff val="2156"/>
            <a:alphaOff val="0"/>
          </a:schemeClr>
        </a:solidFill>
        <a:ln w="25400" cap="flat" cmpd="sng" algn="ctr">
          <a:solidFill>
            <a:schemeClr val="accent4">
              <a:hueOff val="-4464770"/>
              <a:satOff val="26899"/>
              <a:lumOff val="2156"/>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zh-CN" altLang="en-US" sz="1800" b="0" kern="1200" dirty="0">
              <a:latin typeface="Montserrat" panose="00000500000000000000" pitchFamily="2" charset="0"/>
              <a:ea typeface="微软雅黑 Light" panose="020B0502040204020203" pitchFamily="34" charset="-122"/>
            </a:rPr>
            <a:t>迭代查询</a:t>
          </a:r>
        </a:p>
      </dsp:txBody>
      <dsp:txXfrm>
        <a:off x="4353545" y="13657"/>
        <a:ext cx="3818864" cy="691200"/>
      </dsp:txXfrm>
    </dsp:sp>
    <dsp:sp modelId="{802EC7D4-495D-4461-A980-1E7E46187315}">
      <dsp:nvSpPr>
        <dsp:cNvPr id="0" name=""/>
        <dsp:cNvSpPr/>
      </dsp:nvSpPr>
      <dsp:spPr>
        <a:xfrm>
          <a:off x="4353545" y="704857"/>
          <a:ext cx="3818864" cy="2151393"/>
        </a:xfrm>
        <a:prstGeom prst="rect">
          <a:avLst/>
        </a:prstGeom>
        <a:noFill/>
        <a:ln w="25400" cap="flat" cmpd="sng" algn="ctr">
          <a:solidFill>
            <a:schemeClr val="accent4">
              <a:tint val="40000"/>
              <a:alpha val="90000"/>
              <a:hueOff val="-3945710"/>
              <a:satOff val="22157"/>
              <a:lumOff val="1408"/>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just" defTabSz="711200">
            <a:lnSpc>
              <a:spcPct val="90000"/>
            </a:lnSpc>
            <a:spcBef>
              <a:spcPct val="0"/>
            </a:spcBef>
            <a:spcAft>
              <a:spcPct val="15000"/>
            </a:spcAft>
            <a:buChar char="•"/>
          </a:pPr>
          <a:r>
            <a:rPr lang="zh-CN" altLang="en-US" sz="1600" b="0" kern="1200" dirty="0">
              <a:latin typeface="Montserrat" panose="00000500000000000000" pitchFamily="2" charset="0"/>
              <a:ea typeface="微软雅黑 Light" panose="020B0502040204020203" pitchFamily="34" charset="-122"/>
            </a:rPr>
            <a:t>本地域名服务器向根域名服务器查询时使用</a:t>
          </a:r>
        </a:p>
        <a:p>
          <a:pPr marL="171450" lvl="1" indent="-171450" algn="just" defTabSz="711200">
            <a:lnSpc>
              <a:spcPct val="90000"/>
            </a:lnSpc>
            <a:spcBef>
              <a:spcPct val="0"/>
            </a:spcBef>
            <a:spcAft>
              <a:spcPct val="15000"/>
            </a:spcAft>
            <a:buChar char="•"/>
          </a:pPr>
          <a:r>
            <a:rPr lang="zh-CN" altLang="en-US" sz="1600" b="0" kern="1200" dirty="0">
              <a:latin typeface="Montserrat" panose="00000500000000000000" pitchFamily="2" charset="0"/>
              <a:ea typeface="微软雅黑 Light" panose="020B0502040204020203" pitchFamily="34" charset="-122"/>
            </a:rPr>
            <a:t>要么给出所要查询的 </a:t>
          </a:r>
          <a:r>
            <a:rPr lang="en-US" altLang="en-US" sz="1600" b="0" kern="1200" dirty="0">
              <a:latin typeface="Montserrat" panose="00000500000000000000" pitchFamily="2" charset="0"/>
              <a:ea typeface="微软雅黑 Light" panose="020B0502040204020203" pitchFamily="34" charset="-122"/>
            </a:rPr>
            <a:t>IP </a:t>
          </a:r>
          <a:r>
            <a:rPr lang="zh-CN" altLang="en-US" sz="1600" b="0" kern="1200" dirty="0">
              <a:latin typeface="Montserrat" panose="00000500000000000000" pitchFamily="2" charset="0"/>
              <a:ea typeface="微软雅黑 Light" panose="020B0502040204020203" pitchFamily="34" charset="-122"/>
            </a:rPr>
            <a:t>地址，要么告诉下一个要查询的域名服务器的 </a:t>
          </a:r>
          <a:r>
            <a:rPr lang="en-US" altLang="zh-CN" sz="1600" b="0" kern="1200" dirty="0">
              <a:latin typeface="Montserrat" panose="00000500000000000000" pitchFamily="2" charset="0"/>
              <a:ea typeface="微软雅黑 Light" panose="020B0502040204020203" pitchFamily="34" charset="-122"/>
            </a:rPr>
            <a:t>IP </a:t>
          </a:r>
          <a:r>
            <a:rPr lang="zh-CN" altLang="en-US" sz="1600" b="0" kern="1200" dirty="0">
              <a:latin typeface="Montserrat" panose="00000500000000000000" pitchFamily="2" charset="0"/>
              <a:ea typeface="微软雅黑 Light" panose="020B0502040204020203" pitchFamily="34" charset="-122"/>
            </a:rPr>
            <a:t>地址</a:t>
          </a:r>
        </a:p>
        <a:p>
          <a:pPr marL="171450" lvl="1" indent="-171450" algn="just" defTabSz="711200">
            <a:lnSpc>
              <a:spcPct val="90000"/>
            </a:lnSpc>
            <a:spcBef>
              <a:spcPct val="0"/>
            </a:spcBef>
            <a:spcAft>
              <a:spcPct val="15000"/>
            </a:spcAft>
            <a:buChar char="•"/>
          </a:pPr>
          <a:r>
            <a:rPr lang="zh-CN" altLang="en-US" sz="1600" b="0" kern="1200" dirty="0">
              <a:latin typeface="Montserrat" panose="00000500000000000000" pitchFamily="2" charset="0"/>
              <a:ea typeface="微软雅黑 Light" panose="020B0502040204020203" pitchFamily="34" charset="-122"/>
            </a:rPr>
            <a:t>本地域名服务器继续后续查询</a:t>
          </a:r>
        </a:p>
      </dsp:txBody>
      <dsp:txXfrm>
        <a:off x="4353545" y="704857"/>
        <a:ext cx="3818864" cy="2151393"/>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F526FD6-3C16-45F7-931B-D3253D84A49B}">
      <dsp:nvSpPr>
        <dsp:cNvPr id="0" name=""/>
        <dsp:cNvSpPr/>
      </dsp:nvSpPr>
      <dsp:spPr>
        <a:xfrm>
          <a:off x="0" y="672"/>
          <a:ext cx="8048776" cy="350542"/>
        </a:xfrm>
        <a:prstGeom prst="roundRect">
          <a:avLst/>
        </a:prstGeom>
        <a:solidFill>
          <a:srgbClr val="0070C0"/>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altLang="zh-CN" sz="1400" b="1" kern="1200" dirty="0">
              <a:solidFill>
                <a:schemeClr val="bg1"/>
              </a:solidFill>
              <a:latin typeface="微软雅黑 Light" panose="020B0502040204020203" pitchFamily="34" charset="-122"/>
              <a:ea typeface="微软雅黑 Light" panose="020B0502040204020203" pitchFamily="34" charset="-122"/>
            </a:rPr>
            <a:t>	</a:t>
          </a:r>
          <a:r>
            <a:rPr lang="zh-CN" sz="1600" b="1" kern="1200" dirty="0">
              <a:solidFill>
                <a:schemeClr val="bg1"/>
              </a:solidFill>
              <a:latin typeface="微软雅黑 Light" panose="020B0502040204020203" pitchFamily="34" charset="-122"/>
              <a:ea typeface="微软雅黑 Light" panose="020B0502040204020203" pitchFamily="34" charset="-122"/>
            </a:rPr>
            <a:t>方法（操作）</a:t>
          </a:r>
          <a:r>
            <a:rPr lang="en-US" sz="1600" b="1" kern="1200" dirty="0">
              <a:solidFill>
                <a:schemeClr val="bg1"/>
              </a:solidFill>
              <a:latin typeface="微软雅黑 Light" panose="020B0502040204020203" pitchFamily="34" charset="-122"/>
              <a:ea typeface="微软雅黑 Light" panose="020B0502040204020203" pitchFamily="34" charset="-122"/>
            </a:rPr>
            <a:t>				</a:t>
          </a:r>
          <a:r>
            <a:rPr lang="zh-CN" sz="1600" b="1" kern="1200" dirty="0">
              <a:solidFill>
                <a:schemeClr val="bg1"/>
              </a:solidFill>
              <a:latin typeface="微软雅黑 Light" panose="020B0502040204020203" pitchFamily="34" charset="-122"/>
              <a:ea typeface="微软雅黑 Light" panose="020B0502040204020203" pitchFamily="34" charset="-122"/>
            </a:rPr>
            <a:t>意义</a:t>
          </a:r>
          <a:endParaRPr lang="zh-CN" sz="1600" kern="1200" dirty="0">
            <a:solidFill>
              <a:schemeClr val="bg1"/>
            </a:solidFill>
            <a:latin typeface="微软雅黑 Light" panose="020B0502040204020203" pitchFamily="34" charset="-122"/>
            <a:ea typeface="微软雅黑 Light" panose="020B0502040204020203" pitchFamily="34" charset="-122"/>
          </a:endParaRPr>
        </a:p>
      </dsp:txBody>
      <dsp:txXfrm>
        <a:off x="17112" y="17784"/>
        <a:ext cx="8014552" cy="316318"/>
      </dsp:txXfrm>
    </dsp:sp>
    <dsp:sp modelId="{50B73F1F-44EA-4F89-8398-75FE0BB22E10}">
      <dsp:nvSpPr>
        <dsp:cNvPr id="0" name=""/>
        <dsp:cNvSpPr/>
      </dsp:nvSpPr>
      <dsp:spPr>
        <a:xfrm>
          <a:off x="0" y="362001"/>
          <a:ext cx="8048776" cy="350542"/>
        </a:xfrm>
        <a:prstGeom prst="roundRect">
          <a:avLst/>
        </a:prstGeom>
        <a:solidFill>
          <a:srgbClr val="99FFCC"/>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OPTION		  </a:t>
          </a:r>
          <a:r>
            <a:rPr lang="zh-CN" sz="1400" b="1" kern="1200" dirty="0">
              <a:solidFill>
                <a:schemeClr val="tx1"/>
              </a:solidFill>
              <a:latin typeface="微软雅黑 Light" panose="020B0502040204020203" pitchFamily="34" charset="-122"/>
              <a:ea typeface="微软雅黑 Light" panose="020B0502040204020203" pitchFamily="34" charset="-122"/>
            </a:rPr>
            <a:t>请求一些选项的信息</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112" y="379113"/>
        <a:ext cx="8014552" cy="316318"/>
      </dsp:txXfrm>
    </dsp:sp>
    <dsp:sp modelId="{FD5606E7-7379-4F33-830F-006516F4DFDB}">
      <dsp:nvSpPr>
        <dsp:cNvPr id="0" name=""/>
        <dsp:cNvSpPr/>
      </dsp:nvSpPr>
      <dsp:spPr>
        <a:xfrm>
          <a:off x="0" y="723330"/>
          <a:ext cx="8048776" cy="350542"/>
        </a:xfrm>
        <a:prstGeom prst="roundRect">
          <a:avLst/>
        </a:prstGeom>
        <a:solidFill>
          <a:schemeClr val="accent1">
            <a:lumMod val="40000"/>
            <a:lumOff val="6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GET               		  </a:t>
          </a:r>
          <a:r>
            <a:rPr lang="zh-CN" sz="1400" b="1" kern="1200" dirty="0">
              <a:solidFill>
                <a:schemeClr val="tx1"/>
              </a:solidFill>
              <a:latin typeface="微软雅黑 Light" panose="020B0502040204020203" pitchFamily="34" charset="-122"/>
              <a:ea typeface="微软雅黑 Light" panose="020B0502040204020203" pitchFamily="34" charset="-122"/>
            </a:rPr>
            <a:t>请求读取由 </a:t>
          </a:r>
          <a:r>
            <a:rPr lang="en-US" sz="1400" b="1" kern="1200" dirty="0">
              <a:solidFill>
                <a:schemeClr val="tx1"/>
              </a:solidFill>
              <a:latin typeface="微软雅黑 Light" panose="020B0502040204020203" pitchFamily="34" charset="-122"/>
              <a:ea typeface="微软雅黑 Light" panose="020B0502040204020203" pitchFamily="34" charset="-122"/>
            </a:rPr>
            <a:t>URL</a:t>
          </a:r>
          <a:r>
            <a:rPr lang="zh-CN" sz="1400" b="1" kern="1200" dirty="0">
              <a:solidFill>
                <a:schemeClr val="tx1"/>
              </a:solidFill>
              <a:latin typeface="微软雅黑 Light" panose="020B0502040204020203" pitchFamily="34" charset="-122"/>
              <a:ea typeface="微软雅黑 Light" panose="020B0502040204020203" pitchFamily="34" charset="-122"/>
            </a:rPr>
            <a:t>所标志的信息</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112" y="740442"/>
        <a:ext cx="8014552" cy="316318"/>
      </dsp:txXfrm>
    </dsp:sp>
    <dsp:sp modelId="{E1C3FBBC-EA1F-4BAD-A2D7-05E9F414FDC7}">
      <dsp:nvSpPr>
        <dsp:cNvPr id="0" name=""/>
        <dsp:cNvSpPr/>
      </dsp:nvSpPr>
      <dsp:spPr>
        <a:xfrm>
          <a:off x="0" y="1084659"/>
          <a:ext cx="8048776" cy="350542"/>
        </a:xfrm>
        <a:prstGeom prst="roundRect">
          <a:avLst/>
        </a:prstGeom>
        <a:solidFill>
          <a:srgbClr val="99FFCC"/>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HEAD              	  </a:t>
          </a:r>
          <a:r>
            <a:rPr lang="zh-CN" sz="1400" b="1" kern="1200" dirty="0">
              <a:solidFill>
                <a:schemeClr val="tx1"/>
              </a:solidFill>
              <a:latin typeface="微软雅黑 Light" panose="020B0502040204020203" pitchFamily="34" charset="-122"/>
              <a:ea typeface="微软雅黑 Light" panose="020B0502040204020203" pitchFamily="34" charset="-122"/>
            </a:rPr>
            <a:t>请求读取由 </a:t>
          </a:r>
          <a:r>
            <a:rPr lang="en-US" sz="1400" b="1" kern="1200" dirty="0">
              <a:solidFill>
                <a:schemeClr val="tx1"/>
              </a:solidFill>
              <a:latin typeface="微软雅黑 Light" panose="020B0502040204020203" pitchFamily="34" charset="-122"/>
              <a:ea typeface="微软雅黑 Light" panose="020B0502040204020203" pitchFamily="34" charset="-122"/>
            </a:rPr>
            <a:t>URL</a:t>
          </a:r>
          <a:r>
            <a:rPr lang="zh-CN" sz="1400" b="1" kern="1200" dirty="0">
              <a:solidFill>
                <a:schemeClr val="tx1"/>
              </a:solidFill>
              <a:latin typeface="微软雅黑 Light" panose="020B0502040204020203" pitchFamily="34" charset="-122"/>
              <a:ea typeface="微软雅黑 Light" panose="020B0502040204020203" pitchFamily="34" charset="-122"/>
            </a:rPr>
            <a:t>所标志的信息的首部</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112" y="1101771"/>
        <a:ext cx="8014552" cy="316318"/>
      </dsp:txXfrm>
    </dsp:sp>
    <dsp:sp modelId="{0EB52B51-C389-4A36-BC05-864D852DF5FC}">
      <dsp:nvSpPr>
        <dsp:cNvPr id="0" name=""/>
        <dsp:cNvSpPr/>
      </dsp:nvSpPr>
      <dsp:spPr>
        <a:xfrm>
          <a:off x="0" y="1445988"/>
          <a:ext cx="8048776" cy="350542"/>
        </a:xfrm>
        <a:prstGeom prst="roundRect">
          <a:avLst/>
        </a:prstGeom>
        <a:solidFill>
          <a:schemeClr val="accent1">
            <a:lumMod val="40000"/>
            <a:lumOff val="6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POST     	    	  </a:t>
          </a:r>
          <a:r>
            <a:rPr lang="zh-CN" sz="1400" b="1" kern="1200" dirty="0">
              <a:solidFill>
                <a:schemeClr val="tx1"/>
              </a:solidFill>
              <a:latin typeface="微软雅黑 Light" panose="020B0502040204020203" pitchFamily="34" charset="-122"/>
              <a:ea typeface="微软雅黑 Light" panose="020B0502040204020203" pitchFamily="34" charset="-122"/>
            </a:rPr>
            <a:t>给服务器添加信息（例如，注释）</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112" y="1463100"/>
        <a:ext cx="8014552" cy="316318"/>
      </dsp:txXfrm>
    </dsp:sp>
    <dsp:sp modelId="{4E4C0534-037E-45A5-BADC-B7406AF7B1C3}">
      <dsp:nvSpPr>
        <dsp:cNvPr id="0" name=""/>
        <dsp:cNvSpPr/>
      </dsp:nvSpPr>
      <dsp:spPr>
        <a:xfrm>
          <a:off x="0" y="1807316"/>
          <a:ext cx="8048776" cy="350542"/>
        </a:xfrm>
        <a:prstGeom prst="roundRect">
          <a:avLst/>
        </a:prstGeom>
        <a:solidFill>
          <a:srgbClr val="99FFCC"/>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PUT			  </a:t>
          </a:r>
          <a:r>
            <a:rPr lang="zh-CN" sz="1400" b="1" kern="1200" dirty="0">
              <a:solidFill>
                <a:schemeClr val="tx1"/>
              </a:solidFill>
              <a:latin typeface="微软雅黑 Light" panose="020B0502040204020203" pitchFamily="34" charset="-122"/>
              <a:ea typeface="微软雅黑 Light" panose="020B0502040204020203" pitchFamily="34" charset="-122"/>
            </a:rPr>
            <a:t>在指明的 </a:t>
          </a:r>
          <a:r>
            <a:rPr lang="en-US" sz="1400" b="1" kern="1200" dirty="0">
              <a:solidFill>
                <a:schemeClr val="tx1"/>
              </a:solidFill>
              <a:latin typeface="微软雅黑 Light" panose="020B0502040204020203" pitchFamily="34" charset="-122"/>
              <a:ea typeface="微软雅黑 Light" panose="020B0502040204020203" pitchFamily="34" charset="-122"/>
            </a:rPr>
            <a:t>URL</a:t>
          </a:r>
          <a:r>
            <a:rPr lang="zh-CN" sz="1400" b="1" kern="1200" dirty="0">
              <a:solidFill>
                <a:schemeClr val="tx1"/>
              </a:solidFill>
              <a:latin typeface="微软雅黑 Light" panose="020B0502040204020203" pitchFamily="34" charset="-122"/>
              <a:ea typeface="微软雅黑 Light" panose="020B0502040204020203" pitchFamily="34" charset="-122"/>
            </a:rPr>
            <a:t>下存储一个文档</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112" y="1824428"/>
        <a:ext cx="8014552" cy="316318"/>
      </dsp:txXfrm>
    </dsp:sp>
    <dsp:sp modelId="{EC4E5CDF-5396-4684-B963-9679F944855F}">
      <dsp:nvSpPr>
        <dsp:cNvPr id="0" name=""/>
        <dsp:cNvSpPr/>
      </dsp:nvSpPr>
      <dsp:spPr>
        <a:xfrm>
          <a:off x="0" y="2168645"/>
          <a:ext cx="8048776" cy="350542"/>
        </a:xfrm>
        <a:prstGeom prst="roundRect">
          <a:avLst/>
        </a:prstGeom>
        <a:solidFill>
          <a:schemeClr val="accent1">
            <a:lumMod val="40000"/>
            <a:lumOff val="6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DELETE		  </a:t>
          </a:r>
          <a:r>
            <a:rPr lang="zh-CN" sz="1400" b="1" kern="1200" dirty="0">
              <a:solidFill>
                <a:schemeClr val="tx1"/>
              </a:solidFill>
              <a:latin typeface="微软雅黑 Light" panose="020B0502040204020203" pitchFamily="34" charset="-122"/>
              <a:ea typeface="微软雅黑 Light" panose="020B0502040204020203" pitchFamily="34" charset="-122"/>
            </a:rPr>
            <a:t>删除指明的 </a:t>
          </a:r>
          <a:r>
            <a:rPr lang="en-US" sz="1400" b="1" kern="1200" dirty="0">
              <a:solidFill>
                <a:schemeClr val="tx1"/>
              </a:solidFill>
              <a:latin typeface="微软雅黑 Light" panose="020B0502040204020203" pitchFamily="34" charset="-122"/>
              <a:ea typeface="微软雅黑 Light" panose="020B0502040204020203" pitchFamily="34" charset="-122"/>
            </a:rPr>
            <a:t>URL</a:t>
          </a:r>
          <a:r>
            <a:rPr lang="zh-CN" sz="1400" b="1" kern="1200" dirty="0">
              <a:solidFill>
                <a:schemeClr val="tx1"/>
              </a:solidFill>
              <a:latin typeface="微软雅黑 Light" panose="020B0502040204020203" pitchFamily="34" charset="-122"/>
              <a:ea typeface="微软雅黑 Light" panose="020B0502040204020203" pitchFamily="34" charset="-122"/>
            </a:rPr>
            <a:t>所标志的资源</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112" y="2185757"/>
        <a:ext cx="8014552" cy="316318"/>
      </dsp:txXfrm>
    </dsp:sp>
    <dsp:sp modelId="{21855FA6-2BB4-499A-A8A9-433441C6C9C7}">
      <dsp:nvSpPr>
        <dsp:cNvPr id="0" name=""/>
        <dsp:cNvSpPr/>
      </dsp:nvSpPr>
      <dsp:spPr>
        <a:xfrm>
          <a:off x="0" y="2529974"/>
          <a:ext cx="8048776" cy="350542"/>
        </a:xfrm>
        <a:prstGeom prst="roundRect">
          <a:avLst/>
        </a:prstGeom>
        <a:solidFill>
          <a:srgbClr val="99FFCC"/>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TRACE			  </a:t>
          </a:r>
          <a:r>
            <a:rPr lang="zh-CN" sz="1400" b="1" kern="1200" dirty="0">
              <a:solidFill>
                <a:schemeClr val="tx1"/>
              </a:solidFill>
              <a:latin typeface="微软雅黑 Light" panose="020B0502040204020203" pitchFamily="34" charset="-122"/>
              <a:ea typeface="微软雅黑 Light" panose="020B0502040204020203" pitchFamily="34" charset="-122"/>
            </a:rPr>
            <a:t>用来进行环回测试的请求报文</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112" y="2547086"/>
        <a:ext cx="8014552" cy="316318"/>
      </dsp:txXfrm>
    </dsp:sp>
    <dsp:sp modelId="{08F040B1-2CBD-4876-96AA-45AF94F7D94E}">
      <dsp:nvSpPr>
        <dsp:cNvPr id="0" name=""/>
        <dsp:cNvSpPr/>
      </dsp:nvSpPr>
      <dsp:spPr>
        <a:xfrm>
          <a:off x="0" y="2891303"/>
          <a:ext cx="8048776" cy="350542"/>
        </a:xfrm>
        <a:prstGeom prst="roundRect">
          <a:avLst/>
        </a:prstGeom>
        <a:solidFill>
          <a:schemeClr val="accent1">
            <a:lumMod val="40000"/>
            <a:lumOff val="6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CONNECT		  </a:t>
          </a:r>
          <a:r>
            <a:rPr lang="zh-CN" sz="1400" b="1" kern="1200" dirty="0">
              <a:solidFill>
                <a:schemeClr val="tx1"/>
              </a:solidFill>
              <a:latin typeface="微软雅黑 Light" panose="020B0502040204020203" pitchFamily="34" charset="-122"/>
              <a:ea typeface="微软雅黑 Light" panose="020B0502040204020203" pitchFamily="34" charset="-122"/>
            </a:rPr>
            <a:t>用于代理服务器</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112" y="2908415"/>
        <a:ext cx="8014552" cy="316318"/>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3F60847-C5CB-4E1F-92CA-969FDFBB52DB}">
      <dsp:nvSpPr>
        <dsp:cNvPr id="0" name=""/>
        <dsp:cNvSpPr/>
      </dsp:nvSpPr>
      <dsp:spPr>
        <a:xfrm>
          <a:off x="39" y="2105"/>
          <a:ext cx="3818864" cy="8064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ct val="90000"/>
            </a:lnSpc>
            <a:spcBef>
              <a:spcPct val="0"/>
            </a:spcBef>
            <a:spcAft>
              <a:spcPct val="35000"/>
            </a:spcAft>
            <a:buNone/>
          </a:pPr>
          <a:r>
            <a:rPr lang="zh-CN" altLang="en-US" sz="1400" b="1" kern="1200" dirty="0">
              <a:latin typeface="微软雅黑 Light" panose="020B0502040204020203" pitchFamily="34" charset="-122"/>
              <a:ea typeface="微软雅黑 Light" panose="020B0502040204020203" pitchFamily="34" charset="-122"/>
            </a:rPr>
            <a:t>全文检索搜索引擎</a:t>
          </a:r>
        </a:p>
      </dsp:txBody>
      <dsp:txXfrm>
        <a:off x="39" y="2105"/>
        <a:ext cx="3818864" cy="806400"/>
      </dsp:txXfrm>
    </dsp:sp>
    <dsp:sp modelId="{4E1C6945-3361-4332-9057-7162DBC9BE74}">
      <dsp:nvSpPr>
        <dsp:cNvPr id="0" name=""/>
        <dsp:cNvSpPr/>
      </dsp:nvSpPr>
      <dsp:spPr>
        <a:xfrm>
          <a:off x="39" y="808505"/>
          <a:ext cx="3818864" cy="2766959"/>
        </a:xfrm>
        <a:prstGeom prst="rect">
          <a:avLst/>
        </a:prstGeom>
        <a:no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一种纯技术型的检索工具</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通过搜索软件（例如一种叫做“蜘蛛”或“网络机器人”的 </a:t>
          </a:r>
          <a:r>
            <a:rPr lang="en-US" altLang="en-US" sz="1400" b="0" kern="1200" dirty="0">
              <a:latin typeface="Montserrat" panose="00000500000000000000" pitchFamily="2" charset="0"/>
              <a:ea typeface="微软雅黑 Light" panose="020B0502040204020203" pitchFamily="34" charset="-122"/>
            </a:rPr>
            <a:t>Spider </a:t>
          </a:r>
          <a:r>
            <a:rPr lang="zh-CN" altLang="en-US" sz="1400" b="0" kern="1200" dirty="0">
              <a:latin typeface="Montserrat" panose="00000500000000000000" pitchFamily="2" charset="0"/>
              <a:ea typeface="微软雅黑 Light" panose="020B0502040204020203" pitchFamily="34" charset="-122"/>
            </a:rPr>
            <a:t>程序）到互联网上的各网站收集信息</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按照一定的规则建立一个很大的在线索引数据库</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用户在查询时只要输入关键词，从已经建立的索引数据库里查询（非实时）</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需要定期更新维护数据库</a:t>
          </a:r>
        </a:p>
      </dsp:txBody>
      <dsp:txXfrm>
        <a:off x="39" y="808505"/>
        <a:ext cx="3818864" cy="2766959"/>
      </dsp:txXfrm>
    </dsp:sp>
    <dsp:sp modelId="{68DA0B6D-3EBF-4324-92AB-1CC040E6E5B2}">
      <dsp:nvSpPr>
        <dsp:cNvPr id="0" name=""/>
        <dsp:cNvSpPr/>
      </dsp:nvSpPr>
      <dsp:spPr>
        <a:xfrm>
          <a:off x="4353545" y="2105"/>
          <a:ext cx="3818864" cy="806400"/>
        </a:xfrm>
        <a:prstGeom prst="rect">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ct val="90000"/>
            </a:lnSpc>
            <a:spcBef>
              <a:spcPct val="0"/>
            </a:spcBef>
            <a:spcAft>
              <a:spcPct val="35000"/>
            </a:spcAft>
            <a:buNone/>
          </a:pPr>
          <a:r>
            <a:rPr lang="zh-CN" altLang="en-US" sz="1400" b="1" kern="1200" dirty="0">
              <a:latin typeface="微软雅黑 Light" panose="020B0502040204020203" pitchFamily="34" charset="-122"/>
              <a:ea typeface="微软雅黑 Light" panose="020B0502040204020203" pitchFamily="34" charset="-122"/>
            </a:rPr>
            <a:t>分类目录搜索引擎</a:t>
          </a:r>
        </a:p>
      </dsp:txBody>
      <dsp:txXfrm>
        <a:off x="4353545" y="2105"/>
        <a:ext cx="3818864" cy="806400"/>
      </dsp:txXfrm>
    </dsp:sp>
    <dsp:sp modelId="{56308F05-9C6F-4168-94D1-139E66E21E29}">
      <dsp:nvSpPr>
        <dsp:cNvPr id="0" name=""/>
        <dsp:cNvSpPr/>
      </dsp:nvSpPr>
      <dsp:spPr>
        <a:xfrm>
          <a:off x="4353545" y="808505"/>
          <a:ext cx="3818864" cy="2766959"/>
        </a:xfrm>
        <a:prstGeom prst="rect">
          <a:avLst/>
        </a:prstGeom>
        <a:no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不采集网站的任何信息，而是利用各网站向搜索引擎提交的网站信息时填写的关键词和网站描述等信息，经过人工审核编辑后，输入到分类目录的数据库中，供网上用户查询</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分类目录搜索也叫做分类网站搜索。</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查询时只需要按照分类，不需要使用关键词，查询的准确性较好</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查询的结果不是具体的页面，而是被收录网站主页的 </a:t>
          </a:r>
          <a:r>
            <a:rPr lang="en-US" altLang="en-US" sz="1400" b="0" kern="1200" dirty="0">
              <a:latin typeface="Montserrat" panose="00000500000000000000" pitchFamily="2" charset="0"/>
              <a:ea typeface="微软雅黑 Light" panose="020B0502040204020203" pitchFamily="34" charset="-122"/>
            </a:rPr>
            <a:t>URL </a:t>
          </a:r>
          <a:r>
            <a:rPr lang="zh-CN" altLang="en-US" sz="1400" b="0" kern="1200" dirty="0">
              <a:latin typeface="Montserrat" panose="00000500000000000000" pitchFamily="2" charset="0"/>
              <a:ea typeface="微软雅黑 Light" panose="020B0502040204020203" pitchFamily="34" charset="-122"/>
            </a:rPr>
            <a:t>地址</a:t>
          </a:r>
        </a:p>
      </dsp:txBody>
      <dsp:txXfrm>
        <a:off x="4353545" y="808505"/>
        <a:ext cx="3818864" cy="2766959"/>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3F60847-C5CB-4E1F-92CA-969FDFBB52DB}">
      <dsp:nvSpPr>
        <dsp:cNvPr id="0" name=""/>
        <dsp:cNvSpPr/>
      </dsp:nvSpPr>
      <dsp:spPr>
        <a:xfrm>
          <a:off x="39" y="4992"/>
          <a:ext cx="3818654" cy="8928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en-US" sz="1800" b="1" kern="1200" dirty="0">
              <a:latin typeface="微软雅黑 Light" panose="020B0502040204020203" pitchFamily="34" charset="-122"/>
              <a:ea typeface="微软雅黑 Light" panose="020B0502040204020203" pitchFamily="34" charset="-122"/>
            </a:rPr>
            <a:t>1. </a:t>
          </a:r>
          <a:r>
            <a:rPr lang="zh-CN" altLang="en-US" sz="1800" b="1" kern="1200" dirty="0">
              <a:latin typeface="微软雅黑 Light" panose="020B0502040204020203" pitchFamily="34" charset="-122"/>
              <a:ea typeface="微软雅黑 Light" panose="020B0502040204020203" pitchFamily="34" charset="-122"/>
            </a:rPr>
            <a:t>博客</a:t>
          </a:r>
        </a:p>
      </dsp:txBody>
      <dsp:txXfrm>
        <a:off x="39" y="4992"/>
        <a:ext cx="3818654" cy="892800"/>
      </dsp:txXfrm>
    </dsp:sp>
    <dsp:sp modelId="{4E1C6945-3361-4332-9057-7162DBC9BE74}">
      <dsp:nvSpPr>
        <dsp:cNvPr id="0" name=""/>
        <dsp:cNvSpPr/>
      </dsp:nvSpPr>
      <dsp:spPr>
        <a:xfrm>
          <a:off x="39" y="897792"/>
          <a:ext cx="3818654" cy="2212470"/>
        </a:xfrm>
        <a:prstGeom prst="rect">
          <a:avLst/>
        </a:prstGeom>
        <a:no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万维网日志 </a:t>
          </a:r>
          <a:r>
            <a:rPr lang="en-US" altLang="en-US" sz="1400" b="0" kern="1200" dirty="0">
              <a:latin typeface="Montserrat" panose="00000500000000000000" pitchFamily="2" charset="0"/>
              <a:ea typeface="微软雅黑 Light" panose="020B0502040204020203" pitchFamily="34" charset="-122"/>
            </a:rPr>
            <a:t>(weblog) </a:t>
          </a:r>
          <a:r>
            <a:rPr lang="zh-CN" altLang="en-US" sz="1400" b="0" kern="1200" dirty="0">
              <a:latin typeface="Montserrat" panose="00000500000000000000" pitchFamily="2" charset="0"/>
              <a:ea typeface="微软雅黑 Light" panose="020B0502040204020203" pitchFamily="34" charset="-122"/>
            </a:rPr>
            <a:t>的简称</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使网民不仅是互联网上内容的消费者，而且还是互联网上内容的生产者</a:t>
          </a:r>
        </a:p>
      </dsp:txBody>
      <dsp:txXfrm>
        <a:off x="39" y="897792"/>
        <a:ext cx="3818654" cy="2212470"/>
      </dsp:txXfrm>
    </dsp:sp>
    <dsp:sp modelId="{68DA0B6D-3EBF-4324-92AB-1CC040E6E5B2}">
      <dsp:nvSpPr>
        <dsp:cNvPr id="0" name=""/>
        <dsp:cNvSpPr/>
      </dsp:nvSpPr>
      <dsp:spPr>
        <a:xfrm>
          <a:off x="4353305" y="4992"/>
          <a:ext cx="3818654" cy="892800"/>
        </a:xfrm>
        <a:prstGeom prst="rect">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en-US" sz="1800" b="1" kern="1200" dirty="0">
              <a:latin typeface="微软雅黑 Light" panose="020B0502040204020203" pitchFamily="34" charset="-122"/>
              <a:ea typeface="微软雅黑 Light" panose="020B0502040204020203" pitchFamily="34" charset="-122"/>
            </a:rPr>
            <a:t>2. </a:t>
          </a:r>
          <a:r>
            <a:rPr lang="zh-CN" altLang="en-US" sz="1800" b="1" kern="1200" dirty="0">
              <a:latin typeface="微软雅黑 Light" panose="020B0502040204020203" pitchFamily="34" charset="-122"/>
              <a:ea typeface="微软雅黑 Light" panose="020B0502040204020203" pitchFamily="34" charset="-122"/>
            </a:rPr>
            <a:t>微博</a:t>
          </a:r>
        </a:p>
      </dsp:txBody>
      <dsp:txXfrm>
        <a:off x="4353305" y="4992"/>
        <a:ext cx="3818654" cy="892800"/>
      </dsp:txXfrm>
    </dsp:sp>
    <dsp:sp modelId="{56308F05-9C6F-4168-94D1-139E66E21E29}">
      <dsp:nvSpPr>
        <dsp:cNvPr id="0" name=""/>
        <dsp:cNvSpPr/>
      </dsp:nvSpPr>
      <dsp:spPr>
        <a:xfrm>
          <a:off x="4353305" y="897792"/>
          <a:ext cx="3818654" cy="2212470"/>
        </a:xfrm>
        <a:prstGeom prst="rect">
          <a:avLst/>
        </a:prstGeom>
        <a:no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微型博客 </a:t>
          </a:r>
          <a:r>
            <a:rPr lang="en-US" altLang="en-US" sz="1400" b="0" kern="1200" dirty="0">
              <a:latin typeface="Montserrat" panose="00000500000000000000" pitchFamily="2" charset="0"/>
              <a:ea typeface="微软雅黑 Light" panose="020B0502040204020203" pitchFamily="34" charset="-122"/>
            </a:rPr>
            <a:t>(microblog)</a:t>
          </a:r>
          <a:r>
            <a:rPr lang="zh-CN" altLang="en-US" sz="1400" b="0" kern="1200" dirty="0">
              <a:latin typeface="Montserrat" panose="00000500000000000000" pitchFamily="2" charset="0"/>
              <a:ea typeface="微软雅黑 Light" panose="020B0502040204020203" pitchFamily="34" charset="-122"/>
            </a:rPr>
            <a:t>，又称为微博客</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只记录片段、碎语，三言两语，现场记录，发发感慨，晒晒心情，永远只针对一个问题进行回答</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开通的多种 </a:t>
          </a:r>
          <a:r>
            <a:rPr lang="en-US" altLang="en-US" sz="1400" b="0" kern="1200" dirty="0">
              <a:latin typeface="Montserrat" panose="00000500000000000000" pitchFamily="2" charset="0"/>
              <a:ea typeface="微软雅黑 Light" panose="020B0502040204020203" pitchFamily="34" charset="-122"/>
            </a:rPr>
            <a:t>API </a:t>
          </a:r>
          <a:r>
            <a:rPr lang="zh-CN" altLang="en-US" sz="1400" b="0" kern="1200" dirty="0">
              <a:latin typeface="Montserrat" panose="00000500000000000000" pitchFamily="2" charset="0"/>
              <a:ea typeface="微软雅黑 Light" panose="020B0502040204020203" pitchFamily="34" charset="-122"/>
            </a:rPr>
            <a:t>使用户可通过手机、网络等方式即时更新自己的信息</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是一种互动及传播性极快的工具</a:t>
          </a:r>
        </a:p>
      </dsp:txBody>
      <dsp:txXfrm>
        <a:off x="4353305" y="897792"/>
        <a:ext cx="3818654" cy="2212470"/>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4">
  <dgm:title val=""/>
  <dgm:desc val=""/>
  <dgm:catLst>
    <dgm:cat type="hierarchy" pri="4000"/>
    <dgm:cat type="list" pri="24000"/>
    <dgm:cat type="relationship" pri="10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Name0">
    <dgm:varLst>
      <dgm:chPref val="1"/>
      <dgm:dir/>
      <dgm:animOne val="branch"/>
      <dgm:animLvl val="lvl"/>
      <dgm:resizeHandles/>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w" for="ch" forName="vertOne" refType="w"/>
      <dgm:constr type="w" for="des" forName="horzOne" refType="w"/>
      <dgm:constr type="w" for="des" forName="txOne" refType="w"/>
      <dgm:constr type="w" for="des" forName="vertTwo" refType="w"/>
      <dgm:constr type="w" for="des" forName="horzTwo" refType="w"/>
      <dgm:constr type="w" for="des" forName="txTwo" refType="w"/>
      <dgm:constr type="w" for="des" forName="vertThree" refType="w"/>
      <dgm:constr type="w" for="des" forName="horzThree" refType="w"/>
      <dgm:constr type="w" for="des" forName="txThree" refType="w"/>
      <dgm:constr type="w" for="des" forName="vertFour" refType="w"/>
      <dgm:constr type="w" for="des" forName="horzFour" refType="w"/>
      <dgm:constr type="w" for="des" forName="txFour" refType="w"/>
      <dgm:constr type="h" for="des" ptType="node" op="equ"/>
      <dgm:constr type="h" for="des" forName="txOne" refType="h"/>
      <dgm:constr type="userH" for="des" ptType="node" refType="h" refFor="des" refForName="txOne"/>
      <dgm:constr type="primFontSz" for="des" forName="txOne" val="65"/>
      <dgm:constr type="primFontSz" for="des" forName="txTwo" val="65"/>
      <dgm:constr type="primFontSz" for="des" forName="txTwo" refType="primFontSz" refFor="des" refForName="txOne" op="lte"/>
      <dgm:constr type="primFontSz" for="des" forName="txThree" val="65"/>
      <dgm:constr type="primFontSz" for="des" forName="txThree" refType="primFontSz" refFor="des" refForName="txOne" op="lte"/>
      <dgm:constr type="primFontSz" for="des" forName="txThree" refType="primFontSz" refFor="des" refForName="txTwo" op="lte"/>
      <dgm:constr type="primFontSz" for="des" forName="txFour" val="65"/>
      <dgm:constr type="primFontSz" for="des" forName="txFour" refType="primFontSz" refFor="des" refForName="txOne" op="lte"/>
      <dgm:constr type="primFontSz" for="des" forName="txFour" refType="primFontSz" refFor="des" refForName="txTwo" op="lte"/>
      <dgm:constr type="primFontSz" for="des" forName="txFour" refType="primFontSz" refFor="des" refForName="txThree" op="lte"/>
      <dgm:constr type="w" for="des" forName="sibSpaceOne" refType="w" fact="0.168"/>
      <dgm:constr type="w" for="des" forName="sibSpaceTwo" refType="w" refFor="des" refForName="sibSpaceOne" op="equ" fact="0.5"/>
      <dgm:constr type="w" for="des" forName="sibSpaceThree" refType="w" refFor="des" refForName="sibSpaceTwo" op="equ" fact="0.5"/>
      <dgm:constr type="w" for="des" forName="sibSpaceFour" refType="w" refFor="des" refForName="sibSpaceThree" op="equ" fact="0.5"/>
      <dgm:constr type="h" for="des" forName="parTransOne" refType="w" fact="0.056"/>
      <dgm:constr type="h" for="des" forName="parTransTwo" refType="h" refFor="des" refForName="parTransOne" op="equ"/>
      <dgm:constr type="h" for="des" forName="parTransThree" refType="h" refFor="des" refForName="parTransTwo" op="equ"/>
      <dgm:constr type="h" for="des" forName="parTransFour" refType="h" refFor="des" refForName="parTransThree" op="equ"/>
    </dgm:constrLst>
    <dgm:ruleLst/>
    <dgm:forEach name="Name4" axis="ch" ptType="node">
      <dgm:layoutNode name="vertOne">
        <dgm:alg type="lin">
          <dgm:param type="linDir" val="fromT"/>
        </dgm:alg>
        <dgm:shape xmlns:r="http://schemas.openxmlformats.org/officeDocument/2006/relationships" r:blip="">
          <dgm:adjLst/>
        </dgm:shape>
        <dgm:presOf/>
        <dgm:constrLst>
          <dgm:constr type="w" for="ch" forName="txOne" refType="w" refFor="ch" refForName="horzOne" op="gte"/>
        </dgm:constrLst>
        <dgm:ruleLst/>
        <dgm:layoutNode name="txOne" styleLbl="node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5">
          <dgm:if name="Name6" axis="des" ptType="node" func="cnt" op="gt" val="0">
            <dgm:layoutNode name="parTransOne">
              <dgm:alg type="sp"/>
              <dgm:shape xmlns:r="http://schemas.openxmlformats.org/officeDocument/2006/relationships" r:blip="">
                <dgm:adjLst/>
              </dgm:shape>
              <dgm:presOf/>
              <dgm:constrLst/>
              <dgm:ruleLst/>
            </dgm:layoutNode>
          </dgm:if>
          <dgm:else name="Name7"/>
        </dgm:choose>
        <dgm:layoutNode name="horzOne">
          <dgm:choose name="Name8">
            <dgm:if name="Name9" func="var" arg="dir" op="equ" val="norm">
              <dgm:alg type="lin">
                <dgm:param type="linDir" val="fromL"/>
                <dgm:param type="nodeVertAlign" val="t"/>
              </dgm:alg>
            </dgm:if>
            <dgm:else name="Name1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1" axis="ch" ptType="node">
            <dgm:layoutNode name="vertTwo">
              <dgm:alg type="lin">
                <dgm:param type="linDir" val="fromT"/>
              </dgm:alg>
              <dgm:shape xmlns:r="http://schemas.openxmlformats.org/officeDocument/2006/relationships" r:blip="">
                <dgm:adjLst/>
              </dgm:shape>
              <dgm:presOf/>
              <dgm:constrLst>
                <dgm:constr type="w" for="ch" forName="txTwo" refType="w" refFor="ch" refForName="horzTwo" op="gte"/>
              </dgm:constrLst>
              <dgm:ruleLst/>
              <dgm:layoutNode name="txTwo">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2">
                <dgm:if name="Name13" axis="des" ptType="node" func="cnt" op="gt" val="0">
                  <dgm:layoutNode name="parTransTwo">
                    <dgm:alg type="sp"/>
                    <dgm:shape xmlns:r="http://schemas.openxmlformats.org/officeDocument/2006/relationships" r:blip="">
                      <dgm:adjLst/>
                    </dgm:shape>
                    <dgm:presOf/>
                    <dgm:constrLst/>
                    <dgm:ruleLst/>
                  </dgm:layoutNode>
                </dgm:if>
                <dgm:else name="Name14"/>
              </dgm:choose>
              <dgm:layoutNode name="horzTwo">
                <dgm:choose name="Name15">
                  <dgm:if name="Name16" func="var" arg="dir" op="equ" val="norm">
                    <dgm:alg type="lin">
                      <dgm:param type="linDir" val="fromL"/>
                      <dgm:param type="nodeVertAlign" val="t"/>
                    </dgm:alg>
                  </dgm:if>
                  <dgm:else name="Name17">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8" axis="ch" ptType="node">
                  <dgm:layoutNode name="vertThree">
                    <dgm:alg type="lin">
                      <dgm:param type="linDir" val="fromT"/>
                    </dgm:alg>
                    <dgm:shape xmlns:r="http://schemas.openxmlformats.org/officeDocument/2006/relationships" r:blip="">
                      <dgm:adjLst/>
                    </dgm:shape>
                    <dgm:presOf/>
                    <dgm:constrLst>
                      <dgm:constr type="w" for="ch" forName="txThree" refType="w" refFor="ch" refForName="horzThree" op="gte"/>
                    </dgm:constrLst>
                    <dgm:ruleLst/>
                    <dgm:layoutNode name="txThree">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9">
                      <dgm:if name="Name20" axis="des" ptType="node" func="cnt" op="gt" val="0">
                        <dgm:layoutNode name="parTransThree">
                          <dgm:alg type="sp"/>
                          <dgm:shape xmlns:r="http://schemas.openxmlformats.org/officeDocument/2006/relationships" r:blip="">
                            <dgm:adjLst/>
                          </dgm:shape>
                          <dgm:presOf/>
                          <dgm:constrLst/>
                          <dgm:ruleLst/>
                        </dgm:layoutNode>
                      </dgm:if>
                      <dgm:else name="Name21"/>
                    </dgm:choose>
                    <dgm:layoutNode name="horzThree">
                      <dgm:choose name="Name22">
                        <dgm:if name="Name23" func="var" arg="dir" op="equ" val="norm">
                          <dgm:alg type="lin">
                            <dgm:param type="linDir" val="fromL"/>
                            <dgm:param type="nodeVertAlign" val="t"/>
                          </dgm:alg>
                        </dgm:if>
                        <dgm:else name="Name24">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repeat" axis="ch" ptType="node">
                        <dgm:layoutNode name="vertFour">
                          <dgm:varLst>
                            <dgm:chPref val="3"/>
                          </dgm:varLst>
                          <dgm:alg type="lin">
                            <dgm:param type="linDir" val="fromT"/>
                          </dgm:alg>
                          <dgm:shape xmlns:r="http://schemas.openxmlformats.org/officeDocument/2006/relationships" r:blip="">
                            <dgm:adjLst/>
                          </dgm:shape>
                          <dgm:presOf/>
                          <dgm:constrLst>
                            <dgm:constr type="w" for="ch" forName="txFour" refType="w" refFor="ch" refForName="horzFour" op="gte"/>
                          </dgm:constrLst>
                          <dgm:ruleLst/>
                          <dgm:layoutNode name="txFour">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25">
                            <dgm:if name="Name26" axis="des" ptType="node" func="cnt" op="gt" val="0">
                              <dgm:layoutNode name="parTransFour">
                                <dgm:alg type="sp"/>
                                <dgm:shape xmlns:r="http://schemas.openxmlformats.org/officeDocument/2006/relationships" r:blip="">
                                  <dgm:adjLst/>
                                </dgm:shape>
                                <dgm:presOf/>
                                <dgm:constrLst/>
                                <dgm:ruleLst/>
                              </dgm:layoutNode>
                            </dgm:if>
                            <dgm:else name="Name27"/>
                          </dgm:choose>
                          <dgm:layoutNode name="horzFour">
                            <dgm:choose name="Name28">
                              <dgm:if name="Name29" func="var" arg="dir" op="equ" val="norm">
                                <dgm:alg type="lin">
                                  <dgm:param type="linDir" val="fromL"/>
                                  <dgm:param type="nodeVertAlign" val="t"/>
                                </dgm:alg>
                              </dgm:if>
                              <dgm:else name="Name3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31" ref="repeat"/>
                          </dgm:layoutNode>
                        </dgm:layoutNode>
                        <dgm:choose name="Name32">
                          <dgm:if name="Name33" axis="self" ptType="node" func="revPos" op="gte" val="2">
                            <dgm:forEach name="Name34" axis="followSib" ptType="sibTrans" cnt="1">
                              <dgm:layoutNode name="sibSpaceFour">
                                <dgm:alg type="sp"/>
                                <dgm:shape xmlns:r="http://schemas.openxmlformats.org/officeDocument/2006/relationships" r:blip="">
                                  <dgm:adjLst/>
                                </dgm:shape>
                                <dgm:presOf/>
                                <dgm:constrLst/>
                                <dgm:ruleLst/>
                              </dgm:layoutNode>
                            </dgm:forEach>
                          </dgm:if>
                          <dgm:else name="Name35"/>
                        </dgm:choose>
                      </dgm:forEach>
                    </dgm:layoutNode>
                  </dgm:layoutNode>
                  <dgm:choose name="Name36">
                    <dgm:if name="Name37" axis="self" ptType="node" func="revPos" op="gte" val="2">
                      <dgm:forEach name="Name38" axis="followSib" ptType="sibTrans" cnt="1">
                        <dgm:layoutNode name="sibSpaceThree">
                          <dgm:alg type="sp"/>
                          <dgm:shape xmlns:r="http://schemas.openxmlformats.org/officeDocument/2006/relationships" r:blip="">
                            <dgm:adjLst/>
                          </dgm:shape>
                          <dgm:presOf/>
                          <dgm:constrLst/>
                          <dgm:ruleLst/>
                        </dgm:layoutNode>
                      </dgm:forEach>
                    </dgm:if>
                    <dgm:else name="Name39"/>
                  </dgm:choose>
                </dgm:forEach>
              </dgm:layoutNode>
            </dgm:layoutNode>
            <dgm:choose name="Name40">
              <dgm:if name="Name41" axis="self" ptType="node" func="revPos" op="gte" val="2">
                <dgm:forEach name="Name42" axis="followSib" ptType="sibTrans" cnt="1">
                  <dgm:layoutNode name="sibSpaceTwo">
                    <dgm:alg type="sp"/>
                    <dgm:shape xmlns:r="http://schemas.openxmlformats.org/officeDocument/2006/relationships" r:blip="">
                      <dgm:adjLst/>
                    </dgm:shape>
                    <dgm:presOf/>
                    <dgm:constrLst/>
                    <dgm:ruleLst/>
                  </dgm:layoutNode>
                </dgm:forEach>
              </dgm:if>
              <dgm:else name="Name43"/>
            </dgm:choose>
          </dgm:forEach>
        </dgm:layoutNode>
      </dgm:layoutNode>
      <dgm:choose name="Name44">
        <dgm:if name="Name45" axis="self" ptType="node" func="revPos" op="gte" val="2">
          <dgm:forEach name="Name46" axis="followSib" ptType="sibTrans" cnt="1">
            <dgm:layoutNode name="sibSpaceOne">
              <dgm:alg type="sp"/>
              <dgm:shape xmlns:r="http://schemas.openxmlformats.org/officeDocument/2006/relationships" r:blip="">
                <dgm:adjLst/>
              </dgm:shape>
              <dgm:presOf/>
              <dgm:constrLst/>
              <dgm:ruleLst/>
            </dgm:layoutNode>
          </dgm:forEach>
        </dgm:if>
        <dgm:else name="Name47"/>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hierarchy4">
  <dgm:title val=""/>
  <dgm:desc val=""/>
  <dgm:catLst>
    <dgm:cat type="hierarchy" pri="4000"/>
    <dgm:cat type="list" pri="24000"/>
    <dgm:cat type="relationship" pri="10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Name0">
    <dgm:varLst>
      <dgm:chPref val="1"/>
      <dgm:dir/>
      <dgm:animOne val="branch"/>
      <dgm:animLvl val="lvl"/>
      <dgm:resizeHandles/>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w" for="ch" forName="vertOne" refType="w"/>
      <dgm:constr type="w" for="des" forName="horzOne" refType="w"/>
      <dgm:constr type="w" for="des" forName="txOne" refType="w"/>
      <dgm:constr type="w" for="des" forName="vertTwo" refType="w"/>
      <dgm:constr type="w" for="des" forName="horzTwo" refType="w"/>
      <dgm:constr type="w" for="des" forName="txTwo" refType="w"/>
      <dgm:constr type="w" for="des" forName="vertThree" refType="w"/>
      <dgm:constr type="w" for="des" forName="horzThree" refType="w"/>
      <dgm:constr type="w" for="des" forName="txThree" refType="w"/>
      <dgm:constr type="w" for="des" forName="vertFour" refType="w"/>
      <dgm:constr type="w" for="des" forName="horzFour" refType="w"/>
      <dgm:constr type="w" for="des" forName="txFour" refType="w"/>
      <dgm:constr type="h" for="des" ptType="node" op="equ"/>
      <dgm:constr type="h" for="des" forName="txOne" refType="h"/>
      <dgm:constr type="userH" for="des" ptType="node" refType="h" refFor="des" refForName="txOne"/>
      <dgm:constr type="primFontSz" for="des" forName="txOne" val="65"/>
      <dgm:constr type="primFontSz" for="des" forName="txTwo" val="65"/>
      <dgm:constr type="primFontSz" for="des" forName="txTwo" refType="primFontSz" refFor="des" refForName="txOne" op="lte"/>
      <dgm:constr type="primFontSz" for="des" forName="txThree" val="65"/>
      <dgm:constr type="primFontSz" for="des" forName="txThree" refType="primFontSz" refFor="des" refForName="txOne" op="lte"/>
      <dgm:constr type="primFontSz" for="des" forName="txThree" refType="primFontSz" refFor="des" refForName="txTwo" op="lte"/>
      <dgm:constr type="primFontSz" for="des" forName="txFour" val="65"/>
      <dgm:constr type="primFontSz" for="des" forName="txFour" refType="primFontSz" refFor="des" refForName="txOne" op="lte"/>
      <dgm:constr type="primFontSz" for="des" forName="txFour" refType="primFontSz" refFor="des" refForName="txTwo" op="lte"/>
      <dgm:constr type="primFontSz" for="des" forName="txFour" refType="primFontSz" refFor="des" refForName="txThree" op="lte"/>
      <dgm:constr type="w" for="des" forName="sibSpaceOne" refType="w" fact="0.168"/>
      <dgm:constr type="w" for="des" forName="sibSpaceTwo" refType="w" refFor="des" refForName="sibSpaceOne" op="equ" fact="0.5"/>
      <dgm:constr type="w" for="des" forName="sibSpaceThree" refType="w" refFor="des" refForName="sibSpaceTwo" op="equ" fact="0.5"/>
      <dgm:constr type="w" for="des" forName="sibSpaceFour" refType="w" refFor="des" refForName="sibSpaceThree" op="equ" fact="0.5"/>
      <dgm:constr type="h" for="des" forName="parTransOne" refType="w" fact="0.056"/>
      <dgm:constr type="h" for="des" forName="parTransTwo" refType="h" refFor="des" refForName="parTransOne" op="equ"/>
      <dgm:constr type="h" for="des" forName="parTransThree" refType="h" refFor="des" refForName="parTransTwo" op="equ"/>
      <dgm:constr type="h" for="des" forName="parTransFour" refType="h" refFor="des" refForName="parTransThree" op="equ"/>
    </dgm:constrLst>
    <dgm:ruleLst/>
    <dgm:forEach name="Name4" axis="ch" ptType="node">
      <dgm:layoutNode name="vertOne">
        <dgm:alg type="lin">
          <dgm:param type="linDir" val="fromT"/>
        </dgm:alg>
        <dgm:shape xmlns:r="http://schemas.openxmlformats.org/officeDocument/2006/relationships" r:blip="">
          <dgm:adjLst/>
        </dgm:shape>
        <dgm:presOf/>
        <dgm:constrLst>
          <dgm:constr type="w" for="ch" forName="txOne" refType="w" refFor="ch" refForName="horzOne" op="gte"/>
        </dgm:constrLst>
        <dgm:ruleLst/>
        <dgm:layoutNode name="txOne" styleLbl="node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5">
          <dgm:if name="Name6" axis="des" ptType="node" func="cnt" op="gt" val="0">
            <dgm:layoutNode name="parTransOne">
              <dgm:alg type="sp"/>
              <dgm:shape xmlns:r="http://schemas.openxmlformats.org/officeDocument/2006/relationships" r:blip="">
                <dgm:adjLst/>
              </dgm:shape>
              <dgm:presOf/>
              <dgm:constrLst/>
              <dgm:ruleLst/>
            </dgm:layoutNode>
          </dgm:if>
          <dgm:else name="Name7"/>
        </dgm:choose>
        <dgm:layoutNode name="horzOne">
          <dgm:choose name="Name8">
            <dgm:if name="Name9" func="var" arg="dir" op="equ" val="norm">
              <dgm:alg type="lin">
                <dgm:param type="linDir" val="fromL"/>
                <dgm:param type="nodeVertAlign" val="t"/>
              </dgm:alg>
            </dgm:if>
            <dgm:else name="Name1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1" axis="ch" ptType="node">
            <dgm:layoutNode name="vertTwo">
              <dgm:alg type="lin">
                <dgm:param type="linDir" val="fromT"/>
              </dgm:alg>
              <dgm:shape xmlns:r="http://schemas.openxmlformats.org/officeDocument/2006/relationships" r:blip="">
                <dgm:adjLst/>
              </dgm:shape>
              <dgm:presOf/>
              <dgm:constrLst>
                <dgm:constr type="w" for="ch" forName="txTwo" refType="w" refFor="ch" refForName="horzTwo" op="gte"/>
              </dgm:constrLst>
              <dgm:ruleLst/>
              <dgm:layoutNode name="txTwo">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2">
                <dgm:if name="Name13" axis="des" ptType="node" func="cnt" op="gt" val="0">
                  <dgm:layoutNode name="parTransTwo">
                    <dgm:alg type="sp"/>
                    <dgm:shape xmlns:r="http://schemas.openxmlformats.org/officeDocument/2006/relationships" r:blip="">
                      <dgm:adjLst/>
                    </dgm:shape>
                    <dgm:presOf/>
                    <dgm:constrLst/>
                    <dgm:ruleLst/>
                  </dgm:layoutNode>
                </dgm:if>
                <dgm:else name="Name14"/>
              </dgm:choose>
              <dgm:layoutNode name="horzTwo">
                <dgm:choose name="Name15">
                  <dgm:if name="Name16" func="var" arg="dir" op="equ" val="norm">
                    <dgm:alg type="lin">
                      <dgm:param type="linDir" val="fromL"/>
                      <dgm:param type="nodeVertAlign" val="t"/>
                    </dgm:alg>
                  </dgm:if>
                  <dgm:else name="Name17">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8" axis="ch" ptType="node">
                  <dgm:layoutNode name="vertThree">
                    <dgm:alg type="lin">
                      <dgm:param type="linDir" val="fromT"/>
                    </dgm:alg>
                    <dgm:shape xmlns:r="http://schemas.openxmlformats.org/officeDocument/2006/relationships" r:blip="">
                      <dgm:adjLst/>
                    </dgm:shape>
                    <dgm:presOf/>
                    <dgm:constrLst>
                      <dgm:constr type="w" for="ch" forName="txThree" refType="w" refFor="ch" refForName="horzThree" op="gte"/>
                    </dgm:constrLst>
                    <dgm:ruleLst/>
                    <dgm:layoutNode name="txThree">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9">
                      <dgm:if name="Name20" axis="des" ptType="node" func="cnt" op="gt" val="0">
                        <dgm:layoutNode name="parTransThree">
                          <dgm:alg type="sp"/>
                          <dgm:shape xmlns:r="http://schemas.openxmlformats.org/officeDocument/2006/relationships" r:blip="">
                            <dgm:adjLst/>
                          </dgm:shape>
                          <dgm:presOf/>
                          <dgm:constrLst/>
                          <dgm:ruleLst/>
                        </dgm:layoutNode>
                      </dgm:if>
                      <dgm:else name="Name21"/>
                    </dgm:choose>
                    <dgm:layoutNode name="horzThree">
                      <dgm:choose name="Name22">
                        <dgm:if name="Name23" func="var" arg="dir" op="equ" val="norm">
                          <dgm:alg type="lin">
                            <dgm:param type="linDir" val="fromL"/>
                            <dgm:param type="nodeVertAlign" val="t"/>
                          </dgm:alg>
                        </dgm:if>
                        <dgm:else name="Name24">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repeat" axis="ch" ptType="node">
                        <dgm:layoutNode name="vertFour">
                          <dgm:varLst>
                            <dgm:chPref val="3"/>
                          </dgm:varLst>
                          <dgm:alg type="lin">
                            <dgm:param type="linDir" val="fromT"/>
                          </dgm:alg>
                          <dgm:shape xmlns:r="http://schemas.openxmlformats.org/officeDocument/2006/relationships" r:blip="">
                            <dgm:adjLst/>
                          </dgm:shape>
                          <dgm:presOf/>
                          <dgm:constrLst>
                            <dgm:constr type="w" for="ch" forName="txFour" refType="w" refFor="ch" refForName="horzFour" op="gte"/>
                          </dgm:constrLst>
                          <dgm:ruleLst/>
                          <dgm:layoutNode name="txFour">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25">
                            <dgm:if name="Name26" axis="des" ptType="node" func="cnt" op="gt" val="0">
                              <dgm:layoutNode name="parTransFour">
                                <dgm:alg type="sp"/>
                                <dgm:shape xmlns:r="http://schemas.openxmlformats.org/officeDocument/2006/relationships" r:blip="">
                                  <dgm:adjLst/>
                                </dgm:shape>
                                <dgm:presOf/>
                                <dgm:constrLst/>
                                <dgm:ruleLst/>
                              </dgm:layoutNode>
                            </dgm:if>
                            <dgm:else name="Name27"/>
                          </dgm:choose>
                          <dgm:layoutNode name="horzFour">
                            <dgm:choose name="Name28">
                              <dgm:if name="Name29" func="var" arg="dir" op="equ" val="norm">
                                <dgm:alg type="lin">
                                  <dgm:param type="linDir" val="fromL"/>
                                  <dgm:param type="nodeVertAlign" val="t"/>
                                </dgm:alg>
                              </dgm:if>
                              <dgm:else name="Name3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31" ref="repeat"/>
                          </dgm:layoutNode>
                        </dgm:layoutNode>
                        <dgm:choose name="Name32">
                          <dgm:if name="Name33" axis="self" ptType="node" func="revPos" op="gte" val="2">
                            <dgm:forEach name="Name34" axis="followSib" ptType="sibTrans" cnt="1">
                              <dgm:layoutNode name="sibSpaceFour">
                                <dgm:alg type="sp"/>
                                <dgm:shape xmlns:r="http://schemas.openxmlformats.org/officeDocument/2006/relationships" r:blip="">
                                  <dgm:adjLst/>
                                </dgm:shape>
                                <dgm:presOf/>
                                <dgm:constrLst/>
                                <dgm:ruleLst/>
                              </dgm:layoutNode>
                            </dgm:forEach>
                          </dgm:if>
                          <dgm:else name="Name35"/>
                        </dgm:choose>
                      </dgm:forEach>
                    </dgm:layoutNode>
                  </dgm:layoutNode>
                  <dgm:choose name="Name36">
                    <dgm:if name="Name37" axis="self" ptType="node" func="revPos" op="gte" val="2">
                      <dgm:forEach name="Name38" axis="followSib" ptType="sibTrans" cnt="1">
                        <dgm:layoutNode name="sibSpaceThree">
                          <dgm:alg type="sp"/>
                          <dgm:shape xmlns:r="http://schemas.openxmlformats.org/officeDocument/2006/relationships" r:blip="">
                            <dgm:adjLst/>
                          </dgm:shape>
                          <dgm:presOf/>
                          <dgm:constrLst/>
                          <dgm:ruleLst/>
                        </dgm:layoutNode>
                      </dgm:forEach>
                    </dgm:if>
                    <dgm:else name="Name39"/>
                  </dgm:choose>
                </dgm:forEach>
              </dgm:layoutNode>
            </dgm:layoutNode>
            <dgm:choose name="Name40">
              <dgm:if name="Name41" axis="self" ptType="node" func="revPos" op="gte" val="2">
                <dgm:forEach name="Name42" axis="followSib" ptType="sibTrans" cnt="1">
                  <dgm:layoutNode name="sibSpaceTwo">
                    <dgm:alg type="sp"/>
                    <dgm:shape xmlns:r="http://schemas.openxmlformats.org/officeDocument/2006/relationships" r:blip="">
                      <dgm:adjLst/>
                    </dgm:shape>
                    <dgm:presOf/>
                    <dgm:constrLst/>
                    <dgm:ruleLst/>
                  </dgm:layoutNode>
                </dgm:forEach>
              </dgm:if>
              <dgm:else name="Name43"/>
            </dgm:choose>
          </dgm:forEach>
        </dgm:layoutNode>
      </dgm:layoutNode>
      <dgm:choose name="Name44">
        <dgm:if name="Name45" axis="self" ptType="node" func="revPos" op="gte" val="2">
          <dgm:forEach name="Name46" axis="followSib" ptType="sibTrans" cnt="1">
            <dgm:layoutNode name="sibSpaceOne">
              <dgm:alg type="sp"/>
              <dgm:shape xmlns:r="http://schemas.openxmlformats.org/officeDocument/2006/relationships" r:blip="">
                <dgm:adjLst/>
              </dgm:shape>
              <dgm:presOf/>
              <dgm:constrLst/>
              <dgm:ruleLst/>
            </dgm:layoutNode>
          </dgm:forEach>
        </dgm:if>
        <dgm:else name="Name47"/>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Montserrat" panose="00000500000000000000" pitchFamily="2" charset="0"/>
                <a:ea typeface="微软雅黑 Light" panose="020B0502040204020203" pitchFamily="34" charset="-122"/>
              </a:defRPr>
            </a:lvl1pPr>
          </a:lstStyle>
          <a:p>
            <a:endParaRPr lang="zh-CN" altLang="en-US" dirty="0"/>
          </a:p>
        </p:txBody>
      </p:sp>
      <p:sp>
        <p:nvSpPr>
          <p:cNvPr id="3" name="日期占位符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Montserrat" panose="00000500000000000000" pitchFamily="2" charset="0"/>
                <a:ea typeface="微软雅黑 Light" panose="020B0502040204020203" pitchFamily="34" charset="-122"/>
              </a:defRPr>
            </a:lvl1pPr>
          </a:lstStyle>
          <a:p>
            <a:fld id="{E3F7A0F7-AD19-4993-8574-730EC50C92A6}" type="datetimeFigureOut">
              <a:rPr lang="zh-CN" altLang="en-US" smtClean="0"/>
              <a:pPr/>
              <a:t>2025/12/4</a:t>
            </a:fld>
            <a:endParaRPr lang="zh-CN" altLang="en-US" dirty="0"/>
          </a:p>
        </p:txBody>
      </p:sp>
      <p:sp>
        <p:nvSpPr>
          <p:cNvPr id="4" name="幻灯片图像占位符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zh-CN" altLang="en-US" dirty="0"/>
          </a:p>
        </p:txBody>
      </p:sp>
      <p:sp>
        <p:nvSpPr>
          <p:cNvPr id="5" name="备注占位符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atin typeface="Montserrat" panose="00000500000000000000" pitchFamily="2" charset="0"/>
                <a:ea typeface="微软雅黑 Light" panose="020B0502040204020203" pitchFamily="34" charset="-122"/>
              </a:defRPr>
            </a:lvl1pPr>
          </a:lstStyle>
          <a:p>
            <a:endParaRPr lang="zh-CN" altLang="en-US" dirty="0"/>
          </a:p>
        </p:txBody>
      </p:sp>
      <p:sp>
        <p:nvSpPr>
          <p:cNvPr id="7" name="灯片编号占位符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atin typeface="Montserrat" panose="00000500000000000000" pitchFamily="2" charset="0"/>
                <a:ea typeface="微软雅黑 Light" panose="020B0502040204020203" pitchFamily="34" charset="-122"/>
              </a:defRPr>
            </a:lvl1pPr>
          </a:lstStyle>
          <a:p>
            <a:fld id="{0B14BD24-89E3-4C51-B736-BCCE6C13A884}" type="slidenum">
              <a:rPr lang="zh-CN" altLang="en-US" smtClean="0"/>
              <a:pPr/>
              <a:t>‹#›</a:t>
            </a:fld>
            <a:endParaRPr lang="zh-CN" altLang="en-US" dirty="0"/>
          </a:p>
        </p:txBody>
      </p:sp>
    </p:spTree>
    <p:extLst>
      <p:ext uri="{BB962C8B-B14F-4D97-AF65-F5344CB8AC3E}">
        <p14:creationId xmlns:p14="http://schemas.microsoft.com/office/powerpoint/2010/main" val="21733730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ontserrat" panose="00000500000000000000" pitchFamily="2" charset="0"/>
        <a:ea typeface="微软雅黑 Light" panose="020B0502040204020203" pitchFamily="34" charset="-122"/>
        <a:cs typeface="+mn-cs"/>
      </a:defRPr>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19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3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4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4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4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4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4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24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25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25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25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25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263.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265.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27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27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1</a:t>
            </a:fld>
            <a:endParaRPr lang="zh-CN" altLang="en-US" dirty="0"/>
          </a:p>
        </p:txBody>
      </p:sp>
    </p:spTree>
    <p:extLst>
      <p:ext uri="{BB962C8B-B14F-4D97-AF65-F5344CB8AC3E}">
        <p14:creationId xmlns:p14="http://schemas.microsoft.com/office/powerpoint/2010/main" val="315420630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a:t>
            </a:fld>
            <a:endParaRPr lang="zh-CN" altLang="en-US"/>
          </a:p>
        </p:txBody>
      </p:sp>
    </p:spTree>
    <p:extLst>
      <p:ext uri="{BB962C8B-B14F-4D97-AF65-F5344CB8AC3E}">
        <p14:creationId xmlns:p14="http://schemas.microsoft.com/office/powerpoint/2010/main" val="418279445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a:t>
            </a:fld>
            <a:endParaRPr lang="zh-CN" altLang="en-US"/>
          </a:p>
        </p:txBody>
      </p:sp>
    </p:spTree>
    <p:extLst>
      <p:ext uri="{BB962C8B-B14F-4D97-AF65-F5344CB8AC3E}">
        <p14:creationId xmlns:p14="http://schemas.microsoft.com/office/powerpoint/2010/main" val="169478836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a:t>
            </a:fld>
            <a:endParaRPr lang="zh-CN" altLang="en-US"/>
          </a:p>
        </p:txBody>
      </p:sp>
    </p:spTree>
    <p:extLst>
      <p:ext uri="{BB962C8B-B14F-4D97-AF65-F5344CB8AC3E}">
        <p14:creationId xmlns:p14="http://schemas.microsoft.com/office/powerpoint/2010/main" val="102838178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a:t>
            </a:fld>
            <a:endParaRPr lang="zh-CN" altLang="en-US"/>
          </a:p>
        </p:txBody>
      </p:sp>
    </p:spTree>
    <p:extLst>
      <p:ext uri="{BB962C8B-B14F-4D97-AF65-F5344CB8AC3E}">
        <p14:creationId xmlns:p14="http://schemas.microsoft.com/office/powerpoint/2010/main" val="363534752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29</a:t>
            </a:fld>
            <a:endParaRPr lang="zh-CN" altLang="en-US"/>
          </a:p>
        </p:txBody>
      </p:sp>
    </p:spTree>
    <p:extLst>
      <p:ext uri="{BB962C8B-B14F-4D97-AF65-F5344CB8AC3E}">
        <p14:creationId xmlns:p14="http://schemas.microsoft.com/office/powerpoint/2010/main" val="40643043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42</a:t>
            </a:fld>
            <a:endParaRPr lang="zh-CN" altLang="en-US"/>
          </a:p>
        </p:txBody>
      </p:sp>
    </p:spTree>
    <p:extLst>
      <p:ext uri="{BB962C8B-B14F-4D97-AF65-F5344CB8AC3E}">
        <p14:creationId xmlns:p14="http://schemas.microsoft.com/office/powerpoint/2010/main" val="367118974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43</a:t>
            </a:fld>
            <a:endParaRPr lang="zh-CN" altLang="en-US"/>
          </a:p>
        </p:txBody>
      </p:sp>
    </p:spTree>
    <p:extLst>
      <p:ext uri="{BB962C8B-B14F-4D97-AF65-F5344CB8AC3E}">
        <p14:creationId xmlns:p14="http://schemas.microsoft.com/office/powerpoint/2010/main" val="386764472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76</a:t>
            </a:fld>
            <a:endParaRPr lang="zh-CN" altLang="en-US"/>
          </a:p>
        </p:txBody>
      </p:sp>
    </p:spTree>
    <p:extLst>
      <p:ext uri="{BB962C8B-B14F-4D97-AF65-F5344CB8AC3E}">
        <p14:creationId xmlns:p14="http://schemas.microsoft.com/office/powerpoint/2010/main" val="24156310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91</a:t>
            </a:fld>
            <a:endParaRPr lang="zh-CN" altLang="en-US"/>
          </a:p>
        </p:txBody>
      </p:sp>
    </p:spTree>
    <p:extLst>
      <p:ext uri="{BB962C8B-B14F-4D97-AF65-F5344CB8AC3E}">
        <p14:creationId xmlns:p14="http://schemas.microsoft.com/office/powerpoint/2010/main" val="246078783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96</a:t>
            </a:fld>
            <a:endParaRPr lang="zh-CN" altLang="en-US"/>
          </a:p>
        </p:txBody>
      </p:sp>
    </p:spTree>
    <p:extLst>
      <p:ext uri="{BB962C8B-B14F-4D97-AF65-F5344CB8AC3E}">
        <p14:creationId xmlns:p14="http://schemas.microsoft.com/office/powerpoint/2010/main" val="275881734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105</a:t>
            </a:fld>
            <a:endParaRPr lang="zh-CN" altLang="en-US"/>
          </a:p>
        </p:txBody>
      </p:sp>
    </p:spTree>
    <p:extLst>
      <p:ext uri="{BB962C8B-B14F-4D97-AF65-F5344CB8AC3E}">
        <p14:creationId xmlns:p14="http://schemas.microsoft.com/office/powerpoint/2010/main" val="137540969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121</a:t>
            </a:fld>
            <a:endParaRPr lang="zh-CN" altLang="en-US"/>
          </a:p>
        </p:txBody>
      </p:sp>
    </p:spTree>
    <p:extLst>
      <p:ext uri="{BB962C8B-B14F-4D97-AF65-F5344CB8AC3E}">
        <p14:creationId xmlns:p14="http://schemas.microsoft.com/office/powerpoint/2010/main" val="146090854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122</a:t>
            </a:fld>
            <a:endParaRPr lang="zh-CN" altLang="en-US"/>
          </a:p>
        </p:txBody>
      </p:sp>
    </p:spTree>
    <p:extLst>
      <p:ext uri="{BB962C8B-B14F-4D97-AF65-F5344CB8AC3E}">
        <p14:creationId xmlns:p14="http://schemas.microsoft.com/office/powerpoint/2010/main" val="171962389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123</a:t>
            </a:fld>
            <a:endParaRPr lang="zh-CN" altLang="en-US"/>
          </a:p>
        </p:txBody>
      </p:sp>
    </p:spTree>
    <p:extLst>
      <p:ext uri="{BB962C8B-B14F-4D97-AF65-F5344CB8AC3E}">
        <p14:creationId xmlns:p14="http://schemas.microsoft.com/office/powerpoint/2010/main" val="203247819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124</a:t>
            </a:fld>
            <a:endParaRPr lang="zh-CN" altLang="en-US"/>
          </a:p>
        </p:txBody>
      </p:sp>
    </p:spTree>
    <p:extLst>
      <p:ext uri="{BB962C8B-B14F-4D97-AF65-F5344CB8AC3E}">
        <p14:creationId xmlns:p14="http://schemas.microsoft.com/office/powerpoint/2010/main" val="216687154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125</a:t>
            </a:fld>
            <a:endParaRPr lang="zh-CN" altLang="en-US"/>
          </a:p>
        </p:txBody>
      </p:sp>
    </p:spTree>
    <p:extLst>
      <p:ext uri="{BB962C8B-B14F-4D97-AF65-F5344CB8AC3E}">
        <p14:creationId xmlns:p14="http://schemas.microsoft.com/office/powerpoint/2010/main" val="312849367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RFC 5322 </a:t>
            </a:r>
            <a:r>
              <a:rPr lang="zh-CN" altLang="en-US" dirty="0"/>
              <a:t>只规定了邮件内容中的首部 </a:t>
            </a:r>
            <a:r>
              <a:rPr lang="en-US" altLang="zh-CN" dirty="0"/>
              <a:t>(header) </a:t>
            </a:r>
            <a:r>
              <a:rPr lang="zh-CN" altLang="en-US" dirty="0"/>
              <a:t>格式</a:t>
            </a:r>
          </a:p>
          <a:p>
            <a:r>
              <a:rPr lang="zh-CN" altLang="en-US" dirty="0"/>
              <a:t>邮件的主体 </a:t>
            </a:r>
            <a:r>
              <a:rPr lang="en-US" altLang="zh-CN" dirty="0"/>
              <a:t>(body) </a:t>
            </a:r>
            <a:r>
              <a:rPr lang="zh-CN" altLang="en-US" dirty="0"/>
              <a:t>部分则让用户自由撰写</a:t>
            </a:r>
          </a:p>
          <a:p>
            <a:endParaRPr lang="zh-CN" altLang="en-US" dirty="0"/>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134</a:t>
            </a:fld>
            <a:endParaRPr lang="zh-CN" altLang="en-US" dirty="0"/>
          </a:p>
        </p:txBody>
      </p:sp>
    </p:spTree>
    <p:extLst>
      <p:ext uri="{BB962C8B-B14F-4D97-AF65-F5344CB8AC3E}">
        <p14:creationId xmlns:p14="http://schemas.microsoft.com/office/powerpoint/2010/main" val="110569624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发信人的用户代理向源邮件服务器发送邮件，以及源邮件服务器向目的邮件服务器发送邮件，都是使用 </a:t>
            </a:r>
            <a:r>
              <a:rPr lang="en-US" altLang="zh-CN" dirty="0"/>
              <a:t>SMTP </a:t>
            </a:r>
            <a:r>
              <a:rPr lang="zh-CN" altLang="en-US" dirty="0"/>
              <a:t>协议。</a:t>
            </a:r>
          </a:p>
          <a:p>
            <a:r>
              <a:rPr lang="zh-CN" altLang="en-US" dirty="0"/>
              <a:t>而 </a:t>
            </a:r>
            <a:r>
              <a:rPr lang="en-US" altLang="zh-CN" dirty="0"/>
              <a:t>POP </a:t>
            </a:r>
            <a:r>
              <a:rPr lang="zh-CN" altLang="en-US" dirty="0"/>
              <a:t>协议或 </a:t>
            </a:r>
            <a:r>
              <a:rPr lang="en-US" altLang="zh-CN" dirty="0"/>
              <a:t>IMAP </a:t>
            </a:r>
            <a:r>
              <a:rPr lang="zh-CN" altLang="en-US" dirty="0"/>
              <a:t>协议则是用户从目的邮件服务器上读取邮件所使用的协议。 </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138</a:t>
            </a:fld>
            <a:endParaRPr lang="zh-CN" altLang="en-US"/>
          </a:p>
        </p:txBody>
      </p:sp>
    </p:spTree>
    <p:extLst>
      <p:ext uri="{BB962C8B-B14F-4D97-AF65-F5344CB8AC3E}">
        <p14:creationId xmlns:p14="http://schemas.microsoft.com/office/powerpoint/2010/main" val="295563812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嵌套边界 </a:t>
            </a:r>
            <a:endParaRPr lang="en-US" altLang="zh-CN" dirty="0"/>
          </a:p>
          <a:p>
            <a:r>
              <a:rPr lang="en-US" altLang="zh-CN" dirty="0"/>
              <a:t>343</a:t>
            </a:r>
          </a:p>
          <a:p>
            <a:r>
              <a:rPr lang="en-US" altLang="zh-CN" dirty="0"/>
              <a:t>44D</a:t>
            </a:r>
          </a:p>
          <a:p>
            <a:r>
              <a:rPr lang="en-US" altLang="zh-CN" dirty="0"/>
              <a:t>44D--</a:t>
            </a:r>
          </a:p>
          <a:p>
            <a:r>
              <a:rPr lang="en-US" altLang="zh-CN" dirty="0"/>
              <a:t>343--</a:t>
            </a:r>
          </a:p>
          <a:p>
            <a:r>
              <a:rPr lang="zh-CN" altLang="en-US" dirty="0"/>
              <a:t>安全策略	邮件客户端不想让外部程序自动渲染未知类型，防止 </a:t>
            </a:r>
            <a:r>
              <a:rPr lang="en-US" altLang="zh-CN" dirty="0"/>
              <a:t>XSS </a:t>
            </a:r>
            <a:r>
              <a:rPr lang="zh-CN" altLang="en-US" dirty="0"/>
              <a:t>或恶意代码执行</a:t>
            </a:r>
          </a:p>
          <a:p>
            <a:r>
              <a:rPr lang="zh-CN" altLang="en-US" dirty="0"/>
              <a:t>类型检测失败	客户端未读取文件头（</a:t>
            </a:r>
            <a:r>
              <a:rPr lang="en-US" altLang="zh-CN" dirty="0"/>
              <a:t>magic number</a:t>
            </a:r>
            <a:r>
              <a:rPr lang="zh-CN" altLang="en-US" dirty="0"/>
              <a:t>），只看了扩展名，但认为不可靠</a:t>
            </a:r>
          </a:p>
          <a:p>
            <a:r>
              <a:rPr lang="zh-CN" altLang="en-US" dirty="0"/>
              <a:t>统一处理机制	某些邮箱（如 </a:t>
            </a:r>
            <a:r>
              <a:rPr lang="en-US" altLang="zh-CN" dirty="0"/>
              <a:t>QQ </a:t>
            </a:r>
            <a:r>
              <a:rPr lang="zh-CN" altLang="en-US" dirty="0"/>
              <a:t>邮箱）对所有附件默认设为 </a:t>
            </a:r>
            <a:r>
              <a:rPr lang="en-US" altLang="zh-CN" dirty="0"/>
              <a:t>octet-stream</a:t>
            </a:r>
            <a:r>
              <a:rPr lang="zh-CN" altLang="en-US" dirty="0"/>
              <a:t>，简化逻辑</a:t>
            </a:r>
          </a:p>
          <a:p>
            <a:r>
              <a:rPr lang="zh-CN" altLang="en-US" dirty="0"/>
              <a:t>历史兼容性	早期邮件系统不支持复杂 </a:t>
            </a:r>
            <a:r>
              <a:rPr lang="en-US" altLang="zh-CN" dirty="0"/>
              <a:t>MIME </a:t>
            </a:r>
            <a:r>
              <a:rPr lang="zh-CN" altLang="en-US" dirty="0"/>
              <a:t>类型，所以用通用类型</a:t>
            </a:r>
            <a:endParaRPr lang="en-US" altLang="zh-CN" dirty="0"/>
          </a:p>
          <a:p>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PGN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b="0" i="0" kern="1200" dirty="0">
                <a:solidFill>
                  <a:schemeClr val="tx1"/>
                </a:solidFill>
                <a:effectLst/>
                <a:latin typeface="Montserrat" panose="00000500000000000000" pitchFamily="2" charset="0"/>
                <a:ea typeface="微软雅黑 Light" panose="020B0502040204020203" pitchFamily="34" charset="-122"/>
                <a:cs typeface="+mn-cs"/>
              </a:rPr>
              <a:t>iVBORw0KGgoAAAANSUhEUg...</a:t>
            </a:r>
          </a:p>
          <a:p>
            <a:endParaRPr lang="zh-CN" altLang="en-US" dirty="0"/>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150</a:t>
            </a:fld>
            <a:endParaRPr lang="zh-CN" altLang="en-US" dirty="0"/>
          </a:p>
        </p:txBody>
      </p:sp>
    </p:spTree>
    <p:extLst>
      <p:ext uri="{BB962C8B-B14F-4D97-AF65-F5344CB8AC3E}">
        <p14:creationId xmlns:p14="http://schemas.microsoft.com/office/powerpoint/2010/main" val="185425617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154</a:t>
            </a:fld>
            <a:endParaRPr lang="zh-CN" altLang="en-US" dirty="0"/>
          </a:p>
        </p:txBody>
      </p:sp>
    </p:spTree>
    <p:extLst>
      <p:ext uri="{BB962C8B-B14F-4D97-AF65-F5344CB8AC3E}">
        <p14:creationId xmlns:p14="http://schemas.microsoft.com/office/powerpoint/2010/main" val="115200593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156</a:t>
            </a:fld>
            <a:endParaRPr lang="zh-CN" altLang="en-US" dirty="0"/>
          </a:p>
        </p:txBody>
      </p:sp>
    </p:spTree>
    <p:extLst>
      <p:ext uri="{BB962C8B-B14F-4D97-AF65-F5344CB8AC3E}">
        <p14:creationId xmlns:p14="http://schemas.microsoft.com/office/powerpoint/2010/main" val="34584787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193</a:t>
            </a:fld>
            <a:endParaRPr lang="zh-CN" altLang="en-US"/>
          </a:p>
        </p:txBody>
      </p:sp>
    </p:spTree>
    <p:extLst>
      <p:ext uri="{BB962C8B-B14F-4D97-AF65-F5344CB8AC3E}">
        <p14:creationId xmlns:p14="http://schemas.microsoft.com/office/powerpoint/2010/main" val="125051074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en-US" altLang="zh-CN"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239</a:t>
            </a:fld>
            <a:endParaRPr lang="zh-CN" altLang="en-US"/>
          </a:p>
        </p:txBody>
      </p:sp>
    </p:spTree>
    <p:extLst>
      <p:ext uri="{BB962C8B-B14F-4D97-AF65-F5344CB8AC3E}">
        <p14:creationId xmlns:p14="http://schemas.microsoft.com/office/powerpoint/2010/main" val="74260838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240</a:t>
            </a:fld>
            <a:endParaRPr lang="zh-CN" altLang="en-US"/>
          </a:p>
        </p:txBody>
      </p:sp>
    </p:spTree>
    <p:extLst>
      <p:ext uri="{BB962C8B-B14F-4D97-AF65-F5344CB8AC3E}">
        <p14:creationId xmlns:p14="http://schemas.microsoft.com/office/powerpoint/2010/main" val="179358934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241</a:t>
            </a:fld>
            <a:endParaRPr lang="zh-CN" altLang="en-US"/>
          </a:p>
        </p:txBody>
      </p:sp>
    </p:spTree>
    <p:extLst>
      <p:ext uri="{BB962C8B-B14F-4D97-AF65-F5344CB8AC3E}">
        <p14:creationId xmlns:p14="http://schemas.microsoft.com/office/powerpoint/2010/main" val="395845275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UDP</a:t>
            </a:r>
            <a:r>
              <a:rPr lang="zh-CN" altLang="en-US" dirty="0"/>
              <a:t>服务器由于只提供无连接服务，因此不使用</a:t>
            </a:r>
            <a:r>
              <a:rPr lang="en-US" altLang="zh-CN" dirty="0"/>
              <a:t>listen</a:t>
            </a:r>
            <a:r>
              <a:rPr lang="zh-CN" altLang="en-US" dirty="0"/>
              <a:t>和</a:t>
            </a:r>
            <a:r>
              <a:rPr lang="en-US" altLang="zh-CN" dirty="0"/>
              <a:t>accept</a:t>
            </a:r>
            <a:r>
              <a:rPr lang="zh-CN" altLang="en-US" dirty="0"/>
              <a:t>系统调用。</a:t>
            </a:r>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242</a:t>
            </a:fld>
            <a:endParaRPr lang="zh-CN" altLang="en-US"/>
          </a:p>
        </p:txBody>
      </p:sp>
    </p:spTree>
    <p:extLst>
      <p:ext uri="{BB962C8B-B14F-4D97-AF65-F5344CB8AC3E}">
        <p14:creationId xmlns:p14="http://schemas.microsoft.com/office/powerpoint/2010/main" val="61710349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在</a:t>
            </a:r>
            <a:r>
              <a:rPr lang="en-US" altLang="zh-CN" dirty="0"/>
              <a:t>connect</a:t>
            </a:r>
            <a:r>
              <a:rPr lang="zh-CN" altLang="en-US" dirty="0"/>
              <a:t>系统调用中，客户必须指明远地端点（即远地服务器的</a:t>
            </a:r>
            <a:r>
              <a:rPr lang="en-US" altLang="zh-CN" dirty="0"/>
              <a:t>IP</a:t>
            </a:r>
            <a:r>
              <a:rPr lang="zh-CN" altLang="en-US" dirty="0"/>
              <a:t>地址和端口号）。</a:t>
            </a:r>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244</a:t>
            </a:fld>
            <a:endParaRPr lang="zh-CN" altLang="en-US"/>
          </a:p>
        </p:txBody>
      </p:sp>
    </p:spTree>
    <p:extLst>
      <p:ext uri="{BB962C8B-B14F-4D97-AF65-F5344CB8AC3E}">
        <p14:creationId xmlns:p14="http://schemas.microsoft.com/office/powerpoint/2010/main" val="266604003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调用用</a:t>
            </a:r>
            <a:r>
              <a:rPr lang="en-US" altLang="zh-CN" dirty="0"/>
              <a:t>send</a:t>
            </a:r>
            <a:r>
              <a:rPr lang="zh-CN" altLang="en-US" dirty="0"/>
              <a:t>需要三个变量：数据要发往的套接字的描述符、要发送的数据的地址以及数据的长度。</a:t>
            </a:r>
            <a:endParaRPr lang="en-US" altLang="zh-CN" dirty="0"/>
          </a:p>
          <a:p>
            <a:r>
              <a:rPr lang="zh-CN" altLang="en-US" dirty="0"/>
              <a:t>通常</a:t>
            </a:r>
            <a:r>
              <a:rPr lang="en-US" altLang="zh-CN" dirty="0"/>
              <a:t>send</a:t>
            </a:r>
            <a:r>
              <a:rPr lang="zh-CN" altLang="en-US" dirty="0"/>
              <a:t>调用把数据复制到操作系统内核的缓存中。若系统的缓存已满，</a:t>
            </a:r>
            <a:r>
              <a:rPr lang="en-US" altLang="zh-CN" dirty="0"/>
              <a:t>send</a:t>
            </a:r>
            <a:r>
              <a:rPr lang="zh-CN" altLang="en-US" dirty="0"/>
              <a:t>就暂时阻塞，直到缓存有空间存放新的数据。</a:t>
            </a:r>
          </a:p>
          <a:p>
            <a:endParaRPr lang="en-US" altLang="zh-CN" dirty="0"/>
          </a:p>
          <a:p>
            <a:r>
              <a:rPr lang="zh-CN" altLang="en-US" dirty="0"/>
              <a:t>调用</a:t>
            </a:r>
            <a:r>
              <a:rPr lang="en-US" altLang="zh-CN" dirty="0" err="1"/>
              <a:t>recv</a:t>
            </a:r>
            <a:r>
              <a:rPr lang="zh-CN" altLang="en-US" dirty="0"/>
              <a:t>也需要三个变量：要使用的套接字的描述符、缓存的地址以及缓存空间的长度。</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245</a:t>
            </a:fld>
            <a:endParaRPr lang="zh-CN" altLang="en-US"/>
          </a:p>
        </p:txBody>
      </p:sp>
    </p:spTree>
    <p:extLst>
      <p:ext uri="{BB962C8B-B14F-4D97-AF65-F5344CB8AC3E}">
        <p14:creationId xmlns:p14="http://schemas.microsoft.com/office/powerpoint/2010/main" val="262773458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246</a:t>
            </a:fld>
            <a:endParaRPr lang="zh-CN" altLang="en-US"/>
          </a:p>
        </p:txBody>
      </p:sp>
    </p:spTree>
    <p:extLst>
      <p:ext uri="{BB962C8B-B14F-4D97-AF65-F5344CB8AC3E}">
        <p14:creationId xmlns:p14="http://schemas.microsoft.com/office/powerpoint/2010/main" val="29563296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dirty="0">
                <a:latin typeface="Montserrat" panose="00000500000000000000" pitchFamily="2" charset="0"/>
                <a:ea typeface="微软雅黑 Light" panose="020B0502040204020203" pitchFamily="34" charset="-122"/>
              </a:rPr>
              <a:t>1. </a:t>
            </a:r>
            <a:r>
              <a:rPr lang="zh-CN" altLang="en-US" sz="1200" dirty="0">
                <a:latin typeface="Montserrat" panose="00000500000000000000" pitchFamily="2" charset="0"/>
                <a:ea typeface="微软雅黑 Light" panose="020B0502040204020203" pitchFamily="34" charset="-122"/>
              </a:rPr>
              <a:t>用户 </a:t>
            </a:r>
            <a:r>
              <a:rPr lang="en-US" altLang="zh-CN" sz="1200" dirty="0">
                <a:latin typeface="Montserrat" panose="00000500000000000000" pitchFamily="2" charset="0"/>
                <a:ea typeface="微软雅黑 Light" panose="020B0502040204020203" pitchFamily="34" charset="-122"/>
              </a:rPr>
              <a:t>X </a:t>
            </a:r>
            <a:r>
              <a:rPr lang="zh-CN" altLang="en-US" sz="1200" dirty="0">
                <a:latin typeface="Montserrat" panose="00000500000000000000" pitchFamily="2" charset="0"/>
                <a:ea typeface="微软雅黑 Light" panose="020B0502040204020203" pitchFamily="34" charset="-122"/>
              </a:rPr>
              <a:t>向 </a:t>
            </a:r>
            <a:r>
              <a:rPr lang="en-US" altLang="zh-CN" sz="1200" dirty="0">
                <a:latin typeface="Montserrat" panose="00000500000000000000" pitchFamily="2" charset="0"/>
                <a:ea typeface="微软雅黑 Light" panose="020B0502040204020203" pitchFamily="34" charset="-122"/>
              </a:rPr>
              <a:t>Napster </a:t>
            </a:r>
            <a:r>
              <a:rPr lang="zh-CN" altLang="en-US" sz="1200" dirty="0">
                <a:latin typeface="Montserrat" panose="00000500000000000000" pitchFamily="2" charset="0"/>
                <a:ea typeface="微软雅黑 Light" panose="020B0502040204020203" pitchFamily="34" charset="-122"/>
              </a:rPr>
              <a:t>目录服务器查询（采用客户</a:t>
            </a:r>
            <a:r>
              <a:rPr lang="en-US" altLang="zh-CN" sz="1200" dirty="0">
                <a:latin typeface="Montserrat" panose="00000500000000000000" pitchFamily="2" charset="0"/>
                <a:ea typeface="微软雅黑 Light" panose="020B0502040204020203" pitchFamily="34" charset="-122"/>
              </a:rPr>
              <a:t>/</a:t>
            </a:r>
            <a:r>
              <a:rPr lang="zh-CN" altLang="en-US" sz="1200" dirty="0">
                <a:latin typeface="Montserrat" panose="00000500000000000000" pitchFamily="2" charset="0"/>
                <a:ea typeface="微软雅黑 Light" panose="020B0502040204020203" pitchFamily="34" charset="-122"/>
              </a:rPr>
              <a:t>服务器方式）：谁有音乐文件 </a:t>
            </a:r>
            <a:r>
              <a:rPr lang="en-US" altLang="zh-CN" sz="1200" dirty="0">
                <a:latin typeface="Montserrat" panose="00000500000000000000" pitchFamily="2" charset="0"/>
                <a:ea typeface="微软雅黑 Light" panose="020B0502040204020203" pitchFamily="34" charset="-122"/>
              </a:rPr>
              <a:t>MP3#</a:t>
            </a:r>
            <a:endParaRPr lang="zh-CN" altLang="en-US" sz="1200" dirty="0">
              <a:latin typeface="Montserrat" panose="00000500000000000000" pitchFamily="2" charset="0"/>
              <a:ea typeface="微软雅黑 Light" panose="020B0502040204020203" pitchFamily="34" charset="-12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dirty="0"/>
              <a:t>2. Napster </a:t>
            </a:r>
            <a:r>
              <a:rPr lang="zh-CN" altLang="en-US" sz="1200" dirty="0"/>
              <a:t>目录服务器回答 </a:t>
            </a:r>
            <a:r>
              <a:rPr lang="en-US" altLang="zh-CN" sz="1200" dirty="0"/>
              <a:t>X</a:t>
            </a:r>
            <a:r>
              <a:rPr lang="zh-CN" altLang="en-US" sz="1200" dirty="0"/>
              <a:t>：有三个地点有文件 </a:t>
            </a:r>
            <a:r>
              <a:rPr lang="en-US" altLang="zh-CN" sz="1200" dirty="0"/>
              <a:t>MP3#</a:t>
            </a:r>
            <a:r>
              <a:rPr lang="zh-CN" altLang="en-US" sz="1200" dirty="0"/>
              <a:t>，即 </a:t>
            </a:r>
            <a:r>
              <a:rPr lang="en-US" altLang="zh-CN" sz="1200" dirty="0"/>
              <a:t>A, B </a:t>
            </a:r>
            <a:r>
              <a:rPr lang="zh-CN" altLang="en-US" sz="1200" dirty="0"/>
              <a:t>和 </a:t>
            </a:r>
            <a:r>
              <a:rPr lang="en-US" altLang="zh-CN" sz="1200" dirty="0"/>
              <a:t>C</a:t>
            </a:r>
            <a:r>
              <a:rPr lang="zh-CN" altLang="en-US" sz="1200" dirty="0"/>
              <a:t>，给出了这三个地点的 </a:t>
            </a:r>
            <a:r>
              <a:rPr lang="en-US" altLang="zh-CN" sz="1200" dirty="0"/>
              <a:t>IP </a:t>
            </a:r>
            <a:r>
              <a:rPr lang="zh-CN" altLang="en-US" sz="1200" dirty="0"/>
              <a:t>地址；用户 </a:t>
            </a:r>
            <a:r>
              <a:rPr lang="en-US" altLang="zh-CN" sz="1200" dirty="0"/>
              <a:t>X </a:t>
            </a:r>
            <a:r>
              <a:rPr lang="zh-CN" altLang="en-US" sz="1200" dirty="0"/>
              <a:t>得知文件 </a:t>
            </a:r>
            <a:r>
              <a:rPr lang="en-US" altLang="zh-CN" sz="1200" dirty="0"/>
              <a:t>MP3# </a:t>
            </a:r>
            <a:r>
              <a:rPr lang="zh-CN" altLang="en-US" sz="1200" dirty="0"/>
              <a:t>的三个下载地点</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dirty="0"/>
              <a:t>3.</a:t>
            </a:r>
            <a:r>
              <a:rPr lang="zh-CN" altLang="en-US" sz="1200" dirty="0"/>
              <a:t> 用户 </a:t>
            </a:r>
            <a:r>
              <a:rPr lang="en-US" altLang="zh-CN" sz="1200" dirty="0"/>
              <a:t>X </a:t>
            </a:r>
            <a:r>
              <a:rPr lang="zh-CN" altLang="en-US" sz="1200" dirty="0"/>
              <a:t>可以随机地选择三个地点中的任一个。假定 </a:t>
            </a:r>
            <a:r>
              <a:rPr lang="en-US" altLang="zh-CN" sz="1200" dirty="0"/>
              <a:t>X </a:t>
            </a:r>
            <a:r>
              <a:rPr lang="zh-CN" altLang="en-US" sz="1200" dirty="0"/>
              <a:t>向 </a:t>
            </a:r>
            <a:r>
              <a:rPr lang="en-US" altLang="zh-CN" sz="1200" dirty="0"/>
              <a:t>A </a:t>
            </a:r>
            <a:r>
              <a:rPr lang="zh-CN" altLang="en-US" sz="1200" dirty="0"/>
              <a:t>发送下载文件 </a:t>
            </a:r>
            <a:r>
              <a:rPr lang="en-US" altLang="zh-CN" sz="1200" dirty="0"/>
              <a:t>MP3# </a:t>
            </a:r>
            <a:r>
              <a:rPr lang="zh-CN" altLang="en-US" sz="1200" dirty="0"/>
              <a:t>的请求报文。双方都使用 </a:t>
            </a:r>
            <a:r>
              <a:rPr lang="en-US" altLang="zh-CN" sz="1200" dirty="0"/>
              <a:t>P2P </a:t>
            </a:r>
            <a:r>
              <a:rPr lang="zh-CN" altLang="en-US" sz="1200" dirty="0"/>
              <a:t>方式通信</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dirty="0"/>
              <a:t>4. </a:t>
            </a:r>
            <a:r>
              <a:rPr lang="zh-CN" altLang="en-US" sz="1200" dirty="0"/>
              <a:t>对等方 </a:t>
            </a:r>
            <a:r>
              <a:rPr lang="en-US" altLang="zh-CN" sz="1200" dirty="0"/>
              <a:t>A</a:t>
            </a:r>
            <a:r>
              <a:rPr lang="zh-CN" altLang="en-US" sz="1200" dirty="0"/>
              <a:t>（现在作为服务器）把文件 </a:t>
            </a:r>
            <a:r>
              <a:rPr lang="en-US" altLang="zh-CN" sz="1200" dirty="0"/>
              <a:t>MP3# </a:t>
            </a:r>
            <a:r>
              <a:rPr lang="zh-CN" altLang="en-US" sz="1200" dirty="0"/>
              <a:t>发送给 </a:t>
            </a:r>
            <a:r>
              <a:rPr lang="en-US" altLang="zh-CN" sz="1200" dirty="0"/>
              <a:t>X</a:t>
            </a:r>
            <a:endParaRPr lang="zh-CN" altLang="en-US" sz="1200" dirty="0"/>
          </a:p>
          <a:p>
            <a:endParaRPr lang="zh-CN" altLang="en-US" dirty="0"/>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251</a:t>
            </a:fld>
            <a:endParaRPr lang="zh-CN" altLang="en-US" dirty="0"/>
          </a:p>
        </p:txBody>
      </p:sp>
    </p:spTree>
    <p:extLst>
      <p:ext uri="{BB962C8B-B14F-4D97-AF65-F5344CB8AC3E}">
        <p14:creationId xmlns:p14="http://schemas.microsoft.com/office/powerpoint/2010/main" val="339645791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lvl="1"/>
            <a:r>
              <a:rPr lang="zh-CN" altLang="en-US" dirty="0"/>
              <a:t>一旦目录服务器宕机、遭受攻击或被关闭，整个系统将无法进行文件定位，导致服务完全瘫痪</a:t>
            </a:r>
            <a:endParaRPr lang="en-US" altLang="zh-CN" dirty="0"/>
          </a:p>
          <a:p>
            <a:pPr lvl="1"/>
            <a:r>
              <a:rPr lang="zh-CN" altLang="en-US" dirty="0"/>
              <a:t>高度依赖中心节点，违背了真正 </a:t>
            </a:r>
            <a:r>
              <a:rPr lang="en-US" altLang="zh-CN" dirty="0"/>
              <a:t>P2P </a:t>
            </a:r>
            <a:r>
              <a:rPr lang="zh-CN" altLang="en-US" dirty="0"/>
              <a:t>网络去中心化、高容错的设计初衷</a:t>
            </a:r>
            <a:endParaRPr lang="en-US" altLang="zh-CN" dirty="0"/>
          </a:p>
          <a:p>
            <a:endParaRPr lang="en-US" altLang="zh-CN" dirty="0"/>
          </a:p>
          <a:p>
            <a:pPr lvl="1"/>
            <a:r>
              <a:rPr lang="zh-CN" altLang="en-US" dirty="0"/>
              <a:t>目录服务器负载过高</a:t>
            </a:r>
            <a:endParaRPr lang="en-US" altLang="zh-CN" dirty="0"/>
          </a:p>
          <a:p>
            <a:pPr lvl="1"/>
            <a:r>
              <a:rPr lang="zh-CN" altLang="en-US" dirty="0"/>
              <a:t>扩展性差：集中式架构难以水平扩展。即使增加服务器数量，仍需复杂的负载均衡和数据同步机制</a:t>
            </a:r>
            <a:endParaRPr lang="en-US" altLang="zh-CN" dirty="0"/>
          </a:p>
          <a:p>
            <a:pPr lvl="1"/>
            <a:endParaRPr lang="en-US" altLang="zh-CN" dirty="0"/>
          </a:p>
          <a:p>
            <a:pPr lvl="1"/>
            <a:r>
              <a:rPr lang="zh-CN" altLang="en-US" dirty="0"/>
              <a:t>大规模传播盗版内容：用户上传和下载的 </a:t>
            </a:r>
            <a:r>
              <a:rPr lang="en-US" altLang="zh-CN" dirty="0"/>
              <a:t>MP3 </a:t>
            </a:r>
            <a:r>
              <a:rPr lang="zh-CN" altLang="en-US" dirty="0"/>
              <a:t>多为未经版权授权的商业音乐，</a:t>
            </a:r>
            <a:r>
              <a:rPr lang="en-US" altLang="zh-CN" dirty="0"/>
              <a:t>Napster </a:t>
            </a:r>
            <a:r>
              <a:rPr lang="zh-CN" altLang="en-US" dirty="0"/>
              <a:t>虽不直接存储音乐文件，但其平台设计实质性促成了侵权行为</a:t>
            </a:r>
          </a:p>
          <a:p>
            <a:pPr lvl="1"/>
            <a:r>
              <a:rPr lang="zh-CN" altLang="en-US" dirty="0"/>
              <a:t>法律责任明确：在 </a:t>
            </a:r>
            <a:r>
              <a:rPr lang="en-US" altLang="zh-CN" dirty="0"/>
              <a:t>2001 </a:t>
            </a:r>
            <a:r>
              <a:rPr lang="zh-CN" altLang="en-US" dirty="0"/>
              <a:t>年 </a:t>
            </a:r>
            <a:r>
              <a:rPr lang="en-US" altLang="zh-CN" dirty="0"/>
              <a:t>A&amp;M Records v. Napster </a:t>
            </a:r>
            <a:r>
              <a:rPr lang="zh-CN" altLang="en-US" dirty="0"/>
              <a:t>案中，美国法院裁定 </a:t>
            </a:r>
            <a:r>
              <a:rPr lang="en-US" altLang="zh-CN" dirty="0"/>
              <a:t>Napster </a:t>
            </a:r>
            <a:r>
              <a:rPr lang="zh-CN" altLang="en-US" dirty="0"/>
              <a:t>对用户侵权行为构成“辅助侵权”（</a:t>
            </a:r>
            <a:r>
              <a:rPr lang="en-US" altLang="zh-CN" dirty="0"/>
              <a:t>contributory infringement</a:t>
            </a:r>
            <a:r>
              <a:rPr lang="zh-CN" altLang="en-US" dirty="0"/>
              <a:t>）和“代位侵权”（</a:t>
            </a:r>
            <a:r>
              <a:rPr lang="en-US" altLang="zh-CN" dirty="0"/>
              <a:t>vicarious infringement</a:t>
            </a:r>
            <a:r>
              <a:rPr lang="zh-CN" altLang="en-US" dirty="0"/>
              <a:t>），因其有能力监督并从中获利却未采取措施阻止侵权</a:t>
            </a:r>
          </a:p>
          <a:p>
            <a:pPr lvl="1"/>
            <a:r>
              <a:rPr lang="zh-CN" altLang="en-US" dirty="0"/>
              <a:t>商业模式不可持续：缺乏与唱片公司、艺术家的合作机制，导致法律诉讼不断，最终被迫关停核心服务</a:t>
            </a:r>
          </a:p>
          <a:p>
            <a:pPr lvl="1"/>
            <a:endParaRPr lang="zh-CN" altLang="en-US" dirty="0"/>
          </a:p>
          <a:p>
            <a:endParaRPr lang="zh-CN" altLang="en-US" dirty="0"/>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252</a:t>
            </a:fld>
            <a:endParaRPr lang="zh-CN" altLang="en-US" dirty="0"/>
          </a:p>
        </p:txBody>
      </p:sp>
    </p:spTree>
    <p:extLst>
      <p:ext uri="{BB962C8B-B14F-4D97-AF65-F5344CB8AC3E}">
        <p14:creationId xmlns:p14="http://schemas.microsoft.com/office/powerpoint/2010/main" val="8471061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256</a:t>
            </a:fld>
            <a:endParaRPr lang="zh-CN" altLang="en-US"/>
          </a:p>
        </p:txBody>
      </p:sp>
    </p:spTree>
    <p:extLst>
      <p:ext uri="{BB962C8B-B14F-4D97-AF65-F5344CB8AC3E}">
        <p14:creationId xmlns:p14="http://schemas.microsoft.com/office/powerpoint/2010/main" val="37568632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257</a:t>
            </a:fld>
            <a:endParaRPr lang="zh-CN" altLang="en-US"/>
          </a:p>
        </p:txBody>
      </p:sp>
    </p:spTree>
    <p:extLst>
      <p:ext uri="{BB962C8B-B14F-4D97-AF65-F5344CB8AC3E}">
        <p14:creationId xmlns:p14="http://schemas.microsoft.com/office/powerpoint/2010/main" val="42469671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algn="just">
              <a:lnSpc>
                <a:spcPct val="150000"/>
              </a:lnSpc>
            </a:pPr>
            <a:r>
              <a:rPr lang="en-US" altLang="zh-CN" sz="1200" dirty="0">
                <a:latin typeface="Montserrat" panose="00000500000000000000" pitchFamily="2" charset="0"/>
                <a:ea typeface="微软雅黑 Light" panose="020B0502040204020203" pitchFamily="34" charset="-122"/>
              </a:rPr>
              <a:t>c/s</a:t>
            </a:r>
          </a:p>
          <a:p>
            <a:pPr algn="just">
              <a:lnSpc>
                <a:spcPct val="150000"/>
              </a:lnSpc>
            </a:pPr>
            <a:r>
              <a:rPr lang="zh-CN" altLang="en-US" sz="1200" dirty="0">
                <a:latin typeface="Montserrat" panose="00000500000000000000" pitchFamily="2" charset="0"/>
                <a:ea typeface="微软雅黑 Light" panose="020B0502040204020203" pitchFamily="34" charset="-122"/>
              </a:rPr>
              <a:t>设所有的对等方的上传速率都是 </a:t>
            </a:r>
            <a:r>
              <a:rPr lang="en-US" altLang="zh-CN" sz="1200" dirty="0">
                <a:latin typeface="Montserrat" panose="00000500000000000000" pitchFamily="2" charset="0"/>
                <a:ea typeface="微软雅黑 Light" panose="020B0502040204020203" pitchFamily="34" charset="-122"/>
              </a:rPr>
              <a:t>u</a:t>
            </a:r>
            <a:r>
              <a:rPr lang="zh-CN" altLang="en-US" sz="1200" dirty="0">
                <a:latin typeface="Montserrat" panose="00000500000000000000" pitchFamily="2" charset="0"/>
                <a:ea typeface="微软雅黑 Light" panose="020B0502040204020203" pitchFamily="34" charset="-122"/>
              </a:rPr>
              <a:t>，并且 </a:t>
            </a:r>
            <a:r>
              <a:rPr lang="en-US" altLang="zh-CN" sz="1200" dirty="0">
                <a:latin typeface="Montserrat" panose="00000500000000000000" pitchFamily="2" charset="0"/>
                <a:ea typeface="微软雅黑 Light" panose="020B0502040204020203" pitchFamily="34" charset="-122"/>
              </a:rPr>
              <a:t>F/u = 1 </a:t>
            </a:r>
            <a:r>
              <a:rPr lang="zh-CN" altLang="en-US" sz="1200" dirty="0">
                <a:latin typeface="Montserrat" panose="00000500000000000000" pitchFamily="2" charset="0"/>
                <a:ea typeface="微软雅黑 Light" panose="020B0502040204020203" pitchFamily="34" charset="-122"/>
              </a:rPr>
              <a:t>小时</a:t>
            </a:r>
          </a:p>
          <a:p>
            <a:pPr algn="just">
              <a:lnSpc>
                <a:spcPct val="150000"/>
              </a:lnSpc>
            </a:pPr>
            <a:r>
              <a:rPr lang="zh-CN" altLang="en-US" sz="1200" dirty="0">
                <a:latin typeface="Montserrat" panose="00000500000000000000" pitchFamily="2" charset="0"/>
                <a:ea typeface="微软雅黑 Light" panose="020B0502040204020203" pitchFamily="34" charset="-122"/>
              </a:rPr>
              <a:t>设服务器的上传速率 </a:t>
            </a:r>
            <a:r>
              <a:rPr lang="en-US" altLang="zh-CN" sz="1200" dirty="0">
                <a:latin typeface="Montserrat" panose="00000500000000000000" pitchFamily="2" charset="0"/>
                <a:ea typeface="微软雅黑 Light" panose="020B0502040204020203" pitchFamily="34" charset="-122"/>
              </a:rPr>
              <a:t>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 10u</a:t>
            </a:r>
          </a:p>
          <a:p>
            <a:pPr algn="just">
              <a:lnSpc>
                <a:spcPct val="150000"/>
              </a:lnSpc>
            </a:pPr>
            <a:r>
              <a:rPr lang="zh-CN" altLang="en-US" sz="1200" dirty="0">
                <a:latin typeface="Montserrat" panose="00000500000000000000" pitchFamily="2" charset="0"/>
                <a:ea typeface="微软雅黑 Light" panose="020B0502040204020203" pitchFamily="34" charset="-122"/>
              </a:rPr>
              <a:t>当 </a:t>
            </a:r>
            <a:r>
              <a:rPr lang="en-US" altLang="zh-CN" sz="1200" dirty="0">
                <a:latin typeface="Montserrat" panose="00000500000000000000" pitchFamily="2" charset="0"/>
                <a:ea typeface="微软雅黑 Light" panose="020B0502040204020203" pitchFamily="34" charset="-122"/>
              </a:rPr>
              <a:t>N = 30</a:t>
            </a:r>
          </a:p>
          <a:p>
            <a:pPr algn="just">
              <a:lnSpc>
                <a:spcPct val="150000"/>
              </a:lnSpc>
            </a:pPr>
            <a:r>
              <a:rPr lang="en-US" altLang="zh-CN" sz="1200" dirty="0" err="1">
                <a:latin typeface="Montserrat" panose="00000500000000000000" pitchFamily="2" charset="0"/>
                <a:ea typeface="微软雅黑 Light" panose="020B0502040204020203" pitchFamily="34" charset="-122"/>
              </a:rPr>
              <a:t>T</a:t>
            </a:r>
            <a:r>
              <a:rPr lang="en-US" altLang="zh-CN" sz="1200" baseline="-25000" dirty="0" err="1">
                <a:latin typeface="Montserrat" panose="00000500000000000000" pitchFamily="2" charset="0"/>
                <a:ea typeface="微软雅黑 Light" panose="020B0502040204020203" pitchFamily="34" charset="-122"/>
              </a:rPr>
              <a:t>cs</a:t>
            </a:r>
            <a:r>
              <a:rPr lang="en-US" altLang="zh-CN" sz="1200" dirty="0">
                <a:latin typeface="Montserrat" panose="00000500000000000000" pitchFamily="2" charset="0"/>
                <a:ea typeface="微软雅黑 Light" panose="020B0502040204020203" pitchFamily="34" charset="-122"/>
              </a:rPr>
              <a:t> = max(30*0.1</a:t>
            </a:r>
            <a:r>
              <a:rPr lang="zh-CN" altLang="en-US" sz="1200" dirty="0">
                <a:latin typeface="Montserrat" panose="00000500000000000000" pitchFamily="2" charset="0"/>
                <a:ea typeface="微软雅黑 Light" panose="020B0502040204020203" pitchFamily="34" charset="-122"/>
              </a:rPr>
              <a:t>小时</a:t>
            </a:r>
            <a:r>
              <a:rPr lang="en-US" altLang="zh-CN" sz="1200" dirty="0">
                <a:latin typeface="Montserrat" panose="00000500000000000000" pitchFamily="2" charset="0"/>
                <a:ea typeface="微软雅黑 Light" panose="020B0502040204020203" pitchFamily="34" charset="-122"/>
              </a:rPr>
              <a:t>, 1</a:t>
            </a:r>
            <a:r>
              <a:rPr lang="zh-CN" altLang="en-US" sz="1200" dirty="0">
                <a:latin typeface="Montserrat" panose="00000500000000000000" pitchFamily="2" charset="0"/>
                <a:ea typeface="微软雅黑 Light" panose="020B0502040204020203" pitchFamily="34" charset="-122"/>
              </a:rPr>
              <a:t>小时</a:t>
            </a:r>
            <a:r>
              <a:rPr lang="en-US" altLang="zh-CN" sz="1200" dirty="0">
                <a:latin typeface="Montserrat" panose="00000500000000000000" pitchFamily="2" charset="0"/>
                <a:ea typeface="微软雅黑 Light" panose="020B0502040204020203" pitchFamily="34" charset="-122"/>
              </a:rPr>
              <a:t>) = 3</a:t>
            </a:r>
            <a:r>
              <a:rPr lang="zh-CN" altLang="en-US" sz="1200" dirty="0">
                <a:latin typeface="Montserrat" panose="00000500000000000000" pitchFamily="2" charset="0"/>
                <a:ea typeface="微软雅黑 Light" panose="020B0502040204020203" pitchFamily="34" charset="-122"/>
              </a:rPr>
              <a:t>小时</a:t>
            </a:r>
            <a:endParaRPr lang="en-US" altLang="zh-CN" sz="1200" dirty="0">
              <a:latin typeface="Montserrat" panose="00000500000000000000" pitchFamily="2" charset="0"/>
              <a:ea typeface="微软雅黑 Light" panose="020B0502040204020203" pitchFamily="34" charset="-122"/>
            </a:endParaRPr>
          </a:p>
          <a:p>
            <a:pPr algn="just">
              <a:lnSpc>
                <a:spcPct val="150000"/>
              </a:lnSpc>
            </a:pPr>
            <a:endParaRPr lang="en-US" altLang="zh-CN" sz="1200" dirty="0">
              <a:latin typeface="Montserrat" panose="00000500000000000000" pitchFamily="2" charset="0"/>
              <a:ea typeface="微软雅黑 Light" panose="020B0502040204020203" pitchFamily="34" charset="-122"/>
            </a:endParaRPr>
          </a:p>
          <a:p>
            <a:pPr algn="just">
              <a:lnSpc>
                <a:spcPct val="150000"/>
              </a:lnSpc>
            </a:pPr>
            <a:r>
              <a:rPr lang="en-US" altLang="zh-CN" sz="1200" dirty="0">
                <a:latin typeface="Montserrat" panose="00000500000000000000" pitchFamily="2" charset="0"/>
                <a:ea typeface="微软雅黑 Light" panose="020B0502040204020203" pitchFamily="34" charset="-122"/>
              </a:rPr>
              <a:t>p2p</a:t>
            </a:r>
          </a:p>
          <a:p>
            <a:pPr algn="just">
              <a:lnSpc>
                <a:spcPct val="150000"/>
              </a:lnSpc>
            </a:pPr>
            <a:r>
              <a:rPr lang="zh-CN" altLang="en-US" sz="1200" dirty="0">
                <a:latin typeface="Montserrat" panose="00000500000000000000" pitchFamily="2" charset="0"/>
                <a:ea typeface="微软雅黑 Light" panose="020B0502040204020203" pitchFamily="34" charset="-122"/>
              </a:rPr>
              <a:t>设所有的对等方的上传速率都是 </a:t>
            </a:r>
            <a:r>
              <a:rPr lang="en-US" altLang="zh-CN" sz="1200" dirty="0">
                <a:latin typeface="Montserrat" panose="00000500000000000000" pitchFamily="2" charset="0"/>
                <a:ea typeface="微软雅黑 Light" panose="020B0502040204020203" pitchFamily="34" charset="-122"/>
              </a:rPr>
              <a:t>u</a:t>
            </a:r>
            <a:r>
              <a:rPr lang="zh-CN" altLang="en-US" sz="1200" dirty="0">
                <a:latin typeface="Montserrat" panose="00000500000000000000" pitchFamily="2" charset="0"/>
                <a:ea typeface="微软雅黑 Light" panose="020B0502040204020203" pitchFamily="34" charset="-122"/>
              </a:rPr>
              <a:t>，并且 </a:t>
            </a:r>
            <a:r>
              <a:rPr lang="en-US" altLang="zh-CN" sz="1200" dirty="0">
                <a:latin typeface="Montserrat" panose="00000500000000000000" pitchFamily="2" charset="0"/>
                <a:ea typeface="微软雅黑 Light" panose="020B0502040204020203" pitchFamily="34" charset="-122"/>
              </a:rPr>
              <a:t>F/u = 1 </a:t>
            </a:r>
            <a:r>
              <a:rPr lang="zh-CN" altLang="en-US" sz="1200" dirty="0">
                <a:latin typeface="Montserrat" panose="00000500000000000000" pitchFamily="2" charset="0"/>
                <a:ea typeface="微软雅黑 Light" panose="020B0502040204020203" pitchFamily="34" charset="-122"/>
              </a:rPr>
              <a:t>小时</a:t>
            </a:r>
          </a:p>
          <a:p>
            <a:pPr algn="just">
              <a:lnSpc>
                <a:spcPct val="150000"/>
              </a:lnSpc>
            </a:pPr>
            <a:r>
              <a:rPr lang="zh-CN" altLang="en-US" sz="1200" dirty="0">
                <a:latin typeface="Montserrat" panose="00000500000000000000" pitchFamily="2" charset="0"/>
                <a:ea typeface="微软雅黑 Light" panose="020B0502040204020203" pitchFamily="34" charset="-122"/>
              </a:rPr>
              <a:t>设服务器的上传速率 </a:t>
            </a:r>
            <a:r>
              <a:rPr lang="en-US" altLang="zh-CN" sz="1200" dirty="0">
                <a:latin typeface="Montserrat" panose="00000500000000000000" pitchFamily="2" charset="0"/>
                <a:ea typeface="微软雅黑 Light" panose="020B0502040204020203" pitchFamily="34" charset="-122"/>
              </a:rPr>
              <a:t>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 10u</a:t>
            </a:r>
          </a:p>
          <a:p>
            <a:pPr algn="just">
              <a:lnSpc>
                <a:spcPct val="150000"/>
              </a:lnSpc>
            </a:pPr>
            <a:r>
              <a:rPr lang="zh-CN" altLang="en-US" sz="1200" dirty="0">
                <a:latin typeface="Montserrat" panose="00000500000000000000" pitchFamily="2" charset="0"/>
                <a:ea typeface="微软雅黑 Light" panose="020B0502040204020203" pitchFamily="34" charset="-122"/>
              </a:rPr>
              <a:t>当 </a:t>
            </a:r>
            <a:r>
              <a:rPr lang="en-US" altLang="zh-CN" sz="1200" dirty="0">
                <a:latin typeface="Montserrat" panose="00000500000000000000" pitchFamily="2" charset="0"/>
                <a:ea typeface="微软雅黑 Light" panose="020B0502040204020203" pitchFamily="34" charset="-122"/>
              </a:rPr>
              <a:t>N = 30</a:t>
            </a:r>
          </a:p>
          <a:p>
            <a:pPr algn="just">
              <a:lnSpc>
                <a:spcPct val="150000"/>
              </a:lnSpc>
            </a:pPr>
            <a:r>
              <a:rPr lang="en-US" altLang="zh-CN" sz="1200" dirty="0">
                <a:latin typeface="Montserrat" panose="00000500000000000000" pitchFamily="2" charset="0"/>
                <a:ea typeface="微软雅黑 Light" panose="020B0502040204020203" pitchFamily="34" charset="-122"/>
              </a:rPr>
              <a:t>N*F/</a:t>
            </a:r>
            <a:r>
              <a:rPr lang="en-US" altLang="zh-CN" sz="1200" dirty="0" err="1">
                <a:latin typeface="Montserrat" panose="00000500000000000000" pitchFamily="2" charset="0"/>
                <a:ea typeface="微软雅黑 Light" panose="020B0502040204020203" pitchFamily="34" charset="-122"/>
              </a:rPr>
              <a:t>u</a:t>
            </a:r>
            <a:r>
              <a:rPr lang="en-US" altLang="zh-CN" sz="1200" baseline="-25000" dirty="0" err="1">
                <a:latin typeface="Montserrat" panose="00000500000000000000" pitchFamily="2" charset="0"/>
                <a:ea typeface="微软雅黑 Light" panose="020B0502040204020203" pitchFamily="34" charset="-122"/>
              </a:rPr>
              <a:t>T</a:t>
            </a:r>
            <a:r>
              <a:rPr lang="en-US" altLang="zh-CN" sz="1200" dirty="0">
                <a:latin typeface="Montserrat" panose="00000500000000000000" pitchFamily="2" charset="0"/>
                <a:ea typeface="微软雅黑 Light" panose="020B0502040204020203" pitchFamily="34" charset="-122"/>
              </a:rPr>
              <a:t> = 30F/ 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+ 30*u = 30F/40u = 3/4 </a:t>
            </a:r>
            <a:r>
              <a:rPr lang="zh-CN" altLang="en-US" sz="1200" dirty="0">
                <a:latin typeface="Montserrat" panose="00000500000000000000" pitchFamily="2" charset="0"/>
                <a:ea typeface="微软雅黑 Light" panose="020B0502040204020203" pitchFamily="34" charset="-122"/>
              </a:rPr>
              <a:t>小时</a:t>
            </a:r>
            <a:r>
              <a:rPr lang="en-US" altLang="zh-CN" sz="1200" dirty="0">
                <a:latin typeface="Montserrat" panose="00000500000000000000" pitchFamily="2" charset="0"/>
                <a:ea typeface="微软雅黑 Light" panose="020B0502040204020203" pitchFamily="34" charset="-122"/>
              </a:rPr>
              <a:t> </a:t>
            </a:r>
          </a:p>
          <a:p>
            <a:pPr algn="just">
              <a:lnSpc>
                <a:spcPct val="150000"/>
              </a:lnSpc>
            </a:pPr>
            <a:r>
              <a:rPr lang="en-US" altLang="zh-CN" sz="1200" dirty="0">
                <a:latin typeface="Montserrat" panose="00000500000000000000" pitchFamily="2" charset="0"/>
                <a:ea typeface="微软雅黑 Light" panose="020B0502040204020203" pitchFamily="34" charset="-122"/>
              </a:rPr>
              <a:t>T</a:t>
            </a:r>
            <a:r>
              <a:rPr lang="en-US" altLang="zh-CN" sz="1200" baseline="-25000" dirty="0">
                <a:latin typeface="Montserrat" panose="00000500000000000000" pitchFamily="2" charset="0"/>
                <a:ea typeface="微软雅黑 Light" panose="020B0502040204020203" pitchFamily="34" charset="-122"/>
              </a:rPr>
              <a:t>p2p</a:t>
            </a:r>
            <a:r>
              <a:rPr lang="en-US" altLang="zh-CN" sz="1200" dirty="0">
                <a:latin typeface="Montserrat" panose="00000500000000000000" pitchFamily="2" charset="0"/>
                <a:ea typeface="微软雅黑 Light" panose="020B0502040204020203" pitchFamily="34" charset="-122"/>
              </a:rPr>
              <a:t> ≥ max(0.1</a:t>
            </a:r>
            <a:r>
              <a:rPr lang="zh-CN" altLang="en-US" sz="1200" dirty="0">
                <a:latin typeface="Montserrat" panose="00000500000000000000" pitchFamily="2" charset="0"/>
                <a:ea typeface="微软雅黑 Light" panose="020B0502040204020203" pitchFamily="34" charset="-122"/>
              </a:rPr>
              <a:t>小时</a:t>
            </a:r>
            <a:r>
              <a:rPr lang="en-US" altLang="zh-CN" sz="1200" dirty="0">
                <a:latin typeface="Montserrat" panose="00000500000000000000" pitchFamily="2" charset="0"/>
                <a:ea typeface="微软雅黑 Light" panose="020B0502040204020203" pitchFamily="34" charset="-122"/>
              </a:rPr>
              <a:t>, 1</a:t>
            </a:r>
            <a:r>
              <a:rPr lang="zh-CN" altLang="en-US" sz="1200" dirty="0">
                <a:latin typeface="Montserrat" panose="00000500000000000000" pitchFamily="2" charset="0"/>
                <a:ea typeface="微软雅黑 Light" panose="020B0502040204020203" pitchFamily="34" charset="-122"/>
              </a:rPr>
              <a:t>小时</a:t>
            </a:r>
            <a:r>
              <a:rPr lang="en-US" altLang="zh-CN" sz="1200" dirty="0">
                <a:latin typeface="Montserrat" panose="00000500000000000000" pitchFamily="2" charset="0"/>
                <a:ea typeface="微软雅黑 Light" panose="020B0502040204020203" pitchFamily="34" charset="-122"/>
              </a:rPr>
              <a:t>, 0.75</a:t>
            </a:r>
            <a:r>
              <a:rPr lang="zh-CN" altLang="en-US" sz="1200" dirty="0">
                <a:latin typeface="Montserrat" panose="00000500000000000000" pitchFamily="2" charset="0"/>
                <a:ea typeface="微软雅黑 Light" panose="020B0502040204020203" pitchFamily="34" charset="-122"/>
              </a:rPr>
              <a:t>小时</a:t>
            </a:r>
            <a:r>
              <a:rPr lang="en-US" altLang="zh-CN" sz="1200" dirty="0">
                <a:latin typeface="Montserrat" panose="00000500000000000000" pitchFamily="2" charset="0"/>
                <a:ea typeface="微软雅黑 Light" panose="020B0502040204020203" pitchFamily="34" charset="-122"/>
              </a:rPr>
              <a:t>) = 1</a:t>
            </a:r>
            <a:r>
              <a:rPr lang="zh-CN" altLang="en-US" sz="1200" dirty="0">
                <a:latin typeface="Montserrat" panose="00000500000000000000" pitchFamily="2" charset="0"/>
                <a:ea typeface="微软雅黑 Light" panose="020B0502040204020203" pitchFamily="34" charset="-122"/>
              </a:rPr>
              <a:t>小时</a:t>
            </a:r>
            <a:endParaRPr lang="en-US" altLang="zh-CN" sz="1200" dirty="0">
              <a:latin typeface="Montserrat" panose="00000500000000000000" pitchFamily="2" charset="0"/>
              <a:ea typeface="微软雅黑 Light" panose="020B0502040204020203" pitchFamily="34" charset="-122"/>
            </a:endParaRPr>
          </a:p>
          <a:p>
            <a:pPr algn="just">
              <a:lnSpc>
                <a:spcPct val="150000"/>
              </a:lnSpc>
            </a:pPr>
            <a:endParaRPr lang="en-US" altLang="zh-CN" sz="1200" dirty="0">
              <a:latin typeface="Montserrat" panose="00000500000000000000" pitchFamily="2" charset="0"/>
              <a:ea typeface="微软雅黑 Light" panose="020B0502040204020203" pitchFamily="34" charset="-122"/>
            </a:endParaRPr>
          </a:p>
          <a:p>
            <a:r>
              <a:rPr lang="zh-CN" altLang="en-US" dirty="0"/>
              <a:t>所有 </a:t>
            </a:r>
            <a:r>
              <a:rPr lang="en-US" altLang="zh-CN" dirty="0"/>
              <a:t>peer </a:t>
            </a:r>
            <a:r>
              <a:rPr lang="zh-CN" altLang="en-US" dirty="0"/>
              <a:t>可参与上传，系统总上传能力为：</a:t>
            </a:r>
            <a:endParaRPr lang="en-US" altLang="zh-CN" dirty="0"/>
          </a:p>
          <a:p>
            <a:r>
              <a:rPr lang="en-US" altLang="zh-CN" dirty="0"/>
              <a:t>us​+Nu=10u+30u=40u</a:t>
            </a:r>
          </a:p>
          <a:p>
            <a:r>
              <a:rPr lang="zh-CN" altLang="en-US" dirty="0"/>
              <a:t>要分发总量 </a:t>
            </a:r>
            <a:r>
              <a:rPr lang="en-US" altLang="zh-CN" dirty="0"/>
              <a:t>NF=30F</a:t>
            </a:r>
            <a:r>
              <a:rPr lang="zh-CN" altLang="en-US" dirty="0"/>
              <a:t>，理论最短时间：</a:t>
            </a:r>
            <a:endParaRPr lang="en-US" altLang="zh-CN" dirty="0"/>
          </a:p>
          <a:p>
            <a:r>
              <a:rPr lang="en-US" altLang="zh-CN" dirty="0"/>
              <a:t>T=NF/(us​+Nu)=30F/40u=0.75 </a:t>
            </a:r>
            <a:r>
              <a:rPr lang="zh-CN" altLang="en-US" dirty="0"/>
              <a:t>小时</a:t>
            </a:r>
          </a:p>
          <a:p>
            <a:pPr algn="just">
              <a:lnSpc>
                <a:spcPct val="150000"/>
              </a:lnSpc>
            </a:pPr>
            <a:endParaRPr lang="en-US" altLang="zh-CN" sz="1200" dirty="0">
              <a:latin typeface="Montserrat" panose="00000500000000000000" pitchFamily="2" charset="0"/>
              <a:ea typeface="微软雅黑 Light" panose="020B0502040204020203" pitchFamily="34" charset="-122"/>
            </a:endParaRPr>
          </a:p>
          <a:p>
            <a:endParaRPr lang="zh-CN" altLang="en-US" dirty="0"/>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263</a:t>
            </a:fld>
            <a:endParaRPr lang="zh-CN" altLang="en-US" dirty="0"/>
          </a:p>
        </p:txBody>
      </p:sp>
    </p:spTree>
    <p:extLst>
      <p:ext uri="{BB962C8B-B14F-4D97-AF65-F5344CB8AC3E}">
        <p14:creationId xmlns:p14="http://schemas.microsoft.com/office/powerpoint/2010/main" val="85428556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P2P</a:t>
            </a:r>
            <a:r>
              <a:rPr lang="zh-CN" altLang="en-US" dirty="0"/>
              <a:t>分发时间几乎与用户数 </a:t>
            </a:r>
            <a:r>
              <a:rPr lang="en-US" altLang="zh-CN" dirty="0"/>
              <a:t>N </a:t>
            </a:r>
            <a:r>
              <a:rPr lang="zh-CN" altLang="en-US" dirty="0"/>
              <a:t>无</a:t>
            </a:r>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265</a:t>
            </a:fld>
            <a:endParaRPr lang="zh-CN" altLang="en-US" dirty="0"/>
          </a:p>
        </p:txBody>
      </p:sp>
    </p:spTree>
    <p:extLst>
      <p:ext uri="{BB962C8B-B14F-4D97-AF65-F5344CB8AC3E}">
        <p14:creationId xmlns:p14="http://schemas.microsoft.com/office/powerpoint/2010/main" val="162579829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270</a:t>
            </a:fld>
            <a:endParaRPr lang="zh-CN" altLang="en-US"/>
          </a:p>
        </p:txBody>
      </p:sp>
    </p:spTree>
    <p:extLst>
      <p:ext uri="{BB962C8B-B14F-4D97-AF65-F5344CB8AC3E}">
        <p14:creationId xmlns:p14="http://schemas.microsoft.com/office/powerpoint/2010/main" val="101047638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271</a:t>
            </a:fld>
            <a:endParaRPr lang="zh-CN" altLang="en-US"/>
          </a:p>
        </p:txBody>
      </p:sp>
    </p:spTree>
    <p:extLst>
      <p:ext uri="{BB962C8B-B14F-4D97-AF65-F5344CB8AC3E}">
        <p14:creationId xmlns:p14="http://schemas.microsoft.com/office/powerpoint/2010/main" val="11220490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section">
    <p:spTree>
      <p:nvGrpSpPr>
        <p:cNvPr id="1" name=""/>
        <p:cNvGrpSpPr/>
        <p:nvPr/>
      </p:nvGrpSpPr>
      <p:grpSpPr>
        <a:xfrm>
          <a:off x="0" y="0"/>
          <a:ext cx="0" cy="0"/>
          <a:chOff x="0" y="0"/>
          <a:chExt cx="0" cy="0"/>
        </a:xfrm>
      </p:grpSpPr>
      <p:sp>
        <p:nvSpPr>
          <p:cNvPr id="13" name="图片占位符 12">
            <a:extLst>
              <a:ext uri="{FF2B5EF4-FFF2-40B4-BE49-F238E27FC236}">
                <a16:creationId xmlns:a16="http://schemas.microsoft.com/office/drawing/2014/main" id="{8B78042A-5179-0C3E-C3DD-06774642CF04}"/>
              </a:ext>
            </a:extLst>
          </p:cNvPr>
          <p:cNvSpPr>
            <a:spLocks noGrp="1" noChangeAspect="1"/>
          </p:cNvSpPr>
          <p:nvPr>
            <p:ph type="pic" sz="quarter" idx="12"/>
          </p:nvPr>
        </p:nvSpPr>
        <p:spPr>
          <a:xfrm>
            <a:off x="5079431" y="1178017"/>
            <a:ext cx="3600000" cy="2787466"/>
          </a:xfrm>
          <a:custGeom>
            <a:avLst/>
            <a:gdLst>
              <a:gd name="connsiteX0" fmla="*/ 895609 w 3600000"/>
              <a:gd name="connsiteY0" fmla="*/ 2704927 h 2787466"/>
              <a:gd name="connsiteX1" fmla="*/ 902204 w 3600000"/>
              <a:gd name="connsiteY1" fmla="*/ 2714989 h 2787466"/>
              <a:gd name="connsiteX2" fmla="*/ 895609 w 3600000"/>
              <a:gd name="connsiteY2" fmla="*/ 2704927 h 2787466"/>
              <a:gd name="connsiteX3" fmla="*/ 696344 w 3600000"/>
              <a:gd name="connsiteY3" fmla="*/ 2533081 h 2787466"/>
              <a:gd name="connsiteX4" fmla="*/ 689955 w 3600000"/>
              <a:gd name="connsiteY4" fmla="*/ 2539998 h 2787466"/>
              <a:gd name="connsiteX5" fmla="*/ 701702 w 3600000"/>
              <a:gd name="connsiteY5" fmla="*/ 2541098 h 2787466"/>
              <a:gd name="connsiteX6" fmla="*/ 696344 w 3600000"/>
              <a:gd name="connsiteY6" fmla="*/ 2533081 h 2787466"/>
              <a:gd name="connsiteX7" fmla="*/ 1008945 w 3600000"/>
              <a:gd name="connsiteY7" fmla="*/ 2532137 h 2787466"/>
              <a:gd name="connsiteX8" fmla="*/ 1012860 w 3600000"/>
              <a:gd name="connsiteY8" fmla="*/ 2538112 h 2787466"/>
              <a:gd name="connsiteX9" fmla="*/ 1014097 w 3600000"/>
              <a:gd name="connsiteY9" fmla="*/ 2534181 h 2787466"/>
              <a:gd name="connsiteX10" fmla="*/ 1008945 w 3600000"/>
              <a:gd name="connsiteY10" fmla="*/ 2532137 h 2787466"/>
              <a:gd name="connsiteX11" fmla="*/ 995963 w 3600000"/>
              <a:gd name="connsiteY11" fmla="*/ 2529150 h 2787466"/>
              <a:gd name="connsiteX12" fmla="*/ 990811 w 3600000"/>
              <a:gd name="connsiteY12" fmla="*/ 2538112 h 2787466"/>
              <a:gd name="connsiteX13" fmla="*/ 982981 w 3600000"/>
              <a:gd name="connsiteY13" fmla="*/ 2535125 h 2787466"/>
              <a:gd name="connsiteX14" fmla="*/ 980302 w 3600000"/>
              <a:gd name="connsiteY14" fmla="*/ 2556978 h 2787466"/>
              <a:gd name="connsiteX15" fmla="*/ 1007709 w 3600000"/>
              <a:gd name="connsiteY15" fmla="*/ 2556978 h 2787466"/>
              <a:gd name="connsiteX16" fmla="*/ 989369 w 3600000"/>
              <a:gd name="connsiteY16" fmla="*/ 2554934 h 2787466"/>
              <a:gd name="connsiteX17" fmla="*/ 1006473 w 3600000"/>
              <a:gd name="connsiteY17" fmla="*/ 2550061 h 2787466"/>
              <a:gd name="connsiteX18" fmla="*/ 1007709 w 3600000"/>
              <a:gd name="connsiteY18" fmla="*/ 2542985 h 2787466"/>
              <a:gd name="connsiteX19" fmla="*/ 995963 w 3600000"/>
              <a:gd name="connsiteY19" fmla="*/ 2529150 h 2787466"/>
              <a:gd name="connsiteX20" fmla="*/ 985454 w 3600000"/>
              <a:gd name="connsiteY20" fmla="*/ 2525219 h 2787466"/>
              <a:gd name="connsiteX21" fmla="*/ 982981 w 3600000"/>
              <a:gd name="connsiteY21" fmla="*/ 2533081 h 2787466"/>
              <a:gd name="connsiteX22" fmla="*/ 985454 w 3600000"/>
              <a:gd name="connsiteY22" fmla="*/ 2525219 h 2787466"/>
              <a:gd name="connsiteX23" fmla="*/ 825341 w 3600000"/>
              <a:gd name="connsiteY23" fmla="*/ 2520188 h 2787466"/>
              <a:gd name="connsiteX24" fmla="*/ 828020 w 3600000"/>
              <a:gd name="connsiteY24" fmla="*/ 2528207 h 2787466"/>
              <a:gd name="connsiteX25" fmla="*/ 825341 w 3600000"/>
              <a:gd name="connsiteY25" fmla="*/ 2520188 h 2787466"/>
              <a:gd name="connsiteX26" fmla="*/ 841002 w 3600000"/>
              <a:gd name="connsiteY26" fmla="*/ 2511226 h 2787466"/>
              <a:gd name="connsiteX27" fmla="*/ 830492 w 3600000"/>
              <a:gd name="connsiteY27" fmla="*/ 2515157 h 2787466"/>
              <a:gd name="connsiteX28" fmla="*/ 838323 w 3600000"/>
              <a:gd name="connsiteY28" fmla="*/ 2523176 h 2787466"/>
              <a:gd name="connsiteX29" fmla="*/ 841002 w 3600000"/>
              <a:gd name="connsiteY29" fmla="*/ 2520188 h 2787466"/>
              <a:gd name="connsiteX30" fmla="*/ 851305 w 3600000"/>
              <a:gd name="connsiteY30" fmla="*/ 2519245 h 2787466"/>
              <a:gd name="connsiteX31" fmla="*/ 841002 w 3600000"/>
              <a:gd name="connsiteY31" fmla="*/ 2511226 h 2787466"/>
              <a:gd name="connsiteX32" fmla="*/ 993284 w 3600000"/>
              <a:gd name="connsiteY32" fmla="*/ 2497391 h 2787466"/>
              <a:gd name="connsiteX33" fmla="*/ 992048 w 3600000"/>
              <a:gd name="connsiteY33" fmla="*/ 2513271 h 2787466"/>
              <a:gd name="connsiteX34" fmla="*/ 993284 w 3600000"/>
              <a:gd name="connsiteY34" fmla="*/ 2497391 h 2787466"/>
              <a:gd name="connsiteX35" fmla="*/ 1005030 w 3600000"/>
              <a:gd name="connsiteY35" fmla="*/ 2477423 h 2787466"/>
              <a:gd name="connsiteX36" fmla="*/ 1002557 w 3600000"/>
              <a:gd name="connsiteY36" fmla="*/ 2484499 h 2787466"/>
              <a:gd name="connsiteX37" fmla="*/ 1005030 w 3600000"/>
              <a:gd name="connsiteY37" fmla="*/ 2477423 h 2787466"/>
              <a:gd name="connsiteX38" fmla="*/ 718599 w 3600000"/>
              <a:gd name="connsiteY38" fmla="*/ 2437645 h 2787466"/>
              <a:gd name="connsiteX39" fmla="*/ 710768 w 3600000"/>
              <a:gd name="connsiteY39" fmla="*/ 2441733 h 2787466"/>
              <a:gd name="connsiteX40" fmla="*/ 729108 w 3600000"/>
              <a:gd name="connsiteY40" fmla="*/ 2464530 h 2787466"/>
              <a:gd name="connsiteX41" fmla="*/ 718599 w 3600000"/>
              <a:gd name="connsiteY41" fmla="*/ 2437645 h 2787466"/>
              <a:gd name="connsiteX42" fmla="*/ 1338145 w 3600000"/>
              <a:gd name="connsiteY42" fmla="*/ 2420888 h 2787466"/>
              <a:gd name="connsiteX43" fmla="*/ 1343250 w 3600000"/>
              <a:gd name="connsiteY43" fmla="*/ 2433521 h 2787466"/>
              <a:gd name="connsiteX44" fmla="*/ 1317522 w 3600000"/>
              <a:gd name="connsiteY44" fmla="*/ 2426743 h 2787466"/>
              <a:gd name="connsiteX45" fmla="*/ 1335491 w 3600000"/>
              <a:gd name="connsiteY45" fmla="*/ 2429670 h 2787466"/>
              <a:gd name="connsiteX46" fmla="*/ 1338145 w 3600000"/>
              <a:gd name="connsiteY46" fmla="*/ 2420888 h 2787466"/>
              <a:gd name="connsiteX47" fmla="*/ 714684 w 3600000"/>
              <a:gd name="connsiteY47" fmla="*/ 2411861 h 2787466"/>
              <a:gd name="connsiteX48" fmla="*/ 713447 w 3600000"/>
              <a:gd name="connsiteY48" fmla="*/ 2433715 h 2787466"/>
              <a:gd name="connsiteX49" fmla="*/ 723750 w 3600000"/>
              <a:gd name="connsiteY49" fmla="*/ 2431828 h 2787466"/>
              <a:gd name="connsiteX50" fmla="*/ 714684 w 3600000"/>
              <a:gd name="connsiteY50" fmla="*/ 2411861 h 2787466"/>
              <a:gd name="connsiteX51" fmla="*/ 1133310 w 3600000"/>
              <a:gd name="connsiteY51" fmla="*/ 2397717 h 2787466"/>
              <a:gd name="connsiteX52" fmla="*/ 1138379 w 3600000"/>
              <a:gd name="connsiteY52" fmla="*/ 2401623 h 2787466"/>
              <a:gd name="connsiteX53" fmla="*/ 1114048 w 3600000"/>
              <a:gd name="connsiteY53" fmla="*/ 2401623 h 2787466"/>
              <a:gd name="connsiteX54" fmla="*/ 1133310 w 3600000"/>
              <a:gd name="connsiteY54" fmla="*/ 2397717 h 2787466"/>
              <a:gd name="connsiteX55" fmla="*/ 1151513 w 3600000"/>
              <a:gd name="connsiteY55" fmla="*/ 2395630 h 2787466"/>
              <a:gd name="connsiteX56" fmla="*/ 1157126 w 3600000"/>
              <a:gd name="connsiteY56" fmla="*/ 2398484 h 2787466"/>
              <a:gd name="connsiteX57" fmla="*/ 1157717 w 3600000"/>
              <a:gd name="connsiteY57" fmla="*/ 2397956 h 2787466"/>
              <a:gd name="connsiteX58" fmla="*/ 1394595 w 3600000"/>
              <a:gd name="connsiteY58" fmla="*/ 2385531 h 2787466"/>
              <a:gd name="connsiteX59" fmla="*/ 1402219 w 3600000"/>
              <a:gd name="connsiteY59" fmla="*/ 2395515 h 2787466"/>
              <a:gd name="connsiteX60" fmla="*/ 1394595 w 3600000"/>
              <a:gd name="connsiteY60" fmla="*/ 2385531 h 2787466"/>
              <a:gd name="connsiteX61" fmla="*/ 719836 w 3600000"/>
              <a:gd name="connsiteY61" fmla="*/ 2378057 h 2787466"/>
              <a:gd name="connsiteX62" fmla="*/ 712005 w 3600000"/>
              <a:gd name="connsiteY62" fmla="*/ 2379158 h 2787466"/>
              <a:gd name="connsiteX63" fmla="*/ 717363 w 3600000"/>
              <a:gd name="connsiteY63" fmla="*/ 2399912 h 2787466"/>
              <a:gd name="connsiteX64" fmla="*/ 731581 w 3600000"/>
              <a:gd name="connsiteY64" fmla="*/ 2403999 h 2787466"/>
              <a:gd name="connsiteX65" fmla="*/ 719836 w 3600000"/>
              <a:gd name="connsiteY65" fmla="*/ 2378057 h 2787466"/>
              <a:gd name="connsiteX66" fmla="*/ 1343843 w 3600000"/>
              <a:gd name="connsiteY66" fmla="*/ 2373053 h 2787466"/>
              <a:gd name="connsiteX67" fmla="*/ 1334858 w 3600000"/>
              <a:gd name="connsiteY67" fmla="*/ 2383614 h 2787466"/>
              <a:gd name="connsiteX68" fmla="*/ 1343843 w 3600000"/>
              <a:gd name="connsiteY68" fmla="*/ 2373053 h 2787466"/>
              <a:gd name="connsiteX69" fmla="*/ 1340102 w 3600000"/>
              <a:gd name="connsiteY69" fmla="*/ 2364025 h 2787466"/>
              <a:gd name="connsiteX70" fmla="*/ 1337606 w 3600000"/>
              <a:gd name="connsiteY70" fmla="*/ 2377053 h 2787466"/>
              <a:gd name="connsiteX71" fmla="*/ 1325749 w 3600000"/>
              <a:gd name="connsiteY71" fmla="*/ 2374035 h 2787466"/>
              <a:gd name="connsiteX72" fmla="*/ 1323045 w 3600000"/>
              <a:gd name="connsiteY72" fmla="*/ 2372128 h 2787466"/>
              <a:gd name="connsiteX73" fmla="*/ 1340102 w 3600000"/>
              <a:gd name="connsiteY73" fmla="*/ 2364025 h 2787466"/>
              <a:gd name="connsiteX74" fmla="*/ 1374822 w 3600000"/>
              <a:gd name="connsiteY74" fmla="*/ 2356335 h 2787466"/>
              <a:gd name="connsiteX75" fmla="*/ 1422795 w 3600000"/>
              <a:gd name="connsiteY75" fmla="*/ 2360316 h 2787466"/>
              <a:gd name="connsiteX76" fmla="*/ 1390281 w 3600000"/>
              <a:gd name="connsiteY76" fmla="*/ 2379332 h 2787466"/>
              <a:gd name="connsiteX77" fmla="*/ 1343362 w 3600000"/>
              <a:gd name="connsiteY77" fmla="*/ 2371250 h 2787466"/>
              <a:gd name="connsiteX78" fmla="*/ 1374822 w 3600000"/>
              <a:gd name="connsiteY78" fmla="*/ 2356335 h 2787466"/>
              <a:gd name="connsiteX79" fmla="*/ 1302964 w 3600000"/>
              <a:gd name="connsiteY79" fmla="*/ 2316362 h 2787466"/>
              <a:gd name="connsiteX80" fmla="*/ 1300638 w 3600000"/>
              <a:gd name="connsiteY80" fmla="*/ 2317209 h 2787466"/>
              <a:gd name="connsiteX81" fmla="*/ 1286231 w 3600000"/>
              <a:gd name="connsiteY81" fmla="*/ 2336409 h 2787466"/>
              <a:gd name="connsiteX82" fmla="*/ 1289981 w 3600000"/>
              <a:gd name="connsiteY82" fmla="*/ 2341203 h 2787466"/>
              <a:gd name="connsiteX83" fmla="*/ 1296576 w 3600000"/>
              <a:gd name="connsiteY83" fmla="*/ 2330197 h 2787466"/>
              <a:gd name="connsiteX84" fmla="*/ 1309559 w 3600000"/>
              <a:gd name="connsiteY84" fmla="*/ 2339159 h 2787466"/>
              <a:gd name="connsiteX85" fmla="*/ 1326458 w 3600000"/>
              <a:gd name="connsiteY85" fmla="*/ 2330197 h 2787466"/>
              <a:gd name="connsiteX86" fmla="*/ 1336968 w 3600000"/>
              <a:gd name="connsiteY86" fmla="*/ 2316362 h 2787466"/>
              <a:gd name="connsiteX87" fmla="*/ 1318627 w 3600000"/>
              <a:gd name="connsiteY87" fmla="*/ 2317305 h 2787466"/>
              <a:gd name="connsiteX88" fmla="*/ 1321305 w 3600000"/>
              <a:gd name="connsiteY88" fmla="*/ 2326267 h 2787466"/>
              <a:gd name="connsiteX89" fmla="*/ 1308322 w 3600000"/>
              <a:gd name="connsiteY89" fmla="*/ 2329253 h 2787466"/>
              <a:gd name="connsiteX90" fmla="*/ 1302964 w 3600000"/>
              <a:gd name="connsiteY90" fmla="*/ 2316362 h 2787466"/>
              <a:gd name="connsiteX91" fmla="*/ 1359020 w 3600000"/>
              <a:gd name="connsiteY91" fmla="*/ 2312274 h 2787466"/>
              <a:gd name="connsiteX92" fmla="*/ 1343357 w 3600000"/>
              <a:gd name="connsiteY92" fmla="*/ 2315261 h 2787466"/>
              <a:gd name="connsiteX93" fmla="*/ 1349952 w 3600000"/>
              <a:gd name="connsiteY93" fmla="*/ 2321236 h 2787466"/>
              <a:gd name="connsiteX94" fmla="*/ 1359020 w 3600000"/>
              <a:gd name="connsiteY94" fmla="*/ 2312274 h 2787466"/>
              <a:gd name="connsiteX95" fmla="*/ 1479103 w 3600000"/>
              <a:gd name="connsiteY95" fmla="*/ 2234134 h 2787466"/>
              <a:gd name="connsiteX96" fmla="*/ 1489134 w 3600000"/>
              <a:gd name="connsiteY96" fmla="*/ 2234970 h 2787466"/>
              <a:gd name="connsiteX97" fmla="*/ 1481510 w 3600000"/>
              <a:gd name="connsiteY97" fmla="*/ 2241168 h 2787466"/>
              <a:gd name="connsiteX98" fmla="*/ 1473887 w 3600000"/>
              <a:gd name="connsiteY98" fmla="*/ 2237090 h 2787466"/>
              <a:gd name="connsiteX99" fmla="*/ 1479103 w 3600000"/>
              <a:gd name="connsiteY99" fmla="*/ 2234134 h 2787466"/>
              <a:gd name="connsiteX100" fmla="*/ 1484374 w 3600000"/>
              <a:gd name="connsiteY100" fmla="*/ 2205975 h 2787466"/>
              <a:gd name="connsiteX101" fmla="*/ 1468715 w 3600000"/>
              <a:gd name="connsiteY101" fmla="*/ 2209883 h 2787466"/>
              <a:gd name="connsiteX102" fmla="*/ 1484374 w 3600000"/>
              <a:gd name="connsiteY102" fmla="*/ 2205975 h 2787466"/>
              <a:gd name="connsiteX103" fmla="*/ 1419177 w 3600000"/>
              <a:gd name="connsiteY103" fmla="*/ 2182772 h 2787466"/>
              <a:gd name="connsiteX104" fmla="*/ 1419120 w 3600000"/>
              <a:gd name="connsiteY104" fmla="*/ 2183899 h 2787466"/>
              <a:gd name="connsiteX105" fmla="*/ 1421463 w 3600000"/>
              <a:gd name="connsiteY105" fmla="*/ 2183196 h 2787466"/>
              <a:gd name="connsiteX106" fmla="*/ 1379834 w 3600000"/>
              <a:gd name="connsiteY106" fmla="*/ 2127539 h 2787466"/>
              <a:gd name="connsiteX107" fmla="*/ 1369530 w 3600000"/>
              <a:gd name="connsiteY107" fmla="*/ 2133514 h 2787466"/>
              <a:gd name="connsiteX108" fmla="*/ 1379834 w 3600000"/>
              <a:gd name="connsiteY108" fmla="*/ 2127539 h 2787466"/>
              <a:gd name="connsiteX109" fmla="*/ 1443721 w 3600000"/>
              <a:gd name="connsiteY109" fmla="*/ 2121565 h 2787466"/>
              <a:gd name="connsiteX110" fmla="*/ 1439805 w 3600000"/>
              <a:gd name="connsiteY110" fmla="*/ 2132571 h 2787466"/>
              <a:gd name="connsiteX111" fmla="*/ 1443721 w 3600000"/>
              <a:gd name="connsiteY111" fmla="*/ 2121565 h 2787466"/>
              <a:gd name="connsiteX112" fmla="*/ 1392126 w 3600000"/>
              <a:gd name="connsiteY112" fmla="*/ 2113736 h 2787466"/>
              <a:gd name="connsiteX113" fmla="*/ 1388902 w 3600000"/>
              <a:gd name="connsiteY113" fmla="*/ 2116692 h 2787466"/>
              <a:gd name="connsiteX114" fmla="*/ 1392545 w 3600000"/>
              <a:gd name="connsiteY114" fmla="*/ 2116692 h 2787466"/>
              <a:gd name="connsiteX115" fmla="*/ 1425094 w 3600000"/>
              <a:gd name="connsiteY115" fmla="*/ 2112185 h 2787466"/>
              <a:gd name="connsiteX116" fmla="*/ 1424932 w 3600000"/>
              <a:gd name="connsiteY116" fmla="*/ 2113799 h 2787466"/>
              <a:gd name="connsiteX117" fmla="*/ 1426822 w 3600000"/>
              <a:gd name="connsiteY117" fmla="*/ 2113704 h 2787466"/>
              <a:gd name="connsiteX118" fmla="*/ 1435889 w 3600000"/>
              <a:gd name="connsiteY118" fmla="*/ 2125495 h 2787466"/>
              <a:gd name="connsiteX119" fmla="*/ 1431974 w 3600000"/>
              <a:gd name="connsiteY119" fmla="*/ 2119521 h 2787466"/>
              <a:gd name="connsiteX120" fmla="*/ 1435889 w 3600000"/>
              <a:gd name="connsiteY120" fmla="*/ 2115590 h 2787466"/>
              <a:gd name="connsiteX121" fmla="*/ 1428831 w 3600000"/>
              <a:gd name="connsiteY121" fmla="*/ 2112506 h 2787466"/>
              <a:gd name="connsiteX122" fmla="*/ 1443721 w 3600000"/>
              <a:gd name="connsiteY122" fmla="*/ 2110717 h 2787466"/>
              <a:gd name="connsiteX123" fmla="*/ 1457940 w 3600000"/>
              <a:gd name="connsiteY123" fmla="*/ 2114647 h 2787466"/>
              <a:gd name="connsiteX124" fmla="*/ 1443721 w 3600000"/>
              <a:gd name="connsiteY124" fmla="*/ 2110717 h 2787466"/>
              <a:gd name="connsiteX125" fmla="*/ 1390576 w 3600000"/>
              <a:gd name="connsiteY125" fmla="*/ 2095093 h 2787466"/>
              <a:gd name="connsiteX126" fmla="*/ 1383750 w 3600000"/>
              <a:gd name="connsiteY126" fmla="*/ 2098768 h 2787466"/>
              <a:gd name="connsiteX127" fmla="*/ 1399412 w 3600000"/>
              <a:gd name="connsiteY127" fmla="*/ 2096724 h 2787466"/>
              <a:gd name="connsiteX128" fmla="*/ 1390576 w 3600000"/>
              <a:gd name="connsiteY128" fmla="*/ 2095093 h 2787466"/>
              <a:gd name="connsiteX129" fmla="*/ 1469044 w 3600000"/>
              <a:gd name="connsiteY129" fmla="*/ 2093012 h 2787466"/>
              <a:gd name="connsiteX130" fmla="*/ 1473022 w 3600000"/>
              <a:gd name="connsiteY130" fmla="*/ 2099747 h 2787466"/>
              <a:gd name="connsiteX131" fmla="*/ 1461165 w 3600000"/>
              <a:gd name="connsiteY131" fmla="*/ 2096736 h 2787466"/>
              <a:gd name="connsiteX132" fmla="*/ 1469044 w 3600000"/>
              <a:gd name="connsiteY132" fmla="*/ 2093012 h 2787466"/>
              <a:gd name="connsiteX133" fmla="*/ 1473603 w 3600000"/>
              <a:gd name="connsiteY133" fmla="*/ 2050030 h 2787466"/>
              <a:gd name="connsiteX134" fmla="*/ 1455468 w 3600000"/>
              <a:gd name="connsiteY134" fmla="*/ 2065909 h 2787466"/>
              <a:gd name="connsiteX135" fmla="*/ 1473603 w 3600000"/>
              <a:gd name="connsiteY135" fmla="*/ 2058991 h 2787466"/>
              <a:gd name="connsiteX136" fmla="*/ 1477518 w 3600000"/>
              <a:gd name="connsiteY136" fmla="*/ 2058991 h 2787466"/>
              <a:gd name="connsiteX137" fmla="*/ 1473603 w 3600000"/>
              <a:gd name="connsiteY137" fmla="*/ 2050030 h 2787466"/>
              <a:gd name="connsiteX138" fmla="*/ 1489265 w 3600000"/>
              <a:gd name="connsiteY138" fmla="*/ 2034150 h 2787466"/>
              <a:gd name="connsiteX139" fmla="*/ 1478755 w 3600000"/>
              <a:gd name="connsiteY139" fmla="*/ 2037138 h 2787466"/>
              <a:gd name="connsiteX140" fmla="*/ 1482671 w 3600000"/>
              <a:gd name="connsiteY140" fmla="*/ 2042169 h 2787466"/>
              <a:gd name="connsiteX141" fmla="*/ 1489265 w 3600000"/>
              <a:gd name="connsiteY141" fmla="*/ 2034150 h 2787466"/>
              <a:gd name="connsiteX142" fmla="*/ 596196 w 3600000"/>
              <a:gd name="connsiteY142" fmla="*/ 2000562 h 2787466"/>
              <a:gd name="connsiteX143" fmla="*/ 589602 w 3600000"/>
              <a:gd name="connsiteY143" fmla="*/ 2002606 h 2787466"/>
              <a:gd name="connsiteX144" fmla="*/ 593517 w 3600000"/>
              <a:gd name="connsiteY144" fmla="*/ 2007480 h 2787466"/>
              <a:gd name="connsiteX145" fmla="*/ 596196 w 3600000"/>
              <a:gd name="connsiteY145" fmla="*/ 2000562 h 2787466"/>
              <a:gd name="connsiteX146" fmla="*/ 587129 w 3600000"/>
              <a:gd name="connsiteY146" fmla="*/ 1988613 h 2787466"/>
              <a:gd name="connsiteX147" fmla="*/ 583214 w 3600000"/>
              <a:gd name="connsiteY147" fmla="*/ 1997575 h 2787466"/>
              <a:gd name="connsiteX148" fmla="*/ 598875 w 3600000"/>
              <a:gd name="connsiteY148" fmla="*/ 1998676 h 2787466"/>
              <a:gd name="connsiteX149" fmla="*/ 587129 w 3600000"/>
              <a:gd name="connsiteY149" fmla="*/ 1988613 h 2787466"/>
              <a:gd name="connsiteX150" fmla="*/ 597432 w 3600000"/>
              <a:gd name="connsiteY150" fmla="*/ 1971790 h 2787466"/>
              <a:gd name="connsiteX151" fmla="*/ 587129 w 3600000"/>
              <a:gd name="connsiteY151" fmla="*/ 1977765 h 2787466"/>
              <a:gd name="connsiteX152" fmla="*/ 605262 w 3600000"/>
              <a:gd name="connsiteY152" fmla="*/ 1981695 h 2787466"/>
              <a:gd name="connsiteX153" fmla="*/ 597432 w 3600000"/>
              <a:gd name="connsiteY153" fmla="*/ 1971790 h 2787466"/>
              <a:gd name="connsiteX154" fmla="*/ 587129 w 3600000"/>
              <a:gd name="connsiteY154" fmla="*/ 1956854 h 2787466"/>
              <a:gd name="connsiteX155" fmla="*/ 596196 w 3600000"/>
              <a:gd name="connsiteY155" fmla="*/ 1963772 h 2787466"/>
              <a:gd name="connsiteX156" fmla="*/ 592280 w 3600000"/>
              <a:gd name="connsiteY156" fmla="*/ 1967860 h 2787466"/>
              <a:gd name="connsiteX157" fmla="*/ 607941 w 3600000"/>
              <a:gd name="connsiteY157" fmla="*/ 1971790 h 2787466"/>
              <a:gd name="connsiteX158" fmla="*/ 597432 w 3600000"/>
              <a:gd name="connsiteY158" fmla="*/ 1957955 h 2787466"/>
              <a:gd name="connsiteX159" fmla="*/ 587129 w 3600000"/>
              <a:gd name="connsiteY159" fmla="*/ 1956854 h 2787466"/>
              <a:gd name="connsiteX160" fmla="*/ 1554788 w 3600000"/>
              <a:gd name="connsiteY160" fmla="*/ 1949919 h 2787466"/>
              <a:gd name="connsiteX161" fmla="*/ 1545672 w 3600000"/>
              <a:gd name="connsiteY161" fmla="*/ 1952778 h 2787466"/>
              <a:gd name="connsiteX162" fmla="*/ 1554788 w 3600000"/>
              <a:gd name="connsiteY162" fmla="*/ 1949919 h 2787466"/>
              <a:gd name="connsiteX163" fmla="*/ 1579484 w 3600000"/>
              <a:gd name="connsiteY163" fmla="*/ 1884182 h 2787466"/>
              <a:gd name="connsiteX164" fmla="*/ 1581784 w 3600000"/>
              <a:gd name="connsiteY164" fmla="*/ 1886033 h 2787466"/>
              <a:gd name="connsiteX165" fmla="*/ 1591815 w 3600000"/>
              <a:gd name="connsiteY165" fmla="*/ 1886963 h 2787466"/>
              <a:gd name="connsiteX166" fmla="*/ 1588003 w 3600000"/>
              <a:gd name="connsiteY166" fmla="*/ 1891770 h 2787466"/>
              <a:gd name="connsiteX167" fmla="*/ 1579484 w 3600000"/>
              <a:gd name="connsiteY167" fmla="*/ 1884182 h 2787466"/>
              <a:gd name="connsiteX168" fmla="*/ 1543878 w 3600000"/>
              <a:gd name="connsiteY168" fmla="*/ 1883219 h 2787466"/>
              <a:gd name="connsiteX169" fmla="*/ 1551710 w 3600000"/>
              <a:gd name="connsiteY169" fmla="*/ 1891080 h 2787466"/>
              <a:gd name="connsiteX170" fmla="*/ 1543878 w 3600000"/>
              <a:gd name="connsiteY170" fmla="*/ 1883219 h 2787466"/>
              <a:gd name="connsiteX171" fmla="*/ 412877 w 3600000"/>
              <a:gd name="connsiteY171" fmla="*/ 1882219 h 2787466"/>
              <a:gd name="connsiteX172" fmla="*/ 435052 w 3600000"/>
              <a:gd name="connsiteY172" fmla="*/ 1891077 h 2787466"/>
              <a:gd name="connsiteX173" fmla="*/ 412877 w 3600000"/>
              <a:gd name="connsiteY173" fmla="*/ 1882219 h 2787466"/>
              <a:gd name="connsiteX174" fmla="*/ 49134 w 3600000"/>
              <a:gd name="connsiteY174" fmla="*/ 1866274 h 2787466"/>
              <a:gd name="connsiteX175" fmla="*/ 57039 w 3600000"/>
              <a:gd name="connsiteY175" fmla="*/ 1869361 h 2787466"/>
              <a:gd name="connsiteX176" fmla="*/ 39982 w 3600000"/>
              <a:gd name="connsiteY176" fmla="*/ 1873424 h 2787466"/>
              <a:gd name="connsiteX177" fmla="*/ 49134 w 3600000"/>
              <a:gd name="connsiteY177" fmla="*/ 1866274 h 2787466"/>
              <a:gd name="connsiteX178" fmla="*/ 358930 w 3600000"/>
              <a:gd name="connsiteY178" fmla="*/ 1842703 h 2787466"/>
              <a:gd name="connsiteX179" fmla="*/ 372348 w 3600000"/>
              <a:gd name="connsiteY179" fmla="*/ 1850863 h 2787466"/>
              <a:gd name="connsiteX180" fmla="*/ 358930 w 3600000"/>
              <a:gd name="connsiteY180" fmla="*/ 1842703 h 2787466"/>
              <a:gd name="connsiteX181" fmla="*/ 1632348 w 3600000"/>
              <a:gd name="connsiteY181" fmla="*/ 1835770 h 2787466"/>
              <a:gd name="connsiteX182" fmla="*/ 1639058 w 3600000"/>
              <a:gd name="connsiteY182" fmla="*/ 1840890 h 2787466"/>
              <a:gd name="connsiteX183" fmla="*/ 1635074 w 3600000"/>
              <a:gd name="connsiteY183" fmla="*/ 1843930 h 2787466"/>
              <a:gd name="connsiteX184" fmla="*/ 1632348 w 3600000"/>
              <a:gd name="connsiteY184" fmla="*/ 1835770 h 2787466"/>
              <a:gd name="connsiteX185" fmla="*/ 1548570 w 3600000"/>
              <a:gd name="connsiteY185" fmla="*/ 1835049 h 2787466"/>
              <a:gd name="connsiteX186" fmla="*/ 1547628 w 3600000"/>
              <a:gd name="connsiteY186" fmla="*/ 1836411 h 2787466"/>
              <a:gd name="connsiteX187" fmla="*/ 1550499 w 3600000"/>
              <a:gd name="connsiteY187" fmla="*/ 1839059 h 2787466"/>
              <a:gd name="connsiteX188" fmla="*/ 1546558 w 3600000"/>
              <a:gd name="connsiteY188" fmla="*/ 1840454 h 2787466"/>
              <a:gd name="connsiteX189" fmla="*/ 1555625 w 3600000"/>
              <a:gd name="connsiteY189" fmla="*/ 1837467 h 2787466"/>
              <a:gd name="connsiteX190" fmla="*/ 1551742 w 3600000"/>
              <a:gd name="connsiteY190" fmla="*/ 1837760 h 2787466"/>
              <a:gd name="connsiteX191" fmla="*/ 1615403 w 3600000"/>
              <a:gd name="connsiteY191" fmla="*/ 1834854 h 2787466"/>
              <a:gd name="connsiteX192" fmla="*/ 1621794 w 3600000"/>
              <a:gd name="connsiteY192" fmla="*/ 1837890 h 2787466"/>
              <a:gd name="connsiteX193" fmla="*/ 1619309 w 3600000"/>
              <a:gd name="connsiteY193" fmla="*/ 1841851 h 2787466"/>
              <a:gd name="connsiteX194" fmla="*/ 1615403 w 3600000"/>
              <a:gd name="connsiteY194" fmla="*/ 1834854 h 2787466"/>
              <a:gd name="connsiteX195" fmla="*/ 1564693 w 3600000"/>
              <a:gd name="connsiteY195" fmla="*/ 1834480 h 2787466"/>
              <a:gd name="connsiteX196" fmla="*/ 1575203 w 3600000"/>
              <a:gd name="connsiteY196" fmla="*/ 1842341 h 2787466"/>
              <a:gd name="connsiteX197" fmla="*/ 1566135 w 3600000"/>
              <a:gd name="connsiteY197" fmla="*/ 1842341 h 2787466"/>
              <a:gd name="connsiteX198" fmla="*/ 1576439 w 3600000"/>
              <a:gd name="connsiteY198" fmla="*/ 1842341 h 2787466"/>
              <a:gd name="connsiteX199" fmla="*/ 1564693 w 3600000"/>
              <a:gd name="connsiteY199" fmla="*/ 1834480 h 2787466"/>
              <a:gd name="connsiteX200" fmla="*/ 551354 w 3600000"/>
              <a:gd name="connsiteY200" fmla="*/ 1831707 h 2787466"/>
              <a:gd name="connsiteX201" fmla="*/ 546552 w 3600000"/>
              <a:gd name="connsiteY201" fmla="*/ 1833360 h 2787466"/>
              <a:gd name="connsiteX202" fmla="*/ 553927 w 3600000"/>
              <a:gd name="connsiteY202" fmla="*/ 1840909 h 2787466"/>
              <a:gd name="connsiteX203" fmla="*/ 547789 w 3600000"/>
              <a:gd name="connsiteY203" fmla="*/ 1842321 h 2787466"/>
              <a:gd name="connsiteX204" fmla="*/ 554385 w 3600000"/>
              <a:gd name="connsiteY204" fmla="*/ 1841378 h 2787466"/>
              <a:gd name="connsiteX205" fmla="*/ 553927 w 3600000"/>
              <a:gd name="connsiteY205" fmla="*/ 1840909 h 2787466"/>
              <a:gd name="connsiteX206" fmla="*/ 560774 w 3600000"/>
              <a:gd name="connsiteY206" fmla="*/ 1839334 h 2787466"/>
              <a:gd name="connsiteX207" fmla="*/ 551354 w 3600000"/>
              <a:gd name="connsiteY207" fmla="*/ 1831707 h 2787466"/>
              <a:gd name="connsiteX208" fmla="*/ 1637158 w 3600000"/>
              <a:gd name="connsiteY208" fmla="*/ 1830086 h 2787466"/>
              <a:gd name="connsiteX209" fmla="*/ 1642699 w 3600000"/>
              <a:gd name="connsiteY209" fmla="*/ 1832662 h 2787466"/>
              <a:gd name="connsiteX210" fmla="*/ 1640051 w 3600000"/>
              <a:gd name="connsiteY210" fmla="*/ 1835615 h 2787466"/>
              <a:gd name="connsiteX211" fmla="*/ 1637158 w 3600000"/>
              <a:gd name="connsiteY211" fmla="*/ 1830086 h 2787466"/>
              <a:gd name="connsiteX212" fmla="*/ 1628598 w 3600000"/>
              <a:gd name="connsiteY212" fmla="*/ 1815947 h 2787466"/>
              <a:gd name="connsiteX213" fmla="*/ 1636337 w 3600000"/>
              <a:gd name="connsiteY213" fmla="*/ 1822122 h 2787466"/>
              <a:gd name="connsiteX214" fmla="*/ 1629820 w 3600000"/>
              <a:gd name="connsiteY214" fmla="*/ 1824071 h 2787466"/>
              <a:gd name="connsiteX215" fmla="*/ 1628598 w 3600000"/>
              <a:gd name="connsiteY215" fmla="*/ 1815947 h 2787466"/>
              <a:gd name="connsiteX216" fmla="*/ 1647042 w 3600000"/>
              <a:gd name="connsiteY216" fmla="*/ 1801800 h 2787466"/>
              <a:gd name="connsiteX217" fmla="*/ 1649465 w 3600000"/>
              <a:gd name="connsiteY217" fmla="*/ 1808793 h 2787466"/>
              <a:gd name="connsiteX218" fmla="*/ 1647042 w 3600000"/>
              <a:gd name="connsiteY218" fmla="*/ 1801800 h 2787466"/>
              <a:gd name="connsiteX219" fmla="*/ 1641061 w 3600000"/>
              <a:gd name="connsiteY219" fmla="*/ 1792884 h 2787466"/>
              <a:gd name="connsiteX220" fmla="*/ 1645418 w 3600000"/>
              <a:gd name="connsiteY220" fmla="*/ 1794092 h 2787466"/>
              <a:gd name="connsiteX221" fmla="*/ 1640176 w 3600000"/>
              <a:gd name="connsiteY221" fmla="*/ 1800051 h 2787466"/>
              <a:gd name="connsiteX222" fmla="*/ 1641061 w 3600000"/>
              <a:gd name="connsiteY222" fmla="*/ 1792884 h 2787466"/>
              <a:gd name="connsiteX223" fmla="*/ 377170 w 3600000"/>
              <a:gd name="connsiteY223" fmla="*/ 1783082 h 2787466"/>
              <a:gd name="connsiteX224" fmla="*/ 385016 w 3600000"/>
              <a:gd name="connsiteY224" fmla="*/ 1785098 h 2787466"/>
              <a:gd name="connsiteX225" fmla="*/ 385059 w 3600000"/>
              <a:gd name="connsiteY225" fmla="*/ 1785134 h 2787466"/>
              <a:gd name="connsiteX226" fmla="*/ 382006 w 3600000"/>
              <a:gd name="connsiteY226" fmla="*/ 1789507 h 2787466"/>
              <a:gd name="connsiteX227" fmla="*/ 379874 w 3600000"/>
              <a:gd name="connsiteY227" fmla="*/ 1794018 h 2787466"/>
              <a:gd name="connsiteX228" fmla="*/ 369265 w 3600000"/>
              <a:gd name="connsiteY228" fmla="*/ 1788081 h 2787466"/>
              <a:gd name="connsiteX229" fmla="*/ 377170 w 3600000"/>
              <a:gd name="connsiteY229" fmla="*/ 1783082 h 2787466"/>
              <a:gd name="connsiteX230" fmla="*/ 1608988 w 3600000"/>
              <a:gd name="connsiteY230" fmla="*/ 1773935 h 2787466"/>
              <a:gd name="connsiteX231" fmla="*/ 1607764 w 3600000"/>
              <a:gd name="connsiteY231" fmla="*/ 1774893 h 2787466"/>
              <a:gd name="connsiteX232" fmla="*/ 1615595 w 3600000"/>
              <a:gd name="connsiteY232" fmla="*/ 1781811 h 2787466"/>
              <a:gd name="connsiteX233" fmla="*/ 1615595 w 3600000"/>
              <a:gd name="connsiteY233" fmla="*/ 1775836 h 2787466"/>
              <a:gd name="connsiteX234" fmla="*/ 1608988 w 3600000"/>
              <a:gd name="connsiteY234" fmla="*/ 1773935 h 2787466"/>
              <a:gd name="connsiteX235" fmla="*/ 427210 w 3600000"/>
              <a:gd name="connsiteY235" fmla="*/ 1767185 h 2787466"/>
              <a:gd name="connsiteX236" fmla="*/ 425693 w 3600000"/>
              <a:gd name="connsiteY236" fmla="*/ 1769523 h 2787466"/>
              <a:gd name="connsiteX237" fmla="*/ 424128 w 3600000"/>
              <a:gd name="connsiteY237" fmla="*/ 1774873 h 2787466"/>
              <a:gd name="connsiteX238" fmla="*/ 422686 w 3600000"/>
              <a:gd name="connsiteY238" fmla="*/ 1783835 h 2787466"/>
              <a:gd name="connsiteX239" fmla="*/ 441029 w 3600000"/>
              <a:gd name="connsiteY239" fmla="*/ 1783835 h 2787466"/>
              <a:gd name="connsiteX240" fmla="*/ 432218 w 3600000"/>
              <a:gd name="connsiteY240" fmla="*/ 1772449 h 2787466"/>
              <a:gd name="connsiteX241" fmla="*/ 432946 w 3600000"/>
              <a:gd name="connsiteY241" fmla="*/ 1767590 h 2787466"/>
              <a:gd name="connsiteX242" fmla="*/ 428358 w 3600000"/>
              <a:gd name="connsiteY242" fmla="*/ 1769060 h 2787466"/>
              <a:gd name="connsiteX243" fmla="*/ 1649207 w 3600000"/>
              <a:gd name="connsiteY243" fmla="*/ 1763872 h 2787466"/>
              <a:gd name="connsiteX244" fmla="*/ 1657485 w 3600000"/>
              <a:gd name="connsiteY244" fmla="*/ 1767830 h 2787466"/>
              <a:gd name="connsiteX245" fmla="*/ 1653532 w 3600000"/>
              <a:gd name="connsiteY245" fmla="*/ 1776684 h 2787466"/>
              <a:gd name="connsiteX246" fmla="*/ 1651037 w 3600000"/>
              <a:gd name="connsiteY246" fmla="*/ 1771783 h 2787466"/>
              <a:gd name="connsiteX247" fmla="*/ 1654781 w 3600000"/>
              <a:gd name="connsiteY247" fmla="*/ 1767830 h 2787466"/>
              <a:gd name="connsiteX248" fmla="*/ 1651037 w 3600000"/>
              <a:gd name="connsiteY248" fmla="*/ 1767830 h 2787466"/>
              <a:gd name="connsiteX249" fmla="*/ 1649207 w 3600000"/>
              <a:gd name="connsiteY249" fmla="*/ 1763872 h 2787466"/>
              <a:gd name="connsiteX250" fmla="*/ 470824 w 3600000"/>
              <a:gd name="connsiteY250" fmla="*/ 1762045 h 2787466"/>
              <a:gd name="connsiteX251" fmla="*/ 468494 w 3600000"/>
              <a:gd name="connsiteY251" fmla="*/ 1762968 h 2787466"/>
              <a:gd name="connsiteX252" fmla="*/ 466281 w 3600000"/>
              <a:gd name="connsiteY252" fmla="*/ 1763714 h 2787466"/>
              <a:gd name="connsiteX253" fmla="*/ 480110 w 3600000"/>
              <a:gd name="connsiteY253" fmla="*/ 1769607 h 2787466"/>
              <a:gd name="connsiteX254" fmla="*/ 502240 w 3600000"/>
              <a:gd name="connsiteY254" fmla="*/ 1778804 h 2787466"/>
              <a:gd name="connsiteX255" fmla="*/ 504920 w 3600000"/>
              <a:gd name="connsiteY255" fmla="*/ 1768899 h 2787466"/>
              <a:gd name="connsiteX256" fmla="*/ 474430 w 3600000"/>
              <a:gd name="connsiteY256" fmla="*/ 1762134 h 2787466"/>
              <a:gd name="connsiteX257" fmla="*/ 1598697 w 3600000"/>
              <a:gd name="connsiteY257" fmla="*/ 1760900 h 2787466"/>
              <a:gd name="connsiteX258" fmla="*/ 1597254 w 3600000"/>
              <a:gd name="connsiteY258" fmla="*/ 1764988 h 2787466"/>
              <a:gd name="connsiteX259" fmla="*/ 1611681 w 3600000"/>
              <a:gd name="connsiteY259" fmla="*/ 1769862 h 2787466"/>
              <a:gd name="connsiteX260" fmla="*/ 1598697 w 3600000"/>
              <a:gd name="connsiteY260" fmla="*/ 1760900 h 2787466"/>
              <a:gd name="connsiteX261" fmla="*/ 1563456 w 3600000"/>
              <a:gd name="connsiteY261" fmla="*/ 1759014 h 2787466"/>
              <a:gd name="connsiteX262" fmla="*/ 1559541 w 3600000"/>
              <a:gd name="connsiteY262" fmla="*/ 1767975 h 2787466"/>
              <a:gd name="connsiteX263" fmla="*/ 1563456 w 3600000"/>
              <a:gd name="connsiteY263" fmla="*/ 1759014 h 2787466"/>
              <a:gd name="connsiteX264" fmla="*/ 1643372 w 3600000"/>
              <a:gd name="connsiteY264" fmla="*/ 1753997 h 2787466"/>
              <a:gd name="connsiteX265" fmla="*/ 1641946 w 3600000"/>
              <a:gd name="connsiteY265" fmla="*/ 1762122 h 2787466"/>
              <a:gd name="connsiteX266" fmla="*/ 1643372 w 3600000"/>
              <a:gd name="connsiteY266" fmla="*/ 1753997 h 2787466"/>
              <a:gd name="connsiteX267" fmla="*/ 1596018 w 3600000"/>
              <a:gd name="connsiteY267" fmla="*/ 1753983 h 2787466"/>
              <a:gd name="connsiteX268" fmla="*/ 1606528 w 3600000"/>
              <a:gd name="connsiteY268" fmla="*/ 1763888 h 2787466"/>
              <a:gd name="connsiteX269" fmla="*/ 1596018 w 3600000"/>
              <a:gd name="connsiteY269" fmla="*/ 1753983 h 2787466"/>
              <a:gd name="connsiteX270" fmla="*/ 328909 w 3600000"/>
              <a:gd name="connsiteY270" fmla="*/ 1745945 h 2787466"/>
              <a:gd name="connsiteX271" fmla="*/ 317162 w 3600000"/>
              <a:gd name="connsiteY271" fmla="*/ 1753020 h 2787466"/>
              <a:gd name="connsiteX272" fmla="*/ 326437 w 3600000"/>
              <a:gd name="connsiteY272" fmla="*/ 1753020 h 2787466"/>
              <a:gd name="connsiteX273" fmla="*/ 328909 w 3600000"/>
              <a:gd name="connsiteY273" fmla="*/ 1745945 h 2787466"/>
              <a:gd name="connsiteX274" fmla="*/ 152244 w 3600000"/>
              <a:gd name="connsiteY274" fmla="*/ 1735246 h 2787466"/>
              <a:gd name="connsiteX275" fmla="*/ 128758 w 3600000"/>
              <a:gd name="connsiteY275" fmla="*/ 1780888 h 2787466"/>
              <a:gd name="connsiteX276" fmla="*/ 111865 w 3600000"/>
              <a:gd name="connsiteY276" fmla="*/ 1792651 h 2787466"/>
              <a:gd name="connsiteX277" fmla="*/ 98886 w 3600000"/>
              <a:gd name="connsiteY277" fmla="*/ 1794690 h 2787466"/>
              <a:gd name="connsiteX278" fmla="*/ 93736 w 3600000"/>
              <a:gd name="connsiteY278" fmla="*/ 1805669 h 2787466"/>
              <a:gd name="connsiteX279" fmla="*/ 120929 w 3600000"/>
              <a:gd name="connsiteY279" fmla="*/ 1846292 h 2787466"/>
              <a:gd name="connsiteX280" fmla="*/ 113101 w 3600000"/>
              <a:gd name="connsiteY280" fmla="*/ 1851154 h 2787466"/>
              <a:gd name="connsiteX281" fmla="*/ 91058 w 3600000"/>
              <a:gd name="connsiteY281" fmla="*/ 1837352 h 2787466"/>
              <a:gd name="connsiteX282" fmla="*/ 75401 w 3600000"/>
              <a:gd name="connsiteY282" fmla="*/ 1837352 h 2787466"/>
              <a:gd name="connsiteX283" fmla="*/ 69014 w 3600000"/>
              <a:gd name="connsiteY283" fmla="*/ 1836254 h 2787466"/>
              <a:gd name="connsiteX284" fmla="*/ 72928 w 3600000"/>
              <a:gd name="connsiteY284" fmla="*/ 1850213 h 2787466"/>
              <a:gd name="connsiteX285" fmla="*/ 58507 w 3600000"/>
              <a:gd name="connsiteY285" fmla="*/ 1851154 h 2787466"/>
              <a:gd name="connsiteX286" fmla="*/ 53358 w 3600000"/>
              <a:gd name="connsiteY286" fmla="*/ 1839234 h 2787466"/>
              <a:gd name="connsiteX287" fmla="*/ 44293 w 3600000"/>
              <a:gd name="connsiteY287" fmla="*/ 1807552 h 2787466"/>
              <a:gd name="connsiteX288" fmla="*/ 35023 w 3600000"/>
              <a:gd name="connsiteY288" fmla="*/ 1829353 h 2787466"/>
              <a:gd name="connsiteX289" fmla="*/ 23280 w 3600000"/>
              <a:gd name="connsiteY289" fmla="*/ 1832333 h 2787466"/>
              <a:gd name="connsiteX290" fmla="*/ 29872 w 3600000"/>
              <a:gd name="connsiteY290" fmla="*/ 1802689 h 2787466"/>
              <a:gd name="connsiteX291" fmla="*/ 40378 w 3600000"/>
              <a:gd name="connsiteY291" fmla="*/ 1804572 h 2787466"/>
              <a:gd name="connsiteX292" fmla="*/ 83229 w 3600000"/>
              <a:gd name="connsiteY292" fmla="*/ 1784809 h 2787466"/>
              <a:gd name="connsiteX293" fmla="*/ 81993 w 3600000"/>
              <a:gd name="connsiteY293" fmla="*/ 1778849 h 2787466"/>
              <a:gd name="connsiteX294" fmla="*/ 93736 w 3600000"/>
              <a:gd name="connsiteY294" fmla="*/ 1778849 h 2787466"/>
              <a:gd name="connsiteX295" fmla="*/ 101564 w 3600000"/>
              <a:gd name="connsiteY295" fmla="*/ 1771948 h 2787466"/>
              <a:gd name="connsiteX296" fmla="*/ 97650 w 3600000"/>
              <a:gd name="connsiteY296" fmla="*/ 1766929 h 2787466"/>
              <a:gd name="connsiteX297" fmla="*/ 110629 w 3600000"/>
              <a:gd name="connsiteY297" fmla="*/ 1763008 h 2787466"/>
              <a:gd name="connsiteX298" fmla="*/ 106714 w 3600000"/>
              <a:gd name="connsiteY298" fmla="*/ 1757047 h 2787466"/>
              <a:gd name="connsiteX299" fmla="*/ 128758 w 3600000"/>
              <a:gd name="connsiteY299" fmla="*/ 1749049 h 2787466"/>
              <a:gd name="connsiteX300" fmla="*/ 152244 w 3600000"/>
              <a:gd name="connsiteY300" fmla="*/ 1735246 h 2787466"/>
              <a:gd name="connsiteX301" fmla="*/ 1709045 w 3600000"/>
              <a:gd name="connsiteY301" fmla="*/ 1724563 h 2787466"/>
              <a:gd name="connsiteX302" fmla="*/ 1717210 w 3600000"/>
              <a:gd name="connsiteY302" fmla="*/ 1727328 h 2787466"/>
              <a:gd name="connsiteX303" fmla="*/ 1713319 w 3600000"/>
              <a:gd name="connsiteY303" fmla="*/ 1740168 h 2787466"/>
              <a:gd name="connsiteX304" fmla="*/ 1706766 w 3600000"/>
              <a:gd name="connsiteY304" fmla="*/ 1739085 h 2787466"/>
              <a:gd name="connsiteX305" fmla="*/ 1708200 w 3600000"/>
              <a:gd name="connsiteY305" fmla="*/ 1731351 h 2787466"/>
              <a:gd name="connsiteX306" fmla="*/ 1702875 w 3600000"/>
              <a:gd name="connsiteY306" fmla="*/ 1728411 h 2787466"/>
              <a:gd name="connsiteX307" fmla="*/ 1709045 w 3600000"/>
              <a:gd name="connsiteY307" fmla="*/ 1724563 h 2787466"/>
              <a:gd name="connsiteX308" fmla="*/ 1681772 w 3600000"/>
              <a:gd name="connsiteY308" fmla="*/ 1720902 h 2787466"/>
              <a:gd name="connsiteX309" fmla="*/ 1677907 w 3600000"/>
              <a:gd name="connsiteY309" fmla="*/ 1744795 h 2787466"/>
              <a:gd name="connsiteX310" fmla="*/ 1676686 w 3600000"/>
              <a:gd name="connsiteY310" fmla="*/ 1729861 h 2787466"/>
              <a:gd name="connsiteX311" fmla="*/ 1671600 w 3600000"/>
              <a:gd name="connsiteY311" fmla="*/ 1726875 h 2787466"/>
              <a:gd name="connsiteX312" fmla="*/ 1668955 w 3600000"/>
              <a:gd name="connsiteY312" fmla="*/ 1735835 h 2787466"/>
              <a:gd name="connsiteX313" fmla="*/ 1658580 w 3600000"/>
              <a:gd name="connsiteY313" fmla="*/ 1732848 h 2787466"/>
              <a:gd name="connsiteX314" fmla="*/ 1657360 w 3600000"/>
              <a:gd name="connsiteY314" fmla="*/ 1725932 h 2787466"/>
              <a:gd name="connsiteX315" fmla="*/ 1670176 w 3600000"/>
              <a:gd name="connsiteY315" fmla="*/ 1724988 h 2787466"/>
              <a:gd name="connsiteX316" fmla="*/ 1666311 w 3600000"/>
              <a:gd name="connsiteY316" fmla="*/ 1723888 h 2787466"/>
              <a:gd name="connsiteX317" fmla="*/ 1681772 w 3600000"/>
              <a:gd name="connsiteY317" fmla="*/ 1720902 h 2787466"/>
              <a:gd name="connsiteX318" fmla="*/ 1645478 w 3600000"/>
              <a:gd name="connsiteY318" fmla="*/ 1703357 h 2787466"/>
              <a:gd name="connsiteX319" fmla="*/ 1641563 w 3600000"/>
              <a:gd name="connsiteY319" fmla="*/ 1707288 h 2787466"/>
              <a:gd name="connsiteX320" fmla="*/ 1648157 w 3600000"/>
              <a:gd name="connsiteY320" fmla="*/ 1714206 h 2787466"/>
              <a:gd name="connsiteX321" fmla="*/ 1645478 w 3600000"/>
              <a:gd name="connsiteY321" fmla="*/ 1703357 h 2787466"/>
              <a:gd name="connsiteX322" fmla="*/ 41269 w 3600000"/>
              <a:gd name="connsiteY322" fmla="*/ 1700583 h 2787466"/>
              <a:gd name="connsiteX323" fmla="*/ 29400 w 3600000"/>
              <a:gd name="connsiteY323" fmla="*/ 1719147 h 2787466"/>
              <a:gd name="connsiteX324" fmla="*/ 41269 w 3600000"/>
              <a:gd name="connsiteY324" fmla="*/ 1700583 h 2787466"/>
              <a:gd name="connsiteX325" fmla="*/ 1739122 w 3600000"/>
              <a:gd name="connsiteY325" fmla="*/ 1699197 h 2787466"/>
              <a:gd name="connsiteX326" fmla="*/ 1734074 w 3600000"/>
              <a:gd name="connsiteY326" fmla="*/ 1705047 h 2787466"/>
              <a:gd name="connsiteX327" fmla="*/ 1739122 w 3600000"/>
              <a:gd name="connsiteY327" fmla="*/ 1699197 h 2787466"/>
              <a:gd name="connsiteX328" fmla="*/ 71523 w 3600000"/>
              <a:gd name="connsiteY328" fmla="*/ 1697117 h 2787466"/>
              <a:gd name="connsiteX329" fmla="*/ 89997 w 3600000"/>
              <a:gd name="connsiteY329" fmla="*/ 1697117 h 2787466"/>
              <a:gd name="connsiteX330" fmla="*/ 107017 w 3600000"/>
              <a:gd name="connsiteY330" fmla="*/ 1701893 h 2787466"/>
              <a:gd name="connsiteX331" fmla="*/ 89997 w 3600000"/>
              <a:gd name="connsiteY331" fmla="*/ 1713601 h 2787466"/>
              <a:gd name="connsiteX332" fmla="*/ 74221 w 3600000"/>
              <a:gd name="connsiteY332" fmla="*/ 1703896 h 2787466"/>
              <a:gd name="connsiteX333" fmla="*/ 75466 w 3600000"/>
              <a:gd name="connsiteY333" fmla="*/ 1708826 h 2787466"/>
              <a:gd name="connsiteX334" fmla="*/ 71523 w 3600000"/>
              <a:gd name="connsiteY334" fmla="*/ 1697117 h 2787466"/>
              <a:gd name="connsiteX335" fmla="*/ 1715830 w 3600000"/>
              <a:gd name="connsiteY335" fmla="*/ 1696345 h 2787466"/>
              <a:gd name="connsiteX336" fmla="*/ 1721101 w 3600000"/>
              <a:gd name="connsiteY336" fmla="*/ 1699328 h 2787466"/>
              <a:gd name="connsiteX337" fmla="*/ 1721101 w 3600000"/>
              <a:gd name="connsiteY337" fmla="*/ 1706234 h 2787466"/>
              <a:gd name="connsiteX338" fmla="*/ 1732659 w 3600000"/>
              <a:gd name="connsiteY338" fmla="*/ 1717065 h 2787466"/>
              <a:gd name="connsiteX339" fmla="*/ 1719682 w 3600000"/>
              <a:gd name="connsiteY339" fmla="*/ 1712198 h 2787466"/>
              <a:gd name="connsiteX340" fmla="*/ 1709544 w 3600000"/>
              <a:gd name="connsiteY340" fmla="*/ 1700269 h 2787466"/>
              <a:gd name="connsiteX341" fmla="*/ 1715830 w 3600000"/>
              <a:gd name="connsiteY341" fmla="*/ 1696345 h 2787466"/>
              <a:gd name="connsiteX342" fmla="*/ 1678040 w 3600000"/>
              <a:gd name="connsiteY342" fmla="*/ 1695339 h 2787466"/>
              <a:gd name="connsiteX343" fmla="*/ 1689787 w 3600000"/>
              <a:gd name="connsiteY343" fmla="*/ 1703357 h 2787466"/>
              <a:gd name="connsiteX344" fmla="*/ 1689787 w 3600000"/>
              <a:gd name="connsiteY344" fmla="*/ 1696440 h 2787466"/>
              <a:gd name="connsiteX345" fmla="*/ 1678040 w 3600000"/>
              <a:gd name="connsiteY345" fmla="*/ 1695339 h 2787466"/>
              <a:gd name="connsiteX346" fmla="*/ 1654546 w 3600000"/>
              <a:gd name="connsiteY346" fmla="*/ 1691409 h 2787466"/>
              <a:gd name="connsiteX347" fmla="*/ 1648157 w 3600000"/>
              <a:gd name="connsiteY347" fmla="*/ 1694396 h 2787466"/>
              <a:gd name="connsiteX348" fmla="*/ 1654546 w 3600000"/>
              <a:gd name="connsiteY348" fmla="*/ 1704301 h 2787466"/>
              <a:gd name="connsiteX349" fmla="*/ 1662378 w 3600000"/>
              <a:gd name="connsiteY349" fmla="*/ 1703357 h 2787466"/>
              <a:gd name="connsiteX350" fmla="*/ 1654546 w 3600000"/>
              <a:gd name="connsiteY350" fmla="*/ 1691409 h 2787466"/>
              <a:gd name="connsiteX351" fmla="*/ 1724036 w 3600000"/>
              <a:gd name="connsiteY351" fmla="*/ 1691142 h 2787466"/>
              <a:gd name="connsiteX352" fmla="*/ 1731749 w 3600000"/>
              <a:gd name="connsiteY352" fmla="*/ 1692156 h 2787466"/>
              <a:gd name="connsiteX353" fmla="*/ 1722788 w 3600000"/>
              <a:gd name="connsiteY353" fmla="*/ 1699044 h 2787466"/>
              <a:gd name="connsiteX354" fmla="*/ 1720140 w 3600000"/>
              <a:gd name="connsiteY354" fmla="*/ 1695064 h 2787466"/>
              <a:gd name="connsiteX355" fmla="*/ 1724036 w 3600000"/>
              <a:gd name="connsiteY355" fmla="*/ 1691142 h 2787466"/>
              <a:gd name="connsiteX356" fmla="*/ 1689787 w 3600000"/>
              <a:gd name="connsiteY356" fmla="*/ 1684491 h 2787466"/>
              <a:gd name="connsiteX357" fmla="*/ 1687314 w 3600000"/>
              <a:gd name="connsiteY357" fmla="*/ 1690465 h 2787466"/>
              <a:gd name="connsiteX358" fmla="*/ 1692465 w 3600000"/>
              <a:gd name="connsiteY358" fmla="*/ 1700370 h 2787466"/>
              <a:gd name="connsiteX359" fmla="*/ 1689787 w 3600000"/>
              <a:gd name="connsiteY359" fmla="*/ 1684491 h 2787466"/>
              <a:gd name="connsiteX360" fmla="*/ 1672888 w 3600000"/>
              <a:gd name="connsiteY360" fmla="*/ 1670498 h 2787466"/>
              <a:gd name="connsiteX361" fmla="*/ 1671651 w 3600000"/>
              <a:gd name="connsiteY361" fmla="*/ 1675529 h 2787466"/>
              <a:gd name="connsiteX362" fmla="*/ 1671651 w 3600000"/>
              <a:gd name="connsiteY362" fmla="*/ 1681504 h 2787466"/>
              <a:gd name="connsiteX363" fmla="*/ 1680719 w 3600000"/>
              <a:gd name="connsiteY363" fmla="*/ 1690465 h 2787466"/>
              <a:gd name="connsiteX364" fmla="*/ 1684634 w 3600000"/>
              <a:gd name="connsiteY364" fmla="*/ 1683390 h 2787466"/>
              <a:gd name="connsiteX365" fmla="*/ 1672888 w 3600000"/>
              <a:gd name="connsiteY365" fmla="*/ 1670498 h 2787466"/>
              <a:gd name="connsiteX366" fmla="*/ 1660143 w 3600000"/>
              <a:gd name="connsiteY366" fmla="*/ 1667454 h 2787466"/>
              <a:gd name="connsiteX367" fmla="*/ 1658462 w 3600000"/>
              <a:gd name="connsiteY367" fmla="*/ 1670498 h 2787466"/>
              <a:gd name="connsiteX368" fmla="*/ 1667736 w 3600000"/>
              <a:gd name="connsiteY368" fmla="*/ 1679460 h 2787466"/>
              <a:gd name="connsiteX369" fmla="*/ 1660143 w 3600000"/>
              <a:gd name="connsiteY369" fmla="*/ 1667454 h 2787466"/>
              <a:gd name="connsiteX370" fmla="*/ 1718686 w 3600000"/>
              <a:gd name="connsiteY370" fmla="*/ 1666613 h 2787466"/>
              <a:gd name="connsiteX371" fmla="*/ 1734471 w 3600000"/>
              <a:gd name="connsiteY371" fmla="*/ 1670530 h 2787466"/>
              <a:gd name="connsiteX372" fmla="*/ 1713494 w 3600000"/>
              <a:gd name="connsiteY372" fmla="*/ 1689334 h 2787466"/>
              <a:gd name="connsiteX373" fmla="*/ 1708301 w 3600000"/>
              <a:gd name="connsiteY373" fmla="*/ 1679462 h 2787466"/>
              <a:gd name="connsiteX374" fmla="*/ 1705601 w 3600000"/>
              <a:gd name="connsiteY374" fmla="*/ 1680403 h 2787466"/>
              <a:gd name="connsiteX375" fmla="*/ 1718686 w 3600000"/>
              <a:gd name="connsiteY375" fmla="*/ 1666613 h 2787466"/>
              <a:gd name="connsiteX376" fmla="*/ 1818746 w 3600000"/>
              <a:gd name="connsiteY376" fmla="*/ 1665627 h 2787466"/>
              <a:gd name="connsiteX377" fmla="*/ 1815084 w 3600000"/>
              <a:gd name="connsiteY377" fmla="*/ 1674376 h 2787466"/>
              <a:gd name="connsiteX378" fmla="*/ 1818746 w 3600000"/>
              <a:gd name="connsiteY378" fmla="*/ 1665627 h 2787466"/>
              <a:gd name="connsiteX379" fmla="*/ 1845048 w 3600000"/>
              <a:gd name="connsiteY379" fmla="*/ 1664421 h 2787466"/>
              <a:gd name="connsiteX380" fmla="*/ 1850790 w 3600000"/>
              <a:gd name="connsiteY380" fmla="*/ 1669679 h 2787466"/>
              <a:gd name="connsiteX381" fmla="*/ 1838151 w 3600000"/>
              <a:gd name="connsiteY381" fmla="*/ 1672694 h 2787466"/>
              <a:gd name="connsiteX382" fmla="*/ 1835543 w 3600000"/>
              <a:gd name="connsiteY382" fmla="*/ 1666663 h 2787466"/>
              <a:gd name="connsiteX383" fmla="*/ 1845048 w 3600000"/>
              <a:gd name="connsiteY383" fmla="*/ 1664421 h 2787466"/>
              <a:gd name="connsiteX384" fmla="*/ 1793170 w 3600000"/>
              <a:gd name="connsiteY384" fmla="*/ 1662454 h 2787466"/>
              <a:gd name="connsiteX385" fmla="*/ 1793170 w 3600000"/>
              <a:gd name="connsiteY385" fmla="*/ 1664315 h 2787466"/>
              <a:gd name="connsiteX386" fmla="*/ 1797168 w 3600000"/>
              <a:gd name="connsiteY386" fmla="*/ 1668346 h 2787466"/>
              <a:gd name="connsiteX387" fmla="*/ 1777388 w 3600000"/>
              <a:gd name="connsiteY387" fmla="*/ 1673153 h 2787466"/>
              <a:gd name="connsiteX388" fmla="*/ 1793170 w 3600000"/>
              <a:gd name="connsiteY388" fmla="*/ 1662454 h 2787466"/>
              <a:gd name="connsiteX389" fmla="*/ 1759606 w 3600000"/>
              <a:gd name="connsiteY389" fmla="*/ 1660604 h 2787466"/>
              <a:gd name="connsiteX390" fmla="*/ 1765366 w 3600000"/>
              <a:gd name="connsiteY390" fmla="*/ 1664605 h 2787466"/>
              <a:gd name="connsiteX391" fmla="*/ 1754737 w 3600000"/>
              <a:gd name="connsiteY391" fmla="*/ 1673453 h 2787466"/>
              <a:gd name="connsiteX392" fmla="*/ 1745567 w 3600000"/>
              <a:gd name="connsiteY392" fmla="*/ 1672522 h 2787466"/>
              <a:gd name="connsiteX393" fmla="*/ 1759606 w 3600000"/>
              <a:gd name="connsiteY393" fmla="*/ 1660604 h 2787466"/>
              <a:gd name="connsiteX394" fmla="*/ 1674124 w 3600000"/>
              <a:gd name="connsiteY394" fmla="*/ 1657606 h 2787466"/>
              <a:gd name="connsiteX395" fmla="*/ 1689787 w 3600000"/>
              <a:gd name="connsiteY395" fmla="*/ 1679460 h 2787466"/>
              <a:gd name="connsiteX396" fmla="*/ 1696382 w 3600000"/>
              <a:gd name="connsiteY396" fmla="*/ 1678517 h 2787466"/>
              <a:gd name="connsiteX397" fmla="*/ 1685871 w 3600000"/>
              <a:gd name="connsiteY397" fmla="*/ 1659650 h 2787466"/>
              <a:gd name="connsiteX398" fmla="*/ 1674124 w 3600000"/>
              <a:gd name="connsiteY398" fmla="*/ 1657606 h 2787466"/>
              <a:gd name="connsiteX399" fmla="*/ 1793832 w 3600000"/>
              <a:gd name="connsiteY399" fmla="*/ 1656163 h 2787466"/>
              <a:gd name="connsiteX400" fmla="*/ 1792834 w 3600000"/>
              <a:gd name="connsiteY400" fmla="*/ 1657986 h 2787466"/>
              <a:gd name="connsiteX401" fmla="*/ 1793016 w 3600000"/>
              <a:gd name="connsiteY401" fmla="*/ 1656277 h 2787466"/>
              <a:gd name="connsiteX402" fmla="*/ 1701534 w 3600000"/>
              <a:gd name="connsiteY402" fmla="*/ 1650689 h 2787466"/>
              <a:gd name="connsiteX403" fmla="*/ 1702770 w 3600000"/>
              <a:gd name="connsiteY403" fmla="*/ 1656663 h 2787466"/>
              <a:gd name="connsiteX404" fmla="*/ 1711838 w 3600000"/>
              <a:gd name="connsiteY404" fmla="*/ 1651632 h 2787466"/>
              <a:gd name="connsiteX405" fmla="*/ 1701534 w 3600000"/>
              <a:gd name="connsiteY405" fmla="*/ 1650689 h 2787466"/>
              <a:gd name="connsiteX406" fmla="*/ 1819040 w 3600000"/>
              <a:gd name="connsiteY406" fmla="*/ 1649975 h 2787466"/>
              <a:gd name="connsiteX407" fmla="*/ 1816357 w 3600000"/>
              <a:gd name="connsiteY407" fmla="*/ 1660027 h 2787466"/>
              <a:gd name="connsiteX408" fmla="*/ 1820278 w 3600000"/>
              <a:gd name="connsiteY408" fmla="*/ 1652017 h 2787466"/>
              <a:gd name="connsiteX409" fmla="*/ 1839880 w 3600000"/>
              <a:gd name="connsiteY409" fmla="*/ 1657043 h 2787466"/>
              <a:gd name="connsiteX410" fmla="*/ 1819040 w 3600000"/>
              <a:gd name="connsiteY410" fmla="*/ 1658928 h 2787466"/>
              <a:gd name="connsiteX411" fmla="*/ 1822960 w 3600000"/>
              <a:gd name="connsiteY411" fmla="*/ 1663011 h 2787466"/>
              <a:gd name="connsiteX412" fmla="*/ 1807279 w 3600000"/>
              <a:gd name="connsiteY412" fmla="*/ 1657986 h 2787466"/>
              <a:gd name="connsiteX413" fmla="*/ 1800676 w 3600000"/>
              <a:gd name="connsiteY413" fmla="*/ 1663954 h 2787466"/>
              <a:gd name="connsiteX414" fmla="*/ 1792834 w 3600000"/>
              <a:gd name="connsiteY414" fmla="*/ 1660027 h 2787466"/>
              <a:gd name="connsiteX415" fmla="*/ 1794279 w 3600000"/>
              <a:gd name="connsiteY415" fmla="*/ 1656101 h 2787466"/>
              <a:gd name="connsiteX416" fmla="*/ 1793832 w 3600000"/>
              <a:gd name="connsiteY416" fmla="*/ 1656163 h 2787466"/>
              <a:gd name="connsiteX417" fmla="*/ 1795465 w 3600000"/>
              <a:gd name="connsiteY417" fmla="*/ 1653175 h 2787466"/>
              <a:gd name="connsiteX418" fmla="*/ 1802120 w 3600000"/>
              <a:gd name="connsiteY418" fmla="*/ 1652017 h 2787466"/>
              <a:gd name="connsiteX419" fmla="*/ 1819040 w 3600000"/>
              <a:gd name="connsiteY419" fmla="*/ 1649975 h 2787466"/>
              <a:gd name="connsiteX420" fmla="*/ 1841696 w 3600000"/>
              <a:gd name="connsiteY420" fmla="*/ 1637669 h 2787466"/>
              <a:gd name="connsiteX421" fmla="*/ 1827365 w 3600000"/>
              <a:gd name="connsiteY421" fmla="*/ 1646353 h 2787466"/>
              <a:gd name="connsiteX422" fmla="*/ 1841696 w 3600000"/>
              <a:gd name="connsiteY422" fmla="*/ 1637669 h 2787466"/>
              <a:gd name="connsiteX423" fmla="*/ 1852323 w 3600000"/>
              <a:gd name="connsiteY423" fmla="*/ 1636953 h 2787466"/>
              <a:gd name="connsiteX424" fmla="*/ 1866236 w 3600000"/>
              <a:gd name="connsiteY424" fmla="*/ 1641064 h 2787466"/>
              <a:gd name="connsiteX425" fmla="*/ 1852102 w 3600000"/>
              <a:gd name="connsiteY425" fmla="*/ 1639032 h 2787466"/>
              <a:gd name="connsiteX426" fmla="*/ 1852323 w 3600000"/>
              <a:gd name="connsiteY426" fmla="*/ 1636953 h 2787466"/>
              <a:gd name="connsiteX427" fmla="*/ 2372369 w 3600000"/>
              <a:gd name="connsiteY427" fmla="*/ 1631657 h 2787466"/>
              <a:gd name="connsiteX428" fmla="*/ 2346224 w 3600000"/>
              <a:gd name="connsiteY428" fmla="*/ 1638531 h 2787466"/>
              <a:gd name="connsiteX429" fmla="*/ 2372369 w 3600000"/>
              <a:gd name="connsiteY429" fmla="*/ 1631657 h 2787466"/>
              <a:gd name="connsiteX430" fmla="*/ 2412352 w 3600000"/>
              <a:gd name="connsiteY430" fmla="*/ 1628721 h 2787466"/>
              <a:gd name="connsiteX431" fmla="*/ 2379845 w 3600000"/>
              <a:gd name="connsiteY431" fmla="*/ 1636644 h 2787466"/>
              <a:gd name="connsiteX432" fmla="*/ 2412352 w 3600000"/>
              <a:gd name="connsiteY432" fmla="*/ 1628721 h 2787466"/>
              <a:gd name="connsiteX433" fmla="*/ 2116676 w 3600000"/>
              <a:gd name="connsiteY433" fmla="*/ 1617934 h 2787466"/>
              <a:gd name="connsiteX434" fmla="*/ 2129754 w 3600000"/>
              <a:gd name="connsiteY434" fmla="*/ 1622179 h 2787466"/>
              <a:gd name="connsiteX435" fmla="*/ 2119616 w 3600000"/>
              <a:gd name="connsiteY435" fmla="*/ 1624129 h 2787466"/>
              <a:gd name="connsiteX436" fmla="*/ 2105422 w 3600000"/>
              <a:gd name="connsiteY436" fmla="*/ 1625266 h 2787466"/>
              <a:gd name="connsiteX437" fmla="*/ 2116676 w 3600000"/>
              <a:gd name="connsiteY437" fmla="*/ 1617934 h 2787466"/>
              <a:gd name="connsiteX438" fmla="*/ 2448054 w 3600000"/>
              <a:gd name="connsiteY438" fmla="*/ 1607492 h 2787466"/>
              <a:gd name="connsiteX439" fmla="*/ 2446673 w 3600000"/>
              <a:gd name="connsiteY439" fmla="*/ 1608243 h 2787466"/>
              <a:gd name="connsiteX440" fmla="*/ 2447878 w 3600000"/>
              <a:gd name="connsiteY440" fmla="*/ 1609256 h 2787466"/>
              <a:gd name="connsiteX441" fmla="*/ 2449474 w 3600000"/>
              <a:gd name="connsiteY441" fmla="*/ 1607560 h 2787466"/>
              <a:gd name="connsiteX442" fmla="*/ 2719491 w 3600000"/>
              <a:gd name="connsiteY442" fmla="*/ 1595206 h 2787466"/>
              <a:gd name="connsiteX443" fmla="*/ 2702933 w 3600000"/>
              <a:gd name="connsiteY443" fmla="*/ 1607087 h 2787466"/>
              <a:gd name="connsiteX444" fmla="*/ 2719491 w 3600000"/>
              <a:gd name="connsiteY444" fmla="*/ 1595206 h 2787466"/>
              <a:gd name="connsiteX445" fmla="*/ 216267 w 3600000"/>
              <a:gd name="connsiteY445" fmla="*/ 1595206 h 2787466"/>
              <a:gd name="connsiteX446" fmla="*/ 225405 w 3600000"/>
              <a:gd name="connsiteY446" fmla="*/ 1596131 h 2787466"/>
              <a:gd name="connsiteX447" fmla="*/ 221459 w 3600000"/>
              <a:gd name="connsiteY447" fmla="*/ 1601985 h 2787466"/>
              <a:gd name="connsiteX448" fmla="*/ 216267 w 3600000"/>
              <a:gd name="connsiteY448" fmla="*/ 1595206 h 2787466"/>
              <a:gd name="connsiteX449" fmla="*/ 1892846 w 3600000"/>
              <a:gd name="connsiteY449" fmla="*/ 1595000 h 2787466"/>
              <a:gd name="connsiteX450" fmla="*/ 1887629 w 3600000"/>
              <a:gd name="connsiteY450" fmla="*/ 1602894 h 2787466"/>
              <a:gd name="connsiteX451" fmla="*/ 1882271 w 3600000"/>
              <a:gd name="connsiteY451" fmla="*/ 1605881 h 2787466"/>
              <a:gd name="connsiteX452" fmla="*/ 1897933 w 3600000"/>
              <a:gd name="connsiteY452" fmla="*/ 1595032 h 2787466"/>
              <a:gd name="connsiteX453" fmla="*/ 1892846 w 3600000"/>
              <a:gd name="connsiteY453" fmla="*/ 1595000 h 2787466"/>
              <a:gd name="connsiteX454" fmla="*/ 1853625 w 3600000"/>
              <a:gd name="connsiteY454" fmla="*/ 1592988 h 2787466"/>
              <a:gd name="connsiteX455" fmla="*/ 1854011 w 3600000"/>
              <a:gd name="connsiteY455" fmla="*/ 1600751 h 2787466"/>
              <a:gd name="connsiteX456" fmla="*/ 1853704 w 3600000"/>
              <a:gd name="connsiteY456" fmla="*/ 1601930 h 2787466"/>
              <a:gd name="connsiteX457" fmla="*/ 1856865 w 3600000"/>
              <a:gd name="connsiteY457" fmla="*/ 1605264 h 2787466"/>
              <a:gd name="connsiteX458" fmla="*/ 1857309 w 3600000"/>
              <a:gd name="connsiteY458" fmla="*/ 1604584 h 2787466"/>
              <a:gd name="connsiteX459" fmla="*/ 1860220 w 3600000"/>
              <a:gd name="connsiteY459" fmla="*/ 1600063 h 2787466"/>
              <a:gd name="connsiteX460" fmla="*/ 1862899 w 3600000"/>
              <a:gd name="connsiteY460" fmla="*/ 1600063 h 2787466"/>
              <a:gd name="connsiteX461" fmla="*/ 1853625 w 3600000"/>
              <a:gd name="connsiteY461" fmla="*/ 1592988 h 2787466"/>
              <a:gd name="connsiteX462" fmla="*/ 2576823 w 3600000"/>
              <a:gd name="connsiteY462" fmla="*/ 1590354 h 2787466"/>
              <a:gd name="connsiteX463" fmla="*/ 2565217 w 3600000"/>
              <a:gd name="connsiteY463" fmla="*/ 1600593 h 2787466"/>
              <a:gd name="connsiteX464" fmla="*/ 2565217 w 3600000"/>
              <a:gd name="connsiteY464" fmla="*/ 1591473 h 2787466"/>
              <a:gd name="connsiteX465" fmla="*/ 2576823 w 3600000"/>
              <a:gd name="connsiteY465" fmla="*/ 1590354 h 2787466"/>
              <a:gd name="connsiteX466" fmla="*/ 2091776 w 3600000"/>
              <a:gd name="connsiteY466" fmla="*/ 1589048 h 2787466"/>
              <a:gd name="connsiteX467" fmla="*/ 2091335 w 3600000"/>
              <a:gd name="connsiteY467" fmla="*/ 1592126 h 2787466"/>
              <a:gd name="connsiteX468" fmla="*/ 2084234 w 3600000"/>
              <a:gd name="connsiteY468" fmla="*/ 1600063 h 2787466"/>
              <a:gd name="connsiteX469" fmla="*/ 2103813 w 3600000"/>
              <a:gd name="connsiteY469" fmla="*/ 1597076 h 2787466"/>
              <a:gd name="connsiteX470" fmla="*/ 2096239 w 3600000"/>
              <a:gd name="connsiteY470" fmla="*/ 1590827 h 2787466"/>
              <a:gd name="connsiteX471" fmla="*/ 2096022 w 3600000"/>
              <a:gd name="connsiteY471" fmla="*/ 1589455 h 2787466"/>
              <a:gd name="connsiteX472" fmla="*/ 2029391 w 3600000"/>
              <a:gd name="connsiteY472" fmla="*/ 1584095 h 2787466"/>
              <a:gd name="connsiteX473" fmla="*/ 2029416 w 3600000"/>
              <a:gd name="connsiteY473" fmla="*/ 1584184 h 2787466"/>
              <a:gd name="connsiteX474" fmla="*/ 2030632 w 3600000"/>
              <a:gd name="connsiteY474" fmla="*/ 1584161 h 2787466"/>
              <a:gd name="connsiteX475" fmla="*/ 2018014 w 3600000"/>
              <a:gd name="connsiteY475" fmla="*/ 1582586 h 2787466"/>
              <a:gd name="connsiteX476" fmla="*/ 2017875 w 3600000"/>
              <a:gd name="connsiteY476" fmla="*/ 1583084 h 2787466"/>
              <a:gd name="connsiteX477" fmla="*/ 2020101 w 3600000"/>
              <a:gd name="connsiteY477" fmla="*/ 1582890 h 2787466"/>
              <a:gd name="connsiteX478" fmla="*/ 2003546 w 3600000"/>
              <a:gd name="connsiteY478" fmla="*/ 1580477 h 2787466"/>
              <a:gd name="connsiteX479" fmla="*/ 2003449 w 3600000"/>
              <a:gd name="connsiteY479" fmla="*/ 1581197 h 2787466"/>
              <a:gd name="connsiteX480" fmla="*/ 2011280 w 3600000"/>
              <a:gd name="connsiteY480" fmla="*/ 1583084 h 2787466"/>
              <a:gd name="connsiteX481" fmla="*/ 2011743 w 3600000"/>
              <a:gd name="connsiteY481" fmla="*/ 1581672 h 2787466"/>
              <a:gd name="connsiteX482" fmla="*/ 2547869 w 3600000"/>
              <a:gd name="connsiteY482" fmla="*/ 1579743 h 2787466"/>
              <a:gd name="connsiteX483" fmla="*/ 2570463 w 3600000"/>
              <a:gd name="connsiteY483" fmla="*/ 1581550 h 2787466"/>
              <a:gd name="connsiteX484" fmla="*/ 2515131 w 3600000"/>
              <a:gd name="connsiteY484" fmla="*/ 1608698 h 2787466"/>
              <a:gd name="connsiteX485" fmla="*/ 2509843 w 3600000"/>
              <a:gd name="connsiteY485" fmla="*/ 1608747 h 2787466"/>
              <a:gd name="connsiteX486" fmla="*/ 2508894 w 3600000"/>
              <a:gd name="connsiteY486" fmla="*/ 1608918 h 2787466"/>
              <a:gd name="connsiteX487" fmla="*/ 2478892 w 3600000"/>
              <a:gd name="connsiteY487" fmla="*/ 1611691 h 2787466"/>
              <a:gd name="connsiteX488" fmla="*/ 2478892 w 3600000"/>
              <a:gd name="connsiteY488" fmla="*/ 1608970 h 2787466"/>
              <a:gd name="connsiteX489" fmla="*/ 2457657 w 3600000"/>
              <a:gd name="connsiteY489" fmla="*/ 1607952 h 2787466"/>
              <a:gd name="connsiteX490" fmla="*/ 2457684 w 3600000"/>
              <a:gd name="connsiteY490" fmla="*/ 1608058 h 2787466"/>
              <a:gd name="connsiteX491" fmla="*/ 2456706 w 3600000"/>
              <a:gd name="connsiteY491" fmla="*/ 1613481 h 2787466"/>
              <a:gd name="connsiteX492" fmla="*/ 2447878 w 3600000"/>
              <a:gd name="connsiteY492" fmla="*/ 1614455 h 2787466"/>
              <a:gd name="connsiteX493" fmla="*/ 2445270 w 3600000"/>
              <a:gd name="connsiteY493" fmla="*/ 1609256 h 2787466"/>
              <a:gd name="connsiteX494" fmla="*/ 2446115 w 3600000"/>
              <a:gd name="connsiteY494" fmla="*/ 1608545 h 2787466"/>
              <a:gd name="connsiteX495" fmla="*/ 2429713 w 3600000"/>
              <a:gd name="connsiteY495" fmla="*/ 1617457 h 2787466"/>
              <a:gd name="connsiteX496" fmla="*/ 2358204 w 3600000"/>
              <a:gd name="connsiteY496" fmla="*/ 1619514 h 2787466"/>
              <a:gd name="connsiteX497" fmla="*/ 2294321 w 3600000"/>
              <a:gd name="connsiteY497" fmla="*/ 1627423 h 2787466"/>
              <a:gd name="connsiteX498" fmla="*/ 2177270 w 3600000"/>
              <a:gd name="connsiteY498" fmla="*/ 1613503 h 2787466"/>
              <a:gd name="connsiteX499" fmla="*/ 2135437 w 3600000"/>
              <a:gd name="connsiteY499" fmla="*/ 1617457 h 2787466"/>
              <a:gd name="connsiteX500" fmla="*/ 2131521 w 3600000"/>
              <a:gd name="connsiteY500" fmla="*/ 1612396 h 2787466"/>
              <a:gd name="connsiteX501" fmla="*/ 2138116 w 3600000"/>
              <a:gd name="connsiteY501" fmla="*/ 1596419 h 2787466"/>
              <a:gd name="connsiteX502" fmla="*/ 2158929 w 3600000"/>
              <a:gd name="connsiteY502" fmla="*/ 1603380 h 2787466"/>
              <a:gd name="connsiteX503" fmla="*/ 2228508 w 3600000"/>
              <a:gd name="connsiteY503" fmla="*/ 1605271 h 2787466"/>
              <a:gd name="connsiteX504" fmla="*/ 2236738 w 3600000"/>
              <a:gd name="connsiteY504" fmla="*/ 1605330 h 2787466"/>
              <a:gd name="connsiteX505" fmla="*/ 2236719 w 3600000"/>
              <a:gd name="connsiteY505" fmla="*/ 1604869 h 2787466"/>
              <a:gd name="connsiteX506" fmla="*/ 2257874 w 3600000"/>
              <a:gd name="connsiteY506" fmla="*/ 1602833 h 2787466"/>
              <a:gd name="connsiteX507" fmla="*/ 2257226 w 3600000"/>
              <a:gd name="connsiteY507" fmla="*/ 1604136 h 2787466"/>
              <a:gd name="connsiteX508" fmla="*/ 2271730 w 3600000"/>
              <a:gd name="connsiteY508" fmla="*/ 1600868 h 2787466"/>
              <a:gd name="connsiteX509" fmla="*/ 2293084 w 3600000"/>
              <a:gd name="connsiteY509" fmla="*/ 1595470 h 2787466"/>
              <a:gd name="connsiteX510" fmla="*/ 2337623 w 3600000"/>
              <a:gd name="connsiteY510" fmla="*/ 1590665 h 2787466"/>
              <a:gd name="connsiteX511" fmla="*/ 2344918 w 3600000"/>
              <a:gd name="connsiteY511" fmla="*/ 1590331 h 2787466"/>
              <a:gd name="connsiteX512" fmla="*/ 2345084 w 3600000"/>
              <a:gd name="connsiteY512" fmla="*/ 1590297 h 2787466"/>
              <a:gd name="connsiteX513" fmla="*/ 2385433 w 3600000"/>
              <a:gd name="connsiteY513" fmla="*/ 1586194 h 2787466"/>
              <a:gd name="connsiteX514" fmla="*/ 2386158 w 3600000"/>
              <a:gd name="connsiteY514" fmla="*/ 1588478 h 2787466"/>
              <a:gd name="connsiteX515" fmla="*/ 2472783 w 3600000"/>
              <a:gd name="connsiteY515" fmla="*/ 1585505 h 2787466"/>
              <a:gd name="connsiteX516" fmla="*/ 2547869 w 3600000"/>
              <a:gd name="connsiteY516" fmla="*/ 1579743 h 2787466"/>
              <a:gd name="connsiteX517" fmla="*/ 1990936 w 3600000"/>
              <a:gd name="connsiteY517" fmla="*/ 1577389 h 2787466"/>
              <a:gd name="connsiteX518" fmla="*/ 1990466 w 3600000"/>
              <a:gd name="connsiteY518" fmla="*/ 1578210 h 2787466"/>
              <a:gd name="connsiteX519" fmla="*/ 1991702 w 3600000"/>
              <a:gd name="connsiteY519" fmla="*/ 1583084 h 2787466"/>
              <a:gd name="connsiteX520" fmla="*/ 1998648 w 3600000"/>
              <a:gd name="connsiteY520" fmla="*/ 1579351 h 2787466"/>
              <a:gd name="connsiteX521" fmla="*/ 2659515 w 3600000"/>
              <a:gd name="connsiteY521" fmla="*/ 1576029 h 2787466"/>
              <a:gd name="connsiteX522" fmla="*/ 2590660 w 3600000"/>
              <a:gd name="connsiteY522" fmla="*/ 1589961 h 2787466"/>
              <a:gd name="connsiteX523" fmla="*/ 2659515 w 3600000"/>
              <a:gd name="connsiteY523" fmla="*/ 1576029 h 2787466"/>
              <a:gd name="connsiteX524" fmla="*/ 1949081 w 3600000"/>
              <a:gd name="connsiteY524" fmla="*/ 1573398 h 2787466"/>
              <a:gd name="connsiteX525" fmla="*/ 1943169 w 3600000"/>
              <a:gd name="connsiteY525" fmla="*/ 1576229 h 2787466"/>
              <a:gd name="connsiteX526" fmla="*/ 1942950 w 3600000"/>
              <a:gd name="connsiteY526" fmla="*/ 1578384 h 2787466"/>
              <a:gd name="connsiteX527" fmla="*/ 1944921 w 3600000"/>
              <a:gd name="connsiteY527" fmla="*/ 1585127 h 2787466"/>
              <a:gd name="connsiteX528" fmla="*/ 1961820 w 3600000"/>
              <a:gd name="connsiteY528" fmla="*/ 1585127 h 2787466"/>
              <a:gd name="connsiteX529" fmla="*/ 1966972 w 3600000"/>
              <a:gd name="connsiteY529" fmla="*/ 1575223 h 2787466"/>
              <a:gd name="connsiteX530" fmla="*/ 1948836 w 3600000"/>
              <a:gd name="connsiteY530" fmla="*/ 1583084 h 2787466"/>
              <a:gd name="connsiteX531" fmla="*/ 1953879 w 3600000"/>
              <a:gd name="connsiteY531" fmla="*/ 1576959 h 2787466"/>
              <a:gd name="connsiteX532" fmla="*/ 1953977 w 3600000"/>
              <a:gd name="connsiteY532" fmla="*/ 1573553 h 2787466"/>
              <a:gd name="connsiteX533" fmla="*/ 2086708 w 3600000"/>
              <a:gd name="connsiteY533" fmla="*/ 1570192 h 2787466"/>
              <a:gd name="connsiteX534" fmla="*/ 2080318 w 3600000"/>
              <a:gd name="connsiteY534" fmla="*/ 1581197 h 2787466"/>
              <a:gd name="connsiteX535" fmla="*/ 2076403 w 3600000"/>
              <a:gd name="connsiteY535" fmla="*/ 1576165 h 2787466"/>
              <a:gd name="connsiteX536" fmla="*/ 2075167 w 3600000"/>
              <a:gd name="connsiteY536" fmla="*/ 1583084 h 2787466"/>
              <a:gd name="connsiteX537" fmla="*/ 2086013 w 3600000"/>
              <a:gd name="connsiteY537" fmla="*/ 1583988 h 2787466"/>
              <a:gd name="connsiteX538" fmla="*/ 2088971 w 3600000"/>
              <a:gd name="connsiteY538" fmla="*/ 1585467 h 2787466"/>
              <a:gd name="connsiteX539" fmla="*/ 2095399 w 3600000"/>
              <a:gd name="connsiteY539" fmla="*/ 1585524 h 2787466"/>
              <a:gd name="connsiteX540" fmla="*/ 2094539 w 3600000"/>
              <a:gd name="connsiteY540" fmla="*/ 1580096 h 2787466"/>
              <a:gd name="connsiteX541" fmla="*/ 2103813 w 3600000"/>
              <a:gd name="connsiteY541" fmla="*/ 1585127 h 2787466"/>
              <a:gd name="connsiteX542" fmla="*/ 2086708 w 3600000"/>
              <a:gd name="connsiteY542" fmla="*/ 1570192 h 2787466"/>
              <a:gd name="connsiteX543" fmla="*/ 2007365 w 3600000"/>
              <a:gd name="connsiteY543" fmla="*/ 1569248 h 2787466"/>
              <a:gd name="connsiteX544" fmla="*/ 2005922 w 3600000"/>
              <a:gd name="connsiteY544" fmla="*/ 1571613 h 2787466"/>
              <a:gd name="connsiteX545" fmla="*/ 2014821 w 3600000"/>
              <a:gd name="connsiteY545" fmla="*/ 1572635 h 2787466"/>
              <a:gd name="connsiteX546" fmla="*/ 2013701 w 3600000"/>
              <a:gd name="connsiteY546" fmla="*/ 1571332 h 2787466"/>
              <a:gd name="connsiteX547" fmla="*/ 2007365 w 3600000"/>
              <a:gd name="connsiteY547" fmla="*/ 1569248 h 2787466"/>
              <a:gd name="connsiteX548" fmla="*/ 2025706 w 3600000"/>
              <a:gd name="connsiteY548" fmla="*/ 1565160 h 2787466"/>
              <a:gd name="connsiteX549" fmla="*/ 2022872 w 3600000"/>
              <a:gd name="connsiteY549" fmla="*/ 1570054 h 2787466"/>
              <a:gd name="connsiteX550" fmla="*/ 2019943 w 3600000"/>
              <a:gd name="connsiteY550" fmla="*/ 1573223 h 2787466"/>
              <a:gd name="connsiteX551" fmla="*/ 2030348 w 3600000"/>
              <a:gd name="connsiteY551" fmla="*/ 1574418 h 2787466"/>
              <a:gd name="connsiteX552" fmla="*/ 2030858 w 3600000"/>
              <a:gd name="connsiteY552" fmla="*/ 1574122 h 2787466"/>
              <a:gd name="connsiteX553" fmla="*/ 2030738 w 3600000"/>
              <a:gd name="connsiteY553" fmla="*/ 1574463 h 2787466"/>
              <a:gd name="connsiteX554" fmla="*/ 2035103 w 3600000"/>
              <a:gd name="connsiteY554" fmla="*/ 1574964 h 2787466"/>
              <a:gd name="connsiteX555" fmla="*/ 2035263 w 3600000"/>
              <a:gd name="connsiteY555" fmla="*/ 1572923 h 2787466"/>
              <a:gd name="connsiteX556" fmla="*/ 2038690 w 3600000"/>
              <a:gd name="connsiteY556" fmla="*/ 1565160 h 2787466"/>
              <a:gd name="connsiteX557" fmla="*/ 2026943 w 3600000"/>
              <a:gd name="connsiteY557" fmla="*/ 1572235 h 2787466"/>
              <a:gd name="connsiteX558" fmla="*/ 2025706 w 3600000"/>
              <a:gd name="connsiteY558" fmla="*/ 1565160 h 2787466"/>
              <a:gd name="connsiteX559" fmla="*/ 2054146 w 3600000"/>
              <a:gd name="connsiteY559" fmla="*/ 1563274 h 2787466"/>
              <a:gd name="connsiteX560" fmla="*/ 2051673 w 3600000"/>
              <a:gd name="connsiteY560" fmla="*/ 1577109 h 2787466"/>
              <a:gd name="connsiteX561" fmla="*/ 2043687 w 3600000"/>
              <a:gd name="connsiteY561" fmla="*/ 1574004 h 2787466"/>
              <a:gd name="connsiteX562" fmla="*/ 2040877 w 3600000"/>
              <a:gd name="connsiteY562" fmla="*/ 1575628 h 2787466"/>
              <a:gd name="connsiteX563" fmla="*/ 2042000 w 3600000"/>
              <a:gd name="connsiteY563" fmla="*/ 1575757 h 2787466"/>
              <a:gd name="connsiteX564" fmla="*/ 2060350 w 3600000"/>
              <a:gd name="connsiteY564" fmla="*/ 1579667 h 2787466"/>
              <a:gd name="connsiteX565" fmla="*/ 2060624 w 3600000"/>
              <a:gd name="connsiteY565" fmla="*/ 1579771 h 2787466"/>
              <a:gd name="connsiteX566" fmla="*/ 2061169 w 3600000"/>
              <a:gd name="connsiteY566" fmla="*/ 1578617 h 2787466"/>
              <a:gd name="connsiteX567" fmla="*/ 2062183 w 3600000"/>
              <a:gd name="connsiteY567" fmla="*/ 1573179 h 2787466"/>
              <a:gd name="connsiteX568" fmla="*/ 2065378 w 3600000"/>
              <a:gd name="connsiteY568" fmla="*/ 1578131 h 2787466"/>
              <a:gd name="connsiteX569" fmla="*/ 2064843 w 3600000"/>
              <a:gd name="connsiteY569" fmla="*/ 1581365 h 2787466"/>
              <a:gd name="connsiteX570" fmla="*/ 2068571 w 3600000"/>
              <a:gd name="connsiteY570" fmla="*/ 1582774 h 2787466"/>
              <a:gd name="connsiteX571" fmla="*/ 2068546 w 3600000"/>
              <a:gd name="connsiteY571" fmla="*/ 1574692 h 2787466"/>
              <a:gd name="connsiteX572" fmla="*/ 2064656 w 3600000"/>
              <a:gd name="connsiteY572" fmla="*/ 1569248 h 2787466"/>
              <a:gd name="connsiteX573" fmla="*/ 2054146 w 3600000"/>
              <a:gd name="connsiteY573" fmla="*/ 1563274 h 2787466"/>
              <a:gd name="connsiteX574" fmla="*/ 2415002 w 3600000"/>
              <a:gd name="connsiteY574" fmla="*/ 1558243 h 2787466"/>
              <a:gd name="connsiteX575" fmla="*/ 2398103 w 3600000"/>
              <a:gd name="connsiteY575" fmla="*/ 1563274 h 2787466"/>
              <a:gd name="connsiteX576" fmla="*/ 2415002 w 3600000"/>
              <a:gd name="connsiteY576" fmla="*/ 1558243 h 2787466"/>
              <a:gd name="connsiteX577" fmla="*/ 2713949 w 3600000"/>
              <a:gd name="connsiteY577" fmla="*/ 1557270 h 2787466"/>
              <a:gd name="connsiteX578" fmla="*/ 2704924 w 3600000"/>
              <a:gd name="connsiteY578" fmla="*/ 1558235 h 2787466"/>
              <a:gd name="connsiteX579" fmla="*/ 2687302 w 3600000"/>
              <a:gd name="connsiteY579" fmla="*/ 1564993 h 2787466"/>
              <a:gd name="connsiteX580" fmla="*/ 2679068 w 3600000"/>
              <a:gd name="connsiteY580" fmla="*/ 1566567 h 2787466"/>
              <a:gd name="connsiteX581" fmla="*/ 2683374 w 3600000"/>
              <a:gd name="connsiteY581" fmla="*/ 1566383 h 2787466"/>
              <a:gd name="connsiteX582" fmla="*/ 2707053 w 3600000"/>
              <a:gd name="connsiteY582" fmla="*/ 1558833 h 2787466"/>
              <a:gd name="connsiteX583" fmla="*/ 2481810 w 3600000"/>
              <a:gd name="connsiteY583" fmla="*/ 1544664 h 2787466"/>
              <a:gd name="connsiteX584" fmla="*/ 2480124 w 3600000"/>
              <a:gd name="connsiteY584" fmla="*/ 1545351 h 2787466"/>
              <a:gd name="connsiteX585" fmla="*/ 2481467 w 3600000"/>
              <a:gd name="connsiteY585" fmla="*/ 1547985 h 2787466"/>
              <a:gd name="connsiteX586" fmla="*/ 2481680 w 3600000"/>
              <a:gd name="connsiteY586" fmla="*/ 1545090 h 2787466"/>
              <a:gd name="connsiteX587" fmla="*/ 2236935 w 3600000"/>
              <a:gd name="connsiteY587" fmla="*/ 1541211 h 2787466"/>
              <a:gd name="connsiteX588" fmla="*/ 2234059 w 3600000"/>
              <a:gd name="connsiteY588" fmla="*/ 1542364 h 2787466"/>
              <a:gd name="connsiteX589" fmla="*/ 2234059 w 3600000"/>
              <a:gd name="connsiteY589" fmla="*/ 1551325 h 2787466"/>
              <a:gd name="connsiteX590" fmla="*/ 2245600 w 3600000"/>
              <a:gd name="connsiteY590" fmla="*/ 1549281 h 2787466"/>
              <a:gd name="connsiteX591" fmla="*/ 2241761 w 3600000"/>
              <a:gd name="connsiteY591" fmla="*/ 1542108 h 2787466"/>
              <a:gd name="connsiteX592" fmla="*/ 2236935 w 3600000"/>
              <a:gd name="connsiteY592" fmla="*/ 1541211 h 2787466"/>
              <a:gd name="connsiteX593" fmla="*/ 2541603 w 3600000"/>
              <a:gd name="connsiteY593" fmla="*/ 1533555 h 2787466"/>
              <a:gd name="connsiteX594" fmla="*/ 2539966 w 3600000"/>
              <a:gd name="connsiteY594" fmla="*/ 1535673 h 2787466"/>
              <a:gd name="connsiteX595" fmla="*/ 2539994 w 3600000"/>
              <a:gd name="connsiteY595" fmla="*/ 1535884 h 2787466"/>
              <a:gd name="connsiteX596" fmla="*/ 2543651 w 3600000"/>
              <a:gd name="connsiteY596" fmla="*/ 1535443 h 2787466"/>
              <a:gd name="connsiteX597" fmla="*/ 2545226 w 3600000"/>
              <a:gd name="connsiteY597" fmla="*/ 1535711 h 2787466"/>
              <a:gd name="connsiteX598" fmla="*/ 2265178 w 3600000"/>
              <a:gd name="connsiteY598" fmla="*/ 1531358 h 2787466"/>
              <a:gd name="connsiteX599" fmla="*/ 2250958 w 3600000"/>
              <a:gd name="connsiteY599" fmla="*/ 1536389 h 2787466"/>
              <a:gd name="connsiteX600" fmla="*/ 2266621 w 3600000"/>
              <a:gd name="connsiteY600" fmla="*/ 1548337 h 2787466"/>
              <a:gd name="connsiteX601" fmla="*/ 2265178 w 3600000"/>
              <a:gd name="connsiteY601" fmla="*/ 1531358 h 2787466"/>
              <a:gd name="connsiteX602" fmla="*/ 2205413 w 3600000"/>
              <a:gd name="connsiteY602" fmla="*/ 1529471 h 2787466"/>
              <a:gd name="connsiteX603" fmla="*/ 2205413 w 3600000"/>
              <a:gd name="connsiteY603" fmla="*/ 1543307 h 2787466"/>
              <a:gd name="connsiteX604" fmla="*/ 2205413 w 3600000"/>
              <a:gd name="connsiteY604" fmla="*/ 1529471 h 2787466"/>
              <a:gd name="connsiteX605" fmla="*/ 2171409 w 3600000"/>
              <a:gd name="connsiteY605" fmla="*/ 1529471 h 2787466"/>
              <a:gd name="connsiteX606" fmla="*/ 2161104 w 3600000"/>
              <a:gd name="connsiteY606" fmla="*/ 1542364 h 2787466"/>
              <a:gd name="connsiteX607" fmla="*/ 2154510 w 3600000"/>
              <a:gd name="connsiteY607" fmla="*/ 1535446 h 2787466"/>
              <a:gd name="connsiteX608" fmla="*/ 2167493 w 3600000"/>
              <a:gd name="connsiteY608" fmla="*/ 1545351 h 2787466"/>
              <a:gd name="connsiteX609" fmla="*/ 2171409 w 3600000"/>
              <a:gd name="connsiteY609" fmla="*/ 1529471 h 2787466"/>
              <a:gd name="connsiteX610" fmla="*/ 2314638 w 3600000"/>
              <a:gd name="connsiteY610" fmla="*/ 1528528 h 2787466"/>
              <a:gd name="connsiteX611" fmla="*/ 2316081 w 3600000"/>
              <a:gd name="connsiteY611" fmla="*/ 1540319 h 2787466"/>
              <a:gd name="connsiteX612" fmla="*/ 2323912 w 3600000"/>
              <a:gd name="connsiteY612" fmla="*/ 1533402 h 2787466"/>
              <a:gd name="connsiteX613" fmla="*/ 2339368 w 3600000"/>
              <a:gd name="connsiteY613" fmla="*/ 1542364 h 2787466"/>
              <a:gd name="connsiteX614" fmla="*/ 2314638 w 3600000"/>
              <a:gd name="connsiteY614" fmla="*/ 1528528 h 2787466"/>
              <a:gd name="connsiteX615" fmla="*/ 2351115 w 3600000"/>
              <a:gd name="connsiteY615" fmla="*/ 1526484 h 2787466"/>
              <a:gd name="connsiteX616" fmla="*/ 2355031 w 3600000"/>
              <a:gd name="connsiteY616" fmla="*/ 1540319 h 2787466"/>
              <a:gd name="connsiteX617" fmla="*/ 2360389 w 3600000"/>
              <a:gd name="connsiteY617" fmla="*/ 1545351 h 2787466"/>
              <a:gd name="connsiteX618" fmla="*/ 2364304 w 3600000"/>
              <a:gd name="connsiteY618" fmla="*/ 1531358 h 2787466"/>
              <a:gd name="connsiteX619" fmla="*/ 2374609 w 3600000"/>
              <a:gd name="connsiteY619" fmla="*/ 1526484 h 2787466"/>
              <a:gd name="connsiteX620" fmla="*/ 2351115 w 3600000"/>
              <a:gd name="connsiteY620" fmla="*/ 1526484 h 2787466"/>
              <a:gd name="connsiteX621" fmla="*/ 2230143 w 3600000"/>
              <a:gd name="connsiteY621" fmla="*/ 1525541 h 2787466"/>
              <a:gd name="connsiteX622" fmla="*/ 2219633 w 3600000"/>
              <a:gd name="connsiteY622" fmla="*/ 1537332 h 2787466"/>
              <a:gd name="connsiteX623" fmla="*/ 2230143 w 3600000"/>
              <a:gd name="connsiteY623" fmla="*/ 1525541 h 2787466"/>
              <a:gd name="connsiteX624" fmla="*/ 2297693 w 3600000"/>
              <a:gd name="connsiteY624" fmla="*/ 1525462 h 2787466"/>
              <a:gd name="connsiteX625" fmla="*/ 2304219 w 3600000"/>
              <a:gd name="connsiteY625" fmla="*/ 1526723 h 2787466"/>
              <a:gd name="connsiteX626" fmla="*/ 2284673 w 3600000"/>
              <a:gd name="connsiteY626" fmla="*/ 1537509 h 2787466"/>
              <a:gd name="connsiteX627" fmla="*/ 2297693 w 3600000"/>
              <a:gd name="connsiteY627" fmla="*/ 1525462 h 2787466"/>
              <a:gd name="connsiteX628" fmla="*/ 2517839 w 3600000"/>
              <a:gd name="connsiteY628" fmla="*/ 1524440 h 2787466"/>
              <a:gd name="connsiteX629" fmla="*/ 2520518 w 3600000"/>
              <a:gd name="connsiteY629" fmla="*/ 1535446 h 2787466"/>
              <a:gd name="connsiteX630" fmla="*/ 2517839 w 3600000"/>
              <a:gd name="connsiteY630" fmla="*/ 1524440 h 2787466"/>
              <a:gd name="connsiteX631" fmla="*/ 2487956 w 3600000"/>
              <a:gd name="connsiteY631" fmla="*/ 1524440 h 2787466"/>
              <a:gd name="connsiteX632" fmla="*/ 2477445 w 3600000"/>
              <a:gd name="connsiteY632" fmla="*/ 1539376 h 2787466"/>
              <a:gd name="connsiteX633" fmla="*/ 2483714 w 3600000"/>
              <a:gd name="connsiteY633" fmla="*/ 1538402 h 2787466"/>
              <a:gd name="connsiteX634" fmla="*/ 2484950 w 3600000"/>
              <a:gd name="connsiteY634" fmla="*/ 1534343 h 2787466"/>
              <a:gd name="connsiteX635" fmla="*/ 2488120 w 3600000"/>
              <a:gd name="connsiteY635" fmla="*/ 1533594 h 2787466"/>
              <a:gd name="connsiteX636" fmla="*/ 2487132 w 3600000"/>
              <a:gd name="connsiteY636" fmla="*/ 1533544 h 2787466"/>
              <a:gd name="connsiteX637" fmla="*/ 2485277 w 3600000"/>
              <a:gd name="connsiteY637" fmla="*/ 1531358 h 2787466"/>
              <a:gd name="connsiteX638" fmla="*/ 2487956 w 3600000"/>
              <a:gd name="connsiteY638" fmla="*/ 1524440 h 2787466"/>
              <a:gd name="connsiteX639" fmla="*/ 2505734 w 3600000"/>
              <a:gd name="connsiteY639" fmla="*/ 1522856 h 2787466"/>
              <a:gd name="connsiteX640" fmla="*/ 2502298 w 3600000"/>
              <a:gd name="connsiteY640" fmla="*/ 1523556 h 2787466"/>
              <a:gd name="connsiteX641" fmla="*/ 2500469 w 3600000"/>
              <a:gd name="connsiteY641" fmla="*/ 1523472 h 2787466"/>
              <a:gd name="connsiteX642" fmla="*/ 2500469 w 3600000"/>
              <a:gd name="connsiteY642" fmla="*/ 1523475 h 2787466"/>
              <a:gd name="connsiteX643" fmla="*/ 2498260 w 3600000"/>
              <a:gd name="connsiteY643" fmla="*/ 1526484 h 2787466"/>
              <a:gd name="connsiteX644" fmla="*/ 2603375 w 3600000"/>
              <a:gd name="connsiteY644" fmla="*/ 1521720 h 2787466"/>
              <a:gd name="connsiteX645" fmla="*/ 2622846 w 3600000"/>
              <a:gd name="connsiteY645" fmla="*/ 1521720 h 2787466"/>
              <a:gd name="connsiteX646" fmla="*/ 2597021 w 3600000"/>
              <a:gd name="connsiteY646" fmla="*/ 1536813 h 2787466"/>
              <a:gd name="connsiteX647" fmla="*/ 2603375 w 3600000"/>
              <a:gd name="connsiteY647" fmla="*/ 1521720 h 2787466"/>
              <a:gd name="connsiteX648" fmla="*/ 2240447 w 3600000"/>
              <a:gd name="connsiteY648" fmla="*/ 1521453 h 2787466"/>
              <a:gd name="connsiteX649" fmla="*/ 2237768 w 3600000"/>
              <a:gd name="connsiteY649" fmla="*/ 1535446 h 2787466"/>
              <a:gd name="connsiteX650" fmla="*/ 2249515 w 3600000"/>
              <a:gd name="connsiteY650" fmla="*/ 1529471 h 2787466"/>
              <a:gd name="connsiteX651" fmla="*/ 2241684 w 3600000"/>
              <a:gd name="connsiteY651" fmla="*/ 1526484 h 2787466"/>
              <a:gd name="connsiteX652" fmla="*/ 2240447 w 3600000"/>
              <a:gd name="connsiteY652" fmla="*/ 1521453 h 2787466"/>
              <a:gd name="connsiteX653" fmla="*/ 2871236 w 3600000"/>
              <a:gd name="connsiteY653" fmla="*/ 1518704 h 2787466"/>
              <a:gd name="connsiteX654" fmla="*/ 2851453 w 3600000"/>
              <a:gd name="connsiteY654" fmla="*/ 1526510 h 2787466"/>
              <a:gd name="connsiteX655" fmla="*/ 2871236 w 3600000"/>
              <a:gd name="connsiteY655" fmla="*/ 1518704 h 2787466"/>
              <a:gd name="connsiteX656" fmla="*/ 2435816 w 3600000"/>
              <a:gd name="connsiteY656" fmla="*/ 1518466 h 2787466"/>
              <a:gd name="connsiteX657" fmla="*/ 2434579 w 3600000"/>
              <a:gd name="connsiteY657" fmla="*/ 1527427 h 2787466"/>
              <a:gd name="connsiteX658" fmla="*/ 2440968 w 3600000"/>
              <a:gd name="connsiteY658" fmla="*/ 1522554 h 2787466"/>
              <a:gd name="connsiteX659" fmla="*/ 2448799 w 3600000"/>
              <a:gd name="connsiteY659" fmla="*/ 1524440 h 2787466"/>
              <a:gd name="connsiteX660" fmla="*/ 2435816 w 3600000"/>
              <a:gd name="connsiteY660" fmla="*/ 1518466 h 2787466"/>
              <a:gd name="connsiteX661" fmla="*/ 2396866 w 3600000"/>
              <a:gd name="connsiteY661" fmla="*/ 1517523 h 2787466"/>
              <a:gd name="connsiteX662" fmla="*/ 2381204 w 3600000"/>
              <a:gd name="connsiteY662" fmla="*/ 1521453 h 2787466"/>
              <a:gd name="connsiteX663" fmla="*/ 2375846 w 3600000"/>
              <a:gd name="connsiteY663" fmla="*/ 1540319 h 2787466"/>
              <a:gd name="connsiteX664" fmla="*/ 2387593 w 3600000"/>
              <a:gd name="connsiteY664" fmla="*/ 1528528 h 2787466"/>
              <a:gd name="connsiteX665" fmla="*/ 2386356 w 3600000"/>
              <a:gd name="connsiteY665" fmla="*/ 1537332 h 2787466"/>
              <a:gd name="connsiteX666" fmla="*/ 2396866 w 3600000"/>
              <a:gd name="connsiteY666" fmla="*/ 1517523 h 2787466"/>
              <a:gd name="connsiteX667" fmla="*/ 2262431 w 3600000"/>
              <a:gd name="connsiteY667" fmla="*/ 1516720 h 2787466"/>
              <a:gd name="connsiteX668" fmla="*/ 2260025 w 3600000"/>
              <a:gd name="connsiteY668" fmla="*/ 1517523 h 2787466"/>
              <a:gd name="connsiteX669" fmla="*/ 2257347 w 3600000"/>
              <a:gd name="connsiteY669" fmla="*/ 1531358 h 2787466"/>
              <a:gd name="connsiteX670" fmla="*/ 2273008 w 3600000"/>
              <a:gd name="connsiteY670" fmla="*/ 1518466 h 2787466"/>
              <a:gd name="connsiteX671" fmla="*/ 2262431 w 3600000"/>
              <a:gd name="connsiteY671" fmla="*/ 1516720 h 2787466"/>
              <a:gd name="connsiteX672" fmla="*/ 2465455 w 3600000"/>
              <a:gd name="connsiteY672" fmla="*/ 1515140 h 2787466"/>
              <a:gd name="connsiteX673" fmla="*/ 2465586 w 3600000"/>
              <a:gd name="connsiteY673" fmla="*/ 1515864 h 2787466"/>
              <a:gd name="connsiteX674" fmla="*/ 2456630 w 3600000"/>
              <a:gd name="connsiteY674" fmla="*/ 1517523 h 2787466"/>
              <a:gd name="connsiteX675" fmla="*/ 2474973 w 3600000"/>
              <a:gd name="connsiteY675" fmla="*/ 1527427 h 2787466"/>
              <a:gd name="connsiteX676" fmla="*/ 2474973 w 3600000"/>
              <a:gd name="connsiteY676" fmla="*/ 1520510 h 2787466"/>
              <a:gd name="connsiteX677" fmla="*/ 2482495 w 3600000"/>
              <a:gd name="connsiteY677" fmla="*/ 1523752 h 2787466"/>
              <a:gd name="connsiteX678" fmla="*/ 2485140 w 3600000"/>
              <a:gd name="connsiteY678" fmla="*/ 1522709 h 2787466"/>
              <a:gd name="connsiteX679" fmla="*/ 2475315 w 3600000"/>
              <a:gd name="connsiteY679" fmla="*/ 1519884 h 2787466"/>
              <a:gd name="connsiteX680" fmla="*/ 2466063 w 3600000"/>
              <a:gd name="connsiteY680" fmla="*/ 1515428 h 2787466"/>
              <a:gd name="connsiteX681" fmla="*/ 2304334 w 3600000"/>
              <a:gd name="connsiteY681" fmla="*/ 1514535 h 2787466"/>
              <a:gd name="connsiteX682" fmla="*/ 2273008 w 3600000"/>
              <a:gd name="connsiteY682" fmla="*/ 1529471 h 2787466"/>
              <a:gd name="connsiteX683" fmla="*/ 2280840 w 3600000"/>
              <a:gd name="connsiteY683" fmla="*/ 1544407 h 2787466"/>
              <a:gd name="connsiteX684" fmla="*/ 2301655 w 3600000"/>
              <a:gd name="connsiteY684" fmla="*/ 1533402 h 2787466"/>
              <a:gd name="connsiteX685" fmla="*/ 2299182 w 3600000"/>
              <a:gd name="connsiteY685" fmla="*/ 1542364 h 2787466"/>
              <a:gd name="connsiteX686" fmla="*/ 2316081 w 3600000"/>
              <a:gd name="connsiteY686" fmla="*/ 1524440 h 2787466"/>
              <a:gd name="connsiteX687" fmla="*/ 2304334 w 3600000"/>
              <a:gd name="connsiteY687" fmla="*/ 1514535 h 2787466"/>
              <a:gd name="connsiteX688" fmla="*/ 2425190 w 3600000"/>
              <a:gd name="connsiteY688" fmla="*/ 1512214 h 2787466"/>
              <a:gd name="connsiteX689" fmla="*/ 2412323 w 3600000"/>
              <a:gd name="connsiteY689" fmla="*/ 1514535 h 2787466"/>
              <a:gd name="connsiteX690" fmla="*/ 2411086 w 3600000"/>
              <a:gd name="connsiteY690" fmla="*/ 1523497 h 2787466"/>
              <a:gd name="connsiteX691" fmla="*/ 2404492 w 3600000"/>
              <a:gd name="connsiteY691" fmla="*/ 1519566 h 2787466"/>
              <a:gd name="connsiteX692" fmla="*/ 2400782 w 3600000"/>
              <a:gd name="connsiteY692" fmla="*/ 1528528 h 2787466"/>
              <a:gd name="connsiteX693" fmla="*/ 2426749 w 3600000"/>
              <a:gd name="connsiteY693" fmla="*/ 1525541 h 2787466"/>
              <a:gd name="connsiteX694" fmla="*/ 2427985 w 3600000"/>
              <a:gd name="connsiteY694" fmla="*/ 1513592 h 2787466"/>
              <a:gd name="connsiteX695" fmla="*/ 2425190 w 3600000"/>
              <a:gd name="connsiteY695" fmla="*/ 1512214 h 2787466"/>
              <a:gd name="connsiteX696" fmla="*/ 2652216 w 3600000"/>
              <a:gd name="connsiteY696" fmla="*/ 1510862 h 2787466"/>
              <a:gd name="connsiteX697" fmla="*/ 2656115 w 3600000"/>
              <a:gd name="connsiteY697" fmla="*/ 1520831 h 2787466"/>
              <a:gd name="connsiteX698" fmla="*/ 2662681 w 3600000"/>
              <a:gd name="connsiteY698" fmla="*/ 1519881 h 2787466"/>
              <a:gd name="connsiteX699" fmla="*/ 2663912 w 3600000"/>
              <a:gd name="connsiteY699" fmla="*/ 1512918 h 2787466"/>
              <a:gd name="connsiteX700" fmla="*/ 2666579 w 3600000"/>
              <a:gd name="connsiteY700" fmla="*/ 1528901 h 2787466"/>
              <a:gd name="connsiteX701" fmla="*/ 2639289 w 3600000"/>
              <a:gd name="connsiteY701" fmla="*/ 1535864 h 2787466"/>
              <a:gd name="connsiteX702" fmla="*/ 2628824 w 3600000"/>
              <a:gd name="connsiteY702" fmla="*/ 1520831 h 2787466"/>
              <a:gd name="connsiteX703" fmla="*/ 2647087 w 3600000"/>
              <a:gd name="connsiteY703" fmla="*/ 1517824 h 2787466"/>
              <a:gd name="connsiteX704" fmla="*/ 2641956 w 3600000"/>
              <a:gd name="connsiteY704" fmla="*/ 1516875 h 2787466"/>
              <a:gd name="connsiteX705" fmla="*/ 2652216 w 3600000"/>
              <a:gd name="connsiteY705" fmla="*/ 1510862 h 2787466"/>
              <a:gd name="connsiteX706" fmla="*/ 2439591 w 3600000"/>
              <a:gd name="connsiteY706" fmla="*/ 1509389 h 2787466"/>
              <a:gd name="connsiteX707" fmla="*/ 2429171 w 3600000"/>
              <a:gd name="connsiteY707" fmla="*/ 1510166 h 2787466"/>
              <a:gd name="connsiteX708" fmla="*/ 2427985 w 3600000"/>
              <a:gd name="connsiteY708" fmla="*/ 1511548 h 2787466"/>
              <a:gd name="connsiteX709" fmla="*/ 2440968 w 3600000"/>
              <a:gd name="connsiteY709" fmla="*/ 1515479 h 2787466"/>
              <a:gd name="connsiteX710" fmla="*/ 2440273 w 3600000"/>
              <a:gd name="connsiteY710" fmla="*/ 1511076 h 2787466"/>
              <a:gd name="connsiteX711" fmla="*/ 2447675 w 3600000"/>
              <a:gd name="connsiteY711" fmla="*/ 1508786 h 2787466"/>
              <a:gd name="connsiteX712" fmla="*/ 2443792 w 3600000"/>
              <a:gd name="connsiteY712" fmla="*/ 1509076 h 2787466"/>
              <a:gd name="connsiteX713" fmla="*/ 2443783 w 3600000"/>
              <a:gd name="connsiteY713" fmla="*/ 1509642 h 2787466"/>
              <a:gd name="connsiteX714" fmla="*/ 2448799 w 3600000"/>
              <a:gd name="connsiteY714" fmla="*/ 1515479 h 2787466"/>
              <a:gd name="connsiteX715" fmla="*/ 2449331 w 3600000"/>
              <a:gd name="connsiteY715" fmla="*/ 1509204 h 2787466"/>
              <a:gd name="connsiteX716" fmla="*/ 2610130 w 3600000"/>
              <a:gd name="connsiteY716" fmla="*/ 1507419 h 2787466"/>
              <a:gd name="connsiteX717" fmla="*/ 2611355 w 3600000"/>
              <a:gd name="connsiteY717" fmla="*/ 1513440 h 2787466"/>
              <a:gd name="connsiteX718" fmla="*/ 2599717 w 3600000"/>
              <a:gd name="connsiteY718" fmla="*/ 1517402 h 2787466"/>
              <a:gd name="connsiteX719" fmla="*/ 2594611 w 3600000"/>
              <a:gd name="connsiteY719" fmla="*/ 1516451 h 2787466"/>
              <a:gd name="connsiteX720" fmla="*/ 2597266 w 3600000"/>
              <a:gd name="connsiteY720" fmla="*/ 1508370 h 2787466"/>
              <a:gd name="connsiteX721" fmla="*/ 2599717 w 3600000"/>
              <a:gd name="connsiteY721" fmla="*/ 1513440 h 2787466"/>
              <a:gd name="connsiteX722" fmla="*/ 2610130 w 3600000"/>
              <a:gd name="connsiteY722" fmla="*/ 1507419 h 2787466"/>
              <a:gd name="connsiteX723" fmla="*/ 2410231 w 3600000"/>
              <a:gd name="connsiteY723" fmla="*/ 1506973 h 2787466"/>
              <a:gd name="connsiteX724" fmla="*/ 2409264 w 3600000"/>
              <a:gd name="connsiteY724" fmla="*/ 1507284 h 2787466"/>
              <a:gd name="connsiteX725" fmla="*/ 2409850 w 3600000"/>
              <a:gd name="connsiteY725" fmla="*/ 1507618 h 2787466"/>
              <a:gd name="connsiteX726" fmla="*/ 2391234 w 3600000"/>
              <a:gd name="connsiteY726" fmla="*/ 1506811 h 2787466"/>
              <a:gd name="connsiteX727" fmla="*/ 2394187 w 3600000"/>
              <a:gd name="connsiteY727" fmla="*/ 1510604 h 2787466"/>
              <a:gd name="connsiteX728" fmla="*/ 2396694 w 3600000"/>
              <a:gd name="connsiteY728" fmla="*/ 1509949 h 2787466"/>
              <a:gd name="connsiteX729" fmla="*/ 2851249 w 3600000"/>
              <a:gd name="connsiteY729" fmla="*/ 1506468 h 2787466"/>
              <a:gd name="connsiteX730" fmla="*/ 2824148 w 3600000"/>
              <a:gd name="connsiteY730" fmla="*/ 1520178 h 2787466"/>
              <a:gd name="connsiteX731" fmla="*/ 2851249 w 3600000"/>
              <a:gd name="connsiteY731" fmla="*/ 1506468 h 2787466"/>
              <a:gd name="connsiteX732" fmla="*/ 2206108 w 3600000"/>
              <a:gd name="connsiteY732" fmla="*/ 1506380 h 2787466"/>
              <a:gd name="connsiteX733" fmla="*/ 2202734 w 3600000"/>
              <a:gd name="connsiteY733" fmla="*/ 1507618 h 2787466"/>
              <a:gd name="connsiteX734" fmla="*/ 2200055 w 3600000"/>
              <a:gd name="connsiteY734" fmla="*/ 1519566 h 2787466"/>
              <a:gd name="connsiteX735" fmla="*/ 2213244 w 3600000"/>
              <a:gd name="connsiteY735" fmla="*/ 1508561 h 2787466"/>
              <a:gd name="connsiteX736" fmla="*/ 2210565 w 3600000"/>
              <a:gd name="connsiteY736" fmla="*/ 1506674 h 2787466"/>
              <a:gd name="connsiteX737" fmla="*/ 2206108 w 3600000"/>
              <a:gd name="connsiteY737" fmla="*/ 1506380 h 2787466"/>
              <a:gd name="connsiteX738" fmla="*/ 2908173 w 3600000"/>
              <a:gd name="connsiteY738" fmla="*/ 1501616 h 2787466"/>
              <a:gd name="connsiteX739" fmla="*/ 2888703 w 3600000"/>
              <a:gd name="connsiteY739" fmla="*/ 1514643 h 2787466"/>
              <a:gd name="connsiteX740" fmla="*/ 2908173 w 3600000"/>
              <a:gd name="connsiteY740" fmla="*/ 1501616 h 2787466"/>
              <a:gd name="connsiteX741" fmla="*/ 2379916 w 3600000"/>
              <a:gd name="connsiteY741" fmla="*/ 1501589 h 2787466"/>
              <a:gd name="connsiteX742" fmla="*/ 2376215 w 3600000"/>
              <a:gd name="connsiteY742" fmla="*/ 1501703 h 2787466"/>
              <a:gd name="connsiteX743" fmla="*/ 2378344 w 3600000"/>
              <a:gd name="connsiteY743" fmla="*/ 1501722 h 2787466"/>
              <a:gd name="connsiteX744" fmla="*/ 2382440 w 3600000"/>
              <a:gd name="connsiteY744" fmla="*/ 1505574 h 2787466"/>
              <a:gd name="connsiteX745" fmla="*/ 2383444 w 3600000"/>
              <a:gd name="connsiteY745" fmla="*/ 1502933 h 2787466"/>
              <a:gd name="connsiteX746" fmla="*/ 2369958 w 3600000"/>
              <a:gd name="connsiteY746" fmla="*/ 1500624 h 2787466"/>
              <a:gd name="connsiteX747" fmla="*/ 2369456 w 3600000"/>
              <a:gd name="connsiteY747" fmla="*/ 1501643 h 2787466"/>
              <a:gd name="connsiteX748" fmla="*/ 2370675 w 3600000"/>
              <a:gd name="connsiteY748" fmla="*/ 1501654 h 2787466"/>
              <a:gd name="connsiteX749" fmla="*/ 2734027 w 3600000"/>
              <a:gd name="connsiteY749" fmla="*/ 1498843 h 2787466"/>
              <a:gd name="connsiteX750" fmla="*/ 2715971 w 3600000"/>
              <a:gd name="connsiteY750" fmla="*/ 1505709 h 2787466"/>
              <a:gd name="connsiteX751" fmla="*/ 2712072 w 3600000"/>
              <a:gd name="connsiteY751" fmla="*/ 1515542 h 2787466"/>
              <a:gd name="connsiteX752" fmla="*/ 2676985 w 3600000"/>
              <a:gd name="connsiteY752" fmla="*/ 1524438 h 2787466"/>
              <a:gd name="connsiteX753" fmla="*/ 2676985 w 3600000"/>
              <a:gd name="connsiteY753" fmla="*/ 1512733 h 2787466"/>
              <a:gd name="connsiteX754" fmla="*/ 2734027 w 3600000"/>
              <a:gd name="connsiteY754" fmla="*/ 1498843 h 2787466"/>
              <a:gd name="connsiteX755" fmla="*/ 2354100 w 3600000"/>
              <a:gd name="connsiteY755" fmla="*/ 1494876 h 2787466"/>
              <a:gd name="connsiteX756" fmla="*/ 2349878 w 3600000"/>
              <a:gd name="connsiteY756" fmla="*/ 1496612 h 2787466"/>
              <a:gd name="connsiteX757" fmla="*/ 2352558 w 3600000"/>
              <a:gd name="connsiteY757" fmla="*/ 1501643 h 2787466"/>
              <a:gd name="connsiteX758" fmla="*/ 2342048 w 3600000"/>
              <a:gd name="connsiteY758" fmla="*/ 1503687 h 2787466"/>
              <a:gd name="connsiteX759" fmla="*/ 2339368 w 3600000"/>
              <a:gd name="connsiteY759" fmla="*/ 1498656 h 2787466"/>
              <a:gd name="connsiteX760" fmla="*/ 2338131 w 3600000"/>
              <a:gd name="connsiteY760" fmla="*/ 1508561 h 2787466"/>
              <a:gd name="connsiteX761" fmla="*/ 2351115 w 3600000"/>
              <a:gd name="connsiteY761" fmla="*/ 1508561 h 2787466"/>
              <a:gd name="connsiteX762" fmla="*/ 2354100 w 3600000"/>
              <a:gd name="connsiteY762" fmla="*/ 1494876 h 2787466"/>
              <a:gd name="connsiteX763" fmla="*/ 2274245 w 3600000"/>
              <a:gd name="connsiteY763" fmla="*/ 1492682 h 2787466"/>
              <a:gd name="connsiteX764" fmla="*/ 2263941 w 3600000"/>
              <a:gd name="connsiteY764" fmla="*/ 1508561 h 2787466"/>
              <a:gd name="connsiteX765" fmla="*/ 2265178 w 3600000"/>
              <a:gd name="connsiteY765" fmla="*/ 1513592 h 2787466"/>
              <a:gd name="connsiteX766" fmla="*/ 2279603 w 3600000"/>
              <a:gd name="connsiteY766" fmla="*/ 1495669 h 2787466"/>
              <a:gd name="connsiteX767" fmla="*/ 2274245 w 3600000"/>
              <a:gd name="connsiteY767" fmla="*/ 1492682 h 2787466"/>
              <a:gd name="connsiteX768" fmla="*/ 2465699 w 3600000"/>
              <a:gd name="connsiteY768" fmla="*/ 1491738 h 2787466"/>
              <a:gd name="connsiteX769" fmla="*/ 2465236 w 3600000"/>
              <a:gd name="connsiteY769" fmla="*/ 1492383 h 2787466"/>
              <a:gd name="connsiteX770" fmla="*/ 2472398 w 3600000"/>
              <a:gd name="connsiteY770" fmla="*/ 1491965 h 2787466"/>
              <a:gd name="connsiteX771" fmla="*/ 2472243 w 3600000"/>
              <a:gd name="connsiteY771" fmla="*/ 1492830 h 2787466"/>
              <a:gd name="connsiteX772" fmla="*/ 2471612 w 3600000"/>
              <a:gd name="connsiteY772" fmla="*/ 1496364 h 2787466"/>
              <a:gd name="connsiteX773" fmla="*/ 2476879 w 3600000"/>
              <a:gd name="connsiteY773" fmla="*/ 1497182 h 2787466"/>
              <a:gd name="connsiteX774" fmla="*/ 2482598 w 3600000"/>
              <a:gd name="connsiteY774" fmla="*/ 1492682 h 2787466"/>
              <a:gd name="connsiteX775" fmla="*/ 2465699 w 3600000"/>
              <a:gd name="connsiteY775" fmla="*/ 1491738 h 2787466"/>
              <a:gd name="connsiteX776" fmla="*/ 175697 w 3600000"/>
              <a:gd name="connsiteY776" fmla="*/ 1490832 h 2787466"/>
              <a:gd name="connsiteX777" fmla="*/ 161272 w 3600000"/>
              <a:gd name="connsiteY777" fmla="*/ 1493818 h 2787466"/>
              <a:gd name="connsiteX778" fmla="*/ 171782 w 3600000"/>
              <a:gd name="connsiteY778" fmla="*/ 1495863 h 2787466"/>
              <a:gd name="connsiteX779" fmla="*/ 175697 w 3600000"/>
              <a:gd name="connsiteY779" fmla="*/ 1490832 h 2787466"/>
              <a:gd name="connsiteX780" fmla="*/ 2857355 w 3600000"/>
              <a:gd name="connsiteY780" fmla="*/ 1490524 h 2787466"/>
              <a:gd name="connsiteX781" fmla="*/ 2861243 w 3600000"/>
              <a:gd name="connsiteY781" fmla="*/ 1499491 h 2787466"/>
              <a:gd name="connsiteX782" fmla="*/ 2816014 w 3600000"/>
              <a:gd name="connsiteY782" fmla="*/ 1512550 h 2787466"/>
              <a:gd name="connsiteX783" fmla="*/ 2857355 w 3600000"/>
              <a:gd name="connsiteY783" fmla="*/ 1490524 h 2787466"/>
              <a:gd name="connsiteX784" fmla="*/ 2967301 w 3600000"/>
              <a:gd name="connsiteY784" fmla="*/ 1488821 h 2787466"/>
              <a:gd name="connsiteX785" fmla="*/ 2953163 w 3600000"/>
              <a:gd name="connsiteY785" fmla="*/ 1499382 h 2787466"/>
              <a:gd name="connsiteX786" fmla="*/ 2967301 w 3600000"/>
              <a:gd name="connsiteY786" fmla="*/ 1488821 h 2787466"/>
              <a:gd name="connsiteX787" fmla="*/ 2937800 w 3600000"/>
              <a:gd name="connsiteY787" fmla="*/ 1488705 h 2787466"/>
              <a:gd name="connsiteX788" fmla="*/ 2942119 w 3600000"/>
              <a:gd name="connsiteY788" fmla="*/ 1494796 h 2787466"/>
              <a:gd name="connsiteX789" fmla="*/ 2925561 w 3600000"/>
              <a:gd name="connsiteY789" fmla="*/ 1500765 h 2787466"/>
              <a:gd name="connsiteX790" fmla="*/ 2937800 w 3600000"/>
              <a:gd name="connsiteY790" fmla="*/ 1488705 h 2787466"/>
              <a:gd name="connsiteX791" fmla="*/ 2661329 w 3600000"/>
              <a:gd name="connsiteY791" fmla="*/ 1487750 h 2787466"/>
              <a:gd name="connsiteX792" fmla="*/ 2646998 w 3600000"/>
              <a:gd name="connsiteY792" fmla="*/ 1494742 h 2787466"/>
              <a:gd name="connsiteX793" fmla="*/ 2661329 w 3600000"/>
              <a:gd name="connsiteY793" fmla="*/ 1487750 h 2787466"/>
              <a:gd name="connsiteX794" fmla="*/ 2444884 w 3600000"/>
              <a:gd name="connsiteY794" fmla="*/ 1485764 h 2787466"/>
              <a:gd name="connsiteX795" fmla="*/ 2445496 w 3600000"/>
              <a:gd name="connsiteY795" fmla="*/ 1493369 h 2787466"/>
              <a:gd name="connsiteX796" fmla="*/ 2445490 w 3600000"/>
              <a:gd name="connsiteY796" fmla="*/ 1493403 h 2787466"/>
              <a:gd name="connsiteX797" fmla="*/ 2446126 w 3600000"/>
              <a:gd name="connsiteY797" fmla="*/ 1493498 h 2787466"/>
              <a:gd name="connsiteX798" fmla="*/ 2456244 w 3600000"/>
              <a:gd name="connsiteY798" fmla="*/ 1492907 h 2787466"/>
              <a:gd name="connsiteX799" fmla="*/ 2458074 w 3600000"/>
              <a:gd name="connsiteY799" fmla="*/ 1491738 h 2787466"/>
              <a:gd name="connsiteX800" fmla="*/ 2458074 w 3600000"/>
              <a:gd name="connsiteY800" fmla="*/ 1487651 h 2787466"/>
              <a:gd name="connsiteX801" fmla="*/ 2447563 w 3600000"/>
              <a:gd name="connsiteY801" fmla="*/ 1489694 h 2787466"/>
              <a:gd name="connsiteX802" fmla="*/ 2444884 w 3600000"/>
              <a:gd name="connsiteY802" fmla="*/ 1485764 h 2787466"/>
              <a:gd name="connsiteX803" fmla="*/ 3002096 w 3600000"/>
              <a:gd name="connsiteY803" fmla="*/ 1480818 h 2787466"/>
              <a:gd name="connsiteX804" fmla="*/ 3008450 w 3600000"/>
              <a:gd name="connsiteY804" fmla="*/ 1488828 h 2787466"/>
              <a:gd name="connsiteX805" fmla="*/ 2982624 w 3600000"/>
              <a:gd name="connsiteY805" fmla="*/ 1499665 h 2787466"/>
              <a:gd name="connsiteX806" fmla="*/ 3002096 w 3600000"/>
              <a:gd name="connsiteY806" fmla="*/ 1480818 h 2787466"/>
              <a:gd name="connsiteX807" fmla="*/ 2829838 w 3600000"/>
              <a:gd name="connsiteY807" fmla="*/ 1479385 h 2787466"/>
              <a:gd name="connsiteX808" fmla="*/ 2836190 w 3600000"/>
              <a:gd name="connsiteY808" fmla="*/ 1479585 h 2787466"/>
              <a:gd name="connsiteX809" fmla="*/ 2807836 w 3600000"/>
              <a:gd name="connsiteY809" fmla="*/ 1493142 h 2787466"/>
              <a:gd name="connsiteX810" fmla="*/ 2829838 w 3600000"/>
              <a:gd name="connsiteY810" fmla="*/ 1479385 h 2787466"/>
              <a:gd name="connsiteX811" fmla="*/ 2485277 w 3600000"/>
              <a:gd name="connsiteY811" fmla="*/ 1478846 h 2787466"/>
              <a:gd name="connsiteX812" fmla="*/ 2498260 w 3600000"/>
              <a:gd name="connsiteY812" fmla="*/ 1489694 h 2787466"/>
              <a:gd name="connsiteX813" fmla="*/ 2485277 w 3600000"/>
              <a:gd name="connsiteY813" fmla="*/ 1478846 h 2787466"/>
              <a:gd name="connsiteX814" fmla="*/ 2647033 w 3600000"/>
              <a:gd name="connsiteY814" fmla="*/ 1478737 h 2787466"/>
              <a:gd name="connsiteX815" fmla="*/ 2605199 w 3600000"/>
              <a:gd name="connsiteY815" fmla="*/ 1486573 h 2787466"/>
              <a:gd name="connsiteX816" fmla="*/ 2615554 w 3600000"/>
              <a:gd name="connsiteY816" fmla="*/ 1483595 h 2787466"/>
              <a:gd name="connsiteX817" fmla="*/ 2623423 w 3600000"/>
              <a:gd name="connsiteY817" fmla="*/ 1489550 h 2787466"/>
              <a:gd name="connsiteX818" fmla="*/ 2647033 w 3600000"/>
              <a:gd name="connsiteY818" fmla="*/ 1478737 h 2787466"/>
              <a:gd name="connsiteX819" fmla="*/ 3012939 w 3600000"/>
              <a:gd name="connsiteY819" fmla="*/ 1478628 h 2787466"/>
              <a:gd name="connsiteX820" fmla="*/ 3013191 w 3600000"/>
              <a:gd name="connsiteY820" fmla="*/ 1478637 h 2787466"/>
              <a:gd name="connsiteX821" fmla="*/ 3011693 w 3600000"/>
              <a:gd name="connsiteY821" fmla="*/ 1482505 h 2787466"/>
              <a:gd name="connsiteX822" fmla="*/ 3012939 w 3600000"/>
              <a:gd name="connsiteY822" fmla="*/ 1478628 h 2787466"/>
              <a:gd name="connsiteX823" fmla="*/ 2792180 w 3600000"/>
              <a:gd name="connsiteY823" fmla="*/ 1466259 h 2787466"/>
              <a:gd name="connsiteX824" fmla="*/ 2775178 w 3600000"/>
              <a:gd name="connsiteY824" fmla="*/ 1489009 h 2787466"/>
              <a:gd name="connsiteX825" fmla="*/ 2732049 w 3600000"/>
              <a:gd name="connsiteY825" fmla="*/ 1489950 h 2787466"/>
              <a:gd name="connsiteX826" fmla="*/ 2730597 w 3600000"/>
              <a:gd name="connsiteY826" fmla="*/ 1483988 h 2787466"/>
              <a:gd name="connsiteX827" fmla="*/ 2792180 w 3600000"/>
              <a:gd name="connsiteY827" fmla="*/ 1466259 h 2787466"/>
              <a:gd name="connsiteX828" fmla="*/ 2923941 w 3600000"/>
              <a:gd name="connsiteY828" fmla="*/ 1464179 h 2787466"/>
              <a:gd name="connsiteX829" fmla="*/ 2871730 w 3600000"/>
              <a:gd name="connsiteY829" fmla="*/ 1493832 h 2787466"/>
              <a:gd name="connsiteX830" fmla="*/ 2867809 w 3600000"/>
              <a:gd name="connsiteY830" fmla="*/ 1486929 h 2787466"/>
              <a:gd name="connsiteX831" fmla="*/ 2923941 w 3600000"/>
              <a:gd name="connsiteY831" fmla="*/ 1464179 h 2787466"/>
              <a:gd name="connsiteX832" fmla="*/ 2263483 w 3600000"/>
              <a:gd name="connsiteY832" fmla="*/ 1463266 h 2787466"/>
              <a:gd name="connsiteX833" fmla="*/ 2257812 w 3600000"/>
              <a:gd name="connsiteY833" fmla="*/ 1463482 h 2787466"/>
              <a:gd name="connsiteX834" fmla="*/ 2253349 w 3600000"/>
              <a:gd name="connsiteY834" fmla="*/ 1466294 h 2787466"/>
              <a:gd name="connsiteX835" fmla="*/ 2247127 w 3600000"/>
              <a:gd name="connsiteY835" fmla="*/ 1466142 h 2787466"/>
              <a:gd name="connsiteX836" fmla="*/ 2245092 w 3600000"/>
              <a:gd name="connsiteY836" fmla="*/ 1463965 h 2787466"/>
              <a:gd name="connsiteX837" fmla="*/ 2232347 w 3600000"/>
              <a:gd name="connsiteY837" fmla="*/ 1464450 h 2787466"/>
              <a:gd name="connsiteX838" fmla="*/ 2231457 w 3600000"/>
              <a:gd name="connsiteY838" fmla="*/ 1466082 h 2787466"/>
              <a:gd name="connsiteX839" fmla="*/ 2227463 w 3600000"/>
              <a:gd name="connsiteY839" fmla="*/ 1474758 h 2787466"/>
              <a:gd name="connsiteX840" fmla="*/ 2243127 w 3600000"/>
              <a:gd name="connsiteY840" fmla="*/ 1475859 h 2787466"/>
              <a:gd name="connsiteX841" fmla="*/ 2247042 w 3600000"/>
              <a:gd name="connsiteY841" fmla="*/ 1468941 h 2787466"/>
              <a:gd name="connsiteX842" fmla="*/ 2256882 w 3600000"/>
              <a:gd name="connsiteY842" fmla="*/ 1471813 h 2787466"/>
              <a:gd name="connsiteX843" fmla="*/ 2266914 w 3600000"/>
              <a:gd name="connsiteY843" fmla="*/ 1471189 h 2787466"/>
              <a:gd name="connsiteX844" fmla="*/ 2266548 w 3600000"/>
              <a:gd name="connsiteY844" fmla="*/ 1469209 h 2787466"/>
              <a:gd name="connsiteX845" fmla="*/ 2265723 w 3600000"/>
              <a:gd name="connsiteY845" fmla="*/ 1465110 h 2787466"/>
              <a:gd name="connsiteX846" fmla="*/ 2262885 w 3600000"/>
              <a:gd name="connsiteY846" fmla="*/ 1464936 h 2787466"/>
              <a:gd name="connsiteX847" fmla="*/ 3051156 w 3600000"/>
              <a:gd name="connsiteY847" fmla="*/ 1462966 h 2787466"/>
              <a:gd name="connsiteX848" fmla="*/ 3024080 w 3600000"/>
              <a:gd name="connsiteY848" fmla="*/ 1479037 h 2787466"/>
              <a:gd name="connsiteX849" fmla="*/ 3013191 w 3600000"/>
              <a:gd name="connsiteY849" fmla="*/ 1478637 h 2787466"/>
              <a:gd name="connsiteX850" fmla="*/ 3014150 w 3600000"/>
              <a:gd name="connsiteY850" fmla="*/ 1476159 h 2787466"/>
              <a:gd name="connsiteX851" fmla="*/ 3051156 w 3600000"/>
              <a:gd name="connsiteY851" fmla="*/ 1462966 h 2787466"/>
              <a:gd name="connsiteX852" fmla="*/ 2866729 w 3600000"/>
              <a:gd name="connsiteY852" fmla="*/ 1462792 h 2787466"/>
              <a:gd name="connsiteX853" fmla="*/ 2871872 w 3600000"/>
              <a:gd name="connsiteY853" fmla="*/ 1463731 h 2787466"/>
              <a:gd name="connsiteX854" fmla="*/ 2875781 w 3600000"/>
              <a:gd name="connsiteY854" fmla="*/ 1464668 h 2787466"/>
              <a:gd name="connsiteX855" fmla="*/ 2847183 w 3600000"/>
              <a:gd name="connsiteY855" fmla="*/ 1476549 h 2787466"/>
              <a:gd name="connsiteX856" fmla="*/ 2866729 w 3600000"/>
              <a:gd name="connsiteY856" fmla="*/ 1462792 h 2787466"/>
              <a:gd name="connsiteX857" fmla="*/ 157356 w 3600000"/>
              <a:gd name="connsiteY857" fmla="*/ 1462066 h 2787466"/>
              <a:gd name="connsiteX858" fmla="*/ 150967 w 3600000"/>
              <a:gd name="connsiteY858" fmla="*/ 1468040 h 2787466"/>
              <a:gd name="connsiteX859" fmla="*/ 157356 w 3600000"/>
              <a:gd name="connsiteY859" fmla="*/ 1479043 h 2787466"/>
              <a:gd name="connsiteX860" fmla="*/ 191360 w 3600000"/>
              <a:gd name="connsiteY860" fmla="*/ 1485959 h 2787466"/>
              <a:gd name="connsiteX861" fmla="*/ 200428 w 3600000"/>
              <a:gd name="connsiteY861" fmla="*/ 1476999 h 2787466"/>
              <a:gd name="connsiteX862" fmla="*/ 169103 w 3600000"/>
              <a:gd name="connsiteY862" fmla="*/ 1471970 h 2787466"/>
              <a:gd name="connsiteX863" fmla="*/ 157356 w 3600000"/>
              <a:gd name="connsiteY863" fmla="*/ 1462066 h 2787466"/>
              <a:gd name="connsiteX864" fmla="*/ 2188045 w 3600000"/>
              <a:gd name="connsiteY864" fmla="*/ 1461987 h 2787466"/>
              <a:gd name="connsiteX865" fmla="*/ 2187818 w 3600000"/>
              <a:gd name="connsiteY865" fmla="*/ 1462908 h 2787466"/>
              <a:gd name="connsiteX866" fmla="*/ 2184392 w 3600000"/>
              <a:gd name="connsiteY866" fmla="*/ 1476802 h 2787466"/>
              <a:gd name="connsiteX867" fmla="*/ 2200055 w 3600000"/>
              <a:gd name="connsiteY867" fmla="*/ 1477746 h 2787466"/>
              <a:gd name="connsiteX868" fmla="*/ 2207886 w 3600000"/>
              <a:gd name="connsiteY868" fmla="*/ 1465954 h 2787466"/>
              <a:gd name="connsiteX869" fmla="*/ 2207886 w 3600000"/>
              <a:gd name="connsiteY869" fmla="*/ 1475859 h 2787466"/>
              <a:gd name="connsiteX870" fmla="*/ 2227463 w 3600000"/>
              <a:gd name="connsiteY870" fmla="*/ 1467841 h 2787466"/>
              <a:gd name="connsiteX871" fmla="*/ 2223658 w 3600000"/>
              <a:gd name="connsiteY871" fmla="*/ 1465622 h 2787466"/>
              <a:gd name="connsiteX872" fmla="*/ 2223083 w 3600000"/>
              <a:gd name="connsiteY872" fmla="*/ 1464719 h 2787466"/>
              <a:gd name="connsiteX873" fmla="*/ 2138538 w 3600000"/>
              <a:gd name="connsiteY873" fmla="*/ 1458237 h 2787466"/>
              <a:gd name="connsiteX874" fmla="*/ 2141526 w 3600000"/>
              <a:gd name="connsiteY874" fmla="*/ 1471771 h 2787466"/>
              <a:gd name="connsiteX875" fmla="*/ 2151831 w 3600000"/>
              <a:gd name="connsiteY875" fmla="*/ 1469885 h 2787466"/>
              <a:gd name="connsiteX876" fmla="*/ 2146679 w 3600000"/>
              <a:gd name="connsiteY876" fmla="*/ 1478846 h 2787466"/>
              <a:gd name="connsiteX877" fmla="*/ 2165020 w 3600000"/>
              <a:gd name="connsiteY877" fmla="*/ 1467841 h 2787466"/>
              <a:gd name="connsiteX878" fmla="*/ 2155952 w 3600000"/>
              <a:gd name="connsiteY878" fmla="*/ 1481833 h 2787466"/>
              <a:gd name="connsiteX879" fmla="*/ 2179803 w 3600000"/>
              <a:gd name="connsiteY879" fmla="*/ 1465296 h 2787466"/>
              <a:gd name="connsiteX880" fmla="*/ 2186477 w 3600000"/>
              <a:gd name="connsiteY880" fmla="*/ 1461864 h 2787466"/>
              <a:gd name="connsiteX881" fmla="*/ 2185655 w 3600000"/>
              <a:gd name="connsiteY881" fmla="*/ 1461801 h 2787466"/>
              <a:gd name="connsiteX882" fmla="*/ 2167445 w 3600000"/>
              <a:gd name="connsiteY882" fmla="*/ 1460045 h 2787466"/>
              <a:gd name="connsiteX883" fmla="*/ 2166655 w 3600000"/>
              <a:gd name="connsiteY883" fmla="*/ 1460557 h 2787466"/>
              <a:gd name="connsiteX884" fmla="*/ 2166227 w 3600000"/>
              <a:gd name="connsiteY884" fmla="*/ 1459928 h 2787466"/>
              <a:gd name="connsiteX885" fmla="*/ 2148981 w 3600000"/>
              <a:gd name="connsiteY885" fmla="*/ 1458266 h 2787466"/>
              <a:gd name="connsiteX886" fmla="*/ 2126006 w 3600000"/>
              <a:gd name="connsiteY886" fmla="*/ 1458204 h 2787466"/>
              <a:gd name="connsiteX887" fmla="*/ 2126688 w 3600000"/>
              <a:gd name="connsiteY887" fmla="*/ 1464028 h 2787466"/>
              <a:gd name="connsiteX888" fmla="*/ 2132459 w 3600000"/>
              <a:gd name="connsiteY888" fmla="*/ 1468941 h 2787466"/>
              <a:gd name="connsiteX889" fmla="*/ 2134932 w 3600000"/>
              <a:gd name="connsiteY889" fmla="*/ 1458879 h 2787466"/>
              <a:gd name="connsiteX890" fmla="*/ 2131760 w 3600000"/>
              <a:gd name="connsiteY890" fmla="*/ 1458219 h 2787466"/>
              <a:gd name="connsiteX891" fmla="*/ 2120634 w 3600000"/>
              <a:gd name="connsiteY891" fmla="*/ 1458189 h 2787466"/>
              <a:gd name="connsiteX892" fmla="*/ 2118960 w 3600000"/>
              <a:gd name="connsiteY892" fmla="*/ 1463635 h 2787466"/>
              <a:gd name="connsiteX893" fmla="*/ 2114117 w 3600000"/>
              <a:gd name="connsiteY893" fmla="*/ 1464854 h 2787466"/>
              <a:gd name="connsiteX894" fmla="*/ 2116796 w 3600000"/>
              <a:gd name="connsiteY894" fmla="*/ 1460923 h 2787466"/>
              <a:gd name="connsiteX895" fmla="*/ 2111214 w 3600000"/>
              <a:gd name="connsiteY895" fmla="*/ 1459657 h 2787466"/>
              <a:gd name="connsiteX896" fmla="*/ 2109274 w 3600000"/>
              <a:gd name="connsiteY896" fmla="*/ 1458459 h 2787466"/>
              <a:gd name="connsiteX897" fmla="*/ 2106227 w 3600000"/>
              <a:gd name="connsiteY897" fmla="*/ 1458806 h 2787466"/>
              <a:gd name="connsiteX898" fmla="*/ 2105049 w 3600000"/>
              <a:gd name="connsiteY898" fmla="*/ 1459980 h 2787466"/>
              <a:gd name="connsiteX899" fmla="*/ 2106286 w 3600000"/>
              <a:gd name="connsiteY899" fmla="*/ 1466897 h 2787466"/>
              <a:gd name="connsiteX900" fmla="*/ 2121948 w 3600000"/>
              <a:gd name="connsiteY900" fmla="*/ 1469885 h 2787466"/>
              <a:gd name="connsiteX901" fmla="*/ 2124267 w 3600000"/>
              <a:gd name="connsiteY901" fmla="*/ 1463910 h 2787466"/>
              <a:gd name="connsiteX902" fmla="*/ 2120863 w 3600000"/>
              <a:gd name="connsiteY902" fmla="*/ 1458190 h 2787466"/>
              <a:gd name="connsiteX903" fmla="*/ 3004541 w 3600000"/>
              <a:gd name="connsiteY903" fmla="*/ 1453780 h 2787466"/>
              <a:gd name="connsiteX904" fmla="*/ 3014810 w 3600000"/>
              <a:gd name="connsiteY904" fmla="*/ 1467716 h 2787466"/>
              <a:gd name="connsiteX905" fmla="*/ 3004541 w 3600000"/>
              <a:gd name="connsiteY905" fmla="*/ 1477692 h 2787466"/>
              <a:gd name="connsiteX906" fmla="*/ 2990164 w 3600000"/>
              <a:gd name="connsiteY906" fmla="*/ 1468824 h 2787466"/>
              <a:gd name="connsiteX907" fmla="*/ 2955043 w 3600000"/>
              <a:gd name="connsiteY907" fmla="*/ 1480701 h 2787466"/>
              <a:gd name="connsiteX908" fmla="*/ 3004541 w 3600000"/>
              <a:gd name="connsiteY908" fmla="*/ 1453780 h 2787466"/>
              <a:gd name="connsiteX909" fmla="*/ 2477214 w 3600000"/>
              <a:gd name="connsiteY909" fmla="*/ 1453750 h 2787466"/>
              <a:gd name="connsiteX910" fmla="*/ 2473530 w 3600000"/>
              <a:gd name="connsiteY910" fmla="*/ 1460923 h 2787466"/>
              <a:gd name="connsiteX911" fmla="*/ 2487956 w 3600000"/>
              <a:gd name="connsiteY911" fmla="*/ 1464854 h 2787466"/>
              <a:gd name="connsiteX912" fmla="*/ 2490635 w 3600000"/>
              <a:gd name="connsiteY912" fmla="*/ 1454005 h 2787466"/>
              <a:gd name="connsiteX913" fmla="*/ 2477214 w 3600000"/>
              <a:gd name="connsiteY913" fmla="*/ 1453750 h 2787466"/>
              <a:gd name="connsiteX914" fmla="*/ 2607235 w 3600000"/>
              <a:gd name="connsiteY914" fmla="*/ 1453284 h 2787466"/>
              <a:gd name="connsiteX915" fmla="*/ 2614076 w 3600000"/>
              <a:gd name="connsiteY915" fmla="*/ 1453915 h 2787466"/>
              <a:gd name="connsiteX916" fmla="*/ 2614076 w 3600000"/>
              <a:gd name="connsiteY916" fmla="*/ 1457741 h 2787466"/>
              <a:gd name="connsiteX917" fmla="*/ 2603381 w 3600000"/>
              <a:gd name="connsiteY917" fmla="*/ 1459731 h 2787466"/>
              <a:gd name="connsiteX918" fmla="*/ 2603381 w 3600000"/>
              <a:gd name="connsiteY918" fmla="*/ 1454833 h 2787466"/>
              <a:gd name="connsiteX919" fmla="*/ 2607235 w 3600000"/>
              <a:gd name="connsiteY919" fmla="*/ 1453284 h 2787466"/>
              <a:gd name="connsiteX920" fmla="*/ 2533500 w 3600000"/>
              <a:gd name="connsiteY920" fmla="*/ 1451962 h 2787466"/>
              <a:gd name="connsiteX921" fmla="*/ 2536180 w 3600000"/>
              <a:gd name="connsiteY921" fmla="*/ 1460923 h 2787466"/>
              <a:gd name="connsiteX922" fmla="*/ 2547927 w 3600000"/>
              <a:gd name="connsiteY922" fmla="*/ 1454949 h 2787466"/>
              <a:gd name="connsiteX923" fmla="*/ 2536180 w 3600000"/>
              <a:gd name="connsiteY923" fmla="*/ 1454005 h 2787466"/>
              <a:gd name="connsiteX924" fmla="*/ 2533500 w 3600000"/>
              <a:gd name="connsiteY924" fmla="*/ 1451962 h 2787466"/>
              <a:gd name="connsiteX925" fmla="*/ 3041166 w 3600000"/>
              <a:gd name="connsiteY925" fmla="*/ 1451959 h 2787466"/>
              <a:gd name="connsiteX926" fmla="*/ 3023194 w 3600000"/>
              <a:gd name="connsiteY926" fmla="*/ 1463068 h 2787466"/>
              <a:gd name="connsiteX927" fmla="*/ 3041166 w 3600000"/>
              <a:gd name="connsiteY927" fmla="*/ 1451959 h 2787466"/>
              <a:gd name="connsiteX928" fmla="*/ 2445400 w 3600000"/>
              <a:gd name="connsiteY928" fmla="*/ 1448385 h 2787466"/>
              <a:gd name="connsiteX929" fmla="*/ 2439732 w 3600000"/>
              <a:gd name="connsiteY929" fmla="*/ 1454005 h 2787466"/>
              <a:gd name="connsiteX930" fmla="*/ 2451479 w 3600000"/>
              <a:gd name="connsiteY930" fmla="*/ 1455892 h 2787466"/>
              <a:gd name="connsiteX931" fmla="*/ 2440968 w 3600000"/>
              <a:gd name="connsiteY931" fmla="*/ 1460923 h 2787466"/>
              <a:gd name="connsiteX932" fmla="*/ 2424069 w 3600000"/>
              <a:gd name="connsiteY932" fmla="*/ 1458879 h 2787466"/>
              <a:gd name="connsiteX933" fmla="*/ 2416238 w 3600000"/>
              <a:gd name="connsiteY933" fmla="*/ 1463910 h 2787466"/>
              <a:gd name="connsiteX934" fmla="*/ 2422833 w 3600000"/>
              <a:gd name="connsiteY934" fmla="*/ 1474758 h 2787466"/>
              <a:gd name="connsiteX935" fmla="*/ 2427985 w 3600000"/>
              <a:gd name="connsiteY935" fmla="*/ 1467841 h 2787466"/>
              <a:gd name="connsiteX936" fmla="*/ 2443648 w 3600000"/>
              <a:gd name="connsiteY936" fmla="*/ 1473815 h 2787466"/>
              <a:gd name="connsiteX937" fmla="*/ 2458074 w 3600000"/>
              <a:gd name="connsiteY937" fmla="*/ 1473815 h 2787466"/>
              <a:gd name="connsiteX938" fmla="*/ 2463226 w 3600000"/>
              <a:gd name="connsiteY938" fmla="*/ 1456992 h 2787466"/>
              <a:gd name="connsiteX939" fmla="*/ 2454158 w 3600000"/>
              <a:gd name="connsiteY939" fmla="*/ 1451018 h 2787466"/>
              <a:gd name="connsiteX940" fmla="*/ 2445400 w 3600000"/>
              <a:gd name="connsiteY940" fmla="*/ 1448385 h 2787466"/>
              <a:gd name="connsiteX941" fmla="*/ 2960558 w 3600000"/>
              <a:gd name="connsiteY941" fmla="*/ 1446585 h 2787466"/>
              <a:gd name="connsiteX942" fmla="*/ 2969377 w 3600000"/>
              <a:gd name="connsiteY942" fmla="*/ 1449698 h 2787466"/>
              <a:gd name="connsiteX943" fmla="*/ 2942012 w 3600000"/>
              <a:gd name="connsiteY943" fmla="*/ 1458479 h 2787466"/>
              <a:gd name="connsiteX944" fmla="*/ 2960558 w 3600000"/>
              <a:gd name="connsiteY944" fmla="*/ 1446585 h 2787466"/>
              <a:gd name="connsiteX945" fmla="*/ 2611877 w 3600000"/>
              <a:gd name="connsiteY945" fmla="*/ 1444376 h 2787466"/>
              <a:gd name="connsiteX946" fmla="*/ 2617715 w 3600000"/>
              <a:gd name="connsiteY946" fmla="*/ 1449053 h 2787466"/>
              <a:gd name="connsiteX947" fmla="*/ 2587934 w 3600000"/>
              <a:gd name="connsiteY947" fmla="*/ 1452972 h 2787466"/>
              <a:gd name="connsiteX948" fmla="*/ 2611877 w 3600000"/>
              <a:gd name="connsiteY948" fmla="*/ 1444376 h 2787466"/>
              <a:gd name="connsiteX949" fmla="*/ 2319853 w 3600000"/>
              <a:gd name="connsiteY949" fmla="*/ 1443298 h 2787466"/>
              <a:gd name="connsiteX950" fmla="*/ 2316948 w 3600000"/>
              <a:gd name="connsiteY950" fmla="*/ 1445418 h 2787466"/>
              <a:gd name="connsiteX951" fmla="*/ 2322470 w 3600000"/>
              <a:gd name="connsiteY951" fmla="*/ 1445987 h 2787466"/>
              <a:gd name="connsiteX952" fmla="*/ 2319382 w 3600000"/>
              <a:gd name="connsiteY952" fmla="*/ 1451044 h 2787466"/>
              <a:gd name="connsiteX953" fmla="*/ 2324178 w 3600000"/>
              <a:gd name="connsiteY953" fmla="*/ 1451273 h 2787466"/>
              <a:gd name="connsiteX954" fmla="*/ 2324402 w 3600000"/>
              <a:gd name="connsiteY954" fmla="*/ 1451329 h 2787466"/>
              <a:gd name="connsiteX955" fmla="*/ 2324637 w 3600000"/>
              <a:gd name="connsiteY955" fmla="*/ 1450414 h 2787466"/>
              <a:gd name="connsiteX956" fmla="*/ 2327828 w 3600000"/>
              <a:gd name="connsiteY956" fmla="*/ 1445987 h 2787466"/>
              <a:gd name="connsiteX957" fmla="*/ 2323500 w 3600000"/>
              <a:gd name="connsiteY957" fmla="*/ 1443727 h 2787466"/>
              <a:gd name="connsiteX958" fmla="*/ 3025625 w 3600000"/>
              <a:gd name="connsiteY958" fmla="*/ 1442267 h 2787466"/>
              <a:gd name="connsiteX959" fmla="*/ 3032198 w 3600000"/>
              <a:gd name="connsiteY959" fmla="*/ 1451347 h 2787466"/>
              <a:gd name="connsiteX960" fmla="*/ 3019559 w 3600000"/>
              <a:gd name="connsiteY960" fmla="*/ 1444312 h 2787466"/>
              <a:gd name="connsiteX961" fmla="*/ 3025625 w 3600000"/>
              <a:gd name="connsiteY961" fmla="*/ 1442267 h 2787466"/>
              <a:gd name="connsiteX962" fmla="*/ 2305333 w 3600000"/>
              <a:gd name="connsiteY962" fmla="*/ 1441301 h 2787466"/>
              <a:gd name="connsiteX963" fmla="*/ 2308498 w 3600000"/>
              <a:gd name="connsiteY963" fmla="*/ 1441962 h 2787466"/>
              <a:gd name="connsiteX964" fmla="*/ 2309625 w 3600000"/>
              <a:gd name="connsiteY964" fmla="*/ 1442198 h 2787466"/>
              <a:gd name="connsiteX965" fmla="*/ 2532264 w 3600000"/>
              <a:gd name="connsiteY965" fmla="*/ 1436082 h 2787466"/>
              <a:gd name="connsiteX966" fmla="*/ 2510008 w 3600000"/>
              <a:gd name="connsiteY966" fmla="*/ 1451962 h 2787466"/>
              <a:gd name="connsiteX967" fmla="*/ 2517839 w 3600000"/>
              <a:gd name="connsiteY967" fmla="*/ 1457936 h 2787466"/>
              <a:gd name="connsiteX968" fmla="*/ 2532264 w 3600000"/>
              <a:gd name="connsiteY968" fmla="*/ 1436082 h 2787466"/>
              <a:gd name="connsiteX969" fmla="*/ 2431421 w 3600000"/>
              <a:gd name="connsiteY969" fmla="*/ 1435320 h 2787466"/>
              <a:gd name="connsiteX970" fmla="*/ 2425305 w 3600000"/>
              <a:gd name="connsiteY970" fmla="*/ 1441113 h 2787466"/>
              <a:gd name="connsiteX971" fmla="*/ 2420154 w 3600000"/>
              <a:gd name="connsiteY971" fmla="*/ 1439069 h 2787466"/>
              <a:gd name="connsiteX972" fmla="*/ 2425305 w 3600000"/>
              <a:gd name="connsiteY972" fmla="*/ 1448031 h 2787466"/>
              <a:gd name="connsiteX973" fmla="*/ 2431901 w 3600000"/>
              <a:gd name="connsiteY973" fmla="*/ 1446930 h 2787466"/>
              <a:gd name="connsiteX974" fmla="*/ 2435816 w 3600000"/>
              <a:gd name="connsiteY974" fmla="*/ 1436082 h 2787466"/>
              <a:gd name="connsiteX975" fmla="*/ 2431421 w 3600000"/>
              <a:gd name="connsiteY975" fmla="*/ 1435320 h 2787466"/>
              <a:gd name="connsiteX976" fmla="*/ 2439732 w 3600000"/>
              <a:gd name="connsiteY976" fmla="*/ 1435139 h 2787466"/>
              <a:gd name="connsiteX977" fmla="*/ 2442411 w 3600000"/>
              <a:gd name="connsiteY977" fmla="*/ 1446930 h 2787466"/>
              <a:gd name="connsiteX978" fmla="*/ 2445940 w 3600000"/>
              <a:gd name="connsiteY978" fmla="*/ 1440327 h 2787466"/>
              <a:gd name="connsiteX979" fmla="*/ 2441842 w 3600000"/>
              <a:gd name="connsiteY979" fmla="*/ 1436902 h 2787466"/>
              <a:gd name="connsiteX980" fmla="*/ 2439818 w 3600000"/>
              <a:gd name="connsiteY980" fmla="*/ 1437042 h 2787466"/>
              <a:gd name="connsiteX981" fmla="*/ 2441127 w 3600000"/>
              <a:gd name="connsiteY981" fmla="*/ 1436304 h 2787466"/>
              <a:gd name="connsiteX982" fmla="*/ 2719712 w 3600000"/>
              <a:gd name="connsiteY982" fmla="*/ 1434392 h 2787466"/>
              <a:gd name="connsiteX983" fmla="*/ 2723688 w 3600000"/>
              <a:gd name="connsiteY983" fmla="*/ 1435061 h 2787466"/>
              <a:gd name="connsiteX984" fmla="*/ 2709111 w 3600000"/>
              <a:gd name="connsiteY984" fmla="*/ 1441141 h 2787466"/>
              <a:gd name="connsiteX985" fmla="*/ 2719712 w 3600000"/>
              <a:gd name="connsiteY985" fmla="*/ 1434392 h 2787466"/>
              <a:gd name="connsiteX986" fmla="*/ 2467964 w 3600000"/>
              <a:gd name="connsiteY986" fmla="*/ 1433186 h 2787466"/>
              <a:gd name="connsiteX987" fmla="*/ 2459310 w 3600000"/>
              <a:gd name="connsiteY987" fmla="*/ 1439069 h 2787466"/>
              <a:gd name="connsiteX988" fmla="*/ 2471495 w 3600000"/>
              <a:gd name="connsiteY988" fmla="*/ 1437301 h 2787466"/>
              <a:gd name="connsiteX989" fmla="*/ 2474852 w 3600000"/>
              <a:gd name="connsiteY989" fmla="*/ 1434463 h 2787466"/>
              <a:gd name="connsiteX990" fmla="*/ 2478888 w 3600000"/>
              <a:gd name="connsiteY990" fmla="*/ 1431051 h 2787466"/>
              <a:gd name="connsiteX991" fmla="*/ 2476688 w 3600000"/>
              <a:gd name="connsiteY991" fmla="*/ 1431366 h 2787466"/>
              <a:gd name="connsiteX992" fmla="*/ 2477250 w 3600000"/>
              <a:gd name="connsiteY992" fmla="*/ 1432436 h 2787466"/>
              <a:gd name="connsiteX993" fmla="*/ 2458388 w 3600000"/>
              <a:gd name="connsiteY993" fmla="*/ 1426784 h 2787466"/>
              <a:gd name="connsiteX994" fmla="*/ 2458074 w 3600000"/>
              <a:gd name="connsiteY994" fmla="*/ 1428064 h 2787466"/>
              <a:gd name="connsiteX995" fmla="*/ 2460806 w 3600000"/>
              <a:gd name="connsiteY995" fmla="*/ 1427350 h 2787466"/>
              <a:gd name="connsiteX996" fmla="*/ 2460634 w 3600000"/>
              <a:gd name="connsiteY996" fmla="*/ 1427141 h 2787466"/>
              <a:gd name="connsiteX997" fmla="*/ 2511147 w 3600000"/>
              <a:gd name="connsiteY997" fmla="*/ 1426150 h 2787466"/>
              <a:gd name="connsiteX998" fmla="*/ 2495788 w 3600000"/>
              <a:gd name="connsiteY998" fmla="*/ 1430107 h 2787466"/>
              <a:gd name="connsiteX999" fmla="*/ 2495788 w 3600000"/>
              <a:gd name="connsiteY999" fmla="*/ 1437025 h 2787466"/>
              <a:gd name="connsiteX1000" fmla="*/ 2515365 w 3600000"/>
              <a:gd name="connsiteY1000" fmla="*/ 1428064 h 2787466"/>
              <a:gd name="connsiteX1001" fmla="*/ 2511147 w 3600000"/>
              <a:gd name="connsiteY1001" fmla="*/ 1426150 h 2787466"/>
              <a:gd name="connsiteX1002" fmla="*/ 2495788 w 3600000"/>
              <a:gd name="connsiteY1002" fmla="*/ 1423190 h 2787466"/>
              <a:gd name="connsiteX1003" fmla="*/ 2495697 w 3600000"/>
              <a:gd name="connsiteY1003" fmla="*/ 1423411 h 2787466"/>
              <a:gd name="connsiteX1004" fmla="*/ 2490635 w 3600000"/>
              <a:gd name="connsiteY1004" fmla="*/ 1424133 h 2787466"/>
              <a:gd name="connsiteX1005" fmla="*/ 2495788 w 3600000"/>
              <a:gd name="connsiteY1005" fmla="*/ 1423190 h 2787466"/>
              <a:gd name="connsiteX1006" fmla="*/ 2390409 w 3600000"/>
              <a:gd name="connsiteY1006" fmla="*/ 1420405 h 2787466"/>
              <a:gd name="connsiteX1007" fmla="*/ 2351256 w 3600000"/>
              <a:gd name="connsiteY1007" fmla="*/ 1428266 h 2787466"/>
              <a:gd name="connsiteX1008" fmla="*/ 2334359 w 3600000"/>
              <a:gd name="connsiteY1008" fmla="*/ 1429366 h 2787466"/>
              <a:gd name="connsiteX1009" fmla="*/ 2322612 w 3600000"/>
              <a:gd name="connsiteY1009" fmla="*/ 1421348 h 2787466"/>
              <a:gd name="connsiteX1010" fmla="*/ 2305715 w 3600000"/>
              <a:gd name="connsiteY1010" fmla="*/ 1438329 h 2787466"/>
              <a:gd name="connsiteX1011" fmla="*/ 2295412 w 3600000"/>
              <a:gd name="connsiteY1011" fmla="*/ 1431254 h 2787466"/>
              <a:gd name="connsiteX1012" fmla="*/ 2303243 w 3600000"/>
              <a:gd name="connsiteY1012" fmla="*/ 1424335 h 2787466"/>
              <a:gd name="connsiteX1013" fmla="*/ 2280060 w 3600000"/>
              <a:gd name="connsiteY1013" fmla="*/ 1427386 h 2787466"/>
              <a:gd name="connsiteX1014" fmla="*/ 2276502 w 3600000"/>
              <a:gd name="connsiteY1014" fmla="*/ 1430644 h 2787466"/>
              <a:gd name="connsiteX1015" fmla="*/ 2277050 w 3600000"/>
              <a:gd name="connsiteY1015" fmla="*/ 1431256 h 2787466"/>
              <a:gd name="connsiteX1016" fmla="*/ 2284259 w 3600000"/>
              <a:gd name="connsiteY1016" fmla="*/ 1431273 h 2787466"/>
              <a:gd name="connsiteX1017" fmla="*/ 2288818 w 3600000"/>
              <a:gd name="connsiteY1017" fmla="*/ 1434240 h 2787466"/>
              <a:gd name="connsiteX1018" fmla="*/ 2281894 w 3600000"/>
              <a:gd name="connsiteY1018" fmla="*/ 1435516 h 2787466"/>
              <a:gd name="connsiteX1019" fmla="*/ 2290286 w 3600000"/>
              <a:gd name="connsiteY1019" fmla="*/ 1442092 h 2787466"/>
              <a:gd name="connsiteX1020" fmla="*/ 2291350 w 3600000"/>
              <a:gd name="connsiteY1020" fmla="*/ 1440013 h 2787466"/>
              <a:gd name="connsiteX1021" fmla="*/ 2303030 w 3600000"/>
              <a:gd name="connsiteY1021" fmla="*/ 1444766 h 2787466"/>
              <a:gd name="connsiteX1022" fmla="*/ 2303843 w 3600000"/>
              <a:gd name="connsiteY1022" fmla="*/ 1447979 h 2787466"/>
              <a:gd name="connsiteX1023" fmla="*/ 2304273 w 3600000"/>
              <a:gd name="connsiteY1023" fmla="*/ 1448038 h 2787466"/>
              <a:gd name="connsiteX1024" fmla="*/ 2306126 w 3600000"/>
              <a:gd name="connsiteY1024" fmla="*/ 1448893 h 2787466"/>
              <a:gd name="connsiteX1025" fmla="*/ 2312938 w 3600000"/>
              <a:gd name="connsiteY1025" fmla="*/ 1445004 h 2787466"/>
              <a:gd name="connsiteX1026" fmla="*/ 2314553 w 3600000"/>
              <a:gd name="connsiteY1026" fmla="*/ 1445171 h 2787466"/>
              <a:gd name="connsiteX1027" fmla="*/ 2311387 w 3600000"/>
              <a:gd name="connsiteY1027" fmla="*/ 1443532 h 2787466"/>
              <a:gd name="connsiteX1028" fmla="*/ 2311046 w 3600000"/>
              <a:gd name="connsiteY1028" fmla="*/ 1442494 h 2787466"/>
              <a:gd name="connsiteX1029" fmla="*/ 2310615 w 3600000"/>
              <a:gd name="connsiteY1029" fmla="*/ 1441181 h 2787466"/>
              <a:gd name="connsiteX1030" fmla="*/ 2316152 w 3600000"/>
              <a:gd name="connsiteY1030" fmla="*/ 1437141 h 2787466"/>
              <a:gd name="connsiteX1031" fmla="*/ 2318814 w 3600000"/>
              <a:gd name="connsiteY1031" fmla="*/ 1439278 h 2787466"/>
              <a:gd name="connsiteX1032" fmla="*/ 2320408 w 3600000"/>
              <a:gd name="connsiteY1032" fmla="*/ 1440975 h 2787466"/>
              <a:gd name="connsiteX1033" fmla="*/ 2326772 w 3600000"/>
              <a:gd name="connsiteY1033" fmla="*/ 1436809 h 2787466"/>
              <a:gd name="connsiteX1034" fmla="*/ 2322470 w 3600000"/>
              <a:gd name="connsiteY1034" fmla="*/ 1432152 h 2787466"/>
              <a:gd name="connsiteX1035" fmla="*/ 2337462 w 3600000"/>
              <a:gd name="connsiteY1035" fmla="*/ 1433114 h 2787466"/>
              <a:gd name="connsiteX1036" fmla="*/ 2340244 w 3600000"/>
              <a:gd name="connsiteY1036" fmla="*/ 1435819 h 2787466"/>
              <a:gd name="connsiteX1037" fmla="*/ 2345644 w 3600000"/>
              <a:gd name="connsiteY1037" fmla="*/ 1433685 h 2787466"/>
              <a:gd name="connsiteX1038" fmla="*/ 2354152 w 3600000"/>
              <a:gd name="connsiteY1038" fmla="*/ 1430209 h 2787466"/>
              <a:gd name="connsiteX1039" fmla="*/ 2360792 w 3600000"/>
              <a:gd name="connsiteY1039" fmla="*/ 1438134 h 2787466"/>
              <a:gd name="connsiteX1040" fmla="*/ 2343051 w 3600000"/>
              <a:gd name="connsiteY1040" fmla="*/ 1437238 h 2787466"/>
              <a:gd name="connsiteX1041" fmla="*/ 2341658 w 3600000"/>
              <a:gd name="connsiteY1041" fmla="*/ 1437192 h 2787466"/>
              <a:gd name="connsiteX1042" fmla="*/ 2343045 w 3600000"/>
              <a:gd name="connsiteY1042" fmla="*/ 1438541 h 2787466"/>
              <a:gd name="connsiteX1043" fmla="*/ 2344727 w 3600000"/>
              <a:gd name="connsiteY1043" fmla="*/ 1445987 h 2787466"/>
              <a:gd name="connsiteX1044" fmla="*/ 2334731 w 3600000"/>
              <a:gd name="connsiteY1044" fmla="*/ 1451588 h 2787466"/>
              <a:gd name="connsiteX1045" fmla="*/ 2333467 w 3600000"/>
              <a:gd name="connsiteY1045" fmla="*/ 1453615 h 2787466"/>
              <a:gd name="connsiteX1046" fmla="*/ 2345123 w 3600000"/>
              <a:gd name="connsiteY1046" fmla="*/ 1456554 h 2787466"/>
              <a:gd name="connsiteX1047" fmla="*/ 2364616 w 3600000"/>
              <a:gd name="connsiteY1047" fmla="*/ 1465367 h 2787466"/>
              <a:gd name="connsiteX1048" fmla="*/ 2369456 w 3600000"/>
              <a:gd name="connsiteY1048" fmla="*/ 1464854 h 2787466"/>
              <a:gd name="connsiteX1049" fmla="*/ 2370309 w 3600000"/>
              <a:gd name="connsiteY1049" fmla="*/ 1467941 h 2787466"/>
              <a:gd name="connsiteX1050" fmla="*/ 2377280 w 3600000"/>
              <a:gd name="connsiteY1050" fmla="*/ 1471093 h 2787466"/>
              <a:gd name="connsiteX1051" fmla="*/ 2378525 w 3600000"/>
              <a:gd name="connsiteY1051" fmla="*/ 1470828 h 2787466"/>
              <a:gd name="connsiteX1052" fmla="*/ 2379761 w 3600000"/>
              <a:gd name="connsiteY1052" fmla="*/ 1457936 h 2787466"/>
              <a:gd name="connsiteX1053" fmla="*/ 2389035 w 3600000"/>
              <a:gd name="connsiteY1053" fmla="*/ 1463910 h 2787466"/>
              <a:gd name="connsiteX1054" fmla="*/ 2383677 w 3600000"/>
              <a:gd name="connsiteY1054" fmla="*/ 1468941 h 2787466"/>
              <a:gd name="connsiteX1055" fmla="*/ 2387593 w 3600000"/>
              <a:gd name="connsiteY1055" fmla="*/ 1473815 h 2787466"/>
              <a:gd name="connsiteX1056" fmla="*/ 2394187 w 3600000"/>
              <a:gd name="connsiteY1056" fmla="*/ 1463910 h 2787466"/>
              <a:gd name="connsiteX1057" fmla="*/ 2394187 w 3600000"/>
              <a:gd name="connsiteY1057" fmla="*/ 1454949 h 2787466"/>
              <a:gd name="connsiteX1058" fmla="*/ 2382440 w 3600000"/>
              <a:gd name="connsiteY1058" fmla="*/ 1454949 h 2787466"/>
              <a:gd name="connsiteX1059" fmla="*/ 2380637 w 3600000"/>
              <a:gd name="connsiteY1059" fmla="*/ 1445221 h 2787466"/>
              <a:gd name="connsiteX1060" fmla="*/ 2380628 w 3600000"/>
              <a:gd name="connsiteY1060" fmla="*/ 1445139 h 2787466"/>
              <a:gd name="connsiteX1061" fmla="*/ 2378500 w 3600000"/>
              <a:gd name="connsiteY1061" fmla="*/ 1445998 h 2787466"/>
              <a:gd name="connsiteX1062" fmla="*/ 2373485 w 3600000"/>
              <a:gd name="connsiteY1062" fmla="*/ 1443039 h 2787466"/>
              <a:gd name="connsiteX1063" fmla="*/ 2379779 w 3600000"/>
              <a:gd name="connsiteY1063" fmla="*/ 1437313 h 2787466"/>
              <a:gd name="connsiteX1064" fmla="*/ 2379790 w 3600000"/>
              <a:gd name="connsiteY1064" fmla="*/ 1437292 h 2787466"/>
              <a:gd name="connsiteX1065" fmla="*/ 2379761 w 3600000"/>
              <a:gd name="connsiteY1065" fmla="*/ 1437025 h 2787466"/>
              <a:gd name="connsiteX1066" fmla="*/ 2379905 w 3600000"/>
              <a:gd name="connsiteY1066" fmla="*/ 1437063 h 2787466"/>
              <a:gd name="connsiteX1067" fmla="*/ 2382312 w 3600000"/>
              <a:gd name="connsiteY1067" fmla="*/ 1432289 h 2787466"/>
              <a:gd name="connsiteX1068" fmla="*/ 2388732 w 3600000"/>
              <a:gd name="connsiteY1068" fmla="*/ 1437118 h 2787466"/>
              <a:gd name="connsiteX1069" fmla="*/ 2384389 w 3600000"/>
              <a:gd name="connsiteY1069" fmla="*/ 1439609 h 2787466"/>
              <a:gd name="connsiteX1070" fmla="*/ 2385145 w 3600000"/>
              <a:gd name="connsiteY1070" fmla="*/ 1441408 h 2787466"/>
              <a:gd name="connsiteX1071" fmla="*/ 2387593 w 3600000"/>
              <a:gd name="connsiteY1071" fmla="*/ 1448031 h 2787466"/>
              <a:gd name="connsiteX1072" fmla="*/ 2405934 w 3600000"/>
              <a:gd name="connsiteY1072" fmla="*/ 1441113 h 2787466"/>
              <a:gd name="connsiteX1073" fmla="*/ 2390271 w 3600000"/>
              <a:gd name="connsiteY1073" fmla="*/ 1432152 h 2787466"/>
              <a:gd name="connsiteX1074" fmla="*/ 2396789 w 3600000"/>
              <a:gd name="connsiteY1074" fmla="*/ 1431031 h 2787466"/>
              <a:gd name="connsiteX1075" fmla="*/ 2396611 w 3600000"/>
              <a:gd name="connsiteY1075" fmla="*/ 1428331 h 2787466"/>
              <a:gd name="connsiteX1076" fmla="*/ 2393088 w 3600000"/>
              <a:gd name="connsiteY1076" fmla="*/ 1431254 h 2787466"/>
              <a:gd name="connsiteX1077" fmla="*/ 2390641 w 3600000"/>
              <a:gd name="connsiteY1077" fmla="*/ 1428718 h 2787466"/>
              <a:gd name="connsiteX1078" fmla="*/ 2391638 w 3600000"/>
              <a:gd name="connsiteY1078" fmla="*/ 1426884 h 2787466"/>
              <a:gd name="connsiteX1079" fmla="*/ 2388638 w 3600000"/>
              <a:gd name="connsiteY1079" fmla="*/ 1430303 h 2787466"/>
              <a:gd name="connsiteX1080" fmla="*/ 2380165 w 3600000"/>
              <a:gd name="connsiteY1080" fmla="*/ 1431910 h 2787466"/>
              <a:gd name="connsiteX1081" fmla="*/ 2380796 w 3600000"/>
              <a:gd name="connsiteY1081" fmla="*/ 1428511 h 2787466"/>
              <a:gd name="connsiteX1082" fmla="*/ 2379178 w 3600000"/>
              <a:gd name="connsiteY1082" fmla="*/ 1429622 h 2787466"/>
              <a:gd name="connsiteX1083" fmla="*/ 2367786 w 3600000"/>
              <a:gd name="connsiteY1083" fmla="*/ 1434214 h 2787466"/>
              <a:gd name="connsiteX1084" fmla="*/ 2362581 w 3600000"/>
              <a:gd name="connsiteY1084" fmla="*/ 1431287 h 2787466"/>
              <a:gd name="connsiteX1085" fmla="*/ 2373956 w 3600000"/>
              <a:gd name="connsiteY1085" fmla="*/ 1428668 h 2787466"/>
              <a:gd name="connsiteX1086" fmla="*/ 2380957 w 3600000"/>
              <a:gd name="connsiteY1086" fmla="*/ 1427642 h 2787466"/>
              <a:gd name="connsiteX1087" fmla="*/ 2381147 w 3600000"/>
              <a:gd name="connsiteY1087" fmla="*/ 1426616 h 2787466"/>
              <a:gd name="connsiteX1088" fmla="*/ 2384798 w 3600000"/>
              <a:gd name="connsiteY1088" fmla="*/ 1423760 h 2787466"/>
              <a:gd name="connsiteX1089" fmla="*/ 2392630 w 3600000"/>
              <a:gd name="connsiteY1089" fmla="*/ 1424927 h 2787466"/>
              <a:gd name="connsiteX1090" fmla="*/ 2393552 w 3600000"/>
              <a:gd name="connsiteY1090" fmla="*/ 1422940 h 2787466"/>
              <a:gd name="connsiteX1091" fmla="*/ 2390409 w 3600000"/>
              <a:gd name="connsiteY1091" fmla="*/ 1420405 h 2787466"/>
              <a:gd name="connsiteX1092" fmla="*/ 2467141 w 3600000"/>
              <a:gd name="connsiteY1092" fmla="*/ 1420202 h 2787466"/>
              <a:gd name="connsiteX1093" fmla="*/ 2466331 w 3600000"/>
              <a:gd name="connsiteY1093" fmla="*/ 1420384 h 2787466"/>
              <a:gd name="connsiteX1094" fmla="*/ 2463932 w 3600000"/>
              <a:gd name="connsiteY1094" fmla="*/ 1421440 h 2787466"/>
              <a:gd name="connsiteX1095" fmla="*/ 2461708 w 3600000"/>
              <a:gd name="connsiteY1095" fmla="*/ 1425214 h 2787466"/>
              <a:gd name="connsiteX1096" fmla="*/ 2464870 w 3600000"/>
              <a:gd name="connsiteY1096" fmla="*/ 1425589 h 2787466"/>
              <a:gd name="connsiteX1097" fmla="*/ 2614078 w 3600000"/>
              <a:gd name="connsiteY1097" fmla="*/ 1419116 h 2787466"/>
              <a:gd name="connsiteX1098" fmla="*/ 2603469 w 3600000"/>
              <a:gd name="connsiteY1098" fmla="*/ 1432132 h 2787466"/>
              <a:gd name="connsiteX1099" fmla="*/ 2597021 w 3600000"/>
              <a:gd name="connsiteY1099" fmla="*/ 1424134 h 2787466"/>
              <a:gd name="connsiteX1100" fmla="*/ 2614078 w 3600000"/>
              <a:gd name="connsiteY1100" fmla="*/ 1419116 h 2787466"/>
              <a:gd name="connsiteX1101" fmla="*/ 2484129 w 3600000"/>
              <a:gd name="connsiteY1101" fmla="*/ 1418940 h 2787466"/>
              <a:gd name="connsiteX1102" fmla="*/ 2484530 w 3600000"/>
              <a:gd name="connsiteY1102" fmla="*/ 1421657 h 2787466"/>
              <a:gd name="connsiteX1103" fmla="*/ 2486513 w 3600000"/>
              <a:gd name="connsiteY1103" fmla="*/ 1438126 h 2787466"/>
              <a:gd name="connsiteX1104" fmla="*/ 2490635 w 3600000"/>
              <a:gd name="connsiteY1104" fmla="*/ 1437025 h 2787466"/>
              <a:gd name="connsiteX1105" fmla="*/ 2492670 w 3600000"/>
              <a:gd name="connsiteY1105" fmla="*/ 1430816 h 2787466"/>
              <a:gd name="connsiteX1106" fmla="*/ 2495697 w 3600000"/>
              <a:gd name="connsiteY1106" fmla="*/ 1423411 h 2787466"/>
              <a:gd name="connsiteX1107" fmla="*/ 2509139 w 3600000"/>
              <a:gd name="connsiteY1107" fmla="*/ 1421494 h 2787466"/>
              <a:gd name="connsiteX1108" fmla="*/ 2504981 w 3600000"/>
              <a:gd name="connsiteY1108" fmla="*/ 1419304 h 2787466"/>
              <a:gd name="connsiteX1109" fmla="*/ 2491278 w 3600000"/>
              <a:gd name="connsiteY1109" fmla="*/ 1420601 h 2787466"/>
              <a:gd name="connsiteX1110" fmla="*/ 2403040 w 3600000"/>
              <a:gd name="connsiteY1110" fmla="*/ 1418479 h 2787466"/>
              <a:gd name="connsiteX1111" fmla="*/ 2398239 w 3600000"/>
              <a:gd name="connsiteY1111" fmla="*/ 1419304 h 2787466"/>
              <a:gd name="connsiteX1112" fmla="*/ 2395058 w 3600000"/>
              <a:gd name="connsiteY1112" fmla="*/ 1422608 h 2787466"/>
              <a:gd name="connsiteX1113" fmla="*/ 2395931 w 3600000"/>
              <a:gd name="connsiteY1113" fmla="*/ 1424839 h 2787466"/>
              <a:gd name="connsiteX1114" fmla="*/ 2395423 w 3600000"/>
              <a:gd name="connsiteY1114" fmla="*/ 1423190 h 2787466"/>
              <a:gd name="connsiteX1115" fmla="*/ 2398103 w 3600000"/>
              <a:gd name="connsiteY1115" fmla="*/ 1423190 h 2787466"/>
              <a:gd name="connsiteX1116" fmla="*/ 2400782 w 3600000"/>
              <a:gd name="connsiteY1116" fmla="*/ 1420202 h 2787466"/>
              <a:gd name="connsiteX1117" fmla="*/ 2399565 w 3600000"/>
              <a:gd name="connsiteY1117" fmla="*/ 1432164 h 2787466"/>
              <a:gd name="connsiteX1118" fmla="*/ 2400303 w 3600000"/>
              <a:gd name="connsiteY1118" fmla="*/ 1432381 h 2787466"/>
              <a:gd name="connsiteX1119" fmla="*/ 2402628 w 3600000"/>
              <a:gd name="connsiteY1119" fmla="*/ 1430903 h 2787466"/>
              <a:gd name="connsiteX1120" fmla="*/ 2403616 w 3600000"/>
              <a:gd name="connsiteY1120" fmla="*/ 1431266 h 2787466"/>
              <a:gd name="connsiteX1121" fmla="*/ 2406734 w 3600000"/>
              <a:gd name="connsiteY1121" fmla="*/ 1432413 h 2787466"/>
              <a:gd name="connsiteX1122" fmla="*/ 2410356 w 3600000"/>
              <a:gd name="connsiteY1122" fmla="*/ 1425049 h 2787466"/>
              <a:gd name="connsiteX1123" fmla="*/ 2406353 w 3600000"/>
              <a:gd name="connsiteY1123" fmla="*/ 1420719 h 2787466"/>
              <a:gd name="connsiteX1124" fmla="*/ 2403040 w 3600000"/>
              <a:gd name="connsiteY1124" fmla="*/ 1418479 h 2787466"/>
              <a:gd name="connsiteX1125" fmla="*/ 2935868 w 3600000"/>
              <a:gd name="connsiteY1125" fmla="*/ 1418055 h 2787466"/>
              <a:gd name="connsiteX1126" fmla="*/ 2941199 w 3600000"/>
              <a:gd name="connsiteY1126" fmla="*/ 1422201 h 2787466"/>
              <a:gd name="connsiteX1127" fmla="*/ 2927783 w 3600000"/>
              <a:gd name="connsiteY1127" fmla="*/ 1427290 h 2787466"/>
              <a:gd name="connsiteX1128" fmla="*/ 2935868 w 3600000"/>
              <a:gd name="connsiteY1128" fmla="*/ 1418055 h 2787466"/>
              <a:gd name="connsiteX1129" fmla="*/ 2287298 w 3600000"/>
              <a:gd name="connsiteY1129" fmla="*/ 1415531 h 2787466"/>
              <a:gd name="connsiteX1130" fmla="*/ 2278309 w 3600000"/>
              <a:gd name="connsiteY1130" fmla="*/ 1418361 h 2787466"/>
              <a:gd name="connsiteX1131" fmla="*/ 2291497 w 3600000"/>
              <a:gd name="connsiteY1131" fmla="*/ 1419304 h 2787466"/>
              <a:gd name="connsiteX1132" fmla="*/ 2287298 w 3600000"/>
              <a:gd name="connsiteY1132" fmla="*/ 1415531 h 2787466"/>
              <a:gd name="connsiteX1133" fmla="*/ 2270697 w 3600000"/>
              <a:gd name="connsiteY1133" fmla="*/ 1412235 h 2787466"/>
              <a:gd name="connsiteX1134" fmla="*/ 2267076 w 3600000"/>
              <a:gd name="connsiteY1134" fmla="*/ 1412298 h 2787466"/>
              <a:gd name="connsiteX1135" fmla="*/ 2267902 w 3600000"/>
              <a:gd name="connsiteY1135" fmla="*/ 1415457 h 2787466"/>
              <a:gd name="connsiteX1136" fmla="*/ 2448478 w 3600000"/>
              <a:gd name="connsiteY1136" fmla="*/ 1409333 h 2787466"/>
              <a:gd name="connsiteX1137" fmla="*/ 2447176 w 3600000"/>
              <a:gd name="connsiteY1137" fmla="*/ 1411856 h 2787466"/>
              <a:gd name="connsiteX1138" fmla="*/ 2438628 w 3600000"/>
              <a:gd name="connsiteY1138" fmla="*/ 1412387 h 2787466"/>
              <a:gd name="connsiteX1139" fmla="*/ 2438628 w 3600000"/>
              <a:gd name="connsiteY1139" fmla="*/ 1421348 h 2787466"/>
              <a:gd name="connsiteX1140" fmla="*/ 2447694 w 3600000"/>
              <a:gd name="connsiteY1140" fmla="*/ 1423393 h 2787466"/>
              <a:gd name="connsiteX1141" fmla="*/ 2442717 w 3600000"/>
              <a:gd name="connsiteY1141" fmla="*/ 1422819 h 2787466"/>
              <a:gd name="connsiteX1142" fmla="*/ 2447563 w 3600000"/>
              <a:gd name="connsiteY1142" fmla="*/ 1428064 h 2787466"/>
              <a:gd name="connsiteX1143" fmla="*/ 2458074 w 3600000"/>
              <a:gd name="connsiteY1143" fmla="*/ 1411241 h 2787466"/>
              <a:gd name="connsiteX1144" fmla="*/ 2456303 w 3600000"/>
              <a:gd name="connsiteY1144" fmla="*/ 1410870 h 2787466"/>
              <a:gd name="connsiteX1145" fmla="*/ 2454855 w 3600000"/>
              <a:gd name="connsiteY1145" fmla="*/ 1415511 h 2787466"/>
              <a:gd name="connsiteX1146" fmla="*/ 2448931 w 3600000"/>
              <a:gd name="connsiteY1146" fmla="*/ 1416317 h 2787466"/>
              <a:gd name="connsiteX1147" fmla="*/ 2452670 w 3600000"/>
              <a:gd name="connsiteY1147" fmla="*/ 1410789 h 2787466"/>
              <a:gd name="connsiteX1148" fmla="*/ 2451025 w 3600000"/>
              <a:gd name="connsiteY1148" fmla="*/ 1409763 h 2787466"/>
              <a:gd name="connsiteX1149" fmla="*/ 2449264 w 3600000"/>
              <a:gd name="connsiteY1149" fmla="*/ 1409394 h 2787466"/>
              <a:gd name="connsiteX1150" fmla="*/ 2285343 w 3600000"/>
              <a:gd name="connsiteY1150" fmla="*/ 1409250 h 2787466"/>
              <a:gd name="connsiteX1151" fmla="*/ 2276964 w 3600000"/>
              <a:gd name="connsiteY1151" fmla="*/ 1411590 h 2787466"/>
              <a:gd name="connsiteX1152" fmla="*/ 2274393 w 3600000"/>
              <a:gd name="connsiteY1152" fmla="*/ 1413487 h 2787466"/>
              <a:gd name="connsiteX1153" fmla="*/ 2291497 w 3600000"/>
              <a:gd name="connsiteY1153" fmla="*/ 1409399 h 2787466"/>
              <a:gd name="connsiteX1154" fmla="*/ 2481489 w 3600000"/>
              <a:gd name="connsiteY1154" fmla="*/ 1405468 h 2787466"/>
              <a:gd name="connsiteX1155" fmla="*/ 2478418 w 3600000"/>
              <a:gd name="connsiteY1155" fmla="*/ 1405957 h 2787466"/>
              <a:gd name="connsiteX1156" fmla="*/ 2477445 w 3600000"/>
              <a:gd name="connsiteY1156" fmla="*/ 1413285 h 2787466"/>
              <a:gd name="connsiteX1157" fmla="*/ 2479291 w 3600000"/>
              <a:gd name="connsiteY1157" fmla="*/ 1412931 h 2787466"/>
              <a:gd name="connsiteX1158" fmla="*/ 2479996 w 3600000"/>
              <a:gd name="connsiteY1158" fmla="*/ 1411089 h 2787466"/>
              <a:gd name="connsiteX1159" fmla="*/ 2481489 w 3600000"/>
              <a:gd name="connsiteY1159" fmla="*/ 1405468 h 2787466"/>
              <a:gd name="connsiteX1160" fmla="*/ 3111915 w 3600000"/>
              <a:gd name="connsiteY1160" fmla="*/ 1403428 h 2787466"/>
              <a:gd name="connsiteX1161" fmla="*/ 3092450 w 3600000"/>
              <a:gd name="connsiteY1161" fmla="*/ 1421475 h 2787466"/>
              <a:gd name="connsiteX1162" fmla="*/ 3111915 w 3600000"/>
              <a:gd name="connsiteY1162" fmla="*/ 1403428 h 2787466"/>
              <a:gd name="connsiteX1163" fmla="*/ 2509210 w 3600000"/>
              <a:gd name="connsiteY1163" fmla="*/ 1403318 h 2787466"/>
              <a:gd name="connsiteX1164" fmla="*/ 2503464 w 3600000"/>
              <a:gd name="connsiteY1164" fmla="*/ 1405169 h 2787466"/>
              <a:gd name="connsiteX1165" fmla="*/ 2502969 w 3600000"/>
              <a:gd name="connsiteY1165" fmla="*/ 1405184 h 2787466"/>
              <a:gd name="connsiteX1166" fmla="*/ 2502869 w 3600000"/>
              <a:gd name="connsiteY1166" fmla="*/ 1405331 h 2787466"/>
              <a:gd name="connsiteX1167" fmla="*/ 2502302 w 3600000"/>
              <a:gd name="connsiteY1167" fmla="*/ 1409399 h 2787466"/>
              <a:gd name="connsiteX1168" fmla="*/ 2499314 w 3600000"/>
              <a:gd name="connsiteY1168" fmla="*/ 1406942 h 2787466"/>
              <a:gd name="connsiteX1169" fmla="*/ 2498767 w 3600000"/>
              <a:gd name="connsiteY1169" fmla="*/ 1405312 h 2787466"/>
              <a:gd name="connsiteX1170" fmla="*/ 2490789 w 3600000"/>
              <a:gd name="connsiteY1170" fmla="*/ 1405554 h 2787466"/>
              <a:gd name="connsiteX1171" fmla="*/ 2489173 w 3600000"/>
              <a:gd name="connsiteY1171" fmla="*/ 1404481 h 2787466"/>
              <a:gd name="connsiteX1172" fmla="*/ 2487903 w 3600000"/>
              <a:gd name="connsiteY1172" fmla="*/ 1407571 h 2787466"/>
              <a:gd name="connsiteX1173" fmla="*/ 2487580 w 3600000"/>
              <a:gd name="connsiteY1173" fmla="*/ 1408276 h 2787466"/>
              <a:gd name="connsiteX1174" fmla="*/ 2489193 w 3600000"/>
              <a:gd name="connsiteY1174" fmla="*/ 1408254 h 2787466"/>
              <a:gd name="connsiteX1175" fmla="*/ 2483621 w 3600000"/>
              <a:gd name="connsiteY1175" fmla="*/ 1414759 h 2787466"/>
              <a:gd name="connsiteX1176" fmla="*/ 2489124 w 3600000"/>
              <a:gd name="connsiteY1176" fmla="*/ 1415607 h 2787466"/>
              <a:gd name="connsiteX1177" fmla="*/ 2496352 w 3600000"/>
              <a:gd name="connsiteY1177" fmla="*/ 1414292 h 2787466"/>
              <a:gd name="connsiteX1178" fmla="*/ 2499440 w 3600000"/>
              <a:gd name="connsiteY1178" fmla="*/ 1413443 h 2787466"/>
              <a:gd name="connsiteX1179" fmla="*/ 2493431 w 3600000"/>
              <a:gd name="connsiteY1179" fmla="*/ 1412348 h 2787466"/>
              <a:gd name="connsiteX1180" fmla="*/ 2501344 w 3600000"/>
              <a:gd name="connsiteY1180" fmla="*/ 1411413 h 2787466"/>
              <a:gd name="connsiteX1181" fmla="*/ 2504442 w 3600000"/>
              <a:gd name="connsiteY1181" fmla="*/ 1407868 h 2787466"/>
              <a:gd name="connsiteX1182" fmla="*/ 2510494 w 3600000"/>
              <a:gd name="connsiteY1182" fmla="*/ 1406431 h 2787466"/>
              <a:gd name="connsiteX1183" fmla="*/ 2510648 w 3600000"/>
              <a:gd name="connsiteY1183" fmla="*/ 1404702 h 2787466"/>
              <a:gd name="connsiteX1184" fmla="*/ 2579552 w 3600000"/>
              <a:gd name="connsiteY1184" fmla="*/ 1401092 h 2787466"/>
              <a:gd name="connsiteX1185" fmla="*/ 2539774 w 3600000"/>
              <a:gd name="connsiteY1185" fmla="*/ 1405993 h 2787466"/>
              <a:gd name="connsiteX1186" fmla="*/ 2579552 w 3600000"/>
              <a:gd name="connsiteY1186" fmla="*/ 1401092 h 2787466"/>
              <a:gd name="connsiteX1187" fmla="*/ 2481361 w 3600000"/>
              <a:gd name="connsiteY1187" fmla="*/ 1399292 h 2787466"/>
              <a:gd name="connsiteX1188" fmla="*/ 2481298 w 3600000"/>
              <a:gd name="connsiteY1188" fmla="*/ 1399429 h 2787466"/>
              <a:gd name="connsiteX1189" fmla="*/ 2481489 w 3600000"/>
              <a:gd name="connsiteY1189" fmla="*/ 1399494 h 2787466"/>
              <a:gd name="connsiteX1190" fmla="*/ 2481571 w 3600000"/>
              <a:gd name="connsiteY1190" fmla="*/ 1399432 h 2787466"/>
              <a:gd name="connsiteX1191" fmla="*/ 2949758 w 3600000"/>
              <a:gd name="connsiteY1191" fmla="*/ 1399012 h 2787466"/>
              <a:gd name="connsiteX1192" fmla="*/ 2953620 w 3600000"/>
              <a:gd name="connsiteY1192" fmla="*/ 1408057 h 2787466"/>
              <a:gd name="connsiteX1193" fmla="*/ 2939595 w 3600000"/>
              <a:gd name="connsiteY1193" fmla="*/ 1407105 h 2787466"/>
              <a:gd name="connsiteX1194" fmla="*/ 2949758 w 3600000"/>
              <a:gd name="connsiteY1194" fmla="*/ 1399012 h 2787466"/>
              <a:gd name="connsiteX1195" fmla="*/ 2690992 w 3600000"/>
              <a:gd name="connsiteY1195" fmla="*/ 1398112 h 2787466"/>
              <a:gd name="connsiteX1196" fmla="*/ 2666304 w 3600000"/>
              <a:gd name="connsiteY1196" fmla="*/ 1412026 h 2787466"/>
              <a:gd name="connsiteX1197" fmla="*/ 2662395 w 3600000"/>
              <a:gd name="connsiteY1197" fmla="*/ 1404120 h 2787466"/>
              <a:gd name="connsiteX1198" fmla="*/ 2681734 w 3600000"/>
              <a:gd name="connsiteY1198" fmla="*/ 1405068 h 2787466"/>
              <a:gd name="connsiteX1199" fmla="*/ 2690992 w 3600000"/>
              <a:gd name="connsiteY1199" fmla="*/ 1398112 h 2787466"/>
              <a:gd name="connsiteX1200" fmla="*/ 2468053 w 3600000"/>
              <a:gd name="connsiteY1200" fmla="*/ 1397199 h 2787466"/>
              <a:gd name="connsiteX1201" fmla="*/ 2466358 w 3600000"/>
              <a:gd name="connsiteY1201" fmla="*/ 1399785 h 2787466"/>
              <a:gd name="connsiteX1202" fmla="*/ 2468378 w 3600000"/>
              <a:gd name="connsiteY1202" fmla="*/ 1397406 h 2787466"/>
              <a:gd name="connsiteX1203" fmla="*/ 2646558 w 3600000"/>
              <a:gd name="connsiteY1203" fmla="*/ 1396749 h 2787466"/>
              <a:gd name="connsiteX1204" fmla="*/ 2650427 w 3600000"/>
              <a:gd name="connsiteY1204" fmla="*/ 1398809 h 2787466"/>
              <a:gd name="connsiteX1205" fmla="*/ 2642630 w 3600000"/>
              <a:gd name="connsiteY1205" fmla="*/ 1399683 h 2787466"/>
              <a:gd name="connsiteX1206" fmla="*/ 2639106 w 3600000"/>
              <a:gd name="connsiteY1206" fmla="*/ 1405157 h 2787466"/>
              <a:gd name="connsiteX1207" fmla="*/ 2642246 w 3600000"/>
              <a:gd name="connsiteY1207" fmla="*/ 1406121 h 2787466"/>
              <a:gd name="connsiteX1208" fmla="*/ 2642246 w 3600000"/>
              <a:gd name="connsiteY1208" fmla="*/ 1418847 h 2787466"/>
              <a:gd name="connsiteX1209" fmla="*/ 2631552 w 3600000"/>
              <a:gd name="connsiteY1209" fmla="*/ 1407207 h 2787466"/>
              <a:gd name="connsiteX1210" fmla="*/ 2634277 w 3600000"/>
              <a:gd name="connsiteY1210" fmla="*/ 1405189 h 2787466"/>
              <a:gd name="connsiteX1211" fmla="*/ 2636591 w 3600000"/>
              <a:gd name="connsiteY1211" fmla="*/ 1405020 h 2787466"/>
              <a:gd name="connsiteX1212" fmla="*/ 2634832 w 3600000"/>
              <a:gd name="connsiteY1212" fmla="*/ 1404368 h 2787466"/>
              <a:gd name="connsiteX1213" fmla="*/ 2626959 w 3600000"/>
              <a:gd name="connsiteY1213" fmla="*/ 1402781 h 2787466"/>
              <a:gd name="connsiteX1214" fmla="*/ 2646558 w 3600000"/>
              <a:gd name="connsiteY1214" fmla="*/ 1396749 h 2787466"/>
              <a:gd name="connsiteX1215" fmla="*/ 2526216 w 3600000"/>
              <a:gd name="connsiteY1215" fmla="*/ 1389660 h 2787466"/>
              <a:gd name="connsiteX1216" fmla="*/ 2522843 w 3600000"/>
              <a:gd name="connsiteY1216" fmla="*/ 1391451 h 2787466"/>
              <a:gd name="connsiteX1217" fmla="*/ 2522986 w 3600000"/>
              <a:gd name="connsiteY1217" fmla="*/ 1391633 h 2787466"/>
              <a:gd name="connsiteX1218" fmla="*/ 2524557 w 3600000"/>
              <a:gd name="connsiteY1218" fmla="*/ 1394620 h 2787466"/>
              <a:gd name="connsiteX1219" fmla="*/ 2530430 w 3600000"/>
              <a:gd name="connsiteY1219" fmla="*/ 1393107 h 2787466"/>
              <a:gd name="connsiteX1220" fmla="*/ 2534164 w 3600000"/>
              <a:gd name="connsiteY1220" fmla="*/ 1390270 h 2787466"/>
              <a:gd name="connsiteX1221" fmla="*/ 140457 w 3600000"/>
              <a:gd name="connsiteY1221" fmla="*/ 1389601 h 2787466"/>
              <a:gd name="connsiteX1222" fmla="*/ 131389 w 3600000"/>
              <a:gd name="connsiteY1222" fmla="*/ 1406421 h 2787466"/>
              <a:gd name="connsiteX1223" fmla="*/ 140457 w 3600000"/>
              <a:gd name="connsiteY1223" fmla="*/ 1389601 h 2787466"/>
              <a:gd name="connsiteX1224" fmla="*/ 2643157 w 3600000"/>
              <a:gd name="connsiteY1224" fmla="*/ 1388571 h 2787466"/>
              <a:gd name="connsiteX1225" fmla="*/ 2634070 w 3600000"/>
              <a:gd name="connsiteY1225" fmla="*/ 1397505 h 2787466"/>
              <a:gd name="connsiteX1226" fmla="*/ 2626222 w 3600000"/>
              <a:gd name="connsiteY1226" fmla="*/ 1391549 h 2787466"/>
              <a:gd name="connsiteX1227" fmla="*/ 2605365 w 3600000"/>
              <a:gd name="connsiteY1227" fmla="*/ 1402363 h 2787466"/>
              <a:gd name="connsiteX1228" fmla="*/ 2584299 w 3600000"/>
              <a:gd name="connsiteY1228" fmla="*/ 1400326 h 2787466"/>
              <a:gd name="connsiteX1229" fmla="*/ 2643157 w 3600000"/>
              <a:gd name="connsiteY1229" fmla="*/ 1388571 h 2787466"/>
              <a:gd name="connsiteX1230" fmla="*/ 2522114 w 3600000"/>
              <a:gd name="connsiteY1230" fmla="*/ 1388479 h 2787466"/>
              <a:gd name="connsiteX1231" fmla="*/ 2520642 w 3600000"/>
              <a:gd name="connsiteY1231" fmla="*/ 1388646 h 2787466"/>
              <a:gd name="connsiteX1232" fmla="*/ 2521074 w 3600000"/>
              <a:gd name="connsiteY1232" fmla="*/ 1389198 h 2787466"/>
              <a:gd name="connsiteX1233" fmla="*/ 2522011 w 3600000"/>
              <a:gd name="connsiteY1233" fmla="*/ 1388573 h 2787466"/>
              <a:gd name="connsiteX1234" fmla="*/ 2570098 w 3600000"/>
              <a:gd name="connsiteY1234" fmla="*/ 1381571 h 2787466"/>
              <a:gd name="connsiteX1235" fmla="*/ 2553819 w 3600000"/>
              <a:gd name="connsiteY1235" fmla="*/ 1384341 h 2787466"/>
              <a:gd name="connsiteX1236" fmla="*/ 2545151 w 3600000"/>
              <a:gd name="connsiteY1236" fmla="*/ 1386633 h 2787466"/>
              <a:gd name="connsiteX1237" fmla="*/ 2543981 w 3600000"/>
              <a:gd name="connsiteY1237" fmla="*/ 1388186 h 2787466"/>
              <a:gd name="connsiteX1238" fmla="*/ 2551861 w 3600000"/>
              <a:gd name="connsiteY1238" fmla="*/ 1387623 h 2787466"/>
              <a:gd name="connsiteX1239" fmla="*/ 2566183 w 3600000"/>
              <a:gd name="connsiteY1239" fmla="*/ 1386602 h 2787466"/>
              <a:gd name="connsiteX1240" fmla="*/ 2570098 w 3600000"/>
              <a:gd name="connsiteY1240" fmla="*/ 1381571 h 2787466"/>
              <a:gd name="connsiteX1241" fmla="*/ 2658693 w 3600000"/>
              <a:gd name="connsiteY1241" fmla="*/ 1378849 h 2787466"/>
              <a:gd name="connsiteX1242" fmla="*/ 2665881 w 3600000"/>
              <a:gd name="connsiteY1242" fmla="*/ 1379572 h 2787466"/>
              <a:gd name="connsiteX1243" fmla="*/ 2651837 w 3600000"/>
              <a:gd name="connsiteY1243" fmla="*/ 1390534 h 2787466"/>
              <a:gd name="connsiteX1244" fmla="*/ 2658693 w 3600000"/>
              <a:gd name="connsiteY1244" fmla="*/ 1378849 h 2787466"/>
              <a:gd name="connsiteX1245" fmla="*/ 2592713 w 3600000"/>
              <a:gd name="connsiteY1245" fmla="*/ 1376497 h 2787466"/>
              <a:gd name="connsiteX1246" fmla="*/ 2576486 w 3600000"/>
              <a:gd name="connsiteY1246" fmla="*/ 1376697 h 2787466"/>
              <a:gd name="connsiteX1247" fmla="*/ 2575249 w 3600000"/>
              <a:gd name="connsiteY1247" fmla="*/ 1382671 h 2787466"/>
              <a:gd name="connsiteX1248" fmla="*/ 2594825 w 3600000"/>
              <a:gd name="connsiteY1248" fmla="*/ 1378583 h 2787466"/>
              <a:gd name="connsiteX1249" fmla="*/ 2592713 w 3600000"/>
              <a:gd name="connsiteY1249" fmla="*/ 1376497 h 2787466"/>
              <a:gd name="connsiteX1250" fmla="*/ 3203815 w 3600000"/>
              <a:gd name="connsiteY1250" fmla="*/ 1371282 h 2787466"/>
              <a:gd name="connsiteX1251" fmla="*/ 3193430 w 3600000"/>
              <a:gd name="connsiteY1251" fmla="*/ 1384992 h 2787466"/>
              <a:gd name="connsiteX1252" fmla="*/ 3203815 w 3600000"/>
              <a:gd name="connsiteY1252" fmla="*/ 1371282 h 2787466"/>
              <a:gd name="connsiteX1253" fmla="*/ 2617769 w 3600000"/>
              <a:gd name="connsiteY1253" fmla="*/ 1371188 h 2787466"/>
              <a:gd name="connsiteX1254" fmla="*/ 2599977 w 3600000"/>
              <a:gd name="connsiteY1254" fmla="*/ 1373709 h 2787466"/>
              <a:gd name="connsiteX1255" fmla="*/ 2606571 w 3600000"/>
              <a:gd name="connsiteY1255" fmla="*/ 1377640 h 2787466"/>
              <a:gd name="connsiteX1256" fmla="*/ 2596062 w 3600000"/>
              <a:gd name="connsiteY1256" fmla="*/ 1386602 h 2787466"/>
              <a:gd name="connsiteX1257" fmla="*/ 2610976 w 3600000"/>
              <a:gd name="connsiteY1257" fmla="*/ 1382749 h 2787466"/>
              <a:gd name="connsiteX1258" fmla="*/ 2619638 w 3600000"/>
              <a:gd name="connsiteY1258" fmla="*/ 1374769 h 2787466"/>
              <a:gd name="connsiteX1259" fmla="*/ 2616759 w 3600000"/>
              <a:gd name="connsiteY1259" fmla="*/ 1373508 h 2787466"/>
              <a:gd name="connsiteX1260" fmla="*/ 2617770 w 3600000"/>
              <a:gd name="connsiteY1260" fmla="*/ 1371558 h 2787466"/>
              <a:gd name="connsiteX1261" fmla="*/ 2618217 w 3600000"/>
              <a:gd name="connsiteY1261" fmla="*/ 1371563 h 2787466"/>
              <a:gd name="connsiteX1262" fmla="*/ 2663816 w 3600000"/>
              <a:gd name="connsiteY1262" fmla="*/ 1370966 h 2787466"/>
              <a:gd name="connsiteX1263" fmla="*/ 2665506 w 3600000"/>
              <a:gd name="connsiteY1263" fmla="*/ 1371312 h 2787466"/>
              <a:gd name="connsiteX1264" fmla="*/ 2666536 w 3600000"/>
              <a:gd name="connsiteY1264" fmla="*/ 1372609 h 2787466"/>
              <a:gd name="connsiteX1265" fmla="*/ 2662970 w 3600000"/>
              <a:gd name="connsiteY1265" fmla="*/ 1370455 h 2787466"/>
              <a:gd name="connsiteX1266" fmla="*/ 2663816 w 3600000"/>
              <a:gd name="connsiteY1266" fmla="*/ 1370966 h 2787466"/>
              <a:gd name="connsiteX1267" fmla="*/ 2662621 w 3600000"/>
              <a:gd name="connsiteY1267" fmla="*/ 1370722 h 2787466"/>
              <a:gd name="connsiteX1268" fmla="*/ 54842 w 3600000"/>
              <a:gd name="connsiteY1268" fmla="*/ 1368333 h 2787466"/>
              <a:gd name="connsiteX1269" fmla="*/ 74307 w 3600000"/>
              <a:gd name="connsiteY1269" fmla="*/ 1368333 h 2787466"/>
              <a:gd name="connsiteX1270" fmla="*/ 57505 w 3600000"/>
              <a:gd name="connsiteY1270" fmla="*/ 1377378 h 2787466"/>
              <a:gd name="connsiteX1271" fmla="*/ 54842 w 3600000"/>
              <a:gd name="connsiteY1271" fmla="*/ 1368333 h 2787466"/>
              <a:gd name="connsiteX1272" fmla="*/ 2884866 w 3600000"/>
              <a:gd name="connsiteY1272" fmla="*/ 1364349 h 2787466"/>
              <a:gd name="connsiteX1273" fmla="*/ 2865082 w 3600000"/>
              <a:gd name="connsiteY1273" fmla="*/ 1375299 h 2787466"/>
              <a:gd name="connsiteX1274" fmla="*/ 2884866 w 3600000"/>
              <a:gd name="connsiteY1274" fmla="*/ 1364349 h 2787466"/>
              <a:gd name="connsiteX1275" fmla="*/ 2643045 w 3600000"/>
              <a:gd name="connsiteY1275" fmla="*/ 1361761 h 2787466"/>
              <a:gd name="connsiteX1276" fmla="*/ 2638794 w 3600000"/>
              <a:gd name="connsiteY1276" fmla="*/ 1366870 h 2787466"/>
              <a:gd name="connsiteX1277" fmla="*/ 2637540 w 3600000"/>
              <a:gd name="connsiteY1277" fmla="*/ 1367427 h 2787466"/>
              <a:gd name="connsiteX1278" fmla="*/ 2637423 w 3600000"/>
              <a:gd name="connsiteY1278" fmla="*/ 1369838 h 2787466"/>
              <a:gd name="connsiteX1279" fmla="*/ 2631211 w 3600000"/>
              <a:gd name="connsiteY1279" fmla="*/ 1374727 h 2787466"/>
              <a:gd name="connsiteX1280" fmla="*/ 2626749 w 3600000"/>
              <a:gd name="connsiteY1280" fmla="*/ 1375560 h 2787466"/>
              <a:gd name="connsiteX1281" fmla="*/ 2625841 w 3600000"/>
              <a:gd name="connsiteY1281" fmla="*/ 1377913 h 2787466"/>
              <a:gd name="connsiteX1282" fmla="*/ 2630063 w 3600000"/>
              <a:gd name="connsiteY1282" fmla="*/ 1380627 h 2787466"/>
              <a:gd name="connsiteX1283" fmla="*/ 2649433 w 3600000"/>
              <a:gd name="connsiteY1283" fmla="*/ 1366792 h 2787466"/>
              <a:gd name="connsiteX1284" fmla="*/ 2648915 w 3600000"/>
              <a:gd name="connsiteY1284" fmla="*/ 1364435 h 2787466"/>
              <a:gd name="connsiteX1285" fmla="*/ 2647098 w 3600000"/>
              <a:gd name="connsiteY1285" fmla="*/ 1364238 h 2787466"/>
              <a:gd name="connsiteX1286" fmla="*/ 2643766 w 3600000"/>
              <a:gd name="connsiteY1286" fmla="*/ 1361983 h 2787466"/>
              <a:gd name="connsiteX1287" fmla="*/ 3170215 w 3600000"/>
              <a:gd name="connsiteY1287" fmla="*/ 1356722 h 2787466"/>
              <a:gd name="connsiteX1288" fmla="*/ 3170215 w 3600000"/>
              <a:gd name="connsiteY1288" fmla="*/ 1363707 h 2787466"/>
              <a:gd name="connsiteX1289" fmla="*/ 3183067 w 3600000"/>
              <a:gd name="connsiteY1289" fmla="*/ 1362620 h 2787466"/>
              <a:gd name="connsiteX1290" fmla="*/ 3181843 w 3600000"/>
              <a:gd name="connsiteY1290" fmla="*/ 1373485 h 2787466"/>
              <a:gd name="connsiteX1291" fmla="*/ 3162464 w 3600000"/>
              <a:gd name="connsiteY1291" fmla="*/ 1372398 h 2787466"/>
              <a:gd name="connsiteX1292" fmla="*/ 3170215 w 3600000"/>
              <a:gd name="connsiteY1292" fmla="*/ 1356722 h 2787466"/>
              <a:gd name="connsiteX1293" fmla="*/ 3018196 w 3600000"/>
              <a:gd name="connsiteY1293" fmla="*/ 1356722 h 2787466"/>
              <a:gd name="connsiteX1294" fmla="*/ 3018196 w 3600000"/>
              <a:gd name="connsiteY1294" fmla="*/ 1367658 h 2787466"/>
              <a:gd name="connsiteX1295" fmla="*/ 3018196 w 3600000"/>
              <a:gd name="connsiteY1295" fmla="*/ 1356722 h 2787466"/>
              <a:gd name="connsiteX1296" fmla="*/ 2697217 w 3600000"/>
              <a:gd name="connsiteY1296" fmla="*/ 1352493 h 2787466"/>
              <a:gd name="connsiteX1297" fmla="*/ 2689605 w 3600000"/>
              <a:gd name="connsiteY1297" fmla="*/ 1352793 h 2787466"/>
              <a:gd name="connsiteX1298" fmla="*/ 2684820 w 3600000"/>
              <a:gd name="connsiteY1298" fmla="*/ 1355266 h 2787466"/>
              <a:gd name="connsiteX1299" fmla="*/ 2684697 w 3600000"/>
              <a:gd name="connsiteY1299" fmla="*/ 1356104 h 2787466"/>
              <a:gd name="connsiteX1300" fmla="*/ 2690787 w 3600000"/>
              <a:gd name="connsiteY1300" fmla="*/ 1354698 h 2787466"/>
              <a:gd name="connsiteX1301" fmla="*/ 3031777 w 3600000"/>
              <a:gd name="connsiteY1301" fmla="*/ 1348403 h 2787466"/>
              <a:gd name="connsiteX1302" fmla="*/ 3034402 w 3600000"/>
              <a:gd name="connsiteY1302" fmla="*/ 1354578 h 2787466"/>
              <a:gd name="connsiteX1303" fmla="*/ 3038238 w 3600000"/>
              <a:gd name="connsiteY1303" fmla="*/ 1351490 h 2787466"/>
              <a:gd name="connsiteX1304" fmla="*/ 3029353 w 3600000"/>
              <a:gd name="connsiteY1304" fmla="*/ 1357665 h 2787466"/>
              <a:gd name="connsiteX1305" fmla="*/ 3024103 w 3600000"/>
              <a:gd name="connsiteY1305" fmla="*/ 1352466 h 2787466"/>
              <a:gd name="connsiteX1306" fmla="*/ 3031777 w 3600000"/>
              <a:gd name="connsiteY1306" fmla="*/ 1348403 h 2787466"/>
              <a:gd name="connsiteX1307" fmla="*/ 14158 w 3600000"/>
              <a:gd name="connsiteY1307" fmla="*/ 1340084 h 2787466"/>
              <a:gd name="connsiteX1308" fmla="*/ 25854 w 3600000"/>
              <a:gd name="connsiteY1308" fmla="*/ 1364717 h 2787466"/>
              <a:gd name="connsiteX1309" fmla="*/ 32420 w 3600000"/>
              <a:gd name="connsiteY1309" fmla="*/ 1363781 h 2787466"/>
              <a:gd name="connsiteX1310" fmla="*/ 30983 w 3600000"/>
              <a:gd name="connsiteY1310" fmla="*/ 1350997 h 2787466"/>
              <a:gd name="connsiteX1311" fmla="*/ 54375 w 3600000"/>
              <a:gd name="connsiteY1311" fmla="*/ 1348035 h 2787466"/>
              <a:gd name="connsiteX1312" fmla="*/ 33650 w 3600000"/>
              <a:gd name="connsiteY1312" fmla="*/ 1368614 h 2787466"/>
              <a:gd name="connsiteX1313" fmla="*/ 11695 w 3600000"/>
              <a:gd name="connsiteY1313" fmla="*/ 1372512 h 2787466"/>
              <a:gd name="connsiteX1314" fmla="*/ 0 w 3600000"/>
              <a:gd name="connsiteY1314" fmla="*/ 1358793 h 2787466"/>
              <a:gd name="connsiteX1315" fmla="*/ 12926 w 3600000"/>
              <a:gd name="connsiteY1315" fmla="*/ 1350997 h 2787466"/>
              <a:gd name="connsiteX1316" fmla="*/ 14158 w 3600000"/>
              <a:gd name="connsiteY1316" fmla="*/ 1340084 h 2787466"/>
              <a:gd name="connsiteX1317" fmla="*/ 34499 w 3600000"/>
              <a:gd name="connsiteY1317" fmla="*/ 1334569 h 2787466"/>
              <a:gd name="connsiteX1318" fmla="*/ 43688 w 3600000"/>
              <a:gd name="connsiteY1318" fmla="*/ 1345474 h 2787466"/>
              <a:gd name="connsiteX1319" fmla="*/ 33274 w 3600000"/>
              <a:gd name="connsiteY1319" fmla="*/ 1343449 h 2787466"/>
              <a:gd name="connsiteX1320" fmla="*/ 34499 w 3600000"/>
              <a:gd name="connsiteY1320" fmla="*/ 1334569 h 2787466"/>
              <a:gd name="connsiteX1321" fmla="*/ 2291600 w 3600000"/>
              <a:gd name="connsiteY1321" fmla="*/ 1331259 h 2787466"/>
              <a:gd name="connsiteX1322" fmla="*/ 2280833 w 3600000"/>
              <a:gd name="connsiteY1322" fmla="*/ 1332806 h 2787466"/>
              <a:gd name="connsiteX1323" fmla="*/ 2278276 w 3600000"/>
              <a:gd name="connsiteY1323" fmla="*/ 1332904 h 2787466"/>
              <a:gd name="connsiteX1324" fmla="*/ 2278473 w 3600000"/>
              <a:gd name="connsiteY1324" fmla="*/ 1333694 h 2787466"/>
              <a:gd name="connsiteX1325" fmla="*/ 2283519 w 3600000"/>
              <a:gd name="connsiteY1325" fmla="*/ 1333731 h 2787466"/>
              <a:gd name="connsiteX1326" fmla="*/ 2282753 w 3600000"/>
              <a:gd name="connsiteY1326" fmla="*/ 1335796 h 2787466"/>
              <a:gd name="connsiteX1327" fmla="*/ 2285727 w 3600000"/>
              <a:gd name="connsiteY1327" fmla="*/ 1335740 h 2787466"/>
              <a:gd name="connsiteX1328" fmla="*/ 2304479 w 3600000"/>
              <a:gd name="connsiteY1328" fmla="*/ 1336919 h 2787466"/>
              <a:gd name="connsiteX1329" fmla="*/ 2291600 w 3600000"/>
              <a:gd name="connsiteY1329" fmla="*/ 1331259 h 2787466"/>
              <a:gd name="connsiteX1330" fmla="*/ 2390889 w 3600000"/>
              <a:gd name="connsiteY1330" fmla="*/ 1329992 h 2787466"/>
              <a:gd name="connsiteX1331" fmla="*/ 2387730 w 3600000"/>
              <a:gd name="connsiteY1331" fmla="*/ 1331101 h 2787466"/>
              <a:gd name="connsiteX1332" fmla="*/ 2390696 w 3600000"/>
              <a:gd name="connsiteY1332" fmla="*/ 1330936 h 2787466"/>
              <a:gd name="connsiteX1333" fmla="*/ 2343670 w 3600000"/>
              <a:gd name="connsiteY1333" fmla="*/ 1328790 h 2787466"/>
              <a:gd name="connsiteX1334" fmla="*/ 2336574 w 3600000"/>
              <a:gd name="connsiteY1334" fmla="*/ 1330012 h 2787466"/>
              <a:gd name="connsiteX1335" fmla="*/ 2335489 w 3600000"/>
              <a:gd name="connsiteY1335" fmla="*/ 1330750 h 2787466"/>
              <a:gd name="connsiteX1336" fmla="*/ 2333426 w 3600000"/>
              <a:gd name="connsiteY1336" fmla="*/ 1331245 h 2787466"/>
              <a:gd name="connsiteX1337" fmla="*/ 2327674 w 3600000"/>
              <a:gd name="connsiteY1337" fmla="*/ 1333521 h 2787466"/>
              <a:gd name="connsiteX1338" fmla="*/ 2320140 w 3600000"/>
              <a:gd name="connsiteY1338" fmla="*/ 1335975 h 2787466"/>
              <a:gd name="connsiteX1339" fmla="*/ 2346105 w 3600000"/>
              <a:gd name="connsiteY1339" fmla="*/ 1333145 h 2787466"/>
              <a:gd name="connsiteX1340" fmla="*/ 2344882 w 3600000"/>
              <a:gd name="connsiteY1340" fmla="*/ 1330957 h 2787466"/>
              <a:gd name="connsiteX1341" fmla="*/ 2344727 w 3600000"/>
              <a:gd name="connsiteY1341" fmla="*/ 1330902 h 2787466"/>
              <a:gd name="connsiteX1342" fmla="*/ 2344803 w 3600000"/>
              <a:gd name="connsiteY1342" fmla="*/ 1330817 h 2787466"/>
              <a:gd name="connsiteX1343" fmla="*/ 3237627 w 3600000"/>
              <a:gd name="connsiteY1343" fmla="*/ 1327697 h 2787466"/>
              <a:gd name="connsiteX1344" fmla="*/ 3242893 w 3600000"/>
              <a:gd name="connsiteY1344" fmla="*/ 1330123 h 2787466"/>
              <a:gd name="connsiteX1345" fmla="*/ 3228902 w 3600000"/>
              <a:gd name="connsiteY1345" fmla="*/ 1339926 h 2787466"/>
              <a:gd name="connsiteX1346" fmla="*/ 3237627 w 3600000"/>
              <a:gd name="connsiteY1346" fmla="*/ 1327697 h 2787466"/>
              <a:gd name="connsiteX1347" fmla="*/ 2401748 w 3600000"/>
              <a:gd name="connsiteY1347" fmla="*/ 1326180 h 2787466"/>
              <a:gd name="connsiteX1348" fmla="*/ 2400574 w 3600000"/>
              <a:gd name="connsiteY1348" fmla="*/ 1326592 h 2787466"/>
              <a:gd name="connsiteX1349" fmla="*/ 2402018 w 3600000"/>
              <a:gd name="connsiteY1349" fmla="*/ 1326971 h 2787466"/>
              <a:gd name="connsiteX1350" fmla="*/ 2223109 w 3600000"/>
              <a:gd name="connsiteY1350" fmla="*/ 1323555 h 2787466"/>
              <a:gd name="connsiteX1351" fmla="*/ 2213398 w 3600000"/>
              <a:gd name="connsiteY1351" fmla="*/ 1324184 h 2787466"/>
              <a:gd name="connsiteX1352" fmla="*/ 2213163 w 3600000"/>
              <a:gd name="connsiteY1352" fmla="*/ 1324710 h 2787466"/>
              <a:gd name="connsiteX1353" fmla="*/ 2213244 w 3600000"/>
              <a:gd name="connsiteY1353" fmla="*/ 1324927 h 2787466"/>
              <a:gd name="connsiteX1354" fmla="*/ 2213106 w 3600000"/>
              <a:gd name="connsiteY1354" fmla="*/ 1324834 h 2787466"/>
              <a:gd name="connsiteX1355" fmla="*/ 2211414 w 3600000"/>
              <a:gd name="connsiteY1355" fmla="*/ 1328606 h 2787466"/>
              <a:gd name="connsiteX1356" fmla="*/ 2210066 w 3600000"/>
              <a:gd name="connsiteY1356" fmla="*/ 1330308 h 2787466"/>
              <a:gd name="connsiteX1357" fmla="*/ 2209222 w 3600000"/>
              <a:gd name="connsiteY1357" fmla="*/ 1330840 h 2787466"/>
              <a:gd name="connsiteX1358" fmla="*/ 2208752 w 3600000"/>
              <a:gd name="connsiteY1358" fmla="*/ 1333085 h 2787466"/>
              <a:gd name="connsiteX1359" fmla="*/ 2207219 w 3600000"/>
              <a:gd name="connsiteY1359" fmla="*/ 1333250 h 2787466"/>
              <a:gd name="connsiteX1360" fmla="*/ 2211318 w 3600000"/>
              <a:gd name="connsiteY1360" fmla="*/ 1333509 h 2787466"/>
              <a:gd name="connsiteX1361" fmla="*/ 2224938 w 3600000"/>
              <a:gd name="connsiteY1361" fmla="*/ 1328115 h 2787466"/>
              <a:gd name="connsiteX1362" fmla="*/ 2226101 w 3600000"/>
              <a:gd name="connsiteY1362" fmla="*/ 1324637 h 2787466"/>
              <a:gd name="connsiteX1363" fmla="*/ 2226053 w 3600000"/>
              <a:gd name="connsiteY1363" fmla="*/ 1324559 h 2787466"/>
              <a:gd name="connsiteX1364" fmla="*/ 2186885 w 3600000"/>
              <a:gd name="connsiteY1364" fmla="*/ 1323087 h 2787466"/>
              <a:gd name="connsiteX1365" fmla="*/ 2186487 w 3600000"/>
              <a:gd name="connsiteY1365" fmla="*/ 1325080 h 2787466"/>
              <a:gd name="connsiteX1366" fmla="*/ 2188464 w 3600000"/>
              <a:gd name="connsiteY1366" fmla="*/ 1323240 h 2787466"/>
              <a:gd name="connsiteX1367" fmla="*/ 2360529 w 3600000"/>
              <a:gd name="connsiteY1367" fmla="*/ 1322140 h 2787466"/>
              <a:gd name="connsiteX1368" fmla="*/ 2360294 w 3600000"/>
              <a:gd name="connsiteY1368" fmla="*/ 1322498 h 2787466"/>
              <a:gd name="connsiteX1369" fmla="*/ 2360968 w 3600000"/>
              <a:gd name="connsiteY1369" fmla="*/ 1322369 h 2787466"/>
              <a:gd name="connsiteX1370" fmla="*/ 3265555 w 3600000"/>
              <a:gd name="connsiteY1370" fmla="*/ 1321366 h 2787466"/>
              <a:gd name="connsiteX1371" fmla="*/ 3252441 w 3600000"/>
              <a:gd name="connsiteY1371" fmla="*/ 1336457 h 2787466"/>
              <a:gd name="connsiteX1372" fmla="*/ 3265555 w 3600000"/>
              <a:gd name="connsiteY1372" fmla="*/ 1321366 h 2787466"/>
              <a:gd name="connsiteX1373" fmla="*/ 2279184 w 3600000"/>
              <a:gd name="connsiteY1373" fmla="*/ 1316873 h 2787466"/>
              <a:gd name="connsiteX1374" fmla="*/ 2273157 w 3600000"/>
              <a:gd name="connsiteY1374" fmla="*/ 1320253 h 2787466"/>
              <a:gd name="connsiteX1375" fmla="*/ 2278752 w 3600000"/>
              <a:gd name="connsiteY1375" fmla="*/ 1320984 h 2787466"/>
              <a:gd name="connsiteX1376" fmla="*/ 2279603 w 3600000"/>
              <a:gd name="connsiteY1376" fmla="*/ 1320053 h 2787466"/>
              <a:gd name="connsiteX1377" fmla="*/ 2279406 w 3600000"/>
              <a:gd name="connsiteY1377" fmla="*/ 1321069 h 2787466"/>
              <a:gd name="connsiteX1378" fmla="*/ 2281580 w 3600000"/>
              <a:gd name="connsiteY1378" fmla="*/ 1321353 h 2787466"/>
              <a:gd name="connsiteX1379" fmla="*/ 2286139 w 3600000"/>
              <a:gd name="connsiteY1379" fmla="*/ 1317266 h 2787466"/>
              <a:gd name="connsiteX1380" fmla="*/ 2279184 w 3600000"/>
              <a:gd name="connsiteY1380" fmla="*/ 1316873 h 2787466"/>
              <a:gd name="connsiteX1381" fmla="*/ 2375281 w 3600000"/>
              <a:gd name="connsiteY1381" fmla="*/ 1315297 h 2787466"/>
              <a:gd name="connsiteX1382" fmla="*/ 2373192 w 3600000"/>
              <a:gd name="connsiteY1382" fmla="*/ 1316790 h 2787466"/>
              <a:gd name="connsiteX1383" fmla="*/ 2374747 w 3600000"/>
              <a:gd name="connsiteY1383" fmla="*/ 1317266 h 2787466"/>
              <a:gd name="connsiteX1384" fmla="*/ 2209944 w 3600000"/>
              <a:gd name="connsiteY1384" fmla="*/ 1314941 h 2787466"/>
              <a:gd name="connsiteX1385" fmla="*/ 2209280 w 3600000"/>
              <a:gd name="connsiteY1385" fmla="*/ 1314971 h 2787466"/>
              <a:gd name="connsiteX1386" fmla="*/ 2209019 w 3600000"/>
              <a:gd name="connsiteY1386" fmla="*/ 1315104 h 2787466"/>
              <a:gd name="connsiteX1387" fmla="*/ 2209586 w 3600000"/>
              <a:gd name="connsiteY1387" fmla="*/ 1315238 h 2787466"/>
              <a:gd name="connsiteX1388" fmla="*/ 2211109 w 3600000"/>
              <a:gd name="connsiteY1388" fmla="*/ 1319273 h 2787466"/>
              <a:gd name="connsiteX1389" fmla="*/ 2216334 w 3600000"/>
              <a:gd name="connsiteY1389" fmla="*/ 1318838 h 2787466"/>
              <a:gd name="connsiteX1390" fmla="*/ 2222768 w 3600000"/>
              <a:gd name="connsiteY1390" fmla="*/ 1319226 h 2787466"/>
              <a:gd name="connsiteX1391" fmla="*/ 2222790 w 3600000"/>
              <a:gd name="connsiteY1391" fmla="*/ 1319241 h 2787466"/>
              <a:gd name="connsiteX1392" fmla="*/ 2222643 w 3600000"/>
              <a:gd name="connsiteY1392" fmla="*/ 1319001 h 2787466"/>
              <a:gd name="connsiteX1393" fmla="*/ 2231633 w 3600000"/>
              <a:gd name="connsiteY1393" fmla="*/ 1317141 h 2787466"/>
              <a:gd name="connsiteX1394" fmla="*/ 2234791 w 3600000"/>
              <a:gd name="connsiteY1394" fmla="*/ 1317008 h 2787466"/>
              <a:gd name="connsiteX1395" fmla="*/ 2235448 w 3600000"/>
              <a:gd name="connsiteY1395" fmla="*/ 1316165 h 2787466"/>
              <a:gd name="connsiteX1396" fmla="*/ 2221824 w 3600000"/>
              <a:gd name="connsiteY1396" fmla="*/ 1314958 h 2787466"/>
              <a:gd name="connsiteX1397" fmla="*/ 2220770 w 3600000"/>
              <a:gd name="connsiteY1397" fmla="*/ 1315228 h 2787466"/>
              <a:gd name="connsiteX1398" fmla="*/ 2212034 w 3600000"/>
              <a:gd name="connsiteY1398" fmla="*/ 1315596 h 2787466"/>
              <a:gd name="connsiteX1399" fmla="*/ 2378390 w 3600000"/>
              <a:gd name="connsiteY1399" fmla="*/ 1313074 h 2787466"/>
              <a:gd name="connsiteX1400" fmla="*/ 2378092 w 3600000"/>
              <a:gd name="connsiteY1400" fmla="*/ 1313288 h 2787466"/>
              <a:gd name="connsiteX1401" fmla="*/ 2378649 w 3600000"/>
              <a:gd name="connsiteY1401" fmla="*/ 1313180 h 2787466"/>
              <a:gd name="connsiteX1402" fmla="*/ 2378643 w 3600000"/>
              <a:gd name="connsiteY1402" fmla="*/ 1313171 h 2787466"/>
              <a:gd name="connsiteX1403" fmla="*/ 2353909 w 3600000"/>
              <a:gd name="connsiteY1403" fmla="*/ 1312862 h 2787466"/>
              <a:gd name="connsiteX1404" fmla="*/ 2348783 w 3600000"/>
              <a:gd name="connsiteY1404" fmla="*/ 1315222 h 2787466"/>
              <a:gd name="connsiteX1405" fmla="*/ 2361765 w 3600000"/>
              <a:gd name="connsiteY1405" fmla="*/ 1315477 h 2787466"/>
              <a:gd name="connsiteX1406" fmla="*/ 2361877 w 3600000"/>
              <a:gd name="connsiteY1406" fmla="*/ 1315473 h 2787466"/>
              <a:gd name="connsiteX1407" fmla="*/ 2353795 w 3600000"/>
              <a:gd name="connsiteY1407" fmla="*/ 1312978 h 2787466"/>
              <a:gd name="connsiteX1408" fmla="*/ 3191096 w 3600000"/>
              <a:gd name="connsiteY1408" fmla="*/ 1308888 h 2787466"/>
              <a:gd name="connsiteX1409" fmla="*/ 3164041 w 3600000"/>
              <a:gd name="connsiteY1409" fmla="*/ 1334382 h 2787466"/>
              <a:gd name="connsiteX1410" fmla="*/ 3191096 w 3600000"/>
              <a:gd name="connsiteY1410" fmla="*/ 1308888 h 2787466"/>
              <a:gd name="connsiteX1411" fmla="*/ 1956711 w 3600000"/>
              <a:gd name="connsiteY1411" fmla="*/ 1307638 h 2787466"/>
              <a:gd name="connsiteX1412" fmla="*/ 1951599 w 3600000"/>
              <a:gd name="connsiteY1412" fmla="*/ 1310672 h 2787466"/>
              <a:gd name="connsiteX1413" fmla="*/ 1951574 w 3600000"/>
              <a:gd name="connsiteY1413" fmla="*/ 1311875 h 2787466"/>
              <a:gd name="connsiteX1414" fmla="*/ 1955224 w 3600000"/>
              <a:gd name="connsiteY1414" fmla="*/ 1314079 h 2787466"/>
              <a:gd name="connsiteX1415" fmla="*/ 2481455 w 3600000"/>
              <a:gd name="connsiteY1415" fmla="*/ 1307045 h 2787466"/>
              <a:gd name="connsiteX1416" fmla="*/ 2475786 w 3600000"/>
              <a:gd name="connsiteY1416" fmla="*/ 1307145 h 2787466"/>
              <a:gd name="connsiteX1417" fmla="*/ 2477677 w 3600000"/>
              <a:gd name="connsiteY1417" fmla="*/ 1311583 h 2787466"/>
              <a:gd name="connsiteX1418" fmla="*/ 2479943 w 3600000"/>
              <a:gd name="connsiteY1418" fmla="*/ 1312933 h 2787466"/>
              <a:gd name="connsiteX1419" fmla="*/ 2480479 w 3600000"/>
              <a:gd name="connsiteY1419" fmla="*/ 1312647 h 2787466"/>
              <a:gd name="connsiteX1420" fmla="*/ 2481489 w 3600000"/>
              <a:gd name="connsiteY1420" fmla="*/ 1309248 h 2787466"/>
              <a:gd name="connsiteX1421" fmla="*/ 2481824 w 3600000"/>
              <a:gd name="connsiteY1421" fmla="*/ 1312235 h 2787466"/>
              <a:gd name="connsiteX1422" fmla="*/ 2483472 w 3600000"/>
              <a:gd name="connsiteY1422" fmla="*/ 1314334 h 2787466"/>
              <a:gd name="connsiteX1423" fmla="*/ 2489193 w 3600000"/>
              <a:gd name="connsiteY1423" fmla="*/ 1312035 h 2787466"/>
              <a:gd name="connsiteX1424" fmla="*/ 2483963 w 3600000"/>
              <a:gd name="connsiteY1424" fmla="*/ 1308930 h 2787466"/>
              <a:gd name="connsiteX1425" fmla="*/ 2513923 w 3600000"/>
              <a:gd name="connsiteY1425" fmla="*/ 1307004 h 2787466"/>
              <a:gd name="connsiteX1426" fmla="*/ 2513846 w 3600000"/>
              <a:gd name="connsiteY1426" fmla="*/ 1307306 h 2787466"/>
              <a:gd name="connsiteX1427" fmla="*/ 2514950 w 3600000"/>
              <a:gd name="connsiteY1427" fmla="*/ 1307202 h 2787466"/>
              <a:gd name="connsiteX1428" fmla="*/ 187225 w 3600000"/>
              <a:gd name="connsiteY1428" fmla="*/ 1306205 h 2787466"/>
              <a:gd name="connsiteX1429" fmla="*/ 167866 w 3600000"/>
              <a:gd name="connsiteY1429" fmla="*/ 1319180 h 2787466"/>
              <a:gd name="connsiteX1430" fmla="*/ 202901 w 3600000"/>
              <a:gd name="connsiteY1430" fmla="*/ 1318237 h 2787466"/>
              <a:gd name="connsiteX1431" fmla="*/ 196512 w 3600000"/>
              <a:gd name="connsiteY1431" fmla="*/ 1306291 h 2787466"/>
              <a:gd name="connsiteX1432" fmla="*/ 187225 w 3600000"/>
              <a:gd name="connsiteY1432" fmla="*/ 1306205 h 2787466"/>
              <a:gd name="connsiteX1433" fmla="*/ 3004785 w 3600000"/>
              <a:gd name="connsiteY1433" fmla="*/ 1306076 h 2787466"/>
              <a:gd name="connsiteX1434" fmla="*/ 2978605 w 3600000"/>
              <a:gd name="connsiteY1434" fmla="*/ 1323982 h 2787466"/>
              <a:gd name="connsiteX1435" fmla="*/ 2974689 w 3600000"/>
              <a:gd name="connsiteY1435" fmla="*/ 1318013 h 2787466"/>
              <a:gd name="connsiteX1436" fmla="*/ 2966855 w 3600000"/>
              <a:gd name="connsiteY1436" fmla="*/ 1320055 h 2787466"/>
              <a:gd name="connsiteX1437" fmla="*/ 3004785 w 3600000"/>
              <a:gd name="connsiteY1437" fmla="*/ 1306076 h 2787466"/>
              <a:gd name="connsiteX1438" fmla="*/ 2524433 w 3600000"/>
              <a:gd name="connsiteY1438" fmla="*/ 1306061 h 2787466"/>
              <a:gd name="connsiteX1439" fmla="*/ 2524387 w 3600000"/>
              <a:gd name="connsiteY1439" fmla="*/ 1306309 h 2787466"/>
              <a:gd name="connsiteX1440" fmla="*/ 2524857 w 3600000"/>
              <a:gd name="connsiteY1440" fmla="*/ 1306264 h 2787466"/>
              <a:gd name="connsiteX1441" fmla="*/ 2130091 w 3600000"/>
              <a:gd name="connsiteY1441" fmla="*/ 1305746 h 2787466"/>
              <a:gd name="connsiteX1442" fmla="*/ 2130035 w 3600000"/>
              <a:gd name="connsiteY1442" fmla="*/ 1305760 h 2787466"/>
              <a:gd name="connsiteX1443" fmla="*/ 2123220 w 3600000"/>
              <a:gd name="connsiteY1443" fmla="*/ 1307346 h 2787466"/>
              <a:gd name="connsiteX1444" fmla="*/ 2124310 w 3600000"/>
              <a:gd name="connsiteY1444" fmla="*/ 1308414 h 2787466"/>
              <a:gd name="connsiteX1445" fmla="*/ 2126722 w 3600000"/>
              <a:gd name="connsiteY1445" fmla="*/ 1308402 h 2787466"/>
              <a:gd name="connsiteX1446" fmla="*/ 2129472 w 3600000"/>
              <a:gd name="connsiteY1446" fmla="*/ 1308341 h 2787466"/>
              <a:gd name="connsiteX1447" fmla="*/ 2130294 w 3600000"/>
              <a:gd name="connsiteY1447" fmla="*/ 1306238 h 2787466"/>
              <a:gd name="connsiteX1448" fmla="*/ 2563853 w 3600000"/>
              <a:gd name="connsiteY1448" fmla="*/ 1304238 h 2787466"/>
              <a:gd name="connsiteX1449" fmla="*/ 2553846 w 3600000"/>
              <a:gd name="connsiteY1449" fmla="*/ 1306783 h 2787466"/>
              <a:gd name="connsiteX1450" fmla="*/ 2553479 w 3600000"/>
              <a:gd name="connsiteY1450" fmla="*/ 1306665 h 2787466"/>
              <a:gd name="connsiteX1451" fmla="*/ 2550866 w 3600000"/>
              <a:gd name="connsiteY1451" fmla="*/ 1307926 h 2787466"/>
              <a:gd name="connsiteX1452" fmla="*/ 2545370 w 3600000"/>
              <a:gd name="connsiteY1452" fmla="*/ 1309248 h 2787466"/>
              <a:gd name="connsiteX1453" fmla="*/ 2551964 w 3600000"/>
              <a:gd name="connsiteY1453" fmla="*/ 1313178 h 2787466"/>
              <a:gd name="connsiteX1454" fmla="*/ 2553324 w 3600000"/>
              <a:gd name="connsiteY1454" fmla="*/ 1311971 h 2787466"/>
              <a:gd name="connsiteX1455" fmla="*/ 2553447 w 3600000"/>
              <a:gd name="connsiteY1455" fmla="*/ 1310967 h 2787466"/>
              <a:gd name="connsiteX1456" fmla="*/ 2553954 w 3600000"/>
              <a:gd name="connsiteY1456" fmla="*/ 1311412 h 2787466"/>
              <a:gd name="connsiteX1457" fmla="*/ 2555241 w 3600000"/>
              <a:gd name="connsiteY1457" fmla="*/ 1310269 h 2787466"/>
              <a:gd name="connsiteX1458" fmla="*/ 2568861 w 3600000"/>
              <a:gd name="connsiteY1458" fmla="*/ 1305317 h 2787466"/>
              <a:gd name="connsiteX1459" fmla="*/ 2575806 w 3600000"/>
              <a:gd name="connsiteY1459" fmla="*/ 1302989 h 2787466"/>
              <a:gd name="connsiteX1460" fmla="*/ 2575249 w 3600000"/>
              <a:gd name="connsiteY1460" fmla="*/ 1303273 h 2787466"/>
              <a:gd name="connsiteX1461" fmla="*/ 2576350 w 3600000"/>
              <a:gd name="connsiteY1461" fmla="*/ 1303358 h 2787466"/>
              <a:gd name="connsiteX1462" fmla="*/ 2516314 w 3600000"/>
              <a:gd name="connsiteY1462" fmla="*/ 1300718 h 2787466"/>
              <a:gd name="connsiteX1463" fmla="*/ 2509915 w 3600000"/>
              <a:gd name="connsiteY1463" fmla="*/ 1302752 h 2787466"/>
              <a:gd name="connsiteX1464" fmla="*/ 2519075 w 3600000"/>
              <a:gd name="connsiteY1464" fmla="*/ 1305117 h 2787466"/>
              <a:gd name="connsiteX1465" fmla="*/ 2524555 w 3600000"/>
              <a:gd name="connsiteY1465" fmla="*/ 1301393 h 2787466"/>
              <a:gd name="connsiteX1466" fmla="*/ 3201869 w 3600000"/>
              <a:gd name="connsiteY1466" fmla="*/ 1297860 h 2787466"/>
              <a:gd name="connsiteX1467" fmla="*/ 3205635 w 3600000"/>
              <a:gd name="connsiteY1467" fmla="*/ 1299852 h 2787466"/>
              <a:gd name="connsiteX1468" fmla="*/ 3195192 w 3600000"/>
              <a:gd name="connsiteY1468" fmla="*/ 1308731 h 2787466"/>
              <a:gd name="connsiteX1469" fmla="*/ 3191301 w 3600000"/>
              <a:gd name="connsiteY1469" fmla="*/ 1302812 h 2787466"/>
              <a:gd name="connsiteX1470" fmla="*/ 3201869 w 3600000"/>
              <a:gd name="connsiteY1470" fmla="*/ 1297860 h 2787466"/>
              <a:gd name="connsiteX1471" fmla="*/ 2616610 w 3600000"/>
              <a:gd name="connsiteY1471" fmla="*/ 1297484 h 2787466"/>
              <a:gd name="connsiteX1472" fmla="*/ 2606215 w 3600000"/>
              <a:gd name="connsiteY1472" fmla="*/ 1297697 h 2787466"/>
              <a:gd name="connsiteX1473" fmla="*/ 2604904 w 3600000"/>
              <a:gd name="connsiteY1473" fmla="*/ 1297502 h 2787466"/>
              <a:gd name="connsiteX1474" fmla="*/ 2601342 w 3600000"/>
              <a:gd name="connsiteY1474" fmla="*/ 1300814 h 2787466"/>
              <a:gd name="connsiteX1475" fmla="*/ 2594825 w 3600000"/>
              <a:gd name="connsiteY1475" fmla="*/ 1302329 h 2787466"/>
              <a:gd name="connsiteX1476" fmla="*/ 2611893 w 3600000"/>
              <a:gd name="connsiteY1476" fmla="*/ 1299920 h 2787466"/>
              <a:gd name="connsiteX1477" fmla="*/ 2613657 w 3600000"/>
              <a:gd name="connsiteY1477" fmla="*/ 1299761 h 2787466"/>
              <a:gd name="connsiteX1478" fmla="*/ 2616885 w 3600000"/>
              <a:gd name="connsiteY1478" fmla="*/ 1297783 h 2787466"/>
              <a:gd name="connsiteX1479" fmla="*/ 2593615 w 3600000"/>
              <a:gd name="connsiteY1479" fmla="*/ 1296727 h 2787466"/>
              <a:gd name="connsiteX1480" fmla="*/ 2590343 w 3600000"/>
              <a:gd name="connsiteY1480" fmla="*/ 1297226 h 2787466"/>
              <a:gd name="connsiteX1481" fmla="*/ 2589376 w 3600000"/>
              <a:gd name="connsiteY1481" fmla="*/ 1299531 h 2787466"/>
              <a:gd name="connsiteX1482" fmla="*/ 2583142 w 3600000"/>
              <a:gd name="connsiteY1482" fmla="*/ 1302567 h 2787466"/>
              <a:gd name="connsiteX1483" fmla="*/ 2582732 w 3600000"/>
              <a:gd name="connsiteY1483" fmla="*/ 1303851 h 2787466"/>
              <a:gd name="connsiteX1484" fmla="*/ 2583131 w 3600000"/>
              <a:gd name="connsiteY1484" fmla="*/ 1303882 h 2787466"/>
              <a:gd name="connsiteX1485" fmla="*/ 2586995 w 3600000"/>
              <a:gd name="connsiteY1485" fmla="*/ 1305317 h 2787466"/>
              <a:gd name="connsiteX1486" fmla="*/ 2594001 w 3600000"/>
              <a:gd name="connsiteY1486" fmla="*/ 1301543 h 2787466"/>
              <a:gd name="connsiteX1487" fmla="*/ 2595743 w 3600000"/>
              <a:gd name="connsiteY1487" fmla="*/ 1297158 h 2787466"/>
              <a:gd name="connsiteX1488" fmla="*/ 3320713 w 3600000"/>
              <a:gd name="connsiteY1488" fmla="*/ 1295510 h 2787466"/>
              <a:gd name="connsiteX1489" fmla="*/ 3326492 w 3600000"/>
              <a:gd name="connsiteY1489" fmla="*/ 1297168 h 2787466"/>
              <a:gd name="connsiteX1490" fmla="*/ 3312502 w 3600000"/>
              <a:gd name="connsiteY1490" fmla="*/ 1305262 h 2787466"/>
              <a:gd name="connsiteX1491" fmla="*/ 3320713 w 3600000"/>
              <a:gd name="connsiteY1491" fmla="*/ 1295510 h 2787466"/>
              <a:gd name="connsiteX1492" fmla="*/ 2561031 w 3600000"/>
              <a:gd name="connsiteY1492" fmla="*/ 1292424 h 2787466"/>
              <a:gd name="connsiteX1493" fmla="*/ 2554308 w 3600000"/>
              <a:gd name="connsiteY1493" fmla="*/ 1295844 h 2787466"/>
              <a:gd name="connsiteX1494" fmla="*/ 2553045 w 3600000"/>
              <a:gd name="connsiteY1494" fmla="*/ 1298007 h 2787466"/>
              <a:gd name="connsiteX1495" fmla="*/ 2563865 w 3600000"/>
              <a:gd name="connsiteY1495" fmla="*/ 1297221 h 2787466"/>
              <a:gd name="connsiteX1496" fmla="*/ 2564388 w 3600000"/>
              <a:gd name="connsiteY1496" fmla="*/ 1297019 h 2787466"/>
              <a:gd name="connsiteX1497" fmla="*/ 2562731 w 3600000"/>
              <a:gd name="connsiteY1497" fmla="*/ 1295529 h 2787466"/>
              <a:gd name="connsiteX1498" fmla="*/ 2561031 w 3600000"/>
              <a:gd name="connsiteY1498" fmla="*/ 1292424 h 2787466"/>
              <a:gd name="connsiteX1499" fmla="*/ 2994759 w 3600000"/>
              <a:gd name="connsiteY1499" fmla="*/ 1292249 h 2787466"/>
              <a:gd name="connsiteX1500" fmla="*/ 3006629 w 3600000"/>
              <a:gd name="connsiteY1500" fmla="*/ 1297161 h 2787466"/>
              <a:gd name="connsiteX1501" fmla="*/ 2992052 w 3600000"/>
              <a:gd name="connsiteY1501" fmla="*/ 1302232 h 2787466"/>
              <a:gd name="connsiteX1502" fmla="*/ 2994759 w 3600000"/>
              <a:gd name="connsiteY1502" fmla="*/ 1292249 h 2787466"/>
              <a:gd name="connsiteX1503" fmla="*/ 3026772 w 3600000"/>
              <a:gd name="connsiteY1503" fmla="*/ 1285383 h 2787466"/>
              <a:gd name="connsiteX1504" fmla="*/ 3016454 w 3600000"/>
              <a:gd name="connsiteY1504" fmla="*/ 1295402 h 2787466"/>
              <a:gd name="connsiteX1505" fmla="*/ 3026772 w 3600000"/>
              <a:gd name="connsiteY1505" fmla="*/ 1285383 h 2787466"/>
              <a:gd name="connsiteX1506" fmla="*/ 3217047 w 3600000"/>
              <a:gd name="connsiteY1506" fmla="*/ 1282543 h 2787466"/>
              <a:gd name="connsiteX1507" fmla="*/ 3207693 w 3600000"/>
              <a:gd name="connsiteY1507" fmla="*/ 1298332 h 2787466"/>
              <a:gd name="connsiteX1508" fmla="*/ 3217047 w 3600000"/>
              <a:gd name="connsiteY1508" fmla="*/ 1282543 h 2787466"/>
              <a:gd name="connsiteX1509" fmla="*/ 2532515 w 3600000"/>
              <a:gd name="connsiteY1509" fmla="*/ 1282213 h 2787466"/>
              <a:gd name="connsiteX1510" fmla="*/ 2530590 w 3600000"/>
              <a:gd name="connsiteY1510" fmla="*/ 1285995 h 2787466"/>
              <a:gd name="connsiteX1511" fmla="*/ 2525669 w 3600000"/>
              <a:gd name="connsiteY1511" fmla="*/ 1290181 h 2787466"/>
              <a:gd name="connsiteX1512" fmla="*/ 2524228 w 3600000"/>
              <a:gd name="connsiteY1512" fmla="*/ 1283146 h 2787466"/>
              <a:gd name="connsiteX1513" fmla="*/ 2524648 w 3600000"/>
              <a:gd name="connsiteY1513" fmla="*/ 1282319 h 2787466"/>
              <a:gd name="connsiteX1514" fmla="*/ 2523114 w 3600000"/>
              <a:gd name="connsiteY1514" fmla="*/ 1282519 h 2787466"/>
              <a:gd name="connsiteX1515" fmla="*/ 2519200 w 3600000"/>
              <a:gd name="connsiteY1515" fmla="*/ 1290381 h 2787466"/>
              <a:gd name="connsiteX1516" fmla="*/ 2519200 w 3600000"/>
              <a:gd name="connsiteY1516" fmla="*/ 1293368 h 2787466"/>
              <a:gd name="connsiteX1517" fmla="*/ 2516726 w 3600000"/>
              <a:gd name="connsiteY1517" fmla="*/ 1296355 h 2787466"/>
              <a:gd name="connsiteX1518" fmla="*/ 2525793 w 3600000"/>
              <a:gd name="connsiteY1518" fmla="*/ 1297299 h 2787466"/>
              <a:gd name="connsiteX1519" fmla="*/ 2534860 w 3600000"/>
              <a:gd name="connsiteY1519" fmla="*/ 1282519 h 2787466"/>
              <a:gd name="connsiteX1520" fmla="*/ 22975 w 3600000"/>
              <a:gd name="connsiteY1520" fmla="*/ 1279077 h 2787466"/>
              <a:gd name="connsiteX1521" fmla="*/ 26884 w 3600000"/>
              <a:gd name="connsiteY1521" fmla="*/ 1291895 h 2787466"/>
              <a:gd name="connsiteX1522" fmla="*/ 8778 w 3600000"/>
              <a:gd name="connsiteY1522" fmla="*/ 1290801 h 2787466"/>
              <a:gd name="connsiteX1523" fmla="*/ 22975 w 3600000"/>
              <a:gd name="connsiteY1523" fmla="*/ 1279077 h 2787466"/>
              <a:gd name="connsiteX1524" fmla="*/ 3099608 w 3600000"/>
              <a:gd name="connsiteY1524" fmla="*/ 1277690 h 2787466"/>
              <a:gd name="connsiteX1525" fmla="*/ 3098388 w 3600000"/>
              <a:gd name="connsiteY1525" fmla="*/ 1281657 h 2787466"/>
              <a:gd name="connsiteX1526" fmla="*/ 3102047 w 3600000"/>
              <a:gd name="connsiteY1526" fmla="*/ 1287688 h 2787466"/>
              <a:gd name="connsiteX1527" fmla="*/ 3094526 w 3600000"/>
              <a:gd name="connsiteY1527" fmla="*/ 1290703 h 2787466"/>
              <a:gd name="connsiteX1528" fmla="*/ 3099608 w 3600000"/>
              <a:gd name="connsiteY1528" fmla="*/ 1277690 h 2787466"/>
              <a:gd name="connsiteX1529" fmla="*/ 3066419 w 3600000"/>
              <a:gd name="connsiteY1529" fmla="*/ 1272144 h 2787466"/>
              <a:gd name="connsiteX1530" fmla="*/ 3059863 w 3600000"/>
              <a:gd name="connsiteY1530" fmla="*/ 1283080 h 2787466"/>
              <a:gd name="connsiteX1531" fmla="*/ 3066419 w 3600000"/>
              <a:gd name="connsiteY1531" fmla="*/ 1272144 h 2787466"/>
              <a:gd name="connsiteX1532" fmla="*/ 2719841 w 3600000"/>
              <a:gd name="connsiteY1532" fmla="*/ 1270616 h 2787466"/>
              <a:gd name="connsiteX1533" fmla="*/ 2715989 w 3600000"/>
              <a:gd name="connsiteY1533" fmla="*/ 1272132 h 2787466"/>
              <a:gd name="connsiteX1534" fmla="*/ 2718588 w 3600000"/>
              <a:gd name="connsiteY1534" fmla="*/ 1272628 h 2787466"/>
              <a:gd name="connsiteX1535" fmla="*/ 3285117 w 3600000"/>
              <a:gd name="connsiteY1535" fmla="*/ 1269188 h 2787466"/>
              <a:gd name="connsiteX1536" fmla="*/ 3287787 w 3600000"/>
              <a:gd name="connsiteY1536" fmla="*/ 1285158 h 2787466"/>
              <a:gd name="connsiteX1537" fmla="*/ 3285117 w 3600000"/>
              <a:gd name="connsiteY1537" fmla="*/ 1269188 h 2787466"/>
              <a:gd name="connsiteX1538" fmla="*/ 3043695 w 3600000"/>
              <a:gd name="connsiteY1538" fmla="*/ 1261745 h 2787466"/>
              <a:gd name="connsiteX1539" fmla="*/ 3024090 w 3600000"/>
              <a:gd name="connsiteY1539" fmla="*/ 1281469 h 2787466"/>
              <a:gd name="connsiteX1540" fmla="*/ 3059379 w 3600000"/>
              <a:gd name="connsiteY1540" fmla="*/ 1261745 h 2787466"/>
              <a:gd name="connsiteX1541" fmla="*/ 3058140 w 3600000"/>
              <a:gd name="connsiteY1541" fmla="*/ 1266598 h 2787466"/>
              <a:gd name="connsiteX1542" fmla="*/ 3060617 w 3600000"/>
              <a:gd name="connsiteY1542" fmla="*/ 1273642 h 2787466"/>
              <a:gd name="connsiteX1543" fmla="*/ 3011088 w 3600000"/>
              <a:gd name="connsiteY1543" fmla="*/ 1305264 h 2787466"/>
              <a:gd name="connsiteX1544" fmla="*/ 3005929 w 3600000"/>
              <a:gd name="connsiteY1544" fmla="*/ 1294306 h 2787466"/>
              <a:gd name="connsiteX1545" fmla="*/ 3043695 w 3600000"/>
              <a:gd name="connsiteY1545" fmla="*/ 1261745 h 2787466"/>
              <a:gd name="connsiteX1546" fmla="*/ 2756381 w 3600000"/>
              <a:gd name="connsiteY1546" fmla="*/ 1247616 h 2787466"/>
              <a:gd name="connsiteX1547" fmla="*/ 2755891 w 3600000"/>
              <a:gd name="connsiteY1547" fmla="*/ 1248500 h 2787466"/>
              <a:gd name="connsiteX1548" fmla="*/ 2754497 w 3600000"/>
              <a:gd name="connsiteY1548" fmla="*/ 1251020 h 2787466"/>
              <a:gd name="connsiteX1549" fmla="*/ 2754540 w 3600000"/>
              <a:gd name="connsiteY1549" fmla="*/ 1251213 h 2787466"/>
              <a:gd name="connsiteX1550" fmla="*/ 2755173 w 3600000"/>
              <a:gd name="connsiteY1550" fmla="*/ 1254180 h 2787466"/>
              <a:gd name="connsiteX1551" fmla="*/ 2758622 w 3600000"/>
              <a:gd name="connsiteY1551" fmla="*/ 1253531 h 2787466"/>
              <a:gd name="connsiteX1552" fmla="*/ 2762769 w 3600000"/>
              <a:gd name="connsiteY1552" fmla="*/ 1248716 h 2787466"/>
              <a:gd name="connsiteX1553" fmla="*/ 2756381 w 3600000"/>
              <a:gd name="connsiteY1553" fmla="*/ 1247616 h 2787466"/>
              <a:gd name="connsiteX1554" fmla="*/ 3248384 w 3600000"/>
              <a:gd name="connsiteY1554" fmla="*/ 1247186 h 2787466"/>
              <a:gd name="connsiteX1555" fmla="*/ 3227374 w 3600000"/>
              <a:gd name="connsiteY1555" fmla="*/ 1278920 h 2787466"/>
              <a:gd name="connsiteX1556" fmla="*/ 3219470 w 3600000"/>
              <a:gd name="connsiteY1556" fmla="*/ 1271885 h 2787466"/>
              <a:gd name="connsiteX1557" fmla="*/ 3248384 w 3600000"/>
              <a:gd name="connsiteY1557" fmla="*/ 1247186 h 2787466"/>
              <a:gd name="connsiteX1558" fmla="*/ 3364651 w 3600000"/>
              <a:gd name="connsiteY1558" fmla="*/ 1242334 h 2787466"/>
              <a:gd name="connsiteX1559" fmla="*/ 3354043 w 3600000"/>
              <a:gd name="connsiteY1559" fmla="*/ 1262138 h 2787466"/>
              <a:gd name="connsiteX1560" fmla="*/ 3338234 w 3600000"/>
              <a:gd name="connsiteY1560" fmla="*/ 1281000 h 2787466"/>
              <a:gd name="connsiteX1561" fmla="*/ 3330330 w 3600000"/>
              <a:gd name="connsiteY1561" fmla="*/ 1277070 h 2787466"/>
              <a:gd name="connsiteX1562" fmla="*/ 3364651 w 3600000"/>
              <a:gd name="connsiteY1562" fmla="*/ 1242334 h 2787466"/>
              <a:gd name="connsiteX1563" fmla="*/ 2687668 w 3600000"/>
              <a:gd name="connsiteY1563" fmla="*/ 1239199 h 2787466"/>
              <a:gd name="connsiteX1564" fmla="*/ 2684026 w 3600000"/>
              <a:gd name="connsiteY1564" fmla="*/ 1240030 h 2787466"/>
              <a:gd name="connsiteX1565" fmla="*/ 2679346 w 3600000"/>
              <a:gd name="connsiteY1565" fmla="*/ 1245254 h 2787466"/>
              <a:gd name="connsiteX1566" fmla="*/ 2689261 w 3600000"/>
              <a:gd name="connsiteY1566" fmla="*/ 1241004 h 2787466"/>
              <a:gd name="connsiteX1567" fmla="*/ 2747108 w 3600000"/>
              <a:gd name="connsiteY1567" fmla="*/ 1237710 h 2787466"/>
              <a:gd name="connsiteX1568" fmla="*/ 2745784 w 3600000"/>
              <a:gd name="connsiteY1568" fmla="*/ 1238032 h 2787466"/>
              <a:gd name="connsiteX1569" fmla="*/ 2744580 w 3600000"/>
              <a:gd name="connsiteY1569" fmla="*/ 1240402 h 2787466"/>
              <a:gd name="connsiteX1570" fmla="*/ 2747293 w 3600000"/>
              <a:gd name="connsiteY1570" fmla="*/ 1238021 h 2787466"/>
              <a:gd name="connsiteX1571" fmla="*/ 2766684 w 3600000"/>
              <a:gd name="connsiteY1571" fmla="*/ 1235666 h 2787466"/>
              <a:gd name="connsiteX1572" fmla="*/ 2761532 w 3600000"/>
              <a:gd name="connsiteY1572" fmla="*/ 1240697 h 2787466"/>
              <a:gd name="connsiteX1573" fmla="*/ 2766684 w 3600000"/>
              <a:gd name="connsiteY1573" fmla="*/ 1249659 h 2787466"/>
              <a:gd name="connsiteX1574" fmla="*/ 2776936 w 3600000"/>
              <a:gd name="connsiteY1574" fmla="*/ 1243921 h 2787466"/>
              <a:gd name="connsiteX1575" fmla="*/ 2779168 w 3600000"/>
              <a:gd name="connsiteY1575" fmla="*/ 1242807 h 2787466"/>
              <a:gd name="connsiteX1576" fmla="*/ 2775542 w 3600000"/>
              <a:gd name="connsiteY1576" fmla="*/ 1238953 h 2787466"/>
              <a:gd name="connsiteX1577" fmla="*/ 2775329 w 3600000"/>
              <a:gd name="connsiteY1577" fmla="*/ 1238677 h 2787466"/>
              <a:gd name="connsiteX1578" fmla="*/ 2770599 w 3600000"/>
              <a:gd name="connsiteY1578" fmla="*/ 1242742 h 2787466"/>
              <a:gd name="connsiteX1579" fmla="*/ 2766684 w 3600000"/>
              <a:gd name="connsiteY1579" fmla="*/ 1235666 h 2787466"/>
              <a:gd name="connsiteX1580" fmla="*/ 2639130 w 3600000"/>
              <a:gd name="connsiteY1580" fmla="*/ 1235666 h 2787466"/>
              <a:gd name="connsiteX1581" fmla="*/ 2633979 w 3600000"/>
              <a:gd name="connsiteY1581" fmla="*/ 1241641 h 2787466"/>
              <a:gd name="connsiteX1582" fmla="*/ 2640598 w 3600000"/>
              <a:gd name="connsiteY1582" fmla="*/ 1241798 h 2787466"/>
              <a:gd name="connsiteX1583" fmla="*/ 2641868 w 3600000"/>
              <a:gd name="connsiteY1583" fmla="*/ 1240063 h 2787466"/>
              <a:gd name="connsiteX1584" fmla="*/ 2640158 w 3600000"/>
              <a:gd name="connsiteY1584" fmla="*/ 1237789 h 2787466"/>
              <a:gd name="connsiteX1585" fmla="*/ 2639221 w 3600000"/>
              <a:gd name="connsiteY1585" fmla="*/ 1235685 h 2787466"/>
              <a:gd name="connsiteX1586" fmla="*/ 3140414 w 3600000"/>
              <a:gd name="connsiteY1586" fmla="*/ 1235401 h 2787466"/>
              <a:gd name="connsiteX1587" fmla="*/ 3155825 w 3600000"/>
              <a:gd name="connsiteY1587" fmla="*/ 1252573 h 2787466"/>
              <a:gd name="connsiteX1588" fmla="*/ 3140414 w 3600000"/>
              <a:gd name="connsiteY1588" fmla="*/ 1235401 h 2787466"/>
              <a:gd name="connsiteX1589" fmla="*/ 2770448 w 3600000"/>
              <a:gd name="connsiteY1589" fmla="*/ 1232345 h 2787466"/>
              <a:gd name="connsiteX1590" fmla="*/ 2770290 w 3600000"/>
              <a:gd name="connsiteY1590" fmla="*/ 1232503 h 2787466"/>
              <a:gd name="connsiteX1591" fmla="*/ 2769363 w 3600000"/>
              <a:gd name="connsiteY1591" fmla="*/ 1234723 h 2787466"/>
              <a:gd name="connsiteX1592" fmla="*/ 2771552 w 3600000"/>
              <a:gd name="connsiteY1592" fmla="*/ 1233778 h 2787466"/>
              <a:gd name="connsiteX1593" fmla="*/ 2756381 w 3600000"/>
              <a:gd name="connsiteY1593" fmla="*/ 1230792 h 2787466"/>
              <a:gd name="connsiteX1594" fmla="*/ 2750099 w 3600000"/>
              <a:gd name="connsiteY1594" fmla="*/ 1231621 h 2787466"/>
              <a:gd name="connsiteX1595" fmla="*/ 2748479 w 3600000"/>
              <a:gd name="connsiteY1595" fmla="*/ 1232728 h 2787466"/>
              <a:gd name="connsiteX1596" fmla="*/ 2746768 w 3600000"/>
              <a:gd name="connsiteY1596" fmla="*/ 1236097 h 2787466"/>
              <a:gd name="connsiteX1597" fmla="*/ 2748336 w 3600000"/>
              <a:gd name="connsiteY1597" fmla="*/ 1237107 h 2787466"/>
              <a:gd name="connsiteX1598" fmla="*/ 2748700 w 3600000"/>
              <a:gd name="connsiteY1598" fmla="*/ 1236787 h 2787466"/>
              <a:gd name="connsiteX1599" fmla="*/ 2748966 w 3600000"/>
              <a:gd name="connsiteY1599" fmla="*/ 1237513 h 2787466"/>
              <a:gd name="connsiteX1600" fmla="*/ 2750096 w 3600000"/>
              <a:gd name="connsiteY1600" fmla="*/ 1238241 h 2787466"/>
              <a:gd name="connsiteX1601" fmla="*/ 2753702 w 3600000"/>
              <a:gd name="connsiteY1601" fmla="*/ 1241641 h 2787466"/>
              <a:gd name="connsiteX1602" fmla="*/ 2756381 w 3600000"/>
              <a:gd name="connsiteY1602" fmla="*/ 1230792 h 2787466"/>
              <a:gd name="connsiteX1603" fmla="*/ 3371396 w 3600000"/>
              <a:gd name="connsiteY1603" fmla="*/ 1229271 h 2787466"/>
              <a:gd name="connsiteX1604" fmla="*/ 3377377 w 3600000"/>
              <a:gd name="connsiteY1604" fmla="*/ 1230942 h 2787466"/>
              <a:gd name="connsiteX1605" fmla="*/ 3366932 w 3600000"/>
              <a:gd name="connsiteY1605" fmla="*/ 1240791 h 2787466"/>
              <a:gd name="connsiteX1606" fmla="*/ 3371396 w 3600000"/>
              <a:gd name="connsiteY1606" fmla="*/ 1229271 h 2787466"/>
              <a:gd name="connsiteX1607" fmla="*/ 2756160 w 3600000"/>
              <a:gd name="connsiteY1607" fmla="*/ 1227472 h 2787466"/>
              <a:gd name="connsiteX1608" fmla="*/ 2755663 w 3600000"/>
              <a:gd name="connsiteY1608" fmla="*/ 1227813 h 2787466"/>
              <a:gd name="connsiteX1609" fmla="*/ 2756381 w 3600000"/>
              <a:gd name="connsiteY1609" fmla="*/ 1227806 h 2787466"/>
              <a:gd name="connsiteX1610" fmla="*/ 2782546 w 3600000"/>
              <a:gd name="connsiteY1610" fmla="*/ 1226865 h 2787466"/>
              <a:gd name="connsiteX1611" fmla="*/ 2779878 w 3600000"/>
              <a:gd name="connsiteY1611" fmla="*/ 1229681 h 2787466"/>
              <a:gd name="connsiteX1612" fmla="*/ 2780139 w 3600000"/>
              <a:gd name="connsiteY1612" fmla="*/ 1230079 h 2787466"/>
              <a:gd name="connsiteX1613" fmla="*/ 2785972 w 3600000"/>
              <a:gd name="connsiteY1613" fmla="*/ 1229036 h 2787466"/>
              <a:gd name="connsiteX1614" fmla="*/ 2800608 w 3600000"/>
              <a:gd name="connsiteY1614" fmla="*/ 1225769 h 2787466"/>
              <a:gd name="connsiteX1615" fmla="*/ 2802045 w 3600000"/>
              <a:gd name="connsiteY1615" fmla="*/ 1233750 h 2787466"/>
              <a:gd name="connsiteX1616" fmla="*/ 2787959 w 3600000"/>
              <a:gd name="connsiteY1616" fmla="*/ 1230296 h 2787466"/>
              <a:gd name="connsiteX1617" fmla="*/ 2787475 w 3600000"/>
              <a:gd name="connsiteY1617" fmla="*/ 1229989 h 2787466"/>
              <a:gd name="connsiteX1618" fmla="*/ 2785088 w 3600000"/>
              <a:gd name="connsiteY1618" fmla="*/ 1230957 h 2787466"/>
              <a:gd name="connsiteX1619" fmla="*/ 2782125 w 3600000"/>
              <a:gd name="connsiteY1619" fmla="*/ 1233101 h 2787466"/>
              <a:gd name="connsiteX1620" fmla="*/ 2782530 w 3600000"/>
              <a:gd name="connsiteY1620" fmla="*/ 1233716 h 2787466"/>
              <a:gd name="connsiteX1621" fmla="*/ 2781061 w 3600000"/>
              <a:gd name="connsiteY1621" fmla="*/ 1241081 h 2787466"/>
              <a:gd name="connsiteX1622" fmla="*/ 2781551 w 3600000"/>
              <a:gd name="connsiteY1622" fmla="*/ 1241619 h 2787466"/>
              <a:gd name="connsiteX1623" fmla="*/ 2782274 w 3600000"/>
              <a:gd name="connsiteY1623" fmla="*/ 1241257 h 2787466"/>
              <a:gd name="connsiteX1624" fmla="*/ 2786261 w 3600000"/>
              <a:gd name="connsiteY1624" fmla="*/ 1236767 h 2787466"/>
              <a:gd name="connsiteX1625" fmla="*/ 2799243 w 3600000"/>
              <a:gd name="connsiteY1625" fmla="*/ 1239755 h 2787466"/>
              <a:gd name="connsiteX1626" fmla="*/ 2805920 w 3600000"/>
              <a:gd name="connsiteY1626" fmla="*/ 1232854 h 2787466"/>
              <a:gd name="connsiteX1627" fmla="*/ 2806778 w 3600000"/>
              <a:gd name="connsiteY1627" fmla="*/ 1231680 h 2787466"/>
              <a:gd name="connsiteX1628" fmla="*/ 2802892 w 3600000"/>
              <a:gd name="connsiteY1628" fmla="*/ 1231325 h 2787466"/>
              <a:gd name="connsiteX1629" fmla="*/ 2800608 w 3600000"/>
              <a:gd name="connsiteY1629" fmla="*/ 1225769 h 2787466"/>
              <a:gd name="connsiteX1630" fmla="*/ 3268900 w 3600000"/>
              <a:gd name="connsiteY1630" fmla="*/ 1225695 h 2787466"/>
              <a:gd name="connsiteX1631" fmla="*/ 3259978 w 3600000"/>
              <a:gd name="connsiteY1631" fmla="*/ 1242868 h 2787466"/>
              <a:gd name="connsiteX1632" fmla="*/ 3268900 w 3600000"/>
              <a:gd name="connsiteY1632" fmla="*/ 1225695 h 2787466"/>
              <a:gd name="connsiteX1633" fmla="*/ 2792735 w 3600000"/>
              <a:gd name="connsiteY1633" fmla="*/ 1215181 h 2787466"/>
              <a:gd name="connsiteX1634" fmla="*/ 2791694 w 3600000"/>
              <a:gd name="connsiteY1634" fmla="*/ 1215840 h 2787466"/>
              <a:gd name="connsiteX1635" fmla="*/ 2793014 w 3600000"/>
              <a:gd name="connsiteY1635" fmla="*/ 1219823 h 2787466"/>
              <a:gd name="connsiteX1636" fmla="*/ 2797595 w 3600000"/>
              <a:gd name="connsiteY1636" fmla="*/ 1217690 h 2787466"/>
              <a:gd name="connsiteX1637" fmla="*/ 2795044 w 3600000"/>
              <a:gd name="connsiteY1637" fmla="*/ 1216229 h 2787466"/>
              <a:gd name="connsiteX1638" fmla="*/ 2792735 w 3600000"/>
              <a:gd name="connsiteY1638" fmla="*/ 1215181 h 2787466"/>
              <a:gd name="connsiteX1639" fmla="*/ 2251687 w 3600000"/>
              <a:gd name="connsiteY1639" fmla="*/ 1213764 h 2787466"/>
              <a:gd name="connsiteX1640" fmla="*/ 2247941 w 3600000"/>
              <a:gd name="connsiteY1640" fmla="*/ 1217154 h 2787466"/>
              <a:gd name="connsiteX1641" fmla="*/ 2247842 w 3600000"/>
              <a:gd name="connsiteY1641" fmla="*/ 1217348 h 2787466"/>
              <a:gd name="connsiteX1642" fmla="*/ 2251108 w 3600000"/>
              <a:gd name="connsiteY1642" fmla="*/ 1218843 h 2787466"/>
              <a:gd name="connsiteX1643" fmla="*/ 2251867 w 3600000"/>
              <a:gd name="connsiteY1643" fmla="*/ 1213941 h 2787466"/>
              <a:gd name="connsiteX1644" fmla="*/ 2252749 w 3600000"/>
              <a:gd name="connsiteY1644" fmla="*/ 1206325 h 2787466"/>
              <a:gd name="connsiteX1645" fmla="*/ 2250902 w 3600000"/>
              <a:gd name="connsiteY1645" fmla="*/ 1206874 h 2787466"/>
              <a:gd name="connsiteX1646" fmla="*/ 2245519 w 3600000"/>
              <a:gd name="connsiteY1646" fmla="*/ 1209273 h 2787466"/>
              <a:gd name="connsiteX1647" fmla="*/ 2245214 w 3600000"/>
              <a:gd name="connsiteY1647" fmla="*/ 1209630 h 2787466"/>
              <a:gd name="connsiteX1648" fmla="*/ 2250455 w 3600000"/>
              <a:gd name="connsiteY1648" fmla="*/ 1210957 h 2787466"/>
              <a:gd name="connsiteX1649" fmla="*/ 2253637 w 3600000"/>
              <a:gd name="connsiteY1649" fmla="*/ 1206572 h 2787466"/>
              <a:gd name="connsiteX1650" fmla="*/ 2253674 w 3600000"/>
              <a:gd name="connsiteY1650" fmla="*/ 1206410 h 2787466"/>
              <a:gd name="connsiteX1651" fmla="*/ 3402921 w 3600000"/>
              <a:gd name="connsiteY1651" fmla="*/ 1200738 h 2787466"/>
              <a:gd name="connsiteX1652" fmla="*/ 3414632 w 3600000"/>
              <a:gd name="connsiteY1652" fmla="*/ 1207887 h 2787466"/>
              <a:gd name="connsiteX1653" fmla="*/ 3392649 w 3600000"/>
              <a:gd name="connsiteY1653" fmla="*/ 1215831 h 2787466"/>
              <a:gd name="connsiteX1654" fmla="*/ 3402921 w 3600000"/>
              <a:gd name="connsiteY1654" fmla="*/ 1200738 h 2787466"/>
              <a:gd name="connsiteX1655" fmla="*/ 2341516 w 3600000"/>
              <a:gd name="connsiteY1655" fmla="*/ 1199181 h 2787466"/>
              <a:gd name="connsiteX1656" fmla="*/ 2338764 w 3600000"/>
              <a:gd name="connsiteY1656" fmla="*/ 1201628 h 2787466"/>
              <a:gd name="connsiteX1657" fmla="*/ 2334814 w 3600000"/>
              <a:gd name="connsiteY1657" fmla="*/ 1209028 h 2787466"/>
              <a:gd name="connsiteX1658" fmla="*/ 2343001 w 3600000"/>
              <a:gd name="connsiteY1658" fmla="*/ 1211021 h 2787466"/>
              <a:gd name="connsiteX1659" fmla="*/ 2340846 w 3600000"/>
              <a:gd name="connsiteY1659" fmla="*/ 1212191 h 2787466"/>
              <a:gd name="connsiteX1660" fmla="*/ 2342035 w 3600000"/>
              <a:gd name="connsiteY1660" fmla="*/ 1212613 h 2787466"/>
              <a:gd name="connsiteX1661" fmla="*/ 2348783 w 3600000"/>
              <a:gd name="connsiteY1661" fmla="*/ 1210982 h 2787466"/>
              <a:gd name="connsiteX1662" fmla="*/ 2346105 w 3600000"/>
              <a:gd name="connsiteY1662" fmla="*/ 1199976 h 2787466"/>
              <a:gd name="connsiteX1663" fmla="*/ 2341516 w 3600000"/>
              <a:gd name="connsiteY1663" fmla="*/ 1199181 h 2787466"/>
              <a:gd name="connsiteX1664" fmla="*/ 2809502 w 3600000"/>
              <a:gd name="connsiteY1664" fmla="*/ 1198262 h 2787466"/>
              <a:gd name="connsiteX1665" fmla="*/ 2809752 w 3600000"/>
              <a:gd name="connsiteY1665" fmla="*/ 1199976 h 2787466"/>
              <a:gd name="connsiteX1666" fmla="*/ 2812582 w 3600000"/>
              <a:gd name="connsiteY1666" fmla="*/ 1199092 h 2787466"/>
              <a:gd name="connsiteX1667" fmla="*/ 2827885 w 3600000"/>
              <a:gd name="connsiteY1667" fmla="*/ 1196046 h 2787466"/>
              <a:gd name="connsiteX1668" fmla="*/ 2807196 w 3600000"/>
              <a:gd name="connsiteY1668" fmla="*/ 1206880 h 2787466"/>
              <a:gd name="connsiteX1669" fmla="*/ 2808281 w 3600000"/>
              <a:gd name="connsiteY1669" fmla="*/ 1212716 h 2787466"/>
              <a:gd name="connsiteX1670" fmla="*/ 2816207 w 3600000"/>
              <a:gd name="connsiteY1670" fmla="*/ 1209025 h 2787466"/>
              <a:gd name="connsiteX1671" fmla="*/ 2837110 w 3600000"/>
              <a:gd name="connsiteY1671" fmla="*/ 1198401 h 2787466"/>
              <a:gd name="connsiteX1672" fmla="*/ 2834899 w 3600000"/>
              <a:gd name="connsiteY1672" fmla="*/ 1199208 h 2787466"/>
              <a:gd name="connsiteX1673" fmla="*/ 2827885 w 3600000"/>
              <a:gd name="connsiteY1673" fmla="*/ 1196046 h 2787466"/>
              <a:gd name="connsiteX1674" fmla="*/ 2842638 w 3600000"/>
              <a:gd name="connsiteY1674" fmla="*/ 1189889 h 2787466"/>
              <a:gd name="connsiteX1675" fmla="*/ 2837947 w 3600000"/>
              <a:gd name="connsiteY1675" fmla="*/ 1191973 h 2787466"/>
              <a:gd name="connsiteX1676" fmla="*/ 2835759 w 3600000"/>
              <a:gd name="connsiteY1676" fmla="*/ 1192778 h 2787466"/>
              <a:gd name="connsiteX1677" fmla="*/ 2838320 w 3600000"/>
              <a:gd name="connsiteY1677" fmla="*/ 1197786 h 2787466"/>
              <a:gd name="connsiteX1678" fmla="*/ 2839606 w 3600000"/>
              <a:gd name="connsiteY1678" fmla="*/ 1197133 h 2787466"/>
              <a:gd name="connsiteX1679" fmla="*/ 2842205 w 3600000"/>
              <a:gd name="connsiteY1679" fmla="*/ 1194855 h 2787466"/>
              <a:gd name="connsiteX1680" fmla="*/ 2841974 w 3600000"/>
              <a:gd name="connsiteY1680" fmla="*/ 1195031 h 2787466"/>
              <a:gd name="connsiteX1681" fmla="*/ 2419052 w 3600000"/>
              <a:gd name="connsiteY1681" fmla="*/ 1188027 h 2787466"/>
              <a:gd name="connsiteX1682" fmla="*/ 2409985 w 3600000"/>
              <a:gd name="connsiteY1682" fmla="*/ 1199033 h 2787466"/>
              <a:gd name="connsiteX1683" fmla="*/ 2411379 w 3600000"/>
              <a:gd name="connsiteY1683" fmla="*/ 1198696 h 2787466"/>
              <a:gd name="connsiteX1684" fmla="*/ 2411457 w 3600000"/>
              <a:gd name="connsiteY1684" fmla="*/ 1197962 h 2787466"/>
              <a:gd name="connsiteX1685" fmla="*/ 2414518 w 3600000"/>
              <a:gd name="connsiteY1685" fmla="*/ 1197936 h 2787466"/>
              <a:gd name="connsiteX1686" fmla="*/ 2418021 w 3600000"/>
              <a:gd name="connsiteY1686" fmla="*/ 1197088 h 2787466"/>
              <a:gd name="connsiteX1687" fmla="*/ 2421537 w 3600000"/>
              <a:gd name="connsiteY1687" fmla="*/ 1193097 h 2787466"/>
              <a:gd name="connsiteX1688" fmla="*/ 2421607 w 3600000"/>
              <a:gd name="connsiteY1688" fmla="*/ 1191032 h 2787466"/>
              <a:gd name="connsiteX1689" fmla="*/ 2423357 w 3600000"/>
              <a:gd name="connsiteY1689" fmla="*/ 1191032 h 2787466"/>
              <a:gd name="connsiteX1690" fmla="*/ 2424203 w 3600000"/>
              <a:gd name="connsiteY1690" fmla="*/ 1190071 h 2787466"/>
              <a:gd name="connsiteX1691" fmla="*/ 2419052 w 3600000"/>
              <a:gd name="connsiteY1691" fmla="*/ 1188027 h 2787466"/>
              <a:gd name="connsiteX1692" fmla="*/ 2429355 w 3600000"/>
              <a:gd name="connsiteY1692" fmla="*/ 1185984 h 2787466"/>
              <a:gd name="connsiteX1693" fmla="*/ 2430395 w 3600000"/>
              <a:gd name="connsiteY1693" fmla="*/ 1189684 h 2787466"/>
              <a:gd name="connsiteX1694" fmla="*/ 2429111 w 3600000"/>
              <a:gd name="connsiteY1694" fmla="*/ 1191032 h 2787466"/>
              <a:gd name="connsiteX1695" fmla="*/ 2429414 w 3600000"/>
              <a:gd name="connsiteY1695" fmla="*/ 1191032 h 2787466"/>
              <a:gd name="connsiteX1696" fmla="*/ 2430529 w 3600000"/>
              <a:gd name="connsiteY1696" fmla="*/ 1191032 h 2787466"/>
              <a:gd name="connsiteX1697" fmla="*/ 2429835 w 3600000"/>
              <a:gd name="connsiteY1697" fmla="*/ 1193942 h 2787466"/>
              <a:gd name="connsiteX1698" fmla="*/ 2431802 w 3600000"/>
              <a:gd name="connsiteY1698" fmla="*/ 1191997 h 2787466"/>
              <a:gd name="connsiteX1699" fmla="*/ 2429355 w 3600000"/>
              <a:gd name="connsiteY1699" fmla="*/ 1185984 h 2787466"/>
              <a:gd name="connsiteX1700" fmla="*/ 2528665 w 3600000"/>
              <a:gd name="connsiteY1700" fmla="*/ 1183273 h 2787466"/>
              <a:gd name="connsiteX1701" fmla="*/ 2526911 w 3600000"/>
              <a:gd name="connsiteY1701" fmla="*/ 1183378 h 2787466"/>
              <a:gd name="connsiteX1702" fmla="*/ 2527054 w 3600000"/>
              <a:gd name="connsiteY1702" fmla="*/ 1185154 h 2787466"/>
              <a:gd name="connsiteX1703" fmla="*/ 2528730 w 3600000"/>
              <a:gd name="connsiteY1703" fmla="*/ 1184333 h 2787466"/>
              <a:gd name="connsiteX1704" fmla="*/ 2866959 w 3600000"/>
              <a:gd name="connsiteY1704" fmla="*/ 1179246 h 2787466"/>
              <a:gd name="connsiteX1705" fmla="*/ 2868204 w 3600000"/>
              <a:gd name="connsiteY1705" fmla="*/ 1183280 h 2787466"/>
              <a:gd name="connsiteX1706" fmla="*/ 2869222 w 3600000"/>
              <a:gd name="connsiteY1706" fmla="*/ 1183156 h 2787466"/>
              <a:gd name="connsiteX1707" fmla="*/ 2869340 w 3600000"/>
              <a:gd name="connsiteY1707" fmla="*/ 1186967 h 2787466"/>
              <a:gd name="connsiteX1708" fmla="*/ 2869367 w 3600000"/>
              <a:gd name="connsiteY1708" fmla="*/ 1187052 h 2787466"/>
              <a:gd name="connsiteX1709" fmla="*/ 2870771 w 3600000"/>
              <a:gd name="connsiteY1709" fmla="*/ 1187052 h 2787466"/>
              <a:gd name="connsiteX1710" fmla="*/ 2868163 w 3600000"/>
              <a:gd name="connsiteY1710" fmla="*/ 1189960 h 2787466"/>
              <a:gd name="connsiteX1711" fmla="*/ 2865249 w 3600000"/>
              <a:gd name="connsiteY1711" fmla="*/ 1189279 h 2787466"/>
              <a:gd name="connsiteX1712" fmla="*/ 2854078 w 3600000"/>
              <a:gd name="connsiteY1712" fmla="*/ 1192256 h 2787466"/>
              <a:gd name="connsiteX1713" fmla="*/ 2857334 w 3600000"/>
              <a:gd name="connsiteY1713" fmla="*/ 1184599 h 2787466"/>
              <a:gd name="connsiteX1714" fmla="*/ 2863640 w 3600000"/>
              <a:gd name="connsiteY1714" fmla="*/ 1183834 h 2787466"/>
              <a:gd name="connsiteX1715" fmla="*/ 2480253 w 3600000"/>
              <a:gd name="connsiteY1715" fmla="*/ 1173091 h 2787466"/>
              <a:gd name="connsiteX1716" fmla="*/ 2481489 w 3600000"/>
              <a:gd name="connsiteY1716" fmla="*/ 1181110 h 2787466"/>
              <a:gd name="connsiteX1717" fmla="*/ 2473658 w 3600000"/>
              <a:gd name="connsiteY1717" fmla="*/ 1176079 h 2787466"/>
              <a:gd name="connsiteX1718" fmla="*/ 2467271 w 3600000"/>
              <a:gd name="connsiteY1718" fmla="*/ 1182053 h 2787466"/>
              <a:gd name="connsiteX1719" fmla="*/ 2479017 w 3600000"/>
              <a:gd name="connsiteY1719" fmla="*/ 1184097 h 2787466"/>
              <a:gd name="connsiteX1720" fmla="*/ 2463355 w 3600000"/>
              <a:gd name="connsiteY1720" fmla="*/ 1191015 h 2787466"/>
              <a:gd name="connsiteX1721" fmla="*/ 2451610 w 3600000"/>
              <a:gd name="connsiteY1721" fmla="*/ 1185040 h 2787466"/>
              <a:gd name="connsiteX1722" fmla="*/ 2456761 w 3600000"/>
              <a:gd name="connsiteY1722" fmla="*/ 1190071 h 2787466"/>
              <a:gd name="connsiteX1723" fmla="*/ 2441101 w 3600000"/>
              <a:gd name="connsiteY1723" fmla="*/ 1196046 h 2787466"/>
              <a:gd name="connsiteX1724" fmla="*/ 2442153 w 3600000"/>
              <a:gd name="connsiteY1724" fmla="*/ 1195973 h 2787466"/>
              <a:gd name="connsiteX1725" fmla="*/ 2443250 w 3600000"/>
              <a:gd name="connsiteY1725" fmla="*/ 1195007 h 2787466"/>
              <a:gd name="connsiteX1726" fmla="*/ 2447042 w 3600000"/>
              <a:gd name="connsiteY1726" fmla="*/ 1195563 h 2787466"/>
              <a:gd name="connsiteX1727" fmla="*/ 2447086 w 3600000"/>
              <a:gd name="connsiteY1727" fmla="*/ 1195631 h 2787466"/>
              <a:gd name="connsiteX1728" fmla="*/ 2470285 w 3600000"/>
              <a:gd name="connsiteY1728" fmla="*/ 1194022 h 2787466"/>
              <a:gd name="connsiteX1729" fmla="*/ 2498387 w 3600000"/>
              <a:gd name="connsiteY1729" fmla="*/ 1185984 h 2787466"/>
              <a:gd name="connsiteX1730" fmla="*/ 2488084 w 3600000"/>
              <a:gd name="connsiteY1730" fmla="*/ 1185040 h 2787466"/>
              <a:gd name="connsiteX1731" fmla="*/ 2489320 w 3600000"/>
              <a:gd name="connsiteY1731" fmla="*/ 1173091 h 2787466"/>
              <a:gd name="connsiteX1732" fmla="*/ 2480253 w 3600000"/>
              <a:gd name="connsiteY1732" fmla="*/ 1173091 h 2787466"/>
              <a:gd name="connsiteX1733" fmla="*/ 2533624 w 3600000"/>
              <a:gd name="connsiteY1733" fmla="*/ 1163186 h 2787466"/>
              <a:gd name="connsiteX1734" fmla="*/ 2530945 w 3600000"/>
              <a:gd name="connsiteY1734" fmla="*/ 1172148 h 2787466"/>
              <a:gd name="connsiteX1735" fmla="*/ 2533624 w 3600000"/>
              <a:gd name="connsiteY1735" fmla="*/ 1163186 h 2787466"/>
              <a:gd name="connsiteX1736" fmla="*/ 2525252 w 3600000"/>
              <a:gd name="connsiteY1736" fmla="*/ 1156347 h 2787466"/>
              <a:gd name="connsiteX1737" fmla="*/ 2519200 w 3600000"/>
              <a:gd name="connsiteY1737" fmla="*/ 1159255 h 2787466"/>
              <a:gd name="connsiteX1738" fmla="*/ 2511574 w 3600000"/>
              <a:gd name="connsiteY1738" fmla="*/ 1167117 h 2787466"/>
              <a:gd name="connsiteX1739" fmla="*/ 2510133 w 3600000"/>
              <a:gd name="connsiteY1739" fmla="*/ 1158312 h 2787466"/>
              <a:gd name="connsiteX1740" fmla="*/ 2504981 w 3600000"/>
              <a:gd name="connsiteY1740" fmla="*/ 1167117 h 2787466"/>
              <a:gd name="connsiteX1741" fmla="*/ 2515490 w 3600000"/>
              <a:gd name="connsiteY1741" fmla="*/ 1170104 h 2787466"/>
              <a:gd name="connsiteX1742" fmla="*/ 2501065 w 3600000"/>
              <a:gd name="connsiteY1742" fmla="*/ 1173091 h 2787466"/>
              <a:gd name="connsiteX1743" fmla="*/ 2498387 w 3600000"/>
              <a:gd name="connsiteY1743" fmla="*/ 1180166 h 2787466"/>
              <a:gd name="connsiteX1744" fmla="*/ 2511574 w 3600000"/>
              <a:gd name="connsiteY1744" fmla="*/ 1178123 h 2787466"/>
              <a:gd name="connsiteX1745" fmla="*/ 2503745 w 3600000"/>
              <a:gd name="connsiteY1745" fmla="*/ 1185984 h 2787466"/>
              <a:gd name="connsiteX1746" fmla="*/ 2513609 w 3600000"/>
              <a:gd name="connsiteY1746" fmla="*/ 1184019 h 2787466"/>
              <a:gd name="connsiteX1747" fmla="*/ 2524228 w 3600000"/>
              <a:gd name="connsiteY1747" fmla="*/ 1182112 h 2787466"/>
              <a:gd name="connsiteX1748" fmla="*/ 2525010 w 3600000"/>
              <a:gd name="connsiteY1748" fmla="*/ 1178349 h 2787466"/>
              <a:gd name="connsiteX1749" fmla="*/ 2523884 w 3600000"/>
              <a:gd name="connsiteY1749" fmla="*/ 1178700 h 2787466"/>
              <a:gd name="connsiteX1750" fmla="*/ 2516726 w 3600000"/>
              <a:gd name="connsiteY1750" fmla="*/ 1179065 h 2787466"/>
              <a:gd name="connsiteX1751" fmla="*/ 2523114 w 3600000"/>
              <a:gd name="connsiteY1751" fmla="*/ 1177179 h 2787466"/>
              <a:gd name="connsiteX1752" fmla="*/ 2517963 w 3600000"/>
              <a:gd name="connsiteY1752" fmla="*/ 1171204 h 2787466"/>
              <a:gd name="connsiteX1753" fmla="*/ 2523114 w 3600000"/>
              <a:gd name="connsiteY1753" fmla="*/ 1174192 h 2787466"/>
              <a:gd name="connsiteX1754" fmla="*/ 2520642 w 3600000"/>
              <a:gd name="connsiteY1754" fmla="*/ 1167117 h 2787466"/>
              <a:gd name="connsiteX1755" fmla="*/ 2532388 w 3600000"/>
              <a:gd name="connsiteY1755" fmla="*/ 1157212 h 2787466"/>
              <a:gd name="connsiteX1756" fmla="*/ 2525252 w 3600000"/>
              <a:gd name="connsiteY1756" fmla="*/ 1156347 h 2787466"/>
              <a:gd name="connsiteX1757" fmla="*/ 2595946 w 3600000"/>
              <a:gd name="connsiteY1757" fmla="*/ 1155862 h 2787466"/>
              <a:gd name="connsiteX1758" fmla="*/ 2604998 w 3600000"/>
              <a:gd name="connsiteY1758" fmla="*/ 1155942 h 2787466"/>
              <a:gd name="connsiteX1759" fmla="*/ 2602390 w 3600000"/>
              <a:gd name="connsiteY1759" fmla="*/ 1161061 h 2787466"/>
              <a:gd name="connsiteX1760" fmla="*/ 2589752 w 3600000"/>
              <a:gd name="connsiteY1760" fmla="*/ 1161061 h 2787466"/>
              <a:gd name="connsiteX1761" fmla="*/ 2595946 w 3600000"/>
              <a:gd name="connsiteY1761" fmla="*/ 1155862 h 2787466"/>
              <a:gd name="connsiteX1762" fmla="*/ 2904387 w 3600000"/>
              <a:gd name="connsiteY1762" fmla="*/ 1151041 h 2787466"/>
              <a:gd name="connsiteX1763" fmla="*/ 2899596 w 3600000"/>
              <a:gd name="connsiteY1763" fmla="*/ 1155324 h 2787466"/>
              <a:gd name="connsiteX1764" fmla="*/ 2915051 w 3600000"/>
              <a:gd name="connsiteY1764" fmla="*/ 1151237 h 2787466"/>
              <a:gd name="connsiteX1765" fmla="*/ 2904387 w 3600000"/>
              <a:gd name="connsiteY1765" fmla="*/ 1151041 h 2787466"/>
              <a:gd name="connsiteX1766" fmla="*/ 2615054 w 3600000"/>
              <a:gd name="connsiteY1766" fmla="*/ 1141342 h 2787466"/>
              <a:gd name="connsiteX1767" fmla="*/ 2616282 w 3600000"/>
              <a:gd name="connsiteY1767" fmla="*/ 1145168 h 2787466"/>
              <a:gd name="connsiteX1768" fmla="*/ 2603381 w 3600000"/>
              <a:gd name="connsiteY1768" fmla="*/ 1148076 h 2787466"/>
              <a:gd name="connsiteX1769" fmla="*/ 2613825 w 3600000"/>
              <a:gd name="connsiteY1769" fmla="*/ 1142260 h 2787466"/>
              <a:gd name="connsiteX1770" fmla="*/ 2615054 w 3600000"/>
              <a:gd name="connsiteY1770" fmla="*/ 1141342 h 2787466"/>
              <a:gd name="connsiteX1771" fmla="*/ 2927815 w 3600000"/>
              <a:gd name="connsiteY1771" fmla="*/ 1140770 h 2787466"/>
              <a:gd name="connsiteX1772" fmla="*/ 2928041 w 3600000"/>
              <a:gd name="connsiteY1772" fmla="*/ 1141313 h 2787466"/>
              <a:gd name="connsiteX1773" fmla="*/ 2929511 w 3600000"/>
              <a:gd name="connsiteY1773" fmla="*/ 1141056 h 2787466"/>
              <a:gd name="connsiteX1774" fmla="*/ 3003660 w 3600000"/>
              <a:gd name="connsiteY1774" fmla="*/ 1137402 h 2787466"/>
              <a:gd name="connsiteX1775" fmla="*/ 2995829 w 3600000"/>
              <a:gd name="connsiteY1775" fmla="*/ 1140388 h 2787466"/>
              <a:gd name="connsiteX1776" fmla="*/ 2996035 w 3600000"/>
              <a:gd name="connsiteY1776" fmla="*/ 1145204 h 2787466"/>
              <a:gd name="connsiteX1777" fmla="*/ 3001069 w 3600000"/>
              <a:gd name="connsiteY1777" fmla="*/ 1146336 h 2787466"/>
              <a:gd name="connsiteX1778" fmla="*/ 3001262 w 3600000"/>
              <a:gd name="connsiteY1778" fmla="*/ 1146093 h 2787466"/>
              <a:gd name="connsiteX1779" fmla="*/ 2964366 w 3600000"/>
              <a:gd name="connsiteY1779" fmla="*/ 1136957 h 2787466"/>
              <a:gd name="connsiteX1780" fmla="*/ 2962961 w 3600000"/>
              <a:gd name="connsiteY1780" fmla="*/ 1146012 h 2787466"/>
              <a:gd name="connsiteX1781" fmla="*/ 2964366 w 3600000"/>
              <a:gd name="connsiteY1781" fmla="*/ 1136957 h 2787466"/>
              <a:gd name="connsiteX1782" fmla="*/ 2620949 w 3600000"/>
              <a:gd name="connsiteY1782" fmla="*/ 1136957 h 2787466"/>
              <a:gd name="connsiteX1783" fmla="*/ 2628622 w 3600000"/>
              <a:gd name="connsiteY1783" fmla="*/ 1138960 h 2787466"/>
              <a:gd name="connsiteX1784" fmla="*/ 2619738 w 3600000"/>
              <a:gd name="connsiteY1784" fmla="*/ 1143735 h 2787466"/>
              <a:gd name="connsiteX1785" fmla="*/ 2620949 w 3600000"/>
              <a:gd name="connsiteY1785" fmla="*/ 1136957 h 2787466"/>
              <a:gd name="connsiteX1786" fmla="*/ 2928264 w 3600000"/>
              <a:gd name="connsiteY1786" fmla="*/ 1129384 h 2787466"/>
              <a:gd name="connsiteX1787" fmla="*/ 2928240 w 3600000"/>
              <a:gd name="connsiteY1787" fmla="*/ 1129395 h 2787466"/>
              <a:gd name="connsiteX1788" fmla="*/ 2928303 w 3600000"/>
              <a:gd name="connsiteY1788" fmla="*/ 1131018 h 2787466"/>
              <a:gd name="connsiteX1789" fmla="*/ 2930068 w 3600000"/>
              <a:gd name="connsiteY1789" fmla="*/ 1129892 h 2787466"/>
              <a:gd name="connsiteX1790" fmla="*/ 2930506 w 3600000"/>
              <a:gd name="connsiteY1790" fmla="*/ 1129527 h 2787466"/>
              <a:gd name="connsiteX1791" fmla="*/ 2966934 w 3600000"/>
              <a:gd name="connsiteY1791" fmla="*/ 1126557 h 2787466"/>
              <a:gd name="connsiteX1792" fmla="*/ 2973580 w 3600000"/>
              <a:gd name="connsiteY1792" fmla="*/ 1126557 h 2787466"/>
              <a:gd name="connsiteX1793" fmla="*/ 2968388 w 3600000"/>
              <a:gd name="connsiteY1793" fmla="*/ 1134717 h 2787466"/>
              <a:gd name="connsiteX1794" fmla="*/ 2960495 w 3600000"/>
              <a:gd name="connsiteY1794" fmla="*/ 1130717 h 2787466"/>
              <a:gd name="connsiteX1795" fmla="*/ 2966934 w 3600000"/>
              <a:gd name="connsiteY1795" fmla="*/ 1126557 h 2787466"/>
              <a:gd name="connsiteX1796" fmla="*/ 2944714 w 3600000"/>
              <a:gd name="connsiteY1796" fmla="*/ 1121996 h 2787466"/>
              <a:gd name="connsiteX1797" fmla="*/ 2942725 w 3600000"/>
              <a:gd name="connsiteY1797" fmla="*/ 1122840 h 2787466"/>
              <a:gd name="connsiteX1798" fmla="*/ 2941172 w 3600000"/>
              <a:gd name="connsiteY1798" fmla="*/ 1128244 h 2787466"/>
              <a:gd name="connsiteX1799" fmla="*/ 2942884 w 3600000"/>
              <a:gd name="connsiteY1799" fmla="*/ 1128516 h 2787466"/>
              <a:gd name="connsiteX1800" fmla="*/ 2944227 w 3600000"/>
              <a:gd name="connsiteY1800" fmla="*/ 1123920 h 2787466"/>
              <a:gd name="connsiteX1801" fmla="*/ 2999410 w 3600000"/>
              <a:gd name="connsiteY1801" fmla="*/ 1115807 h 2787466"/>
              <a:gd name="connsiteX1802" fmla="*/ 2993043 w 3600000"/>
              <a:gd name="connsiteY1802" fmla="*/ 1117698 h 2787466"/>
              <a:gd name="connsiteX1803" fmla="*/ 2995893 w 3600000"/>
              <a:gd name="connsiteY1803" fmla="*/ 1121127 h 2787466"/>
              <a:gd name="connsiteX1804" fmla="*/ 2996051 w 3600000"/>
              <a:gd name="connsiteY1804" fmla="*/ 1121384 h 2787466"/>
              <a:gd name="connsiteX1805" fmla="*/ 3002783 w 3600000"/>
              <a:gd name="connsiteY1805" fmla="*/ 1117229 h 2787466"/>
              <a:gd name="connsiteX1806" fmla="*/ 2708615 w 3600000"/>
              <a:gd name="connsiteY1806" fmla="*/ 1112937 h 2787466"/>
              <a:gd name="connsiteX1807" fmla="*/ 2714381 w 3600000"/>
              <a:gd name="connsiteY1807" fmla="*/ 1114242 h 2787466"/>
              <a:gd name="connsiteX1808" fmla="*/ 2707880 w 3600000"/>
              <a:gd name="connsiteY1808" fmla="*/ 1118483 h 2787466"/>
              <a:gd name="connsiteX1809" fmla="*/ 2708615 w 3600000"/>
              <a:gd name="connsiteY1809" fmla="*/ 1112937 h 2787466"/>
              <a:gd name="connsiteX1810" fmla="*/ 2680660 w 3600000"/>
              <a:gd name="connsiteY1810" fmla="*/ 1106453 h 2787466"/>
              <a:gd name="connsiteX1811" fmla="*/ 2688846 w 3600000"/>
              <a:gd name="connsiteY1811" fmla="*/ 1112345 h 2787466"/>
              <a:gd name="connsiteX1812" fmla="*/ 2694736 w 3600000"/>
              <a:gd name="connsiteY1812" fmla="*/ 1109226 h 2787466"/>
              <a:gd name="connsiteX1813" fmla="*/ 2677894 w 3600000"/>
              <a:gd name="connsiteY1813" fmla="*/ 1117161 h 2787466"/>
              <a:gd name="connsiteX1814" fmla="*/ 2684654 w 3600000"/>
              <a:gd name="connsiteY1814" fmla="*/ 1114424 h 2787466"/>
              <a:gd name="connsiteX1815" fmla="*/ 2683315 w 3600000"/>
              <a:gd name="connsiteY1815" fmla="*/ 1112407 h 2787466"/>
              <a:gd name="connsiteX1816" fmla="*/ 2658812 w 3600000"/>
              <a:gd name="connsiteY1816" fmla="*/ 1129174 h 2787466"/>
              <a:gd name="connsiteX1817" fmla="*/ 2658940 w 3600000"/>
              <a:gd name="connsiteY1817" fmla="*/ 1128854 h 2787466"/>
              <a:gd name="connsiteX1818" fmla="*/ 2658230 w 3600000"/>
              <a:gd name="connsiteY1818" fmla="*/ 1129711 h 2787466"/>
              <a:gd name="connsiteX1819" fmla="*/ 2647907 w 3600000"/>
              <a:gd name="connsiteY1819" fmla="*/ 1134723 h 2787466"/>
              <a:gd name="connsiteX1820" fmla="*/ 2654798 w 3600000"/>
              <a:gd name="connsiteY1820" fmla="*/ 1128621 h 2787466"/>
              <a:gd name="connsiteX1821" fmla="*/ 2660444 w 3600000"/>
              <a:gd name="connsiteY1821" fmla="*/ 1125120 h 2787466"/>
              <a:gd name="connsiteX1822" fmla="*/ 2661651 w 3600000"/>
              <a:gd name="connsiteY1822" fmla="*/ 1122120 h 2787466"/>
              <a:gd name="connsiteX1823" fmla="*/ 2680660 w 3600000"/>
              <a:gd name="connsiteY1823" fmla="*/ 1106453 h 2787466"/>
              <a:gd name="connsiteX1824" fmla="*/ 30238 w 3600000"/>
              <a:gd name="connsiteY1824" fmla="*/ 1105760 h 2787466"/>
              <a:gd name="connsiteX1825" fmla="*/ 37962 w 3600000"/>
              <a:gd name="connsiteY1825" fmla="*/ 1110567 h 2787466"/>
              <a:gd name="connsiteX1826" fmla="*/ 21295 w 3600000"/>
              <a:gd name="connsiteY1826" fmla="*/ 1126229 h 2787466"/>
              <a:gd name="connsiteX1827" fmla="*/ 13571 w 3600000"/>
              <a:gd name="connsiteY1827" fmla="*/ 1129176 h 2787466"/>
              <a:gd name="connsiteX1828" fmla="*/ 18652 w 3600000"/>
              <a:gd name="connsiteY1828" fmla="*/ 1115529 h 2787466"/>
              <a:gd name="connsiteX1829" fmla="*/ 30238 w 3600000"/>
              <a:gd name="connsiteY1829" fmla="*/ 1105760 h 2787466"/>
              <a:gd name="connsiteX1830" fmla="*/ 175697 w 3600000"/>
              <a:gd name="connsiteY1830" fmla="*/ 1102728 h 2787466"/>
              <a:gd name="connsiteX1831" fmla="*/ 157356 w 3600000"/>
              <a:gd name="connsiteY1831" fmla="*/ 1118605 h 2787466"/>
              <a:gd name="connsiteX1832" fmla="*/ 147051 w 3600000"/>
              <a:gd name="connsiteY1832" fmla="*/ 1115618 h 2787466"/>
              <a:gd name="connsiteX1833" fmla="*/ 136541 w 3600000"/>
              <a:gd name="connsiteY1833" fmla="*/ 1146428 h 2787466"/>
              <a:gd name="connsiteX1834" fmla="*/ 144372 w 3600000"/>
              <a:gd name="connsiteY1834" fmla="*/ 1148314 h 2787466"/>
              <a:gd name="connsiteX1835" fmla="*/ 160034 w 3600000"/>
              <a:gd name="connsiteY1835" fmla="*/ 1138411 h 2787466"/>
              <a:gd name="connsiteX1836" fmla="*/ 175697 w 3600000"/>
              <a:gd name="connsiteY1836" fmla="*/ 1102728 h 2787466"/>
              <a:gd name="connsiteX1837" fmla="*/ 2708890 w 3600000"/>
              <a:gd name="connsiteY1837" fmla="*/ 1102238 h 2787466"/>
              <a:gd name="connsiteX1838" fmla="*/ 2698793 w 3600000"/>
              <a:gd name="connsiteY1838" fmla="*/ 1107068 h 2787466"/>
              <a:gd name="connsiteX1839" fmla="*/ 2708890 w 3600000"/>
              <a:gd name="connsiteY1839" fmla="*/ 1102238 h 2787466"/>
              <a:gd name="connsiteX1840" fmla="*/ 2744620 w 3600000"/>
              <a:gd name="connsiteY1840" fmla="*/ 1097441 h 2787466"/>
              <a:gd name="connsiteX1841" fmla="*/ 2740749 w 3600000"/>
              <a:gd name="connsiteY1841" fmla="*/ 1104219 h 2787466"/>
              <a:gd name="connsiteX1842" fmla="*/ 2744620 w 3600000"/>
              <a:gd name="connsiteY1842" fmla="*/ 1097441 h 2787466"/>
              <a:gd name="connsiteX1843" fmla="*/ 3370763 w 3600000"/>
              <a:gd name="connsiteY1843" fmla="*/ 1093281 h 2787466"/>
              <a:gd name="connsiteX1844" fmla="*/ 3362939 w 3600000"/>
              <a:gd name="connsiteY1844" fmla="*/ 1102247 h 2787466"/>
              <a:gd name="connsiteX1845" fmla="*/ 3360467 w 3600000"/>
              <a:gd name="connsiteY1845" fmla="*/ 1111213 h 2787466"/>
              <a:gd name="connsiteX1846" fmla="*/ 3380030 w 3600000"/>
              <a:gd name="connsiteY1846" fmla="*/ 1105236 h 2787466"/>
              <a:gd name="connsiteX1847" fmla="*/ 3382501 w 3600000"/>
              <a:gd name="connsiteY1847" fmla="*/ 1112157 h 2787466"/>
              <a:gd name="connsiteX1848" fmla="*/ 3365615 w 3600000"/>
              <a:gd name="connsiteY1848" fmla="*/ 1114045 h 2787466"/>
              <a:gd name="connsiteX1849" fmla="*/ 3364380 w 3600000"/>
              <a:gd name="connsiteY1849" fmla="*/ 1141887 h 2787466"/>
              <a:gd name="connsiteX1850" fmla="*/ 3339670 w 3600000"/>
              <a:gd name="connsiteY1850" fmla="*/ 1173819 h 2787466"/>
              <a:gd name="connsiteX1851" fmla="*/ 3321343 w 3600000"/>
              <a:gd name="connsiteY1851" fmla="*/ 1206538 h 2787466"/>
              <a:gd name="connsiteX1852" fmla="*/ 3301781 w 3600000"/>
              <a:gd name="connsiteY1852" fmla="*/ 1246336 h 2787466"/>
              <a:gd name="connsiteX1853" fmla="*/ 3305692 w 3600000"/>
              <a:gd name="connsiteY1853" fmla="*/ 1217549 h 2787466"/>
              <a:gd name="connsiteX1854" fmla="*/ 3317430 w 3600000"/>
              <a:gd name="connsiteY1854" fmla="*/ 1182785 h 2787466"/>
              <a:gd name="connsiteX1855" fmla="*/ 3327134 w 3600000"/>
              <a:gd name="connsiteY1855" fmla="*/ 1165089 h 2787466"/>
              <a:gd name="connsiteX1856" fmla="*/ 3331389 w 3600000"/>
              <a:gd name="connsiteY1856" fmla="*/ 1155658 h 2787466"/>
              <a:gd name="connsiteX1857" fmla="*/ 3331437 w 3600000"/>
              <a:gd name="connsiteY1857" fmla="*/ 1152304 h 2787466"/>
              <a:gd name="connsiteX1858" fmla="*/ 3337996 w 3600000"/>
              <a:gd name="connsiteY1858" fmla="*/ 1141810 h 2787466"/>
              <a:gd name="connsiteX1859" fmla="*/ 3341031 w 3600000"/>
              <a:gd name="connsiteY1859" fmla="*/ 1147023 h 2787466"/>
              <a:gd name="connsiteX1860" fmla="*/ 3342697 w 3600000"/>
              <a:gd name="connsiteY1860" fmla="*/ 1147354 h 2787466"/>
              <a:gd name="connsiteX1861" fmla="*/ 3349966 w 3600000"/>
              <a:gd name="connsiteY1861" fmla="*/ 1134966 h 2787466"/>
              <a:gd name="connsiteX1862" fmla="*/ 3340905 w 3600000"/>
              <a:gd name="connsiteY1862" fmla="*/ 1139056 h 2787466"/>
              <a:gd name="connsiteX1863" fmla="*/ 3357791 w 3600000"/>
              <a:gd name="connsiteY1863" fmla="*/ 1094225 h 2787466"/>
              <a:gd name="connsiteX1864" fmla="*/ 3365615 w 3600000"/>
              <a:gd name="connsiteY1864" fmla="*/ 1098157 h 2787466"/>
              <a:gd name="connsiteX1865" fmla="*/ 3370763 w 3600000"/>
              <a:gd name="connsiteY1865" fmla="*/ 1093281 h 2787466"/>
              <a:gd name="connsiteX1866" fmla="*/ 2755892 w 3600000"/>
              <a:gd name="connsiteY1866" fmla="*/ 1093044 h 2787466"/>
              <a:gd name="connsiteX1867" fmla="*/ 2758580 w 3600000"/>
              <a:gd name="connsiteY1867" fmla="*/ 1093221 h 2787466"/>
              <a:gd name="connsiteX1868" fmla="*/ 2749428 w 3600000"/>
              <a:gd name="connsiteY1868" fmla="*/ 1100058 h 2787466"/>
              <a:gd name="connsiteX1869" fmla="*/ 2755892 w 3600000"/>
              <a:gd name="connsiteY1869" fmla="*/ 1093044 h 2787466"/>
              <a:gd name="connsiteX1870" fmla="*/ 2746747 w 3600000"/>
              <a:gd name="connsiteY1870" fmla="*/ 1084269 h 2787466"/>
              <a:gd name="connsiteX1871" fmla="*/ 2735141 w 3600000"/>
              <a:gd name="connsiteY1871" fmla="*/ 1091047 h 2787466"/>
              <a:gd name="connsiteX1872" fmla="*/ 2746747 w 3600000"/>
              <a:gd name="connsiteY1872" fmla="*/ 1084269 h 2787466"/>
              <a:gd name="connsiteX1873" fmla="*/ 3370662 w 3600000"/>
              <a:gd name="connsiteY1873" fmla="*/ 1083496 h 2787466"/>
              <a:gd name="connsiteX1874" fmla="*/ 3379191 w 3600000"/>
              <a:gd name="connsiteY1874" fmla="*/ 1086468 h 2787466"/>
              <a:gd name="connsiteX1875" fmla="*/ 3362134 w 3600000"/>
              <a:gd name="connsiteY1875" fmla="*/ 1086468 h 2787466"/>
              <a:gd name="connsiteX1876" fmla="*/ 3370662 w 3600000"/>
              <a:gd name="connsiteY1876" fmla="*/ 1083496 h 2787466"/>
              <a:gd name="connsiteX1877" fmla="*/ 3050301 w 3600000"/>
              <a:gd name="connsiteY1877" fmla="*/ 1082390 h 2787466"/>
              <a:gd name="connsiteX1878" fmla="*/ 3046233 w 3600000"/>
              <a:gd name="connsiteY1878" fmla="*/ 1085858 h 2787466"/>
              <a:gd name="connsiteX1879" fmla="*/ 3031858 w 3600000"/>
              <a:gd name="connsiteY1879" fmla="*/ 1089956 h 2787466"/>
              <a:gd name="connsiteX1880" fmla="*/ 3020358 w 3600000"/>
              <a:gd name="connsiteY1880" fmla="*/ 1098783 h 2787466"/>
              <a:gd name="connsiteX1881" fmla="*/ 3024054 w 3600000"/>
              <a:gd name="connsiteY1881" fmla="*/ 1104773 h 2787466"/>
              <a:gd name="connsiteX1882" fmla="*/ 3016332 w 3600000"/>
              <a:gd name="connsiteY1882" fmla="*/ 1108298 h 2787466"/>
              <a:gd name="connsiteX1883" fmla="*/ 3018084 w 3600000"/>
              <a:gd name="connsiteY1883" fmla="*/ 1111617 h 2787466"/>
              <a:gd name="connsiteX1884" fmla="*/ 3033745 w 3600000"/>
              <a:gd name="connsiteY1884" fmla="*/ 1105642 h 2787466"/>
              <a:gd name="connsiteX1885" fmla="*/ 3025915 w 3600000"/>
              <a:gd name="connsiteY1885" fmla="*/ 1113503 h 2787466"/>
              <a:gd name="connsiteX1886" fmla="*/ 3042811 w 3600000"/>
              <a:gd name="connsiteY1886" fmla="*/ 1103598 h 2787466"/>
              <a:gd name="connsiteX1887" fmla="*/ 3042811 w 3600000"/>
              <a:gd name="connsiteY1887" fmla="*/ 1107529 h 2787466"/>
              <a:gd name="connsiteX1888" fmla="*/ 3045285 w 3600000"/>
              <a:gd name="connsiteY1888" fmla="*/ 1110516 h 2787466"/>
              <a:gd name="connsiteX1889" fmla="*/ 3034982 w 3600000"/>
              <a:gd name="connsiteY1889" fmla="*/ 1114447 h 2787466"/>
              <a:gd name="connsiteX1890" fmla="*/ 3036218 w 3600000"/>
              <a:gd name="connsiteY1890" fmla="*/ 1119478 h 2787466"/>
              <a:gd name="connsiteX1891" fmla="*/ 3048202 w 3600000"/>
              <a:gd name="connsiteY1891" fmla="*/ 1111536 h 2787466"/>
              <a:gd name="connsiteX1892" fmla="*/ 3048511 w 3600000"/>
              <a:gd name="connsiteY1892" fmla="*/ 1109477 h 2787466"/>
              <a:gd name="connsiteX1893" fmla="*/ 3047842 w 3600000"/>
              <a:gd name="connsiteY1893" fmla="*/ 1092813 h 2787466"/>
              <a:gd name="connsiteX1894" fmla="*/ 3156148 w 3600000"/>
              <a:gd name="connsiteY1894" fmla="*/ 1080801 h 2787466"/>
              <a:gd name="connsiteX1895" fmla="*/ 3145355 w 3600000"/>
              <a:gd name="connsiteY1895" fmla="*/ 1089330 h 2787466"/>
              <a:gd name="connsiteX1896" fmla="*/ 3138535 w 3600000"/>
              <a:gd name="connsiteY1896" fmla="*/ 1096502 h 2787466"/>
              <a:gd name="connsiteX1897" fmla="*/ 3138646 w 3600000"/>
              <a:gd name="connsiteY1897" fmla="*/ 1096667 h 2787466"/>
              <a:gd name="connsiteX1898" fmla="*/ 3138641 w 3600000"/>
              <a:gd name="connsiteY1898" fmla="*/ 1097460 h 2787466"/>
              <a:gd name="connsiteX1899" fmla="*/ 3149761 w 3600000"/>
              <a:gd name="connsiteY1899" fmla="*/ 1091511 h 2787466"/>
              <a:gd name="connsiteX1900" fmla="*/ 3156148 w 3600000"/>
              <a:gd name="connsiteY1900" fmla="*/ 1080801 h 2787466"/>
              <a:gd name="connsiteX1901" fmla="*/ 2798006 w 3600000"/>
              <a:gd name="connsiteY1901" fmla="*/ 1079700 h 2787466"/>
              <a:gd name="connsiteX1902" fmla="*/ 2788939 w 3600000"/>
              <a:gd name="connsiteY1902" fmla="*/ 1091649 h 2787466"/>
              <a:gd name="connsiteX1903" fmla="*/ 2791946 w 3600000"/>
              <a:gd name="connsiteY1903" fmla="*/ 1091525 h 2787466"/>
              <a:gd name="connsiteX1904" fmla="*/ 2793013 w 3600000"/>
              <a:gd name="connsiteY1904" fmla="*/ 1088428 h 2787466"/>
              <a:gd name="connsiteX1905" fmla="*/ 2794984 w 3600000"/>
              <a:gd name="connsiteY1905" fmla="*/ 1091399 h 2787466"/>
              <a:gd name="connsiteX1906" fmla="*/ 2794999 w 3600000"/>
              <a:gd name="connsiteY1906" fmla="*/ 1091398 h 2787466"/>
              <a:gd name="connsiteX1907" fmla="*/ 2805837 w 3600000"/>
              <a:gd name="connsiteY1907" fmla="*/ 1082687 h 2787466"/>
              <a:gd name="connsiteX1908" fmla="*/ 2798006 w 3600000"/>
              <a:gd name="connsiteY1908" fmla="*/ 1079700 h 2787466"/>
              <a:gd name="connsiteX1909" fmla="*/ 3211190 w 3600000"/>
              <a:gd name="connsiteY1909" fmla="*/ 1075950 h 2787466"/>
              <a:gd name="connsiteX1910" fmla="*/ 3204931 w 3600000"/>
              <a:gd name="connsiteY1910" fmla="*/ 1097975 h 2787466"/>
              <a:gd name="connsiteX1911" fmla="*/ 3211190 w 3600000"/>
              <a:gd name="connsiteY1911" fmla="*/ 1075950 h 2787466"/>
              <a:gd name="connsiteX1912" fmla="*/ 3029358 w 3600000"/>
              <a:gd name="connsiteY1912" fmla="*/ 1064857 h 2787466"/>
              <a:gd name="connsiteX1913" fmla="*/ 3034481 w 3600000"/>
              <a:gd name="connsiteY1913" fmla="*/ 1077870 h 2787466"/>
              <a:gd name="connsiteX1914" fmla="*/ 3029358 w 3600000"/>
              <a:gd name="connsiteY1914" fmla="*/ 1064857 h 2787466"/>
              <a:gd name="connsiteX1915" fmla="*/ 3373435 w 3600000"/>
              <a:gd name="connsiteY1915" fmla="*/ 1063471 h 2787466"/>
              <a:gd name="connsiteX1916" fmla="*/ 3360316 w 3600000"/>
              <a:gd name="connsiteY1916" fmla="*/ 1071438 h 2787466"/>
              <a:gd name="connsiteX1917" fmla="*/ 3373435 w 3600000"/>
              <a:gd name="connsiteY1917" fmla="*/ 1063471 h 2787466"/>
              <a:gd name="connsiteX1918" fmla="*/ 2824896 w 3600000"/>
              <a:gd name="connsiteY1918" fmla="*/ 1060936 h 2787466"/>
              <a:gd name="connsiteX1919" fmla="*/ 2822234 w 3600000"/>
              <a:gd name="connsiteY1919" fmla="*/ 1068861 h 2787466"/>
              <a:gd name="connsiteX1920" fmla="*/ 2811790 w 3600000"/>
              <a:gd name="connsiteY1920" fmla="*/ 1068861 h 2787466"/>
              <a:gd name="connsiteX1921" fmla="*/ 2814452 w 3600000"/>
              <a:gd name="connsiteY1921" fmla="*/ 1062024 h 2787466"/>
              <a:gd name="connsiteX1922" fmla="*/ 2821005 w 3600000"/>
              <a:gd name="connsiteY1922" fmla="*/ 1063888 h 2787466"/>
              <a:gd name="connsiteX1923" fmla="*/ 2824896 w 3600000"/>
              <a:gd name="connsiteY1923" fmla="*/ 1060936 h 2787466"/>
              <a:gd name="connsiteX1924" fmla="*/ 143367 w 3600000"/>
              <a:gd name="connsiteY1924" fmla="*/ 1059545 h 2787466"/>
              <a:gd name="connsiteX1925" fmla="*/ 135586 w 3600000"/>
              <a:gd name="connsiteY1925" fmla="*/ 1076484 h 2787466"/>
              <a:gd name="connsiteX1926" fmla="*/ 143367 w 3600000"/>
              <a:gd name="connsiteY1926" fmla="*/ 1059545 h 2787466"/>
              <a:gd name="connsiteX1927" fmla="*/ 3390971 w 3600000"/>
              <a:gd name="connsiteY1927" fmla="*/ 1053071 h 2787466"/>
              <a:gd name="connsiteX1928" fmla="*/ 3384686 w 3600000"/>
              <a:gd name="connsiteY1928" fmla="*/ 1103523 h 2787466"/>
              <a:gd name="connsiteX1929" fmla="*/ 3390971 w 3600000"/>
              <a:gd name="connsiteY1929" fmla="*/ 1053071 h 2787466"/>
              <a:gd name="connsiteX1930" fmla="*/ 3456430 w 3600000"/>
              <a:gd name="connsiteY1930" fmla="*/ 1049605 h 2787466"/>
              <a:gd name="connsiteX1931" fmla="*/ 3433011 w 3600000"/>
              <a:gd name="connsiteY1931" fmla="*/ 1082032 h 2787466"/>
              <a:gd name="connsiteX1932" fmla="*/ 3456430 w 3600000"/>
              <a:gd name="connsiteY1932" fmla="*/ 1049605 h 2787466"/>
              <a:gd name="connsiteX1933" fmla="*/ 2850402 w 3600000"/>
              <a:gd name="connsiteY1933" fmla="*/ 1048792 h 2787466"/>
              <a:gd name="connsiteX1934" fmla="*/ 2849755 w 3600000"/>
              <a:gd name="connsiteY1934" fmla="*/ 1049277 h 2787466"/>
              <a:gd name="connsiteX1935" fmla="*/ 2848548 w 3600000"/>
              <a:gd name="connsiteY1935" fmla="*/ 1051717 h 2787466"/>
              <a:gd name="connsiteX1936" fmla="*/ 2849975 w 3600000"/>
              <a:gd name="connsiteY1936" fmla="*/ 1052885 h 2787466"/>
              <a:gd name="connsiteX1937" fmla="*/ 2851457 w 3600000"/>
              <a:gd name="connsiteY1937" fmla="*/ 1052278 h 2787466"/>
              <a:gd name="connsiteX1938" fmla="*/ 3344934 w 3600000"/>
              <a:gd name="connsiteY1938" fmla="*/ 1046832 h 2787466"/>
              <a:gd name="connsiteX1939" fmla="*/ 3342230 w 3600000"/>
              <a:gd name="connsiteY1939" fmla="*/ 1059845 h 2787466"/>
              <a:gd name="connsiteX1940" fmla="*/ 3344934 w 3600000"/>
              <a:gd name="connsiteY1940" fmla="*/ 1046832 h 2787466"/>
              <a:gd name="connsiteX1941" fmla="*/ 2830849 w 3600000"/>
              <a:gd name="connsiteY1941" fmla="*/ 1045849 h 2787466"/>
              <a:gd name="connsiteX1942" fmla="*/ 2832097 w 3600000"/>
              <a:gd name="connsiteY1942" fmla="*/ 1058702 h 2787466"/>
              <a:gd name="connsiteX1943" fmla="*/ 2825648 w 3600000"/>
              <a:gd name="connsiteY1943" fmla="*/ 1056664 h 2787466"/>
              <a:gd name="connsiteX1944" fmla="*/ 2825648 w 3600000"/>
              <a:gd name="connsiteY1944" fmla="*/ 1048827 h 2787466"/>
              <a:gd name="connsiteX1945" fmla="*/ 2832097 w 3600000"/>
              <a:gd name="connsiteY1945" fmla="*/ 1047730 h 2787466"/>
              <a:gd name="connsiteX1946" fmla="*/ 2830849 w 3600000"/>
              <a:gd name="connsiteY1946" fmla="*/ 1045849 h 2787466"/>
              <a:gd name="connsiteX1947" fmla="*/ 3038897 w 3600000"/>
              <a:gd name="connsiteY1947" fmla="*/ 1044954 h 2787466"/>
              <a:gd name="connsiteX1948" fmla="*/ 3034982 w 3600000"/>
              <a:gd name="connsiteY1948" fmla="*/ 1049985 h 2787466"/>
              <a:gd name="connsiteX1949" fmla="*/ 3037660 w 3600000"/>
              <a:gd name="connsiteY1949" fmla="*/ 1060833 h 2787466"/>
              <a:gd name="connsiteX1950" fmla="*/ 3035411 w 3600000"/>
              <a:gd name="connsiteY1950" fmla="*/ 1060655 h 2787466"/>
              <a:gd name="connsiteX1951" fmla="*/ 3034797 w 3600000"/>
              <a:gd name="connsiteY1951" fmla="*/ 1062617 h 2787466"/>
              <a:gd name="connsiteX1952" fmla="*/ 3029555 w 3600000"/>
              <a:gd name="connsiteY1952" fmla="*/ 1054458 h 2787466"/>
              <a:gd name="connsiteX1953" fmla="*/ 3030436 w 3600000"/>
              <a:gd name="connsiteY1953" fmla="*/ 1054952 h 2787466"/>
              <a:gd name="connsiteX1954" fmla="*/ 3030271 w 3600000"/>
              <a:gd name="connsiteY1954" fmla="*/ 1054487 h 2787466"/>
              <a:gd name="connsiteX1955" fmla="*/ 3027426 w 3600000"/>
              <a:gd name="connsiteY1955" fmla="*/ 1053106 h 2787466"/>
              <a:gd name="connsiteX1956" fmla="*/ 3025797 w 3600000"/>
              <a:gd name="connsiteY1956" fmla="*/ 1068917 h 2787466"/>
              <a:gd name="connsiteX1957" fmla="*/ 3011091 w 3600000"/>
              <a:gd name="connsiteY1957" fmla="*/ 1077466 h 2787466"/>
              <a:gd name="connsiteX1958" fmla="*/ 2998526 w 3600000"/>
              <a:gd name="connsiteY1958" fmla="*/ 1086742 h 2787466"/>
              <a:gd name="connsiteX1959" fmla="*/ 2998508 w 3600000"/>
              <a:gd name="connsiteY1959" fmla="*/ 1087719 h 2787466"/>
              <a:gd name="connsiteX1960" fmla="*/ 3015406 w 3600000"/>
              <a:gd name="connsiteY1960" fmla="*/ 1087719 h 2787466"/>
              <a:gd name="connsiteX1961" fmla="*/ 2985526 w 3600000"/>
              <a:gd name="connsiteY1961" fmla="*/ 1111617 h 2787466"/>
              <a:gd name="connsiteX1962" fmla="*/ 2989442 w 3600000"/>
              <a:gd name="connsiteY1962" fmla="*/ 1113503 h 2787466"/>
              <a:gd name="connsiteX1963" fmla="*/ 2981148 w 3600000"/>
              <a:gd name="connsiteY1963" fmla="*/ 1109926 h 2787466"/>
              <a:gd name="connsiteX1964" fmla="*/ 2979212 w 3600000"/>
              <a:gd name="connsiteY1964" fmla="*/ 1106760 h 2787466"/>
              <a:gd name="connsiteX1965" fmla="*/ 2975543 w 3600000"/>
              <a:gd name="connsiteY1965" fmla="*/ 1113587 h 2787466"/>
              <a:gd name="connsiteX1966" fmla="*/ 2975543 w 3600000"/>
              <a:gd name="connsiteY1966" fmla="*/ 1106673 h 2787466"/>
              <a:gd name="connsiteX1967" fmla="*/ 2973411 w 3600000"/>
              <a:gd name="connsiteY1967" fmla="*/ 1107076 h 2787466"/>
              <a:gd name="connsiteX1968" fmla="*/ 2972637 w 3600000"/>
              <a:gd name="connsiteY1968" fmla="*/ 1110078 h 2787466"/>
              <a:gd name="connsiteX1969" fmla="*/ 2970996 w 3600000"/>
              <a:gd name="connsiteY1969" fmla="*/ 1110612 h 2787466"/>
              <a:gd name="connsiteX1970" fmla="*/ 2971151 w 3600000"/>
              <a:gd name="connsiteY1970" fmla="*/ 1111505 h 2787466"/>
              <a:gd name="connsiteX1971" fmla="*/ 2972055 w 3600000"/>
              <a:gd name="connsiteY1971" fmla="*/ 1115203 h 2787466"/>
              <a:gd name="connsiteX1972" fmla="*/ 2970022 w 3600000"/>
              <a:gd name="connsiteY1972" fmla="*/ 1115402 h 2787466"/>
              <a:gd name="connsiteX1973" fmla="*/ 2972261 w 3600000"/>
              <a:gd name="connsiteY1973" fmla="*/ 1115761 h 2787466"/>
              <a:gd name="connsiteX1974" fmla="*/ 2973752 w 3600000"/>
              <a:gd name="connsiteY1974" fmla="*/ 1118281 h 2787466"/>
              <a:gd name="connsiteX1975" fmla="*/ 2974752 w 3600000"/>
              <a:gd name="connsiteY1975" fmla="*/ 1118371 h 2787466"/>
              <a:gd name="connsiteX1976" fmla="*/ 2976991 w 3600000"/>
              <a:gd name="connsiteY1976" fmla="*/ 1120502 h 2787466"/>
              <a:gd name="connsiteX1977" fmla="*/ 2964046 w 3600000"/>
              <a:gd name="connsiteY1977" fmla="*/ 1122700 h 2787466"/>
              <a:gd name="connsiteX1978" fmla="*/ 2956754 w 3600000"/>
              <a:gd name="connsiteY1978" fmla="*/ 1126048 h 2787466"/>
              <a:gd name="connsiteX1979" fmla="*/ 2955440 w 3600000"/>
              <a:gd name="connsiteY1979" fmla="*/ 1132370 h 2787466"/>
              <a:gd name="connsiteX1980" fmla="*/ 2946123 w 3600000"/>
              <a:gd name="connsiteY1980" fmla="*/ 1137457 h 2787466"/>
              <a:gd name="connsiteX1981" fmla="*/ 2942884 w 3600000"/>
              <a:gd name="connsiteY1981" fmla="*/ 1142346 h 2787466"/>
              <a:gd name="connsiteX1982" fmla="*/ 2940087 w 3600000"/>
              <a:gd name="connsiteY1982" fmla="*/ 1140686 h 2787466"/>
              <a:gd name="connsiteX1983" fmla="*/ 2937043 w 3600000"/>
              <a:gd name="connsiteY1983" fmla="*/ 1142227 h 2787466"/>
              <a:gd name="connsiteX1984" fmla="*/ 2939143 w 3600000"/>
              <a:gd name="connsiteY1984" fmla="*/ 1143805 h 2787466"/>
              <a:gd name="connsiteX1985" fmla="*/ 2939720 w 3600000"/>
              <a:gd name="connsiteY1985" fmla="*/ 1150224 h 2787466"/>
              <a:gd name="connsiteX1986" fmla="*/ 2933189 w 3600000"/>
              <a:gd name="connsiteY1986" fmla="*/ 1148075 h 2787466"/>
              <a:gd name="connsiteX1987" fmla="*/ 2930086 w 3600000"/>
              <a:gd name="connsiteY1987" fmla="*/ 1145746 h 2787466"/>
              <a:gd name="connsiteX1988" fmla="*/ 2927003 w 3600000"/>
              <a:gd name="connsiteY1988" fmla="*/ 1147307 h 2787466"/>
              <a:gd name="connsiteX1989" fmla="*/ 2927515 w 3600000"/>
              <a:gd name="connsiteY1989" fmla="*/ 1145242 h 2787466"/>
              <a:gd name="connsiteX1990" fmla="*/ 2926811 w 3600000"/>
              <a:gd name="connsiteY1990" fmla="*/ 1145222 h 2787466"/>
              <a:gd name="connsiteX1991" fmla="*/ 2925275 w 3600000"/>
              <a:gd name="connsiteY1991" fmla="*/ 1141431 h 2787466"/>
              <a:gd name="connsiteX1992" fmla="*/ 2925511 w 3600000"/>
              <a:gd name="connsiteY1992" fmla="*/ 1140955 h 2787466"/>
              <a:gd name="connsiteX1993" fmla="*/ 2925152 w 3600000"/>
              <a:gd name="connsiteY1993" fmla="*/ 1141171 h 2787466"/>
              <a:gd name="connsiteX1994" fmla="*/ 2918941 w 3600000"/>
              <a:gd name="connsiteY1994" fmla="*/ 1153045 h 2787466"/>
              <a:gd name="connsiteX1995" fmla="*/ 2903512 w 3600000"/>
              <a:gd name="connsiteY1995" fmla="*/ 1164287 h 2787466"/>
              <a:gd name="connsiteX1996" fmla="*/ 2893002 w 3600000"/>
              <a:gd name="connsiteY1996" fmla="*/ 1161299 h 2787466"/>
              <a:gd name="connsiteX1997" fmla="*/ 2882699 w 3600000"/>
              <a:gd name="connsiteY1997" fmla="*/ 1172148 h 2787466"/>
              <a:gd name="connsiteX1998" fmla="*/ 2875435 w 3600000"/>
              <a:gd name="connsiteY1998" fmla="*/ 1170694 h 2787466"/>
              <a:gd name="connsiteX1999" fmla="*/ 2874850 w 3600000"/>
              <a:gd name="connsiteY1999" fmla="*/ 1169878 h 2787466"/>
              <a:gd name="connsiteX2000" fmla="*/ 2857675 w 3600000"/>
              <a:gd name="connsiteY2000" fmla="*/ 1183208 h 2787466"/>
              <a:gd name="connsiteX2001" fmla="*/ 2848416 w 3600000"/>
              <a:gd name="connsiteY2001" fmla="*/ 1187321 h 2787466"/>
              <a:gd name="connsiteX2002" fmla="*/ 2846649 w 3600000"/>
              <a:gd name="connsiteY2002" fmla="*/ 1191478 h 2787466"/>
              <a:gd name="connsiteX2003" fmla="*/ 2843789 w 3600000"/>
              <a:gd name="connsiteY2003" fmla="*/ 1193652 h 2787466"/>
              <a:gd name="connsiteX2004" fmla="*/ 2848380 w 3600000"/>
              <a:gd name="connsiteY2004" fmla="*/ 1191983 h 2787466"/>
              <a:gd name="connsiteX2005" fmla="*/ 2853973 w 3600000"/>
              <a:gd name="connsiteY2005" fmla="*/ 1196194 h 2787466"/>
              <a:gd name="connsiteX2006" fmla="*/ 2814805 w 3600000"/>
              <a:gd name="connsiteY2006" fmla="*/ 1218683 h 2787466"/>
              <a:gd name="connsiteX2007" fmla="*/ 2808890 w 3600000"/>
              <a:gd name="connsiteY2007" fmla="*/ 1228789 h 2787466"/>
              <a:gd name="connsiteX2008" fmla="*/ 2810628 w 3600000"/>
              <a:gd name="connsiteY2008" fmla="*/ 1226410 h 2787466"/>
              <a:gd name="connsiteX2009" fmla="*/ 2827885 w 3600000"/>
              <a:gd name="connsiteY2009" fmla="*/ 1219787 h 2787466"/>
              <a:gd name="connsiteX2010" fmla="*/ 2829328 w 3600000"/>
              <a:gd name="connsiteY2010" fmla="*/ 1227806 h 2787466"/>
              <a:gd name="connsiteX2011" fmla="*/ 2839632 w 3600000"/>
              <a:gd name="connsiteY2011" fmla="*/ 1214913 h 2787466"/>
              <a:gd name="connsiteX2012" fmla="*/ 2839632 w 3600000"/>
              <a:gd name="connsiteY2012" fmla="*/ 1225761 h 2787466"/>
              <a:gd name="connsiteX2013" fmla="*/ 2843547 w 3600000"/>
              <a:gd name="connsiteY2013" fmla="*/ 1209881 h 2787466"/>
              <a:gd name="connsiteX2014" fmla="*/ 2852614 w 3600000"/>
              <a:gd name="connsiteY2014" fmla="*/ 1218843 h 2787466"/>
              <a:gd name="connsiteX2015" fmla="*/ 2855292 w 3600000"/>
              <a:gd name="connsiteY2015" fmla="*/ 1205951 h 2787466"/>
              <a:gd name="connsiteX2016" fmla="*/ 2870953 w 3600000"/>
              <a:gd name="connsiteY2016" fmla="*/ 1197933 h 2787466"/>
              <a:gd name="connsiteX2017" fmla="*/ 2876105 w 3600000"/>
              <a:gd name="connsiteY2017" fmla="*/ 1194002 h 2787466"/>
              <a:gd name="connsiteX2018" fmla="*/ 2890529 w 3600000"/>
              <a:gd name="connsiteY2018" fmla="*/ 1196046 h 2787466"/>
              <a:gd name="connsiteX2019" fmla="*/ 2885172 w 3600000"/>
              <a:gd name="connsiteY2019" fmla="*/ 1187084 h 2787466"/>
              <a:gd name="connsiteX2020" fmla="*/ 2904748 w 3600000"/>
              <a:gd name="connsiteY2020" fmla="*/ 1179065 h 2787466"/>
              <a:gd name="connsiteX2021" fmla="*/ 2890529 w 3600000"/>
              <a:gd name="connsiteY2021" fmla="*/ 1187084 h 2787466"/>
              <a:gd name="connsiteX2022" fmla="*/ 2929476 w 3600000"/>
              <a:gd name="connsiteY2022" fmla="*/ 1178123 h 2787466"/>
              <a:gd name="connsiteX2023" fmla="*/ 2947816 w 3600000"/>
              <a:gd name="connsiteY2023" fmla="*/ 1162243 h 2787466"/>
              <a:gd name="connsiteX2024" fmla="*/ 2930713 w 3600000"/>
              <a:gd name="connsiteY2024" fmla="*/ 1173091 h 2787466"/>
              <a:gd name="connsiteX2025" fmla="*/ 2920409 w 3600000"/>
              <a:gd name="connsiteY2025" fmla="*/ 1173091 h 2787466"/>
              <a:gd name="connsiteX2026" fmla="*/ 2923087 w 3600000"/>
              <a:gd name="connsiteY2026" fmla="*/ 1166173 h 2787466"/>
              <a:gd name="connsiteX2027" fmla="*/ 2949052 w 3600000"/>
              <a:gd name="connsiteY2027" fmla="*/ 1157212 h 2787466"/>
              <a:gd name="connsiteX2028" fmla="*/ 2956883 w 3600000"/>
              <a:gd name="connsiteY2028" fmla="*/ 1164287 h 2787466"/>
              <a:gd name="connsiteX2029" fmla="*/ 2981611 w 3600000"/>
              <a:gd name="connsiteY2029" fmla="*/ 1147307 h 2787466"/>
              <a:gd name="connsiteX2030" fmla="*/ 2980375 w 3600000"/>
              <a:gd name="connsiteY2030" fmla="*/ 1132370 h 2787466"/>
              <a:gd name="connsiteX2031" fmla="*/ 2982847 w 3600000"/>
              <a:gd name="connsiteY2031" fmla="*/ 1128439 h 2787466"/>
              <a:gd name="connsiteX2032" fmla="*/ 2998508 w 3600000"/>
              <a:gd name="connsiteY2032" fmla="*/ 1134414 h 2787466"/>
              <a:gd name="connsiteX2033" fmla="*/ 3001110 w 3600000"/>
              <a:gd name="connsiteY2033" fmla="*/ 1126789 h 2787466"/>
              <a:gd name="connsiteX2034" fmla="*/ 2996620 w 3600000"/>
              <a:gd name="connsiteY2034" fmla="*/ 1122311 h 2787466"/>
              <a:gd name="connsiteX2035" fmla="*/ 2997001 w 3600000"/>
              <a:gd name="connsiteY2035" fmla="*/ 1122929 h 2787466"/>
              <a:gd name="connsiteX2036" fmla="*/ 2993043 w 3600000"/>
              <a:gd name="connsiteY2036" fmla="*/ 1126683 h 2787466"/>
              <a:gd name="connsiteX2037" fmla="*/ 2978669 w 3600000"/>
              <a:gd name="connsiteY2037" fmla="*/ 1127787 h 2787466"/>
              <a:gd name="connsiteX2038" fmla="*/ 3024054 w 3600000"/>
              <a:gd name="connsiteY2038" fmla="*/ 1086961 h 2787466"/>
              <a:gd name="connsiteX2039" fmla="*/ 3035760 w 3600000"/>
              <a:gd name="connsiteY2039" fmla="*/ 1086961 h 2787466"/>
              <a:gd name="connsiteX2040" fmla="*/ 3033295 w 3600000"/>
              <a:gd name="connsiteY2040" fmla="*/ 1081917 h 2787466"/>
              <a:gd name="connsiteX2041" fmla="*/ 3043094 w 3600000"/>
              <a:gd name="connsiteY2041" fmla="*/ 1076107 h 2787466"/>
              <a:gd name="connsiteX2042" fmla="*/ 3052658 w 3600000"/>
              <a:gd name="connsiteY2042" fmla="*/ 1072454 h 2787466"/>
              <a:gd name="connsiteX2043" fmla="*/ 3054435 w 3600000"/>
              <a:gd name="connsiteY2043" fmla="*/ 1064987 h 2787466"/>
              <a:gd name="connsiteX2044" fmla="*/ 3052587 w 3600000"/>
              <a:gd name="connsiteY2044" fmla="*/ 1055825 h 2787466"/>
              <a:gd name="connsiteX2045" fmla="*/ 3051246 w 3600000"/>
              <a:gd name="connsiteY2045" fmla="*/ 1051530 h 2787466"/>
              <a:gd name="connsiteX2046" fmla="*/ 3047629 w 3600000"/>
              <a:gd name="connsiteY2046" fmla="*/ 1052527 h 2787466"/>
              <a:gd name="connsiteX2047" fmla="*/ 3044048 w 3600000"/>
              <a:gd name="connsiteY2047" fmla="*/ 1055959 h 2787466"/>
              <a:gd name="connsiteX2048" fmla="*/ 3038897 w 3600000"/>
              <a:gd name="connsiteY2048" fmla="*/ 1044954 h 2787466"/>
              <a:gd name="connsiteX2049" fmla="*/ 2683434 w 3600000"/>
              <a:gd name="connsiteY2049" fmla="*/ 1042909 h 2787466"/>
              <a:gd name="connsiteX2050" fmla="*/ 2681992 w 3600000"/>
              <a:gd name="connsiteY2050" fmla="*/ 1053915 h 2787466"/>
              <a:gd name="connsiteX2051" fmla="*/ 2689822 w 3600000"/>
              <a:gd name="connsiteY2051" fmla="*/ 1042909 h 2787466"/>
              <a:gd name="connsiteX2052" fmla="*/ 2687350 w 3600000"/>
              <a:gd name="connsiteY2052" fmla="*/ 1044010 h 2787466"/>
              <a:gd name="connsiteX2053" fmla="*/ 2683434 w 3600000"/>
              <a:gd name="connsiteY2053" fmla="*/ 1042909 h 2787466"/>
              <a:gd name="connsiteX2054" fmla="*/ 3235377 w 3600000"/>
              <a:gd name="connsiteY2054" fmla="*/ 1039206 h 2787466"/>
              <a:gd name="connsiteX2055" fmla="*/ 3234152 w 3600000"/>
              <a:gd name="connsiteY2055" fmla="*/ 1053119 h 2787466"/>
              <a:gd name="connsiteX2056" fmla="*/ 3221287 w 3600000"/>
              <a:gd name="connsiteY2056" fmla="*/ 1050149 h 2787466"/>
              <a:gd name="connsiteX2057" fmla="*/ 3235377 w 3600000"/>
              <a:gd name="connsiteY2057" fmla="*/ 1039206 h 2787466"/>
              <a:gd name="connsiteX2058" fmla="*/ 2880020 w 3600000"/>
              <a:gd name="connsiteY2058" fmla="*/ 1038036 h 2787466"/>
              <a:gd name="connsiteX2059" fmla="*/ 2867038 w 3600000"/>
              <a:gd name="connsiteY2059" fmla="*/ 1053915 h 2787466"/>
              <a:gd name="connsiteX2060" fmla="*/ 2880020 w 3600000"/>
              <a:gd name="connsiteY2060" fmla="*/ 1038036 h 2787466"/>
              <a:gd name="connsiteX2061" fmla="*/ 2811221 w 3600000"/>
              <a:gd name="connsiteY2061" fmla="*/ 1037336 h 2787466"/>
              <a:gd name="connsiteX2062" fmla="*/ 2819445 w 3600000"/>
              <a:gd name="connsiteY2062" fmla="*/ 1040809 h 2787466"/>
              <a:gd name="connsiteX2063" fmla="*/ 2811705 w 3600000"/>
              <a:gd name="connsiteY2063" fmla="*/ 1040809 h 2787466"/>
              <a:gd name="connsiteX2064" fmla="*/ 2811221 w 3600000"/>
              <a:gd name="connsiteY2064" fmla="*/ 1037336 h 2787466"/>
              <a:gd name="connsiteX2065" fmla="*/ 195275 w 3600000"/>
              <a:gd name="connsiteY2065" fmla="*/ 1031207 h 2787466"/>
              <a:gd name="connsiteX2066" fmla="*/ 183528 w 3600000"/>
              <a:gd name="connsiteY2066" fmla="*/ 1036080 h 2787466"/>
              <a:gd name="connsiteX2067" fmla="*/ 180849 w 3600000"/>
              <a:gd name="connsiteY2067" fmla="*/ 1048027 h 2787466"/>
              <a:gd name="connsiteX2068" fmla="*/ 195275 w 3600000"/>
              <a:gd name="connsiteY2068" fmla="*/ 1031207 h 2787466"/>
              <a:gd name="connsiteX2069" fmla="*/ 3163978 w 3600000"/>
              <a:gd name="connsiteY2069" fmla="*/ 1030018 h 2787466"/>
              <a:gd name="connsiteX2070" fmla="*/ 3146875 w 3600000"/>
              <a:gd name="connsiteY2070" fmla="*/ 1035992 h 2787466"/>
              <a:gd name="connsiteX2071" fmla="*/ 3160063 w 3600000"/>
              <a:gd name="connsiteY2071" fmla="*/ 1037093 h 2787466"/>
              <a:gd name="connsiteX2072" fmla="*/ 3145639 w 3600000"/>
              <a:gd name="connsiteY2072" fmla="*/ 1047940 h 2787466"/>
              <a:gd name="connsiteX2073" fmla="*/ 3145639 w 3600000"/>
              <a:gd name="connsiteY2073" fmla="*/ 1053915 h 2787466"/>
              <a:gd name="connsiteX2074" fmla="*/ 3163978 w 3600000"/>
              <a:gd name="connsiteY2074" fmla="*/ 1030018 h 2787466"/>
              <a:gd name="connsiteX2075" fmla="*/ 3491773 w 3600000"/>
              <a:gd name="connsiteY2075" fmla="*/ 1025341 h 2787466"/>
              <a:gd name="connsiteX2076" fmla="*/ 3491773 w 3600000"/>
              <a:gd name="connsiteY2076" fmla="*/ 1040432 h 2787466"/>
              <a:gd name="connsiteX2077" fmla="*/ 3491773 w 3600000"/>
              <a:gd name="connsiteY2077" fmla="*/ 1025341 h 2787466"/>
              <a:gd name="connsiteX2078" fmla="*/ 3407359 w 3600000"/>
              <a:gd name="connsiteY2078" fmla="*/ 1019795 h 2787466"/>
              <a:gd name="connsiteX2079" fmla="*/ 3403299 w 3600000"/>
              <a:gd name="connsiteY2079" fmla="*/ 1032740 h 2787466"/>
              <a:gd name="connsiteX2080" fmla="*/ 3394445 w 3600000"/>
              <a:gd name="connsiteY2080" fmla="*/ 1048394 h 2787466"/>
              <a:gd name="connsiteX2081" fmla="*/ 3394291 w 3600000"/>
              <a:gd name="connsiteY2081" fmla="*/ 1048755 h 2787466"/>
              <a:gd name="connsiteX2082" fmla="*/ 3394257 w 3600000"/>
              <a:gd name="connsiteY2082" fmla="*/ 1048726 h 2787466"/>
              <a:gd name="connsiteX2083" fmla="*/ 3394240 w 3600000"/>
              <a:gd name="connsiteY2083" fmla="*/ 1048754 h 2787466"/>
              <a:gd name="connsiteX2084" fmla="*/ 3394237 w 3600000"/>
              <a:gd name="connsiteY2084" fmla="*/ 1048710 h 2787466"/>
              <a:gd name="connsiteX2085" fmla="*/ 3390657 w 3600000"/>
              <a:gd name="connsiteY2085" fmla="*/ 1045676 h 2787466"/>
              <a:gd name="connsiteX2086" fmla="*/ 3392464 w 3600000"/>
              <a:gd name="connsiteY2086" fmla="*/ 1041290 h 2787466"/>
              <a:gd name="connsiteX2087" fmla="*/ 3393524 w 3600000"/>
              <a:gd name="connsiteY2087" fmla="*/ 1039497 h 2787466"/>
              <a:gd name="connsiteX2088" fmla="*/ 3392913 w 3600000"/>
              <a:gd name="connsiteY2088" fmla="*/ 1031618 h 2787466"/>
              <a:gd name="connsiteX2089" fmla="*/ 3407359 w 3600000"/>
              <a:gd name="connsiteY2089" fmla="*/ 1019795 h 2787466"/>
              <a:gd name="connsiteX2090" fmla="*/ 3361929 w 3600000"/>
              <a:gd name="connsiteY2090" fmla="*/ 1017885 h 2787466"/>
              <a:gd name="connsiteX2091" fmla="*/ 3352918 w 3600000"/>
              <a:gd name="connsiteY2091" fmla="*/ 1037662 h 2787466"/>
              <a:gd name="connsiteX2092" fmla="*/ 3361929 w 3600000"/>
              <a:gd name="connsiteY2092" fmla="*/ 1017885 h 2787466"/>
              <a:gd name="connsiteX2093" fmla="*/ 2873678 w 3600000"/>
              <a:gd name="connsiteY2093" fmla="*/ 1014942 h 2787466"/>
              <a:gd name="connsiteX2094" fmla="*/ 2863266 w 3600000"/>
              <a:gd name="connsiteY2094" fmla="*/ 1031426 h 2787466"/>
              <a:gd name="connsiteX2095" fmla="*/ 2873678 w 3600000"/>
              <a:gd name="connsiteY2095" fmla="*/ 1014942 h 2787466"/>
              <a:gd name="connsiteX2096" fmla="*/ 2041131 w 3600000"/>
              <a:gd name="connsiteY2096" fmla="*/ 1012566 h 2787466"/>
              <a:gd name="connsiteX2097" fmla="*/ 2041176 w 3600000"/>
              <a:gd name="connsiteY2097" fmla="*/ 1012899 h 2787466"/>
              <a:gd name="connsiteX2098" fmla="*/ 2044296 w 3600000"/>
              <a:gd name="connsiteY2098" fmla="*/ 1013027 h 2787466"/>
              <a:gd name="connsiteX2099" fmla="*/ 2044191 w 3600000"/>
              <a:gd name="connsiteY2099" fmla="*/ 1013010 h 2787466"/>
              <a:gd name="connsiteX2100" fmla="*/ 3044048 w 3600000"/>
              <a:gd name="connsiteY2100" fmla="*/ 1012251 h 2787466"/>
              <a:gd name="connsiteX2101" fmla="*/ 3041575 w 3600000"/>
              <a:gd name="connsiteY2101" fmla="*/ 1016181 h 2787466"/>
              <a:gd name="connsiteX2102" fmla="*/ 3029830 w 3600000"/>
              <a:gd name="connsiteY2102" fmla="*/ 1038036 h 2787466"/>
              <a:gd name="connsiteX2103" fmla="*/ 3046727 w 3600000"/>
              <a:gd name="connsiteY2103" fmla="*/ 1020112 h 2787466"/>
              <a:gd name="connsiteX2104" fmla="*/ 3044048 w 3600000"/>
              <a:gd name="connsiteY2104" fmla="*/ 1012251 h 2787466"/>
              <a:gd name="connsiteX2105" fmla="*/ 2045866 w 3600000"/>
              <a:gd name="connsiteY2105" fmla="*/ 1010639 h 2787466"/>
              <a:gd name="connsiteX2106" fmla="*/ 2045924 w 3600000"/>
              <a:gd name="connsiteY2106" fmla="*/ 1011241 h 2787466"/>
              <a:gd name="connsiteX2107" fmla="*/ 2046236 w 3600000"/>
              <a:gd name="connsiteY2107" fmla="*/ 1013107 h 2787466"/>
              <a:gd name="connsiteX2108" fmla="*/ 2054321 w 3600000"/>
              <a:gd name="connsiteY2108" fmla="*/ 1013437 h 2787466"/>
              <a:gd name="connsiteX2109" fmla="*/ 2054272 w 3600000"/>
              <a:gd name="connsiteY2109" fmla="*/ 1012722 h 2787466"/>
              <a:gd name="connsiteX2110" fmla="*/ 2046612 w 3600000"/>
              <a:gd name="connsiteY2110" fmla="*/ 1011757 h 2787466"/>
              <a:gd name="connsiteX2111" fmla="*/ 3149013 w 3600000"/>
              <a:gd name="connsiteY2111" fmla="*/ 1010157 h 2787466"/>
              <a:gd name="connsiteX2112" fmla="*/ 3146093 w 3600000"/>
              <a:gd name="connsiteY2112" fmla="*/ 1012420 h 2787466"/>
              <a:gd name="connsiteX2113" fmla="*/ 3137310 w 3600000"/>
              <a:gd name="connsiteY2113" fmla="*/ 1023102 h 2787466"/>
              <a:gd name="connsiteX2114" fmla="*/ 3132924 w 3600000"/>
              <a:gd name="connsiteY2114" fmla="*/ 1022723 h 2787466"/>
              <a:gd name="connsiteX2115" fmla="*/ 3133835 w 3600000"/>
              <a:gd name="connsiteY2115" fmla="*/ 1031306 h 2787466"/>
              <a:gd name="connsiteX2116" fmla="*/ 3142213 w 3600000"/>
              <a:gd name="connsiteY2116" fmla="*/ 1024038 h 2787466"/>
              <a:gd name="connsiteX2117" fmla="*/ 3150183 w 3600000"/>
              <a:gd name="connsiteY2117" fmla="*/ 1020164 h 2787466"/>
              <a:gd name="connsiteX2118" fmla="*/ 3146126 w 3600000"/>
              <a:gd name="connsiteY2118" fmla="*/ 1018644 h 2787466"/>
              <a:gd name="connsiteX2119" fmla="*/ 3147095 w 3600000"/>
              <a:gd name="connsiteY2119" fmla="*/ 1013928 h 2787466"/>
              <a:gd name="connsiteX2120" fmla="*/ 2086954 w 3600000"/>
              <a:gd name="connsiteY2120" fmla="*/ 1009051 h 2787466"/>
              <a:gd name="connsiteX2121" fmla="*/ 2082661 w 3600000"/>
              <a:gd name="connsiteY2121" fmla="*/ 1010313 h 2787466"/>
              <a:gd name="connsiteX2122" fmla="*/ 2081932 w 3600000"/>
              <a:gd name="connsiteY2122" fmla="*/ 1013269 h 2787466"/>
              <a:gd name="connsiteX2123" fmla="*/ 2081991 w 3600000"/>
              <a:gd name="connsiteY2123" fmla="*/ 1013287 h 2787466"/>
              <a:gd name="connsiteX2124" fmla="*/ 2081923 w 3600000"/>
              <a:gd name="connsiteY2124" fmla="*/ 1013306 h 2787466"/>
              <a:gd name="connsiteX2125" fmla="*/ 2081752 w 3600000"/>
              <a:gd name="connsiteY2125" fmla="*/ 1013996 h 2787466"/>
              <a:gd name="connsiteX2126" fmla="*/ 2086847 w 3600000"/>
              <a:gd name="connsiteY2126" fmla="*/ 1011395 h 2787466"/>
              <a:gd name="connsiteX2127" fmla="*/ 3393938 w 3600000"/>
              <a:gd name="connsiteY2127" fmla="*/ 1005236 h 2787466"/>
              <a:gd name="connsiteX2128" fmla="*/ 3400648 w 3600000"/>
              <a:gd name="connsiteY2128" fmla="*/ 1018947 h 2787466"/>
              <a:gd name="connsiteX2129" fmla="*/ 3393938 w 3600000"/>
              <a:gd name="connsiteY2129" fmla="*/ 1005236 h 2787466"/>
              <a:gd name="connsiteX2130" fmla="*/ 2123550 w 3600000"/>
              <a:gd name="connsiteY2130" fmla="*/ 1002753 h 2787466"/>
              <a:gd name="connsiteX2131" fmla="*/ 2123399 w 3600000"/>
              <a:gd name="connsiteY2131" fmla="*/ 1004238 h 2787466"/>
              <a:gd name="connsiteX2132" fmla="*/ 2128537 w 3600000"/>
              <a:gd name="connsiteY2132" fmla="*/ 1003081 h 2787466"/>
              <a:gd name="connsiteX2133" fmla="*/ 2075995 w 3600000"/>
              <a:gd name="connsiteY2133" fmla="*/ 1002318 h 2787466"/>
              <a:gd name="connsiteX2134" fmla="*/ 2075900 w 3600000"/>
              <a:gd name="connsiteY2134" fmla="*/ 1002327 h 2787466"/>
              <a:gd name="connsiteX2135" fmla="*/ 2071419 w 3600000"/>
              <a:gd name="connsiteY2135" fmla="*/ 1004232 h 2787466"/>
              <a:gd name="connsiteX2136" fmla="*/ 2071788 w 3600000"/>
              <a:gd name="connsiteY2136" fmla="*/ 1002729 h 2787466"/>
              <a:gd name="connsiteX2137" fmla="*/ 2065092 w 3600000"/>
              <a:gd name="connsiteY2137" fmla="*/ 1003385 h 2787466"/>
              <a:gd name="connsiteX2138" fmla="*/ 2065092 w 3600000"/>
              <a:gd name="connsiteY2138" fmla="*/ 1005271 h 2787466"/>
              <a:gd name="connsiteX2139" fmla="*/ 2057222 w 3600000"/>
              <a:gd name="connsiteY2139" fmla="*/ 1004163 h 2787466"/>
              <a:gd name="connsiteX2140" fmla="*/ 2056215 w 3600000"/>
              <a:gd name="connsiteY2140" fmla="*/ 1003576 h 2787466"/>
              <a:gd name="connsiteX2141" fmla="*/ 2052541 w 3600000"/>
              <a:gd name="connsiteY2141" fmla="*/ 1005724 h 2787466"/>
              <a:gd name="connsiteX2142" fmla="*/ 2045322 w 3600000"/>
              <a:gd name="connsiteY2142" fmla="*/ 1004963 h 2787466"/>
              <a:gd name="connsiteX2143" fmla="*/ 2045435 w 3600000"/>
              <a:gd name="connsiteY2143" fmla="*/ 1006144 h 2787466"/>
              <a:gd name="connsiteX2144" fmla="*/ 2048035 w 3600000"/>
              <a:gd name="connsiteY2144" fmla="*/ 1005998 h 2787466"/>
              <a:gd name="connsiteX2145" fmla="*/ 2054581 w 3600000"/>
              <a:gd name="connsiteY2145" fmla="*/ 1007314 h 2787466"/>
              <a:gd name="connsiteX2146" fmla="*/ 2056660 w 3600000"/>
              <a:gd name="connsiteY2146" fmla="*/ 1013533 h 2787466"/>
              <a:gd name="connsiteX2147" fmla="*/ 2067633 w 3600000"/>
              <a:gd name="connsiteY2147" fmla="*/ 1013983 h 2787466"/>
              <a:gd name="connsiteX2148" fmla="*/ 2070630 w 3600000"/>
              <a:gd name="connsiteY2148" fmla="*/ 1013130 h 2787466"/>
              <a:gd name="connsiteX2149" fmla="*/ 2073181 w 3600000"/>
              <a:gd name="connsiteY2149" fmla="*/ 1012582 h 2787466"/>
              <a:gd name="connsiteX2150" fmla="*/ 2071908 w 3600000"/>
              <a:gd name="connsiteY2150" fmla="*/ 1008638 h 2787466"/>
              <a:gd name="connsiteX2151" fmla="*/ 2076649 w 3600000"/>
              <a:gd name="connsiteY2151" fmla="*/ 1003076 h 2787466"/>
              <a:gd name="connsiteX2152" fmla="*/ 2115778 w 3600000"/>
              <a:gd name="connsiteY2152" fmla="*/ 1001943 h 2787466"/>
              <a:gd name="connsiteX2153" fmla="*/ 2110365 w 3600000"/>
              <a:gd name="connsiteY2153" fmla="*/ 1005176 h 2787466"/>
              <a:gd name="connsiteX2154" fmla="*/ 2109673 w 3600000"/>
              <a:gd name="connsiteY2154" fmla="*/ 1003502 h 2787466"/>
              <a:gd name="connsiteX2155" fmla="*/ 2105481 w 3600000"/>
              <a:gd name="connsiteY2155" fmla="*/ 1007802 h 2787466"/>
              <a:gd name="connsiteX2156" fmla="*/ 2118030 w 3600000"/>
              <a:gd name="connsiteY2156" fmla="*/ 1005447 h 2787466"/>
              <a:gd name="connsiteX2157" fmla="*/ 2121926 w 3600000"/>
              <a:gd name="connsiteY2157" fmla="*/ 1004570 h 2787466"/>
              <a:gd name="connsiteX2158" fmla="*/ 2119510 w 3600000"/>
              <a:gd name="connsiteY2158" fmla="*/ 1002364 h 2787466"/>
              <a:gd name="connsiteX2159" fmla="*/ 2834480 w 3600000"/>
              <a:gd name="connsiteY2159" fmla="*/ 1001245 h 2787466"/>
              <a:gd name="connsiteX2160" fmla="*/ 2820055 w 3600000"/>
              <a:gd name="connsiteY2160" fmla="*/ 1004232 h 2787466"/>
              <a:gd name="connsiteX2161" fmla="*/ 2831801 w 3600000"/>
              <a:gd name="connsiteY2161" fmla="*/ 1011150 h 2787466"/>
              <a:gd name="connsiteX2162" fmla="*/ 2834480 w 3600000"/>
              <a:gd name="connsiteY2162" fmla="*/ 1001245 h 2787466"/>
              <a:gd name="connsiteX2163" fmla="*/ 2093398 w 3600000"/>
              <a:gd name="connsiteY2163" fmla="*/ 1000488 h 2787466"/>
              <a:gd name="connsiteX2164" fmla="*/ 2091075 w 3600000"/>
              <a:gd name="connsiteY2164" fmla="*/ 1000647 h 2787466"/>
              <a:gd name="connsiteX2165" fmla="*/ 2093704 w 3600000"/>
              <a:gd name="connsiteY2165" fmla="*/ 1003508 h 2787466"/>
              <a:gd name="connsiteX2166" fmla="*/ 2090961 w 3600000"/>
              <a:gd name="connsiteY2166" fmla="*/ 1010527 h 2787466"/>
              <a:gd name="connsiteX2167" fmla="*/ 2104598 w 3600000"/>
              <a:gd name="connsiteY2167" fmla="*/ 1007968 h 2787466"/>
              <a:gd name="connsiteX2168" fmla="*/ 2101897 w 3600000"/>
              <a:gd name="connsiteY2168" fmla="*/ 1007225 h 2787466"/>
              <a:gd name="connsiteX2169" fmla="*/ 2100751 w 3600000"/>
              <a:gd name="connsiteY2169" fmla="*/ 1004976 h 2787466"/>
              <a:gd name="connsiteX2170" fmla="*/ 2098117 w 3600000"/>
              <a:gd name="connsiteY2170" fmla="*/ 1004016 h 2787466"/>
              <a:gd name="connsiteX2171" fmla="*/ 2095619 w 3600000"/>
              <a:gd name="connsiteY2171" fmla="*/ 1004291 h 2787466"/>
              <a:gd name="connsiteX2172" fmla="*/ 2095917 w 3600000"/>
              <a:gd name="connsiteY2172" fmla="*/ 1002039 h 2787466"/>
              <a:gd name="connsiteX2173" fmla="*/ 2094827 w 3600000"/>
              <a:gd name="connsiteY2173" fmla="*/ 1002087 h 2787466"/>
              <a:gd name="connsiteX2174" fmla="*/ 2095001 w 3600000"/>
              <a:gd name="connsiteY2174" fmla="*/ 1001305 h 2787466"/>
              <a:gd name="connsiteX2175" fmla="*/ 2047600 w 3600000"/>
              <a:gd name="connsiteY2175" fmla="*/ 1000107 h 2787466"/>
              <a:gd name="connsiteX2176" fmla="*/ 2047687 w 3600000"/>
              <a:gd name="connsiteY2176" fmla="*/ 1000468 h 2787466"/>
              <a:gd name="connsiteX2177" fmla="*/ 2048820 w 3600000"/>
              <a:gd name="connsiteY2177" fmla="*/ 1000408 h 2787466"/>
              <a:gd name="connsiteX2178" fmla="*/ 2062868 w 3600000"/>
              <a:gd name="connsiteY2178" fmla="*/ 999633 h 2787466"/>
              <a:gd name="connsiteX2179" fmla="*/ 2062141 w 3600000"/>
              <a:gd name="connsiteY2179" fmla="*/ 999643 h 2787466"/>
              <a:gd name="connsiteX2180" fmla="*/ 2060229 w 3600000"/>
              <a:gd name="connsiteY2180" fmla="*/ 1000974 h 2787466"/>
              <a:gd name="connsiteX2181" fmla="*/ 2063952 w 3600000"/>
              <a:gd name="connsiteY2181" fmla="*/ 1001697 h 2787466"/>
              <a:gd name="connsiteX2182" fmla="*/ 2068243 w 3600000"/>
              <a:gd name="connsiteY2182" fmla="*/ 999964 h 2787466"/>
              <a:gd name="connsiteX2183" fmla="*/ 2067394 w 3600000"/>
              <a:gd name="connsiteY2183" fmla="*/ 1000110 h 2787466"/>
              <a:gd name="connsiteX2184" fmla="*/ 2062868 w 3600000"/>
              <a:gd name="connsiteY2184" fmla="*/ 999633 h 2787466"/>
              <a:gd name="connsiteX2185" fmla="*/ 2891650 w 3600000"/>
              <a:gd name="connsiteY2185" fmla="*/ 999463 h 2787466"/>
              <a:gd name="connsiteX2186" fmla="*/ 2894300 w 3600000"/>
              <a:gd name="connsiteY2186" fmla="*/ 1001053 h 2787466"/>
              <a:gd name="connsiteX2187" fmla="*/ 2891784 w 3600000"/>
              <a:gd name="connsiteY2187" fmla="*/ 1004947 h 2787466"/>
              <a:gd name="connsiteX2188" fmla="*/ 2891784 w 3600000"/>
              <a:gd name="connsiteY2188" fmla="*/ 1008998 h 2787466"/>
              <a:gd name="connsiteX2189" fmla="*/ 2887800 w 3600000"/>
              <a:gd name="connsiteY2189" fmla="*/ 1009933 h 2787466"/>
              <a:gd name="connsiteX2190" fmla="*/ 2885074 w 3600000"/>
              <a:gd name="connsiteY2190" fmla="*/ 1007907 h 2787466"/>
              <a:gd name="connsiteX2191" fmla="*/ 2885074 w 3600000"/>
              <a:gd name="connsiteY2191" fmla="*/ 1003078 h 2787466"/>
              <a:gd name="connsiteX2192" fmla="*/ 2891650 w 3600000"/>
              <a:gd name="connsiteY2192" fmla="*/ 999463 h 2787466"/>
              <a:gd name="connsiteX2193" fmla="*/ 2137772 w 3600000"/>
              <a:gd name="connsiteY2193" fmla="*/ 999201 h 2787466"/>
              <a:gd name="connsiteX2194" fmla="*/ 2130543 w 3600000"/>
              <a:gd name="connsiteY2194" fmla="*/ 1002629 h 2787466"/>
              <a:gd name="connsiteX2195" fmla="*/ 2138128 w 3600000"/>
              <a:gd name="connsiteY2195" fmla="*/ 1000920 h 2787466"/>
              <a:gd name="connsiteX2196" fmla="*/ 2107893 w 3600000"/>
              <a:gd name="connsiteY2196" fmla="*/ 999201 h 2787466"/>
              <a:gd name="connsiteX2197" fmla="*/ 2107827 w 3600000"/>
              <a:gd name="connsiteY2197" fmla="*/ 999233 h 2787466"/>
              <a:gd name="connsiteX2198" fmla="*/ 2107565 w 3600000"/>
              <a:gd name="connsiteY2198" fmla="*/ 1000392 h 2787466"/>
              <a:gd name="connsiteX2199" fmla="*/ 2109463 w 3600000"/>
              <a:gd name="connsiteY2199" fmla="*/ 1002994 h 2787466"/>
              <a:gd name="connsiteX2200" fmla="*/ 3211992 w 3600000"/>
              <a:gd name="connsiteY2200" fmla="*/ 998258 h 2787466"/>
              <a:gd name="connsiteX2201" fmla="*/ 3197773 w 3600000"/>
              <a:gd name="connsiteY2201" fmla="*/ 1008163 h 2787466"/>
              <a:gd name="connsiteX2202" fmla="*/ 3211992 w 3600000"/>
              <a:gd name="connsiteY2202" fmla="*/ 998258 h 2787466"/>
              <a:gd name="connsiteX2203" fmla="*/ 2134121 w 3600000"/>
              <a:gd name="connsiteY2203" fmla="*/ 991102 h 2787466"/>
              <a:gd name="connsiteX2204" fmla="*/ 2133341 w 3600000"/>
              <a:gd name="connsiteY2204" fmla="*/ 991891 h 2787466"/>
              <a:gd name="connsiteX2205" fmla="*/ 2133857 w 3600000"/>
              <a:gd name="connsiteY2205" fmla="*/ 996371 h 2787466"/>
              <a:gd name="connsiteX2206" fmla="*/ 2139240 w 3600000"/>
              <a:gd name="connsiteY2206" fmla="*/ 994858 h 2787466"/>
              <a:gd name="connsiteX2207" fmla="*/ 2140264 w 3600000"/>
              <a:gd name="connsiteY2207" fmla="*/ 992991 h 2787466"/>
              <a:gd name="connsiteX2208" fmla="*/ 2135832 w 3600000"/>
              <a:gd name="connsiteY2208" fmla="*/ 992019 h 2787466"/>
              <a:gd name="connsiteX2209" fmla="*/ 3153372 w 3600000"/>
              <a:gd name="connsiteY2209" fmla="*/ 989984 h 2787466"/>
              <a:gd name="connsiteX2210" fmla="*/ 3143140 w 3600000"/>
              <a:gd name="connsiteY2210" fmla="*/ 998668 h 2787466"/>
              <a:gd name="connsiteX2211" fmla="*/ 3153372 w 3600000"/>
              <a:gd name="connsiteY2211" fmla="*/ 989984 h 2787466"/>
              <a:gd name="connsiteX2212" fmla="*/ 3218585 w 3600000"/>
              <a:gd name="connsiteY2212" fmla="*/ 985366 h 2787466"/>
              <a:gd name="connsiteX2213" fmla="*/ 3213434 w 3600000"/>
              <a:gd name="connsiteY2213" fmla="*/ 997315 h 2787466"/>
              <a:gd name="connsiteX2214" fmla="*/ 3230331 w 3600000"/>
              <a:gd name="connsiteY2214" fmla="*/ 993384 h 2787466"/>
              <a:gd name="connsiteX2215" fmla="*/ 3218585 w 3600000"/>
              <a:gd name="connsiteY2215" fmla="*/ 985366 h 2787466"/>
              <a:gd name="connsiteX2216" fmla="*/ 2886614 w 3600000"/>
              <a:gd name="connsiteY2216" fmla="*/ 985366 h 2787466"/>
              <a:gd name="connsiteX2217" fmla="*/ 2886474 w 3600000"/>
              <a:gd name="connsiteY2217" fmla="*/ 985563 h 2787466"/>
              <a:gd name="connsiteX2218" fmla="*/ 2886659 w 3600000"/>
              <a:gd name="connsiteY2218" fmla="*/ 985366 h 2787466"/>
              <a:gd name="connsiteX2219" fmla="*/ 3199009 w 3600000"/>
              <a:gd name="connsiteY2219" fmla="*/ 982378 h 2787466"/>
              <a:gd name="connsiteX2220" fmla="*/ 3191179 w 3600000"/>
              <a:gd name="connsiteY2220" fmla="*/ 996371 h 2787466"/>
              <a:gd name="connsiteX2221" fmla="*/ 3199009 w 3600000"/>
              <a:gd name="connsiteY2221" fmla="*/ 998258 h 2787466"/>
              <a:gd name="connsiteX2222" fmla="*/ 3214670 w 3600000"/>
              <a:gd name="connsiteY2222" fmla="*/ 985366 h 2787466"/>
              <a:gd name="connsiteX2223" fmla="*/ 3200246 w 3600000"/>
              <a:gd name="connsiteY2223" fmla="*/ 993384 h 2787466"/>
              <a:gd name="connsiteX2224" fmla="*/ 3199009 w 3600000"/>
              <a:gd name="connsiteY2224" fmla="*/ 982378 h 2787466"/>
              <a:gd name="connsiteX2225" fmla="*/ 3480958 w 3600000"/>
              <a:gd name="connsiteY2225" fmla="*/ 981665 h 2787466"/>
              <a:gd name="connsiteX2226" fmla="*/ 3471588 w 3600000"/>
              <a:gd name="connsiteY2226" fmla="*/ 998149 h 2787466"/>
              <a:gd name="connsiteX2227" fmla="*/ 3480958 w 3600000"/>
              <a:gd name="connsiteY2227" fmla="*/ 981665 h 2787466"/>
              <a:gd name="connsiteX2228" fmla="*/ 2869511 w 3600000"/>
              <a:gd name="connsiteY2228" fmla="*/ 974517 h 2787466"/>
              <a:gd name="connsiteX2229" fmla="*/ 2868274 w 3600000"/>
              <a:gd name="connsiteY2229" fmla="*/ 987409 h 2787466"/>
              <a:gd name="connsiteX2230" fmla="*/ 2855292 w 3600000"/>
              <a:gd name="connsiteY2230" fmla="*/ 1007220 h 2787466"/>
              <a:gd name="connsiteX2231" fmla="*/ 2840868 w 3600000"/>
              <a:gd name="connsiteY2231" fmla="*/ 998258 h 2787466"/>
              <a:gd name="connsiteX2232" fmla="*/ 2846225 w 3600000"/>
              <a:gd name="connsiteY2232" fmla="*/ 1010207 h 2787466"/>
              <a:gd name="connsiteX2233" fmla="*/ 2834480 w 3600000"/>
              <a:gd name="connsiteY2233" fmla="*/ 1022156 h 2787466"/>
              <a:gd name="connsiteX2234" fmla="*/ 2821498 w 3600000"/>
              <a:gd name="connsiteY2234" fmla="*/ 1016181 h 2787466"/>
              <a:gd name="connsiteX2235" fmla="*/ 2821498 w 3600000"/>
              <a:gd name="connsiteY2235" fmla="*/ 1027030 h 2787466"/>
              <a:gd name="connsiteX2236" fmla="*/ 2803158 w 3600000"/>
              <a:gd name="connsiteY2236" fmla="*/ 1029074 h 2787466"/>
              <a:gd name="connsiteX2237" fmla="*/ 2804394 w 3600000"/>
              <a:gd name="connsiteY2237" fmla="*/ 1034105 h 2787466"/>
              <a:gd name="connsiteX2238" fmla="*/ 2790176 w 3600000"/>
              <a:gd name="connsiteY2238" fmla="*/ 1052972 h 2787466"/>
              <a:gd name="connsiteX2239" fmla="*/ 2778430 w 3600000"/>
              <a:gd name="connsiteY2239" fmla="*/ 1059890 h 2787466"/>
              <a:gd name="connsiteX2240" fmla="*/ 2756381 w 3600000"/>
              <a:gd name="connsiteY2240" fmla="*/ 1069795 h 2787466"/>
              <a:gd name="connsiteX2241" fmla="*/ 2753702 w 3600000"/>
              <a:gd name="connsiteY2241" fmla="*/ 1073725 h 2787466"/>
              <a:gd name="connsiteX2242" fmla="*/ 2758854 w 3600000"/>
              <a:gd name="connsiteY2242" fmla="*/ 1076713 h 2787466"/>
              <a:gd name="connsiteX2243" fmla="*/ 2749786 w 3600000"/>
              <a:gd name="connsiteY2243" fmla="*/ 1085675 h 2787466"/>
              <a:gd name="connsiteX2244" fmla="*/ 2751023 w 3600000"/>
              <a:gd name="connsiteY2244" fmla="*/ 1075770 h 2787466"/>
              <a:gd name="connsiteX2245" fmla="*/ 2719907 w 3600000"/>
              <a:gd name="connsiteY2245" fmla="*/ 1085675 h 2787466"/>
              <a:gd name="connsiteX2246" fmla="*/ 2721144 w 3600000"/>
              <a:gd name="connsiteY2246" fmla="*/ 1095580 h 2787466"/>
              <a:gd name="connsiteX2247" fmla="*/ 2730210 w 3600000"/>
              <a:gd name="connsiteY2247" fmla="*/ 1085675 h 2787466"/>
              <a:gd name="connsiteX2248" fmla="*/ 2738041 w 3600000"/>
              <a:gd name="connsiteY2248" fmla="*/ 1098567 h 2787466"/>
              <a:gd name="connsiteX2249" fmla="*/ 2718465 w 3600000"/>
              <a:gd name="connsiteY2249" fmla="*/ 1100611 h 2787466"/>
              <a:gd name="connsiteX2250" fmla="*/ 2710634 w 3600000"/>
              <a:gd name="connsiteY2250" fmla="*/ 1090706 h 2787466"/>
              <a:gd name="connsiteX2251" fmla="*/ 2708162 w 3600000"/>
              <a:gd name="connsiteY2251" fmla="*/ 1098567 h 2787466"/>
              <a:gd name="connsiteX2252" fmla="*/ 2705483 w 3600000"/>
              <a:gd name="connsiteY2252" fmla="*/ 1093693 h 2787466"/>
              <a:gd name="connsiteX2253" fmla="*/ 2692501 w 3600000"/>
              <a:gd name="connsiteY2253" fmla="*/ 1104541 h 2787466"/>
              <a:gd name="connsiteX2254" fmla="*/ 2659942 w 3600000"/>
              <a:gd name="connsiteY2254" fmla="*/ 1113503 h 2787466"/>
              <a:gd name="connsiteX2255" fmla="*/ 2662621 w 3600000"/>
              <a:gd name="connsiteY2255" fmla="*/ 1119478 h 2787466"/>
              <a:gd name="connsiteX2256" fmla="*/ 2654791 w 3600000"/>
              <a:gd name="connsiteY2256" fmla="*/ 1124508 h 2787466"/>
              <a:gd name="connsiteX2257" fmla="*/ 2633979 w 3600000"/>
              <a:gd name="connsiteY2257" fmla="*/ 1132370 h 2787466"/>
              <a:gd name="connsiteX2258" fmla="*/ 2626148 w 3600000"/>
              <a:gd name="connsiteY2258" fmla="*/ 1128439 h 2787466"/>
              <a:gd name="connsiteX2259" fmla="*/ 2633979 w 3600000"/>
              <a:gd name="connsiteY2259" fmla="*/ 1120421 h 2787466"/>
              <a:gd name="connsiteX2260" fmla="*/ 2610486 w 3600000"/>
              <a:gd name="connsiteY2260" fmla="*/ 1127496 h 2787466"/>
              <a:gd name="connsiteX2261" fmla="*/ 2623468 w 3600000"/>
              <a:gd name="connsiteY2261" fmla="*/ 1126396 h 2787466"/>
              <a:gd name="connsiteX2262" fmla="*/ 2590910 w 3600000"/>
              <a:gd name="connsiteY2262" fmla="*/ 1146363 h 2787466"/>
              <a:gd name="connsiteX2263" fmla="*/ 2596062 w 3600000"/>
              <a:gd name="connsiteY2263" fmla="*/ 1149350 h 2787466"/>
              <a:gd name="connsiteX2264" fmla="*/ 2592147 w 3600000"/>
              <a:gd name="connsiteY2264" fmla="*/ 1157212 h 2787466"/>
              <a:gd name="connsiteX2265" fmla="*/ 2583080 w 3600000"/>
              <a:gd name="connsiteY2265" fmla="*/ 1148249 h 2787466"/>
              <a:gd name="connsiteX2266" fmla="*/ 2566183 w 3600000"/>
              <a:gd name="connsiteY2266" fmla="*/ 1152338 h 2787466"/>
              <a:gd name="connsiteX2267" fmla="*/ 2581844 w 3600000"/>
              <a:gd name="connsiteY2267" fmla="*/ 1156268 h 2787466"/>
              <a:gd name="connsiteX2268" fmla="*/ 2570098 w 3600000"/>
              <a:gd name="connsiteY2268" fmla="*/ 1165230 h 2787466"/>
              <a:gd name="connsiteX2269" fmla="*/ 2555673 w 3600000"/>
              <a:gd name="connsiteY2269" fmla="*/ 1150294 h 2787466"/>
              <a:gd name="connsiteX2270" fmla="*/ 2537540 w 3600000"/>
              <a:gd name="connsiteY2270" fmla="*/ 1172148 h 2787466"/>
              <a:gd name="connsiteX2271" fmla="*/ 2554436 w 3600000"/>
              <a:gd name="connsiteY2271" fmla="*/ 1162243 h 2787466"/>
              <a:gd name="connsiteX2272" fmla="*/ 2551964 w 3600000"/>
              <a:gd name="connsiteY2272" fmla="*/ 1171204 h 2787466"/>
              <a:gd name="connsiteX2273" fmla="*/ 2532877 w 3600000"/>
              <a:gd name="connsiteY2273" fmla="*/ 1175902 h 2787466"/>
              <a:gd name="connsiteX2274" fmla="*/ 2527956 w 3600000"/>
              <a:gd name="connsiteY2274" fmla="*/ 1177433 h 2787466"/>
              <a:gd name="connsiteX2275" fmla="*/ 2528914 w 3600000"/>
              <a:gd name="connsiteY2275" fmla="*/ 1178515 h 2787466"/>
              <a:gd name="connsiteX2276" fmla="*/ 2531951 w 3600000"/>
              <a:gd name="connsiteY2276" fmla="*/ 1179162 h 2787466"/>
              <a:gd name="connsiteX2277" fmla="*/ 2533230 w 3600000"/>
              <a:gd name="connsiteY2277" fmla="*/ 1179719 h 2787466"/>
              <a:gd name="connsiteX2278" fmla="*/ 2539549 w 3600000"/>
              <a:gd name="connsiteY2278" fmla="*/ 1179125 h 2787466"/>
              <a:gd name="connsiteX2279" fmla="*/ 2546607 w 3600000"/>
              <a:gd name="connsiteY2279" fmla="*/ 1175135 h 2787466"/>
              <a:gd name="connsiteX2280" fmla="*/ 2551964 w 3600000"/>
              <a:gd name="connsiteY2280" fmla="*/ 1173091 h 2787466"/>
              <a:gd name="connsiteX2281" fmla="*/ 2557116 w 3600000"/>
              <a:gd name="connsiteY2281" fmla="*/ 1177179 h 2787466"/>
              <a:gd name="connsiteX2282" fmla="*/ 2563504 w 3600000"/>
              <a:gd name="connsiteY2282" fmla="*/ 1170104 h 2787466"/>
              <a:gd name="connsiteX2283" fmla="*/ 2584316 w 3600000"/>
              <a:gd name="connsiteY2283" fmla="*/ 1164287 h 2787466"/>
              <a:gd name="connsiteX2284" fmla="*/ 2589673 w 3600000"/>
              <a:gd name="connsiteY2284" fmla="*/ 1170104 h 2787466"/>
              <a:gd name="connsiteX2285" fmla="*/ 2607808 w 3600000"/>
              <a:gd name="connsiteY2285" fmla="*/ 1163186 h 2787466"/>
              <a:gd name="connsiteX2286" fmla="*/ 2620789 w 3600000"/>
              <a:gd name="connsiteY2286" fmla="*/ 1153281 h 2787466"/>
              <a:gd name="connsiteX2287" fmla="*/ 2631299 w 3600000"/>
              <a:gd name="connsiteY2287" fmla="*/ 1147307 h 2787466"/>
              <a:gd name="connsiteX2288" fmla="*/ 2636866 w 3600000"/>
              <a:gd name="connsiteY2288" fmla="*/ 1149439 h 2787466"/>
              <a:gd name="connsiteX2289" fmla="*/ 2636094 w 3600000"/>
              <a:gd name="connsiteY2289" fmla="*/ 1147453 h 2787466"/>
              <a:gd name="connsiteX2290" fmla="*/ 2664964 w 3600000"/>
              <a:gd name="connsiteY2290" fmla="*/ 1135571 h 2787466"/>
              <a:gd name="connsiteX2291" fmla="*/ 2661398 w 3600000"/>
              <a:gd name="connsiteY2291" fmla="*/ 1144309 h 2787466"/>
              <a:gd name="connsiteX2292" fmla="*/ 2660633 w 3600000"/>
              <a:gd name="connsiteY2292" fmla="*/ 1145011 h 2787466"/>
              <a:gd name="connsiteX2293" fmla="*/ 2663735 w 3600000"/>
              <a:gd name="connsiteY2293" fmla="*/ 1144820 h 2787466"/>
              <a:gd name="connsiteX2294" fmla="*/ 2671688 w 3600000"/>
              <a:gd name="connsiteY2294" fmla="*/ 1142275 h 2787466"/>
              <a:gd name="connsiteX2295" fmla="*/ 2669009 w 3600000"/>
              <a:gd name="connsiteY2295" fmla="*/ 1136458 h 2787466"/>
              <a:gd name="connsiteX2296" fmla="*/ 2685906 w 3600000"/>
              <a:gd name="connsiteY2296" fmla="*/ 1129383 h 2787466"/>
              <a:gd name="connsiteX2297" fmla="*/ 2687350 w 3600000"/>
              <a:gd name="connsiteY2297" fmla="*/ 1138345 h 2787466"/>
              <a:gd name="connsiteX2298" fmla="*/ 2692703 w 3600000"/>
              <a:gd name="connsiteY2298" fmla="*/ 1127874 h 2787466"/>
              <a:gd name="connsiteX2299" fmla="*/ 2692950 w 3600000"/>
              <a:gd name="connsiteY2299" fmla="*/ 1127743 h 2787466"/>
              <a:gd name="connsiteX2300" fmla="*/ 2693163 w 3600000"/>
              <a:gd name="connsiteY2300" fmla="*/ 1124090 h 2787466"/>
              <a:gd name="connsiteX2301" fmla="*/ 2706769 w 3600000"/>
              <a:gd name="connsiteY2301" fmla="*/ 1116159 h 2787466"/>
              <a:gd name="connsiteX2302" fmla="*/ 2705289 w 3600000"/>
              <a:gd name="connsiteY2302" fmla="*/ 1121422 h 2787466"/>
              <a:gd name="connsiteX2303" fmla="*/ 2717167 w 3600000"/>
              <a:gd name="connsiteY2303" fmla="*/ 1117783 h 2787466"/>
              <a:gd name="connsiteX2304" fmla="*/ 2721603 w 3600000"/>
              <a:gd name="connsiteY2304" fmla="*/ 1115987 h 2787466"/>
              <a:gd name="connsiteX2305" fmla="*/ 2716967 w 3600000"/>
              <a:gd name="connsiteY2305" fmla="*/ 1112289 h 2787466"/>
              <a:gd name="connsiteX2306" fmla="*/ 2722015 w 3600000"/>
              <a:gd name="connsiteY2306" fmla="*/ 1108409 h 2787466"/>
              <a:gd name="connsiteX2307" fmla="*/ 2724168 w 3600000"/>
              <a:gd name="connsiteY2307" fmla="*/ 1110132 h 2787466"/>
              <a:gd name="connsiteX2308" fmla="*/ 2723823 w 3600000"/>
              <a:gd name="connsiteY2308" fmla="*/ 1106586 h 2787466"/>
              <a:gd name="connsiteX2309" fmla="*/ 2738041 w 3600000"/>
              <a:gd name="connsiteY2309" fmla="*/ 1099668 h 2787466"/>
              <a:gd name="connsiteX2310" fmla="*/ 2739483 w 3600000"/>
              <a:gd name="connsiteY2310" fmla="*/ 1110516 h 2787466"/>
              <a:gd name="connsiteX2311" fmla="*/ 2774694 w 3600000"/>
              <a:gd name="connsiteY2311" fmla="*/ 1088583 h 2787466"/>
              <a:gd name="connsiteX2312" fmla="*/ 2789587 w 3600000"/>
              <a:gd name="connsiteY2312" fmla="*/ 1079208 h 2787466"/>
              <a:gd name="connsiteX2313" fmla="*/ 2786801 w 3600000"/>
              <a:gd name="connsiteY2313" fmla="*/ 1076523 h 2787466"/>
              <a:gd name="connsiteX2314" fmla="*/ 2783292 w 3600000"/>
              <a:gd name="connsiteY2314" fmla="*/ 1077676 h 2787466"/>
              <a:gd name="connsiteX2315" fmla="*/ 2796406 w 3600000"/>
              <a:gd name="connsiteY2315" fmla="*/ 1064857 h 2787466"/>
              <a:gd name="connsiteX2316" fmla="*/ 2792512 w 3600000"/>
              <a:gd name="connsiteY2316" fmla="*/ 1072673 h 2787466"/>
              <a:gd name="connsiteX2317" fmla="*/ 2790336 w 3600000"/>
              <a:gd name="connsiteY2317" fmla="*/ 1075898 h 2787466"/>
              <a:gd name="connsiteX2318" fmla="*/ 2790740 w 3600000"/>
              <a:gd name="connsiteY2318" fmla="*/ 1078483 h 2787466"/>
              <a:gd name="connsiteX2319" fmla="*/ 2791904 w 3600000"/>
              <a:gd name="connsiteY2319" fmla="*/ 1077749 h 2787466"/>
              <a:gd name="connsiteX2320" fmla="*/ 2810988 w 3600000"/>
              <a:gd name="connsiteY2320" fmla="*/ 1071839 h 2787466"/>
              <a:gd name="connsiteX2321" fmla="*/ 2804394 w 3600000"/>
              <a:gd name="connsiteY2321" fmla="*/ 1077813 h 2787466"/>
              <a:gd name="connsiteX2322" fmla="*/ 2814903 w 3600000"/>
              <a:gd name="connsiteY2322" fmla="*/ 1079700 h 2787466"/>
              <a:gd name="connsiteX2323" fmla="*/ 2820647 w 3600000"/>
              <a:gd name="connsiteY2323" fmla="*/ 1073647 h 2787466"/>
              <a:gd name="connsiteX2324" fmla="*/ 2825409 w 3600000"/>
              <a:gd name="connsiteY2324" fmla="*/ 1073724 h 2787466"/>
              <a:gd name="connsiteX2325" fmla="*/ 2827561 w 3600000"/>
              <a:gd name="connsiteY2325" fmla="*/ 1070487 h 2787466"/>
              <a:gd name="connsiteX2326" fmla="*/ 2828591 w 3600000"/>
              <a:gd name="connsiteY2326" fmla="*/ 1069370 h 2787466"/>
              <a:gd name="connsiteX2327" fmla="*/ 2828143 w 3600000"/>
              <a:gd name="connsiteY2327" fmla="*/ 1067299 h 2787466"/>
              <a:gd name="connsiteX2328" fmla="*/ 2827885 w 3600000"/>
              <a:gd name="connsiteY2328" fmla="*/ 1061934 h 2787466"/>
              <a:gd name="connsiteX2329" fmla="*/ 2830333 w 3600000"/>
              <a:gd name="connsiteY2329" fmla="*/ 1062230 h 2787466"/>
              <a:gd name="connsiteX2330" fmla="*/ 2830257 w 3600000"/>
              <a:gd name="connsiteY2330" fmla="*/ 1061638 h 2787466"/>
              <a:gd name="connsiteX2331" fmla="*/ 2837317 w 3600000"/>
              <a:gd name="connsiteY2331" fmla="*/ 1062488 h 2787466"/>
              <a:gd name="connsiteX2332" fmla="*/ 2841689 w 3600000"/>
              <a:gd name="connsiteY2332" fmla="*/ 1061039 h 2787466"/>
              <a:gd name="connsiteX2333" fmla="*/ 2838139 w 3600000"/>
              <a:gd name="connsiteY2333" fmla="*/ 1058637 h 2787466"/>
              <a:gd name="connsiteX2334" fmla="*/ 2840894 w 3600000"/>
              <a:gd name="connsiteY2334" fmla="*/ 1057712 h 2787466"/>
              <a:gd name="connsiteX2335" fmla="*/ 2838396 w 3600000"/>
              <a:gd name="connsiteY2335" fmla="*/ 1055959 h 2787466"/>
              <a:gd name="connsiteX2336" fmla="*/ 2850247 w 3600000"/>
              <a:gd name="connsiteY2336" fmla="*/ 1045590 h 2787466"/>
              <a:gd name="connsiteX2337" fmla="*/ 2851827 w 3600000"/>
              <a:gd name="connsiteY2337" fmla="*/ 1045782 h 2787466"/>
              <a:gd name="connsiteX2338" fmla="*/ 2852903 w 3600000"/>
              <a:gd name="connsiteY2338" fmla="*/ 1044592 h 2787466"/>
              <a:gd name="connsiteX2339" fmla="*/ 2858001 w 3600000"/>
              <a:gd name="connsiteY2339" fmla="*/ 1037820 h 2787466"/>
              <a:gd name="connsiteX2340" fmla="*/ 2859204 w 3600000"/>
              <a:gd name="connsiteY2340" fmla="*/ 1046498 h 2787466"/>
              <a:gd name="connsiteX2341" fmla="*/ 2853213 w 3600000"/>
              <a:gd name="connsiteY2341" fmla="*/ 1051585 h 2787466"/>
              <a:gd name="connsiteX2342" fmla="*/ 2856374 w 3600000"/>
              <a:gd name="connsiteY2342" fmla="*/ 1052402 h 2787466"/>
              <a:gd name="connsiteX2343" fmla="*/ 2864360 w 3600000"/>
              <a:gd name="connsiteY2343" fmla="*/ 1056903 h 2787466"/>
              <a:gd name="connsiteX2344" fmla="*/ 2860444 w 3600000"/>
              <a:gd name="connsiteY2344" fmla="*/ 1049041 h 2787466"/>
              <a:gd name="connsiteX2345" fmla="*/ 2889087 w 3600000"/>
              <a:gd name="connsiteY2345" fmla="*/ 1029074 h 2787466"/>
              <a:gd name="connsiteX2346" fmla="*/ 2887851 w 3600000"/>
              <a:gd name="connsiteY2346" fmla="*/ 1016181 h 2787466"/>
              <a:gd name="connsiteX2347" fmla="*/ 2899596 w 3600000"/>
              <a:gd name="connsiteY2347" fmla="*/ 1020112 h 2787466"/>
              <a:gd name="connsiteX2348" fmla="*/ 2903512 w 3600000"/>
              <a:gd name="connsiteY2348" fmla="*/ 1004232 h 2787466"/>
              <a:gd name="connsiteX2349" fmla="*/ 2896917 w 3600000"/>
              <a:gd name="connsiteY2349" fmla="*/ 1004232 h 2787466"/>
              <a:gd name="connsiteX2350" fmla="*/ 2895681 w 3600000"/>
              <a:gd name="connsiteY2350" fmla="*/ 996371 h 2787466"/>
              <a:gd name="connsiteX2351" fmla="*/ 2900550 w 3600000"/>
              <a:gd name="connsiteY2351" fmla="*/ 992303 h 2787466"/>
              <a:gd name="connsiteX2352" fmla="*/ 2902338 w 3600000"/>
              <a:gd name="connsiteY2352" fmla="*/ 991276 h 2787466"/>
              <a:gd name="connsiteX2353" fmla="*/ 2899787 w 3600000"/>
              <a:gd name="connsiteY2353" fmla="*/ 990222 h 2787466"/>
              <a:gd name="connsiteX2354" fmla="*/ 2889286 w 3600000"/>
              <a:gd name="connsiteY2354" fmla="*/ 998145 h 2787466"/>
              <a:gd name="connsiteX2355" fmla="*/ 2884627 w 3600000"/>
              <a:gd name="connsiteY2355" fmla="*/ 987548 h 2787466"/>
              <a:gd name="connsiteX2356" fmla="*/ 2885081 w 3600000"/>
              <a:gd name="connsiteY2356" fmla="*/ 987061 h 2787466"/>
              <a:gd name="connsiteX2357" fmla="*/ 2883446 w 3600000"/>
              <a:gd name="connsiteY2357" fmla="*/ 980786 h 2787466"/>
              <a:gd name="connsiteX2358" fmla="*/ 2878784 w 3600000"/>
              <a:gd name="connsiteY2358" fmla="*/ 976404 h 2787466"/>
              <a:gd name="connsiteX2359" fmla="*/ 2869511 w 3600000"/>
              <a:gd name="connsiteY2359" fmla="*/ 974517 h 2787466"/>
              <a:gd name="connsiteX2360" fmla="*/ 3235448 w 3600000"/>
              <a:gd name="connsiteY2360" fmla="*/ 970573 h 2787466"/>
              <a:gd name="connsiteX2361" fmla="*/ 3236878 w 3600000"/>
              <a:gd name="connsiteY2361" fmla="*/ 977821 h 2787466"/>
              <a:gd name="connsiteX2362" fmla="*/ 3235547 w 3600000"/>
              <a:gd name="connsiteY2362" fmla="*/ 985123 h 2787466"/>
              <a:gd name="connsiteX2363" fmla="*/ 3235276 w 3600000"/>
              <a:gd name="connsiteY2363" fmla="*/ 985397 h 2787466"/>
              <a:gd name="connsiteX2364" fmla="*/ 3231612 w 3600000"/>
              <a:gd name="connsiteY2364" fmla="*/ 979668 h 2787466"/>
              <a:gd name="connsiteX2365" fmla="*/ 3235448 w 3600000"/>
              <a:gd name="connsiteY2365" fmla="*/ 970573 h 2787466"/>
              <a:gd name="connsiteX2366" fmla="*/ 3163536 w 3600000"/>
              <a:gd name="connsiteY2366" fmla="*/ 970573 h 2787466"/>
              <a:gd name="connsiteX2367" fmla="*/ 3164747 w 3600000"/>
              <a:gd name="connsiteY2367" fmla="*/ 977772 h 2787466"/>
              <a:gd name="connsiteX2368" fmla="*/ 3155862 w 3600000"/>
              <a:gd name="connsiteY2368" fmla="*/ 978732 h 2787466"/>
              <a:gd name="connsiteX2369" fmla="*/ 3163536 w 3600000"/>
              <a:gd name="connsiteY2369" fmla="*/ 970573 h 2787466"/>
              <a:gd name="connsiteX2370" fmla="*/ 3240635 w 3600000"/>
              <a:gd name="connsiteY2370" fmla="*/ 966499 h 2787466"/>
              <a:gd name="connsiteX2371" fmla="*/ 3223737 w 3600000"/>
              <a:gd name="connsiteY2371" fmla="*/ 974517 h 2787466"/>
              <a:gd name="connsiteX2372" fmla="*/ 3230331 w 3600000"/>
              <a:gd name="connsiteY2372" fmla="*/ 990397 h 2787466"/>
              <a:gd name="connsiteX2373" fmla="*/ 3235276 w 3600000"/>
              <a:gd name="connsiteY2373" fmla="*/ 985397 h 2787466"/>
              <a:gd name="connsiteX2374" fmla="*/ 3235448 w 3600000"/>
              <a:gd name="connsiteY2374" fmla="*/ 985666 h 2787466"/>
              <a:gd name="connsiteX2375" fmla="*/ 3235547 w 3600000"/>
              <a:gd name="connsiteY2375" fmla="*/ 985123 h 2787466"/>
              <a:gd name="connsiteX2376" fmla="*/ 3238883 w 3600000"/>
              <a:gd name="connsiteY2376" fmla="*/ 981749 h 2787466"/>
              <a:gd name="connsiteX2377" fmla="*/ 3240635 w 3600000"/>
              <a:gd name="connsiteY2377" fmla="*/ 966499 h 2787466"/>
              <a:gd name="connsiteX2378" fmla="*/ 2902164 w 3600000"/>
              <a:gd name="connsiteY2378" fmla="*/ 966370 h 2787466"/>
              <a:gd name="connsiteX2379" fmla="*/ 2899059 w 3600000"/>
              <a:gd name="connsiteY2379" fmla="*/ 968783 h 2787466"/>
              <a:gd name="connsiteX2380" fmla="*/ 2899229 w 3600000"/>
              <a:gd name="connsiteY2380" fmla="*/ 971530 h 2787466"/>
              <a:gd name="connsiteX2381" fmla="*/ 2899596 w 3600000"/>
              <a:gd name="connsiteY2381" fmla="*/ 971530 h 2787466"/>
              <a:gd name="connsiteX2382" fmla="*/ 2950288 w 3600000"/>
              <a:gd name="connsiteY2382" fmla="*/ 965555 h 2787466"/>
              <a:gd name="connsiteX2383" fmla="*/ 2946664 w 3600000"/>
              <a:gd name="connsiteY2383" fmla="*/ 968337 h 2787466"/>
              <a:gd name="connsiteX2384" fmla="*/ 2946270 w 3600000"/>
              <a:gd name="connsiteY2384" fmla="*/ 967992 h 2787466"/>
              <a:gd name="connsiteX2385" fmla="*/ 2950288 w 3600000"/>
              <a:gd name="connsiteY2385" fmla="*/ 965555 h 2787466"/>
              <a:gd name="connsiteX2386" fmla="*/ 2904540 w 3600000"/>
              <a:gd name="connsiteY2386" fmla="*/ 964523 h 2787466"/>
              <a:gd name="connsiteX2387" fmla="*/ 2904129 w 3600000"/>
              <a:gd name="connsiteY2387" fmla="*/ 964842 h 2787466"/>
              <a:gd name="connsiteX2388" fmla="*/ 2904603 w 3600000"/>
              <a:gd name="connsiteY2388" fmla="*/ 964730 h 2787466"/>
              <a:gd name="connsiteX2389" fmla="*/ 3515767 w 3600000"/>
              <a:gd name="connsiteY2389" fmla="*/ 960174 h 2787466"/>
              <a:gd name="connsiteX2390" fmla="*/ 3518263 w 3600000"/>
              <a:gd name="connsiteY2390" fmla="*/ 972235 h 2787466"/>
              <a:gd name="connsiteX2391" fmla="*/ 3515767 w 3600000"/>
              <a:gd name="connsiteY2391" fmla="*/ 960174 h 2787466"/>
              <a:gd name="connsiteX2392" fmla="*/ 2818818 w 3600000"/>
              <a:gd name="connsiteY2392" fmla="*/ 954550 h 2787466"/>
              <a:gd name="connsiteX2393" fmla="*/ 2820055 w 3600000"/>
              <a:gd name="connsiteY2393" fmla="*/ 960524 h 2787466"/>
              <a:gd name="connsiteX2394" fmla="*/ 2818818 w 3600000"/>
              <a:gd name="connsiteY2394" fmla="*/ 954550 h 2787466"/>
              <a:gd name="connsiteX2395" fmla="*/ 2889087 w 3600000"/>
              <a:gd name="connsiteY2395" fmla="*/ 953606 h 2787466"/>
              <a:gd name="connsiteX2396" fmla="*/ 2879299 w 3600000"/>
              <a:gd name="connsiteY2396" fmla="*/ 961802 h 2787466"/>
              <a:gd name="connsiteX2397" fmla="*/ 2874834 w 3600000"/>
              <a:gd name="connsiteY2397" fmla="*/ 966239 h 2787466"/>
              <a:gd name="connsiteX2398" fmla="*/ 2877971 w 3600000"/>
              <a:gd name="connsiteY2398" fmla="*/ 966815 h 2787466"/>
              <a:gd name="connsiteX2399" fmla="*/ 2882312 w 3600000"/>
              <a:gd name="connsiteY2399" fmla="*/ 964395 h 2787466"/>
              <a:gd name="connsiteX2400" fmla="*/ 2889087 w 3600000"/>
              <a:gd name="connsiteY2400" fmla="*/ 953606 h 2787466"/>
              <a:gd name="connsiteX2401" fmla="*/ 3377510 w 3600000"/>
              <a:gd name="connsiteY2401" fmla="*/ 950468 h 2787466"/>
              <a:gd name="connsiteX2402" fmla="*/ 3376281 w 3600000"/>
              <a:gd name="connsiteY2402" fmla="*/ 971110 h 2787466"/>
              <a:gd name="connsiteX2403" fmla="*/ 3377510 w 3600000"/>
              <a:gd name="connsiteY2403" fmla="*/ 950468 h 2787466"/>
              <a:gd name="connsiteX2404" fmla="*/ 2984286 w 3600000"/>
              <a:gd name="connsiteY2404" fmla="*/ 947735 h 2787466"/>
              <a:gd name="connsiteX2405" fmla="*/ 2980375 w 3600000"/>
              <a:gd name="connsiteY2405" fmla="*/ 948575 h 2787466"/>
              <a:gd name="connsiteX2406" fmla="*/ 2969864 w 3600000"/>
              <a:gd name="connsiteY2406" fmla="*/ 961467 h 2787466"/>
              <a:gd name="connsiteX2407" fmla="*/ 2986762 w 3600000"/>
              <a:gd name="connsiteY2407" fmla="*/ 948575 h 2787466"/>
              <a:gd name="connsiteX2408" fmla="*/ 2984286 w 3600000"/>
              <a:gd name="connsiteY2408" fmla="*/ 947735 h 2787466"/>
              <a:gd name="connsiteX2409" fmla="*/ 3404287 w 3600000"/>
              <a:gd name="connsiteY2409" fmla="*/ 945615 h 2787466"/>
              <a:gd name="connsiteX2410" fmla="*/ 3402883 w 3600000"/>
              <a:gd name="connsiteY2410" fmla="*/ 958628 h 2787466"/>
              <a:gd name="connsiteX2411" fmla="*/ 3404287 w 3600000"/>
              <a:gd name="connsiteY2411" fmla="*/ 945615 h 2787466"/>
              <a:gd name="connsiteX2412" fmla="*/ 3227652 w 3600000"/>
              <a:gd name="connsiteY2412" fmla="*/ 945588 h 2787466"/>
              <a:gd name="connsiteX2413" fmla="*/ 3225180 w 3600000"/>
              <a:gd name="connsiteY2413" fmla="*/ 962568 h 2787466"/>
              <a:gd name="connsiteX2414" fmla="*/ 3227652 w 3600000"/>
              <a:gd name="connsiteY2414" fmla="*/ 945588 h 2787466"/>
              <a:gd name="connsiteX2415" fmla="*/ 3144403 w 3600000"/>
              <a:gd name="connsiteY2415" fmla="*/ 940714 h 2787466"/>
              <a:gd name="connsiteX2416" fmla="*/ 3141683 w 3600000"/>
              <a:gd name="connsiteY2416" fmla="*/ 941691 h 2787466"/>
              <a:gd name="connsiteX2417" fmla="*/ 3136384 w 3600000"/>
              <a:gd name="connsiteY2417" fmla="*/ 952544 h 2787466"/>
              <a:gd name="connsiteX2418" fmla="*/ 3134638 w 3600000"/>
              <a:gd name="connsiteY2418" fmla="*/ 958692 h 2787466"/>
              <a:gd name="connsiteX2419" fmla="*/ 3137963 w 3600000"/>
              <a:gd name="connsiteY2419" fmla="*/ 956711 h 2787466"/>
              <a:gd name="connsiteX2420" fmla="*/ 3146875 w 3600000"/>
              <a:gd name="connsiteY2420" fmla="*/ 952662 h 2787466"/>
              <a:gd name="connsiteX2421" fmla="*/ 3144403 w 3600000"/>
              <a:gd name="connsiteY2421" fmla="*/ 940714 h 2787466"/>
              <a:gd name="connsiteX2422" fmla="*/ 1712372 w 3600000"/>
              <a:gd name="connsiteY2422" fmla="*/ 937359 h 2787466"/>
              <a:gd name="connsiteX2423" fmla="*/ 1711261 w 3600000"/>
              <a:gd name="connsiteY2423" fmla="*/ 939324 h 2787466"/>
              <a:gd name="connsiteX2424" fmla="*/ 1712784 w 3600000"/>
              <a:gd name="connsiteY2424" fmla="*/ 938360 h 2787466"/>
              <a:gd name="connsiteX2425" fmla="*/ 3511259 w 3600000"/>
              <a:gd name="connsiteY2425" fmla="*/ 935909 h 2787466"/>
              <a:gd name="connsiteX2426" fmla="*/ 3508633 w 3600000"/>
              <a:gd name="connsiteY2426" fmla="*/ 953778 h 2787466"/>
              <a:gd name="connsiteX2427" fmla="*/ 3511259 w 3600000"/>
              <a:gd name="connsiteY2427" fmla="*/ 935909 h 2787466"/>
              <a:gd name="connsiteX2428" fmla="*/ 3487161 w 3600000"/>
              <a:gd name="connsiteY2428" fmla="*/ 935909 h 2787466"/>
              <a:gd name="connsiteX2429" fmla="*/ 3492297 w 3600000"/>
              <a:gd name="connsiteY2429" fmla="*/ 958905 h 2787466"/>
              <a:gd name="connsiteX2430" fmla="*/ 3479354 w 3600000"/>
              <a:gd name="connsiteY2430" fmla="*/ 958905 h 2787466"/>
              <a:gd name="connsiteX2431" fmla="*/ 3487161 w 3600000"/>
              <a:gd name="connsiteY2431" fmla="*/ 935909 h 2787466"/>
              <a:gd name="connsiteX2432" fmla="*/ 1710819 w 3600000"/>
              <a:gd name="connsiteY2432" fmla="*/ 933584 h 2787466"/>
              <a:gd name="connsiteX2433" fmla="*/ 1710747 w 3600000"/>
              <a:gd name="connsiteY2433" fmla="*/ 934362 h 2787466"/>
              <a:gd name="connsiteX2434" fmla="*/ 1711086 w 3600000"/>
              <a:gd name="connsiteY2434" fmla="*/ 934232 h 2787466"/>
              <a:gd name="connsiteX2435" fmla="*/ 2011788 w 3600000"/>
              <a:gd name="connsiteY2435" fmla="*/ 930779 h 2787466"/>
              <a:gd name="connsiteX2436" fmla="*/ 2009220 w 3600000"/>
              <a:gd name="connsiteY2436" fmla="*/ 933294 h 2787466"/>
              <a:gd name="connsiteX2437" fmla="*/ 2009037 w 3600000"/>
              <a:gd name="connsiteY2437" fmla="*/ 933505 h 2787466"/>
              <a:gd name="connsiteX2438" fmla="*/ 2009037 w 3600000"/>
              <a:gd name="connsiteY2438" fmla="*/ 935792 h 2787466"/>
              <a:gd name="connsiteX2439" fmla="*/ 2013802 w 3600000"/>
              <a:gd name="connsiteY2439" fmla="*/ 934692 h 2787466"/>
              <a:gd name="connsiteX2440" fmla="*/ 2015018 w 3600000"/>
              <a:gd name="connsiteY2440" fmla="*/ 931453 h 2787466"/>
              <a:gd name="connsiteX2441" fmla="*/ 2927253 w 3600000"/>
              <a:gd name="connsiteY2441" fmla="*/ 929670 h 2787466"/>
              <a:gd name="connsiteX2442" fmla="*/ 2929695 w 3600000"/>
              <a:gd name="connsiteY2442" fmla="*/ 939906 h 2787466"/>
              <a:gd name="connsiteX2443" fmla="*/ 2927253 w 3600000"/>
              <a:gd name="connsiteY2443" fmla="*/ 929670 h 2787466"/>
              <a:gd name="connsiteX2444" fmla="*/ 1703617 w 3600000"/>
              <a:gd name="connsiteY2444" fmla="*/ 929092 h 2787466"/>
              <a:gd name="connsiteX2445" fmla="*/ 1698645 w 3600000"/>
              <a:gd name="connsiteY2445" fmla="*/ 930946 h 2787466"/>
              <a:gd name="connsiteX2446" fmla="*/ 1698422 w 3600000"/>
              <a:gd name="connsiteY2446" fmla="*/ 931278 h 2787466"/>
              <a:gd name="connsiteX2447" fmla="*/ 1705950 w 3600000"/>
              <a:gd name="connsiteY2447" fmla="*/ 929909 h 2787466"/>
              <a:gd name="connsiteX2448" fmla="*/ 1708146 w 3600000"/>
              <a:gd name="connsiteY2448" fmla="*/ 929418 h 2787466"/>
              <a:gd name="connsiteX2449" fmla="*/ 3207454 w 3600000"/>
              <a:gd name="connsiteY2449" fmla="*/ 928976 h 2787466"/>
              <a:gd name="connsiteX2450" fmla="*/ 3198492 w 3600000"/>
              <a:gd name="connsiteY2450" fmla="*/ 941990 h 2787466"/>
              <a:gd name="connsiteX2451" fmla="*/ 3207454 w 3600000"/>
              <a:gd name="connsiteY2451" fmla="*/ 928976 h 2787466"/>
              <a:gd name="connsiteX2452" fmla="*/ 287248 w 3600000"/>
              <a:gd name="connsiteY2452" fmla="*/ 928976 h 2787466"/>
              <a:gd name="connsiteX2453" fmla="*/ 278109 w 3600000"/>
              <a:gd name="connsiteY2453" fmla="*/ 944765 h 2787466"/>
              <a:gd name="connsiteX2454" fmla="*/ 287248 w 3600000"/>
              <a:gd name="connsiteY2454" fmla="*/ 928976 h 2787466"/>
              <a:gd name="connsiteX2455" fmla="*/ 1941613 w 3600000"/>
              <a:gd name="connsiteY2455" fmla="*/ 928622 h 2787466"/>
              <a:gd name="connsiteX2456" fmla="*/ 1946363 w 3600000"/>
              <a:gd name="connsiteY2456" fmla="*/ 928779 h 2787466"/>
              <a:gd name="connsiteX2457" fmla="*/ 1947549 w 3600000"/>
              <a:gd name="connsiteY2457" fmla="*/ 933849 h 2787466"/>
              <a:gd name="connsiteX2458" fmla="*/ 1940042 w 3600000"/>
              <a:gd name="connsiteY2458" fmla="*/ 930680 h 2787466"/>
              <a:gd name="connsiteX2459" fmla="*/ 1941613 w 3600000"/>
              <a:gd name="connsiteY2459" fmla="*/ 928622 h 2787466"/>
              <a:gd name="connsiteX2460" fmla="*/ 1788082 w 3600000"/>
              <a:gd name="connsiteY2460" fmla="*/ 927857 h 2787466"/>
              <a:gd name="connsiteX2461" fmla="*/ 1768300 w 3600000"/>
              <a:gd name="connsiteY2461" fmla="*/ 928976 h 2787466"/>
              <a:gd name="connsiteX2462" fmla="*/ 1788082 w 3600000"/>
              <a:gd name="connsiteY2462" fmla="*/ 927857 h 2787466"/>
              <a:gd name="connsiteX2463" fmla="*/ 3161762 w 3600000"/>
              <a:gd name="connsiteY2463" fmla="*/ 927765 h 2787466"/>
              <a:gd name="connsiteX2464" fmla="*/ 3154101 w 3600000"/>
              <a:gd name="connsiteY2464" fmla="*/ 930643 h 2787466"/>
              <a:gd name="connsiteX2465" fmla="*/ 3154284 w 3600000"/>
              <a:gd name="connsiteY2465" fmla="*/ 931595 h 2787466"/>
              <a:gd name="connsiteX2466" fmla="*/ 3157475 w 3600000"/>
              <a:gd name="connsiteY2466" fmla="*/ 930858 h 2787466"/>
              <a:gd name="connsiteX2467" fmla="*/ 3156942 w 3600000"/>
              <a:gd name="connsiteY2467" fmla="*/ 932315 h 2787466"/>
              <a:gd name="connsiteX2468" fmla="*/ 3160681 w 3600000"/>
              <a:gd name="connsiteY2468" fmla="*/ 929838 h 2787466"/>
              <a:gd name="connsiteX2469" fmla="*/ 2057257 w 3600000"/>
              <a:gd name="connsiteY2469" fmla="*/ 926869 h 2787466"/>
              <a:gd name="connsiteX2470" fmla="*/ 2049959 w 3600000"/>
              <a:gd name="connsiteY2470" fmla="*/ 927925 h 2787466"/>
              <a:gd name="connsiteX2471" fmla="*/ 2048218 w 3600000"/>
              <a:gd name="connsiteY2471" fmla="*/ 929099 h 2787466"/>
              <a:gd name="connsiteX2472" fmla="*/ 2055405 w 3600000"/>
              <a:gd name="connsiteY2472" fmla="*/ 927343 h 2787466"/>
              <a:gd name="connsiteX2473" fmla="*/ 3015406 w 3600000"/>
              <a:gd name="connsiteY2473" fmla="*/ 926720 h 2787466"/>
              <a:gd name="connsiteX2474" fmla="*/ 3014989 w 3600000"/>
              <a:gd name="connsiteY2474" fmla="*/ 926864 h 2787466"/>
              <a:gd name="connsiteX2475" fmla="*/ 3013833 w 3600000"/>
              <a:gd name="connsiteY2475" fmla="*/ 928130 h 2787466"/>
              <a:gd name="connsiteX2476" fmla="*/ 3012950 w 3600000"/>
              <a:gd name="connsiteY2476" fmla="*/ 927566 h 2787466"/>
              <a:gd name="connsiteX2477" fmla="*/ 3008553 w 3600000"/>
              <a:gd name="connsiteY2477" fmla="*/ 929079 h 2787466"/>
              <a:gd name="connsiteX2478" fmla="*/ 3007575 w 3600000"/>
              <a:gd name="connsiteY2478" fmla="*/ 933796 h 2787466"/>
              <a:gd name="connsiteX2479" fmla="*/ 3015406 w 3600000"/>
              <a:gd name="connsiteY2479" fmla="*/ 926720 h 2787466"/>
              <a:gd name="connsiteX2480" fmla="*/ 2522986 w 3600000"/>
              <a:gd name="connsiteY2480" fmla="*/ 926387 h 2787466"/>
              <a:gd name="connsiteX2481" fmla="*/ 2519200 w 3600000"/>
              <a:gd name="connsiteY2481" fmla="*/ 929708 h 2787466"/>
              <a:gd name="connsiteX2482" fmla="*/ 2529709 w 3600000"/>
              <a:gd name="connsiteY2482" fmla="*/ 926720 h 2787466"/>
              <a:gd name="connsiteX2483" fmla="*/ 2522986 w 3600000"/>
              <a:gd name="connsiteY2483" fmla="*/ 926387 h 2787466"/>
              <a:gd name="connsiteX2484" fmla="*/ 3383933 w 3600000"/>
              <a:gd name="connsiteY2484" fmla="*/ 922737 h 2787466"/>
              <a:gd name="connsiteX2485" fmla="*/ 3387827 w 3600000"/>
              <a:gd name="connsiteY2485" fmla="*/ 948233 h 2787466"/>
              <a:gd name="connsiteX2486" fmla="*/ 3378811 w 3600000"/>
              <a:gd name="connsiteY2486" fmla="*/ 946367 h 2787466"/>
              <a:gd name="connsiteX2487" fmla="*/ 3383933 w 3600000"/>
              <a:gd name="connsiteY2487" fmla="*/ 922737 h 2787466"/>
              <a:gd name="connsiteX2488" fmla="*/ 1846794 w 3600000"/>
              <a:gd name="connsiteY2488" fmla="*/ 922097 h 2787466"/>
              <a:gd name="connsiteX2489" fmla="*/ 1850793 w 3600000"/>
              <a:gd name="connsiteY2489" fmla="*/ 923697 h 2787466"/>
              <a:gd name="connsiteX2490" fmla="*/ 1844472 w 3600000"/>
              <a:gd name="connsiteY2490" fmla="*/ 928817 h 2787466"/>
              <a:gd name="connsiteX2491" fmla="*/ 1843314 w 3600000"/>
              <a:gd name="connsiteY2491" fmla="*/ 926784 h 2787466"/>
              <a:gd name="connsiteX2492" fmla="*/ 1826457 w 3600000"/>
              <a:gd name="connsiteY2492" fmla="*/ 931594 h 2787466"/>
              <a:gd name="connsiteX2493" fmla="*/ 1842448 w 3600000"/>
              <a:gd name="connsiteY2493" fmla="*/ 924121 h 2787466"/>
              <a:gd name="connsiteX2494" fmla="*/ 1843596 w 3600000"/>
              <a:gd name="connsiteY2494" fmla="*/ 924504 h 2787466"/>
              <a:gd name="connsiteX2495" fmla="*/ 2978909 w 3600000"/>
              <a:gd name="connsiteY2495" fmla="*/ 922044 h 2787466"/>
              <a:gd name="connsiteX2496" fmla="*/ 2985725 w 3600000"/>
              <a:gd name="connsiteY2496" fmla="*/ 926945 h 2787466"/>
              <a:gd name="connsiteX2497" fmla="*/ 2973585 w 3600000"/>
              <a:gd name="connsiteY2497" fmla="*/ 925996 h 2787466"/>
              <a:gd name="connsiteX2498" fmla="*/ 2978909 w 3600000"/>
              <a:gd name="connsiteY2498" fmla="*/ 922044 h 2787466"/>
              <a:gd name="connsiteX2499" fmla="*/ 1796835 w 3600000"/>
              <a:gd name="connsiteY2499" fmla="*/ 920371 h 2787466"/>
              <a:gd name="connsiteX2500" fmla="*/ 1801724 w 3600000"/>
              <a:gd name="connsiteY2500" fmla="*/ 921924 h 2787466"/>
              <a:gd name="connsiteX2501" fmla="*/ 1800341 w 3600000"/>
              <a:gd name="connsiteY2501" fmla="*/ 921924 h 2787466"/>
              <a:gd name="connsiteX2502" fmla="*/ 1792834 w 3600000"/>
              <a:gd name="connsiteY2502" fmla="*/ 924877 h 2787466"/>
              <a:gd name="connsiteX2503" fmla="*/ 1796835 w 3600000"/>
              <a:gd name="connsiteY2503" fmla="*/ 920371 h 2787466"/>
              <a:gd name="connsiteX2504" fmla="*/ 1965011 w 3600000"/>
              <a:gd name="connsiteY2504" fmla="*/ 919042 h 2787466"/>
              <a:gd name="connsiteX2505" fmla="*/ 1973459 w 3600000"/>
              <a:gd name="connsiteY2505" fmla="*/ 920324 h 2787466"/>
              <a:gd name="connsiteX2506" fmla="*/ 1960558 w 3600000"/>
              <a:gd name="connsiteY2506" fmla="*/ 927059 h 2787466"/>
              <a:gd name="connsiteX2507" fmla="*/ 1965011 w 3600000"/>
              <a:gd name="connsiteY2507" fmla="*/ 919042 h 2787466"/>
              <a:gd name="connsiteX2508" fmla="*/ 2076649 w 3600000"/>
              <a:gd name="connsiteY2508" fmla="*/ 918649 h 2787466"/>
              <a:gd name="connsiteX2509" fmla="*/ 2076420 w 3600000"/>
              <a:gd name="connsiteY2509" fmla="*/ 918892 h 2787466"/>
              <a:gd name="connsiteX2510" fmla="*/ 2071496 w 3600000"/>
              <a:gd name="connsiteY2510" fmla="*/ 919592 h 2787466"/>
              <a:gd name="connsiteX2511" fmla="*/ 2076649 w 3600000"/>
              <a:gd name="connsiteY2511" fmla="*/ 918649 h 2787466"/>
              <a:gd name="connsiteX2512" fmla="*/ 2583755 w 3600000"/>
              <a:gd name="connsiteY2512" fmla="*/ 917765 h 2787466"/>
              <a:gd name="connsiteX2513" fmla="*/ 2582152 w 3600000"/>
              <a:gd name="connsiteY2513" fmla="*/ 918545 h 2787466"/>
              <a:gd name="connsiteX2514" fmla="*/ 2562596 w 3600000"/>
              <a:gd name="connsiteY2514" fmla="*/ 927514 h 2787466"/>
              <a:gd name="connsiteX2515" fmla="*/ 2565809 w 3600000"/>
              <a:gd name="connsiteY2515" fmla="*/ 927449 h 2787466"/>
              <a:gd name="connsiteX2516" fmla="*/ 2579430 w 3600000"/>
              <a:gd name="connsiteY2516" fmla="*/ 921154 h 2787466"/>
              <a:gd name="connsiteX2517" fmla="*/ 3545762 w 3600000"/>
              <a:gd name="connsiteY2517" fmla="*/ 916775 h 2787466"/>
              <a:gd name="connsiteX2518" fmla="*/ 3555755 w 3600000"/>
              <a:gd name="connsiteY2518" fmla="*/ 928818 h 2787466"/>
              <a:gd name="connsiteX2519" fmla="*/ 3546770 w 3600000"/>
              <a:gd name="connsiteY2519" fmla="*/ 927705 h 2787466"/>
              <a:gd name="connsiteX2520" fmla="*/ 3540236 w 3600000"/>
              <a:gd name="connsiteY2520" fmla="*/ 917697 h 2787466"/>
              <a:gd name="connsiteX2521" fmla="*/ 3545762 w 3600000"/>
              <a:gd name="connsiteY2521" fmla="*/ 916775 h 2787466"/>
              <a:gd name="connsiteX2522" fmla="*/ 2561263 w 3600000"/>
              <a:gd name="connsiteY2522" fmla="*/ 915342 h 2787466"/>
              <a:gd name="connsiteX2523" fmla="*/ 2559588 w 3600000"/>
              <a:gd name="connsiteY2523" fmla="*/ 917759 h 2787466"/>
              <a:gd name="connsiteX2524" fmla="*/ 2564946 w 3600000"/>
              <a:gd name="connsiteY2524" fmla="*/ 915873 h 2787466"/>
              <a:gd name="connsiteX2525" fmla="*/ 2561263 w 3600000"/>
              <a:gd name="connsiteY2525" fmla="*/ 915342 h 2787466"/>
              <a:gd name="connsiteX2526" fmla="*/ 2006563 w 3600000"/>
              <a:gd name="connsiteY2526" fmla="*/ 914886 h 2787466"/>
              <a:gd name="connsiteX2527" fmla="*/ 2007143 w 3600000"/>
              <a:gd name="connsiteY2527" fmla="*/ 918164 h 2787466"/>
              <a:gd name="connsiteX2528" fmla="*/ 2009829 w 3600000"/>
              <a:gd name="connsiteY2528" fmla="*/ 917882 h 2787466"/>
              <a:gd name="connsiteX2529" fmla="*/ 2009449 w 3600000"/>
              <a:gd name="connsiteY2529" fmla="*/ 916693 h 2787466"/>
              <a:gd name="connsiteX2530" fmla="*/ 2006563 w 3600000"/>
              <a:gd name="connsiteY2530" fmla="*/ 914886 h 2787466"/>
              <a:gd name="connsiteX2531" fmla="*/ 3530032 w 3600000"/>
              <a:gd name="connsiteY2531" fmla="*/ 913032 h 2787466"/>
              <a:gd name="connsiteX2532" fmla="*/ 3519632 w 3600000"/>
              <a:gd name="connsiteY2532" fmla="*/ 960015 h 2787466"/>
              <a:gd name="connsiteX2533" fmla="*/ 3530032 w 3600000"/>
              <a:gd name="connsiteY2533" fmla="*/ 913032 h 2787466"/>
              <a:gd name="connsiteX2534" fmla="*/ 1983070 w 3600000"/>
              <a:gd name="connsiteY2534" fmla="*/ 913000 h 2787466"/>
              <a:gd name="connsiteX2535" fmla="*/ 1981911 w 3600000"/>
              <a:gd name="connsiteY2535" fmla="*/ 916203 h 2787466"/>
              <a:gd name="connsiteX2536" fmla="*/ 1981843 w 3600000"/>
              <a:gd name="connsiteY2536" fmla="*/ 917642 h 2787466"/>
              <a:gd name="connsiteX2537" fmla="*/ 1982064 w 3600000"/>
              <a:gd name="connsiteY2537" fmla="*/ 919746 h 2787466"/>
              <a:gd name="connsiteX2538" fmla="*/ 1986788 w 3600000"/>
              <a:gd name="connsiteY2538" fmla="*/ 929497 h 2787466"/>
              <a:gd name="connsiteX2539" fmla="*/ 1993630 w 3600000"/>
              <a:gd name="connsiteY2539" fmla="*/ 914826 h 2787466"/>
              <a:gd name="connsiteX2540" fmla="*/ 1993374 w 3600000"/>
              <a:gd name="connsiteY2540" fmla="*/ 913942 h 2787466"/>
              <a:gd name="connsiteX2541" fmla="*/ 1983070 w 3600000"/>
              <a:gd name="connsiteY2541" fmla="*/ 913000 h 2787466"/>
              <a:gd name="connsiteX2542" fmla="*/ 1874413 w 3600000"/>
              <a:gd name="connsiteY2542" fmla="*/ 911645 h 2787466"/>
              <a:gd name="connsiteX2543" fmla="*/ 1862804 w 3600000"/>
              <a:gd name="connsiteY2543" fmla="*/ 920764 h 2787466"/>
              <a:gd name="connsiteX2544" fmla="*/ 1874413 w 3600000"/>
              <a:gd name="connsiteY2544" fmla="*/ 911645 h 2787466"/>
              <a:gd name="connsiteX2545" fmla="*/ 3390652 w 3600000"/>
              <a:gd name="connsiteY2545" fmla="*/ 910952 h 2787466"/>
              <a:gd name="connsiteX2546" fmla="*/ 3397363 w 3600000"/>
              <a:gd name="connsiteY2546" fmla="*/ 917826 h 2787466"/>
              <a:gd name="connsiteX2547" fmla="*/ 3383942 w 3600000"/>
              <a:gd name="connsiteY2547" fmla="*/ 920794 h 2787466"/>
              <a:gd name="connsiteX2548" fmla="*/ 3390652 w 3600000"/>
              <a:gd name="connsiteY2548" fmla="*/ 910952 h 2787466"/>
              <a:gd name="connsiteX2549" fmla="*/ 1913406 w 3600000"/>
              <a:gd name="connsiteY2549" fmla="*/ 909020 h 2787466"/>
              <a:gd name="connsiteX2550" fmla="*/ 1920750 w 3600000"/>
              <a:gd name="connsiteY2550" fmla="*/ 910769 h 2787466"/>
              <a:gd name="connsiteX2551" fmla="*/ 1912781 w 3600000"/>
              <a:gd name="connsiteY2551" fmla="*/ 913773 h 2787466"/>
              <a:gd name="connsiteX2552" fmla="*/ 1912781 w 3600000"/>
              <a:gd name="connsiteY2552" fmla="*/ 909223 h 2787466"/>
              <a:gd name="connsiteX2553" fmla="*/ 2931518 w 3600000"/>
              <a:gd name="connsiteY2553" fmla="*/ 908992 h 2787466"/>
              <a:gd name="connsiteX2554" fmla="*/ 2931057 w 3600000"/>
              <a:gd name="connsiteY2554" fmla="*/ 911551 h 2787466"/>
              <a:gd name="connsiteX2555" fmla="*/ 2928240 w 3600000"/>
              <a:gd name="connsiteY2555" fmla="*/ 913828 h 2787466"/>
              <a:gd name="connsiteX2556" fmla="*/ 2935478 w 3600000"/>
              <a:gd name="connsiteY2556" fmla="*/ 911883 h 2787466"/>
              <a:gd name="connsiteX2557" fmla="*/ 2935668 w 3600000"/>
              <a:gd name="connsiteY2557" fmla="*/ 909340 h 2787466"/>
              <a:gd name="connsiteX2558" fmla="*/ 2935440 w 3600000"/>
              <a:gd name="connsiteY2558" fmla="*/ 909321 h 2787466"/>
              <a:gd name="connsiteX2559" fmla="*/ 1848550 w 3600000"/>
              <a:gd name="connsiteY2559" fmla="*/ 906682 h 2787466"/>
              <a:gd name="connsiteX2560" fmla="*/ 1847332 w 3600000"/>
              <a:gd name="connsiteY2560" fmla="*/ 906863 h 2787466"/>
              <a:gd name="connsiteX2561" fmla="*/ 1848636 w 3600000"/>
              <a:gd name="connsiteY2561" fmla="*/ 911126 h 2787466"/>
              <a:gd name="connsiteX2562" fmla="*/ 1848727 w 3600000"/>
              <a:gd name="connsiteY2562" fmla="*/ 908755 h 2787466"/>
              <a:gd name="connsiteX2563" fmla="*/ 1848550 w 3600000"/>
              <a:gd name="connsiteY2563" fmla="*/ 906682 h 2787466"/>
              <a:gd name="connsiteX2564" fmla="*/ 2079205 w 3600000"/>
              <a:gd name="connsiteY2564" fmla="*/ 905855 h 2787466"/>
              <a:gd name="connsiteX2565" fmla="*/ 2077792 w 3600000"/>
              <a:gd name="connsiteY2565" fmla="*/ 906069 h 2787466"/>
              <a:gd name="connsiteX2566" fmla="*/ 2081532 w 3600000"/>
              <a:gd name="connsiteY2566" fmla="*/ 906842 h 2787466"/>
              <a:gd name="connsiteX2567" fmla="*/ 2081583 w 3600000"/>
              <a:gd name="connsiteY2567" fmla="*/ 906775 h 2787466"/>
              <a:gd name="connsiteX2568" fmla="*/ 2011715 w 3600000"/>
              <a:gd name="connsiteY2568" fmla="*/ 904982 h 2787466"/>
              <a:gd name="connsiteX2569" fmla="*/ 2012123 w 3600000"/>
              <a:gd name="connsiteY2569" fmla="*/ 905035 h 2787466"/>
              <a:gd name="connsiteX2570" fmla="*/ 2011938 w 3600000"/>
              <a:gd name="connsiteY2570" fmla="*/ 905194 h 2787466"/>
              <a:gd name="connsiteX2571" fmla="*/ 2936070 w 3600000"/>
              <a:gd name="connsiteY2571" fmla="*/ 903923 h 2787466"/>
              <a:gd name="connsiteX2572" fmla="*/ 2932442 w 3600000"/>
              <a:gd name="connsiteY2572" fmla="*/ 905582 h 2787466"/>
              <a:gd name="connsiteX2573" fmla="*/ 2931851 w 3600000"/>
              <a:gd name="connsiteY2573" fmla="*/ 907635 h 2787466"/>
              <a:gd name="connsiteX2574" fmla="*/ 2934747 w 3600000"/>
              <a:gd name="connsiteY2574" fmla="*/ 906099 h 2787466"/>
              <a:gd name="connsiteX2575" fmla="*/ 2935968 w 3600000"/>
              <a:gd name="connsiteY2575" fmla="*/ 905301 h 2787466"/>
              <a:gd name="connsiteX2576" fmla="*/ 2017087 w 3600000"/>
              <a:gd name="connsiteY2576" fmla="*/ 903841 h 2787466"/>
              <a:gd name="connsiteX2577" fmla="*/ 2028615 w 3600000"/>
              <a:gd name="connsiteY2577" fmla="*/ 907027 h 2787466"/>
              <a:gd name="connsiteX2578" fmla="*/ 2020165 w 3600000"/>
              <a:gd name="connsiteY2578" fmla="*/ 906064 h 2787466"/>
              <a:gd name="connsiteX2579" fmla="*/ 2015437 w 3600000"/>
              <a:gd name="connsiteY2579" fmla="*/ 905459 h 2787466"/>
              <a:gd name="connsiteX2580" fmla="*/ 2015437 w 3600000"/>
              <a:gd name="connsiteY2580" fmla="*/ 908529 h 2787466"/>
              <a:gd name="connsiteX2581" fmla="*/ 2015680 w 3600000"/>
              <a:gd name="connsiteY2581" fmla="*/ 908760 h 2787466"/>
              <a:gd name="connsiteX2582" fmla="*/ 2029851 w 3600000"/>
              <a:gd name="connsiteY2582" fmla="*/ 911900 h 2787466"/>
              <a:gd name="connsiteX2583" fmla="*/ 2023462 w 3600000"/>
              <a:gd name="connsiteY2583" fmla="*/ 917873 h 2787466"/>
              <a:gd name="connsiteX2584" fmla="*/ 2016868 w 3600000"/>
              <a:gd name="connsiteY2584" fmla="*/ 910956 h 2787466"/>
              <a:gd name="connsiteX2585" fmla="*/ 2012099 w 3600000"/>
              <a:gd name="connsiteY2585" fmla="*/ 917643 h 2787466"/>
              <a:gd name="connsiteX2586" fmla="*/ 2013943 w 3600000"/>
              <a:gd name="connsiteY2586" fmla="*/ 917450 h 2787466"/>
              <a:gd name="connsiteX2587" fmla="*/ 2028421 w 3600000"/>
              <a:gd name="connsiteY2587" fmla="*/ 923522 h 2787466"/>
              <a:gd name="connsiteX2588" fmla="*/ 2038933 w 3600000"/>
              <a:gd name="connsiteY2588" fmla="*/ 906699 h 2787466"/>
              <a:gd name="connsiteX2589" fmla="*/ 2032153 w 3600000"/>
              <a:gd name="connsiteY2589" fmla="*/ 905278 h 2787466"/>
              <a:gd name="connsiteX2590" fmla="*/ 2029851 w 3600000"/>
              <a:gd name="connsiteY2590" fmla="*/ 904982 h 2787466"/>
              <a:gd name="connsiteX2591" fmla="*/ 2030090 w 3600000"/>
              <a:gd name="connsiteY2591" fmla="*/ 904850 h 2787466"/>
              <a:gd name="connsiteX2592" fmla="*/ 1989664 w 3600000"/>
              <a:gd name="connsiteY2592" fmla="*/ 901054 h 2787466"/>
              <a:gd name="connsiteX2593" fmla="*/ 1990901 w 3600000"/>
              <a:gd name="connsiteY2593" fmla="*/ 909070 h 2787466"/>
              <a:gd name="connsiteX2594" fmla="*/ 1994816 w 3600000"/>
              <a:gd name="connsiteY2594" fmla="*/ 907969 h 2787466"/>
              <a:gd name="connsiteX2595" fmla="*/ 1989664 w 3600000"/>
              <a:gd name="connsiteY2595" fmla="*/ 901054 h 2787466"/>
              <a:gd name="connsiteX2596" fmla="*/ 2000920 w 3600000"/>
              <a:gd name="connsiteY2596" fmla="*/ 900932 h 2787466"/>
              <a:gd name="connsiteX2597" fmla="*/ 2001129 w 3600000"/>
              <a:gd name="connsiteY2597" fmla="*/ 902441 h 2787466"/>
              <a:gd name="connsiteX2598" fmla="*/ 2001282 w 3600000"/>
              <a:gd name="connsiteY2598" fmla="*/ 901564 h 2787466"/>
              <a:gd name="connsiteX2599" fmla="*/ 1974001 w 3600000"/>
              <a:gd name="connsiteY2599" fmla="*/ 900110 h 2787466"/>
              <a:gd name="connsiteX2600" fmla="*/ 1972559 w 3600000"/>
              <a:gd name="connsiteY2600" fmla="*/ 914886 h 2787466"/>
              <a:gd name="connsiteX2601" fmla="*/ 1966053 w 3600000"/>
              <a:gd name="connsiteY2601" fmla="*/ 912338 h 2787466"/>
              <a:gd name="connsiteX2602" fmla="*/ 1965813 w 3600000"/>
              <a:gd name="connsiteY2602" fmla="*/ 912479 h 2787466"/>
              <a:gd name="connsiteX2603" fmla="*/ 1963035 w 3600000"/>
              <a:gd name="connsiteY2603" fmla="*/ 911816 h 2787466"/>
              <a:gd name="connsiteX2604" fmla="*/ 1961662 w 3600000"/>
              <a:gd name="connsiteY2604" fmla="*/ 911769 h 2787466"/>
              <a:gd name="connsiteX2605" fmla="*/ 1956897 w 3600000"/>
              <a:gd name="connsiteY2605" fmla="*/ 913942 h 2787466"/>
              <a:gd name="connsiteX2606" fmla="*/ 1959164 w 3600000"/>
              <a:gd name="connsiteY2606" fmla="*/ 909522 h 2787466"/>
              <a:gd name="connsiteX2607" fmla="*/ 1958374 w 3600000"/>
              <a:gd name="connsiteY2607" fmla="*/ 905175 h 2787466"/>
              <a:gd name="connsiteX2608" fmla="*/ 1958453 w 3600000"/>
              <a:gd name="connsiteY2608" fmla="*/ 905068 h 2787466"/>
              <a:gd name="connsiteX2609" fmla="*/ 1961946 w 3600000"/>
              <a:gd name="connsiteY2609" fmla="*/ 907655 h 2787466"/>
              <a:gd name="connsiteX2610" fmla="*/ 1963087 w 3600000"/>
              <a:gd name="connsiteY2610" fmla="*/ 907721 h 2787466"/>
              <a:gd name="connsiteX2611" fmla="*/ 1964873 w 3600000"/>
              <a:gd name="connsiteY2611" fmla="*/ 904727 h 2787466"/>
              <a:gd name="connsiteX2612" fmla="*/ 1963552 w 3600000"/>
              <a:gd name="connsiteY2612" fmla="*/ 903038 h 2787466"/>
              <a:gd name="connsiteX2613" fmla="*/ 1958983 w 3600000"/>
              <a:gd name="connsiteY2613" fmla="*/ 904355 h 2787466"/>
              <a:gd name="connsiteX2614" fmla="*/ 1958453 w 3600000"/>
              <a:gd name="connsiteY2614" fmla="*/ 905068 h 2787466"/>
              <a:gd name="connsiteX2615" fmla="*/ 1958339 w 3600000"/>
              <a:gd name="connsiteY2615" fmla="*/ 904982 h 2787466"/>
              <a:gd name="connsiteX2616" fmla="*/ 1958374 w 3600000"/>
              <a:gd name="connsiteY2616" fmla="*/ 905175 h 2787466"/>
              <a:gd name="connsiteX2617" fmla="*/ 1955379 w 3600000"/>
              <a:gd name="connsiteY2617" fmla="*/ 909207 h 2787466"/>
              <a:gd name="connsiteX2618" fmla="*/ 1954424 w 3600000"/>
              <a:gd name="connsiteY2618" fmla="*/ 914886 h 2787466"/>
              <a:gd name="connsiteX2619" fmla="*/ 1943914 w 3600000"/>
              <a:gd name="connsiteY2619" fmla="*/ 910956 h 2787466"/>
              <a:gd name="connsiteX2620" fmla="*/ 1941440 w 3600000"/>
              <a:gd name="connsiteY2620" fmla="*/ 920859 h 2787466"/>
              <a:gd name="connsiteX2621" fmla="*/ 1945356 w 3600000"/>
              <a:gd name="connsiteY2621" fmla="*/ 904982 h 2787466"/>
              <a:gd name="connsiteX2622" fmla="*/ 1932372 w 3600000"/>
              <a:gd name="connsiteY2622" fmla="*/ 910956 h 2787466"/>
              <a:gd name="connsiteX2623" fmla="*/ 1930930 w 3600000"/>
              <a:gd name="connsiteY2623" fmla="*/ 907027 h 2787466"/>
              <a:gd name="connsiteX2624" fmla="*/ 1929694 w 3600000"/>
              <a:gd name="connsiteY2624" fmla="*/ 913000 h 2787466"/>
              <a:gd name="connsiteX2625" fmla="*/ 1918101 w 3600000"/>
              <a:gd name="connsiteY2625" fmla="*/ 907498 h 2787466"/>
              <a:gd name="connsiteX2626" fmla="*/ 1913406 w 3600000"/>
              <a:gd name="connsiteY2626" fmla="*/ 909020 h 2787466"/>
              <a:gd name="connsiteX2627" fmla="*/ 1912781 w 3600000"/>
              <a:gd name="connsiteY2627" fmla="*/ 908872 h 2787466"/>
              <a:gd name="connsiteX2628" fmla="*/ 1912781 w 3600000"/>
              <a:gd name="connsiteY2628" fmla="*/ 909223 h 2787466"/>
              <a:gd name="connsiteX2629" fmla="*/ 1907436 w 3600000"/>
              <a:gd name="connsiteY2629" fmla="*/ 910956 h 2787466"/>
              <a:gd name="connsiteX2630" fmla="*/ 1898368 w 3600000"/>
              <a:gd name="connsiteY2630" fmla="*/ 906083 h 2787466"/>
              <a:gd name="connsiteX2631" fmla="*/ 1894453 w 3600000"/>
              <a:gd name="connsiteY2631" fmla="*/ 913942 h 2787466"/>
              <a:gd name="connsiteX2632" fmla="*/ 1850144 w 3600000"/>
              <a:gd name="connsiteY2632" fmla="*/ 911900 h 2787466"/>
              <a:gd name="connsiteX2633" fmla="*/ 1848657 w 3600000"/>
              <a:gd name="connsiteY2633" fmla="*/ 911193 h 2787466"/>
              <a:gd name="connsiteX2634" fmla="*/ 1849875 w 3600000"/>
              <a:gd name="connsiteY2634" fmla="*/ 915174 h 2787466"/>
              <a:gd name="connsiteX2635" fmla="*/ 1843450 w 3600000"/>
              <a:gd name="connsiteY2635" fmla="*/ 921192 h 2787466"/>
              <a:gd name="connsiteX2636" fmla="*/ 1842130 w 3600000"/>
              <a:gd name="connsiteY2636" fmla="*/ 915966 h 2787466"/>
              <a:gd name="connsiteX2637" fmla="*/ 1833417 w 3600000"/>
              <a:gd name="connsiteY2637" fmla="*/ 912385 h 2787466"/>
              <a:gd name="connsiteX2638" fmla="*/ 1832653 w 3600000"/>
              <a:gd name="connsiteY2638" fmla="*/ 912705 h 2787466"/>
              <a:gd name="connsiteX2639" fmla="*/ 1832128 w 3600000"/>
              <a:gd name="connsiteY2639" fmla="*/ 912789 h 2787466"/>
              <a:gd name="connsiteX2640" fmla="*/ 1830394 w 3600000"/>
              <a:gd name="connsiteY2640" fmla="*/ 914224 h 2787466"/>
              <a:gd name="connsiteX2641" fmla="*/ 1830189 w 3600000"/>
              <a:gd name="connsiteY2641" fmla="*/ 913098 h 2787466"/>
              <a:gd name="connsiteX2642" fmla="*/ 1826551 w 3600000"/>
              <a:gd name="connsiteY2642" fmla="*/ 913680 h 2787466"/>
              <a:gd name="connsiteX2643" fmla="*/ 1822941 w 3600000"/>
              <a:gd name="connsiteY2643" fmla="*/ 910956 h 2787466"/>
              <a:gd name="connsiteX2644" fmla="*/ 1830773 w 3600000"/>
              <a:gd name="connsiteY2644" fmla="*/ 907969 h 2787466"/>
              <a:gd name="connsiteX2645" fmla="*/ 1817582 w 3600000"/>
              <a:gd name="connsiteY2645" fmla="*/ 909070 h 2787466"/>
              <a:gd name="connsiteX2646" fmla="*/ 1809752 w 3600000"/>
              <a:gd name="connsiteY2646" fmla="*/ 914886 h 2787466"/>
              <a:gd name="connsiteX2647" fmla="*/ 1815110 w 3600000"/>
              <a:gd name="connsiteY2647" fmla="*/ 911900 h 2787466"/>
              <a:gd name="connsiteX2648" fmla="*/ 1815110 w 3600000"/>
              <a:gd name="connsiteY2648" fmla="*/ 909070 h 2787466"/>
              <a:gd name="connsiteX2649" fmla="*/ 1777396 w 3600000"/>
              <a:gd name="connsiteY2649" fmla="*/ 910956 h 2787466"/>
              <a:gd name="connsiteX2650" fmla="*/ 1785021 w 3600000"/>
              <a:gd name="connsiteY2650" fmla="*/ 922902 h 2787466"/>
              <a:gd name="connsiteX2651" fmla="*/ 1754521 w 3600000"/>
              <a:gd name="connsiteY2651" fmla="*/ 920034 h 2787466"/>
              <a:gd name="connsiteX2652" fmla="*/ 1722864 w 3600000"/>
              <a:gd name="connsiteY2652" fmla="*/ 926815 h 2787466"/>
              <a:gd name="connsiteX2653" fmla="*/ 1722872 w 3600000"/>
              <a:gd name="connsiteY2653" fmla="*/ 926847 h 2787466"/>
              <a:gd name="connsiteX2654" fmla="*/ 1734350 w 3600000"/>
              <a:gd name="connsiteY2654" fmla="*/ 928699 h 2787466"/>
              <a:gd name="connsiteX2655" fmla="*/ 1741125 w 3600000"/>
              <a:gd name="connsiteY2655" fmla="*/ 932806 h 2787466"/>
              <a:gd name="connsiteX2656" fmla="*/ 1728193 w 3600000"/>
              <a:gd name="connsiteY2656" fmla="*/ 930703 h 2787466"/>
              <a:gd name="connsiteX2657" fmla="*/ 1723536 w 3600000"/>
              <a:gd name="connsiteY2657" fmla="*/ 929568 h 2787466"/>
              <a:gd name="connsiteX2658" fmla="*/ 1725036 w 3600000"/>
              <a:gd name="connsiteY2658" fmla="*/ 935712 h 2787466"/>
              <a:gd name="connsiteX2659" fmla="*/ 1726466 w 3600000"/>
              <a:gd name="connsiteY2659" fmla="*/ 935683 h 2787466"/>
              <a:gd name="connsiteX2660" fmla="*/ 1725153 w 3600000"/>
              <a:gd name="connsiteY2660" fmla="*/ 936191 h 2787466"/>
              <a:gd name="connsiteX2661" fmla="*/ 1725246 w 3600000"/>
              <a:gd name="connsiteY2661" fmla="*/ 936572 h 2787466"/>
              <a:gd name="connsiteX2662" fmla="*/ 1722193 w 3600000"/>
              <a:gd name="connsiteY2662" fmla="*/ 939775 h 2787466"/>
              <a:gd name="connsiteX2663" fmla="*/ 1726803 w 3600000"/>
              <a:gd name="connsiteY2663" fmla="*/ 940098 h 2787466"/>
              <a:gd name="connsiteX2664" fmla="*/ 1736975 w 3600000"/>
              <a:gd name="connsiteY2664" fmla="*/ 933796 h 2787466"/>
              <a:gd name="connsiteX2665" fmla="*/ 1744805 w 3600000"/>
              <a:gd name="connsiteY2665" fmla="*/ 938670 h 2787466"/>
              <a:gd name="connsiteX2666" fmla="*/ 1749946 w 3600000"/>
              <a:gd name="connsiteY2666" fmla="*/ 938268 h 2787466"/>
              <a:gd name="connsiteX2667" fmla="*/ 1750431 w 3600000"/>
              <a:gd name="connsiteY2667" fmla="*/ 937934 h 2787466"/>
              <a:gd name="connsiteX2668" fmla="*/ 1753442 w 3600000"/>
              <a:gd name="connsiteY2668" fmla="*/ 937732 h 2787466"/>
              <a:gd name="connsiteX2669" fmla="*/ 1753547 w 3600000"/>
              <a:gd name="connsiteY2669" fmla="*/ 937985 h 2787466"/>
              <a:gd name="connsiteX2670" fmla="*/ 1807037 w 3600000"/>
              <a:gd name="connsiteY2670" fmla="*/ 933796 h 2787466"/>
              <a:gd name="connsiteX2671" fmla="*/ 1856310 w 3600000"/>
              <a:gd name="connsiteY2671" fmla="*/ 930437 h 2787466"/>
              <a:gd name="connsiteX2672" fmla="*/ 1855123 w 3600000"/>
              <a:gd name="connsiteY2672" fmla="*/ 927604 h 2787466"/>
              <a:gd name="connsiteX2673" fmla="*/ 1852690 w 3600000"/>
              <a:gd name="connsiteY2673" fmla="*/ 928944 h 2787466"/>
              <a:gd name="connsiteX2674" fmla="*/ 1853894 w 3600000"/>
              <a:gd name="connsiteY2674" fmla="*/ 923745 h 2787466"/>
              <a:gd name="connsiteX2675" fmla="*/ 1856503 w 3600000"/>
              <a:gd name="connsiteY2675" fmla="*/ 921795 h 2787466"/>
              <a:gd name="connsiteX2676" fmla="*/ 1862671 w 3600000"/>
              <a:gd name="connsiteY2676" fmla="*/ 924029 h 2787466"/>
              <a:gd name="connsiteX2677" fmla="*/ 1856952 w 3600000"/>
              <a:gd name="connsiteY2677" fmla="*/ 930393 h 2787466"/>
              <a:gd name="connsiteX2678" fmla="*/ 1867003 w 3600000"/>
              <a:gd name="connsiteY2678" fmla="*/ 929708 h 2787466"/>
              <a:gd name="connsiteX2679" fmla="*/ 1868239 w 3600000"/>
              <a:gd name="connsiteY2679" fmla="*/ 933796 h 2787466"/>
              <a:gd name="connsiteX2680" fmla="*/ 1877306 w 3600000"/>
              <a:gd name="connsiteY2680" fmla="*/ 929708 h 2787466"/>
              <a:gd name="connsiteX2681" fmla="*/ 1907872 w 3600000"/>
              <a:gd name="connsiteY2681" fmla="*/ 931792 h 2787466"/>
              <a:gd name="connsiteX2682" fmla="*/ 1909150 w 3600000"/>
              <a:gd name="connsiteY2682" fmla="*/ 929482 h 2787466"/>
              <a:gd name="connsiteX2683" fmla="*/ 1903318 w 3600000"/>
              <a:gd name="connsiteY2683" fmla="*/ 927453 h 2787466"/>
              <a:gd name="connsiteX2684" fmla="*/ 1918389 w 3600000"/>
              <a:gd name="connsiteY2684" fmla="*/ 928494 h 2787466"/>
              <a:gd name="connsiteX2685" fmla="*/ 1920704 w 3600000"/>
              <a:gd name="connsiteY2685" fmla="*/ 932667 h 2787466"/>
              <a:gd name="connsiteX2686" fmla="*/ 1937271 w 3600000"/>
              <a:gd name="connsiteY2686" fmla="*/ 933796 h 2787466"/>
              <a:gd name="connsiteX2687" fmla="*/ 1950485 w 3600000"/>
              <a:gd name="connsiteY2687" fmla="*/ 934194 h 2787466"/>
              <a:gd name="connsiteX2688" fmla="*/ 1961011 w 3600000"/>
              <a:gd name="connsiteY2688" fmla="*/ 934511 h 2787466"/>
              <a:gd name="connsiteX2689" fmla="*/ 1960820 w 3600000"/>
              <a:gd name="connsiteY2689" fmla="*/ 932484 h 2787466"/>
              <a:gd name="connsiteX2690" fmla="*/ 1964594 w 3600000"/>
              <a:gd name="connsiteY2690" fmla="*/ 933519 h 2787466"/>
              <a:gd name="connsiteX2691" fmla="*/ 1964949 w 3600000"/>
              <a:gd name="connsiteY2691" fmla="*/ 934630 h 2787466"/>
              <a:gd name="connsiteX2692" fmla="*/ 1968592 w 3600000"/>
              <a:gd name="connsiteY2692" fmla="*/ 934739 h 2787466"/>
              <a:gd name="connsiteX2693" fmla="*/ 1970859 w 3600000"/>
              <a:gd name="connsiteY2693" fmla="*/ 934739 h 2787466"/>
              <a:gd name="connsiteX2694" fmla="*/ 1975448 w 3600000"/>
              <a:gd name="connsiteY2694" fmla="*/ 934739 h 2787466"/>
              <a:gd name="connsiteX2695" fmla="*/ 1971805 w 3600000"/>
              <a:gd name="connsiteY2695" fmla="*/ 933675 h 2787466"/>
              <a:gd name="connsiteX2696" fmla="*/ 1969889 w 3600000"/>
              <a:gd name="connsiteY2696" fmla="*/ 927453 h 2787466"/>
              <a:gd name="connsiteX2697" fmla="*/ 1976278 w 3600000"/>
              <a:gd name="connsiteY2697" fmla="*/ 918649 h 2787466"/>
              <a:gd name="connsiteX2698" fmla="*/ 1978957 w 3600000"/>
              <a:gd name="connsiteY2698" fmla="*/ 918649 h 2787466"/>
              <a:gd name="connsiteX2699" fmla="*/ 1980940 w 3600000"/>
              <a:gd name="connsiteY2699" fmla="*/ 916437 h 2787466"/>
              <a:gd name="connsiteX2700" fmla="*/ 1978948 w 3600000"/>
              <a:gd name="connsiteY2700" fmla="*/ 913235 h 2787466"/>
              <a:gd name="connsiteX2701" fmla="*/ 1979154 w 3600000"/>
              <a:gd name="connsiteY2701" fmla="*/ 910013 h 2787466"/>
              <a:gd name="connsiteX2702" fmla="*/ 1988222 w 3600000"/>
              <a:gd name="connsiteY2702" fmla="*/ 906083 h 2787466"/>
              <a:gd name="connsiteX2703" fmla="*/ 1974001 w 3600000"/>
              <a:gd name="connsiteY2703" fmla="*/ 900110 h 2787466"/>
              <a:gd name="connsiteX2704" fmla="*/ 2899596 w 3600000"/>
              <a:gd name="connsiteY2704" fmla="*/ 898892 h 2787466"/>
              <a:gd name="connsiteX2705" fmla="*/ 2895681 w 3600000"/>
              <a:gd name="connsiteY2705" fmla="*/ 909898 h 2787466"/>
              <a:gd name="connsiteX2706" fmla="*/ 2898154 w 3600000"/>
              <a:gd name="connsiteY2706" fmla="*/ 904867 h 2787466"/>
              <a:gd name="connsiteX2707" fmla="*/ 2900833 w 3600000"/>
              <a:gd name="connsiteY2707" fmla="*/ 905967 h 2787466"/>
              <a:gd name="connsiteX2708" fmla="*/ 2899596 w 3600000"/>
              <a:gd name="connsiteY2708" fmla="*/ 898892 h 2787466"/>
              <a:gd name="connsiteX2709" fmla="*/ 2014891 w 3600000"/>
              <a:gd name="connsiteY2709" fmla="*/ 897364 h 2787466"/>
              <a:gd name="connsiteX2710" fmla="*/ 2005121 w 3600000"/>
              <a:gd name="connsiteY2710" fmla="*/ 901996 h 2787466"/>
              <a:gd name="connsiteX2711" fmla="*/ 2009037 w 3600000"/>
              <a:gd name="connsiteY2711" fmla="*/ 904982 h 2787466"/>
              <a:gd name="connsiteX2712" fmla="*/ 2000818 w 3600000"/>
              <a:gd name="connsiteY2712" fmla="*/ 910741 h 2787466"/>
              <a:gd name="connsiteX2713" fmla="*/ 1998645 w 3600000"/>
              <a:gd name="connsiteY2713" fmla="*/ 913695 h 2787466"/>
              <a:gd name="connsiteX2714" fmla="*/ 2002386 w 3600000"/>
              <a:gd name="connsiteY2714" fmla="*/ 916373 h 2787466"/>
              <a:gd name="connsiteX2715" fmla="*/ 2006770 w 3600000"/>
              <a:gd name="connsiteY2715" fmla="*/ 909605 h 2787466"/>
              <a:gd name="connsiteX2716" fmla="*/ 2011938 w 3600000"/>
              <a:gd name="connsiteY2716" fmla="*/ 905194 h 2787466"/>
              <a:gd name="connsiteX2717" fmla="*/ 2014286 w 3600000"/>
              <a:gd name="connsiteY2717" fmla="*/ 907432 h 2787466"/>
              <a:gd name="connsiteX2718" fmla="*/ 2013205 w 3600000"/>
              <a:gd name="connsiteY2718" fmla="*/ 906201 h 2787466"/>
              <a:gd name="connsiteX2719" fmla="*/ 2013500 w 3600000"/>
              <a:gd name="connsiteY2719" fmla="*/ 905211 h 2787466"/>
              <a:gd name="connsiteX2720" fmla="*/ 2012123 w 3600000"/>
              <a:gd name="connsiteY2720" fmla="*/ 905035 h 2787466"/>
              <a:gd name="connsiteX2721" fmla="*/ 2014039 w 3600000"/>
              <a:gd name="connsiteY2721" fmla="*/ 903400 h 2787466"/>
              <a:gd name="connsiteX2722" fmla="*/ 2014432 w 3600000"/>
              <a:gd name="connsiteY2722" fmla="*/ 902081 h 2787466"/>
              <a:gd name="connsiteX2723" fmla="*/ 2594825 w 3600000"/>
              <a:gd name="connsiteY2723" fmla="*/ 895905 h 2787466"/>
              <a:gd name="connsiteX2724" fmla="*/ 2583080 w 3600000"/>
              <a:gd name="connsiteY2724" fmla="*/ 900936 h 2787466"/>
              <a:gd name="connsiteX2725" fmla="*/ 2586995 w 3600000"/>
              <a:gd name="connsiteY2725" fmla="*/ 908954 h 2787466"/>
              <a:gd name="connsiteX2726" fmla="*/ 2591188 w 3600000"/>
              <a:gd name="connsiteY2726" fmla="*/ 910839 h 2787466"/>
              <a:gd name="connsiteX2727" fmla="*/ 2593104 w 3600000"/>
              <a:gd name="connsiteY2727" fmla="*/ 910254 h 2787466"/>
              <a:gd name="connsiteX2728" fmla="*/ 2596627 w 3600000"/>
              <a:gd name="connsiteY2728" fmla="*/ 907210 h 2787466"/>
              <a:gd name="connsiteX2729" fmla="*/ 2592147 w 3600000"/>
              <a:gd name="connsiteY2729" fmla="*/ 903923 h 2787466"/>
              <a:gd name="connsiteX2730" fmla="*/ 2598740 w 3600000"/>
              <a:gd name="connsiteY2730" fmla="*/ 904867 h 2787466"/>
              <a:gd name="connsiteX2731" fmla="*/ 2594825 w 3600000"/>
              <a:gd name="connsiteY2731" fmla="*/ 895905 h 2787466"/>
              <a:gd name="connsiteX2732" fmla="*/ 2063844 w 3600000"/>
              <a:gd name="connsiteY2732" fmla="*/ 895725 h 2787466"/>
              <a:gd name="connsiteX2733" fmla="*/ 2061263 w 3600000"/>
              <a:gd name="connsiteY2733" fmla="*/ 897059 h 2787466"/>
              <a:gd name="connsiteX2734" fmla="*/ 2059285 w 3600000"/>
              <a:gd name="connsiteY2734" fmla="*/ 900981 h 2787466"/>
              <a:gd name="connsiteX2735" fmla="*/ 2057069 w 3600000"/>
              <a:gd name="connsiteY2735" fmla="*/ 908744 h 2787466"/>
              <a:gd name="connsiteX2736" fmla="*/ 2058768 w 3600000"/>
              <a:gd name="connsiteY2736" fmla="*/ 908473 h 2787466"/>
              <a:gd name="connsiteX2737" fmla="*/ 2063495 w 3600000"/>
              <a:gd name="connsiteY2737" fmla="*/ 904197 h 2787466"/>
              <a:gd name="connsiteX2738" fmla="*/ 2064857 w 3600000"/>
              <a:gd name="connsiteY2738" fmla="*/ 896421 h 2787466"/>
              <a:gd name="connsiteX2739" fmla="*/ 2018658 w 3600000"/>
              <a:gd name="connsiteY2739" fmla="*/ 895578 h 2787466"/>
              <a:gd name="connsiteX2740" fmla="*/ 2016316 w 3600000"/>
              <a:gd name="connsiteY2740" fmla="*/ 896689 h 2787466"/>
              <a:gd name="connsiteX2741" fmla="*/ 2018251 w 3600000"/>
              <a:gd name="connsiteY2741" fmla="*/ 898812 h 2787466"/>
              <a:gd name="connsiteX2742" fmla="*/ 2032337 w 3600000"/>
              <a:gd name="connsiteY2742" fmla="*/ 902769 h 2787466"/>
              <a:gd name="connsiteX2743" fmla="*/ 2035224 w 3600000"/>
              <a:gd name="connsiteY2743" fmla="*/ 901982 h 2787466"/>
              <a:gd name="connsiteX2744" fmla="*/ 2037118 w 3600000"/>
              <a:gd name="connsiteY2744" fmla="*/ 900923 h 2787466"/>
              <a:gd name="connsiteX2745" fmla="*/ 2039233 w 3600000"/>
              <a:gd name="connsiteY2745" fmla="*/ 900888 h 2787466"/>
              <a:gd name="connsiteX2746" fmla="*/ 2042565 w 3600000"/>
              <a:gd name="connsiteY2746" fmla="*/ 899978 h 2787466"/>
              <a:gd name="connsiteX2747" fmla="*/ 2044700 w 3600000"/>
              <a:gd name="connsiteY2747" fmla="*/ 897123 h 2787466"/>
              <a:gd name="connsiteX2748" fmla="*/ 2032736 w 3600000"/>
              <a:gd name="connsiteY2748" fmla="*/ 896043 h 2787466"/>
              <a:gd name="connsiteX2749" fmla="*/ 2018658 w 3600000"/>
              <a:gd name="connsiteY2749" fmla="*/ 895578 h 2787466"/>
              <a:gd name="connsiteX2750" fmla="*/ 3388803 w 3600000"/>
              <a:gd name="connsiteY2750" fmla="*/ 895006 h 2787466"/>
              <a:gd name="connsiteX2751" fmla="*/ 3401908 w 3600000"/>
              <a:gd name="connsiteY2751" fmla="*/ 900090 h 2787466"/>
              <a:gd name="connsiteX2752" fmla="*/ 3392755 w 3600000"/>
              <a:gd name="connsiteY2752" fmla="*/ 910099 h 2787466"/>
              <a:gd name="connsiteX2753" fmla="*/ 3392755 w 3600000"/>
              <a:gd name="connsiteY2753" fmla="*/ 901043 h 2787466"/>
              <a:gd name="connsiteX2754" fmla="*/ 3388803 w 3600000"/>
              <a:gd name="connsiteY2754" fmla="*/ 895006 h 2787466"/>
              <a:gd name="connsiteX2755" fmla="*/ 2211000 w 3600000"/>
              <a:gd name="connsiteY2755" fmla="*/ 892094 h 2787466"/>
              <a:gd name="connsiteX2756" fmla="*/ 2170608 w 3600000"/>
              <a:gd name="connsiteY2756" fmla="*/ 901996 h 2787466"/>
              <a:gd name="connsiteX2757" fmla="*/ 2170608 w 3600000"/>
              <a:gd name="connsiteY2757" fmla="*/ 897123 h 2787466"/>
              <a:gd name="connsiteX2758" fmla="*/ 2140725 w 3600000"/>
              <a:gd name="connsiteY2758" fmla="*/ 901054 h 2787466"/>
              <a:gd name="connsiteX2759" fmla="*/ 2109400 w 3600000"/>
              <a:gd name="connsiteY2759" fmla="*/ 897123 h 2787466"/>
              <a:gd name="connsiteX2760" fmla="*/ 2100332 w 3600000"/>
              <a:gd name="connsiteY2760" fmla="*/ 896023 h 2787466"/>
              <a:gd name="connsiteX2761" fmla="*/ 2091059 w 3600000"/>
              <a:gd name="connsiteY2761" fmla="*/ 901996 h 2787466"/>
              <a:gd name="connsiteX2762" fmla="*/ 2094974 w 3600000"/>
              <a:gd name="connsiteY2762" fmla="*/ 904040 h 2787466"/>
              <a:gd name="connsiteX2763" fmla="*/ 2091316 w 3600000"/>
              <a:gd name="connsiteY2763" fmla="*/ 902920 h 2787466"/>
              <a:gd name="connsiteX2764" fmla="*/ 2090884 w 3600000"/>
              <a:gd name="connsiteY2764" fmla="*/ 902722 h 2787466"/>
              <a:gd name="connsiteX2765" fmla="*/ 2091475 w 3600000"/>
              <a:gd name="connsiteY2765" fmla="*/ 905714 h 2787466"/>
              <a:gd name="connsiteX2766" fmla="*/ 2093738 w 3600000"/>
              <a:gd name="connsiteY2766" fmla="*/ 907027 h 2787466"/>
              <a:gd name="connsiteX2767" fmla="*/ 2091718 w 3600000"/>
              <a:gd name="connsiteY2767" fmla="*/ 906946 h 2787466"/>
              <a:gd name="connsiteX2768" fmla="*/ 2091944 w 3600000"/>
              <a:gd name="connsiteY2768" fmla="*/ 908092 h 2787466"/>
              <a:gd name="connsiteX2769" fmla="*/ 2088196 w 3600000"/>
              <a:gd name="connsiteY2769" fmla="*/ 912872 h 2787466"/>
              <a:gd name="connsiteX2770" fmla="*/ 2073619 w 3600000"/>
              <a:gd name="connsiteY2770" fmla="*/ 907794 h 2787466"/>
              <a:gd name="connsiteX2771" fmla="*/ 2075810 w 3600000"/>
              <a:gd name="connsiteY2771" fmla="*/ 906369 h 2787466"/>
              <a:gd name="connsiteX2772" fmla="*/ 2073412 w 3600000"/>
              <a:gd name="connsiteY2772" fmla="*/ 906732 h 2787466"/>
              <a:gd name="connsiteX2773" fmla="*/ 2068354 w 3600000"/>
              <a:gd name="connsiteY2773" fmla="*/ 907991 h 2787466"/>
              <a:gd name="connsiteX2774" fmla="*/ 2066057 w 3600000"/>
              <a:gd name="connsiteY2774" fmla="*/ 907312 h 2787466"/>
              <a:gd name="connsiteX2775" fmla="*/ 2064907 w 3600000"/>
              <a:gd name="connsiteY2775" fmla="*/ 908812 h 2787466"/>
              <a:gd name="connsiteX2776" fmla="*/ 2064474 w 3600000"/>
              <a:gd name="connsiteY2776" fmla="*/ 913000 h 2787466"/>
              <a:gd name="connsiteX2777" fmla="*/ 2064438 w 3600000"/>
              <a:gd name="connsiteY2777" fmla="*/ 913338 h 2787466"/>
              <a:gd name="connsiteX2778" fmla="*/ 2065081 w 3600000"/>
              <a:gd name="connsiteY2778" fmla="*/ 916762 h 2787466"/>
              <a:gd name="connsiteX2779" fmla="*/ 2067504 w 3600000"/>
              <a:gd name="connsiteY2779" fmla="*/ 924249 h 2787466"/>
              <a:gd name="connsiteX2780" fmla="*/ 2073070 w 3600000"/>
              <a:gd name="connsiteY2780" fmla="*/ 922825 h 2787466"/>
              <a:gd name="connsiteX2781" fmla="*/ 2073090 w 3600000"/>
              <a:gd name="connsiteY2781" fmla="*/ 922446 h 2787466"/>
              <a:gd name="connsiteX2782" fmla="*/ 2076420 w 3600000"/>
              <a:gd name="connsiteY2782" fmla="*/ 918892 h 2787466"/>
              <a:gd name="connsiteX2783" fmla="*/ 2094605 w 3600000"/>
              <a:gd name="connsiteY2783" fmla="*/ 916310 h 2787466"/>
              <a:gd name="connsiteX2784" fmla="*/ 2119724 w 3600000"/>
              <a:gd name="connsiteY2784" fmla="*/ 914560 h 2787466"/>
              <a:gd name="connsiteX2785" fmla="*/ 2121265 w 3600000"/>
              <a:gd name="connsiteY2785" fmla="*/ 918296 h 2787466"/>
              <a:gd name="connsiteX2786" fmla="*/ 2124668 w 3600000"/>
              <a:gd name="connsiteY2786" fmla="*/ 917626 h 2787466"/>
              <a:gd name="connsiteX2787" fmla="*/ 2122197 w 3600000"/>
              <a:gd name="connsiteY2787" fmla="*/ 914560 h 2787466"/>
              <a:gd name="connsiteX2788" fmla="*/ 2125572 w 3600000"/>
              <a:gd name="connsiteY2788" fmla="*/ 915013 h 2787466"/>
              <a:gd name="connsiteX2789" fmla="*/ 2127023 w 3600000"/>
              <a:gd name="connsiteY2789" fmla="*/ 917162 h 2787466"/>
              <a:gd name="connsiteX2790" fmla="*/ 2131934 w 3600000"/>
              <a:gd name="connsiteY2790" fmla="*/ 916195 h 2787466"/>
              <a:gd name="connsiteX2791" fmla="*/ 2144435 w 3600000"/>
              <a:gd name="connsiteY2791" fmla="*/ 906083 h 2787466"/>
              <a:gd name="connsiteX2792" fmla="*/ 2152266 w 3600000"/>
              <a:gd name="connsiteY2792" fmla="*/ 907027 h 2787466"/>
              <a:gd name="connsiteX2793" fmla="*/ 2144435 w 3600000"/>
              <a:gd name="connsiteY2793" fmla="*/ 913000 h 2787466"/>
              <a:gd name="connsiteX2794" fmla="*/ 2167928 w 3600000"/>
              <a:gd name="connsiteY2794" fmla="*/ 904040 h 2787466"/>
              <a:gd name="connsiteX2795" fmla="*/ 2211000 w 3600000"/>
              <a:gd name="connsiteY2795" fmla="*/ 892094 h 2787466"/>
              <a:gd name="connsiteX2796" fmla="*/ 2894239 w 3600000"/>
              <a:gd name="connsiteY2796" fmla="*/ 891974 h 2787466"/>
              <a:gd name="connsiteX2797" fmla="*/ 2887851 w 3600000"/>
              <a:gd name="connsiteY2797" fmla="*/ 897006 h 2787466"/>
              <a:gd name="connsiteX2798" fmla="*/ 2896917 w 3600000"/>
              <a:gd name="connsiteY2798" fmla="*/ 897006 h 2787466"/>
              <a:gd name="connsiteX2799" fmla="*/ 2630761 w 3600000"/>
              <a:gd name="connsiteY2799" fmla="*/ 891447 h 2787466"/>
              <a:gd name="connsiteX2800" fmla="*/ 2618317 w 3600000"/>
              <a:gd name="connsiteY2800" fmla="*/ 898892 h 2787466"/>
              <a:gd name="connsiteX2801" fmla="*/ 2618290 w 3600000"/>
              <a:gd name="connsiteY2801" fmla="*/ 898914 h 2787466"/>
              <a:gd name="connsiteX2802" fmla="*/ 2630127 w 3600000"/>
              <a:gd name="connsiteY2802" fmla="*/ 891956 h 2787466"/>
              <a:gd name="connsiteX2803" fmla="*/ 2961873 w 3600000"/>
              <a:gd name="connsiteY2803" fmla="*/ 890846 h 2787466"/>
              <a:gd name="connsiteX2804" fmla="*/ 2954134 w 3600000"/>
              <a:gd name="connsiteY2804" fmla="*/ 894925 h 2787466"/>
              <a:gd name="connsiteX2805" fmla="*/ 2954134 w 3600000"/>
              <a:gd name="connsiteY2805" fmla="*/ 891825 h 2787466"/>
              <a:gd name="connsiteX2806" fmla="*/ 2961873 w 3600000"/>
              <a:gd name="connsiteY2806" fmla="*/ 890846 h 2787466"/>
              <a:gd name="connsiteX2807" fmla="*/ 3501113 w 3600000"/>
              <a:gd name="connsiteY2807" fmla="*/ 889271 h 2787466"/>
              <a:gd name="connsiteX2808" fmla="*/ 3501339 w 3600000"/>
              <a:gd name="connsiteY2808" fmla="*/ 894790 h 2787466"/>
              <a:gd name="connsiteX2809" fmla="*/ 3512775 w 3600000"/>
              <a:gd name="connsiteY2809" fmla="*/ 895743 h 2787466"/>
              <a:gd name="connsiteX2810" fmla="*/ 3500135 w 3600000"/>
              <a:gd name="connsiteY2810" fmla="*/ 900827 h 2787466"/>
              <a:gd name="connsiteX2811" fmla="*/ 3498932 w 3600000"/>
              <a:gd name="connsiteY2811" fmla="*/ 890818 h 2787466"/>
              <a:gd name="connsiteX2812" fmla="*/ 3501113 w 3600000"/>
              <a:gd name="connsiteY2812" fmla="*/ 889271 h 2787466"/>
              <a:gd name="connsiteX2813" fmla="*/ 3264494 w 3600000"/>
              <a:gd name="connsiteY2813" fmla="*/ 885849 h 2787466"/>
              <a:gd name="connsiteX2814" fmla="*/ 3261006 w 3600000"/>
              <a:gd name="connsiteY2814" fmla="*/ 887095 h 2787466"/>
              <a:gd name="connsiteX2815" fmla="*/ 3260437 w 3600000"/>
              <a:gd name="connsiteY2815" fmla="*/ 889302 h 2787466"/>
              <a:gd name="connsiteX2816" fmla="*/ 3259237 w 3600000"/>
              <a:gd name="connsiteY2816" fmla="*/ 887727 h 2787466"/>
              <a:gd name="connsiteX2817" fmla="*/ 3249752 w 3600000"/>
              <a:gd name="connsiteY2817" fmla="*/ 891115 h 2787466"/>
              <a:gd name="connsiteX2818" fmla="*/ 3198631 w 3600000"/>
              <a:gd name="connsiteY2818" fmla="*/ 913910 h 2787466"/>
              <a:gd name="connsiteX2819" fmla="*/ 3197209 w 3600000"/>
              <a:gd name="connsiteY2819" fmla="*/ 914444 h 2787466"/>
              <a:gd name="connsiteX2820" fmla="*/ 3197773 w 3600000"/>
              <a:gd name="connsiteY2820" fmla="*/ 914772 h 2787466"/>
              <a:gd name="connsiteX2821" fmla="*/ 3196780 w 3600000"/>
              <a:gd name="connsiteY2821" fmla="*/ 914606 h 2787466"/>
              <a:gd name="connsiteX2822" fmla="*/ 3168685 w 3600000"/>
              <a:gd name="connsiteY2822" fmla="*/ 925163 h 2787466"/>
              <a:gd name="connsiteX2823" fmla="*/ 3167894 w 3600000"/>
              <a:gd name="connsiteY2823" fmla="*/ 927664 h 2787466"/>
              <a:gd name="connsiteX2824" fmla="*/ 3175518 w 3600000"/>
              <a:gd name="connsiteY2824" fmla="*/ 924834 h 2787466"/>
              <a:gd name="connsiteX2825" fmla="*/ 3165215 w 3600000"/>
              <a:gd name="connsiteY2825" fmla="*/ 954550 h 2787466"/>
              <a:gd name="connsiteX2826" fmla="*/ 3133893 w 3600000"/>
              <a:gd name="connsiteY2826" fmla="*/ 977504 h 2787466"/>
              <a:gd name="connsiteX2827" fmla="*/ 3132194 w 3600000"/>
              <a:gd name="connsiteY2827" fmla="*/ 982987 h 2787466"/>
              <a:gd name="connsiteX2828" fmla="*/ 3131285 w 3600000"/>
              <a:gd name="connsiteY2828" fmla="*/ 984427 h 2787466"/>
              <a:gd name="connsiteX2829" fmla="*/ 3131285 w 3600000"/>
              <a:gd name="connsiteY2829" fmla="*/ 988732 h 2787466"/>
              <a:gd name="connsiteX2830" fmla="*/ 3131421 w 3600000"/>
              <a:gd name="connsiteY2830" fmla="*/ 989296 h 2787466"/>
              <a:gd name="connsiteX2831" fmla="*/ 3139045 w 3600000"/>
              <a:gd name="connsiteY2831" fmla="*/ 989296 h 2787466"/>
              <a:gd name="connsiteX2832" fmla="*/ 3131407 w 3600000"/>
              <a:gd name="connsiteY2832" fmla="*/ 993465 h 2787466"/>
              <a:gd name="connsiteX2833" fmla="*/ 3131285 w 3600000"/>
              <a:gd name="connsiteY2833" fmla="*/ 993674 h 2787466"/>
              <a:gd name="connsiteX2834" fmla="*/ 3131285 w 3600000"/>
              <a:gd name="connsiteY2834" fmla="*/ 1007292 h 2787466"/>
              <a:gd name="connsiteX2835" fmla="*/ 3131840 w 3600000"/>
              <a:gd name="connsiteY2835" fmla="*/ 1012516 h 2787466"/>
              <a:gd name="connsiteX2836" fmla="*/ 3137310 w 3600000"/>
              <a:gd name="connsiteY2836" fmla="*/ 1014063 h 2787466"/>
              <a:gd name="connsiteX2837" fmla="*/ 3155656 w 3600000"/>
              <a:gd name="connsiteY2837" fmla="*/ 1001058 h 2787466"/>
              <a:gd name="connsiteX2838" fmla="*/ 3152976 w 3600000"/>
              <a:gd name="connsiteY2838" fmla="*/ 1007085 h 2787466"/>
              <a:gd name="connsiteX2839" fmla="*/ 3149745 w 3600000"/>
              <a:gd name="connsiteY2839" fmla="*/ 1009589 h 2787466"/>
              <a:gd name="connsiteX2840" fmla="*/ 3153927 w 3600000"/>
              <a:gd name="connsiteY2840" fmla="*/ 1011929 h 2787466"/>
              <a:gd name="connsiteX2841" fmla="*/ 3154836 w 3600000"/>
              <a:gd name="connsiteY2841" fmla="*/ 1014090 h 2787466"/>
              <a:gd name="connsiteX2842" fmla="*/ 3151005 w 3600000"/>
              <a:gd name="connsiteY2842" fmla="*/ 1019765 h 2787466"/>
              <a:gd name="connsiteX2843" fmla="*/ 3152233 w 3600000"/>
              <a:gd name="connsiteY2843" fmla="*/ 1019168 h 2787466"/>
              <a:gd name="connsiteX2844" fmla="*/ 3153469 w 3600000"/>
              <a:gd name="connsiteY2844" fmla="*/ 1025143 h 2787466"/>
              <a:gd name="connsiteX2845" fmla="*/ 3167894 w 3600000"/>
              <a:gd name="connsiteY2845" fmla="*/ 1023099 h 2787466"/>
              <a:gd name="connsiteX2846" fmla="*/ 3157385 w 3600000"/>
              <a:gd name="connsiteY2846" fmla="*/ 1018225 h 2787466"/>
              <a:gd name="connsiteX2847" fmla="*/ 3171809 w 3600000"/>
              <a:gd name="connsiteY2847" fmla="*/ 995271 h 2787466"/>
              <a:gd name="connsiteX2848" fmla="*/ 3157385 w 3600000"/>
              <a:gd name="connsiteY2848" fmla="*/ 995271 h 2787466"/>
              <a:gd name="connsiteX2849" fmla="*/ 3169130 w 3600000"/>
              <a:gd name="connsiteY2849" fmla="*/ 982378 h 2787466"/>
              <a:gd name="connsiteX2850" fmla="*/ 3176961 w 3600000"/>
              <a:gd name="connsiteY2850" fmla="*/ 985366 h 2787466"/>
              <a:gd name="connsiteX2851" fmla="*/ 3161300 w 3600000"/>
              <a:gd name="connsiteY2851" fmla="*/ 996371 h 2787466"/>
              <a:gd name="connsiteX2852" fmla="*/ 3174281 w 3600000"/>
              <a:gd name="connsiteY2852" fmla="*/ 994327 h 2787466"/>
              <a:gd name="connsiteX2853" fmla="*/ 3185620 w 3600000"/>
              <a:gd name="connsiteY2853" fmla="*/ 982604 h 2787466"/>
              <a:gd name="connsiteX2854" fmla="*/ 3181881 w 3600000"/>
              <a:gd name="connsiteY2854" fmla="*/ 975347 h 2787466"/>
              <a:gd name="connsiteX2855" fmla="*/ 3185236 w 3600000"/>
              <a:gd name="connsiteY2855" fmla="*/ 966413 h 2787466"/>
              <a:gd name="connsiteX2856" fmla="*/ 3190436 w 3600000"/>
              <a:gd name="connsiteY2856" fmla="*/ 975347 h 2787466"/>
              <a:gd name="connsiteX2857" fmla="*/ 3188579 w 3600000"/>
              <a:gd name="connsiteY2857" fmla="*/ 979544 h 2787466"/>
              <a:gd name="connsiteX2858" fmla="*/ 3196331 w 3600000"/>
              <a:gd name="connsiteY2858" fmla="*/ 971530 h 2787466"/>
              <a:gd name="connsiteX2859" fmla="*/ 3211992 w 3600000"/>
              <a:gd name="connsiteY2859" fmla="*/ 972473 h 2787466"/>
              <a:gd name="connsiteX2860" fmla="*/ 3204161 w 3600000"/>
              <a:gd name="connsiteY2860" fmla="*/ 982378 h 2787466"/>
              <a:gd name="connsiteX2861" fmla="*/ 3219821 w 3600000"/>
              <a:gd name="connsiteY2861" fmla="*/ 965555 h 2787466"/>
              <a:gd name="connsiteX2862" fmla="*/ 3209519 w 3600000"/>
              <a:gd name="connsiteY2862" fmla="*/ 963511 h 2787466"/>
              <a:gd name="connsiteX2863" fmla="*/ 3201688 w 3600000"/>
              <a:gd name="connsiteY2863" fmla="*/ 975461 h 2787466"/>
              <a:gd name="connsiteX2864" fmla="*/ 3201688 w 3600000"/>
              <a:gd name="connsiteY2864" fmla="*/ 963511 h 2787466"/>
              <a:gd name="connsiteX2865" fmla="*/ 3229094 w 3600000"/>
              <a:gd name="connsiteY2865" fmla="*/ 926720 h 2787466"/>
              <a:gd name="connsiteX2866" fmla="*/ 3243314 w 3600000"/>
              <a:gd name="connsiteY2866" fmla="*/ 923734 h 2787466"/>
              <a:gd name="connsiteX2867" fmla="*/ 3244550 w 3600000"/>
              <a:gd name="connsiteY2867" fmla="*/ 918859 h 2787466"/>
              <a:gd name="connsiteX2868" fmla="*/ 3242077 w 3600000"/>
              <a:gd name="connsiteY2868" fmla="*/ 911784 h 2787466"/>
              <a:gd name="connsiteX2869" fmla="*/ 3265115 w 3600000"/>
              <a:gd name="connsiteY2869" fmla="*/ 888105 h 2787466"/>
              <a:gd name="connsiteX2870" fmla="*/ 2253866 w 3600000"/>
              <a:gd name="connsiteY2870" fmla="*/ 883133 h 2787466"/>
              <a:gd name="connsiteX2871" fmla="*/ 2212236 w 3600000"/>
              <a:gd name="connsiteY2871" fmla="*/ 897123 h 2787466"/>
              <a:gd name="connsiteX2872" fmla="*/ 2253866 w 3600000"/>
              <a:gd name="connsiteY2872" fmla="*/ 883133 h 2787466"/>
              <a:gd name="connsiteX2873" fmla="*/ 2593589 w 3600000"/>
              <a:gd name="connsiteY2873" fmla="*/ 883012 h 2787466"/>
              <a:gd name="connsiteX2874" fmla="*/ 2603892 w 3600000"/>
              <a:gd name="connsiteY2874" fmla="*/ 899993 h 2787466"/>
              <a:gd name="connsiteX2875" fmla="*/ 2610486 w 3600000"/>
              <a:gd name="connsiteY2875" fmla="*/ 899993 h 2787466"/>
              <a:gd name="connsiteX2876" fmla="*/ 2603892 w 3600000"/>
              <a:gd name="connsiteY2876" fmla="*/ 891031 h 2787466"/>
              <a:gd name="connsiteX2877" fmla="*/ 2610486 w 3600000"/>
              <a:gd name="connsiteY2877" fmla="*/ 897006 h 2787466"/>
              <a:gd name="connsiteX2878" fmla="*/ 2614401 w 3600000"/>
              <a:gd name="connsiteY2878" fmla="*/ 883956 h 2787466"/>
              <a:gd name="connsiteX2879" fmla="*/ 2593589 w 3600000"/>
              <a:gd name="connsiteY2879" fmla="*/ 883012 h 2787466"/>
              <a:gd name="connsiteX2880" fmla="*/ 2632535 w 3600000"/>
              <a:gd name="connsiteY2880" fmla="*/ 879082 h 2787466"/>
              <a:gd name="connsiteX2881" fmla="*/ 2631299 w 3600000"/>
              <a:gd name="connsiteY2881" fmla="*/ 881126 h 2787466"/>
              <a:gd name="connsiteX2882" fmla="*/ 2633875 w 3600000"/>
              <a:gd name="connsiteY2882" fmla="*/ 884526 h 2787466"/>
              <a:gd name="connsiteX2883" fmla="*/ 2635917 w 3600000"/>
              <a:gd name="connsiteY2883" fmla="*/ 887314 h 2787466"/>
              <a:gd name="connsiteX2884" fmla="*/ 2642303 w 3600000"/>
              <a:gd name="connsiteY2884" fmla="*/ 882194 h 2787466"/>
              <a:gd name="connsiteX2885" fmla="*/ 2639323 w 3600000"/>
              <a:gd name="connsiteY2885" fmla="*/ 882927 h 2787466"/>
              <a:gd name="connsiteX2886" fmla="*/ 2632535 w 3600000"/>
              <a:gd name="connsiteY2886" fmla="*/ 879082 h 2787466"/>
              <a:gd name="connsiteX2887" fmla="*/ 3535133 w 3600000"/>
              <a:gd name="connsiteY2887" fmla="*/ 878291 h 2787466"/>
              <a:gd name="connsiteX2888" fmla="*/ 3537860 w 3600000"/>
              <a:gd name="connsiteY2888" fmla="*/ 892772 h 2787466"/>
              <a:gd name="connsiteX2889" fmla="*/ 3535133 w 3600000"/>
              <a:gd name="connsiteY2889" fmla="*/ 878291 h 2787466"/>
              <a:gd name="connsiteX2890" fmla="*/ 3361868 w 3600000"/>
              <a:gd name="connsiteY2890" fmla="*/ 876981 h 2787466"/>
              <a:gd name="connsiteX2891" fmla="*/ 3361868 w 3600000"/>
              <a:gd name="connsiteY2891" fmla="*/ 904556 h 2787466"/>
              <a:gd name="connsiteX2892" fmla="*/ 3361868 w 3600000"/>
              <a:gd name="connsiteY2892" fmla="*/ 876981 h 2787466"/>
              <a:gd name="connsiteX2893" fmla="*/ 2306212 w 3600000"/>
              <a:gd name="connsiteY2893" fmla="*/ 873977 h 2787466"/>
              <a:gd name="connsiteX2894" fmla="*/ 2304769 w 3600000"/>
              <a:gd name="connsiteY2894" fmla="*/ 878260 h 2787466"/>
              <a:gd name="connsiteX2895" fmla="*/ 2312601 w 3600000"/>
              <a:gd name="connsiteY2895" fmla="*/ 874173 h 2787466"/>
              <a:gd name="connsiteX2896" fmla="*/ 2306212 w 3600000"/>
              <a:gd name="connsiteY2896" fmla="*/ 873977 h 2787466"/>
              <a:gd name="connsiteX2897" fmla="*/ 2628620 w 3600000"/>
              <a:gd name="connsiteY2897" fmla="*/ 873107 h 2787466"/>
              <a:gd name="connsiteX2898" fmla="*/ 2626148 w 3600000"/>
              <a:gd name="connsiteY2898" fmla="*/ 877038 h 2787466"/>
              <a:gd name="connsiteX2899" fmla="*/ 2628620 w 3600000"/>
              <a:gd name="connsiteY2899" fmla="*/ 873107 h 2787466"/>
              <a:gd name="connsiteX2900" fmla="*/ 3328008 w 3600000"/>
              <a:gd name="connsiteY2900" fmla="*/ 872128 h 2787466"/>
              <a:gd name="connsiteX2901" fmla="*/ 3322959 w 3600000"/>
              <a:gd name="connsiteY2901" fmla="*/ 887220 h 2787466"/>
              <a:gd name="connsiteX2902" fmla="*/ 3328008 w 3600000"/>
              <a:gd name="connsiteY2902" fmla="*/ 872128 h 2787466"/>
              <a:gd name="connsiteX2903" fmla="*/ 2644281 w 3600000"/>
              <a:gd name="connsiteY2903" fmla="*/ 870121 h 2787466"/>
              <a:gd name="connsiteX2904" fmla="*/ 2645724 w 3600000"/>
              <a:gd name="connsiteY2904" fmla="*/ 876094 h 2787466"/>
              <a:gd name="connsiteX2905" fmla="*/ 2650505 w 3600000"/>
              <a:gd name="connsiteY2905" fmla="*/ 874260 h 2787466"/>
              <a:gd name="connsiteX2906" fmla="*/ 2651561 w 3600000"/>
              <a:gd name="connsiteY2906" fmla="*/ 874941 h 2787466"/>
              <a:gd name="connsiteX2907" fmla="*/ 2657669 w 3600000"/>
              <a:gd name="connsiteY2907" fmla="*/ 870625 h 2787466"/>
              <a:gd name="connsiteX2908" fmla="*/ 2655586 w 3600000"/>
              <a:gd name="connsiteY2908" fmla="*/ 871528 h 2787466"/>
              <a:gd name="connsiteX2909" fmla="*/ 2644281 w 3600000"/>
              <a:gd name="connsiteY2909" fmla="*/ 870121 h 2787466"/>
              <a:gd name="connsiteX2910" fmla="*/ 2916767 w 3600000"/>
              <a:gd name="connsiteY2910" fmla="*/ 867511 h 2787466"/>
              <a:gd name="connsiteX2911" fmla="*/ 2909900 w 3600000"/>
              <a:gd name="connsiteY2911" fmla="*/ 880025 h 2787466"/>
              <a:gd name="connsiteX2912" fmla="*/ 2923087 w 3600000"/>
              <a:gd name="connsiteY2912" fmla="*/ 869177 h 2787466"/>
              <a:gd name="connsiteX2913" fmla="*/ 2916767 w 3600000"/>
              <a:gd name="connsiteY2913" fmla="*/ 867511 h 2787466"/>
              <a:gd name="connsiteX2914" fmla="*/ 3392965 w 3600000"/>
              <a:gd name="connsiteY2914" fmla="*/ 863374 h 2787466"/>
              <a:gd name="connsiteX2915" fmla="*/ 3390303 w 3600000"/>
              <a:gd name="connsiteY2915" fmla="*/ 871297 h 2787466"/>
              <a:gd name="connsiteX2916" fmla="*/ 3392965 w 3600000"/>
              <a:gd name="connsiteY2916" fmla="*/ 863374 h 2787466"/>
              <a:gd name="connsiteX2917" fmla="*/ 2356909 w 3600000"/>
              <a:gd name="connsiteY2917" fmla="*/ 860341 h 2787466"/>
              <a:gd name="connsiteX2918" fmla="*/ 2354577 w 3600000"/>
              <a:gd name="connsiteY2918" fmla="*/ 863249 h 2787466"/>
              <a:gd name="connsiteX2919" fmla="*/ 2354230 w 3600000"/>
              <a:gd name="connsiteY2919" fmla="*/ 863327 h 2787466"/>
              <a:gd name="connsiteX2920" fmla="*/ 2356909 w 3600000"/>
              <a:gd name="connsiteY2920" fmla="*/ 860341 h 2787466"/>
              <a:gd name="connsiteX2921" fmla="*/ 2707335 w 3600000"/>
              <a:gd name="connsiteY2921" fmla="*/ 854114 h 2787466"/>
              <a:gd name="connsiteX2922" fmla="*/ 2706882 w 3600000"/>
              <a:gd name="connsiteY2922" fmla="*/ 855552 h 2787466"/>
              <a:gd name="connsiteX2923" fmla="*/ 2708162 w 3600000"/>
              <a:gd name="connsiteY2923" fmla="*/ 855184 h 2787466"/>
              <a:gd name="connsiteX2924" fmla="*/ 2477200 w 3600000"/>
              <a:gd name="connsiteY2924" fmla="*/ 849944 h 2787466"/>
              <a:gd name="connsiteX2925" fmla="*/ 2473306 w 3600000"/>
              <a:gd name="connsiteY2925" fmla="*/ 862005 h 2787466"/>
              <a:gd name="connsiteX2926" fmla="*/ 2467467 w 3600000"/>
              <a:gd name="connsiteY2926" fmla="*/ 861985 h 2787466"/>
              <a:gd name="connsiteX2927" fmla="*/ 2464637 w 3600000"/>
              <a:gd name="connsiteY2927" fmla="*/ 860534 h 2787466"/>
              <a:gd name="connsiteX2928" fmla="*/ 2463254 w 3600000"/>
              <a:gd name="connsiteY2928" fmla="*/ 864888 h 2787466"/>
              <a:gd name="connsiteX2929" fmla="*/ 2446180 w 3600000"/>
              <a:gd name="connsiteY2929" fmla="*/ 871293 h 2787466"/>
              <a:gd name="connsiteX2930" fmla="*/ 2453466 w 3600000"/>
              <a:gd name="connsiteY2930" fmla="*/ 865461 h 2787466"/>
              <a:gd name="connsiteX2931" fmla="*/ 2464468 w 3600000"/>
              <a:gd name="connsiteY2931" fmla="*/ 860447 h 2787466"/>
              <a:gd name="connsiteX2932" fmla="*/ 2461626 w 3600000"/>
              <a:gd name="connsiteY2932" fmla="*/ 858990 h 2787466"/>
              <a:gd name="connsiteX2933" fmla="*/ 2477200 w 3600000"/>
              <a:gd name="connsiteY2933" fmla="*/ 849944 h 2787466"/>
              <a:gd name="connsiteX2934" fmla="*/ 2727738 w 3600000"/>
              <a:gd name="connsiteY2934" fmla="*/ 841348 h 2787466"/>
              <a:gd name="connsiteX2935" fmla="*/ 2717228 w 3600000"/>
              <a:gd name="connsiteY2935" fmla="*/ 851253 h 2787466"/>
              <a:gd name="connsiteX2936" fmla="*/ 2727738 w 3600000"/>
              <a:gd name="connsiteY2936" fmla="*/ 841348 h 2787466"/>
              <a:gd name="connsiteX2937" fmla="*/ 2941222 w 3600000"/>
              <a:gd name="connsiteY2937" fmla="*/ 839305 h 2787466"/>
              <a:gd name="connsiteX2938" fmla="*/ 2937307 w 3600000"/>
              <a:gd name="connsiteY2938" fmla="*/ 848266 h 2787466"/>
              <a:gd name="connsiteX2939" fmla="*/ 2941222 w 3600000"/>
              <a:gd name="connsiteY2939" fmla="*/ 839305 h 2787466"/>
              <a:gd name="connsiteX2940" fmla="*/ 3399248 w 3600000"/>
              <a:gd name="connsiteY2940" fmla="*/ 831225 h 2787466"/>
              <a:gd name="connsiteX2941" fmla="*/ 3406871 w 3600000"/>
              <a:gd name="connsiteY2941" fmla="*/ 853976 h 2787466"/>
              <a:gd name="connsiteX2942" fmla="*/ 3396841 w 3600000"/>
              <a:gd name="connsiteY2942" fmla="*/ 856957 h 2787466"/>
              <a:gd name="connsiteX2943" fmla="*/ 3399248 w 3600000"/>
              <a:gd name="connsiteY2943" fmla="*/ 831225 h 2787466"/>
              <a:gd name="connsiteX2944" fmla="*/ 3571924 w 3600000"/>
              <a:gd name="connsiteY2944" fmla="*/ 830597 h 2787466"/>
              <a:gd name="connsiteX2945" fmla="*/ 3582737 w 3600000"/>
              <a:gd name="connsiteY2945" fmla="*/ 835385 h 2787466"/>
              <a:gd name="connsiteX2946" fmla="*/ 3581493 w 3600000"/>
              <a:gd name="connsiteY2946" fmla="*/ 842164 h 2787466"/>
              <a:gd name="connsiteX2947" fmla="*/ 3559318 w 3600000"/>
              <a:gd name="connsiteY2947" fmla="*/ 832458 h 2787466"/>
              <a:gd name="connsiteX2948" fmla="*/ 3568437 w 3600000"/>
              <a:gd name="connsiteY2948" fmla="*/ 832458 h 2787466"/>
              <a:gd name="connsiteX2949" fmla="*/ 3571924 w 3600000"/>
              <a:gd name="connsiteY2949" fmla="*/ 830597 h 2787466"/>
              <a:gd name="connsiteX2950" fmla="*/ 2539570 w 3600000"/>
              <a:gd name="connsiteY2950" fmla="*/ 826373 h 2787466"/>
              <a:gd name="connsiteX2951" fmla="*/ 2482527 w 3600000"/>
              <a:gd name="connsiteY2951" fmla="*/ 853948 h 2787466"/>
              <a:gd name="connsiteX2952" fmla="*/ 2539570 w 3600000"/>
              <a:gd name="connsiteY2952" fmla="*/ 826373 h 2787466"/>
              <a:gd name="connsiteX2953" fmla="*/ 3380102 w 3600000"/>
              <a:gd name="connsiteY2953" fmla="*/ 821520 h 2787466"/>
              <a:gd name="connsiteX2954" fmla="*/ 3374779 w 3600000"/>
              <a:gd name="connsiteY2954" fmla="*/ 850479 h 2787466"/>
              <a:gd name="connsiteX2955" fmla="*/ 3380102 w 3600000"/>
              <a:gd name="connsiteY2955" fmla="*/ 821520 h 2787466"/>
              <a:gd name="connsiteX2956" fmla="*/ 3010094 w 3600000"/>
              <a:gd name="connsiteY2956" fmla="*/ 821520 h 2787466"/>
              <a:gd name="connsiteX2957" fmla="*/ 3024275 w 3600000"/>
              <a:gd name="connsiteY2957" fmla="*/ 826639 h 2787466"/>
              <a:gd name="connsiteX2958" fmla="*/ 3012561 w 3600000"/>
              <a:gd name="connsiteY2958" fmla="*/ 827599 h 2787466"/>
              <a:gd name="connsiteX2959" fmla="*/ 3010094 w 3600000"/>
              <a:gd name="connsiteY2959" fmla="*/ 821520 h 2787466"/>
              <a:gd name="connsiteX2960" fmla="*/ 2713191 w 3600000"/>
              <a:gd name="connsiteY2960" fmla="*/ 820579 h 2787466"/>
              <a:gd name="connsiteX2961" fmla="*/ 2719489 w 3600000"/>
              <a:gd name="connsiteY2961" fmla="*/ 821325 h 2787466"/>
              <a:gd name="connsiteX2962" fmla="*/ 2717560 w 3600000"/>
              <a:gd name="connsiteY2962" fmla="*/ 822349 h 2787466"/>
              <a:gd name="connsiteX2963" fmla="*/ 2719402 w 3600000"/>
              <a:gd name="connsiteY2963" fmla="*/ 825429 h 2787466"/>
              <a:gd name="connsiteX2964" fmla="*/ 2712958 w 3600000"/>
              <a:gd name="connsiteY2964" fmla="*/ 828817 h 2787466"/>
              <a:gd name="connsiteX2965" fmla="*/ 2711073 w 3600000"/>
              <a:gd name="connsiteY2965" fmla="*/ 827347 h 2787466"/>
              <a:gd name="connsiteX2966" fmla="*/ 2709086 w 3600000"/>
              <a:gd name="connsiteY2966" fmla="*/ 832427 h 2787466"/>
              <a:gd name="connsiteX2967" fmla="*/ 2701334 w 3600000"/>
              <a:gd name="connsiteY2967" fmla="*/ 831475 h 2787466"/>
              <a:gd name="connsiteX2968" fmla="*/ 2703986 w 3600000"/>
              <a:gd name="connsiteY2968" fmla="*/ 835440 h 2787466"/>
              <a:gd name="connsiteX2969" fmla="*/ 2695011 w 3600000"/>
              <a:gd name="connsiteY2969" fmla="*/ 833378 h 2787466"/>
              <a:gd name="connsiteX2970" fmla="*/ 2695011 w 3600000"/>
              <a:gd name="connsiteY2970" fmla="*/ 835440 h 2787466"/>
              <a:gd name="connsiteX2971" fmla="*/ 2700110 w 3600000"/>
              <a:gd name="connsiteY2971" fmla="*/ 839405 h 2787466"/>
              <a:gd name="connsiteX2972" fmla="*/ 2695011 w 3600000"/>
              <a:gd name="connsiteY2972" fmla="*/ 841466 h 2787466"/>
              <a:gd name="connsiteX2973" fmla="*/ 2691135 w 3600000"/>
              <a:gd name="connsiteY2973" fmla="*/ 831475 h 2787466"/>
              <a:gd name="connsiteX2974" fmla="*/ 2700110 w 3600000"/>
              <a:gd name="connsiteY2974" fmla="*/ 826400 h 2787466"/>
              <a:gd name="connsiteX2975" fmla="*/ 2713191 w 3600000"/>
              <a:gd name="connsiteY2975" fmla="*/ 820579 h 2787466"/>
              <a:gd name="connsiteX2976" fmla="*/ 2705521 w 3600000"/>
              <a:gd name="connsiteY2976" fmla="*/ 815281 h 2787466"/>
              <a:gd name="connsiteX2977" fmla="*/ 2703034 w 3600000"/>
              <a:gd name="connsiteY2977" fmla="*/ 824185 h 2787466"/>
              <a:gd name="connsiteX2978" fmla="*/ 2695159 w 3600000"/>
              <a:gd name="connsiteY2978" fmla="*/ 822311 h 2787466"/>
              <a:gd name="connsiteX2979" fmla="*/ 2705521 w 3600000"/>
              <a:gd name="connsiteY2979" fmla="*/ 815281 h 2787466"/>
              <a:gd name="connsiteX2980" fmla="*/ 2950288 w 3600000"/>
              <a:gd name="connsiteY2980" fmla="*/ 811475 h 2787466"/>
              <a:gd name="connsiteX2981" fmla="*/ 2938543 w 3600000"/>
              <a:gd name="connsiteY2981" fmla="*/ 818393 h 2787466"/>
              <a:gd name="connsiteX2982" fmla="*/ 2951525 w 3600000"/>
              <a:gd name="connsiteY2982" fmla="*/ 824368 h 2787466"/>
              <a:gd name="connsiteX2983" fmla="*/ 2943900 w 3600000"/>
              <a:gd name="connsiteY2983" fmla="*/ 835374 h 2787466"/>
              <a:gd name="connsiteX2984" fmla="*/ 2951525 w 3600000"/>
              <a:gd name="connsiteY2984" fmla="*/ 840247 h 2787466"/>
              <a:gd name="connsiteX2985" fmla="*/ 2955440 w 3600000"/>
              <a:gd name="connsiteY2985" fmla="*/ 823425 h 2787466"/>
              <a:gd name="connsiteX2986" fmla="*/ 2965949 w 3600000"/>
              <a:gd name="connsiteY2986" fmla="*/ 820437 h 2787466"/>
              <a:gd name="connsiteX2987" fmla="*/ 2967186 w 3600000"/>
              <a:gd name="connsiteY2987" fmla="*/ 814463 h 2787466"/>
              <a:gd name="connsiteX2988" fmla="*/ 2952967 w 3600000"/>
              <a:gd name="connsiteY2988" fmla="*/ 822481 h 2787466"/>
              <a:gd name="connsiteX2989" fmla="*/ 2950288 w 3600000"/>
              <a:gd name="connsiteY2989" fmla="*/ 811475 h 2787466"/>
              <a:gd name="connsiteX2990" fmla="*/ 578183 w 3600000"/>
              <a:gd name="connsiteY2990" fmla="*/ 809725 h 2787466"/>
              <a:gd name="connsiteX2991" fmla="*/ 564993 w 3600000"/>
              <a:gd name="connsiteY2991" fmla="*/ 820571 h 2787466"/>
              <a:gd name="connsiteX2992" fmla="*/ 568909 w 3600000"/>
              <a:gd name="connsiteY2992" fmla="*/ 826545 h 2787466"/>
              <a:gd name="connsiteX2993" fmla="*/ 578183 w 3600000"/>
              <a:gd name="connsiteY2993" fmla="*/ 809725 h 2787466"/>
              <a:gd name="connsiteX2994" fmla="*/ 2639130 w 3600000"/>
              <a:gd name="connsiteY2994" fmla="*/ 809589 h 2787466"/>
              <a:gd name="connsiteX2995" fmla="*/ 2639130 w 3600000"/>
              <a:gd name="connsiteY2995" fmla="*/ 815406 h 2787466"/>
              <a:gd name="connsiteX2996" fmla="*/ 2639130 w 3600000"/>
              <a:gd name="connsiteY2996" fmla="*/ 809589 h 2787466"/>
              <a:gd name="connsiteX2997" fmla="*/ 2961582 w 3600000"/>
              <a:gd name="connsiteY2997" fmla="*/ 808881 h 2787466"/>
              <a:gd name="connsiteX2998" fmla="*/ 2958248 w 3600000"/>
              <a:gd name="connsiteY2998" fmla="*/ 810237 h 2787466"/>
              <a:gd name="connsiteX2999" fmla="*/ 2958119 w 3600000"/>
              <a:gd name="connsiteY2999" fmla="*/ 815406 h 2787466"/>
              <a:gd name="connsiteX3000" fmla="*/ 2964661 w 3600000"/>
              <a:gd name="connsiteY3000" fmla="*/ 812124 h 2787466"/>
              <a:gd name="connsiteX3001" fmla="*/ 2965180 w 3600000"/>
              <a:gd name="connsiteY3001" fmla="*/ 810990 h 2787466"/>
              <a:gd name="connsiteX3002" fmla="*/ 2962766 w 3600000"/>
              <a:gd name="connsiteY3002" fmla="*/ 808905 h 2787466"/>
              <a:gd name="connsiteX3003" fmla="*/ 3545187 w 3600000"/>
              <a:gd name="connsiteY3003" fmla="*/ 806683 h 2787466"/>
              <a:gd name="connsiteX3004" fmla="*/ 3542535 w 3600000"/>
              <a:gd name="connsiteY3004" fmla="*/ 845626 h 2787466"/>
              <a:gd name="connsiteX3005" fmla="*/ 3545187 w 3600000"/>
              <a:gd name="connsiteY3005" fmla="*/ 806683 h 2787466"/>
              <a:gd name="connsiteX3006" fmla="*/ 3182112 w 3600000"/>
              <a:gd name="connsiteY3006" fmla="*/ 803614 h 2787466"/>
              <a:gd name="connsiteX3007" fmla="*/ 3176961 w 3600000"/>
              <a:gd name="connsiteY3007" fmla="*/ 808489 h 2787466"/>
              <a:gd name="connsiteX3008" fmla="*/ 3184791 w 3600000"/>
              <a:gd name="connsiteY3008" fmla="*/ 820437 h 2787466"/>
              <a:gd name="connsiteX3009" fmla="*/ 3182112 w 3600000"/>
              <a:gd name="connsiteY3009" fmla="*/ 803614 h 2787466"/>
              <a:gd name="connsiteX3010" fmla="*/ 3600000 w 3600000"/>
              <a:gd name="connsiteY3010" fmla="*/ 802109 h 2787466"/>
              <a:gd name="connsiteX3011" fmla="*/ 3600000 w 3600000"/>
              <a:gd name="connsiteY3011" fmla="*/ 802109 h 2787466"/>
              <a:gd name="connsiteX3012" fmla="*/ 3591047 w 3600000"/>
              <a:gd name="connsiteY3012" fmla="*/ 809806 h 2787466"/>
              <a:gd name="connsiteX3013" fmla="*/ 3580218 w 3600000"/>
              <a:gd name="connsiteY3013" fmla="*/ 815122 h 2787466"/>
              <a:gd name="connsiteX3014" fmla="*/ 3587064 w 3600000"/>
              <a:gd name="connsiteY3014" fmla="*/ 806770 h 2787466"/>
              <a:gd name="connsiteX3015" fmla="*/ 2716039 w 3600000"/>
              <a:gd name="connsiteY3015" fmla="*/ 801673 h 2787466"/>
              <a:gd name="connsiteX3016" fmla="*/ 2731865 w 3600000"/>
              <a:gd name="connsiteY3016" fmla="*/ 806743 h 2787466"/>
              <a:gd name="connsiteX3017" fmla="*/ 2726452 w 3600000"/>
              <a:gd name="connsiteY3017" fmla="*/ 811655 h 2787466"/>
              <a:gd name="connsiteX3018" fmla="*/ 2721246 w 3600000"/>
              <a:gd name="connsiteY3018" fmla="*/ 805634 h 2787466"/>
              <a:gd name="connsiteX3019" fmla="*/ 2713333 w 3600000"/>
              <a:gd name="connsiteY3019" fmla="*/ 807694 h 2787466"/>
              <a:gd name="connsiteX3020" fmla="*/ 2716039 w 3600000"/>
              <a:gd name="connsiteY3020" fmla="*/ 801673 h 2787466"/>
              <a:gd name="connsiteX3021" fmla="*/ 2585850 w 3600000"/>
              <a:gd name="connsiteY3021" fmla="*/ 801377 h 2787466"/>
              <a:gd name="connsiteX3022" fmla="*/ 2558307 w 3600000"/>
              <a:gd name="connsiteY3022" fmla="*/ 819283 h 2787466"/>
              <a:gd name="connsiteX3023" fmla="*/ 2555615 w 3600000"/>
              <a:gd name="connsiteY3023" fmla="*/ 813315 h 2787466"/>
              <a:gd name="connsiteX3024" fmla="*/ 2547952 w 3600000"/>
              <a:gd name="connsiteY3024" fmla="*/ 815200 h 2787466"/>
              <a:gd name="connsiteX3025" fmla="*/ 2585850 w 3600000"/>
              <a:gd name="connsiteY3025" fmla="*/ 801377 h 2787466"/>
              <a:gd name="connsiteX3026" fmla="*/ 3085299 w 3600000"/>
              <a:gd name="connsiteY3026" fmla="*/ 799700 h 2787466"/>
              <a:gd name="connsiteX3027" fmla="*/ 3082483 w 3600000"/>
              <a:gd name="connsiteY3027" fmla="*/ 800256 h 2787466"/>
              <a:gd name="connsiteX3028" fmla="*/ 3081095 w 3600000"/>
              <a:gd name="connsiteY3028" fmla="*/ 800218 h 2787466"/>
              <a:gd name="connsiteX3029" fmla="*/ 3082128 w 3600000"/>
              <a:gd name="connsiteY3029" fmla="*/ 806637 h 2787466"/>
              <a:gd name="connsiteX3030" fmla="*/ 3083870 w 3600000"/>
              <a:gd name="connsiteY3030" fmla="*/ 802926 h 2787466"/>
              <a:gd name="connsiteX3031" fmla="*/ 3525276 w 3600000"/>
              <a:gd name="connsiteY3031" fmla="*/ 799336 h 2787466"/>
              <a:gd name="connsiteX3032" fmla="*/ 3517571 w 3600000"/>
              <a:gd name="connsiteY3032" fmla="*/ 805304 h 2787466"/>
              <a:gd name="connsiteX3033" fmla="*/ 3529129 w 3600000"/>
              <a:gd name="connsiteY3033" fmla="*/ 808288 h 2787466"/>
              <a:gd name="connsiteX3034" fmla="*/ 3525276 w 3600000"/>
              <a:gd name="connsiteY3034" fmla="*/ 799336 h 2787466"/>
              <a:gd name="connsiteX3035" fmla="*/ 3287495 w 3600000"/>
              <a:gd name="connsiteY3035" fmla="*/ 798092 h 2787466"/>
              <a:gd name="connsiteX3036" fmla="*/ 3282054 w 3600000"/>
              <a:gd name="connsiteY3036" fmla="*/ 801639 h 2787466"/>
              <a:gd name="connsiteX3037" fmla="*/ 3261653 w 3600000"/>
              <a:gd name="connsiteY3037" fmla="*/ 824368 h 2787466"/>
              <a:gd name="connsiteX3038" fmla="*/ 3260211 w 3600000"/>
              <a:gd name="connsiteY3038" fmla="*/ 833330 h 2787466"/>
              <a:gd name="connsiteX3039" fmla="*/ 3249908 w 3600000"/>
              <a:gd name="connsiteY3039" fmla="*/ 837417 h 2787466"/>
              <a:gd name="connsiteX3040" fmla="*/ 3236642 w 3600000"/>
              <a:gd name="connsiteY3040" fmla="*/ 859351 h 2787466"/>
              <a:gd name="connsiteX3041" fmla="*/ 3226214 w 3600000"/>
              <a:gd name="connsiteY3041" fmla="*/ 867920 h 2787466"/>
              <a:gd name="connsiteX3042" fmla="*/ 3249417 w 3600000"/>
              <a:gd name="connsiteY3042" fmla="*/ 860754 h 2787466"/>
              <a:gd name="connsiteX3043" fmla="*/ 3295760 w 3600000"/>
              <a:gd name="connsiteY3043" fmla="*/ 843571 h 2787466"/>
              <a:gd name="connsiteX3044" fmla="*/ 3295449 w 3600000"/>
              <a:gd name="connsiteY3044" fmla="*/ 841348 h 2787466"/>
              <a:gd name="connsiteX3045" fmla="*/ 3298801 w 3600000"/>
              <a:gd name="connsiteY3045" fmla="*/ 842444 h 2787466"/>
              <a:gd name="connsiteX3046" fmla="*/ 3301728 w 3600000"/>
              <a:gd name="connsiteY3046" fmla="*/ 841358 h 2787466"/>
              <a:gd name="connsiteX3047" fmla="*/ 3303588 w 3600000"/>
              <a:gd name="connsiteY3047" fmla="*/ 839580 h 2787466"/>
              <a:gd name="connsiteX3048" fmla="*/ 3307503 w 3600000"/>
              <a:gd name="connsiteY3048" fmla="*/ 835157 h 2787466"/>
              <a:gd name="connsiteX3049" fmla="*/ 3308080 w 3600000"/>
              <a:gd name="connsiteY3049" fmla="*/ 834984 h 2787466"/>
              <a:gd name="connsiteX3050" fmla="*/ 3309304 w 3600000"/>
              <a:gd name="connsiteY3050" fmla="*/ 829855 h 2787466"/>
              <a:gd name="connsiteX3051" fmla="*/ 3304350 w 3600000"/>
              <a:gd name="connsiteY3051" fmla="*/ 807637 h 2787466"/>
              <a:gd name="connsiteX3052" fmla="*/ 3301581 w 3600000"/>
              <a:gd name="connsiteY3052" fmla="*/ 805984 h 2787466"/>
              <a:gd name="connsiteX3053" fmla="*/ 3301193 w 3600000"/>
              <a:gd name="connsiteY3053" fmla="*/ 807775 h 2787466"/>
              <a:gd name="connsiteX3054" fmla="*/ 3304698 w 3600000"/>
              <a:gd name="connsiteY3054" fmla="*/ 811656 h 2787466"/>
              <a:gd name="connsiteX3055" fmla="*/ 3298034 w 3600000"/>
              <a:gd name="connsiteY3055" fmla="*/ 820669 h 2787466"/>
              <a:gd name="connsiteX3056" fmla="*/ 3298034 w 3600000"/>
              <a:gd name="connsiteY3056" fmla="*/ 809758 h 2787466"/>
              <a:gd name="connsiteX3057" fmla="*/ 3287622 w 3600000"/>
              <a:gd name="connsiteY3057" fmla="*/ 808652 h 2787466"/>
              <a:gd name="connsiteX3058" fmla="*/ 3295733 w 3600000"/>
              <a:gd name="connsiteY3058" fmla="*/ 802493 h 2787466"/>
              <a:gd name="connsiteX3059" fmla="*/ 3290159 w 3600000"/>
              <a:gd name="connsiteY3059" fmla="*/ 799165 h 2787466"/>
              <a:gd name="connsiteX3060" fmla="*/ 3342225 w 3600000"/>
              <a:gd name="connsiteY3060" fmla="*/ 797639 h 2787466"/>
              <a:gd name="connsiteX3061" fmla="*/ 3334469 w 3600000"/>
              <a:gd name="connsiteY3061" fmla="*/ 807597 h 2787466"/>
              <a:gd name="connsiteX3062" fmla="*/ 3338664 w 3600000"/>
              <a:gd name="connsiteY3062" fmla="*/ 810974 h 2787466"/>
              <a:gd name="connsiteX3063" fmla="*/ 3345985 w 3600000"/>
              <a:gd name="connsiteY3063" fmla="*/ 804322 h 2787466"/>
              <a:gd name="connsiteX3064" fmla="*/ 3342225 w 3600000"/>
              <a:gd name="connsiteY3064" fmla="*/ 797639 h 2787466"/>
              <a:gd name="connsiteX3065" fmla="*/ 3145639 w 3600000"/>
              <a:gd name="connsiteY3065" fmla="*/ 794653 h 2787466"/>
              <a:gd name="connsiteX3066" fmla="*/ 3135336 w 3600000"/>
              <a:gd name="connsiteY3066" fmla="*/ 806602 h 2787466"/>
              <a:gd name="connsiteX3067" fmla="*/ 3145639 w 3600000"/>
              <a:gd name="connsiteY3067" fmla="*/ 794653 h 2787466"/>
              <a:gd name="connsiteX3068" fmla="*/ 3188706 w 3600000"/>
              <a:gd name="connsiteY3068" fmla="*/ 791665 h 2787466"/>
              <a:gd name="connsiteX3069" fmla="*/ 3201688 w 3600000"/>
              <a:gd name="connsiteY3069" fmla="*/ 813519 h 2787466"/>
              <a:gd name="connsiteX3070" fmla="*/ 3191179 w 3600000"/>
              <a:gd name="connsiteY3070" fmla="*/ 829399 h 2787466"/>
              <a:gd name="connsiteX3071" fmla="*/ 3204161 w 3600000"/>
              <a:gd name="connsiteY3071" fmla="*/ 823425 h 2787466"/>
              <a:gd name="connsiteX3072" fmla="*/ 3217349 w 3600000"/>
              <a:gd name="connsiteY3072" fmla="*/ 810532 h 2787466"/>
              <a:gd name="connsiteX3073" fmla="*/ 3214670 w 3600000"/>
              <a:gd name="connsiteY3073" fmla="*/ 801570 h 2787466"/>
              <a:gd name="connsiteX3074" fmla="*/ 3188706 w 3600000"/>
              <a:gd name="connsiteY3074" fmla="*/ 791665 h 2787466"/>
              <a:gd name="connsiteX3075" fmla="*/ 2745922 w 3600000"/>
              <a:gd name="connsiteY3075" fmla="*/ 787550 h 2787466"/>
              <a:gd name="connsiteX3076" fmla="*/ 2733106 w 3600000"/>
              <a:gd name="connsiteY3076" fmla="*/ 801107 h 2787466"/>
              <a:gd name="connsiteX3077" fmla="*/ 2740837 w 3600000"/>
              <a:gd name="connsiteY3077" fmla="*/ 801107 h 2787466"/>
              <a:gd name="connsiteX3078" fmla="*/ 2729241 w 3600000"/>
              <a:gd name="connsiteY3078" fmla="*/ 803110 h 2787466"/>
              <a:gd name="connsiteX3079" fmla="*/ 2729241 w 3600000"/>
              <a:gd name="connsiteY3079" fmla="*/ 789399 h 2787466"/>
              <a:gd name="connsiteX3080" fmla="*/ 2736972 w 3600000"/>
              <a:gd name="connsiteY3080" fmla="*/ 794329 h 2787466"/>
              <a:gd name="connsiteX3081" fmla="*/ 2745922 w 3600000"/>
              <a:gd name="connsiteY3081" fmla="*/ 787550 h 2787466"/>
              <a:gd name="connsiteX3082" fmla="*/ 2575288 w 3600000"/>
              <a:gd name="connsiteY3082" fmla="*/ 787550 h 2787466"/>
              <a:gd name="connsiteX3083" fmla="*/ 2585909 w 3600000"/>
              <a:gd name="connsiteY3083" fmla="*/ 792462 h 2787466"/>
              <a:gd name="connsiteX3084" fmla="*/ 2572790 w 3600000"/>
              <a:gd name="connsiteY3084" fmla="*/ 797533 h 2787466"/>
              <a:gd name="connsiteX3085" fmla="*/ 2575288 w 3600000"/>
              <a:gd name="connsiteY3085" fmla="*/ 787550 h 2787466"/>
              <a:gd name="connsiteX3086" fmla="*/ 2981611 w 3600000"/>
              <a:gd name="connsiteY3086" fmla="*/ 785690 h 2787466"/>
              <a:gd name="connsiteX3087" fmla="*/ 2976459 w 3600000"/>
              <a:gd name="connsiteY3087" fmla="*/ 787735 h 2787466"/>
              <a:gd name="connsiteX3088" fmla="*/ 2971102 w 3600000"/>
              <a:gd name="connsiteY3088" fmla="*/ 795596 h 2787466"/>
              <a:gd name="connsiteX3089" fmla="*/ 2975017 w 3600000"/>
              <a:gd name="connsiteY3089" fmla="*/ 801570 h 2787466"/>
              <a:gd name="connsiteX3090" fmla="*/ 2981611 w 3600000"/>
              <a:gd name="connsiteY3090" fmla="*/ 785690 h 2787466"/>
              <a:gd name="connsiteX3091" fmla="*/ 3255627 w 3600000"/>
              <a:gd name="connsiteY3091" fmla="*/ 783426 h 2787466"/>
              <a:gd name="connsiteX3092" fmla="*/ 3255060 w 3600000"/>
              <a:gd name="connsiteY3092" fmla="*/ 783647 h 2787466"/>
              <a:gd name="connsiteX3093" fmla="*/ 3257851 w 3600000"/>
              <a:gd name="connsiteY3093" fmla="*/ 785910 h 2787466"/>
              <a:gd name="connsiteX3094" fmla="*/ 3259436 w 3600000"/>
              <a:gd name="connsiteY3094" fmla="*/ 785874 h 2787466"/>
              <a:gd name="connsiteX3095" fmla="*/ 2606841 w 3600000"/>
              <a:gd name="connsiteY3095" fmla="*/ 780684 h 2787466"/>
              <a:gd name="connsiteX3096" fmla="*/ 2597813 w 3600000"/>
              <a:gd name="connsiteY3096" fmla="*/ 790703 h 2787466"/>
              <a:gd name="connsiteX3097" fmla="*/ 2606841 w 3600000"/>
              <a:gd name="connsiteY3097" fmla="*/ 780684 h 2787466"/>
              <a:gd name="connsiteX3098" fmla="*/ 3018084 w 3600000"/>
              <a:gd name="connsiteY3098" fmla="*/ 777672 h 2787466"/>
              <a:gd name="connsiteX3099" fmla="*/ 3007575 w 3600000"/>
              <a:gd name="connsiteY3099" fmla="*/ 787735 h 2787466"/>
              <a:gd name="connsiteX3100" fmla="*/ 3018084 w 3600000"/>
              <a:gd name="connsiteY3100" fmla="*/ 777672 h 2787466"/>
              <a:gd name="connsiteX3101" fmla="*/ 624965 w 3600000"/>
              <a:gd name="connsiteY3101" fmla="*/ 777440 h 2787466"/>
              <a:gd name="connsiteX3102" fmla="*/ 621049 w 3600000"/>
              <a:gd name="connsiteY3102" fmla="*/ 778916 h 2787466"/>
              <a:gd name="connsiteX3103" fmla="*/ 623727 w 3600000"/>
              <a:gd name="connsiteY3103" fmla="*/ 784889 h 2787466"/>
              <a:gd name="connsiteX3104" fmla="*/ 614454 w 3600000"/>
              <a:gd name="connsiteY3104" fmla="*/ 782846 h 2787466"/>
              <a:gd name="connsiteX3105" fmla="*/ 581892 w 3600000"/>
              <a:gd name="connsiteY3105" fmla="*/ 804696 h 2787466"/>
              <a:gd name="connsiteX3106" fmla="*/ 588488 w 3600000"/>
              <a:gd name="connsiteY3106" fmla="*/ 812555 h 2787466"/>
              <a:gd name="connsiteX3107" fmla="*/ 637948 w 3600000"/>
              <a:gd name="connsiteY3107" fmla="*/ 777816 h 2787466"/>
              <a:gd name="connsiteX3108" fmla="*/ 624965 w 3600000"/>
              <a:gd name="connsiteY3108" fmla="*/ 777440 h 2787466"/>
              <a:gd name="connsiteX3109" fmla="*/ 3109165 w 3600000"/>
              <a:gd name="connsiteY3109" fmla="*/ 776729 h 2787466"/>
              <a:gd name="connsiteX3110" fmla="*/ 3100098 w 3600000"/>
              <a:gd name="connsiteY3110" fmla="*/ 790722 h 2787466"/>
              <a:gd name="connsiteX3111" fmla="*/ 3109165 w 3600000"/>
              <a:gd name="connsiteY3111" fmla="*/ 788678 h 2787466"/>
              <a:gd name="connsiteX3112" fmla="*/ 3109165 w 3600000"/>
              <a:gd name="connsiteY3112" fmla="*/ 776729 h 2787466"/>
              <a:gd name="connsiteX3113" fmla="*/ 2795327 w 3600000"/>
              <a:gd name="connsiteY3113" fmla="*/ 769811 h 2787466"/>
              <a:gd name="connsiteX3114" fmla="*/ 2795327 w 3600000"/>
              <a:gd name="connsiteY3114" fmla="*/ 777672 h 2787466"/>
              <a:gd name="connsiteX3115" fmla="*/ 2795327 w 3600000"/>
              <a:gd name="connsiteY3115" fmla="*/ 769811 h 2787466"/>
              <a:gd name="connsiteX3116" fmla="*/ 3468626 w 3600000"/>
              <a:gd name="connsiteY3116" fmla="*/ 767445 h 2787466"/>
              <a:gd name="connsiteX3117" fmla="*/ 3475047 w 3600000"/>
              <a:gd name="connsiteY3117" fmla="*/ 767445 h 2787466"/>
              <a:gd name="connsiteX3118" fmla="*/ 3477454 w 3600000"/>
              <a:gd name="connsiteY3118" fmla="*/ 774441 h 2787466"/>
              <a:gd name="connsiteX3119" fmla="*/ 3470031 w 3600000"/>
              <a:gd name="connsiteY3119" fmla="*/ 784618 h 2787466"/>
              <a:gd name="connsiteX3120" fmla="*/ 3468626 w 3600000"/>
              <a:gd name="connsiteY3120" fmla="*/ 767445 h 2787466"/>
              <a:gd name="connsiteX3121" fmla="*/ 2646796 w 3600000"/>
              <a:gd name="connsiteY3121" fmla="*/ 767445 h 2787466"/>
              <a:gd name="connsiteX3122" fmla="*/ 2640334 w 3600000"/>
              <a:gd name="connsiteY3122" fmla="*/ 778381 h 2787466"/>
              <a:gd name="connsiteX3123" fmla="*/ 2646796 w 3600000"/>
              <a:gd name="connsiteY3123" fmla="*/ 767445 h 2787466"/>
              <a:gd name="connsiteX3124" fmla="*/ 3442879 w 3600000"/>
              <a:gd name="connsiteY3124" fmla="*/ 764672 h 2787466"/>
              <a:gd name="connsiteX3125" fmla="*/ 3444157 w 3600000"/>
              <a:gd name="connsiteY3125" fmla="*/ 776305 h 2787466"/>
              <a:gd name="connsiteX3126" fmla="*/ 3442879 w 3600000"/>
              <a:gd name="connsiteY3126" fmla="*/ 764672 h 2787466"/>
              <a:gd name="connsiteX3127" fmla="*/ 3186028 w 3600000"/>
              <a:gd name="connsiteY3127" fmla="*/ 763837 h 2787466"/>
              <a:gd name="connsiteX3128" fmla="*/ 3182112 w 3600000"/>
              <a:gd name="connsiteY3128" fmla="*/ 777672 h 2787466"/>
              <a:gd name="connsiteX3129" fmla="*/ 3186028 w 3600000"/>
              <a:gd name="connsiteY3129" fmla="*/ 763837 h 2787466"/>
              <a:gd name="connsiteX3130" fmla="*/ 2761997 w 3600000"/>
              <a:gd name="connsiteY3130" fmla="*/ 762593 h 2787466"/>
              <a:gd name="connsiteX3131" fmla="*/ 2764623 w 3600000"/>
              <a:gd name="connsiteY3131" fmla="*/ 771466 h 2787466"/>
              <a:gd name="connsiteX3132" fmla="*/ 2749276 w 3600000"/>
              <a:gd name="connsiteY3132" fmla="*/ 770515 h 2787466"/>
              <a:gd name="connsiteX3133" fmla="*/ 2761997 w 3600000"/>
              <a:gd name="connsiteY3133" fmla="*/ 762593 h 2787466"/>
              <a:gd name="connsiteX3134" fmla="*/ 3536458 w 3600000"/>
              <a:gd name="connsiteY3134" fmla="*/ 761456 h 2787466"/>
              <a:gd name="connsiteX3135" fmla="*/ 3554344 w 3600000"/>
              <a:gd name="connsiteY3135" fmla="*/ 761456 h 2787466"/>
              <a:gd name="connsiteX3136" fmla="*/ 3555767 w 3600000"/>
              <a:gd name="connsiteY3136" fmla="*/ 771367 h 2787466"/>
              <a:gd name="connsiteX3137" fmla="*/ 3541539 w 3600000"/>
              <a:gd name="connsiteY3137" fmla="*/ 763501 h 2787466"/>
              <a:gd name="connsiteX3138" fmla="*/ 3546824 w 3600000"/>
              <a:gd name="connsiteY3138" fmla="*/ 797325 h 2787466"/>
              <a:gd name="connsiteX3139" fmla="*/ 3544181 w 3600000"/>
              <a:gd name="connsiteY3139" fmla="*/ 801258 h 2787466"/>
              <a:gd name="connsiteX3140" fmla="*/ 3532595 w 3600000"/>
              <a:gd name="connsiteY3140" fmla="*/ 799213 h 2787466"/>
              <a:gd name="connsiteX3141" fmla="*/ 3536458 w 3600000"/>
              <a:gd name="connsiteY3141" fmla="*/ 761456 h 2787466"/>
              <a:gd name="connsiteX3142" fmla="*/ 713581 w 3600000"/>
              <a:gd name="connsiteY3142" fmla="*/ 760053 h 2787466"/>
              <a:gd name="connsiteX3143" fmla="*/ 691324 w 3600000"/>
              <a:gd name="connsiteY3143" fmla="*/ 766969 h 2787466"/>
              <a:gd name="connsiteX3144" fmla="*/ 713581 w 3600000"/>
              <a:gd name="connsiteY3144" fmla="*/ 760053 h 2787466"/>
              <a:gd name="connsiteX3145" fmla="*/ 3515197 w 3600000"/>
              <a:gd name="connsiteY3145" fmla="*/ 759819 h 2787466"/>
              <a:gd name="connsiteX3146" fmla="*/ 3524082 w 3600000"/>
              <a:gd name="connsiteY3146" fmla="*/ 784801 h 2787466"/>
              <a:gd name="connsiteX3147" fmla="*/ 3522870 w 3600000"/>
              <a:gd name="connsiteY3147" fmla="*/ 795711 h 2787466"/>
              <a:gd name="connsiteX3148" fmla="*/ 3507523 w 3600000"/>
              <a:gd name="connsiteY3148" fmla="*/ 769780 h 2787466"/>
              <a:gd name="connsiteX3149" fmla="*/ 3515197 w 3600000"/>
              <a:gd name="connsiteY3149" fmla="*/ 759819 h 2787466"/>
              <a:gd name="connsiteX3150" fmla="*/ 3373452 w 3600000"/>
              <a:gd name="connsiteY3150" fmla="*/ 757460 h 2787466"/>
              <a:gd name="connsiteX3151" fmla="*/ 3373153 w 3600000"/>
              <a:gd name="connsiteY3151" fmla="*/ 760909 h 2787466"/>
              <a:gd name="connsiteX3152" fmla="*/ 3377462 w 3600000"/>
              <a:gd name="connsiteY3152" fmla="*/ 759906 h 2787466"/>
              <a:gd name="connsiteX3153" fmla="*/ 3374362 w 3600000"/>
              <a:gd name="connsiteY3153" fmla="*/ 759113 h 2787466"/>
              <a:gd name="connsiteX3154" fmla="*/ 659999 w 3600000"/>
              <a:gd name="connsiteY3154" fmla="*/ 757067 h 2787466"/>
              <a:gd name="connsiteX3155" fmla="*/ 635474 w 3600000"/>
              <a:gd name="connsiteY3155" fmla="*/ 776872 h 2787466"/>
              <a:gd name="connsiteX3156" fmla="*/ 663914 w 3600000"/>
              <a:gd name="connsiteY3156" fmla="*/ 760996 h 2787466"/>
              <a:gd name="connsiteX3157" fmla="*/ 659999 w 3600000"/>
              <a:gd name="connsiteY3157" fmla="*/ 757067 h 2787466"/>
              <a:gd name="connsiteX3158" fmla="*/ 3282992 w 3600000"/>
              <a:gd name="connsiteY3158" fmla="*/ 757046 h 2787466"/>
              <a:gd name="connsiteX3159" fmla="*/ 3285548 w 3600000"/>
              <a:gd name="connsiteY3159" fmla="*/ 764029 h 2787466"/>
              <a:gd name="connsiteX3160" fmla="*/ 3274900 w 3600000"/>
              <a:gd name="connsiteY3160" fmla="*/ 764981 h 2787466"/>
              <a:gd name="connsiteX3161" fmla="*/ 3282992 w 3600000"/>
              <a:gd name="connsiteY3161" fmla="*/ 757046 h 2787466"/>
              <a:gd name="connsiteX3162" fmla="*/ 2624897 w 3600000"/>
              <a:gd name="connsiteY3162" fmla="*/ 757046 h 2787466"/>
              <a:gd name="connsiteX3163" fmla="*/ 2605610 w 3600000"/>
              <a:gd name="connsiteY3163" fmla="*/ 776770 h 2787466"/>
              <a:gd name="connsiteX3164" fmla="*/ 2640491 w 3600000"/>
              <a:gd name="connsiteY3164" fmla="*/ 757046 h 2787466"/>
              <a:gd name="connsiteX3165" fmla="*/ 2639260 w 3600000"/>
              <a:gd name="connsiteY3165" fmla="*/ 761899 h 2787466"/>
              <a:gd name="connsiteX3166" fmla="*/ 2641928 w 3600000"/>
              <a:gd name="connsiteY3166" fmla="*/ 768787 h 2787466"/>
              <a:gd name="connsiteX3167" fmla="*/ 2591246 w 3600000"/>
              <a:gd name="connsiteY3167" fmla="*/ 800565 h 2787466"/>
              <a:gd name="connsiteX3168" fmla="*/ 2586117 w 3600000"/>
              <a:gd name="connsiteY3168" fmla="*/ 789608 h 2787466"/>
              <a:gd name="connsiteX3169" fmla="*/ 2624897 w 3600000"/>
              <a:gd name="connsiteY3169" fmla="*/ 757046 h 2787466"/>
              <a:gd name="connsiteX3170" fmla="*/ 2767153 w 3600000"/>
              <a:gd name="connsiteY3170" fmla="*/ 753824 h 2787466"/>
              <a:gd name="connsiteX3171" fmla="*/ 2770632 w 3600000"/>
              <a:gd name="connsiteY3171" fmla="*/ 754468 h 2787466"/>
              <a:gd name="connsiteX3172" fmla="*/ 2771878 w 3600000"/>
              <a:gd name="connsiteY3172" fmla="*/ 757437 h 2787466"/>
              <a:gd name="connsiteX3173" fmla="*/ 2766685 w 3600000"/>
              <a:gd name="connsiteY3173" fmla="*/ 762436 h 2787466"/>
              <a:gd name="connsiteX3174" fmla="*/ 2762738 w 3600000"/>
              <a:gd name="connsiteY3174" fmla="*/ 755405 h 2787466"/>
              <a:gd name="connsiteX3175" fmla="*/ 2767153 w 3600000"/>
              <a:gd name="connsiteY3175" fmla="*/ 753824 h 2787466"/>
              <a:gd name="connsiteX3176" fmla="*/ 3498593 w 3600000"/>
              <a:gd name="connsiteY3176" fmla="*/ 753580 h 2787466"/>
              <a:gd name="connsiteX3177" fmla="*/ 3498593 w 3600000"/>
              <a:gd name="connsiteY3177" fmla="*/ 769369 h 2787466"/>
              <a:gd name="connsiteX3178" fmla="*/ 3498593 w 3600000"/>
              <a:gd name="connsiteY3178" fmla="*/ 753580 h 2787466"/>
              <a:gd name="connsiteX3179" fmla="*/ 2700331 w 3600000"/>
              <a:gd name="connsiteY3179" fmla="*/ 750944 h 2787466"/>
              <a:gd name="connsiteX3180" fmla="*/ 2697653 w 3600000"/>
              <a:gd name="connsiteY3180" fmla="*/ 758805 h 2787466"/>
              <a:gd name="connsiteX3181" fmla="*/ 2700331 w 3600000"/>
              <a:gd name="connsiteY3181" fmla="*/ 750944 h 2787466"/>
              <a:gd name="connsiteX3182" fmla="*/ 2999810 w 3600000"/>
              <a:gd name="connsiteY3182" fmla="*/ 748727 h 2787466"/>
              <a:gd name="connsiteX3183" fmla="*/ 3001300 w 3600000"/>
              <a:gd name="connsiteY3183" fmla="*/ 761740 h 2787466"/>
              <a:gd name="connsiteX3184" fmla="*/ 2999810 w 3600000"/>
              <a:gd name="connsiteY3184" fmla="*/ 748727 h 2787466"/>
              <a:gd name="connsiteX3185" fmla="*/ 3373668 w 3600000"/>
              <a:gd name="connsiteY3185" fmla="*/ 748375 h 2787466"/>
              <a:gd name="connsiteX3186" fmla="*/ 3374104 w 3600000"/>
              <a:gd name="connsiteY3186" fmla="*/ 749958 h 2787466"/>
              <a:gd name="connsiteX3187" fmla="*/ 3373612 w 3600000"/>
              <a:gd name="connsiteY3187" fmla="*/ 755625 h 2787466"/>
              <a:gd name="connsiteX3188" fmla="*/ 3373955 w 3600000"/>
              <a:gd name="connsiteY3188" fmla="*/ 754931 h 2787466"/>
              <a:gd name="connsiteX3189" fmla="*/ 3377462 w 3600000"/>
              <a:gd name="connsiteY3189" fmla="*/ 755818 h 2787466"/>
              <a:gd name="connsiteX3190" fmla="*/ 3376097 w 3600000"/>
              <a:gd name="connsiteY3190" fmla="*/ 750512 h 2787466"/>
              <a:gd name="connsiteX3191" fmla="*/ 3200246 w 3600000"/>
              <a:gd name="connsiteY3191" fmla="*/ 745913 h 2787466"/>
              <a:gd name="connsiteX3192" fmla="*/ 3192621 w 3600000"/>
              <a:gd name="connsiteY3192" fmla="*/ 753932 h 2787466"/>
              <a:gd name="connsiteX3193" fmla="*/ 3204161 w 3600000"/>
              <a:gd name="connsiteY3193" fmla="*/ 751887 h 2787466"/>
              <a:gd name="connsiteX3194" fmla="*/ 3200246 w 3600000"/>
              <a:gd name="connsiteY3194" fmla="*/ 745913 h 2787466"/>
              <a:gd name="connsiteX3195" fmla="*/ 2808309 w 3600000"/>
              <a:gd name="connsiteY3195" fmla="*/ 744970 h 2787466"/>
              <a:gd name="connsiteX3196" fmla="*/ 2801921 w 3600000"/>
              <a:gd name="connsiteY3196" fmla="*/ 752831 h 2787466"/>
              <a:gd name="connsiteX3197" fmla="*/ 2808309 w 3600000"/>
              <a:gd name="connsiteY3197" fmla="*/ 744970 h 2787466"/>
              <a:gd name="connsiteX3198" fmla="*/ 3309744 w 3600000"/>
              <a:gd name="connsiteY3198" fmla="*/ 742454 h 2787466"/>
              <a:gd name="connsiteX3199" fmla="*/ 3303279 w 3600000"/>
              <a:gd name="connsiteY3199" fmla="*/ 745913 h 2787466"/>
              <a:gd name="connsiteX3200" fmla="*/ 3312346 w 3600000"/>
              <a:gd name="connsiteY3200" fmla="*/ 747957 h 2787466"/>
              <a:gd name="connsiteX3201" fmla="*/ 3309744 w 3600000"/>
              <a:gd name="connsiteY3201" fmla="*/ 742454 h 2787466"/>
              <a:gd name="connsiteX3202" fmla="*/ 654847 w 3600000"/>
              <a:gd name="connsiteY3202" fmla="*/ 742133 h 2787466"/>
              <a:gd name="connsiteX3203" fmla="*/ 644542 w 3600000"/>
              <a:gd name="connsiteY3203" fmla="*/ 752980 h 2787466"/>
              <a:gd name="connsiteX3204" fmla="*/ 657525 w 3600000"/>
              <a:gd name="connsiteY3204" fmla="*/ 748107 h 2787466"/>
              <a:gd name="connsiteX3205" fmla="*/ 654847 w 3600000"/>
              <a:gd name="connsiteY3205" fmla="*/ 742133 h 2787466"/>
              <a:gd name="connsiteX3206" fmla="*/ 2580139 w 3600000"/>
              <a:gd name="connsiteY3206" fmla="*/ 739715 h 2787466"/>
              <a:gd name="connsiteX3207" fmla="*/ 2569738 w 3600000"/>
              <a:gd name="connsiteY3207" fmla="*/ 749954 h 2787466"/>
              <a:gd name="connsiteX3208" fmla="*/ 2580139 w 3600000"/>
              <a:gd name="connsiteY3208" fmla="*/ 739715 h 2787466"/>
              <a:gd name="connsiteX3209" fmla="*/ 3496091 w 3600000"/>
              <a:gd name="connsiteY3209" fmla="*/ 739021 h 2787466"/>
              <a:gd name="connsiteX3210" fmla="*/ 3494869 w 3600000"/>
              <a:gd name="connsiteY3210" fmla="*/ 754114 h 2787466"/>
              <a:gd name="connsiteX3211" fmla="*/ 3496091 w 3600000"/>
              <a:gd name="connsiteY3211" fmla="*/ 739021 h 2787466"/>
              <a:gd name="connsiteX3212" fmla="*/ 3281561 w 3600000"/>
              <a:gd name="connsiteY3212" fmla="*/ 738391 h 2787466"/>
              <a:gd name="connsiteX3213" fmla="*/ 3273194 w 3600000"/>
              <a:gd name="connsiteY3213" fmla="*/ 742926 h 2787466"/>
              <a:gd name="connsiteX3214" fmla="*/ 3282467 w 3600000"/>
              <a:gd name="connsiteY3214" fmla="*/ 742926 h 2787466"/>
              <a:gd name="connsiteX3215" fmla="*/ 3268041 w 3600000"/>
              <a:gd name="connsiteY3215" fmla="*/ 753932 h 2787466"/>
              <a:gd name="connsiteX3216" fmla="*/ 3264152 w 3600000"/>
              <a:gd name="connsiteY3216" fmla="*/ 761517 h 2787466"/>
              <a:gd name="connsiteX3217" fmla="*/ 3263041 w 3600000"/>
              <a:gd name="connsiteY3217" fmla="*/ 763661 h 2787466"/>
              <a:gd name="connsiteX3218" fmla="*/ 3263967 w 3600000"/>
              <a:gd name="connsiteY3218" fmla="*/ 764876 h 2787466"/>
              <a:gd name="connsiteX3219" fmla="*/ 3272760 w 3600000"/>
              <a:gd name="connsiteY3219" fmla="*/ 769157 h 2787466"/>
              <a:gd name="connsiteX3220" fmla="*/ 3278551 w 3600000"/>
              <a:gd name="connsiteY3220" fmla="*/ 766823 h 2787466"/>
              <a:gd name="connsiteX3221" fmla="*/ 3278452 w 3600000"/>
              <a:gd name="connsiteY3221" fmla="*/ 769307 h 2787466"/>
              <a:gd name="connsiteX3222" fmla="*/ 3276511 w 3600000"/>
              <a:gd name="connsiteY3222" fmla="*/ 770983 h 2787466"/>
              <a:gd name="connsiteX3223" fmla="*/ 3280069 w 3600000"/>
              <a:gd name="connsiteY3223" fmla="*/ 772715 h 2787466"/>
              <a:gd name="connsiteX3224" fmla="*/ 3280252 w 3600000"/>
              <a:gd name="connsiteY3224" fmla="*/ 772582 h 2787466"/>
              <a:gd name="connsiteX3225" fmla="*/ 3281553 w 3600000"/>
              <a:gd name="connsiteY3225" fmla="*/ 772182 h 2787466"/>
              <a:gd name="connsiteX3226" fmla="*/ 3283406 w 3600000"/>
              <a:gd name="connsiteY3226" fmla="*/ 774340 h 2787466"/>
              <a:gd name="connsiteX3227" fmla="*/ 3283797 w 3600000"/>
              <a:gd name="connsiteY3227" fmla="*/ 774530 h 2787466"/>
              <a:gd name="connsiteX3228" fmla="*/ 3291534 w 3600000"/>
              <a:gd name="connsiteY3228" fmla="*/ 761793 h 2787466"/>
              <a:gd name="connsiteX3229" fmla="*/ 3294006 w 3600000"/>
              <a:gd name="connsiteY3229" fmla="*/ 766823 h 2787466"/>
              <a:gd name="connsiteX3230" fmla="*/ 3303279 w 3600000"/>
              <a:gd name="connsiteY3230" fmla="*/ 758805 h 2787466"/>
              <a:gd name="connsiteX3231" fmla="*/ 3297922 w 3600000"/>
              <a:gd name="connsiteY3231" fmla="*/ 750944 h 2787466"/>
              <a:gd name="connsiteX3232" fmla="*/ 3288854 w 3600000"/>
              <a:gd name="connsiteY3232" fmla="*/ 753932 h 2787466"/>
              <a:gd name="connsiteX3233" fmla="*/ 3292770 w 3600000"/>
              <a:gd name="connsiteY3233" fmla="*/ 747013 h 2787466"/>
              <a:gd name="connsiteX3234" fmla="*/ 3300600 w 3600000"/>
              <a:gd name="connsiteY3234" fmla="*/ 747013 h 2787466"/>
              <a:gd name="connsiteX3235" fmla="*/ 3281561 w 3600000"/>
              <a:gd name="connsiteY3235" fmla="*/ 738391 h 2787466"/>
              <a:gd name="connsiteX3236" fmla="*/ 3003376 w 3600000"/>
              <a:gd name="connsiteY3236" fmla="*/ 737010 h 2787466"/>
              <a:gd name="connsiteX3237" fmla="*/ 2993357 w 3600000"/>
              <a:gd name="connsiteY3237" fmla="*/ 738052 h 2787466"/>
              <a:gd name="connsiteX3238" fmla="*/ 2985526 w 3600000"/>
              <a:gd name="connsiteY3238" fmla="*/ 741982 h 2787466"/>
              <a:gd name="connsiteX3239" fmla="*/ 2980375 w 3600000"/>
              <a:gd name="connsiteY3239" fmla="*/ 763837 h 2787466"/>
              <a:gd name="connsiteX3240" fmla="*/ 2972544 w 3600000"/>
              <a:gd name="connsiteY3240" fmla="*/ 765880 h 2787466"/>
              <a:gd name="connsiteX3241" fmla="*/ 2972544 w 3600000"/>
              <a:gd name="connsiteY3241" fmla="*/ 772798 h 2787466"/>
              <a:gd name="connsiteX3242" fmla="*/ 2977695 w 3600000"/>
              <a:gd name="connsiteY3242" fmla="*/ 783647 h 2787466"/>
              <a:gd name="connsiteX3243" fmla="*/ 2977695 w 3600000"/>
              <a:gd name="connsiteY3243" fmla="*/ 767767 h 2787466"/>
              <a:gd name="connsiteX3244" fmla="*/ 2989442 w 3600000"/>
              <a:gd name="connsiteY3244" fmla="*/ 758805 h 2787466"/>
              <a:gd name="connsiteX3245" fmla="*/ 2990678 w 3600000"/>
              <a:gd name="connsiteY3245" fmla="*/ 761793 h 2787466"/>
              <a:gd name="connsiteX3246" fmla="*/ 2991914 w 3600000"/>
              <a:gd name="connsiteY3246" fmla="*/ 779716 h 2787466"/>
              <a:gd name="connsiteX3247" fmla="*/ 2994593 w 3600000"/>
              <a:gd name="connsiteY3247" fmla="*/ 766823 h 2787466"/>
              <a:gd name="connsiteX3248" fmla="*/ 3005102 w 3600000"/>
              <a:gd name="connsiteY3248" fmla="*/ 763837 h 2787466"/>
              <a:gd name="connsiteX3249" fmla="*/ 2998508 w 3600000"/>
              <a:gd name="connsiteY3249" fmla="*/ 741039 h 2787466"/>
              <a:gd name="connsiteX3250" fmla="*/ 3003660 w 3600000"/>
              <a:gd name="connsiteY3250" fmla="*/ 741982 h 2787466"/>
              <a:gd name="connsiteX3251" fmla="*/ 3003376 w 3600000"/>
              <a:gd name="connsiteY3251" fmla="*/ 737010 h 2787466"/>
              <a:gd name="connsiteX3252" fmla="*/ 2779589 w 3600000"/>
              <a:gd name="connsiteY3252" fmla="*/ 736248 h 2787466"/>
              <a:gd name="connsiteX3253" fmla="*/ 2771766 w 3600000"/>
              <a:gd name="connsiteY3253" fmla="*/ 752733 h 2787466"/>
              <a:gd name="connsiteX3254" fmla="*/ 2775677 w 3600000"/>
              <a:gd name="connsiteY3254" fmla="*/ 737173 h 2787466"/>
              <a:gd name="connsiteX3255" fmla="*/ 2779589 w 3600000"/>
              <a:gd name="connsiteY3255" fmla="*/ 736248 h 2787466"/>
              <a:gd name="connsiteX3256" fmla="*/ 3093567 w 3600000"/>
              <a:gd name="connsiteY3256" fmla="*/ 734862 h 2787466"/>
              <a:gd name="connsiteX3257" fmla="*/ 3096192 w 3600000"/>
              <a:gd name="connsiteY3257" fmla="*/ 745098 h 2787466"/>
              <a:gd name="connsiteX3258" fmla="*/ 3093567 w 3600000"/>
              <a:gd name="connsiteY3258" fmla="*/ 734862 h 2787466"/>
              <a:gd name="connsiteX3259" fmla="*/ 2787684 w 3600000"/>
              <a:gd name="connsiteY3259" fmla="*/ 725849 h 2787466"/>
              <a:gd name="connsiteX3260" fmla="*/ 2795809 w 3600000"/>
              <a:gd name="connsiteY3260" fmla="*/ 727807 h 2787466"/>
              <a:gd name="connsiteX3261" fmla="*/ 2786402 w 3600000"/>
              <a:gd name="connsiteY3261" fmla="*/ 732048 h 2787466"/>
              <a:gd name="connsiteX3262" fmla="*/ 2787684 w 3600000"/>
              <a:gd name="connsiteY3262" fmla="*/ 725849 h 2787466"/>
              <a:gd name="connsiteX3263" fmla="*/ 2711301 w 3600000"/>
              <a:gd name="connsiteY3263" fmla="*/ 722383 h 2787466"/>
              <a:gd name="connsiteX3264" fmla="*/ 2701894 w 3600000"/>
              <a:gd name="connsiteY3264" fmla="*/ 736093 h 2787466"/>
              <a:gd name="connsiteX3265" fmla="*/ 2711301 w 3600000"/>
              <a:gd name="connsiteY3265" fmla="*/ 722383 h 2787466"/>
              <a:gd name="connsiteX3266" fmla="*/ 3239399 w 3600000"/>
              <a:gd name="connsiteY3266" fmla="*/ 722172 h 2787466"/>
              <a:gd name="connsiteX3267" fmla="*/ 3235483 w 3600000"/>
              <a:gd name="connsiteY3267" fmla="*/ 741982 h 2787466"/>
              <a:gd name="connsiteX3268" fmla="*/ 3245992 w 3600000"/>
              <a:gd name="connsiteY3268" fmla="*/ 723116 h 2787466"/>
              <a:gd name="connsiteX3269" fmla="*/ 3239399 w 3600000"/>
              <a:gd name="connsiteY3269" fmla="*/ 722172 h 2787466"/>
              <a:gd name="connsiteX3270" fmla="*/ 3141724 w 3600000"/>
              <a:gd name="connsiteY3270" fmla="*/ 720128 h 2787466"/>
              <a:gd name="connsiteX3271" fmla="*/ 3133893 w 3600000"/>
              <a:gd name="connsiteY3271" fmla="*/ 735064 h 2787466"/>
              <a:gd name="connsiteX3272" fmla="*/ 3141724 w 3600000"/>
              <a:gd name="connsiteY3272" fmla="*/ 720128 h 2787466"/>
              <a:gd name="connsiteX3273" fmla="*/ 3556208 w 3600000"/>
              <a:gd name="connsiteY3273" fmla="*/ 718916 h 2787466"/>
              <a:gd name="connsiteX3274" fmla="*/ 3567881 w 3600000"/>
              <a:gd name="connsiteY3274" fmla="*/ 720821 h 2787466"/>
              <a:gd name="connsiteX3275" fmla="*/ 3561328 w 3600000"/>
              <a:gd name="connsiteY3275" fmla="*/ 731930 h 2787466"/>
              <a:gd name="connsiteX3276" fmla="*/ 3556208 w 3600000"/>
              <a:gd name="connsiteY3276" fmla="*/ 718916 h 2787466"/>
              <a:gd name="connsiteX3277" fmla="*/ 2800396 w 3600000"/>
              <a:gd name="connsiteY3277" fmla="*/ 717067 h 2787466"/>
              <a:gd name="connsiteX3278" fmla="*/ 2791233 w 3600000"/>
              <a:gd name="connsiteY3278" fmla="*/ 721997 h 2787466"/>
              <a:gd name="connsiteX3279" fmla="*/ 2800396 w 3600000"/>
              <a:gd name="connsiteY3279" fmla="*/ 717067 h 2787466"/>
              <a:gd name="connsiteX3280" fmla="*/ 3266239 w 3600000"/>
              <a:gd name="connsiteY3280" fmla="*/ 709742 h 2787466"/>
              <a:gd name="connsiteX3281" fmla="*/ 3260211 w 3600000"/>
              <a:gd name="connsiteY3281" fmla="*/ 716197 h 2787466"/>
              <a:gd name="connsiteX3282" fmla="*/ 3265569 w 3600000"/>
              <a:gd name="connsiteY3282" fmla="*/ 723116 h 2787466"/>
              <a:gd name="connsiteX3283" fmla="*/ 3278551 w 3600000"/>
              <a:gd name="connsiteY3283" fmla="*/ 718085 h 2787466"/>
              <a:gd name="connsiteX3284" fmla="*/ 3265569 w 3600000"/>
              <a:gd name="connsiteY3284" fmla="*/ 719185 h 2787466"/>
              <a:gd name="connsiteX3285" fmla="*/ 3269278 w 3600000"/>
              <a:gd name="connsiteY3285" fmla="*/ 710223 h 2787466"/>
              <a:gd name="connsiteX3286" fmla="*/ 3266239 w 3600000"/>
              <a:gd name="connsiteY3286" fmla="*/ 709742 h 2787466"/>
              <a:gd name="connsiteX3287" fmla="*/ 3128097 w 3600000"/>
              <a:gd name="connsiteY3287" fmla="*/ 705745 h 2787466"/>
              <a:gd name="connsiteX3288" fmla="*/ 3107702 w 3600000"/>
              <a:gd name="connsiteY3288" fmla="*/ 709663 h 2787466"/>
              <a:gd name="connsiteX3289" fmla="*/ 3128097 w 3600000"/>
              <a:gd name="connsiteY3289" fmla="*/ 705745 h 2787466"/>
              <a:gd name="connsiteX3290" fmla="*/ 2846225 w 3600000"/>
              <a:gd name="connsiteY3290" fmla="*/ 705192 h 2787466"/>
              <a:gd name="connsiteX3291" fmla="*/ 2835716 w 3600000"/>
              <a:gd name="connsiteY3291" fmla="*/ 714154 h 2787466"/>
              <a:gd name="connsiteX3292" fmla="*/ 2846225 w 3600000"/>
              <a:gd name="connsiteY3292" fmla="*/ 705192 h 2787466"/>
              <a:gd name="connsiteX3293" fmla="*/ 3541246 w 3600000"/>
              <a:gd name="connsiteY3293" fmla="*/ 705051 h 2787466"/>
              <a:gd name="connsiteX3294" fmla="*/ 3548919 w 3600000"/>
              <a:gd name="connsiteY3294" fmla="*/ 726126 h 2787466"/>
              <a:gd name="connsiteX3295" fmla="*/ 3531149 w 3600000"/>
              <a:gd name="connsiteY3295" fmla="*/ 713132 h 2787466"/>
              <a:gd name="connsiteX3296" fmla="*/ 3537409 w 3600000"/>
              <a:gd name="connsiteY3296" fmla="*/ 711072 h 2787466"/>
              <a:gd name="connsiteX3297" fmla="*/ 3541246 w 3600000"/>
              <a:gd name="connsiteY3297" fmla="*/ 705051 h 2787466"/>
              <a:gd name="connsiteX3298" fmla="*/ 3175393 w 3600000"/>
              <a:gd name="connsiteY3298" fmla="*/ 701760 h 2787466"/>
              <a:gd name="connsiteX3299" fmla="*/ 3170366 w 3600000"/>
              <a:gd name="connsiteY3299" fmla="*/ 703148 h 2787466"/>
              <a:gd name="connsiteX3300" fmla="*/ 3178197 w 3600000"/>
              <a:gd name="connsiteY3300" fmla="*/ 709122 h 2787466"/>
              <a:gd name="connsiteX3301" fmla="*/ 3171809 w 3600000"/>
              <a:gd name="connsiteY3301" fmla="*/ 708179 h 2787466"/>
              <a:gd name="connsiteX3302" fmla="*/ 3174281 w 3600000"/>
              <a:gd name="connsiteY3302" fmla="*/ 717141 h 2787466"/>
              <a:gd name="connsiteX3303" fmla="*/ 3180876 w 3600000"/>
              <a:gd name="connsiteY3303" fmla="*/ 719185 h 2787466"/>
              <a:gd name="connsiteX3304" fmla="*/ 3181855 w 3600000"/>
              <a:gd name="connsiteY3304" fmla="*/ 718674 h 2787466"/>
              <a:gd name="connsiteX3305" fmla="*/ 3183743 w 3600000"/>
              <a:gd name="connsiteY3305" fmla="*/ 717688 h 2787466"/>
              <a:gd name="connsiteX3306" fmla="*/ 3182148 w 3600000"/>
              <a:gd name="connsiteY3306" fmla="*/ 714339 h 2787466"/>
              <a:gd name="connsiteX3307" fmla="*/ 3182000 w 3600000"/>
              <a:gd name="connsiteY3307" fmla="*/ 713893 h 2787466"/>
              <a:gd name="connsiteX3308" fmla="*/ 3178197 w 3600000"/>
              <a:gd name="connsiteY3308" fmla="*/ 713210 h 2787466"/>
              <a:gd name="connsiteX3309" fmla="*/ 3180103 w 3600000"/>
              <a:gd name="connsiteY3309" fmla="*/ 711166 h 2787466"/>
              <a:gd name="connsiteX3310" fmla="*/ 3180995 w 3600000"/>
              <a:gd name="connsiteY3310" fmla="*/ 710859 h 2787466"/>
              <a:gd name="connsiteX3311" fmla="*/ 3178474 w 3600000"/>
              <a:gd name="connsiteY3311" fmla="*/ 703248 h 2787466"/>
              <a:gd name="connsiteX3312" fmla="*/ 3245992 w 3600000"/>
              <a:gd name="connsiteY3312" fmla="*/ 701261 h 2787466"/>
              <a:gd name="connsiteX3313" fmla="*/ 3242077 w 3600000"/>
              <a:gd name="connsiteY3313" fmla="*/ 710223 h 2787466"/>
              <a:gd name="connsiteX3314" fmla="*/ 3252380 w 3600000"/>
              <a:gd name="connsiteY3314" fmla="*/ 709122 h 2787466"/>
              <a:gd name="connsiteX3315" fmla="*/ 3245992 w 3600000"/>
              <a:gd name="connsiteY3315" fmla="*/ 701261 h 2787466"/>
              <a:gd name="connsiteX3316" fmla="*/ 3390652 w 3600000"/>
              <a:gd name="connsiteY3316" fmla="*/ 700891 h 2787466"/>
              <a:gd name="connsiteX3317" fmla="*/ 3390652 w 3600000"/>
              <a:gd name="connsiteY3317" fmla="*/ 717376 h 2787466"/>
              <a:gd name="connsiteX3318" fmla="*/ 3390652 w 3600000"/>
              <a:gd name="connsiteY3318" fmla="*/ 700891 h 2787466"/>
              <a:gd name="connsiteX3319" fmla="*/ 3262890 w 3600000"/>
              <a:gd name="connsiteY3319" fmla="*/ 698274 h 2787466"/>
              <a:gd name="connsiteX3320" fmla="*/ 3257738 w 3600000"/>
              <a:gd name="connsiteY3320" fmla="*/ 706135 h 2787466"/>
              <a:gd name="connsiteX3321" fmla="*/ 3266805 w 3600000"/>
              <a:gd name="connsiteY3321" fmla="*/ 704248 h 2787466"/>
              <a:gd name="connsiteX3322" fmla="*/ 3135786 w 3600000"/>
              <a:gd name="connsiteY3322" fmla="*/ 697425 h 2787466"/>
              <a:gd name="connsiteX3323" fmla="*/ 3138341 w 3600000"/>
              <a:gd name="connsiteY3323" fmla="*/ 703504 h 2787466"/>
              <a:gd name="connsiteX3324" fmla="*/ 3127693 w 3600000"/>
              <a:gd name="connsiteY3324" fmla="*/ 701585 h 2787466"/>
              <a:gd name="connsiteX3325" fmla="*/ 3135786 w 3600000"/>
              <a:gd name="connsiteY3325" fmla="*/ 697425 h 2787466"/>
              <a:gd name="connsiteX3326" fmla="*/ 3024472 w 3600000"/>
              <a:gd name="connsiteY3326" fmla="*/ 696230 h 2787466"/>
              <a:gd name="connsiteX3327" fmla="*/ 3018084 w 3600000"/>
              <a:gd name="connsiteY3327" fmla="*/ 706135 h 2787466"/>
              <a:gd name="connsiteX3328" fmla="*/ 3016848 w 3600000"/>
              <a:gd name="connsiteY3328" fmla="*/ 701261 h 2787466"/>
              <a:gd name="connsiteX3329" fmla="*/ 3010254 w 3600000"/>
              <a:gd name="connsiteY3329" fmla="*/ 719185 h 2787466"/>
              <a:gd name="connsiteX3330" fmla="*/ 2998508 w 3600000"/>
              <a:gd name="connsiteY3330" fmla="*/ 724059 h 2787466"/>
              <a:gd name="connsiteX3331" fmla="*/ 3011490 w 3600000"/>
              <a:gd name="connsiteY3331" fmla="*/ 744970 h 2787466"/>
              <a:gd name="connsiteX3332" fmla="*/ 3011490 w 3600000"/>
              <a:gd name="connsiteY3332" fmla="*/ 732077 h 2787466"/>
              <a:gd name="connsiteX3333" fmla="*/ 3025915 w 3600000"/>
              <a:gd name="connsiteY3333" fmla="*/ 715097 h 2787466"/>
              <a:gd name="connsiteX3334" fmla="*/ 3019320 w 3600000"/>
              <a:gd name="connsiteY3334" fmla="*/ 704248 h 2787466"/>
              <a:gd name="connsiteX3335" fmla="*/ 3024472 w 3600000"/>
              <a:gd name="connsiteY3335" fmla="*/ 696230 h 2787466"/>
              <a:gd name="connsiteX3336" fmla="*/ 2814902 w 3600000"/>
              <a:gd name="connsiteY3336" fmla="*/ 693090 h 2787466"/>
              <a:gd name="connsiteX3337" fmla="*/ 2803292 w 3600000"/>
              <a:gd name="connsiteY3337" fmla="*/ 701184 h 2787466"/>
              <a:gd name="connsiteX3338" fmla="*/ 2814902 w 3600000"/>
              <a:gd name="connsiteY3338" fmla="*/ 693090 h 2787466"/>
              <a:gd name="connsiteX3339" fmla="*/ 3047963 w 3600000"/>
              <a:gd name="connsiteY3339" fmla="*/ 692300 h 2787466"/>
              <a:gd name="connsiteX3340" fmla="*/ 3047963 w 3600000"/>
              <a:gd name="connsiteY3340" fmla="*/ 698274 h 2787466"/>
              <a:gd name="connsiteX3341" fmla="*/ 3055794 w 3600000"/>
              <a:gd name="connsiteY3341" fmla="*/ 695287 h 2787466"/>
              <a:gd name="connsiteX3342" fmla="*/ 3047963 w 3600000"/>
              <a:gd name="connsiteY3342" fmla="*/ 692300 h 2787466"/>
              <a:gd name="connsiteX3343" fmla="*/ 2627815 w 3600000"/>
              <a:gd name="connsiteY3343" fmla="*/ 691218 h 2787466"/>
              <a:gd name="connsiteX3344" fmla="*/ 2618930 w 3600000"/>
              <a:gd name="connsiteY3344" fmla="*/ 699342 h 2787466"/>
              <a:gd name="connsiteX3345" fmla="*/ 2627815 w 3600000"/>
              <a:gd name="connsiteY3345" fmla="*/ 691218 h 2787466"/>
              <a:gd name="connsiteX3346" fmla="*/ 2779299 w 3600000"/>
              <a:gd name="connsiteY3346" fmla="*/ 691186 h 2787466"/>
              <a:gd name="connsiteX3347" fmla="*/ 2788548 w 3600000"/>
              <a:gd name="connsiteY3347" fmla="*/ 696043 h 2787466"/>
              <a:gd name="connsiteX3348" fmla="*/ 2783204 w 3600000"/>
              <a:gd name="connsiteY3348" fmla="*/ 713907 h 2787466"/>
              <a:gd name="connsiteX3349" fmla="*/ 2774160 w 3600000"/>
              <a:gd name="connsiteY3349" fmla="*/ 709989 h 2787466"/>
              <a:gd name="connsiteX3350" fmla="*/ 2776832 w 3600000"/>
              <a:gd name="connsiteY3350" fmla="*/ 696983 h 2787466"/>
              <a:gd name="connsiteX3351" fmla="*/ 2784643 w 3600000"/>
              <a:gd name="connsiteY3351" fmla="*/ 695103 h 2787466"/>
              <a:gd name="connsiteX3352" fmla="*/ 2779299 w 3600000"/>
              <a:gd name="connsiteY3352" fmla="*/ 691186 h 2787466"/>
              <a:gd name="connsiteX3353" fmla="*/ 3204621 w 3600000"/>
              <a:gd name="connsiteY3353" fmla="*/ 689849 h 2787466"/>
              <a:gd name="connsiteX3354" fmla="*/ 3206443 w 3600000"/>
              <a:gd name="connsiteY3354" fmla="*/ 695209 h 2787466"/>
              <a:gd name="connsiteX3355" fmla="*/ 3207197 w 3600000"/>
              <a:gd name="connsiteY3355" fmla="*/ 692113 h 2787466"/>
              <a:gd name="connsiteX3356" fmla="*/ 3019320 w 3600000"/>
              <a:gd name="connsiteY3356" fmla="*/ 688369 h 2787466"/>
              <a:gd name="connsiteX3357" fmla="*/ 3032302 w 3600000"/>
              <a:gd name="connsiteY3357" fmla="*/ 698274 h 2787466"/>
              <a:gd name="connsiteX3358" fmla="*/ 3031066 w 3600000"/>
              <a:gd name="connsiteY3358" fmla="*/ 692300 h 2787466"/>
              <a:gd name="connsiteX3359" fmla="*/ 3019320 w 3600000"/>
              <a:gd name="connsiteY3359" fmla="*/ 688369 h 2787466"/>
              <a:gd name="connsiteX3360" fmla="*/ 2626342 w 3600000"/>
              <a:gd name="connsiteY3360" fmla="*/ 682619 h 2787466"/>
              <a:gd name="connsiteX3361" fmla="*/ 2629536 w 3600000"/>
              <a:gd name="connsiteY3361" fmla="*/ 684156 h 2787466"/>
              <a:gd name="connsiteX3362" fmla="*/ 2625783 w 3600000"/>
              <a:gd name="connsiteY3362" fmla="*/ 686268 h 2787466"/>
              <a:gd name="connsiteX3363" fmla="*/ 2625783 w 3600000"/>
              <a:gd name="connsiteY3363" fmla="*/ 690330 h 2787466"/>
              <a:gd name="connsiteX3364" fmla="*/ 2620647 w 3600000"/>
              <a:gd name="connsiteY3364" fmla="*/ 685292 h 2787466"/>
              <a:gd name="connsiteX3365" fmla="*/ 2626342 w 3600000"/>
              <a:gd name="connsiteY3365" fmla="*/ 682619 h 2787466"/>
              <a:gd name="connsiteX3366" fmla="*/ 619812 w 3600000"/>
              <a:gd name="connsiteY3366" fmla="*/ 681458 h 2787466"/>
              <a:gd name="connsiteX3367" fmla="*/ 606622 w 3600000"/>
              <a:gd name="connsiteY3367" fmla="*/ 683501 h 2787466"/>
              <a:gd name="connsiteX3368" fmla="*/ 575504 w 3600000"/>
              <a:gd name="connsiteY3368" fmla="*/ 700320 h 2787466"/>
              <a:gd name="connsiteX3369" fmla="*/ 576740 w 3600000"/>
              <a:gd name="connsiteY3369" fmla="*/ 712267 h 2787466"/>
              <a:gd name="connsiteX3370" fmla="*/ 598998 w 3600000"/>
              <a:gd name="connsiteY3370" fmla="*/ 698434 h 2787466"/>
              <a:gd name="connsiteX3371" fmla="*/ 619812 w 3600000"/>
              <a:gd name="connsiteY3371" fmla="*/ 681458 h 2787466"/>
              <a:gd name="connsiteX3372" fmla="*/ 2851377 w 3600000"/>
              <a:gd name="connsiteY3372" fmla="*/ 681294 h 2787466"/>
              <a:gd name="connsiteX3373" fmla="*/ 2847462 w 3600000"/>
              <a:gd name="connsiteY3373" fmla="*/ 689312 h 2787466"/>
              <a:gd name="connsiteX3374" fmla="*/ 2851377 w 3600000"/>
              <a:gd name="connsiteY3374" fmla="*/ 681294 h 2787466"/>
              <a:gd name="connsiteX3375" fmla="*/ 3059709 w 3600000"/>
              <a:gd name="connsiteY3375" fmla="*/ 679408 h 2787466"/>
              <a:gd name="connsiteX3376" fmla="*/ 3063624 w 3600000"/>
              <a:gd name="connsiteY3376" fmla="*/ 686325 h 2787466"/>
              <a:gd name="connsiteX3377" fmla="*/ 3059709 w 3600000"/>
              <a:gd name="connsiteY3377" fmla="*/ 679408 h 2787466"/>
              <a:gd name="connsiteX3378" fmla="*/ 2816089 w 3600000"/>
              <a:gd name="connsiteY3378" fmla="*/ 679400 h 2787466"/>
              <a:gd name="connsiteX3379" fmla="*/ 2826710 w 3600000"/>
              <a:gd name="connsiteY3379" fmla="*/ 683362 h 2787466"/>
              <a:gd name="connsiteX3380" fmla="*/ 2820046 w 3600000"/>
              <a:gd name="connsiteY3380" fmla="*/ 687324 h 2787466"/>
              <a:gd name="connsiteX3381" fmla="*/ 2817547 w 3600000"/>
              <a:gd name="connsiteY3381" fmla="*/ 682411 h 2787466"/>
              <a:gd name="connsiteX3382" fmla="*/ 2806927 w 3600000"/>
              <a:gd name="connsiteY3382" fmla="*/ 685422 h 2787466"/>
              <a:gd name="connsiteX3383" fmla="*/ 2816089 w 3600000"/>
              <a:gd name="connsiteY3383" fmla="*/ 679400 h 2787466"/>
              <a:gd name="connsiteX3384" fmla="*/ 2737279 w 3600000"/>
              <a:gd name="connsiteY3384" fmla="*/ 679400 h 2787466"/>
              <a:gd name="connsiteX3385" fmla="*/ 2731934 w 3600000"/>
              <a:gd name="connsiteY3385" fmla="*/ 687556 h 2787466"/>
              <a:gd name="connsiteX3386" fmla="*/ 2737279 w 3600000"/>
              <a:gd name="connsiteY3386" fmla="*/ 679400 h 2787466"/>
              <a:gd name="connsiteX3387" fmla="*/ 2959355 w 3600000"/>
              <a:gd name="connsiteY3387" fmla="*/ 678464 h 2787466"/>
              <a:gd name="connsiteX3388" fmla="*/ 2955440 w 3600000"/>
              <a:gd name="connsiteY3388" fmla="*/ 687269 h 2787466"/>
              <a:gd name="connsiteX3389" fmla="*/ 2959355 w 3600000"/>
              <a:gd name="connsiteY3389" fmla="*/ 678464 h 2787466"/>
              <a:gd name="connsiteX3390" fmla="*/ 3271316 w 3600000"/>
              <a:gd name="connsiteY3390" fmla="*/ 677960 h 2787466"/>
              <a:gd name="connsiteX3391" fmla="*/ 3268041 w 3600000"/>
              <a:gd name="connsiteY3391" fmla="*/ 687269 h 2787466"/>
              <a:gd name="connsiteX3392" fmla="*/ 3275872 w 3600000"/>
              <a:gd name="connsiteY3392" fmla="*/ 679408 h 2787466"/>
              <a:gd name="connsiteX3393" fmla="*/ 3271316 w 3600000"/>
              <a:gd name="connsiteY3393" fmla="*/ 677960 h 2787466"/>
              <a:gd name="connsiteX3394" fmla="*/ 3408860 w 3600000"/>
              <a:gd name="connsiteY3394" fmla="*/ 675906 h 2787466"/>
              <a:gd name="connsiteX3395" fmla="*/ 3410999 w 3600000"/>
              <a:gd name="connsiteY3395" fmla="*/ 676537 h 2787466"/>
              <a:gd name="connsiteX3396" fmla="*/ 3404686 w 3600000"/>
              <a:gd name="connsiteY3396" fmla="*/ 686179 h 2787466"/>
              <a:gd name="connsiteX3397" fmla="*/ 3402037 w 3600000"/>
              <a:gd name="connsiteY3397" fmla="*/ 679446 h 2787466"/>
              <a:gd name="connsiteX3398" fmla="*/ 3408555 w 3600000"/>
              <a:gd name="connsiteY3398" fmla="*/ 677455 h 2787466"/>
              <a:gd name="connsiteX3399" fmla="*/ 3408860 w 3600000"/>
              <a:gd name="connsiteY3399" fmla="*/ 675906 h 2787466"/>
              <a:gd name="connsiteX3400" fmla="*/ 3256296 w 3600000"/>
              <a:gd name="connsiteY3400" fmla="*/ 675477 h 2787466"/>
              <a:gd name="connsiteX3401" fmla="*/ 3247229 w 3600000"/>
              <a:gd name="connsiteY3401" fmla="*/ 686325 h 2787466"/>
              <a:gd name="connsiteX3402" fmla="*/ 3256296 w 3600000"/>
              <a:gd name="connsiteY3402" fmla="*/ 675477 h 2787466"/>
              <a:gd name="connsiteX3403" fmla="*/ 2634764 w 3600000"/>
              <a:gd name="connsiteY3403" fmla="*/ 670388 h 2787466"/>
              <a:gd name="connsiteX3404" fmla="*/ 2630858 w 3600000"/>
              <a:gd name="connsiteY3404" fmla="*/ 682020 h 2787466"/>
              <a:gd name="connsiteX3405" fmla="*/ 2626954 w 3600000"/>
              <a:gd name="connsiteY3405" fmla="*/ 675286 h 2787466"/>
              <a:gd name="connsiteX3406" fmla="*/ 2634764 w 3600000"/>
              <a:gd name="connsiteY3406" fmla="*/ 670388 h 2787466"/>
              <a:gd name="connsiteX3407" fmla="*/ 632796 w 3600000"/>
              <a:gd name="connsiteY3407" fmla="*/ 669669 h 2787466"/>
              <a:gd name="connsiteX3408" fmla="*/ 622285 w 3600000"/>
              <a:gd name="connsiteY3408" fmla="*/ 680514 h 2787466"/>
              <a:gd name="connsiteX3409" fmla="*/ 632796 w 3600000"/>
              <a:gd name="connsiteY3409" fmla="*/ 669669 h 2787466"/>
              <a:gd name="connsiteX3410" fmla="*/ 3218585 w 3600000"/>
              <a:gd name="connsiteY3410" fmla="*/ 665414 h 2787466"/>
              <a:gd name="connsiteX3411" fmla="*/ 3208076 w 3600000"/>
              <a:gd name="connsiteY3411" fmla="*/ 675477 h 2787466"/>
              <a:gd name="connsiteX3412" fmla="*/ 3213434 w 3600000"/>
              <a:gd name="connsiteY3412" fmla="*/ 681294 h 2787466"/>
              <a:gd name="connsiteX3413" fmla="*/ 3221265 w 3600000"/>
              <a:gd name="connsiteY3413" fmla="*/ 681294 h 2787466"/>
              <a:gd name="connsiteX3414" fmla="*/ 3218585 w 3600000"/>
              <a:gd name="connsiteY3414" fmla="*/ 665414 h 2787466"/>
              <a:gd name="connsiteX3415" fmla="*/ 2751171 w 3600000"/>
              <a:gd name="connsiteY3415" fmla="*/ 665323 h 2787466"/>
              <a:gd name="connsiteX3416" fmla="*/ 2751154 w 3600000"/>
              <a:gd name="connsiteY3416" fmla="*/ 665383 h 2787466"/>
              <a:gd name="connsiteX3417" fmla="*/ 2751103 w 3600000"/>
              <a:gd name="connsiteY3417" fmla="*/ 665382 h 2787466"/>
              <a:gd name="connsiteX3418" fmla="*/ 617133 w 3600000"/>
              <a:gd name="connsiteY3418" fmla="*/ 664638 h 2787466"/>
              <a:gd name="connsiteX3419" fmla="*/ 608065 w 3600000"/>
              <a:gd name="connsiteY3419" fmla="*/ 670612 h 2787466"/>
              <a:gd name="connsiteX3420" fmla="*/ 617133 w 3600000"/>
              <a:gd name="connsiteY3420" fmla="*/ 664638 h 2787466"/>
              <a:gd name="connsiteX3421" fmla="*/ 3147016 w 3600000"/>
              <a:gd name="connsiteY3421" fmla="*/ 663455 h 2787466"/>
              <a:gd name="connsiteX3422" fmla="*/ 3151063 w 3600000"/>
              <a:gd name="connsiteY3422" fmla="*/ 679939 h 2787466"/>
              <a:gd name="connsiteX3423" fmla="*/ 3140414 w 3600000"/>
              <a:gd name="connsiteY3423" fmla="*/ 674084 h 2787466"/>
              <a:gd name="connsiteX3424" fmla="*/ 3147016 w 3600000"/>
              <a:gd name="connsiteY3424" fmla="*/ 663455 h 2787466"/>
              <a:gd name="connsiteX3425" fmla="*/ 3268041 w 3600000"/>
              <a:gd name="connsiteY3425" fmla="*/ 660540 h 2787466"/>
              <a:gd name="connsiteX3426" fmla="*/ 3261653 w 3600000"/>
              <a:gd name="connsiteY3426" fmla="*/ 662427 h 2787466"/>
              <a:gd name="connsiteX3427" fmla="*/ 3261653 w 3600000"/>
              <a:gd name="connsiteY3427" fmla="*/ 678464 h 2787466"/>
              <a:gd name="connsiteX3428" fmla="*/ 3268041 w 3600000"/>
              <a:gd name="connsiteY3428" fmla="*/ 660540 h 2787466"/>
              <a:gd name="connsiteX3429" fmla="*/ 2752466 w 3600000"/>
              <a:gd name="connsiteY3429" fmla="*/ 660540 h 2787466"/>
              <a:gd name="connsiteX3430" fmla="*/ 2752543 w 3600000"/>
              <a:gd name="connsiteY3430" fmla="*/ 664097 h 2787466"/>
              <a:gd name="connsiteX3431" fmla="*/ 2751171 w 3600000"/>
              <a:gd name="connsiteY3431" fmla="*/ 665323 h 2787466"/>
              <a:gd name="connsiteX3432" fmla="*/ 2669751 w 3600000"/>
              <a:gd name="connsiteY3432" fmla="*/ 655136 h 2787466"/>
              <a:gd name="connsiteX3433" fmla="*/ 2663532 w 3600000"/>
              <a:gd name="connsiteY3433" fmla="*/ 670228 h 2787466"/>
              <a:gd name="connsiteX3434" fmla="*/ 2669751 w 3600000"/>
              <a:gd name="connsiteY3434" fmla="*/ 655136 h 2787466"/>
              <a:gd name="connsiteX3435" fmla="*/ 744700 w 3600000"/>
              <a:gd name="connsiteY3435" fmla="*/ 654736 h 2787466"/>
              <a:gd name="connsiteX3436" fmla="*/ 730480 w 3600000"/>
              <a:gd name="connsiteY3436" fmla="*/ 664638 h 2787466"/>
              <a:gd name="connsiteX3437" fmla="*/ 744700 w 3600000"/>
              <a:gd name="connsiteY3437" fmla="*/ 654736 h 2787466"/>
              <a:gd name="connsiteX3438" fmla="*/ 3301836 w 3600000"/>
              <a:gd name="connsiteY3438" fmla="*/ 653465 h 2787466"/>
              <a:gd name="connsiteX3439" fmla="*/ 3286382 w 3600000"/>
              <a:gd name="connsiteY3439" fmla="*/ 681294 h 2787466"/>
              <a:gd name="connsiteX3440" fmla="*/ 3275872 w 3600000"/>
              <a:gd name="connsiteY3440" fmla="*/ 687269 h 2787466"/>
              <a:gd name="connsiteX3441" fmla="*/ 3284939 w 3600000"/>
              <a:gd name="connsiteY3441" fmla="*/ 686325 h 2787466"/>
              <a:gd name="connsiteX3442" fmla="*/ 3275872 w 3600000"/>
              <a:gd name="connsiteY3442" fmla="*/ 711166 h 2787466"/>
              <a:gd name="connsiteX3443" fmla="*/ 3295449 w 3600000"/>
              <a:gd name="connsiteY3443" fmla="*/ 694344 h 2787466"/>
              <a:gd name="connsiteX3444" fmla="*/ 3292770 w 3600000"/>
              <a:gd name="connsiteY3444" fmla="*/ 676420 h 2787466"/>
              <a:gd name="connsiteX3445" fmla="*/ 3305752 w 3600000"/>
              <a:gd name="connsiteY3445" fmla="*/ 678464 h 2787466"/>
              <a:gd name="connsiteX3446" fmla="*/ 3309667 w 3600000"/>
              <a:gd name="connsiteY3446" fmla="*/ 668402 h 2787466"/>
              <a:gd name="connsiteX3447" fmla="*/ 3299363 w 3600000"/>
              <a:gd name="connsiteY3447" fmla="*/ 663528 h 2787466"/>
              <a:gd name="connsiteX3448" fmla="*/ 3301836 w 3600000"/>
              <a:gd name="connsiteY3448" fmla="*/ 653465 h 2787466"/>
              <a:gd name="connsiteX3449" fmla="*/ 2835446 w 3600000"/>
              <a:gd name="connsiteY3449" fmla="*/ 653056 h 2787466"/>
              <a:gd name="connsiteX3450" fmla="*/ 2842157 w 3600000"/>
              <a:gd name="connsiteY3450" fmla="*/ 656008 h 2787466"/>
              <a:gd name="connsiteX3451" fmla="*/ 2831461 w 3600000"/>
              <a:gd name="connsiteY3451" fmla="*/ 658961 h 2787466"/>
              <a:gd name="connsiteX3452" fmla="*/ 2838172 w 3600000"/>
              <a:gd name="connsiteY3452" fmla="*/ 658029 h 2787466"/>
              <a:gd name="connsiteX3453" fmla="*/ 2835446 w 3600000"/>
              <a:gd name="connsiteY3453" fmla="*/ 653056 h 2787466"/>
              <a:gd name="connsiteX3454" fmla="*/ 3100821 w 3600000"/>
              <a:gd name="connsiteY3454" fmla="*/ 646124 h 2787466"/>
              <a:gd name="connsiteX3455" fmla="*/ 3098370 w 3600000"/>
              <a:gd name="connsiteY3455" fmla="*/ 656360 h 2787466"/>
              <a:gd name="connsiteX3456" fmla="*/ 3100821 w 3600000"/>
              <a:gd name="connsiteY3456" fmla="*/ 646124 h 2787466"/>
              <a:gd name="connsiteX3457" fmla="*/ 3204556 w 3600000"/>
              <a:gd name="connsiteY3457" fmla="*/ 643972 h 2787466"/>
              <a:gd name="connsiteX3458" fmla="*/ 3202844 w 3600000"/>
              <a:gd name="connsiteY3458" fmla="*/ 649159 h 2787466"/>
              <a:gd name="connsiteX3459" fmla="*/ 3205500 w 3600000"/>
              <a:gd name="connsiteY3459" fmla="*/ 650969 h 2787466"/>
              <a:gd name="connsiteX3460" fmla="*/ 3211992 w 3600000"/>
              <a:gd name="connsiteY3460" fmla="*/ 654566 h 2787466"/>
              <a:gd name="connsiteX3461" fmla="*/ 3217349 w 3600000"/>
              <a:gd name="connsiteY3461" fmla="*/ 648592 h 2787466"/>
              <a:gd name="connsiteX3462" fmla="*/ 3208076 w 3600000"/>
              <a:gd name="connsiteY3462" fmla="*/ 647648 h 2787466"/>
              <a:gd name="connsiteX3463" fmla="*/ 2683030 w 3600000"/>
              <a:gd name="connsiteY3463" fmla="*/ 641270 h 2787466"/>
              <a:gd name="connsiteX3464" fmla="*/ 2679277 w 3600000"/>
              <a:gd name="connsiteY3464" fmla="*/ 652204 h 2787466"/>
              <a:gd name="connsiteX3465" fmla="*/ 2683030 w 3600000"/>
              <a:gd name="connsiteY3465" fmla="*/ 641270 h 2787466"/>
              <a:gd name="connsiteX3466" fmla="*/ 3275872 w 3600000"/>
              <a:gd name="connsiteY3466" fmla="*/ 639629 h 2787466"/>
              <a:gd name="connsiteX3467" fmla="*/ 3271958 w 3600000"/>
              <a:gd name="connsiteY3467" fmla="*/ 642617 h 2787466"/>
              <a:gd name="connsiteX3468" fmla="*/ 3272435 w 3600000"/>
              <a:gd name="connsiteY3468" fmla="*/ 642684 h 2787466"/>
              <a:gd name="connsiteX3469" fmla="*/ 3268068 w 3600000"/>
              <a:gd name="connsiteY3469" fmla="*/ 646567 h 2787466"/>
              <a:gd name="connsiteX3470" fmla="*/ 3264127 w 3600000"/>
              <a:gd name="connsiteY3470" fmla="*/ 656453 h 2787466"/>
              <a:gd name="connsiteX3471" fmla="*/ 3281024 w 3600000"/>
              <a:gd name="connsiteY3471" fmla="*/ 651578 h 2787466"/>
              <a:gd name="connsiteX3472" fmla="*/ 3286382 w 3600000"/>
              <a:gd name="connsiteY3472" fmla="*/ 644661 h 2787466"/>
              <a:gd name="connsiteX3473" fmla="*/ 3272435 w 3600000"/>
              <a:gd name="connsiteY3473" fmla="*/ 642684 h 2787466"/>
              <a:gd name="connsiteX3474" fmla="*/ 3208506 w 3600000"/>
              <a:gd name="connsiteY3474" fmla="*/ 635736 h 2787466"/>
              <a:gd name="connsiteX3475" fmla="*/ 3207759 w 3600000"/>
              <a:gd name="connsiteY3475" fmla="*/ 637003 h 2787466"/>
              <a:gd name="connsiteX3476" fmla="*/ 3208681 w 3600000"/>
              <a:gd name="connsiteY3476" fmla="*/ 636281 h 2787466"/>
              <a:gd name="connsiteX3477" fmla="*/ 2838347 w 3600000"/>
              <a:gd name="connsiteY3477" fmla="*/ 635316 h 2787466"/>
              <a:gd name="connsiteX3478" fmla="*/ 2851248 w 3600000"/>
              <a:gd name="connsiteY3478" fmla="*/ 636295 h 2787466"/>
              <a:gd name="connsiteX3479" fmla="*/ 2844695 w 3600000"/>
              <a:gd name="connsiteY3479" fmla="*/ 642494 h 2787466"/>
              <a:gd name="connsiteX3480" fmla="*/ 2838347 w 3600000"/>
              <a:gd name="connsiteY3480" fmla="*/ 635316 h 2787466"/>
              <a:gd name="connsiteX3481" fmla="*/ 2813366 w 3600000"/>
              <a:gd name="connsiteY3481" fmla="*/ 633515 h 2787466"/>
              <a:gd name="connsiteX3482" fmla="*/ 2808070 w 3600000"/>
              <a:gd name="connsiteY3482" fmla="*/ 639689 h 2787466"/>
              <a:gd name="connsiteX3483" fmla="*/ 2813366 w 3600000"/>
              <a:gd name="connsiteY3483" fmla="*/ 633515 h 2787466"/>
              <a:gd name="connsiteX3484" fmla="*/ 3268763 w 3600000"/>
              <a:gd name="connsiteY3484" fmla="*/ 632063 h 2787466"/>
              <a:gd name="connsiteX3485" fmla="*/ 3265569 w 3600000"/>
              <a:gd name="connsiteY3485" fmla="*/ 633655 h 2787466"/>
              <a:gd name="connsiteX3486" fmla="*/ 3269278 w 3600000"/>
              <a:gd name="connsiteY3486" fmla="*/ 639629 h 2787466"/>
              <a:gd name="connsiteX3487" fmla="*/ 3271958 w 3600000"/>
              <a:gd name="connsiteY3487" fmla="*/ 632712 h 2787466"/>
              <a:gd name="connsiteX3488" fmla="*/ 3268763 w 3600000"/>
              <a:gd name="connsiteY3488" fmla="*/ 632063 h 2787466"/>
              <a:gd name="connsiteX3489" fmla="*/ 3564630 w 3600000"/>
              <a:gd name="connsiteY3489" fmla="*/ 630438 h 2787466"/>
              <a:gd name="connsiteX3490" fmla="*/ 3560739 w 3600000"/>
              <a:gd name="connsiteY3490" fmla="*/ 637429 h 2787466"/>
              <a:gd name="connsiteX3491" fmla="*/ 3567292 w 3600000"/>
              <a:gd name="connsiteY3491" fmla="*/ 640447 h 2787466"/>
              <a:gd name="connsiteX3492" fmla="*/ 3564630 w 3600000"/>
              <a:gd name="connsiteY3492" fmla="*/ 630438 h 2787466"/>
              <a:gd name="connsiteX3493" fmla="*/ 3481953 w 3600000"/>
              <a:gd name="connsiteY3493" fmla="*/ 626712 h 2787466"/>
              <a:gd name="connsiteX3494" fmla="*/ 3488767 w 3600000"/>
              <a:gd name="connsiteY3494" fmla="*/ 638552 h 2787466"/>
              <a:gd name="connsiteX3495" fmla="*/ 3481953 w 3600000"/>
              <a:gd name="connsiteY3495" fmla="*/ 626712 h 2787466"/>
              <a:gd name="connsiteX3496" fmla="*/ 2124670 w 3600000"/>
              <a:gd name="connsiteY3496" fmla="*/ 624139 h 2787466"/>
              <a:gd name="connsiteX3497" fmla="*/ 2118468 w 3600000"/>
              <a:gd name="connsiteY3497" fmla="*/ 631943 h 2787466"/>
              <a:gd name="connsiteX3498" fmla="*/ 2127535 w 3600000"/>
              <a:gd name="connsiteY3498" fmla="*/ 624869 h 2787466"/>
              <a:gd name="connsiteX3499" fmla="*/ 2124670 w 3600000"/>
              <a:gd name="connsiteY3499" fmla="*/ 624139 h 2787466"/>
              <a:gd name="connsiteX3500" fmla="*/ 1000040 w 3600000"/>
              <a:gd name="connsiteY3500" fmla="*/ 614966 h 2787466"/>
              <a:gd name="connsiteX3501" fmla="*/ 983142 w 3600000"/>
              <a:gd name="connsiteY3501" fmla="*/ 619996 h 2787466"/>
              <a:gd name="connsiteX3502" fmla="*/ 989530 w 3600000"/>
              <a:gd name="connsiteY3502" fmla="*/ 621882 h 2787466"/>
              <a:gd name="connsiteX3503" fmla="*/ 1003956 w 3600000"/>
              <a:gd name="connsiteY3503" fmla="*/ 617010 h 2787466"/>
              <a:gd name="connsiteX3504" fmla="*/ 1000040 w 3600000"/>
              <a:gd name="connsiteY3504" fmla="*/ 614966 h 2787466"/>
              <a:gd name="connsiteX3505" fmla="*/ 1070316 w 3600000"/>
              <a:gd name="connsiteY3505" fmla="*/ 611980 h 2787466"/>
              <a:gd name="connsiteX3506" fmla="*/ 1060012 w 3600000"/>
              <a:gd name="connsiteY3506" fmla="*/ 617010 h 2787466"/>
              <a:gd name="connsiteX3507" fmla="*/ 1067843 w 3600000"/>
              <a:gd name="connsiteY3507" fmla="*/ 621882 h 2787466"/>
              <a:gd name="connsiteX3508" fmla="*/ 1070316 w 3600000"/>
              <a:gd name="connsiteY3508" fmla="*/ 611980 h 2787466"/>
              <a:gd name="connsiteX3509" fmla="*/ 3079229 w 3600000"/>
              <a:gd name="connsiteY3509" fmla="*/ 611460 h 2787466"/>
              <a:gd name="connsiteX3510" fmla="*/ 3081653 w 3600000"/>
              <a:gd name="connsiteY3510" fmla="*/ 627249 h 2787466"/>
              <a:gd name="connsiteX3511" fmla="*/ 3075393 w 3600000"/>
              <a:gd name="connsiteY3511" fmla="*/ 626310 h 2787466"/>
              <a:gd name="connsiteX3512" fmla="*/ 3079229 w 3600000"/>
              <a:gd name="connsiteY3512" fmla="*/ 611460 h 2787466"/>
              <a:gd name="connsiteX3513" fmla="*/ 3247448 w 3600000"/>
              <a:gd name="connsiteY3513" fmla="*/ 610767 h 2787466"/>
              <a:gd name="connsiteX3514" fmla="*/ 3238277 w 3600000"/>
              <a:gd name="connsiteY3514" fmla="*/ 635381 h 2787466"/>
              <a:gd name="connsiteX3515" fmla="*/ 3247448 w 3600000"/>
              <a:gd name="connsiteY3515" fmla="*/ 610767 h 2787466"/>
              <a:gd name="connsiteX3516" fmla="*/ 2012333 w 3600000"/>
              <a:gd name="connsiteY3516" fmla="*/ 609779 h 2787466"/>
              <a:gd name="connsiteX3517" fmla="*/ 2009037 w 3600000"/>
              <a:gd name="connsiteY3517" fmla="*/ 609936 h 2787466"/>
              <a:gd name="connsiteX3518" fmla="*/ 2015631 w 3600000"/>
              <a:gd name="connsiteY3518" fmla="*/ 611036 h 2787466"/>
              <a:gd name="connsiteX3519" fmla="*/ 2012333 w 3600000"/>
              <a:gd name="connsiteY3519" fmla="*/ 609779 h 2787466"/>
              <a:gd name="connsiteX3520" fmla="*/ 1093810 w 3600000"/>
              <a:gd name="connsiteY3520" fmla="*/ 607107 h 2787466"/>
              <a:gd name="connsiteX3521" fmla="*/ 1085978 w 3600000"/>
              <a:gd name="connsiteY3521" fmla="*/ 615909 h 2787466"/>
              <a:gd name="connsiteX3522" fmla="*/ 1092367 w 3600000"/>
              <a:gd name="connsiteY3522" fmla="*/ 617953 h 2787466"/>
              <a:gd name="connsiteX3523" fmla="*/ 1104320 w 3600000"/>
              <a:gd name="connsiteY3523" fmla="*/ 612922 h 2787466"/>
              <a:gd name="connsiteX3524" fmla="*/ 1093810 w 3600000"/>
              <a:gd name="connsiteY3524" fmla="*/ 608993 h 2787466"/>
              <a:gd name="connsiteX3525" fmla="*/ 1093810 w 3600000"/>
              <a:gd name="connsiteY3525" fmla="*/ 607107 h 2787466"/>
              <a:gd name="connsiteX3526" fmla="*/ 1119776 w 3600000"/>
              <a:gd name="connsiteY3526" fmla="*/ 606006 h 2787466"/>
              <a:gd name="connsiteX3527" fmla="*/ 1106793 w 3600000"/>
              <a:gd name="connsiteY3527" fmla="*/ 612922 h 2787466"/>
              <a:gd name="connsiteX3528" fmla="*/ 1119776 w 3600000"/>
              <a:gd name="connsiteY3528" fmla="*/ 606006 h 2787466"/>
              <a:gd name="connsiteX3529" fmla="*/ 3481179 w 3600000"/>
              <a:gd name="connsiteY3529" fmla="*/ 604527 h 2787466"/>
              <a:gd name="connsiteX3530" fmla="*/ 3487754 w 3600000"/>
              <a:gd name="connsiteY3530" fmla="*/ 620316 h 2787466"/>
              <a:gd name="connsiteX3531" fmla="*/ 3478713 w 3600000"/>
              <a:gd name="connsiteY3531" fmla="*/ 620316 h 2787466"/>
              <a:gd name="connsiteX3532" fmla="*/ 3481179 w 3600000"/>
              <a:gd name="connsiteY3532" fmla="*/ 604527 h 2787466"/>
              <a:gd name="connsiteX3533" fmla="*/ 2678647 w 3600000"/>
              <a:gd name="connsiteY3533" fmla="*/ 604527 h 2787466"/>
              <a:gd name="connsiteX3534" fmla="*/ 2657669 w 3600000"/>
              <a:gd name="connsiteY3534" fmla="*/ 616160 h 2787466"/>
              <a:gd name="connsiteX3535" fmla="*/ 2678647 w 3600000"/>
              <a:gd name="connsiteY3535" fmla="*/ 604527 h 2787466"/>
              <a:gd name="connsiteX3536" fmla="*/ 2193969 w 3600000"/>
              <a:gd name="connsiteY3536" fmla="*/ 602448 h 2787466"/>
              <a:gd name="connsiteX3537" fmla="*/ 2186296 w 3600000"/>
              <a:gd name="connsiteY3537" fmla="*/ 608527 h 2787466"/>
              <a:gd name="connsiteX3538" fmla="*/ 2193969 w 3600000"/>
              <a:gd name="connsiteY3538" fmla="*/ 602448 h 2787466"/>
              <a:gd name="connsiteX3539" fmla="*/ 2775752 w 3600000"/>
              <a:gd name="connsiteY3539" fmla="*/ 601896 h 2787466"/>
              <a:gd name="connsiteX3540" fmla="*/ 2777194 w 3600000"/>
              <a:gd name="connsiteY3540" fmla="*/ 619819 h 2787466"/>
              <a:gd name="connsiteX3541" fmla="*/ 2770599 w 3600000"/>
              <a:gd name="connsiteY3541" fmla="*/ 628624 h 2787466"/>
              <a:gd name="connsiteX3542" fmla="*/ 2762769 w 3600000"/>
              <a:gd name="connsiteY3542" fmla="*/ 631768 h 2787466"/>
              <a:gd name="connsiteX3543" fmla="*/ 2775752 w 3600000"/>
              <a:gd name="connsiteY3543" fmla="*/ 601896 h 2787466"/>
              <a:gd name="connsiteX3544" fmla="*/ 2102487 w 3600000"/>
              <a:gd name="connsiteY3544" fmla="*/ 601754 h 2787466"/>
              <a:gd name="connsiteX3545" fmla="*/ 2098503 w 3600000"/>
              <a:gd name="connsiteY3545" fmla="*/ 606460 h 2787466"/>
              <a:gd name="connsiteX3546" fmla="*/ 2102487 w 3600000"/>
              <a:gd name="connsiteY3546" fmla="*/ 601754 h 2787466"/>
              <a:gd name="connsiteX3547" fmla="*/ 2111589 w 3600000"/>
              <a:gd name="connsiteY3547" fmla="*/ 600794 h 2787466"/>
              <a:gd name="connsiteX3548" fmla="*/ 2109057 w 3600000"/>
              <a:gd name="connsiteY3548" fmla="*/ 607833 h 2787466"/>
              <a:gd name="connsiteX3549" fmla="*/ 2111589 w 3600000"/>
              <a:gd name="connsiteY3549" fmla="*/ 600794 h 2787466"/>
              <a:gd name="connsiteX3550" fmla="*/ 3551840 w 3600000"/>
              <a:gd name="connsiteY3550" fmla="*/ 598981 h 2787466"/>
              <a:gd name="connsiteX3551" fmla="*/ 3549133 w 3600000"/>
              <a:gd name="connsiteY3551" fmla="*/ 640421 h 2787466"/>
              <a:gd name="connsiteX3552" fmla="*/ 3551840 w 3600000"/>
              <a:gd name="connsiteY3552" fmla="*/ 598981 h 2787466"/>
              <a:gd name="connsiteX3553" fmla="*/ 3247142 w 3600000"/>
              <a:gd name="connsiteY3553" fmla="*/ 597595 h 2787466"/>
              <a:gd name="connsiteX3554" fmla="*/ 3256514 w 3600000"/>
              <a:gd name="connsiteY3554" fmla="*/ 606640 h 2787466"/>
              <a:gd name="connsiteX3555" fmla="*/ 3247142 w 3600000"/>
              <a:gd name="connsiteY3555" fmla="*/ 597595 h 2787466"/>
              <a:gd name="connsiteX3556" fmla="*/ 3076154 w 3600000"/>
              <a:gd name="connsiteY3556" fmla="*/ 596901 h 2787466"/>
              <a:gd name="connsiteX3557" fmla="*/ 3078816 w 3600000"/>
              <a:gd name="connsiteY3557" fmla="*/ 608534 h 2787466"/>
              <a:gd name="connsiteX3558" fmla="*/ 3076154 w 3600000"/>
              <a:gd name="connsiteY3558" fmla="*/ 596901 h 2787466"/>
              <a:gd name="connsiteX3559" fmla="*/ 1933332 w 3600000"/>
              <a:gd name="connsiteY3559" fmla="*/ 596703 h 2787466"/>
              <a:gd name="connsiteX3560" fmla="*/ 1934845 w 3600000"/>
              <a:gd name="connsiteY3560" fmla="*/ 599090 h 2787466"/>
              <a:gd name="connsiteX3561" fmla="*/ 1933291 w 3600000"/>
              <a:gd name="connsiteY3561" fmla="*/ 596718 h 2787466"/>
              <a:gd name="connsiteX3562" fmla="*/ 3284305 w 3600000"/>
              <a:gd name="connsiteY3562" fmla="*/ 595739 h 2787466"/>
              <a:gd name="connsiteX3563" fmla="*/ 3277109 w 3600000"/>
              <a:gd name="connsiteY3563" fmla="*/ 595921 h 2787466"/>
              <a:gd name="connsiteX3564" fmla="*/ 3278551 w 3600000"/>
              <a:gd name="connsiteY3564" fmla="*/ 602839 h 2787466"/>
              <a:gd name="connsiteX3565" fmla="*/ 3288854 w 3600000"/>
              <a:gd name="connsiteY3565" fmla="*/ 609757 h 2787466"/>
              <a:gd name="connsiteX3566" fmla="*/ 3284305 w 3600000"/>
              <a:gd name="connsiteY3566" fmla="*/ 595739 h 2787466"/>
              <a:gd name="connsiteX3567" fmla="*/ 2165395 w 3600000"/>
              <a:gd name="connsiteY3567" fmla="*/ 594822 h 2787466"/>
              <a:gd name="connsiteX3568" fmla="*/ 2170638 w 3600000"/>
              <a:gd name="connsiteY3568" fmla="*/ 600637 h 2787466"/>
              <a:gd name="connsiteX3569" fmla="*/ 2161412 w 3600000"/>
              <a:gd name="connsiteY3569" fmla="*/ 602474 h 2787466"/>
              <a:gd name="connsiteX3570" fmla="*/ 2165395 w 3600000"/>
              <a:gd name="connsiteY3570" fmla="*/ 594822 h 2787466"/>
              <a:gd name="connsiteX3571" fmla="*/ 1915834 w 3600000"/>
              <a:gd name="connsiteY3571" fmla="*/ 594453 h 2787466"/>
              <a:gd name="connsiteX3572" fmla="*/ 1906200 w 3600000"/>
              <a:gd name="connsiteY3572" fmla="*/ 597047 h 2787466"/>
              <a:gd name="connsiteX3573" fmla="*/ 1924541 w 3600000"/>
              <a:gd name="connsiteY3573" fmla="*/ 597047 h 2787466"/>
              <a:gd name="connsiteX3574" fmla="*/ 1915834 w 3600000"/>
              <a:gd name="connsiteY3574" fmla="*/ 594453 h 2787466"/>
              <a:gd name="connsiteX3575" fmla="*/ 1128716 w 3600000"/>
              <a:gd name="connsiteY3575" fmla="*/ 591780 h 2787466"/>
              <a:gd name="connsiteX3576" fmla="*/ 1123692 w 3600000"/>
              <a:gd name="connsiteY3576" fmla="*/ 596103 h 2787466"/>
              <a:gd name="connsiteX3577" fmla="*/ 1136675 w 3600000"/>
              <a:gd name="connsiteY3577" fmla="*/ 594060 h 2787466"/>
              <a:gd name="connsiteX3578" fmla="*/ 1128716 w 3600000"/>
              <a:gd name="connsiteY3578" fmla="*/ 591780 h 2787466"/>
              <a:gd name="connsiteX3579" fmla="*/ 2074519 w 3600000"/>
              <a:gd name="connsiteY3579" fmla="*/ 590609 h 2787466"/>
              <a:gd name="connsiteX3580" fmla="*/ 2077953 w 3600000"/>
              <a:gd name="connsiteY3580" fmla="*/ 593009 h 2787466"/>
              <a:gd name="connsiteX3581" fmla="*/ 2069984 w 3600000"/>
              <a:gd name="connsiteY3581" fmla="*/ 592049 h 2787466"/>
              <a:gd name="connsiteX3582" fmla="*/ 2074519 w 3600000"/>
              <a:gd name="connsiteY3582" fmla="*/ 590609 h 2787466"/>
              <a:gd name="connsiteX3583" fmla="*/ 3181020 w 3600000"/>
              <a:gd name="connsiteY3583" fmla="*/ 589968 h 2787466"/>
              <a:gd name="connsiteX3584" fmla="*/ 3187459 w 3600000"/>
              <a:gd name="connsiteY3584" fmla="*/ 593968 h 2787466"/>
              <a:gd name="connsiteX3585" fmla="*/ 3183513 w 3600000"/>
              <a:gd name="connsiteY3585" fmla="*/ 598128 h 2787466"/>
              <a:gd name="connsiteX3586" fmla="*/ 3181020 w 3600000"/>
              <a:gd name="connsiteY3586" fmla="*/ 589968 h 2787466"/>
              <a:gd name="connsiteX3587" fmla="*/ 748546 w 3600000"/>
              <a:gd name="connsiteY3587" fmla="*/ 589968 h 2787466"/>
              <a:gd name="connsiteX3588" fmla="*/ 731290 w 3600000"/>
              <a:gd name="connsiteY3588" fmla="*/ 602982 h 2787466"/>
              <a:gd name="connsiteX3589" fmla="*/ 748546 w 3600000"/>
              <a:gd name="connsiteY3589" fmla="*/ 589968 h 2787466"/>
              <a:gd name="connsiteX3590" fmla="*/ 1982803 w 3600000"/>
              <a:gd name="connsiteY3590" fmla="*/ 588821 h 2787466"/>
              <a:gd name="connsiteX3591" fmla="*/ 1975238 w 3600000"/>
              <a:gd name="connsiteY3591" fmla="*/ 594060 h 2787466"/>
              <a:gd name="connsiteX3592" fmla="*/ 1983070 w 3600000"/>
              <a:gd name="connsiteY3592" fmla="*/ 593117 h 2787466"/>
              <a:gd name="connsiteX3593" fmla="*/ 1982803 w 3600000"/>
              <a:gd name="connsiteY3593" fmla="*/ 588821 h 2787466"/>
              <a:gd name="connsiteX3594" fmla="*/ 2993208 w 3600000"/>
              <a:gd name="connsiteY3594" fmla="*/ 587674 h 2787466"/>
              <a:gd name="connsiteX3595" fmla="*/ 3002092 w 3600000"/>
              <a:gd name="connsiteY3595" fmla="*/ 587674 h 2787466"/>
              <a:gd name="connsiteX3596" fmla="*/ 2995631 w 3600000"/>
              <a:gd name="connsiteY3596" fmla="*/ 592646 h 2787466"/>
              <a:gd name="connsiteX3597" fmla="*/ 2993208 w 3600000"/>
              <a:gd name="connsiteY3597" fmla="*/ 587674 h 2787466"/>
              <a:gd name="connsiteX3598" fmla="*/ 2203043 w 3600000"/>
              <a:gd name="connsiteY3598" fmla="*/ 587195 h 2787466"/>
              <a:gd name="connsiteX3599" fmla="*/ 2192656 w 3600000"/>
              <a:gd name="connsiteY3599" fmla="*/ 594070 h 2787466"/>
              <a:gd name="connsiteX3600" fmla="*/ 2203043 w 3600000"/>
              <a:gd name="connsiteY3600" fmla="*/ 587195 h 2787466"/>
              <a:gd name="connsiteX3601" fmla="*/ 2223712 w 3600000"/>
              <a:gd name="connsiteY3601" fmla="*/ 585739 h 2787466"/>
              <a:gd name="connsiteX3602" fmla="*/ 2227887 w 3600000"/>
              <a:gd name="connsiteY3602" fmla="*/ 587834 h 2787466"/>
              <a:gd name="connsiteX3603" fmla="*/ 2209562 w 3600000"/>
              <a:gd name="connsiteY3603" fmla="*/ 592837 h 2787466"/>
              <a:gd name="connsiteX3604" fmla="*/ 2208104 w 3600000"/>
              <a:gd name="connsiteY3604" fmla="*/ 585958 h 2787466"/>
              <a:gd name="connsiteX3605" fmla="*/ 2223712 w 3600000"/>
              <a:gd name="connsiteY3605" fmla="*/ 585739 h 2787466"/>
              <a:gd name="connsiteX3606" fmla="*/ 1828428 w 3600000"/>
              <a:gd name="connsiteY3606" fmla="*/ 585277 h 2787466"/>
              <a:gd name="connsiteX3607" fmla="*/ 1824177 w 3600000"/>
              <a:gd name="connsiteY3607" fmla="*/ 590130 h 2787466"/>
              <a:gd name="connsiteX3608" fmla="*/ 1834688 w 3600000"/>
              <a:gd name="connsiteY3608" fmla="*/ 587143 h 2787466"/>
              <a:gd name="connsiteX3609" fmla="*/ 1828428 w 3600000"/>
              <a:gd name="connsiteY3609" fmla="*/ 585277 h 2787466"/>
              <a:gd name="connsiteX3610" fmla="*/ 1006032 w 3600000"/>
              <a:gd name="connsiteY3610" fmla="*/ 585116 h 2787466"/>
              <a:gd name="connsiteX3611" fmla="*/ 1008440 w 3600000"/>
              <a:gd name="connsiteY3611" fmla="*/ 590236 h 2787466"/>
              <a:gd name="connsiteX3612" fmla="*/ 994597 w 3600000"/>
              <a:gd name="connsiteY3612" fmla="*/ 589276 h 2787466"/>
              <a:gd name="connsiteX3613" fmla="*/ 1006032 w 3600000"/>
              <a:gd name="connsiteY3613" fmla="*/ 585116 h 2787466"/>
              <a:gd name="connsiteX3614" fmla="*/ 953060 w 3600000"/>
              <a:gd name="connsiteY3614" fmla="*/ 585116 h 2787466"/>
              <a:gd name="connsiteX3615" fmla="*/ 933749 w 3600000"/>
              <a:gd name="connsiteY3615" fmla="*/ 598131 h 2787466"/>
              <a:gd name="connsiteX3616" fmla="*/ 953060 w 3600000"/>
              <a:gd name="connsiteY3616" fmla="*/ 585116 h 2787466"/>
              <a:gd name="connsiteX3617" fmla="*/ 2104791 w 3600000"/>
              <a:gd name="connsiteY3617" fmla="*/ 584408 h 2787466"/>
              <a:gd name="connsiteX3618" fmla="*/ 2107946 w 3600000"/>
              <a:gd name="connsiteY3618" fmla="*/ 585689 h 2787466"/>
              <a:gd name="connsiteX3619" fmla="*/ 2102696 w 3600000"/>
              <a:gd name="connsiteY3619" fmla="*/ 587554 h 2787466"/>
              <a:gd name="connsiteX3620" fmla="*/ 2104791 w 3600000"/>
              <a:gd name="connsiteY3620" fmla="*/ 584408 h 2787466"/>
              <a:gd name="connsiteX3621" fmla="*/ 1242295 w 3600000"/>
              <a:gd name="connsiteY3621" fmla="*/ 583331 h 2787466"/>
              <a:gd name="connsiteX3622" fmla="*/ 1231887 w 3600000"/>
              <a:gd name="connsiteY3622" fmla="*/ 589187 h 2787466"/>
              <a:gd name="connsiteX3623" fmla="*/ 1252702 w 3600000"/>
              <a:gd name="connsiteY3623" fmla="*/ 587143 h 2787466"/>
              <a:gd name="connsiteX3624" fmla="*/ 1242295 w 3600000"/>
              <a:gd name="connsiteY3624" fmla="*/ 583331 h 2787466"/>
              <a:gd name="connsiteX3625" fmla="*/ 3587220 w 3600000"/>
              <a:gd name="connsiteY3625" fmla="*/ 583036 h 2787466"/>
              <a:gd name="connsiteX3626" fmla="*/ 3591113 w 3600000"/>
              <a:gd name="connsiteY3626" fmla="*/ 595097 h 2787466"/>
              <a:gd name="connsiteX3627" fmla="*/ 3587220 w 3600000"/>
              <a:gd name="connsiteY3627" fmla="*/ 583036 h 2787466"/>
              <a:gd name="connsiteX3628" fmla="*/ 2165901 w 3600000"/>
              <a:gd name="connsiteY3628" fmla="*/ 581649 h 2787466"/>
              <a:gd name="connsiteX3629" fmla="*/ 2167112 w 3600000"/>
              <a:gd name="connsiteY3629" fmla="*/ 588680 h 2787466"/>
              <a:gd name="connsiteX3630" fmla="*/ 2162064 w 3600000"/>
              <a:gd name="connsiteY3630" fmla="*/ 588680 h 2787466"/>
              <a:gd name="connsiteX3631" fmla="*/ 2165901 w 3600000"/>
              <a:gd name="connsiteY3631" fmla="*/ 581649 h 2787466"/>
              <a:gd name="connsiteX3632" fmla="*/ 2686025 w 3600000"/>
              <a:gd name="connsiteY3632" fmla="*/ 580263 h 2787466"/>
              <a:gd name="connsiteX3633" fmla="*/ 2688673 w 3600000"/>
              <a:gd name="connsiteY3633" fmla="*/ 590246 h 2787466"/>
              <a:gd name="connsiteX3634" fmla="*/ 2680934 w 3600000"/>
              <a:gd name="connsiteY3634" fmla="*/ 591197 h 2787466"/>
              <a:gd name="connsiteX3635" fmla="*/ 2686025 w 3600000"/>
              <a:gd name="connsiteY3635" fmla="*/ 580263 h 2787466"/>
              <a:gd name="connsiteX3636" fmla="*/ 2020887 w 3600000"/>
              <a:gd name="connsiteY3636" fmla="*/ 578400 h 2787466"/>
              <a:gd name="connsiteX3637" fmla="*/ 2015631 w 3600000"/>
              <a:gd name="connsiteY3637" fmla="*/ 580227 h 2787466"/>
              <a:gd name="connsiteX3638" fmla="*/ 2026142 w 3600000"/>
              <a:gd name="connsiteY3638" fmla="*/ 580227 h 2787466"/>
              <a:gd name="connsiteX3639" fmla="*/ 2020887 w 3600000"/>
              <a:gd name="connsiteY3639" fmla="*/ 578400 h 2787466"/>
              <a:gd name="connsiteX3640" fmla="*/ 1294331 w 3600000"/>
              <a:gd name="connsiteY3640" fmla="*/ 578183 h 2787466"/>
              <a:gd name="connsiteX3641" fmla="*/ 1272279 w 3600000"/>
              <a:gd name="connsiteY3641" fmla="*/ 585100 h 2787466"/>
              <a:gd name="connsiteX3642" fmla="*/ 1293094 w 3600000"/>
              <a:gd name="connsiteY3642" fmla="*/ 583214 h 2787466"/>
              <a:gd name="connsiteX3643" fmla="*/ 1294331 w 3600000"/>
              <a:gd name="connsiteY3643" fmla="*/ 578183 h 2787466"/>
              <a:gd name="connsiteX3644" fmla="*/ 1057332 w 3600000"/>
              <a:gd name="connsiteY3644" fmla="*/ 578183 h 2787466"/>
              <a:gd name="connsiteX3645" fmla="*/ 1045586 w 3600000"/>
              <a:gd name="connsiteY3645" fmla="*/ 582114 h 2787466"/>
              <a:gd name="connsiteX3646" fmla="*/ 1057332 w 3600000"/>
              <a:gd name="connsiteY3646" fmla="*/ 578183 h 2787466"/>
              <a:gd name="connsiteX3647" fmla="*/ 1970086 w 3600000"/>
              <a:gd name="connsiteY3647" fmla="*/ 577240 h 2787466"/>
              <a:gd name="connsiteX3648" fmla="*/ 1970086 w 3600000"/>
              <a:gd name="connsiteY3648" fmla="*/ 584157 h 2787466"/>
              <a:gd name="connsiteX3649" fmla="*/ 1980390 w 3600000"/>
              <a:gd name="connsiteY3649" fmla="*/ 578183 h 2787466"/>
              <a:gd name="connsiteX3650" fmla="*/ 1970086 w 3600000"/>
              <a:gd name="connsiteY3650" fmla="*/ 577240 h 2787466"/>
              <a:gd name="connsiteX3651" fmla="*/ 2190636 w 3600000"/>
              <a:gd name="connsiteY3651" fmla="*/ 575206 h 2787466"/>
              <a:gd name="connsiteX3652" fmla="*/ 2174079 w 3600000"/>
              <a:gd name="connsiteY3652" fmla="*/ 589119 h 2787466"/>
              <a:gd name="connsiteX3653" fmla="*/ 2169030 w 3600000"/>
              <a:gd name="connsiteY3653" fmla="*/ 582084 h 2787466"/>
              <a:gd name="connsiteX3654" fmla="*/ 2181752 w 3600000"/>
              <a:gd name="connsiteY3654" fmla="*/ 579271 h 2787466"/>
              <a:gd name="connsiteX3655" fmla="*/ 2190636 w 3600000"/>
              <a:gd name="connsiteY3655" fmla="*/ 575206 h 2787466"/>
              <a:gd name="connsiteX3656" fmla="*/ 1530248 w 3600000"/>
              <a:gd name="connsiteY3656" fmla="*/ 575001 h 2787466"/>
              <a:gd name="connsiteX3657" fmla="*/ 1523498 w 3600000"/>
              <a:gd name="connsiteY3657" fmla="*/ 578183 h 2787466"/>
              <a:gd name="connsiteX3658" fmla="*/ 1537925 w 3600000"/>
              <a:gd name="connsiteY3658" fmla="*/ 576297 h 2787466"/>
              <a:gd name="connsiteX3659" fmla="*/ 1530248 w 3600000"/>
              <a:gd name="connsiteY3659" fmla="*/ 575001 h 2787466"/>
              <a:gd name="connsiteX3660" fmla="*/ 3500933 w 3600000"/>
              <a:gd name="connsiteY3660" fmla="*/ 573330 h 2787466"/>
              <a:gd name="connsiteX3661" fmla="*/ 3515493 w 3600000"/>
              <a:gd name="connsiteY3661" fmla="*/ 605758 h 2787466"/>
              <a:gd name="connsiteX3662" fmla="*/ 3500933 w 3600000"/>
              <a:gd name="connsiteY3662" fmla="*/ 573330 h 2787466"/>
              <a:gd name="connsiteX3663" fmla="*/ 3043107 w 3600000"/>
              <a:gd name="connsiteY3663" fmla="*/ 573330 h 2787466"/>
              <a:gd name="connsiteX3664" fmla="*/ 3052068 w 3600000"/>
              <a:gd name="connsiteY3664" fmla="*/ 577181 h 2787466"/>
              <a:gd name="connsiteX3665" fmla="*/ 3043107 w 3600000"/>
              <a:gd name="connsiteY3665" fmla="*/ 578106 h 2787466"/>
              <a:gd name="connsiteX3666" fmla="*/ 3041885 w 3600000"/>
              <a:gd name="connsiteY3666" fmla="*/ 579184 h 2787466"/>
              <a:gd name="connsiteX3667" fmla="*/ 3043107 w 3600000"/>
              <a:gd name="connsiteY3667" fmla="*/ 573330 h 2787466"/>
              <a:gd name="connsiteX3668" fmla="*/ 2198335 w 3600000"/>
              <a:gd name="connsiteY3668" fmla="*/ 573330 h 2787466"/>
              <a:gd name="connsiteX3669" fmla="*/ 2198335 w 3600000"/>
              <a:gd name="connsiteY3669" fmla="*/ 582185 h 2787466"/>
              <a:gd name="connsiteX3670" fmla="*/ 2196745 w 3600000"/>
              <a:gd name="connsiteY3670" fmla="*/ 577283 h 2787466"/>
              <a:gd name="connsiteX3671" fmla="*/ 2198335 w 3600000"/>
              <a:gd name="connsiteY3671" fmla="*/ 573330 h 2787466"/>
              <a:gd name="connsiteX3672" fmla="*/ 1580790 w 3600000"/>
              <a:gd name="connsiteY3672" fmla="*/ 573311 h 2787466"/>
              <a:gd name="connsiteX3673" fmla="*/ 1543076 w 3600000"/>
              <a:gd name="connsiteY3673" fmla="*/ 578183 h 2787466"/>
              <a:gd name="connsiteX3674" fmla="*/ 1576874 w 3600000"/>
              <a:gd name="connsiteY3674" fmla="*/ 580227 h 2787466"/>
              <a:gd name="connsiteX3675" fmla="*/ 1580790 w 3600000"/>
              <a:gd name="connsiteY3675" fmla="*/ 573311 h 2787466"/>
              <a:gd name="connsiteX3676" fmla="*/ 1922304 w 3600000"/>
              <a:gd name="connsiteY3676" fmla="*/ 573288 h 2787466"/>
              <a:gd name="connsiteX3677" fmla="*/ 1924974 w 3600000"/>
              <a:gd name="connsiteY3677" fmla="*/ 577206 h 2787466"/>
              <a:gd name="connsiteX3678" fmla="*/ 1902793 w 3600000"/>
              <a:gd name="connsiteY3678" fmla="*/ 583162 h 2787466"/>
              <a:gd name="connsiteX3679" fmla="*/ 1906695 w 3600000"/>
              <a:gd name="connsiteY3679" fmla="*/ 585043 h 2787466"/>
              <a:gd name="connsiteX3680" fmla="*/ 1901868 w 3600000"/>
              <a:gd name="connsiteY3680" fmla="*/ 585847 h 2787466"/>
              <a:gd name="connsiteX3681" fmla="*/ 1900426 w 3600000"/>
              <a:gd name="connsiteY3681" fmla="*/ 584467 h 2787466"/>
              <a:gd name="connsiteX3682" fmla="*/ 1899057 w 3600000"/>
              <a:gd name="connsiteY3682" fmla="*/ 582902 h 2787466"/>
              <a:gd name="connsiteX3683" fmla="*/ 1898889 w 3600000"/>
              <a:gd name="connsiteY3683" fmla="*/ 579244 h 2787466"/>
              <a:gd name="connsiteX3684" fmla="*/ 1904230 w 3600000"/>
              <a:gd name="connsiteY3684" fmla="*/ 574228 h 2787466"/>
              <a:gd name="connsiteX3685" fmla="*/ 1922304 w 3600000"/>
              <a:gd name="connsiteY3685" fmla="*/ 573288 h 2787466"/>
              <a:gd name="connsiteX3686" fmla="*/ 1939088 w 3600000"/>
              <a:gd name="connsiteY3686" fmla="*/ 572800 h 2787466"/>
              <a:gd name="connsiteX3687" fmla="*/ 1941667 w 3600000"/>
              <a:gd name="connsiteY3687" fmla="*/ 578020 h 2787466"/>
              <a:gd name="connsiteX3688" fmla="*/ 1935498 w 3600000"/>
              <a:gd name="connsiteY3688" fmla="*/ 572963 h 2787466"/>
              <a:gd name="connsiteX3689" fmla="*/ 1939088 w 3600000"/>
              <a:gd name="connsiteY3689" fmla="*/ 572800 h 2787466"/>
              <a:gd name="connsiteX3690" fmla="*/ 1896222 w 3600000"/>
              <a:gd name="connsiteY3690" fmla="*/ 572175 h 2787466"/>
              <a:gd name="connsiteX3691" fmla="*/ 1895006 w 3600000"/>
              <a:gd name="connsiteY3691" fmla="*/ 578029 h 2787466"/>
              <a:gd name="connsiteX3692" fmla="*/ 1887301 w 3600000"/>
              <a:gd name="connsiteY3692" fmla="*/ 575102 h 2787466"/>
              <a:gd name="connsiteX3693" fmla="*/ 1896222 w 3600000"/>
              <a:gd name="connsiteY3693" fmla="*/ 572175 h 2787466"/>
              <a:gd name="connsiteX3694" fmla="*/ 1815892 w 3600000"/>
              <a:gd name="connsiteY3694" fmla="*/ 571728 h 2787466"/>
              <a:gd name="connsiteX3695" fmla="*/ 1825044 w 3600000"/>
              <a:gd name="connsiteY3695" fmla="*/ 572816 h 2787466"/>
              <a:gd name="connsiteX3696" fmla="*/ 1818596 w 3600000"/>
              <a:gd name="connsiteY3696" fmla="*/ 578721 h 2787466"/>
              <a:gd name="connsiteX3697" fmla="*/ 1815892 w 3600000"/>
              <a:gd name="connsiteY3697" fmla="*/ 571728 h 2787466"/>
              <a:gd name="connsiteX3698" fmla="*/ 3082903 w 3600000"/>
              <a:gd name="connsiteY3698" fmla="*/ 569170 h 2787466"/>
              <a:gd name="connsiteX3699" fmla="*/ 3095508 w 3600000"/>
              <a:gd name="connsiteY3699" fmla="*/ 575374 h 2787466"/>
              <a:gd name="connsiteX3700" fmla="*/ 3095779 w 3600000"/>
              <a:gd name="connsiteY3700" fmla="*/ 575682 h 2787466"/>
              <a:gd name="connsiteX3701" fmla="*/ 3101136 w 3600000"/>
              <a:gd name="connsiteY3701" fmla="*/ 574896 h 2787466"/>
              <a:gd name="connsiteX3702" fmla="*/ 3098306 w 3600000"/>
              <a:gd name="connsiteY3702" fmla="*/ 577848 h 2787466"/>
              <a:gd name="connsiteX3703" fmla="*/ 3097748 w 3600000"/>
              <a:gd name="connsiteY3703" fmla="*/ 577923 h 2787466"/>
              <a:gd name="connsiteX3704" fmla="*/ 3098892 w 3600000"/>
              <a:gd name="connsiteY3704" fmla="*/ 579226 h 2787466"/>
              <a:gd name="connsiteX3705" fmla="*/ 3097220 w 3600000"/>
              <a:gd name="connsiteY3705" fmla="*/ 582172 h 2787466"/>
              <a:gd name="connsiteX3706" fmla="*/ 3086845 w 3600000"/>
              <a:gd name="connsiteY3706" fmla="*/ 593270 h 2787466"/>
              <a:gd name="connsiteX3707" fmla="*/ 3089335 w 3600000"/>
              <a:gd name="connsiteY3707" fmla="*/ 601356 h 2787466"/>
              <a:gd name="connsiteX3708" fmla="*/ 3084148 w 3600000"/>
              <a:gd name="connsiteY3708" fmla="*/ 604369 h 2787466"/>
              <a:gd name="connsiteX3709" fmla="*/ 3081113 w 3600000"/>
              <a:gd name="connsiteY3709" fmla="*/ 586710 h 2787466"/>
              <a:gd name="connsiteX3710" fmla="*/ 3082008 w 3600000"/>
              <a:gd name="connsiteY3710" fmla="*/ 577942 h 2787466"/>
              <a:gd name="connsiteX3711" fmla="*/ 3080441 w 3600000"/>
              <a:gd name="connsiteY3711" fmla="*/ 577848 h 2787466"/>
              <a:gd name="connsiteX3712" fmla="*/ 3082133 w 3600000"/>
              <a:gd name="connsiteY3712" fmla="*/ 576713 h 2787466"/>
              <a:gd name="connsiteX3713" fmla="*/ 1134202 w 3600000"/>
              <a:gd name="connsiteY3713" fmla="*/ 568281 h 2787466"/>
              <a:gd name="connsiteX3714" fmla="*/ 1121219 w 3600000"/>
              <a:gd name="connsiteY3714" fmla="*/ 575197 h 2787466"/>
              <a:gd name="connsiteX3715" fmla="*/ 1134202 w 3600000"/>
              <a:gd name="connsiteY3715" fmla="*/ 568281 h 2787466"/>
              <a:gd name="connsiteX3716" fmla="*/ 2140302 w 3600000"/>
              <a:gd name="connsiteY3716" fmla="*/ 566874 h 2787466"/>
              <a:gd name="connsiteX3717" fmla="*/ 2141560 w 3600000"/>
              <a:gd name="connsiteY3717" fmla="*/ 568781 h 2787466"/>
              <a:gd name="connsiteX3718" fmla="*/ 2140302 w 3600000"/>
              <a:gd name="connsiteY3718" fmla="*/ 566909 h 2787466"/>
              <a:gd name="connsiteX3719" fmla="*/ 2896021 w 3600000"/>
              <a:gd name="connsiteY3719" fmla="*/ 566824 h 2787466"/>
              <a:gd name="connsiteX3720" fmla="*/ 2906669 w 3600000"/>
              <a:gd name="connsiteY3720" fmla="*/ 571784 h 2787466"/>
              <a:gd name="connsiteX3721" fmla="*/ 2902623 w 3600000"/>
              <a:gd name="connsiteY3721" fmla="*/ 575943 h 2787466"/>
              <a:gd name="connsiteX3722" fmla="*/ 2896021 w 3600000"/>
              <a:gd name="connsiteY3722" fmla="*/ 566824 h 2787466"/>
              <a:gd name="connsiteX3723" fmla="*/ 1157696 w 3600000"/>
              <a:gd name="connsiteY3723" fmla="*/ 566237 h 2787466"/>
              <a:gd name="connsiteX3724" fmla="*/ 1140591 w 3600000"/>
              <a:gd name="connsiteY3724" fmla="*/ 572210 h 2787466"/>
              <a:gd name="connsiteX3725" fmla="*/ 1157696 w 3600000"/>
              <a:gd name="connsiteY3725" fmla="*/ 566237 h 2787466"/>
              <a:gd name="connsiteX3726" fmla="*/ 2139166 w 3600000"/>
              <a:gd name="connsiteY3726" fmla="*/ 565219 h 2787466"/>
              <a:gd name="connsiteX3727" fmla="*/ 2140302 w 3600000"/>
              <a:gd name="connsiteY3727" fmla="*/ 566909 h 2787466"/>
              <a:gd name="connsiteX3728" fmla="*/ 2140302 w 3600000"/>
              <a:gd name="connsiteY3728" fmla="*/ 568781 h 2787466"/>
              <a:gd name="connsiteX3729" fmla="*/ 2133592 w 3600000"/>
              <a:gd name="connsiteY3729" fmla="*/ 573865 h 2787466"/>
              <a:gd name="connsiteX3730" fmla="*/ 2139166 w 3600000"/>
              <a:gd name="connsiteY3730" fmla="*/ 565219 h 2787466"/>
              <a:gd name="connsiteX3731" fmla="*/ 1650139 w 3600000"/>
              <a:gd name="connsiteY3731" fmla="*/ 564391 h 2787466"/>
              <a:gd name="connsiteX3732" fmla="*/ 1659963 w 3600000"/>
              <a:gd name="connsiteY3732" fmla="*/ 567210 h 2787466"/>
              <a:gd name="connsiteX3733" fmla="*/ 1648354 w 3600000"/>
              <a:gd name="connsiteY3733" fmla="*/ 569075 h 2787466"/>
              <a:gd name="connsiteX3734" fmla="*/ 1648354 w 3600000"/>
              <a:gd name="connsiteY3734" fmla="*/ 565190 h 2787466"/>
              <a:gd name="connsiteX3735" fmla="*/ 1650139 w 3600000"/>
              <a:gd name="connsiteY3735" fmla="*/ 564391 h 2787466"/>
              <a:gd name="connsiteX3736" fmla="*/ 2114509 w 3600000"/>
              <a:gd name="connsiteY3736" fmla="*/ 564318 h 2787466"/>
              <a:gd name="connsiteX3737" fmla="*/ 2118825 w 3600000"/>
              <a:gd name="connsiteY3737" fmla="*/ 570492 h 2787466"/>
              <a:gd name="connsiteX3738" fmla="*/ 2116100 w 3600000"/>
              <a:gd name="connsiteY3738" fmla="*/ 574554 h 2787466"/>
              <a:gd name="connsiteX3739" fmla="*/ 2114509 w 3600000"/>
              <a:gd name="connsiteY3739" fmla="*/ 564318 h 2787466"/>
              <a:gd name="connsiteX3740" fmla="*/ 2111556 w 3600000"/>
              <a:gd name="connsiteY3740" fmla="*/ 564318 h 2787466"/>
              <a:gd name="connsiteX3741" fmla="*/ 2114282 w 3600000"/>
              <a:gd name="connsiteY3741" fmla="*/ 569148 h 2787466"/>
              <a:gd name="connsiteX3742" fmla="*/ 2111556 w 3600000"/>
              <a:gd name="connsiteY3742" fmla="*/ 578027 h 2787466"/>
              <a:gd name="connsiteX3743" fmla="*/ 2112919 w 3600000"/>
              <a:gd name="connsiteY3743" fmla="*/ 571172 h 2787466"/>
              <a:gd name="connsiteX3744" fmla="*/ 2109966 w 3600000"/>
              <a:gd name="connsiteY3744" fmla="*/ 566188 h 2787466"/>
              <a:gd name="connsiteX3745" fmla="*/ 2111556 w 3600000"/>
              <a:gd name="connsiteY3745" fmla="*/ 564318 h 2787466"/>
              <a:gd name="connsiteX3746" fmla="*/ 3007388 w 3600000"/>
              <a:gd name="connsiteY3746" fmla="*/ 563687 h 2787466"/>
              <a:gd name="connsiteX3747" fmla="*/ 3006085 w 3600000"/>
              <a:gd name="connsiteY3747" fmla="*/ 563708 h 2787466"/>
              <a:gd name="connsiteX3748" fmla="*/ 3007575 w 3600000"/>
              <a:gd name="connsiteY3748" fmla="*/ 564161 h 2787466"/>
              <a:gd name="connsiteX3749" fmla="*/ 2649757 w 3600000"/>
              <a:gd name="connsiteY3749" fmla="*/ 559321 h 2787466"/>
              <a:gd name="connsiteX3750" fmla="*/ 2644605 w 3600000"/>
              <a:gd name="connsiteY3750" fmla="*/ 567337 h 2787466"/>
              <a:gd name="connsiteX3751" fmla="*/ 2649757 w 3600000"/>
              <a:gd name="connsiteY3751" fmla="*/ 559321 h 2787466"/>
              <a:gd name="connsiteX3752" fmla="*/ 2995829 w 3600000"/>
              <a:gd name="connsiteY3752" fmla="*/ 559130 h 2787466"/>
              <a:gd name="connsiteX3753" fmla="*/ 2995694 w 3600000"/>
              <a:gd name="connsiteY3753" fmla="*/ 559421 h 2787466"/>
              <a:gd name="connsiteX3754" fmla="*/ 2995983 w 3600000"/>
              <a:gd name="connsiteY3754" fmla="*/ 559436 h 2787466"/>
              <a:gd name="connsiteX3755" fmla="*/ 2938543 w 3600000"/>
              <a:gd name="connsiteY3755" fmla="*/ 559130 h 2787466"/>
              <a:gd name="connsiteX3756" fmla="*/ 2937307 w 3600000"/>
              <a:gd name="connsiteY3756" fmla="*/ 567149 h 2787466"/>
              <a:gd name="connsiteX3757" fmla="*/ 2938543 w 3600000"/>
              <a:gd name="connsiteY3757" fmla="*/ 559130 h 2787466"/>
              <a:gd name="connsiteX3758" fmla="*/ 2125802 w 3600000"/>
              <a:gd name="connsiteY3758" fmla="*/ 557730 h 2787466"/>
              <a:gd name="connsiteX3759" fmla="*/ 2130349 w 3600000"/>
              <a:gd name="connsiteY3759" fmla="*/ 560754 h 2787466"/>
              <a:gd name="connsiteX3760" fmla="*/ 2137018 w 3600000"/>
              <a:gd name="connsiteY3760" fmla="*/ 560754 h 2787466"/>
              <a:gd name="connsiteX3761" fmla="*/ 2119928 w 3600000"/>
              <a:gd name="connsiteY3761" fmla="*/ 569707 h 2787466"/>
              <a:gd name="connsiteX3762" fmla="*/ 2131599 w 3600000"/>
              <a:gd name="connsiteY3762" fmla="*/ 565623 h 2787466"/>
              <a:gd name="connsiteX3763" fmla="*/ 3325327 w 3600000"/>
              <a:gd name="connsiteY3763" fmla="*/ 557244 h 2787466"/>
              <a:gd name="connsiteX3764" fmla="*/ 3313582 w 3600000"/>
              <a:gd name="connsiteY3764" fmla="*/ 563218 h 2787466"/>
              <a:gd name="connsiteX3765" fmla="*/ 3312346 w 3600000"/>
              <a:gd name="connsiteY3765" fmla="*/ 574067 h 2787466"/>
              <a:gd name="connsiteX3766" fmla="*/ 3325327 w 3600000"/>
              <a:gd name="connsiteY3766" fmla="*/ 557244 h 2787466"/>
              <a:gd name="connsiteX3767" fmla="*/ 2125139 w 3600000"/>
              <a:gd name="connsiteY3767" fmla="*/ 556827 h 2787466"/>
              <a:gd name="connsiteX3768" fmla="*/ 2125802 w 3600000"/>
              <a:gd name="connsiteY3768" fmla="*/ 557730 h 2787466"/>
              <a:gd name="connsiteX3769" fmla="*/ 2124886 w 3600000"/>
              <a:gd name="connsiteY3769" fmla="*/ 557121 h 2787466"/>
              <a:gd name="connsiteX3770" fmla="*/ 1275855 w 3600000"/>
              <a:gd name="connsiteY3770" fmla="*/ 555998 h 2787466"/>
              <a:gd name="connsiteX3771" fmla="*/ 1278314 w 3600000"/>
              <a:gd name="connsiteY3771" fmla="*/ 559038 h 2787466"/>
              <a:gd name="connsiteX3772" fmla="*/ 1251259 w 3600000"/>
              <a:gd name="connsiteY3772" fmla="*/ 564158 h 2787466"/>
              <a:gd name="connsiteX3773" fmla="*/ 1275855 w 3600000"/>
              <a:gd name="connsiteY3773" fmla="*/ 555998 h 2787466"/>
              <a:gd name="connsiteX3774" fmla="*/ 925972 w 3600000"/>
              <a:gd name="connsiteY3774" fmla="*/ 555305 h 2787466"/>
              <a:gd name="connsiteX3775" fmla="*/ 928468 w 3600000"/>
              <a:gd name="connsiteY3775" fmla="*/ 559132 h 2787466"/>
              <a:gd name="connsiteX3776" fmla="*/ 911411 w 3600000"/>
              <a:gd name="connsiteY3776" fmla="*/ 560203 h 2787466"/>
              <a:gd name="connsiteX3777" fmla="*/ 2121491 w 3600000"/>
              <a:gd name="connsiteY3777" fmla="*/ 554864 h 2787466"/>
              <a:gd name="connsiteX3778" fmla="*/ 2124886 w 3600000"/>
              <a:gd name="connsiteY3778" fmla="*/ 557121 h 2787466"/>
              <a:gd name="connsiteX3779" fmla="*/ 2121778 w 3600000"/>
              <a:gd name="connsiteY3779" fmla="*/ 560734 h 2787466"/>
              <a:gd name="connsiteX3780" fmla="*/ 2114509 w 3600000"/>
              <a:gd name="connsiteY3780" fmla="*/ 561696 h 2787466"/>
              <a:gd name="connsiteX3781" fmla="*/ 2121491 w 3600000"/>
              <a:gd name="connsiteY3781" fmla="*/ 554864 h 2787466"/>
              <a:gd name="connsiteX3782" fmla="*/ 2380196 w 3600000"/>
              <a:gd name="connsiteY3782" fmla="*/ 553347 h 2787466"/>
              <a:gd name="connsiteX3783" fmla="*/ 2377724 w 3600000"/>
              <a:gd name="connsiteY3783" fmla="*/ 561364 h 2787466"/>
              <a:gd name="connsiteX3784" fmla="*/ 2384113 w 3600000"/>
              <a:gd name="connsiteY3784" fmla="*/ 557435 h 2787466"/>
              <a:gd name="connsiteX3785" fmla="*/ 2380196 w 3600000"/>
              <a:gd name="connsiteY3785" fmla="*/ 553347 h 2787466"/>
              <a:gd name="connsiteX3786" fmla="*/ 2693265 w 3600000"/>
              <a:gd name="connsiteY3786" fmla="*/ 553225 h 2787466"/>
              <a:gd name="connsiteX3787" fmla="*/ 2695927 w 3600000"/>
              <a:gd name="connsiteY3787" fmla="*/ 561385 h 2787466"/>
              <a:gd name="connsiteX3788" fmla="*/ 2684255 w 3600000"/>
              <a:gd name="connsiteY3788" fmla="*/ 560425 h 2787466"/>
              <a:gd name="connsiteX3789" fmla="*/ 2693265 w 3600000"/>
              <a:gd name="connsiteY3789" fmla="*/ 553225 h 2787466"/>
              <a:gd name="connsiteX3790" fmla="*/ 2676682 w 3600000"/>
              <a:gd name="connsiteY3790" fmla="*/ 553225 h 2787466"/>
              <a:gd name="connsiteX3791" fmla="*/ 2670220 w 3600000"/>
              <a:gd name="connsiteY3791" fmla="*/ 569014 h 2787466"/>
              <a:gd name="connsiteX3792" fmla="*/ 2676682 w 3600000"/>
              <a:gd name="connsiteY3792" fmla="*/ 553225 h 2787466"/>
              <a:gd name="connsiteX3793" fmla="*/ 1295088 w 3600000"/>
              <a:gd name="connsiteY3793" fmla="*/ 553225 h 2787466"/>
              <a:gd name="connsiteX3794" fmla="*/ 1296493 w 3600000"/>
              <a:gd name="connsiteY3794" fmla="*/ 557385 h 2787466"/>
              <a:gd name="connsiteX3795" fmla="*/ 1281245 w 3600000"/>
              <a:gd name="connsiteY3795" fmla="*/ 559305 h 2787466"/>
              <a:gd name="connsiteX3796" fmla="*/ 1295088 w 3600000"/>
              <a:gd name="connsiteY3796" fmla="*/ 553225 h 2787466"/>
              <a:gd name="connsiteX3797" fmla="*/ 1279223 w 3600000"/>
              <a:gd name="connsiteY3797" fmla="*/ 551146 h 2787466"/>
              <a:gd name="connsiteX3798" fmla="*/ 1237629 w 3600000"/>
              <a:gd name="connsiteY3798" fmla="*/ 564855 h 2787466"/>
              <a:gd name="connsiteX3799" fmla="*/ 1279223 w 3600000"/>
              <a:gd name="connsiteY3799" fmla="*/ 551146 h 2787466"/>
              <a:gd name="connsiteX3800" fmla="*/ 2133927 w 3600000"/>
              <a:gd name="connsiteY3800" fmla="*/ 549312 h 2787466"/>
              <a:gd name="connsiteX3801" fmla="*/ 2143045 w 3600000"/>
              <a:gd name="connsiteY3801" fmla="*/ 553284 h 2787466"/>
              <a:gd name="connsiteX3802" fmla="*/ 2137864 w 3600000"/>
              <a:gd name="connsiteY3802" fmla="*/ 559321 h 2787466"/>
              <a:gd name="connsiteX3803" fmla="*/ 2133927 w 3600000"/>
              <a:gd name="connsiteY3803" fmla="*/ 549312 h 2787466"/>
              <a:gd name="connsiteX3804" fmla="*/ 1350628 w 3600000"/>
              <a:gd name="connsiteY3804" fmla="*/ 549305 h 2787466"/>
              <a:gd name="connsiteX3805" fmla="*/ 1361003 w 3600000"/>
              <a:gd name="connsiteY3805" fmla="*/ 550237 h 2787466"/>
              <a:gd name="connsiteX3806" fmla="*/ 1341498 w 3600000"/>
              <a:gd name="connsiteY3806" fmla="*/ 557230 h 2787466"/>
              <a:gd name="connsiteX3807" fmla="*/ 1350628 w 3600000"/>
              <a:gd name="connsiteY3807" fmla="*/ 549305 h 2787466"/>
              <a:gd name="connsiteX3808" fmla="*/ 2151083 w 3600000"/>
              <a:gd name="connsiteY3808" fmla="*/ 549066 h 2787466"/>
              <a:gd name="connsiteX3809" fmla="*/ 2148131 w 3600000"/>
              <a:gd name="connsiteY3809" fmla="*/ 552742 h 2787466"/>
              <a:gd name="connsiteX3810" fmla="*/ 2151083 w 3600000"/>
              <a:gd name="connsiteY3810" fmla="*/ 549066 h 2787466"/>
              <a:gd name="connsiteX3811" fmla="*/ 2145632 w 3600000"/>
              <a:gd name="connsiteY3811" fmla="*/ 548373 h 2787466"/>
              <a:gd name="connsiteX3812" fmla="*/ 2144041 w 3600000"/>
              <a:gd name="connsiteY3812" fmla="*/ 554452 h 2787466"/>
              <a:gd name="connsiteX3813" fmla="*/ 2145632 w 3600000"/>
              <a:gd name="connsiteY3813" fmla="*/ 548373 h 2787466"/>
              <a:gd name="connsiteX3814" fmla="*/ 1080417 w 3600000"/>
              <a:gd name="connsiteY3814" fmla="*/ 546763 h 2787466"/>
              <a:gd name="connsiteX3815" fmla="*/ 1092032 w 3600000"/>
              <a:gd name="connsiteY3815" fmla="*/ 548774 h 2787466"/>
              <a:gd name="connsiteX3816" fmla="*/ 1054075 w 3600000"/>
              <a:gd name="connsiteY3816" fmla="*/ 560530 h 2787466"/>
              <a:gd name="connsiteX3817" fmla="*/ 1065897 w 3600000"/>
              <a:gd name="connsiteY3817" fmla="*/ 552641 h 2787466"/>
              <a:gd name="connsiteX3818" fmla="*/ 1080417 w 3600000"/>
              <a:gd name="connsiteY3818" fmla="*/ 546763 h 2787466"/>
              <a:gd name="connsiteX3819" fmla="*/ 2403691 w 3600000"/>
              <a:gd name="connsiteY3819" fmla="*/ 545488 h 2787466"/>
              <a:gd name="connsiteX3820" fmla="*/ 2399775 w 3600000"/>
              <a:gd name="connsiteY3820" fmla="*/ 549418 h 2787466"/>
              <a:gd name="connsiteX3821" fmla="*/ 2403691 w 3600000"/>
              <a:gd name="connsiteY3821" fmla="*/ 545488 h 2787466"/>
              <a:gd name="connsiteX3822" fmla="*/ 3035713 w 3600000"/>
              <a:gd name="connsiteY3822" fmla="*/ 544906 h 2787466"/>
              <a:gd name="connsiteX3823" fmla="*/ 3014107 w 3600000"/>
              <a:gd name="connsiteY3823" fmla="*/ 577334 h 2787466"/>
              <a:gd name="connsiteX3824" fmla="*/ 3035713 w 3600000"/>
              <a:gd name="connsiteY3824" fmla="*/ 544906 h 2787466"/>
              <a:gd name="connsiteX3825" fmla="*/ 2158318 w 3600000"/>
              <a:gd name="connsiteY3825" fmla="*/ 544816 h 2787466"/>
              <a:gd name="connsiteX3826" fmla="*/ 2162209 w 3600000"/>
              <a:gd name="connsiteY3826" fmla="*/ 545734 h 2787466"/>
              <a:gd name="connsiteX3827" fmla="*/ 2162209 w 3600000"/>
              <a:gd name="connsiteY3827" fmla="*/ 550632 h 2787466"/>
              <a:gd name="connsiteX3828" fmla="*/ 2159547 w 3600000"/>
              <a:gd name="connsiteY3828" fmla="*/ 549561 h 2787466"/>
              <a:gd name="connsiteX3829" fmla="*/ 2159547 w 3600000"/>
              <a:gd name="connsiteY3829" fmla="*/ 547725 h 2787466"/>
              <a:gd name="connsiteX3830" fmla="*/ 2158318 w 3600000"/>
              <a:gd name="connsiteY3830" fmla="*/ 544816 h 2787466"/>
              <a:gd name="connsiteX3831" fmla="*/ 2166097 w 3600000"/>
              <a:gd name="connsiteY3831" fmla="*/ 542532 h 2787466"/>
              <a:gd name="connsiteX3832" fmla="*/ 2171085 w 3600000"/>
              <a:gd name="connsiteY3832" fmla="*/ 543399 h 2787466"/>
              <a:gd name="connsiteX3833" fmla="*/ 2172467 w 3600000"/>
              <a:gd name="connsiteY3833" fmla="*/ 548222 h 2787466"/>
              <a:gd name="connsiteX3834" fmla="*/ 2164961 w 3600000"/>
              <a:gd name="connsiteY3834" fmla="*/ 548222 h 2787466"/>
              <a:gd name="connsiteX3835" fmla="*/ 2166097 w 3600000"/>
              <a:gd name="connsiteY3835" fmla="*/ 542532 h 2787466"/>
              <a:gd name="connsiteX3836" fmla="*/ 1122929 w 3600000"/>
              <a:gd name="connsiteY3836" fmla="*/ 541440 h 2787466"/>
              <a:gd name="connsiteX3837" fmla="*/ 1102235 w 3600000"/>
              <a:gd name="connsiteY3837" fmla="*/ 547519 h 2787466"/>
              <a:gd name="connsiteX3838" fmla="*/ 1122929 w 3600000"/>
              <a:gd name="connsiteY3838" fmla="*/ 541440 h 2787466"/>
              <a:gd name="connsiteX3839" fmla="*/ 2946841 w 3600000"/>
              <a:gd name="connsiteY3839" fmla="*/ 540942 h 2787466"/>
              <a:gd name="connsiteX3840" fmla="*/ 2941222 w 3600000"/>
              <a:gd name="connsiteY3840" fmla="*/ 543251 h 2787466"/>
              <a:gd name="connsiteX3841" fmla="*/ 2933391 w 3600000"/>
              <a:gd name="connsiteY3841" fmla="*/ 546238 h 2787466"/>
              <a:gd name="connsiteX3842" fmla="*/ 2934627 w 3600000"/>
              <a:gd name="connsiteY3842" fmla="*/ 549225 h 2787466"/>
              <a:gd name="connsiteX3843" fmla="*/ 2930815 w 3600000"/>
              <a:gd name="connsiteY3843" fmla="*/ 547732 h 2787466"/>
              <a:gd name="connsiteX3844" fmla="*/ 2929221 w 3600000"/>
              <a:gd name="connsiteY3844" fmla="*/ 547107 h 2787466"/>
              <a:gd name="connsiteX3845" fmla="*/ 2929047 w 3600000"/>
              <a:gd name="connsiteY3845" fmla="*/ 548580 h 2787466"/>
              <a:gd name="connsiteX3846" fmla="*/ 2927302 w 3600000"/>
              <a:gd name="connsiteY3846" fmla="*/ 550224 h 2787466"/>
              <a:gd name="connsiteX3847" fmla="*/ 2933391 w 3600000"/>
              <a:gd name="connsiteY3847" fmla="*/ 550169 h 2787466"/>
              <a:gd name="connsiteX3848" fmla="*/ 2942458 w 3600000"/>
              <a:gd name="connsiteY3848" fmla="*/ 557244 h 2787466"/>
              <a:gd name="connsiteX3849" fmla="*/ 2940037 w 3600000"/>
              <a:gd name="connsiteY3849" fmla="*/ 553589 h 2787466"/>
              <a:gd name="connsiteX3850" fmla="*/ 2938746 w 3600000"/>
              <a:gd name="connsiteY3850" fmla="*/ 552310 h 2787466"/>
              <a:gd name="connsiteX3851" fmla="*/ 2937859 w 3600000"/>
              <a:gd name="connsiteY3851" fmla="*/ 552083 h 2787466"/>
              <a:gd name="connsiteX3852" fmla="*/ 2937936 w 3600000"/>
              <a:gd name="connsiteY3852" fmla="*/ 551507 h 2787466"/>
              <a:gd name="connsiteX3853" fmla="*/ 2937879 w 3600000"/>
              <a:gd name="connsiteY3853" fmla="*/ 551451 h 2787466"/>
              <a:gd name="connsiteX3854" fmla="*/ 2937995 w 3600000"/>
              <a:gd name="connsiteY3854" fmla="*/ 551065 h 2787466"/>
              <a:gd name="connsiteX3855" fmla="*/ 2938156 w 3600000"/>
              <a:gd name="connsiteY3855" fmla="*/ 549854 h 2787466"/>
              <a:gd name="connsiteX3856" fmla="*/ 2937650 w 3600000"/>
              <a:gd name="connsiteY3856" fmla="*/ 545913 h 2787466"/>
              <a:gd name="connsiteX3857" fmla="*/ 2941097 w 3600000"/>
              <a:gd name="connsiteY3857" fmla="*/ 545157 h 2787466"/>
              <a:gd name="connsiteX3858" fmla="*/ 2943598 w 3600000"/>
              <a:gd name="connsiteY3858" fmla="*/ 548202 h 2787466"/>
              <a:gd name="connsiteX3859" fmla="*/ 2943121 w 3600000"/>
              <a:gd name="connsiteY3859" fmla="*/ 549421 h 2787466"/>
              <a:gd name="connsiteX3860" fmla="*/ 2944956 w 3600000"/>
              <a:gd name="connsiteY3860" fmla="*/ 548341 h 2787466"/>
              <a:gd name="connsiteX3861" fmla="*/ 2950288 w 3600000"/>
              <a:gd name="connsiteY3861" fmla="*/ 548282 h 2787466"/>
              <a:gd name="connsiteX3862" fmla="*/ 2946841 w 3600000"/>
              <a:gd name="connsiteY3862" fmla="*/ 540942 h 2787466"/>
              <a:gd name="connsiteX3863" fmla="*/ 3196086 w 3600000"/>
              <a:gd name="connsiteY3863" fmla="*/ 540053 h 2787466"/>
              <a:gd name="connsiteX3864" fmla="*/ 3202901 w 3600000"/>
              <a:gd name="connsiteY3864" fmla="*/ 549902 h 2787466"/>
              <a:gd name="connsiteX3865" fmla="*/ 3196086 w 3600000"/>
              <a:gd name="connsiteY3865" fmla="*/ 540053 h 2787466"/>
              <a:gd name="connsiteX3866" fmla="*/ 1246093 w 3600000"/>
              <a:gd name="connsiteY3866" fmla="*/ 539599 h 2787466"/>
              <a:gd name="connsiteX3867" fmla="*/ 1252559 w 3600000"/>
              <a:gd name="connsiteY3867" fmla="*/ 539986 h 2787466"/>
              <a:gd name="connsiteX3868" fmla="*/ 1243597 w 3600000"/>
              <a:gd name="connsiteY3868" fmla="*/ 546797 h 2787466"/>
              <a:gd name="connsiteX3869" fmla="*/ 1248690 w 3600000"/>
              <a:gd name="connsiteY3869" fmla="*/ 545869 h 2787466"/>
              <a:gd name="connsiteX3870" fmla="*/ 1243597 w 3600000"/>
              <a:gd name="connsiteY3870" fmla="*/ 542927 h 2787466"/>
              <a:gd name="connsiteX3871" fmla="*/ 1246093 w 3600000"/>
              <a:gd name="connsiteY3871" fmla="*/ 539599 h 2787466"/>
              <a:gd name="connsiteX3872" fmla="*/ 3067322 w 3600000"/>
              <a:gd name="connsiteY3872" fmla="*/ 537974 h 2787466"/>
              <a:gd name="connsiteX3873" fmla="*/ 3059542 w 3600000"/>
              <a:gd name="connsiteY3873" fmla="*/ 547092 h 2787466"/>
              <a:gd name="connsiteX3874" fmla="*/ 3067322 w 3600000"/>
              <a:gd name="connsiteY3874" fmla="*/ 537974 h 2787466"/>
              <a:gd name="connsiteX3875" fmla="*/ 1505485 w 3600000"/>
              <a:gd name="connsiteY3875" fmla="*/ 537974 h 2787466"/>
              <a:gd name="connsiteX3876" fmla="*/ 1472978 w 3600000"/>
              <a:gd name="connsiteY3876" fmla="*/ 544053 h 2787466"/>
              <a:gd name="connsiteX3877" fmla="*/ 1505485 w 3600000"/>
              <a:gd name="connsiteY3877" fmla="*/ 537974 h 2787466"/>
              <a:gd name="connsiteX3878" fmla="*/ 1139535 w 3600000"/>
              <a:gd name="connsiteY3878" fmla="*/ 537538 h 2787466"/>
              <a:gd name="connsiteX3879" fmla="*/ 1136830 w 3600000"/>
              <a:gd name="connsiteY3879" fmla="*/ 545620 h 2787466"/>
              <a:gd name="connsiteX3880" fmla="*/ 1127677 w 3600000"/>
              <a:gd name="connsiteY3880" fmla="*/ 542608 h 2787466"/>
              <a:gd name="connsiteX3881" fmla="*/ 1139535 w 3600000"/>
              <a:gd name="connsiteY3881" fmla="*/ 537538 h 2787466"/>
              <a:gd name="connsiteX3882" fmla="*/ 1278570 w 3600000"/>
              <a:gd name="connsiteY3882" fmla="*/ 535940 h 2787466"/>
              <a:gd name="connsiteX3883" fmla="*/ 1283764 w 3600000"/>
              <a:gd name="connsiteY3883" fmla="*/ 536125 h 2787466"/>
              <a:gd name="connsiteX3884" fmla="*/ 1257620 w 3600000"/>
              <a:gd name="connsiteY3884" fmla="*/ 540901 h 2787466"/>
              <a:gd name="connsiteX3885" fmla="*/ 1278570 w 3600000"/>
              <a:gd name="connsiteY3885" fmla="*/ 535940 h 2787466"/>
              <a:gd name="connsiteX3886" fmla="*/ 2816392 w 3600000"/>
              <a:gd name="connsiteY3886" fmla="*/ 534507 h 2787466"/>
              <a:gd name="connsiteX3887" fmla="*/ 2815143 w 3600000"/>
              <a:gd name="connsiteY3887" fmla="*/ 548420 h 2787466"/>
              <a:gd name="connsiteX3888" fmla="*/ 2800566 w 3600000"/>
              <a:gd name="connsiteY3888" fmla="*/ 545450 h 2787466"/>
              <a:gd name="connsiteX3889" fmla="*/ 2816392 w 3600000"/>
              <a:gd name="connsiteY3889" fmla="*/ 534507 h 2787466"/>
              <a:gd name="connsiteX3890" fmla="*/ 3102820 w 3600000"/>
              <a:gd name="connsiteY3890" fmla="*/ 533351 h 2787466"/>
              <a:gd name="connsiteX3891" fmla="*/ 3112040 w 3600000"/>
              <a:gd name="connsiteY3891" fmla="*/ 535407 h 2787466"/>
              <a:gd name="connsiteX3892" fmla="*/ 3102820 w 3600000"/>
              <a:gd name="connsiteY3892" fmla="*/ 543313 h 2787466"/>
              <a:gd name="connsiteX3893" fmla="*/ 3112040 w 3600000"/>
              <a:gd name="connsiteY3893" fmla="*/ 553274 h 2787466"/>
              <a:gd name="connsiteX3894" fmla="*/ 3102820 w 3600000"/>
              <a:gd name="connsiteY3894" fmla="*/ 558333 h 2787466"/>
              <a:gd name="connsiteX3895" fmla="*/ 3106712 w 3600000"/>
              <a:gd name="connsiteY3895" fmla="*/ 566239 h 2787466"/>
              <a:gd name="connsiteX3896" fmla="*/ 3091346 w 3600000"/>
              <a:gd name="connsiteY3896" fmla="*/ 561338 h 2787466"/>
              <a:gd name="connsiteX3897" fmla="*/ 3102820 w 3600000"/>
              <a:gd name="connsiteY3897" fmla="*/ 535407 h 2787466"/>
              <a:gd name="connsiteX3898" fmla="*/ 3102820 w 3600000"/>
              <a:gd name="connsiteY3898" fmla="*/ 533351 h 2787466"/>
              <a:gd name="connsiteX3899" fmla="*/ 3219821 w 3600000"/>
              <a:gd name="connsiteY3899" fmla="*/ 533346 h 2787466"/>
              <a:gd name="connsiteX3900" fmla="*/ 3213073 w 3600000"/>
              <a:gd name="connsiteY3900" fmla="*/ 543762 h 2787466"/>
              <a:gd name="connsiteX3901" fmla="*/ 3215638 w 3600000"/>
              <a:gd name="connsiteY3901" fmla="*/ 555963 h 2787466"/>
              <a:gd name="connsiteX3902" fmla="*/ 3216435 w 3600000"/>
              <a:gd name="connsiteY3902" fmla="*/ 555431 h 2787466"/>
              <a:gd name="connsiteX3903" fmla="*/ 3219410 w 3600000"/>
              <a:gd name="connsiteY3903" fmla="*/ 545236 h 2787466"/>
              <a:gd name="connsiteX3904" fmla="*/ 3219434 w 3600000"/>
              <a:gd name="connsiteY3904" fmla="*/ 544537 h 2787466"/>
              <a:gd name="connsiteX3905" fmla="*/ 3219333 w 3600000"/>
              <a:gd name="connsiteY3905" fmla="*/ 540813 h 2787466"/>
              <a:gd name="connsiteX3906" fmla="*/ 3219589 w 3600000"/>
              <a:gd name="connsiteY3906" fmla="*/ 540073 h 2787466"/>
              <a:gd name="connsiteX3907" fmla="*/ 2407106 w 3600000"/>
              <a:gd name="connsiteY3907" fmla="*/ 533044 h 2787466"/>
              <a:gd name="connsiteX3908" fmla="*/ 2414845 w 3600000"/>
              <a:gd name="connsiteY3908" fmla="*/ 533044 h 2787466"/>
              <a:gd name="connsiteX3909" fmla="*/ 2407106 w 3600000"/>
              <a:gd name="connsiteY3909" fmla="*/ 533044 h 2787466"/>
              <a:gd name="connsiteX3910" fmla="*/ 2392318 w 3600000"/>
              <a:gd name="connsiteY3910" fmla="*/ 532965 h 2787466"/>
              <a:gd name="connsiteX3911" fmla="*/ 2400541 w 3600000"/>
              <a:gd name="connsiteY3911" fmla="*/ 536804 h 2787466"/>
              <a:gd name="connsiteX3912" fmla="*/ 2392802 w 3600000"/>
              <a:gd name="connsiteY3912" fmla="*/ 536804 h 2787466"/>
              <a:gd name="connsiteX3913" fmla="*/ 2392318 w 3600000"/>
              <a:gd name="connsiteY3913" fmla="*/ 532965 h 2787466"/>
              <a:gd name="connsiteX3914" fmla="*/ 2712524 w 3600000"/>
              <a:gd name="connsiteY3914" fmla="*/ 532960 h 2787466"/>
              <a:gd name="connsiteX3915" fmla="*/ 2711889 w 3600000"/>
              <a:gd name="connsiteY3915" fmla="*/ 535010 h 2787466"/>
              <a:gd name="connsiteX3916" fmla="*/ 2710004 w 3600000"/>
              <a:gd name="connsiteY3916" fmla="*/ 537104 h 2787466"/>
              <a:gd name="connsiteX3917" fmla="*/ 2711764 w 3600000"/>
              <a:gd name="connsiteY3917" fmla="*/ 537429 h 2787466"/>
              <a:gd name="connsiteX3918" fmla="*/ 2719491 w 3600000"/>
              <a:gd name="connsiteY3918" fmla="*/ 541111 h 2787466"/>
              <a:gd name="connsiteX3919" fmla="*/ 2701519 w 3600000"/>
              <a:gd name="connsiteY3919" fmla="*/ 539250 h 2787466"/>
              <a:gd name="connsiteX3920" fmla="*/ 2705056 w 3600000"/>
              <a:gd name="connsiteY3920" fmla="*/ 536499 h 2787466"/>
              <a:gd name="connsiteX3921" fmla="*/ 2704246 w 3600000"/>
              <a:gd name="connsiteY3921" fmla="*/ 535320 h 2787466"/>
              <a:gd name="connsiteX3922" fmla="*/ 2710874 w 3600000"/>
              <a:gd name="connsiteY3922" fmla="*/ 533299 h 2787466"/>
              <a:gd name="connsiteX3923" fmla="*/ 2712524 w 3600000"/>
              <a:gd name="connsiteY3923" fmla="*/ 532960 h 2787466"/>
              <a:gd name="connsiteX3924" fmla="*/ 3024247 w 3600000"/>
              <a:gd name="connsiteY3924" fmla="*/ 532932 h 2787466"/>
              <a:gd name="connsiteX3925" fmla="*/ 3026624 w 3600000"/>
              <a:gd name="connsiteY3925" fmla="*/ 533318 h 2787466"/>
              <a:gd name="connsiteX3926" fmla="*/ 3017613 w 3600000"/>
              <a:gd name="connsiteY3926" fmla="*/ 546137 h 2787466"/>
              <a:gd name="connsiteX3927" fmla="*/ 3016386 w 3600000"/>
              <a:gd name="connsiteY3927" fmla="*/ 535350 h 2787466"/>
              <a:gd name="connsiteX3928" fmla="*/ 3024247 w 3600000"/>
              <a:gd name="connsiteY3928" fmla="*/ 532932 h 2787466"/>
              <a:gd name="connsiteX3929" fmla="*/ 3279509 w 3600000"/>
              <a:gd name="connsiteY3929" fmla="*/ 531041 h 2787466"/>
              <a:gd name="connsiteX3930" fmla="*/ 3279509 w 3600000"/>
              <a:gd name="connsiteY3930" fmla="*/ 546134 h 2787466"/>
              <a:gd name="connsiteX3931" fmla="*/ 3274309 w 3600000"/>
              <a:gd name="connsiteY3931" fmla="*/ 539144 h 2787466"/>
              <a:gd name="connsiteX3932" fmla="*/ 3270356 w 3600000"/>
              <a:gd name="connsiteY3932" fmla="*/ 540096 h 2787466"/>
              <a:gd name="connsiteX3933" fmla="*/ 3279509 w 3600000"/>
              <a:gd name="connsiteY3933" fmla="*/ 531041 h 2787466"/>
              <a:gd name="connsiteX3934" fmla="*/ 1487043 w 3600000"/>
              <a:gd name="connsiteY3934" fmla="*/ 529655 h 2787466"/>
              <a:gd name="connsiteX3935" fmla="*/ 1490946 w 3600000"/>
              <a:gd name="connsiteY3935" fmla="*/ 536719 h 2787466"/>
              <a:gd name="connsiteX3936" fmla="*/ 1470197 w 3600000"/>
              <a:gd name="connsiteY3936" fmla="*/ 534631 h 2787466"/>
              <a:gd name="connsiteX3937" fmla="*/ 1487043 w 3600000"/>
              <a:gd name="connsiteY3937" fmla="*/ 529655 h 2787466"/>
              <a:gd name="connsiteX3938" fmla="*/ 1820153 w 3600000"/>
              <a:gd name="connsiteY3938" fmla="*/ 527514 h 2787466"/>
              <a:gd name="connsiteX3939" fmla="*/ 1808325 w 3600000"/>
              <a:gd name="connsiteY3939" fmla="*/ 534352 h 2787466"/>
              <a:gd name="connsiteX3940" fmla="*/ 1820153 w 3600000"/>
              <a:gd name="connsiteY3940" fmla="*/ 527514 h 2787466"/>
              <a:gd name="connsiteX3941" fmla="*/ 1769917 w 3600000"/>
              <a:gd name="connsiteY3941" fmla="*/ 527112 h 2787466"/>
              <a:gd name="connsiteX3942" fmla="*/ 1768714 w 3600000"/>
              <a:gd name="connsiteY3942" fmla="*/ 532967 h 2787466"/>
              <a:gd name="connsiteX3943" fmla="*/ 1754670 w 3600000"/>
              <a:gd name="connsiteY3943" fmla="*/ 530964 h 2787466"/>
              <a:gd name="connsiteX3944" fmla="*/ 1769917 w 3600000"/>
              <a:gd name="connsiteY3944" fmla="*/ 527112 h 2787466"/>
              <a:gd name="connsiteX3945" fmla="*/ 2654704 w 3600000"/>
              <a:gd name="connsiteY3945" fmla="*/ 526188 h 2787466"/>
              <a:gd name="connsiteX3946" fmla="*/ 2649432 w 3600000"/>
              <a:gd name="connsiteY3946" fmla="*/ 546134 h 2787466"/>
              <a:gd name="connsiteX3947" fmla="*/ 2654704 w 3600000"/>
              <a:gd name="connsiteY3947" fmla="*/ 526188 h 2787466"/>
              <a:gd name="connsiteX3948" fmla="*/ 3467281 w 3600000"/>
              <a:gd name="connsiteY3948" fmla="*/ 523415 h 2787466"/>
              <a:gd name="connsiteX3949" fmla="*/ 3467281 w 3600000"/>
              <a:gd name="connsiteY3949" fmla="*/ 527241 h 2787466"/>
              <a:gd name="connsiteX3950" fmla="*/ 3473701 w 3600000"/>
              <a:gd name="connsiteY3950" fmla="*/ 530149 h 2787466"/>
              <a:gd name="connsiteX3951" fmla="*/ 3462266 w 3600000"/>
              <a:gd name="connsiteY3951" fmla="*/ 535048 h 2787466"/>
              <a:gd name="connsiteX3952" fmla="*/ 3467281 w 3600000"/>
              <a:gd name="connsiteY3952" fmla="*/ 523415 h 2787466"/>
              <a:gd name="connsiteX3953" fmla="*/ 3339752 w 3600000"/>
              <a:gd name="connsiteY3953" fmla="*/ 522340 h 2787466"/>
              <a:gd name="connsiteX3954" fmla="*/ 3334395 w 3600000"/>
              <a:gd name="connsiteY3954" fmla="*/ 532402 h 2787466"/>
              <a:gd name="connsiteX3955" fmla="*/ 3339752 w 3600000"/>
              <a:gd name="connsiteY3955" fmla="*/ 522340 h 2787466"/>
              <a:gd name="connsiteX3956" fmla="*/ 3111109 w 3600000"/>
              <a:gd name="connsiteY3956" fmla="*/ 521833 h 2787466"/>
              <a:gd name="connsiteX3957" fmla="*/ 3112289 w 3600000"/>
              <a:gd name="connsiteY3957" fmla="*/ 522388 h 2787466"/>
              <a:gd name="connsiteX3958" fmla="*/ 3112289 w 3600000"/>
              <a:gd name="connsiteY3958" fmla="*/ 530194 h 2787466"/>
              <a:gd name="connsiteX3959" fmla="*/ 3100432 w 3600000"/>
              <a:gd name="connsiteY3959" fmla="*/ 528205 h 2787466"/>
              <a:gd name="connsiteX3960" fmla="*/ 3111109 w 3600000"/>
              <a:gd name="connsiteY3960" fmla="*/ 521833 h 2787466"/>
              <a:gd name="connsiteX3961" fmla="*/ 1132923 w 3600000"/>
              <a:gd name="connsiteY3961" fmla="*/ 521574 h 2787466"/>
              <a:gd name="connsiteX3962" fmla="*/ 1110721 w 3600000"/>
              <a:gd name="connsiteY3962" fmla="*/ 529499 h 2787466"/>
              <a:gd name="connsiteX3963" fmla="*/ 1132923 w 3600000"/>
              <a:gd name="connsiteY3963" fmla="*/ 521574 h 2787466"/>
              <a:gd name="connsiteX3964" fmla="*/ 3540938 w 3600000"/>
              <a:gd name="connsiteY3964" fmla="*/ 520642 h 2787466"/>
              <a:gd name="connsiteX3965" fmla="*/ 3540938 w 3600000"/>
              <a:gd name="connsiteY3965" fmla="*/ 530651 h 2787466"/>
              <a:gd name="connsiteX3966" fmla="*/ 3531899 w 3600000"/>
              <a:gd name="connsiteY3966" fmla="*/ 529698 h 2787466"/>
              <a:gd name="connsiteX3967" fmla="*/ 3531899 w 3600000"/>
              <a:gd name="connsiteY3967" fmla="*/ 535735 h 2787466"/>
              <a:gd name="connsiteX3968" fmla="*/ 3540938 w 3600000"/>
              <a:gd name="connsiteY3968" fmla="*/ 520642 h 2787466"/>
              <a:gd name="connsiteX3969" fmla="*/ 3071960 w 3600000"/>
              <a:gd name="connsiteY3969" fmla="*/ 520642 h 2787466"/>
              <a:gd name="connsiteX3970" fmla="*/ 3071960 w 3600000"/>
              <a:gd name="connsiteY3970" fmla="*/ 535735 h 2787466"/>
              <a:gd name="connsiteX3971" fmla="*/ 3071960 w 3600000"/>
              <a:gd name="connsiteY3971" fmla="*/ 520642 h 2787466"/>
              <a:gd name="connsiteX3972" fmla="*/ 2727174 w 3600000"/>
              <a:gd name="connsiteY3972" fmla="*/ 520516 h 2787466"/>
              <a:gd name="connsiteX3973" fmla="*/ 2721242 w 3600000"/>
              <a:gd name="connsiteY3973" fmla="*/ 539204 h 2787466"/>
              <a:gd name="connsiteX3974" fmla="*/ 2713317 w 3600000"/>
              <a:gd name="connsiteY3974" fmla="*/ 530308 h 2787466"/>
              <a:gd name="connsiteX3975" fmla="*/ 2724615 w 3600000"/>
              <a:gd name="connsiteY3975" fmla="*/ 520855 h 2787466"/>
              <a:gd name="connsiteX3976" fmla="*/ 2727174 w 3600000"/>
              <a:gd name="connsiteY3976" fmla="*/ 520516 h 2787466"/>
              <a:gd name="connsiteX3977" fmla="*/ 3496968 w 3600000"/>
              <a:gd name="connsiteY3977" fmla="*/ 519255 h 2787466"/>
              <a:gd name="connsiteX3978" fmla="*/ 3506405 w 3600000"/>
              <a:gd name="connsiteY3978" fmla="*/ 555842 h 2787466"/>
              <a:gd name="connsiteX3979" fmla="*/ 3496968 w 3600000"/>
              <a:gd name="connsiteY3979" fmla="*/ 519255 h 2787466"/>
              <a:gd name="connsiteX3980" fmla="*/ 1879409 w 3600000"/>
              <a:gd name="connsiteY3980" fmla="*/ 515754 h 2787466"/>
              <a:gd name="connsiteX3981" fmla="*/ 1886223 w 3600000"/>
              <a:gd name="connsiteY3981" fmla="*/ 517056 h 2787466"/>
              <a:gd name="connsiteX3982" fmla="*/ 1874617 w 3600000"/>
              <a:gd name="connsiteY3982" fmla="*/ 515968 h 2787466"/>
              <a:gd name="connsiteX3983" fmla="*/ 1879409 w 3600000"/>
              <a:gd name="connsiteY3983" fmla="*/ 515754 h 2787466"/>
              <a:gd name="connsiteX3984" fmla="*/ 1938013 w 3600000"/>
              <a:gd name="connsiteY3984" fmla="*/ 514389 h 2787466"/>
              <a:gd name="connsiteX3985" fmla="*/ 1945281 w 3600000"/>
              <a:gd name="connsiteY3985" fmla="*/ 517709 h 2787466"/>
              <a:gd name="connsiteX3986" fmla="*/ 1931864 w 3600000"/>
              <a:gd name="connsiteY3986" fmla="*/ 515629 h 2787466"/>
              <a:gd name="connsiteX3987" fmla="*/ 1938013 w 3600000"/>
              <a:gd name="connsiteY3987" fmla="*/ 514389 h 2787466"/>
              <a:gd name="connsiteX3988" fmla="*/ 3112160 w 3600000"/>
              <a:gd name="connsiteY3988" fmla="*/ 510243 h 2787466"/>
              <a:gd name="connsiteX3989" fmla="*/ 3117484 w 3600000"/>
              <a:gd name="connsiteY3989" fmla="*/ 515242 h 2787466"/>
              <a:gd name="connsiteX3990" fmla="*/ 3104067 w 3600000"/>
              <a:gd name="connsiteY3990" fmla="*/ 517273 h 2787466"/>
              <a:gd name="connsiteX3991" fmla="*/ 3112160 w 3600000"/>
              <a:gd name="connsiteY3991" fmla="*/ 510243 h 2787466"/>
              <a:gd name="connsiteX3992" fmla="*/ 1899883 w 3600000"/>
              <a:gd name="connsiteY3992" fmla="*/ 510108 h 2787466"/>
              <a:gd name="connsiteX3993" fmla="*/ 1904401 w 3600000"/>
              <a:gd name="connsiteY3993" fmla="*/ 511090 h 2787466"/>
              <a:gd name="connsiteX3994" fmla="*/ 1895517 w 3600000"/>
              <a:gd name="connsiteY3994" fmla="*/ 512014 h 2787466"/>
              <a:gd name="connsiteX3995" fmla="*/ 1899883 w 3600000"/>
              <a:gd name="connsiteY3995" fmla="*/ 510108 h 2787466"/>
              <a:gd name="connsiteX3996" fmla="*/ 1112971 w 3600000"/>
              <a:gd name="connsiteY3996" fmla="*/ 510039 h 2787466"/>
              <a:gd name="connsiteX3997" fmla="*/ 1121110 w 3600000"/>
              <a:gd name="connsiteY3997" fmla="*/ 514426 h 2787466"/>
              <a:gd name="connsiteX3998" fmla="*/ 1104052 w 3600000"/>
              <a:gd name="connsiteY3998" fmla="*/ 515375 h 2787466"/>
              <a:gd name="connsiteX3999" fmla="*/ 1112971 w 3600000"/>
              <a:gd name="connsiteY3999" fmla="*/ 510039 h 2787466"/>
              <a:gd name="connsiteX4000" fmla="*/ 1334650 w 3600000"/>
              <a:gd name="connsiteY4000" fmla="*/ 508394 h 2787466"/>
              <a:gd name="connsiteX4001" fmla="*/ 1317593 w 3600000"/>
              <a:gd name="connsiteY4001" fmla="*/ 514248 h 2787466"/>
              <a:gd name="connsiteX4002" fmla="*/ 1334650 w 3600000"/>
              <a:gd name="connsiteY4002" fmla="*/ 508394 h 2787466"/>
              <a:gd name="connsiteX4003" fmla="*/ 1822473 w 3600000"/>
              <a:gd name="connsiteY4003" fmla="*/ 507220 h 2787466"/>
              <a:gd name="connsiteX4004" fmla="*/ 1834425 w 3600000"/>
              <a:gd name="connsiteY4004" fmla="*/ 509171 h 2787466"/>
              <a:gd name="connsiteX4005" fmla="*/ 1821004 w 3600000"/>
              <a:gd name="connsiteY4005" fmla="*/ 512257 h 2787466"/>
              <a:gd name="connsiteX4006" fmla="*/ 1822473 w 3600000"/>
              <a:gd name="connsiteY4006" fmla="*/ 507220 h 2787466"/>
              <a:gd name="connsiteX4007" fmla="*/ 2696126 w 3600000"/>
              <a:gd name="connsiteY4007" fmla="*/ 506083 h 2787466"/>
              <a:gd name="connsiteX4008" fmla="*/ 2697331 w 3600000"/>
              <a:gd name="connsiteY4008" fmla="*/ 517019 h 2787466"/>
              <a:gd name="connsiteX4009" fmla="*/ 2696126 w 3600000"/>
              <a:gd name="connsiteY4009" fmla="*/ 506083 h 2787466"/>
              <a:gd name="connsiteX4010" fmla="*/ 1876819 w 3600000"/>
              <a:gd name="connsiteY4010" fmla="*/ 505740 h 2787466"/>
              <a:gd name="connsiteX4011" fmla="*/ 1879859 w 3600000"/>
              <a:gd name="connsiteY4011" fmla="*/ 508208 h 2787466"/>
              <a:gd name="connsiteX4012" fmla="*/ 1871891 w 3600000"/>
              <a:gd name="connsiteY4012" fmla="*/ 509127 h 2787466"/>
              <a:gd name="connsiteX4013" fmla="*/ 1876819 w 3600000"/>
              <a:gd name="connsiteY4013" fmla="*/ 505740 h 2787466"/>
              <a:gd name="connsiteX4014" fmla="*/ 3548440 w 3600000"/>
              <a:gd name="connsiteY4014" fmla="*/ 504697 h 2787466"/>
              <a:gd name="connsiteX4015" fmla="*/ 3561525 w 3600000"/>
              <a:gd name="connsiteY4015" fmla="*/ 544057 h 2787466"/>
              <a:gd name="connsiteX4016" fmla="*/ 3548440 w 3600000"/>
              <a:gd name="connsiteY4016" fmla="*/ 504697 h 2787466"/>
              <a:gd name="connsiteX4017" fmla="*/ 2729903 w 3600000"/>
              <a:gd name="connsiteY4017" fmla="*/ 504697 h 2787466"/>
              <a:gd name="connsiteX4018" fmla="*/ 2731333 w 3600000"/>
              <a:gd name="connsiteY4018" fmla="*/ 515631 h 2787466"/>
              <a:gd name="connsiteX4019" fmla="*/ 2729903 w 3600000"/>
              <a:gd name="connsiteY4019" fmla="*/ 504697 h 2787466"/>
              <a:gd name="connsiteX4020" fmla="*/ 3079887 w 3600000"/>
              <a:gd name="connsiteY4020" fmla="*/ 503310 h 2787466"/>
              <a:gd name="connsiteX4021" fmla="*/ 3072263 w 3600000"/>
              <a:gd name="connsiteY4021" fmla="*/ 512034 h 2787466"/>
              <a:gd name="connsiteX4022" fmla="*/ 3079887 w 3600000"/>
              <a:gd name="connsiteY4022" fmla="*/ 503310 h 2787466"/>
              <a:gd name="connsiteX4023" fmla="*/ 2836842 w 3600000"/>
              <a:gd name="connsiteY4023" fmla="*/ 502617 h 2787466"/>
              <a:gd name="connsiteX4024" fmla="*/ 2847292 w 3600000"/>
              <a:gd name="connsiteY4024" fmla="*/ 506546 h 2787466"/>
              <a:gd name="connsiteX4025" fmla="*/ 2846063 w 3600000"/>
              <a:gd name="connsiteY4025" fmla="*/ 514564 h 2787466"/>
              <a:gd name="connsiteX4026" fmla="*/ 2839506 w 3600000"/>
              <a:gd name="connsiteY4026" fmla="*/ 515506 h 2787466"/>
              <a:gd name="connsiteX4027" fmla="*/ 2848521 w 3600000"/>
              <a:gd name="connsiteY4027" fmla="*/ 521480 h 2787466"/>
              <a:gd name="connsiteX4028" fmla="*/ 2842170 w 3600000"/>
              <a:gd name="connsiteY4028" fmla="*/ 529497 h 2787466"/>
              <a:gd name="connsiteX4029" fmla="*/ 2827827 w 3600000"/>
              <a:gd name="connsiteY4029" fmla="*/ 518494 h 2787466"/>
              <a:gd name="connsiteX4030" fmla="*/ 2840736 w 3600000"/>
              <a:gd name="connsiteY4030" fmla="*/ 510477 h 2787466"/>
              <a:gd name="connsiteX4031" fmla="*/ 2834384 w 3600000"/>
              <a:gd name="connsiteY4031" fmla="*/ 504660 h 2787466"/>
              <a:gd name="connsiteX4032" fmla="*/ 2836842 w 3600000"/>
              <a:gd name="connsiteY4032" fmla="*/ 502617 h 2787466"/>
              <a:gd name="connsiteX4033" fmla="*/ 2672229 w 3600000"/>
              <a:gd name="connsiteY4033" fmla="*/ 502617 h 2787466"/>
              <a:gd name="connsiteX4034" fmla="*/ 2661367 w 3600000"/>
              <a:gd name="connsiteY4034" fmla="*/ 526723 h 2787466"/>
              <a:gd name="connsiteX4035" fmla="*/ 2672229 w 3600000"/>
              <a:gd name="connsiteY4035" fmla="*/ 502617 h 2787466"/>
              <a:gd name="connsiteX4036" fmla="*/ 2458398 w 3600000"/>
              <a:gd name="connsiteY4036" fmla="*/ 502192 h 2787466"/>
              <a:gd name="connsiteX4037" fmla="*/ 2465963 w 3600000"/>
              <a:gd name="connsiteY4037" fmla="*/ 503331 h 2787466"/>
              <a:gd name="connsiteX4038" fmla="*/ 2459539 w 3600000"/>
              <a:gd name="connsiteY4038" fmla="*/ 505243 h 2787466"/>
              <a:gd name="connsiteX4039" fmla="*/ 2458398 w 3600000"/>
              <a:gd name="connsiteY4039" fmla="*/ 502192 h 2787466"/>
              <a:gd name="connsiteX4040" fmla="*/ 3343667 w 3600000"/>
              <a:gd name="connsiteY4040" fmla="*/ 500486 h 2787466"/>
              <a:gd name="connsiteX4041" fmla="*/ 3344904 w 3600000"/>
              <a:gd name="connsiteY4041" fmla="*/ 510391 h 2787466"/>
              <a:gd name="connsiteX4042" fmla="*/ 3350055 w 3600000"/>
              <a:gd name="connsiteY4042" fmla="*/ 504574 h 2787466"/>
              <a:gd name="connsiteX4043" fmla="*/ 3343667 w 3600000"/>
              <a:gd name="connsiteY4043" fmla="*/ 500486 h 2787466"/>
              <a:gd name="connsiteX4044" fmla="*/ 1795250 w 3600000"/>
              <a:gd name="connsiteY4044" fmla="*/ 499459 h 2787466"/>
              <a:gd name="connsiteX4045" fmla="*/ 1804435 w 3600000"/>
              <a:gd name="connsiteY4045" fmla="*/ 499723 h 2787466"/>
              <a:gd name="connsiteX4046" fmla="*/ 1799111 w 3600000"/>
              <a:gd name="connsiteY4046" fmla="*/ 500628 h 2787466"/>
              <a:gd name="connsiteX4047" fmla="*/ 1799111 w 3600000"/>
              <a:gd name="connsiteY4047" fmla="*/ 502587 h 2787466"/>
              <a:gd name="connsiteX4048" fmla="*/ 1791018 w 3600000"/>
              <a:gd name="connsiteY4048" fmla="*/ 503491 h 2787466"/>
              <a:gd name="connsiteX4049" fmla="*/ 1795250 w 3600000"/>
              <a:gd name="connsiteY4049" fmla="*/ 499459 h 2787466"/>
              <a:gd name="connsiteX4050" fmla="*/ 1868605 w 3600000"/>
              <a:gd name="connsiteY4050" fmla="*/ 499150 h 2787466"/>
              <a:gd name="connsiteX4051" fmla="*/ 1872590 w 3600000"/>
              <a:gd name="connsiteY4051" fmla="*/ 501154 h 2787466"/>
              <a:gd name="connsiteX4052" fmla="*/ 1871331 w 3600000"/>
              <a:gd name="connsiteY4052" fmla="*/ 505929 h 2787466"/>
              <a:gd name="connsiteX4053" fmla="*/ 1868605 w 3600000"/>
              <a:gd name="connsiteY4053" fmla="*/ 499150 h 2787466"/>
              <a:gd name="connsiteX4054" fmla="*/ 1383454 w 3600000"/>
              <a:gd name="connsiteY4054" fmla="*/ 499150 h 2787466"/>
              <a:gd name="connsiteX4055" fmla="*/ 1387356 w 3600000"/>
              <a:gd name="connsiteY4055" fmla="*/ 502103 h 2787466"/>
              <a:gd name="connsiteX4056" fmla="*/ 1357575 w 3600000"/>
              <a:gd name="connsiteY4056" fmla="*/ 504123 h 2787466"/>
              <a:gd name="connsiteX4057" fmla="*/ 1383454 w 3600000"/>
              <a:gd name="connsiteY4057" fmla="*/ 499150 h 2787466"/>
              <a:gd name="connsiteX4058" fmla="*/ 1626736 w 3600000"/>
              <a:gd name="connsiteY4058" fmla="*/ 495768 h 2787466"/>
              <a:gd name="connsiteX4059" fmla="*/ 1620381 w 3600000"/>
              <a:gd name="connsiteY4059" fmla="*/ 498785 h 2787466"/>
              <a:gd name="connsiteX4060" fmla="*/ 1636024 w 3600000"/>
              <a:gd name="connsiteY4060" fmla="*/ 495808 h 2787466"/>
              <a:gd name="connsiteX4061" fmla="*/ 1626736 w 3600000"/>
              <a:gd name="connsiteY4061" fmla="*/ 495768 h 2787466"/>
              <a:gd name="connsiteX4062" fmla="*/ 1681673 w 3600000"/>
              <a:gd name="connsiteY4062" fmla="*/ 495684 h 2787466"/>
              <a:gd name="connsiteX4063" fmla="*/ 1686923 w 3600000"/>
              <a:gd name="connsiteY4063" fmla="*/ 495684 h 2787466"/>
              <a:gd name="connsiteX4064" fmla="*/ 1688135 w 3600000"/>
              <a:gd name="connsiteY4064" fmla="*/ 497549 h 2787466"/>
              <a:gd name="connsiteX4065" fmla="*/ 1670163 w 3600000"/>
              <a:gd name="connsiteY4065" fmla="*/ 504542 h 2787466"/>
              <a:gd name="connsiteX4066" fmla="*/ 1681673 w 3600000"/>
              <a:gd name="connsiteY4066" fmla="*/ 495684 h 2787466"/>
              <a:gd name="connsiteX4067" fmla="*/ 2639158 w 3600000"/>
              <a:gd name="connsiteY4067" fmla="*/ 494298 h 2787466"/>
              <a:gd name="connsiteX4068" fmla="*/ 2643104 w 3600000"/>
              <a:gd name="connsiteY4068" fmla="*/ 494298 h 2787466"/>
              <a:gd name="connsiteX4069" fmla="*/ 2647051 w 3600000"/>
              <a:gd name="connsiteY4069" fmla="*/ 496377 h 2787466"/>
              <a:gd name="connsiteX4070" fmla="*/ 2639158 w 3600000"/>
              <a:gd name="connsiteY4070" fmla="*/ 498457 h 2787466"/>
              <a:gd name="connsiteX4071" fmla="*/ 2639158 w 3600000"/>
              <a:gd name="connsiteY4071" fmla="*/ 494298 h 2787466"/>
              <a:gd name="connsiteX4072" fmla="*/ 1477017 w 3600000"/>
              <a:gd name="connsiteY4072" fmla="*/ 494298 h 2787466"/>
              <a:gd name="connsiteX4073" fmla="*/ 1478228 w 3600000"/>
              <a:gd name="connsiteY4073" fmla="*/ 501185 h 2787466"/>
              <a:gd name="connsiteX4074" fmla="*/ 1469343 w 3600000"/>
              <a:gd name="connsiteY4074" fmla="*/ 500114 h 2787466"/>
              <a:gd name="connsiteX4075" fmla="*/ 1456622 w 3600000"/>
              <a:gd name="connsiteY4075" fmla="*/ 499196 h 2787466"/>
              <a:gd name="connsiteX4076" fmla="*/ 1477017 w 3600000"/>
              <a:gd name="connsiteY4076" fmla="*/ 494298 h 2787466"/>
              <a:gd name="connsiteX4077" fmla="*/ 2763077 w 3600000"/>
              <a:gd name="connsiteY4077" fmla="*/ 494168 h 2787466"/>
              <a:gd name="connsiteX4078" fmla="*/ 2772216 w 3600000"/>
              <a:gd name="connsiteY4078" fmla="*/ 502455 h 2787466"/>
              <a:gd name="connsiteX4079" fmla="*/ 2763077 w 3600000"/>
              <a:gd name="connsiteY4079" fmla="*/ 494168 h 2787466"/>
              <a:gd name="connsiteX4080" fmla="*/ 2610807 w 3600000"/>
              <a:gd name="connsiteY4080" fmla="*/ 493772 h 2787466"/>
              <a:gd name="connsiteX4081" fmla="*/ 2617196 w 3600000"/>
              <a:gd name="connsiteY4081" fmla="*/ 501789 h 2787466"/>
              <a:gd name="connsiteX4082" fmla="*/ 2615959 w 3600000"/>
              <a:gd name="connsiteY4082" fmla="*/ 494716 h 2787466"/>
              <a:gd name="connsiteX4083" fmla="*/ 2610807 w 3600000"/>
              <a:gd name="connsiteY4083" fmla="*/ 493772 h 2787466"/>
              <a:gd name="connsiteX4084" fmla="*/ 2844732 w 3600000"/>
              <a:gd name="connsiteY4084" fmla="*/ 492218 h 2787466"/>
              <a:gd name="connsiteX4085" fmla="*/ 2846157 w 3600000"/>
              <a:gd name="connsiteY4085" fmla="*/ 502455 h 2787466"/>
              <a:gd name="connsiteX4086" fmla="*/ 2844732 w 3600000"/>
              <a:gd name="connsiteY4086" fmla="*/ 492218 h 2787466"/>
              <a:gd name="connsiteX4087" fmla="*/ 3044029 w 3600000"/>
              <a:gd name="connsiteY4087" fmla="*/ 491252 h 2787466"/>
              <a:gd name="connsiteX4088" fmla="*/ 3048429 w 3600000"/>
              <a:gd name="connsiteY4088" fmla="*/ 491698 h 2787466"/>
              <a:gd name="connsiteX4089" fmla="*/ 3034098 w 3600000"/>
              <a:gd name="connsiteY4089" fmla="*/ 499452 h 2787466"/>
              <a:gd name="connsiteX4090" fmla="*/ 3044029 w 3600000"/>
              <a:gd name="connsiteY4090" fmla="*/ 491252 h 2787466"/>
              <a:gd name="connsiteX4091" fmla="*/ 3303197 w 3600000"/>
              <a:gd name="connsiteY4091" fmla="*/ 490831 h 2787466"/>
              <a:gd name="connsiteX4092" fmla="*/ 3297873 w 3600000"/>
              <a:gd name="connsiteY4092" fmla="*/ 504543 h 2787466"/>
              <a:gd name="connsiteX4093" fmla="*/ 3303197 w 3600000"/>
              <a:gd name="connsiteY4093" fmla="*/ 490831 h 2787466"/>
              <a:gd name="connsiteX4094" fmla="*/ 1679044 w 3600000"/>
              <a:gd name="connsiteY4094" fmla="*/ 483899 h 2787466"/>
              <a:gd name="connsiteX4095" fmla="*/ 1659490 w 3600000"/>
              <a:gd name="connsiteY4095" fmla="*/ 486876 h 2787466"/>
              <a:gd name="connsiteX4096" fmla="*/ 1672457 w 3600000"/>
              <a:gd name="connsiteY4096" fmla="*/ 490793 h 2787466"/>
              <a:gd name="connsiteX4097" fmla="*/ 1671222 w 3600000"/>
              <a:gd name="connsiteY4097" fmla="*/ 495808 h 2787466"/>
              <a:gd name="connsiteX4098" fmla="*/ 1638700 w 3600000"/>
              <a:gd name="connsiteY4098" fmla="*/ 495808 h 2787466"/>
              <a:gd name="connsiteX4099" fmla="*/ 1661959 w 3600000"/>
              <a:gd name="connsiteY4099" fmla="*/ 502703 h 2787466"/>
              <a:gd name="connsiteX4100" fmla="*/ 1636024 w 3600000"/>
              <a:gd name="connsiteY4100" fmla="*/ 504739 h 2787466"/>
              <a:gd name="connsiteX4101" fmla="*/ 1604737 w 3600000"/>
              <a:gd name="connsiteY4101" fmla="*/ 499725 h 2787466"/>
              <a:gd name="connsiteX4102" fmla="*/ 1591769 w 3600000"/>
              <a:gd name="connsiteY4102" fmla="*/ 503642 h 2787466"/>
              <a:gd name="connsiteX4103" fmla="*/ 1589299 w 3600000"/>
              <a:gd name="connsiteY4103" fmla="*/ 497688 h 2787466"/>
              <a:gd name="connsiteX4104" fmla="*/ 1581478 w 3600000"/>
              <a:gd name="connsiteY4104" fmla="*/ 503642 h 2787466"/>
              <a:gd name="connsiteX4105" fmla="*/ 1535988 w 3600000"/>
              <a:gd name="connsiteY4105" fmla="*/ 501762 h 2787466"/>
              <a:gd name="connsiteX4106" fmla="*/ 1581478 w 3600000"/>
              <a:gd name="connsiteY4106" fmla="*/ 493770 h 2787466"/>
              <a:gd name="connsiteX4107" fmla="*/ 1528167 w 3600000"/>
              <a:gd name="connsiteY4107" fmla="*/ 489853 h 2787466"/>
              <a:gd name="connsiteX4108" fmla="*/ 1522815 w 3600000"/>
              <a:gd name="connsiteY4108" fmla="*/ 500665 h 2787466"/>
              <a:gd name="connsiteX4109" fmla="*/ 1499555 w 3600000"/>
              <a:gd name="connsiteY4109" fmla="*/ 501762 h 2787466"/>
              <a:gd name="connsiteX4110" fmla="*/ 1517669 w 3600000"/>
              <a:gd name="connsiteY4110" fmla="*/ 495808 h 2787466"/>
              <a:gd name="connsiteX4111" fmla="*/ 1512523 w 3600000"/>
              <a:gd name="connsiteY4111" fmla="*/ 493770 h 2787466"/>
              <a:gd name="connsiteX4112" fmla="*/ 1517669 w 3600000"/>
              <a:gd name="connsiteY4112" fmla="*/ 491890 h 2787466"/>
              <a:gd name="connsiteX4113" fmla="*/ 1502026 w 3600000"/>
              <a:gd name="connsiteY4113" fmla="*/ 487816 h 2787466"/>
              <a:gd name="connsiteX4114" fmla="*/ 1594446 w 3600000"/>
              <a:gd name="connsiteY4114" fmla="*/ 485936 h 2787466"/>
              <a:gd name="connsiteX4115" fmla="*/ 1679044 w 3600000"/>
              <a:gd name="connsiteY4115" fmla="*/ 483899 h 2787466"/>
              <a:gd name="connsiteX4116" fmla="*/ 3061145 w 3600000"/>
              <a:gd name="connsiteY4116" fmla="*/ 476677 h 2787466"/>
              <a:gd name="connsiteX4117" fmla="*/ 3051775 w 3600000"/>
              <a:gd name="connsiteY4117" fmla="*/ 493448 h 2787466"/>
              <a:gd name="connsiteX4118" fmla="*/ 3061145 w 3600000"/>
              <a:gd name="connsiteY4118" fmla="*/ 476677 h 2787466"/>
              <a:gd name="connsiteX4119" fmla="*/ 2834201 w 3600000"/>
              <a:gd name="connsiteY4119" fmla="*/ 474886 h 2787466"/>
              <a:gd name="connsiteX4120" fmla="*/ 2830336 w 3600000"/>
              <a:gd name="connsiteY4120" fmla="*/ 496912 h 2787466"/>
              <a:gd name="connsiteX4121" fmla="*/ 2834201 w 3600000"/>
              <a:gd name="connsiteY4121" fmla="*/ 474886 h 2787466"/>
              <a:gd name="connsiteX4122" fmla="*/ 3267417 w 3600000"/>
              <a:gd name="connsiteY4122" fmla="*/ 467622 h 2787466"/>
              <a:gd name="connsiteX4123" fmla="*/ 3264649 w 3600000"/>
              <a:gd name="connsiteY4123" fmla="*/ 473349 h 2787466"/>
              <a:gd name="connsiteX4124" fmla="*/ 3254000 w 3600000"/>
              <a:gd name="connsiteY4124" fmla="*/ 470486 h 2787466"/>
              <a:gd name="connsiteX4125" fmla="*/ 3267417 w 3600000"/>
              <a:gd name="connsiteY4125" fmla="*/ 467622 h 2787466"/>
              <a:gd name="connsiteX4126" fmla="*/ 2853884 w 3600000"/>
              <a:gd name="connsiteY4126" fmla="*/ 466567 h 2787466"/>
              <a:gd name="connsiteX4127" fmla="*/ 2860332 w 3600000"/>
              <a:gd name="connsiteY4127" fmla="*/ 470486 h 2787466"/>
              <a:gd name="connsiteX4128" fmla="*/ 2843274 w 3600000"/>
              <a:gd name="connsiteY4128" fmla="*/ 472294 h 2787466"/>
              <a:gd name="connsiteX4129" fmla="*/ 2853884 w 3600000"/>
              <a:gd name="connsiteY4129" fmla="*/ 466567 h 2787466"/>
              <a:gd name="connsiteX4130" fmla="*/ 2815636 w 3600000"/>
              <a:gd name="connsiteY4130" fmla="*/ 465874 h 2787466"/>
              <a:gd name="connsiteX4131" fmla="*/ 2815636 w 3600000"/>
              <a:gd name="connsiteY4131" fmla="*/ 480967 h 2787466"/>
              <a:gd name="connsiteX4132" fmla="*/ 2815636 w 3600000"/>
              <a:gd name="connsiteY4132" fmla="*/ 465874 h 2787466"/>
              <a:gd name="connsiteX4133" fmla="*/ 3016373 w 3600000"/>
              <a:gd name="connsiteY4133" fmla="*/ 464488 h 2787466"/>
              <a:gd name="connsiteX4134" fmla="*/ 3014939 w 3600000"/>
              <a:gd name="connsiteY4134" fmla="*/ 475421 h 2787466"/>
              <a:gd name="connsiteX4135" fmla="*/ 3016373 w 3600000"/>
              <a:gd name="connsiteY4135" fmla="*/ 464488 h 2787466"/>
              <a:gd name="connsiteX4136" fmla="*/ 2765423 w 3600000"/>
              <a:gd name="connsiteY4136" fmla="*/ 461714 h 2787466"/>
              <a:gd name="connsiteX4137" fmla="*/ 2770623 w 3600000"/>
              <a:gd name="connsiteY4137" fmla="*/ 470649 h 2787466"/>
              <a:gd name="connsiteX4138" fmla="*/ 2766671 w 3600000"/>
              <a:gd name="connsiteY4138" fmla="*/ 479582 h 2787466"/>
              <a:gd name="connsiteX4139" fmla="*/ 2765423 w 3600000"/>
              <a:gd name="connsiteY4139" fmla="*/ 461714 h 2787466"/>
              <a:gd name="connsiteX4140" fmla="*/ 2634978 w 3600000"/>
              <a:gd name="connsiteY4140" fmla="*/ 461699 h 2787466"/>
              <a:gd name="connsiteX4141" fmla="*/ 2624369 w 3600000"/>
              <a:gd name="connsiteY4141" fmla="*/ 474727 h 2787466"/>
              <a:gd name="connsiteX4142" fmla="*/ 2634978 w 3600000"/>
              <a:gd name="connsiteY4142" fmla="*/ 461699 h 2787466"/>
              <a:gd name="connsiteX4143" fmla="*/ 2453234 w 3600000"/>
              <a:gd name="connsiteY4143" fmla="*/ 461062 h 2787466"/>
              <a:gd name="connsiteX4144" fmla="*/ 2462325 w 3600000"/>
              <a:gd name="connsiteY4144" fmla="*/ 462715 h 2787466"/>
              <a:gd name="connsiteX4145" fmla="*/ 2450541 w 3600000"/>
              <a:gd name="connsiteY4145" fmla="*/ 470572 h 2787466"/>
              <a:gd name="connsiteX4146" fmla="*/ 2453234 w 3600000"/>
              <a:gd name="connsiteY4146" fmla="*/ 461062 h 2787466"/>
              <a:gd name="connsiteX4147" fmla="*/ 3256348 w 3600000"/>
              <a:gd name="connsiteY4147" fmla="*/ 455475 h 2787466"/>
              <a:gd name="connsiteX4148" fmla="*/ 3252537 w 3600000"/>
              <a:gd name="connsiteY4148" fmla="*/ 466409 h 2787466"/>
              <a:gd name="connsiteX4149" fmla="*/ 3256348 w 3600000"/>
              <a:gd name="connsiteY4149" fmla="*/ 455475 h 2787466"/>
              <a:gd name="connsiteX4150" fmla="*/ 3095955 w 3600000"/>
              <a:gd name="connsiteY4150" fmla="*/ 455475 h 2787466"/>
              <a:gd name="connsiteX4151" fmla="*/ 3097202 w 3600000"/>
              <a:gd name="connsiteY4151" fmla="*/ 467536 h 2787466"/>
              <a:gd name="connsiteX4152" fmla="*/ 3095955 w 3600000"/>
              <a:gd name="connsiteY4152" fmla="*/ 455475 h 2787466"/>
              <a:gd name="connsiteX4153" fmla="*/ 2721013 w 3600000"/>
              <a:gd name="connsiteY4153" fmla="*/ 454639 h 2787466"/>
              <a:gd name="connsiteX4154" fmla="*/ 2728230 w 3600000"/>
              <a:gd name="connsiteY4154" fmla="*/ 454644 h 2787466"/>
              <a:gd name="connsiteX4155" fmla="*/ 2714891 w 3600000"/>
              <a:gd name="connsiteY4155" fmla="*/ 469185 h 2787466"/>
              <a:gd name="connsiteX4156" fmla="*/ 2706972 w 3600000"/>
              <a:gd name="connsiteY4156" fmla="*/ 468257 h 2787466"/>
              <a:gd name="connsiteX4157" fmla="*/ 2710932 w 3600000"/>
              <a:gd name="connsiteY4157" fmla="*/ 458511 h 2787466"/>
              <a:gd name="connsiteX4158" fmla="*/ 2721013 w 3600000"/>
              <a:gd name="connsiteY4158" fmla="*/ 454639 h 2787466"/>
              <a:gd name="connsiteX4159" fmla="*/ 3267872 w 3600000"/>
              <a:gd name="connsiteY4159" fmla="*/ 453634 h 2787466"/>
              <a:gd name="connsiteX4160" fmla="*/ 3265316 w 3600000"/>
              <a:gd name="connsiteY4160" fmla="*/ 461559 h 2787466"/>
              <a:gd name="connsiteX4161" fmla="*/ 3267872 w 3600000"/>
              <a:gd name="connsiteY4161" fmla="*/ 453634 h 2787466"/>
              <a:gd name="connsiteX4162" fmla="*/ 2859545 w 3600000"/>
              <a:gd name="connsiteY4162" fmla="*/ 453395 h 2787466"/>
              <a:gd name="connsiteX4163" fmla="*/ 2858055 w 3600000"/>
              <a:gd name="connsiteY4163" fmla="*/ 462252 h 2787466"/>
              <a:gd name="connsiteX4164" fmla="*/ 2851453 w 3600000"/>
              <a:gd name="connsiteY4164" fmla="*/ 457435 h 2787466"/>
              <a:gd name="connsiteX4165" fmla="*/ 2859545 w 3600000"/>
              <a:gd name="connsiteY4165" fmla="*/ 453395 h 2787466"/>
              <a:gd name="connsiteX4166" fmla="*/ 2629632 w 3600000"/>
              <a:gd name="connsiteY4166" fmla="*/ 450622 h 2787466"/>
              <a:gd name="connsiteX4167" fmla="*/ 2627008 w 3600000"/>
              <a:gd name="connsiteY4167" fmla="*/ 458781 h 2787466"/>
              <a:gd name="connsiteX4168" fmla="*/ 2629632 w 3600000"/>
              <a:gd name="connsiteY4168" fmla="*/ 450622 h 2787466"/>
              <a:gd name="connsiteX4169" fmla="*/ 2579049 w 3600000"/>
              <a:gd name="connsiteY4169" fmla="*/ 447849 h 2787466"/>
              <a:gd name="connsiteX4170" fmla="*/ 2584098 w 3600000"/>
              <a:gd name="connsiteY4170" fmla="*/ 452939 h 2787466"/>
              <a:gd name="connsiteX4171" fmla="*/ 2575213 w 3600000"/>
              <a:gd name="connsiteY4171" fmla="*/ 450804 h 2787466"/>
              <a:gd name="connsiteX4172" fmla="*/ 2579049 w 3600000"/>
              <a:gd name="connsiteY4172" fmla="*/ 447849 h 2787466"/>
              <a:gd name="connsiteX4173" fmla="*/ 2957698 w 3600000"/>
              <a:gd name="connsiteY4173" fmla="*/ 445769 h 2787466"/>
              <a:gd name="connsiteX4174" fmla="*/ 2956468 w 3600000"/>
              <a:gd name="connsiteY4174" fmla="*/ 466410 h 2787466"/>
              <a:gd name="connsiteX4175" fmla="*/ 2957698 w 3600000"/>
              <a:gd name="connsiteY4175" fmla="*/ 445769 h 2787466"/>
              <a:gd name="connsiteX4176" fmla="*/ 2561346 w 3600000"/>
              <a:gd name="connsiteY4176" fmla="*/ 442214 h 2787466"/>
              <a:gd name="connsiteX4177" fmla="*/ 2558667 w 3600000"/>
              <a:gd name="connsiteY4177" fmla="*/ 447087 h 2787466"/>
              <a:gd name="connsiteX4178" fmla="*/ 2563819 w 3600000"/>
              <a:gd name="connsiteY4178" fmla="*/ 448187 h 2787466"/>
              <a:gd name="connsiteX4179" fmla="*/ 2563819 w 3600000"/>
              <a:gd name="connsiteY4179" fmla="*/ 450073 h 2787466"/>
              <a:gd name="connsiteX4180" fmla="*/ 2569177 w 3600000"/>
              <a:gd name="connsiteY4180" fmla="*/ 446144 h 2787466"/>
              <a:gd name="connsiteX4181" fmla="*/ 2561346 w 3600000"/>
              <a:gd name="connsiteY4181" fmla="*/ 442214 h 2787466"/>
              <a:gd name="connsiteX4182" fmla="*/ 2587757 w 3600000"/>
              <a:gd name="connsiteY4182" fmla="*/ 440916 h 2787466"/>
              <a:gd name="connsiteX4183" fmla="*/ 2581338 w 3600000"/>
              <a:gd name="connsiteY4183" fmla="*/ 446995 h 2787466"/>
              <a:gd name="connsiteX4184" fmla="*/ 2587757 w 3600000"/>
              <a:gd name="connsiteY4184" fmla="*/ 440916 h 2787466"/>
              <a:gd name="connsiteX4185" fmla="*/ 3021680 w 3600000"/>
              <a:gd name="connsiteY4185" fmla="*/ 433983 h 2787466"/>
              <a:gd name="connsiteX4186" fmla="*/ 3025516 w 3600000"/>
              <a:gd name="connsiteY4186" fmla="*/ 442840 h 2787466"/>
              <a:gd name="connsiteX4187" fmla="*/ 3021680 w 3600000"/>
              <a:gd name="connsiteY4187" fmla="*/ 433983 h 2787466"/>
              <a:gd name="connsiteX4188" fmla="*/ 2633823 w 3600000"/>
              <a:gd name="connsiteY4188" fmla="*/ 433983 h 2787466"/>
              <a:gd name="connsiteX4189" fmla="*/ 2635101 w 3600000"/>
              <a:gd name="connsiteY4189" fmla="*/ 450468 h 2787466"/>
              <a:gd name="connsiteX4190" fmla="*/ 2633823 w 3600000"/>
              <a:gd name="connsiteY4190" fmla="*/ 433983 h 2787466"/>
              <a:gd name="connsiteX4191" fmla="*/ 2691652 w 3600000"/>
              <a:gd name="connsiteY4191" fmla="*/ 431996 h 2787466"/>
              <a:gd name="connsiteX4192" fmla="*/ 2685557 w 3600000"/>
              <a:gd name="connsiteY4192" fmla="*/ 434640 h 2787466"/>
              <a:gd name="connsiteX4193" fmla="*/ 2698836 w 3600000"/>
              <a:gd name="connsiteY4193" fmla="*/ 433700 h 2787466"/>
              <a:gd name="connsiteX4194" fmla="*/ 2691652 w 3600000"/>
              <a:gd name="connsiteY4194" fmla="*/ 431996 h 2787466"/>
              <a:gd name="connsiteX4195" fmla="*/ 3091030 w 3600000"/>
              <a:gd name="connsiteY4195" fmla="*/ 431210 h 2787466"/>
              <a:gd name="connsiteX4196" fmla="*/ 3089647 w 3600000"/>
              <a:gd name="connsiteY4196" fmla="*/ 449079 h 2787466"/>
              <a:gd name="connsiteX4197" fmla="*/ 3091030 w 3600000"/>
              <a:gd name="connsiteY4197" fmla="*/ 431210 h 2787466"/>
              <a:gd name="connsiteX4198" fmla="*/ 3067348 w 3600000"/>
              <a:gd name="connsiteY4198" fmla="*/ 431210 h 2787466"/>
              <a:gd name="connsiteX4199" fmla="*/ 3072484 w 3600000"/>
              <a:gd name="connsiteY4199" fmla="*/ 454206 h 2787466"/>
              <a:gd name="connsiteX4200" fmla="*/ 3059542 w 3600000"/>
              <a:gd name="connsiteY4200" fmla="*/ 454206 h 2787466"/>
              <a:gd name="connsiteX4201" fmla="*/ 3067348 w 3600000"/>
              <a:gd name="connsiteY4201" fmla="*/ 431210 h 2787466"/>
              <a:gd name="connsiteX4202" fmla="*/ 2737663 w 3600000"/>
              <a:gd name="connsiteY4202" fmla="*/ 426159 h 2787466"/>
              <a:gd name="connsiteX4203" fmla="*/ 2728702 w 3600000"/>
              <a:gd name="connsiteY4203" fmla="*/ 442146 h 2787466"/>
              <a:gd name="connsiteX4204" fmla="*/ 2737663 w 3600000"/>
              <a:gd name="connsiteY4204" fmla="*/ 426159 h 2787466"/>
              <a:gd name="connsiteX4205" fmla="*/ 3360651 w 3600000"/>
              <a:gd name="connsiteY4205" fmla="*/ 424971 h 2787466"/>
              <a:gd name="connsiteX4206" fmla="*/ 3371013 w 3600000"/>
              <a:gd name="connsiteY4206" fmla="*/ 440760 h 2787466"/>
              <a:gd name="connsiteX4207" fmla="*/ 3360651 w 3600000"/>
              <a:gd name="connsiteY4207" fmla="*/ 424971 h 2787466"/>
              <a:gd name="connsiteX4208" fmla="*/ 2635535 w 3600000"/>
              <a:gd name="connsiteY4208" fmla="*/ 424971 h 2787466"/>
              <a:gd name="connsiteX4209" fmla="*/ 2634277 w 3600000"/>
              <a:gd name="connsiteY4209" fmla="*/ 429901 h 2787466"/>
              <a:gd name="connsiteX4210" fmla="*/ 2635535 w 3600000"/>
              <a:gd name="connsiteY4210" fmla="*/ 424971 h 2787466"/>
              <a:gd name="connsiteX4211" fmla="*/ 2507840 w 3600000"/>
              <a:gd name="connsiteY4211" fmla="*/ 424971 h 2787466"/>
              <a:gd name="connsiteX4212" fmla="*/ 2509069 w 3600000"/>
              <a:gd name="connsiteY4212" fmla="*/ 435208 h 2787466"/>
              <a:gd name="connsiteX4213" fmla="*/ 2507840 w 3600000"/>
              <a:gd name="connsiteY4213" fmla="*/ 424971 h 2787466"/>
              <a:gd name="connsiteX4214" fmla="*/ 2467716 w 3600000"/>
              <a:gd name="connsiteY4214" fmla="*/ 416547 h 2787466"/>
              <a:gd name="connsiteX4215" fmla="*/ 2471976 w 3600000"/>
              <a:gd name="connsiteY4215" fmla="*/ 420215 h 2787466"/>
              <a:gd name="connsiteX4216" fmla="*/ 2470773 w 3600000"/>
              <a:gd name="connsiteY4216" fmla="*/ 424122 h 2787466"/>
              <a:gd name="connsiteX4217" fmla="*/ 2464354 w 3600000"/>
              <a:gd name="connsiteY4217" fmla="*/ 417248 h 2787466"/>
              <a:gd name="connsiteX4218" fmla="*/ 2467716 w 3600000"/>
              <a:gd name="connsiteY4218" fmla="*/ 416547 h 2787466"/>
              <a:gd name="connsiteX4219" fmla="*/ 2998508 w 3600000"/>
              <a:gd name="connsiteY4219" fmla="*/ 415113 h 2787466"/>
              <a:gd name="connsiteX4220" fmla="*/ 2993357 w 3600000"/>
              <a:gd name="connsiteY4220" fmla="*/ 424075 h 2787466"/>
              <a:gd name="connsiteX4221" fmla="*/ 2997271 w 3600000"/>
              <a:gd name="connsiteY4221" fmla="*/ 427062 h 2787466"/>
              <a:gd name="connsiteX4222" fmla="*/ 2998508 w 3600000"/>
              <a:gd name="connsiteY4222" fmla="*/ 415113 h 2787466"/>
              <a:gd name="connsiteX4223" fmla="*/ 2475543 w 3600000"/>
              <a:gd name="connsiteY4223" fmla="*/ 413186 h 2787466"/>
              <a:gd name="connsiteX4224" fmla="*/ 2476789 w 3600000"/>
              <a:gd name="connsiteY4224" fmla="*/ 419265 h 2787466"/>
              <a:gd name="connsiteX4225" fmla="*/ 2475543 w 3600000"/>
              <a:gd name="connsiteY4225" fmla="*/ 413186 h 2787466"/>
              <a:gd name="connsiteX4226" fmla="*/ 3125949 w 3600000"/>
              <a:gd name="connsiteY4226" fmla="*/ 412077 h 2787466"/>
              <a:gd name="connsiteX4227" fmla="*/ 3135943 w 3600000"/>
              <a:gd name="connsiteY4227" fmla="*/ 424119 h 2787466"/>
              <a:gd name="connsiteX4228" fmla="*/ 3126958 w 3600000"/>
              <a:gd name="connsiteY4228" fmla="*/ 423006 h 2787466"/>
              <a:gd name="connsiteX4229" fmla="*/ 3120424 w 3600000"/>
              <a:gd name="connsiteY4229" fmla="*/ 412998 h 2787466"/>
              <a:gd name="connsiteX4230" fmla="*/ 3125949 w 3600000"/>
              <a:gd name="connsiteY4230" fmla="*/ 412077 h 2787466"/>
              <a:gd name="connsiteX4231" fmla="*/ 2596521 w 3600000"/>
              <a:gd name="connsiteY4231" fmla="*/ 411799 h 2787466"/>
              <a:gd name="connsiteX4232" fmla="*/ 2595270 w 3600000"/>
              <a:gd name="connsiteY4232" fmla="*/ 422733 h 2787466"/>
              <a:gd name="connsiteX4233" fmla="*/ 2596521 w 3600000"/>
              <a:gd name="connsiteY4233" fmla="*/ 411799 h 2787466"/>
              <a:gd name="connsiteX4234" fmla="*/ 2983836 w 3600000"/>
              <a:gd name="connsiteY4234" fmla="*/ 410807 h 2787466"/>
              <a:gd name="connsiteX4235" fmla="*/ 2983836 w 3600000"/>
              <a:gd name="connsiteY4235" fmla="*/ 418576 h 2787466"/>
              <a:gd name="connsiteX4236" fmla="*/ 2983836 w 3600000"/>
              <a:gd name="connsiteY4236" fmla="*/ 410807 h 2787466"/>
              <a:gd name="connsiteX4237" fmla="*/ 3360728 w 3600000"/>
              <a:gd name="connsiteY4237" fmla="*/ 409026 h 2787466"/>
              <a:gd name="connsiteX4238" fmla="*/ 3370099 w 3600000"/>
              <a:gd name="connsiteY4238" fmla="*/ 415760 h 2787466"/>
              <a:gd name="connsiteX4239" fmla="*/ 3364774 w 3600000"/>
              <a:gd name="connsiteY4239" fmla="*/ 419739 h 2787466"/>
              <a:gd name="connsiteX4240" fmla="*/ 3360728 w 3600000"/>
              <a:gd name="connsiteY4240" fmla="*/ 409026 h 2787466"/>
              <a:gd name="connsiteX4241" fmla="*/ 3110220 w 3600000"/>
              <a:gd name="connsiteY4241" fmla="*/ 408332 h 2787466"/>
              <a:gd name="connsiteX4242" fmla="*/ 3099819 w 3600000"/>
              <a:gd name="connsiteY4242" fmla="*/ 455316 h 2787466"/>
              <a:gd name="connsiteX4243" fmla="*/ 3110220 w 3600000"/>
              <a:gd name="connsiteY4243" fmla="*/ 408332 h 2787466"/>
              <a:gd name="connsiteX4244" fmla="*/ 2660421 w 3600000"/>
              <a:gd name="connsiteY4244" fmla="*/ 408251 h 2787466"/>
              <a:gd name="connsiteX4245" fmla="*/ 2670157 w 3600000"/>
              <a:gd name="connsiteY4245" fmla="*/ 408290 h 2787466"/>
              <a:gd name="connsiteX4246" fmla="*/ 2659772 w 3600000"/>
              <a:gd name="connsiteY4246" fmla="*/ 437906 h 2787466"/>
              <a:gd name="connsiteX4247" fmla="*/ 2668910 w 3600000"/>
              <a:gd name="connsiteY4247" fmla="*/ 439003 h 2787466"/>
              <a:gd name="connsiteX4248" fmla="*/ 2661018 w 3600000"/>
              <a:gd name="connsiteY4248" fmla="*/ 444957 h 2787466"/>
              <a:gd name="connsiteX4249" fmla="*/ 2649179 w 3600000"/>
              <a:gd name="connsiteY4249" fmla="*/ 442920 h 2787466"/>
              <a:gd name="connsiteX4250" fmla="*/ 2647933 w 3600000"/>
              <a:gd name="connsiteY4250" fmla="*/ 445897 h 2787466"/>
              <a:gd name="connsiteX4251" fmla="*/ 2655825 w 3600000"/>
              <a:gd name="connsiteY4251" fmla="*/ 449814 h 2787466"/>
              <a:gd name="connsiteX4252" fmla="*/ 2646687 w 3600000"/>
              <a:gd name="connsiteY4252" fmla="*/ 433048 h 2787466"/>
              <a:gd name="connsiteX4253" fmla="*/ 2654579 w 3600000"/>
              <a:gd name="connsiteY4253" fmla="*/ 436025 h 2787466"/>
              <a:gd name="connsiteX4254" fmla="*/ 2664964 w 3600000"/>
              <a:gd name="connsiteY4254" fmla="*/ 425997 h 2787466"/>
              <a:gd name="connsiteX4255" fmla="*/ 2650633 w 3600000"/>
              <a:gd name="connsiteY4255" fmla="*/ 421139 h 2787466"/>
              <a:gd name="connsiteX4256" fmla="*/ 2662472 w 3600000"/>
              <a:gd name="connsiteY4256" fmla="*/ 413148 h 2787466"/>
              <a:gd name="connsiteX4257" fmla="*/ 2654579 w 3600000"/>
              <a:gd name="connsiteY4257" fmla="*/ 411267 h 2787466"/>
              <a:gd name="connsiteX4258" fmla="*/ 2660421 w 3600000"/>
              <a:gd name="connsiteY4258" fmla="*/ 408251 h 2787466"/>
              <a:gd name="connsiteX4259" fmla="*/ 2970363 w 3600000"/>
              <a:gd name="connsiteY4259" fmla="*/ 406253 h 2787466"/>
              <a:gd name="connsiteX4260" fmla="*/ 2978456 w 3600000"/>
              <a:gd name="connsiteY4260" fmla="*/ 413127 h 2787466"/>
              <a:gd name="connsiteX4261" fmla="*/ 2965039 w 3600000"/>
              <a:gd name="connsiteY4261" fmla="*/ 416095 h 2787466"/>
              <a:gd name="connsiteX4262" fmla="*/ 2970363 w 3600000"/>
              <a:gd name="connsiteY4262" fmla="*/ 406253 h 2787466"/>
              <a:gd name="connsiteX4263" fmla="*/ 2730039 w 3600000"/>
              <a:gd name="connsiteY4263" fmla="*/ 405112 h 2787466"/>
              <a:gd name="connsiteX4264" fmla="*/ 2737924 w 3600000"/>
              <a:gd name="connsiteY4264" fmla="*/ 407018 h 2787466"/>
              <a:gd name="connsiteX4265" fmla="*/ 2743112 w 3600000"/>
              <a:gd name="connsiteY4265" fmla="*/ 411149 h 2787466"/>
              <a:gd name="connsiteX4266" fmla="*/ 2730039 w 3600000"/>
              <a:gd name="connsiteY4266" fmla="*/ 413055 h 2787466"/>
              <a:gd name="connsiteX4267" fmla="*/ 2730039 w 3600000"/>
              <a:gd name="connsiteY4267" fmla="*/ 405112 h 2787466"/>
              <a:gd name="connsiteX4268" fmla="*/ 2491495 w 3600000"/>
              <a:gd name="connsiteY4268" fmla="*/ 403017 h 2787466"/>
              <a:gd name="connsiteX4269" fmla="*/ 2504135 w 3600000"/>
              <a:gd name="connsiteY4269" fmla="*/ 408871 h 2787466"/>
              <a:gd name="connsiteX4270" fmla="*/ 2491495 w 3600000"/>
              <a:gd name="connsiteY4270" fmla="*/ 403017 h 2787466"/>
              <a:gd name="connsiteX4271" fmla="*/ 2713154 w 3600000"/>
              <a:gd name="connsiteY4271" fmla="*/ 400013 h 2787466"/>
              <a:gd name="connsiteX4272" fmla="*/ 2701326 w 3600000"/>
              <a:gd name="connsiteY4272" fmla="*/ 449525 h 2787466"/>
              <a:gd name="connsiteX4273" fmla="*/ 2671239 w 3600000"/>
              <a:gd name="connsiteY4273" fmla="*/ 501073 h 2787466"/>
              <a:gd name="connsiteX4274" fmla="*/ 2679124 w 3600000"/>
              <a:gd name="connsiteY4274" fmla="*/ 471304 h 2787466"/>
              <a:gd name="connsiteX4275" fmla="*/ 2683067 w 3600000"/>
              <a:gd name="connsiteY4275" fmla="*/ 457516 h 2787466"/>
              <a:gd name="connsiteX4276" fmla="*/ 2675182 w 3600000"/>
              <a:gd name="connsiteY4276" fmla="*/ 454539 h 2787466"/>
              <a:gd name="connsiteX4277" fmla="*/ 2683067 w 3600000"/>
              <a:gd name="connsiteY4277" fmla="*/ 424769 h 2787466"/>
              <a:gd name="connsiteX4278" fmla="*/ 2697384 w 3600000"/>
              <a:gd name="connsiteY4278" fmla="*/ 428686 h 2787466"/>
              <a:gd name="connsiteX4279" fmla="*/ 2698836 w 3600000"/>
              <a:gd name="connsiteY4279" fmla="*/ 422732 h 2787466"/>
              <a:gd name="connsiteX4280" fmla="*/ 2690952 w 3600000"/>
              <a:gd name="connsiteY4280" fmla="*/ 419912 h 2787466"/>
              <a:gd name="connsiteX4281" fmla="*/ 2713154 w 3600000"/>
              <a:gd name="connsiteY4281" fmla="*/ 400013 h 2787466"/>
              <a:gd name="connsiteX4282" fmla="*/ 2758508 w 3600000"/>
              <a:gd name="connsiteY4282" fmla="*/ 398177 h 2787466"/>
              <a:gd name="connsiteX4283" fmla="*/ 2756008 w 3600000"/>
              <a:gd name="connsiteY4283" fmla="*/ 408176 h 2787466"/>
              <a:gd name="connsiteX4284" fmla="*/ 2758508 w 3600000"/>
              <a:gd name="connsiteY4284" fmla="*/ 398177 h 2787466"/>
              <a:gd name="connsiteX4285" fmla="*/ 2520388 w 3600000"/>
              <a:gd name="connsiteY4285" fmla="*/ 397934 h 2787466"/>
              <a:gd name="connsiteX4286" fmla="*/ 2524225 w 3600000"/>
              <a:gd name="connsiteY4286" fmla="*/ 405133 h 2787466"/>
              <a:gd name="connsiteX4287" fmla="*/ 2521600 w 3600000"/>
              <a:gd name="connsiteY4287" fmla="*/ 405133 h 2787466"/>
              <a:gd name="connsiteX4288" fmla="*/ 2508878 w 3600000"/>
              <a:gd name="connsiteY4288" fmla="*/ 404013 h 2787466"/>
              <a:gd name="connsiteX4289" fmla="*/ 2520388 w 3600000"/>
              <a:gd name="connsiteY4289" fmla="*/ 397934 h 2787466"/>
              <a:gd name="connsiteX4290" fmla="*/ 2981611 w 3600000"/>
              <a:gd name="connsiteY4290" fmla="*/ 394203 h 2787466"/>
              <a:gd name="connsiteX4291" fmla="*/ 2981193 w 3600000"/>
              <a:gd name="connsiteY4291" fmla="*/ 394404 h 2787466"/>
              <a:gd name="connsiteX4292" fmla="*/ 2981562 w 3600000"/>
              <a:gd name="connsiteY4292" fmla="*/ 394573 h 2787466"/>
              <a:gd name="connsiteX4293" fmla="*/ 2995829 w 3600000"/>
              <a:gd name="connsiteY4293" fmla="*/ 389328 h 2787466"/>
              <a:gd name="connsiteX4294" fmla="*/ 3000360 w 3600000"/>
              <a:gd name="connsiteY4294" fmla="*/ 393542 h 2787466"/>
              <a:gd name="connsiteX4295" fmla="*/ 3001090 w 3600000"/>
              <a:gd name="connsiteY4295" fmla="*/ 393032 h 2787466"/>
              <a:gd name="connsiteX4296" fmla="*/ 3006291 w 3600000"/>
              <a:gd name="connsiteY4296" fmla="*/ 398969 h 2787466"/>
              <a:gd name="connsiteX4297" fmla="*/ 3002288 w 3600000"/>
              <a:gd name="connsiteY4297" fmla="*/ 399276 h 2787466"/>
              <a:gd name="connsiteX4298" fmla="*/ 3002423 w 3600000"/>
              <a:gd name="connsiteY4298" fmla="*/ 400177 h 2787466"/>
              <a:gd name="connsiteX4299" fmla="*/ 3007575 w 3600000"/>
              <a:gd name="connsiteY4299" fmla="*/ 399233 h 2787466"/>
              <a:gd name="connsiteX4300" fmla="*/ 3010254 w 3600000"/>
              <a:gd name="connsiteY4300" fmla="*/ 391215 h 2787466"/>
              <a:gd name="connsiteX4301" fmla="*/ 3011490 w 3600000"/>
              <a:gd name="connsiteY4301" fmla="*/ 412126 h 2787466"/>
              <a:gd name="connsiteX4302" fmla="*/ 3020763 w 3600000"/>
              <a:gd name="connsiteY4302" fmla="*/ 410082 h 2787466"/>
              <a:gd name="connsiteX4303" fmla="*/ 3014169 w 3600000"/>
              <a:gd name="connsiteY4303" fmla="*/ 418100 h 2787466"/>
              <a:gd name="connsiteX4304" fmla="*/ 3007575 w 3600000"/>
              <a:gd name="connsiteY4304" fmla="*/ 416056 h 2787466"/>
              <a:gd name="connsiteX4305" fmla="*/ 3018084 w 3600000"/>
              <a:gd name="connsiteY4305" fmla="*/ 427062 h 2787466"/>
              <a:gd name="connsiteX4306" fmla="*/ 3008811 w 3600000"/>
              <a:gd name="connsiteY4306" fmla="*/ 434924 h 2787466"/>
              <a:gd name="connsiteX4307" fmla="*/ 3007575 w 3600000"/>
              <a:gd name="connsiteY4307" fmla="*/ 425019 h 2787466"/>
              <a:gd name="connsiteX4308" fmla="*/ 2991914 w 3600000"/>
              <a:gd name="connsiteY4308" fmla="*/ 437911 h 2787466"/>
              <a:gd name="connsiteX4309" fmla="*/ 2994593 w 3600000"/>
              <a:gd name="connsiteY4309" fmla="*/ 441999 h 2787466"/>
              <a:gd name="connsiteX4310" fmla="*/ 3001187 w 3600000"/>
              <a:gd name="connsiteY4310" fmla="*/ 437911 h 2787466"/>
              <a:gd name="connsiteX4311" fmla="*/ 3008811 w 3600000"/>
              <a:gd name="connsiteY4311" fmla="*/ 439011 h 2787466"/>
              <a:gd name="connsiteX4312" fmla="*/ 3014169 w 3600000"/>
              <a:gd name="connsiteY4312" fmla="*/ 448916 h 2787466"/>
              <a:gd name="connsiteX4313" fmla="*/ 3023235 w 3600000"/>
              <a:gd name="connsiteY4313" fmla="*/ 443885 h 2787466"/>
              <a:gd name="connsiteX4314" fmla="*/ 3015406 w 3600000"/>
              <a:gd name="connsiteY4314" fmla="*/ 461809 h 2787466"/>
              <a:gd name="connsiteX4315" fmla="*/ 3010254 w 3600000"/>
              <a:gd name="connsiteY4315" fmla="*/ 454891 h 2787466"/>
              <a:gd name="connsiteX4316" fmla="*/ 3002423 w 3600000"/>
              <a:gd name="connsiteY4316" fmla="*/ 477688 h 2787466"/>
              <a:gd name="connsiteX4317" fmla="*/ 3010254 w 3600000"/>
              <a:gd name="connsiteY4317" fmla="*/ 476745 h 2787466"/>
              <a:gd name="connsiteX4318" fmla="*/ 3015406 w 3600000"/>
              <a:gd name="connsiteY4318" fmla="*/ 486650 h 2787466"/>
              <a:gd name="connsiteX4319" fmla="*/ 3008811 w 3600000"/>
              <a:gd name="connsiteY4319" fmla="*/ 516366 h 2787466"/>
              <a:gd name="connsiteX4320" fmla="*/ 3002423 w 3600000"/>
              <a:gd name="connsiteY4320" fmla="*/ 510391 h 2787466"/>
              <a:gd name="connsiteX4321" fmla="*/ 3003660 w 3600000"/>
              <a:gd name="connsiteY4321" fmla="*/ 523441 h 2787466"/>
              <a:gd name="connsiteX4322" fmla="*/ 2993357 w 3600000"/>
              <a:gd name="connsiteY4322" fmla="*/ 523441 h 2787466"/>
              <a:gd name="connsiteX4323" fmla="*/ 2999745 w 3600000"/>
              <a:gd name="connsiteY4323" fmla="*/ 527372 h 2787466"/>
              <a:gd name="connsiteX4324" fmla="*/ 3005102 w 3600000"/>
              <a:gd name="connsiteY4324" fmla="*/ 547182 h 2787466"/>
              <a:gd name="connsiteX4325" fmla="*/ 2998070 w 3600000"/>
              <a:gd name="connsiteY4325" fmla="*/ 557558 h 2787466"/>
              <a:gd name="connsiteX4326" fmla="*/ 2999444 w 3600000"/>
              <a:gd name="connsiteY4326" fmla="*/ 559608 h 2787466"/>
              <a:gd name="connsiteX4327" fmla="*/ 3005912 w 3600000"/>
              <a:gd name="connsiteY4327" fmla="*/ 559932 h 2787466"/>
              <a:gd name="connsiteX4328" fmla="*/ 3005798 w 3600000"/>
              <a:gd name="connsiteY4328" fmla="*/ 559642 h 2787466"/>
              <a:gd name="connsiteX4329" fmla="*/ 3008811 w 3600000"/>
              <a:gd name="connsiteY4329" fmla="*/ 558187 h 2787466"/>
              <a:gd name="connsiteX4330" fmla="*/ 3016848 w 3600000"/>
              <a:gd name="connsiteY4330" fmla="*/ 559130 h 2787466"/>
              <a:gd name="connsiteX4331" fmla="*/ 3012965 w 3600000"/>
              <a:gd name="connsiteY4331" fmla="*/ 562405 h 2787466"/>
              <a:gd name="connsiteX4332" fmla="*/ 3013899 w 3600000"/>
              <a:gd name="connsiteY4332" fmla="*/ 563584 h 2787466"/>
              <a:gd name="connsiteX4333" fmla="*/ 3011523 w 3600000"/>
              <a:gd name="connsiteY4333" fmla="*/ 563621 h 2787466"/>
              <a:gd name="connsiteX4334" fmla="*/ 3005102 w 3600000"/>
              <a:gd name="connsiteY4334" fmla="*/ 569035 h 2787466"/>
              <a:gd name="connsiteX4335" fmla="*/ 2998534 w 3600000"/>
              <a:gd name="connsiteY4335" fmla="*/ 564496 h 2787466"/>
              <a:gd name="connsiteX4336" fmla="*/ 2997790 w 3600000"/>
              <a:gd name="connsiteY4336" fmla="*/ 563020 h 2787466"/>
              <a:gd name="connsiteX4337" fmla="*/ 2996094 w 3600000"/>
              <a:gd name="connsiteY4337" fmla="*/ 562620 h 2787466"/>
              <a:gd name="connsiteX4338" fmla="*/ 2995028 w 3600000"/>
              <a:gd name="connsiteY4338" fmla="*/ 560854 h 2787466"/>
              <a:gd name="connsiteX4339" fmla="*/ 2989338 w 3600000"/>
              <a:gd name="connsiteY4339" fmla="*/ 573084 h 2787466"/>
              <a:gd name="connsiteX4340" fmla="*/ 2994593 w 3600000"/>
              <a:gd name="connsiteY4340" fmla="*/ 583972 h 2787466"/>
              <a:gd name="connsiteX4341" fmla="*/ 2984290 w 3600000"/>
              <a:gd name="connsiteY4341" fmla="*/ 589946 h 2787466"/>
              <a:gd name="connsiteX4342" fmla="*/ 2982847 w 3600000"/>
              <a:gd name="connsiteY4342" fmla="*/ 602839 h 2787466"/>
              <a:gd name="connsiteX4343" fmla="*/ 2991914 w 3600000"/>
              <a:gd name="connsiteY4343" fmla="*/ 610857 h 2787466"/>
              <a:gd name="connsiteX4344" fmla="*/ 2977695 w 3600000"/>
              <a:gd name="connsiteY4344" fmla="*/ 610857 h 2787466"/>
              <a:gd name="connsiteX4345" fmla="*/ 2976459 w 3600000"/>
              <a:gd name="connsiteY4345" fmla="*/ 624693 h 2787466"/>
              <a:gd name="connsiteX4346" fmla="*/ 2984290 w 3600000"/>
              <a:gd name="connsiteY4346" fmla="*/ 624693 h 2787466"/>
              <a:gd name="connsiteX4347" fmla="*/ 2973780 w 3600000"/>
              <a:gd name="connsiteY4347" fmla="*/ 632712 h 2787466"/>
              <a:gd name="connsiteX4348" fmla="*/ 2971102 w 3600000"/>
              <a:gd name="connsiteY4348" fmla="*/ 658496 h 2787466"/>
              <a:gd name="connsiteX4349" fmla="*/ 2976459 w 3600000"/>
              <a:gd name="connsiteY4349" fmla="*/ 662427 h 2787466"/>
              <a:gd name="connsiteX4350" fmla="*/ 2965949 w 3600000"/>
              <a:gd name="connsiteY4350" fmla="*/ 660540 h 2787466"/>
              <a:gd name="connsiteX4351" fmla="*/ 2965949 w 3600000"/>
              <a:gd name="connsiteY4351" fmla="*/ 682394 h 2787466"/>
              <a:gd name="connsiteX4352" fmla="*/ 2972544 w 3600000"/>
              <a:gd name="connsiteY4352" fmla="*/ 675477 h 2787466"/>
              <a:gd name="connsiteX4353" fmla="*/ 2964713 w 3600000"/>
              <a:gd name="connsiteY4353" fmla="*/ 692300 h 2787466"/>
              <a:gd name="connsiteX4354" fmla="*/ 2964713 w 3600000"/>
              <a:gd name="connsiteY4354" fmla="*/ 686325 h 2787466"/>
              <a:gd name="connsiteX4355" fmla="*/ 2962035 w 3600000"/>
              <a:gd name="connsiteY4355" fmla="*/ 700160 h 2787466"/>
              <a:gd name="connsiteX4356" fmla="*/ 2969864 w 3600000"/>
              <a:gd name="connsiteY4356" fmla="*/ 697173 h 2787466"/>
              <a:gd name="connsiteX4357" fmla="*/ 2960798 w 3600000"/>
              <a:gd name="connsiteY4357" fmla="*/ 702205 h 2787466"/>
              <a:gd name="connsiteX4358" fmla="*/ 2964713 w 3600000"/>
              <a:gd name="connsiteY4358" fmla="*/ 712110 h 2787466"/>
              <a:gd name="connsiteX4359" fmla="*/ 2970663 w 3600000"/>
              <a:gd name="connsiteY4359" fmla="*/ 708710 h 2787466"/>
              <a:gd name="connsiteX4360" fmla="*/ 2974380 w 3600000"/>
              <a:gd name="connsiteY4360" fmla="*/ 706851 h 2787466"/>
              <a:gd name="connsiteX4361" fmla="*/ 2975416 w 3600000"/>
              <a:gd name="connsiteY4361" fmla="*/ 704360 h 2787466"/>
              <a:gd name="connsiteX4362" fmla="*/ 2976703 w 3600000"/>
              <a:gd name="connsiteY4362" fmla="*/ 703129 h 2787466"/>
              <a:gd name="connsiteX4363" fmla="*/ 2976202 w 3600000"/>
              <a:gd name="connsiteY4363" fmla="*/ 702086 h 2787466"/>
              <a:gd name="connsiteX4364" fmla="*/ 2973780 w 3600000"/>
              <a:gd name="connsiteY4364" fmla="*/ 698274 h 2787466"/>
              <a:gd name="connsiteX4365" fmla="*/ 2997271 w 3600000"/>
              <a:gd name="connsiteY4365" fmla="*/ 667458 h 2787466"/>
              <a:gd name="connsiteX4366" fmla="*/ 2999745 w 3600000"/>
              <a:gd name="connsiteY4366" fmla="*/ 648592 h 2787466"/>
              <a:gd name="connsiteX4367" fmla="*/ 3012726 w 3600000"/>
              <a:gd name="connsiteY4367" fmla="*/ 616832 h 2787466"/>
              <a:gd name="connsiteX4368" fmla="*/ 3024472 w 3600000"/>
              <a:gd name="connsiteY4368" fmla="*/ 616832 h 2787466"/>
              <a:gd name="connsiteX4369" fmla="*/ 3025915 w 3600000"/>
              <a:gd name="connsiteY4369" fmla="*/ 608813 h 2787466"/>
              <a:gd name="connsiteX4370" fmla="*/ 3042811 w 3600000"/>
              <a:gd name="connsiteY4370" fmla="*/ 604883 h 2787466"/>
              <a:gd name="connsiteX4371" fmla="*/ 3032302 w 3600000"/>
              <a:gd name="connsiteY4371" fmla="*/ 597965 h 2787466"/>
              <a:gd name="connsiteX4372" fmla="*/ 3044048 w 3600000"/>
              <a:gd name="connsiteY4372" fmla="*/ 589003 h 2787466"/>
              <a:gd name="connsiteX4373" fmla="*/ 3038897 w 3600000"/>
              <a:gd name="connsiteY4373" fmla="*/ 581928 h 2787466"/>
              <a:gd name="connsiteX4374" fmla="*/ 3051879 w 3600000"/>
              <a:gd name="connsiteY4374" fmla="*/ 587902 h 2787466"/>
              <a:gd name="connsiteX4375" fmla="*/ 3057030 w 3600000"/>
              <a:gd name="connsiteY4375" fmla="*/ 577998 h 2787466"/>
              <a:gd name="connsiteX4376" fmla="*/ 3054558 w 3600000"/>
              <a:gd name="connsiteY4376" fmla="*/ 570136 h 2787466"/>
              <a:gd name="connsiteX4377" fmla="*/ 3041575 w 3600000"/>
              <a:gd name="connsiteY4377" fmla="*/ 566049 h 2787466"/>
              <a:gd name="connsiteX4378" fmla="*/ 3051879 w 3600000"/>
              <a:gd name="connsiteY4378" fmla="*/ 566049 h 2787466"/>
              <a:gd name="connsiteX4379" fmla="*/ 3057030 w 3600000"/>
              <a:gd name="connsiteY4379" fmla="*/ 548282 h 2787466"/>
              <a:gd name="connsiteX4380" fmla="*/ 3070219 w 3600000"/>
              <a:gd name="connsiteY4380" fmla="*/ 554257 h 2787466"/>
              <a:gd name="connsiteX4381" fmla="*/ 3075370 w 3600000"/>
              <a:gd name="connsiteY4381" fmla="*/ 560231 h 2787466"/>
              <a:gd name="connsiteX4382" fmla="*/ 3071455 w 3600000"/>
              <a:gd name="connsiteY4382" fmla="*/ 572023 h 2787466"/>
              <a:gd name="connsiteX4383" fmla="*/ 3064861 w 3600000"/>
              <a:gd name="connsiteY4383" fmla="*/ 566049 h 2787466"/>
              <a:gd name="connsiteX4384" fmla="*/ 3067539 w 3600000"/>
              <a:gd name="connsiteY4384" fmla="*/ 577998 h 2787466"/>
              <a:gd name="connsiteX4385" fmla="*/ 3049200 w 3600000"/>
              <a:gd name="connsiteY4385" fmla="*/ 597965 h 2787466"/>
              <a:gd name="connsiteX4386" fmla="*/ 3051248 w 3600000"/>
              <a:gd name="connsiteY4386" fmla="*/ 599186 h 2787466"/>
              <a:gd name="connsiteX4387" fmla="*/ 3054787 w 3600000"/>
              <a:gd name="connsiteY4387" fmla="*/ 594686 h 2787466"/>
              <a:gd name="connsiteX4388" fmla="*/ 3066606 w 3600000"/>
              <a:gd name="connsiteY4388" fmla="*/ 592742 h 2787466"/>
              <a:gd name="connsiteX4389" fmla="*/ 3051461 w 3600000"/>
              <a:gd name="connsiteY4389" fmla="*/ 599313 h 2787466"/>
              <a:gd name="connsiteX4390" fmla="*/ 3055794 w 3600000"/>
              <a:gd name="connsiteY4390" fmla="*/ 601896 h 2787466"/>
              <a:gd name="connsiteX4391" fmla="*/ 3055794 w 3600000"/>
              <a:gd name="connsiteY4391" fmla="*/ 605826 h 2787466"/>
              <a:gd name="connsiteX4392" fmla="*/ 3045285 w 3600000"/>
              <a:gd name="connsiteY4392" fmla="*/ 605826 h 2787466"/>
              <a:gd name="connsiteX4393" fmla="*/ 3051879 w 3600000"/>
              <a:gd name="connsiteY4393" fmla="*/ 613844 h 2787466"/>
              <a:gd name="connsiteX4394" fmla="*/ 3041575 w 3600000"/>
              <a:gd name="connsiteY4394" fmla="*/ 616832 h 2787466"/>
              <a:gd name="connsiteX4395" fmla="*/ 3033745 w 3600000"/>
              <a:gd name="connsiteY4395" fmla="*/ 632712 h 2787466"/>
              <a:gd name="connsiteX4396" fmla="*/ 3041575 w 3600000"/>
              <a:gd name="connsiteY4396" fmla="*/ 635699 h 2787466"/>
              <a:gd name="connsiteX4397" fmla="*/ 3044048 w 3600000"/>
              <a:gd name="connsiteY4397" fmla="*/ 640573 h 2787466"/>
              <a:gd name="connsiteX4398" fmla="*/ 3036218 w 3600000"/>
              <a:gd name="connsiteY4398" fmla="*/ 649534 h 2787466"/>
              <a:gd name="connsiteX4399" fmla="*/ 3021999 w 3600000"/>
              <a:gd name="connsiteY4399" fmla="*/ 678464 h 2787466"/>
              <a:gd name="connsiteX4400" fmla="*/ 3037660 w 3600000"/>
              <a:gd name="connsiteY4400" fmla="*/ 687269 h 2787466"/>
              <a:gd name="connsiteX4401" fmla="*/ 3032302 w 3600000"/>
              <a:gd name="connsiteY4401" fmla="*/ 681294 h 2787466"/>
              <a:gd name="connsiteX4402" fmla="*/ 3041575 w 3600000"/>
              <a:gd name="connsiteY4402" fmla="*/ 680350 h 2787466"/>
              <a:gd name="connsiteX4403" fmla="*/ 3067539 w 3600000"/>
              <a:gd name="connsiteY4403" fmla="*/ 632712 h 2787466"/>
              <a:gd name="connsiteX4404" fmla="*/ 3068776 w 3600000"/>
              <a:gd name="connsiteY4404" fmla="*/ 642617 h 2787466"/>
              <a:gd name="connsiteX4405" fmla="*/ 3080522 w 3600000"/>
              <a:gd name="connsiteY4405" fmla="*/ 642617 h 2787466"/>
              <a:gd name="connsiteX4406" fmla="*/ 3072691 w 3600000"/>
              <a:gd name="connsiteY4406" fmla="*/ 644661 h 2787466"/>
              <a:gd name="connsiteX4407" fmla="*/ 3079285 w 3600000"/>
              <a:gd name="connsiteY4407" fmla="*/ 658496 h 2787466"/>
              <a:gd name="connsiteX4408" fmla="*/ 3067539 w 3600000"/>
              <a:gd name="connsiteY4408" fmla="*/ 652522 h 2787466"/>
              <a:gd name="connsiteX4409" fmla="*/ 3074133 w 3600000"/>
              <a:gd name="connsiteY4409" fmla="*/ 647648 h 2787466"/>
              <a:gd name="connsiteX4410" fmla="*/ 3060946 w 3600000"/>
              <a:gd name="connsiteY4410" fmla="*/ 646547 h 2787466"/>
              <a:gd name="connsiteX4411" fmla="*/ 3064861 w 3600000"/>
              <a:gd name="connsiteY4411" fmla="*/ 657553 h 2787466"/>
              <a:gd name="connsiteX4412" fmla="*/ 3074133 w 3600000"/>
              <a:gd name="connsiteY4412" fmla="*/ 664471 h 2787466"/>
              <a:gd name="connsiteX4413" fmla="*/ 3055794 w 3600000"/>
              <a:gd name="connsiteY4413" fmla="*/ 704248 h 2787466"/>
              <a:gd name="connsiteX4414" fmla="*/ 3066303 w 3600000"/>
              <a:gd name="connsiteY4414" fmla="*/ 707236 h 2787466"/>
              <a:gd name="connsiteX4415" fmla="*/ 3047963 w 3600000"/>
              <a:gd name="connsiteY4415" fmla="*/ 720128 h 2787466"/>
              <a:gd name="connsiteX4416" fmla="*/ 3045285 w 3600000"/>
              <a:gd name="connsiteY4416" fmla="*/ 710223 h 2787466"/>
              <a:gd name="connsiteX4417" fmla="*/ 3051879 w 3600000"/>
              <a:gd name="connsiteY4417" fmla="*/ 711166 h 2787466"/>
              <a:gd name="connsiteX4418" fmla="*/ 3044048 w 3600000"/>
              <a:gd name="connsiteY4418" fmla="*/ 702205 h 2787466"/>
              <a:gd name="connsiteX4419" fmla="*/ 3049200 w 3600000"/>
              <a:gd name="connsiteY4419" fmla="*/ 724059 h 2787466"/>
              <a:gd name="connsiteX4420" fmla="*/ 3042811 w 3600000"/>
              <a:gd name="connsiteY4420" fmla="*/ 736007 h 2787466"/>
              <a:gd name="connsiteX4421" fmla="*/ 3033745 w 3600000"/>
              <a:gd name="connsiteY4421" fmla="*/ 727046 h 2787466"/>
              <a:gd name="connsiteX4422" fmla="*/ 3032302 w 3600000"/>
              <a:gd name="connsiteY4422" fmla="*/ 739938 h 2787466"/>
              <a:gd name="connsiteX4423" fmla="*/ 3038897 w 3600000"/>
              <a:gd name="connsiteY4423" fmla="*/ 757862 h 2787466"/>
              <a:gd name="connsiteX4424" fmla="*/ 3032302 w 3600000"/>
              <a:gd name="connsiteY4424" fmla="*/ 754874 h 2787466"/>
              <a:gd name="connsiteX4425" fmla="*/ 3031066 w 3600000"/>
              <a:gd name="connsiteY4425" fmla="*/ 763837 h 2787466"/>
              <a:gd name="connsiteX4426" fmla="*/ 3020763 w 3600000"/>
              <a:gd name="connsiteY4426" fmla="*/ 769811 h 2787466"/>
              <a:gd name="connsiteX4427" fmla="*/ 3027151 w 3600000"/>
              <a:gd name="connsiteY4427" fmla="*/ 780659 h 2787466"/>
              <a:gd name="connsiteX4428" fmla="*/ 3018084 w 3600000"/>
              <a:gd name="connsiteY4428" fmla="*/ 783647 h 2787466"/>
              <a:gd name="connsiteX4429" fmla="*/ 3019320 w 3600000"/>
              <a:gd name="connsiteY4429" fmla="*/ 793709 h 2787466"/>
              <a:gd name="connsiteX4430" fmla="*/ 3012726 w 3600000"/>
              <a:gd name="connsiteY4430" fmla="*/ 790722 h 2787466"/>
              <a:gd name="connsiteX4431" fmla="*/ 3018084 w 3600000"/>
              <a:gd name="connsiteY4431" fmla="*/ 795596 h 2787466"/>
              <a:gd name="connsiteX4432" fmla="*/ 3011490 w 3600000"/>
              <a:gd name="connsiteY4432" fmla="*/ 799526 h 2787466"/>
              <a:gd name="connsiteX4433" fmla="*/ 3006338 w 3600000"/>
              <a:gd name="connsiteY4433" fmla="*/ 792609 h 2787466"/>
              <a:gd name="connsiteX4434" fmla="*/ 3012726 w 3600000"/>
              <a:gd name="connsiteY4434" fmla="*/ 806602 h 2787466"/>
              <a:gd name="connsiteX4435" fmla="*/ 3003660 w 3600000"/>
              <a:gd name="connsiteY4435" fmla="*/ 815406 h 2787466"/>
              <a:gd name="connsiteX4436" fmla="*/ 2994593 w 3600000"/>
              <a:gd name="connsiteY4436" fmla="*/ 816506 h 2787466"/>
              <a:gd name="connsiteX4437" fmla="*/ 2980375 w 3600000"/>
              <a:gd name="connsiteY4437" fmla="*/ 850310 h 2787466"/>
              <a:gd name="connsiteX4438" fmla="*/ 2968628 w 3600000"/>
              <a:gd name="connsiteY4438" fmla="*/ 850310 h 2787466"/>
              <a:gd name="connsiteX4439" fmla="*/ 2962035 w 3600000"/>
              <a:gd name="connsiteY4439" fmla="*/ 865246 h 2787466"/>
              <a:gd name="connsiteX4440" fmla="*/ 2960798 w 3600000"/>
              <a:gd name="connsiteY4440" fmla="*/ 876094 h 2787466"/>
              <a:gd name="connsiteX4441" fmla="*/ 2954204 w 3600000"/>
              <a:gd name="connsiteY4441" fmla="*/ 876094 h 2787466"/>
              <a:gd name="connsiteX4442" fmla="*/ 2942458 w 3600000"/>
              <a:gd name="connsiteY4442" fmla="*/ 894961 h 2787466"/>
              <a:gd name="connsiteX4443" fmla="*/ 2943765 w 3600000"/>
              <a:gd name="connsiteY4443" fmla="*/ 904608 h 2787466"/>
              <a:gd name="connsiteX4444" fmla="*/ 2944058 w 3600000"/>
              <a:gd name="connsiteY4444" fmla="*/ 904763 h 2787466"/>
              <a:gd name="connsiteX4445" fmla="*/ 2943859 w 3600000"/>
              <a:gd name="connsiteY4445" fmla="*/ 905298 h 2787466"/>
              <a:gd name="connsiteX4446" fmla="*/ 2943952 w 3600000"/>
              <a:gd name="connsiteY4446" fmla="*/ 905986 h 2787466"/>
              <a:gd name="connsiteX4447" fmla="*/ 2946373 w 3600000"/>
              <a:gd name="connsiteY4447" fmla="*/ 914772 h 2787466"/>
              <a:gd name="connsiteX4448" fmla="*/ 2917730 w 3600000"/>
              <a:gd name="connsiteY4448" fmla="*/ 930651 h 2787466"/>
              <a:gd name="connsiteX4449" fmla="*/ 2911342 w 3600000"/>
              <a:gd name="connsiteY4449" fmla="*/ 939613 h 2787466"/>
              <a:gd name="connsiteX4450" fmla="*/ 2909900 w 3600000"/>
              <a:gd name="connsiteY4450" fmla="*/ 933796 h 2787466"/>
              <a:gd name="connsiteX4451" fmla="*/ 2905984 w 3600000"/>
              <a:gd name="connsiteY4451" fmla="*/ 948575 h 2787466"/>
              <a:gd name="connsiteX4452" fmla="*/ 2915051 w 3600000"/>
              <a:gd name="connsiteY4452" fmla="*/ 942600 h 2787466"/>
              <a:gd name="connsiteX4453" fmla="*/ 2890529 w 3600000"/>
              <a:gd name="connsiteY4453" fmla="*/ 958480 h 2787466"/>
              <a:gd name="connsiteX4454" fmla="*/ 2895681 w 3600000"/>
              <a:gd name="connsiteY4454" fmla="*/ 964455 h 2787466"/>
              <a:gd name="connsiteX4455" fmla="*/ 2886614 w 3600000"/>
              <a:gd name="connsiteY4455" fmla="*/ 971530 h 2787466"/>
              <a:gd name="connsiteX4456" fmla="*/ 2894110 w 3600000"/>
              <a:gd name="connsiteY4456" fmla="*/ 971530 h 2787466"/>
              <a:gd name="connsiteX4457" fmla="*/ 2893202 w 3600000"/>
              <a:gd name="connsiteY4457" fmla="*/ 971010 h 2787466"/>
              <a:gd name="connsiteX4458" fmla="*/ 2901875 w 3600000"/>
              <a:gd name="connsiteY4458" fmla="*/ 962638 h 2787466"/>
              <a:gd name="connsiteX4459" fmla="*/ 2906519 w 3600000"/>
              <a:gd name="connsiteY4459" fmla="*/ 964281 h 2787466"/>
              <a:gd name="connsiteX4460" fmla="*/ 2909208 w 3600000"/>
              <a:gd name="connsiteY4460" fmla="*/ 963649 h 2787466"/>
              <a:gd name="connsiteX4461" fmla="*/ 2916219 w 3600000"/>
              <a:gd name="connsiteY4461" fmla="*/ 960596 h 2787466"/>
              <a:gd name="connsiteX4462" fmla="*/ 2903310 w 3600000"/>
              <a:gd name="connsiteY4462" fmla="*/ 960596 h 2787466"/>
              <a:gd name="connsiteX4463" fmla="*/ 2921341 w 3600000"/>
              <a:gd name="connsiteY4463" fmla="*/ 956669 h 2787466"/>
              <a:gd name="connsiteX4464" fmla="*/ 2924004 w 3600000"/>
              <a:gd name="connsiteY4464" fmla="*/ 968607 h 2787466"/>
              <a:gd name="connsiteX4465" fmla="*/ 2910891 w 3600000"/>
              <a:gd name="connsiteY4465" fmla="*/ 967684 h 2787466"/>
              <a:gd name="connsiteX4466" fmla="*/ 2908665 w 3600000"/>
              <a:gd name="connsiteY4466" fmla="*/ 967309 h 2787466"/>
              <a:gd name="connsiteX4467" fmla="*/ 2904748 w 3600000"/>
              <a:gd name="connsiteY4467" fmla="*/ 972473 h 2787466"/>
              <a:gd name="connsiteX4468" fmla="*/ 2899332 w 3600000"/>
              <a:gd name="connsiteY4468" fmla="*/ 973204 h 2787466"/>
              <a:gd name="connsiteX4469" fmla="*/ 2899418 w 3600000"/>
              <a:gd name="connsiteY4469" fmla="*/ 974575 h 2787466"/>
              <a:gd name="connsiteX4470" fmla="*/ 2897223 w 3600000"/>
              <a:gd name="connsiteY4470" fmla="*/ 973317 h 2787466"/>
              <a:gd name="connsiteX4471" fmla="*/ 2892101 w 3600000"/>
              <a:gd name="connsiteY4471" fmla="*/ 972964 h 2787466"/>
              <a:gd name="connsiteX4472" fmla="*/ 2885172 w 3600000"/>
              <a:gd name="connsiteY4472" fmla="*/ 976404 h 2787466"/>
              <a:gd name="connsiteX4473" fmla="*/ 2888006 w 3600000"/>
              <a:gd name="connsiteY4473" fmla="*/ 980944 h 2787466"/>
              <a:gd name="connsiteX4474" fmla="*/ 2889327 w 3600000"/>
              <a:gd name="connsiteY4474" fmla="*/ 982498 h 2787466"/>
              <a:gd name="connsiteX4475" fmla="*/ 2890589 w 3600000"/>
              <a:gd name="connsiteY4475" fmla="*/ 981143 h 2787466"/>
              <a:gd name="connsiteX4476" fmla="*/ 2898346 w 3600000"/>
              <a:gd name="connsiteY4476" fmla="*/ 976119 h 2787466"/>
              <a:gd name="connsiteX4477" fmla="*/ 2907612 w 3600000"/>
              <a:gd name="connsiteY4477" fmla="*/ 978179 h 2787466"/>
              <a:gd name="connsiteX4478" fmla="*/ 2908848 w 3600000"/>
              <a:gd name="connsiteY4478" fmla="*/ 985151 h 2787466"/>
              <a:gd name="connsiteX4479" fmla="*/ 2904935 w 3600000"/>
              <a:gd name="connsiteY4479" fmla="*/ 981189 h 2787466"/>
              <a:gd name="connsiteX4480" fmla="*/ 2895876 w 3600000"/>
              <a:gd name="connsiteY4480" fmla="*/ 980239 h 2787466"/>
              <a:gd name="connsiteX4481" fmla="*/ 2898346 w 3600000"/>
              <a:gd name="connsiteY4481" fmla="*/ 987211 h 2787466"/>
              <a:gd name="connsiteX4482" fmla="*/ 2912760 w 3600000"/>
              <a:gd name="connsiteY4482" fmla="*/ 995134 h 2787466"/>
              <a:gd name="connsiteX4483" fmla="*/ 2906782 w 3600000"/>
              <a:gd name="connsiteY4483" fmla="*/ 993044 h 2787466"/>
              <a:gd name="connsiteX4484" fmla="*/ 2903512 w 3600000"/>
              <a:gd name="connsiteY4484" fmla="*/ 995271 h 2787466"/>
              <a:gd name="connsiteX4485" fmla="*/ 2905984 w 3600000"/>
              <a:gd name="connsiteY4485" fmla="*/ 1000302 h 2787466"/>
              <a:gd name="connsiteX4486" fmla="*/ 2924324 w 3600000"/>
              <a:gd name="connsiteY4486" fmla="*/ 995271 h 2787466"/>
              <a:gd name="connsiteX4487" fmla="*/ 2921645 w 3600000"/>
              <a:gd name="connsiteY4487" fmla="*/ 1000302 h 2787466"/>
              <a:gd name="connsiteX4488" fmla="*/ 2936070 w 3600000"/>
              <a:gd name="connsiteY4488" fmla="*/ 977504 h 2787466"/>
              <a:gd name="connsiteX4489" fmla="*/ 2945136 w 3600000"/>
              <a:gd name="connsiteY4489" fmla="*/ 984422 h 2787466"/>
              <a:gd name="connsiteX4490" fmla="*/ 2941376 w 3600000"/>
              <a:gd name="connsiteY4490" fmla="*/ 972395 h 2787466"/>
              <a:gd name="connsiteX4491" fmla="*/ 2946664 w 3600000"/>
              <a:gd name="connsiteY4491" fmla="*/ 968337 h 2787466"/>
              <a:gd name="connsiteX4492" fmla="*/ 2949052 w 3600000"/>
              <a:gd name="connsiteY4492" fmla="*/ 970429 h 2787466"/>
              <a:gd name="connsiteX4493" fmla="*/ 2960798 w 3600000"/>
              <a:gd name="connsiteY4493" fmla="*/ 954550 h 2787466"/>
              <a:gd name="connsiteX4494" fmla="*/ 2972544 w 3600000"/>
              <a:gd name="connsiteY4494" fmla="*/ 954550 h 2787466"/>
              <a:gd name="connsiteX4495" fmla="*/ 2969864 w 3600000"/>
              <a:gd name="connsiteY4495" fmla="*/ 944645 h 2787466"/>
              <a:gd name="connsiteX4496" fmla="*/ 2977695 w 3600000"/>
              <a:gd name="connsiteY4496" fmla="*/ 941657 h 2787466"/>
              <a:gd name="connsiteX4497" fmla="*/ 2982847 w 3600000"/>
              <a:gd name="connsiteY4497" fmla="*/ 943701 h 2787466"/>
              <a:gd name="connsiteX4498" fmla="*/ 3001187 w 3600000"/>
              <a:gd name="connsiteY4498" fmla="*/ 911784 h 2787466"/>
              <a:gd name="connsiteX4499" fmla="*/ 3012726 w 3600000"/>
              <a:gd name="connsiteY4499" fmla="*/ 918859 h 2787466"/>
              <a:gd name="connsiteX4500" fmla="*/ 3016848 w 3600000"/>
              <a:gd name="connsiteY4500" fmla="*/ 905967 h 2787466"/>
              <a:gd name="connsiteX4501" fmla="*/ 3007575 w 3600000"/>
              <a:gd name="connsiteY4501" fmla="*/ 911784 h 2787466"/>
              <a:gd name="connsiteX4502" fmla="*/ 3027151 w 3600000"/>
              <a:gd name="connsiteY4502" fmla="*/ 899993 h 2787466"/>
              <a:gd name="connsiteX4503" fmla="*/ 3014169 w 3600000"/>
              <a:gd name="connsiteY4503" fmla="*/ 897949 h 2787466"/>
              <a:gd name="connsiteX4504" fmla="*/ 3033745 w 3600000"/>
              <a:gd name="connsiteY4504" fmla="*/ 862259 h 2787466"/>
              <a:gd name="connsiteX4505" fmla="*/ 3032302 w 3600000"/>
              <a:gd name="connsiteY4505" fmla="*/ 869177 h 2787466"/>
              <a:gd name="connsiteX4506" fmla="*/ 3040967 w 3600000"/>
              <a:gd name="connsiteY4506" fmla="*/ 870017 h 2787466"/>
              <a:gd name="connsiteX4507" fmla="*/ 3042086 w 3600000"/>
              <a:gd name="connsiteY4507" fmla="*/ 869711 h 2787466"/>
              <a:gd name="connsiteX4508" fmla="*/ 3044578 w 3600000"/>
              <a:gd name="connsiteY4508" fmla="*/ 858321 h 2787466"/>
              <a:gd name="connsiteX4509" fmla="*/ 3044599 w 3600000"/>
              <a:gd name="connsiteY4509" fmla="*/ 857898 h 2787466"/>
              <a:gd name="connsiteX4510" fmla="*/ 3044702 w 3600000"/>
              <a:gd name="connsiteY4510" fmla="*/ 857752 h 2787466"/>
              <a:gd name="connsiteX4511" fmla="*/ 3048364 w 3600000"/>
              <a:gd name="connsiteY4511" fmla="*/ 841014 h 2787466"/>
              <a:gd name="connsiteX4512" fmla="*/ 3045314 w 3600000"/>
              <a:gd name="connsiteY4512" fmla="*/ 842161 h 2787466"/>
              <a:gd name="connsiteX4513" fmla="*/ 3047654 w 3600000"/>
              <a:gd name="connsiteY4513" fmla="*/ 836143 h 2787466"/>
              <a:gd name="connsiteX4514" fmla="*/ 3051295 w 3600000"/>
              <a:gd name="connsiteY4514" fmla="*/ 827614 h 2787466"/>
              <a:gd name="connsiteX4515" fmla="*/ 3052132 w 3600000"/>
              <a:gd name="connsiteY4515" fmla="*/ 823790 h 2787466"/>
              <a:gd name="connsiteX4516" fmla="*/ 3049284 w 3600000"/>
              <a:gd name="connsiteY4516" fmla="*/ 824411 h 2787466"/>
              <a:gd name="connsiteX4517" fmla="*/ 3051955 w 3600000"/>
              <a:gd name="connsiteY4517" fmla="*/ 823469 h 2787466"/>
              <a:gd name="connsiteX4518" fmla="*/ 3055857 w 3600000"/>
              <a:gd name="connsiteY4518" fmla="*/ 806673 h 2787466"/>
              <a:gd name="connsiteX4519" fmla="*/ 3055875 w 3600000"/>
              <a:gd name="connsiteY4519" fmla="*/ 806676 h 2787466"/>
              <a:gd name="connsiteX4520" fmla="*/ 3059586 w 3600000"/>
              <a:gd name="connsiteY4520" fmla="*/ 789715 h 2787466"/>
              <a:gd name="connsiteX4521" fmla="*/ 3067414 w 3600000"/>
              <a:gd name="connsiteY4521" fmla="*/ 772895 h 2787466"/>
              <a:gd name="connsiteX4522" fmla="*/ 3079648 w 3600000"/>
              <a:gd name="connsiteY4522" fmla="*/ 791228 h 2787466"/>
              <a:gd name="connsiteX4523" fmla="*/ 3080617 w 3600000"/>
              <a:gd name="connsiteY4523" fmla="*/ 797256 h 2787466"/>
              <a:gd name="connsiteX4524" fmla="*/ 3085351 w 3600000"/>
              <a:gd name="connsiteY4524" fmla="*/ 797256 h 2787466"/>
              <a:gd name="connsiteX4525" fmla="*/ 3086380 w 3600000"/>
              <a:gd name="connsiteY4525" fmla="*/ 797256 h 2787466"/>
              <a:gd name="connsiteX4526" fmla="*/ 3087329 w 3600000"/>
              <a:gd name="connsiteY4526" fmla="*/ 795112 h 2787466"/>
              <a:gd name="connsiteX4527" fmla="*/ 3087116 w 3600000"/>
              <a:gd name="connsiteY4527" fmla="*/ 786634 h 2787466"/>
              <a:gd name="connsiteX4528" fmla="*/ 3094946 w 3600000"/>
              <a:gd name="connsiteY4528" fmla="*/ 789621 h 2787466"/>
              <a:gd name="connsiteX4529" fmla="*/ 3113081 w 3600000"/>
              <a:gd name="connsiteY4529" fmla="*/ 762893 h 2787466"/>
              <a:gd name="connsiteX4530" fmla="*/ 3120912 w 3600000"/>
              <a:gd name="connsiteY4530" fmla="*/ 766823 h 2787466"/>
              <a:gd name="connsiteX4531" fmla="*/ 3124826 w 3600000"/>
              <a:gd name="connsiteY4531" fmla="*/ 757862 h 2787466"/>
              <a:gd name="connsiteX4532" fmla="*/ 3116995 w 3600000"/>
              <a:gd name="connsiteY4532" fmla="*/ 751887 h 2787466"/>
              <a:gd name="connsiteX4533" fmla="*/ 3123590 w 3600000"/>
              <a:gd name="connsiteY4533" fmla="*/ 744970 h 2787466"/>
              <a:gd name="connsiteX4534" fmla="*/ 3115759 w 3600000"/>
              <a:gd name="connsiteY4534" fmla="*/ 744970 h 2787466"/>
              <a:gd name="connsiteX4535" fmla="*/ 3117716 w 3600000"/>
              <a:gd name="connsiteY4535" fmla="*/ 742903 h 2787466"/>
              <a:gd name="connsiteX4536" fmla="*/ 3117490 w 3600000"/>
              <a:gd name="connsiteY4536" fmla="*/ 742911 h 2787466"/>
              <a:gd name="connsiteX4537" fmla="*/ 3114374 w 3600000"/>
              <a:gd name="connsiteY4537" fmla="*/ 743027 h 2787466"/>
              <a:gd name="connsiteX4538" fmla="*/ 3116428 w 3600000"/>
              <a:gd name="connsiteY4538" fmla="*/ 739481 h 2787466"/>
              <a:gd name="connsiteX4539" fmla="*/ 3122698 w 3600000"/>
              <a:gd name="connsiteY4539" fmla="*/ 738812 h 2787466"/>
              <a:gd name="connsiteX4540" fmla="*/ 3124308 w 3600000"/>
              <a:gd name="connsiteY4540" fmla="*/ 737541 h 2787466"/>
              <a:gd name="connsiteX4541" fmla="*/ 3127505 w 3600000"/>
              <a:gd name="connsiteY4541" fmla="*/ 733021 h 2787466"/>
              <a:gd name="connsiteX4542" fmla="*/ 3116995 w 3600000"/>
              <a:gd name="connsiteY4542" fmla="*/ 733021 h 2787466"/>
              <a:gd name="connsiteX4543" fmla="*/ 3146875 w 3600000"/>
              <a:gd name="connsiteY4543" fmla="*/ 714154 h 2787466"/>
              <a:gd name="connsiteX4544" fmla="*/ 3152233 w 3600000"/>
              <a:gd name="connsiteY4544" fmla="*/ 697173 h 2787466"/>
              <a:gd name="connsiteX4545" fmla="*/ 3157385 w 3600000"/>
              <a:gd name="connsiteY4545" fmla="*/ 700160 h 2787466"/>
              <a:gd name="connsiteX4546" fmla="*/ 3166452 w 3600000"/>
              <a:gd name="connsiteY4546" fmla="*/ 688369 h 2787466"/>
              <a:gd name="connsiteX4547" fmla="*/ 3146875 w 3600000"/>
              <a:gd name="connsiteY4547" fmla="*/ 684281 h 2787466"/>
              <a:gd name="connsiteX4548" fmla="*/ 3156148 w 3600000"/>
              <a:gd name="connsiteY4548" fmla="*/ 669502 h 2787466"/>
              <a:gd name="connsiteX4549" fmla="*/ 3163257 w 3600000"/>
              <a:gd name="connsiteY4549" fmla="*/ 654363 h 2787466"/>
              <a:gd name="connsiteX4550" fmla="*/ 3163196 w 3600000"/>
              <a:gd name="connsiteY4550" fmla="*/ 653998 h 2787466"/>
              <a:gd name="connsiteX4551" fmla="*/ 3163837 w 3600000"/>
              <a:gd name="connsiteY4551" fmla="*/ 640682 h 2787466"/>
              <a:gd name="connsiteX4552" fmla="*/ 3180732 w 3600000"/>
              <a:gd name="connsiteY4552" fmla="*/ 616943 h 2787466"/>
              <a:gd name="connsiteX4553" fmla="*/ 3178053 w 3600000"/>
              <a:gd name="connsiteY4553" fmla="*/ 609869 h 2787466"/>
              <a:gd name="connsiteX4554" fmla="*/ 3184365 w 3600000"/>
              <a:gd name="connsiteY4554" fmla="*/ 602726 h 2787466"/>
              <a:gd name="connsiteX4555" fmla="*/ 3186857 w 3600000"/>
              <a:gd name="connsiteY4555" fmla="*/ 600568 h 2787466"/>
              <a:gd name="connsiteX4556" fmla="*/ 3200246 w 3600000"/>
              <a:gd name="connsiteY4556" fmla="*/ 564161 h 2787466"/>
              <a:gd name="connsiteX4557" fmla="*/ 3200246 w 3600000"/>
              <a:gd name="connsiteY4557" fmla="*/ 575010 h 2787466"/>
              <a:gd name="connsiteX4558" fmla="*/ 3208076 w 3600000"/>
              <a:gd name="connsiteY4558" fmla="*/ 577054 h 2787466"/>
              <a:gd name="connsiteX4559" fmla="*/ 3209519 w 3600000"/>
              <a:gd name="connsiteY4559" fmla="*/ 573124 h 2787466"/>
              <a:gd name="connsiteX4560" fmla="*/ 3202925 w 3600000"/>
              <a:gd name="connsiteY4560" fmla="*/ 569035 h 2787466"/>
              <a:gd name="connsiteX4561" fmla="*/ 3207999 w 3600000"/>
              <a:gd name="connsiteY4561" fmla="*/ 566618 h 2787466"/>
              <a:gd name="connsiteX4562" fmla="*/ 3209884 w 3600000"/>
              <a:gd name="connsiteY4562" fmla="*/ 566869 h 2787466"/>
              <a:gd name="connsiteX4563" fmla="*/ 3209653 w 3600000"/>
              <a:gd name="connsiteY4563" fmla="*/ 564514 h 2787466"/>
              <a:gd name="connsiteX4564" fmla="*/ 3211485 w 3600000"/>
              <a:gd name="connsiteY4564" fmla="*/ 558732 h 2787466"/>
              <a:gd name="connsiteX4565" fmla="*/ 3211655 w 3600000"/>
              <a:gd name="connsiteY4565" fmla="*/ 558618 h 2787466"/>
              <a:gd name="connsiteX4566" fmla="*/ 3208076 w 3600000"/>
              <a:gd name="connsiteY4566" fmla="*/ 558187 h 2787466"/>
              <a:gd name="connsiteX4567" fmla="*/ 3188706 w 3600000"/>
              <a:gd name="connsiteY4567" fmla="*/ 565105 h 2787466"/>
              <a:gd name="connsiteX4568" fmla="*/ 3193858 w 3600000"/>
              <a:gd name="connsiteY4568" fmla="*/ 556143 h 2787466"/>
              <a:gd name="connsiteX4569" fmla="*/ 3202925 w 3600000"/>
              <a:gd name="connsiteY4569" fmla="*/ 558187 h 2787466"/>
              <a:gd name="connsiteX4570" fmla="*/ 3209519 w 3600000"/>
              <a:gd name="connsiteY4570" fmla="*/ 532402 h 2787466"/>
              <a:gd name="connsiteX4571" fmla="*/ 3210755 w 3600000"/>
              <a:gd name="connsiteY4571" fmla="*/ 527372 h 2787466"/>
              <a:gd name="connsiteX4572" fmla="*/ 3218585 w 3600000"/>
              <a:gd name="connsiteY4572" fmla="*/ 518409 h 2787466"/>
              <a:gd name="connsiteX4573" fmla="*/ 3220543 w 3600000"/>
              <a:gd name="connsiteY4573" fmla="*/ 525759 h 2787466"/>
              <a:gd name="connsiteX4574" fmla="*/ 3222381 w 3600000"/>
              <a:gd name="connsiteY4574" fmla="*/ 531994 h 2787466"/>
              <a:gd name="connsiteX4575" fmla="*/ 3223766 w 3600000"/>
              <a:gd name="connsiteY4575" fmla="*/ 527983 h 2787466"/>
              <a:gd name="connsiteX4576" fmla="*/ 3229590 w 3600000"/>
              <a:gd name="connsiteY4576" fmla="*/ 521676 h 2787466"/>
              <a:gd name="connsiteX4577" fmla="*/ 3229662 w 3600000"/>
              <a:gd name="connsiteY4577" fmla="*/ 521279 h 2787466"/>
              <a:gd name="connsiteX4578" fmla="*/ 3229094 w 3600000"/>
              <a:gd name="connsiteY4578" fmla="*/ 509448 h 2787466"/>
              <a:gd name="connsiteX4579" fmla="*/ 3238162 w 3600000"/>
              <a:gd name="connsiteY4579" fmla="*/ 499542 h 2787466"/>
              <a:gd name="connsiteX4580" fmla="*/ 3255060 w 3600000"/>
              <a:gd name="connsiteY4580" fmla="*/ 505517 h 2787466"/>
              <a:gd name="connsiteX4581" fmla="*/ 3252380 w 3600000"/>
              <a:gd name="connsiteY4581" fmla="*/ 490581 h 2787466"/>
              <a:gd name="connsiteX4582" fmla="*/ 3240635 w 3600000"/>
              <a:gd name="connsiteY4582" fmla="*/ 485707 h 2787466"/>
              <a:gd name="connsiteX4583" fmla="*/ 3253823 w 3600000"/>
              <a:gd name="connsiteY4583" fmla="*/ 476745 h 2787466"/>
              <a:gd name="connsiteX4584" fmla="*/ 3268041 w 3600000"/>
              <a:gd name="connsiteY4584" fmla="*/ 479732 h 2787466"/>
              <a:gd name="connsiteX4585" fmla="*/ 3269278 w 3600000"/>
              <a:gd name="connsiteY4585" fmla="*/ 491682 h 2787466"/>
              <a:gd name="connsiteX4586" fmla="*/ 3258962 w 3600000"/>
              <a:gd name="connsiteY4586" fmla="*/ 515228 h 2787466"/>
              <a:gd name="connsiteX4587" fmla="*/ 3256276 w 3600000"/>
              <a:gd name="connsiteY4587" fmla="*/ 521530 h 2787466"/>
              <a:gd name="connsiteX4588" fmla="*/ 3255839 w 3600000"/>
              <a:gd name="connsiteY4588" fmla="*/ 523547 h 2787466"/>
              <a:gd name="connsiteX4589" fmla="*/ 3262731 w 3600000"/>
              <a:gd name="connsiteY4589" fmla="*/ 527492 h 2787466"/>
              <a:gd name="connsiteX4590" fmla="*/ 3260102 w 3600000"/>
              <a:gd name="connsiteY4590" fmla="*/ 529818 h 2787466"/>
              <a:gd name="connsiteX4591" fmla="*/ 3258924 w 3600000"/>
              <a:gd name="connsiteY4591" fmla="*/ 534781 h 2787466"/>
              <a:gd name="connsiteX4592" fmla="*/ 3255060 w 3600000"/>
              <a:gd name="connsiteY4592" fmla="*/ 545295 h 2787466"/>
              <a:gd name="connsiteX4593" fmla="*/ 3261653 w 3600000"/>
              <a:gd name="connsiteY4593" fmla="*/ 545295 h 2787466"/>
              <a:gd name="connsiteX4594" fmla="*/ 3256815 w 3600000"/>
              <a:gd name="connsiteY4594" fmla="*/ 552812 h 2787466"/>
              <a:gd name="connsiteX4595" fmla="*/ 3255739 w 3600000"/>
              <a:gd name="connsiteY4595" fmla="*/ 553391 h 2787466"/>
              <a:gd name="connsiteX4596" fmla="*/ 3255801 w 3600000"/>
              <a:gd name="connsiteY4596" fmla="*/ 553921 h 2787466"/>
              <a:gd name="connsiteX4597" fmla="*/ 3253611 w 3600000"/>
              <a:gd name="connsiteY4597" fmla="*/ 561319 h 2787466"/>
              <a:gd name="connsiteX4598" fmla="*/ 3257738 w 3600000"/>
              <a:gd name="connsiteY4598" fmla="*/ 564161 h 2787466"/>
              <a:gd name="connsiteX4599" fmla="*/ 3256296 w 3600000"/>
              <a:gd name="connsiteY4599" fmla="*/ 575010 h 2787466"/>
              <a:gd name="connsiteX4600" fmla="*/ 3249908 w 3600000"/>
              <a:gd name="connsiteY4600" fmla="*/ 577054 h 2787466"/>
              <a:gd name="connsiteX4601" fmla="*/ 3253823 w 3600000"/>
              <a:gd name="connsiteY4601" fmla="*/ 586959 h 2787466"/>
              <a:gd name="connsiteX4602" fmla="*/ 3249186 w 3600000"/>
              <a:gd name="connsiteY4602" fmla="*/ 576081 h 2787466"/>
              <a:gd name="connsiteX4603" fmla="*/ 3249560 w 3600000"/>
              <a:gd name="connsiteY4603" fmla="*/ 573491 h 2787466"/>
              <a:gd name="connsiteX4604" fmla="*/ 3240599 w 3600000"/>
              <a:gd name="connsiteY4604" fmla="*/ 589209 h 2787466"/>
              <a:gd name="connsiteX4605" fmla="*/ 3236533 w 3600000"/>
              <a:gd name="connsiteY4605" fmla="*/ 595045 h 2787466"/>
              <a:gd name="connsiteX4606" fmla="*/ 3238162 w 3600000"/>
              <a:gd name="connsiteY4606" fmla="*/ 596865 h 2787466"/>
              <a:gd name="connsiteX4607" fmla="*/ 3234465 w 3600000"/>
              <a:gd name="connsiteY4607" fmla="*/ 598012 h 2787466"/>
              <a:gd name="connsiteX4608" fmla="*/ 3230203 w 3600000"/>
              <a:gd name="connsiteY4608" fmla="*/ 604130 h 2787466"/>
              <a:gd name="connsiteX4609" fmla="*/ 3231233 w 3600000"/>
              <a:gd name="connsiteY4609" fmla="*/ 605414 h 2787466"/>
              <a:gd name="connsiteX4610" fmla="*/ 3232805 w 3600000"/>
              <a:gd name="connsiteY4610" fmla="*/ 609757 h 2787466"/>
              <a:gd name="connsiteX4611" fmla="*/ 3225720 w 3600000"/>
              <a:gd name="connsiteY4611" fmla="*/ 612037 h 2787466"/>
              <a:gd name="connsiteX4612" fmla="*/ 3223617 w 3600000"/>
              <a:gd name="connsiteY4612" fmla="*/ 612984 h 2787466"/>
              <a:gd name="connsiteX4613" fmla="*/ 3222580 w 3600000"/>
              <a:gd name="connsiteY4613" fmla="*/ 614356 h 2787466"/>
              <a:gd name="connsiteX4614" fmla="*/ 3222501 w 3600000"/>
              <a:gd name="connsiteY4614" fmla="*/ 615731 h 2787466"/>
              <a:gd name="connsiteX4615" fmla="*/ 3239399 w 3600000"/>
              <a:gd name="connsiteY4615" fmla="*/ 618718 h 2787466"/>
              <a:gd name="connsiteX4616" fmla="*/ 3221265 w 3600000"/>
              <a:gd name="connsiteY4616" fmla="*/ 626737 h 2787466"/>
              <a:gd name="connsiteX4617" fmla="*/ 3227652 w 3600000"/>
              <a:gd name="connsiteY4617" fmla="*/ 636642 h 2787466"/>
              <a:gd name="connsiteX4618" fmla="*/ 3236720 w 3600000"/>
              <a:gd name="connsiteY4618" fmla="*/ 625637 h 2787466"/>
              <a:gd name="connsiteX4619" fmla="*/ 3227652 w 3600000"/>
              <a:gd name="connsiteY4619" fmla="*/ 646547 h 2787466"/>
              <a:gd name="connsiteX4620" fmla="*/ 3226416 w 3600000"/>
              <a:gd name="connsiteY4620" fmla="*/ 671389 h 2787466"/>
              <a:gd name="connsiteX4621" fmla="*/ 3256296 w 3600000"/>
              <a:gd name="connsiteY4621" fmla="*/ 653465 h 2787466"/>
              <a:gd name="connsiteX4622" fmla="*/ 3255060 w 3600000"/>
              <a:gd name="connsiteY4622" fmla="*/ 645604 h 2787466"/>
              <a:gd name="connsiteX4623" fmla="*/ 3247229 w 3600000"/>
              <a:gd name="connsiteY4623" fmla="*/ 645604 h 2787466"/>
              <a:gd name="connsiteX4624" fmla="*/ 3242077 w 3600000"/>
              <a:gd name="connsiteY4624" fmla="*/ 630668 h 2787466"/>
              <a:gd name="connsiteX4625" fmla="*/ 3251144 w 3600000"/>
              <a:gd name="connsiteY4625" fmla="*/ 635699 h 2787466"/>
              <a:gd name="connsiteX4626" fmla="*/ 3255060 w 3600000"/>
              <a:gd name="connsiteY4626" fmla="*/ 629724 h 2787466"/>
              <a:gd name="connsiteX4627" fmla="*/ 3249908 w 3600000"/>
              <a:gd name="connsiteY4627" fmla="*/ 623750 h 2787466"/>
              <a:gd name="connsiteX4628" fmla="*/ 3260211 w 3600000"/>
              <a:gd name="connsiteY4628" fmla="*/ 613844 h 2787466"/>
              <a:gd name="connsiteX4629" fmla="*/ 3265569 w 3600000"/>
              <a:gd name="connsiteY4629" fmla="*/ 625637 h 2787466"/>
              <a:gd name="connsiteX4630" fmla="*/ 3270721 w 3600000"/>
              <a:gd name="connsiteY4630" fmla="*/ 618718 h 2787466"/>
              <a:gd name="connsiteX4631" fmla="*/ 3262890 w 3600000"/>
              <a:gd name="connsiteY4631" fmla="*/ 610857 h 2787466"/>
              <a:gd name="connsiteX4632" fmla="*/ 3256296 w 3600000"/>
              <a:gd name="connsiteY4632" fmla="*/ 612744 h 2787466"/>
              <a:gd name="connsiteX4633" fmla="*/ 3266805 w 3600000"/>
              <a:gd name="connsiteY4633" fmla="*/ 589946 h 2787466"/>
              <a:gd name="connsiteX4634" fmla="*/ 3269278 w 3600000"/>
              <a:gd name="connsiteY4634" fmla="*/ 544194 h 2787466"/>
              <a:gd name="connsiteX4635" fmla="*/ 3282467 w 3600000"/>
              <a:gd name="connsiteY4635" fmla="*/ 551269 h 2787466"/>
              <a:gd name="connsiteX4636" fmla="*/ 3273194 w 3600000"/>
              <a:gd name="connsiteY4636" fmla="*/ 574067 h 2787466"/>
              <a:gd name="connsiteX4637" fmla="*/ 3265569 w 3600000"/>
              <a:gd name="connsiteY4637" fmla="*/ 586959 h 2787466"/>
              <a:gd name="connsiteX4638" fmla="*/ 3278551 w 3600000"/>
              <a:gd name="connsiteY4638" fmla="*/ 580985 h 2787466"/>
              <a:gd name="connsiteX4639" fmla="*/ 3274636 w 3600000"/>
              <a:gd name="connsiteY4639" fmla="*/ 566049 h 2787466"/>
              <a:gd name="connsiteX4640" fmla="*/ 3287618 w 3600000"/>
              <a:gd name="connsiteY4640" fmla="*/ 547182 h 2787466"/>
              <a:gd name="connsiteX4641" fmla="*/ 3295449 w 3600000"/>
              <a:gd name="connsiteY4641" fmla="*/ 551269 h 2787466"/>
              <a:gd name="connsiteX4642" fmla="*/ 3301836 w 3600000"/>
              <a:gd name="connsiteY4642" fmla="*/ 547182 h 2787466"/>
              <a:gd name="connsiteX4643" fmla="*/ 3295449 w 3600000"/>
              <a:gd name="connsiteY4643" fmla="*/ 538219 h 2787466"/>
              <a:gd name="connsiteX4644" fmla="*/ 3288854 w 3600000"/>
              <a:gd name="connsiteY4644" fmla="*/ 540264 h 2787466"/>
              <a:gd name="connsiteX4645" fmla="*/ 3299363 w 3600000"/>
              <a:gd name="connsiteY4645" fmla="*/ 525327 h 2787466"/>
              <a:gd name="connsiteX4646" fmla="*/ 3307194 w 3600000"/>
              <a:gd name="connsiteY4646" fmla="*/ 529415 h 2787466"/>
              <a:gd name="connsiteX4647" fmla="*/ 3299363 w 3600000"/>
              <a:gd name="connsiteY4647" fmla="*/ 516366 h 2787466"/>
              <a:gd name="connsiteX4648" fmla="*/ 3318940 w 3600000"/>
              <a:gd name="connsiteY4648" fmla="*/ 501587 h 2787466"/>
              <a:gd name="connsiteX4649" fmla="*/ 3328007 w 3600000"/>
              <a:gd name="connsiteY4649" fmla="*/ 484606 h 2787466"/>
              <a:gd name="connsiteX4650" fmla="*/ 3335837 w 3600000"/>
              <a:gd name="connsiteY4650" fmla="*/ 488694 h 2787466"/>
              <a:gd name="connsiteX4651" fmla="*/ 3337074 w 3600000"/>
              <a:gd name="connsiteY4651" fmla="*/ 478632 h 2787466"/>
              <a:gd name="connsiteX4652" fmla="*/ 3347377 w 3600000"/>
              <a:gd name="connsiteY4652" fmla="*/ 474701 h 2787466"/>
              <a:gd name="connsiteX4653" fmla="*/ 3350055 w 3600000"/>
              <a:gd name="connsiteY4653" fmla="*/ 466682 h 2787466"/>
              <a:gd name="connsiteX4654" fmla="*/ 3342225 w 3600000"/>
              <a:gd name="connsiteY4654" fmla="*/ 472657 h 2787466"/>
              <a:gd name="connsiteX4655" fmla="*/ 3334395 w 3600000"/>
              <a:gd name="connsiteY4655" fmla="*/ 466682 h 2787466"/>
              <a:gd name="connsiteX4656" fmla="*/ 3335837 w 3600000"/>
              <a:gd name="connsiteY4656" fmla="*/ 458821 h 2787466"/>
              <a:gd name="connsiteX4657" fmla="*/ 3348819 w 3600000"/>
              <a:gd name="connsiteY4657" fmla="*/ 453790 h 2787466"/>
              <a:gd name="connsiteX4658" fmla="*/ 3346140 w 3600000"/>
              <a:gd name="connsiteY4658" fmla="*/ 464796 h 2787466"/>
              <a:gd name="connsiteX4659" fmla="*/ 3363038 w 3600000"/>
              <a:gd name="connsiteY4659" fmla="*/ 457878 h 2787466"/>
              <a:gd name="connsiteX4660" fmla="*/ 3365716 w 3600000"/>
              <a:gd name="connsiteY4660" fmla="*/ 441999 h 2787466"/>
              <a:gd name="connsiteX4661" fmla="*/ 3373547 w 3600000"/>
              <a:gd name="connsiteY4661" fmla="*/ 449860 h 2787466"/>
              <a:gd name="connsiteX4662" fmla="*/ 3366953 w 3600000"/>
              <a:gd name="connsiteY4662" fmla="*/ 463853 h 2787466"/>
              <a:gd name="connsiteX4663" fmla="*/ 3370867 w 3600000"/>
              <a:gd name="connsiteY4663" fmla="*/ 464796 h 2787466"/>
              <a:gd name="connsiteX4664" fmla="*/ 3373547 w 3600000"/>
              <a:gd name="connsiteY4664" fmla="*/ 485707 h 2787466"/>
              <a:gd name="connsiteX4665" fmla="*/ 3363038 w 3600000"/>
              <a:gd name="connsiteY4665" fmla="*/ 490581 h 2787466"/>
              <a:gd name="connsiteX4666" fmla="*/ 3359328 w 3600000"/>
              <a:gd name="connsiteY4666" fmla="*/ 506460 h 2787466"/>
              <a:gd name="connsiteX4667" fmla="*/ 3361801 w 3600000"/>
              <a:gd name="connsiteY4667" fmla="*/ 498599 h 2787466"/>
              <a:gd name="connsiteX4668" fmla="*/ 3347377 w 3600000"/>
              <a:gd name="connsiteY4668" fmla="*/ 493568 h 2787466"/>
              <a:gd name="connsiteX4669" fmla="*/ 3353971 w 3600000"/>
              <a:gd name="connsiteY4669" fmla="*/ 499542 h 2787466"/>
              <a:gd name="connsiteX4670" fmla="*/ 3351498 w 3600000"/>
              <a:gd name="connsiteY4670" fmla="*/ 510391 h 2787466"/>
              <a:gd name="connsiteX4671" fmla="*/ 3340989 w 3600000"/>
              <a:gd name="connsiteY4671" fmla="*/ 512435 h 2787466"/>
              <a:gd name="connsiteX4672" fmla="*/ 3348819 w 3600000"/>
              <a:gd name="connsiteY4672" fmla="*/ 525327 h 2787466"/>
              <a:gd name="connsiteX4673" fmla="*/ 3361801 w 3600000"/>
              <a:gd name="connsiteY4673" fmla="*/ 529415 h 2787466"/>
              <a:gd name="connsiteX4674" fmla="*/ 3353971 w 3600000"/>
              <a:gd name="connsiteY4674" fmla="*/ 550169 h 2787466"/>
              <a:gd name="connsiteX4675" fmla="*/ 3348819 w 3600000"/>
              <a:gd name="connsiteY4675" fmla="*/ 545295 h 2787466"/>
              <a:gd name="connsiteX4676" fmla="*/ 3346140 w 3600000"/>
              <a:gd name="connsiteY4676" fmla="*/ 560231 h 2787466"/>
              <a:gd name="connsiteX4677" fmla="*/ 3335837 w 3600000"/>
              <a:gd name="connsiteY4677" fmla="*/ 577054 h 2787466"/>
              <a:gd name="connsiteX4678" fmla="*/ 3318940 w 3600000"/>
              <a:gd name="connsiteY4678" fmla="*/ 580985 h 2787466"/>
              <a:gd name="connsiteX4679" fmla="*/ 3329243 w 3600000"/>
              <a:gd name="connsiteY4679" fmla="*/ 591991 h 2787466"/>
              <a:gd name="connsiteX4680" fmla="*/ 3324091 w 3600000"/>
              <a:gd name="connsiteY4680" fmla="*/ 598908 h 2787466"/>
              <a:gd name="connsiteX4681" fmla="*/ 3317498 w 3600000"/>
              <a:gd name="connsiteY4681" fmla="*/ 596865 h 2787466"/>
              <a:gd name="connsiteX4682" fmla="*/ 3320176 w 3600000"/>
              <a:gd name="connsiteY4682" fmla="*/ 603940 h 2787466"/>
              <a:gd name="connsiteX4683" fmla="*/ 3307194 w 3600000"/>
              <a:gd name="connsiteY4683" fmla="*/ 604883 h 2787466"/>
              <a:gd name="connsiteX4684" fmla="*/ 3309667 w 3600000"/>
              <a:gd name="connsiteY4684" fmla="*/ 620762 h 2787466"/>
              <a:gd name="connsiteX4685" fmla="*/ 3321413 w 3600000"/>
              <a:gd name="connsiteY4685" fmla="*/ 607870 h 2787466"/>
              <a:gd name="connsiteX4686" fmla="*/ 3313582 w 3600000"/>
              <a:gd name="connsiteY4686" fmla="*/ 633655 h 2787466"/>
              <a:gd name="connsiteX4687" fmla="*/ 3331922 w 3600000"/>
              <a:gd name="connsiteY4687" fmla="*/ 602839 h 2787466"/>
              <a:gd name="connsiteX4688" fmla="*/ 3324091 w 3600000"/>
              <a:gd name="connsiteY4688" fmla="*/ 603940 h 2787466"/>
              <a:gd name="connsiteX4689" fmla="*/ 3334395 w 3600000"/>
              <a:gd name="connsiteY4689" fmla="*/ 596865 h 2787466"/>
              <a:gd name="connsiteX4690" fmla="*/ 3344904 w 3600000"/>
              <a:gd name="connsiteY4690" fmla="*/ 600952 h 2787466"/>
              <a:gd name="connsiteX4691" fmla="*/ 3331922 w 3600000"/>
              <a:gd name="connsiteY4691" fmla="*/ 632712 h 2787466"/>
              <a:gd name="connsiteX4692" fmla="*/ 3329243 w 3600000"/>
              <a:gd name="connsiteY4692" fmla="*/ 638686 h 2787466"/>
              <a:gd name="connsiteX4693" fmla="*/ 3316261 w 3600000"/>
              <a:gd name="connsiteY4693" fmla="*/ 637586 h 2787466"/>
              <a:gd name="connsiteX4694" fmla="*/ 3313582 w 3600000"/>
              <a:gd name="connsiteY4694" fmla="*/ 647648 h 2787466"/>
              <a:gd name="connsiteX4695" fmla="*/ 3324091 w 3600000"/>
              <a:gd name="connsiteY4695" fmla="*/ 643560 h 2787466"/>
              <a:gd name="connsiteX4696" fmla="*/ 3318940 w 3600000"/>
              <a:gd name="connsiteY4696" fmla="*/ 650635 h 2787466"/>
              <a:gd name="connsiteX4697" fmla="*/ 3328007 w 3600000"/>
              <a:gd name="connsiteY4697" fmla="*/ 660540 h 2787466"/>
              <a:gd name="connsiteX4698" fmla="*/ 3338310 w 3600000"/>
              <a:gd name="connsiteY4698" fmla="*/ 660540 h 2787466"/>
              <a:gd name="connsiteX4699" fmla="*/ 3343667 w 3600000"/>
              <a:gd name="connsiteY4699" fmla="*/ 670445 h 2787466"/>
              <a:gd name="connsiteX4700" fmla="*/ 3328007 w 3600000"/>
              <a:gd name="connsiteY4700" fmla="*/ 668402 h 2787466"/>
              <a:gd name="connsiteX4701" fmla="*/ 3325327 w 3600000"/>
              <a:gd name="connsiteY4701" fmla="*/ 685381 h 2787466"/>
              <a:gd name="connsiteX4702" fmla="*/ 3318940 w 3600000"/>
              <a:gd name="connsiteY4702" fmla="*/ 680350 h 2787466"/>
              <a:gd name="connsiteX4703" fmla="*/ 3307194 w 3600000"/>
              <a:gd name="connsiteY4703" fmla="*/ 686325 h 2787466"/>
              <a:gd name="connsiteX4704" fmla="*/ 3297922 w 3600000"/>
              <a:gd name="connsiteY4704" fmla="*/ 697173 h 2787466"/>
              <a:gd name="connsiteX4705" fmla="*/ 3308431 w 3600000"/>
              <a:gd name="connsiteY4705" fmla="*/ 708179 h 2787466"/>
              <a:gd name="connsiteX4706" fmla="*/ 3291534 w 3600000"/>
              <a:gd name="connsiteY4706" fmla="*/ 711166 h 2787466"/>
              <a:gd name="connsiteX4707" fmla="*/ 3295449 w 3600000"/>
              <a:gd name="connsiteY4707" fmla="*/ 727989 h 2787466"/>
              <a:gd name="connsiteX4708" fmla="*/ 3286382 w 3600000"/>
              <a:gd name="connsiteY4708" fmla="*/ 733964 h 2787466"/>
              <a:gd name="connsiteX4709" fmla="*/ 3316261 w 3600000"/>
              <a:gd name="connsiteY4709" fmla="*/ 714154 h 2787466"/>
              <a:gd name="connsiteX4710" fmla="*/ 3301836 w 3600000"/>
              <a:gd name="connsiteY4710" fmla="*/ 733021 h 2787466"/>
              <a:gd name="connsiteX4711" fmla="*/ 3333158 w 3600000"/>
              <a:gd name="connsiteY4711" fmla="*/ 742926 h 2787466"/>
              <a:gd name="connsiteX4712" fmla="*/ 3321413 w 3600000"/>
              <a:gd name="connsiteY4712" fmla="*/ 775786 h 2787466"/>
              <a:gd name="connsiteX4713" fmla="*/ 3315024 w 3600000"/>
              <a:gd name="connsiteY4713" fmla="*/ 760849 h 2787466"/>
              <a:gd name="connsiteX4714" fmla="*/ 3297484 w 3600000"/>
              <a:gd name="connsiteY4714" fmla="*/ 776631 h 2787466"/>
              <a:gd name="connsiteX4715" fmla="*/ 3295419 w 3600000"/>
              <a:gd name="connsiteY4715" fmla="*/ 780715 h 2787466"/>
              <a:gd name="connsiteX4716" fmla="*/ 3317330 w 3600000"/>
              <a:gd name="connsiteY4716" fmla="*/ 793803 h 2787466"/>
              <a:gd name="connsiteX4717" fmla="*/ 3329887 w 3600000"/>
              <a:gd name="connsiteY4717" fmla="*/ 803910 h 2787466"/>
              <a:gd name="connsiteX4718" fmla="*/ 3339752 w 3600000"/>
              <a:gd name="connsiteY4718" fmla="*/ 793709 h 2787466"/>
              <a:gd name="connsiteX4719" fmla="*/ 3344904 w 3600000"/>
              <a:gd name="connsiteY4719" fmla="*/ 787735 h 2787466"/>
              <a:gd name="connsiteX4720" fmla="*/ 3360565 w 3600000"/>
              <a:gd name="connsiteY4720" fmla="*/ 759906 h 2787466"/>
              <a:gd name="connsiteX4721" fmla="*/ 3365227 w 3600000"/>
              <a:gd name="connsiteY4721" fmla="*/ 747328 h 2787466"/>
              <a:gd name="connsiteX4722" fmla="*/ 3368169 w 3600000"/>
              <a:gd name="connsiteY4722" fmla="*/ 745402 h 2787466"/>
              <a:gd name="connsiteX4723" fmla="*/ 3369753 w 3600000"/>
              <a:gd name="connsiteY4723" fmla="*/ 734168 h 2787466"/>
              <a:gd name="connsiteX4724" fmla="*/ 3372133 w 3600000"/>
              <a:gd name="connsiteY4724" fmla="*/ 742808 h 2787466"/>
              <a:gd name="connsiteX4725" fmla="*/ 3372764 w 3600000"/>
              <a:gd name="connsiteY4725" fmla="*/ 742395 h 2787466"/>
              <a:gd name="connsiteX4726" fmla="*/ 3378698 w 3600000"/>
              <a:gd name="connsiteY4726" fmla="*/ 739938 h 2787466"/>
              <a:gd name="connsiteX4727" fmla="*/ 3378698 w 3600000"/>
              <a:gd name="connsiteY4727" fmla="*/ 745913 h 2787466"/>
              <a:gd name="connsiteX4728" fmla="*/ 3382614 w 3600000"/>
              <a:gd name="connsiteY4728" fmla="*/ 735064 h 2787466"/>
              <a:gd name="connsiteX4729" fmla="*/ 3377462 w 3600000"/>
              <a:gd name="connsiteY4729" fmla="*/ 733964 h 2787466"/>
              <a:gd name="connsiteX4730" fmla="*/ 3381378 w 3600000"/>
              <a:gd name="connsiteY4730" fmla="*/ 717141 h 2787466"/>
              <a:gd name="connsiteX4731" fmla="*/ 3385293 w 3600000"/>
              <a:gd name="connsiteY4731" fmla="*/ 742926 h 2787466"/>
              <a:gd name="connsiteX4732" fmla="*/ 3382614 w 3600000"/>
              <a:gd name="connsiteY4732" fmla="*/ 765880 h 2787466"/>
              <a:gd name="connsiteX4733" fmla="*/ 3370867 w 3600000"/>
              <a:gd name="connsiteY4733" fmla="*/ 771698 h 2787466"/>
              <a:gd name="connsiteX4734" fmla="*/ 3370211 w 3600000"/>
              <a:gd name="connsiteY4734" fmla="*/ 768675 h 2787466"/>
              <a:gd name="connsiteX4735" fmla="*/ 3365920 w 3600000"/>
              <a:gd name="connsiteY4735" fmla="*/ 768675 h 2787466"/>
              <a:gd name="connsiteX4736" fmla="*/ 3359663 w 3600000"/>
              <a:gd name="connsiteY4736" fmla="*/ 785612 h 2787466"/>
              <a:gd name="connsiteX4737" fmla="*/ 3363038 w 3600000"/>
              <a:gd name="connsiteY4737" fmla="*/ 801570 h 2787466"/>
              <a:gd name="connsiteX4738" fmla="*/ 3347377 w 3600000"/>
              <a:gd name="connsiteY4738" fmla="*/ 802514 h 2787466"/>
              <a:gd name="connsiteX4739" fmla="*/ 3345702 w 3600000"/>
              <a:gd name="connsiteY4739" fmla="*/ 814974 h 2787466"/>
              <a:gd name="connsiteX4740" fmla="*/ 3343814 w 3600000"/>
              <a:gd name="connsiteY4740" fmla="*/ 816797 h 2787466"/>
              <a:gd name="connsiteX4741" fmla="*/ 3356475 w 3600000"/>
              <a:gd name="connsiteY4741" fmla="*/ 835463 h 2787466"/>
              <a:gd name="connsiteX4742" fmla="*/ 3336062 w 3600000"/>
              <a:gd name="connsiteY4742" fmla="*/ 854947 h 2787466"/>
              <a:gd name="connsiteX4743" fmla="*/ 3315432 w 3600000"/>
              <a:gd name="connsiteY4743" fmla="*/ 866517 h 2787466"/>
              <a:gd name="connsiteX4744" fmla="*/ 3313582 w 3600000"/>
              <a:gd name="connsiteY4744" fmla="*/ 870121 h 2787466"/>
              <a:gd name="connsiteX4745" fmla="*/ 3301836 w 3600000"/>
              <a:gd name="connsiteY4745" fmla="*/ 873107 h 2787466"/>
              <a:gd name="connsiteX4746" fmla="*/ 3301836 w 3600000"/>
              <a:gd name="connsiteY4746" fmla="*/ 888043 h 2787466"/>
              <a:gd name="connsiteX4747" fmla="*/ 3295577 w 3600000"/>
              <a:gd name="connsiteY4747" fmla="*/ 882836 h 2787466"/>
              <a:gd name="connsiteX4748" fmla="*/ 3290477 w 3600000"/>
              <a:gd name="connsiteY4748" fmla="*/ 876570 h 2787466"/>
              <a:gd name="connsiteX4749" fmla="*/ 3289251 w 3600000"/>
              <a:gd name="connsiteY4749" fmla="*/ 877008 h 2787466"/>
              <a:gd name="connsiteX4750" fmla="*/ 3285969 w 3600000"/>
              <a:gd name="connsiteY4750" fmla="*/ 880576 h 2787466"/>
              <a:gd name="connsiteX4751" fmla="*/ 3283703 w 3600000"/>
              <a:gd name="connsiteY4751" fmla="*/ 885057 h 2787466"/>
              <a:gd name="connsiteX4752" fmla="*/ 3282467 w 3600000"/>
              <a:gd name="connsiteY4752" fmla="*/ 895905 h 2787466"/>
              <a:gd name="connsiteX4753" fmla="*/ 3287618 w 3600000"/>
              <a:gd name="connsiteY4753" fmla="*/ 903923 h 2787466"/>
              <a:gd name="connsiteX4754" fmla="*/ 3291534 w 3600000"/>
              <a:gd name="connsiteY4754" fmla="*/ 904867 h 2787466"/>
              <a:gd name="connsiteX4755" fmla="*/ 3278551 w 3600000"/>
              <a:gd name="connsiteY4755" fmla="*/ 903923 h 2787466"/>
              <a:gd name="connsiteX4756" fmla="*/ 3274636 w 3600000"/>
              <a:gd name="connsiteY4756" fmla="*/ 925777 h 2787466"/>
              <a:gd name="connsiteX4757" fmla="*/ 3268041 w 3600000"/>
              <a:gd name="connsiteY4757" fmla="*/ 919803 h 2787466"/>
              <a:gd name="connsiteX4758" fmla="*/ 3268041 w 3600000"/>
              <a:gd name="connsiteY4758" fmla="*/ 944645 h 2787466"/>
              <a:gd name="connsiteX4759" fmla="*/ 3256296 w 3600000"/>
              <a:gd name="connsiteY4759" fmla="*/ 942600 h 2787466"/>
              <a:gd name="connsiteX4760" fmla="*/ 3255060 w 3600000"/>
              <a:gd name="connsiteY4760" fmla="*/ 926720 h 2787466"/>
              <a:gd name="connsiteX4761" fmla="*/ 3249908 w 3600000"/>
              <a:gd name="connsiteY4761" fmla="*/ 954550 h 2787466"/>
              <a:gd name="connsiteX4762" fmla="*/ 3240635 w 3600000"/>
              <a:gd name="connsiteY4762" fmla="*/ 956593 h 2787466"/>
              <a:gd name="connsiteX4763" fmla="*/ 3243314 w 3600000"/>
              <a:gd name="connsiteY4763" fmla="*/ 967442 h 2787466"/>
              <a:gd name="connsiteX4764" fmla="*/ 3253823 w 3600000"/>
              <a:gd name="connsiteY4764" fmla="*/ 959581 h 2787466"/>
              <a:gd name="connsiteX4765" fmla="*/ 3242077 w 3600000"/>
              <a:gd name="connsiteY4765" fmla="*/ 975461 h 2787466"/>
              <a:gd name="connsiteX4766" fmla="*/ 3281024 w 3600000"/>
              <a:gd name="connsiteY4766" fmla="*/ 930651 h 2787466"/>
              <a:gd name="connsiteX4767" fmla="*/ 3255060 w 3600000"/>
              <a:gd name="connsiteY4767" fmla="*/ 977504 h 2787466"/>
              <a:gd name="connsiteX4768" fmla="*/ 3254174 w 3600000"/>
              <a:gd name="connsiteY4768" fmla="*/ 980515 h 2787466"/>
              <a:gd name="connsiteX4769" fmla="*/ 3257393 w 3600000"/>
              <a:gd name="connsiteY4769" fmla="*/ 983316 h 2787466"/>
              <a:gd name="connsiteX4770" fmla="*/ 3249239 w 3600000"/>
              <a:gd name="connsiteY4770" fmla="*/ 1001611 h 2787466"/>
              <a:gd name="connsiteX4771" fmla="*/ 3248273 w 3600000"/>
              <a:gd name="connsiteY4771" fmla="*/ 990597 h 2787466"/>
              <a:gd name="connsiteX4772" fmla="*/ 3252115 w 3600000"/>
              <a:gd name="connsiteY4772" fmla="*/ 985257 h 2787466"/>
              <a:gd name="connsiteX4773" fmla="*/ 3247229 w 3600000"/>
              <a:gd name="connsiteY4773" fmla="*/ 990397 h 2787466"/>
              <a:gd name="connsiteX4774" fmla="*/ 3244550 w 3600000"/>
              <a:gd name="connsiteY4774" fmla="*/ 985366 h 2787466"/>
              <a:gd name="connsiteX4775" fmla="*/ 3218585 w 3600000"/>
              <a:gd name="connsiteY4775" fmla="*/ 1008163 h 2787466"/>
              <a:gd name="connsiteX4776" fmla="*/ 3214670 w 3600000"/>
              <a:gd name="connsiteY4776" fmla="*/ 1003289 h 2787466"/>
              <a:gd name="connsiteX4777" fmla="*/ 3206840 w 3600000"/>
              <a:gd name="connsiteY4777" fmla="*/ 1015238 h 2787466"/>
              <a:gd name="connsiteX4778" fmla="*/ 3218585 w 3600000"/>
              <a:gd name="connsiteY4778" fmla="*/ 1008163 h 2787466"/>
              <a:gd name="connsiteX4779" fmla="*/ 3215907 w 3600000"/>
              <a:gd name="connsiteY4779" fmla="*/ 1034105 h 2787466"/>
              <a:gd name="connsiteX4780" fmla="*/ 3200246 w 3600000"/>
              <a:gd name="connsiteY4780" fmla="*/ 1049041 h 2787466"/>
              <a:gd name="connsiteX4781" fmla="*/ 3163978 w 3600000"/>
              <a:gd name="connsiteY4781" fmla="*/ 1088662 h 2787466"/>
              <a:gd name="connsiteX4782" fmla="*/ 3161300 w 3600000"/>
              <a:gd name="connsiteY4782" fmla="*/ 1082687 h 2787466"/>
              <a:gd name="connsiteX4783" fmla="*/ 3156148 w 3600000"/>
              <a:gd name="connsiteY4783" fmla="*/ 1086775 h 2787466"/>
              <a:gd name="connsiteX4784" fmla="*/ 3150790 w 3600000"/>
              <a:gd name="connsiteY4784" fmla="*/ 1099668 h 2787466"/>
              <a:gd name="connsiteX4785" fmla="*/ 3145639 w 3600000"/>
              <a:gd name="connsiteY4785" fmla="*/ 1096680 h 2787466"/>
              <a:gd name="connsiteX4786" fmla="*/ 3145639 w 3600000"/>
              <a:gd name="connsiteY4786" fmla="*/ 1104541 h 2787466"/>
              <a:gd name="connsiteX4787" fmla="*/ 3139045 w 3600000"/>
              <a:gd name="connsiteY4787" fmla="*/ 1102655 h 2787466"/>
              <a:gd name="connsiteX4788" fmla="*/ 3140488 w 3600000"/>
              <a:gd name="connsiteY4788" fmla="*/ 1109572 h 2787466"/>
              <a:gd name="connsiteX4789" fmla="*/ 3137437 w 3600000"/>
              <a:gd name="connsiteY4789" fmla="*/ 1112213 h 2787466"/>
              <a:gd name="connsiteX4790" fmla="*/ 3135833 w 3600000"/>
              <a:gd name="connsiteY4790" fmla="*/ 1118878 h 2787466"/>
              <a:gd name="connsiteX4791" fmla="*/ 3135198 w 3600000"/>
              <a:gd name="connsiteY4791" fmla="*/ 1131486 h 2787466"/>
              <a:gd name="connsiteX4792" fmla="*/ 3122013 w 3600000"/>
              <a:gd name="connsiteY4792" fmla="*/ 1133530 h 2787466"/>
              <a:gd name="connsiteX4793" fmla="*/ 3122013 w 3600000"/>
              <a:gd name="connsiteY4793" fmla="*/ 1157269 h 2787466"/>
              <a:gd name="connsiteX4794" fmla="*/ 3105119 w 3600000"/>
              <a:gd name="connsiteY4794" fmla="*/ 1179121 h 2787466"/>
              <a:gd name="connsiteX4795" fmla="*/ 3072565 w 3600000"/>
              <a:gd name="connsiteY4795" fmla="*/ 1218894 h 2787466"/>
              <a:gd name="connsiteX4796" fmla="*/ 3043927 w 3600000"/>
              <a:gd name="connsiteY4796" fmla="*/ 1235715 h 2787466"/>
              <a:gd name="connsiteX4797" fmla="*/ 3033756 w 3600000"/>
              <a:gd name="connsiteY4797" fmla="*/ 1244025 h 2787466"/>
              <a:gd name="connsiteX4798" fmla="*/ 3034043 w 3600000"/>
              <a:gd name="connsiteY4798" fmla="*/ 1244228 h 2787466"/>
              <a:gd name="connsiteX4799" fmla="*/ 3032664 w 3600000"/>
              <a:gd name="connsiteY4799" fmla="*/ 1251192 h 2787466"/>
              <a:gd name="connsiteX4800" fmla="*/ 3029179 w 3600000"/>
              <a:gd name="connsiteY4800" fmla="*/ 1247765 h 2787466"/>
              <a:gd name="connsiteX4801" fmla="*/ 3023637 w 3600000"/>
              <a:gd name="connsiteY4801" fmla="*/ 1252293 h 2787466"/>
              <a:gd name="connsiteX4802" fmla="*/ 3024093 w 3600000"/>
              <a:gd name="connsiteY4802" fmla="*/ 1256038 h 2787466"/>
              <a:gd name="connsiteX4803" fmla="*/ 3023709 w 3600000"/>
              <a:gd name="connsiteY4803" fmla="*/ 1260705 h 2787466"/>
              <a:gd name="connsiteX4804" fmla="*/ 3017208 w 3600000"/>
              <a:gd name="connsiteY4804" fmla="*/ 1256993 h 2787466"/>
              <a:gd name="connsiteX4805" fmla="*/ 2995432 w 3600000"/>
              <a:gd name="connsiteY4805" fmla="*/ 1271284 h 2787466"/>
              <a:gd name="connsiteX4806" fmla="*/ 2968520 w 3600000"/>
              <a:gd name="connsiteY4806" fmla="*/ 1280520 h 2787466"/>
              <a:gd name="connsiteX4807" fmla="*/ 2942354 w 3600000"/>
              <a:gd name="connsiteY4807" fmla="*/ 1294354 h 2787466"/>
              <a:gd name="connsiteX4808" fmla="*/ 2916394 w 3600000"/>
              <a:gd name="connsiteY4808" fmla="*/ 1306302 h 2787466"/>
              <a:gd name="connsiteX4809" fmla="*/ 2890434 w 3600000"/>
              <a:gd name="connsiteY4809" fmla="*/ 1318250 h 2787466"/>
              <a:gd name="connsiteX4810" fmla="*/ 2864268 w 3600000"/>
              <a:gd name="connsiteY4810" fmla="*/ 1329097 h 2787466"/>
              <a:gd name="connsiteX4811" fmla="*/ 2848611 w 3600000"/>
              <a:gd name="connsiteY4811" fmla="*/ 1337901 h 2787466"/>
              <a:gd name="connsiteX4812" fmla="*/ 2835630 w 3600000"/>
              <a:gd name="connsiteY4812" fmla="*/ 1348905 h 2787466"/>
              <a:gd name="connsiteX4813" fmla="*/ 2806992 w 3600000"/>
              <a:gd name="connsiteY4813" fmla="*/ 1370757 h 2787466"/>
              <a:gd name="connsiteX4814" fmla="*/ 2775675 w 3600000"/>
              <a:gd name="connsiteY4814" fmla="*/ 1374687 h 2787466"/>
              <a:gd name="connsiteX4815" fmla="*/ 2758781 w 3600000"/>
              <a:gd name="connsiteY4815" fmla="*/ 1382705 h 2787466"/>
              <a:gd name="connsiteX4816" fmla="*/ 2741255 w 3600000"/>
              <a:gd name="connsiteY4816" fmla="*/ 1377198 h 2787466"/>
              <a:gd name="connsiteX4817" fmla="*/ 2726680 w 3600000"/>
              <a:gd name="connsiteY4817" fmla="*/ 1366292 h 2787466"/>
              <a:gd name="connsiteX4818" fmla="*/ 2726484 w 3600000"/>
              <a:gd name="connsiteY4818" fmla="*/ 1366338 h 2787466"/>
              <a:gd name="connsiteX4819" fmla="*/ 2722420 w 3600000"/>
              <a:gd name="connsiteY4819" fmla="*/ 1364739 h 2787466"/>
              <a:gd name="connsiteX4820" fmla="*/ 2723847 w 3600000"/>
              <a:gd name="connsiteY4820" fmla="*/ 1364377 h 2787466"/>
              <a:gd name="connsiteX4821" fmla="*/ 2713594 w 3600000"/>
              <a:gd name="connsiteY4821" fmla="*/ 1357862 h 2787466"/>
              <a:gd name="connsiteX4822" fmla="*/ 2701980 w 3600000"/>
              <a:gd name="connsiteY4822" fmla="*/ 1357889 h 2787466"/>
              <a:gd name="connsiteX4823" fmla="*/ 2689822 w 3600000"/>
              <a:gd name="connsiteY4823" fmla="*/ 1367735 h 2787466"/>
              <a:gd name="connsiteX4824" fmla="*/ 2672924 w 3600000"/>
              <a:gd name="connsiteY4824" fmla="*/ 1370722 h 2787466"/>
              <a:gd name="connsiteX4825" fmla="*/ 2680662 w 3600000"/>
              <a:gd name="connsiteY4825" fmla="*/ 1364973 h 2787466"/>
              <a:gd name="connsiteX4826" fmla="*/ 2679780 w 3600000"/>
              <a:gd name="connsiteY4826" fmla="*/ 1364071 h 2787466"/>
              <a:gd name="connsiteX4827" fmla="*/ 2675129 w 3600000"/>
              <a:gd name="connsiteY4827" fmla="*/ 1364370 h 2787466"/>
              <a:gd name="connsiteX4828" fmla="*/ 2670065 w 3600000"/>
              <a:gd name="connsiteY4828" fmla="*/ 1365022 h 2787466"/>
              <a:gd name="connsiteX4829" fmla="*/ 2662970 w 3600000"/>
              <a:gd name="connsiteY4829" fmla="*/ 1370455 h 2787466"/>
              <a:gd name="connsiteX4830" fmla="*/ 2660483 w 3600000"/>
              <a:gd name="connsiteY4830" fmla="*/ 1368953 h 2787466"/>
              <a:gd name="connsiteX4831" fmla="*/ 2662625 w 3600000"/>
              <a:gd name="connsiteY4831" fmla="*/ 1365173 h 2787466"/>
              <a:gd name="connsiteX4832" fmla="*/ 2658289 w 3600000"/>
              <a:gd name="connsiteY4832" fmla="*/ 1365452 h 2787466"/>
              <a:gd name="connsiteX4833" fmla="*/ 2654219 w 3600000"/>
              <a:gd name="connsiteY4833" fmla="*/ 1365010 h 2787466"/>
              <a:gd name="connsiteX4834" fmla="*/ 2648763 w 3600000"/>
              <a:gd name="connsiteY4834" fmla="*/ 1372058 h 2787466"/>
              <a:gd name="connsiteX4835" fmla="*/ 2626148 w 3600000"/>
              <a:gd name="connsiteY4835" fmla="*/ 1385658 h 2787466"/>
              <a:gd name="connsiteX4836" fmla="*/ 2616875 w 3600000"/>
              <a:gd name="connsiteY4836" fmla="*/ 1382671 h 2787466"/>
              <a:gd name="connsiteX4837" fmla="*/ 2586995 w 3600000"/>
              <a:gd name="connsiteY4837" fmla="*/ 1390532 h 2787466"/>
              <a:gd name="connsiteX4838" fmla="*/ 2590910 w 3600000"/>
              <a:gd name="connsiteY4838" fmla="*/ 1383614 h 2787466"/>
              <a:gd name="connsiteX4839" fmla="*/ 2574013 w 3600000"/>
              <a:gd name="connsiteY4839" fmla="*/ 1395563 h 2787466"/>
              <a:gd name="connsiteX4840" fmla="*/ 2561031 w 3600000"/>
              <a:gd name="connsiteY4840" fmla="*/ 1397607 h 2787466"/>
              <a:gd name="connsiteX4841" fmla="*/ 2550522 w 3600000"/>
              <a:gd name="connsiteY4841" fmla="*/ 1391633 h 2787466"/>
              <a:gd name="connsiteX4842" fmla="*/ 2541455 w 3600000"/>
              <a:gd name="connsiteY4842" fmla="*/ 1396507 h 2787466"/>
              <a:gd name="connsiteX4843" fmla="*/ 2550522 w 3600000"/>
              <a:gd name="connsiteY4843" fmla="*/ 1399494 h 2787466"/>
              <a:gd name="connsiteX4844" fmla="*/ 2534860 w 3600000"/>
              <a:gd name="connsiteY4844" fmla="*/ 1406412 h 2787466"/>
              <a:gd name="connsiteX4845" fmla="*/ 2529709 w 3600000"/>
              <a:gd name="connsiteY4845" fmla="*/ 1400438 h 2787466"/>
              <a:gd name="connsiteX4846" fmla="*/ 2516726 w 3600000"/>
              <a:gd name="connsiteY4846" fmla="*/ 1404525 h 2787466"/>
              <a:gd name="connsiteX4847" fmla="*/ 2516726 w 3600000"/>
              <a:gd name="connsiteY4847" fmla="*/ 1412387 h 2787466"/>
              <a:gd name="connsiteX4848" fmla="*/ 2538776 w 3600000"/>
              <a:gd name="connsiteY4848" fmla="*/ 1408456 h 2787466"/>
              <a:gd name="connsiteX4849" fmla="*/ 2537540 w 3600000"/>
              <a:gd name="connsiteY4849" fmla="*/ 1416317 h 2787466"/>
              <a:gd name="connsiteX4850" fmla="*/ 2528550 w 3600000"/>
              <a:gd name="connsiteY4850" fmla="*/ 1416828 h 2787466"/>
              <a:gd name="connsiteX4851" fmla="*/ 2520754 w 3600000"/>
              <a:gd name="connsiteY4851" fmla="*/ 1420354 h 2787466"/>
              <a:gd name="connsiteX4852" fmla="*/ 2538653 w 3600000"/>
              <a:gd name="connsiteY4852" fmla="*/ 1419102 h 2787466"/>
              <a:gd name="connsiteX4853" fmla="*/ 2540096 w 3600000"/>
              <a:gd name="connsiteY4853" fmla="*/ 1431051 h 2787466"/>
              <a:gd name="connsiteX4854" fmla="*/ 2546484 w 3600000"/>
              <a:gd name="connsiteY4854" fmla="*/ 1430107 h 2787466"/>
              <a:gd name="connsiteX4855" fmla="*/ 2541333 w 3600000"/>
              <a:gd name="connsiteY4855" fmla="*/ 1419102 h 2787466"/>
              <a:gd name="connsiteX4856" fmla="*/ 2549164 w 3600000"/>
              <a:gd name="connsiteY4856" fmla="*/ 1425076 h 2787466"/>
              <a:gd name="connsiteX4857" fmla="*/ 2567299 w 3600000"/>
              <a:gd name="connsiteY4857" fmla="*/ 1419102 h 2787466"/>
              <a:gd name="connsiteX4858" fmla="*/ 2588320 w 3600000"/>
              <a:gd name="connsiteY4858" fmla="*/ 1425076 h 2787466"/>
              <a:gd name="connsiteX4859" fmla="*/ 2571214 w 3600000"/>
              <a:gd name="connsiteY4859" fmla="*/ 1437025 h 2787466"/>
              <a:gd name="connsiteX4860" fmla="*/ 2542569 w 3600000"/>
              <a:gd name="connsiteY4860" fmla="*/ 1442057 h 2787466"/>
              <a:gd name="connsiteX4861" fmla="*/ 2554315 w 3600000"/>
              <a:gd name="connsiteY4861" fmla="*/ 1443000 h 2787466"/>
              <a:gd name="connsiteX4862" fmla="*/ 2575130 w 3600000"/>
              <a:gd name="connsiteY4862" fmla="*/ 1443000 h 2787466"/>
              <a:gd name="connsiteX4863" fmla="*/ 2579046 w 3600000"/>
              <a:gd name="connsiteY4863" fmla="*/ 1467841 h 2787466"/>
              <a:gd name="connsiteX4864" fmla="*/ 2566062 w 3600000"/>
              <a:gd name="connsiteY4864" fmla="*/ 1459980 h 2787466"/>
              <a:gd name="connsiteX4865" fmla="*/ 2554315 w 3600000"/>
              <a:gd name="connsiteY4865" fmla="*/ 1472871 h 2787466"/>
              <a:gd name="connsiteX4866" fmla="*/ 2546484 w 3600000"/>
              <a:gd name="connsiteY4866" fmla="*/ 1464854 h 2787466"/>
              <a:gd name="connsiteX4867" fmla="*/ 2529586 w 3600000"/>
              <a:gd name="connsiteY4867" fmla="*/ 1481833 h 2787466"/>
              <a:gd name="connsiteX4868" fmla="*/ 2536180 w 3600000"/>
              <a:gd name="connsiteY4868" fmla="*/ 1476802 h 2787466"/>
              <a:gd name="connsiteX4869" fmla="*/ 2526906 w 3600000"/>
              <a:gd name="connsiteY4869" fmla="*/ 1486707 h 2787466"/>
              <a:gd name="connsiteX4870" fmla="*/ 2521754 w 3600000"/>
              <a:gd name="connsiteY4870" fmla="*/ 1478846 h 2787466"/>
              <a:gd name="connsiteX4871" fmla="*/ 2506091 w 3600000"/>
              <a:gd name="connsiteY4871" fmla="*/ 1490637 h 2787466"/>
              <a:gd name="connsiteX4872" fmla="*/ 2516602 w 3600000"/>
              <a:gd name="connsiteY4872" fmla="*/ 1492682 h 2787466"/>
              <a:gd name="connsiteX4873" fmla="*/ 2506091 w 3600000"/>
              <a:gd name="connsiteY4873" fmla="*/ 1500700 h 2787466"/>
              <a:gd name="connsiteX4874" fmla="*/ 2509488 w 3600000"/>
              <a:gd name="connsiteY4874" fmla="*/ 1504427 h 2787466"/>
              <a:gd name="connsiteX4875" fmla="*/ 2515630 w 3600000"/>
              <a:gd name="connsiteY4875" fmla="*/ 1503011 h 2787466"/>
              <a:gd name="connsiteX4876" fmla="*/ 2515649 w 3600000"/>
              <a:gd name="connsiteY4876" fmla="*/ 1502953 h 2787466"/>
              <a:gd name="connsiteX4877" fmla="*/ 2516966 w 3600000"/>
              <a:gd name="connsiteY4877" fmla="*/ 1499796 h 2787466"/>
              <a:gd name="connsiteX4878" fmla="*/ 2524139 w 3600000"/>
              <a:gd name="connsiteY4878" fmla="*/ 1500709 h 2787466"/>
              <a:gd name="connsiteX4879" fmla="*/ 2524361 w 3600000"/>
              <a:gd name="connsiteY4879" fmla="*/ 1500715 h 2787466"/>
              <a:gd name="connsiteX4880" fmla="*/ 2534335 w 3600000"/>
              <a:gd name="connsiteY4880" fmla="*/ 1495268 h 2787466"/>
              <a:gd name="connsiteX4881" fmla="*/ 2534081 w 3600000"/>
              <a:gd name="connsiteY4881" fmla="*/ 1494644 h 2787466"/>
              <a:gd name="connsiteX4882" fmla="*/ 2530006 w 3600000"/>
              <a:gd name="connsiteY4882" fmla="*/ 1493683 h 2787466"/>
              <a:gd name="connsiteX4883" fmla="*/ 2540505 w 3600000"/>
              <a:gd name="connsiteY4883" fmla="*/ 1487775 h 2787466"/>
              <a:gd name="connsiteX4884" fmla="*/ 2541542 w 3600000"/>
              <a:gd name="connsiteY4884" fmla="*/ 1490618 h 2787466"/>
              <a:gd name="connsiteX4885" fmla="*/ 2550176 w 3600000"/>
              <a:gd name="connsiteY4885" fmla="*/ 1484227 h 2787466"/>
              <a:gd name="connsiteX4886" fmla="*/ 2549206 w 3600000"/>
              <a:gd name="connsiteY4886" fmla="*/ 1480725 h 2787466"/>
              <a:gd name="connsiteX4887" fmla="*/ 2540285 w 3600000"/>
              <a:gd name="connsiteY4887" fmla="*/ 1487565 h 2787466"/>
              <a:gd name="connsiteX4888" fmla="*/ 2538865 w 3600000"/>
              <a:gd name="connsiteY4888" fmla="*/ 1478859 h 2787466"/>
              <a:gd name="connsiteX4889" fmla="*/ 2551842 w 3600000"/>
              <a:gd name="connsiteY4889" fmla="*/ 1475906 h 2787466"/>
              <a:gd name="connsiteX4890" fmla="*/ 2554282 w 3600000"/>
              <a:gd name="connsiteY4890" fmla="*/ 1481090 h 2787466"/>
              <a:gd name="connsiteX4891" fmla="*/ 2562227 w 3600000"/>
              <a:gd name="connsiteY4891" fmla="*/ 1474986 h 2787466"/>
              <a:gd name="connsiteX4892" fmla="*/ 2575207 w 3600000"/>
              <a:gd name="connsiteY4892" fmla="*/ 1485048 h 2787466"/>
              <a:gd name="connsiteX4893" fmla="*/ 2567227 w 3600000"/>
              <a:gd name="connsiteY4893" fmla="*/ 1494949 h 2787466"/>
              <a:gd name="connsiteX4894" fmla="*/ 2563179 w 3600000"/>
              <a:gd name="connsiteY4894" fmla="*/ 1497483 h 2787466"/>
              <a:gd name="connsiteX4895" fmla="*/ 2563197 w 3600000"/>
              <a:gd name="connsiteY4895" fmla="*/ 1497515 h 2787466"/>
              <a:gd name="connsiteX4896" fmla="*/ 2563104 w 3600000"/>
              <a:gd name="connsiteY4896" fmla="*/ 1497530 h 2787466"/>
              <a:gd name="connsiteX4897" fmla="*/ 2556329 w 3600000"/>
              <a:gd name="connsiteY4897" fmla="*/ 1501771 h 2787466"/>
              <a:gd name="connsiteX4898" fmla="*/ 2545336 w 3600000"/>
              <a:gd name="connsiteY4898" fmla="*/ 1506606 h 2787466"/>
              <a:gd name="connsiteX4899" fmla="*/ 2544417 w 3600000"/>
              <a:gd name="connsiteY4899" fmla="*/ 1510472 h 2787466"/>
              <a:gd name="connsiteX4900" fmla="*/ 2541551 w 3600000"/>
              <a:gd name="connsiteY4900" fmla="*/ 1508271 h 2787466"/>
              <a:gd name="connsiteX4901" fmla="*/ 2533589 w 3600000"/>
              <a:gd name="connsiteY4901" fmla="*/ 1511773 h 2787466"/>
              <a:gd name="connsiteX4902" fmla="*/ 2514892 w 3600000"/>
              <a:gd name="connsiteY4902" fmla="*/ 1520990 h 2787466"/>
              <a:gd name="connsiteX4903" fmla="*/ 2510951 w 3600000"/>
              <a:gd name="connsiteY4903" fmla="*/ 1521793 h 2787466"/>
              <a:gd name="connsiteX4904" fmla="*/ 2511450 w 3600000"/>
              <a:gd name="connsiteY4904" fmla="*/ 1522554 h 2787466"/>
              <a:gd name="connsiteX4905" fmla="*/ 2522990 w 3600000"/>
              <a:gd name="connsiteY4905" fmla="*/ 1517523 h 2787466"/>
              <a:gd name="connsiteX4906" fmla="*/ 2533500 w 3600000"/>
              <a:gd name="connsiteY4906" fmla="*/ 1522554 h 2787466"/>
              <a:gd name="connsiteX4907" fmla="*/ 2530384 w 3600000"/>
              <a:gd name="connsiteY4907" fmla="*/ 1533009 h 2787466"/>
              <a:gd name="connsiteX4908" fmla="*/ 2529824 w 3600000"/>
              <a:gd name="connsiteY4908" fmla="*/ 1536143 h 2787466"/>
              <a:gd name="connsiteX4909" fmla="*/ 2534280 w 3600000"/>
              <a:gd name="connsiteY4909" fmla="*/ 1536573 h 2787466"/>
              <a:gd name="connsiteX4910" fmla="*/ 2536786 w 3600000"/>
              <a:gd name="connsiteY4910" fmla="*/ 1536271 h 2787466"/>
              <a:gd name="connsiteX4911" fmla="*/ 2536780 w 3600000"/>
              <a:gd name="connsiteY4911" fmla="*/ 1536267 h 2787466"/>
              <a:gd name="connsiteX4912" fmla="*/ 2541603 w 3600000"/>
              <a:gd name="connsiteY4912" fmla="*/ 1517561 h 2787466"/>
              <a:gd name="connsiteX4913" fmla="*/ 2551606 w 3600000"/>
              <a:gd name="connsiteY4913" fmla="*/ 1529061 h 2787466"/>
              <a:gd name="connsiteX4914" fmla="*/ 2555712 w 3600000"/>
              <a:gd name="connsiteY4914" fmla="*/ 1537496 h 2787466"/>
              <a:gd name="connsiteX4915" fmla="*/ 2561754 w 3600000"/>
              <a:gd name="connsiteY4915" fmla="*/ 1538524 h 2787466"/>
              <a:gd name="connsiteX4916" fmla="*/ 2565779 w 3600000"/>
              <a:gd name="connsiteY4916" fmla="*/ 1526818 h 2787466"/>
              <a:gd name="connsiteX4917" fmla="*/ 2595387 w 3600000"/>
              <a:gd name="connsiteY4917" fmla="*/ 1525880 h 2787466"/>
              <a:gd name="connsiteX4918" fmla="*/ 2587832 w 3600000"/>
              <a:gd name="connsiteY4918" fmla="*/ 1533696 h 2787466"/>
              <a:gd name="connsiteX4919" fmla="*/ 2590283 w 3600000"/>
              <a:gd name="connsiteY4919" fmla="*/ 1535729 h 2787466"/>
              <a:gd name="connsiteX4920" fmla="*/ 2575938 w 3600000"/>
              <a:gd name="connsiteY4920" fmla="*/ 1537526 h 2787466"/>
              <a:gd name="connsiteX4921" fmla="*/ 2568210 w 3600000"/>
              <a:gd name="connsiteY4921" fmla="*/ 1539623 h 2787466"/>
              <a:gd name="connsiteX4922" fmla="*/ 2572280 w 3600000"/>
              <a:gd name="connsiteY4922" fmla="*/ 1540316 h 2787466"/>
              <a:gd name="connsiteX4923" fmla="*/ 2602146 w 3600000"/>
              <a:gd name="connsiteY4923" fmla="*/ 1541416 h 2787466"/>
              <a:gd name="connsiteX4924" fmla="*/ 2668467 w 3600000"/>
              <a:gd name="connsiteY4924" fmla="*/ 1536386 h 2787466"/>
              <a:gd name="connsiteX4925" fmla="*/ 2813058 w 3600000"/>
              <a:gd name="connsiteY4925" fmla="*/ 1515481 h 2787466"/>
              <a:gd name="connsiteX4926" fmla="*/ 2806467 w 3600000"/>
              <a:gd name="connsiteY4926" fmla="*/ 1532457 h 2787466"/>
              <a:gd name="connsiteX4927" fmla="*/ 2755798 w 3600000"/>
              <a:gd name="connsiteY4927" fmla="*/ 1547389 h 2787466"/>
              <a:gd name="connsiteX4928" fmla="*/ 2744330 w 3600000"/>
              <a:gd name="connsiteY4928" fmla="*/ 1551152 h 2787466"/>
              <a:gd name="connsiteX4929" fmla="*/ 2746269 w 3600000"/>
              <a:gd name="connsiteY4929" fmla="*/ 1553312 h 2787466"/>
              <a:gd name="connsiteX4930" fmla="*/ 2744732 w 3600000"/>
              <a:gd name="connsiteY4930" fmla="*/ 1559272 h 2787466"/>
              <a:gd name="connsiteX4931" fmla="*/ 2732011 w 3600000"/>
              <a:gd name="connsiteY4931" fmla="*/ 1557365 h 2787466"/>
              <a:gd name="connsiteX4932" fmla="*/ 2732158 w 3600000"/>
              <a:gd name="connsiteY4932" fmla="*/ 1555145 h 2787466"/>
              <a:gd name="connsiteX4933" fmla="*/ 2731365 w 3600000"/>
              <a:gd name="connsiteY4933" fmla="*/ 1555406 h 2787466"/>
              <a:gd name="connsiteX4934" fmla="*/ 2718493 w 3600000"/>
              <a:gd name="connsiteY4934" fmla="*/ 1556783 h 2787466"/>
              <a:gd name="connsiteX4935" fmla="*/ 2729482 w 3600000"/>
              <a:gd name="connsiteY4935" fmla="*/ 1560017 h 2787466"/>
              <a:gd name="connsiteX4936" fmla="*/ 2669142 w 3600000"/>
              <a:gd name="connsiteY4936" fmla="*/ 1573857 h 2787466"/>
              <a:gd name="connsiteX4937" fmla="*/ 2669298 w 3600000"/>
              <a:gd name="connsiteY4937" fmla="*/ 1570396 h 2787466"/>
              <a:gd name="connsiteX4938" fmla="*/ 2669955 w 3600000"/>
              <a:gd name="connsiteY4938" fmla="*/ 1568309 h 2787466"/>
              <a:gd name="connsiteX4939" fmla="*/ 2668796 w 3600000"/>
              <a:gd name="connsiteY4939" fmla="*/ 1568530 h 2787466"/>
              <a:gd name="connsiteX4940" fmla="*/ 2557863 w 3600000"/>
              <a:gd name="connsiteY4940" fmla="*/ 1562165 h 2787466"/>
              <a:gd name="connsiteX4941" fmla="*/ 2524006 w 3600000"/>
              <a:gd name="connsiteY4941" fmla="*/ 1553814 h 2787466"/>
              <a:gd name="connsiteX4942" fmla="*/ 2507334 w 3600000"/>
              <a:gd name="connsiteY4942" fmla="*/ 1554010 h 2787466"/>
              <a:gd name="connsiteX4943" fmla="*/ 2503660 w 3600000"/>
              <a:gd name="connsiteY4943" fmla="*/ 1555182 h 2787466"/>
              <a:gd name="connsiteX4944" fmla="*/ 2498260 w 3600000"/>
              <a:gd name="connsiteY4944" fmla="*/ 1560287 h 2787466"/>
              <a:gd name="connsiteX4945" fmla="*/ 2492454 w 3600000"/>
              <a:gd name="connsiteY4945" fmla="*/ 1554186 h 2787466"/>
              <a:gd name="connsiteX4946" fmla="*/ 2484004 w 3600000"/>
              <a:gd name="connsiteY4946" fmla="*/ 1554285 h 2787466"/>
              <a:gd name="connsiteX4947" fmla="*/ 2485277 w 3600000"/>
              <a:gd name="connsiteY4947" fmla="*/ 1561230 h 2787466"/>
              <a:gd name="connsiteX4948" fmla="*/ 2455394 w 3600000"/>
              <a:gd name="connsiteY4948" fmla="*/ 1570192 h 2787466"/>
              <a:gd name="connsiteX4949" fmla="*/ 2448799 w 3600000"/>
              <a:gd name="connsiteY4949" fmla="*/ 1563274 h 2787466"/>
              <a:gd name="connsiteX4950" fmla="*/ 2379761 w 3600000"/>
              <a:gd name="connsiteY4950" fmla="*/ 1574122 h 2787466"/>
              <a:gd name="connsiteX4951" fmla="*/ 2312165 w 3600000"/>
              <a:gd name="connsiteY4951" fmla="*/ 1577109 h 2787466"/>
              <a:gd name="connsiteX4952" fmla="*/ 2308249 w 3600000"/>
              <a:gd name="connsiteY4952" fmla="*/ 1568148 h 2787466"/>
              <a:gd name="connsiteX4953" fmla="*/ 2309486 w 3600000"/>
              <a:gd name="connsiteY4953" fmla="*/ 1582140 h 2787466"/>
              <a:gd name="connsiteX4954" fmla="*/ 2185835 w 3600000"/>
              <a:gd name="connsiteY4954" fmla="*/ 1581197 h 2787466"/>
              <a:gd name="connsiteX4955" fmla="*/ 2189750 w 3600000"/>
              <a:gd name="connsiteY4955" fmla="*/ 1588115 h 2787466"/>
              <a:gd name="connsiteX4956" fmla="*/ 2175324 w 3600000"/>
              <a:gd name="connsiteY4956" fmla="*/ 1590001 h 2787466"/>
              <a:gd name="connsiteX4957" fmla="*/ 2172851 w 3600000"/>
              <a:gd name="connsiteY4957" fmla="*/ 1580096 h 2787466"/>
              <a:gd name="connsiteX4958" fmla="*/ 2167493 w 3600000"/>
              <a:gd name="connsiteY4958" fmla="*/ 1589058 h 2787466"/>
              <a:gd name="connsiteX4959" fmla="*/ 2165020 w 3600000"/>
              <a:gd name="connsiteY4959" fmla="*/ 1580096 h 2787466"/>
              <a:gd name="connsiteX4960" fmla="*/ 2128543 w 3600000"/>
              <a:gd name="connsiteY4960" fmla="*/ 1577109 h 2787466"/>
              <a:gd name="connsiteX4961" fmla="*/ 2138847 w 3600000"/>
              <a:gd name="connsiteY4961" fmla="*/ 1587014 h 2787466"/>
              <a:gd name="connsiteX4962" fmla="*/ 2125864 w 3600000"/>
              <a:gd name="connsiteY4962" fmla="*/ 1583084 h 2787466"/>
              <a:gd name="connsiteX4963" fmla="*/ 2108965 w 3600000"/>
              <a:gd name="connsiteY4963" fmla="*/ 1574122 h 2787466"/>
              <a:gd name="connsiteX4964" fmla="*/ 2119475 w 3600000"/>
              <a:gd name="connsiteY4964" fmla="*/ 1584184 h 2787466"/>
              <a:gd name="connsiteX4965" fmla="*/ 2115908 w 3600000"/>
              <a:gd name="connsiteY4965" fmla="*/ 1588618 h 2787466"/>
              <a:gd name="connsiteX4966" fmla="*/ 2115735 w 3600000"/>
              <a:gd name="connsiteY4966" fmla="*/ 1590211 h 2787466"/>
              <a:gd name="connsiteX4967" fmla="*/ 2126060 w 3600000"/>
              <a:gd name="connsiteY4967" fmla="*/ 1593207 h 2787466"/>
              <a:gd name="connsiteX4968" fmla="*/ 2119371 w 3600000"/>
              <a:gd name="connsiteY4968" fmla="*/ 1596676 h 2787466"/>
              <a:gd name="connsiteX4969" fmla="*/ 2115527 w 3600000"/>
              <a:gd name="connsiteY4969" fmla="*/ 1595807 h 2787466"/>
              <a:gd name="connsiteX4970" fmla="*/ 2115559 w 3600000"/>
              <a:gd name="connsiteY4970" fmla="*/ 1601950 h 2787466"/>
              <a:gd name="connsiteX4971" fmla="*/ 2123184 w 3600000"/>
              <a:gd name="connsiteY4971" fmla="*/ 1598020 h 2787466"/>
              <a:gd name="connsiteX4972" fmla="*/ 2121948 w 3600000"/>
              <a:gd name="connsiteY4972" fmla="*/ 1603994 h 2787466"/>
              <a:gd name="connsiteX4973" fmla="*/ 2131016 w 3600000"/>
              <a:gd name="connsiteY4973" fmla="*/ 1602894 h 2787466"/>
              <a:gd name="connsiteX4974" fmla="*/ 2103813 w 3600000"/>
              <a:gd name="connsiteY4974" fmla="*/ 1610912 h 2787466"/>
              <a:gd name="connsiteX4975" fmla="*/ 2101133 w 3600000"/>
              <a:gd name="connsiteY4975" fmla="*/ 1603994 h 2787466"/>
              <a:gd name="connsiteX4976" fmla="*/ 2036011 w 3600000"/>
              <a:gd name="connsiteY4976" fmla="*/ 1601950 h 2787466"/>
              <a:gd name="connsiteX4977" fmla="*/ 2047757 w 3600000"/>
              <a:gd name="connsiteY4977" fmla="*/ 1598020 h 2787466"/>
              <a:gd name="connsiteX4978" fmla="*/ 2041162 w 3600000"/>
              <a:gd name="connsiteY4978" fmla="*/ 1588115 h 2787466"/>
              <a:gd name="connsiteX4979" fmla="*/ 2016433 w 3600000"/>
              <a:gd name="connsiteY4979" fmla="*/ 1590001 h 2787466"/>
              <a:gd name="connsiteX4980" fmla="*/ 2017875 w 3600000"/>
              <a:gd name="connsiteY4980" fmla="*/ 1597076 h 2787466"/>
              <a:gd name="connsiteX4981" fmla="*/ 2020347 w 3600000"/>
              <a:gd name="connsiteY4981" fmla="*/ 1608868 h 2787466"/>
              <a:gd name="connsiteX4982" fmla="*/ 2011280 w 3600000"/>
              <a:gd name="connsiteY4982" fmla="*/ 1598963 h 2787466"/>
              <a:gd name="connsiteX4983" fmla="*/ 2000770 w 3600000"/>
              <a:gd name="connsiteY4983" fmla="*/ 1605881 h 2787466"/>
              <a:gd name="connsiteX4984" fmla="*/ 2002212 w 3600000"/>
              <a:gd name="connsiteY4984" fmla="*/ 1597076 h 2787466"/>
              <a:gd name="connsiteX4985" fmla="*/ 1979955 w 3600000"/>
              <a:gd name="connsiteY4985" fmla="*/ 1602894 h 2787466"/>
              <a:gd name="connsiteX4986" fmla="*/ 1951310 w 3600000"/>
              <a:gd name="connsiteY4986" fmla="*/ 1598963 h 2787466"/>
              <a:gd name="connsiteX4987" fmla="*/ 1952752 w 3600000"/>
              <a:gd name="connsiteY4987" fmla="*/ 1589058 h 2787466"/>
              <a:gd name="connsiteX4988" fmla="*/ 1937090 w 3600000"/>
              <a:gd name="connsiteY4988" fmla="*/ 1598963 h 2787466"/>
              <a:gd name="connsiteX4989" fmla="*/ 1899170 w 3600000"/>
              <a:gd name="connsiteY4989" fmla="*/ 1592988 h 2787466"/>
              <a:gd name="connsiteX4990" fmla="*/ 1899170 w 3600000"/>
              <a:gd name="connsiteY4990" fmla="*/ 1598020 h 2787466"/>
              <a:gd name="connsiteX4991" fmla="*/ 1909680 w 3600000"/>
              <a:gd name="connsiteY4991" fmla="*/ 1598963 h 2787466"/>
              <a:gd name="connsiteX4992" fmla="*/ 1906641 w 3600000"/>
              <a:gd name="connsiteY4992" fmla="*/ 1603562 h 2787466"/>
              <a:gd name="connsiteX4993" fmla="*/ 1906438 w 3600000"/>
              <a:gd name="connsiteY4993" fmla="*/ 1604071 h 2787466"/>
              <a:gd name="connsiteX4994" fmla="*/ 1915521 w 3600000"/>
              <a:gd name="connsiteY4994" fmla="*/ 1603296 h 2787466"/>
              <a:gd name="connsiteX4995" fmla="*/ 1915873 w 3600000"/>
              <a:gd name="connsiteY4995" fmla="*/ 1601612 h 2787466"/>
              <a:gd name="connsiteX4996" fmla="*/ 1916054 w 3600000"/>
              <a:gd name="connsiteY4996" fmla="*/ 1600738 h 2787466"/>
              <a:gd name="connsiteX4997" fmla="*/ 1933112 w 3600000"/>
              <a:gd name="connsiteY4997" fmla="*/ 1598673 h 2787466"/>
              <a:gd name="connsiteX4998" fmla="*/ 1933953 w 3600000"/>
              <a:gd name="connsiteY4998" fmla="*/ 1601724 h 2787466"/>
              <a:gd name="connsiteX4999" fmla="*/ 1939809 w 3600000"/>
              <a:gd name="connsiteY4999" fmla="*/ 1601225 h 2787466"/>
              <a:gd name="connsiteX5000" fmla="*/ 1937131 w 3600000"/>
              <a:gd name="connsiteY5000" fmla="*/ 1606592 h 2787466"/>
              <a:gd name="connsiteX5001" fmla="*/ 1944968 w 3600000"/>
              <a:gd name="connsiteY5001" fmla="*/ 1600738 h 2787466"/>
              <a:gd name="connsiteX5002" fmla="*/ 1948921 w 3600000"/>
              <a:gd name="connsiteY5002" fmla="*/ 1607729 h 2787466"/>
              <a:gd name="connsiteX5003" fmla="*/ 1939846 w 3600000"/>
              <a:gd name="connsiteY5003" fmla="*/ 1611641 h 2787466"/>
              <a:gd name="connsiteX5004" fmla="*/ 1936035 w 3600000"/>
              <a:gd name="connsiteY5004" fmla="*/ 1608787 h 2787466"/>
              <a:gd name="connsiteX5005" fmla="*/ 1932862 w 3600000"/>
              <a:gd name="connsiteY5005" fmla="*/ 1615147 h 2787466"/>
              <a:gd name="connsiteX5006" fmla="*/ 1899427 w 3600000"/>
              <a:gd name="connsiteY5006" fmla="*/ 1632038 h 2787466"/>
              <a:gd name="connsiteX5007" fmla="*/ 1882532 w 3600000"/>
              <a:gd name="connsiteY5007" fmla="*/ 1624020 h 2787466"/>
              <a:gd name="connsiteX5008" fmla="*/ 1839580 w 3600000"/>
              <a:gd name="connsiteY5008" fmla="*/ 1631345 h 2787466"/>
              <a:gd name="connsiteX5009" fmla="*/ 1839405 w 3600000"/>
              <a:gd name="connsiteY5009" fmla="*/ 1631823 h 2787466"/>
              <a:gd name="connsiteX5010" fmla="*/ 1838783 w 3600000"/>
              <a:gd name="connsiteY5010" fmla="*/ 1631482 h 2787466"/>
              <a:gd name="connsiteX5011" fmla="*/ 1836330 w 3600000"/>
              <a:gd name="connsiteY5011" fmla="*/ 1631900 h 2787466"/>
              <a:gd name="connsiteX5012" fmla="*/ 1825907 w 3600000"/>
              <a:gd name="connsiteY5012" fmla="*/ 1633643 h 2787466"/>
              <a:gd name="connsiteX5013" fmla="*/ 1824979 w 3600000"/>
              <a:gd name="connsiteY5013" fmla="*/ 1635753 h 2787466"/>
              <a:gd name="connsiteX5014" fmla="*/ 1822228 w 3600000"/>
              <a:gd name="connsiteY5014" fmla="*/ 1634258 h 2787466"/>
              <a:gd name="connsiteX5015" fmla="*/ 1808064 w 3600000"/>
              <a:gd name="connsiteY5015" fmla="*/ 1636627 h 2787466"/>
              <a:gd name="connsiteX5016" fmla="*/ 1808080 w 3600000"/>
              <a:gd name="connsiteY5016" fmla="*/ 1636696 h 2787466"/>
              <a:gd name="connsiteX5017" fmla="*/ 1796333 w 3600000"/>
              <a:gd name="connsiteY5017" fmla="*/ 1638740 h 2787466"/>
              <a:gd name="connsiteX5018" fmla="*/ 1801691 w 3600000"/>
              <a:gd name="connsiteY5018" fmla="*/ 1644714 h 2787466"/>
              <a:gd name="connsiteX5019" fmla="*/ 1792521 w 3600000"/>
              <a:gd name="connsiteY5019" fmla="*/ 1644223 h 2787466"/>
              <a:gd name="connsiteX5020" fmla="*/ 1789587 w 3600000"/>
              <a:gd name="connsiteY5020" fmla="*/ 1639372 h 2787466"/>
              <a:gd name="connsiteX5021" fmla="*/ 1773667 w 3600000"/>
              <a:gd name="connsiteY5021" fmla="*/ 1640833 h 2787466"/>
              <a:gd name="connsiteX5022" fmla="*/ 1775519 w 3600000"/>
              <a:gd name="connsiteY5022" fmla="*/ 1641727 h 2787466"/>
              <a:gd name="connsiteX5023" fmla="*/ 1773251 w 3600000"/>
              <a:gd name="connsiteY5023" fmla="*/ 1644714 h 2787466"/>
              <a:gd name="connsiteX5024" fmla="*/ 1765832 w 3600000"/>
              <a:gd name="connsiteY5024" fmla="*/ 1642305 h 2787466"/>
              <a:gd name="connsiteX5025" fmla="*/ 1763127 w 3600000"/>
              <a:gd name="connsiteY5025" fmla="*/ 1641799 h 2787466"/>
              <a:gd name="connsiteX5026" fmla="*/ 1762769 w 3600000"/>
              <a:gd name="connsiteY5026" fmla="*/ 1641832 h 2787466"/>
              <a:gd name="connsiteX5027" fmla="*/ 1763694 w 3600000"/>
              <a:gd name="connsiteY5027" fmla="*/ 1645343 h 2787466"/>
              <a:gd name="connsiteX5028" fmla="*/ 1766657 w 3600000"/>
              <a:gd name="connsiteY5028" fmla="*/ 1652733 h 2787466"/>
              <a:gd name="connsiteX5029" fmla="*/ 1763977 w 3600000"/>
              <a:gd name="connsiteY5029" fmla="*/ 1655720 h 2787466"/>
              <a:gd name="connsiteX5030" fmla="*/ 1759778 w 3600000"/>
              <a:gd name="connsiteY5030" fmla="*/ 1649176 h 2787466"/>
              <a:gd name="connsiteX5031" fmla="*/ 1758182 w 3600000"/>
              <a:gd name="connsiteY5031" fmla="*/ 1642253 h 2787466"/>
              <a:gd name="connsiteX5032" fmla="*/ 1751291 w 3600000"/>
              <a:gd name="connsiteY5032" fmla="*/ 1642885 h 2787466"/>
              <a:gd name="connsiteX5033" fmla="*/ 1746975 w 3600000"/>
              <a:gd name="connsiteY5033" fmla="*/ 1642797 h 2787466"/>
              <a:gd name="connsiteX5034" fmla="*/ 1747078 w 3600000"/>
              <a:gd name="connsiteY5034" fmla="*/ 1644714 h 2787466"/>
              <a:gd name="connsiteX5035" fmla="*/ 1750994 w 3600000"/>
              <a:gd name="connsiteY5035" fmla="*/ 1645658 h 2787466"/>
              <a:gd name="connsiteX5036" fmla="*/ 1740921 w 3600000"/>
              <a:gd name="connsiteY5036" fmla="*/ 1642847 h 2787466"/>
              <a:gd name="connsiteX5037" fmla="*/ 1740391 w 3600000"/>
              <a:gd name="connsiteY5037" fmla="*/ 1642662 h 2787466"/>
              <a:gd name="connsiteX5038" fmla="*/ 1732918 w 3600000"/>
              <a:gd name="connsiteY5038" fmla="*/ 1642509 h 2787466"/>
              <a:gd name="connsiteX5039" fmla="*/ 1732565 w 3600000"/>
              <a:gd name="connsiteY5039" fmla="*/ 1643055 h 2787466"/>
              <a:gd name="connsiteX5040" fmla="*/ 1732859 w 3600000"/>
              <a:gd name="connsiteY5040" fmla="*/ 1649589 h 2787466"/>
              <a:gd name="connsiteX5041" fmla="*/ 1713280 w 3600000"/>
              <a:gd name="connsiteY5041" fmla="*/ 1649589 h 2787466"/>
              <a:gd name="connsiteX5042" fmla="*/ 1714517 w 3600000"/>
              <a:gd name="connsiteY5042" fmla="*/ 1653676 h 2787466"/>
              <a:gd name="connsiteX5043" fmla="*/ 1727500 w 3600000"/>
              <a:gd name="connsiteY5043" fmla="*/ 1667511 h 2787466"/>
              <a:gd name="connsiteX5044" fmla="*/ 1715754 w 3600000"/>
              <a:gd name="connsiteY5044" fmla="*/ 1665625 h 2787466"/>
              <a:gd name="connsiteX5045" fmla="*/ 1708129 w 3600000"/>
              <a:gd name="connsiteY5045" fmla="*/ 1657606 h 2787466"/>
              <a:gd name="connsiteX5046" fmla="*/ 1710601 w 3600000"/>
              <a:gd name="connsiteY5046" fmla="*/ 1666568 h 2787466"/>
              <a:gd name="connsiteX5047" fmla="*/ 1706685 w 3600000"/>
              <a:gd name="connsiteY5047" fmla="*/ 1667511 h 2787466"/>
              <a:gd name="connsiteX5048" fmla="*/ 1693703 w 3600000"/>
              <a:gd name="connsiteY5048" fmla="*/ 1654619 h 2787466"/>
              <a:gd name="connsiteX5049" fmla="*/ 1708129 w 3600000"/>
              <a:gd name="connsiteY5049" fmla="*/ 1686378 h 2787466"/>
              <a:gd name="connsiteX5050" fmla="*/ 1706685 w 3600000"/>
              <a:gd name="connsiteY5050" fmla="*/ 1689365 h 2787466"/>
              <a:gd name="connsiteX5051" fmla="*/ 1694939 w 3600000"/>
              <a:gd name="connsiteY5051" fmla="*/ 1683390 h 2787466"/>
              <a:gd name="connsiteX5052" fmla="*/ 1698854 w 3600000"/>
              <a:gd name="connsiteY5052" fmla="*/ 1705244 h 2787466"/>
              <a:gd name="connsiteX5053" fmla="*/ 1719669 w 3600000"/>
              <a:gd name="connsiteY5053" fmla="*/ 1712319 h 2787466"/>
              <a:gd name="connsiteX5054" fmla="*/ 1709365 w 3600000"/>
              <a:gd name="connsiteY5054" fmla="*/ 1707288 h 2787466"/>
              <a:gd name="connsiteX5055" fmla="*/ 1702770 w 3600000"/>
              <a:gd name="connsiteY5055" fmla="*/ 1719237 h 2787466"/>
              <a:gd name="connsiteX5056" fmla="*/ 1696382 w 3600000"/>
              <a:gd name="connsiteY5056" fmla="*/ 1708231 h 2787466"/>
              <a:gd name="connsiteX5057" fmla="*/ 1696382 w 3600000"/>
              <a:gd name="connsiteY5057" fmla="*/ 1730085 h 2787466"/>
              <a:gd name="connsiteX5058" fmla="*/ 1689787 w 3600000"/>
              <a:gd name="connsiteY5058" fmla="*/ 1721123 h 2787466"/>
              <a:gd name="connsiteX5059" fmla="*/ 1693703 w 3600000"/>
              <a:gd name="connsiteY5059" fmla="*/ 1717193 h 2787466"/>
              <a:gd name="connsiteX5060" fmla="*/ 1693703 w 3600000"/>
              <a:gd name="connsiteY5060" fmla="*/ 1712319 h 2787466"/>
              <a:gd name="connsiteX5061" fmla="*/ 1687314 w 3600000"/>
              <a:gd name="connsiteY5061" fmla="*/ 1704301 h 2787466"/>
              <a:gd name="connsiteX5062" fmla="*/ 1691023 w 3600000"/>
              <a:gd name="connsiteY5062" fmla="*/ 1710275 h 2787466"/>
              <a:gd name="connsiteX5063" fmla="*/ 1683398 w 3600000"/>
              <a:gd name="connsiteY5063" fmla="*/ 1711219 h 2787466"/>
              <a:gd name="connsiteX5064" fmla="*/ 1671651 w 3600000"/>
              <a:gd name="connsiteY5064" fmla="*/ 1698327 h 2787466"/>
              <a:gd name="connsiteX5065" fmla="*/ 1662378 w 3600000"/>
              <a:gd name="connsiteY5065" fmla="*/ 1698327 h 2787466"/>
              <a:gd name="connsiteX5066" fmla="*/ 1679482 w 3600000"/>
              <a:gd name="connsiteY5066" fmla="*/ 1715306 h 2787466"/>
              <a:gd name="connsiteX5067" fmla="*/ 1674124 w 3600000"/>
              <a:gd name="connsiteY5067" fmla="*/ 1719237 h 2787466"/>
              <a:gd name="connsiteX5068" fmla="*/ 1671651 w 3600000"/>
              <a:gd name="connsiteY5068" fmla="*/ 1710275 h 2787466"/>
              <a:gd name="connsiteX5069" fmla="*/ 1663820 w 3600000"/>
              <a:gd name="connsiteY5069" fmla="*/ 1710275 h 2787466"/>
              <a:gd name="connsiteX5070" fmla="*/ 1670209 w 3600000"/>
              <a:gd name="connsiteY5070" fmla="*/ 1715306 h 2787466"/>
              <a:gd name="connsiteX5071" fmla="*/ 1663820 w 3600000"/>
              <a:gd name="connsiteY5071" fmla="*/ 1723168 h 2787466"/>
              <a:gd name="connsiteX5072" fmla="*/ 1641563 w 3600000"/>
              <a:gd name="connsiteY5072" fmla="*/ 1727098 h 2787466"/>
              <a:gd name="connsiteX5073" fmla="*/ 1643005 w 3600000"/>
              <a:gd name="connsiteY5073" fmla="*/ 1724111 h 2787466"/>
              <a:gd name="connsiteX5074" fmla="*/ 1639090 w 3600000"/>
              <a:gd name="connsiteY5074" fmla="*/ 1723168 h 2787466"/>
              <a:gd name="connsiteX5075" fmla="*/ 1646921 w 3600000"/>
              <a:gd name="connsiteY5075" fmla="*/ 1720180 h 2787466"/>
              <a:gd name="connsiteX5076" fmla="*/ 1644242 w 3600000"/>
              <a:gd name="connsiteY5076" fmla="*/ 1716250 h 2787466"/>
              <a:gd name="connsiteX5077" fmla="*/ 1631259 w 3600000"/>
              <a:gd name="connsiteY5077" fmla="*/ 1711219 h 2787466"/>
              <a:gd name="connsiteX5078" fmla="*/ 1650837 w 3600000"/>
              <a:gd name="connsiteY5078" fmla="*/ 1736060 h 2787466"/>
              <a:gd name="connsiteX5079" fmla="*/ 1646921 w 3600000"/>
              <a:gd name="connsiteY5079" fmla="*/ 1738103 h 2787466"/>
              <a:gd name="connsiteX5080" fmla="*/ 1637647 w 3600000"/>
              <a:gd name="connsiteY5080" fmla="*/ 1735117 h 2787466"/>
              <a:gd name="connsiteX5081" fmla="*/ 1645478 w 3600000"/>
              <a:gd name="connsiteY5081" fmla="*/ 1741090 h 2787466"/>
              <a:gd name="connsiteX5082" fmla="*/ 1645478 w 3600000"/>
              <a:gd name="connsiteY5082" fmla="*/ 1754926 h 2787466"/>
              <a:gd name="connsiteX5083" fmla="*/ 1643005 w 3600000"/>
              <a:gd name="connsiteY5083" fmla="*/ 1750996 h 2787466"/>
              <a:gd name="connsiteX5084" fmla="*/ 1633732 w 3600000"/>
              <a:gd name="connsiteY5084" fmla="*/ 1745021 h 2787466"/>
              <a:gd name="connsiteX5085" fmla="*/ 1639090 w 3600000"/>
              <a:gd name="connsiteY5085" fmla="*/ 1742034 h 2787466"/>
              <a:gd name="connsiteX5086" fmla="*/ 1632495 w 3600000"/>
              <a:gd name="connsiteY5086" fmla="*/ 1737160 h 2787466"/>
              <a:gd name="connsiteX5087" fmla="*/ 1628579 w 3600000"/>
              <a:gd name="connsiteY5087" fmla="*/ 1742034 h 2787466"/>
              <a:gd name="connsiteX5088" fmla="*/ 1631259 w 3600000"/>
              <a:gd name="connsiteY5088" fmla="*/ 1756970 h 2787466"/>
              <a:gd name="connsiteX5089" fmla="*/ 1625900 w 3600000"/>
              <a:gd name="connsiteY5089" fmla="*/ 1743135 h 2787466"/>
              <a:gd name="connsiteX5090" fmla="*/ 1620748 w 3600000"/>
              <a:gd name="connsiteY5090" fmla="*/ 1738103 h 2787466"/>
              <a:gd name="connsiteX5091" fmla="*/ 1624664 w 3600000"/>
              <a:gd name="connsiteY5091" fmla="*/ 1750053 h 2787466"/>
              <a:gd name="connsiteX5092" fmla="*/ 1614359 w 3600000"/>
              <a:gd name="connsiteY5092" fmla="*/ 1742034 h 2787466"/>
              <a:gd name="connsiteX5093" fmla="*/ 1611681 w 3600000"/>
              <a:gd name="connsiteY5093" fmla="*/ 1748952 h 2787466"/>
              <a:gd name="connsiteX5094" fmla="*/ 1619511 w 3600000"/>
              <a:gd name="connsiteY5094" fmla="*/ 1754926 h 2787466"/>
              <a:gd name="connsiteX5095" fmla="*/ 1614359 w 3600000"/>
              <a:gd name="connsiteY5095" fmla="*/ 1753039 h 2787466"/>
              <a:gd name="connsiteX5096" fmla="*/ 1612917 w 3600000"/>
              <a:gd name="connsiteY5096" fmla="*/ 1756970 h 2787466"/>
              <a:gd name="connsiteX5097" fmla="*/ 1625900 w 3600000"/>
              <a:gd name="connsiteY5097" fmla="*/ 1771906 h 2787466"/>
              <a:gd name="connsiteX5098" fmla="*/ 1636410 w 3600000"/>
              <a:gd name="connsiteY5098" fmla="*/ 1772850 h 2787466"/>
              <a:gd name="connsiteX5099" fmla="*/ 1631259 w 3600000"/>
              <a:gd name="connsiteY5099" fmla="*/ 1764988 h 2787466"/>
              <a:gd name="connsiteX5100" fmla="*/ 1636410 w 3600000"/>
              <a:gd name="connsiteY5100" fmla="*/ 1764988 h 2787466"/>
              <a:gd name="connsiteX5101" fmla="*/ 1648157 w 3600000"/>
              <a:gd name="connsiteY5101" fmla="*/ 1780867 h 2787466"/>
              <a:gd name="connsiteX5102" fmla="*/ 1640326 w 3600000"/>
              <a:gd name="connsiteY5102" fmla="*/ 1773792 h 2787466"/>
              <a:gd name="connsiteX5103" fmla="*/ 1639090 w 3600000"/>
              <a:gd name="connsiteY5103" fmla="*/ 1782754 h 2787466"/>
              <a:gd name="connsiteX5104" fmla="*/ 1645478 w 3600000"/>
              <a:gd name="connsiteY5104" fmla="*/ 1786842 h 2787466"/>
              <a:gd name="connsiteX5105" fmla="*/ 1636410 w 3600000"/>
              <a:gd name="connsiteY5105" fmla="*/ 1790772 h 2787466"/>
              <a:gd name="connsiteX5106" fmla="*/ 1629816 w 3600000"/>
              <a:gd name="connsiteY5106" fmla="*/ 1783855 h 2787466"/>
              <a:gd name="connsiteX5107" fmla="*/ 1636410 w 3600000"/>
              <a:gd name="connsiteY5107" fmla="*/ 1793759 h 2787466"/>
              <a:gd name="connsiteX5108" fmla="*/ 1625900 w 3600000"/>
              <a:gd name="connsiteY5108" fmla="*/ 1786842 h 2787466"/>
              <a:gd name="connsiteX5109" fmla="*/ 1609001 w 3600000"/>
              <a:gd name="connsiteY5109" fmla="*/ 1789672 h 2787466"/>
              <a:gd name="connsiteX5110" fmla="*/ 1621984 w 3600000"/>
              <a:gd name="connsiteY5110" fmla="*/ 1794703 h 2787466"/>
              <a:gd name="connsiteX5111" fmla="*/ 1611681 w 3600000"/>
              <a:gd name="connsiteY5111" fmla="*/ 1793759 h 2787466"/>
              <a:gd name="connsiteX5112" fmla="*/ 1607764 w 3600000"/>
              <a:gd name="connsiteY5112" fmla="*/ 1799734 h 2787466"/>
              <a:gd name="connsiteX5113" fmla="*/ 1615595 w 3600000"/>
              <a:gd name="connsiteY5113" fmla="*/ 1800678 h 2787466"/>
              <a:gd name="connsiteX5114" fmla="*/ 1603849 w 3600000"/>
              <a:gd name="connsiteY5114" fmla="*/ 1813569 h 2787466"/>
              <a:gd name="connsiteX5115" fmla="*/ 1606528 w 3600000"/>
              <a:gd name="connsiteY5115" fmla="*/ 1801621 h 2787466"/>
              <a:gd name="connsiteX5116" fmla="*/ 1593339 w 3600000"/>
              <a:gd name="connsiteY5116" fmla="*/ 1788729 h 2787466"/>
              <a:gd name="connsiteX5117" fmla="*/ 1586950 w 3600000"/>
              <a:gd name="connsiteY5117" fmla="*/ 1791716 h 2787466"/>
              <a:gd name="connsiteX5118" fmla="*/ 1601170 w 3600000"/>
              <a:gd name="connsiteY5118" fmla="*/ 1805708 h 2787466"/>
              <a:gd name="connsiteX5119" fmla="*/ 1588186 w 3600000"/>
              <a:gd name="connsiteY5119" fmla="*/ 1807595 h 2787466"/>
              <a:gd name="connsiteX5120" fmla="*/ 1603849 w 3600000"/>
              <a:gd name="connsiteY5120" fmla="*/ 1813569 h 2787466"/>
              <a:gd name="connsiteX5121" fmla="*/ 1614359 w 3600000"/>
              <a:gd name="connsiteY5121" fmla="*/ 1824575 h 2787466"/>
              <a:gd name="connsiteX5122" fmla="*/ 1602613 w 3600000"/>
              <a:gd name="connsiteY5122" fmla="*/ 1821588 h 2787466"/>
              <a:gd name="connsiteX5123" fmla="*/ 1603849 w 3600000"/>
              <a:gd name="connsiteY5123" fmla="*/ 1817500 h 2787466"/>
              <a:gd name="connsiteX5124" fmla="*/ 1596018 w 3600000"/>
              <a:gd name="connsiteY5124" fmla="*/ 1824575 h 2787466"/>
              <a:gd name="connsiteX5125" fmla="*/ 1599933 w 3600000"/>
              <a:gd name="connsiteY5125" fmla="*/ 1820487 h 2787466"/>
              <a:gd name="connsiteX5126" fmla="*/ 1602613 w 3600000"/>
              <a:gd name="connsiteY5126" fmla="*/ 1836366 h 2787466"/>
              <a:gd name="connsiteX5127" fmla="*/ 1592103 w 3600000"/>
              <a:gd name="connsiteY5127" fmla="*/ 1831492 h 2787466"/>
              <a:gd name="connsiteX5128" fmla="*/ 1586950 w 3600000"/>
              <a:gd name="connsiteY5128" fmla="*/ 1825519 h 2787466"/>
              <a:gd name="connsiteX5129" fmla="*/ 1584271 w 3600000"/>
              <a:gd name="connsiteY5129" fmla="*/ 1829449 h 2787466"/>
              <a:gd name="connsiteX5130" fmla="*/ 1572524 w 3600000"/>
              <a:gd name="connsiteY5130" fmla="*/ 1822531 h 2787466"/>
              <a:gd name="connsiteX5131" fmla="*/ 1586950 w 3600000"/>
              <a:gd name="connsiteY5131" fmla="*/ 1837467 h 2787466"/>
              <a:gd name="connsiteX5132" fmla="*/ 1583034 w 3600000"/>
              <a:gd name="connsiteY5132" fmla="*/ 1845328 h 2787466"/>
              <a:gd name="connsiteX5133" fmla="*/ 1568608 w 3600000"/>
              <a:gd name="connsiteY5133" fmla="*/ 1846429 h 2787466"/>
              <a:gd name="connsiteX5134" fmla="*/ 1583034 w 3600000"/>
              <a:gd name="connsiteY5134" fmla="*/ 1853347 h 2787466"/>
              <a:gd name="connsiteX5135" fmla="*/ 1568608 w 3600000"/>
              <a:gd name="connsiteY5135" fmla="*/ 1851302 h 2787466"/>
              <a:gd name="connsiteX5136" fmla="*/ 1564693 w 3600000"/>
              <a:gd name="connsiteY5136" fmla="*/ 1855390 h 2787466"/>
              <a:gd name="connsiteX5137" fmla="*/ 1553152 w 3600000"/>
              <a:gd name="connsiteY5137" fmla="*/ 1849416 h 2787466"/>
              <a:gd name="connsiteX5138" fmla="*/ 1566135 w 3600000"/>
              <a:gd name="connsiteY5138" fmla="*/ 1858378 h 2787466"/>
              <a:gd name="connsiteX5139" fmla="*/ 1570051 w 3600000"/>
              <a:gd name="connsiteY5139" fmla="*/ 1857277 h 2787466"/>
              <a:gd name="connsiteX5140" fmla="*/ 1567372 w 3600000"/>
              <a:gd name="connsiteY5140" fmla="*/ 1860264 h 2787466"/>
              <a:gd name="connsiteX5141" fmla="*/ 1572524 w 3600000"/>
              <a:gd name="connsiteY5141" fmla="*/ 1867182 h 2787466"/>
              <a:gd name="connsiteX5142" fmla="*/ 1556862 w 3600000"/>
              <a:gd name="connsiteY5142" fmla="*/ 1870169 h 2787466"/>
              <a:gd name="connsiteX5143" fmla="*/ 1572524 w 3600000"/>
              <a:gd name="connsiteY5143" fmla="*/ 1872213 h 2787466"/>
              <a:gd name="connsiteX5144" fmla="*/ 1568608 w 3600000"/>
              <a:gd name="connsiteY5144" fmla="*/ 1882118 h 2787466"/>
              <a:gd name="connsiteX5145" fmla="*/ 1568608 w 3600000"/>
              <a:gd name="connsiteY5145" fmla="*/ 1876144 h 2787466"/>
              <a:gd name="connsiteX5146" fmla="*/ 1556862 w 3600000"/>
              <a:gd name="connsiteY5146" fmla="*/ 1885105 h 2787466"/>
              <a:gd name="connsiteX5147" fmla="*/ 1568608 w 3600000"/>
              <a:gd name="connsiteY5147" fmla="*/ 1890136 h 2787466"/>
              <a:gd name="connsiteX5148" fmla="*/ 1554388 w 3600000"/>
              <a:gd name="connsiteY5148" fmla="*/ 1892023 h 2787466"/>
              <a:gd name="connsiteX5149" fmla="*/ 1563456 w 3600000"/>
              <a:gd name="connsiteY5149" fmla="*/ 1900041 h 2787466"/>
              <a:gd name="connsiteX5150" fmla="*/ 1547794 w 3600000"/>
              <a:gd name="connsiteY5150" fmla="*/ 1917964 h 2787466"/>
              <a:gd name="connsiteX5151" fmla="*/ 1537489 w 3600000"/>
              <a:gd name="connsiteY5151" fmla="*/ 1913876 h 2787466"/>
              <a:gd name="connsiteX5152" fmla="*/ 1526979 w 3600000"/>
              <a:gd name="connsiteY5152" fmla="*/ 1949723 h 2787466"/>
              <a:gd name="connsiteX5153" fmla="*/ 1525743 w 3600000"/>
              <a:gd name="connsiteY5153" fmla="*/ 1953654 h 2787466"/>
              <a:gd name="connsiteX5154" fmla="*/ 1526979 w 3600000"/>
              <a:gd name="connsiteY5154" fmla="*/ 1956641 h 2787466"/>
              <a:gd name="connsiteX5155" fmla="*/ 1534810 w 3600000"/>
              <a:gd name="connsiteY5155" fmla="*/ 1954596 h 2787466"/>
              <a:gd name="connsiteX5156" fmla="*/ 1533574 w 3600000"/>
              <a:gd name="connsiteY5156" fmla="*/ 1974563 h 2787466"/>
              <a:gd name="connsiteX5157" fmla="*/ 1524300 w 3600000"/>
              <a:gd name="connsiteY5157" fmla="*/ 1989500 h 2787466"/>
              <a:gd name="connsiteX5158" fmla="*/ 1506164 w 3600000"/>
              <a:gd name="connsiteY5158" fmla="*/ 2025188 h 2787466"/>
              <a:gd name="connsiteX5159" fmla="*/ 1498333 w 3600000"/>
              <a:gd name="connsiteY5159" fmla="*/ 2021258 h 2787466"/>
              <a:gd name="connsiteX5160" fmla="*/ 1490502 w 3600000"/>
              <a:gd name="connsiteY5160" fmla="*/ 2031163 h 2787466"/>
              <a:gd name="connsiteX5161" fmla="*/ 1499776 w 3600000"/>
              <a:gd name="connsiteY5161" fmla="*/ 2032107 h 2787466"/>
              <a:gd name="connsiteX5162" fmla="*/ 1484113 w 3600000"/>
              <a:gd name="connsiteY5162" fmla="*/ 2063865 h 2787466"/>
              <a:gd name="connsiteX5163" fmla="*/ 1469687 w 3600000"/>
              <a:gd name="connsiteY5163" fmla="*/ 2062922 h 2787466"/>
              <a:gd name="connsiteX5164" fmla="*/ 1472366 w 3600000"/>
              <a:gd name="connsiteY5164" fmla="*/ 2072984 h 2787466"/>
              <a:gd name="connsiteX5165" fmla="*/ 1461856 w 3600000"/>
              <a:gd name="connsiteY5165" fmla="*/ 2076915 h 2787466"/>
              <a:gd name="connsiteX5166" fmla="*/ 1478755 w 3600000"/>
              <a:gd name="connsiteY5166" fmla="*/ 2076915 h 2787466"/>
              <a:gd name="connsiteX5167" fmla="*/ 1473603 w 3600000"/>
              <a:gd name="connsiteY5167" fmla="*/ 2086819 h 2787466"/>
              <a:gd name="connsiteX5168" fmla="*/ 1451551 w 3600000"/>
              <a:gd name="connsiteY5168" fmla="*/ 2106629 h 2787466"/>
              <a:gd name="connsiteX5169" fmla="*/ 1468451 w 3600000"/>
              <a:gd name="connsiteY5169" fmla="*/ 2102698 h 2787466"/>
              <a:gd name="connsiteX5170" fmla="*/ 1463299 w 3600000"/>
              <a:gd name="connsiteY5170" fmla="*/ 2104743 h 2787466"/>
              <a:gd name="connsiteX5171" fmla="*/ 1455468 w 3600000"/>
              <a:gd name="connsiteY5171" fmla="*/ 2120622 h 2787466"/>
              <a:gd name="connsiteX5172" fmla="*/ 1464535 w 3600000"/>
              <a:gd name="connsiteY5172" fmla="*/ 2121565 h 2787466"/>
              <a:gd name="connsiteX5173" fmla="*/ 1451551 w 3600000"/>
              <a:gd name="connsiteY5173" fmla="*/ 2132571 h 2787466"/>
              <a:gd name="connsiteX5174" fmla="*/ 1448873 w 3600000"/>
              <a:gd name="connsiteY5174" fmla="*/ 2142476 h 2787466"/>
              <a:gd name="connsiteX5175" fmla="*/ 1443721 w 3600000"/>
              <a:gd name="connsiteY5175" fmla="*/ 2148450 h 2787466"/>
              <a:gd name="connsiteX5176" fmla="*/ 1450109 w 3600000"/>
              <a:gd name="connsiteY5176" fmla="*/ 2156311 h 2787466"/>
              <a:gd name="connsiteX5177" fmla="*/ 1455468 w 3600000"/>
              <a:gd name="connsiteY5177" fmla="*/ 2148450 h 2787466"/>
              <a:gd name="connsiteX5178" fmla="*/ 1498333 w 3600000"/>
              <a:gd name="connsiteY5178" fmla="*/ 2151437 h 2787466"/>
              <a:gd name="connsiteX5179" fmla="*/ 1457322 w 3600000"/>
              <a:gd name="connsiteY5179" fmla="*/ 2163916 h 2787466"/>
              <a:gd name="connsiteX5180" fmla="*/ 1419515 w 3600000"/>
              <a:gd name="connsiteY5180" fmla="*/ 2176182 h 2787466"/>
              <a:gd name="connsiteX5181" fmla="*/ 1419399 w 3600000"/>
              <a:gd name="connsiteY5181" fmla="*/ 2178443 h 2787466"/>
              <a:gd name="connsiteX5182" fmla="*/ 1420420 w 3600000"/>
              <a:gd name="connsiteY5182" fmla="*/ 2178848 h 2787466"/>
              <a:gd name="connsiteX5183" fmla="*/ 1430737 w 3600000"/>
              <a:gd name="connsiteY5183" fmla="*/ 2182252 h 2787466"/>
              <a:gd name="connsiteX5184" fmla="*/ 1443721 w 3600000"/>
              <a:gd name="connsiteY5184" fmla="*/ 2180209 h 2787466"/>
              <a:gd name="connsiteX5185" fmla="*/ 1446193 w 3600000"/>
              <a:gd name="connsiteY5185" fmla="*/ 2171247 h 2787466"/>
              <a:gd name="connsiteX5186" fmla="*/ 1448873 w 3600000"/>
              <a:gd name="connsiteY5186" fmla="*/ 2180209 h 2787466"/>
              <a:gd name="connsiteX5187" fmla="*/ 1470924 w 3600000"/>
              <a:gd name="connsiteY5187" fmla="*/ 2180209 h 2787466"/>
              <a:gd name="connsiteX5188" fmla="*/ 1495860 w 3600000"/>
              <a:gd name="connsiteY5188" fmla="*/ 2176278 h 2787466"/>
              <a:gd name="connsiteX5189" fmla="*/ 1486587 w 3600000"/>
              <a:gd name="connsiteY5189" fmla="*/ 2187126 h 2787466"/>
              <a:gd name="connsiteX5190" fmla="*/ 1443721 w 3600000"/>
              <a:gd name="connsiteY5190" fmla="*/ 2190113 h 2787466"/>
              <a:gd name="connsiteX5191" fmla="*/ 1420226 w 3600000"/>
              <a:gd name="connsiteY5191" fmla="*/ 2195145 h 2787466"/>
              <a:gd name="connsiteX5192" fmla="*/ 1420797 w 3600000"/>
              <a:gd name="connsiteY5192" fmla="*/ 2199888 h 2787466"/>
              <a:gd name="connsiteX5193" fmla="*/ 1420499 w 3600000"/>
              <a:gd name="connsiteY5193" fmla="*/ 2200664 h 2787466"/>
              <a:gd name="connsiteX5194" fmla="*/ 1421602 w 3600000"/>
              <a:gd name="connsiteY5194" fmla="*/ 2212372 h 2787466"/>
              <a:gd name="connsiteX5195" fmla="*/ 1420946 w 3600000"/>
              <a:gd name="connsiteY5195" fmla="*/ 2212374 h 2787466"/>
              <a:gd name="connsiteX5196" fmla="*/ 1421463 w 3600000"/>
              <a:gd name="connsiteY5196" fmla="*/ 2212911 h 2787466"/>
              <a:gd name="connsiteX5197" fmla="*/ 1428058 w 3600000"/>
              <a:gd name="connsiteY5197" fmla="*/ 2203006 h 2787466"/>
              <a:gd name="connsiteX5198" fmla="*/ 1460620 w 3600000"/>
              <a:gd name="connsiteY5198" fmla="*/ 2205993 h 2787466"/>
              <a:gd name="connsiteX5199" fmla="*/ 1460620 w 3600000"/>
              <a:gd name="connsiteY5199" fmla="*/ 2215898 h 2787466"/>
              <a:gd name="connsiteX5200" fmla="*/ 1429294 w 3600000"/>
              <a:gd name="connsiteY5200" fmla="*/ 2220929 h 2787466"/>
              <a:gd name="connsiteX5201" fmla="*/ 1424143 w 3600000"/>
              <a:gd name="connsiteY5201" fmla="*/ 2214954 h 2787466"/>
              <a:gd name="connsiteX5202" fmla="*/ 1399412 w 3600000"/>
              <a:gd name="connsiteY5202" fmla="*/ 2226903 h 2787466"/>
              <a:gd name="connsiteX5203" fmla="*/ 1413632 w 3600000"/>
              <a:gd name="connsiteY5203" fmla="*/ 2231934 h 2787466"/>
              <a:gd name="connsiteX5204" fmla="*/ 1416312 w 3600000"/>
              <a:gd name="connsiteY5204" fmla="*/ 2242782 h 2787466"/>
              <a:gd name="connsiteX5205" fmla="*/ 1422906 w 3600000"/>
              <a:gd name="connsiteY5205" fmla="*/ 2232878 h 2787466"/>
              <a:gd name="connsiteX5206" fmla="*/ 1454025 w 3600000"/>
              <a:gd name="connsiteY5206" fmla="*/ 2229890 h 2787466"/>
              <a:gd name="connsiteX5207" fmla="*/ 1470924 w 3600000"/>
              <a:gd name="connsiteY5207" fmla="*/ 2234764 h 2787466"/>
              <a:gd name="connsiteX5208" fmla="*/ 1472366 w 3600000"/>
              <a:gd name="connsiteY5208" fmla="*/ 2239795 h 2787466"/>
              <a:gd name="connsiteX5209" fmla="*/ 1420226 w 3600000"/>
              <a:gd name="connsiteY5209" fmla="*/ 2262592 h 2787466"/>
              <a:gd name="connsiteX5210" fmla="*/ 1450109 w 3600000"/>
              <a:gd name="connsiteY5210" fmla="*/ 2266680 h 2787466"/>
              <a:gd name="connsiteX5211" fmla="*/ 1481435 w 3600000"/>
              <a:gd name="connsiteY5211" fmla="*/ 2263693 h 2787466"/>
              <a:gd name="connsiteX5212" fmla="*/ 1373239 w 3600000"/>
              <a:gd name="connsiteY5212" fmla="*/ 2291520 h 2787466"/>
              <a:gd name="connsiteX5213" fmla="*/ 1386428 w 3600000"/>
              <a:gd name="connsiteY5213" fmla="*/ 2298439 h 2787466"/>
              <a:gd name="connsiteX5214" fmla="*/ 1467008 w 3600000"/>
              <a:gd name="connsiteY5214" fmla="*/ 2293407 h 2787466"/>
              <a:gd name="connsiteX5215" fmla="*/ 1426822 w 3600000"/>
              <a:gd name="connsiteY5215" fmla="*/ 2307400 h 2787466"/>
              <a:gd name="connsiteX5216" fmla="*/ 1372003 w 3600000"/>
              <a:gd name="connsiteY5216" fmla="*/ 2310387 h 2787466"/>
              <a:gd name="connsiteX5217" fmla="*/ 1372003 w 3600000"/>
              <a:gd name="connsiteY5217" fmla="*/ 2317305 h 2787466"/>
              <a:gd name="connsiteX5218" fmla="*/ 1364172 w 3600000"/>
              <a:gd name="connsiteY5218" fmla="*/ 2313375 h 2787466"/>
              <a:gd name="connsiteX5219" fmla="*/ 1348715 w 3600000"/>
              <a:gd name="connsiteY5219" fmla="*/ 2328153 h 2787466"/>
              <a:gd name="connsiteX5220" fmla="*/ 1396733 w 3600000"/>
              <a:gd name="connsiteY5220" fmla="*/ 2330197 h 2787466"/>
              <a:gd name="connsiteX5221" fmla="*/ 1439805 w 3600000"/>
              <a:gd name="connsiteY5221" fmla="*/ 2330197 h 2787466"/>
              <a:gd name="connsiteX5222" fmla="*/ 1366851 w 3600000"/>
              <a:gd name="connsiteY5222" fmla="*/ 2341203 h 2787466"/>
              <a:gd name="connsiteX5223" fmla="*/ 1356341 w 3600000"/>
              <a:gd name="connsiteY5223" fmla="*/ 2348120 h 2787466"/>
              <a:gd name="connsiteX5224" fmla="*/ 1302964 w 3600000"/>
              <a:gd name="connsiteY5224" fmla="*/ 2342146 h 2787466"/>
              <a:gd name="connsiteX5225" fmla="*/ 1287302 w 3600000"/>
              <a:gd name="connsiteY5225" fmla="*/ 2343089 h 2787466"/>
              <a:gd name="connsiteX5226" fmla="*/ 1280840 w 3600000"/>
              <a:gd name="connsiteY5226" fmla="*/ 2347141 h 2787466"/>
              <a:gd name="connsiteX5227" fmla="*/ 1271542 w 3600000"/>
              <a:gd name="connsiteY5227" fmla="*/ 2367467 h 2787466"/>
              <a:gd name="connsiteX5228" fmla="*/ 1280553 w 3600000"/>
              <a:gd name="connsiteY5228" fmla="*/ 2365709 h 2787466"/>
              <a:gd name="connsiteX5229" fmla="*/ 1286065 w 3600000"/>
              <a:gd name="connsiteY5229" fmla="*/ 2370917 h 2787466"/>
              <a:gd name="connsiteX5230" fmla="*/ 1293897 w 3600000"/>
              <a:gd name="connsiteY5230" fmla="*/ 2364000 h 2787466"/>
              <a:gd name="connsiteX5231" fmla="*/ 1304407 w 3600000"/>
              <a:gd name="connsiteY5231" fmla="*/ 2369974 h 2787466"/>
              <a:gd name="connsiteX5232" fmla="*/ 1309559 w 3600000"/>
              <a:gd name="connsiteY5232" fmla="*/ 2364943 h 2787466"/>
              <a:gd name="connsiteX5233" fmla="*/ 1315947 w 3600000"/>
              <a:gd name="connsiteY5233" fmla="*/ 2370917 h 2787466"/>
              <a:gd name="connsiteX5234" fmla="*/ 1283386 w 3600000"/>
              <a:gd name="connsiteY5234" fmla="*/ 2379879 h 2787466"/>
              <a:gd name="connsiteX5235" fmla="*/ 1270402 w 3600000"/>
              <a:gd name="connsiteY5235" fmla="*/ 2375006 h 2787466"/>
              <a:gd name="connsiteX5236" fmla="*/ 1270402 w 3600000"/>
              <a:gd name="connsiteY5236" fmla="*/ 2386797 h 2787466"/>
              <a:gd name="connsiteX5237" fmla="*/ 1255951 w 3600000"/>
              <a:gd name="connsiteY5237" fmla="*/ 2383102 h 2787466"/>
              <a:gd name="connsiteX5238" fmla="*/ 1253331 w 3600000"/>
              <a:gd name="connsiteY5238" fmla="*/ 2382583 h 2787466"/>
              <a:gd name="connsiteX5239" fmla="*/ 1243683 w 3600000"/>
              <a:gd name="connsiteY5239" fmla="*/ 2390057 h 2787466"/>
              <a:gd name="connsiteX5240" fmla="*/ 1227559 w 3600000"/>
              <a:gd name="connsiteY5240" fmla="*/ 2398019 h 2787466"/>
              <a:gd name="connsiteX5241" fmla="*/ 1228354 w 3600000"/>
              <a:gd name="connsiteY5241" fmla="*/ 2398373 h 2787466"/>
              <a:gd name="connsiteX5242" fmla="*/ 1272425 w 3600000"/>
              <a:gd name="connsiteY5242" fmla="*/ 2394685 h 2787466"/>
              <a:gd name="connsiteX5243" fmla="*/ 1280049 w 3600000"/>
              <a:gd name="connsiteY5243" fmla="*/ 2398587 h 2787466"/>
              <a:gd name="connsiteX5244" fmla="*/ 1349280 w 3600000"/>
              <a:gd name="connsiteY5244" fmla="*/ 2390784 h 2787466"/>
              <a:gd name="connsiteX5245" fmla="*/ 1370091 w 3600000"/>
              <a:gd name="connsiteY5245" fmla="*/ 2389691 h 2787466"/>
              <a:gd name="connsiteX5246" fmla="*/ 1359582 w 3600000"/>
              <a:gd name="connsiteY5246" fmla="*/ 2410449 h 2787466"/>
              <a:gd name="connsiteX5247" fmla="*/ 1351753 w 3600000"/>
              <a:gd name="connsiteY5247" fmla="*/ 2401553 h 2787466"/>
              <a:gd name="connsiteX5248" fmla="*/ 1327027 w 3600000"/>
              <a:gd name="connsiteY5248" fmla="*/ 2405455 h 2787466"/>
              <a:gd name="connsiteX5249" fmla="*/ 1321876 w 3600000"/>
              <a:gd name="connsiteY5249" fmla="*/ 2413414 h 2787466"/>
              <a:gd name="connsiteX5250" fmla="*/ 1302302 w 3600000"/>
              <a:gd name="connsiteY5250" fmla="*/ 2419346 h 2787466"/>
              <a:gd name="connsiteX5251" fmla="*/ 1291793 w 3600000"/>
              <a:gd name="connsiteY5251" fmla="*/ 2410449 h 2787466"/>
              <a:gd name="connsiteX5252" fmla="*/ 1255323 w 3600000"/>
              <a:gd name="connsiteY5252" fmla="*/ 2408420 h 2787466"/>
              <a:gd name="connsiteX5253" fmla="*/ 1217308 w 3600000"/>
              <a:gd name="connsiteY5253" fmla="*/ 2403877 h 2787466"/>
              <a:gd name="connsiteX5254" fmla="*/ 1217414 w 3600000"/>
              <a:gd name="connsiteY5254" fmla="*/ 2400326 h 2787466"/>
              <a:gd name="connsiteX5255" fmla="*/ 1205722 w 3600000"/>
              <a:gd name="connsiteY5255" fmla="*/ 2402830 h 2787466"/>
              <a:gd name="connsiteX5256" fmla="*/ 1190063 w 3600000"/>
              <a:gd name="connsiteY5256" fmla="*/ 2415878 h 2787466"/>
              <a:gd name="connsiteX5257" fmla="*/ 1152360 w 3600000"/>
              <a:gd name="connsiteY5257" fmla="*/ 2407860 h 2787466"/>
              <a:gd name="connsiteX5258" fmla="*/ 1152441 w 3600000"/>
              <a:gd name="connsiteY5258" fmla="*/ 2406330 h 2787466"/>
              <a:gd name="connsiteX5259" fmla="*/ 1151831 w 3600000"/>
              <a:gd name="connsiteY5259" fmla="*/ 2406133 h 2787466"/>
              <a:gd name="connsiteX5260" fmla="*/ 1147963 w 3600000"/>
              <a:gd name="connsiteY5260" fmla="*/ 2402158 h 2787466"/>
              <a:gd name="connsiteX5261" fmla="*/ 1149326 w 3600000"/>
              <a:gd name="connsiteY5261" fmla="*/ 2394811 h 2787466"/>
              <a:gd name="connsiteX5262" fmla="*/ 1137873 w 3600000"/>
              <a:gd name="connsiteY5262" fmla="*/ 2390519 h 2787466"/>
              <a:gd name="connsiteX5263" fmla="*/ 1112853 w 3600000"/>
              <a:gd name="connsiteY5263" fmla="*/ 2385379 h 2787466"/>
              <a:gd name="connsiteX5264" fmla="*/ 1090479 w 3600000"/>
              <a:gd name="connsiteY5264" fmla="*/ 2380087 h 2787466"/>
              <a:gd name="connsiteX5265" fmla="*/ 1084595 w 3600000"/>
              <a:gd name="connsiteY5265" fmla="*/ 2380484 h 2787466"/>
              <a:gd name="connsiteX5266" fmla="*/ 1084536 w 3600000"/>
              <a:gd name="connsiteY5266" fmla="*/ 2380647 h 2787466"/>
              <a:gd name="connsiteX5267" fmla="*/ 1076741 w 3600000"/>
              <a:gd name="connsiteY5267" fmla="*/ 2381045 h 2787466"/>
              <a:gd name="connsiteX5268" fmla="*/ 1087044 w 3600000"/>
              <a:gd name="connsiteY5268" fmla="*/ 2392051 h 2787466"/>
              <a:gd name="connsiteX5269" fmla="*/ 1083129 w 3600000"/>
              <a:gd name="connsiteY5269" fmla="*/ 2401955 h 2787466"/>
              <a:gd name="connsiteX5270" fmla="*/ 1088486 w 3600000"/>
              <a:gd name="connsiteY5270" fmla="*/ 2395981 h 2787466"/>
              <a:gd name="connsiteX5271" fmla="*/ 1100232 w 3600000"/>
              <a:gd name="connsiteY5271" fmla="*/ 2401955 h 2787466"/>
              <a:gd name="connsiteX5272" fmla="*/ 1093638 w 3600000"/>
              <a:gd name="connsiteY5272" fmla="*/ 2410917 h 2787466"/>
              <a:gd name="connsiteX5273" fmla="*/ 1080656 w 3600000"/>
              <a:gd name="connsiteY5273" fmla="*/ 2409974 h 2787466"/>
              <a:gd name="connsiteX5274" fmla="*/ 1102705 w 3600000"/>
              <a:gd name="connsiteY5274" fmla="*/ 2425853 h 2787466"/>
              <a:gd name="connsiteX5275" fmla="*/ 1101468 w 3600000"/>
              <a:gd name="connsiteY5275" fmla="*/ 2439689 h 2787466"/>
              <a:gd name="connsiteX5276" fmla="*/ 1090959 w 3600000"/>
              <a:gd name="connsiteY5276" fmla="*/ 2435759 h 2787466"/>
              <a:gd name="connsiteX5277" fmla="*/ 1090959 w 3600000"/>
              <a:gd name="connsiteY5277" fmla="*/ 2427740 h 2787466"/>
              <a:gd name="connsiteX5278" fmla="*/ 1081892 w 3600000"/>
              <a:gd name="connsiteY5278" fmla="*/ 2429784 h 2787466"/>
              <a:gd name="connsiteX5279" fmla="*/ 1089723 w 3600000"/>
              <a:gd name="connsiteY5279" fmla="*/ 2436702 h 2787466"/>
              <a:gd name="connsiteX5280" fmla="*/ 1081892 w 3600000"/>
              <a:gd name="connsiteY5280" fmla="*/ 2447708 h 2787466"/>
              <a:gd name="connsiteX5281" fmla="*/ 1062317 w 3600000"/>
              <a:gd name="connsiteY5281" fmla="*/ 2423810 h 2787466"/>
              <a:gd name="connsiteX5282" fmla="*/ 1055928 w 3600000"/>
              <a:gd name="connsiteY5282" fmla="*/ 2451639 h 2787466"/>
              <a:gd name="connsiteX5283" fmla="*/ 1061080 w 3600000"/>
              <a:gd name="connsiteY5283" fmla="*/ 2459657 h 2787466"/>
              <a:gd name="connsiteX5284" fmla="*/ 1067674 w 3600000"/>
              <a:gd name="connsiteY5284" fmla="*/ 2458557 h 2787466"/>
              <a:gd name="connsiteX5285" fmla="*/ 1059844 w 3600000"/>
              <a:gd name="connsiteY5285" fmla="*/ 2503365 h 2787466"/>
              <a:gd name="connsiteX5286" fmla="*/ 1067674 w 3600000"/>
              <a:gd name="connsiteY5286" fmla="*/ 2505252 h 2787466"/>
              <a:gd name="connsiteX5287" fmla="*/ 1062317 w 3600000"/>
              <a:gd name="connsiteY5287" fmla="*/ 2514213 h 2787466"/>
              <a:gd name="connsiteX5288" fmla="*/ 1053250 w 3600000"/>
              <a:gd name="connsiteY5288" fmla="*/ 2508239 h 2787466"/>
              <a:gd name="connsiteX5289" fmla="*/ 1050571 w 3600000"/>
              <a:gd name="connsiteY5289" fmla="*/ 2526162 h 2787466"/>
              <a:gd name="connsiteX5290" fmla="*/ 1040268 w 3600000"/>
              <a:gd name="connsiteY5290" fmla="*/ 2530093 h 2787466"/>
              <a:gd name="connsiteX5291" fmla="*/ 1046655 w 3600000"/>
              <a:gd name="connsiteY5291" fmla="*/ 2533081 h 2787466"/>
              <a:gd name="connsiteX5292" fmla="*/ 1034910 w 3600000"/>
              <a:gd name="connsiteY5292" fmla="*/ 2537011 h 2787466"/>
              <a:gd name="connsiteX5293" fmla="*/ 1041504 w 3600000"/>
              <a:gd name="connsiteY5293" fmla="*/ 2544086 h 2787466"/>
              <a:gd name="connsiteX5294" fmla="*/ 1023370 w 3600000"/>
              <a:gd name="connsiteY5294" fmla="*/ 2545029 h 2787466"/>
              <a:gd name="connsiteX5295" fmla="*/ 1021928 w 3600000"/>
              <a:gd name="connsiteY5295" fmla="*/ 2556978 h 2787466"/>
              <a:gd name="connsiteX5296" fmla="*/ 1019455 w 3600000"/>
              <a:gd name="connsiteY5296" fmla="*/ 2554934 h 2787466"/>
              <a:gd name="connsiteX5297" fmla="*/ 1016776 w 3600000"/>
              <a:gd name="connsiteY5297" fmla="*/ 2554934 h 2787466"/>
              <a:gd name="connsiteX5298" fmla="*/ 1016776 w 3600000"/>
              <a:gd name="connsiteY5298" fmla="*/ 2547073 h 2787466"/>
              <a:gd name="connsiteX5299" fmla="*/ 1020691 w 3600000"/>
              <a:gd name="connsiteY5299" fmla="*/ 2566884 h 2787466"/>
              <a:gd name="connsiteX5300" fmla="*/ 1008945 w 3600000"/>
              <a:gd name="connsiteY5300" fmla="*/ 2571915 h 2787466"/>
              <a:gd name="connsiteX5301" fmla="*/ 1012860 w 3600000"/>
              <a:gd name="connsiteY5301" fmla="*/ 2577889 h 2787466"/>
              <a:gd name="connsiteX5302" fmla="*/ 993284 w 3600000"/>
              <a:gd name="connsiteY5302" fmla="*/ 2575846 h 2787466"/>
              <a:gd name="connsiteX5303" fmla="*/ 992048 w 3600000"/>
              <a:gd name="connsiteY5303" fmla="*/ 2562953 h 2787466"/>
              <a:gd name="connsiteX5304" fmla="*/ 979066 w 3600000"/>
              <a:gd name="connsiteY5304" fmla="*/ 2563897 h 2787466"/>
              <a:gd name="connsiteX5305" fmla="*/ 988133 w 3600000"/>
              <a:gd name="connsiteY5305" fmla="*/ 2583707 h 2787466"/>
              <a:gd name="connsiteX5306" fmla="*/ 998642 w 3600000"/>
              <a:gd name="connsiteY5306" fmla="*/ 2592669 h 2787466"/>
              <a:gd name="connsiteX5307" fmla="*/ 992048 w 3600000"/>
              <a:gd name="connsiteY5307" fmla="*/ 2584807 h 2787466"/>
              <a:gd name="connsiteX5308" fmla="*/ 981539 w 3600000"/>
              <a:gd name="connsiteY5308" fmla="*/ 2590782 h 2787466"/>
              <a:gd name="connsiteX5309" fmla="*/ 989369 w 3600000"/>
              <a:gd name="connsiteY5309" fmla="*/ 2595656 h 2787466"/>
              <a:gd name="connsiteX5310" fmla="*/ 982981 w 3600000"/>
              <a:gd name="connsiteY5310" fmla="*/ 2596756 h 2787466"/>
              <a:gd name="connsiteX5311" fmla="*/ 994727 w 3600000"/>
              <a:gd name="connsiteY5311" fmla="*/ 2603674 h 2787466"/>
              <a:gd name="connsiteX5312" fmla="*/ 982981 w 3600000"/>
              <a:gd name="connsiteY5312" fmla="*/ 2607605 h 2787466"/>
              <a:gd name="connsiteX5313" fmla="*/ 995963 w 3600000"/>
              <a:gd name="connsiteY5313" fmla="*/ 2614523 h 2787466"/>
              <a:gd name="connsiteX5314" fmla="*/ 986897 w 3600000"/>
              <a:gd name="connsiteY5314" fmla="*/ 2612636 h 2787466"/>
              <a:gd name="connsiteX5315" fmla="*/ 981539 w 3600000"/>
              <a:gd name="connsiteY5315" fmla="*/ 2616566 h 2787466"/>
              <a:gd name="connsiteX5316" fmla="*/ 990811 w 3600000"/>
              <a:gd name="connsiteY5316" fmla="*/ 2634490 h 2787466"/>
              <a:gd name="connsiteX5317" fmla="*/ 1003793 w 3600000"/>
              <a:gd name="connsiteY5317" fmla="*/ 2636377 h 2787466"/>
              <a:gd name="connsiteX5318" fmla="*/ 1006473 w 3600000"/>
              <a:gd name="connsiteY5318" fmla="*/ 2641408 h 2787466"/>
              <a:gd name="connsiteX5319" fmla="*/ 1001115 w 3600000"/>
              <a:gd name="connsiteY5319" fmla="*/ 2649426 h 2787466"/>
              <a:gd name="connsiteX5320" fmla="*/ 988133 w 3600000"/>
              <a:gd name="connsiteY5320" fmla="*/ 2629459 h 2787466"/>
              <a:gd name="connsiteX5321" fmla="*/ 982981 w 3600000"/>
              <a:gd name="connsiteY5321" fmla="*/ 2629459 h 2787466"/>
              <a:gd name="connsiteX5322" fmla="*/ 994727 w 3600000"/>
              <a:gd name="connsiteY5322" fmla="*/ 2678198 h 2787466"/>
              <a:gd name="connsiteX5323" fmla="*/ 985454 w 3600000"/>
              <a:gd name="connsiteY5323" fmla="*/ 2684173 h 2787466"/>
              <a:gd name="connsiteX5324" fmla="*/ 963405 w 3600000"/>
              <a:gd name="connsiteY5324" fmla="*/ 2659332 h 2787466"/>
              <a:gd name="connsiteX5325" fmla="*/ 959489 w 3600000"/>
              <a:gd name="connsiteY5325" fmla="*/ 2660275 h 2787466"/>
              <a:gd name="connsiteX5326" fmla="*/ 967320 w 3600000"/>
              <a:gd name="connsiteY5326" fmla="*/ 2698009 h 2787466"/>
              <a:gd name="connsiteX5327" fmla="*/ 963405 w 3600000"/>
              <a:gd name="connsiteY5327" fmla="*/ 2730869 h 2787466"/>
              <a:gd name="connsiteX5328" fmla="*/ 966084 w 3600000"/>
              <a:gd name="connsiteY5328" fmla="*/ 2735743 h 2787466"/>
              <a:gd name="connsiteX5329" fmla="*/ 955574 w 3600000"/>
              <a:gd name="connsiteY5329" fmla="*/ 2733856 h 2787466"/>
              <a:gd name="connsiteX5330" fmla="*/ 946507 w 3600000"/>
              <a:gd name="connsiteY5330" fmla="*/ 2741717 h 2787466"/>
              <a:gd name="connsiteX5331" fmla="*/ 952895 w 3600000"/>
              <a:gd name="connsiteY5331" fmla="*/ 2745647 h 2787466"/>
              <a:gd name="connsiteX5332" fmla="*/ 951659 w 3600000"/>
              <a:gd name="connsiteY5332" fmla="*/ 2741717 h 2787466"/>
              <a:gd name="connsiteX5333" fmla="*/ 963405 w 3600000"/>
              <a:gd name="connsiteY5333" fmla="*/ 2755710 h 2787466"/>
              <a:gd name="connsiteX5334" fmla="*/ 930846 w 3600000"/>
              <a:gd name="connsiteY5334" fmla="*/ 2780551 h 2787466"/>
              <a:gd name="connsiteX5335" fmla="*/ 921058 w 3600000"/>
              <a:gd name="connsiteY5335" fmla="*/ 2781770 h 2787466"/>
              <a:gd name="connsiteX5336" fmla="*/ 911276 w 3600000"/>
              <a:gd name="connsiteY5336" fmla="*/ 2787466 h 2787466"/>
              <a:gd name="connsiteX5337" fmla="*/ 911265 w 3600000"/>
              <a:gd name="connsiteY5337" fmla="*/ 2787466 h 2787466"/>
              <a:gd name="connsiteX5338" fmla="*/ 886388 w 3600000"/>
              <a:gd name="connsiteY5338" fmla="*/ 2773653 h 2787466"/>
              <a:gd name="connsiteX5339" fmla="*/ 872324 w 3600000"/>
              <a:gd name="connsiteY5339" fmla="*/ 2748635 h 2787466"/>
              <a:gd name="connsiteX5340" fmla="*/ 882627 w 3600000"/>
              <a:gd name="connsiteY5340" fmla="*/ 2752723 h 2787466"/>
              <a:gd name="connsiteX5341" fmla="*/ 881391 w 3600000"/>
              <a:gd name="connsiteY5341" fmla="*/ 2734799 h 2787466"/>
              <a:gd name="connsiteX5342" fmla="*/ 864493 w 3600000"/>
              <a:gd name="connsiteY5342" fmla="*/ 2691091 h 2787466"/>
              <a:gd name="connsiteX5343" fmla="*/ 866966 w 3600000"/>
              <a:gd name="connsiteY5343" fmla="*/ 2652257 h 2787466"/>
              <a:gd name="connsiteX5344" fmla="*/ 860578 w 3600000"/>
              <a:gd name="connsiteY5344" fmla="*/ 2663262 h 2787466"/>
              <a:gd name="connsiteX5345" fmla="*/ 856663 w 3600000"/>
              <a:gd name="connsiteY5345" fmla="*/ 2640465 h 2787466"/>
              <a:gd name="connsiteX5346" fmla="*/ 853984 w 3600000"/>
              <a:gd name="connsiteY5346" fmla="*/ 2616566 h 2787466"/>
              <a:gd name="connsiteX5347" fmla="*/ 863051 w 3600000"/>
              <a:gd name="connsiteY5347" fmla="*/ 2613580 h 2787466"/>
              <a:gd name="connsiteX5348" fmla="*/ 859136 w 3600000"/>
              <a:gd name="connsiteY5348" fmla="*/ 2596756 h 2787466"/>
              <a:gd name="connsiteX5349" fmla="*/ 861814 w 3600000"/>
              <a:gd name="connsiteY5349" fmla="*/ 2603674 h 2787466"/>
              <a:gd name="connsiteX5350" fmla="*/ 857899 w 3600000"/>
              <a:gd name="connsiteY5350" fmla="*/ 2591725 h 2787466"/>
              <a:gd name="connsiteX5351" fmla="*/ 864493 w 3600000"/>
              <a:gd name="connsiteY5351" fmla="*/ 2552891 h 2787466"/>
              <a:gd name="connsiteX5352" fmla="*/ 843680 w 3600000"/>
              <a:gd name="connsiteY5352" fmla="*/ 2528207 h 2787466"/>
              <a:gd name="connsiteX5353" fmla="*/ 824104 w 3600000"/>
              <a:gd name="connsiteY5353" fmla="*/ 2530093 h 2787466"/>
              <a:gd name="connsiteX5354" fmla="*/ 828020 w 3600000"/>
              <a:gd name="connsiteY5354" fmla="*/ 2537011 h 2787466"/>
              <a:gd name="connsiteX5355" fmla="*/ 841002 w 3600000"/>
              <a:gd name="connsiteY5355" fmla="*/ 2538112 h 2787466"/>
              <a:gd name="connsiteX5356" fmla="*/ 837086 w 3600000"/>
              <a:gd name="connsiteY5356" fmla="*/ 2558865 h 2787466"/>
              <a:gd name="connsiteX5357" fmla="*/ 828020 w 3600000"/>
              <a:gd name="connsiteY5357" fmla="*/ 2560909 h 2787466"/>
              <a:gd name="connsiteX5358" fmla="*/ 831934 w 3600000"/>
              <a:gd name="connsiteY5358" fmla="*/ 2569871 h 2787466"/>
              <a:gd name="connsiteX5359" fmla="*/ 837086 w 3600000"/>
              <a:gd name="connsiteY5359" fmla="*/ 2569871 h 2787466"/>
              <a:gd name="connsiteX5360" fmla="*/ 830492 w 3600000"/>
              <a:gd name="connsiteY5360" fmla="*/ 2574903 h 2787466"/>
              <a:gd name="connsiteX5361" fmla="*/ 813595 w 3600000"/>
              <a:gd name="connsiteY5361" fmla="*/ 2560909 h 2787466"/>
              <a:gd name="connsiteX5362" fmla="*/ 818952 w 3600000"/>
              <a:gd name="connsiteY5362" fmla="*/ 2583707 h 2787466"/>
              <a:gd name="connsiteX5363" fmla="*/ 807207 w 3600000"/>
              <a:gd name="connsiteY5363" fmla="*/ 2583707 h 2787466"/>
              <a:gd name="connsiteX5364" fmla="*/ 801849 w 3600000"/>
              <a:gd name="connsiteY5364" fmla="*/ 2600687 h 2787466"/>
              <a:gd name="connsiteX5365" fmla="*/ 791546 w 3600000"/>
              <a:gd name="connsiteY5365" fmla="*/ 2596756 h 2787466"/>
              <a:gd name="connsiteX5366" fmla="*/ 783716 w 3600000"/>
              <a:gd name="connsiteY5366" fmla="*/ 2609649 h 2787466"/>
              <a:gd name="connsiteX5367" fmla="*/ 788867 w 3600000"/>
              <a:gd name="connsiteY5367" fmla="*/ 2611535 h 2787466"/>
              <a:gd name="connsiteX5368" fmla="*/ 778564 w 3600000"/>
              <a:gd name="connsiteY5368" fmla="*/ 2629459 h 2787466"/>
              <a:gd name="connsiteX5369" fmla="*/ 761460 w 3600000"/>
              <a:gd name="connsiteY5369" fmla="*/ 2644395 h 2787466"/>
              <a:gd name="connsiteX5370" fmla="*/ 748478 w 3600000"/>
              <a:gd name="connsiteY5370" fmla="*/ 2566884 h 2787466"/>
              <a:gd name="connsiteX5371" fmla="*/ 744563 w 3600000"/>
              <a:gd name="connsiteY5371" fmla="*/ 2542042 h 2787466"/>
              <a:gd name="connsiteX5372" fmla="*/ 739411 w 3600000"/>
              <a:gd name="connsiteY5372" fmla="*/ 2518144 h 2787466"/>
              <a:gd name="connsiteX5373" fmla="*/ 746005 w 3600000"/>
              <a:gd name="connsiteY5373" fmla="*/ 2538112 h 2787466"/>
              <a:gd name="connsiteX5374" fmla="*/ 738175 w 3600000"/>
              <a:gd name="connsiteY5374" fmla="*/ 2506352 h 2787466"/>
              <a:gd name="connsiteX5375" fmla="*/ 730345 w 3600000"/>
              <a:gd name="connsiteY5375" fmla="*/ 2496290 h 2787466"/>
              <a:gd name="connsiteX5376" fmla="*/ 744563 w 3600000"/>
              <a:gd name="connsiteY5376" fmla="*/ 2507296 h 2787466"/>
              <a:gd name="connsiteX5377" fmla="*/ 725193 w 3600000"/>
              <a:gd name="connsiteY5377" fmla="*/ 2486385 h 2787466"/>
              <a:gd name="connsiteX5378" fmla="*/ 734260 w 3600000"/>
              <a:gd name="connsiteY5378" fmla="*/ 2483397 h 2787466"/>
              <a:gd name="connsiteX5379" fmla="*/ 738175 w 3600000"/>
              <a:gd name="connsiteY5379" fmla="*/ 2473493 h 2787466"/>
              <a:gd name="connsiteX5380" fmla="*/ 736732 w 3600000"/>
              <a:gd name="connsiteY5380" fmla="*/ 2470505 h 2787466"/>
              <a:gd name="connsiteX5381" fmla="*/ 722514 w 3600000"/>
              <a:gd name="connsiteY5381" fmla="*/ 2464530 h 2787466"/>
              <a:gd name="connsiteX5382" fmla="*/ 721277 w 3600000"/>
              <a:gd name="connsiteY5382" fmla="*/ 2468461 h 2787466"/>
              <a:gd name="connsiteX5383" fmla="*/ 730345 w 3600000"/>
              <a:gd name="connsiteY5383" fmla="*/ 2473493 h 2787466"/>
              <a:gd name="connsiteX5384" fmla="*/ 729108 w 3600000"/>
              <a:gd name="connsiteY5384" fmla="*/ 2481511 h 2787466"/>
              <a:gd name="connsiteX5385" fmla="*/ 721277 w 3600000"/>
              <a:gd name="connsiteY5385" fmla="*/ 2470505 h 2787466"/>
              <a:gd name="connsiteX5386" fmla="*/ 710768 w 3600000"/>
              <a:gd name="connsiteY5386" fmla="*/ 2477423 h 2787466"/>
              <a:gd name="connsiteX5387" fmla="*/ 696344 w 3600000"/>
              <a:gd name="connsiteY5387" fmla="*/ 2471449 h 2787466"/>
              <a:gd name="connsiteX5388" fmla="*/ 709532 w 3600000"/>
              <a:gd name="connsiteY5388" fmla="*/ 2495346 h 2787466"/>
              <a:gd name="connsiteX5389" fmla="*/ 712005 w 3600000"/>
              <a:gd name="connsiteY5389" fmla="*/ 2505252 h 2787466"/>
              <a:gd name="connsiteX5390" fmla="*/ 719836 w 3600000"/>
              <a:gd name="connsiteY5390" fmla="*/ 2504308 h 2787466"/>
              <a:gd name="connsiteX5391" fmla="*/ 714684 w 3600000"/>
              <a:gd name="connsiteY5391" fmla="*/ 2512170 h 2787466"/>
              <a:gd name="connsiteX5392" fmla="*/ 719836 w 3600000"/>
              <a:gd name="connsiteY5392" fmla="*/ 2601630 h 2787466"/>
              <a:gd name="connsiteX5393" fmla="*/ 702938 w 3600000"/>
              <a:gd name="connsiteY5393" fmla="*/ 2582764 h 2787466"/>
              <a:gd name="connsiteX5394" fmla="*/ 701702 w 3600000"/>
              <a:gd name="connsiteY5394" fmla="*/ 2603674 h 2787466"/>
              <a:gd name="connsiteX5395" fmla="*/ 691192 w 3600000"/>
              <a:gd name="connsiteY5395" fmla="*/ 2609649 h 2787466"/>
              <a:gd name="connsiteX5396" fmla="*/ 695107 w 3600000"/>
              <a:gd name="connsiteY5396" fmla="*/ 2626472 h 2787466"/>
              <a:gd name="connsiteX5397" fmla="*/ 688719 w 3600000"/>
              <a:gd name="connsiteY5397" fmla="*/ 2636377 h 2787466"/>
              <a:gd name="connsiteX5398" fmla="*/ 684804 w 3600000"/>
              <a:gd name="connsiteY5398" fmla="*/ 2627415 h 2787466"/>
              <a:gd name="connsiteX5399" fmla="*/ 673058 w 3600000"/>
              <a:gd name="connsiteY5399" fmla="*/ 2632446 h 2787466"/>
              <a:gd name="connsiteX5400" fmla="*/ 644415 w 3600000"/>
              <a:gd name="connsiteY5400" fmla="*/ 2591725 h 2787466"/>
              <a:gd name="connsiteX5401" fmla="*/ 629991 w 3600000"/>
              <a:gd name="connsiteY5401" fmla="*/ 2550061 h 2787466"/>
              <a:gd name="connsiteX5402" fmla="*/ 615772 w 3600000"/>
              <a:gd name="connsiteY5402" fmla="*/ 2498334 h 2787466"/>
              <a:gd name="connsiteX5403" fmla="*/ 605262 w 3600000"/>
              <a:gd name="connsiteY5403" fmla="*/ 2455569 h 2787466"/>
              <a:gd name="connsiteX5404" fmla="*/ 611857 w 3600000"/>
              <a:gd name="connsiteY5404" fmla="*/ 2455569 h 2787466"/>
              <a:gd name="connsiteX5405" fmla="*/ 602584 w 3600000"/>
              <a:gd name="connsiteY5405" fmla="*/ 2440633 h 2787466"/>
              <a:gd name="connsiteX5406" fmla="*/ 613093 w 3600000"/>
              <a:gd name="connsiteY5406" fmla="*/ 2435759 h 2787466"/>
              <a:gd name="connsiteX5407" fmla="*/ 581771 w 3600000"/>
              <a:gd name="connsiteY5407" fmla="*/ 2384032 h 2787466"/>
              <a:gd name="connsiteX5408" fmla="*/ 575383 w 3600000"/>
              <a:gd name="connsiteY5408" fmla="*/ 2368152 h 2787466"/>
              <a:gd name="connsiteX5409" fmla="*/ 594959 w 3600000"/>
              <a:gd name="connsiteY5409" fmla="*/ 2314539 h 2787466"/>
              <a:gd name="connsiteX5410" fmla="*/ 592280 w 3600000"/>
              <a:gd name="connsiteY5410" fmla="*/ 2320513 h 2787466"/>
              <a:gd name="connsiteX5411" fmla="*/ 579299 w 3600000"/>
              <a:gd name="connsiteY5411" fmla="*/ 2312494 h 2787466"/>
              <a:gd name="connsiteX5412" fmla="*/ 578062 w 3600000"/>
              <a:gd name="connsiteY5412" fmla="*/ 2302590 h 2787466"/>
              <a:gd name="connsiteX5413" fmla="*/ 587129 w 3600000"/>
              <a:gd name="connsiteY5413" fmla="*/ 2292684 h 2787466"/>
              <a:gd name="connsiteX5414" fmla="*/ 574147 w 3600000"/>
              <a:gd name="connsiteY5414" fmla="*/ 2286710 h 2787466"/>
              <a:gd name="connsiteX5415" fmla="*/ 589602 w 3600000"/>
              <a:gd name="connsiteY5415" fmla="*/ 2219104 h 2787466"/>
              <a:gd name="connsiteX5416" fmla="*/ 589602 w 3600000"/>
              <a:gd name="connsiteY5416" fmla="*/ 2201338 h 2787466"/>
              <a:gd name="connsiteX5417" fmla="*/ 566110 w 3600000"/>
              <a:gd name="connsiteY5417" fmla="*/ 2183414 h 2787466"/>
              <a:gd name="connsiteX5418" fmla="*/ 583214 w 3600000"/>
              <a:gd name="connsiteY5418" fmla="*/ 2096941 h 2787466"/>
              <a:gd name="connsiteX5419" fmla="*/ 579299 w 3600000"/>
              <a:gd name="connsiteY5419" fmla="*/ 2063137 h 2787466"/>
              <a:gd name="connsiteX5420" fmla="*/ 581771 w 3600000"/>
              <a:gd name="connsiteY5420" fmla="*/ 2010467 h 2787466"/>
              <a:gd name="connsiteX5421" fmla="*/ 574147 w 3600000"/>
              <a:gd name="connsiteY5421" fmla="*/ 1972734 h 2787466"/>
              <a:gd name="connsiteX5422" fmla="*/ 584450 w 3600000"/>
              <a:gd name="connsiteY5422" fmla="*/ 1968803 h 2787466"/>
              <a:gd name="connsiteX5423" fmla="*/ 578062 w 3600000"/>
              <a:gd name="connsiteY5423" fmla="*/ 1943961 h 2787466"/>
              <a:gd name="connsiteX5424" fmla="*/ 583214 w 3600000"/>
              <a:gd name="connsiteY5424" fmla="*/ 1948835 h 2787466"/>
              <a:gd name="connsiteX5425" fmla="*/ 591044 w 3600000"/>
              <a:gd name="connsiteY5425" fmla="*/ 1901197 h 2787466"/>
              <a:gd name="connsiteX5426" fmla="*/ 584450 w 3600000"/>
              <a:gd name="connsiteY5426" fmla="*/ 1922108 h 2787466"/>
              <a:gd name="connsiteX5427" fmla="*/ 592280 w 3600000"/>
              <a:gd name="connsiteY5427" fmla="*/ 1943961 h 2787466"/>
              <a:gd name="connsiteX5428" fmla="*/ 600111 w 3600000"/>
              <a:gd name="connsiteY5428" fmla="*/ 1938930 h 2787466"/>
              <a:gd name="connsiteX5429" fmla="*/ 602584 w 3600000"/>
              <a:gd name="connsiteY5429" fmla="*/ 1953866 h 2787466"/>
              <a:gd name="connsiteX5430" fmla="*/ 597432 w 3600000"/>
              <a:gd name="connsiteY5430" fmla="*/ 1929025 h 2787466"/>
              <a:gd name="connsiteX5431" fmla="*/ 610028 w 3600000"/>
              <a:gd name="connsiteY5431" fmla="*/ 1901236 h 2787466"/>
              <a:gd name="connsiteX5432" fmla="*/ 610935 w 3600000"/>
              <a:gd name="connsiteY5432" fmla="*/ 1889355 h 2787466"/>
              <a:gd name="connsiteX5433" fmla="*/ 610705 w 3600000"/>
              <a:gd name="connsiteY5433" fmla="*/ 1889143 h 2787466"/>
              <a:gd name="connsiteX5434" fmla="*/ 611016 w 3600000"/>
              <a:gd name="connsiteY5434" fmla="*/ 1888293 h 2787466"/>
              <a:gd name="connsiteX5435" fmla="*/ 611255 w 3600000"/>
              <a:gd name="connsiteY5435" fmla="*/ 1885159 h 2787466"/>
              <a:gd name="connsiteX5436" fmla="*/ 618292 w 3600000"/>
              <a:gd name="connsiteY5436" fmla="*/ 1872827 h 2787466"/>
              <a:gd name="connsiteX5437" fmla="*/ 599130 w 3600000"/>
              <a:gd name="connsiteY5437" fmla="*/ 1869286 h 2787466"/>
              <a:gd name="connsiteX5438" fmla="*/ 599719 w 3600000"/>
              <a:gd name="connsiteY5438" fmla="*/ 1873677 h 2787466"/>
              <a:gd name="connsiteX5439" fmla="*/ 598679 w 3600000"/>
              <a:gd name="connsiteY5439" fmla="*/ 1877649 h 2787466"/>
              <a:gd name="connsiteX5440" fmla="*/ 605030 w 3600000"/>
              <a:gd name="connsiteY5440" fmla="*/ 1877298 h 2787466"/>
              <a:gd name="connsiteX5441" fmla="*/ 607704 w 3600000"/>
              <a:gd name="connsiteY5441" fmla="*/ 1893850 h 2787466"/>
              <a:gd name="connsiteX5442" fmla="*/ 596285 w 3600000"/>
              <a:gd name="connsiteY5442" fmla="*/ 1892284 h 2787466"/>
              <a:gd name="connsiteX5443" fmla="*/ 593375 w 3600000"/>
              <a:gd name="connsiteY5443" fmla="*/ 1892424 h 2787466"/>
              <a:gd name="connsiteX5444" fmla="*/ 591903 w 3600000"/>
              <a:gd name="connsiteY5444" fmla="*/ 1898705 h 2787466"/>
              <a:gd name="connsiteX5445" fmla="*/ 589446 w 3600000"/>
              <a:gd name="connsiteY5445" fmla="*/ 1892613 h 2787466"/>
              <a:gd name="connsiteX5446" fmla="*/ 583015 w 3600000"/>
              <a:gd name="connsiteY5446" fmla="*/ 1892922 h 2787466"/>
              <a:gd name="connsiteX5447" fmla="*/ 575197 w 3600000"/>
              <a:gd name="connsiteY5447" fmla="*/ 1875287 h 2787466"/>
              <a:gd name="connsiteX5448" fmla="*/ 590834 w 3600000"/>
              <a:gd name="connsiteY5448" fmla="*/ 1886115 h 2787466"/>
              <a:gd name="connsiteX5449" fmla="*/ 596842 w 3600000"/>
              <a:gd name="connsiteY5449" fmla="*/ 1883998 h 2787466"/>
              <a:gd name="connsiteX5450" fmla="*/ 597272 w 3600000"/>
              <a:gd name="connsiteY5450" fmla="*/ 1881297 h 2787466"/>
              <a:gd name="connsiteX5451" fmla="*/ 591169 w 3600000"/>
              <a:gd name="connsiteY5451" fmla="*/ 1884836 h 2787466"/>
              <a:gd name="connsiteX5452" fmla="*/ 597517 w 3600000"/>
              <a:gd name="connsiteY5452" fmla="*/ 1857261 h 2787466"/>
              <a:gd name="connsiteX5453" fmla="*/ 598939 w 3600000"/>
              <a:gd name="connsiteY5453" fmla="*/ 1867862 h 2787466"/>
              <a:gd name="connsiteX5454" fmla="*/ 600422 w 3600000"/>
              <a:gd name="connsiteY5454" fmla="*/ 1859674 h 2787466"/>
              <a:gd name="connsiteX5455" fmla="*/ 605085 w 3600000"/>
              <a:gd name="connsiteY5455" fmla="*/ 1852384 h 2787466"/>
              <a:gd name="connsiteX5456" fmla="*/ 603849 w 3600000"/>
              <a:gd name="connsiteY5456" fmla="*/ 1848295 h 2787466"/>
              <a:gd name="connsiteX5457" fmla="*/ 599933 w 3600000"/>
              <a:gd name="connsiteY5457" fmla="*/ 1852384 h 2787466"/>
              <a:gd name="connsiteX5458" fmla="*/ 607765 w 3600000"/>
              <a:gd name="connsiteY5458" fmla="*/ 1843421 h 2787466"/>
              <a:gd name="connsiteX5459" fmla="*/ 565926 w 3600000"/>
              <a:gd name="connsiteY5459" fmla="*/ 1840434 h 2787466"/>
              <a:gd name="connsiteX5460" fmla="*/ 564689 w 3600000"/>
              <a:gd name="connsiteY5460" fmla="*/ 1857257 h 2787466"/>
              <a:gd name="connsiteX5461" fmla="*/ 491730 w 3600000"/>
              <a:gd name="connsiteY5461" fmla="*/ 1832416 h 2787466"/>
              <a:gd name="connsiteX5462" fmla="*/ 494409 w 3600000"/>
              <a:gd name="connsiteY5462" fmla="*/ 1850340 h 2787466"/>
              <a:gd name="connsiteX5463" fmla="*/ 472356 w 3600000"/>
              <a:gd name="connsiteY5463" fmla="*/ 1863231 h 2787466"/>
              <a:gd name="connsiteX5464" fmla="*/ 448861 w 3600000"/>
              <a:gd name="connsiteY5464" fmla="*/ 1862288 h 2787466"/>
              <a:gd name="connsiteX5465" fmla="*/ 421449 w 3600000"/>
              <a:gd name="connsiteY5465" fmla="*/ 1837448 h 2787466"/>
              <a:gd name="connsiteX5466" fmla="*/ 431960 w 3600000"/>
              <a:gd name="connsiteY5466" fmla="*/ 1830529 h 2787466"/>
              <a:gd name="connsiteX5467" fmla="*/ 431960 w 3600000"/>
              <a:gd name="connsiteY5467" fmla="*/ 1807576 h 2787466"/>
              <a:gd name="connsiteX5468" fmla="*/ 422686 w 3600000"/>
              <a:gd name="connsiteY5468" fmla="*/ 1791696 h 2787466"/>
              <a:gd name="connsiteX5469" fmla="*/ 386412 w 3600000"/>
              <a:gd name="connsiteY5469" fmla="*/ 1807576 h 2787466"/>
              <a:gd name="connsiteX5470" fmla="*/ 384969 w 3600000"/>
              <a:gd name="connsiteY5470" fmla="*/ 1809619 h 2787466"/>
              <a:gd name="connsiteX5471" fmla="*/ 394037 w 3600000"/>
              <a:gd name="connsiteY5471" fmla="*/ 1810562 h 2787466"/>
              <a:gd name="connsiteX5472" fmla="*/ 390121 w 3600000"/>
              <a:gd name="connsiteY5472" fmla="*/ 1815594 h 2787466"/>
              <a:gd name="connsiteX5473" fmla="*/ 411144 w 3600000"/>
              <a:gd name="connsiteY5473" fmla="*/ 1826442 h 2787466"/>
              <a:gd name="connsiteX5474" fmla="*/ 401870 w 3600000"/>
              <a:gd name="connsiteY5474" fmla="*/ 1841378 h 2787466"/>
              <a:gd name="connsiteX5475" fmla="*/ 377137 w 3600000"/>
              <a:gd name="connsiteY5475" fmla="*/ 1830529 h 2787466"/>
              <a:gd name="connsiteX5476" fmla="*/ 370748 w 3600000"/>
              <a:gd name="connsiteY5476" fmla="*/ 1818581 h 2787466"/>
              <a:gd name="connsiteX5477" fmla="*/ 379817 w 3600000"/>
              <a:gd name="connsiteY5477" fmla="*/ 1807576 h 2787466"/>
              <a:gd name="connsiteX5478" fmla="*/ 362916 w 3600000"/>
              <a:gd name="connsiteY5478" fmla="*/ 1800658 h 2787466"/>
              <a:gd name="connsiteX5479" fmla="*/ 384969 w 3600000"/>
              <a:gd name="connsiteY5479" fmla="*/ 1800658 h 2787466"/>
              <a:gd name="connsiteX5480" fmla="*/ 395481 w 3600000"/>
              <a:gd name="connsiteY5480" fmla="*/ 1793740 h 2787466"/>
              <a:gd name="connsiteX5481" fmla="*/ 385059 w 3600000"/>
              <a:gd name="connsiteY5481" fmla="*/ 1785134 h 2787466"/>
              <a:gd name="connsiteX5482" fmla="*/ 385074 w 3600000"/>
              <a:gd name="connsiteY5482" fmla="*/ 1785113 h 2787466"/>
              <a:gd name="connsiteX5483" fmla="*/ 385016 w 3600000"/>
              <a:gd name="connsiteY5483" fmla="*/ 1785098 h 2787466"/>
              <a:gd name="connsiteX5484" fmla="*/ 376750 w 3600000"/>
              <a:gd name="connsiteY5484" fmla="*/ 1778273 h 2787466"/>
              <a:gd name="connsiteX5485" fmla="*/ 355084 w 3600000"/>
              <a:gd name="connsiteY5485" fmla="*/ 1762925 h 2787466"/>
              <a:gd name="connsiteX5486" fmla="*/ 346016 w 3600000"/>
              <a:gd name="connsiteY5486" fmla="*/ 1773773 h 2787466"/>
              <a:gd name="connsiteX5487" fmla="*/ 352405 w 3600000"/>
              <a:gd name="connsiteY5487" fmla="*/ 1772829 h 2787466"/>
              <a:gd name="connsiteX5488" fmla="*/ 353642 w 3600000"/>
              <a:gd name="connsiteY5488" fmla="*/ 1778804 h 2787466"/>
              <a:gd name="connsiteX5489" fmla="*/ 340657 w 3600000"/>
              <a:gd name="connsiteY5489" fmla="*/ 1783835 h 2787466"/>
              <a:gd name="connsiteX5490" fmla="*/ 312009 w 3600000"/>
              <a:gd name="connsiteY5490" fmla="*/ 1775817 h 2787466"/>
              <a:gd name="connsiteX5491" fmla="*/ 293872 w 3600000"/>
              <a:gd name="connsiteY5491" fmla="*/ 1764968 h 2787466"/>
              <a:gd name="connsiteX5492" fmla="*/ 283361 w 3600000"/>
              <a:gd name="connsiteY5492" fmla="*/ 1744058 h 2787466"/>
              <a:gd name="connsiteX5493" fmla="*/ 267697 w 3600000"/>
              <a:gd name="connsiteY5493" fmla="*/ 1743115 h 2787466"/>
              <a:gd name="connsiteX5494" fmla="*/ 267697 w 3600000"/>
              <a:gd name="connsiteY5494" fmla="*/ 1723148 h 2787466"/>
              <a:gd name="connsiteX5495" fmla="*/ 286040 w 3600000"/>
              <a:gd name="connsiteY5495" fmla="*/ 1723148 h 2787466"/>
              <a:gd name="connsiteX5496" fmla="*/ 286040 w 3600000"/>
              <a:gd name="connsiteY5496" fmla="*/ 1733052 h 2787466"/>
              <a:gd name="connsiteX5497" fmla="*/ 295109 w 3600000"/>
              <a:gd name="connsiteY5497" fmla="*/ 1733052 h 2787466"/>
              <a:gd name="connsiteX5498" fmla="*/ 304177 w 3600000"/>
              <a:gd name="connsiteY5498" fmla="*/ 1724091 h 2787466"/>
              <a:gd name="connsiteX5499" fmla="*/ 295109 w 3600000"/>
              <a:gd name="connsiteY5499" fmla="*/ 1723148 h 2787466"/>
              <a:gd name="connsiteX5500" fmla="*/ 292636 w 3600000"/>
              <a:gd name="connsiteY5500" fmla="*/ 1707268 h 2787466"/>
              <a:gd name="connsiteX5501" fmla="*/ 280321 w 3600000"/>
              <a:gd name="connsiteY5501" fmla="*/ 1706561 h 2787466"/>
              <a:gd name="connsiteX5502" fmla="*/ 279193 w 3600000"/>
              <a:gd name="connsiteY5502" fmla="*/ 1703780 h 2787466"/>
              <a:gd name="connsiteX5503" fmla="*/ 272494 w 3600000"/>
              <a:gd name="connsiteY5503" fmla="*/ 1704995 h 2787466"/>
              <a:gd name="connsiteX5504" fmla="*/ 271974 w 3600000"/>
              <a:gd name="connsiteY5504" fmla="*/ 1708762 h 2787466"/>
              <a:gd name="connsiteX5505" fmla="*/ 269140 w 3600000"/>
              <a:gd name="connsiteY5505" fmla="*/ 1719217 h 2787466"/>
              <a:gd name="connsiteX5506" fmla="*/ 262809 w 3600000"/>
              <a:gd name="connsiteY5506" fmla="*/ 1709010 h 2787466"/>
              <a:gd name="connsiteX5507" fmla="*/ 263122 w 3600000"/>
              <a:gd name="connsiteY5507" fmla="*/ 1706694 h 2787466"/>
              <a:gd name="connsiteX5508" fmla="*/ 253804 w 3600000"/>
              <a:gd name="connsiteY5508" fmla="*/ 1708384 h 2787466"/>
              <a:gd name="connsiteX5509" fmla="*/ 256483 w 3600000"/>
              <a:gd name="connsiteY5509" fmla="*/ 1713414 h 2787466"/>
              <a:gd name="connsiteX5510" fmla="*/ 214647 w 3600000"/>
              <a:gd name="connsiteY5510" fmla="*/ 1720331 h 2787466"/>
              <a:gd name="connsiteX5511" fmla="*/ 182086 w 3600000"/>
              <a:gd name="connsiteY5511" fmla="*/ 1744223 h 2787466"/>
              <a:gd name="connsiteX5512" fmla="*/ 204343 w 3600000"/>
              <a:gd name="connsiteY5512" fmla="*/ 1707441 h 2787466"/>
              <a:gd name="connsiteX5513" fmla="*/ 200428 w 3600000"/>
              <a:gd name="connsiteY5513" fmla="*/ 1702411 h 2787466"/>
              <a:gd name="connsiteX5514" fmla="*/ 188681 w 3600000"/>
              <a:gd name="connsiteY5514" fmla="*/ 1698481 h 2787466"/>
              <a:gd name="connsiteX5515" fmla="*/ 169103 w 3600000"/>
              <a:gd name="connsiteY5515" fmla="*/ 1701467 h 2787466"/>
              <a:gd name="connsiteX5516" fmla="*/ 161272 w 3600000"/>
              <a:gd name="connsiteY5516" fmla="*/ 1709485 h 2787466"/>
              <a:gd name="connsiteX5517" fmla="*/ 165186 w 3600000"/>
              <a:gd name="connsiteY5517" fmla="*/ 1720331 h 2787466"/>
              <a:gd name="connsiteX5518" fmla="*/ 156119 w 3600000"/>
              <a:gd name="connsiteY5518" fmla="*/ 1719387 h 2787466"/>
              <a:gd name="connsiteX5519" fmla="*/ 102743 w 3600000"/>
              <a:gd name="connsiteY5519" fmla="*/ 1745167 h 2787466"/>
              <a:gd name="connsiteX5520" fmla="*/ 98827 w 3600000"/>
              <a:gd name="connsiteY5520" fmla="*/ 1753183 h 2787466"/>
              <a:gd name="connsiteX5521" fmla="*/ 127473 w 3600000"/>
              <a:gd name="connsiteY5521" fmla="*/ 1718287 h 2787466"/>
              <a:gd name="connsiteX5522" fmla="*/ 110574 w 3600000"/>
              <a:gd name="connsiteY5522" fmla="*/ 1714357 h 2787466"/>
              <a:gd name="connsiteX5523" fmla="*/ 111811 w 3600000"/>
              <a:gd name="connsiteY5523" fmla="*/ 1707441 h 2787466"/>
              <a:gd name="connsiteX5524" fmla="*/ 122321 w 3600000"/>
              <a:gd name="connsiteY5524" fmla="*/ 1700525 h 2787466"/>
              <a:gd name="connsiteX5525" fmla="*/ 120878 w 3600000"/>
              <a:gd name="connsiteY5525" fmla="*/ 1706498 h 2787466"/>
              <a:gd name="connsiteX5526" fmla="*/ 129947 w 3600000"/>
              <a:gd name="connsiteY5526" fmla="*/ 1695494 h 2787466"/>
              <a:gd name="connsiteX5527" fmla="*/ 169103 w 3600000"/>
              <a:gd name="connsiteY5527" fmla="*/ 1690621 h 2787466"/>
              <a:gd name="connsiteX5528" fmla="*/ 176934 w 3600000"/>
              <a:gd name="connsiteY5528" fmla="*/ 1696595 h 2787466"/>
              <a:gd name="connsiteX5529" fmla="*/ 171782 w 3600000"/>
              <a:gd name="connsiteY5529" fmla="*/ 1683548 h 2787466"/>
              <a:gd name="connsiteX5530" fmla="*/ 195275 w 3600000"/>
              <a:gd name="connsiteY5530" fmla="*/ 1666729 h 2787466"/>
              <a:gd name="connsiteX5531" fmla="*/ 227631 w 3600000"/>
              <a:gd name="connsiteY5531" fmla="*/ 1673645 h 2787466"/>
              <a:gd name="connsiteX5532" fmla="*/ 244736 w 3600000"/>
              <a:gd name="connsiteY5532" fmla="*/ 1659812 h 2787466"/>
              <a:gd name="connsiteX5533" fmla="*/ 260370 w 3600000"/>
              <a:gd name="connsiteY5533" fmla="*/ 1655963 h 2787466"/>
              <a:gd name="connsiteX5534" fmla="*/ 268149 w 3600000"/>
              <a:gd name="connsiteY5534" fmla="*/ 1649247 h 2787466"/>
              <a:gd name="connsiteX5535" fmla="*/ 262287 w 3600000"/>
              <a:gd name="connsiteY5535" fmla="*/ 1635261 h 2787466"/>
              <a:gd name="connsiteX5536" fmla="*/ 279445 w 3600000"/>
              <a:gd name="connsiteY5536" fmla="*/ 1570172 h 2787466"/>
              <a:gd name="connsiteX5537" fmla="*/ 269140 w 3600000"/>
              <a:gd name="connsiteY5537" fmla="*/ 1575203 h 2787466"/>
              <a:gd name="connsiteX5538" fmla="*/ 273056 w 3600000"/>
              <a:gd name="connsiteY5538" fmla="*/ 1535426 h 2787466"/>
              <a:gd name="connsiteX5539" fmla="*/ 286040 w 3600000"/>
              <a:gd name="connsiteY5539" fmla="*/ 1539356 h 2787466"/>
              <a:gd name="connsiteX5540" fmla="*/ 287277 w 3600000"/>
              <a:gd name="connsiteY5540" fmla="*/ 1535426 h 2787466"/>
              <a:gd name="connsiteX5541" fmla="*/ 275529 w 3600000"/>
              <a:gd name="connsiteY5541" fmla="*/ 1533382 h 2787466"/>
              <a:gd name="connsiteX5542" fmla="*/ 293872 w 3600000"/>
              <a:gd name="connsiteY5542" fmla="*/ 1527408 h 2787466"/>
              <a:gd name="connsiteX5543" fmla="*/ 291280 w 3600000"/>
              <a:gd name="connsiteY5543" fmla="*/ 1523819 h 2787466"/>
              <a:gd name="connsiteX5544" fmla="*/ 288273 w 3600000"/>
              <a:gd name="connsiteY5544" fmla="*/ 1523286 h 2787466"/>
              <a:gd name="connsiteX5545" fmla="*/ 278534 w 3600000"/>
              <a:gd name="connsiteY5545" fmla="*/ 1527615 h 2787466"/>
              <a:gd name="connsiteX5546" fmla="*/ 145815 w 3600000"/>
              <a:gd name="connsiteY5546" fmla="*/ 1539561 h 2787466"/>
              <a:gd name="connsiteX5547" fmla="*/ 140457 w 3600000"/>
              <a:gd name="connsiteY5547" fmla="*/ 1544592 h 2787466"/>
              <a:gd name="connsiteX5548" fmla="*/ 128710 w 3600000"/>
              <a:gd name="connsiteY5548" fmla="*/ 1537518 h 2787466"/>
              <a:gd name="connsiteX5549" fmla="*/ 122321 w 3600000"/>
              <a:gd name="connsiteY5549" fmla="*/ 1541605 h 2787466"/>
              <a:gd name="connsiteX5550" fmla="*/ 81928 w 3600000"/>
              <a:gd name="connsiteY5550" fmla="*/ 1534531 h 2787466"/>
              <a:gd name="connsiteX5551" fmla="*/ 80485 w 3600000"/>
              <a:gd name="connsiteY5551" fmla="*/ 1528715 h 2787466"/>
              <a:gd name="connsiteX5552" fmla="*/ 33704 w 3600000"/>
              <a:gd name="connsiteY5552" fmla="*/ 1522742 h 2787466"/>
              <a:gd name="connsiteX5553" fmla="*/ 5059 w 3600000"/>
              <a:gd name="connsiteY5553" fmla="*/ 1442261 h 2787466"/>
              <a:gd name="connsiteX5554" fmla="*/ 28552 w 3600000"/>
              <a:gd name="connsiteY5554" fmla="*/ 1434243 h 2787466"/>
              <a:gd name="connsiteX5555" fmla="*/ 61113 w 3600000"/>
              <a:gd name="connsiteY5555" fmla="*/ 1487845 h 2787466"/>
              <a:gd name="connsiteX5556" fmla="*/ 74097 w 3600000"/>
              <a:gd name="connsiteY5556" fmla="*/ 1485016 h 2787466"/>
              <a:gd name="connsiteX5557" fmla="*/ 68945 w 3600000"/>
              <a:gd name="connsiteY5557" fmla="*/ 1479986 h 2787466"/>
              <a:gd name="connsiteX5558" fmla="*/ 83165 w 3600000"/>
              <a:gd name="connsiteY5558" fmla="*/ 1447134 h 2787466"/>
              <a:gd name="connsiteX5559" fmla="*/ 94911 w 3600000"/>
              <a:gd name="connsiteY5559" fmla="*/ 1441317 h 2787466"/>
              <a:gd name="connsiteX5560" fmla="*/ 100063 w 3600000"/>
              <a:gd name="connsiteY5560" fmla="*/ 1412394 h 2787466"/>
              <a:gd name="connsiteX5561" fmla="*/ 97591 w 3600000"/>
              <a:gd name="connsiteY5561" fmla="*/ 1386615 h 2787466"/>
              <a:gd name="connsiteX5562" fmla="*/ 110574 w 3600000"/>
              <a:gd name="connsiteY5562" fmla="*/ 1365708 h 2787466"/>
              <a:gd name="connsiteX5563" fmla="*/ 109338 w 3600000"/>
              <a:gd name="connsiteY5563" fmla="*/ 1417424 h 2787466"/>
              <a:gd name="connsiteX5564" fmla="*/ 113047 w 3600000"/>
              <a:gd name="connsiteY5564" fmla="*/ 1399505 h 2787466"/>
              <a:gd name="connsiteX5565" fmla="*/ 120878 w 3600000"/>
              <a:gd name="connsiteY5565" fmla="*/ 1409408 h 2787466"/>
              <a:gd name="connsiteX5566" fmla="*/ 120878 w 3600000"/>
              <a:gd name="connsiteY5566" fmla="*/ 1391645 h 2787466"/>
              <a:gd name="connsiteX5567" fmla="*/ 135305 w 3600000"/>
              <a:gd name="connsiteY5567" fmla="*/ 1359735 h 2787466"/>
              <a:gd name="connsiteX5568" fmla="*/ 122321 w 3600000"/>
              <a:gd name="connsiteY5568" fmla="*/ 1364765 h 2787466"/>
              <a:gd name="connsiteX5569" fmla="*/ 115726 w 3600000"/>
              <a:gd name="connsiteY5569" fmla="*/ 1356749 h 2787466"/>
              <a:gd name="connsiteX5570" fmla="*/ 105422 w 3600000"/>
              <a:gd name="connsiteY5570" fmla="*/ 1364765 h 2787466"/>
              <a:gd name="connsiteX5571" fmla="*/ 81928 w 3600000"/>
              <a:gd name="connsiteY5571" fmla="*/ 1372625 h 2787466"/>
              <a:gd name="connsiteX5572" fmla="*/ 92233 w 3600000"/>
              <a:gd name="connsiteY5572" fmla="*/ 1364765 h 2787466"/>
              <a:gd name="connsiteX5573" fmla="*/ 90996 w 3600000"/>
              <a:gd name="connsiteY5573" fmla="*/ 1361778 h 2787466"/>
              <a:gd name="connsiteX5574" fmla="*/ 92233 w 3600000"/>
              <a:gd name="connsiteY5574" fmla="*/ 1356749 h 2787466"/>
              <a:gd name="connsiteX5575" fmla="*/ 70182 w 3600000"/>
              <a:gd name="connsiteY5575" fmla="*/ 1351876 h 2787466"/>
              <a:gd name="connsiteX5576" fmla="*/ 61113 w 3600000"/>
              <a:gd name="connsiteY5576" fmla="*/ 1326254 h 2787466"/>
              <a:gd name="connsiteX5577" fmla="*/ 50603 w 3600000"/>
              <a:gd name="connsiteY5577" fmla="*/ 1326254 h 2787466"/>
              <a:gd name="connsiteX5578" fmla="*/ 55755 w 3600000"/>
              <a:gd name="connsiteY5578" fmla="*/ 1323267 h 2787466"/>
              <a:gd name="connsiteX5579" fmla="*/ 62350 w 3600000"/>
              <a:gd name="connsiteY5579" fmla="*/ 1296388 h 2787466"/>
              <a:gd name="connsiteX5580" fmla="*/ 55755 w 3600000"/>
              <a:gd name="connsiteY5580" fmla="*/ 1269508 h 2787466"/>
              <a:gd name="connsiteX5581" fmla="*/ 28552 w 3600000"/>
              <a:gd name="connsiteY5581" fmla="*/ 1266521 h 2787466"/>
              <a:gd name="connsiteX5582" fmla="*/ 52046 w 3600000"/>
              <a:gd name="connsiteY5582" fmla="*/ 1225809 h 2787466"/>
              <a:gd name="connsiteX5583" fmla="*/ 55755 w 3600000"/>
              <a:gd name="connsiteY5583" fmla="*/ 1187140 h 2787466"/>
              <a:gd name="connsiteX5584" fmla="*/ 75334 w 3600000"/>
              <a:gd name="connsiteY5584" fmla="*/ 1190126 h 2787466"/>
              <a:gd name="connsiteX5585" fmla="*/ 152203 w 3600000"/>
              <a:gd name="connsiteY5585" fmla="*/ 1097699 h 2787466"/>
              <a:gd name="connsiteX5586" fmla="*/ 133862 w 3600000"/>
              <a:gd name="connsiteY5586" fmla="*/ 1101629 h 2787466"/>
              <a:gd name="connsiteX5587" fmla="*/ 111811 w 3600000"/>
              <a:gd name="connsiteY5587" fmla="*/ 1094712 h 2787466"/>
              <a:gd name="connsiteX5588" fmla="*/ 129947 w 3600000"/>
              <a:gd name="connsiteY5588" fmla="*/ 1080880 h 2787466"/>
              <a:gd name="connsiteX5589" fmla="*/ 137983 w 3600000"/>
              <a:gd name="connsiteY5589" fmla="*/ 1080880 h 2787466"/>
              <a:gd name="connsiteX5590" fmla="*/ 139220 w 3600000"/>
              <a:gd name="connsiteY5590" fmla="*/ 1088739 h 2787466"/>
              <a:gd name="connsiteX5591" fmla="*/ 150967 w 3600000"/>
              <a:gd name="connsiteY5591" fmla="*/ 1077893 h 2787466"/>
              <a:gd name="connsiteX5592" fmla="*/ 145815 w 3600000"/>
              <a:gd name="connsiteY5592" fmla="*/ 1070819 h 2787466"/>
              <a:gd name="connsiteX5593" fmla="*/ 161272 w 3600000"/>
              <a:gd name="connsiteY5593" fmla="*/ 1068933 h 2787466"/>
              <a:gd name="connsiteX5594" fmla="*/ 171782 w 3600000"/>
              <a:gd name="connsiteY5594" fmla="*/ 1062016 h 2787466"/>
              <a:gd name="connsiteX5595" fmla="*/ 163950 w 3600000"/>
              <a:gd name="connsiteY5595" fmla="*/ 1059030 h 2787466"/>
              <a:gd name="connsiteX5596" fmla="*/ 179613 w 3600000"/>
              <a:gd name="connsiteY5596" fmla="*/ 1027120 h 2787466"/>
              <a:gd name="connsiteX5597" fmla="*/ 189917 w 3600000"/>
              <a:gd name="connsiteY5597" fmla="*/ 1026177 h 2787466"/>
              <a:gd name="connsiteX5598" fmla="*/ 247209 w 3600000"/>
              <a:gd name="connsiteY5598" fmla="*/ 973518 h 2787466"/>
              <a:gd name="connsiteX5599" fmla="*/ 243293 w 3600000"/>
              <a:gd name="connsiteY5599" fmla="*/ 968645 h 2787466"/>
              <a:gd name="connsiteX5600" fmla="*/ 282450 w 3600000"/>
              <a:gd name="connsiteY5600" fmla="*/ 952769 h 2787466"/>
              <a:gd name="connsiteX5601" fmla="*/ 303265 w 3600000"/>
              <a:gd name="connsiteY5601" fmla="*/ 925889 h 2787466"/>
              <a:gd name="connsiteX5602" fmla="*/ 295433 w 3600000"/>
              <a:gd name="connsiteY5602" fmla="*/ 927776 h 2787466"/>
              <a:gd name="connsiteX5603" fmla="*/ 311096 w 3600000"/>
              <a:gd name="connsiteY5603" fmla="*/ 921960 h 2787466"/>
              <a:gd name="connsiteX5604" fmla="*/ 339742 w 3600000"/>
              <a:gd name="connsiteY5604" fmla="*/ 885177 h 2787466"/>
              <a:gd name="connsiteX5605" fmla="*/ 355404 w 3600000"/>
              <a:gd name="connsiteY5605" fmla="*/ 886120 h 2787466"/>
              <a:gd name="connsiteX5606" fmla="*/ 356641 w 3600000"/>
              <a:gd name="connsiteY5606" fmla="*/ 878260 h 2787466"/>
              <a:gd name="connsiteX5607" fmla="*/ 348809 w 3600000"/>
              <a:gd name="connsiteY5607" fmla="*/ 884076 h 2787466"/>
              <a:gd name="connsiteX5608" fmla="*/ 387966 w 3600000"/>
              <a:gd name="connsiteY5608" fmla="*/ 831575 h 2787466"/>
              <a:gd name="connsiteX5609" fmla="*/ 397033 w 3600000"/>
              <a:gd name="connsiteY5609" fmla="*/ 834561 h 2787466"/>
              <a:gd name="connsiteX5610" fmla="*/ 411459 w 3600000"/>
              <a:gd name="connsiteY5610" fmla="*/ 811611 h 2787466"/>
              <a:gd name="connsiteX5611" fmla="*/ 407544 w 3600000"/>
              <a:gd name="connsiteY5611" fmla="*/ 829531 h 2787466"/>
              <a:gd name="connsiteX5612" fmla="*/ 432274 w 3600000"/>
              <a:gd name="connsiteY5612" fmla="*/ 816642 h 2787466"/>
              <a:gd name="connsiteX5613" fmla="*/ 434747 w 3600000"/>
              <a:gd name="connsiteY5613" fmla="*/ 809725 h 2787466"/>
              <a:gd name="connsiteX5614" fmla="*/ 420527 w 3600000"/>
              <a:gd name="connsiteY5614" fmla="*/ 805638 h 2787466"/>
              <a:gd name="connsiteX5615" fmla="*/ 437426 w 3600000"/>
              <a:gd name="connsiteY5615" fmla="*/ 807682 h 2787466"/>
              <a:gd name="connsiteX5616" fmla="*/ 446494 w 3600000"/>
              <a:gd name="connsiteY5616" fmla="*/ 804696 h 2787466"/>
              <a:gd name="connsiteX5617" fmla="*/ 455562 w 3600000"/>
              <a:gd name="connsiteY5617" fmla="*/ 787876 h 2787466"/>
              <a:gd name="connsiteX5618" fmla="*/ 445257 w 3600000"/>
              <a:gd name="connsiteY5618" fmla="*/ 795736 h 2787466"/>
              <a:gd name="connsiteX5619" fmla="*/ 463393 w 3600000"/>
              <a:gd name="connsiteY5619" fmla="*/ 768855 h 2787466"/>
              <a:gd name="connsiteX5620" fmla="*/ 457004 w 3600000"/>
              <a:gd name="connsiteY5620" fmla="*/ 785832 h 2787466"/>
              <a:gd name="connsiteX5621" fmla="*/ 472667 w 3600000"/>
              <a:gd name="connsiteY5621" fmla="*/ 775929 h 2787466"/>
              <a:gd name="connsiteX5622" fmla="*/ 475140 w 3600000"/>
              <a:gd name="connsiteY5622" fmla="*/ 780803 h 2787466"/>
              <a:gd name="connsiteX5623" fmla="*/ 502549 w 3600000"/>
              <a:gd name="connsiteY5623" fmla="*/ 754080 h 2787466"/>
              <a:gd name="connsiteX5624" fmla="*/ 512854 w 3600000"/>
              <a:gd name="connsiteY5624" fmla="*/ 752980 h 2787466"/>
              <a:gd name="connsiteX5625" fmla="*/ 526043 w 3600000"/>
              <a:gd name="connsiteY5625" fmla="*/ 744177 h 2787466"/>
              <a:gd name="connsiteX5626" fmla="*/ 527279 w 3600000"/>
              <a:gd name="connsiteY5626" fmla="*/ 738204 h 2787466"/>
              <a:gd name="connsiteX5627" fmla="*/ 512854 w 3600000"/>
              <a:gd name="connsiteY5627" fmla="*/ 744177 h 2787466"/>
              <a:gd name="connsiteX5628" fmla="*/ 529959 w 3600000"/>
              <a:gd name="connsiteY5628" fmla="*/ 734116 h 2787466"/>
              <a:gd name="connsiteX5629" fmla="*/ 540263 w 3600000"/>
              <a:gd name="connsiteY5629" fmla="*/ 717297 h 2787466"/>
              <a:gd name="connsiteX5630" fmla="*/ 540263 w 3600000"/>
              <a:gd name="connsiteY5630" fmla="*/ 720284 h 2787466"/>
              <a:gd name="connsiteX5631" fmla="*/ 583335 w 3600000"/>
              <a:gd name="connsiteY5631" fmla="*/ 685545 h 2787466"/>
              <a:gd name="connsiteX5632" fmla="*/ 632796 w 3600000"/>
              <a:gd name="connsiteY5632" fmla="*/ 654736 h 2787466"/>
              <a:gd name="connsiteX5633" fmla="*/ 645779 w 3600000"/>
              <a:gd name="connsiteY5633" fmla="*/ 642789 h 2787466"/>
              <a:gd name="connsiteX5634" fmla="*/ 653611 w 3600000"/>
              <a:gd name="connsiteY5634" fmla="*/ 646719 h 2787466"/>
              <a:gd name="connsiteX5635" fmla="*/ 663914 w 3600000"/>
              <a:gd name="connsiteY5635" fmla="*/ 642789 h 2787466"/>
              <a:gd name="connsiteX5636" fmla="*/ 663914 w 3600000"/>
              <a:gd name="connsiteY5636" fmla="*/ 634930 h 2787466"/>
              <a:gd name="connsiteX5637" fmla="*/ 673188 w 3600000"/>
              <a:gd name="connsiteY5637" fmla="*/ 635872 h 2787466"/>
              <a:gd name="connsiteX5638" fmla="*/ 694003 w 3600000"/>
              <a:gd name="connsiteY5638" fmla="*/ 628799 h 2787466"/>
              <a:gd name="connsiteX5639" fmla="*/ 681019 w 3600000"/>
              <a:gd name="connsiteY5639" fmla="*/ 629899 h 2787466"/>
              <a:gd name="connsiteX5640" fmla="*/ 718734 w 3600000"/>
              <a:gd name="connsiteY5640" fmla="*/ 604120 h 2787466"/>
              <a:gd name="connsiteX5641" fmla="*/ 710902 w 3600000"/>
              <a:gd name="connsiteY5641" fmla="*/ 611980 h 2787466"/>
              <a:gd name="connsiteX5642" fmla="*/ 750059 w 3600000"/>
              <a:gd name="connsiteY5642" fmla="*/ 608993 h 2787466"/>
              <a:gd name="connsiteX5643" fmla="*/ 713581 w 3600000"/>
              <a:gd name="connsiteY5643" fmla="*/ 617953 h 2787466"/>
              <a:gd name="connsiteX5644" fmla="*/ 671952 w 3600000"/>
              <a:gd name="connsiteY5644" fmla="*/ 642789 h 2787466"/>
              <a:gd name="connsiteX5645" fmla="*/ 668036 w 3600000"/>
              <a:gd name="connsiteY5645" fmla="*/ 646719 h 2787466"/>
              <a:gd name="connsiteX5646" fmla="*/ 675661 w 3600000"/>
              <a:gd name="connsiteY5646" fmla="*/ 646719 h 2787466"/>
              <a:gd name="connsiteX5647" fmla="*/ 643100 w 3600000"/>
              <a:gd name="connsiteY5647" fmla="*/ 669669 h 2787466"/>
              <a:gd name="connsiteX5648" fmla="*/ 661441 w 3600000"/>
              <a:gd name="connsiteY5648" fmla="*/ 664638 h 2787466"/>
              <a:gd name="connsiteX5649" fmla="*/ 673188 w 3600000"/>
              <a:gd name="connsiteY5649" fmla="*/ 655678 h 2787466"/>
              <a:gd name="connsiteX5650" fmla="*/ 587250 w 3600000"/>
              <a:gd name="connsiteY5650" fmla="*/ 717297 h 2787466"/>
              <a:gd name="connsiteX5651" fmla="*/ 624964 w 3600000"/>
              <a:gd name="connsiteY5651" fmla="*/ 704408 h 2787466"/>
              <a:gd name="connsiteX5652" fmla="*/ 622285 w 3600000"/>
              <a:gd name="connsiteY5652" fmla="*/ 712267 h 2787466"/>
              <a:gd name="connsiteX5653" fmla="*/ 645779 w 3600000"/>
              <a:gd name="connsiteY5653" fmla="*/ 703307 h 2787466"/>
              <a:gd name="connsiteX5654" fmla="*/ 637948 w 3600000"/>
              <a:gd name="connsiteY5654" fmla="*/ 699378 h 2787466"/>
              <a:gd name="connsiteX5655" fmla="*/ 645779 w 3600000"/>
              <a:gd name="connsiteY5655" fmla="*/ 693405 h 2787466"/>
              <a:gd name="connsiteX5656" fmla="*/ 714817 w 3600000"/>
              <a:gd name="connsiteY5656" fmla="*/ 658665 h 2787466"/>
              <a:gd name="connsiteX5657" fmla="*/ 716054 w 3600000"/>
              <a:gd name="connsiteY5657" fmla="*/ 668568 h 2787466"/>
              <a:gd name="connsiteX5658" fmla="*/ 746142 w 3600000"/>
              <a:gd name="connsiteY5658" fmla="*/ 644832 h 2787466"/>
              <a:gd name="connsiteX5659" fmla="*/ 752531 w 3600000"/>
              <a:gd name="connsiteY5659" fmla="*/ 647819 h 2787466"/>
              <a:gd name="connsiteX5660" fmla="*/ 755210 w 3600000"/>
              <a:gd name="connsiteY5660" fmla="*/ 639802 h 2787466"/>
              <a:gd name="connsiteX5661" fmla="*/ 772109 w 3600000"/>
              <a:gd name="connsiteY5661" fmla="*/ 642789 h 2787466"/>
              <a:gd name="connsiteX5662" fmla="*/ 792924 w 3600000"/>
              <a:gd name="connsiteY5662" fmla="*/ 624869 h 2787466"/>
              <a:gd name="connsiteX5663" fmla="*/ 791687 w 3600000"/>
              <a:gd name="connsiteY5663" fmla="*/ 631943 h 2787466"/>
              <a:gd name="connsiteX5664" fmla="*/ 838469 w 3600000"/>
              <a:gd name="connsiteY5664" fmla="*/ 604120 h 2787466"/>
              <a:gd name="connsiteX5665" fmla="*/ 838469 w 3600000"/>
              <a:gd name="connsiteY5665" fmla="*/ 608050 h 2787466"/>
              <a:gd name="connsiteX5666" fmla="*/ 898440 w 3600000"/>
              <a:gd name="connsiteY5666" fmla="*/ 585100 h 2787466"/>
              <a:gd name="connsiteX5667" fmla="*/ 953053 w 3600000"/>
              <a:gd name="connsiteY5667" fmla="*/ 563408 h 2787466"/>
              <a:gd name="connsiteX5668" fmla="*/ 940069 w 3600000"/>
              <a:gd name="connsiteY5668" fmla="*/ 573311 h 2787466"/>
              <a:gd name="connsiteX5669" fmla="*/ 992209 w 3600000"/>
              <a:gd name="connsiteY5669" fmla="*/ 559321 h 2787466"/>
              <a:gd name="connsiteX5670" fmla="*/ 1005192 w 3600000"/>
              <a:gd name="connsiteY5670" fmla="*/ 561364 h 2787466"/>
              <a:gd name="connsiteX5671" fmla="*/ 1007872 w 3600000"/>
              <a:gd name="connsiteY5671" fmla="*/ 554448 h 2787466"/>
              <a:gd name="connsiteX5672" fmla="*/ 1042907 w 3600000"/>
              <a:gd name="connsiteY5672" fmla="*/ 548475 h 2787466"/>
              <a:gd name="connsiteX5673" fmla="*/ 1016940 w 3600000"/>
              <a:gd name="connsiteY5673" fmla="*/ 559321 h 2787466"/>
              <a:gd name="connsiteX5674" fmla="*/ 1053417 w 3600000"/>
              <a:gd name="connsiteY5674" fmla="*/ 563408 h 2787466"/>
              <a:gd name="connsiteX5675" fmla="*/ 1022092 w 3600000"/>
              <a:gd name="connsiteY5675" fmla="*/ 570324 h 2787466"/>
              <a:gd name="connsiteX5676" fmla="*/ 1027450 w 3600000"/>
              <a:gd name="connsiteY5676" fmla="*/ 563408 h 2787466"/>
              <a:gd name="connsiteX5677" fmla="*/ 1020855 w 3600000"/>
              <a:gd name="connsiteY5677" fmla="*/ 561364 h 2787466"/>
              <a:gd name="connsiteX5678" fmla="*/ 967479 w 3600000"/>
              <a:gd name="connsiteY5678" fmla="*/ 580227 h 2787466"/>
              <a:gd name="connsiteX5679" fmla="*/ 915339 w 3600000"/>
              <a:gd name="connsiteY5679" fmla="*/ 607107 h 2787466"/>
              <a:gd name="connsiteX5680" fmla="*/ 848979 w 3600000"/>
              <a:gd name="connsiteY5680" fmla="*/ 630842 h 2787466"/>
              <a:gd name="connsiteX5681" fmla="*/ 851452 w 3600000"/>
              <a:gd name="connsiteY5681" fmla="*/ 621882 h 2787466"/>
              <a:gd name="connsiteX5682" fmla="*/ 843827 w 3600000"/>
              <a:gd name="connsiteY5682" fmla="*/ 632886 h 2787466"/>
              <a:gd name="connsiteX5683" fmla="*/ 824249 w 3600000"/>
              <a:gd name="connsiteY5683" fmla="*/ 639802 h 2787466"/>
              <a:gd name="connsiteX5684" fmla="*/ 792924 w 3600000"/>
              <a:gd name="connsiteY5684" fmla="*/ 644832 h 2787466"/>
              <a:gd name="connsiteX5685" fmla="*/ 789009 w 3600000"/>
              <a:gd name="connsiteY5685" fmla="*/ 648762 h 2787466"/>
              <a:gd name="connsiteX5686" fmla="*/ 803435 w 3600000"/>
              <a:gd name="connsiteY5686" fmla="*/ 649705 h 2787466"/>
              <a:gd name="connsiteX5687" fmla="*/ 723886 w 3600000"/>
              <a:gd name="connsiteY5687" fmla="*/ 676585 h 2787466"/>
              <a:gd name="connsiteX5688" fmla="*/ 719970 w 3600000"/>
              <a:gd name="connsiteY5688" fmla="*/ 686488 h 2787466"/>
              <a:gd name="connsiteX5689" fmla="*/ 701834 w 3600000"/>
              <a:gd name="connsiteY5689" fmla="*/ 689474 h 2787466"/>
              <a:gd name="connsiteX5690" fmla="*/ 688850 w 3600000"/>
              <a:gd name="connsiteY5690" fmla="*/ 711324 h 2787466"/>
              <a:gd name="connsiteX5691" fmla="*/ 679577 w 3600000"/>
              <a:gd name="connsiteY5691" fmla="*/ 709280 h 2787466"/>
              <a:gd name="connsiteX5692" fmla="*/ 690087 w 3600000"/>
              <a:gd name="connsiteY5692" fmla="*/ 701421 h 2787466"/>
              <a:gd name="connsiteX5693" fmla="*/ 650931 w 3600000"/>
              <a:gd name="connsiteY5693" fmla="*/ 721227 h 2787466"/>
              <a:gd name="connsiteX5694" fmla="*/ 673188 w 3600000"/>
              <a:gd name="connsiteY5694" fmla="*/ 716354 h 2787466"/>
              <a:gd name="connsiteX5695" fmla="*/ 674425 w 3600000"/>
              <a:gd name="connsiteY5695" fmla="*/ 728143 h 2787466"/>
              <a:gd name="connsiteX5696" fmla="*/ 657525 w 3600000"/>
              <a:gd name="connsiteY5696" fmla="*/ 742133 h 2787466"/>
              <a:gd name="connsiteX5697" fmla="*/ 669273 w 3600000"/>
              <a:gd name="connsiteY5697" fmla="*/ 739147 h 2787466"/>
              <a:gd name="connsiteX5698" fmla="*/ 644542 w 3600000"/>
              <a:gd name="connsiteY5698" fmla="*/ 758953 h 2787466"/>
              <a:gd name="connsiteX5699" fmla="*/ 665357 w 3600000"/>
              <a:gd name="connsiteY5699" fmla="*/ 748107 h 2787466"/>
              <a:gd name="connsiteX5700" fmla="*/ 665357 w 3600000"/>
              <a:gd name="connsiteY5700" fmla="*/ 755023 h 2787466"/>
              <a:gd name="connsiteX5701" fmla="*/ 734396 w 3600000"/>
              <a:gd name="connsiteY5701" fmla="*/ 733173 h 2787466"/>
              <a:gd name="connsiteX5702" fmla="*/ 766957 w 3600000"/>
              <a:gd name="connsiteY5702" fmla="*/ 723271 h 2787466"/>
              <a:gd name="connsiteX5703" fmla="*/ 754380 w 3600000"/>
              <a:gd name="connsiteY5703" fmla="*/ 734301 h 2787466"/>
              <a:gd name="connsiteX5704" fmla="*/ 757596 w 3600000"/>
              <a:gd name="connsiteY5704" fmla="*/ 738101 h 2787466"/>
              <a:gd name="connsiteX5705" fmla="*/ 757479 w 3600000"/>
              <a:gd name="connsiteY5705" fmla="*/ 738303 h 2787466"/>
              <a:gd name="connsiteX5706" fmla="*/ 753736 w 3600000"/>
              <a:gd name="connsiteY5706" fmla="*/ 740119 h 2787466"/>
              <a:gd name="connsiteX5707" fmla="*/ 746142 w 3600000"/>
              <a:gd name="connsiteY5707" fmla="*/ 739147 h 2787466"/>
              <a:gd name="connsiteX5708" fmla="*/ 756447 w 3600000"/>
              <a:gd name="connsiteY5708" fmla="*/ 740090 h 2787466"/>
              <a:gd name="connsiteX5709" fmla="*/ 757479 w 3600000"/>
              <a:gd name="connsiteY5709" fmla="*/ 738303 h 2787466"/>
              <a:gd name="connsiteX5710" fmla="*/ 757684 w 3600000"/>
              <a:gd name="connsiteY5710" fmla="*/ 738204 h 2787466"/>
              <a:gd name="connsiteX5711" fmla="*/ 757596 w 3600000"/>
              <a:gd name="connsiteY5711" fmla="*/ 738101 h 2787466"/>
              <a:gd name="connsiteX5712" fmla="*/ 760801 w 3600000"/>
              <a:gd name="connsiteY5712" fmla="*/ 732552 h 2787466"/>
              <a:gd name="connsiteX5713" fmla="*/ 768555 w 3600000"/>
              <a:gd name="connsiteY5713" fmla="*/ 728713 h 2787466"/>
              <a:gd name="connsiteX5714" fmla="*/ 776005 w 3600000"/>
              <a:gd name="connsiteY5714" fmla="*/ 726207 h 2787466"/>
              <a:gd name="connsiteX5715" fmla="*/ 776025 w 3600000"/>
              <a:gd name="connsiteY5715" fmla="*/ 726257 h 2787466"/>
              <a:gd name="connsiteX5716" fmla="*/ 776151 w 3600000"/>
              <a:gd name="connsiteY5716" fmla="*/ 726159 h 2787466"/>
              <a:gd name="connsiteX5717" fmla="*/ 777777 w 3600000"/>
              <a:gd name="connsiteY5717" fmla="*/ 725612 h 2787466"/>
              <a:gd name="connsiteX5718" fmla="*/ 786535 w 3600000"/>
              <a:gd name="connsiteY5718" fmla="*/ 720284 h 2787466"/>
              <a:gd name="connsiteX5719" fmla="*/ 781744 w 3600000"/>
              <a:gd name="connsiteY5719" fmla="*/ 721738 h 2787466"/>
              <a:gd name="connsiteX5720" fmla="*/ 776151 w 3600000"/>
              <a:gd name="connsiteY5720" fmla="*/ 726159 h 2787466"/>
              <a:gd name="connsiteX5721" fmla="*/ 776005 w 3600000"/>
              <a:gd name="connsiteY5721" fmla="*/ 726207 h 2787466"/>
              <a:gd name="connsiteX5722" fmla="*/ 773346 w 3600000"/>
              <a:gd name="connsiteY5722" fmla="*/ 719341 h 2787466"/>
              <a:gd name="connsiteX5723" fmla="*/ 792924 w 3600000"/>
              <a:gd name="connsiteY5723" fmla="*/ 721227 h 2787466"/>
              <a:gd name="connsiteX5724" fmla="*/ 830638 w 3600000"/>
              <a:gd name="connsiteY5724" fmla="*/ 699378 h 2787466"/>
              <a:gd name="connsiteX5725" fmla="*/ 826722 w 3600000"/>
              <a:gd name="connsiteY5725" fmla="*/ 694505 h 2787466"/>
              <a:gd name="connsiteX5726" fmla="*/ 845064 w 3600000"/>
              <a:gd name="connsiteY5726" fmla="*/ 695448 h 2787466"/>
              <a:gd name="connsiteX5727" fmla="*/ 856811 w 3600000"/>
              <a:gd name="connsiteY5727" fmla="*/ 687432 h 2787466"/>
              <a:gd name="connsiteX5728" fmla="*/ 847537 w 3600000"/>
              <a:gd name="connsiteY5728" fmla="*/ 686488 h 2787466"/>
              <a:gd name="connsiteX5729" fmla="*/ 878862 w 3600000"/>
              <a:gd name="connsiteY5729" fmla="*/ 671555 h 2787466"/>
              <a:gd name="connsiteX5730" fmla="*/ 941306 w 3600000"/>
              <a:gd name="connsiteY5730" fmla="*/ 647819 h 2787466"/>
              <a:gd name="connsiteX5731" fmla="*/ 946664 w 3600000"/>
              <a:gd name="connsiteY5731" fmla="*/ 655678 h 2787466"/>
              <a:gd name="connsiteX5732" fmla="*/ 981699 w 3600000"/>
              <a:gd name="connsiteY5732" fmla="*/ 647819 h 2787466"/>
              <a:gd name="connsiteX5733" fmla="*/ 1006635 w 3600000"/>
              <a:gd name="connsiteY5733" fmla="*/ 631943 h 2787466"/>
              <a:gd name="connsiteX5734" fmla="*/ 990973 w 3600000"/>
              <a:gd name="connsiteY5734" fmla="*/ 629899 h 2787466"/>
              <a:gd name="connsiteX5735" fmla="*/ 1010551 w 3600000"/>
              <a:gd name="connsiteY5735" fmla="*/ 623926 h 2787466"/>
              <a:gd name="connsiteX5736" fmla="*/ 1019619 w 3600000"/>
              <a:gd name="connsiteY5736" fmla="*/ 630842 h 2787466"/>
              <a:gd name="connsiteX5737" fmla="*/ 1041670 w 3600000"/>
              <a:gd name="connsiteY5737" fmla="*/ 620939 h 2787466"/>
              <a:gd name="connsiteX5738" fmla="*/ 1026007 w 3600000"/>
              <a:gd name="connsiteY5738" fmla="*/ 617010 h 2787466"/>
              <a:gd name="connsiteX5739" fmla="*/ 960884 w 3600000"/>
              <a:gd name="connsiteY5739" fmla="*/ 636816 h 2787466"/>
              <a:gd name="connsiteX5740" fmla="*/ 934917 w 3600000"/>
              <a:gd name="connsiteY5740" fmla="*/ 646719 h 2787466"/>
              <a:gd name="connsiteX5741" fmla="*/ 906272 w 3600000"/>
              <a:gd name="connsiteY5741" fmla="*/ 652692 h 2787466"/>
              <a:gd name="connsiteX5742" fmla="*/ 891845 w 3600000"/>
              <a:gd name="connsiteY5742" fmla="*/ 625812 h 2787466"/>
              <a:gd name="connsiteX5743" fmla="*/ 901119 w 3600000"/>
              <a:gd name="connsiteY5743" fmla="*/ 612922 h 2787466"/>
              <a:gd name="connsiteX5744" fmla="*/ 937597 w 3600000"/>
              <a:gd name="connsiteY5744" fmla="*/ 604120 h 2787466"/>
              <a:gd name="connsiteX5745" fmla="*/ 960884 w 3600000"/>
              <a:gd name="connsiteY5745" fmla="*/ 597047 h 2787466"/>
              <a:gd name="connsiteX5746" fmla="*/ 987057 w 3600000"/>
              <a:gd name="connsiteY5746" fmla="*/ 603020 h 2787466"/>
              <a:gd name="connsiteX5747" fmla="*/ 993446 w 3600000"/>
              <a:gd name="connsiteY5747" fmla="*/ 593117 h 2787466"/>
              <a:gd name="connsiteX5748" fmla="*/ 1020855 w 3600000"/>
              <a:gd name="connsiteY5748" fmla="*/ 590130 h 2787466"/>
              <a:gd name="connsiteX5749" fmla="*/ 1014261 w 3600000"/>
              <a:gd name="connsiteY5749" fmla="*/ 588087 h 2787466"/>
              <a:gd name="connsiteX5750" fmla="*/ 1078147 w 3600000"/>
              <a:gd name="connsiteY5750" fmla="*/ 573311 h 2787466"/>
              <a:gd name="connsiteX5751" fmla="*/ 1078147 w 3600000"/>
              <a:gd name="connsiteY5751" fmla="*/ 567337 h 2787466"/>
              <a:gd name="connsiteX5752" fmla="*/ 1170680 w 3600000"/>
              <a:gd name="connsiteY5752" fmla="*/ 554448 h 2787466"/>
              <a:gd name="connsiteX5753" fmla="*/ 1169236 w 3600000"/>
              <a:gd name="connsiteY5753" fmla="*/ 560421 h 2787466"/>
              <a:gd name="connsiteX5754" fmla="*/ 1200562 w 3600000"/>
              <a:gd name="connsiteY5754" fmla="*/ 557435 h 2787466"/>
              <a:gd name="connsiteX5755" fmla="*/ 1145949 w 3600000"/>
              <a:gd name="connsiteY5755" fmla="*/ 576297 h 2787466"/>
              <a:gd name="connsiteX5756" fmla="*/ 1186136 w 3600000"/>
              <a:gd name="connsiteY5756" fmla="*/ 577240 h 2787466"/>
              <a:gd name="connsiteX5757" fmla="*/ 1201798 w 3600000"/>
              <a:gd name="connsiteY5757" fmla="*/ 574254 h 2787466"/>
              <a:gd name="connsiteX5758" fmla="*/ 1230445 w 3600000"/>
              <a:gd name="connsiteY5758" fmla="*/ 563408 h 2787466"/>
              <a:gd name="connsiteX5759" fmla="*/ 1231887 w 3600000"/>
              <a:gd name="connsiteY5759" fmla="*/ 570324 h 2787466"/>
              <a:gd name="connsiteX5760" fmla="*/ 1192731 w 3600000"/>
              <a:gd name="connsiteY5760" fmla="*/ 586200 h 2787466"/>
              <a:gd name="connsiteX5761" fmla="*/ 1187579 w 3600000"/>
              <a:gd name="connsiteY5761" fmla="*/ 580227 h 2787466"/>
              <a:gd name="connsiteX5762" fmla="*/ 1178511 w 3600000"/>
              <a:gd name="connsiteY5762" fmla="*/ 593117 h 2787466"/>
              <a:gd name="connsiteX5763" fmla="*/ 1214988 w 3600000"/>
              <a:gd name="connsiteY5763" fmla="*/ 582114 h 2787466"/>
              <a:gd name="connsiteX5764" fmla="*/ 1300926 w 3600000"/>
              <a:gd name="connsiteY5764" fmla="*/ 565294 h 2787466"/>
              <a:gd name="connsiteX5765" fmla="*/ 1307315 w 3600000"/>
              <a:gd name="connsiteY5765" fmla="*/ 571267 h 2787466"/>
              <a:gd name="connsiteX5766" fmla="*/ 1366049 w 3600000"/>
              <a:gd name="connsiteY5766" fmla="*/ 551461 h 2787466"/>
              <a:gd name="connsiteX5767" fmla="*/ 1369964 w 3600000"/>
              <a:gd name="connsiteY5767" fmla="*/ 559321 h 2787466"/>
              <a:gd name="connsiteX5768" fmla="*/ 1297010 w 3600000"/>
              <a:gd name="connsiteY5768" fmla="*/ 579284 h 2787466"/>
              <a:gd name="connsiteX5769" fmla="*/ 1308757 w 3600000"/>
              <a:gd name="connsiteY5769" fmla="*/ 584157 h 2787466"/>
              <a:gd name="connsiteX5770" fmla="*/ 1414067 w 3600000"/>
              <a:gd name="connsiteY5770" fmla="*/ 568281 h 2787466"/>
              <a:gd name="connsiteX5771" fmla="*/ 1404999 w 3600000"/>
              <a:gd name="connsiteY5771" fmla="*/ 574254 h 2787466"/>
              <a:gd name="connsiteX5772" fmla="*/ 1509278 w 3600000"/>
              <a:gd name="connsiteY5772" fmla="*/ 558378 h 2787466"/>
              <a:gd name="connsiteX5773" fmla="*/ 1501447 w 3600000"/>
              <a:gd name="connsiteY5773" fmla="*/ 566237 h 2787466"/>
              <a:gd name="connsiteX5774" fmla="*/ 1550908 w 3600000"/>
              <a:gd name="connsiteY5774" fmla="*/ 565294 h 2787466"/>
              <a:gd name="connsiteX5775" fmla="*/ 1558739 w 3600000"/>
              <a:gd name="connsiteY5775" fmla="*/ 572210 h 2787466"/>
              <a:gd name="connsiteX5776" fmla="*/ 1590064 w 3600000"/>
              <a:gd name="connsiteY5776" fmla="*/ 568281 h 2787466"/>
              <a:gd name="connsiteX5777" fmla="*/ 1583469 w 3600000"/>
              <a:gd name="connsiteY5777" fmla="*/ 570324 h 2787466"/>
              <a:gd name="connsiteX5778" fmla="*/ 1587385 w 3600000"/>
              <a:gd name="connsiteY5778" fmla="*/ 571267 h 2787466"/>
              <a:gd name="connsiteX5779" fmla="*/ 1617267 w 3600000"/>
              <a:gd name="connsiteY5779" fmla="*/ 579284 h 2787466"/>
              <a:gd name="connsiteX5780" fmla="*/ 1626335 w 3600000"/>
              <a:gd name="connsiteY5780" fmla="*/ 577240 h 2787466"/>
              <a:gd name="connsiteX5781" fmla="*/ 1632930 w 3600000"/>
              <a:gd name="connsiteY5781" fmla="*/ 576297 h 2787466"/>
              <a:gd name="connsiteX5782" fmla="*/ 1647356 w 3600000"/>
              <a:gd name="connsiteY5782" fmla="*/ 574254 h 2787466"/>
              <a:gd name="connsiteX5783" fmla="*/ 1666728 w 3600000"/>
              <a:gd name="connsiteY5783" fmla="*/ 571267 h 2787466"/>
              <a:gd name="connsiteX5784" fmla="*/ 1665491 w 3600000"/>
              <a:gd name="connsiteY5784" fmla="*/ 574254 h 2787466"/>
              <a:gd name="connsiteX5785" fmla="*/ 1711036 w 3600000"/>
              <a:gd name="connsiteY5785" fmla="*/ 574254 h 2787466"/>
              <a:gd name="connsiteX5786" fmla="*/ 1734530 w 3600000"/>
              <a:gd name="connsiteY5786" fmla="*/ 574254 h 2787466"/>
              <a:gd name="connsiteX5787" fmla="*/ 1756581 w 3600000"/>
              <a:gd name="connsiteY5787" fmla="*/ 576297 h 2787466"/>
              <a:gd name="connsiteX5788" fmla="*/ 1755345 w 3600000"/>
              <a:gd name="connsiteY5788" fmla="*/ 573311 h 2787466"/>
              <a:gd name="connsiteX5789" fmla="*/ 1794295 w 3600000"/>
              <a:gd name="connsiteY5789" fmla="*/ 576297 h 2787466"/>
              <a:gd name="connsiteX5790" fmla="*/ 1788937 w 3600000"/>
              <a:gd name="connsiteY5790" fmla="*/ 581170 h 2787466"/>
              <a:gd name="connsiteX5791" fmla="*/ 1804599 w 3600000"/>
              <a:gd name="connsiteY5791" fmla="*/ 573311 h 2787466"/>
              <a:gd name="connsiteX5792" fmla="*/ 1800684 w 3600000"/>
              <a:gd name="connsiteY5792" fmla="*/ 580227 h 2787466"/>
              <a:gd name="connsiteX5793" fmla="*/ 1833245 w 3600000"/>
              <a:gd name="connsiteY5793" fmla="*/ 583214 h 2787466"/>
              <a:gd name="connsiteX5794" fmla="*/ 1843755 w 3600000"/>
              <a:gd name="connsiteY5794" fmla="*/ 581170 h 2787466"/>
              <a:gd name="connsiteX5795" fmla="*/ 1841077 w 3600000"/>
              <a:gd name="connsiteY5795" fmla="*/ 572210 h 2787466"/>
              <a:gd name="connsiteX5796" fmla="*/ 1844992 w 3600000"/>
              <a:gd name="connsiteY5796" fmla="*/ 574254 h 2787466"/>
              <a:gd name="connsiteX5797" fmla="*/ 1848908 w 3600000"/>
              <a:gd name="connsiteY5797" fmla="*/ 574254 h 2787466"/>
              <a:gd name="connsiteX5798" fmla="*/ 1844992 w 3600000"/>
              <a:gd name="connsiteY5798" fmla="*/ 579284 h 2787466"/>
              <a:gd name="connsiteX5799" fmla="*/ 1847671 w 3600000"/>
              <a:gd name="connsiteY5799" fmla="*/ 582114 h 2787466"/>
              <a:gd name="connsiteX5800" fmla="*/ 1855502 w 3600000"/>
              <a:gd name="connsiteY5800" fmla="*/ 576297 h 2787466"/>
              <a:gd name="connsiteX5801" fmla="*/ 1855502 w 3600000"/>
              <a:gd name="connsiteY5801" fmla="*/ 583214 h 2787466"/>
              <a:gd name="connsiteX5802" fmla="*/ 1895895 w 3600000"/>
              <a:gd name="connsiteY5802" fmla="*/ 579284 h 2787466"/>
              <a:gd name="connsiteX5803" fmla="*/ 1899057 w 3600000"/>
              <a:gd name="connsiteY5803" fmla="*/ 582902 h 2787466"/>
              <a:gd name="connsiteX5804" fmla="*/ 1899069 w 3600000"/>
              <a:gd name="connsiteY5804" fmla="*/ 583170 h 2787466"/>
              <a:gd name="connsiteX5805" fmla="*/ 1900426 w 3600000"/>
              <a:gd name="connsiteY5805" fmla="*/ 584467 h 2787466"/>
              <a:gd name="connsiteX5806" fmla="*/ 1904448 w 3600000"/>
              <a:gd name="connsiteY5806" fmla="*/ 589069 h 2787466"/>
              <a:gd name="connsiteX5807" fmla="*/ 1917947 w 3600000"/>
              <a:gd name="connsiteY5807" fmla="*/ 589187 h 2787466"/>
              <a:gd name="connsiteX5808" fmla="*/ 1925778 w 3600000"/>
              <a:gd name="connsiteY5808" fmla="*/ 597047 h 2787466"/>
              <a:gd name="connsiteX5809" fmla="*/ 1928457 w 3600000"/>
              <a:gd name="connsiteY5809" fmla="*/ 595160 h 2787466"/>
              <a:gd name="connsiteX5810" fmla="*/ 1927014 w 3600000"/>
              <a:gd name="connsiteY5810" fmla="*/ 587143 h 2787466"/>
              <a:gd name="connsiteX5811" fmla="*/ 1933291 w 3600000"/>
              <a:gd name="connsiteY5811" fmla="*/ 596718 h 2787466"/>
              <a:gd name="connsiteX5812" fmla="*/ 1932012 w 3600000"/>
              <a:gd name="connsiteY5812" fmla="*/ 597204 h 2787466"/>
              <a:gd name="connsiteX5813" fmla="*/ 1927014 w 3600000"/>
              <a:gd name="connsiteY5813" fmla="*/ 599090 h 2787466"/>
              <a:gd name="connsiteX5814" fmla="*/ 1938761 w 3600000"/>
              <a:gd name="connsiteY5814" fmla="*/ 599090 h 2787466"/>
              <a:gd name="connsiteX5815" fmla="*/ 1934845 w 3600000"/>
              <a:gd name="connsiteY5815" fmla="*/ 594060 h 2787466"/>
              <a:gd name="connsiteX5816" fmla="*/ 1961019 w 3600000"/>
              <a:gd name="connsiteY5816" fmla="*/ 599090 h 2787466"/>
              <a:gd name="connsiteX5817" fmla="*/ 1964934 w 3600000"/>
              <a:gd name="connsiteY5817" fmla="*/ 587143 h 2787466"/>
              <a:gd name="connsiteX5818" fmla="*/ 1941440 w 3600000"/>
              <a:gd name="connsiteY5818" fmla="*/ 580227 h 2787466"/>
              <a:gd name="connsiteX5819" fmla="*/ 1950508 w 3600000"/>
              <a:gd name="connsiteY5819" fmla="*/ 573311 h 2787466"/>
              <a:gd name="connsiteX5820" fmla="*/ 1963491 w 3600000"/>
              <a:gd name="connsiteY5820" fmla="*/ 577240 h 2787466"/>
              <a:gd name="connsiteX5821" fmla="*/ 1971323 w 3600000"/>
              <a:gd name="connsiteY5821" fmla="*/ 572210 h 2787466"/>
              <a:gd name="connsiteX5822" fmla="*/ 2001205 w 3600000"/>
              <a:gd name="connsiteY5822" fmla="*/ 577240 h 2787466"/>
              <a:gd name="connsiteX5823" fmla="*/ 1996053 w 3600000"/>
              <a:gd name="connsiteY5823" fmla="*/ 576297 h 2787466"/>
              <a:gd name="connsiteX5824" fmla="*/ 2003884 w 3600000"/>
              <a:gd name="connsiteY5824" fmla="*/ 577240 h 2787466"/>
              <a:gd name="connsiteX5825" fmla="*/ 2003884 w 3600000"/>
              <a:gd name="connsiteY5825" fmla="*/ 574254 h 2787466"/>
              <a:gd name="connsiteX5826" fmla="*/ 2031294 w 3600000"/>
              <a:gd name="connsiteY5826" fmla="*/ 573311 h 2787466"/>
              <a:gd name="connsiteX5827" fmla="*/ 2053345 w 3600000"/>
              <a:gd name="connsiteY5827" fmla="*/ 564351 h 2787466"/>
              <a:gd name="connsiteX5828" fmla="*/ 2059940 w 3600000"/>
              <a:gd name="connsiteY5828" fmla="*/ 574254 h 2787466"/>
              <a:gd name="connsiteX5829" fmla="*/ 2063855 w 3600000"/>
              <a:gd name="connsiteY5829" fmla="*/ 574254 h 2787466"/>
              <a:gd name="connsiteX5830" fmla="*/ 2084670 w 3600000"/>
              <a:gd name="connsiteY5830" fmla="*/ 569224 h 2787466"/>
              <a:gd name="connsiteX5831" fmla="*/ 2100332 w 3600000"/>
              <a:gd name="connsiteY5831" fmla="*/ 559321 h 2787466"/>
              <a:gd name="connsiteX5832" fmla="*/ 2102805 w 3600000"/>
              <a:gd name="connsiteY5832" fmla="*/ 564351 h 2787466"/>
              <a:gd name="connsiteX5833" fmla="*/ 2101569 w 3600000"/>
              <a:gd name="connsiteY5833" fmla="*/ 557435 h 2787466"/>
              <a:gd name="connsiteX5834" fmla="*/ 2106721 w 3600000"/>
              <a:gd name="connsiteY5834" fmla="*/ 562307 h 2787466"/>
              <a:gd name="connsiteX5835" fmla="*/ 2108164 w 3600000"/>
              <a:gd name="connsiteY5835" fmla="*/ 568281 h 2787466"/>
              <a:gd name="connsiteX5836" fmla="*/ 2101569 w 3600000"/>
              <a:gd name="connsiteY5836" fmla="*/ 566237 h 2787466"/>
              <a:gd name="connsiteX5837" fmla="*/ 2105484 w 3600000"/>
              <a:gd name="connsiteY5837" fmla="*/ 569224 h 2787466"/>
              <a:gd name="connsiteX5838" fmla="*/ 2101569 w 3600000"/>
              <a:gd name="connsiteY5838" fmla="*/ 569224 h 2787466"/>
              <a:gd name="connsiteX5839" fmla="*/ 2110636 w 3600000"/>
              <a:gd name="connsiteY5839" fmla="*/ 575197 h 2787466"/>
              <a:gd name="connsiteX5840" fmla="*/ 2087143 w 3600000"/>
              <a:gd name="connsiteY5840" fmla="*/ 575197 h 2787466"/>
              <a:gd name="connsiteX5841" fmla="*/ 2075602 w 3600000"/>
              <a:gd name="connsiteY5841" fmla="*/ 576297 h 2787466"/>
              <a:gd name="connsiteX5842" fmla="*/ 2058703 w 3600000"/>
              <a:gd name="connsiteY5842" fmla="*/ 583214 h 2787466"/>
              <a:gd name="connsiteX5843" fmla="*/ 2052109 w 3600000"/>
              <a:gd name="connsiteY5843" fmla="*/ 576297 h 2787466"/>
              <a:gd name="connsiteX5844" fmla="*/ 2048193 w 3600000"/>
              <a:gd name="connsiteY5844" fmla="*/ 582114 h 2787466"/>
              <a:gd name="connsiteX5845" fmla="*/ 2041598 w 3600000"/>
              <a:gd name="connsiteY5845" fmla="*/ 577240 h 2787466"/>
              <a:gd name="connsiteX5846" fmla="*/ 2033766 w 3600000"/>
              <a:gd name="connsiteY5846" fmla="*/ 588087 h 2787466"/>
              <a:gd name="connsiteX5847" fmla="*/ 2029851 w 3600000"/>
              <a:gd name="connsiteY5847" fmla="*/ 583214 h 2787466"/>
              <a:gd name="connsiteX5848" fmla="*/ 2009037 w 3600000"/>
              <a:gd name="connsiteY5848" fmla="*/ 591074 h 2787466"/>
              <a:gd name="connsiteX5849" fmla="*/ 1990901 w 3600000"/>
              <a:gd name="connsiteY5849" fmla="*/ 591074 h 2787466"/>
              <a:gd name="connsiteX5850" fmla="*/ 2007800 w 3600000"/>
              <a:gd name="connsiteY5850" fmla="*/ 594060 h 2787466"/>
              <a:gd name="connsiteX5851" fmla="*/ 2027378 w 3600000"/>
              <a:gd name="connsiteY5851" fmla="*/ 599090 h 2787466"/>
              <a:gd name="connsiteX5852" fmla="*/ 2024699 w 3600000"/>
              <a:gd name="connsiteY5852" fmla="*/ 606006 h 2787466"/>
              <a:gd name="connsiteX5853" fmla="*/ 2024699 w 3600000"/>
              <a:gd name="connsiteY5853" fmla="*/ 611036 h 2787466"/>
              <a:gd name="connsiteX5854" fmla="*/ 2037682 w 3600000"/>
              <a:gd name="connsiteY5854" fmla="*/ 605063 h 2787466"/>
              <a:gd name="connsiteX5855" fmla="*/ 2066328 w 3600000"/>
              <a:gd name="connsiteY5855" fmla="*/ 614966 h 2787466"/>
              <a:gd name="connsiteX5856" fmla="*/ 2075602 w 3600000"/>
              <a:gd name="connsiteY5856" fmla="*/ 609936 h 2787466"/>
              <a:gd name="connsiteX5857" fmla="*/ 2071686 w 3600000"/>
              <a:gd name="connsiteY5857" fmla="*/ 612922 h 2787466"/>
              <a:gd name="connsiteX5858" fmla="*/ 2084670 w 3600000"/>
              <a:gd name="connsiteY5858" fmla="*/ 614023 h 2787466"/>
              <a:gd name="connsiteX5859" fmla="*/ 2079518 w 3600000"/>
              <a:gd name="connsiteY5859" fmla="*/ 612922 h 2787466"/>
              <a:gd name="connsiteX5860" fmla="*/ 2089822 w 3600000"/>
              <a:gd name="connsiteY5860" fmla="*/ 608050 h 2787466"/>
              <a:gd name="connsiteX5861" fmla="*/ 2087143 w 3600000"/>
              <a:gd name="connsiteY5861" fmla="*/ 611980 h 2787466"/>
              <a:gd name="connsiteX5862" fmla="*/ 2102805 w 3600000"/>
              <a:gd name="connsiteY5862" fmla="*/ 614966 h 2787466"/>
              <a:gd name="connsiteX5863" fmla="*/ 2100332 w 3600000"/>
              <a:gd name="connsiteY5863" fmla="*/ 608993 h 2787466"/>
              <a:gd name="connsiteX5864" fmla="*/ 2104248 w 3600000"/>
              <a:gd name="connsiteY5864" fmla="*/ 608050 h 2787466"/>
              <a:gd name="connsiteX5865" fmla="*/ 2113316 w 3600000"/>
              <a:gd name="connsiteY5865" fmla="*/ 607107 h 2787466"/>
              <a:gd name="connsiteX5866" fmla="*/ 2119910 w 3600000"/>
              <a:gd name="connsiteY5866" fmla="*/ 609936 h 2787466"/>
              <a:gd name="connsiteX5867" fmla="*/ 2105484 w 3600000"/>
              <a:gd name="connsiteY5867" fmla="*/ 617010 h 2787466"/>
              <a:gd name="connsiteX5868" fmla="*/ 2115995 w 3600000"/>
              <a:gd name="connsiteY5868" fmla="*/ 618896 h 2787466"/>
              <a:gd name="connsiteX5869" fmla="*/ 2132894 w 3600000"/>
              <a:gd name="connsiteY5869" fmla="*/ 627856 h 2787466"/>
              <a:gd name="connsiteX5870" fmla="*/ 2158861 w 3600000"/>
              <a:gd name="connsiteY5870" fmla="*/ 624869 h 2787466"/>
              <a:gd name="connsiteX5871" fmla="*/ 2169371 w 3600000"/>
              <a:gd name="connsiteY5871" fmla="*/ 626913 h 2787466"/>
              <a:gd name="connsiteX5872" fmla="*/ 2164013 w 3600000"/>
              <a:gd name="connsiteY5872" fmla="*/ 620939 h 2787466"/>
              <a:gd name="connsiteX5873" fmla="*/ 2161540 w 3600000"/>
              <a:gd name="connsiteY5873" fmla="*/ 625812 h 2787466"/>
              <a:gd name="connsiteX5874" fmla="*/ 2170608 w 3600000"/>
              <a:gd name="connsiteY5874" fmla="*/ 623926 h 2787466"/>
              <a:gd name="connsiteX5875" fmla="*/ 2200490 w 3600000"/>
              <a:gd name="connsiteY5875" fmla="*/ 625812 h 2787466"/>
              <a:gd name="connsiteX5876" fmla="*/ 2195338 w 3600000"/>
              <a:gd name="connsiteY5876" fmla="*/ 621882 h 2787466"/>
              <a:gd name="connsiteX5877" fmla="*/ 2222747 w 3600000"/>
              <a:gd name="connsiteY5877" fmla="*/ 615909 h 2787466"/>
              <a:gd name="connsiteX5878" fmla="*/ 2246034 w 3600000"/>
              <a:gd name="connsiteY5878" fmla="*/ 611036 h 2787466"/>
              <a:gd name="connsiteX5879" fmla="*/ 2243562 w 3600000"/>
              <a:gd name="connsiteY5879" fmla="*/ 609936 h 2787466"/>
              <a:gd name="connsiteX5880" fmla="*/ 2298175 w 3600000"/>
              <a:gd name="connsiteY5880" fmla="*/ 585100 h 2787466"/>
              <a:gd name="connsiteX5881" fmla="*/ 2302090 w 3600000"/>
              <a:gd name="connsiteY5881" fmla="*/ 591074 h 2787466"/>
              <a:gd name="connsiteX5882" fmla="*/ 2303533 w 3600000"/>
              <a:gd name="connsiteY5882" fmla="*/ 584157 h 2787466"/>
              <a:gd name="connsiteX5883" fmla="*/ 2320432 w 3600000"/>
              <a:gd name="connsiteY5883" fmla="*/ 576297 h 2787466"/>
              <a:gd name="connsiteX5884" fmla="*/ 2338568 w 3600000"/>
              <a:gd name="connsiteY5884" fmla="*/ 565294 h 2787466"/>
              <a:gd name="connsiteX5885" fmla="*/ 2341246 w 3600000"/>
              <a:gd name="connsiteY5885" fmla="*/ 567337 h 2787466"/>
              <a:gd name="connsiteX5886" fmla="*/ 2345162 w 3600000"/>
              <a:gd name="connsiteY5886" fmla="*/ 567337 h 2787466"/>
              <a:gd name="connsiteX5887" fmla="*/ 2355466 w 3600000"/>
              <a:gd name="connsiteY5887" fmla="*/ 551461 h 2787466"/>
              <a:gd name="connsiteX5888" fmla="*/ 2363298 w 3600000"/>
              <a:gd name="connsiteY5888" fmla="*/ 556334 h 2787466"/>
              <a:gd name="connsiteX5889" fmla="*/ 2365977 w 3600000"/>
              <a:gd name="connsiteY5889" fmla="*/ 553347 h 2787466"/>
              <a:gd name="connsiteX5890" fmla="*/ 2359382 w 3600000"/>
              <a:gd name="connsiteY5890" fmla="*/ 548475 h 2787466"/>
              <a:gd name="connsiteX5891" fmla="*/ 2377724 w 3600000"/>
              <a:gd name="connsiteY5891" fmla="*/ 542501 h 2787466"/>
              <a:gd name="connsiteX5892" fmla="*/ 2385555 w 3600000"/>
              <a:gd name="connsiteY5892" fmla="*/ 546431 h 2787466"/>
              <a:gd name="connsiteX5893" fmla="*/ 2393386 w 3600000"/>
              <a:gd name="connsiteY5893" fmla="*/ 539515 h 2787466"/>
              <a:gd name="connsiteX5894" fmla="*/ 2397302 w 3600000"/>
              <a:gd name="connsiteY5894" fmla="*/ 546431 h 2787466"/>
              <a:gd name="connsiteX5895" fmla="*/ 2423269 w 3600000"/>
              <a:gd name="connsiteY5895" fmla="*/ 530555 h 2787466"/>
              <a:gd name="connsiteX5896" fmla="*/ 2427185 w 3600000"/>
              <a:gd name="connsiteY5896" fmla="*/ 538414 h 2787466"/>
              <a:gd name="connsiteX5897" fmla="*/ 2441404 w 3600000"/>
              <a:gd name="connsiteY5897" fmla="*/ 521595 h 2787466"/>
              <a:gd name="connsiteX5898" fmla="*/ 2437489 w 3600000"/>
              <a:gd name="connsiteY5898" fmla="*/ 517665 h 2787466"/>
              <a:gd name="connsiteX5899" fmla="*/ 2451914 w 3600000"/>
              <a:gd name="connsiteY5899" fmla="*/ 504776 h 2787466"/>
              <a:gd name="connsiteX5900" fmla="*/ 2485712 w 3600000"/>
              <a:gd name="connsiteY5900" fmla="*/ 495816 h 2787466"/>
              <a:gd name="connsiteX5901" fmla="*/ 2488023 w 3600000"/>
              <a:gd name="connsiteY5901" fmla="*/ 488804 h 2787466"/>
              <a:gd name="connsiteX5902" fmla="*/ 2485535 w 3600000"/>
              <a:gd name="connsiteY5902" fmla="*/ 487979 h 2787466"/>
              <a:gd name="connsiteX5903" fmla="*/ 2479975 w 3600000"/>
              <a:gd name="connsiteY5903" fmla="*/ 485523 h 2787466"/>
              <a:gd name="connsiteX5904" fmla="*/ 2469474 w 3600000"/>
              <a:gd name="connsiteY5904" fmla="*/ 493446 h 2787466"/>
              <a:gd name="connsiteX5905" fmla="*/ 2478740 w 3600000"/>
              <a:gd name="connsiteY5905" fmla="*/ 471420 h 2787466"/>
              <a:gd name="connsiteX5906" fmla="*/ 2487800 w 3600000"/>
              <a:gd name="connsiteY5906" fmla="*/ 472371 h 2787466"/>
              <a:gd name="connsiteX5907" fmla="*/ 2489036 w 3600000"/>
              <a:gd name="connsiteY5907" fmla="*/ 480453 h 2787466"/>
              <a:gd name="connsiteX5908" fmla="*/ 2485123 w 3600000"/>
              <a:gd name="connsiteY5908" fmla="*/ 476491 h 2787466"/>
              <a:gd name="connsiteX5909" fmla="*/ 2476063 w 3600000"/>
              <a:gd name="connsiteY5909" fmla="*/ 475381 h 2787466"/>
              <a:gd name="connsiteX5910" fmla="*/ 2478740 w 3600000"/>
              <a:gd name="connsiteY5910" fmla="*/ 482512 h 2787466"/>
              <a:gd name="connsiteX5911" fmla="*/ 2488237 w 3600000"/>
              <a:gd name="connsiteY5911" fmla="*/ 483859 h 2787466"/>
              <a:gd name="connsiteX5912" fmla="*/ 2490390 w 3600000"/>
              <a:gd name="connsiteY5912" fmla="*/ 486866 h 2787466"/>
              <a:gd name="connsiteX5913" fmla="*/ 2498696 w 3600000"/>
              <a:gd name="connsiteY5913" fmla="*/ 482926 h 2787466"/>
              <a:gd name="connsiteX5914" fmla="*/ 2494986 w 3600000"/>
              <a:gd name="connsiteY5914" fmla="*/ 477896 h 2787466"/>
              <a:gd name="connsiteX5915" fmla="*/ 2501375 w 3600000"/>
              <a:gd name="connsiteY5915" fmla="*/ 478839 h 2787466"/>
              <a:gd name="connsiteX5916" fmla="*/ 2498696 w 3600000"/>
              <a:gd name="connsiteY5916" fmla="*/ 473966 h 2787466"/>
              <a:gd name="connsiteX5917" fmla="*/ 2496223 w 3600000"/>
              <a:gd name="connsiteY5917" fmla="*/ 474909 h 2787466"/>
              <a:gd name="connsiteX5918" fmla="*/ 2498129 w 3600000"/>
              <a:gd name="connsiteY5918" fmla="*/ 467089 h 2787466"/>
              <a:gd name="connsiteX5919" fmla="*/ 2500934 w 3600000"/>
              <a:gd name="connsiteY5919" fmla="*/ 463722 h 2787466"/>
              <a:gd name="connsiteX5920" fmla="*/ 2491987 w 3600000"/>
              <a:gd name="connsiteY5920" fmla="*/ 463088 h 2787466"/>
              <a:gd name="connsiteX5921" fmla="*/ 2485636 w 3600000"/>
              <a:gd name="connsiteY5921" fmla="*/ 459901 h 2787466"/>
              <a:gd name="connsiteX5922" fmla="*/ 2480514 w 3600000"/>
              <a:gd name="connsiteY5922" fmla="*/ 469875 h 2787466"/>
              <a:gd name="connsiteX5923" fmla="*/ 2482972 w 3600000"/>
              <a:gd name="connsiteY5923" fmla="*/ 456894 h 2787466"/>
              <a:gd name="connsiteX5924" fmla="*/ 2488300 w 3600000"/>
              <a:gd name="connsiteY5924" fmla="*/ 459901 h 2787466"/>
              <a:gd name="connsiteX5925" fmla="*/ 2497315 w 3600000"/>
              <a:gd name="connsiteY5925" fmla="*/ 455944 h 2787466"/>
              <a:gd name="connsiteX5926" fmla="*/ 2484406 w 3600000"/>
              <a:gd name="connsiteY5926" fmla="*/ 455944 h 2787466"/>
              <a:gd name="connsiteX5927" fmla="*/ 2502438 w 3600000"/>
              <a:gd name="connsiteY5927" fmla="*/ 451986 h 2787466"/>
              <a:gd name="connsiteX5928" fmla="*/ 2499470 w 3600000"/>
              <a:gd name="connsiteY5928" fmla="*/ 460557 h 2787466"/>
              <a:gd name="connsiteX5929" fmla="*/ 2502182 w 3600000"/>
              <a:gd name="connsiteY5929" fmla="*/ 462224 h 2787466"/>
              <a:gd name="connsiteX5930" fmla="*/ 2504054 w 3600000"/>
              <a:gd name="connsiteY5930" fmla="*/ 459976 h 2787466"/>
              <a:gd name="connsiteX5931" fmla="*/ 2504606 w 3600000"/>
              <a:gd name="connsiteY5931" fmla="*/ 463713 h 2787466"/>
              <a:gd name="connsiteX5932" fmla="*/ 2505101 w 3600000"/>
              <a:gd name="connsiteY5932" fmla="*/ 464018 h 2787466"/>
              <a:gd name="connsiteX5933" fmla="*/ 2504646 w 3600000"/>
              <a:gd name="connsiteY5933" fmla="*/ 463985 h 2787466"/>
              <a:gd name="connsiteX5934" fmla="*/ 2505162 w 3600000"/>
              <a:gd name="connsiteY5934" fmla="*/ 467482 h 2787466"/>
              <a:gd name="connsiteX5935" fmla="*/ 2497460 w 3600000"/>
              <a:gd name="connsiteY5935" fmla="*/ 471923 h 2787466"/>
              <a:gd name="connsiteX5936" fmla="*/ 2501375 w 3600000"/>
              <a:gd name="connsiteY5936" fmla="*/ 474909 h 2787466"/>
              <a:gd name="connsiteX5937" fmla="*/ 2507970 w 3600000"/>
              <a:gd name="connsiteY5937" fmla="*/ 469879 h 2787466"/>
              <a:gd name="connsiteX5938" fmla="*/ 2522190 w 3600000"/>
              <a:gd name="connsiteY5938" fmla="*/ 466892 h 2787466"/>
              <a:gd name="connsiteX5939" fmla="*/ 2513122 w 3600000"/>
              <a:gd name="connsiteY5939" fmla="*/ 459976 h 2787466"/>
              <a:gd name="connsiteX5940" fmla="*/ 2539088 w 3600000"/>
              <a:gd name="connsiteY5940" fmla="*/ 450073 h 2787466"/>
              <a:gd name="connsiteX5941" fmla="*/ 2550835 w 3600000"/>
              <a:gd name="connsiteY5941" fmla="*/ 431210 h 2787466"/>
              <a:gd name="connsiteX5942" fmla="*/ 2562582 w 3600000"/>
              <a:gd name="connsiteY5942" fmla="*/ 432154 h 2787466"/>
              <a:gd name="connsiteX5943" fmla="*/ 2558667 w 3600000"/>
              <a:gd name="connsiteY5943" fmla="*/ 441114 h 2787466"/>
              <a:gd name="connsiteX5944" fmla="*/ 2569177 w 3600000"/>
              <a:gd name="connsiteY5944" fmla="*/ 439227 h 2787466"/>
              <a:gd name="connsiteX5945" fmla="*/ 2566498 w 3600000"/>
              <a:gd name="connsiteY5945" fmla="*/ 435140 h 2787466"/>
              <a:gd name="connsiteX5946" fmla="*/ 2575566 w 3600000"/>
              <a:gd name="connsiteY5946" fmla="*/ 439227 h 2787466"/>
              <a:gd name="connsiteX5947" fmla="*/ 2575566 w 3600000"/>
              <a:gd name="connsiteY5947" fmla="*/ 465950 h 2787466"/>
              <a:gd name="connsiteX5948" fmla="*/ 2582160 w 3600000"/>
              <a:gd name="connsiteY5948" fmla="*/ 456990 h 2787466"/>
              <a:gd name="connsiteX5949" fmla="*/ 2574329 w 3600000"/>
              <a:gd name="connsiteY5949" fmla="*/ 458090 h 2787466"/>
              <a:gd name="connsiteX5950" fmla="*/ 2574329 w 3600000"/>
              <a:gd name="connsiteY5950" fmla="*/ 454003 h 2787466"/>
              <a:gd name="connsiteX5951" fmla="*/ 2587313 w 3600000"/>
              <a:gd name="connsiteY5951" fmla="*/ 455104 h 2787466"/>
              <a:gd name="connsiteX5952" fmla="*/ 2586076 w 3600000"/>
              <a:gd name="connsiteY5952" fmla="*/ 459976 h 2787466"/>
              <a:gd name="connsiteX5953" fmla="*/ 2590682 w 3600000"/>
              <a:gd name="connsiteY5953" fmla="*/ 460121 h 2787466"/>
              <a:gd name="connsiteX5954" fmla="*/ 2594671 w 3600000"/>
              <a:gd name="connsiteY5954" fmla="*/ 452793 h 2787466"/>
              <a:gd name="connsiteX5955" fmla="*/ 2594313 w 3600000"/>
              <a:gd name="connsiteY5955" fmla="*/ 445012 h 2787466"/>
              <a:gd name="connsiteX5956" fmla="*/ 2608593 w 3600000"/>
              <a:gd name="connsiteY5956" fmla="*/ 440916 h 2787466"/>
              <a:gd name="connsiteX5957" fmla="*/ 2598189 w 3600000"/>
              <a:gd name="connsiteY5957" fmla="*/ 450843 h 2787466"/>
              <a:gd name="connsiteX5958" fmla="*/ 2598129 w 3600000"/>
              <a:gd name="connsiteY5958" fmla="*/ 452245 h 2787466"/>
              <a:gd name="connsiteX5959" fmla="*/ 2600577 w 3600000"/>
              <a:gd name="connsiteY5959" fmla="*/ 453271 h 2787466"/>
              <a:gd name="connsiteX5960" fmla="*/ 2599292 w 3600000"/>
              <a:gd name="connsiteY5960" fmla="*/ 454278 h 2787466"/>
              <a:gd name="connsiteX5961" fmla="*/ 2597886 w 3600000"/>
              <a:gd name="connsiteY5961" fmla="*/ 457928 h 2787466"/>
              <a:gd name="connsiteX5962" fmla="*/ 2597879 w 3600000"/>
              <a:gd name="connsiteY5962" fmla="*/ 458091 h 2787466"/>
              <a:gd name="connsiteX5963" fmla="*/ 2604383 w 3600000"/>
              <a:gd name="connsiteY5963" fmla="*/ 458217 h 2787466"/>
              <a:gd name="connsiteX5964" fmla="*/ 2609570 w 3600000"/>
              <a:gd name="connsiteY5964" fmla="*/ 452117 h 2787466"/>
              <a:gd name="connsiteX5965" fmla="*/ 2610807 w 3600000"/>
              <a:gd name="connsiteY5965" fmla="*/ 465950 h 2787466"/>
              <a:gd name="connsiteX5966" fmla="*/ 2609570 w 3600000"/>
              <a:gd name="connsiteY5966" fmla="*/ 471923 h 2787466"/>
              <a:gd name="connsiteX5967" fmla="*/ 2615959 w 3600000"/>
              <a:gd name="connsiteY5967" fmla="*/ 484812 h 2787466"/>
              <a:gd name="connsiteX5968" fmla="*/ 2610807 w 3600000"/>
              <a:gd name="connsiteY5968" fmla="*/ 481826 h 2787466"/>
              <a:gd name="connsiteX5969" fmla="*/ 2613047 w 3600000"/>
              <a:gd name="connsiteY5969" fmla="*/ 489234 h 2787466"/>
              <a:gd name="connsiteX5970" fmla="*/ 2618163 w 3600000"/>
              <a:gd name="connsiteY5970" fmla="*/ 492044 h 2787466"/>
              <a:gd name="connsiteX5971" fmla="*/ 2619634 w 3600000"/>
              <a:gd name="connsiteY5971" fmla="*/ 489484 h 2787466"/>
              <a:gd name="connsiteX5972" fmla="*/ 2627683 w 3600000"/>
              <a:gd name="connsiteY5972" fmla="*/ 483899 h 2787466"/>
              <a:gd name="connsiteX5973" fmla="*/ 2622490 w 3600000"/>
              <a:gd name="connsiteY5973" fmla="*/ 492931 h 2787466"/>
              <a:gd name="connsiteX5974" fmla="*/ 2619142 w 3600000"/>
              <a:gd name="connsiteY5974" fmla="*/ 492582 h 2787466"/>
              <a:gd name="connsiteX5975" fmla="*/ 2625027 w 3600000"/>
              <a:gd name="connsiteY5975" fmla="*/ 495816 h 2787466"/>
              <a:gd name="connsiteX5976" fmla="*/ 2628942 w 3600000"/>
              <a:gd name="connsiteY5976" fmla="*/ 491886 h 2787466"/>
              <a:gd name="connsiteX5977" fmla="*/ 2642132 w 3600000"/>
              <a:gd name="connsiteY5977" fmla="*/ 502732 h 2787466"/>
              <a:gd name="connsiteX5978" fmla="*/ 2643368 w 3600000"/>
              <a:gd name="connsiteY5978" fmla="*/ 517665 h 2787466"/>
              <a:gd name="connsiteX5979" fmla="*/ 2642132 w 3600000"/>
              <a:gd name="connsiteY5979" fmla="*/ 537471 h 2787466"/>
              <a:gd name="connsiteX5980" fmla="*/ 2635537 w 3600000"/>
              <a:gd name="connsiteY5980" fmla="*/ 557435 h 2787466"/>
              <a:gd name="connsiteX5981" fmla="*/ 2638314 w 3600000"/>
              <a:gd name="connsiteY5981" fmla="*/ 556133 h 2787466"/>
              <a:gd name="connsiteX5982" fmla="*/ 2637923 w 3600000"/>
              <a:gd name="connsiteY5982" fmla="*/ 555443 h 2787466"/>
              <a:gd name="connsiteX5983" fmla="*/ 2642097 w 3600000"/>
              <a:gd name="connsiteY5983" fmla="*/ 552005 h 2787466"/>
              <a:gd name="connsiteX5984" fmla="*/ 2644524 w 3600000"/>
              <a:gd name="connsiteY5984" fmla="*/ 552365 h 2787466"/>
              <a:gd name="connsiteX5985" fmla="*/ 2647283 w 3600000"/>
              <a:gd name="connsiteY5985" fmla="*/ 547374 h 2787466"/>
              <a:gd name="connsiteX5986" fmla="*/ 2649757 w 3600000"/>
              <a:gd name="connsiteY5986" fmla="*/ 555391 h 2787466"/>
              <a:gd name="connsiteX5987" fmla="*/ 2657588 w 3600000"/>
              <a:gd name="connsiteY5987" fmla="*/ 561364 h 2787466"/>
              <a:gd name="connsiteX5988" fmla="*/ 2669334 w 3600000"/>
              <a:gd name="connsiteY5988" fmla="*/ 548475 h 2787466"/>
              <a:gd name="connsiteX5989" fmla="*/ 2664183 w 3600000"/>
              <a:gd name="connsiteY5989" fmla="*/ 573311 h 2787466"/>
              <a:gd name="connsiteX5990" fmla="*/ 2659030 w 3600000"/>
              <a:gd name="connsiteY5990" fmla="*/ 585100 h 2787466"/>
              <a:gd name="connsiteX5991" fmla="*/ 2657588 w 3600000"/>
              <a:gd name="connsiteY5991" fmla="*/ 601134 h 2787466"/>
              <a:gd name="connsiteX5992" fmla="*/ 2623790 w 3600000"/>
              <a:gd name="connsiteY5992" fmla="*/ 655678 h 2787466"/>
              <a:gd name="connsiteX5993" fmla="*/ 2630385 w 3600000"/>
              <a:gd name="connsiteY5993" fmla="*/ 651749 h 2787466"/>
              <a:gd name="connsiteX5994" fmla="*/ 2638216 w 3600000"/>
              <a:gd name="connsiteY5994" fmla="*/ 654736 h 2787466"/>
              <a:gd name="connsiteX5995" fmla="*/ 2622554 w 3600000"/>
              <a:gd name="connsiteY5995" fmla="*/ 657722 h 2787466"/>
              <a:gd name="connsiteX5996" fmla="*/ 2606891 w 3600000"/>
              <a:gd name="connsiteY5996" fmla="*/ 686488 h 2787466"/>
              <a:gd name="connsiteX5997" fmla="*/ 2604212 w 3600000"/>
              <a:gd name="connsiteY5997" fmla="*/ 693405 h 2787466"/>
              <a:gd name="connsiteX5998" fmla="*/ 2588756 w 3600000"/>
              <a:gd name="connsiteY5998" fmla="*/ 709280 h 2787466"/>
              <a:gd name="connsiteX5999" fmla="*/ 2617196 w 3600000"/>
              <a:gd name="connsiteY5999" fmla="*/ 699378 h 2787466"/>
              <a:gd name="connsiteX6000" fmla="*/ 2597112 w 3600000"/>
              <a:gd name="connsiteY6000" fmla="*/ 722278 h 2787466"/>
              <a:gd name="connsiteX6001" fmla="*/ 2594343 w 3600000"/>
              <a:gd name="connsiteY6001" fmla="*/ 727552 h 2787466"/>
              <a:gd name="connsiteX6002" fmla="*/ 2596943 w 3600000"/>
              <a:gd name="connsiteY6002" fmla="*/ 729629 h 2787466"/>
              <a:gd name="connsiteX6003" fmla="*/ 2585757 w 3600000"/>
              <a:gd name="connsiteY6003" fmla="*/ 736783 h 2787466"/>
              <a:gd name="connsiteX6004" fmla="*/ 2586974 w 3600000"/>
              <a:gd name="connsiteY6004" fmla="*/ 733777 h 2787466"/>
              <a:gd name="connsiteX6005" fmla="*/ 2574329 w 3600000"/>
              <a:gd name="connsiteY6005" fmla="*/ 739874 h 2787466"/>
              <a:gd name="connsiteX6006" fmla="*/ 2559903 w 3600000"/>
              <a:gd name="connsiteY6006" fmla="*/ 750150 h 2787466"/>
              <a:gd name="connsiteX6007" fmla="*/ 2575566 w 3600000"/>
              <a:gd name="connsiteY6007" fmla="*/ 750150 h 2787466"/>
              <a:gd name="connsiteX6008" fmla="*/ 2570413 w 3600000"/>
              <a:gd name="connsiteY6008" fmla="*/ 755966 h 2787466"/>
              <a:gd name="connsiteX6009" fmla="*/ 2566783 w 3600000"/>
              <a:gd name="connsiteY6009" fmla="*/ 755046 h 2787466"/>
              <a:gd name="connsiteX6010" fmla="*/ 2560221 w 3600000"/>
              <a:gd name="connsiteY6010" fmla="*/ 761846 h 2787466"/>
              <a:gd name="connsiteX6011" fmla="*/ 2552692 w 3600000"/>
              <a:gd name="connsiteY6011" fmla="*/ 767980 h 2787466"/>
              <a:gd name="connsiteX6012" fmla="*/ 2549861 w 3600000"/>
              <a:gd name="connsiteY6012" fmla="*/ 763301 h 2787466"/>
              <a:gd name="connsiteX6013" fmla="*/ 2545632 w 3600000"/>
              <a:gd name="connsiteY6013" fmla="*/ 765594 h 2787466"/>
              <a:gd name="connsiteX6014" fmla="*/ 2531257 w 3600000"/>
              <a:gd name="connsiteY6014" fmla="*/ 776872 h 2787466"/>
              <a:gd name="connsiteX6015" fmla="*/ 2528784 w 3600000"/>
              <a:gd name="connsiteY6015" fmla="*/ 773886 h 2787466"/>
              <a:gd name="connsiteX6016" fmla="*/ 2481797 w 3600000"/>
              <a:gd name="connsiteY6016" fmla="*/ 794792 h 2787466"/>
              <a:gd name="connsiteX6017" fmla="*/ 2436252 w 3600000"/>
              <a:gd name="connsiteY6017" fmla="*/ 812555 h 2787466"/>
              <a:gd name="connsiteX6018" fmla="*/ 2363298 w 3600000"/>
              <a:gd name="connsiteY6018" fmla="*/ 838491 h 2787466"/>
              <a:gd name="connsiteX6019" fmla="*/ 2372366 w 3600000"/>
              <a:gd name="connsiteY6019" fmla="*/ 844464 h 2787466"/>
              <a:gd name="connsiteX6020" fmla="*/ 2350315 w 3600000"/>
              <a:gd name="connsiteY6020" fmla="*/ 853424 h 2787466"/>
              <a:gd name="connsiteX6021" fmla="*/ 2352993 w 3600000"/>
              <a:gd name="connsiteY6021" fmla="*/ 849338 h 2787466"/>
              <a:gd name="connsiteX6022" fmla="*/ 2345162 w 3600000"/>
              <a:gd name="connsiteY6022" fmla="*/ 850438 h 2787466"/>
              <a:gd name="connsiteX6023" fmla="*/ 2346399 w 3600000"/>
              <a:gd name="connsiteY6023" fmla="*/ 854367 h 2787466"/>
              <a:gd name="connsiteX6024" fmla="*/ 2260461 w 3600000"/>
              <a:gd name="connsiteY6024" fmla="*/ 877160 h 2787466"/>
              <a:gd name="connsiteX6025" fmla="*/ 2296938 w 3600000"/>
              <a:gd name="connsiteY6025" fmla="*/ 878260 h 2787466"/>
              <a:gd name="connsiteX6026" fmla="*/ 2276123 w 3600000"/>
              <a:gd name="connsiteY6026" fmla="*/ 883133 h 2787466"/>
              <a:gd name="connsiteX6027" fmla="*/ 2291786 w 3600000"/>
              <a:gd name="connsiteY6027" fmla="*/ 879204 h 2787466"/>
              <a:gd name="connsiteX6028" fmla="*/ 2294259 w 3600000"/>
              <a:gd name="connsiteY6028" fmla="*/ 884076 h 2787466"/>
              <a:gd name="connsiteX6029" fmla="*/ 2302090 w 3600000"/>
              <a:gd name="connsiteY6029" fmla="*/ 880146 h 2787466"/>
              <a:gd name="connsiteX6030" fmla="*/ 2300854 w 3600000"/>
              <a:gd name="connsiteY6030" fmla="*/ 870244 h 2787466"/>
              <a:gd name="connsiteX6031" fmla="*/ 2315074 w 3600000"/>
              <a:gd name="connsiteY6031" fmla="*/ 873230 h 2787466"/>
              <a:gd name="connsiteX6032" fmla="*/ 2324348 w 3600000"/>
              <a:gd name="connsiteY6032" fmla="*/ 867257 h 2787466"/>
              <a:gd name="connsiteX6033" fmla="*/ 2324348 w 3600000"/>
              <a:gd name="connsiteY6033" fmla="*/ 874173 h 2787466"/>
              <a:gd name="connsiteX6034" fmla="*/ 2330736 w 3600000"/>
              <a:gd name="connsiteY6034" fmla="*/ 870244 h 2787466"/>
              <a:gd name="connsiteX6035" fmla="*/ 2325584 w 3600000"/>
              <a:gd name="connsiteY6035" fmla="*/ 865371 h 2787466"/>
              <a:gd name="connsiteX6036" fmla="*/ 2347635 w 3600000"/>
              <a:gd name="connsiteY6036" fmla="*/ 859398 h 2787466"/>
              <a:gd name="connsiteX6037" fmla="*/ 2351551 w 3600000"/>
              <a:gd name="connsiteY6037" fmla="*/ 866314 h 2787466"/>
              <a:gd name="connsiteX6038" fmla="*/ 2354230 w 3600000"/>
              <a:gd name="connsiteY6038" fmla="*/ 863681 h 2787466"/>
              <a:gd name="connsiteX6039" fmla="*/ 2354577 w 3600000"/>
              <a:gd name="connsiteY6039" fmla="*/ 863249 h 2787466"/>
              <a:gd name="connsiteX6040" fmla="*/ 2384344 w 3600000"/>
              <a:gd name="connsiteY6040" fmla="*/ 856509 h 2787466"/>
              <a:gd name="connsiteX6041" fmla="*/ 2411522 w 3600000"/>
              <a:gd name="connsiteY6041" fmla="*/ 847451 h 2787466"/>
              <a:gd name="connsiteX6042" fmla="*/ 2463661 w 3600000"/>
              <a:gd name="connsiteY6042" fmla="*/ 827488 h 2787466"/>
              <a:gd name="connsiteX6043" fmla="*/ 2462218 w 3600000"/>
              <a:gd name="connsiteY6043" fmla="*/ 822615 h 2787466"/>
              <a:gd name="connsiteX6044" fmla="*/ 2480561 w 3600000"/>
              <a:gd name="connsiteY6044" fmla="*/ 819629 h 2787466"/>
              <a:gd name="connsiteX6045" fmla="*/ 2493544 w 3600000"/>
              <a:gd name="connsiteY6045" fmla="*/ 806739 h 2787466"/>
              <a:gd name="connsiteX6046" fmla="*/ 2505291 w 3600000"/>
              <a:gd name="connsiteY6046" fmla="*/ 806739 h 2787466"/>
              <a:gd name="connsiteX6047" fmla="*/ 2504054 w 3600000"/>
              <a:gd name="connsiteY6047" fmla="*/ 798722 h 2787466"/>
              <a:gd name="connsiteX6048" fmla="*/ 2524869 w 3600000"/>
              <a:gd name="connsiteY6048" fmla="*/ 789763 h 2787466"/>
              <a:gd name="connsiteX6049" fmla="*/ 2548362 w 3600000"/>
              <a:gd name="connsiteY6049" fmla="*/ 785832 h 2787466"/>
              <a:gd name="connsiteX6050" fmla="*/ 2546920 w 3600000"/>
              <a:gd name="connsiteY6050" fmla="*/ 775929 h 2787466"/>
              <a:gd name="connsiteX6051" fmla="*/ 2552278 w 3600000"/>
              <a:gd name="connsiteY6051" fmla="*/ 779859 h 2787466"/>
              <a:gd name="connsiteX6052" fmla="*/ 2586076 w 3600000"/>
              <a:gd name="connsiteY6052" fmla="*/ 755023 h 2787466"/>
              <a:gd name="connsiteX6053" fmla="*/ 2606891 w 3600000"/>
              <a:gd name="connsiteY6053" fmla="*/ 743076 h 2787466"/>
              <a:gd name="connsiteX6054" fmla="*/ 2607985 w 3600000"/>
              <a:gd name="connsiteY6054" fmla="*/ 741927 h 2787466"/>
              <a:gd name="connsiteX6055" fmla="*/ 2607006 w 3600000"/>
              <a:gd name="connsiteY6055" fmla="*/ 741022 h 2787466"/>
              <a:gd name="connsiteX6056" fmla="*/ 2607823 w 3600000"/>
              <a:gd name="connsiteY6056" fmla="*/ 734862 h 2787466"/>
              <a:gd name="connsiteX6057" fmla="*/ 2611759 w 3600000"/>
              <a:gd name="connsiteY6057" fmla="*/ 737965 h 2787466"/>
              <a:gd name="connsiteX6058" fmla="*/ 2621111 w 3600000"/>
              <a:gd name="connsiteY6058" fmla="*/ 728143 h 2787466"/>
              <a:gd name="connsiteX6059" fmla="*/ 2631621 w 3600000"/>
              <a:gd name="connsiteY6059" fmla="*/ 728143 h 2787466"/>
              <a:gd name="connsiteX6060" fmla="*/ 2724154 w 3600000"/>
              <a:gd name="connsiteY6060" fmla="*/ 628799 h 2787466"/>
              <a:gd name="connsiteX6061" fmla="*/ 2670572 w 3600000"/>
              <a:gd name="connsiteY6061" fmla="*/ 697334 h 2787466"/>
              <a:gd name="connsiteX6062" fmla="*/ 2636439 w 3600000"/>
              <a:gd name="connsiteY6062" fmla="*/ 726689 h 2787466"/>
              <a:gd name="connsiteX6063" fmla="*/ 2613505 w 3600000"/>
              <a:gd name="connsiteY6063" fmla="*/ 741576 h 2787466"/>
              <a:gd name="connsiteX6064" fmla="*/ 2612929 w 3600000"/>
              <a:gd name="connsiteY6064" fmla="*/ 746494 h 2787466"/>
              <a:gd name="connsiteX6065" fmla="*/ 2610040 w 3600000"/>
              <a:gd name="connsiteY6065" fmla="*/ 743826 h 2787466"/>
              <a:gd name="connsiteX6066" fmla="*/ 2604698 w 3600000"/>
              <a:gd name="connsiteY6066" fmla="*/ 747293 h 2787466"/>
              <a:gd name="connsiteX6067" fmla="*/ 2605189 w 3600000"/>
              <a:gd name="connsiteY6067" fmla="*/ 751339 h 2787466"/>
              <a:gd name="connsiteX6068" fmla="*/ 2606734 w 3600000"/>
              <a:gd name="connsiteY6068" fmla="*/ 755715 h 2787466"/>
              <a:gd name="connsiteX6069" fmla="*/ 2605025 w 3600000"/>
              <a:gd name="connsiteY6069" fmla="*/ 755974 h 2787466"/>
              <a:gd name="connsiteX6070" fmla="*/ 2606891 w 3600000"/>
              <a:gd name="connsiteY6070" fmla="*/ 758953 h 2787466"/>
              <a:gd name="connsiteX6071" fmla="*/ 2593907 w 3600000"/>
              <a:gd name="connsiteY6071" fmla="*/ 761940 h 2787466"/>
              <a:gd name="connsiteX6072" fmla="*/ 2579482 w 3600000"/>
              <a:gd name="connsiteY6072" fmla="*/ 767913 h 2787466"/>
              <a:gd name="connsiteX6073" fmla="*/ 2584634 w 3600000"/>
              <a:gd name="connsiteY6073" fmla="*/ 770899 h 2787466"/>
              <a:gd name="connsiteX6074" fmla="*/ 2571650 w 3600000"/>
              <a:gd name="connsiteY6074" fmla="*/ 776872 h 2787466"/>
              <a:gd name="connsiteX6075" fmla="*/ 2563819 w 3600000"/>
              <a:gd name="connsiteY6075" fmla="*/ 788819 h 2787466"/>
              <a:gd name="connsiteX6076" fmla="*/ 2559903 w 3600000"/>
              <a:gd name="connsiteY6076" fmla="*/ 784889 h 2787466"/>
              <a:gd name="connsiteX6077" fmla="*/ 2524869 w 3600000"/>
              <a:gd name="connsiteY6077" fmla="*/ 802651 h 2787466"/>
              <a:gd name="connsiteX6078" fmla="*/ 2536616 w 3600000"/>
              <a:gd name="connsiteY6078" fmla="*/ 810669 h 2787466"/>
              <a:gd name="connsiteX6079" fmla="*/ 2522190 w 3600000"/>
              <a:gd name="connsiteY6079" fmla="*/ 805638 h 2787466"/>
              <a:gd name="connsiteX6080" fmla="*/ 2491071 w 3600000"/>
              <a:gd name="connsiteY6080" fmla="*/ 824501 h 2787466"/>
              <a:gd name="connsiteX6081" fmla="*/ 2451914 w 3600000"/>
              <a:gd name="connsiteY6081" fmla="*/ 835504 h 2787466"/>
              <a:gd name="connsiteX6082" fmla="*/ 2458510 w 3600000"/>
              <a:gd name="connsiteY6082" fmla="*/ 836448 h 2787466"/>
              <a:gd name="connsiteX6083" fmla="*/ 2414201 w 3600000"/>
              <a:gd name="connsiteY6083" fmla="*/ 853424 h 2787466"/>
              <a:gd name="connsiteX6084" fmla="*/ 2368450 w 3600000"/>
              <a:gd name="connsiteY6084" fmla="*/ 874173 h 2787466"/>
              <a:gd name="connsiteX6085" fmla="*/ 2321668 w 3600000"/>
              <a:gd name="connsiteY6085" fmla="*/ 893036 h 2787466"/>
              <a:gd name="connsiteX6086" fmla="*/ 2272208 w 3600000"/>
              <a:gd name="connsiteY6086" fmla="*/ 906083 h 2787466"/>
              <a:gd name="connsiteX6087" fmla="*/ 2269529 w 3600000"/>
              <a:gd name="connsiteY6087" fmla="*/ 911900 h 2787466"/>
              <a:gd name="connsiteX6088" fmla="*/ 2186270 w 3600000"/>
              <a:gd name="connsiteY6088" fmla="*/ 932806 h 2787466"/>
              <a:gd name="connsiteX6089" fmla="*/ 2186089 w 3600000"/>
              <a:gd name="connsiteY6089" fmla="*/ 931941 h 2787466"/>
              <a:gd name="connsiteX6090" fmla="*/ 2185016 w 3600000"/>
              <a:gd name="connsiteY6090" fmla="*/ 926793 h 2787466"/>
              <a:gd name="connsiteX6091" fmla="*/ 2184566 w 3600000"/>
              <a:gd name="connsiteY6091" fmla="*/ 927431 h 2787466"/>
              <a:gd name="connsiteX6092" fmla="*/ 2183728 w 3600000"/>
              <a:gd name="connsiteY6092" fmla="*/ 926401 h 2787466"/>
              <a:gd name="connsiteX6093" fmla="*/ 2167671 w 3600000"/>
              <a:gd name="connsiteY6093" fmla="*/ 933867 h 2787466"/>
              <a:gd name="connsiteX6094" fmla="*/ 2148350 w 3600000"/>
              <a:gd name="connsiteY6094" fmla="*/ 938779 h 2787466"/>
              <a:gd name="connsiteX6095" fmla="*/ 2141968 w 3600000"/>
              <a:gd name="connsiteY6095" fmla="*/ 939584 h 2787466"/>
              <a:gd name="connsiteX6096" fmla="*/ 2144076 w 3600000"/>
              <a:gd name="connsiteY6096" fmla="*/ 940154 h 2787466"/>
              <a:gd name="connsiteX6097" fmla="*/ 2153176 w 3600000"/>
              <a:gd name="connsiteY6097" fmla="*/ 939339 h 2787466"/>
              <a:gd name="connsiteX6098" fmla="*/ 2155359 w 3600000"/>
              <a:gd name="connsiteY6098" fmla="*/ 939181 h 2787466"/>
              <a:gd name="connsiteX6099" fmla="*/ 2156204 w 3600000"/>
              <a:gd name="connsiteY6099" fmla="*/ 938458 h 2787466"/>
              <a:gd name="connsiteX6100" fmla="*/ 2155774 w 3600000"/>
              <a:gd name="connsiteY6100" fmla="*/ 939151 h 2787466"/>
              <a:gd name="connsiteX6101" fmla="*/ 2162043 w 3600000"/>
              <a:gd name="connsiteY6101" fmla="*/ 938700 h 2787466"/>
              <a:gd name="connsiteX6102" fmla="*/ 2170331 w 3600000"/>
              <a:gd name="connsiteY6102" fmla="*/ 941657 h 2787466"/>
              <a:gd name="connsiteX6103" fmla="*/ 2245751 w 3600000"/>
              <a:gd name="connsiteY6103" fmla="*/ 932695 h 2787466"/>
              <a:gd name="connsiteX6104" fmla="*/ 2249666 w 3600000"/>
              <a:gd name="connsiteY6104" fmla="*/ 937726 h 2787466"/>
              <a:gd name="connsiteX6105" fmla="*/ 2279700 w 3600000"/>
              <a:gd name="connsiteY6105" fmla="*/ 933462 h 2787466"/>
              <a:gd name="connsiteX6106" fmla="*/ 2291932 w 3600000"/>
              <a:gd name="connsiteY6106" fmla="*/ 932495 h 2787466"/>
              <a:gd name="connsiteX6107" fmla="*/ 2292367 w 3600000"/>
              <a:gd name="connsiteY6107" fmla="*/ 931323 h 2787466"/>
              <a:gd name="connsiteX6108" fmla="*/ 2298095 w 3600000"/>
              <a:gd name="connsiteY6108" fmla="*/ 930642 h 2787466"/>
              <a:gd name="connsiteX6109" fmla="*/ 2305715 w 3600000"/>
              <a:gd name="connsiteY6109" fmla="*/ 927664 h 2787466"/>
              <a:gd name="connsiteX6110" fmla="*/ 2324055 w 3600000"/>
              <a:gd name="connsiteY6110" fmla="*/ 931752 h 2787466"/>
              <a:gd name="connsiteX6111" fmla="*/ 2326528 w 3600000"/>
              <a:gd name="connsiteY6111" fmla="*/ 925777 h 2787466"/>
              <a:gd name="connsiteX6112" fmla="*/ 2344868 w 3600000"/>
              <a:gd name="connsiteY6112" fmla="*/ 924834 h 2787466"/>
              <a:gd name="connsiteX6113" fmla="*/ 2366917 w 3600000"/>
              <a:gd name="connsiteY6113" fmla="*/ 923734 h 2787466"/>
              <a:gd name="connsiteX6114" fmla="*/ 2379899 w 3600000"/>
              <a:gd name="connsiteY6114" fmla="*/ 918859 h 2787466"/>
              <a:gd name="connsiteX6115" fmla="*/ 2400918 w 3600000"/>
              <a:gd name="connsiteY6115" fmla="*/ 915873 h 2787466"/>
              <a:gd name="connsiteX6116" fmla="*/ 2420288 w 3600000"/>
              <a:gd name="connsiteY6116" fmla="*/ 910841 h 2787466"/>
              <a:gd name="connsiteX6117" fmla="*/ 2438628 w 3600000"/>
              <a:gd name="connsiteY6117" fmla="*/ 905967 h 2787466"/>
              <a:gd name="connsiteX6118" fmla="*/ 2458203 w 3600000"/>
              <a:gd name="connsiteY6118" fmla="*/ 902980 h 2787466"/>
              <a:gd name="connsiteX6119" fmla="*/ 2456761 w 3600000"/>
              <a:gd name="connsiteY6119" fmla="*/ 898892 h 2787466"/>
              <a:gd name="connsiteX6120" fmla="*/ 2479017 w 3600000"/>
              <a:gd name="connsiteY6120" fmla="*/ 895905 h 2787466"/>
              <a:gd name="connsiteX6121" fmla="*/ 2494678 w 3600000"/>
              <a:gd name="connsiteY6121" fmla="*/ 886000 h 2787466"/>
              <a:gd name="connsiteX6122" fmla="*/ 2503745 w 3600000"/>
              <a:gd name="connsiteY6122" fmla="*/ 891031 h 2787466"/>
              <a:gd name="connsiteX6123" fmla="*/ 2516726 w 3600000"/>
              <a:gd name="connsiteY6123" fmla="*/ 885057 h 2787466"/>
              <a:gd name="connsiteX6124" fmla="*/ 2512811 w 3600000"/>
              <a:gd name="connsiteY6124" fmla="*/ 881126 h 2787466"/>
              <a:gd name="connsiteX6125" fmla="*/ 2524557 w 3600000"/>
              <a:gd name="connsiteY6125" fmla="*/ 881126 h 2787466"/>
              <a:gd name="connsiteX6126" fmla="*/ 2538776 w 3600000"/>
              <a:gd name="connsiteY6126" fmla="*/ 870121 h 2787466"/>
              <a:gd name="connsiteX6127" fmla="*/ 2559588 w 3600000"/>
              <a:gd name="connsiteY6127" fmla="*/ 864146 h 2787466"/>
              <a:gd name="connsiteX6128" fmla="*/ 2553200 w 3600000"/>
              <a:gd name="connsiteY6128" fmla="*/ 860215 h 2787466"/>
              <a:gd name="connsiteX6129" fmla="*/ 2576486 w 3600000"/>
              <a:gd name="connsiteY6129" fmla="*/ 851253 h 2787466"/>
              <a:gd name="connsiteX6130" fmla="*/ 2594825 w 3600000"/>
              <a:gd name="connsiteY6130" fmla="*/ 837417 h 2787466"/>
              <a:gd name="connsiteX6131" fmla="*/ 2603892 w 3600000"/>
              <a:gd name="connsiteY6131" fmla="*/ 839305 h 2787466"/>
              <a:gd name="connsiteX6132" fmla="*/ 2601420 w 3600000"/>
              <a:gd name="connsiteY6132" fmla="*/ 829399 h 2787466"/>
              <a:gd name="connsiteX6133" fmla="*/ 2620789 w 3600000"/>
              <a:gd name="connsiteY6133" fmla="*/ 824368 h 2787466"/>
              <a:gd name="connsiteX6134" fmla="*/ 2639130 w 3600000"/>
              <a:gd name="connsiteY6134" fmla="*/ 804558 h 2787466"/>
              <a:gd name="connsiteX6135" fmla="*/ 2658706 w 3600000"/>
              <a:gd name="connsiteY6135" fmla="*/ 791665 h 2787466"/>
              <a:gd name="connsiteX6136" fmla="*/ 2650875 w 3600000"/>
              <a:gd name="connsiteY6136" fmla="*/ 787735 h 2787466"/>
              <a:gd name="connsiteX6137" fmla="*/ 2657263 w 3600000"/>
              <a:gd name="connsiteY6137" fmla="*/ 781760 h 2787466"/>
              <a:gd name="connsiteX6138" fmla="*/ 2676839 w 3600000"/>
              <a:gd name="connsiteY6138" fmla="*/ 763837 h 2787466"/>
              <a:gd name="connsiteX6139" fmla="*/ 2689822 w 3600000"/>
              <a:gd name="connsiteY6139" fmla="*/ 766823 h 2787466"/>
              <a:gd name="connsiteX6140" fmla="*/ 2692501 w 3600000"/>
              <a:gd name="connsiteY6140" fmla="*/ 741982 h 2787466"/>
              <a:gd name="connsiteX6141" fmla="*/ 2696416 w 3600000"/>
              <a:gd name="connsiteY6141" fmla="*/ 748900 h 2787466"/>
              <a:gd name="connsiteX6142" fmla="*/ 2708162 w 3600000"/>
              <a:gd name="connsiteY6142" fmla="*/ 750001 h 2787466"/>
              <a:gd name="connsiteX6143" fmla="*/ 2710634 w 3600000"/>
              <a:gd name="connsiteY6143" fmla="*/ 736951 h 2787466"/>
              <a:gd name="connsiteX6144" fmla="*/ 2712077 w 3600000"/>
              <a:gd name="connsiteY6144" fmla="*/ 742926 h 2787466"/>
              <a:gd name="connsiteX6145" fmla="*/ 2715992 w 3600000"/>
              <a:gd name="connsiteY6145" fmla="*/ 727989 h 2787466"/>
              <a:gd name="connsiteX6146" fmla="*/ 2726295 w 3600000"/>
              <a:gd name="connsiteY6146" fmla="*/ 727046 h 2787466"/>
              <a:gd name="connsiteX6147" fmla="*/ 2721144 w 3600000"/>
              <a:gd name="connsiteY6147" fmla="*/ 717141 h 2787466"/>
              <a:gd name="connsiteX6148" fmla="*/ 2732890 w 3600000"/>
              <a:gd name="connsiteY6148" fmla="*/ 699218 h 2787466"/>
              <a:gd name="connsiteX6149" fmla="*/ 2721144 w 3600000"/>
              <a:gd name="connsiteY6149" fmla="*/ 698274 h 2787466"/>
              <a:gd name="connsiteX6150" fmla="*/ 2735568 w 3600000"/>
              <a:gd name="connsiteY6150" fmla="*/ 695287 h 2787466"/>
              <a:gd name="connsiteX6151" fmla="*/ 2730210 w 3600000"/>
              <a:gd name="connsiteY6151" fmla="*/ 688369 h 2787466"/>
              <a:gd name="connsiteX6152" fmla="*/ 2736805 w 3600000"/>
              <a:gd name="connsiteY6152" fmla="*/ 692300 h 2787466"/>
              <a:gd name="connsiteX6153" fmla="*/ 2747957 w 3600000"/>
              <a:gd name="connsiteY6153" fmla="*/ 677186 h 2787466"/>
              <a:gd name="connsiteX6154" fmla="*/ 2751154 w 3600000"/>
              <a:gd name="connsiteY6154" fmla="*/ 665383 h 2787466"/>
              <a:gd name="connsiteX6155" fmla="*/ 2753702 w 3600000"/>
              <a:gd name="connsiteY6155" fmla="*/ 665414 h 2787466"/>
              <a:gd name="connsiteX6156" fmla="*/ 2760296 w 3600000"/>
              <a:gd name="connsiteY6156" fmla="*/ 644661 h 2787466"/>
              <a:gd name="connsiteX6157" fmla="*/ 2764005 w 3600000"/>
              <a:gd name="connsiteY6157" fmla="*/ 640573 h 2787466"/>
              <a:gd name="connsiteX6158" fmla="*/ 2770599 w 3600000"/>
              <a:gd name="connsiteY6158" fmla="*/ 641673 h 2787466"/>
              <a:gd name="connsiteX6159" fmla="*/ 2766684 w 3600000"/>
              <a:gd name="connsiteY6159" fmla="*/ 634756 h 2787466"/>
              <a:gd name="connsiteX6160" fmla="*/ 2762769 w 3600000"/>
              <a:gd name="connsiteY6160" fmla="*/ 639629 h 2787466"/>
              <a:gd name="connsiteX6161" fmla="*/ 2770599 w 3600000"/>
              <a:gd name="connsiteY6161" fmla="*/ 628624 h 2787466"/>
              <a:gd name="connsiteX6162" fmla="*/ 2777194 w 3600000"/>
              <a:gd name="connsiteY6162" fmla="*/ 621706 h 2787466"/>
              <a:gd name="connsiteX6163" fmla="*/ 2782345 w 3600000"/>
              <a:gd name="connsiteY6163" fmla="*/ 625637 h 2787466"/>
              <a:gd name="connsiteX6164" fmla="*/ 2786261 w 3600000"/>
              <a:gd name="connsiteY6164" fmla="*/ 603940 h 2787466"/>
              <a:gd name="connsiteX6165" fmla="*/ 2794091 w 3600000"/>
              <a:gd name="connsiteY6165" fmla="*/ 604883 h 2787466"/>
              <a:gd name="connsiteX6166" fmla="*/ 2794091 w 3600000"/>
              <a:gd name="connsiteY6166" fmla="*/ 598908 h 2787466"/>
              <a:gd name="connsiteX6167" fmla="*/ 2786261 w 3600000"/>
              <a:gd name="connsiteY6167" fmla="*/ 597965 h 2787466"/>
              <a:gd name="connsiteX6168" fmla="*/ 2794091 w 3600000"/>
              <a:gd name="connsiteY6168" fmla="*/ 589003 h 2787466"/>
              <a:gd name="connsiteX6169" fmla="*/ 2788321 w 3600000"/>
              <a:gd name="connsiteY6169" fmla="*/ 589101 h 2787466"/>
              <a:gd name="connsiteX6170" fmla="*/ 2787700 w 3600000"/>
              <a:gd name="connsiteY6170" fmla="*/ 588819 h 2787466"/>
              <a:gd name="connsiteX6171" fmla="*/ 2784700 w 3600000"/>
              <a:gd name="connsiteY6171" fmla="*/ 593277 h 2787466"/>
              <a:gd name="connsiteX6172" fmla="*/ 2784675 w 3600000"/>
              <a:gd name="connsiteY6172" fmla="*/ 582977 h 2787466"/>
              <a:gd name="connsiteX6173" fmla="*/ 2785853 w 3600000"/>
              <a:gd name="connsiteY6173" fmla="*/ 581202 h 2787466"/>
              <a:gd name="connsiteX6174" fmla="*/ 2783886 w 3600000"/>
              <a:gd name="connsiteY6174" fmla="*/ 580185 h 2787466"/>
              <a:gd name="connsiteX6175" fmla="*/ 2787635 w 3600000"/>
              <a:gd name="connsiteY6175" fmla="*/ 576103 h 2787466"/>
              <a:gd name="connsiteX6176" fmla="*/ 2788299 w 3600000"/>
              <a:gd name="connsiteY6176" fmla="*/ 577517 h 2787466"/>
              <a:gd name="connsiteX6177" fmla="*/ 2792460 w 3600000"/>
              <a:gd name="connsiteY6177" fmla="*/ 571250 h 2787466"/>
              <a:gd name="connsiteX6178" fmla="*/ 2791873 w 3600000"/>
              <a:gd name="connsiteY6178" fmla="*/ 582620 h 2787466"/>
              <a:gd name="connsiteX6179" fmla="*/ 2788929 w 3600000"/>
              <a:gd name="connsiteY6179" fmla="*/ 586993 h 2787466"/>
              <a:gd name="connsiteX6180" fmla="*/ 2793689 w 3600000"/>
              <a:gd name="connsiteY6180" fmla="*/ 587107 h 2787466"/>
              <a:gd name="connsiteX6181" fmla="*/ 2798006 w 3600000"/>
              <a:gd name="connsiteY6181" fmla="*/ 577998 h 2787466"/>
              <a:gd name="connsiteX6182" fmla="*/ 2808309 w 3600000"/>
              <a:gd name="connsiteY6182" fmla="*/ 580985 h 2787466"/>
              <a:gd name="connsiteX6183" fmla="*/ 2807073 w 3600000"/>
              <a:gd name="connsiteY6183" fmla="*/ 569035 h 2787466"/>
              <a:gd name="connsiteX6184" fmla="*/ 2801921 w 3600000"/>
              <a:gd name="connsiteY6184" fmla="*/ 562118 h 2787466"/>
              <a:gd name="connsiteX6185" fmla="*/ 2816140 w 3600000"/>
              <a:gd name="connsiteY6185" fmla="*/ 565105 h 2787466"/>
              <a:gd name="connsiteX6186" fmla="*/ 2810988 w 3600000"/>
              <a:gd name="connsiteY6186" fmla="*/ 559130 h 2787466"/>
              <a:gd name="connsiteX6187" fmla="*/ 2826649 w 3600000"/>
              <a:gd name="connsiteY6187" fmla="*/ 540264 h 2787466"/>
              <a:gd name="connsiteX6188" fmla="*/ 2820055 w 3600000"/>
              <a:gd name="connsiteY6188" fmla="*/ 540264 h 2787466"/>
              <a:gd name="connsiteX6189" fmla="*/ 2821498 w 3600000"/>
              <a:gd name="connsiteY6189" fmla="*/ 534289 h 2787466"/>
              <a:gd name="connsiteX6190" fmla="*/ 2830565 w 3600000"/>
              <a:gd name="connsiteY6190" fmla="*/ 530358 h 2787466"/>
              <a:gd name="connsiteX6191" fmla="*/ 2843547 w 3600000"/>
              <a:gd name="connsiteY6191" fmla="*/ 532402 h 2787466"/>
              <a:gd name="connsiteX6192" fmla="*/ 2840868 w 3600000"/>
              <a:gd name="connsiteY6192" fmla="*/ 545295 h 2787466"/>
              <a:gd name="connsiteX6193" fmla="*/ 2825413 w 3600000"/>
              <a:gd name="connsiteY6193" fmla="*/ 555200 h 2787466"/>
              <a:gd name="connsiteX6194" fmla="*/ 2831801 w 3600000"/>
              <a:gd name="connsiteY6194" fmla="*/ 562118 h 2787466"/>
              <a:gd name="connsiteX6195" fmla="*/ 2825413 w 3600000"/>
              <a:gd name="connsiteY6195" fmla="*/ 559130 h 2787466"/>
              <a:gd name="connsiteX6196" fmla="*/ 2820055 w 3600000"/>
              <a:gd name="connsiteY6196" fmla="*/ 564161 h 2787466"/>
              <a:gd name="connsiteX6197" fmla="*/ 2836952 w 3600000"/>
              <a:gd name="connsiteY6197" fmla="*/ 568092 h 2787466"/>
              <a:gd name="connsiteX6198" fmla="*/ 2820055 w 3600000"/>
              <a:gd name="connsiteY6198" fmla="*/ 568092 h 2787466"/>
              <a:gd name="connsiteX6199" fmla="*/ 2818818 w 3600000"/>
              <a:gd name="connsiteY6199" fmla="*/ 581928 h 2787466"/>
              <a:gd name="connsiteX6200" fmla="*/ 2834480 w 3600000"/>
              <a:gd name="connsiteY6200" fmla="*/ 580041 h 2787466"/>
              <a:gd name="connsiteX6201" fmla="*/ 2817582 w 3600000"/>
              <a:gd name="connsiteY6201" fmla="*/ 583028 h 2787466"/>
              <a:gd name="connsiteX6202" fmla="*/ 2813667 w 3600000"/>
              <a:gd name="connsiteY6202" fmla="*/ 609757 h 2787466"/>
              <a:gd name="connsiteX6203" fmla="*/ 2817582 w 3600000"/>
              <a:gd name="connsiteY6203" fmla="*/ 610857 h 2787466"/>
              <a:gd name="connsiteX6204" fmla="*/ 2822734 w 3600000"/>
              <a:gd name="connsiteY6204" fmla="*/ 605826 h 2787466"/>
              <a:gd name="connsiteX6205" fmla="*/ 2812225 w 3600000"/>
              <a:gd name="connsiteY6205" fmla="*/ 614788 h 2787466"/>
              <a:gd name="connsiteX6206" fmla="*/ 2818818 w 3600000"/>
              <a:gd name="connsiteY6206" fmla="*/ 619819 h 2787466"/>
              <a:gd name="connsiteX6207" fmla="*/ 2804394 w 3600000"/>
              <a:gd name="connsiteY6207" fmla="*/ 621706 h 2787466"/>
              <a:gd name="connsiteX6208" fmla="*/ 2808309 w 3600000"/>
              <a:gd name="connsiteY6208" fmla="*/ 650635 h 2787466"/>
              <a:gd name="connsiteX6209" fmla="*/ 2798006 w 3600000"/>
              <a:gd name="connsiteY6209" fmla="*/ 650635 h 2787466"/>
              <a:gd name="connsiteX6210" fmla="*/ 2792854 w 3600000"/>
              <a:gd name="connsiteY6210" fmla="*/ 668402 h 2787466"/>
              <a:gd name="connsiteX6211" fmla="*/ 2785025 w 3600000"/>
              <a:gd name="connsiteY6211" fmla="*/ 665414 h 2787466"/>
              <a:gd name="connsiteX6212" fmla="*/ 2787497 w 3600000"/>
              <a:gd name="connsiteY6212" fmla="*/ 673433 h 2787466"/>
              <a:gd name="connsiteX6213" fmla="*/ 2796770 w 3600000"/>
              <a:gd name="connsiteY6213" fmla="*/ 671389 h 2787466"/>
              <a:gd name="connsiteX6214" fmla="*/ 2791412 w 3600000"/>
              <a:gd name="connsiteY6214" fmla="*/ 678464 h 2787466"/>
              <a:gd name="connsiteX6215" fmla="*/ 2778430 w 3600000"/>
              <a:gd name="connsiteY6215" fmla="*/ 676420 h 2787466"/>
              <a:gd name="connsiteX6216" fmla="*/ 2775752 w 3600000"/>
              <a:gd name="connsiteY6216" fmla="*/ 696230 h 2787466"/>
              <a:gd name="connsiteX6217" fmla="*/ 2769363 w 3600000"/>
              <a:gd name="connsiteY6217" fmla="*/ 698274 h 2787466"/>
              <a:gd name="connsiteX6218" fmla="*/ 2773278 w 3600000"/>
              <a:gd name="connsiteY6218" fmla="*/ 704248 h 2787466"/>
              <a:gd name="connsiteX6219" fmla="*/ 2778430 w 3600000"/>
              <a:gd name="connsiteY6219" fmla="*/ 702205 h 2787466"/>
              <a:gd name="connsiteX6220" fmla="*/ 2762769 w 3600000"/>
              <a:gd name="connsiteY6220" fmla="*/ 715097 h 2787466"/>
              <a:gd name="connsiteX6221" fmla="*/ 2767920 w 3600000"/>
              <a:gd name="connsiteY6221" fmla="*/ 716197 h 2787466"/>
              <a:gd name="connsiteX6222" fmla="*/ 2774515 w 3600000"/>
              <a:gd name="connsiteY6222" fmla="*/ 713210 h 2787466"/>
              <a:gd name="connsiteX6223" fmla="*/ 2761532 w 3600000"/>
              <a:gd name="connsiteY6223" fmla="*/ 744970 h 2787466"/>
              <a:gd name="connsiteX6224" fmla="*/ 2756381 w 3600000"/>
              <a:gd name="connsiteY6224" fmla="*/ 742926 h 2787466"/>
              <a:gd name="connsiteX6225" fmla="*/ 2740719 w 3600000"/>
              <a:gd name="connsiteY6225" fmla="*/ 759906 h 2787466"/>
              <a:gd name="connsiteX6226" fmla="*/ 2731653 w 3600000"/>
              <a:gd name="connsiteY6226" fmla="*/ 780659 h 2787466"/>
              <a:gd name="connsiteX6227" fmla="*/ 2715992 w 3600000"/>
              <a:gd name="connsiteY6227" fmla="*/ 788678 h 2787466"/>
              <a:gd name="connsiteX6228" fmla="*/ 2713313 w 3600000"/>
              <a:gd name="connsiteY6228" fmla="*/ 798583 h 2787466"/>
              <a:gd name="connsiteX6229" fmla="*/ 2705483 w 3600000"/>
              <a:gd name="connsiteY6229" fmla="*/ 812419 h 2787466"/>
              <a:gd name="connsiteX6230" fmla="*/ 2696416 w 3600000"/>
              <a:gd name="connsiteY6230" fmla="*/ 810532 h 2787466"/>
              <a:gd name="connsiteX6231" fmla="*/ 2691264 w 3600000"/>
              <a:gd name="connsiteY6231" fmla="*/ 815406 h 2787466"/>
              <a:gd name="connsiteX6232" fmla="*/ 2695179 w 3600000"/>
              <a:gd name="connsiteY6232" fmla="*/ 821380 h 2787466"/>
              <a:gd name="connsiteX6233" fmla="*/ 2688586 w 3600000"/>
              <a:gd name="connsiteY6233" fmla="*/ 815406 h 2787466"/>
              <a:gd name="connsiteX6234" fmla="*/ 2688586 w 3600000"/>
              <a:gd name="connsiteY6234" fmla="*/ 826412 h 2787466"/>
              <a:gd name="connsiteX6235" fmla="*/ 2678075 w 3600000"/>
              <a:gd name="connsiteY6235" fmla="*/ 825468 h 2787466"/>
              <a:gd name="connsiteX6236" fmla="*/ 2681992 w 3600000"/>
              <a:gd name="connsiteY6236" fmla="*/ 839305 h 2787466"/>
              <a:gd name="connsiteX6237" fmla="*/ 2688586 w 3600000"/>
              <a:gd name="connsiteY6237" fmla="*/ 840247 h 2787466"/>
              <a:gd name="connsiteX6238" fmla="*/ 2684670 w 3600000"/>
              <a:gd name="connsiteY6238" fmla="*/ 841348 h 2787466"/>
              <a:gd name="connsiteX6239" fmla="*/ 2693737 w 3600000"/>
              <a:gd name="connsiteY6239" fmla="*/ 844335 h 2787466"/>
              <a:gd name="connsiteX6240" fmla="*/ 2679519 w 3600000"/>
              <a:gd name="connsiteY6240" fmla="*/ 852196 h 2787466"/>
              <a:gd name="connsiteX6241" fmla="*/ 2675603 w 3600000"/>
              <a:gd name="connsiteY6241" fmla="*/ 846222 h 2787466"/>
              <a:gd name="connsiteX6242" fmla="*/ 2676839 w 3600000"/>
              <a:gd name="connsiteY6242" fmla="*/ 839305 h 2787466"/>
              <a:gd name="connsiteX6243" fmla="*/ 2665094 w 3600000"/>
              <a:gd name="connsiteY6243" fmla="*/ 842291 h 2787466"/>
              <a:gd name="connsiteX6244" fmla="*/ 2665094 w 3600000"/>
              <a:gd name="connsiteY6244" fmla="*/ 850310 h 2787466"/>
              <a:gd name="connsiteX6245" fmla="*/ 2671688 w 3600000"/>
              <a:gd name="connsiteY6245" fmla="*/ 848266 h 2787466"/>
              <a:gd name="connsiteX6246" fmla="*/ 2679519 w 3600000"/>
              <a:gd name="connsiteY6246" fmla="*/ 852196 h 2787466"/>
              <a:gd name="connsiteX6247" fmla="*/ 2674161 w 3600000"/>
              <a:gd name="connsiteY6247" fmla="*/ 858171 h 2787466"/>
              <a:gd name="connsiteX6248" fmla="*/ 2670246 w 3600000"/>
              <a:gd name="connsiteY6248" fmla="*/ 853297 h 2787466"/>
              <a:gd name="connsiteX6249" fmla="*/ 2667772 w 3600000"/>
              <a:gd name="connsiteY6249" fmla="*/ 855184 h 2787466"/>
              <a:gd name="connsiteX6250" fmla="*/ 2670967 w 3600000"/>
              <a:gd name="connsiteY6250" fmla="*/ 858584 h 2787466"/>
              <a:gd name="connsiteX6251" fmla="*/ 2673175 w 3600000"/>
              <a:gd name="connsiteY6251" fmla="*/ 860364 h 2787466"/>
              <a:gd name="connsiteX6252" fmla="*/ 2692829 w 3600000"/>
              <a:gd name="connsiteY6252" fmla="*/ 852324 h 2787466"/>
              <a:gd name="connsiteX6253" fmla="*/ 2699192 w 3600000"/>
              <a:gd name="connsiteY6253" fmla="*/ 847667 h 2787466"/>
              <a:gd name="connsiteX6254" fmla="*/ 2708129 w 3600000"/>
              <a:gd name="connsiteY6254" fmla="*/ 850330 h 2787466"/>
              <a:gd name="connsiteX6255" fmla="*/ 2708909 w 3600000"/>
              <a:gd name="connsiteY6255" fmla="*/ 849641 h 2787466"/>
              <a:gd name="connsiteX6256" fmla="*/ 2718465 w 3600000"/>
              <a:gd name="connsiteY6256" fmla="*/ 846222 h 2787466"/>
              <a:gd name="connsiteX6257" fmla="*/ 2730210 w 3600000"/>
              <a:gd name="connsiteY6257" fmla="*/ 833330 h 2787466"/>
              <a:gd name="connsiteX6258" fmla="*/ 2726295 w 3600000"/>
              <a:gd name="connsiteY6258" fmla="*/ 839305 h 2787466"/>
              <a:gd name="connsiteX6259" fmla="*/ 2740088 w 3600000"/>
              <a:gd name="connsiteY6259" fmla="*/ 823673 h 2787466"/>
              <a:gd name="connsiteX6260" fmla="*/ 2749475 w 3600000"/>
              <a:gd name="connsiteY6260" fmla="*/ 820541 h 2787466"/>
              <a:gd name="connsiteX6261" fmla="*/ 2749844 w 3600000"/>
              <a:gd name="connsiteY6261" fmla="*/ 819899 h 2787466"/>
              <a:gd name="connsiteX6262" fmla="*/ 2750686 w 3600000"/>
              <a:gd name="connsiteY6262" fmla="*/ 812006 h 2787466"/>
              <a:gd name="connsiteX6263" fmla="*/ 2762769 w 3600000"/>
              <a:gd name="connsiteY6263" fmla="*/ 791665 h 2787466"/>
              <a:gd name="connsiteX6264" fmla="*/ 2770599 w 3600000"/>
              <a:gd name="connsiteY6264" fmla="*/ 788678 h 2787466"/>
              <a:gd name="connsiteX6265" fmla="*/ 2782345 w 3600000"/>
              <a:gd name="connsiteY6265" fmla="*/ 780659 h 2787466"/>
              <a:gd name="connsiteX6266" fmla="*/ 2792854 w 3600000"/>
              <a:gd name="connsiteY6266" fmla="*/ 757862 h 2787466"/>
              <a:gd name="connsiteX6267" fmla="*/ 2800479 w 3600000"/>
              <a:gd name="connsiteY6267" fmla="*/ 762893 h 2787466"/>
              <a:gd name="connsiteX6268" fmla="*/ 2794091 w 3600000"/>
              <a:gd name="connsiteY6268" fmla="*/ 757862 h 2787466"/>
              <a:gd name="connsiteX6269" fmla="*/ 2807073 w 3600000"/>
              <a:gd name="connsiteY6269" fmla="*/ 730977 h 2787466"/>
              <a:gd name="connsiteX6270" fmla="*/ 2808309 w 3600000"/>
              <a:gd name="connsiteY6270" fmla="*/ 725002 h 2787466"/>
              <a:gd name="connsiteX6271" fmla="*/ 2816140 w 3600000"/>
              <a:gd name="connsiteY6271" fmla="*/ 725002 h 2787466"/>
              <a:gd name="connsiteX6272" fmla="*/ 2816140 w 3600000"/>
              <a:gd name="connsiteY6272" fmla="*/ 713210 h 2787466"/>
              <a:gd name="connsiteX6273" fmla="*/ 2823970 w 3600000"/>
              <a:gd name="connsiteY6273" fmla="*/ 703148 h 2787466"/>
              <a:gd name="connsiteX6274" fmla="*/ 2854056 w 3600000"/>
              <a:gd name="connsiteY6274" fmla="*/ 669502 h 2787466"/>
              <a:gd name="connsiteX6275" fmla="*/ 2861680 w 3600000"/>
              <a:gd name="connsiteY6275" fmla="*/ 634756 h 2787466"/>
              <a:gd name="connsiteX6276" fmla="*/ 2868274 w 3600000"/>
              <a:gd name="connsiteY6276" fmla="*/ 628624 h 2787466"/>
              <a:gd name="connsiteX6277" fmla="*/ 2867038 w 3600000"/>
              <a:gd name="connsiteY6277" fmla="*/ 654566 h 2787466"/>
              <a:gd name="connsiteX6278" fmla="*/ 2877341 w 3600000"/>
              <a:gd name="connsiteY6278" fmla="*/ 656453 h 2787466"/>
              <a:gd name="connsiteX6279" fmla="*/ 2874869 w 3600000"/>
              <a:gd name="connsiteY6279" fmla="*/ 647648 h 2787466"/>
              <a:gd name="connsiteX6280" fmla="*/ 2889087 w 3600000"/>
              <a:gd name="connsiteY6280" fmla="*/ 648592 h 2787466"/>
              <a:gd name="connsiteX6281" fmla="*/ 2878784 w 3600000"/>
              <a:gd name="connsiteY6281" fmla="*/ 639629 h 2787466"/>
              <a:gd name="connsiteX6282" fmla="*/ 2885172 w 3600000"/>
              <a:gd name="connsiteY6282" fmla="*/ 628624 h 2787466"/>
              <a:gd name="connsiteX6283" fmla="*/ 2870953 w 3600000"/>
              <a:gd name="connsiteY6283" fmla="*/ 625637 h 2787466"/>
              <a:gd name="connsiteX6284" fmla="*/ 2873426 w 3600000"/>
              <a:gd name="connsiteY6284" fmla="*/ 611801 h 2787466"/>
              <a:gd name="connsiteX6285" fmla="*/ 2883936 w 3600000"/>
              <a:gd name="connsiteY6285" fmla="*/ 610857 h 2787466"/>
              <a:gd name="connsiteX6286" fmla="*/ 2893002 w 3600000"/>
              <a:gd name="connsiteY6286" fmla="*/ 591991 h 2787466"/>
              <a:gd name="connsiteX6287" fmla="*/ 2891765 w 3600000"/>
              <a:gd name="connsiteY6287" fmla="*/ 605826 h 2787466"/>
              <a:gd name="connsiteX6288" fmla="*/ 2905984 w 3600000"/>
              <a:gd name="connsiteY6288" fmla="*/ 601896 h 2787466"/>
              <a:gd name="connsiteX6289" fmla="*/ 2898154 w 3600000"/>
              <a:gd name="connsiteY6289" fmla="*/ 595921 h 2787466"/>
              <a:gd name="connsiteX6290" fmla="*/ 2913814 w 3600000"/>
              <a:gd name="connsiteY6290" fmla="*/ 572023 h 2787466"/>
              <a:gd name="connsiteX6291" fmla="*/ 2924324 w 3600000"/>
              <a:gd name="connsiteY6291" fmla="*/ 570136 h 2787466"/>
              <a:gd name="connsiteX6292" fmla="*/ 2923087 w 3600000"/>
              <a:gd name="connsiteY6292" fmla="*/ 567149 h 2787466"/>
              <a:gd name="connsiteX6293" fmla="*/ 2905984 w 3600000"/>
              <a:gd name="connsiteY6293" fmla="*/ 568092 h 2787466"/>
              <a:gd name="connsiteX6294" fmla="*/ 2908663 w 3600000"/>
              <a:gd name="connsiteY6294" fmla="*/ 559130 h 2787466"/>
              <a:gd name="connsiteX6295" fmla="*/ 2898154 w 3600000"/>
              <a:gd name="connsiteY6295" fmla="*/ 564161 h 2787466"/>
              <a:gd name="connsiteX6296" fmla="*/ 2904748 w 3600000"/>
              <a:gd name="connsiteY6296" fmla="*/ 554257 h 2787466"/>
              <a:gd name="connsiteX6297" fmla="*/ 2916493 w 3600000"/>
              <a:gd name="connsiteY6297" fmla="*/ 560231 h 2787466"/>
              <a:gd name="connsiteX6298" fmla="*/ 2920409 w 3600000"/>
              <a:gd name="connsiteY6298" fmla="*/ 550169 h 2787466"/>
              <a:gd name="connsiteX6299" fmla="*/ 2921720 w 3600000"/>
              <a:gd name="connsiteY6299" fmla="*/ 550181 h 2787466"/>
              <a:gd name="connsiteX6300" fmla="*/ 2922104 w 3600000"/>
              <a:gd name="connsiteY6300" fmla="*/ 549354 h 2787466"/>
              <a:gd name="connsiteX6301" fmla="*/ 2926030 w 3600000"/>
              <a:gd name="connsiteY6301" fmla="*/ 542133 h 2787466"/>
              <a:gd name="connsiteX6302" fmla="*/ 2929508 w 3600000"/>
              <a:gd name="connsiteY6302" fmla="*/ 544680 h 2787466"/>
              <a:gd name="connsiteX6303" fmla="*/ 2929450 w 3600000"/>
              <a:gd name="connsiteY6303" fmla="*/ 545173 h 2787466"/>
              <a:gd name="connsiteX6304" fmla="*/ 2932644 w 3600000"/>
              <a:gd name="connsiteY6304" fmla="*/ 543782 h 2787466"/>
              <a:gd name="connsiteX6305" fmla="*/ 2941222 w 3600000"/>
              <a:gd name="connsiteY6305" fmla="*/ 541207 h 2787466"/>
              <a:gd name="connsiteX6306" fmla="*/ 2937307 w 3600000"/>
              <a:gd name="connsiteY6306" fmla="*/ 536333 h 2787466"/>
              <a:gd name="connsiteX6307" fmla="*/ 2930713 w 3600000"/>
              <a:gd name="connsiteY6307" fmla="*/ 539320 h 2787466"/>
              <a:gd name="connsiteX6308" fmla="*/ 2932858 w 3600000"/>
              <a:gd name="connsiteY6308" fmla="*/ 532460 h 2787466"/>
              <a:gd name="connsiteX6309" fmla="*/ 2930418 w 3600000"/>
              <a:gd name="connsiteY6309" fmla="*/ 527509 h 2787466"/>
              <a:gd name="connsiteX6310" fmla="*/ 2941199 w 3600000"/>
              <a:gd name="connsiteY6310" fmla="*/ 513029 h 2787466"/>
              <a:gd name="connsiteX6311" fmla="*/ 2938558 w 3600000"/>
              <a:gd name="connsiteY6311" fmla="*/ 519537 h 2787466"/>
              <a:gd name="connsiteX6312" fmla="*/ 2943643 w 3600000"/>
              <a:gd name="connsiteY6312" fmla="*/ 529002 h 2787466"/>
              <a:gd name="connsiteX6313" fmla="*/ 2947816 w 3600000"/>
              <a:gd name="connsiteY6313" fmla="*/ 539320 h 2787466"/>
              <a:gd name="connsiteX6314" fmla="*/ 2952967 w 3600000"/>
              <a:gd name="connsiteY6314" fmla="*/ 538219 h 2787466"/>
              <a:gd name="connsiteX6315" fmla="*/ 2949052 w 3600000"/>
              <a:gd name="connsiteY6315" fmla="*/ 513378 h 2787466"/>
              <a:gd name="connsiteX6316" fmla="*/ 2956883 w 3600000"/>
              <a:gd name="connsiteY6316" fmla="*/ 512435 h 2787466"/>
              <a:gd name="connsiteX6317" fmla="*/ 2956883 w 3600000"/>
              <a:gd name="connsiteY6317" fmla="*/ 509448 h 2787466"/>
              <a:gd name="connsiteX6318" fmla="*/ 2950288 w 3600000"/>
              <a:gd name="connsiteY6318" fmla="*/ 509448 h 2787466"/>
              <a:gd name="connsiteX6319" fmla="*/ 2956883 w 3600000"/>
              <a:gd name="connsiteY6319" fmla="*/ 498599 h 2787466"/>
              <a:gd name="connsiteX6320" fmla="*/ 2951525 w 3600000"/>
              <a:gd name="connsiteY6320" fmla="*/ 478632 h 2787466"/>
              <a:gd name="connsiteX6321" fmla="*/ 2963271 w 3600000"/>
              <a:gd name="connsiteY6321" fmla="*/ 494511 h 2787466"/>
              <a:gd name="connsiteX6322" fmla="*/ 2964713 w 3600000"/>
              <a:gd name="connsiteY6322" fmla="*/ 473758 h 2787466"/>
              <a:gd name="connsiteX6323" fmla="*/ 2949052 w 3600000"/>
              <a:gd name="connsiteY6323" fmla="*/ 474701 h 2787466"/>
              <a:gd name="connsiteX6324" fmla="*/ 2950288 w 3600000"/>
              <a:gd name="connsiteY6324" fmla="*/ 469670 h 2787466"/>
              <a:gd name="connsiteX6325" fmla="*/ 2968628 w 3600000"/>
              <a:gd name="connsiteY6325" fmla="*/ 471714 h 2787466"/>
              <a:gd name="connsiteX6326" fmla="*/ 2972544 w 3600000"/>
              <a:gd name="connsiteY6326" fmla="*/ 461809 h 2787466"/>
              <a:gd name="connsiteX6327" fmla="*/ 2967649 w 3600000"/>
              <a:gd name="connsiteY6327" fmla="*/ 446519 h 2787466"/>
              <a:gd name="connsiteX6328" fmla="*/ 2968763 w 3600000"/>
              <a:gd name="connsiteY6328" fmla="*/ 441651 h 2787466"/>
              <a:gd name="connsiteX6329" fmla="*/ 2968219 w 3600000"/>
              <a:gd name="connsiteY6329" fmla="*/ 442838 h 2787466"/>
              <a:gd name="connsiteX6330" fmla="*/ 2958998 w 3600000"/>
              <a:gd name="connsiteY6330" fmla="*/ 441897 h 2787466"/>
              <a:gd name="connsiteX6331" fmla="*/ 2964326 w 3600000"/>
              <a:gd name="connsiteY6331" fmla="*/ 418038 h 2787466"/>
              <a:gd name="connsiteX6332" fmla="*/ 2972166 w 3600000"/>
              <a:gd name="connsiteY6332" fmla="*/ 422421 h 2787466"/>
              <a:gd name="connsiteX6333" fmla="*/ 2974422 w 3600000"/>
              <a:gd name="connsiteY6333" fmla="*/ 427050 h 2787466"/>
              <a:gd name="connsiteX6334" fmla="*/ 2978909 w 3600000"/>
              <a:gd name="connsiteY6334" fmla="*/ 424278 h 2787466"/>
              <a:gd name="connsiteX6335" fmla="*/ 2976354 w 3600000"/>
              <a:gd name="connsiteY6335" fmla="*/ 431455 h 2787466"/>
              <a:gd name="connsiteX6336" fmla="*/ 2976247 w 3600000"/>
              <a:gd name="connsiteY6336" fmla="*/ 429110 h 2787466"/>
              <a:gd name="connsiteX6337" fmla="*/ 2974652 w 3600000"/>
              <a:gd name="connsiteY6337" fmla="*/ 428805 h 2787466"/>
              <a:gd name="connsiteX6338" fmla="*/ 2972473 w 3600000"/>
              <a:gd name="connsiteY6338" fmla="*/ 433558 h 2787466"/>
              <a:gd name="connsiteX6339" fmla="*/ 2974153 w 3600000"/>
              <a:gd name="connsiteY6339" fmla="*/ 434268 h 2787466"/>
              <a:gd name="connsiteX6340" fmla="*/ 2977322 w 3600000"/>
              <a:gd name="connsiteY6340" fmla="*/ 442173 h 2787466"/>
              <a:gd name="connsiteX6341" fmla="*/ 2982519 w 3600000"/>
              <a:gd name="connsiteY6341" fmla="*/ 443783 h 2787466"/>
              <a:gd name="connsiteX6342" fmla="*/ 2983069 w 3600000"/>
              <a:gd name="connsiteY6342" fmla="*/ 442834 h 2787466"/>
              <a:gd name="connsiteX6343" fmla="*/ 2984061 w 3600000"/>
              <a:gd name="connsiteY6343" fmla="*/ 438112 h 2787466"/>
              <a:gd name="connsiteX6344" fmla="*/ 2991914 w 3600000"/>
              <a:gd name="connsiteY6344" fmla="*/ 421088 h 2787466"/>
              <a:gd name="connsiteX6345" fmla="*/ 2989442 w 3600000"/>
              <a:gd name="connsiteY6345" fmla="*/ 403164 h 2787466"/>
              <a:gd name="connsiteX6346" fmla="*/ 2983723 w 3600000"/>
              <a:gd name="connsiteY6346" fmla="*/ 401553 h 2787466"/>
              <a:gd name="connsiteX6347" fmla="*/ 2979749 w 3600000"/>
              <a:gd name="connsiteY6347" fmla="*/ 399629 h 2787466"/>
              <a:gd name="connsiteX6348" fmla="*/ 2978974 w 3600000"/>
              <a:gd name="connsiteY6348" fmla="*/ 400674 h 2787466"/>
              <a:gd name="connsiteX6349" fmla="*/ 2973851 w 3600000"/>
              <a:gd name="connsiteY6349" fmla="*/ 405401 h 2787466"/>
              <a:gd name="connsiteX6350" fmla="*/ 2973851 w 3600000"/>
              <a:gd name="connsiteY6350" fmla="*/ 396345 h 2787466"/>
              <a:gd name="connsiteX6351" fmla="*/ 2968651 w 3600000"/>
              <a:gd name="connsiteY6351" fmla="*/ 390307 h 2787466"/>
              <a:gd name="connsiteX6352" fmla="*/ 2976841 w 3600000"/>
              <a:gd name="connsiteY6352" fmla="*/ 392413 h 2787466"/>
              <a:gd name="connsiteX6353" fmla="*/ 2977167 w 3600000"/>
              <a:gd name="connsiteY6353" fmla="*/ 392561 h 2787466"/>
              <a:gd name="connsiteX6354" fmla="*/ 2978581 w 3600000"/>
              <a:gd name="connsiteY6354" fmla="*/ 391876 h 2787466"/>
              <a:gd name="connsiteX6355" fmla="*/ 2987998 w 3600000"/>
              <a:gd name="connsiteY6355" fmla="*/ 398133 h 2787466"/>
              <a:gd name="connsiteX6356" fmla="*/ 2988896 w 3600000"/>
              <a:gd name="connsiteY6356" fmla="*/ 396070 h 2787466"/>
              <a:gd name="connsiteX6357" fmla="*/ 2991121 w 3600000"/>
              <a:gd name="connsiteY6357" fmla="*/ 396820 h 2787466"/>
              <a:gd name="connsiteX6358" fmla="*/ 2992285 w 3600000"/>
              <a:gd name="connsiteY6358" fmla="*/ 394900 h 2787466"/>
              <a:gd name="connsiteX6359" fmla="*/ 2994885 w 3600000"/>
              <a:gd name="connsiteY6359" fmla="*/ 394717 h 2787466"/>
              <a:gd name="connsiteX6360" fmla="*/ 2990678 w 3600000"/>
              <a:gd name="connsiteY6360" fmla="*/ 392021 h 2787466"/>
              <a:gd name="connsiteX6361" fmla="*/ 2995829 w 3600000"/>
              <a:gd name="connsiteY6361" fmla="*/ 389328 h 2787466"/>
              <a:gd name="connsiteX6362" fmla="*/ 2618160 w 3600000"/>
              <a:gd name="connsiteY6362" fmla="*/ 388921 h 2787466"/>
              <a:gd name="connsiteX6363" fmla="*/ 2624539 w 3600000"/>
              <a:gd name="connsiteY6363" fmla="*/ 406702 h 2787466"/>
              <a:gd name="connsiteX6364" fmla="*/ 2622070 w 3600000"/>
              <a:gd name="connsiteY6364" fmla="*/ 414727 h 2787466"/>
              <a:gd name="connsiteX6365" fmla="*/ 2620630 w 3600000"/>
              <a:gd name="connsiteY6365" fmla="*/ 419762 h 2787466"/>
              <a:gd name="connsiteX6366" fmla="*/ 2607668 w 3600000"/>
              <a:gd name="connsiteY6366" fmla="*/ 436599 h 2787466"/>
              <a:gd name="connsiteX6367" fmla="*/ 2609108 w 3600000"/>
              <a:gd name="connsiteY6367" fmla="*/ 412681 h 2787466"/>
              <a:gd name="connsiteX6368" fmla="*/ 2618160 w 3600000"/>
              <a:gd name="connsiteY6368" fmla="*/ 388921 h 2787466"/>
              <a:gd name="connsiteX6369" fmla="*/ 2662959 w 3600000"/>
              <a:gd name="connsiteY6369" fmla="*/ 386148 h 2787466"/>
              <a:gd name="connsiteX6370" fmla="*/ 2687683 w 3600000"/>
              <a:gd name="connsiteY6370" fmla="*/ 395013 h 2787466"/>
              <a:gd name="connsiteX6371" fmla="*/ 2678412 w 3600000"/>
              <a:gd name="connsiteY6371" fmla="*/ 406094 h 2787466"/>
              <a:gd name="connsiteX6372" fmla="*/ 2672025 w 3600000"/>
              <a:gd name="connsiteY6372" fmla="*/ 395013 h 2787466"/>
              <a:gd name="connsiteX6373" fmla="*/ 2660280 w 3600000"/>
              <a:gd name="connsiteY6373" fmla="*/ 405145 h 2787466"/>
              <a:gd name="connsiteX6374" fmla="*/ 2662959 w 3600000"/>
              <a:gd name="connsiteY6374" fmla="*/ 386148 h 2787466"/>
              <a:gd name="connsiteX6375" fmla="*/ 3079511 w 3600000"/>
              <a:gd name="connsiteY6375" fmla="*/ 385007 h 2787466"/>
              <a:gd name="connsiteX6376" fmla="*/ 3082007 w 3600000"/>
              <a:gd name="connsiteY6376" fmla="*/ 390091 h 2787466"/>
              <a:gd name="connsiteX6377" fmla="*/ 3093863 w 3600000"/>
              <a:gd name="connsiteY6377" fmla="*/ 391044 h 2787466"/>
              <a:gd name="connsiteX6378" fmla="*/ 3079511 w 3600000"/>
              <a:gd name="connsiteY6378" fmla="*/ 396128 h 2787466"/>
              <a:gd name="connsiteX6379" fmla="*/ 3079511 w 3600000"/>
              <a:gd name="connsiteY6379" fmla="*/ 385007 h 2787466"/>
              <a:gd name="connsiteX6380" fmla="*/ 2508878 w 3600000"/>
              <a:gd name="connsiteY6380" fmla="*/ 377135 h 2787466"/>
              <a:gd name="connsiteX6381" fmla="*/ 2528661 w 3600000"/>
              <a:gd name="connsiteY6381" fmla="*/ 383157 h 2787466"/>
              <a:gd name="connsiteX6382" fmla="*/ 2527203 w 3600000"/>
              <a:gd name="connsiteY6382" fmla="*/ 388070 h 2787466"/>
              <a:gd name="connsiteX6383" fmla="*/ 2508878 w 3600000"/>
              <a:gd name="connsiteY6383" fmla="*/ 377135 h 2787466"/>
              <a:gd name="connsiteX6384" fmla="*/ 3115530 w 3600000"/>
              <a:gd name="connsiteY6384" fmla="*/ 372514 h 2787466"/>
              <a:gd name="connsiteX6385" fmla="*/ 3118047 w 3600000"/>
              <a:gd name="connsiteY6385" fmla="*/ 388074 h 2787466"/>
              <a:gd name="connsiteX6386" fmla="*/ 3115530 w 3600000"/>
              <a:gd name="connsiteY6386" fmla="*/ 372514 h 2787466"/>
              <a:gd name="connsiteX6387" fmla="*/ 2941816 w 3600000"/>
              <a:gd name="connsiteY6387" fmla="*/ 372283 h 2787466"/>
              <a:gd name="connsiteX6388" fmla="*/ 2940605 w 3600000"/>
              <a:gd name="connsiteY6388" fmla="*/ 399857 h 2787466"/>
              <a:gd name="connsiteX6389" fmla="*/ 2941816 w 3600000"/>
              <a:gd name="connsiteY6389" fmla="*/ 372283 h 2787466"/>
              <a:gd name="connsiteX6390" fmla="*/ 2976354 w 3600000"/>
              <a:gd name="connsiteY6390" fmla="*/ 369510 h 2787466"/>
              <a:gd name="connsiteX6391" fmla="*/ 2985725 w 3600000"/>
              <a:gd name="connsiteY6391" fmla="*/ 380452 h 2787466"/>
              <a:gd name="connsiteX6392" fmla="*/ 2976354 w 3600000"/>
              <a:gd name="connsiteY6392" fmla="*/ 385298 h 2787466"/>
              <a:gd name="connsiteX6393" fmla="*/ 2976354 w 3600000"/>
              <a:gd name="connsiteY6393" fmla="*/ 369510 h 2787466"/>
              <a:gd name="connsiteX6394" fmla="*/ 2974062 w 3600000"/>
              <a:gd name="connsiteY6394" fmla="*/ 358124 h 2787466"/>
              <a:gd name="connsiteX6395" fmla="*/ 2971399 w 3600000"/>
              <a:gd name="connsiteY6395" fmla="*/ 365935 h 2787466"/>
              <a:gd name="connsiteX6396" fmla="*/ 2974062 w 3600000"/>
              <a:gd name="connsiteY6396" fmla="*/ 358124 h 2787466"/>
              <a:gd name="connsiteX6397" fmla="*/ 2511396 w 3600000"/>
              <a:gd name="connsiteY6397" fmla="*/ 357220 h 2787466"/>
              <a:gd name="connsiteX6398" fmla="*/ 2511396 w 3600000"/>
              <a:gd name="connsiteY6398" fmla="*/ 361043 h 2787466"/>
              <a:gd name="connsiteX6399" fmla="*/ 2497974 w 3600000"/>
              <a:gd name="connsiteY6399" fmla="*/ 360014 h 2787466"/>
              <a:gd name="connsiteX6400" fmla="*/ 2511396 w 3600000"/>
              <a:gd name="connsiteY6400" fmla="*/ 357220 h 2787466"/>
              <a:gd name="connsiteX6401" fmla="*/ 2999330 w 3600000"/>
              <a:gd name="connsiteY6401" fmla="*/ 356338 h 2787466"/>
              <a:gd name="connsiteX6402" fmla="*/ 3008448 w 3600000"/>
              <a:gd name="connsiteY6402" fmla="*/ 358417 h 2787466"/>
              <a:gd name="connsiteX6403" fmla="*/ 3003267 w 3600000"/>
              <a:gd name="connsiteY6403" fmla="*/ 364496 h 2787466"/>
              <a:gd name="connsiteX6404" fmla="*/ 2999330 w 3600000"/>
              <a:gd name="connsiteY6404" fmla="*/ 356338 h 2787466"/>
              <a:gd name="connsiteX6405" fmla="*/ 2628904 w 3600000"/>
              <a:gd name="connsiteY6405" fmla="*/ 353565 h 2787466"/>
              <a:gd name="connsiteX6406" fmla="*/ 2624963 w 3600000"/>
              <a:gd name="connsiteY6406" fmla="*/ 389457 h 2787466"/>
              <a:gd name="connsiteX6407" fmla="*/ 2628904 w 3600000"/>
              <a:gd name="connsiteY6407" fmla="*/ 353565 h 2787466"/>
              <a:gd name="connsiteX6408" fmla="*/ 2169939 w 3600000"/>
              <a:gd name="connsiteY6408" fmla="*/ 351058 h 2787466"/>
              <a:gd name="connsiteX6409" fmla="*/ 2172665 w 3600000"/>
              <a:gd name="connsiteY6409" fmla="*/ 352178 h 2787466"/>
              <a:gd name="connsiteX6410" fmla="*/ 2169939 w 3600000"/>
              <a:gd name="connsiteY6410" fmla="*/ 351058 h 2787466"/>
              <a:gd name="connsiteX6411" fmla="*/ 3027113 w 3600000"/>
              <a:gd name="connsiteY6411" fmla="*/ 346194 h 2787466"/>
              <a:gd name="connsiteX6412" fmla="*/ 3031159 w 3600000"/>
              <a:gd name="connsiteY6412" fmla="*/ 348250 h 2787466"/>
              <a:gd name="connsiteX6413" fmla="*/ 3023066 w 3600000"/>
              <a:gd name="connsiteY6413" fmla="*/ 354100 h 2787466"/>
              <a:gd name="connsiteX6414" fmla="*/ 3027113 w 3600000"/>
              <a:gd name="connsiteY6414" fmla="*/ 346194 h 2787466"/>
              <a:gd name="connsiteX6415" fmla="*/ 3064127 w 3600000"/>
              <a:gd name="connsiteY6415" fmla="*/ 333216 h 2787466"/>
              <a:gd name="connsiteX6416" fmla="*/ 3063176 w 3600000"/>
              <a:gd name="connsiteY6416" fmla="*/ 336078 h 2787466"/>
              <a:gd name="connsiteX6417" fmla="*/ 3064043 w 3600000"/>
              <a:gd name="connsiteY6417" fmla="*/ 333467 h 2787466"/>
              <a:gd name="connsiteX6418" fmla="*/ 2727625 w 3600000"/>
              <a:gd name="connsiteY6418" fmla="*/ 331380 h 2787466"/>
              <a:gd name="connsiteX6419" fmla="*/ 2718291 w 3600000"/>
              <a:gd name="connsiteY6419" fmla="*/ 392230 h 2787466"/>
              <a:gd name="connsiteX6420" fmla="*/ 2698793 w 3600000"/>
              <a:gd name="connsiteY6420" fmla="*/ 385136 h 2787466"/>
              <a:gd name="connsiteX6421" fmla="*/ 2714350 w 3600000"/>
              <a:gd name="connsiteY6421" fmla="*/ 385136 h 2787466"/>
              <a:gd name="connsiteX6422" fmla="*/ 2727625 w 3600000"/>
              <a:gd name="connsiteY6422" fmla="*/ 331380 h 2787466"/>
              <a:gd name="connsiteX6423" fmla="*/ 3065178 w 3600000"/>
              <a:gd name="connsiteY6423" fmla="*/ 330053 h 2787466"/>
              <a:gd name="connsiteX6424" fmla="*/ 3064127 w 3600000"/>
              <a:gd name="connsiteY6424" fmla="*/ 333216 h 2787466"/>
              <a:gd name="connsiteX6425" fmla="*/ 3064947 w 3600000"/>
              <a:gd name="connsiteY6425" fmla="*/ 330748 h 2787466"/>
              <a:gd name="connsiteX6426" fmla="*/ 3029909 w 3600000"/>
              <a:gd name="connsiteY6426" fmla="*/ 329993 h 2787466"/>
              <a:gd name="connsiteX6427" fmla="*/ 3027301 w 3600000"/>
              <a:gd name="connsiteY6427" fmla="*/ 338847 h 2787466"/>
              <a:gd name="connsiteX6428" fmla="*/ 3029909 w 3600000"/>
              <a:gd name="connsiteY6428" fmla="*/ 329993 h 2787466"/>
              <a:gd name="connsiteX6429" fmla="*/ 3065778 w 3600000"/>
              <a:gd name="connsiteY6429" fmla="*/ 328246 h 2787466"/>
              <a:gd name="connsiteX6430" fmla="*/ 3065178 w 3600000"/>
              <a:gd name="connsiteY6430" fmla="*/ 330053 h 2787466"/>
              <a:gd name="connsiteX6431" fmla="*/ 3065489 w 3600000"/>
              <a:gd name="connsiteY6431" fmla="*/ 329116 h 2787466"/>
              <a:gd name="connsiteX6432" fmla="*/ 3065778 w 3600000"/>
              <a:gd name="connsiteY6432" fmla="*/ 328246 h 2787466"/>
              <a:gd name="connsiteX6433" fmla="*/ 2980545 w 3600000"/>
              <a:gd name="connsiteY6433" fmla="*/ 326527 h 2787466"/>
              <a:gd name="connsiteX6434" fmla="*/ 2987968 w 3600000"/>
              <a:gd name="connsiteY6434" fmla="*/ 349473 h 2787466"/>
              <a:gd name="connsiteX6435" fmla="*/ 2977937 w 3600000"/>
              <a:gd name="connsiteY6435" fmla="*/ 352479 h 2787466"/>
              <a:gd name="connsiteX6436" fmla="*/ 2980545 w 3600000"/>
              <a:gd name="connsiteY6436" fmla="*/ 326527 h 2787466"/>
              <a:gd name="connsiteX6437" fmla="*/ 3153001 w 3600000"/>
              <a:gd name="connsiteY6437" fmla="*/ 325899 h 2787466"/>
              <a:gd name="connsiteX6438" fmla="*/ 3163835 w 3600000"/>
              <a:gd name="connsiteY6438" fmla="*/ 330686 h 2787466"/>
              <a:gd name="connsiteX6439" fmla="*/ 3162397 w 3600000"/>
              <a:gd name="connsiteY6439" fmla="*/ 337465 h 2787466"/>
              <a:gd name="connsiteX6440" fmla="*/ 3140414 w 3600000"/>
              <a:gd name="connsiteY6440" fmla="*/ 327759 h 2787466"/>
              <a:gd name="connsiteX6441" fmla="*/ 3149454 w 3600000"/>
              <a:gd name="connsiteY6441" fmla="*/ 327759 h 2787466"/>
              <a:gd name="connsiteX6442" fmla="*/ 3153001 w 3600000"/>
              <a:gd name="connsiteY6442" fmla="*/ 325899 h 2787466"/>
              <a:gd name="connsiteX6443" fmla="*/ 2598838 w 3600000"/>
              <a:gd name="connsiteY6443" fmla="*/ 323754 h 2787466"/>
              <a:gd name="connsiteX6444" fmla="*/ 2603854 w 3600000"/>
              <a:gd name="connsiteY6444" fmla="*/ 332611 h 2787466"/>
              <a:gd name="connsiteX6445" fmla="*/ 2598838 w 3600000"/>
              <a:gd name="connsiteY6445" fmla="*/ 323754 h 2787466"/>
              <a:gd name="connsiteX6446" fmla="*/ 2491921 w 3600000"/>
              <a:gd name="connsiteY6446" fmla="*/ 323342 h 2787466"/>
              <a:gd name="connsiteX6447" fmla="*/ 2496990 w 3600000"/>
              <a:gd name="connsiteY6447" fmla="*/ 329679 h 2787466"/>
              <a:gd name="connsiteX6448" fmla="*/ 2515037 w 3600000"/>
              <a:gd name="connsiteY6448" fmla="*/ 330654 h 2787466"/>
              <a:gd name="connsiteX6449" fmla="*/ 2493138 w 3600000"/>
              <a:gd name="connsiteY6449" fmla="*/ 331629 h 2787466"/>
              <a:gd name="connsiteX6450" fmla="*/ 2491921 w 3600000"/>
              <a:gd name="connsiteY6450" fmla="*/ 323342 h 2787466"/>
              <a:gd name="connsiteX6451" fmla="*/ 3012838 w 3600000"/>
              <a:gd name="connsiteY6451" fmla="*/ 322367 h 2787466"/>
              <a:gd name="connsiteX6452" fmla="*/ 3011616 w 3600000"/>
              <a:gd name="connsiteY6452" fmla="*/ 331225 h 2787466"/>
              <a:gd name="connsiteX6453" fmla="*/ 3012838 w 3600000"/>
              <a:gd name="connsiteY6453" fmla="*/ 322367 h 2787466"/>
              <a:gd name="connsiteX6454" fmla="*/ 2632012 w 3600000"/>
              <a:gd name="connsiteY6454" fmla="*/ 321674 h 2787466"/>
              <a:gd name="connsiteX6455" fmla="*/ 2641167 w 3600000"/>
              <a:gd name="connsiteY6455" fmla="*/ 332460 h 2787466"/>
              <a:gd name="connsiteX6456" fmla="*/ 2625706 w 3600000"/>
              <a:gd name="connsiteY6456" fmla="*/ 337463 h 2787466"/>
              <a:gd name="connsiteX6457" fmla="*/ 2632012 w 3600000"/>
              <a:gd name="connsiteY6457" fmla="*/ 321674 h 2787466"/>
              <a:gd name="connsiteX6458" fmla="*/ 2547169 w 3600000"/>
              <a:gd name="connsiteY6458" fmla="*/ 320762 h 2787466"/>
              <a:gd name="connsiteX6459" fmla="*/ 2553442 w 3600000"/>
              <a:gd name="connsiteY6459" fmla="*/ 321878 h 2787466"/>
              <a:gd name="connsiteX6460" fmla="*/ 2544280 w 3600000"/>
              <a:gd name="connsiteY6460" fmla="*/ 324855 h 2787466"/>
              <a:gd name="connsiteX6461" fmla="*/ 2542822 w 3600000"/>
              <a:gd name="connsiteY6461" fmla="*/ 341622 h 2787466"/>
              <a:gd name="connsiteX6462" fmla="*/ 2538865 w 3600000"/>
              <a:gd name="connsiteY6462" fmla="*/ 321878 h 2787466"/>
              <a:gd name="connsiteX6463" fmla="*/ 2547169 w 3600000"/>
              <a:gd name="connsiteY6463" fmla="*/ 320762 h 2787466"/>
              <a:gd name="connsiteX6464" fmla="*/ 2960290 w 3600000"/>
              <a:gd name="connsiteY6464" fmla="*/ 316821 h 2787466"/>
              <a:gd name="connsiteX6465" fmla="*/ 2954966 w 3600000"/>
              <a:gd name="connsiteY6465" fmla="*/ 345781 h 2787466"/>
              <a:gd name="connsiteX6466" fmla="*/ 2960290 w 3600000"/>
              <a:gd name="connsiteY6466" fmla="*/ 316821 h 2787466"/>
              <a:gd name="connsiteX6467" fmla="*/ 2590385 w 3600000"/>
              <a:gd name="connsiteY6467" fmla="*/ 316821 h 2787466"/>
              <a:gd name="connsiteX6468" fmla="*/ 2604679 w 3600000"/>
              <a:gd name="connsiteY6468" fmla="*/ 321941 h 2787466"/>
              <a:gd name="connsiteX6469" fmla="*/ 2591610 w 3600000"/>
              <a:gd name="connsiteY6469" fmla="*/ 322901 h 2787466"/>
              <a:gd name="connsiteX6470" fmla="*/ 2590385 w 3600000"/>
              <a:gd name="connsiteY6470" fmla="*/ 316821 h 2787466"/>
              <a:gd name="connsiteX6471" fmla="*/ 2694472 w 3600000"/>
              <a:gd name="connsiteY6471" fmla="*/ 312456 h 2787466"/>
              <a:gd name="connsiteX6472" fmla="*/ 2703059 w 3600000"/>
              <a:gd name="connsiteY6472" fmla="*/ 312626 h 2787466"/>
              <a:gd name="connsiteX6473" fmla="*/ 2706765 w 3600000"/>
              <a:gd name="connsiteY6473" fmla="*/ 327557 h 2787466"/>
              <a:gd name="connsiteX6474" fmla="*/ 2689881 w 3600000"/>
              <a:gd name="connsiteY6474" fmla="*/ 334472 h 2787466"/>
              <a:gd name="connsiteX6475" fmla="*/ 2685969 w 3600000"/>
              <a:gd name="connsiteY6475" fmla="*/ 353334 h 2787466"/>
              <a:gd name="connsiteX6476" fmla="*/ 2695234 w 3600000"/>
              <a:gd name="connsiteY6476" fmla="*/ 354277 h 2787466"/>
              <a:gd name="connsiteX6477" fmla="*/ 2683498 w 3600000"/>
              <a:gd name="connsiteY6477" fmla="*/ 388071 h 2787466"/>
              <a:gd name="connsiteX6478" fmla="*/ 2666613 w 3600000"/>
              <a:gd name="connsiteY6478" fmla="*/ 373296 h 2787466"/>
              <a:gd name="connsiteX6479" fmla="*/ 2669155 w 3600000"/>
              <a:gd name="connsiteY6479" fmla="*/ 363119 h 2787466"/>
              <a:gd name="connsiteX6480" fmla="*/ 2665925 w 3600000"/>
              <a:gd name="connsiteY6480" fmla="*/ 360858 h 2787466"/>
              <a:gd name="connsiteX6481" fmla="*/ 2668882 w 3600000"/>
              <a:gd name="connsiteY6481" fmla="*/ 348711 h 2787466"/>
              <a:gd name="connsiteX6482" fmla="*/ 2674115 w 3600000"/>
              <a:gd name="connsiteY6482" fmla="*/ 351905 h 2787466"/>
              <a:gd name="connsiteX6483" fmla="*/ 2674538 w 3600000"/>
              <a:gd name="connsiteY6483" fmla="*/ 353665 h 2787466"/>
              <a:gd name="connsiteX6484" fmla="*/ 2676600 w 3600000"/>
              <a:gd name="connsiteY6484" fmla="*/ 350623 h 2787466"/>
              <a:gd name="connsiteX6485" fmla="*/ 2672997 w 3600000"/>
              <a:gd name="connsiteY6485" fmla="*/ 332430 h 2787466"/>
              <a:gd name="connsiteX6486" fmla="*/ 2689881 w 3600000"/>
              <a:gd name="connsiteY6486" fmla="*/ 324571 h 2787466"/>
              <a:gd name="connsiteX6487" fmla="*/ 2683498 w 3600000"/>
              <a:gd name="connsiteY6487" fmla="*/ 321584 h 2787466"/>
              <a:gd name="connsiteX6488" fmla="*/ 2694472 w 3600000"/>
              <a:gd name="connsiteY6488" fmla="*/ 312456 h 2787466"/>
              <a:gd name="connsiteX6489" fmla="*/ 2734485 w 3600000"/>
              <a:gd name="connsiteY6489" fmla="*/ 303622 h 2787466"/>
              <a:gd name="connsiteX6490" fmla="*/ 2732920 w 3600000"/>
              <a:gd name="connsiteY6490" fmla="*/ 321519 h 2787466"/>
              <a:gd name="connsiteX6491" fmla="*/ 2730295 w 3600000"/>
              <a:gd name="connsiteY6491" fmla="*/ 313590 h 2787466"/>
              <a:gd name="connsiteX6492" fmla="*/ 2734485 w 3600000"/>
              <a:gd name="connsiteY6492" fmla="*/ 303622 h 2787466"/>
              <a:gd name="connsiteX6493" fmla="*/ 3126149 w 3600000"/>
              <a:gd name="connsiteY6493" fmla="*/ 301984 h 2787466"/>
              <a:gd name="connsiteX6494" fmla="*/ 3122247 w 3600000"/>
              <a:gd name="connsiteY6494" fmla="*/ 340927 h 2787466"/>
              <a:gd name="connsiteX6495" fmla="*/ 3126149 w 3600000"/>
              <a:gd name="connsiteY6495" fmla="*/ 301984 h 2787466"/>
              <a:gd name="connsiteX6496" fmla="*/ 2634812 w 3600000"/>
              <a:gd name="connsiteY6496" fmla="*/ 301511 h 2787466"/>
              <a:gd name="connsiteX6497" fmla="*/ 2639947 w 3600000"/>
              <a:gd name="connsiteY6497" fmla="*/ 312237 h 2787466"/>
              <a:gd name="connsiteX6498" fmla="*/ 2656789 w 3600000"/>
              <a:gd name="connsiteY6498" fmla="*/ 315191 h 2787466"/>
              <a:gd name="connsiteX6499" fmla="*/ 2629678 w 3600000"/>
              <a:gd name="connsiteY6499" fmla="*/ 319077 h 2787466"/>
              <a:gd name="connsiteX6500" fmla="*/ 2632142 w 3600000"/>
              <a:gd name="connsiteY6500" fmla="*/ 318145 h 2787466"/>
              <a:gd name="connsiteX6501" fmla="*/ 2634812 w 3600000"/>
              <a:gd name="connsiteY6501" fmla="*/ 301511 h 2787466"/>
              <a:gd name="connsiteX6502" fmla="*/ 2696224 w 3600000"/>
              <a:gd name="connsiteY6502" fmla="*/ 298103 h 2787466"/>
              <a:gd name="connsiteX6503" fmla="*/ 2698814 w 3600000"/>
              <a:gd name="connsiteY6503" fmla="*/ 301032 h 2787466"/>
              <a:gd name="connsiteX6504" fmla="*/ 2698777 w 3600000"/>
              <a:gd name="connsiteY6504" fmla="*/ 305465 h 2787466"/>
              <a:gd name="connsiteX6505" fmla="*/ 2704038 w 3600000"/>
              <a:gd name="connsiteY6505" fmla="*/ 305984 h 2787466"/>
              <a:gd name="connsiteX6506" fmla="*/ 2700885 w 3600000"/>
              <a:gd name="connsiteY6506" fmla="*/ 309164 h 2787466"/>
              <a:gd name="connsiteX6507" fmla="*/ 2696459 w 3600000"/>
              <a:gd name="connsiteY6507" fmla="*/ 310463 h 2787466"/>
              <a:gd name="connsiteX6508" fmla="*/ 2695823 w 3600000"/>
              <a:gd name="connsiteY6508" fmla="*/ 311579 h 2787466"/>
              <a:gd name="connsiteX6509" fmla="*/ 2689707 w 3600000"/>
              <a:gd name="connsiteY6509" fmla="*/ 313892 h 2787466"/>
              <a:gd name="connsiteX6510" fmla="*/ 2691260 w 3600000"/>
              <a:gd name="connsiteY6510" fmla="*/ 310128 h 2787466"/>
              <a:gd name="connsiteX6511" fmla="*/ 2690523 w 3600000"/>
              <a:gd name="connsiteY6511" fmla="*/ 310009 h 2787466"/>
              <a:gd name="connsiteX6512" fmla="*/ 2689477 w 3600000"/>
              <a:gd name="connsiteY6512" fmla="*/ 305984 h 2787466"/>
              <a:gd name="connsiteX6513" fmla="*/ 2693116 w 3600000"/>
              <a:gd name="connsiteY6513" fmla="*/ 305633 h 2787466"/>
              <a:gd name="connsiteX6514" fmla="*/ 3106372 w 3600000"/>
              <a:gd name="connsiteY6514" fmla="*/ 294637 h 2787466"/>
              <a:gd name="connsiteX6515" fmla="*/ 3098870 w 3600000"/>
              <a:gd name="connsiteY6515" fmla="*/ 300605 h 2787466"/>
              <a:gd name="connsiteX6516" fmla="*/ 3110225 w 3600000"/>
              <a:gd name="connsiteY6516" fmla="*/ 303590 h 2787466"/>
              <a:gd name="connsiteX6517" fmla="*/ 3106372 w 3600000"/>
              <a:gd name="connsiteY6517" fmla="*/ 294637 h 2787466"/>
              <a:gd name="connsiteX6518" fmla="*/ 2549781 w 3600000"/>
              <a:gd name="connsiteY6518" fmla="*/ 294637 h 2787466"/>
              <a:gd name="connsiteX6519" fmla="*/ 2552484 w 3600000"/>
              <a:gd name="connsiteY6519" fmla="*/ 310426 h 2787466"/>
              <a:gd name="connsiteX6520" fmla="*/ 2535230 w 3600000"/>
              <a:gd name="connsiteY6520" fmla="*/ 303547 h 2787466"/>
              <a:gd name="connsiteX6521" fmla="*/ 2549781 w 3600000"/>
              <a:gd name="connsiteY6521" fmla="*/ 294637 h 2787466"/>
              <a:gd name="connsiteX6522" fmla="*/ 2656343 w 3600000"/>
              <a:gd name="connsiteY6522" fmla="*/ 292557 h 2787466"/>
              <a:gd name="connsiteX6523" fmla="*/ 2673146 w 3600000"/>
              <a:gd name="connsiteY6523" fmla="*/ 292557 h 2787466"/>
              <a:gd name="connsiteX6524" fmla="*/ 2656343 w 3600000"/>
              <a:gd name="connsiteY6524" fmla="*/ 292557 h 2787466"/>
              <a:gd name="connsiteX6525" fmla="*/ 2498390 w 3600000"/>
              <a:gd name="connsiteY6525" fmla="*/ 292557 h 2787466"/>
              <a:gd name="connsiteX6526" fmla="*/ 2498390 w 3600000"/>
              <a:gd name="connsiteY6526" fmla="*/ 303491 h 2787466"/>
              <a:gd name="connsiteX6527" fmla="*/ 2498390 w 3600000"/>
              <a:gd name="connsiteY6527" fmla="*/ 292557 h 2787466"/>
              <a:gd name="connsiteX6528" fmla="*/ 2711302 w 3600000"/>
              <a:gd name="connsiteY6528" fmla="*/ 291648 h 2787466"/>
              <a:gd name="connsiteX6529" fmla="*/ 2710024 w 3600000"/>
              <a:gd name="connsiteY6529" fmla="*/ 297553 h 2787466"/>
              <a:gd name="connsiteX6530" fmla="*/ 2711302 w 3600000"/>
              <a:gd name="connsiteY6530" fmla="*/ 291648 h 2787466"/>
              <a:gd name="connsiteX6531" fmla="*/ 2503253 w 3600000"/>
              <a:gd name="connsiteY6531" fmla="*/ 274061 h 2787466"/>
              <a:gd name="connsiteX6532" fmla="*/ 2515037 w 3600000"/>
              <a:gd name="connsiteY6532" fmla="*/ 282143 h 2787466"/>
              <a:gd name="connsiteX6533" fmla="*/ 2508575 w 3600000"/>
              <a:gd name="connsiteY6533" fmla="*/ 286157 h 2787466"/>
              <a:gd name="connsiteX6534" fmla="*/ 2497065 w 3600000"/>
              <a:gd name="connsiteY6534" fmla="*/ 275079 h 2787466"/>
              <a:gd name="connsiteX6535" fmla="*/ 2503253 w 3600000"/>
              <a:gd name="connsiteY6535" fmla="*/ 274061 h 2787466"/>
              <a:gd name="connsiteX6536" fmla="*/ 3039817 w 3600000"/>
              <a:gd name="connsiteY6536" fmla="*/ 268292 h 2787466"/>
              <a:gd name="connsiteX6537" fmla="*/ 3044931 w 3600000"/>
              <a:gd name="connsiteY6537" fmla="*/ 273153 h 2787466"/>
              <a:gd name="connsiteX6538" fmla="*/ 3033475 w 3600000"/>
              <a:gd name="connsiteY6538" fmla="*/ 275192 h 2787466"/>
              <a:gd name="connsiteX6539" fmla="*/ 3037362 w 3600000"/>
              <a:gd name="connsiteY6539" fmla="*/ 287109 h 2787466"/>
              <a:gd name="connsiteX6540" fmla="*/ 3048818 w 3600000"/>
              <a:gd name="connsiteY6540" fmla="*/ 279112 h 2787466"/>
              <a:gd name="connsiteX6541" fmla="*/ 3035930 w 3600000"/>
              <a:gd name="connsiteY6541" fmla="*/ 300909 h 2787466"/>
              <a:gd name="connsiteX6542" fmla="*/ 3034702 w 3600000"/>
              <a:gd name="connsiteY6542" fmla="*/ 309847 h 2787466"/>
              <a:gd name="connsiteX6543" fmla="*/ 3043703 w 3600000"/>
              <a:gd name="connsiteY6543" fmla="*/ 320824 h 2787466"/>
              <a:gd name="connsiteX6544" fmla="*/ 3024269 w 3600000"/>
              <a:gd name="connsiteY6544" fmla="*/ 314865 h 2787466"/>
              <a:gd name="connsiteX6545" fmla="*/ 3032043 w 3600000"/>
              <a:gd name="connsiteY6545" fmla="*/ 308906 h 2787466"/>
              <a:gd name="connsiteX6546" fmla="*/ 3025701 w 3600000"/>
              <a:gd name="connsiteY6546" fmla="*/ 308906 h 2787466"/>
              <a:gd name="connsiteX6547" fmla="*/ 3026929 w 3600000"/>
              <a:gd name="connsiteY6547" fmla="*/ 302006 h 2787466"/>
              <a:gd name="connsiteX6548" fmla="*/ 3032043 w 3600000"/>
              <a:gd name="connsiteY6548" fmla="*/ 274251 h 2787466"/>
              <a:gd name="connsiteX6549" fmla="*/ 3039817 w 3600000"/>
              <a:gd name="connsiteY6549" fmla="*/ 268292 h 2787466"/>
              <a:gd name="connsiteX6550" fmla="*/ 2722506 w 3600000"/>
              <a:gd name="connsiteY6550" fmla="*/ 266213 h 2787466"/>
              <a:gd name="connsiteX6551" fmla="*/ 2730390 w 3600000"/>
              <a:gd name="connsiteY6551" fmla="*/ 275123 h 2787466"/>
              <a:gd name="connsiteX6552" fmla="*/ 2713376 w 3600000"/>
              <a:gd name="connsiteY6552" fmla="*/ 273091 h 2787466"/>
              <a:gd name="connsiteX6553" fmla="*/ 2709433 w 3600000"/>
              <a:gd name="connsiteY6553" fmla="*/ 278093 h 2787466"/>
              <a:gd name="connsiteX6554" fmla="*/ 2704246 w 3600000"/>
              <a:gd name="connsiteY6554" fmla="*/ 275123 h 2787466"/>
              <a:gd name="connsiteX6555" fmla="*/ 2708188 w 3600000"/>
              <a:gd name="connsiteY6555" fmla="*/ 269183 h 2787466"/>
              <a:gd name="connsiteX6556" fmla="*/ 2722506 w 3600000"/>
              <a:gd name="connsiteY6556" fmla="*/ 266213 h 2787466"/>
              <a:gd name="connsiteX6557" fmla="*/ 3048893 w 3600000"/>
              <a:gd name="connsiteY6557" fmla="*/ 262746 h 2787466"/>
              <a:gd name="connsiteX6558" fmla="*/ 3055446 w 3600000"/>
              <a:gd name="connsiteY6558" fmla="*/ 262746 h 2787466"/>
              <a:gd name="connsiteX6559" fmla="*/ 3058108 w 3600000"/>
              <a:gd name="connsiteY6559" fmla="*/ 269525 h 2787466"/>
              <a:gd name="connsiteX6560" fmla="*/ 3050326 w 3600000"/>
              <a:gd name="connsiteY6560" fmla="*/ 279231 h 2787466"/>
              <a:gd name="connsiteX6561" fmla="*/ 3048893 w 3600000"/>
              <a:gd name="connsiteY6561" fmla="*/ 262746 h 2787466"/>
              <a:gd name="connsiteX6562" fmla="*/ 3023066 w 3600000"/>
              <a:gd name="connsiteY6562" fmla="*/ 259973 h 2787466"/>
              <a:gd name="connsiteX6563" fmla="*/ 3024344 w 3600000"/>
              <a:gd name="connsiteY6563" fmla="*/ 271606 h 2787466"/>
              <a:gd name="connsiteX6564" fmla="*/ 3023066 w 3600000"/>
              <a:gd name="connsiteY6564" fmla="*/ 259973 h 2787466"/>
              <a:gd name="connsiteX6565" fmla="*/ 3116739 w 3600000"/>
              <a:gd name="connsiteY6565" fmla="*/ 256757 h 2787466"/>
              <a:gd name="connsiteX6566" fmla="*/ 3135018 w 3600000"/>
              <a:gd name="connsiteY6566" fmla="*/ 256757 h 2787466"/>
              <a:gd name="connsiteX6567" fmla="*/ 3136250 w 3600000"/>
              <a:gd name="connsiteY6567" fmla="*/ 266668 h 2787466"/>
              <a:gd name="connsiteX6568" fmla="*/ 3121873 w 3600000"/>
              <a:gd name="connsiteY6568" fmla="*/ 258802 h 2787466"/>
              <a:gd name="connsiteX6569" fmla="*/ 3127214 w 3600000"/>
              <a:gd name="connsiteY6569" fmla="*/ 292626 h 2787466"/>
              <a:gd name="connsiteX6570" fmla="*/ 3123312 w 3600000"/>
              <a:gd name="connsiteY6570" fmla="*/ 296559 h 2787466"/>
              <a:gd name="connsiteX6571" fmla="*/ 3111604 w 3600000"/>
              <a:gd name="connsiteY6571" fmla="*/ 294514 h 2787466"/>
              <a:gd name="connsiteX6572" fmla="*/ 3116739 w 3600000"/>
              <a:gd name="connsiteY6572" fmla="*/ 256757 h 2787466"/>
              <a:gd name="connsiteX6573" fmla="*/ 3096405 w 3600000"/>
              <a:gd name="connsiteY6573" fmla="*/ 255120 h 2787466"/>
              <a:gd name="connsiteX6574" fmla="*/ 3105421 w 3600000"/>
              <a:gd name="connsiteY6574" fmla="*/ 279944 h 2787466"/>
              <a:gd name="connsiteX6575" fmla="*/ 3104192 w 3600000"/>
              <a:gd name="connsiteY6575" fmla="*/ 291013 h 2787466"/>
              <a:gd name="connsiteX6576" fmla="*/ 3088619 w 3600000"/>
              <a:gd name="connsiteY6576" fmla="*/ 265082 h 2787466"/>
              <a:gd name="connsiteX6577" fmla="*/ 3096405 w 3600000"/>
              <a:gd name="connsiteY6577" fmla="*/ 255120 h 2787466"/>
              <a:gd name="connsiteX6578" fmla="*/ 3077559 w 3600000"/>
              <a:gd name="connsiteY6578" fmla="*/ 248881 h 2787466"/>
              <a:gd name="connsiteX6579" fmla="*/ 3078780 w 3600000"/>
              <a:gd name="connsiteY6579" fmla="*/ 264670 h 2787466"/>
              <a:gd name="connsiteX6580" fmla="*/ 3077559 w 3600000"/>
              <a:gd name="connsiteY6580" fmla="*/ 248881 h 2787466"/>
              <a:gd name="connsiteX6581" fmla="*/ 2713041 w 3600000"/>
              <a:gd name="connsiteY6581" fmla="*/ 243191 h 2787466"/>
              <a:gd name="connsiteX6582" fmla="*/ 2710996 w 3600000"/>
              <a:gd name="connsiteY6582" fmla="*/ 249419 h 2787466"/>
              <a:gd name="connsiteX6583" fmla="*/ 2710996 w 3600000"/>
              <a:gd name="connsiteY6583" fmla="*/ 243514 h 2787466"/>
              <a:gd name="connsiteX6584" fmla="*/ 2713041 w 3600000"/>
              <a:gd name="connsiteY6584" fmla="*/ 243191 h 2787466"/>
              <a:gd name="connsiteX6585" fmla="*/ 2732700 w 3600000"/>
              <a:gd name="connsiteY6585" fmla="*/ 241949 h 2787466"/>
              <a:gd name="connsiteX6586" fmla="*/ 2737668 w 3600000"/>
              <a:gd name="connsiteY6586" fmla="*/ 245974 h 2787466"/>
              <a:gd name="connsiteX6587" fmla="*/ 2731506 w 3600000"/>
              <a:gd name="connsiteY6587" fmla="*/ 255726 h 2787466"/>
              <a:gd name="connsiteX6588" fmla="*/ 2732700 w 3600000"/>
              <a:gd name="connsiteY6588" fmla="*/ 241949 h 2787466"/>
              <a:gd name="connsiteX6589" fmla="*/ 2745843 w 3600000"/>
              <a:gd name="connsiteY6589" fmla="*/ 238440 h 2787466"/>
              <a:gd name="connsiteX6590" fmla="*/ 2745843 w 3600000"/>
              <a:gd name="connsiteY6590" fmla="*/ 247379 h 2787466"/>
              <a:gd name="connsiteX6591" fmla="*/ 2745843 w 3600000"/>
              <a:gd name="connsiteY6591" fmla="*/ 238440 h 2787466"/>
              <a:gd name="connsiteX6592" fmla="*/ 3076277 w 3600000"/>
              <a:gd name="connsiteY6592" fmla="*/ 234567 h 2787466"/>
              <a:gd name="connsiteX6593" fmla="*/ 3075032 w 3600000"/>
              <a:gd name="connsiteY6593" fmla="*/ 249418 h 2787466"/>
              <a:gd name="connsiteX6594" fmla="*/ 3076277 w 3600000"/>
              <a:gd name="connsiteY6594" fmla="*/ 234567 h 2787466"/>
              <a:gd name="connsiteX6595" fmla="*/ 2705908 w 3600000"/>
              <a:gd name="connsiteY6595" fmla="*/ 233880 h 2787466"/>
              <a:gd name="connsiteX6596" fmla="*/ 2720395 w 3600000"/>
              <a:gd name="connsiteY6596" fmla="*/ 237403 h 2787466"/>
              <a:gd name="connsiteX6597" fmla="*/ 2695471 w 3600000"/>
              <a:gd name="connsiteY6597" fmla="*/ 238328 h 2787466"/>
              <a:gd name="connsiteX6598" fmla="*/ 2705908 w 3600000"/>
              <a:gd name="connsiteY6598" fmla="*/ 233880 h 2787466"/>
              <a:gd name="connsiteX6599" fmla="*/ 2673636 w 3600000"/>
              <a:gd name="connsiteY6599" fmla="*/ 230163 h 2787466"/>
              <a:gd name="connsiteX6600" fmla="*/ 2676291 w 3600000"/>
              <a:gd name="connsiteY6600" fmla="*/ 240399 h 2787466"/>
              <a:gd name="connsiteX6601" fmla="*/ 2673636 w 3600000"/>
              <a:gd name="connsiteY6601" fmla="*/ 230163 h 2787466"/>
              <a:gd name="connsiteX6602" fmla="*/ 2950741 w 3600000"/>
              <a:gd name="connsiteY6602" fmla="*/ 229469 h 2787466"/>
              <a:gd name="connsiteX6603" fmla="*/ 2953510 w 3600000"/>
              <a:gd name="connsiteY6603" fmla="*/ 263977 h 2787466"/>
              <a:gd name="connsiteX6604" fmla="*/ 2944139 w 3600000"/>
              <a:gd name="connsiteY6604" fmla="*/ 263977 h 2787466"/>
              <a:gd name="connsiteX6605" fmla="*/ 2950741 w 3600000"/>
              <a:gd name="connsiteY6605" fmla="*/ 229469 h 2787466"/>
              <a:gd name="connsiteX6606" fmla="*/ 2668700 w 3600000"/>
              <a:gd name="connsiteY6606" fmla="*/ 223231 h 2787466"/>
              <a:gd name="connsiteX6607" fmla="*/ 2663354 w 3600000"/>
              <a:gd name="connsiteY6607" fmla="*/ 239019 h 2787466"/>
              <a:gd name="connsiteX6608" fmla="*/ 2668700 w 3600000"/>
              <a:gd name="connsiteY6608" fmla="*/ 223231 h 2787466"/>
              <a:gd name="connsiteX6609" fmla="*/ 3134962 w 3600000"/>
              <a:gd name="connsiteY6609" fmla="*/ 214217 h 2787466"/>
              <a:gd name="connsiteX6610" fmla="*/ 3148048 w 3600000"/>
              <a:gd name="connsiteY6610" fmla="*/ 216256 h 2787466"/>
              <a:gd name="connsiteX6611" fmla="*/ 3140154 w 3600000"/>
              <a:gd name="connsiteY6611" fmla="*/ 227233 h 2787466"/>
              <a:gd name="connsiteX6612" fmla="*/ 3134962 w 3600000"/>
              <a:gd name="connsiteY6612" fmla="*/ 214217 h 2787466"/>
              <a:gd name="connsiteX6613" fmla="*/ 2709193 w 3600000"/>
              <a:gd name="connsiteY6613" fmla="*/ 201045 h 2787466"/>
              <a:gd name="connsiteX6614" fmla="*/ 2688798 w 3600000"/>
              <a:gd name="connsiteY6614" fmla="*/ 205051 h 2787466"/>
              <a:gd name="connsiteX6615" fmla="*/ 2709193 w 3600000"/>
              <a:gd name="connsiteY6615" fmla="*/ 201045 h 2787466"/>
              <a:gd name="connsiteX6616" fmla="*/ 3120222 w 3600000"/>
              <a:gd name="connsiteY6616" fmla="*/ 200352 h 2787466"/>
              <a:gd name="connsiteX6617" fmla="*/ 3127895 w 3600000"/>
              <a:gd name="connsiteY6617" fmla="*/ 220318 h 2787466"/>
              <a:gd name="connsiteX6618" fmla="*/ 3111337 w 3600000"/>
              <a:gd name="connsiteY6618" fmla="*/ 208276 h 2787466"/>
              <a:gd name="connsiteX6619" fmla="*/ 3117596 w 3600000"/>
              <a:gd name="connsiteY6619" fmla="*/ 206374 h 2787466"/>
              <a:gd name="connsiteX6620" fmla="*/ 3120222 w 3600000"/>
              <a:gd name="connsiteY6620" fmla="*/ 200352 h 2787466"/>
              <a:gd name="connsiteX6621" fmla="*/ 2813168 w 3600000"/>
              <a:gd name="connsiteY6621" fmla="*/ 193420 h 2787466"/>
              <a:gd name="connsiteX6622" fmla="*/ 2822220 w 3600000"/>
              <a:gd name="connsiteY6622" fmla="*/ 194348 h 2787466"/>
              <a:gd name="connsiteX6623" fmla="*/ 2823455 w 3600000"/>
              <a:gd name="connsiteY6623" fmla="*/ 205177 h 2787466"/>
              <a:gd name="connsiteX6624" fmla="*/ 2814402 w 3600000"/>
              <a:gd name="connsiteY6624" fmla="*/ 207961 h 2787466"/>
              <a:gd name="connsiteX6625" fmla="*/ 2805349 w 3600000"/>
              <a:gd name="connsiteY6625" fmla="*/ 211983 h 2787466"/>
              <a:gd name="connsiteX6626" fmla="*/ 2792388 w 3600000"/>
              <a:gd name="connsiteY6626" fmla="*/ 206105 h 2787466"/>
              <a:gd name="connsiteX6627" fmla="*/ 2813168 w 3600000"/>
              <a:gd name="connsiteY6627" fmla="*/ 193420 h 2787466"/>
              <a:gd name="connsiteX6628" fmla="*/ 2711970 w 3600000"/>
              <a:gd name="connsiteY6628" fmla="*/ 181634 h 2787466"/>
              <a:gd name="connsiteX6629" fmla="*/ 2709306 w 3600000"/>
              <a:gd name="connsiteY6629" fmla="*/ 188413 h 2787466"/>
              <a:gd name="connsiteX6630" fmla="*/ 2711970 w 3600000"/>
              <a:gd name="connsiteY6630" fmla="*/ 181634 h 2787466"/>
              <a:gd name="connsiteX6631" fmla="*/ 2813417 w 3600000"/>
              <a:gd name="connsiteY6631" fmla="*/ 169848 h 2787466"/>
              <a:gd name="connsiteX6632" fmla="*/ 2815874 w 3600000"/>
              <a:gd name="connsiteY6632" fmla="*/ 180957 h 2787466"/>
              <a:gd name="connsiteX6633" fmla="*/ 2813417 w 3600000"/>
              <a:gd name="connsiteY6633" fmla="*/ 169848 h 2787466"/>
              <a:gd name="connsiteX6634" fmla="*/ 3113759 w 3600000"/>
              <a:gd name="connsiteY6634" fmla="*/ 150437 h 2787466"/>
              <a:gd name="connsiteX6635" fmla="*/ 3116385 w 3600000"/>
              <a:gd name="connsiteY6635" fmla="*/ 159294 h 2787466"/>
              <a:gd name="connsiteX6636" fmla="*/ 3113759 w 3600000"/>
              <a:gd name="connsiteY6636" fmla="*/ 150437 h 2787466"/>
              <a:gd name="connsiteX6637" fmla="*/ 2682230 w 3600000"/>
              <a:gd name="connsiteY6637" fmla="*/ 142118 h 2787466"/>
              <a:gd name="connsiteX6638" fmla="*/ 2679733 w 3600000"/>
              <a:gd name="connsiteY6638" fmla="*/ 152354 h 2787466"/>
              <a:gd name="connsiteX6639" fmla="*/ 2682230 w 3600000"/>
              <a:gd name="connsiteY6639" fmla="*/ 142118 h 2787466"/>
              <a:gd name="connsiteX6640" fmla="*/ 3144497 w 3600000"/>
              <a:gd name="connsiteY6640" fmla="*/ 125740 h 2787466"/>
              <a:gd name="connsiteX6641" fmla="*/ 3141835 w 3600000"/>
              <a:gd name="connsiteY6641" fmla="*/ 132730 h 2787466"/>
              <a:gd name="connsiteX6642" fmla="*/ 3148387 w 3600000"/>
              <a:gd name="connsiteY6642" fmla="*/ 135749 h 2787466"/>
              <a:gd name="connsiteX6643" fmla="*/ 3144497 w 3600000"/>
              <a:gd name="connsiteY6643" fmla="*/ 125740 h 2787466"/>
              <a:gd name="connsiteX6644" fmla="*/ 2725204 w 3600000"/>
              <a:gd name="connsiteY6644" fmla="*/ 124093 h 2787466"/>
              <a:gd name="connsiteX6645" fmla="*/ 2724000 w 3600000"/>
              <a:gd name="connsiteY6645" fmla="*/ 137108 h 2787466"/>
              <a:gd name="connsiteX6646" fmla="*/ 2725204 w 3600000"/>
              <a:gd name="connsiteY6646" fmla="*/ 124093 h 2787466"/>
              <a:gd name="connsiteX6647" fmla="*/ 3062268 w 3600000"/>
              <a:gd name="connsiteY6647" fmla="*/ 122013 h 2787466"/>
              <a:gd name="connsiteX6648" fmla="*/ 3068768 w 3600000"/>
              <a:gd name="connsiteY6648" fmla="*/ 133853 h 2787466"/>
              <a:gd name="connsiteX6649" fmla="*/ 3062268 w 3600000"/>
              <a:gd name="connsiteY6649" fmla="*/ 122013 h 2787466"/>
              <a:gd name="connsiteX6650" fmla="*/ 3062481 w 3600000"/>
              <a:gd name="connsiteY6650" fmla="*/ 99829 h 2787466"/>
              <a:gd name="connsiteX6651" fmla="*/ 3068850 w 3600000"/>
              <a:gd name="connsiteY6651" fmla="*/ 115617 h 2787466"/>
              <a:gd name="connsiteX6652" fmla="*/ 3059810 w 3600000"/>
              <a:gd name="connsiteY6652" fmla="*/ 115617 h 2787466"/>
              <a:gd name="connsiteX6653" fmla="*/ 3062481 w 3600000"/>
              <a:gd name="connsiteY6653" fmla="*/ 99829 h 2787466"/>
              <a:gd name="connsiteX6654" fmla="*/ 3103654 w 3600000"/>
              <a:gd name="connsiteY6654" fmla="*/ 98931 h 2787466"/>
              <a:gd name="connsiteX6655" fmla="*/ 3112481 w 3600000"/>
              <a:gd name="connsiteY6655" fmla="*/ 102996 h 2787466"/>
              <a:gd name="connsiteX6656" fmla="*/ 3115090 w 3600000"/>
              <a:gd name="connsiteY6656" fmla="*/ 112844 h 2787466"/>
              <a:gd name="connsiteX6657" fmla="*/ 3103654 w 3600000"/>
              <a:gd name="connsiteY6657" fmla="*/ 106904 h 2787466"/>
              <a:gd name="connsiteX6658" fmla="*/ 3103654 w 3600000"/>
              <a:gd name="connsiteY6658" fmla="*/ 98931 h 2787466"/>
              <a:gd name="connsiteX6659" fmla="*/ 2736880 w 3600000"/>
              <a:gd name="connsiteY6659" fmla="*/ 96362 h 2787466"/>
              <a:gd name="connsiteX6660" fmla="*/ 2740749 w 3600000"/>
              <a:gd name="connsiteY6660" fmla="*/ 109378 h 2787466"/>
              <a:gd name="connsiteX6661" fmla="*/ 2736880 w 3600000"/>
              <a:gd name="connsiteY6661" fmla="*/ 96362 h 2787466"/>
              <a:gd name="connsiteX6662" fmla="*/ 3131125 w 3600000"/>
              <a:gd name="connsiteY6662" fmla="*/ 94283 h 2787466"/>
              <a:gd name="connsiteX6663" fmla="*/ 3129713 w 3600000"/>
              <a:gd name="connsiteY6663" fmla="*/ 135722 h 2787466"/>
              <a:gd name="connsiteX6664" fmla="*/ 3131125 w 3600000"/>
              <a:gd name="connsiteY6664" fmla="*/ 94283 h 2787466"/>
              <a:gd name="connsiteX6665" fmla="*/ 2542424 w 3600000"/>
              <a:gd name="connsiteY6665" fmla="*/ 92020 h 2787466"/>
              <a:gd name="connsiteX6666" fmla="*/ 2560471 w 3600000"/>
              <a:gd name="connsiteY6666" fmla="*/ 94076 h 2787466"/>
              <a:gd name="connsiteX6667" fmla="*/ 2546277 w 3600000"/>
              <a:gd name="connsiteY6667" fmla="*/ 98977 h 2787466"/>
              <a:gd name="connsiteX6668" fmla="*/ 2542424 w 3600000"/>
              <a:gd name="connsiteY6668" fmla="*/ 92020 h 2787466"/>
              <a:gd name="connsiteX6669" fmla="*/ 3359003 w 3600000"/>
              <a:gd name="connsiteY6669" fmla="*/ 91020 h 2787466"/>
              <a:gd name="connsiteX6670" fmla="*/ 3357590 w 3600000"/>
              <a:gd name="connsiteY6670" fmla="*/ 110764 h 2787466"/>
              <a:gd name="connsiteX6671" fmla="*/ 3359003 w 3600000"/>
              <a:gd name="connsiteY6671" fmla="*/ 91020 h 2787466"/>
              <a:gd name="connsiteX6672" fmla="*/ 2737867 w 3600000"/>
              <a:gd name="connsiteY6672" fmla="*/ 90549 h 2787466"/>
              <a:gd name="connsiteX6673" fmla="*/ 2745835 w 3600000"/>
              <a:gd name="connsiteY6673" fmla="*/ 97589 h 2787466"/>
              <a:gd name="connsiteX6674" fmla="*/ 2737867 w 3600000"/>
              <a:gd name="connsiteY6674" fmla="*/ 90549 h 2787466"/>
              <a:gd name="connsiteX6675" fmla="*/ 2726586 w 3600000"/>
              <a:gd name="connsiteY6675" fmla="*/ 89998 h 2787466"/>
              <a:gd name="connsiteX6676" fmla="*/ 2730390 w 3600000"/>
              <a:gd name="connsiteY6676" fmla="*/ 97239 h 2787466"/>
              <a:gd name="connsiteX6677" fmla="*/ 2722485 w 3600000"/>
              <a:gd name="connsiteY6677" fmla="*/ 97239 h 2787466"/>
              <a:gd name="connsiteX6678" fmla="*/ 2729141 w 3600000"/>
              <a:gd name="connsiteY6678" fmla="*/ 112150 h 2787466"/>
              <a:gd name="connsiteX6679" fmla="*/ 2725190 w 3600000"/>
              <a:gd name="connsiteY6679" fmla="*/ 90332 h 2787466"/>
              <a:gd name="connsiteX6680" fmla="*/ 2726586 w 3600000"/>
              <a:gd name="connsiteY6680" fmla="*/ 89998 h 2787466"/>
              <a:gd name="connsiteX6681" fmla="*/ 2644981 w 3600000"/>
              <a:gd name="connsiteY6681" fmla="*/ 88043 h 2787466"/>
              <a:gd name="connsiteX6682" fmla="*/ 2630938 w 3600000"/>
              <a:gd name="connsiteY6682" fmla="*/ 94122 h 2787466"/>
              <a:gd name="connsiteX6683" fmla="*/ 2644981 w 3600000"/>
              <a:gd name="connsiteY6683" fmla="*/ 88043 h 2787466"/>
              <a:gd name="connsiteX6684" fmla="*/ 2735569 w 3600000"/>
              <a:gd name="connsiteY6684" fmla="*/ 81537 h 2787466"/>
              <a:gd name="connsiteX6685" fmla="*/ 2740914 w 3600000"/>
              <a:gd name="connsiteY6685" fmla="*/ 89536 h 2787466"/>
              <a:gd name="connsiteX6686" fmla="*/ 2735569 w 3600000"/>
              <a:gd name="connsiteY6686" fmla="*/ 81537 h 2787466"/>
              <a:gd name="connsiteX6687" fmla="*/ 3167656 w 3600000"/>
              <a:gd name="connsiteY6687" fmla="*/ 78337 h 2787466"/>
              <a:gd name="connsiteX6688" fmla="*/ 3171613 w 3600000"/>
              <a:gd name="connsiteY6688" fmla="*/ 90398 h 2787466"/>
              <a:gd name="connsiteX6689" fmla="*/ 3167656 w 3600000"/>
              <a:gd name="connsiteY6689" fmla="*/ 78337 h 2787466"/>
              <a:gd name="connsiteX6690" fmla="*/ 2681327 w 3600000"/>
              <a:gd name="connsiteY6690" fmla="*/ 70197 h 2787466"/>
              <a:gd name="connsiteX6691" fmla="*/ 2659720 w 3600000"/>
              <a:gd name="connsiteY6691" fmla="*/ 73150 h 2787466"/>
              <a:gd name="connsiteX6692" fmla="*/ 2681327 w 3600000"/>
              <a:gd name="connsiteY6692" fmla="*/ 70197 h 2787466"/>
              <a:gd name="connsiteX6693" fmla="*/ 3082029 w 3600000"/>
              <a:gd name="connsiteY6693" fmla="*/ 68632 h 2787466"/>
              <a:gd name="connsiteX6694" fmla="*/ 3096590 w 3600000"/>
              <a:gd name="connsiteY6694" fmla="*/ 101059 h 2787466"/>
              <a:gd name="connsiteX6695" fmla="*/ 3082029 w 3600000"/>
              <a:gd name="connsiteY6695" fmla="*/ 68632 h 2787466"/>
              <a:gd name="connsiteX6696" fmla="*/ 2717124 w 3600000"/>
              <a:gd name="connsiteY6696" fmla="*/ 66552 h 2787466"/>
              <a:gd name="connsiteX6697" fmla="*/ 2720994 w 3600000"/>
              <a:gd name="connsiteY6697" fmla="*/ 75408 h 2787466"/>
              <a:gd name="connsiteX6698" fmla="*/ 2717124 w 3600000"/>
              <a:gd name="connsiteY6698" fmla="*/ 66552 h 2787466"/>
              <a:gd name="connsiteX6699" fmla="*/ 2575213 w 3600000"/>
              <a:gd name="connsiteY6699" fmla="*/ 54766 h 2787466"/>
              <a:gd name="connsiteX6700" fmla="*/ 2594995 w 3600000"/>
              <a:gd name="connsiteY6700" fmla="*/ 58766 h 2787466"/>
              <a:gd name="connsiteX6701" fmla="*/ 2575213 w 3600000"/>
              <a:gd name="connsiteY6701" fmla="*/ 54766 h 2787466"/>
              <a:gd name="connsiteX6702" fmla="*/ 3109519 w 3600000"/>
              <a:gd name="connsiteY6702" fmla="*/ 53380 h 2787466"/>
              <a:gd name="connsiteX6703" fmla="*/ 3120214 w 3600000"/>
              <a:gd name="connsiteY6703" fmla="*/ 57457 h 2787466"/>
              <a:gd name="connsiteX6704" fmla="*/ 3117487 w 3600000"/>
              <a:gd name="connsiteY6704" fmla="*/ 58436 h 2787466"/>
              <a:gd name="connsiteX6705" fmla="*/ 3117487 w 3600000"/>
              <a:gd name="connsiteY6705" fmla="*/ 61535 h 2787466"/>
              <a:gd name="connsiteX6706" fmla="*/ 3109519 w 3600000"/>
              <a:gd name="connsiteY6706" fmla="*/ 53380 h 2787466"/>
              <a:gd name="connsiteX6707" fmla="*/ 3361990 w 3600000"/>
              <a:gd name="connsiteY6707" fmla="*/ 46447 h 2787466"/>
              <a:gd name="connsiteX6708" fmla="*/ 3364788 w 3600000"/>
              <a:gd name="connsiteY6708" fmla="*/ 62236 h 2787466"/>
              <a:gd name="connsiteX6709" fmla="*/ 3361990 w 3600000"/>
              <a:gd name="connsiteY6709" fmla="*/ 46447 h 2787466"/>
              <a:gd name="connsiteX6710" fmla="*/ 2543195 w 3600000"/>
              <a:gd name="connsiteY6710" fmla="*/ 41595 h 2787466"/>
              <a:gd name="connsiteX6711" fmla="*/ 2539149 w 3600000"/>
              <a:gd name="connsiteY6711" fmla="*/ 56687 h 2787466"/>
              <a:gd name="connsiteX6712" fmla="*/ 2529779 w 3600000"/>
              <a:gd name="connsiteY6712" fmla="*/ 56687 h 2787466"/>
              <a:gd name="connsiteX6713" fmla="*/ 2531056 w 3600000"/>
              <a:gd name="connsiteY6713" fmla="*/ 43659 h 2787466"/>
              <a:gd name="connsiteX6714" fmla="*/ 2543195 w 3600000"/>
              <a:gd name="connsiteY6714" fmla="*/ 41595 h 2787466"/>
              <a:gd name="connsiteX6715" fmla="*/ 3048133 w 3600000"/>
              <a:gd name="connsiteY6715" fmla="*/ 18716 h 2787466"/>
              <a:gd name="connsiteX6716" fmla="*/ 3048133 w 3600000"/>
              <a:gd name="connsiteY6716" fmla="*/ 22543 h 2787466"/>
              <a:gd name="connsiteX6717" fmla="*/ 3054791 w 3600000"/>
              <a:gd name="connsiteY6717" fmla="*/ 25451 h 2787466"/>
              <a:gd name="connsiteX6718" fmla="*/ 3042933 w 3600000"/>
              <a:gd name="connsiteY6718" fmla="*/ 30349 h 2787466"/>
              <a:gd name="connsiteX6719" fmla="*/ 3048133 w 3600000"/>
              <a:gd name="connsiteY6719" fmla="*/ 18716 h 2787466"/>
              <a:gd name="connsiteX6720" fmla="*/ 3120790 w 3600000"/>
              <a:gd name="connsiteY6720" fmla="*/ 15943 h 2787466"/>
              <a:gd name="connsiteX6721" fmla="*/ 3122034 w 3600000"/>
              <a:gd name="connsiteY6721" fmla="*/ 25952 h 2787466"/>
              <a:gd name="connsiteX6722" fmla="*/ 3112915 w 3600000"/>
              <a:gd name="connsiteY6722" fmla="*/ 24998 h 2787466"/>
              <a:gd name="connsiteX6723" fmla="*/ 3112915 w 3600000"/>
              <a:gd name="connsiteY6723" fmla="*/ 31036 h 2787466"/>
              <a:gd name="connsiteX6724" fmla="*/ 3120790 w 3600000"/>
              <a:gd name="connsiteY6724" fmla="*/ 15943 h 2787466"/>
              <a:gd name="connsiteX6725" fmla="*/ 3078274 w 3600000"/>
              <a:gd name="connsiteY6725" fmla="*/ 14557 h 2787466"/>
              <a:gd name="connsiteX6726" fmla="*/ 3087501 w 3600000"/>
              <a:gd name="connsiteY6726" fmla="*/ 51144 h 2787466"/>
              <a:gd name="connsiteX6727" fmla="*/ 3078274 w 3600000"/>
              <a:gd name="connsiteY6727" fmla="*/ 14557 h 2787466"/>
              <a:gd name="connsiteX6728" fmla="*/ 2865179 w 3600000"/>
              <a:gd name="connsiteY6728" fmla="*/ 13863 h 2787466"/>
              <a:gd name="connsiteX6729" fmla="*/ 2873054 w 3600000"/>
              <a:gd name="connsiteY6729" fmla="*/ 16882 h 2787466"/>
              <a:gd name="connsiteX6730" fmla="*/ 2849635 w 3600000"/>
              <a:gd name="connsiteY6730" fmla="*/ 21807 h 2787466"/>
              <a:gd name="connsiteX6731" fmla="*/ 2859997 w 3600000"/>
              <a:gd name="connsiteY6731" fmla="*/ 20854 h 2787466"/>
              <a:gd name="connsiteX6732" fmla="*/ 2858755 w 3600000"/>
              <a:gd name="connsiteY6732" fmla="*/ 15929 h 2787466"/>
              <a:gd name="connsiteX6733" fmla="*/ 2865179 w 3600000"/>
              <a:gd name="connsiteY6733" fmla="*/ 13863 h 2787466"/>
              <a:gd name="connsiteX6734" fmla="*/ 3128386 w 3600000"/>
              <a:gd name="connsiteY6734" fmla="*/ 0 h 2787466"/>
              <a:gd name="connsiteX6735" fmla="*/ 3128387 w 3600000"/>
              <a:gd name="connsiteY6735" fmla="*/ 0 h 2787466"/>
              <a:gd name="connsiteX6736" fmla="*/ 3135108 w 3600000"/>
              <a:gd name="connsiteY6736" fmla="*/ 8191 h 2787466"/>
              <a:gd name="connsiteX6737" fmla="*/ 3141201 w 3600000"/>
              <a:gd name="connsiteY6737" fmla="*/ 39358 h 2787466"/>
              <a:gd name="connsiteX6738" fmla="*/ 3130731 w 3600000"/>
              <a:gd name="connsiteY6738" fmla="*/ 11969 h 2787466"/>
              <a:gd name="connsiteX6739" fmla="*/ 2831463 w 3600000"/>
              <a:gd name="connsiteY6739" fmla="*/ 0 h 2787466"/>
              <a:gd name="connsiteX6740" fmla="*/ 2831464 w 3600000"/>
              <a:gd name="connsiteY6740" fmla="*/ 0 h 2787466"/>
              <a:gd name="connsiteX6741" fmla="*/ 2834070 w 3600000"/>
              <a:gd name="connsiteY6741" fmla="*/ 1868 h 2787466"/>
              <a:gd name="connsiteX6742" fmla="*/ 2846709 w 3600000"/>
              <a:gd name="connsiteY6742" fmla="*/ 13708 h 2787466"/>
              <a:gd name="connsiteX6743" fmla="*/ 2838182 w 3600000"/>
              <a:gd name="connsiteY6743" fmla="*/ 7203 h 27874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 ang="0">
                <a:pos x="connsiteX4642" y="connsiteY4642"/>
              </a:cxn>
              <a:cxn ang="0">
                <a:pos x="connsiteX4643" y="connsiteY4643"/>
              </a:cxn>
              <a:cxn ang="0">
                <a:pos x="connsiteX4644" y="connsiteY4644"/>
              </a:cxn>
              <a:cxn ang="0">
                <a:pos x="connsiteX4645" y="connsiteY4645"/>
              </a:cxn>
              <a:cxn ang="0">
                <a:pos x="connsiteX4646" y="connsiteY4646"/>
              </a:cxn>
              <a:cxn ang="0">
                <a:pos x="connsiteX4647" y="connsiteY4647"/>
              </a:cxn>
              <a:cxn ang="0">
                <a:pos x="connsiteX4648" y="connsiteY4648"/>
              </a:cxn>
              <a:cxn ang="0">
                <a:pos x="connsiteX4649" y="connsiteY4649"/>
              </a:cxn>
              <a:cxn ang="0">
                <a:pos x="connsiteX4650" y="connsiteY4650"/>
              </a:cxn>
              <a:cxn ang="0">
                <a:pos x="connsiteX4651" y="connsiteY4651"/>
              </a:cxn>
              <a:cxn ang="0">
                <a:pos x="connsiteX4652" y="connsiteY4652"/>
              </a:cxn>
              <a:cxn ang="0">
                <a:pos x="connsiteX4653" y="connsiteY4653"/>
              </a:cxn>
              <a:cxn ang="0">
                <a:pos x="connsiteX4654" y="connsiteY4654"/>
              </a:cxn>
              <a:cxn ang="0">
                <a:pos x="connsiteX4655" y="connsiteY4655"/>
              </a:cxn>
              <a:cxn ang="0">
                <a:pos x="connsiteX4656" y="connsiteY4656"/>
              </a:cxn>
              <a:cxn ang="0">
                <a:pos x="connsiteX4657" y="connsiteY4657"/>
              </a:cxn>
              <a:cxn ang="0">
                <a:pos x="connsiteX4658" y="connsiteY4658"/>
              </a:cxn>
              <a:cxn ang="0">
                <a:pos x="connsiteX4659" y="connsiteY4659"/>
              </a:cxn>
              <a:cxn ang="0">
                <a:pos x="connsiteX4660" y="connsiteY4660"/>
              </a:cxn>
              <a:cxn ang="0">
                <a:pos x="connsiteX4661" y="connsiteY4661"/>
              </a:cxn>
              <a:cxn ang="0">
                <a:pos x="connsiteX4662" y="connsiteY4662"/>
              </a:cxn>
              <a:cxn ang="0">
                <a:pos x="connsiteX4663" y="connsiteY4663"/>
              </a:cxn>
              <a:cxn ang="0">
                <a:pos x="connsiteX4664" y="connsiteY4664"/>
              </a:cxn>
              <a:cxn ang="0">
                <a:pos x="connsiteX4665" y="connsiteY4665"/>
              </a:cxn>
              <a:cxn ang="0">
                <a:pos x="connsiteX4666" y="connsiteY4666"/>
              </a:cxn>
              <a:cxn ang="0">
                <a:pos x="connsiteX4667" y="connsiteY4667"/>
              </a:cxn>
              <a:cxn ang="0">
                <a:pos x="connsiteX4668" y="connsiteY4668"/>
              </a:cxn>
              <a:cxn ang="0">
                <a:pos x="connsiteX4669" y="connsiteY4669"/>
              </a:cxn>
              <a:cxn ang="0">
                <a:pos x="connsiteX4670" y="connsiteY4670"/>
              </a:cxn>
              <a:cxn ang="0">
                <a:pos x="connsiteX4671" y="connsiteY4671"/>
              </a:cxn>
              <a:cxn ang="0">
                <a:pos x="connsiteX4672" y="connsiteY4672"/>
              </a:cxn>
              <a:cxn ang="0">
                <a:pos x="connsiteX4673" y="connsiteY4673"/>
              </a:cxn>
              <a:cxn ang="0">
                <a:pos x="connsiteX4674" y="connsiteY4674"/>
              </a:cxn>
              <a:cxn ang="0">
                <a:pos x="connsiteX4675" y="connsiteY4675"/>
              </a:cxn>
              <a:cxn ang="0">
                <a:pos x="connsiteX4676" y="connsiteY4676"/>
              </a:cxn>
              <a:cxn ang="0">
                <a:pos x="connsiteX4677" y="connsiteY4677"/>
              </a:cxn>
              <a:cxn ang="0">
                <a:pos x="connsiteX4678" y="connsiteY4678"/>
              </a:cxn>
              <a:cxn ang="0">
                <a:pos x="connsiteX4679" y="connsiteY4679"/>
              </a:cxn>
              <a:cxn ang="0">
                <a:pos x="connsiteX4680" y="connsiteY4680"/>
              </a:cxn>
              <a:cxn ang="0">
                <a:pos x="connsiteX4681" y="connsiteY4681"/>
              </a:cxn>
              <a:cxn ang="0">
                <a:pos x="connsiteX4682" y="connsiteY4682"/>
              </a:cxn>
              <a:cxn ang="0">
                <a:pos x="connsiteX4683" y="connsiteY4683"/>
              </a:cxn>
              <a:cxn ang="0">
                <a:pos x="connsiteX4684" y="connsiteY4684"/>
              </a:cxn>
              <a:cxn ang="0">
                <a:pos x="connsiteX4685" y="connsiteY4685"/>
              </a:cxn>
              <a:cxn ang="0">
                <a:pos x="connsiteX4686" y="connsiteY4686"/>
              </a:cxn>
              <a:cxn ang="0">
                <a:pos x="connsiteX4687" y="connsiteY4687"/>
              </a:cxn>
              <a:cxn ang="0">
                <a:pos x="connsiteX4688" y="connsiteY4688"/>
              </a:cxn>
              <a:cxn ang="0">
                <a:pos x="connsiteX4689" y="connsiteY4689"/>
              </a:cxn>
              <a:cxn ang="0">
                <a:pos x="connsiteX4690" y="connsiteY4690"/>
              </a:cxn>
              <a:cxn ang="0">
                <a:pos x="connsiteX4691" y="connsiteY4691"/>
              </a:cxn>
              <a:cxn ang="0">
                <a:pos x="connsiteX4692" y="connsiteY4692"/>
              </a:cxn>
              <a:cxn ang="0">
                <a:pos x="connsiteX4693" y="connsiteY4693"/>
              </a:cxn>
              <a:cxn ang="0">
                <a:pos x="connsiteX4694" y="connsiteY4694"/>
              </a:cxn>
              <a:cxn ang="0">
                <a:pos x="connsiteX4695" y="connsiteY4695"/>
              </a:cxn>
              <a:cxn ang="0">
                <a:pos x="connsiteX4696" y="connsiteY4696"/>
              </a:cxn>
              <a:cxn ang="0">
                <a:pos x="connsiteX4697" y="connsiteY4697"/>
              </a:cxn>
              <a:cxn ang="0">
                <a:pos x="connsiteX4698" y="connsiteY4698"/>
              </a:cxn>
              <a:cxn ang="0">
                <a:pos x="connsiteX4699" y="connsiteY4699"/>
              </a:cxn>
              <a:cxn ang="0">
                <a:pos x="connsiteX4700" y="connsiteY4700"/>
              </a:cxn>
              <a:cxn ang="0">
                <a:pos x="connsiteX4701" y="connsiteY4701"/>
              </a:cxn>
              <a:cxn ang="0">
                <a:pos x="connsiteX4702" y="connsiteY4702"/>
              </a:cxn>
              <a:cxn ang="0">
                <a:pos x="connsiteX4703" y="connsiteY4703"/>
              </a:cxn>
              <a:cxn ang="0">
                <a:pos x="connsiteX4704" y="connsiteY4704"/>
              </a:cxn>
              <a:cxn ang="0">
                <a:pos x="connsiteX4705" y="connsiteY4705"/>
              </a:cxn>
              <a:cxn ang="0">
                <a:pos x="connsiteX4706" y="connsiteY4706"/>
              </a:cxn>
              <a:cxn ang="0">
                <a:pos x="connsiteX4707" y="connsiteY4707"/>
              </a:cxn>
              <a:cxn ang="0">
                <a:pos x="connsiteX4708" y="connsiteY4708"/>
              </a:cxn>
              <a:cxn ang="0">
                <a:pos x="connsiteX4709" y="connsiteY4709"/>
              </a:cxn>
              <a:cxn ang="0">
                <a:pos x="connsiteX4710" y="connsiteY4710"/>
              </a:cxn>
              <a:cxn ang="0">
                <a:pos x="connsiteX4711" y="connsiteY4711"/>
              </a:cxn>
              <a:cxn ang="0">
                <a:pos x="connsiteX4712" y="connsiteY4712"/>
              </a:cxn>
              <a:cxn ang="0">
                <a:pos x="connsiteX4713" y="connsiteY4713"/>
              </a:cxn>
              <a:cxn ang="0">
                <a:pos x="connsiteX4714" y="connsiteY4714"/>
              </a:cxn>
              <a:cxn ang="0">
                <a:pos x="connsiteX4715" y="connsiteY4715"/>
              </a:cxn>
              <a:cxn ang="0">
                <a:pos x="connsiteX4716" y="connsiteY4716"/>
              </a:cxn>
              <a:cxn ang="0">
                <a:pos x="connsiteX4717" y="connsiteY4717"/>
              </a:cxn>
              <a:cxn ang="0">
                <a:pos x="connsiteX4718" y="connsiteY4718"/>
              </a:cxn>
              <a:cxn ang="0">
                <a:pos x="connsiteX4719" y="connsiteY4719"/>
              </a:cxn>
              <a:cxn ang="0">
                <a:pos x="connsiteX4720" y="connsiteY4720"/>
              </a:cxn>
              <a:cxn ang="0">
                <a:pos x="connsiteX4721" y="connsiteY4721"/>
              </a:cxn>
              <a:cxn ang="0">
                <a:pos x="connsiteX4722" y="connsiteY4722"/>
              </a:cxn>
              <a:cxn ang="0">
                <a:pos x="connsiteX4723" y="connsiteY4723"/>
              </a:cxn>
              <a:cxn ang="0">
                <a:pos x="connsiteX4724" y="connsiteY4724"/>
              </a:cxn>
              <a:cxn ang="0">
                <a:pos x="connsiteX4725" y="connsiteY4725"/>
              </a:cxn>
              <a:cxn ang="0">
                <a:pos x="connsiteX4726" y="connsiteY4726"/>
              </a:cxn>
              <a:cxn ang="0">
                <a:pos x="connsiteX4727" y="connsiteY4727"/>
              </a:cxn>
              <a:cxn ang="0">
                <a:pos x="connsiteX4728" y="connsiteY4728"/>
              </a:cxn>
              <a:cxn ang="0">
                <a:pos x="connsiteX4729" y="connsiteY4729"/>
              </a:cxn>
              <a:cxn ang="0">
                <a:pos x="connsiteX4730" y="connsiteY4730"/>
              </a:cxn>
              <a:cxn ang="0">
                <a:pos x="connsiteX4731" y="connsiteY4731"/>
              </a:cxn>
              <a:cxn ang="0">
                <a:pos x="connsiteX4732" y="connsiteY4732"/>
              </a:cxn>
              <a:cxn ang="0">
                <a:pos x="connsiteX4733" y="connsiteY4733"/>
              </a:cxn>
              <a:cxn ang="0">
                <a:pos x="connsiteX4734" y="connsiteY4734"/>
              </a:cxn>
              <a:cxn ang="0">
                <a:pos x="connsiteX4735" y="connsiteY4735"/>
              </a:cxn>
              <a:cxn ang="0">
                <a:pos x="connsiteX4736" y="connsiteY4736"/>
              </a:cxn>
              <a:cxn ang="0">
                <a:pos x="connsiteX4737" y="connsiteY4737"/>
              </a:cxn>
              <a:cxn ang="0">
                <a:pos x="connsiteX4738" y="connsiteY4738"/>
              </a:cxn>
              <a:cxn ang="0">
                <a:pos x="connsiteX4739" y="connsiteY4739"/>
              </a:cxn>
              <a:cxn ang="0">
                <a:pos x="connsiteX4740" y="connsiteY4740"/>
              </a:cxn>
              <a:cxn ang="0">
                <a:pos x="connsiteX4741" y="connsiteY4741"/>
              </a:cxn>
              <a:cxn ang="0">
                <a:pos x="connsiteX4742" y="connsiteY4742"/>
              </a:cxn>
              <a:cxn ang="0">
                <a:pos x="connsiteX4743" y="connsiteY4743"/>
              </a:cxn>
              <a:cxn ang="0">
                <a:pos x="connsiteX4744" y="connsiteY4744"/>
              </a:cxn>
              <a:cxn ang="0">
                <a:pos x="connsiteX4745" y="connsiteY4745"/>
              </a:cxn>
              <a:cxn ang="0">
                <a:pos x="connsiteX4746" y="connsiteY4746"/>
              </a:cxn>
              <a:cxn ang="0">
                <a:pos x="connsiteX4747" y="connsiteY4747"/>
              </a:cxn>
              <a:cxn ang="0">
                <a:pos x="connsiteX4748" y="connsiteY4748"/>
              </a:cxn>
              <a:cxn ang="0">
                <a:pos x="connsiteX4749" y="connsiteY4749"/>
              </a:cxn>
              <a:cxn ang="0">
                <a:pos x="connsiteX4750" y="connsiteY4750"/>
              </a:cxn>
              <a:cxn ang="0">
                <a:pos x="connsiteX4751" y="connsiteY4751"/>
              </a:cxn>
              <a:cxn ang="0">
                <a:pos x="connsiteX4752" y="connsiteY4752"/>
              </a:cxn>
              <a:cxn ang="0">
                <a:pos x="connsiteX4753" y="connsiteY4753"/>
              </a:cxn>
              <a:cxn ang="0">
                <a:pos x="connsiteX4754" y="connsiteY4754"/>
              </a:cxn>
              <a:cxn ang="0">
                <a:pos x="connsiteX4755" y="connsiteY4755"/>
              </a:cxn>
              <a:cxn ang="0">
                <a:pos x="connsiteX4756" y="connsiteY4756"/>
              </a:cxn>
              <a:cxn ang="0">
                <a:pos x="connsiteX4757" y="connsiteY4757"/>
              </a:cxn>
              <a:cxn ang="0">
                <a:pos x="connsiteX4758" y="connsiteY4758"/>
              </a:cxn>
              <a:cxn ang="0">
                <a:pos x="connsiteX4759" y="connsiteY4759"/>
              </a:cxn>
              <a:cxn ang="0">
                <a:pos x="connsiteX4760" y="connsiteY4760"/>
              </a:cxn>
              <a:cxn ang="0">
                <a:pos x="connsiteX4761" y="connsiteY4761"/>
              </a:cxn>
              <a:cxn ang="0">
                <a:pos x="connsiteX4762" y="connsiteY4762"/>
              </a:cxn>
              <a:cxn ang="0">
                <a:pos x="connsiteX4763" y="connsiteY4763"/>
              </a:cxn>
              <a:cxn ang="0">
                <a:pos x="connsiteX4764" y="connsiteY4764"/>
              </a:cxn>
              <a:cxn ang="0">
                <a:pos x="connsiteX4765" y="connsiteY4765"/>
              </a:cxn>
              <a:cxn ang="0">
                <a:pos x="connsiteX4766" y="connsiteY4766"/>
              </a:cxn>
              <a:cxn ang="0">
                <a:pos x="connsiteX4767" y="connsiteY4767"/>
              </a:cxn>
              <a:cxn ang="0">
                <a:pos x="connsiteX4768" y="connsiteY4768"/>
              </a:cxn>
              <a:cxn ang="0">
                <a:pos x="connsiteX4769" y="connsiteY4769"/>
              </a:cxn>
              <a:cxn ang="0">
                <a:pos x="connsiteX4770" y="connsiteY4770"/>
              </a:cxn>
              <a:cxn ang="0">
                <a:pos x="connsiteX4771" y="connsiteY4771"/>
              </a:cxn>
              <a:cxn ang="0">
                <a:pos x="connsiteX4772" y="connsiteY4772"/>
              </a:cxn>
              <a:cxn ang="0">
                <a:pos x="connsiteX4773" y="connsiteY4773"/>
              </a:cxn>
              <a:cxn ang="0">
                <a:pos x="connsiteX4774" y="connsiteY4774"/>
              </a:cxn>
              <a:cxn ang="0">
                <a:pos x="connsiteX4775" y="connsiteY4775"/>
              </a:cxn>
              <a:cxn ang="0">
                <a:pos x="connsiteX4776" y="connsiteY4776"/>
              </a:cxn>
              <a:cxn ang="0">
                <a:pos x="connsiteX4777" y="connsiteY4777"/>
              </a:cxn>
              <a:cxn ang="0">
                <a:pos x="connsiteX4778" y="connsiteY4778"/>
              </a:cxn>
              <a:cxn ang="0">
                <a:pos x="connsiteX4779" y="connsiteY4779"/>
              </a:cxn>
              <a:cxn ang="0">
                <a:pos x="connsiteX4780" y="connsiteY4780"/>
              </a:cxn>
              <a:cxn ang="0">
                <a:pos x="connsiteX4781" y="connsiteY4781"/>
              </a:cxn>
              <a:cxn ang="0">
                <a:pos x="connsiteX4782" y="connsiteY4782"/>
              </a:cxn>
              <a:cxn ang="0">
                <a:pos x="connsiteX4783" y="connsiteY4783"/>
              </a:cxn>
              <a:cxn ang="0">
                <a:pos x="connsiteX4784" y="connsiteY4784"/>
              </a:cxn>
              <a:cxn ang="0">
                <a:pos x="connsiteX4785" y="connsiteY4785"/>
              </a:cxn>
              <a:cxn ang="0">
                <a:pos x="connsiteX4786" y="connsiteY4786"/>
              </a:cxn>
              <a:cxn ang="0">
                <a:pos x="connsiteX4787" y="connsiteY4787"/>
              </a:cxn>
              <a:cxn ang="0">
                <a:pos x="connsiteX4788" y="connsiteY4788"/>
              </a:cxn>
              <a:cxn ang="0">
                <a:pos x="connsiteX4789" y="connsiteY4789"/>
              </a:cxn>
              <a:cxn ang="0">
                <a:pos x="connsiteX4790" y="connsiteY4790"/>
              </a:cxn>
              <a:cxn ang="0">
                <a:pos x="connsiteX4791" y="connsiteY4791"/>
              </a:cxn>
              <a:cxn ang="0">
                <a:pos x="connsiteX4792" y="connsiteY4792"/>
              </a:cxn>
              <a:cxn ang="0">
                <a:pos x="connsiteX4793" y="connsiteY4793"/>
              </a:cxn>
              <a:cxn ang="0">
                <a:pos x="connsiteX4794" y="connsiteY4794"/>
              </a:cxn>
              <a:cxn ang="0">
                <a:pos x="connsiteX4795" y="connsiteY4795"/>
              </a:cxn>
              <a:cxn ang="0">
                <a:pos x="connsiteX4796" y="connsiteY4796"/>
              </a:cxn>
              <a:cxn ang="0">
                <a:pos x="connsiteX4797" y="connsiteY4797"/>
              </a:cxn>
              <a:cxn ang="0">
                <a:pos x="connsiteX4798" y="connsiteY4798"/>
              </a:cxn>
              <a:cxn ang="0">
                <a:pos x="connsiteX4799" y="connsiteY4799"/>
              </a:cxn>
              <a:cxn ang="0">
                <a:pos x="connsiteX4800" y="connsiteY4800"/>
              </a:cxn>
              <a:cxn ang="0">
                <a:pos x="connsiteX4801" y="connsiteY4801"/>
              </a:cxn>
              <a:cxn ang="0">
                <a:pos x="connsiteX4802" y="connsiteY4802"/>
              </a:cxn>
              <a:cxn ang="0">
                <a:pos x="connsiteX4803" y="connsiteY4803"/>
              </a:cxn>
              <a:cxn ang="0">
                <a:pos x="connsiteX4804" y="connsiteY4804"/>
              </a:cxn>
              <a:cxn ang="0">
                <a:pos x="connsiteX4805" y="connsiteY4805"/>
              </a:cxn>
              <a:cxn ang="0">
                <a:pos x="connsiteX4806" y="connsiteY4806"/>
              </a:cxn>
              <a:cxn ang="0">
                <a:pos x="connsiteX4807" y="connsiteY4807"/>
              </a:cxn>
              <a:cxn ang="0">
                <a:pos x="connsiteX4808" y="connsiteY4808"/>
              </a:cxn>
              <a:cxn ang="0">
                <a:pos x="connsiteX4809" y="connsiteY4809"/>
              </a:cxn>
              <a:cxn ang="0">
                <a:pos x="connsiteX4810" y="connsiteY4810"/>
              </a:cxn>
              <a:cxn ang="0">
                <a:pos x="connsiteX4811" y="connsiteY4811"/>
              </a:cxn>
              <a:cxn ang="0">
                <a:pos x="connsiteX4812" y="connsiteY4812"/>
              </a:cxn>
              <a:cxn ang="0">
                <a:pos x="connsiteX4813" y="connsiteY4813"/>
              </a:cxn>
              <a:cxn ang="0">
                <a:pos x="connsiteX4814" y="connsiteY4814"/>
              </a:cxn>
              <a:cxn ang="0">
                <a:pos x="connsiteX4815" y="connsiteY4815"/>
              </a:cxn>
              <a:cxn ang="0">
                <a:pos x="connsiteX4816" y="connsiteY4816"/>
              </a:cxn>
              <a:cxn ang="0">
                <a:pos x="connsiteX4817" y="connsiteY4817"/>
              </a:cxn>
              <a:cxn ang="0">
                <a:pos x="connsiteX4818" y="connsiteY4818"/>
              </a:cxn>
              <a:cxn ang="0">
                <a:pos x="connsiteX4819" y="connsiteY4819"/>
              </a:cxn>
              <a:cxn ang="0">
                <a:pos x="connsiteX4820" y="connsiteY4820"/>
              </a:cxn>
              <a:cxn ang="0">
                <a:pos x="connsiteX4821" y="connsiteY4821"/>
              </a:cxn>
              <a:cxn ang="0">
                <a:pos x="connsiteX4822" y="connsiteY4822"/>
              </a:cxn>
              <a:cxn ang="0">
                <a:pos x="connsiteX4823" y="connsiteY4823"/>
              </a:cxn>
              <a:cxn ang="0">
                <a:pos x="connsiteX4824" y="connsiteY4824"/>
              </a:cxn>
              <a:cxn ang="0">
                <a:pos x="connsiteX4825" y="connsiteY4825"/>
              </a:cxn>
              <a:cxn ang="0">
                <a:pos x="connsiteX4826" y="connsiteY4826"/>
              </a:cxn>
              <a:cxn ang="0">
                <a:pos x="connsiteX4827" y="connsiteY4827"/>
              </a:cxn>
              <a:cxn ang="0">
                <a:pos x="connsiteX4828" y="connsiteY4828"/>
              </a:cxn>
              <a:cxn ang="0">
                <a:pos x="connsiteX4829" y="connsiteY4829"/>
              </a:cxn>
              <a:cxn ang="0">
                <a:pos x="connsiteX4830" y="connsiteY4830"/>
              </a:cxn>
              <a:cxn ang="0">
                <a:pos x="connsiteX4831" y="connsiteY4831"/>
              </a:cxn>
              <a:cxn ang="0">
                <a:pos x="connsiteX4832" y="connsiteY4832"/>
              </a:cxn>
              <a:cxn ang="0">
                <a:pos x="connsiteX4833" y="connsiteY4833"/>
              </a:cxn>
              <a:cxn ang="0">
                <a:pos x="connsiteX4834" y="connsiteY4834"/>
              </a:cxn>
              <a:cxn ang="0">
                <a:pos x="connsiteX4835" y="connsiteY4835"/>
              </a:cxn>
              <a:cxn ang="0">
                <a:pos x="connsiteX4836" y="connsiteY4836"/>
              </a:cxn>
              <a:cxn ang="0">
                <a:pos x="connsiteX4837" y="connsiteY4837"/>
              </a:cxn>
              <a:cxn ang="0">
                <a:pos x="connsiteX4838" y="connsiteY4838"/>
              </a:cxn>
              <a:cxn ang="0">
                <a:pos x="connsiteX4839" y="connsiteY4839"/>
              </a:cxn>
              <a:cxn ang="0">
                <a:pos x="connsiteX4840" y="connsiteY4840"/>
              </a:cxn>
              <a:cxn ang="0">
                <a:pos x="connsiteX4841" y="connsiteY4841"/>
              </a:cxn>
              <a:cxn ang="0">
                <a:pos x="connsiteX4842" y="connsiteY4842"/>
              </a:cxn>
              <a:cxn ang="0">
                <a:pos x="connsiteX4843" y="connsiteY4843"/>
              </a:cxn>
              <a:cxn ang="0">
                <a:pos x="connsiteX4844" y="connsiteY4844"/>
              </a:cxn>
              <a:cxn ang="0">
                <a:pos x="connsiteX4845" y="connsiteY4845"/>
              </a:cxn>
              <a:cxn ang="0">
                <a:pos x="connsiteX4846" y="connsiteY4846"/>
              </a:cxn>
              <a:cxn ang="0">
                <a:pos x="connsiteX4847" y="connsiteY4847"/>
              </a:cxn>
              <a:cxn ang="0">
                <a:pos x="connsiteX4848" y="connsiteY4848"/>
              </a:cxn>
              <a:cxn ang="0">
                <a:pos x="connsiteX4849" y="connsiteY4849"/>
              </a:cxn>
              <a:cxn ang="0">
                <a:pos x="connsiteX4850" y="connsiteY4850"/>
              </a:cxn>
              <a:cxn ang="0">
                <a:pos x="connsiteX4851" y="connsiteY4851"/>
              </a:cxn>
              <a:cxn ang="0">
                <a:pos x="connsiteX4852" y="connsiteY4852"/>
              </a:cxn>
              <a:cxn ang="0">
                <a:pos x="connsiteX4853" y="connsiteY4853"/>
              </a:cxn>
              <a:cxn ang="0">
                <a:pos x="connsiteX4854" y="connsiteY4854"/>
              </a:cxn>
              <a:cxn ang="0">
                <a:pos x="connsiteX4855" y="connsiteY4855"/>
              </a:cxn>
              <a:cxn ang="0">
                <a:pos x="connsiteX4856" y="connsiteY4856"/>
              </a:cxn>
              <a:cxn ang="0">
                <a:pos x="connsiteX4857" y="connsiteY4857"/>
              </a:cxn>
              <a:cxn ang="0">
                <a:pos x="connsiteX4858" y="connsiteY4858"/>
              </a:cxn>
              <a:cxn ang="0">
                <a:pos x="connsiteX4859" y="connsiteY4859"/>
              </a:cxn>
              <a:cxn ang="0">
                <a:pos x="connsiteX4860" y="connsiteY4860"/>
              </a:cxn>
              <a:cxn ang="0">
                <a:pos x="connsiteX4861" y="connsiteY4861"/>
              </a:cxn>
              <a:cxn ang="0">
                <a:pos x="connsiteX4862" y="connsiteY4862"/>
              </a:cxn>
              <a:cxn ang="0">
                <a:pos x="connsiteX4863" y="connsiteY4863"/>
              </a:cxn>
              <a:cxn ang="0">
                <a:pos x="connsiteX4864" y="connsiteY4864"/>
              </a:cxn>
              <a:cxn ang="0">
                <a:pos x="connsiteX4865" y="connsiteY4865"/>
              </a:cxn>
              <a:cxn ang="0">
                <a:pos x="connsiteX4866" y="connsiteY4866"/>
              </a:cxn>
              <a:cxn ang="0">
                <a:pos x="connsiteX4867" y="connsiteY4867"/>
              </a:cxn>
              <a:cxn ang="0">
                <a:pos x="connsiteX4868" y="connsiteY4868"/>
              </a:cxn>
              <a:cxn ang="0">
                <a:pos x="connsiteX4869" y="connsiteY4869"/>
              </a:cxn>
              <a:cxn ang="0">
                <a:pos x="connsiteX4870" y="connsiteY4870"/>
              </a:cxn>
              <a:cxn ang="0">
                <a:pos x="connsiteX4871" y="connsiteY4871"/>
              </a:cxn>
              <a:cxn ang="0">
                <a:pos x="connsiteX4872" y="connsiteY4872"/>
              </a:cxn>
              <a:cxn ang="0">
                <a:pos x="connsiteX4873" y="connsiteY4873"/>
              </a:cxn>
              <a:cxn ang="0">
                <a:pos x="connsiteX4874" y="connsiteY4874"/>
              </a:cxn>
              <a:cxn ang="0">
                <a:pos x="connsiteX4875" y="connsiteY4875"/>
              </a:cxn>
              <a:cxn ang="0">
                <a:pos x="connsiteX4876" y="connsiteY4876"/>
              </a:cxn>
              <a:cxn ang="0">
                <a:pos x="connsiteX4877" y="connsiteY4877"/>
              </a:cxn>
              <a:cxn ang="0">
                <a:pos x="connsiteX4878" y="connsiteY4878"/>
              </a:cxn>
              <a:cxn ang="0">
                <a:pos x="connsiteX4879" y="connsiteY4879"/>
              </a:cxn>
              <a:cxn ang="0">
                <a:pos x="connsiteX4880" y="connsiteY4880"/>
              </a:cxn>
              <a:cxn ang="0">
                <a:pos x="connsiteX4881" y="connsiteY4881"/>
              </a:cxn>
              <a:cxn ang="0">
                <a:pos x="connsiteX4882" y="connsiteY4882"/>
              </a:cxn>
              <a:cxn ang="0">
                <a:pos x="connsiteX4883" y="connsiteY4883"/>
              </a:cxn>
              <a:cxn ang="0">
                <a:pos x="connsiteX4884" y="connsiteY4884"/>
              </a:cxn>
              <a:cxn ang="0">
                <a:pos x="connsiteX4885" y="connsiteY4885"/>
              </a:cxn>
              <a:cxn ang="0">
                <a:pos x="connsiteX4886" y="connsiteY4886"/>
              </a:cxn>
              <a:cxn ang="0">
                <a:pos x="connsiteX4887" y="connsiteY4887"/>
              </a:cxn>
              <a:cxn ang="0">
                <a:pos x="connsiteX4888" y="connsiteY4888"/>
              </a:cxn>
              <a:cxn ang="0">
                <a:pos x="connsiteX4889" y="connsiteY4889"/>
              </a:cxn>
              <a:cxn ang="0">
                <a:pos x="connsiteX4890" y="connsiteY4890"/>
              </a:cxn>
              <a:cxn ang="0">
                <a:pos x="connsiteX4891" y="connsiteY4891"/>
              </a:cxn>
              <a:cxn ang="0">
                <a:pos x="connsiteX4892" y="connsiteY4892"/>
              </a:cxn>
              <a:cxn ang="0">
                <a:pos x="connsiteX4893" y="connsiteY4893"/>
              </a:cxn>
              <a:cxn ang="0">
                <a:pos x="connsiteX4894" y="connsiteY4894"/>
              </a:cxn>
              <a:cxn ang="0">
                <a:pos x="connsiteX4895" y="connsiteY4895"/>
              </a:cxn>
              <a:cxn ang="0">
                <a:pos x="connsiteX4896" y="connsiteY4896"/>
              </a:cxn>
              <a:cxn ang="0">
                <a:pos x="connsiteX4897" y="connsiteY4897"/>
              </a:cxn>
              <a:cxn ang="0">
                <a:pos x="connsiteX4898" y="connsiteY4898"/>
              </a:cxn>
              <a:cxn ang="0">
                <a:pos x="connsiteX4899" y="connsiteY4899"/>
              </a:cxn>
              <a:cxn ang="0">
                <a:pos x="connsiteX4900" y="connsiteY4900"/>
              </a:cxn>
              <a:cxn ang="0">
                <a:pos x="connsiteX4901" y="connsiteY4901"/>
              </a:cxn>
              <a:cxn ang="0">
                <a:pos x="connsiteX4902" y="connsiteY4902"/>
              </a:cxn>
              <a:cxn ang="0">
                <a:pos x="connsiteX4903" y="connsiteY4903"/>
              </a:cxn>
              <a:cxn ang="0">
                <a:pos x="connsiteX4904" y="connsiteY4904"/>
              </a:cxn>
              <a:cxn ang="0">
                <a:pos x="connsiteX4905" y="connsiteY4905"/>
              </a:cxn>
              <a:cxn ang="0">
                <a:pos x="connsiteX4906" y="connsiteY4906"/>
              </a:cxn>
              <a:cxn ang="0">
                <a:pos x="connsiteX4907" y="connsiteY4907"/>
              </a:cxn>
              <a:cxn ang="0">
                <a:pos x="connsiteX4908" y="connsiteY4908"/>
              </a:cxn>
              <a:cxn ang="0">
                <a:pos x="connsiteX4909" y="connsiteY4909"/>
              </a:cxn>
              <a:cxn ang="0">
                <a:pos x="connsiteX4910" y="connsiteY4910"/>
              </a:cxn>
              <a:cxn ang="0">
                <a:pos x="connsiteX4911" y="connsiteY4911"/>
              </a:cxn>
              <a:cxn ang="0">
                <a:pos x="connsiteX4912" y="connsiteY4912"/>
              </a:cxn>
              <a:cxn ang="0">
                <a:pos x="connsiteX4913" y="connsiteY4913"/>
              </a:cxn>
              <a:cxn ang="0">
                <a:pos x="connsiteX4914" y="connsiteY4914"/>
              </a:cxn>
              <a:cxn ang="0">
                <a:pos x="connsiteX4915" y="connsiteY4915"/>
              </a:cxn>
              <a:cxn ang="0">
                <a:pos x="connsiteX4916" y="connsiteY4916"/>
              </a:cxn>
              <a:cxn ang="0">
                <a:pos x="connsiteX4917" y="connsiteY4917"/>
              </a:cxn>
              <a:cxn ang="0">
                <a:pos x="connsiteX4918" y="connsiteY4918"/>
              </a:cxn>
              <a:cxn ang="0">
                <a:pos x="connsiteX4919" y="connsiteY4919"/>
              </a:cxn>
              <a:cxn ang="0">
                <a:pos x="connsiteX4920" y="connsiteY4920"/>
              </a:cxn>
              <a:cxn ang="0">
                <a:pos x="connsiteX4921" y="connsiteY4921"/>
              </a:cxn>
              <a:cxn ang="0">
                <a:pos x="connsiteX4922" y="connsiteY4922"/>
              </a:cxn>
              <a:cxn ang="0">
                <a:pos x="connsiteX4923" y="connsiteY4923"/>
              </a:cxn>
              <a:cxn ang="0">
                <a:pos x="connsiteX4924" y="connsiteY4924"/>
              </a:cxn>
              <a:cxn ang="0">
                <a:pos x="connsiteX4925" y="connsiteY4925"/>
              </a:cxn>
              <a:cxn ang="0">
                <a:pos x="connsiteX4926" y="connsiteY4926"/>
              </a:cxn>
              <a:cxn ang="0">
                <a:pos x="connsiteX4927" y="connsiteY4927"/>
              </a:cxn>
              <a:cxn ang="0">
                <a:pos x="connsiteX4928" y="connsiteY4928"/>
              </a:cxn>
              <a:cxn ang="0">
                <a:pos x="connsiteX4929" y="connsiteY4929"/>
              </a:cxn>
              <a:cxn ang="0">
                <a:pos x="connsiteX4930" y="connsiteY4930"/>
              </a:cxn>
              <a:cxn ang="0">
                <a:pos x="connsiteX4931" y="connsiteY4931"/>
              </a:cxn>
              <a:cxn ang="0">
                <a:pos x="connsiteX4932" y="connsiteY4932"/>
              </a:cxn>
              <a:cxn ang="0">
                <a:pos x="connsiteX4933" y="connsiteY4933"/>
              </a:cxn>
              <a:cxn ang="0">
                <a:pos x="connsiteX4934" y="connsiteY4934"/>
              </a:cxn>
              <a:cxn ang="0">
                <a:pos x="connsiteX4935" y="connsiteY4935"/>
              </a:cxn>
              <a:cxn ang="0">
                <a:pos x="connsiteX4936" y="connsiteY4936"/>
              </a:cxn>
              <a:cxn ang="0">
                <a:pos x="connsiteX4937" y="connsiteY4937"/>
              </a:cxn>
              <a:cxn ang="0">
                <a:pos x="connsiteX4938" y="connsiteY4938"/>
              </a:cxn>
              <a:cxn ang="0">
                <a:pos x="connsiteX4939" y="connsiteY4939"/>
              </a:cxn>
              <a:cxn ang="0">
                <a:pos x="connsiteX4940" y="connsiteY4940"/>
              </a:cxn>
              <a:cxn ang="0">
                <a:pos x="connsiteX4941" y="connsiteY4941"/>
              </a:cxn>
              <a:cxn ang="0">
                <a:pos x="connsiteX4942" y="connsiteY4942"/>
              </a:cxn>
              <a:cxn ang="0">
                <a:pos x="connsiteX4943" y="connsiteY4943"/>
              </a:cxn>
              <a:cxn ang="0">
                <a:pos x="connsiteX4944" y="connsiteY4944"/>
              </a:cxn>
              <a:cxn ang="0">
                <a:pos x="connsiteX4945" y="connsiteY4945"/>
              </a:cxn>
              <a:cxn ang="0">
                <a:pos x="connsiteX4946" y="connsiteY4946"/>
              </a:cxn>
              <a:cxn ang="0">
                <a:pos x="connsiteX4947" y="connsiteY4947"/>
              </a:cxn>
              <a:cxn ang="0">
                <a:pos x="connsiteX4948" y="connsiteY4948"/>
              </a:cxn>
              <a:cxn ang="0">
                <a:pos x="connsiteX4949" y="connsiteY4949"/>
              </a:cxn>
              <a:cxn ang="0">
                <a:pos x="connsiteX4950" y="connsiteY4950"/>
              </a:cxn>
              <a:cxn ang="0">
                <a:pos x="connsiteX4951" y="connsiteY4951"/>
              </a:cxn>
              <a:cxn ang="0">
                <a:pos x="connsiteX4952" y="connsiteY4952"/>
              </a:cxn>
              <a:cxn ang="0">
                <a:pos x="connsiteX4953" y="connsiteY4953"/>
              </a:cxn>
              <a:cxn ang="0">
                <a:pos x="connsiteX4954" y="connsiteY4954"/>
              </a:cxn>
              <a:cxn ang="0">
                <a:pos x="connsiteX4955" y="connsiteY4955"/>
              </a:cxn>
              <a:cxn ang="0">
                <a:pos x="connsiteX4956" y="connsiteY4956"/>
              </a:cxn>
              <a:cxn ang="0">
                <a:pos x="connsiteX4957" y="connsiteY4957"/>
              </a:cxn>
              <a:cxn ang="0">
                <a:pos x="connsiteX4958" y="connsiteY4958"/>
              </a:cxn>
              <a:cxn ang="0">
                <a:pos x="connsiteX4959" y="connsiteY4959"/>
              </a:cxn>
              <a:cxn ang="0">
                <a:pos x="connsiteX4960" y="connsiteY4960"/>
              </a:cxn>
              <a:cxn ang="0">
                <a:pos x="connsiteX4961" y="connsiteY4961"/>
              </a:cxn>
              <a:cxn ang="0">
                <a:pos x="connsiteX4962" y="connsiteY4962"/>
              </a:cxn>
              <a:cxn ang="0">
                <a:pos x="connsiteX4963" y="connsiteY4963"/>
              </a:cxn>
              <a:cxn ang="0">
                <a:pos x="connsiteX4964" y="connsiteY4964"/>
              </a:cxn>
              <a:cxn ang="0">
                <a:pos x="connsiteX4965" y="connsiteY4965"/>
              </a:cxn>
              <a:cxn ang="0">
                <a:pos x="connsiteX4966" y="connsiteY4966"/>
              </a:cxn>
              <a:cxn ang="0">
                <a:pos x="connsiteX4967" y="connsiteY4967"/>
              </a:cxn>
              <a:cxn ang="0">
                <a:pos x="connsiteX4968" y="connsiteY4968"/>
              </a:cxn>
              <a:cxn ang="0">
                <a:pos x="connsiteX4969" y="connsiteY4969"/>
              </a:cxn>
              <a:cxn ang="0">
                <a:pos x="connsiteX4970" y="connsiteY4970"/>
              </a:cxn>
              <a:cxn ang="0">
                <a:pos x="connsiteX4971" y="connsiteY4971"/>
              </a:cxn>
              <a:cxn ang="0">
                <a:pos x="connsiteX4972" y="connsiteY4972"/>
              </a:cxn>
              <a:cxn ang="0">
                <a:pos x="connsiteX4973" y="connsiteY4973"/>
              </a:cxn>
              <a:cxn ang="0">
                <a:pos x="connsiteX4974" y="connsiteY4974"/>
              </a:cxn>
              <a:cxn ang="0">
                <a:pos x="connsiteX4975" y="connsiteY4975"/>
              </a:cxn>
              <a:cxn ang="0">
                <a:pos x="connsiteX4976" y="connsiteY4976"/>
              </a:cxn>
              <a:cxn ang="0">
                <a:pos x="connsiteX4977" y="connsiteY4977"/>
              </a:cxn>
              <a:cxn ang="0">
                <a:pos x="connsiteX4978" y="connsiteY4978"/>
              </a:cxn>
              <a:cxn ang="0">
                <a:pos x="connsiteX4979" y="connsiteY4979"/>
              </a:cxn>
              <a:cxn ang="0">
                <a:pos x="connsiteX4980" y="connsiteY4980"/>
              </a:cxn>
              <a:cxn ang="0">
                <a:pos x="connsiteX4981" y="connsiteY4981"/>
              </a:cxn>
              <a:cxn ang="0">
                <a:pos x="connsiteX4982" y="connsiteY4982"/>
              </a:cxn>
              <a:cxn ang="0">
                <a:pos x="connsiteX4983" y="connsiteY4983"/>
              </a:cxn>
              <a:cxn ang="0">
                <a:pos x="connsiteX4984" y="connsiteY4984"/>
              </a:cxn>
              <a:cxn ang="0">
                <a:pos x="connsiteX4985" y="connsiteY4985"/>
              </a:cxn>
              <a:cxn ang="0">
                <a:pos x="connsiteX4986" y="connsiteY4986"/>
              </a:cxn>
              <a:cxn ang="0">
                <a:pos x="connsiteX4987" y="connsiteY4987"/>
              </a:cxn>
              <a:cxn ang="0">
                <a:pos x="connsiteX4988" y="connsiteY4988"/>
              </a:cxn>
              <a:cxn ang="0">
                <a:pos x="connsiteX4989" y="connsiteY4989"/>
              </a:cxn>
              <a:cxn ang="0">
                <a:pos x="connsiteX4990" y="connsiteY4990"/>
              </a:cxn>
              <a:cxn ang="0">
                <a:pos x="connsiteX4991" y="connsiteY4991"/>
              </a:cxn>
              <a:cxn ang="0">
                <a:pos x="connsiteX4992" y="connsiteY4992"/>
              </a:cxn>
              <a:cxn ang="0">
                <a:pos x="connsiteX4993" y="connsiteY4993"/>
              </a:cxn>
              <a:cxn ang="0">
                <a:pos x="connsiteX4994" y="connsiteY4994"/>
              </a:cxn>
              <a:cxn ang="0">
                <a:pos x="connsiteX4995" y="connsiteY4995"/>
              </a:cxn>
              <a:cxn ang="0">
                <a:pos x="connsiteX4996" y="connsiteY4996"/>
              </a:cxn>
              <a:cxn ang="0">
                <a:pos x="connsiteX4997" y="connsiteY4997"/>
              </a:cxn>
              <a:cxn ang="0">
                <a:pos x="connsiteX4998" y="connsiteY4998"/>
              </a:cxn>
              <a:cxn ang="0">
                <a:pos x="connsiteX4999" y="connsiteY4999"/>
              </a:cxn>
              <a:cxn ang="0">
                <a:pos x="connsiteX5000" y="connsiteY5000"/>
              </a:cxn>
              <a:cxn ang="0">
                <a:pos x="connsiteX5001" y="connsiteY5001"/>
              </a:cxn>
              <a:cxn ang="0">
                <a:pos x="connsiteX5002" y="connsiteY5002"/>
              </a:cxn>
              <a:cxn ang="0">
                <a:pos x="connsiteX5003" y="connsiteY5003"/>
              </a:cxn>
              <a:cxn ang="0">
                <a:pos x="connsiteX5004" y="connsiteY5004"/>
              </a:cxn>
              <a:cxn ang="0">
                <a:pos x="connsiteX5005" y="connsiteY5005"/>
              </a:cxn>
              <a:cxn ang="0">
                <a:pos x="connsiteX5006" y="connsiteY5006"/>
              </a:cxn>
              <a:cxn ang="0">
                <a:pos x="connsiteX5007" y="connsiteY5007"/>
              </a:cxn>
              <a:cxn ang="0">
                <a:pos x="connsiteX5008" y="connsiteY5008"/>
              </a:cxn>
              <a:cxn ang="0">
                <a:pos x="connsiteX5009" y="connsiteY5009"/>
              </a:cxn>
              <a:cxn ang="0">
                <a:pos x="connsiteX5010" y="connsiteY5010"/>
              </a:cxn>
              <a:cxn ang="0">
                <a:pos x="connsiteX5011" y="connsiteY5011"/>
              </a:cxn>
              <a:cxn ang="0">
                <a:pos x="connsiteX5012" y="connsiteY5012"/>
              </a:cxn>
              <a:cxn ang="0">
                <a:pos x="connsiteX5013" y="connsiteY5013"/>
              </a:cxn>
              <a:cxn ang="0">
                <a:pos x="connsiteX5014" y="connsiteY5014"/>
              </a:cxn>
              <a:cxn ang="0">
                <a:pos x="connsiteX5015" y="connsiteY5015"/>
              </a:cxn>
              <a:cxn ang="0">
                <a:pos x="connsiteX5016" y="connsiteY5016"/>
              </a:cxn>
              <a:cxn ang="0">
                <a:pos x="connsiteX5017" y="connsiteY5017"/>
              </a:cxn>
              <a:cxn ang="0">
                <a:pos x="connsiteX5018" y="connsiteY5018"/>
              </a:cxn>
              <a:cxn ang="0">
                <a:pos x="connsiteX5019" y="connsiteY5019"/>
              </a:cxn>
              <a:cxn ang="0">
                <a:pos x="connsiteX5020" y="connsiteY5020"/>
              </a:cxn>
              <a:cxn ang="0">
                <a:pos x="connsiteX5021" y="connsiteY5021"/>
              </a:cxn>
              <a:cxn ang="0">
                <a:pos x="connsiteX5022" y="connsiteY5022"/>
              </a:cxn>
              <a:cxn ang="0">
                <a:pos x="connsiteX5023" y="connsiteY5023"/>
              </a:cxn>
              <a:cxn ang="0">
                <a:pos x="connsiteX5024" y="connsiteY5024"/>
              </a:cxn>
              <a:cxn ang="0">
                <a:pos x="connsiteX5025" y="connsiteY5025"/>
              </a:cxn>
              <a:cxn ang="0">
                <a:pos x="connsiteX5026" y="connsiteY5026"/>
              </a:cxn>
              <a:cxn ang="0">
                <a:pos x="connsiteX5027" y="connsiteY5027"/>
              </a:cxn>
              <a:cxn ang="0">
                <a:pos x="connsiteX5028" y="connsiteY5028"/>
              </a:cxn>
              <a:cxn ang="0">
                <a:pos x="connsiteX5029" y="connsiteY5029"/>
              </a:cxn>
              <a:cxn ang="0">
                <a:pos x="connsiteX5030" y="connsiteY5030"/>
              </a:cxn>
              <a:cxn ang="0">
                <a:pos x="connsiteX5031" y="connsiteY5031"/>
              </a:cxn>
              <a:cxn ang="0">
                <a:pos x="connsiteX5032" y="connsiteY5032"/>
              </a:cxn>
              <a:cxn ang="0">
                <a:pos x="connsiteX5033" y="connsiteY5033"/>
              </a:cxn>
              <a:cxn ang="0">
                <a:pos x="connsiteX5034" y="connsiteY5034"/>
              </a:cxn>
              <a:cxn ang="0">
                <a:pos x="connsiteX5035" y="connsiteY5035"/>
              </a:cxn>
              <a:cxn ang="0">
                <a:pos x="connsiteX5036" y="connsiteY5036"/>
              </a:cxn>
              <a:cxn ang="0">
                <a:pos x="connsiteX5037" y="connsiteY5037"/>
              </a:cxn>
              <a:cxn ang="0">
                <a:pos x="connsiteX5038" y="connsiteY5038"/>
              </a:cxn>
              <a:cxn ang="0">
                <a:pos x="connsiteX5039" y="connsiteY5039"/>
              </a:cxn>
              <a:cxn ang="0">
                <a:pos x="connsiteX5040" y="connsiteY5040"/>
              </a:cxn>
              <a:cxn ang="0">
                <a:pos x="connsiteX5041" y="connsiteY5041"/>
              </a:cxn>
              <a:cxn ang="0">
                <a:pos x="connsiteX5042" y="connsiteY5042"/>
              </a:cxn>
              <a:cxn ang="0">
                <a:pos x="connsiteX5043" y="connsiteY5043"/>
              </a:cxn>
              <a:cxn ang="0">
                <a:pos x="connsiteX5044" y="connsiteY5044"/>
              </a:cxn>
              <a:cxn ang="0">
                <a:pos x="connsiteX5045" y="connsiteY5045"/>
              </a:cxn>
              <a:cxn ang="0">
                <a:pos x="connsiteX5046" y="connsiteY5046"/>
              </a:cxn>
              <a:cxn ang="0">
                <a:pos x="connsiteX5047" y="connsiteY5047"/>
              </a:cxn>
              <a:cxn ang="0">
                <a:pos x="connsiteX5048" y="connsiteY5048"/>
              </a:cxn>
              <a:cxn ang="0">
                <a:pos x="connsiteX5049" y="connsiteY5049"/>
              </a:cxn>
              <a:cxn ang="0">
                <a:pos x="connsiteX5050" y="connsiteY5050"/>
              </a:cxn>
              <a:cxn ang="0">
                <a:pos x="connsiteX5051" y="connsiteY5051"/>
              </a:cxn>
              <a:cxn ang="0">
                <a:pos x="connsiteX5052" y="connsiteY5052"/>
              </a:cxn>
              <a:cxn ang="0">
                <a:pos x="connsiteX5053" y="connsiteY5053"/>
              </a:cxn>
              <a:cxn ang="0">
                <a:pos x="connsiteX5054" y="connsiteY5054"/>
              </a:cxn>
              <a:cxn ang="0">
                <a:pos x="connsiteX5055" y="connsiteY5055"/>
              </a:cxn>
              <a:cxn ang="0">
                <a:pos x="connsiteX5056" y="connsiteY5056"/>
              </a:cxn>
              <a:cxn ang="0">
                <a:pos x="connsiteX5057" y="connsiteY5057"/>
              </a:cxn>
              <a:cxn ang="0">
                <a:pos x="connsiteX5058" y="connsiteY5058"/>
              </a:cxn>
              <a:cxn ang="0">
                <a:pos x="connsiteX5059" y="connsiteY5059"/>
              </a:cxn>
              <a:cxn ang="0">
                <a:pos x="connsiteX5060" y="connsiteY5060"/>
              </a:cxn>
              <a:cxn ang="0">
                <a:pos x="connsiteX5061" y="connsiteY5061"/>
              </a:cxn>
              <a:cxn ang="0">
                <a:pos x="connsiteX5062" y="connsiteY5062"/>
              </a:cxn>
              <a:cxn ang="0">
                <a:pos x="connsiteX5063" y="connsiteY5063"/>
              </a:cxn>
              <a:cxn ang="0">
                <a:pos x="connsiteX5064" y="connsiteY5064"/>
              </a:cxn>
              <a:cxn ang="0">
                <a:pos x="connsiteX5065" y="connsiteY5065"/>
              </a:cxn>
              <a:cxn ang="0">
                <a:pos x="connsiteX5066" y="connsiteY5066"/>
              </a:cxn>
              <a:cxn ang="0">
                <a:pos x="connsiteX5067" y="connsiteY5067"/>
              </a:cxn>
              <a:cxn ang="0">
                <a:pos x="connsiteX5068" y="connsiteY5068"/>
              </a:cxn>
              <a:cxn ang="0">
                <a:pos x="connsiteX5069" y="connsiteY5069"/>
              </a:cxn>
              <a:cxn ang="0">
                <a:pos x="connsiteX5070" y="connsiteY5070"/>
              </a:cxn>
              <a:cxn ang="0">
                <a:pos x="connsiteX5071" y="connsiteY5071"/>
              </a:cxn>
              <a:cxn ang="0">
                <a:pos x="connsiteX5072" y="connsiteY5072"/>
              </a:cxn>
              <a:cxn ang="0">
                <a:pos x="connsiteX5073" y="connsiteY5073"/>
              </a:cxn>
              <a:cxn ang="0">
                <a:pos x="connsiteX5074" y="connsiteY5074"/>
              </a:cxn>
              <a:cxn ang="0">
                <a:pos x="connsiteX5075" y="connsiteY5075"/>
              </a:cxn>
              <a:cxn ang="0">
                <a:pos x="connsiteX5076" y="connsiteY5076"/>
              </a:cxn>
              <a:cxn ang="0">
                <a:pos x="connsiteX5077" y="connsiteY5077"/>
              </a:cxn>
              <a:cxn ang="0">
                <a:pos x="connsiteX5078" y="connsiteY5078"/>
              </a:cxn>
              <a:cxn ang="0">
                <a:pos x="connsiteX5079" y="connsiteY5079"/>
              </a:cxn>
              <a:cxn ang="0">
                <a:pos x="connsiteX5080" y="connsiteY5080"/>
              </a:cxn>
              <a:cxn ang="0">
                <a:pos x="connsiteX5081" y="connsiteY5081"/>
              </a:cxn>
              <a:cxn ang="0">
                <a:pos x="connsiteX5082" y="connsiteY5082"/>
              </a:cxn>
              <a:cxn ang="0">
                <a:pos x="connsiteX5083" y="connsiteY5083"/>
              </a:cxn>
              <a:cxn ang="0">
                <a:pos x="connsiteX5084" y="connsiteY5084"/>
              </a:cxn>
              <a:cxn ang="0">
                <a:pos x="connsiteX5085" y="connsiteY5085"/>
              </a:cxn>
              <a:cxn ang="0">
                <a:pos x="connsiteX5086" y="connsiteY5086"/>
              </a:cxn>
              <a:cxn ang="0">
                <a:pos x="connsiteX5087" y="connsiteY5087"/>
              </a:cxn>
              <a:cxn ang="0">
                <a:pos x="connsiteX5088" y="connsiteY5088"/>
              </a:cxn>
              <a:cxn ang="0">
                <a:pos x="connsiteX5089" y="connsiteY5089"/>
              </a:cxn>
              <a:cxn ang="0">
                <a:pos x="connsiteX5090" y="connsiteY5090"/>
              </a:cxn>
              <a:cxn ang="0">
                <a:pos x="connsiteX5091" y="connsiteY5091"/>
              </a:cxn>
              <a:cxn ang="0">
                <a:pos x="connsiteX5092" y="connsiteY5092"/>
              </a:cxn>
              <a:cxn ang="0">
                <a:pos x="connsiteX5093" y="connsiteY5093"/>
              </a:cxn>
              <a:cxn ang="0">
                <a:pos x="connsiteX5094" y="connsiteY5094"/>
              </a:cxn>
              <a:cxn ang="0">
                <a:pos x="connsiteX5095" y="connsiteY5095"/>
              </a:cxn>
              <a:cxn ang="0">
                <a:pos x="connsiteX5096" y="connsiteY5096"/>
              </a:cxn>
              <a:cxn ang="0">
                <a:pos x="connsiteX5097" y="connsiteY5097"/>
              </a:cxn>
              <a:cxn ang="0">
                <a:pos x="connsiteX5098" y="connsiteY5098"/>
              </a:cxn>
              <a:cxn ang="0">
                <a:pos x="connsiteX5099" y="connsiteY5099"/>
              </a:cxn>
              <a:cxn ang="0">
                <a:pos x="connsiteX5100" y="connsiteY5100"/>
              </a:cxn>
              <a:cxn ang="0">
                <a:pos x="connsiteX5101" y="connsiteY5101"/>
              </a:cxn>
              <a:cxn ang="0">
                <a:pos x="connsiteX5102" y="connsiteY5102"/>
              </a:cxn>
              <a:cxn ang="0">
                <a:pos x="connsiteX5103" y="connsiteY5103"/>
              </a:cxn>
              <a:cxn ang="0">
                <a:pos x="connsiteX5104" y="connsiteY5104"/>
              </a:cxn>
              <a:cxn ang="0">
                <a:pos x="connsiteX5105" y="connsiteY5105"/>
              </a:cxn>
              <a:cxn ang="0">
                <a:pos x="connsiteX5106" y="connsiteY5106"/>
              </a:cxn>
              <a:cxn ang="0">
                <a:pos x="connsiteX5107" y="connsiteY5107"/>
              </a:cxn>
              <a:cxn ang="0">
                <a:pos x="connsiteX5108" y="connsiteY5108"/>
              </a:cxn>
              <a:cxn ang="0">
                <a:pos x="connsiteX5109" y="connsiteY5109"/>
              </a:cxn>
              <a:cxn ang="0">
                <a:pos x="connsiteX5110" y="connsiteY5110"/>
              </a:cxn>
              <a:cxn ang="0">
                <a:pos x="connsiteX5111" y="connsiteY5111"/>
              </a:cxn>
              <a:cxn ang="0">
                <a:pos x="connsiteX5112" y="connsiteY5112"/>
              </a:cxn>
              <a:cxn ang="0">
                <a:pos x="connsiteX5113" y="connsiteY5113"/>
              </a:cxn>
              <a:cxn ang="0">
                <a:pos x="connsiteX5114" y="connsiteY5114"/>
              </a:cxn>
              <a:cxn ang="0">
                <a:pos x="connsiteX5115" y="connsiteY5115"/>
              </a:cxn>
              <a:cxn ang="0">
                <a:pos x="connsiteX5116" y="connsiteY5116"/>
              </a:cxn>
              <a:cxn ang="0">
                <a:pos x="connsiteX5117" y="connsiteY5117"/>
              </a:cxn>
              <a:cxn ang="0">
                <a:pos x="connsiteX5118" y="connsiteY5118"/>
              </a:cxn>
              <a:cxn ang="0">
                <a:pos x="connsiteX5119" y="connsiteY5119"/>
              </a:cxn>
              <a:cxn ang="0">
                <a:pos x="connsiteX5120" y="connsiteY5120"/>
              </a:cxn>
              <a:cxn ang="0">
                <a:pos x="connsiteX5121" y="connsiteY5121"/>
              </a:cxn>
              <a:cxn ang="0">
                <a:pos x="connsiteX5122" y="connsiteY5122"/>
              </a:cxn>
              <a:cxn ang="0">
                <a:pos x="connsiteX5123" y="connsiteY5123"/>
              </a:cxn>
              <a:cxn ang="0">
                <a:pos x="connsiteX5124" y="connsiteY5124"/>
              </a:cxn>
              <a:cxn ang="0">
                <a:pos x="connsiteX5125" y="connsiteY5125"/>
              </a:cxn>
              <a:cxn ang="0">
                <a:pos x="connsiteX5126" y="connsiteY5126"/>
              </a:cxn>
              <a:cxn ang="0">
                <a:pos x="connsiteX5127" y="connsiteY5127"/>
              </a:cxn>
              <a:cxn ang="0">
                <a:pos x="connsiteX5128" y="connsiteY5128"/>
              </a:cxn>
              <a:cxn ang="0">
                <a:pos x="connsiteX5129" y="connsiteY5129"/>
              </a:cxn>
              <a:cxn ang="0">
                <a:pos x="connsiteX5130" y="connsiteY5130"/>
              </a:cxn>
              <a:cxn ang="0">
                <a:pos x="connsiteX5131" y="connsiteY5131"/>
              </a:cxn>
              <a:cxn ang="0">
                <a:pos x="connsiteX5132" y="connsiteY5132"/>
              </a:cxn>
              <a:cxn ang="0">
                <a:pos x="connsiteX5133" y="connsiteY5133"/>
              </a:cxn>
              <a:cxn ang="0">
                <a:pos x="connsiteX5134" y="connsiteY5134"/>
              </a:cxn>
              <a:cxn ang="0">
                <a:pos x="connsiteX5135" y="connsiteY5135"/>
              </a:cxn>
              <a:cxn ang="0">
                <a:pos x="connsiteX5136" y="connsiteY5136"/>
              </a:cxn>
              <a:cxn ang="0">
                <a:pos x="connsiteX5137" y="connsiteY5137"/>
              </a:cxn>
              <a:cxn ang="0">
                <a:pos x="connsiteX5138" y="connsiteY5138"/>
              </a:cxn>
              <a:cxn ang="0">
                <a:pos x="connsiteX5139" y="connsiteY5139"/>
              </a:cxn>
              <a:cxn ang="0">
                <a:pos x="connsiteX5140" y="connsiteY5140"/>
              </a:cxn>
              <a:cxn ang="0">
                <a:pos x="connsiteX5141" y="connsiteY5141"/>
              </a:cxn>
              <a:cxn ang="0">
                <a:pos x="connsiteX5142" y="connsiteY5142"/>
              </a:cxn>
              <a:cxn ang="0">
                <a:pos x="connsiteX5143" y="connsiteY5143"/>
              </a:cxn>
              <a:cxn ang="0">
                <a:pos x="connsiteX5144" y="connsiteY5144"/>
              </a:cxn>
              <a:cxn ang="0">
                <a:pos x="connsiteX5145" y="connsiteY5145"/>
              </a:cxn>
              <a:cxn ang="0">
                <a:pos x="connsiteX5146" y="connsiteY5146"/>
              </a:cxn>
              <a:cxn ang="0">
                <a:pos x="connsiteX5147" y="connsiteY5147"/>
              </a:cxn>
              <a:cxn ang="0">
                <a:pos x="connsiteX5148" y="connsiteY5148"/>
              </a:cxn>
              <a:cxn ang="0">
                <a:pos x="connsiteX5149" y="connsiteY5149"/>
              </a:cxn>
              <a:cxn ang="0">
                <a:pos x="connsiteX5150" y="connsiteY5150"/>
              </a:cxn>
              <a:cxn ang="0">
                <a:pos x="connsiteX5151" y="connsiteY5151"/>
              </a:cxn>
              <a:cxn ang="0">
                <a:pos x="connsiteX5152" y="connsiteY5152"/>
              </a:cxn>
              <a:cxn ang="0">
                <a:pos x="connsiteX5153" y="connsiteY5153"/>
              </a:cxn>
              <a:cxn ang="0">
                <a:pos x="connsiteX5154" y="connsiteY5154"/>
              </a:cxn>
              <a:cxn ang="0">
                <a:pos x="connsiteX5155" y="connsiteY5155"/>
              </a:cxn>
              <a:cxn ang="0">
                <a:pos x="connsiteX5156" y="connsiteY5156"/>
              </a:cxn>
              <a:cxn ang="0">
                <a:pos x="connsiteX5157" y="connsiteY5157"/>
              </a:cxn>
              <a:cxn ang="0">
                <a:pos x="connsiteX5158" y="connsiteY5158"/>
              </a:cxn>
              <a:cxn ang="0">
                <a:pos x="connsiteX5159" y="connsiteY5159"/>
              </a:cxn>
              <a:cxn ang="0">
                <a:pos x="connsiteX5160" y="connsiteY5160"/>
              </a:cxn>
              <a:cxn ang="0">
                <a:pos x="connsiteX5161" y="connsiteY5161"/>
              </a:cxn>
              <a:cxn ang="0">
                <a:pos x="connsiteX5162" y="connsiteY5162"/>
              </a:cxn>
              <a:cxn ang="0">
                <a:pos x="connsiteX5163" y="connsiteY5163"/>
              </a:cxn>
              <a:cxn ang="0">
                <a:pos x="connsiteX5164" y="connsiteY5164"/>
              </a:cxn>
              <a:cxn ang="0">
                <a:pos x="connsiteX5165" y="connsiteY5165"/>
              </a:cxn>
              <a:cxn ang="0">
                <a:pos x="connsiteX5166" y="connsiteY5166"/>
              </a:cxn>
              <a:cxn ang="0">
                <a:pos x="connsiteX5167" y="connsiteY5167"/>
              </a:cxn>
              <a:cxn ang="0">
                <a:pos x="connsiteX5168" y="connsiteY5168"/>
              </a:cxn>
              <a:cxn ang="0">
                <a:pos x="connsiteX5169" y="connsiteY5169"/>
              </a:cxn>
              <a:cxn ang="0">
                <a:pos x="connsiteX5170" y="connsiteY5170"/>
              </a:cxn>
              <a:cxn ang="0">
                <a:pos x="connsiteX5171" y="connsiteY5171"/>
              </a:cxn>
              <a:cxn ang="0">
                <a:pos x="connsiteX5172" y="connsiteY5172"/>
              </a:cxn>
              <a:cxn ang="0">
                <a:pos x="connsiteX5173" y="connsiteY5173"/>
              </a:cxn>
              <a:cxn ang="0">
                <a:pos x="connsiteX5174" y="connsiteY5174"/>
              </a:cxn>
              <a:cxn ang="0">
                <a:pos x="connsiteX5175" y="connsiteY5175"/>
              </a:cxn>
              <a:cxn ang="0">
                <a:pos x="connsiteX5176" y="connsiteY5176"/>
              </a:cxn>
              <a:cxn ang="0">
                <a:pos x="connsiteX5177" y="connsiteY5177"/>
              </a:cxn>
              <a:cxn ang="0">
                <a:pos x="connsiteX5178" y="connsiteY5178"/>
              </a:cxn>
              <a:cxn ang="0">
                <a:pos x="connsiteX5179" y="connsiteY5179"/>
              </a:cxn>
              <a:cxn ang="0">
                <a:pos x="connsiteX5180" y="connsiteY5180"/>
              </a:cxn>
              <a:cxn ang="0">
                <a:pos x="connsiteX5181" y="connsiteY5181"/>
              </a:cxn>
              <a:cxn ang="0">
                <a:pos x="connsiteX5182" y="connsiteY5182"/>
              </a:cxn>
              <a:cxn ang="0">
                <a:pos x="connsiteX5183" y="connsiteY5183"/>
              </a:cxn>
              <a:cxn ang="0">
                <a:pos x="connsiteX5184" y="connsiteY5184"/>
              </a:cxn>
              <a:cxn ang="0">
                <a:pos x="connsiteX5185" y="connsiteY5185"/>
              </a:cxn>
              <a:cxn ang="0">
                <a:pos x="connsiteX5186" y="connsiteY5186"/>
              </a:cxn>
              <a:cxn ang="0">
                <a:pos x="connsiteX5187" y="connsiteY5187"/>
              </a:cxn>
              <a:cxn ang="0">
                <a:pos x="connsiteX5188" y="connsiteY5188"/>
              </a:cxn>
              <a:cxn ang="0">
                <a:pos x="connsiteX5189" y="connsiteY5189"/>
              </a:cxn>
              <a:cxn ang="0">
                <a:pos x="connsiteX5190" y="connsiteY5190"/>
              </a:cxn>
              <a:cxn ang="0">
                <a:pos x="connsiteX5191" y="connsiteY5191"/>
              </a:cxn>
              <a:cxn ang="0">
                <a:pos x="connsiteX5192" y="connsiteY5192"/>
              </a:cxn>
              <a:cxn ang="0">
                <a:pos x="connsiteX5193" y="connsiteY5193"/>
              </a:cxn>
              <a:cxn ang="0">
                <a:pos x="connsiteX5194" y="connsiteY5194"/>
              </a:cxn>
              <a:cxn ang="0">
                <a:pos x="connsiteX5195" y="connsiteY5195"/>
              </a:cxn>
              <a:cxn ang="0">
                <a:pos x="connsiteX5196" y="connsiteY5196"/>
              </a:cxn>
              <a:cxn ang="0">
                <a:pos x="connsiteX5197" y="connsiteY5197"/>
              </a:cxn>
              <a:cxn ang="0">
                <a:pos x="connsiteX5198" y="connsiteY5198"/>
              </a:cxn>
              <a:cxn ang="0">
                <a:pos x="connsiteX5199" y="connsiteY5199"/>
              </a:cxn>
              <a:cxn ang="0">
                <a:pos x="connsiteX5200" y="connsiteY5200"/>
              </a:cxn>
              <a:cxn ang="0">
                <a:pos x="connsiteX5201" y="connsiteY5201"/>
              </a:cxn>
              <a:cxn ang="0">
                <a:pos x="connsiteX5202" y="connsiteY5202"/>
              </a:cxn>
              <a:cxn ang="0">
                <a:pos x="connsiteX5203" y="connsiteY5203"/>
              </a:cxn>
              <a:cxn ang="0">
                <a:pos x="connsiteX5204" y="connsiteY5204"/>
              </a:cxn>
              <a:cxn ang="0">
                <a:pos x="connsiteX5205" y="connsiteY5205"/>
              </a:cxn>
              <a:cxn ang="0">
                <a:pos x="connsiteX5206" y="connsiteY5206"/>
              </a:cxn>
              <a:cxn ang="0">
                <a:pos x="connsiteX5207" y="connsiteY5207"/>
              </a:cxn>
              <a:cxn ang="0">
                <a:pos x="connsiteX5208" y="connsiteY5208"/>
              </a:cxn>
              <a:cxn ang="0">
                <a:pos x="connsiteX5209" y="connsiteY5209"/>
              </a:cxn>
              <a:cxn ang="0">
                <a:pos x="connsiteX5210" y="connsiteY5210"/>
              </a:cxn>
              <a:cxn ang="0">
                <a:pos x="connsiteX5211" y="connsiteY5211"/>
              </a:cxn>
              <a:cxn ang="0">
                <a:pos x="connsiteX5212" y="connsiteY5212"/>
              </a:cxn>
              <a:cxn ang="0">
                <a:pos x="connsiteX5213" y="connsiteY5213"/>
              </a:cxn>
              <a:cxn ang="0">
                <a:pos x="connsiteX5214" y="connsiteY5214"/>
              </a:cxn>
              <a:cxn ang="0">
                <a:pos x="connsiteX5215" y="connsiteY5215"/>
              </a:cxn>
              <a:cxn ang="0">
                <a:pos x="connsiteX5216" y="connsiteY5216"/>
              </a:cxn>
              <a:cxn ang="0">
                <a:pos x="connsiteX5217" y="connsiteY5217"/>
              </a:cxn>
              <a:cxn ang="0">
                <a:pos x="connsiteX5218" y="connsiteY5218"/>
              </a:cxn>
              <a:cxn ang="0">
                <a:pos x="connsiteX5219" y="connsiteY5219"/>
              </a:cxn>
              <a:cxn ang="0">
                <a:pos x="connsiteX5220" y="connsiteY5220"/>
              </a:cxn>
              <a:cxn ang="0">
                <a:pos x="connsiteX5221" y="connsiteY5221"/>
              </a:cxn>
              <a:cxn ang="0">
                <a:pos x="connsiteX5222" y="connsiteY5222"/>
              </a:cxn>
              <a:cxn ang="0">
                <a:pos x="connsiteX5223" y="connsiteY5223"/>
              </a:cxn>
              <a:cxn ang="0">
                <a:pos x="connsiteX5224" y="connsiteY5224"/>
              </a:cxn>
              <a:cxn ang="0">
                <a:pos x="connsiteX5225" y="connsiteY5225"/>
              </a:cxn>
              <a:cxn ang="0">
                <a:pos x="connsiteX5226" y="connsiteY5226"/>
              </a:cxn>
              <a:cxn ang="0">
                <a:pos x="connsiteX5227" y="connsiteY5227"/>
              </a:cxn>
              <a:cxn ang="0">
                <a:pos x="connsiteX5228" y="connsiteY5228"/>
              </a:cxn>
              <a:cxn ang="0">
                <a:pos x="connsiteX5229" y="connsiteY5229"/>
              </a:cxn>
              <a:cxn ang="0">
                <a:pos x="connsiteX5230" y="connsiteY5230"/>
              </a:cxn>
              <a:cxn ang="0">
                <a:pos x="connsiteX5231" y="connsiteY5231"/>
              </a:cxn>
              <a:cxn ang="0">
                <a:pos x="connsiteX5232" y="connsiteY5232"/>
              </a:cxn>
              <a:cxn ang="0">
                <a:pos x="connsiteX5233" y="connsiteY5233"/>
              </a:cxn>
              <a:cxn ang="0">
                <a:pos x="connsiteX5234" y="connsiteY5234"/>
              </a:cxn>
              <a:cxn ang="0">
                <a:pos x="connsiteX5235" y="connsiteY5235"/>
              </a:cxn>
              <a:cxn ang="0">
                <a:pos x="connsiteX5236" y="connsiteY5236"/>
              </a:cxn>
              <a:cxn ang="0">
                <a:pos x="connsiteX5237" y="connsiteY5237"/>
              </a:cxn>
              <a:cxn ang="0">
                <a:pos x="connsiteX5238" y="connsiteY5238"/>
              </a:cxn>
              <a:cxn ang="0">
                <a:pos x="connsiteX5239" y="connsiteY5239"/>
              </a:cxn>
              <a:cxn ang="0">
                <a:pos x="connsiteX5240" y="connsiteY5240"/>
              </a:cxn>
              <a:cxn ang="0">
                <a:pos x="connsiteX5241" y="connsiteY5241"/>
              </a:cxn>
              <a:cxn ang="0">
                <a:pos x="connsiteX5242" y="connsiteY5242"/>
              </a:cxn>
              <a:cxn ang="0">
                <a:pos x="connsiteX5243" y="connsiteY5243"/>
              </a:cxn>
              <a:cxn ang="0">
                <a:pos x="connsiteX5244" y="connsiteY5244"/>
              </a:cxn>
              <a:cxn ang="0">
                <a:pos x="connsiteX5245" y="connsiteY5245"/>
              </a:cxn>
              <a:cxn ang="0">
                <a:pos x="connsiteX5246" y="connsiteY5246"/>
              </a:cxn>
              <a:cxn ang="0">
                <a:pos x="connsiteX5247" y="connsiteY5247"/>
              </a:cxn>
              <a:cxn ang="0">
                <a:pos x="connsiteX5248" y="connsiteY5248"/>
              </a:cxn>
              <a:cxn ang="0">
                <a:pos x="connsiteX5249" y="connsiteY5249"/>
              </a:cxn>
              <a:cxn ang="0">
                <a:pos x="connsiteX5250" y="connsiteY5250"/>
              </a:cxn>
              <a:cxn ang="0">
                <a:pos x="connsiteX5251" y="connsiteY5251"/>
              </a:cxn>
              <a:cxn ang="0">
                <a:pos x="connsiteX5252" y="connsiteY5252"/>
              </a:cxn>
              <a:cxn ang="0">
                <a:pos x="connsiteX5253" y="connsiteY5253"/>
              </a:cxn>
              <a:cxn ang="0">
                <a:pos x="connsiteX5254" y="connsiteY5254"/>
              </a:cxn>
              <a:cxn ang="0">
                <a:pos x="connsiteX5255" y="connsiteY5255"/>
              </a:cxn>
              <a:cxn ang="0">
                <a:pos x="connsiteX5256" y="connsiteY5256"/>
              </a:cxn>
              <a:cxn ang="0">
                <a:pos x="connsiteX5257" y="connsiteY5257"/>
              </a:cxn>
              <a:cxn ang="0">
                <a:pos x="connsiteX5258" y="connsiteY5258"/>
              </a:cxn>
              <a:cxn ang="0">
                <a:pos x="connsiteX5259" y="connsiteY5259"/>
              </a:cxn>
              <a:cxn ang="0">
                <a:pos x="connsiteX5260" y="connsiteY5260"/>
              </a:cxn>
              <a:cxn ang="0">
                <a:pos x="connsiteX5261" y="connsiteY5261"/>
              </a:cxn>
              <a:cxn ang="0">
                <a:pos x="connsiteX5262" y="connsiteY5262"/>
              </a:cxn>
              <a:cxn ang="0">
                <a:pos x="connsiteX5263" y="connsiteY5263"/>
              </a:cxn>
              <a:cxn ang="0">
                <a:pos x="connsiteX5264" y="connsiteY5264"/>
              </a:cxn>
              <a:cxn ang="0">
                <a:pos x="connsiteX5265" y="connsiteY5265"/>
              </a:cxn>
              <a:cxn ang="0">
                <a:pos x="connsiteX5266" y="connsiteY5266"/>
              </a:cxn>
              <a:cxn ang="0">
                <a:pos x="connsiteX5267" y="connsiteY5267"/>
              </a:cxn>
              <a:cxn ang="0">
                <a:pos x="connsiteX5268" y="connsiteY5268"/>
              </a:cxn>
              <a:cxn ang="0">
                <a:pos x="connsiteX5269" y="connsiteY5269"/>
              </a:cxn>
              <a:cxn ang="0">
                <a:pos x="connsiteX5270" y="connsiteY5270"/>
              </a:cxn>
              <a:cxn ang="0">
                <a:pos x="connsiteX5271" y="connsiteY5271"/>
              </a:cxn>
              <a:cxn ang="0">
                <a:pos x="connsiteX5272" y="connsiteY5272"/>
              </a:cxn>
              <a:cxn ang="0">
                <a:pos x="connsiteX5273" y="connsiteY5273"/>
              </a:cxn>
              <a:cxn ang="0">
                <a:pos x="connsiteX5274" y="connsiteY5274"/>
              </a:cxn>
              <a:cxn ang="0">
                <a:pos x="connsiteX5275" y="connsiteY5275"/>
              </a:cxn>
              <a:cxn ang="0">
                <a:pos x="connsiteX5276" y="connsiteY5276"/>
              </a:cxn>
              <a:cxn ang="0">
                <a:pos x="connsiteX5277" y="connsiteY5277"/>
              </a:cxn>
              <a:cxn ang="0">
                <a:pos x="connsiteX5278" y="connsiteY5278"/>
              </a:cxn>
              <a:cxn ang="0">
                <a:pos x="connsiteX5279" y="connsiteY5279"/>
              </a:cxn>
              <a:cxn ang="0">
                <a:pos x="connsiteX5280" y="connsiteY5280"/>
              </a:cxn>
              <a:cxn ang="0">
                <a:pos x="connsiteX5281" y="connsiteY5281"/>
              </a:cxn>
              <a:cxn ang="0">
                <a:pos x="connsiteX5282" y="connsiteY5282"/>
              </a:cxn>
              <a:cxn ang="0">
                <a:pos x="connsiteX5283" y="connsiteY5283"/>
              </a:cxn>
              <a:cxn ang="0">
                <a:pos x="connsiteX5284" y="connsiteY5284"/>
              </a:cxn>
              <a:cxn ang="0">
                <a:pos x="connsiteX5285" y="connsiteY5285"/>
              </a:cxn>
              <a:cxn ang="0">
                <a:pos x="connsiteX5286" y="connsiteY5286"/>
              </a:cxn>
              <a:cxn ang="0">
                <a:pos x="connsiteX5287" y="connsiteY5287"/>
              </a:cxn>
              <a:cxn ang="0">
                <a:pos x="connsiteX5288" y="connsiteY5288"/>
              </a:cxn>
              <a:cxn ang="0">
                <a:pos x="connsiteX5289" y="connsiteY5289"/>
              </a:cxn>
              <a:cxn ang="0">
                <a:pos x="connsiteX5290" y="connsiteY5290"/>
              </a:cxn>
              <a:cxn ang="0">
                <a:pos x="connsiteX5291" y="connsiteY5291"/>
              </a:cxn>
              <a:cxn ang="0">
                <a:pos x="connsiteX5292" y="connsiteY5292"/>
              </a:cxn>
              <a:cxn ang="0">
                <a:pos x="connsiteX5293" y="connsiteY5293"/>
              </a:cxn>
              <a:cxn ang="0">
                <a:pos x="connsiteX5294" y="connsiteY5294"/>
              </a:cxn>
              <a:cxn ang="0">
                <a:pos x="connsiteX5295" y="connsiteY5295"/>
              </a:cxn>
              <a:cxn ang="0">
                <a:pos x="connsiteX5296" y="connsiteY5296"/>
              </a:cxn>
              <a:cxn ang="0">
                <a:pos x="connsiteX5297" y="connsiteY5297"/>
              </a:cxn>
              <a:cxn ang="0">
                <a:pos x="connsiteX5298" y="connsiteY5298"/>
              </a:cxn>
              <a:cxn ang="0">
                <a:pos x="connsiteX5299" y="connsiteY5299"/>
              </a:cxn>
              <a:cxn ang="0">
                <a:pos x="connsiteX5300" y="connsiteY5300"/>
              </a:cxn>
              <a:cxn ang="0">
                <a:pos x="connsiteX5301" y="connsiteY5301"/>
              </a:cxn>
              <a:cxn ang="0">
                <a:pos x="connsiteX5302" y="connsiteY5302"/>
              </a:cxn>
              <a:cxn ang="0">
                <a:pos x="connsiteX5303" y="connsiteY5303"/>
              </a:cxn>
              <a:cxn ang="0">
                <a:pos x="connsiteX5304" y="connsiteY5304"/>
              </a:cxn>
              <a:cxn ang="0">
                <a:pos x="connsiteX5305" y="connsiteY5305"/>
              </a:cxn>
              <a:cxn ang="0">
                <a:pos x="connsiteX5306" y="connsiteY5306"/>
              </a:cxn>
              <a:cxn ang="0">
                <a:pos x="connsiteX5307" y="connsiteY5307"/>
              </a:cxn>
              <a:cxn ang="0">
                <a:pos x="connsiteX5308" y="connsiteY5308"/>
              </a:cxn>
              <a:cxn ang="0">
                <a:pos x="connsiteX5309" y="connsiteY5309"/>
              </a:cxn>
              <a:cxn ang="0">
                <a:pos x="connsiteX5310" y="connsiteY5310"/>
              </a:cxn>
              <a:cxn ang="0">
                <a:pos x="connsiteX5311" y="connsiteY5311"/>
              </a:cxn>
              <a:cxn ang="0">
                <a:pos x="connsiteX5312" y="connsiteY5312"/>
              </a:cxn>
              <a:cxn ang="0">
                <a:pos x="connsiteX5313" y="connsiteY5313"/>
              </a:cxn>
              <a:cxn ang="0">
                <a:pos x="connsiteX5314" y="connsiteY5314"/>
              </a:cxn>
              <a:cxn ang="0">
                <a:pos x="connsiteX5315" y="connsiteY5315"/>
              </a:cxn>
              <a:cxn ang="0">
                <a:pos x="connsiteX5316" y="connsiteY5316"/>
              </a:cxn>
              <a:cxn ang="0">
                <a:pos x="connsiteX5317" y="connsiteY5317"/>
              </a:cxn>
              <a:cxn ang="0">
                <a:pos x="connsiteX5318" y="connsiteY5318"/>
              </a:cxn>
              <a:cxn ang="0">
                <a:pos x="connsiteX5319" y="connsiteY5319"/>
              </a:cxn>
              <a:cxn ang="0">
                <a:pos x="connsiteX5320" y="connsiteY5320"/>
              </a:cxn>
              <a:cxn ang="0">
                <a:pos x="connsiteX5321" y="connsiteY5321"/>
              </a:cxn>
              <a:cxn ang="0">
                <a:pos x="connsiteX5322" y="connsiteY5322"/>
              </a:cxn>
              <a:cxn ang="0">
                <a:pos x="connsiteX5323" y="connsiteY5323"/>
              </a:cxn>
              <a:cxn ang="0">
                <a:pos x="connsiteX5324" y="connsiteY5324"/>
              </a:cxn>
              <a:cxn ang="0">
                <a:pos x="connsiteX5325" y="connsiteY5325"/>
              </a:cxn>
              <a:cxn ang="0">
                <a:pos x="connsiteX5326" y="connsiteY5326"/>
              </a:cxn>
              <a:cxn ang="0">
                <a:pos x="connsiteX5327" y="connsiteY5327"/>
              </a:cxn>
              <a:cxn ang="0">
                <a:pos x="connsiteX5328" y="connsiteY5328"/>
              </a:cxn>
              <a:cxn ang="0">
                <a:pos x="connsiteX5329" y="connsiteY5329"/>
              </a:cxn>
              <a:cxn ang="0">
                <a:pos x="connsiteX5330" y="connsiteY5330"/>
              </a:cxn>
              <a:cxn ang="0">
                <a:pos x="connsiteX5331" y="connsiteY5331"/>
              </a:cxn>
              <a:cxn ang="0">
                <a:pos x="connsiteX5332" y="connsiteY5332"/>
              </a:cxn>
              <a:cxn ang="0">
                <a:pos x="connsiteX5333" y="connsiteY5333"/>
              </a:cxn>
              <a:cxn ang="0">
                <a:pos x="connsiteX5334" y="connsiteY5334"/>
              </a:cxn>
              <a:cxn ang="0">
                <a:pos x="connsiteX5335" y="connsiteY5335"/>
              </a:cxn>
              <a:cxn ang="0">
                <a:pos x="connsiteX5336" y="connsiteY5336"/>
              </a:cxn>
              <a:cxn ang="0">
                <a:pos x="connsiteX5337" y="connsiteY5337"/>
              </a:cxn>
              <a:cxn ang="0">
                <a:pos x="connsiteX5338" y="connsiteY5338"/>
              </a:cxn>
              <a:cxn ang="0">
                <a:pos x="connsiteX5339" y="connsiteY5339"/>
              </a:cxn>
              <a:cxn ang="0">
                <a:pos x="connsiteX5340" y="connsiteY5340"/>
              </a:cxn>
              <a:cxn ang="0">
                <a:pos x="connsiteX5341" y="connsiteY5341"/>
              </a:cxn>
              <a:cxn ang="0">
                <a:pos x="connsiteX5342" y="connsiteY5342"/>
              </a:cxn>
              <a:cxn ang="0">
                <a:pos x="connsiteX5343" y="connsiteY5343"/>
              </a:cxn>
              <a:cxn ang="0">
                <a:pos x="connsiteX5344" y="connsiteY5344"/>
              </a:cxn>
              <a:cxn ang="0">
                <a:pos x="connsiteX5345" y="connsiteY5345"/>
              </a:cxn>
              <a:cxn ang="0">
                <a:pos x="connsiteX5346" y="connsiteY5346"/>
              </a:cxn>
              <a:cxn ang="0">
                <a:pos x="connsiteX5347" y="connsiteY5347"/>
              </a:cxn>
              <a:cxn ang="0">
                <a:pos x="connsiteX5348" y="connsiteY5348"/>
              </a:cxn>
              <a:cxn ang="0">
                <a:pos x="connsiteX5349" y="connsiteY5349"/>
              </a:cxn>
              <a:cxn ang="0">
                <a:pos x="connsiteX5350" y="connsiteY5350"/>
              </a:cxn>
              <a:cxn ang="0">
                <a:pos x="connsiteX5351" y="connsiteY5351"/>
              </a:cxn>
              <a:cxn ang="0">
                <a:pos x="connsiteX5352" y="connsiteY5352"/>
              </a:cxn>
              <a:cxn ang="0">
                <a:pos x="connsiteX5353" y="connsiteY5353"/>
              </a:cxn>
              <a:cxn ang="0">
                <a:pos x="connsiteX5354" y="connsiteY5354"/>
              </a:cxn>
              <a:cxn ang="0">
                <a:pos x="connsiteX5355" y="connsiteY5355"/>
              </a:cxn>
              <a:cxn ang="0">
                <a:pos x="connsiteX5356" y="connsiteY5356"/>
              </a:cxn>
              <a:cxn ang="0">
                <a:pos x="connsiteX5357" y="connsiteY5357"/>
              </a:cxn>
              <a:cxn ang="0">
                <a:pos x="connsiteX5358" y="connsiteY5358"/>
              </a:cxn>
              <a:cxn ang="0">
                <a:pos x="connsiteX5359" y="connsiteY5359"/>
              </a:cxn>
              <a:cxn ang="0">
                <a:pos x="connsiteX5360" y="connsiteY5360"/>
              </a:cxn>
              <a:cxn ang="0">
                <a:pos x="connsiteX5361" y="connsiteY5361"/>
              </a:cxn>
              <a:cxn ang="0">
                <a:pos x="connsiteX5362" y="connsiteY5362"/>
              </a:cxn>
              <a:cxn ang="0">
                <a:pos x="connsiteX5363" y="connsiteY5363"/>
              </a:cxn>
              <a:cxn ang="0">
                <a:pos x="connsiteX5364" y="connsiteY5364"/>
              </a:cxn>
              <a:cxn ang="0">
                <a:pos x="connsiteX5365" y="connsiteY5365"/>
              </a:cxn>
              <a:cxn ang="0">
                <a:pos x="connsiteX5366" y="connsiteY5366"/>
              </a:cxn>
              <a:cxn ang="0">
                <a:pos x="connsiteX5367" y="connsiteY5367"/>
              </a:cxn>
              <a:cxn ang="0">
                <a:pos x="connsiteX5368" y="connsiteY5368"/>
              </a:cxn>
              <a:cxn ang="0">
                <a:pos x="connsiteX5369" y="connsiteY5369"/>
              </a:cxn>
              <a:cxn ang="0">
                <a:pos x="connsiteX5370" y="connsiteY5370"/>
              </a:cxn>
              <a:cxn ang="0">
                <a:pos x="connsiteX5371" y="connsiteY5371"/>
              </a:cxn>
              <a:cxn ang="0">
                <a:pos x="connsiteX5372" y="connsiteY5372"/>
              </a:cxn>
              <a:cxn ang="0">
                <a:pos x="connsiteX5373" y="connsiteY5373"/>
              </a:cxn>
              <a:cxn ang="0">
                <a:pos x="connsiteX5374" y="connsiteY5374"/>
              </a:cxn>
              <a:cxn ang="0">
                <a:pos x="connsiteX5375" y="connsiteY5375"/>
              </a:cxn>
              <a:cxn ang="0">
                <a:pos x="connsiteX5376" y="connsiteY5376"/>
              </a:cxn>
              <a:cxn ang="0">
                <a:pos x="connsiteX5377" y="connsiteY5377"/>
              </a:cxn>
              <a:cxn ang="0">
                <a:pos x="connsiteX5378" y="connsiteY5378"/>
              </a:cxn>
              <a:cxn ang="0">
                <a:pos x="connsiteX5379" y="connsiteY5379"/>
              </a:cxn>
              <a:cxn ang="0">
                <a:pos x="connsiteX5380" y="connsiteY5380"/>
              </a:cxn>
              <a:cxn ang="0">
                <a:pos x="connsiteX5381" y="connsiteY5381"/>
              </a:cxn>
              <a:cxn ang="0">
                <a:pos x="connsiteX5382" y="connsiteY5382"/>
              </a:cxn>
              <a:cxn ang="0">
                <a:pos x="connsiteX5383" y="connsiteY5383"/>
              </a:cxn>
              <a:cxn ang="0">
                <a:pos x="connsiteX5384" y="connsiteY5384"/>
              </a:cxn>
              <a:cxn ang="0">
                <a:pos x="connsiteX5385" y="connsiteY5385"/>
              </a:cxn>
              <a:cxn ang="0">
                <a:pos x="connsiteX5386" y="connsiteY5386"/>
              </a:cxn>
              <a:cxn ang="0">
                <a:pos x="connsiteX5387" y="connsiteY5387"/>
              </a:cxn>
              <a:cxn ang="0">
                <a:pos x="connsiteX5388" y="connsiteY5388"/>
              </a:cxn>
              <a:cxn ang="0">
                <a:pos x="connsiteX5389" y="connsiteY5389"/>
              </a:cxn>
              <a:cxn ang="0">
                <a:pos x="connsiteX5390" y="connsiteY5390"/>
              </a:cxn>
              <a:cxn ang="0">
                <a:pos x="connsiteX5391" y="connsiteY5391"/>
              </a:cxn>
              <a:cxn ang="0">
                <a:pos x="connsiteX5392" y="connsiteY5392"/>
              </a:cxn>
              <a:cxn ang="0">
                <a:pos x="connsiteX5393" y="connsiteY5393"/>
              </a:cxn>
              <a:cxn ang="0">
                <a:pos x="connsiteX5394" y="connsiteY5394"/>
              </a:cxn>
              <a:cxn ang="0">
                <a:pos x="connsiteX5395" y="connsiteY5395"/>
              </a:cxn>
              <a:cxn ang="0">
                <a:pos x="connsiteX5396" y="connsiteY5396"/>
              </a:cxn>
              <a:cxn ang="0">
                <a:pos x="connsiteX5397" y="connsiteY5397"/>
              </a:cxn>
              <a:cxn ang="0">
                <a:pos x="connsiteX5398" y="connsiteY5398"/>
              </a:cxn>
              <a:cxn ang="0">
                <a:pos x="connsiteX5399" y="connsiteY5399"/>
              </a:cxn>
              <a:cxn ang="0">
                <a:pos x="connsiteX5400" y="connsiteY5400"/>
              </a:cxn>
              <a:cxn ang="0">
                <a:pos x="connsiteX5401" y="connsiteY5401"/>
              </a:cxn>
              <a:cxn ang="0">
                <a:pos x="connsiteX5402" y="connsiteY5402"/>
              </a:cxn>
              <a:cxn ang="0">
                <a:pos x="connsiteX5403" y="connsiteY5403"/>
              </a:cxn>
              <a:cxn ang="0">
                <a:pos x="connsiteX5404" y="connsiteY5404"/>
              </a:cxn>
              <a:cxn ang="0">
                <a:pos x="connsiteX5405" y="connsiteY5405"/>
              </a:cxn>
              <a:cxn ang="0">
                <a:pos x="connsiteX5406" y="connsiteY5406"/>
              </a:cxn>
              <a:cxn ang="0">
                <a:pos x="connsiteX5407" y="connsiteY5407"/>
              </a:cxn>
              <a:cxn ang="0">
                <a:pos x="connsiteX5408" y="connsiteY5408"/>
              </a:cxn>
              <a:cxn ang="0">
                <a:pos x="connsiteX5409" y="connsiteY5409"/>
              </a:cxn>
              <a:cxn ang="0">
                <a:pos x="connsiteX5410" y="connsiteY5410"/>
              </a:cxn>
              <a:cxn ang="0">
                <a:pos x="connsiteX5411" y="connsiteY5411"/>
              </a:cxn>
              <a:cxn ang="0">
                <a:pos x="connsiteX5412" y="connsiteY5412"/>
              </a:cxn>
              <a:cxn ang="0">
                <a:pos x="connsiteX5413" y="connsiteY5413"/>
              </a:cxn>
              <a:cxn ang="0">
                <a:pos x="connsiteX5414" y="connsiteY5414"/>
              </a:cxn>
              <a:cxn ang="0">
                <a:pos x="connsiteX5415" y="connsiteY5415"/>
              </a:cxn>
              <a:cxn ang="0">
                <a:pos x="connsiteX5416" y="connsiteY5416"/>
              </a:cxn>
              <a:cxn ang="0">
                <a:pos x="connsiteX5417" y="connsiteY5417"/>
              </a:cxn>
              <a:cxn ang="0">
                <a:pos x="connsiteX5418" y="connsiteY5418"/>
              </a:cxn>
              <a:cxn ang="0">
                <a:pos x="connsiteX5419" y="connsiteY5419"/>
              </a:cxn>
              <a:cxn ang="0">
                <a:pos x="connsiteX5420" y="connsiteY5420"/>
              </a:cxn>
              <a:cxn ang="0">
                <a:pos x="connsiteX5421" y="connsiteY5421"/>
              </a:cxn>
              <a:cxn ang="0">
                <a:pos x="connsiteX5422" y="connsiteY5422"/>
              </a:cxn>
              <a:cxn ang="0">
                <a:pos x="connsiteX5423" y="connsiteY5423"/>
              </a:cxn>
              <a:cxn ang="0">
                <a:pos x="connsiteX5424" y="connsiteY5424"/>
              </a:cxn>
              <a:cxn ang="0">
                <a:pos x="connsiteX5425" y="connsiteY5425"/>
              </a:cxn>
              <a:cxn ang="0">
                <a:pos x="connsiteX5426" y="connsiteY5426"/>
              </a:cxn>
              <a:cxn ang="0">
                <a:pos x="connsiteX5427" y="connsiteY5427"/>
              </a:cxn>
              <a:cxn ang="0">
                <a:pos x="connsiteX5428" y="connsiteY5428"/>
              </a:cxn>
              <a:cxn ang="0">
                <a:pos x="connsiteX5429" y="connsiteY5429"/>
              </a:cxn>
              <a:cxn ang="0">
                <a:pos x="connsiteX5430" y="connsiteY5430"/>
              </a:cxn>
              <a:cxn ang="0">
                <a:pos x="connsiteX5431" y="connsiteY5431"/>
              </a:cxn>
              <a:cxn ang="0">
                <a:pos x="connsiteX5432" y="connsiteY5432"/>
              </a:cxn>
              <a:cxn ang="0">
                <a:pos x="connsiteX5433" y="connsiteY5433"/>
              </a:cxn>
              <a:cxn ang="0">
                <a:pos x="connsiteX5434" y="connsiteY5434"/>
              </a:cxn>
              <a:cxn ang="0">
                <a:pos x="connsiteX5435" y="connsiteY5435"/>
              </a:cxn>
              <a:cxn ang="0">
                <a:pos x="connsiteX5436" y="connsiteY5436"/>
              </a:cxn>
              <a:cxn ang="0">
                <a:pos x="connsiteX5437" y="connsiteY5437"/>
              </a:cxn>
              <a:cxn ang="0">
                <a:pos x="connsiteX5438" y="connsiteY5438"/>
              </a:cxn>
              <a:cxn ang="0">
                <a:pos x="connsiteX5439" y="connsiteY5439"/>
              </a:cxn>
              <a:cxn ang="0">
                <a:pos x="connsiteX5440" y="connsiteY5440"/>
              </a:cxn>
              <a:cxn ang="0">
                <a:pos x="connsiteX5441" y="connsiteY5441"/>
              </a:cxn>
              <a:cxn ang="0">
                <a:pos x="connsiteX5442" y="connsiteY5442"/>
              </a:cxn>
              <a:cxn ang="0">
                <a:pos x="connsiteX5443" y="connsiteY5443"/>
              </a:cxn>
              <a:cxn ang="0">
                <a:pos x="connsiteX5444" y="connsiteY5444"/>
              </a:cxn>
              <a:cxn ang="0">
                <a:pos x="connsiteX5445" y="connsiteY5445"/>
              </a:cxn>
              <a:cxn ang="0">
                <a:pos x="connsiteX5446" y="connsiteY5446"/>
              </a:cxn>
              <a:cxn ang="0">
                <a:pos x="connsiteX5447" y="connsiteY5447"/>
              </a:cxn>
              <a:cxn ang="0">
                <a:pos x="connsiteX5448" y="connsiteY5448"/>
              </a:cxn>
              <a:cxn ang="0">
                <a:pos x="connsiteX5449" y="connsiteY5449"/>
              </a:cxn>
              <a:cxn ang="0">
                <a:pos x="connsiteX5450" y="connsiteY5450"/>
              </a:cxn>
              <a:cxn ang="0">
                <a:pos x="connsiteX5451" y="connsiteY5451"/>
              </a:cxn>
              <a:cxn ang="0">
                <a:pos x="connsiteX5452" y="connsiteY5452"/>
              </a:cxn>
              <a:cxn ang="0">
                <a:pos x="connsiteX5453" y="connsiteY5453"/>
              </a:cxn>
              <a:cxn ang="0">
                <a:pos x="connsiteX5454" y="connsiteY5454"/>
              </a:cxn>
              <a:cxn ang="0">
                <a:pos x="connsiteX5455" y="connsiteY5455"/>
              </a:cxn>
              <a:cxn ang="0">
                <a:pos x="connsiteX5456" y="connsiteY5456"/>
              </a:cxn>
              <a:cxn ang="0">
                <a:pos x="connsiteX5457" y="connsiteY5457"/>
              </a:cxn>
              <a:cxn ang="0">
                <a:pos x="connsiteX5458" y="connsiteY5458"/>
              </a:cxn>
              <a:cxn ang="0">
                <a:pos x="connsiteX5459" y="connsiteY5459"/>
              </a:cxn>
              <a:cxn ang="0">
                <a:pos x="connsiteX5460" y="connsiteY5460"/>
              </a:cxn>
              <a:cxn ang="0">
                <a:pos x="connsiteX5461" y="connsiteY5461"/>
              </a:cxn>
              <a:cxn ang="0">
                <a:pos x="connsiteX5462" y="connsiteY5462"/>
              </a:cxn>
              <a:cxn ang="0">
                <a:pos x="connsiteX5463" y="connsiteY5463"/>
              </a:cxn>
              <a:cxn ang="0">
                <a:pos x="connsiteX5464" y="connsiteY5464"/>
              </a:cxn>
              <a:cxn ang="0">
                <a:pos x="connsiteX5465" y="connsiteY5465"/>
              </a:cxn>
              <a:cxn ang="0">
                <a:pos x="connsiteX5466" y="connsiteY5466"/>
              </a:cxn>
              <a:cxn ang="0">
                <a:pos x="connsiteX5467" y="connsiteY5467"/>
              </a:cxn>
              <a:cxn ang="0">
                <a:pos x="connsiteX5468" y="connsiteY5468"/>
              </a:cxn>
              <a:cxn ang="0">
                <a:pos x="connsiteX5469" y="connsiteY5469"/>
              </a:cxn>
              <a:cxn ang="0">
                <a:pos x="connsiteX5470" y="connsiteY5470"/>
              </a:cxn>
              <a:cxn ang="0">
                <a:pos x="connsiteX5471" y="connsiteY5471"/>
              </a:cxn>
              <a:cxn ang="0">
                <a:pos x="connsiteX5472" y="connsiteY5472"/>
              </a:cxn>
              <a:cxn ang="0">
                <a:pos x="connsiteX5473" y="connsiteY5473"/>
              </a:cxn>
              <a:cxn ang="0">
                <a:pos x="connsiteX5474" y="connsiteY5474"/>
              </a:cxn>
              <a:cxn ang="0">
                <a:pos x="connsiteX5475" y="connsiteY5475"/>
              </a:cxn>
              <a:cxn ang="0">
                <a:pos x="connsiteX5476" y="connsiteY5476"/>
              </a:cxn>
              <a:cxn ang="0">
                <a:pos x="connsiteX5477" y="connsiteY5477"/>
              </a:cxn>
              <a:cxn ang="0">
                <a:pos x="connsiteX5478" y="connsiteY5478"/>
              </a:cxn>
              <a:cxn ang="0">
                <a:pos x="connsiteX5479" y="connsiteY5479"/>
              </a:cxn>
              <a:cxn ang="0">
                <a:pos x="connsiteX5480" y="connsiteY5480"/>
              </a:cxn>
              <a:cxn ang="0">
                <a:pos x="connsiteX5481" y="connsiteY5481"/>
              </a:cxn>
              <a:cxn ang="0">
                <a:pos x="connsiteX5482" y="connsiteY5482"/>
              </a:cxn>
              <a:cxn ang="0">
                <a:pos x="connsiteX5483" y="connsiteY5483"/>
              </a:cxn>
              <a:cxn ang="0">
                <a:pos x="connsiteX5484" y="connsiteY5484"/>
              </a:cxn>
              <a:cxn ang="0">
                <a:pos x="connsiteX5485" y="connsiteY5485"/>
              </a:cxn>
              <a:cxn ang="0">
                <a:pos x="connsiteX5486" y="connsiteY5486"/>
              </a:cxn>
              <a:cxn ang="0">
                <a:pos x="connsiteX5487" y="connsiteY5487"/>
              </a:cxn>
              <a:cxn ang="0">
                <a:pos x="connsiteX5488" y="connsiteY5488"/>
              </a:cxn>
              <a:cxn ang="0">
                <a:pos x="connsiteX5489" y="connsiteY5489"/>
              </a:cxn>
              <a:cxn ang="0">
                <a:pos x="connsiteX5490" y="connsiteY5490"/>
              </a:cxn>
              <a:cxn ang="0">
                <a:pos x="connsiteX5491" y="connsiteY5491"/>
              </a:cxn>
              <a:cxn ang="0">
                <a:pos x="connsiteX5492" y="connsiteY5492"/>
              </a:cxn>
              <a:cxn ang="0">
                <a:pos x="connsiteX5493" y="connsiteY5493"/>
              </a:cxn>
              <a:cxn ang="0">
                <a:pos x="connsiteX5494" y="connsiteY5494"/>
              </a:cxn>
              <a:cxn ang="0">
                <a:pos x="connsiteX5495" y="connsiteY5495"/>
              </a:cxn>
              <a:cxn ang="0">
                <a:pos x="connsiteX5496" y="connsiteY5496"/>
              </a:cxn>
              <a:cxn ang="0">
                <a:pos x="connsiteX5497" y="connsiteY5497"/>
              </a:cxn>
              <a:cxn ang="0">
                <a:pos x="connsiteX5498" y="connsiteY5498"/>
              </a:cxn>
              <a:cxn ang="0">
                <a:pos x="connsiteX5499" y="connsiteY5499"/>
              </a:cxn>
              <a:cxn ang="0">
                <a:pos x="connsiteX5500" y="connsiteY5500"/>
              </a:cxn>
              <a:cxn ang="0">
                <a:pos x="connsiteX5501" y="connsiteY5501"/>
              </a:cxn>
              <a:cxn ang="0">
                <a:pos x="connsiteX5502" y="connsiteY5502"/>
              </a:cxn>
              <a:cxn ang="0">
                <a:pos x="connsiteX5503" y="connsiteY5503"/>
              </a:cxn>
              <a:cxn ang="0">
                <a:pos x="connsiteX5504" y="connsiteY5504"/>
              </a:cxn>
              <a:cxn ang="0">
                <a:pos x="connsiteX5505" y="connsiteY5505"/>
              </a:cxn>
              <a:cxn ang="0">
                <a:pos x="connsiteX5506" y="connsiteY5506"/>
              </a:cxn>
              <a:cxn ang="0">
                <a:pos x="connsiteX5507" y="connsiteY5507"/>
              </a:cxn>
              <a:cxn ang="0">
                <a:pos x="connsiteX5508" y="connsiteY5508"/>
              </a:cxn>
              <a:cxn ang="0">
                <a:pos x="connsiteX5509" y="connsiteY5509"/>
              </a:cxn>
              <a:cxn ang="0">
                <a:pos x="connsiteX5510" y="connsiteY5510"/>
              </a:cxn>
              <a:cxn ang="0">
                <a:pos x="connsiteX5511" y="connsiteY5511"/>
              </a:cxn>
              <a:cxn ang="0">
                <a:pos x="connsiteX5512" y="connsiteY5512"/>
              </a:cxn>
              <a:cxn ang="0">
                <a:pos x="connsiteX5513" y="connsiteY5513"/>
              </a:cxn>
              <a:cxn ang="0">
                <a:pos x="connsiteX5514" y="connsiteY5514"/>
              </a:cxn>
              <a:cxn ang="0">
                <a:pos x="connsiteX5515" y="connsiteY5515"/>
              </a:cxn>
              <a:cxn ang="0">
                <a:pos x="connsiteX5516" y="connsiteY5516"/>
              </a:cxn>
              <a:cxn ang="0">
                <a:pos x="connsiteX5517" y="connsiteY5517"/>
              </a:cxn>
              <a:cxn ang="0">
                <a:pos x="connsiteX5518" y="connsiteY5518"/>
              </a:cxn>
              <a:cxn ang="0">
                <a:pos x="connsiteX5519" y="connsiteY5519"/>
              </a:cxn>
              <a:cxn ang="0">
                <a:pos x="connsiteX5520" y="connsiteY5520"/>
              </a:cxn>
              <a:cxn ang="0">
                <a:pos x="connsiteX5521" y="connsiteY5521"/>
              </a:cxn>
              <a:cxn ang="0">
                <a:pos x="connsiteX5522" y="connsiteY5522"/>
              </a:cxn>
              <a:cxn ang="0">
                <a:pos x="connsiteX5523" y="connsiteY5523"/>
              </a:cxn>
              <a:cxn ang="0">
                <a:pos x="connsiteX5524" y="connsiteY5524"/>
              </a:cxn>
              <a:cxn ang="0">
                <a:pos x="connsiteX5525" y="connsiteY5525"/>
              </a:cxn>
              <a:cxn ang="0">
                <a:pos x="connsiteX5526" y="connsiteY5526"/>
              </a:cxn>
              <a:cxn ang="0">
                <a:pos x="connsiteX5527" y="connsiteY5527"/>
              </a:cxn>
              <a:cxn ang="0">
                <a:pos x="connsiteX5528" y="connsiteY5528"/>
              </a:cxn>
              <a:cxn ang="0">
                <a:pos x="connsiteX5529" y="connsiteY5529"/>
              </a:cxn>
              <a:cxn ang="0">
                <a:pos x="connsiteX5530" y="connsiteY5530"/>
              </a:cxn>
              <a:cxn ang="0">
                <a:pos x="connsiteX5531" y="connsiteY5531"/>
              </a:cxn>
              <a:cxn ang="0">
                <a:pos x="connsiteX5532" y="connsiteY5532"/>
              </a:cxn>
              <a:cxn ang="0">
                <a:pos x="connsiteX5533" y="connsiteY5533"/>
              </a:cxn>
              <a:cxn ang="0">
                <a:pos x="connsiteX5534" y="connsiteY5534"/>
              </a:cxn>
              <a:cxn ang="0">
                <a:pos x="connsiteX5535" y="connsiteY5535"/>
              </a:cxn>
              <a:cxn ang="0">
                <a:pos x="connsiteX5536" y="connsiteY5536"/>
              </a:cxn>
              <a:cxn ang="0">
                <a:pos x="connsiteX5537" y="connsiteY5537"/>
              </a:cxn>
              <a:cxn ang="0">
                <a:pos x="connsiteX5538" y="connsiteY5538"/>
              </a:cxn>
              <a:cxn ang="0">
                <a:pos x="connsiteX5539" y="connsiteY5539"/>
              </a:cxn>
              <a:cxn ang="0">
                <a:pos x="connsiteX5540" y="connsiteY5540"/>
              </a:cxn>
              <a:cxn ang="0">
                <a:pos x="connsiteX5541" y="connsiteY5541"/>
              </a:cxn>
              <a:cxn ang="0">
                <a:pos x="connsiteX5542" y="connsiteY5542"/>
              </a:cxn>
              <a:cxn ang="0">
                <a:pos x="connsiteX5543" y="connsiteY5543"/>
              </a:cxn>
              <a:cxn ang="0">
                <a:pos x="connsiteX5544" y="connsiteY5544"/>
              </a:cxn>
              <a:cxn ang="0">
                <a:pos x="connsiteX5545" y="connsiteY5545"/>
              </a:cxn>
              <a:cxn ang="0">
                <a:pos x="connsiteX5546" y="connsiteY5546"/>
              </a:cxn>
              <a:cxn ang="0">
                <a:pos x="connsiteX5547" y="connsiteY5547"/>
              </a:cxn>
              <a:cxn ang="0">
                <a:pos x="connsiteX5548" y="connsiteY5548"/>
              </a:cxn>
              <a:cxn ang="0">
                <a:pos x="connsiteX5549" y="connsiteY5549"/>
              </a:cxn>
              <a:cxn ang="0">
                <a:pos x="connsiteX5550" y="connsiteY5550"/>
              </a:cxn>
              <a:cxn ang="0">
                <a:pos x="connsiteX5551" y="connsiteY5551"/>
              </a:cxn>
              <a:cxn ang="0">
                <a:pos x="connsiteX5552" y="connsiteY5552"/>
              </a:cxn>
              <a:cxn ang="0">
                <a:pos x="connsiteX5553" y="connsiteY5553"/>
              </a:cxn>
              <a:cxn ang="0">
                <a:pos x="connsiteX5554" y="connsiteY5554"/>
              </a:cxn>
              <a:cxn ang="0">
                <a:pos x="connsiteX5555" y="connsiteY5555"/>
              </a:cxn>
              <a:cxn ang="0">
                <a:pos x="connsiteX5556" y="connsiteY5556"/>
              </a:cxn>
              <a:cxn ang="0">
                <a:pos x="connsiteX5557" y="connsiteY5557"/>
              </a:cxn>
              <a:cxn ang="0">
                <a:pos x="connsiteX5558" y="connsiteY5558"/>
              </a:cxn>
              <a:cxn ang="0">
                <a:pos x="connsiteX5559" y="connsiteY5559"/>
              </a:cxn>
              <a:cxn ang="0">
                <a:pos x="connsiteX5560" y="connsiteY5560"/>
              </a:cxn>
              <a:cxn ang="0">
                <a:pos x="connsiteX5561" y="connsiteY5561"/>
              </a:cxn>
              <a:cxn ang="0">
                <a:pos x="connsiteX5562" y="connsiteY5562"/>
              </a:cxn>
              <a:cxn ang="0">
                <a:pos x="connsiteX5563" y="connsiteY5563"/>
              </a:cxn>
              <a:cxn ang="0">
                <a:pos x="connsiteX5564" y="connsiteY5564"/>
              </a:cxn>
              <a:cxn ang="0">
                <a:pos x="connsiteX5565" y="connsiteY5565"/>
              </a:cxn>
              <a:cxn ang="0">
                <a:pos x="connsiteX5566" y="connsiteY5566"/>
              </a:cxn>
              <a:cxn ang="0">
                <a:pos x="connsiteX5567" y="connsiteY5567"/>
              </a:cxn>
              <a:cxn ang="0">
                <a:pos x="connsiteX5568" y="connsiteY5568"/>
              </a:cxn>
              <a:cxn ang="0">
                <a:pos x="connsiteX5569" y="connsiteY5569"/>
              </a:cxn>
              <a:cxn ang="0">
                <a:pos x="connsiteX5570" y="connsiteY5570"/>
              </a:cxn>
              <a:cxn ang="0">
                <a:pos x="connsiteX5571" y="connsiteY5571"/>
              </a:cxn>
              <a:cxn ang="0">
                <a:pos x="connsiteX5572" y="connsiteY5572"/>
              </a:cxn>
              <a:cxn ang="0">
                <a:pos x="connsiteX5573" y="connsiteY5573"/>
              </a:cxn>
              <a:cxn ang="0">
                <a:pos x="connsiteX5574" y="connsiteY5574"/>
              </a:cxn>
              <a:cxn ang="0">
                <a:pos x="connsiteX5575" y="connsiteY5575"/>
              </a:cxn>
              <a:cxn ang="0">
                <a:pos x="connsiteX5576" y="connsiteY5576"/>
              </a:cxn>
              <a:cxn ang="0">
                <a:pos x="connsiteX5577" y="connsiteY5577"/>
              </a:cxn>
              <a:cxn ang="0">
                <a:pos x="connsiteX5578" y="connsiteY5578"/>
              </a:cxn>
              <a:cxn ang="0">
                <a:pos x="connsiteX5579" y="connsiteY5579"/>
              </a:cxn>
              <a:cxn ang="0">
                <a:pos x="connsiteX5580" y="connsiteY5580"/>
              </a:cxn>
              <a:cxn ang="0">
                <a:pos x="connsiteX5581" y="connsiteY5581"/>
              </a:cxn>
              <a:cxn ang="0">
                <a:pos x="connsiteX5582" y="connsiteY5582"/>
              </a:cxn>
              <a:cxn ang="0">
                <a:pos x="connsiteX5583" y="connsiteY5583"/>
              </a:cxn>
              <a:cxn ang="0">
                <a:pos x="connsiteX5584" y="connsiteY5584"/>
              </a:cxn>
              <a:cxn ang="0">
                <a:pos x="connsiteX5585" y="connsiteY5585"/>
              </a:cxn>
              <a:cxn ang="0">
                <a:pos x="connsiteX5586" y="connsiteY5586"/>
              </a:cxn>
              <a:cxn ang="0">
                <a:pos x="connsiteX5587" y="connsiteY5587"/>
              </a:cxn>
              <a:cxn ang="0">
                <a:pos x="connsiteX5588" y="connsiteY5588"/>
              </a:cxn>
              <a:cxn ang="0">
                <a:pos x="connsiteX5589" y="connsiteY5589"/>
              </a:cxn>
              <a:cxn ang="0">
                <a:pos x="connsiteX5590" y="connsiteY5590"/>
              </a:cxn>
              <a:cxn ang="0">
                <a:pos x="connsiteX5591" y="connsiteY5591"/>
              </a:cxn>
              <a:cxn ang="0">
                <a:pos x="connsiteX5592" y="connsiteY5592"/>
              </a:cxn>
              <a:cxn ang="0">
                <a:pos x="connsiteX5593" y="connsiteY5593"/>
              </a:cxn>
              <a:cxn ang="0">
                <a:pos x="connsiteX5594" y="connsiteY5594"/>
              </a:cxn>
              <a:cxn ang="0">
                <a:pos x="connsiteX5595" y="connsiteY5595"/>
              </a:cxn>
              <a:cxn ang="0">
                <a:pos x="connsiteX5596" y="connsiteY5596"/>
              </a:cxn>
              <a:cxn ang="0">
                <a:pos x="connsiteX5597" y="connsiteY5597"/>
              </a:cxn>
              <a:cxn ang="0">
                <a:pos x="connsiteX5598" y="connsiteY5598"/>
              </a:cxn>
              <a:cxn ang="0">
                <a:pos x="connsiteX5599" y="connsiteY5599"/>
              </a:cxn>
              <a:cxn ang="0">
                <a:pos x="connsiteX5600" y="connsiteY5600"/>
              </a:cxn>
              <a:cxn ang="0">
                <a:pos x="connsiteX5601" y="connsiteY5601"/>
              </a:cxn>
              <a:cxn ang="0">
                <a:pos x="connsiteX5602" y="connsiteY5602"/>
              </a:cxn>
              <a:cxn ang="0">
                <a:pos x="connsiteX5603" y="connsiteY5603"/>
              </a:cxn>
              <a:cxn ang="0">
                <a:pos x="connsiteX5604" y="connsiteY5604"/>
              </a:cxn>
              <a:cxn ang="0">
                <a:pos x="connsiteX5605" y="connsiteY5605"/>
              </a:cxn>
              <a:cxn ang="0">
                <a:pos x="connsiteX5606" y="connsiteY5606"/>
              </a:cxn>
              <a:cxn ang="0">
                <a:pos x="connsiteX5607" y="connsiteY5607"/>
              </a:cxn>
              <a:cxn ang="0">
                <a:pos x="connsiteX5608" y="connsiteY5608"/>
              </a:cxn>
              <a:cxn ang="0">
                <a:pos x="connsiteX5609" y="connsiteY5609"/>
              </a:cxn>
              <a:cxn ang="0">
                <a:pos x="connsiteX5610" y="connsiteY5610"/>
              </a:cxn>
              <a:cxn ang="0">
                <a:pos x="connsiteX5611" y="connsiteY5611"/>
              </a:cxn>
              <a:cxn ang="0">
                <a:pos x="connsiteX5612" y="connsiteY5612"/>
              </a:cxn>
              <a:cxn ang="0">
                <a:pos x="connsiteX5613" y="connsiteY5613"/>
              </a:cxn>
              <a:cxn ang="0">
                <a:pos x="connsiteX5614" y="connsiteY5614"/>
              </a:cxn>
              <a:cxn ang="0">
                <a:pos x="connsiteX5615" y="connsiteY5615"/>
              </a:cxn>
              <a:cxn ang="0">
                <a:pos x="connsiteX5616" y="connsiteY5616"/>
              </a:cxn>
              <a:cxn ang="0">
                <a:pos x="connsiteX5617" y="connsiteY5617"/>
              </a:cxn>
              <a:cxn ang="0">
                <a:pos x="connsiteX5618" y="connsiteY5618"/>
              </a:cxn>
              <a:cxn ang="0">
                <a:pos x="connsiteX5619" y="connsiteY5619"/>
              </a:cxn>
              <a:cxn ang="0">
                <a:pos x="connsiteX5620" y="connsiteY5620"/>
              </a:cxn>
              <a:cxn ang="0">
                <a:pos x="connsiteX5621" y="connsiteY5621"/>
              </a:cxn>
              <a:cxn ang="0">
                <a:pos x="connsiteX5622" y="connsiteY5622"/>
              </a:cxn>
              <a:cxn ang="0">
                <a:pos x="connsiteX5623" y="connsiteY5623"/>
              </a:cxn>
              <a:cxn ang="0">
                <a:pos x="connsiteX5624" y="connsiteY5624"/>
              </a:cxn>
              <a:cxn ang="0">
                <a:pos x="connsiteX5625" y="connsiteY5625"/>
              </a:cxn>
              <a:cxn ang="0">
                <a:pos x="connsiteX5626" y="connsiteY5626"/>
              </a:cxn>
              <a:cxn ang="0">
                <a:pos x="connsiteX5627" y="connsiteY5627"/>
              </a:cxn>
              <a:cxn ang="0">
                <a:pos x="connsiteX5628" y="connsiteY5628"/>
              </a:cxn>
              <a:cxn ang="0">
                <a:pos x="connsiteX5629" y="connsiteY5629"/>
              </a:cxn>
              <a:cxn ang="0">
                <a:pos x="connsiteX5630" y="connsiteY5630"/>
              </a:cxn>
              <a:cxn ang="0">
                <a:pos x="connsiteX5631" y="connsiteY5631"/>
              </a:cxn>
              <a:cxn ang="0">
                <a:pos x="connsiteX5632" y="connsiteY5632"/>
              </a:cxn>
              <a:cxn ang="0">
                <a:pos x="connsiteX5633" y="connsiteY5633"/>
              </a:cxn>
              <a:cxn ang="0">
                <a:pos x="connsiteX5634" y="connsiteY5634"/>
              </a:cxn>
              <a:cxn ang="0">
                <a:pos x="connsiteX5635" y="connsiteY5635"/>
              </a:cxn>
              <a:cxn ang="0">
                <a:pos x="connsiteX5636" y="connsiteY5636"/>
              </a:cxn>
              <a:cxn ang="0">
                <a:pos x="connsiteX5637" y="connsiteY5637"/>
              </a:cxn>
              <a:cxn ang="0">
                <a:pos x="connsiteX5638" y="connsiteY5638"/>
              </a:cxn>
              <a:cxn ang="0">
                <a:pos x="connsiteX5639" y="connsiteY5639"/>
              </a:cxn>
              <a:cxn ang="0">
                <a:pos x="connsiteX5640" y="connsiteY5640"/>
              </a:cxn>
              <a:cxn ang="0">
                <a:pos x="connsiteX5641" y="connsiteY5641"/>
              </a:cxn>
              <a:cxn ang="0">
                <a:pos x="connsiteX5642" y="connsiteY5642"/>
              </a:cxn>
              <a:cxn ang="0">
                <a:pos x="connsiteX5643" y="connsiteY5643"/>
              </a:cxn>
              <a:cxn ang="0">
                <a:pos x="connsiteX5644" y="connsiteY5644"/>
              </a:cxn>
              <a:cxn ang="0">
                <a:pos x="connsiteX5645" y="connsiteY5645"/>
              </a:cxn>
              <a:cxn ang="0">
                <a:pos x="connsiteX5646" y="connsiteY5646"/>
              </a:cxn>
              <a:cxn ang="0">
                <a:pos x="connsiteX5647" y="connsiteY5647"/>
              </a:cxn>
              <a:cxn ang="0">
                <a:pos x="connsiteX5648" y="connsiteY5648"/>
              </a:cxn>
              <a:cxn ang="0">
                <a:pos x="connsiteX5649" y="connsiteY5649"/>
              </a:cxn>
              <a:cxn ang="0">
                <a:pos x="connsiteX5650" y="connsiteY5650"/>
              </a:cxn>
              <a:cxn ang="0">
                <a:pos x="connsiteX5651" y="connsiteY5651"/>
              </a:cxn>
              <a:cxn ang="0">
                <a:pos x="connsiteX5652" y="connsiteY5652"/>
              </a:cxn>
              <a:cxn ang="0">
                <a:pos x="connsiteX5653" y="connsiteY5653"/>
              </a:cxn>
              <a:cxn ang="0">
                <a:pos x="connsiteX5654" y="connsiteY5654"/>
              </a:cxn>
              <a:cxn ang="0">
                <a:pos x="connsiteX5655" y="connsiteY5655"/>
              </a:cxn>
              <a:cxn ang="0">
                <a:pos x="connsiteX5656" y="connsiteY5656"/>
              </a:cxn>
              <a:cxn ang="0">
                <a:pos x="connsiteX5657" y="connsiteY5657"/>
              </a:cxn>
              <a:cxn ang="0">
                <a:pos x="connsiteX5658" y="connsiteY5658"/>
              </a:cxn>
              <a:cxn ang="0">
                <a:pos x="connsiteX5659" y="connsiteY5659"/>
              </a:cxn>
              <a:cxn ang="0">
                <a:pos x="connsiteX5660" y="connsiteY5660"/>
              </a:cxn>
              <a:cxn ang="0">
                <a:pos x="connsiteX5661" y="connsiteY5661"/>
              </a:cxn>
              <a:cxn ang="0">
                <a:pos x="connsiteX5662" y="connsiteY5662"/>
              </a:cxn>
              <a:cxn ang="0">
                <a:pos x="connsiteX5663" y="connsiteY5663"/>
              </a:cxn>
              <a:cxn ang="0">
                <a:pos x="connsiteX5664" y="connsiteY5664"/>
              </a:cxn>
              <a:cxn ang="0">
                <a:pos x="connsiteX5665" y="connsiteY5665"/>
              </a:cxn>
              <a:cxn ang="0">
                <a:pos x="connsiteX5666" y="connsiteY5666"/>
              </a:cxn>
              <a:cxn ang="0">
                <a:pos x="connsiteX5667" y="connsiteY5667"/>
              </a:cxn>
              <a:cxn ang="0">
                <a:pos x="connsiteX5668" y="connsiteY5668"/>
              </a:cxn>
              <a:cxn ang="0">
                <a:pos x="connsiteX5669" y="connsiteY5669"/>
              </a:cxn>
              <a:cxn ang="0">
                <a:pos x="connsiteX5670" y="connsiteY5670"/>
              </a:cxn>
              <a:cxn ang="0">
                <a:pos x="connsiteX5671" y="connsiteY5671"/>
              </a:cxn>
              <a:cxn ang="0">
                <a:pos x="connsiteX5672" y="connsiteY5672"/>
              </a:cxn>
              <a:cxn ang="0">
                <a:pos x="connsiteX5673" y="connsiteY5673"/>
              </a:cxn>
              <a:cxn ang="0">
                <a:pos x="connsiteX5674" y="connsiteY5674"/>
              </a:cxn>
              <a:cxn ang="0">
                <a:pos x="connsiteX5675" y="connsiteY5675"/>
              </a:cxn>
              <a:cxn ang="0">
                <a:pos x="connsiteX5676" y="connsiteY5676"/>
              </a:cxn>
              <a:cxn ang="0">
                <a:pos x="connsiteX5677" y="connsiteY5677"/>
              </a:cxn>
              <a:cxn ang="0">
                <a:pos x="connsiteX5678" y="connsiteY5678"/>
              </a:cxn>
              <a:cxn ang="0">
                <a:pos x="connsiteX5679" y="connsiteY5679"/>
              </a:cxn>
              <a:cxn ang="0">
                <a:pos x="connsiteX5680" y="connsiteY5680"/>
              </a:cxn>
              <a:cxn ang="0">
                <a:pos x="connsiteX5681" y="connsiteY5681"/>
              </a:cxn>
              <a:cxn ang="0">
                <a:pos x="connsiteX5682" y="connsiteY5682"/>
              </a:cxn>
              <a:cxn ang="0">
                <a:pos x="connsiteX5683" y="connsiteY5683"/>
              </a:cxn>
              <a:cxn ang="0">
                <a:pos x="connsiteX5684" y="connsiteY5684"/>
              </a:cxn>
              <a:cxn ang="0">
                <a:pos x="connsiteX5685" y="connsiteY5685"/>
              </a:cxn>
              <a:cxn ang="0">
                <a:pos x="connsiteX5686" y="connsiteY5686"/>
              </a:cxn>
              <a:cxn ang="0">
                <a:pos x="connsiteX5687" y="connsiteY5687"/>
              </a:cxn>
              <a:cxn ang="0">
                <a:pos x="connsiteX5688" y="connsiteY5688"/>
              </a:cxn>
              <a:cxn ang="0">
                <a:pos x="connsiteX5689" y="connsiteY5689"/>
              </a:cxn>
              <a:cxn ang="0">
                <a:pos x="connsiteX5690" y="connsiteY5690"/>
              </a:cxn>
              <a:cxn ang="0">
                <a:pos x="connsiteX5691" y="connsiteY5691"/>
              </a:cxn>
              <a:cxn ang="0">
                <a:pos x="connsiteX5692" y="connsiteY5692"/>
              </a:cxn>
              <a:cxn ang="0">
                <a:pos x="connsiteX5693" y="connsiteY5693"/>
              </a:cxn>
              <a:cxn ang="0">
                <a:pos x="connsiteX5694" y="connsiteY5694"/>
              </a:cxn>
              <a:cxn ang="0">
                <a:pos x="connsiteX5695" y="connsiteY5695"/>
              </a:cxn>
              <a:cxn ang="0">
                <a:pos x="connsiteX5696" y="connsiteY5696"/>
              </a:cxn>
              <a:cxn ang="0">
                <a:pos x="connsiteX5697" y="connsiteY5697"/>
              </a:cxn>
              <a:cxn ang="0">
                <a:pos x="connsiteX5698" y="connsiteY5698"/>
              </a:cxn>
              <a:cxn ang="0">
                <a:pos x="connsiteX5699" y="connsiteY5699"/>
              </a:cxn>
              <a:cxn ang="0">
                <a:pos x="connsiteX5700" y="connsiteY5700"/>
              </a:cxn>
              <a:cxn ang="0">
                <a:pos x="connsiteX5701" y="connsiteY5701"/>
              </a:cxn>
              <a:cxn ang="0">
                <a:pos x="connsiteX5702" y="connsiteY5702"/>
              </a:cxn>
              <a:cxn ang="0">
                <a:pos x="connsiteX5703" y="connsiteY5703"/>
              </a:cxn>
              <a:cxn ang="0">
                <a:pos x="connsiteX5704" y="connsiteY5704"/>
              </a:cxn>
              <a:cxn ang="0">
                <a:pos x="connsiteX5705" y="connsiteY5705"/>
              </a:cxn>
              <a:cxn ang="0">
                <a:pos x="connsiteX5706" y="connsiteY5706"/>
              </a:cxn>
              <a:cxn ang="0">
                <a:pos x="connsiteX5707" y="connsiteY5707"/>
              </a:cxn>
              <a:cxn ang="0">
                <a:pos x="connsiteX5708" y="connsiteY5708"/>
              </a:cxn>
              <a:cxn ang="0">
                <a:pos x="connsiteX5709" y="connsiteY5709"/>
              </a:cxn>
              <a:cxn ang="0">
                <a:pos x="connsiteX5710" y="connsiteY5710"/>
              </a:cxn>
              <a:cxn ang="0">
                <a:pos x="connsiteX5711" y="connsiteY5711"/>
              </a:cxn>
              <a:cxn ang="0">
                <a:pos x="connsiteX5712" y="connsiteY5712"/>
              </a:cxn>
              <a:cxn ang="0">
                <a:pos x="connsiteX5713" y="connsiteY5713"/>
              </a:cxn>
              <a:cxn ang="0">
                <a:pos x="connsiteX5714" y="connsiteY5714"/>
              </a:cxn>
              <a:cxn ang="0">
                <a:pos x="connsiteX5715" y="connsiteY5715"/>
              </a:cxn>
              <a:cxn ang="0">
                <a:pos x="connsiteX5716" y="connsiteY5716"/>
              </a:cxn>
              <a:cxn ang="0">
                <a:pos x="connsiteX5717" y="connsiteY5717"/>
              </a:cxn>
              <a:cxn ang="0">
                <a:pos x="connsiteX5718" y="connsiteY5718"/>
              </a:cxn>
              <a:cxn ang="0">
                <a:pos x="connsiteX5719" y="connsiteY5719"/>
              </a:cxn>
              <a:cxn ang="0">
                <a:pos x="connsiteX5720" y="connsiteY5720"/>
              </a:cxn>
              <a:cxn ang="0">
                <a:pos x="connsiteX5721" y="connsiteY5721"/>
              </a:cxn>
              <a:cxn ang="0">
                <a:pos x="connsiteX5722" y="connsiteY5722"/>
              </a:cxn>
              <a:cxn ang="0">
                <a:pos x="connsiteX5723" y="connsiteY5723"/>
              </a:cxn>
              <a:cxn ang="0">
                <a:pos x="connsiteX5724" y="connsiteY5724"/>
              </a:cxn>
              <a:cxn ang="0">
                <a:pos x="connsiteX5725" y="connsiteY5725"/>
              </a:cxn>
              <a:cxn ang="0">
                <a:pos x="connsiteX5726" y="connsiteY5726"/>
              </a:cxn>
              <a:cxn ang="0">
                <a:pos x="connsiteX5727" y="connsiteY5727"/>
              </a:cxn>
              <a:cxn ang="0">
                <a:pos x="connsiteX5728" y="connsiteY5728"/>
              </a:cxn>
              <a:cxn ang="0">
                <a:pos x="connsiteX5729" y="connsiteY5729"/>
              </a:cxn>
              <a:cxn ang="0">
                <a:pos x="connsiteX5730" y="connsiteY5730"/>
              </a:cxn>
              <a:cxn ang="0">
                <a:pos x="connsiteX5731" y="connsiteY5731"/>
              </a:cxn>
              <a:cxn ang="0">
                <a:pos x="connsiteX5732" y="connsiteY5732"/>
              </a:cxn>
              <a:cxn ang="0">
                <a:pos x="connsiteX5733" y="connsiteY5733"/>
              </a:cxn>
              <a:cxn ang="0">
                <a:pos x="connsiteX5734" y="connsiteY5734"/>
              </a:cxn>
              <a:cxn ang="0">
                <a:pos x="connsiteX5735" y="connsiteY5735"/>
              </a:cxn>
              <a:cxn ang="0">
                <a:pos x="connsiteX5736" y="connsiteY5736"/>
              </a:cxn>
              <a:cxn ang="0">
                <a:pos x="connsiteX5737" y="connsiteY5737"/>
              </a:cxn>
              <a:cxn ang="0">
                <a:pos x="connsiteX5738" y="connsiteY5738"/>
              </a:cxn>
              <a:cxn ang="0">
                <a:pos x="connsiteX5739" y="connsiteY5739"/>
              </a:cxn>
              <a:cxn ang="0">
                <a:pos x="connsiteX5740" y="connsiteY5740"/>
              </a:cxn>
              <a:cxn ang="0">
                <a:pos x="connsiteX5741" y="connsiteY5741"/>
              </a:cxn>
              <a:cxn ang="0">
                <a:pos x="connsiteX5742" y="connsiteY5742"/>
              </a:cxn>
              <a:cxn ang="0">
                <a:pos x="connsiteX5743" y="connsiteY5743"/>
              </a:cxn>
              <a:cxn ang="0">
                <a:pos x="connsiteX5744" y="connsiteY5744"/>
              </a:cxn>
              <a:cxn ang="0">
                <a:pos x="connsiteX5745" y="connsiteY5745"/>
              </a:cxn>
              <a:cxn ang="0">
                <a:pos x="connsiteX5746" y="connsiteY5746"/>
              </a:cxn>
              <a:cxn ang="0">
                <a:pos x="connsiteX5747" y="connsiteY5747"/>
              </a:cxn>
              <a:cxn ang="0">
                <a:pos x="connsiteX5748" y="connsiteY5748"/>
              </a:cxn>
              <a:cxn ang="0">
                <a:pos x="connsiteX5749" y="connsiteY5749"/>
              </a:cxn>
              <a:cxn ang="0">
                <a:pos x="connsiteX5750" y="connsiteY5750"/>
              </a:cxn>
              <a:cxn ang="0">
                <a:pos x="connsiteX5751" y="connsiteY5751"/>
              </a:cxn>
              <a:cxn ang="0">
                <a:pos x="connsiteX5752" y="connsiteY5752"/>
              </a:cxn>
              <a:cxn ang="0">
                <a:pos x="connsiteX5753" y="connsiteY5753"/>
              </a:cxn>
              <a:cxn ang="0">
                <a:pos x="connsiteX5754" y="connsiteY5754"/>
              </a:cxn>
              <a:cxn ang="0">
                <a:pos x="connsiteX5755" y="connsiteY5755"/>
              </a:cxn>
              <a:cxn ang="0">
                <a:pos x="connsiteX5756" y="connsiteY5756"/>
              </a:cxn>
              <a:cxn ang="0">
                <a:pos x="connsiteX5757" y="connsiteY5757"/>
              </a:cxn>
              <a:cxn ang="0">
                <a:pos x="connsiteX5758" y="connsiteY5758"/>
              </a:cxn>
              <a:cxn ang="0">
                <a:pos x="connsiteX5759" y="connsiteY5759"/>
              </a:cxn>
              <a:cxn ang="0">
                <a:pos x="connsiteX5760" y="connsiteY5760"/>
              </a:cxn>
              <a:cxn ang="0">
                <a:pos x="connsiteX5761" y="connsiteY5761"/>
              </a:cxn>
              <a:cxn ang="0">
                <a:pos x="connsiteX5762" y="connsiteY5762"/>
              </a:cxn>
              <a:cxn ang="0">
                <a:pos x="connsiteX5763" y="connsiteY5763"/>
              </a:cxn>
              <a:cxn ang="0">
                <a:pos x="connsiteX5764" y="connsiteY5764"/>
              </a:cxn>
              <a:cxn ang="0">
                <a:pos x="connsiteX5765" y="connsiteY5765"/>
              </a:cxn>
              <a:cxn ang="0">
                <a:pos x="connsiteX5766" y="connsiteY5766"/>
              </a:cxn>
              <a:cxn ang="0">
                <a:pos x="connsiteX5767" y="connsiteY5767"/>
              </a:cxn>
              <a:cxn ang="0">
                <a:pos x="connsiteX5768" y="connsiteY5768"/>
              </a:cxn>
              <a:cxn ang="0">
                <a:pos x="connsiteX5769" y="connsiteY5769"/>
              </a:cxn>
              <a:cxn ang="0">
                <a:pos x="connsiteX5770" y="connsiteY5770"/>
              </a:cxn>
              <a:cxn ang="0">
                <a:pos x="connsiteX5771" y="connsiteY5771"/>
              </a:cxn>
              <a:cxn ang="0">
                <a:pos x="connsiteX5772" y="connsiteY5772"/>
              </a:cxn>
              <a:cxn ang="0">
                <a:pos x="connsiteX5773" y="connsiteY5773"/>
              </a:cxn>
              <a:cxn ang="0">
                <a:pos x="connsiteX5774" y="connsiteY5774"/>
              </a:cxn>
              <a:cxn ang="0">
                <a:pos x="connsiteX5775" y="connsiteY5775"/>
              </a:cxn>
              <a:cxn ang="0">
                <a:pos x="connsiteX5776" y="connsiteY5776"/>
              </a:cxn>
              <a:cxn ang="0">
                <a:pos x="connsiteX5777" y="connsiteY5777"/>
              </a:cxn>
              <a:cxn ang="0">
                <a:pos x="connsiteX5778" y="connsiteY5778"/>
              </a:cxn>
              <a:cxn ang="0">
                <a:pos x="connsiteX5779" y="connsiteY5779"/>
              </a:cxn>
              <a:cxn ang="0">
                <a:pos x="connsiteX5780" y="connsiteY5780"/>
              </a:cxn>
              <a:cxn ang="0">
                <a:pos x="connsiteX5781" y="connsiteY5781"/>
              </a:cxn>
              <a:cxn ang="0">
                <a:pos x="connsiteX5782" y="connsiteY5782"/>
              </a:cxn>
              <a:cxn ang="0">
                <a:pos x="connsiteX5783" y="connsiteY5783"/>
              </a:cxn>
              <a:cxn ang="0">
                <a:pos x="connsiteX5784" y="connsiteY5784"/>
              </a:cxn>
              <a:cxn ang="0">
                <a:pos x="connsiteX5785" y="connsiteY5785"/>
              </a:cxn>
              <a:cxn ang="0">
                <a:pos x="connsiteX5786" y="connsiteY5786"/>
              </a:cxn>
              <a:cxn ang="0">
                <a:pos x="connsiteX5787" y="connsiteY5787"/>
              </a:cxn>
              <a:cxn ang="0">
                <a:pos x="connsiteX5788" y="connsiteY5788"/>
              </a:cxn>
              <a:cxn ang="0">
                <a:pos x="connsiteX5789" y="connsiteY5789"/>
              </a:cxn>
              <a:cxn ang="0">
                <a:pos x="connsiteX5790" y="connsiteY5790"/>
              </a:cxn>
              <a:cxn ang="0">
                <a:pos x="connsiteX5791" y="connsiteY5791"/>
              </a:cxn>
              <a:cxn ang="0">
                <a:pos x="connsiteX5792" y="connsiteY5792"/>
              </a:cxn>
              <a:cxn ang="0">
                <a:pos x="connsiteX5793" y="connsiteY5793"/>
              </a:cxn>
              <a:cxn ang="0">
                <a:pos x="connsiteX5794" y="connsiteY5794"/>
              </a:cxn>
              <a:cxn ang="0">
                <a:pos x="connsiteX5795" y="connsiteY5795"/>
              </a:cxn>
              <a:cxn ang="0">
                <a:pos x="connsiteX5796" y="connsiteY5796"/>
              </a:cxn>
              <a:cxn ang="0">
                <a:pos x="connsiteX5797" y="connsiteY5797"/>
              </a:cxn>
              <a:cxn ang="0">
                <a:pos x="connsiteX5798" y="connsiteY5798"/>
              </a:cxn>
              <a:cxn ang="0">
                <a:pos x="connsiteX5799" y="connsiteY5799"/>
              </a:cxn>
              <a:cxn ang="0">
                <a:pos x="connsiteX5800" y="connsiteY5800"/>
              </a:cxn>
              <a:cxn ang="0">
                <a:pos x="connsiteX5801" y="connsiteY5801"/>
              </a:cxn>
              <a:cxn ang="0">
                <a:pos x="connsiteX5802" y="connsiteY5802"/>
              </a:cxn>
              <a:cxn ang="0">
                <a:pos x="connsiteX5803" y="connsiteY5803"/>
              </a:cxn>
              <a:cxn ang="0">
                <a:pos x="connsiteX5804" y="connsiteY5804"/>
              </a:cxn>
              <a:cxn ang="0">
                <a:pos x="connsiteX5805" y="connsiteY5805"/>
              </a:cxn>
              <a:cxn ang="0">
                <a:pos x="connsiteX5806" y="connsiteY5806"/>
              </a:cxn>
              <a:cxn ang="0">
                <a:pos x="connsiteX5807" y="connsiteY5807"/>
              </a:cxn>
              <a:cxn ang="0">
                <a:pos x="connsiteX5808" y="connsiteY5808"/>
              </a:cxn>
              <a:cxn ang="0">
                <a:pos x="connsiteX5809" y="connsiteY5809"/>
              </a:cxn>
              <a:cxn ang="0">
                <a:pos x="connsiteX5810" y="connsiteY5810"/>
              </a:cxn>
              <a:cxn ang="0">
                <a:pos x="connsiteX5811" y="connsiteY5811"/>
              </a:cxn>
              <a:cxn ang="0">
                <a:pos x="connsiteX5812" y="connsiteY5812"/>
              </a:cxn>
              <a:cxn ang="0">
                <a:pos x="connsiteX5813" y="connsiteY5813"/>
              </a:cxn>
              <a:cxn ang="0">
                <a:pos x="connsiteX5814" y="connsiteY5814"/>
              </a:cxn>
              <a:cxn ang="0">
                <a:pos x="connsiteX5815" y="connsiteY5815"/>
              </a:cxn>
              <a:cxn ang="0">
                <a:pos x="connsiteX5816" y="connsiteY5816"/>
              </a:cxn>
              <a:cxn ang="0">
                <a:pos x="connsiteX5817" y="connsiteY5817"/>
              </a:cxn>
              <a:cxn ang="0">
                <a:pos x="connsiteX5818" y="connsiteY5818"/>
              </a:cxn>
              <a:cxn ang="0">
                <a:pos x="connsiteX5819" y="connsiteY5819"/>
              </a:cxn>
              <a:cxn ang="0">
                <a:pos x="connsiteX5820" y="connsiteY5820"/>
              </a:cxn>
              <a:cxn ang="0">
                <a:pos x="connsiteX5821" y="connsiteY5821"/>
              </a:cxn>
              <a:cxn ang="0">
                <a:pos x="connsiteX5822" y="connsiteY5822"/>
              </a:cxn>
              <a:cxn ang="0">
                <a:pos x="connsiteX5823" y="connsiteY5823"/>
              </a:cxn>
              <a:cxn ang="0">
                <a:pos x="connsiteX5824" y="connsiteY5824"/>
              </a:cxn>
              <a:cxn ang="0">
                <a:pos x="connsiteX5825" y="connsiteY5825"/>
              </a:cxn>
              <a:cxn ang="0">
                <a:pos x="connsiteX5826" y="connsiteY5826"/>
              </a:cxn>
              <a:cxn ang="0">
                <a:pos x="connsiteX5827" y="connsiteY5827"/>
              </a:cxn>
              <a:cxn ang="0">
                <a:pos x="connsiteX5828" y="connsiteY5828"/>
              </a:cxn>
              <a:cxn ang="0">
                <a:pos x="connsiteX5829" y="connsiteY5829"/>
              </a:cxn>
              <a:cxn ang="0">
                <a:pos x="connsiteX5830" y="connsiteY5830"/>
              </a:cxn>
              <a:cxn ang="0">
                <a:pos x="connsiteX5831" y="connsiteY5831"/>
              </a:cxn>
              <a:cxn ang="0">
                <a:pos x="connsiteX5832" y="connsiteY5832"/>
              </a:cxn>
              <a:cxn ang="0">
                <a:pos x="connsiteX5833" y="connsiteY5833"/>
              </a:cxn>
              <a:cxn ang="0">
                <a:pos x="connsiteX5834" y="connsiteY5834"/>
              </a:cxn>
              <a:cxn ang="0">
                <a:pos x="connsiteX5835" y="connsiteY5835"/>
              </a:cxn>
              <a:cxn ang="0">
                <a:pos x="connsiteX5836" y="connsiteY5836"/>
              </a:cxn>
              <a:cxn ang="0">
                <a:pos x="connsiteX5837" y="connsiteY5837"/>
              </a:cxn>
              <a:cxn ang="0">
                <a:pos x="connsiteX5838" y="connsiteY5838"/>
              </a:cxn>
              <a:cxn ang="0">
                <a:pos x="connsiteX5839" y="connsiteY5839"/>
              </a:cxn>
              <a:cxn ang="0">
                <a:pos x="connsiteX5840" y="connsiteY5840"/>
              </a:cxn>
              <a:cxn ang="0">
                <a:pos x="connsiteX5841" y="connsiteY5841"/>
              </a:cxn>
              <a:cxn ang="0">
                <a:pos x="connsiteX5842" y="connsiteY5842"/>
              </a:cxn>
              <a:cxn ang="0">
                <a:pos x="connsiteX5843" y="connsiteY5843"/>
              </a:cxn>
              <a:cxn ang="0">
                <a:pos x="connsiteX5844" y="connsiteY5844"/>
              </a:cxn>
              <a:cxn ang="0">
                <a:pos x="connsiteX5845" y="connsiteY5845"/>
              </a:cxn>
              <a:cxn ang="0">
                <a:pos x="connsiteX5846" y="connsiteY5846"/>
              </a:cxn>
              <a:cxn ang="0">
                <a:pos x="connsiteX5847" y="connsiteY5847"/>
              </a:cxn>
              <a:cxn ang="0">
                <a:pos x="connsiteX5848" y="connsiteY5848"/>
              </a:cxn>
              <a:cxn ang="0">
                <a:pos x="connsiteX5849" y="connsiteY5849"/>
              </a:cxn>
              <a:cxn ang="0">
                <a:pos x="connsiteX5850" y="connsiteY5850"/>
              </a:cxn>
              <a:cxn ang="0">
                <a:pos x="connsiteX5851" y="connsiteY5851"/>
              </a:cxn>
              <a:cxn ang="0">
                <a:pos x="connsiteX5852" y="connsiteY5852"/>
              </a:cxn>
              <a:cxn ang="0">
                <a:pos x="connsiteX5853" y="connsiteY5853"/>
              </a:cxn>
              <a:cxn ang="0">
                <a:pos x="connsiteX5854" y="connsiteY5854"/>
              </a:cxn>
              <a:cxn ang="0">
                <a:pos x="connsiteX5855" y="connsiteY5855"/>
              </a:cxn>
              <a:cxn ang="0">
                <a:pos x="connsiteX5856" y="connsiteY5856"/>
              </a:cxn>
              <a:cxn ang="0">
                <a:pos x="connsiteX5857" y="connsiteY5857"/>
              </a:cxn>
              <a:cxn ang="0">
                <a:pos x="connsiteX5858" y="connsiteY5858"/>
              </a:cxn>
              <a:cxn ang="0">
                <a:pos x="connsiteX5859" y="connsiteY5859"/>
              </a:cxn>
              <a:cxn ang="0">
                <a:pos x="connsiteX5860" y="connsiteY5860"/>
              </a:cxn>
              <a:cxn ang="0">
                <a:pos x="connsiteX5861" y="connsiteY5861"/>
              </a:cxn>
              <a:cxn ang="0">
                <a:pos x="connsiteX5862" y="connsiteY5862"/>
              </a:cxn>
              <a:cxn ang="0">
                <a:pos x="connsiteX5863" y="connsiteY5863"/>
              </a:cxn>
              <a:cxn ang="0">
                <a:pos x="connsiteX5864" y="connsiteY5864"/>
              </a:cxn>
              <a:cxn ang="0">
                <a:pos x="connsiteX5865" y="connsiteY5865"/>
              </a:cxn>
              <a:cxn ang="0">
                <a:pos x="connsiteX5866" y="connsiteY5866"/>
              </a:cxn>
              <a:cxn ang="0">
                <a:pos x="connsiteX5867" y="connsiteY5867"/>
              </a:cxn>
              <a:cxn ang="0">
                <a:pos x="connsiteX5868" y="connsiteY5868"/>
              </a:cxn>
              <a:cxn ang="0">
                <a:pos x="connsiteX5869" y="connsiteY5869"/>
              </a:cxn>
              <a:cxn ang="0">
                <a:pos x="connsiteX5870" y="connsiteY5870"/>
              </a:cxn>
              <a:cxn ang="0">
                <a:pos x="connsiteX5871" y="connsiteY5871"/>
              </a:cxn>
              <a:cxn ang="0">
                <a:pos x="connsiteX5872" y="connsiteY5872"/>
              </a:cxn>
              <a:cxn ang="0">
                <a:pos x="connsiteX5873" y="connsiteY5873"/>
              </a:cxn>
              <a:cxn ang="0">
                <a:pos x="connsiteX5874" y="connsiteY5874"/>
              </a:cxn>
              <a:cxn ang="0">
                <a:pos x="connsiteX5875" y="connsiteY5875"/>
              </a:cxn>
              <a:cxn ang="0">
                <a:pos x="connsiteX5876" y="connsiteY5876"/>
              </a:cxn>
              <a:cxn ang="0">
                <a:pos x="connsiteX5877" y="connsiteY5877"/>
              </a:cxn>
              <a:cxn ang="0">
                <a:pos x="connsiteX5878" y="connsiteY5878"/>
              </a:cxn>
              <a:cxn ang="0">
                <a:pos x="connsiteX5879" y="connsiteY5879"/>
              </a:cxn>
              <a:cxn ang="0">
                <a:pos x="connsiteX5880" y="connsiteY5880"/>
              </a:cxn>
              <a:cxn ang="0">
                <a:pos x="connsiteX5881" y="connsiteY5881"/>
              </a:cxn>
              <a:cxn ang="0">
                <a:pos x="connsiteX5882" y="connsiteY5882"/>
              </a:cxn>
              <a:cxn ang="0">
                <a:pos x="connsiteX5883" y="connsiteY5883"/>
              </a:cxn>
              <a:cxn ang="0">
                <a:pos x="connsiteX5884" y="connsiteY5884"/>
              </a:cxn>
              <a:cxn ang="0">
                <a:pos x="connsiteX5885" y="connsiteY5885"/>
              </a:cxn>
              <a:cxn ang="0">
                <a:pos x="connsiteX5886" y="connsiteY5886"/>
              </a:cxn>
              <a:cxn ang="0">
                <a:pos x="connsiteX5887" y="connsiteY5887"/>
              </a:cxn>
              <a:cxn ang="0">
                <a:pos x="connsiteX5888" y="connsiteY5888"/>
              </a:cxn>
              <a:cxn ang="0">
                <a:pos x="connsiteX5889" y="connsiteY5889"/>
              </a:cxn>
              <a:cxn ang="0">
                <a:pos x="connsiteX5890" y="connsiteY5890"/>
              </a:cxn>
              <a:cxn ang="0">
                <a:pos x="connsiteX5891" y="connsiteY5891"/>
              </a:cxn>
              <a:cxn ang="0">
                <a:pos x="connsiteX5892" y="connsiteY5892"/>
              </a:cxn>
              <a:cxn ang="0">
                <a:pos x="connsiteX5893" y="connsiteY5893"/>
              </a:cxn>
              <a:cxn ang="0">
                <a:pos x="connsiteX5894" y="connsiteY5894"/>
              </a:cxn>
              <a:cxn ang="0">
                <a:pos x="connsiteX5895" y="connsiteY5895"/>
              </a:cxn>
              <a:cxn ang="0">
                <a:pos x="connsiteX5896" y="connsiteY5896"/>
              </a:cxn>
              <a:cxn ang="0">
                <a:pos x="connsiteX5897" y="connsiteY5897"/>
              </a:cxn>
              <a:cxn ang="0">
                <a:pos x="connsiteX5898" y="connsiteY5898"/>
              </a:cxn>
              <a:cxn ang="0">
                <a:pos x="connsiteX5899" y="connsiteY5899"/>
              </a:cxn>
              <a:cxn ang="0">
                <a:pos x="connsiteX5900" y="connsiteY5900"/>
              </a:cxn>
              <a:cxn ang="0">
                <a:pos x="connsiteX5901" y="connsiteY5901"/>
              </a:cxn>
              <a:cxn ang="0">
                <a:pos x="connsiteX5902" y="connsiteY5902"/>
              </a:cxn>
              <a:cxn ang="0">
                <a:pos x="connsiteX5903" y="connsiteY5903"/>
              </a:cxn>
              <a:cxn ang="0">
                <a:pos x="connsiteX5904" y="connsiteY5904"/>
              </a:cxn>
              <a:cxn ang="0">
                <a:pos x="connsiteX5905" y="connsiteY5905"/>
              </a:cxn>
              <a:cxn ang="0">
                <a:pos x="connsiteX5906" y="connsiteY5906"/>
              </a:cxn>
              <a:cxn ang="0">
                <a:pos x="connsiteX5907" y="connsiteY5907"/>
              </a:cxn>
              <a:cxn ang="0">
                <a:pos x="connsiteX5908" y="connsiteY5908"/>
              </a:cxn>
              <a:cxn ang="0">
                <a:pos x="connsiteX5909" y="connsiteY5909"/>
              </a:cxn>
              <a:cxn ang="0">
                <a:pos x="connsiteX5910" y="connsiteY5910"/>
              </a:cxn>
              <a:cxn ang="0">
                <a:pos x="connsiteX5911" y="connsiteY5911"/>
              </a:cxn>
              <a:cxn ang="0">
                <a:pos x="connsiteX5912" y="connsiteY5912"/>
              </a:cxn>
              <a:cxn ang="0">
                <a:pos x="connsiteX5913" y="connsiteY5913"/>
              </a:cxn>
              <a:cxn ang="0">
                <a:pos x="connsiteX5914" y="connsiteY5914"/>
              </a:cxn>
              <a:cxn ang="0">
                <a:pos x="connsiteX5915" y="connsiteY5915"/>
              </a:cxn>
              <a:cxn ang="0">
                <a:pos x="connsiteX5916" y="connsiteY5916"/>
              </a:cxn>
              <a:cxn ang="0">
                <a:pos x="connsiteX5917" y="connsiteY5917"/>
              </a:cxn>
              <a:cxn ang="0">
                <a:pos x="connsiteX5918" y="connsiteY5918"/>
              </a:cxn>
              <a:cxn ang="0">
                <a:pos x="connsiteX5919" y="connsiteY5919"/>
              </a:cxn>
              <a:cxn ang="0">
                <a:pos x="connsiteX5920" y="connsiteY5920"/>
              </a:cxn>
              <a:cxn ang="0">
                <a:pos x="connsiteX5921" y="connsiteY5921"/>
              </a:cxn>
              <a:cxn ang="0">
                <a:pos x="connsiteX5922" y="connsiteY5922"/>
              </a:cxn>
              <a:cxn ang="0">
                <a:pos x="connsiteX5923" y="connsiteY5923"/>
              </a:cxn>
              <a:cxn ang="0">
                <a:pos x="connsiteX5924" y="connsiteY5924"/>
              </a:cxn>
              <a:cxn ang="0">
                <a:pos x="connsiteX5925" y="connsiteY5925"/>
              </a:cxn>
              <a:cxn ang="0">
                <a:pos x="connsiteX5926" y="connsiteY5926"/>
              </a:cxn>
              <a:cxn ang="0">
                <a:pos x="connsiteX5927" y="connsiteY5927"/>
              </a:cxn>
              <a:cxn ang="0">
                <a:pos x="connsiteX5928" y="connsiteY5928"/>
              </a:cxn>
              <a:cxn ang="0">
                <a:pos x="connsiteX5929" y="connsiteY5929"/>
              </a:cxn>
              <a:cxn ang="0">
                <a:pos x="connsiteX5930" y="connsiteY5930"/>
              </a:cxn>
              <a:cxn ang="0">
                <a:pos x="connsiteX5931" y="connsiteY5931"/>
              </a:cxn>
              <a:cxn ang="0">
                <a:pos x="connsiteX5932" y="connsiteY5932"/>
              </a:cxn>
              <a:cxn ang="0">
                <a:pos x="connsiteX5933" y="connsiteY5933"/>
              </a:cxn>
              <a:cxn ang="0">
                <a:pos x="connsiteX5934" y="connsiteY5934"/>
              </a:cxn>
              <a:cxn ang="0">
                <a:pos x="connsiteX5935" y="connsiteY5935"/>
              </a:cxn>
              <a:cxn ang="0">
                <a:pos x="connsiteX5936" y="connsiteY5936"/>
              </a:cxn>
              <a:cxn ang="0">
                <a:pos x="connsiteX5937" y="connsiteY5937"/>
              </a:cxn>
              <a:cxn ang="0">
                <a:pos x="connsiteX5938" y="connsiteY5938"/>
              </a:cxn>
              <a:cxn ang="0">
                <a:pos x="connsiteX5939" y="connsiteY5939"/>
              </a:cxn>
              <a:cxn ang="0">
                <a:pos x="connsiteX5940" y="connsiteY5940"/>
              </a:cxn>
              <a:cxn ang="0">
                <a:pos x="connsiteX5941" y="connsiteY5941"/>
              </a:cxn>
              <a:cxn ang="0">
                <a:pos x="connsiteX5942" y="connsiteY5942"/>
              </a:cxn>
              <a:cxn ang="0">
                <a:pos x="connsiteX5943" y="connsiteY5943"/>
              </a:cxn>
              <a:cxn ang="0">
                <a:pos x="connsiteX5944" y="connsiteY5944"/>
              </a:cxn>
              <a:cxn ang="0">
                <a:pos x="connsiteX5945" y="connsiteY5945"/>
              </a:cxn>
              <a:cxn ang="0">
                <a:pos x="connsiteX5946" y="connsiteY5946"/>
              </a:cxn>
              <a:cxn ang="0">
                <a:pos x="connsiteX5947" y="connsiteY5947"/>
              </a:cxn>
              <a:cxn ang="0">
                <a:pos x="connsiteX5948" y="connsiteY5948"/>
              </a:cxn>
              <a:cxn ang="0">
                <a:pos x="connsiteX5949" y="connsiteY5949"/>
              </a:cxn>
              <a:cxn ang="0">
                <a:pos x="connsiteX5950" y="connsiteY5950"/>
              </a:cxn>
              <a:cxn ang="0">
                <a:pos x="connsiteX5951" y="connsiteY5951"/>
              </a:cxn>
              <a:cxn ang="0">
                <a:pos x="connsiteX5952" y="connsiteY5952"/>
              </a:cxn>
              <a:cxn ang="0">
                <a:pos x="connsiteX5953" y="connsiteY5953"/>
              </a:cxn>
              <a:cxn ang="0">
                <a:pos x="connsiteX5954" y="connsiteY5954"/>
              </a:cxn>
              <a:cxn ang="0">
                <a:pos x="connsiteX5955" y="connsiteY5955"/>
              </a:cxn>
              <a:cxn ang="0">
                <a:pos x="connsiteX5956" y="connsiteY5956"/>
              </a:cxn>
              <a:cxn ang="0">
                <a:pos x="connsiteX5957" y="connsiteY5957"/>
              </a:cxn>
              <a:cxn ang="0">
                <a:pos x="connsiteX5958" y="connsiteY5958"/>
              </a:cxn>
              <a:cxn ang="0">
                <a:pos x="connsiteX5959" y="connsiteY5959"/>
              </a:cxn>
              <a:cxn ang="0">
                <a:pos x="connsiteX5960" y="connsiteY5960"/>
              </a:cxn>
              <a:cxn ang="0">
                <a:pos x="connsiteX5961" y="connsiteY5961"/>
              </a:cxn>
              <a:cxn ang="0">
                <a:pos x="connsiteX5962" y="connsiteY5962"/>
              </a:cxn>
              <a:cxn ang="0">
                <a:pos x="connsiteX5963" y="connsiteY5963"/>
              </a:cxn>
              <a:cxn ang="0">
                <a:pos x="connsiteX5964" y="connsiteY5964"/>
              </a:cxn>
              <a:cxn ang="0">
                <a:pos x="connsiteX5965" y="connsiteY5965"/>
              </a:cxn>
              <a:cxn ang="0">
                <a:pos x="connsiteX5966" y="connsiteY5966"/>
              </a:cxn>
              <a:cxn ang="0">
                <a:pos x="connsiteX5967" y="connsiteY5967"/>
              </a:cxn>
              <a:cxn ang="0">
                <a:pos x="connsiteX5968" y="connsiteY5968"/>
              </a:cxn>
              <a:cxn ang="0">
                <a:pos x="connsiteX5969" y="connsiteY5969"/>
              </a:cxn>
              <a:cxn ang="0">
                <a:pos x="connsiteX5970" y="connsiteY5970"/>
              </a:cxn>
              <a:cxn ang="0">
                <a:pos x="connsiteX5971" y="connsiteY5971"/>
              </a:cxn>
              <a:cxn ang="0">
                <a:pos x="connsiteX5972" y="connsiteY5972"/>
              </a:cxn>
              <a:cxn ang="0">
                <a:pos x="connsiteX5973" y="connsiteY5973"/>
              </a:cxn>
              <a:cxn ang="0">
                <a:pos x="connsiteX5974" y="connsiteY5974"/>
              </a:cxn>
              <a:cxn ang="0">
                <a:pos x="connsiteX5975" y="connsiteY5975"/>
              </a:cxn>
              <a:cxn ang="0">
                <a:pos x="connsiteX5976" y="connsiteY5976"/>
              </a:cxn>
              <a:cxn ang="0">
                <a:pos x="connsiteX5977" y="connsiteY5977"/>
              </a:cxn>
              <a:cxn ang="0">
                <a:pos x="connsiteX5978" y="connsiteY5978"/>
              </a:cxn>
              <a:cxn ang="0">
                <a:pos x="connsiteX5979" y="connsiteY5979"/>
              </a:cxn>
              <a:cxn ang="0">
                <a:pos x="connsiteX5980" y="connsiteY5980"/>
              </a:cxn>
              <a:cxn ang="0">
                <a:pos x="connsiteX5981" y="connsiteY5981"/>
              </a:cxn>
              <a:cxn ang="0">
                <a:pos x="connsiteX5982" y="connsiteY5982"/>
              </a:cxn>
              <a:cxn ang="0">
                <a:pos x="connsiteX5983" y="connsiteY5983"/>
              </a:cxn>
              <a:cxn ang="0">
                <a:pos x="connsiteX5984" y="connsiteY5984"/>
              </a:cxn>
              <a:cxn ang="0">
                <a:pos x="connsiteX5985" y="connsiteY5985"/>
              </a:cxn>
              <a:cxn ang="0">
                <a:pos x="connsiteX5986" y="connsiteY5986"/>
              </a:cxn>
              <a:cxn ang="0">
                <a:pos x="connsiteX5987" y="connsiteY5987"/>
              </a:cxn>
              <a:cxn ang="0">
                <a:pos x="connsiteX5988" y="connsiteY5988"/>
              </a:cxn>
              <a:cxn ang="0">
                <a:pos x="connsiteX5989" y="connsiteY5989"/>
              </a:cxn>
              <a:cxn ang="0">
                <a:pos x="connsiteX5990" y="connsiteY5990"/>
              </a:cxn>
              <a:cxn ang="0">
                <a:pos x="connsiteX5991" y="connsiteY5991"/>
              </a:cxn>
              <a:cxn ang="0">
                <a:pos x="connsiteX5992" y="connsiteY5992"/>
              </a:cxn>
              <a:cxn ang="0">
                <a:pos x="connsiteX5993" y="connsiteY5993"/>
              </a:cxn>
              <a:cxn ang="0">
                <a:pos x="connsiteX5994" y="connsiteY5994"/>
              </a:cxn>
              <a:cxn ang="0">
                <a:pos x="connsiteX5995" y="connsiteY5995"/>
              </a:cxn>
              <a:cxn ang="0">
                <a:pos x="connsiteX5996" y="connsiteY5996"/>
              </a:cxn>
              <a:cxn ang="0">
                <a:pos x="connsiteX5997" y="connsiteY5997"/>
              </a:cxn>
              <a:cxn ang="0">
                <a:pos x="connsiteX5998" y="connsiteY5998"/>
              </a:cxn>
              <a:cxn ang="0">
                <a:pos x="connsiteX5999" y="connsiteY5999"/>
              </a:cxn>
              <a:cxn ang="0">
                <a:pos x="connsiteX6000" y="connsiteY6000"/>
              </a:cxn>
              <a:cxn ang="0">
                <a:pos x="connsiteX6001" y="connsiteY6001"/>
              </a:cxn>
              <a:cxn ang="0">
                <a:pos x="connsiteX6002" y="connsiteY6002"/>
              </a:cxn>
              <a:cxn ang="0">
                <a:pos x="connsiteX6003" y="connsiteY6003"/>
              </a:cxn>
              <a:cxn ang="0">
                <a:pos x="connsiteX6004" y="connsiteY6004"/>
              </a:cxn>
              <a:cxn ang="0">
                <a:pos x="connsiteX6005" y="connsiteY6005"/>
              </a:cxn>
              <a:cxn ang="0">
                <a:pos x="connsiteX6006" y="connsiteY6006"/>
              </a:cxn>
              <a:cxn ang="0">
                <a:pos x="connsiteX6007" y="connsiteY6007"/>
              </a:cxn>
              <a:cxn ang="0">
                <a:pos x="connsiteX6008" y="connsiteY6008"/>
              </a:cxn>
              <a:cxn ang="0">
                <a:pos x="connsiteX6009" y="connsiteY6009"/>
              </a:cxn>
              <a:cxn ang="0">
                <a:pos x="connsiteX6010" y="connsiteY6010"/>
              </a:cxn>
              <a:cxn ang="0">
                <a:pos x="connsiteX6011" y="connsiteY6011"/>
              </a:cxn>
              <a:cxn ang="0">
                <a:pos x="connsiteX6012" y="connsiteY6012"/>
              </a:cxn>
              <a:cxn ang="0">
                <a:pos x="connsiteX6013" y="connsiteY6013"/>
              </a:cxn>
              <a:cxn ang="0">
                <a:pos x="connsiteX6014" y="connsiteY6014"/>
              </a:cxn>
              <a:cxn ang="0">
                <a:pos x="connsiteX6015" y="connsiteY6015"/>
              </a:cxn>
              <a:cxn ang="0">
                <a:pos x="connsiteX6016" y="connsiteY6016"/>
              </a:cxn>
              <a:cxn ang="0">
                <a:pos x="connsiteX6017" y="connsiteY6017"/>
              </a:cxn>
              <a:cxn ang="0">
                <a:pos x="connsiteX6018" y="connsiteY6018"/>
              </a:cxn>
              <a:cxn ang="0">
                <a:pos x="connsiteX6019" y="connsiteY6019"/>
              </a:cxn>
              <a:cxn ang="0">
                <a:pos x="connsiteX6020" y="connsiteY6020"/>
              </a:cxn>
              <a:cxn ang="0">
                <a:pos x="connsiteX6021" y="connsiteY6021"/>
              </a:cxn>
              <a:cxn ang="0">
                <a:pos x="connsiteX6022" y="connsiteY6022"/>
              </a:cxn>
              <a:cxn ang="0">
                <a:pos x="connsiteX6023" y="connsiteY6023"/>
              </a:cxn>
              <a:cxn ang="0">
                <a:pos x="connsiteX6024" y="connsiteY6024"/>
              </a:cxn>
              <a:cxn ang="0">
                <a:pos x="connsiteX6025" y="connsiteY6025"/>
              </a:cxn>
              <a:cxn ang="0">
                <a:pos x="connsiteX6026" y="connsiteY6026"/>
              </a:cxn>
              <a:cxn ang="0">
                <a:pos x="connsiteX6027" y="connsiteY6027"/>
              </a:cxn>
              <a:cxn ang="0">
                <a:pos x="connsiteX6028" y="connsiteY6028"/>
              </a:cxn>
              <a:cxn ang="0">
                <a:pos x="connsiteX6029" y="connsiteY6029"/>
              </a:cxn>
              <a:cxn ang="0">
                <a:pos x="connsiteX6030" y="connsiteY6030"/>
              </a:cxn>
              <a:cxn ang="0">
                <a:pos x="connsiteX6031" y="connsiteY6031"/>
              </a:cxn>
              <a:cxn ang="0">
                <a:pos x="connsiteX6032" y="connsiteY6032"/>
              </a:cxn>
              <a:cxn ang="0">
                <a:pos x="connsiteX6033" y="connsiteY6033"/>
              </a:cxn>
              <a:cxn ang="0">
                <a:pos x="connsiteX6034" y="connsiteY6034"/>
              </a:cxn>
              <a:cxn ang="0">
                <a:pos x="connsiteX6035" y="connsiteY6035"/>
              </a:cxn>
              <a:cxn ang="0">
                <a:pos x="connsiteX6036" y="connsiteY6036"/>
              </a:cxn>
              <a:cxn ang="0">
                <a:pos x="connsiteX6037" y="connsiteY6037"/>
              </a:cxn>
              <a:cxn ang="0">
                <a:pos x="connsiteX6038" y="connsiteY6038"/>
              </a:cxn>
              <a:cxn ang="0">
                <a:pos x="connsiteX6039" y="connsiteY6039"/>
              </a:cxn>
              <a:cxn ang="0">
                <a:pos x="connsiteX6040" y="connsiteY6040"/>
              </a:cxn>
              <a:cxn ang="0">
                <a:pos x="connsiteX6041" y="connsiteY6041"/>
              </a:cxn>
              <a:cxn ang="0">
                <a:pos x="connsiteX6042" y="connsiteY6042"/>
              </a:cxn>
              <a:cxn ang="0">
                <a:pos x="connsiteX6043" y="connsiteY6043"/>
              </a:cxn>
              <a:cxn ang="0">
                <a:pos x="connsiteX6044" y="connsiteY6044"/>
              </a:cxn>
              <a:cxn ang="0">
                <a:pos x="connsiteX6045" y="connsiteY6045"/>
              </a:cxn>
              <a:cxn ang="0">
                <a:pos x="connsiteX6046" y="connsiteY6046"/>
              </a:cxn>
              <a:cxn ang="0">
                <a:pos x="connsiteX6047" y="connsiteY6047"/>
              </a:cxn>
              <a:cxn ang="0">
                <a:pos x="connsiteX6048" y="connsiteY6048"/>
              </a:cxn>
              <a:cxn ang="0">
                <a:pos x="connsiteX6049" y="connsiteY6049"/>
              </a:cxn>
              <a:cxn ang="0">
                <a:pos x="connsiteX6050" y="connsiteY6050"/>
              </a:cxn>
              <a:cxn ang="0">
                <a:pos x="connsiteX6051" y="connsiteY6051"/>
              </a:cxn>
              <a:cxn ang="0">
                <a:pos x="connsiteX6052" y="connsiteY6052"/>
              </a:cxn>
              <a:cxn ang="0">
                <a:pos x="connsiteX6053" y="connsiteY6053"/>
              </a:cxn>
              <a:cxn ang="0">
                <a:pos x="connsiteX6054" y="connsiteY6054"/>
              </a:cxn>
              <a:cxn ang="0">
                <a:pos x="connsiteX6055" y="connsiteY6055"/>
              </a:cxn>
              <a:cxn ang="0">
                <a:pos x="connsiteX6056" y="connsiteY6056"/>
              </a:cxn>
              <a:cxn ang="0">
                <a:pos x="connsiteX6057" y="connsiteY6057"/>
              </a:cxn>
              <a:cxn ang="0">
                <a:pos x="connsiteX6058" y="connsiteY6058"/>
              </a:cxn>
              <a:cxn ang="0">
                <a:pos x="connsiteX6059" y="connsiteY6059"/>
              </a:cxn>
              <a:cxn ang="0">
                <a:pos x="connsiteX6060" y="connsiteY6060"/>
              </a:cxn>
              <a:cxn ang="0">
                <a:pos x="connsiteX6061" y="connsiteY6061"/>
              </a:cxn>
              <a:cxn ang="0">
                <a:pos x="connsiteX6062" y="connsiteY6062"/>
              </a:cxn>
              <a:cxn ang="0">
                <a:pos x="connsiteX6063" y="connsiteY6063"/>
              </a:cxn>
              <a:cxn ang="0">
                <a:pos x="connsiteX6064" y="connsiteY6064"/>
              </a:cxn>
              <a:cxn ang="0">
                <a:pos x="connsiteX6065" y="connsiteY6065"/>
              </a:cxn>
              <a:cxn ang="0">
                <a:pos x="connsiteX6066" y="connsiteY6066"/>
              </a:cxn>
              <a:cxn ang="0">
                <a:pos x="connsiteX6067" y="connsiteY6067"/>
              </a:cxn>
              <a:cxn ang="0">
                <a:pos x="connsiteX6068" y="connsiteY6068"/>
              </a:cxn>
              <a:cxn ang="0">
                <a:pos x="connsiteX6069" y="connsiteY6069"/>
              </a:cxn>
              <a:cxn ang="0">
                <a:pos x="connsiteX6070" y="connsiteY6070"/>
              </a:cxn>
              <a:cxn ang="0">
                <a:pos x="connsiteX6071" y="connsiteY6071"/>
              </a:cxn>
              <a:cxn ang="0">
                <a:pos x="connsiteX6072" y="connsiteY6072"/>
              </a:cxn>
              <a:cxn ang="0">
                <a:pos x="connsiteX6073" y="connsiteY6073"/>
              </a:cxn>
              <a:cxn ang="0">
                <a:pos x="connsiteX6074" y="connsiteY6074"/>
              </a:cxn>
              <a:cxn ang="0">
                <a:pos x="connsiteX6075" y="connsiteY6075"/>
              </a:cxn>
              <a:cxn ang="0">
                <a:pos x="connsiteX6076" y="connsiteY6076"/>
              </a:cxn>
              <a:cxn ang="0">
                <a:pos x="connsiteX6077" y="connsiteY6077"/>
              </a:cxn>
              <a:cxn ang="0">
                <a:pos x="connsiteX6078" y="connsiteY6078"/>
              </a:cxn>
              <a:cxn ang="0">
                <a:pos x="connsiteX6079" y="connsiteY6079"/>
              </a:cxn>
              <a:cxn ang="0">
                <a:pos x="connsiteX6080" y="connsiteY6080"/>
              </a:cxn>
              <a:cxn ang="0">
                <a:pos x="connsiteX6081" y="connsiteY6081"/>
              </a:cxn>
              <a:cxn ang="0">
                <a:pos x="connsiteX6082" y="connsiteY6082"/>
              </a:cxn>
              <a:cxn ang="0">
                <a:pos x="connsiteX6083" y="connsiteY6083"/>
              </a:cxn>
              <a:cxn ang="0">
                <a:pos x="connsiteX6084" y="connsiteY6084"/>
              </a:cxn>
              <a:cxn ang="0">
                <a:pos x="connsiteX6085" y="connsiteY6085"/>
              </a:cxn>
              <a:cxn ang="0">
                <a:pos x="connsiteX6086" y="connsiteY6086"/>
              </a:cxn>
              <a:cxn ang="0">
                <a:pos x="connsiteX6087" y="connsiteY6087"/>
              </a:cxn>
              <a:cxn ang="0">
                <a:pos x="connsiteX6088" y="connsiteY6088"/>
              </a:cxn>
              <a:cxn ang="0">
                <a:pos x="connsiteX6089" y="connsiteY6089"/>
              </a:cxn>
              <a:cxn ang="0">
                <a:pos x="connsiteX6090" y="connsiteY6090"/>
              </a:cxn>
              <a:cxn ang="0">
                <a:pos x="connsiteX6091" y="connsiteY6091"/>
              </a:cxn>
              <a:cxn ang="0">
                <a:pos x="connsiteX6092" y="connsiteY6092"/>
              </a:cxn>
              <a:cxn ang="0">
                <a:pos x="connsiteX6093" y="connsiteY6093"/>
              </a:cxn>
              <a:cxn ang="0">
                <a:pos x="connsiteX6094" y="connsiteY6094"/>
              </a:cxn>
              <a:cxn ang="0">
                <a:pos x="connsiteX6095" y="connsiteY6095"/>
              </a:cxn>
              <a:cxn ang="0">
                <a:pos x="connsiteX6096" y="connsiteY6096"/>
              </a:cxn>
              <a:cxn ang="0">
                <a:pos x="connsiteX6097" y="connsiteY6097"/>
              </a:cxn>
              <a:cxn ang="0">
                <a:pos x="connsiteX6098" y="connsiteY6098"/>
              </a:cxn>
              <a:cxn ang="0">
                <a:pos x="connsiteX6099" y="connsiteY6099"/>
              </a:cxn>
              <a:cxn ang="0">
                <a:pos x="connsiteX6100" y="connsiteY6100"/>
              </a:cxn>
              <a:cxn ang="0">
                <a:pos x="connsiteX6101" y="connsiteY6101"/>
              </a:cxn>
              <a:cxn ang="0">
                <a:pos x="connsiteX6102" y="connsiteY6102"/>
              </a:cxn>
              <a:cxn ang="0">
                <a:pos x="connsiteX6103" y="connsiteY6103"/>
              </a:cxn>
              <a:cxn ang="0">
                <a:pos x="connsiteX6104" y="connsiteY6104"/>
              </a:cxn>
              <a:cxn ang="0">
                <a:pos x="connsiteX6105" y="connsiteY6105"/>
              </a:cxn>
              <a:cxn ang="0">
                <a:pos x="connsiteX6106" y="connsiteY6106"/>
              </a:cxn>
              <a:cxn ang="0">
                <a:pos x="connsiteX6107" y="connsiteY6107"/>
              </a:cxn>
              <a:cxn ang="0">
                <a:pos x="connsiteX6108" y="connsiteY6108"/>
              </a:cxn>
              <a:cxn ang="0">
                <a:pos x="connsiteX6109" y="connsiteY6109"/>
              </a:cxn>
              <a:cxn ang="0">
                <a:pos x="connsiteX6110" y="connsiteY6110"/>
              </a:cxn>
              <a:cxn ang="0">
                <a:pos x="connsiteX6111" y="connsiteY6111"/>
              </a:cxn>
              <a:cxn ang="0">
                <a:pos x="connsiteX6112" y="connsiteY6112"/>
              </a:cxn>
              <a:cxn ang="0">
                <a:pos x="connsiteX6113" y="connsiteY6113"/>
              </a:cxn>
              <a:cxn ang="0">
                <a:pos x="connsiteX6114" y="connsiteY6114"/>
              </a:cxn>
              <a:cxn ang="0">
                <a:pos x="connsiteX6115" y="connsiteY6115"/>
              </a:cxn>
              <a:cxn ang="0">
                <a:pos x="connsiteX6116" y="connsiteY6116"/>
              </a:cxn>
              <a:cxn ang="0">
                <a:pos x="connsiteX6117" y="connsiteY6117"/>
              </a:cxn>
              <a:cxn ang="0">
                <a:pos x="connsiteX6118" y="connsiteY6118"/>
              </a:cxn>
              <a:cxn ang="0">
                <a:pos x="connsiteX6119" y="connsiteY6119"/>
              </a:cxn>
              <a:cxn ang="0">
                <a:pos x="connsiteX6120" y="connsiteY6120"/>
              </a:cxn>
              <a:cxn ang="0">
                <a:pos x="connsiteX6121" y="connsiteY6121"/>
              </a:cxn>
              <a:cxn ang="0">
                <a:pos x="connsiteX6122" y="connsiteY6122"/>
              </a:cxn>
              <a:cxn ang="0">
                <a:pos x="connsiteX6123" y="connsiteY6123"/>
              </a:cxn>
              <a:cxn ang="0">
                <a:pos x="connsiteX6124" y="connsiteY6124"/>
              </a:cxn>
              <a:cxn ang="0">
                <a:pos x="connsiteX6125" y="connsiteY6125"/>
              </a:cxn>
              <a:cxn ang="0">
                <a:pos x="connsiteX6126" y="connsiteY6126"/>
              </a:cxn>
              <a:cxn ang="0">
                <a:pos x="connsiteX6127" y="connsiteY6127"/>
              </a:cxn>
              <a:cxn ang="0">
                <a:pos x="connsiteX6128" y="connsiteY6128"/>
              </a:cxn>
              <a:cxn ang="0">
                <a:pos x="connsiteX6129" y="connsiteY6129"/>
              </a:cxn>
              <a:cxn ang="0">
                <a:pos x="connsiteX6130" y="connsiteY6130"/>
              </a:cxn>
              <a:cxn ang="0">
                <a:pos x="connsiteX6131" y="connsiteY6131"/>
              </a:cxn>
              <a:cxn ang="0">
                <a:pos x="connsiteX6132" y="connsiteY6132"/>
              </a:cxn>
              <a:cxn ang="0">
                <a:pos x="connsiteX6133" y="connsiteY6133"/>
              </a:cxn>
              <a:cxn ang="0">
                <a:pos x="connsiteX6134" y="connsiteY6134"/>
              </a:cxn>
              <a:cxn ang="0">
                <a:pos x="connsiteX6135" y="connsiteY6135"/>
              </a:cxn>
              <a:cxn ang="0">
                <a:pos x="connsiteX6136" y="connsiteY6136"/>
              </a:cxn>
              <a:cxn ang="0">
                <a:pos x="connsiteX6137" y="connsiteY6137"/>
              </a:cxn>
              <a:cxn ang="0">
                <a:pos x="connsiteX6138" y="connsiteY6138"/>
              </a:cxn>
              <a:cxn ang="0">
                <a:pos x="connsiteX6139" y="connsiteY6139"/>
              </a:cxn>
              <a:cxn ang="0">
                <a:pos x="connsiteX6140" y="connsiteY6140"/>
              </a:cxn>
              <a:cxn ang="0">
                <a:pos x="connsiteX6141" y="connsiteY6141"/>
              </a:cxn>
              <a:cxn ang="0">
                <a:pos x="connsiteX6142" y="connsiteY6142"/>
              </a:cxn>
              <a:cxn ang="0">
                <a:pos x="connsiteX6143" y="connsiteY6143"/>
              </a:cxn>
              <a:cxn ang="0">
                <a:pos x="connsiteX6144" y="connsiteY6144"/>
              </a:cxn>
              <a:cxn ang="0">
                <a:pos x="connsiteX6145" y="connsiteY6145"/>
              </a:cxn>
              <a:cxn ang="0">
                <a:pos x="connsiteX6146" y="connsiteY6146"/>
              </a:cxn>
              <a:cxn ang="0">
                <a:pos x="connsiteX6147" y="connsiteY6147"/>
              </a:cxn>
              <a:cxn ang="0">
                <a:pos x="connsiteX6148" y="connsiteY6148"/>
              </a:cxn>
              <a:cxn ang="0">
                <a:pos x="connsiteX6149" y="connsiteY6149"/>
              </a:cxn>
              <a:cxn ang="0">
                <a:pos x="connsiteX6150" y="connsiteY6150"/>
              </a:cxn>
              <a:cxn ang="0">
                <a:pos x="connsiteX6151" y="connsiteY6151"/>
              </a:cxn>
              <a:cxn ang="0">
                <a:pos x="connsiteX6152" y="connsiteY6152"/>
              </a:cxn>
              <a:cxn ang="0">
                <a:pos x="connsiteX6153" y="connsiteY6153"/>
              </a:cxn>
              <a:cxn ang="0">
                <a:pos x="connsiteX6154" y="connsiteY6154"/>
              </a:cxn>
              <a:cxn ang="0">
                <a:pos x="connsiteX6155" y="connsiteY6155"/>
              </a:cxn>
              <a:cxn ang="0">
                <a:pos x="connsiteX6156" y="connsiteY6156"/>
              </a:cxn>
              <a:cxn ang="0">
                <a:pos x="connsiteX6157" y="connsiteY6157"/>
              </a:cxn>
              <a:cxn ang="0">
                <a:pos x="connsiteX6158" y="connsiteY6158"/>
              </a:cxn>
              <a:cxn ang="0">
                <a:pos x="connsiteX6159" y="connsiteY6159"/>
              </a:cxn>
              <a:cxn ang="0">
                <a:pos x="connsiteX6160" y="connsiteY6160"/>
              </a:cxn>
              <a:cxn ang="0">
                <a:pos x="connsiteX6161" y="connsiteY6161"/>
              </a:cxn>
              <a:cxn ang="0">
                <a:pos x="connsiteX6162" y="connsiteY6162"/>
              </a:cxn>
              <a:cxn ang="0">
                <a:pos x="connsiteX6163" y="connsiteY6163"/>
              </a:cxn>
              <a:cxn ang="0">
                <a:pos x="connsiteX6164" y="connsiteY6164"/>
              </a:cxn>
              <a:cxn ang="0">
                <a:pos x="connsiteX6165" y="connsiteY6165"/>
              </a:cxn>
              <a:cxn ang="0">
                <a:pos x="connsiteX6166" y="connsiteY6166"/>
              </a:cxn>
              <a:cxn ang="0">
                <a:pos x="connsiteX6167" y="connsiteY6167"/>
              </a:cxn>
              <a:cxn ang="0">
                <a:pos x="connsiteX6168" y="connsiteY6168"/>
              </a:cxn>
              <a:cxn ang="0">
                <a:pos x="connsiteX6169" y="connsiteY6169"/>
              </a:cxn>
              <a:cxn ang="0">
                <a:pos x="connsiteX6170" y="connsiteY6170"/>
              </a:cxn>
              <a:cxn ang="0">
                <a:pos x="connsiteX6171" y="connsiteY6171"/>
              </a:cxn>
              <a:cxn ang="0">
                <a:pos x="connsiteX6172" y="connsiteY6172"/>
              </a:cxn>
              <a:cxn ang="0">
                <a:pos x="connsiteX6173" y="connsiteY6173"/>
              </a:cxn>
              <a:cxn ang="0">
                <a:pos x="connsiteX6174" y="connsiteY6174"/>
              </a:cxn>
              <a:cxn ang="0">
                <a:pos x="connsiteX6175" y="connsiteY6175"/>
              </a:cxn>
              <a:cxn ang="0">
                <a:pos x="connsiteX6176" y="connsiteY6176"/>
              </a:cxn>
              <a:cxn ang="0">
                <a:pos x="connsiteX6177" y="connsiteY6177"/>
              </a:cxn>
              <a:cxn ang="0">
                <a:pos x="connsiteX6178" y="connsiteY6178"/>
              </a:cxn>
              <a:cxn ang="0">
                <a:pos x="connsiteX6179" y="connsiteY6179"/>
              </a:cxn>
              <a:cxn ang="0">
                <a:pos x="connsiteX6180" y="connsiteY6180"/>
              </a:cxn>
              <a:cxn ang="0">
                <a:pos x="connsiteX6181" y="connsiteY6181"/>
              </a:cxn>
              <a:cxn ang="0">
                <a:pos x="connsiteX6182" y="connsiteY6182"/>
              </a:cxn>
              <a:cxn ang="0">
                <a:pos x="connsiteX6183" y="connsiteY6183"/>
              </a:cxn>
              <a:cxn ang="0">
                <a:pos x="connsiteX6184" y="connsiteY6184"/>
              </a:cxn>
              <a:cxn ang="0">
                <a:pos x="connsiteX6185" y="connsiteY6185"/>
              </a:cxn>
              <a:cxn ang="0">
                <a:pos x="connsiteX6186" y="connsiteY6186"/>
              </a:cxn>
              <a:cxn ang="0">
                <a:pos x="connsiteX6187" y="connsiteY6187"/>
              </a:cxn>
              <a:cxn ang="0">
                <a:pos x="connsiteX6188" y="connsiteY6188"/>
              </a:cxn>
              <a:cxn ang="0">
                <a:pos x="connsiteX6189" y="connsiteY6189"/>
              </a:cxn>
              <a:cxn ang="0">
                <a:pos x="connsiteX6190" y="connsiteY6190"/>
              </a:cxn>
              <a:cxn ang="0">
                <a:pos x="connsiteX6191" y="connsiteY6191"/>
              </a:cxn>
              <a:cxn ang="0">
                <a:pos x="connsiteX6192" y="connsiteY6192"/>
              </a:cxn>
              <a:cxn ang="0">
                <a:pos x="connsiteX6193" y="connsiteY6193"/>
              </a:cxn>
              <a:cxn ang="0">
                <a:pos x="connsiteX6194" y="connsiteY6194"/>
              </a:cxn>
              <a:cxn ang="0">
                <a:pos x="connsiteX6195" y="connsiteY6195"/>
              </a:cxn>
              <a:cxn ang="0">
                <a:pos x="connsiteX6196" y="connsiteY6196"/>
              </a:cxn>
              <a:cxn ang="0">
                <a:pos x="connsiteX6197" y="connsiteY6197"/>
              </a:cxn>
              <a:cxn ang="0">
                <a:pos x="connsiteX6198" y="connsiteY6198"/>
              </a:cxn>
              <a:cxn ang="0">
                <a:pos x="connsiteX6199" y="connsiteY6199"/>
              </a:cxn>
              <a:cxn ang="0">
                <a:pos x="connsiteX6200" y="connsiteY6200"/>
              </a:cxn>
              <a:cxn ang="0">
                <a:pos x="connsiteX6201" y="connsiteY6201"/>
              </a:cxn>
              <a:cxn ang="0">
                <a:pos x="connsiteX6202" y="connsiteY6202"/>
              </a:cxn>
              <a:cxn ang="0">
                <a:pos x="connsiteX6203" y="connsiteY6203"/>
              </a:cxn>
              <a:cxn ang="0">
                <a:pos x="connsiteX6204" y="connsiteY6204"/>
              </a:cxn>
              <a:cxn ang="0">
                <a:pos x="connsiteX6205" y="connsiteY6205"/>
              </a:cxn>
              <a:cxn ang="0">
                <a:pos x="connsiteX6206" y="connsiteY6206"/>
              </a:cxn>
              <a:cxn ang="0">
                <a:pos x="connsiteX6207" y="connsiteY6207"/>
              </a:cxn>
              <a:cxn ang="0">
                <a:pos x="connsiteX6208" y="connsiteY6208"/>
              </a:cxn>
              <a:cxn ang="0">
                <a:pos x="connsiteX6209" y="connsiteY6209"/>
              </a:cxn>
              <a:cxn ang="0">
                <a:pos x="connsiteX6210" y="connsiteY6210"/>
              </a:cxn>
              <a:cxn ang="0">
                <a:pos x="connsiteX6211" y="connsiteY6211"/>
              </a:cxn>
              <a:cxn ang="0">
                <a:pos x="connsiteX6212" y="connsiteY6212"/>
              </a:cxn>
              <a:cxn ang="0">
                <a:pos x="connsiteX6213" y="connsiteY6213"/>
              </a:cxn>
              <a:cxn ang="0">
                <a:pos x="connsiteX6214" y="connsiteY6214"/>
              </a:cxn>
              <a:cxn ang="0">
                <a:pos x="connsiteX6215" y="connsiteY6215"/>
              </a:cxn>
              <a:cxn ang="0">
                <a:pos x="connsiteX6216" y="connsiteY6216"/>
              </a:cxn>
              <a:cxn ang="0">
                <a:pos x="connsiteX6217" y="connsiteY6217"/>
              </a:cxn>
              <a:cxn ang="0">
                <a:pos x="connsiteX6218" y="connsiteY6218"/>
              </a:cxn>
              <a:cxn ang="0">
                <a:pos x="connsiteX6219" y="connsiteY6219"/>
              </a:cxn>
              <a:cxn ang="0">
                <a:pos x="connsiteX6220" y="connsiteY6220"/>
              </a:cxn>
              <a:cxn ang="0">
                <a:pos x="connsiteX6221" y="connsiteY6221"/>
              </a:cxn>
              <a:cxn ang="0">
                <a:pos x="connsiteX6222" y="connsiteY6222"/>
              </a:cxn>
              <a:cxn ang="0">
                <a:pos x="connsiteX6223" y="connsiteY6223"/>
              </a:cxn>
              <a:cxn ang="0">
                <a:pos x="connsiteX6224" y="connsiteY6224"/>
              </a:cxn>
              <a:cxn ang="0">
                <a:pos x="connsiteX6225" y="connsiteY6225"/>
              </a:cxn>
              <a:cxn ang="0">
                <a:pos x="connsiteX6226" y="connsiteY6226"/>
              </a:cxn>
              <a:cxn ang="0">
                <a:pos x="connsiteX6227" y="connsiteY6227"/>
              </a:cxn>
              <a:cxn ang="0">
                <a:pos x="connsiteX6228" y="connsiteY6228"/>
              </a:cxn>
              <a:cxn ang="0">
                <a:pos x="connsiteX6229" y="connsiteY6229"/>
              </a:cxn>
              <a:cxn ang="0">
                <a:pos x="connsiteX6230" y="connsiteY6230"/>
              </a:cxn>
              <a:cxn ang="0">
                <a:pos x="connsiteX6231" y="connsiteY6231"/>
              </a:cxn>
              <a:cxn ang="0">
                <a:pos x="connsiteX6232" y="connsiteY6232"/>
              </a:cxn>
              <a:cxn ang="0">
                <a:pos x="connsiteX6233" y="connsiteY6233"/>
              </a:cxn>
              <a:cxn ang="0">
                <a:pos x="connsiteX6234" y="connsiteY6234"/>
              </a:cxn>
              <a:cxn ang="0">
                <a:pos x="connsiteX6235" y="connsiteY6235"/>
              </a:cxn>
              <a:cxn ang="0">
                <a:pos x="connsiteX6236" y="connsiteY6236"/>
              </a:cxn>
              <a:cxn ang="0">
                <a:pos x="connsiteX6237" y="connsiteY6237"/>
              </a:cxn>
              <a:cxn ang="0">
                <a:pos x="connsiteX6238" y="connsiteY6238"/>
              </a:cxn>
              <a:cxn ang="0">
                <a:pos x="connsiteX6239" y="connsiteY6239"/>
              </a:cxn>
              <a:cxn ang="0">
                <a:pos x="connsiteX6240" y="connsiteY6240"/>
              </a:cxn>
              <a:cxn ang="0">
                <a:pos x="connsiteX6241" y="connsiteY6241"/>
              </a:cxn>
              <a:cxn ang="0">
                <a:pos x="connsiteX6242" y="connsiteY6242"/>
              </a:cxn>
              <a:cxn ang="0">
                <a:pos x="connsiteX6243" y="connsiteY6243"/>
              </a:cxn>
              <a:cxn ang="0">
                <a:pos x="connsiteX6244" y="connsiteY6244"/>
              </a:cxn>
              <a:cxn ang="0">
                <a:pos x="connsiteX6245" y="connsiteY6245"/>
              </a:cxn>
              <a:cxn ang="0">
                <a:pos x="connsiteX6246" y="connsiteY6246"/>
              </a:cxn>
              <a:cxn ang="0">
                <a:pos x="connsiteX6247" y="connsiteY6247"/>
              </a:cxn>
              <a:cxn ang="0">
                <a:pos x="connsiteX6248" y="connsiteY6248"/>
              </a:cxn>
              <a:cxn ang="0">
                <a:pos x="connsiteX6249" y="connsiteY6249"/>
              </a:cxn>
              <a:cxn ang="0">
                <a:pos x="connsiteX6250" y="connsiteY6250"/>
              </a:cxn>
              <a:cxn ang="0">
                <a:pos x="connsiteX6251" y="connsiteY6251"/>
              </a:cxn>
              <a:cxn ang="0">
                <a:pos x="connsiteX6252" y="connsiteY6252"/>
              </a:cxn>
              <a:cxn ang="0">
                <a:pos x="connsiteX6253" y="connsiteY6253"/>
              </a:cxn>
              <a:cxn ang="0">
                <a:pos x="connsiteX6254" y="connsiteY6254"/>
              </a:cxn>
              <a:cxn ang="0">
                <a:pos x="connsiteX6255" y="connsiteY6255"/>
              </a:cxn>
              <a:cxn ang="0">
                <a:pos x="connsiteX6256" y="connsiteY6256"/>
              </a:cxn>
              <a:cxn ang="0">
                <a:pos x="connsiteX6257" y="connsiteY6257"/>
              </a:cxn>
              <a:cxn ang="0">
                <a:pos x="connsiteX6258" y="connsiteY6258"/>
              </a:cxn>
              <a:cxn ang="0">
                <a:pos x="connsiteX6259" y="connsiteY6259"/>
              </a:cxn>
              <a:cxn ang="0">
                <a:pos x="connsiteX6260" y="connsiteY6260"/>
              </a:cxn>
              <a:cxn ang="0">
                <a:pos x="connsiteX6261" y="connsiteY6261"/>
              </a:cxn>
              <a:cxn ang="0">
                <a:pos x="connsiteX6262" y="connsiteY6262"/>
              </a:cxn>
              <a:cxn ang="0">
                <a:pos x="connsiteX6263" y="connsiteY6263"/>
              </a:cxn>
              <a:cxn ang="0">
                <a:pos x="connsiteX6264" y="connsiteY6264"/>
              </a:cxn>
              <a:cxn ang="0">
                <a:pos x="connsiteX6265" y="connsiteY6265"/>
              </a:cxn>
              <a:cxn ang="0">
                <a:pos x="connsiteX6266" y="connsiteY6266"/>
              </a:cxn>
              <a:cxn ang="0">
                <a:pos x="connsiteX6267" y="connsiteY6267"/>
              </a:cxn>
              <a:cxn ang="0">
                <a:pos x="connsiteX6268" y="connsiteY6268"/>
              </a:cxn>
              <a:cxn ang="0">
                <a:pos x="connsiteX6269" y="connsiteY6269"/>
              </a:cxn>
              <a:cxn ang="0">
                <a:pos x="connsiteX6270" y="connsiteY6270"/>
              </a:cxn>
              <a:cxn ang="0">
                <a:pos x="connsiteX6271" y="connsiteY6271"/>
              </a:cxn>
              <a:cxn ang="0">
                <a:pos x="connsiteX6272" y="connsiteY6272"/>
              </a:cxn>
              <a:cxn ang="0">
                <a:pos x="connsiteX6273" y="connsiteY6273"/>
              </a:cxn>
              <a:cxn ang="0">
                <a:pos x="connsiteX6274" y="connsiteY6274"/>
              </a:cxn>
              <a:cxn ang="0">
                <a:pos x="connsiteX6275" y="connsiteY6275"/>
              </a:cxn>
              <a:cxn ang="0">
                <a:pos x="connsiteX6276" y="connsiteY6276"/>
              </a:cxn>
              <a:cxn ang="0">
                <a:pos x="connsiteX6277" y="connsiteY6277"/>
              </a:cxn>
              <a:cxn ang="0">
                <a:pos x="connsiteX6278" y="connsiteY6278"/>
              </a:cxn>
              <a:cxn ang="0">
                <a:pos x="connsiteX6279" y="connsiteY6279"/>
              </a:cxn>
              <a:cxn ang="0">
                <a:pos x="connsiteX6280" y="connsiteY6280"/>
              </a:cxn>
              <a:cxn ang="0">
                <a:pos x="connsiteX6281" y="connsiteY6281"/>
              </a:cxn>
              <a:cxn ang="0">
                <a:pos x="connsiteX6282" y="connsiteY6282"/>
              </a:cxn>
              <a:cxn ang="0">
                <a:pos x="connsiteX6283" y="connsiteY6283"/>
              </a:cxn>
              <a:cxn ang="0">
                <a:pos x="connsiteX6284" y="connsiteY6284"/>
              </a:cxn>
              <a:cxn ang="0">
                <a:pos x="connsiteX6285" y="connsiteY6285"/>
              </a:cxn>
              <a:cxn ang="0">
                <a:pos x="connsiteX6286" y="connsiteY6286"/>
              </a:cxn>
              <a:cxn ang="0">
                <a:pos x="connsiteX6287" y="connsiteY6287"/>
              </a:cxn>
              <a:cxn ang="0">
                <a:pos x="connsiteX6288" y="connsiteY6288"/>
              </a:cxn>
              <a:cxn ang="0">
                <a:pos x="connsiteX6289" y="connsiteY6289"/>
              </a:cxn>
              <a:cxn ang="0">
                <a:pos x="connsiteX6290" y="connsiteY6290"/>
              </a:cxn>
              <a:cxn ang="0">
                <a:pos x="connsiteX6291" y="connsiteY6291"/>
              </a:cxn>
              <a:cxn ang="0">
                <a:pos x="connsiteX6292" y="connsiteY6292"/>
              </a:cxn>
              <a:cxn ang="0">
                <a:pos x="connsiteX6293" y="connsiteY6293"/>
              </a:cxn>
              <a:cxn ang="0">
                <a:pos x="connsiteX6294" y="connsiteY6294"/>
              </a:cxn>
              <a:cxn ang="0">
                <a:pos x="connsiteX6295" y="connsiteY6295"/>
              </a:cxn>
              <a:cxn ang="0">
                <a:pos x="connsiteX6296" y="connsiteY6296"/>
              </a:cxn>
              <a:cxn ang="0">
                <a:pos x="connsiteX6297" y="connsiteY6297"/>
              </a:cxn>
              <a:cxn ang="0">
                <a:pos x="connsiteX6298" y="connsiteY6298"/>
              </a:cxn>
              <a:cxn ang="0">
                <a:pos x="connsiteX6299" y="connsiteY6299"/>
              </a:cxn>
              <a:cxn ang="0">
                <a:pos x="connsiteX6300" y="connsiteY6300"/>
              </a:cxn>
              <a:cxn ang="0">
                <a:pos x="connsiteX6301" y="connsiteY6301"/>
              </a:cxn>
              <a:cxn ang="0">
                <a:pos x="connsiteX6302" y="connsiteY6302"/>
              </a:cxn>
              <a:cxn ang="0">
                <a:pos x="connsiteX6303" y="connsiteY6303"/>
              </a:cxn>
              <a:cxn ang="0">
                <a:pos x="connsiteX6304" y="connsiteY6304"/>
              </a:cxn>
              <a:cxn ang="0">
                <a:pos x="connsiteX6305" y="connsiteY6305"/>
              </a:cxn>
              <a:cxn ang="0">
                <a:pos x="connsiteX6306" y="connsiteY6306"/>
              </a:cxn>
              <a:cxn ang="0">
                <a:pos x="connsiteX6307" y="connsiteY6307"/>
              </a:cxn>
              <a:cxn ang="0">
                <a:pos x="connsiteX6308" y="connsiteY6308"/>
              </a:cxn>
              <a:cxn ang="0">
                <a:pos x="connsiteX6309" y="connsiteY6309"/>
              </a:cxn>
              <a:cxn ang="0">
                <a:pos x="connsiteX6310" y="connsiteY6310"/>
              </a:cxn>
              <a:cxn ang="0">
                <a:pos x="connsiteX6311" y="connsiteY6311"/>
              </a:cxn>
              <a:cxn ang="0">
                <a:pos x="connsiteX6312" y="connsiteY6312"/>
              </a:cxn>
              <a:cxn ang="0">
                <a:pos x="connsiteX6313" y="connsiteY6313"/>
              </a:cxn>
              <a:cxn ang="0">
                <a:pos x="connsiteX6314" y="connsiteY6314"/>
              </a:cxn>
              <a:cxn ang="0">
                <a:pos x="connsiteX6315" y="connsiteY6315"/>
              </a:cxn>
              <a:cxn ang="0">
                <a:pos x="connsiteX6316" y="connsiteY6316"/>
              </a:cxn>
              <a:cxn ang="0">
                <a:pos x="connsiteX6317" y="connsiteY6317"/>
              </a:cxn>
              <a:cxn ang="0">
                <a:pos x="connsiteX6318" y="connsiteY6318"/>
              </a:cxn>
              <a:cxn ang="0">
                <a:pos x="connsiteX6319" y="connsiteY6319"/>
              </a:cxn>
              <a:cxn ang="0">
                <a:pos x="connsiteX6320" y="connsiteY6320"/>
              </a:cxn>
              <a:cxn ang="0">
                <a:pos x="connsiteX6321" y="connsiteY6321"/>
              </a:cxn>
              <a:cxn ang="0">
                <a:pos x="connsiteX6322" y="connsiteY6322"/>
              </a:cxn>
              <a:cxn ang="0">
                <a:pos x="connsiteX6323" y="connsiteY6323"/>
              </a:cxn>
              <a:cxn ang="0">
                <a:pos x="connsiteX6324" y="connsiteY6324"/>
              </a:cxn>
              <a:cxn ang="0">
                <a:pos x="connsiteX6325" y="connsiteY6325"/>
              </a:cxn>
              <a:cxn ang="0">
                <a:pos x="connsiteX6326" y="connsiteY6326"/>
              </a:cxn>
              <a:cxn ang="0">
                <a:pos x="connsiteX6327" y="connsiteY6327"/>
              </a:cxn>
              <a:cxn ang="0">
                <a:pos x="connsiteX6328" y="connsiteY6328"/>
              </a:cxn>
              <a:cxn ang="0">
                <a:pos x="connsiteX6329" y="connsiteY6329"/>
              </a:cxn>
              <a:cxn ang="0">
                <a:pos x="connsiteX6330" y="connsiteY6330"/>
              </a:cxn>
              <a:cxn ang="0">
                <a:pos x="connsiteX6331" y="connsiteY6331"/>
              </a:cxn>
              <a:cxn ang="0">
                <a:pos x="connsiteX6332" y="connsiteY6332"/>
              </a:cxn>
              <a:cxn ang="0">
                <a:pos x="connsiteX6333" y="connsiteY6333"/>
              </a:cxn>
              <a:cxn ang="0">
                <a:pos x="connsiteX6334" y="connsiteY6334"/>
              </a:cxn>
              <a:cxn ang="0">
                <a:pos x="connsiteX6335" y="connsiteY6335"/>
              </a:cxn>
              <a:cxn ang="0">
                <a:pos x="connsiteX6336" y="connsiteY6336"/>
              </a:cxn>
              <a:cxn ang="0">
                <a:pos x="connsiteX6337" y="connsiteY6337"/>
              </a:cxn>
              <a:cxn ang="0">
                <a:pos x="connsiteX6338" y="connsiteY6338"/>
              </a:cxn>
              <a:cxn ang="0">
                <a:pos x="connsiteX6339" y="connsiteY6339"/>
              </a:cxn>
              <a:cxn ang="0">
                <a:pos x="connsiteX6340" y="connsiteY6340"/>
              </a:cxn>
              <a:cxn ang="0">
                <a:pos x="connsiteX6341" y="connsiteY6341"/>
              </a:cxn>
              <a:cxn ang="0">
                <a:pos x="connsiteX6342" y="connsiteY6342"/>
              </a:cxn>
              <a:cxn ang="0">
                <a:pos x="connsiteX6343" y="connsiteY6343"/>
              </a:cxn>
              <a:cxn ang="0">
                <a:pos x="connsiteX6344" y="connsiteY6344"/>
              </a:cxn>
              <a:cxn ang="0">
                <a:pos x="connsiteX6345" y="connsiteY6345"/>
              </a:cxn>
              <a:cxn ang="0">
                <a:pos x="connsiteX6346" y="connsiteY6346"/>
              </a:cxn>
              <a:cxn ang="0">
                <a:pos x="connsiteX6347" y="connsiteY6347"/>
              </a:cxn>
              <a:cxn ang="0">
                <a:pos x="connsiteX6348" y="connsiteY6348"/>
              </a:cxn>
              <a:cxn ang="0">
                <a:pos x="connsiteX6349" y="connsiteY6349"/>
              </a:cxn>
              <a:cxn ang="0">
                <a:pos x="connsiteX6350" y="connsiteY6350"/>
              </a:cxn>
              <a:cxn ang="0">
                <a:pos x="connsiteX6351" y="connsiteY6351"/>
              </a:cxn>
              <a:cxn ang="0">
                <a:pos x="connsiteX6352" y="connsiteY6352"/>
              </a:cxn>
              <a:cxn ang="0">
                <a:pos x="connsiteX6353" y="connsiteY6353"/>
              </a:cxn>
              <a:cxn ang="0">
                <a:pos x="connsiteX6354" y="connsiteY6354"/>
              </a:cxn>
              <a:cxn ang="0">
                <a:pos x="connsiteX6355" y="connsiteY6355"/>
              </a:cxn>
              <a:cxn ang="0">
                <a:pos x="connsiteX6356" y="connsiteY6356"/>
              </a:cxn>
              <a:cxn ang="0">
                <a:pos x="connsiteX6357" y="connsiteY6357"/>
              </a:cxn>
              <a:cxn ang="0">
                <a:pos x="connsiteX6358" y="connsiteY6358"/>
              </a:cxn>
              <a:cxn ang="0">
                <a:pos x="connsiteX6359" y="connsiteY6359"/>
              </a:cxn>
              <a:cxn ang="0">
                <a:pos x="connsiteX6360" y="connsiteY6360"/>
              </a:cxn>
              <a:cxn ang="0">
                <a:pos x="connsiteX6361" y="connsiteY6361"/>
              </a:cxn>
              <a:cxn ang="0">
                <a:pos x="connsiteX6362" y="connsiteY6362"/>
              </a:cxn>
              <a:cxn ang="0">
                <a:pos x="connsiteX6363" y="connsiteY6363"/>
              </a:cxn>
              <a:cxn ang="0">
                <a:pos x="connsiteX6364" y="connsiteY6364"/>
              </a:cxn>
              <a:cxn ang="0">
                <a:pos x="connsiteX6365" y="connsiteY6365"/>
              </a:cxn>
              <a:cxn ang="0">
                <a:pos x="connsiteX6366" y="connsiteY6366"/>
              </a:cxn>
              <a:cxn ang="0">
                <a:pos x="connsiteX6367" y="connsiteY6367"/>
              </a:cxn>
              <a:cxn ang="0">
                <a:pos x="connsiteX6368" y="connsiteY6368"/>
              </a:cxn>
              <a:cxn ang="0">
                <a:pos x="connsiteX6369" y="connsiteY6369"/>
              </a:cxn>
              <a:cxn ang="0">
                <a:pos x="connsiteX6370" y="connsiteY6370"/>
              </a:cxn>
              <a:cxn ang="0">
                <a:pos x="connsiteX6371" y="connsiteY6371"/>
              </a:cxn>
              <a:cxn ang="0">
                <a:pos x="connsiteX6372" y="connsiteY6372"/>
              </a:cxn>
              <a:cxn ang="0">
                <a:pos x="connsiteX6373" y="connsiteY6373"/>
              </a:cxn>
              <a:cxn ang="0">
                <a:pos x="connsiteX6374" y="connsiteY6374"/>
              </a:cxn>
              <a:cxn ang="0">
                <a:pos x="connsiteX6375" y="connsiteY6375"/>
              </a:cxn>
              <a:cxn ang="0">
                <a:pos x="connsiteX6376" y="connsiteY6376"/>
              </a:cxn>
              <a:cxn ang="0">
                <a:pos x="connsiteX6377" y="connsiteY6377"/>
              </a:cxn>
              <a:cxn ang="0">
                <a:pos x="connsiteX6378" y="connsiteY6378"/>
              </a:cxn>
              <a:cxn ang="0">
                <a:pos x="connsiteX6379" y="connsiteY6379"/>
              </a:cxn>
              <a:cxn ang="0">
                <a:pos x="connsiteX6380" y="connsiteY6380"/>
              </a:cxn>
              <a:cxn ang="0">
                <a:pos x="connsiteX6381" y="connsiteY6381"/>
              </a:cxn>
              <a:cxn ang="0">
                <a:pos x="connsiteX6382" y="connsiteY6382"/>
              </a:cxn>
              <a:cxn ang="0">
                <a:pos x="connsiteX6383" y="connsiteY6383"/>
              </a:cxn>
              <a:cxn ang="0">
                <a:pos x="connsiteX6384" y="connsiteY6384"/>
              </a:cxn>
              <a:cxn ang="0">
                <a:pos x="connsiteX6385" y="connsiteY6385"/>
              </a:cxn>
              <a:cxn ang="0">
                <a:pos x="connsiteX6386" y="connsiteY6386"/>
              </a:cxn>
              <a:cxn ang="0">
                <a:pos x="connsiteX6387" y="connsiteY6387"/>
              </a:cxn>
              <a:cxn ang="0">
                <a:pos x="connsiteX6388" y="connsiteY6388"/>
              </a:cxn>
              <a:cxn ang="0">
                <a:pos x="connsiteX6389" y="connsiteY6389"/>
              </a:cxn>
              <a:cxn ang="0">
                <a:pos x="connsiteX6390" y="connsiteY6390"/>
              </a:cxn>
              <a:cxn ang="0">
                <a:pos x="connsiteX6391" y="connsiteY6391"/>
              </a:cxn>
              <a:cxn ang="0">
                <a:pos x="connsiteX6392" y="connsiteY6392"/>
              </a:cxn>
              <a:cxn ang="0">
                <a:pos x="connsiteX6393" y="connsiteY6393"/>
              </a:cxn>
              <a:cxn ang="0">
                <a:pos x="connsiteX6394" y="connsiteY6394"/>
              </a:cxn>
              <a:cxn ang="0">
                <a:pos x="connsiteX6395" y="connsiteY6395"/>
              </a:cxn>
              <a:cxn ang="0">
                <a:pos x="connsiteX6396" y="connsiteY6396"/>
              </a:cxn>
              <a:cxn ang="0">
                <a:pos x="connsiteX6397" y="connsiteY6397"/>
              </a:cxn>
              <a:cxn ang="0">
                <a:pos x="connsiteX6398" y="connsiteY6398"/>
              </a:cxn>
              <a:cxn ang="0">
                <a:pos x="connsiteX6399" y="connsiteY6399"/>
              </a:cxn>
              <a:cxn ang="0">
                <a:pos x="connsiteX6400" y="connsiteY6400"/>
              </a:cxn>
              <a:cxn ang="0">
                <a:pos x="connsiteX6401" y="connsiteY6401"/>
              </a:cxn>
              <a:cxn ang="0">
                <a:pos x="connsiteX6402" y="connsiteY6402"/>
              </a:cxn>
              <a:cxn ang="0">
                <a:pos x="connsiteX6403" y="connsiteY6403"/>
              </a:cxn>
              <a:cxn ang="0">
                <a:pos x="connsiteX6404" y="connsiteY6404"/>
              </a:cxn>
              <a:cxn ang="0">
                <a:pos x="connsiteX6405" y="connsiteY6405"/>
              </a:cxn>
              <a:cxn ang="0">
                <a:pos x="connsiteX6406" y="connsiteY6406"/>
              </a:cxn>
              <a:cxn ang="0">
                <a:pos x="connsiteX6407" y="connsiteY6407"/>
              </a:cxn>
              <a:cxn ang="0">
                <a:pos x="connsiteX6408" y="connsiteY6408"/>
              </a:cxn>
              <a:cxn ang="0">
                <a:pos x="connsiteX6409" y="connsiteY6409"/>
              </a:cxn>
              <a:cxn ang="0">
                <a:pos x="connsiteX6410" y="connsiteY6410"/>
              </a:cxn>
              <a:cxn ang="0">
                <a:pos x="connsiteX6411" y="connsiteY6411"/>
              </a:cxn>
              <a:cxn ang="0">
                <a:pos x="connsiteX6412" y="connsiteY6412"/>
              </a:cxn>
              <a:cxn ang="0">
                <a:pos x="connsiteX6413" y="connsiteY6413"/>
              </a:cxn>
              <a:cxn ang="0">
                <a:pos x="connsiteX6414" y="connsiteY6414"/>
              </a:cxn>
              <a:cxn ang="0">
                <a:pos x="connsiteX6415" y="connsiteY6415"/>
              </a:cxn>
              <a:cxn ang="0">
                <a:pos x="connsiteX6416" y="connsiteY6416"/>
              </a:cxn>
              <a:cxn ang="0">
                <a:pos x="connsiteX6417" y="connsiteY6417"/>
              </a:cxn>
              <a:cxn ang="0">
                <a:pos x="connsiteX6418" y="connsiteY6418"/>
              </a:cxn>
              <a:cxn ang="0">
                <a:pos x="connsiteX6419" y="connsiteY6419"/>
              </a:cxn>
              <a:cxn ang="0">
                <a:pos x="connsiteX6420" y="connsiteY6420"/>
              </a:cxn>
              <a:cxn ang="0">
                <a:pos x="connsiteX6421" y="connsiteY6421"/>
              </a:cxn>
              <a:cxn ang="0">
                <a:pos x="connsiteX6422" y="connsiteY6422"/>
              </a:cxn>
              <a:cxn ang="0">
                <a:pos x="connsiteX6423" y="connsiteY6423"/>
              </a:cxn>
              <a:cxn ang="0">
                <a:pos x="connsiteX6424" y="connsiteY6424"/>
              </a:cxn>
              <a:cxn ang="0">
                <a:pos x="connsiteX6425" y="connsiteY6425"/>
              </a:cxn>
              <a:cxn ang="0">
                <a:pos x="connsiteX6426" y="connsiteY6426"/>
              </a:cxn>
              <a:cxn ang="0">
                <a:pos x="connsiteX6427" y="connsiteY6427"/>
              </a:cxn>
              <a:cxn ang="0">
                <a:pos x="connsiteX6428" y="connsiteY6428"/>
              </a:cxn>
              <a:cxn ang="0">
                <a:pos x="connsiteX6429" y="connsiteY6429"/>
              </a:cxn>
              <a:cxn ang="0">
                <a:pos x="connsiteX6430" y="connsiteY6430"/>
              </a:cxn>
              <a:cxn ang="0">
                <a:pos x="connsiteX6431" y="connsiteY6431"/>
              </a:cxn>
              <a:cxn ang="0">
                <a:pos x="connsiteX6432" y="connsiteY6432"/>
              </a:cxn>
              <a:cxn ang="0">
                <a:pos x="connsiteX6433" y="connsiteY6433"/>
              </a:cxn>
              <a:cxn ang="0">
                <a:pos x="connsiteX6434" y="connsiteY6434"/>
              </a:cxn>
              <a:cxn ang="0">
                <a:pos x="connsiteX6435" y="connsiteY6435"/>
              </a:cxn>
              <a:cxn ang="0">
                <a:pos x="connsiteX6436" y="connsiteY6436"/>
              </a:cxn>
              <a:cxn ang="0">
                <a:pos x="connsiteX6437" y="connsiteY6437"/>
              </a:cxn>
              <a:cxn ang="0">
                <a:pos x="connsiteX6438" y="connsiteY6438"/>
              </a:cxn>
              <a:cxn ang="0">
                <a:pos x="connsiteX6439" y="connsiteY6439"/>
              </a:cxn>
              <a:cxn ang="0">
                <a:pos x="connsiteX6440" y="connsiteY6440"/>
              </a:cxn>
              <a:cxn ang="0">
                <a:pos x="connsiteX6441" y="connsiteY6441"/>
              </a:cxn>
              <a:cxn ang="0">
                <a:pos x="connsiteX6442" y="connsiteY6442"/>
              </a:cxn>
              <a:cxn ang="0">
                <a:pos x="connsiteX6443" y="connsiteY6443"/>
              </a:cxn>
              <a:cxn ang="0">
                <a:pos x="connsiteX6444" y="connsiteY6444"/>
              </a:cxn>
              <a:cxn ang="0">
                <a:pos x="connsiteX6445" y="connsiteY6445"/>
              </a:cxn>
              <a:cxn ang="0">
                <a:pos x="connsiteX6446" y="connsiteY6446"/>
              </a:cxn>
              <a:cxn ang="0">
                <a:pos x="connsiteX6447" y="connsiteY6447"/>
              </a:cxn>
              <a:cxn ang="0">
                <a:pos x="connsiteX6448" y="connsiteY6448"/>
              </a:cxn>
              <a:cxn ang="0">
                <a:pos x="connsiteX6449" y="connsiteY6449"/>
              </a:cxn>
              <a:cxn ang="0">
                <a:pos x="connsiteX6450" y="connsiteY6450"/>
              </a:cxn>
              <a:cxn ang="0">
                <a:pos x="connsiteX6451" y="connsiteY6451"/>
              </a:cxn>
              <a:cxn ang="0">
                <a:pos x="connsiteX6452" y="connsiteY6452"/>
              </a:cxn>
              <a:cxn ang="0">
                <a:pos x="connsiteX6453" y="connsiteY6453"/>
              </a:cxn>
              <a:cxn ang="0">
                <a:pos x="connsiteX6454" y="connsiteY6454"/>
              </a:cxn>
              <a:cxn ang="0">
                <a:pos x="connsiteX6455" y="connsiteY6455"/>
              </a:cxn>
              <a:cxn ang="0">
                <a:pos x="connsiteX6456" y="connsiteY6456"/>
              </a:cxn>
              <a:cxn ang="0">
                <a:pos x="connsiteX6457" y="connsiteY6457"/>
              </a:cxn>
              <a:cxn ang="0">
                <a:pos x="connsiteX6458" y="connsiteY6458"/>
              </a:cxn>
              <a:cxn ang="0">
                <a:pos x="connsiteX6459" y="connsiteY6459"/>
              </a:cxn>
              <a:cxn ang="0">
                <a:pos x="connsiteX6460" y="connsiteY6460"/>
              </a:cxn>
              <a:cxn ang="0">
                <a:pos x="connsiteX6461" y="connsiteY6461"/>
              </a:cxn>
              <a:cxn ang="0">
                <a:pos x="connsiteX6462" y="connsiteY6462"/>
              </a:cxn>
              <a:cxn ang="0">
                <a:pos x="connsiteX6463" y="connsiteY6463"/>
              </a:cxn>
              <a:cxn ang="0">
                <a:pos x="connsiteX6464" y="connsiteY6464"/>
              </a:cxn>
              <a:cxn ang="0">
                <a:pos x="connsiteX6465" y="connsiteY6465"/>
              </a:cxn>
              <a:cxn ang="0">
                <a:pos x="connsiteX6466" y="connsiteY6466"/>
              </a:cxn>
              <a:cxn ang="0">
                <a:pos x="connsiteX6467" y="connsiteY6467"/>
              </a:cxn>
              <a:cxn ang="0">
                <a:pos x="connsiteX6468" y="connsiteY6468"/>
              </a:cxn>
              <a:cxn ang="0">
                <a:pos x="connsiteX6469" y="connsiteY6469"/>
              </a:cxn>
              <a:cxn ang="0">
                <a:pos x="connsiteX6470" y="connsiteY6470"/>
              </a:cxn>
              <a:cxn ang="0">
                <a:pos x="connsiteX6471" y="connsiteY6471"/>
              </a:cxn>
              <a:cxn ang="0">
                <a:pos x="connsiteX6472" y="connsiteY6472"/>
              </a:cxn>
              <a:cxn ang="0">
                <a:pos x="connsiteX6473" y="connsiteY6473"/>
              </a:cxn>
              <a:cxn ang="0">
                <a:pos x="connsiteX6474" y="connsiteY6474"/>
              </a:cxn>
              <a:cxn ang="0">
                <a:pos x="connsiteX6475" y="connsiteY6475"/>
              </a:cxn>
              <a:cxn ang="0">
                <a:pos x="connsiteX6476" y="connsiteY6476"/>
              </a:cxn>
              <a:cxn ang="0">
                <a:pos x="connsiteX6477" y="connsiteY6477"/>
              </a:cxn>
              <a:cxn ang="0">
                <a:pos x="connsiteX6478" y="connsiteY6478"/>
              </a:cxn>
              <a:cxn ang="0">
                <a:pos x="connsiteX6479" y="connsiteY6479"/>
              </a:cxn>
              <a:cxn ang="0">
                <a:pos x="connsiteX6480" y="connsiteY6480"/>
              </a:cxn>
              <a:cxn ang="0">
                <a:pos x="connsiteX6481" y="connsiteY6481"/>
              </a:cxn>
              <a:cxn ang="0">
                <a:pos x="connsiteX6482" y="connsiteY6482"/>
              </a:cxn>
              <a:cxn ang="0">
                <a:pos x="connsiteX6483" y="connsiteY6483"/>
              </a:cxn>
              <a:cxn ang="0">
                <a:pos x="connsiteX6484" y="connsiteY6484"/>
              </a:cxn>
              <a:cxn ang="0">
                <a:pos x="connsiteX6485" y="connsiteY6485"/>
              </a:cxn>
              <a:cxn ang="0">
                <a:pos x="connsiteX6486" y="connsiteY6486"/>
              </a:cxn>
              <a:cxn ang="0">
                <a:pos x="connsiteX6487" y="connsiteY6487"/>
              </a:cxn>
              <a:cxn ang="0">
                <a:pos x="connsiteX6488" y="connsiteY6488"/>
              </a:cxn>
              <a:cxn ang="0">
                <a:pos x="connsiteX6489" y="connsiteY6489"/>
              </a:cxn>
              <a:cxn ang="0">
                <a:pos x="connsiteX6490" y="connsiteY6490"/>
              </a:cxn>
              <a:cxn ang="0">
                <a:pos x="connsiteX6491" y="connsiteY6491"/>
              </a:cxn>
              <a:cxn ang="0">
                <a:pos x="connsiteX6492" y="connsiteY6492"/>
              </a:cxn>
              <a:cxn ang="0">
                <a:pos x="connsiteX6493" y="connsiteY6493"/>
              </a:cxn>
              <a:cxn ang="0">
                <a:pos x="connsiteX6494" y="connsiteY6494"/>
              </a:cxn>
              <a:cxn ang="0">
                <a:pos x="connsiteX6495" y="connsiteY6495"/>
              </a:cxn>
              <a:cxn ang="0">
                <a:pos x="connsiteX6496" y="connsiteY6496"/>
              </a:cxn>
              <a:cxn ang="0">
                <a:pos x="connsiteX6497" y="connsiteY6497"/>
              </a:cxn>
              <a:cxn ang="0">
                <a:pos x="connsiteX6498" y="connsiteY6498"/>
              </a:cxn>
              <a:cxn ang="0">
                <a:pos x="connsiteX6499" y="connsiteY6499"/>
              </a:cxn>
              <a:cxn ang="0">
                <a:pos x="connsiteX6500" y="connsiteY6500"/>
              </a:cxn>
              <a:cxn ang="0">
                <a:pos x="connsiteX6501" y="connsiteY6501"/>
              </a:cxn>
              <a:cxn ang="0">
                <a:pos x="connsiteX6502" y="connsiteY6502"/>
              </a:cxn>
              <a:cxn ang="0">
                <a:pos x="connsiteX6503" y="connsiteY6503"/>
              </a:cxn>
              <a:cxn ang="0">
                <a:pos x="connsiteX6504" y="connsiteY6504"/>
              </a:cxn>
              <a:cxn ang="0">
                <a:pos x="connsiteX6505" y="connsiteY6505"/>
              </a:cxn>
              <a:cxn ang="0">
                <a:pos x="connsiteX6506" y="connsiteY6506"/>
              </a:cxn>
              <a:cxn ang="0">
                <a:pos x="connsiteX6507" y="connsiteY6507"/>
              </a:cxn>
              <a:cxn ang="0">
                <a:pos x="connsiteX6508" y="connsiteY6508"/>
              </a:cxn>
              <a:cxn ang="0">
                <a:pos x="connsiteX6509" y="connsiteY6509"/>
              </a:cxn>
              <a:cxn ang="0">
                <a:pos x="connsiteX6510" y="connsiteY6510"/>
              </a:cxn>
              <a:cxn ang="0">
                <a:pos x="connsiteX6511" y="connsiteY6511"/>
              </a:cxn>
              <a:cxn ang="0">
                <a:pos x="connsiteX6512" y="connsiteY6512"/>
              </a:cxn>
              <a:cxn ang="0">
                <a:pos x="connsiteX6513" y="connsiteY6513"/>
              </a:cxn>
              <a:cxn ang="0">
                <a:pos x="connsiteX6514" y="connsiteY6514"/>
              </a:cxn>
              <a:cxn ang="0">
                <a:pos x="connsiteX6515" y="connsiteY6515"/>
              </a:cxn>
              <a:cxn ang="0">
                <a:pos x="connsiteX6516" y="connsiteY6516"/>
              </a:cxn>
              <a:cxn ang="0">
                <a:pos x="connsiteX6517" y="connsiteY6517"/>
              </a:cxn>
              <a:cxn ang="0">
                <a:pos x="connsiteX6518" y="connsiteY6518"/>
              </a:cxn>
              <a:cxn ang="0">
                <a:pos x="connsiteX6519" y="connsiteY6519"/>
              </a:cxn>
              <a:cxn ang="0">
                <a:pos x="connsiteX6520" y="connsiteY6520"/>
              </a:cxn>
              <a:cxn ang="0">
                <a:pos x="connsiteX6521" y="connsiteY6521"/>
              </a:cxn>
              <a:cxn ang="0">
                <a:pos x="connsiteX6522" y="connsiteY6522"/>
              </a:cxn>
              <a:cxn ang="0">
                <a:pos x="connsiteX6523" y="connsiteY6523"/>
              </a:cxn>
              <a:cxn ang="0">
                <a:pos x="connsiteX6524" y="connsiteY6524"/>
              </a:cxn>
              <a:cxn ang="0">
                <a:pos x="connsiteX6525" y="connsiteY6525"/>
              </a:cxn>
              <a:cxn ang="0">
                <a:pos x="connsiteX6526" y="connsiteY6526"/>
              </a:cxn>
              <a:cxn ang="0">
                <a:pos x="connsiteX6527" y="connsiteY6527"/>
              </a:cxn>
              <a:cxn ang="0">
                <a:pos x="connsiteX6528" y="connsiteY6528"/>
              </a:cxn>
              <a:cxn ang="0">
                <a:pos x="connsiteX6529" y="connsiteY6529"/>
              </a:cxn>
              <a:cxn ang="0">
                <a:pos x="connsiteX6530" y="connsiteY6530"/>
              </a:cxn>
              <a:cxn ang="0">
                <a:pos x="connsiteX6531" y="connsiteY6531"/>
              </a:cxn>
              <a:cxn ang="0">
                <a:pos x="connsiteX6532" y="connsiteY6532"/>
              </a:cxn>
              <a:cxn ang="0">
                <a:pos x="connsiteX6533" y="connsiteY6533"/>
              </a:cxn>
              <a:cxn ang="0">
                <a:pos x="connsiteX6534" y="connsiteY6534"/>
              </a:cxn>
              <a:cxn ang="0">
                <a:pos x="connsiteX6535" y="connsiteY6535"/>
              </a:cxn>
              <a:cxn ang="0">
                <a:pos x="connsiteX6536" y="connsiteY6536"/>
              </a:cxn>
              <a:cxn ang="0">
                <a:pos x="connsiteX6537" y="connsiteY6537"/>
              </a:cxn>
              <a:cxn ang="0">
                <a:pos x="connsiteX6538" y="connsiteY6538"/>
              </a:cxn>
              <a:cxn ang="0">
                <a:pos x="connsiteX6539" y="connsiteY6539"/>
              </a:cxn>
              <a:cxn ang="0">
                <a:pos x="connsiteX6540" y="connsiteY6540"/>
              </a:cxn>
              <a:cxn ang="0">
                <a:pos x="connsiteX6541" y="connsiteY6541"/>
              </a:cxn>
              <a:cxn ang="0">
                <a:pos x="connsiteX6542" y="connsiteY6542"/>
              </a:cxn>
              <a:cxn ang="0">
                <a:pos x="connsiteX6543" y="connsiteY6543"/>
              </a:cxn>
              <a:cxn ang="0">
                <a:pos x="connsiteX6544" y="connsiteY6544"/>
              </a:cxn>
              <a:cxn ang="0">
                <a:pos x="connsiteX6545" y="connsiteY6545"/>
              </a:cxn>
              <a:cxn ang="0">
                <a:pos x="connsiteX6546" y="connsiteY6546"/>
              </a:cxn>
              <a:cxn ang="0">
                <a:pos x="connsiteX6547" y="connsiteY6547"/>
              </a:cxn>
              <a:cxn ang="0">
                <a:pos x="connsiteX6548" y="connsiteY6548"/>
              </a:cxn>
              <a:cxn ang="0">
                <a:pos x="connsiteX6549" y="connsiteY6549"/>
              </a:cxn>
              <a:cxn ang="0">
                <a:pos x="connsiteX6550" y="connsiteY6550"/>
              </a:cxn>
              <a:cxn ang="0">
                <a:pos x="connsiteX6551" y="connsiteY6551"/>
              </a:cxn>
              <a:cxn ang="0">
                <a:pos x="connsiteX6552" y="connsiteY6552"/>
              </a:cxn>
              <a:cxn ang="0">
                <a:pos x="connsiteX6553" y="connsiteY6553"/>
              </a:cxn>
              <a:cxn ang="0">
                <a:pos x="connsiteX6554" y="connsiteY6554"/>
              </a:cxn>
              <a:cxn ang="0">
                <a:pos x="connsiteX6555" y="connsiteY6555"/>
              </a:cxn>
              <a:cxn ang="0">
                <a:pos x="connsiteX6556" y="connsiteY6556"/>
              </a:cxn>
              <a:cxn ang="0">
                <a:pos x="connsiteX6557" y="connsiteY6557"/>
              </a:cxn>
              <a:cxn ang="0">
                <a:pos x="connsiteX6558" y="connsiteY6558"/>
              </a:cxn>
              <a:cxn ang="0">
                <a:pos x="connsiteX6559" y="connsiteY6559"/>
              </a:cxn>
              <a:cxn ang="0">
                <a:pos x="connsiteX6560" y="connsiteY6560"/>
              </a:cxn>
              <a:cxn ang="0">
                <a:pos x="connsiteX6561" y="connsiteY6561"/>
              </a:cxn>
              <a:cxn ang="0">
                <a:pos x="connsiteX6562" y="connsiteY6562"/>
              </a:cxn>
              <a:cxn ang="0">
                <a:pos x="connsiteX6563" y="connsiteY6563"/>
              </a:cxn>
              <a:cxn ang="0">
                <a:pos x="connsiteX6564" y="connsiteY6564"/>
              </a:cxn>
              <a:cxn ang="0">
                <a:pos x="connsiteX6565" y="connsiteY6565"/>
              </a:cxn>
              <a:cxn ang="0">
                <a:pos x="connsiteX6566" y="connsiteY6566"/>
              </a:cxn>
              <a:cxn ang="0">
                <a:pos x="connsiteX6567" y="connsiteY6567"/>
              </a:cxn>
              <a:cxn ang="0">
                <a:pos x="connsiteX6568" y="connsiteY6568"/>
              </a:cxn>
              <a:cxn ang="0">
                <a:pos x="connsiteX6569" y="connsiteY6569"/>
              </a:cxn>
              <a:cxn ang="0">
                <a:pos x="connsiteX6570" y="connsiteY6570"/>
              </a:cxn>
              <a:cxn ang="0">
                <a:pos x="connsiteX6571" y="connsiteY6571"/>
              </a:cxn>
              <a:cxn ang="0">
                <a:pos x="connsiteX6572" y="connsiteY6572"/>
              </a:cxn>
              <a:cxn ang="0">
                <a:pos x="connsiteX6573" y="connsiteY6573"/>
              </a:cxn>
              <a:cxn ang="0">
                <a:pos x="connsiteX6574" y="connsiteY6574"/>
              </a:cxn>
              <a:cxn ang="0">
                <a:pos x="connsiteX6575" y="connsiteY6575"/>
              </a:cxn>
              <a:cxn ang="0">
                <a:pos x="connsiteX6576" y="connsiteY6576"/>
              </a:cxn>
              <a:cxn ang="0">
                <a:pos x="connsiteX6577" y="connsiteY6577"/>
              </a:cxn>
              <a:cxn ang="0">
                <a:pos x="connsiteX6578" y="connsiteY6578"/>
              </a:cxn>
              <a:cxn ang="0">
                <a:pos x="connsiteX6579" y="connsiteY6579"/>
              </a:cxn>
              <a:cxn ang="0">
                <a:pos x="connsiteX6580" y="connsiteY6580"/>
              </a:cxn>
              <a:cxn ang="0">
                <a:pos x="connsiteX6581" y="connsiteY6581"/>
              </a:cxn>
              <a:cxn ang="0">
                <a:pos x="connsiteX6582" y="connsiteY6582"/>
              </a:cxn>
              <a:cxn ang="0">
                <a:pos x="connsiteX6583" y="connsiteY6583"/>
              </a:cxn>
              <a:cxn ang="0">
                <a:pos x="connsiteX6584" y="connsiteY6584"/>
              </a:cxn>
              <a:cxn ang="0">
                <a:pos x="connsiteX6585" y="connsiteY6585"/>
              </a:cxn>
              <a:cxn ang="0">
                <a:pos x="connsiteX6586" y="connsiteY6586"/>
              </a:cxn>
              <a:cxn ang="0">
                <a:pos x="connsiteX6587" y="connsiteY6587"/>
              </a:cxn>
              <a:cxn ang="0">
                <a:pos x="connsiteX6588" y="connsiteY6588"/>
              </a:cxn>
              <a:cxn ang="0">
                <a:pos x="connsiteX6589" y="connsiteY6589"/>
              </a:cxn>
              <a:cxn ang="0">
                <a:pos x="connsiteX6590" y="connsiteY6590"/>
              </a:cxn>
              <a:cxn ang="0">
                <a:pos x="connsiteX6591" y="connsiteY6591"/>
              </a:cxn>
              <a:cxn ang="0">
                <a:pos x="connsiteX6592" y="connsiteY6592"/>
              </a:cxn>
              <a:cxn ang="0">
                <a:pos x="connsiteX6593" y="connsiteY6593"/>
              </a:cxn>
              <a:cxn ang="0">
                <a:pos x="connsiteX6594" y="connsiteY6594"/>
              </a:cxn>
              <a:cxn ang="0">
                <a:pos x="connsiteX6595" y="connsiteY6595"/>
              </a:cxn>
              <a:cxn ang="0">
                <a:pos x="connsiteX6596" y="connsiteY6596"/>
              </a:cxn>
              <a:cxn ang="0">
                <a:pos x="connsiteX6597" y="connsiteY6597"/>
              </a:cxn>
              <a:cxn ang="0">
                <a:pos x="connsiteX6598" y="connsiteY6598"/>
              </a:cxn>
              <a:cxn ang="0">
                <a:pos x="connsiteX6599" y="connsiteY6599"/>
              </a:cxn>
              <a:cxn ang="0">
                <a:pos x="connsiteX6600" y="connsiteY6600"/>
              </a:cxn>
              <a:cxn ang="0">
                <a:pos x="connsiteX6601" y="connsiteY6601"/>
              </a:cxn>
              <a:cxn ang="0">
                <a:pos x="connsiteX6602" y="connsiteY6602"/>
              </a:cxn>
              <a:cxn ang="0">
                <a:pos x="connsiteX6603" y="connsiteY6603"/>
              </a:cxn>
              <a:cxn ang="0">
                <a:pos x="connsiteX6604" y="connsiteY6604"/>
              </a:cxn>
              <a:cxn ang="0">
                <a:pos x="connsiteX6605" y="connsiteY6605"/>
              </a:cxn>
              <a:cxn ang="0">
                <a:pos x="connsiteX6606" y="connsiteY6606"/>
              </a:cxn>
              <a:cxn ang="0">
                <a:pos x="connsiteX6607" y="connsiteY6607"/>
              </a:cxn>
              <a:cxn ang="0">
                <a:pos x="connsiteX6608" y="connsiteY6608"/>
              </a:cxn>
              <a:cxn ang="0">
                <a:pos x="connsiteX6609" y="connsiteY6609"/>
              </a:cxn>
              <a:cxn ang="0">
                <a:pos x="connsiteX6610" y="connsiteY6610"/>
              </a:cxn>
              <a:cxn ang="0">
                <a:pos x="connsiteX6611" y="connsiteY6611"/>
              </a:cxn>
              <a:cxn ang="0">
                <a:pos x="connsiteX6612" y="connsiteY6612"/>
              </a:cxn>
              <a:cxn ang="0">
                <a:pos x="connsiteX6613" y="connsiteY6613"/>
              </a:cxn>
              <a:cxn ang="0">
                <a:pos x="connsiteX6614" y="connsiteY6614"/>
              </a:cxn>
              <a:cxn ang="0">
                <a:pos x="connsiteX6615" y="connsiteY6615"/>
              </a:cxn>
              <a:cxn ang="0">
                <a:pos x="connsiteX6616" y="connsiteY6616"/>
              </a:cxn>
              <a:cxn ang="0">
                <a:pos x="connsiteX6617" y="connsiteY6617"/>
              </a:cxn>
              <a:cxn ang="0">
                <a:pos x="connsiteX6618" y="connsiteY6618"/>
              </a:cxn>
              <a:cxn ang="0">
                <a:pos x="connsiteX6619" y="connsiteY6619"/>
              </a:cxn>
              <a:cxn ang="0">
                <a:pos x="connsiteX6620" y="connsiteY6620"/>
              </a:cxn>
              <a:cxn ang="0">
                <a:pos x="connsiteX6621" y="connsiteY6621"/>
              </a:cxn>
              <a:cxn ang="0">
                <a:pos x="connsiteX6622" y="connsiteY6622"/>
              </a:cxn>
              <a:cxn ang="0">
                <a:pos x="connsiteX6623" y="connsiteY6623"/>
              </a:cxn>
              <a:cxn ang="0">
                <a:pos x="connsiteX6624" y="connsiteY6624"/>
              </a:cxn>
              <a:cxn ang="0">
                <a:pos x="connsiteX6625" y="connsiteY6625"/>
              </a:cxn>
              <a:cxn ang="0">
                <a:pos x="connsiteX6626" y="connsiteY6626"/>
              </a:cxn>
              <a:cxn ang="0">
                <a:pos x="connsiteX6627" y="connsiteY6627"/>
              </a:cxn>
              <a:cxn ang="0">
                <a:pos x="connsiteX6628" y="connsiteY6628"/>
              </a:cxn>
              <a:cxn ang="0">
                <a:pos x="connsiteX6629" y="connsiteY6629"/>
              </a:cxn>
              <a:cxn ang="0">
                <a:pos x="connsiteX6630" y="connsiteY6630"/>
              </a:cxn>
              <a:cxn ang="0">
                <a:pos x="connsiteX6631" y="connsiteY6631"/>
              </a:cxn>
              <a:cxn ang="0">
                <a:pos x="connsiteX6632" y="connsiteY6632"/>
              </a:cxn>
              <a:cxn ang="0">
                <a:pos x="connsiteX6633" y="connsiteY6633"/>
              </a:cxn>
              <a:cxn ang="0">
                <a:pos x="connsiteX6634" y="connsiteY6634"/>
              </a:cxn>
              <a:cxn ang="0">
                <a:pos x="connsiteX6635" y="connsiteY6635"/>
              </a:cxn>
              <a:cxn ang="0">
                <a:pos x="connsiteX6636" y="connsiteY6636"/>
              </a:cxn>
              <a:cxn ang="0">
                <a:pos x="connsiteX6637" y="connsiteY6637"/>
              </a:cxn>
              <a:cxn ang="0">
                <a:pos x="connsiteX6638" y="connsiteY6638"/>
              </a:cxn>
              <a:cxn ang="0">
                <a:pos x="connsiteX6639" y="connsiteY6639"/>
              </a:cxn>
              <a:cxn ang="0">
                <a:pos x="connsiteX6640" y="connsiteY6640"/>
              </a:cxn>
              <a:cxn ang="0">
                <a:pos x="connsiteX6641" y="connsiteY6641"/>
              </a:cxn>
              <a:cxn ang="0">
                <a:pos x="connsiteX6642" y="connsiteY6642"/>
              </a:cxn>
              <a:cxn ang="0">
                <a:pos x="connsiteX6643" y="connsiteY6643"/>
              </a:cxn>
              <a:cxn ang="0">
                <a:pos x="connsiteX6644" y="connsiteY6644"/>
              </a:cxn>
              <a:cxn ang="0">
                <a:pos x="connsiteX6645" y="connsiteY6645"/>
              </a:cxn>
              <a:cxn ang="0">
                <a:pos x="connsiteX6646" y="connsiteY6646"/>
              </a:cxn>
              <a:cxn ang="0">
                <a:pos x="connsiteX6647" y="connsiteY6647"/>
              </a:cxn>
              <a:cxn ang="0">
                <a:pos x="connsiteX6648" y="connsiteY6648"/>
              </a:cxn>
              <a:cxn ang="0">
                <a:pos x="connsiteX6649" y="connsiteY6649"/>
              </a:cxn>
              <a:cxn ang="0">
                <a:pos x="connsiteX6650" y="connsiteY6650"/>
              </a:cxn>
              <a:cxn ang="0">
                <a:pos x="connsiteX6651" y="connsiteY6651"/>
              </a:cxn>
              <a:cxn ang="0">
                <a:pos x="connsiteX6652" y="connsiteY6652"/>
              </a:cxn>
              <a:cxn ang="0">
                <a:pos x="connsiteX6653" y="connsiteY6653"/>
              </a:cxn>
              <a:cxn ang="0">
                <a:pos x="connsiteX6654" y="connsiteY6654"/>
              </a:cxn>
              <a:cxn ang="0">
                <a:pos x="connsiteX6655" y="connsiteY6655"/>
              </a:cxn>
              <a:cxn ang="0">
                <a:pos x="connsiteX6656" y="connsiteY6656"/>
              </a:cxn>
              <a:cxn ang="0">
                <a:pos x="connsiteX6657" y="connsiteY6657"/>
              </a:cxn>
              <a:cxn ang="0">
                <a:pos x="connsiteX6658" y="connsiteY6658"/>
              </a:cxn>
              <a:cxn ang="0">
                <a:pos x="connsiteX6659" y="connsiteY6659"/>
              </a:cxn>
              <a:cxn ang="0">
                <a:pos x="connsiteX6660" y="connsiteY6660"/>
              </a:cxn>
              <a:cxn ang="0">
                <a:pos x="connsiteX6661" y="connsiteY6661"/>
              </a:cxn>
              <a:cxn ang="0">
                <a:pos x="connsiteX6662" y="connsiteY6662"/>
              </a:cxn>
              <a:cxn ang="0">
                <a:pos x="connsiteX6663" y="connsiteY6663"/>
              </a:cxn>
              <a:cxn ang="0">
                <a:pos x="connsiteX6664" y="connsiteY6664"/>
              </a:cxn>
              <a:cxn ang="0">
                <a:pos x="connsiteX6665" y="connsiteY6665"/>
              </a:cxn>
              <a:cxn ang="0">
                <a:pos x="connsiteX6666" y="connsiteY6666"/>
              </a:cxn>
              <a:cxn ang="0">
                <a:pos x="connsiteX6667" y="connsiteY6667"/>
              </a:cxn>
              <a:cxn ang="0">
                <a:pos x="connsiteX6668" y="connsiteY6668"/>
              </a:cxn>
              <a:cxn ang="0">
                <a:pos x="connsiteX6669" y="connsiteY6669"/>
              </a:cxn>
              <a:cxn ang="0">
                <a:pos x="connsiteX6670" y="connsiteY6670"/>
              </a:cxn>
              <a:cxn ang="0">
                <a:pos x="connsiteX6671" y="connsiteY6671"/>
              </a:cxn>
              <a:cxn ang="0">
                <a:pos x="connsiteX6672" y="connsiteY6672"/>
              </a:cxn>
              <a:cxn ang="0">
                <a:pos x="connsiteX6673" y="connsiteY6673"/>
              </a:cxn>
              <a:cxn ang="0">
                <a:pos x="connsiteX6674" y="connsiteY6674"/>
              </a:cxn>
              <a:cxn ang="0">
                <a:pos x="connsiteX6675" y="connsiteY6675"/>
              </a:cxn>
              <a:cxn ang="0">
                <a:pos x="connsiteX6676" y="connsiteY6676"/>
              </a:cxn>
              <a:cxn ang="0">
                <a:pos x="connsiteX6677" y="connsiteY6677"/>
              </a:cxn>
              <a:cxn ang="0">
                <a:pos x="connsiteX6678" y="connsiteY6678"/>
              </a:cxn>
              <a:cxn ang="0">
                <a:pos x="connsiteX6679" y="connsiteY6679"/>
              </a:cxn>
              <a:cxn ang="0">
                <a:pos x="connsiteX6680" y="connsiteY6680"/>
              </a:cxn>
              <a:cxn ang="0">
                <a:pos x="connsiteX6681" y="connsiteY6681"/>
              </a:cxn>
              <a:cxn ang="0">
                <a:pos x="connsiteX6682" y="connsiteY6682"/>
              </a:cxn>
              <a:cxn ang="0">
                <a:pos x="connsiteX6683" y="connsiteY6683"/>
              </a:cxn>
              <a:cxn ang="0">
                <a:pos x="connsiteX6684" y="connsiteY6684"/>
              </a:cxn>
              <a:cxn ang="0">
                <a:pos x="connsiteX6685" y="connsiteY6685"/>
              </a:cxn>
              <a:cxn ang="0">
                <a:pos x="connsiteX6686" y="connsiteY6686"/>
              </a:cxn>
              <a:cxn ang="0">
                <a:pos x="connsiteX6687" y="connsiteY6687"/>
              </a:cxn>
              <a:cxn ang="0">
                <a:pos x="connsiteX6688" y="connsiteY6688"/>
              </a:cxn>
              <a:cxn ang="0">
                <a:pos x="connsiteX6689" y="connsiteY6689"/>
              </a:cxn>
              <a:cxn ang="0">
                <a:pos x="connsiteX6690" y="connsiteY6690"/>
              </a:cxn>
              <a:cxn ang="0">
                <a:pos x="connsiteX6691" y="connsiteY6691"/>
              </a:cxn>
              <a:cxn ang="0">
                <a:pos x="connsiteX6692" y="connsiteY6692"/>
              </a:cxn>
              <a:cxn ang="0">
                <a:pos x="connsiteX6693" y="connsiteY6693"/>
              </a:cxn>
              <a:cxn ang="0">
                <a:pos x="connsiteX6694" y="connsiteY6694"/>
              </a:cxn>
              <a:cxn ang="0">
                <a:pos x="connsiteX6695" y="connsiteY6695"/>
              </a:cxn>
              <a:cxn ang="0">
                <a:pos x="connsiteX6696" y="connsiteY6696"/>
              </a:cxn>
              <a:cxn ang="0">
                <a:pos x="connsiteX6697" y="connsiteY6697"/>
              </a:cxn>
              <a:cxn ang="0">
                <a:pos x="connsiteX6698" y="connsiteY6698"/>
              </a:cxn>
              <a:cxn ang="0">
                <a:pos x="connsiteX6699" y="connsiteY6699"/>
              </a:cxn>
              <a:cxn ang="0">
                <a:pos x="connsiteX6700" y="connsiteY6700"/>
              </a:cxn>
              <a:cxn ang="0">
                <a:pos x="connsiteX6701" y="connsiteY6701"/>
              </a:cxn>
              <a:cxn ang="0">
                <a:pos x="connsiteX6702" y="connsiteY6702"/>
              </a:cxn>
              <a:cxn ang="0">
                <a:pos x="connsiteX6703" y="connsiteY6703"/>
              </a:cxn>
              <a:cxn ang="0">
                <a:pos x="connsiteX6704" y="connsiteY6704"/>
              </a:cxn>
              <a:cxn ang="0">
                <a:pos x="connsiteX6705" y="connsiteY6705"/>
              </a:cxn>
              <a:cxn ang="0">
                <a:pos x="connsiteX6706" y="connsiteY6706"/>
              </a:cxn>
              <a:cxn ang="0">
                <a:pos x="connsiteX6707" y="connsiteY6707"/>
              </a:cxn>
              <a:cxn ang="0">
                <a:pos x="connsiteX6708" y="connsiteY6708"/>
              </a:cxn>
              <a:cxn ang="0">
                <a:pos x="connsiteX6709" y="connsiteY6709"/>
              </a:cxn>
              <a:cxn ang="0">
                <a:pos x="connsiteX6710" y="connsiteY6710"/>
              </a:cxn>
              <a:cxn ang="0">
                <a:pos x="connsiteX6711" y="connsiteY6711"/>
              </a:cxn>
              <a:cxn ang="0">
                <a:pos x="connsiteX6712" y="connsiteY6712"/>
              </a:cxn>
              <a:cxn ang="0">
                <a:pos x="connsiteX6713" y="connsiteY6713"/>
              </a:cxn>
              <a:cxn ang="0">
                <a:pos x="connsiteX6714" y="connsiteY6714"/>
              </a:cxn>
              <a:cxn ang="0">
                <a:pos x="connsiteX6715" y="connsiteY6715"/>
              </a:cxn>
              <a:cxn ang="0">
                <a:pos x="connsiteX6716" y="connsiteY6716"/>
              </a:cxn>
              <a:cxn ang="0">
                <a:pos x="connsiteX6717" y="connsiteY6717"/>
              </a:cxn>
              <a:cxn ang="0">
                <a:pos x="connsiteX6718" y="connsiteY6718"/>
              </a:cxn>
              <a:cxn ang="0">
                <a:pos x="connsiteX6719" y="connsiteY6719"/>
              </a:cxn>
              <a:cxn ang="0">
                <a:pos x="connsiteX6720" y="connsiteY6720"/>
              </a:cxn>
              <a:cxn ang="0">
                <a:pos x="connsiteX6721" y="connsiteY6721"/>
              </a:cxn>
              <a:cxn ang="0">
                <a:pos x="connsiteX6722" y="connsiteY6722"/>
              </a:cxn>
              <a:cxn ang="0">
                <a:pos x="connsiteX6723" y="connsiteY6723"/>
              </a:cxn>
              <a:cxn ang="0">
                <a:pos x="connsiteX6724" y="connsiteY6724"/>
              </a:cxn>
              <a:cxn ang="0">
                <a:pos x="connsiteX6725" y="connsiteY6725"/>
              </a:cxn>
              <a:cxn ang="0">
                <a:pos x="connsiteX6726" y="connsiteY6726"/>
              </a:cxn>
              <a:cxn ang="0">
                <a:pos x="connsiteX6727" y="connsiteY6727"/>
              </a:cxn>
              <a:cxn ang="0">
                <a:pos x="connsiteX6728" y="connsiteY6728"/>
              </a:cxn>
              <a:cxn ang="0">
                <a:pos x="connsiteX6729" y="connsiteY6729"/>
              </a:cxn>
              <a:cxn ang="0">
                <a:pos x="connsiteX6730" y="connsiteY6730"/>
              </a:cxn>
              <a:cxn ang="0">
                <a:pos x="connsiteX6731" y="connsiteY6731"/>
              </a:cxn>
              <a:cxn ang="0">
                <a:pos x="connsiteX6732" y="connsiteY6732"/>
              </a:cxn>
              <a:cxn ang="0">
                <a:pos x="connsiteX6733" y="connsiteY6733"/>
              </a:cxn>
              <a:cxn ang="0">
                <a:pos x="connsiteX6734" y="connsiteY6734"/>
              </a:cxn>
              <a:cxn ang="0">
                <a:pos x="connsiteX6735" y="connsiteY6735"/>
              </a:cxn>
              <a:cxn ang="0">
                <a:pos x="connsiteX6736" y="connsiteY6736"/>
              </a:cxn>
              <a:cxn ang="0">
                <a:pos x="connsiteX6737" y="connsiteY6737"/>
              </a:cxn>
              <a:cxn ang="0">
                <a:pos x="connsiteX6738" y="connsiteY6738"/>
              </a:cxn>
              <a:cxn ang="0">
                <a:pos x="connsiteX6739" y="connsiteY6739"/>
              </a:cxn>
              <a:cxn ang="0">
                <a:pos x="connsiteX6740" y="connsiteY6740"/>
              </a:cxn>
              <a:cxn ang="0">
                <a:pos x="connsiteX6741" y="connsiteY6741"/>
              </a:cxn>
              <a:cxn ang="0">
                <a:pos x="connsiteX6742" y="connsiteY6742"/>
              </a:cxn>
              <a:cxn ang="0">
                <a:pos x="connsiteX6743" y="connsiteY6743"/>
              </a:cxn>
            </a:cxnLst>
            <a:rect l="l" t="t" r="r" b="b"/>
            <a:pathLst>
              <a:path w="3600000" h="2787466">
                <a:moveTo>
                  <a:pt x="895609" y="2704927"/>
                </a:moveTo>
                <a:cubicBezTo>
                  <a:pt x="894373" y="2707914"/>
                  <a:pt x="897052" y="2713889"/>
                  <a:pt x="902204" y="2714989"/>
                </a:cubicBezTo>
                <a:cubicBezTo>
                  <a:pt x="907355" y="2712002"/>
                  <a:pt x="899525" y="2706027"/>
                  <a:pt x="895609" y="2704927"/>
                </a:cubicBezTo>
                <a:close/>
                <a:moveTo>
                  <a:pt x="696344" y="2533081"/>
                </a:moveTo>
                <a:cubicBezTo>
                  <a:pt x="688719" y="2535125"/>
                  <a:pt x="692634" y="2538112"/>
                  <a:pt x="689955" y="2539998"/>
                </a:cubicBezTo>
                <a:cubicBezTo>
                  <a:pt x="693870" y="2539998"/>
                  <a:pt x="696344" y="2544086"/>
                  <a:pt x="701702" y="2541098"/>
                </a:cubicBezTo>
                <a:cubicBezTo>
                  <a:pt x="696344" y="2538112"/>
                  <a:pt x="699023" y="2536068"/>
                  <a:pt x="696344" y="2533081"/>
                </a:cubicBezTo>
                <a:close/>
                <a:moveTo>
                  <a:pt x="1008945" y="2532137"/>
                </a:moveTo>
                <a:cubicBezTo>
                  <a:pt x="1003793" y="2533081"/>
                  <a:pt x="1006473" y="2542985"/>
                  <a:pt x="1012860" y="2538112"/>
                </a:cubicBezTo>
                <a:cubicBezTo>
                  <a:pt x="1008945" y="2538112"/>
                  <a:pt x="1008945" y="2537011"/>
                  <a:pt x="1014097" y="2534181"/>
                </a:cubicBezTo>
                <a:cubicBezTo>
                  <a:pt x="1012860" y="2534181"/>
                  <a:pt x="1010388" y="2533081"/>
                  <a:pt x="1008945" y="2532137"/>
                </a:cubicBezTo>
                <a:close/>
                <a:moveTo>
                  <a:pt x="995963" y="2529150"/>
                </a:moveTo>
                <a:cubicBezTo>
                  <a:pt x="989369" y="2529150"/>
                  <a:pt x="988133" y="2535125"/>
                  <a:pt x="990811" y="2538112"/>
                </a:cubicBezTo>
                <a:cubicBezTo>
                  <a:pt x="984218" y="2539998"/>
                  <a:pt x="990811" y="2532137"/>
                  <a:pt x="982981" y="2535125"/>
                </a:cubicBezTo>
                <a:cubicBezTo>
                  <a:pt x="975151" y="2542042"/>
                  <a:pt x="993284" y="2551004"/>
                  <a:pt x="980302" y="2556978"/>
                </a:cubicBezTo>
                <a:cubicBezTo>
                  <a:pt x="986897" y="2562953"/>
                  <a:pt x="1002557" y="2564840"/>
                  <a:pt x="1007709" y="2556978"/>
                </a:cubicBezTo>
                <a:cubicBezTo>
                  <a:pt x="1001115" y="2557922"/>
                  <a:pt x="993284" y="2560909"/>
                  <a:pt x="989369" y="2554934"/>
                </a:cubicBezTo>
                <a:cubicBezTo>
                  <a:pt x="998642" y="2553991"/>
                  <a:pt x="998642" y="2552891"/>
                  <a:pt x="1006473" y="2550061"/>
                </a:cubicBezTo>
                <a:cubicBezTo>
                  <a:pt x="1002557" y="2548017"/>
                  <a:pt x="999879" y="2545029"/>
                  <a:pt x="1007709" y="2542985"/>
                </a:cubicBezTo>
                <a:cubicBezTo>
                  <a:pt x="998642" y="2537011"/>
                  <a:pt x="997200" y="2536068"/>
                  <a:pt x="995963" y="2529150"/>
                </a:cubicBezTo>
                <a:close/>
                <a:moveTo>
                  <a:pt x="985454" y="2525219"/>
                </a:moveTo>
                <a:cubicBezTo>
                  <a:pt x="979066" y="2527106"/>
                  <a:pt x="980302" y="2530093"/>
                  <a:pt x="982981" y="2533081"/>
                </a:cubicBezTo>
                <a:cubicBezTo>
                  <a:pt x="988133" y="2531193"/>
                  <a:pt x="988133" y="2528207"/>
                  <a:pt x="985454" y="2525219"/>
                </a:cubicBezTo>
                <a:close/>
                <a:moveTo>
                  <a:pt x="825341" y="2520188"/>
                </a:moveTo>
                <a:cubicBezTo>
                  <a:pt x="818952" y="2523176"/>
                  <a:pt x="822868" y="2528207"/>
                  <a:pt x="828020" y="2528207"/>
                </a:cubicBezTo>
                <a:cubicBezTo>
                  <a:pt x="835850" y="2524119"/>
                  <a:pt x="829256" y="2525219"/>
                  <a:pt x="825341" y="2520188"/>
                </a:cubicBezTo>
                <a:close/>
                <a:moveTo>
                  <a:pt x="841002" y="2511226"/>
                </a:moveTo>
                <a:cubicBezTo>
                  <a:pt x="837086" y="2511226"/>
                  <a:pt x="830492" y="2512170"/>
                  <a:pt x="830492" y="2515157"/>
                </a:cubicBezTo>
                <a:cubicBezTo>
                  <a:pt x="841002" y="2513271"/>
                  <a:pt x="838323" y="2518144"/>
                  <a:pt x="838323" y="2523176"/>
                </a:cubicBezTo>
                <a:cubicBezTo>
                  <a:pt x="841002" y="2522232"/>
                  <a:pt x="842238" y="2521131"/>
                  <a:pt x="841002" y="2520188"/>
                </a:cubicBezTo>
                <a:cubicBezTo>
                  <a:pt x="844917" y="2519245"/>
                  <a:pt x="847390" y="2523176"/>
                  <a:pt x="851305" y="2519245"/>
                </a:cubicBezTo>
                <a:cubicBezTo>
                  <a:pt x="848832" y="2517201"/>
                  <a:pt x="838323" y="2514213"/>
                  <a:pt x="841002" y="2511226"/>
                </a:cubicBezTo>
                <a:close/>
                <a:moveTo>
                  <a:pt x="993284" y="2497391"/>
                </a:moveTo>
                <a:cubicBezTo>
                  <a:pt x="986897" y="2502265"/>
                  <a:pt x="989369" y="2507296"/>
                  <a:pt x="992048" y="2513271"/>
                </a:cubicBezTo>
                <a:cubicBezTo>
                  <a:pt x="999879" y="2508239"/>
                  <a:pt x="992048" y="2502265"/>
                  <a:pt x="993284" y="2497391"/>
                </a:cubicBezTo>
                <a:close/>
                <a:moveTo>
                  <a:pt x="1005030" y="2477423"/>
                </a:moveTo>
                <a:cubicBezTo>
                  <a:pt x="998642" y="2479466"/>
                  <a:pt x="1007709" y="2482455"/>
                  <a:pt x="1002557" y="2484499"/>
                </a:cubicBezTo>
                <a:cubicBezTo>
                  <a:pt x="1007709" y="2487485"/>
                  <a:pt x="1011624" y="2480410"/>
                  <a:pt x="1005030" y="2477423"/>
                </a:cubicBezTo>
                <a:close/>
                <a:moveTo>
                  <a:pt x="718599" y="2437645"/>
                </a:moveTo>
                <a:cubicBezTo>
                  <a:pt x="718599" y="2437645"/>
                  <a:pt x="718599" y="2437645"/>
                  <a:pt x="710768" y="2441733"/>
                </a:cubicBezTo>
                <a:cubicBezTo>
                  <a:pt x="722514" y="2446608"/>
                  <a:pt x="723750" y="2455569"/>
                  <a:pt x="729108" y="2464530"/>
                </a:cubicBezTo>
                <a:cubicBezTo>
                  <a:pt x="738175" y="2453682"/>
                  <a:pt x="719836" y="2444720"/>
                  <a:pt x="718599" y="2437645"/>
                </a:cubicBezTo>
                <a:close/>
                <a:moveTo>
                  <a:pt x="1338145" y="2420888"/>
                </a:moveTo>
                <a:cubicBezTo>
                  <a:pt x="1351010" y="2422891"/>
                  <a:pt x="1345905" y="2425818"/>
                  <a:pt x="1343250" y="2433521"/>
                </a:cubicBezTo>
                <a:cubicBezTo>
                  <a:pt x="1339370" y="2428745"/>
                  <a:pt x="1314867" y="2437373"/>
                  <a:pt x="1317522" y="2426743"/>
                </a:cubicBezTo>
                <a:cubicBezTo>
                  <a:pt x="1325281" y="2428745"/>
                  <a:pt x="1338145" y="2420888"/>
                  <a:pt x="1335491" y="2429670"/>
                </a:cubicBezTo>
                <a:cubicBezTo>
                  <a:pt x="1347130" y="2427667"/>
                  <a:pt x="1335491" y="2425818"/>
                  <a:pt x="1338145" y="2420888"/>
                </a:cubicBezTo>
                <a:close/>
                <a:moveTo>
                  <a:pt x="714684" y="2411861"/>
                </a:moveTo>
                <a:cubicBezTo>
                  <a:pt x="710768" y="2418936"/>
                  <a:pt x="714684" y="2425853"/>
                  <a:pt x="713447" y="2433715"/>
                </a:cubicBezTo>
                <a:cubicBezTo>
                  <a:pt x="717363" y="2434816"/>
                  <a:pt x="719836" y="2433715"/>
                  <a:pt x="723750" y="2431828"/>
                </a:cubicBezTo>
                <a:cubicBezTo>
                  <a:pt x="719836" y="2425853"/>
                  <a:pt x="718599" y="2418936"/>
                  <a:pt x="714684" y="2411861"/>
                </a:cubicBezTo>
                <a:close/>
                <a:moveTo>
                  <a:pt x="1133310" y="2397717"/>
                </a:moveTo>
                <a:cubicBezTo>
                  <a:pt x="1134527" y="2399592"/>
                  <a:pt x="1134527" y="2400685"/>
                  <a:pt x="1138379" y="2401623"/>
                </a:cubicBezTo>
                <a:cubicBezTo>
                  <a:pt x="1130674" y="2407559"/>
                  <a:pt x="1122969" y="2402560"/>
                  <a:pt x="1114048" y="2401623"/>
                </a:cubicBezTo>
                <a:cubicBezTo>
                  <a:pt x="1117900" y="2397717"/>
                  <a:pt x="1124389" y="2396623"/>
                  <a:pt x="1133310" y="2397717"/>
                </a:cubicBezTo>
                <a:close/>
                <a:moveTo>
                  <a:pt x="1151513" y="2395630"/>
                </a:moveTo>
                <a:lnTo>
                  <a:pt x="1157126" y="2398484"/>
                </a:lnTo>
                <a:lnTo>
                  <a:pt x="1157717" y="2397956"/>
                </a:lnTo>
                <a:close/>
                <a:moveTo>
                  <a:pt x="1394595" y="2385531"/>
                </a:moveTo>
                <a:cubicBezTo>
                  <a:pt x="1404626" y="2385531"/>
                  <a:pt x="1403423" y="2390602"/>
                  <a:pt x="1402219" y="2395515"/>
                </a:cubicBezTo>
                <a:cubicBezTo>
                  <a:pt x="1390784" y="2396465"/>
                  <a:pt x="1389379" y="2388542"/>
                  <a:pt x="1394595" y="2385531"/>
                </a:cubicBezTo>
                <a:close/>
                <a:moveTo>
                  <a:pt x="719836" y="2378057"/>
                </a:moveTo>
                <a:cubicBezTo>
                  <a:pt x="717363" y="2377114"/>
                  <a:pt x="714684" y="2378057"/>
                  <a:pt x="712005" y="2379158"/>
                </a:cubicBezTo>
                <a:cubicBezTo>
                  <a:pt x="717363" y="2388120"/>
                  <a:pt x="714684" y="2395038"/>
                  <a:pt x="717363" y="2399912"/>
                </a:cubicBezTo>
                <a:cubicBezTo>
                  <a:pt x="721277" y="2403999"/>
                  <a:pt x="725193" y="2406987"/>
                  <a:pt x="731581" y="2403999"/>
                </a:cubicBezTo>
                <a:cubicBezTo>
                  <a:pt x="729108" y="2395038"/>
                  <a:pt x="725193" y="2384032"/>
                  <a:pt x="719836" y="2378057"/>
                </a:cubicBezTo>
                <a:close/>
                <a:moveTo>
                  <a:pt x="1343843" y="2373053"/>
                </a:moveTo>
                <a:cubicBezTo>
                  <a:pt x="1352828" y="2373971"/>
                  <a:pt x="1345272" y="2384685"/>
                  <a:pt x="1334858" y="2383614"/>
                </a:cubicBezTo>
                <a:cubicBezTo>
                  <a:pt x="1334858" y="2377798"/>
                  <a:pt x="1341393" y="2376879"/>
                  <a:pt x="1343843" y="2373053"/>
                </a:cubicBezTo>
                <a:close/>
                <a:moveTo>
                  <a:pt x="1340102" y="2364025"/>
                </a:moveTo>
                <a:cubicBezTo>
                  <a:pt x="1337606" y="2377053"/>
                  <a:pt x="1337606" y="2377053"/>
                  <a:pt x="1337606" y="2377053"/>
                </a:cubicBezTo>
                <a:cubicBezTo>
                  <a:pt x="1333654" y="2374035"/>
                  <a:pt x="1330950" y="2367044"/>
                  <a:pt x="1325749" y="2374035"/>
                </a:cubicBezTo>
                <a:cubicBezTo>
                  <a:pt x="1323045" y="2374035"/>
                  <a:pt x="1323045" y="2373081"/>
                  <a:pt x="1323045" y="2372128"/>
                </a:cubicBezTo>
                <a:cubicBezTo>
                  <a:pt x="1325749" y="2374035"/>
                  <a:pt x="1324294" y="2361960"/>
                  <a:pt x="1340102" y="2364025"/>
                </a:cubicBezTo>
                <a:close/>
                <a:moveTo>
                  <a:pt x="1374822" y="2356335"/>
                </a:moveTo>
                <a:cubicBezTo>
                  <a:pt x="1392236" y="2355721"/>
                  <a:pt x="1412403" y="2358256"/>
                  <a:pt x="1422795" y="2360316"/>
                </a:cubicBezTo>
                <a:cubicBezTo>
                  <a:pt x="1413535" y="2368240"/>
                  <a:pt x="1395426" y="2367289"/>
                  <a:pt x="1390281" y="2379332"/>
                </a:cubicBezTo>
                <a:cubicBezTo>
                  <a:pt x="1371966" y="2383293"/>
                  <a:pt x="1359002" y="2368240"/>
                  <a:pt x="1343362" y="2371250"/>
                </a:cubicBezTo>
                <a:cubicBezTo>
                  <a:pt x="1342745" y="2360713"/>
                  <a:pt x="1357407" y="2356949"/>
                  <a:pt x="1374822" y="2356335"/>
                </a:cubicBezTo>
                <a:close/>
                <a:moveTo>
                  <a:pt x="1302964" y="2316362"/>
                </a:moveTo>
                <a:lnTo>
                  <a:pt x="1300638" y="2317209"/>
                </a:lnTo>
                <a:lnTo>
                  <a:pt x="1286231" y="2336409"/>
                </a:lnTo>
                <a:lnTo>
                  <a:pt x="1289981" y="2341203"/>
                </a:lnTo>
                <a:cubicBezTo>
                  <a:pt x="1289981" y="2337115"/>
                  <a:pt x="1286065" y="2330197"/>
                  <a:pt x="1296576" y="2330197"/>
                </a:cubicBezTo>
                <a:cubicBezTo>
                  <a:pt x="1300491" y="2333184"/>
                  <a:pt x="1304407" y="2336172"/>
                  <a:pt x="1309559" y="2339159"/>
                </a:cubicBezTo>
                <a:cubicBezTo>
                  <a:pt x="1308322" y="2330197"/>
                  <a:pt x="1314711" y="2328153"/>
                  <a:pt x="1326458" y="2330197"/>
                </a:cubicBezTo>
                <a:cubicBezTo>
                  <a:pt x="1325222" y="2322179"/>
                  <a:pt x="1342120" y="2322179"/>
                  <a:pt x="1336968" y="2316362"/>
                </a:cubicBezTo>
                <a:cubicBezTo>
                  <a:pt x="1329137" y="2316362"/>
                  <a:pt x="1326458" y="2319349"/>
                  <a:pt x="1318627" y="2317305"/>
                </a:cubicBezTo>
                <a:cubicBezTo>
                  <a:pt x="1315947" y="2321236"/>
                  <a:pt x="1321305" y="2323280"/>
                  <a:pt x="1321305" y="2326267"/>
                </a:cubicBezTo>
                <a:cubicBezTo>
                  <a:pt x="1317391" y="2327210"/>
                  <a:pt x="1313475" y="2329253"/>
                  <a:pt x="1308322" y="2329253"/>
                </a:cubicBezTo>
                <a:cubicBezTo>
                  <a:pt x="1312238" y="2322179"/>
                  <a:pt x="1304407" y="2320292"/>
                  <a:pt x="1302964" y="2316362"/>
                </a:cubicBezTo>
                <a:close/>
                <a:moveTo>
                  <a:pt x="1359020" y="2312274"/>
                </a:moveTo>
                <a:cubicBezTo>
                  <a:pt x="1351189" y="2312274"/>
                  <a:pt x="1346036" y="2312274"/>
                  <a:pt x="1343357" y="2315261"/>
                </a:cubicBezTo>
                <a:cubicBezTo>
                  <a:pt x="1349952" y="2315261"/>
                  <a:pt x="1339442" y="2323280"/>
                  <a:pt x="1349952" y="2321236"/>
                </a:cubicBezTo>
                <a:cubicBezTo>
                  <a:pt x="1349952" y="2315261"/>
                  <a:pt x="1355104" y="2314318"/>
                  <a:pt x="1359020" y="2312274"/>
                </a:cubicBezTo>
                <a:close/>
                <a:moveTo>
                  <a:pt x="1479103" y="2234134"/>
                </a:moveTo>
                <a:cubicBezTo>
                  <a:pt x="1481811" y="2233991"/>
                  <a:pt x="1485322" y="2234480"/>
                  <a:pt x="1489134" y="2234970"/>
                </a:cubicBezTo>
                <a:cubicBezTo>
                  <a:pt x="1489134" y="2240190"/>
                  <a:pt x="1481510" y="2238069"/>
                  <a:pt x="1481510" y="2241168"/>
                </a:cubicBezTo>
                <a:cubicBezTo>
                  <a:pt x="1477699" y="2240190"/>
                  <a:pt x="1477699" y="2238069"/>
                  <a:pt x="1473887" y="2237090"/>
                </a:cubicBezTo>
                <a:cubicBezTo>
                  <a:pt x="1474489" y="2235052"/>
                  <a:pt x="1476394" y="2234277"/>
                  <a:pt x="1479103" y="2234134"/>
                </a:cubicBezTo>
                <a:close/>
                <a:moveTo>
                  <a:pt x="1484374" y="2205975"/>
                </a:moveTo>
                <a:cubicBezTo>
                  <a:pt x="1500032" y="2208945"/>
                  <a:pt x="1464800" y="2221764"/>
                  <a:pt x="1468715" y="2209883"/>
                </a:cubicBezTo>
                <a:cubicBezTo>
                  <a:pt x="1476544" y="2209883"/>
                  <a:pt x="1480459" y="2208007"/>
                  <a:pt x="1484374" y="2205975"/>
                </a:cubicBezTo>
                <a:close/>
                <a:moveTo>
                  <a:pt x="1419177" y="2182772"/>
                </a:moveTo>
                <a:lnTo>
                  <a:pt x="1419120" y="2183899"/>
                </a:lnTo>
                <a:lnTo>
                  <a:pt x="1421463" y="2183196"/>
                </a:lnTo>
                <a:close/>
                <a:moveTo>
                  <a:pt x="1379834" y="2127539"/>
                </a:moveTo>
                <a:cubicBezTo>
                  <a:pt x="1377155" y="2130527"/>
                  <a:pt x="1368087" y="2127539"/>
                  <a:pt x="1369530" y="2133514"/>
                </a:cubicBezTo>
                <a:cubicBezTo>
                  <a:pt x="1377155" y="2136501"/>
                  <a:pt x="1387665" y="2130527"/>
                  <a:pt x="1379834" y="2127539"/>
                </a:cubicBezTo>
                <a:close/>
                <a:moveTo>
                  <a:pt x="1443721" y="2121565"/>
                </a:moveTo>
                <a:cubicBezTo>
                  <a:pt x="1444957" y="2126596"/>
                  <a:pt x="1433210" y="2130527"/>
                  <a:pt x="1439805" y="2132571"/>
                </a:cubicBezTo>
                <a:cubicBezTo>
                  <a:pt x="1446193" y="2130527"/>
                  <a:pt x="1448873" y="2125495"/>
                  <a:pt x="1443721" y="2121565"/>
                </a:cubicBezTo>
                <a:close/>
                <a:moveTo>
                  <a:pt x="1392126" y="2113736"/>
                </a:moveTo>
                <a:lnTo>
                  <a:pt x="1388902" y="2116692"/>
                </a:lnTo>
                <a:lnTo>
                  <a:pt x="1392545" y="2116692"/>
                </a:lnTo>
                <a:close/>
                <a:moveTo>
                  <a:pt x="1425094" y="2112185"/>
                </a:moveTo>
                <a:lnTo>
                  <a:pt x="1424932" y="2113799"/>
                </a:lnTo>
                <a:lnTo>
                  <a:pt x="1426822" y="2113704"/>
                </a:lnTo>
                <a:cubicBezTo>
                  <a:pt x="1425379" y="2119521"/>
                  <a:pt x="1428058" y="2123609"/>
                  <a:pt x="1435889" y="2125495"/>
                </a:cubicBezTo>
                <a:cubicBezTo>
                  <a:pt x="1437126" y="2122509"/>
                  <a:pt x="1433210" y="2121565"/>
                  <a:pt x="1431974" y="2119521"/>
                </a:cubicBezTo>
                <a:cubicBezTo>
                  <a:pt x="1434653" y="2119521"/>
                  <a:pt x="1435889" y="2117635"/>
                  <a:pt x="1435889" y="2115590"/>
                </a:cubicBezTo>
                <a:cubicBezTo>
                  <a:pt x="1434550" y="2114097"/>
                  <a:pt x="1431922" y="2113114"/>
                  <a:pt x="1428831" y="2112506"/>
                </a:cubicBezTo>
                <a:close/>
                <a:moveTo>
                  <a:pt x="1443721" y="2110717"/>
                </a:moveTo>
                <a:cubicBezTo>
                  <a:pt x="1435889" y="2120622"/>
                  <a:pt x="1455468" y="2122509"/>
                  <a:pt x="1457940" y="2114647"/>
                </a:cubicBezTo>
                <a:cubicBezTo>
                  <a:pt x="1454025" y="2112604"/>
                  <a:pt x="1450109" y="2111660"/>
                  <a:pt x="1443721" y="2110717"/>
                </a:cubicBezTo>
                <a:close/>
                <a:moveTo>
                  <a:pt x="1390576" y="2095093"/>
                </a:moveTo>
                <a:cubicBezTo>
                  <a:pt x="1386995" y="2095231"/>
                  <a:pt x="1383750" y="2096253"/>
                  <a:pt x="1383750" y="2098768"/>
                </a:cubicBezTo>
                <a:cubicBezTo>
                  <a:pt x="1390345" y="2099712"/>
                  <a:pt x="1396733" y="2100655"/>
                  <a:pt x="1399412" y="2096724"/>
                </a:cubicBezTo>
                <a:cubicBezTo>
                  <a:pt x="1398073" y="2095703"/>
                  <a:pt x="1394157" y="2094956"/>
                  <a:pt x="1390576" y="2095093"/>
                </a:cubicBezTo>
                <a:close/>
                <a:moveTo>
                  <a:pt x="1469044" y="2093012"/>
                </a:moveTo>
                <a:cubicBezTo>
                  <a:pt x="1472658" y="2094003"/>
                  <a:pt x="1475622" y="2096736"/>
                  <a:pt x="1473022" y="2099747"/>
                </a:cubicBezTo>
                <a:cubicBezTo>
                  <a:pt x="1470318" y="2097687"/>
                  <a:pt x="1466366" y="2096736"/>
                  <a:pt x="1461165" y="2096736"/>
                </a:cubicBezTo>
                <a:cubicBezTo>
                  <a:pt x="1461165" y="2092774"/>
                  <a:pt x="1465430" y="2092022"/>
                  <a:pt x="1469044" y="2093012"/>
                </a:cubicBezTo>
                <a:close/>
                <a:moveTo>
                  <a:pt x="1473603" y="2050030"/>
                </a:moveTo>
                <a:cubicBezTo>
                  <a:pt x="1468451" y="2055061"/>
                  <a:pt x="1451551" y="2059935"/>
                  <a:pt x="1455468" y="2065909"/>
                </a:cubicBezTo>
                <a:cubicBezTo>
                  <a:pt x="1461856" y="2062922"/>
                  <a:pt x="1463299" y="2056948"/>
                  <a:pt x="1473603" y="2058991"/>
                </a:cubicBezTo>
                <a:cubicBezTo>
                  <a:pt x="1472366" y="2061035"/>
                  <a:pt x="1482671" y="2061035"/>
                  <a:pt x="1477518" y="2058991"/>
                </a:cubicBezTo>
                <a:cubicBezTo>
                  <a:pt x="1464535" y="2056948"/>
                  <a:pt x="1481435" y="2053017"/>
                  <a:pt x="1473603" y="2050030"/>
                </a:cubicBezTo>
                <a:close/>
                <a:moveTo>
                  <a:pt x="1489265" y="2034150"/>
                </a:moveTo>
                <a:cubicBezTo>
                  <a:pt x="1490502" y="2038081"/>
                  <a:pt x="1482671" y="2035093"/>
                  <a:pt x="1478755" y="2037138"/>
                </a:cubicBezTo>
                <a:cubicBezTo>
                  <a:pt x="1477518" y="2039182"/>
                  <a:pt x="1480198" y="2041068"/>
                  <a:pt x="1482671" y="2042169"/>
                </a:cubicBezTo>
                <a:cubicBezTo>
                  <a:pt x="1486587" y="2040125"/>
                  <a:pt x="1501013" y="2038081"/>
                  <a:pt x="1489265" y="2034150"/>
                </a:cubicBezTo>
                <a:close/>
                <a:moveTo>
                  <a:pt x="596196" y="2000562"/>
                </a:moveTo>
                <a:cubicBezTo>
                  <a:pt x="593517" y="2002606"/>
                  <a:pt x="591044" y="2003550"/>
                  <a:pt x="589602" y="2002606"/>
                </a:cubicBezTo>
                <a:cubicBezTo>
                  <a:pt x="588366" y="2004493"/>
                  <a:pt x="589602" y="2005593"/>
                  <a:pt x="593517" y="2007480"/>
                </a:cubicBezTo>
                <a:cubicBezTo>
                  <a:pt x="597432" y="2005593"/>
                  <a:pt x="598875" y="2003550"/>
                  <a:pt x="596196" y="2000562"/>
                </a:cubicBezTo>
                <a:close/>
                <a:moveTo>
                  <a:pt x="587129" y="1988613"/>
                </a:moveTo>
                <a:cubicBezTo>
                  <a:pt x="579299" y="1990657"/>
                  <a:pt x="587129" y="1995688"/>
                  <a:pt x="583214" y="1997575"/>
                </a:cubicBezTo>
                <a:cubicBezTo>
                  <a:pt x="588366" y="1997575"/>
                  <a:pt x="592280" y="2000562"/>
                  <a:pt x="598875" y="1998676"/>
                </a:cubicBezTo>
                <a:cubicBezTo>
                  <a:pt x="592280" y="1993644"/>
                  <a:pt x="593517" y="1993644"/>
                  <a:pt x="587129" y="1988613"/>
                </a:cubicBezTo>
                <a:close/>
                <a:moveTo>
                  <a:pt x="597432" y="1971790"/>
                </a:moveTo>
                <a:cubicBezTo>
                  <a:pt x="594959" y="1976665"/>
                  <a:pt x="594959" y="1975721"/>
                  <a:pt x="587129" y="1977765"/>
                </a:cubicBezTo>
                <a:cubicBezTo>
                  <a:pt x="597432" y="1991601"/>
                  <a:pt x="598875" y="1969746"/>
                  <a:pt x="605262" y="1981695"/>
                </a:cubicBezTo>
                <a:cubicBezTo>
                  <a:pt x="611857" y="1977765"/>
                  <a:pt x="601348" y="1973834"/>
                  <a:pt x="597432" y="1971790"/>
                </a:cubicBezTo>
                <a:close/>
                <a:moveTo>
                  <a:pt x="587129" y="1956854"/>
                </a:moveTo>
                <a:cubicBezTo>
                  <a:pt x="581771" y="1961885"/>
                  <a:pt x="593517" y="1961885"/>
                  <a:pt x="596196" y="1963772"/>
                </a:cubicBezTo>
                <a:cubicBezTo>
                  <a:pt x="597432" y="1964872"/>
                  <a:pt x="593517" y="1965815"/>
                  <a:pt x="592280" y="1967860"/>
                </a:cubicBezTo>
                <a:cubicBezTo>
                  <a:pt x="594959" y="1972734"/>
                  <a:pt x="601348" y="1971790"/>
                  <a:pt x="607941" y="1971790"/>
                </a:cubicBezTo>
                <a:cubicBezTo>
                  <a:pt x="609178" y="1965815"/>
                  <a:pt x="596196" y="1963772"/>
                  <a:pt x="597432" y="1957955"/>
                </a:cubicBezTo>
                <a:cubicBezTo>
                  <a:pt x="592280" y="1959841"/>
                  <a:pt x="591044" y="1956854"/>
                  <a:pt x="587129" y="1956854"/>
                </a:cubicBezTo>
                <a:close/>
                <a:moveTo>
                  <a:pt x="1554788" y="1949919"/>
                </a:moveTo>
                <a:cubicBezTo>
                  <a:pt x="1553775" y="1950236"/>
                  <a:pt x="1551075" y="1951083"/>
                  <a:pt x="1545672" y="1952778"/>
                </a:cubicBezTo>
                <a:cubicBezTo>
                  <a:pt x="1545672" y="1952778"/>
                  <a:pt x="1557826" y="1948965"/>
                  <a:pt x="1554788" y="1949919"/>
                </a:cubicBezTo>
                <a:close/>
                <a:moveTo>
                  <a:pt x="1579484" y="1884182"/>
                </a:moveTo>
                <a:cubicBezTo>
                  <a:pt x="1579740" y="1884065"/>
                  <a:pt x="1580480" y="1884560"/>
                  <a:pt x="1581784" y="1886033"/>
                </a:cubicBezTo>
                <a:cubicBezTo>
                  <a:pt x="1585596" y="1886033"/>
                  <a:pt x="1586800" y="1884947"/>
                  <a:pt x="1591815" y="1886963"/>
                </a:cubicBezTo>
                <a:cubicBezTo>
                  <a:pt x="1588003" y="1891770"/>
                  <a:pt x="1588003" y="1891770"/>
                  <a:pt x="1588003" y="1891770"/>
                </a:cubicBezTo>
                <a:cubicBezTo>
                  <a:pt x="1582286" y="1890374"/>
                  <a:pt x="1578712" y="1884530"/>
                  <a:pt x="1579484" y="1884182"/>
                </a:cubicBezTo>
                <a:close/>
                <a:moveTo>
                  <a:pt x="1543878" y="1883219"/>
                </a:moveTo>
                <a:cubicBezTo>
                  <a:pt x="1537489" y="1883219"/>
                  <a:pt x="1542642" y="1889035"/>
                  <a:pt x="1551710" y="1891080"/>
                </a:cubicBezTo>
                <a:cubicBezTo>
                  <a:pt x="1555625" y="1888092"/>
                  <a:pt x="1543878" y="1886205"/>
                  <a:pt x="1543878" y="1883219"/>
                </a:cubicBezTo>
                <a:close/>
                <a:moveTo>
                  <a:pt x="412877" y="1882219"/>
                </a:moveTo>
                <a:cubicBezTo>
                  <a:pt x="423239" y="1884239"/>
                  <a:pt x="433809" y="1885171"/>
                  <a:pt x="435052" y="1891077"/>
                </a:cubicBezTo>
                <a:cubicBezTo>
                  <a:pt x="423239" y="1891077"/>
                  <a:pt x="411634" y="1889056"/>
                  <a:pt x="412877" y="1882219"/>
                </a:cubicBezTo>
                <a:close/>
                <a:moveTo>
                  <a:pt x="49134" y="1866274"/>
                </a:moveTo>
                <a:cubicBezTo>
                  <a:pt x="51839" y="1867249"/>
                  <a:pt x="54335" y="1868387"/>
                  <a:pt x="57039" y="1869361"/>
                </a:cubicBezTo>
                <a:cubicBezTo>
                  <a:pt x="51839" y="1872449"/>
                  <a:pt x="47886" y="1876511"/>
                  <a:pt x="39982" y="1873424"/>
                </a:cubicBezTo>
                <a:cubicBezTo>
                  <a:pt x="41230" y="1869361"/>
                  <a:pt x="46430" y="1869361"/>
                  <a:pt x="49134" y="1866274"/>
                </a:cubicBezTo>
                <a:close/>
                <a:moveTo>
                  <a:pt x="358930" y="1842703"/>
                </a:moveTo>
                <a:cubicBezTo>
                  <a:pt x="368301" y="1842703"/>
                  <a:pt x="371069" y="1846863"/>
                  <a:pt x="372348" y="1850863"/>
                </a:cubicBezTo>
                <a:cubicBezTo>
                  <a:pt x="365533" y="1849903"/>
                  <a:pt x="358930" y="1847823"/>
                  <a:pt x="358930" y="1842703"/>
                </a:cubicBezTo>
                <a:close/>
                <a:moveTo>
                  <a:pt x="1632348" y="1835770"/>
                </a:moveTo>
                <a:cubicBezTo>
                  <a:pt x="1633606" y="1836730"/>
                  <a:pt x="1635074" y="1838811"/>
                  <a:pt x="1639058" y="1840890"/>
                </a:cubicBezTo>
                <a:cubicBezTo>
                  <a:pt x="1633606" y="1838811"/>
                  <a:pt x="1639058" y="1842810"/>
                  <a:pt x="1635074" y="1843930"/>
                </a:cubicBezTo>
                <a:cubicBezTo>
                  <a:pt x="1628363" y="1839770"/>
                  <a:pt x="1631089" y="1837850"/>
                  <a:pt x="1632348" y="1835770"/>
                </a:cubicBezTo>
                <a:close/>
                <a:moveTo>
                  <a:pt x="1548570" y="1835049"/>
                </a:moveTo>
                <a:lnTo>
                  <a:pt x="1547628" y="1836411"/>
                </a:lnTo>
                <a:lnTo>
                  <a:pt x="1550499" y="1839059"/>
                </a:lnTo>
                <a:cubicBezTo>
                  <a:pt x="1550164" y="1839943"/>
                  <a:pt x="1548515" y="1840454"/>
                  <a:pt x="1546558" y="1840454"/>
                </a:cubicBezTo>
                <a:cubicBezTo>
                  <a:pt x="1554388" y="1846429"/>
                  <a:pt x="1559541" y="1840454"/>
                  <a:pt x="1555625" y="1837467"/>
                </a:cubicBezTo>
                <a:cubicBezTo>
                  <a:pt x="1554157" y="1838941"/>
                  <a:pt x="1552891" y="1838602"/>
                  <a:pt x="1551742" y="1837760"/>
                </a:cubicBezTo>
                <a:close/>
                <a:moveTo>
                  <a:pt x="1615403" y="1834854"/>
                </a:moveTo>
                <a:cubicBezTo>
                  <a:pt x="1616795" y="1835206"/>
                  <a:pt x="1618894" y="1836147"/>
                  <a:pt x="1621794" y="1837890"/>
                </a:cubicBezTo>
                <a:cubicBezTo>
                  <a:pt x="1617857" y="1838841"/>
                  <a:pt x="1619309" y="1837890"/>
                  <a:pt x="1619309" y="1841851"/>
                </a:cubicBezTo>
                <a:cubicBezTo>
                  <a:pt x="1613402" y="1838049"/>
                  <a:pt x="1611226" y="1833800"/>
                  <a:pt x="1615403" y="1834854"/>
                </a:cubicBezTo>
                <a:close/>
                <a:moveTo>
                  <a:pt x="1564693" y="1834480"/>
                </a:moveTo>
                <a:cubicBezTo>
                  <a:pt x="1567372" y="1837467"/>
                  <a:pt x="1576439" y="1840454"/>
                  <a:pt x="1575203" y="1842341"/>
                </a:cubicBezTo>
                <a:cubicBezTo>
                  <a:pt x="1575203" y="1842341"/>
                  <a:pt x="1575203" y="1842341"/>
                  <a:pt x="1566135" y="1842341"/>
                </a:cubicBezTo>
                <a:cubicBezTo>
                  <a:pt x="1571288" y="1846429"/>
                  <a:pt x="1575203" y="1845328"/>
                  <a:pt x="1576439" y="1842341"/>
                </a:cubicBezTo>
                <a:cubicBezTo>
                  <a:pt x="1577882" y="1839354"/>
                  <a:pt x="1575203" y="1835423"/>
                  <a:pt x="1564693" y="1834480"/>
                </a:cubicBezTo>
                <a:close/>
                <a:moveTo>
                  <a:pt x="551354" y="1831707"/>
                </a:moveTo>
                <a:cubicBezTo>
                  <a:pt x="550056" y="1831493"/>
                  <a:pt x="548510" y="1831906"/>
                  <a:pt x="546552" y="1833360"/>
                </a:cubicBezTo>
                <a:lnTo>
                  <a:pt x="553927" y="1840909"/>
                </a:lnTo>
                <a:lnTo>
                  <a:pt x="547789" y="1842321"/>
                </a:lnTo>
                <a:cubicBezTo>
                  <a:pt x="547789" y="1840434"/>
                  <a:pt x="551705" y="1841378"/>
                  <a:pt x="554385" y="1841378"/>
                </a:cubicBezTo>
                <a:lnTo>
                  <a:pt x="553927" y="1840909"/>
                </a:lnTo>
                <a:lnTo>
                  <a:pt x="560774" y="1839334"/>
                </a:lnTo>
                <a:cubicBezTo>
                  <a:pt x="556909" y="1838627"/>
                  <a:pt x="555248" y="1832347"/>
                  <a:pt x="551354" y="1831707"/>
                </a:cubicBezTo>
                <a:close/>
                <a:moveTo>
                  <a:pt x="1637158" y="1830086"/>
                </a:moveTo>
                <a:cubicBezTo>
                  <a:pt x="1638536" y="1830390"/>
                  <a:pt x="1640407" y="1831187"/>
                  <a:pt x="1642699" y="1832662"/>
                </a:cubicBezTo>
                <a:lnTo>
                  <a:pt x="1640051" y="1835615"/>
                </a:lnTo>
                <a:cubicBezTo>
                  <a:pt x="1633329" y="1832702"/>
                  <a:pt x="1633024" y="1829176"/>
                  <a:pt x="1637158" y="1830086"/>
                </a:cubicBezTo>
                <a:close/>
                <a:moveTo>
                  <a:pt x="1628598" y="1815947"/>
                </a:moveTo>
                <a:cubicBezTo>
                  <a:pt x="1632468" y="1817897"/>
                  <a:pt x="1632468" y="1820009"/>
                  <a:pt x="1636337" y="1822122"/>
                </a:cubicBezTo>
                <a:cubicBezTo>
                  <a:pt x="1635116" y="1824071"/>
                  <a:pt x="1633690" y="1825209"/>
                  <a:pt x="1629820" y="1824071"/>
                </a:cubicBezTo>
                <a:cubicBezTo>
                  <a:pt x="1627376" y="1820984"/>
                  <a:pt x="1624729" y="1814972"/>
                  <a:pt x="1628598" y="1815947"/>
                </a:cubicBezTo>
                <a:close/>
                <a:moveTo>
                  <a:pt x="1647042" y="1801800"/>
                </a:moveTo>
                <a:cubicBezTo>
                  <a:pt x="1654513" y="1807705"/>
                  <a:pt x="1653301" y="1810657"/>
                  <a:pt x="1649465" y="1808793"/>
                </a:cubicBezTo>
                <a:cubicBezTo>
                  <a:pt x="1648253" y="1805841"/>
                  <a:pt x="1645628" y="1802888"/>
                  <a:pt x="1647042" y="1801800"/>
                </a:cubicBezTo>
                <a:close/>
                <a:moveTo>
                  <a:pt x="1641061" y="1792884"/>
                </a:moveTo>
                <a:cubicBezTo>
                  <a:pt x="1642024" y="1792749"/>
                  <a:pt x="1643426" y="1793073"/>
                  <a:pt x="1645418" y="1794092"/>
                </a:cubicBezTo>
                <a:cubicBezTo>
                  <a:pt x="1644160" y="1792053"/>
                  <a:pt x="1645418" y="1803030"/>
                  <a:pt x="1640176" y="1800051"/>
                </a:cubicBezTo>
                <a:cubicBezTo>
                  <a:pt x="1639233" y="1797816"/>
                  <a:pt x="1638171" y="1793288"/>
                  <a:pt x="1641061" y="1792884"/>
                </a:cubicBezTo>
                <a:close/>
                <a:moveTo>
                  <a:pt x="377170" y="1783082"/>
                </a:moveTo>
                <a:lnTo>
                  <a:pt x="385016" y="1785098"/>
                </a:lnTo>
                <a:lnTo>
                  <a:pt x="385059" y="1785134"/>
                </a:lnTo>
                <a:lnTo>
                  <a:pt x="382006" y="1789507"/>
                </a:lnTo>
                <a:cubicBezTo>
                  <a:pt x="380550" y="1790503"/>
                  <a:pt x="379250" y="1791519"/>
                  <a:pt x="379874" y="1794018"/>
                </a:cubicBezTo>
                <a:cubicBezTo>
                  <a:pt x="374674" y="1792924"/>
                  <a:pt x="368017" y="1792924"/>
                  <a:pt x="369265" y="1788081"/>
                </a:cubicBezTo>
                <a:cubicBezTo>
                  <a:pt x="381122" y="1789019"/>
                  <a:pt x="375922" y="1788081"/>
                  <a:pt x="377170" y="1783082"/>
                </a:cubicBezTo>
                <a:close/>
                <a:moveTo>
                  <a:pt x="1608988" y="1773935"/>
                </a:moveTo>
                <a:cubicBezTo>
                  <a:pt x="1608254" y="1773724"/>
                  <a:pt x="1607764" y="1773911"/>
                  <a:pt x="1607764" y="1774893"/>
                </a:cubicBezTo>
                <a:cubicBezTo>
                  <a:pt x="1614359" y="1777880"/>
                  <a:pt x="1612917" y="1782754"/>
                  <a:pt x="1615595" y="1781811"/>
                </a:cubicBezTo>
                <a:cubicBezTo>
                  <a:pt x="1611681" y="1777880"/>
                  <a:pt x="1621984" y="1781811"/>
                  <a:pt x="1615595" y="1775836"/>
                </a:cubicBezTo>
                <a:cubicBezTo>
                  <a:pt x="1615595" y="1778785"/>
                  <a:pt x="1611190" y="1774569"/>
                  <a:pt x="1608988" y="1773935"/>
                </a:cubicBezTo>
                <a:close/>
                <a:moveTo>
                  <a:pt x="427210" y="1767185"/>
                </a:moveTo>
                <a:lnTo>
                  <a:pt x="425693" y="1769523"/>
                </a:lnTo>
                <a:cubicBezTo>
                  <a:pt x="425288" y="1771351"/>
                  <a:pt x="425056" y="1773400"/>
                  <a:pt x="424128" y="1774873"/>
                </a:cubicBezTo>
                <a:cubicBezTo>
                  <a:pt x="441029" y="1779748"/>
                  <a:pt x="425365" y="1780848"/>
                  <a:pt x="422686" y="1783835"/>
                </a:cubicBezTo>
                <a:cubicBezTo>
                  <a:pt x="433197" y="1782734"/>
                  <a:pt x="435876" y="1789652"/>
                  <a:pt x="441029" y="1783835"/>
                </a:cubicBezTo>
                <a:cubicBezTo>
                  <a:pt x="438091" y="1779354"/>
                  <a:pt x="432952" y="1777615"/>
                  <a:pt x="432218" y="1772449"/>
                </a:cubicBezTo>
                <a:lnTo>
                  <a:pt x="432946" y="1767590"/>
                </a:lnTo>
                <a:lnTo>
                  <a:pt x="428358" y="1769060"/>
                </a:lnTo>
                <a:close/>
                <a:moveTo>
                  <a:pt x="1649207" y="1763872"/>
                </a:moveTo>
                <a:cubicBezTo>
                  <a:pt x="1649334" y="1762345"/>
                  <a:pt x="1654520" y="1767000"/>
                  <a:pt x="1657485" y="1767830"/>
                </a:cubicBezTo>
                <a:cubicBezTo>
                  <a:pt x="1662685" y="1774787"/>
                  <a:pt x="1651037" y="1771783"/>
                  <a:pt x="1653532" y="1776684"/>
                </a:cubicBezTo>
                <a:cubicBezTo>
                  <a:pt x="1649580" y="1775736"/>
                  <a:pt x="1649580" y="1773680"/>
                  <a:pt x="1651037" y="1771783"/>
                </a:cubicBezTo>
                <a:cubicBezTo>
                  <a:pt x="1652284" y="1770834"/>
                  <a:pt x="1654781" y="1769727"/>
                  <a:pt x="1654781" y="1767830"/>
                </a:cubicBezTo>
                <a:cubicBezTo>
                  <a:pt x="1653532" y="1765775"/>
                  <a:pt x="1652284" y="1767830"/>
                  <a:pt x="1651037" y="1767830"/>
                </a:cubicBezTo>
                <a:cubicBezTo>
                  <a:pt x="1649684" y="1765577"/>
                  <a:pt x="1649164" y="1764381"/>
                  <a:pt x="1649207" y="1763872"/>
                </a:cubicBezTo>
                <a:close/>
                <a:moveTo>
                  <a:pt x="470824" y="1762045"/>
                </a:moveTo>
                <a:lnTo>
                  <a:pt x="468494" y="1762968"/>
                </a:lnTo>
                <a:lnTo>
                  <a:pt x="466281" y="1763714"/>
                </a:lnTo>
                <a:lnTo>
                  <a:pt x="480110" y="1769607"/>
                </a:lnTo>
                <a:cubicBezTo>
                  <a:pt x="487608" y="1772358"/>
                  <a:pt x="495748" y="1775345"/>
                  <a:pt x="502240" y="1778804"/>
                </a:cubicBezTo>
                <a:cubicBezTo>
                  <a:pt x="499562" y="1773773"/>
                  <a:pt x="513988" y="1770943"/>
                  <a:pt x="504920" y="1768899"/>
                </a:cubicBezTo>
                <a:cubicBezTo>
                  <a:pt x="492090" y="1775621"/>
                  <a:pt x="485288" y="1765539"/>
                  <a:pt x="474430" y="1762134"/>
                </a:cubicBezTo>
                <a:close/>
                <a:moveTo>
                  <a:pt x="1598697" y="1760900"/>
                </a:moveTo>
                <a:cubicBezTo>
                  <a:pt x="1597254" y="1761844"/>
                  <a:pt x="1594781" y="1761844"/>
                  <a:pt x="1597254" y="1764988"/>
                </a:cubicBezTo>
                <a:cubicBezTo>
                  <a:pt x="1602613" y="1767975"/>
                  <a:pt x="1619511" y="1779767"/>
                  <a:pt x="1611681" y="1769862"/>
                </a:cubicBezTo>
                <a:cubicBezTo>
                  <a:pt x="1606528" y="1773792"/>
                  <a:pt x="1602613" y="1763888"/>
                  <a:pt x="1598697" y="1760900"/>
                </a:cubicBezTo>
                <a:close/>
                <a:moveTo>
                  <a:pt x="1563456" y="1759014"/>
                </a:moveTo>
                <a:cubicBezTo>
                  <a:pt x="1562219" y="1761844"/>
                  <a:pt x="1550473" y="1762944"/>
                  <a:pt x="1559541" y="1767975"/>
                </a:cubicBezTo>
                <a:cubicBezTo>
                  <a:pt x="1559541" y="1762944"/>
                  <a:pt x="1570051" y="1765931"/>
                  <a:pt x="1563456" y="1759014"/>
                </a:cubicBezTo>
                <a:close/>
                <a:moveTo>
                  <a:pt x="1643372" y="1753997"/>
                </a:moveTo>
                <a:cubicBezTo>
                  <a:pt x="1647241" y="1759197"/>
                  <a:pt x="1643372" y="1760172"/>
                  <a:pt x="1641946" y="1762122"/>
                </a:cubicBezTo>
                <a:cubicBezTo>
                  <a:pt x="1635633" y="1756110"/>
                  <a:pt x="1639502" y="1751885"/>
                  <a:pt x="1643372" y="1753997"/>
                </a:cubicBezTo>
                <a:close/>
                <a:moveTo>
                  <a:pt x="1596018" y="1753983"/>
                </a:moveTo>
                <a:cubicBezTo>
                  <a:pt x="1602613" y="1757913"/>
                  <a:pt x="1599933" y="1759958"/>
                  <a:pt x="1606528" y="1763888"/>
                </a:cubicBezTo>
                <a:cubicBezTo>
                  <a:pt x="1611681" y="1761844"/>
                  <a:pt x="1599933" y="1754926"/>
                  <a:pt x="1596018" y="1753983"/>
                </a:cubicBezTo>
                <a:close/>
                <a:moveTo>
                  <a:pt x="328909" y="1745945"/>
                </a:moveTo>
                <a:cubicBezTo>
                  <a:pt x="321077" y="1745001"/>
                  <a:pt x="319841" y="1748932"/>
                  <a:pt x="317162" y="1753020"/>
                </a:cubicBezTo>
                <a:cubicBezTo>
                  <a:pt x="321077" y="1753020"/>
                  <a:pt x="323757" y="1756950"/>
                  <a:pt x="326437" y="1753020"/>
                </a:cubicBezTo>
                <a:cubicBezTo>
                  <a:pt x="318604" y="1750976"/>
                  <a:pt x="330352" y="1750032"/>
                  <a:pt x="328909" y="1745945"/>
                </a:cubicBezTo>
                <a:close/>
                <a:moveTo>
                  <a:pt x="152244" y="1735246"/>
                </a:moveTo>
                <a:cubicBezTo>
                  <a:pt x="167900" y="1752029"/>
                  <a:pt x="133909" y="1760027"/>
                  <a:pt x="128758" y="1780888"/>
                </a:cubicBezTo>
                <a:cubicBezTo>
                  <a:pt x="114543" y="1779790"/>
                  <a:pt x="110629" y="1785751"/>
                  <a:pt x="111865" y="1792651"/>
                </a:cubicBezTo>
                <a:cubicBezTo>
                  <a:pt x="110629" y="1794690"/>
                  <a:pt x="105479" y="1795631"/>
                  <a:pt x="98886" y="1794690"/>
                </a:cubicBezTo>
                <a:cubicBezTo>
                  <a:pt x="98886" y="1798611"/>
                  <a:pt x="96208" y="1802689"/>
                  <a:pt x="93736" y="1805669"/>
                </a:cubicBezTo>
                <a:cubicBezTo>
                  <a:pt x="104037" y="1817433"/>
                  <a:pt x="122372" y="1827471"/>
                  <a:pt x="120929" y="1846292"/>
                </a:cubicBezTo>
                <a:cubicBezTo>
                  <a:pt x="113101" y="1847233"/>
                  <a:pt x="117015" y="1848174"/>
                  <a:pt x="113101" y="1851154"/>
                </a:cubicBezTo>
                <a:cubicBezTo>
                  <a:pt x="107951" y="1846292"/>
                  <a:pt x="98886" y="1842214"/>
                  <a:pt x="91058" y="1837352"/>
                </a:cubicBezTo>
                <a:cubicBezTo>
                  <a:pt x="88379" y="1838293"/>
                  <a:pt x="81993" y="1837352"/>
                  <a:pt x="75401" y="1837352"/>
                </a:cubicBezTo>
                <a:cubicBezTo>
                  <a:pt x="81993" y="1833274"/>
                  <a:pt x="74164" y="1834372"/>
                  <a:pt x="69014" y="1836254"/>
                </a:cubicBezTo>
                <a:cubicBezTo>
                  <a:pt x="79315" y="1836254"/>
                  <a:pt x="70250" y="1844253"/>
                  <a:pt x="72928" y="1850213"/>
                </a:cubicBezTo>
                <a:cubicBezTo>
                  <a:pt x="67572" y="1850213"/>
                  <a:pt x="66336" y="1852252"/>
                  <a:pt x="58507" y="1851154"/>
                </a:cubicBezTo>
                <a:cubicBezTo>
                  <a:pt x="59744" y="1848174"/>
                  <a:pt x="69014" y="1839234"/>
                  <a:pt x="53358" y="1839234"/>
                </a:cubicBezTo>
                <a:cubicBezTo>
                  <a:pt x="46765" y="1830450"/>
                  <a:pt x="53358" y="1815550"/>
                  <a:pt x="44293" y="1807552"/>
                </a:cubicBezTo>
                <a:cubicBezTo>
                  <a:pt x="20808" y="1810532"/>
                  <a:pt x="28635" y="1819472"/>
                  <a:pt x="35023" y="1829353"/>
                </a:cubicBezTo>
                <a:cubicBezTo>
                  <a:pt x="27193" y="1827471"/>
                  <a:pt x="27193" y="1831392"/>
                  <a:pt x="23280" y="1832333"/>
                </a:cubicBezTo>
                <a:cubicBezTo>
                  <a:pt x="0" y="1825432"/>
                  <a:pt x="22043" y="1811629"/>
                  <a:pt x="29872" y="1802689"/>
                </a:cubicBezTo>
                <a:cubicBezTo>
                  <a:pt x="31108" y="1805669"/>
                  <a:pt x="38936" y="1800651"/>
                  <a:pt x="40378" y="1804572"/>
                </a:cubicBezTo>
                <a:cubicBezTo>
                  <a:pt x="55829" y="1798611"/>
                  <a:pt x="63658" y="1787789"/>
                  <a:pt x="83229" y="1784809"/>
                </a:cubicBezTo>
                <a:cubicBezTo>
                  <a:pt x="84465" y="1782771"/>
                  <a:pt x="79315" y="1782771"/>
                  <a:pt x="81993" y="1778849"/>
                </a:cubicBezTo>
                <a:cubicBezTo>
                  <a:pt x="87143" y="1779790"/>
                  <a:pt x="91058" y="1779790"/>
                  <a:pt x="93736" y="1778849"/>
                </a:cubicBezTo>
                <a:cubicBezTo>
                  <a:pt x="89822" y="1773830"/>
                  <a:pt x="88379" y="1768027"/>
                  <a:pt x="101564" y="1771948"/>
                </a:cubicBezTo>
                <a:cubicBezTo>
                  <a:pt x="101564" y="1769909"/>
                  <a:pt x="105479" y="1765988"/>
                  <a:pt x="97650" y="1766929"/>
                </a:cubicBezTo>
                <a:cubicBezTo>
                  <a:pt x="101564" y="1765047"/>
                  <a:pt x="107951" y="1765047"/>
                  <a:pt x="110629" y="1763008"/>
                </a:cubicBezTo>
                <a:cubicBezTo>
                  <a:pt x="114543" y="1759087"/>
                  <a:pt x="102800" y="1760969"/>
                  <a:pt x="106714" y="1757047"/>
                </a:cubicBezTo>
                <a:cubicBezTo>
                  <a:pt x="118457" y="1757047"/>
                  <a:pt x="117015" y="1749049"/>
                  <a:pt x="128758" y="1749049"/>
                </a:cubicBezTo>
                <a:cubicBezTo>
                  <a:pt x="122372" y="1743246"/>
                  <a:pt x="140501" y="1737286"/>
                  <a:pt x="152244" y="1735246"/>
                </a:cubicBezTo>
                <a:close/>
                <a:moveTo>
                  <a:pt x="1709045" y="1724563"/>
                </a:moveTo>
                <a:cubicBezTo>
                  <a:pt x="1711630" y="1724428"/>
                  <a:pt x="1714548" y="1725395"/>
                  <a:pt x="1717210" y="1727328"/>
                </a:cubicBezTo>
                <a:cubicBezTo>
                  <a:pt x="1715776" y="1731351"/>
                  <a:pt x="1709428" y="1731351"/>
                  <a:pt x="1713319" y="1740168"/>
                </a:cubicBezTo>
                <a:cubicBezTo>
                  <a:pt x="1710657" y="1742024"/>
                  <a:pt x="1704309" y="1734290"/>
                  <a:pt x="1706766" y="1739085"/>
                </a:cubicBezTo>
                <a:cubicBezTo>
                  <a:pt x="1702875" y="1739085"/>
                  <a:pt x="1705537" y="1732279"/>
                  <a:pt x="1708200" y="1731351"/>
                </a:cubicBezTo>
                <a:cubicBezTo>
                  <a:pt x="1706766" y="1727328"/>
                  <a:pt x="1704309" y="1728411"/>
                  <a:pt x="1702875" y="1728411"/>
                </a:cubicBezTo>
                <a:cubicBezTo>
                  <a:pt x="1704207" y="1725936"/>
                  <a:pt x="1706459" y="1724699"/>
                  <a:pt x="1709045" y="1724563"/>
                </a:cubicBezTo>
                <a:close/>
                <a:moveTo>
                  <a:pt x="1681772" y="1720902"/>
                </a:moveTo>
                <a:cubicBezTo>
                  <a:pt x="1679331" y="1727975"/>
                  <a:pt x="1681772" y="1743852"/>
                  <a:pt x="1677907" y="1744795"/>
                </a:cubicBezTo>
                <a:cubicBezTo>
                  <a:pt x="1674041" y="1738822"/>
                  <a:pt x="1675466" y="1734892"/>
                  <a:pt x="1676686" y="1729861"/>
                </a:cubicBezTo>
                <a:cubicBezTo>
                  <a:pt x="1674041" y="1727975"/>
                  <a:pt x="1672821" y="1729861"/>
                  <a:pt x="1671600" y="1726875"/>
                </a:cubicBezTo>
                <a:cubicBezTo>
                  <a:pt x="1668955" y="1727975"/>
                  <a:pt x="1671600" y="1733948"/>
                  <a:pt x="1668955" y="1735835"/>
                </a:cubicBezTo>
                <a:cubicBezTo>
                  <a:pt x="1661225" y="1731906"/>
                  <a:pt x="1663870" y="1735835"/>
                  <a:pt x="1658580" y="1732848"/>
                </a:cubicBezTo>
                <a:cubicBezTo>
                  <a:pt x="1654715" y="1728919"/>
                  <a:pt x="1663870" y="1731906"/>
                  <a:pt x="1657360" y="1725932"/>
                </a:cubicBezTo>
                <a:cubicBezTo>
                  <a:pt x="1663870" y="1728919"/>
                  <a:pt x="1666311" y="1727975"/>
                  <a:pt x="1670176" y="1724988"/>
                </a:cubicBezTo>
                <a:cubicBezTo>
                  <a:pt x="1668955" y="1722946"/>
                  <a:pt x="1667735" y="1723888"/>
                  <a:pt x="1666311" y="1723888"/>
                </a:cubicBezTo>
                <a:cubicBezTo>
                  <a:pt x="1668955" y="1717915"/>
                  <a:pt x="1680551" y="1725932"/>
                  <a:pt x="1681772" y="1720902"/>
                </a:cubicBezTo>
                <a:close/>
                <a:moveTo>
                  <a:pt x="1645478" y="1703357"/>
                </a:moveTo>
                <a:cubicBezTo>
                  <a:pt x="1646921" y="1706345"/>
                  <a:pt x="1644242" y="1706345"/>
                  <a:pt x="1641563" y="1707288"/>
                </a:cubicBezTo>
                <a:cubicBezTo>
                  <a:pt x="1646921" y="1711219"/>
                  <a:pt x="1645478" y="1713263"/>
                  <a:pt x="1648157" y="1714206"/>
                </a:cubicBezTo>
                <a:cubicBezTo>
                  <a:pt x="1645478" y="1711219"/>
                  <a:pt x="1650837" y="1704301"/>
                  <a:pt x="1645478" y="1703357"/>
                </a:cubicBezTo>
                <a:close/>
                <a:moveTo>
                  <a:pt x="41269" y="1700583"/>
                </a:moveTo>
                <a:cubicBezTo>
                  <a:pt x="45226" y="1707390"/>
                  <a:pt x="34605" y="1714196"/>
                  <a:pt x="29400" y="1719147"/>
                </a:cubicBezTo>
                <a:cubicBezTo>
                  <a:pt x="25443" y="1712340"/>
                  <a:pt x="41269" y="1708318"/>
                  <a:pt x="41269" y="1700583"/>
                </a:cubicBezTo>
                <a:close/>
                <a:moveTo>
                  <a:pt x="1739122" y="1699197"/>
                </a:moveTo>
                <a:cubicBezTo>
                  <a:pt x="1741746" y="1706154"/>
                  <a:pt x="1736698" y="1708051"/>
                  <a:pt x="1734074" y="1705047"/>
                </a:cubicBezTo>
                <a:cubicBezTo>
                  <a:pt x="1732861" y="1700145"/>
                  <a:pt x="1735285" y="1700145"/>
                  <a:pt x="1739122" y="1699197"/>
                </a:cubicBezTo>
                <a:close/>
                <a:moveTo>
                  <a:pt x="71523" y="1697117"/>
                </a:moveTo>
                <a:cubicBezTo>
                  <a:pt x="75466" y="1702971"/>
                  <a:pt x="82109" y="1697117"/>
                  <a:pt x="89997" y="1697117"/>
                </a:cubicBezTo>
                <a:cubicBezTo>
                  <a:pt x="95186" y="1700968"/>
                  <a:pt x="99129" y="1705898"/>
                  <a:pt x="107017" y="1701893"/>
                </a:cubicBezTo>
                <a:cubicBezTo>
                  <a:pt x="101828" y="1706822"/>
                  <a:pt x="97884" y="1711753"/>
                  <a:pt x="89997" y="1713601"/>
                </a:cubicBezTo>
                <a:cubicBezTo>
                  <a:pt x="92487" y="1708826"/>
                  <a:pt x="96431" y="1701893"/>
                  <a:pt x="74221" y="1703896"/>
                </a:cubicBezTo>
                <a:cubicBezTo>
                  <a:pt x="72976" y="1705898"/>
                  <a:pt x="76712" y="1706822"/>
                  <a:pt x="75466" y="1708826"/>
                </a:cubicBezTo>
                <a:cubicBezTo>
                  <a:pt x="66334" y="1707747"/>
                  <a:pt x="69032" y="1699120"/>
                  <a:pt x="71523" y="1697117"/>
                </a:cubicBezTo>
                <a:close/>
                <a:moveTo>
                  <a:pt x="1715830" y="1696345"/>
                </a:moveTo>
                <a:cubicBezTo>
                  <a:pt x="1717249" y="1696345"/>
                  <a:pt x="1718466" y="1699328"/>
                  <a:pt x="1721101" y="1699328"/>
                </a:cubicBezTo>
                <a:cubicBezTo>
                  <a:pt x="1721101" y="1702153"/>
                  <a:pt x="1719682" y="1703251"/>
                  <a:pt x="1721101" y="1706234"/>
                </a:cubicBezTo>
                <a:cubicBezTo>
                  <a:pt x="1723535" y="1708117"/>
                  <a:pt x="1730023" y="1704193"/>
                  <a:pt x="1732659" y="1717065"/>
                </a:cubicBezTo>
                <a:cubicBezTo>
                  <a:pt x="1727387" y="1716123"/>
                  <a:pt x="1727387" y="1710158"/>
                  <a:pt x="1719682" y="1712198"/>
                </a:cubicBezTo>
                <a:cubicBezTo>
                  <a:pt x="1718466" y="1699328"/>
                  <a:pt x="1715830" y="1708117"/>
                  <a:pt x="1709544" y="1700269"/>
                </a:cubicBezTo>
                <a:cubicBezTo>
                  <a:pt x="1708327" y="1692264"/>
                  <a:pt x="1721101" y="1707176"/>
                  <a:pt x="1715830" y="1696345"/>
                </a:cubicBezTo>
                <a:close/>
                <a:moveTo>
                  <a:pt x="1678040" y="1695339"/>
                </a:moveTo>
                <a:cubicBezTo>
                  <a:pt x="1681955" y="1702257"/>
                  <a:pt x="1685871" y="1702257"/>
                  <a:pt x="1689787" y="1703357"/>
                </a:cubicBezTo>
                <a:cubicBezTo>
                  <a:pt x="1688551" y="1700370"/>
                  <a:pt x="1689787" y="1699427"/>
                  <a:pt x="1689787" y="1696440"/>
                </a:cubicBezTo>
                <a:cubicBezTo>
                  <a:pt x="1685871" y="1696440"/>
                  <a:pt x="1681955" y="1694396"/>
                  <a:pt x="1678040" y="1695339"/>
                </a:cubicBezTo>
                <a:close/>
                <a:moveTo>
                  <a:pt x="1654546" y="1691409"/>
                </a:moveTo>
                <a:cubicBezTo>
                  <a:pt x="1652073" y="1695339"/>
                  <a:pt x="1645478" y="1688422"/>
                  <a:pt x="1648157" y="1694396"/>
                </a:cubicBezTo>
                <a:cubicBezTo>
                  <a:pt x="1654546" y="1694396"/>
                  <a:pt x="1655989" y="1697384"/>
                  <a:pt x="1654546" y="1704301"/>
                </a:cubicBezTo>
                <a:cubicBezTo>
                  <a:pt x="1658462" y="1701314"/>
                  <a:pt x="1662378" y="1709332"/>
                  <a:pt x="1662378" y="1703357"/>
                </a:cubicBezTo>
                <a:cubicBezTo>
                  <a:pt x="1659904" y="1698327"/>
                  <a:pt x="1657225" y="1698327"/>
                  <a:pt x="1654546" y="1691409"/>
                </a:cubicBezTo>
                <a:close/>
                <a:moveTo>
                  <a:pt x="1724036" y="1691142"/>
                </a:moveTo>
                <a:cubicBezTo>
                  <a:pt x="1726301" y="1691505"/>
                  <a:pt x="1729204" y="1692691"/>
                  <a:pt x="1731749" y="1692156"/>
                </a:cubicBezTo>
                <a:cubicBezTo>
                  <a:pt x="1731749" y="1697054"/>
                  <a:pt x="1726658" y="1697972"/>
                  <a:pt x="1722788" y="1699044"/>
                </a:cubicBezTo>
                <a:cubicBezTo>
                  <a:pt x="1722788" y="1696135"/>
                  <a:pt x="1721566" y="1695064"/>
                  <a:pt x="1720140" y="1695064"/>
                </a:cubicBezTo>
                <a:cubicBezTo>
                  <a:pt x="1720140" y="1691238"/>
                  <a:pt x="1721770" y="1690778"/>
                  <a:pt x="1724036" y="1691142"/>
                </a:cubicBezTo>
                <a:close/>
                <a:moveTo>
                  <a:pt x="1689787" y="1684491"/>
                </a:moveTo>
                <a:cubicBezTo>
                  <a:pt x="1693703" y="1689365"/>
                  <a:pt x="1683398" y="1684491"/>
                  <a:pt x="1687314" y="1690465"/>
                </a:cubicBezTo>
                <a:cubicBezTo>
                  <a:pt x="1692465" y="1690465"/>
                  <a:pt x="1688551" y="1693453"/>
                  <a:pt x="1692465" y="1700370"/>
                </a:cubicBezTo>
                <a:cubicBezTo>
                  <a:pt x="1697618" y="1698327"/>
                  <a:pt x="1692465" y="1688422"/>
                  <a:pt x="1689787" y="1684491"/>
                </a:cubicBezTo>
                <a:close/>
                <a:moveTo>
                  <a:pt x="1672888" y="1670498"/>
                </a:moveTo>
                <a:cubicBezTo>
                  <a:pt x="1674124" y="1673486"/>
                  <a:pt x="1671651" y="1673486"/>
                  <a:pt x="1671651" y="1675529"/>
                </a:cubicBezTo>
                <a:cubicBezTo>
                  <a:pt x="1678040" y="1673486"/>
                  <a:pt x="1676803" y="1687478"/>
                  <a:pt x="1671651" y="1681504"/>
                </a:cubicBezTo>
                <a:cubicBezTo>
                  <a:pt x="1674124" y="1685434"/>
                  <a:pt x="1676803" y="1689365"/>
                  <a:pt x="1680719" y="1690465"/>
                </a:cubicBezTo>
                <a:cubicBezTo>
                  <a:pt x="1676803" y="1681504"/>
                  <a:pt x="1680719" y="1683390"/>
                  <a:pt x="1684634" y="1683390"/>
                </a:cubicBezTo>
                <a:cubicBezTo>
                  <a:pt x="1681955" y="1675529"/>
                  <a:pt x="1676803" y="1676473"/>
                  <a:pt x="1672888" y="1670498"/>
                </a:cubicBezTo>
                <a:close/>
                <a:moveTo>
                  <a:pt x="1660143" y="1667454"/>
                </a:moveTo>
                <a:cubicBezTo>
                  <a:pt x="1659415" y="1667050"/>
                  <a:pt x="1658822" y="1667787"/>
                  <a:pt x="1658462" y="1670498"/>
                </a:cubicBezTo>
                <a:cubicBezTo>
                  <a:pt x="1665056" y="1670498"/>
                  <a:pt x="1662378" y="1688422"/>
                  <a:pt x="1667736" y="1679460"/>
                </a:cubicBezTo>
                <a:cubicBezTo>
                  <a:pt x="1665726" y="1680168"/>
                  <a:pt x="1662326" y="1668671"/>
                  <a:pt x="1660143" y="1667454"/>
                </a:cubicBezTo>
                <a:close/>
                <a:moveTo>
                  <a:pt x="1718686" y="1666613"/>
                </a:moveTo>
                <a:cubicBezTo>
                  <a:pt x="1723879" y="1676485"/>
                  <a:pt x="1729279" y="1667554"/>
                  <a:pt x="1734471" y="1670530"/>
                </a:cubicBezTo>
                <a:cubicBezTo>
                  <a:pt x="1731771" y="1684477"/>
                  <a:pt x="1717440" y="1677425"/>
                  <a:pt x="1713494" y="1689334"/>
                </a:cubicBezTo>
                <a:cubicBezTo>
                  <a:pt x="1708301" y="1689334"/>
                  <a:pt x="1710794" y="1686357"/>
                  <a:pt x="1708301" y="1679462"/>
                </a:cubicBezTo>
                <a:lnTo>
                  <a:pt x="1705601" y="1680403"/>
                </a:lnTo>
                <a:cubicBezTo>
                  <a:pt x="1706847" y="1670530"/>
                  <a:pt x="1713494" y="1675545"/>
                  <a:pt x="1718686" y="1666613"/>
                </a:cubicBezTo>
                <a:close/>
                <a:moveTo>
                  <a:pt x="1818746" y="1665627"/>
                </a:moveTo>
                <a:cubicBezTo>
                  <a:pt x="1819903" y="1671564"/>
                  <a:pt x="1818746" y="1675469"/>
                  <a:pt x="1815084" y="1674376"/>
                </a:cubicBezTo>
                <a:cubicBezTo>
                  <a:pt x="1813735" y="1668595"/>
                  <a:pt x="1815084" y="1664533"/>
                  <a:pt x="1818746" y="1665627"/>
                </a:cubicBezTo>
                <a:close/>
                <a:moveTo>
                  <a:pt x="1845048" y="1664421"/>
                </a:moveTo>
                <a:cubicBezTo>
                  <a:pt x="1847580" y="1663926"/>
                  <a:pt x="1849486" y="1664680"/>
                  <a:pt x="1850790" y="1669679"/>
                </a:cubicBezTo>
                <a:cubicBezTo>
                  <a:pt x="1846979" y="1667616"/>
                  <a:pt x="1841763" y="1668726"/>
                  <a:pt x="1838151" y="1672694"/>
                </a:cubicBezTo>
                <a:cubicBezTo>
                  <a:pt x="1835543" y="1672694"/>
                  <a:pt x="1835543" y="1668726"/>
                  <a:pt x="1835543" y="1666663"/>
                </a:cubicBezTo>
                <a:cubicBezTo>
                  <a:pt x="1839355" y="1666663"/>
                  <a:pt x="1842515" y="1664917"/>
                  <a:pt x="1845048" y="1664421"/>
                </a:cubicBezTo>
                <a:close/>
                <a:moveTo>
                  <a:pt x="1793170" y="1662454"/>
                </a:moveTo>
                <a:cubicBezTo>
                  <a:pt x="1795906" y="1662454"/>
                  <a:pt x="1794643" y="1664315"/>
                  <a:pt x="1793170" y="1664315"/>
                </a:cubicBezTo>
                <a:cubicBezTo>
                  <a:pt x="1794643" y="1666330"/>
                  <a:pt x="1795906" y="1668346"/>
                  <a:pt x="1797168" y="1668346"/>
                </a:cubicBezTo>
                <a:cubicBezTo>
                  <a:pt x="1793170" y="1669277"/>
                  <a:pt x="1785174" y="1674084"/>
                  <a:pt x="1777388" y="1673153"/>
                </a:cubicBezTo>
                <a:cubicBezTo>
                  <a:pt x="1778650" y="1665400"/>
                  <a:pt x="1791908" y="1670207"/>
                  <a:pt x="1793170" y="1662454"/>
                </a:cubicBezTo>
                <a:close/>
                <a:moveTo>
                  <a:pt x="1759606" y="1660604"/>
                </a:moveTo>
                <a:cubicBezTo>
                  <a:pt x="1761927" y="1660939"/>
                  <a:pt x="1764012" y="1662161"/>
                  <a:pt x="1765366" y="1664605"/>
                </a:cubicBezTo>
                <a:cubicBezTo>
                  <a:pt x="1761406" y="1667555"/>
                  <a:pt x="1753486" y="1659794"/>
                  <a:pt x="1754737" y="1673453"/>
                </a:cubicBezTo>
                <a:cubicBezTo>
                  <a:pt x="1750777" y="1675470"/>
                  <a:pt x="1749527" y="1670503"/>
                  <a:pt x="1745567" y="1672522"/>
                </a:cubicBezTo>
                <a:cubicBezTo>
                  <a:pt x="1743535" y="1666585"/>
                  <a:pt x="1752640" y="1659600"/>
                  <a:pt x="1759606" y="1660604"/>
                </a:cubicBezTo>
                <a:close/>
                <a:moveTo>
                  <a:pt x="1674124" y="1657606"/>
                </a:moveTo>
                <a:cubicBezTo>
                  <a:pt x="1680719" y="1667511"/>
                  <a:pt x="1693703" y="1666568"/>
                  <a:pt x="1689787" y="1679460"/>
                </a:cubicBezTo>
                <a:cubicBezTo>
                  <a:pt x="1689787" y="1679460"/>
                  <a:pt x="1689787" y="1679460"/>
                  <a:pt x="1696382" y="1678517"/>
                </a:cubicBezTo>
                <a:cubicBezTo>
                  <a:pt x="1693703" y="1667511"/>
                  <a:pt x="1687314" y="1671599"/>
                  <a:pt x="1685871" y="1659650"/>
                </a:cubicBezTo>
                <a:cubicBezTo>
                  <a:pt x="1680719" y="1659650"/>
                  <a:pt x="1680719" y="1658550"/>
                  <a:pt x="1674124" y="1657606"/>
                </a:cubicBezTo>
                <a:close/>
                <a:moveTo>
                  <a:pt x="1793832" y="1656163"/>
                </a:moveTo>
                <a:lnTo>
                  <a:pt x="1792834" y="1657986"/>
                </a:lnTo>
                <a:cubicBezTo>
                  <a:pt x="1792834" y="1657514"/>
                  <a:pt x="1792834" y="1656768"/>
                  <a:pt x="1793016" y="1656277"/>
                </a:cubicBezTo>
                <a:close/>
                <a:moveTo>
                  <a:pt x="1701534" y="1650689"/>
                </a:moveTo>
                <a:cubicBezTo>
                  <a:pt x="1701534" y="1650689"/>
                  <a:pt x="1701534" y="1650689"/>
                  <a:pt x="1702770" y="1656663"/>
                </a:cubicBezTo>
                <a:cubicBezTo>
                  <a:pt x="1705449" y="1651632"/>
                  <a:pt x="1710601" y="1657606"/>
                  <a:pt x="1711838" y="1651632"/>
                </a:cubicBezTo>
                <a:cubicBezTo>
                  <a:pt x="1708129" y="1651632"/>
                  <a:pt x="1705449" y="1649589"/>
                  <a:pt x="1701534" y="1650689"/>
                </a:cubicBezTo>
                <a:close/>
                <a:moveTo>
                  <a:pt x="1819040" y="1649975"/>
                </a:moveTo>
                <a:cubicBezTo>
                  <a:pt x="1820278" y="1656101"/>
                  <a:pt x="1815119" y="1655001"/>
                  <a:pt x="1816357" y="1660027"/>
                </a:cubicBezTo>
                <a:cubicBezTo>
                  <a:pt x="1820278" y="1660027"/>
                  <a:pt x="1821516" y="1657043"/>
                  <a:pt x="1820278" y="1652017"/>
                </a:cubicBezTo>
                <a:cubicBezTo>
                  <a:pt x="1828118" y="1657043"/>
                  <a:pt x="1832039" y="1651075"/>
                  <a:pt x="1839880" y="1657043"/>
                </a:cubicBezTo>
                <a:cubicBezTo>
                  <a:pt x="1834722" y="1669922"/>
                  <a:pt x="1824198" y="1653116"/>
                  <a:pt x="1819040" y="1658928"/>
                </a:cubicBezTo>
                <a:cubicBezTo>
                  <a:pt x="1819040" y="1663011"/>
                  <a:pt x="1821516" y="1663011"/>
                  <a:pt x="1822960" y="1663011"/>
                </a:cubicBezTo>
                <a:cubicBezTo>
                  <a:pt x="1821516" y="1667881"/>
                  <a:pt x="1811199" y="1664896"/>
                  <a:pt x="1807279" y="1657986"/>
                </a:cubicBezTo>
                <a:cubicBezTo>
                  <a:pt x="1803358" y="1658928"/>
                  <a:pt x="1800676" y="1660969"/>
                  <a:pt x="1800676" y="1663954"/>
                </a:cubicBezTo>
                <a:cubicBezTo>
                  <a:pt x="1796755" y="1663011"/>
                  <a:pt x="1798200" y="1657043"/>
                  <a:pt x="1792834" y="1660027"/>
                </a:cubicBezTo>
                <a:cubicBezTo>
                  <a:pt x="1792834" y="1657986"/>
                  <a:pt x="1794279" y="1657986"/>
                  <a:pt x="1794279" y="1656101"/>
                </a:cubicBezTo>
                <a:lnTo>
                  <a:pt x="1793832" y="1656163"/>
                </a:lnTo>
                <a:lnTo>
                  <a:pt x="1795465" y="1653175"/>
                </a:lnTo>
                <a:cubicBezTo>
                  <a:pt x="1797116" y="1652292"/>
                  <a:pt x="1799437" y="1652017"/>
                  <a:pt x="1802120" y="1652017"/>
                </a:cubicBezTo>
                <a:cubicBezTo>
                  <a:pt x="1807279" y="1652017"/>
                  <a:pt x="1813675" y="1653116"/>
                  <a:pt x="1819040" y="1649975"/>
                </a:cubicBezTo>
                <a:close/>
                <a:moveTo>
                  <a:pt x="1841696" y="1637669"/>
                </a:moveTo>
                <a:cubicBezTo>
                  <a:pt x="1837958" y="1641546"/>
                  <a:pt x="1834012" y="1645423"/>
                  <a:pt x="1827365" y="1646353"/>
                </a:cubicBezTo>
                <a:cubicBezTo>
                  <a:pt x="1827365" y="1638599"/>
                  <a:pt x="1837958" y="1634723"/>
                  <a:pt x="1841696" y="1637669"/>
                </a:cubicBezTo>
                <a:close/>
                <a:moveTo>
                  <a:pt x="1852323" y="1636953"/>
                </a:moveTo>
                <a:cubicBezTo>
                  <a:pt x="1855143" y="1636345"/>
                  <a:pt x="1864268" y="1639540"/>
                  <a:pt x="1866236" y="1641064"/>
                </a:cubicBezTo>
                <a:cubicBezTo>
                  <a:pt x="1860987" y="1649818"/>
                  <a:pt x="1858563" y="1636999"/>
                  <a:pt x="1852102" y="1639032"/>
                </a:cubicBezTo>
                <a:cubicBezTo>
                  <a:pt x="1851142" y="1637781"/>
                  <a:pt x="1851382" y="1637156"/>
                  <a:pt x="1852323" y="1636953"/>
                </a:cubicBezTo>
                <a:close/>
                <a:moveTo>
                  <a:pt x="2372369" y="1631657"/>
                </a:moveTo>
                <a:cubicBezTo>
                  <a:pt x="2369879" y="1640562"/>
                  <a:pt x="2354109" y="1641499"/>
                  <a:pt x="2346224" y="1638531"/>
                </a:cubicBezTo>
                <a:cubicBezTo>
                  <a:pt x="2352864" y="1630563"/>
                  <a:pt x="2361994" y="1630563"/>
                  <a:pt x="2372369" y="1631657"/>
                </a:cubicBezTo>
                <a:close/>
                <a:moveTo>
                  <a:pt x="2412352" y="1628721"/>
                </a:moveTo>
                <a:cubicBezTo>
                  <a:pt x="2407209" y="1636644"/>
                  <a:pt x="2394247" y="1636644"/>
                  <a:pt x="2379845" y="1636644"/>
                </a:cubicBezTo>
                <a:cubicBezTo>
                  <a:pt x="2382520" y="1625710"/>
                  <a:pt x="2399390" y="1630623"/>
                  <a:pt x="2412352" y="1628721"/>
                </a:cubicBezTo>
                <a:close/>
                <a:moveTo>
                  <a:pt x="2116676" y="1617934"/>
                </a:moveTo>
                <a:cubicBezTo>
                  <a:pt x="2120832" y="1617548"/>
                  <a:pt x="2125294" y="1619092"/>
                  <a:pt x="2129754" y="1622179"/>
                </a:cubicBezTo>
                <a:cubicBezTo>
                  <a:pt x="2125902" y="1622179"/>
                  <a:pt x="2122049" y="1623154"/>
                  <a:pt x="2119616" y="1624129"/>
                </a:cubicBezTo>
                <a:cubicBezTo>
                  <a:pt x="2115763" y="1625266"/>
                  <a:pt x="2111911" y="1626242"/>
                  <a:pt x="2105422" y="1625266"/>
                </a:cubicBezTo>
                <a:cubicBezTo>
                  <a:pt x="2108667" y="1620635"/>
                  <a:pt x="2112519" y="1618320"/>
                  <a:pt x="2116676" y="1617934"/>
                </a:cubicBezTo>
                <a:close/>
                <a:moveTo>
                  <a:pt x="2448054" y="1607492"/>
                </a:moveTo>
                <a:lnTo>
                  <a:pt x="2446673" y="1608243"/>
                </a:lnTo>
                <a:lnTo>
                  <a:pt x="2447878" y="1609256"/>
                </a:lnTo>
                <a:lnTo>
                  <a:pt x="2449474" y="1607560"/>
                </a:lnTo>
                <a:close/>
                <a:moveTo>
                  <a:pt x="2719491" y="1595206"/>
                </a:moveTo>
                <a:cubicBezTo>
                  <a:pt x="2715655" y="1600209"/>
                  <a:pt x="2711818" y="1610996"/>
                  <a:pt x="2702933" y="1607087"/>
                </a:cubicBezTo>
                <a:cubicBezTo>
                  <a:pt x="2701519" y="1600209"/>
                  <a:pt x="2709193" y="1597239"/>
                  <a:pt x="2719491" y="1595206"/>
                </a:cubicBezTo>
                <a:close/>
                <a:moveTo>
                  <a:pt x="216267" y="1595206"/>
                </a:moveTo>
                <a:cubicBezTo>
                  <a:pt x="220213" y="1597209"/>
                  <a:pt x="221459" y="1600137"/>
                  <a:pt x="225405" y="1596131"/>
                </a:cubicBezTo>
                <a:cubicBezTo>
                  <a:pt x="230598" y="1598134"/>
                  <a:pt x="220213" y="1599058"/>
                  <a:pt x="221459" y="1601985"/>
                </a:cubicBezTo>
                <a:cubicBezTo>
                  <a:pt x="217513" y="1601061"/>
                  <a:pt x="216267" y="1599058"/>
                  <a:pt x="216267" y="1595206"/>
                </a:cubicBezTo>
                <a:close/>
                <a:moveTo>
                  <a:pt x="1892846" y="1595000"/>
                </a:moveTo>
                <a:cubicBezTo>
                  <a:pt x="1889251" y="1596260"/>
                  <a:pt x="1889484" y="1600771"/>
                  <a:pt x="1887629" y="1602894"/>
                </a:cubicBezTo>
                <a:cubicBezTo>
                  <a:pt x="1884950" y="1603994"/>
                  <a:pt x="1883713" y="1602894"/>
                  <a:pt x="1882271" y="1605881"/>
                </a:cubicBezTo>
                <a:cubicBezTo>
                  <a:pt x="1891545" y="1606981"/>
                  <a:pt x="1894017" y="1601007"/>
                  <a:pt x="1897933" y="1595032"/>
                </a:cubicBezTo>
                <a:cubicBezTo>
                  <a:pt x="1895667" y="1594521"/>
                  <a:pt x="1894043" y="1594580"/>
                  <a:pt x="1892846" y="1595000"/>
                </a:cubicBezTo>
                <a:close/>
                <a:moveTo>
                  <a:pt x="1853625" y="1592988"/>
                </a:moveTo>
                <a:cubicBezTo>
                  <a:pt x="1854964" y="1596526"/>
                  <a:pt x="1854655" y="1598766"/>
                  <a:pt x="1854011" y="1600751"/>
                </a:cubicBezTo>
                <a:lnTo>
                  <a:pt x="1853704" y="1601930"/>
                </a:lnTo>
                <a:lnTo>
                  <a:pt x="1856865" y="1605264"/>
                </a:lnTo>
                <a:lnTo>
                  <a:pt x="1857309" y="1604584"/>
                </a:lnTo>
                <a:cubicBezTo>
                  <a:pt x="1857953" y="1602736"/>
                  <a:pt x="1858262" y="1600535"/>
                  <a:pt x="1860220" y="1600063"/>
                </a:cubicBezTo>
                <a:cubicBezTo>
                  <a:pt x="1860220" y="1601007"/>
                  <a:pt x="1862899" y="1601950"/>
                  <a:pt x="1862899" y="1600063"/>
                </a:cubicBezTo>
                <a:cubicBezTo>
                  <a:pt x="1857540" y="1601007"/>
                  <a:pt x="1861456" y="1591102"/>
                  <a:pt x="1853625" y="1592988"/>
                </a:cubicBezTo>
                <a:close/>
                <a:moveTo>
                  <a:pt x="2576823" y="1590354"/>
                </a:moveTo>
                <a:cubicBezTo>
                  <a:pt x="2573093" y="1593393"/>
                  <a:pt x="2574336" y="1600593"/>
                  <a:pt x="2565217" y="1600593"/>
                </a:cubicBezTo>
                <a:cubicBezTo>
                  <a:pt x="2565217" y="1591473"/>
                  <a:pt x="2565217" y="1591473"/>
                  <a:pt x="2565217" y="1591473"/>
                </a:cubicBezTo>
                <a:cubicBezTo>
                  <a:pt x="2569154" y="1591473"/>
                  <a:pt x="2573093" y="1590354"/>
                  <a:pt x="2576823" y="1590354"/>
                </a:cubicBezTo>
                <a:close/>
                <a:moveTo>
                  <a:pt x="2091776" y="1589048"/>
                </a:moveTo>
                <a:lnTo>
                  <a:pt x="2091335" y="1592126"/>
                </a:lnTo>
                <a:cubicBezTo>
                  <a:pt x="2090765" y="1595878"/>
                  <a:pt x="2090108" y="1596290"/>
                  <a:pt x="2084234" y="1600063"/>
                </a:cubicBezTo>
                <a:cubicBezTo>
                  <a:pt x="2092066" y="1595032"/>
                  <a:pt x="2098455" y="1605881"/>
                  <a:pt x="2103813" y="1597076"/>
                </a:cubicBezTo>
                <a:cubicBezTo>
                  <a:pt x="2098558" y="1595583"/>
                  <a:pt x="2096909" y="1593578"/>
                  <a:pt x="2096239" y="1590827"/>
                </a:cubicBezTo>
                <a:lnTo>
                  <a:pt x="2096022" y="1589455"/>
                </a:lnTo>
                <a:close/>
                <a:moveTo>
                  <a:pt x="2029391" y="1584095"/>
                </a:moveTo>
                <a:lnTo>
                  <a:pt x="2029416" y="1584184"/>
                </a:lnTo>
                <a:lnTo>
                  <a:pt x="2030632" y="1584161"/>
                </a:lnTo>
                <a:close/>
                <a:moveTo>
                  <a:pt x="2018014" y="1582586"/>
                </a:moveTo>
                <a:lnTo>
                  <a:pt x="2017875" y="1583084"/>
                </a:lnTo>
                <a:lnTo>
                  <a:pt x="2020101" y="1582890"/>
                </a:lnTo>
                <a:close/>
                <a:moveTo>
                  <a:pt x="2003546" y="1580477"/>
                </a:moveTo>
                <a:lnTo>
                  <a:pt x="2003449" y="1581197"/>
                </a:lnTo>
                <a:cubicBezTo>
                  <a:pt x="2007365" y="1580096"/>
                  <a:pt x="2007365" y="1583084"/>
                  <a:pt x="2011280" y="1583084"/>
                </a:cubicBezTo>
                <a:lnTo>
                  <a:pt x="2011743" y="1581672"/>
                </a:lnTo>
                <a:close/>
                <a:moveTo>
                  <a:pt x="2547869" y="1579743"/>
                </a:moveTo>
                <a:cubicBezTo>
                  <a:pt x="2555729" y="1579771"/>
                  <a:pt x="2563301" y="1580285"/>
                  <a:pt x="2570463" y="1581550"/>
                </a:cubicBezTo>
                <a:cubicBezTo>
                  <a:pt x="2559437" y="1599978"/>
                  <a:pt x="2538264" y="1606701"/>
                  <a:pt x="2515131" y="1608698"/>
                </a:cubicBezTo>
                <a:lnTo>
                  <a:pt x="2509843" y="1608747"/>
                </a:lnTo>
                <a:lnTo>
                  <a:pt x="2508894" y="1608918"/>
                </a:lnTo>
                <a:cubicBezTo>
                  <a:pt x="2498876" y="1609996"/>
                  <a:pt x="2487910" y="1610227"/>
                  <a:pt x="2478892" y="1611691"/>
                </a:cubicBezTo>
                <a:lnTo>
                  <a:pt x="2478892" y="1608970"/>
                </a:lnTo>
                <a:lnTo>
                  <a:pt x="2457657" y="1607952"/>
                </a:lnTo>
                <a:lnTo>
                  <a:pt x="2457684" y="1608058"/>
                </a:lnTo>
                <a:cubicBezTo>
                  <a:pt x="2457057" y="1609094"/>
                  <a:pt x="2456104" y="1610394"/>
                  <a:pt x="2456706" y="1613481"/>
                </a:cubicBezTo>
                <a:cubicBezTo>
                  <a:pt x="2447878" y="1614455"/>
                  <a:pt x="2447878" y="1614455"/>
                  <a:pt x="2447878" y="1614455"/>
                </a:cubicBezTo>
                <a:cubicBezTo>
                  <a:pt x="2447878" y="1611369"/>
                  <a:pt x="2447878" y="1610393"/>
                  <a:pt x="2445270" y="1609256"/>
                </a:cubicBezTo>
                <a:lnTo>
                  <a:pt x="2446115" y="1608545"/>
                </a:lnTo>
                <a:lnTo>
                  <a:pt x="2429713" y="1617457"/>
                </a:lnTo>
                <a:cubicBezTo>
                  <a:pt x="2403748" y="1616509"/>
                  <a:pt x="2380255" y="1617457"/>
                  <a:pt x="2358204" y="1619514"/>
                </a:cubicBezTo>
                <a:cubicBezTo>
                  <a:pt x="2335948" y="1622519"/>
                  <a:pt x="2313898" y="1625525"/>
                  <a:pt x="2294321" y="1627423"/>
                </a:cubicBezTo>
                <a:cubicBezTo>
                  <a:pt x="2252694" y="1631377"/>
                  <a:pt x="2213746" y="1632485"/>
                  <a:pt x="2177270" y="1613503"/>
                </a:cubicBezTo>
                <a:cubicBezTo>
                  <a:pt x="2162845" y="1618406"/>
                  <a:pt x="2152335" y="1612396"/>
                  <a:pt x="2135437" y="1617457"/>
                </a:cubicBezTo>
                <a:cubicBezTo>
                  <a:pt x="2132964" y="1616509"/>
                  <a:pt x="2131521" y="1615401"/>
                  <a:pt x="2131521" y="1612396"/>
                </a:cubicBezTo>
                <a:cubicBezTo>
                  <a:pt x="2129048" y="1609390"/>
                  <a:pt x="2134200" y="1601481"/>
                  <a:pt x="2138116" y="1596419"/>
                </a:cubicBezTo>
                <a:cubicBezTo>
                  <a:pt x="2151098" y="1606385"/>
                  <a:pt x="2152335" y="1590409"/>
                  <a:pt x="2158929" y="1603380"/>
                </a:cubicBezTo>
                <a:cubicBezTo>
                  <a:pt x="2181340" y="1597448"/>
                  <a:pt x="2205258" y="1603261"/>
                  <a:pt x="2228508" y="1605271"/>
                </a:cubicBezTo>
                <a:lnTo>
                  <a:pt x="2236738" y="1605330"/>
                </a:lnTo>
                <a:lnTo>
                  <a:pt x="2236719" y="1604869"/>
                </a:lnTo>
                <a:cubicBezTo>
                  <a:pt x="2239745" y="1602024"/>
                  <a:pt x="2251026" y="1604335"/>
                  <a:pt x="2257874" y="1602833"/>
                </a:cubicBezTo>
                <a:lnTo>
                  <a:pt x="2257226" y="1604136"/>
                </a:lnTo>
                <a:lnTo>
                  <a:pt x="2271730" y="1600868"/>
                </a:lnTo>
                <a:cubicBezTo>
                  <a:pt x="2278711" y="1598752"/>
                  <a:pt x="2285872" y="1596498"/>
                  <a:pt x="2293084" y="1595470"/>
                </a:cubicBezTo>
                <a:cubicBezTo>
                  <a:pt x="2307716" y="1593216"/>
                  <a:pt x="2322605" y="1591713"/>
                  <a:pt x="2337623" y="1590665"/>
                </a:cubicBezTo>
                <a:lnTo>
                  <a:pt x="2344918" y="1590331"/>
                </a:lnTo>
                <a:lnTo>
                  <a:pt x="2345084" y="1590297"/>
                </a:lnTo>
                <a:cubicBezTo>
                  <a:pt x="2358185" y="1588930"/>
                  <a:pt x="2370704" y="1590618"/>
                  <a:pt x="2385433" y="1586194"/>
                </a:cubicBezTo>
                <a:lnTo>
                  <a:pt x="2386158" y="1588478"/>
                </a:lnTo>
                <a:lnTo>
                  <a:pt x="2472783" y="1585505"/>
                </a:lnTo>
                <a:cubicBezTo>
                  <a:pt x="2498130" y="1583963"/>
                  <a:pt x="2524289" y="1579662"/>
                  <a:pt x="2547869" y="1579743"/>
                </a:cubicBezTo>
                <a:close/>
                <a:moveTo>
                  <a:pt x="1990936" y="1577389"/>
                </a:moveTo>
                <a:lnTo>
                  <a:pt x="1990466" y="1578210"/>
                </a:lnTo>
                <a:cubicBezTo>
                  <a:pt x="1991702" y="1578210"/>
                  <a:pt x="1992939" y="1580096"/>
                  <a:pt x="1991702" y="1583084"/>
                </a:cubicBezTo>
                <a:lnTo>
                  <a:pt x="1998648" y="1579351"/>
                </a:lnTo>
                <a:close/>
                <a:moveTo>
                  <a:pt x="2659515" y="1576029"/>
                </a:moveTo>
                <a:cubicBezTo>
                  <a:pt x="2643893" y="1584103"/>
                  <a:pt x="2614091" y="1592969"/>
                  <a:pt x="2590660" y="1589961"/>
                </a:cubicBezTo>
                <a:cubicBezTo>
                  <a:pt x="2611419" y="1578088"/>
                  <a:pt x="2630945" y="1573022"/>
                  <a:pt x="2659515" y="1576029"/>
                </a:cubicBezTo>
                <a:close/>
                <a:moveTo>
                  <a:pt x="1949081" y="1573398"/>
                </a:moveTo>
                <a:lnTo>
                  <a:pt x="1943169" y="1576229"/>
                </a:lnTo>
                <a:lnTo>
                  <a:pt x="1942950" y="1578384"/>
                </a:lnTo>
                <a:cubicBezTo>
                  <a:pt x="1944303" y="1581738"/>
                  <a:pt x="1949712" y="1580647"/>
                  <a:pt x="1944921" y="1585127"/>
                </a:cubicBezTo>
                <a:cubicBezTo>
                  <a:pt x="1944921" y="1585127"/>
                  <a:pt x="1944921" y="1585127"/>
                  <a:pt x="1961820" y="1585127"/>
                </a:cubicBezTo>
                <a:cubicBezTo>
                  <a:pt x="1960583" y="1578210"/>
                  <a:pt x="1966972" y="1580096"/>
                  <a:pt x="1966972" y="1575223"/>
                </a:cubicBezTo>
                <a:cubicBezTo>
                  <a:pt x="1956461" y="1579153"/>
                  <a:pt x="1960583" y="1583084"/>
                  <a:pt x="1948836" y="1583084"/>
                </a:cubicBezTo>
                <a:cubicBezTo>
                  <a:pt x="1949764" y="1579429"/>
                  <a:pt x="1952894" y="1579576"/>
                  <a:pt x="1953879" y="1576959"/>
                </a:cubicBezTo>
                <a:lnTo>
                  <a:pt x="1953977" y="1573553"/>
                </a:lnTo>
                <a:close/>
                <a:moveTo>
                  <a:pt x="2086708" y="1570192"/>
                </a:moveTo>
                <a:cubicBezTo>
                  <a:pt x="2085471" y="1574122"/>
                  <a:pt x="2084234" y="1580096"/>
                  <a:pt x="2080318" y="1581197"/>
                </a:cubicBezTo>
                <a:cubicBezTo>
                  <a:pt x="2080318" y="1578210"/>
                  <a:pt x="2080318" y="1576165"/>
                  <a:pt x="2076403" y="1576165"/>
                </a:cubicBezTo>
                <a:cubicBezTo>
                  <a:pt x="2076403" y="1576165"/>
                  <a:pt x="2076403" y="1576165"/>
                  <a:pt x="2075167" y="1583084"/>
                </a:cubicBezTo>
                <a:cubicBezTo>
                  <a:pt x="2080318" y="1582140"/>
                  <a:pt x="2083565" y="1582887"/>
                  <a:pt x="2086013" y="1583988"/>
                </a:cubicBezTo>
                <a:lnTo>
                  <a:pt x="2088971" y="1585467"/>
                </a:lnTo>
                <a:lnTo>
                  <a:pt x="2095399" y="1585524"/>
                </a:lnTo>
                <a:lnTo>
                  <a:pt x="2094539" y="1580096"/>
                </a:lnTo>
                <a:cubicBezTo>
                  <a:pt x="2099897" y="1580096"/>
                  <a:pt x="2099897" y="1584184"/>
                  <a:pt x="2103813" y="1585127"/>
                </a:cubicBezTo>
                <a:cubicBezTo>
                  <a:pt x="2106286" y="1574122"/>
                  <a:pt x="2092066" y="1575223"/>
                  <a:pt x="2086708" y="1570192"/>
                </a:cubicBezTo>
                <a:close/>
                <a:moveTo>
                  <a:pt x="2007365" y="1569248"/>
                </a:moveTo>
                <a:lnTo>
                  <a:pt x="2005922" y="1571613"/>
                </a:lnTo>
                <a:lnTo>
                  <a:pt x="2014821" y="1572635"/>
                </a:lnTo>
                <a:lnTo>
                  <a:pt x="2013701" y="1571332"/>
                </a:lnTo>
                <a:cubicBezTo>
                  <a:pt x="2012568" y="1569720"/>
                  <a:pt x="2011280" y="1568227"/>
                  <a:pt x="2007365" y="1569248"/>
                </a:cubicBezTo>
                <a:close/>
                <a:moveTo>
                  <a:pt x="2025706" y="1565160"/>
                </a:moveTo>
                <a:cubicBezTo>
                  <a:pt x="2023748" y="1565711"/>
                  <a:pt x="2023388" y="1567952"/>
                  <a:pt x="2022872" y="1570054"/>
                </a:cubicBezTo>
                <a:lnTo>
                  <a:pt x="2019943" y="1573223"/>
                </a:lnTo>
                <a:lnTo>
                  <a:pt x="2030348" y="1574418"/>
                </a:lnTo>
                <a:lnTo>
                  <a:pt x="2030858" y="1574122"/>
                </a:lnTo>
                <a:lnTo>
                  <a:pt x="2030738" y="1574463"/>
                </a:lnTo>
                <a:lnTo>
                  <a:pt x="2035103" y="1574964"/>
                </a:lnTo>
                <a:lnTo>
                  <a:pt x="2035263" y="1572923"/>
                </a:lnTo>
                <a:cubicBezTo>
                  <a:pt x="2036732" y="1570938"/>
                  <a:pt x="2038690" y="1568698"/>
                  <a:pt x="2038690" y="1565160"/>
                </a:cubicBezTo>
                <a:cubicBezTo>
                  <a:pt x="2030858" y="1563274"/>
                  <a:pt x="2030858" y="1570192"/>
                  <a:pt x="2026943" y="1572235"/>
                </a:cubicBezTo>
                <a:cubicBezTo>
                  <a:pt x="2026943" y="1569248"/>
                  <a:pt x="2028180" y="1565160"/>
                  <a:pt x="2025706" y="1565160"/>
                </a:cubicBezTo>
                <a:close/>
                <a:moveTo>
                  <a:pt x="2054146" y="1563274"/>
                </a:moveTo>
                <a:cubicBezTo>
                  <a:pt x="2048994" y="1572235"/>
                  <a:pt x="2055589" y="1574122"/>
                  <a:pt x="2051673" y="1577109"/>
                </a:cubicBezTo>
                <a:cubicBezTo>
                  <a:pt x="2049097" y="1572629"/>
                  <a:pt x="2046469" y="1572629"/>
                  <a:pt x="2043687" y="1574004"/>
                </a:cubicBezTo>
                <a:lnTo>
                  <a:pt x="2040877" y="1575628"/>
                </a:lnTo>
                <a:lnTo>
                  <a:pt x="2042000" y="1575757"/>
                </a:lnTo>
                <a:cubicBezTo>
                  <a:pt x="2048439" y="1576818"/>
                  <a:pt x="2054671" y="1578095"/>
                  <a:pt x="2060350" y="1579667"/>
                </a:cubicBezTo>
                <a:lnTo>
                  <a:pt x="2060624" y="1579771"/>
                </a:lnTo>
                <a:lnTo>
                  <a:pt x="2061169" y="1578617"/>
                </a:lnTo>
                <a:cubicBezTo>
                  <a:pt x="2061102" y="1575390"/>
                  <a:pt x="2057237" y="1573179"/>
                  <a:pt x="2062183" y="1573179"/>
                </a:cubicBezTo>
                <a:cubicBezTo>
                  <a:pt x="2067336" y="1571685"/>
                  <a:pt x="2066357" y="1574908"/>
                  <a:pt x="2065378" y="1578131"/>
                </a:cubicBezTo>
                <a:lnTo>
                  <a:pt x="2064843" y="1581365"/>
                </a:lnTo>
                <a:lnTo>
                  <a:pt x="2068571" y="1582774"/>
                </a:lnTo>
                <a:lnTo>
                  <a:pt x="2068546" y="1574692"/>
                </a:lnTo>
                <a:cubicBezTo>
                  <a:pt x="2068211" y="1571960"/>
                  <a:pt x="2067233" y="1569720"/>
                  <a:pt x="2064656" y="1569248"/>
                </a:cubicBezTo>
                <a:cubicBezTo>
                  <a:pt x="2059505" y="1576165"/>
                  <a:pt x="2056825" y="1565160"/>
                  <a:pt x="2054146" y="1563274"/>
                </a:cubicBezTo>
                <a:close/>
                <a:moveTo>
                  <a:pt x="2415002" y="1558243"/>
                </a:moveTo>
                <a:cubicBezTo>
                  <a:pt x="2407171" y="1558243"/>
                  <a:pt x="2399339" y="1557299"/>
                  <a:pt x="2398103" y="1563274"/>
                </a:cubicBezTo>
                <a:cubicBezTo>
                  <a:pt x="2404492" y="1565160"/>
                  <a:pt x="2413765" y="1566261"/>
                  <a:pt x="2415002" y="1558243"/>
                </a:cubicBezTo>
                <a:close/>
                <a:moveTo>
                  <a:pt x="2713949" y="1557270"/>
                </a:moveTo>
                <a:lnTo>
                  <a:pt x="2704924" y="1558235"/>
                </a:lnTo>
                <a:cubicBezTo>
                  <a:pt x="2699234" y="1561103"/>
                  <a:pt x="2693342" y="1563316"/>
                  <a:pt x="2687302" y="1564993"/>
                </a:cubicBezTo>
                <a:lnTo>
                  <a:pt x="2679068" y="1566567"/>
                </a:lnTo>
                <a:lnTo>
                  <a:pt x="2683374" y="1566383"/>
                </a:lnTo>
                <a:cubicBezTo>
                  <a:pt x="2691810" y="1564783"/>
                  <a:pt x="2699769" y="1561235"/>
                  <a:pt x="2707053" y="1558833"/>
                </a:cubicBezTo>
                <a:close/>
                <a:moveTo>
                  <a:pt x="2481810" y="1544664"/>
                </a:moveTo>
                <a:lnTo>
                  <a:pt x="2480124" y="1545351"/>
                </a:lnTo>
                <a:lnTo>
                  <a:pt x="2481467" y="1547985"/>
                </a:lnTo>
                <a:lnTo>
                  <a:pt x="2481680" y="1545090"/>
                </a:lnTo>
                <a:close/>
                <a:moveTo>
                  <a:pt x="2236935" y="1541211"/>
                </a:moveTo>
                <a:cubicBezTo>
                  <a:pt x="2235489" y="1541243"/>
                  <a:pt x="2234368" y="1541616"/>
                  <a:pt x="2234059" y="1542364"/>
                </a:cubicBezTo>
                <a:cubicBezTo>
                  <a:pt x="2237768" y="1543307"/>
                  <a:pt x="2235296" y="1548337"/>
                  <a:pt x="2234059" y="1551325"/>
                </a:cubicBezTo>
                <a:cubicBezTo>
                  <a:pt x="2239211" y="1552268"/>
                  <a:pt x="2243127" y="1551325"/>
                  <a:pt x="2245600" y="1549281"/>
                </a:cubicBezTo>
                <a:cubicBezTo>
                  <a:pt x="2247557" y="1545822"/>
                  <a:pt x="2244981" y="1543346"/>
                  <a:pt x="2241761" y="1542108"/>
                </a:cubicBezTo>
                <a:cubicBezTo>
                  <a:pt x="2240151" y="1541489"/>
                  <a:pt x="2238380" y="1541179"/>
                  <a:pt x="2236935" y="1541211"/>
                </a:cubicBezTo>
                <a:close/>
                <a:moveTo>
                  <a:pt x="2541603" y="1533555"/>
                </a:moveTo>
                <a:cubicBezTo>
                  <a:pt x="2540251" y="1534030"/>
                  <a:pt x="2539940" y="1534782"/>
                  <a:pt x="2539966" y="1535673"/>
                </a:cubicBezTo>
                <a:lnTo>
                  <a:pt x="2539994" y="1535884"/>
                </a:lnTo>
                <a:lnTo>
                  <a:pt x="2543651" y="1535443"/>
                </a:lnTo>
                <a:lnTo>
                  <a:pt x="2545226" y="1535711"/>
                </a:lnTo>
                <a:close/>
                <a:moveTo>
                  <a:pt x="2265178" y="1531358"/>
                </a:moveTo>
                <a:cubicBezTo>
                  <a:pt x="2260025" y="1533402"/>
                  <a:pt x="2253430" y="1532459"/>
                  <a:pt x="2250958" y="1536389"/>
                </a:cubicBezTo>
                <a:cubicBezTo>
                  <a:pt x="2262705" y="1537332"/>
                  <a:pt x="2249515" y="1548337"/>
                  <a:pt x="2266621" y="1548337"/>
                </a:cubicBezTo>
                <a:cubicBezTo>
                  <a:pt x="2275688" y="1541420"/>
                  <a:pt x="2266621" y="1536389"/>
                  <a:pt x="2265178" y="1531358"/>
                </a:cubicBezTo>
                <a:close/>
                <a:moveTo>
                  <a:pt x="2205413" y="1529471"/>
                </a:moveTo>
                <a:cubicBezTo>
                  <a:pt x="2196138" y="1526484"/>
                  <a:pt x="2194902" y="1546294"/>
                  <a:pt x="2205413" y="1543307"/>
                </a:cubicBezTo>
                <a:cubicBezTo>
                  <a:pt x="2206649" y="1534345"/>
                  <a:pt x="2198818" y="1536389"/>
                  <a:pt x="2205413" y="1529471"/>
                </a:cubicBezTo>
                <a:close/>
                <a:moveTo>
                  <a:pt x="2171409" y="1529471"/>
                </a:moveTo>
                <a:cubicBezTo>
                  <a:pt x="2155952" y="1529471"/>
                  <a:pt x="2166257" y="1538433"/>
                  <a:pt x="2161104" y="1542364"/>
                </a:cubicBezTo>
                <a:cubicBezTo>
                  <a:pt x="2155952" y="1541420"/>
                  <a:pt x="2161104" y="1534345"/>
                  <a:pt x="2154510" y="1535446"/>
                </a:cubicBezTo>
                <a:cubicBezTo>
                  <a:pt x="2150594" y="1544407"/>
                  <a:pt x="2159662" y="1544407"/>
                  <a:pt x="2167493" y="1545351"/>
                </a:cubicBezTo>
                <a:cubicBezTo>
                  <a:pt x="2171409" y="1535446"/>
                  <a:pt x="2166257" y="1536389"/>
                  <a:pt x="2171409" y="1529471"/>
                </a:cubicBezTo>
                <a:close/>
                <a:moveTo>
                  <a:pt x="2314638" y="1528528"/>
                </a:moveTo>
                <a:cubicBezTo>
                  <a:pt x="2318553" y="1534345"/>
                  <a:pt x="2310722" y="1536389"/>
                  <a:pt x="2316081" y="1540319"/>
                </a:cubicBezTo>
                <a:cubicBezTo>
                  <a:pt x="2322470" y="1539376"/>
                  <a:pt x="2321233" y="1540319"/>
                  <a:pt x="2323912" y="1533402"/>
                </a:cubicBezTo>
                <a:cubicBezTo>
                  <a:pt x="2323912" y="1540319"/>
                  <a:pt x="2338131" y="1536389"/>
                  <a:pt x="2339368" y="1542364"/>
                </a:cubicBezTo>
                <a:cubicBezTo>
                  <a:pt x="2340811" y="1530415"/>
                  <a:pt x="2326384" y="1531358"/>
                  <a:pt x="2314638" y="1528528"/>
                </a:cubicBezTo>
                <a:close/>
                <a:moveTo>
                  <a:pt x="2351115" y="1526484"/>
                </a:moveTo>
                <a:cubicBezTo>
                  <a:pt x="2353795" y="1533402"/>
                  <a:pt x="2353795" y="1538433"/>
                  <a:pt x="2355031" y="1540319"/>
                </a:cubicBezTo>
                <a:cubicBezTo>
                  <a:pt x="2360389" y="1531358"/>
                  <a:pt x="2355031" y="1547394"/>
                  <a:pt x="2360389" y="1545351"/>
                </a:cubicBezTo>
                <a:cubicBezTo>
                  <a:pt x="2360389" y="1539376"/>
                  <a:pt x="2365542" y="1538433"/>
                  <a:pt x="2364304" y="1531358"/>
                </a:cubicBezTo>
                <a:cubicBezTo>
                  <a:pt x="2368014" y="1534345"/>
                  <a:pt x="2375846" y="1533402"/>
                  <a:pt x="2374609" y="1526484"/>
                </a:cubicBezTo>
                <a:cubicBezTo>
                  <a:pt x="2360389" y="1529471"/>
                  <a:pt x="2360389" y="1535446"/>
                  <a:pt x="2351115" y="1526484"/>
                </a:cubicBezTo>
                <a:close/>
                <a:moveTo>
                  <a:pt x="2230143" y="1525541"/>
                </a:moveTo>
                <a:cubicBezTo>
                  <a:pt x="2224785" y="1525541"/>
                  <a:pt x="2214481" y="1534345"/>
                  <a:pt x="2219633" y="1537332"/>
                </a:cubicBezTo>
                <a:cubicBezTo>
                  <a:pt x="2222312" y="1533402"/>
                  <a:pt x="2230143" y="1534345"/>
                  <a:pt x="2230143" y="1525541"/>
                </a:cubicBezTo>
                <a:close/>
                <a:moveTo>
                  <a:pt x="2297693" y="1525462"/>
                </a:moveTo>
                <a:cubicBezTo>
                  <a:pt x="2300721" y="1525150"/>
                  <a:pt x="2303242" y="1525472"/>
                  <a:pt x="2304219" y="1526723"/>
                </a:cubicBezTo>
                <a:cubicBezTo>
                  <a:pt x="2299075" y="1530631"/>
                  <a:pt x="2287348" y="1529692"/>
                  <a:pt x="2284673" y="1537509"/>
                </a:cubicBezTo>
                <a:cubicBezTo>
                  <a:pt x="2274952" y="1533054"/>
                  <a:pt x="2288608" y="1526400"/>
                  <a:pt x="2297693" y="1525462"/>
                </a:cubicBezTo>
                <a:close/>
                <a:moveTo>
                  <a:pt x="2517839" y="1524440"/>
                </a:moveTo>
                <a:cubicBezTo>
                  <a:pt x="2503619" y="1524440"/>
                  <a:pt x="2510008" y="1537332"/>
                  <a:pt x="2520518" y="1535446"/>
                </a:cubicBezTo>
                <a:cubicBezTo>
                  <a:pt x="2521754" y="1530415"/>
                  <a:pt x="2515365" y="1531358"/>
                  <a:pt x="2517839" y="1524440"/>
                </a:cubicBezTo>
                <a:close/>
                <a:moveTo>
                  <a:pt x="2487956" y="1524440"/>
                </a:moveTo>
                <a:cubicBezTo>
                  <a:pt x="2485277" y="1530415"/>
                  <a:pt x="2482598" y="1535446"/>
                  <a:pt x="2477445" y="1539376"/>
                </a:cubicBezTo>
                <a:lnTo>
                  <a:pt x="2483714" y="1538402"/>
                </a:lnTo>
                <a:lnTo>
                  <a:pt x="2484950" y="1534343"/>
                </a:lnTo>
                <a:lnTo>
                  <a:pt x="2488120" y="1533594"/>
                </a:lnTo>
                <a:lnTo>
                  <a:pt x="2487132" y="1533544"/>
                </a:lnTo>
                <a:cubicBezTo>
                  <a:pt x="2486011" y="1533244"/>
                  <a:pt x="2485277" y="1532616"/>
                  <a:pt x="2485277" y="1531358"/>
                </a:cubicBezTo>
                <a:cubicBezTo>
                  <a:pt x="2487956" y="1532459"/>
                  <a:pt x="2494550" y="1524440"/>
                  <a:pt x="2487956" y="1524440"/>
                </a:cubicBezTo>
                <a:close/>
                <a:moveTo>
                  <a:pt x="2505734" y="1522856"/>
                </a:moveTo>
                <a:lnTo>
                  <a:pt x="2502298" y="1523556"/>
                </a:lnTo>
                <a:lnTo>
                  <a:pt x="2500469" y="1523472"/>
                </a:lnTo>
                <a:lnTo>
                  <a:pt x="2500469" y="1523475"/>
                </a:lnTo>
                <a:cubicBezTo>
                  <a:pt x="2500192" y="1524853"/>
                  <a:pt x="2499600" y="1525973"/>
                  <a:pt x="2498260" y="1526484"/>
                </a:cubicBezTo>
                <a:close/>
                <a:moveTo>
                  <a:pt x="2603375" y="1521720"/>
                </a:moveTo>
                <a:cubicBezTo>
                  <a:pt x="2609934" y="1521720"/>
                  <a:pt x="2613828" y="1524739"/>
                  <a:pt x="2622846" y="1521720"/>
                </a:cubicBezTo>
                <a:cubicBezTo>
                  <a:pt x="2624077" y="1532841"/>
                  <a:pt x="2607270" y="1532841"/>
                  <a:pt x="2597021" y="1536813"/>
                </a:cubicBezTo>
                <a:cubicBezTo>
                  <a:pt x="2600916" y="1532841"/>
                  <a:pt x="2600916" y="1526804"/>
                  <a:pt x="2603375" y="1521720"/>
                </a:cubicBezTo>
                <a:close/>
                <a:moveTo>
                  <a:pt x="2240447" y="1521453"/>
                </a:moveTo>
                <a:cubicBezTo>
                  <a:pt x="2234059" y="1526484"/>
                  <a:pt x="2232616" y="1530415"/>
                  <a:pt x="2237768" y="1535446"/>
                </a:cubicBezTo>
                <a:cubicBezTo>
                  <a:pt x="2243127" y="1534345"/>
                  <a:pt x="2249515" y="1535446"/>
                  <a:pt x="2249515" y="1529471"/>
                </a:cubicBezTo>
                <a:cubicBezTo>
                  <a:pt x="2247042" y="1528528"/>
                  <a:pt x="2241684" y="1529471"/>
                  <a:pt x="2241684" y="1526484"/>
                </a:cubicBezTo>
                <a:cubicBezTo>
                  <a:pt x="2247042" y="1526484"/>
                  <a:pt x="2243127" y="1522554"/>
                  <a:pt x="2240447" y="1521453"/>
                </a:cubicBezTo>
                <a:close/>
                <a:moveTo>
                  <a:pt x="2871236" y="1518704"/>
                </a:moveTo>
                <a:cubicBezTo>
                  <a:pt x="2868529" y="1522684"/>
                  <a:pt x="2857908" y="1528500"/>
                  <a:pt x="2851453" y="1526510"/>
                </a:cubicBezTo>
                <a:cubicBezTo>
                  <a:pt x="2854160" y="1522684"/>
                  <a:pt x="2864572" y="1516867"/>
                  <a:pt x="2871236" y="1518704"/>
                </a:cubicBezTo>
                <a:close/>
                <a:moveTo>
                  <a:pt x="2435816" y="1518466"/>
                </a:moveTo>
                <a:cubicBezTo>
                  <a:pt x="2438496" y="1522554"/>
                  <a:pt x="2426749" y="1526484"/>
                  <a:pt x="2434579" y="1527427"/>
                </a:cubicBezTo>
                <a:cubicBezTo>
                  <a:pt x="2435816" y="1524440"/>
                  <a:pt x="2438496" y="1523497"/>
                  <a:pt x="2440968" y="1522554"/>
                </a:cubicBezTo>
                <a:cubicBezTo>
                  <a:pt x="2443648" y="1522554"/>
                  <a:pt x="2443648" y="1525541"/>
                  <a:pt x="2448799" y="1524440"/>
                </a:cubicBezTo>
                <a:cubicBezTo>
                  <a:pt x="2448799" y="1517523"/>
                  <a:pt x="2442411" y="1517523"/>
                  <a:pt x="2435816" y="1518466"/>
                </a:cubicBezTo>
                <a:close/>
                <a:moveTo>
                  <a:pt x="2396866" y="1517523"/>
                </a:moveTo>
                <a:cubicBezTo>
                  <a:pt x="2389035" y="1515479"/>
                  <a:pt x="2390271" y="1524440"/>
                  <a:pt x="2381204" y="1521453"/>
                </a:cubicBezTo>
                <a:cubicBezTo>
                  <a:pt x="2381204" y="1530415"/>
                  <a:pt x="2375846" y="1532459"/>
                  <a:pt x="2375846" y="1540319"/>
                </a:cubicBezTo>
                <a:cubicBezTo>
                  <a:pt x="2389035" y="1540319"/>
                  <a:pt x="2378525" y="1532459"/>
                  <a:pt x="2387593" y="1528528"/>
                </a:cubicBezTo>
                <a:cubicBezTo>
                  <a:pt x="2387593" y="1534345"/>
                  <a:pt x="2382440" y="1533402"/>
                  <a:pt x="2386356" y="1537332"/>
                </a:cubicBezTo>
                <a:cubicBezTo>
                  <a:pt x="2403254" y="1537332"/>
                  <a:pt x="2389035" y="1522554"/>
                  <a:pt x="2396866" y="1517523"/>
                </a:cubicBezTo>
                <a:close/>
                <a:moveTo>
                  <a:pt x="2262431" y="1516720"/>
                </a:moveTo>
                <a:cubicBezTo>
                  <a:pt x="2261739" y="1516422"/>
                  <a:pt x="2261004" y="1516540"/>
                  <a:pt x="2260025" y="1517523"/>
                </a:cubicBezTo>
                <a:cubicBezTo>
                  <a:pt x="2266621" y="1521453"/>
                  <a:pt x="2248278" y="1522554"/>
                  <a:pt x="2257347" y="1531358"/>
                </a:cubicBezTo>
                <a:cubicBezTo>
                  <a:pt x="2260025" y="1524440"/>
                  <a:pt x="2271772" y="1527427"/>
                  <a:pt x="2273008" y="1518466"/>
                </a:cubicBezTo>
                <a:cubicBezTo>
                  <a:pt x="2266208" y="1522239"/>
                  <a:pt x="2264507" y="1517611"/>
                  <a:pt x="2262431" y="1516720"/>
                </a:cubicBezTo>
                <a:close/>
                <a:moveTo>
                  <a:pt x="2465455" y="1515140"/>
                </a:moveTo>
                <a:lnTo>
                  <a:pt x="2465586" y="1515864"/>
                </a:lnTo>
                <a:cubicBezTo>
                  <a:pt x="2466600" y="1519733"/>
                  <a:pt x="2466369" y="1517523"/>
                  <a:pt x="2456630" y="1517523"/>
                </a:cubicBezTo>
                <a:cubicBezTo>
                  <a:pt x="2458074" y="1523497"/>
                  <a:pt x="2465699" y="1535446"/>
                  <a:pt x="2474973" y="1527427"/>
                </a:cubicBezTo>
                <a:cubicBezTo>
                  <a:pt x="2471057" y="1527427"/>
                  <a:pt x="2471057" y="1521453"/>
                  <a:pt x="2474973" y="1520510"/>
                </a:cubicBezTo>
                <a:cubicBezTo>
                  <a:pt x="2476209" y="1523969"/>
                  <a:pt x="2479095" y="1524480"/>
                  <a:pt x="2482495" y="1523752"/>
                </a:cubicBezTo>
                <a:lnTo>
                  <a:pt x="2485140" y="1522709"/>
                </a:lnTo>
                <a:lnTo>
                  <a:pt x="2475315" y="1519884"/>
                </a:lnTo>
                <a:cubicBezTo>
                  <a:pt x="2472128" y="1518562"/>
                  <a:pt x="2469076" y="1516981"/>
                  <a:pt x="2466063" y="1515428"/>
                </a:cubicBezTo>
                <a:close/>
                <a:moveTo>
                  <a:pt x="2304334" y="1514535"/>
                </a:moveTo>
                <a:cubicBezTo>
                  <a:pt x="2299182" y="1526484"/>
                  <a:pt x="2280840" y="1521453"/>
                  <a:pt x="2273008" y="1529471"/>
                </a:cubicBezTo>
                <a:cubicBezTo>
                  <a:pt x="2278161" y="1533402"/>
                  <a:pt x="2273008" y="1542364"/>
                  <a:pt x="2280840" y="1544407"/>
                </a:cubicBezTo>
                <a:cubicBezTo>
                  <a:pt x="2283519" y="1535446"/>
                  <a:pt x="2296503" y="1538433"/>
                  <a:pt x="2301655" y="1533402"/>
                </a:cubicBezTo>
                <a:cubicBezTo>
                  <a:pt x="2303097" y="1536389"/>
                  <a:pt x="2303097" y="1538433"/>
                  <a:pt x="2299182" y="1542364"/>
                </a:cubicBezTo>
                <a:cubicBezTo>
                  <a:pt x="2310722" y="1542364"/>
                  <a:pt x="2310722" y="1530415"/>
                  <a:pt x="2316081" y="1524440"/>
                </a:cubicBezTo>
                <a:cubicBezTo>
                  <a:pt x="2308249" y="1523497"/>
                  <a:pt x="2309486" y="1516579"/>
                  <a:pt x="2304334" y="1514535"/>
                </a:cubicBezTo>
                <a:close/>
                <a:moveTo>
                  <a:pt x="2425190" y="1512214"/>
                </a:moveTo>
                <a:cubicBezTo>
                  <a:pt x="2422408" y="1512147"/>
                  <a:pt x="2419278" y="1515243"/>
                  <a:pt x="2412323" y="1514535"/>
                </a:cubicBezTo>
                <a:cubicBezTo>
                  <a:pt x="2407171" y="1519566"/>
                  <a:pt x="2412323" y="1517523"/>
                  <a:pt x="2411086" y="1523497"/>
                </a:cubicBezTo>
                <a:cubicBezTo>
                  <a:pt x="2408407" y="1523497"/>
                  <a:pt x="2407171" y="1520510"/>
                  <a:pt x="2404492" y="1519566"/>
                </a:cubicBezTo>
                <a:cubicBezTo>
                  <a:pt x="2403254" y="1522554"/>
                  <a:pt x="2400782" y="1523497"/>
                  <a:pt x="2400782" y="1528528"/>
                </a:cubicBezTo>
                <a:cubicBezTo>
                  <a:pt x="2411086" y="1525541"/>
                  <a:pt x="2415002" y="1529471"/>
                  <a:pt x="2426749" y="1525541"/>
                </a:cubicBezTo>
                <a:cubicBezTo>
                  <a:pt x="2424069" y="1516579"/>
                  <a:pt x="2422833" y="1522554"/>
                  <a:pt x="2427985" y="1513592"/>
                </a:cubicBezTo>
                <a:cubicBezTo>
                  <a:pt x="2427006" y="1512609"/>
                  <a:pt x="2426118" y="1512236"/>
                  <a:pt x="2425190" y="1512214"/>
                </a:cubicBezTo>
                <a:close/>
                <a:moveTo>
                  <a:pt x="2652216" y="1510862"/>
                </a:moveTo>
                <a:cubicBezTo>
                  <a:pt x="2658782" y="1512918"/>
                  <a:pt x="2650986" y="1516875"/>
                  <a:pt x="2656115" y="1520831"/>
                </a:cubicBezTo>
                <a:cubicBezTo>
                  <a:pt x="2662681" y="1519881"/>
                  <a:pt x="2662681" y="1519881"/>
                  <a:pt x="2662681" y="1519881"/>
                </a:cubicBezTo>
                <a:cubicBezTo>
                  <a:pt x="2665143" y="1518774"/>
                  <a:pt x="2663912" y="1515767"/>
                  <a:pt x="2663912" y="1512918"/>
                </a:cubicBezTo>
                <a:cubicBezTo>
                  <a:pt x="2679506" y="1510862"/>
                  <a:pt x="2665143" y="1521781"/>
                  <a:pt x="2666579" y="1528901"/>
                </a:cubicBezTo>
                <a:cubicBezTo>
                  <a:pt x="2658782" y="1522888"/>
                  <a:pt x="2648317" y="1536813"/>
                  <a:pt x="2639289" y="1535864"/>
                </a:cubicBezTo>
                <a:cubicBezTo>
                  <a:pt x="2631492" y="1533807"/>
                  <a:pt x="2636622" y="1526844"/>
                  <a:pt x="2628824" y="1520831"/>
                </a:cubicBezTo>
                <a:cubicBezTo>
                  <a:pt x="2639289" y="1525895"/>
                  <a:pt x="2634160" y="1520831"/>
                  <a:pt x="2647087" y="1517824"/>
                </a:cubicBezTo>
                <a:cubicBezTo>
                  <a:pt x="2647087" y="1515767"/>
                  <a:pt x="2644419" y="1516875"/>
                  <a:pt x="2641956" y="1516875"/>
                </a:cubicBezTo>
                <a:cubicBezTo>
                  <a:pt x="2641956" y="1507855"/>
                  <a:pt x="2650986" y="1516875"/>
                  <a:pt x="2652216" y="1510862"/>
                </a:cubicBezTo>
                <a:close/>
                <a:moveTo>
                  <a:pt x="2439591" y="1509389"/>
                </a:moveTo>
                <a:lnTo>
                  <a:pt x="2429171" y="1510166"/>
                </a:lnTo>
                <a:lnTo>
                  <a:pt x="2427985" y="1511548"/>
                </a:lnTo>
                <a:cubicBezTo>
                  <a:pt x="2433138" y="1512649"/>
                  <a:pt x="2431901" y="1517523"/>
                  <a:pt x="2440968" y="1515479"/>
                </a:cubicBezTo>
                <a:cubicBezTo>
                  <a:pt x="2441690" y="1513513"/>
                  <a:pt x="2441072" y="1512295"/>
                  <a:pt x="2440273" y="1511076"/>
                </a:cubicBezTo>
                <a:close/>
                <a:moveTo>
                  <a:pt x="2447675" y="1508786"/>
                </a:moveTo>
                <a:lnTo>
                  <a:pt x="2443792" y="1509076"/>
                </a:lnTo>
                <a:lnTo>
                  <a:pt x="2443783" y="1509642"/>
                </a:lnTo>
                <a:cubicBezTo>
                  <a:pt x="2444395" y="1512000"/>
                  <a:pt x="2445863" y="1514024"/>
                  <a:pt x="2448799" y="1515479"/>
                </a:cubicBezTo>
                <a:lnTo>
                  <a:pt x="2449331" y="1509204"/>
                </a:lnTo>
                <a:close/>
                <a:moveTo>
                  <a:pt x="2610130" y="1507419"/>
                </a:moveTo>
                <a:cubicBezTo>
                  <a:pt x="2611355" y="1513440"/>
                  <a:pt x="2611355" y="1513440"/>
                  <a:pt x="2611355" y="1513440"/>
                </a:cubicBezTo>
                <a:cubicBezTo>
                  <a:pt x="2603596" y="1514391"/>
                  <a:pt x="2602372" y="1510429"/>
                  <a:pt x="2599717" y="1517402"/>
                </a:cubicBezTo>
                <a:cubicBezTo>
                  <a:pt x="2598492" y="1517402"/>
                  <a:pt x="2597266" y="1515342"/>
                  <a:pt x="2594611" y="1516451"/>
                </a:cubicBezTo>
                <a:cubicBezTo>
                  <a:pt x="2593387" y="1512489"/>
                  <a:pt x="2597266" y="1511381"/>
                  <a:pt x="2597266" y="1508370"/>
                </a:cubicBezTo>
                <a:cubicBezTo>
                  <a:pt x="2599717" y="1508370"/>
                  <a:pt x="2598492" y="1511381"/>
                  <a:pt x="2599717" y="1513440"/>
                </a:cubicBezTo>
                <a:cubicBezTo>
                  <a:pt x="2605025" y="1512489"/>
                  <a:pt x="2602372" y="1506468"/>
                  <a:pt x="2610130" y="1507419"/>
                </a:cubicBezTo>
                <a:close/>
                <a:moveTo>
                  <a:pt x="2410231" y="1506973"/>
                </a:moveTo>
                <a:lnTo>
                  <a:pt x="2409264" y="1507284"/>
                </a:lnTo>
                <a:lnTo>
                  <a:pt x="2409850" y="1507618"/>
                </a:lnTo>
                <a:close/>
                <a:moveTo>
                  <a:pt x="2391234" y="1506811"/>
                </a:moveTo>
                <a:lnTo>
                  <a:pt x="2394187" y="1510604"/>
                </a:lnTo>
                <a:lnTo>
                  <a:pt x="2396694" y="1509949"/>
                </a:lnTo>
                <a:close/>
                <a:moveTo>
                  <a:pt x="2851249" y="1506468"/>
                </a:moveTo>
                <a:cubicBezTo>
                  <a:pt x="2844728" y="1516283"/>
                  <a:pt x="2833317" y="1512388"/>
                  <a:pt x="2824148" y="1520178"/>
                </a:cubicBezTo>
                <a:cubicBezTo>
                  <a:pt x="2817831" y="1510362"/>
                  <a:pt x="2844728" y="1506468"/>
                  <a:pt x="2851249" y="1506468"/>
                </a:cubicBezTo>
                <a:close/>
                <a:moveTo>
                  <a:pt x="2206108" y="1506380"/>
                </a:moveTo>
                <a:cubicBezTo>
                  <a:pt x="2204640" y="1506360"/>
                  <a:pt x="2203352" y="1506596"/>
                  <a:pt x="2202734" y="1507618"/>
                </a:cubicBezTo>
                <a:cubicBezTo>
                  <a:pt x="2209328" y="1510604"/>
                  <a:pt x="2197582" y="1513592"/>
                  <a:pt x="2200055" y="1519566"/>
                </a:cubicBezTo>
                <a:cubicBezTo>
                  <a:pt x="2209328" y="1521453"/>
                  <a:pt x="2205413" y="1508561"/>
                  <a:pt x="2213244" y="1508561"/>
                </a:cubicBezTo>
                <a:cubicBezTo>
                  <a:pt x="2211802" y="1508561"/>
                  <a:pt x="2210565" y="1507618"/>
                  <a:pt x="2210565" y="1506674"/>
                </a:cubicBezTo>
                <a:cubicBezTo>
                  <a:pt x="2209225" y="1506674"/>
                  <a:pt x="2207577" y="1506399"/>
                  <a:pt x="2206108" y="1506380"/>
                </a:cubicBezTo>
                <a:close/>
                <a:moveTo>
                  <a:pt x="2908173" y="1501616"/>
                </a:moveTo>
                <a:cubicBezTo>
                  <a:pt x="2909403" y="1507653"/>
                  <a:pt x="2896491" y="1516709"/>
                  <a:pt x="2888703" y="1514643"/>
                </a:cubicBezTo>
                <a:cubicBezTo>
                  <a:pt x="2882348" y="1506699"/>
                  <a:pt x="2903049" y="1506699"/>
                  <a:pt x="2908173" y="1501616"/>
                </a:cubicBezTo>
                <a:close/>
                <a:moveTo>
                  <a:pt x="2379916" y="1501589"/>
                </a:moveTo>
                <a:lnTo>
                  <a:pt x="2376215" y="1501703"/>
                </a:lnTo>
                <a:lnTo>
                  <a:pt x="2378344" y="1501722"/>
                </a:lnTo>
                <a:cubicBezTo>
                  <a:pt x="2380122" y="1502587"/>
                  <a:pt x="2381101" y="1504080"/>
                  <a:pt x="2382440" y="1505574"/>
                </a:cubicBezTo>
                <a:lnTo>
                  <a:pt x="2383444" y="1502933"/>
                </a:lnTo>
                <a:close/>
                <a:moveTo>
                  <a:pt x="2369958" y="1500624"/>
                </a:moveTo>
                <a:lnTo>
                  <a:pt x="2369456" y="1501643"/>
                </a:lnTo>
                <a:lnTo>
                  <a:pt x="2370675" y="1501654"/>
                </a:lnTo>
                <a:close/>
                <a:moveTo>
                  <a:pt x="2734027" y="1498843"/>
                </a:moveTo>
                <a:cubicBezTo>
                  <a:pt x="2731565" y="1501807"/>
                  <a:pt x="2717202" y="1508675"/>
                  <a:pt x="2715971" y="1505709"/>
                </a:cubicBezTo>
                <a:cubicBezTo>
                  <a:pt x="2712072" y="1507739"/>
                  <a:pt x="2712072" y="1510704"/>
                  <a:pt x="2712072" y="1515542"/>
                </a:cubicBezTo>
                <a:cubicBezTo>
                  <a:pt x="2701607" y="1507739"/>
                  <a:pt x="2696478" y="1528497"/>
                  <a:pt x="2676985" y="1524438"/>
                </a:cubicBezTo>
                <a:cubicBezTo>
                  <a:pt x="2678216" y="1521473"/>
                  <a:pt x="2679653" y="1517572"/>
                  <a:pt x="2676985" y="1512733"/>
                </a:cubicBezTo>
                <a:cubicBezTo>
                  <a:pt x="2696478" y="1500871"/>
                  <a:pt x="2709405" y="1504774"/>
                  <a:pt x="2734027" y="1498843"/>
                </a:cubicBezTo>
                <a:close/>
                <a:moveTo>
                  <a:pt x="2354100" y="1494876"/>
                </a:moveTo>
                <a:cubicBezTo>
                  <a:pt x="2353447" y="1494460"/>
                  <a:pt x="2352146" y="1494883"/>
                  <a:pt x="2349878" y="1496612"/>
                </a:cubicBezTo>
                <a:cubicBezTo>
                  <a:pt x="2352558" y="1497713"/>
                  <a:pt x="2352558" y="1498656"/>
                  <a:pt x="2352558" y="1501643"/>
                </a:cubicBezTo>
                <a:cubicBezTo>
                  <a:pt x="2347199" y="1500700"/>
                  <a:pt x="2345963" y="1503687"/>
                  <a:pt x="2342048" y="1503687"/>
                </a:cubicBezTo>
                <a:cubicBezTo>
                  <a:pt x="2340811" y="1501643"/>
                  <a:pt x="2342048" y="1499599"/>
                  <a:pt x="2339368" y="1498656"/>
                </a:cubicBezTo>
                <a:cubicBezTo>
                  <a:pt x="2334217" y="1503687"/>
                  <a:pt x="2339368" y="1501643"/>
                  <a:pt x="2338131" y="1508561"/>
                </a:cubicBezTo>
                <a:cubicBezTo>
                  <a:pt x="2338131" y="1508561"/>
                  <a:pt x="2338131" y="1508561"/>
                  <a:pt x="2351115" y="1508561"/>
                </a:cubicBezTo>
                <a:cubicBezTo>
                  <a:pt x="2352197" y="1504905"/>
                  <a:pt x="2356062" y="1496120"/>
                  <a:pt x="2354100" y="1494876"/>
                </a:cubicBezTo>
                <a:close/>
                <a:moveTo>
                  <a:pt x="2274245" y="1492682"/>
                </a:moveTo>
                <a:cubicBezTo>
                  <a:pt x="2257347" y="1493625"/>
                  <a:pt x="2275688" y="1503687"/>
                  <a:pt x="2263941" y="1508561"/>
                </a:cubicBezTo>
                <a:cubicBezTo>
                  <a:pt x="2265178" y="1509661"/>
                  <a:pt x="2266621" y="1510604"/>
                  <a:pt x="2265178" y="1513592"/>
                </a:cubicBezTo>
                <a:cubicBezTo>
                  <a:pt x="2273008" y="1511548"/>
                  <a:pt x="2283519" y="1499599"/>
                  <a:pt x="2279603" y="1495669"/>
                </a:cubicBezTo>
                <a:cubicBezTo>
                  <a:pt x="2276924" y="1503687"/>
                  <a:pt x="2266621" y="1498656"/>
                  <a:pt x="2274245" y="1492682"/>
                </a:cubicBezTo>
                <a:close/>
                <a:moveTo>
                  <a:pt x="2465699" y="1491738"/>
                </a:moveTo>
                <a:lnTo>
                  <a:pt x="2465236" y="1492383"/>
                </a:lnTo>
                <a:lnTo>
                  <a:pt x="2472398" y="1491965"/>
                </a:lnTo>
                <a:cubicBezTo>
                  <a:pt x="2472398" y="1491965"/>
                  <a:pt x="2472398" y="1491965"/>
                  <a:pt x="2472243" y="1492830"/>
                </a:cubicBezTo>
                <a:lnTo>
                  <a:pt x="2471612" y="1496364"/>
                </a:lnTo>
                <a:lnTo>
                  <a:pt x="2476879" y="1497182"/>
                </a:lnTo>
                <a:cubicBezTo>
                  <a:pt x="2479454" y="1497673"/>
                  <a:pt x="2481361" y="1497162"/>
                  <a:pt x="2482598" y="1492682"/>
                </a:cubicBezTo>
                <a:cubicBezTo>
                  <a:pt x="2473530" y="1491738"/>
                  <a:pt x="2476209" y="1491738"/>
                  <a:pt x="2465699" y="1491738"/>
                </a:cubicBezTo>
                <a:close/>
                <a:moveTo>
                  <a:pt x="175697" y="1490832"/>
                </a:moveTo>
                <a:cubicBezTo>
                  <a:pt x="169103" y="1489889"/>
                  <a:pt x="166424" y="1491932"/>
                  <a:pt x="161272" y="1493818"/>
                </a:cubicBezTo>
                <a:cubicBezTo>
                  <a:pt x="166424" y="1493818"/>
                  <a:pt x="165186" y="1496805"/>
                  <a:pt x="171782" y="1495863"/>
                </a:cubicBezTo>
                <a:cubicBezTo>
                  <a:pt x="173018" y="1493818"/>
                  <a:pt x="175697" y="1493818"/>
                  <a:pt x="175697" y="1490832"/>
                </a:cubicBezTo>
                <a:close/>
                <a:moveTo>
                  <a:pt x="2857355" y="1490524"/>
                </a:moveTo>
                <a:cubicBezTo>
                  <a:pt x="2861243" y="1499491"/>
                  <a:pt x="2861243" y="1499491"/>
                  <a:pt x="2861243" y="1499491"/>
                </a:cubicBezTo>
                <a:cubicBezTo>
                  <a:pt x="2838117" y="1501537"/>
                  <a:pt x="2838117" y="1510505"/>
                  <a:pt x="2816014" y="1512550"/>
                </a:cubicBezTo>
                <a:cubicBezTo>
                  <a:pt x="2822563" y="1496502"/>
                  <a:pt x="2847122" y="1504526"/>
                  <a:pt x="2857355" y="1490524"/>
                </a:cubicBezTo>
                <a:close/>
                <a:moveTo>
                  <a:pt x="2967301" y="1488821"/>
                </a:moveTo>
                <a:cubicBezTo>
                  <a:pt x="2971195" y="1493566"/>
                  <a:pt x="2960949" y="1496475"/>
                  <a:pt x="2953163" y="1499382"/>
                </a:cubicBezTo>
                <a:cubicBezTo>
                  <a:pt x="2950499" y="1493566"/>
                  <a:pt x="2962178" y="1487750"/>
                  <a:pt x="2967301" y="1488821"/>
                </a:cubicBezTo>
                <a:close/>
                <a:moveTo>
                  <a:pt x="2937800" y="1488705"/>
                </a:moveTo>
                <a:cubicBezTo>
                  <a:pt x="2939860" y="1489426"/>
                  <a:pt x="2941514" y="1491301"/>
                  <a:pt x="2942119" y="1494796"/>
                </a:cubicBezTo>
                <a:cubicBezTo>
                  <a:pt x="2937072" y="1496681"/>
                  <a:pt x="2930609" y="1498723"/>
                  <a:pt x="2925561" y="1500765"/>
                </a:cubicBezTo>
                <a:cubicBezTo>
                  <a:pt x="2921775" y="1494757"/>
                  <a:pt x="2931619" y="1486541"/>
                  <a:pt x="2937800" y="1488705"/>
                </a:cubicBezTo>
                <a:close/>
                <a:moveTo>
                  <a:pt x="2661329" y="1487750"/>
                </a:moveTo>
                <a:cubicBezTo>
                  <a:pt x="2661329" y="1496607"/>
                  <a:pt x="2654891" y="1493655"/>
                  <a:pt x="2646998" y="1494742"/>
                </a:cubicBezTo>
                <a:cubicBezTo>
                  <a:pt x="2649491" y="1491790"/>
                  <a:pt x="2654891" y="1488838"/>
                  <a:pt x="2661329" y="1487750"/>
                </a:cubicBezTo>
                <a:close/>
                <a:moveTo>
                  <a:pt x="2444884" y="1485764"/>
                </a:moveTo>
                <a:cubicBezTo>
                  <a:pt x="2445863" y="1488004"/>
                  <a:pt x="2445863" y="1490618"/>
                  <a:pt x="2445496" y="1493369"/>
                </a:cubicBezTo>
                <a:lnTo>
                  <a:pt x="2445490" y="1493403"/>
                </a:lnTo>
                <a:lnTo>
                  <a:pt x="2446126" y="1493498"/>
                </a:lnTo>
                <a:lnTo>
                  <a:pt x="2456244" y="1492907"/>
                </a:lnTo>
                <a:lnTo>
                  <a:pt x="2458074" y="1491738"/>
                </a:lnTo>
                <a:cubicBezTo>
                  <a:pt x="2454158" y="1491738"/>
                  <a:pt x="2455394" y="1489694"/>
                  <a:pt x="2458074" y="1487651"/>
                </a:cubicBezTo>
                <a:cubicBezTo>
                  <a:pt x="2452716" y="1486707"/>
                  <a:pt x="2451479" y="1489694"/>
                  <a:pt x="2447563" y="1489694"/>
                </a:cubicBezTo>
                <a:cubicBezTo>
                  <a:pt x="2446327" y="1488751"/>
                  <a:pt x="2447563" y="1485764"/>
                  <a:pt x="2444884" y="1485764"/>
                </a:cubicBezTo>
                <a:close/>
                <a:moveTo>
                  <a:pt x="3002096" y="1480818"/>
                </a:moveTo>
                <a:cubicBezTo>
                  <a:pt x="3008450" y="1488828"/>
                  <a:pt x="3008450" y="1488828"/>
                  <a:pt x="3008450" y="1488828"/>
                </a:cubicBezTo>
                <a:cubicBezTo>
                  <a:pt x="2995537" y="1491812"/>
                  <a:pt x="2989183" y="1500765"/>
                  <a:pt x="2982624" y="1499665"/>
                </a:cubicBezTo>
                <a:cubicBezTo>
                  <a:pt x="2981394" y="1492754"/>
                  <a:pt x="2993078" y="1486786"/>
                  <a:pt x="3002096" y="1480818"/>
                </a:cubicBezTo>
                <a:close/>
                <a:moveTo>
                  <a:pt x="2829838" y="1479385"/>
                </a:moveTo>
                <a:cubicBezTo>
                  <a:pt x="2832378" y="1478853"/>
                  <a:pt x="2834609" y="1478853"/>
                  <a:pt x="2836190" y="1479585"/>
                </a:cubicBezTo>
                <a:cubicBezTo>
                  <a:pt x="2837619" y="1488366"/>
                  <a:pt x="2818239" y="1488366"/>
                  <a:pt x="2807836" y="1493142"/>
                </a:cubicBezTo>
                <a:cubicBezTo>
                  <a:pt x="2811814" y="1487365"/>
                  <a:pt x="2822217" y="1480981"/>
                  <a:pt x="2829838" y="1479385"/>
                </a:cubicBezTo>
                <a:close/>
                <a:moveTo>
                  <a:pt x="2485277" y="1478846"/>
                </a:moveTo>
                <a:cubicBezTo>
                  <a:pt x="2484040" y="1487651"/>
                  <a:pt x="2493108" y="1494726"/>
                  <a:pt x="2498260" y="1489694"/>
                </a:cubicBezTo>
                <a:cubicBezTo>
                  <a:pt x="2495788" y="1483720"/>
                  <a:pt x="2491872" y="1480733"/>
                  <a:pt x="2485277" y="1478846"/>
                </a:cubicBezTo>
                <a:close/>
                <a:moveTo>
                  <a:pt x="2647033" y="1478737"/>
                </a:moveTo>
                <a:cubicBezTo>
                  <a:pt x="2649518" y="1486573"/>
                  <a:pt x="2614311" y="1501459"/>
                  <a:pt x="2605199" y="1486573"/>
                </a:cubicBezTo>
                <a:cubicBezTo>
                  <a:pt x="2609134" y="1478737"/>
                  <a:pt x="2616796" y="1494564"/>
                  <a:pt x="2615554" y="1483595"/>
                </a:cubicBezTo>
                <a:cubicBezTo>
                  <a:pt x="2619489" y="1485632"/>
                  <a:pt x="2630051" y="1482655"/>
                  <a:pt x="2623423" y="1489550"/>
                </a:cubicBezTo>
                <a:cubicBezTo>
                  <a:pt x="2633986" y="1484692"/>
                  <a:pt x="2639163" y="1480618"/>
                  <a:pt x="2647033" y="1478737"/>
                </a:cubicBezTo>
                <a:close/>
                <a:moveTo>
                  <a:pt x="3012939" y="1478628"/>
                </a:moveTo>
                <a:lnTo>
                  <a:pt x="3013191" y="1478637"/>
                </a:lnTo>
                <a:lnTo>
                  <a:pt x="3011693" y="1482505"/>
                </a:lnTo>
                <a:cubicBezTo>
                  <a:pt x="3010446" y="1480489"/>
                  <a:pt x="3010446" y="1479559"/>
                  <a:pt x="3012939" y="1478628"/>
                </a:cubicBezTo>
                <a:close/>
                <a:moveTo>
                  <a:pt x="2792180" y="1466259"/>
                </a:moveTo>
                <a:cubicBezTo>
                  <a:pt x="2792180" y="1476143"/>
                  <a:pt x="2779118" y="1481007"/>
                  <a:pt x="2775178" y="1489009"/>
                </a:cubicBezTo>
                <a:cubicBezTo>
                  <a:pt x="2758175" y="1489950"/>
                  <a:pt x="2746356" y="1495912"/>
                  <a:pt x="2732049" y="1489950"/>
                </a:cubicBezTo>
                <a:cubicBezTo>
                  <a:pt x="2730597" y="1483988"/>
                  <a:pt x="2730597" y="1483988"/>
                  <a:pt x="2730597" y="1483988"/>
                </a:cubicBezTo>
                <a:cubicBezTo>
                  <a:pt x="2750296" y="1473162"/>
                  <a:pt x="2773934" y="1477085"/>
                  <a:pt x="2792180" y="1466259"/>
                </a:cubicBezTo>
                <a:close/>
                <a:moveTo>
                  <a:pt x="2923941" y="1464179"/>
                </a:moveTo>
                <a:cubicBezTo>
                  <a:pt x="2910940" y="1483948"/>
                  <a:pt x="2892573" y="1480967"/>
                  <a:pt x="2871730" y="1493832"/>
                </a:cubicBezTo>
                <a:cubicBezTo>
                  <a:pt x="2867809" y="1486929"/>
                  <a:pt x="2867809" y="1486929"/>
                  <a:pt x="2867809" y="1486929"/>
                </a:cubicBezTo>
                <a:cubicBezTo>
                  <a:pt x="2892573" y="1479084"/>
                  <a:pt x="2908257" y="1468101"/>
                  <a:pt x="2923941" y="1464179"/>
                </a:cubicBezTo>
                <a:close/>
                <a:moveTo>
                  <a:pt x="2263483" y="1463266"/>
                </a:moveTo>
                <a:lnTo>
                  <a:pt x="2257812" y="1463482"/>
                </a:lnTo>
                <a:lnTo>
                  <a:pt x="2253349" y="1466294"/>
                </a:lnTo>
                <a:cubicBezTo>
                  <a:pt x="2251320" y="1466786"/>
                  <a:pt x="2249008" y="1466776"/>
                  <a:pt x="2247127" y="1466142"/>
                </a:cubicBezTo>
                <a:lnTo>
                  <a:pt x="2245092" y="1463965"/>
                </a:lnTo>
                <a:lnTo>
                  <a:pt x="2232347" y="1464450"/>
                </a:lnTo>
                <a:lnTo>
                  <a:pt x="2231457" y="1466082"/>
                </a:lnTo>
                <a:cubicBezTo>
                  <a:pt x="2230349" y="1468460"/>
                  <a:pt x="2229112" y="1471300"/>
                  <a:pt x="2227463" y="1474758"/>
                </a:cubicBezTo>
                <a:cubicBezTo>
                  <a:pt x="2239211" y="1471771"/>
                  <a:pt x="2235296" y="1470828"/>
                  <a:pt x="2243127" y="1475859"/>
                </a:cubicBezTo>
                <a:cubicBezTo>
                  <a:pt x="2245600" y="1475859"/>
                  <a:pt x="2245600" y="1471771"/>
                  <a:pt x="2247042" y="1468941"/>
                </a:cubicBezTo>
                <a:cubicBezTo>
                  <a:pt x="2250287" y="1470670"/>
                  <a:pt x="2253534" y="1471535"/>
                  <a:pt x="2256882" y="1471813"/>
                </a:cubicBezTo>
                <a:lnTo>
                  <a:pt x="2266914" y="1471189"/>
                </a:lnTo>
                <a:lnTo>
                  <a:pt x="2266548" y="1469209"/>
                </a:lnTo>
                <a:lnTo>
                  <a:pt x="2265723" y="1465110"/>
                </a:lnTo>
                <a:lnTo>
                  <a:pt x="2262885" y="1464936"/>
                </a:lnTo>
                <a:close/>
                <a:moveTo>
                  <a:pt x="3051156" y="1462966"/>
                </a:moveTo>
                <a:cubicBezTo>
                  <a:pt x="3043211" y="1467385"/>
                  <a:pt x="3034566" y="1476690"/>
                  <a:pt x="3024080" y="1479037"/>
                </a:cubicBezTo>
                <a:lnTo>
                  <a:pt x="3013191" y="1478637"/>
                </a:lnTo>
                <a:lnTo>
                  <a:pt x="3014150" y="1476159"/>
                </a:lnTo>
                <a:cubicBezTo>
                  <a:pt x="3021286" y="1469014"/>
                  <a:pt x="3040252" y="1460756"/>
                  <a:pt x="3051156" y="1462966"/>
                </a:cubicBezTo>
                <a:close/>
                <a:moveTo>
                  <a:pt x="2866729" y="1462792"/>
                </a:moveTo>
                <a:cubicBezTo>
                  <a:pt x="2867963" y="1462792"/>
                  <a:pt x="2869198" y="1464668"/>
                  <a:pt x="2871872" y="1463731"/>
                </a:cubicBezTo>
                <a:cubicBezTo>
                  <a:pt x="2873107" y="1465763"/>
                  <a:pt x="2874547" y="1464668"/>
                  <a:pt x="2875781" y="1464668"/>
                </a:cubicBezTo>
                <a:cubicBezTo>
                  <a:pt x="2870638" y="1469671"/>
                  <a:pt x="2857471" y="1478581"/>
                  <a:pt x="2847183" y="1476549"/>
                </a:cubicBezTo>
                <a:cubicBezTo>
                  <a:pt x="2843274" y="1466701"/>
                  <a:pt x="2870638" y="1475611"/>
                  <a:pt x="2866729" y="1462792"/>
                </a:cubicBezTo>
                <a:close/>
                <a:moveTo>
                  <a:pt x="157356" y="1462066"/>
                </a:moveTo>
                <a:cubicBezTo>
                  <a:pt x="154882" y="1463167"/>
                  <a:pt x="154882" y="1467096"/>
                  <a:pt x="150967" y="1468040"/>
                </a:cubicBezTo>
                <a:cubicBezTo>
                  <a:pt x="161272" y="1468040"/>
                  <a:pt x="156119" y="1474956"/>
                  <a:pt x="157356" y="1479043"/>
                </a:cubicBezTo>
                <a:cubicBezTo>
                  <a:pt x="171782" y="1483916"/>
                  <a:pt x="171782" y="1485016"/>
                  <a:pt x="191360" y="1485959"/>
                </a:cubicBezTo>
                <a:cubicBezTo>
                  <a:pt x="195275" y="1482973"/>
                  <a:pt x="200428" y="1482029"/>
                  <a:pt x="200428" y="1476999"/>
                </a:cubicBezTo>
                <a:cubicBezTo>
                  <a:pt x="192596" y="1470083"/>
                  <a:pt x="186001" y="1474013"/>
                  <a:pt x="169103" y="1471970"/>
                </a:cubicBezTo>
                <a:cubicBezTo>
                  <a:pt x="165186" y="1468040"/>
                  <a:pt x="169103" y="1462066"/>
                  <a:pt x="157356" y="1462066"/>
                </a:cubicBezTo>
                <a:close/>
                <a:moveTo>
                  <a:pt x="2188045" y="1461987"/>
                </a:moveTo>
                <a:lnTo>
                  <a:pt x="2187818" y="1462908"/>
                </a:lnTo>
                <a:cubicBezTo>
                  <a:pt x="2187329" y="1464893"/>
                  <a:pt x="2186350" y="1468863"/>
                  <a:pt x="2184392" y="1476802"/>
                </a:cubicBezTo>
                <a:cubicBezTo>
                  <a:pt x="2184392" y="1480733"/>
                  <a:pt x="2193666" y="1474758"/>
                  <a:pt x="2200055" y="1477746"/>
                </a:cubicBezTo>
                <a:cubicBezTo>
                  <a:pt x="2201497" y="1469885"/>
                  <a:pt x="2196138" y="1465954"/>
                  <a:pt x="2207886" y="1465954"/>
                </a:cubicBezTo>
                <a:cubicBezTo>
                  <a:pt x="2205413" y="1471771"/>
                  <a:pt x="2201497" y="1472871"/>
                  <a:pt x="2207886" y="1475859"/>
                </a:cubicBezTo>
                <a:cubicBezTo>
                  <a:pt x="2214481" y="1473815"/>
                  <a:pt x="2220869" y="1469885"/>
                  <a:pt x="2227463" y="1467841"/>
                </a:cubicBezTo>
                <a:cubicBezTo>
                  <a:pt x="2226176" y="1467605"/>
                  <a:pt x="2224798" y="1466740"/>
                  <a:pt x="2223658" y="1465622"/>
                </a:cubicBezTo>
                <a:lnTo>
                  <a:pt x="2223083" y="1464719"/>
                </a:lnTo>
                <a:close/>
                <a:moveTo>
                  <a:pt x="2138538" y="1458237"/>
                </a:moveTo>
                <a:lnTo>
                  <a:pt x="2141526" y="1471771"/>
                </a:lnTo>
                <a:cubicBezTo>
                  <a:pt x="2146679" y="1470828"/>
                  <a:pt x="2147915" y="1464854"/>
                  <a:pt x="2151831" y="1469885"/>
                </a:cubicBezTo>
                <a:cubicBezTo>
                  <a:pt x="2150594" y="1473815"/>
                  <a:pt x="2147915" y="1474758"/>
                  <a:pt x="2146679" y="1478846"/>
                </a:cubicBezTo>
                <a:cubicBezTo>
                  <a:pt x="2159662" y="1480733"/>
                  <a:pt x="2147915" y="1464854"/>
                  <a:pt x="2165020" y="1467841"/>
                </a:cubicBezTo>
                <a:cubicBezTo>
                  <a:pt x="2162340" y="1472871"/>
                  <a:pt x="2157189" y="1474758"/>
                  <a:pt x="2155952" y="1481833"/>
                </a:cubicBezTo>
                <a:cubicBezTo>
                  <a:pt x="2169554" y="1474286"/>
                  <a:pt x="2172954" y="1469659"/>
                  <a:pt x="2179803" y="1465296"/>
                </a:cubicBezTo>
                <a:lnTo>
                  <a:pt x="2186477" y="1461864"/>
                </a:lnTo>
                <a:lnTo>
                  <a:pt x="2185655" y="1461801"/>
                </a:lnTo>
                <a:lnTo>
                  <a:pt x="2167445" y="1460045"/>
                </a:lnTo>
                <a:lnTo>
                  <a:pt x="2166655" y="1460557"/>
                </a:lnTo>
                <a:lnTo>
                  <a:pt x="2166227" y="1459928"/>
                </a:lnTo>
                <a:lnTo>
                  <a:pt x="2148981" y="1458266"/>
                </a:lnTo>
                <a:close/>
                <a:moveTo>
                  <a:pt x="2126006" y="1458204"/>
                </a:moveTo>
                <a:lnTo>
                  <a:pt x="2126688" y="1464028"/>
                </a:lnTo>
                <a:cubicBezTo>
                  <a:pt x="2127513" y="1466150"/>
                  <a:pt x="2129161" y="1467919"/>
                  <a:pt x="2132459" y="1468941"/>
                </a:cubicBezTo>
                <a:cubicBezTo>
                  <a:pt x="2132459" y="1468941"/>
                  <a:pt x="2132459" y="1468941"/>
                  <a:pt x="2134932" y="1458879"/>
                </a:cubicBezTo>
                <a:lnTo>
                  <a:pt x="2131760" y="1458219"/>
                </a:lnTo>
                <a:close/>
                <a:moveTo>
                  <a:pt x="2120634" y="1458189"/>
                </a:moveTo>
                <a:lnTo>
                  <a:pt x="2118960" y="1463635"/>
                </a:lnTo>
                <a:cubicBezTo>
                  <a:pt x="2118136" y="1465129"/>
                  <a:pt x="2116796" y="1465875"/>
                  <a:pt x="2114117" y="1464854"/>
                </a:cubicBezTo>
                <a:cubicBezTo>
                  <a:pt x="2114117" y="1462967"/>
                  <a:pt x="2116796" y="1461866"/>
                  <a:pt x="2116796" y="1460923"/>
                </a:cubicBezTo>
                <a:cubicBezTo>
                  <a:pt x="2114323" y="1461690"/>
                  <a:pt x="2112604" y="1460754"/>
                  <a:pt x="2111214" y="1459657"/>
                </a:cubicBezTo>
                <a:lnTo>
                  <a:pt x="2109274" y="1458459"/>
                </a:lnTo>
                <a:lnTo>
                  <a:pt x="2106227" y="1458806"/>
                </a:lnTo>
                <a:lnTo>
                  <a:pt x="2105049" y="1459980"/>
                </a:lnTo>
                <a:cubicBezTo>
                  <a:pt x="2107728" y="1459980"/>
                  <a:pt x="2107728" y="1463910"/>
                  <a:pt x="2106286" y="1466897"/>
                </a:cubicBezTo>
                <a:cubicBezTo>
                  <a:pt x="2112880" y="1466897"/>
                  <a:pt x="2120712" y="1466897"/>
                  <a:pt x="2121948" y="1469885"/>
                </a:cubicBezTo>
                <a:cubicBezTo>
                  <a:pt x="2125246" y="1467919"/>
                  <a:pt x="2125246" y="1465915"/>
                  <a:pt x="2124267" y="1463910"/>
                </a:cubicBezTo>
                <a:lnTo>
                  <a:pt x="2120863" y="1458190"/>
                </a:lnTo>
                <a:close/>
                <a:moveTo>
                  <a:pt x="3004541" y="1453780"/>
                </a:moveTo>
                <a:cubicBezTo>
                  <a:pt x="3001872" y="1461698"/>
                  <a:pt x="3010908" y="1460748"/>
                  <a:pt x="3014810" y="1467716"/>
                </a:cubicBezTo>
                <a:cubicBezTo>
                  <a:pt x="3010908" y="1470724"/>
                  <a:pt x="3010908" y="1474683"/>
                  <a:pt x="3004541" y="1477692"/>
                </a:cubicBezTo>
                <a:cubicBezTo>
                  <a:pt x="2997968" y="1476742"/>
                  <a:pt x="2995299" y="1469774"/>
                  <a:pt x="2990164" y="1468824"/>
                </a:cubicBezTo>
                <a:cubicBezTo>
                  <a:pt x="2973323" y="1476742"/>
                  <a:pt x="2972090" y="1484819"/>
                  <a:pt x="2955043" y="1480701"/>
                </a:cubicBezTo>
                <a:cubicBezTo>
                  <a:pt x="2972090" y="1467716"/>
                  <a:pt x="2986261" y="1466765"/>
                  <a:pt x="3004541" y="1453780"/>
                </a:cubicBezTo>
                <a:close/>
                <a:moveTo>
                  <a:pt x="2477214" y="1453750"/>
                </a:moveTo>
                <a:cubicBezTo>
                  <a:pt x="2472963" y="1454988"/>
                  <a:pt x="2470336" y="1457464"/>
                  <a:pt x="2473530" y="1460923"/>
                </a:cubicBezTo>
                <a:cubicBezTo>
                  <a:pt x="2476209" y="1455892"/>
                  <a:pt x="2482598" y="1465954"/>
                  <a:pt x="2487956" y="1464854"/>
                </a:cubicBezTo>
                <a:cubicBezTo>
                  <a:pt x="2485277" y="1457936"/>
                  <a:pt x="2486513" y="1458879"/>
                  <a:pt x="2490635" y="1454005"/>
                </a:cubicBezTo>
                <a:cubicBezTo>
                  <a:pt x="2487337" y="1452512"/>
                  <a:pt x="2481464" y="1452512"/>
                  <a:pt x="2477214" y="1453750"/>
                </a:cubicBezTo>
                <a:close/>
                <a:moveTo>
                  <a:pt x="2607235" y="1453284"/>
                </a:moveTo>
                <a:cubicBezTo>
                  <a:pt x="2608414" y="1453647"/>
                  <a:pt x="2610092" y="1454374"/>
                  <a:pt x="2614076" y="1453915"/>
                </a:cubicBezTo>
                <a:cubicBezTo>
                  <a:pt x="2614076" y="1457741"/>
                  <a:pt x="2614076" y="1457741"/>
                  <a:pt x="2614076" y="1457741"/>
                </a:cubicBezTo>
                <a:cubicBezTo>
                  <a:pt x="2607366" y="1458659"/>
                  <a:pt x="2610092" y="1462639"/>
                  <a:pt x="2603381" y="1459731"/>
                </a:cubicBezTo>
                <a:cubicBezTo>
                  <a:pt x="2603381" y="1454833"/>
                  <a:pt x="2603381" y="1454833"/>
                  <a:pt x="2603381" y="1454833"/>
                </a:cubicBezTo>
                <a:cubicBezTo>
                  <a:pt x="2605374" y="1452920"/>
                  <a:pt x="2606056" y="1452920"/>
                  <a:pt x="2607235" y="1453284"/>
                </a:cubicBezTo>
                <a:close/>
                <a:moveTo>
                  <a:pt x="2533500" y="1451962"/>
                </a:moveTo>
                <a:cubicBezTo>
                  <a:pt x="2532264" y="1455892"/>
                  <a:pt x="2536180" y="1456992"/>
                  <a:pt x="2536180" y="1460923"/>
                </a:cubicBezTo>
                <a:cubicBezTo>
                  <a:pt x="2542569" y="1460923"/>
                  <a:pt x="2546484" y="1458879"/>
                  <a:pt x="2547927" y="1454949"/>
                </a:cubicBezTo>
                <a:cubicBezTo>
                  <a:pt x="2545247" y="1449918"/>
                  <a:pt x="2538653" y="1460923"/>
                  <a:pt x="2536180" y="1454005"/>
                </a:cubicBezTo>
                <a:cubicBezTo>
                  <a:pt x="2538653" y="1454005"/>
                  <a:pt x="2537417" y="1451018"/>
                  <a:pt x="2533500" y="1451962"/>
                </a:cubicBezTo>
                <a:close/>
                <a:moveTo>
                  <a:pt x="3041166" y="1451959"/>
                </a:moveTo>
                <a:cubicBezTo>
                  <a:pt x="3038541" y="1457037"/>
                  <a:pt x="3030868" y="1464020"/>
                  <a:pt x="3023194" y="1463068"/>
                </a:cubicBezTo>
                <a:cubicBezTo>
                  <a:pt x="3025819" y="1458942"/>
                  <a:pt x="3034704" y="1451007"/>
                  <a:pt x="3041166" y="1451959"/>
                </a:cubicBezTo>
                <a:close/>
                <a:moveTo>
                  <a:pt x="2445400" y="1448385"/>
                </a:moveTo>
                <a:cubicBezTo>
                  <a:pt x="2441639" y="1448267"/>
                  <a:pt x="2438393" y="1449525"/>
                  <a:pt x="2439732" y="1454005"/>
                </a:cubicBezTo>
                <a:cubicBezTo>
                  <a:pt x="2442411" y="1454949"/>
                  <a:pt x="2451479" y="1451018"/>
                  <a:pt x="2451479" y="1455892"/>
                </a:cubicBezTo>
                <a:cubicBezTo>
                  <a:pt x="2446327" y="1455892"/>
                  <a:pt x="2447563" y="1461866"/>
                  <a:pt x="2440968" y="1460923"/>
                </a:cubicBezTo>
                <a:cubicBezTo>
                  <a:pt x="2435816" y="1458879"/>
                  <a:pt x="2425305" y="1459980"/>
                  <a:pt x="2424069" y="1458879"/>
                </a:cubicBezTo>
                <a:cubicBezTo>
                  <a:pt x="2429221" y="1463910"/>
                  <a:pt x="2420154" y="1468941"/>
                  <a:pt x="2416238" y="1463910"/>
                </a:cubicBezTo>
                <a:cubicBezTo>
                  <a:pt x="2415002" y="1470828"/>
                  <a:pt x="2418917" y="1472871"/>
                  <a:pt x="2422833" y="1474758"/>
                </a:cubicBezTo>
                <a:cubicBezTo>
                  <a:pt x="2422833" y="1470828"/>
                  <a:pt x="2425305" y="1468941"/>
                  <a:pt x="2427985" y="1467841"/>
                </a:cubicBezTo>
                <a:cubicBezTo>
                  <a:pt x="2434579" y="1483720"/>
                  <a:pt x="2434579" y="1458879"/>
                  <a:pt x="2443648" y="1473815"/>
                </a:cubicBezTo>
                <a:cubicBezTo>
                  <a:pt x="2444884" y="1461866"/>
                  <a:pt x="2455394" y="1469885"/>
                  <a:pt x="2458074" y="1473815"/>
                </a:cubicBezTo>
                <a:cubicBezTo>
                  <a:pt x="2455394" y="1463910"/>
                  <a:pt x="2463226" y="1463910"/>
                  <a:pt x="2463226" y="1456992"/>
                </a:cubicBezTo>
                <a:cubicBezTo>
                  <a:pt x="2455394" y="1460923"/>
                  <a:pt x="2448799" y="1459980"/>
                  <a:pt x="2454158" y="1451018"/>
                </a:cubicBezTo>
                <a:cubicBezTo>
                  <a:pt x="2453437" y="1449996"/>
                  <a:pt x="2449161" y="1448503"/>
                  <a:pt x="2445400" y="1448385"/>
                </a:cubicBezTo>
                <a:close/>
                <a:moveTo>
                  <a:pt x="2960558" y="1446585"/>
                </a:moveTo>
                <a:cubicBezTo>
                  <a:pt x="2963950" y="1446809"/>
                  <a:pt x="2967113" y="1447772"/>
                  <a:pt x="2969377" y="1449698"/>
                </a:cubicBezTo>
                <a:cubicBezTo>
                  <a:pt x="2958884" y="1456630"/>
                  <a:pt x="2951065" y="1453703"/>
                  <a:pt x="2942012" y="1458479"/>
                </a:cubicBezTo>
                <a:cubicBezTo>
                  <a:pt x="2938156" y="1451893"/>
                  <a:pt x="2950384" y="1445913"/>
                  <a:pt x="2960558" y="1446585"/>
                </a:cubicBezTo>
                <a:close/>
                <a:moveTo>
                  <a:pt x="2611877" y="1444376"/>
                </a:moveTo>
                <a:cubicBezTo>
                  <a:pt x="2614326" y="1444714"/>
                  <a:pt x="2616380" y="1446076"/>
                  <a:pt x="2617715" y="1449053"/>
                </a:cubicBezTo>
                <a:cubicBezTo>
                  <a:pt x="2606008" y="1455010"/>
                  <a:pt x="2600873" y="1448113"/>
                  <a:pt x="2587934" y="1452972"/>
                </a:cubicBezTo>
                <a:cubicBezTo>
                  <a:pt x="2593634" y="1451562"/>
                  <a:pt x="2604532" y="1443362"/>
                  <a:pt x="2611877" y="1444376"/>
                </a:cubicBezTo>
                <a:close/>
                <a:moveTo>
                  <a:pt x="2319853" y="1443298"/>
                </a:moveTo>
                <a:lnTo>
                  <a:pt x="2316948" y="1445418"/>
                </a:lnTo>
                <a:lnTo>
                  <a:pt x="2322470" y="1445987"/>
                </a:lnTo>
                <a:lnTo>
                  <a:pt x="2319382" y="1451044"/>
                </a:lnTo>
                <a:lnTo>
                  <a:pt x="2324178" y="1451273"/>
                </a:lnTo>
                <a:lnTo>
                  <a:pt x="2324402" y="1451329"/>
                </a:lnTo>
                <a:lnTo>
                  <a:pt x="2324637" y="1450414"/>
                </a:lnTo>
                <a:cubicBezTo>
                  <a:pt x="2325265" y="1448582"/>
                  <a:pt x="2326179" y="1446969"/>
                  <a:pt x="2327828" y="1445987"/>
                </a:cubicBezTo>
                <a:cubicBezTo>
                  <a:pt x="2327106" y="1444493"/>
                  <a:pt x="2325458" y="1443983"/>
                  <a:pt x="2323500" y="1443727"/>
                </a:cubicBezTo>
                <a:close/>
                <a:moveTo>
                  <a:pt x="3025625" y="1442267"/>
                </a:moveTo>
                <a:cubicBezTo>
                  <a:pt x="3031032" y="1442260"/>
                  <a:pt x="3034155" y="1447595"/>
                  <a:pt x="3032198" y="1451347"/>
                </a:cubicBezTo>
                <a:cubicBezTo>
                  <a:pt x="3027183" y="1454317"/>
                  <a:pt x="3023371" y="1449315"/>
                  <a:pt x="3019559" y="1444312"/>
                </a:cubicBezTo>
                <a:cubicBezTo>
                  <a:pt x="3021766" y="1442866"/>
                  <a:pt x="3023822" y="1442270"/>
                  <a:pt x="3025625" y="1442267"/>
                </a:cubicBezTo>
                <a:close/>
                <a:moveTo>
                  <a:pt x="2305333" y="1441301"/>
                </a:moveTo>
                <a:cubicBezTo>
                  <a:pt x="2305333" y="1441301"/>
                  <a:pt x="2306740" y="1441595"/>
                  <a:pt x="2308498" y="1441962"/>
                </a:cubicBezTo>
                <a:lnTo>
                  <a:pt x="2309625" y="1442198"/>
                </a:lnTo>
                <a:close/>
                <a:moveTo>
                  <a:pt x="2532264" y="1436082"/>
                </a:moveTo>
                <a:cubicBezTo>
                  <a:pt x="2521754" y="1441113"/>
                  <a:pt x="2522990" y="1452904"/>
                  <a:pt x="2510008" y="1451962"/>
                </a:cubicBezTo>
                <a:cubicBezTo>
                  <a:pt x="2515365" y="1451962"/>
                  <a:pt x="2512686" y="1458879"/>
                  <a:pt x="2517839" y="1457936"/>
                </a:cubicBezTo>
                <a:cubicBezTo>
                  <a:pt x="2522990" y="1451018"/>
                  <a:pt x="2536180" y="1443000"/>
                  <a:pt x="2532264" y="1436082"/>
                </a:cubicBezTo>
                <a:close/>
                <a:moveTo>
                  <a:pt x="2431421" y="1435320"/>
                </a:moveTo>
                <a:cubicBezTo>
                  <a:pt x="2428281" y="1435837"/>
                  <a:pt x="2428243" y="1439580"/>
                  <a:pt x="2425305" y="1441113"/>
                </a:cubicBezTo>
                <a:cubicBezTo>
                  <a:pt x="2426749" y="1437025"/>
                  <a:pt x="2422833" y="1435139"/>
                  <a:pt x="2420154" y="1439069"/>
                </a:cubicBezTo>
                <a:cubicBezTo>
                  <a:pt x="2425305" y="1439069"/>
                  <a:pt x="2421597" y="1445987"/>
                  <a:pt x="2425305" y="1448031"/>
                </a:cubicBezTo>
                <a:cubicBezTo>
                  <a:pt x="2425305" y="1448031"/>
                  <a:pt x="2425305" y="1448031"/>
                  <a:pt x="2431901" y="1446930"/>
                </a:cubicBezTo>
                <a:cubicBezTo>
                  <a:pt x="2434579" y="1443943"/>
                  <a:pt x="2435816" y="1441113"/>
                  <a:pt x="2435816" y="1436082"/>
                </a:cubicBezTo>
                <a:cubicBezTo>
                  <a:pt x="2433859" y="1435335"/>
                  <a:pt x="2432467" y="1435149"/>
                  <a:pt x="2431421" y="1435320"/>
                </a:cubicBezTo>
                <a:close/>
                <a:moveTo>
                  <a:pt x="2439732" y="1435139"/>
                </a:moveTo>
                <a:cubicBezTo>
                  <a:pt x="2437053" y="1438126"/>
                  <a:pt x="2435816" y="1446930"/>
                  <a:pt x="2442411" y="1446930"/>
                </a:cubicBezTo>
                <a:cubicBezTo>
                  <a:pt x="2444987" y="1444493"/>
                  <a:pt x="2446275" y="1442292"/>
                  <a:pt x="2445940" y="1440327"/>
                </a:cubicBezTo>
                <a:lnTo>
                  <a:pt x="2441842" y="1436902"/>
                </a:lnTo>
                <a:lnTo>
                  <a:pt x="2439818" y="1437042"/>
                </a:lnTo>
                <a:lnTo>
                  <a:pt x="2441127" y="1436304"/>
                </a:lnTo>
                <a:close/>
                <a:moveTo>
                  <a:pt x="2719712" y="1434392"/>
                </a:moveTo>
                <a:cubicBezTo>
                  <a:pt x="2721514" y="1434512"/>
                  <a:pt x="2723011" y="1434781"/>
                  <a:pt x="2723688" y="1435061"/>
                </a:cubicBezTo>
                <a:cubicBezTo>
                  <a:pt x="2724937" y="1440021"/>
                  <a:pt x="2713067" y="1439061"/>
                  <a:pt x="2709111" y="1441141"/>
                </a:cubicBezTo>
                <a:cubicBezTo>
                  <a:pt x="2706143" y="1435022"/>
                  <a:pt x="2714304" y="1434032"/>
                  <a:pt x="2719712" y="1434392"/>
                </a:cubicBezTo>
                <a:close/>
                <a:moveTo>
                  <a:pt x="2467964" y="1433186"/>
                </a:moveTo>
                <a:lnTo>
                  <a:pt x="2459310" y="1439069"/>
                </a:lnTo>
                <a:cubicBezTo>
                  <a:pt x="2464463" y="1439541"/>
                  <a:pt x="2468378" y="1438794"/>
                  <a:pt x="2471495" y="1437301"/>
                </a:cubicBezTo>
                <a:lnTo>
                  <a:pt x="2474852" y="1434463"/>
                </a:lnTo>
                <a:close/>
                <a:moveTo>
                  <a:pt x="2478888" y="1431051"/>
                </a:moveTo>
                <a:lnTo>
                  <a:pt x="2476688" y="1431366"/>
                </a:lnTo>
                <a:lnTo>
                  <a:pt x="2477250" y="1432436"/>
                </a:lnTo>
                <a:close/>
                <a:moveTo>
                  <a:pt x="2458388" y="1426784"/>
                </a:moveTo>
                <a:lnTo>
                  <a:pt x="2458074" y="1428064"/>
                </a:lnTo>
                <a:lnTo>
                  <a:pt x="2460806" y="1427350"/>
                </a:lnTo>
                <a:lnTo>
                  <a:pt x="2460634" y="1427141"/>
                </a:lnTo>
                <a:close/>
                <a:moveTo>
                  <a:pt x="2511147" y="1426150"/>
                </a:moveTo>
                <a:cubicBezTo>
                  <a:pt x="2506723" y="1426364"/>
                  <a:pt x="2501661" y="1431641"/>
                  <a:pt x="2495788" y="1430107"/>
                </a:cubicBezTo>
                <a:cubicBezTo>
                  <a:pt x="2495788" y="1430107"/>
                  <a:pt x="2495788" y="1430107"/>
                  <a:pt x="2495788" y="1437025"/>
                </a:cubicBezTo>
                <a:cubicBezTo>
                  <a:pt x="2507534" y="1435139"/>
                  <a:pt x="2513923" y="1434038"/>
                  <a:pt x="2515365" y="1428064"/>
                </a:cubicBezTo>
                <a:cubicBezTo>
                  <a:pt x="2514026" y="1426570"/>
                  <a:pt x="2512622" y="1426079"/>
                  <a:pt x="2511147" y="1426150"/>
                </a:cubicBezTo>
                <a:close/>
                <a:moveTo>
                  <a:pt x="2495788" y="1423190"/>
                </a:moveTo>
                <a:lnTo>
                  <a:pt x="2495697" y="1423411"/>
                </a:lnTo>
                <a:lnTo>
                  <a:pt x="2490635" y="1424133"/>
                </a:lnTo>
                <a:cubicBezTo>
                  <a:pt x="2495788" y="1423190"/>
                  <a:pt x="2495788" y="1423190"/>
                  <a:pt x="2495788" y="1423190"/>
                </a:cubicBezTo>
                <a:close/>
                <a:moveTo>
                  <a:pt x="2390409" y="1420405"/>
                </a:moveTo>
                <a:cubicBezTo>
                  <a:pt x="2377427" y="1421348"/>
                  <a:pt x="2364444" y="1420405"/>
                  <a:pt x="2351256" y="1428266"/>
                </a:cubicBezTo>
                <a:cubicBezTo>
                  <a:pt x="2352699" y="1420405"/>
                  <a:pt x="2339510" y="1429366"/>
                  <a:pt x="2334359" y="1429366"/>
                </a:cubicBezTo>
                <a:cubicBezTo>
                  <a:pt x="2329207" y="1427323"/>
                  <a:pt x="2330443" y="1419304"/>
                  <a:pt x="2322612" y="1421348"/>
                </a:cubicBezTo>
                <a:cubicBezTo>
                  <a:pt x="2317461" y="1427323"/>
                  <a:pt x="2309631" y="1435341"/>
                  <a:pt x="2305715" y="1438329"/>
                </a:cubicBezTo>
                <a:cubicBezTo>
                  <a:pt x="2304479" y="1435341"/>
                  <a:pt x="2300564" y="1433297"/>
                  <a:pt x="2295412" y="1431254"/>
                </a:cubicBezTo>
                <a:cubicBezTo>
                  <a:pt x="2292733" y="1425279"/>
                  <a:pt x="2307157" y="1430310"/>
                  <a:pt x="2303243" y="1424335"/>
                </a:cubicBezTo>
                <a:cubicBezTo>
                  <a:pt x="2297370" y="1425043"/>
                  <a:pt x="2286281" y="1424689"/>
                  <a:pt x="2280060" y="1427386"/>
                </a:cubicBezTo>
                <a:lnTo>
                  <a:pt x="2276502" y="1430644"/>
                </a:lnTo>
                <a:lnTo>
                  <a:pt x="2277050" y="1431256"/>
                </a:lnTo>
                <a:lnTo>
                  <a:pt x="2284259" y="1431273"/>
                </a:lnTo>
                <a:cubicBezTo>
                  <a:pt x="2286860" y="1431017"/>
                  <a:pt x="2288818" y="1431253"/>
                  <a:pt x="2288818" y="1434240"/>
                </a:cubicBezTo>
                <a:lnTo>
                  <a:pt x="2281894" y="1435516"/>
                </a:lnTo>
                <a:lnTo>
                  <a:pt x="2290286" y="1442092"/>
                </a:lnTo>
                <a:lnTo>
                  <a:pt x="2291350" y="1440013"/>
                </a:lnTo>
                <a:cubicBezTo>
                  <a:pt x="2295215" y="1445201"/>
                  <a:pt x="2300586" y="1442076"/>
                  <a:pt x="2303030" y="1444766"/>
                </a:cubicBezTo>
                <a:lnTo>
                  <a:pt x="2303843" y="1447979"/>
                </a:lnTo>
                <a:lnTo>
                  <a:pt x="2304273" y="1448038"/>
                </a:lnTo>
                <a:lnTo>
                  <a:pt x="2306126" y="1448893"/>
                </a:lnTo>
                <a:lnTo>
                  <a:pt x="2312938" y="1445004"/>
                </a:lnTo>
                <a:lnTo>
                  <a:pt x="2314553" y="1445171"/>
                </a:lnTo>
                <a:lnTo>
                  <a:pt x="2311387" y="1443532"/>
                </a:lnTo>
                <a:lnTo>
                  <a:pt x="2311046" y="1442494"/>
                </a:lnTo>
                <a:lnTo>
                  <a:pt x="2310615" y="1441181"/>
                </a:lnTo>
                <a:cubicBezTo>
                  <a:pt x="2314661" y="1442114"/>
                  <a:pt x="2312106" y="1439162"/>
                  <a:pt x="2316152" y="1437141"/>
                </a:cubicBezTo>
                <a:cubicBezTo>
                  <a:pt x="2318176" y="1437685"/>
                  <a:pt x="2318495" y="1438423"/>
                  <a:pt x="2318814" y="1439278"/>
                </a:cubicBezTo>
                <a:lnTo>
                  <a:pt x="2320408" y="1440975"/>
                </a:lnTo>
                <a:lnTo>
                  <a:pt x="2326772" y="1436809"/>
                </a:lnTo>
                <a:cubicBezTo>
                  <a:pt x="2329373" y="1434824"/>
                  <a:pt x="2329682" y="1433095"/>
                  <a:pt x="2322470" y="1432152"/>
                </a:cubicBezTo>
                <a:cubicBezTo>
                  <a:pt x="2327003" y="1429636"/>
                  <a:pt x="2332876" y="1430383"/>
                  <a:pt x="2337462" y="1433114"/>
                </a:cubicBezTo>
                <a:lnTo>
                  <a:pt x="2340244" y="1435819"/>
                </a:lnTo>
                <a:lnTo>
                  <a:pt x="2345644" y="1433685"/>
                </a:lnTo>
                <a:cubicBezTo>
                  <a:pt x="2348601" y="1433200"/>
                  <a:pt x="2351558" y="1432695"/>
                  <a:pt x="2354152" y="1430209"/>
                </a:cubicBezTo>
                <a:cubicBezTo>
                  <a:pt x="2358094" y="1435181"/>
                  <a:pt x="2363281" y="1432229"/>
                  <a:pt x="2360792" y="1438134"/>
                </a:cubicBezTo>
                <a:cubicBezTo>
                  <a:pt x="2354878" y="1433705"/>
                  <a:pt x="2348965" y="1436444"/>
                  <a:pt x="2343051" y="1437238"/>
                </a:cubicBezTo>
                <a:lnTo>
                  <a:pt x="2341658" y="1437192"/>
                </a:lnTo>
                <a:lnTo>
                  <a:pt x="2343045" y="1438541"/>
                </a:lnTo>
                <a:cubicBezTo>
                  <a:pt x="2344366" y="1440740"/>
                  <a:pt x="2345036" y="1443275"/>
                  <a:pt x="2344727" y="1445987"/>
                </a:cubicBezTo>
                <a:cubicBezTo>
                  <a:pt x="2338854" y="1444022"/>
                  <a:pt x="2336535" y="1447991"/>
                  <a:pt x="2334731" y="1451588"/>
                </a:cubicBezTo>
                <a:lnTo>
                  <a:pt x="2333467" y="1453615"/>
                </a:lnTo>
                <a:lnTo>
                  <a:pt x="2345123" y="1456554"/>
                </a:lnTo>
                <a:lnTo>
                  <a:pt x="2364616" y="1465367"/>
                </a:lnTo>
                <a:lnTo>
                  <a:pt x="2369456" y="1464854"/>
                </a:lnTo>
                <a:lnTo>
                  <a:pt x="2370309" y="1467941"/>
                </a:lnTo>
                <a:lnTo>
                  <a:pt x="2377280" y="1471093"/>
                </a:lnTo>
                <a:lnTo>
                  <a:pt x="2378525" y="1470828"/>
                </a:lnTo>
                <a:cubicBezTo>
                  <a:pt x="2369456" y="1466897"/>
                  <a:pt x="2379761" y="1466897"/>
                  <a:pt x="2379761" y="1457936"/>
                </a:cubicBezTo>
                <a:cubicBezTo>
                  <a:pt x="2387593" y="1454949"/>
                  <a:pt x="2383677" y="1463910"/>
                  <a:pt x="2389035" y="1463910"/>
                </a:cubicBezTo>
                <a:cubicBezTo>
                  <a:pt x="2387593" y="1466897"/>
                  <a:pt x="2383677" y="1465954"/>
                  <a:pt x="2383677" y="1468941"/>
                </a:cubicBezTo>
                <a:cubicBezTo>
                  <a:pt x="2385119" y="1470828"/>
                  <a:pt x="2385119" y="1472871"/>
                  <a:pt x="2387593" y="1473815"/>
                </a:cubicBezTo>
                <a:cubicBezTo>
                  <a:pt x="2392950" y="1472871"/>
                  <a:pt x="2390271" y="1465954"/>
                  <a:pt x="2394187" y="1463910"/>
                </a:cubicBezTo>
                <a:cubicBezTo>
                  <a:pt x="2395423" y="1457936"/>
                  <a:pt x="2385119" y="1458879"/>
                  <a:pt x="2394187" y="1454949"/>
                </a:cubicBezTo>
                <a:cubicBezTo>
                  <a:pt x="2394187" y="1454005"/>
                  <a:pt x="2385119" y="1451962"/>
                  <a:pt x="2382440" y="1454949"/>
                </a:cubicBezTo>
                <a:cubicBezTo>
                  <a:pt x="2383058" y="1450939"/>
                  <a:pt x="2381771" y="1447952"/>
                  <a:pt x="2380637" y="1445221"/>
                </a:cubicBezTo>
                <a:lnTo>
                  <a:pt x="2380628" y="1445139"/>
                </a:lnTo>
                <a:lnTo>
                  <a:pt x="2378500" y="1445998"/>
                </a:lnTo>
                <a:cubicBezTo>
                  <a:pt x="2378500" y="1445998"/>
                  <a:pt x="2378500" y="1445998"/>
                  <a:pt x="2373485" y="1443039"/>
                </a:cubicBezTo>
                <a:cubicBezTo>
                  <a:pt x="2375390" y="1441091"/>
                  <a:pt x="2377898" y="1439143"/>
                  <a:pt x="2379779" y="1437313"/>
                </a:cubicBezTo>
                <a:lnTo>
                  <a:pt x="2379790" y="1437292"/>
                </a:lnTo>
                <a:lnTo>
                  <a:pt x="2379761" y="1437025"/>
                </a:lnTo>
                <a:lnTo>
                  <a:pt x="2379905" y="1437063"/>
                </a:lnTo>
                <a:lnTo>
                  <a:pt x="2382312" y="1432289"/>
                </a:lnTo>
                <a:cubicBezTo>
                  <a:pt x="2386123" y="1434158"/>
                  <a:pt x="2384919" y="1436183"/>
                  <a:pt x="2388732" y="1437118"/>
                </a:cubicBezTo>
                <a:lnTo>
                  <a:pt x="2384389" y="1439609"/>
                </a:lnTo>
                <a:lnTo>
                  <a:pt x="2385145" y="1441408"/>
                </a:lnTo>
                <a:cubicBezTo>
                  <a:pt x="2385635" y="1444022"/>
                  <a:pt x="2385635" y="1447009"/>
                  <a:pt x="2387593" y="1448031"/>
                </a:cubicBezTo>
                <a:cubicBezTo>
                  <a:pt x="2392950" y="1445043"/>
                  <a:pt x="2402018" y="1445987"/>
                  <a:pt x="2405934" y="1441113"/>
                </a:cubicBezTo>
                <a:cubicBezTo>
                  <a:pt x="2400782" y="1436082"/>
                  <a:pt x="2389035" y="1445043"/>
                  <a:pt x="2390271" y="1432152"/>
                </a:cubicBezTo>
                <a:cubicBezTo>
                  <a:pt x="2394805" y="1435139"/>
                  <a:pt x="2396454" y="1433645"/>
                  <a:pt x="2396789" y="1431031"/>
                </a:cubicBezTo>
                <a:lnTo>
                  <a:pt x="2396611" y="1428331"/>
                </a:lnTo>
                <a:lnTo>
                  <a:pt x="2393088" y="1431254"/>
                </a:lnTo>
                <a:cubicBezTo>
                  <a:pt x="2391130" y="1430507"/>
                  <a:pt x="2390551" y="1429642"/>
                  <a:pt x="2390641" y="1428718"/>
                </a:cubicBezTo>
                <a:lnTo>
                  <a:pt x="2391638" y="1426884"/>
                </a:lnTo>
                <a:lnTo>
                  <a:pt x="2388638" y="1430303"/>
                </a:lnTo>
                <a:cubicBezTo>
                  <a:pt x="2386667" y="1431643"/>
                  <a:pt x="2384056" y="1432370"/>
                  <a:pt x="2380165" y="1431910"/>
                </a:cubicBezTo>
                <a:lnTo>
                  <a:pt x="2380796" y="1428511"/>
                </a:lnTo>
                <a:lnTo>
                  <a:pt x="2379178" y="1429622"/>
                </a:lnTo>
                <a:cubicBezTo>
                  <a:pt x="2375791" y="1430632"/>
                  <a:pt x="2371847" y="1429130"/>
                  <a:pt x="2367786" y="1434214"/>
                </a:cubicBezTo>
                <a:cubicBezTo>
                  <a:pt x="2367786" y="1434214"/>
                  <a:pt x="2367786" y="1434214"/>
                  <a:pt x="2362581" y="1431287"/>
                </a:cubicBezTo>
                <a:cubicBezTo>
                  <a:pt x="2367162" y="1430363"/>
                  <a:pt x="2370806" y="1429400"/>
                  <a:pt x="2373956" y="1428668"/>
                </a:cubicBezTo>
                <a:lnTo>
                  <a:pt x="2380957" y="1427642"/>
                </a:lnTo>
                <a:lnTo>
                  <a:pt x="2381147" y="1426616"/>
                </a:lnTo>
                <a:cubicBezTo>
                  <a:pt x="2382015" y="1425262"/>
                  <a:pt x="2383327" y="1424315"/>
                  <a:pt x="2384798" y="1423760"/>
                </a:cubicBezTo>
                <a:lnTo>
                  <a:pt x="2392630" y="1424927"/>
                </a:lnTo>
                <a:lnTo>
                  <a:pt x="2393552" y="1422940"/>
                </a:lnTo>
                <a:cubicBezTo>
                  <a:pt x="2393487" y="1422016"/>
                  <a:pt x="2392676" y="1421152"/>
                  <a:pt x="2390409" y="1420405"/>
                </a:cubicBezTo>
                <a:close/>
                <a:moveTo>
                  <a:pt x="2467141" y="1420202"/>
                </a:moveTo>
                <a:lnTo>
                  <a:pt x="2466331" y="1420384"/>
                </a:lnTo>
                <a:lnTo>
                  <a:pt x="2463932" y="1421440"/>
                </a:lnTo>
                <a:cubicBezTo>
                  <a:pt x="2461503" y="1422296"/>
                  <a:pt x="2459867" y="1423269"/>
                  <a:pt x="2461708" y="1425214"/>
                </a:cubicBezTo>
                <a:lnTo>
                  <a:pt x="2464870" y="1425589"/>
                </a:lnTo>
                <a:close/>
                <a:moveTo>
                  <a:pt x="2614078" y="1419116"/>
                </a:moveTo>
                <a:cubicBezTo>
                  <a:pt x="2612622" y="1425075"/>
                  <a:pt x="2603469" y="1426173"/>
                  <a:pt x="2603469" y="1432132"/>
                </a:cubicBezTo>
                <a:cubicBezTo>
                  <a:pt x="2599517" y="1431034"/>
                  <a:pt x="2598269" y="1428055"/>
                  <a:pt x="2597021" y="1424134"/>
                </a:cubicBezTo>
                <a:cubicBezTo>
                  <a:pt x="2602221" y="1422096"/>
                  <a:pt x="2606173" y="1419116"/>
                  <a:pt x="2614078" y="1419116"/>
                </a:cubicBezTo>
                <a:close/>
                <a:moveTo>
                  <a:pt x="2484129" y="1418940"/>
                </a:moveTo>
                <a:lnTo>
                  <a:pt x="2484530" y="1421657"/>
                </a:lnTo>
                <a:cubicBezTo>
                  <a:pt x="2486308" y="1426374"/>
                  <a:pt x="2489193" y="1431601"/>
                  <a:pt x="2486513" y="1438126"/>
                </a:cubicBezTo>
                <a:cubicBezTo>
                  <a:pt x="2486513" y="1438126"/>
                  <a:pt x="2486513" y="1438126"/>
                  <a:pt x="2490635" y="1437025"/>
                </a:cubicBezTo>
                <a:cubicBezTo>
                  <a:pt x="2493211" y="1435532"/>
                  <a:pt x="2492851" y="1433292"/>
                  <a:pt x="2492670" y="1430816"/>
                </a:cubicBezTo>
                <a:lnTo>
                  <a:pt x="2495697" y="1423411"/>
                </a:lnTo>
                <a:lnTo>
                  <a:pt x="2509139" y="1421494"/>
                </a:lnTo>
                <a:lnTo>
                  <a:pt x="2504981" y="1419304"/>
                </a:lnTo>
                <a:cubicBezTo>
                  <a:pt x="2500447" y="1422291"/>
                  <a:pt x="2495862" y="1421820"/>
                  <a:pt x="2491278" y="1420601"/>
                </a:cubicBezTo>
                <a:close/>
                <a:moveTo>
                  <a:pt x="2403040" y="1418479"/>
                </a:moveTo>
                <a:cubicBezTo>
                  <a:pt x="2401743" y="1418145"/>
                  <a:pt x="2400197" y="1418322"/>
                  <a:pt x="2398239" y="1419304"/>
                </a:cubicBezTo>
                <a:cubicBezTo>
                  <a:pt x="2395972" y="1420562"/>
                  <a:pt x="2395161" y="1421633"/>
                  <a:pt x="2395058" y="1422608"/>
                </a:cubicBezTo>
                <a:lnTo>
                  <a:pt x="2395931" y="1424839"/>
                </a:lnTo>
                <a:lnTo>
                  <a:pt x="2395423" y="1423190"/>
                </a:lnTo>
                <a:cubicBezTo>
                  <a:pt x="2396866" y="1420202"/>
                  <a:pt x="2398103" y="1421146"/>
                  <a:pt x="2398103" y="1423190"/>
                </a:cubicBezTo>
                <a:cubicBezTo>
                  <a:pt x="2399339" y="1423190"/>
                  <a:pt x="2400782" y="1422090"/>
                  <a:pt x="2400782" y="1420202"/>
                </a:cubicBezTo>
                <a:cubicBezTo>
                  <a:pt x="2403564" y="1423858"/>
                  <a:pt x="2396956" y="1429282"/>
                  <a:pt x="2399565" y="1432164"/>
                </a:cubicBezTo>
                <a:lnTo>
                  <a:pt x="2400303" y="1432381"/>
                </a:lnTo>
                <a:lnTo>
                  <a:pt x="2402628" y="1430903"/>
                </a:lnTo>
                <a:cubicBezTo>
                  <a:pt x="2402628" y="1430903"/>
                  <a:pt x="2402628" y="1430903"/>
                  <a:pt x="2403616" y="1431266"/>
                </a:cubicBezTo>
                <a:lnTo>
                  <a:pt x="2406734" y="1432413"/>
                </a:lnTo>
                <a:lnTo>
                  <a:pt x="2410356" y="1425049"/>
                </a:lnTo>
                <a:lnTo>
                  <a:pt x="2406353" y="1420719"/>
                </a:lnTo>
                <a:cubicBezTo>
                  <a:pt x="2405387" y="1419658"/>
                  <a:pt x="2404337" y="1418813"/>
                  <a:pt x="2403040" y="1418479"/>
                </a:cubicBezTo>
                <a:close/>
                <a:moveTo>
                  <a:pt x="2935868" y="1418055"/>
                </a:moveTo>
                <a:cubicBezTo>
                  <a:pt x="2937406" y="1418445"/>
                  <a:pt x="2939176" y="1419697"/>
                  <a:pt x="2941199" y="1422201"/>
                </a:cubicBezTo>
                <a:cubicBezTo>
                  <a:pt x="2931829" y="1424269"/>
                  <a:pt x="2934385" y="1429357"/>
                  <a:pt x="2927783" y="1427290"/>
                </a:cubicBezTo>
                <a:cubicBezTo>
                  <a:pt x="2928741" y="1423473"/>
                  <a:pt x="2931256" y="1416885"/>
                  <a:pt x="2935868" y="1418055"/>
                </a:cubicBezTo>
                <a:close/>
                <a:moveTo>
                  <a:pt x="2287298" y="1415531"/>
                </a:moveTo>
                <a:cubicBezTo>
                  <a:pt x="2284182" y="1415413"/>
                  <a:pt x="2280266" y="1416395"/>
                  <a:pt x="2278309" y="1418361"/>
                </a:cubicBezTo>
                <a:cubicBezTo>
                  <a:pt x="2282224" y="1424335"/>
                  <a:pt x="2287582" y="1416317"/>
                  <a:pt x="2291497" y="1419304"/>
                </a:cubicBezTo>
                <a:cubicBezTo>
                  <a:pt x="2292733" y="1416867"/>
                  <a:pt x="2290415" y="1415649"/>
                  <a:pt x="2287298" y="1415531"/>
                </a:cubicBezTo>
                <a:close/>
                <a:moveTo>
                  <a:pt x="2270697" y="1412235"/>
                </a:moveTo>
                <a:lnTo>
                  <a:pt x="2267076" y="1412298"/>
                </a:lnTo>
                <a:lnTo>
                  <a:pt x="2267902" y="1415457"/>
                </a:lnTo>
                <a:close/>
                <a:moveTo>
                  <a:pt x="2448478" y="1409333"/>
                </a:moveTo>
                <a:lnTo>
                  <a:pt x="2447176" y="1411856"/>
                </a:lnTo>
                <a:cubicBezTo>
                  <a:pt x="2445428" y="1413713"/>
                  <a:pt x="2443419" y="1411679"/>
                  <a:pt x="2438628" y="1412387"/>
                </a:cubicBezTo>
                <a:cubicBezTo>
                  <a:pt x="2438628" y="1415374"/>
                  <a:pt x="2437185" y="1418361"/>
                  <a:pt x="2438628" y="1421348"/>
                </a:cubicBezTo>
                <a:cubicBezTo>
                  <a:pt x="2439864" y="1419304"/>
                  <a:pt x="2450374" y="1419304"/>
                  <a:pt x="2447694" y="1423393"/>
                </a:cubicBezTo>
                <a:lnTo>
                  <a:pt x="2442717" y="1422819"/>
                </a:lnTo>
                <a:lnTo>
                  <a:pt x="2447563" y="1428064"/>
                </a:lnTo>
                <a:cubicBezTo>
                  <a:pt x="2446327" y="1422090"/>
                  <a:pt x="2455394" y="1420202"/>
                  <a:pt x="2458074" y="1411241"/>
                </a:cubicBezTo>
                <a:lnTo>
                  <a:pt x="2456303" y="1410870"/>
                </a:lnTo>
                <a:lnTo>
                  <a:pt x="2454855" y="1415511"/>
                </a:lnTo>
                <a:cubicBezTo>
                  <a:pt x="2454186" y="1417103"/>
                  <a:pt x="2452846" y="1417811"/>
                  <a:pt x="2448931" y="1416317"/>
                </a:cubicBezTo>
                <a:cubicBezTo>
                  <a:pt x="2448004" y="1413369"/>
                  <a:pt x="2453684" y="1412632"/>
                  <a:pt x="2452670" y="1410789"/>
                </a:cubicBezTo>
                <a:lnTo>
                  <a:pt x="2451025" y="1409763"/>
                </a:lnTo>
                <a:lnTo>
                  <a:pt x="2449264" y="1409394"/>
                </a:lnTo>
                <a:close/>
                <a:moveTo>
                  <a:pt x="2285343" y="1409250"/>
                </a:moveTo>
                <a:lnTo>
                  <a:pt x="2276964" y="1411590"/>
                </a:lnTo>
                <a:lnTo>
                  <a:pt x="2274393" y="1413487"/>
                </a:lnTo>
                <a:cubicBezTo>
                  <a:pt x="2280988" y="1415374"/>
                  <a:pt x="2286139" y="1411443"/>
                  <a:pt x="2291497" y="1409399"/>
                </a:cubicBezTo>
                <a:close/>
                <a:moveTo>
                  <a:pt x="2481489" y="1405468"/>
                </a:moveTo>
                <a:lnTo>
                  <a:pt x="2478418" y="1405957"/>
                </a:lnTo>
                <a:lnTo>
                  <a:pt x="2477445" y="1413285"/>
                </a:lnTo>
                <a:lnTo>
                  <a:pt x="2479291" y="1412931"/>
                </a:lnTo>
                <a:lnTo>
                  <a:pt x="2479996" y="1411089"/>
                </a:lnTo>
                <a:cubicBezTo>
                  <a:pt x="2481129" y="1408967"/>
                  <a:pt x="2482108" y="1406962"/>
                  <a:pt x="2481489" y="1405468"/>
                </a:cubicBezTo>
                <a:close/>
                <a:moveTo>
                  <a:pt x="3111915" y="1403428"/>
                </a:moveTo>
                <a:cubicBezTo>
                  <a:pt x="3127488" y="1408494"/>
                  <a:pt x="3102695" y="1414509"/>
                  <a:pt x="3092450" y="1421475"/>
                </a:cubicBezTo>
                <a:cubicBezTo>
                  <a:pt x="3085893" y="1422425"/>
                  <a:pt x="3114374" y="1402478"/>
                  <a:pt x="3111915" y="1403428"/>
                </a:cubicBezTo>
                <a:close/>
                <a:moveTo>
                  <a:pt x="2509210" y="1403318"/>
                </a:moveTo>
                <a:lnTo>
                  <a:pt x="2503464" y="1405169"/>
                </a:lnTo>
                <a:lnTo>
                  <a:pt x="2502969" y="1405184"/>
                </a:lnTo>
                <a:lnTo>
                  <a:pt x="2502869" y="1405331"/>
                </a:lnTo>
                <a:cubicBezTo>
                  <a:pt x="2503023" y="1406687"/>
                  <a:pt x="2503642" y="1407905"/>
                  <a:pt x="2502302" y="1409399"/>
                </a:cubicBezTo>
                <a:cubicBezTo>
                  <a:pt x="2499108" y="1410893"/>
                  <a:pt x="2499469" y="1409163"/>
                  <a:pt x="2499314" y="1406942"/>
                </a:cubicBezTo>
                <a:lnTo>
                  <a:pt x="2498767" y="1405312"/>
                </a:lnTo>
                <a:lnTo>
                  <a:pt x="2490789" y="1405554"/>
                </a:lnTo>
                <a:lnTo>
                  <a:pt x="2489173" y="1404481"/>
                </a:lnTo>
                <a:lnTo>
                  <a:pt x="2487903" y="1407571"/>
                </a:lnTo>
                <a:lnTo>
                  <a:pt x="2487580" y="1408276"/>
                </a:lnTo>
                <a:lnTo>
                  <a:pt x="2489193" y="1408254"/>
                </a:lnTo>
                <a:lnTo>
                  <a:pt x="2483621" y="1414759"/>
                </a:lnTo>
                <a:lnTo>
                  <a:pt x="2489124" y="1415607"/>
                </a:lnTo>
                <a:cubicBezTo>
                  <a:pt x="2491593" y="1415496"/>
                  <a:pt x="2493995" y="1414971"/>
                  <a:pt x="2496352" y="1414292"/>
                </a:cubicBezTo>
                <a:lnTo>
                  <a:pt x="2499440" y="1413443"/>
                </a:lnTo>
                <a:lnTo>
                  <a:pt x="2493431" y="1412348"/>
                </a:lnTo>
                <a:cubicBezTo>
                  <a:pt x="2496138" y="1408453"/>
                  <a:pt x="2498637" y="1411413"/>
                  <a:pt x="2501344" y="1411413"/>
                </a:cubicBezTo>
                <a:cubicBezTo>
                  <a:pt x="2503322" y="1410945"/>
                  <a:pt x="2503635" y="1409231"/>
                  <a:pt x="2504442" y="1407868"/>
                </a:cubicBezTo>
                <a:lnTo>
                  <a:pt x="2510494" y="1406431"/>
                </a:lnTo>
                <a:lnTo>
                  <a:pt x="2510648" y="1404702"/>
                </a:lnTo>
                <a:close/>
                <a:moveTo>
                  <a:pt x="2579552" y="1401092"/>
                </a:moveTo>
                <a:cubicBezTo>
                  <a:pt x="2568128" y="1405993"/>
                  <a:pt x="2549973" y="1418958"/>
                  <a:pt x="2539774" y="1405993"/>
                </a:cubicBezTo>
                <a:cubicBezTo>
                  <a:pt x="2552625" y="1402989"/>
                  <a:pt x="2565477" y="1401092"/>
                  <a:pt x="2579552" y="1401092"/>
                </a:cubicBezTo>
                <a:close/>
                <a:moveTo>
                  <a:pt x="2481361" y="1399292"/>
                </a:moveTo>
                <a:lnTo>
                  <a:pt x="2481298" y="1399429"/>
                </a:lnTo>
                <a:lnTo>
                  <a:pt x="2481489" y="1399494"/>
                </a:lnTo>
                <a:lnTo>
                  <a:pt x="2481571" y="1399432"/>
                </a:lnTo>
                <a:close/>
                <a:moveTo>
                  <a:pt x="2949758" y="1399012"/>
                </a:moveTo>
                <a:cubicBezTo>
                  <a:pt x="2954839" y="1402980"/>
                  <a:pt x="2952401" y="1405042"/>
                  <a:pt x="2953620" y="1408057"/>
                </a:cubicBezTo>
                <a:cubicBezTo>
                  <a:pt x="2947319" y="1412025"/>
                  <a:pt x="2942034" y="1412025"/>
                  <a:pt x="2939595" y="1407105"/>
                </a:cubicBezTo>
                <a:cubicBezTo>
                  <a:pt x="2945896" y="1405042"/>
                  <a:pt x="2942034" y="1401075"/>
                  <a:pt x="2949758" y="1399012"/>
                </a:cubicBezTo>
                <a:close/>
                <a:moveTo>
                  <a:pt x="2690992" y="1398112"/>
                </a:moveTo>
                <a:cubicBezTo>
                  <a:pt x="2692227" y="1409022"/>
                  <a:pt x="2672681" y="1407124"/>
                  <a:pt x="2666304" y="1412026"/>
                </a:cubicBezTo>
                <a:cubicBezTo>
                  <a:pt x="2659720" y="1410128"/>
                  <a:pt x="2667538" y="1403013"/>
                  <a:pt x="2662395" y="1404120"/>
                </a:cubicBezTo>
                <a:cubicBezTo>
                  <a:pt x="2667538" y="1401116"/>
                  <a:pt x="2681734" y="1394159"/>
                  <a:pt x="2681734" y="1405068"/>
                </a:cubicBezTo>
                <a:cubicBezTo>
                  <a:pt x="2685644" y="1403013"/>
                  <a:pt x="2683174" y="1397163"/>
                  <a:pt x="2690992" y="1398112"/>
                </a:cubicBezTo>
                <a:close/>
                <a:moveTo>
                  <a:pt x="2468053" y="1397199"/>
                </a:moveTo>
                <a:lnTo>
                  <a:pt x="2466358" y="1399785"/>
                </a:lnTo>
                <a:lnTo>
                  <a:pt x="2468378" y="1397406"/>
                </a:lnTo>
                <a:close/>
                <a:moveTo>
                  <a:pt x="2646558" y="1396749"/>
                </a:moveTo>
                <a:cubicBezTo>
                  <a:pt x="2648369" y="1396734"/>
                  <a:pt x="2649758" y="1397300"/>
                  <a:pt x="2650427" y="1398809"/>
                </a:cubicBezTo>
                <a:cubicBezTo>
                  <a:pt x="2645898" y="1398809"/>
                  <a:pt x="2643942" y="1398809"/>
                  <a:pt x="2642630" y="1399683"/>
                </a:cubicBezTo>
                <a:lnTo>
                  <a:pt x="2639106" y="1405157"/>
                </a:lnTo>
                <a:lnTo>
                  <a:pt x="2642246" y="1406121"/>
                </a:lnTo>
                <a:cubicBezTo>
                  <a:pt x="2638262" y="1411087"/>
                  <a:pt x="2636793" y="1413105"/>
                  <a:pt x="2642246" y="1418847"/>
                </a:cubicBezTo>
                <a:cubicBezTo>
                  <a:pt x="2628824" y="1423814"/>
                  <a:pt x="2635535" y="1407207"/>
                  <a:pt x="2631552" y="1407207"/>
                </a:cubicBezTo>
                <a:cubicBezTo>
                  <a:pt x="2631552" y="1405189"/>
                  <a:pt x="2632809" y="1405189"/>
                  <a:pt x="2634277" y="1405189"/>
                </a:cubicBezTo>
                <a:lnTo>
                  <a:pt x="2636591" y="1405020"/>
                </a:lnTo>
                <a:lnTo>
                  <a:pt x="2634832" y="1404368"/>
                </a:lnTo>
                <a:cubicBezTo>
                  <a:pt x="2630355" y="1404151"/>
                  <a:pt x="2624951" y="1406594"/>
                  <a:pt x="2626959" y="1402781"/>
                </a:cubicBezTo>
                <a:cubicBezTo>
                  <a:pt x="2631899" y="1402066"/>
                  <a:pt x="2641125" y="1396793"/>
                  <a:pt x="2646558" y="1396749"/>
                </a:cubicBezTo>
                <a:close/>
                <a:moveTo>
                  <a:pt x="2526216" y="1389660"/>
                </a:moveTo>
                <a:lnTo>
                  <a:pt x="2522843" y="1391451"/>
                </a:lnTo>
                <a:lnTo>
                  <a:pt x="2522986" y="1391633"/>
                </a:lnTo>
                <a:cubicBezTo>
                  <a:pt x="2524454" y="1392380"/>
                  <a:pt x="2525793" y="1393127"/>
                  <a:pt x="2524557" y="1394620"/>
                </a:cubicBezTo>
                <a:cubicBezTo>
                  <a:pt x="2526515" y="1395092"/>
                  <a:pt x="2528473" y="1394345"/>
                  <a:pt x="2530430" y="1393107"/>
                </a:cubicBezTo>
                <a:lnTo>
                  <a:pt x="2534164" y="1390270"/>
                </a:lnTo>
                <a:close/>
                <a:moveTo>
                  <a:pt x="140457" y="1389601"/>
                </a:moveTo>
                <a:cubicBezTo>
                  <a:pt x="127473" y="1388658"/>
                  <a:pt x="128710" y="1402491"/>
                  <a:pt x="131389" y="1406421"/>
                </a:cubicBezTo>
                <a:cubicBezTo>
                  <a:pt x="143136" y="1406421"/>
                  <a:pt x="132625" y="1395574"/>
                  <a:pt x="140457" y="1389601"/>
                </a:cubicBezTo>
                <a:close/>
                <a:moveTo>
                  <a:pt x="2643157" y="1388571"/>
                </a:moveTo>
                <a:cubicBezTo>
                  <a:pt x="2632625" y="1390452"/>
                  <a:pt x="2628701" y="1392489"/>
                  <a:pt x="2634070" y="1397505"/>
                </a:cubicBezTo>
                <a:cubicBezTo>
                  <a:pt x="2623538" y="1400326"/>
                  <a:pt x="2634070" y="1392489"/>
                  <a:pt x="2626222" y="1391549"/>
                </a:cubicBezTo>
                <a:cubicBezTo>
                  <a:pt x="2620853" y="1399386"/>
                  <a:pt x="2603918" y="1393430"/>
                  <a:pt x="2605365" y="1402363"/>
                </a:cubicBezTo>
                <a:cubicBezTo>
                  <a:pt x="2598756" y="1395467"/>
                  <a:pt x="2593593" y="1404401"/>
                  <a:pt x="2584299" y="1400326"/>
                </a:cubicBezTo>
                <a:cubicBezTo>
                  <a:pt x="2601441" y="1394526"/>
                  <a:pt x="2628701" y="1386533"/>
                  <a:pt x="2643157" y="1388571"/>
                </a:cubicBezTo>
                <a:close/>
                <a:moveTo>
                  <a:pt x="2522114" y="1388479"/>
                </a:moveTo>
                <a:lnTo>
                  <a:pt x="2520642" y="1388646"/>
                </a:lnTo>
                <a:lnTo>
                  <a:pt x="2521074" y="1389198"/>
                </a:lnTo>
                <a:lnTo>
                  <a:pt x="2522011" y="1388573"/>
                </a:lnTo>
                <a:close/>
                <a:moveTo>
                  <a:pt x="2570098" y="1381571"/>
                </a:moveTo>
                <a:cubicBezTo>
                  <a:pt x="2564843" y="1383064"/>
                  <a:pt x="2559331" y="1383575"/>
                  <a:pt x="2553819" y="1384341"/>
                </a:cubicBezTo>
                <a:lnTo>
                  <a:pt x="2545151" y="1386633"/>
                </a:lnTo>
                <a:lnTo>
                  <a:pt x="2543981" y="1388186"/>
                </a:lnTo>
                <a:lnTo>
                  <a:pt x="2551861" y="1387623"/>
                </a:lnTo>
                <a:cubicBezTo>
                  <a:pt x="2556394" y="1386877"/>
                  <a:pt x="2560928" y="1386130"/>
                  <a:pt x="2566183" y="1386602"/>
                </a:cubicBezTo>
                <a:cubicBezTo>
                  <a:pt x="2566183" y="1386602"/>
                  <a:pt x="2566183" y="1386602"/>
                  <a:pt x="2570098" y="1381571"/>
                </a:cubicBezTo>
                <a:close/>
                <a:moveTo>
                  <a:pt x="2658693" y="1378849"/>
                </a:moveTo>
                <a:cubicBezTo>
                  <a:pt x="2660640" y="1378400"/>
                  <a:pt x="2663022" y="1378539"/>
                  <a:pt x="2665881" y="1379572"/>
                </a:cubicBezTo>
                <a:cubicBezTo>
                  <a:pt x="2662069" y="1383544"/>
                  <a:pt x="2656853" y="1388627"/>
                  <a:pt x="2651837" y="1390534"/>
                </a:cubicBezTo>
                <a:cubicBezTo>
                  <a:pt x="2650934" y="1386840"/>
                  <a:pt x="2652853" y="1380197"/>
                  <a:pt x="2658693" y="1378849"/>
                </a:cubicBezTo>
                <a:close/>
                <a:moveTo>
                  <a:pt x="2592713" y="1376497"/>
                </a:moveTo>
                <a:cubicBezTo>
                  <a:pt x="2588811" y="1375724"/>
                  <a:pt x="2580504" y="1378112"/>
                  <a:pt x="2576486" y="1376697"/>
                </a:cubicBezTo>
                <a:cubicBezTo>
                  <a:pt x="2576486" y="1378583"/>
                  <a:pt x="2576486" y="1380627"/>
                  <a:pt x="2575249" y="1382671"/>
                </a:cubicBezTo>
                <a:cubicBezTo>
                  <a:pt x="2583080" y="1385658"/>
                  <a:pt x="2586995" y="1376697"/>
                  <a:pt x="2594825" y="1378583"/>
                </a:cubicBezTo>
                <a:cubicBezTo>
                  <a:pt x="2594825" y="1377364"/>
                  <a:pt x="2594014" y="1376755"/>
                  <a:pt x="2592713" y="1376497"/>
                </a:cubicBezTo>
                <a:close/>
                <a:moveTo>
                  <a:pt x="3203815" y="1371282"/>
                </a:moveTo>
                <a:cubicBezTo>
                  <a:pt x="3203815" y="1376211"/>
                  <a:pt x="3201322" y="1384992"/>
                  <a:pt x="3193430" y="1384992"/>
                </a:cubicBezTo>
                <a:cubicBezTo>
                  <a:pt x="3189484" y="1380987"/>
                  <a:pt x="3198623" y="1376211"/>
                  <a:pt x="3203815" y="1371282"/>
                </a:cubicBezTo>
                <a:close/>
                <a:moveTo>
                  <a:pt x="2617769" y="1371188"/>
                </a:moveTo>
                <a:cubicBezTo>
                  <a:pt x="2612998" y="1370349"/>
                  <a:pt x="2603995" y="1373709"/>
                  <a:pt x="2599977" y="1373709"/>
                </a:cubicBezTo>
                <a:cubicBezTo>
                  <a:pt x="2597504" y="1378583"/>
                  <a:pt x="2601420" y="1376697"/>
                  <a:pt x="2606571" y="1377640"/>
                </a:cubicBezTo>
                <a:cubicBezTo>
                  <a:pt x="2603892" y="1383614"/>
                  <a:pt x="2598740" y="1381571"/>
                  <a:pt x="2596062" y="1386602"/>
                </a:cubicBezTo>
                <a:cubicBezTo>
                  <a:pt x="2602656" y="1387073"/>
                  <a:pt x="2607240" y="1385344"/>
                  <a:pt x="2610976" y="1382749"/>
                </a:cubicBezTo>
                <a:lnTo>
                  <a:pt x="2619638" y="1374769"/>
                </a:lnTo>
                <a:lnTo>
                  <a:pt x="2616759" y="1373508"/>
                </a:lnTo>
                <a:cubicBezTo>
                  <a:pt x="2616759" y="1372251"/>
                  <a:pt x="2617172" y="1371739"/>
                  <a:pt x="2617770" y="1371558"/>
                </a:cubicBezTo>
                <a:lnTo>
                  <a:pt x="2618217" y="1371563"/>
                </a:lnTo>
                <a:close/>
                <a:moveTo>
                  <a:pt x="2663816" y="1370966"/>
                </a:moveTo>
                <a:lnTo>
                  <a:pt x="2665506" y="1371312"/>
                </a:lnTo>
                <a:cubicBezTo>
                  <a:pt x="2666485" y="1371665"/>
                  <a:pt x="2667155" y="1372137"/>
                  <a:pt x="2666536" y="1372609"/>
                </a:cubicBezTo>
                <a:close/>
                <a:moveTo>
                  <a:pt x="2662970" y="1370455"/>
                </a:moveTo>
                <a:lnTo>
                  <a:pt x="2663816" y="1370966"/>
                </a:lnTo>
                <a:lnTo>
                  <a:pt x="2662621" y="1370722"/>
                </a:lnTo>
                <a:close/>
                <a:moveTo>
                  <a:pt x="54842" y="1368333"/>
                </a:moveTo>
                <a:cubicBezTo>
                  <a:pt x="63857" y="1371348"/>
                  <a:pt x="66521" y="1366428"/>
                  <a:pt x="74307" y="1368333"/>
                </a:cubicBezTo>
                <a:cubicBezTo>
                  <a:pt x="71643" y="1379441"/>
                  <a:pt x="61399" y="1366428"/>
                  <a:pt x="57505" y="1377378"/>
                </a:cubicBezTo>
                <a:cubicBezTo>
                  <a:pt x="57505" y="1374363"/>
                  <a:pt x="53612" y="1372300"/>
                  <a:pt x="54842" y="1368333"/>
                </a:cubicBezTo>
                <a:close/>
                <a:moveTo>
                  <a:pt x="2884866" y="1364349"/>
                </a:moveTo>
                <a:cubicBezTo>
                  <a:pt x="2884866" y="1370379"/>
                  <a:pt x="2871747" y="1377362"/>
                  <a:pt x="2865082" y="1375299"/>
                </a:cubicBezTo>
                <a:cubicBezTo>
                  <a:pt x="2865082" y="1370379"/>
                  <a:pt x="2878410" y="1368316"/>
                  <a:pt x="2884866" y="1364349"/>
                </a:cubicBezTo>
                <a:close/>
                <a:moveTo>
                  <a:pt x="2643045" y="1361761"/>
                </a:moveTo>
                <a:cubicBezTo>
                  <a:pt x="2641705" y="1363254"/>
                  <a:pt x="2640418" y="1365494"/>
                  <a:pt x="2638794" y="1366870"/>
                </a:cubicBezTo>
                <a:lnTo>
                  <a:pt x="2637540" y="1367427"/>
                </a:lnTo>
                <a:lnTo>
                  <a:pt x="2637423" y="1369838"/>
                </a:lnTo>
                <a:cubicBezTo>
                  <a:pt x="2636112" y="1371927"/>
                  <a:pt x="2633825" y="1373606"/>
                  <a:pt x="2631211" y="1374727"/>
                </a:cubicBezTo>
                <a:lnTo>
                  <a:pt x="2626749" y="1375560"/>
                </a:lnTo>
                <a:lnTo>
                  <a:pt x="2625841" y="1377913"/>
                </a:lnTo>
                <a:cubicBezTo>
                  <a:pt x="2626199" y="1378779"/>
                  <a:pt x="2627435" y="1379645"/>
                  <a:pt x="2630063" y="1380627"/>
                </a:cubicBezTo>
                <a:cubicBezTo>
                  <a:pt x="2635215" y="1378583"/>
                  <a:pt x="2637893" y="1365691"/>
                  <a:pt x="2649433" y="1366792"/>
                </a:cubicBezTo>
                <a:lnTo>
                  <a:pt x="2648915" y="1364435"/>
                </a:lnTo>
                <a:lnTo>
                  <a:pt x="2647098" y="1364238"/>
                </a:lnTo>
                <a:lnTo>
                  <a:pt x="2643766" y="1361983"/>
                </a:lnTo>
                <a:close/>
                <a:moveTo>
                  <a:pt x="3170215" y="1356722"/>
                </a:moveTo>
                <a:cubicBezTo>
                  <a:pt x="3172868" y="1359672"/>
                  <a:pt x="3167767" y="1361689"/>
                  <a:pt x="3170215" y="1363707"/>
                </a:cubicBezTo>
                <a:cubicBezTo>
                  <a:pt x="3174091" y="1363707"/>
                  <a:pt x="3179192" y="1363707"/>
                  <a:pt x="3183067" y="1362620"/>
                </a:cubicBezTo>
                <a:cubicBezTo>
                  <a:pt x="3188371" y="1366656"/>
                  <a:pt x="3179192" y="1370536"/>
                  <a:pt x="3181843" y="1373485"/>
                </a:cubicBezTo>
                <a:cubicBezTo>
                  <a:pt x="3175315" y="1371467"/>
                  <a:pt x="3168991" y="1377365"/>
                  <a:pt x="3162464" y="1372398"/>
                </a:cubicBezTo>
                <a:cubicBezTo>
                  <a:pt x="3174091" y="1366656"/>
                  <a:pt x="3158588" y="1362620"/>
                  <a:pt x="3170215" y="1356722"/>
                </a:cubicBezTo>
                <a:close/>
                <a:moveTo>
                  <a:pt x="3018196" y="1356722"/>
                </a:moveTo>
                <a:cubicBezTo>
                  <a:pt x="3023521" y="1360784"/>
                  <a:pt x="3024799" y="1364690"/>
                  <a:pt x="3018196" y="1367658"/>
                </a:cubicBezTo>
                <a:cubicBezTo>
                  <a:pt x="3011381" y="1366721"/>
                  <a:pt x="3012659" y="1359691"/>
                  <a:pt x="3018196" y="1356722"/>
                </a:cubicBezTo>
                <a:close/>
                <a:moveTo>
                  <a:pt x="2697217" y="1352493"/>
                </a:moveTo>
                <a:lnTo>
                  <a:pt x="2689605" y="1352793"/>
                </a:lnTo>
                <a:lnTo>
                  <a:pt x="2684820" y="1355266"/>
                </a:lnTo>
                <a:lnTo>
                  <a:pt x="2684697" y="1356104"/>
                </a:lnTo>
                <a:lnTo>
                  <a:pt x="2690787" y="1354698"/>
                </a:lnTo>
                <a:close/>
                <a:moveTo>
                  <a:pt x="3031777" y="1348403"/>
                </a:moveTo>
                <a:cubicBezTo>
                  <a:pt x="3034402" y="1350516"/>
                  <a:pt x="3031777" y="1352466"/>
                  <a:pt x="3034402" y="1354578"/>
                </a:cubicBezTo>
                <a:cubicBezTo>
                  <a:pt x="3038238" y="1351490"/>
                  <a:pt x="3038238" y="1351490"/>
                  <a:pt x="3038238" y="1351490"/>
                </a:cubicBezTo>
                <a:cubicBezTo>
                  <a:pt x="3042075" y="1358640"/>
                  <a:pt x="3031777" y="1353602"/>
                  <a:pt x="3029353" y="1357665"/>
                </a:cubicBezTo>
                <a:cubicBezTo>
                  <a:pt x="3024103" y="1352466"/>
                  <a:pt x="3024103" y="1352466"/>
                  <a:pt x="3024103" y="1352466"/>
                </a:cubicBezTo>
                <a:cubicBezTo>
                  <a:pt x="3031777" y="1348403"/>
                  <a:pt x="3031777" y="1348403"/>
                  <a:pt x="3031777" y="1348403"/>
                </a:cubicBezTo>
                <a:close/>
                <a:moveTo>
                  <a:pt x="14158" y="1340084"/>
                </a:moveTo>
                <a:cubicBezTo>
                  <a:pt x="15594" y="1349906"/>
                  <a:pt x="28521" y="1353960"/>
                  <a:pt x="25854" y="1364717"/>
                </a:cubicBezTo>
                <a:cubicBezTo>
                  <a:pt x="29752" y="1365652"/>
                  <a:pt x="29752" y="1363781"/>
                  <a:pt x="32420" y="1363781"/>
                </a:cubicBezTo>
                <a:cubicBezTo>
                  <a:pt x="30983" y="1359728"/>
                  <a:pt x="32420" y="1354895"/>
                  <a:pt x="30983" y="1350997"/>
                </a:cubicBezTo>
                <a:cubicBezTo>
                  <a:pt x="37549" y="1350997"/>
                  <a:pt x="49245" y="1357857"/>
                  <a:pt x="54375" y="1348035"/>
                </a:cubicBezTo>
                <a:cubicBezTo>
                  <a:pt x="63402" y="1356766"/>
                  <a:pt x="34882" y="1356766"/>
                  <a:pt x="33650" y="1368614"/>
                </a:cubicBezTo>
                <a:cubicBezTo>
                  <a:pt x="24623" y="1367679"/>
                  <a:pt x="16825" y="1369705"/>
                  <a:pt x="11695" y="1372512"/>
                </a:cubicBezTo>
                <a:cubicBezTo>
                  <a:pt x="7797" y="1367679"/>
                  <a:pt x="2462" y="1363781"/>
                  <a:pt x="0" y="1358793"/>
                </a:cubicBezTo>
                <a:cubicBezTo>
                  <a:pt x="2462" y="1352868"/>
                  <a:pt x="6360" y="1351933"/>
                  <a:pt x="12926" y="1350997"/>
                </a:cubicBezTo>
                <a:cubicBezTo>
                  <a:pt x="9028" y="1346944"/>
                  <a:pt x="12926" y="1346944"/>
                  <a:pt x="14158" y="1340084"/>
                </a:cubicBezTo>
                <a:close/>
                <a:moveTo>
                  <a:pt x="34499" y="1334569"/>
                </a:moveTo>
                <a:cubicBezTo>
                  <a:pt x="35929" y="1342515"/>
                  <a:pt x="46138" y="1331765"/>
                  <a:pt x="43688" y="1345474"/>
                </a:cubicBezTo>
                <a:cubicBezTo>
                  <a:pt x="33274" y="1343449"/>
                  <a:pt x="33274" y="1343449"/>
                  <a:pt x="33274" y="1343449"/>
                </a:cubicBezTo>
                <a:cubicBezTo>
                  <a:pt x="34499" y="1338619"/>
                  <a:pt x="28169" y="1339554"/>
                  <a:pt x="34499" y="1334569"/>
                </a:cubicBezTo>
                <a:close/>
                <a:moveTo>
                  <a:pt x="2291600" y="1331259"/>
                </a:moveTo>
                <a:cubicBezTo>
                  <a:pt x="2288097" y="1331632"/>
                  <a:pt x="2284310" y="1332320"/>
                  <a:pt x="2280833" y="1332806"/>
                </a:cubicBezTo>
                <a:lnTo>
                  <a:pt x="2278276" y="1332904"/>
                </a:lnTo>
                <a:lnTo>
                  <a:pt x="2278473" y="1333694"/>
                </a:lnTo>
                <a:cubicBezTo>
                  <a:pt x="2279333" y="1334370"/>
                  <a:pt x="2280891" y="1334478"/>
                  <a:pt x="2283519" y="1333731"/>
                </a:cubicBezTo>
                <a:lnTo>
                  <a:pt x="2282753" y="1335796"/>
                </a:lnTo>
                <a:lnTo>
                  <a:pt x="2285727" y="1335740"/>
                </a:lnTo>
                <a:cubicBezTo>
                  <a:pt x="2292064" y="1335228"/>
                  <a:pt x="2299224" y="1334481"/>
                  <a:pt x="2304479" y="1336919"/>
                </a:cubicBezTo>
                <a:cubicBezTo>
                  <a:pt x="2304479" y="1331023"/>
                  <a:pt x="2298606" y="1330512"/>
                  <a:pt x="2291600" y="1331259"/>
                </a:cubicBezTo>
                <a:close/>
                <a:moveTo>
                  <a:pt x="2390889" y="1329992"/>
                </a:moveTo>
                <a:lnTo>
                  <a:pt x="2387730" y="1331101"/>
                </a:lnTo>
                <a:lnTo>
                  <a:pt x="2390696" y="1330936"/>
                </a:lnTo>
                <a:close/>
                <a:moveTo>
                  <a:pt x="2343670" y="1328790"/>
                </a:moveTo>
                <a:lnTo>
                  <a:pt x="2336574" y="1330012"/>
                </a:lnTo>
                <a:lnTo>
                  <a:pt x="2335489" y="1330750"/>
                </a:lnTo>
                <a:lnTo>
                  <a:pt x="2333426" y="1331245"/>
                </a:lnTo>
                <a:lnTo>
                  <a:pt x="2327674" y="1333521"/>
                </a:lnTo>
                <a:cubicBezTo>
                  <a:pt x="2324776" y="1334698"/>
                  <a:pt x="2322098" y="1335700"/>
                  <a:pt x="2320140" y="1335975"/>
                </a:cubicBezTo>
                <a:cubicBezTo>
                  <a:pt x="2329207" y="1339906"/>
                  <a:pt x="2337037" y="1329058"/>
                  <a:pt x="2346105" y="1333145"/>
                </a:cubicBezTo>
                <a:lnTo>
                  <a:pt x="2344882" y="1330957"/>
                </a:lnTo>
                <a:lnTo>
                  <a:pt x="2344727" y="1330902"/>
                </a:lnTo>
                <a:lnTo>
                  <a:pt x="2344803" y="1330817"/>
                </a:lnTo>
                <a:close/>
                <a:moveTo>
                  <a:pt x="3237627" y="1327697"/>
                </a:moveTo>
                <a:cubicBezTo>
                  <a:pt x="3239927" y="1327465"/>
                  <a:pt x="3241930" y="1328107"/>
                  <a:pt x="3242893" y="1330123"/>
                </a:cubicBezTo>
                <a:cubicBezTo>
                  <a:pt x="3239040" y="1334866"/>
                  <a:pt x="3233972" y="1333127"/>
                  <a:pt x="3228902" y="1339926"/>
                </a:cubicBezTo>
                <a:cubicBezTo>
                  <a:pt x="3221146" y="1336961"/>
                  <a:pt x="3230727" y="1328393"/>
                  <a:pt x="3237627" y="1327697"/>
                </a:cubicBezTo>
                <a:close/>
                <a:moveTo>
                  <a:pt x="2401748" y="1326180"/>
                </a:moveTo>
                <a:lnTo>
                  <a:pt x="2400574" y="1326592"/>
                </a:lnTo>
                <a:lnTo>
                  <a:pt x="2402018" y="1326971"/>
                </a:lnTo>
                <a:close/>
                <a:moveTo>
                  <a:pt x="2223109" y="1323555"/>
                </a:moveTo>
                <a:cubicBezTo>
                  <a:pt x="2220199" y="1323437"/>
                  <a:pt x="2215974" y="1324184"/>
                  <a:pt x="2213398" y="1324184"/>
                </a:cubicBezTo>
                <a:lnTo>
                  <a:pt x="2213163" y="1324710"/>
                </a:lnTo>
                <a:lnTo>
                  <a:pt x="2213244" y="1324927"/>
                </a:lnTo>
                <a:lnTo>
                  <a:pt x="2213106" y="1324834"/>
                </a:lnTo>
                <a:lnTo>
                  <a:pt x="2211414" y="1328606"/>
                </a:lnTo>
                <a:cubicBezTo>
                  <a:pt x="2211247" y="1329107"/>
                  <a:pt x="2210919" y="1329613"/>
                  <a:pt x="2210066" y="1330308"/>
                </a:cubicBezTo>
                <a:lnTo>
                  <a:pt x="2209222" y="1330840"/>
                </a:lnTo>
                <a:lnTo>
                  <a:pt x="2208752" y="1333085"/>
                </a:lnTo>
                <a:lnTo>
                  <a:pt x="2207219" y="1333250"/>
                </a:lnTo>
                <a:lnTo>
                  <a:pt x="2211318" y="1333509"/>
                </a:lnTo>
                <a:cubicBezTo>
                  <a:pt x="2216206" y="1331357"/>
                  <a:pt x="2219065" y="1323634"/>
                  <a:pt x="2224938" y="1328115"/>
                </a:cubicBezTo>
                <a:lnTo>
                  <a:pt x="2226101" y="1324637"/>
                </a:lnTo>
                <a:lnTo>
                  <a:pt x="2226053" y="1324559"/>
                </a:lnTo>
                <a:close/>
                <a:moveTo>
                  <a:pt x="2186885" y="1323087"/>
                </a:moveTo>
                <a:lnTo>
                  <a:pt x="2186487" y="1325080"/>
                </a:lnTo>
                <a:lnTo>
                  <a:pt x="2188464" y="1323240"/>
                </a:lnTo>
                <a:close/>
                <a:moveTo>
                  <a:pt x="2360529" y="1322140"/>
                </a:moveTo>
                <a:lnTo>
                  <a:pt x="2360294" y="1322498"/>
                </a:lnTo>
                <a:lnTo>
                  <a:pt x="2360968" y="1322369"/>
                </a:lnTo>
                <a:close/>
                <a:moveTo>
                  <a:pt x="3265555" y="1321366"/>
                </a:moveTo>
                <a:cubicBezTo>
                  <a:pt x="3269243" y="1324417"/>
                  <a:pt x="3256334" y="1331481"/>
                  <a:pt x="3252441" y="1336457"/>
                </a:cubicBezTo>
                <a:cubicBezTo>
                  <a:pt x="3248548" y="1329393"/>
                  <a:pt x="3261662" y="1324417"/>
                  <a:pt x="3265555" y="1321366"/>
                </a:cubicBezTo>
                <a:close/>
                <a:moveTo>
                  <a:pt x="2279184" y="1316873"/>
                </a:moveTo>
                <a:cubicBezTo>
                  <a:pt x="2277072" y="1317502"/>
                  <a:pt x="2275115" y="1318760"/>
                  <a:pt x="2273157" y="1320253"/>
                </a:cubicBezTo>
                <a:lnTo>
                  <a:pt x="2278752" y="1320984"/>
                </a:lnTo>
                <a:lnTo>
                  <a:pt x="2279603" y="1320053"/>
                </a:lnTo>
                <a:lnTo>
                  <a:pt x="2279406" y="1321069"/>
                </a:lnTo>
                <a:lnTo>
                  <a:pt x="2281580" y="1321353"/>
                </a:lnTo>
                <a:cubicBezTo>
                  <a:pt x="2284182" y="1320489"/>
                  <a:pt x="2286139" y="1318760"/>
                  <a:pt x="2286139" y="1317266"/>
                </a:cubicBezTo>
                <a:cubicBezTo>
                  <a:pt x="2283563" y="1316244"/>
                  <a:pt x="2281296" y="1316244"/>
                  <a:pt x="2279184" y="1316873"/>
                </a:cubicBezTo>
                <a:close/>
                <a:moveTo>
                  <a:pt x="2375281" y="1315297"/>
                </a:moveTo>
                <a:lnTo>
                  <a:pt x="2373192" y="1316790"/>
                </a:lnTo>
                <a:lnTo>
                  <a:pt x="2374747" y="1317266"/>
                </a:lnTo>
                <a:close/>
                <a:moveTo>
                  <a:pt x="2209944" y="1314941"/>
                </a:moveTo>
                <a:lnTo>
                  <a:pt x="2209280" y="1314971"/>
                </a:lnTo>
                <a:lnTo>
                  <a:pt x="2209019" y="1315104"/>
                </a:lnTo>
                <a:lnTo>
                  <a:pt x="2209586" y="1315238"/>
                </a:lnTo>
                <a:lnTo>
                  <a:pt x="2211109" y="1319273"/>
                </a:lnTo>
                <a:lnTo>
                  <a:pt x="2216334" y="1318838"/>
                </a:lnTo>
                <a:cubicBezTo>
                  <a:pt x="2218524" y="1318661"/>
                  <a:pt x="2220675" y="1318641"/>
                  <a:pt x="2222768" y="1319226"/>
                </a:cubicBezTo>
                <a:lnTo>
                  <a:pt x="2222790" y="1319241"/>
                </a:lnTo>
                <a:lnTo>
                  <a:pt x="2222643" y="1319001"/>
                </a:lnTo>
                <a:cubicBezTo>
                  <a:pt x="2225234" y="1316024"/>
                  <a:pt x="2228186" y="1316769"/>
                  <a:pt x="2231633" y="1317141"/>
                </a:cubicBezTo>
                <a:lnTo>
                  <a:pt x="2234791" y="1317008"/>
                </a:lnTo>
                <a:lnTo>
                  <a:pt x="2235448" y="1316165"/>
                </a:lnTo>
                <a:lnTo>
                  <a:pt x="2221824" y="1314958"/>
                </a:lnTo>
                <a:lnTo>
                  <a:pt x="2220770" y="1315228"/>
                </a:lnTo>
                <a:cubicBezTo>
                  <a:pt x="2217740" y="1315691"/>
                  <a:pt x="2214795" y="1315874"/>
                  <a:pt x="2212034" y="1315596"/>
                </a:cubicBezTo>
                <a:close/>
                <a:moveTo>
                  <a:pt x="2378390" y="1313074"/>
                </a:moveTo>
                <a:lnTo>
                  <a:pt x="2378092" y="1313288"/>
                </a:lnTo>
                <a:lnTo>
                  <a:pt x="2378649" y="1313180"/>
                </a:lnTo>
                <a:lnTo>
                  <a:pt x="2378643" y="1313171"/>
                </a:lnTo>
                <a:close/>
                <a:moveTo>
                  <a:pt x="2353909" y="1312862"/>
                </a:moveTo>
                <a:lnTo>
                  <a:pt x="2348783" y="1315222"/>
                </a:lnTo>
                <a:cubicBezTo>
                  <a:pt x="2353317" y="1316715"/>
                  <a:pt x="2357541" y="1315969"/>
                  <a:pt x="2361765" y="1315477"/>
                </a:cubicBezTo>
                <a:lnTo>
                  <a:pt x="2361877" y="1315473"/>
                </a:lnTo>
                <a:lnTo>
                  <a:pt x="2353795" y="1312978"/>
                </a:lnTo>
                <a:close/>
                <a:moveTo>
                  <a:pt x="3191096" y="1308888"/>
                </a:moveTo>
                <a:cubicBezTo>
                  <a:pt x="3189866" y="1319835"/>
                  <a:pt x="3178183" y="1328594"/>
                  <a:pt x="3164041" y="1334382"/>
                </a:cubicBezTo>
                <a:cubicBezTo>
                  <a:pt x="3167935" y="1325779"/>
                  <a:pt x="3175519" y="1308888"/>
                  <a:pt x="3191096" y="1308888"/>
                </a:cubicBezTo>
                <a:close/>
                <a:moveTo>
                  <a:pt x="1956711" y="1307638"/>
                </a:moveTo>
                <a:lnTo>
                  <a:pt x="1951599" y="1310672"/>
                </a:lnTo>
                <a:lnTo>
                  <a:pt x="1951574" y="1311875"/>
                </a:lnTo>
                <a:lnTo>
                  <a:pt x="1955224" y="1314079"/>
                </a:lnTo>
                <a:close/>
                <a:moveTo>
                  <a:pt x="2481455" y="1307045"/>
                </a:moveTo>
                <a:lnTo>
                  <a:pt x="2475786" y="1307145"/>
                </a:lnTo>
                <a:lnTo>
                  <a:pt x="2477677" y="1311583"/>
                </a:lnTo>
                <a:lnTo>
                  <a:pt x="2479943" y="1312933"/>
                </a:lnTo>
                <a:lnTo>
                  <a:pt x="2480479" y="1312647"/>
                </a:lnTo>
                <a:cubicBezTo>
                  <a:pt x="2480872" y="1312029"/>
                  <a:pt x="2481181" y="1310977"/>
                  <a:pt x="2481489" y="1309248"/>
                </a:cubicBezTo>
                <a:cubicBezTo>
                  <a:pt x="2482108" y="1310269"/>
                  <a:pt x="2481799" y="1311252"/>
                  <a:pt x="2481824" y="1312235"/>
                </a:cubicBezTo>
                <a:lnTo>
                  <a:pt x="2483472" y="1314334"/>
                </a:lnTo>
                <a:lnTo>
                  <a:pt x="2489193" y="1312035"/>
                </a:lnTo>
                <a:cubicBezTo>
                  <a:pt x="2487853" y="1310541"/>
                  <a:pt x="2485895" y="1309795"/>
                  <a:pt x="2483963" y="1308930"/>
                </a:cubicBezTo>
                <a:close/>
                <a:moveTo>
                  <a:pt x="2513923" y="1307004"/>
                </a:moveTo>
                <a:lnTo>
                  <a:pt x="2513846" y="1307306"/>
                </a:lnTo>
                <a:lnTo>
                  <a:pt x="2514950" y="1307202"/>
                </a:lnTo>
                <a:close/>
                <a:moveTo>
                  <a:pt x="187225" y="1306205"/>
                </a:moveTo>
                <a:cubicBezTo>
                  <a:pt x="179265" y="1308010"/>
                  <a:pt x="174666" y="1314700"/>
                  <a:pt x="167866" y="1319180"/>
                </a:cubicBezTo>
                <a:cubicBezTo>
                  <a:pt x="171782" y="1331127"/>
                  <a:pt x="200428" y="1331127"/>
                  <a:pt x="202901" y="1318237"/>
                </a:cubicBezTo>
                <a:cubicBezTo>
                  <a:pt x="193833" y="1319180"/>
                  <a:pt x="196512" y="1312264"/>
                  <a:pt x="196512" y="1306291"/>
                </a:cubicBezTo>
                <a:cubicBezTo>
                  <a:pt x="192905" y="1305544"/>
                  <a:pt x="189878" y="1305603"/>
                  <a:pt x="187225" y="1306205"/>
                </a:cubicBezTo>
                <a:close/>
                <a:moveTo>
                  <a:pt x="3004785" y="1306076"/>
                </a:moveTo>
                <a:cubicBezTo>
                  <a:pt x="3011175" y="1318956"/>
                  <a:pt x="2989118" y="1312987"/>
                  <a:pt x="2978605" y="1323982"/>
                </a:cubicBezTo>
                <a:cubicBezTo>
                  <a:pt x="2974689" y="1321940"/>
                  <a:pt x="2977369" y="1320055"/>
                  <a:pt x="2974689" y="1318013"/>
                </a:cubicBezTo>
                <a:cubicBezTo>
                  <a:pt x="2972215" y="1320055"/>
                  <a:pt x="2969536" y="1318013"/>
                  <a:pt x="2966855" y="1320055"/>
                </a:cubicBezTo>
                <a:cubicBezTo>
                  <a:pt x="2973451" y="1304034"/>
                  <a:pt x="2993035" y="1314087"/>
                  <a:pt x="3004785" y="1306076"/>
                </a:cubicBezTo>
                <a:close/>
                <a:moveTo>
                  <a:pt x="2524433" y="1306061"/>
                </a:moveTo>
                <a:lnTo>
                  <a:pt x="2524387" y="1306309"/>
                </a:lnTo>
                <a:lnTo>
                  <a:pt x="2524857" y="1306264"/>
                </a:lnTo>
                <a:close/>
                <a:moveTo>
                  <a:pt x="2130091" y="1305746"/>
                </a:moveTo>
                <a:lnTo>
                  <a:pt x="2130035" y="1305760"/>
                </a:lnTo>
                <a:lnTo>
                  <a:pt x="2123220" y="1307346"/>
                </a:lnTo>
                <a:lnTo>
                  <a:pt x="2124310" y="1308414"/>
                </a:lnTo>
                <a:cubicBezTo>
                  <a:pt x="2125093" y="1308682"/>
                  <a:pt x="2125911" y="1308589"/>
                  <a:pt x="2126722" y="1308402"/>
                </a:cubicBezTo>
                <a:lnTo>
                  <a:pt x="2129472" y="1308341"/>
                </a:lnTo>
                <a:lnTo>
                  <a:pt x="2130294" y="1306238"/>
                </a:lnTo>
                <a:close/>
                <a:moveTo>
                  <a:pt x="2563853" y="1304238"/>
                </a:moveTo>
                <a:lnTo>
                  <a:pt x="2553846" y="1306783"/>
                </a:lnTo>
                <a:lnTo>
                  <a:pt x="2553479" y="1306665"/>
                </a:lnTo>
                <a:lnTo>
                  <a:pt x="2550866" y="1307926"/>
                </a:lnTo>
                <a:cubicBezTo>
                  <a:pt x="2549118" y="1308687"/>
                  <a:pt x="2547328" y="1309248"/>
                  <a:pt x="2545370" y="1309248"/>
                </a:cubicBezTo>
                <a:cubicBezTo>
                  <a:pt x="2544133" y="1311291"/>
                  <a:pt x="2549285" y="1312235"/>
                  <a:pt x="2551964" y="1313178"/>
                </a:cubicBezTo>
                <a:lnTo>
                  <a:pt x="2553324" y="1311971"/>
                </a:lnTo>
                <a:lnTo>
                  <a:pt x="2553447" y="1310967"/>
                </a:lnTo>
                <a:lnTo>
                  <a:pt x="2553954" y="1311412"/>
                </a:lnTo>
                <a:lnTo>
                  <a:pt x="2555241" y="1310269"/>
                </a:lnTo>
                <a:cubicBezTo>
                  <a:pt x="2558971" y="1308619"/>
                  <a:pt x="2563916" y="1309798"/>
                  <a:pt x="2568861" y="1305317"/>
                </a:cubicBezTo>
                <a:close/>
                <a:moveTo>
                  <a:pt x="2575806" y="1302989"/>
                </a:moveTo>
                <a:lnTo>
                  <a:pt x="2575249" y="1303273"/>
                </a:lnTo>
                <a:lnTo>
                  <a:pt x="2576350" y="1303358"/>
                </a:lnTo>
                <a:close/>
                <a:moveTo>
                  <a:pt x="2516314" y="1300718"/>
                </a:moveTo>
                <a:lnTo>
                  <a:pt x="2509915" y="1302752"/>
                </a:lnTo>
                <a:lnTo>
                  <a:pt x="2519075" y="1305117"/>
                </a:lnTo>
                <a:lnTo>
                  <a:pt x="2524555" y="1301393"/>
                </a:lnTo>
                <a:close/>
                <a:moveTo>
                  <a:pt x="3201869" y="1297860"/>
                </a:moveTo>
                <a:cubicBezTo>
                  <a:pt x="3203063" y="1298040"/>
                  <a:pt x="3204304" y="1298644"/>
                  <a:pt x="3205635" y="1299852"/>
                </a:cubicBezTo>
                <a:lnTo>
                  <a:pt x="3195192" y="1308731"/>
                </a:lnTo>
                <a:cubicBezTo>
                  <a:pt x="3191301" y="1306706"/>
                  <a:pt x="3193963" y="1304836"/>
                  <a:pt x="3191301" y="1302812"/>
                </a:cubicBezTo>
                <a:cubicBezTo>
                  <a:pt x="3195140" y="1300591"/>
                  <a:pt x="3198289" y="1297320"/>
                  <a:pt x="3201869" y="1297860"/>
                </a:cubicBezTo>
                <a:close/>
                <a:moveTo>
                  <a:pt x="2616610" y="1297484"/>
                </a:moveTo>
                <a:lnTo>
                  <a:pt x="2606215" y="1297697"/>
                </a:lnTo>
                <a:lnTo>
                  <a:pt x="2604904" y="1297502"/>
                </a:lnTo>
                <a:lnTo>
                  <a:pt x="2601342" y="1300814"/>
                </a:lnTo>
                <a:cubicBezTo>
                  <a:pt x="2599359" y="1301936"/>
                  <a:pt x="2597092" y="1302565"/>
                  <a:pt x="2594825" y="1302329"/>
                </a:cubicBezTo>
                <a:cubicBezTo>
                  <a:pt x="2597762" y="1307518"/>
                  <a:pt x="2605102" y="1302094"/>
                  <a:pt x="2611893" y="1299920"/>
                </a:cubicBezTo>
                <a:lnTo>
                  <a:pt x="2613657" y="1299761"/>
                </a:lnTo>
                <a:lnTo>
                  <a:pt x="2616885" y="1297783"/>
                </a:lnTo>
                <a:close/>
                <a:moveTo>
                  <a:pt x="2593615" y="1296727"/>
                </a:moveTo>
                <a:lnTo>
                  <a:pt x="2590343" y="1297226"/>
                </a:lnTo>
                <a:lnTo>
                  <a:pt x="2589376" y="1299531"/>
                </a:lnTo>
                <a:cubicBezTo>
                  <a:pt x="2587675" y="1300838"/>
                  <a:pt x="2584842" y="1300788"/>
                  <a:pt x="2583142" y="1302567"/>
                </a:cubicBezTo>
                <a:lnTo>
                  <a:pt x="2582732" y="1303851"/>
                </a:lnTo>
                <a:lnTo>
                  <a:pt x="2583131" y="1303882"/>
                </a:lnTo>
                <a:cubicBezTo>
                  <a:pt x="2585758" y="1303509"/>
                  <a:pt x="2587716" y="1303273"/>
                  <a:pt x="2586995" y="1305317"/>
                </a:cubicBezTo>
                <a:cubicBezTo>
                  <a:pt x="2589570" y="1304766"/>
                  <a:pt x="2592198" y="1303273"/>
                  <a:pt x="2594001" y="1301543"/>
                </a:cubicBezTo>
                <a:lnTo>
                  <a:pt x="2595743" y="1297158"/>
                </a:lnTo>
                <a:close/>
                <a:moveTo>
                  <a:pt x="3320713" y="1295510"/>
                </a:moveTo>
                <a:cubicBezTo>
                  <a:pt x="3323070" y="1295452"/>
                  <a:pt x="3325224" y="1295939"/>
                  <a:pt x="3326492" y="1297168"/>
                </a:cubicBezTo>
                <a:cubicBezTo>
                  <a:pt x="3322843" y="1304151"/>
                  <a:pt x="3316353" y="1297168"/>
                  <a:pt x="3312502" y="1305262"/>
                </a:cubicBezTo>
                <a:cubicBezTo>
                  <a:pt x="3304745" y="1300739"/>
                  <a:pt x="3313642" y="1295680"/>
                  <a:pt x="3320713" y="1295510"/>
                </a:cubicBezTo>
                <a:close/>
                <a:moveTo>
                  <a:pt x="2561031" y="1292424"/>
                </a:moveTo>
                <a:cubicBezTo>
                  <a:pt x="2557116" y="1292896"/>
                  <a:pt x="2555467" y="1294114"/>
                  <a:pt x="2554308" y="1295844"/>
                </a:cubicBezTo>
                <a:lnTo>
                  <a:pt x="2553045" y="1298007"/>
                </a:lnTo>
                <a:lnTo>
                  <a:pt x="2563865" y="1297221"/>
                </a:lnTo>
                <a:lnTo>
                  <a:pt x="2564388" y="1297019"/>
                </a:lnTo>
                <a:lnTo>
                  <a:pt x="2562731" y="1295529"/>
                </a:lnTo>
                <a:cubicBezTo>
                  <a:pt x="2561289" y="1294665"/>
                  <a:pt x="2559691" y="1293918"/>
                  <a:pt x="2561031" y="1292424"/>
                </a:cubicBezTo>
                <a:close/>
                <a:moveTo>
                  <a:pt x="2994759" y="1292249"/>
                </a:moveTo>
                <a:cubicBezTo>
                  <a:pt x="2998716" y="1292249"/>
                  <a:pt x="3002673" y="1294150"/>
                  <a:pt x="3006629" y="1297161"/>
                </a:cubicBezTo>
                <a:cubicBezTo>
                  <a:pt x="3001423" y="1300172"/>
                  <a:pt x="2996009" y="1303183"/>
                  <a:pt x="2992052" y="1302232"/>
                </a:cubicBezTo>
                <a:cubicBezTo>
                  <a:pt x="2986847" y="1298270"/>
                  <a:pt x="2997467" y="1296210"/>
                  <a:pt x="2994759" y="1292249"/>
                </a:cubicBezTo>
                <a:close/>
                <a:moveTo>
                  <a:pt x="3026772" y="1285383"/>
                </a:moveTo>
                <a:cubicBezTo>
                  <a:pt x="3022852" y="1285383"/>
                  <a:pt x="3008405" y="1290393"/>
                  <a:pt x="3016454" y="1295402"/>
                </a:cubicBezTo>
                <a:cubicBezTo>
                  <a:pt x="3018930" y="1292427"/>
                  <a:pt x="3030694" y="1289453"/>
                  <a:pt x="3026772" y="1285383"/>
                </a:cubicBezTo>
                <a:close/>
                <a:moveTo>
                  <a:pt x="3217047" y="1282543"/>
                </a:moveTo>
                <a:cubicBezTo>
                  <a:pt x="3227440" y="1286451"/>
                  <a:pt x="3210395" y="1293329"/>
                  <a:pt x="3207693" y="1298332"/>
                </a:cubicBezTo>
                <a:cubicBezTo>
                  <a:pt x="3195844" y="1295362"/>
                  <a:pt x="3210395" y="1282543"/>
                  <a:pt x="3217047" y="1282543"/>
                </a:cubicBezTo>
                <a:close/>
                <a:moveTo>
                  <a:pt x="2532515" y="1282213"/>
                </a:moveTo>
                <a:lnTo>
                  <a:pt x="2530590" y="1285995"/>
                </a:lnTo>
                <a:cubicBezTo>
                  <a:pt x="2528968" y="1287234"/>
                  <a:pt x="2527009" y="1288216"/>
                  <a:pt x="2525669" y="1290181"/>
                </a:cubicBezTo>
                <a:cubicBezTo>
                  <a:pt x="2523712" y="1289710"/>
                  <a:pt x="2523403" y="1286250"/>
                  <a:pt x="2524228" y="1283146"/>
                </a:cubicBezTo>
                <a:lnTo>
                  <a:pt x="2524648" y="1282319"/>
                </a:lnTo>
                <a:lnTo>
                  <a:pt x="2523114" y="1282519"/>
                </a:lnTo>
                <a:cubicBezTo>
                  <a:pt x="2519200" y="1285349"/>
                  <a:pt x="2529709" y="1294311"/>
                  <a:pt x="2519200" y="1290381"/>
                </a:cubicBezTo>
                <a:cubicBezTo>
                  <a:pt x="2517963" y="1291324"/>
                  <a:pt x="2517963" y="1292424"/>
                  <a:pt x="2519200" y="1293368"/>
                </a:cubicBezTo>
                <a:cubicBezTo>
                  <a:pt x="2519200" y="1293368"/>
                  <a:pt x="2519200" y="1293368"/>
                  <a:pt x="2516726" y="1296355"/>
                </a:cubicBezTo>
                <a:cubicBezTo>
                  <a:pt x="2519200" y="1295411"/>
                  <a:pt x="2523114" y="1296355"/>
                  <a:pt x="2525793" y="1297299"/>
                </a:cubicBezTo>
                <a:cubicBezTo>
                  <a:pt x="2529709" y="1292424"/>
                  <a:pt x="2529709" y="1288336"/>
                  <a:pt x="2534860" y="1282519"/>
                </a:cubicBezTo>
                <a:close/>
                <a:moveTo>
                  <a:pt x="22975" y="1279077"/>
                </a:moveTo>
                <a:cubicBezTo>
                  <a:pt x="36141" y="1280015"/>
                  <a:pt x="17831" y="1287831"/>
                  <a:pt x="26884" y="1291895"/>
                </a:cubicBezTo>
                <a:cubicBezTo>
                  <a:pt x="21740" y="1294865"/>
                  <a:pt x="17831" y="1283923"/>
                  <a:pt x="8778" y="1290801"/>
                </a:cubicBezTo>
                <a:cubicBezTo>
                  <a:pt x="3635" y="1282985"/>
                  <a:pt x="20505" y="1284860"/>
                  <a:pt x="22975" y="1279077"/>
                </a:cubicBezTo>
                <a:close/>
                <a:moveTo>
                  <a:pt x="3099608" y="1277690"/>
                </a:moveTo>
                <a:cubicBezTo>
                  <a:pt x="3102047" y="1279753"/>
                  <a:pt x="3102047" y="1283721"/>
                  <a:pt x="3098388" y="1281657"/>
                </a:cubicBezTo>
                <a:cubicBezTo>
                  <a:pt x="3095746" y="1283721"/>
                  <a:pt x="3100827" y="1285625"/>
                  <a:pt x="3102047" y="1287688"/>
                </a:cubicBezTo>
                <a:cubicBezTo>
                  <a:pt x="3099608" y="1288641"/>
                  <a:pt x="3096965" y="1288641"/>
                  <a:pt x="3094526" y="1290703"/>
                </a:cubicBezTo>
                <a:cubicBezTo>
                  <a:pt x="3086802" y="1286736"/>
                  <a:pt x="3094526" y="1277690"/>
                  <a:pt x="3099608" y="1277690"/>
                </a:cubicBezTo>
                <a:close/>
                <a:moveTo>
                  <a:pt x="3066419" y="1272144"/>
                </a:moveTo>
                <a:cubicBezTo>
                  <a:pt x="3079327" y="1273237"/>
                  <a:pt x="3067648" y="1281049"/>
                  <a:pt x="3059863" y="1283080"/>
                </a:cubicBezTo>
                <a:cubicBezTo>
                  <a:pt x="3058633" y="1278081"/>
                  <a:pt x="3070312" y="1274174"/>
                  <a:pt x="3066419" y="1272144"/>
                </a:cubicBezTo>
                <a:close/>
                <a:moveTo>
                  <a:pt x="2719841" y="1270616"/>
                </a:moveTo>
                <a:lnTo>
                  <a:pt x="2715989" y="1272132"/>
                </a:lnTo>
                <a:lnTo>
                  <a:pt x="2718588" y="1272628"/>
                </a:lnTo>
                <a:close/>
                <a:moveTo>
                  <a:pt x="3285117" y="1269188"/>
                </a:moveTo>
                <a:cubicBezTo>
                  <a:pt x="3290252" y="1267291"/>
                  <a:pt x="3295594" y="1279308"/>
                  <a:pt x="3287787" y="1285158"/>
                </a:cubicBezTo>
                <a:cubicBezTo>
                  <a:pt x="3272173" y="1282312"/>
                  <a:pt x="3294156" y="1273300"/>
                  <a:pt x="3285117" y="1269188"/>
                </a:cubicBezTo>
                <a:close/>
                <a:moveTo>
                  <a:pt x="3043695" y="1261745"/>
                </a:moveTo>
                <a:cubicBezTo>
                  <a:pt x="3047615" y="1274582"/>
                  <a:pt x="3029455" y="1272546"/>
                  <a:pt x="3024090" y="1281469"/>
                </a:cubicBezTo>
                <a:cubicBezTo>
                  <a:pt x="3035853" y="1289453"/>
                  <a:pt x="3044932" y="1267694"/>
                  <a:pt x="3059379" y="1261745"/>
                </a:cubicBezTo>
                <a:cubicBezTo>
                  <a:pt x="3060617" y="1263623"/>
                  <a:pt x="3062061" y="1268633"/>
                  <a:pt x="3058140" y="1266598"/>
                </a:cubicBezTo>
                <a:cubicBezTo>
                  <a:pt x="3058140" y="1269572"/>
                  <a:pt x="3062061" y="1268633"/>
                  <a:pt x="3060617" y="1273642"/>
                </a:cubicBezTo>
                <a:cubicBezTo>
                  <a:pt x="3037297" y="1286479"/>
                  <a:pt x="3037297" y="1301194"/>
                  <a:pt x="3011088" y="1305264"/>
                </a:cubicBezTo>
                <a:cubicBezTo>
                  <a:pt x="3007167" y="1302290"/>
                  <a:pt x="3016454" y="1293366"/>
                  <a:pt x="3005929" y="1294306"/>
                </a:cubicBezTo>
                <a:cubicBezTo>
                  <a:pt x="3017692" y="1281469"/>
                  <a:pt x="3026772" y="1269572"/>
                  <a:pt x="3043695" y="1261745"/>
                </a:cubicBezTo>
                <a:close/>
                <a:moveTo>
                  <a:pt x="2756381" y="1247616"/>
                </a:moveTo>
                <a:cubicBezTo>
                  <a:pt x="2756381" y="1247616"/>
                  <a:pt x="2756381" y="1247616"/>
                  <a:pt x="2755891" y="1248500"/>
                </a:cubicBezTo>
                <a:lnTo>
                  <a:pt x="2754497" y="1251020"/>
                </a:lnTo>
                <a:lnTo>
                  <a:pt x="2754540" y="1251213"/>
                </a:lnTo>
                <a:lnTo>
                  <a:pt x="2755173" y="1254180"/>
                </a:lnTo>
                <a:lnTo>
                  <a:pt x="2758622" y="1253531"/>
                </a:lnTo>
                <a:cubicBezTo>
                  <a:pt x="2760553" y="1252922"/>
                  <a:pt x="2762150" y="1251703"/>
                  <a:pt x="2762769" y="1248716"/>
                </a:cubicBezTo>
                <a:cubicBezTo>
                  <a:pt x="2762769" y="1248716"/>
                  <a:pt x="2762769" y="1248716"/>
                  <a:pt x="2756381" y="1247616"/>
                </a:cubicBezTo>
                <a:close/>
                <a:moveTo>
                  <a:pt x="3248384" y="1247186"/>
                </a:moveTo>
                <a:cubicBezTo>
                  <a:pt x="3253792" y="1258128"/>
                  <a:pt x="3239231" y="1265007"/>
                  <a:pt x="3227374" y="1278920"/>
                </a:cubicBezTo>
                <a:cubicBezTo>
                  <a:pt x="3222174" y="1276888"/>
                  <a:pt x="3224878" y="1273918"/>
                  <a:pt x="3219470" y="1271885"/>
                </a:cubicBezTo>
                <a:cubicBezTo>
                  <a:pt x="3234030" y="1262975"/>
                  <a:pt x="3240479" y="1251251"/>
                  <a:pt x="3248384" y="1247186"/>
                </a:cubicBezTo>
                <a:close/>
                <a:moveTo>
                  <a:pt x="3364651" y="1242334"/>
                </a:moveTo>
                <a:cubicBezTo>
                  <a:pt x="3364651" y="1251292"/>
                  <a:pt x="3359452" y="1257108"/>
                  <a:pt x="3354043" y="1262138"/>
                </a:cubicBezTo>
                <a:cubicBezTo>
                  <a:pt x="3347386" y="1268111"/>
                  <a:pt x="3340938" y="1273140"/>
                  <a:pt x="3338234" y="1281000"/>
                </a:cubicBezTo>
                <a:cubicBezTo>
                  <a:pt x="3330330" y="1277070"/>
                  <a:pt x="3330330" y="1277070"/>
                  <a:pt x="3330330" y="1277070"/>
                </a:cubicBezTo>
                <a:cubicBezTo>
                  <a:pt x="3350091" y="1265124"/>
                  <a:pt x="3346138" y="1250193"/>
                  <a:pt x="3364651" y="1242334"/>
                </a:cubicBezTo>
                <a:close/>
                <a:moveTo>
                  <a:pt x="2687668" y="1239199"/>
                </a:moveTo>
                <a:cubicBezTo>
                  <a:pt x="2686621" y="1238998"/>
                  <a:pt x="2685327" y="1239341"/>
                  <a:pt x="2684026" y="1240030"/>
                </a:cubicBezTo>
                <a:lnTo>
                  <a:pt x="2679346" y="1245254"/>
                </a:lnTo>
                <a:lnTo>
                  <a:pt x="2689261" y="1241004"/>
                </a:lnTo>
                <a:close/>
                <a:moveTo>
                  <a:pt x="2747108" y="1237710"/>
                </a:moveTo>
                <a:lnTo>
                  <a:pt x="2745784" y="1238032"/>
                </a:lnTo>
                <a:lnTo>
                  <a:pt x="2744580" y="1240402"/>
                </a:lnTo>
                <a:lnTo>
                  <a:pt x="2747293" y="1238021"/>
                </a:lnTo>
                <a:close/>
                <a:moveTo>
                  <a:pt x="2766684" y="1235666"/>
                </a:moveTo>
                <a:cubicBezTo>
                  <a:pt x="2765447" y="1238811"/>
                  <a:pt x="2762769" y="1238811"/>
                  <a:pt x="2761532" y="1240697"/>
                </a:cubicBezTo>
                <a:cubicBezTo>
                  <a:pt x="2764005" y="1243685"/>
                  <a:pt x="2762769" y="1247616"/>
                  <a:pt x="2766684" y="1249659"/>
                </a:cubicBezTo>
                <a:cubicBezTo>
                  <a:pt x="2769260" y="1246672"/>
                  <a:pt x="2773175" y="1245415"/>
                  <a:pt x="2776936" y="1243921"/>
                </a:cubicBezTo>
                <a:lnTo>
                  <a:pt x="2779168" y="1242807"/>
                </a:lnTo>
                <a:lnTo>
                  <a:pt x="2775542" y="1238953"/>
                </a:lnTo>
                <a:lnTo>
                  <a:pt x="2775329" y="1238677"/>
                </a:lnTo>
                <a:lnTo>
                  <a:pt x="2770599" y="1242742"/>
                </a:lnTo>
                <a:cubicBezTo>
                  <a:pt x="2769363" y="1240697"/>
                  <a:pt x="2773278" y="1235666"/>
                  <a:pt x="2766684" y="1235666"/>
                </a:cubicBezTo>
                <a:close/>
                <a:moveTo>
                  <a:pt x="2639130" y="1235666"/>
                </a:moveTo>
                <a:cubicBezTo>
                  <a:pt x="2639130" y="1235666"/>
                  <a:pt x="2639130" y="1235666"/>
                  <a:pt x="2633979" y="1241641"/>
                </a:cubicBezTo>
                <a:cubicBezTo>
                  <a:pt x="2636554" y="1242663"/>
                  <a:pt x="2638820" y="1242663"/>
                  <a:pt x="2640598" y="1241798"/>
                </a:cubicBezTo>
                <a:lnTo>
                  <a:pt x="2641868" y="1240063"/>
                </a:lnTo>
                <a:lnTo>
                  <a:pt x="2640158" y="1237789"/>
                </a:lnTo>
                <a:lnTo>
                  <a:pt x="2639221" y="1235685"/>
                </a:lnTo>
                <a:close/>
                <a:moveTo>
                  <a:pt x="3140414" y="1235401"/>
                </a:moveTo>
                <a:cubicBezTo>
                  <a:pt x="3144267" y="1235401"/>
                  <a:pt x="3164746" y="1246531"/>
                  <a:pt x="3155825" y="1252573"/>
                </a:cubicBezTo>
                <a:cubicBezTo>
                  <a:pt x="3149336" y="1246531"/>
                  <a:pt x="3145484" y="1240489"/>
                  <a:pt x="3140414" y="1235401"/>
                </a:cubicBezTo>
                <a:close/>
                <a:moveTo>
                  <a:pt x="2770448" y="1232345"/>
                </a:moveTo>
                <a:lnTo>
                  <a:pt x="2770290" y="1232503"/>
                </a:lnTo>
                <a:cubicBezTo>
                  <a:pt x="2768332" y="1233741"/>
                  <a:pt x="2766066" y="1234723"/>
                  <a:pt x="2769363" y="1234723"/>
                </a:cubicBezTo>
                <a:lnTo>
                  <a:pt x="2771552" y="1233778"/>
                </a:lnTo>
                <a:close/>
                <a:moveTo>
                  <a:pt x="2756381" y="1230792"/>
                </a:moveTo>
                <a:lnTo>
                  <a:pt x="2750099" y="1231621"/>
                </a:lnTo>
                <a:lnTo>
                  <a:pt x="2748479" y="1232728"/>
                </a:lnTo>
                <a:lnTo>
                  <a:pt x="2746768" y="1236097"/>
                </a:lnTo>
                <a:lnTo>
                  <a:pt x="2748336" y="1237107"/>
                </a:lnTo>
                <a:lnTo>
                  <a:pt x="2748700" y="1236787"/>
                </a:lnTo>
                <a:lnTo>
                  <a:pt x="2748966" y="1237513"/>
                </a:lnTo>
                <a:lnTo>
                  <a:pt x="2750096" y="1238241"/>
                </a:lnTo>
                <a:cubicBezTo>
                  <a:pt x="2752053" y="1239243"/>
                  <a:pt x="2753702" y="1240226"/>
                  <a:pt x="2753702" y="1241641"/>
                </a:cubicBezTo>
                <a:cubicBezTo>
                  <a:pt x="2758854" y="1241641"/>
                  <a:pt x="2753702" y="1234723"/>
                  <a:pt x="2756381" y="1230792"/>
                </a:cubicBezTo>
                <a:close/>
                <a:moveTo>
                  <a:pt x="3371396" y="1229271"/>
                </a:moveTo>
                <a:cubicBezTo>
                  <a:pt x="3373101" y="1229017"/>
                  <a:pt x="3375124" y="1229457"/>
                  <a:pt x="3377377" y="1230942"/>
                </a:cubicBezTo>
                <a:cubicBezTo>
                  <a:pt x="3374714" y="1235788"/>
                  <a:pt x="3370823" y="1238915"/>
                  <a:pt x="3366932" y="1240791"/>
                </a:cubicBezTo>
                <a:cubicBezTo>
                  <a:pt x="3364014" y="1237039"/>
                  <a:pt x="3366280" y="1230033"/>
                  <a:pt x="3371396" y="1229271"/>
                </a:cubicBezTo>
                <a:close/>
                <a:moveTo>
                  <a:pt x="2756160" y="1227472"/>
                </a:moveTo>
                <a:lnTo>
                  <a:pt x="2755663" y="1227813"/>
                </a:lnTo>
                <a:lnTo>
                  <a:pt x="2756381" y="1227806"/>
                </a:lnTo>
                <a:close/>
                <a:moveTo>
                  <a:pt x="2782546" y="1226865"/>
                </a:moveTo>
                <a:cubicBezTo>
                  <a:pt x="2781314" y="1227804"/>
                  <a:pt x="2781314" y="1229681"/>
                  <a:pt x="2779878" y="1229681"/>
                </a:cubicBezTo>
                <a:lnTo>
                  <a:pt x="2780139" y="1230079"/>
                </a:lnTo>
                <a:lnTo>
                  <a:pt x="2785972" y="1229036"/>
                </a:lnTo>
                <a:close/>
                <a:moveTo>
                  <a:pt x="2800608" y="1225769"/>
                </a:moveTo>
                <a:cubicBezTo>
                  <a:pt x="2800608" y="1227804"/>
                  <a:pt x="2800608" y="1230777"/>
                  <a:pt x="2802045" y="1233750"/>
                </a:cubicBezTo>
                <a:cubicBezTo>
                  <a:pt x="2797119" y="1224126"/>
                  <a:pt x="2793001" y="1230610"/>
                  <a:pt x="2787959" y="1230296"/>
                </a:cubicBezTo>
                <a:lnTo>
                  <a:pt x="2787475" y="1229989"/>
                </a:lnTo>
                <a:lnTo>
                  <a:pt x="2785088" y="1230957"/>
                </a:lnTo>
                <a:lnTo>
                  <a:pt x="2782125" y="1233101"/>
                </a:lnTo>
                <a:lnTo>
                  <a:pt x="2782530" y="1233716"/>
                </a:lnTo>
                <a:cubicBezTo>
                  <a:pt x="2782626" y="1236190"/>
                  <a:pt x="2780298" y="1238372"/>
                  <a:pt x="2781061" y="1241081"/>
                </a:cubicBezTo>
                <a:lnTo>
                  <a:pt x="2781551" y="1241619"/>
                </a:lnTo>
                <a:lnTo>
                  <a:pt x="2782274" y="1241257"/>
                </a:lnTo>
                <a:cubicBezTo>
                  <a:pt x="2783891" y="1240147"/>
                  <a:pt x="2785282" y="1238732"/>
                  <a:pt x="2786261" y="1236767"/>
                </a:cubicBezTo>
                <a:cubicBezTo>
                  <a:pt x="2794091" y="1235666"/>
                  <a:pt x="2794091" y="1239755"/>
                  <a:pt x="2799243" y="1239755"/>
                </a:cubicBezTo>
                <a:cubicBezTo>
                  <a:pt x="2802179" y="1237514"/>
                  <a:pt x="2804214" y="1235146"/>
                  <a:pt x="2805920" y="1232854"/>
                </a:cubicBezTo>
                <a:lnTo>
                  <a:pt x="2806778" y="1231680"/>
                </a:lnTo>
                <a:lnTo>
                  <a:pt x="2802892" y="1231325"/>
                </a:lnTo>
                <a:cubicBezTo>
                  <a:pt x="2802558" y="1229956"/>
                  <a:pt x="2802558" y="1227725"/>
                  <a:pt x="2800608" y="1225769"/>
                </a:cubicBezTo>
                <a:close/>
                <a:moveTo>
                  <a:pt x="3268900" y="1225695"/>
                </a:moveTo>
                <a:cubicBezTo>
                  <a:pt x="3279240" y="1228716"/>
                  <a:pt x="3262614" y="1236825"/>
                  <a:pt x="3259978" y="1242868"/>
                </a:cubicBezTo>
                <a:cubicBezTo>
                  <a:pt x="3254909" y="1236825"/>
                  <a:pt x="3262614" y="1235712"/>
                  <a:pt x="3268900" y="1225695"/>
                </a:cubicBezTo>
                <a:close/>
                <a:moveTo>
                  <a:pt x="2792735" y="1215181"/>
                </a:moveTo>
                <a:lnTo>
                  <a:pt x="2791694" y="1215840"/>
                </a:lnTo>
                <a:lnTo>
                  <a:pt x="2793014" y="1219823"/>
                </a:lnTo>
                <a:lnTo>
                  <a:pt x="2797595" y="1217690"/>
                </a:lnTo>
                <a:lnTo>
                  <a:pt x="2795044" y="1216229"/>
                </a:lnTo>
                <a:cubicBezTo>
                  <a:pt x="2794233" y="1215669"/>
                  <a:pt x="2793505" y="1215203"/>
                  <a:pt x="2792735" y="1215181"/>
                </a:cubicBezTo>
                <a:close/>
                <a:moveTo>
                  <a:pt x="2251687" y="1213764"/>
                </a:moveTo>
                <a:cubicBezTo>
                  <a:pt x="2250353" y="1214309"/>
                  <a:pt x="2249070" y="1215556"/>
                  <a:pt x="2247941" y="1217154"/>
                </a:cubicBezTo>
                <a:lnTo>
                  <a:pt x="2247842" y="1217348"/>
                </a:lnTo>
                <a:lnTo>
                  <a:pt x="2251108" y="1218843"/>
                </a:lnTo>
                <a:lnTo>
                  <a:pt x="2251867" y="1213941"/>
                </a:lnTo>
                <a:close/>
                <a:moveTo>
                  <a:pt x="2252749" y="1206325"/>
                </a:moveTo>
                <a:lnTo>
                  <a:pt x="2250902" y="1206874"/>
                </a:lnTo>
                <a:lnTo>
                  <a:pt x="2245519" y="1209273"/>
                </a:lnTo>
                <a:lnTo>
                  <a:pt x="2245214" y="1209630"/>
                </a:lnTo>
                <a:lnTo>
                  <a:pt x="2250455" y="1210957"/>
                </a:lnTo>
                <a:cubicBezTo>
                  <a:pt x="2253021" y="1211892"/>
                  <a:pt x="2253329" y="1209164"/>
                  <a:pt x="2253637" y="1206572"/>
                </a:cubicBezTo>
                <a:lnTo>
                  <a:pt x="2253674" y="1206410"/>
                </a:lnTo>
                <a:close/>
                <a:moveTo>
                  <a:pt x="3402921" y="1200738"/>
                </a:moveTo>
                <a:cubicBezTo>
                  <a:pt x="3409495" y="1205821"/>
                  <a:pt x="3410729" y="1202803"/>
                  <a:pt x="3414632" y="1207887"/>
                </a:cubicBezTo>
                <a:cubicBezTo>
                  <a:pt x="3408263" y="1214877"/>
                  <a:pt x="3399018" y="1210905"/>
                  <a:pt x="3392649" y="1215831"/>
                </a:cubicBezTo>
                <a:cubicBezTo>
                  <a:pt x="3391212" y="1214877"/>
                  <a:pt x="3395115" y="1203756"/>
                  <a:pt x="3402921" y="1200738"/>
                </a:cubicBezTo>
                <a:close/>
                <a:moveTo>
                  <a:pt x="2341516" y="1199181"/>
                </a:moveTo>
                <a:cubicBezTo>
                  <a:pt x="2340354" y="1199544"/>
                  <a:pt x="2339498" y="1200449"/>
                  <a:pt x="2338764" y="1201628"/>
                </a:cubicBezTo>
                <a:lnTo>
                  <a:pt x="2334814" y="1209028"/>
                </a:lnTo>
                <a:lnTo>
                  <a:pt x="2343001" y="1211021"/>
                </a:lnTo>
                <a:lnTo>
                  <a:pt x="2340846" y="1212191"/>
                </a:lnTo>
                <a:lnTo>
                  <a:pt x="2342035" y="1212613"/>
                </a:lnTo>
                <a:cubicBezTo>
                  <a:pt x="2344508" y="1212869"/>
                  <a:pt x="2346826" y="1212397"/>
                  <a:pt x="2348783" y="1210982"/>
                </a:cubicBezTo>
                <a:cubicBezTo>
                  <a:pt x="2339510" y="1209881"/>
                  <a:pt x="2342189" y="1205008"/>
                  <a:pt x="2346105" y="1199976"/>
                </a:cubicBezTo>
                <a:cubicBezTo>
                  <a:pt x="2344147" y="1198994"/>
                  <a:pt x="2342678" y="1198817"/>
                  <a:pt x="2341516" y="1199181"/>
                </a:cubicBezTo>
                <a:close/>
                <a:moveTo>
                  <a:pt x="2809502" y="1198262"/>
                </a:moveTo>
                <a:lnTo>
                  <a:pt x="2809752" y="1199976"/>
                </a:lnTo>
                <a:lnTo>
                  <a:pt x="2812582" y="1199092"/>
                </a:lnTo>
                <a:close/>
                <a:moveTo>
                  <a:pt x="2827885" y="1196046"/>
                </a:moveTo>
                <a:cubicBezTo>
                  <a:pt x="2826030" y="1205008"/>
                  <a:pt x="2810846" y="1203269"/>
                  <a:pt x="2807196" y="1206880"/>
                </a:cubicBezTo>
                <a:lnTo>
                  <a:pt x="2808281" y="1212716"/>
                </a:lnTo>
                <a:lnTo>
                  <a:pt x="2816207" y="1209025"/>
                </a:lnTo>
                <a:lnTo>
                  <a:pt x="2837110" y="1198401"/>
                </a:lnTo>
                <a:lnTo>
                  <a:pt x="2834899" y="1199208"/>
                </a:lnTo>
                <a:cubicBezTo>
                  <a:pt x="2832560" y="1198994"/>
                  <a:pt x="2832831" y="1195220"/>
                  <a:pt x="2827885" y="1196046"/>
                </a:cubicBezTo>
                <a:close/>
                <a:moveTo>
                  <a:pt x="2842638" y="1189889"/>
                </a:moveTo>
                <a:lnTo>
                  <a:pt x="2837947" y="1191973"/>
                </a:lnTo>
                <a:lnTo>
                  <a:pt x="2835759" y="1192778"/>
                </a:lnTo>
                <a:lnTo>
                  <a:pt x="2838320" y="1197786"/>
                </a:lnTo>
                <a:lnTo>
                  <a:pt x="2839606" y="1197133"/>
                </a:lnTo>
                <a:lnTo>
                  <a:pt x="2842205" y="1194855"/>
                </a:lnTo>
                <a:lnTo>
                  <a:pt x="2841974" y="1195031"/>
                </a:lnTo>
                <a:close/>
                <a:moveTo>
                  <a:pt x="2419052" y="1188027"/>
                </a:moveTo>
                <a:cubicBezTo>
                  <a:pt x="2416373" y="1194002"/>
                  <a:pt x="2408542" y="1193059"/>
                  <a:pt x="2409985" y="1199033"/>
                </a:cubicBezTo>
                <a:lnTo>
                  <a:pt x="2411379" y="1198696"/>
                </a:lnTo>
                <a:lnTo>
                  <a:pt x="2411457" y="1197962"/>
                </a:lnTo>
                <a:lnTo>
                  <a:pt x="2414518" y="1197936"/>
                </a:lnTo>
                <a:lnTo>
                  <a:pt x="2418021" y="1197088"/>
                </a:lnTo>
                <a:lnTo>
                  <a:pt x="2421537" y="1193097"/>
                </a:lnTo>
                <a:lnTo>
                  <a:pt x="2421607" y="1191032"/>
                </a:lnTo>
                <a:lnTo>
                  <a:pt x="2423357" y="1191032"/>
                </a:lnTo>
                <a:lnTo>
                  <a:pt x="2424203" y="1190071"/>
                </a:lnTo>
                <a:cubicBezTo>
                  <a:pt x="2424203" y="1190071"/>
                  <a:pt x="2424203" y="1190071"/>
                  <a:pt x="2419052" y="1188027"/>
                </a:cubicBezTo>
                <a:close/>
                <a:moveTo>
                  <a:pt x="2429355" y="1185984"/>
                </a:moveTo>
                <a:cubicBezTo>
                  <a:pt x="2430334" y="1187753"/>
                  <a:pt x="2430578" y="1188892"/>
                  <a:pt x="2430395" y="1189684"/>
                </a:cubicBezTo>
                <a:lnTo>
                  <a:pt x="2429111" y="1191032"/>
                </a:lnTo>
                <a:lnTo>
                  <a:pt x="2429414" y="1191032"/>
                </a:lnTo>
                <a:cubicBezTo>
                  <a:pt x="2430529" y="1191032"/>
                  <a:pt x="2430529" y="1191032"/>
                  <a:pt x="2430529" y="1191032"/>
                </a:cubicBezTo>
                <a:lnTo>
                  <a:pt x="2429835" y="1193942"/>
                </a:lnTo>
                <a:lnTo>
                  <a:pt x="2431802" y="1191997"/>
                </a:lnTo>
                <a:cubicBezTo>
                  <a:pt x="2433270" y="1189521"/>
                  <a:pt x="2433270" y="1186534"/>
                  <a:pt x="2429355" y="1185984"/>
                </a:cubicBezTo>
                <a:close/>
                <a:moveTo>
                  <a:pt x="2528665" y="1183273"/>
                </a:moveTo>
                <a:lnTo>
                  <a:pt x="2526911" y="1183378"/>
                </a:lnTo>
                <a:lnTo>
                  <a:pt x="2527054" y="1185154"/>
                </a:lnTo>
                <a:lnTo>
                  <a:pt x="2528730" y="1184333"/>
                </a:lnTo>
                <a:close/>
                <a:moveTo>
                  <a:pt x="2866959" y="1179246"/>
                </a:moveTo>
                <a:lnTo>
                  <a:pt x="2868204" y="1183280"/>
                </a:lnTo>
                <a:lnTo>
                  <a:pt x="2869222" y="1183156"/>
                </a:lnTo>
                <a:lnTo>
                  <a:pt x="2869340" y="1186967"/>
                </a:lnTo>
                <a:lnTo>
                  <a:pt x="2869367" y="1187052"/>
                </a:lnTo>
                <a:cubicBezTo>
                  <a:pt x="2869367" y="1184144"/>
                  <a:pt x="2875787" y="1185062"/>
                  <a:pt x="2870771" y="1187052"/>
                </a:cubicBezTo>
                <a:cubicBezTo>
                  <a:pt x="2869367" y="1187052"/>
                  <a:pt x="2868163" y="1187971"/>
                  <a:pt x="2868163" y="1189960"/>
                </a:cubicBezTo>
                <a:lnTo>
                  <a:pt x="2865249" y="1189279"/>
                </a:lnTo>
                <a:lnTo>
                  <a:pt x="2854078" y="1192256"/>
                </a:lnTo>
                <a:cubicBezTo>
                  <a:pt x="2852765" y="1188681"/>
                  <a:pt x="2854331" y="1186122"/>
                  <a:pt x="2857334" y="1184599"/>
                </a:cubicBezTo>
                <a:lnTo>
                  <a:pt x="2863640" y="1183834"/>
                </a:lnTo>
                <a:close/>
                <a:moveTo>
                  <a:pt x="2480253" y="1173091"/>
                </a:moveTo>
                <a:cubicBezTo>
                  <a:pt x="2476338" y="1177179"/>
                  <a:pt x="2485405" y="1178123"/>
                  <a:pt x="2481489" y="1181110"/>
                </a:cubicBezTo>
                <a:cubicBezTo>
                  <a:pt x="2476338" y="1185040"/>
                  <a:pt x="2480253" y="1176079"/>
                  <a:pt x="2473658" y="1176079"/>
                </a:cubicBezTo>
                <a:cubicBezTo>
                  <a:pt x="2472422" y="1180166"/>
                  <a:pt x="2469743" y="1178123"/>
                  <a:pt x="2467271" y="1182053"/>
                </a:cubicBezTo>
                <a:cubicBezTo>
                  <a:pt x="2472422" y="1185984"/>
                  <a:pt x="2475102" y="1184097"/>
                  <a:pt x="2479017" y="1184097"/>
                </a:cubicBezTo>
                <a:cubicBezTo>
                  <a:pt x="2475102" y="1191958"/>
                  <a:pt x="2467271" y="1184097"/>
                  <a:pt x="2463355" y="1191015"/>
                </a:cubicBezTo>
                <a:cubicBezTo>
                  <a:pt x="2455525" y="1188971"/>
                  <a:pt x="2456761" y="1184097"/>
                  <a:pt x="2451610" y="1185040"/>
                </a:cubicBezTo>
                <a:cubicBezTo>
                  <a:pt x="2448931" y="1190071"/>
                  <a:pt x="2452846" y="1188027"/>
                  <a:pt x="2456761" y="1190071"/>
                </a:cubicBezTo>
                <a:cubicBezTo>
                  <a:pt x="2452846" y="1197933"/>
                  <a:pt x="2443780" y="1185984"/>
                  <a:pt x="2441101" y="1196046"/>
                </a:cubicBezTo>
                <a:lnTo>
                  <a:pt x="2442153" y="1195973"/>
                </a:lnTo>
                <a:lnTo>
                  <a:pt x="2443250" y="1195007"/>
                </a:lnTo>
                <a:cubicBezTo>
                  <a:pt x="2444514" y="1194669"/>
                  <a:pt x="2445838" y="1194927"/>
                  <a:pt x="2447042" y="1195563"/>
                </a:cubicBezTo>
                <a:lnTo>
                  <a:pt x="2447086" y="1195631"/>
                </a:lnTo>
                <a:lnTo>
                  <a:pt x="2470285" y="1194022"/>
                </a:lnTo>
                <a:cubicBezTo>
                  <a:pt x="2479893" y="1192272"/>
                  <a:pt x="2489320" y="1189521"/>
                  <a:pt x="2498387" y="1185984"/>
                </a:cubicBezTo>
                <a:cubicBezTo>
                  <a:pt x="2495914" y="1185040"/>
                  <a:pt x="2491999" y="1183154"/>
                  <a:pt x="2488084" y="1185040"/>
                </a:cubicBezTo>
                <a:cubicBezTo>
                  <a:pt x="2485405" y="1182053"/>
                  <a:pt x="2490762" y="1177179"/>
                  <a:pt x="2489320" y="1173091"/>
                </a:cubicBezTo>
                <a:cubicBezTo>
                  <a:pt x="2485405" y="1172148"/>
                  <a:pt x="2482726" y="1172148"/>
                  <a:pt x="2480253" y="1173091"/>
                </a:cubicBezTo>
                <a:close/>
                <a:moveTo>
                  <a:pt x="2533624" y="1163186"/>
                </a:moveTo>
                <a:cubicBezTo>
                  <a:pt x="2528473" y="1161299"/>
                  <a:pt x="2523114" y="1170104"/>
                  <a:pt x="2530945" y="1172148"/>
                </a:cubicBezTo>
                <a:cubicBezTo>
                  <a:pt x="2534860" y="1168217"/>
                  <a:pt x="2530945" y="1167117"/>
                  <a:pt x="2533624" y="1163186"/>
                </a:cubicBezTo>
                <a:close/>
                <a:moveTo>
                  <a:pt x="2525252" y="1156347"/>
                </a:moveTo>
                <a:cubicBezTo>
                  <a:pt x="2523114" y="1156976"/>
                  <a:pt x="2521157" y="1158234"/>
                  <a:pt x="2519200" y="1159255"/>
                </a:cubicBezTo>
                <a:cubicBezTo>
                  <a:pt x="2517963" y="1162243"/>
                  <a:pt x="2517963" y="1168217"/>
                  <a:pt x="2511574" y="1167117"/>
                </a:cubicBezTo>
                <a:cubicBezTo>
                  <a:pt x="2511574" y="1164287"/>
                  <a:pt x="2512811" y="1160199"/>
                  <a:pt x="2510133" y="1158312"/>
                </a:cubicBezTo>
                <a:cubicBezTo>
                  <a:pt x="2506217" y="1161299"/>
                  <a:pt x="2501065" y="1162243"/>
                  <a:pt x="2504981" y="1167117"/>
                </a:cubicBezTo>
                <a:cubicBezTo>
                  <a:pt x="2510133" y="1164287"/>
                  <a:pt x="2510133" y="1173091"/>
                  <a:pt x="2515490" y="1170104"/>
                </a:cubicBezTo>
                <a:cubicBezTo>
                  <a:pt x="2512811" y="1178123"/>
                  <a:pt x="2504981" y="1172148"/>
                  <a:pt x="2501065" y="1173091"/>
                </a:cubicBezTo>
                <a:cubicBezTo>
                  <a:pt x="2499829" y="1175135"/>
                  <a:pt x="2495914" y="1178123"/>
                  <a:pt x="2498387" y="1180166"/>
                </a:cubicBezTo>
                <a:cubicBezTo>
                  <a:pt x="2502302" y="1177179"/>
                  <a:pt x="2506217" y="1178123"/>
                  <a:pt x="2511574" y="1178123"/>
                </a:cubicBezTo>
                <a:cubicBezTo>
                  <a:pt x="2511574" y="1185040"/>
                  <a:pt x="2506217" y="1179065"/>
                  <a:pt x="2503745" y="1185984"/>
                </a:cubicBezTo>
                <a:cubicBezTo>
                  <a:pt x="2506939" y="1185984"/>
                  <a:pt x="2510184" y="1185001"/>
                  <a:pt x="2513609" y="1184019"/>
                </a:cubicBezTo>
                <a:lnTo>
                  <a:pt x="2524228" y="1182112"/>
                </a:lnTo>
                <a:lnTo>
                  <a:pt x="2525010" y="1178349"/>
                </a:lnTo>
                <a:lnTo>
                  <a:pt x="2523884" y="1178700"/>
                </a:lnTo>
                <a:cubicBezTo>
                  <a:pt x="2521131" y="1179341"/>
                  <a:pt x="2518684" y="1179577"/>
                  <a:pt x="2516726" y="1179065"/>
                </a:cubicBezTo>
                <a:cubicBezTo>
                  <a:pt x="2519200" y="1179065"/>
                  <a:pt x="2520642" y="1178123"/>
                  <a:pt x="2523114" y="1177179"/>
                </a:cubicBezTo>
                <a:cubicBezTo>
                  <a:pt x="2517963" y="1174192"/>
                  <a:pt x="2512811" y="1178123"/>
                  <a:pt x="2517963" y="1171204"/>
                </a:cubicBezTo>
                <a:cubicBezTo>
                  <a:pt x="2521878" y="1166173"/>
                  <a:pt x="2519200" y="1179065"/>
                  <a:pt x="2523114" y="1174192"/>
                </a:cubicBezTo>
                <a:cubicBezTo>
                  <a:pt x="2529709" y="1167117"/>
                  <a:pt x="2519200" y="1172148"/>
                  <a:pt x="2520642" y="1167117"/>
                </a:cubicBezTo>
                <a:cubicBezTo>
                  <a:pt x="2528473" y="1166173"/>
                  <a:pt x="2521878" y="1159255"/>
                  <a:pt x="2532388" y="1157212"/>
                </a:cubicBezTo>
                <a:cubicBezTo>
                  <a:pt x="2529709" y="1155718"/>
                  <a:pt x="2527391" y="1155718"/>
                  <a:pt x="2525252" y="1156347"/>
                </a:cubicBezTo>
                <a:close/>
                <a:moveTo>
                  <a:pt x="2595946" y="1155862"/>
                </a:moveTo>
                <a:cubicBezTo>
                  <a:pt x="2599281" y="1155222"/>
                  <a:pt x="2603093" y="1155462"/>
                  <a:pt x="2604998" y="1155942"/>
                </a:cubicBezTo>
                <a:cubicBezTo>
                  <a:pt x="2604998" y="1158022"/>
                  <a:pt x="2601186" y="1158981"/>
                  <a:pt x="2602390" y="1161061"/>
                </a:cubicBezTo>
                <a:cubicBezTo>
                  <a:pt x="2595970" y="1158022"/>
                  <a:pt x="2594767" y="1159941"/>
                  <a:pt x="2589752" y="1161061"/>
                </a:cubicBezTo>
                <a:cubicBezTo>
                  <a:pt x="2589752" y="1158022"/>
                  <a:pt x="2592610" y="1156502"/>
                  <a:pt x="2595946" y="1155862"/>
                </a:cubicBezTo>
                <a:close/>
                <a:moveTo>
                  <a:pt x="2904387" y="1151041"/>
                </a:moveTo>
                <a:cubicBezTo>
                  <a:pt x="2902120" y="1150804"/>
                  <a:pt x="2900833" y="1151316"/>
                  <a:pt x="2899596" y="1155324"/>
                </a:cubicBezTo>
                <a:cubicBezTo>
                  <a:pt x="2902069" y="1158312"/>
                  <a:pt x="2915051" y="1158312"/>
                  <a:pt x="2915051" y="1151237"/>
                </a:cubicBezTo>
                <a:cubicBezTo>
                  <a:pt x="2909900" y="1152259"/>
                  <a:pt x="2906654" y="1151277"/>
                  <a:pt x="2904387" y="1151041"/>
                </a:cubicBezTo>
                <a:close/>
                <a:moveTo>
                  <a:pt x="2615054" y="1141342"/>
                </a:moveTo>
                <a:cubicBezTo>
                  <a:pt x="2613825" y="1143331"/>
                  <a:pt x="2617716" y="1143331"/>
                  <a:pt x="2616282" y="1145168"/>
                </a:cubicBezTo>
                <a:cubicBezTo>
                  <a:pt x="2612392" y="1146240"/>
                  <a:pt x="2609934" y="1152055"/>
                  <a:pt x="2603381" y="1148076"/>
                </a:cubicBezTo>
                <a:cubicBezTo>
                  <a:pt x="2603381" y="1140423"/>
                  <a:pt x="2612392" y="1147157"/>
                  <a:pt x="2613825" y="1142260"/>
                </a:cubicBezTo>
                <a:cubicBezTo>
                  <a:pt x="2612392" y="1142260"/>
                  <a:pt x="2612392" y="1140423"/>
                  <a:pt x="2615054" y="1141342"/>
                </a:cubicBezTo>
                <a:close/>
                <a:moveTo>
                  <a:pt x="2927815" y="1140770"/>
                </a:moveTo>
                <a:lnTo>
                  <a:pt x="2928041" y="1141313"/>
                </a:lnTo>
                <a:lnTo>
                  <a:pt x="2929511" y="1141056"/>
                </a:lnTo>
                <a:close/>
                <a:moveTo>
                  <a:pt x="3003660" y="1137402"/>
                </a:moveTo>
                <a:cubicBezTo>
                  <a:pt x="2999745" y="1137402"/>
                  <a:pt x="2998508" y="1139445"/>
                  <a:pt x="2995829" y="1140388"/>
                </a:cubicBezTo>
                <a:cubicBezTo>
                  <a:pt x="2995829" y="1141882"/>
                  <a:pt x="2995520" y="1143847"/>
                  <a:pt x="2996035" y="1145204"/>
                </a:cubicBezTo>
                <a:lnTo>
                  <a:pt x="3001069" y="1146336"/>
                </a:lnTo>
                <a:lnTo>
                  <a:pt x="3001262" y="1146093"/>
                </a:lnTo>
                <a:close/>
                <a:moveTo>
                  <a:pt x="2964366" y="1136957"/>
                </a:moveTo>
                <a:cubicBezTo>
                  <a:pt x="2969382" y="1136957"/>
                  <a:pt x="2969382" y="1152050"/>
                  <a:pt x="2962961" y="1146012"/>
                </a:cubicBezTo>
                <a:cubicBezTo>
                  <a:pt x="2969382" y="1144901"/>
                  <a:pt x="2954134" y="1139976"/>
                  <a:pt x="2964366" y="1136957"/>
                </a:cubicBezTo>
                <a:close/>
                <a:moveTo>
                  <a:pt x="2620949" y="1136957"/>
                </a:moveTo>
                <a:cubicBezTo>
                  <a:pt x="2620949" y="1136957"/>
                  <a:pt x="2620949" y="1136957"/>
                  <a:pt x="2628622" y="1138960"/>
                </a:cubicBezTo>
                <a:cubicBezTo>
                  <a:pt x="2627412" y="1142811"/>
                  <a:pt x="2622363" y="1141733"/>
                  <a:pt x="2619738" y="1143735"/>
                </a:cubicBezTo>
                <a:cubicBezTo>
                  <a:pt x="2622363" y="1140808"/>
                  <a:pt x="2619738" y="1139884"/>
                  <a:pt x="2620949" y="1136957"/>
                </a:cubicBezTo>
                <a:close/>
                <a:moveTo>
                  <a:pt x="2928264" y="1129384"/>
                </a:moveTo>
                <a:lnTo>
                  <a:pt x="2928240" y="1129395"/>
                </a:lnTo>
                <a:lnTo>
                  <a:pt x="2928303" y="1131018"/>
                </a:lnTo>
                <a:lnTo>
                  <a:pt x="2930068" y="1129892"/>
                </a:lnTo>
                <a:lnTo>
                  <a:pt x="2930506" y="1129527"/>
                </a:lnTo>
                <a:close/>
                <a:moveTo>
                  <a:pt x="2966934" y="1126557"/>
                </a:moveTo>
                <a:cubicBezTo>
                  <a:pt x="2966934" y="1130717"/>
                  <a:pt x="2968388" y="1130717"/>
                  <a:pt x="2973580" y="1126557"/>
                </a:cubicBezTo>
                <a:cubicBezTo>
                  <a:pt x="2974826" y="1128637"/>
                  <a:pt x="2972334" y="1131677"/>
                  <a:pt x="2968388" y="1134717"/>
                </a:cubicBezTo>
                <a:cubicBezTo>
                  <a:pt x="2966934" y="1132637"/>
                  <a:pt x="2962988" y="1133757"/>
                  <a:pt x="2960495" y="1130717"/>
                </a:cubicBezTo>
                <a:cubicBezTo>
                  <a:pt x="2966934" y="1126557"/>
                  <a:pt x="2966934" y="1126557"/>
                  <a:pt x="2966934" y="1126557"/>
                </a:cubicBezTo>
                <a:close/>
                <a:moveTo>
                  <a:pt x="2944714" y="1121996"/>
                </a:moveTo>
                <a:lnTo>
                  <a:pt x="2942725" y="1122840"/>
                </a:lnTo>
                <a:lnTo>
                  <a:pt x="2941172" y="1128244"/>
                </a:lnTo>
                <a:lnTo>
                  <a:pt x="2942884" y="1128516"/>
                </a:lnTo>
                <a:cubicBezTo>
                  <a:pt x="2944227" y="1127024"/>
                  <a:pt x="2944227" y="1125531"/>
                  <a:pt x="2944227" y="1123920"/>
                </a:cubicBezTo>
                <a:close/>
                <a:moveTo>
                  <a:pt x="2999410" y="1115807"/>
                </a:moveTo>
                <a:cubicBezTo>
                  <a:pt x="2996946" y="1117698"/>
                  <a:pt x="2994276" y="1117698"/>
                  <a:pt x="2993043" y="1117698"/>
                </a:cubicBezTo>
                <a:cubicBezTo>
                  <a:pt x="2991709" y="1119748"/>
                  <a:pt x="2994276" y="1120260"/>
                  <a:pt x="2995893" y="1121127"/>
                </a:cubicBezTo>
                <a:lnTo>
                  <a:pt x="2996051" y="1121384"/>
                </a:lnTo>
                <a:lnTo>
                  <a:pt x="3002783" y="1117229"/>
                </a:lnTo>
                <a:close/>
                <a:moveTo>
                  <a:pt x="2708615" y="1112937"/>
                </a:moveTo>
                <a:cubicBezTo>
                  <a:pt x="2710082" y="1112284"/>
                  <a:pt x="2712389" y="1112774"/>
                  <a:pt x="2714381" y="1114242"/>
                </a:cubicBezTo>
                <a:cubicBezTo>
                  <a:pt x="2715849" y="1119462"/>
                  <a:pt x="2711864" y="1119462"/>
                  <a:pt x="2707880" y="1118483"/>
                </a:cubicBezTo>
                <a:cubicBezTo>
                  <a:pt x="2706517" y="1115384"/>
                  <a:pt x="2707146" y="1113590"/>
                  <a:pt x="2708615" y="1112937"/>
                </a:cubicBezTo>
                <a:close/>
                <a:moveTo>
                  <a:pt x="2680660" y="1106453"/>
                </a:moveTo>
                <a:lnTo>
                  <a:pt x="2688846" y="1112345"/>
                </a:lnTo>
                <a:lnTo>
                  <a:pt x="2694736" y="1109226"/>
                </a:lnTo>
                <a:cubicBezTo>
                  <a:pt x="2698591" y="1112241"/>
                  <a:pt x="2680532" y="1122239"/>
                  <a:pt x="2677894" y="1117161"/>
                </a:cubicBezTo>
                <a:lnTo>
                  <a:pt x="2684654" y="1114424"/>
                </a:lnTo>
                <a:lnTo>
                  <a:pt x="2683315" y="1112407"/>
                </a:lnTo>
                <a:cubicBezTo>
                  <a:pt x="2676781" y="1119302"/>
                  <a:pt x="2667797" y="1124317"/>
                  <a:pt x="2658812" y="1129174"/>
                </a:cubicBezTo>
                <a:lnTo>
                  <a:pt x="2658940" y="1128854"/>
                </a:lnTo>
                <a:lnTo>
                  <a:pt x="2658230" y="1129711"/>
                </a:lnTo>
                <a:cubicBezTo>
                  <a:pt x="2654771" y="1131892"/>
                  <a:pt x="2650508" y="1133806"/>
                  <a:pt x="2647907" y="1134723"/>
                </a:cubicBezTo>
                <a:cubicBezTo>
                  <a:pt x="2648532" y="1132352"/>
                  <a:pt x="2651496" y="1130438"/>
                  <a:pt x="2654798" y="1128621"/>
                </a:cubicBezTo>
                <a:lnTo>
                  <a:pt x="2660444" y="1125120"/>
                </a:lnTo>
                <a:lnTo>
                  <a:pt x="2661651" y="1122120"/>
                </a:lnTo>
                <a:cubicBezTo>
                  <a:pt x="2666150" y="1116589"/>
                  <a:pt x="2674841" y="1114562"/>
                  <a:pt x="2680660" y="1106453"/>
                </a:cubicBezTo>
                <a:close/>
                <a:moveTo>
                  <a:pt x="30238" y="1105760"/>
                </a:moveTo>
                <a:cubicBezTo>
                  <a:pt x="31661" y="1108706"/>
                  <a:pt x="34099" y="1109636"/>
                  <a:pt x="37962" y="1110567"/>
                </a:cubicBezTo>
                <a:cubicBezTo>
                  <a:pt x="30238" y="1110567"/>
                  <a:pt x="22514" y="1116460"/>
                  <a:pt x="21295" y="1126229"/>
                </a:cubicBezTo>
                <a:cubicBezTo>
                  <a:pt x="18652" y="1127315"/>
                  <a:pt x="14994" y="1126229"/>
                  <a:pt x="13571" y="1129176"/>
                </a:cubicBezTo>
                <a:cubicBezTo>
                  <a:pt x="7269" y="1125299"/>
                  <a:pt x="16213" y="1123283"/>
                  <a:pt x="18652" y="1115529"/>
                </a:cubicBezTo>
                <a:cubicBezTo>
                  <a:pt x="23936" y="1118475"/>
                  <a:pt x="27799" y="1112583"/>
                  <a:pt x="30238" y="1105760"/>
                </a:cubicBezTo>
                <a:close/>
                <a:moveTo>
                  <a:pt x="175697" y="1102728"/>
                </a:moveTo>
                <a:cubicBezTo>
                  <a:pt x="169103" y="1105715"/>
                  <a:pt x="163950" y="1113575"/>
                  <a:pt x="157356" y="1118605"/>
                </a:cubicBezTo>
                <a:cubicBezTo>
                  <a:pt x="156119" y="1115618"/>
                  <a:pt x="150967" y="1113575"/>
                  <a:pt x="147051" y="1115618"/>
                </a:cubicBezTo>
                <a:cubicBezTo>
                  <a:pt x="141899" y="1127565"/>
                  <a:pt x="136541" y="1134482"/>
                  <a:pt x="136541" y="1146428"/>
                </a:cubicBezTo>
                <a:cubicBezTo>
                  <a:pt x="141899" y="1140455"/>
                  <a:pt x="139220" y="1149414"/>
                  <a:pt x="144372" y="1148314"/>
                </a:cubicBezTo>
                <a:cubicBezTo>
                  <a:pt x="148288" y="1139511"/>
                  <a:pt x="156119" y="1146428"/>
                  <a:pt x="160034" y="1138411"/>
                </a:cubicBezTo>
                <a:cubicBezTo>
                  <a:pt x="157356" y="1124578"/>
                  <a:pt x="171782" y="1115618"/>
                  <a:pt x="175697" y="1102728"/>
                </a:cubicBezTo>
                <a:close/>
                <a:moveTo>
                  <a:pt x="2708890" y="1102238"/>
                </a:moveTo>
                <a:cubicBezTo>
                  <a:pt x="2720400" y="1100214"/>
                  <a:pt x="2700006" y="1113923"/>
                  <a:pt x="2698793" y="1107068"/>
                </a:cubicBezTo>
                <a:cubicBezTo>
                  <a:pt x="2702630" y="1103174"/>
                  <a:pt x="2710102" y="1107068"/>
                  <a:pt x="2708890" y="1102238"/>
                </a:cubicBezTo>
                <a:close/>
                <a:moveTo>
                  <a:pt x="2744620" y="1097441"/>
                </a:moveTo>
                <a:cubicBezTo>
                  <a:pt x="2745842" y="1103294"/>
                  <a:pt x="2745842" y="1104219"/>
                  <a:pt x="2740749" y="1104219"/>
                </a:cubicBezTo>
                <a:cubicBezTo>
                  <a:pt x="2734232" y="1098364"/>
                  <a:pt x="2743194" y="1100367"/>
                  <a:pt x="2744620" y="1097441"/>
                </a:cubicBezTo>
                <a:close/>
                <a:moveTo>
                  <a:pt x="3370763" y="1093281"/>
                </a:moveTo>
                <a:cubicBezTo>
                  <a:pt x="3376117" y="1095168"/>
                  <a:pt x="3365615" y="1111213"/>
                  <a:pt x="3362939" y="1102247"/>
                </a:cubicBezTo>
                <a:cubicBezTo>
                  <a:pt x="3360467" y="1105236"/>
                  <a:pt x="3364380" y="1107123"/>
                  <a:pt x="3360467" y="1111213"/>
                </a:cubicBezTo>
                <a:cubicBezTo>
                  <a:pt x="3369528" y="1104135"/>
                  <a:pt x="3374675" y="1117033"/>
                  <a:pt x="3380030" y="1105236"/>
                </a:cubicBezTo>
                <a:cubicBezTo>
                  <a:pt x="3383736" y="1106179"/>
                  <a:pt x="3378588" y="1111213"/>
                  <a:pt x="3382501" y="1112157"/>
                </a:cubicBezTo>
                <a:cubicBezTo>
                  <a:pt x="3378588" y="1115145"/>
                  <a:pt x="3370763" y="1113101"/>
                  <a:pt x="3365615" y="1114045"/>
                </a:cubicBezTo>
                <a:cubicBezTo>
                  <a:pt x="3366851" y="1121123"/>
                  <a:pt x="3348730" y="1142988"/>
                  <a:pt x="3364380" y="1141887"/>
                </a:cubicBezTo>
                <a:cubicBezTo>
                  <a:pt x="3368292" y="1152898"/>
                  <a:pt x="3327932" y="1160921"/>
                  <a:pt x="3339670" y="1173819"/>
                </a:cubicBezTo>
                <a:cubicBezTo>
                  <a:pt x="3329168" y="1184673"/>
                  <a:pt x="3326491" y="1194583"/>
                  <a:pt x="3321343" y="1206538"/>
                </a:cubicBezTo>
                <a:cubicBezTo>
                  <a:pt x="3317430" y="1218493"/>
                  <a:pt x="3314959" y="1231392"/>
                  <a:pt x="3301781" y="1246336"/>
                </a:cubicBezTo>
                <a:cubicBezTo>
                  <a:pt x="3295397" y="1240358"/>
                  <a:pt x="3284895" y="1218493"/>
                  <a:pt x="3305692" y="1217549"/>
                </a:cubicBezTo>
                <a:cubicBezTo>
                  <a:pt x="3304458" y="1204651"/>
                  <a:pt x="3309605" y="1193639"/>
                  <a:pt x="3317430" y="1182785"/>
                </a:cubicBezTo>
                <a:cubicBezTo>
                  <a:pt x="3320107" y="1176808"/>
                  <a:pt x="3323711" y="1171067"/>
                  <a:pt x="3327134" y="1165089"/>
                </a:cubicBezTo>
                <a:lnTo>
                  <a:pt x="3331389" y="1155658"/>
                </a:lnTo>
                <a:lnTo>
                  <a:pt x="3331437" y="1152304"/>
                </a:lnTo>
                <a:cubicBezTo>
                  <a:pt x="3332738" y="1149164"/>
                  <a:pt x="3336018" y="1145387"/>
                  <a:pt x="3337996" y="1141810"/>
                </a:cubicBezTo>
                <a:lnTo>
                  <a:pt x="3341031" y="1147023"/>
                </a:lnTo>
                <a:lnTo>
                  <a:pt x="3342697" y="1147354"/>
                </a:lnTo>
                <a:cubicBezTo>
                  <a:pt x="3348769" y="1146056"/>
                  <a:pt x="3351974" y="1138033"/>
                  <a:pt x="3349966" y="1134966"/>
                </a:cubicBezTo>
                <a:cubicBezTo>
                  <a:pt x="3340905" y="1133078"/>
                  <a:pt x="3352643" y="1143932"/>
                  <a:pt x="3340905" y="1139056"/>
                </a:cubicBezTo>
                <a:cubicBezTo>
                  <a:pt x="3346053" y="1121123"/>
                  <a:pt x="3359231" y="1107123"/>
                  <a:pt x="3357791" y="1094225"/>
                </a:cubicBezTo>
                <a:cubicBezTo>
                  <a:pt x="3362939" y="1095168"/>
                  <a:pt x="3361702" y="1097213"/>
                  <a:pt x="3365615" y="1098157"/>
                </a:cubicBezTo>
                <a:cubicBezTo>
                  <a:pt x="3368292" y="1099258"/>
                  <a:pt x="3369528" y="1095168"/>
                  <a:pt x="3370763" y="1093281"/>
                </a:cubicBezTo>
                <a:close/>
                <a:moveTo>
                  <a:pt x="2755892" y="1093044"/>
                </a:moveTo>
                <a:cubicBezTo>
                  <a:pt x="2757216" y="1093095"/>
                  <a:pt x="2758268" y="1093221"/>
                  <a:pt x="2758580" y="1093221"/>
                </a:cubicBezTo>
                <a:cubicBezTo>
                  <a:pt x="2761285" y="1097106"/>
                  <a:pt x="2753380" y="1100058"/>
                  <a:pt x="2749428" y="1100058"/>
                </a:cubicBezTo>
                <a:cubicBezTo>
                  <a:pt x="2745528" y="1093416"/>
                  <a:pt x="2751924" y="1092891"/>
                  <a:pt x="2755892" y="1093044"/>
                </a:cubicBezTo>
                <a:close/>
                <a:moveTo>
                  <a:pt x="2746747" y="1084269"/>
                </a:moveTo>
                <a:cubicBezTo>
                  <a:pt x="2746747" y="1090122"/>
                  <a:pt x="2740322" y="1089199"/>
                  <a:pt x="2735141" y="1091047"/>
                </a:cubicBezTo>
                <a:cubicBezTo>
                  <a:pt x="2736384" y="1086271"/>
                  <a:pt x="2740322" y="1084269"/>
                  <a:pt x="2746747" y="1084269"/>
                </a:cubicBezTo>
                <a:close/>
                <a:moveTo>
                  <a:pt x="3370662" y="1083496"/>
                </a:moveTo>
                <a:cubicBezTo>
                  <a:pt x="3373938" y="1083243"/>
                  <a:pt x="3377215" y="1083982"/>
                  <a:pt x="3379191" y="1086468"/>
                </a:cubicBezTo>
                <a:cubicBezTo>
                  <a:pt x="3376694" y="1090352"/>
                  <a:pt x="3370038" y="1088332"/>
                  <a:pt x="3362134" y="1086468"/>
                </a:cubicBezTo>
                <a:cubicBezTo>
                  <a:pt x="3364110" y="1084992"/>
                  <a:pt x="3367386" y="1083749"/>
                  <a:pt x="3370662" y="1083496"/>
                </a:cubicBezTo>
                <a:close/>
                <a:moveTo>
                  <a:pt x="3050301" y="1082390"/>
                </a:moveTo>
                <a:lnTo>
                  <a:pt x="3046233" y="1085858"/>
                </a:lnTo>
                <a:cubicBezTo>
                  <a:pt x="3047464" y="1076873"/>
                  <a:pt x="3033295" y="1091847"/>
                  <a:pt x="3031858" y="1089956"/>
                </a:cubicBezTo>
                <a:cubicBezTo>
                  <a:pt x="3038429" y="1093896"/>
                  <a:pt x="3029393" y="1098783"/>
                  <a:pt x="3020358" y="1098783"/>
                </a:cubicBezTo>
                <a:cubicBezTo>
                  <a:pt x="3015018" y="1103827"/>
                  <a:pt x="3026723" y="1099887"/>
                  <a:pt x="3024054" y="1104773"/>
                </a:cubicBezTo>
                <a:lnTo>
                  <a:pt x="3016332" y="1108298"/>
                </a:lnTo>
                <a:lnTo>
                  <a:pt x="3018084" y="1111617"/>
                </a:lnTo>
                <a:cubicBezTo>
                  <a:pt x="3023235" y="1109572"/>
                  <a:pt x="3028387" y="1099668"/>
                  <a:pt x="3033745" y="1105642"/>
                </a:cubicBezTo>
                <a:cubicBezTo>
                  <a:pt x="3031066" y="1108629"/>
                  <a:pt x="3025915" y="1109572"/>
                  <a:pt x="3025915" y="1113503"/>
                </a:cubicBezTo>
                <a:cubicBezTo>
                  <a:pt x="3037660" y="1114447"/>
                  <a:pt x="3034982" y="1105642"/>
                  <a:pt x="3042811" y="1103598"/>
                </a:cubicBezTo>
                <a:cubicBezTo>
                  <a:pt x="3042811" y="1103598"/>
                  <a:pt x="3042811" y="1103598"/>
                  <a:pt x="3042811" y="1107529"/>
                </a:cubicBezTo>
                <a:cubicBezTo>
                  <a:pt x="3045285" y="1107529"/>
                  <a:pt x="3045285" y="1108629"/>
                  <a:pt x="3045285" y="1110516"/>
                </a:cubicBezTo>
                <a:cubicBezTo>
                  <a:pt x="3041575" y="1111617"/>
                  <a:pt x="3036218" y="1111617"/>
                  <a:pt x="3034982" y="1114447"/>
                </a:cubicBezTo>
                <a:cubicBezTo>
                  <a:pt x="3034982" y="1116491"/>
                  <a:pt x="3033745" y="1119478"/>
                  <a:pt x="3036218" y="1119478"/>
                </a:cubicBezTo>
                <a:lnTo>
                  <a:pt x="3048202" y="1111536"/>
                </a:lnTo>
                <a:lnTo>
                  <a:pt x="3048511" y="1109477"/>
                </a:lnTo>
                <a:cubicBezTo>
                  <a:pt x="3048511" y="1103661"/>
                  <a:pt x="3047223" y="1098236"/>
                  <a:pt x="3047842" y="1092813"/>
                </a:cubicBezTo>
                <a:close/>
                <a:moveTo>
                  <a:pt x="3156148" y="1080801"/>
                </a:moveTo>
                <a:cubicBezTo>
                  <a:pt x="3152851" y="1083788"/>
                  <a:pt x="3148936" y="1086500"/>
                  <a:pt x="3145355" y="1089330"/>
                </a:cubicBezTo>
                <a:lnTo>
                  <a:pt x="3138535" y="1096502"/>
                </a:lnTo>
                <a:lnTo>
                  <a:pt x="3138646" y="1096667"/>
                </a:lnTo>
                <a:lnTo>
                  <a:pt x="3138641" y="1097460"/>
                </a:lnTo>
                <a:lnTo>
                  <a:pt x="3149761" y="1091511"/>
                </a:lnTo>
                <a:cubicBezTo>
                  <a:pt x="3152851" y="1088426"/>
                  <a:pt x="3154809" y="1084731"/>
                  <a:pt x="3156148" y="1080801"/>
                </a:cubicBezTo>
                <a:close/>
                <a:moveTo>
                  <a:pt x="2798006" y="1079700"/>
                </a:moveTo>
                <a:cubicBezTo>
                  <a:pt x="2795327" y="1084731"/>
                  <a:pt x="2790176" y="1085675"/>
                  <a:pt x="2788939" y="1091649"/>
                </a:cubicBezTo>
                <a:lnTo>
                  <a:pt x="2791946" y="1091525"/>
                </a:lnTo>
                <a:lnTo>
                  <a:pt x="2793013" y="1088428"/>
                </a:lnTo>
                <a:lnTo>
                  <a:pt x="2794984" y="1091399"/>
                </a:lnTo>
                <a:lnTo>
                  <a:pt x="2794999" y="1091398"/>
                </a:lnTo>
                <a:cubicBezTo>
                  <a:pt x="2799655" y="1089645"/>
                  <a:pt x="2800891" y="1084220"/>
                  <a:pt x="2805837" y="1082687"/>
                </a:cubicBezTo>
                <a:cubicBezTo>
                  <a:pt x="2805837" y="1079700"/>
                  <a:pt x="2801921" y="1078756"/>
                  <a:pt x="2798006" y="1079700"/>
                </a:cubicBezTo>
                <a:close/>
                <a:moveTo>
                  <a:pt x="3211190" y="1075950"/>
                </a:moveTo>
                <a:cubicBezTo>
                  <a:pt x="3213816" y="1082921"/>
                  <a:pt x="3211190" y="1091954"/>
                  <a:pt x="3204931" y="1097975"/>
                </a:cubicBezTo>
                <a:cubicBezTo>
                  <a:pt x="3195844" y="1093063"/>
                  <a:pt x="3208768" y="1082921"/>
                  <a:pt x="3211190" y="1075950"/>
                </a:cubicBezTo>
                <a:close/>
                <a:moveTo>
                  <a:pt x="3029358" y="1064857"/>
                </a:moveTo>
                <a:cubicBezTo>
                  <a:pt x="3031818" y="1068824"/>
                  <a:pt x="3035711" y="1070729"/>
                  <a:pt x="3034481" y="1077870"/>
                </a:cubicBezTo>
                <a:cubicBezTo>
                  <a:pt x="3015016" y="1076759"/>
                  <a:pt x="3022803" y="1076759"/>
                  <a:pt x="3029358" y="1064857"/>
                </a:cubicBezTo>
                <a:close/>
                <a:moveTo>
                  <a:pt x="3373435" y="1063471"/>
                </a:moveTo>
                <a:cubicBezTo>
                  <a:pt x="3380099" y="1068470"/>
                  <a:pt x="3366772" y="1074407"/>
                  <a:pt x="3360316" y="1071438"/>
                </a:cubicBezTo>
                <a:cubicBezTo>
                  <a:pt x="3361566" y="1065501"/>
                  <a:pt x="3370728" y="1068470"/>
                  <a:pt x="3373435" y="1063471"/>
                </a:cubicBezTo>
                <a:close/>
                <a:moveTo>
                  <a:pt x="2824896" y="1060936"/>
                </a:moveTo>
                <a:cubicBezTo>
                  <a:pt x="2824896" y="1064976"/>
                  <a:pt x="2821005" y="1063888"/>
                  <a:pt x="2822234" y="1068861"/>
                </a:cubicBezTo>
                <a:cubicBezTo>
                  <a:pt x="2822234" y="1068861"/>
                  <a:pt x="2822234" y="1068861"/>
                  <a:pt x="2811790" y="1068861"/>
                </a:cubicBezTo>
                <a:cubicBezTo>
                  <a:pt x="2811790" y="1065909"/>
                  <a:pt x="2810562" y="1062956"/>
                  <a:pt x="2814452" y="1062024"/>
                </a:cubicBezTo>
                <a:cubicBezTo>
                  <a:pt x="2814452" y="1063888"/>
                  <a:pt x="2817115" y="1063888"/>
                  <a:pt x="2821005" y="1063888"/>
                </a:cubicBezTo>
                <a:cubicBezTo>
                  <a:pt x="2821005" y="1062024"/>
                  <a:pt x="2821005" y="1060004"/>
                  <a:pt x="2824896" y="1060936"/>
                </a:cubicBezTo>
                <a:close/>
                <a:moveTo>
                  <a:pt x="143367" y="1059545"/>
                </a:moveTo>
                <a:cubicBezTo>
                  <a:pt x="135586" y="1065561"/>
                  <a:pt x="138248" y="1069518"/>
                  <a:pt x="135586" y="1076484"/>
                </a:cubicBezTo>
                <a:cubicBezTo>
                  <a:pt x="129033" y="1074584"/>
                  <a:pt x="131695" y="1056538"/>
                  <a:pt x="143367" y="1059545"/>
                </a:cubicBezTo>
                <a:close/>
                <a:moveTo>
                  <a:pt x="3390971" y="1053071"/>
                </a:moveTo>
                <a:cubicBezTo>
                  <a:pt x="3400096" y="1068896"/>
                  <a:pt x="3383266" y="1086758"/>
                  <a:pt x="3384686" y="1103523"/>
                </a:cubicBezTo>
                <a:cubicBezTo>
                  <a:pt x="3375764" y="1090675"/>
                  <a:pt x="3394824" y="1067800"/>
                  <a:pt x="3390971" y="1053071"/>
                </a:cubicBezTo>
                <a:close/>
                <a:moveTo>
                  <a:pt x="3456430" y="1049605"/>
                </a:moveTo>
                <a:cubicBezTo>
                  <a:pt x="3443374" y="1058491"/>
                  <a:pt x="3450005" y="1069249"/>
                  <a:pt x="3433011" y="1082032"/>
                </a:cubicBezTo>
                <a:cubicBezTo>
                  <a:pt x="3436949" y="1075173"/>
                  <a:pt x="3438193" y="1049605"/>
                  <a:pt x="3456430" y="1049605"/>
                </a:cubicBezTo>
                <a:close/>
                <a:moveTo>
                  <a:pt x="2850402" y="1048792"/>
                </a:moveTo>
                <a:lnTo>
                  <a:pt x="2849755" y="1049277"/>
                </a:lnTo>
                <a:lnTo>
                  <a:pt x="2848548" y="1051717"/>
                </a:lnTo>
                <a:lnTo>
                  <a:pt x="2849975" y="1052885"/>
                </a:lnTo>
                <a:lnTo>
                  <a:pt x="2851457" y="1052278"/>
                </a:lnTo>
                <a:close/>
                <a:moveTo>
                  <a:pt x="3344934" y="1046832"/>
                </a:moveTo>
                <a:cubicBezTo>
                  <a:pt x="3352839" y="1048895"/>
                  <a:pt x="3346182" y="1057782"/>
                  <a:pt x="3342230" y="1059845"/>
                </a:cubicBezTo>
                <a:cubicBezTo>
                  <a:pt x="3335781" y="1057782"/>
                  <a:pt x="3344934" y="1050800"/>
                  <a:pt x="3344934" y="1046832"/>
                </a:cubicBezTo>
                <a:close/>
                <a:moveTo>
                  <a:pt x="2830849" y="1045849"/>
                </a:moveTo>
                <a:cubicBezTo>
                  <a:pt x="2841249" y="1044752"/>
                  <a:pt x="2834800" y="1055724"/>
                  <a:pt x="2832097" y="1058702"/>
                </a:cubicBezTo>
                <a:cubicBezTo>
                  <a:pt x="2833553" y="1053686"/>
                  <a:pt x="2825648" y="1062620"/>
                  <a:pt x="2825648" y="1056664"/>
                </a:cubicBezTo>
                <a:cubicBezTo>
                  <a:pt x="2832097" y="1055724"/>
                  <a:pt x="2824192" y="1051805"/>
                  <a:pt x="2825648" y="1048827"/>
                </a:cubicBezTo>
                <a:cubicBezTo>
                  <a:pt x="2828145" y="1048827"/>
                  <a:pt x="2832097" y="1049768"/>
                  <a:pt x="2832097" y="1047730"/>
                </a:cubicBezTo>
                <a:cubicBezTo>
                  <a:pt x="2830849" y="1047730"/>
                  <a:pt x="2829600" y="1046790"/>
                  <a:pt x="2830849" y="1045849"/>
                </a:cubicBezTo>
                <a:close/>
                <a:moveTo>
                  <a:pt x="3038897" y="1044954"/>
                </a:moveTo>
                <a:cubicBezTo>
                  <a:pt x="3036218" y="1046054"/>
                  <a:pt x="3034982" y="1047940"/>
                  <a:pt x="3034982" y="1049985"/>
                </a:cubicBezTo>
                <a:cubicBezTo>
                  <a:pt x="3034982" y="1053915"/>
                  <a:pt x="3038897" y="1054859"/>
                  <a:pt x="3037660" y="1060833"/>
                </a:cubicBezTo>
                <a:lnTo>
                  <a:pt x="3035411" y="1060655"/>
                </a:lnTo>
                <a:lnTo>
                  <a:pt x="3034797" y="1062617"/>
                </a:lnTo>
                <a:cubicBezTo>
                  <a:pt x="3026829" y="1060537"/>
                  <a:pt x="3026829" y="1057498"/>
                  <a:pt x="3029555" y="1054458"/>
                </a:cubicBezTo>
                <a:lnTo>
                  <a:pt x="3030436" y="1054952"/>
                </a:lnTo>
                <a:lnTo>
                  <a:pt x="3030271" y="1054487"/>
                </a:lnTo>
                <a:lnTo>
                  <a:pt x="3027426" y="1053106"/>
                </a:lnTo>
                <a:lnTo>
                  <a:pt x="3025797" y="1068917"/>
                </a:lnTo>
                <a:cubicBezTo>
                  <a:pt x="3020542" y="1071354"/>
                  <a:pt x="3015649" y="1074341"/>
                  <a:pt x="3011091" y="1077466"/>
                </a:cubicBezTo>
                <a:lnTo>
                  <a:pt x="2998526" y="1086742"/>
                </a:lnTo>
                <a:lnTo>
                  <a:pt x="2998508" y="1087719"/>
                </a:lnTo>
                <a:cubicBezTo>
                  <a:pt x="3002423" y="1083788"/>
                  <a:pt x="3015406" y="1079700"/>
                  <a:pt x="3015406" y="1087719"/>
                </a:cubicBezTo>
                <a:cubicBezTo>
                  <a:pt x="3003660" y="1094636"/>
                  <a:pt x="2990678" y="1100611"/>
                  <a:pt x="2985526" y="1111617"/>
                </a:cubicBezTo>
                <a:cubicBezTo>
                  <a:pt x="2986762" y="1111617"/>
                  <a:pt x="2989442" y="1111617"/>
                  <a:pt x="2989442" y="1113503"/>
                </a:cubicBezTo>
                <a:cubicBezTo>
                  <a:pt x="2983568" y="1114997"/>
                  <a:pt x="2982281" y="1112521"/>
                  <a:pt x="2981148" y="1109926"/>
                </a:cubicBezTo>
                <a:lnTo>
                  <a:pt x="2979212" y="1106760"/>
                </a:lnTo>
                <a:lnTo>
                  <a:pt x="2975543" y="1113587"/>
                </a:lnTo>
                <a:cubicBezTo>
                  <a:pt x="2971616" y="1111702"/>
                  <a:pt x="2973063" y="1109658"/>
                  <a:pt x="2975543" y="1106673"/>
                </a:cubicBezTo>
                <a:lnTo>
                  <a:pt x="2973411" y="1107076"/>
                </a:lnTo>
                <a:lnTo>
                  <a:pt x="2972637" y="1110078"/>
                </a:lnTo>
                <a:lnTo>
                  <a:pt x="2970996" y="1110612"/>
                </a:lnTo>
                <a:lnTo>
                  <a:pt x="2971151" y="1111505"/>
                </a:lnTo>
                <a:cubicBezTo>
                  <a:pt x="2971719" y="1112938"/>
                  <a:pt x="2972327" y="1114344"/>
                  <a:pt x="2972055" y="1115203"/>
                </a:cubicBezTo>
                <a:lnTo>
                  <a:pt x="2970022" y="1115402"/>
                </a:lnTo>
                <a:lnTo>
                  <a:pt x="2972261" y="1115761"/>
                </a:lnTo>
                <a:lnTo>
                  <a:pt x="2973752" y="1118281"/>
                </a:lnTo>
                <a:lnTo>
                  <a:pt x="2974752" y="1118371"/>
                </a:lnTo>
                <a:cubicBezTo>
                  <a:pt x="2975789" y="1118675"/>
                  <a:pt x="2976629" y="1119284"/>
                  <a:pt x="2976991" y="1120502"/>
                </a:cubicBezTo>
                <a:cubicBezTo>
                  <a:pt x="2971720" y="1121013"/>
                  <a:pt x="2967521" y="1121710"/>
                  <a:pt x="2964046" y="1122700"/>
                </a:cubicBezTo>
                <a:lnTo>
                  <a:pt x="2956754" y="1126048"/>
                </a:lnTo>
                <a:lnTo>
                  <a:pt x="2955440" y="1132370"/>
                </a:lnTo>
                <a:lnTo>
                  <a:pt x="2946123" y="1137457"/>
                </a:lnTo>
                <a:lnTo>
                  <a:pt x="2942884" y="1142346"/>
                </a:lnTo>
                <a:lnTo>
                  <a:pt x="2940087" y="1140686"/>
                </a:lnTo>
                <a:lnTo>
                  <a:pt x="2937043" y="1142227"/>
                </a:lnTo>
                <a:lnTo>
                  <a:pt x="2939143" y="1143805"/>
                </a:lnTo>
                <a:cubicBezTo>
                  <a:pt x="2939681" y="1145945"/>
                  <a:pt x="2933880" y="1147293"/>
                  <a:pt x="2939720" y="1150224"/>
                </a:cubicBezTo>
                <a:cubicBezTo>
                  <a:pt x="2938389" y="1152178"/>
                  <a:pt x="2935776" y="1150184"/>
                  <a:pt x="2933189" y="1148075"/>
                </a:cubicBezTo>
                <a:lnTo>
                  <a:pt x="2930086" y="1145746"/>
                </a:lnTo>
                <a:lnTo>
                  <a:pt x="2927003" y="1147307"/>
                </a:lnTo>
                <a:lnTo>
                  <a:pt x="2927515" y="1145242"/>
                </a:lnTo>
                <a:lnTo>
                  <a:pt x="2926811" y="1145222"/>
                </a:lnTo>
                <a:cubicBezTo>
                  <a:pt x="2925479" y="1143737"/>
                  <a:pt x="2925120" y="1142525"/>
                  <a:pt x="2925275" y="1141431"/>
                </a:cubicBezTo>
                <a:lnTo>
                  <a:pt x="2925511" y="1140955"/>
                </a:lnTo>
                <a:lnTo>
                  <a:pt x="2925152" y="1141171"/>
                </a:lnTo>
                <a:lnTo>
                  <a:pt x="2918941" y="1153045"/>
                </a:lnTo>
                <a:cubicBezTo>
                  <a:pt x="2915206" y="1157526"/>
                  <a:pt x="2910003" y="1161771"/>
                  <a:pt x="2903512" y="1164287"/>
                </a:cubicBezTo>
                <a:cubicBezTo>
                  <a:pt x="2895681" y="1166173"/>
                  <a:pt x="2900833" y="1159255"/>
                  <a:pt x="2893002" y="1161299"/>
                </a:cubicBezTo>
                <a:cubicBezTo>
                  <a:pt x="2885172" y="1164287"/>
                  <a:pt x="2881256" y="1164287"/>
                  <a:pt x="2882699" y="1172148"/>
                </a:cubicBezTo>
                <a:cubicBezTo>
                  <a:pt x="2878062" y="1173170"/>
                  <a:pt x="2876414" y="1172187"/>
                  <a:pt x="2875435" y="1170694"/>
                </a:cubicBezTo>
                <a:lnTo>
                  <a:pt x="2874850" y="1169878"/>
                </a:lnTo>
                <a:lnTo>
                  <a:pt x="2857675" y="1183208"/>
                </a:lnTo>
                <a:lnTo>
                  <a:pt x="2848416" y="1187321"/>
                </a:lnTo>
                <a:lnTo>
                  <a:pt x="2846649" y="1191478"/>
                </a:lnTo>
                <a:lnTo>
                  <a:pt x="2843789" y="1193652"/>
                </a:lnTo>
                <a:lnTo>
                  <a:pt x="2848380" y="1191983"/>
                </a:lnTo>
                <a:cubicBezTo>
                  <a:pt x="2849855" y="1192438"/>
                  <a:pt x="2851664" y="1193690"/>
                  <a:pt x="2853973" y="1196194"/>
                </a:cubicBezTo>
                <a:cubicBezTo>
                  <a:pt x="2844121" y="1209456"/>
                  <a:pt x="2825610" y="1209515"/>
                  <a:pt x="2814805" y="1218683"/>
                </a:cubicBezTo>
                <a:lnTo>
                  <a:pt x="2808890" y="1228789"/>
                </a:lnTo>
                <a:lnTo>
                  <a:pt x="2810628" y="1226410"/>
                </a:lnTo>
                <a:cubicBezTo>
                  <a:pt x="2813873" y="1222538"/>
                  <a:pt x="2818097" y="1219787"/>
                  <a:pt x="2827885" y="1219787"/>
                </a:cubicBezTo>
                <a:cubicBezTo>
                  <a:pt x="2833244" y="1221831"/>
                  <a:pt x="2818818" y="1226862"/>
                  <a:pt x="2829328" y="1227806"/>
                </a:cubicBezTo>
                <a:cubicBezTo>
                  <a:pt x="2830565" y="1219787"/>
                  <a:pt x="2831801" y="1218843"/>
                  <a:pt x="2839632" y="1214913"/>
                </a:cubicBezTo>
                <a:cubicBezTo>
                  <a:pt x="2844783" y="1216800"/>
                  <a:pt x="2827885" y="1225761"/>
                  <a:pt x="2839632" y="1225761"/>
                </a:cubicBezTo>
                <a:cubicBezTo>
                  <a:pt x="2839632" y="1218843"/>
                  <a:pt x="2847462" y="1217900"/>
                  <a:pt x="2843547" y="1209881"/>
                </a:cubicBezTo>
                <a:cubicBezTo>
                  <a:pt x="2859208" y="1207995"/>
                  <a:pt x="2838396" y="1218843"/>
                  <a:pt x="2852614" y="1218843"/>
                </a:cubicBezTo>
                <a:cubicBezTo>
                  <a:pt x="2854056" y="1209881"/>
                  <a:pt x="2865596" y="1209881"/>
                  <a:pt x="2855292" y="1205951"/>
                </a:cubicBezTo>
                <a:cubicBezTo>
                  <a:pt x="2868274" y="1207995"/>
                  <a:pt x="2876105" y="1203907"/>
                  <a:pt x="2870953" y="1197933"/>
                </a:cubicBezTo>
                <a:cubicBezTo>
                  <a:pt x="2873426" y="1197933"/>
                  <a:pt x="2876105" y="1196990"/>
                  <a:pt x="2876105" y="1194002"/>
                </a:cubicBezTo>
                <a:cubicBezTo>
                  <a:pt x="2881256" y="1194002"/>
                  <a:pt x="2883936" y="1202020"/>
                  <a:pt x="2890529" y="1196046"/>
                </a:cubicBezTo>
                <a:cubicBezTo>
                  <a:pt x="2890529" y="1191958"/>
                  <a:pt x="2886614" y="1190071"/>
                  <a:pt x="2885172" y="1187084"/>
                </a:cubicBezTo>
                <a:cubicBezTo>
                  <a:pt x="2890529" y="1184097"/>
                  <a:pt x="2900833" y="1174192"/>
                  <a:pt x="2904748" y="1179065"/>
                </a:cubicBezTo>
                <a:cubicBezTo>
                  <a:pt x="2898154" y="1179065"/>
                  <a:pt x="2895681" y="1185040"/>
                  <a:pt x="2890529" y="1187084"/>
                </a:cubicBezTo>
                <a:cubicBezTo>
                  <a:pt x="2907427" y="1184097"/>
                  <a:pt x="2917730" y="1167117"/>
                  <a:pt x="2929476" y="1178123"/>
                </a:cubicBezTo>
                <a:cubicBezTo>
                  <a:pt x="2932155" y="1170104"/>
                  <a:pt x="2945136" y="1171204"/>
                  <a:pt x="2947816" y="1162243"/>
                </a:cubicBezTo>
                <a:cubicBezTo>
                  <a:pt x="2942458" y="1166173"/>
                  <a:pt x="2930713" y="1164287"/>
                  <a:pt x="2930713" y="1173091"/>
                </a:cubicBezTo>
                <a:cubicBezTo>
                  <a:pt x="2930713" y="1173091"/>
                  <a:pt x="2930713" y="1173091"/>
                  <a:pt x="2920409" y="1173091"/>
                </a:cubicBezTo>
                <a:cubicBezTo>
                  <a:pt x="2921645" y="1170104"/>
                  <a:pt x="2921645" y="1168217"/>
                  <a:pt x="2923087" y="1166173"/>
                </a:cubicBezTo>
                <a:cubicBezTo>
                  <a:pt x="2930713" y="1165230"/>
                  <a:pt x="2938543" y="1160199"/>
                  <a:pt x="2949052" y="1157212"/>
                </a:cubicBezTo>
                <a:cubicBezTo>
                  <a:pt x="2951525" y="1159255"/>
                  <a:pt x="2949052" y="1165230"/>
                  <a:pt x="2956883" y="1164287"/>
                </a:cubicBezTo>
                <a:cubicBezTo>
                  <a:pt x="2959355" y="1153281"/>
                  <a:pt x="2977695" y="1149350"/>
                  <a:pt x="2981611" y="1147307"/>
                </a:cubicBezTo>
                <a:cubicBezTo>
                  <a:pt x="2978932" y="1141332"/>
                  <a:pt x="2987998" y="1135357"/>
                  <a:pt x="2980375" y="1132370"/>
                </a:cubicBezTo>
                <a:cubicBezTo>
                  <a:pt x="2981611" y="1131427"/>
                  <a:pt x="2982847" y="1130483"/>
                  <a:pt x="2982847" y="1128439"/>
                </a:cubicBezTo>
                <a:cubicBezTo>
                  <a:pt x="2989442" y="1132370"/>
                  <a:pt x="2997271" y="1127496"/>
                  <a:pt x="2998508" y="1134414"/>
                </a:cubicBezTo>
                <a:cubicBezTo>
                  <a:pt x="3001806" y="1131898"/>
                  <a:pt x="3002114" y="1129147"/>
                  <a:pt x="3001110" y="1126789"/>
                </a:cubicBezTo>
                <a:lnTo>
                  <a:pt x="2996620" y="1122311"/>
                </a:lnTo>
                <a:lnTo>
                  <a:pt x="2997001" y="1122929"/>
                </a:lnTo>
                <a:cubicBezTo>
                  <a:pt x="2996728" y="1123777"/>
                  <a:pt x="2995611" y="1124949"/>
                  <a:pt x="2993043" y="1126683"/>
                </a:cubicBezTo>
                <a:cubicBezTo>
                  <a:pt x="2995508" y="1117698"/>
                  <a:pt x="2984008" y="1126683"/>
                  <a:pt x="2978669" y="1127787"/>
                </a:cubicBezTo>
                <a:cubicBezTo>
                  <a:pt x="2981339" y="1112812"/>
                  <a:pt x="3013785" y="1098783"/>
                  <a:pt x="3024054" y="1086961"/>
                </a:cubicBezTo>
                <a:cubicBezTo>
                  <a:pt x="3027956" y="1085858"/>
                  <a:pt x="3031858" y="1086961"/>
                  <a:pt x="3035760" y="1086961"/>
                </a:cubicBezTo>
                <a:cubicBezTo>
                  <a:pt x="3038429" y="1084912"/>
                  <a:pt x="3034527" y="1082863"/>
                  <a:pt x="3033295" y="1081917"/>
                </a:cubicBezTo>
                <a:cubicBezTo>
                  <a:pt x="3036170" y="1079435"/>
                  <a:pt x="3039545" y="1077632"/>
                  <a:pt x="3043094" y="1076107"/>
                </a:cubicBezTo>
                <a:lnTo>
                  <a:pt x="3052658" y="1072454"/>
                </a:lnTo>
                <a:lnTo>
                  <a:pt x="3054435" y="1064987"/>
                </a:lnTo>
                <a:cubicBezTo>
                  <a:pt x="3054435" y="1062236"/>
                  <a:pt x="3053624" y="1059121"/>
                  <a:pt x="3052587" y="1055825"/>
                </a:cubicBezTo>
                <a:lnTo>
                  <a:pt x="3051246" y="1051530"/>
                </a:lnTo>
                <a:lnTo>
                  <a:pt x="3047629" y="1052527"/>
                </a:lnTo>
                <a:cubicBezTo>
                  <a:pt x="3046470" y="1053178"/>
                  <a:pt x="3045336" y="1054230"/>
                  <a:pt x="3044048" y="1055959"/>
                </a:cubicBezTo>
                <a:cubicBezTo>
                  <a:pt x="3037660" y="1053915"/>
                  <a:pt x="3042811" y="1046997"/>
                  <a:pt x="3038897" y="1044954"/>
                </a:cubicBezTo>
                <a:close/>
                <a:moveTo>
                  <a:pt x="2683434" y="1042909"/>
                </a:moveTo>
                <a:cubicBezTo>
                  <a:pt x="2687350" y="1046997"/>
                  <a:pt x="2681992" y="1047940"/>
                  <a:pt x="2681992" y="1053915"/>
                </a:cubicBezTo>
                <a:cubicBezTo>
                  <a:pt x="2689822" y="1053915"/>
                  <a:pt x="2692501" y="1047940"/>
                  <a:pt x="2689822" y="1042909"/>
                </a:cubicBezTo>
                <a:cubicBezTo>
                  <a:pt x="2688586" y="1041966"/>
                  <a:pt x="2687350" y="1042909"/>
                  <a:pt x="2687350" y="1044010"/>
                </a:cubicBezTo>
                <a:cubicBezTo>
                  <a:pt x="2687350" y="1044010"/>
                  <a:pt x="2687350" y="1044010"/>
                  <a:pt x="2683434" y="1042909"/>
                </a:cubicBezTo>
                <a:close/>
                <a:moveTo>
                  <a:pt x="3235377" y="1039206"/>
                </a:moveTo>
                <a:cubicBezTo>
                  <a:pt x="3239257" y="1043114"/>
                  <a:pt x="3232723" y="1049211"/>
                  <a:pt x="3234152" y="1053119"/>
                </a:cubicBezTo>
                <a:cubicBezTo>
                  <a:pt x="3227617" y="1054995"/>
                  <a:pt x="3227617" y="1052181"/>
                  <a:pt x="3221287" y="1050149"/>
                </a:cubicBezTo>
                <a:cubicBezTo>
                  <a:pt x="3231497" y="1048116"/>
                  <a:pt x="3227617" y="1045146"/>
                  <a:pt x="3235377" y="1039206"/>
                </a:cubicBezTo>
                <a:close/>
                <a:moveTo>
                  <a:pt x="2880020" y="1038036"/>
                </a:moveTo>
                <a:cubicBezTo>
                  <a:pt x="2874869" y="1041966"/>
                  <a:pt x="2868274" y="1046054"/>
                  <a:pt x="2867038" y="1053915"/>
                </a:cubicBezTo>
                <a:cubicBezTo>
                  <a:pt x="2873426" y="1049985"/>
                  <a:pt x="2880020" y="1046054"/>
                  <a:pt x="2880020" y="1038036"/>
                </a:cubicBezTo>
                <a:close/>
                <a:moveTo>
                  <a:pt x="2811221" y="1037336"/>
                </a:moveTo>
                <a:cubicBezTo>
                  <a:pt x="2812673" y="1036706"/>
                  <a:pt x="2815575" y="1037235"/>
                  <a:pt x="2819445" y="1040809"/>
                </a:cubicBezTo>
                <a:cubicBezTo>
                  <a:pt x="2819445" y="1043897"/>
                  <a:pt x="2811705" y="1037722"/>
                  <a:pt x="2811705" y="1040809"/>
                </a:cubicBezTo>
                <a:cubicBezTo>
                  <a:pt x="2809771" y="1039753"/>
                  <a:pt x="2809771" y="1037965"/>
                  <a:pt x="2811221" y="1037336"/>
                </a:cubicBezTo>
                <a:close/>
                <a:moveTo>
                  <a:pt x="195275" y="1031207"/>
                </a:moveTo>
                <a:cubicBezTo>
                  <a:pt x="192596" y="1038123"/>
                  <a:pt x="186001" y="1031207"/>
                  <a:pt x="183528" y="1036080"/>
                </a:cubicBezTo>
                <a:cubicBezTo>
                  <a:pt x="189917" y="1038123"/>
                  <a:pt x="174255" y="1047083"/>
                  <a:pt x="180849" y="1048027"/>
                </a:cubicBezTo>
                <a:cubicBezTo>
                  <a:pt x="186001" y="1040010"/>
                  <a:pt x="199191" y="1039067"/>
                  <a:pt x="195275" y="1031207"/>
                </a:cubicBezTo>
                <a:close/>
                <a:moveTo>
                  <a:pt x="3163978" y="1030018"/>
                </a:moveTo>
                <a:cubicBezTo>
                  <a:pt x="3156148" y="1029074"/>
                  <a:pt x="3150790" y="1031118"/>
                  <a:pt x="3146875" y="1035992"/>
                </a:cubicBezTo>
                <a:cubicBezTo>
                  <a:pt x="3149554" y="1042909"/>
                  <a:pt x="3156148" y="1034105"/>
                  <a:pt x="3160063" y="1037093"/>
                </a:cubicBezTo>
                <a:cubicBezTo>
                  <a:pt x="3160063" y="1046997"/>
                  <a:pt x="3152233" y="1044010"/>
                  <a:pt x="3145639" y="1047940"/>
                </a:cubicBezTo>
                <a:cubicBezTo>
                  <a:pt x="3145639" y="1052029"/>
                  <a:pt x="3149554" y="1052029"/>
                  <a:pt x="3145639" y="1053915"/>
                </a:cubicBezTo>
                <a:cubicBezTo>
                  <a:pt x="3156148" y="1055959"/>
                  <a:pt x="3165215" y="1039922"/>
                  <a:pt x="3163978" y="1030018"/>
                </a:cubicBezTo>
                <a:close/>
                <a:moveTo>
                  <a:pt x="3491773" y="1025341"/>
                </a:moveTo>
                <a:cubicBezTo>
                  <a:pt x="3498234" y="1027267"/>
                  <a:pt x="3494397" y="1034492"/>
                  <a:pt x="3491773" y="1040432"/>
                </a:cubicBezTo>
                <a:cubicBezTo>
                  <a:pt x="3480263" y="1040432"/>
                  <a:pt x="3491773" y="1030317"/>
                  <a:pt x="3491773" y="1025341"/>
                </a:cubicBezTo>
                <a:close/>
                <a:moveTo>
                  <a:pt x="3407359" y="1019795"/>
                </a:moveTo>
                <a:cubicBezTo>
                  <a:pt x="3406110" y="1022785"/>
                  <a:pt x="3405121" y="1027507"/>
                  <a:pt x="3403299" y="1032740"/>
                </a:cubicBezTo>
                <a:lnTo>
                  <a:pt x="3394445" y="1048394"/>
                </a:lnTo>
                <a:lnTo>
                  <a:pt x="3394291" y="1048755"/>
                </a:lnTo>
                <a:lnTo>
                  <a:pt x="3394257" y="1048726"/>
                </a:lnTo>
                <a:lnTo>
                  <a:pt x="3394240" y="1048754"/>
                </a:lnTo>
                <a:lnTo>
                  <a:pt x="3394237" y="1048710"/>
                </a:lnTo>
                <a:lnTo>
                  <a:pt x="3390657" y="1045676"/>
                </a:lnTo>
                <a:cubicBezTo>
                  <a:pt x="3390587" y="1044400"/>
                  <a:pt x="3391425" y="1042906"/>
                  <a:pt x="3392464" y="1041290"/>
                </a:cubicBezTo>
                <a:lnTo>
                  <a:pt x="3393524" y="1039497"/>
                </a:lnTo>
                <a:lnTo>
                  <a:pt x="3392913" y="1031618"/>
                </a:lnTo>
                <a:cubicBezTo>
                  <a:pt x="3395230" y="1025775"/>
                  <a:pt x="3400175" y="1020817"/>
                  <a:pt x="3407359" y="1019795"/>
                </a:cubicBezTo>
                <a:close/>
                <a:moveTo>
                  <a:pt x="3361929" y="1017885"/>
                </a:moveTo>
                <a:lnTo>
                  <a:pt x="3352918" y="1037662"/>
                </a:lnTo>
                <a:cubicBezTo>
                  <a:pt x="3347595" y="1033738"/>
                  <a:pt x="3349028" y="1012862"/>
                  <a:pt x="3361929" y="1017885"/>
                </a:cubicBezTo>
                <a:close/>
                <a:moveTo>
                  <a:pt x="2873678" y="1014942"/>
                </a:moveTo>
                <a:cubicBezTo>
                  <a:pt x="2883048" y="1019717"/>
                  <a:pt x="2868471" y="1028499"/>
                  <a:pt x="2863266" y="1031426"/>
                </a:cubicBezTo>
                <a:cubicBezTo>
                  <a:pt x="2863266" y="1025572"/>
                  <a:pt x="2873678" y="1017869"/>
                  <a:pt x="2873678" y="1014942"/>
                </a:cubicBezTo>
                <a:close/>
                <a:moveTo>
                  <a:pt x="2041131" y="1012566"/>
                </a:moveTo>
                <a:lnTo>
                  <a:pt x="2041176" y="1012899"/>
                </a:lnTo>
                <a:lnTo>
                  <a:pt x="2044296" y="1013027"/>
                </a:lnTo>
                <a:lnTo>
                  <a:pt x="2044191" y="1013010"/>
                </a:lnTo>
                <a:close/>
                <a:moveTo>
                  <a:pt x="3044048" y="1012251"/>
                </a:moveTo>
                <a:cubicBezTo>
                  <a:pt x="3037660" y="1013194"/>
                  <a:pt x="3041575" y="1014138"/>
                  <a:pt x="3041575" y="1016181"/>
                </a:cubicBezTo>
                <a:cubicBezTo>
                  <a:pt x="3034982" y="1025143"/>
                  <a:pt x="3024472" y="1030018"/>
                  <a:pt x="3029830" y="1038036"/>
                </a:cubicBezTo>
                <a:cubicBezTo>
                  <a:pt x="3037660" y="1033004"/>
                  <a:pt x="3036218" y="1024200"/>
                  <a:pt x="3046727" y="1020112"/>
                </a:cubicBezTo>
                <a:cubicBezTo>
                  <a:pt x="3047963" y="1016181"/>
                  <a:pt x="3045285" y="1014138"/>
                  <a:pt x="3044048" y="1012251"/>
                </a:cubicBezTo>
                <a:close/>
                <a:moveTo>
                  <a:pt x="2045866" y="1010639"/>
                </a:moveTo>
                <a:lnTo>
                  <a:pt x="2045924" y="1011241"/>
                </a:lnTo>
                <a:lnTo>
                  <a:pt x="2046236" y="1013107"/>
                </a:lnTo>
                <a:lnTo>
                  <a:pt x="2054321" y="1013437"/>
                </a:lnTo>
                <a:lnTo>
                  <a:pt x="2054272" y="1012722"/>
                </a:lnTo>
                <a:cubicBezTo>
                  <a:pt x="2052982" y="1010156"/>
                  <a:pt x="2049169" y="1012492"/>
                  <a:pt x="2046612" y="1011757"/>
                </a:cubicBezTo>
                <a:close/>
                <a:moveTo>
                  <a:pt x="3149013" y="1010157"/>
                </a:moveTo>
                <a:lnTo>
                  <a:pt x="3146093" y="1012420"/>
                </a:lnTo>
                <a:cubicBezTo>
                  <a:pt x="3138006" y="1016561"/>
                  <a:pt x="3128497" y="1017869"/>
                  <a:pt x="3137310" y="1023102"/>
                </a:cubicBezTo>
                <a:lnTo>
                  <a:pt x="3132924" y="1022723"/>
                </a:lnTo>
                <a:lnTo>
                  <a:pt x="3133835" y="1031306"/>
                </a:lnTo>
                <a:lnTo>
                  <a:pt x="3142213" y="1024038"/>
                </a:lnTo>
                <a:lnTo>
                  <a:pt x="3150183" y="1020164"/>
                </a:lnTo>
                <a:lnTo>
                  <a:pt x="3146126" y="1018644"/>
                </a:lnTo>
                <a:cubicBezTo>
                  <a:pt x="3145236" y="1017391"/>
                  <a:pt x="3146054" y="1015644"/>
                  <a:pt x="3147095" y="1013928"/>
                </a:cubicBezTo>
                <a:close/>
                <a:moveTo>
                  <a:pt x="2086954" y="1009051"/>
                </a:moveTo>
                <a:cubicBezTo>
                  <a:pt x="2084687" y="1008776"/>
                  <a:pt x="2083399" y="1009316"/>
                  <a:pt x="2082661" y="1010313"/>
                </a:cubicBezTo>
                <a:lnTo>
                  <a:pt x="2081932" y="1013269"/>
                </a:lnTo>
                <a:lnTo>
                  <a:pt x="2081991" y="1013287"/>
                </a:lnTo>
                <a:lnTo>
                  <a:pt x="2081923" y="1013306"/>
                </a:lnTo>
                <a:lnTo>
                  <a:pt x="2081752" y="1013996"/>
                </a:lnTo>
                <a:lnTo>
                  <a:pt x="2086847" y="1011395"/>
                </a:lnTo>
                <a:close/>
                <a:moveTo>
                  <a:pt x="3393938" y="1005236"/>
                </a:moveTo>
                <a:cubicBezTo>
                  <a:pt x="3400648" y="1009241"/>
                  <a:pt x="3401906" y="1013093"/>
                  <a:pt x="3400648" y="1018947"/>
                </a:cubicBezTo>
                <a:cubicBezTo>
                  <a:pt x="3397922" y="1015096"/>
                  <a:pt x="3391212" y="1012169"/>
                  <a:pt x="3393938" y="1005236"/>
                </a:cubicBezTo>
                <a:close/>
                <a:moveTo>
                  <a:pt x="2123550" y="1002753"/>
                </a:moveTo>
                <a:lnTo>
                  <a:pt x="2123399" y="1004238"/>
                </a:lnTo>
                <a:lnTo>
                  <a:pt x="2128537" y="1003081"/>
                </a:lnTo>
                <a:close/>
                <a:moveTo>
                  <a:pt x="2075995" y="1002318"/>
                </a:moveTo>
                <a:lnTo>
                  <a:pt x="2075900" y="1002327"/>
                </a:lnTo>
                <a:lnTo>
                  <a:pt x="2071419" y="1004232"/>
                </a:lnTo>
                <a:lnTo>
                  <a:pt x="2071788" y="1002729"/>
                </a:lnTo>
                <a:lnTo>
                  <a:pt x="2065092" y="1003385"/>
                </a:lnTo>
                <a:cubicBezTo>
                  <a:pt x="2063855" y="1003385"/>
                  <a:pt x="2065092" y="1005271"/>
                  <a:pt x="2065092" y="1005271"/>
                </a:cubicBezTo>
                <a:cubicBezTo>
                  <a:pt x="2061486" y="1005546"/>
                  <a:pt x="2059115" y="1005005"/>
                  <a:pt x="2057222" y="1004163"/>
                </a:cubicBezTo>
                <a:lnTo>
                  <a:pt x="2056215" y="1003576"/>
                </a:lnTo>
                <a:lnTo>
                  <a:pt x="2052541" y="1005724"/>
                </a:lnTo>
                <a:cubicBezTo>
                  <a:pt x="2050551" y="1006299"/>
                  <a:pt x="2048258" y="1006220"/>
                  <a:pt x="2045322" y="1004963"/>
                </a:cubicBezTo>
                <a:lnTo>
                  <a:pt x="2045435" y="1006144"/>
                </a:lnTo>
                <a:lnTo>
                  <a:pt x="2048035" y="1005998"/>
                </a:lnTo>
                <a:cubicBezTo>
                  <a:pt x="2050125" y="1006027"/>
                  <a:pt x="2052315" y="1006332"/>
                  <a:pt x="2054581" y="1007314"/>
                </a:cubicBezTo>
                <a:lnTo>
                  <a:pt x="2056660" y="1013533"/>
                </a:lnTo>
                <a:lnTo>
                  <a:pt x="2067633" y="1013983"/>
                </a:lnTo>
                <a:lnTo>
                  <a:pt x="2070630" y="1013130"/>
                </a:lnTo>
                <a:lnTo>
                  <a:pt x="2073181" y="1012582"/>
                </a:lnTo>
                <a:lnTo>
                  <a:pt x="2071908" y="1008638"/>
                </a:lnTo>
                <a:cubicBezTo>
                  <a:pt x="2072063" y="1007007"/>
                  <a:pt x="2073351" y="1005513"/>
                  <a:pt x="2076649" y="1003076"/>
                </a:cubicBezTo>
                <a:close/>
                <a:moveTo>
                  <a:pt x="2115778" y="1001943"/>
                </a:moveTo>
                <a:cubicBezTo>
                  <a:pt x="2113817" y="1002130"/>
                  <a:pt x="2112014" y="1002974"/>
                  <a:pt x="2110365" y="1005176"/>
                </a:cubicBezTo>
                <a:lnTo>
                  <a:pt x="2109673" y="1003502"/>
                </a:lnTo>
                <a:lnTo>
                  <a:pt x="2105481" y="1007802"/>
                </a:lnTo>
                <a:lnTo>
                  <a:pt x="2118030" y="1005447"/>
                </a:lnTo>
                <a:lnTo>
                  <a:pt x="2121926" y="1004570"/>
                </a:lnTo>
                <a:lnTo>
                  <a:pt x="2119510" y="1002364"/>
                </a:lnTo>
                <a:close/>
                <a:moveTo>
                  <a:pt x="2834480" y="1001245"/>
                </a:moveTo>
                <a:cubicBezTo>
                  <a:pt x="2831801" y="1006277"/>
                  <a:pt x="2823970" y="1003289"/>
                  <a:pt x="2820055" y="1004232"/>
                </a:cubicBezTo>
                <a:cubicBezTo>
                  <a:pt x="2820055" y="1010207"/>
                  <a:pt x="2823970" y="1011150"/>
                  <a:pt x="2831801" y="1011150"/>
                </a:cubicBezTo>
                <a:cubicBezTo>
                  <a:pt x="2830565" y="1006277"/>
                  <a:pt x="2838396" y="1007220"/>
                  <a:pt x="2834480" y="1001245"/>
                </a:cubicBezTo>
                <a:close/>
                <a:moveTo>
                  <a:pt x="2093398" y="1000488"/>
                </a:moveTo>
                <a:lnTo>
                  <a:pt x="2091075" y="1000647"/>
                </a:lnTo>
                <a:lnTo>
                  <a:pt x="2093704" y="1003508"/>
                </a:lnTo>
                <a:lnTo>
                  <a:pt x="2090961" y="1010527"/>
                </a:lnTo>
                <a:lnTo>
                  <a:pt x="2104598" y="1007968"/>
                </a:lnTo>
                <a:lnTo>
                  <a:pt x="2101897" y="1007225"/>
                </a:lnTo>
                <a:lnTo>
                  <a:pt x="2100751" y="1004976"/>
                </a:lnTo>
                <a:lnTo>
                  <a:pt x="2098117" y="1004016"/>
                </a:lnTo>
                <a:cubicBezTo>
                  <a:pt x="2096443" y="1004134"/>
                  <a:pt x="2095644" y="1005431"/>
                  <a:pt x="2095619" y="1004291"/>
                </a:cubicBezTo>
                <a:lnTo>
                  <a:pt x="2095917" y="1002039"/>
                </a:lnTo>
                <a:lnTo>
                  <a:pt x="2094827" y="1002087"/>
                </a:lnTo>
                <a:lnTo>
                  <a:pt x="2095001" y="1001305"/>
                </a:lnTo>
                <a:close/>
                <a:moveTo>
                  <a:pt x="2047600" y="1000107"/>
                </a:moveTo>
                <a:lnTo>
                  <a:pt x="2047687" y="1000468"/>
                </a:lnTo>
                <a:lnTo>
                  <a:pt x="2048820" y="1000408"/>
                </a:lnTo>
                <a:close/>
                <a:moveTo>
                  <a:pt x="2062868" y="999633"/>
                </a:moveTo>
                <a:lnTo>
                  <a:pt x="2062141" y="999643"/>
                </a:lnTo>
                <a:lnTo>
                  <a:pt x="2060229" y="1000974"/>
                </a:lnTo>
                <a:lnTo>
                  <a:pt x="2063952" y="1001697"/>
                </a:lnTo>
                <a:lnTo>
                  <a:pt x="2068243" y="999964"/>
                </a:lnTo>
                <a:lnTo>
                  <a:pt x="2067394" y="1000110"/>
                </a:lnTo>
                <a:cubicBezTo>
                  <a:pt x="2065804" y="1000076"/>
                  <a:pt x="2064335" y="999810"/>
                  <a:pt x="2062868" y="999633"/>
                </a:cubicBezTo>
                <a:close/>
                <a:moveTo>
                  <a:pt x="2891650" y="999463"/>
                </a:moveTo>
                <a:cubicBezTo>
                  <a:pt x="2892478" y="999426"/>
                  <a:pt x="2893357" y="999845"/>
                  <a:pt x="2894300" y="1001053"/>
                </a:cubicBezTo>
                <a:cubicBezTo>
                  <a:pt x="2889058" y="1001987"/>
                  <a:pt x="2895768" y="1004013"/>
                  <a:pt x="2891784" y="1004947"/>
                </a:cubicBezTo>
                <a:cubicBezTo>
                  <a:pt x="2889058" y="1000118"/>
                  <a:pt x="2889058" y="1008998"/>
                  <a:pt x="2891784" y="1008998"/>
                </a:cubicBezTo>
                <a:cubicBezTo>
                  <a:pt x="2891784" y="1008998"/>
                  <a:pt x="2891784" y="1008998"/>
                  <a:pt x="2887800" y="1009933"/>
                </a:cubicBezTo>
                <a:cubicBezTo>
                  <a:pt x="2886542" y="1009933"/>
                  <a:pt x="2885074" y="1009933"/>
                  <a:pt x="2885074" y="1007907"/>
                </a:cubicBezTo>
                <a:cubicBezTo>
                  <a:pt x="2889058" y="1006973"/>
                  <a:pt x="2885074" y="1006038"/>
                  <a:pt x="2885074" y="1003078"/>
                </a:cubicBezTo>
                <a:cubicBezTo>
                  <a:pt x="2887119" y="1003779"/>
                  <a:pt x="2889163" y="999573"/>
                  <a:pt x="2891650" y="999463"/>
                </a:cubicBezTo>
                <a:close/>
                <a:moveTo>
                  <a:pt x="2137772" y="999201"/>
                </a:moveTo>
                <a:lnTo>
                  <a:pt x="2130543" y="1002629"/>
                </a:lnTo>
                <a:lnTo>
                  <a:pt x="2138128" y="1000920"/>
                </a:lnTo>
                <a:close/>
                <a:moveTo>
                  <a:pt x="2107893" y="999201"/>
                </a:moveTo>
                <a:lnTo>
                  <a:pt x="2107827" y="999233"/>
                </a:lnTo>
                <a:lnTo>
                  <a:pt x="2107565" y="1000392"/>
                </a:lnTo>
                <a:lnTo>
                  <a:pt x="2109463" y="1002994"/>
                </a:lnTo>
                <a:close/>
                <a:moveTo>
                  <a:pt x="3211992" y="998258"/>
                </a:moveTo>
                <a:cubicBezTo>
                  <a:pt x="3205603" y="1000302"/>
                  <a:pt x="3200246" y="1004232"/>
                  <a:pt x="3197773" y="1008163"/>
                </a:cubicBezTo>
                <a:cubicBezTo>
                  <a:pt x="3199009" y="1010207"/>
                  <a:pt x="3215907" y="1004232"/>
                  <a:pt x="3211992" y="998258"/>
                </a:cubicBezTo>
                <a:close/>
                <a:moveTo>
                  <a:pt x="2134121" y="991102"/>
                </a:moveTo>
                <a:lnTo>
                  <a:pt x="2133341" y="991891"/>
                </a:lnTo>
                <a:cubicBezTo>
                  <a:pt x="2132517" y="993384"/>
                  <a:pt x="2132517" y="994877"/>
                  <a:pt x="2133857" y="996371"/>
                </a:cubicBezTo>
                <a:cubicBezTo>
                  <a:pt x="2135815" y="996843"/>
                  <a:pt x="2137772" y="996096"/>
                  <a:pt x="2139240" y="994858"/>
                </a:cubicBezTo>
                <a:lnTo>
                  <a:pt x="2140264" y="992991"/>
                </a:lnTo>
                <a:lnTo>
                  <a:pt x="2135832" y="992019"/>
                </a:lnTo>
                <a:close/>
                <a:moveTo>
                  <a:pt x="3153372" y="989984"/>
                </a:moveTo>
                <a:cubicBezTo>
                  <a:pt x="3158388" y="995877"/>
                  <a:pt x="3144544" y="1001614"/>
                  <a:pt x="3143140" y="998668"/>
                </a:cubicBezTo>
                <a:cubicBezTo>
                  <a:pt x="3148357" y="996807"/>
                  <a:pt x="3145748" y="990914"/>
                  <a:pt x="3153372" y="989984"/>
                </a:cubicBezTo>
                <a:close/>
                <a:moveTo>
                  <a:pt x="3218585" y="985366"/>
                </a:moveTo>
                <a:cubicBezTo>
                  <a:pt x="3217349" y="989296"/>
                  <a:pt x="3213434" y="992283"/>
                  <a:pt x="3213434" y="997315"/>
                </a:cubicBezTo>
                <a:cubicBezTo>
                  <a:pt x="3221265" y="994327"/>
                  <a:pt x="3222501" y="998258"/>
                  <a:pt x="3230331" y="993384"/>
                </a:cubicBezTo>
                <a:cubicBezTo>
                  <a:pt x="3229094" y="988352"/>
                  <a:pt x="3221265" y="990397"/>
                  <a:pt x="3218585" y="985366"/>
                </a:cubicBezTo>
                <a:close/>
                <a:moveTo>
                  <a:pt x="2886614" y="985366"/>
                </a:moveTo>
                <a:lnTo>
                  <a:pt x="2886474" y="985563"/>
                </a:lnTo>
                <a:lnTo>
                  <a:pt x="2886659" y="985366"/>
                </a:lnTo>
                <a:close/>
                <a:moveTo>
                  <a:pt x="3199009" y="982378"/>
                </a:moveTo>
                <a:cubicBezTo>
                  <a:pt x="3193858" y="986309"/>
                  <a:pt x="3191179" y="990397"/>
                  <a:pt x="3191179" y="996371"/>
                </a:cubicBezTo>
                <a:cubicBezTo>
                  <a:pt x="3196331" y="994327"/>
                  <a:pt x="3199009" y="994327"/>
                  <a:pt x="3199009" y="998258"/>
                </a:cubicBezTo>
                <a:cubicBezTo>
                  <a:pt x="3208076" y="996371"/>
                  <a:pt x="3210755" y="990397"/>
                  <a:pt x="3214670" y="985366"/>
                </a:cubicBezTo>
                <a:cubicBezTo>
                  <a:pt x="3208076" y="980491"/>
                  <a:pt x="3208076" y="993384"/>
                  <a:pt x="3200246" y="993384"/>
                </a:cubicBezTo>
                <a:cubicBezTo>
                  <a:pt x="3193858" y="993384"/>
                  <a:pt x="3200246" y="985366"/>
                  <a:pt x="3199009" y="982378"/>
                </a:cubicBezTo>
                <a:close/>
                <a:moveTo>
                  <a:pt x="3480958" y="981665"/>
                </a:moveTo>
                <a:cubicBezTo>
                  <a:pt x="3476912" y="986441"/>
                  <a:pt x="3472866" y="991371"/>
                  <a:pt x="3471588" y="998149"/>
                </a:cubicBezTo>
                <a:cubicBezTo>
                  <a:pt x="3468819" y="992295"/>
                  <a:pt x="3467541" y="981665"/>
                  <a:pt x="3480958" y="981665"/>
                </a:cubicBezTo>
                <a:close/>
                <a:moveTo>
                  <a:pt x="2869511" y="974517"/>
                </a:moveTo>
                <a:cubicBezTo>
                  <a:pt x="2861680" y="977504"/>
                  <a:pt x="2869511" y="981435"/>
                  <a:pt x="2868274" y="987409"/>
                </a:cubicBezTo>
                <a:cubicBezTo>
                  <a:pt x="2856529" y="989296"/>
                  <a:pt x="2843547" y="999201"/>
                  <a:pt x="2855292" y="1007220"/>
                </a:cubicBezTo>
                <a:cubicBezTo>
                  <a:pt x="2844783" y="1008163"/>
                  <a:pt x="2848699" y="998258"/>
                  <a:pt x="2840868" y="998258"/>
                </a:cubicBezTo>
                <a:cubicBezTo>
                  <a:pt x="2843547" y="1001245"/>
                  <a:pt x="2843547" y="1007220"/>
                  <a:pt x="2846225" y="1010207"/>
                </a:cubicBezTo>
                <a:cubicBezTo>
                  <a:pt x="2839632" y="1012251"/>
                  <a:pt x="2834480" y="1015238"/>
                  <a:pt x="2834480" y="1022156"/>
                </a:cubicBezTo>
                <a:cubicBezTo>
                  <a:pt x="2826649" y="1023099"/>
                  <a:pt x="2831801" y="1013194"/>
                  <a:pt x="2821498" y="1016181"/>
                </a:cubicBezTo>
                <a:cubicBezTo>
                  <a:pt x="2821498" y="1016181"/>
                  <a:pt x="2821498" y="1016181"/>
                  <a:pt x="2821498" y="1027030"/>
                </a:cubicBezTo>
                <a:cubicBezTo>
                  <a:pt x="2814903" y="1021213"/>
                  <a:pt x="2810988" y="1028130"/>
                  <a:pt x="2803158" y="1029074"/>
                </a:cubicBezTo>
                <a:cubicBezTo>
                  <a:pt x="2803158" y="1031118"/>
                  <a:pt x="2805837" y="1032061"/>
                  <a:pt x="2804394" y="1034105"/>
                </a:cubicBezTo>
                <a:cubicBezTo>
                  <a:pt x="2794091" y="1035992"/>
                  <a:pt x="2785025" y="1042909"/>
                  <a:pt x="2790176" y="1052972"/>
                </a:cubicBezTo>
                <a:cubicBezTo>
                  <a:pt x="2783581" y="1049041"/>
                  <a:pt x="2774515" y="1055959"/>
                  <a:pt x="2778430" y="1059890"/>
                </a:cubicBezTo>
                <a:cubicBezTo>
                  <a:pt x="2762769" y="1055959"/>
                  <a:pt x="2766684" y="1068852"/>
                  <a:pt x="2756381" y="1069795"/>
                </a:cubicBezTo>
                <a:cubicBezTo>
                  <a:pt x="2760296" y="1073725"/>
                  <a:pt x="2754938" y="1070738"/>
                  <a:pt x="2753702" y="1073725"/>
                </a:cubicBezTo>
                <a:cubicBezTo>
                  <a:pt x="2756381" y="1074826"/>
                  <a:pt x="2757617" y="1075770"/>
                  <a:pt x="2758854" y="1076713"/>
                </a:cubicBezTo>
                <a:cubicBezTo>
                  <a:pt x="2757617" y="1079700"/>
                  <a:pt x="2756381" y="1085675"/>
                  <a:pt x="2749786" y="1085675"/>
                </a:cubicBezTo>
                <a:cubicBezTo>
                  <a:pt x="2751023" y="1080801"/>
                  <a:pt x="2758854" y="1078756"/>
                  <a:pt x="2751023" y="1075770"/>
                </a:cubicBezTo>
                <a:cubicBezTo>
                  <a:pt x="2744635" y="1083788"/>
                  <a:pt x="2726295" y="1078756"/>
                  <a:pt x="2719907" y="1085675"/>
                </a:cubicBezTo>
                <a:cubicBezTo>
                  <a:pt x="2717228" y="1089762"/>
                  <a:pt x="2717228" y="1092750"/>
                  <a:pt x="2721144" y="1095580"/>
                </a:cubicBezTo>
                <a:cubicBezTo>
                  <a:pt x="2735568" y="1095580"/>
                  <a:pt x="2719907" y="1086775"/>
                  <a:pt x="2730210" y="1085675"/>
                </a:cubicBezTo>
                <a:cubicBezTo>
                  <a:pt x="2727738" y="1092750"/>
                  <a:pt x="2736805" y="1093693"/>
                  <a:pt x="2738041" y="1098567"/>
                </a:cubicBezTo>
                <a:cubicBezTo>
                  <a:pt x="2730210" y="1093693"/>
                  <a:pt x="2725059" y="1099668"/>
                  <a:pt x="2718465" y="1100611"/>
                </a:cubicBezTo>
                <a:cubicBezTo>
                  <a:pt x="2717228" y="1096680"/>
                  <a:pt x="2717228" y="1091649"/>
                  <a:pt x="2710634" y="1090706"/>
                </a:cubicBezTo>
                <a:cubicBezTo>
                  <a:pt x="2708162" y="1093693"/>
                  <a:pt x="2714550" y="1098567"/>
                  <a:pt x="2708162" y="1098567"/>
                </a:cubicBezTo>
                <a:cubicBezTo>
                  <a:pt x="2708162" y="1096680"/>
                  <a:pt x="2706719" y="1094636"/>
                  <a:pt x="2705483" y="1093693"/>
                </a:cubicBezTo>
                <a:cubicBezTo>
                  <a:pt x="2701568" y="1096680"/>
                  <a:pt x="2697653" y="1101554"/>
                  <a:pt x="2692501" y="1104541"/>
                </a:cubicBezTo>
                <a:cubicBezTo>
                  <a:pt x="2680755" y="1098567"/>
                  <a:pt x="2671688" y="1113503"/>
                  <a:pt x="2659942" y="1113503"/>
                </a:cubicBezTo>
                <a:cubicBezTo>
                  <a:pt x="2662621" y="1114447"/>
                  <a:pt x="2661179" y="1117433"/>
                  <a:pt x="2662621" y="1119478"/>
                </a:cubicBezTo>
                <a:cubicBezTo>
                  <a:pt x="2658706" y="1120421"/>
                  <a:pt x="2654791" y="1118535"/>
                  <a:pt x="2654791" y="1124508"/>
                </a:cubicBezTo>
                <a:cubicBezTo>
                  <a:pt x="2643045" y="1117433"/>
                  <a:pt x="2641808" y="1128439"/>
                  <a:pt x="2633979" y="1132370"/>
                </a:cubicBezTo>
                <a:cubicBezTo>
                  <a:pt x="2633979" y="1127496"/>
                  <a:pt x="2627384" y="1133471"/>
                  <a:pt x="2626148" y="1128439"/>
                </a:cubicBezTo>
                <a:cubicBezTo>
                  <a:pt x="2627384" y="1123408"/>
                  <a:pt x="2630063" y="1121522"/>
                  <a:pt x="2633979" y="1120421"/>
                </a:cubicBezTo>
                <a:cubicBezTo>
                  <a:pt x="2626148" y="1113503"/>
                  <a:pt x="2615638" y="1120421"/>
                  <a:pt x="2610486" y="1127496"/>
                </a:cubicBezTo>
                <a:cubicBezTo>
                  <a:pt x="2615638" y="1127496"/>
                  <a:pt x="2616875" y="1122465"/>
                  <a:pt x="2623468" y="1126396"/>
                </a:cubicBezTo>
                <a:cubicBezTo>
                  <a:pt x="2612959" y="1133471"/>
                  <a:pt x="2601420" y="1136458"/>
                  <a:pt x="2590910" y="1146363"/>
                </a:cubicBezTo>
                <a:cubicBezTo>
                  <a:pt x="2590910" y="1147307"/>
                  <a:pt x="2593589" y="1148249"/>
                  <a:pt x="2596062" y="1149350"/>
                </a:cubicBezTo>
                <a:cubicBezTo>
                  <a:pt x="2596062" y="1149350"/>
                  <a:pt x="2596062" y="1149350"/>
                  <a:pt x="2592147" y="1157212"/>
                </a:cubicBezTo>
                <a:cubicBezTo>
                  <a:pt x="2585758" y="1155324"/>
                  <a:pt x="2590910" y="1150294"/>
                  <a:pt x="2583080" y="1148249"/>
                </a:cubicBezTo>
                <a:cubicBezTo>
                  <a:pt x="2571334" y="1146363"/>
                  <a:pt x="2576486" y="1157212"/>
                  <a:pt x="2566183" y="1152338"/>
                </a:cubicBezTo>
                <a:cubicBezTo>
                  <a:pt x="2564946" y="1160199"/>
                  <a:pt x="2577928" y="1159255"/>
                  <a:pt x="2581844" y="1156268"/>
                </a:cubicBezTo>
                <a:cubicBezTo>
                  <a:pt x="2580401" y="1164287"/>
                  <a:pt x="2567419" y="1157212"/>
                  <a:pt x="2570098" y="1165230"/>
                </a:cubicBezTo>
                <a:cubicBezTo>
                  <a:pt x="2562267" y="1161299"/>
                  <a:pt x="2568861" y="1153281"/>
                  <a:pt x="2555673" y="1150294"/>
                </a:cubicBezTo>
                <a:cubicBezTo>
                  <a:pt x="2551964" y="1157212"/>
                  <a:pt x="2528473" y="1159255"/>
                  <a:pt x="2537540" y="1172148"/>
                </a:cubicBezTo>
                <a:cubicBezTo>
                  <a:pt x="2542691" y="1167117"/>
                  <a:pt x="2548049" y="1165230"/>
                  <a:pt x="2554436" y="1162243"/>
                </a:cubicBezTo>
                <a:cubicBezTo>
                  <a:pt x="2555673" y="1168217"/>
                  <a:pt x="2546607" y="1165230"/>
                  <a:pt x="2551964" y="1171204"/>
                </a:cubicBezTo>
                <a:cubicBezTo>
                  <a:pt x="2546091" y="1171204"/>
                  <a:pt x="2539240" y="1173680"/>
                  <a:pt x="2532877" y="1175902"/>
                </a:cubicBezTo>
                <a:lnTo>
                  <a:pt x="2527956" y="1177433"/>
                </a:lnTo>
                <a:lnTo>
                  <a:pt x="2528914" y="1178515"/>
                </a:lnTo>
                <a:cubicBezTo>
                  <a:pt x="2529826" y="1178879"/>
                  <a:pt x="2530911" y="1178973"/>
                  <a:pt x="2531951" y="1179162"/>
                </a:cubicBezTo>
                <a:lnTo>
                  <a:pt x="2533230" y="1179719"/>
                </a:lnTo>
                <a:lnTo>
                  <a:pt x="2539549" y="1179125"/>
                </a:lnTo>
                <a:cubicBezTo>
                  <a:pt x="2542794" y="1178358"/>
                  <a:pt x="2545370" y="1177100"/>
                  <a:pt x="2546607" y="1175135"/>
                </a:cubicBezTo>
                <a:cubicBezTo>
                  <a:pt x="2545370" y="1179065"/>
                  <a:pt x="2553200" y="1177179"/>
                  <a:pt x="2551964" y="1173091"/>
                </a:cubicBezTo>
                <a:cubicBezTo>
                  <a:pt x="2554436" y="1174192"/>
                  <a:pt x="2555673" y="1175135"/>
                  <a:pt x="2557116" y="1177179"/>
                </a:cubicBezTo>
                <a:cubicBezTo>
                  <a:pt x="2559588" y="1175135"/>
                  <a:pt x="2562267" y="1173091"/>
                  <a:pt x="2563504" y="1170104"/>
                </a:cubicBezTo>
                <a:cubicBezTo>
                  <a:pt x="2572777" y="1175135"/>
                  <a:pt x="2577928" y="1169161"/>
                  <a:pt x="2584316" y="1164287"/>
                </a:cubicBezTo>
                <a:cubicBezTo>
                  <a:pt x="2583080" y="1167117"/>
                  <a:pt x="2589673" y="1168217"/>
                  <a:pt x="2589673" y="1170104"/>
                </a:cubicBezTo>
                <a:cubicBezTo>
                  <a:pt x="2593589" y="1164287"/>
                  <a:pt x="2601420" y="1164287"/>
                  <a:pt x="2607808" y="1163186"/>
                </a:cubicBezTo>
                <a:cubicBezTo>
                  <a:pt x="2614401" y="1161299"/>
                  <a:pt x="2620789" y="1160199"/>
                  <a:pt x="2620789" y="1153281"/>
                </a:cubicBezTo>
                <a:cubicBezTo>
                  <a:pt x="2627384" y="1157212"/>
                  <a:pt x="2628620" y="1150294"/>
                  <a:pt x="2631299" y="1147307"/>
                </a:cubicBezTo>
                <a:lnTo>
                  <a:pt x="2636866" y="1149439"/>
                </a:lnTo>
                <a:lnTo>
                  <a:pt x="2636094" y="1147453"/>
                </a:lnTo>
                <a:cubicBezTo>
                  <a:pt x="2643987" y="1140573"/>
                  <a:pt x="2661018" y="1140573"/>
                  <a:pt x="2664964" y="1135571"/>
                </a:cubicBezTo>
                <a:cubicBezTo>
                  <a:pt x="2664964" y="1139049"/>
                  <a:pt x="2663498" y="1141844"/>
                  <a:pt x="2661398" y="1144309"/>
                </a:cubicBezTo>
                <a:lnTo>
                  <a:pt x="2660633" y="1145011"/>
                </a:lnTo>
                <a:lnTo>
                  <a:pt x="2663735" y="1144820"/>
                </a:lnTo>
                <a:cubicBezTo>
                  <a:pt x="2666884" y="1144457"/>
                  <a:pt x="2669730" y="1143769"/>
                  <a:pt x="2671688" y="1142275"/>
                </a:cubicBezTo>
                <a:cubicBezTo>
                  <a:pt x="2671688" y="1139445"/>
                  <a:pt x="2669009" y="1138345"/>
                  <a:pt x="2669009" y="1136458"/>
                </a:cubicBezTo>
                <a:cubicBezTo>
                  <a:pt x="2676839" y="1134414"/>
                  <a:pt x="2678075" y="1133471"/>
                  <a:pt x="2685906" y="1129383"/>
                </a:cubicBezTo>
                <a:cubicBezTo>
                  <a:pt x="2689822" y="1133471"/>
                  <a:pt x="2680755" y="1136458"/>
                  <a:pt x="2687350" y="1138345"/>
                </a:cubicBezTo>
                <a:cubicBezTo>
                  <a:pt x="2687658" y="1133863"/>
                  <a:pt x="2689681" y="1130504"/>
                  <a:pt x="2692703" y="1127874"/>
                </a:cubicBezTo>
                <a:lnTo>
                  <a:pt x="2692950" y="1127743"/>
                </a:lnTo>
                <a:lnTo>
                  <a:pt x="2693163" y="1124090"/>
                </a:lnTo>
                <a:cubicBezTo>
                  <a:pt x="2694840" y="1118631"/>
                  <a:pt x="2700061" y="1117708"/>
                  <a:pt x="2706769" y="1116159"/>
                </a:cubicBezTo>
                <a:lnTo>
                  <a:pt x="2705289" y="1121422"/>
                </a:lnTo>
                <a:lnTo>
                  <a:pt x="2717167" y="1117783"/>
                </a:lnTo>
                <a:lnTo>
                  <a:pt x="2721603" y="1115987"/>
                </a:lnTo>
                <a:lnTo>
                  <a:pt x="2716967" y="1112289"/>
                </a:lnTo>
                <a:cubicBezTo>
                  <a:pt x="2720804" y="1112289"/>
                  <a:pt x="2719592" y="1109340"/>
                  <a:pt x="2722015" y="1108409"/>
                </a:cubicBezTo>
                <a:lnTo>
                  <a:pt x="2724168" y="1110132"/>
                </a:lnTo>
                <a:lnTo>
                  <a:pt x="2723823" y="1106586"/>
                </a:lnTo>
                <a:cubicBezTo>
                  <a:pt x="2730210" y="1106586"/>
                  <a:pt x="2732890" y="1101554"/>
                  <a:pt x="2738041" y="1099668"/>
                </a:cubicBezTo>
                <a:cubicBezTo>
                  <a:pt x="2736805" y="1104541"/>
                  <a:pt x="2736805" y="1107529"/>
                  <a:pt x="2739483" y="1110516"/>
                </a:cubicBezTo>
                <a:cubicBezTo>
                  <a:pt x="2752466" y="1105564"/>
                  <a:pt x="2763489" y="1096641"/>
                  <a:pt x="2774694" y="1088583"/>
                </a:cubicBezTo>
                <a:lnTo>
                  <a:pt x="2789587" y="1079208"/>
                </a:lnTo>
                <a:lnTo>
                  <a:pt x="2786801" y="1076523"/>
                </a:lnTo>
                <a:cubicBezTo>
                  <a:pt x="2785342" y="1075643"/>
                  <a:pt x="2784010" y="1075643"/>
                  <a:pt x="2783292" y="1077676"/>
                </a:cubicBezTo>
                <a:cubicBezTo>
                  <a:pt x="2776941" y="1070641"/>
                  <a:pt x="2793742" y="1066732"/>
                  <a:pt x="2796406" y="1064857"/>
                </a:cubicBezTo>
                <a:cubicBezTo>
                  <a:pt x="2797635" y="1068765"/>
                  <a:pt x="2794972" y="1070641"/>
                  <a:pt x="2792512" y="1072673"/>
                </a:cubicBezTo>
                <a:cubicBezTo>
                  <a:pt x="2791796" y="1073689"/>
                  <a:pt x="2790822" y="1074666"/>
                  <a:pt x="2790336" y="1075898"/>
                </a:cubicBezTo>
                <a:lnTo>
                  <a:pt x="2790740" y="1078483"/>
                </a:lnTo>
                <a:lnTo>
                  <a:pt x="2791904" y="1077749"/>
                </a:lnTo>
                <a:cubicBezTo>
                  <a:pt x="2797864" y="1074757"/>
                  <a:pt x="2804136" y="1072586"/>
                  <a:pt x="2810988" y="1071839"/>
                </a:cubicBezTo>
                <a:cubicBezTo>
                  <a:pt x="2808309" y="1072782"/>
                  <a:pt x="2804394" y="1073725"/>
                  <a:pt x="2804394" y="1077813"/>
                </a:cubicBezTo>
                <a:cubicBezTo>
                  <a:pt x="2810988" y="1076713"/>
                  <a:pt x="2809752" y="1080801"/>
                  <a:pt x="2814903" y="1079700"/>
                </a:cubicBezTo>
                <a:cubicBezTo>
                  <a:pt x="2814285" y="1074748"/>
                  <a:pt x="2817222" y="1073765"/>
                  <a:pt x="2820647" y="1073647"/>
                </a:cubicBezTo>
                <a:lnTo>
                  <a:pt x="2825409" y="1073724"/>
                </a:lnTo>
                <a:lnTo>
                  <a:pt x="2827561" y="1070487"/>
                </a:lnTo>
                <a:lnTo>
                  <a:pt x="2828591" y="1069370"/>
                </a:lnTo>
                <a:lnTo>
                  <a:pt x="2828143" y="1067299"/>
                </a:lnTo>
                <a:cubicBezTo>
                  <a:pt x="2827319" y="1066061"/>
                  <a:pt x="2826649" y="1064842"/>
                  <a:pt x="2827885" y="1061934"/>
                </a:cubicBezTo>
                <a:lnTo>
                  <a:pt x="2830333" y="1062230"/>
                </a:lnTo>
                <a:lnTo>
                  <a:pt x="2830257" y="1061638"/>
                </a:lnTo>
                <a:lnTo>
                  <a:pt x="2837317" y="1062488"/>
                </a:lnTo>
                <a:lnTo>
                  <a:pt x="2841689" y="1061039"/>
                </a:lnTo>
                <a:lnTo>
                  <a:pt x="2838139" y="1058637"/>
                </a:lnTo>
                <a:lnTo>
                  <a:pt x="2840894" y="1057712"/>
                </a:lnTo>
                <a:lnTo>
                  <a:pt x="2838396" y="1055959"/>
                </a:lnTo>
                <a:cubicBezTo>
                  <a:pt x="2843186" y="1054426"/>
                  <a:pt x="2846586" y="1047322"/>
                  <a:pt x="2850247" y="1045590"/>
                </a:cubicBezTo>
                <a:lnTo>
                  <a:pt x="2851827" y="1045782"/>
                </a:lnTo>
                <a:lnTo>
                  <a:pt x="2852903" y="1044592"/>
                </a:lnTo>
                <a:cubicBezTo>
                  <a:pt x="2855491" y="1042824"/>
                  <a:pt x="2858718" y="1041315"/>
                  <a:pt x="2858001" y="1037820"/>
                </a:cubicBezTo>
                <a:cubicBezTo>
                  <a:pt x="2861894" y="1041871"/>
                  <a:pt x="2861280" y="1044373"/>
                  <a:pt x="2859204" y="1046498"/>
                </a:cubicBezTo>
                <a:lnTo>
                  <a:pt x="2853213" y="1051585"/>
                </a:lnTo>
                <a:lnTo>
                  <a:pt x="2856374" y="1052402"/>
                </a:lnTo>
                <a:cubicBezTo>
                  <a:pt x="2858178" y="1053640"/>
                  <a:pt x="2859826" y="1055880"/>
                  <a:pt x="2864360" y="1056903"/>
                </a:cubicBezTo>
                <a:cubicBezTo>
                  <a:pt x="2867038" y="1052029"/>
                  <a:pt x="2863123" y="1050928"/>
                  <a:pt x="2860444" y="1049041"/>
                </a:cubicBezTo>
                <a:cubicBezTo>
                  <a:pt x="2865596" y="1042909"/>
                  <a:pt x="2878784" y="1035992"/>
                  <a:pt x="2889087" y="1029074"/>
                </a:cubicBezTo>
                <a:cubicBezTo>
                  <a:pt x="2883936" y="1026087"/>
                  <a:pt x="2889087" y="1021213"/>
                  <a:pt x="2887851" y="1016181"/>
                </a:cubicBezTo>
                <a:cubicBezTo>
                  <a:pt x="2895681" y="1014138"/>
                  <a:pt x="2891765" y="1023099"/>
                  <a:pt x="2899596" y="1020112"/>
                </a:cubicBezTo>
                <a:cubicBezTo>
                  <a:pt x="2896917" y="1013194"/>
                  <a:pt x="2900833" y="1009263"/>
                  <a:pt x="2903512" y="1004232"/>
                </a:cubicBezTo>
                <a:cubicBezTo>
                  <a:pt x="2899596" y="1003289"/>
                  <a:pt x="2896917" y="1007220"/>
                  <a:pt x="2896917" y="1004232"/>
                </a:cubicBezTo>
                <a:cubicBezTo>
                  <a:pt x="2903512" y="1003289"/>
                  <a:pt x="2899596" y="997315"/>
                  <a:pt x="2895681" y="996371"/>
                </a:cubicBezTo>
                <a:cubicBezTo>
                  <a:pt x="2898257" y="995821"/>
                  <a:pt x="2899236" y="994052"/>
                  <a:pt x="2900550" y="992303"/>
                </a:cubicBezTo>
                <a:lnTo>
                  <a:pt x="2902338" y="991276"/>
                </a:lnTo>
                <a:lnTo>
                  <a:pt x="2899787" y="990222"/>
                </a:lnTo>
                <a:cubicBezTo>
                  <a:pt x="2889286" y="989113"/>
                  <a:pt x="2888051" y="995134"/>
                  <a:pt x="2889286" y="998145"/>
                </a:cubicBezTo>
                <a:cubicBezTo>
                  <a:pt x="2882183" y="996164"/>
                  <a:pt x="2881874" y="991926"/>
                  <a:pt x="2884627" y="987548"/>
                </a:cubicBezTo>
                <a:lnTo>
                  <a:pt x="2885081" y="987061"/>
                </a:lnTo>
                <a:lnTo>
                  <a:pt x="2883446" y="980786"/>
                </a:lnTo>
                <a:cubicBezTo>
                  <a:pt x="2882647" y="978920"/>
                  <a:pt x="2881359" y="977426"/>
                  <a:pt x="2878784" y="976404"/>
                </a:cubicBezTo>
                <a:cubicBezTo>
                  <a:pt x="2874869" y="983322"/>
                  <a:pt x="2873426" y="977504"/>
                  <a:pt x="2869511" y="974517"/>
                </a:cubicBezTo>
                <a:close/>
                <a:moveTo>
                  <a:pt x="3235448" y="970573"/>
                </a:moveTo>
                <a:cubicBezTo>
                  <a:pt x="3237354" y="972638"/>
                  <a:pt x="3237354" y="975180"/>
                  <a:pt x="3236878" y="977821"/>
                </a:cubicBezTo>
                <a:lnTo>
                  <a:pt x="3235547" y="985123"/>
                </a:lnTo>
                <a:lnTo>
                  <a:pt x="3235276" y="985397"/>
                </a:lnTo>
                <a:lnTo>
                  <a:pt x="3231612" y="979668"/>
                </a:lnTo>
                <a:cubicBezTo>
                  <a:pt x="3233192" y="976650"/>
                  <a:pt x="3236050" y="973115"/>
                  <a:pt x="3235448" y="970573"/>
                </a:cubicBezTo>
                <a:close/>
                <a:moveTo>
                  <a:pt x="3163536" y="970573"/>
                </a:moveTo>
                <a:lnTo>
                  <a:pt x="3164747" y="977772"/>
                </a:lnTo>
                <a:cubicBezTo>
                  <a:pt x="3162122" y="978732"/>
                  <a:pt x="3157073" y="980811"/>
                  <a:pt x="3155862" y="978732"/>
                </a:cubicBezTo>
                <a:cubicBezTo>
                  <a:pt x="3159699" y="976652"/>
                  <a:pt x="3159699" y="972653"/>
                  <a:pt x="3163536" y="970573"/>
                </a:cubicBezTo>
                <a:close/>
                <a:moveTo>
                  <a:pt x="3240635" y="966499"/>
                </a:moveTo>
                <a:cubicBezTo>
                  <a:pt x="3232805" y="970429"/>
                  <a:pt x="3232805" y="974517"/>
                  <a:pt x="3223737" y="974517"/>
                </a:cubicBezTo>
                <a:cubicBezTo>
                  <a:pt x="3227652" y="979391"/>
                  <a:pt x="3234247" y="981435"/>
                  <a:pt x="3230331" y="990397"/>
                </a:cubicBezTo>
                <a:lnTo>
                  <a:pt x="3235276" y="985397"/>
                </a:lnTo>
                <a:lnTo>
                  <a:pt x="3235448" y="985666"/>
                </a:lnTo>
                <a:lnTo>
                  <a:pt x="3235547" y="985123"/>
                </a:lnTo>
                <a:lnTo>
                  <a:pt x="3238883" y="981749"/>
                </a:lnTo>
                <a:cubicBezTo>
                  <a:pt x="3239038" y="977151"/>
                  <a:pt x="3238059" y="971451"/>
                  <a:pt x="3240635" y="966499"/>
                </a:cubicBezTo>
                <a:close/>
                <a:moveTo>
                  <a:pt x="2902164" y="966370"/>
                </a:moveTo>
                <a:lnTo>
                  <a:pt x="2899059" y="968783"/>
                </a:lnTo>
                <a:lnTo>
                  <a:pt x="2899229" y="971530"/>
                </a:lnTo>
                <a:lnTo>
                  <a:pt x="2899596" y="971530"/>
                </a:lnTo>
                <a:close/>
                <a:moveTo>
                  <a:pt x="2950288" y="965555"/>
                </a:moveTo>
                <a:lnTo>
                  <a:pt x="2946664" y="968337"/>
                </a:lnTo>
                <a:lnTo>
                  <a:pt x="2946270" y="967992"/>
                </a:lnTo>
                <a:cubicBezTo>
                  <a:pt x="2946734" y="966774"/>
                  <a:pt x="2948330" y="965555"/>
                  <a:pt x="2950288" y="965555"/>
                </a:cubicBezTo>
                <a:close/>
                <a:moveTo>
                  <a:pt x="2904540" y="964523"/>
                </a:moveTo>
                <a:lnTo>
                  <a:pt x="2904129" y="964842"/>
                </a:lnTo>
                <a:lnTo>
                  <a:pt x="2904603" y="964730"/>
                </a:lnTo>
                <a:close/>
                <a:moveTo>
                  <a:pt x="3515767" y="960174"/>
                </a:moveTo>
                <a:cubicBezTo>
                  <a:pt x="3522216" y="964141"/>
                  <a:pt x="3523672" y="966204"/>
                  <a:pt x="3518263" y="972235"/>
                </a:cubicBezTo>
                <a:cubicBezTo>
                  <a:pt x="3506614" y="973187"/>
                  <a:pt x="3515767" y="965252"/>
                  <a:pt x="3515767" y="960174"/>
                </a:cubicBezTo>
                <a:close/>
                <a:moveTo>
                  <a:pt x="2818818" y="954550"/>
                </a:moveTo>
                <a:cubicBezTo>
                  <a:pt x="2810988" y="953606"/>
                  <a:pt x="2812225" y="961467"/>
                  <a:pt x="2820055" y="960524"/>
                </a:cubicBezTo>
                <a:cubicBezTo>
                  <a:pt x="2822734" y="957536"/>
                  <a:pt x="2820055" y="958480"/>
                  <a:pt x="2818818" y="954550"/>
                </a:cubicBezTo>
                <a:close/>
                <a:moveTo>
                  <a:pt x="2889087" y="953606"/>
                </a:moveTo>
                <a:cubicBezTo>
                  <a:pt x="2885172" y="956593"/>
                  <a:pt x="2882235" y="959070"/>
                  <a:pt x="2879299" y="961802"/>
                </a:cubicBezTo>
                <a:lnTo>
                  <a:pt x="2874834" y="966239"/>
                </a:lnTo>
                <a:lnTo>
                  <a:pt x="2877971" y="966815"/>
                </a:lnTo>
                <a:lnTo>
                  <a:pt x="2882312" y="964395"/>
                </a:lnTo>
                <a:cubicBezTo>
                  <a:pt x="2885583" y="961546"/>
                  <a:pt x="2887851" y="958087"/>
                  <a:pt x="2889087" y="953606"/>
                </a:cubicBezTo>
                <a:close/>
                <a:moveTo>
                  <a:pt x="3377510" y="950468"/>
                </a:moveTo>
                <a:cubicBezTo>
                  <a:pt x="3389189" y="956365"/>
                  <a:pt x="3378739" y="963195"/>
                  <a:pt x="3376281" y="971110"/>
                </a:cubicBezTo>
                <a:cubicBezTo>
                  <a:pt x="3368494" y="965212"/>
                  <a:pt x="3380173" y="958228"/>
                  <a:pt x="3377510" y="950468"/>
                </a:cubicBezTo>
                <a:close/>
                <a:moveTo>
                  <a:pt x="2984286" y="947735"/>
                </a:moveTo>
                <a:cubicBezTo>
                  <a:pt x="2982229" y="948015"/>
                  <a:pt x="2981302" y="950815"/>
                  <a:pt x="2980375" y="948575"/>
                </a:cubicBezTo>
                <a:cubicBezTo>
                  <a:pt x="2976459" y="952662"/>
                  <a:pt x="2980375" y="960524"/>
                  <a:pt x="2969864" y="961467"/>
                </a:cubicBezTo>
                <a:cubicBezTo>
                  <a:pt x="2977695" y="964455"/>
                  <a:pt x="2987998" y="955493"/>
                  <a:pt x="2986762" y="948575"/>
                </a:cubicBezTo>
                <a:cubicBezTo>
                  <a:pt x="2985783" y="947828"/>
                  <a:pt x="2984972" y="947641"/>
                  <a:pt x="2984286" y="947735"/>
                </a:cubicBezTo>
                <a:close/>
                <a:moveTo>
                  <a:pt x="3404287" y="945615"/>
                </a:moveTo>
                <a:cubicBezTo>
                  <a:pt x="3411911" y="946726"/>
                  <a:pt x="3406695" y="956724"/>
                  <a:pt x="3402883" y="958628"/>
                </a:cubicBezTo>
                <a:cubicBezTo>
                  <a:pt x="3396664" y="954660"/>
                  <a:pt x="3400475" y="950693"/>
                  <a:pt x="3404287" y="945615"/>
                </a:cubicBezTo>
                <a:close/>
                <a:moveTo>
                  <a:pt x="3227652" y="945588"/>
                </a:moveTo>
                <a:cubicBezTo>
                  <a:pt x="3222501" y="949675"/>
                  <a:pt x="3223737" y="955493"/>
                  <a:pt x="3225180" y="962568"/>
                </a:cubicBezTo>
                <a:cubicBezTo>
                  <a:pt x="3232805" y="959581"/>
                  <a:pt x="3229094" y="951562"/>
                  <a:pt x="3227652" y="945588"/>
                </a:cubicBezTo>
                <a:close/>
                <a:moveTo>
                  <a:pt x="3144403" y="940714"/>
                </a:moveTo>
                <a:lnTo>
                  <a:pt x="3141683" y="941691"/>
                </a:lnTo>
                <a:lnTo>
                  <a:pt x="3136384" y="952544"/>
                </a:lnTo>
                <a:lnTo>
                  <a:pt x="3134638" y="958692"/>
                </a:lnTo>
                <a:lnTo>
                  <a:pt x="3137963" y="956711"/>
                </a:lnTo>
                <a:cubicBezTo>
                  <a:pt x="3140075" y="954864"/>
                  <a:pt x="3142342" y="953135"/>
                  <a:pt x="3146875" y="952662"/>
                </a:cubicBezTo>
                <a:cubicBezTo>
                  <a:pt x="3144403" y="945588"/>
                  <a:pt x="3144403" y="947632"/>
                  <a:pt x="3144403" y="940714"/>
                </a:cubicBezTo>
                <a:close/>
                <a:moveTo>
                  <a:pt x="1712372" y="937359"/>
                </a:moveTo>
                <a:lnTo>
                  <a:pt x="1711261" y="939324"/>
                </a:lnTo>
                <a:lnTo>
                  <a:pt x="1712784" y="938360"/>
                </a:lnTo>
                <a:close/>
                <a:moveTo>
                  <a:pt x="3511259" y="935909"/>
                </a:moveTo>
                <a:cubicBezTo>
                  <a:pt x="3512470" y="939828"/>
                  <a:pt x="3513682" y="950799"/>
                  <a:pt x="3508633" y="953778"/>
                </a:cubicBezTo>
                <a:cubicBezTo>
                  <a:pt x="3506210" y="948762"/>
                  <a:pt x="3504797" y="938887"/>
                  <a:pt x="3511259" y="935909"/>
                </a:cubicBezTo>
                <a:close/>
                <a:moveTo>
                  <a:pt x="3487161" y="935909"/>
                </a:moveTo>
                <a:cubicBezTo>
                  <a:pt x="3502774" y="939874"/>
                  <a:pt x="3484490" y="950023"/>
                  <a:pt x="3492297" y="958905"/>
                </a:cubicBezTo>
                <a:cubicBezTo>
                  <a:pt x="3489626" y="960015"/>
                  <a:pt x="3484490" y="960015"/>
                  <a:pt x="3479354" y="958905"/>
                </a:cubicBezTo>
                <a:cubicBezTo>
                  <a:pt x="3484490" y="948913"/>
                  <a:pt x="3485722" y="947010"/>
                  <a:pt x="3487161" y="935909"/>
                </a:cubicBezTo>
                <a:close/>
                <a:moveTo>
                  <a:pt x="1710819" y="933584"/>
                </a:moveTo>
                <a:lnTo>
                  <a:pt x="1710747" y="934362"/>
                </a:lnTo>
                <a:lnTo>
                  <a:pt x="1711086" y="934232"/>
                </a:lnTo>
                <a:close/>
                <a:moveTo>
                  <a:pt x="2011788" y="930779"/>
                </a:moveTo>
                <a:cubicBezTo>
                  <a:pt x="2010508" y="931037"/>
                  <a:pt x="2009887" y="932102"/>
                  <a:pt x="2009220" y="933294"/>
                </a:cubicBezTo>
                <a:lnTo>
                  <a:pt x="2009037" y="933505"/>
                </a:lnTo>
                <a:lnTo>
                  <a:pt x="2009037" y="935792"/>
                </a:lnTo>
                <a:cubicBezTo>
                  <a:pt x="2010994" y="935792"/>
                  <a:pt x="2012643" y="935557"/>
                  <a:pt x="2013802" y="934692"/>
                </a:cubicBezTo>
                <a:lnTo>
                  <a:pt x="2015018" y="931453"/>
                </a:lnTo>
                <a:close/>
                <a:moveTo>
                  <a:pt x="2927253" y="929670"/>
                </a:moveTo>
                <a:cubicBezTo>
                  <a:pt x="2943936" y="929670"/>
                  <a:pt x="2925829" y="936981"/>
                  <a:pt x="2929695" y="939906"/>
                </a:cubicBezTo>
                <a:cubicBezTo>
                  <a:pt x="2916878" y="936981"/>
                  <a:pt x="2933560" y="931782"/>
                  <a:pt x="2927253" y="929670"/>
                </a:cubicBezTo>
                <a:close/>
                <a:moveTo>
                  <a:pt x="1703617" y="929092"/>
                </a:moveTo>
                <a:cubicBezTo>
                  <a:pt x="1701814" y="929338"/>
                  <a:pt x="1700088" y="929893"/>
                  <a:pt x="1698645" y="930946"/>
                </a:cubicBezTo>
                <a:lnTo>
                  <a:pt x="1698422" y="931278"/>
                </a:lnTo>
                <a:lnTo>
                  <a:pt x="1705950" y="929909"/>
                </a:lnTo>
                <a:lnTo>
                  <a:pt x="1708146" y="929418"/>
                </a:lnTo>
                <a:close/>
                <a:moveTo>
                  <a:pt x="3207454" y="928976"/>
                </a:moveTo>
                <a:cubicBezTo>
                  <a:pt x="3207454" y="935007"/>
                  <a:pt x="3203584" y="938022"/>
                  <a:pt x="3198492" y="941990"/>
                </a:cubicBezTo>
                <a:cubicBezTo>
                  <a:pt x="3195844" y="935959"/>
                  <a:pt x="3202361" y="932944"/>
                  <a:pt x="3207454" y="928976"/>
                </a:cubicBezTo>
                <a:close/>
                <a:moveTo>
                  <a:pt x="287248" y="928976"/>
                </a:moveTo>
                <a:cubicBezTo>
                  <a:pt x="297841" y="935855"/>
                  <a:pt x="278109" y="935855"/>
                  <a:pt x="278109" y="944765"/>
                </a:cubicBezTo>
                <a:cubicBezTo>
                  <a:pt x="268971" y="942733"/>
                  <a:pt x="284756" y="933979"/>
                  <a:pt x="287248" y="928976"/>
                </a:cubicBezTo>
                <a:close/>
                <a:moveTo>
                  <a:pt x="1941613" y="928622"/>
                </a:moveTo>
                <a:cubicBezTo>
                  <a:pt x="1943585" y="928452"/>
                  <a:pt x="1946363" y="932581"/>
                  <a:pt x="1946363" y="928779"/>
                </a:cubicBezTo>
                <a:cubicBezTo>
                  <a:pt x="1948931" y="929729"/>
                  <a:pt x="1947549" y="931789"/>
                  <a:pt x="1947549" y="933849"/>
                </a:cubicBezTo>
                <a:cubicBezTo>
                  <a:pt x="1942610" y="935751"/>
                  <a:pt x="1943795" y="931789"/>
                  <a:pt x="1940042" y="930680"/>
                </a:cubicBezTo>
                <a:cubicBezTo>
                  <a:pt x="1940388" y="929214"/>
                  <a:pt x="1940955" y="928679"/>
                  <a:pt x="1941613" y="928622"/>
                </a:cubicBezTo>
                <a:close/>
                <a:moveTo>
                  <a:pt x="1788082" y="927857"/>
                </a:moveTo>
                <a:cubicBezTo>
                  <a:pt x="1785345" y="935056"/>
                  <a:pt x="1771036" y="930896"/>
                  <a:pt x="1768300" y="928976"/>
                </a:cubicBezTo>
                <a:cubicBezTo>
                  <a:pt x="1772299" y="926897"/>
                  <a:pt x="1781558" y="932016"/>
                  <a:pt x="1788082" y="927857"/>
                </a:cubicBezTo>
                <a:close/>
                <a:moveTo>
                  <a:pt x="3161762" y="927765"/>
                </a:moveTo>
                <a:lnTo>
                  <a:pt x="3154101" y="930643"/>
                </a:lnTo>
                <a:lnTo>
                  <a:pt x="3154284" y="931595"/>
                </a:lnTo>
                <a:lnTo>
                  <a:pt x="3157475" y="930858"/>
                </a:lnTo>
                <a:lnTo>
                  <a:pt x="3156942" y="932315"/>
                </a:lnTo>
                <a:lnTo>
                  <a:pt x="3160681" y="929838"/>
                </a:lnTo>
                <a:close/>
                <a:moveTo>
                  <a:pt x="2057257" y="926869"/>
                </a:moveTo>
                <a:lnTo>
                  <a:pt x="2049959" y="927925"/>
                </a:lnTo>
                <a:lnTo>
                  <a:pt x="2048218" y="929099"/>
                </a:lnTo>
                <a:lnTo>
                  <a:pt x="2055405" y="927343"/>
                </a:lnTo>
                <a:close/>
                <a:moveTo>
                  <a:pt x="3015406" y="926720"/>
                </a:moveTo>
                <a:lnTo>
                  <a:pt x="3014989" y="926864"/>
                </a:lnTo>
                <a:lnTo>
                  <a:pt x="3013833" y="928130"/>
                </a:lnTo>
                <a:lnTo>
                  <a:pt x="3012950" y="927566"/>
                </a:lnTo>
                <a:lnTo>
                  <a:pt x="3008553" y="929079"/>
                </a:lnTo>
                <a:cubicBezTo>
                  <a:pt x="3007266" y="930219"/>
                  <a:pt x="3006957" y="931752"/>
                  <a:pt x="3007575" y="933796"/>
                </a:cubicBezTo>
                <a:cubicBezTo>
                  <a:pt x="3014169" y="932695"/>
                  <a:pt x="3016848" y="930651"/>
                  <a:pt x="3015406" y="926720"/>
                </a:cubicBezTo>
                <a:close/>
                <a:moveTo>
                  <a:pt x="2522986" y="926387"/>
                </a:moveTo>
                <a:cubicBezTo>
                  <a:pt x="2521518" y="926995"/>
                  <a:pt x="2520539" y="928214"/>
                  <a:pt x="2519200" y="929708"/>
                </a:cubicBezTo>
                <a:cubicBezTo>
                  <a:pt x="2524557" y="934739"/>
                  <a:pt x="2528473" y="930651"/>
                  <a:pt x="2529709" y="926720"/>
                </a:cubicBezTo>
                <a:cubicBezTo>
                  <a:pt x="2526412" y="925777"/>
                  <a:pt x="2524454" y="925777"/>
                  <a:pt x="2522986" y="926387"/>
                </a:cubicBezTo>
                <a:close/>
                <a:moveTo>
                  <a:pt x="3383933" y="922737"/>
                </a:moveTo>
                <a:cubicBezTo>
                  <a:pt x="3398276" y="927556"/>
                  <a:pt x="3398276" y="936573"/>
                  <a:pt x="3387827" y="948233"/>
                </a:cubicBezTo>
                <a:cubicBezTo>
                  <a:pt x="3378811" y="946367"/>
                  <a:pt x="3378811" y="946367"/>
                  <a:pt x="3378811" y="946367"/>
                </a:cubicBezTo>
                <a:cubicBezTo>
                  <a:pt x="3377581" y="935485"/>
                  <a:pt x="3377581" y="932531"/>
                  <a:pt x="3383933" y="922737"/>
                </a:cubicBezTo>
                <a:close/>
                <a:moveTo>
                  <a:pt x="1846794" y="922097"/>
                </a:moveTo>
                <a:cubicBezTo>
                  <a:pt x="1848521" y="921697"/>
                  <a:pt x="1850101" y="922177"/>
                  <a:pt x="1850793" y="923697"/>
                </a:cubicBezTo>
                <a:cubicBezTo>
                  <a:pt x="1850793" y="927697"/>
                  <a:pt x="1845657" y="925777"/>
                  <a:pt x="1844472" y="928817"/>
                </a:cubicBezTo>
                <a:lnTo>
                  <a:pt x="1843314" y="926784"/>
                </a:lnTo>
                <a:lnTo>
                  <a:pt x="1826457" y="931594"/>
                </a:lnTo>
                <a:cubicBezTo>
                  <a:pt x="1827379" y="924951"/>
                  <a:pt x="1836369" y="923290"/>
                  <a:pt x="1842448" y="924121"/>
                </a:cubicBezTo>
                <a:lnTo>
                  <a:pt x="1843596" y="924504"/>
                </a:lnTo>
                <a:close/>
                <a:moveTo>
                  <a:pt x="2978909" y="922044"/>
                </a:moveTo>
                <a:cubicBezTo>
                  <a:pt x="2977632" y="927894"/>
                  <a:pt x="2985725" y="922044"/>
                  <a:pt x="2985725" y="926945"/>
                </a:cubicBezTo>
                <a:cubicBezTo>
                  <a:pt x="2982956" y="929949"/>
                  <a:pt x="2974863" y="930898"/>
                  <a:pt x="2973585" y="925996"/>
                </a:cubicBezTo>
                <a:cubicBezTo>
                  <a:pt x="2972308" y="923941"/>
                  <a:pt x="2977632" y="923941"/>
                  <a:pt x="2978909" y="922044"/>
                </a:cubicBezTo>
                <a:close/>
                <a:moveTo>
                  <a:pt x="1796835" y="920371"/>
                </a:moveTo>
                <a:cubicBezTo>
                  <a:pt x="1798564" y="919633"/>
                  <a:pt x="1800440" y="919904"/>
                  <a:pt x="1801724" y="921924"/>
                </a:cubicBezTo>
                <a:cubicBezTo>
                  <a:pt x="1801724" y="923789"/>
                  <a:pt x="1800341" y="922856"/>
                  <a:pt x="1800341" y="921924"/>
                </a:cubicBezTo>
                <a:cubicBezTo>
                  <a:pt x="1797971" y="923789"/>
                  <a:pt x="1796588" y="926741"/>
                  <a:pt x="1792834" y="924877"/>
                </a:cubicBezTo>
                <a:cubicBezTo>
                  <a:pt x="1793526" y="922856"/>
                  <a:pt x="1795106" y="921109"/>
                  <a:pt x="1796835" y="920371"/>
                </a:cubicBezTo>
                <a:close/>
                <a:moveTo>
                  <a:pt x="1965011" y="919042"/>
                </a:moveTo>
                <a:cubicBezTo>
                  <a:pt x="1967930" y="917952"/>
                  <a:pt x="1971513" y="918411"/>
                  <a:pt x="1973459" y="920324"/>
                </a:cubicBezTo>
                <a:cubicBezTo>
                  <a:pt x="1970797" y="924303"/>
                  <a:pt x="1968339" y="928130"/>
                  <a:pt x="1960558" y="927059"/>
                </a:cubicBezTo>
                <a:cubicBezTo>
                  <a:pt x="1959841" y="922773"/>
                  <a:pt x="1962094" y="920133"/>
                  <a:pt x="1965011" y="919042"/>
                </a:cubicBezTo>
                <a:close/>
                <a:moveTo>
                  <a:pt x="2076649" y="918649"/>
                </a:moveTo>
                <a:lnTo>
                  <a:pt x="2076420" y="918892"/>
                </a:lnTo>
                <a:lnTo>
                  <a:pt x="2071496" y="919592"/>
                </a:lnTo>
                <a:cubicBezTo>
                  <a:pt x="2076649" y="918649"/>
                  <a:pt x="2076649" y="918649"/>
                  <a:pt x="2076649" y="918649"/>
                </a:cubicBezTo>
                <a:close/>
                <a:moveTo>
                  <a:pt x="2583755" y="917765"/>
                </a:moveTo>
                <a:lnTo>
                  <a:pt x="2582152" y="918545"/>
                </a:lnTo>
                <a:lnTo>
                  <a:pt x="2562596" y="927514"/>
                </a:lnTo>
                <a:lnTo>
                  <a:pt x="2565809" y="927449"/>
                </a:lnTo>
                <a:cubicBezTo>
                  <a:pt x="2570762" y="926159"/>
                  <a:pt x="2575282" y="923876"/>
                  <a:pt x="2579430" y="921154"/>
                </a:cubicBezTo>
                <a:close/>
                <a:moveTo>
                  <a:pt x="3545762" y="916775"/>
                </a:moveTo>
                <a:cubicBezTo>
                  <a:pt x="3551620" y="917707"/>
                  <a:pt x="3557593" y="923575"/>
                  <a:pt x="3555755" y="928818"/>
                </a:cubicBezTo>
                <a:cubicBezTo>
                  <a:pt x="3546770" y="927705"/>
                  <a:pt x="3546770" y="927705"/>
                  <a:pt x="3546770" y="927705"/>
                </a:cubicBezTo>
                <a:cubicBezTo>
                  <a:pt x="3551875" y="920715"/>
                  <a:pt x="3544116" y="920715"/>
                  <a:pt x="3540236" y="917697"/>
                </a:cubicBezTo>
                <a:cubicBezTo>
                  <a:pt x="3541869" y="916703"/>
                  <a:pt x="3543809" y="916465"/>
                  <a:pt x="3545762" y="916775"/>
                </a:cubicBezTo>
                <a:close/>
                <a:moveTo>
                  <a:pt x="2561263" y="915342"/>
                </a:moveTo>
                <a:cubicBezTo>
                  <a:pt x="2559949" y="915322"/>
                  <a:pt x="2558971" y="915794"/>
                  <a:pt x="2559588" y="917759"/>
                </a:cubicBezTo>
                <a:cubicBezTo>
                  <a:pt x="2564946" y="920746"/>
                  <a:pt x="2566183" y="919803"/>
                  <a:pt x="2564946" y="915873"/>
                </a:cubicBezTo>
                <a:cubicBezTo>
                  <a:pt x="2564225" y="915873"/>
                  <a:pt x="2562576" y="915362"/>
                  <a:pt x="2561263" y="915342"/>
                </a:cubicBezTo>
                <a:close/>
                <a:moveTo>
                  <a:pt x="2006563" y="914886"/>
                </a:moveTo>
                <a:lnTo>
                  <a:pt x="2007143" y="918164"/>
                </a:lnTo>
                <a:lnTo>
                  <a:pt x="2009829" y="917882"/>
                </a:lnTo>
                <a:lnTo>
                  <a:pt x="2009449" y="916693"/>
                </a:lnTo>
                <a:cubicBezTo>
                  <a:pt x="2009140" y="915436"/>
                  <a:pt x="2008521" y="914414"/>
                  <a:pt x="2006563" y="914886"/>
                </a:cubicBezTo>
                <a:close/>
                <a:moveTo>
                  <a:pt x="3530032" y="913032"/>
                </a:moveTo>
                <a:cubicBezTo>
                  <a:pt x="3530032" y="930907"/>
                  <a:pt x="3526080" y="944987"/>
                  <a:pt x="3519632" y="960015"/>
                </a:cubicBezTo>
                <a:cubicBezTo>
                  <a:pt x="3512975" y="944037"/>
                  <a:pt x="3526080" y="927901"/>
                  <a:pt x="3530032" y="913032"/>
                </a:cubicBezTo>
                <a:close/>
                <a:moveTo>
                  <a:pt x="1983070" y="913000"/>
                </a:moveTo>
                <a:cubicBezTo>
                  <a:pt x="1981112" y="914493"/>
                  <a:pt x="1981421" y="915476"/>
                  <a:pt x="1981911" y="916203"/>
                </a:cubicBezTo>
                <a:lnTo>
                  <a:pt x="1981843" y="917642"/>
                </a:lnTo>
                <a:lnTo>
                  <a:pt x="1982064" y="919746"/>
                </a:lnTo>
                <a:cubicBezTo>
                  <a:pt x="1980683" y="924102"/>
                  <a:pt x="1975968" y="928789"/>
                  <a:pt x="1986788" y="929497"/>
                </a:cubicBezTo>
                <a:lnTo>
                  <a:pt x="1993630" y="914826"/>
                </a:lnTo>
                <a:lnTo>
                  <a:pt x="1993374" y="913942"/>
                </a:lnTo>
                <a:cubicBezTo>
                  <a:pt x="1988222" y="915987"/>
                  <a:pt x="1986985" y="913000"/>
                  <a:pt x="1983070" y="913000"/>
                </a:cubicBezTo>
                <a:close/>
                <a:moveTo>
                  <a:pt x="1874413" y="911645"/>
                </a:moveTo>
                <a:cubicBezTo>
                  <a:pt x="1871765" y="916764"/>
                  <a:pt x="1869118" y="921884"/>
                  <a:pt x="1862804" y="920764"/>
                </a:cubicBezTo>
                <a:cubicBezTo>
                  <a:pt x="1866674" y="916764"/>
                  <a:pt x="1869118" y="912764"/>
                  <a:pt x="1874413" y="911645"/>
                </a:cubicBezTo>
                <a:close/>
                <a:moveTo>
                  <a:pt x="3390652" y="910952"/>
                </a:moveTo>
                <a:cubicBezTo>
                  <a:pt x="3395894" y="911889"/>
                  <a:pt x="3390652" y="917826"/>
                  <a:pt x="3397363" y="917826"/>
                </a:cubicBezTo>
                <a:cubicBezTo>
                  <a:pt x="3395894" y="921887"/>
                  <a:pt x="3390652" y="921887"/>
                  <a:pt x="3383942" y="920794"/>
                </a:cubicBezTo>
                <a:cubicBezTo>
                  <a:pt x="3383942" y="915951"/>
                  <a:pt x="3386668" y="913920"/>
                  <a:pt x="3390652" y="910952"/>
                </a:cubicBezTo>
                <a:close/>
                <a:moveTo>
                  <a:pt x="1913406" y="909020"/>
                </a:moveTo>
                <a:lnTo>
                  <a:pt x="1920750" y="910769"/>
                </a:lnTo>
                <a:cubicBezTo>
                  <a:pt x="1918024" y="912824"/>
                  <a:pt x="1915298" y="917726"/>
                  <a:pt x="1912781" y="913773"/>
                </a:cubicBezTo>
                <a:lnTo>
                  <a:pt x="1912781" y="909223"/>
                </a:lnTo>
                <a:close/>
                <a:moveTo>
                  <a:pt x="2931518" y="908992"/>
                </a:moveTo>
                <a:lnTo>
                  <a:pt x="2931057" y="911551"/>
                </a:lnTo>
                <a:cubicBezTo>
                  <a:pt x="2930635" y="912502"/>
                  <a:pt x="2929837" y="913317"/>
                  <a:pt x="2928240" y="913828"/>
                </a:cubicBezTo>
                <a:cubicBezTo>
                  <a:pt x="2931434" y="915322"/>
                  <a:pt x="2934009" y="914103"/>
                  <a:pt x="2935478" y="911883"/>
                </a:cubicBezTo>
                <a:lnTo>
                  <a:pt x="2935668" y="909340"/>
                </a:lnTo>
                <a:lnTo>
                  <a:pt x="2935440" y="909321"/>
                </a:lnTo>
                <a:close/>
                <a:moveTo>
                  <a:pt x="1848550" y="906682"/>
                </a:moveTo>
                <a:lnTo>
                  <a:pt x="1847332" y="906863"/>
                </a:lnTo>
                <a:lnTo>
                  <a:pt x="1848636" y="911126"/>
                </a:lnTo>
                <a:lnTo>
                  <a:pt x="1848727" y="908755"/>
                </a:lnTo>
                <a:cubicBezTo>
                  <a:pt x="1848817" y="907891"/>
                  <a:pt x="1848863" y="907085"/>
                  <a:pt x="1848550" y="906682"/>
                </a:cubicBezTo>
                <a:close/>
                <a:moveTo>
                  <a:pt x="2079205" y="905855"/>
                </a:moveTo>
                <a:lnTo>
                  <a:pt x="2077792" y="906069"/>
                </a:lnTo>
                <a:lnTo>
                  <a:pt x="2081532" y="906842"/>
                </a:lnTo>
                <a:lnTo>
                  <a:pt x="2081583" y="906775"/>
                </a:lnTo>
                <a:close/>
                <a:moveTo>
                  <a:pt x="2011715" y="904982"/>
                </a:moveTo>
                <a:lnTo>
                  <a:pt x="2012123" y="905035"/>
                </a:lnTo>
                <a:lnTo>
                  <a:pt x="2011938" y="905194"/>
                </a:lnTo>
                <a:close/>
                <a:moveTo>
                  <a:pt x="2936070" y="903923"/>
                </a:moveTo>
                <a:cubicBezTo>
                  <a:pt x="2934113" y="904159"/>
                  <a:pt x="2933043" y="904768"/>
                  <a:pt x="2932442" y="905582"/>
                </a:cubicBezTo>
                <a:lnTo>
                  <a:pt x="2931851" y="907635"/>
                </a:lnTo>
                <a:lnTo>
                  <a:pt x="2934747" y="906099"/>
                </a:lnTo>
                <a:lnTo>
                  <a:pt x="2935968" y="905301"/>
                </a:lnTo>
                <a:close/>
                <a:moveTo>
                  <a:pt x="2017087" y="903841"/>
                </a:moveTo>
                <a:lnTo>
                  <a:pt x="2028615" y="907027"/>
                </a:lnTo>
                <a:cubicBezTo>
                  <a:pt x="2024699" y="908048"/>
                  <a:pt x="2022432" y="907066"/>
                  <a:pt x="2020165" y="906064"/>
                </a:cubicBezTo>
                <a:lnTo>
                  <a:pt x="2015437" y="905459"/>
                </a:lnTo>
                <a:lnTo>
                  <a:pt x="2015437" y="908529"/>
                </a:lnTo>
                <a:lnTo>
                  <a:pt x="2015680" y="908760"/>
                </a:lnTo>
                <a:cubicBezTo>
                  <a:pt x="2020461" y="910691"/>
                  <a:pt x="2027068" y="908244"/>
                  <a:pt x="2029851" y="911900"/>
                </a:cubicBezTo>
                <a:cubicBezTo>
                  <a:pt x="2026142" y="913000"/>
                  <a:pt x="2026142" y="916929"/>
                  <a:pt x="2023462" y="917873"/>
                </a:cubicBezTo>
                <a:cubicBezTo>
                  <a:pt x="2020784" y="915987"/>
                  <a:pt x="2020784" y="911900"/>
                  <a:pt x="2016868" y="910956"/>
                </a:cubicBezTo>
                <a:lnTo>
                  <a:pt x="2012099" y="917643"/>
                </a:lnTo>
                <a:lnTo>
                  <a:pt x="2013943" y="917450"/>
                </a:lnTo>
                <a:cubicBezTo>
                  <a:pt x="2019971" y="916330"/>
                  <a:pt x="2025845" y="915583"/>
                  <a:pt x="2028421" y="923522"/>
                </a:cubicBezTo>
                <a:cubicBezTo>
                  <a:pt x="2025948" y="917548"/>
                  <a:pt x="2036253" y="915661"/>
                  <a:pt x="2038933" y="906699"/>
                </a:cubicBezTo>
                <a:lnTo>
                  <a:pt x="2032153" y="905278"/>
                </a:lnTo>
                <a:lnTo>
                  <a:pt x="2029851" y="904982"/>
                </a:lnTo>
                <a:lnTo>
                  <a:pt x="2030090" y="904850"/>
                </a:lnTo>
                <a:close/>
                <a:moveTo>
                  <a:pt x="1989664" y="901054"/>
                </a:moveTo>
                <a:cubicBezTo>
                  <a:pt x="1989664" y="904982"/>
                  <a:pt x="1992138" y="904040"/>
                  <a:pt x="1990901" y="909070"/>
                </a:cubicBezTo>
                <a:cubicBezTo>
                  <a:pt x="1992138" y="909070"/>
                  <a:pt x="1994816" y="910013"/>
                  <a:pt x="1994816" y="907969"/>
                </a:cubicBezTo>
                <a:cubicBezTo>
                  <a:pt x="1993374" y="906083"/>
                  <a:pt x="1993374" y="901054"/>
                  <a:pt x="1989664" y="901054"/>
                </a:cubicBezTo>
                <a:close/>
                <a:moveTo>
                  <a:pt x="2000920" y="900932"/>
                </a:moveTo>
                <a:lnTo>
                  <a:pt x="2001129" y="902441"/>
                </a:lnTo>
                <a:lnTo>
                  <a:pt x="2001282" y="901564"/>
                </a:lnTo>
                <a:close/>
                <a:moveTo>
                  <a:pt x="1974001" y="900110"/>
                </a:moveTo>
                <a:cubicBezTo>
                  <a:pt x="1977917" y="906083"/>
                  <a:pt x="1974001" y="910956"/>
                  <a:pt x="1972559" y="914886"/>
                </a:cubicBezTo>
                <a:lnTo>
                  <a:pt x="1966053" y="912338"/>
                </a:lnTo>
                <a:lnTo>
                  <a:pt x="1965813" y="912479"/>
                </a:lnTo>
                <a:lnTo>
                  <a:pt x="1963035" y="911816"/>
                </a:lnTo>
                <a:lnTo>
                  <a:pt x="1961662" y="911769"/>
                </a:lnTo>
                <a:cubicBezTo>
                  <a:pt x="1960413" y="912056"/>
                  <a:pt x="1958906" y="912725"/>
                  <a:pt x="1956897" y="913942"/>
                </a:cubicBezTo>
                <a:cubicBezTo>
                  <a:pt x="1958958" y="911978"/>
                  <a:pt x="1959318" y="910760"/>
                  <a:pt x="1959164" y="909522"/>
                </a:cubicBezTo>
                <a:lnTo>
                  <a:pt x="1958374" y="905175"/>
                </a:lnTo>
                <a:lnTo>
                  <a:pt x="1958453" y="905068"/>
                </a:lnTo>
                <a:lnTo>
                  <a:pt x="1961946" y="907655"/>
                </a:lnTo>
                <a:lnTo>
                  <a:pt x="1963087" y="907721"/>
                </a:lnTo>
                <a:lnTo>
                  <a:pt x="1964873" y="904727"/>
                </a:lnTo>
                <a:lnTo>
                  <a:pt x="1963552" y="903038"/>
                </a:lnTo>
                <a:cubicBezTo>
                  <a:pt x="1962055" y="902586"/>
                  <a:pt x="1960439" y="903175"/>
                  <a:pt x="1958983" y="904355"/>
                </a:cubicBezTo>
                <a:lnTo>
                  <a:pt x="1958453" y="905068"/>
                </a:lnTo>
                <a:lnTo>
                  <a:pt x="1958339" y="904982"/>
                </a:lnTo>
                <a:lnTo>
                  <a:pt x="1958374" y="905175"/>
                </a:lnTo>
                <a:lnTo>
                  <a:pt x="1955379" y="909207"/>
                </a:lnTo>
                <a:cubicBezTo>
                  <a:pt x="1954527" y="911113"/>
                  <a:pt x="1954115" y="913156"/>
                  <a:pt x="1954424" y="914886"/>
                </a:cubicBezTo>
                <a:cubicBezTo>
                  <a:pt x="1949272" y="914886"/>
                  <a:pt x="1950508" y="909070"/>
                  <a:pt x="1943914" y="910956"/>
                </a:cubicBezTo>
                <a:cubicBezTo>
                  <a:pt x="1942676" y="913942"/>
                  <a:pt x="1945356" y="920859"/>
                  <a:pt x="1941440" y="920859"/>
                </a:cubicBezTo>
                <a:cubicBezTo>
                  <a:pt x="1941440" y="914886"/>
                  <a:pt x="1942676" y="910013"/>
                  <a:pt x="1945356" y="904982"/>
                </a:cubicBezTo>
                <a:cubicBezTo>
                  <a:pt x="1937525" y="903096"/>
                  <a:pt x="1937525" y="910956"/>
                  <a:pt x="1932372" y="910956"/>
                </a:cubicBezTo>
                <a:cubicBezTo>
                  <a:pt x="1933609" y="909070"/>
                  <a:pt x="1934845" y="907027"/>
                  <a:pt x="1930930" y="907027"/>
                </a:cubicBezTo>
                <a:cubicBezTo>
                  <a:pt x="1927014" y="907027"/>
                  <a:pt x="1934845" y="911900"/>
                  <a:pt x="1929694" y="913000"/>
                </a:cubicBezTo>
                <a:cubicBezTo>
                  <a:pt x="1925778" y="911507"/>
                  <a:pt x="1921862" y="908756"/>
                  <a:pt x="1918101" y="907498"/>
                </a:cubicBezTo>
                <a:lnTo>
                  <a:pt x="1913406" y="909020"/>
                </a:lnTo>
                <a:lnTo>
                  <a:pt x="1912781" y="908872"/>
                </a:lnTo>
                <a:lnTo>
                  <a:pt x="1912781" y="909223"/>
                </a:lnTo>
                <a:lnTo>
                  <a:pt x="1907436" y="910956"/>
                </a:lnTo>
                <a:cubicBezTo>
                  <a:pt x="1907436" y="906083"/>
                  <a:pt x="1904963" y="904982"/>
                  <a:pt x="1898368" y="906083"/>
                </a:cubicBezTo>
                <a:cubicBezTo>
                  <a:pt x="1899605" y="910956"/>
                  <a:pt x="1898368" y="911900"/>
                  <a:pt x="1894453" y="913942"/>
                </a:cubicBezTo>
                <a:cubicBezTo>
                  <a:pt x="1888064" y="907969"/>
                  <a:pt x="1856738" y="909070"/>
                  <a:pt x="1850144" y="911900"/>
                </a:cubicBezTo>
                <a:lnTo>
                  <a:pt x="1848657" y="911193"/>
                </a:lnTo>
                <a:lnTo>
                  <a:pt x="1849875" y="915174"/>
                </a:lnTo>
                <a:cubicBezTo>
                  <a:pt x="1848632" y="918183"/>
                  <a:pt x="1844694" y="918183"/>
                  <a:pt x="1843450" y="921192"/>
                </a:cubicBezTo>
                <a:cubicBezTo>
                  <a:pt x="1843450" y="920242"/>
                  <a:pt x="1843450" y="917985"/>
                  <a:pt x="1842130" y="915966"/>
                </a:cubicBezTo>
                <a:lnTo>
                  <a:pt x="1833417" y="912385"/>
                </a:lnTo>
                <a:lnTo>
                  <a:pt x="1832653" y="912705"/>
                </a:lnTo>
                <a:lnTo>
                  <a:pt x="1832128" y="912789"/>
                </a:lnTo>
                <a:lnTo>
                  <a:pt x="1830394" y="914224"/>
                </a:lnTo>
                <a:lnTo>
                  <a:pt x="1830189" y="913098"/>
                </a:lnTo>
                <a:lnTo>
                  <a:pt x="1826551" y="913680"/>
                </a:lnTo>
                <a:cubicBezTo>
                  <a:pt x="1824847" y="913491"/>
                  <a:pt x="1823559" y="912685"/>
                  <a:pt x="1822941" y="910956"/>
                </a:cubicBezTo>
                <a:cubicBezTo>
                  <a:pt x="1826857" y="910956"/>
                  <a:pt x="1829330" y="911900"/>
                  <a:pt x="1830773" y="907969"/>
                </a:cubicBezTo>
                <a:cubicBezTo>
                  <a:pt x="1825414" y="906083"/>
                  <a:pt x="1821499" y="909070"/>
                  <a:pt x="1817582" y="909070"/>
                </a:cubicBezTo>
                <a:cubicBezTo>
                  <a:pt x="1817582" y="914886"/>
                  <a:pt x="1811194" y="920859"/>
                  <a:pt x="1809752" y="914886"/>
                </a:cubicBezTo>
                <a:cubicBezTo>
                  <a:pt x="1812430" y="914886"/>
                  <a:pt x="1815110" y="915987"/>
                  <a:pt x="1815110" y="911900"/>
                </a:cubicBezTo>
                <a:cubicBezTo>
                  <a:pt x="1815110" y="911900"/>
                  <a:pt x="1815110" y="911900"/>
                  <a:pt x="1815110" y="909070"/>
                </a:cubicBezTo>
                <a:cubicBezTo>
                  <a:pt x="1805835" y="904982"/>
                  <a:pt x="1792853" y="914886"/>
                  <a:pt x="1777396" y="910956"/>
                </a:cubicBezTo>
                <a:cubicBezTo>
                  <a:pt x="1777396" y="916929"/>
                  <a:pt x="1786463" y="914886"/>
                  <a:pt x="1785021" y="922902"/>
                </a:cubicBezTo>
                <a:cubicBezTo>
                  <a:pt x="1773480" y="920388"/>
                  <a:pt x="1764104" y="919405"/>
                  <a:pt x="1754521" y="920034"/>
                </a:cubicBezTo>
                <a:lnTo>
                  <a:pt x="1722864" y="926815"/>
                </a:lnTo>
                <a:lnTo>
                  <a:pt x="1722872" y="926847"/>
                </a:lnTo>
                <a:lnTo>
                  <a:pt x="1734350" y="928699"/>
                </a:lnTo>
                <a:cubicBezTo>
                  <a:pt x="1737467" y="929584"/>
                  <a:pt x="1739786" y="930841"/>
                  <a:pt x="1741125" y="932806"/>
                </a:cubicBezTo>
                <a:cubicBezTo>
                  <a:pt x="1735870" y="932806"/>
                  <a:pt x="1731955" y="931823"/>
                  <a:pt x="1728193" y="930703"/>
                </a:cubicBezTo>
                <a:lnTo>
                  <a:pt x="1723536" y="929568"/>
                </a:lnTo>
                <a:lnTo>
                  <a:pt x="1725036" y="935712"/>
                </a:lnTo>
                <a:lnTo>
                  <a:pt x="1726466" y="935683"/>
                </a:lnTo>
                <a:lnTo>
                  <a:pt x="1725153" y="936191"/>
                </a:lnTo>
                <a:lnTo>
                  <a:pt x="1725246" y="936572"/>
                </a:lnTo>
                <a:lnTo>
                  <a:pt x="1722193" y="939775"/>
                </a:lnTo>
                <a:lnTo>
                  <a:pt x="1726803" y="940098"/>
                </a:lnTo>
                <a:cubicBezTo>
                  <a:pt x="1731295" y="939102"/>
                  <a:pt x="1730020" y="934504"/>
                  <a:pt x="1736975" y="933796"/>
                </a:cubicBezTo>
                <a:cubicBezTo>
                  <a:pt x="1736975" y="933796"/>
                  <a:pt x="1736975" y="933796"/>
                  <a:pt x="1744805" y="938670"/>
                </a:cubicBezTo>
                <a:lnTo>
                  <a:pt x="1749946" y="938268"/>
                </a:lnTo>
                <a:lnTo>
                  <a:pt x="1750431" y="937934"/>
                </a:lnTo>
                <a:cubicBezTo>
                  <a:pt x="1751631" y="937456"/>
                  <a:pt x="1752633" y="937425"/>
                  <a:pt x="1753442" y="937732"/>
                </a:cubicBezTo>
                <a:lnTo>
                  <a:pt x="1753547" y="937985"/>
                </a:lnTo>
                <a:lnTo>
                  <a:pt x="1807037" y="933796"/>
                </a:lnTo>
                <a:lnTo>
                  <a:pt x="1856310" y="930437"/>
                </a:lnTo>
                <a:lnTo>
                  <a:pt x="1855123" y="927604"/>
                </a:lnTo>
                <a:cubicBezTo>
                  <a:pt x="1854647" y="926344"/>
                  <a:pt x="1853994" y="925857"/>
                  <a:pt x="1852690" y="928944"/>
                </a:cubicBezTo>
                <a:cubicBezTo>
                  <a:pt x="1850082" y="927807"/>
                  <a:pt x="1853894" y="926831"/>
                  <a:pt x="1853894" y="923745"/>
                </a:cubicBezTo>
                <a:cubicBezTo>
                  <a:pt x="1856503" y="924882"/>
                  <a:pt x="1859110" y="922770"/>
                  <a:pt x="1856503" y="921795"/>
                </a:cubicBezTo>
                <a:cubicBezTo>
                  <a:pt x="1860314" y="921226"/>
                  <a:pt x="1862520" y="922241"/>
                  <a:pt x="1862671" y="924029"/>
                </a:cubicBezTo>
                <a:lnTo>
                  <a:pt x="1856952" y="930393"/>
                </a:lnTo>
                <a:lnTo>
                  <a:pt x="1867003" y="929708"/>
                </a:lnTo>
                <a:cubicBezTo>
                  <a:pt x="1865560" y="931752"/>
                  <a:pt x="1864324" y="934739"/>
                  <a:pt x="1868239" y="933796"/>
                </a:cubicBezTo>
                <a:cubicBezTo>
                  <a:pt x="1868239" y="933796"/>
                  <a:pt x="1868239" y="933796"/>
                  <a:pt x="1877306" y="929708"/>
                </a:cubicBezTo>
                <a:lnTo>
                  <a:pt x="1907872" y="931792"/>
                </a:lnTo>
                <a:lnTo>
                  <a:pt x="1909150" y="929482"/>
                </a:lnTo>
                <a:cubicBezTo>
                  <a:pt x="1908650" y="928662"/>
                  <a:pt x="1906924" y="927964"/>
                  <a:pt x="1903318" y="927453"/>
                </a:cubicBezTo>
                <a:cubicBezTo>
                  <a:pt x="1907955" y="925016"/>
                  <a:pt x="1913828" y="925763"/>
                  <a:pt x="1918389" y="928494"/>
                </a:cubicBezTo>
                <a:lnTo>
                  <a:pt x="1920704" y="932667"/>
                </a:lnTo>
                <a:lnTo>
                  <a:pt x="1937271" y="933796"/>
                </a:lnTo>
                <a:cubicBezTo>
                  <a:pt x="1937271" y="933796"/>
                  <a:pt x="1937271" y="933796"/>
                  <a:pt x="1950485" y="934194"/>
                </a:cubicBezTo>
                <a:lnTo>
                  <a:pt x="1961011" y="934511"/>
                </a:lnTo>
                <a:lnTo>
                  <a:pt x="1960820" y="932484"/>
                </a:lnTo>
                <a:cubicBezTo>
                  <a:pt x="1962778" y="932248"/>
                  <a:pt x="1963911" y="932690"/>
                  <a:pt x="1964594" y="933519"/>
                </a:cubicBezTo>
                <a:lnTo>
                  <a:pt x="1964949" y="934630"/>
                </a:lnTo>
                <a:lnTo>
                  <a:pt x="1968592" y="934739"/>
                </a:lnTo>
                <a:cubicBezTo>
                  <a:pt x="1968592" y="934739"/>
                  <a:pt x="1968592" y="934739"/>
                  <a:pt x="1970859" y="934739"/>
                </a:cubicBezTo>
                <a:lnTo>
                  <a:pt x="1975448" y="934739"/>
                </a:lnTo>
                <a:lnTo>
                  <a:pt x="1971805" y="933675"/>
                </a:lnTo>
                <a:cubicBezTo>
                  <a:pt x="1970622" y="932602"/>
                  <a:pt x="1969889" y="930715"/>
                  <a:pt x="1969889" y="927453"/>
                </a:cubicBezTo>
                <a:cubicBezTo>
                  <a:pt x="1980193" y="932484"/>
                  <a:pt x="1977720" y="921636"/>
                  <a:pt x="1976278" y="918649"/>
                </a:cubicBezTo>
                <a:cubicBezTo>
                  <a:pt x="1976278" y="915661"/>
                  <a:pt x="1978957" y="916605"/>
                  <a:pt x="1978957" y="918649"/>
                </a:cubicBezTo>
                <a:lnTo>
                  <a:pt x="1980940" y="916437"/>
                </a:lnTo>
                <a:lnTo>
                  <a:pt x="1978948" y="913235"/>
                </a:lnTo>
                <a:cubicBezTo>
                  <a:pt x="1978124" y="911506"/>
                  <a:pt x="1977814" y="910013"/>
                  <a:pt x="1979154" y="910013"/>
                </a:cubicBezTo>
                <a:cubicBezTo>
                  <a:pt x="1983070" y="910013"/>
                  <a:pt x="1986985" y="910013"/>
                  <a:pt x="1988222" y="906083"/>
                </a:cubicBezTo>
                <a:cubicBezTo>
                  <a:pt x="1984306" y="903096"/>
                  <a:pt x="1977917" y="901996"/>
                  <a:pt x="1974001" y="900110"/>
                </a:cubicBezTo>
                <a:close/>
                <a:moveTo>
                  <a:pt x="2899596" y="898892"/>
                </a:moveTo>
                <a:cubicBezTo>
                  <a:pt x="2895681" y="900936"/>
                  <a:pt x="2893002" y="904867"/>
                  <a:pt x="2895681" y="909898"/>
                </a:cubicBezTo>
                <a:cubicBezTo>
                  <a:pt x="2896917" y="907854"/>
                  <a:pt x="2898154" y="906910"/>
                  <a:pt x="2898154" y="904867"/>
                </a:cubicBezTo>
                <a:cubicBezTo>
                  <a:pt x="2899596" y="903923"/>
                  <a:pt x="2899596" y="904867"/>
                  <a:pt x="2900833" y="905967"/>
                </a:cubicBezTo>
                <a:cubicBezTo>
                  <a:pt x="2903512" y="904867"/>
                  <a:pt x="2900833" y="901879"/>
                  <a:pt x="2899596" y="898892"/>
                </a:cubicBezTo>
                <a:close/>
                <a:moveTo>
                  <a:pt x="2014891" y="897364"/>
                </a:moveTo>
                <a:lnTo>
                  <a:pt x="2005121" y="901996"/>
                </a:lnTo>
                <a:cubicBezTo>
                  <a:pt x="2007800" y="901996"/>
                  <a:pt x="2007800" y="903096"/>
                  <a:pt x="2009037" y="904982"/>
                </a:cubicBezTo>
                <a:cubicBezTo>
                  <a:pt x="2003884" y="904511"/>
                  <a:pt x="2002287" y="907262"/>
                  <a:pt x="2000818" y="910741"/>
                </a:cubicBezTo>
                <a:lnTo>
                  <a:pt x="1998645" y="913695"/>
                </a:lnTo>
                <a:lnTo>
                  <a:pt x="2002386" y="916373"/>
                </a:lnTo>
                <a:lnTo>
                  <a:pt x="2006770" y="909605"/>
                </a:lnTo>
                <a:lnTo>
                  <a:pt x="2011938" y="905194"/>
                </a:lnTo>
                <a:lnTo>
                  <a:pt x="2014286" y="907432"/>
                </a:lnTo>
                <a:lnTo>
                  <a:pt x="2013205" y="906201"/>
                </a:lnTo>
                <a:lnTo>
                  <a:pt x="2013500" y="905211"/>
                </a:lnTo>
                <a:lnTo>
                  <a:pt x="2012123" y="905035"/>
                </a:lnTo>
                <a:lnTo>
                  <a:pt x="2014039" y="903400"/>
                </a:lnTo>
                <a:lnTo>
                  <a:pt x="2014432" y="902081"/>
                </a:lnTo>
                <a:close/>
                <a:moveTo>
                  <a:pt x="2594825" y="895905"/>
                </a:moveTo>
                <a:cubicBezTo>
                  <a:pt x="2589673" y="895905"/>
                  <a:pt x="2583080" y="897006"/>
                  <a:pt x="2583080" y="900936"/>
                </a:cubicBezTo>
                <a:cubicBezTo>
                  <a:pt x="2592147" y="904867"/>
                  <a:pt x="2584316" y="903923"/>
                  <a:pt x="2586995" y="908954"/>
                </a:cubicBezTo>
                <a:cubicBezTo>
                  <a:pt x="2588953" y="910173"/>
                  <a:pt x="2590254" y="910714"/>
                  <a:pt x="2591188" y="910839"/>
                </a:cubicBezTo>
                <a:lnTo>
                  <a:pt x="2593104" y="910254"/>
                </a:lnTo>
                <a:lnTo>
                  <a:pt x="2596627" y="907210"/>
                </a:lnTo>
                <a:lnTo>
                  <a:pt x="2592147" y="903923"/>
                </a:lnTo>
                <a:cubicBezTo>
                  <a:pt x="2593589" y="902980"/>
                  <a:pt x="2597504" y="903923"/>
                  <a:pt x="2598740" y="904867"/>
                </a:cubicBezTo>
                <a:cubicBezTo>
                  <a:pt x="2594825" y="897949"/>
                  <a:pt x="2597504" y="899993"/>
                  <a:pt x="2594825" y="895905"/>
                </a:cubicBezTo>
                <a:close/>
                <a:moveTo>
                  <a:pt x="2063844" y="895725"/>
                </a:moveTo>
                <a:lnTo>
                  <a:pt x="2061263" y="897059"/>
                </a:lnTo>
                <a:lnTo>
                  <a:pt x="2059285" y="900981"/>
                </a:lnTo>
                <a:cubicBezTo>
                  <a:pt x="2058770" y="903713"/>
                  <a:pt x="2058409" y="906700"/>
                  <a:pt x="2057069" y="908744"/>
                </a:cubicBezTo>
                <a:lnTo>
                  <a:pt x="2058768" y="908473"/>
                </a:lnTo>
                <a:lnTo>
                  <a:pt x="2063495" y="904197"/>
                </a:lnTo>
                <a:lnTo>
                  <a:pt x="2064857" y="896421"/>
                </a:lnTo>
                <a:close/>
                <a:moveTo>
                  <a:pt x="2018658" y="895578"/>
                </a:moveTo>
                <a:lnTo>
                  <a:pt x="2016316" y="896689"/>
                </a:lnTo>
                <a:lnTo>
                  <a:pt x="2018251" y="898812"/>
                </a:lnTo>
                <a:cubicBezTo>
                  <a:pt x="2023295" y="901236"/>
                  <a:pt x="2033265" y="892982"/>
                  <a:pt x="2032337" y="902769"/>
                </a:cubicBezTo>
                <a:lnTo>
                  <a:pt x="2035224" y="901982"/>
                </a:lnTo>
                <a:lnTo>
                  <a:pt x="2037118" y="900923"/>
                </a:lnTo>
                <a:lnTo>
                  <a:pt x="2039233" y="900888"/>
                </a:lnTo>
                <a:lnTo>
                  <a:pt x="2042565" y="899978"/>
                </a:lnTo>
                <a:lnTo>
                  <a:pt x="2044700" y="897123"/>
                </a:lnTo>
                <a:lnTo>
                  <a:pt x="2032736" y="896043"/>
                </a:lnTo>
                <a:cubicBezTo>
                  <a:pt x="2028099" y="895424"/>
                  <a:pt x="2023333" y="894928"/>
                  <a:pt x="2018658" y="895578"/>
                </a:cubicBezTo>
                <a:close/>
                <a:moveTo>
                  <a:pt x="3388803" y="895006"/>
                </a:moveTo>
                <a:cubicBezTo>
                  <a:pt x="3395251" y="895006"/>
                  <a:pt x="3396707" y="898978"/>
                  <a:pt x="3401908" y="900090"/>
                </a:cubicBezTo>
                <a:cubicBezTo>
                  <a:pt x="3400660" y="905015"/>
                  <a:pt x="3395251" y="906127"/>
                  <a:pt x="3392755" y="910099"/>
                </a:cubicBezTo>
                <a:cubicBezTo>
                  <a:pt x="3384850" y="907081"/>
                  <a:pt x="3390050" y="906127"/>
                  <a:pt x="3392755" y="901043"/>
                </a:cubicBezTo>
                <a:cubicBezTo>
                  <a:pt x="3391299" y="898978"/>
                  <a:pt x="3386098" y="898978"/>
                  <a:pt x="3388803" y="895006"/>
                </a:cubicBezTo>
                <a:close/>
                <a:moveTo>
                  <a:pt x="2211000" y="892094"/>
                </a:moveTo>
                <a:cubicBezTo>
                  <a:pt x="2196574" y="896023"/>
                  <a:pt x="2183591" y="894137"/>
                  <a:pt x="2170608" y="901996"/>
                </a:cubicBezTo>
                <a:cubicBezTo>
                  <a:pt x="2170608" y="901996"/>
                  <a:pt x="2170608" y="901996"/>
                  <a:pt x="2170608" y="897123"/>
                </a:cubicBezTo>
                <a:cubicBezTo>
                  <a:pt x="2160097" y="899009"/>
                  <a:pt x="2149793" y="900110"/>
                  <a:pt x="2140725" y="901054"/>
                </a:cubicBezTo>
                <a:cubicBezTo>
                  <a:pt x="2130215" y="901054"/>
                  <a:pt x="2119910" y="900110"/>
                  <a:pt x="2109400" y="897123"/>
                </a:cubicBezTo>
                <a:cubicBezTo>
                  <a:pt x="2108164" y="904040"/>
                  <a:pt x="2102805" y="899009"/>
                  <a:pt x="2100332" y="896023"/>
                </a:cubicBezTo>
                <a:cubicBezTo>
                  <a:pt x="2098890" y="900110"/>
                  <a:pt x="2092501" y="898067"/>
                  <a:pt x="2091059" y="901996"/>
                </a:cubicBezTo>
                <a:cubicBezTo>
                  <a:pt x="2092501" y="901996"/>
                  <a:pt x="2093738" y="901996"/>
                  <a:pt x="2094974" y="904040"/>
                </a:cubicBezTo>
                <a:cubicBezTo>
                  <a:pt x="2093738" y="905062"/>
                  <a:pt x="2092449" y="903804"/>
                  <a:pt x="2091316" y="902920"/>
                </a:cubicBezTo>
                <a:lnTo>
                  <a:pt x="2090884" y="902722"/>
                </a:lnTo>
                <a:lnTo>
                  <a:pt x="2091475" y="905714"/>
                </a:lnTo>
                <a:lnTo>
                  <a:pt x="2093738" y="907027"/>
                </a:lnTo>
                <a:lnTo>
                  <a:pt x="2091718" y="906946"/>
                </a:lnTo>
                <a:lnTo>
                  <a:pt x="2091944" y="908092"/>
                </a:lnTo>
                <a:cubicBezTo>
                  <a:pt x="2091475" y="909341"/>
                  <a:pt x="2090174" y="910333"/>
                  <a:pt x="2088196" y="912872"/>
                </a:cubicBezTo>
                <a:cubicBezTo>
                  <a:pt x="2086738" y="907794"/>
                  <a:pt x="2077575" y="909857"/>
                  <a:pt x="2073619" y="907794"/>
                </a:cubicBezTo>
                <a:lnTo>
                  <a:pt x="2075810" y="906369"/>
                </a:lnTo>
                <a:lnTo>
                  <a:pt x="2073412" y="906732"/>
                </a:lnTo>
                <a:cubicBezTo>
                  <a:pt x="2071545" y="907232"/>
                  <a:pt x="2069799" y="907798"/>
                  <a:pt x="2068354" y="907991"/>
                </a:cubicBezTo>
                <a:lnTo>
                  <a:pt x="2066057" y="907312"/>
                </a:lnTo>
                <a:lnTo>
                  <a:pt x="2064907" y="908812"/>
                </a:lnTo>
                <a:lnTo>
                  <a:pt x="2064474" y="913000"/>
                </a:lnTo>
                <a:lnTo>
                  <a:pt x="2064438" y="913338"/>
                </a:lnTo>
                <a:lnTo>
                  <a:pt x="2065081" y="916762"/>
                </a:lnTo>
                <a:lnTo>
                  <a:pt x="2067504" y="924249"/>
                </a:lnTo>
                <a:lnTo>
                  <a:pt x="2073070" y="922825"/>
                </a:lnTo>
                <a:lnTo>
                  <a:pt x="2073090" y="922446"/>
                </a:lnTo>
                <a:lnTo>
                  <a:pt x="2076420" y="918892"/>
                </a:lnTo>
                <a:lnTo>
                  <a:pt x="2094605" y="916310"/>
                </a:lnTo>
                <a:cubicBezTo>
                  <a:pt x="2103390" y="915307"/>
                  <a:pt x="2112511" y="914560"/>
                  <a:pt x="2119724" y="914560"/>
                </a:cubicBezTo>
                <a:lnTo>
                  <a:pt x="2121265" y="918296"/>
                </a:lnTo>
                <a:lnTo>
                  <a:pt x="2124668" y="917626"/>
                </a:lnTo>
                <a:lnTo>
                  <a:pt x="2122197" y="914560"/>
                </a:lnTo>
                <a:cubicBezTo>
                  <a:pt x="2122815" y="911652"/>
                  <a:pt x="2124104" y="912910"/>
                  <a:pt x="2125572" y="915013"/>
                </a:cubicBezTo>
                <a:lnTo>
                  <a:pt x="2127023" y="917162"/>
                </a:lnTo>
                <a:lnTo>
                  <a:pt x="2131934" y="916195"/>
                </a:lnTo>
                <a:cubicBezTo>
                  <a:pt x="2136887" y="914189"/>
                  <a:pt x="2141189" y="911035"/>
                  <a:pt x="2144435" y="906083"/>
                </a:cubicBezTo>
                <a:cubicBezTo>
                  <a:pt x="2148350" y="907969"/>
                  <a:pt x="2151030" y="904982"/>
                  <a:pt x="2152266" y="907027"/>
                </a:cubicBezTo>
                <a:cubicBezTo>
                  <a:pt x="2151030" y="910956"/>
                  <a:pt x="2141961" y="907027"/>
                  <a:pt x="2144435" y="913000"/>
                </a:cubicBezTo>
                <a:cubicBezTo>
                  <a:pt x="2153708" y="914886"/>
                  <a:pt x="2160097" y="907027"/>
                  <a:pt x="2167928" y="904040"/>
                </a:cubicBezTo>
                <a:cubicBezTo>
                  <a:pt x="2183591" y="900110"/>
                  <a:pt x="2203169" y="907027"/>
                  <a:pt x="2211000" y="892094"/>
                </a:cubicBezTo>
                <a:close/>
                <a:moveTo>
                  <a:pt x="2894239" y="891974"/>
                </a:moveTo>
                <a:cubicBezTo>
                  <a:pt x="2889087" y="891974"/>
                  <a:pt x="2891765" y="895905"/>
                  <a:pt x="2887851" y="897006"/>
                </a:cubicBezTo>
                <a:cubicBezTo>
                  <a:pt x="2891765" y="900936"/>
                  <a:pt x="2891765" y="897949"/>
                  <a:pt x="2896917" y="897006"/>
                </a:cubicBezTo>
                <a:close/>
                <a:moveTo>
                  <a:pt x="2630761" y="891447"/>
                </a:moveTo>
                <a:lnTo>
                  <a:pt x="2618317" y="898892"/>
                </a:lnTo>
                <a:lnTo>
                  <a:pt x="2618290" y="898914"/>
                </a:lnTo>
                <a:lnTo>
                  <a:pt x="2630127" y="891956"/>
                </a:lnTo>
                <a:close/>
                <a:moveTo>
                  <a:pt x="2961873" y="890846"/>
                </a:moveTo>
                <a:cubicBezTo>
                  <a:pt x="2965743" y="893946"/>
                  <a:pt x="2958004" y="899003"/>
                  <a:pt x="2954134" y="894925"/>
                </a:cubicBezTo>
                <a:cubicBezTo>
                  <a:pt x="2956782" y="894925"/>
                  <a:pt x="2955356" y="892804"/>
                  <a:pt x="2954134" y="891825"/>
                </a:cubicBezTo>
                <a:cubicBezTo>
                  <a:pt x="2954134" y="891825"/>
                  <a:pt x="2954134" y="891825"/>
                  <a:pt x="2961873" y="890846"/>
                </a:cubicBezTo>
                <a:close/>
                <a:moveTo>
                  <a:pt x="3501113" y="889271"/>
                </a:moveTo>
                <a:cubicBezTo>
                  <a:pt x="3502656" y="889100"/>
                  <a:pt x="3502393" y="892525"/>
                  <a:pt x="3501339" y="894790"/>
                </a:cubicBezTo>
                <a:cubicBezTo>
                  <a:pt x="3508963" y="895743"/>
                  <a:pt x="3507759" y="891771"/>
                  <a:pt x="3512775" y="895743"/>
                </a:cubicBezTo>
                <a:cubicBezTo>
                  <a:pt x="3508963" y="898761"/>
                  <a:pt x="3506555" y="901780"/>
                  <a:pt x="3500135" y="900827"/>
                </a:cubicBezTo>
                <a:cubicBezTo>
                  <a:pt x="3497528" y="895743"/>
                  <a:pt x="3501339" y="896855"/>
                  <a:pt x="3498932" y="890818"/>
                </a:cubicBezTo>
                <a:cubicBezTo>
                  <a:pt x="3499885" y="889785"/>
                  <a:pt x="3500600" y="889329"/>
                  <a:pt x="3501113" y="889271"/>
                </a:cubicBezTo>
                <a:close/>
                <a:moveTo>
                  <a:pt x="3264494" y="885849"/>
                </a:moveTo>
                <a:lnTo>
                  <a:pt x="3261006" y="887095"/>
                </a:lnTo>
                <a:lnTo>
                  <a:pt x="3260437" y="889302"/>
                </a:lnTo>
                <a:lnTo>
                  <a:pt x="3259237" y="887727"/>
                </a:lnTo>
                <a:lnTo>
                  <a:pt x="3249752" y="891115"/>
                </a:lnTo>
                <a:cubicBezTo>
                  <a:pt x="3233475" y="899525"/>
                  <a:pt x="3216220" y="906954"/>
                  <a:pt x="3198631" y="913910"/>
                </a:cubicBezTo>
                <a:lnTo>
                  <a:pt x="3197209" y="914444"/>
                </a:lnTo>
                <a:lnTo>
                  <a:pt x="3197773" y="914772"/>
                </a:lnTo>
                <a:lnTo>
                  <a:pt x="3196780" y="914606"/>
                </a:lnTo>
                <a:lnTo>
                  <a:pt x="3168685" y="925163"/>
                </a:lnTo>
                <a:lnTo>
                  <a:pt x="3167894" y="927664"/>
                </a:lnTo>
                <a:cubicBezTo>
                  <a:pt x="3173045" y="924834"/>
                  <a:pt x="3173045" y="928765"/>
                  <a:pt x="3175518" y="924834"/>
                </a:cubicBezTo>
                <a:cubicBezTo>
                  <a:pt x="3179433" y="936783"/>
                  <a:pt x="3167894" y="940714"/>
                  <a:pt x="3165215" y="954550"/>
                </a:cubicBezTo>
                <a:cubicBezTo>
                  <a:pt x="3150790" y="956593"/>
                  <a:pt x="3153469" y="973416"/>
                  <a:pt x="3133893" y="977504"/>
                </a:cubicBezTo>
                <a:cubicBezTo>
                  <a:pt x="3135233" y="979941"/>
                  <a:pt x="3133636" y="981396"/>
                  <a:pt x="3132194" y="982987"/>
                </a:cubicBezTo>
                <a:lnTo>
                  <a:pt x="3131285" y="984427"/>
                </a:lnTo>
                <a:lnTo>
                  <a:pt x="3131285" y="988732"/>
                </a:lnTo>
                <a:lnTo>
                  <a:pt x="3131421" y="989296"/>
                </a:lnTo>
                <a:cubicBezTo>
                  <a:pt x="3133893" y="988352"/>
                  <a:pt x="3137808" y="987409"/>
                  <a:pt x="3139045" y="989296"/>
                </a:cubicBezTo>
                <a:cubicBezTo>
                  <a:pt x="3135490" y="990043"/>
                  <a:pt x="3133146" y="991537"/>
                  <a:pt x="3131407" y="993465"/>
                </a:cubicBezTo>
                <a:lnTo>
                  <a:pt x="3131285" y="993674"/>
                </a:lnTo>
                <a:lnTo>
                  <a:pt x="3131285" y="1007292"/>
                </a:lnTo>
                <a:lnTo>
                  <a:pt x="3131840" y="1012516"/>
                </a:lnTo>
                <a:lnTo>
                  <a:pt x="3137310" y="1014063"/>
                </a:lnTo>
                <a:cubicBezTo>
                  <a:pt x="3142463" y="1011050"/>
                  <a:pt x="3150297" y="998996"/>
                  <a:pt x="3155656" y="1001058"/>
                </a:cubicBezTo>
                <a:cubicBezTo>
                  <a:pt x="3150297" y="1004071"/>
                  <a:pt x="3150297" y="1006133"/>
                  <a:pt x="3152976" y="1007085"/>
                </a:cubicBezTo>
                <a:lnTo>
                  <a:pt x="3149745" y="1009589"/>
                </a:lnTo>
                <a:lnTo>
                  <a:pt x="3153927" y="1011929"/>
                </a:lnTo>
                <a:cubicBezTo>
                  <a:pt x="3154766" y="1012669"/>
                  <a:pt x="3155002" y="1013347"/>
                  <a:pt x="3154836" y="1014090"/>
                </a:cubicBezTo>
                <a:lnTo>
                  <a:pt x="3151005" y="1019765"/>
                </a:lnTo>
                <a:lnTo>
                  <a:pt x="3152233" y="1019168"/>
                </a:lnTo>
                <a:cubicBezTo>
                  <a:pt x="3153469" y="1022156"/>
                  <a:pt x="3149554" y="1025143"/>
                  <a:pt x="3153469" y="1025143"/>
                </a:cubicBezTo>
                <a:cubicBezTo>
                  <a:pt x="3161300" y="1020112"/>
                  <a:pt x="3163978" y="1031118"/>
                  <a:pt x="3167894" y="1023099"/>
                </a:cubicBezTo>
                <a:cubicBezTo>
                  <a:pt x="3166452" y="1020112"/>
                  <a:pt x="3160063" y="1021213"/>
                  <a:pt x="3157385" y="1018225"/>
                </a:cubicBezTo>
                <a:cubicBezTo>
                  <a:pt x="3157385" y="1008163"/>
                  <a:pt x="3167894" y="1003289"/>
                  <a:pt x="3171809" y="995271"/>
                </a:cubicBezTo>
                <a:cubicBezTo>
                  <a:pt x="3165215" y="996371"/>
                  <a:pt x="3158621" y="1000302"/>
                  <a:pt x="3157385" y="995271"/>
                </a:cubicBezTo>
                <a:cubicBezTo>
                  <a:pt x="3160063" y="990397"/>
                  <a:pt x="3167894" y="987409"/>
                  <a:pt x="3169130" y="982378"/>
                </a:cubicBezTo>
                <a:cubicBezTo>
                  <a:pt x="3169130" y="986309"/>
                  <a:pt x="3175518" y="982378"/>
                  <a:pt x="3176961" y="985366"/>
                </a:cubicBezTo>
                <a:cubicBezTo>
                  <a:pt x="3169130" y="987409"/>
                  <a:pt x="3163978" y="991340"/>
                  <a:pt x="3161300" y="996371"/>
                </a:cubicBezTo>
                <a:cubicBezTo>
                  <a:pt x="3170366" y="991340"/>
                  <a:pt x="3167894" y="988352"/>
                  <a:pt x="3174281" y="994327"/>
                </a:cubicBezTo>
                <a:lnTo>
                  <a:pt x="3185620" y="982604"/>
                </a:lnTo>
                <a:lnTo>
                  <a:pt x="3181881" y="975347"/>
                </a:lnTo>
                <a:cubicBezTo>
                  <a:pt x="3181543" y="972369"/>
                  <a:pt x="3182532" y="969391"/>
                  <a:pt x="3185236" y="966413"/>
                </a:cubicBezTo>
                <a:cubicBezTo>
                  <a:pt x="3195636" y="969391"/>
                  <a:pt x="3178579" y="974406"/>
                  <a:pt x="3190436" y="975347"/>
                </a:cubicBezTo>
                <a:lnTo>
                  <a:pt x="3188579" y="979544"/>
                </a:lnTo>
                <a:lnTo>
                  <a:pt x="3196331" y="971530"/>
                </a:lnTo>
                <a:cubicBezTo>
                  <a:pt x="3197773" y="977504"/>
                  <a:pt x="3206840" y="978448"/>
                  <a:pt x="3211992" y="972473"/>
                </a:cubicBezTo>
                <a:cubicBezTo>
                  <a:pt x="3214670" y="978448"/>
                  <a:pt x="3201688" y="977504"/>
                  <a:pt x="3204161" y="982378"/>
                </a:cubicBezTo>
                <a:cubicBezTo>
                  <a:pt x="3211992" y="983322"/>
                  <a:pt x="3222501" y="977504"/>
                  <a:pt x="3219821" y="965555"/>
                </a:cubicBezTo>
                <a:cubicBezTo>
                  <a:pt x="3210755" y="966499"/>
                  <a:pt x="3211992" y="968542"/>
                  <a:pt x="3209519" y="963511"/>
                </a:cubicBezTo>
                <a:cubicBezTo>
                  <a:pt x="3201688" y="968542"/>
                  <a:pt x="3213434" y="971530"/>
                  <a:pt x="3201688" y="975461"/>
                </a:cubicBezTo>
                <a:cubicBezTo>
                  <a:pt x="3201688" y="971530"/>
                  <a:pt x="3205603" y="968542"/>
                  <a:pt x="3201688" y="963511"/>
                </a:cubicBezTo>
                <a:cubicBezTo>
                  <a:pt x="3214670" y="952662"/>
                  <a:pt x="3232805" y="938670"/>
                  <a:pt x="3229094" y="926720"/>
                </a:cubicBezTo>
                <a:cubicBezTo>
                  <a:pt x="3235483" y="922790"/>
                  <a:pt x="3236720" y="927664"/>
                  <a:pt x="3243314" y="923734"/>
                </a:cubicBezTo>
                <a:cubicBezTo>
                  <a:pt x="3243314" y="921847"/>
                  <a:pt x="3244550" y="920746"/>
                  <a:pt x="3244550" y="918859"/>
                </a:cubicBezTo>
                <a:cubicBezTo>
                  <a:pt x="3245992" y="914772"/>
                  <a:pt x="3235483" y="915873"/>
                  <a:pt x="3242077" y="911784"/>
                </a:cubicBezTo>
                <a:cubicBezTo>
                  <a:pt x="3250887" y="910369"/>
                  <a:pt x="3263289" y="897722"/>
                  <a:pt x="3265115" y="888105"/>
                </a:cubicBezTo>
                <a:close/>
                <a:moveTo>
                  <a:pt x="2253866" y="883133"/>
                </a:moveTo>
                <a:cubicBezTo>
                  <a:pt x="2242120" y="886120"/>
                  <a:pt x="2218831" y="885177"/>
                  <a:pt x="2212236" y="897123"/>
                </a:cubicBezTo>
                <a:cubicBezTo>
                  <a:pt x="2225220" y="891150"/>
                  <a:pt x="2247477" y="898067"/>
                  <a:pt x="2253866" y="883133"/>
                </a:cubicBezTo>
                <a:close/>
                <a:moveTo>
                  <a:pt x="2593589" y="883012"/>
                </a:moveTo>
                <a:cubicBezTo>
                  <a:pt x="2598740" y="888987"/>
                  <a:pt x="2597504" y="891974"/>
                  <a:pt x="2603892" y="899993"/>
                </a:cubicBezTo>
                <a:cubicBezTo>
                  <a:pt x="2606571" y="900936"/>
                  <a:pt x="2606571" y="898892"/>
                  <a:pt x="2610486" y="899993"/>
                </a:cubicBezTo>
                <a:cubicBezTo>
                  <a:pt x="2609249" y="897006"/>
                  <a:pt x="2603892" y="895905"/>
                  <a:pt x="2603892" y="891031"/>
                </a:cubicBezTo>
                <a:cubicBezTo>
                  <a:pt x="2609249" y="891031"/>
                  <a:pt x="2607808" y="894961"/>
                  <a:pt x="2610486" y="897006"/>
                </a:cubicBezTo>
                <a:cubicBezTo>
                  <a:pt x="2615638" y="894018"/>
                  <a:pt x="2615638" y="888987"/>
                  <a:pt x="2614401" y="883956"/>
                </a:cubicBezTo>
                <a:cubicBezTo>
                  <a:pt x="2606571" y="885057"/>
                  <a:pt x="2606571" y="886000"/>
                  <a:pt x="2593589" y="883012"/>
                </a:cubicBezTo>
                <a:close/>
                <a:moveTo>
                  <a:pt x="2632535" y="879082"/>
                </a:moveTo>
                <a:cubicBezTo>
                  <a:pt x="2631299" y="879082"/>
                  <a:pt x="2631299" y="880025"/>
                  <a:pt x="2631299" y="881126"/>
                </a:cubicBezTo>
                <a:cubicBezTo>
                  <a:pt x="2631299" y="883091"/>
                  <a:pt x="2632587" y="883799"/>
                  <a:pt x="2633875" y="884526"/>
                </a:cubicBezTo>
                <a:lnTo>
                  <a:pt x="2635917" y="887314"/>
                </a:lnTo>
                <a:lnTo>
                  <a:pt x="2642303" y="882194"/>
                </a:lnTo>
                <a:lnTo>
                  <a:pt x="2639323" y="882927"/>
                </a:lnTo>
                <a:cubicBezTo>
                  <a:pt x="2637378" y="882669"/>
                  <a:pt x="2635163" y="881558"/>
                  <a:pt x="2632535" y="879082"/>
                </a:cubicBezTo>
                <a:close/>
                <a:moveTo>
                  <a:pt x="3535133" y="878291"/>
                </a:moveTo>
                <a:cubicBezTo>
                  <a:pt x="3547296" y="876288"/>
                  <a:pt x="3536601" y="887997"/>
                  <a:pt x="3537860" y="892772"/>
                </a:cubicBezTo>
                <a:cubicBezTo>
                  <a:pt x="3533874" y="889846"/>
                  <a:pt x="3533874" y="883991"/>
                  <a:pt x="3535133" y="878291"/>
                </a:cubicBezTo>
                <a:close/>
                <a:moveTo>
                  <a:pt x="3361868" y="876981"/>
                </a:moveTo>
                <a:cubicBezTo>
                  <a:pt x="3373738" y="882902"/>
                  <a:pt x="3365825" y="895676"/>
                  <a:pt x="3361868" y="904556"/>
                </a:cubicBezTo>
                <a:cubicBezTo>
                  <a:pt x="3353955" y="898636"/>
                  <a:pt x="3360619" y="886796"/>
                  <a:pt x="3361868" y="876981"/>
                </a:cubicBezTo>
                <a:close/>
                <a:moveTo>
                  <a:pt x="2306212" y="873977"/>
                </a:moveTo>
                <a:cubicBezTo>
                  <a:pt x="2304408" y="874723"/>
                  <a:pt x="2303429" y="876217"/>
                  <a:pt x="2304769" y="878260"/>
                </a:cubicBezTo>
                <a:cubicBezTo>
                  <a:pt x="2306006" y="877160"/>
                  <a:pt x="2315074" y="881247"/>
                  <a:pt x="2312601" y="874173"/>
                </a:cubicBezTo>
                <a:cubicBezTo>
                  <a:pt x="2310643" y="873230"/>
                  <a:pt x="2308015" y="873230"/>
                  <a:pt x="2306212" y="873977"/>
                </a:cubicBezTo>
                <a:close/>
                <a:moveTo>
                  <a:pt x="2628620" y="873107"/>
                </a:moveTo>
                <a:cubicBezTo>
                  <a:pt x="2623468" y="872164"/>
                  <a:pt x="2624704" y="875151"/>
                  <a:pt x="2626148" y="877038"/>
                </a:cubicBezTo>
                <a:cubicBezTo>
                  <a:pt x="2632535" y="879082"/>
                  <a:pt x="2632535" y="876094"/>
                  <a:pt x="2628620" y="873107"/>
                </a:cubicBezTo>
                <a:close/>
                <a:moveTo>
                  <a:pt x="3328008" y="872128"/>
                </a:moveTo>
                <a:cubicBezTo>
                  <a:pt x="3329219" y="878230"/>
                  <a:pt x="3324171" y="882243"/>
                  <a:pt x="3322959" y="887220"/>
                </a:cubicBezTo>
                <a:cubicBezTo>
                  <a:pt x="3320334" y="881280"/>
                  <a:pt x="3320334" y="876143"/>
                  <a:pt x="3328008" y="872128"/>
                </a:cubicBezTo>
                <a:close/>
                <a:moveTo>
                  <a:pt x="2644281" y="870121"/>
                </a:moveTo>
                <a:cubicBezTo>
                  <a:pt x="2644281" y="872164"/>
                  <a:pt x="2639130" y="874051"/>
                  <a:pt x="2645724" y="876094"/>
                </a:cubicBezTo>
                <a:cubicBezTo>
                  <a:pt x="2648506" y="877627"/>
                  <a:pt x="2648506" y="874031"/>
                  <a:pt x="2650505" y="874260"/>
                </a:cubicBezTo>
                <a:lnTo>
                  <a:pt x="2651561" y="874941"/>
                </a:lnTo>
                <a:lnTo>
                  <a:pt x="2657669" y="870625"/>
                </a:lnTo>
                <a:lnTo>
                  <a:pt x="2655586" y="871528"/>
                </a:lnTo>
                <a:cubicBezTo>
                  <a:pt x="2652769" y="871928"/>
                  <a:pt x="2649175" y="871614"/>
                  <a:pt x="2644281" y="870121"/>
                </a:cubicBezTo>
                <a:close/>
                <a:moveTo>
                  <a:pt x="2916767" y="867511"/>
                </a:moveTo>
                <a:cubicBezTo>
                  <a:pt x="2911174" y="868322"/>
                  <a:pt x="2908045" y="875544"/>
                  <a:pt x="2909900" y="880025"/>
                </a:cubicBezTo>
                <a:cubicBezTo>
                  <a:pt x="2913814" y="877038"/>
                  <a:pt x="2920409" y="873107"/>
                  <a:pt x="2923087" y="869177"/>
                </a:cubicBezTo>
                <a:cubicBezTo>
                  <a:pt x="2920769" y="867683"/>
                  <a:pt x="2918631" y="867241"/>
                  <a:pt x="2916767" y="867511"/>
                </a:cubicBezTo>
                <a:close/>
                <a:moveTo>
                  <a:pt x="3392965" y="863374"/>
                </a:moveTo>
                <a:cubicBezTo>
                  <a:pt x="3404637" y="862423"/>
                  <a:pt x="3401975" y="873357"/>
                  <a:pt x="3390303" y="871297"/>
                </a:cubicBezTo>
                <a:cubicBezTo>
                  <a:pt x="3392965" y="863374"/>
                  <a:pt x="3392965" y="863374"/>
                  <a:pt x="3392965" y="863374"/>
                </a:cubicBezTo>
                <a:close/>
                <a:moveTo>
                  <a:pt x="2356909" y="860341"/>
                </a:moveTo>
                <a:lnTo>
                  <a:pt x="2354577" y="863249"/>
                </a:lnTo>
                <a:lnTo>
                  <a:pt x="2354230" y="863327"/>
                </a:lnTo>
                <a:cubicBezTo>
                  <a:pt x="2355466" y="862384"/>
                  <a:pt x="2356909" y="862384"/>
                  <a:pt x="2356909" y="860341"/>
                </a:cubicBezTo>
                <a:close/>
                <a:moveTo>
                  <a:pt x="2707335" y="854114"/>
                </a:moveTo>
                <a:lnTo>
                  <a:pt x="2706882" y="855552"/>
                </a:lnTo>
                <a:lnTo>
                  <a:pt x="2708162" y="855184"/>
                </a:lnTo>
                <a:close/>
                <a:moveTo>
                  <a:pt x="2477200" y="849944"/>
                </a:moveTo>
                <a:cubicBezTo>
                  <a:pt x="2482322" y="855975"/>
                  <a:pt x="2469413" y="855975"/>
                  <a:pt x="2473306" y="862005"/>
                </a:cubicBezTo>
                <a:cubicBezTo>
                  <a:pt x="2471359" y="862005"/>
                  <a:pt x="2469413" y="862243"/>
                  <a:pt x="2467467" y="861985"/>
                </a:cubicBezTo>
                <a:lnTo>
                  <a:pt x="2464637" y="860534"/>
                </a:lnTo>
                <a:lnTo>
                  <a:pt x="2463254" y="864888"/>
                </a:lnTo>
                <a:cubicBezTo>
                  <a:pt x="2459752" y="869300"/>
                  <a:pt x="2451072" y="872840"/>
                  <a:pt x="2446180" y="871293"/>
                </a:cubicBezTo>
                <a:cubicBezTo>
                  <a:pt x="2446180" y="868834"/>
                  <a:pt x="2449493" y="867088"/>
                  <a:pt x="2453466" y="865461"/>
                </a:cubicBezTo>
                <a:lnTo>
                  <a:pt x="2464468" y="860447"/>
                </a:lnTo>
                <a:lnTo>
                  <a:pt x="2461626" y="858990"/>
                </a:lnTo>
                <a:cubicBezTo>
                  <a:pt x="2464291" y="852959"/>
                  <a:pt x="2475970" y="853912"/>
                  <a:pt x="2477200" y="849944"/>
                </a:cubicBezTo>
                <a:close/>
                <a:moveTo>
                  <a:pt x="2727738" y="841348"/>
                </a:moveTo>
                <a:cubicBezTo>
                  <a:pt x="2726295" y="845279"/>
                  <a:pt x="2717228" y="846222"/>
                  <a:pt x="2717228" y="851253"/>
                </a:cubicBezTo>
                <a:cubicBezTo>
                  <a:pt x="2723823" y="849209"/>
                  <a:pt x="2734126" y="845279"/>
                  <a:pt x="2727738" y="841348"/>
                </a:cubicBezTo>
                <a:close/>
                <a:moveTo>
                  <a:pt x="2941222" y="839305"/>
                </a:moveTo>
                <a:cubicBezTo>
                  <a:pt x="2933391" y="843235"/>
                  <a:pt x="2942458" y="845279"/>
                  <a:pt x="2937307" y="848266"/>
                </a:cubicBezTo>
                <a:cubicBezTo>
                  <a:pt x="2943900" y="851253"/>
                  <a:pt x="2945136" y="843235"/>
                  <a:pt x="2941222" y="839305"/>
                </a:cubicBezTo>
                <a:close/>
                <a:moveTo>
                  <a:pt x="3399248" y="831225"/>
                </a:moveTo>
                <a:cubicBezTo>
                  <a:pt x="3408276" y="838129"/>
                  <a:pt x="3393029" y="848014"/>
                  <a:pt x="3406871" y="853976"/>
                </a:cubicBezTo>
                <a:cubicBezTo>
                  <a:pt x="3404464" y="860879"/>
                  <a:pt x="3399248" y="853034"/>
                  <a:pt x="3396841" y="856957"/>
                </a:cubicBezTo>
                <a:cubicBezTo>
                  <a:pt x="3395436" y="853034"/>
                  <a:pt x="3396841" y="842052"/>
                  <a:pt x="3399248" y="831225"/>
                </a:cubicBezTo>
                <a:close/>
                <a:moveTo>
                  <a:pt x="3571924" y="830597"/>
                </a:moveTo>
                <a:cubicBezTo>
                  <a:pt x="3574421" y="831370"/>
                  <a:pt x="3574965" y="838274"/>
                  <a:pt x="3582737" y="835385"/>
                </a:cubicBezTo>
                <a:lnTo>
                  <a:pt x="3581493" y="842164"/>
                </a:lnTo>
                <a:cubicBezTo>
                  <a:pt x="3569680" y="837388"/>
                  <a:pt x="3560561" y="842164"/>
                  <a:pt x="3559318" y="832458"/>
                </a:cubicBezTo>
                <a:cubicBezTo>
                  <a:pt x="3559318" y="835385"/>
                  <a:pt x="3577555" y="836309"/>
                  <a:pt x="3568437" y="832458"/>
                </a:cubicBezTo>
                <a:cubicBezTo>
                  <a:pt x="3570043" y="830763"/>
                  <a:pt x="3571092" y="830340"/>
                  <a:pt x="3571924" y="830597"/>
                </a:cubicBezTo>
                <a:close/>
                <a:moveTo>
                  <a:pt x="2539570" y="826373"/>
                </a:moveTo>
                <a:cubicBezTo>
                  <a:pt x="2525258" y="840082"/>
                  <a:pt x="2503381" y="846002"/>
                  <a:pt x="2482527" y="853948"/>
                </a:cubicBezTo>
                <a:cubicBezTo>
                  <a:pt x="2490500" y="831358"/>
                  <a:pt x="2524031" y="840082"/>
                  <a:pt x="2539570" y="826373"/>
                </a:cubicBezTo>
                <a:close/>
                <a:moveTo>
                  <a:pt x="3380102" y="821520"/>
                </a:moveTo>
                <a:cubicBezTo>
                  <a:pt x="3372321" y="831593"/>
                  <a:pt x="3378669" y="837573"/>
                  <a:pt x="3374779" y="850479"/>
                </a:cubicBezTo>
                <a:cubicBezTo>
                  <a:pt x="3365769" y="845443"/>
                  <a:pt x="3369659" y="829546"/>
                  <a:pt x="3380102" y="821520"/>
                </a:cubicBezTo>
                <a:close/>
                <a:moveTo>
                  <a:pt x="3010094" y="821520"/>
                </a:moveTo>
                <a:cubicBezTo>
                  <a:pt x="3015233" y="823600"/>
                  <a:pt x="3025715" y="822640"/>
                  <a:pt x="3024275" y="826639"/>
                </a:cubicBezTo>
                <a:cubicBezTo>
                  <a:pt x="3019137" y="826639"/>
                  <a:pt x="3012561" y="825679"/>
                  <a:pt x="3012561" y="827599"/>
                </a:cubicBezTo>
                <a:cubicBezTo>
                  <a:pt x="3008655" y="827599"/>
                  <a:pt x="3010094" y="823600"/>
                  <a:pt x="3010094" y="821520"/>
                </a:cubicBezTo>
                <a:close/>
                <a:moveTo>
                  <a:pt x="2713191" y="820579"/>
                </a:moveTo>
                <a:cubicBezTo>
                  <a:pt x="2714645" y="820215"/>
                  <a:pt x="2716583" y="820334"/>
                  <a:pt x="2719489" y="821325"/>
                </a:cubicBezTo>
                <a:lnTo>
                  <a:pt x="2717560" y="822349"/>
                </a:lnTo>
                <a:lnTo>
                  <a:pt x="2719402" y="825429"/>
                </a:lnTo>
                <a:cubicBezTo>
                  <a:pt x="2718974" y="827537"/>
                  <a:pt x="2715691" y="829269"/>
                  <a:pt x="2712958" y="828817"/>
                </a:cubicBezTo>
                <a:lnTo>
                  <a:pt x="2711073" y="827347"/>
                </a:lnTo>
                <a:lnTo>
                  <a:pt x="2709086" y="832427"/>
                </a:lnTo>
                <a:cubicBezTo>
                  <a:pt x="2706434" y="832427"/>
                  <a:pt x="2703986" y="830365"/>
                  <a:pt x="2701334" y="831475"/>
                </a:cubicBezTo>
                <a:cubicBezTo>
                  <a:pt x="2703986" y="832427"/>
                  <a:pt x="2705210" y="833378"/>
                  <a:pt x="2703986" y="835440"/>
                </a:cubicBezTo>
                <a:cubicBezTo>
                  <a:pt x="2698886" y="837502"/>
                  <a:pt x="2698886" y="833378"/>
                  <a:pt x="2695011" y="833378"/>
                </a:cubicBezTo>
                <a:cubicBezTo>
                  <a:pt x="2696235" y="834489"/>
                  <a:pt x="2693583" y="834489"/>
                  <a:pt x="2695011" y="835440"/>
                </a:cubicBezTo>
                <a:cubicBezTo>
                  <a:pt x="2696235" y="837502"/>
                  <a:pt x="2700110" y="836391"/>
                  <a:pt x="2700110" y="839405"/>
                </a:cubicBezTo>
                <a:cubicBezTo>
                  <a:pt x="2697458" y="840356"/>
                  <a:pt x="2696235" y="841466"/>
                  <a:pt x="2695011" y="841466"/>
                </a:cubicBezTo>
                <a:cubicBezTo>
                  <a:pt x="2693583" y="836391"/>
                  <a:pt x="2689707" y="835440"/>
                  <a:pt x="2691135" y="831475"/>
                </a:cubicBezTo>
                <a:cubicBezTo>
                  <a:pt x="2698886" y="831475"/>
                  <a:pt x="2705210" y="831475"/>
                  <a:pt x="2700110" y="826400"/>
                </a:cubicBezTo>
                <a:cubicBezTo>
                  <a:pt x="2708831" y="827113"/>
                  <a:pt x="2708831" y="821672"/>
                  <a:pt x="2713191" y="820579"/>
                </a:cubicBezTo>
                <a:close/>
                <a:moveTo>
                  <a:pt x="2705521" y="815281"/>
                </a:moveTo>
                <a:cubicBezTo>
                  <a:pt x="2706764" y="819342"/>
                  <a:pt x="2704277" y="821217"/>
                  <a:pt x="2703034" y="824185"/>
                </a:cubicBezTo>
                <a:cubicBezTo>
                  <a:pt x="2700339" y="822311"/>
                  <a:pt x="2699097" y="826217"/>
                  <a:pt x="2695159" y="822311"/>
                </a:cubicBezTo>
                <a:cubicBezTo>
                  <a:pt x="2706764" y="823248"/>
                  <a:pt x="2699097" y="816374"/>
                  <a:pt x="2705521" y="815281"/>
                </a:cubicBezTo>
                <a:close/>
                <a:moveTo>
                  <a:pt x="2950288" y="811475"/>
                </a:moveTo>
                <a:cubicBezTo>
                  <a:pt x="2943900" y="813519"/>
                  <a:pt x="2942458" y="815406"/>
                  <a:pt x="2938543" y="818393"/>
                </a:cubicBezTo>
                <a:cubicBezTo>
                  <a:pt x="2941222" y="823425"/>
                  <a:pt x="2945136" y="824368"/>
                  <a:pt x="2951525" y="824368"/>
                </a:cubicBezTo>
                <a:cubicBezTo>
                  <a:pt x="2951525" y="828455"/>
                  <a:pt x="2951525" y="833330"/>
                  <a:pt x="2943900" y="835374"/>
                </a:cubicBezTo>
                <a:cubicBezTo>
                  <a:pt x="2945136" y="839305"/>
                  <a:pt x="2949052" y="837417"/>
                  <a:pt x="2951525" y="840247"/>
                </a:cubicBezTo>
                <a:cubicBezTo>
                  <a:pt x="2951525" y="831443"/>
                  <a:pt x="2958119" y="831443"/>
                  <a:pt x="2955440" y="823425"/>
                </a:cubicBezTo>
                <a:cubicBezTo>
                  <a:pt x="2955440" y="823425"/>
                  <a:pt x="2955440" y="823425"/>
                  <a:pt x="2965949" y="820437"/>
                </a:cubicBezTo>
                <a:cubicBezTo>
                  <a:pt x="2963271" y="817450"/>
                  <a:pt x="2964713" y="816506"/>
                  <a:pt x="2967186" y="814463"/>
                </a:cubicBezTo>
                <a:cubicBezTo>
                  <a:pt x="2960798" y="813519"/>
                  <a:pt x="2959355" y="822481"/>
                  <a:pt x="2952967" y="822481"/>
                </a:cubicBezTo>
                <a:cubicBezTo>
                  <a:pt x="2947816" y="817450"/>
                  <a:pt x="2954204" y="815406"/>
                  <a:pt x="2950288" y="811475"/>
                </a:cubicBezTo>
                <a:close/>
                <a:moveTo>
                  <a:pt x="578183" y="809725"/>
                </a:moveTo>
                <a:cubicBezTo>
                  <a:pt x="571588" y="814598"/>
                  <a:pt x="571588" y="819629"/>
                  <a:pt x="564993" y="820571"/>
                </a:cubicBezTo>
                <a:cubicBezTo>
                  <a:pt x="567673" y="822615"/>
                  <a:pt x="566230" y="824501"/>
                  <a:pt x="568909" y="826545"/>
                </a:cubicBezTo>
                <a:cubicBezTo>
                  <a:pt x="575504" y="820571"/>
                  <a:pt x="583335" y="814598"/>
                  <a:pt x="578183" y="809725"/>
                </a:cubicBezTo>
                <a:close/>
                <a:moveTo>
                  <a:pt x="2639130" y="809589"/>
                </a:moveTo>
                <a:cubicBezTo>
                  <a:pt x="2632535" y="808489"/>
                  <a:pt x="2635215" y="814463"/>
                  <a:pt x="2639130" y="815406"/>
                </a:cubicBezTo>
                <a:cubicBezTo>
                  <a:pt x="2646960" y="816506"/>
                  <a:pt x="2640366" y="811475"/>
                  <a:pt x="2639130" y="809589"/>
                </a:cubicBezTo>
                <a:close/>
                <a:moveTo>
                  <a:pt x="2961582" y="808881"/>
                </a:moveTo>
                <a:lnTo>
                  <a:pt x="2958248" y="810237"/>
                </a:lnTo>
                <a:cubicBezTo>
                  <a:pt x="2956780" y="811711"/>
                  <a:pt x="2956780" y="813441"/>
                  <a:pt x="2958119" y="815406"/>
                </a:cubicBezTo>
                <a:cubicBezTo>
                  <a:pt x="2960077" y="814463"/>
                  <a:pt x="2962703" y="813480"/>
                  <a:pt x="2964661" y="812124"/>
                </a:cubicBezTo>
                <a:lnTo>
                  <a:pt x="2965180" y="810990"/>
                </a:lnTo>
                <a:lnTo>
                  <a:pt x="2962766" y="808905"/>
                </a:lnTo>
                <a:close/>
                <a:moveTo>
                  <a:pt x="3545187" y="806683"/>
                </a:moveTo>
                <a:cubicBezTo>
                  <a:pt x="3564566" y="805575"/>
                  <a:pt x="3543963" y="837711"/>
                  <a:pt x="3542535" y="845626"/>
                </a:cubicBezTo>
                <a:cubicBezTo>
                  <a:pt x="3534783" y="835653"/>
                  <a:pt x="3552938" y="819664"/>
                  <a:pt x="3545187" y="806683"/>
                </a:cubicBezTo>
                <a:close/>
                <a:moveTo>
                  <a:pt x="3182112" y="803614"/>
                </a:moveTo>
                <a:cubicBezTo>
                  <a:pt x="3179433" y="804558"/>
                  <a:pt x="3179433" y="806602"/>
                  <a:pt x="3176961" y="808489"/>
                </a:cubicBezTo>
                <a:cubicBezTo>
                  <a:pt x="3176961" y="808489"/>
                  <a:pt x="3176961" y="808489"/>
                  <a:pt x="3184791" y="820437"/>
                </a:cubicBezTo>
                <a:cubicBezTo>
                  <a:pt x="3191179" y="815406"/>
                  <a:pt x="3189943" y="804558"/>
                  <a:pt x="3182112" y="803614"/>
                </a:cubicBezTo>
                <a:close/>
                <a:moveTo>
                  <a:pt x="3600000" y="802109"/>
                </a:moveTo>
                <a:lnTo>
                  <a:pt x="3600000" y="802109"/>
                </a:lnTo>
                <a:lnTo>
                  <a:pt x="3591047" y="809806"/>
                </a:lnTo>
                <a:cubicBezTo>
                  <a:pt x="3588392" y="812424"/>
                  <a:pt x="3585424" y="814646"/>
                  <a:pt x="3580218" y="815122"/>
                </a:cubicBezTo>
                <a:cubicBezTo>
                  <a:pt x="3581468" y="811630"/>
                  <a:pt x="3583758" y="808893"/>
                  <a:pt x="3587064" y="806770"/>
                </a:cubicBezTo>
                <a:close/>
                <a:moveTo>
                  <a:pt x="2716039" y="801673"/>
                </a:moveTo>
                <a:cubicBezTo>
                  <a:pt x="2726452" y="800722"/>
                  <a:pt x="2726452" y="805634"/>
                  <a:pt x="2731865" y="806743"/>
                </a:cubicBezTo>
                <a:cubicBezTo>
                  <a:pt x="2725203" y="806743"/>
                  <a:pt x="2733115" y="810705"/>
                  <a:pt x="2726452" y="811655"/>
                </a:cubicBezTo>
                <a:cubicBezTo>
                  <a:pt x="2719997" y="809754"/>
                  <a:pt x="2726452" y="806743"/>
                  <a:pt x="2721246" y="805634"/>
                </a:cubicBezTo>
                <a:cubicBezTo>
                  <a:pt x="2718539" y="805634"/>
                  <a:pt x="2716039" y="809754"/>
                  <a:pt x="2713333" y="807694"/>
                </a:cubicBezTo>
                <a:cubicBezTo>
                  <a:pt x="2717289" y="806743"/>
                  <a:pt x="2717289" y="803733"/>
                  <a:pt x="2716039" y="801673"/>
                </a:cubicBezTo>
                <a:close/>
                <a:moveTo>
                  <a:pt x="2585850" y="801377"/>
                </a:moveTo>
                <a:cubicBezTo>
                  <a:pt x="2592271" y="814257"/>
                  <a:pt x="2568868" y="808288"/>
                  <a:pt x="2558307" y="819283"/>
                </a:cubicBezTo>
                <a:cubicBezTo>
                  <a:pt x="2555615" y="817241"/>
                  <a:pt x="2558307" y="815200"/>
                  <a:pt x="2555615" y="813315"/>
                </a:cubicBezTo>
                <a:cubicBezTo>
                  <a:pt x="2553129" y="815200"/>
                  <a:pt x="2550438" y="813315"/>
                  <a:pt x="2547952" y="815200"/>
                </a:cubicBezTo>
                <a:cubicBezTo>
                  <a:pt x="2554372" y="799336"/>
                  <a:pt x="2574046" y="809388"/>
                  <a:pt x="2585850" y="801377"/>
                </a:cubicBezTo>
                <a:close/>
                <a:moveTo>
                  <a:pt x="3085299" y="799700"/>
                </a:moveTo>
                <a:lnTo>
                  <a:pt x="3082483" y="800256"/>
                </a:lnTo>
                <a:lnTo>
                  <a:pt x="3081095" y="800218"/>
                </a:lnTo>
                <a:lnTo>
                  <a:pt x="3082128" y="806637"/>
                </a:lnTo>
                <a:lnTo>
                  <a:pt x="3083870" y="802926"/>
                </a:lnTo>
                <a:close/>
                <a:moveTo>
                  <a:pt x="3525276" y="799336"/>
                </a:moveTo>
                <a:cubicBezTo>
                  <a:pt x="3526696" y="804362"/>
                  <a:pt x="3518990" y="802320"/>
                  <a:pt x="3517571" y="805304"/>
                </a:cubicBezTo>
                <a:cubicBezTo>
                  <a:pt x="3520207" y="811273"/>
                  <a:pt x="3526696" y="802320"/>
                  <a:pt x="3529129" y="808288"/>
                </a:cubicBezTo>
                <a:cubicBezTo>
                  <a:pt x="3521424" y="819283"/>
                  <a:pt x="3504797" y="799336"/>
                  <a:pt x="3525276" y="799336"/>
                </a:cubicBezTo>
                <a:close/>
                <a:moveTo>
                  <a:pt x="3287495" y="798092"/>
                </a:moveTo>
                <a:lnTo>
                  <a:pt x="3282054" y="801639"/>
                </a:lnTo>
                <a:cubicBezTo>
                  <a:pt x="3275254" y="809480"/>
                  <a:pt x="3277264" y="819180"/>
                  <a:pt x="3261653" y="824368"/>
                </a:cubicBezTo>
                <a:cubicBezTo>
                  <a:pt x="3265569" y="828455"/>
                  <a:pt x="3258975" y="829399"/>
                  <a:pt x="3260211" y="833330"/>
                </a:cubicBezTo>
                <a:cubicBezTo>
                  <a:pt x="3260211" y="833330"/>
                  <a:pt x="3260211" y="833330"/>
                  <a:pt x="3249908" y="837417"/>
                </a:cubicBezTo>
                <a:cubicBezTo>
                  <a:pt x="3250526" y="845829"/>
                  <a:pt x="3243983" y="853022"/>
                  <a:pt x="3236642" y="859351"/>
                </a:cubicBezTo>
                <a:lnTo>
                  <a:pt x="3226214" y="867920"/>
                </a:lnTo>
                <a:lnTo>
                  <a:pt x="3249417" y="860754"/>
                </a:lnTo>
                <a:lnTo>
                  <a:pt x="3295760" y="843571"/>
                </a:lnTo>
                <a:lnTo>
                  <a:pt x="3295449" y="841348"/>
                </a:lnTo>
                <a:lnTo>
                  <a:pt x="3298801" y="842444"/>
                </a:lnTo>
                <a:lnTo>
                  <a:pt x="3301728" y="841358"/>
                </a:lnTo>
                <a:lnTo>
                  <a:pt x="3303588" y="839580"/>
                </a:lnTo>
                <a:cubicBezTo>
                  <a:pt x="3304722" y="838086"/>
                  <a:pt x="3305932" y="836405"/>
                  <a:pt x="3307503" y="835157"/>
                </a:cubicBezTo>
                <a:lnTo>
                  <a:pt x="3308080" y="834984"/>
                </a:lnTo>
                <a:lnTo>
                  <a:pt x="3309304" y="829855"/>
                </a:lnTo>
                <a:cubicBezTo>
                  <a:pt x="3309449" y="822759"/>
                  <a:pt x="3304350" y="821078"/>
                  <a:pt x="3304350" y="807637"/>
                </a:cubicBezTo>
                <a:lnTo>
                  <a:pt x="3301581" y="805984"/>
                </a:lnTo>
                <a:lnTo>
                  <a:pt x="3301193" y="807775"/>
                </a:lnTo>
                <a:cubicBezTo>
                  <a:pt x="3301430" y="809137"/>
                  <a:pt x="3302407" y="810431"/>
                  <a:pt x="3304698" y="811656"/>
                </a:cubicBezTo>
                <a:cubicBezTo>
                  <a:pt x="3296784" y="812605"/>
                  <a:pt x="3301990" y="817664"/>
                  <a:pt x="3298034" y="820669"/>
                </a:cubicBezTo>
                <a:cubicBezTo>
                  <a:pt x="3291578" y="818613"/>
                  <a:pt x="3299491" y="814660"/>
                  <a:pt x="3298034" y="809758"/>
                </a:cubicBezTo>
                <a:cubicBezTo>
                  <a:pt x="3294077" y="809758"/>
                  <a:pt x="3290121" y="812605"/>
                  <a:pt x="3287622" y="808652"/>
                </a:cubicBezTo>
                <a:lnTo>
                  <a:pt x="3295733" y="802493"/>
                </a:lnTo>
                <a:lnTo>
                  <a:pt x="3290159" y="799165"/>
                </a:lnTo>
                <a:close/>
                <a:moveTo>
                  <a:pt x="3342225" y="797639"/>
                </a:moveTo>
                <a:lnTo>
                  <a:pt x="3334469" y="807597"/>
                </a:lnTo>
                <a:lnTo>
                  <a:pt x="3338664" y="810974"/>
                </a:lnTo>
                <a:lnTo>
                  <a:pt x="3345985" y="804322"/>
                </a:lnTo>
                <a:cubicBezTo>
                  <a:pt x="3347119" y="801099"/>
                  <a:pt x="3346140" y="798111"/>
                  <a:pt x="3342225" y="797639"/>
                </a:cubicBezTo>
                <a:close/>
                <a:moveTo>
                  <a:pt x="3145639" y="794653"/>
                </a:moveTo>
                <a:cubicBezTo>
                  <a:pt x="3139045" y="797639"/>
                  <a:pt x="3139045" y="802514"/>
                  <a:pt x="3135336" y="806602"/>
                </a:cubicBezTo>
                <a:cubicBezTo>
                  <a:pt x="3140488" y="807545"/>
                  <a:pt x="3149554" y="799526"/>
                  <a:pt x="3145639" y="794653"/>
                </a:cubicBezTo>
                <a:close/>
                <a:moveTo>
                  <a:pt x="3188706" y="791665"/>
                </a:moveTo>
                <a:cubicBezTo>
                  <a:pt x="3178197" y="800627"/>
                  <a:pt x="3197773" y="802514"/>
                  <a:pt x="3201688" y="813519"/>
                </a:cubicBezTo>
                <a:cubicBezTo>
                  <a:pt x="3200246" y="819494"/>
                  <a:pt x="3191179" y="823425"/>
                  <a:pt x="3191179" y="829399"/>
                </a:cubicBezTo>
                <a:cubicBezTo>
                  <a:pt x="3201688" y="829399"/>
                  <a:pt x="3197773" y="816506"/>
                  <a:pt x="3204161" y="823425"/>
                </a:cubicBezTo>
                <a:cubicBezTo>
                  <a:pt x="3210755" y="819494"/>
                  <a:pt x="3208076" y="810532"/>
                  <a:pt x="3217349" y="810532"/>
                </a:cubicBezTo>
                <a:cubicBezTo>
                  <a:pt x="3217349" y="806602"/>
                  <a:pt x="3221265" y="802514"/>
                  <a:pt x="3214670" y="801570"/>
                </a:cubicBezTo>
                <a:cubicBezTo>
                  <a:pt x="3204161" y="812419"/>
                  <a:pt x="3191179" y="799526"/>
                  <a:pt x="3188706" y="791665"/>
                </a:cubicBezTo>
                <a:close/>
                <a:moveTo>
                  <a:pt x="2745922" y="787550"/>
                </a:moveTo>
                <a:cubicBezTo>
                  <a:pt x="2748568" y="794329"/>
                  <a:pt x="2735752" y="796177"/>
                  <a:pt x="2733106" y="801107"/>
                </a:cubicBezTo>
                <a:cubicBezTo>
                  <a:pt x="2738193" y="802032"/>
                  <a:pt x="2738193" y="797256"/>
                  <a:pt x="2740837" y="801107"/>
                </a:cubicBezTo>
                <a:cubicBezTo>
                  <a:pt x="2734327" y="802032"/>
                  <a:pt x="2736972" y="804035"/>
                  <a:pt x="2729241" y="803110"/>
                </a:cubicBezTo>
                <a:cubicBezTo>
                  <a:pt x="2735752" y="797256"/>
                  <a:pt x="2721511" y="793404"/>
                  <a:pt x="2729241" y="789399"/>
                </a:cubicBezTo>
                <a:cubicBezTo>
                  <a:pt x="2730461" y="792326"/>
                  <a:pt x="2733106" y="795253"/>
                  <a:pt x="2736972" y="794329"/>
                </a:cubicBezTo>
                <a:cubicBezTo>
                  <a:pt x="2740837" y="792326"/>
                  <a:pt x="2738193" y="788474"/>
                  <a:pt x="2745922" y="787550"/>
                </a:cubicBezTo>
                <a:close/>
                <a:moveTo>
                  <a:pt x="2575288" y="787550"/>
                </a:moveTo>
                <a:cubicBezTo>
                  <a:pt x="2579245" y="787550"/>
                  <a:pt x="2583202" y="789451"/>
                  <a:pt x="2585909" y="792462"/>
                </a:cubicBezTo>
                <a:cubicBezTo>
                  <a:pt x="2581952" y="795473"/>
                  <a:pt x="2576538" y="798484"/>
                  <a:pt x="2572790" y="797533"/>
                </a:cubicBezTo>
                <a:cubicBezTo>
                  <a:pt x="2566125" y="793571"/>
                  <a:pt x="2577996" y="791511"/>
                  <a:pt x="2575288" y="787550"/>
                </a:cubicBezTo>
                <a:close/>
                <a:moveTo>
                  <a:pt x="2981611" y="785690"/>
                </a:moveTo>
                <a:cubicBezTo>
                  <a:pt x="2981611" y="785690"/>
                  <a:pt x="2981611" y="785690"/>
                  <a:pt x="2976459" y="787735"/>
                </a:cubicBezTo>
                <a:cubicBezTo>
                  <a:pt x="2981611" y="792609"/>
                  <a:pt x="2978932" y="794653"/>
                  <a:pt x="2971102" y="795596"/>
                </a:cubicBezTo>
                <a:cubicBezTo>
                  <a:pt x="2971102" y="795596"/>
                  <a:pt x="2971102" y="795596"/>
                  <a:pt x="2975017" y="801570"/>
                </a:cubicBezTo>
                <a:cubicBezTo>
                  <a:pt x="2978932" y="796539"/>
                  <a:pt x="2985526" y="792609"/>
                  <a:pt x="2981611" y="785690"/>
                </a:cubicBezTo>
                <a:close/>
                <a:moveTo>
                  <a:pt x="3255627" y="783426"/>
                </a:moveTo>
                <a:lnTo>
                  <a:pt x="3255060" y="783647"/>
                </a:lnTo>
                <a:cubicBezTo>
                  <a:pt x="3255729" y="784904"/>
                  <a:pt x="3256721" y="785602"/>
                  <a:pt x="3257851" y="785910"/>
                </a:cubicBezTo>
                <a:lnTo>
                  <a:pt x="3259436" y="785874"/>
                </a:lnTo>
                <a:close/>
                <a:moveTo>
                  <a:pt x="2606841" y="780684"/>
                </a:moveTo>
                <a:cubicBezTo>
                  <a:pt x="2604173" y="780684"/>
                  <a:pt x="2588784" y="785693"/>
                  <a:pt x="2597813" y="790703"/>
                </a:cubicBezTo>
                <a:cubicBezTo>
                  <a:pt x="2600274" y="787729"/>
                  <a:pt x="2610739" y="784754"/>
                  <a:pt x="2606841" y="780684"/>
                </a:cubicBezTo>
                <a:close/>
                <a:moveTo>
                  <a:pt x="3018084" y="777672"/>
                </a:moveTo>
                <a:cubicBezTo>
                  <a:pt x="3012726" y="775786"/>
                  <a:pt x="3010254" y="784748"/>
                  <a:pt x="3007575" y="787735"/>
                </a:cubicBezTo>
                <a:cubicBezTo>
                  <a:pt x="3015406" y="789621"/>
                  <a:pt x="3016848" y="780659"/>
                  <a:pt x="3018084" y="777672"/>
                </a:cubicBezTo>
                <a:close/>
                <a:moveTo>
                  <a:pt x="624965" y="777440"/>
                </a:moveTo>
                <a:cubicBezTo>
                  <a:pt x="623638" y="777502"/>
                  <a:pt x="622337" y="777894"/>
                  <a:pt x="621049" y="778916"/>
                </a:cubicBezTo>
                <a:cubicBezTo>
                  <a:pt x="623727" y="781903"/>
                  <a:pt x="628880" y="779859"/>
                  <a:pt x="623727" y="784889"/>
                </a:cubicBezTo>
                <a:cubicBezTo>
                  <a:pt x="621049" y="781903"/>
                  <a:pt x="618369" y="780803"/>
                  <a:pt x="614454" y="782846"/>
                </a:cubicBezTo>
                <a:cubicBezTo>
                  <a:pt x="617133" y="790863"/>
                  <a:pt x="595082" y="800765"/>
                  <a:pt x="581892" y="804696"/>
                </a:cubicBezTo>
                <a:cubicBezTo>
                  <a:pt x="585808" y="809725"/>
                  <a:pt x="587250" y="808625"/>
                  <a:pt x="588488" y="812555"/>
                </a:cubicBezTo>
                <a:cubicBezTo>
                  <a:pt x="602707" y="794792"/>
                  <a:pt x="624964" y="792749"/>
                  <a:pt x="637948" y="777816"/>
                </a:cubicBezTo>
                <a:cubicBezTo>
                  <a:pt x="633156" y="780056"/>
                  <a:pt x="628945" y="777255"/>
                  <a:pt x="624965" y="777440"/>
                </a:cubicBezTo>
                <a:close/>
                <a:moveTo>
                  <a:pt x="3109165" y="776729"/>
                </a:moveTo>
                <a:cubicBezTo>
                  <a:pt x="3100098" y="779716"/>
                  <a:pt x="3101334" y="785690"/>
                  <a:pt x="3100098" y="790722"/>
                </a:cubicBezTo>
                <a:cubicBezTo>
                  <a:pt x="3102571" y="791665"/>
                  <a:pt x="3105250" y="790722"/>
                  <a:pt x="3109165" y="788678"/>
                </a:cubicBezTo>
                <a:cubicBezTo>
                  <a:pt x="3104013" y="783647"/>
                  <a:pt x="3114317" y="781760"/>
                  <a:pt x="3109165" y="776729"/>
                </a:cubicBezTo>
                <a:close/>
                <a:moveTo>
                  <a:pt x="2795327" y="769811"/>
                </a:moveTo>
                <a:cubicBezTo>
                  <a:pt x="2792854" y="771698"/>
                  <a:pt x="2788939" y="775786"/>
                  <a:pt x="2795327" y="777672"/>
                </a:cubicBezTo>
                <a:cubicBezTo>
                  <a:pt x="2800479" y="775786"/>
                  <a:pt x="2801921" y="770754"/>
                  <a:pt x="2795327" y="769811"/>
                </a:cubicBezTo>
                <a:close/>
                <a:moveTo>
                  <a:pt x="3468626" y="767445"/>
                </a:moveTo>
                <a:cubicBezTo>
                  <a:pt x="3475047" y="767445"/>
                  <a:pt x="3475047" y="767445"/>
                  <a:pt x="3475047" y="767445"/>
                </a:cubicBezTo>
                <a:cubicBezTo>
                  <a:pt x="3476250" y="769512"/>
                  <a:pt x="3477454" y="771420"/>
                  <a:pt x="3477454" y="774441"/>
                </a:cubicBezTo>
                <a:cubicBezTo>
                  <a:pt x="3464814" y="772533"/>
                  <a:pt x="3480062" y="781597"/>
                  <a:pt x="3470031" y="784618"/>
                </a:cubicBezTo>
                <a:cubicBezTo>
                  <a:pt x="3466218" y="780484"/>
                  <a:pt x="3466218" y="770466"/>
                  <a:pt x="3468626" y="767445"/>
                </a:cubicBezTo>
                <a:close/>
                <a:moveTo>
                  <a:pt x="2646796" y="767445"/>
                </a:moveTo>
                <a:cubicBezTo>
                  <a:pt x="2659518" y="768382"/>
                  <a:pt x="2648009" y="776350"/>
                  <a:pt x="2640334" y="778381"/>
                </a:cubicBezTo>
                <a:cubicBezTo>
                  <a:pt x="2637912" y="773382"/>
                  <a:pt x="2649220" y="769476"/>
                  <a:pt x="2646796" y="767445"/>
                </a:cubicBezTo>
                <a:close/>
                <a:moveTo>
                  <a:pt x="3442879" y="764672"/>
                </a:moveTo>
                <a:cubicBezTo>
                  <a:pt x="3450972" y="764672"/>
                  <a:pt x="3448203" y="773396"/>
                  <a:pt x="3444157" y="776305"/>
                </a:cubicBezTo>
                <a:cubicBezTo>
                  <a:pt x="3437554" y="775386"/>
                  <a:pt x="3444157" y="767580"/>
                  <a:pt x="3442879" y="764672"/>
                </a:cubicBezTo>
                <a:close/>
                <a:moveTo>
                  <a:pt x="3186028" y="763837"/>
                </a:moveTo>
                <a:cubicBezTo>
                  <a:pt x="3182112" y="767767"/>
                  <a:pt x="3183348" y="772798"/>
                  <a:pt x="3182112" y="777672"/>
                </a:cubicBezTo>
                <a:cubicBezTo>
                  <a:pt x="3186028" y="773742"/>
                  <a:pt x="3192621" y="769811"/>
                  <a:pt x="3186028" y="763837"/>
                </a:cubicBezTo>
                <a:close/>
                <a:moveTo>
                  <a:pt x="2761997" y="762593"/>
                </a:moveTo>
                <a:cubicBezTo>
                  <a:pt x="2765834" y="766554"/>
                  <a:pt x="2754324" y="768455"/>
                  <a:pt x="2764623" y="771466"/>
                </a:cubicBezTo>
                <a:cubicBezTo>
                  <a:pt x="2756950" y="773526"/>
                  <a:pt x="2755738" y="766554"/>
                  <a:pt x="2749276" y="770515"/>
                </a:cubicBezTo>
                <a:cubicBezTo>
                  <a:pt x="2744228" y="764494"/>
                  <a:pt x="2756950" y="766554"/>
                  <a:pt x="2761997" y="762593"/>
                </a:cubicBezTo>
                <a:close/>
                <a:moveTo>
                  <a:pt x="3536458" y="761456"/>
                </a:moveTo>
                <a:cubicBezTo>
                  <a:pt x="3554344" y="761456"/>
                  <a:pt x="3554344" y="761456"/>
                  <a:pt x="3554344" y="761456"/>
                </a:cubicBezTo>
                <a:cubicBezTo>
                  <a:pt x="3556986" y="763501"/>
                  <a:pt x="3558206" y="766490"/>
                  <a:pt x="3555767" y="771367"/>
                </a:cubicBezTo>
                <a:cubicBezTo>
                  <a:pt x="3550482" y="769480"/>
                  <a:pt x="3555767" y="760512"/>
                  <a:pt x="3541539" y="763501"/>
                </a:cubicBezTo>
                <a:cubicBezTo>
                  <a:pt x="3554344" y="781435"/>
                  <a:pt x="3527514" y="785369"/>
                  <a:pt x="3546824" y="797325"/>
                </a:cubicBezTo>
                <a:cubicBezTo>
                  <a:pt x="3544181" y="797325"/>
                  <a:pt x="3544181" y="800314"/>
                  <a:pt x="3544181" y="801258"/>
                </a:cubicBezTo>
                <a:cubicBezTo>
                  <a:pt x="3541539" y="800314"/>
                  <a:pt x="3537677" y="799213"/>
                  <a:pt x="3532595" y="799213"/>
                </a:cubicBezTo>
                <a:cubicBezTo>
                  <a:pt x="3529953" y="781435"/>
                  <a:pt x="3537677" y="780335"/>
                  <a:pt x="3536458" y="761456"/>
                </a:cubicBezTo>
                <a:close/>
                <a:moveTo>
                  <a:pt x="713581" y="760053"/>
                </a:moveTo>
                <a:cubicBezTo>
                  <a:pt x="705750" y="763040"/>
                  <a:pt x="701834" y="766969"/>
                  <a:pt x="691324" y="766969"/>
                </a:cubicBezTo>
                <a:cubicBezTo>
                  <a:pt x="695239" y="776872"/>
                  <a:pt x="712139" y="764926"/>
                  <a:pt x="713581" y="760053"/>
                </a:cubicBezTo>
                <a:close/>
                <a:moveTo>
                  <a:pt x="3515197" y="759819"/>
                </a:moveTo>
                <a:cubicBezTo>
                  <a:pt x="3525292" y="766776"/>
                  <a:pt x="3513783" y="776737"/>
                  <a:pt x="3524082" y="784801"/>
                </a:cubicBezTo>
                <a:cubicBezTo>
                  <a:pt x="3510148" y="784801"/>
                  <a:pt x="3529129" y="788754"/>
                  <a:pt x="3522870" y="795711"/>
                </a:cubicBezTo>
                <a:cubicBezTo>
                  <a:pt x="3508735" y="791758"/>
                  <a:pt x="3516408" y="779741"/>
                  <a:pt x="3507523" y="769780"/>
                </a:cubicBezTo>
                <a:cubicBezTo>
                  <a:pt x="3521457" y="770729"/>
                  <a:pt x="3507523" y="761717"/>
                  <a:pt x="3515197" y="759819"/>
                </a:cubicBezTo>
                <a:close/>
                <a:moveTo>
                  <a:pt x="3373452" y="757460"/>
                </a:moveTo>
                <a:lnTo>
                  <a:pt x="3373153" y="760909"/>
                </a:lnTo>
                <a:lnTo>
                  <a:pt x="3377462" y="759906"/>
                </a:lnTo>
                <a:cubicBezTo>
                  <a:pt x="3376174" y="760142"/>
                  <a:pt x="3375118" y="759759"/>
                  <a:pt x="3374362" y="759113"/>
                </a:cubicBezTo>
                <a:close/>
                <a:moveTo>
                  <a:pt x="659999" y="757067"/>
                </a:moveTo>
                <a:cubicBezTo>
                  <a:pt x="653611" y="766969"/>
                  <a:pt x="640627" y="767913"/>
                  <a:pt x="635474" y="776872"/>
                </a:cubicBezTo>
                <a:cubicBezTo>
                  <a:pt x="648458" y="769956"/>
                  <a:pt x="657525" y="770899"/>
                  <a:pt x="663914" y="760996"/>
                </a:cubicBezTo>
                <a:cubicBezTo>
                  <a:pt x="663914" y="760996"/>
                  <a:pt x="663914" y="760996"/>
                  <a:pt x="659999" y="757067"/>
                </a:cubicBezTo>
                <a:close/>
                <a:moveTo>
                  <a:pt x="3282992" y="757046"/>
                </a:moveTo>
                <a:cubicBezTo>
                  <a:pt x="3284271" y="758951"/>
                  <a:pt x="3288317" y="761966"/>
                  <a:pt x="3285548" y="764029"/>
                </a:cubicBezTo>
                <a:cubicBezTo>
                  <a:pt x="3284271" y="758951"/>
                  <a:pt x="3276177" y="770059"/>
                  <a:pt x="3274900" y="764981"/>
                </a:cubicBezTo>
                <a:cubicBezTo>
                  <a:pt x="3278946" y="761966"/>
                  <a:pt x="3277456" y="758951"/>
                  <a:pt x="3282992" y="757046"/>
                </a:cubicBezTo>
                <a:close/>
                <a:moveTo>
                  <a:pt x="2624897" y="757046"/>
                </a:moveTo>
                <a:cubicBezTo>
                  <a:pt x="2628796" y="769883"/>
                  <a:pt x="2610739" y="767848"/>
                  <a:pt x="2605610" y="776770"/>
                </a:cubicBezTo>
                <a:cubicBezTo>
                  <a:pt x="2617100" y="784754"/>
                  <a:pt x="2626333" y="762994"/>
                  <a:pt x="2640491" y="757046"/>
                </a:cubicBezTo>
                <a:cubicBezTo>
                  <a:pt x="2641928" y="758925"/>
                  <a:pt x="2643159" y="763934"/>
                  <a:pt x="2639260" y="761899"/>
                </a:cubicBezTo>
                <a:cubicBezTo>
                  <a:pt x="2639260" y="764873"/>
                  <a:pt x="2643159" y="762994"/>
                  <a:pt x="2641928" y="768787"/>
                </a:cubicBezTo>
                <a:cubicBezTo>
                  <a:pt x="2618537" y="781780"/>
                  <a:pt x="2618537" y="796495"/>
                  <a:pt x="2591246" y="800565"/>
                </a:cubicBezTo>
                <a:cubicBezTo>
                  <a:pt x="2588784" y="797590"/>
                  <a:pt x="2597813" y="788668"/>
                  <a:pt x="2586117" y="789608"/>
                </a:cubicBezTo>
                <a:cubicBezTo>
                  <a:pt x="2599043" y="776770"/>
                  <a:pt x="2608072" y="764873"/>
                  <a:pt x="2624897" y="757046"/>
                </a:cubicBezTo>
                <a:close/>
                <a:moveTo>
                  <a:pt x="2767153" y="753824"/>
                </a:moveTo>
                <a:cubicBezTo>
                  <a:pt x="2767983" y="753219"/>
                  <a:pt x="2768658" y="752984"/>
                  <a:pt x="2770632" y="754468"/>
                </a:cubicBezTo>
                <a:cubicBezTo>
                  <a:pt x="2769386" y="754468"/>
                  <a:pt x="2770632" y="756499"/>
                  <a:pt x="2771878" y="757437"/>
                </a:cubicBezTo>
                <a:cubicBezTo>
                  <a:pt x="2762738" y="757437"/>
                  <a:pt x="2775824" y="762436"/>
                  <a:pt x="2766685" y="762436"/>
                </a:cubicBezTo>
                <a:cubicBezTo>
                  <a:pt x="2761492" y="758374"/>
                  <a:pt x="2773332" y="756499"/>
                  <a:pt x="2762738" y="755405"/>
                </a:cubicBezTo>
                <a:cubicBezTo>
                  <a:pt x="2765336" y="755405"/>
                  <a:pt x="2766322" y="754429"/>
                  <a:pt x="2767153" y="753824"/>
                </a:cubicBezTo>
                <a:close/>
                <a:moveTo>
                  <a:pt x="3498593" y="753580"/>
                </a:moveTo>
                <a:cubicBezTo>
                  <a:pt x="3501037" y="757488"/>
                  <a:pt x="3503685" y="766398"/>
                  <a:pt x="3498593" y="769369"/>
                </a:cubicBezTo>
                <a:cubicBezTo>
                  <a:pt x="3495945" y="766398"/>
                  <a:pt x="3492075" y="757488"/>
                  <a:pt x="3498593" y="753580"/>
                </a:cubicBezTo>
                <a:close/>
                <a:moveTo>
                  <a:pt x="2700331" y="750944"/>
                </a:moveTo>
                <a:cubicBezTo>
                  <a:pt x="2693737" y="751887"/>
                  <a:pt x="2691264" y="756919"/>
                  <a:pt x="2697653" y="758805"/>
                </a:cubicBezTo>
                <a:cubicBezTo>
                  <a:pt x="2703010" y="756919"/>
                  <a:pt x="2706719" y="754874"/>
                  <a:pt x="2700331" y="750944"/>
                </a:cubicBezTo>
                <a:close/>
                <a:moveTo>
                  <a:pt x="2999810" y="748727"/>
                </a:moveTo>
                <a:cubicBezTo>
                  <a:pt x="3006625" y="751742"/>
                  <a:pt x="3003856" y="756820"/>
                  <a:pt x="3001300" y="761740"/>
                </a:cubicBezTo>
                <a:cubicBezTo>
                  <a:pt x="2997254" y="758725"/>
                  <a:pt x="2993208" y="751742"/>
                  <a:pt x="2999810" y="748727"/>
                </a:cubicBezTo>
                <a:close/>
                <a:moveTo>
                  <a:pt x="3373668" y="748375"/>
                </a:moveTo>
                <a:lnTo>
                  <a:pt x="3374104" y="749958"/>
                </a:lnTo>
                <a:lnTo>
                  <a:pt x="3373612" y="755625"/>
                </a:lnTo>
                <a:lnTo>
                  <a:pt x="3373955" y="754931"/>
                </a:lnTo>
                <a:cubicBezTo>
                  <a:pt x="3374667" y="754659"/>
                  <a:pt x="3375813" y="754836"/>
                  <a:pt x="3377462" y="755818"/>
                </a:cubicBezTo>
                <a:cubicBezTo>
                  <a:pt x="3378080" y="753853"/>
                  <a:pt x="3377411" y="752123"/>
                  <a:pt x="3376097" y="750512"/>
                </a:cubicBezTo>
                <a:close/>
                <a:moveTo>
                  <a:pt x="3200246" y="745913"/>
                </a:moveTo>
                <a:cubicBezTo>
                  <a:pt x="3193858" y="747957"/>
                  <a:pt x="3199009" y="751887"/>
                  <a:pt x="3192621" y="753932"/>
                </a:cubicBezTo>
                <a:cubicBezTo>
                  <a:pt x="3196331" y="754874"/>
                  <a:pt x="3200246" y="752831"/>
                  <a:pt x="3204161" y="751887"/>
                </a:cubicBezTo>
                <a:cubicBezTo>
                  <a:pt x="3204161" y="751887"/>
                  <a:pt x="3204161" y="751887"/>
                  <a:pt x="3200246" y="745913"/>
                </a:cubicBezTo>
                <a:close/>
                <a:moveTo>
                  <a:pt x="2808309" y="744970"/>
                </a:moveTo>
                <a:cubicBezTo>
                  <a:pt x="2803158" y="747013"/>
                  <a:pt x="2799243" y="748900"/>
                  <a:pt x="2801921" y="752831"/>
                </a:cubicBezTo>
                <a:cubicBezTo>
                  <a:pt x="2804394" y="750944"/>
                  <a:pt x="2812225" y="748900"/>
                  <a:pt x="2808309" y="744970"/>
                </a:cubicBezTo>
                <a:close/>
                <a:moveTo>
                  <a:pt x="3309744" y="742454"/>
                </a:moveTo>
                <a:cubicBezTo>
                  <a:pt x="3306834" y="741943"/>
                  <a:pt x="3303279" y="742926"/>
                  <a:pt x="3303279" y="745913"/>
                </a:cubicBezTo>
                <a:cubicBezTo>
                  <a:pt x="3304515" y="750001"/>
                  <a:pt x="3309667" y="744970"/>
                  <a:pt x="3312346" y="747957"/>
                </a:cubicBezTo>
                <a:cubicBezTo>
                  <a:pt x="3314921" y="744970"/>
                  <a:pt x="3312655" y="742965"/>
                  <a:pt x="3309744" y="742454"/>
                </a:cubicBezTo>
                <a:close/>
                <a:moveTo>
                  <a:pt x="654847" y="742133"/>
                </a:moveTo>
                <a:cubicBezTo>
                  <a:pt x="648458" y="746063"/>
                  <a:pt x="641863" y="749050"/>
                  <a:pt x="644542" y="752980"/>
                </a:cubicBezTo>
                <a:cubicBezTo>
                  <a:pt x="649694" y="748107"/>
                  <a:pt x="652373" y="752980"/>
                  <a:pt x="657525" y="748107"/>
                </a:cubicBezTo>
                <a:cubicBezTo>
                  <a:pt x="654847" y="746063"/>
                  <a:pt x="653611" y="744177"/>
                  <a:pt x="654847" y="742133"/>
                </a:cubicBezTo>
                <a:close/>
                <a:moveTo>
                  <a:pt x="2580139" y="739715"/>
                </a:moveTo>
                <a:cubicBezTo>
                  <a:pt x="2584092" y="746914"/>
                  <a:pt x="2573690" y="747874"/>
                  <a:pt x="2569738" y="749954"/>
                </a:cubicBezTo>
                <a:cubicBezTo>
                  <a:pt x="2567034" y="745794"/>
                  <a:pt x="2577643" y="743874"/>
                  <a:pt x="2580139" y="739715"/>
                </a:cubicBezTo>
                <a:close/>
                <a:moveTo>
                  <a:pt x="3496091" y="739021"/>
                </a:moveTo>
                <a:cubicBezTo>
                  <a:pt x="3512772" y="739021"/>
                  <a:pt x="3501176" y="751096"/>
                  <a:pt x="3494869" y="754114"/>
                </a:cubicBezTo>
                <a:cubicBezTo>
                  <a:pt x="3485715" y="751096"/>
                  <a:pt x="3498734" y="745058"/>
                  <a:pt x="3496091" y="739021"/>
                </a:cubicBezTo>
                <a:close/>
                <a:moveTo>
                  <a:pt x="3281561" y="738391"/>
                </a:moveTo>
                <a:cubicBezTo>
                  <a:pt x="3279196" y="739025"/>
                  <a:pt x="3276491" y="740449"/>
                  <a:pt x="3273194" y="742926"/>
                </a:cubicBezTo>
                <a:cubicBezTo>
                  <a:pt x="3275872" y="744970"/>
                  <a:pt x="3279787" y="739938"/>
                  <a:pt x="3282467" y="742926"/>
                </a:cubicBezTo>
                <a:cubicBezTo>
                  <a:pt x="3279787" y="748900"/>
                  <a:pt x="3275872" y="751887"/>
                  <a:pt x="3268041" y="753932"/>
                </a:cubicBezTo>
                <a:cubicBezTo>
                  <a:pt x="3268660" y="756919"/>
                  <a:pt x="3266084" y="759159"/>
                  <a:pt x="3264152" y="761517"/>
                </a:cubicBezTo>
                <a:lnTo>
                  <a:pt x="3263041" y="763661"/>
                </a:lnTo>
                <a:lnTo>
                  <a:pt x="3263967" y="764876"/>
                </a:lnTo>
                <a:lnTo>
                  <a:pt x="3272760" y="769157"/>
                </a:lnTo>
                <a:lnTo>
                  <a:pt x="3278551" y="766823"/>
                </a:lnTo>
                <a:cubicBezTo>
                  <a:pt x="3279170" y="767806"/>
                  <a:pt x="3278989" y="768602"/>
                  <a:pt x="3278452" y="769307"/>
                </a:cubicBezTo>
                <a:lnTo>
                  <a:pt x="3276511" y="770983"/>
                </a:lnTo>
                <a:lnTo>
                  <a:pt x="3280069" y="772715"/>
                </a:lnTo>
                <a:lnTo>
                  <a:pt x="3280252" y="772582"/>
                </a:lnTo>
                <a:cubicBezTo>
                  <a:pt x="3280663" y="772140"/>
                  <a:pt x="3281037" y="771919"/>
                  <a:pt x="3281553" y="772182"/>
                </a:cubicBezTo>
                <a:lnTo>
                  <a:pt x="3283406" y="774340"/>
                </a:lnTo>
                <a:lnTo>
                  <a:pt x="3283797" y="774530"/>
                </a:lnTo>
                <a:lnTo>
                  <a:pt x="3291534" y="761793"/>
                </a:lnTo>
                <a:cubicBezTo>
                  <a:pt x="3295449" y="761793"/>
                  <a:pt x="3291534" y="764780"/>
                  <a:pt x="3294006" y="766823"/>
                </a:cubicBezTo>
                <a:cubicBezTo>
                  <a:pt x="3301836" y="764780"/>
                  <a:pt x="3301836" y="761793"/>
                  <a:pt x="3303279" y="758805"/>
                </a:cubicBezTo>
                <a:cubicBezTo>
                  <a:pt x="3294006" y="758805"/>
                  <a:pt x="3300600" y="756919"/>
                  <a:pt x="3297922" y="750944"/>
                </a:cubicBezTo>
                <a:cubicBezTo>
                  <a:pt x="3295449" y="750944"/>
                  <a:pt x="3292770" y="751887"/>
                  <a:pt x="3288854" y="753932"/>
                </a:cubicBezTo>
                <a:cubicBezTo>
                  <a:pt x="3287618" y="750944"/>
                  <a:pt x="3294006" y="750001"/>
                  <a:pt x="3292770" y="747013"/>
                </a:cubicBezTo>
                <a:cubicBezTo>
                  <a:pt x="3295449" y="747013"/>
                  <a:pt x="3296685" y="750001"/>
                  <a:pt x="3300600" y="747013"/>
                </a:cubicBezTo>
                <a:cubicBezTo>
                  <a:pt x="3292718" y="741707"/>
                  <a:pt x="3288661" y="736490"/>
                  <a:pt x="3281561" y="738391"/>
                </a:cubicBezTo>
                <a:close/>
                <a:moveTo>
                  <a:pt x="3003376" y="737010"/>
                </a:moveTo>
                <a:cubicBezTo>
                  <a:pt x="3000465" y="736283"/>
                  <a:pt x="2995932" y="736558"/>
                  <a:pt x="2993357" y="738052"/>
                </a:cubicBezTo>
                <a:cubicBezTo>
                  <a:pt x="2999745" y="744970"/>
                  <a:pt x="2990678" y="738995"/>
                  <a:pt x="2985526" y="741982"/>
                </a:cubicBezTo>
                <a:cubicBezTo>
                  <a:pt x="2990678" y="750944"/>
                  <a:pt x="2976459" y="754874"/>
                  <a:pt x="2980375" y="763837"/>
                </a:cubicBezTo>
                <a:cubicBezTo>
                  <a:pt x="2976459" y="762893"/>
                  <a:pt x="2973780" y="763837"/>
                  <a:pt x="2972544" y="765880"/>
                </a:cubicBezTo>
                <a:cubicBezTo>
                  <a:pt x="2977695" y="769811"/>
                  <a:pt x="2980375" y="774685"/>
                  <a:pt x="2972544" y="772798"/>
                </a:cubicBezTo>
                <a:cubicBezTo>
                  <a:pt x="2975017" y="776729"/>
                  <a:pt x="2982847" y="775786"/>
                  <a:pt x="2977695" y="783647"/>
                </a:cubicBezTo>
                <a:cubicBezTo>
                  <a:pt x="2987998" y="780659"/>
                  <a:pt x="2984290" y="774685"/>
                  <a:pt x="2977695" y="767767"/>
                </a:cubicBezTo>
                <a:cubicBezTo>
                  <a:pt x="2978932" y="763837"/>
                  <a:pt x="2986762" y="761793"/>
                  <a:pt x="2989442" y="758805"/>
                </a:cubicBezTo>
                <a:cubicBezTo>
                  <a:pt x="2989442" y="760849"/>
                  <a:pt x="2987998" y="761793"/>
                  <a:pt x="2990678" y="761793"/>
                </a:cubicBezTo>
                <a:cubicBezTo>
                  <a:pt x="2986762" y="765880"/>
                  <a:pt x="2984290" y="775786"/>
                  <a:pt x="2991914" y="779716"/>
                </a:cubicBezTo>
                <a:cubicBezTo>
                  <a:pt x="3001187" y="776729"/>
                  <a:pt x="2993357" y="770754"/>
                  <a:pt x="2994593" y="766823"/>
                </a:cubicBezTo>
                <a:cubicBezTo>
                  <a:pt x="2994593" y="766823"/>
                  <a:pt x="2994593" y="766823"/>
                  <a:pt x="3005102" y="763837"/>
                </a:cubicBezTo>
                <a:cubicBezTo>
                  <a:pt x="3003660" y="755818"/>
                  <a:pt x="3015406" y="744970"/>
                  <a:pt x="2998508" y="741039"/>
                </a:cubicBezTo>
                <a:cubicBezTo>
                  <a:pt x="3001187" y="738995"/>
                  <a:pt x="3002423" y="741039"/>
                  <a:pt x="3003660" y="741982"/>
                </a:cubicBezTo>
                <a:cubicBezTo>
                  <a:pt x="3007575" y="739467"/>
                  <a:pt x="3006287" y="737737"/>
                  <a:pt x="3003376" y="737010"/>
                </a:cubicBezTo>
                <a:close/>
                <a:moveTo>
                  <a:pt x="2779589" y="736248"/>
                </a:moveTo>
                <a:cubicBezTo>
                  <a:pt x="2794000" y="745954"/>
                  <a:pt x="2775677" y="745954"/>
                  <a:pt x="2771766" y="752733"/>
                </a:cubicBezTo>
                <a:cubicBezTo>
                  <a:pt x="2767854" y="747032"/>
                  <a:pt x="2779589" y="744105"/>
                  <a:pt x="2775677" y="737173"/>
                </a:cubicBezTo>
                <a:cubicBezTo>
                  <a:pt x="2777118" y="739176"/>
                  <a:pt x="2778354" y="738251"/>
                  <a:pt x="2779589" y="736248"/>
                </a:cubicBezTo>
                <a:close/>
                <a:moveTo>
                  <a:pt x="3093567" y="734862"/>
                </a:moveTo>
                <a:cubicBezTo>
                  <a:pt x="3103865" y="735837"/>
                  <a:pt x="3097403" y="741036"/>
                  <a:pt x="3096192" y="745098"/>
                </a:cubicBezTo>
                <a:cubicBezTo>
                  <a:pt x="3085893" y="744123"/>
                  <a:pt x="3096192" y="741036"/>
                  <a:pt x="3093567" y="734862"/>
                </a:cubicBezTo>
                <a:close/>
                <a:moveTo>
                  <a:pt x="2787684" y="725849"/>
                </a:moveTo>
                <a:cubicBezTo>
                  <a:pt x="2790463" y="727807"/>
                  <a:pt x="2794526" y="725849"/>
                  <a:pt x="2795809" y="727807"/>
                </a:cubicBezTo>
                <a:cubicBezTo>
                  <a:pt x="2786402" y="727807"/>
                  <a:pt x="2790463" y="734005"/>
                  <a:pt x="2786402" y="732048"/>
                </a:cubicBezTo>
                <a:cubicBezTo>
                  <a:pt x="2787684" y="729927"/>
                  <a:pt x="2785119" y="726828"/>
                  <a:pt x="2787684" y="725849"/>
                </a:cubicBezTo>
                <a:close/>
                <a:moveTo>
                  <a:pt x="2711301" y="722383"/>
                </a:moveTo>
                <a:cubicBezTo>
                  <a:pt x="2708736" y="727212"/>
                  <a:pt x="2704673" y="732197"/>
                  <a:pt x="2701894" y="736093"/>
                </a:cubicBezTo>
                <a:cubicBezTo>
                  <a:pt x="2700611" y="731107"/>
                  <a:pt x="2704673" y="723318"/>
                  <a:pt x="2711301" y="722383"/>
                </a:cubicBezTo>
                <a:close/>
                <a:moveTo>
                  <a:pt x="3239399" y="722172"/>
                </a:moveTo>
                <a:cubicBezTo>
                  <a:pt x="3230331" y="727046"/>
                  <a:pt x="3239399" y="735064"/>
                  <a:pt x="3235483" y="741982"/>
                </a:cubicBezTo>
                <a:cubicBezTo>
                  <a:pt x="3243314" y="736007"/>
                  <a:pt x="3238162" y="727989"/>
                  <a:pt x="3245992" y="723116"/>
                </a:cubicBezTo>
                <a:cubicBezTo>
                  <a:pt x="3244550" y="721071"/>
                  <a:pt x="3240635" y="724059"/>
                  <a:pt x="3239399" y="722172"/>
                </a:cubicBezTo>
                <a:close/>
                <a:moveTo>
                  <a:pt x="3141724" y="720128"/>
                </a:moveTo>
                <a:cubicBezTo>
                  <a:pt x="3132657" y="724059"/>
                  <a:pt x="3129978" y="729090"/>
                  <a:pt x="3133893" y="735064"/>
                </a:cubicBezTo>
                <a:cubicBezTo>
                  <a:pt x="3140488" y="730977"/>
                  <a:pt x="3144403" y="726103"/>
                  <a:pt x="3141724" y="720128"/>
                </a:cubicBezTo>
                <a:close/>
                <a:moveTo>
                  <a:pt x="3556208" y="718916"/>
                </a:moveTo>
                <a:cubicBezTo>
                  <a:pt x="3558666" y="720821"/>
                  <a:pt x="3562556" y="720821"/>
                  <a:pt x="3567881" y="720821"/>
                </a:cubicBezTo>
                <a:cubicBezTo>
                  <a:pt x="3569109" y="726852"/>
                  <a:pt x="3562556" y="726852"/>
                  <a:pt x="3561328" y="731930"/>
                </a:cubicBezTo>
                <a:cubicBezTo>
                  <a:pt x="3556208" y="729867"/>
                  <a:pt x="3554775" y="724788"/>
                  <a:pt x="3556208" y="718916"/>
                </a:cubicBezTo>
                <a:close/>
                <a:moveTo>
                  <a:pt x="2800396" y="717067"/>
                </a:moveTo>
                <a:cubicBezTo>
                  <a:pt x="2805810" y="719995"/>
                  <a:pt x="2796648" y="722922"/>
                  <a:pt x="2791233" y="721997"/>
                </a:cubicBezTo>
                <a:cubicBezTo>
                  <a:pt x="2786028" y="719070"/>
                  <a:pt x="2796648" y="716143"/>
                  <a:pt x="2800396" y="717067"/>
                </a:cubicBezTo>
                <a:close/>
                <a:moveTo>
                  <a:pt x="3266239" y="709742"/>
                </a:moveTo>
                <a:cubicBezTo>
                  <a:pt x="3263882" y="710744"/>
                  <a:pt x="3263148" y="715372"/>
                  <a:pt x="3260211" y="716197"/>
                </a:cubicBezTo>
                <a:cubicBezTo>
                  <a:pt x="3260211" y="716197"/>
                  <a:pt x="3260211" y="716197"/>
                  <a:pt x="3265569" y="723116"/>
                </a:cubicBezTo>
                <a:cubicBezTo>
                  <a:pt x="3271958" y="717141"/>
                  <a:pt x="3275872" y="725002"/>
                  <a:pt x="3278551" y="718085"/>
                </a:cubicBezTo>
                <a:cubicBezTo>
                  <a:pt x="3275872" y="712110"/>
                  <a:pt x="3268041" y="721071"/>
                  <a:pt x="3265569" y="719185"/>
                </a:cubicBezTo>
                <a:cubicBezTo>
                  <a:pt x="3265569" y="716197"/>
                  <a:pt x="3270721" y="714154"/>
                  <a:pt x="3269278" y="710223"/>
                </a:cubicBezTo>
                <a:cubicBezTo>
                  <a:pt x="3267991" y="709476"/>
                  <a:pt x="3267024" y="709408"/>
                  <a:pt x="3266239" y="709742"/>
                </a:cubicBezTo>
                <a:close/>
                <a:moveTo>
                  <a:pt x="3128097" y="705745"/>
                </a:moveTo>
                <a:cubicBezTo>
                  <a:pt x="3129308" y="711471"/>
                  <a:pt x="3112750" y="712526"/>
                  <a:pt x="3107702" y="709663"/>
                </a:cubicBezTo>
                <a:cubicBezTo>
                  <a:pt x="3111539" y="706799"/>
                  <a:pt x="3123048" y="707704"/>
                  <a:pt x="3128097" y="705745"/>
                </a:cubicBezTo>
                <a:close/>
                <a:moveTo>
                  <a:pt x="2846225" y="705192"/>
                </a:moveTo>
                <a:cubicBezTo>
                  <a:pt x="2838396" y="704248"/>
                  <a:pt x="2833244" y="711166"/>
                  <a:pt x="2835716" y="714154"/>
                </a:cubicBezTo>
                <a:cubicBezTo>
                  <a:pt x="2844783" y="712110"/>
                  <a:pt x="2839632" y="708179"/>
                  <a:pt x="2846225" y="705192"/>
                </a:cubicBezTo>
                <a:close/>
                <a:moveTo>
                  <a:pt x="3541246" y="705051"/>
                </a:moveTo>
                <a:cubicBezTo>
                  <a:pt x="3546496" y="710121"/>
                  <a:pt x="3552755" y="718045"/>
                  <a:pt x="3548919" y="726126"/>
                </a:cubicBezTo>
                <a:cubicBezTo>
                  <a:pt x="3534783" y="727077"/>
                  <a:pt x="3546496" y="711072"/>
                  <a:pt x="3531149" y="713132"/>
                </a:cubicBezTo>
                <a:cubicBezTo>
                  <a:pt x="3531149" y="711072"/>
                  <a:pt x="3534783" y="712023"/>
                  <a:pt x="3537409" y="711072"/>
                </a:cubicBezTo>
                <a:cubicBezTo>
                  <a:pt x="3541246" y="711072"/>
                  <a:pt x="3540034" y="707111"/>
                  <a:pt x="3541246" y="705051"/>
                </a:cubicBezTo>
                <a:close/>
                <a:moveTo>
                  <a:pt x="3175393" y="701760"/>
                </a:moveTo>
                <a:cubicBezTo>
                  <a:pt x="3173959" y="701576"/>
                  <a:pt x="3172324" y="701930"/>
                  <a:pt x="3170366" y="703148"/>
                </a:cubicBezTo>
                <a:cubicBezTo>
                  <a:pt x="3173045" y="707236"/>
                  <a:pt x="3176961" y="704248"/>
                  <a:pt x="3178197" y="709122"/>
                </a:cubicBezTo>
                <a:cubicBezTo>
                  <a:pt x="3175518" y="711166"/>
                  <a:pt x="3174281" y="710223"/>
                  <a:pt x="3171809" y="708179"/>
                </a:cubicBezTo>
                <a:cubicBezTo>
                  <a:pt x="3167894" y="710223"/>
                  <a:pt x="3170366" y="714154"/>
                  <a:pt x="3174281" y="717141"/>
                </a:cubicBezTo>
                <a:cubicBezTo>
                  <a:pt x="3176961" y="714154"/>
                  <a:pt x="3179433" y="717141"/>
                  <a:pt x="3180876" y="719185"/>
                </a:cubicBezTo>
                <a:cubicBezTo>
                  <a:pt x="3180876" y="719185"/>
                  <a:pt x="3180876" y="719185"/>
                  <a:pt x="3181855" y="718674"/>
                </a:cubicBezTo>
                <a:lnTo>
                  <a:pt x="3183743" y="717688"/>
                </a:lnTo>
                <a:lnTo>
                  <a:pt x="3182148" y="714339"/>
                </a:lnTo>
                <a:lnTo>
                  <a:pt x="3182000" y="713893"/>
                </a:lnTo>
                <a:lnTo>
                  <a:pt x="3178197" y="713210"/>
                </a:lnTo>
                <a:cubicBezTo>
                  <a:pt x="3176858" y="711166"/>
                  <a:pt x="3178145" y="711166"/>
                  <a:pt x="3180103" y="711166"/>
                </a:cubicBezTo>
                <a:lnTo>
                  <a:pt x="3180995" y="710859"/>
                </a:lnTo>
                <a:lnTo>
                  <a:pt x="3178474" y="703248"/>
                </a:lnTo>
                <a:close/>
                <a:moveTo>
                  <a:pt x="3245992" y="701261"/>
                </a:moveTo>
                <a:cubicBezTo>
                  <a:pt x="3240635" y="703148"/>
                  <a:pt x="3239399" y="707236"/>
                  <a:pt x="3242077" y="710223"/>
                </a:cubicBezTo>
                <a:cubicBezTo>
                  <a:pt x="3247229" y="705192"/>
                  <a:pt x="3247229" y="714154"/>
                  <a:pt x="3252380" y="709122"/>
                </a:cubicBezTo>
                <a:cubicBezTo>
                  <a:pt x="3253823" y="706135"/>
                  <a:pt x="3249908" y="701261"/>
                  <a:pt x="3245992" y="701261"/>
                </a:cubicBezTo>
                <a:close/>
                <a:moveTo>
                  <a:pt x="3390652" y="700891"/>
                </a:moveTo>
                <a:cubicBezTo>
                  <a:pt x="3397363" y="702740"/>
                  <a:pt x="3390652" y="712600"/>
                  <a:pt x="3390652" y="717376"/>
                </a:cubicBezTo>
                <a:cubicBezTo>
                  <a:pt x="3386668" y="711521"/>
                  <a:pt x="3383942" y="705667"/>
                  <a:pt x="3390652" y="700891"/>
                </a:cubicBezTo>
                <a:close/>
                <a:moveTo>
                  <a:pt x="3262890" y="698274"/>
                </a:moveTo>
                <a:cubicBezTo>
                  <a:pt x="3257738" y="700160"/>
                  <a:pt x="3255060" y="703148"/>
                  <a:pt x="3257738" y="706135"/>
                </a:cubicBezTo>
                <a:cubicBezTo>
                  <a:pt x="3261653" y="704248"/>
                  <a:pt x="3264127" y="706135"/>
                  <a:pt x="3266805" y="704248"/>
                </a:cubicBezTo>
                <a:close/>
                <a:moveTo>
                  <a:pt x="3135786" y="697425"/>
                </a:moveTo>
                <a:cubicBezTo>
                  <a:pt x="3137063" y="699505"/>
                  <a:pt x="3141110" y="702545"/>
                  <a:pt x="3138341" y="703504"/>
                </a:cubicBezTo>
                <a:cubicBezTo>
                  <a:pt x="3135786" y="702545"/>
                  <a:pt x="3131739" y="703504"/>
                  <a:pt x="3127693" y="701585"/>
                </a:cubicBezTo>
                <a:cubicBezTo>
                  <a:pt x="3133018" y="698545"/>
                  <a:pt x="3134295" y="701585"/>
                  <a:pt x="3135786" y="697425"/>
                </a:cubicBezTo>
                <a:close/>
                <a:moveTo>
                  <a:pt x="3024472" y="696230"/>
                </a:moveTo>
                <a:cubicBezTo>
                  <a:pt x="3019320" y="699218"/>
                  <a:pt x="3018084" y="702205"/>
                  <a:pt x="3018084" y="706135"/>
                </a:cubicBezTo>
                <a:cubicBezTo>
                  <a:pt x="3014169" y="708179"/>
                  <a:pt x="3015406" y="702205"/>
                  <a:pt x="3016848" y="701261"/>
                </a:cubicBezTo>
                <a:cubicBezTo>
                  <a:pt x="3008811" y="702205"/>
                  <a:pt x="3010254" y="714154"/>
                  <a:pt x="3010254" y="719185"/>
                </a:cubicBezTo>
                <a:cubicBezTo>
                  <a:pt x="2998508" y="720128"/>
                  <a:pt x="3012726" y="722172"/>
                  <a:pt x="2998508" y="724059"/>
                </a:cubicBezTo>
                <a:cubicBezTo>
                  <a:pt x="3002423" y="733964"/>
                  <a:pt x="3012726" y="733964"/>
                  <a:pt x="3011490" y="744970"/>
                </a:cubicBezTo>
                <a:cubicBezTo>
                  <a:pt x="3016848" y="741982"/>
                  <a:pt x="3020763" y="735064"/>
                  <a:pt x="3011490" y="732077"/>
                </a:cubicBezTo>
                <a:cubicBezTo>
                  <a:pt x="3027151" y="730977"/>
                  <a:pt x="3016848" y="721071"/>
                  <a:pt x="3025915" y="715097"/>
                </a:cubicBezTo>
                <a:cubicBezTo>
                  <a:pt x="3016848" y="713210"/>
                  <a:pt x="3021999" y="708179"/>
                  <a:pt x="3019320" y="704248"/>
                </a:cubicBezTo>
                <a:cubicBezTo>
                  <a:pt x="3024472" y="702205"/>
                  <a:pt x="3029830" y="700160"/>
                  <a:pt x="3024472" y="696230"/>
                </a:cubicBezTo>
                <a:close/>
                <a:moveTo>
                  <a:pt x="2814902" y="693090"/>
                </a:moveTo>
                <a:cubicBezTo>
                  <a:pt x="2814902" y="696105"/>
                  <a:pt x="2812254" y="704199"/>
                  <a:pt x="2803292" y="701184"/>
                </a:cubicBezTo>
                <a:cubicBezTo>
                  <a:pt x="2809810" y="699120"/>
                  <a:pt x="2805940" y="691186"/>
                  <a:pt x="2814902" y="693090"/>
                </a:cubicBezTo>
                <a:close/>
                <a:moveTo>
                  <a:pt x="3047963" y="692300"/>
                </a:moveTo>
                <a:cubicBezTo>
                  <a:pt x="3044048" y="693243"/>
                  <a:pt x="3045285" y="696230"/>
                  <a:pt x="3047963" y="698274"/>
                </a:cubicBezTo>
                <a:cubicBezTo>
                  <a:pt x="3047963" y="698274"/>
                  <a:pt x="3047963" y="698274"/>
                  <a:pt x="3055794" y="695287"/>
                </a:cubicBezTo>
                <a:cubicBezTo>
                  <a:pt x="3054558" y="690255"/>
                  <a:pt x="3049200" y="697173"/>
                  <a:pt x="3047963" y="692300"/>
                </a:cubicBezTo>
                <a:close/>
                <a:moveTo>
                  <a:pt x="2627815" y="691218"/>
                </a:moveTo>
                <a:cubicBezTo>
                  <a:pt x="2630440" y="696255"/>
                  <a:pt x="2617719" y="693168"/>
                  <a:pt x="2618930" y="699342"/>
                </a:cubicBezTo>
                <a:cubicBezTo>
                  <a:pt x="2612468" y="693168"/>
                  <a:pt x="2621555" y="689106"/>
                  <a:pt x="2627815" y="691218"/>
                </a:cubicBezTo>
                <a:close/>
                <a:moveTo>
                  <a:pt x="2779299" y="691186"/>
                </a:moveTo>
                <a:cubicBezTo>
                  <a:pt x="2784643" y="691186"/>
                  <a:pt x="2783204" y="693066"/>
                  <a:pt x="2788548" y="696043"/>
                </a:cubicBezTo>
                <a:cubicBezTo>
                  <a:pt x="2780737" y="701058"/>
                  <a:pt x="2779299" y="708893"/>
                  <a:pt x="2783204" y="713907"/>
                </a:cubicBezTo>
                <a:cubicBezTo>
                  <a:pt x="2780737" y="711870"/>
                  <a:pt x="2776832" y="711870"/>
                  <a:pt x="2774160" y="709989"/>
                </a:cubicBezTo>
                <a:cubicBezTo>
                  <a:pt x="2780737" y="707012"/>
                  <a:pt x="2784643" y="702938"/>
                  <a:pt x="2776832" y="696983"/>
                </a:cubicBezTo>
                <a:cubicBezTo>
                  <a:pt x="2779299" y="694163"/>
                  <a:pt x="2787108" y="698080"/>
                  <a:pt x="2784643" y="695103"/>
                </a:cubicBezTo>
                <a:cubicBezTo>
                  <a:pt x="2783204" y="693066"/>
                  <a:pt x="2771488" y="692126"/>
                  <a:pt x="2779299" y="691186"/>
                </a:cubicBezTo>
                <a:close/>
                <a:moveTo>
                  <a:pt x="3204621" y="689849"/>
                </a:moveTo>
                <a:lnTo>
                  <a:pt x="3206443" y="695209"/>
                </a:lnTo>
                <a:lnTo>
                  <a:pt x="3207197" y="692113"/>
                </a:lnTo>
                <a:close/>
                <a:moveTo>
                  <a:pt x="3019320" y="688369"/>
                </a:moveTo>
                <a:cubicBezTo>
                  <a:pt x="3012726" y="694344"/>
                  <a:pt x="3028387" y="693243"/>
                  <a:pt x="3032302" y="698274"/>
                </a:cubicBezTo>
                <a:cubicBezTo>
                  <a:pt x="3033745" y="696230"/>
                  <a:pt x="3033745" y="694344"/>
                  <a:pt x="3031066" y="692300"/>
                </a:cubicBezTo>
                <a:cubicBezTo>
                  <a:pt x="3024472" y="695287"/>
                  <a:pt x="3027151" y="687269"/>
                  <a:pt x="3019320" y="688369"/>
                </a:cubicBezTo>
                <a:close/>
                <a:moveTo>
                  <a:pt x="2626342" y="682619"/>
                </a:moveTo>
                <a:cubicBezTo>
                  <a:pt x="2627215" y="682703"/>
                  <a:pt x="2628252" y="683140"/>
                  <a:pt x="2629536" y="684156"/>
                </a:cubicBezTo>
                <a:cubicBezTo>
                  <a:pt x="2628153" y="684156"/>
                  <a:pt x="2626968" y="684156"/>
                  <a:pt x="2625783" y="686268"/>
                </a:cubicBezTo>
                <a:cubicBezTo>
                  <a:pt x="2625783" y="687243"/>
                  <a:pt x="2628153" y="689355"/>
                  <a:pt x="2625783" y="690330"/>
                </a:cubicBezTo>
                <a:cubicBezTo>
                  <a:pt x="2620647" y="690330"/>
                  <a:pt x="2623215" y="688380"/>
                  <a:pt x="2620647" y="685292"/>
                </a:cubicBezTo>
                <a:cubicBezTo>
                  <a:pt x="2622573" y="685292"/>
                  <a:pt x="2623721" y="682368"/>
                  <a:pt x="2626342" y="682619"/>
                </a:cubicBezTo>
                <a:close/>
                <a:moveTo>
                  <a:pt x="619812" y="681458"/>
                </a:moveTo>
                <a:cubicBezTo>
                  <a:pt x="613217" y="687432"/>
                  <a:pt x="610538" y="684445"/>
                  <a:pt x="606622" y="683501"/>
                </a:cubicBezTo>
                <a:cubicBezTo>
                  <a:pt x="600234" y="691518"/>
                  <a:pt x="585808" y="692461"/>
                  <a:pt x="575504" y="700320"/>
                </a:cubicBezTo>
                <a:cubicBezTo>
                  <a:pt x="578183" y="703307"/>
                  <a:pt x="579419" y="707394"/>
                  <a:pt x="576740" y="712267"/>
                </a:cubicBezTo>
                <a:cubicBezTo>
                  <a:pt x="581892" y="707394"/>
                  <a:pt x="591166" y="702364"/>
                  <a:pt x="598998" y="698434"/>
                </a:cubicBezTo>
                <a:cubicBezTo>
                  <a:pt x="608065" y="693405"/>
                  <a:pt x="615896" y="688531"/>
                  <a:pt x="619812" y="681458"/>
                </a:cubicBezTo>
                <a:close/>
                <a:moveTo>
                  <a:pt x="2851377" y="681294"/>
                </a:moveTo>
                <a:cubicBezTo>
                  <a:pt x="2844783" y="683338"/>
                  <a:pt x="2842310" y="688369"/>
                  <a:pt x="2847462" y="689312"/>
                </a:cubicBezTo>
                <a:cubicBezTo>
                  <a:pt x="2851377" y="687269"/>
                  <a:pt x="2856529" y="685381"/>
                  <a:pt x="2851377" y="681294"/>
                </a:cubicBezTo>
                <a:close/>
                <a:moveTo>
                  <a:pt x="3059709" y="679408"/>
                </a:moveTo>
                <a:cubicBezTo>
                  <a:pt x="3051879" y="681294"/>
                  <a:pt x="3060946" y="686325"/>
                  <a:pt x="3063624" y="686325"/>
                </a:cubicBezTo>
                <a:cubicBezTo>
                  <a:pt x="3068776" y="685381"/>
                  <a:pt x="3064861" y="677363"/>
                  <a:pt x="3059709" y="679408"/>
                </a:cubicBezTo>
                <a:close/>
                <a:moveTo>
                  <a:pt x="2816089" y="679400"/>
                </a:moveTo>
                <a:cubicBezTo>
                  <a:pt x="2818797" y="681302"/>
                  <a:pt x="2824003" y="679400"/>
                  <a:pt x="2826710" y="683362"/>
                </a:cubicBezTo>
                <a:cubicBezTo>
                  <a:pt x="2820046" y="684312"/>
                  <a:pt x="2826710" y="690334"/>
                  <a:pt x="2820046" y="687324"/>
                </a:cubicBezTo>
                <a:cubicBezTo>
                  <a:pt x="2821504" y="686372"/>
                  <a:pt x="2820046" y="681302"/>
                  <a:pt x="2817547" y="682411"/>
                </a:cubicBezTo>
                <a:cubicBezTo>
                  <a:pt x="2816089" y="684312"/>
                  <a:pt x="2810883" y="688432"/>
                  <a:pt x="2806927" y="685422"/>
                </a:cubicBezTo>
                <a:cubicBezTo>
                  <a:pt x="2809634" y="683362"/>
                  <a:pt x="2812133" y="681302"/>
                  <a:pt x="2816089" y="679400"/>
                </a:cubicBezTo>
                <a:close/>
                <a:moveTo>
                  <a:pt x="2737279" y="679400"/>
                </a:moveTo>
                <a:cubicBezTo>
                  <a:pt x="2738562" y="682500"/>
                  <a:pt x="2734499" y="684457"/>
                  <a:pt x="2731934" y="687556"/>
                </a:cubicBezTo>
                <a:cubicBezTo>
                  <a:pt x="2727872" y="683478"/>
                  <a:pt x="2731934" y="681357"/>
                  <a:pt x="2737279" y="679400"/>
                </a:cubicBezTo>
                <a:close/>
                <a:moveTo>
                  <a:pt x="2959355" y="678464"/>
                </a:moveTo>
                <a:cubicBezTo>
                  <a:pt x="2952967" y="680350"/>
                  <a:pt x="2956883" y="684281"/>
                  <a:pt x="2955440" y="687269"/>
                </a:cubicBezTo>
                <a:cubicBezTo>
                  <a:pt x="2963271" y="689312"/>
                  <a:pt x="2962035" y="681294"/>
                  <a:pt x="2959355" y="678464"/>
                </a:cubicBezTo>
                <a:close/>
                <a:moveTo>
                  <a:pt x="3271316" y="677960"/>
                </a:moveTo>
                <a:cubicBezTo>
                  <a:pt x="3267269" y="678543"/>
                  <a:pt x="3265105" y="684320"/>
                  <a:pt x="3268041" y="687269"/>
                </a:cubicBezTo>
                <a:cubicBezTo>
                  <a:pt x="3273194" y="684281"/>
                  <a:pt x="3271958" y="681294"/>
                  <a:pt x="3275872" y="679408"/>
                </a:cubicBezTo>
                <a:cubicBezTo>
                  <a:pt x="3274224" y="678149"/>
                  <a:pt x="3272666" y="677766"/>
                  <a:pt x="3271316" y="677960"/>
                </a:cubicBezTo>
                <a:close/>
                <a:moveTo>
                  <a:pt x="3408860" y="675906"/>
                </a:moveTo>
                <a:cubicBezTo>
                  <a:pt x="3409166" y="675542"/>
                  <a:pt x="3409777" y="675542"/>
                  <a:pt x="3410999" y="676537"/>
                </a:cubicBezTo>
                <a:cubicBezTo>
                  <a:pt x="3408555" y="679446"/>
                  <a:pt x="3408555" y="683272"/>
                  <a:pt x="3404686" y="686179"/>
                </a:cubicBezTo>
                <a:cubicBezTo>
                  <a:pt x="3403260" y="684190"/>
                  <a:pt x="3399389" y="681281"/>
                  <a:pt x="3402037" y="679446"/>
                </a:cubicBezTo>
                <a:cubicBezTo>
                  <a:pt x="3403260" y="680364"/>
                  <a:pt x="3405907" y="679446"/>
                  <a:pt x="3408555" y="677455"/>
                </a:cubicBezTo>
                <a:cubicBezTo>
                  <a:pt x="3408555" y="676996"/>
                  <a:pt x="3408555" y="676269"/>
                  <a:pt x="3408860" y="675906"/>
                </a:cubicBezTo>
                <a:close/>
                <a:moveTo>
                  <a:pt x="3256296" y="675477"/>
                </a:moveTo>
                <a:cubicBezTo>
                  <a:pt x="3249908" y="678464"/>
                  <a:pt x="3252380" y="682394"/>
                  <a:pt x="3247229" y="686325"/>
                </a:cubicBezTo>
                <a:cubicBezTo>
                  <a:pt x="3253823" y="688369"/>
                  <a:pt x="3260211" y="679408"/>
                  <a:pt x="3256296" y="675477"/>
                </a:cubicBezTo>
                <a:close/>
                <a:moveTo>
                  <a:pt x="2634764" y="670388"/>
                </a:moveTo>
                <a:cubicBezTo>
                  <a:pt x="2641341" y="675286"/>
                  <a:pt x="2634764" y="678194"/>
                  <a:pt x="2630858" y="682020"/>
                </a:cubicBezTo>
                <a:cubicBezTo>
                  <a:pt x="2626954" y="680031"/>
                  <a:pt x="2634764" y="674214"/>
                  <a:pt x="2626954" y="675286"/>
                </a:cubicBezTo>
                <a:cubicBezTo>
                  <a:pt x="2624282" y="672377"/>
                  <a:pt x="2633530" y="673295"/>
                  <a:pt x="2634764" y="670388"/>
                </a:cubicBezTo>
                <a:close/>
                <a:moveTo>
                  <a:pt x="632796" y="669669"/>
                </a:moveTo>
                <a:cubicBezTo>
                  <a:pt x="626201" y="673598"/>
                  <a:pt x="621049" y="676585"/>
                  <a:pt x="622285" y="680514"/>
                </a:cubicBezTo>
                <a:cubicBezTo>
                  <a:pt x="626201" y="680514"/>
                  <a:pt x="634032" y="673598"/>
                  <a:pt x="632796" y="669669"/>
                </a:cubicBezTo>
                <a:close/>
                <a:moveTo>
                  <a:pt x="3218585" y="665414"/>
                </a:moveTo>
                <a:cubicBezTo>
                  <a:pt x="3215907" y="668402"/>
                  <a:pt x="3210755" y="671389"/>
                  <a:pt x="3208076" y="675477"/>
                </a:cubicBezTo>
                <a:cubicBezTo>
                  <a:pt x="3208076" y="675477"/>
                  <a:pt x="3208076" y="675477"/>
                  <a:pt x="3213434" y="681294"/>
                </a:cubicBezTo>
                <a:cubicBezTo>
                  <a:pt x="3217349" y="679408"/>
                  <a:pt x="3219821" y="679408"/>
                  <a:pt x="3221265" y="681294"/>
                </a:cubicBezTo>
                <a:cubicBezTo>
                  <a:pt x="3221265" y="676420"/>
                  <a:pt x="3218585" y="670445"/>
                  <a:pt x="3218585" y="665414"/>
                </a:cubicBezTo>
                <a:close/>
                <a:moveTo>
                  <a:pt x="2751171" y="665323"/>
                </a:moveTo>
                <a:lnTo>
                  <a:pt x="2751154" y="665383"/>
                </a:lnTo>
                <a:lnTo>
                  <a:pt x="2751103" y="665382"/>
                </a:lnTo>
                <a:close/>
                <a:moveTo>
                  <a:pt x="617133" y="664638"/>
                </a:moveTo>
                <a:lnTo>
                  <a:pt x="608065" y="670612"/>
                </a:lnTo>
                <a:cubicBezTo>
                  <a:pt x="610538" y="676585"/>
                  <a:pt x="623727" y="668568"/>
                  <a:pt x="617133" y="664638"/>
                </a:cubicBezTo>
                <a:close/>
                <a:moveTo>
                  <a:pt x="3147016" y="663455"/>
                </a:moveTo>
                <a:cubicBezTo>
                  <a:pt x="3153832" y="665303"/>
                  <a:pt x="3149785" y="674084"/>
                  <a:pt x="3151063" y="679939"/>
                </a:cubicBezTo>
                <a:cubicBezTo>
                  <a:pt x="3147016" y="677012"/>
                  <a:pt x="3147016" y="677012"/>
                  <a:pt x="3140414" y="674084"/>
                </a:cubicBezTo>
                <a:cubicBezTo>
                  <a:pt x="3142970" y="668231"/>
                  <a:pt x="3149785" y="669309"/>
                  <a:pt x="3147016" y="663455"/>
                </a:cubicBezTo>
                <a:close/>
                <a:moveTo>
                  <a:pt x="3268041" y="660540"/>
                </a:moveTo>
                <a:cubicBezTo>
                  <a:pt x="3265569" y="662427"/>
                  <a:pt x="3262890" y="663528"/>
                  <a:pt x="3261653" y="662427"/>
                </a:cubicBezTo>
                <a:cubicBezTo>
                  <a:pt x="3258975" y="669502"/>
                  <a:pt x="3256296" y="672489"/>
                  <a:pt x="3261653" y="678464"/>
                </a:cubicBezTo>
                <a:cubicBezTo>
                  <a:pt x="3258975" y="672489"/>
                  <a:pt x="3270721" y="667458"/>
                  <a:pt x="3268041" y="660540"/>
                </a:cubicBezTo>
                <a:close/>
                <a:moveTo>
                  <a:pt x="2752466" y="660540"/>
                </a:moveTo>
                <a:cubicBezTo>
                  <a:pt x="2755660" y="661484"/>
                  <a:pt x="2754011" y="662977"/>
                  <a:pt x="2752543" y="664097"/>
                </a:cubicBezTo>
                <a:lnTo>
                  <a:pt x="2751171" y="665323"/>
                </a:lnTo>
                <a:close/>
                <a:moveTo>
                  <a:pt x="2669751" y="655136"/>
                </a:moveTo>
                <a:cubicBezTo>
                  <a:pt x="2674967" y="660219"/>
                  <a:pt x="2662328" y="664191"/>
                  <a:pt x="2663532" y="670228"/>
                </a:cubicBezTo>
                <a:cubicBezTo>
                  <a:pt x="2659720" y="665145"/>
                  <a:pt x="2668548" y="657201"/>
                  <a:pt x="2669751" y="655136"/>
                </a:cubicBezTo>
                <a:close/>
                <a:moveTo>
                  <a:pt x="744700" y="654736"/>
                </a:moveTo>
                <a:cubicBezTo>
                  <a:pt x="740784" y="658665"/>
                  <a:pt x="729244" y="661652"/>
                  <a:pt x="730480" y="664638"/>
                </a:cubicBezTo>
                <a:cubicBezTo>
                  <a:pt x="736869" y="664638"/>
                  <a:pt x="743463" y="658665"/>
                  <a:pt x="744700" y="654736"/>
                </a:cubicBezTo>
                <a:close/>
                <a:moveTo>
                  <a:pt x="3301836" y="653465"/>
                </a:moveTo>
                <a:cubicBezTo>
                  <a:pt x="3284939" y="657553"/>
                  <a:pt x="3286382" y="675477"/>
                  <a:pt x="3286382" y="681294"/>
                </a:cubicBezTo>
                <a:cubicBezTo>
                  <a:pt x="3282467" y="677363"/>
                  <a:pt x="3278551" y="679408"/>
                  <a:pt x="3275872" y="687269"/>
                </a:cubicBezTo>
                <a:cubicBezTo>
                  <a:pt x="3278551" y="688369"/>
                  <a:pt x="3281024" y="688369"/>
                  <a:pt x="3284939" y="686325"/>
                </a:cubicBezTo>
                <a:cubicBezTo>
                  <a:pt x="3279787" y="694344"/>
                  <a:pt x="3269278" y="706135"/>
                  <a:pt x="3275872" y="711166"/>
                </a:cubicBezTo>
                <a:cubicBezTo>
                  <a:pt x="3283703" y="704248"/>
                  <a:pt x="3283703" y="698274"/>
                  <a:pt x="3295449" y="694344"/>
                </a:cubicBezTo>
                <a:cubicBezTo>
                  <a:pt x="3296685" y="688369"/>
                  <a:pt x="3301836" y="683338"/>
                  <a:pt x="3292770" y="676420"/>
                </a:cubicBezTo>
                <a:cubicBezTo>
                  <a:pt x="3296685" y="677363"/>
                  <a:pt x="3300600" y="679408"/>
                  <a:pt x="3305752" y="678464"/>
                </a:cubicBezTo>
                <a:cubicBezTo>
                  <a:pt x="3308431" y="675477"/>
                  <a:pt x="3309667" y="672489"/>
                  <a:pt x="3309667" y="668402"/>
                </a:cubicBezTo>
                <a:cubicBezTo>
                  <a:pt x="3305752" y="666515"/>
                  <a:pt x="3303279" y="663528"/>
                  <a:pt x="3299363" y="663528"/>
                </a:cubicBezTo>
                <a:cubicBezTo>
                  <a:pt x="3301836" y="658496"/>
                  <a:pt x="3296685" y="659439"/>
                  <a:pt x="3301836" y="653465"/>
                </a:cubicBezTo>
                <a:close/>
                <a:moveTo>
                  <a:pt x="2835446" y="653056"/>
                </a:moveTo>
                <a:cubicBezTo>
                  <a:pt x="2838172" y="654144"/>
                  <a:pt x="2840688" y="654144"/>
                  <a:pt x="2842157" y="656008"/>
                </a:cubicBezTo>
                <a:cubicBezTo>
                  <a:pt x="2838172" y="658029"/>
                  <a:pt x="2836704" y="661913"/>
                  <a:pt x="2831461" y="658961"/>
                </a:cubicBezTo>
                <a:cubicBezTo>
                  <a:pt x="2834189" y="658029"/>
                  <a:pt x="2836704" y="658029"/>
                  <a:pt x="2838172" y="658029"/>
                </a:cubicBezTo>
                <a:cubicBezTo>
                  <a:pt x="2836704" y="656008"/>
                  <a:pt x="2832929" y="654144"/>
                  <a:pt x="2835446" y="653056"/>
                </a:cubicBezTo>
                <a:close/>
                <a:moveTo>
                  <a:pt x="3100821" y="646124"/>
                </a:moveTo>
                <a:cubicBezTo>
                  <a:pt x="3102045" y="650348"/>
                  <a:pt x="3095716" y="652298"/>
                  <a:pt x="3098370" y="656360"/>
                </a:cubicBezTo>
                <a:cubicBezTo>
                  <a:pt x="3089181" y="651323"/>
                  <a:pt x="3084076" y="651323"/>
                  <a:pt x="3100821" y="646124"/>
                </a:cubicBezTo>
                <a:close/>
                <a:moveTo>
                  <a:pt x="3204556" y="643972"/>
                </a:moveTo>
                <a:lnTo>
                  <a:pt x="3202844" y="649159"/>
                </a:lnTo>
                <a:lnTo>
                  <a:pt x="3205500" y="650969"/>
                </a:lnTo>
                <a:cubicBezTo>
                  <a:pt x="3207768" y="651853"/>
                  <a:pt x="3210034" y="652600"/>
                  <a:pt x="3211992" y="654566"/>
                </a:cubicBezTo>
                <a:cubicBezTo>
                  <a:pt x="3219821" y="653465"/>
                  <a:pt x="3209519" y="649534"/>
                  <a:pt x="3217349" y="648592"/>
                </a:cubicBezTo>
                <a:cubicBezTo>
                  <a:pt x="3215907" y="644661"/>
                  <a:pt x="3210755" y="649534"/>
                  <a:pt x="3208076" y="647648"/>
                </a:cubicBezTo>
                <a:close/>
                <a:moveTo>
                  <a:pt x="2683030" y="641270"/>
                </a:moveTo>
                <a:cubicBezTo>
                  <a:pt x="2686784" y="646182"/>
                  <a:pt x="2681647" y="650302"/>
                  <a:pt x="2679277" y="652204"/>
                </a:cubicBezTo>
                <a:cubicBezTo>
                  <a:pt x="2677894" y="648242"/>
                  <a:pt x="2683030" y="645232"/>
                  <a:pt x="2683030" y="641270"/>
                </a:cubicBezTo>
                <a:close/>
                <a:moveTo>
                  <a:pt x="3275872" y="639629"/>
                </a:moveTo>
                <a:lnTo>
                  <a:pt x="3271958" y="642617"/>
                </a:lnTo>
                <a:lnTo>
                  <a:pt x="3272435" y="642684"/>
                </a:lnTo>
                <a:lnTo>
                  <a:pt x="3268068" y="646567"/>
                </a:lnTo>
                <a:cubicBezTo>
                  <a:pt x="3267424" y="650281"/>
                  <a:pt x="3267424" y="654487"/>
                  <a:pt x="3264127" y="656453"/>
                </a:cubicBezTo>
                <a:cubicBezTo>
                  <a:pt x="3271958" y="660540"/>
                  <a:pt x="3271958" y="640573"/>
                  <a:pt x="3281024" y="651578"/>
                </a:cubicBezTo>
                <a:cubicBezTo>
                  <a:pt x="3286382" y="649534"/>
                  <a:pt x="3282467" y="646547"/>
                  <a:pt x="3286382" y="644661"/>
                </a:cubicBezTo>
                <a:lnTo>
                  <a:pt x="3272435" y="642684"/>
                </a:lnTo>
                <a:close/>
                <a:moveTo>
                  <a:pt x="3208506" y="635736"/>
                </a:moveTo>
                <a:lnTo>
                  <a:pt x="3207759" y="637003"/>
                </a:lnTo>
                <a:lnTo>
                  <a:pt x="3208681" y="636281"/>
                </a:lnTo>
                <a:close/>
                <a:moveTo>
                  <a:pt x="2838347" y="635316"/>
                </a:moveTo>
                <a:cubicBezTo>
                  <a:pt x="2843466" y="634338"/>
                  <a:pt x="2847357" y="634338"/>
                  <a:pt x="2851248" y="636295"/>
                </a:cubicBezTo>
                <a:cubicBezTo>
                  <a:pt x="2842238" y="638416"/>
                  <a:pt x="2851248" y="641515"/>
                  <a:pt x="2844695" y="642494"/>
                </a:cubicBezTo>
                <a:cubicBezTo>
                  <a:pt x="2836914" y="641515"/>
                  <a:pt x="2846129" y="638416"/>
                  <a:pt x="2838347" y="635316"/>
                </a:cubicBezTo>
                <a:close/>
                <a:moveTo>
                  <a:pt x="2813366" y="633515"/>
                </a:moveTo>
                <a:cubicBezTo>
                  <a:pt x="2811940" y="634652"/>
                  <a:pt x="2815810" y="641801"/>
                  <a:pt x="2808070" y="639689"/>
                </a:cubicBezTo>
                <a:cubicBezTo>
                  <a:pt x="2810719" y="638714"/>
                  <a:pt x="2804201" y="631565"/>
                  <a:pt x="2813366" y="633515"/>
                </a:cubicBezTo>
                <a:close/>
                <a:moveTo>
                  <a:pt x="3268763" y="632063"/>
                </a:moveTo>
                <a:cubicBezTo>
                  <a:pt x="3267475" y="632437"/>
                  <a:pt x="3266187" y="633183"/>
                  <a:pt x="3265569" y="633655"/>
                </a:cubicBezTo>
                <a:cubicBezTo>
                  <a:pt x="3265569" y="633655"/>
                  <a:pt x="3265569" y="633655"/>
                  <a:pt x="3269278" y="639629"/>
                </a:cubicBezTo>
                <a:cubicBezTo>
                  <a:pt x="3278551" y="635699"/>
                  <a:pt x="3269278" y="634756"/>
                  <a:pt x="3271958" y="632712"/>
                </a:cubicBezTo>
                <a:cubicBezTo>
                  <a:pt x="3271339" y="631689"/>
                  <a:pt x="3270051" y="631689"/>
                  <a:pt x="3268763" y="632063"/>
                </a:cubicBezTo>
                <a:close/>
                <a:moveTo>
                  <a:pt x="3564630" y="630438"/>
                </a:moveTo>
                <a:cubicBezTo>
                  <a:pt x="3564630" y="633457"/>
                  <a:pt x="3560739" y="634569"/>
                  <a:pt x="3560739" y="637429"/>
                </a:cubicBezTo>
                <a:cubicBezTo>
                  <a:pt x="3565859" y="636475"/>
                  <a:pt x="3567292" y="638541"/>
                  <a:pt x="3567292" y="640447"/>
                </a:cubicBezTo>
                <a:cubicBezTo>
                  <a:pt x="3556848" y="644578"/>
                  <a:pt x="3552957" y="629485"/>
                  <a:pt x="3564630" y="630438"/>
                </a:cubicBezTo>
                <a:close/>
                <a:moveTo>
                  <a:pt x="3481953" y="626712"/>
                </a:moveTo>
                <a:cubicBezTo>
                  <a:pt x="3490045" y="626712"/>
                  <a:pt x="3488767" y="632632"/>
                  <a:pt x="3488767" y="638552"/>
                </a:cubicBezTo>
                <a:cubicBezTo>
                  <a:pt x="3476628" y="640421"/>
                  <a:pt x="3477905" y="630606"/>
                  <a:pt x="3481953" y="626712"/>
                </a:cubicBezTo>
                <a:close/>
                <a:moveTo>
                  <a:pt x="2124670" y="624139"/>
                </a:moveTo>
                <a:cubicBezTo>
                  <a:pt x="2121907" y="624751"/>
                  <a:pt x="2119550" y="628878"/>
                  <a:pt x="2118468" y="631943"/>
                </a:cubicBezTo>
                <a:cubicBezTo>
                  <a:pt x="2122384" y="628799"/>
                  <a:pt x="2126299" y="632886"/>
                  <a:pt x="2127535" y="624869"/>
                </a:cubicBezTo>
                <a:cubicBezTo>
                  <a:pt x="2126557" y="624123"/>
                  <a:pt x="2125591" y="623936"/>
                  <a:pt x="2124670" y="624139"/>
                </a:cubicBezTo>
                <a:close/>
                <a:moveTo>
                  <a:pt x="1000040" y="614966"/>
                </a:moveTo>
                <a:cubicBezTo>
                  <a:pt x="993446" y="621882"/>
                  <a:pt x="985614" y="614966"/>
                  <a:pt x="983142" y="619996"/>
                </a:cubicBezTo>
                <a:cubicBezTo>
                  <a:pt x="985614" y="618896"/>
                  <a:pt x="988294" y="618896"/>
                  <a:pt x="989530" y="621882"/>
                </a:cubicBezTo>
                <a:cubicBezTo>
                  <a:pt x="997362" y="614966"/>
                  <a:pt x="1000040" y="621882"/>
                  <a:pt x="1003956" y="617010"/>
                </a:cubicBezTo>
                <a:cubicBezTo>
                  <a:pt x="1001277" y="617010"/>
                  <a:pt x="1000040" y="617010"/>
                  <a:pt x="1000040" y="614966"/>
                </a:cubicBezTo>
                <a:close/>
                <a:moveTo>
                  <a:pt x="1070316" y="611980"/>
                </a:moveTo>
                <a:cubicBezTo>
                  <a:pt x="1065163" y="612922"/>
                  <a:pt x="1061248" y="614966"/>
                  <a:pt x="1060012" y="617010"/>
                </a:cubicBezTo>
                <a:cubicBezTo>
                  <a:pt x="1061248" y="619996"/>
                  <a:pt x="1063927" y="621882"/>
                  <a:pt x="1067843" y="621882"/>
                </a:cubicBezTo>
                <a:cubicBezTo>
                  <a:pt x="1066400" y="617953"/>
                  <a:pt x="1074232" y="615909"/>
                  <a:pt x="1070316" y="611980"/>
                </a:cubicBezTo>
                <a:close/>
                <a:moveTo>
                  <a:pt x="3079229" y="611460"/>
                </a:moveTo>
                <a:cubicBezTo>
                  <a:pt x="3074182" y="616462"/>
                  <a:pt x="3089326" y="623341"/>
                  <a:pt x="3081653" y="627249"/>
                </a:cubicBezTo>
                <a:cubicBezTo>
                  <a:pt x="3079229" y="626310"/>
                  <a:pt x="3078018" y="624279"/>
                  <a:pt x="3075393" y="626310"/>
                </a:cubicBezTo>
                <a:cubicBezTo>
                  <a:pt x="3067719" y="621308"/>
                  <a:pt x="3071556" y="612398"/>
                  <a:pt x="3079229" y="611460"/>
                </a:cubicBezTo>
                <a:close/>
                <a:moveTo>
                  <a:pt x="3247448" y="610767"/>
                </a:moveTo>
                <a:cubicBezTo>
                  <a:pt x="3250157" y="612636"/>
                  <a:pt x="3234317" y="629461"/>
                  <a:pt x="3238277" y="635381"/>
                </a:cubicBezTo>
                <a:cubicBezTo>
                  <a:pt x="3227649" y="638342"/>
                  <a:pt x="3243488" y="613727"/>
                  <a:pt x="3247448" y="610767"/>
                </a:cubicBezTo>
                <a:close/>
                <a:moveTo>
                  <a:pt x="2012333" y="609779"/>
                </a:moveTo>
                <a:cubicBezTo>
                  <a:pt x="2011355" y="609268"/>
                  <a:pt x="2010376" y="608993"/>
                  <a:pt x="2009037" y="609936"/>
                </a:cubicBezTo>
                <a:cubicBezTo>
                  <a:pt x="2007800" y="617010"/>
                  <a:pt x="2014395" y="614966"/>
                  <a:pt x="2015631" y="611036"/>
                </a:cubicBezTo>
                <a:cubicBezTo>
                  <a:pt x="2014292" y="611036"/>
                  <a:pt x="2013312" y="610289"/>
                  <a:pt x="2012333" y="609779"/>
                </a:cubicBezTo>
                <a:close/>
                <a:moveTo>
                  <a:pt x="1093810" y="607107"/>
                </a:moveTo>
                <a:cubicBezTo>
                  <a:pt x="1095046" y="611036"/>
                  <a:pt x="1084742" y="611980"/>
                  <a:pt x="1085978" y="615909"/>
                </a:cubicBezTo>
                <a:cubicBezTo>
                  <a:pt x="1089894" y="615909"/>
                  <a:pt x="1091130" y="617010"/>
                  <a:pt x="1092367" y="617953"/>
                </a:cubicBezTo>
                <a:cubicBezTo>
                  <a:pt x="1100404" y="617010"/>
                  <a:pt x="1097725" y="614023"/>
                  <a:pt x="1104320" y="612922"/>
                </a:cubicBezTo>
                <a:cubicBezTo>
                  <a:pt x="1104320" y="608050"/>
                  <a:pt x="1095046" y="612922"/>
                  <a:pt x="1093810" y="608993"/>
                </a:cubicBezTo>
                <a:cubicBezTo>
                  <a:pt x="1095046" y="608050"/>
                  <a:pt x="1096282" y="607107"/>
                  <a:pt x="1093810" y="607107"/>
                </a:cubicBezTo>
                <a:close/>
                <a:moveTo>
                  <a:pt x="1119776" y="606006"/>
                </a:moveTo>
                <a:cubicBezTo>
                  <a:pt x="1114624" y="604120"/>
                  <a:pt x="1102877" y="608050"/>
                  <a:pt x="1106793" y="612922"/>
                </a:cubicBezTo>
                <a:cubicBezTo>
                  <a:pt x="1113388" y="611036"/>
                  <a:pt x="1121219" y="609936"/>
                  <a:pt x="1119776" y="606006"/>
                </a:cubicBezTo>
                <a:close/>
                <a:moveTo>
                  <a:pt x="3481179" y="604527"/>
                </a:moveTo>
                <a:cubicBezTo>
                  <a:pt x="3498231" y="607497"/>
                  <a:pt x="3481179" y="614375"/>
                  <a:pt x="3487754" y="620316"/>
                </a:cubicBezTo>
                <a:cubicBezTo>
                  <a:pt x="3478713" y="620316"/>
                  <a:pt x="3478713" y="620316"/>
                  <a:pt x="3478713" y="620316"/>
                </a:cubicBezTo>
                <a:cubicBezTo>
                  <a:pt x="3479947" y="616408"/>
                  <a:pt x="3474810" y="606560"/>
                  <a:pt x="3481179" y="604527"/>
                </a:cubicBezTo>
                <a:close/>
                <a:moveTo>
                  <a:pt x="2678647" y="604527"/>
                </a:moveTo>
                <a:cubicBezTo>
                  <a:pt x="2684047" y="615088"/>
                  <a:pt x="2667016" y="612180"/>
                  <a:pt x="2657669" y="616160"/>
                </a:cubicBezTo>
                <a:cubicBezTo>
                  <a:pt x="2655177" y="609272"/>
                  <a:pt x="2672208" y="608354"/>
                  <a:pt x="2678647" y="604527"/>
                </a:cubicBezTo>
                <a:close/>
                <a:moveTo>
                  <a:pt x="2193969" y="602448"/>
                </a:moveTo>
                <a:cubicBezTo>
                  <a:pt x="2195180" y="607567"/>
                  <a:pt x="2188718" y="606607"/>
                  <a:pt x="2186296" y="608527"/>
                </a:cubicBezTo>
                <a:cubicBezTo>
                  <a:pt x="2186296" y="603567"/>
                  <a:pt x="2190132" y="604527"/>
                  <a:pt x="2193969" y="602448"/>
                </a:cubicBezTo>
                <a:close/>
                <a:moveTo>
                  <a:pt x="2775752" y="601896"/>
                </a:moveTo>
                <a:cubicBezTo>
                  <a:pt x="2782345" y="607870"/>
                  <a:pt x="2764005" y="615731"/>
                  <a:pt x="2777194" y="619819"/>
                </a:cubicBezTo>
                <a:cubicBezTo>
                  <a:pt x="2769363" y="621706"/>
                  <a:pt x="2767920" y="625637"/>
                  <a:pt x="2770599" y="628624"/>
                </a:cubicBezTo>
                <a:cubicBezTo>
                  <a:pt x="2765447" y="629724"/>
                  <a:pt x="2767920" y="634756"/>
                  <a:pt x="2762769" y="631768"/>
                </a:cubicBezTo>
                <a:cubicBezTo>
                  <a:pt x="2769363" y="622807"/>
                  <a:pt x="2767920" y="612744"/>
                  <a:pt x="2775752" y="601896"/>
                </a:cubicBezTo>
                <a:close/>
                <a:moveTo>
                  <a:pt x="2102487" y="601754"/>
                </a:moveTo>
                <a:cubicBezTo>
                  <a:pt x="2102487" y="606460"/>
                  <a:pt x="2099971" y="605431"/>
                  <a:pt x="2098503" y="606460"/>
                </a:cubicBezTo>
                <a:cubicBezTo>
                  <a:pt x="2097244" y="601754"/>
                  <a:pt x="2099971" y="602636"/>
                  <a:pt x="2102487" y="601754"/>
                </a:cubicBezTo>
                <a:close/>
                <a:moveTo>
                  <a:pt x="2111589" y="600794"/>
                </a:moveTo>
                <a:cubicBezTo>
                  <a:pt x="2110226" y="602714"/>
                  <a:pt x="2111589" y="607833"/>
                  <a:pt x="2109057" y="607833"/>
                </a:cubicBezTo>
                <a:cubicBezTo>
                  <a:pt x="2109057" y="603834"/>
                  <a:pt x="2109057" y="599674"/>
                  <a:pt x="2111589" y="600794"/>
                </a:cubicBezTo>
                <a:close/>
                <a:moveTo>
                  <a:pt x="3551840" y="598981"/>
                </a:moveTo>
                <a:cubicBezTo>
                  <a:pt x="3549133" y="608833"/>
                  <a:pt x="3549133" y="622750"/>
                  <a:pt x="3549133" y="640421"/>
                </a:cubicBezTo>
                <a:cubicBezTo>
                  <a:pt x="3546634" y="639482"/>
                  <a:pt x="3532058" y="602890"/>
                  <a:pt x="3551840" y="598981"/>
                </a:cubicBezTo>
                <a:close/>
                <a:moveTo>
                  <a:pt x="3247142" y="597595"/>
                </a:moveTo>
                <a:cubicBezTo>
                  <a:pt x="3253958" y="599499"/>
                  <a:pt x="3252467" y="601562"/>
                  <a:pt x="3256514" y="606640"/>
                </a:cubicBezTo>
                <a:cubicBezTo>
                  <a:pt x="3247142" y="610607"/>
                  <a:pt x="3243096" y="602514"/>
                  <a:pt x="3247142" y="597595"/>
                </a:cubicBezTo>
                <a:close/>
                <a:moveTo>
                  <a:pt x="3076154" y="596901"/>
                </a:moveTo>
                <a:cubicBezTo>
                  <a:pt x="3077586" y="600881"/>
                  <a:pt x="3086597" y="605625"/>
                  <a:pt x="3078816" y="608534"/>
                </a:cubicBezTo>
                <a:cubicBezTo>
                  <a:pt x="3072263" y="604707"/>
                  <a:pt x="3077586" y="600881"/>
                  <a:pt x="3076154" y="596901"/>
                </a:cubicBezTo>
                <a:close/>
                <a:moveTo>
                  <a:pt x="1933332" y="596703"/>
                </a:moveTo>
                <a:cubicBezTo>
                  <a:pt x="1933763" y="596909"/>
                  <a:pt x="1934227" y="597597"/>
                  <a:pt x="1934845" y="599090"/>
                </a:cubicBezTo>
                <a:lnTo>
                  <a:pt x="1933291" y="596718"/>
                </a:lnTo>
                <a:close/>
                <a:moveTo>
                  <a:pt x="3284305" y="595739"/>
                </a:moveTo>
                <a:cubicBezTo>
                  <a:pt x="3282196" y="595007"/>
                  <a:pt x="3279736" y="594938"/>
                  <a:pt x="3277109" y="595921"/>
                </a:cubicBezTo>
                <a:cubicBezTo>
                  <a:pt x="3283703" y="598908"/>
                  <a:pt x="3287618" y="603940"/>
                  <a:pt x="3278551" y="602839"/>
                </a:cubicBezTo>
                <a:cubicBezTo>
                  <a:pt x="3279787" y="605826"/>
                  <a:pt x="3282467" y="609757"/>
                  <a:pt x="3288854" y="609757"/>
                </a:cubicBezTo>
                <a:cubicBezTo>
                  <a:pt x="3293800" y="606101"/>
                  <a:pt x="3290632" y="597935"/>
                  <a:pt x="3284305" y="595739"/>
                </a:cubicBezTo>
                <a:close/>
                <a:moveTo>
                  <a:pt x="2165395" y="594822"/>
                </a:moveTo>
                <a:cubicBezTo>
                  <a:pt x="2166653" y="596658"/>
                  <a:pt x="2169380" y="594822"/>
                  <a:pt x="2170638" y="600637"/>
                </a:cubicBezTo>
                <a:cubicBezTo>
                  <a:pt x="2165395" y="600637"/>
                  <a:pt x="2165395" y="606454"/>
                  <a:pt x="2161412" y="602474"/>
                </a:cubicBezTo>
                <a:cubicBezTo>
                  <a:pt x="2159944" y="596658"/>
                  <a:pt x="2167912" y="602474"/>
                  <a:pt x="2165395" y="594822"/>
                </a:cubicBezTo>
                <a:close/>
                <a:moveTo>
                  <a:pt x="1915834" y="594453"/>
                </a:moveTo>
                <a:cubicBezTo>
                  <a:pt x="1912743" y="594335"/>
                  <a:pt x="1909498" y="595081"/>
                  <a:pt x="1906200" y="597047"/>
                </a:cubicBezTo>
                <a:cubicBezTo>
                  <a:pt x="1912794" y="600033"/>
                  <a:pt x="1917947" y="599090"/>
                  <a:pt x="1924541" y="597047"/>
                </a:cubicBezTo>
                <a:cubicBezTo>
                  <a:pt x="1921863" y="595553"/>
                  <a:pt x="1918925" y="594571"/>
                  <a:pt x="1915834" y="594453"/>
                </a:cubicBezTo>
                <a:close/>
                <a:moveTo>
                  <a:pt x="1128716" y="591780"/>
                </a:moveTo>
                <a:cubicBezTo>
                  <a:pt x="1125959" y="591663"/>
                  <a:pt x="1123692" y="592645"/>
                  <a:pt x="1123692" y="596103"/>
                </a:cubicBezTo>
                <a:cubicBezTo>
                  <a:pt x="1126371" y="595160"/>
                  <a:pt x="1138118" y="597047"/>
                  <a:pt x="1136675" y="594060"/>
                </a:cubicBezTo>
                <a:cubicBezTo>
                  <a:pt x="1134718" y="593117"/>
                  <a:pt x="1131472" y="591899"/>
                  <a:pt x="1128716" y="591780"/>
                </a:cubicBezTo>
                <a:close/>
                <a:moveTo>
                  <a:pt x="2074519" y="590609"/>
                </a:moveTo>
                <a:cubicBezTo>
                  <a:pt x="2076013" y="591249"/>
                  <a:pt x="2077323" y="592528"/>
                  <a:pt x="2077953" y="593009"/>
                </a:cubicBezTo>
                <a:cubicBezTo>
                  <a:pt x="2076694" y="598128"/>
                  <a:pt x="2075436" y="589968"/>
                  <a:pt x="2069984" y="592049"/>
                </a:cubicBezTo>
                <a:cubicBezTo>
                  <a:pt x="2071347" y="589968"/>
                  <a:pt x="2073025" y="589968"/>
                  <a:pt x="2074519" y="590609"/>
                </a:cubicBezTo>
                <a:close/>
                <a:moveTo>
                  <a:pt x="3181020" y="589968"/>
                </a:moveTo>
                <a:cubicBezTo>
                  <a:pt x="3182266" y="592048"/>
                  <a:pt x="3184966" y="593008"/>
                  <a:pt x="3187459" y="593968"/>
                </a:cubicBezTo>
                <a:cubicBezTo>
                  <a:pt x="3184966" y="595088"/>
                  <a:pt x="3183513" y="597008"/>
                  <a:pt x="3183513" y="598128"/>
                </a:cubicBezTo>
                <a:cubicBezTo>
                  <a:pt x="3182266" y="595088"/>
                  <a:pt x="3173127" y="592048"/>
                  <a:pt x="3181020" y="589968"/>
                </a:cubicBezTo>
                <a:close/>
                <a:moveTo>
                  <a:pt x="748546" y="589968"/>
                </a:moveTo>
                <a:cubicBezTo>
                  <a:pt x="747283" y="595047"/>
                  <a:pt x="734026" y="598062"/>
                  <a:pt x="731290" y="602982"/>
                </a:cubicBezTo>
                <a:cubicBezTo>
                  <a:pt x="728765" y="596952"/>
                  <a:pt x="742022" y="592032"/>
                  <a:pt x="748546" y="589968"/>
                </a:cubicBezTo>
                <a:close/>
                <a:moveTo>
                  <a:pt x="1982803" y="588821"/>
                </a:moveTo>
                <a:cubicBezTo>
                  <a:pt x="1980687" y="587251"/>
                  <a:pt x="1974311" y="592645"/>
                  <a:pt x="1975238" y="594060"/>
                </a:cubicBezTo>
                <a:cubicBezTo>
                  <a:pt x="1977917" y="590130"/>
                  <a:pt x="1980390" y="593117"/>
                  <a:pt x="1983070" y="593117"/>
                </a:cubicBezTo>
                <a:cubicBezTo>
                  <a:pt x="1983739" y="590641"/>
                  <a:pt x="1983508" y="589344"/>
                  <a:pt x="1982803" y="588821"/>
                </a:cubicBezTo>
                <a:close/>
                <a:moveTo>
                  <a:pt x="2993208" y="587674"/>
                </a:moveTo>
                <a:cubicBezTo>
                  <a:pt x="2997045" y="585809"/>
                  <a:pt x="2999467" y="585809"/>
                  <a:pt x="3002092" y="587674"/>
                </a:cubicBezTo>
                <a:cubicBezTo>
                  <a:pt x="2999467" y="588761"/>
                  <a:pt x="2999467" y="594666"/>
                  <a:pt x="2995631" y="592646"/>
                </a:cubicBezTo>
                <a:cubicBezTo>
                  <a:pt x="2998256" y="589693"/>
                  <a:pt x="2997045" y="587674"/>
                  <a:pt x="2993208" y="587674"/>
                </a:cubicBezTo>
                <a:close/>
                <a:moveTo>
                  <a:pt x="2203043" y="587195"/>
                </a:moveTo>
                <a:cubicBezTo>
                  <a:pt x="2204266" y="598131"/>
                  <a:pt x="2199173" y="593132"/>
                  <a:pt x="2192656" y="594070"/>
                </a:cubicBezTo>
                <a:cubicBezTo>
                  <a:pt x="2194082" y="589226"/>
                  <a:pt x="2201821" y="591101"/>
                  <a:pt x="2203043" y="587195"/>
                </a:cubicBezTo>
                <a:close/>
                <a:moveTo>
                  <a:pt x="2223712" y="585739"/>
                </a:moveTo>
                <a:cubicBezTo>
                  <a:pt x="2225192" y="585627"/>
                  <a:pt x="2226585" y="586115"/>
                  <a:pt x="2227887" y="587834"/>
                </a:cubicBezTo>
                <a:cubicBezTo>
                  <a:pt x="2223930" y="591899"/>
                  <a:pt x="2217266" y="596745"/>
                  <a:pt x="2209562" y="592837"/>
                </a:cubicBezTo>
                <a:cubicBezTo>
                  <a:pt x="2209562" y="590805"/>
                  <a:pt x="2209562" y="588929"/>
                  <a:pt x="2208104" y="585958"/>
                </a:cubicBezTo>
                <a:cubicBezTo>
                  <a:pt x="2214039" y="591821"/>
                  <a:pt x="2219271" y="586076"/>
                  <a:pt x="2223712" y="585739"/>
                </a:cubicBezTo>
                <a:close/>
                <a:moveTo>
                  <a:pt x="1828428" y="585277"/>
                </a:moveTo>
                <a:cubicBezTo>
                  <a:pt x="1826136" y="585650"/>
                  <a:pt x="1824177" y="587143"/>
                  <a:pt x="1824177" y="590130"/>
                </a:cubicBezTo>
                <a:cubicBezTo>
                  <a:pt x="1828093" y="589187"/>
                  <a:pt x="1834688" y="593117"/>
                  <a:pt x="1834688" y="587143"/>
                </a:cubicBezTo>
                <a:cubicBezTo>
                  <a:pt x="1833348" y="585650"/>
                  <a:pt x="1830721" y="584904"/>
                  <a:pt x="1828428" y="585277"/>
                </a:cubicBezTo>
                <a:close/>
                <a:moveTo>
                  <a:pt x="1006032" y="585116"/>
                </a:moveTo>
                <a:cubicBezTo>
                  <a:pt x="1008440" y="590236"/>
                  <a:pt x="1008440" y="590236"/>
                  <a:pt x="1008440" y="590236"/>
                </a:cubicBezTo>
                <a:cubicBezTo>
                  <a:pt x="1000816" y="595355"/>
                  <a:pt x="1002220" y="585116"/>
                  <a:pt x="994597" y="589276"/>
                </a:cubicBezTo>
                <a:cubicBezTo>
                  <a:pt x="993192" y="586236"/>
                  <a:pt x="1004628" y="585116"/>
                  <a:pt x="1006032" y="585116"/>
                </a:cubicBezTo>
                <a:close/>
                <a:moveTo>
                  <a:pt x="953060" y="585116"/>
                </a:moveTo>
                <a:cubicBezTo>
                  <a:pt x="955731" y="594054"/>
                  <a:pt x="940118" y="591074"/>
                  <a:pt x="933749" y="598131"/>
                </a:cubicBezTo>
                <a:cubicBezTo>
                  <a:pt x="932311" y="592172"/>
                  <a:pt x="949157" y="590134"/>
                  <a:pt x="953060" y="585116"/>
                </a:cubicBezTo>
                <a:close/>
                <a:moveTo>
                  <a:pt x="2104791" y="584408"/>
                </a:moveTo>
                <a:cubicBezTo>
                  <a:pt x="2105928" y="584679"/>
                  <a:pt x="2107240" y="585689"/>
                  <a:pt x="2107946" y="585689"/>
                </a:cubicBezTo>
                <a:cubicBezTo>
                  <a:pt x="2106533" y="590506"/>
                  <a:pt x="2104111" y="584601"/>
                  <a:pt x="2102696" y="587554"/>
                </a:cubicBezTo>
                <a:cubicBezTo>
                  <a:pt x="2102696" y="584602"/>
                  <a:pt x="2103656" y="584136"/>
                  <a:pt x="2104791" y="584408"/>
                </a:cubicBezTo>
                <a:close/>
                <a:moveTo>
                  <a:pt x="1242295" y="583331"/>
                </a:moveTo>
                <a:cubicBezTo>
                  <a:pt x="1237091" y="583960"/>
                  <a:pt x="1231887" y="586200"/>
                  <a:pt x="1231887" y="589187"/>
                </a:cubicBezTo>
                <a:cubicBezTo>
                  <a:pt x="1240955" y="589187"/>
                  <a:pt x="1242192" y="586200"/>
                  <a:pt x="1252702" y="587143"/>
                </a:cubicBezTo>
                <a:cubicBezTo>
                  <a:pt x="1252702" y="583685"/>
                  <a:pt x="1247498" y="582703"/>
                  <a:pt x="1242295" y="583331"/>
                </a:cubicBezTo>
                <a:close/>
                <a:moveTo>
                  <a:pt x="3587220" y="583036"/>
                </a:moveTo>
                <a:cubicBezTo>
                  <a:pt x="3605456" y="583036"/>
                  <a:pt x="3588654" y="587956"/>
                  <a:pt x="3591113" y="595097"/>
                </a:cubicBezTo>
                <a:cubicBezTo>
                  <a:pt x="3584761" y="596049"/>
                  <a:pt x="3589884" y="587003"/>
                  <a:pt x="3587220" y="583036"/>
                </a:cubicBezTo>
                <a:close/>
                <a:moveTo>
                  <a:pt x="2165901" y="581649"/>
                </a:moveTo>
                <a:cubicBezTo>
                  <a:pt x="2165901" y="584618"/>
                  <a:pt x="2164689" y="587586"/>
                  <a:pt x="2167112" y="588680"/>
                </a:cubicBezTo>
                <a:cubicBezTo>
                  <a:pt x="2169737" y="592585"/>
                  <a:pt x="2163276" y="586649"/>
                  <a:pt x="2162064" y="588680"/>
                </a:cubicBezTo>
                <a:cubicBezTo>
                  <a:pt x="2160853" y="583680"/>
                  <a:pt x="2164689" y="582743"/>
                  <a:pt x="2165901" y="581649"/>
                </a:cubicBezTo>
                <a:close/>
                <a:moveTo>
                  <a:pt x="2686025" y="580263"/>
                </a:moveTo>
                <a:cubicBezTo>
                  <a:pt x="2687451" y="583273"/>
                  <a:pt x="2691320" y="586284"/>
                  <a:pt x="2688673" y="590246"/>
                </a:cubicBezTo>
                <a:cubicBezTo>
                  <a:pt x="2686025" y="590246"/>
                  <a:pt x="2683581" y="590246"/>
                  <a:pt x="2680934" y="591197"/>
                </a:cubicBezTo>
                <a:cubicBezTo>
                  <a:pt x="2679711" y="586284"/>
                  <a:pt x="2682155" y="582164"/>
                  <a:pt x="2686025" y="580263"/>
                </a:cubicBezTo>
                <a:close/>
                <a:moveTo>
                  <a:pt x="2020887" y="578400"/>
                </a:moveTo>
                <a:cubicBezTo>
                  <a:pt x="2018928" y="578027"/>
                  <a:pt x="2016970" y="578262"/>
                  <a:pt x="2015631" y="580227"/>
                </a:cubicBezTo>
                <a:cubicBezTo>
                  <a:pt x="2018310" y="580227"/>
                  <a:pt x="2023462" y="585100"/>
                  <a:pt x="2026142" y="580227"/>
                </a:cubicBezTo>
                <a:cubicBezTo>
                  <a:pt x="2024802" y="579756"/>
                  <a:pt x="2022844" y="578773"/>
                  <a:pt x="2020887" y="578400"/>
                </a:cubicBezTo>
                <a:close/>
                <a:moveTo>
                  <a:pt x="1294331" y="578183"/>
                </a:moveTo>
                <a:cubicBezTo>
                  <a:pt x="1287736" y="576297"/>
                  <a:pt x="1272279" y="579284"/>
                  <a:pt x="1272279" y="585100"/>
                </a:cubicBezTo>
                <a:cubicBezTo>
                  <a:pt x="1281348" y="582114"/>
                  <a:pt x="1285263" y="585100"/>
                  <a:pt x="1293094" y="583214"/>
                </a:cubicBezTo>
                <a:cubicBezTo>
                  <a:pt x="1291652" y="581170"/>
                  <a:pt x="1295568" y="580227"/>
                  <a:pt x="1294331" y="578183"/>
                </a:cubicBezTo>
                <a:close/>
                <a:moveTo>
                  <a:pt x="1057332" y="578183"/>
                </a:moveTo>
                <a:cubicBezTo>
                  <a:pt x="1053417" y="577240"/>
                  <a:pt x="1048265" y="579284"/>
                  <a:pt x="1045586" y="582114"/>
                </a:cubicBezTo>
                <a:cubicBezTo>
                  <a:pt x="1046822" y="589187"/>
                  <a:pt x="1061248" y="583214"/>
                  <a:pt x="1057332" y="578183"/>
                </a:cubicBezTo>
                <a:close/>
                <a:moveTo>
                  <a:pt x="1970086" y="577240"/>
                </a:moveTo>
                <a:cubicBezTo>
                  <a:pt x="1974001" y="576297"/>
                  <a:pt x="1966170" y="583214"/>
                  <a:pt x="1970086" y="584157"/>
                </a:cubicBezTo>
                <a:cubicBezTo>
                  <a:pt x="1972559" y="579284"/>
                  <a:pt x="1980390" y="585100"/>
                  <a:pt x="1980390" y="578183"/>
                </a:cubicBezTo>
                <a:cubicBezTo>
                  <a:pt x="1977917" y="578183"/>
                  <a:pt x="1972559" y="576297"/>
                  <a:pt x="1970086" y="577240"/>
                </a:cubicBezTo>
                <a:close/>
                <a:moveTo>
                  <a:pt x="2190636" y="575206"/>
                </a:moveTo>
                <a:cubicBezTo>
                  <a:pt x="2188012" y="584117"/>
                  <a:pt x="2175290" y="576300"/>
                  <a:pt x="2174079" y="589119"/>
                </a:cubicBezTo>
                <a:cubicBezTo>
                  <a:pt x="2172867" y="585055"/>
                  <a:pt x="2170242" y="587087"/>
                  <a:pt x="2169030" y="582084"/>
                </a:cubicBezTo>
                <a:cubicBezTo>
                  <a:pt x="2176704" y="584117"/>
                  <a:pt x="2175290" y="574268"/>
                  <a:pt x="2181752" y="579271"/>
                </a:cubicBezTo>
                <a:cubicBezTo>
                  <a:pt x="2181752" y="573330"/>
                  <a:pt x="2188012" y="576300"/>
                  <a:pt x="2190636" y="575206"/>
                </a:cubicBezTo>
                <a:close/>
                <a:moveTo>
                  <a:pt x="1530248" y="575001"/>
                </a:moveTo>
                <a:cubicBezTo>
                  <a:pt x="1527465" y="575472"/>
                  <a:pt x="1524837" y="576690"/>
                  <a:pt x="1523498" y="578183"/>
                </a:cubicBezTo>
                <a:cubicBezTo>
                  <a:pt x="1524735" y="580227"/>
                  <a:pt x="1540398" y="582114"/>
                  <a:pt x="1537925" y="576297"/>
                </a:cubicBezTo>
                <a:cubicBezTo>
                  <a:pt x="1535967" y="574804"/>
                  <a:pt x="1533030" y="574529"/>
                  <a:pt x="1530248" y="575001"/>
                </a:cubicBezTo>
                <a:close/>
                <a:moveTo>
                  <a:pt x="3500933" y="573330"/>
                </a:moveTo>
                <a:cubicBezTo>
                  <a:pt x="3515493" y="577228"/>
                  <a:pt x="3511540" y="595001"/>
                  <a:pt x="3515493" y="605758"/>
                </a:cubicBezTo>
                <a:cubicBezTo>
                  <a:pt x="3498437" y="604822"/>
                  <a:pt x="3508837" y="582061"/>
                  <a:pt x="3500933" y="573330"/>
                </a:cubicBezTo>
                <a:close/>
                <a:moveTo>
                  <a:pt x="3043107" y="573330"/>
                </a:moveTo>
                <a:cubicBezTo>
                  <a:pt x="3045551" y="573330"/>
                  <a:pt x="3049421" y="574254"/>
                  <a:pt x="3052068" y="577181"/>
                </a:cubicBezTo>
                <a:cubicBezTo>
                  <a:pt x="3048198" y="580109"/>
                  <a:pt x="3045551" y="578106"/>
                  <a:pt x="3043107" y="578106"/>
                </a:cubicBezTo>
                <a:cubicBezTo>
                  <a:pt x="3044329" y="579184"/>
                  <a:pt x="3043107" y="580109"/>
                  <a:pt x="3041885" y="579184"/>
                </a:cubicBezTo>
                <a:cubicBezTo>
                  <a:pt x="3045551" y="577181"/>
                  <a:pt x="3040459" y="575179"/>
                  <a:pt x="3043107" y="573330"/>
                </a:cubicBezTo>
                <a:close/>
                <a:moveTo>
                  <a:pt x="2198335" y="573330"/>
                </a:moveTo>
                <a:cubicBezTo>
                  <a:pt x="2199699" y="577283"/>
                  <a:pt x="2199699" y="580288"/>
                  <a:pt x="2198335" y="582185"/>
                </a:cubicBezTo>
                <a:cubicBezTo>
                  <a:pt x="2196745" y="580288"/>
                  <a:pt x="2199699" y="577283"/>
                  <a:pt x="2196745" y="577283"/>
                </a:cubicBezTo>
                <a:cubicBezTo>
                  <a:pt x="2195383" y="574278"/>
                  <a:pt x="2196745" y="573330"/>
                  <a:pt x="2198335" y="573330"/>
                </a:cubicBezTo>
                <a:close/>
                <a:moveTo>
                  <a:pt x="1580790" y="573311"/>
                </a:moveTo>
                <a:cubicBezTo>
                  <a:pt x="1567807" y="574254"/>
                  <a:pt x="1548229" y="571267"/>
                  <a:pt x="1543076" y="578183"/>
                </a:cubicBezTo>
                <a:cubicBezTo>
                  <a:pt x="1557296" y="577240"/>
                  <a:pt x="1561212" y="577240"/>
                  <a:pt x="1576874" y="580227"/>
                </a:cubicBezTo>
                <a:cubicBezTo>
                  <a:pt x="1582233" y="576297"/>
                  <a:pt x="1575638" y="577240"/>
                  <a:pt x="1580790" y="573311"/>
                </a:cubicBezTo>
                <a:close/>
                <a:moveTo>
                  <a:pt x="1922304" y="573288"/>
                </a:moveTo>
                <a:cubicBezTo>
                  <a:pt x="1919839" y="581125"/>
                  <a:pt x="1926206" y="571250"/>
                  <a:pt x="1924974" y="577206"/>
                </a:cubicBezTo>
                <a:cubicBezTo>
                  <a:pt x="1921072" y="583162"/>
                  <a:pt x="1908132" y="575169"/>
                  <a:pt x="1902793" y="583162"/>
                </a:cubicBezTo>
                <a:cubicBezTo>
                  <a:pt x="1901560" y="585043"/>
                  <a:pt x="1905462" y="585043"/>
                  <a:pt x="1906695" y="585043"/>
                </a:cubicBezTo>
                <a:cubicBezTo>
                  <a:pt x="1906695" y="587081"/>
                  <a:pt x="1904127" y="587081"/>
                  <a:pt x="1901868" y="585847"/>
                </a:cubicBezTo>
                <a:lnTo>
                  <a:pt x="1900426" y="584467"/>
                </a:lnTo>
                <a:lnTo>
                  <a:pt x="1899057" y="582902"/>
                </a:lnTo>
                <a:lnTo>
                  <a:pt x="1898889" y="579244"/>
                </a:lnTo>
                <a:cubicBezTo>
                  <a:pt x="1902793" y="580185"/>
                  <a:pt x="1905462" y="581125"/>
                  <a:pt x="1904230" y="574228"/>
                </a:cubicBezTo>
                <a:cubicBezTo>
                  <a:pt x="1908132" y="579244"/>
                  <a:pt x="1915937" y="575169"/>
                  <a:pt x="1922304" y="573288"/>
                </a:cubicBezTo>
                <a:close/>
                <a:moveTo>
                  <a:pt x="1939088" y="572800"/>
                </a:moveTo>
                <a:cubicBezTo>
                  <a:pt x="1940462" y="573942"/>
                  <a:pt x="1941667" y="575981"/>
                  <a:pt x="1941667" y="578020"/>
                </a:cubicBezTo>
                <a:cubicBezTo>
                  <a:pt x="1938005" y="578020"/>
                  <a:pt x="1938005" y="573942"/>
                  <a:pt x="1935498" y="572963"/>
                </a:cubicBezTo>
                <a:cubicBezTo>
                  <a:pt x="1936173" y="571413"/>
                  <a:pt x="1937716" y="571658"/>
                  <a:pt x="1939088" y="572800"/>
                </a:cubicBezTo>
                <a:close/>
                <a:moveTo>
                  <a:pt x="1896222" y="572175"/>
                </a:moveTo>
                <a:cubicBezTo>
                  <a:pt x="1895006" y="578029"/>
                  <a:pt x="1895006" y="578029"/>
                  <a:pt x="1895006" y="578029"/>
                </a:cubicBezTo>
                <a:cubicBezTo>
                  <a:pt x="1892370" y="575102"/>
                  <a:pt x="1871891" y="577105"/>
                  <a:pt x="1887301" y="575102"/>
                </a:cubicBezTo>
                <a:cubicBezTo>
                  <a:pt x="1889734" y="574178"/>
                  <a:pt x="1892370" y="571250"/>
                  <a:pt x="1896222" y="572175"/>
                </a:cubicBezTo>
                <a:close/>
                <a:moveTo>
                  <a:pt x="1815892" y="571728"/>
                </a:moveTo>
                <a:cubicBezTo>
                  <a:pt x="1821092" y="569864"/>
                  <a:pt x="1822548" y="577633"/>
                  <a:pt x="1825044" y="572816"/>
                </a:cubicBezTo>
                <a:cubicBezTo>
                  <a:pt x="1831701" y="576700"/>
                  <a:pt x="1817140" y="574681"/>
                  <a:pt x="1818596" y="578721"/>
                </a:cubicBezTo>
                <a:cubicBezTo>
                  <a:pt x="1814643" y="578721"/>
                  <a:pt x="1814643" y="575769"/>
                  <a:pt x="1815892" y="571728"/>
                </a:cubicBezTo>
                <a:close/>
                <a:moveTo>
                  <a:pt x="3082903" y="569170"/>
                </a:moveTo>
                <a:cubicBezTo>
                  <a:pt x="3086845" y="570201"/>
                  <a:pt x="3092085" y="572738"/>
                  <a:pt x="3095508" y="575374"/>
                </a:cubicBezTo>
                <a:lnTo>
                  <a:pt x="3095779" y="575682"/>
                </a:lnTo>
                <a:lnTo>
                  <a:pt x="3101136" y="574896"/>
                </a:lnTo>
                <a:cubicBezTo>
                  <a:pt x="3100828" y="576372"/>
                  <a:pt x="3099792" y="577295"/>
                  <a:pt x="3098306" y="577848"/>
                </a:cubicBezTo>
                <a:lnTo>
                  <a:pt x="3097748" y="577923"/>
                </a:lnTo>
                <a:lnTo>
                  <a:pt x="3098892" y="579226"/>
                </a:lnTo>
                <a:cubicBezTo>
                  <a:pt x="3099308" y="580418"/>
                  <a:pt x="3098880" y="581458"/>
                  <a:pt x="3097220" y="582172"/>
                </a:cubicBezTo>
                <a:cubicBezTo>
                  <a:pt x="3092032" y="577257"/>
                  <a:pt x="3094730" y="595331"/>
                  <a:pt x="3086845" y="593270"/>
                </a:cubicBezTo>
                <a:cubicBezTo>
                  <a:pt x="3088089" y="598344"/>
                  <a:pt x="3093278" y="597234"/>
                  <a:pt x="3089335" y="601356"/>
                </a:cubicBezTo>
                <a:cubicBezTo>
                  <a:pt x="3086845" y="599295"/>
                  <a:pt x="3088089" y="603259"/>
                  <a:pt x="3084148" y="604369"/>
                </a:cubicBezTo>
                <a:cubicBezTo>
                  <a:pt x="3080931" y="597789"/>
                  <a:pt x="3080620" y="592239"/>
                  <a:pt x="3081113" y="586710"/>
                </a:cubicBezTo>
                <a:lnTo>
                  <a:pt x="3082008" y="577942"/>
                </a:lnTo>
                <a:lnTo>
                  <a:pt x="3080441" y="577848"/>
                </a:lnTo>
                <a:lnTo>
                  <a:pt x="3082133" y="576713"/>
                </a:lnTo>
                <a:close/>
                <a:moveTo>
                  <a:pt x="1134202" y="568281"/>
                </a:moveTo>
                <a:cubicBezTo>
                  <a:pt x="1127608" y="566237"/>
                  <a:pt x="1121219" y="571267"/>
                  <a:pt x="1121219" y="575197"/>
                </a:cubicBezTo>
                <a:cubicBezTo>
                  <a:pt x="1127608" y="574254"/>
                  <a:pt x="1132760" y="572210"/>
                  <a:pt x="1134202" y="568281"/>
                </a:cubicBezTo>
                <a:close/>
                <a:moveTo>
                  <a:pt x="2140302" y="566874"/>
                </a:moveTo>
                <a:cubicBezTo>
                  <a:pt x="2140302" y="567828"/>
                  <a:pt x="2141560" y="568781"/>
                  <a:pt x="2141560" y="568781"/>
                </a:cubicBezTo>
                <a:lnTo>
                  <a:pt x="2140302" y="566909"/>
                </a:lnTo>
                <a:close/>
                <a:moveTo>
                  <a:pt x="2896021" y="566824"/>
                </a:moveTo>
                <a:cubicBezTo>
                  <a:pt x="2906669" y="565704"/>
                  <a:pt x="2896021" y="570824"/>
                  <a:pt x="2906669" y="571784"/>
                </a:cubicBezTo>
                <a:cubicBezTo>
                  <a:pt x="2904113" y="573864"/>
                  <a:pt x="2902623" y="574824"/>
                  <a:pt x="2902623" y="575943"/>
                </a:cubicBezTo>
                <a:cubicBezTo>
                  <a:pt x="2900067" y="570824"/>
                  <a:pt x="2893253" y="570824"/>
                  <a:pt x="2896021" y="566824"/>
                </a:cubicBezTo>
                <a:close/>
                <a:moveTo>
                  <a:pt x="1157696" y="566237"/>
                </a:moveTo>
                <a:cubicBezTo>
                  <a:pt x="1149865" y="570324"/>
                  <a:pt x="1142033" y="565294"/>
                  <a:pt x="1140591" y="572210"/>
                </a:cubicBezTo>
                <a:cubicBezTo>
                  <a:pt x="1147186" y="572210"/>
                  <a:pt x="1153781" y="570324"/>
                  <a:pt x="1157696" y="566237"/>
                </a:cubicBezTo>
                <a:close/>
                <a:moveTo>
                  <a:pt x="2139166" y="565219"/>
                </a:moveTo>
                <a:lnTo>
                  <a:pt x="2140302" y="566909"/>
                </a:lnTo>
                <a:lnTo>
                  <a:pt x="2140302" y="568781"/>
                </a:lnTo>
                <a:cubicBezTo>
                  <a:pt x="2140302" y="572911"/>
                  <a:pt x="2134850" y="569893"/>
                  <a:pt x="2133592" y="573865"/>
                </a:cubicBezTo>
                <a:cubicBezTo>
                  <a:pt x="2133592" y="573150"/>
                  <a:pt x="2136541" y="565018"/>
                  <a:pt x="2139166" y="565219"/>
                </a:cubicBezTo>
                <a:close/>
                <a:moveTo>
                  <a:pt x="1650139" y="564391"/>
                </a:moveTo>
                <a:cubicBezTo>
                  <a:pt x="1652669" y="564763"/>
                  <a:pt x="1657061" y="567910"/>
                  <a:pt x="1659963" y="567210"/>
                </a:cubicBezTo>
                <a:cubicBezTo>
                  <a:pt x="1659963" y="571095"/>
                  <a:pt x="1651002" y="568142"/>
                  <a:pt x="1648354" y="569075"/>
                </a:cubicBezTo>
                <a:cubicBezTo>
                  <a:pt x="1649577" y="567210"/>
                  <a:pt x="1651002" y="566122"/>
                  <a:pt x="1648354" y="565190"/>
                </a:cubicBezTo>
                <a:cubicBezTo>
                  <a:pt x="1648660" y="564452"/>
                  <a:pt x="1649297" y="564268"/>
                  <a:pt x="1650139" y="564391"/>
                </a:cubicBezTo>
                <a:close/>
                <a:moveTo>
                  <a:pt x="2114509" y="564318"/>
                </a:moveTo>
                <a:cubicBezTo>
                  <a:pt x="2116100" y="565293"/>
                  <a:pt x="2117463" y="570492"/>
                  <a:pt x="2118825" y="570492"/>
                </a:cubicBezTo>
                <a:cubicBezTo>
                  <a:pt x="2118825" y="574554"/>
                  <a:pt x="2117463" y="574554"/>
                  <a:pt x="2116100" y="574554"/>
                </a:cubicBezTo>
                <a:cubicBezTo>
                  <a:pt x="2114509" y="569355"/>
                  <a:pt x="2116100" y="568379"/>
                  <a:pt x="2114509" y="564318"/>
                </a:cubicBezTo>
                <a:close/>
                <a:moveTo>
                  <a:pt x="2111556" y="564318"/>
                </a:moveTo>
                <a:cubicBezTo>
                  <a:pt x="2111556" y="567278"/>
                  <a:pt x="2112919" y="570238"/>
                  <a:pt x="2114282" y="569148"/>
                </a:cubicBezTo>
                <a:cubicBezTo>
                  <a:pt x="2112919" y="571172"/>
                  <a:pt x="2114282" y="578027"/>
                  <a:pt x="2111556" y="578027"/>
                </a:cubicBezTo>
                <a:cubicBezTo>
                  <a:pt x="2109966" y="572107"/>
                  <a:pt x="2112919" y="573198"/>
                  <a:pt x="2112919" y="571172"/>
                </a:cubicBezTo>
                <a:cubicBezTo>
                  <a:pt x="2111556" y="569148"/>
                  <a:pt x="2111556" y="568212"/>
                  <a:pt x="2109966" y="566188"/>
                </a:cubicBezTo>
                <a:cubicBezTo>
                  <a:pt x="2109966" y="564318"/>
                  <a:pt x="2111556" y="565252"/>
                  <a:pt x="2111556" y="564318"/>
                </a:cubicBezTo>
                <a:close/>
                <a:moveTo>
                  <a:pt x="3007388" y="563687"/>
                </a:moveTo>
                <a:lnTo>
                  <a:pt x="3006085" y="563708"/>
                </a:lnTo>
                <a:lnTo>
                  <a:pt x="3007575" y="564161"/>
                </a:lnTo>
                <a:close/>
                <a:moveTo>
                  <a:pt x="2649757" y="559321"/>
                </a:moveTo>
                <a:cubicBezTo>
                  <a:pt x="2646047" y="563408"/>
                  <a:pt x="2648521" y="564351"/>
                  <a:pt x="2644605" y="567337"/>
                </a:cubicBezTo>
                <a:cubicBezTo>
                  <a:pt x="2653672" y="572210"/>
                  <a:pt x="2652436" y="562307"/>
                  <a:pt x="2649757" y="559321"/>
                </a:cubicBezTo>
                <a:close/>
                <a:moveTo>
                  <a:pt x="2995829" y="559130"/>
                </a:moveTo>
                <a:lnTo>
                  <a:pt x="2995694" y="559421"/>
                </a:lnTo>
                <a:lnTo>
                  <a:pt x="2995983" y="559436"/>
                </a:lnTo>
                <a:close/>
                <a:moveTo>
                  <a:pt x="2938543" y="559130"/>
                </a:moveTo>
                <a:cubicBezTo>
                  <a:pt x="2933391" y="562118"/>
                  <a:pt x="2937307" y="564161"/>
                  <a:pt x="2937307" y="567149"/>
                </a:cubicBezTo>
                <a:cubicBezTo>
                  <a:pt x="2938543" y="566049"/>
                  <a:pt x="2946373" y="564161"/>
                  <a:pt x="2938543" y="559130"/>
                </a:cubicBezTo>
                <a:close/>
                <a:moveTo>
                  <a:pt x="2125802" y="557730"/>
                </a:moveTo>
                <a:lnTo>
                  <a:pt x="2130349" y="560754"/>
                </a:lnTo>
                <a:cubicBezTo>
                  <a:pt x="2133058" y="560754"/>
                  <a:pt x="2133058" y="559812"/>
                  <a:pt x="2137018" y="560754"/>
                </a:cubicBezTo>
                <a:cubicBezTo>
                  <a:pt x="2134309" y="567665"/>
                  <a:pt x="2125139" y="569707"/>
                  <a:pt x="2119928" y="569707"/>
                </a:cubicBezTo>
                <a:cubicBezTo>
                  <a:pt x="2119928" y="563739"/>
                  <a:pt x="2129099" y="566722"/>
                  <a:pt x="2131599" y="565623"/>
                </a:cubicBezTo>
                <a:close/>
                <a:moveTo>
                  <a:pt x="3325327" y="557244"/>
                </a:moveTo>
                <a:cubicBezTo>
                  <a:pt x="3324091" y="564161"/>
                  <a:pt x="3318940" y="559130"/>
                  <a:pt x="3313582" y="563218"/>
                </a:cubicBezTo>
                <a:cubicBezTo>
                  <a:pt x="3321413" y="567149"/>
                  <a:pt x="3307194" y="570136"/>
                  <a:pt x="3312346" y="574067"/>
                </a:cubicBezTo>
                <a:cubicBezTo>
                  <a:pt x="3316261" y="567149"/>
                  <a:pt x="3335837" y="566049"/>
                  <a:pt x="3325327" y="557244"/>
                </a:cubicBezTo>
                <a:close/>
                <a:moveTo>
                  <a:pt x="2125139" y="556827"/>
                </a:moveTo>
                <a:lnTo>
                  <a:pt x="2125802" y="557730"/>
                </a:lnTo>
                <a:lnTo>
                  <a:pt x="2124886" y="557121"/>
                </a:lnTo>
                <a:close/>
                <a:moveTo>
                  <a:pt x="1275855" y="555998"/>
                </a:moveTo>
                <a:cubicBezTo>
                  <a:pt x="1275855" y="558078"/>
                  <a:pt x="1277085" y="559038"/>
                  <a:pt x="1278314" y="559038"/>
                </a:cubicBezTo>
                <a:cubicBezTo>
                  <a:pt x="1271961" y="562078"/>
                  <a:pt x="1262737" y="562078"/>
                  <a:pt x="1251259" y="564158"/>
                </a:cubicBezTo>
                <a:cubicBezTo>
                  <a:pt x="1254948" y="560158"/>
                  <a:pt x="1270526" y="560158"/>
                  <a:pt x="1275855" y="555998"/>
                </a:cubicBezTo>
                <a:close/>
                <a:moveTo>
                  <a:pt x="925972" y="555305"/>
                </a:moveTo>
                <a:cubicBezTo>
                  <a:pt x="928468" y="559132"/>
                  <a:pt x="928468" y="559132"/>
                  <a:pt x="928468" y="559132"/>
                </a:cubicBezTo>
                <a:cubicBezTo>
                  <a:pt x="924516" y="556224"/>
                  <a:pt x="912867" y="566937"/>
                  <a:pt x="911411" y="560203"/>
                </a:cubicBezTo>
                <a:close/>
                <a:moveTo>
                  <a:pt x="2121491" y="554864"/>
                </a:moveTo>
                <a:lnTo>
                  <a:pt x="2124886" y="557121"/>
                </a:lnTo>
                <a:lnTo>
                  <a:pt x="2121778" y="560734"/>
                </a:lnTo>
                <a:cubicBezTo>
                  <a:pt x="2119459" y="561225"/>
                  <a:pt x="2116489" y="561225"/>
                  <a:pt x="2114509" y="561696"/>
                </a:cubicBezTo>
                <a:cubicBezTo>
                  <a:pt x="2115239" y="558712"/>
                  <a:pt x="2118209" y="555728"/>
                  <a:pt x="2121491" y="554864"/>
                </a:cubicBezTo>
                <a:close/>
                <a:moveTo>
                  <a:pt x="2380196" y="553347"/>
                </a:moveTo>
                <a:cubicBezTo>
                  <a:pt x="2380196" y="556334"/>
                  <a:pt x="2381640" y="559321"/>
                  <a:pt x="2377724" y="561364"/>
                </a:cubicBezTo>
                <a:cubicBezTo>
                  <a:pt x="2382876" y="565294"/>
                  <a:pt x="2385555" y="559321"/>
                  <a:pt x="2384113" y="557435"/>
                </a:cubicBezTo>
                <a:cubicBezTo>
                  <a:pt x="2380196" y="558378"/>
                  <a:pt x="2384113" y="555391"/>
                  <a:pt x="2380196" y="553347"/>
                </a:cubicBezTo>
                <a:close/>
                <a:moveTo>
                  <a:pt x="2693265" y="553225"/>
                </a:moveTo>
                <a:cubicBezTo>
                  <a:pt x="2694698" y="556265"/>
                  <a:pt x="2698589" y="558345"/>
                  <a:pt x="2695927" y="561385"/>
                </a:cubicBezTo>
                <a:cubicBezTo>
                  <a:pt x="2690808" y="559305"/>
                  <a:pt x="2689375" y="563464"/>
                  <a:pt x="2684255" y="560425"/>
                </a:cubicBezTo>
                <a:cubicBezTo>
                  <a:pt x="2690808" y="559305"/>
                  <a:pt x="2694698" y="559305"/>
                  <a:pt x="2693265" y="553225"/>
                </a:cubicBezTo>
                <a:close/>
                <a:moveTo>
                  <a:pt x="2676682" y="553225"/>
                </a:moveTo>
                <a:cubicBezTo>
                  <a:pt x="2683144" y="560260"/>
                  <a:pt x="2674057" y="567138"/>
                  <a:pt x="2670220" y="569014"/>
                </a:cubicBezTo>
                <a:cubicBezTo>
                  <a:pt x="2665172" y="565106"/>
                  <a:pt x="2676682" y="559166"/>
                  <a:pt x="2676682" y="553225"/>
                </a:cubicBezTo>
                <a:close/>
                <a:moveTo>
                  <a:pt x="1295088" y="553225"/>
                </a:moveTo>
                <a:cubicBezTo>
                  <a:pt x="1293885" y="555305"/>
                  <a:pt x="1293885" y="557385"/>
                  <a:pt x="1296493" y="557385"/>
                </a:cubicBezTo>
                <a:cubicBezTo>
                  <a:pt x="1291277" y="561385"/>
                  <a:pt x="1291277" y="554345"/>
                  <a:pt x="1281245" y="559305"/>
                </a:cubicBezTo>
                <a:cubicBezTo>
                  <a:pt x="1281245" y="555305"/>
                  <a:pt x="1288869" y="554345"/>
                  <a:pt x="1295088" y="553225"/>
                </a:cubicBezTo>
                <a:close/>
                <a:moveTo>
                  <a:pt x="1279223" y="551146"/>
                </a:moveTo>
                <a:cubicBezTo>
                  <a:pt x="1270162" y="557065"/>
                  <a:pt x="1248130" y="555975"/>
                  <a:pt x="1237629" y="564855"/>
                </a:cubicBezTo>
                <a:cubicBezTo>
                  <a:pt x="1242982" y="555040"/>
                  <a:pt x="1265015" y="554106"/>
                  <a:pt x="1279223" y="551146"/>
                </a:cubicBezTo>
                <a:close/>
                <a:moveTo>
                  <a:pt x="2133927" y="549312"/>
                </a:moveTo>
                <a:cubicBezTo>
                  <a:pt x="2137864" y="550265"/>
                  <a:pt x="2139107" y="552330"/>
                  <a:pt x="2143045" y="553284"/>
                </a:cubicBezTo>
                <a:cubicBezTo>
                  <a:pt x="2144289" y="561386"/>
                  <a:pt x="2132683" y="546293"/>
                  <a:pt x="2137864" y="559321"/>
                </a:cubicBezTo>
                <a:cubicBezTo>
                  <a:pt x="2136621" y="557414"/>
                  <a:pt x="2133927" y="552330"/>
                  <a:pt x="2133927" y="549312"/>
                </a:cubicBezTo>
                <a:close/>
                <a:moveTo>
                  <a:pt x="1350628" y="549305"/>
                </a:moveTo>
                <a:cubicBezTo>
                  <a:pt x="1354570" y="548373"/>
                  <a:pt x="1355815" y="551325"/>
                  <a:pt x="1361003" y="550237"/>
                </a:cubicBezTo>
                <a:cubicBezTo>
                  <a:pt x="1355815" y="556142"/>
                  <a:pt x="1351873" y="554277"/>
                  <a:pt x="1341498" y="557230"/>
                </a:cubicBezTo>
                <a:cubicBezTo>
                  <a:pt x="1334858" y="556142"/>
                  <a:pt x="1354570" y="555209"/>
                  <a:pt x="1350628" y="549305"/>
                </a:cubicBezTo>
                <a:close/>
                <a:moveTo>
                  <a:pt x="2151083" y="549066"/>
                </a:moveTo>
                <a:cubicBezTo>
                  <a:pt x="2152447" y="553772"/>
                  <a:pt x="2149721" y="551860"/>
                  <a:pt x="2148131" y="552742"/>
                </a:cubicBezTo>
                <a:cubicBezTo>
                  <a:pt x="2148131" y="549948"/>
                  <a:pt x="2149721" y="549066"/>
                  <a:pt x="2151083" y="549066"/>
                </a:cubicBezTo>
                <a:close/>
                <a:moveTo>
                  <a:pt x="2145632" y="548373"/>
                </a:moveTo>
                <a:cubicBezTo>
                  <a:pt x="2146995" y="554452"/>
                  <a:pt x="2145632" y="554452"/>
                  <a:pt x="2144041" y="554452"/>
                </a:cubicBezTo>
                <a:cubicBezTo>
                  <a:pt x="2142679" y="551412"/>
                  <a:pt x="2142679" y="548373"/>
                  <a:pt x="2145632" y="548373"/>
                </a:cubicBezTo>
                <a:close/>
                <a:moveTo>
                  <a:pt x="1080417" y="546763"/>
                </a:moveTo>
                <a:cubicBezTo>
                  <a:pt x="1086847" y="544906"/>
                  <a:pt x="1084357" y="552641"/>
                  <a:pt x="1092032" y="548774"/>
                </a:cubicBezTo>
                <a:cubicBezTo>
                  <a:pt x="1086847" y="554652"/>
                  <a:pt x="1061957" y="563470"/>
                  <a:pt x="1054075" y="560530"/>
                </a:cubicBezTo>
                <a:cubicBezTo>
                  <a:pt x="1055526" y="556663"/>
                  <a:pt x="1059468" y="554652"/>
                  <a:pt x="1065897" y="552641"/>
                </a:cubicBezTo>
                <a:cubicBezTo>
                  <a:pt x="1056771" y="559602"/>
                  <a:pt x="1090788" y="552641"/>
                  <a:pt x="1080417" y="546763"/>
                </a:cubicBezTo>
                <a:close/>
                <a:moveTo>
                  <a:pt x="2403691" y="545488"/>
                </a:moveTo>
                <a:cubicBezTo>
                  <a:pt x="2404927" y="547374"/>
                  <a:pt x="2401217" y="549418"/>
                  <a:pt x="2399775" y="549418"/>
                </a:cubicBezTo>
                <a:cubicBezTo>
                  <a:pt x="2406370" y="555391"/>
                  <a:pt x="2407606" y="545488"/>
                  <a:pt x="2403691" y="545488"/>
                </a:cubicBezTo>
                <a:close/>
                <a:moveTo>
                  <a:pt x="3035713" y="544906"/>
                </a:moveTo>
                <a:cubicBezTo>
                  <a:pt x="3024204" y="553793"/>
                  <a:pt x="3030666" y="564550"/>
                  <a:pt x="3014107" y="577334"/>
                </a:cubicBezTo>
                <a:cubicBezTo>
                  <a:pt x="3016732" y="570474"/>
                  <a:pt x="3019155" y="544906"/>
                  <a:pt x="3035713" y="544906"/>
                </a:cubicBezTo>
                <a:close/>
                <a:moveTo>
                  <a:pt x="2158318" y="544816"/>
                </a:moveTo>
                <a:cubicBezTo>
                  <a:pt x="2159547" y="542827"/>
                  <a:pt x="2160981" y="546653"/>
                  <a:pt x="2162209" y="545734"/>
                </a:cubicBezTo>
                <a:cubicBezTo>
                  <a:pt x="2166100" y="554459"/>
                  <a:pt x="2158318" y="543745"/>
                  <a:pt x="2162209" y="550632"/>
                </a:cubicBezTo>
                <a:cubicBezTo>
                  <a:pt x="2163438" y="554459"/>
                  <a:pt x="2159547" y="551551"/>
                  <a:pt x="2159547" y="549561"/>
                </a:cubicBezTo>
                <a:cubicBezTo>
                  <a:pt x="2151766" y="553540"/>
                  <a:pt x="2155861" y="546653"/>
                  <a:pt x="2159547" y="547725"/>
                </a:cubicBezTo>
                <a:cubicBezTo>
                  <a:pt x="2159547" y="547725"/>
                  <a:pt x="2159547" y="545734"/>
                  <a:pt x="2158318" y="544816"/>
                </a:cubicBezTo>
                <a:close/>
                <a:moveTo>
                  <a:pt x="2166097" y="542532"/>
                </a:moveTo>
                <a:cubicBezTo>
                  <a:pt x="2167331" y="541929"/>
                  <a:pt x="2169208" y="542419"/>
                  <a:pt x="2171085" y="543399"/>
                </a:cubicBezTo>
                <a:cubicBezTo>
                  <a:pt x="2171085" y="544303"/>
                  <a:pt x="2171085" y="546262"/>
                  <a:pt x="2172467" y="548222"/>
                </a:cubicBezTo>
                <a:cubicBezTo>
                  <a:pt x="2167331" y="544303"/>
                  <a:pt x="2168714" y="546262"/>
                  <a:pt x="2164961" y="548222"/>
                </a:cubicBezTo>
                <a:cubicBezTo>
                  <a:pt x="2164269" y="544831"/>
                  <a:pt x="2164862" y="543135"/>
                  <a:pt x="2166097" y="542532"/>
                </a:cubicBezTo>
                <a:close/>
                <a:moveTo>
                  <a:pt x="1122929" y="541440"/>
                </a:moveTo>
                <a:cubicBezTo>
                  <a:pt x="1122929" y="549599"/>
                  <a:pt x="1110021" y="544479"/>
                  <a:pt x="1102235" y="547519"/>
                </a:cubicBezTo>
                <a:cubicBezTo>
                  <a:pt x="1103669" y="542559"/>
                  <a:pt x="1115143" y="546559"/>
                  <a:pt x="1122929" y="541440"/>
                </a:cubicBezTo>
                <a:close/>
                <a:moveTo>
                  <a:pt x="2946841" y="540942"/>
                </a:moveTo>
                <a:cubicBezTo>
                  <a:pt x="2945356" y="541070"/>
                  <a:pt x="2943489" y="541758"/>
                  <a:pt x="2941222" y="543251"/>
                </a:cubicBezTo>
                <a:cubicBezTo>
                  <a:pt x="2950288" y="545295"/>
                  <a:pt x="2937307" y="544194"/>
                  <a:pt x="2933391" y="546238"/>
                </a:cubicBezTo>
                <a:cubicBezTo>
                  <a:pt x="2934627" y="547182"/>
                  <a:pt x="2936070" y="548282"/>
                  <a:pt x="2934627" y="549225"/>
                </a:cubicBezTo>
                <a:cubicBezTo>
                  <a:pt x="2933391" y="548204"/>
                  <a:pt x="2932104" y="547968"/>
                  <a:pt x="2930815" y="547732"/>
                </a:cubicBezTo>
                <a:lnTo>
                  <a:pt x="2929221" y="547107"/>
                </a:lnTo>
                <a:lnTo>
                  <a:pt x="2929047" y="548580"/>
                </a:lnTo>
                <a:lnTo>
                  <a:pt x="2927302" y="550224"/>
                </a:lnTo>
                <a:lnTo>
                  <a:pt x="2933391" y="550169"/>
                </a:lnTo>
                <a:cubicBezTo>
                  <a:pt x="2933391" y="553156"/>
                  <a:pt x="2936070" y="560231"/>
                  <a:pt x="2942458" y="557244"/>
                </a:cubicBezTo>
                <a:cubicBezTo>
                  <a:pt x="2943797" y="556222"/>
                  <a:pt x="2941840" y="554964"/>
                  <a:pt x="2940037" y="553589"/>
                </a:cubicBezTo>
                <a:lnTo>
                  <a:pt x="2938746" y="552310"/>
                </a:lnTo>
                <a:lnTo>
                  <a:pt x="2937859" y="552083"/>
                </a:lnTo>
                <a:lnTo>
                  <a:pt x="2937936" y="551507"/>
                </a:lnTo>
                <a:lnTo>
                  <a:pt x="2937879" y="551451"/>
                </a:lnTo>
                <a:lnTo>
                  <a:pt x="2937995" y="551065"/>
                </a:lnTo>
                <a:lnTo>
                  <a:pt x="2938156" y="549854"/>
                </a:lnTo>
                <a:cubicBezTo>
                  <a:pt x="2938981" y="548188"/>
                  <a:pt x="2940312" y="546401"/>
                  <a:pt x="2937650" y="545913"/>
                </a:cubicBezTo>
                <a:cubicBezTo>
                  <a:pt x="2938981" y="545142"/>
                  <a:pt x="2940153" y="544949"/>
                  <a:pt x="2941097" y="545157"/>
                </a:cubicBezTo>
                <a:cubicBezTo>
                  <a:pt x="2942515" y="545469"/>
                  <a:pt x="2943424" y="546684"/>
                  <a:pt x="2943598" y="548202"/>
                </a:cubicBezTo>
                <a:lnTo>
                  <a:pt x="2943121" y="549421"/>
                </a:lnTo>
                <a:lnTo>
                  <a:pt x="2944956" y="548341"/>
                </a:lnTo>
                <a:cubicBezTo>
                  <a:pt x="2946734" y="546985"/>
                  <a:pt x="2948331" y="545767"/>
                  <a:pt x="2950288" y="548282"/>
                </a:cubicBezTo>
                <a:cubicBezTo>
                  <a:pt x="2952297" y="545216"/>
                  <a:pt x="2951293" y="540559"/>
                  <a:pt x="2946841" y="540942"/>
                </a:cubicBezTo>
                <a:close/>
                <a:moveTo>
                  <a:pt x="3196086" y="540053"/>
                </a:moveTo>
                <a:cubicBezTo>
                  <a:pt x="3200132" y="543023"/>
                  <a:pt x="3194808" y="546931"/>
                  <a:pt x="3202901" y="549902"/>
                </a:cubicBezTo>
                <a:cubicBezTo>
                  <a:pt x="3192253" y="555842"/>
                  <a:pt x="3189484" y="543023"/>
                  <a:pt x="3196086" y="540053"/>
                </a:cubicBezTo>
                <a:close/>
                <a:moveTo>
                  <a:pt x="1246093" y="539599"/>
                </a:moveTo>
                <a:cubicBezTo>
                  <a:pt x="1248027" y="538980"/>
                  <a:pt x="1250625" y="538980"/>
                  <a:pt x="1252559" y="539986"/>
                </a:cubicBezTo>
                <a:cubicBezTo>
                  <a:pt x="1253781" y="542927"/>
                  <a:pt x="1244820" y="553764"/>
                  <a:pt x="1243597" y="546797"/>
                </a:cubicBezTo>
                <a:lnTo>
                  <a:pt x="1248690" y="545869"/>
                </a:lnTo>
                <a:cubicBezTo>
                  <a:pt x="1248690" y="542927"/>
                  <a:pt x="1246042" y="542927"/>
                  <a:pt x="1243597" y="542927"/>
                </a:cubicBezTo>
                <a:cubicBezTo>
                  <a:pt x="1242885" y="541457"/>
                  <a:pt x="1244158" y="540218"/>
                  <a:pt x="1246093" y="539599"/>
                </a:cubicBezTo>
                <a:close/>
                <a:moveTo>
                  <a:pt x="3067322" y="537974"/>
                </a:moveTo>
                <a:cubicBezTo>
                  <a:pt x="3073876" y="541013"/>
                  <a:pt x="3063432" y="548212"/>
                  <a:pt x="3059542" y="547092"/>
                </a:cubicBezTo>
                <a:cubicBezTo>
                  <a:pt x="3060770" y="544053"/>
                  <a:pt x="3059542" y="541013"/>
                  <a:pt x="3067322" y="537974"/>
                </a:cubicBezTo>
                <a:close/>
                <a:moveTo>
                  <a:pt x="1505485" y="537974"/>
                </a:moveTo>
                <a:cubicBezTo>
                  <a:pt x="1497667" y="541013"/>
                  <a:pt x="1484705" y="548212"/>
                  <a:pt x="1472978" y="544053"/>
                </a:cubicBezTo>
                <a:cubicBezTo>
                  <a:pt x="1480796" y="540053"/>
                  <a:pt x="1496432" y="541013"/>
                  <a:pt x="1505485" y="537974"/>
                </a:cubicBezTo>
                <a:close/>
                <a:moveTo>
                  <a:pt x="1139535" y="537538"/>
                </a:moveTo>
                <a:cubicBezTo>
                  <a:pt x="1144735" y="542608"/>
                  <a:pt x="1131630" y="541499"/>
                  <a:pt x="1136830" y="545620"/>
                </a:cubicBezTo>
                <a:cubicBezTo>
                  <a:pt x="1130382" y="547521"/>
                  <a:pt x="1131630" y="541499"/>
                  <a:pt x="1127677" y="542608"/>
                </a:cubicBezTo>
                <a:cubicBezTo>
                  <a:pt x="1127677" y="536587"/>
                  <a:pt x="1131630" y="540548"/>
                  <a:pt x="1139535" y="537538"/>
                </a:cubicBezTo>
                <a:close/>
                <a:moveTo>
                  <a:pt x="1278570" y="535940"/>
                </a:moveTo>
                <a:cubicBezTo>
                  <a:pt x="1280898" y="535836"/>
                  <a:pt x="1282779" y="535894"/>
                  <a:pt x="1283764" y="536125"/>
                </a:cubicBezTo>
                <a:cubicBezTo>
                  <a:pt x="1281274" y="539976"/>
                  <a:pt x="1262807" y="541979"/>
                  <a:pt x="1257620" y="540901"/>
                </a:cubicBezTo>
                <a:cubicBezTo>
                  <a:pt x="1260577" y="538012"/>
                  <a:pt x="1271587" y="536250"/>
                  <a:pt x="1278570" y="535940"/>
                </a:cubicBezTo>
                <a:close/>
                <a:moveTo>
                  <a:pt x="2816392" y="534507"/>
                </a:moveTo>
                <a:cubicBezTo>
                  <a:pt x="2820350" y="538415"/>
                  <a:pt x="2813893" y="544355"/>
                  <a:pt x="2815143" y="548420"/>
                </a:cubicBezTo>
                <a:cubicBezTo>
                  <a:pt x="2808479" y="550296"/>
                  <a:pt x="2808479" y="547326"/>
                  <a:pt x="2800566" y="545450"/>
                </a:cubicBezTo>
                <a:cubicBezTo>
                  <a:pt x="2812437" y="543418"/>
                  <a:pt x="2808479" y="540448"/>
                  <a:pt x="2816392" y="534507"/>
                </a:cubicBezTo>
                <a:close/>
                <a:moveTo>
                  <a:pt x="3102820" y="533351"/>
                </a:moveTo>
                <a:cubicBezTo>
                  <a:pt x="3105484" y="538253"/>
                  <a:pt x="3110606" y="530347"/>
                  <a:pt x="3112040" y="535407"/>
                </a:cubicBezTo>
                <a:cubicBezTo>
                  <a:pt x="3108147" y="538253"/>
                  <a:pt x="3109377" y="540309"/>
                  <a:pt x="3102820" y="543313"/>
                </a:cubicBezTo>
                <a:cubicBezTo>
                  <a:pt x="3106712" y="546317"/>
                  <a:pt x="3104255" y="552325"/>
                  <a:pt x="3112040" y="553274"/>
                </a:cubicBezTo>
                <a:cubicBezTo>
                  <a:pt x="3112040" y="557385"/>
                  <a:pt x="3108147" y="554381"/>
                  <a:pt x="3102820" y="558333"/>
                </a:cubicBezTo>
                <a:cubicBezTo>
                  <a:pt x="3101590" y="562286"/>
                  <a:pt x="3112040" y="561338"/>
                  <a:pt x="3106712" y="566239"/>
                </a:cubicBezTo>
                <a:cubicBezTo>
                  <a:pt x="3101590" y="563393"/>
                  <a:pt x="3096468" y="566239"/>
                  <a:pt x="3091346" y="561338"/>
                </a:cubicBezTo>
                <a:cubicBezTo>
                  <a:pt x="3099132" y="552325"/>
                  <a:pt x="3093805" y="544261"/>
                  <a:pt x="3102820" y="535407"/>
                </a:cubicBezTo>
                <a:cubicBezTo>
                  <a:pt x="3101590" y="534300"/>
                  <a:pt x="3101590" y="534300"/>
                  <a:pt x="3102820" y="533351"/>
                </a:cubicBezTo>
                <a:close/>
                <a:moveTo>
                  <a:pt x="3219821" y="533346"/>
                </a:moveTo>
                <a:cubicBezTo>
                  <a:pt x="3216628" y="535311"/>
                  <a:pt x="3214052" y="539281"/>
                  <a:pt x="3213073" y="543762"/>
                </a:cubicBezTo>
                <a:lnTo>
                  <a:pt x="3215638" y="555963"/>
                </a:lnTo>
                <a:lnTo>
                  <a:pt x="3216435" y="555431"/>
                </a:lnTo>
                <a:lnTo>
                  <a:pt x="3219410" y="545236"/>
                </a:lnTo>
                <a:lnTo>
                  <a:pt x="3219434" y="544537"/>
                </a:lnTo>
                <a:lnTo>
                  <a:pt x="3219333" y="540813"/>
                </a:lnTo>
                <a:lnTo>
                  <a:pt x="3219589" y="540073"/>
                </a:lnTo>
                <a:close/>
                <a:moveTo>
                  <a:pt x="2407106" y="533044"/>
                </a:moveTo>
                <a:cubicBezTo>
                  <a:pt x="2408328" y="531041"/>
                  <a:pt x="2414845" y="536895"/>
                  <a:pt x="2414845" y="533044"/>
                </a:cubicBezTo>
                <a:cubicBezTo>
                  <a:pt x="2418715" y="535971"/>
                  <a:pt x="2412198" y="537819"/>
                  <a:pt x="2407106" y="533044"/>
                </a:cubicBezTo>
                <a:close/>
                <a:moveTo>
                  <a:pt x="2392318" y="532965"/>
                </a:moveTo>
                <a:cubicBezTo>
                  <a:pt x="2393770" y="532457"/>
                  <a:pt x="2396671" y="533229"/>
                  <a:pt x="2400541" y="536804"/>
                </a:cubicBezTo>
                <a:cubicBezTo>
                  <a:pt x="2400541" y="539891"/>
                  <a:pt x="2392802" y="533717"/>
                  <a:pt x="2392802" y="536804"/>
                </a:cubicBezTo>
                <a:cubicBezTo>
                  <a:pt x="2390867" y="535260"/>
                  <a:pt x="2390867" y="533473"/>
                  <a:pt x="2392318" y="532965"/>
                </a:cubicBezTo>
                <a:close/>
                <a:moveTo>
                  <a:pt x="2712524" y="532960"/>
                </a:moveTo>
                <a:cubicBezTo>
                  <a:pt x="2712651" y="533358"/>
                  <a:pt x="2712397" y="534155"/>
                  <a:pt x="2711889" y="535010"/>
                </a:cubicBezTo>
                <a:lnTo>
                  <a:pt x="2710004" y="537104"/>
                </a:lnTo>
                <a:lnTo>
                  <a:pt x="2711764" y="537429"/>
                </a:lnTo>
                <a:cubicBezTo>
                  <a:pt x="2714077" y="538509"/>
                  <a:pt x="2716614" y="540006"/>
                  <a:pt x="2719491" y="541111"/>
                </a:cubicBezTo>
                <a:cubicBezTo>
                  <a:pt x="2714241" y="544058"/>
                  <a:pt x="2709193" y="544058"/>
                  <a:pt x="2701519" y="539250"/>
                </a:cubicBezTo>
                <a:lnTo>
                  <a:pt x="2705056" y="536499"/>
                </a:lnTo>
                <a:lnTo>
                  <a:pt x="2704246" y="535320"/>
                </a:lnTo>
                <a:cubicBezTo>
                  <a:pt x="2705529" y="534232"/>
                  <a:pt x="2710874" y="536252"/>
                  <a:pt x="2710874" y="533299"/>
                </a:cubicBezTo>
                <a:cubicBezTo>
                  <a:pt x="2711889" y="532562"/>
                  <a:pt x="2712397" y="532562"/>
                  <a:pt x="2712524" y="532960"/>
                </a:cubicBezTo>
                <a:close/>
                <a:moveTo>
                  <a:pt x="3024247" y="532932"/>
                </a:moveTo>
                <a:cubicBezTo>
                  <a:pt x="3025139" y="532575"/>
                  <a:pt x="3025958" y="532575"/>
                  <a:pt x="3026624" y="533318"/>
                </a:cubicBezTo>
                <a:cubicBezTo>
                  <a:pt x="3021505" y="537226"/>
                  <a:pt x="3020275" y="542229"/>
                  <a:pt x="3017613" y="546137"/>
                </a:cubicBezTo>
                <a:cubicBezTo>
                  <a:pt x="3012290" y="542229"/>
                  <a:pt x="3016386" y="539258"/>
                  <a:pt x="3016386" y="535350"/>
                </a:cubicBezTo>
                <a:cubicBezTo>
                  <a:pt x="3018228" y="538281"/>
                  <a:pt x="3021569" y="534001"/>
                  <a:pt x="3024247" y="532932"/>
                </a:cubicBezTo>
                <a:close/>
                <a:moveTo>
                  <a:pt x="3279509" y="531041"/>
                </a:moveTo>
                <a:cubicBezTo>
                  <a:pt x="3287414" y="537078"/>
                  <a:pt x="3283461" y="541050"/>
                  <a:pt x="3279509" y="546134"/>
                </a:cubicBezTo>
                <a:cubicBezTo>
                  <a:pt x="3274309" y="543116"/>
                  <a:pt x="3278261" y="541050"/>
                  <a:pt x="3274309" y="539144"/>
                </a:cubicBezTo>
                <a:cubicBezTo>
                  <a:pt x="3272853" y="539144"/>
                  <a:pt x="3271604" y="541050"/>
                  <a:pt x="3270356" y="540096"/>
                </a:cubicBezTo>
                <a:cubicBezTo>
                  <a:pt x="3278261" y="538031"/>
                  <a:pt x="3274309" y="536125"/>
                  <a:pt x="3279509" y="531041"/>
                </a:cubicBezTo>
                <a:close/>
                <a:moveTo>
                  <a:pt x="1487043" y="529655"/>
                </a:moveTo>
                <a:cubicBezTo>
                  <a:pt x="1490946" y="529655"/>
                  <a:pt x="1489713" y="533668"/>
                  <a:pt x="1490946" y="536719"/>
                </a:cubicBezTo>
                <a:cubicBezTo>
                  <a:pt x="1483139" y="536719"/>
                  <a:pt x="1467526" y="544746"/>
                  <a:pt x="1470197" y="534631"/>
                </a:cubicBezTo>
                <a:cubicBezTo>
                  <a:pt x="1478004" y="535755"/>
                  <a:pt x="1488481" y="539769"/>
                  <a:pt x="1487043" y="529655"/>
                </a:cubicBezTo>
                <a:close/>
                <a:moveTo>
                  <a:pt x="1820153" y="527514"/>
                </a:moveTo>
                <a:cubicBezTo>
                  <a:pt x="1825341" y="531400"/>
                  <a:pt x="1805628" y="526582"/>
                  <a:pt x="1808325" y="534352"/>
                </a:cubicBezTo>
                <a:cubicBezTo>
                  <a:pt x="1799196" y="530468"/>
                  <a:pt x="1812269" y="525495"/>
                  <a:pt x="1820153" y="527514"/>
                </a:cubicBezTo>
                <a:close/>
                <a:moveTo>
                  <a:pt x="1769917" y="527112"/>
                </a:moveTo>
                <a:cubicBezTo>
                  <a:pt x="1768714" y="532967"/>
                  <a:pt x="1768714" y="532967"/>
                  <a:pt x="1768714" y="532967"/>
                </a:cubicBezTo>
                <a:cubicBezTo>
                  <a:pt x="1766105" y="530964"/>
                  <a:pt x="1759686" y="530964"/>
                  <a:pt x="1754670" y="530964"/>
                </a:cubicBezTo>
                <a:cubicBezTo>
                  <a:pt x="1755874" y="526188"/>
                  <a:pt x="1764902" y="528036"/>
                  <a:pt x="1769917" y="527112"/>
                </a:cubicBezTo>
                <a:close/>
                <a:moveTo>
                  <a:pt x="2654704" y="526188"/>
                </a:moveTo>
                <a:cubicBezTo>
                  <a:pt x="2671331" y="533154"/>
                  <a:pt x="2652067" y="542177"/>
                  <a:pt x="2649432" y="546134"/>
                </a:cubicBezTo>
                <a:cubicBezTo>
                  <a:pt x="2646998" y="538061"/>
                  <a:pt x="2655920" y="533154"/>
                  <a:pt x="2654704" y="526188"/>
                </a:cubicBezTo>
                <a:close/>
                <a:moveTo>
                  <a:pt x="3467281" y="523415"/>
                </a:moveTo>
                <a:cubicBezTo>
                  <a:pt x="3471093" y="523415"/>
                  <a:pt x="3471093" y="526323"/>
                  <a:pt x="3467281" y="527241"/>
                </a:cubicBezTo>
                <a:cubicBezTo>
                  <a:pt x="3469889" y="528159"/>
                  <a:pt x="3471093" y="530149"/>
                  <a:pt x="3473701" y="530149"/>
                </a:cubicBezTo>
                <a:cubicBezTo>
                  <a:pt x="3472296" y="533058"/>
                  <a:pt x="3468485" y="533976"/>
                  <a:pt x="3462266" y="535048"/>
                </a:cubicBezTo>
                <a:cubicBezTo>
                  <a:pt x="3458454" y="528159"/>
                  <a:pt x="3468485" y="528159"/>
                  <a:pt x="3467281" y="523415"/>
                </a:cubicBezTo>
                <a:close/>
                <a:moveTo>
                  <a:pt x="3339752" y="522340"/>
                </a:moveTo>
                <a:cubicBezTo>
                  <a:pt x="3334395" y="527372"/>
                  <a:pt x="3346140" y="530358"/>
                  <a:pt x="3334395" y="532402"/>
                </a:cubicBezTo>
                <a:cubicBezTo>
                  <a:pt x="3342225" y="540264"/>
                  <a:pt x="3350055" y="521397"/>
                  <a:pt x="3339752" y="522340"/>
                </a:cubicBezTo>
                <a:close/>
                <a:moveTo>
                  <a:pt x="3111109" y="521833"/>
                </a:moveTo>
                <a:cubicBezTo>
                  <a:pt x="3111574" y="521384"/>
                  <a:pt x="3111925" y="521432"/>
                  <a:pt x="3112289" y="522388"/>
                </a:cubicBezTo>
                <a:cubicBezTo>
                  <a:pt x="3105633" y="527287"/>
                  <a:pt x="3117490" y="525297"/>
                  <a:pt x="3112289" y="530194"/>
                </a:cubicBezTo>
                <a:cubicBezTo>
                  <a:pt x="3108337" y="529276"/>
                  <a:pt x="3104385" y="530194"/>
                  <a:pt x="3100432" y="528205"/>
                </a:cubicBezTo>
                <a:cubicBezTo>
                  <a:pt x="3107297" y="529008"/>
                  <a:pt x="3109715" y="523182"/>
                  <a:pt x="3111109" y="521833"/>
                </a:cubicBezTo>
                <a:close/>
                <a:moveTo>
                  <a:pt x="1132923" y="521574"/>
                </a:moveTo>
                <a:cubicBezTo>
                  <a:pt x="1128980" y="527479"/>
                  <a:pt x="1115908" y="523594"/>
                  <a:pt x="1110721" y="529499"/>
                </a:cubicBezTo>
                <a:cubicBezTo>
                  <a:pt x="1106778" y="520642"/>
                  <a:pt x="1125245" y="524526"/>
                  <a:pt x="1132923" y="521574"/>
                </a:cubicBezTo>
                <a:close/>
                <a:moveTo>
                  <a:pt x="3540938" y="520642"/>
                </a:moveTo>
                <a:cubicBezTo>
                  <a:pt x="3540938" y="530651"/>
                  <a:pt x="3540938" y="530651"/>
                  <a:pt x="3540938" y="530651"/>
                </a:cubicBezTo>
                <a:cubicBezTo>
                  <a:pt x="3538268" y="529698"/>
                  <a:pt x="3535803" y="528586"/>
                  <a:pt x="3531899" y="529698"/>
                </a:cubicBezTo>
                <a:lnTo>
                  <a:pt x="3531899" y="535735"/>
                </a:lnTo>
                <a:cubicBezTo>
                  <a:pt x="3517518" y="535735"/>
                  <a:pt x="3534364" y="521595"/>
                  <a:pt x="3540938" y="520642"/>
                </a:cubicBezTo>
                <a:close/>
                <a:moveTo>
                  <a:pt x="3071960" y="520642"/>
                </a:moveTo>
                <a:cubicBezTo>
                  <a:pt x="3078422" y="522548"/>
                  <a:pt x="3074585" y="529698"/>
                  <a:pt x="3071960" y="535735"/>
                </a:cubicBezTo>
                <a:cubicBezTo>
                  <a:pt x="3060451" y="535735"/>
                  <a:pt x="3070749" y="525567"/>
                  <a:pt x="3071960" y="520642"/>
                </a:cubicBezTo>
                <a:close/>
                <a:moveTo>
                  <a:pt x="2727174" y="520516"/>
                </a:moveTo>
                <a:cubicBezTo>
                  <a:pt x="2727812" y="522524"/>
                  <a:pt x="2723471" y="530864"/>
                  <a:pt x="2721242" y="539204"/>
                </a:cubicBezTo>
                <a:cubicBezTo>
                  <a:pt x="2710606" y="538112"/>
                  <a:pt x="2723954" y="532336"/>
                  <a:pt x="2713317" y="530308"/>
                </a:cubicBezTo>
                <a:cubicBezTo>
                  <a:pt x="2718948" y="525118"/>
                  <a:pt x="2722507" y="522153"/>
                  <a:pt x="2724615" y="520855"/>
                </a:cubicBezTo>
                <a:cubicBezTo>
                  <a:pt x="2726197" y="519882"/>
                  <a:pt x="2726963" y="519848"/>
                  <a:pt x="2727174" y="520516"/>
                </a:cubicBezTo>
                <a:close/>
                <a:moveTo>
                  <a:pt x="3496968" y="519255"/>
                </a:moveTo>
                <a:cubicBezTo>
                  <a:pt x="3504936" y="527106"/>
                  <a:pt x="3506405" y="540925"/>
                  <a:pt x="3506405" y="555842"/>
                </a:cubicBezTo>
                <a:cubicBezTo>
                  <a:pt x="3499695" y="545007"/>
                  <a:pt x="3495710" y="535114"/>
                  <a:pt x="3496968" y="519255"/>
                </a:cubicBezTo>
                <a:close/>
                <a:moveTo>
                  <a:pt x="1879409" y="515754"/>
                </a:moveTo>
                <a:cubicBezTo>
                  <a:pt x="1881352" y="516512"/>
                  <a:pt x="1883632" y="517522"/>
                  <a:pt x="1886223" y="517056"/>
                </a:cubicBezTo>
                <a:cubicBezTo>
                  <a:pt x="1881041" y="521873"/>
                  <a:pt x="1878348" y="517988"/>
                  <a:pt x="1874617" y="515968"/>
                </a:cubicBezTo>
                <a:cubicBezTo>
                  <a:pt x="1875860" y="514492"/>
                  <a:pt x="1877466" y="514997"/>
                  <a:pt x="1879409" y="515754"/>
                </a:cubicBezTo>
                <a:close/>
                <a:moveTo>
                  <a:pt x="1938013" y="514389"/>
                </a:moveTo>
                <a:cubicBezTo>
                  <a:pt x="1940543" y="515149"/>
                  <a:pt x="1943258" y="516669"/>
                  <a:pt x="1945281" y="517709"/>
                </a:cubicBezTo>
                <a:cubicBezTo>
                  <a:pt x="1942512" y="519788"/>
                  <a:pt x="1935697" y="515629"/>
                  <a:pt x="1931864" y="515629"/>
                </a:cubicBezTo>
                <a:cubicBezTo>
                  <a:pt x="1933142" y="513629"/>
                  <a:pt x="1935484" y="513629"/>
                  <a:pt x="1938013" y="514389"/>
                </a:cubicBezTo>
                <a:close/>
                <a:moveTo>
                  <a:pt x="3112160" y="510243"/>
                </a:moveTo>
                <a:lnTo>
                  <a:pt x="3117484" y="515242"/>
                </a:lnTo>
                <a:cubicBezTo>
                  <a:pt x="3113438" y="518211"/>
                  <a:pt x="3108113" y="521179"/>
                  <a:pt x="3104067" y="517273"/>
                </a:cubicBezTo>
                <a:cubicBezTo>
                  <a:pt x="3109392" y="515242"/>
                  <a:pt x="3105345" y="512274"/>
                  <a:pt x="3112160" y="510243"/>
                </a:cubicBezTo>
                <a:close/>
                <a:moveTo>
                  <a:pt x="1899883" y="510108"/>
                </a:moveTo>
                <a:cubicBezTo>
                  <a:pt x="1901474" y="510358"/>
                  <a:pt x="1903089" y="511090"/>
                  <a:pt x="1904401" y="511090"/>
                </a:cubicBezTo>
                <a:cubicBezTo>
                  <a:pt x="1902988" y="514942"/>
                  <a:pt x="1897940" y="514017"/>
                  <a:pt x="1895517" y="512014"/>
                </a:cubicBezTo>
                <a:cubicBezTo>
                  <a:pt x="1896728" y="510089"/>
                  <a:pt x="1898293" y="509857"/>
                  <a:pt x="1899883" y="510108"/>
                </a:cubicBezTo>
                <a:close/>
                <a:moveTo>
                  <a:pt x="1112971" y="510039"/>
                </a:moveTo>
                <a:cubicBezTo>
                  <a:pt x="1116429" y="509683"/>
                  <a:pt x="1119758" y="510948"/>
                  <a:pt x="1121110" y="514426"/>
                </a:cubicBezTo>
                <a:cubicBezTo>
                  <a:pt x="1117157" y="512371"/>
                  <a:pt x="1109252" y="516324"/>
                  <a:pt x="1104052" y="515375"/>
                </a:cubicBezTo>
                <a:cubicBezTo>
                  <a:pt x="1105924" y="512371"/>
                  <a:pt x="1109513" y="510395"/>
                  <a:pt x="1112971" y="510039"/>
                </a:cubicBezTo>
                <a:close/>
                <a:moveTo>
                  <a:pt x="1334650" y="508394"/>
                </a:moveTo>
                <a:cubicBezTo>
                  <a:pt x="1333402" y="512246"/>
                  <a:pt x="1325497" y="513170"/>
                  <a:pt x="1317593" y="514248"/>
                </a:cubicBezTo>
                <a:cubicBezTo>
                  <a:pt x="1324042" y="511321"/>
                  <a:pt x="1326746" y="507470"/>
                  <a:pt x="1334650" y="508394"/>
                </a:cubicBezTo>
                <a:close/>
                <a:moveTo>
                  <a:pt x="1822473" y="507220"/>
                </a:moveTo>
                <a:cubicBezTo>
                  <a:pt x="1828973" y="506083"/>
                  <a:pt x="1827715" y="510145"/>
                  <a:pt x="1834425" y="509171"/>
                </a:cubicBezTo>
                <a:cubicBezTo>
                  <a:pt x="1831699" y="516320"/>
                  <a:pt x="1827715" y="508195"/>
                  <a:pt x="1821004" y="512257"/>
                </a:cubicBezTo>
                <a:cubicBezTo>
                  <a:pt x="1822473" y="507220"/>
                  <a:pt x="1822473" y="507220"/>
                  <a:pt x="1822473" y="507220"/>
                </a:cubicBezTo>
                <a:close/>
                <a:moveTo>
                  <a:pt x="2696126" y="506083"/>
                </a:moveTo>
                <a:cubicBezTo>
                  <a:pt x="2704954" y="509052"/>
                  <a:pt x="2701142" y="514988"/>
                  <a:pt x="2697331" y="517019"/>
                </a:cubicBezTo>
                <a:cubicBezTo>
                  <a:pt x="2689707" y="512958"/>
                  <a:pt x="2701142" y="511082"/>
                  <a:pt x="2696126" y="506083"/>
                </a:cubicBezTo>
                <a:close/>
                <a:moveTo>
                  <a:pt x="1876819" y="505740"/>
                </a:moveTo>
                <a:cubicBezTo>
                  <a:pt x="1878129" y="505261"/>
                  <a:pt x="1879125" y="505759"/>
                  <a:pt x="1879859" y="508208"/>
                </a:cubicBezTo>
                <a:cubicBezTo>
                  <a:pt x="1875875" y="509127"/>
                  <a:pt x="1871891" y="514942"/>
                  <a:pt x="1871891" y="509127"/>
                </a:cubicBezTo>
                <a:cubicBezTo>
                  <a:pt x="1873883" y="507672"/>
                  <a:pt x="1875508" y="506218"/>
                  <a:pt x="1876819" y="505740"/>
                </a:cubicBezTo>
                <a:close/>
                <a:moveTo>
                  <a:pt x="3548440" y="504697"/>
                </a:moveTo>
                <a:cubicBezTo>
                  <a:pt x="3565471" y="513443"/>
                  <a:pt x="3548440" y="532343"/>
                  <a:pt x="3561525" y="544057"/>
                </a:cubicBezTo>
                <a:cubicBezTo>
                  <a:pt x="3536601" y="538121"/>
                  <a:pt x="3557579" y="520472"/>
                  <a:pt x="3548440" y="504697"/>
                </a:cubicBezTo>
                <a:close/>
                <a:moveTo>
                  <a:pt x="2729903" y="504697"/>
                </a:moveTo>
                <a:cubicBezTo>
                  <a:pt x="2737663" y="508658"/>
                  <a:pt x="2735212" y="509609"/>
                  <a:pt x="2731333" y="515631"/>
                </a:cubicBezTo>
                <a:cubicBezTo>
                  <a:pt x="2719693" y="514680"/>
                  <a:pt x="2729903" y="507707"/>
                  <a:pt x="2729903" y="504697"/>
                </a:cubicBezTo>
                <a:close/>
                <a:moveTo>
                  <a:pt x="3079887" y="503310"/>
                </a:moveTo>
                <a:cubicBezTo>
                  <a:pt x="3087511" y="503310"/>
                  <a:pt x="3078683" y="514942"/>
                  <a:pt x="3072263" y="512034"/>
                </a:cubicBezTo>
                <a:cubicBezTo>
                  <a:pt x="3073667" y="507290"/>
                  <a:pt x="3078683" y="507290"/>
                  <a:pt x="3079887" y="503310"/>
                </a:cubicBezTo>
                <a:close/>
                <a:moveTo>
                  <a:pt x="2836842" y="502617"/>
                </a:moveTo>
                <a:cubicBezTo>
                  <a:pt x="2840736" y="502617"/>
                  <a:pt x="2843399" y="504660"/>
                  <a:pt x="2847292" y="506546"/>
                </a:cubicBezTo>
                <a:cubicBezTo>
                  <a:pt x="2843399" y="509533"/>
                  <a:pt x="2842170" y="511577"/>
                  <a:pt x="2846063" y="514564"/>
                </a:cubicBezTo>
                <a:cubicBezTo>
                  <a:pt x="2843399" y="515506"/>
                  <a:pt x="2842170" y="515506"/>
                  <a:pt x="2839506" y="515506"/>
                </a:cubicBezTo>
                <a:cubicBezTo>
                  <a:pt x="2843399" y="519594"/>
                  <a:pt x="2839506" y="521480"/>
                  <a:pt x="2848521" y="521480"/>
                </a:cubicBezTo>
                <a:cubicBezTo>
                  <a:pt x="2840736" y="524467"/>
                  <a:pt x="2842170" y="527454"/>
                  <a:pt x="2842170" y="529497"/>
                </a:cubicBezTo>
                <a:cubicBezTo>
                  <a:pt x="2838277" y="524467"/>
                  <a:pt x="2840736" y="518494"/>
                  <a:pt x="2827827" y="518494"/>
                </a:cubicBezTo>
                <a:cubicBezTo>
                  <a:pt x="2831720" y="514564"/>
                  <a:pt x="2834384" y="511577"/>
                  <a:pt x="2840736" y="510477"/>
                </a:cubicBezTo>
                <a:cubicBezTo>
                  <a:pt x="2839506" y="508590"/>
                  <a:pt x="2830491" y="506546"/>
                  <a:pt x="2834384" y="504660"/>
                </a:cubicBezTo>
                <a:cubicBezTo>
                  <a:pt x="2838277" y="506546"/>
                  <a:pt x="2835613" y="503560"/>
                  <a:pt x="2836842" y="502617"/>
                </a:cubicBezTo>
                <a:close/>
                <a:moveTo>
                  <a:pt x="2672229" y="502617"/>
                </a:moveTo>
                <a:cubicBezTo>
                  <a:pt x="2672229" y="513560"/>
                  <a:pt x="2668183" y="521648"/>
                  <a:pt x="2661367" y="526723"/>
                </a:cubicBezTo>
                <a:cubicBezTo>
                  <a:pt x="2658812" y="518635"/>
                  <a:pt x="2664136" y="509595"/>
                  <a:pt x="2672229" y="502617"/>
                </a:cubicBezTo>
                <a:close/>
                <a:moveTo>
                  <a:pt x="2458398" y="502192"/>
                </a:moveTo>
                <a:cubicBezTo>
                  <a:pt x="2459849" y="501714"/>
                  <a:pt x="2462751" y="501935"/>
                  <a:pt x="2465963" y="503331"/>
                </a:cubicBezTo>
                <a:cubicBezTo>
                  <a:pt x="2464720" y="505243"/>
                  <a:pt x="2460782" y="503331"/>
                  <a:pt x="2459539" y="505243"/>
                </a:cubicBezTo>
                <a:cubicBezTo>
                  <a:pt x="2456948" y="503846"/>
                  <a:pt x="2456948" y="502669"/>
                  <a:pt x="2458398" y="502192"/>
                </a:cubicBezTo>
                <a:close/>
                <a:moveTo>
                  <a:pt x="3343667" y="500486"/>
                </a:moveTo>
                <a:cubicBezTo>
                  <a:pt x="3337074" y="503473"/>
                  <a:pt x="3340989" y="506460"/>
                  <a:pt x="3344904" y="510391"/>
                </a:cubicBezTo>
                <a:cubicBezTo>
                  <a:pt x="3348819" y="508504"/>
                  <a:pt x="3347377" y="506460"/>
                  <a:pt x="3350055" y="504574"/>
                </a:cubicBezTo>
                <a:cubicBezTo>
                  <a:pt x="3348819" y="500486"/>
                  <a:pt x="3346140" y="501587"/>
                  <a:pt x="3343667" y="500486"/>
                </a:cubicBezTo>
                <a:close/>
                <a:moveTo>
                  <a:pt x="1795250" y="499459"/>
                </a:moveTo>
                <a:cubicBezTo>
                  <a:pt x="1797780" y="499234"/>
                  <a:pt x="1801134" y="499723"/>
                  <a:pt x="1804435" y="499723"/>
                </a:cubicBezTo>
                <a:cubicBezTo>
                  <a:pt x="1804435" y="501683"/>
                  <a:pt x="1801880" y="500628"/>
                  <a:pt x="1799111" y="500628"/>
                </a:cubicBezTo>
                <a:cubicBezTo>
                  <a:pt x="1797833" y="501683"/>
                  <a:pt x="1797833" y="502587"/>
                  <a:pt x="1799111" y="502587"/>
                </a:cubicBezTo>
                <a:cubicBezTo>
                  <a:pt x="1797833" y="504546"/>
                  <a:pt x="1793786" y="503491"/>
                  <a:pt x="1791018" y="503491"/>
                </a:cubicBezTo>
                <a:cubicBezTo>
                  <a:pt x="1791018" y="500628"/>
                  <a:pt x="1792722" y="499686"/>
                  <a:pt x="1795250" y="499459"/>
                </a:cubicBezTo>
                <a:close/>
                <a:moveTo>
                  <a:pt x="1868605" y="499150"/>
                </a:moveTo>
                <a:cubicBezTo>
                  <a:pt x="1871331" y="499150"/>
                  <a:pt x="1869863" y="501154"/>
                  <a:pt x="1872590" y="501154"/>
                </a:cubicBezTo>
                <a:cubicBezTo>
                  <a:pt x="1871331" y="505929"/>
                  <a:pt x="1871331" y="505929"/>
                  <a:pt x="1871331" y="505929"/>
                </a:cubicBezTo>
                <a:cubicBezTo>
                  <a:pt x="1869863" y="504081"/>
                  <a:pt x="1867347" y="504081"/>
                  <a:pt x="1868605" y="499150"/>
                </a:cubicBezTo>
                <a:close/>
                <a:moveTo>
                  <a:pt x="1383454" y="499150"/>
                </a:moveTo>
                <a:cubicBezTo>
                  <a:pt x="1383454" y="501171"/>
                  <a:pt x="1384686" y="502103"/>
                  <a:pt x="1387356" y="502103"/>
                </a:cubicBezTo>
                <a:cubicBezTo>
                  <a:pt x="1378319" y="508007"/>
                  <a:pt x="1367845" y="505987"/>
                  <a:pt x="1357575" y="504123"/>
                </a:cubicBezTo>
                <a:cubicBezTo>
                  <a:pt x="1363943" y="499150"/>
                  <a:pt x="1374417" y="503035"/>
                  <a:pt x="1383454" y="499150"/>
                </a:cubicBezTo>
                <a:close/>
                <a:moveTo>
                  <a:pt x="1626736" y="495768"/>
                </a:moveTo>
                <a:cubicBezTo>
                  <a:pt x="1623983" y="496278"/>
                  <a:pt x="1621719" y="497296"/>
                  <a:pt x="1620381" y="498785"/>
                </a:cubicBezTo>
                <a:cubicBezTo>
                  <a:pt x="1624291" y="501762"/>
                  <a:pt x="1637259" y="500665"/>
                  <a:pt x="1636024" y="495808"/>
                </a:cubicBezTo>
                <a:cubicBezTo>
                  <a:pt x="1632731" y="495259"/>
                  <a:pt x="1629489" y="495259"/>
                  <a:pt x="1626736" y="495768"/>
                </a:cubicBezTo>
                <a:close/>
                <a:moveTo>
                  <a:pt x="1681673" y="495684"/>
                </a:moveTo>
                <a:cubicBezTo>
                  <a:pt x="1686923" y="495684"/>
                  <a:pt x="1686923" y="495684"/>
                  <a:pt x="1686923" y="495684"/>
                </a:cubicBezTo>
                <a:cubicBezTo>
                  <a:pt x="1685509" y="497549"/>
                  <a:pt x="1686923" y="497549"/>
                  <a:pt x="1688135" y="497549"/>
                </a:cubicBezTo>
                <a:cubicBezTo>
                  <a:pt x="1683086" y="499569"/>
                  <a:pt x="1677836" y="503454"/>
                  <a:pt x="1670163" y="504542"/>
                </a:cubicBezTo>
                <a:cubicBezTo>
                  <a:pt x="1670163" y="498636"/>
                  <a:pt x="1680461" y="502521"/>
                  <a:pt x="1681673" y="495684"/>
                </a:cubicBezTo>
                <a:close/>
                <a:moveTo>
                  <a:pt x="2639158" y="494298"/>
                </a:moveTo>
                <a:cubicBezTo>
                  <a:pt x="2641858" y="495417"/>
                  <a:pt x="2643104" y="495417"/>
                  <a:pt x="2643104" y="494298"/>
                </a:cubicBezTo>
                <a:cubicBezTo>
                  <a:pt x="2645805" y="495417"/>
                  <a:pt x="2645805" y="497337"/>
                  <a:pt x="2647051" y="496377"/>
                </a:cubicBezTo>
                <a:cubicBezTo>
                  <a:pt x="2652243" y="499417"/>
                  <a:pt x="2643104" y="500377"/>
                  <a:pt x="2639158" y="498457"/>
                </a:cubicBezTo>
                <a:cubicBezTo>
                  <a:pt x="2637912" y="497337"/>
                  <a:pt x="2637912" y="495417"/>
                  <a:pt x="2639158" y="494298"/>
                </a:cubicBezTo>
                <a:close/>
                <a:moveTo>
                  <a:pt x="1477017" y="494298"/>
                </a:moveTo>
                <a:cubicBezTo>
                  <a:pt x="1478228" y="501185"/>
                  <a:pt x="1478228" y="501185"/>
                  <a:pt x="1478228" y="501185"/>
                </a:cubicBezTo>
                <a:cubicBezTo>
                  <a:pt x="1478228" y="496287"/>
                  <a:pt x="1461670" y="495369"/>
                  <a:pt x="1469343" y="500114"/>
                </a:cubicBezTo>
                <a:cubicBezTo>
                  <a:pt x="1466718" y="505930"/>
                  <a:pt x="1463083" y="497206"/>
                  <a:pt x="1456622" y="499196"/>
                </a:cubicBezTo>
                <a:cubicBezTo>
                  <a:pt x="1460458" y="496287"/>
                  <a:pt x="1468132" y="494298"/>
                  <a:pt x="1477017" y="494298"/>
                </a:cubicBezTo>
                <a:close/>
                <a:moveTo>
                  <a:pt x="2763077" y="494168"/>
                </a:moveTo>
                <a:cubicBezTo>
                  <a:pt x="2769723" y="492218"/>
                  <a:pt x="2774915" y="497255"/>
                  <a:pt x="2772216" y="502455"/>
                </a:cubicBezTo>
                <a:cubicBezTo>
                  <a:pt x="2765777" y="501479"/>
                  <a:pt x="2760585" y="499367"/>
                  <a:pt x="2763077" y="494168"/>
                </a:cubicBezTo>
                <a:close/>
                <a:moveTo>
                  <a:pt x="2610807" y="493772"/>
                </a:moveTo>
                <a:cubicBezTo>
                  <a:pt x="2612043" y="496759"/>
                  <a:pt x="2610807" y="498803"/>
                  <a:pt x="2617196" y="501789"/>
                </a:cubicBezTo>
                <a:cubicBezTo>
                  <a:pt x="2618638" y="498803"/>
                  <a:pt x="2619875" y="496759"/>
                  <a:pt x="2615959" y="494716"/>
                </a:cubicBezTo>
                <a:cubicBezTo>
                  <a:pt x="2614722" y="494716"/>
                  <a:pt x="2613280" y="494716"/>
                  <a:pt x="2610807" y="493772"/>
                </a:cubicBezTo>
                <a:close/>
                <a:moveTo>
                  <a:pt x="2844732" y="492218"/>
                </a:moveTo>
                <a:cubicBezTo>
                  <a:pt x="2851249" y="495305"/>
                  <a:pt x="2847379" y="499367"/>
                  <a:pt x="2846157" y="502455"/>
                </a:cubicBezTo>
                <a:cubicBezTo>
                  <a:pt x="2847379" y="499367"/>
                  <a:pt x="2839640" y="496280"/>
                  <a:pt x="2844732" y="492218"/>
                </a:cubicBezTo>
                <a:close/>
                <a:moveTo>
                  <a:pt x="3044029" y="491252"/>
                </a:moveTo>
                <a:cubicBezTo>
                  <a:pt x="3045366" y="490894"/>
                  <a:pt x="3046820" y="490961"/>
                  <a:pt x="3048429" y="491698"/>
                </a:cubicBezTo>
                <a:cubicBezTo>
                  <a:pt x="3040537" y="493559"/>
                  <a:pt x="3039290" y="500382"/>
                  <a:pt x="3034098" y="499452"/>
                </a:cubicBezTo>
                <a:cubicBezTo>
                  <a:pt x="3037057" y="497242"/>
                  <a:pt x="3040018" y="492328"/>
                  <a:pt x="3044029" y="491252"/>
                </a:cubicBezTo>
                <a:close/>
                <a:moveTo>
                  <a:pt x="3303197" y="490831"/>
                </a:moveTo>
                <a:cubicBezTo>
                  <a:pt x="3308316" y="495762"/>
                  <a:pt x="3296644" y="499613"/>
                  <a:pt x="3297873" y="504543"/>
                </a:cubicBezTo>
                <a:cubicBezTo>
                  <a:pt x="3293982" y="499613"/>
                  <a:pt x="3295415" y="495762"/>
                  <a:pt x="3303197" y="490831"/>
                </a:cubicBezTo>
                <a:close/>
                <a:moveTo>
                  <a:pt x="1679044" y="483899"/>
                </a:moveTo>
                <a:cubicBezTo>
                  <a:pt x="1676368" y="491890"/>
                  <a:pt x="1661959" y="483899"/>
                  <a:pt x="1659490" y="486876"/>
                </a:cubicBezTo>
                <a:cubicBezTo>
                  <a:pt x="1659490" y="491890"/>
                  <a:pt x="1665871" y="490793"/>
                  <a:pt x="1672457" y="490793"/>
                </a:cubicBezTo>
                <a:cubicBezTo>
                  <a:pt x="1669781" y="491890"/>
                  <a:pt x="1668546" y="495808"/>
                  <a:pt x="1671222" y="495808"/>
                </a:cubicBezTo>
                <a:cubicBezTo>
                  <a:pt x="1660724" y="502703"/>
                  <a:pt x="1654138" y="490793"/>
                  <a:pt x="1638700" y="495808"/>
                </a:cubicBezTo>
                <a:cubicBezTo>
                  <a:pt x="1646522" y="497688"/>
                  <a:pt x="1647757" y="501762"/>
                  <a:pt x="1661959" y="502703"/>
                </a:cubicBezTo>
                <a:cubicBezTo>
                  <a:pt x="1652903" y="504739"/>
                  <a:pt x="1643846" y="504739"/>
                  <a:pt x="1636024" y="504739"/>
                </a:cubicBezTo>
                <a:cubicBezTo>
                  <a:pt x="1625527" y="503642"/>
                  <a:pt x="1615235" y="502703"/>
                  <a:pt x="1604737" y="499725"/>
                </a:cubicBezTo>
                <a:cubicBezTo>
                  <a:pt x="1616470" y="506619"/>
                  <a:pt x="1596915" y="498785"/>
                  <a:pt x="1591769" y="503642"/>
                </a:cubicBezTo>
                <a:cubicBezTo>
                  <a:pt x="1586624" y="501762"/>
                  <a:pt x="1598356" y="500665"/>
                  <a:pt x="1589299" y="497688"/>
                </a:cubicBezTo>
                <a:cubicBezTo>
                  <a:pt x="1586624" y="499725"/>
                  <a:pt x="1583948" y="501762"/>
                  <a:pt x="1581478" y="503642"/>
                </a:cubicBezTo>
                <a:cubicBezTo>
                  <a:pt x="1569745" y="496748"/>
                  <a:pt x="1551426" y="500665"/>
                  <a:pt x="1535988" y="501762"/>
                </a:cubicBezTo>
                <a:cubicBezTo>
                  <a:pt x="1543604" y="488913"/>
                  <a:pt x="1572215" y="497688"/>
                  <a:pt x="1581478" y="493770"/>
                </a:cubicBezTo>
                <a:cubicBezTo>
                  <a:pt x="1573656" y="483899"/>
                  <a:pt x="1545045" y="495808"/>
                  <a:pt x="1528167" y="489853"/>
                </a:cubicBezTo>
                <a:cubicBezTo>
                  <a:pt x="1517669" y="491890"/>
                  <a:pt x="1529402" y="496748"/>
                  <a:pt x="1522815" y="500665"/>
                </a:cubicBezTo>
                <a:cubicBezTo>
                  <a:pt x="1514993" y="498785"/>
                  <a:pt x="1503261" y="495808"/>
                  <a:pt x="1499555" y="501762"/>
                </a:cubicBezTo>
                <a:cubicBezTo>
                  <a:pt x="1492969" y="498785"/>
                  <a:pt x="1508613" y="494711"/>
                  <a:pt x="1517669" y="495808"/>
                </a:cubicBezTo>
                <a:cubicBezTo>
                  <a:pt x="1517669" y="493770"/>
                  <a:pt x="1514993" y="494711"/>
                  <a:pt x="1512523" y="493770"/>
                </a:cubicBezTo>
                <a:cubicBezTo>
                  <a:pt x="1512523" y="492830"/>
                  <a:pt x="1514993" y="492830"/>
                  <a:pt x="1517669" y="491890"/>
                </a:cubicBezTo>
                <a:cubicBezTo>
                  <a:pt x="1513759" y="489853"/>
                  <a:pt x="1505936" y="489853"/>
                  <a:pt x="1502026" y="487816"/>
                </a:cubicBezTo>
                <a:cubicBezTo>
                  <a:pt x="1534548" y="486876"/>
                  <a:pt x="1564393" y="485936"/>
                  <a:pt x="1594446" y="485936"/>
                </a:cubicBezTo>
                <a:cubicBezTo>
                  <a:pt x="1621616" y="484839"/>
                  <a:pt x="1648992" y="484839"/>
                  <a:pt x="1679044" y="483899"/>
                </a:cubicBezTo>
                <a:close/>
                <a:moveTo>
                  <a:pt x="3061145" y="476677"/>
                </a:moveTo>
                <a:cubicBezTo>
                  <a:pt x="3057099" y="481535"/>
                  <a:pt x="3053053" y="486551"/>
                  <a:pt x="3051775" y="493448"/>
                </a:cubicBezTo>
                <a:cubicBezTo>
                  <a:pt x="3049006" y="487492"/>
                  <a:pt x="3047729" y="475580"/>
                  <a:pt x="3061145" y="476677"/>
                </a:cubicBezTo>
                <a:close/>
                <a:moveTo>
                  <a:pt x="2834201" y="474886"/>
                </a:moveTo>
                <a:cubicBezTo>
                  <a:pt x="2845798" y="476946"/>
                  <a:pt x="2830336" y="489940"/>
                  <a:pt x="2830336" y="496912"/>
                </a:cubicBezTo>
                <a:cubicBezTo>
                  <a:pt x="2818740" y="490891"/>
                  <a:pt x="2838067" y="480907"/>
                  <a:pt x="2834201" y="474886"/>
                </a:cubicBezTo>
                <a:close/>
                <a:moveTo>
                  <a:pt x="3267417" y="467622"/>
                </a:moveTo>
                <a:cubicBezTo>
                  <a:pt x="3264649" y="469430"/>
                  <a:pt x="3266139" y="471389"/>
                  <a:pt x="3264649" y="473349"/>
                </a:cubicBezTo>
                <a:cubicBezTo>
                  <a:pt x="3260602" y="471389"/>
                  <a:pt x="3256555" y="473349"/>
                  <a:pt x="3254000" y="470486"/>
                </a:cubicBezTo>
                <a:cubicBezTo>
                  <a:pt x="3258046" y="467622"/>
                  <a:pt x="3263371" y="466567"/>
                  <a:pt x="3267417" y="467622"/>
                </a:cubicBezTo>
                <a:close/>
                <a:moveTo>
                  <a:pt x="2853884" y="466567"/>
                </a:moveTo>
                <a:lnTo>
                  <a:pt x="2860332" y="470486"/>
                </a:lnTo>
                <a:cubicBezTo>
                  <a:pt x="2855131" y="472294"/>
                  <a:pt x="2848475" y="473349"/>
                  <a:pt x="2843274" y="472294"/>
                </a:cubicBezTo>
                <a:cubicBezTo>
                  <a:pt x="2848475" y="470486"/>
                  <a:pt x="2853884" y="470486"/>
                  <a:pt x="2853884" y="466567"/>
                </a:cubicBezTo>
                <a:close/>
                <a:moveTo>
                  <a:pt x="2815636" y="465874"/>
                </a:moveTo>
                <a:cubicBezTo>
                  <a:pt x="2819448" y="469846"/>
                  <a:pt x="2815636" y="475883"/>
                  <a:pt x="2815636" y="480967"/>
                </a:cubicBezTo>
                <a:cubicBezTo>
                  <a:pt x="2804201" y="480013"/>
                  <a:pt x="2815636" y="470957"/>
                  <a:pt x="2815636" y="465874"/>
                </a:cubicBezTo>
                <a:close/>
                <a:moveTo>
                  <a:pt x="3016373" y="464488"/>
                </a:moveTo>
                <a:cubicBezTo>
                  <a:pt x="3020263" y="468449"/>
                  <a:pt x="3017602" y="471459"/>
                  <a:pt x="3014939" y="475421"/>
                </a:cubicBezTo>
                <a:cubicBezTo>
                  <a:pt x="3005929" y="471459"/>
                  <a:pt x="3014939" y="468449"/>
                  <a:pt x="3016373" y="464488"/>
                </a:cubicBezTo>
                <a:close/>
                <a:moveTo>
                  <a:pt x="2765423" y="461714"/>
                </a:moveTo>
                <a:cubicBezTo>
                  <a:pt x="2775824" y="464692"/>
                  <a:pt x="2758767" y="469551"/>
                  <a:pt x="2770623" y="470649"/>
                </a:cubicBezTo>
                <a:cubicBezTo>
                  <a:pt x="2766671" y="479582"/>
                  <a:pt x="2766671" y="479582"/>
                  <a:pt x="2766671" y="479582"/>
                </a:cubicBezTo>
                <a:cubicBezTo>
                  <a:pt x="2761471" y="473626"/>
                  <a:pt x="2760223" y="467670"/>
                  <a:pt x="2765423" y="461714"/>
                </a:cubicBezTo>
                <a:close/>
                <a:moveTo>
                  <a:pt x="2634978" y="461699"/>
                </a:moveTo>
                <a:cubicBezTo>
                  <a:pt x="2624369" y="462653"/>
                  <a:pt x="2627073" y="468690"/>
                  <a:pt x="2624369" y="474727"/>
                </a:cubicBezTo>
                <a:cubicBezTo>
                  <a:pt x="2619168" y="469643"/>
                  <a:pt x="2617921" y="459634"/>
                  <a:pt x="2634978" y="461699"/>
                </a:cubicBezTo>
                <a:close/>
                <a:moveTo>
                  <a:pt x="2453234" y="461062"/>
                </a:moveTo>
                <a:cubicBezTo>
                  <a:pt x="2455644" y="460828"/>
                  <a:pt x="2458695" y="461252"/>
                  <a:pt x="2462325" y="462715"/>
                </a:cubicBezTo>
                <a:cubicBezTo>
                  <a:pt x="2455802" y="462715"/>
                  <a:pt x="2451803" y="465642"/>
                  <a:pt x="2450541" y="470572"/>
                </a:cubicBezTo>
                <a:cubicBezTo>
                  <a:pt x="2444543" y="468377"/>
                  <a:pt x="2446004" y="461762"/>
                  <a:pt x="2453234" y="461062"/>
                </a:cubicBezTo>
                <a:close/>
                <a:moveTo>
                  <a:pt x="3256348" y="455475"/>
                </a:moveTo>
                <a:cubicBezTo>
                  <a:pt x="3260161" y="458485"/>
                  <a:pt x="3255145" y="462447"/>
                  <a:pt x="3252537" y="466409"/>
                </a:cubicBezTo>
                <a:cubicBezTo>
                  <a:pt x="3244913" y="462447"/>
                  <a:pt x="3252537" y="458485"/>
                  <a:pt x="3256348" y="455475"/>
                </a:cubicBezTo>
                <a:close/>
                <a:moveTo>
                  <a:pt x="3095955" y="455475"/>
                </a:moveTo>
                <a:cubicBezTo>
                  <a:pt x="3102404" y="459442"/>
                  <a:pt x="3103859" y="461505"/>
                  <a:pt x="3097202" y="467536"/>
                </a:cubicBezTo>
                <a:cubicBezTo>
                  <a:pt x="3086802" y="468488"/>
                  <a:pt x="3095955" y="460553"/>
                  <a:pt x="3095955" y="455475"/>
                </a:cubicBezTo>
                <a:close/>
                <a:moveTo>
                  <a:pt x="2721013" y="454639"/>
                </a:moveTo>
                <a:cubicBezTo>
                  <a:pt x="2722642" y="453861"/>
                  <a:pt x="2724895" y="453639"/>
                  <a:pt x="2728230" y="454644"/>
                </a:cubicBezTo>
                <a:cubicBezTo>
                  <a:pt x="2729481" y="466246"/>
                  <a:pt x="2712391" y="462379"/>
                  <a:pt x="2714891" y="469185"/>
                </a:cubicBezTo>
                <a:cubicBezTo>
                  <a:pt x="2706972" y="468257"/>
                  <a:pt x="2706972" y="468257"/>
                  <a:pt x="2706972" y="468257"/>
                </a:cubicBezTo>
                <a:cubicBezTo>
                  <a:pt x="2710932" y="458511"/>
                  <a:pt x="2710932" y="458511"/>
                  <a:pt x="2710932" y="458511"/>
                </a:cubicBezTo>
                <a:cubicBezTo>
                  <a:pt x="2716871" y="464312"/>
                  <a:pt x="2716129" y="456974"/>
                  <a:pt x="2721013" y="454639"/>
                </a:cubicBezTo>
                <a:close/>
                <a:moveTo>
                  <a:pt x="3267872" y="453634"/>
                </a:moveTo>
                <a:cubicBezTo>
                  <a:pt x="3265316" y="456586"/>
                  <a:pt x="3274687" y="459539"/>
                  <a:pt x="3265316" y="461559"/>
                </a:cubicBezTo>
                <a:cubicBezTo>
                  <a:pt x="3261270" y="459539"/>
                  <a:pt x="3262547" y="452701"/>
                  <a:pt x="3267872" y="453634"/>
                </a:cubicBezTo>
                <a:close/>
                <a:moveTo>
                  <a:pt x="2859545" y="453395"/>
                </a:moveTo>
                <a:cubicBezTo>
                  <a:pt x="2864870" y="456347"/>
                  <a:pt x="2864870" y="459300"/>
                  <a:pt x="2858055" y="462252"/>
                </a:cubicBezTo>
                <a:cubicBezTo>
                  <a:pt x="2854222" y="461319"/>
                  <a:pt x="2858055" y="459300"/>
                  <a:pt x="2851453" y="457435"/>
                </a:cubicBezTo>
                <a:cubicBezTo>
                  <a:pt x="2854222" y="456347"/>
                  <a:pt x="2856777" y="454483"/>
                  <a:pt x="2859545" y="453395"/>
                </a:cubicBezTo>
                <a:close/>
                <a:moveTo>
                  <a:pt x="2629632" y="450622"/>
                </a:moveTo>
                <a:cubicBezTo>
                  <a:pt x="2630844" y="452701"/>
                  <a:pt x="2635892" y="460861"/>
                  <a:pt x="2627008" y="458781"/>
                </a:cubicBezTo>
                <a:cubicBezTo>
                  <a:pt x="2630844" y="455741"/>
                  <a:pt x="2628219" y="454782"/>
                  <a:pt x="2629632" y="450622"/>
                </a:cubicBezTo>
                <a:close/>
                <a:moveTo>
                  <a:pt x="2579049" y="447849"/>
                </a:moveTo>
                <a:cubicBezTo>
                  <a:pt x="2582886" y="448834"/>
                  <a:pt x="2579049" y="451953"/>
                  <a:pt x="2584098" y="452939"/>
                </a:cubicBezTo>
                <a:cubicBezTo>
                  <a:pt x="2582886" y="453924"/>
                  <a:pt x="2577837" y="451953"/>
                  <a:pt x="2575213" y="450804"/>
                </a:cubicBezTo>
                <a:cubicBezTo>
                  <a:pt x="2577837" y="450804"/>
                  <a:pt x="2579049" y="449819"/>
                  <a:pt x="2579049" y="447849"/>
                </a:cubicBezTo>
                <a:close/>
                <a:moveTo>
                  <a:pt x="2957698" y="445769"/>
                </a:moveTo>
                <a:cubicBezTo>
                  <a:pt x="2969377" y="450616"/>
                  <a:pt x="2958928" y="458592"/>
                  <a:pt x="2956468" y="466410"/>
                </a:cubicBezTo>
                <a:cubicBezTo>
                  <a:pt x="2948682" y="460625"/>
                  <a:pt x="2958928" y="453588"/>
                  <a:pt x="2957698" y="445769"/>
                </a:cubicBezTo>
                <a:close/>
                <a:moveTo>
                  <a:pt x="2561346" y="442214"/>
                </a:moveTo>
                <a:cubicBezTo>
                  <a:pt x="2558667" y="442214"/>
                  <a:pt x="2554751" y="446144"/>
                  <a:pt x="2558667" y="447087"/>
                </a:cubicBezTo>
                <a:cubicBezTo>
                  <a:pt x="2559903" y="447087"/>
                  <a:pt x="2561346" y="447087"/>
                  <a:pt x="2563819" y="448187"/>
                </a:cubicBezTo>
                <a:cubicBezTo>
                  <a:pt x="2562582" y="449130"/>
                  <a:pt x="2562582" y="450073"/>
                  <a:pt x="2563819" y="450073"/>
                </a:cubicBezTo>
                <a:cubicBezTo>
                  <a:pt x="2563819" y="447087"/>
                  <a:pt x="2569177" y="448187"/>
                  <a:pt x="2569177" y="446144"/>
                </a:cubicBezTo>
                <a:cubicBezTo>
                  <a:pt x="2562582" y="445201"/>
                  <a:pt x="2565262" y="443157"/>
                  <a:pt x="2561346" y="442214"/>
                </a:cubicBezTo>
                <a:close/>
                <a:moveTo>
                  <a:pt x="2587757" y="440916"/>
                </a:moveTo>
                <a:cubicBezTo>
                  <a:pt x="2591369" y="443956"/>
                  <a:pt x="2578729" y="442996"/>
                  <a:pt x="2581338" y="446995"/>
                </a:cubicBezTo>
                <a:cubicBezTo>
                  <a:pt x="2576121" y="443956"/>
                  <a:pt x="2583745" y="440916"/>
                  <a:pt x="2587757" y="440916"/>
                </a:cubicBezTo>
                <a:close/>
                <a:moveTo>
                  <a:pt x="3021680" y="433983"/>
                </a:moveTo>
                <a:cubicBezTo>
                  <a:pt x="3029353" y="433983"/>
                  <a:pt x="3026728" y="439888"/>
                  <a:pt x="3025516" y="442840"/>
                </a:cubicBezTo>
                <a:cubicBezTo>
                  <a:pt x="3021680" y="439888"/>
                  <a:pt x="3020468" y="436936"/>
                  <a:pt x="3021680" y="433983"/>
                </a:cubicBezTo>
                <a:close/>
                <a:moveTo>
                  <a:pt x="2633823" y="433983"/>
                </a:moveTo>
                <a:cubicBezTo>
                  <a:pt x="2640425" y="441841"/>
                  <a:pt x="2636379" y="440762"/>
                  <a:pt x="2635101" y="450468"/>
                </a:cubicBezTo>
                <a:cubicBezTo>
                  <a:pt x="2627008" y="446617"/>
                  <a:pt x="2632332" y="439838"/>
                  <a:pt x="2633823" y="433983"/>
                </a:cubicBezTo>
                <a:close/>
                <a:moveTo>
                  <a:pt x="2691652" y="431996"/>
                </a:moveTo>
                <a:cubicBezTo>
                  <a:pt x="2689499" y="432486"/>
                  <a:pt x="2687528" y="433700"/>
                  <a:pt x="2685557" y="434640"/>
                </a:cubicBezTo>
                <a:cubicBezTo>
                  <a:pt x="2688254" y="438714"/>
                  <a:pt x="2697384" y="438714"/>
                  <a:pt x="2698836" y="433700"/>
                </a:cubicBezTo>
                <a:cubicBezTo>
                  <a:pt x="2696139" y="431741"/>
                  <a:pt x="2693805" y="431506"/>
                  <a:pt x="2691652" y="431996"/>
                </a:cubicBezTo>
                <a:close/>
                <a:moveTo>
                  <a:pt x="3091030" y="431210"/>
                </a:moveTo>
                <a:cubicBezTo>
                  <a:pt x="3093400" y="435129"/>
                  <a:pt x="3094783" y="446100"/>
                  <a:pt x="3089647" y="449079"/>
                </a:cubicBezTo>
                <a:cubicBezTo>
                  <a:pt x="3087277" y="444063"/>
                  <a:pt x="3085893" y="434189"/>
                  <a:pt x="3091030" y="431210"/>
                </a:cubicBezTo>
                <a:close/>
                <a:moveTo>
                  <a:pt x="3067348" y="431210"/>
                </a:moveTo>
                <a:cubicBezTo>
                  <a:pt x="3082962" y="435175"/>
                  <a:pt x="3064677" y="445325"/>
                  <a:pt x="3072484" y="454206"/>
                </a:cubicBezTo>
                <a:cubicBezTo>
                  <a:pt x="3068581" y="455316"/>
                  <a:pt x="3064677" y="455316"/>
                  <a:pt x="3059542" y="454206"/>
                </a:cubicBezTo>
                <a:cubicBezTo>
                  <a:pt x="3064677" y="444215"/>
                  <a:pt x="3064677" y="442312"/>
                  <a:pt x="3067348" y="431210"/>
                </a:cubicBezTo>
                <a:close/>
                <a:moveTo>
                  <a:pt x="2737663" y="426159"/>
                </a:moveTo>
                <a:cubicBezTo>
                  <a:pt x="2732572" y="434152"/>
                  <a:pt x="2735219" y="437131"/>
                  <a:pt x="2728702" y="442146"/>
                </a:cubicBezTo>
                <a:cubicBezTo>
                  <a:pt x="2726055" y="440108"/>
                  <a:pt x="2727480" y="424278"/>
                  <a:pt x="2737663" y="426159"/>
                </a:cubicBezTo>
                <a:close/>
                <a:moveTo>
                  <a:pt x="3360651" y="424971"/>
                </a:moveTo>
                <a:cubicBezTo>
                  <a:pt x="3369770" y="429974"/>
                  <a:pt x="3368526" y="434819"/>
                  <a:pt x="3371013" y="440760"/>
                </a:cubicBezTo>
                <a:cubicBezTo>
                  <a:pt x="3363138" y="433882"/>
                  <a:pt x="3359408" y="428879"/>
                  <a:pt x="3360651" y="424971"/>
                </a:cubicBezTo>
                <a:close/>
                <a:moveTo>
                  <a:pt x="2635535" y="424971"/>
                </a:moveTo>
                <a:cubicBezTo>
                  <a:pt x="2639520" y="424971"/>
                  <a:pt x="2642246" y="431749"/>
                  <a:pt x="2634277" y="429901"/>
                </a:cubicBezTo>
                <a:cubicBezTo>
                  <a:pt x="2638262" y="427898"/>
                  <a:pt x="2635535" y="427898"/>
                  <a:pt x="2635535" y="424971"/>
                </a:cubicBezTo>
                <a:close/>
                <a:moveTo>
                  <a:pt x="2507840" y="424971"/>
                </a:moveTo>
                <a:cubicBezTo>
                  <a:pt x="2523213" y="424971"/>
                  <a:pt x="2506405" y="432120"/>
                  <a:pt x="2509069" y="435208"/>
                </a:cubicBezTo>
                <a:cubicBezTo>
                  <a:pt x="2496156" y="432120"/>
                  <a:pt x="2514194" y="427083"/>
                  <a:pt x="2507840" y="424971"/>
                </a:cubicBezTo>
                <a:close/>
                <a:moveTo>
                  <a:pt x="2467716" y="416547"/>
                </a:moveTo>
                <a:cubicBezTo>
                  <a:pt x="2469870" y="417726"/>
                  <a:pt x="2469118" y="423145"/>
                  <a:pt x="2471976" y="420215"/>
                </a:cubicBezTo>
                <a:cubicBezTo>
                  <a:pt x="2479600" y="421153"/>
                  <a:pt x="2470773" y="424122"/>
                  <a:pt x="2470773" y="424122"/>
                </a:cubicBezTo>
                <a:cubicBezTo>
                  <a:pt x="2464354" y="423028"/>
                  <a:pt x="2470773" y="419122"/>
                  <a:pt x="2464354" y="417248"/>
                </a:cubicBezTo>
                <a:cubicBezTo>
                  <a:pt x="2465958" y="416232"/>
                  <a:pt x="2466999" y="416154"/>
                  <a:pt x="2467716" y="416547"/>
                </a:cubicBezTo>
                <a:close/>
                <a:moveTo>
                  <a:pt x="2998508" y="415113"/>
                </a:moveTo>
                <a:cubicBezTo>
                  <a:pt x="2987998" y="418100"/>
                  <a:pt x="3003660" y="421088"/>
                  <a:pt x="2993357" y="424075"/>
                </a:cubicBezTo>
                <a:cubicBezTo>
                  <a:pt x="2995829" y="425962"/>
                  <a:pt x="2999745" y="425019"/>
                  <a:pt x="2997271" y="427062"/>
                </a:cubicBezTo>
                <a:cubicBezTo>
                  <a:pt x="3003660" y="427062"/>
                  <a:pt x="3006338" y="418100"/>
                  <a:pt x="2998508" y="415113"/>
                </a:cubicBezTo>
                <a:close/>
                <a:moveTo>
                  <a:pt x="2475543" y="413186"/>
                </a:moveTo>
                <a:cubicBezTo>
                  <a:pt x="2483228" y="414305"/>
                  <a:pt x="2480735" y="418305"/>
                  <a:pt x="2476789" y="419265"/>
                </a:cubicBezTo>
                <a:cubicBezTo>
                  <a:pt x="2468896" y="418305"/>
                  <a:pt x="2471596" y="414305"/>
                  <a:pt x="2475543" y="413186"/>
                </a:cubicBezTo>
                <a:close/>
                <a:moveTo>
                  <a:pt x="3125949" y="412077"/>
                </a:moveTo>
                <a:cubicBezTo>
                  <a:pt x="3131808" y="413008"/>
                  <a:pt x="3137780" y="418876"/>
                  <a:pt x="3135943" y="424119"/>
                </a:cubicBezTo>
                <a:cubicBezTo>
                  <a:pt x="3126958" y="423006"/>
                  <a:pt x="3126958" y="423006"/>
                  <a:pt x="3126958" y="423006"/>
                </a:cubicBezTo>
                <a:cubicBezTo>
                  <a:pt x="3130837" y="416016"/>
                  <a:pt x="3124303" y="416016"/>
                  <a:pt x="3120424" y="412998"/>
                </a:cubicBezTo>
                <a:cubicBezTo>
                  <a:pt x="3122057" y="412005"/>
                  <a:pt x="3123997" y="411766"/>
                  <a:pt x="3125949" y="412077"/>
                </a:cubicBezTo>
                <a:close/>
                <a:moveTo>
                  <a:pt x="2596521" y="411799"/>
                </a:moveTo>
                <a:cubicBezTo>
                  <a:pt x="2605900" y="413859"/>
                  <a:pt x="2597980" y="420832"/>
                  <a:pt x="2595270" y="422733"/>
                </a:cubicBezTo>
                <a:cubicBezTo>
                  <a:pt x="2583391" y="419880"/>
                  <a:pt x="2597980" y="417820"/>
                  <a:pt x="2596521" y="411799"/>
                </a:cubicBezTo>
                <a:close/>
                <a:moveTo>
                  <a:pt x="2983836" y="410807"/>
                </a:moveTo>
                <a:cubicBezTo>
                  <a:pt x="2977188" y="412671"/>
                  <a:pt x="2990274" y="415624"/>
                  <a:pt x="2983836" y="418576"/>
                </a:cubicBezTo>
                <a:cubicBezTo>
                  <a:pt x="2975942" y="416712"/>
                  <a:pt x="2978435" y="409719"/>
                  <a:pt x="2983836" y="410807"/>
                </a:cubicBezTo>
                <a:close/>
                <a:moveTo>
                  <a:pt x="3360728" y="409026"/>
                </a:moveTo>
                <a:cubicBezTo>
                  <a:pt x="3367330" y="411934"/>
                  <a:pt x="3364774" y="415760"/>
                  <a:pt x="3370099" y="415760"/>
                </a:cubicBezTo>
                <a:cubicBezTo>
                  <a:pt x="3366053" y="417750"/>
                  <a:pt x="3367330" y="420658"/>
                  <a:pt x="3364774" y="419739"/>
                </a:cubicBezTo>
                <a:cubicBezTo>
                  <a:pt x="3363284" y="416832"/>
                  <a:pt x="3356682" y="416832"/>
                  <a:pt x="3360728" y="409026"/>
                </a:cubicBezTo>
                <a:close/>
                <a:moveTo>
                  <a:pt x="3110220" y="408332"/>
                </a:moveTo>
                <a:cubicBezTo>
                  <a:pt x="3110220" y="426209"/>
                  <a:pt x="3106268" y="440288"/>
                  <a:pt x="3099819" y="455316"/>
                </a:cubicBezTo>
                <a:cubicBezTo>
                  <a:pt x="3093163" y="439338"/>
                  <a:pt x="3106268" y="422253"/>
                  <a:pt x="3110220" y="408332"/>
                </a:cubicBezTo>
                <a:close/>
                <a:moveTo>
                  <a:pt x="2660421" y="408251"/>
                </a:moveTo>
                <a:cubicBezTo>
                  <a:pt x="2663666" y="408251"/>
                  <a:pt x="2667561" y="408760"/>
                  <a:pt x="2670157" y="408290"/>
                </a:cubicBezTo>
                <a:cubicBezTo>
                  <a:pt x="2666418" y="418162"/>
                  <a:pt x="2679503" y="430071"/>
                  <a:pt x="2659772" y="437906"/>
                </a:cubicBezTo>
                <a:cubicBezTo>
                  <a:pt x="2661018" y="440883"/>
                  <a:pt x="2663718" y="437906"/>
                  <a:pt x="2668910" y="439003"/>
                </a:cubicBezTo>
                <a:cubicBezTo>
                  <a:pt x="2670157" y="442920"/>
                  <a:pt x="2654579" y="442920"/>
                  <a:pt x="2661018" y="444957"/>
                </a:cubicBezTo>
                <a:cubicBezTo>
                  <a:pt x="2658526" y="447934"/>
                  <a:pt x="2657072" y="441980"/>
                  <a:pt x="2649179" y="442920"/>
                </a:cubicBezTo>
                <a:cubicBezTo>
                  <a:pt x="2647933" y="445897"/>
                  <a:pt x="2647933" y="445897"/>
                  <a:pt x="2647933" y="445897"/>
                </a:cubicBezTo>
                <a:cubicBezTo>
                  <a:pt x="2649179" y="447934"/>
                  <a:pt x="2653126" y="445897"/>
                  <a:pt x="2655825" y="449814"/>
                </a:cubicBezTo>
                <a:cubicBezTo>
                  <a:pt x="2642741" y="451852"/>
                  <a:pt x="2636094" y="441980"/>
                  <a:pt x="2646687" y="433048"/>
                </a:cubicBezTo>
                <a:cubicBezTo>
                  <a:pt x="2647933" y="433988"/>
                  <a:pt x="2650633" y="434929"/>
                  <a:pt x="2654579" y="436025"/>
                </a:cubicBezTo>
                <a:cubicBezTo>
                  <a:pt x="2661018" y="434929"/>
                  <a:pt x="2659772" y="428034"/>
                  <a:pt x="2664964" y="425997"/>
                </a:cubicBezTo>
                <a:cubicBezTo>
                  <a:pt x="2662472" y="422079"/>
                  <a:pt x="2659772" y="420199"/>
                  <a:pt x="2650633" y="421139"/>
                </a:cubicBezTo>
                <a:cubicBezTo>
                  <a:pt x="2649179" y="415185"/>
                  <a:pt x="2657072" y="415185"/>
                  <a:pt x="2662472" y="413148"/>
                </a:cubicBezTo>
                <a:cubicBezTo>
                  <a:pt x="2664964" y="408290"/>
                  <a:pt x="2651879" y="415185"/>
                  <a:pt x="2654579" y="411267"/>
                </a:cubicBezTo>
                <a:cubicBezTo>
                  <a:pt x="2654579" y="408760"/>
                  <a:pt x="2657176" y="408251"/>
                  <a:pt x="2660421" y="408251"/>
                </a:cubicBezTo>
                <a:close/>
                <a:moveTo>
                  <a:pt x="2970363" y="406253"/>
                </a:moveTo>
                <a:cubicBezTo>
                  <a:pt x="2977178" y="407190"/>
                  <a:pt x="2971640" y="413127"/>
                  <a:pt x="2978456" y="413127"/>
                </a:cubicBezTo>
                <a:cubicBezTo>
                  <a:pt x="2977178" y="417189"/>
                  <a:pt x="2971640" y="417189"/>
                  <a:pt x="2965039" y="416095"/>
                </a:cubicBezTo>
                <a:cubicBezTo>
                  <a:pt x="2965039" y="411252"/>
                  <a:pt x="2967594" y="409221"/>
                  <a:pt x="2970363" y="406253"/>
                </a:cubicBezTo>
                <a:close/>
                <a:moveTo>
                  <a:pt x="2730039" y="405112"/>
                </a:moveTo>
                <a:cubicBezTo>
                  <a:pt x="2733982" y="404000"/>
                  <a:pt x="2735434" y="412102"/>
                  <a:pt x="2737924" y="407018"/>
                </a:cubicBezTo>
                <a:cubicBezTo>
                  <a:pt x="2741867" y="408130"/>
                  <a:pt x="2739377" y="411149"/>
                  <a:pt x="2743112" y="411149"/>
                </a:cubicBezTo>
                <a:cubicBezTo>
                  <a:pt x="2737924" y="417186"/>
                  <a:pt x="2731492" y="402094"/>
                  <a:pt x="2730039" y="413055"/>
                </a:cubicBezTo>
                <a:cubicBezTo>
                  <a:pt x="2716967" y="412102"/>
                  <a:pt x="2724852" y="407018"/>
                  <a:pt x="2730039" y="405112"/>
                </a:cubicBezTo>
                <a:close/>
                <a:moveTo>
                  <a:pt x="2491495" y="403017"/>
                </a:moveTo>
                <a:cubicBezTo>
                  <a:pt x="2496511" y="402094"/>
                  <a:pt x="2504135" y="405020"/>
                  <a:pt x="2504135" y="408871"/>
                </a:cubicBezTo>
                <a:cubicBezTo>
                  <a:pt x="2495307" y="407947"/>
                  <a:pt x="2488887" y="405945"/>
                  <a:pt x="2491495" y="403017"/>
                </a:cubicBezTo>
                <a:close/>
                <a:moveTo>
                  <a:pt x="2713154" y="400013"/>
                </a:moveTo>
                <a:cubicBezTo>
                  <a:pt x="2715851" y="413958"/>
                  <a:pt x="2709212" y="429783"/>
                  <a:pt x="2701326" y="449525"/>
                </a:cubicBezTo>
                <a:cubicBezTo>
                  <a:pt x="2693442" y="465350"/>
                  <a:pt x="2687009" y="486189"/>
                  <a:pt x="2671239" y="501073"/>
                </a:cubicBezTo>
                <a:cubicBezTo>
                  <a:pt x="2663354" y="497000"/>
                  <a:pt x="2679124" y="483212"/>
                  <a:pt x="2679124" y="471304"/>
                </a:cubicBezTo>
                <a:cubicBezTo>
                  <a:pt x="2680369" y="462373"/>
                  <a:pt x="2677672" y="464410"/>
                  <a:pt x="2683067" y="457516"/>
                </a:cubicBezTo>
                <a:cubicBezTo>
                  <a:pt x="2683067" y="455479"/>
                  <a:pt x="2679124" y="445608"/>
                  <a:pt x="2675182" y="454539"/>
                </a:cubicBezTo>
                <a:cubicBezTo>
                  <a:pt x="2672485" y="444668"/>
                  <a:pt x="2690952" y="433700"/>
                  <a:pt x="2683067" y="424769"/>
                </a:cubicBezTo>
                <a:cubicBezTo>
                  <a:pt x="2690952" y="427746"/>
                  <a:pt x="2690952" y="425709"/>
                  <a:pt x="2697384" y="428686"/>
                </a:cubicBezTo>
                <a:cubicBezTo>
                  <a:pt x="2697384" y="428686"/>
                  <a:pt x="2697384" y="428686"/>
                  <a:pt x="2698836" y="422732"/>
                </a:cubicBezTo>
                <a:cubicBezTo>
                  <a:pt x="2700082" y="420852"/>
                  <a:pt x="2694894" y="420852"/>
                  <a:pt x="2690952" y="419912"/>
                </a:cubicBezTo>
                <a:cubicBezTo>
                  <a:pt x="2709212" y="418815"/>
                  <a:pt x="2705269" y="405027"/>
                  <a:pt x="2713154" y="400013"/>
                </a:cubicBezTo>
                <a:close/>
                <a:moveTo>
                  <a:pt x="2758508" y="398177"/>
                </a:moveTo>
                <a:cubicBezTo>
                  <a:pt x="2773098" y="399271"/>
                  <a:pt x="2757258" y="406145"/>
                  <a:pt x="2756008" y="408176"/>
                </a:cubicBezTo>
                <a:cubicBezTo>
                  <a:pt x="2750589" y="407083"/>
                  <a:pt x="2754549" y="397240"/>
                  <a:pt x="2758508" y="398177"/>
                </a:cubicBezTo>
                <a:close/>
                <a:moveTo>
                  <a:pt x="2520388" y="397934"/>
                </a:moveTo>
                <a:cubicBezTo>
                  <a:pt x="2530485" y="400973"/>
                  <a:pt x="2517763" y="403053"/>
                  <a:pt x="2524225" y="405133"/>
                </a:cubicBezTo>
                <a:cubicBezTo>
                  <a:pt x="2522811" y="406093"/>
                  <a:pt x="2521600" y="405133"/>
                  <a:pt x="2521600" y="405133"/>
                </a:cubicBezTo>
                <a:cubicBezTo>
                  <a:pt x="2516552" y="404013"/>
                  <a:pt x="2515341" y="405133"/>
                  <a:pt x="2508878" y="404013"/>
                </a:cubicBezTo>
                <a:cubicBezTo>
                  <a:pt x="2511503" y="400973"/>
                  <a:pt x="2518975" y="402094"/>
                  <a:pt x="2520388" y="397934"/>
                </a:cubicBezTo>
                <a:close/>
                <a:moveTo>
                  <a:pt x="2981611" y="394203"/>
                </a:moveTo>
                <a:lnTo>
                  <a:pt x="2981193" y="394404"/>
                </a:lnTo>
                <a:lnTo>
                  <a:pt x="2981562" y="394573"/>
                </a:lnTo>
                <a:close/>
                <a:moveTo>
                  <a:pt x="2995829" y="389328"/>
                </a:moveTo>
                <a:lnTo>
                  <a:pt x="3000360" y="393542"/>
                </a:lnTo>
                <a:lnTo>
                  <a:pt x="3001090" y="393032"/>
                </a:lnTo>
                <a:cubicBezTo>
                  <a:pt x="3003586" y="393969"/>
                  <a:pt x="3007539" y="396000"/>
                  <a:pt x="3006291" y="398969"/>
                </a:cubicBezTo>
                <a:lnTo>
                  <a:pt x="3002288" y="399276"/>
                </a:lnTo>
                <a:lnTo>
                  <a:pt x="3002423" y="400177"/>
                </a:lnTo>
                <a:cubicBezTo>
                  <a:pt x="3003660" y="399233"/>
                  <a:pt x="3005102" y="400177"/>
                  <a:pt x="3007575" y="399233"/>
                </a:cubicBezTo>
                <a:cubicBezTo>
                  <a:pt x="3011490" y="396246"/>
                  <a:pt x="3002423" y="391215"/>
                  <a:pt x="3010254" y="391215"/>
                </a:cubicBezTo>
                <a:cubicBezTo>
                  <a:pt x="3014169" y="398133"/>
                  <a:pt x="3006338" y="405208"/>
                  <a:pt x="3011490" y="412126"/>
                </a:cubicBezTo>
                <a:cubicBezTo>
                  <a:pt x="3014169" y="413069"/>
                  <a:pt x="3018084" y="408195"/>
                  <a:pt x="3020763" y="410082"/>
                </a:cubicBezTo>
                <a:cubicBezTo>
                  <a:pt x="3015406" y="413069"/>
                  <a:pt x="3021999" y="415113"/>
                  <a:pt x="3014169" y="418100"/>
                </a:cubicBezTo>
                <a:cubicBezTo>
                  <a:pt x="3011490" y="417157"/>
                  <a:pt x="3010254" y="415113"/>
                  <a:pt x="3007575" y="416056"/>
                </a:cubicBezTo>
                <a:cubicBezTo>
                  <a:pt x="3007575" y="420144"/>
                  <a:pt x="3011490" y="430049"/>
                  <a:pt x="3018084" y="427062"/>
                </a:cubicBezTo>
                <a:cubicBezTo>
                  <a:pt x="3011490" y="430049"/>
                  <a:pt x="3015406" y="431936"/>
                  <a:pt x="3008811" y="434924"/>
                </a:cubicBezTo>
                <a:cubicBezTo>
                  <a:pt x="3002423" y="431936"/>
                  <a:pt x="3015406" y="428005"/>
                  <a:pt x="3007575" y="425019"/>
                </a:cubicBezTo>
                <a:cubicBezTo>
                  <a:pt x="3001187" y="430993"/>
                  <a:pt x="3003660" y="433037"/>
                  <a:pt x="2991914" y="437911"/>
                </a:cubicBezTo>
                <a:cubicBezTo>
                  <a:pt x="2993357" y="439955"/>
                  <a:pt x="2994593" y="440898"/>
                  <a:pt x="2994593" y="441999"/>
                </a:cubicBezTo>
                <a:cubicBezTo>
                  <a:pt x="2999745" y="441999"/>
                  <a:pt x="2997271" y="440898"/>
                  <a:pt x="3001187" y="437911"/>
                </a:cubicBezTo>
                <a:cubicBezTo>
                  <a:pt x="3003660" y="439955"/>
                  <a:pt x="3006338" y="439955"/>
                  <a:pt x="3008811" y="439011"/>
                </a:cubicBezTo>
                <a:cubicBezTo>
                  <a:pt x="3015406" y="441999"/>
                  <a:pt x="3010254" y="445929"/>
                  <a:pt x="3014169" y="448916"/>
                </a:cubicBezTo>
                <a:cubicBezTo>
                  <a:pt x="3023235" y="446872"/>
                  <a:pt x="3015406" y="439011"/>
                  <a:pt x="3023235" y="443885"/>
                </a:cubicBezTo>
                <a:cubicBezTo>
                  <a:pt x="3021999" y="448916"/>
                  <a:pt x="3020763" y="459765"/>
                  <a:pt x="3015406" y="461809"/>
                </a:cubicBezTo>
                <a:cubicBezTo>
                  <a:pt x="3018084" y="459765"/>
                  <a:pt x="3014169" y="456778"/>
                  <a:pt x="3010254" y="454891"/>
                </a:cubicBezTo>
                <a:cubicBezTo>
                  <a:pt x="3001187" y="462752"/>
                  <a:pt x="3010254" y="473758"/>
                  <a:pt x="3002423" y="477688"/>
                </a:cubicBezTo>
                <a:cubicBezTo>
                  <a:pt x="3005102" y="479732"/>
                  <a:pt x="3007575" y="478632"/>
                  <a:pt x="3010254" y="476745"/>
                </a:cubicBezTo>
                <a:cubicBezTo>
                  <a:pt x="3016848" y="479732"/>
                  <a:pt x="3015406" y="482720"/>
                  <a:pt x="3015406" y="486650"/>
                </a:cubicBezTo>
                <a:cubicBezTo>
                  <a:pt x="3001187" y="493568"/>
                  <a:pt x="3006338" y="504574"/>
                  <a:pt x="3008811" y="516366"/>
                </a:cubicBezTo>
                <a:cubicBezTo>
                  <a:pt x="3006338" y="514479"/>
                  <a:pt x="3008811" y="508504"/>
                  <a:pt x="3002423" y="510391"/>
                </a:cubicBezTo>
                <a:cubicBezTo>
                  <a:pt x="2994593" y="514479"/>
                  <a:pt x="3006338" y="519510"/>
                  <a:pt x="3003660" y="523441"/>
                </a:cubicBezTo>
                <a:cubicBezTo>
                  <a:pt x="2999745" y="523441"/>
                  <a:pt x="2997271" y="519510"/>
                  <a:pt x="2993357" y="523441"/>
                </a:cubicBezTo>
                <a:cubicBezTo>
                  <a:pt x="2993357" y="523441"/>
                  <a:pt x="2993357" y="523441"/>
                  <a:pt x="2999745" y="527372"/>
                </a:cubicBezTo>
                <a:cubicBezTo>
                  <a:pt x="2987998" y="533346"/>
                  <a:pt x="3007575" y="540264"/>
                  <a:pt x="3005102" y="547182"/>
                </a:cubicBezTo>
                <a:cubicBezTo>
                  <a:pt x="2999229" y="549697"/>
                  <a:pt x="2997271" y="553942"/>
                  <a:pt x="2998070" y="557558"/>
                </a:cubicBezTo>
                <a:lnTo>
                  <a:pt x="2999444" y="559608"/>
                </a:lnTo>
                <a:lnTo>
                  <a:pt x="3005912" y="559932"/>
                </a:lnTo>
                <a:lnTo>
                  <a:pt x="3005798" y="559642"/>
                </a:lnTo>
                <a:cubicBezTo>
                  <a:pt x="3004999" y="558148"/>
                  <a:pt x="3004999" y="557165"/>
                  <a:pt x="3008811" y="558187"/>
                </a:cubicBezTo>
                <a:cubicBezTo>
                  <a:pt x="3005102" y="562118"/>
                  <a:pt x="3015406" y="556143"/>
                  <a:pt x="3016848" y="559130"/>
                </a:cubicBezTo>
                <a:lnTo>
                  <a:pt x="3012965" y="562405"/>
                </a:lnTo>
                <a:lnTo>
                  <a:pt x="3013899" y="563584"/>
                </a:lnTo>
                <a:lnTo>
                  <a:pt x="3011523" y="563621"/>
                </a:lnTo>
                <a:lnTo>
                  <a:pt x="3005102" y="569035"/>
                </a:lnTo>
                <a:cubicBezTo>
                  <a:pt x="3001187" y="566599"/>
                  <a:pt x="2999538" y="565616"/>
                  <a:pt x="2998534" y="564496"/>
                </a:cubicBezTo>
                <a:lnTo>
                  <a:pt x="2997790" y="563020"/>
                </a:lnTo>
                <a:lnTo>
                  <a:pt x="2996094" y="562620"/>
                </a:lnTo>
                <a:lnTo>
                  <a:pt x="2995028" y="560854"/>
                </a:lnTo>
                <a:lnTo>
                  <a:pt x="2989338" y="573084"/>
                </a:lnTo>
                <a:cubicBezTo>
                  <a:pt x="2989029" y="577565"/>
                  <a:pt x="2990678" y="581535"/>
                  <a:pt x="2994593" y="583972"/>
                </a:cubicBezTo>
                <a:cubicBezTo>
                  <a:pt x="2990678" y="581928"/>
                  <a:pt x="2985526" y="589003"/>
                  <a:pt x="2984290" y="589946"/>
                </a:cubicBezTo>
                <a:cubicBezTo>
                  <a:pt x="2995829" y="591991"/>
                  <a:pt x="2980375" y="598908"/>
                  <a:pt x="2982847" y="602839"/>
                </a:cubicBezTo>
                <a:cubicBezTo>
                  <a:pt x="2985526" y="603940"/>
                  <a:pt x="2994593" y="608813"/>
                  <a:pt x="2991914" y="610857"/>
                </a:cubicBezTo>
                <a:cubicBezTo>
                  <a:pt x="2986762" y="609757"/>
                  <a:pt x="2982847" y="608813"/>
                  <a:pt x="2977695" y="610857"/>
                </a:cubicBezTo>
                <a:cubicBezTo>
                  <a:pt x="2985526" y="617775"/>
                  <a:pt x="2967186" y="617775"/>
                  <a:pt x="2976459" y="624693"/>
                </a:cubicBezTo>
                <a:cubicBezTo>
                  <a:pt x="2977695" y="620762"/>
                  <a:pt x="2980375" y="623750"/>
                  <a:pt x="2984290" y="624693"/>
                </a:cubicBezTo>
                <a:cubicBezTo>
                  <a:pt x="2981611" y="629724"/>
                  <a:pt x="2981611" y="639629"/>
                  <a:pt x="2973780" y="632712"/>
                </a:cubicBezTo>
                <a:cubicBezTo>
                  <a:pt x="2977695" y="639629"/>
                  <a:pt x="2980375" y="650635"/>
                  <a:pt x="2971102" y="658496"/>
                </a:cubicBezTo>
                <a:cubicBezTo>
                  <a:pt x="2971102" y="658496"/>
                  <a:pt x="2971102" y="658496"/>
                  <a:pt x="2976459" y="662427"/>
                </a:cubicBezTo>
                <a:cubicBezTo>
                  <a:pt x="2969864" y="667458"/>
                  <a:pt x="2969864" y="658496"/>
                  <a:pt x="2965949" y="660540"/>
                </a:cubicBezTo>
                <a:cubicBezTo>
                  <a:pt x="2964713" y="668402"/>
                  <a:pt x="2971102" y="673433"/>
                  <a:pt x="2965949" y="682394"/>
                </a:cubicBezTo>
                <a:cubicBezTo>
                  <a:pt x="2972544" y="680350"/>
                  <a:pt x="2965949" y="677363"/>
                  <a:pt x="2972544" y="675477"/>
                </a:cubicBezTo>
                <a:cubicBezTo>
                  <a:pt x="2968628" y="680350"/>
                  <a:pt x="2973780" y="691356"/>
                  <a:pt x="2964713" y="692300"/>
                </a:cubicBezTo>
                <a:cubicBezTo>
                  <a:pt x="2967186" y="691356"/>
                  <a:pt x="2967186" y="684281"/>
                  <a:pt x="2964713" y="686325"/>
                </a:cubicBezTo>
                <a:cubicBezTo>
                  <a:pt x="2962035" y="690255"/>
                  <a:pt x="2956883" y="694344"/>
                  <a:pt x="2962035" y="700160"/>
                </a:cubicBezTo>
                <a:cubicBezTo>
                  <a:pt x="2964713" y="697173"/>
                  <a:pt x="2964713" y="693243"/>
                  <a:pt x="2969864" y="697173"/>
                </a:cubicBezTo>
                <a:cubicBezTo>
                  <a:pt x="2965949" y="700160"/>
                  <a:pt x="2968628" y="705192"/>
                  <a:pt x="2960798" y="702205"/>
                </a:cubicBezTo>
                <a:cubicBezTo>
                  <a:pt x="2971102" y="705192"/>
                  <a:pt x="2963271" y="707236"/>
                  <a:pt x="2964713" y="712110"/>
                </a:cubicBezTo>
                <a:cubicBezTo>
                  <a:pt x="2967289" y="711166"/>
                  <a:pt x="2968885" y="709948"/>
                  <a:pt x="2970663" y="708710"/>
                </a:cubicBezTo>
                <a:lnTo>
                  <a:pt x="2974380" y="706851"/>
                </a:lnTo>
                <a:lnTo>
                  <a:pt x="2975416" y="704360"/>
                </a:lnTo>
                <a:lnTo>
                  <a:pt x="2976703" y="703129"/>
                </a:lnTo>
                <a:lnTo>
                  <a:pt x="2976202" y="702086"/>
                </a:lnTo>
                <a:cubicBezTo>
                  <a:pt x="2976356" y="700986"/>
                  <a:pt x="2976356" y="699768"/>
                  <a:pt x="2973780" y="698274"/>
                </a:cubicBezTo>
                <a:cubicBezTo>
                  <a:pt x="2997271" y="694344"/>
                  <a:pt x="2976459" y="675477"/>
                  <a:pt x="2997271" y="667458"/>
                </a:cubicBezTo>
                <a:cubicBezTo>
                  <a:pt x="2991914" y="660540"/>
                  <a:pt x="3007575" y="655509"/>
                  <a:pt x="2999745" y="648592"/>
                </a:cubicBezTo>
                <a:cubicBezTo>
                  <a:pt x="3006338" y="638686"/>
                  <a:pt x="3012726" y="627680"/>
                  <a:pt x="3012726" y="616832"/>
                </a:cubicBezTo>
                <a:cubicBezTo>
                  <a:pt x="3016848" y="617775"/>
                  <a:pt x="3020763" y="614788"/>
                  <a:pt x="3024472" y="616832"/>
                </a:cubicBezTo>
                <a:cubicBezTo>
                  <a:pt x="3024472" y="613844"/>
                  <a:pt x="3029830" y="611801"/>
                  <a:pt x="3025915" y="608813"/>
                </a:cubicBezTo>
                <a:cubicBezTo>
                  <a:pt x="3032302" y="604883"/>
                  <a:pt x="3037660" y="605826"/>
                  <a:pt x="3042811" y="604883"/>
                </a:cubicBezTo>
                <a:cubicBezTo>
                  <a:pt x="3038897" y="601896"/>
                  <a:pt x="3036218" y="598908"/>
                  <a:pt x="3032302" y="597965"/>
                </a:cubicBezTo>
                <a:cubicBezTo>
                  <a:pt x="3033745" y="591991"/>
                  <a:pt x="3041575" y="589946"/>
                  <a:pt x="3044048" y="589003"/>
                </a:cubicBezTo>
                <a:cubicBezTo>
                  <a:pt x="3038897" y="586016"/>
                  <a:pt x="3036218" y="586016"/>
                  <a:pt x="3038897" y="581928"/>
                </a:cubicBezTo>
                <a:cubicBezTo>
                  <a:pt x="3046727" y="583028"/>
                  <a:pt x="3044048" y="589946"/>
                  <a:pt x="3051879" y="587902"/>
                </a:cubicBezTo>
                <a:cubicBezTo>
                  <a:pt x="3050642" y="583972"/>
                  <a:pt x="3046727" y="577054"/>
                  <a:pt x="3057030" y="577998"/>
                </a:cubicBezTo>
                <a:cubicBezTo>
                  <a:pt x="3054558" y="575010"/>
                  <a:pt x="3055794" y="573124"/>
                  <a:pt x="3054558" y="570136"/>
                </a:cubicBezTo>
                <a:cubicBezTo>
                  <a:pt x="3049200" y="571080"/>
                  <a:pt x="3045285" y="571080"/>
                  <a:pt x="3041575" y="566049"/>
                </a:cubicBezTo>
                <a:cubicBezTo>
                  <a:pt x="3046727" y="563218"/>
                  <a:pt x="3044048" y="569035"/>
                  <a:pt x="3051879" y="566049"/>
                </a:cubicBezTo>
                <a:cubicBezTo>
                  <a:pt x="3046727" y="559130"/>
                  <a:pt x="3057030" y="556143"/>
                  <a:pt x="3057030" y="548282"/>
                </a:cubicBezTo>
                <a:cubicBezTo>
                  <a:pt x="3063624" y="553156"/>
                  <a:pt x="3062388" y="555200"/>
                  <a:pt x="3070219" y="554257"/>
                </a:cubicBezTo>
                <a:cubicBezTo>
                  <a:pt x="3066303" y="556143"/>
                  <a:pt x="3074133" y="558187"/>
                  <a:pt x="3075370" y="560231"/>
                </a:cubicBezTo>
                <a:cubicBezTo>
                  <a:pt x="3071455" y="564161"/>
                  <a:pt x="3072691" y="568092"/>
                  <a:pt x="3071455" y="572023"/>
                </a:cubicBezTo>
                <a:cubicBezTo>
                  <a:pt x="3066303" y="570136"/>
                  <a:pt x="3071455" y="564161"/>
                  <a:pt x="3064861" y="566049"/>
                </a:cubicBezTo>
                <a:cubicBezTo>
                  <a:pt x="3071455" y="571080"/>
                  <a:pt x="3054558" y="576111"/>
                  <a:pt x="3067539" y="577998"/>
                </a:cubicBezTo>
                <a:cubicBezTo>
                  <a:pt x="3057030" y="584915"/>
                  <a:pt x="3054558" y="589946"/>
                  <a:pt x="3049200" y="597965"/>
                </a:cubicBezTo>
                <a:lnTo>
                  <a:pt x="3051248" y="599186"/>
                </a:lnTo>
                <a:lnTo>
                  <a:pt x="3054787" y="594686"/>
                </a:lnTo>
                <a:cubicBezTo>
                  <a:pt x="3057716" y="593704"/>
                  <a:pt x="3061981" y="593203"/>
                  <a:pt x="3066606" y="592742"/>
                </a:cubicBezTo>
                <a:lnTo>
                  <a:pt x="3051461" y="599313"/>
                </a:lnTo>
                <a:lnTo>
                  <a:pt x="3055794" y="601896"/>
                </a:lnTo>
                <a:cubicBezTo>
                  <a:pt x="3054558" y="602839"/>
                  <a:pt x="3051879" y="604883"/>
                  <a:pt x="3055794" y="605826"/>
                </a:cubicBezTo>
                <a:cubicBezTo>
                  <a:pt x="3050642" y="611801"/>
                  <a:pt x="3049200" y="602839"/>
                  <a:pt x="3045285" y="605826"/>
                </a:cubicBezTo>
                <a:cubicBezTo>
                  <a:pt x="3041575" y="609757"/>
                  <a:pt x="3045285" y="613844"/>
                  <a:pt x="3051879" y="613844"/>
                </a:cubicBezTo>
                <a:cubicBezTo>
                  <a:pt x="3047963" y="616832"/>
                  <a:pt x="3045285" y="613844"/>
                  <a:pt x="3041575" y="616832"/>
                </a:cubicBezTo>
                <a:cubicBezTo>
                  <a:pt x="3038897" y="623750"/>
                  <a:pt x="3047963" y="626737"/>
                  <a:pt x="3033745" y="632712"/>
                </a:cubicBezTo>
                <a:cubicBezTo>
                  <a:pt x="3036218" y="635699"/>
                  <a:pt x="3040133" y="632712"/>
                  <a:pt x="3041575" y="635699"/>
                </a:cubicBezTo>
                <a:cubicBezTo>
                  <a:pt x="3037660" y="641673"/>
                  <a:pt x="3036218" y="642617"/>
                  <a:pt x="3044048" y="640573"/>
                </a:cubicBezTo>
                <a:cubicBezTo>
                  <a:pt x="3044048" y="643560"/>
                  <a:pt x="3037660" y="646547"/>
                  <a:pt x="3036218" y="649534"/>
                </a:cubicBezTo>
                <a:cubicBezTo>
                  <a:pt x="3042811" y="661484"/>
                  <a:pt x="3024472" y="670445"/>
                  <a:pt x="3021999" y="678464"/>
                </a:cubicBezTo>
                <a:cubicBezTo>
                  <a:pt x="3025915" y="683338"/>
                  <a:pt x="3029830" y="690255"/>
                  <a:pt x="3037660" y="687269"/>
                </a:cubicBezTo>
                <a:cubicBezTo>
                  <a:pt x="3034982" y="684281"/>
                  <a:pt x="3031066" y="685381"/>
                  <a:pt x="3032302" y="681294"/>
                </a:cubicBezTo>
                <a:cubicBezTo>
                  <a:pt x="3036218" y="677363"/>
                  <a:pt x="3037660" y="684281"/>
                  <a:pt x="3041575" y="680350"/>
                </a:cubicBezTo>
                <a:cubicBezTo>
                  <a:pt x="3049200" y="664471"/>
                  <a:pt x="3054558" y="648592"/>
                  <a:pt x="3067539" y="632712"/>
                </a:cubicBezTo>
                <a:cubicBezTo>
                  <a:pt x="3074133" y="636642"/>
                  <a:pt x="3066303" y="639629"/>
                  <a:pt x="3068776" y="642617"/>
                </a:cubicBezTo>
                <a:cubicBezTo>
                  <a:pt x="3075370" y="644661"/>
                  <a:pt x="3075370" y="638686"/>
                  <a:pt x="3080522" y="642617"/>
                </a:cubicBezTo>
                <a:cubicBezTo>
                  <a:pt x="3078048" y="644661"/>
                  <a:pt x="3075370" y="644661"/>
                  <a:pt x="3072691" y="644661"/>
                </a:cubicBezTo>
                <a:cubicBezTo>
                  <a:pt x="3076606" y="651578"/>
                  <a:pt x="3080522" y="652522"/>
                  <a:pt x="3079285" y="658496"/>
                </a:cubicBezTo>
                <a:cubicBezTo>
                  <a:pt x="3078048" y="651578"/>
                  <a:pt x="3072691" y="656453"/>
                  <a:pt x="3067539" y="652522"/>
                </a:cubicBezTo>
                <a:cubicBezTo>
                  <a:pt x="3070219" y="651578"/>
                  <a:pt x="3075370" y="649534"/>
                  <a:pt x="3074133" y="647648"/>
                </a:cubicBezTo>
                <a:cubicBezTo>
                  <a:pt x="3070219" y="647648"/>
                  <a:pt x="3066303" y="643560"/>
                  <a:pt x="3060946" y="646547"/>
                </a:cubicBezTo>
                <a:cubicBezTo>
                  <a:pt x="3074133" y="647648"/>
                  <a:pt x="3059709" y="651578"/>
                  <a:pt x="3064861" y="657553"/>
                </a:cubicBezTo>
                <a:cubicBezTo>
                  <a:pt x="3070219" y="654566"/>
                  <a:pt x="3072691" y="662427"/>
                  <a:pt x="3074133" y="664471"/>
                </a:cubicBezTo>
                <a:cubicBezTo>
                  <a:pt x="3066303" y="673433"/>
                  <a:pt x="3068776" y="699218"/>
                  <a:pt x="3055794" y="704248"/>
                </a:cubicBezTo>
                <a:cubicBezTo>
                  <a:pt x="3058473" y="706135"/>
                  <a:pt x="3063624" y="702205"/>
                  <a:pt x="3066303" y="707236"/>
                </a:cubicBezTo>
                <a:cubicBezTo>
                  <a:pt x="3051879" y="711166"/>
                  <a:pt x="3053115" y="713210"/>
                  <a:pt x="3047963" y="720128"/>
                </a:cubicBezTo>
                <a:cubicBezTo>
                  <a:pt x="3047963" y="714154"/>
                  <a:pt x="3040133" y="714154"/>
                  <a:pt x="3045285" y="710223"/>
                </a:cubicBezTo>
                <a:cubicBezTo>
                  <a:pt x="3046727" y="712110"/>
                  <a:pt x="3047963" y="713210"/>
                  <a:pt x="3051879" y="711166"/>
                </a:cubicBezTo>
                <a:cubicBezTo>
                  <a:pt x="3049200" y="709122"/>
                  <a:pt x="3049200" y="703148"/>
                  <a:pt x="3044048" y="702205"/>
                </a:cubicBezTo>
                <a:cubicBezTo>
                  <a:pt x="3046727" y="707236"/>
                  <a:pt x="3031066" y="719185"/>
                  <a:pt x="3049200" y="724059"/>
                </a:cubicBezTo>
                <a:cubicBezTo>
                  <a:pt x="3045285" y="727989"/>
                  <a:pt x="3046727" y="732077"/>
                  <a:pt x="3042811" y="736007"/>
                </a:cubicBezTo>
                <a:cubicBezTo>
                  <a:pt x="3036218" y="732077"/>
                  <a:pt x="3041575" y="725002"/>
                  <a:pt x="3033745" y="727046"/>
                </a:cubicBezTo>
                <a:cubicBezTo>
                  <a:pt x="3027151" y="730033"/>
                  <a:pt x="3038897" y="736951"/>
                  <a:pt x="3032302" y="739938"/>
                </a:cubicBezTo>
                <a:cubicBezTo>
                  <a:pt x="3047963" y="739938"/>
                  <a:pt x="3031066" y="754874"/>
                  <a:pt x="3038897" y="757862"/>
                </a:cubicBezTo>
                <a:cubicBezTo>
                  <a:pt x="3033745" y="757862"/>
                  <a:pt x="3036218" y="755818"/>
                  <a:pt x="3032302" y="754874"/>
                </a:cubicBezTo>
                <a:cubicBezTo>
                  <a:pt x="3028387" y="757862"/>
                  <a:pt x="3024472" y="762893"/>
                  <a:pt x="3031066" y="763837"/>
                </a:cubicBezTo>
                <a:cubicBezTo>
                  <a:pt x="3021999" y="766823"/>
                  <a:pt x="3029830" y="769811"/>
                  <a:pt x="3020763" y="769811"/>
                </a:cubicBezTo>
                <a:cubicBezTo>
                  <a:pt x="3019320" y="774685"/>
                  <a:pt x="3020763" y="779716"/>
                  <a:pt x="3027151" y="780659"/>
                </a:cubicBezTo>
                <a:cubicBezTo>
                  <a:pt x="3027151" y="786634"/>
                  <a:pt x="3018084" y="778773"/>
                  <a:pt x="3018084" y="783647"/>
                </a:cubicBezTo>
                <a:cubicBezTo>
                  <a:pt x="3023235" y="784748"/>
                  <a:pt x="3027151" y="787735"/>
                  <a:pt x="3019320" y="793709"/>
                </a:cubicBezTo>
                <a:cubicBezTo>
                  <a:pt x="3016848" y="794653"/>
                  <a:pt x="3015406" y="790722"/>
                  <a:pt x="3012726" y="790722"/>
                </a:cubicBezTo>
                <a:cubicBezTo>
                  <a:pt x="3010254" y="795596"/>
                  <a:pt x="3015406" y="793709"/>
                  <a:pt x="3018084" y="795596"/>
                </a:cubicBezTo>
                <a:cubicBezTo>
                  <a:pt x="3014169" y="796539"/>
                  <a:pt x="3015406" y="798583"/>
                  <a:pt x="3011490" y="799526"/>
                </a:cubicBezTo>
                <a:cubicBezTo>
                  <a:pt x="3003660" y="799526"/>
                  <a:pt x="3015406" y="792609"/>
                  <a:pt x="3006338" y="792609"/>
                </a:cubicBezTo>
                <a:cubicBezTo>
                  <a:pt x="2999745" y="797639"/>
                  <a:pt x="3002423" y="805501"/>
                  <a:pt x="3012726" y="806602"/>
                </a:cubicBezTo>
                <a:cubicBezTo>
                  <a:pt x="3002423" y="807545"/>
                  <a:pt x="2991914" y="812419"/>
                  <a:pt x="3003660" y="815406"/>
                </a:cubicBezTo>
                <a:cubicBezTo>
                  <a:pt x="3001187" y="819494"/>
                  <a:pt x="2999745" y="816506"/>
                  <a:pt x="2994593" y="816506"/>
                </a:cubicBezTo>
                <a:cubicBezTo>
                  <a:pt x="2991914" y="831443"/>
                  <a:pt x="2981611" y="835374"/>
                  <a:pt x="2980375" y="850310"/>
                </a:cubicBezTo>
                <a:cubicBezTo>
                  <a:pt x="2973780" y="853297"/>
                  <a:pt x="2972544" y="849209"/>
                  <a:pt x="2968628" y="850310"/>
                </a:cubicBezTo>
                <a:cubicBezTo>
                  <a:pt x="2967186" y="858171"/>
                  <a:pt x="2973780" y="865246"/>
                  <a:pt x="2962035" y="865246"/>
                </a:cubicBezTo>
                <a:cubicBezTo>
                  <a:pt x="2964713" y="871063"/>
                  <a:pt x="2956883" y="873107"/>
                  <a:pt x="2960798" y="876094"/>
                </a:cubicBezTo>
                <a:cubicBezTo>
                  <a:pt x="2959355" y="875151"/>
                  <a:pt x="2956883" y="876094"/>
                  <a:pt x="2954204" y="876094"/>
                </a:cubicBezTo>
                <a:cubicBezTo>
                  <a:pt x="2956883" y="880025"/>
                  <a:pt x="2954204" y="899993"/>
                  <a:pt x="2942458" y="894961"/>
                </a:cubicBezTo>
                <a:lnTo>
                  <a:pt x="2943765" y="904608"/>
                </a:lnTo>
                <a:lnTo>
                  <a:pt x="2944058" y="904763"/>
                </a:lnTo>
                <a:lnTo>
                  <a:pt x="2943859" y="905298"/>
                </a:lnTo>
                <a:lnTo>
                  <a:pt x="2943952" y="905986"/>
                </a:lnTo>
                <a:cubicBezTo>
                  <a:pt x="2944107" y="909583"/>
                  <a:pt x="2944416" y="912806"/>
                  <a:pt x="2946373" y="914772"/>
                </a:cubicBezTo>
                <a:cubicBezTo>
                  <a:pt x="2929476" y="915873"/>
                  <a:pt x="2925561" y="941657"/>
                  <a:pt x="2917730" y="930651"/>
                </a:cubicBezTo>
                <a:cubicBezTo>
                  <a:pt x="2909900" y="933796"/>
                  <a:pt x="2923087" y="938670"/>
                  <a:pt x="2911342" y="939613"/>
                </a:cubicBezTo>
                <a:cubicBezTo>
                  <a:pt x="2904748" y="940714"/>
                  <a:pt x="2919173" y="933796"/>
                  <a:pt x="2909900" y="933796"/>
                </a:cubicBezTo>
                <a:cubicBezTo>
                  <a:pt x="2903512" y="936783"/>
                  <a:pt x="2894239" y="944645"/>
                  <a:pt x="2905984" y="948575"/>
                </a:cubicBezTo>
                <a:cubicBezTo>
                  <a:pt x="2905984" y="945588"/>
                  <a:pt x="2912578" y="939613"/>
                  <a:pt x="2915051" y="942600"/>
                </a:cubicBezTo>
                <a:cubicBezTo>
                  <a:pt x="2907427" y="948575"/>
                  <a:pt x="2900833" y="957536"/>
                  <a:pt x="2890529" y="958480"/>
                </a:cubicBezTo>
                <a:cubicBezTo>
                  <a:pt x="2889087" y="963511"/>
                  <a:pt x="2896917" y="958480"/>
                  <a:pt x="2895681" y="964455"/>
                </a:cubicBezTo>
                <a:cubicBezTo>
                  <a:pt x="2885172" y="965555"/>
                  <a:pt x="2891765" y="968542"/>
                  <a:pt x="2886614" y="971530"/>
                </a:cubicBezTo>
                <a:lnTo>
                  <a:pt x="2894110" y="971530"/>
                </a:lnTo>
                <a:lnTo>
                  <a:pt x="2893202" y="971010"/>
                </a:lnTo>
                <a:cubicBezTo>
                  <a:pt x="2890965" y="967645"/>
                  <a:pt x="2898956" y="964876"/>
                  <a:pt x="2901875" y="962638"/>
                </a:cubicBezTo>
                <a:lnTo>
                  <a:pt x="2906519" y="964281"/>
                </a:lnTo>
                <a:lnTo>
                  <a:pt x="2909208" y="963649"/>
                </a:lnTo>
                <a:lnTo>
                  <a:pt x="2916219" y="960596"/>
                </a:lnTo>
                <a:cubicBezTo>
                  <a:pt x="2905769" y="956669"/>
                  <a:pt x="2913555" y="965622"/>
                  <a:pt x="2903310" y="960596"/>
                </a:cubicBezTo>
                <a:cubicBezTo>
                  <a:pt x="2907203" y="957612"/>
                  <a:pt x="2911097" y="954627"/>
                  <a:pt x="2921341" y="956669"/>
                </a:cubicBezTo>
                <a:cubicBezTo>
                  <a:pt x="2926668" y="960596"/>
                  <a:pt x="2911097" y="963580"/>
                  <a:pt x="2924004" y="968607"/>
                </a:cubicBezTo>
                <a:cubicBezTo>
                  <a:pt x="2921444" y="968057"/>
                  <a:pt x="2915604" y="968057"/>
                  <a:pt x="2910891" y="967684"/>
                </a:cubicBezTo>
                <a:lnTo>
                  <a:pt x="2908665" y="967309"/>
                </a:lnTo>
                <a:lnTo>
                  <a:pt x="2904748" y="972473"/>
                </a:lnTo>
                <a:lnTo>
                  <a:pt x="2899332" y="973204"/>
                </a:lnTo>
                <a:lnTo>
                  <a:pt x="2899418" y="974575"/>
                </a:lnTo>
                <a:lnTo>
                  <a:pt x="2897223" y="973317"/>
                </a:lnTo>
                <a:lnTo>
                  <a:pt x="2892101" y="972964"/>
                </a:lnTo>
                <a:cubicBezTo>
                  <a:pt x="2888520" y="972709"/>
                  <a:pt x="2885893" y="972945"/>
                  <a:pt x="2885172" y="976404"/>
                </a:cubicBezTo>
                <a:cubicBezTo>
                  <a:pt x="2885172" y="978920"/>
                  <a:pt x="2886511" y="979941"/>
                  <a:pt x="2888006" y="980944"/>
                </a:cubicBezTo>
                <a:lnTo>
                  <a:pt x="2889327" y="982498"/>
                </a:lnTo>
                <a:lnTo>
                  <a:pt x="2890589" y="981143"/>
                </a:lnTo>
                <a:cubicBezTo>
                  <a:pt x="2893031" y="979149"/>
                  <a:pt x="2895772" y="977386"/>
                  <a:pt x="2898346" y="976119"/>
                </a:cubicBezTo>
                <a:cubicBezTo>
                  <a:pt x="2902259" y="977228"/>
                  <a:pt x="2906170" y="979130"/>
                  <a:pt x="2907612" y="978179"/>
                </a:cubicBezTo>
                <a:cubicBezTo>
                  <a:pt x="2916672" y="982140"/>
                  <a:pt x="2908848" y="984200"/>
                  <a:pt x="2908848" y="985151"/>
                </a:cubicBezTo>
                <a:cubicBezTo>
                  <a:pt x="2902259" y="986102"/>
                  <a:pt x="2899787" y="982140"/>
                  <a:pt x="2904935" y="981189"/>
                </a:cubicBezTo>
                <a:cubicBezTo>
                  <a:pt x="2902259" y="981189"/>
                  <a:pt x="2901024" y="982140"/>
                  <a:pt x="2895876" y="980239"/>
                </a:cubicBezTo>
                <a:cubicBezTo>
                  <a:pt x="2894434" y="983091"/>
                  <a:pt x="2898346" y="985151"/>
                  <a:pt x="2898346" y="987211"/>
                </a:cubicBezTo>
                <a:cubicBezTo>
                  <a:pt x="2906170" y="984200"/>
                  <a:pt x="2912760" y="991173"/>
                  <a:pt x="2912760" y="995134"/>
                </a:cubicBezTo>
                <a:lnTo>
                  <a:pt x="2906782" y="993044"/>
                </a:lnTo>
                <a:lnTo>
                  <a:pt x="2903512" y="995271"/>
                </a:lnTo>
                <a:cubicBezTo>
                  <a:pt x="2911342" y="993384"/>
                  <a:pt x="2907427" y="998258"/>
                  <a:pt x="2905984" y="1000302"/>
                </a:cubicBezTo>
                <a:cubicBezTo>
                  <a:pt x="2911342" y="995271"/>
                  <a:pt x="2917730" y="993384"/>
                  <a:pt x="2924324" y="995271"/>
                </a:cubicBezTo>
                <a:cubicBezTo>
                  <a:pt x="2917730" y="993384"/>
                  <a:pt x="2917730" y="1001245"/>
                  <a:pt x="2921645" y="1000302"/>
                </a:cubicBezTo>
                <a:cubicBezTo>
                  <a:pt x="2933391" y="995271"/>
                  <a:pt x="2929476" y="983322"/>
                  <a:pt x="2936070" y="977504"/>
                </a:cubicBezTo>
                <a:cubicBezTo>
                  <a:pt x="2937307" y="981435"/>
                  <a:pt x="2936070" y="987409"/>
                  <a:pt x="2945136" y="984422"/>
                </a:cubicBezTo>
                <a:cubicBezTo>
                  <a:pt x="2942561" y="980963"/>
                  <a:pt x="2940912" y="976246"/>
                  <a:pt x="2941376" y="972395"/>
                </a:cubicBezTo>
                <a:lnTo>
                  <a:pt x="2946664" y="968337"/>
                </a:lnTo>
                <a:lnTo>
                  <a:pt x="2949052" y="970429"/>
                </a:lnTo>
                <a:cubicBezTo>
                  <a:pt x="2952967" y="965555"/>
                  <a:pt x="2959355" y="961467"/>
                  <a:pt x="2960798" y="954550"/>
                </a:cubicBezTo>
                <a:cubicBezTo>
                  <a:pt x="2965949" y="953606"/>
                  <a:pt x="2969864" y="953606"/>
                  <a:pt x="2972544" y="954550"/>
                </a:cubicBezTo>
                <a:cubicBezTo>
                  <a:pt x="2973780" y="948575"/>
                  <a:pt x="2971102" y="950619"/>
                  <a:pt x="2969864" y="944645"/>
                </a:cubicBezTo>
                <a:cubicBezTo>
                  <a:pt x="2973780" y="944645"/>
                  <a:pt x="2973780" y="942600"/>
                  <a:pt x="2977695" y="941657"/>
                </a:cubicBezTo>
                <a:cubicBezTo>
                  <a:pt x="2981611" y="941657"/>
                  <a:pt x="2980375" y="944645"/>
                  <a:pt x="2982847" y="943701"/>
                </a:cubicBezTo>
                <a:cubicBezTo>
                  <a:pt x="2998508" y="934739"/>
                  <a:pt x="2994593" y="922790"/>
                  <a:pt x="3001187" y="911784"/>
                </a:cubicBezTo>
                <a:cubicBezTo>
                  <a:pt x="3003660" y="914772"/>
                  <a:pt x="3007575" y="917759"/>
                  <a:pt x="3012726" y="918859"/>
                </a:cubicBezTo>
                <a:cubicBezTo>
                  <a:pt x="3014169" y="914772"/>
                  <a:pt x="3020763" y="911784"/>
                  <a:pt x="3016848" y="905967"/>
                </a:cubicBezTo>
                <a:cubicBezTo>
                  <a:pt x="3011490" y="907854"/>
                  <a:pt x="3014169" y="917759"/>
                  <a:pt x="3007575" y="911784"/>
                </a:cubicBezTo>
                <a:cubicBezTo>
                  <a:pt x="3008811" y="905967"/>
                  <a:pt x="3016848" y="903923"/>
                  <a:pt x="3027151" y="899993"/>
                </a:cubicBezTo>
                <a:cubicBezTo>
                  <a:pt x="3024472" y="891974"/>
                  <a:pt x="3019320" y="901879"/>
                  <a:pt x="3014169" y="897949"/>
                </a:cubicBezTo>
                <a:cubicBezTo>
                  <a:pt x="3029830" y="888043"/>
                  <a:pt x="3029830" y="873107"/>
                  <a:pt x="3033745" y="862259"/>
                </a:cubicBezTo>
                <a:cubicBezTo>
                  <a:pt x="3037660" y="866190"/>
                  <a:pt x="3031066" y="866190"/>
                  <a:pt x="3032302" y="869177"/>
                </a:cubicBezTo>
                <a:cubicBezTo>
                  <a:pt x="3037248" y="866936"/>
                  <a:pt x="3038484" y="869737"/>
                  <a:pt x="3040967" y="870017"/>
                </a:cubicBezTo>
                <a:lnTo>
                  <a:pt x="3042086" y="869711"/>
                </a:lnTo>
                <a:lnTo>
                  <a:pt x="3044578" y="858321"/>
                </a:lnTo>
                <a:lnTo>
                  <a:pt x="3044599" y="857898"/>
                </a:lnTo>
                <a:lnTo>
                  <a:pt x="3044702" y="857752"/>
                </a:lnTo>
                <a:lnTo>
                  <a:pt x="3048364" y="841014"/>
                </a:lnTo>
                <a:lnTo>
                  <a:pt x="3045314" y="842161"/>
                </a:lnTo>
                <a:cubicBezTo>
                  <a:pt x="3044704" y="840677"/>
                  <a:pt x="3046026" y="838723"/>
                  <a:pt x="3047654" y="836143"/>
                </a:cubicBezTo>
                <a:lnTo>
                  <a:pt x="3051295" y="827614"/>
                </a:lnTo>
                <a:lnTo>
                  <a:pt x="3052132" y="823790"/>
                </a:lnTo>
                <a:lnTo>
                  <a:pt x="3049284" y="824411"/>
                </a:lnTo>
                <a:cubicBezTo>
                  <a:pt x="3049284" y="823469"/>
                  <a:pt x="3050722" y="823469"/>
                  <a:pt x="3051955" y="823469"/>
                </a:cubicBezTo>
                <a:cubicBezTo>
                  <a:pt x="3054624" y="817504"/>
                  <a:pt x="3046820" y="812481"/>
                  <a:pt x="3055857" y="806673"/>
                </a:cubicBezTo>
                <a:lnTo>
                  <a:pt x="3055875" y="806676"/>
                </a:lnTo>
                <a:lnTo>
                  <a:pt x="3059586" y="789715"/>
                </a:lnTo>
                <a:cubicBezTo>
                  <a:pt x="3059586" y="783742"/>
                  <a:pt x="3051756" y="777767"/>
                  <a:pt x="3067414" y="772895"/>
                </a:cubicBezTo>
                <a:cubicBezTo>
                  <a:pt x="3073286" y="778318"/>
                  <a:pt x="3077201" y="784528"/>
                  <a:pt x="3079648" y="791228"/>
                </a:cubicBezTo>
                <a:lnTo>
                  <a:pt x="3080617" y="797256"/>
                </a:lnTo>
                <a:lnTo>
                  <a:pt x="3085351" y="797256"/>
                </a:lnTo>
                <a:lnTo>
                  <a:pt x="3086380" y="797256"/>
                </a:lnTo>
                <a:lnTo>
                  <a:pt x="3087329" y="795112"/>
                </a:lnTo>
                <a:cubicBezTo>
                  <a:pt x="3088018" y="792422"/>
                  <a:pt x="3088095" y="789621"/>
                  <a:pt x="3087116" y="786634"/>
                </a:cubicBezTo>
                <a:cubicBezTo>
                  <a:pt x="3088353" y="789621"/>
                  <a:pt x="3091031" y="789621"/>
                  <a:pt x="3094946" y="789621"/>
                </a:cubicBezTo>
                <a:cubicBezTo>
                  <a:pt x="3097419" y="771698"/>
                  <a:pt x="3101334" y="774685"/>
                  <a:pt x="3113081" y="762893"/>
                </a:cubicBezTo>
                <a:cubicBezTo>
                  <a:pt x="3114317" y="765880"/>
                  <a:pt x="3116995" y="767767"/>
                  <a:pt x="3120912" y="766823"/>
                </a:cubicBezTo>
                <a:cubicBezTo>
                  <a:pt x="3114317" y="759906"/>
                  <a:pt x="3127505" y="763837"/>
                  <a:pt x="3124826" y="757862"/>
                </a:cubicBezTo>
                <a:cubicBezTo>
                  <a:pt x="3122148" y="753932"/>
                  <a:pt x="3119675" y="751887"/>
                  <a:pt x="3116995" y="751887"/>
                </a:cubicBezTo>
                <a:cubicBezTo>
                  <a:pt x="3120912" y="750001"/>
                  <a:pt x="3123590" y="747957"/>
                  <a:pt x="3123590" y="744970"/>
                </a:cubicBezTo>
                <a:cubicBezTo>
                  <a:pt x="3120912" y="742926"/>
                  <a:pt x="3116995" y="747013"/>
                  <a:pt x="3115759" y="744970"/>
                </a:cubicBezTo>
                <a:lnTo>
                  <a:pt x="3117716" y="742903"/>
                </a:lnTo>
                <a:lnTo>
                  <a:pt x="3117490" y="742911"/>
                </a:lnTo>
                <a:cubicBezTo>
                  <a:pt x="3114374" y="743027"/>
                  <a:pt x="3114374" y="743027"/>
                  <a:pt x="3114374" y="743027"/>
                </a:cubicBezTo>
                <a:cubicBezTo>
                  <a:pt x="3113387" y="741332"/>
                  <a:pt x="3114374" y="740186"/>
                  <a:pt x="3116428" y="739481"/>
                </a:cubicBezTo>
                <a:lnTo>
                  <a:pt x="3122698" y="738812"/>
                </a:lnTo>
                <a:lnTo>
                  <a:pt x="3124308" y="737541"/>
                </a:lnTo>
                <a:cubicBezTo>
                  <a:pt x="3125161" y="736627"/>
                  <a:pt x="3126166" y="735261"/>
                  <a:pt x="3127505" y="733021"/>
                </a:cubicBezTo>
                <a:cubicBezTo>
                  <a:pt x="3123590" y="733964"/>
                  <a:pt x="3118232" y="738052"/>
                  <a:pt x="3116995" y="733021"/>
                </a:cubicBezTo>
                <a:cubicBezTo>
                  <a:pt x="3132657" y="726103"/>
                  <a:pt x="3133893" y="705192"/>
                  <a:pt x="3146875" y="714154"/>
                </a:cubicBezTo>
                <a:cubicBezTo>
                  <a:pt x="3153469" y="709122"/>
                  <a:pt x="3148317" y="702205"/>
                  <a:pt x="3152233" y="697173"/>
                </a:cubicBezTo>
                <a:cubicBezTo>
                  <a:pt x="3153469" y="698274"/>
                  <a:pt x="3154706" y="701261"/>
                  <a:pt x="3157385" y="700160"/>
                </a:cubicBezTo>
                <a:cubicBezTo>
                  <a:pt x="3154706" y="693243"/>
                  <a:pt x="3167894" y="695287"/>
                  <a:pt x="3166452" y="688369"/>
                </a:cubicBezTo>
                <a:cubicBezTo>
                  <a:pt x="3160063" y="684281"/>
                  <a:pt x="3152233" y="687269"/>
                  <a:pt x="3146875" y="684281"/>
                </a:cubicBezTo>
                <a:cubicBezTo>
                  <a:pt x="3157385" y="683338"/>
                  <a:pt x="3167894" y="672489"/>
                  <a:pt x="3156148" y="669502"/>
                </a:cubicBezTo>
                <a:lnTo>
                  <a:pt x="3163257" y="654363"/>
                </a:lnTo>
                <a:lnTo>
                  <a:pt x="3163196" y="653998"/>
                </a:lnTo>
                <a:cubicBezTo>
                  <a:pt x="3162987" y="650203"/>
                  <a:pt x="3163167" y="645909"/>
                  <a:pt x="3163837" y="640682"/>
                </a:cubicBezTo>
                <a:cubicBezTo>
                  <a:pt x="3165073" y="630778"/>
                  <a:pt x="3176817" y="623861"/>
                  <a:pt x="3180732" y="616943"/>
                </a:cubicBezTo>
                <a:cubicBezTo>
                  <a:pt x="3181968" y="614900"/>
                  <a:pt x="3176817" y="612856"/>
                  <a:pt x="3178053" y="609869"/>
                </a:cubicBezTo>
                <a:cubicBezTo>
                  <a:pt x="3179341" y="607668"/>
                  <a:pt x="3181606" y="605271"/>
                  <a:pt x="3184365" y="602726"/>
                </a:cubicBezTo>
                <a:lnTo>
                  <a:pt x="3186857" y="600568"/>
                </a:lnTo>
                <a:lnTo>
                  <a:pt x="3200246" y="564161"/>
                </a:lnTo>
                <a:cubicBezTo>
                  <a:pt x="3206840" y="568092"/>
                  <a:pt x="3196331" y="571080"/>
                  <a:pt x="3200246" y="575010"/>
                </a:cubicBezTo>
                <a:cubicBezTo>
                  <a:pt x="3205603" y="575010"/>
                  <a:pt x="3201688" y="580041"/>
                  <a:pt x="3208076" y="577054"/>
                </a:cubicBezTo>
                <a:cubicBezTo>
                  <a:pt x="3206840" y="576111"/>
                  <a:pt x="3210755" y="574067"/>
                  <a:pt x="3209519" y="573124"/>
                </a:cubicBezTo>
                <a:cubicBezTo>
                  <a:pt x="3206840" y="571080"/>
                  <a:pt x="3204161" y="572023"/>
                  <a:pt x="3202925" y="569035"/>
                </a:cubicBezTo>
                <a:cubicBezTo>
                  <a:pt x="3204882" y="566599"/>
                  <a:pt x="3206531" y="566363"/>
                  <a:pt x="3207999" y="566618"/>
                </a:cubicBezTo>
                <a:lnTo>
                  <a:pt x="3209884" y="566869"/>
                </a:lnTo>
                <a:lnTo>
                  <a:pt x="3209653" y="564514"/>
                </a:lnTo>
                <a:cubicBezTo>
                  <a:pt x="3209640" y="562530"/>
                  <a:pt x="3210033" y="560604"/>
                  <a:pt x="3211485" y="558732"/>
                </a:cubicBezTo>
                <a:lnTo>
                  <a:pt x="3211655" y="558618"/>
                </a:lnTo>
                <a:lnTo>
                  <a:pt x="3208076" y="558187"/>
                </a:lnTo>
                <a:cubicBezTo>
                  <a:pt x="3201688" y="563218"/>
                  <a:pt x="3195094" y="563218"/>
                  <a:pt x="3188706" y="565105"/>
                </a:cubicBezTo>
                <a:cubicBezTo>
                  <a:pt x="3192621" y="562118"/>
                  <a:pt x="3187264" y="559130"/>
                  <a:pt x="3193858" y="556143"/>
                </a:cubicBezTo>
                <a:cubicBezTo>
                  <a:pt x="3196331" y="558187"/>
                  <a:pt x="3199009" y="563218"/>
                  <a:pt x="3202925" y="558187"/>
                </a:cubicBezTo>
                <a:cubicBezTo>
                  <a:pt x="3200246" y="550169"/>
                  <a:pt x="3218585" y="541207"/>
                  <a:pt x="3209519" y="532402"/>
                </a:cubicBezTo>
                <a:cubicBezTo>
                  <a:pt x="3215907" y="530358"/>
                  <a:pt x="3217349" y="529415"/>
                  <a:pt x="3210755" y="527372"/>
                </a:cubicBezTo>
                <a:cubicBezTo>
                  <a:pt x="3217349" y="525327"/>
                  <a:pt x="3215907" y="521397"/>
                  <a:pt x="3218585" y="518409"/>
                </a:cubicBezTo>
                <a:cubicBezTo>
                  <a:pt x="3220543" y="520925"/>
                  <a:pt x="3220543" y="523402"/>
                  <a:pt x="3220543" y="525759"/>
                </a:cubicBezTo>
                <a:lnTo>
                  <a:pt x="3222381" y="531994"/>
                </a:lnTo>
                <a:lnTo>
                  <a:pt x="3223766" y="527983"/>
                </a:lnTo>
                <a:lnTo>
                  <a:pt x="3229590" y="521676"/>
                </a:lnTo>
                <a:lnTo>
                  <a:pt x="3229662" y="521279"/>
                </a:lnTo>
                <a:cubicBezTo>
                  <a:pt x="3229352" y="517427"/>
                  <a:pt x="3227755" y="513457"/>
                  <a:pt x="3229094" y="509448"/>
                </a:cubicBezTo>
                <a:cubicBezTo>
                  <a:pt x="3238162" y="510391"/>
                  <a:pt x="3234247" y="502530"/>
                  <a:pt x="3238162" y="499542"/>
                </a:cubicBezTo>
                <a:cubicBezTo>
                  <a:pt x="3244550" y="500486"/>
                  <a:pt x="3248465" y="508504"/>
                  <a:pt x="3255060" y="505517"/>
                </a:cubicBezTo>
                <a:cubicBezTo>
                  <a:pt x="3247229" y="500486"/>
                  <a:pt x="3253823" y="495612"/>
                  <a:pt x="3252380" y="490581"/>
                </a:cubicBezTo>
                <a:cubicBezTo>
                  <a:pt x="3245992" y="485707"/>
                  <a:pt x="3247229" y="487593"/>
                  <a:pt x="3240635" y="485707"/>
                </a:cubicBezTo>
                <a:cubicBezTo>
                  <a:pt x="3248465" y="481619"/>
                  <a:pt x="3247229" y="481619"/>
                  <a:pt x="3253823" y="476745"/>
                </a:cubicBezTo>
                <a:cubicBezTo>
                  <a:pt x="3258975" y="479732"/>
                  <a:pt x="3260211" y="478632"/>
                  <a:pt x="3268041" y="479732"/>
                </a:cubicBezTo>
                <a:cubicBezTo>
                  <a:pt x="3269278" y="483663"/>
                  <a:pt x="3262890" y="487593"/>
                  <a:pt x="3269278" y="491682"/>
                </a:cubicBezTo>
                <a:cubicBezTo>
                  <a:pt x="3260623" y="499110"/>
                  <a:pt x="3261358" y="506539"/>
                  <a:pt x="3258962" y="515228"/>
                </a:cubicBezTo>
                <a:lnTo>
                  <a:pt x="3256276" y="521530"/>
                </a:lnTo>
                <a:lnTo>
                  <a:pt x="3255839" y="523547"/>
                </a:lnTo>
                <a:cubicBezTo>
                  <a:pt x="3256125" y="525713"/>
                  <a:pt x="3257838" y="527256"/>
                  <a:pt x="3262731" y="527492"/>
                </a:cubicBezTo>
                <a:lnTo>
                  <a:pt x="3260102" y="529818"/>
                </a:lnTo>
                <a:lnTo>
                  <a:pt x="3258924" y="534781"/>
                </a:lnTo>
                <a:cubicBezTo>
                  <a:pt x="3256966" y="538259"/>
                  <a:pt x="3253720" y="541758"/>
                  <a:pt x="3255060" y="545295"/>
                </a:cubicBezTo>
                <a:cubicBezTo>
                  <a:pt x="3257738" y="544194"/>
                  <a:pt x="3258975" y="543251"/>
                  <a:pt x="3261653" y="545295"/>
                </a:cubicBezTo>
                <a:cubicBezTo>
                  <a:pt x="3256708" y="547535"/>
                  <a:pt x="3259181" y="550306"/>
                  <a:pt x="3256815" y="552812"/>
                </a:cubicBezTo>
                <a:lnTo>
                  <a:pt x="3255739" y="553391"/>
                </a:lnTo>
                <a:lnTo>
                  <a:pt x="3255801" y="553921"/>
                </a:lnTo>
                <a:lnTo>
                  <a:pt x="3253611" y="561319"/>
                </a:lnTo>
                <a:lnTo>
                  <a:pt x="3257738" y="564161"/>
                </a:lnTo>
                <a:cubicBezTo>
                  <a:pt x="3251144" y="568092"/>
                  <a:pt x="3251144" y="570136"/>
                  <a:pt x="3256296" y="575010"/>
                </a:cubicBezTo>
                <a:cubicBezTo>
                  <a:pt x="3255060" y="577054"/>
                  <a:pt x="3252380" y="577054"/>
                  <a:pt x="3249908" y="577054"/>
                </a:cubicBezTo>
                <a:cubicBezTo>
                  <a:pt x="3251144" y="580041"/>
                  <a:pt x="3256296" y="583972"/>
                  <a:pt x="3253823" y="586959"/>
                </a:cubicBezTo>
                <a:cubicBezTo>
                  <a:pt x="3243932" y="586959"/>
                  <a:pt x="3247371" y="581387"/>
                  <a:pt x="3249186" y="576081"/>
                </a:cubicBezTo>
                <a:lnTo>
                  <a:pt x="3249560" y="573491"/>
                </a:lnTo>
                <a:lnTo>
                  <a:pt x="3240599" y="589209"/>
                </a:lnTo>
                <a:lnTo>
                  <a:pt x="3236533" y="595045"/>
                </a:lnTo>
                <a:lnTo>
                  <a:pt x="3238162" y="596865"/>
                </a:lnTo>
                <a:lnTo>
                  <a:pt x="3234465" y="598012"/>
                </a:lnTo>
                <a:lnTo>
                  <a:pt x="3230203" y="604130"/>
                </a:lnTo>
                <a:lnTo>
                  <a:pt x="3231233" y="605414"/>
                </a:lnTo>
                <a:cubicBezTo>
                  <a:pt x="3231568" y="606887"/>
                  <a:pt x="3231568" y="608342"/>
                  <a:pt x="3232805" y="609757"/>
                </a:cubicBezTo>
                <a:cubicBezTo>
                  <a:pt x="3231568" y="610779"/>
                  <a:pt x="3228322" y="611290"/>
                  <a:pt x="3225720" y="612037"/>
                </a:cubicBezTo>
                <a:lnTo>
                  <a:pt x="3223617" y="612984"/>
                </a:lnTo>
                <a:lnTo>
                  <a:pt x="3222580" y="614356"/>
                </a:lnTo>
                <a:lnTo>
                  <a:pt x="3222501" y="615731"/>
                </a:lnTo>
                <a:cubicBezTo>
                  <a:pt x="3227652" y="614788"/>
                  <a:pt x="3234247" y="611801"/>
                  <a:pt x="3239399" y="618718"/>
                </a:cubicBezTo>
                <a:cubicBezTo>
                  <a:pt x="3223737" y="619819"/>
                  <a:pt x="3235483" y="624693"/>
                  <a:pt x="3221265" y="626737"/>
                </a:cubicBezTo>
                <a:cubicBezTo>
                  <a:pt x="3227652" y="631768"/>
                  <a:pt x="3225180" y="630668"/>
                  <a:pt x="3227652" y="636642"/>
                </a:cubicBezTo>
                <a:cubicBezTo>
                  <a:pt x="3231568" y="633655"/>
                  <a:pt x="3227652" y="623750"/>
                  <a:pt x="3236720" y="625637"/>
                </a:cubicBezTo>
                <a:cubicBezTo>
                  <a:pt x="3236720" y="632712"/>
                  <a:pt x="3229094" y="639629"/>
                  <a:pt x="3227652" y="646547"/>
                </a:cubicBezTo>
                <a:cubicBezTo>
                  <a:pt x="3239399" y="647648"/>
                  <a:pt x="3225180" y="663528"/>
                  <a:pt x="3226416" y="671389"/>
                </a:cubicBezTo>
                <a:cubicBezTo>
                  <a:pt x="3234247" y="665414"/>
                  <a:pt x="3243314" y="647648"/>
                  <a:pt x="3256296" y="653465"/>
                </a:cubicBezTo>
                <a:cubicBezTo>
                  <a:pt x="3257738" y="650635"/>
                  <a:pt x="3257738" y="648592"/>
                  <a:pt x="3255060" y="645604"/>
                </a:cubicBezTo>
                <a:cubicBezTo>
                  <a:pt x="3252380" y="647648"/>
                  <a:pt x="3249908" y="647648"/>
                  <a:pt x="3247229" y="645604"/>
                </a:cubicBezTo>
                <a:cubicBezTo>
                  <a:pt x="3255060" y="636642"/>
                  <a:pt x="3236720" y="639629"/>
                  <a:pt x="3242077" y="630668"/>
                </a:cubicBezTo>
                <a:cubicBezTo>
                  <a:pt x="3244550" y="634756"/>
                  <a:pt x="3247229" y="637586"/>
                  <a:pt x="3251144" y="635699"/>
                </a:cubicBezTo>
                <a:cubicBezTo>
                  <a:pt x="3253823" y="633655"/>
                  <a:pt x="3255060" y="631768"/>
                  <a:pt x="3255060" y="629724"/>
                </a:cubicBezTo>
                <a:cubicBezTo>
                  <a:pt x="3255060" y="629724"/>
                  <a:pt x="3255060" y="629724"/>
                  <a:pt x="3249908" y="623750"/>
                </a:cubicBezTo>
                <a:cubicBezTo>
                  <a:pt x="3255060" y="620762"/>
                  <a:pt x="3255060" y="617775"/>
                  <a:pt x="3260211" y="613844"/>
                </a:cubicBezTo>
                <a:cubicBezTo>
                  <a:pt x="3268041" y="618718"/>
                  <a:pt x="3261653" y="621706"/>
                  <a:pt x="3265569" y="625637"/>
                </a:cubicBezTo>
                <a:cubicBezTo>
                  <a:pt x="3269278" y="623750"/>
                  <a:pt x="3270721" y="620762"/>
                  <a:pt x="3270721" y="618718"/>
                </a:cubicBezTo>
                <a:cubicBezTo>
                  <a:pt x="3270721" y="618718"/>
                  <a:pt x="3270721" y="618718"/>
                  <a:pt x="3262890" y="610857"/>
                </a:cubicBezTo>
                <a:cubicBezTo>
                  <a:pt x="3261653" y="613844"/>
                  <a:pt x="3260211" y="614788"/>
                  <a:pt x="3256296" y="612744"/>
                </a:cubicBezTo>
                <a:cubicBezTo>
                  <a:pt x="3262890" y="605826"/>
                  <a:pt x="3262890" y="597965"/>
                  <a:pt x="3266805" y="589946"/>
                </a:cubicBezTo>
                <a:cubicBezTo>
                  <a:pt x="3240635" y="577998"/>
                  <a:pt x="3282467" y="557244"/>
                  <a:pt x="3269278" y="544194"/>
                </a:cubicBezTo>
                <a:cubicBezTo>
                  <a:pt x="3273194" y="550169"/>
                  <a:pt x="3277109" y="550169"/>
                  <a:pt x="3282467" y="551269"/>
                </a:cubicBezTo>
                <a:cubicBezTo>
                  <a:pt x="3273194" y="558187"/>
                  <a:pt x="3261653" y="569035"/>
                  <a:pt x="3273194" y="574067"/>
                </a:cubicBezTo>
                <a:cubicBezTo>
                  <a:pt x="3264127" y="577998"/>
                  <a:pt x="3265569" y="581928"/>
                  <a:pt x="3265569" y="586959"/>
                </a:cubicBezTo>
                <a:cubicBezTo>
                  <a:pt x="3273194" y="586016"/>
                  <a:pt x="3268041" y="579098"/>
                  <a:pt x="3278551" y="580985"/>
                </a:cubicBezTo>
                <a:cubicBezTo>
                  <a:pt x="3265569" y="575010"/>
                  <a:pt x="3291534" y="569035"/>
                  <a:pt x="3274636" y="566049"/>
                </a:cubicBezTo>
                <a:cubicBezTo>
                  <a:pt x="3287618" y="560231"/>
                  <a:pt x="3281024" y="554257"/>
                  <a:pt x="3287618" y="547182"/>
                </a:cubicBezTo>
                <a:cubicBezTo>
                  <a:pt x="3291534" y="551269"/>
                  <a:pt x="3288854" y="554257"/>
                  <a:pt x="3295449" y="551269"/>
                </a:cubicBezTo>
                <a:cubicBezTo>
                  <a:pt x="3291534" y="548282"/>
                  <a:pt x="3300600" y="547182"/>
                  <a:pt x="3301836" y="547182"/>
                </a:cubicBezTo>
                <a:cubicBezTo>
                  <a:pt x="3294006" y="547182"/>
                  <a:pt x="3303279" y="542308"/>
                  <a:pt x="3295449" y="538219"/>
                </a:cubicBezTo>
                <a:cubicBezTo>
                  <a:pt x="3294006" y="541207"/>
                  <a:pt x="3292770" y="542308"/>
                  <a:pt x="3288854" y="540264"/>
                </a:cubicBezTo>
                <a:cubicBezTo>
                  <a:pt x="3294006" y="535390"/>
                  <a:pt x="3288854" y="530358"/>
                  <a:pt x="3299363" y="525327"/>
                </a:cubicBezTo>
                <a:cubicBezTo>
                  <a:pt x="3301836" y="526428"/>
                  <a:pt x="3304515" y="530358"/>
                  <a:pt x="3307194" y="529415"/>
                </a:cubicBezTo>
                <a:cubicBezTo>
                  <a:pt x="3308431" y="522340"/>
                  <a:pt x="3301836" y="522340"/>
                  <a:pt x="3299363" y="516366"/>
                </a:cubicBezTo>
                <a:cubicBezTo>
                  <a:pt x="3313582" y="513378"/>
                  <a:pt x="3304515" y="505517"/>
                  <a:pt x="3318940" y="501587"/>
                </a:cubicBezTo>
                <a:cubicBezTo>
                  <a:pt x="3316261" y="495612"/>
                  <a:pt x="3328007" y="487593"/>
                  <a:pt x="3328007" y="484606"/>
                </a:cubicBezTo>
                <a:cubicBezTo>
                  <a:pt x="3324091" y="487593"/>
                  <a:pt x="3333158" y="488694"/>
                  <a:pt x="3335837" y="488694"/>
                </a:cubicBezTo>
                <a:cubicBezTo>
                  <a:pt x="3335837" y="483663"/>
                  <a:pt x="3347377" y="475644"/>
                  <a:pt x="3337074" y="478632"/>
                </a:cubicBezTo>
                <a:cubicBezTo>
                  <a:pt x="3339752" y="471714"/>
                  <a:pt x="3340989" y="476745"/>
                  <a:pt x="3347377" y="474701"/>
                </a:cubicBezTo>
                <a:cubicBezTo>
                  <a:pt x="3343667" y="471714"/>
                  <a:pt x="3352735" y="468726"/>
                  <a:pt x="3350055" y="466682"/>
                </a:cubicBezTo>
                <a:cubicBezTo>
                  <a:pt x="3342225" y="464796"/>
                  <a:pt x="3346140" y="468726"/>
                  <a:pt x="3342225" y="472657"/>
                </a:cubicBezTo>
                <a:cubicBezTo>
                  <a:pt x="3335837" y="472657"/>
                  <a:pt x="3340989" y="469670"/>
                  <a:pt x="3334395" y="466682"/>
                </a:cubicBezTo>
                <a:cubicBezTo>
                  <a:pt x="3339752" y="463853"/>
                  <a:pt x="3340989" y="461809"/>
                  <a:pt x="3335837" y="458821"/>
                </a:cubicBezTo>
                <a:cubicBezTo>
                  <a:pt x="3342225" y="458821"/>
                  <a:pt x="3340989" y="449860"/>
                  <a:pt x="3348819" y="453790"/>
                </a:cubicBezTo>
                <a:cubicBezTo>
                  <a:pt x="3347377" y="455834"/>
                  <a:pt x="3335837" y="457878"/>
                  <a:pt x="3346140" y="464796"/>
                </a:cubicBezTo>
                <a:cubicBezTo>
                  <a:pt x="3351498" y="455834"/>
                  <a:pt x="3353971" y="461809"/>
                  <a:pt x="3363038" y="457878"/>
                </a:cubicBezTo>
                <a:cubicBezTo>
                  <a:pt x="3353971" y="452847"/>
                  <a:pt x="3370867" y="446872"/>
                  <a:pt x="3365716" y="441999"/>
                </a:cubicBezTo>
                <a:cubicBezTo>
                  <a:pt x="3372311" y="444986"/>
                  <a:pt x="3366953" y="447973"/>
                  <a:pt x="3373547" y="449860"/>
                </a:cubicBezTo>
                <a:cubicBezTo>
                  <a:pt x="3364480" y="454891"/>
                  <a:pt x="3365716" y="458821"/>
                  <a:pt x="3366953" y="463853"/>
                </a:cubicBezTo>
                <a:cubicBezTo>
                  <a:pt x="3369631" y="462752"/>
                  <a:pt x="3373547" y="462752"/>
                  <a:pt x="3370867" y="464796"/>
                </a:cubicBezTo>
                <a:cubicBezTo>
                  <a:pt x="3364480" y="466682"/>
                  <a:pt x="3368395" y="479732"/>
                  <a:pt x="3373547" y="485707"/>
                </a:cubicBezTo>
                <a:cubicBezTo>
                  <a:pt x="3369631" y="489637"/>
                  <a:pt x="3366953" y="486650"/>
                  <a:pt x="3363038" y="490581"/>
                </a:cubicBezTo>
                <a:cubicBezTo>
                  <a:pt x="3366953" y="495612"/>
                  <a:pt x="3366953" y="505517"/>
                  <a:pt x="3359328" y="506460"/>
                </a:cubicBezTo>
                <a:cubicBezTo>
                  <a:pt x="3351498" y="503473"/>
                  <a:pt x="3366953" y="501587"/>
                  <a:pt x="3361801" y="498599"/>
                </a:cubicBezTo>
                <a:cubicBezTo>
                  <a:pt x="3356649" y="498599"/>
                  <a:pt x="3352735" y="488694"/>
                  <a:pt x="3347377" y="493568"/>
                </a:cubicBezTo>
                <a:cubicBezTo>
                  <a:pt x="3346140" y="497498"/>
                  <a:pt x="3351498" y="494511"/>
                  <a:pt x="3353971" y="499542"/>
                </a:cubicBezTo>
                <a:cubicBezTo>
                  <a:pt x="3348819" y="502530"/>
                  <a:pt x="3353971" y="506460"/>
                  <a:pt x="3351498" y="510391"/>
                </a:cubicBezTo>
                <a:cubicBezTo>
                  <a:pt x="3347377" y="515422"/>
                  <a:pt x="3344904" y="507561"/>
                  <a:pt x="3340989" y="512435"/>
                </a:cubicBezTo>
                <a:cubicBezTo>
                  <a:pt x="3350055" y="513378"/>
                  <a:pt x="3351498" y="521397"/>
                  <a:pt x="3348819" y="525327"/>
                </a:cubicBezTo>
                <a:cubicBezTo>
                  <a:pt x="3356649" y="525327"/>
                  <a:pt x="3357886" y="526428"/>
                  <a:pt x="3361801" y="529415"/>
                </a:cubicBezTo>
                <a:cubicBezTo>
                  <a:pt x="3356649" y="536333"/>
                  <a:pt x="3361801" y="543251"/>
                  <a:pt x="3353971" y="550169"/>
                </a:cubicBezTo>
                <a:cubicBezTo>
                  <a:pt x="3350055" y="549225"/>
                  <a:pt x="3355413" y="542308"/>
                  <a:pt x="3348819" y="545295"/>
                </a:cubicBezTo>
                <a:cubicBezTo>
                  <a:pt x="3351498" y="552213"/>
                  <a:pt x="3340989" y="552213"/>
                  <a:pt x="3346140" y="560231"/>
                </a:cubicBezTo>
                <a:cubicBezTo>
                  <a:pt x="3340989" y="560231"/>
                  <a:pt x="3333158" y="571080"/>
                  <a:pt x="3335837" y="577054"/>
                </a:cubicBezTo>
                <a:cubicBezTo>
                  <a:pt x="3329243" y="581928"/>
                  <a:pt x="3326564" y="574067"/>
                  <a:pt x="3318940" y="580985"/>
                </a:cubicBezTo>
                <a:cubicBezTo>
                  <a:pt x="3328007" y="581928"/>
                  <a:pt x="3321413" y="589946"/>
                  <a:pt x="3329243" y="591991"/>
                </a:cubicBezTo>
                <a:cubicBezTo>
                  <a:pt x="3324091" y="593877"/>
                  <a:pt x="3328007" y="596865"/>
                  <a:pt x="3324091" y="598908"/>
                </a:cubicBezTo>
                <a:cubicBezTo>
                  <a:pt x="3322855" y="596865"/>
                  <a:pt x="3320176" y="593877"/>
                  <a:pt x="3317498" y="596865"/>
                </a:cubicBezTo>
                <a:cubicBezTo>
                  <a:pt x="3320176" y="598908"/>
                  <a:pt x="3317498" y="600952"/>
                  <a:pt x="3320176" y="603940"/>
                </a:cubicBezTo>
                <a:cubicBezTo>
                  <a:pt x="3315024" y="607870"/>
                  <a:pt x="3312346" y="602839"/>
                  <a:pt x="3307194" y="604883"/>
                </a:cubicBezTo>
                <a:cubicBezTo>
                  <a:pt x="3317498" y="610857"/>
                  <a:pt x="3307194" y="614788"/>
                  <a:pt x="3309667" y="620762"/>
                </a:cubicBezTo>
                <a:cubicBezTo>
                  <a:pt x="3315024" y="615731"/>
                  <a:pt x="3317498" y="611801"/>
                  <a:pt x="3321413" y="607870"/>
                </a:cubicBezTo>
                <a:cubicBezTo>
                  <a:pt x="3324091" y="616832"/>
                  <a:pt x="3309667" y="623750"/>
                  <a:pt x="3313582" y="633655"/>
                </a:cubicBezTo>
                <a:cubicBezTo>
                  <a:pt x="3320176" y="622807"/>
                  <a:pt x="3331922" y="613844"/>
                  <a:pt x="3331922" y="602839"/>
                </a:cubicBezTo>
                <a:cubicBezTo>
                  <a:pt x="3328007" y="604883"/>
                  <a:pt x="3325327" y="606927"/>
                  <a:pt x="3324091" y="603940"/>
                </a:cubicBezTo>
                <a:cubicBezTo>
                  <a:pt x="3330479" y="599851"/>
                  <a:pt x="3330479" y="601896"/>
                  <a:pt x="3334395" y="596865"/>
                </a:cubicBezTo>
                <a:cubicBezTo>
                  <a:pt x="3338310" y="597965"/>
                  <a:pt x="3340989" y="600952"/>
                  <a:pt x="3344904" y="600952"/>
                </a:cubicBezTo>
                <a:cubicBezTo>
                  <a:pt x="3330479" y="611801"/>
                  <a:pt x="3322855" y="623750"/>
                  <a:pt x="3331922" y="632712"/>
                </a:cubicBezTo>
                <a:cubicBezTo>
                  <a:pt x="3329243" y="629724"/>
                  <a:pt x="3322855" y="636642"/>
                  <a:pt x="3329243" y="638686"/>
                </a:cubicBezTo>
                <a:cubicBezTo>
                  <a:pt x="3324091" y="643560"/>
                  <a:pt x="3321413" y="635699"/>
                  <a:pt x="3316261" y="637586"/>
                </a:cubicBezTo>
                <a:cubicBezTo>
                  <a:pt x="3318940" y="640573"/>
                  <a:pt x="3313582" y="643560"/>
                  <a:pt x="3313582" y="647648"/>
                </a:cubicBezTo>
                <a:cubicBezTo>
                  <a:pt x="3317498" y="645604"/>
                  <a:pt x="3320176" y="636642"/>
                  <a:pt x="3324091" y="643560"/>
                </a:cubicBezTo>
                <a:cubicBezTo>
                  <a:pt x="3329243" y="646547"/>
                  <a:pt x="3315024" y="647648"/>
                  <a:pt x="3318940" y="650635"/>
                </a:cubicBezTo>
                <a:cubicBezTo>
                  <a:pt x="3326564" y="654566"/>
                  <a:pt x="3326564" y="652522"/>
                  <a:pt x="3328007" y="660540"/>
                </a:cubicBezTo>
                <a:cubicBezTo>
                  <a:pt x="3333158" y="655509"/>
                  <a:pt x="3335837" y="659439"/>
                  <a:pt x="3338310" y="660540"/>
                </a:cubicBezTo>
                <a:cubicBezTo>
                  <a:pt x="3330479" y="664471"/>
                  <a:pt x="3342225" y="667458"/>
                  <a:pt x="3343667" y="670445"/>
                </a:cubicBezTo>
                <a:cubicBezTo>
                  <a:pt x="3337074" y="674376"/>
                  <a:pt x="3334395" y="664471"/>
                  <a:pt x="3328007" y="668402"/>
                </a:cubicBezTo>
                <a:cubicBezTo>
                  <a:pt x="3330479" y="674376"/>
                  <a:pt x="3328007" y="679408"/>
                  <a:pt x="3325327" y="685381"/>
                </a:cubicBezTo>
                <a:cubicBezTo>
                  <a:pt x="3322855" y="681294"/>
                  <a:pt x="3325327" y="678464"/>
                  <a:pt x="3318940" y="680350"/>
                </a:cubicBezTo>
                <a:cubicBezTo>
                  <a:pt x="3317498" y="685381"/>
                  <a:pt x="3312346" y="682394"/>
                  <a:pt x="3307194" y="686325"/>
                </a:cubicBezTo>
                <a:cubicBezTo>
                  <a:pt x="3316261" y="688369"/>
                  <a:pt x="3305752" y="694344"/>
                  <a:pt x="3297922" y="697173"/>
                </a:cubicBezTo>
                <a:cubicBezTo>
                  <a:pt x="3300600" y="703148"/>
                  <a:pt x="3301836" y="708179"/>
                  <a:pt x="3308431" y="708179"/>
                </a:cubicBezTo>
                <a:cubicBezTo>
                  <a:pt x="3301836" y="714154"/>
                  <a:pt x="3296685" y="712110"/>
                  <a:pt x="3291534" y="711166"/>
                </a:cubicBezTo>
                <a:cubicBezTo>
                  <a:pt x="3299363" y="717141"/>
                  <a:pt x="3286382" y="725002"/>
                  <a:pt x="3295449" y="727989"/>
                </a:cubicBezTo>
                <a:cubicBezTo>
                  <a:pt x="3292770" y="730033"/>
                  <a:pt x="3283703" y="730977"/>
                  <a:pt x="3286382" y="733964"/>
                </a:cubicBezTo>
                <a:cubicBezTo>
                  <a:pt x="3303279" y="736951"/>
                  <a:pt x="3301836" y="713210"/>
                  <a:pt x="3316261" y="714154"/>
                </a:cubicBezTo>
                <a:cubicBezTo>
                  <a:pt x="3312346" y="721071"/>
                  <a:pt x="3305752" y="726103"/>
                  <a:pt x="3301836" y="733021"/>
                </a:cubicBezTo>
                <a:cubicBezTo>
                  <a:pt x="3317498" y="730977"/>
                  <a:pt x="3320176" y="741039"/>
                  <a:pt x="3333158" y="742926"/>
                </a:cubicBezTo>
                <a:cubicBezTo>
                  <a:pt x="3321413" y="747957"/>
                  <a:pt x="3326564" y="762893"/>
                  <a:pt x="3321413" y="775786"/>
                </a:cubicBezTo>
                <a:cubicBezTo>
                  <a:pt x="3320176" y="769811"/>
                  <a:pt x="3316261" y="768711"/>
                  <a:pt x="3315024" y="760849"/>
                </a:cubicBezTo>
                <a:cubicBezTo>
                  <a:pt x="3307812" y="765802"/>
                  <a:pt x="3301578" y="771029"/>
                  <a:pt x="3297484" y="776631"/>
                </a:cubicBezTo>
                <a:lnTo>
                  <a:pt x="3295419" y="780715"/>
                </a:lnTo>
                <a:lnTo>
                  <a:pt x="3317330" y="793803"/>
                </a:lnTo>
                <a:lnTo>
                  <a:pt x="3329887" y="803910"/>
                </a:lnTo>
                <a:lnTo>
                  <a:pt x="3339752" y="793709"/>
                </a:lnTo>
                <a:cubicBezTo>
                  <a:pt x="3335837" y="787735"/>
                  <a:pt x="3338310" y="789621"/>
                  <a:pt x="3344904" y="787735"/>
                </a:cubicBezTo>
                <a:cubicBezTo>
                  <a:pt x="3344904" y="777672"/>
                  <a:pt x="3350055" y="762893"/>
                  <a:pt x="3360565" y="759906"/>
                </a:cubicBezTo>
                <a:cubicBezTo>
                  <a:pt x="3357267" y="755897"/>
                  <a:pt x="3360513" y="751180"/>
                  <a:pt x="3365227" y="747328"/>
                </a:cubicBezTo>
                <a:lnTo>
                  <a:pt x="3368169" y="745402"/>
                </a:lnTo>
                <a:lnTo>
                  <a:pt x="3369753" y="734168"/>
                </a:lnTo>
                <a:lnTo>
                  <a:pt x="3372133" y="742808"/>
                </a:lnTo>
                <a:lnTo>
                  <a:pt x="3372764" y="742395"/>
                </a:lnTo>
                <a:cubicBezTo>
                  <a:pt x="3375221" y="741098"/>
                  <a:pt x="3377411" y="740213"/>
                  <a:pt x="3378698" y="739938"/>
                </a:cubicBezTo>
                <a:cubicBezTo>
                  <a:pt x="3376226" y="741039"/>
                  <a:pt x="3376226" y="748900"/>
                  <a:pt x="3378698" y="745913"/>
                </a:cubicBezTo>
                <a:cubicBezTo>
                  <a:pt x="3382614" y="742926"/>
                  <a:pt x="3383850" y="738995"/>
                  <a:pt x="3382614" y="735064"/>
                </a:cubicBezTo>
                <a:cubicBezTo>
                  <a:pt x="3380142" y="736951"/>
                  <a:pt x="3378698" y="738052"/>
                  <a:pt x="3377462" y="733964"/>
                </a:cubicBezTo>
                <a:cubicBezTo>
                  <a:pt x="3382614" y="729090"/>
                  <a:pt x="3380142" y="723116"/>
                  <a:pt x="3381378" y="717141"/>
                </a:cubicBezTo>
                <a:cubicBezTo>
                  <a:pt x="3386529" y="733021"/>
                  <a:pt x="3398275" y="733964"/>
                  <a:pt x="3385293" y="742926"/>
                </a:cubicBezTo>
                <a:cubicBezTo>
                  <a:pt x="3389208" y="750944"/>
                  <a:pt x="3381378" y="757862"/>
                  <a:pt x="3382614" y="765880"/>
                </a:cubicBezTo>
                <a:cubicBezTo>
                  <a:pt x="3377462" y="769811"/>
                  <a:pt x="3372311" y="765880"/>
                  <a:pt x="3370867" y="771698"/>
                </a:cubicBezTo>
                <a:lnTo>
                  <a:pt x="3370211" y="768675"/>
                </a:lnTo>
                <a:lnTo>
                  <a:pt x="3365920" y="768675"/>
                </a:lnTo>
                <a:lnTo>
                  <a:pt x="3359663" y="785612"/>
                </a:lnTo>
                <a:cubicBezTo>
                  <a:pt x="3358195" y="791940"/>
                  <a:pt x="3358504" y="797639"/>
                  <a:pt x="3363038" y="801570"/>
                </a:cubicBezTo>
                <a:cubicBezTo>
                  <a:pt x="3356649" y="805501"/>
                  <a:pt x="3355413" y="798583"/>
                  <a:pt x="3347377" y="802514"/>
                </a:cubicBezTo>
                <a:cubicBezTo>
                  <a:pt x="3351395" y="806994"/>
                  <a:pt x="3349128" y="811240"/>
                  <a:pt x="3345702" y="814974"/>
                </a:cubicBezTo>
                <a:lnTo>
                  <a:pt x="3343814" y="816797"/>
                </a:lnTo>
                <a:lnTo>
                  <a:pt x="3356475" y="835463"/>
                </a:lnTo>
                <a:cubicBezTo>
                  <a:pt x="3350913" y="842930"/>
                  <a:pt x="3343972" y="849336"/>
                  <a:pt x="3336062" y="854947"/>
                </a:cubicBezTo>
                <a:lnTo>
                  <a:pt x="3315432" y="866517"/>
                </a:lnTo>
                <a:lnTo>
                  <a:pt x="3313582" y="870121"/>
                </a:lnTo>
                <a:cubicBezTo>
                  <a:pt x="3308431" y="874051"/>
                  <a:pt x="3307194" y="870121"/>
                  <a:pt x="3301836" y="873107"/>
                </a:cubicBezTo>
                <a:cubicBezTo>
                  <a:pt x="3303279" y="878138"/>
                  <a:pt x="3303279" y="883956"/>
                  <a:pt x="3301836" y="888043"/>
                </a:cubicBezTo>
                <a:cubicBezTo>
                  <a:pt x="3298642" y="888043"/>
                  <a:pt x="3297046" y="885567"/>
                  <a:pt x="3295577" y="882836"/>
                </a:cubicBezTo>
                <a:lnTo>
                  <a:pt x="3290477" y="876570"/>
                </a:lnTo>
                <a:lnTo>
                  <a:pt x="3289251" y="877008"/>
                </a:lnTo>
                <a:lnTo>
                  <a:pt x="3285969" y="880576"/>
                </a:lnTo>
                <a:cubicBezTo>
                  <a:pt x="3285352" y="882305"/>
                  <a:pt x="3285042" y="884035"/>
                  <a:pt x="3283703" y="885057"/>
                </a:cubicBezTo>
                <a:cubicBezTo>
                  <a:pt x="3292770" y="886000"/>
                  <a:pt x="3284939" y="894018"/>
                  <a:pt x="3282467" y="895905"/>
                </a:cubicBezTo>
                <a:cubicBezTo>
                  <a:pt x="3291534" y="897006"/>
                  <a:pt x="3283703" y="902980"/>
                  <a:pt x="3287618" y="903923"/>
                </a:cubicBezTo>
                <a:cubicBezTo>
                  <a:pt x="3288854" y="903923"/>
                  <a:pt x="3290091" y="902980"/>
                  <a:pt x="3291534" y="904867"/>
                </a:cubicBezTo>
                <a:cubicBezTo>
                  <a:pt x="3283703" y="909898"/>
                  <a:pt x="3284939" y="899993"/>
                  <a:pt x="3278551" y="903923"/>
                </a:cubicBezTo>
                <a:cubicBezTo>
                  <a:pt x="3269278" y="910841"/>
                  <a:pt x="3283703" y="921847"/>
                  <a:pt x="3274636" y="925777"/>
                </a:cubicBezTo>
                <a:cubicBezTo>
                  <a:pt x="3274636" y="920746"/>
                  <a:pt x="3271958" y="918859"/>
                  <a:pt x="3268041" y="919803"/>
                </a:cubicBezTo>
                <a:cubicBezTo>
                  <a:pt x="3253823" y="928765"/>
                  <a:pt x="3266805" y="940714"/>
                  <a:pt x="3268041" y="944645"/>
                </a:cubicBezTo>
                <a:cubicBezTo>
                  <a:pt x="3265569" y="940714"/>
                  <a:pt x="3260211" y="943701"/>
                  <a:pt x="3256296" y="942600"/>
                </a:cubicBezTo>
                <a:cubicBezTo>
                  <a:pt x="3255060" y="937726"/>
                  <a:pt x="3260211" y="927664"/>
                  <a:pt x="3255060" y="926720"/>
                </a:cubicBezTo>
                <a:cubicBezTo>
                  <a:pt x="3240635" y="938670"/>
                  <a:pt x="3253823" y="942600"/>
                  <a:pt x="3249908" y="954550"/>
                </a:cubicBezTo>
                <a:cubicBezTo>
                  <a:pt x="3245992" y="956593"/>
                  <a:pt x="3244550" y="954550"/>
                  <a:pt x="3240635" y="956593"/>
                </a:cubicBezTo>
                <a:cubicBezTo>
                  <a:pt x="3242077" y="960524"/>
                  <a:pt x="3242077" y="963511"/>
                  <a:pt x="3243314" y="967442"/>
                </a:cubicBezTo>
                <a:cubicBezTo>
                  <a:pt x="3247229" y="966499"/>
                  <a:pt x="3248465" y="955493"/>
                  <a:pt x="3253823" y="959581"/>
                </a:cubicBezTo>
                <a:cubicBezTo>
                  <a:pt x="3249908" y="964455"/>
                  <a:pt x="3243314" y="969486"/>
                  <a:pt x="3242077" y="975461"/>
                </a:cubicBezTo>
                <a:cubicBezTo>
                  <a:pt x="3257738" y="961467"/>
                  <a:pt x="3268041" y="945588"/>
                  <a:pt x="3281024" y="930651"/>
                </a:cubicBezTo>
                <a:cubicBezTo>
                  <a:pt x="3282467" y="947632"/>
                  <a:pt x="3243314" y="967442"/>
                  <a:pt x="3255060" y="977504"/>
                </a:cubicBezTo>
                <a:lnTo>
                  <a:pt x="3254174" y="980515"/>
                </a:lnTo>
                <a:lnTo>
                  <a:pt x="3257393" y="983316"/>
                </a:lnTo>
                <a:cubicBezTo>
                  <a:pt x="3257936" y="988300"/>
                  <a:pt x="3249239" y="996382"/>
                  <a:pt x="3249239" y="1001611"/>
                </a:cubicBezTo>
                <a:cubicBezTo>
                  <a:pt x="3243442" y="998601"/>
                  <a:pt x="3245374" y="994599"/>
                  <a:pt x="3248273" y="990597"/>
                </a:cubicBezTo>
                <a:lnTo>
                  <a:pt x="3252115" y="985257"/>
                </a:lnTo>
                <a:lnTo>
                  <a:pt x="3247229" y="990397"/>
                </a:lnTo>
                <a:cubicBezTo>
                  <a:pt x="3247229" y="988352"/>
                  <a:pt x="3247229" y="984422"/>
                  <a:pt x="3244550" y="985366"/>
                </a:cubicBezTo>
                <a:cubicBezTo>
                  <a:pt x="3236720" y="993384"/>
                  <a:pt x="3225180" y="999201"/>
                  <a:pt x="3218585" y="1008163"/>
                </a:cubicBezTo>
                <a:cubicBezTo>
                  <a:pt x="3217349" y="1005176"/>
                  <a:pt x="3217349" y="1002188"/>
                  <a:pt x="3214670" y="1003289"/>
                </a:cubicBezTo>
                <a:cubicBezTo>
                  <a:pt x="3215907" y="1008163"/>
                  <a:pt x="3205603" y="1009263"/>
                  <a:pt x="3206840" y="1015238"/>
                </a:cubicBezTo>
                <a:cubicBezTo>
                  <a:pt x="3210755" y="1013194"/>
                  <a:pt x="3211992" y="1009263"/>
                  <a:pt x="3218585" y="1008163"/>
                </a:cubicBezTo>
                <a:cubicBezTo>
                  <a:pt x="3217349" y="1019168"/>
                  <a:pt x="3211992" y="1023099"/>
                  <a:pt x="3215907" y="1034105"/>
                </a:cubicBezTo>
                <a:cubicBezTo>
                  <a:pt x="3205603" y="1038979"/>
                  <a:pt x="3217349" y="1039922"/>
                  <a:pt x="3200246" y="1049041"/>
                </a:cubicBezTo>
                <a:cubicBezTo>
                  <a:pt x="3201688" y="1061934"/>
                  <a:pt x="3176961" y="1076713"/>
                  <a:pt x="3163978" y="1088662"/>
                </a:cubicBezTo>
                <a:cubicBezTo>
                  <a:pt x="3163978" y="1086775"/>
                  <a:pt x="3163978" y="1082687"/>
                  <a:pt x="3161300" y="1082687"/>
                </a:cubicBezTo>
                <a:cubicBezTo>
                  <a:pt x="3161300" y="1084731"/>
                  <a:pt x="3160063" y="1085675"/>
                  <a:pt x="3156148" y="1086775"/>
                </a:cubicBezTo>
                <a:cubicBezTo>
                  <a:pt x="3162536" y="1088662"/>
                  <a:pt x="3161300" y="1096680"/>
                  <a:pt x="3150790" y="1099668"/>
                </a:cubicBezTo>
                <a:cubicBezTo>
                  <a:pt x="3148317" y="1100611"/>
                  <a:pt x="3148317" y="1096680"/>
                  <a:pt x="3145639" y="1096680"/>
                </a:cubicBezTo>
                <a:cubicBezTo>
                  <a:pt x="3145639" y="1101554"/>
                  <a:pt x="3149554" y="1099668"/>
                  <a:pt x="3145639" y="1104541"/>
                </a:cubicBezTo>
                <a:cubicBezTo>
                  <a:pt x="3140488" y="1106586"/>
                  <a:pt x="3140488" y="1102655"/>
                  <a:pt x="3139045" y="1102655"/>
                </a:cubicBezTo>
                <a:cubicBezTo>
                  <a:pt x="3137808" y="1106586"/>
                  <a:pt x="3141724" y="1105642"/>
                  <a:pt x="3140488" y="1109572"/>
                </a:cubicBezTo>
                <a:lnTo>
                  <a:pt x="3137437" y="1112213"/>
                </a:lnTo>
                <a:lnTo>
                  <a:pt x="3135833" y="1118878"/>
                </a:lnTo>
                <a:cubicBezTo>
                  <a:pt x="3135005" y="1122840"/>
                  <a:pt x="3134529" y="1127006"/>
                  <a:pt x="3135198" y="1131486"/>
                </a:cubicBezTo>
                <a:cubicBezTo>
                  <a:pt x="3133756" y="1136517"/>
                  <a:pt x="3124691" y="1129443"/>
                  <a:pt x="3122013" y="1133530"/>
                </a:cubicBezTo>
                <a:cubicBezTo>
                  <a:pt x="3125927" y="1142334"/>
                  <a:pt x="3124691" y="1149408"/>
                  <a:pt x="3122013" y="1157269"/>
                </a:cubicBezTo>
                <a:cubicBezTo>
                  <a:pt x="3118099" y="1165286"/>
                  <a:pt x="3111711" y="1172204"/>
                  <a:pt x="3105119" y="1179121"/>
                </a:cubicBezTo>
                <a:cubicBezTo>
                  <a:pt x="3093375" y="1193112"/>
                  <a:pt x="3076480" y="1203959"/>
                  <a:pt x="3072565" y="1218894"/>
                </a:cubicBezTo>
                <a:cubicBezTo>
                  <a:pt x="3063500" y="1223925"/>
                  <a:pt x="3052992" y="1228798"/>
                  <a:pt x="3043927" y="1235715"/>
                </a:cubicBezTo>
                <a:lnTo>
                  <a:pt x="3033756" y="1244025"/>
                </a:lnTo>
                <a:lnTo>
                  <a:pt x="3034043" y="1244228"/>
                </a:lnTo>
                <a:cubicBezTo>
                  <a:pt x="3035005" y="1246525"/>
                  <a:pt x="3034641" y="1249203"/>
                  <a:pt x="3032664" y="1251192"/>
                </a:cubicBezTo>
                <a:lnTo>
                  <a:pt x="3029179" y="1247765"/>
                </a:lnTo>
                <a:lnTo>
                  <a:pt x="3023637" y="1252293"/>
                </a:lnTo>
                <a:lnTo>
                  <a:pt x="3024093" y="1256038"/>
                </a:lnTo>
                <a:cubicBezTo>
                  <a:pt x="3025349" y="1259942"/>
                  <a:pt x="3027086" y="1262248"/>
                  <a:pt x="3023709" y="1260705"/>
                </a:cubicBezTo>
                <a:lnTo>
                  <a:pt x="3017208" y="1256993"/>
                </a:lnTo>
                <a:lnTo>
                  <a:pt x="2995432" y="1271284"/>
                </a:lnTo>
                <a:cubicBezTo>
                  <a:pt x="2986960" y="1276000"/>
                  <a:pt x="2978204" y="1279498"/>
                  <a:pt x="2968520" y="1280520"/>
                </a:cubicBezTo>
                <a:cubicBezTo>
                  <a:pt x="2960691" y="1285393"/>
                  <a:pt x="2951419" y="1289480"/>
                  <a:pt x="2942354" y="1294354"/>
                </a:cubicBezTo>
                <a:cubicBezTo>
                  <a:pt x="2934525" y="1298442"/>
                  <a:pt x="2925460" y="1302372"/>
                  <a:pt x="2916394" y="1306302"/>
                </a:cubicBezTo>
                <a:cubicBezTo>
                  <a:pt x="2907329" y="1310232"/>
                  <a:pt x="2898058" y="1315262"/>
                  <a:pt x="2890434" y="1318250"/>
                </a:cubicBezTo>
                <a:cubicBezTo>
                  <a:pt x="2881163" y="1322180"/>
                  <a:pt x="2872097" y="1325167"/>
                  <a:pt x="2864268" y="1329097"/>
                </a:cubicBezTo>
                <a:cubicBezTo>
                  <a:pt x="2859117" y="1331141"/>
                  <a:pt x="2853967" y="1333971"/>
                  <a:pt x="2848611" y="1337901"/>
                </a:cubicBezTo>
                <a:cubicBezTo>
                  <a:pt x="2843459" y="1341988"/>
                  <a:pt x="2839545" y="1344818"/>
                  <a:pt x="2835630" y="1348905"/>
                </a:cubicBezTo>
                <a:cubicBezTo>
                  <a:pt x="2826565" y="1356766"/>
                  <a:pt x="2817499" y="1364783"/>
                  <a:pt x="2806992" y="1370757"/>
                </a:cubicBezTo>
                <a:cubicBezTo>
                  <a:pt x="2800399" y="1373744"/>
                  <a:pt x="2783504" y="1372644"/>
                  <a:pt x="2775675" y="1374687"/>
                </a:cubicBezTo>
                <a:cubicBezTo>
                  <a:pt x="2769288" y="1376731"/>
                  <a:pt x="2763931" y="1382705"/>
                  <a:pt x="2758781" y="1382705"/>
                </a:cubicBezTo>
                <a:cubicBezTo>
                  <a:pt x="2752291" y="1382705"/>
                  <a:pt x="2746612" y="1380464"/>
                  <a:pt x="2741255" y="1377198"/>
                </a:cubicBezTo>
                <a:lnTo>
                  <a:pt x="2726680" y="1366292"/>
                </a:lnTo>
                <a:lnTo>
                  <a:pt x="2726484" y="1366338"/>
                </a:lnTo>
                <a:cubicBezTo>
                  <a:pt x="2724564" y="1366428"/>
                  <a:pt x="2723087" y="1365989"/>
                  <a:pt x="2722420" y="1364739"/>
                </a:cubicBezTo>
                <a:lnTo>
                  <a:pt x="2723847" y="1364377"/>
                </a:lnTo>
                <a:lnTo>
                  <a:pt x="2713594" y="1357862"/>
                </a:lnTo>
                <a:lnTo>
                  <a:pt x="2701980" y="1357889"/>
                </a:lnTo>
                <a:cubicBezTo>
                  <a:pt x="2694149" y="1359008"/>
                  <a:pt x="2688586" y="1361761"/>
                  <a:pt x="2689822" y="1367735"/>
                </a:cubicBezTo>
                <a:cubicBezTo>
                  <a:pt x="2681992" y="1364747"/>
                  <a:pt x="2680755" y="1373709"/>
                  <a:pt x="2672924" y="1370722"/>
                </a:cubicBezTo>
                <a:cubicBezTo>
                  <a:pt x="2672924" y="1366948"/>
                  <a:pt x="2679531" y="1366005"/>
                  <a:pt x="2680662" y="1364973"/>
                </a:cubicBezTo>
                <a:lnTo>
                  <a:pt x="2679780" y="1364071"/>
                </a:lnTo>
                <a:lnTo>
                  <a:pt x="2675129" y="1364370"/>
                </a:lnTo>
                <a:lnTo>
                  <a:pt x="2670065" y="1365022"/>
                </a:lnTo>
                <a:lnTo>
                  <a:pt x="2662970" y="1370455"/>
                </a:lnTo>
                <a:lnTo>
                  <a:pt x="2660483" y="1368953"/>
                </a:lnTo>
                <a:lnTo>
                  <a:pt x="2662625" y="1365173"/>
                </a:lnTo>
                <a:lnTo>
                  <a:pt x="2658289" y="1365452"/>
                </a:lnTo>
                <a:lnTo>
                  <a:pt x="2654219" y="1365010"/>
                </a:lnTo>
                <a:lnTo>
                  <a:pt x="2648763" y="1372058"/>
                </a:lnTo>
                <a:cubicBezTo>
                  <a:pt x="2642427" y="1378151"/>
                  <a:pt x="2633979" y="1383143"/>
                  <a:pt x="2626148" y="1385658"/>
                </a:cubicBezTo>
                <a:cubicBezTo>
                  <a:pt x="2632535" y="1379684"/>
                  <a:pt x="2618317" y="1381571"/>
                  <a:pt x="2616875" y="1382671"/>
                </a:cubicBezTo>
                <a:cubicBezTo>
                  <a:pt x="2615638" y="1390532"/>
                  <a:pt x="2596062" y="1388646"/>
                  <a:pt x="2586995" y="1390532"/>
                </a:cubicBezTo>
                <a:cubicBezTo>
                  <a:pt x="2588437" y="1388646"/>
                  <a:pt x="2593589" y="1384558"/>
                  <a:pt x="2590910" y="1383614"/>
                </a:cubicBezTo>
                <a:cubicBezTo>
                  <a:pt x="2580401" y="1382671"/>
                  <a:pt x="2581844" y="1395563"/>
                  <a:pt x="2574013" y="1395563"/>
                </a:cubicBezTo>
                <a:cubicBezTo>
                  <a:pt x="2575249" y="1386602"/>
                  <a:pt x="2564946" y="1397607"/>
                  <a:pt x="2561031" y="1397607"/>
                </a:cubicBezTo>
                <a:cubicBezTo>
                  <a:pt x="2564946" y="1393519"/>
                  <a:pt x="2553200" y="1393519"/>
                  <a:pt x="2550522" y="1391633"/>
                </a:cubicBezTo>
                <a:cubicBezTo>
                  <a:pt x="2548049" y="1394620"/>
                  <a:pt x="2544133" y="1393519"/>
                  <a:pt x="2541455" y="1396507"/>
                </a:cubicBezTo>
                <a:cubicBezTo>
                  <a:pt x="2546607" y="1394620"/>
                  <a:pt x="2553200" y="1394620"/>
                  <a:pt x="2550522" y="1399494"/>
                </a:cubicBezTo>
                <a:cubicBezTo>
                  <a:pt x="2541455" y="1398551"/>
                  <a:pt x="2530945" y="1399494"/>
                  <a:pt x="2534860" y="1406412"/>
                </a:cubicBezTo>
                <a:cubicBezTo>
                  <a:pt x="2525793" y="1406412"/>
                  <a:pt x="2537540" y="1401538"/>
                  <a:pt x="2529709" y="1400438"/>
                </a:cubicBezTo>
                <a:cubicBezTo>
                  <a:pt x="2523114" y="1409399"/>
                  <a:pt x="2523114" y="1402481"/>
                  <a:pt x="2516726" y="1404525"/>
                </a:cubicBezTo>
                <a:cubicBezTo>
                  <a:pt x="2512811" y="1408456"/>
                  <a:pt x="2515490" y="1410499"/>
                  <a:pt x="2516726" y="1412387"/>
                </a:cubicBezTo>
                <a:cubicBezTo>
                  <a:pt x="2516726" y="1406412"/>
                  <a:pt x="2532388" y="1410499"/>
                  <a:pt x="2538776" y="1408456"/>
                </a:cubicBezTo>
                <a:cubicBezTo>
                  <a:pt x="2533624" y="1411443"/>
                  <a:pt x="2540218" y="1412387"/>
                  <a:pt x="2537540" y="1416317"/>
                </a:cubicBezTo>
                <a:cubicBezTo>
                  <a:pt x="2534243" y="1416317"/>
                  <a:pt x="2531306" y="1416317"/>
                  <a:pt x="2528550" y="1416828"/>
                </a:cubicBezTo>
                <a:lnTo>
                  <a:pt x="2520754" y="1420354"/>
                </a:lnTo>
                <a:lnTo>
                  <a:pt x="2538653" y="1419102"/>
                </a:lnTo>
                <a:cubicBezTo>
                  <a:pt x="2542569" y="1422090"/>
                  <a:pt x="2542569" y="1427121"/>
                  <a:pt x="2540096" y="1431051"/>
                </a:cubicBezTo>
                <a:cubicBezTo>
                  <a:pt x="2540096" y="1431051"/>
                  <a:pt x="2540096" y="1431051"/>
                  <a:pt x="2546484" y="1430107"/>
                </a:cubicBezTo>
                <a:cubicBezTo>
                  <a:pt x="2547927" y="1423190"/>
                  <a:pt x="2542569" y="1423190"/>
                  <a:pt x="2541333" y="1419102"/>
                </a:cubicBezTo>
                <a:cubicBezTo>
                  <a:pt x="2542569" y="1413285"/>
                  <a:pt x="2546484" y="1424133"/>
                  <a:pt x="2549164" y="1425076"/>
                </a:cubicBezTo>
                <a:cubicBezTo>
                  <a:pt x="2555552" y="1423190"/>
                  <a:pt x="2560911" y="1421146"/>
                  <a:pt x="2567299" y="1419102"/>
                </a:cubicBezTo>
                <a:cubicBezTo>
                  <a:pt x="2563384" y="1433095"/>
                  <a:pt x="2579046" y="1421146"/>
                  <a:pt x="2588320" y="1425076"/>
                </a:cubicBezTo>
                <a:cubicBezTo>
                  <a:pt x="2584198" y="1434038"/>
                  <a:pt x="2573894" y="1425076"/>
                  <a:pt x="2571214" y="1437025"/>
                </a:cubicBezTo>
                <a:cubicBezTo>
                  <a:pt x="2558231" y="1435139"/>
                  <a:pt x="2553079" y="1435139"/>
                  <a:pt x="2542569" y="1442057"/>
                </a:cubicBezTo>
                <a:cubicBezTo>
                  <a:pt x="2546484" y="1448974"/>
                  <a:pt x="2551843" y="1438126"/>
                  <a:pt x="2554315" y="1443000"/>
                </a:cubicBezTo>
                <a:cubicBezTo>
                  <a:pt x="2551843" y="1463910"/>
                  <a:pt x="2560911" y="1456992"/>
                  <a:pt x="2575130" y="1443000"/>
                </a:cubicBezTo>
                <a:cubicBezTo>
                  <a:pt x="2566062" y="1451962"/>
                  <a:pt x="2572658" y="1461866"/>
                  <a:pt x="2579046" y="1467841"/>
                </a:cubicBezTo>
                <a:cubicBezTo>
                  <a:pt x="2569978" y="1470828"/>
                  <a:pt x="2569978" y="1463910"/>
                  <a:pt x="2566062" y="1459980"/>
                </a:cubicBezTo>
                <a:cubicBezTo>
                  <a:pt x="2562147" y="1464854"/>
                  <a:pt x="2560911" y="1470828"/>
                  <a:pt x="2554315" y="1472871"/>
                </a:cubicBezTo>
                <a:cubicBezTo>
                  <a:pt x="2549164" y="1472871"/>
                  <a:pt x="2553079" y="1462967"/>
                  <a:pt x="2546484" y="1464854"/>
                </a:cubicBezTo>
                <a:cubicBezTo>
                  <a:pt x="2540096" y="1468941"/>
                  <a:pt x="2542569" y="1485764"/>
                  <a:pt x="2529586" y="1481833"/>
                </a:cubicBezTo>
                <a:cubicBezTo>
                  <a:pt x="2529586" y="1478846"/>
                  <a:pt x="2537417" y="1480733"/>
                  <a:pt x="2536180" y="1476802"/>
                </a:cubicBezTo>
                <a:cubicBezTo>
                  <a:pt x="2525669" y="1472871"/>
                  <a:pt x="2525669" y="1479790"/>
                  <a:pt x="2526906" y="1486707"/>
                </a:cubicBezTo>
                <a:cubicBezTo>
                  <a:pt x="2517839" y="1487651"/>
                  <a:pt x="2520518" y="1483720"/>
                  <a:pt x="2521754" y="1478846"/>
                </a:cubicBezTo>
                <a:cubicBezTo>
                  <a:pt x="2519075" y="1484821"/>
                  <a:pt x="2508771" y="1484821"/>
                  <a:pt x="2506091" y="1490637"/>
                </a:cubicBezTo>
                <a:cubicBezTo>
                  <a:pt x="2507534" y="1493625"/>
                  <a:pt x="2512686" y="1492682"/>
                  <a:pt x="2516602" y="1492682"/>
                </a:cubicBezTo>
                <a:cubicBezTo>
                  <a:pt x="2513923" y="1495669"/>
                  <a:pt x="2512686" y="1499599"/>
                  <a:pt x="2506091" y="1500700"/>
                </a:cubicBezTo>
                <a:lnTo>
                  <a:pt x="2509488" y="1504427"/>
                </a:lnTo>
                <a:lnTo>
                  <a:pt x="2515630" y="1503011"/>
                </a:lnTo>
                <a:lnTo>
                  <a:pt x="2515649" y="1502953"/>
                </a:lnTo>
                <a:cubicBezTo>
                  <a:pt x="2516307" y="1502060"/>
                  <a:pt x="2516966" y="1501305"/>
                  <a:pt x="2516966" y="1499796"/>
                </a:cubicBezTo>
                <a:cubicBezTo>
                  <a:pt x="2520109" y="1499319"/>
                  <a:pt x="2522036" y="1500073"/>
                  <a:pt x="2524139" y="1500709"/>
                </a:cubicBezTo>
                <a:lnTo>
                  <a:pt x="2524361" y="1500715"/>
                </a:lnTo>
                <a:lnTo>
                  <a:pt x="2534335" y="1495268"/>
                </a:lnTo>
                <a:lnTo>
                  <a:pt x="2534081" y="1494644"/>
                </a:lnTo>
                <a:cubicBezTo>
                  <a:pt x="2533184" y="1493440"/>
                  <a:pt x="2531962" y="1492944"/>
                  <a:pt x="2530006" y="1493683"/>
                </a:cubicBezTo>
                <a:cubicBezTo>
                  <a:pt x="2523418" y="1489796"/>
                  <a:pt x="2535152" y="1484977"/>
                  <a:pt x="2540505" y="1487775"/>
                </a:cubicBezTo>
                <a:lnTo>
                  <a:pt x="2541542" y="1490618"/>
                </a:lnTo>
                <a:lnTo>
                  <a:pt x="2550176" y="1484227"/>
                </a:lnTo>
                <a:lnTo>
                  <a:pt x="2549206" y="1480725"/>
                </a:lnTo>
                <a:cubicBezTo>
                  <a:pt x="2540285" y="1477771"/>
                  <a:pt x="2549206" y="1490519"/>
                  <a:pt x="2540285" y="1487565"/>
                </a:cubicBezTo>
                <a:cubicBezTo>
                  <a:pt x="2538865" y="1478859"/>
                  <a:pt x="2538865" y="1478859"/>
                  <a:pt x="2538865" y="1478859"/>
                </a:cubicBezTo>
                <a:cubicBezTo>
                  <a:pt x="2545353" y="1479792"/>
                  <a:pt x="2545353" y="1473885"/>
                  <a:pt x="2551842" y="1475906"/>
                </a:cubicBezTo>
                <a:lnTo>
                  <a:pt x="2554282" y="1481090"/>
                </a:lnTo>
                <a:lnTo>
                  <a:pt x="2562227" y="1474986"/>
                </a:lnTo>
                <a:cubicBezTo>
                  <a:pt x="2566142" y="1479074"/>
                  <a:pt x="2571293" y="1482061"/>
                  <a:pt x="2575207" y="1485048"/>
                </a:cubicBezTo>
                <a:cubicBezTo>
                  <a:pt x="2573250" y="1489017"/>
                  <a:pt x="2570482" y="1492240"/>
                  <a:pt x="2567227" y="1494949"/>
                </a:cubicBezTo>
                <a:lnTo>
                  <a:pt x="2563179" y="1497483"/>
                </a:lnTo>
                <a:lnTo>
                  <a:pt x="2563197" y="1497515"/>
                </a:lnTo>
                <a:lnTo>
                  <a:pt x="2563104" y="1497530"/>
                </a:lnTo>
                <a:lnTo>
                  <a:pt x="2556329" y="1501771"/>
                </a:lnTo>
                <a:lnTo>
                  <a:pt x="2545336" y="1506606"/>
                </a:lnTo>
                <a:lnTo>
                  <a:pt x="2544417" y="1510472"/>
                </a:lnTo>
                <a:lnTo>
                  <a:pt x="2541551" y="1508271"/>
                </a:lnTo>
                <a:lnTo>
                  <a:pt x="2533589" y="1511773"/>
                </a:lnTo>
                <a:cubicBezTo>
                  <a:pt x="2527717" y="1514760"/>
                  <a:pt x="2522206" y="1518494"/>
                  <a:pt x="2514892" y="1520990"/>
                </a:cubicBezTo>
                <a:lnTo>
                  <a:pt x="2510951" y="1521793"/>
                </a:lnTo>
                <a:lnTo>
                  <a:pt x="2511450" y="1522554"/>
                </a:lnTo>
                <a:cubicBezTo>
                  <a:pt x="2516602" y="1521453"/>
                  <a:pt x="2520518" y="1520510"/>
                  <a:pt x="2522990" y="1517523"/>
                </a:cubicBezTo>
                <a:cubicBezTo>
                  <a:pt x="2526906" y="1517523"/>
                  <a:pt x="2522990" y="1527427"/>
                  <a:pt x="2533500" y="1522554"/>
                </a:cubicBezTo>
                <a:cubicBezTo>
                  <a:pt x="2530204" y="1526955"/>
                  <a:pt x="2530204" y="1529904"/>
                  <a:pt x="2530384" y="1533009"/>
                </a:cubicBezTo>
                <a:lnTo>
                  <a:pt x="2529824" y="1536143"/>
                </a:lnTo>
                <a:lnTo>
                  <a:pt x="2534280" y="1536573"/>
                </a:lnTo>
                <a:lnTo>
                  <a:pt x="2536786" y="1536271"/>
                </a:lnTo>
                <a:lnTo>
                  <a:pt x="2536780" y="1536267"/>
                </a:lnTo>
                <a:cubicBezTo>
                  <a:pt x="2538329" y="1532525"/>
                  <a:pt x="2551425" y="1525043"/>
                  <a:pt x="2541603" y="1517561"/>
                </a:cubicBezTo>
                <a:cubicBezTo>
                  <a:pt x="2544928" y="1521599"/>
                  <a:pt x="2548515" y="1525083"/>
                  <a:pt x="2551606" y="1529061"/>
                </a:cubicBezTo>
                <a:lnTo>
                  <a:pt x="2555712" y="1537496"/>
                </a:lnTo>
                <a:lnTo>
                  <a:pt x="2561754" y="1538524"/>
                </a:lnTo>
                <a:lnTo>
                  <a:pt x="2565779" y="1526818"/>
                </a:lnTo>
                <a:cubicBezTo>
                  <a:pt x="2575989" y="1531664"/>
                  <a:pt x="2579869" y="1527755"/>
                  <a:pt x="2595387" y="1525880"/>
                </a:cubicBezTo>
                <a:cubicBezTo>
                  <a:pt x="2596817" y="1530726"/>
                  <a:pt x="2594162" y="1532758"/>
                  <a:pt x="2587832" y="1533696"/>
                </a:cubicBezTo>
                <a:cubicBezTo>
                  <a:pt x="2587832" y="1535729"/>
                  <a:pt x="2589057" y="1535729"/>
                  <a:pt x="2590283" y="1535729"/>
                </a:cubicBezTo>
                <a:cubicBezTo>
                  <a:pt x="2587015" y="1534712"/>
                  <a:pt x="2581553" y="1535923"/>
                  <a:pt x="2575938" y="1537526"/>
                </a:cubicBezTo>
                <a:lnTo>
                  <a:pt x="2568210" y="1539623"/>
                </a:lnTo>
                <a:lnTo>
                  <a:pt x="2572280" y="1540316"/>
                </a:lnTo>
                <a:cubicBezTo>
                  <a:pt x="2581343" y="1541416"/>
                  <a:pt x="2591642" y="1541416"/>
                  <a:pt x="2602146" y="1541416"/>
                </a:cubicBezTo>
                <a:cubicBezTo>
                  <a:pt x="2624184" y="1540316"/>
                  <a:pt x="2646429" y="1539373"/>
                  <a:pt x="2668467" y="1536386"/>
                </a:cubicBezTo>
                <a:cubicBezTo>
                  <a:pt x="2715428" y="1531356"/>
                  <a:pt x="2763419" y="1522554"/>
                  <a:pt x="2813058" y="1515481"/>
                </a:cubicBezTo>
                <a:cubicBezTo>
                  <a:pt x="2819442" y="1524440"/>
                  <a:pt x="2810380" y="1527427"/>
                  <a:pt x="2806467" y="1532457"/>
                </a:cubicBezTo>
                <a:cubicBezTo>
                  <a:pt x="2786900" y="1534343"/>
                  <a:pt x="2771246" y="1540316"/>
                  <a:pt x="2755798" y="1547389"/>
                </a:cubicBezTo>
                <a:lnTo>
                  <a:pt x="2744330" y="1551152"/>
                </a:lnTo>
                <a:lnTo>
                  <a:pt x="2746269" y="1553312"/>
                </a:lnTo>
                <a:cubicBezTo>
                  <a:pt x="2746702" y="1555444"/>
                  <a:pt x="2746171" y="1557783"/>
                  <a:pt x="2744732" y="1559272"/>
                </a:cubicBezTo>
                <a:cubicBezTo>
                  <a:pt x="2739684" y="1560384"/>
                  <a:pt x="2739684" y="1554347"/>
                  <a:pt x="2732011" y="1557365"/>
                </a:cubicBezTo>
                <a:lnTo>
                  <a:pt x="2732158" y="1555145"/>
                </a:lnTo>
                <a:lnTo>
                  <a:pt x="2731365" y="1555406"/>
                </a:lnTo>
                <a:lnTo>
                  <a:pt x="2718493" y="1556783"/>
                </a:lnTo>
                <a:lnTo>
                  <a:pt x="2729482" y="1560017"/>
                </a:lnTo>
                <a:cubicBezTo>
                  <a:pt x="2711027" y="1563949"/>
                  <a:pt x="2684901" y="1581878"/>
                  <a:pt x="2669142" y="1573857"/>
                </a:cubicBezTo>
                <a:cubicBezTo>
                  <a:pt x="2668520" y="1572363"/>
                  <a:pt x="2668832" y="1571380"/>
                  <a:pt x="2669298" y="1570396"/>
                </a:cubicBezTo>
                <a:lnTo>
                  <a:pt x="2669955" y="1568309"/>
                </a:lnTo>
                <a:lnTo>
                  <a:pt x="2668796" y="1568530"/>
                </a:lnTo>
                <a:cubicBezTo>
                  <a:pt x="2631123" y="1572863"/>
                  <a:pt x="2590149" y="1562165"/>
                  <a:pt x="2557863" y="1562165"/>
                </a:cubicBezTo>
                <a:cubicBezTo>
                  <a:pt x="2549417" y="1557764"/>
                  <a:pt x="2537368" y="1555052"/>
                  <a:pt x="2524006" y="1553814"/>
                </a:cubicBezTo>
                <a:lnTo>
                  <a:pt x="2507334" y="1554010"/>
                </a:lnTo>
                <a:lnTo>
                  <a:pt x="2503660" y="1555182"/>
                </a:lnTo>
                <a:cubicBezTo>
                  <a:pt x="2501493" y="1556258"/>
                  <a:pt x="2499600" y="1557811"/>
                  <a:pt x="2498260" y="1560287"/>
                </a:cubicBezTo>
                <a:lnTo>
                  <a:pt x="2492454" y="1554186"/>
                </a:lnTo>
                <a:lnTo>
                  <a:pt x="2484004" y="1554285"/>
                </a:lnTo>
                <a:lnTo>
                  <a:pt x="2485277" y="1561230"/>
                </a:lnTo>
                <a:cubicBezTo>
                  <a:pt x="2472294" y="1565160"/>
                  <a:pt x="2463226" y="1556356"/>
                  <a:pt x="2455394" y="1570192"/>
                </a:cubicBezTo>
                <a:cubicBezTo>
                  <a:pt x="2452716" y="1568148"/>
                  <a:pt x="2450243" y="1566261"/>
                  <a:pt x="2448799" y="1563274"/>
                </a:cubicBezTo>
                <a:cubicBezTo>
                  <a:pt x="2420154" y="1567204"/>
                  <a:pt x="2400782" y="1571135"/>
                  <a:pt x="2379761" y="1574122"/>
                </a:cubicBezTo>
                <a:cubicBezTo>
                  <a:pt x="2360389" y="1576165"/>
                  <a:pt x="2339368" y="1578210"/>
                  <a:pt x="2312165" y="1577109"/>
                </a:cubicBezTo>
                <a:cubicBezTo>
                  <a:pt x="2313402" y="1573179"/>
                  <a:pt x="2312165" y="1569248"/>
                  <a:pt x="2308249" y="1568148"/>
                </a:cubicBezTo>
                <a:cubicBezTo>
                  <a:pt x="2300418" y="1571135"/>
                  <a:pt x="2312165" y="1576165"/>
                  <a:pt x="2309486" y="1582140"/>
                </a:cubicBezTo>
                <a:cubicBezTo>
                  <a:pt x="2265178" y="1575223"/>
                  <a:pt x="2230143" y="1582140"/>
                  <a:pt x="2185835" y="1581197"/>
                </a:cubicBezTo>
                <a:cubicBezTo>
                  <a:pt x="2184392" y="1585127"/>
                  <a:pt x="2185835" y="1587014"/>
                  <a:pt x="2189750" y="1588115"/>
                </a:cubicBezTo>
                <a:cubicBezTo>
                  <a:pt x="2185835" y="1591102"/>
                  <a:pt x="2184392" y="1589058"/>
                  <a:pt x="2175324" y="1590001"/>
                </a:cubicBezTo>
                <a:cubicBezTo>
                  <a:pt x="2180477" y="1583084"/>
                  <a:pt x="2179240" y="1583084"/>
                  <a:pt x="2172851" y="1580096"/>
                </a:cubicBezTo>
                <a:cubicBezTo>
                  <a:pt x="2168936" y="1581197"/>
                  <a:pt x="2168936" y="1586071"/>
                  <a:pt x="2167493" y="1589058"/>
                </a:cubicBezTo>
                <a:cubicBezTo>
                  <a:pt x="2163577" y="1588115"/>
                  <a:pt x="2162340" y="1585127"/>
                  <a:pt x="2165020" y="1580096"/>
                </a:cubicBezTo>
                <a:cubicBezTo>
                  <a:pt x="2165020" y="1580096"/>
                  <a:pt x="2165020" y="1580096"/>
                  <a:pt x="2128543" y="1577109"/>
                </a:cubicBezTo>
                <a:cubicBezTo>
                  <a:pt x="2128543" y="1586071"/>
                  <a:pt x="2136374" y="1581197"/>
                  <a:pt x="2138847" y="1587014"/>
                </a:cubicBezTo>
                <a:cubicBezTo>
                  <a:pt x="2128543" y="1595032"/>
                  <a:pt x="2127101" y="1590001"/>
                  <a:pt x="2125864" y="1583084"/>
                </a:cubicBezTo>
                <a:cubicBezTo>
                  <a:pt x="2123184" y="1577109"/>
                  <a:pt x="2120712" y="1570192"/>
                  <a:pt x="2108965" y="1574122"/>
                </a:cubicBezTo>
                <a:cubicBezTo>
                  <a:pt x="2106286" y="1582140"/>
                  <a:pt x="2116796" y="1580096"/>
                  <a:pt x="2119475" y="1584184"/>
                </a:cubicBezTo>
                <a:cubicBezTo>
                  <a:pt x="2117517" y="1585914"/>
                  <a:pt x="2116448" y="1587328"/>
                  <a:pt x="2115908" y="1588618"/>
                </a:cubicBezTo>
                <a:lnTo>
                  <a:pt x="2115735" y="1590211"/>
                </a:lnTo>
                <a:lnTo>
                  <a:pt x="2126060" y="1593207"/>
                </a:lnTo>
                <a:cubicBezTo>
                  <a:pt x="2123485" y="1595447"/>
                  <a:pt x="2121309" y="1596449"/>
                  <a:pt x="2119371" y="1596676"/>
                </a:cubicBezTo>
                <a:lnTo>
                  <a:pt x="2115527" y="1595807"/>
                </a:lnTo>
                <a:lnTo>
                  <a:pt x="2115559" y="1601950"/>
                </a:lnTo>
                <a:cubicBezTo>
                  <a:pt x="2118032" y="1600063"/>
                  <a:pt x="2121948" y="1601007"/>
                  <a:pt x="2123184" y="1598020"/>
                </a:cubicBezTo>
                <a:cubicBezTo>
                  <a:pt x="2123184" y="1601950"/>
                  <a:pt x="2121948" y="1602894"/>
                  <a:pt x="2121948" y="1603994"/>
                </a:cubicBezTo>
                <a:cubicBezTo>
                  <a:pt x="2121948" y="1603994"/>
                  <a:pt x="2121948" y="1603994"/>
                  <a:pt x="2131016" y="1602894"/>
                </a:cubicBezTo>
                <a:cubicBezTo>
                  <a:pt x="2124628" y="1611855"/>
                  <a:pt x="2111644" y="1605881"/>
                  <a:pt x="2103813" y="1610912"/>
                </a:cubicBezTo>
                <a:cubicBezTo>
                  <a:pt x="2101133" y="1609968"/>
                  <a:pt x="2105049" y="1603994"/>
                  <a:pt x="2101133" y="1603994"/>
                </a:cubicBezTo>
                <a:cubicBezTo>
                  <a:pt x="2081556" y="1610912"/>
                  <a:pt x="2052909" y="1610912"/>
                  <a:pt x="2036011" y="1601950"/>
                </a:cubicBezTo>
                <a:cubicBezTo>
                  <a:pt x="2036011" y="1592988"/>
                  <a:pt x="2043842" y="1604937"/>
                  <a:pt x="2047757" y="1598020"/>
                </a:cubicBezTo>
                <a:cubicBezTo>
                  <a:pt x="2046521" y="1594089"/>
                  <a:pt x="2041162" y="1594089"/>
                  <a:pt x="2041162" y="1588115"/>
                </a:cubicBezTo>
                <a:cubicBezTo>
                  <a:pt x="2032095" y="1594089"/>
                  <a:pt x="2029416" y="1590001"/>
                  <a:pt x="2016433" y="1590001"/>
                </a:cubicBezTo>
                <a:cubicBezTo>
                  <a:pt x="2020347" y="1592045"/>
                  <a:pt x="2032095" y="1597076"/>
                  <a:pt x="2017875" y="1597076"/>
                </a:cubicBezTo>
                <a:cubicBezTo>
                  <a:pt x="2017875" y="1601950"/>
                  <a:pt x="2023027" y="1601950"/>
                  <a:pt x="2020347" y="1608868"/>
                </a:cubicBezTo>
                <a:cubicBezTo>
                  <a:pt x="2016433" y="1605881"/>
                  <a:pt x="2013959" y="1602894"/>
                  <a:pt x="2011280" y="1598963"/>
                </a:cubicBezTo>
                <a:cubicBezTo>
                  <a:pt x="2006128" y="1600063"/>
                  <a:pt x="2007365" y="1607925"/>
                  <a:pt x="2000770" y="1605881"/>
                </a:cubicBezTo>
                <a:cubicBezTo>
                  <a:pt x="2000770" y="1605881"/>
                  <a:pt x="2000770" y="1605881"/>
                  <a:pt x="2002212" y="1597076"/>
                </a:cubicBezTo>
                <a:cubicBezTo>
                  <a:pt x="1991702" y="1598963"/>
                  <a:pt x="1986550" y="1597076"/>
                  <a:pt x="1979955" y="1602894"/>
                </a:cubicBezTo>
                <a:cubicBezTo>
                  <a:pt x="1964499" y="1604937"/>
                  <a:pt x="1966972" y="1592045"/>
                  <a:pt x="1951310" y="1598963"/>
                </a:cubicBezTo>
                <a:cubicBezTo>
                  <a:pt x="1948836" y="1594089"/>
                  <a:pt x="1952752" y="1595976"/>
                  <a:pt x="1952752" y="1589058"/>
                </a:cubicBezTo>
                <a:cubicBezTo>
                  <a:pt x="1944921" y="1590001"/>
                  <a:pt x="1938326" y="1592045"/>
                  <a:pt x="1937090" y="1598963"/>
                </a:cubicBezTo>
                <a:cubicBezTo>
                  <a:pt x="1931937" y="1582140"/>
                  <a:pt x="1913596" y="1598020"/>
                  <a:pt x="1899170" y="1592988"/>
                </a:cubicBezTo>
                <a:cubicBezTo>
                  <a:pt x="1899170" y="1595032"/>
                  <a:pt x="1899170" y="1595976"/>
                  <a:pt x="1899170" y="1598020"/>
                </a:cubicBezTo>
                <a:cubicBezTo>
                  <a:pt x="1899170" y="1602894"/>
                  <a:pt x="1907001" y="1598020"/>
                  <a:pt x="1909680" y="1598963"/>
                </a:cubicBezTo>
                <a:cubicBezTo>
                  <a:pt x="1907104" y="1601479"/>
                  <a:pt x="1906795" y="1602461"/>
                  <a:pt x="1906641" y="1603562"/>
                </a:cubicBezTo>
                <a:lnTo>
                  <a:pt x="1906438" y="1604071"/>
                </a:lnTo>
                <a:lnTo>
                  <a:pt x="1915521" y="1603296"/>
                </a:lnTo>
                <a:lnTo>
                  <a:pt x="1915873" y="1601612"/>
                </a:lnTo>
                <a:cubicBezTo>
                  <a:pt x="1916054" y="1600738"/>
                  <a:pt x="1916054" y="1600738"/>
                  <a:pt x="1916054" y="1600738"/>
                </a:cubicBezTo>
                <a:cubicBezTo>
                  <a:pt x="1925207" y="1598673"/>
                  <a:pt x="1925207" y="1600738"/>
                  <a:pt x="1933112" y="1598673"/>
                </a:cubicBezTo>
                <a:lnTo>
                  <a:pt x="1933953" y="1601724"/>
                </a:lnTo>
                <a:lnTo>
                  <a:pt x="1939809" y="1601225"/>
                </a:lnTo>
                <a:lnTo>
                  <a:pt x="1937131" y="1606592"/>
                </a:lnTo>
                <a:lnTo>
                  <a:pt x="1944968" y="1600738"/>
                </a:lnTo>
                <a:cubicBezTo>
                  <a:pt x="1947465" y="1601691"/>
                  <a:pt x="1944968" y="1607729"/>
                  <a:pt x="1948921" y="1607729"/>
                </a:cubicBezTo>
                <a:cubicBezTo>
                  <a:pt x="1947569" y="1610747"/>
                  <a:pt x="1943617" y="1612019"/>
                  <a:pt x="1939846" y="1611641"/>
                </a:cubicBezTo>
                <a:lnTo>
                  <a:pt x="1936035" y="1608787"/>
                </a:lnTo>
                <a:lnTo>
                  <a:pt x="1932862" y="1615147"/>
                </a:lnTo>
                <a:cubicBezTo>
                  <a:pt x="1924730" y="1625552"/>
                  <a:pt x="1913180" y="1626850"/>
                  <a:pt x="1899427" y="1632038"/>
                </a:cubicBezTo>
                <a:cubicBezTo>
                  <a:pt x="1893039" y="1629994"/>
                  <a:pt x="1886447" y="1629051"/>
                  <a:pt x="1882532" y="1624020"/>
                </a:cubicBezTo>
                <a:lnTo>
                  <a:pt x="1839580" y="1631345"/>
                </a:lnTo>
                <a:lnTo>
                  <a:pt x="1839405" y="1631823"/>
                </a:lnTo>
                <a:lnTo>
                  <a:pt x="1838783" y="1631482"/>
                </a:lnTo>
                <a:lnTo>
                  <a:pt x="1836330" y="1631900"/>
                </a:lnTo>
                <a:lnTo>
                  <a:pt x="1825907" y="1633643"/>
                </a:lnTo>
                <a:lnTo>
                  <a:pt x="1824979" y="1635753"/>
                </a:lnTo>
                <a:lnTo>
                  <a:pt x="1822228" y="1634258"/>
                </a:lnTo>
                <a:lnTo>
                  <a:pt x="1808064" y="1636627"/>
                </a:lnTo>
                <a:lnTo>
                  <a:pt x="1808080" y="1636696"/>
                </a:lnTo>
                <a:cubicBezTo>
                  <a:pt x="1804164" y="1637796"/>
                  <a:pt x="1800249" y="1637796"/>
                  <a:pt x="1796333" y="1638740"/>
                </a:cubicBezTo>
                <a:cubicBezTo>
                  <a:pt x="1796333" y="1642670"/>
                  <a:pt x="1797776" y="1645658"/>
                  <a:pt x="1801691" y="1644714"/>
                </a:cubicBezTo>
                <a:cubicBezTo>
                  <a:pt x="1797776" y="1650217"/>
                  <a:pt x="1795147" y="1648212"/>
                  <a:pt x="1792521" y="1644223"/>
                </a:cubicBezTo>
                <a:lnTo>
                  <a:pt x="1789587" y="1639372"/>
                </a:lnTo>
                <a:lnTo>
                  <a:pt x="1773667" y="1640833"/>
                </a:lnTo>
                <a:lnTo>
                  <a:pt x="1775519" y="1641727"/>
                </a:lnTo>
                <a:cubicBezTo>
                  <a:pt x="1783350" y="1646601"/>
                  <a:pt x="1765420" y="1640784"/>
                  <a:pt x="1773251" y="1644714"/>
                </a:cubicBezTo>
                <a:cubicBezTo>
                  <a:pt x="1772169" y="1649903"/>
                  <a:pt x="1769001" y="1644479"/>
                  <a:pt x="1765832" y="1642305"/>
                </a:cubicBezTo>
                <a:lnTo>
                  <a:pt x="1763127" y="1641799"/>
                </a:lnTo>
                <a:lnTo>
                  <a:pt x="1762769" y="1641832"/>
                </a:lnTo>
                <a:lnTo>
                  <a:pt x="1763694" y="1645343"/>
                </a:lnTo>
                <a:cubicBezTo>
                  <a:pt x="1765317" y="1646719"/>
                  <a:pt x="1767275" y="1648723"/>
                  <a:pt x="1766657" y="1652733"/>
                </a:cubicBezTo>
                <a:cubicBezTo>
                  <a:pt x="1763977" y="1652733"/>
                  <a:pt x="1763977" y="1653676"/>
                  <a:pt x="1763977" y="1655720"/>
                </a:cubicBezTo>
                <a:cubicBezTo>
                  <a:pt x="1762020" y="1654226"/>
                  <a:pt x="1760731" y="1651946"/>
                  <a:pt x="1759778" y="1649176"/>
                </a:cubicBezTo>
                <a:lnTo>
                  <a:pt x="1758182" y="1642253"/>
                </a:lnTo>
                <a:lnTo>
                  <a:pt x="1751291" y="1642885"/>
                </a:lnTo>
                <a:lnTo>
                  <a:pt x="1746975" y="1642797"/>
                </a:lnTo>
                <a:lnTo>
                  <a:pt x="1747078" y="1644714"/>
                </a:lnTo>
                <a:cubicBezTo>
                  <a:pt x="1748315" y="1647701"/>
                  <a:pt x="1749758" y="1641727"/>
                  <a:pt x="1750994" y="1645658"/>
                </a:cubicBezTo>
                <a:cubicBezTo>
                  <a:pt x="1751612" y="1651160"/>
                  <a:pt x="1746099" y="1646208"/>
                  <a:pt x="1740921" y="1642847"/>
                </a:cubicBezTo>
                <a:lnTo>
                  <a:pt x="1740391" y="1642662"/>
                </a:lnTo>
                <a:lnTo>
                  <a:pt x="1732918" y="1642509"/>
                </a:lnTo>
                <a:lnTo>
                  <a:pt x="1732565" y="1643055"/>
                </a:lnTo>
                <a:cubicBezTo>
                  <a:pt x="1732304" y="1644506"/>
                  <a:pt x="1732369" y="1646621"/>
                  <a:pt x="1732859" y="1649589"/>
                </a:cubicBezTo>
                <a:cubicBezTo>
                  <a:pt x="1726264" y="1649589"/>
                  <a:pt x="1721112" y="1645658"/>
                  <a:pt x="1713280" y="1649589"/>
                </a:cubicBezTo>
                <a:cubicBezTo>
                  <a:pt x="1714517" y="1651632"/>
                  <a:pt x="1715754" y="1652733"/>
                  <a:pt x="1714517" y="1653676"/>
                </a:cubicBezTo>
                <a:cubicBezTo>
                  <a:pt x="1721112" y="1657606"/>
                  <a:pt x="1718432" y="1658550"/>
                  <a:pt x="1727500" y="1667511"/>
                </a:cubicBezTo>
                <a:cubicBezTo>
                  <a:pt x="1723585" y="1667511"/>
                  <a:pt x="1717196" y="1657606"/>
                  <a:pt x="1715754" y="1665625"/>
                </a:cubicBezTo>
                <a:cubicBezTo>
                  <a:pt x="1714517" y="1661537"/>
                  <a:pt x="1711838" y="1656663"/>
                  <a:pt x="1708129" y="1657606"/>
                </a:cubicBezTo>
                <a:cubicBezTo>
                  <a:pt x="1706685" y="1658550"/>
                  <a:pt x="1709365" y="1663581"/>
                  <a:pt x="1710601" y="1666568"/>
                </a:cubicBezTo>
                <a:cubicBezTo>
                  <a:pt x="1706685" y="1664524"/>
                  <a:pt x="1701534" y="1663581"/>
                  <a:pt x="1706685" y="1667511"/>
                </a:cubicBezTo>
                <a:cubicBezTo>
                  <a:pt x="1701534" y="1673486"/>
                  <a:pt x="1694939" y="1658550"/>
                  <a:pt x="1693703" y="1654619"/>
                </a:cubicBezTo>
                <a:cubicBezTo>
                  <a:pt x="1685871" y="1666568"/>
                  <a:pt x="1702770" y="1673486"/>
                  <a:pt x="1708129" y="1686378"/>
                </a:cubicBezTo>
                <a:cubicBezTo>
                  <a:pt x="1704213" y="1683390"/>
                  <a:pt x="1702770" y="1688422"/>
                  <a:pt x="1706685" y="1689365"/>
                </a:cubicBezTo>
                <a:cubicBezTo>
                  <a:pt x="1702770" y="1700370"/>
                  <a:pt x="1701534" y="1679460"/>
                  <a:pt x="1694939" y="1683390"/>
                </a:cubicBezTo>
                <a:cubicBezTo>
                  <a:pt x="1693703" y="1696440"/>
                  <a:pt x="1704213" y="1701314"/>
                  <a:pt x="1698854" y="1705244"/>
                </a:cubicBezTo>
                <a:cubicBezTo>
                  <a:pt x="1705449" y="1711219"/>
                  <a:pt x="1713280" y="1700370"/>
                  <a:pt x="1719669" y="1712319"/>
                </a:cubicBezTo>
                <a:cubicBezTo>
                  <a:pt x="1719669" y="1717193"/>
                  <a:pt x="1711838" y="1712319"/>
                  <a:pt x="1709365" y="1707288"/>
                </a:cubicBezTo>
                <a:cubicBezTo>
                  <a:pt x="1705449" y="1710275"/>
                  <a:pt x="1709365" y="1719237"/>
                  <a:pt x="1702770" y="1719237"/>
                </a:cubicBezTo>
                <a:cubicBezTo>
                  <a:pt x="1700297" y="1712319"/>
                  <a:pt x="1697618" y="1714206"/>
                  <a:pt x="1696382" y="1708231"/>
                </a:cubicBezTo>
                <a:cubicBezTo>
                  <a:pt x="1694939" y="1715306"/>
                  <a:pt x="1700297" y="1727098"/>
                  <a:pt x="1696382" y="1730085"/>
                </a:cubicBezTo>
                <a:cubicBezTo>
                  <a:pt x="1696382" y="1724111"/>
                  <a:pt x="1694939" y="1720180"/>
                  <a:pt x="1689787" y="1721123"/>
                </a:cubicBezTo>
                <a:cubicBezTo>
                  <a:pt x="1688551" y="1719237"/>
                  <a:pt x="1692465" y="1713263"/>
                  <a:pt x="1693703" y="1717193"/>
                </a:cubicBezTo>
                <a:cubicBezTo>
                  <a:pt x="1693703" y="1716250"/>
                  <a:pt x="1692465" y="1712319"/>
                  <a:pt x="1693703" y="1712319"/>
                </a:cubicBezTo>
                <a:cubicBezTo>
                  <a:pt x="1692465" y="1706345"/>
                  <a:pt x="1689787" y="1709332"/>
                  <a:pt x="1687314" y="1704301"/>
                </a:cubicBezTo>
                <a:cubicBezTo>
                  <a:pt x="1684634" y="1704301"/>
                  <a:pt x="1689787" y="1715306"/>
                  <a:pt x="1691023" y="1710275"/>
                </a:cubicBezTo>
                <a:cubicBezTo>
                  <a:pt x="1692465" y="1717193"/>
                  <a:pt x="1684634" y="1712319"/>
                  <a:pt x="1683398" y="1711219"/>
                </a:cubicBezTo>
                <a:cubicBezTo>
                  <a:pt x="1684634" y="1701314"/>
                  <a:pt x="1671651" y="1705244"/>
                  <a:pt x="1671651" y="1698327"/>
                </a:cubicBezTo>
                <a:cubicBezTo>
                  <a:pt x="1668972" y="1700370"/>
                  <a:pt x="1666293" y="1695339"/>
                  <a:pt x="1662378" y="1698327"/>
                </a:cubicBezTo>
                <a:cubicBezTo>
                  <a:pt x="1671651" y="1702257"/>
                  <a:pt x="1671651" y="1707288"/>
                  <a:pt x="1679482" y="1715306"/>
                </a:cubicBezTo>
                <a:cubicBezTo>
                  <a:pt x="1678040" y="1717193"/>
                  <a:pt x="1676803" y="1718136"/>
                  <a:pt x="1674124" y="1719237"/>
                </a:cubicBezTo>
                <a:cubicBezTo>
                  <a:pt x="1676803" y="1715306"/>
                  <a:pt x="1671651" y="1714206"/>
                  <a:pt x="1671651" y="1710275"/>
                </a:cubicBezTo>
                <a:cubicBezTo>
                  <a:pt x="1668972" y="1707288"/>
                  <a:pt x="1663820" y="1707288"/>
                  <a:pt x="1663820" y="1710275"/>
                </a:cubicBezTo>
                <a:cubicBezTo>
                  <a:pt x="1666293" y="1716250"/>
                  <a:pt x="1667736" y="1713263"/>
                  <a:pt x="1670209" y="1715306"/>
                </a:cubicBezTo>
                <a:cubicBezTo>
                  <a:pt x="1671651" y="1723168"/>
                  <a:pt x="1658462" y="1714206"/>
                  <a:pt x="1663820" y="1723168"/>
                </a:cubicBezTo>
                <a:cubicBezTo>
                  <a:pt x="1654546" y="1718136"/>
                  <a:pt x="1653309" y="1725211"/>
                  <a:pt x="1641563" y="1727098"/>
                </a:cubicBezTo>
                <a:cubicBezTo>
                  <a:pt x="1640326" y="1725211"/>
                  <a:pt x="1643005" y="1725211"/>
                  <a:pt x="1643005" y="1724111"/>
                </a:cubicBezTo>
                <a:cubicBezTo>
                  <a:pt x="1641563" y="1722224"/>
                  <a:pt x="1640326" y="1723168"/>
                  <a:pt x="1639090" y="1723168"/>
                </a:cubicBezTo>
                <a:cubicBezTo>
                  <a:pt x="1636410" y="1716250"/>
                  <a:pt x="1645478" y="1724111"/>
                  <a:pt x="1646921" y="1720180"/>
                </a:cubicBezTo>
                <a:cubicBezTo>
                  <a:pt x="1646921" y="1720180"/>
                  <a:pt x="1646921" y="1720180"/>
                  <a:pt x="1644242" y="1716250"/>
                </a:cubicBezTo>
                <a:cubicBezTo>
                  <a:pt x="1640326" y="1713263"/>
                  <a:pt x="1636410" y="1717193"/>
                  <a:pt x="1631259" y="1711219"/>
                </a:cubicBezTo>
                <a:cubicBezTo>
                  <a:pt x="1633732" y="1718136"/>
                  <a:pt x="1641563" y="1731186"/>
                  <a:pt x="1650837" y="1736060"/>
                </a:cubicBezTo>
                <a:cubicBezTo>
                  <a:pt x="1648157" y="1737160"/>
                  <a:pt x="1641563" y="1735117"/>
                  <a:pt x="1646921" y="1738103"/>
                </a:cubicBezTo>
                <a:cubicBezTo>
                  <a:pt x="1649394" y="1743135"/>
                  <a:pt x="1640326" y="1734173"/>
                  <a:pt x="1637647" y="1735117"/>
                </a:cubicBezTo>
                <a:cubicBezTo>
                  <a:pt x="1640326" y="1738103"/>
                  <a:pt x="1644242" y="1741090"/>
                  <a:pt x="1645478" y="1741090"/>
                </a:cubicBezTo>
                <a:cubicBezTo>
                  <a:pt x="1646921" y="1745964"/>
                  <a:pt x="1639090" y="1747065"/>
                  <a:pt x="1645478" y="1754926"/>
                </a:cubicBezTo>
                <a:cubicBezTo>
                  <a:pt x="1644242" y="1754926"/>
                  <a:pt x="1641563" y="1750996"/>
                  <a:pt x="1643005" y="1750996"/>
                </a:cubicBezTo>
                <a:cubicBezTo>
                  <a:pt x="1639090" y="1747065"/>
                  <a:pt x="1637647" y="1753039"/>
                  <a:pt x="1633732" y="1745021"/>
                </a:cubicBezTo>
                <a:cubicBezTo>
                  <a:pt x="1632495" y="1740147"/>
                  <a:pt x="1636410" y="1745021"/>
                  <a:pt x="1639090" y="1742034"/>
                </a:cubicBezTo>
                <a:cubicBezTo>
                  <a:pt x="1636410" y="1739047"/>
                  <a:pt x="1635174" y="1740147"/>
                  <a:pt x="1632495" y="1737160"/>
                </a:cubicBezTo>
                <a:cubicBezTo>
                  <a:pt x="1627342" y="1737160"/>
                  <a:pt x="1635174" y="1745964"/>
                  <a:pt x="1628579" y="1742034"/>
                </a:cubicBezTo>
                <a:cubicBezTo>
                  <a:pt x="1635174" y="1751939"/>
                  <a:pt x="1637647" y="1757913"/>
                  <a:pt x="1631259" y="1756970"/>
                </a:cubicBezTo>
                <a:cubicBezTo>
                  <a:pt x="1624664" y="1750996"/>
                  <a:pt x="1625900" y="1747065"/>
                  <a:pt x="1625900" y="1743135"/>
                </a:cubicBezTo>
                <a:cubicBezTo>
                  <a:pt x="1624664" y="1742034"/>
                  <a:pt x="1621984" y="1741090"/>
                  <a:pt x="1620748" y="1738103"/>
                </a:cubicBezTo>
                <a:cubicBezTo>
                  <a:pt x="1623428" y="1743135"/>
                  <a:pt x="1623428" y="1745964"/>
                  <a:pt x="1624664" y="1750053"/>
                </a:cubicBezTo>
                <a:cubicBezTo>
                  <a:pt x="1621984" y="1750996"/>
                  <a:pt x="1618069" y="1745964"/>
                  <a:pt x="1614359" y="1742034"/>
                </a:cubicBezTo>
                <a:cubicBezTo>
                  <a:pt x="1616833" y="1745964"/>
                  <a:pt x="1619511" y="1751939"/>
                  <a:pt x="1611681" y="1748952"/>
                </a:cubicBezTo>
                <a:cubicBezTo>
                  <a:pt x="1614359" y="1751939"/>
                  <a:pt x="1618069" y="1756027"/>
                  <a:pt x="1619511" y="1754926"/>
                </a:cubicBezTo>
                <a:cubicBezTo>
                  <a:pt x="1624664" y="1760900"/>
                  <a:pt x="1616833" y="1756970"/>
                  <a:pt x="1614359" y="1753039"/>
                </a:cubicBezTo>
                <a:cubicBezTo>
                  <a:pt x="1612917" y="1753983"/>
                  <a:pt x="1620748" y="1761844"/>
                  <a:pt x="1612917" y="1756970"/>
                </a:cubicBezTo>
                <a:cubicBezTo>
                  <a:pt x="1614359" y="1757913"/>
                  <a:pt x="1628579" y="1767975"/>
                  <a:pt x="1625900" y="1771906"/>
                </a:cubicBezTo>
                <a:cubicBezTo>
                  <a:pt x="1631259" y="1776780"/>
                  <a:pt x="1632495" y="1770963"/>
                  <a:pt x="1636410" y="1772850"/>
                </a:cubicBezTo>
                <a:cubicBezTo>
                  <a:pt x="1637647" y="1771906"/>
                  <a:pt x="1635174" y="1768919"/>
                  <a:pt x="1631259" y="1764988"/>
                </a:cubicBezTo>
                <a:cubicBezTo>
                  <a:pt x="1636410" y="1767975"/>
                  <a:pt x="1635174" y="1767975"/>
                  <a:pt x="1636410" y="1764988"/>
                </a:cubicBezTo>
                <a:cubicBezTo>
                  <a:pt x="1643005" y="1771906"/>
                  <a:pt x="1637647" y="1772850"/>
                  <a:pt x="1648157" y="1780867"/>
                </a:cubicBezTo>
                <a:cubicBezTo>
                  <a:pt x="1646921" y="1783855"/>
                  <a:pt x="1640326" y="1775836"/>
                  <a:pt x="1640326" y="1773792"/>
                </a:cubicBezTo>
                <a:cubicBezTo>
                  <a:pt x="1637647" y="1777880"/>
                  <a:pt x="1639090" y="1778824"/>
                  <a:pt x="1639090" y="1782754"/>
                </a:cubicBezTo>
                <a:cubicBezTo>
                  <a:pt x="1641563" y="1784798"/>
                  <a:pt x="1643005" y="1783855"/>
                  <a:pt x="1645478" y="1786842"/>
                </a:cubicBezTo>
                <a:cubicBezTo>
                  <a:pt x="1641563" y="1787786"/>
                  <a:pt x="1636410" y="1785741"/>
                  <a:pt x="1636410" y="1790772"/>
                </a:cubicBezTo>
                <a:cubicBezTo>
                  <a:pt x="1635174" y="1786842"/>
                  <a:pt x="1636410" y="1787786"/>
                  <a:pt x="1629816" y="1783855"/>
                </a:cubicBezTo>
                <a:cubicBezTo>
                  <a:pt x="1633732" y="1787786"/>
                  <a:pt x="1629816" y="1788729"/>
                  <a:pt x="1636410" y="1793759"/>
                </a:cubicBezTo>
                <a:cubicBezTo>
                  <a:pt x="1633732" y="1792659"/>
                  <a:pt x="1629816" y="1789672"/>
                  <a:pt x="1625900" y="1786842"/>
                </a:cubicBezTo>
                <a:cubicBezTo>
                  <a:pt x="1624664" y="1791716"/>
                  <a:pt x="1618069" y="1792659"/>
                  <a:pt x="1609001" y="1789672"/>
                </a:cubicBezTo>
                <a:cubicBezTo>
                  <a:pt x="1609001" y="1791716"/>
                  <a:pt x="1620748" y="1797690"/>
                  <a:pt x="1621984" y="1794703"/>
                </a:cubicBezTo>
                <a:cubicBezTo>
                  <a:pt x="1628579" y="1801621"/>
                  <a:pt x="1619511" y="1801621"/>
                  <a:pt x="1611681" y="1793759"/>
                </a:cubicBezTo>
                <a:cubicBezTo>
                  <a:pt x="1609001" y="1795646"/>
                  <a:pt x="1606528" y="1796747"/>
                  <a:pt x="1607764" y="1799734"/>
                </a:cubicBezTo>
                <a:cubicBezTo>
                  <a:pt x="1614359" y="1801621"/>
                  <a:pt x="1607764" y="1796747"/>
                  <a:pt x="1615595" y="1800678"/>
                </a:cubicBezTo>
                <a:cubicBezTo>
                  <a:pt x="1618069" y="1806652"/>
                  <a:pt x="1612917" y="1810582"/>
                  <a:pt x="1603849" y="1813569"/>
                </a:cubicBezTo>
                <a:cubicBezTo>
                  <a:pt x="1593339" y="1805708"/>
                  <a:pt x="1607764" y="1807595"/>
                  <a:pt x="1606528" y="1801621"/>
                </a:cubicBezTo>
                <a:cubicBezTo>
                  <a:pt x="1592103" y="1794703"/>
                  <a:pt x="1601170" y="1793759"/>
                  <a:pt x="1593339" y="1788729"/>
                </a:cubicBezTo>
                <a:cubicBezTo>
                  <a:pt x="1594781" y="1794703"/>
                  <a:pt x="1589630" y="1787786"/>
                  <a:pt x="1586950" y="1791716"/>
                </a:cubicBezTo>
                <a:cubicBezTo>
                  <a:pt x="1597254" y="1795646"/>
                  <a:pt x="1598697" y="1800678"/>
                  <a:pt x="1601170" y="1805708"/>
                </a:cubicBezTo>
                <a:cubicBezTo>
                  <a:pt x="1594781" y="1802721"/>
                  <a:pt x="1592103" y="1805708"/>
                  <a:pt x="1588186" y="1807595"/>
                </a:cubicBezTo>
                <a:cubicBezTo>
                  <a:pt x="1593339" y="1808696"/>
                  <a:pt x="1599933" y="1813569"/>
                  <a:pt x="1603849" y="1813569"/>
                </a:cubicBezTo>
                <a:cubicBezTo>
                  <a:pt x="1612917" y="1813569"/>
                  <a:pt x="1605085" y="1819544"/>
                  <a:pt x="1614359" y="1824575"/>
                </a:cubicBezTo>
                <a:cubicBezTo>
                  <a:pt x="1611681" y="1825519"/>
                  <a:pt x="1605085" y="1820487"/>
                  <a:pt x="1602613" y="1821588"/>
                </a:cubicBezTo>
                <a:cubicBezTo>
                  <a:pt x="1599933" y="1818600"/>
                  <a:pt x="1605085" y="1820487"/>
                  <a:pt x="1603849" y="1817500"/>
                </a:cubicBezTo>
                <a:cubicBezTo>
                  <a:pt x="1596018" y="1813569"/>
                  <a:pt x="1596018" y="1821588"/>
                  <a:pt x="1596018" y="1824575"/>
                </a:cubicBezTo>
                <a:cubicBezTo>
                  <a:pt x="1601170" y="1827562"/>
                  <a:pt x="1594781" y="1820487"/>
                  <a:pt x="1599933" y="1820487"/>
                </a:cubicBezTo>
                <a:cubicBezTo>
                  <a:pt x="1609001" y="1829449"/>
                  <a:pt x="1603849" y="1830549"/>
                  <a:pt x="1602613" y="1836366"/>
                </a:cubicBezTo>
                <a:cubicBezTo>
                  <a:pt x="1598697" y="1834480"/>
                  <a:pt x="1593339" y="1830549"/>
                  <a:pt x="1592103" y="1831492"/>
                </a:cubicBezTo>
                <a:cubicBezTo>
                  <a:pt x="1588186" y="1829449"/>
                  <a:pt x="1597254" y="1830549"/>
                  <a:pt x="1586950" y="1825519"/>
                </a:cubicBezTo>
                <a:cubicBezTo>
                  <a:pt x="1585714" y="1826462"/>
                  <a:pt x="1585714" y="1828505"/>
                  <a:pt x="1584271" y="1829449"/>
                </a:cubicBezTo>
                <a:cubicBezTo>
                  <a:pt x="1580355" y="1830549"/>
                  <a:pt x="1581798" y="1824575"/>
                  <a:pt x="1572524" y="1822531"/>
                </a:cubicBezTo>
                <a:cubicBezTo>
                  <a:pt x="1581798" y="1831492"/>
                  <a:pt x="1576439" y="1829449"/>
                  <a:pt x="1586950" y="1837467"/>
                </a:cubicBezTo>
                <a:cubicBezTo>
                  <a:pt x="1585714" y="1839354"/>
                  <a:pt x="1584271" y="1843441"/>
                  <a:pt x="1583034" y="1845328"/>
                </a:cubicBezTo>
                <a:cubicBezTo>
                  <a:pt x="1580355" y="1848315"/>
                  <a:pt x="1577882" y="1849416"/>
                  <a:pt x="1568608" y="1846429"/>
                </a:cubicBezTo>
                <a:cubicBezTo>
                  <a:pt x="1567372" y="1848315"/>
                  <a:pt x="1579119" y="1851302"/>
                  <a:pt x="1583034" y="1853347"/>
                </a:cubicBezTo>
                <a:cubicBezTo>
                  <a:pt x="1579119" y="1854290"/>
                  <a:pt x="1572524" y="1855390"/>
                  <a:pt x="1568608" y="1851302"/>
                </a:cubicBezTo>
                <a:cubicBezTo>
                  <a:pt x="1567372" y="1853347"/>
                  <a:pt x="1571288" y="1856333"/>
                  <a:pt x="1564693" y="1855390"/>
                </a:cubicBezTo>
                <a:cubicBezTo>
                  <a:pt x="1556862" y="1853347"/>
                  <a:pt x="1559541" y="1851302"/>
                  <a:pt x="1553152" y="1849416"/>
                </a:cubicBezTo>
                <a:cubicBezTo>
                  <a:pt x="1550473" y="1852403"/>
                  <a:pt x="1559541" y="1855390"/>
                  <a:pt x="1566135" y="1858378"/>
                </a:cubicBezTo>
                <a:cubicBezTo>
                  <a:pt x="1575203" y="1862308"/>
                  <a:pt x="1563456" y="1853347"/>
                  <a:pt x="1570051" y="1857277"/>
                </a:cubicBezTo>
                <a:cubicBezTo>
                  <a:pt x="1577882" y="1858378"/>
                  <a:pt x="1572524" y="1863252"/>
                  <a:pt x="1567372" y="1860264"/>
                </a:cubicBezTo>
                <a:cubicBezTo>
                  <a:pt x="1568608" y="1863252"/>
                  <a:pt x="1572524" y="1865295"/>
                  <a:pt x="1572524" y="1867182"/>
                </a:cubicBezTo>
                <a:cubicBezTo>
                  <a:pt x="1570051" y="1871269"/>
                  <a:pt x="1560777" y="1868282"/>
                  <a:pt x="1556862" y="1870169"/>
                </a:cubicBezTo>
                <a:cubicBezTo>
                  <a:pt x="1563456" y="1870169"/>
                  <a:pt x="1573967" y="1874257"/>
                  <a:pt x="1572524" y="1872213"/>
                </a:cubicBezTo>
                <a:cubicBezTo>
                  <a:pt x="1581798" y="1873156"/>
                  <a:pt x="1575203" y="1882118"/>
                  <a:pt x="1568608" y="1882118"/>
                </a:cubicBezTo>
                <a:cubicBezTo>
                  <a:pt x="1563456" y="1880231"/>
                  <a:pt x="1575203" y="1880231"/>
                  <a:pt x="1568608" y="1876144"/>
                </a:cubicBezTo>
                <a:cubicBezTo>
                  <a:pt x="1559541" y="1877244"/>
                  <a:pt x="1571288" y="1887149"/>
                  <a:pt x="1556862" y="1885105"/>
                </a:cubicBezTo>
                <a:cubicBezTo>
                  <a:pt x="1556862" y="1889035"/>
                  <a:pt x="1567372" y="1887149"/>
                  <a:pt x="1568608" y="1890136"/>
                </a:cubicBezTo>
                <a:cubicBezTo>
                  <a:pt x="1563456" y="1890136"/>
                  <a:pt x="1559541" y="1891080"/>
                  <a:pt x="1554388" y="1892023"/>
                </a:cubicBezTo>
                <a:cubicBezTo>
                  <a:pt x="1560777" y="1894066"/>
                  <a:pt x="1554388" y="1897997"/>
                  <a:pt x="1563456" y="1900041"/>
                </a:cubicBezTo>
                <a:cubicBezTo>
                  <a:pt x="1554388" y="1906959"/>
                  <a:pt x="1546558" y="1909002"/>
                  <a:pt x="1547794" y="1917964"/>
                </a:cubicBezTo>
                <a:cubicBezTo>
                  <a:pt x="1546558" y="1916864"/>
                  <a:pt x="1542642" y="1914977"/>
                  <a:pt x="1537489" y="1913876"/>
                </a:cubicBezTo>
                <a:cubicBezTo>
                  <a:pt x="1553152" y="1925825"/>
                  <a:pt x="1532338" y="1938717"/>
                  <a:pt x="1526979" y="1949723"/>
                </a:cubicBezTo>
                <a:cubicBezTo>
                  <a:pt x="1526979" y="1952710"/>
                  <a:pt x="1537489" y="1952710"/>
                  <a:pt x="1525743" y="1953654"/>
                </a:cubicBezTo>
                <a:cubicBezTo>
                  <a:pt x="1525743" y="1954596"/>
                  <a:pt x="1528422" y="1955697"/>
                  <a:pt x="1526979" y="1956641"/>
                </a:cubicBezTo>
                <a:cubicBezTo>
                  <a:pt x="1530895" y="1956641"/>
                  <a:pt x="1532338" y="1955697"/>
                  <a:pt x="1534810" y="1954596"/>
                </a:cubicBezTo>
                <a:cubicBezTo>
                  <a:pt x="1534810" y="1959627"/>
                  <a:pt x="1520384" y="1967646"/>
                  <a:pt x="1533574" y="1974563"/>
                </a:cubicBezTo>
                <a:cubicBezTo>
                  <a:pt x="1525743" y="1976450"/>
                  <a:pt x="1515232" y="1982425"/>
                  <a:pt x="1524300" y="1989500"/>
                </a:cubicBezTo>
                <a:cubicBezTo>
                  <a:pt x="1510080" y="1993430"/>
                  <a:pt x="1506164" y="2013240"/>
                  <a:pt x="1506164" y="2025188"/>
                </a:cubicBezTo>
                <a:cubicBezTo>
                  <a:pt x="1502249" y="2024245"/>
                  <a:pt x="1502249" y="2022202"/>
                  <a:pt x="1498333" y="2021258"/>
                </a:cubicBezTo>
                <a:cubicBezTo>
                  <a:pt x="1498333" y="2026132"/>
                  <a:pt x="1493181" y="2027233"/>
                  <a:pt x="1490502" y="2031163"/>
                </a:cubicBezTo>
                <a:cubicBezTo>
                  <a:pt x="1491945" y="2033207"/>
                  <a:pt x="1494418" y="2031163"/>
                  <a:pt x="1499776" y="2032107"/>
                </a:cubicBezTo>
                <a:cubicBezTo>
                  <a:pt x="1507401" y="2041068"/>
                  <a:pt x="1484113" y="2050973"/>
                  <a:pt x="1484113" y="2063865"/>
                </a:cubicBezTo>
                <a:cubicBezTo>
                  <a:pt x="1477518" y="2061978"/>
                  <a:pt x="1473603" y="2061978"/>
                  <a:pt x="1469687" y="2062922"/>
                </a:cubicBezTo>
                <a:cubicBezTo>
                  <a:pt x="1473603" y="2068896"/>
                  <a:pt x="1461856" y="2069996"/>
                  <a:pt x="1472366" y="2072984"/>
                </a:cubicBezTo>
                <a:cubicBezTo>
                  <a:pt x="1470924" y="2076915"/>
                  <a:pt x="1463299" y="2073927"/>
                  <a:pt x="1461856" y="2076915"/>
                </a:cubicBezTo>
                <a:cubicBezTo>
                  <a:pt x="1463299" y="2080846"/>
                  <a:pt x="1470924" y="2073927"/>
                  <a:pt x="1478755" y="2076915"/>
                </a:cubicBezTo>
                <a:cubicBezTo>
                  <a:pt x="1472366" y="2080846"/>
                  <a:pt x="1478755" y="2081788"/>
                  <a:pt x="1473603" y="2086819"/>
                </a:cubicBezTo>
                <a:cubicBezTo>
                  <a:pt x="1454025" y="2075814"/>
                  <a:pt x="1459383" y="2099712"/>
                  <a:pt x="1451551" y="2106629"/>
                </a:cubicBezTo>
                <a:cubicBezTo>
                  <a:pt x="1454025" y="2103642"/>
                  <a:pt x="1464535" y="2106629"/>
                  <a:pt x="1468451" y="2102698"/>
                </a:cubicBezTo>
                <a:cubicBezTo>
                  <a:pt x="1472366" y="2103642"/>
                  <a:pt x="1467008" y="2104743"/>
                  <a:pt x="1463299" y="2104743"/>
                </a:cubicBezTo>
                <a:cubicBezTo>
                  <a:pt x="1457940" y="2116692"/>
                  <a:pt x="1470924" y="2116692"/>
                  <a:pt x="1455468" y="2120622"/>
                </a:cubicBezTo>
                <a:cubicBezTo>
                  <a:pt x="1455468" y="2123609"/>
                  <a:pt x="1459383" y="2120622"/>
                  <a:pt x="1464535" y="2121565"/>
                </a:cubicBezTo>
                <a:cubicBezTo>
                  <a:pt x="1464535" y="2129584"/>
                  <a:pt x="1455468" y="2128483"/>
                  <a:pt x="1451551" y="2132571"/>
                </a:cubicBezTo>
                <a:cubicBezTo>
                  <a:pt x="1456704" y="2134457"/>
                  <a:pt x="1467008" y="2141375"/>
                  <a:pt x="1448873" y="2142476"/>
                </a:cubicBezTo>
                <a:cubicBezTo>
                  <a:pt x="1450109" y="2143419"/>
                  <a:pt x="1454025" y="2151437"/>
                  <a:pt x="1443721" y="2148450"/>
                </a:cubicBezTo>
                <a:cubicBezTo>
                  <a:pt x="1443721" y="2152380"/>
                  <a:pt x="1450109" y="2152380"/>
                  <a:pt x="1450109" y="2156311"/>
                </a:cubicBezTo>
                <a:cubicBezTo>
                  <a:pt x="1456704" y="2157412"/>
                  <a:pt x="1454025" y="2150337"/>
                  <a:pt x="1455468" y="2148450"/>
                </a:cubicBezTo>
                <a:cubicBezTo>
                  <a:pt x="1474839" y="2153323"/>
                  <a:pt x="1482671" y="2148450"/>
                  <a:pt x="1498333" y="2151437"/>
                </a:cubicBezTo>
                <a:cubicBezTo>
                  <a:pt x="1485968" y="2156389"/>
                  <a:pt x="1471645" y="2160084"/>
                  <a:pt x="1457322" y="2163916"/>
                </a:cubicBezTo>
                <a:lnTo>
                  <a:pt x="1419515" y="2176182"/>
                </a:lnTo>
                <a:lnTo>
                  <a:pt x="1419399" y="2178443"/>
                </a:lnTo>
                <a:lnTo>
                  <a:pt x="1420420" y="2178848"/>
                </a:lnTo>
                <a:cubicBezTo>
                  <a:pt x="1426062" y="2178302"/>
                  <a:pt x="1434601" y="2173290"/>
                  <a:pt x="1430737" y="2182252"/>
                </a:cubicBezTo>
                <a:cubicBezTo>
                  <a:pt x="1435889" y="2181151"/>
                  <a:pt x="1434653" y="2177221"/>
                  <a:pt x="1443721" y="2180209"/>
                </a:cubicBezTo>
                <a:cubicBezTo>
                  <a:pt x="1446193" y="2174234"/>
                  <a:pt x="1439805" y="2174234"/>
                  <a:pt x="1446193" y="2171247"/>
                </a:cubicBezTo>
                <a:cubicBezTo>
                  <a:pt x="1452788" y="2172190"/>
                  <a:pt x="1451551" y="2176278"/>
                  <a:pt x="1448873" y="2180209"/>
                </a:cubicBezTo>
                <a:cubicBezTo>
                  <a:pt x="1452788" y="2179265"/>
                  <a:pt x="1467008" y="2175178"/>
                  <a:pt x="1470924" y="2180209"/>
                </a:cubicBezTo>
                <a:cubicBezTo>
                  <a:pt x="1477518" y="2178165"/>
                  <a:pt x="1489265" y="2171247"/>
                  <a:pt x="1495860" y="2176278"/>
                </a:cubicBezTo>
                <a:cubicBezTo>
                  <a:pt x="1493181" y="2180209"/>
                  <a:pt x="1491945" y="2184139"/>
                  <a:pt x="1486587" y="2187126"/>
                </a:cubicBezTo>
                <a:cubicBezTo>
                  <a:pt x="1465772" y="2186183"/>
                  <a:pt x="1460620" y="2196088"/>
                  <a:pt x="1443721" y="2190113"/>
                </a:cubicBezTo>
                <a:cubicBezTo>
                  <a:pt x="1437126" y="2195145"/>
                  <a:pt x="1429294" y="2195145"/>
                  <a:pt x="1420226" y="2195145"/>
                </a:cubicBezTo>
                <a:cubicBezTo>
                  <a:pt x="1421206" y="2196638"/>
                  <a:pt x="1421206" y="2198250"/>
                  <a:pt x="1420797" y="2199888"/>
                </a:cubicBezTo>
                <a:lnTo>
                  <a:pt x="1420499" y="2200664"/>
                </a:lnTo>
                <a:lnTo>
                  <a:pt x="1421602" y="2212372"/>
                </a:lnTo>
                <a:lnTo>
                  <a:pt x="1420946" y="2212374"/>
                </a:lnTo>
                <a:lnTo>
                  <a:pt x="1421463" y="2212911"/>
                </a:lnTo>
                <a:cubicBezTo>
                  <a:pt x="1428058" y="2211024"/>
                  <a:pt x="1420226" y="2205993"/>
                  <a:pt x="1428058" y="2203006"/>
                </a:cubicBezTo>
                <a:cubicBezTo>
                  <a:pt x="1439805" y="2201118"/>
                  <a:pt x="1454025" y="2214011"/>
                  <a:pt x="1460620" y="2205993"/>
                </a:cubicBezTo>
                <a:cubicBezTo>
                  <a:pt x="1470924" y="2208037"/>
                  <a:pt x="1459383" y="2209923"/>
                  <a:pt x="1460620" y="2215898"/>
                </a:cubicBezTo>
                <a:cubicBezTo>
                  <a:pt x="1444957" y="2215898"/>
                  <a:pt x="1437126" y="2211967"/>
                  <a:pt x="1429294" y="2220929"/>
                </a:cubicBezTo>
                <a:cubicBezTo>
                  <a:pt x="1425379" y="2217941"/>
                  <a:pt x="1430737" y="2217941"/>
                  <a:pt x="1424143" y="2214954"/>
                </a:cubicBezTo>
                <a:cubicBezTo>
                  <a:pt x="1417548" y="2219985"/>
                  <a:pt x="1406007" y="2220929"/>
                  <a:pt x="1399412" y="2226903"/>
                </a:cubicBezTo>
                <a:cubicBezTo>
                  <a:pt x="1400648" y="2228947"/>
                  <a:pt x="1408479" y="2227847"/>
                  <a:pt x="1413632" y="2231934"/>
                </a:cubicBezTo>
                <a:cubicBezTo>
                  <a:pt x="1409717" y="2235865"/>
                  <a:pt x="1406007" y="2240739"/>
                  <a:pt x="1416312" y="2242782"/>
                </a:cubicBezTo>
                <a:cubicBezTo>
                  <a:pt x="1422906" y="2242782"/>
                  <a:pt x="1420226" y="2234764"/>
                  <a:pt x="1422906" y="2232878"/>
                </a:cubicBezTo>
                <a:cubicBezTo>
                  <a:pt x="1435889" y="2224859"/>
                  <a:pt x="1447636" y="2239795"/>
                  <a:pt x="1454025" y="2229890"/>
                </a:cubicBezTo>
                <a:cubicBezTo>
                  <a:pt x="1455468" y="2234764"/>
                  <a:pt x="1460620" y="2236808"/>
                  <a:pt x="1470924" y="2234764"/>
                </a:cubicBezTo>
                <a:cubicBezTo>
                  <a:pt x="1469687" y="2236808"/>
                  <a:pt x="1468451" y="2239795"/>
                  <a:pt x="1472366" y="2239795"/>
                </a:cubicBezTo>
                <a:cubicBezTo>
                  <a:pt x="1456704" y="2246713"/>
                  <a:pt x="1390345" y="2246713"/>
                  <a:pt x="1420226" y="2262592"/>
                </a:cubicBezTo>
                <a:cubicBezTo>
                  <a:pt x="1431974" y="2259762"/>
                  <a:pt x="1438568" y="2261649"/>
                  <a:pt x="1450109" y="2266680"/>
                </a:cubicBezTo>
                <a:cubicBezTo>
                  <a:pt x="1456704" y="2263693"/>
                  <a:pt x="1470924" y="2257719"/>
                  <a:pt x="1481435" y="2263693"/>
                </a:cubicBezTo>
                <a:cubicBezTo>
                  <a:pt x="1454025" y="2283503"/>
                  <a:pt x="1387665" y="2267623"/>
                  <a:pt x="1373239" y="2291520"/>
                </a:cubicBezTo>
                <a:cubicBezTo>
                  <a:pt x="1373239" y="2295451"/>
                  <a:pt x="1384987" y="2294509"/>
                  <a:pt x="1386428" y="2298439"/>
                </a:cubicBezTo>
                <a:cubicBezTo>
                  <a:pt x="1404565" y="2291520"/>
                  <a:pt x="1446193" y="2297495"/>
                  <a:pt x="1467008" y="2293407"/>
                </a:cubicBezTo>
                <a:cubicBezTo>
                  <a:pt x="1459383" y="2307400"/>
                  <a:pt x="1434653" y="2292464"/>
                  <a:pt x="1426822" y="2307400"/>
                </a:cubicBezTo>
                <a:cubicBezTo>
                  <a:pt x="1404565" y="2304413"/>
                  <a:pt x="1394260" y="2312274"/>
                  <a:pt x="1372003" y="2310387"/>
                </a:cubicBezTo>
                <a:cubicBezTo>
                  <a:pt x="1370766" y="2313375"/>
                  <a:pt x="1374682" y="2314318"/>
                  <a:pt x="1372003" y="2317305"/>
                </a:cubicBezTo>
                <a:cubicBezTo>
                  <a:pt x="1369530" y="2316362"/>
                  <a:pt x="1370766" y="2313375"/>
                  <a:pt x="1364172" y="2313375"/>
                </a:cubicBezTo>
                <a:cubicBezTo>
                  <a:pt x="1359020" y="2318248"/>
                  <a:pt x="1349952" y="2320292"/>
                  <a:pt x="1348715" y="2328153"/>
                </a:cubicBezTo>
                <a:cubicBezTo>
                  <a:pt x="1369530" y="2333184"/>
                  <a:pt x="1379834" y="2322179"/>
                  <a:pt x="1396733" y="2330197"/>
                </a:cubicBezTo>
                <a:cubicBezTo>
                  <a:pt x="1409717" y="2323280"/>
                  <a:pt x="1421463" y="2325166"/>
                  <a:pt x="1439805" y="2330197"/>
                </a:cubicBezTo>
                <a:cubicBezTo>
                  <a:pt x="1426822" y="2343089"/>
                  <a:pt x="1377155" y="2345133"/>
                  <a:pt x="1366851" y="2341203"/>
                </a:cubicBezTo>
                <a:cubicBezTo>
                  <a:pt x="1360256" y="2341203"/>
                  <a:pt x="1359020" y="2345133"/>
                  <a:pt x="1356341" y="2348120"/>
                </a:cubicBezTo>
                <a:cubicBezTo>
                  <a:pt x="1342120" y="2339159"/>
                  <a:pt x="1310795" y="2352994"/>
                  <a:pt x="1302964" y="2342146"/>
                </a:cubicBezTo>
                <a:cubicBezTo>
                  <a:pt x="1295133" y="2348120"/>
                  <a:pt x="1296576" y="2346076"/>
                  <a:pt x="1287302" y="2343089"/>
                </a:cubicBezTo>
                <a:lnTo>
                  <a:pt x="1280840" y="2347141"/>
                </a:lnTo>
                <a:lnTo>
                  <a:pt x="1271542" y="2367467"/>
                </a:lnTo>
                <a:lnTo>
                  <a:pt x="1280553" y="2365709"/>
                </a:lnTo>
                <a:cubicBezTo>
                  <a:pt x="1283798" y="2365729"/>
                  <a:pt x="1286065" y="2366987"/>
                  <a:pt x="1286065" y="2370917"/>
                </a:cubicBezTo>
                <a:cubicBezTo>
                  <a:pt x="1289981" y="2369974"/>
                  <a:pt x="1292660" y="2366987"/>
                  <a:pt x="1293897" y="2364000"/>
                </a:cubicBezTo>
                <a:cubicBezTo>
                  <a:pt x="1304407" y="2363056"/>
                  <a:pt x="1299048" y="2368874"/>
                  <a:pt x="1304407" y="2369974"/>
                </a:cubicBezTo>
                <a:cubicBezTo>
                  <a:pt x="1312238" y="2369974"/>
                  <a:pt x="1301728" y="2366987"/>
                  <a:pt x="1309559" y="2364943"/>
                </a:cubicBezTo>
                <a:cubicBezTo>
                  <a:pt x="1315947" y="2364943"/>
                  <a:pt x="1310795" y="2370917"/>
                  <a:pt x="1315947" y="2370917"/>
                </a:cubicBezTo>
                <a:cubicBezTo>
                  <a:pt x="1305643" y="2378936"/>
                  <a:pt x="1295133" y="2375006"/>
                  <a:pt x="1283386" y="2379879"/>
                </a:cubicBezTo>
                <a:cubicBezTo>
                  <a:pt x="1280913" y="2373905"/>
                  <a:pt x="1275761" y="2378936"/>
                  <a:pt x="1270402" y="2375006"/>
                </a:cubicBezTo>
                <a:cubicBezTo>
                  <a:pt x="1273082" y="2377836"/>
                  <a:pt x="1271845" y="2381923"/>
                  <a:pt x="1270402" y="2386797"/>
                </a:cubicBezTo>
                <a:cubicBezTo>
                  <a:pt x="1264529" y="2383809"/>
                  <a:pt x="1259995" y="2383338"/>
                  <a:pt x="1255951" y="2383102"/>
                </a:cubicBezTo>
                <a:lnTo>
                  <a:pt x="1253331" y="2382583"/>
                </a:lnTo>
                <a:lnTo>
                  <a:pt x="1243683" y="2390057"/>
                </a:lnTo>
                <a:lnTo>
                  <a:pt x="1227559" y="2398019"/>
                </a:lnTo>
                <a:lnTo>
                  <a:pt x="1228354" y="2398373"/>
                </a:lnTo>
                <a:cubicBezTo>
                  <a:pt x="1240089" y="2400217"/>
                  <a:pt x="1254808" y="2394685"/>
                  <a:pt x="1272425" y="2394685"/>
                </a:cubicBezTo>
                <a:cubicBezTo>
                  <a:pt x="1277577" y="2394685"/>
                  <a:pt x="1277577" y="2398587"/>
                  <a:pt x="1280049" y="2398587"/>
                </a:cubicBezTo>
                <a:cubicBezTo>
                  <a:pt x="1304980" y="2400617"/>
                  <a:pt x="1337535" y="2389691"/>
                  <a:pt x="1349280" y="2390784"/>
                </a:cubicBezTo>
                <a:cubicBezTo>
                  <a:pt x="1359582" y="2391720"/>
                  <a:pt x="1355668" y="2394685"/>
                  <a:pt x="1370091" y="2389691"/>
                </a:cubicBezTo>
                <a:cubicBezTo>
                  <a:pt x="1368648" y="2398587"/>
                  <a:pt x="1356904" y="2398587"/>
                  <a:pt x="1359582" y="2410449"/>
                </a:cubicBezTo>
                <a:cubicBezTo>
                  <a:pt x="1350517" y="2410449"/>
                  <a:pt x="1358346" y="2402489"/>
                  <a:pt x="1351753" y="2401553"/>
                </a:cubicBezTo>
                <a:cubicBezTo>
                  <a:pt x="1342687" y="2402489"/>
                  <a:pt x="1334857" y="2410449"/>
                  <a:pt x="1327027" y="2405455"/>
                </a:cubicBezTo>
                <a:cubicBezTo>
                  <a:pt x="1320434" y="2405455"/>
                  <a:pt x="1329706" y="2411385"/>
                  <a:pt x="1321876" y="2413414"/>
                </a:cubicBezTo>
                <a:cubicBezTo>
                  <a:pt x="1310132" y="2407483"/>
                  <a:pt x="1312810" y="2418409"/>
                  <a:pt x="1302302" y="2419346"/>
                </a:cubicBezTo>
                <a:cubicBezTo>
                  <a:pt x="1293236" y="2418409"/>
                  <a:pt x="1295708" y="2413414"/>
                  <a:pt x="1291793" y="2410449"/>
                </a:cubicBezTo>
                <a:cubicBezTo>
                  <a:pt x="1287879" y="2419346"/>
                  <a:pt x="1258002" y="2408420"/>
                  <a:pt x="1255323" y="2408420"/>
                </a:cubicBezTo>
                <a:cubicBezTo>
                  <a:pt x="1242652" y="2408420"/>
                  <a:pt x="1222678" y="2410703"/>
                  <a:pt x="1217308" y="2403877"/>
                </a:cubicBezTo>
                <a:lnTo>
                  <a:pt x="1217414" y="2400326"/>
                </a:lnTo>
                <a:lnTo>
                  <a:pt x="1205722" y="2402830"/>
                </a:lnTo>
                <a:cubicBezTo>
                  <a:pt x="1201807" y="2408803"/>
                  <a:pt x="1203249" y="2413834"/>
                  <a:pt x="1190063" y="2415878"/>
                </a:cubicBezTo>
                <a:cubicBezTo>
                  <a:pt x="1179762" y="2405817"/>
                  <a:pt x="1171933" y="2412891"/>
                  <a:pt x="1152360" y="2407860"/>
                </a:cubicBezTo>
                <a:lnTo>
                  <a:pt x="1152441" y="2406330"/>
                </a:lnTo>
                <a:lnTo>
                  <a:pt x="1151831" y="2406133"/>
                </a:lnTo>
                <a:cubicBezTo>
                  <a:pt x="1150076" y="2405036"/>
                  <a:pt x="1148772" y="2403629"/>
                  <a:pt x="1147963" y="2402158"/>
                </a:cubicBezTo>
                <a:lnTo>
                  <a:pt x="1149326" y="2394811"/>
                </a:lnTo>
                <a:lnTo>
                  <a:pt x="1137873" y="2390519"/>
                </a:lnTo>
                <a:cubicBezTo>
                  <a:pt x="1130148" y="2388602"/>
                  <a:pt x="1121559" y="2387069"/>
                  <a:pt x="1112853" y="2385379"/>
                </a:cubicBezTo>
                <a:lnTo>
                  <a:pt x="1090479" y="2380087"/>
                </a:lnTo>
                <a:lnTo>
                  <a:pt x="1084595" y="2380484"/>
                </a:lnTo>
                <a:lnTo>
                  <a:pt x="1084536" y="2380647"/>
                </a:lnTo>
                <a:cubicBezTo>
                  <a:pt x="1083734" y="2382725"/>
                  <a:pt x="1083541" y="2381045"/>
                  <a:pt x="1076741" y="2381045"/>
                </a:cubicBezTo>
                <a:cubicBezTo>
                  <a:pt x="1076741" y="2381045"/>
                  <a:pt x="1076741" y="2381045"/>
                  <a:pt x="1087044" y="2392051"/>
                </a:cubicBezTo>
                <a:cubicBezTo>
                  <a:pt x="1081892" y="2395038"/>
                  <a:pt x="1080656" y="2398025"/>
                  <a:pt x="1083129" y="2401955"/>
                </a:cubicBezTo>
                <a:cubicBezTo>
                  <a:pt x="1090959" y="2401012"/>
                  <a:pt x="1085808" y="2398025"/>
                  <a:pt x="1088486" y="2395981"/>
                </a:cubicBezTo>
                <a:cubicBezTo>
                  <a:pt x="1092196" y="2401012"/>
                  <a:pt x="1096111" y="2401955"/>
                  <a:pt x="1100232" y="2401955"/>
                </a:cubicBezTo>
                <a:cubicBezTo>
                  <a:pt x="1097554" y="2404943"/>
                  <a:pt x="1102705" y="2408873"/>
                  <a:pt x="1093638" y="2410917"/>
                </a:cubicBezTo>
                <a:cubicBezTo>
                  <a:pt x="1089723" y="2408873"/>
                  <a:pt x="1087044" y="2405886"/>
                  <a:pt x="1080656" y="2409974"/>
                </a:cubicBezTo>
                <a:cubicBezTo>
                  <a:pt x="1088486" y="2414848"/>
                  <a:pt x="1096111" y="2420822"/>
                  <a:pt x="1102705" y="2425853"/>
                </a:cubicBezTo>
                <a:cubicBezTo>
                  <a:pt x="1088486" y="2428840"/>
                  <a:pt x="1114451" y="2436702"/>
                  <a:pt x="1101468" y="2439689"/>
                </a:cubicBezTo>
                <a:cubicBezTo>
                  <a:pt x="1094875" y="2438746"/>
                  <a:pt x="1098790" y="2434816"/>
                  <a:pt x="1090959" y="2435759"/>
                </a:cubicBezTo>
                <a:cubicBezTo>
                  <a:pt x="1096111" y="2433715"/>
                  <a:pt x="1089723" y="2429784"/>
                  <a:pt x="1090959" y="2427740"/>
                </a:cubicBezTo>
                <a:cubicBezTo>
                  <a:pt x="1088486" y="2428840"/>
                  <a:pt x="1085808" y="2427740"/>
                  <a:pt x="1081892" y="2429784"/>
                </a:cubicBezTo>
                <a:cubicBezTo>
                  <a:pt x="1081892" y="2429784"/>
                  <a:pt x="1081892" y="2429784"/>
                  <a:pt x="1089723" y="2436702"/>
                </a:cubicBezTo>
                <a:cubicBezTo>
                  <a:pt x="1077977" y="2436702"/>
                  <a:pt x="1087044" y="2443620"/>
                  <a:pt x="1081892" y="2447708"/>
                </a:cubicBezTo>
                <a:cubicBezTo>
                  <a:pt x="1074062" y="2438746"/>
                  <a:pt x="1083129" y="2427740"/>
                  <a:pt x="1062317" y="2423810"/>
                </a:cubicBezTo>
                <a:cubicBezTo>
                  <a:pt x="1054486" y="2431828"/>
                  <a:pt x="1081892" y="2449594"/>
                  <a:pt x="1055928" y="2451639"/>
                </a:cubicBezTo>
                <a:cubicBezTo>
                  <a:pt x="1054486" y="2454625"/>
                  <a:pt x="1058401" y="2456669"/>
                  <a:pt x="1061080" y="2459657"/>
                </a:cubicBezTo>
                <a:cubicBezTo>
                  <a:pt x="1063759" y="2458557"/>
                  <a:pt x="1066232" y="2456669"/>
                  <a:pt x="1067674" y="2458557"/>
                </a:cubicBezTo>
                <a:cubicBezTo>
                  <a:pt x="1059844" y="2472549"/>
                  <a:pt x="1070147" y="2489372"/>
                  <a:pt x="1059844" y="2503365"/>
                </a:cubicBezTo>
                <a:cubicBezTo>
                  <a:pt x="1062317" y="2502265"/>
                  <a:pt x="1064995" y="2505252"/>
                  <a:pt x="1067674" y="2505252"/>
                </a:cubicBezTo>
                <a:cubicBezTo>
                  <a:pt x="1059844" y="2507296"/>
                  <a:pt x="1067674" y="2511226"/>
                  <a:pt x="1062317" y="2514213"/>
                </a:cubicBezTo>
                <a:cubicBezTo>
                  <a:pt x="1057165" y="2510283"/>
                  <a:pt x="1061080" y="2506352"/>
                  <a:pt x="1053250" y="2508239"/>
                </a:cubicBezTo>
                <a:cubicBezTo>
                  <a:pt x="1052013" y="2514213"/>
                  <a:pt x="1049334" y="2520188"/>
                  <a:pt x="1050571" y="2526162"/>
                </a:cubicBezTo>
                <a:cubicBezTo>
                  <a:pt x="1046655" y="2530093"/>
                  <a:pt x="1044183" y="2527106"/>
                  <a:pt x="1040268" y="2530093"/>
                </a:cubicBezTo>
                <a:cubicBezTo>
                  <a:pt x="1042741" y="2531193"/>
                  <a:pt x="1045419" y="2531193"/>
                  <a:pt x="1046655" y="2533081"/>
                </a:cubicBezTo>
                <a:cubicBezTo>
                  <a:pt x="1042741" y="2535125"/>
                  <a:pt x="1038825" y="2534181"/>
                  <a:pt x="1034910" y="2537011"/>
                </a:cubicBezTo>
                <a:cubicBezTo>
                  <a:pt x="1038825" y="2542042"/>
                  <a:pt x="1036352" y="2542042"/>
                  <a:pt x="1041504" y="2544086"/>
                </a:cubicBezTo>
                <a:cubicBezTo>
                  <a:pt x="1034910" y="2545973"/>
                  <a:pt x="1029758" y="2542985"/>
                  <a:pt x="1023370" y="2545029"/>
                </a:cubicBezTo>
                <a:cubicBezTo>
                  <a:pt x="1024606" y="2548960"/>
                  <a:pt x="1028521" y="2553991"/>
                  <a:pt x="1021928" y="2556978"/>
                </a:cubicBezTo>
                <a:cubicBezTo>
                  <a:pt x="1021928" y="2556978"/>
                  <a:pt x="1021928" y="2556978"/>
                  <a:pt x="1019455" y="2554934"/>
                </a:cubicBezTo>
                <a:cubicBezTo>
                  <a:pt x="1018012" y="2554934"/>
                  <a:pt x="1016776" y="2555878"/>
                  <a:pt x="1016776" y="2554934"/>
                </a:cubicBezTo>
                <a:cubicBezTo>
                  <a:pt x="1023370" y="2552891"/>
                  <a:pt x="1021928" y="2545973"/>
                  <a:pt x="1016776" y="2547073"/>
                </a:cubicBezTo>
                <a:cubicBezTo>
                  <a:pt x="1015539" y="2554934"/>
                  <a:pt x="1014097" y="2559966"/>
                  <a:pt x="1020691" y="2566884"/>
                </a:cubicBezTo>
                <a:cubicBezTo>
                  <a:pt x="1011624" y="2566884"/>
                  <a:pt x="1016776" y="2571915"/>
                  <a:pt x="1008945" y="2571915"/>
                </a:cubicBezTo>
                <a:cubicBezTo>
                  <a:pt x="1012860" y="2571915"/>
                  <a:pt x="1016776" y="2574903"/>
                  <a:pt x="1012860" y="2577889"/>
                </a:cubicBezTo>
                <a:cubicBezTo>
                  <a:pt x="1007709" y="2572858"/>
                  <a:pt x="1001115" y="2571915"/>
                  <a:pt x="993284" y="2575846"/>
                </a:cubicBezTo>
                <a:cubicBezTo>
                  <a:pt x="993284" y="2570814"/>
                  <a:pt x="993284" y="2566884"/>
                  <a:pt x="992048" y="2562953"/>
                </a:cubicBezTo>
                <a:cubicBezTo>
                  <a:pt x="986897" y="2564840"/>
                  <a:pt x="984218" y="2558865"/>
                  <a:pt x="979066" y="2563897"/>
                </a:cubicBezTo>
                <a:cubicBezTo>
                  <a:pt x="989369" y="2569871"/>
                  <a:pt x="988133" y="2575846"/>
                  <a:pt x="988133" y="2583707"/>
                </a:cubicBezTo>
                <a:cubicBezTo>
                  <a:pt x="994727" y="2583707"/>
                  <a:pt x="1005030" y="2587794"/>
                  <a:pt x="998642" y="2592669"/>
                </a:cubicBezTo>
                <a:cubicBezTo>
                  <a:pt x="994727" y="2589681"/>
                  <a:pt x="997200" y="2587794"/>
                  <a:pt x="992048" y="2584807"/>
                </a:cubicBezTo>
                <a:cubicBezTo>
                  <a:pt x="986897" y="2584807"/>
                  <a:pt x="981539" y="2588738"/>
                  <a:pt x="981539" y="2590782"/>
                </a:cubicBezTo>
                <a:cubicBezTo>
                  <a:pt x="982981" y="2591725"/>
                  <a:pt x="993284" y="2590782"/>
                  <a:pt x="989369" y="2595656"/>
                </a:cubicBezTo>
                <a:cubicBezTo>
                  <a:pt x="988133" y="2593769"/>
                  <a:pt x="979066" y="2593769"/>
                  <a:pt x="982981" y="2596756"/>
                </a:cubicBezTo>
                <a:cubicBezTo>
                  <a:pt x="985454" y="2600687"/>
                  <a:pt x="992048" y="2597700"/>
                  <a:pt x="994727" y="2603674"/>
                </a:cubicBezTo>
                <a:cubicBezTo>
                  <a:pt x="990811" y="2605718"/>
                  <a:pt x="980302" y="2604617"/>
                  <a:pt x="982981" y="2607605"/>
                </a:cubicBezTo>
                <a:cubicBezTo>
                  <a:pt x="986897" y="2606661"/>
                  <a:pt x="998642" y="2610592"/>
                  <a:pt x="995963" y="2614523"/>
                </a:cubicBezTo>
                <a:cubicBezTo>
                  <a:pt x="989369" y="2616566"/>
                  <a:pt x="990811" y="2611535"/>
                  <a:pt x="986897" y="2612636"/>
                </a:cubicBezTo>
                <a:cubicBezTo>
                  <a:pt x="990811" y="2616566"/>
                  <a:pt x="976387" y="2613580"/>
                  <a:pt x="981539" y="2616566"/>
                </a:cubicBezTo>
                <a:cubicBezTo>
                  <a:pt x="994727" y="2614523"/>
                  <a:pt x="997200" y="2629459"/>
                  <a:pt x="990811" y="2634490"/>
                </a:cubicBezTo>
                <a:cubicBezTo>
                  <a:pt x="994727" y="2636377"/>
                  <a:pt x="999879" y="2636377"/>
                  <a:pt x="1003793" y="2636377"/>
                </a:cubicBezTo>
                <a:cubicBezTo>
                  <a:pt x="998642" y="2639364"/>
                  <a:pt x="999879" y="2642351"/>
                  <a:pt x="1006473" y="2641408"/>
                </a:cubicBezTo>
                <a:cubicBezTo>
                  <a:pt x="1002557" y="2644395"/>
                  <a:pt x="1006473" y="2647382"/>
                  <a:pt x="1001115" y="2649426"/>
                </a:cubicBezTo>
                <a:cubicBezTo>
                  <a:pt x="993284" y="2646439"/>
                  <a:pt x="988133" y="2635433"/>
                  <a:pt x="988133" y="2629459"/>
                </a:cubicBezTo>
                <a:cubicBezTo>
                  <a:pt x="986897" y="2630402"/>
                  <a:pt x="985454" y="2629459"/>
                  <a:pt x="982981" y="2629459"/>
                </a:cubicBezTo>
                <a:cubicBezTo>
                  <a:pt x="990811" y="2648326"/>
                  <a:pt x="981539" y="2658231"/>
                  <a:pt x="994727" y="2678198"/>
                </a:cubicBezTo>
                <a:cubicBezTo>
                  <a:pt x="988133" y="2679142"/>
                  <a:pt x="990811" y="2682129"/>
                  <a:pt x="985454" y="2684173"/>
                </a:cubicBezTo>
                <a:cubicBezTo>
                  <a:pt x="976387" y="2677255"/>
                  <a:pt x="979066" y="2665149"/>
                  <a:pt x="963405" y="2659332"/>
                </a:cubicBezTo>
                <a:cubicBezTo>
                  <a:pt x="963405" y="2659332"/>
                  <a:pt x="963405" y="2659332"/>
                  <a:pt x="959489" y="2660275"/>
                </a:cubicBezTo>
                <a:cubicBezTo>
                  <a:pt x="967320" y="2673167"/>
                  <a:pt x="984218" y="2687160"/>
                  <a:pt x="967320" y="2698009"/>
                </a:cubicBezTo>
                <a:cubicBezTo>
                  <a:pt x="969999" y="2709014"/>
                  <a:pt x="976387" y="2724894"/>
                  <a:pt x="963405" y="2730869"/>
                </a:cubicBezTo>
                <a:cubicBezTo>
                  <a:pt x="967320" y="2730869"/>
                  <a:pt x="968557" y="2733856"/>
                  <a:pt x="966084" y="2735743"/>
                </a:cubicBezTo>
                <a:cubicBezTo>
                  <a:pt x="963405" y="2732755"/>
                  <a:pt x="960726" y="2730869"/>
                  <a:pt x="955574" y="2733856"/>
                </a:cubicBezTo>
                <a:cubicBezTo>
                  <a:pt x="955574" y="2736843"/>
                  <a:pt x="952895" y="2739674"/>
                  <a:pt x="946507" y="2741717"/>
                </a:cubicBezTo>
                <a:cubicBezTo>
                  <a:pt x="948980" y="2744704"/>
                  <a:pt x="946507" y="2747691"/>
                  <a:pt x="952895" y="2745647"/>
                </a:cubicBezTo>
                <a:cubicBezTo>
                  <a:pt x="952895" y="2744704"/>
                  <a:pt x="950422" y="2742660"/>
                  <a:pt x="951659" y="2741717"/>
                </a:cubicBezTo>
                <a:cubicBezTo>
                  <a:pt x="960726" y="2742660"/>
                  <a:pt x="955574" y="2750679"/>
                  <a:pt x="963405" y="2755710"/>
                </a:cubicBezTo>
                <a:cubicBezTo>
                  <a:pt x="942592" y="2756653"/>
                  <a:pt x="941149" y="2771589"/>
                  <a:pt x="930846" y="2780551"/>
                </a:cubicBezTo>
                <a:cubicBezTo>
                  <a:pt x="927549" y="2779058"/>
                  <a:pt x="924304" y="2780041"/>
                  <a:pt x="921058" y="2781770"/>
                </a:cubicBezTo>
                <a:lnTo>
                  <a:pt x="911276" y="2787466"/>
                </a:lnTo>
                <a:lnTo>
                  <a:pt x="911265" y="2787466"/>
                </a:lnTo>
                <a:lnTo>
                  <a:pt x="886388" y="2773653"/>
                </a:lnTo>
                <a:cubicBezTo>
                  <a:pt x="880051" y="2766559"/>
                  <a:pt x="875518" y="2757597"/>
                  <a:pt x="872324" y="2748635"/>
                </a:cubicBezTo>
                <a:cubicBezTo>
                  <a:pt x="880154" y="2748635"/>
                  <a:pt x="877475" y="2752723"/>
                  <a:pt x="882627" y="2752723"/>
                </a:cubicBezTo>
                <a:cubicBezTo>
                  <a:pt x="889222" y="2746748"/>
                  <a:pt x="876239" y="2742660"/>
                  <a:pt x="881391" y="2734799"/>
                </a:cubicBezTo>
                <a:cubicBezTo>
                  <a:pt x="855220" y="2730869"/>
                  <a:pt x="876239" y="2700996"/>
                  <a:pt x="864493" y="2691091"/>
                </a:cubicBezTo>
                <a:cubicBezTo>
                  <a:pt x="878712" y="2679142"/>
                  <a:pt x="872324" y="2660275"/>
                  <a:pt x="866966" y="2652257"/>
                </a:cubicBezTo>
                <a:cubicBezTo>
                  <a:pt x="865730" y="2655243"/>
                  <a:pt x="870882" y="2664206"/>
                  <a:pt x="860578" y="2663262"/>
                </a:cubicBezTo>
                <a:cubicBezTo>
                  <a:pt x="859136" y="2654301"/>
                  <a:pt x="864493" y="2647382"/>
                  <a:pt x="856663" y="2640465"/>
                </a:cubicBezTo>
                <a:cubicBezTo>
                  <a:pt x="861814" y="2632446"/>
                  <a:pt x="864493" y="2618610"/>
                  <a:pt x="853984" y="2616566"/>
                </a:cubicBezTo>
                <a:cubicBezTo>
                  <a:pt x="856663" y="2610592"/>
                  <a:pt x="857899" y="2617510"/>
                  <a:pt x="863051" y="2613580"/>
                </a:cubicBezTo>
                <a:cubicBezTo>
                  <a:pt x="863051" y="2607605"/>
                  <a:pt x="851305" y="2601630"/>
                  <a:pt x="859136" y="2596756"/>
                </a:cubicBezTo>
                <a:cubicBezTo>
                  <a:pt x="863051" y="2598643"/>
                  <a:pt x="853984" y="2604617"/>
                  <a:pt x="861814" y="2603674"/>
                </a:cubicBezTo>
                <a:cubicBezTo>
                  <a:pt x="864493" y="2598643"/>
                  <a:pt x="870882" y="2589681"/>
                  <a:pt x="857899" y="2591725"/>
                </a:cubicBezTo>
                <a:cubicBezTo>
                  <a:pt x="865730" y="2579776"/>
                  <a:pt x="864493" y="2565940"/>
                  <a:pt x="864493" y="2552891"/>
                </a:cubicBezTo>
                <a:cubicBezTo>
                  <a:pt x="852748" y="2550061"/>
                  <a:pt x="843680" y="2536068"/>
                  <a:pt x="843680" y="2528207"/>
                </a:cubicBezTo>
                <a:cubicBezTo>
                  <a:pt x="837086" y="2528207"/>
                  <a:pt x="830492" y="2528207"/>
                  <a:pt x="824104" y="2530093"/>
                </a:cubicBezTo>
                <a:cubicBezTo>
                  <a:pt x="824104" y="2532137"/>
                  <a:pt x="825341" y="2534181"/>
                  <a:pt x="828020" y="2537011"/>
                </a:cubicBezTo>
                <a:cubicBezTo>
                  <a:pt x="833171" y="2535125"/>
                  <a:pt x="837086" y="2535125"/>
                  <a:pt x="841002" y="2538112"/>
                </a:cubicBezTo>
                <a:cubicBezTo>
                  <a:pt x="837086" y="2545029"/>
                  <a:pt x="833171" y="2551948"/>
                  <a:pt x="837086" y="2558865"/>
                </a:cubicBezTo>
                <a:cubicBezTo>
                  <a:pt x="834407" y="2560909"/>
                  <a:pt x="831934" y="2559966"/>
                  <a:pt x="828020" y="2560909"/>
                </a:cubicBezTo>
                <a:cubicBezTo>
                  <a:pt x="837086" y="2563897"/>
                  <a:pt x="829256" y="2565940"/>
                  <a:pt x="831934" y="2569871"/>
                </a:cubicBezTo>
                <a:cubicBezTo>
                  <a:pt x="834407" y="2569871"/>
                  <a:pt x="835850" y="2568927"/>
                  <a:pt x="837086" y="2569871"/>
                </a:cubicBezTo>
                <a:cubicBezTo>
                  <a:pt x="833171" y="2570814"/>
                  <a:pt x="831934" y="2572858"/>
                  <a:pt x="830492" y="2574903"/>
                </a:cubicBezTo>
                <a:cubicBezTo>
                  <a:pt x="826577" y="2569871"/>
                  <a:pt x="824104" y="2558865"/>
                  <a:pt x="813595" y="2560909"/>
                </a:cubicBezTo>
                <a:cubicBezTo>
                  <a:pt x="815038" y="2570814"/>
                  <a:pt x="825341" y="2575846"/>
                  <a:pt x="818952" y="2583707"/>
                </a:cubicBezTo>
                <a:cubicBezTo>
                  <a:pt x="813595" y="2586694"/>
                  <a:pt x="812358" y="2579776"/>
                  <a:pt x="807207" y="2583707"/>
                </a:cubicBezTo>
                <a:cubicBezTo>
                  <a:pt x="803292" y="2588738"/>
                  <a:pt x="809680" y="2595656"/>
                  <a:pt x="801849" y="2600687"/>
                </a:cubicBezTo>
                <a:cubicBezTo>
                  <a:pt x="799376" y="2597700"/>
                  <a:pt x="796698" y="2594712"/>
                  <a:pt x="791546" y="2596756"/>
                </a:cubicBezTo>
                <a:cubicBezTo>
                  <a:pt x="786394" y="2600687"/>
                  <a:pt x="795461" y="2605718"/>
                  <a:pt x="783716" y="2609649"/>
                </a:cubicBezTo>
                <a:cubicBezTo>
                  <a:pt x="784952" y="2610592"/>
                  <a:pt x="787631" y="2609649"/>
                  <a:pt x="788867" y="2611535"/>
                </a:cubicBezTo>
                <a:cubicBezTo>
                  <a:pt x="778564" y="2616566"/>
                  <a:pt x="777121" y="2622541"/>
                  <a:pt x="778564" y="2629459"/>
                </a:cubicBezTo>
                <a:cubicBezTo>
                  <a:pt x="765581" y="2633390"/>
                  <a:pt x="770734" y="2639364"/>
                  <a:pt x="761460" y="2644395"/>
                </a:cubicBezTo>
                <a:cubicBezTo>
                  <a:pt x="749921" y="2618610"/>
                  <a:pt x="762903" y="2593769"/>
                  <a:pt x="748478" y="2566884"/>
                </a:cubicBezTo>
                <a:cubicBezTo>
                  <a:pt x="756308" y="2559966"/>
                  <a:pt x="751157" y="2551004"/>
                  <a:pt x="744563" y="2542042"/>
                </a:cubicBezTo>
                <a:cubicBezTo>
                  <a:pt x="755072" y="2536068"/>
                  <a:pt x="753630" y="2523176"/>
                  <a:pt x="739411" y="2518144"/>
                </a:cubicBezTo>
                <a:cubicBezTo>
                  <a:pt x="742090" y="2525219"/>
                  <a:pt x="752394" y="2532137"/>
                  <a:pt x="746005" y="2538112"/>
                </a:cubicBezTo>
                <a:cubicBezTo>
                  <a:pt x="740648" y="2527106"/>
                  <a:pt x="730345" y="2516257"/>
                  <a:pt x="738175" y="2506352"/>
                </a:cubicBezTo>
                <a:cubicBezTo>
                  <a:pt x="730345" y="2508239"/>
                  <a:pt x="729108" y="2500378"/>
                  <a:pt x="730345" y="2496290"/>
                </a:cubicBezTo>
                <a:cubicBezTo>
                  <a:pt x="735496" y="2499277"/>
                  <a:pt x="738175" y="2507296"/>
                  <a:pt x="744563" y="2507296"/>
                </a:cubicBezTo>
                <a:cubicBezTo>
                  <a:pt x="743327" y="2498334"/>
                  <a:pt x="727666" y="2495346"/>
                  <a:pt x="725193" y="2486385"/>
                </a:cubicBezTo>
                <a:cubicBezTo>
                  <a:pt x="729108" y="2484499"/>
                  <a:pt x="731581" y="2485442"/>
                  <a:pt x="734260" y="2483397"/>
                </a:cubicBezTo>
                <a:cubicBezTo>
                  <a:pt x="734260" y="2479466"/>
                  <a:pt x="729108" y="2470505"/>
                  <a:pt x="738175" y="2473493"/>
                </a:cubicBezTo>
                <a:cubicBezTo>
                  <a:pt x="736732" y="2472549"/>
                  <a:pt x="738175" y="2471449"/>
                  <a:pt x="736732" y="2470505"/>
                </a:cubicBezTo>
                <a:cubicBezTo>
                  <a:pt x="731581" y="2469562"/>
                  <a:pt x="727666" y="2464530"/>
                  <a:pt x="722514" y="2464530"/>
                </a:cubicBezTo>
                <a:cubicBezTo>
                  <a:pt x="721277" y="2465474"/>
                  <a:pt x="721277" y="2466575"/>
                  <a:pt x="721277" y="2468461"/>
                </a:cubicBezTo>
                <a:cubicBezTo>
                  <a:pt x="723750" y="2471449"/>
                  <a:pt x="727666" y="2469562"/>
                  <a:pt x="730345" y="2473493"/>
                </a:cubicBezTo>
                <a:cubicBezTo>
                  <a:pt x="719836" y="2475536"/>
                  <a:pt x="734260" y="2479466"/>
                  <a:pt x="729108" y="2481511"/>
                </a:cubicBezTo>
                <a:cubicBezTo>
                  <a:pt x="719836" y="2476480"/>
                  <a:pt x="726429" y="2476480"/>
                  <a:pt x="721277" y="2470505"/>
                </a:cubicBezTo>
                <a:cubicBezTo>
                  <a:pt x="715920" y="2469562"/>
                  <a:pt x="709532" y="2473493"/>
                  <a:pt x="710768" y="2477423"/>
                </a:cubicBezTo>
                <a:cubicBezTo>
                  <a:pt x="706854" y="2473493"/>
                  <a:pt x="702938" y="2468461"/>
                  <a:pt x="696344" y="2471449"/>
                </a:cubicBezTo>
                <a:cubicBezTo>
                  <a:pt x="705617" y="2477423"/>
                  <a:pt x="725193" y="2491416"/>
                  <a:pt x="709532" y="2495346"/>
                </a:cubicBezTo>
                <a:cubicBezTo>
                  <a:pt x="710768" y="2498334"/>
                  <a:pt x="712005" y="2501321"/>
                  <a:pt x="712005" y="2505252"/>
                </a:cubicBezTo>
                <a:cubicBezTo>
                  <a:pt x="714684" y="2504308"/>
                  <a:pt x="717363" y="2504308"/>
                  <a:pt x="719836" y="2504308"/>
                </a:cubicBezTo>
                <a:cubicBezTo>
                  <a:pt x="715920" y="2507296"/>
                  <a:pt x="713447" y="2509183"/>
                  <a:pt x="714684" y="2512170"/>
                </a:cubicBezTo>
                <a:cubicBezTo>
                  <a:pt x="727666" y="2542985"/>
                  <a:pt x="722514" y="2576789"/>
                  <a:pt x="719836" y="2601630"/>
                </a:cubicBezTo>
                <a:cubicBezTo>
                  <a:pt x="709532" y="2592669"/>
                  <a:pt x="709532" y="2589681"/>
                  <a:pt x="702938" y="2582764"/>
                </a:cubicBezTo>
                <a:cubicBezTo>
                  <a:pt x="701702" y="2589681"/>
                  <a:pt x="701702" y="2596756"/>
                  <a:pt x="701702" y="2603674"/>
                </a:cubicBezTo>
                <a:cubicBezTo>
                  <a:pt x="699023" y="2605718"/>
                  <a:pt x="688719" y="2607605"/>
                  <a:pt x="691192" y="2609649"/>
                </a:cubicBezTo>
                <a:cubicBezTo>
                  <a:pt x="702938" y="2612636"/>
                  <a:pt x="684804" y="2620497"/>
                  <a:pt x="695107" y="2626472"/>
                </a:cubicBezTo>
                <a:cubicBezTo>
                  <a:pt x="687277" y="2628516"/>
                  <a:pt x="692634" y="2631502"/>
                  <a:pt x="688719" y="2636377"/>
                </a:cubicBezTo>
                <a:cubicBezTo>
                  <a:pt x="684804" y="2633390"/>
                  <a:pt x="688719" y="2630402"/>
                  <a:pt x="684804" y="2627415"/>
                </a:cubicBezTo>
                <a:cubicBezTo>
                  <a:pt x="679446" y="2629459"/>
                  <a:pt x="674295" y="2628516"/>
                  <a:pt x="673058" y="2632446"/>
                </a:cubicBezTo>
                <a:cubicBezTo>
                  <a:pt x="659870" y="2620497"/>
                  <a:pt x="653482" y="2606661"/>
                  <a:pt x="644415" y="2591725"/>
                </a:cubicBezTo>
                <a:cubicBezTo>
                  <a:pt x="639057" y="2581820"/>
                  <a:pt x="626075" y="2560909"/>
                  <a:pt x="629991" y="2550061"/>
                </a:cubicBezTo>
                <a:cubicBezTo>
                  <a:pt x="614330" y="2536068"/>
                  <a:pt x="615772" y="2514213"/>
                  <a:pt x="615772" y="2498334"/>
                </a:cubicBezTo>
                <a:cubicBezTo>
                  <a:pt x="605262" y="2485442"/>
                  <a:pt x="606499" y="2470505"/>
                  <a:pt x="605262" y="2455569"/>
                </a:cubicBezTo>
                <a:cubicBezTo>
                  <a:pt x="607941" y="2456669"/>
                  <a:pt x="609178" y="2456669"/>
                  <a:pt x="611857" y="2455569"/>
                </a:cubicBezTo>
                <a:cubicBezTo>
                  <a:pt x="607941" y="2450695"/>
                  <a:pt x="613093" y="2439689"/>
                  <a:pt x="602584" y="2440633"/>
                </a:cubicBezTo>
                <a:cubicBezTo>
                  <a:pt x="602584" y="2440633"/>
                  <a:pt x="602584" y="2440633"/>
                  <a:pt x="613093" y="2435759"/>
                </a:cubicBezTo>
                <a:cubicBezTo>
                  <a:pt x="609178" y="2417835"/>
                  <a:pt x="601348" y="2399912"/>
                  <a:pt x="581771" y="2384032"/>
                </a:cubicBezTo>
                <a:cubicBezTo>
                  <a:pt x="587129" y="2378057"/>
                  <a:pt x="585686" y="2371140"/>
                  <a:pt x="575383" y="2368152"/>
                </a:cubicBezTo>
                <a:cubicBezTo>
                  <a:pt x="594959" y="2352272"/>
                  <a:pt x="601348" y="2329475"/>
                  <a:pt x="594959" y="2314539"/>
                </a:cubicBezTo>
                <a:cubicBezTo>
                  <a:pt x="591044" y="2316583"/>
                  <a:pt x="597432" y="2319570"/>
                  <a:pt x="592280" y="2320513"/>
                </a:cubicBezTo>
                <a:cubicBezTo>
                  <a:pt x="585686" y="2317526"/>
                  <a:pt x="587129" y="2315483"/>
                  <a:pt x="579299" y="2312494"/>
                </a:cubicBezTo>
                <a:cubicBezTo>
                  <a:pt x="579299" y="2309508"/>
                  <a:pt x="584450" y="2306521"/>
                  <a:pt x="578062" y="2302590"/>
                </a:cubicBezTo>
                <a:cubicBezTo>
                  <a:pt x="584450" y="2299603"/>
                  <a:pt x="588366" y="2296615"/>
                  <a:pt x="587129" y="2292684"/>
                </a:cubicBezTo>
                <a:cubicBezTo>
                  <a:pt x="581771" y="2293628"/>
                  <a:pt x="578062" y="2289697"/>
                  <a:pt x="574147" y="2286710"/>
                </a:cubicBezTo>
                <a:cubicBezTo>
                  <a:pt x="594959" y="2265799"/>
                  <a:pt x="600111" y="2243945"/>
                  <a:pt x="589602" y="2219104"/>
                </a:cubicBezTo>
                <a:cubicBezTo>
                  <a:pt x="602584" y="2215173"/>
                  <a:pt x="587129" y="2206212"/>
                  <a:pt x="589602" y="2201338"/>
                </a:cubicBezTo>
                <a:cubicBezTo>
                  <a:pt x="571468" y="2200237"/>
                  <a:pt x="588366" y="2178383"/>
                  <a:pt x="566110" y="2183414"/>
                </a:cubicBezTo>
                <a:cubicBezTo>
                  <a:pt x="597432" y="2158572"/>
                  <a:pt x="570231" y="2117851"/>
                  <a:pt x="583214" y="2096941"/>
                </a:cubicBezTo>
                <a:cubicBezTo>
                  <a:pt x="575383" y="2089080"/>
                  <a:pt x="574147" y="2073200"/>
                  <a:pt x="579299" y="2063137"/>
                </a:cubicBezTo>
                <a:cubicBezTo>
                  <a:pt x="570231" y="2044270"/>
                  <a:pt x="576620" y="2027448"/>
                  <a:pt x="581771" y="2010467"/>
                </a:cubicBezTo>
                <a:cubicBezTo>
                  <a:pt x="576620" y="1994587"/>
                  <a:pt x="579299" y="1986726"/>
                  <a:pt x="574147" y="1972734"/>
                </a:cubicBezTo>
                <a:cubicBezTo>
                  <a:pt x="578062" y="1969746"/>
                  <a:pt x="585686" y="1972734"/>
                  <a:pt x="584450" y="1968803"/>
                </a:cubicBezTo>
                <a:cubicBezTo>
                  <a:pt x="571468" y="1965815"/>
                  <a:pt x="576620" y="1951823"/>
                  <a:pt x="578062" y="1943961"/>
                </a:cubicBezTo>
                <a:cubicBezTo>
                  <a:pt x="579299" y="1946005"/>
                  <a:pt x="580535" y="1949936"/>
                  <a:pt x="583214" y="1948835"/>
                </a:cubicBezTo>
                <a:cubicBezTo>
                  <a:pt x="575383" y="1934999"/>
                  <a:pt x="578062" y="1913146"/>
                  <a:pt x="591044" y="1901197"/>
                </a:cubicBezTo>
                <a:cubicBezTo>
                  <a:pt x="591044" y="1905127"/>
                  <a:pt x="600111" y="1925095"/>
                  <a:pt x="584450" y="1922108"/>
                </a:cubicBezTo>
                <a:cubicBezTo>
                  <a:pt x="584450" y="1929025"/>
                  <a:pt x="591044" y="1937044"/>
                  <a:pt x="592280" y="1943961"/>
                </a:cubicBezTo>
                <a:cubicBezTo>
                  <a:pt x="596196" y="1943018"/>
                  <a:pt x="596196" y="1940031"/>
                  <a:pt x="600111" y="1938930"/>
                </a:cubicBezTo>
                <a:cubicBezTo>
                  <a:pt x="604026" y="1943961"/>
                  <a:pt x="593517" y="1951823"/>
                  <a:pt x="602584" y="1953866"/>
                </a:cubicBezTo>
                <a:cubicBezTo>
                  <a:pt x="602584" y="1946949"/>
                  <a:pt x="610414" y="1934999"/>
                  <a:pt x="597432" y="1929025"/>
                </a:cubicBezTo>
                <a:cubicBezTo>
                  <a:pt x="609178" y="1922108"/>
                  <a:pt x="609847" y="1911927"/>
                  <a:pt x="610028" y="1901236"/>
                </a:cubicBezTo>
                <a:lnTo>
                  <a:pt x="610935" y="1889355"/>
                </a:lnTo>
                <a:lnTo>
                  <a:pt x="610705" y="1889143"/>
                </a:lnTo>
                <a:lnTo>
                  <a:pt x="611016" y="1888293"/>
                </a:lnTo>
                <a:lnTo>
                  <a:pt x="611255" y="1885159"/>
                </a:lnTo>
                <a:lnTo>
                  <a:pt x="618292" y="1872827"/>
                </a:lnTo>
                <a:lnTo>
                  <a:pt x="599130" y="1869286"/>
                </a:lnTo>
                <a:lnTo>
                  <a:pt x="599719" y="1873677"/>
                </a:lnTo>
                <a:lnTo>
                  <a:pt x="598679" y="1877649"/>
                </a:lnTo>
                <a:lnTo>
                  <a:pt x="605030" y="1877298"/>
                </a:lnTo>
                <a:cubicBezTo>
                  <a:pt x="601120" y="1885032"/>
                  <a:pt x="607704" y="1887972"/>
                  <a:pt x="607704" y="1893850"/>
                </a:cubicBezTo>
                <a:cubicBezTo>
                  <a:pt x="604412" y="1891916"/>
                  <a:pt x="600503" y="1891916"/>
                  <a:pt x="596285" y="1892284"/>
                </a:cubicBezTo>
                <a:lnTo>
                  <a:pt x="593375" y="1892424"/>
                </a:lnTo>
                <a:lnTo>
                  <a:pt x="591903" y="1898705"/>
                </a:lnTo>
                <a:lnTo>
                  <a:pt x="589446" y="1892613"/>
                </a:lnTo>
                <a:lnTo>
                  <a:pt x="583015" y="1892922"/>
                </a:lnTo>
                <a:cubicBezTo>
                  <a:pt x="581575" y="1886115"/>
                  <a:pt x="575197" y="1882093"/>
                  <a:pt x="575197" y="1875287"/>
                </a:cubicBezTo>
                <a:cubicBezTo>
                  <a:pt x="583015" y="1877298"/>
                  <a:pt x="592067" y="1879154"/>
                  <a:pt x="590834" y="1886115"/>
                </a:cubicBezTo>
                <a:cubicBezTo>
                  <a:pt x="594382" y="1885845"/>
                  <a:pt x="596067" y="1885032"/>
                  <a:pt x="596842" y="1883998"/>
                </a:cubicBezTo>
                <a:lnTo>
                  <a:pt x="597272" y="1881297"/>
                </a:lnTo>
                <a:lnTo>
                  <a:pt x="591169" y="1884836"/>
                </a:lnTo>
                <a:cubicBezTo>
                  <a:pt x="598951" y="1877047"/>
                  <a:pt x="589737" y="1865207"/>
                  <a:pt x="597517" y="1857261"/>
                </a:cubicBezTo>
                <a:lnTo>
                  <a:pt x="598939" y="1867862"/>
                </a:lnTo>
                <a:lnTo>
                  <a:pt x="600422" y="1859674"/>
                </a:lnTo>
                <a:cubicBezTo>
                  <a:pt x="601221" y="1856589"/>
                  <a:pt x="602509" y="1853877"/>
                  <a:pt x="605085" y="1852384"/>
                </a:cubicBezTo>
                <a:cubicBezTo>
                  <a:pt x="605085" y="1851283"/>
                  <a:pt x="602405" y="1850340"/>
                  <a:pt x="603849" y="1848295"/>
                </a:cubicBezTo>
                <a:cubicBezTo>
                  <a:pt x="601169" y="1848295"/>
                  <a:pt x="601169" y="1850340"/>
                  <a:pt x="599933" y="1852384"/>
                </a:cubicBezTo>
                <a:cubicBezTo>
                  <a:pt x="592101" y="1849396"/>
                  <a:pt x="605085" y="1845309"/>
                  <a:pt x="607765" y="1843421"/>
                </a:cubicBezTo>
                <a:cubicBezTo>
                  <a:pt x="592101" y="1840434"/>
                  <a:pt x="581590" y="1835403"/>
                  <a:pt x="565926" y="1840434"/>
                </a:cubicBezTo>
                <a:cubicBezTo>
                  <a:pt x="565926" y="1847352"/>
                  <a:pt x="570048" y="1852384"/>
                  <a:pt x="564689" y="1857257"/>
                </a:cubicBezTo>
                <a:cubicBezTo>
                  <a:pt x="537484" y="1854270"/>
                  <a:pt x="519141" y="1840434"/>
                  <a:pt x="491730" y="1832416"/>
                </a:cubicBezTo>
                <a:cubicBezTo>
                  <a:pt x="487813" y="1834460"/>
                  <a:pt x="490493" y="1846409"/>
                  <a:pt x="494409" y="1850340"/>
                </a:cubicBezTo>
                <a:cubicBezTo>
                  <a:pt x="489256" y="1856314"/>
                  <a:pt x="476272" y="1856314"/>
                  <a:pt x="472356" y="1863231"/>
                </a:cubicBezTo>
                <a:cubicBezTo>
                  <a:pt x="457928" y="1862288"/>
                  <a:pt x="460608" y="1861187"/>
                  <a:pt x="448861" y="1862288"/>
                </a:cubicBezTo>
                <a:cubicBezTo>
                  <a:pt x="441029" y="1853327"/>
                  <a:pt x="426601" y="1847352"/>
                  <a:pt x="421449" y="1837448"/>
                </a:cubicBezTo>
                <a:cubicBezTo>
                  <a:pt x="422686" y="1833360"/>
                  <a:pt x="430518" y="1834460"/>
                  <a:pt x="431960" y="1830529"/>
                </a:cubicBezTo>
                <a:cubicBezTo>
                  <a:pt x="426601" y="1825498"/>
                  <a:pt x="424128" y="1813550"/>
                  <a:pt x="431960" y="1807576"/>
                </a:cubicBezTo>
                <a:cubicBezTo>
                  <a:pt x="418769" y="1810562"/>
                  <a:pt x="416296" y="1797670"/>
                  <a:pt x="422686" y="1791696"/>
                </a:cubicBezTo>
                <a:cubicBezTo>
                  <a:pt x="408464" y="1798614"/>
                  <a:pt x="391564" y="1792640"/>
                  <a:pt x="386412" y="1807576"/>
                </a:cubicBezTo>
                <a:cubicBezTo>
                  <a:pt x="396717" y="1802701"/>
                  <a:pt x="395481" y="1807576"/>
                  <a:pt x="384969" y="1809619"/>
                </a:cubicBezTo>
                <a:cubicBezTo>
                  <a:pt x="386412" y="1812606"/>
                  <a:pt x="388885" y="1809619"/>
                  <a:pt x="394037" y="1810562"/>
                </a:cubicBezTo>
                <a:cubicBezTo>
                  <a:pt x="394037" y="1813550"/>
                  <a:pt x="390121" y="1813550"/>
                  <a:pt x="390121" y="1815594"/>
                </a:cubicBezTo>
                <a:cubicBezTo>
                  <a:pt x="394037" y="1820467"/>
                  <a:pt x="403312" y="1823454"/>
                  <a:pt x="411144" y="1826442"/>
                </a:cubicBezTo>
                <a:cubicBezTo>
                  <a:pt x="405785" y="1829429"/>
                  <a:pt x="401870" y="1834460"/>
                  <a:pt x="401870" y="1841378"/>
                </a:cubicBezTo>
                <a:cubicBezTo>
                  <a:pt x="386412" y="1840434"/>
                  <a:pt x="392801" y="1826442"/>
                  <a:pt x="377137" y="1830529"/>
                </a:cubicBezTo>
                <a:cubicBezTo>
                  <a:pt x="377137" y="1825498"/>
                  <a:pt x="379817" y="1818581"/>
                  <a:pt x="370748" y="1818581"/>
                </a:cubicBezTo>
                <a:cubicBezTo>
                  <a:pt x="377137" y="1817481"/>
                  <a:pt x="373221" y="1807576"/>
                  <a:pt x="379817" y="1807576"/>
                </a:cubicBezTo>
                <a:cubicBezTo>
                  <a:pt x="374664" y="1805689"/>
                  <a:pt x="369305" y="1802701"/>
                  <a:pt x="362916" y="1800658"/>
                </a:cubicBezTo>
                <a:cubicBezTo>
                  <a:pt x="365389" y="1796727"/>
                  <a:pt x="378579" y="1800658"/>
                  <a:pt x="384969" y="1800658"/>
                </a:cubicBezTo>
                <a:cubicBezTo>
                  <a:pt x="388885" y="1798614"/>
                  <a:pt x="390121" y="1793740"/>
                  <a:pt x="395481" y="1793740"/>
                </a:cubicBezTo>
                <a:lnTo>
                  <a:pt x="385059" y="1785134"/>
                </a:lnTo>
                <a:lnTo>
                  <a:pt x="385074" y="1785113"/>
                </a:lnTo>
                <a:lnTo>
                  <a:pt x="385016" y="1785098"/>
                </a:lnTo>
                <a:lnTo>
                  <a:pt x="376750" y="1778273"/>
                </a:lnTo>
                <a:cubicBezTo>
                  <a:pt x="368120" y="1774795"/>
                  <a:pt x="359000" y="1771336"/>
                  <a:pt x="355084" y="1762925"/>
                </a:cubicBezTo>
                <a:cubicBezTo>
                  <a:pt x="347252" y="1763868"/>
                  <a:pt x="352405" y="1773773"/>
                  <a:pt x="346016" y="1773773"/>
                </a:cubicBezTo>
                <a:cubicBezTo>
                  <a:pt x="346016" y="1776760"/>
                  <a:pt x="351169" y="1774873"/>
                  <a:pt x="352405" y="1772829"/>
                </a:cubicBezTo>
                <a:cubicBezTo>
                  <a:pt x="361474" y="1772829"/>
                  <a:pt x="343336" y="1777861"/>
                  <a:pt x="353642" y="1778804"/>
                </a:cubicBezTo>
                <a:cubicBezTo>
                  <a:pt x="352405" y="1782734"/>
                  <a:pt x="342100" y="1779748"/>
                  <a:pt x="340657" y="1783835"/>
                </a:cubicBezTo>
                <a:cubicBezTo>
                  <a:pt x="336741" y="1775817"/>
                  <a:pt x="327673" y="1778804"/>
                  <a:pt x="312009" y="1775817"/>
                </a:cubicBezTo>
                <a:cubicBezTo>
                  <a:pt x="313452" y="1767956"/>
                  <a:pt x="308093" y="1763868"/>
                  <a:pt x="293872" y="1764968"/>
                </a:cubicBezTo>
                <a:cubicBezTo>
                  <a:pt x="293872" y="1756007"/>
                  <a:pt x="278208" y="1754906"/>
                  <a:pt x="283361" y="1744058"/>
                </a:cubicBezTo>
                <a:cubicBezTo>
                  <a:pt x="283361" y="1744058"/>
                  <a:pt x="283361" y="1744058"/>
                  <a:pt x="267697" y="1743115"/>
                </a:cubicBezTo>
                <a:cubicBezTo>
                  <a:pt x="266461" y="1738084"/>
                  <a:pt x="263782" y="1732109"/>
                  <a:pt x="267697" y="1723148"/>
                </a:cubicBezTo>
                <a:cubicBezTo>
                  <a:pt x="271613" y="1721104"/>
                  <a:pt x="278208" y="1722204"/>
                  <a:pt x="286040" y="1723148"/>
                </a:cubicBezTo>
                <a:cubicBezTo>
                  <a:pt x="283361" y="1727079"/>
                  <a:pt x="284804" y="1730065"/>
                  <a:pt x="286040" y="1733052"/>
                </a:cubicBezTo>
                <a:cubicBezTo>
                  <a:pt x="291193" y="1733052"/>
                  <a:pt x="297788" y="1725192"/>
                  <a:pt x="295109" y="1733052"/>
                </a:cubicBezTo>
                <a:cubicBezTo>
                  <a:pt x="300261" y="1732109"/>
                  <a:pt x="302941" y="1729122"/>
                  <a:pt x="304177" y="1724091"/>
                </a:cubicBezTo>
                <a:cubicBezTo>
                  <a:pt x="302941" y="1721104"/>
                  <a:pt x="300261" y="1725192"/>
                  <a:pt x="295109" y="1723148"/>
                </a:cubicBezTo>
                <a:cubicBezTo>
                  <a:pt x="310773" y="1716230"/>
                  <a:pt x="279445" y="1714186"/>
                  <a:pt x="292636" y="1707268"/>
                </a:cubicBezTo>
                <a:cubicBezTo>
                  <a:pt x="286040" y="1708291"/>
                  <a:pt x="282433" y="1708055"/>
                  <a:pt x="280321" y="1706561"/>
                </a:cubicBezTo>
                <a:lnTo>
                  <a:pt x="279193" y="1703780"/>
                </a:lnTo>
                <a:lnTo>
                  <a:pt x="272494" y="1704995"/>
                </a:lnTo>
                <a:lnTo>
                  <a:pt x="271974" y="1708762"/>
                </a:lnTo>
                <a:cubicBezTo>
                  <a:pt x="271974" y="1712496"/>
                  <a:pt x="272335" y="1716230"/>
                  <a:pt x="269140" y="1719217"/>
                </a:cubicBezTo>
                <a:cubicBezTo>
                  <a:pt x="264554" y="1716977"/>
                  <a:pt x="262996" y="1713312"/>
                  <a:pt x="262809" y="1709010"/>
                </a:cubicBezTo>
                <a:lnTo>
                  <a:pt x="263122" y="1706694"/>
                </a:lnTo>
                <a:lnTo>
                  <a:pt x="253804" y="1708384"/>
                </a:lnTo>
                <a:cubicBezTo>
                  <a:pt x="249888" y="1712471"/>
                  <a:pt x="260398" y="1709485"/>
                  <a:pt x="256483" y="1713414"/>
                </a:cubicBezTo>
                <a:cubicBezTo>
                  <a:pt x="240820" y="1719387"/>
                  <a:pt x="234226" y="1723317"/>
                  <a:pt x="214647" y="1720331"/>
                </a:cubicBezTo>
                <a:cubicBezTo>
                  <a:pt x="202901" y="1728347"/>
                  <a:pt x="197748" y="1740294"/>
                  <a:pt x="182086" y="1744223"/>
                </a:cubicBezTo>
                <a:cubicBezTo>
                  <a:pt x="186001" y="1730234"/>
                  <a:pt x="196512" y="1717344"/>
                  <a:pt x="204343" y="1707441"/>
                </a:cubicBezTo>
                <a:cubicBezTo>
                  <a:pt x="206816" y="1704454"/>
                  <a:pt x="200428" y="1704454"/>
                  <a:pt x="200428" y="1702411"/>
                </a:cubicBezTo>
                <a:cubicBezTo>
                  <a:pt x="191360" y="1702411"/>
                  <a:pt x="189917" y="1702411"/>
                  <a:pt x="188681" y="1698481"/>
                </a:cubicBezTo>
                <a:cubicBezTo>
                  <a:pt x="179613" y="1697538"/>
                  <a:pt x="178170" y="1706498"/>
                  <a:pt x="169103" y="1701467"/>
                </a:cubicBezTo>
                <a:cubicBezTo>
                  <a:pt x="170339" y="1706498"/>
                  <a:pt x="165186" y="1707441"/>
                  <a:pt x="161272" y="1709485"/>
                </a:cubicBezTo>
                <a:cubicBezTo>
                  <a:pt x="160034" y="1713414"/>
                  <a:pt x="165186" y="1716401"/>
                  <a:pt x="165186" y="1720331"/>
                </a:cubicBezTo>
                <a:cubicBezTo>
                  <a:pt x="160034" y="1721274"/>
                  <a:pt x="158798" y="1719387"/>
                  <a:pt x="156119" y="1719387"/>
                </a:cubicBezTo>
                <a:cubicBezTo>
                  <a:pt x="140457" y="1729290"/>
                  <a:pt x="123558" y="1738250"/>
                  <a:pt x="102743" y="1745167"/>
                </a:cubicBezTo>
                <a:cubicBezTo>
                  <a:pt x="102743" y="1748153"/>
                  <a:pt x="102743" y="1752083"/>
                  <a:pt x="98827" y="1753183"/>
                </a:cubicBezTo>
                <a:cubicBezTo>
                  <a:pt x="80485" y="1741237"/>
                  <a:pt x="124794" y="1733220"/>
                  <a:pt x="127473" y="1718287"/>
                </a:cubicBezTo>
                <a:cubicBezTo>
                  <a:pt x="120878" y="1714357"/>
                  <a:pt x="114490" y="1718287"/>
                  <a:pt x="110574" y="1714357"/>
                </a:cubicBezTo>
                <a:cubicBezTo>
                  <a:pt x="111811" y="1712471"/>
                  <a:pt x="126236" y="1708384"/>
                  <a:pt x="111811" y="1707441"/>
                </a:cubicBezTo>
                <a:cubicBezTo>
                  <a:pt x="113047" y="1703511"/>
                  <a:pt x="120878" y="1704454"/>
                  <a:pt x="122321" y="1700525"/>
                </a:cubicBezTo>
                <a:cubicBezTo>
                  <a:pt x="128710" y="1701467"/>
                  <a:pt x="119642" y="1704454"/>
                  <a:pt x="120878" y="1706498"/>
                </a:cubicBezTo>
                <a:cubicBezTo>
                  <a:pt x="131389" y="1706498"/>
                  <a:pt x="129947" y="1699581"/>
                  <a:pt x="129947" y="1695494"/>
                </a:cubicBezTo>
                <a:cubicBezTo>
                  <a:pt x="144372" y="1692508"/>
                  <a:pt x="154882" y="1694552"/>
                  <a:pt x="169103" y="1690621"/>
                </a:cubicBezTo>
                <a:cubicBezTo>
                  <a:pt x="173018" y="1692508"/>
                  <a:pt x="173018" y="1695494"/>
                  <a:pt x="176934" y="1696595"/>
                </a:cubicBezTo>
                <a:cubicBezTo>
                  <a:pt x="184765" y="1692508"/>
                  <a:pt x="179613" y="1684648"/>
                  <a:pt x="171782" y="1683548"/>
                </a:cubicBezTo>
                <a:cubicBezTo>
                  <a:pt x="180849" y="1679618"/>
                  <a:pt x="183528" y="1668772"/>
                  <a:pt x="195275" y="1666729"/>
                </a:cubicBezTo>
                <a:cubicBezTo>
                  <a:pt x="212175" y="1666729"/>
                  <a:pt x="217326" y="1671758"/>
                  <a:pt x="227631" y="1673645"/>
                </a:cubicBezTo>
                <a:cubicBezTo>
                  <a:pt x="236905" y="1671758"/>
                  <a:pt x="240820" y="1665785"/>
                  <a:pt x="244736" y="1659812"/>
                </a:cubicBezTo>
                <a:cubicBezTo>
                  <a:pt x="251228" y="1660048"/>
                  <a:pt x="256174" y="1658486"/>
                  <a:pt x="260370" y="1655963"/>
                </a:cubicBezTo>
                <a:lnTo>
                  <a:pt x="268149" y="1649247"/>
                </a:lnTo>
                <a:lnTo>
                  <a:pt x="262287" y="1635261"/>
                </a:lnTo>
                <a:cubicBezTo>
                  <a:pt x="259195" y="1616926"/>
                  <a:pt x="266770" y="1593283"/>
                  <a:pt x="279445" y="1570172"/>
                </a:cubicBezTo>
                <a:cubicBezTo>
                  <a:pt x="273056" y="1569229"/>
                  <a:pt x="278208" y="1580077"/>
                  <a:pt x="269140" y="1575203"/>
                </a:cubicBezTo>
                <a:cubicBezTo>
                  <a:pt x="273056" y="1562154"/>
                  <a:pt x="273056" y="1552249"/>
                  <a:pt x="273056" y="1535426"/>
                </a:cubicBezTo>
                <a:cubicBezTo>
                  <a:pt x="275529" y="1537313"/>
                  <a:pt x="279445" y="1539356"/>
                  <a:pt x="286040" y="1539356"/>
                </a:cubicBezTo>
                <a:cubicBezTo>
                  <a:pt x="286040" y="1539356"/>
                  <a:pt x="286040" y="1539356"/>
                  <a:pt x="287277" y="1535426"/>
                </a:cubicBezTo>
                <a:cubicBezTo>
                  <a:pt x="287277" y="1528508"/>
                  <a:pt x="280887" y="1536369"/>
                  <a:pt x="275529" y="1533382"/>
                </a:cubicBezTo>
                <a:cubicBezTo>
                  <a:pt x="278208" y="1527408"/>
                  <a:pt x="288719" y="1531338"/>
                  <a:pt x="293872" y="1527408"/>
                </a:cubicBezTo>
                <a:cubicBezTo>
                  <a:pt x="293563" y="1525442"/>
                  <a:pt x="292597" y="1524401"/>
                  <a:pt x="291280" y="1523819"/>
                </a:cubicBezTo>
                <a:lnTo>
                  <a:pt x="288273" y="1523286"/>
                </a:lnTo>
                <a:lnTo>
                  <a:pt x="278534" y="1527615"/>
                </a:lnTo>
                <a:cubicBezTo>
                  <a:pt x="222479" y="1532645"/>
                  <a:pt x="196512" y="1538619"/>
                  <a:pt x="145815" y="1539561"/>
                </a:cubicBezTo>
                <a:cubicBezTo>
                  <a:pt x="141899" y="1539561"/>
                  <a:pt x="143136" y="1543491"/>
                  <a:pt x="140457" y="1544592"/>
                </a:cubicBezTo>
                <a:cubicBezTo>
                  <a:pt x="136541" y="1541605"/>
                  <a:pt x="127473" y="1541605"/>
                  <a:pt x="128710" y="1537518"/>
                </a:cubicBezTo>
                <a:cubicBezTo>
                  <a:pt x="124794" y="1537518"/>
                  <a:pt x="126236" y="1541605"/>
                  <a:pt x="122321" y="1541605"/>
                </a:cubicBezTo>
                <a:cubicBezTo>
                  <a:pt x="113047" y="1533588"/>
                  <a:pt x="100063" y="1534531"/>
                  <a:pt x="81928" y="1534531"/>
                </a:cubicBezTo>
                <a:cubicBezTo>
                  <a:pt x="80485" y="1532645"/>
                  <a:pt x="80485" y="1530601"/>
                  <a:pt x="80485" y="1528715"/>
                </a:cubicBezTo>
                <a:cubicBezTo>
                  <a:pt x="59671" y="1533588"/>
                  <a:pt x="54519" y="1519755"/>
                  <a:pt x="33704" y="1522742"/>
                </a:cubicBezTo>
                <a:cubicBezTo>
                  <a:pt x="42772" y="1491932"/>
                  <a:pt x="-5453" y="1474013"/>
                  <a:pt x="5059" y="1442261"/>
                </a:cubicBezTo>
                <a:cubicBezTo>
                  <a:pt x="16805" y="1443203"/>
                  <a:pt x="21957" y="1437230"/>
                  <a:pt x="28552" y="1434243"/>
                </a:cubicBezTo>
                <a:cubicBezTo>
                  <a:pt x="41535" y="1451221"/>
                  <a:pt x="46688" y="1471970"/>
                  <a:pt x="61113" y="1487845"/>
                </a:cubicBezTo>
                <a:cubicBezTo>
                  <a:pt x="67502" y="1489889"/>
                  <a:pt x="71418" y="1486903"/>
                  <a:pt x="74097" y="1485016"/>
                </a:cubicBezTo>
                <a:cubicBezTo>
                  <a:pt x="75334" y="1482029"/>
                  <a:pt x="63587" y="1485016"/>
                  <a:pt x="68945" y="1479986"/>
                </a:cubicBezTo>
                <a:cubicBezTo>
                  <a:pt x="93675" y="1483916"/>
                  <a:pt x="80485" y="1458136"/>
                  <a:pt x="83165" y="1447134"/>
                </a:cubicBezTo>
                <a:cubicBezTo>
                  <a:pt x="85844" y="1444147"/>
                  <a:pt x="92233" y="1444147"/>
                  <a:pt x="94911" y="1441317"/>
                </a:cubicBezTo>
                <a:cubicBezTo>
                  <a:pt x="89759" y="1432357"/>
                  <a:pt x="92233" y="1418368"/>
                  <a:pt x="100063" y="1412394"/>
                </a:cubicBezTo>
                <a:cubicBezTo>
                  <a:pt x="97591" y="1404534"/>
                  <a:pt x="96149" y="1395574"/>
                  <a:pt x="97591" y="1386615"/>
                </a:cubicBezTo>
                <a:cubicBezTo>
                  <a:pt x="98827" y="1378598"/>
                  <a:pt x="101507" y="1370738"/>
                  <a:pt x="110574" y="1365708"/>
                </a:cubicBezTo>
                <a:cubicBezTo>
                  <a:pt x="97591" y="1382685"/>
                  <a:pt x="98827" y="1403435"/>
                  <a:pt x="109338" y="1417424"/>
                </a:cubicBezTo>
                <a:cubicBezTo>
                  <a:pt x="122321" y="1414438"/>
                  <a:pt x="111811" y="1405478"/>
                  <a:pt x="113047" y="1399505"/>
                </a:cubicBezTo>
                <a:cubicBezTo>
                  <a:pt x="119642" y="1402491"/>
                  <a:pt x="120878" y="1407521"/>
                  <a:pt x="120878" y="1409408"/>
                </a:cubicBezTo>
                <a:cubicBezTo>
                  <a:pt x="137983" y="1406421"/>
                  <a:pt x="122321" y="1397618"/>
                  <a:pt x="120878" y="1391645"/>
                </a:cubicBezTo>
                <a:cubicBezTo>
                  <a:pt x="139220" y="1385672"/>
                  <a:pt x="139220" y="1367752"/>
                  <a:pt x="135305" y="1359735"/>
                </a:cubicBezTo>
                <a:cubicBezTo>
                  <a:pt x="129947" y="1361778"/>
                  <a:pt x="127473" y="1363822"/>
                  <a:pt x="122321" y="1364765"/>
                </a:cubicBezTo>
                <a:cubicBezTo>
                  <a:pt x="119642" y="1361778"/>
                  <a:pt x="118405" y="1359735"/>
                  <a:pt x="115726" y="1356749"/>
                </a:cubicBezTo>
                <a:cubicBezTo>
                  <a:pt x="110574" y="1357849"/>
                  <a:pt x="106658" y="1359735"/>
                  <a:pt x="105422" y="1364765"/>
                </a:cubicBezTo>
                <a:cubicBezTo>
                  <a:pt x="96149" y="1358792"/>
                  <a:pt x="88317" y="1367752"/>
                  <a:pt x="81928" y="1372625"/>
                </a:cubicBezTo>
                <a:cubicBezTo>
                  <a:pt x="72860" y="1369795"/>
                  <a:pt x="89759" y="1360836"/>
                  <a:pt x="92233" y="1364765"/>
                </a:cubicBezTo>
                <a:cubicBezTo>
                  <a:pt x="93675" y="1361778"/>
                  <a:pt x="92233" y="1358792"/>
                  <a:pt x="90996" y="1361778"/>
                </a:cubicBezTo>
                <a:cubicBezTo>
                  <a:pt x="88317" y="1360836"/>
                  <a:pt x="89759" y="1356749"/>
                  <a:pt x="92233" y="1356749"/>
                </a:cubicBezTo>
                <a:cubicBezTo>
                  <a:pt x="88317" y="1354863"/>
                  <a:pt x="83165" y="1350932"/>
                  <a:pt x="70182" y="1351876"/>
                </a:cubicBezTo>
                <a:cubicBezTo>
                  <a:pt x="78013" y="1341973"/>
                  <a:pt x="58435" y="1336943"/>
                  <a:pt x="61113" y="1326254"/>
                </a:cubicBezTo>
                <a:cubicBezTo>
                  <a:pt x="55755" y="1322167"/>
                  <a:pt x="50603" y="1330184"/>
                  <a:pt x="50603" y="1326254"/>
                </a:cubicBezTo>
                <a:cubicBezTo>
                  <a:pt x="50603" y="1323267"/>
                  <a:pt x="53282" y="1323267"/>
                  <a:pt x="55755" y="1323267"/>
                </a:cubicBezTo>
                <a:cubicBezTo>
                  <a:pt x="57198" y="1312264"/>
                  <a:pt x="61113" y="1307234"/>
                  <a:pt x="62350" y="1296388"/>
                </a:cubicBezTo>
                <a:cubicBezTo>
                  <a:pt x="57198" y="1289471"/>
                  <a:pt x="46688" y="1283498"/>
                  <a:pt x="55755" y="1269508"/>
                </a:cubicBezTo>
                <a:cubicBezTo>
                  <a:pt x="42772" y="1267622"/>
                  <a:pt x="40299" y="1271551"/>
                  <a:pt x="28552" y="1266521"/>
                </a:cubicBezTo>
                <a:cubicBezTo>
                  <a:pt x="25873" y="1253632"/>
                  <a:pt x="38857" y="1240742"/>
                  <a:pt x="52046" y="1225809"/>
                </a:cubicBezTo>
                <a:cubicBezTo>
                  <a:pt x="63587" y="1211033"/>
                  <a:pt x="71418" y="1197986"/>
                  <a:pt x="55755" y="1187140"/>
                </a:cubicBezTo>
                <a:cubicBezTo>
                  <a:pt x="65029" y="1182110"/>
                  <a:pt x="70182" y="1184153"/>
                  <a:pt x="75334" y="1190126"/>
                </a:cubicBezTo>
                <a:cubicBezTo>
                  <a:pt x="103980" y="1166234"/>
                  <a:pt x="135305" y="1128508"/>
                  <a:pt x="152203" y="1097699"/>
                </a:cubicBezTo>
                <a:cubicBezTo>
                  <a:pt x="147051" y="1098642"/>
                  <a:pt x="139220" y="1095655"/>
                  <a:pt x="133862" y="1101629"/>
                </a:cubicBezTo>
                <a:cubicBezTo>
                  <a:pt x="129947" y="1093768"/>
                  <a:pt x="122321" y="1097699"/>
                  <a:pt x="111811" y="1094712"/>
                </a:cubicBezTo>
                <a:cubicBezTo>
                  <a:pt x="118405" y="1091726"/>
                  <a:pt x="124794" y="1086853"/>
                  <a:pt x="129947" y="1080880"/>
                </a:cubicBezTo>
                <a:cubicBezTo>
                  <a:pt x="131389" y="1082766"/>
                  <a:pt x="133862" y="1087795"/>
                  <a:pt x="137983" y="1080880"/>
                </a:cubicBezTo>
                <a:cubicBezTo>
                  <a:pt x="139220" y="1082766"/>
                  <a:pt x="140457" y="1085752"/>
                  <a:pt x="139220" y="1088739"/>
                </a:cubicBezTo>
                <a:cubicBezTo>
                  <a:pt x="144372" y="1084809"/>
                  <a:pt x="144372" y="1082766"/>
                  <a:pt x="150967" y="1077893"/>
                </a:cubicBezTo>
                <a:cubicBezTo>
                  <a:pt x="153440" y="1073806"/>
                  <a:pt x="145815" y="1073806"/>
                  <a:pt x="145815" y="1070819"/>
                </a:cubicBezTo>
                <a:cubicBezTo>
                  <a:pt x="150967" y="1065946"/>
                  <a:pt x="156119" y="1065003"/>
                  <a:pt x="161272" y="1068933"/>
                </a:cubicBezTo>
                <a:cubicBezTo>
                  <a:pt x="163950" y="1059973"/>
                  <a:pt x="165186" y="1065003"/>
                  <a:pt x="171782" y="1062016"/>
                </a:cubicBezTo>
                <a:cubicBezTo>
                  <a:pt x="174255" y="1059973"/>
                  <a:pt x="163950" y="1056043"/>
                  <a:pt x="163950" y="1059030"/>
                </a:cubicBezTo>
                <a:cubicBezTo>
                  <a:pt x="170339" y="1054943"/>
                  <a:pt x="178170" y="1038123"/>
                  <a:pt x="179613" y="1027120"/>
                </a:cubicBezTo>
                <a:cubicBezTo>
                  <a:pt x="179613" y="1038123"/>
                  <a:pt x="196512" y="1012345"/>
                  <a:pt x="189917" y="1026177"/>
                </a:cubicBezTo>
                <a:cubicBezTo>
                  <a:pt x="214647" y="1001341"/>
                  <a:pt x="223921" y="989394"/>
                  <a:pt x="247209" y="973518"/>
                </a:cubicBezTo>
                <a:cubicBezTo>
                  <a:pt x="249888" y="968645"/>
                  <a:pt x="243293" y="974618"/>
                  <a:pt x="243293" y="968645"/>
                </a:cubicBezTo>
                <a:cubicBezTo>
                  <a:pt x="256483" y="963615"/>
                  <a:pt x="268024" y="947739"/>
                  <a:pt x="282450" y="952769"/>
                </a:cubicBezTo>
                <a:cubicBezTo>
                  <a:pt x="292960" y="939722"/>
                  <a:pt x="298112" y="933906"/>
                  <a:pt x="303265" y="925889"/>
                </a:cubicBezTo>
                <a:cubicBezTo>
                  <a:pt x="300585" y="922902"/>
                  <a:pt x="298112" y="924946"/>
                  <a:pt x="295433" y="927776"/>
                </a:cubicBezTo>
                <a:cubicBezTo>
                  <a:pt x="294196" y="919916"/>
                  <a:pt x="307180" y="921960"/>
                  <a:pt x="311096" y="921960"/>
                </a:cubicBezTo>
                <a:cubicBezTo>
                  <a:pt x="320163" y="907027"/>
                  <a:pt x="335826" y="899009"/>
                  <a:pt x="339742" y="885177"/>
                </a:cubicBezTo>
                <a:cubicBezTo>
                  <a:pt x="344894" y="890050"/>
                  <a:pt x="350252" y="884076"/>
                  <a:pt x="355404" y="886120"/>
                </a:cubicBezTo>
                <a:cubicBezTo>
                  <a:pt x="355404" y="883133"/>
                  <a:pt x="359319" y="880146"/>
                  <a:pt x="356641" y="878260"/>
                </a:cubicBezTo>
                <a:cubicBezTo>
                  <a:pt x="350252" y="877160"/>
                  <a:pt x="355404" y="884076"/>
                  <a:pt x="348809" y="884076"/>
                </a:cubicBezTo>
                <a:cubicBezTo>
                  <a:pt x="360556" y="869300"/>
                  <a:pt x="386729" y="848394"/>
                  <a:pt x="387966" y="831575"/>
                </a:cubicBezTo>
                <a:cubicBezTo>
                  <a:pt x="395797" y="827488"/>
                  <a:pt x="393117" y="831575"/>
                  <a:pt x="397033" y="834561"/>
                </a:cubicBezTo>
                <a:cubicBezTo>
                  <a:pt x="406101" y="825602"/>
                  <a:pt x="399713" y="820571"/>
                  <a:pt x="411459" y="811611"/>
                </a:cubicBezTo>
                <a:cubicBezTo>
                  <a:pt x="411459" y="816642"/>
                  <a:pt x="404865" y="824501"/>
                  <a:pt x="407544" y="829531"/>
                </a:cubicBezTo>
                <a:cubicBezTo>
                  <a:pt x="416611" y="822615"/>
                  <a:pt x="424442" y="825602"/>
                  <a:pt x="432274" y="816642"/>
                </a:cubicBezTo>
                <a:cubicBezTo>
                  <a:pt x="436189" y="812555"/>
                  <a:pt x="425680" y="816642"/>
                  <a:pt x="434747" y="809725"/>
                </a:cubicBezTo>
                <a:cubicBezTo>
                  <a:pt x="430831" y="805638"/>
                  <a:pt x="424442" y="810669"/>
                  <a:pt x="420527" y="805638"/>
                </a:cubicBezTo>
                <a:cubicBezTo>
                  <a:pt x="425680" y="803752"/>
                  <a:pt x="437426" y="801709"/>
                  <a:pt x="437426" y="807682"/>
                </a:cubicBezTo>
                <a:cubicBezTo>
                  <a:pt x="440105" y="804696"/>
                  <a:pt x="444021" y="802651"/>
                  <a:pt x="446494" y="804696"/>
                </a:cubicBezTo>
                <a:cubicBezTo>
                  <a:pt x="447937" y="799665"/>
                  <a:pt x="450409" y="793849"/>
                  <a:pt x="455562" y="787876"/>
                </a:cubicBezTo>
                <a:cubicBezTo>
                  <a:pt x="449173" y="785832"/>
                  <a:pt x="449173" y="793849"/>
                  <a:pt x="445257" y="795736"/>
                </a:cubicBezTo>
                <a:cubicBezTo>
                  <a:pt x="441342" y="787876"/>
                  <a:pt x="457004" y="777816"/>
                  <a:pt x="463393" y="768855"/>
                </a:cubicBezTo>
                <a:cubicBezTo>
                  <a:pt x="463393" y="773886"/>
                  <a:pt x="460920" y="779859"/>
                  <a:pt x="457004" y="785832"/>
                </a:cubicBezTo>
                <a:cubicBezTo>
                  <a:pt x="464836" y="784889"/>
                  <a:pt x="468751" y="780803"/>
                  <a:pt x="472667" y="775929"/>
                </a:cubicBezTo>
                <a:cubicBezTo>
                  <a:pt x="472667" y="777816"/>
                  <a:pt x="472667" y="778916"/>
                  <a:pt x="475140" y="780803"/>
                </a:cubicBezTo>
                <a:cubicBezTo>
                  <a:pt x="485650" y="769956"/>
                  <a:pt x="492039" y="766026"/>
                  <a:pt x="502549" y="754080"/>
                </a:cubicBezTo>
                <a:cubicBezTo>
                  <a:pt x="506465" y="754080"/>
                  <a:pt x="508938" y="754080"/>
                  <a:pt x="512854" y="752980"/>
                </a:cubicBezTo>
                <a:cubicBezTo>
                  <a:pt x="516769" y="747163"/>
                  <a:pt x="515532" y="745120"/>
                  <a:pt x="526043" y="744177"/>
                </a:cubicBezTo>
                <a:cubicBezTo>
                  <a:pt x="526043" y="742133"/>
                  <a:pt x="527279" y="740090"/>
                  <a:pt x="527279" y="738204"/>
                </a:cubicBezTo>
                <a:cubicBezTo>
                  <a:pt x="523364" y="736160"/>
                  <a:pt x="516769" y="745120"/>
                  <a:pt x="512854" y="744177"/>
                </a:cubicBezTo>
                <a:cubicBezTo>
                  <a:pt x="511617" y="741190"/>
                  <a:pt x="526043" y="735217"/>
                  <a:pt x="529959" y="734116"/>
                </a:cubicBezTo>
                <a:cubicBezTo>
                  <a:pt x="524601" y="731130"/>
                  <a:pt x="542942" y="726257"/>
                  <a:pt x="540263" y="717297"/>
                </a:cubicBezTo>
                <a:cubicBezTo>
                  <a:pt x="542942" y="718240"/>
                  <a:pt x="541706" y="719341"/>
                  <a:pt x="540263" y="720284"/>
                </a:cubicBezTo>
                <a:cubicBezTo>
                  <a:pt x="555926" y="712267"/>
                  <a:pt x="568909" y="699378"/>
                  <a:pt x="583335" y="685545"/>
                </a:cubicBezTo>
                <a:cubicBezTo>
                  <a:pt x="598998" y="672655"/>
                  <a:pt x="614454" y="660709"/>
                  <a:pt x="632796" y="654736"/>
                </a:cubicBezTo>
                <a:cubicBezTo>
                  <a:pt x="636711" y="650806"/>
                  <a:pt x="639184" y="646719"/>
                  <a:pt x="645779" y="642789"/>
                </a:cubicBezTo>
                <a:cubicBezTo>
                  <a:pt x="649694" y="642789"/>
                  <a:pt x="652373" y="643732"/>
                  <a:pt x="653611" y="646719"/>
                </a:cubicBezTo>
                <a:cubicBezTo>
                  <a:pt x="657525" y="644832"/>
                  <a:pt x="661441" y="640745"/>
                  <a:pt x="663914" y="642789"/>
                </a:cubicBezTo>
                <a:cubicBezTo>
                  <a:pt x="666594" y="640745"/>
                  <a:pt x="671952" y="631943"/>
                  <a:pt x="663914" y="634930"/>
                </a:cubicBezTo>
                <a:cubicBezTo>
                  <a:pt x="662678" y="630842"/>
                  <a:pt x="677104" y="629899"/>
                  <a:pt x="673188" y="635872"/>
                </a:cubicBezTo>
                <a:cubicBezTo>
                  <a:pt x="677104" y="639802"/>
                  <a:pt x="686172" y="631943"/>
                  <a:pt x="694003" y="628799"/>
                </a:cubicBezTo>
                <a:cubicBezTo>
                  <a:pt x="692767" y="622983"/>
                  <a:pt x="684935" y="630842"/>
                  <a:pt x="681019" y="629899"/>
                </a:cubicBezTo>
                <a:cubicBezTo>
                  <a:pt x="697919" y="619996"/>
                  <a:pt x="704307" y="617953"/>
                  <a:pt x="718734" y="604120"/>
                </a:cubicBezTo>
                <a:cubicBezTo>
                  <a:pt x="727801" y="602077"/>
                  <a:pt x="709665" y="609936"/>
                  <a:pt x="710902" y="611980"/>
                </a:cubicBezTo>
                <a:cubicBezTo>
                  <a:pt x="721412" y="615909"/>
                  <a:pt x="735632" y="612922"/>
                  <a:pt x="750059" y="608993"/>
                </a:cubicBezTo>
                <a:cubicBezTo>
                  <a:pt x="742227" y="617010"/>
                  <a:pt x="725328" y="612922"/>
                  <a:pt x="713581" y="617953"/>
                </a:cubicBezTo>
                <a:cubicBezTo>
                  <a:pt x="717497" y="625812"/>
                  <a:pt x="687408" y="634930"/>
                  <a:pt x="671952" y="642789"/>
                </a:cubicBezTo>
                <a:cubicBezTo>
                  <a:pt x="669273" y="643732"/>
                  <a:pt x="670509" y="644832"/>
                  <a:pt x="668036" y="646719"/>
                </a:cubicBezTo>
                <a:cubicBezTo>
                  <a:pt x="669273" y="648762"/>
                  <a:pt x="671952" y="647819"/>
                  <a:pt x="675661" y="646719"/>
                </a:cubicBezTo>
                <a:cubicBezTo>
                  <a:pt x="668036" y="655678"/>
                  <a:pt x="639184" y="655678"/>
                  <a:pt x="643100" y="669669"/>
                </a:cubicBezTo>
                <a:cubicBezTo>
                  <a:pt x="652373" y="669669"/>
                  <a:pt x="650931" y="657722"/>
                  <a:pt x="661441" y="664638"/>
                </a:cubicBezTo>
                <a:cubicBezTo>
                  <a:pt x="663914" y="662595"/>
                  <a:pt x="668036" y="653635"/>
                  <a:pt x="673188" y="655678"/>
                </a:cubicBezTo>
                <a:cubicBezTo>
                  <a:pt x="653611" y="683501"/>
                  <a:pt x="601471" y="697334"/>
                  <a:pt x="587250" y="717297"/>
                </a:cubicBezTo>
                <a:cubicBezTo>
                  <a:pt x="600234" y="711324"/>
                  <a:pt x="611981" y="706294"/>
                  <a:pt x="624964" y="704408"/>
                </a:cubicBezTo>
                <a:cubicBezTo>
                  <a:pt x="628880" y="706294"/>
                  <a:pt x="613217" y="709280"/>
                  <a:pt x="622285" y="712267"/>
                </a:cubicBezTo>
                <a:cubicBezTo>
                  <a:pt x="627644" y="713368"/>
                  <a:pt x="637948" y="700320"/>
                  <a:pt x="645779" y="703307"/>
                </a:cubicBezTo>
                <a:cubicBezTo>
                  <a:pt x="650931" y="698434"/>
                  <a:pt x="639184" y="704408"/>
                  <a:pt x="637948" y="699378"/>
                </a:cubicBezTo>
                <a:cubicBezTo>
                  <a:pt x="643100" y="701421"/>
                  <a:pt x="653611" y="690418"/>
                  <a:pt x="645779" y="693405"/>
                </a:cubicBezTo>
                <a:cubicBezTo>
                  <a:pt x="659999" y="686488"/>
                  <a:pt x="705750" y="673598"/>
                  <a:pt x="714817" y="658665"/>
                </a:cubicBezTo>
                <a:cubicBezTo>
                  <a:pt x="723886" y="657722"/>
                  <a:pt x="713581" y="665582"/>
                  <a:pt x="716054" y="668568"/>
                </a:cubicBezTo>
                <a:cubicBezTo>
                  <a:pt x="722648" y="660709"/>
                  <a:pt x="735632" y="652692"/>
                  <a:pt x="746142" y="644832"/>
                </a:cubicBezTo>
                <a:cubicBezTo>
                  <a:pt x="752531" y="642789"/>
                  <a:pt x="744700" y="647819"/>
                  <a:pt x="752531" y="647819"/>
                </a:cubicBezTo>
                <a:cubicBezTo>
                  <a:pt x="757684" y="644832"/>
                  <a:pt x="759126" y="642789"/>
                  <a:pt x="755210" y="639802"/>
                </a:cubicBezTo>
                <a:cubicBezTo>
                  <a:pt x="760362" y="642789"/>
                  <a:pt x="773346" y="637759"/>
                  <a:pt x="772109" y="642789"/>
                </a:cubicBezTo>
                <a:cubicBezTo>
                  <a:pt x="777262" y="636816"/>
                  <a:pt x="783857" y="630842"/>
                  <a:pt x="792924" y="624869"/>
                </a:cubicBezTo>
                <a:cubicBezTo>
                  <a:pt x="794161" y="627856"/>
                  <a:pt x="790245" y="629899"/>
                  <a:pt x="791687" y="631943"/>
                </a:cubicBezTo>
                <a:cubicBezTo>
                  <a:pt x="804671" y="617010"/>
                  <a:pt x="825485" y="614966"/>
                  <a:pt x="838469" y="604120"/>
                </a:cubicBezTo>
                <a:cubicBezTo>
                  <a:pt x="839912" y="606006"/>
                  <a:pt x="837233" y="607107"/>
                  <a:pt x="838469" y="608050"/>
                </a:cubicBezTo>
                <a:cubicBezTo>
                  <a:pt x="860727" y="597047"/>
                  <a:pt x="880305" y="591074"/>
                  <a:pt x="898440" y="585100"/>
                </a:cubicBezTo>
                <a:cubicBezTo>
                  <a:pt x="915339" y="579284"/>
                  <a:pt x="932239" y="573311"/>
                  <a:pt x="953053" y="563408"/>
                </a:cubicBezTo>
                <a:cubicBezTo>
                  <a:pt x="953053" y="567337"/>
                  <a:pt x="949138" y="571267"/>
                  <a:pt x="940069" y="573311"/>
                </a:cubicBezTo>
                <a:cubicBezTo>
                  <a:pt x="954496" y="579284"/>
                  <a:pt x="975311" y="563408"/>
                  <a:pt x="992209" y="559321"/>
                </a:cubicBezTo>
                <a:cubicBezTo>
                  <a:pt x="996125" y="558378"/>
                  <a:pt x="1001277" y="561364"/>
                  <a:pt x="1005192" y="561364"/>
                </a:cubicBezTo>
                <a:cubicBezTo>
                  <a:pt x="1009109" y="560421"/>
                  <a:pt x="1007872" y="554448"/>
                  <a:pt x="1007872" y="554448"/>
                </a:cubicBezTo>
                <a:cubicBezTo>
                  <a:pt x="1015703" y="552404"/>
                  <a:pt x="1037754" y="545488"/>
                  <a:pt x="1042907" y="548475"/>
                </a:cubicBezTo>
                <a:cubicBezTo>
                  <a:pt x="1033838" y="552404"/>
                  <a:pt x="1020855" y="554448"/>
                  <a:pt x="1016940" y="559321"/>
                </a:cubicBezTo>
                <a:cubicBezTo>
                  <a:pt x="1026007" y="563408"/>
                  <a:pt x="1045586" y="556334"/>
                  <a:pt x="1053417" y="563408"/>
                </a:cubicBezTo>
                <a:cubicBezTo>
                  <a:pt x="1033838" y="566237"/>
                  <a:pt x="1033838" y="565294"/>
                  <a:pt x="1022092" y="570324"/>
                </a:cubicBezTo>
                <a:cubicBezTo>
                  <a:pt x="1018176" y="566237"/>
                  <a:pt x="1019619" y="564351"/>
                  <a:pt x="1027450" y="563408"/>
                </a:cubicBezTo>
                <a:cubicBezTo>
                  <a:pt x="1026007" y="561364"/>
                  <a:pt x="1022092" y="563408"/>
                  <a:pt x="1020855" y="561364"/>
                </a:cubicBezTo>
                <a:cubicBezTo>
                  <a:pt x="1011787" y="574254"/>
                  <a:pt x="989530" y="576297"/>
                  <a:pt x="967479" y="580227"/>
                </a:cubicBezTo>
                <a:cubicBezTo>
                  <a:pt x="946664" y="583214"/>
                  <a:pt x="924407" y="589187"/>
                  <a:pt x="915339" y="607107"/>
                </a:cubicBezTo>
                <a:cubicBezTo>
                  <a:pt x="898440" y="604120"/>
                  <a:pt x="867116" y="621882"/>
                  <a:pt x="848979" y="630842"/>
                </a:cubicBezTo>
                <a:cubicBezTo>
                  <a:pt x="847537" y="626913"/>
                  <a:pt x="852896" y="624869"/>
                  <a:pt x="851452" y="621882"/>
                </a:cubicBezTo>
                <a:cubicBezTo>
                  <a:pt x="837233" y="626913"/>
                  <a:pt x="843827" y="628799"/>
                  <a:pt x="843827" y="632886"/>
                </a:cubicBezTo>
                <a:cubicBezTo>
                  <a:pt x="834553" y="632886"/>
                  <a:pt x="835996" y="633829"/>
                  <a:pt x="824249" y="639802"/>
                </a:cubicBezTo>
                <a:cubicBezTo>
                  <a:pt x="815182" y="633829"/>
                  <a:pt x="804671" y="647819"/>
                  <a:pt x="792924" y="644832"/>
                </a:cubicBezTo>
                <a:cubicBezTo>
                  <a:pt x="790245" y="645776"/>
                  <a:pt x="791687" y="646719"/>
                  <a:pt x="789009" y="648762"/>
                </a:cubicBezTo>
                <a:cubicBezTo>
                  <a:pt x="791687" y="652692"/>
                  <a:pt x="798076" y="649705"/>
                  <a:pt x="803435" y="649705"/>
                </a:cubicBezTo>
                <a:cubicBezTo>
                  <a:pt x="782620" y="655678"/>
                  <a:pt x="748615" y="675642"/>
                  <a:pt x="723886" y="676585"/>
                </a:cubicBezTo>
                <a:cubicBezTo>
                  <a:pt x="719970" y="679572"/>
                  <a:pt x="722648" y="683501"/>
                  <a:pt x="719970" y="686488"/>
                </a:cubicBezTo>
                <a:cubicBezTo>
                  <a:pt x="709665" y="680514"/>
                  <a:pt x="703071" y="697334"/>
                  <a:pt x="701834" y="689474"/>
                </a:cubicBezTo>
                <a:cubicBezTo>
                  <a:pt x="696476" y="696391"/>
                  <a:pt x="690087" y="701421"/>
                  <a:pt x="688850" y="711324"/>
                </a:cubicBezTo>
                <a:cubicBezTo>
                  <a:pt x="677104" y="719341"/>
                  <a:pt x="691324" y="701421"/>
                  <a:pt x="679577" y="709280"/>
                </a:cubicBezTo>
                <a:cubicBezTo>
                  <a:pt x="677104" y="707394"/>
                  <a:pt x="687408" y="704408"/>
                  <a:pt x="690087" y="701421"/>
                </a:cubicBezTo>
                <a:cubicBezTo>
                  <a:pt x="674425" y="702364"/>
                  <a:pt x="662678" y="707394"/>
                  <a:pt x="650931" y="721227"/>
                </a:cubicBezTo>
                <a:cubicBezTo>
                  <a:pt x="657525" y="723271"/>
                  <a:pt x="665357" y="717297"/>
                  <a:pt x="673188" y="716354"/>
                </a:cubicBezTo>
                <a:cubicBezTo>
                  <a:pt x="677104" y="720284"/>
                  <a:pt x="668036" y="724214"/>
                  <a:pt x="674425" y="728143"/>
                </a:cubicBezTo>
                <a:cubicBezTo>
                  <a:pt x="654847" y="736160"/>
                  <a:pt x="670509" y="739147"/>
                  <a:pt x="657525" y="742133"/>
                </a:cubicBezTo>
                <a:cubicBezTo>
                  <a:pt x="661441" y="743076"/>
                  <a:pt x="665357" y="742133"/>
                  <a:pt x="669273" y="739147"/>
                </a:cubicBezTo>
                <a:cubicBezTo>
                  <a:pt x="668036" y="746063"/>
                  <a:pt x="654847" y="752036"/>
                  <a:pt x="644542" y="758953"/>
                </a:cubicBezTo>
                <a:cubicBezTo>
                  <a:pt x="654847" y="766026"/>
                  <a:pt x="650931" y="752980"/>
                  <a:pt x="665357" y="748107"/>
                </a:cubicBezTo>
                <a:cubicBezTo>
                  <a:pt x="665357" y="750150"/>
                  <a:pt x="662678" y="752980"/>
                  <a:pt x="665357" y="755023"/>
                </a:cubicBezTo>
                <a:cubicBezTo>
                  <a:pt x="691324" y="746063"/>
                  <a:pt x="709665" y="742133"/>
                  <a:pt x="734396" y="733173"/>
                </a:cubicBezTo>
                <a:cubicBezTo>
                  <a:pt x="730480" y="720284"/>
                  <a:pt x="752531" y="730187"/>
                  <a:pt x="766957" y="723271"/>
                </a:cubicBezTo>
                <a:cubicBezTo>
                  <a:pt x="762011" y="726218"/>
                  <a:pt x="754167" y="730315"/>
                  <a:pt x="754380" y="734301"/>
                </a:cubicBezTo>
                <a:lnTo>
                  <a:pt x="757596" y="738101"/>
                </a:lnTo>
                <a:lnTo>
                  <a:pt x="757479" y="738303"/>
                </a:lnTo>
                <a:lnTo>
                  <a:pt x="753736" y="740119"/>
                </a:lnTo>
                <a:cubicBezTo>
                  <a:pt x="750509" y="740591"/>
                  <a:pt x="749080" y="737614"/>
                  <a:pt x="746142" y="739147"/>
                </a:cubicBezTo>
                <a:cubicBezTo>
                  <a:pt x="747379" y="744177"/>
                  <a:pt x="752531" y="741190"/>
                  <a:pt x="756447" y="740090"/>
                </a:cubicBezTo>
                <a:lnTo>
                  <a:pt x="757479" y="738303"/>
                </a:lnTo>
                <a:lnTo>
                  <a:pt x="757684" y="738204"/>
                </a:lnTo>
                <a:lnTo>
                  <a:pt x="757596" y="738101"/>
                </a:lnTo>
                <a:lnTo>
                  <a:pt x="760801" y="732552"/>
                </a:lnTo>
                <a:cubicBezTo>
                  <a:pt x="762925" y="730820"/>
                  <a:pt x="765618" y="729705"/>
                  <a:pt x="768555" y="728713"/>
                </a:cubicBezTo>
                <a:lnTo>
                  <a:pt x="776005" y="726207"/>
                </a:lnTo>
                <a:lnTo>
                  <a:pt x="776025" y="726257"/>
                </a:lnTo>
                <a:lnTo>
                  <a:pt x="776151" y="726159"/>
                </a:lnTo>
                <a:lnTo>
                  <a:pt x="777777" y="725612"/>
                </a:lnTo>
                <a:cubicBezTo>
                  <a:pt x="780881" y="724371"/>
                  <a:pt x="783908" y="722760"/>
                  <a:pt x="786535" y="720284"/>
                </a:cubicBezTo>
                <a:cubicBezTo>
                  <a:pt x="783857" y="718791"/>
                  <a:pt x="782878" y="720009"/>
                  <a:pt x="781744" y="721738"/>
                </a:cubicBezTo>
                <a:lnTo>
                  <a:pt x="776151" y="726159"/>
                </a:lnTo>
                <a:lnTo>
                  <a:pt x="776005" y="726207"/>
                </a:lnTo>
                <a:lnTo>
                  <a:pt x="773346" y="719341"/>
                </a:lnTo>
                <a:cubicBezTo>
                  <a:pt x="785093" y="712267"/>
                  <a:pt x="787772" y="717297"/>
                  <a:pt x="792924" y="721227"/>
                </a:cubicBezTo>
                <a:cubicBezTo>
                  <a:pt x="803435" y="710381"/>
                  <a:pt x="811266" y="707394"/>
                  <a:pt x="830638" y="699378"/>
                </a:cubicBezTo>
                <a:cubicBezTo>
                  <a:pt x="837233" y="695448"/>
                  <a:pt x="825485" y="697334"/>
                  <a:pt x="826722" y="694505"/>
                </a:cubicBezTo>
                <a:cubicBezTo>
                  <a:pt x="833317" y="693405"/>
                  <a:pt x="841148" y="689474"/>
                  <a:pt x="845064" y="695448"/>
                </a:cubicBezTo>
                <a:cubicBezTo>
                  <a:pt x="852896" y="692461"/>
                  <a:pt x="850216" y="689474"/>
                  <a:pt x="856811" y="687432"/>
                </a:cubicBezTo>
                <a:cubicBezTo>
                  <a:pt x="854132" y="685545"/>
                  <a:pt x="851452" y="685545"/>
                  <a:pt x="847537" y="686488"/>
                </a:cubicBezTo>
                <a:cubicBezTo>
                  <a:pt x="852896" y="679572"/>
                  <a:pt x="880305" y="685545"/>
                  <a:pt x="878862" y="671555"/>
                </a:cubicBezTo>
                <a:cubicBezTo>
                  <a:pt x="897204" y="670612"/>
                  <a:pt x="924407" y="662595"/>
                  <a:pt x="941306" y="647819"/>
                </a:cubicBezTo>
                <a:cubicBezTo>
                  <a:pt x="940069" y="653635"/>
                  <a:pt x="940069" y="653635"/>
                  <a:pt x="946664" y="655678"/>
                </a:cubicBezTo>
                <a:cubicBezTo>
                  <a:pt x="955732" y="647819"/>
                  <a:pt x="972631" y="640745"/>
                  <a:pt x="981699" y="647819"/>
                </a:cubicBezTo>
                <a:cubicBezTo>
                  <a:pt x="988294" y="641846"/>
                  <a:pt x="998804" y="636816"/>
                  <a:pt x="1006635" y="631943"/>
                </a:cubicBezTo>
                <a:cubicBezTo>
                  <a:pt x="1002720" y="628799"/>
                  <a:pt x="992209" y="636816"/>
                  <a:pt x="990973" y="629899"/>
                </a:cubicBezTo>
                <a:cubicBezTo>
                  <a:pt x="996125" y="631943"/>
                  <a:pt x="1009109" y="628799"/>
                  <a:pt x="1010551" y="623926"/>
                </a:cubicBezTo>
                <a:cubicBezTo>
                  <a:pt x="1016940" y="625812"/>
                  <a:pt x="1020855" y="625812"/>
                  <a:pt x="1019619" y="630842"/>
                </a:cubicBezTo>
                <a:cubicBezTo>
                  <a:pt x="1027450" y="627856"/>
                  <a:pt x="1033838" y="623926"/>
                  <a:pt x="1041670" y="620939"/>
                </a:cubicBezTo>
                <a:cubicBezTo>
                  <a:pt x="1035076" y="615909"/>
                  <a:pt x="1028686" y="624869"/>
                  <a:pt x="1026007" y="617010"/>
                </a:cubicBezTo>
                <a:cubicBezTo>
                  <a:pt x="1001277" y="626913"/>
                  <a:pt x="971395" y="620939"/>
                  <a:pt x="960884" y="636816"/>
                </a:cubicBezTo>
                <a:cubicBezTo>
                  <a:pt x="954496" y="634930"/>
                  <a:pt x="934917" y="641846"/>
                  <a:pt x="934917" y="646719"/>
                </a:cubicBezTo>
                <a:cubicBezTo>
                  <a:pt x="925850" y="638859"/>
                  <a:pt x="916782" y="644832"/>
                  <a:pt x="906272" y="652692"/>
                </a:cubicBezTo>
                <a:cubicBezTo>
                  <a:pt x="898440" y="642789"/>
                  <a:pt x="902356" y="638859"/>
                  <a:pt x="891845" y="625812"/>
                </a:cubicBezTo>
                <a:cubicBezTo>
                  <a:pt x="897204" y="621882"/>
                  <a:pt x="898440" y="617010"/>
                  <a:pt x="901119" y="612922"/>
                </a:cubicBezTo>
                <a:cubicBezTo>
                  <a:pt x="916782" y="615909"/>
                  <a:pt x="921934" y="608993"/>
                  <a:pt x="937597" y="604120"/>
                </a:cubicBezTo>
                <a:cubicBezTo>
                  <a:pt x="933681" y="617953"/>
                  <a:pt x="971395" y="600033"/>
                  <a:pt x="960884" y="597047"/>
                </a:cubicBezTo>
                <a:cubicBezTo>
                  <a:pt x="970158" y="597047"/>
                  <a:pt x="977784" y="602077"/>
                  <a:pt x="987057" y="603020"/>
                </a:cubicBezTo>
                <a:cubicBezTo>
                  <a:pt x="994888" y="601134"/>
                  <a:pt x="988294" y="596103"/>
                  <a:pt x="993446" y="593117"/>
                </a:cubicBezTo>
                <a:cubicBezTo>
                  <a:pt x="997362" y="599090"/>
                  <a:pt x="1010551" y="593117"/>
                  <a:pt x="1020855" y="590130"/>
                </a:cubicBezTo>
                <a:cubicBezTo>
                  <a:pt x="1019619" y="587143"/>
                  <a:pt x="1016940" y="588087"/>
                  <a:pt x="1014261" y="588087"/>
                </a:cubicBezTo>
                <a:cubicBezTo>
                  <a:pt x="1029923" y="583214"/>
                  <a:pt x="1058569" y="570324"/>
                  <a:pt x="1078147" y="573311"/>
                </a:cubicBezTo>
                <a:cubicBezTo>
                  <a:pt x="1080826" y="572210"/>
                  <a:pt x="1078147" y="569224"/>
                  <a:pt x="1078147" y="567337"/>
                </a:cubicBezTo>
                <a:cubicBezTo>
                  <a:pt x="1110709" y="570324"/>
                  <a:pt x="1132760" y="562307"/>
                  <a:pt x="1170680" y="554448"/>
                </a:cubicBezTo>
                <a:cubicBezTo>
                  <a:pt x="1169236" y="556334"/>
                  <a:pt x="1169236" y="558378"/>
                  <a:pt x="1169236" y="560421"/>
                </a:cubicBezTo>
                <a:cubicBezTo>
                  <a:pt x="1180984" y="558378"/>
                  <a:pt x="1187579" y="554448"/>
                  <a:pt x="1200562" y="557435"/>
                </a:cubicBezTo>
                <a:cubicBezTo>
                  <a:pt x="1180984" y="562307"/>
                  <a:pt x="1173153" y="570324"/>
                  <a:pt x="1145949" y="576297"/>
                </a:cubicBezTo>
                <a:cubicBezTo>
                  <a:pt x="1157696" y="582114"/>
                  <a:pt x="1174595" y="569224"/>
                  <a:pt x="1186136" y="577240"/>
                </a:cubicBezTo>
                <a:cubicBezTo>
                  <a:pt x="1171916" y="570324"/>
                  <a:pt x="1193967" y="570324"/>
                  <a:pt x="1201798" y="574254"/>
                </a:cubicBezTo>
                <a:cubicBezTo>
                  <a:pt x="1209630" y="567337"/>
                  <a:pt x="1220140" y="570324"/>
                  <a:pt x="1230445" y="563408"/>
                </a:cubicBezTo>
                <a:cubicBezTo>
                  <a:pt x="1234360" y="566237"/>
                  <a:pt x="1225292" y="571267"/>
                  <a:pt x="1231887" y="570324"/>
                </a:cubicBezTo>
                <a:cubicBezTo>
                  <a:pt x="1226528" y="575197"/>
                  <a:pt x="1191494" y="574254"/>
                  <a:pt x="1192731" y="586200"/>
                </a:cubicBezTo>
                <a:cubicBezTo>
                  <a:pt x="1182220" y="589187"/>
                  <a:pt x="1191494" y="584157"/>
                  <a:pt x="1187579" y="580227"/>
                </a:cubicBezTo>
                <a:cubicBezTo>
                  <a:pt x="1179747" y="583214"/>
                  <a:pt x="1183663" y="589187"/>
                  <a:pt x="1178511" y="593117"/>
                </a:cubicBezTo>
                <a:cubicBezTo>
                  <a:pt x="1190051" y="586200"/>
                  <a:pt x="1209630" y="591074"/>
                  <a:pt x="1214988" y="582114"/>
                </a:cubicBezTo>
                <a:cubicBezTo>
                  <a:pt x="1246107" y="582114"/>
                  <a:pt x="1283821" y="577240"/>
                  <a:pt x="1300926" y="565294"/>
                </a:cubicBezTo>
                <a:cubicBezTo>
                  <a:pt x="1299483" y="570324"/>
                  <a:pt x="1306078" y="568281"/>
                  <a:pt x="1307315" y="571267"/>
                </a:cubicBezTo>
                <a:cubicBezTo>
                  <a:pt x="1326893" y="562307"/>
                  <a:pt x="1359454" y="567337"/>
                  <a:pt x="1366049" y="551461"/>
                </a:cubicBezTo>
                <a:cubicBezTo>
                  <a:pt x="1371201" y="550361"/>
                  <a:pt x="1367285" y="556334"/>
                  <a:pt x="1369964" y="559321"/>
                </a:cubicBezTo>
                <a:cubicBezTo>
                  <a:pt x="1341318" y="572210"/>
                  <a:pt x="1316382" y="565294"/>
                  <a:pt x="1297010" y="579284"/>
                </a:cubicBezTo>
                <a:cubicBezTo>
                  <a:pt x="1298246" y="583214"/>
                  <a:pt x="1313909" y="578183"/>
                  <a:pt x="1308757" y="584157"/>
                </a:cubicBezTo>
                <a:cubicBezTo>
                  <a:pt x="1339876" y="575197"/>
                  <a:pt x="1388100" y="574254"/>
                  <a:pt x="1414067" y="568281"/>
                </a:cubicBezTo>
                <a:cubicBezTo>
                  <a:pt x="1417982" y="574254"/>
                  <a:pt x="1403763" y="569224"/>
                  <a:pt x="1404999" y="574254"/>
                </a:cubicBezTo>
                <a:cubicBezTo>
                  <a:pt x="1440239" y="566237"/>
                  <a:pt x="1483105" y="574254"/>
                  <a:pt x="1509278" y="558378"/>
                </a:cubicBezTo>
                <a:cubicBezTo>
                  <a:pt x="1510515" y="564351"/>
                  <a:pt x="1500211" y="561364"/>
                  <a:pt x="1501447" y="566237"/>
                </a:cubicBezTo>
                <a:cubicBezTo>
                  <a:pt x="1519583" y="560421"/>
                  <a:pt x="1532773" y="578183"/>
                  <a:pt x="1550908" y="565294"/>
                </a:cubicBezTo>
                <a:cubicBezTo>
                  <a:pt x="1554823" y="567337"/>
                  <a:pt x="1556060" y="570324"/>
                  <a:pt x="1558739" y="572210"/>
                </a:cubicBezTo>
                <a:cubicBezTo>
                  <a:pt x="1567807" y="571267"/>
                  <a:pt x="1583469" y="565294"/>
                  <a:pt x="1590064" y="568281"/>
                </a:cubicBezTo>
                <a:cubicBezTo>
                  <a:pt x="1590064" y="570324"/>
                  <a:pt x="1586148" y="569224"/>
                  <a:pt x="1583469" y="570324"/>
                </a:cubicBezTo>
                <a:cubicBezTo>
                  <a:pt x="1583469" y="571267"/>
                  <a:pt x="1586148" y="571267"/>
                  <a:pt x="1587385" y="571267"/>
                </a:cubicBezTo>
                <a:cubicBezTo>
                  <a:pt x="1579554" y="582114"/>
                  <a:pt x="1596452" y="581170"/>
                  <a:pt x="1617267" y="579284"/>
                </a:cubicBezTo>
                <a:cubicBezTo>
                  <a:pt x="1619946" y="578183"/>
                  <a:pt x="1623862" y="578183"/>
                  <a:pt x="1626335" y="577240"/>
                </a:cubicBezTo>
                <a:cubicBezTo>
                  <a:pt x="1626335" y="577240"/>
                  <a:pt x="1626335" y="577240"/>
                  <a:pt x="1632930" y="576297"/>
                </a:cubicBezTo>
                <a:cubicBezTo>
                  <a:pt x="1638082" y="576297"/>
                  <a:pt x="1641998" y="575197"/>
                  <a:pt x="1647356" y="574254"/>
                </a:cubicBezTo>
                <a:cubicBezTo>
                  <a:pt x="1654981" y="572210"/>
                  <a:pt x="1662813" y="571267"/>
                  <a:pt x="1666728" y="571267"/>
                </a:cubicBezTo>
                <a:cubicBezTo>
                  <a:pt x="1669407" y="571267"/>
                  <a:pt x="1665491" y="572210"/>
                  <a:pt x="1665491" y="574254"/>
                </a:cubicBezTo>
                <a:cubicBezTo>
                  <a:pt x="1681154" y="574254"/>
                  <a:pt x="1696816" y="574254"/>
                  <a:pt x="1711036" y="574254"/>
                </a:cubicBezTo>
                <a:cubicBezTo>
                  <a:pt x="1718868" y="573311"/>
                  <a:pt x="1726699" y="573311"/>
                  <a:pt x="1734530" y="574254"/>
                </a:cubicBezTo>
                <a:cubicBezTo>
                  <a:pt x="1742361" y="574254"/>
                  <a:pt x="1748750" y="575197"/>
                  <a:pt x="1756581" y="576297"/>
                </a:cubicBezTo>
                <a:cubicBezTo>
                  <a:pt x="1759260" y="576297"/>
                  <a:pt x="1758024" y="573311"/>
                  <a:pt x="1755345" y="573311"/>
                </a:cubicBezTo>
                <a:cubicBezTo>
                  <a:pt x="1761939" y="573311"/>
                  <a:pt x="1781312" y="588087"/>
                  <a:pt x="1794295" y="576297"/>
                </a:cubicBezTo>
                <a:cubicBezTo>
                  <a:pt x="1792853" y="578183"/>
                  <a:pt x="1790379" y="579284"/>
                  <a:pt x="1788937" y="581170"/>
                </a:cubicBezTo>
                <a:cubicBezTo>
                  <a:pt x="1795532" y="581170"/>
                  <a:pt x="1796768" y="573311"/>
                  <a:pt x="1804599" y="573311"/>
                </a:cubicBezTo>
                <a:cubicBezTo>
                  <a:pt x="1804599" y="577240"/>
                  <a:pt x="1802126" y="578183"/>
                  <a:pt x="1800684" y="580227"/>
                </a:cubicBezTo>
                <a:cubicBezTo>
                  <a:pt x="1812430" y="587143"/>
                  <a:pt x="1826857" y="577240"/>
                  <a:pt x="1833245" y="583214"/>
                </a:cubicBezTo>
                <a:cubicBezTo>
                  <a:pt x="1837161" y="583214"/>
                  <a:pt x="1838604" y="580227"/>
                  <a:pt x="1843755" y="581170"/>
                </a:cubicBezTo>
                <a:cubicBezTo>
                  <a:pt x="1847671" y="574254"/>
                  <a:pt x="1838604" y="577240"/>
                  <a:pt x="1841077" y="572210"/>
                </a:cubicBezTo>
                <a:cubicBezTo>
                  <a:pt x="1842313" y="573311"/>
                  <a:pt x="1843755" y="573311"/>
                  <a:pt x="1844992" y="574254"/>
                </a:cubicBezTo>
                <a:cubicBezTo>
                  <a:pt x="1846229" y="574254"/>
                  <a:pt x="1847671" y="574254"/>
                  <a:pt x="1848908" y="574254"/>
                </a:cubicBezTo>
                <a:cubicBezTo>
                  <a:pt x="1847671" y="575197"/>
                  <a:pt x="1846229" y="579284"/>
                  <a:pt x="1844992" y="579284"/>
                </a:cubicBezTo>
                <a:cubicBezTo>
                  <a:pt x="1844992" y="582114"/>
                  <a:pt x="1848908" y="576297"/>
                  <a:pt x="1847671" y="582114"/>
                </a:cubicBezTo>
                <a:cubicBezTo>
                  <a:pt x="1850144" y="580227"/>
                  <a:pt x="1852824" y="580227"/>
                  <a:pt x="1855502" y="576297"/>
                </a:cubicBezTo>
                <a:cubicBezTo>
                  <a:pt x="1856738" y="576297"/>
                  <a:pt x="1855502" y="580227"/>
                  <a:pt x="1855502" y="583214"/>
                </a:cubicBezTo>
                <a:cubicBezTo>
                  <a:pt x="1868486" y="587143"/>
                  <a:pt x="1880233" y="583214"/>
                  <a:pt x="1895895" y="579284"/>
                </a:cubicBezTo>
                <a:lnTo>
                  <a:pt x="1899057" y="582902"/>
                </a:lnTo>
                <a:lnTo>
                  <a:pt x="1899069" y="583170"/>
                </a:lnTo>
                <a:lnTo>
                  <a:pt x="1900426" y="584467"/>
                </a:lnTo>
                <a:lnTo>
                  <a:pt x="1904448" y="589069"/>
                </a:lnTo>
                <a:cubicBezTo>
                  <a:pt x="1908827" y="590680"/>
                  <a:pt x="1914031" y="590680"/>
                  <a:pt x="1917947" y="589187"/>
                </a:cubicBezTo>
                <a:cubicBezTo>
                  <a:pt x="1914031" y="595160"/>
                  <a:pt x="1924541" y="592174"/>
                  <a:pt x="1925778" y="597047"/>
                </a:cubicBezTo>
                <a:cubicBezTo>
                  <a:pt x="1927014" y="597047"/>
                  <a:pt x="1927014" y="595160"/>
                  <a:pt x="1928457" y="595160"/>
                </a:cubicBezTo>
                <a:cubicBezTo>
                  <a:pt x="1930930" y="589187"/>
                  <a:pt x="1925778" y="592174"/>
                  <a:pt x="1927014" y="587143"/>
                </a:cubicBezTo>
                <a:lnTo>
                  <a:pt x="1933291" y="596718"/>
                </a:lnTo>
                <a:lnTo>
                  <a:pt x="1932012" y="597204"/>
                </a:lnTo>
                <a:cubicBezTo>
                  <a:pt x="1931033" y="598068"/>
                  <a:pt x="1929693" y="599562"/>
                  <a:pt x="1927014" y="599090"/>
                </a:cubicBezTo>
                <a:cubicBezTo>
                  <a:pt x="1928457" y="603020"/>
                  <a:pt x="1934845" y="599090"/>
                  <a:pt x="1938761" y="599090"/>
                </a:cubicBezTo>
                <a:cubicBezTo>
                  <a:pt x="1939998" y="594060"/>
                  <a:pt x="1937525" y="594060"/>
                  <a:pt x="1934845" y="594060"/>
                </a:cubicBezTo>
                <a:cubicBezTo>
                  <a:pt x="1939998" y="596103"/>
                  <a:pt x="1958339" y="589187"/>
                  <a:pt x="1961019" y="599090"/>
                </a:cubicBezTo>
                <a:cubicBezTo>
                  <a:pt x="1966170" y="595160"/>
                  <a:pt x="1959576" y="594060"/>
                  <a:pt x="1964934" y="587143"/>
                </a:cubicBezTo>
                <a:cubicBezTo>
                  <a:pt x="1956897" y="589187"/>
                  <a:pt x="1945356" y="592174"/>
                  <a:pt x="1941440" y="580227"/>
                </a:cubicBezTo>
                <a:cubicBezTo>
                  <a:pt x="1946592" y="582114"/>
                  <a:pt x="1949272" y="578183"/>
                  <a:pt x="1950508" y="573311"/>
                </a:cubicBezTo>
                <a:cubicBezTo>
                  <a:pt x="1955660" y="573311"/>
                  <a:pt x="1962255" y="572210"/>
                  <a:pt x="1963491" y="577240"/>
                </a:cubicBezTo>
                <a:cubicBezTo>
                  <a:pt x="1966170" y="575197"/>
                  <a:pt x="1968850" y="574254"/>
                  <a:pt x="1971323" y="572210"/>
                </a:cubicBezTo>
                <a:cubicBezTo>
                  <a:pt x="1981833" y="575197"/>
                  <a:pt x="1994816" y="565294"/>
                  <a:pt x="2001205" y="577240"/>
                </a:cubicBezTo>
                <a:cubicBezTo>
                  <a:pt x="1997290" y="578183"/>
                  <a:pt x="1998732" y="572210"/>
                  <a:pt x="1996053" y="576297"/>
                </a:cubicBezTo>
                <a:cubicBezTo>
                  <a:pt x="1997290" y="580227"/>
                  <a:pt x="1999969" y="578183"/>
                  <a:pt x="2003884" y="577240"/>
                </a:cubicBezTo>
                <a:cubicBezTo>
                  <a:pt x="2003884" y="575197"/>
                  <a:pt x="2003884" y="574254"/>
                  <a:pt x="2003884" y="574254"/>
                </a:cubicBezTo>
                <a:cubicBezTo>
                  <a:pt x="2010479" y="575197"/>
                  <a:pt x="2026142" y="563408"/>
                  <a:pt x="2031294" y="573311"/>
                </a:cubicBezTo>
                <a:cubicBezTo>
                  <a:pt x="2037682" y="564351"/>
                  <a:pt x="2049429" y="576297"/>
                  <a:pt x="2053345" y="564351"/>
                </a:cubicBezTo>
                <a:cubicBezTo>
                  <a:pt x="2054581" y="568281"/>
                  <a:pt x="2056024" y="572210"/>
                  <a:pt x="2059940" y="574254"/>
                </a:cubicBezTo>
                <a:cubicBezTo>
                  <a:pt x="2059940" y="570324"/>
                  <a:pt x="2063855" y="565294"/>
                  <a:pt x="2063855" y="574254"/>
                </a:cubicBezTo>
                <a:cubicBezTo>
                  <a:pt x="2072923" y="569224"/>
                  <a:pt x="2078075" y="570324"/>
                  <a:pt x="2084670" y="569224"/>
                </a:cubicBezTo>
                <a:cubicBezTo>
                  <a:pt x="2091059" y="569224"/>
                  <a:pt x="2096417" y="568281"/>
                  <a:pt x="2100332" y="559321"/>
                </a:cubicBezTo>
                <a:cubicBezTo>
                  <a:pt x="2101569" y="560421"/>
                  <a:pt x="2101569" y="564351"/>
                  <a:pt x="2102805" y="564351"/>
                </a:cubicBezTo>
                <a:cubicBezTo>
                  <a:pt x="2102805" y="561364"/>
                  <a:pt x="2101569" y="561364"/>
                  <a:pt x="2101569" y="557435"/>
                </a:cubicBezTo>
                <a:cubicBezTo>
                  <a:pt x="2104248" y="564351"/>
                  <a:pt x="2105484" y="559321"/>
                  <a:pt x="2106721" y="562307"/>
                </a:cubicBezTo>
                <a:cubicBezTo>
                  <a:pt x="2108164" y="562307"/>
                  <a:pt x="2104248" y="568281"/>
                  <a:pt x="2108164" y="568281"/>
                </a:cubicBezTo>
                <a:cubicBezTo>
                  <a:pt x="2106721" y="571267"/>
                  <a:pt x="2104248" y="563408"/>
                  <a:pt x="2101569" y="566237"/>
                </a:cubicBezTo>
                <a:cubicBezTo>
                  <a:pt x="2101569" y="569224"/>
                  <a:pt x="2104248" y="568281"/>
                  <a:pt x="2105484" y="569224"/>
                </a:cubicBezTo>
                <a:cubicBezTo>
                  <a:pt x="2105484" y="574254"/>
                  <a:pt x="2102805" y="569224"/>
                  <a:pt x="2101569" y="569224"/>
                </a:cubicBezTo>
                <a:cubicBezTo>
                  <a:pt x="2104248" y="575197"/>
                  <a:pt x="2108164" y="574254"/>
                  <a:pt x="2110636" y="575197"/>
                </a:cubicBezTo>
                <a:cubicBezTo>
                  <a:pt x="2104248" y="578183"/>
                  <a:pt x="2094974" y="576297"/>
                  <a:pt x="2087143" y="575197"/>
                </a:cubicBezTo>
                <a:cubicBezTo>
                  <a:pt x="2083433" y="575197"/>
                  <a:pt x="2079518" y="575197"/>
                  <a:pt x="2075602" y="576297"/>
                </a:cubicBezTo>
                <a:cubicBezTo>
                  <a:pt x="2071686" y="577240"/>
                  <a:pt x="2063855" y="579284"/>
                  <a:pt x="2058703" y="583214"/>
                </a:cubicBezTo>
                <a:cubicBezTo>
                  <a:pt x="2056024" y="582114"/>
                  <a:pt x="2054581" y="578183"/>
                  <a:pt x="2052109" y="576297"/>
                </a:cubicBezTo>
                <a:cubicBezTo>
                  <a:pt x="2049429" y="577240"/>
                  <a:pt x="2050665" y="583214"/>
                  <a:pt x="2048193" y="582114"/>
                </a:cubicBezTo>
                <a:cubicBezTo>
                  <a:pt x="2046956" y="571267"/>
                  <a:pt x="2040361" y="589187"/>
                  <a:pt x="2041598" y="577240"/>
                </a:cubicBezTo>
                <a:cubicBezTo>
                  <a:pt x="2039125" y="583214"/>
                  <a:pt x="2035209" y="585100"/>
                  <a:pt x="2033766" y="588087"/>
                </a:cubicBezTo>
                <a:cubicBezTo>
                  <a:pt x="2031294" y="589187"/>
                  <a:pt x="2029851" y="586200"/>
                  <a:pt x="2029851" y="583214"/>
                </a:cubicBezTo>
                <a:cubicBezTo>
                  <a:pt x="2031294" y="594060"/>
                  <a:pt x="2010479" y="585100"/>
                  <a:pt x="2009037" y="591074"/>
                </a:cubicBezTo>
                <a:cubicBezTo>
                  <a:pt x="2005121" y="588087"/>
                  <a:pt x="1998732" y="590130"/>
                  <a:pt x="1990901" y="591074"/>
                </a:cubicBezTo>
                <a:cubicBezTo>
                  <a:pt x="1990901" y="602077"/>
                  <a:pt x="2005121" y="598147"/>
                  <a:pt x="2007800" y="594060"/>
                </a:cubicBezTo>
                <a:cubicBezTo>
                  <a:pt x="2012951" y="602077"/>
                  <a:pt x="2023462" y="599090"/>
                  <a:pt x="2027378" y="599090"/>
                </a:cubicBezTo>
                <a:cubicBezTo>
                  <a:pt x="2028615" y="604120"/>
                  <a:pt x="2024699" y="601134"/>
                  <a:pt x="2024699" y="606006"/>
                </a:cubicBezTo>
                <a:cubicBezTo>
                  <a:pt x="2024699" y="607107"/>
                  <a:pt x="2024699" y="608993"/>
                  <a:pt x="2024699" y="611036"/>
                </a:cubicBezTo>
                <a:cubicBezTo>
                  <a:pt x="2029851" y="609936"/>
                  <a:pt x="2036446" y="611036"/>
                  <a:pt x="2037682" y="605063"/>
                </a:cubicBezTo>
                <a:cubicBezTo>
                  <a:pt x="2048193" y="608050"/>
                  <a:pt x="2056024" y="603020"/>
                  <a:pt x="2066328" y="614966"/>
                </a:cubicBezTo>
                <a:cubicBezTo>
                  <a:pt x="2069007" y="612922"/>
                  <a:pt x="2071686" y="608993"/>
                  <a:pt x="2075602" y="609936"/>
                </a:cubicBezTo>
                <a:cubicBezTo>
                  <a:pt x="2078075" y="611980"/>
                  <a:pt x="2074160" y="612922"/>
                  <a:pt x="2071686" y="612922"/>
                </a:cubicBezTo>
                <a:cubicBezTo>
                  <a:pt x="2075602" y="615909"/>
                  <a:pt x="2079518" y="617953"/>
                  <a:pt x="2084670" y="614023"/>
                </a:cubicBezTo>
                <a:cubicBezTo>
                  <a:pt x="2084670" y="609936"/>
                  <a:pt x="2081991" y="614023"/>
                  <a:pt x="2079518" y="612922"/>
                </a:cubicBezTo>
                <a:cubicBezTo>
                  <a:pt x="2080754" y="603020"/>
                  <a:pt x="2085907" y="611036"/>
                  <a:pt x="2089822" y="608050"/>
                </a:cubicBezTo>
                <a:cubicBezTo>
                  <a:pt x="2088585" y="611036"/>
                  <a:pt x="2088585" y="611980"/>
                  <a:pt x="2087143" y="611980"/>
                </a:cubicBezTo>
                <a:cubicBezTo>
                  <a:pt x="2092501" y="617010"/>
                  <a:pt x="2097653" y="618896"/>
                  <a:pt x="2102805" y="614966"/>
                </a:cubicBezTo>
                <a:cubicBezTo>
                  <a:pt x="2102805" y="609936"/>
                  <a:pt x="2100332" y="614023"/>
                  <a:pt x="2100332" y="608993"/>
                </a:cubicBezTo>
                <a:cubicBezTo>
                  <a:pt x="2101569" y="609936"/>
                  <a:pt x="2105484" y="615909"/>
                  <a:pt x="2104248" y="608050"/>
                </a:cubicBezTo>
                <a:cubicBezTo>
                  <a:pt x="2108164" y="612922"/>
                  <a:pt x="2112079" y="612922"/>
                  <a:pt x="2113316" y="607107"/>
                </a:cubicBezTo>
                <a:cubicBezTo>
                  <a:pt x="2114552" y="611036"/>
                  <a:pt x="2117232" y="611036"/>
                  <a:pt x="2119910" y="609936"/>
                </a:cubicBezTo>
                <a:cubicBezTo>
                  <a:pt x="2115995" y="614023"/>
                  <a:pt x="2112079" y="611980"/>
                  <a:pt x="2105484" y="617010"/>
                </a:cubicBezTo>
                <a:cubicBezTo>
                  <a:pt x="2109400" y="622983"/>
                  <a:pt x="2113316" y="622983"/>
                  <a:pt x="2115995" y="618896"/>
                </a:cubicBezTo>
                <a:cubicBezTo>
                  <a:pt x="2115995" y="627856"/>
                  <a:pt x="2127535" y="611980"/>
                  <a:pt x="2132894" y="627856"/>
                </a:cubicBezTo>
                <a:cubicBezTo>
                  <a:pt x="2141961" y="621882"/>
                  <a:pt x="2148350" y="632886"/>
                  <a:pt x="2158861" y="624869"/>
                </a:cubicBezTo>
                <a:cubicBezTo>
                  <a:pt x="2153708" y="632886"/>
                  <a:pt x="2165455" y="627856"/>
                  <a:pt x="2169371" y="626913"/>
                </a:cubicBezTo>
                <a:cubicBezTo>
                  <a:pt x="2167928" y="620939"/>
                  <a:pt x="2166692" y="622983"/>
                  <a:pt x="2164013" y="620939"/>
                </a:cubicBezTo>
                <a:cubicBezTo>
                  <a:pt x="2165455" y="623926"/>
                  <a:pt x="2164013" y="625812"/>
                  <a:pt x="2161540" y="625812"/>
                </a:cubicBezTo>
                <a:cubicBezTo>
                  <a:pt x="2158861" y="617953"/>
                  <a:pt x="2166692" y="615909"/>
                  <a:pt x="2170608" y="623926"/>
                </a:cubicBezTo>
                <a:cubicBezTo>
                  <a:pt x="2180911" y="620939"/>
                  <a:pt x="2187507" y="617953"/>
                  <a:pt x="2200490" y="625812"/>
                </a:cubicBezTo>
                <a:cubicBezTo>
                  <a:pt x="2201932" y="623926"/>
                  <a:pt x="2196574" y="622983"/>
                  <a:pt x="2195338" y="621882"/>
                </a:cubicBezTo>
                <a:cubicBezTo>
                  <a:pt x="2200490" y="621882"/>
                  <a:pt x="2213679" y="615909"/>
                  <a:pt x="2222747" y="615909"/>
                </a:cubicBezTo>
                <a:cubicBezTo>
                  <a:pt x="2227900" y="609936"/>
                  <a:pt x="2235731" y="612922"/>
                  <a:pt x="2246034" y="611036"/>
                </a:cubicBezTo>
                <a:cubicBezTo>
                  <a:pt x="2244798" y="609936"/>
                  <a:pt x="2244798" y="609936"/>
                  <a:pt x="2243562" y="609936"/>
                </a:cubicBezTo>
                <a:cubicBezTo>
                  <a:pt x="2263140" y="601134"/>
                  <a:pt x="2283954" y="596103"/>
                  <a:pt x="2298175" y="585100"/>
                </a:cubicBezTo>
                <a:cubicBezTo>
                  <a:pt x="2300854" y="588087"/>
                  <a:pt x="2298175" y="588087"/>
                  <a:pt x="2302090" y="591074"/>
                </a:cubicBezTo>
                <a:cubicBezTo>
                  <a:pt x="2308685" y="595160"/>
                  <a:pt x="2307448" y="587143"/>
                  <a:pt x="2303533" y="584157"/>
                </a:cubicBezTo>
                <a:cubicBezTo>
                  <a:pt x="2309921" y="587143"/>
                  <a:pt x="2315074" y="582114"/>
                  <a:pt x="2320432" y="576297"/>
                </a:cubicBezTo>
                <a:cubicBezTo>
                  <a:pt x="2325584" y="571267"/>
                  <a:pt x="2330736" y="564351"/>
                  <a:pt x="2338568" y="565294"/>
                </a:cubicBezTo>
                <a:lnTo>
                  <a:pt x="2341246" y="567337"/>
                </a:lnTo>
                <a:cubicBezTo>
                  <a:pt x="2341246" y="567337"/>
                  <a:pt x="2341246" y="561364"/>
                  <a:pt x="2345162" y="567337"/>
                </a:cubicBezTo>
                <a:cubicBezTo>
                  <a:pt x="2343719" y="558378"/>
                  <a:pt x="2352993" y="557435"/>
                  <a:pt x="2355466" y="551461"/>
                </a:cubicBezTo>
                <a:cubicBezTo>
                  <a:pt x="2358146" y="551461"/>
                  <a:pt x="2362061" y="553347"/>
                  <a:pt x="2363298" y="556334"/>
                </a:cubicBezTo>
                <a:cubicBezTo>
                  <a:pt x="2364740" y="555391"/>
                  <a:pt x="2364740" y="554448"/>
                  <a:pt x="2365977" y="553347"/>
                </a:cubicBezTo>
                <a:cubicBezTo>
                  <a:pt x="2367213" y="551461"/>
                  <a:pt x="2363298" y="551461"/>
                  <a:pt x="2359382" y="548475"/>
                </a:cubicBezTo>
                <a:cubicBezTo>
                  <a:pt x="2367213" y="547374"/>
                  <a:pt x="2377724" y="548475"/>
                  <a:pt x="2377724" y="542501"/>
                </a:cubicBezTo>
                <a:cubicBezTo>
                  <a:pt x="2381640" y="545488"/>
                  <a:pt x="2382876" y="545488"/>
                  <a:pt x="2385555" y="546431"/>
                </a:cubicBezTo>
                <a:cubicBezTo>
                  <a:pt x="2385555" y="543444"/>
                  <a:pt x="2391944" y="541401"/>
                  <a:pt x="2393386" y="539515"/>
                </a:cubicBezTo>
                <a:cubicBezTo>
                  <a:pt x="2398538" y="543444"/>
                  <a:pt x="2393386" y="543444"/>
                  <a:pt x="2397302" y="546431"/>
                </a:cubicBezTo>
                <a:cubicBezTo>
                  <a:pt x="2402454" y="540458"/>
                  <a:pt x="2423269" y="542501"/>
                  <a:pt x="2423269" y="530555"/>
                </a:cubicBezTo>
                <a:cubicBezTo>
                  <a:pt x="2433573" y="534485"/>
                  <a:pt x="2420589" y="534485"/>
                  <a:pt x="2427185" y="538414"/>
                </a:cubicBezTo>
                <a:cubicBezTo>
                  <a:pt x="2436252" y="536528"/>
                  <a:pt x="2427185" y="520652"/>
                  <a:pt x="2441404" y="521595"/>
                </a:cubicBezTo>
                <a:cubicBezTo>
                  <a:pt x="2444083" y="520652"/>
                  <a:pt x="2437489" y="518608"/>
                  <a:pt x="2437489" y="517665"/>
                </a:cubicBezTo>
                <a:cubicBezTo>
                  <a:pt x="2450678" y="517665"/>
                  <a:pt x="2453151" y="511692"/>
                  <a:pt x="2451914" y="504776"/>
                </a:cubicBezTo>
                <a:cubicBezTo>
                  <a:pt x="2477881" y="515622"/>
                  <a:pt x="2466134" y="494716"/>
                  <a:pt x="2485712" y="495816"/>
                </a:cubicBezTo>
                <a:lnTo>
                  <a:pt x="2488023" y="488804"/>
                </a:lnTo>
                <a:lnTo>
                  <a:pt x="2485535" y="487979"/>
                </a:lnTo>
                <a:cubicBezTo>
                  <a:pt x="2482600" y="487742"/>
                  <a:pt x="2479975" y="487504"/>
                  <a:pt x="2479975" y="485523"/>
                </a:cubicBezTo>
                <a:cubicBezTo>
                  <a:pt x="2469474" y="484413"/>
                  <a:pt x="2468238" y="490436"/>
                  <a:pt x="2469474" y="493446"/>
                </a:cubicBezTo>
                <a:cubicBezTo>
                  <a:pt x="2455266" y="489484"/>
                  <a:pt x="2468238" y="475381"/>
                  <a:pt x="2478740" y="471420"/>
                </a:cubicBezTo>
                <a:cubicBezTo>
                  <a:pt x="2482446" y="472371"/>
                  <a:pt x="2486359" y="474431"/>
                  <a:pt x="2487800" y="472371"/>
                </a:cubicBezTo>
                <a:cubicBezTo>
                  <a:pt x="2496860" y="477441"/>
                  <a:pt x="2487800" y="478392"/>
                  <a:pt x="2489036" y="480453"/>
                </a:cubicBezTo>
                <a:cubicBezTo>
                  <a:pt x="2482446" y="481403"/>
                  <a:pt x="2479975" y="477441"/>
                  <a:pt x="2485123" y="476491"/>
                </a:cubicBezTo>
                <a:cubicBezTo>
                  <a:pt x="2482446" y="475381"/>
                  <a:pt x="2481211" y="477441"/>
                  <a:pt x="2476063" y="475381"/>
                </a:cubicBezTo>
                <a:cubicBezTo>
                  <a:pt x="2473386" y="478392"/>
                  <a:pt x="2478740" y="480453"/>
                  <a:pt x="2478740" y="482512"/>
                </a:cubicBezTo>
                <a:cubicBezTo>
                  <a:pt x="2482549" y="481007"/>
                  <a:pt x="2485792" y="481997"/>
                  <a:pt x="2488237" y="483859"/>
                </a:cubicBezTo>
                <a:lnTo>
                  <a:pt x="2490390" y="486866"/>
                </a:lnTo>
                <a:lnTo>
                  <a:pt x="2498696" y="482926"/>
                </a:lnTo>
                <a:cubicBezTo>
                  <a:pt x="2498696" y="480883"/>
                  <a:pt x="2496223" y="479939"/>
                  <a:pt x="2494986" y="477896"/>
                </a:cubicBezTo>
                <a:cubicBezTo>
                  <a:pt x="2496223" y="474909"/>
                  <a:pt x="2496223" y="477896"/>
                  <a:pt x="2501375" y="478839"/>
                </a:cubicBezTo>
                <a:cubicBezTo>
                  <a:pt x="2502612" y="477896"/>
                  <a:pt x="2497460" y="475852"/>
                  <a:pt x="2498696" y="473966"/>
                </a:cubicBezTo>
                <a:cubicBezTo>
                  <a:pt x="2496223" y="472866"/>
                  <a:pt x="2496223" y="474909"/>
                  <a:pt x="2496223" y="474909"/>
                </a:cubicBezTo>
                <a:cubicBezTo>
                  <a:pt x="2494883" y="471923"/>
                  <a:pt x="2496171" y="469447"/>
                  <a:pt x="2498129" y="467089"/>
                </a:cubicBezTo>
                <a:lnTo>
                  <a:pt x="2500934" y="463722"/>
                </a:lnTo>
                <a:lnTo>
                  <a:pt x="2491987" y="463088"/>
                </a:lnTo>
                <a:cubicBezTo>
                  <a:pt x="2487275" y="462712"/>
                  <a:pt x="2483690" y="461960"/>
                  <a:pt x="2485636" y="459901"/>
                </a:cubicBezTo>
                <a:cubicBezTo>
                  <a:pt x="2477849" y="459901"/>
                  <a:pt x="2480514" y="467975"/>
                  <a:pt x="2480514" y="469875"/>
                </a:cubicBezTo>
                <a:cubicBezTo>
                  <a:pt x="2466170" y="464968"/>
                  <a:pt x="2479284" y="461010"/>
                  <a:pt x="2482972" y="456894"/>
                </a:cubicBezTo>
                <a:cubicBezTo>
                  <a:pt x="2486866" y="458002"/>
                  <a:pt x="2488300" y="458952"/>
                  <a:pt x="2488300" y="459901"/>
                </a:cubicBezTo>
                <a:cubicBezTo>
                  <a:pt x="2493422" y="459901"/>
                  <a:pt x="2496086" y="458952"/>
                  <a:pt x="2497315" y="455944"/>
                </a:cubicBezTo>
                <a:cubicBezTo>
                  <a:pt x="2486866" y="451986"/>
                  <a:pt x="2493422" y="459901"/>
                  <a:pt x="2484406" y="455944"/>
                </a:cubicBezTo>
                <a:cubicBezTo>
                  <a:pt x="2488300" y="452936"/>
                  <a:pt x="2492193" y="449928"/>
                  <a:pt x="2502438" y="451986"/>
                </a:cubicBezTo>
                <a:cubicBezTo>
                  <a:pt x="2506433" y="454954"/>
                  <a:pt x="2497981" y="457389"/>
                  <a:pt x="2499470" y="460557"/>
                </a:cubicBezTo>
                <a:lnTo>
                  <a:pt x="2502182" y="462224"/>
                </a:lnTo>
                <a:lnTo>
                  <a:pt x="2504054" y="459976"/>
                </a:lnTo>
                <a:lnTo>
                  <a:pt x="2504606" y="463713"/>
                </a:lnTo>
                <a:lnTo>
                  <a:pt x="2505101" y="464018"/>
                </a:lnTo>
                <a:lnTo>
                  <a:pt x="2504646" y="463985"/>
                </a:lnTo>
                <a:lnTo>
                  <a:pt x="2505162" y="467482"/>
                </a:lnTo>
                <a:cubicBezTo>
                  <a:pt x="2504003" y="469958"/>
                  <a:pt x="2501375" y="471923"/>
                  <a:pt x="2497460" y="471923"/>
                </a:cubicBezTo>
                <a:cubicBezTo>
                  <a:pt x="2497460" y="472866"/>
                  <a:pt x="2501375" y="473966"/>
                  <a:pt x="2501375" y="474909"/>
                </a:cubicBezTo>
                <a:cubicBezTo>
                  <a:pt x="2509206" y="476953"/>
                  <a:pt x="2514359" y="473966"/>
                  <a:pt x="2507970" y="469879"/>
                </a:cubicBezTo>
                <a:cubicBezTo>
                  <a:pt x="2511886" y="467993"/>
                  <a:pt x="2518273" y="467993"/>
                  <a:pt x="2522190" y="466892"/>
                </a:cubicBezTo>
                <a:cubicBezTo>
                  <a:pt x="2524869" y="464063"/>
                  <a:pt x="2511886" y="462020"/>
                  <a:pt x="2513122" y="459976"/>
                </a:cubicBezTo>
                <a:cubicBezTo>
                  <a:pt x="2536616" y="465006"/>
                  <a:pt x="2522190" y="448187"/>
                  <a:pt x="2539088" y="450073"/>
                </a:cubicBezTo>
                <a:cubicBezTo>
                  <a:pt x="2537852" y="444100"/>
                  <a:pt x="2544447" y="437184"/>
                  <a:pt x="2550835" y="431210"/>
                </a:cubicBezTo>
                <a:cubicBezTo>
                  <a:pt x="2555988" y="435140"/>
                  <a:pt x="2559903" y="435140"/>
                  <a:pt x="2562582" y="432154"/>
                </a:cubicBezTo>
                <a:cubicBezTo>
                  <a:pt x="2562582" y="438127"/>
                  <a:pt x="2550835" y="434197"/>
                  <a:pt x="2558667" y="441114"/>
                </a:cubicBezTo>
                <a:cubicBezTo>
                  <a:pt x="2563819" y="441114"/>
                  <a:pt x="2569177" y="442214"/>
                  <a:pt x="2569177" y="439227"/>
                </a:cubicBezTo>
                <a:cubicBezTo>
                  <a:pt x="2562582" y="441114"/>
                  <a:pt x="2563819" y="438127"/>
                  <a:pt x="2566498" y="435140"/>
                </a:cubicBezTo>
                <a:cubicBezTo>
                  <a:pt x="2567735" y="436241"/>
                  <a:pt x="2571650" y="438127"/>
                  <a:pt x="2575566" y="439227"/>
                </a:cubicBezTo>
                <a:cubicBezTo>
                  <a:pt x="2571650" y="445201"/>
                  <a:pt x="2566498" y="456990"/>
                  <a:pt x="2575566" y="465950"/>
                </a:cubicBezTo>
                <a:cubicBezTo>
                  <a:pt x="2578245" y="462963"/>
                  <a:pt x="2580718" y="459033"/>
                  <a:pt x="2582160" y="456990"/>
                </a:cubicBezTo>
                <a:cubicBezTo>
                  <a:pt x="2578245" y="456046"/>
                  <a:pt x="2575566" y="456046"/>
                  <a:pt x="2574329" y="458090"/>
                </a:cubicBezTo>
                <a:cubicBezTo>
                  <a:pt x="2570413" y="456990"/>
                  <a:pt x="2575566" y="455104"/>
                  <a:pt x="2574329" y="454003"/>
                </a:cubicBezTo>
                <a:cubicBezTo>
                  <a:pt x="2579482" y="458090"/>
                  <a:pt x="2580718" y="454003"/>
                  <a:pt x="2587313" y="455104"/>
                </a:cubicBezTo>
                <a:cubicBezTo>
                  <a:pt x="2587313" y="455104"/>
                  <a:pt x="2587313" y="455104"/>
                  <a:pt x="2586076" y="459976"/>
                </a:cubicBezTo>
                <a:lnTo>
                  <a:pt x="2590682" y="460121"/>
                </a:lnTo>
                <a:lnTo>
                  <a:pt x="2594671" y="452793"/>
                </a:lnTo>
                <a:cubicBezTo>
                  <a:pt x="2595640" y="449700"/>
                  <a:pt x="2595640" y="446982"/>
                  <a:pt x="2594313" y="445012"/>
                </a:cubicBezTo>
                <a:cubicBezTo>
                  <a:pt x="2602065" y="442965"/>
                  <a:pt x="2602065" y="440916"/>
                  <a:pt x="2608593" y="440916"/>
                </a:cubicBezTo>
                <a:cubicBezTo>
                  <a:pt x="2600840" y="442019"/>
                  <a:pt x="2612265" y="451945"/>
                  <a:pt x="2598189" y="450843"/>
                </a:cubicBezTo>
                <a:lnTo>
                  <a:pt x="2598129" y="452245"/>
                </a:lnTo>
                <a:lnTo>
                  <a:pt x="2600577" y="453271"/>
                </a:lnTo>
                <a:cubicBezTo>
                  <a:pt x="2600638" y="453601"/>
                  <a:pt x="2600026" y="453905"/>
                  <a:pt x="2599292" y="454278"/>
                </a:cubicBezTo>
                <a:lnTo>
                  <a:pt x="2597886" y="457928"/>
                </a:lnTo>
                <a:lnTo>
                  <a:pt x="2597879" y="458091"/>
                </a:lnTo>
                <a:lnTo>
                  <a:pt x="2604383" y="458217"/>
                </a:lnTo>
                <a:cubicBezTo>
                  <a:pt x="2608256" y="457245"/>
                  <a:pt x="2605551" y="453531"/>
                  <a:pt x="2609570" y="452117"/>
                </a:cubicBezTo>
                <a:cubicBezTo>
                  <a:pt x="2621111" y="456990"/>
                  <a:pt x="2610807" y="462020"/>
                  <a:pt x="2610807" y="465950"/>
                </a:cubicBezTo>
                <a:cubicBezTo>
                  <a:pt x="2610807" y="468936"/>
                  <a:pt x="2617196" y="469879"/>
                  <a:pt x="2609570" y="471923"/>
                </a:cubicBezTo>
                <a:cubicBezTo>
                  <a:pt x="2613280" y="473966"/>
                  <a:pt x="2615959" y="479939"/>
                  <a:pt x="2615959" y="484812"/>
                </a:cubicBezTo>
                <a:cubicBezTo>
                  <a:pt x="2613280" y="483869"/>
                  <a:pt x="2613280" y="482926"/>
                  <a:pt x="2610807" y="481826"/>
                </a:cubicBezTo>
                <a:cubicBezTo>
                  <a:pt x="2608849" y="484341"/>
                  <a:pt x="2610137" y="486856"/>
                  <a:pt x="2613047" y="489234"/>
                </a:cubicBezTo>
                <a:lnTo>
                  <a:pt x="2618163" y="492044"/>
                </a:lnTo>
                <a:lnTo>
                  <a:pt x="2619634" y="489484"/>
                </a:lnTo>
                <a:cubicBezTo>
                  <a:pt x="2622074" y="487108"/>
                  <a:pt x="2626332" y="484374"/>
                  <a:pt x="2627683" y="483899"/>
                </a:cubicBezTo>
                <a:cubicBezTo>
                  <a:pt x="2639521" y="488970"/>
                  <a:pt x="2618544" y="489920"/>
                  <a:pt x="2622490" y="492931"/>
                </a:cubicBezTo>
                <a:lnTo>
                  <a:pt x="2619142" y="492582"/>
                </a:lnTo>
                <a:lnTo>
                  <a:pt x="2625027" y="495816"/>
                </a:lnTo>
                <a:cubicBezTo>
                  <a:pt x="2628942" y="495816"/>
                  <a:pt x="2623790" y="492829"/>
                  <a:pt x="2628942" y="491886"/>
                </a:cubicBezTo>
                <a:cubicBezTo>
                  <a:pt x="2627706" y="498803"/>
                  <a:pt x="2635537" y="495816"/>
                  <a:pt x="2642132" y="502732"/>
                </a:cubicBezTo>
                <a:cubicBezTo>
                  <a:pt x="2639452" y="508705"/>
                  <a:pt x="2631621" y="515622"/>
                  <a:pt x="2643368" y="517665"/>
                </a:cubicBezTo>
                <a:cubicBezTo>
                  <a:pt x="2642132" y="526625"/>
                  <a:pt x="2634301" y="530555"/>
                  <a:pt x="2642132" y="537471"/>
                </a:cubicBezTo>
                <a:cubicBezTo>
                  <a:pt x="2626469" y="539515"/>
                  <a:pt x="2634301" y="550361"/>
                  <a:pt x="2635537" y="557435"/>
                </a:cubicBezTo>
                <a:lnTo>
                  <a:pt x="2638314" y="556133"/>
                </a:lnTo>
                <a:lnTo>
                  <a:pt x="2637923" y="555443"/>
                </a:lnTo>
                <a:cubicBezTo>
                  <a:pt x="2638192" y="553814"/>
                  <a:pt x="2639586" y="552371"/>
                  <a:pt x="2642097" y="552005"/>
                </a:cubicBezTo>
                <a:lnTo>
                  <a:pt x="2644524" y="552365"/>
                </a:lnTo>
                <a:lnTo>
                  <a:pt x="2647283" y="547374"/>
                </a:lnTo>
                <a:cubicBezTo>
                  <a:pt x="2653672" y="549418"/>
                  <a:pt x="2653672" y="555391"/>
                  <a:pt x="2649757" y="555391"/>
                </a:cubicBezTo>
                <a:cubicBezTo>
                  <a:pt x="2649757" y="557435"/>
                  <a:pt x="2653672" y="559321"/>
                  <a:pt x="2657588" y="561364"/>
                </a:cubicBezTo>
                <a:cubicBezTo>
                  <a:pt x="2666862" y="558378"/>
                  <a:pt x="2657588" y="548475"/>
                  <a:pt x="2669334" y="548475"/>
                </a:cubicBezTo>
                <a:cubicBezTo>
                  <a:pt x="2669334" y="553347"/>
                  <a:pt x="2669334" y="565294"/>
                  <a:pt x="2664183" y="573311"/>
                </a:cubicBezTo>
                <a:cubicBezTo>
                  <a:pt x="2662946" y="577240"/>
                  <a:pt x="2647283" y="585100"/>
                  <a:pt x="2659030" y="585100"/>
                </a:cubicBezTo>
                <a:cubicBezTo>
                  <a:pt x="2661503" y="590130"/>
                  <a:pt x="2639452" y="593117"/>
                  <a:pt x="2657588" y="601134"/>
                </a:cubicBezTo>
                <a:cubicBezTo>
                  <a:pt x="2646047" y="618896"/>
                  <a:pt x="2638216" y="634930"/>
                  <a:pt x="2623790" y="655678"/>
                </a:cubicBezTo>
                <a:cubicBezTo>
                  <a:pt x="2627706" y="657722"/>
                  <a:pt x="2627706" y="652692"/>
                  <a:pt x="2630385" y="651749"/>
                </a:cubicBezTo>
                <a:cubicBezTo>
                  <a:pt x="2632858" y="656622"/>
                  <a:pt x="2632858" y="650806"/>
                  <a:pt x="2638216" y="654736"/>
                </a:cubicBezTo>
                <a:cubicBezTo>
                  <a:pt x="2632858" y="655678"/>
                  <a:pt x="2628942" y="657722"/>
                  <a:pt x="2622554" y="657722"/>
                </a:cubicBezTo>
                <a:cubicBezTo>
                  <a:pt x="2623790" y="669669"/>
                  <a:pt x="2597823" y="673598"/>
                  <a:pt x="2606891" y="686488"/>
                </a:cubicBezTo>
                <a:cubicBezTo>
                  <a:pt x="2600296" y="688531"/>
                  <a:pt x="2597823" y="689474"/>
                  <a:pt x="2604212" y="693405"/>
                </a:cubicBezTo>
                <a:cubicBezTo>
                  <a:pt x="2592465" y="695448"/>
                  <a:pt x="2597823" y="706294"/>
                  <a:pt x="2588756" y="709280"/>
                </a:cubicBezTo>
                <a:cubicBezTo>
                  <a:pt x="2604212" y="719341"/>
                  <a:pt x="2606891" y="701421"/>
                  <a:pt x="2617196" y="699378"/>
                </a:cubicBezTo>
                <a:cubicBezTo>
                  <a:pt x="2615340" y="707630"/>
                  <a:pt x="2603864" y="714115"/>
                  <a:pt x="2597112" y="722278"/>
                </a:cubicBezTo>
                <a:lnTo>
                  <a:pt x="2594343" y="727552"/>
                </a:lnTo>
                <a:lnTo>
                  <a:pt x="2596943" y="729629"/>
                </a:lnTo>
                <a:cubicBezTo>
                  <a:pt x="2598017" y="733395"/>
                  <a:pt x="2589662" y="736783"/>
                  <a:pt x="2585757" y="736783"/>
                </a:cubicBezTo>
                <a:lnTo>
                  <a:pt x="2586974" y="733777"/>
                </a:lnTo>
                <a:lnTo>
                  <a:pt x="2574329" y="739874"/>
                </a:lnTo>
                <a:cubicBezTo>
                  <a:pt x="2568147" y="743627"/>
                  <a:pt x="2562582" y="747635"/>
                  <a:pt x="2559903" y="750150"/>
                </a:cubicBezTo>
                <a:cubicBezTo>
                  <a:pt x="2565262" y="754080"/>
                  <a:pt x="2570413" y="754080"/>
                  <a:pt x="2575566" y="750150"/>
                </a:cubicBezTo>
                <a:cubicBezTo>
                  <a:pt x="2578245" y="752980"/>
                  <a:pt x="2570413" y="754080"/>
                  <a:pt x="2570413" y="755966"/>
                </a:cubicBezTo>
                <a:lnTo>
                  <a:pt x="2566783" y="755046"/>
                </a:lnTo>
                <a:lnTo>
                  <a:pt x="2560221" y="761846"/>
                </a:lnTo>
                <a:cubicBezTo>
                  <a:pt x="2558787" y="764221"/>
                  <a:pt x="2557199" y="766477"/>
                  <a:pt x="2552692" y="767980"/>
                </a:cubicBezTo>
                <a:lnTo>
                  <a:pt x="2549861" y="763301"/>
                </a:lnTo>
                <a:lnTo>
                  <a:pt x="2545632" y="765594"/>
                </a:lnTo>
                <a:cubicBezTo>
                  <a:pt x="2540120" y="767952"/>
                  <a:pt x="2533937" y="770428"/>
                  <a:pt x="2531257" y="776872"/>
                </a:cubicBezTo>
                <a:cubicBezTo>
                  <a:pt x="2531257" y="776872"/>
                  <a:pt x="2531257" y="776872"/>
                  <a:pt x="2528784" y="773886"/>
                </a:cubicBezTo>
                <a:cubicBezTo>
                  <a:pt x="2513122" y="782846"/>
                  <a:pt x="2497460" y="788819"/>
                  <a:pt x="2481797" y="794792"/>
                </a:cubicBezTo>
                <a:cubicBezTo>
                  <a:pt x="2467577" y="801709"/>
                  <a:pt x="2451914" y="806739"/>
                  <a:pt x="2436252" y="812555"/>
                </a:cubicBezTo>
                <a:cubicBezTo>
                  <a:pt x="2416674" y="821515"/>
                  <a:pt x="2390707" y="836448"/>
                  <a:pt x="2363298" y="838491"/>
                </a:cubicBezTo>
                <a:cubicBezTo>
                  <a:pt x="2360825" y="843365"/>
                  <a:pt x="2369892" y="845407"/>
                  <a:pt x="2372366" y="844464"/>
                </a:cubicBezTo>
                <a:cubicBezTo>
                  <a:pt x="2368450" y="847451"/>
                  <a:pt x="2356909" y="852324"/>
                  <a:pt x="2350315" y="853424"/>
                </a:cubicBezTo>
                <a:cubicBezTo>
                  <a:pt x="2346399" y="847451"/>
                  <a:pt x="2354230" y="853424"/>
                  <a:pt x="2352993" y="849338"/>
                </a:cubicBezTo>
                <a:cubicBezTo>
                  <a:pt x="2351551" y="845407"/>
                  <a:pt x="2347635" y="850438"/>
                  <a:pt x="2345162" y="850438"/>
                </a:cubicBezTo>
                <a:cubicBezTo>
                  <a:pt x="2342483" y="851381"/>
                  <a:pt x="2346399" y="852324"/>
                  <a:pt x="2346399" y="854367"/>
                </a:cubicBezTo>
                <a:cubicBezTo>
                  <a:pt x="2315074" y="864271"/>
                  <a:pt x="2290343" y="867257"/>
                  <a:pt x="2260461" y="877160"/>
                </a:cubicBezTo>
                <a:cubicBezTo>
                  <a:pt x="2269529" y="888163"/>
                  <a:pt x="2290343" y="865371"/>
                  <a:pt x="2296938" y="878260"/>
                </a:cubicBezTo>
                <a:cubicBezTo>
                  <a:pt x="2286428" y="874173"/>
                  <a:pt x="2283954" y="884076"/>
                  <a:pt x="2276123" y="883133"/>
                </a:cubicBezTo>
                <a:cubicBezTo>
                  <a:pt x="2281276" y="891150"/>
                  <a:pt x="2290343" y="881247"/>
                  <a:pt x="2291786" y="879204"/>
                </a:cubicBezTo>
                <a:cubicBezTo>
                  <a:pt x="2291786" y="879204"/>
                  <a:pt x="2291786" y="879204"/>
                  <a:pt x="2294259" y="884076"/>
                </a:cubicBezTo>
                <a:cubicBezTo>
                  <a:pt x="2294259" y="879204"/>
                  <a:pt x="2296938" y="880146"/>
                  <a:pt x="2302090" y="880146"/>
                </a:cubicBezTo>
                <a:cubicBezTo>
                  <a:pt x="2299617" y="877160"/>
                  <a:pt x="2300854" y="877160"/>
                  <a:pt x="2300854" y="870244"/>
                </a:cubicBezTo>
                <a:cubicBezTo>
                  <a:pt x="2307448" y="873230"/>
                  <a:pt x="2312601" y="866314"/>
                  <a:pt x="2315074" y="873230"/>
                </a:cubicBezTo>
                <a:cubicBezTo>
                  <a:pt x="2322904" y="874173"/>
                  <a:pt x="2317753" y="867257"/>
                  <a:pt x="2324348" y="867257"/>
                </a:cubicBezTo>
                <a:cubicBezTo>
                  <a:pt x="2328263" y="871187"/>
                  <a:pt x="2322904" y="871187"/>
                  <a:pt x="2324348" y="874173"/>
                </a:cubicBezTo>
                <a:cubicBezTo>
                  <a:pt x="2329500" y="874173"/>
                  <a:pt x="2326821" y="871187"/>
                  <a:pt x="2330736" y="870244"/>
                </a:cubicBezTo>
                <a:cubicBezTo>
                  <a:pt x="2329500" y="868200"/>
                  <a:pt x="2325584" y="870244"/>
                  <a:pt x="2325584" y="865371"/>
                </a:cubicBezTo>
                <a:cubicBezTo>
                  <a:pt x="2331972" y="864271"/>
                  <a:pt x="2342483" y="865371"/>
                  <a:pt x="2347635" y="859398"/>
                </a:cubicBezTo>
                <a:cubicBezTo>
                  <a:pt x="2347635" y="863327"/>
                  <a:pt x="2349078" y="861284"/>
                  <a:pt x="2351551" y="866314"/>
                </a:cubicBezTo>
                <a:cubicBezTo>
                  <a:pt x="2354230" y="866314"/>
                  <a:pt x="2354230" y="865057"/>
                  <a:pt x="2354230" y="863681"/>
                </a:cubicBezTo>
                <a:lnTo>
                  <a:pt x="2354577" y="863249"/>
                </a:lnTo>
                <a:lnTo>
                  <a:pt x="2384344" y="856509"/>
                </a:lnTo>
                <a:cubicBezTo>
                  <a:pt x="2393644" y="853660"/>
                  <a:pt x="2402454" y="850438"/>
                  <a:pt x="2411522" y="847451"/>
                </a:cubicBezTo>
                <a:cubicBezTo>
                  <a:pt x="2429657" y="841478"/>
                  <a:pt x="2445319" y="833461"/>
                  <a:pt x="2463661" y="827488"/>
                </a:cubicBezTo>
                <a:cubicBezTo>
                  <a:pt x="2466134" y="825602"/>
                  <a:pt x="2460982" y="826545"/>
                  <a:pt x="2462218" y="822615"/>
                </a:cubicBezTo>
                <a:cubicBezTo>
                  <a:pt x="2468814" y="819629"/>
                  <a:pt x="2472729" y="812555"/>
                  <a:pt x="2480561" y="819629"/>
                </a:cubicBezTo>
                <a:cubicBezTo>
                  <a:pt x="2485712" y="814598"/>
                  <a:pt x="2494986" y="815542"/>
                  <a:pt x="2493544" y="806739"/>
                </a:cubicBezTo>
                <a:cubicBezTo>
                  <a:pt x="2500139" y="810669"/>
                  <a:pt x="2500139" y="801709"/>
                  <a:pt x="2505291" y="806739"/>
                </a:cubicBezTo>
                <a:cubicBezTo>
                  <a:pt x="2507970" y="804696"/>
                  <a:pt x="2505291" y="801709"/>
                  <a:pt x="2504054" y="798722"/>
                </a:cubicBezTo>
                <a:cubicBezTo>
                  <a:pt x="2509206" y="798722"/>
                  <a:pt x="2530021" y="796678"/>
                  <a:pt x="2524869" y="789763"/>
                </a:cubicBezTo>
                <a:cubicBezTo>
                  <a:pt x="2537852" y="792749"/>
                  <a:pt x="2540531" y="781903"/>
                  <a:pt x="2548362" y="785832"/>
                </a:cubicBezTo>
                <a:cubicBezTo>
                  <a:pt x="2549598" y="782846"/>
                  <a:pt x="2553515" y="780803"/>
                  <a:pt x="2546920" y="775929"/>
                </a:cubicBezTo>
                <a:cubicBezTo>
                  <a:pt x="2548362" y="775929"/>
                  <a:pt x="2549598" y="777816"/>
                  <a:pt x="2552278" y="779859"/>
                </a:cubicBezTo>
                <a:cubicBezTo>
                  <a:pt x="2559903" y="769956"/>
                  <a:pt x="2573093" y="761940"/>
                  <a:pt x="2586076" y="755023"/>
                </a:cubicBezTo>
                <a:cubicBezTo>
                  <a:pt x="2593907" y="751093"/>
                  <a:pt x="2600296" y="747163"/>
                  <a:pt x="2606891" y="743076"/>
                </a:cubicBezTo>
                <a:lnTo>
                  <a:pt x="2607985" y="741927"/>
                </a:lnTo>
                <a:lnTo>
                  <a:pt x="2607006" y="741022"/>
                </a:lnTo>
                <a:cubicBezTo>
                  <a:pt x="2604608" y="739683"/>
                  <a:pt x="2603331" y="738229"/>
                  <a:pt x="2607823" y="734862"/>
                </a:cubicBezTo>
                <a:lnTo>
                  <a:pt x="2611759" y="737965"/>
                </a:lnTo>
                <a:lnTo>
                  <a:pt x="2621111" y="728143"/>
                </a:lnTo>
                <a:cubicBezTo>
                  <a:pt x="2626469" y="735217"/>
                  <a:pt x="2626469" y="724214"/>
                  <a:pt x="2631621" y="728143"/>
                </a:cubicBezTo>
                <a:cubicBezTo>
                  <a:pt x="2661503" y="692461"/>
                  <a:pt x="2696745" y="662595"/>
                  <a:pt x="2724154" y="628799"/>
                </a:cubicBezTo>
                <a:cubicBezTo>
                  <a:pt x="2710964" y="651749"/>
                  <a:pt x="2692829" y="675642"/>
                  <a:pt x="2670572" y="697334"/>
                </a:cubicBezTo>
                <a:cubicBezTo>
                  <a:pt x="2660164" y="707787"/>
                  <a:pt x="2648469" y="717729"/>
                  <a:pt x="2636439" y="726689"/>
                </a:cubicBezTo>
                <a:lnTo>
                  <a:pt x="2613505" y="741576"/>
                </a:lnTo>
                <a:lnTo>
                  <a:pt x="2612929" y="746494"/>
                </a:lnTo>
                <a:lnTo>
                  <a:pt x="2610040" y="743826"/>
                </a:lnTo>
                <a:lnTo>
                  <a:pt x="2604698" y="747293"/>
                </a:lnTo>
                <a:lnTo>
                  <a:pt x="2605189" y="751339"/>
                </a:lnTo>
                <a:cubicBezTo>
                  <a:pt x="2605817" y="753291"/>
                  <a:pt x="2606566" y="754844"/>
                  <a:pt x="2606734" y="755715"/>
                </a:cubicBezTo>
                <a:lnTo>
                  <a:pt x="2605025" y="755974"/>
                </a:lnTo>
                <a:lnTo>
                  <a:pt x="2606891" y="758953"/>
                </a:lnTo>
                <a:cubicBezTo>
                  <a:pt x="2600296" y="757067"/>
                  <a:pt x="2595144" y="758953"/>
                  <a:pt x="2593907" y="761940"/>
                </a:cubicBezTo>
                <a:cubicBezTo>
                  <a:pt x="2588756" y="758953"/>
                  <a:pt x="2583397" y="763040"/>
                  <a:pt x="2579482" y="767913"/>
                </a:cubicBezTo>
                <a:cubicBezTo>
                  <a:pt x="2580718" y="769956"/>
                  <a:pt x="2583397" y="771842"/>
                  <a:pt x="2584634" y="770899"/>
                </a:cubicBezTo>
                <a:cubicBezTo>
                  <a:pt x="2579482" y="770899"/>
                  <a:pt x="2574329" y="772943"/>
                  <a:pt x="2571650" y="776872"/>
                </a:cubicBezTo>
                <a:cubicBezTo>
                  <a:pt x="2567735" y="779859"/>
                  <a:pt x="2565262" y="783789"/>
                  <a:pt x="2563819" y="788819"/>
                </a:cubicBezTo>
                <a:cubicBezTo>
                  <a:pt x="2563819" y="788819"/>
                  <a:pt x="2563819" y="788819"/>
                  <a:pt x="2559903" y="784889"/>
                </a:cubicBezTo>
                <a:cubicBezTo>
                  <a:pt x="2553515" y="793849"/>
                  <a:pt x="2540531" y="802651"/>
                  <a:pt x="2524869" y="802651"/>
                </a:cubicBezTo>
                <a:cubicBezTo>
                  <a:pt x="2531257" y="808625"/>
                  <a:pt x="2531257" y="804696"/>
                  <a:pt x="2536616" y="810669"/>
                </a:cubicBezTo>
                <a:cubicBezTo>
                  <a:pt x="2531257" y="809725"/>
                  <a:pt x="2527342" y="806739"/>
                  <a:pt x="2522190" y="805638"/>
                </a:cubicBezTo>
                <a:cubicBezTo>
                  <a:pt x="2511886" y="811611"/>
                  <a:pt x="2501375" y="818528"/>
                  <a:pt x="2491071" y="824501"/>
                </a:cubicBezTo>
                <a:cubicBezTo>
                  <a:pt x="2480561" y="829531"/>
                  <a:pt x="2467577" y="833461"/>
                  <a:pt x="2451914" y="835504"/>
                </a:cubicBezTo>
                <a:cubicBezTo>
                  <a:pt x="2453151" y="838491"/>
                  <a:pt x="2455830" y="837548"/>
                  <a:pt x="2458510" y="836448"/>
                </a:cubicBezTo>
                <a:cubicBezTo>
                  <a:pt x="2444083" y="841478"/>
                  <a:pt x="2429657" y="847451"/>
                  <a:pt x="2414201" y="853424"/>
                </a:cubicBezTo>
                <a:cubicBezTo>
                  <a:pt x="2399775" y="860341"/>
                  <a:pt x="2385555" y="868200"/>
                  <a:pt x="2368450" y="874173"/>
                </a:cubicBezTo>
                <a:cubicBezTo>
                  <a:pt x="2352993" y="880146"/>
                  <a:pt x="2337331" y="888163"/>
                  <a:pt x="2321668" y="893036"/>
                </a:cubicBezTo>
                <a:cubicBezTo>
                  <a:pt x="2304769" y="898067"/>
                  <a:pt x="2287870" y="903096"/>
                  <a:pt x="2272208" y="906083"/>
                </a:cubicBezTo>
                <a:cubicBezTo>
                  <a:pt x="2268292" y="906083"/>
                  <a:pt x="2268292" y="907969"/>
                  <a:pt x="2269529" y="911900"/>
                </a:cubicBezTo>
                <a:cubicBezTo>
                  <a:pt x="2239646" y="907969"/>
                  <a:pt x="2208321" y="922902"/>
                  <a:pt x="2186270" y="932806"/>
                </a:cubicBezTo>
                <a:cubicBezTo>
                  <a:pt x="2186270" y="932806"/>
                  <a:pt x="2186270" y="932806"/>
                  <a:pt x="2186089" y="931941"/>
                </a:cubicBezTo>
                <a:lnTo>
                  <a:pt x="2185016" y="926793"/>
                </a:lnTo>
                <a:lnTo>
                  <a:pt x="2184566" y="927431"/>
                </a:lnTo>
                <a:lnTo>
                  <a:pt x="2183728" y="926401"/>
                </a:lnTo>
                <a:lnTo>
                  <a:pt x="2167671" y="933867"/>
                </a:lnTo>
                <a:cubicBezTo>
                  <a:pt x="2161488" y="936107"/>
                  <a:pt x="2154945" y="937836"/>
                  <a:pt x="2148350" y="938779"/>
                </a:cubicBezTo>
                <a:lnTo>
                  <a:pt x="2141968" y="939584"/>
                </a:lnTo>
                <a:lnTo>
                  <a:pt x="2144076" y="940154"/>
                </a:lnTo>
                <a:cubicBezTo>
                  <a:pt x="2147110" y="940232"/>
                  <a:pt x="2150162" y="939770"/>
                  <a:pt x="2153176" y="939339"/>
                </a:cubicBezTo>
                <a:lnTo>
                  <a:pt x="2155359" y="939181"/>
                </a:lnTo>
                <a:lnTo>
                  <a:pt x="2156204" y="938458"/>
                </a:lnTo>
                <a:lnTo>
                  <a:pt x="2155774" y="939151"/>
                </a:lnTo>
                <a:lnTo>
                  <a:pt x="2162043" y="938700"/>
                </a:lnTo>
                <a:cubicBezTo>
                  <a:pt x="2164922" y="938896"/>
                  <a:pt x="2167703" y="939692"/>
                  <a:pt x="2170331" y="941657"/>
                </a:cubicBezTo>
                <a:cubicBezTo>
                  <a:pt x="2196295" y="931752"/>
                  <a:pt x="2222465" y="942600"/>
                  <a:pt x="2245751" y="932695"/>
                </a:cubicBezTo>
                <a:cubicBezTo>
                  <a:pt x="2245751" y="932695"/>
                  <a:pt x="2245751" y="932695"/>
                  <a:pt x="2249666" y="937726"/>
                </a:cubicBezTo>
                <a:cubicBezTo>
                  <a:pt x="2259454" y="933718"/>
                  <a:pt x="2269911" y="933718"/>
                  <a:pt x="2279700" y="933462"/>
                </a:cubicBezTo>
                <a:lnTo>
                  <a:pt x="2291932" y="932495"/>
                </a:lnTo>
                <a:lnTo>
                  <a:pt x="2292367" y="931323"/>
                </a:lnTo>
                <a:lnTo>
                  <a:pt x="2298095" y="930642"/>
                </a:lnTo>
                <a:lnTo>
                  <a:pt x="2305715" y="927664"/>
                </a:lnTo>
                <a:cubicBezTo>
                  <a:pt x="2313546" y="935683"/>
                  <a:pt x="2318697" y="922790"/>
                  <a:pt x="2324055" y="931752"/>
                </a:cubicBezTo>
                <a:cubicBezTo>
                  <a:pt x="2324055" y="931752"/>
                  <a:pt x="2324055" y="931752"/>
                  <a:pt x="2326528" y="925777"/>
                </a:cubicBezTo>
                <a:cubicBezTo>
                  <a:pt x="2333123" y="931752"/>
                  <a:pt x="2337037" y="925777"/>
                  <a:pt x="2344868" y="924834"/>
                </a:cubicBezTo>
                <a:cubicBezTo>
                  <a:pt x="2351256" y="924834"/>
                  <a:pt x="2359086" y="924834"/>
                  <a:pt x="2366917" y="923734"/>
                </a:cubicBezTo>
                <a:cubicBezTo>
                  <a:pt x="2373511" y="923734"/>
                  <a:pt x="2379899" y="922790"/>
                  <a:pt x="2379899" y="918859"/>
                </a:cubicBezTo>
                <a:cubicBezTo>
                  <a:pt x="2387730" y="918859"/>
                  <a:pt x="2394324" y="916816"/>
                  <a:pt x="2400918" y="915873"/>
                </a:cubicBezTo>
                <a:cubicBezTo>
                  <a:pt x="2400918" y="915873"/>
                  <a:pt x="2400918" y="915873"/>
                  <a:pt x="2420288" y="910841"/>
                </a:cubicBezTo>
                <a:cubicBezTo>
                  <a:pt x="2426882" y="908954"/>
                  <a:pt x="2432034" y="906910"/>
                  <a:pt x="2438628" y="905967"/>
                </a:cubicBezTo>
                <a:cubicBezTo>
                  <a:pt x="2445016" y="903923"/>
                  <a:pt x="2451610" y="903923"/>
                  <a:pt x="2458203" y="902980"/>
                </a:cubicBezTo>
                <a:cubicBezTo>
                  <a:pt x="2458203" y="900936"/>
                  <a:pt x="2456761" y="899993"/>
                  <a:pt x="2456761" y="898892"/>
                </a:cubicBezTo>
                <a:cubicBezTo>
                  <a:pt x="2463355" y="897949"/>
                  <a:pt x="2471186" y="897949"/>
                  <a:pt x="2479017" y="895905"/>
                </a:cubicBezTo>
                <a:cubicBezTo>
                  <a:pt x="2485405" y="894018"/>
                  <a:pt x="2490762" y="891031"/>
                  <a:pt x="2494678" y="886000"/>
                </a:cubicBezTo>
                <a:cubicBezTo>
                  <a:pt x="2494678" y="886000"/>
                  <a:pt x="2494678" y="886000"/>
                  <a:pt x="2503745" y="891031"/>
                </a:cubicBezTo>
                <a:cubicBezTo>
                  <a:pt x="2504981" y="883956"/>
                  <a:pt x="2511574" y="883956"/>
                  <a:pt x="2516726" y="885057"/>
                </a:cubicBezTo>
                <a:cubicBezTo>
                  <a:pt x="2515490" y="883012"/>
                  <a:pt x="2514048" y="882069"/>
                  <a:pt x="2512811" y="881126"/>
                </a:cubicBezTo>
                <a:cubicBezTo>
                  <a:pt x="2514048" y="879082"/>
                  <a:pt x="2524557" y="883956"/>
                  <a:pt x="2524557" y="881126"/>
                </a:cubicBezTo>
                <a:cubicBezTo>
                  <a:pt x="2528473" y="877038"/>
                  <a:pt x="2532388" y="873107"/>
                  <a:pt x="2538776" y="870121"/>
                </a:cubicBezTo>
                <a:cubicBezTo>
                  <a:pt x="2545370" y="868076"/>
                  <a:pt x="2551964" y="866190"/>
                  <a:pt x="2559588" y="864146"/>
                </a:cubicBezTo>
                <a:cubicBezTo>
                  <a:pt x="2557116" y="866190"/>
                  <a:pt x="2555673" y="863202"/>
                  <a:pt x="2553200" y="860215"/>
                </a:cubicBezTo>
                <a:cubicBezTo>
                  <a:pt x="2562267" y="859271"/>
                  <a:pt x="2570098" y="856284"/>
                  <a:pt x="2576486" y="851253"/>
                </a:cubicBezTo>
                <a:cubicBezTo>
                  <a:pt x="2583080" y="847322"/>
                  <a:pt x="2588437" y="842291"/>
                  <a:pt x="2594825" y="837417"/>
                </a:cubicBezTo>
                <a:cubicBezTo>
                  <a:pt x="2598740" y="837417"/>
                  <a:pt x="2599977" y="839305"/>
                  <a:pt x="2603892" y="839305"/>
                </a:cubicBezTo>
                <a:cubicBezTo>
                  <a:pt x="2598740" y="833330"/>
                  <a:pt x="2606571" y="834430"/>
                  <a:pt x="2601420" y="829399"/>
                </a:cubicBezTo>
                <a:cubicBezTo>
                  <a:pt x="2614401" y="831443"/>
                  <a:pt x="2610486" y="824368"/>
                  <a:pt x="2620789" y="824368"/>
                </a:cubicBezTo>
                <a:cubicBezTo>
                  <a:pt x="2616875" y="816506"/>
                  <a:pt x="2633979" y="811475"/>
                  <a:pt x="2639130" y="804558"/>
                </a:cubicBezTo>
                <a:cubicBezTo>
                  <a:pt x="2652111" y="808489"/>
                  <a:pt x="2645724" y="792609"/>
                  <a:pt x="2658706" y="791665"/>
                </a:cubicBezTo>
                <a:cubicBezTo>
                  <a:pt x="2657263" y="788678"/>
                  <a:pt x="2653348" y="789621"/>
                  <a:pt x="2650875" y="787735"/>
                </a:cubicBezTo>
                <a:cubicBezTo>
                  <a:pt x="2653348" y="786634"/>
                  <a:pt x="2663857" y="787735"/>
                  <a:pt x="2657263" y="781760"/>
                </a:cubicBezTo>
                <a:cubicBezTo>
                  <a:pt x="2669009" y="777672"/>
                  <a:pt x="2672924" y="769811"/>
                  <a:pt x="2676839" y="763837"/>
                </a:cubicBezTo>
                <a:cubicBezTo>
                  <a:pt x="2683434" y="761793"/>
                  <a:pt x="2683434" y="768711"/>
                  <a:pt x="2689822" y="766823"/>
                </a:cubicBezTo>
                <a:cubicBezTo>
                  <a:pt x="2687350" y="757862"/>
                  <a:pt x="2685906" y="750944"/>
                  <a:pt x="2692501" y="741982"/>
                </a:cubicBezTo>
                <a:cubicBezTo>
                  <a:pt x="2699095" y="744026"/>
                  <a:pt x="2692501" y="745913"/>
                  <a:pt x="2696416" y="748900"/>
                </a:cubicBezTo>
                <a:cubicBezTo>
                  <a:pt x="2701568" y="747013"/>
                  <a:pt x="2703010" y="750944"/>
                  <a:pt x="2708162" y="750001"/>
                </a:cubicBezTo>
                <a:cubicBezTo>
                  <a:pt x="2704246" y="744026"/>
                  <a:pt x="2703010" y="738052"/>
                  <a:pt x="2710634" y="736951"/>
                </a:cubicBezTo>
                <a:cubicBezTo>
                  <a:pt x="2710634" y="738052"/>
                  <a:pt x="2705483" y="741982"/>
                  <a:pt x="2712077" y="742926"/>
                </a:cubicBezTo>
                <a:cubicBezTo>
                  <a:pt x="2715992" y="738995"/>
                  <a:pt x="2719907" y="733964"/>
                  <a:pt x="2715992" y="727989"/>
                </a:cubicBezTo>
                <a:cubicBezTo>
                  <a:pt x="2719907" y="727046"/>
                  <a:pt x="2721144" y="729090"/>
                  <a:pt x="2726295" y="727046"/>
                </a:cubicBezTo>
                <a:cubicBezTo>
                  <a:pt x="2725059" y="723116"/>
                  <a:pt x="2731653" y="721071"/>
                  <a:pt x="2721144" y="717141"/>
                </a:cubicBezTo>
                <a:cubicBezTo>
                  <a:pt x="2735568" y="713210"/>
                  <a:pt x="2728974" y="705192"/>
                  <a:pt x="2732890" y="699218"/>
                </a:cubicBezTo>
                <a:cubicBezTo>
                  <a:pt x="2730210" y="696230"/>
                  <a:pt x="2723823" y="702205"/>
                  <a:pt x="2721144" y="698274"/>
                </a:cubicBezTo>
                <a:cubicBezTo>
                  <a:pt x="2726295" y="694344"/>
                  <a:pt x="2735568" y="700160"/>
                  <a:pt x="2735568" y="695287"/>
                </a:cubicBezTo>
                <a:cubicBezTo>
                  <a:pt x="2731653" y="695287"/>
                  <a:pt x="2721144" y="690255"/>
                  <a:pt x="2730210" y="688369"/>
                </a:cubicBezTo>
                <a:cubicBezTo>
                  <a:pt x="2732890" y="690255"/>
                  <a:pt x="2734126" y="692300"/>
                  <a:pt x="2736805" y="692300"/>
                </a:cubicBezTo>
                <a:cubicBezTo>
                  <a:pt x="2741956" y="687347"/>
                  <a:pt x="2745511" y="682394"/>
                  <a:pt x="2747957" y="677186"/>
                </a:cubicBezTo>
                <a:lnTo>
                  <a:pt x="2751154" y="665383"/>
                </a:lnTo>
                <a:lnTo>
                  <a:pt x="2753702" y="665414"/>
                </a:lnTo>
                <a:cubicBezTo>
                  <a:pt x="2758854" y="659439"/>
                  <a:pt x="2770599" y="646547"/>
                  <a:pt x="2760296" y="644661"/>
                </a:cubicBezTo>
                <a:cubicBezTo>
                  <a:pt x="2764005" y="643560"/>
                  <a:pt x="2762769" y="641673"/>
                  <a:pt x="2764005" y="640573"/>
                </a:cubicBezTo>
                <a:cubicBezTo>
                  <a:pt x="2765447" y="641673"/>
                  <a:pt x="2767920" y="643560"/>
                  <a:pt x="2770599" y="641673"/>
                </a:cubicBezTo>
                <a:cubicBezTo>
                  <a:pt x="2764005" y="638686"/>
                  <a:pt x="2774515" y="637586"/>
                  <a:pt x="2766684" y="634756"/>
                </a:cubicBezTo>
                <a:cubicBezTo>
                  <a:pt x="2765447" y="636642"/>
                  <a:pt x="2764005" y="637586"/>
                  <a:pt x="2762769" y="639629"/>
                </a:cubicBezTo>
                <a:cubicBezTo>
                  <a:pt x="2754938" y="633655"/>
                  <a:pt x="2777194" y="635699"/>
                  <a:pt x="2770599" y="628624"/>
                </a:cubicBezTo>
                <a:cubicBezTo>
                  <a:pt x="2778430" y="627680"/>
                  <a:pt x="2771836" y="623750"/>
                  <a:pt x="2777194" y="621706"/>
                </a:cubicBezTo>
                <a:cubicBezTo>
                  <a:pt x="2782345" y="623750"/>
                  <a:pt x="2777194" y="627680"/>
                  <a:pt x="2782345" y="625637"/>
                </a:cubicBezTo>
                <a:cubicBezTo>
                  <a:pt x="2787497" y="618718"/>
                  <a:pt x="2790176" y="611801"/>
                  <a:pt x="2786261" y="603940"/>
                </a:cubicBezTo>
                <a:cubicBezTo>
                  <a:pt x="2788939" y="604883"/>
                  <a:pt x="2791412" y="604883"/>
                  <a:pt x="2794091" y="604883"/>
                </a:cubicBezTo>
                <a:cubicBezTo>
                  <a:pt x="2791412" y="602839"/>
                  <a:pt x="2796770" y="601896"/>
                  <a:pt x="2794091" y="598908"/>
                </a:cubicBezTo>
                <a:cubicBezTo>
                  <a:pt x="2791412" y="597965"/>
                  <a:pt x="2788939" y="598908"/>
                  <a:pt x="2786261" y="597965"/>
                </a:cubicBezTo>
                <a:cubicBezTo>
                  <a:pt x="2791412" y="594977"/>
                  <a:pt x="2792854" y="591991"/>
                  <a:pt x="2794091" y="589003"/>
                </a:cubicBezTo>
                <a:cubicBezTo>
                  <a:pt x="2792751" y="589475"/>
                  <a:pt x="2790124" y="589475"/>
                  <a:pt x="2788321" y="589101"/>
                </a:cubicBezTo>
                <a:lnTo>
                  <a:pt x="2787700" y="588819"/>
                </a:lnTo>
                <a:lnTo>
                  <a:pt x="2784700" y="593277"/>
                </a:lnTo>
                <a:cubicBezTo>
                  <a:pt x="2780820" y="590741"/>
                  <a:pt x="2782097" y="586977"/>
                  <a:pt x="2784675" y="582977"/>
                </a:cubicBezTo>
                <a:lnTo>
                  <a:pt x="2785853" y="581202"/>
                </a:lnTo>
                <a:lnTo>
                  <a:pt x="2783886" y="580185"/>
                </a:lnTo>
                <a:cubicBezTo>
                  <a:pt x="2783704" y="578722"/>
                  <a:pt x="2785014" y="577028"/>
                  <a:pt x="2787635" y="576103"/>
                </a:cubicBezTo>
                <a:lnTo>
                  <a:pt x="2788299" y="577517"/>
                </a:lnTo>
                <a:lnTo>
                  <a:pt x="2792460" y="571250"/>
                </a:lnTo>
                <a:cubicBezTo>
                  <a:pt x="2793685" y="574737"/>
                  <a:pt x="2793327" y="578738"/>
                  <a:pt x="2791873" y="582620"/>
                </a:cubicBezTo>
                <a:lnTo>
                  <a:pt x="2788929" y="586993"/>
                </a:lnTo>
                <a:lnTo>
                  <a:pt x="2793689" y="587107"/>
                </a:lnTo>
                <a:cubicBezTo>
                  <a:pt x="2796924" y="585485"/>
                  <a:pt x="2793061" y="579530"/>
                  <a:pt x="2798006" y="577998"/>
                </a:cubicBezTo>
                <a:cubicBezTo>
                  <a:pt x="2801921" y="577054"/>
                  <a:pt x="2804394" y="581928"/>
                  <a:pt x="2808309" y="580985"/>
                </a:cubicBezTo>
                <a:cubicBezTo>
                  <a:pt x="2800479" y="576111"/>
                  <a:pt x="2808309" y="573124"/>
                  <a:pt x="2807073" y="569035"/>
                </a:cubicBezTo>
                <a:cubicBezTo>
                  <a:pt x="2798006" y="572023"/>
                  <a:pt x="2800479" y="564161"/>
                  <a:pt x="2801921" y="562118"/>
                </a:cubicBezTo>
                <a:cubicBezTo>
                  <a:pt x="2804394" y="565105"/>
                  <a:pt x="2808309" y="568092"/>
                  <a:pt x="2816140" y="565105"/>
                </a:cubicBezTo>
                <a:cubicBezTo>
                  <a:pt x="2814903" y="563218"/>
                  <a:pt x="2807073" y="561175"/>
                  <a:pt x="2810988" y="559130"/>
                </a:cubicBezTo>
                <a:cubicBezTo>
                  <a:pt x="2825413" y="563218"/>
                  <a:pt x="2825413" y="546238"/>
                  <a:pt x="2826649" y="540264"/>
                </a:cubicBezTo>
                <a:cubicBezTo>
                  <a:pt x="2825413" y="541207"/>
                  <a:pt x="2822734" y="542308"/>
                  <a:pt x="2820055" y="540264"/>
                </a:cubicBezTo>
                <a:cubicBezTo>
                  <a:pt x="2829328" y="536333"/>
                  <a:pt x="2821498" y="538219"/>
                  <a:pt x="2821498" y="534289"/>
                </a:cubicBezTo>
                <a:cubicBezTo>
                  <a:pt x="2821498" y="534289"/>
                  <a:pt x="2821498" y="534289"/>
                  <a:pt x="2830565" y="530358"/>
                </a:cubicBezTo>
                <a:cubicBezTo>
                  <a:pt x="2834480" y="534289"/>
                  <a:pt x="2838396" y="531302"/>
                  <a:pt x="2843547" y="532402"/>
                </a:cubicBezTo>
                <a:cubicBezTo>
                  <a:pt x="2838396" y="538219"/>
                  <a:pt x="2835716" y="539320"/>
                  <a:pt x="2840868" y="545295"/>
                </a:cubicBezTo>
                <a:cubicBezTo>
                  <a:pt x="2827885" y="549225"/>
                  <a:pt x="2836952" y="549225"/>
                  <a:pt x="2825413" y="555200"/>
                </a:cubicBezTo>
                <a:cubicBezTo>
                  <a:pt x="2831801" y="554257"/>
                  <a:pt x="2834480" y="559130"/>
                  <a:pt x="2831801" y="562118"/>
                </a:cubicBezTo>
                <a:cubicBezTo>
                  <a:pt x="2829328" y="561175"/>
                  <a:pt x="2827885" y="558187"/>
                  <a:pt x="2825413" y="559130"/>
                </a:cubicBezTo>
                <a:cubicBezTo>
                  <a:pt x="2827885" y="561175"/>
                  <a:pt x="2816140" y="561175"/>
                  <a:pt x="2820055" y="564161"/>
                </a:cubicBezTo>
                <a:cubicBezTo>
                  <a:pt x="2826649" y="566049"/>
                  <a:pt x="2831801" y="564161"/>
                  <a:pt x="2836952" y="568092"/>
                </a:cubicBezTo>
                <a:cubicBezTo>
                  <a:pt x="2830565" y="571080"/>
                  <a:pt x="2826649" y="563218"/>
                  <a:pt x="2820055" y="568092"/>
                </a:cubicBezTo>
                <a:cubicBezTo>
                  <a:pt x="2829328" y="573124"/>
                  <a:pt x="2807073" y="577054"/>
                  <a:pt x="2818818" y="581928"/>
                </a:cubicBezTo>
                <a:cubicBezTo>
                  <a:pt x="2823970" y="580985"/>
                  <a:pt x="2830565" y="577054"/>
                  <a:pt x="2834480" y="580041"/>
                </a:cubicBezTo>
                <a:cubicBezTo>
                  <a:pt x="2825413" y="583028"/>
                  <a:pt x="2826649" y="583972"/>
                  <a:pt x="2817582" y="583028"/>
                </a:cubicBezTo>
                <a:cubicBezTo>
                  <a:pt x="2827885" y="591991"/>
                  <a:pt x="2817582" y="600952"/>
                  <a:pt x="2813667" y="609757"/>
                </a:cubicBezTo>
                <a:cubicBezTo>
                  <a:pt x="2814903" y="608813"/>
                  <a:pt x="2816140" y="608813"/>
                  <a:pt x="2817582" y="610857"/>
                </a:cubicBezTo>
                <a:cubicBezTo>
                  <a:pt x="2821498" y="608813"/>
                  <a:pt x="2816140" y="606927"/>
                  <a:pt x="2822734" y="605826"/>
                </a:cubicBezTo>
                <a:cubicBezTo>
                  <a:pt x="2827885" y="610857"/>
                  <a:pt x="2812225" y="610857"/>
                  <a:pt x="2812225" y="614788"/>
                </a:cubicBezTo>
                <a:cubicBezTo>
                  <a:pt x="2817582" y="614788"/>
                  <a:pt x="2821498" y="615731"/>
                  <a:pt x="2818818" y="619819"/>
                </a:cubicBezTo>
                <a:cubicBezTo>
                  <a:pt x="2813667" y="613844"/>
                  <a:pt x="2813667" y="620762"/>
                  <a:pt x="2804394" y="621706"/>
                </a:cubicBezTo>
                <a:cubicBezTo>
                  <a:pt x="2809752" y="628624"/>
                  <a:pt x="2794091" y="645604"/>
                  <a:pt x="2808309" y="650635"/>
                </a:cubicBezTo>
                <a:cubicBezTo>
                  <a:pt x="2803158" y="653465"/>
                  <a:pt x="2801921" y="650635"/>
                  <a:pt x="2798006" y="650635"/>
                </a:cubicBezTo>
                <a:cubicBezTo>
                  <a:pt x="2796770" y="656453"/>
                  <a:pt x="2788939" y="662427"/>
                  <a:pt x="2792854" y="668402"/>
                </a:cubicBezTo>
                <a:cubicBezTo>
                  <a:pt x="2790176" y="666515"/>
                  <a:pt x="2787497" y="664471"/>
                  <a:pt x="2785025" y="665414"/>
                </a:cubicBezTo>
                <a:cubicBezTo>
                  <a:pt x="2785025" y="668402"/>
                  <a:pt x="2782345" y="670445"/>
                  <a:pt x="2787497" y="673433"/>
                </a:cubicBezTo>
                <a:cubicBezTo>
                  <a:pt x="2791412" y="672489"/>
                  <a:pt x="2794091" y="670445"/>
                  <a:pt x="2796770" y="671389"/>
                </a:cubicBezTo>
                <a:cubicBezTo>
                  <a:pt x="2792854" y="673433"/>
                  <a:pt x="2798006" y="676420"/>
                  <a:pt x="2791412" y="678464"/>
                </a:cubicBezTo>
                <a:cubicBezTo>
                  <a:pt x="2787497" y="674376"/>
                  <a:pt x="2783581" y="673433"/>
                  <a:pt x="2778430" y="676420"/>
                </a:cubicBezTo>
                <a:cubicBezTo>
                  <a:pt x="2787497" y="684281"/>
                  <a:pt x="2760296" y="689312"/>
                  <a:pt x="2775752" y="696230"/>
                </a:cubicBezTo>
                <a:cubicBezTo>
                  <a:pt x="2774515" y="698274"/>
                  <a:pt x="2773278" y="699218"/>
                  <a:pt x="2769363" y="698274"/>
                </a:cubicBezTo>
                <a:cubicBezTo>
                  <a:pt x="2775752" y="701261"/>
                  <a:pt x="2766684" y="704248"/>
                  <a:pt x="2773278" y="704248"/>
                </a:cubicBezTo>
                <a:cubicBezTo>
                  <a:pt x="2774515" y="703148"/>
                  <a:pt x="2774515" y="701261"/>
                  <a:pt x="2778430" y="702205"/>
                </a:cubicBezTo>
                <a:cubicBezTo>
                  <a:pt x="2775752" y="707236"/>
                  <a:pt x="2766684" y="711166"/>
                  <a:pt x="2762769" y="715097"/>
                </a:cubicBezTo>
                <a:cubicBezTo>
                  <a:pt x="2765447" y="714154"/>
                  <a:pt x="2766684" y="716197"/>
                  <a:pt x="2767920" y="716197"/>
                </a:cubicBezTo>
                <a:cubicBezTo>
                  <a:pt x="2771836" y="715097"/>
                  <a:pt x="2771836" y="714154"/>
                  <a:pt x="2774515" y="713210"/>
                </a:cubicBezTo>
                <a:cubicBezTo>
                  <a:pt x="2778430" y="725002"/>
                  <a:pt x="2753702" y="730977"/>
                  <a:pt x="2761532" y="744970"/>
                </a:cubicBezTo>
                <a:cubicBezTo>
                  <a:pt x="2753702" y="747013"/>
                  <a:pt x="2761532" y="741982"/>
                  <a:pt x="2756381" y="742926"/>
                </a:cubicBezTo>
                <a:cubicBezTo>
                  <a:pt x="2747108" y="747957"/>
                  <a:pt x="2747108" y="754874"/>
                  <a:pt x="2740719" y="759906"/>
                </a:cubicBezTo>
                <a:cubicBezTo>
                  <a:pt x="2749786" y="769811"/>
                  <a:pt x="2717228" y="772798"/>
                  <a:pt x="2731653" y="780659"/>
                </a:cubicBezTo>
                <a:cubicBezTo>
                  <a:pt x="2719907" y="778773"/>
                  <a:pt x="2730210" y="788678"/>
                  <a:pt x="2715992" y="788678"/>
                </a:cubicBezTo>
                <a:cubicBezTo>
                  <a:pt x="2722380" y="794653"/>
                  <a:pt x="2714550" y="795596"/>
                  <a:pt x="2713313" y="798583"/>
                </a:cubicBezTo>
                <a:cubicBezTo>
                  <a:pt x="2703010" y="795596"/>
                  <a:pt x="2697653" y="805501"/>
                  <a:pt x="2705483" y="812419"/>
                </a:cubicBezTo>
                <a:cubicBezTo>
                  <a:pt x="2700331" y="814463"/>
                  <a:pt x="2700331" y="811475"/>
                  <a:pt x="2696416" y="810532"/>
                </a:cubicBezTo>
                <a:cubicBezTo>
                  <a:pt x="2699095" y="814463"/>
                  <a:pt x="2687350" y="812419"/>
                  <a:pt x="2691264" y="815406"/>
                </a:cubicBezTo>
                <a:cubicBezTo>
                  <a:pt x="2695179" y="816506"/>
                  <a:pt x="2700331" y="821380"/>
                  <a:pt x="2695179" y="821380"/>
                </a:cubicBezTo>
                <a:cubicBezTo>
                  <a:pt x="2692501" y="820437"/>
                  <a:pt x="2692501" y="815406"/>
                  <a:pt x="2688586" y="815406"/>
                </a:cubicBezTo>
                <a:cubicBezTo>
                  <a:pt x="2681992" y="816506"/>
                  <a:pt x="2691264" y="824368"/>
                  <a:pt x="2688586" y="826412"/>
                </a:cubicBezTo>
                <a:cubicBezTo>
                  <a:pt x="2683434" y="824368"/>
                  <a:pt x="2683434" y="824368"/>
                  <a:pt x="2678075" y="825468"/>
                </a:cubicBezTo>
                <a:cubicBezTo>
                  <a:pt x="2683434" y="831443"/>
                  <a:pt x="2676839" y="833330"/>
                  <a:pt x="2681992" y="839305"/>
                </a:cubicBezTo>
                <a:cubicBezTo>
                  <a:pt x="2683434" y="838361"/>
                  <a:pt x="2685906" y="838361"/>
                  <a:pt x="2688586" y="840247"/>
                </a:cubicBezTo>
                <a:cubicBezTo>
                  <a:pt x="2687350" y="840247"/>
                  <a:pt x="2684670" y="840247"/>
                  <a:pt x="2684670" y="841348"/>
                </a:cubicBezTo>
                <a:cubicBezTo>
                  <a:pt x="2687350" y="843235"/>
                  <a:pt x="2692501" y="842291"/>
                  <a:pt x="2693737" y="844335"/>
                </a:cubicBezTo>
                <a:cubicBezTo>
                  <a:pt x="2681992" y="846222"/>
                  <a:pt x="2693737" y="851253"/>
                  <a:pt x="2679519" y="852196"/>
                </a:cubicBezTo>
                <a:cubicBezTo>
                  <a:pt x="2676839" y="849209"/>
                  <a:pt x="2687350" y="846222"/>
                  <a:pt x="2675603" y="846222"/>
                </a:cubicBezTo>
                <a:cubicBezTo>
                  <a:pt x="2671688" y="842291"/>
                  <a:pt x="2683434" y="841348"/>
                  <a:pt x="2676839" y="839305"/>
                </a:cubicBezTo>
                <a:cubicBezTo>
                  <a:pt x="2672924" y="840247"/>
                  <a:pt x="2675603" y="844335"/>
                  <a:pt x="2665094" y="842291"/>
                </a:cubicBezTo>
                <a:cubicBezTo>
                  <a:pt x="2670246" y="848266"/>
                  <a:pt x="2661179" y="846222"/>
                  <a:pt x="2665094" y="850310"/>
                </a:cubicBezTo>
                <a:cubicBezTo>
                  <a:pt x="2670246" y="851253"/>
                  <a:pt x="2667772" y="848266"/>
                  <a:pt x="2671688" y="848266"/>
                </a:cubicBezTo>
                <a:cubicBezTo>
                  <a:pt x="2671688" y="851253"/>
                  <a:pt x="2676839" y="851253"/>
                  <a:pt x="2679519" y="852196"/>
                </a:cubicBezTo>
                <a:cubicBezTo>
                  <a:pt x="2681992" y="856284"/>
                  <a:pt x="2679519" y="858171"/>
                  <a:pt x="2674161" y="858171"/>
                </a:cubicBezTo>
                <a:cubicBezTo>
                  <a:pt x="2672924" y="856284"/>
                  <a:pt x="2672924" y="853297"/>
                  <a:pt x="2670246" y="853297"/>
                </a:cubicBezTo>
                <a:cubicBezTo>
                  <a:pt x="2670246" y="854241"/>
                  <a:pt x="2667772" y="854241"/>
                  <a:pt x="2667772" y="855184"/>
                </a:cubicBezTo>
                <a:cubicBezTo>
                  <a:pt x="2667772" y="857228"/>
                  <a:pt x="2669370" y="857975"/>
                  <a:pt x="2670967" y="858584"/>
                </a:cubicBezTo>
                <a:lnTo>
                  <a:pt x="2673175" y="860364"/>
                </a:lnTo>
                <a:lnTo>
                  <a:pt x="2692829" y="852324"/>
                </a:lnTo>
                <a:cubicBezTo>
                  <a:pt x="2694169" y="849888"/>
                  <a:pt x="2696435" y="848158"/>
                  <a:pt x="2699192" y="847667"/>
                </a:cubicBezTo>
                <a:lnTo>
                  <a:pt x="2708129" y="850330"/>
                </a:lnTo>
                <a:lnTo>
                  <a:pt x="2708909" y="849641"/>
                </a:lnTo>
                <a:cubicBezTo>
                  <a:pt x="2711974" y="848030"/>
                  <a:pt x="2716507" y="846772"/>
                  <a:pt x="2718465" y="846222"/>
                </a:cubicBezTo>
                <a:cubicBezTo>
                  <a:pt x="2726295" y="842291"/>
                  <a:pt x="2721144" y="831443"/>
                  <a:pt x="2730210" y="833330"/>
                </a:cubicBezTo>
                <a:cubicBezTo>
                  <a:pt x="2728974" y="835374"/>
                  <a:pt x="2730210" y="838361"/>
                  <a:pt x="2726295" y="839305"/>
                </a:cubicBezTo>
                <a:cubicBezTo>
                  <a:pt x="2740977" y="840837"/>
                  <a:pt x="2735143" y="829458"/>
                  <a:pt x="2740088" y="823673"/>
                </a:cubicBezTo>
                <a:lnTo>
                  <a:pt x="2749475" y="820541"/>
                </a:lnTo>
                <a:lnTo>
                  <a:pt x="2749844" y="819899"/>
                </a:lnTo>
                <a:lnTo>
                  <a:pt x="2750686" y="812006"/>
                </a:lnTo>
                <a:cubicBezTo>
                  <a:pt x="2756162" y="804076"/>
                  <a:pt x="2771579" y="797561"/>
                  <a:pt x="2762769" y="791665"/>
                </a:cubicBezTo>
                <a:cubicBezTo>
                  <a:pt x="2767920" y="791665"/>
                  <a:pt x="2765447" y="788678"/>
                  <a:pt x="2770599" y="788678"/>
                </a:cubicBezTo>
                <a:cubicBezTo>
                  <a:pt x="2765447" y="785690"/>
                  <a:pt x="2771836" y="776729"/>
                  <a:pt x="2782345" y="780659"/>
                </a:cubicBezTo>
                <a:cubicBezTo>
                  <a:pt x="2786261" y="772798"/>
                  <a:pt x="2781109" y="762893"/>
                  <a:pt x="2792854" y="757862"/>
                </a:cubicBezTo>
                <a:cubicBezTo>
                  <a:pt x="2796770" y="757862"/>
                  <a:pt x="2796770" y="762893"/>
                  <a:pt x="2800479" y="762893"/>
                </a:cubicBezTo>
                <a:cubicBezTo>
                  <a:pt x="2800479" y="760849"/>
                  <a:pt x="2800479" y="755818"/>
                  <a:pt x="2794091" y="757862"/>
                </a:cubicBezTo>
                <a:cubicBezTo>
                  <a:pt x="2794091" y="747957"/>
                  <a:pt x="2810988" y="741982"/>
                  <a:pt x="2807073" y="730977"/>
                </a:cubicBezTo>
                <a:cubicBezTo>
                  <a:pt x="2813667" y="732077"/>
                  <a:pt x="2816140" y="727046"/>
                  <a:pt x="2808309" y="725002"/>
                </a:cubicBezTo>
                <a:cubicBezTo>
                  <a:pt x="2812225" y="723116"/>
                  <a:pt x="2813667" y="725002"/>
                  <a:pt x="2816140" y="725002"/>
                </a:cubicBezTo>
                <a:cubicBezTo>
                  <a:pt x="2816140" y="721071"/>
                  <a:pt x="2826649" y="716197"/>
                  <a:pt x="2816140" y="713210"/>
                </a:cubicBezTo>
                <a:cubicBezTo>
                  <a:pt x="2820055" y="710223"/>
                  <a:pt x="2821498" y="706135"/>
                  <a:pt x="2823970" y="703148"/>
                </a:cubicBezTo>
                <a:cubicBezTo>
                  <a:pt x="2842310" y="701261"/>
                  <a:pt x="2834480" y="678464"/>
                  <a:pt x="2854056" y="669502"/>
                </a:cubicBezTo>
                <a:cubicBezTo>
                  <a:pt x="2843547" y="656453"/>
                  <a:pt x="2876105" y="647648"/>
                  <a:pt x="2861680" y="634756"/>
                </a:cubicBezTo>
                <a:cubicBezTo>
                  <a:pt x="2870953" y="632712"/>
                  <a:pt x="2861680" y="629724"/>
                  <a:pt x="2868274" y="628624"/>
                </a:cubicBezTo>
                <a:cubicBezTo>
                  <a:pt x="2873426" y="635699"/>
                  <a:pt x="2865596" y="644661"/>
                  <a:pt x="2867038" y="654566"/>
                </a:cubicBezTo>
                <a:cubicBezTo>
                  <a:pt x="2869511" y="654566"/>
                  <a:pt x="2873426" y="656453"/>
                  <a:pt x="2877341" y="656453"/>
                </a:cubicBezTo>
                <a:cubicBezTo>
                  <a:pt x="2880020" y="653465"/>
                  <a:pt x="2880020" y="651578"/>
                  <a:pt x="2874869" y="647648"/>
                </a:cubicBezTo>
                <a:cubicBezTo>
                  <a:pt x="2881256" y="643560"/>
                  <a:pt x="2882699" y="654566"/>
                  <a:pt x="2889087" y="648592"/>
                </a:cubicBezTo>
                <a:cubicBezTo>
                  <a:pt x="2881256" y="647648"/>
                  <a:pt x="2891765" y="637586"/>
                  <a:pt x="2878784" y="639629"/>
                </a:cubicBezTo>
                <a:cubicBezTo>
                  <a:pt x="2887851" y="635699"/>
                  <a:pt x="2878784" y="630668"/>
                  <a:pt x="2885172" y="628624"/>
                </a:cubicBezTo>
                <a:cubicBezTo>
                  <a:pt x="2876105" y="630668"/>
                  <a:pt x="2878784" y="626737"/>
                  <a:pt x="2870953" y="625637"/>
                </a:cubicBezTo>
                <a:cubicBezTo>
                  <a:pt x="2881256" y="620762"/>
                  <a:pt x="2877341" y="615731"/>
                  <a:pt x="2873426" y="611801"/>
                </a:cubicBezTo>
                <a:cubicBezTo>
                  <a:pt x="2877341" y="608813"/>
                  <a:pt x="2880020" y="612744"/>
                  <a:pt x="2883936" y="610857"/>
                </a:cubicBezTo>
                <a:cubicBezTo>
                  <a:pt x="2882699" y="604883"/>
                  <a:pt x="2885172" y="593877"/>
                  <a:pt x="2893002" y="591991"/>
                </a:cubicBezTo>
                <a:cubicBezTo>
                  <a:pt x="2889087" y="595921"/>
                  <a:pt x="2894239" y="600952"/>
                  <a:pt x="2891765" y="605826"/>
                </a:cubicBezTo>
                <a:cubicBezTo>
                  <a:pt x="2896917" y="602839"/>
                  <a:pt x="2900833" y="606927"/>
                  <a:pt x="2905984" y="601896"/>
                </a:cubicBezTo>
                <a:cubicBezTo>
                  <a:pt x="2899596" y="601896"/>
                  <a:pt x="2903512" y="598908"/>
                  <a:pt x="2898154" y="595921"/>
                </a:cubicBezTo>
                <a:cubicBezTo>
                  <a:pt x="2909900" y="597965"/>
                  <a:pt x="2923087" y="576111"/>
                  <a:pt x="2913814" y="572023"/>
                </a:cubicBezTo>
                <a:cubicBezTo>
                  <a:pt x="2919173" y="568092"/>
                  <a:pt x="2920409" y="574067"/>
                  <a:pt x="2924324" y="570136"/>
                </a:cubicBezTo>
                <a:cubicBezTo>
                  <a:pt x="2923087" y="569035"/>
                  <a:pt x="2924324" y="568092"/>
                  <a:pt x="2923087" y="567149"/>
                </a:cubicBezTo>
                <a:cubicBezTo>
                  <a:pt x="2916493" y="566049"/>
                  <a:pt x="2912578" y="564161"/>
                  <a:pt x="2905984" y="568092"/>
                </a:cubicBezTo>
                <a:cubicBezTo>
                  <a:pt x="2908663" y="565105"/>
                  <a:pt x="2908663" y="562118"/>
                  <a:pt x="2908663" y="559130"/>
                </a:cubicBezTo>
                <a:cubicBezTo>
                  <a:pt x="2902069" y="560231"/>
                  <a:pt x="2903512" y="566049"/>
                  <a:pt x="2898154" y="564161"/>
                </a:cubicBezTo>
                <a:cubicBezTo>
                  <a:pt x="2907427" y="561175"/>
                  <a:pt x="2895681" y="557244"/>
                  <a:pt x="2904748" y="554257"/>
                </a:cubicBezTo>
                <a:cubicBezTo>
                  <a:pt x="2912578" y="556143"/>
                  <a:pt x="2909900" y="560231"/>
                  <a:pt x="2916493" y="560231"/>
                </a:cubicBezTo>
                <a:cubicBezTo>
                  <a:pt x="2921645" y="557244"/>
                  <a:pt x="2915051" y="553156"/>
                  <a:pt x="2920409" y="550169"/>
                </a:cubicBezTo>
                <a:lnTo>
                  <a:pt x="2921720" y="550181"/>
                </a:lnTo>
                <a:lnTo>
                  <a:pt x="2922104" y="549354"/>
                </a:lnTo>
                <a:cubicBezTo>
                  <a:pt x="2923742" y="546855"/>
                  <a:pt x="2926030" y="544117"/>
                  <a:pt x="2926030" y="542133"/>
                </a:cubicBezTo>
                <a:cubicBezTo>
                  <a:pt x="2928007" y="542609"/>
                  <a:pt x="2929086" y="543532"/>
                  <a:pt x="2929508" y="544680"/>
                </a:cubicBezTo>
                <a:lnTo>
                  <a:pt x="2929450" y="545173"/>
                </a:lnTo>
                <a:lnTo>
                  <a:pt x="2932644" y="543782"/>
                </a:lnTo>
                <a:cubicBezTo>
                  <a:pt x="2935400" y="543526"/>
                  <a:pt x="2938646" y="543251"/>
                  <a:pt x="2941222" y="541207"/>
                </a:cubicBezTo>
                <a:cubicBezTo>
                  <a:pt x="2939985" y="539320"/>
                  <a:pt x="2941222" y="537276"/>
                  <a:pt x="2937307" y="536333"/>
                </a:cubicBezTo>
                <a:cubicBezTo>
                  <a:pt x="2933391" y="536333"/>
                  <a:pt x="2936070" y="542308"/>
                  <a:pt x="2930713" y="539320"/>
                </a:cubicBezTo>
                <a:lnTo>
                  <a:pt x="2932858" y="532460"/>
                </a:lnTo>
                <a:lnTo>
                  <a:pt x="2930418" y="527509"/>
                </a:lnTo>
                <a:cubicBezTo>
                  <a:pt x="2929100" y="520210"/>
                  <a:pt x="2932095" y="509379"/>
                  <a:pt x="2941199" y="513029"/>
                </a:cubicBezTo>
                <a:lnTo>
                  <a:pt x="2938558" y="519537"/>
                </a:lnTo>
                <a:lnTo>
                  <a:pt x="2943643" y="529002"/>
                </a:lnTo>
                <a:cubicBezTo>
                  <a:pt x="2945446" y="531853"/>
                  <a:pt x="2947094" y="534839"/>
                  <a:pt x="2947816" y="539320"/>
                </a:cubicBezTo>
                <a:cubicBezTo>
                  <a:pt x="2950288" y="538219"/>
                  <a:pt x="2951525" y="538219"/>
                  <a:pt x="2952967" y="538219"/>
                </a:cubicBezTo>
                <a:cubicBezTo>
                  <a:pt x="2952967" y="530358"/>
                  <a:pt x="2947816" y="521397"/>
                  <a:pt x="2949052" y="513378"/>
                </a:cubicBezTo>
                <a:cubicBezTo>
                  <a:pt x="2952967" y="511492"/>
                  <a:pt x="2954204" y="513378"/>
                  <a:pt x="2956883" y="512435"/>
                </a:cubicBezTo>
                <a:cubicBezTo>
                  <a:pt x="2955440" y="511492"/>
                  <a:pt x="2956883" y="510391"/>
                  <a:pt x="2956883" y="509448"/>
                </a:cubicBezTo>
                <a:cubicBezTo>
                  <a:pt x="2954204" y="508504"/>
                  <a:pt x="2951525" y="510391"/>
                  <a:pt x="2950288" y="509448"/>
                </a:cubicBezTo>
                <a:cubicBezTo>
                  <a:pt x="2949052" y="506460"/>
                  <a:pt x="2947816" y="499542"/>
                  <a:pt x="2956883" y="498599"/>
                </a:cubicBezTo>
                <a:cubicBezTo>
                  <a:pt x="2954204" y="492625"/>
                  <a:pt x="2939985" y="481619"/>
                  <a:pt x="2951525" y="478632"/>
                </a:cubicBezTo>
                <a:cubicBezTo>
                  <a:pt x="2951525" y="480676"/>
                  <a:pt x="2958119" y="485707"/>
                  <a:pt x="2963271" y="494511"/>
                </a:cubicBezTo>
                <a:cubicBezTo>
                  <a:pt x="2965949" y="487593"/>
                  <a:pt x="2955440" y="480676"/>
                  <a:pt x="2964713" y="473758"/>
                </a:cubicBezTo>
                <a:cubicBezTo>
                  <a:pt x="2958119" y="478632"/>
                  <a:pt x="2954204" y="472657"/>
                  <a:pt x="2949052" y="474701"/>
                </a:cubicBezTo>
                <a:cubicBezTo>
                  <a:pt x="2951525" y="472657"/>
                  <a:pt x="2946373" y="470771"/>
                  <a:pt x="2950288" y="469670"/>
                </a:cubicBezTo>
                <a:cubicBezTo>
                  <a:pt x="2952967" y="473758"/>
                  <a:pt x="2960798" y="474701"/>
                  <a:pt x="2968628" y="471714"/>
                </a:cubicBezTo>
                <a:cubicBezTo>
                  <a:pt x="2958119" y="467783"/>
                  <a:pt x="2964713" y="464796"/>
                  <a:pt x="2972544" y="461809"/>
                </a:cubicBezTo>
                <a:cubicBezTo>
                  <a:pt x="2966670" y="455834"/>
                  <a:pt x="2966670" y="451118"/>
                  <a:pt x="2967649" y="446519"/>
                </a:cubicBezTo>
                <a:lnTo>
                  <a:pt x="2968763" y="441651"/>
                </a:lnTo>
                <a:lnTo>
                  <a:pt x="2968219" y="442838"/>
                </a:lnTo>
                <a:cubicBezTo>
                  <a:pt x="2958998" y="441897"/>
                  <a:pt x="2958998" y="441897"/>
                  <a:pt x="2958998" y="441897"/>
                </a:cubicBezTo>
                <a:cubicBezTo>
                  <a:pt x="2957769" y="430909"/>
                  <a:pt x="2957769" y="427927"/>
                  <a:pt x="2964326" y="418038"/>
                </a:cubicBezTo>
                <a:cubicBezTo>
                  <a:pt x="2967860" y="419254"/>
                  <a:pt x="2970434" y="420726"/>
                  <a:pt x="2972166" y="422421"/>
                </a:cubicBezTo>
                <a:lnTo>
                  <a:pt x="2974422" y="427050"/>
                </a:lnTo>
                <a:lnTo>
                  <a:pt x="2978909" y="424278"/>
                </a:lnTo>
                <a:cubicBezTo>
                  <a:pt x="2985725" y="425256"/>
                  <a:pt x="2981678" y="432434"/>
                  <a:pt x="2976354" y="431455"/>
                </a:cubicBezTo>
                <a:cubicBezTo>
                  <a:pt x="2977632" y="430395"/>
                  <a:pt x="2977259" y="429620"/>
                  <a:pt x="2976247" y="429110"/>
                </a:cubicBezTo>
                <a:lnTo>
                  <a:pt x="2974652" y="428805"/>
                </a:lnTo>
                <a:lnTo>
                  <a:pt x="2972473" y="433558"/>
                </a:lnTo>
                <a:lnTo>
                  <a:pt x="2974153" y="434268"/>
                </a:lnTo>
                <a:cubicBezTo>
                  <a:pt x="2976085" y="436611"/>
                  <a:pt x="2975390" y="440105"/>
                  <a:pt x="2977322" y="442173"/>
                </a:cubicBezTo>
                <a:lnTo>
                  <a:pt x="2982519" y="443783"/>
                </a:lnTo>
                <a:lnTo>
                  <a:pt x="2983069" y="442834"/>
                </a:lnTo>
                <a:lnTo>
                  <a:pt x="2984061" y="438112"/>
                </a:lnTo>
                <a:cubicBezTo>
                  <a:pt x="2983375" y="432437"/>
                  <a:pt x="2979241" y="426984"/>
                  <a:pt x="2991914" y="421088"/>
                </a:cubicBezTo>
                <a:cubicBezTo>
                  <a:pt x="2985526" y="415113"/>
                  <a:pt x="2989442" y="409139"/>
                  <a:pt x="2989442" y="403164"/>
                </a:cubicBezTo>
                <a:cubicBezTo>
                  <a:pt x="2987484" y="402143"/>
                  <a:pt x="2985526" y="401907"/>
                  <a:pt x="2983723" y="401553"/>
                </a:cubicBezTo>
                <a:lnTo>
                  <a:pt x="2979749" y="399629"/>
                </a:lnTo>
                <a:lnTo>
                  <a:pt x="2978974" y="400674"/>
                </a:lnTo>
                <a:cubicBezTo>
                  <a:pt x="2977179" y="402064"/>
                  <a:pt x="2975203" y="403335"/>
                  <a:pt x="2973851" y="405401"/>
                </a:cubicBezTo>
                <a:cubicBezTo>
                  <a:pt x="2965948" y="402382"/>
                  <a:pt x="2971147" y="401270"/>
                  <a:pt x="2973851" y="396345"/>
                </a:cubicBezTo>
                <a:cubicBezTo>
                  <a:pt x="2972604" y="394279"/>
                  <a:pt x="2967195" y="394279"/>
                  <a:pt x="2968651" y="390307"/>
                </a:cubicBezTo>
                <a:cubicBezTo>
                  <a:pt x="2972604" y="390307"/>
                  <a:pt x="2974892" y="391301"/>
                  <a:pt x="2976841" y="392413"/>
                </a:cubicBezTo>
                <a:lnTo>
                  <a:pt x="2977167" y="392561"/>
                </a:lnTo>
                <a:lnTo>
                  <a:pt x="2978581" y="391876"/>
                </a:lnTo>
                <a:cubicBezTo>
                  <a:pt x="2982474" y="391441"/>
                  <a:pt x="2984135" y="395893"/>
                  <a:pt x="2987998" y="398133"/>
                </a:cubicBezTo>
                <a:cubicBezTo>
                  <a:pt x="2987998" y="396678"/>
                  <a:pt x="2988334" y="396138"/>
                  <a:pt x="2988896" y="396070"/>
                </a:cubicBezTo>
                <a:lnTo>
                  <a:pt x="2991121" y="396820"/>
                </a:lnTo>
                <a:lnTo>
                  <a:pt x="2992285" y="394900"/>
                </a:lnTo>
                <a:lnTo>
                  <a:pt x="2994885" y="394717"/>
                </a:lnTo>
                <a:lnTo>
                  <a:pt x="2990678" y="392021"/>
                </a:lnTo>
                <a:cubicBezTo>
                  <a:pt x="2990008" y="390547"/>
                  <a:pt x="2991296" y="389328"/>
                  <a:pt x="2995829" y="389328"/>
                </a:cubicBezTo>
                <a:close/>
                <a:moveTo>
                  <a:pt x="2618160" y="388921"/>
                </a:moveTo>
                <a:cubicBezTo>
                  <a:pt x="2637707" y="390810"/>
                  <a:pt x="2610342" y="401824"/>
                  <a:pt x="2624539" y="406702"/>
                </a:cubicBezTo>
                <a:cubicBezTo>
                  <a:pt x="2619395" y="405758"/>
                  <a:pt x="2614252" y="411737"/>
                  <a:pt x="2622070" y="414727"/>
                </a:cubicBezTo>
                <a:cubicBezTo>
                  <a:pt x="2618160" y="414727"/>
                  <a:pt x="2611577" y="415671"/>
                  <a:pt x="2620630" y="419762"/>
                </a:cubicBezTo>
                <a:cubicBezTo>
                  <a:pt x="2607668" y="422595"/>
                  <a:pt x="2615487" y="431564"/>
                  <a:pt x="2607668" y="436599"/>
                </a:cubicBezTo>
                <a:cubicBezTo>
                  <a:pt x="2605199" y="428574"/>
                  <a:pt x="2606434" y="420707"/>
                  <a:pt x="2609108" y="412681"/>
                </a:cubicBezTo>
                <a:cubicBezTo>
                  <a:pt x="2612811" y="405758"/>
                  <a:pt x="2618160" y="397733"/>
                  <a:pt x="2618160" y="388921"/>
                </a:cubicBezTo>
                <a:close/>
                <a:moveTo>
                  <a:pt x="2662959" y="386148"/>
                </a:moveTo>
                <a:cubicBezTo>
                  <a:pt x="2674497" y="391055"/>
                  <a:pt x="2679854" y="389156"/>
                  <a:pt x="2687683" y="395013"/>
                </a:cubicBezTo>
                <a:cubicBezTo>
                  <a:pt x="2682327" y="399129"/>
                  <a:pt x="2674497" y="400079"/>
                  <a:pt x="2678412" y="406094"/>
                </a:cubicBezTo>
                <a:cubicBezTo>
                  <a:pt x="2668110" y="405145"/>
                  <a:pt x="2678412" y="400079"/>
                  <a:pt x="2672025" y="395013"/>
                </a:cubicBezTo>
                <a:cubicBezTo>
                  <a:pt x="2666873" y="397071"/>
                  <a:pt x="2665431" y="403086"/>
                  <a:pt x="2660280" y="405145"/>
                </a:cubicBezTo>
                <a:cubicBezTo>
                  <a:pt x="2652451" y="399129"/>
                  <a:pt x="2668110" y="391055"/>
                  <a:pt x="2662959" y="386148"/>
                </a:cubicBezTo>
                <a:close/>
                <a:moveTo>
                  <a:pt x="3079511" y="385007"/>
                </a:moveTo>
                <a:cubicBezTo>
                  <a:pt x="3083463" y="381988"/>
                  <a:pt x="3082007" y="387072"/>
                  <a:pt x="3082007" y="390091"/>
                </a:cubicBezTo>
                <a:cubicBezTo>
                  <a:pt x="3089911" y="391044"/>
                  <a:pt x="3088663" y="387072"/>
                  <a:pt x="3093863" y="391044"/>
                </a:cubicBezTo>
                <a:cubicBezTo>
                  <a:pt x="3089911" y="394063"/>
                  <a:pt x="3087415" y="397082"/>
                  <a:pt x="3079511" y="396128"/>
                </a:cubicBezTo>
                <a:cubicBezTo>
                  <a:pt x="3076807" y="391044"/>
                  <a:pt x="3082007" y="392156"/>
                  <a:pt x="3079511" y="385007"/>
                </a:cubicBezTo>
                <a:close/>
                <a:moveTo>
                  <a:pt x="2508878" y="377135"/>
                </a:moveTo>
                <a:cubicBezTo>
                  <a:pt x="2515543" y="379037"/>
                  <a:pt x="2521998" y="381097"/>
                  <a:pt x="2528661" y="383157"/>
                </a:cubicBezTo>
                <a:lnTo>
                  <a:pt x="2527203" y="388070"/>
                </a:lnTo>
                <a:cubicBezTo>
                  <a:pt x="2520748" y="384108"/>
                  <a:pt x="2510128" y="382048"/>
                  <a:pt x="2508878" y="377135"/>
                </a:cubicBezTo>
                <a:close/>
                <a:moveTo>
                  <a:pt x="3115530" y="372514"/>
                </a:moveTo>
                <a:cubicBezTo>
                  <a:pt x="3127483" y="371589"/>
                  <a:pt x="3116789" y="383298"/>
                  <a:pt x="3118047" y="388074"/>
                </a:cubicBezTo>
                <a:cubicBezTo>
                  <a:pt x="3114063" y="385146"/>
                  <a:pt x="3114063" y="379292"/>
                  <a:pt x="3115530" y="372514"/>
                </a:cubicBezTo>
                <a:close/>
                <a:moveTo>
                  <a:pt x="2941816" y="372283"/>
                </a:moveTo>
                <a:cubicBezTo>
                  <a:pt x="2952115" y="378202"/>
                  <a:pt x="2944442" y="390977"/>
                  <a:pt x="2940605" y="399857"/>
                </a:cubicBezTo>
                <a:cubicBezTo>
                  <a:pt x="2934143" y="393937"/>
                  <a:pt x="2940605" y="382097"/>
                  <a:pt x="2941816" y="372283"/>
                </a:cubicBezTo>
                <a:close/>
                <a:moveTo>
                  <a:pt x="2976354" y="369510"/>
                </a:moveTo>
                <a:cubicBezTo>
                  <a:pt x="2981678" y="373574"/>
                  <a:pt x="2972308" y="379358"/>
                  <a:pt x="2985725" y="380452"/>
                </a:cubicBezTo>
                <a:cubicBezTo>
                  <a:pt x="2982956" y="383423"/>
                  <a:pt x="2978909" y="381390"/>
                  <a:pt x="2976354" y="385298"/>
                </a:cubicBezTo>
                <a:cubicBezTo>
                  <a:pt x="2973585" y="380452"/>
                  <a:pt x="2972308" y="374512"/>
                  <a:pt x="2976354" y="369510"/>
                </a:cubicBezTo>
                <a:close/>
                <a:moveTo>
                  <a:pt x="2974062" y="358124"/>
                </a:moveTo>
                <a:cubicBezTo>
                  <a:pt x="2985733" y="357031"/>
                  <a:pt x="2983072" y="367967"/>
                  <a:pt x="2971399" y="365935"/>
                </a:cubicBezTo>
                <a:cubicBezTo>
                  <a:pt x="2974062" y="358124"/>
                  <a:pt x="2974062" y="358124"/>
                  <a:pt x="2974062" y="358124"/>
                </a:cubicBezTo>
                <a:close/>
                <a:moveTo>
                  <a:pt x="2511396" y="357220"/>
                </a:moveTo>
                <a:lnTo>
                  <a:pt x="2511396" y="361043"/>
                </a:lnTo>
                <a:cubicBezTo>
                  <a:pt x="2497974" y="360014"/>
                  <a:pt x="2497974" y="360014"/>
                  <a:pt x="2497974" y="360014"/>
                </a:cubicBezTo>
                <a:cubicBezTo>
                  <a:pt x="2499442" y="356338"/>
                  <a:pt x="2505943" y="357220"/>
                  <a:pt x="2511396" y="357220"/>
                </a:cubicBezTo>
                <a:close/>
                <a:moveTo>
                  <a:pt x="2999330" y="356338"/>
                </a:moveTo>
                <a:cubicBezTo>
                  <a:pt x="3003267" y="358417"/>
                  <a:pt x="3005961" y="356338"/>
                  <a:pt x="3008448" y="358417"/>
                </a:cubicBezTo>
                <a:cubicBezTo>
                  <a:pt x="3005961" y="360337"/>
                  <a:pt x="3007205" y="362417"/>
                  <a:pt x="3003267" y="364496"/>
                </a:cubicBezTo>
                <a:cubicBezTo>
                  <a:pt x="3002024" y="359377"/>
                  <a:pt x="2996843" y="359377"/>
                  <a:pt x="2999330" y="356338"/>
                </a:cubicBezTo>
                <a:close/>
                <a:moveTo>
                  <a:pt x="2628904" y="353565"/>
                </a:moveTo>
                <a:cubicBezTo>
                  <a:pt x="2648609" y="365529"/>
                  <a:pt x="2622474" y="369464"/>
                  <a:pt x="2624963" y="389457"/>
                </a:cubicBezTo>
                <a:cubicBezTo>
                  <a:pt x="2610651" y="381428"/>
                  <a:pt x="2627659" y="363482"/>
                  <a:pt x="2628904" y="353565"/>
                </a:cubicBezTo>
                <a:close/>
                <a:moveTo>
                  <a:pt x="2169939" y="351058"/>
                </a:moveTo>
                <a:cubicBezTo>
                  <a:pt x="2177907" y="353137"/>
                  <a:pt x="2173923" y="352178"/>
                  <a:pt x="2172665" y="352178"/>
                </a:cubicBezTo>
                <a:cubicBezTo>
                  <a:pt x="2172665" y="354097"/>
                  <a:pt x="2167213" y="350098"/>
                  <a:pt x="2169939" y="351058"/>
                </a:cubicBezTo>
                <a:close/>
                <a:moveTo>
                  <a:pt x="3027113" y="346194"/>
                </a:moveTo>
                <a:cubicBezTo>
                  <a:pt x="3025835" y="348250"/>
                  <a:pt x="3028391" y="348250"/>
                  <a:pt x="3031159" y="348250"/>
                </a:cubicBezTo>
                <a:cubicBezTo>
                  <a:pt x="3024344" y="351096"/>
                  <a:pt x="3028391" y="353151"/>
                  <a:pt x="3023066" y="354100"/>
                </a:cubicBezTo>
                <a:cubicBezTo>
                  <a:pt x="3017742" y="352202"/>
                  <a:pt x="3023066" y="345246"/>
                  <a:pt x="3027113" y="346194"/>
                </a:cubicBezTo>
                <a:close/>
                <a:moveTo>
                  <a:pt x="3064127" y="333216"/>
                </a:moveTo>
                <a:lnTo>
                  <a:pt x="3063176" y="336078"/>
                </a:lnTo>
                <a:cubicBezTo>
                  <a:pt x="3063176" y="336078"/>
                  <a:pt x="3063561" y="334918"/>
                  <a:pt x="3064043" y="333467"/>
                </a:cubicBezTo>
                <a:close/>
                <a:moveTo>
                  <a:pt x="2727625" y="331380"/>
                </a:moveTo>
                <a:cubicBezTo>
                  <a:pt x="2736751" y="348405"/>
                  <a:pt x="2719743" y="371263"/>
                  <a:pt x="2718291" y="392230"/>
                </a:cubicBezTo>
                <a:cubicBezTo>
                  <a:pt x="2711861" y="390180"/>
                  <a:pt x="2705223" y="387185"/>
                  <a:pt x="2698793" y="385136"/>
                </a:cubicBezTo>
                <a:cubicBezTo>
                  <a:pt x="2700038" y="378199"/>
                  <a:pt x="2706468" y="386239"/>
                  <a:pt x="2714350" y="385136"/>
                </a:cubicBezTo>
                <a:cubicBezTo>
                  <a:pt x="2715802" y="362278"/>
                  <a:pt x="2718291" y="346356"/>
                  <a:pt x="2727625" y="331380"/>
                </a:cubicBezTo>
                <a:close/>
                <a:moveTo>
                  <a:pt x="3065178" y="330053"/>
                </a:moveTo>
                <a:lnTo>
                  <a:pt x="3064127" y="333216"/>
                </a:lnTo>
                <a:lnTo>
                  <a:pt x="3064947" y="330748"/>
                </a:lnTo>
                <a:close/>
                <a:moveTo>
                  <a:pt x="3029909" y="329993"/>
                </a:moveTo>
                <a:cubicBezTo>
                  <a:pt x="3037532" y="331891"/>
                  <a:pt x="3029909" y="335843"/>
                  <a:pt x="3027301" y="338847"/>
                </a:cubicBezTo>
                <a:cubicBezTo>
                  <a:pt x="3022286" y="335843"/>
                  <a:pt x="3031113" y="332839"/>
                  <a:pt x="3029909" y="329993"/>
                </a:cubicBezTo>
                <a:close/>
                <a:moveTo>
                  <a:pt x="3065778" y="328246"/>
                </a:moveTo>
                <a:lnTo>
                  <a:pt x="3065178" y="330053"/>
                </a:lnTo>
                <a:lnTo>
                  <a:pt x="3065489" y="329116"/>
                </a:lnTo>
                <a:cubicBezTo>
                  <a:pt x="3065874" y="327957"/>
                  <a:pt x="3066067" y="327377"/>
                  <a:pt x="3065778" y="328246"/>
                </a:cubicBezTo>
                <a:close/>
                <a:moveTo>
                  <a:pt x="2980545" y="326527"/>
                </a:moveTo>
                <a:cubicBezTo>
                  <a:pt x="2989372" y="333490"/>
                  <a:pt x="2974125" y="343459"/>
                  <a:pt x="2987968" y="349473"/>
                </a:cubicBezTo>
                <a:cubicBezTo>
                  <a:pt x="2985560" y="355486"/>
                  <a:pt x="2979140" y="348523"/>
                  <a:pt x="2977937" y="352479"/>
                </a:cubicBezTo>
                <a:cubicBezTo>
                  <a:pt x="2976733" y="348523"/>
                  <a:pt x="2977937" y="337446"/>
                  <a:pt x="2980545" y="326527"/>
                </a:cubicBezTo>
                <a:close/>
                <a:moveTo>
                  <a:pt x="3153001" y="325899"/>
                </a:moveTo>
                <a:cubicBezTo>
                  <a:pt x="3155514" y="326672"/>
                  <a:pt x="3155977" y="333575"/>
                  <a:pt x="3163835" y="330686"/>
                </a:cubicBezTo>
                <a:lnTo>
                  <a:pt x="3162397" y="337465"/>
                </a:lnTo>
                <a:cubicBezTo>
                  <a:pt x="3150687" y="332535"/>
                  <a:pt x="3140414" y="337465"/>
                  <a:pt x="3140414" y="327759"/>
                </a:cubicBezTo>
                <a:cubicBezTo>
                  <a:pt x="3140414" y="330686"/>
                  <a:pt x="3157261" y="331611"/>
                  <a:pt x="3149454" y="327759"/>
                </a:cubicBezTo>
                <a:cubicBezTo>
                  <a:pt x="3151097" y="326065"/>
                  <a:pt x="3152163" y="325641"/>
                  <a:pt x="3153001" y="325899"/>
                </a:cubicBezTo>
                <a:close/>
                <a:moveTo>
                  <a:pt x="2598838" y="323754"/>
                </a:moveTo>
                <a:cubicBezTo>
                  <a:pt x="2612681" y="323754"/>
                  <a:pt x="2614085" y="331679"/>
                  <a:pt x="2603854" y="332611"/>
                </a:cubicBezTo>
                <a:cubicBezTo>
                  <a:pt x="2609070" y="324842"/>
                  <a:pt x="2603854" y="328726"/>
                  <a:pt x="2598838" y="323754"/>
                </a:cubicBezTo>
                <a:close/>
                <a:moveTo>
                  <a:pt x="2491921" y="323342"/>
                </a:moveTo>
                <a:cubicBezTo>
                  <a:pt x="2505912" y="324480"/>
                  <a:pt x="2490705" y="327567"/>
                  <a:pt x="2496990" y="329679"/>
                </a:cubicBezTo>
                <a:cubicBezTo>
                  <a:pt x="2511184" y="322367"/>
                  <a:pt x="2499627" y="325454"/>
                  <a:pt x="2515037" y="330654"/>
                </a:cubicBezTo>
                <a:cubicBezTo>
                  <a:pt x="2509765" y="332604"/>
                  <a:pt x="2502059" y="332604"/>
                  <a:pt x="2493138" y="331629"/>
                </a:cubicBezTo>
                <a:cubicBezTo>
                  <a:pt x="2490705" y="330654"/>
                  <a:pt x="2491921" y="327567"/>
                  <a:pt x="2491921" y="323342"/>
                </a:cubicBezTo>
                <a:close/>
                <a:moveTo>
                  <a:pt x="3012838" y="322367"/>
                </a:moveTo>
                <a:cubicBezTo>
                  <a:pt x="3019355" y="324387"/>
                  <a:pt x="3011616" y="328272"/>
                  <a:pt x="3011616" y="331225"/>
                </a:cubicBezTo>
                <a:cubicBezTo>
                  <a:pt x="3007747" y="328272"/>
                  <a:pt x="3007747" y="325320"/>
                  <a:pt x="3012838" y="322367"/>
                </a:cubicBezTo>
                <a:close/>
                <a:moveTo>
                  <a:pt x="2632012" y="321674"/>
                </a:moveTo>
                <a:cubicBezTo>
                  <a:pt x="2651339" y="321674"/>
                  <a:pt x="2635877" y="326676"/>
                  <a:pt x="2641167" y="332460"/>
                </a:cubicBezTo>
                <a:cubicBezTo>
                  <a:pt x="2634657" y="333555"/>
                  <a:pt x="2630792" y="335431"/>
                  <a:pt x="2625706" y="337463"/>
                </a:cubicBezTo>
                <a:cubicBezTo>
                  <a:pt x="2624282" y="334493"/>
                  <a:pt x="2630792" y="329647"/>
                  <a:pt x="2632012" y="321674"/>
                </a:cubicBezTo>
                <a:close/>
                <a:moveTo>
                  <a:pt x="2547169" y="320762"/>
                </a:moveTo>
                <a:cubicBezTo>
                  <a:pt x="2549486" y="320390"/>
                  <a:pt x="2551464" y="320390"/>
                  <a:pt x="2553442" y="321878"/>
                </a:cubicBezTo>
                <a:cubicBezTo>
                  <a:pt x="2554691" y="324855"/>
                  <a:pt x="2552192" y="326893"/>
                  <a:pt x="2544280" y="324855"/>
                </a:cubicBezTo>
                <a:cubicBezTo>
                  <a:pt x="2558648" y="329870"/>
                  <a:pt x="2545529" y="337705"/>
                  <a:pt x="2542822" y="341622"/>
                </a:cubicBezTo>
                <a:cubicBezTo>
                  <a:pt x="2538865" y="333787"/>
                  <a:pt x="2541572" y="330810"/>
                  <a:pt x="2538865" y="321878"/>
                </a:cubicBezTo>
                <a:cubicBezTo>
                  <a:pt x="2542198" y="321878"/>
                  <a:pt x="2544852" y="321134"/>
                  <a:pt x="2547169" y="320762"/>
                </a:cubicBezTo>
                <a:close/>
                <a:moveTo>
                  <a:pt x="2960290" y="316821"/>
                </a:moveTo>
                <a:cubicBezTo>
                  <a:pt x="2952509" y="326894"/>
                  <a:pt x="2958857" y="332718"/>
                  <a:pt x="2954966" y="345781"/>
                </a:cubicBezTo>
                <a:cubicBezTo>
                  <a:pt x="2945956" y="339800"/>
                  <a:pt x="2949847" y="324848"/>
                  <a:pt x="2960290" y="316821"/>
                </a:cubicBezTo>
                <a:close/>
                <a:moveTo>
                  <a:pt x="2590385" y="316821"/>
                </a:moveTo>
                <a:cubicBezTo>
                  <a:pt x="2595489" y="318901"/>
                  <a:pt x="2605904" y="317941"/>
                  <a:pt x="2604679" y="321941"/>
                </a:cubicBezTo>
                <a:cubicBezTo>
                  <a:pt x="2599370" y="321941"/>
                  <a:pt x="2593039" y="320981"/>
                  <a:pt x="2591610" y="322901"/>
                </a:cubicBezTo>
                <a:cubicBezTo>
                  <a:pt x="2587934" y="322901"/>
                  <a:pt x="2590385" y="318901"/>
                  <a:pt x="2590385" y="316821"/>
                </a:cubicBezTo>
                <a:close/>
                <a:moveTo>
                  <a:pt x="2694472" y="312456"/>
                </a:moveTo>
                <a:cubicBezTo>
                  <a:pt x="2696676" y="312105"/>
                  <a:pt x="2699456" y="312115"/>
                  <a:pt x="2703059" y="312626"/>
                </a:cubicBezTo>
                <a:cubicBezTo>
                  <a:pt x="2701618" y="318598"/>
                  <a:pt x="2701618" y="324571"/>
                  <a:pt x="2706765" y="327557"/>
                </a:cubicBezTo>
                <a:cubicBezTo>
                  <a:pt x="2701618" y="330544"/>
                  <a:pt x="2693794" y="330544"/>
                  <a:pt x="2689881" y="334472"/>
                </a:cubicBezTo>
                <a:cubicBezTo>
                  <a:pt x="2685969" y="342489"/>
                  <a:pt x="2701618" y="350348"/>
                  <a:pt x="2685969" y="353334"/>
                </a:cubicBezTo>
                <a:cubicBezTo>
                  <a:pt x="2687411" y="356321"/>
                  <a:pt x="2689881" y="353334"/>
                  <a:pt x="2695234" y="354277"/>
                </a:cubicBezTo>
                <a:cubicBezTo>
                  <a:pt x="2682057" y="365280"/>
                  <a:pt x="2695234" y="376282"/>
                  <a:pt x="2683498" y="388071"/>
                </a:cubicBezTo>
                <a:cubicBezTo>
                  <a:pt x="2676909" y="383198"/>
                  <a:pt x="2680821" y="376282"/>
                  <a:pt x="2666613" y="373296"/>
                </a:cubicBezTo>
                <a:lnTo>
                  <a:pt x="2669155" y="363119"/>
                </a:lnTo>
                <a:lnTo>
                  <a:pt x="2665925" y="360858"/>
                </a:lnTo>
                <a:cubicBezTo>
                  <a:pt x="2664744" y="357351"/>
                  <a:pt x="2670913" y="352444"/>
                  <a:pt x="2668882" y="348711"/>
                </a:cubicBezTo>
                <a:cubicBezTo>
                  <a:pt x="2671537" y="349715"/>
                  <a:pt x="2673190" y="350778"/>
                  <a:pt x="2674115" y="351905"/>
                </a:cubicBezTo>
                <a:lnTo>
                  <a:pt x="2674538" y="353665"/>
                </a:lnTo>
                <a:lnTo>
                  <a:pt x="2676600" y="350623"/>
                </a:lnTo>
                <a:cubicBezTo>
                  <a:pt x="2680821" y="344414"/>
                  <a:pt x="2682777" y="338953"/>
                  <a:pt x="2672997" y="332430"/>
                </a:cubicBezTo>
                <a:cubicBezTo>
                  <a:pt x="2682057" y="337459"/>
                  <a:pt x="2682057" y="326614"/>
                  <a:pt x="2689881" y="324571"/>
                </a:cubicBezTo>
                <a:cubicBezTo>
                  <a:pt x="2688646" y="323470"/>
                  <a:pt x="2683498" y="323470"/>
                  <a:pt x="2683498" y="321584"/>
                </a:cubicBezTo>
                <a:cubicBezTo>
                  <a:pt x="2686432" y="317812"/>
                  <a:pt x="2687861" y="313509"/>
                  <a:pt x="2694472" y="312456"/>
                </a:cubicBezTo>
                <a:close/>
                <a:moveTo>
                  <a:pt x="2734485" y="303622"/>
                </a:moveTo>
                <a:cubicBezTo>
                  <a:pt x="2735141" y="305351"/>
                  <a:pt x="2734839" y="311725"/>
                  <a:pt x="2732920" y="321519"/>
                </a:cubicBezTo>
                <a:cubicBezTo>
                  <a:pt x="2718785" y="320586"/>
                  <a:pt x="2730295" y="314678"/>
                  <a:pt x="2730295" y="313590"/>
                </a:cubicBezTo>
                <a:cubicBezTo>
                  <a:pt x="2732213" y="304807"/>
                  <a:pt x="2733829" y="301892"/>
                  <a:pt x="2734485" y="303622"/>
                </a:cubicBezTo>
                <a:close/>
                <a:moveTo>
                  <a:pt x="3126149" y="301984"/>
                </a:moveTo>
                <a:cubicBezTo>
                  <a:pt x="3145661" y="300876"/>
                  <a:pt x="3124916" y="332854"/>
                  <a:pt x="3122247" y="340927"/>
                </a:cubicBezTo>
                <a:cubicBezTo>
                  <a:pt x="3115880" y="330954"/>
                  <a:pt x="3133954" y="314965"/>
                  <a:pt x="3126149" y="301984"/>
                </a:cubicBezTo>
                <a:close/>
                <a:moveTo>
                  <a:pt x="2634812" y="301511"/>
                </a:moveTo>
                <a:cubicBezTo>
                  <a:pt x="2647751" y="299490"/>
                  <a:pt x="2643849" y="309283"/>
                  <a:pt x="2639947" y="312237"/>
                </a:cubicBezTo>
                <a:cubicBezTo>
                  <a:pt x="2638715" y="316124"/>
                  <a:pt x="2648984" y="315191"/>
                  <a:pt x="2656789" y="315191"/>
                </a:cubicBezTo>
                <a:cubicBezTo>
                  <a:pt x="2651655" y="324985"/>
                  <a:pt x="2639947" y="313170"/>
                  <a:pt x="2629678" y="319077"/>
                </a:cubicBezTo>
                <a:cubicBezTo>
                  <a:pt x="2628240" y="318145"/>
                  <a:pt x="2630910" y="318145"/>
                  <a:pt x="2632142" y="318145"/>
                </a:cubicBezTo>
                <a:cubicBezTo>
                  <a:pt x="2634812" y="312237"/>
                  <a:pt x="2627008" y="307263"/>
                  <a:pt x="2634812" y="301511"/>
                </a:cubicBezTo>
                <a:close/>
                <a:moveTo>
                  <a:pt x="2696224" y="298103"/>
                </a:moveTo>
                <a:cubicBezTo>
                  <a:pt x="2697497" y="298376"/>
                  <a:pt x="2698376" y="299500"/>
                  <a:pt x="2698814" y="301032"/>
                </a:cubicBezTo>
                <a:lnTo>
                  <a:pt x="2698777" y="305465"/>
                </a:lnTo>
                <a:lnTo>
                  <a:pt x="2704038" y="305984"/>
                </a:lnTo>
                <a:cubicBezTo>
                  <a:pt x="2703726" y="307210"/>
                  <a:pt x="2702504" y="308317"/>
                  <a:pt x="2700885" y="309164"/>
                </a:cubicBezTo>
                <a:lnTo>
                  <a:pt x="2696459" y="310463"/>
                </a:lnTo>
                <a:lnTo>
                  <a:pt x="2695823" y="311579"/>
                </a:lnTo>
                <a:cubicBezTo>
                  <a:pt x="2694327" y="312974"/>
                  <a:pt x="2692303" y="313892"/>
                  <a:pt x="2689707" y="313892"/>
                </a:cubicBezTo>
                <a:lnTo>
                  <a:pt x="2691260" y="310128"/>
                </a:lnTo>
                <a:lnTo>
                  <a:pt x="2690523" y="310009"/>
                </a:lnTo>
                <a:cubicBezTo>
                  <a:pt x="2689372" y="309255"/>
                  <a:pt x="2688853" y="307961"/>
                  <a:pt x="2689477" y="305984"/>
                </a:cubicBezTo>
                <a:lnTo>
                  <a:pt x="2693116" y="305633"/>
                </a:lnTo>
                <a:close/>
                <a:moveTo>
                  <a:pt x="3106372" y="294637"/>
                </a:moveTo>
                <a:cubicBezTo>
                  <a:pt x="3106372" y="299663"/>
                  <a:pt x="3100087" y="297621"/>
                  <a:pt x="3098870" y="300605"/>
                </a:cubicBezTo>
                <a:cubicBezTo>
                  <a:pt x="3101304" y="306574"/>
                  <a:pt x="3107792" y="297621"/>
                  <a:pt x="3110225" y="303590"/>
                </a:cubicBezTo>
                <a:cubicBezTo>
                  <a:pt x="3102520" y="314585"/>
                  <a:pt x="3085893" y="294637"/>
                  <a:pt x="3106372" y="294637"/>
                </a:cubicBezTo>
                <a:close/>
                <a:moveTo>
                  <a:pt x="2549781" y="294637"/>
                </a:moveTo>
                <a:cubicBezTo>
                  <a:pt x="2566826" y="298701"/>
                  <a:pt x="2547079" y="302609"/>
                  <a:pt x="2552484" y="310426"/>
                </a:cubicBezTo>
                <a:cubicBezTo>
                  <a:pt x="2543130" y="309487"/>
                  <a:pt x="2552484" y="301671"/>
                  <a:pt x="2535230" y="303547"/>
                </a:cubicBezTo>
                <a:cubicBezTo>
                  <a:pt x="2543130" y="299639"/>
                  <a:pt x="2554978" y="302609"/>
                  <a:pt x="2549781" y="294637"/>
                </a:cubicBezTo>
                <a:close/>
                <a:moveTo>
                  <a:pt x="2656343" y="292557"/>
                </a:moveTo>
                <a:cubicBezTo>
                  <a:pt x="2673146" y="292557"/>
                  <a:pt x="2673146" y="292557"/>
                  <a:pt x="2673146" y="292557"/>
                </a:cubicBezTo>
                <a:cubicBezTo>
                  <a:pt x="2673146" y="294477"/>
                  <a:pt x="2652451" y="298636"/>
                  <a:pt x="2656343" y="292557"/>
                </a:cubicBezTo>
                <a:close/>
                <a:moveTo>
                  <a:pt x="2498390" y="292557"/>
                </a:moveTo>
                <a:cubicBezTo>
                  <a:pt x="2505036" y="293508"/>
                  <a:pt x="2497144" y="300480"/>
                  <a:pt x="2498390" y="303491"/>
                </a:cubicBezTo>
                <a:cubicBezTo>
                  <a:pt x="2490705" y="301589"/>
                  <a:pt x="2494651" y="296518"/>
                  <a:pt x="2498390" y="292557"/>
                </a:cubicBezTo>
                <a:close/>
                <a:moveTo>
                  <a:pt x="2711302" y="291648"/>
                </a:moveTo>
                <a:lnTo>
                  <a:pt x="2710024" y="297553"/>
                </a:lnTo>
                <a:cubicBezTo>
                  <a:pt x="2697884" y="298641"/>
                  <a:pt x="2699376" y="289784"/>
                  <a:pt x="2711302" y="291648"/>
                </a:cubicBezTo>
                <a:close/>
                <a:moveTo>
                  <a:pt x="2503253" y="274061"/>
                </a:moveTo>
                <a:cubicBezTo>
                  <a:pt x="2508942" y="274768"/>
                  <a:pt x="2513068" y="279856"/>
                  <a:pt x="2515037" y="282143"/>
                </a:cubicBezTo>
                <a:cubicBezTo>
                  <a:pt x="2511201" y="283106"/>
                  <a:pt x="2509787" y="285193"/>
                  <a:pt x="2508575" y="286157"/>
                </a:cubicBezTo>
                <a:cubicBezTo>
                  <a:pt x="2502114" y="284230"/>
                  <a:pt x="2508575" y="275079"/>
                  <a:pt x="2497065" y="275079"/>
                </a:cubicBezTo>
                <a:cubicBezTo>
                  <a:pt x="2499287" y="274075"/>
                  <a:pt x="2501356" y="273825"/>
                  <a:pt x="2503253" y="274061"/>
                </a:cubicBezTo>
                <a:close/>
                <a:moveTo>
                  <a:pt x="3039817" y="268292"/>
                </a:moveTo>
                <a:cubicBezTo>
                  <a:pt x="3043703" y="269233"/>
                  <a:pt x="3042476" y="271272"/>
                  <a:pt x="3044931" y="273153"/>
                </a:cubicBezTo>
                <a:cubicBezTo>
                  <a:pt x="3041248" y="277231"/>
                  <a:pt x="3037362" y="273153"/>
                  <a:pt x="3033475" y="275192"/>
                </a:cubicBezTo>
                <a:cubicBezTo>
                  <a:pt x="3042476" y="278172"/>
                  <a:pt x="3029588" y="284131"/>
                  <a:pt x="3037362" y="287109"/>
                </a:cubicBezTo>
                <a:cubicBezTo>
                  <a:pt x="3037362" y="285071"/>
                  <a:pt x="3041248" y="275192"/>
                  <a:pt x="3048818" y="279112"/>
                </a:cubicBezTo>
                <a:cubicBezTo>
                  <a:pt x="3042476" y="283032"/>
                  <a:pt x="3050250" y="293068"/>
                  <a:pt x="3035930" y="300909"/>
                </a:cubicBezTo>
                <a:cubicBezTo>
                  <a:pt x="3037362" y="303888"/>
                  <a:pt x="3043703" y="305927"/>
                  <a:pt x="3034702" y="309847"/>
                </a:cubicBezTo>
                <a:cubicBezTo>
                  <a:pt x="3038589" y="313767"/>
                  <a:pt x="3046363" y="316747"/>
                  <a:pt x="3043703" y="320824"/>
                </a:cubicBezTo>
                <a:cubicBezTo>
                  <a:pt x="3030815" y="316747"/>
                  <a:pt x="3032043" y="314865"/>
                  <a:pt x="3024269" y="314865"/>
                </a:cubicBezTo>
                <a:cubicBezTo>
                  <a:pt x="3025701" y="309847"/>
                  <a:pt x="3034702" y="311886"/>
                  <a:pt x="3032043" y="308906"/>
                </a:cubicBezTo>
                <a:cubicBezTo>
                  <a:pt x="3029588" y="306868"/>
                  <a:pt x="3028156" y="309847"/>
                  <a:pt x="3025701" y="308906"/>
                </a:cubicBezTo>
                <a:cubicBezTo>
                  <a:pt x="3032043" y="306868"/>
                  <a:pt x="3033475" y="304986"/>
                  <a:pt x="3026929" y="302006"/>
                </a:cubicBezTo>
                <a:cubicBezTo>
                  <a:pt x="3034702" y="291971"/>
                  <a:pt x="3030815" y="283032"/>
                  <a:pt x="3032043" y="274251"/>
                </a:cubicBezTo>
                <a:cubicBezTo>
                  <a:pt x="3011381" y="268292"/>
                  <a:pt x="3039817" y="277231"/>
                  <a:pt x="3039817" y="268292"/>
                </a:cubicBezTo>
                <a:close/>
                <a:moveTo>
                  <a:pt x="2722506" y="266213"/>
                </a:moveTo>
                <a:cubicBezTo>
                  <a:pt x="2725203" y="269183"/>
                  <a:pt x="2726448" y="273091"/>
                  <a:pt x="2730390" y="275123"/>
                </a:cubicBezTo>
                <a:cubicBezTo>
                  <a:pt x="2721261" y="274185"/>
                  <a:pt x="2712131" y="279032"/>
                  <a:pt x="2713376" y="273091"/>
                </a:cubicBezTo>
                <a:cubicBezTo>
                  <a:pt x="2705491" y="274185"/>
                  <a:pt x="2709433" y="276061"/>
                  <a:pt x="2709433" y="278093"/>
                </a:cubicBezTo>
                <a:cubicBezTo>
                  <a:pt x="2706736" y="282001"/>
                  <a:pt x="2709433" y="274185"/>
                  <a:pt x="2704246" y="275123"/>
                </a:cubicBezTo>
                <a:cubicBezTo>
                  <a:pt x="2705491" y="273091"/>
                  <a:pt x="2709433" y="272153"/>
                  <a:pt x="2708188" y="269183"/>
                </a:cubicBezTo>
                <a:cubicBezTo>
                  <a:pt x="2714621" y="270121"/>
                  <a:pt x="2723957" y="271215"/>
                  <a:pt x="2722506" y="266213"/>
                </a:cubicBezTo>
                <a:close/>
                <a:moveTo>
                  <a:pt x="3048893" y="262746"/>
                </a:moveTo>
                <a:cubicBezTo>
                  <a:pt x="3055446" y="262746"/>
                  <a:pt x="3055446" y="262746"/>
                  <a:pt x="3055446" y="262746"/>
                </a:cubicBezTo>
                <a:cubicBezTo>
                  <a:pt x="3056675" y="264749"/>
                  <a:pt x="3058108" y="266597"/>
                  <a:pt x="3058108" y="269525"/>
                </a:cubicBezTo>
                <a:cubicBezTo>
                  <a:pt x="3045002" y="267676"/>
                  <a:pt x="3059336" y="276458"/>
                  <a:pt x="3050326" y="279231"/>
                </a:cubicBezTo>
                <a:cubicBezTo>
                  <a:pt x="3046435" y="275380"/>
                  <a:pt x="3046435" y="264749"/>
                  <a:pt x="3048893" y="262746"/>
                </a:cubicBezTo>
                <a:close/>
                <a:moveTo>
                  <a:pt x="3023066" y="259973"/>
                </a:moveTo>
                <a:cubicBezTo>
                  <a:pt x="3031159" y="259973"/>
                  <a:pt x="3028391" y="268698"/>
                  <a:pt x="3024344" y="271606"/>
                </a:cubicBezTo>
                <a:cubicBezTo>
                  <a:pt x="3017742" y="270687"/>
                  <a:pt x="3024344" y="262881"/>
                  <a:pt x="3023066" y="259973"/>
                </a:cubicBezTo>
                <a:close/>
                <a:moveTo>
                  <a:pt x="3116739" y="256757"/>
                </a:moveTo>
                <a:cubicBezTo>
                  <a:pt x="3135018" y="256757"/>
                  <a:pt x="3135018" y="256757"/>
                  <a:pt x="3135018" y="256757"/>
                </a:cubicBezTo>
                <a:cubicBezTo>
                  <a:pt x="3137482" y="258802"/>
                  <a:pt x="3137482" y="261792"/>
                  <a:pt x="3136250" y="266668"/>
                </a:cubicBezTo>
                <a:cubicBezTo>
                  <a:pt x="3131116" y="264781"/>
                  <a:pt x="3136250" y="255814"/>
                  <a:pt x="3121873" y="258802"/>
                </a:cubicBezTo>
                <a:cubicBezTo>
                  <a:pt x="3135018" y="276737"/>
                  <a:pt x="3107702" y="280670"/>
                  <a:pt x="3127214" y="292626"/>
                </a:cubicBezTo>
                <a:cubicBezTo>
                  <a:pt x="3124544" y="292626"/>
                  <a:pt x="3124544" y="295615"/>
                  <a:pt x="3123312" y="296559"/>
                </a:cubicBezTo>
                <a:cubicBezTo>
                  <a:pt x="3120641" y="295615"/>
                  <a:pt x="3116739" y="294514"/>
                  <a:pt x="3111604" y="294514"/>
                </a:cubicBezTo>
                <a:cubicBezTo>
                  <a:pt x="3110167" y="276737"/>
                  <a:pt x="3117971" y="275636"/>
                  <a:pt x="3116739" y="256757"/>
                </a:cubicBezTo>
                <a:close/>
                <a:moveTo>
                  <a:pt x="3096405" y="255120"/>
                </a:moveTo>
                <a:cubicBezTo>
                  <a:pt x="3106651" y="262077"/>
                  <a:pt x="3095176" y="272039"/>
                  <a:pt x="3105421" y="279944"/>
                </a:cubicBezTo>
                <a:cubicBezTo>
                  <a:pt x="3091283" y="279944"/>
                  <a:pt x="3109315" y="284055"/>
                  <a:pt x="3104192" y="291013"/>
                </a:cubicBezTo>
                <a:cubicBezTo>
                  <a:pt x="3089849" y="287059"/>
                  <a:pt x="3097636" y="275043"/>
                  <a:pt x="3088619" y="265082"/>
                </a:cubicBezTo>
                <a:cubicBezTo>
                  <a:pt x="3102758" y="266030"/>
                  <a:pt x="3088619" y="257017"/>
                  <a:pt x="3096405" y="255120"/>
                </a:cubicBezTo>
                <a:close/>
                <a:moveTo>
                  <a:pt x="3077559" y="248881"/>
                </a:moveTo>
                <a:cubicBezTo>
                  <a:pt x="3081224" y="252789"/>
                  <a:pt x="3083873" y="261699"/>
                  <a:pt x="3078780" y="264670"/>
                </a:cubicBezTo>
                <a:cubicBezTo>
                  <a:pt x="3076133" y="261699"/>
                  <a:pt x="3072263" y="252789"/>
                  <a:pt x="3077559" y="248881"/>
                </a:cubicBezTo>
                <a:close/>
                <a:moveTo>
                  <a:pt x="2713041" y="243191"/>
                </a:moveTo>
                <a:cubicBezTo>
                  <a:pt x="2714229" y="244437"/>
                  <a:pt x="2713021" y="249419"/>
                  <a:pt x="2710996" y="249419"/>
                </a:cubicBezTo>
                <a:cubicBezTo>
                  <a:pt x="2700611" y="248331"/>
                  <a:pt x="2713696" y="247398"/>
                  <a:pt x="2710996" y="243514"/>
                </a:cubicBezTo>
                <a:cubicBezTo>
                  <a:pt x="2711982" y="242776"/>
                  <a:pt x="2712645" y="242776"/>
                  <a:pt x="2713041" y="243191"/>
                </a:cubicBezTo>
                <a:close/>
                <a:moveTo>
                  <a:pt x="2732700" y="241949"/>
                </a:moveTo>
                <a:cubicBezTo>
                  <a:pt x="2736476" y="243032"/>
                  <a:pt x="2733892" y="245974"/>
                  <a:pt x="2737668" y="245974"/>
                </a:cubicBezTo>
                <a:cubicBezTo>
                  <a:pt x="2732700" y="246902"/>
                  <a:pt x="2736476" y="257738"/>
                  <a:pt x="2731506" y="255726"/>
                </a:cubicBezTo>
                <a:cubicBezTo>
                  <a:pt x="2732700" y="251856"/>
                  <a:pt x="2732700" y="246902"/>
                  <a:pt x="2732700" y="241949"/>
                </a:cubicBezTo>
                <a:close/>
                <a:moveTo>
                  <a:pt x="2745843" y="238440"/>
                </a:moveTo>
                <a:lnTo>
                  <a:pt x="2745843" y="247379"/>
                </a:lnTo>
                <a:cubicBezTo>
                  <a:pt x="2736958" y="249417"/>
                  <a:pt x="2736958" y="236402"/>
                  <a:pt x="2745843" y="238440"/>
                </a:cubicBezTo>
                <a:close/>
                <a:moveTo>
                  <a:pt x="3076277" y="234567"/>
                </a:moveTo>
                <a:cubicBezTo>
                  <a:pt x="3092047" y="233629"/>
                  <a:pt x="3081464" y="246448"/>
                  <a:pt x="3075032" y="249418"/>
                </a:cubicBezTo>
                <a:cubicBezTo>
                  <a:pt x="3065902" y="246448"/>
                  <a:pt x="3078975" y="240507"/>
                  <a:pt x="3076277" y="234567"/>
                </a:cubicBezTo>
                <a:close/>
                <a:moveTo>
                  <a:pt x="2705908" y="233880"/>
                </a:moveTo>
                <a:cubicBezTo>
                  <a:pt x="2712450" y="234014"/>
                  <a:pt x="2719668" y="235478"/>
                  <a:pt x="2720395" y="237403"/>
                </a:cubicBezTo>
                <a:cubicBezTo>
                  <a:pt x="2695471" y="238328"/>
                  <a:pt x="2695471" y="238328"/>
                  <a:pt x="2695471" y="238328"/>
                </a:cubicBezTo>
                <a:cubicBezTo>
                  <a:pt x="2693497" y="234939"/>
                  <a:pt x="2699365" y="233745"/>
                  <a:pt x="2705908" y="233880"/>
                </a:cubicBezTo>
                <a:close/>
                <a:moveTo>
                  <a:pt x="2673636" y="230163"/>
                </a:moveTo>
                <a:cubicBezTo>
                  <a:pt x="2684050" y="231137"/>
                  <a:pt x="2677517" y="236175"/>
                  <a:pt x="2676291" y="240399"/>
                </a:cubicBezTo>
                <a:cubicBezTo>
                  <a:pt x="2666082" y="239262"/>
                  <a:pt x="2676291" y="236175"/>
                  <a:pt x="2673636" y="230163"/>
                </a:cubicBezTo>
                <a:close/>
                <a:moveTo>
                  <a:pt x="2950741" y="229469"/>
                </a:moveTo>
                <a:cubicBezTo>
                  <a:pt x="2957555" y="238369"/>
                  <a:pt x="2954787" y="251173"/>
                  <a:pt x="2953510" y="263977"/>
                </a:cubicBezTo>
                <a:cubicBezTo>
                  <a:pt x="2944139" y="263977"/>
                  <a:pt x="2944139" y="263977"/>
                  <a:pt x="2944139" y="263977"/>
                </a:cubicBezTo>
                <a:cubicBezTo>
                  <a:pt x="2950741" y="253203"/>
                  <a:pt x="2945416" y="238369"/>
                  <a:pt x="2950741" y="229469"/>
                </a:cubicBezTo>
                <a:close/>
                <a:moveTo>
                  <a:pt x="2668700" y="223231"/>
                </a:moveTo>
                <a:cubicBezTo>
                  <a:pt x="2674045" y="227295"/>
                  <a:pt x="2669982" y="237143"/>
                  <a:pt x="2663354" y="239019"/>
                </a:cubicBezTo>
                <a:cubicBezTo>
                  <a:pt x="2664637" y="236049"/>
                  <a:pt x="2666134" y="229171"/>
                  <a:pt x="2668700" y="223231"/>
                </a:cubicBezTo>
                <a:close/>
                <a:moveTo>
                  <a:pt x="3134962" y="214217"/>
                </a:moveTo>
                <a:cubicBezTo>
                  <a:pt x="3137454" y="216256"/>
                  <a:pt x="3142648" y="216256"/>
                  <a:pt x="3148048" y="216256"/>
                </a:cubicBezTo>
                <a:cubicBezTo>
                  <a:pt x="3149294" y="222215"/>
                  <a:pt x="3142648" y="222215"/>
                  <a:pt x="3140154" y="227233"/>
                </a:cubicBezTo>
                <a:cubicBezTo>
                  <a:pt x="3134962" y="225194"/>
                  <a:pt x="3134962" y="220176"/>
                  <a:pt x="3134962" y="214217"/>
                </a:cubicBezTo>
                <a:close/>
                <a:moveTo>
                  <a:pt x="2709193" y="201045"/>
                </a:moveTo>
                <a:cubicBezTo>
                  <a:pt x="2710404" y="206900"/>
                  <a:pt x="2693846" y="207824"/>
                  <a:pt x="2688798" y="205051"/>
                </a:cubicBezTo>
                <a:cubicBezTo>
                  <a:pt x="2691423" y="202124"/>
                  <a:pt x="2704145" y="203049"/>
                  <a:pt x="2709193" y="201045"/>
                </a:cubicBezTo>
                <a:close/>
                <a:moveTo>
                  <a:pt x="3120222" y="200352"/>
                </a:moveTo>
                <a:cubicBezTo>
                  <a:pt x="3126683" y="205423"/>
                  <a:pt x="3132943" y="213346"/>
                  <a:pt x="3127895" y="220318"/>
                </a:cubicBezTo>
                <a:cubicBezTo>
                  <a:pt x="3115173" y="222378"/>
                  <a:pt x="3125270" y="206374"/>
                  <a:pt x="3111337" y="208276"/>
                </a:cubicBezTo>
                <a:cubicBezTo>
                  <a:pt x="3111337" y="206374"/>
                  <a:pt x="3115173" y="207324"/>
                  <a:pt x="3117596" y="206374"/>
                </a:cubicBezTo>
                <a:cubicBezTo>
                  <a:pt x="3121433" y="206374"/>
                  <a:pt x="3120222" y="202412"/>
                  <a:pt x="3120222" y="200352"/>
                </a:cubicBezTo>
                <a:close/>
                <a:moveTo>
                  <a:pt x="2813168" y="193420"/>
                </a:moveTo>
                <a:cubicBezTo>
                  <a:pt x="2814402" y="194348"/>
                  <a:pt x="2818311" y="194348"/>
                  <a:pt x="2822220" y="194348"/>
                </a:cubicBezTo>
                <a:cubicBezTo>
                  <a:pt x="2820985" y="199298"/>
                  <a:pt x="2824895" y="200226"/>
                  <a:pt x="2823455" y="205177"/>
                </a:cubicBezTo>
                <a:cubicBezTo>
                  <a:pt x="2818311" y="204094"/>
                  <a:pt x="2809259" y="207033"/>
                  <a:pt x="2814402" y="207961"/>
                </a:cubicBezTo>
                <a:cubicBezTo>
                  <a:pt x="2811728" y="210900"/>
                  <a:pt x="2803909" y="204094"/>
                  <a:pt x="2805349" y="211983"/>
                </a:cubicBezTo>
                <a:cubicBezTo>
                  <a:pt x="2797532" y="211983"/>
                  <a:pt x="2802675" y="205177"/>
                  <a:pt x="2792388" y="206105"/>
                </a:cubicBezTo>
                <a:cubicBezTo>
                  <a:pt x="2805349" y="202237"/>
                  <a:pt x="2807819" y="200226"/>
                  <a:pt x="2813168" y="193420"/>
                </a:cubicBezTo>
                <a:close/>
                <a:moveTo>
                  <a:pt x="2711970" y="181634"/>
                </a:moveTo>
                <a:cubicBezTo>
                  <a:pt x="2722215" y="181634"/>
                  <a:pt x="2713199" y="187488"/>
                  <a:pt x="2709306" y="188413"/>
                </a:cubicBezTo>
                <a:cubicBezTo>
                  <a:pt x="2701519" y="186564"/>
                  <a:pt x="2714428" y="185485"/>
                  <a:pt x="2711970" y="181634"/>
                </a:cubicBezTo>
                <a:close/>
                <a:moveTo>
                  <a:pt x="2813417" y="169848"/>
                </a:moveTo>
                <a:cubicBezTo>
                  <a:pt x="2818535" y="172864"/>
                  <a:pt x="2818535" y="175879"/>
                  <a:pt x="2815874" y="180957"/>
                </a:cubicBezTo>
                <a:cubicBezTo>
                  <a:pt x="2804201" y="182862"/>
                  <a:pt x="2810754" y="171912"/>
                  <a:pt x="2813417" y="169848"/>
                </a:cubicBezTo>
                <a:close/>
                <a:moveTo>
                  <a:pt x="3113759" y="150437"/>
                </a:moveTo>
                <a:cubicBezTo>
                  <a:pt x="3117596" y="151369"/>
                  <a:pt x="3120222" y="156342"/>
                  <a:pt x="3116385" y="159294"/>
                </a:cubicBezTo>
                <a:cubicBezTo>
                  <a:pt x="3111337" y="158362"/>
                  <a:pt x="3115173" y="152457"/>
                  <a:pt x="3113759" y="150437"/>
                </a:cubicBezTo>
                <a:close/>
                <a:moveTo>
                  <a:pt x="2682230" y="142118"/>
                </a:moveTo>
                <a:cubicBezTo>
                  <a:pt x="2682230" y="146343"/>
                  <a:pt x="2677029" y="148293"/>
                  <a:pt x="2679733" y="152354"/>
                </a:cubicBezTo>
                <a:cubicBezTo>
                  <a:pt x="2670372" y="147317"/>
                  <a:pt x="2665172" y="147317"/>
                  <a:pt x="2682230" y="142118"/>
                </a:cubicBezTo>
                <a:close/>
                <a:moveTo>
                  <a:pt x="3144497" y="125740"/>
                </a:moveTo>
                <a:cubicBezTo>
                  <a:pt x="3145726" y="128758"/>
                  <a:pt x="3141835" y="129711"/>
                  <a:pt x="3141835" y="132730"/>
                </a:cubicBezTo>
                <a:cubicBezTo>
                  <a:pt x="3146954" y="131777"/>
                  <a:pt x="3146954" y="133842"/>
                  <a:pt x="3148387" y="135749"/>
                </a:cubicBezTo>
                <a:cubicBezTo>
                  <a:pt x="3137944" y="139879"/>
                  <a:pt x="3134053" y="124786"/>
                  <a:pt x="3144497" y="125740"/>
                </a:cubicBezTo>
                <a:close/>
                <a:moveTo>
                  <a:pt x="2725204" y="124093"/>
                </a:moveTo>
                <a:cubicBezTo>
                  <a:pt x="2734031" y="127072"/>
                  <a:pt x="2726408" y="134129"/>
                  <a:pt x="2724000" y="137108"/>
                </a:cubicBezTo>
                <a:cubicBezTo>
                  <a:pt x="2718785" y="135070"/>
                  <a:pt x="2727813" y="129111"/>
                  <a:pt x="2725204" y="124093"/>
                </a:cubicBezTo>
                <a:close/>
                <a:moveTo>
                  <a:pt x="3062268" y="122013"/>
                </a:moveTo>
                <a:cubicBezTo>
                  <a:pt x="3070236" y="122013"/>
                  <a:pt x="3068768" y="127933"/>
                  <a:pt x="3068768" y="133853"/>
                </a:cubicBezTo>
                <a:cubicBezTo>
                  <a:pt x="3056816" y="135723"/>
                  <a:pt x="3058283" y="125908"/>
                  <a:pt x="3062268" y="122013"/>
                </a:cubicBezTo>
                <a:close/>
                <a:moveTo>
                  <a:pt x="3062481" y="99829"/>
                </a:moveTo>
                <a:cubicBezTo>
                  <a:pt x="3079327" y="102799"/>
                  <a:pt x="3062481" y="109677"/>
                  <a:pt x="3068850" y="115617"/>
                </a:cubicBezTo>
                <a:cubicBezTo>
                  <a:pt x="3059810" y="115617"/>
                  <a:pt x="3059810" y="115617"/>
                  <a:pt x="3059810" y="115617"/>
                </a:cubicBezTo>
                <a:cubicBezTo>
                  <a:pt x="3061042" y="111709"/>
                  <a:pt x="3055907" y="101704"/>
                  <a:pt x="3062481" y="99829"/>
                </a:cubicBezTo>
                <a:close/>
                <a:moveTo>
                  <a:pt x="3103654" y="98931"/>
                </a:moveTo>
                <a:cubicBezTo>
                  <a:pt x="3109873" y="97056"/>
                  <a:pt x="3108669" y="106904"/>
                  <a:pt x="3112481" y="102996"/>
                </a:cubicBezTo>
                <a:cubicBezTo>
                  <a:pt x="3117497" y="102996"/>
                  <a:pt x="3113685" y="109874"/>
                  <a:pt x="3115090" y="112844"/>
                </a:cubicBezTo>
                <a:cubicBezTo>
                  <a:pt x="3111278" y="110812"/>
                  <a:pt x="3111278" y="106904"/>
                  <a:pt x="3103654" y="106904"/>
                </a:cubicBezTo>
                <a:cubicBezTo>
                  <a:pt x="3108669" y="103933"/>
                  <a:pt x="3102250" y="102996"/>
                  <a:pt x="3103654" y="98931"/>
                </a:cubicBezTo>
                <a:close/>
                <a:moveTo>
                  <a:pt x="2736880" y="96362"/>
                </a:moveTo>
                <a:cubicBezTo>
                  <a:pt x="2741971" y="99341"/>
                  <a:pt x="2745842" y="105301"/>
                  <a:pt x="2740749" y="109378"/>
                </a:cubicBezTo>
                <a:cubicBezTo>
                  <a:pt x="2734232" y="108280"/>
                  <a:pt x="2740749" y="102321"/>
                  <a:pt x="2736880" y="96362"/>
                </a:cubicBezTo>
                <a:close/>
                <a:moveTo>
                  <a:pt x="3131125" y="94283"/>
                </a:moveTo>
                <a:cubicBezTo>
                  <a:pt x="3128501" y="104134"/>
                  <a:pt x="3128501" y="118052"/>
                  <a:pt x="3129713" y="135722"/>
                </a:cubicBezTo>
                <a:cubicBezTo>
                  <a:pt x="3127289" y="134784"/>
                  <a:pt x="3113154" y="98192"/>
                  <a:pt x="3131125" y="94283"/>
                </a:cubicBezTo>
                <a:close/>
                <a:moveTo>
                  <a:pt x="2542424" y="92020"/>
                </a:moveTo>
                <a:cubicBezTo>
                  <a:pt x="2552766" y="90123"/>
                  <a:pt x="2547697" y="98028"/>
                  <a:pt x="2560471" y="94076"/>
                </a:cubicBezTo>
                <a:cubicBezTo>
                  <a:pt x="2557835" y="97079"/>
                  <a:pt x="2552766" y="98977"/>
                  <a:pt x="2546277" y="98977"/>
                </a:cubicBezTo>
                <a:cubicBezTo>
                  <a:pt x="2542424" y="97079"/>
                  <a:pt x="2536139" y="95973"/>
                  <a:pt x="2542424" y="92020"/>
                </a:cubicBezTo>
                <a:close/>
                <a:moveTo>
                  <a:pt x="3359003" y="91020"/>
                </a:moveTo>
                <a:cubicBezTo>
                  <a:pt x="3361427" y="88043"/>
                  <a:pt x="3366475" y="109824"/>
                  <a:pt x="3357590" y="110764"/>
                </a:cubicBezTo>
                <a:cubicBezTo>
                  <a:pt x="3359003" y="105906"/>
                  <a:pt x="3359003" y="99952"/>
                  <a:pt x="3359003" y="91020"/>
                </a:cubicBezTo>
                <a:close/>
                <a:moveTo>
                  <a:pt x="2737867" y="90549"/>
                </a:moveTo>
                <a:cubicBezTo>
                  <a:pt x="2745835" y="89429"/>
                  <a:pt x="2744577" y="93429"/>
                  <a:pt x="2745835" y="97589"/>
                </a:cubicBezTo>
                <a:cubicBezTo>
                  <a:pt x="2741851" y="95509"/>
                  <a:pt x="2739335" y="93429"/>
                  <a:pt x="2737867" y="90549"/>
                </a:cubicBezTo>
                <a:close/>
                <a:moveTo>
                  <a:pt x="2726586" y="89998"/>
                </a:moveTo>
                <a:cubicBezTo>
                  <a:pt x="2727504" y="91264"/>
                  <a:pt x="2727426" y="96414"/>
                  <a:pt x="2730390" y="97239"/>
                </a:cubicBezTo>
                <a:cubicBezTo>
                  <a:pt x="2722485" y="97239"/>
                  <a:pt x="2722485" y="97239"/>
                  <a:pt x="2722485" y="97239"/>
                </a:cubicBezTo>
                <a:cubicBezTo>
                  <a:pt x="2721237" y="105087"/>
                  <a:pt x="2730390" y="105087"/>
                  <a:pt x="2729141" y="112150"/>
                </a:cubicBezTo>
                <a:cubicBezTo>
                  <a:pt x="2713333" y="109168"/>
                  <a:pt x="2721237" y="97239"/>
                  <a:pt x="2725190" y="90332"/>
                </a:cubicBezTo>
                <a:cubicBezTo>
                  <a:pt x="2725865" y="89587"/>
                  <a:pt x="2726281" y="89577"/>
                  <a:pt x="2726586" y="89998"/>
                </a:cubicBezTo>
                <a:close/>
                <a:moveTo>
                  <a:pt x="2644981" y="88043"/>
                </a:moveTo>
                <a:cubicBezTo>
                  <a:pt x="2643576" y="91083"/>
                  <a:pt x="2637357" y="93002"/>
                  <a:pt x="2630938" y="94122"/>
                </a:cubicBezTo>
                <a:cubicBezTo>
                  <a:pt x="2629733" y="90123"/>
                  <a:pt x="2637357" y="89003"/>
                  <a:pt x="2644981" y="88043"/>
                </a:cubicBezTo>
                <a:close/>
                <a:moveTo>
                  <a:pt x="2735569" y="81537"/>
                </a:moveTo>
                <a:cubicBezTo>
                  <a:pt x="2742197" y="80417"/>
                  <a:pt x="2739631" y="86496"/>
                  <a:pt x="2740914" y="89536"/>
                </a:cubicBezTo>
                <a:cubicBezTo>
                  <a:pt x="2731506" y="90656"/>
                  <a:pt x="2735569" y="83457"/>
                  <a:pt x="2735569" y="81537"/>
                </a:cubicBezTo>
                <a:close/>
                <a:moveTo>
                  <a:pt x="3167656" y="78337"/>
                </a:moveTo>
                <a:cubicBezTo>
                  <a:pt x="3184732" y="78337"/>
                  <a:pt x="3168906" y="83256"/>
                  <a:pt x="3171613" y="90398"/>
                </a:cubicBezTo>
                <a:cubicBezTo>
                  <a:pt x="3164948" y="91350"/>
                  <a:pt x="3170155" y="82305"/>
                  <a:pt x="3167656" y="78337"/>
                </a:cubicBezTo>
                <a:close/>
                <a:moveTo>
                  <a:pt x="2681327" y="70197"/>
                </a:moveTo>
                <a:cubicBezTo>
                  <a:pt x="2680115" y="76102"/>
                  <a:pt x="2667394" y="73150"/>
                  <a:pt x="2659720" y="73150"/>
                </a:cubicBezTo>
                <a:cubicBezTo>
                  <a:pt x="2664768" y="67245"/>
                  <a:pt x="2673653" y="73150"/>
                  <a:pt x="2681327" y="70197"/>
                </a:cubicBezTo>
                <a:close/>
                <a:moveTo>
                  <a:pt x="3082029" y="68632"/>
                </a:moveTo>
                <a:cubicBezTo>
                  <a:pt x="3095341" y="72529"/>
                  <a:pt x="3091389" y="90302"/>
                  <a:pt x="3096590" y="101059"/>
                </a:cubicBezTo>
                <a:cubicBezTo>
                  <a:pt x="3079533" y="100124"/>
                  <a:pt x="3089933" y="77362"/>
                  <a:pt x="3082029" y="68632"/>
                </a:cubicBezTo>
                <a:close/>
                <a:moveTo>
                  <a:pt x="2717124" y="66552"/>
                </a:moveTo>
                <a:cubicBezTo>
                  <a:pt x="2722216" y="66552"/>
                  <a:pt x="2718346" y="72456"/>
                  <a:pt x="2720994" y="75408"/>
                </a:cubicBezTo>
                <a:cubicBezTo>
                  <a:pt x="2717124" y="72456"/>
                  <a:pt x="2710606" y="69504"/>
                  <a:pt x="2717124" y="66552"/>
                </a:cubicBezTo>
                <a:close/>
                <a:moveTo>
                  <a:pt x="2575213" y="54766"/>
                </a:moveTo>
                <a:cubicBezTo>
                  <a:pt x="2580419" y="56846"/>
                  <a:pt x="2594995" y="52687"/>
                  <a:pt x="2594995" y="58766"/>
                </a:cubicBezTo>
                <a:cubicBezTo>
                  <a:pt x="2587082" y="58766"/>
                  <a:pt x="2575213" y="60845"/>
                  <a:pt x="2575213" y="54766"/>
                </a:cubicBezTo>
                <a:close/>
                <a:moveTo>
                  <a:pt x="3109519" y="53380"/>
                </a:moveTo>
                <a:cubicBezTo>
                  <a:pt x="3116229" y="53380"/>
                  <a:pt x="3112245" y="59578"/>
                  <a:pt x="3120214" y="57457"/>
                </a:cubicBezTo>
                <a:cubicBezTo>
                  <a:pt x="3120214" y="58436"/>
                  <a:pt x="3118746" y="58436"/>
                  <a:pt x="3117487" y="58436"/>
                </a:cubicBezTo>
                <a:cubicBezTo>
                  <a:pt x="3117487" y="61535"/>
                  <a:pt x="3117487" y="61535"/>
                  <a:pt x="3117487" y="61535"/>
                </a:cubicBezTo>
                <a:cubicBezTo>
                  <a:pt x="3112245" y="60557"/>
                  <a:pt x="3110777" y="57457"/>
                  <a:pt x="3109519" y="53380"/>
                </a:cubicBezTo>
                <a:close/>
                <a:moveTo>
                  <a:pt x="3361990" y="46447"/>
                </a:moveTo>
                <a:cubicBezTo>
                  <a:pt x="3367371" y="50355"/>
                  <a:pt x="3364788" y="57234"/>
                  <a:pt x="3364788" y="62236"/>
                </a:cubicBezTo>
                <a:cubicBezTo>
                  <a:pt x="3359408" y="60203"/>
                  <a:pt x="3363282" y="51293"/>
                  <a:pt x="3361990" y="46447"/>
                </a:cubicBezTo>
                <a:close/>
                <a:moveTo>
                  <a:pt x="2543195" y="41595"/>
                </a:moveTo>
                <a:cubicBezTo>
                  <a:pt x="2537871" y="44613"/>
                  <a:pt x="2537871" y="50650"/>
                  <a:pt x="2539149" y="56687"/>
                </a:cubicBezTo>
                <a:cubicBezTo>
                  <a:pt x="2536593" y="56687"/>
                  <a:pt x="2533825" y="55575"/>
                  <a:pt x="2529779" y="56687"/>
                </a:cubicBezTo>
                <a:cubicBezTo>
                  <a:pt x="2535103" y="50650"/>
                  <a:pt x="2535103" y="49538"/>
                  <a:pt x="2531056" y="43659"/>
                </a:cubicBezTo>
                <a:cubicBezTo>
                  <a:pt x="2543195" y="41595"/>
                  <a:pt x="2543195" y="41595"/>
                  <a:pt x="2543195" y="41595"/>
                </a:cubicBezTo>
                <a:close/>
                <a:moveTo>
                  <a:pt x="3048133" y="18716"/>
                </a:moveTo>
                <a:cubicBezTo>
                  <a:pt x="3052086" y="18716"/>
                  <a:pt x="3052086" y="21471"/>
                  <a:pt x="3048133" y="22543"/>
                </a:cubicBezTo>
                <a:cubicBezTo>
                  <a:pt x="3049382" y="23461"/>
                  <a:pt x="3052086" y="25451"/>
                  <a:pt x="3054791" y="25451"/>
                </a:cubicBezTo>
                <a:cubicBezTo>
                  <a:pt x="3053334" y="28359"/>
                  <a:pt x="3048133" y="29277"/>
                  <a:pt x="3042933" y="30349"/>
                </a:cubicBezTo>
                <a:cubicBezTo>
                  <a:pt x="3037733" y="23461"/>
                  <a:pt x="3049382" y="23461"/>
                  <a:pt x="3048133" y="18716"/>
                </a:cubicBezTo>
                <a:close/>
                <a:moveTo>
                  <a:pt x="3120790" y="15943"/>
                </a:moveTo>
                <a:cubicBezTo>
                  <a:pt x="3122034" y="25952"/>
                  <a:pt x="3122034" y="25952"/>
                  <a:pt x="3122034" y="25952"/>
                </a:cubicBezTo>
                <a:cubicBezTo>
                  <a:pt x="3119547" y="24998"/>
                  <a:pt x="3116853" y="23887"/>
                  <a:pt x="3112915" y="24998"/>
                </a:cubicBezTo>
                <a:lnTo>
                  <a:pt x="3112915" y="31036"/>
                </a:lnTo>
                <a:cubicBezTo>
                  <a:pt x="3098615" y="31036"/>
                  <a:pt x="3114159" y="16897"/>
                  <a:pt x="3120790" y="15943"/>
                </a:cubicBezTo>
                <a:close/>
                <a:moveTo>
                  <a:pt x="3078274" y="14557"/>
                </a:moveTo>
                <a:cubicBezTo>
                  <a:pt x="3086033" y="22530"/>
                  <a:pt x="3086033" y="36290"/>
                  <a:pt x="3087501" y="51144"/>
                </a:cubicBezTo>
                <a:cubicBezTo>
                  <a:pt x="3079533" y="40355"/>
                  <a:pt x="3076807" y="30505"/>
                  <a:pt x="3078274" y="14557"/>
                </a:cubicBezTo>
                <a:close/>
                <a:moveTo>
                  <a:pt x="2865179" y="13863"/>
                </a:moveTo>
                <a:cubicBezTo>
                  <a:pt x="2866630" y="14817"/>
                  <a:pt x="2873054" y="13863"/>
                  <a:pt x="2873054" y="16882"/>
                </a:cubicBezTo>
                <a:cubicBezTo>
                  <a:pt x="2862692" y="17835"/>
                  <a:pt x="2854817" y="28956"/>
                  <a:pt x="2849635" y="21807"/>
                </a:cubicBezTo>
                <a:cubicBezTo>
                  <a:pt x="2852122" y="21807"/>
                  <a:pt x="2856060" y="21807"/>
                  <a:pt x="2859997" y="20854"/>
                </a:cubicBezTo>
                <a:cubicBezTo>
                  <a:pt x="2858755" y="15929"/>
                  <a:pt x="2858755" y="15929"/>
                  <a:pt x="2858755" y="15929"/>
                </a:cubicBezTo>
                <a:cubicBezTo>
                  <a:pt x="2861241" y="14817"/>
                  <a:pt x="2865179" y="14817"/>
                  <a:pt x="2865179" y="13863"/>
                </a:cubicBezTo>
                <a:close/>
                <a:moveTo>
                  <a:pt x="3128386" y="0"/>
                </a:moveTo>
                <a:lnTo>
                  <a:pt x="3128387" y="0"/>
                </a:lnTo>
                <a:lnTo>
                  <a:pt x="3135108" y="8191"/>
                </a:lnTo>
                <a:cubicBezTo>
                  <a:pt x="3137883" y="17745"/>
                  <a:pt x="3131589" y="30572"/>
                  <a:pt x="3141201" y="39358"/>
                </a:cubicBezTo>
                <a:cubicBezTo>
                  <a:pt x="3122892" y="34906"/>
                  <a:pt x="3129872" y="23866"/>
                  <a:pt x="3130731" y="11969"/>
                </a:cubicBezTo>
                <a:close/>
                <a:moveTo>
                  <a:pt x="2831463" y="0"/>
                </a:moveTo>
                <a:lnTo>
                  <a:pt x="2831464" y="0"/>
                </a:lnTo>
                <a:lnTo>
                  <a:pt x="2834070" y="1868"/>
                </a:lnTo>
                <a:cubicBezTo>
                  <a:pt x="2839085" y="1868"/>
                  <a:pt x="2846709" y="6853"/>
                  <a:pt x="2846709" y="13708"/>
                </a:cubicBezTo>
                <a:cubicBezTo>
                  <a:pt x="2844803" y="10748"/>
                  <a:pt x="2841342" y="9034"/>
                  <a:pt x="2838182" y="7203"/>
                </a:cubicBezTo>
                <a:close/>
              </a:path>
            </a:pathLst>
          </a:custGeom>
          <a:effectLst/>
        </p:spPr>
        <p:txBody>
          <a:bodyPr wrap="square">
            <a:noAutofit/>
          </a:bodyPr>
          <a:lstStyle>
            <a:lvl1pPr>
              <a:defRPr sz="1200">
                <a:latin typeface="Montserrat" panose="00000500000000000000" pitchFamily="2" charset="0"/>
                <a:ea typeface="微软雅黑 Light" panose="020B0502040204020203" pitchFamily="34" charset="-122"/>
              </a:defRPr>
            </a:lvl1pPr>
          </a:lstStyle>
          <a:p>
            <a:r>
              <a:rPr lang="zh-CN" altLang="en-US" dirty="0"/>
              <a:t>单击图标添加图片</a:t>
            </a:r>
          </a:p>
        </p:txBody>
      </p:sp>
      <p:sp>
        <p:nvSpPr>
          <p:cNvPr id="14" name="矩形 13">
            <a:extLst>
              <a:ext uri="{FF2B5EF4-FFF2-40B4-BE49-F238E27FC236}">
                <a16:creationId xmlns:a16="http://schemas.microsoft.com/office/drawing/2014/main" id="{F2E6D061-3C50-625E-34AD-4578B5746C8C}"/>
              </a:ext>
            </a:extLst>
          </p:cNvPr>
          <p:cNvSpPr/>
          <p:nvPr/>
        </p:nvSpPr>
        <p:spPr>
          <a:xfrm>
            <a:off x="0" y="0"/>
            <a:ext cx="9144000" cy="55396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15" name="矩形 14">
            <a:extLst>
              <a:ext uri="{FF2B5EF4-FFF2-40B4-BE49-F238E27FC236}">
                <a16:creationId xmlns:a16="http://schemas.microsoft.com/office/drawing/2014/main" id="{B1DAD71E-72FE-68A7-BD2B-934ED68DD17E}"/>
              </a:ext>
            </a:extLst>
          </p:cNvPr>
          <p:cNvSpPr/>
          <p:nvPr/>
        </p:nvSpPr>
        <p:spPr>
          <a:xfrm>
            <a:off x="0" y="4214811"/>
            <a:ext cx="9144000" cy="9286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9C712412-C6A1-B871-F1E9-8072E2314A54}"/>
              </a:ext>
            </a:extLst>
          </p:cNvPr>
          <p:cNvSpPr>
            <a:spLocks noGrp="1"/>
          </p:cNvSpPr>
          <p:nvPr>
            <p:ph type="title" hasCustomPrompt="1"/>
          </p:nvPr>
        </p:nvSpPr>
        <p:spPr>
          <a:xfrm>
            <a:off x="628650" y="1790739"/>
            <a:ext cx="4320000" cy="553998"/>
          </a:xfrm>
          <a:prstGeom prst="rect">
            <a:avLst/>
          </a:prstGeom>
        </p:spPr>
        <p:txBody>
          <a:bodyPr anchor="ctr" anchorCtr="0">
            <a:spAutoFit/>
          </a:bodyPr>
          <a:lstStyle>
            <a:lvl1pPr algn="r">
              <a:defRPr sz="3000" baseline="0">
                <a:latin typeface="Montserrat" panose="00000500000000000000" pitchFamily="2" charset="0"/>
                <a:ea typeface="微软雅黑 Light" panose="020B0502040204020203" pitchFamily="34" charset="-122"/>
              </a:defRPr>
            </a:lvl1pPr>
          </a:lstStyle>
          <a:p>
            <a:r>
              <a:rPr lang="zh-CN" altLang="en-US" dirty="0"/>
              <a:t>标题样式</a:t>
            </a:r>
          </a:p>
        </p:txBody>
      </p:sp>
      <p:cxnSp>
        <p:nvCxnSpPr>
          <p:cNvPr id="3" name="Straight Connector 3">
            <a:extLst>
              <a:ext uri="{FF2B5EF4-FFF2-40B4-BE49-F238E27FC236}">
                <a16:creationId xmlns:a16="http://schemas.microsoft.com/office/drawing/2014/main" id="{8309D080-14F8-957D-599A-AE39EF5DCF55}"/>
              </a:ext>
            </a:extLst>
          </p:cNvPr>
          <p:cNvCxnSpPr>
            <a:cxnSpLocks/>
          </p:cNvCxnSpPr>
          <p:nvPr/>
        </p:nvCxnSpPr>
        <p:spPr>
          <a:xfrm>
            <a:off x="628650" y="2344737"/>
            <a:ext cx="4320000" cy="0"/>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文本占位符 6">
            <a:extLst>
              <a:ext uri="{FF2B5EF4-FFF2-40B4-BE49-F238E27FC236}">
                <a16:creationId xmlns:a16="http://schemas.microsoft.com/office/drawing/2014/main" id="{99F74197-8563-ADB2-A999-B2916EFB8942}"/>
              </a:ext>
            </a:extLst>
          </p:cNvPr>
          <p:cNvSpPr>
            <a:spLocks noGrp="1"/>
          </p:cNvSpPr>
          <p:nvPr>
            <p:ph type="body" sz="quarter" idx="11" hasCustomPrompt="1"/>
          </p:nvPr>
        </p:nvSpPr>
        <p:spPr>
          <a:xfrm>
            <a:off x="628100" y="2344736"/>
            <a:ext cx="4320000" cy="1870075"/>
          </a:xfrm>
          <a:prstGeom prst="rect">
            <a:avLst/>
          </a:prstGeom>
        </p:spPr>
        <p:txBody>
          <a:bodyPr>
            <a:noAutofit/>
          </a:bodyPr>
          <a:lstStyle>
            <a:lvl1pPr marL="0" indent="0" algn="r">
              <a:spcBef>
                <a:spcPts val="600"/>
              </a:spcBef>
              <a:buNone/>
              <a:defRPr sz="1800" baseline="0">
                <a:latin typeface="Montserrat" panose="00000500000000000000" pitchFamily="2" charset="0"/>
                <a:ea typeface="微软雅黑 Light" panose="020B0502040204020203" pitchFamily="34" charset="-122"/>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文本样式</a:t>
            </a:r>
          </a:p>
        </p:txBody>
      </p:sp>
    </p:spTree>
    <p:extLst>
      <p:ext uri="{BB962C8B-B14F-4D97-AF65-F5344CB8AC3E}">
        <p14:creationId xmlns:p14="http://schemas.microsoft.com/office/powerpoint/2010/main" val="4846313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6BD9C9-DE8C-DF63-4762-F835063A4B64}"/>
              </a:ext>
            </a:extLst>
          </p:cNvPr>
          <p:cNvSpPr>
            <a:spLocks noGrp="1"/>
          </p:cNvSpPr>
          <p:nvPr>
            <p:ph type="title"/>
          </p:nvPr>
        </p:nvSpPr>
        <p:spPr>
          <a:xfrm>
            <a:off x="2880000" y="144000"/>
            <a:ext cx="3384000" cy="338554"/>
          </a:xfrm>
          <a:prstGeom prst="rect">
            <a:avLst/>
          </a:prstGeom>
          <a:noFill/>
        </p:spPr>
        <p:txBody>
          <a:bodyPr wrap="square" anchor="ctr">
            <a:spAutoFit/>
          </a:bodyPr>
          <a:lstStyle>
            <a:lvl1pPr>
              <a:defRPr lang="zh-CN" altLang="en-US" sz="1600" b="0" baseline="0">
                <a:solidFill>
                  <a:sysClr val="windowText" lastClr="000000"/>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dirty="0"/>
              <a:t>单击此处编辑母版标题样式</a:t>
            </a:r>
          </a:p>
        </p:txBody>
      </p:sp>
    </p:spTree>
    <p:extLst>
      <p:ext uri="{BB962C8B-B14F-4D97-AF65-F5344CB8AC3E}">
        <p14:creationId xmlns:p14="http://schemas.microsoft.com/office/powerpoint/2010/main" val="29279333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内容">
    <p:spTree>
      <p:nvGrpSpPr>
        <p:cNvPr id="1" name=""/>
        <p:cNvGrpSpPr/>
        <p:nvPr/>
      </p:nvGrpSpPr>
      <p:grpSpPr>
        <a:xfrm>
          <a:off x="0" y="0"/>
          <a:ext cx="0" cy="0"/>
          <a:chOff x="0" y="0"/>
          <a:chExt cx="0" cy="0"/>
        </a:xfrm>
      </p:grpSpPr>
      <p:pic>
        <p:nvPicPr>
          <p:cNvPr id="2" name="Image 0" descr="preencoded.png">
            <a:extLst>
              <a:ext uri="{FF2B5EF4-FFF2-40B4-BE49-F238E27FC236}">
                <a16:creationId xmlns:a16="http://schemas.microsoft.com/office/drawing/2014/main" id="{3D20F7AF-D416-6753-77AA-BC4100F21462}"/>
              </a:ext>
            </a:extLst>
          </p:cNvPr>
          <p:cNvPicPr>
            <a:picLocks noChangeAspect="1"/>
          </p:cNvPicPr>
          <p:nvPr userDrawn="1"/>
        </p:nvPicPr>
        <p:blipFill>
          <a:blip r:embed="rId2"/>
          <a:srcRect l="12200" t="45581" r="23" b="41053"/>
          <a:stretch>
            <a:fillRect/>
          </a:stretch>
        </p:blipFill>
        <p:spPr>
          <a:xfrm>
            <a:off x="0" y="0"/>
            <a:ext cx="9144000" cy="687519"/>
          </a:xfrm>
          <a:prstGeom prst="rect">
            <a:avLst/>
          </a:prstGeom>
        </p:spPr>
      </p:pic>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485999" y="174482"/>
            <a:ext cx="8171999" cy="338554"/>
          </a:xfrm>
          <a:prstGeom prst="rect">
            <a:avLst/>
          </a:prstGeom>
          <a:noFill/>
        </p:spPr>
        <p:txBody>
          <a:bodyPr wrap="square" anchor="ctr">
            <a:spAutoFit/>
          </a:bodyPr>
          <a:lstStyle>
            <a:lvl1pPr algn="l">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dirty="0"/>
              <a:t>单击此处编辑母版标题样式</a:t>
            </a:r>
          </a:p>
        </p:txBody>
      </p:sp>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6000" y="687518"/>
            <a:ext cx="8172000" cy="4079035"/>
          </a:xfrm>
          <a:prstGeom prst="rect">
            <a:avLst/>
          </a:prstGeom>
        </p:spPr>
        <p:txBody>
          <a:bodyPr lIns="0" tIns="36000" rIns="0" bIns="36000">
            <a:noAutofit/>
          </a:bodyPr>
          <a:lstStyle>
            <a:lvl1pPr marL="180000" indent="-180000" algn="l" latinLnBrk="0">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Light" panose="020B0502040204020203" pitchFamily="34" charset="-122"/>
              </a:defRPr>
            </a:lvl1pPr>
            <a:lvl2pPr marL="360000" indent="-180000" algn="l" latinLnBrk="0">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Light" panose="020B0502040204020203" pitchFamily="34" charset="-122"/>
              </a:defRPr>
            </a:lvl2pPr>
            <a:lvl3pPr marL="540000" indent="-180000" algn="l" latinLnBrk="0">
              <a:spcBef>
                <a:spcPts val="0"/>
              </a:spcBef>
              <a:spcAft>
                <a:spcPts val="600"/>
              </a:spcAft>
              <a:buFont typeface="微软雅黑 Light" panose="020B0502040204020203" pitchFamily="34" charset="-122"/>
              <a:buChar char="‐"/>
              <a:defRPr sz="1200">
                <a:latin typeface="微软雅黑 Light" panose="020B0502040204020203" pitchFamily="34" charset="-122"/>
                <a:ea typeface="微软雅黑 Light" panose="020B0502040204020203" pitchFamily="34" charset="-122"/>
              </a:defRPr>
            </a:lvl3pPr>
          </a:lstStyle>
          <a:p>
            <a:pPr lvl="0"/>
            <a:r>
              <a:rPr lang="zh-CN" altLang="en-US" dirty="0"/>
              <a:t>单击此处编辑母版文本样式</a:t>
            </a:r>
          </a:p>
          <a:p>
            <a:pPr lvl="1"/>
            <a:r>
              <a:rPr lang="zh-CN" altLang="en-US" dirty="0"/>
              <a:t>二级</a:t>
            </a:r>
            <a:endParaRPr lang="en-US" altLang="zh-CN" dirty="0"/>
          </a:p>
          <a:p>
            <a:pPr lvl="2"/>
            <a:r>
              <a:rPr lang="zh-CN" altLang="en-US" dirty="0"/>
              <a:t>三级</a:t>
            </a:r>
          </a:p>
        </p:txBody>
      </p:sp>
    </p:spTree>
    <p:extLst>
      <p:ext uri="{BB962C8B-B14F-4D97-AF65-F5344CB8AC3E}">
        <p14:creationId xmlns:p14="http://schemas.microsoft.com/office/powerpoint/2010/main" val="11498460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lumn">
    <p:spTree>
      <p:nvGrpSpPr>
        <p:cNvPr id="1" name=""/>
        <p:cNvGrpSpPr/>
        <p:nvPr/>
      </p:nvGrpSpPr>
      <p:grpSpPr>
        <a:xfrm>
          <a:off x="0" y="0"/>
          <a:ext cx="0" cy="0"/>
          <a:chOff x="0" y="0"/>
          <a:chExt cx="0" cy="0"/>
        </a:xfrm>
      </p:grpSpPr>
      <p:pic>
        <p:nvPicPr>
          <p:cNvPr id="2" name="Image 0" descr="preencoded.png">
            <a:extLst>
              <a:ext uri="{FF2B5EF4-FFF2-40B4-BE49-F238E27FC236}">
                <a16:creationId xmlns:a16="http://schemas.microsoft.com/office/drawing/2014/main" id="{7B742978-528E-782D-827F-83F837E9A22F}"/>
              </a:ext>
            </a:extLst>
          </p:cNvPr>
          <p:cNvPicPr>
            <a:picLocks noChangeAspect="1"/>
          </p:cNvPicPr>
          <p:nvPr userDrawn="1"/>
        </p:nvPicPr>
        <p:blipFill>
          <a:blip r:embed="rId2"/>
          <a:srcRect l="12200" t="45581" r="23" b="41053"/>
          <a:stretch>
            <a:fillRect/>
          </a:stretch>
        </p:blipFill>
        <p:spPr>
          <a:xfrm>
            <a:off x="0" y="0"/>
            <a:ext cx="9144000" cy="687519"/>
          </a:xfrm>
          <a:prstGeom prst="rect">
            <a:avLst/>
          </a:prstGeom>
        </p:spPr>
      </p:pic>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485999" y="174482"/>
            <a:ext cx="8172000" cy="338554"/>
          </a:xfrm>
          <a:prstGeom prst="rect">
            <a:avLst/>
          </a:prstGeom>
          <a:noFill/>
        </p:spPr>
        <p:txBody>
          <a:bodyPr wrap="square" anchor="ctr">
            <a:spAutoFit/>
          </a:bodyPr>
          <a:lstStyle>
            <a:lvl1pPr algn="l">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dirty="0"/>
              <a:t>单击此处编辑母版标题样式</a:t>
            </a:r>
          </a:p>
        </p:txBody>
      </p:sp>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5999" y="687518"/>
            <a:ext cx="4086001" cy="4079035"/>
          </a:xfrm>
          <a:prstGeom prst="rect">
            <a:avLst/>
          </a:prstGeom>
        </p:spPr>
        <p:txBody>
          <a:bodyPr lIns="0" tIns="36000" rIns="0" bIns="36000">
            <a:noAutofit/>
          </a:bodyPr>
          <a:lstStyle>
            <a:lvl1pPr marL="180000" indent="-180000" algn="l" latinLnBrk="0">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Light" panose="020B0502040204020203" pitchFamily="34" charset="-122"/>
              </a:defRPr>
            </a:lvl1pPr>
            <a:lvl2pPr marL="360000" indent="-180000" algn="l" latinLnBrk="0">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Light" panose="020B0502040204020203" pitchFamily="34" charset="-122"/>
              </a:defRPr>
            </a:lvl2pPr>
          </a:lstStyle>
          <a:p>
            <a:pPr lvl="0"/>
            <a:r>
              <a:rPr lang="zh-CN" altLang="en-US" dirty="0"/>
              <a:t>单击此处编辑母版文本样式</a:t>
            </a:r>
          </a:p>
          <a:p>
            <a:pPr lvl="1"/>
            <a:r>
              <a:rPr lang="zh-CN" altLang="en-US" dirty="0"/>
              <a:t>二级</a:t>
            </a:r>
          </a:p>
        </p:txBody>
      </p:sp>
    </p:spTree>
    <p:extLst>
      <p:ext uri="{BB962C8B-B14F-4D97-AF65-F5344CB8AC3E}">
        <p14:creationId xmlns:p14="http://schemas.microsoft.com/office/powerpoint/2010/main" val="15649987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lank">
    <p:spTree>
      <p:nvGrpSpPr>
        <p:cNvPr id="1" name=""/>
        <p:cNvGrpSpPr/>
        <p:nvPr/>
      </p:nvGrpSpPr>
      <p:grpSpPr>
        <a:xfrm>
          <a:off x="0" y="0"/>
          <a:ext cx="0" cy="0"/>
          <a:chOff x="0" y="0"/>
          <a:chExt cx="0" cy="0"/>
        </a:xfrm>
      </p:grpSpPr>
      <p:sp>
        <p:nvSpPr>
          <p:cNvPr id="2" name="矩形 1">
            <a:extLst>
              <a:ext uri="{FF2B5EF4-FFF2-40B4-BE49-F238E27FC236}">
                <a16:creationId xmlns:a16="http://schemas.microsoft.com/office/drawing/2014/main" id="{7815FF5A-3BBE-0104-02EB-932669D7C010}"/>
              </a:ext>
            </a:extLst>
          </p:cNvPr>
          <p:cNvSpPr/>
          <p:nvPr userDrawn="1"/>
        </p:nvSpPr>
        <p:spPr>
          <a:xfrm>
            <a:off x="0" y="0"/>
            <a:ext cx="9144000" cy="360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Tree>
    <p:extLst>
      <p:ext uri="{BB962C8B-B14F-4D97-AF65-F5344CB8AC3E}">
        <p14:creationId xmlns:p14="http://schemas.microsoft.com/office/powerpoint/2010/main" val="41739011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hap">
    <p:spTree>
      <p:nvGrpSpPr>
        <p:cNvPr id="1" name=""/>
        <p:cNvGrpSpPr/>
        <p:nvPr/>
      </p:nvGrpSpPr>
      <p:grpSpPr>
        <a:xfrm>
          <a:off x="0" y="0"/>
          <a:ext cx="0" cy="0"/>
          <a:chOff x="0" y="0"/>
          <a:chExt cx="0" cy="0"/>
        </a:xfrm>
      </p:grpSpPr>
      <p:pic>
        <p:nvPicPr>
          <p:cNvPr id="11" name="Image 0" descr="preencoded.png">
            <a:extLst>
              <a:ext uri="{FF2B5EF4-FFF2-40B4-BE49-F238E27FC236}">
                <a16:creationId xmlns:a16="http://schemas.microsoft.com/office/drawing/2014/main" id="{C5BC5886-090A-595C-5BC0-CE709328EB70}"/>
              </a:ext>
            </a:extLst>
          </p:cNvPr>
          <p:cNvPicPr>
            <a:picLocks noChangeAspect="1"/>
          </p:cNvPicPr>
          <p:nvPr userDrawn="1"/>
        </p:nvPicPr>
        <p:blipFill>
          <a:blip r:embed="rId2"/>
          <a:srcRect l="12199" r="57112"/>
          <a:stretch>
            <a:fillRect/>
          </a:stretch>
        </p:blipFill>
        <p:spPr>
          <a:xfrm>
            <a:off x="0" y="0"/>
            <a:ext cx="3196962" cy="5143500"/>
          </a:xfrm>
          <a:prstGeom prst="rect">
            <a:avLst/>
          </a:prstGeom>
        </p:spPr>
      </p:pic>
      <p:sp>
        <p:nvSpPr>
          <p:cNvPr id="8" name="Rectangle 29"/>
          <p:cNvSpPr>
            <a:spLocks noChangeArrowheads="1"/>
          </p:cNvSpPr>
          <p:nvPr userDrawn="1"/>
        </p:nvSpPr>
        <p:spPr bwMode="auto">
          <a:xfrm>
            <a:off x="307030" y="3834256"/>
            <a:ext cx="2506071"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zh-CN" altLang="en-US" sz="2000" dirty="0">
                <a:solidFill>
                  <a:schemeClr val="bg1"/>
                </a:solidFill>
                <a:latin typeface="微软雅黑" panose="020B0503020204020204" pitchFamily="34" charset="-122"/>
                <a:ea typeface="微软雅黑" panose="020B0503020204020204" pitchFamily="34" charset="-122"/>
              </a:rPr>
              <a:t>内容</a:t>
            </a:r>
            <a:endParaRPr lang="zh-CN" altLang="fr-FR" sz="2000" dirty="0">
              <a:solidFill>
                <a:schemeClr val="bg1"/>
              </a:solidFill>
              <a:latin typeface="微软雅黑" panose="020B0503020204020204" pitchFamily="34" charset="-122"/>
              <a:ea typeface="微软雅黑" panose="020B0503020204020204" pitchFamily="34" charset="-122"/>
            </a:endParaRPr>
          </a:p>
        </p:txBody>
      </p:sp>
      <p:sp>
        <p:nvSpPr>
          <p:cNvPr id="12" name="矩形 11">
            <a:extLst>
              <a:ext uri="{FF2B5EF4-FFF2-40B4-BE49-F238E27FC236}">
                <a16:creationId xmlns:a16="http://schemas.microsoft.com/office/drawing/2014/main" id="{EDD98491-C368-538E-0C02-B0F3BCB7B3F7}"/>
              </a:ext>
            </a:extLst>
          </p:cNvPr>
          <p:cNvSpPr/>
          <p:nvPr userDrawn="1"/>
        </p:nvSpPr>
        <p:spPr>
          <a:xfrm>
            <a:off x="396405" y="4194740"/>
            <a:ext cx="1476000" cy="36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Rectangle 29">
            <a:extLst>
              <a:ext uri="{FF2B5EF4-FFF2-40B4-BE49-F238E27FC236}">
                <a16:creationId xmlns:a16="http://schemas.microsoft.com/office/drawing/2014/main" id="{B226C647-0C77-68BF-CEFD-E102BDCEA971}"/>
              </a:ext>
            </a:extLst>
          </p:cNvPr>
          <p:cNvSpPr>
            <a:spLocks noChangeArrowheads="1"/>
          </p:cNvSpPr>
          <p:nvPr userDrawn="1"/>
        </p:nvSpPr>
        <p:spPr bwMode="auto">
          <a:xfrm>
            <a:off x="313905" y="4213365"/>
            <a:ext cx="2506071" cy="33855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1600" dirty="0">
                <a:solidFill>
                  <a:schemeClr val="bg1"/>
                </a:solidFill>
                <a:latin typeface="Montserrat" panose="00000500000000000000" pitchFamily="2" charset="0"/>
                <a:ea typeface="微软雅黑 Light" panose="020B0502040204020203" pitchFamily="34" charset="-122"/>
              </a:rPr>
              <a:t>Contents</a:t>
            </a:r>
            <a:endParaRPr lang="zh-CN" altLang="fr-FR" sz="1600" dirty="0">
              <a:solidFill>
                <a:schemeClr val="bg1"/>
              </a:solidFill>
              <a:latin typeface="Montserrat" panose="00000500000000000000" pitchFamily="2" charset="0"/>
              <a:ea typeface="微软雅黑 Light" panose="020B0502040204020203" pitchFamily="34" charset="-122"/>
            </a:endParaRPr>
          </a:p>
        </p:txBody>
      </p:sp>
      <p:pic>
        <p:nvPicPr>
          <p:cNvPr id="4" name="图片 3">
            <a:extLst>
              <a:ext uri="{FF2B5EF4-FFF2-40B4-BE49-F238E27FC236}">
                <a16:creationId xmlns:a16="http://schemas.microsoft.com/office/drawing/2014/main" id="{26E74E3B-155B-C2C3-F39C-100548AF13E2}"/>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26405" y="104507"/>
            <a:ext cx="540000" cy="540000"/>
          </a:xfrm>
          <a:prstGeom prst="rect">
            <a:avLst/>
          </a:prstGeom>
        </p:spPr>
      </p:pic>
      <p:sp>
        <p:nvSpPr>
          <p:cNvPr id="5" name="矩形 4">
            <a:extLst>
              <a:ext uri="{FF2B5EF4-FFF2-40B4-BE49-F238E27FC236}">
                <a16:creationId xmlns:a16="http://schemas.microsoft.com/office/drawing/2014/main" id="{74B6EF89-0863-A6BD-AD6A-BB912BE50BA1}"/>
              </a:ext>
            </a:extLst>
          </p:cNvPr>
          <p:cNvSpPr/>
          <p:nvPr userDrawn="1"/>
        </p:nvSpPr>
        <p:spPr>
          <a:xfrm>
            <a:off x="5232018" y="0"/>
            <a:ext cx="3911982" cy="49501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矩形 5">
            <a:extLst>
              <a:ext uri="{FF2B5EF4-FFF2-40B4-BE49-F238E27FC236}">
                <a16:creationId xmlns:a16="http://schemas.microsoft.com/office/drawing/2014/main" id="{E39F10B5-13AC-23B4-F427-DBBDD5D47039}"/>
              </a:ext>
            </a:extLst>
          </p:cNvPr>
          <p:cNvSpPr/>
          <p:nvPr userDrawn="1"/>
        </p:nvSpPr>
        <p:spPr>
          <a:xfrm>
            <a:off x="3245087" y="4648486"/>
            <a:ext cx="3911982" cy="49501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0615040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Line 3">
            <a:extLst>
              <a:ext uri="{FF2B5EF4-FFF2-40B4-BE49-F238E27FC236}">
                <a16:creationId xmlns:a16="http://schemas.microsoft.com/office/drawing/2014/main" id="{5AEB39F7-50A6-C253-C39D-1096377D3C88}"/>
              </a:ext>
            </a:extLst>
          </p:cNvPr>
          <p:cNvSpPr>
            <a:spLocks noChangeShapeType="1"/>
          </p:cNvSpPr>
          <p:nvPr/>
        </p:nvSpPr>
        <p:spPr bwMode="auto">
          <a:xfrm>
            <a:off x="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6" name="椭圆 11">
            <a:extLst>
              <a:ext uri="{FF2B5EF4-FFF2-40B4-BE49-F238E27FC236}">
                <a16:creationId xmlns:a16="http://schemas.microsoft.com/office/drawing/2014/main" id="{D7C9F644-1AE0-0331-07EF-C7331C8C9C9B}"/>
              </a:ext>
            </a:extLst>
          </p:cNvPr>
          <p:cNvSpPr>
            <a:spLocks noChangeArrowheads="1"/>
          </p:cNvSpPr>
          <p:nvPr/>
        </p:nvSpPr>
        <p:spPr bwMode="auto">
          <a:xfrm>
            <a:off x="2794275" y="258763"/>
            <a:ext cx="85725" cy="85725"/>
          </a:xfrm>
          <a:prstGeom prst="ellipse">
            <a:avLst/>
          </a:prstGeom>
          <a:solidFill>
            <a:schemeClr val="bg1"/>
          </a:solidFill>
          <a:ln w="12700" algn="ctr">
            <a:solidFill>
              <a:srgbClr val="7F131F"/>
            </a:solidFill>
            <a:round/>
            <a:headEnd/>
            <a:tailEnd/>
          </a:ln>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7" name="Line 3">
            <a:extLst>
              <a:ext uri="{FF2B5EF4-FFF2-40B4-BE49-F238E27FC236}">
                <a16:creationId xmlns:a16="http://schemas.microsoft.com/office/drawing/2014/main" id="{3F747D70-54F6-3079-D1C5-60B05A3396FD}"/>
              </a:ext>
            </a:extLst>
          </p:cNvPr>
          <p:cNvSpPr>
            <a:spLocks noChangeShapeType="1"/>
          </p:cNvSpPr>
          <p:nvPr userDrawn="1"/>
        </p:nvSpPr>
        <p:spPr bwMode="auto">
          <a:xfrm>
            <a:off x="626400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8" name="椭圆 13">
            <a:extLst>
              <a:ext uri="{FF2B5EF4-FFF2-40B4-BE49-F238E27FC236}">
                <a16:creationId xmlns:a16="http://schemas.microsoft.com/office/drawing/2014/main" id="{F884E4FE-7D40-8603-B9FB-7DEC525D2415}"/>
              </a:ext>
            </a:extLst>
          </p:cNvPr>
          <p:cNvSpPr>
            <a:spLocks noChangeArrowheads="1"/>
          </p:cNvSpPr>
          <p:nvPr userDrawn="1"/>
        </p:nvSpPr>
        <p:spPr bwMode="auto">
          <a:xfrm>
            <a:off x="6264000" y="258763"/>
            <a:ext cx="85725" cy="85725"/>
          </a:xfrm>
          <a:prstGeom prst="ellipse">
            <a:avLst/>
          </a:prstGeom>
          <a:solidFill>
            <a:schemeClr val="bg1"/>
          </a:solidFill>
          <a:ln w="12700" algn="ctr">
            <a:solidFill>
              <a:srgbClr val="7F131F"/>
            </a:solidFill>
            <a:round/>
            <a:headEnd/>
            <a:tailEnd/>
          </a:ln>
        </p:spPr>
        <p:txBody>
          <a:bodyPr/>
          <a:lstStyle/>
          <a:p>
            <a:endParaRPr lang="zh-CN" altLang="en-US" dirty="0">
              <a:latin typeface="Montserrat" panose="00000500000000000000" pitchFamily="2" charset="0"/>
              <a:ea typeface="微软雅黑 Light" panose="020B0502040204020203" pitchFamily="34" charset="-122"/>
            </a:endParaRPr>
          </a:p>
        </p:txBody>
      </p:sp>
      <p:grpSp>
        <p:nvGrpSpPr>
          <p:cNvPr id="2" name="组合 1">
            <a:extLst>
              <a:ext uri="{FF2B5EF4-FFF2-40B4-BE49-F238E27FC236}">
                <a16:creationId xmlns:a16="http://schemas.microsoft.com/office/drawing/2014/main" id="{0ADD7815-697F-0F45-DCE5-265C14E71C66}"/>
              </a:ext>
            </a:extLst>
          </p:cNvPr>
          <p:cNvGrpSpPr/>
          <p:nvPr userDrawn="1"/>
        </p:nvGrpSpPr>
        <p:grpSpPr>
          <a:xfrm>
            <a:off x="3674361" y="4725444"/>
            <a:ext cx="2499558" cy="360000"/>
            <a:chOff x="3674361" y="149234"/>
            <a:chExt cx="2499558" cy="360000"/>
          </a:xfrm>
        </p:grpSpPr>
        <p:sp>
          <p:nvSpPr>
            <p:cNvPr id="4" name="Rectangle 4">
              <a:extLst>
                <a:ext uri="{FF2B5EF4-FFF2-40B4-BE49-F238E27FC236}">
                  <a16:creationId xmlns:a16="http://schemas.microsoft.com/office/drawing/2014/main" id="{C6B78A3B-669B-7CAD-92B8-AC6AF6483F84}"/>
                </a:ext>
              </a:extLst>
            </p:cNvPr>
            <p:cNvSpPr>
              <a:spLocks noChangeArrowheads="1"/>
            </p:cNvSpPr>
            <p:nvPr/>
          </p:nvSpPr>
          <p:spPr bwMode="auto">
            <a:xfrm>
              <a:off x="4751173" y="198429"/>
              <a:ext cx="1422746"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eaLnBrk="0" hangingPunct="0"/>
              <a:r>
                <a:rPr lang="en-US" altLang="zh-CN" sz="1100" b="0" dirty="0">
                  <a:solidFill>
                    <a:srgbClr val="7F131F"/>
                  </a:solidFill>
                  <a:latin typeface="微软雅黑 Light" panose="020B0502040204020203" pitchFamily="34" charset="-122"/>
                  <a:ea typeface="微软雅黑 Light" panose="020B0502040204020203" pitchFamily="34" charset="-122"/>
                </a:rPr>
                <a:t>glplaman.github.io</a:t>
              </a:r>
              <a:endParaRPr lang="fr-FR" sz="1100" b="0" dirty="0">
                <a:solidFill>
                  <a:srgbClr val="7F131F"/>
                </a:solidFill>
                <a:latin typeface="微软雅黑 Light" panose="020B0502040204020203" pitchFamily="34" charset="-122"/>
                <a:ea typeface="微软雅黑 Light" panose="020B0502040204020203" pitchFamily="34" charset="-122"/>
              </a:endParaRPr>
            </a:p>
          </p:txBody>
        </p:sp>
        <p:sp>
          <p:nvSpPr>
            <p:cNvPr id="5" name="Rectangle 5">
              <a:extLst>
                <a:ext uri="{FF2B5EF4-FFF2-40B4-BE49-F238E27FC236}">
                  <a16:creationId xmlns:a16="http://schemas.microsoft.com/office/drawing/2014/main" id="{1C728228-F412-F2C4-A4C9-1E7B0BAAB0B5}"/>
                </a:ext>
              </a:extLst>
            </p:cNvPr>
            <p:cNvSpPr>
              <a:spLocks noChangeArrowheads="1"/>
            </p:cNvSpPr>
            <p:nvPr userDrawn="1"/>
          </p:nvSpPr>
          <p:spPr bwMode="auto">
            <a:xfrm>
              <a:off x="3674361" y="198429"/>
              <a:ext cx="718466"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eaLnBrk="0" hangingPunct="0"/>
              <a:r>
                <a:rPr lang="fr-FR" sz="1100" b="0" dirty="0">
                  <a:solidFill>
                    <a:srgbClr val="7F131F"/>
                  </a:solidFill>
                  <a:latin typeface="微软雅黑 Light" panose="020B0502040204020203" pitchFamily="34" charset="-122"/>
                  <a:ea typeface="微软雅黑 Light" panose="020B0502040204020203" pitchFamily="34" charset="-122"/>
                </a:rPr>
                <a:t>Network</a:t>
              </a:r>
              <a:endParaRPr lang="fr-FR" altLang="zh-CN" sz="1100" b="0" dirty="0">
                <a:solidFill>
                  <a:srgbClr val="7F131F"/>
                </a:solidFill>
                <a:latin typeface="微软雅黑 Light" panose="020B0502040204020203" pitchFamily="34" charset="-122"/>
                <a:ea typeface="微软雅黑 Light" panose="020B0502040204020203" pitchFamily="34" charset="-122"/>
              </a:endParaRPr>
            </a:p>
          </p:txBody>
        </p:sp>
        <p:pic>
          <p:nvPicPr>
            <p:cNvPr id="14" name="图片 13">
              <a:extLst>
                <a:ext uri="{FF2B5EF4-FFF2-40B4-BE49-F238E27FC236}">
                  <a16:creationId xmlns:a16="http://schemas.microsoft.com/office/drawing/2014/main" id="{C9653E1B-9CC1-514F-4DB4-6B80766317D3}"/>
                </a:ext>
              </a:extLst>
            </p:cNvPr>
            <p:cNvPicPr>
              <a:picLocks noChangeAspect="1"/>
            </p:cNvPicPr>
            <p:nvPr userDrawn="1"/>
          </p:nvPicPr>
          <p:blipFill>
            <a:blip r:embed="rId8" cstate="print">
              <a:extLst>
                <a:ext uri="{28A0092B-C50C-407E-A947-70E740481C1C}">
                  <a14:useLocalDpi xmlns:a14="http://schemas.microsoft.com/office/drawing/2010/main" val="0"/>
                </a:ext>
              </a:extLst>
            </a:blip>
            <a:stretch>
              <a:fillRect/>
            </a:stretch>
          </p:blipFill>
          <p:spPr>
            <a:xfrm>
              <a:off x="4392000" y="149234"/>
              <a:ext cx="360000" cy="360000"/>
            </a:xfrm>
            <a:prstGeom prst="rect">
              <a:avLst/>
            </a:prstGeom>
          </p:spPr>
        </p:pic>
      </p:grpSp>
    </p:spTree>
    <p:extLst>
      <p:ext uri="{BB962C8B-B14F-4D97-AF65-F5344CB8AC3E}">
        <p14:creationId xmlns:p14="http://schemas.microsoft.com/office/powerpoint/2010/main" val="3263403115"/>
      </p:ext>
    </p:extLst>
  </p:cSld>
  <p:clrMap bg1="lt1" tx1="dk1" bg2="lt2" tx2="dk2" accent1="accent1" accent2="accent2" accent3="accent3" accent4="accent4" accent5="accent5" accent6="accent6" hlink="hlink" folHlink="folHlink"/>
  <p:sldLayoutIdLst>
    <p:sldLayoutId id="2147483657" r:id="rId1"/>
    <p:sldLayoutId id="2147483658" r:id="rId2"/>
    <p:sldLayoutId id="2147483659" r:id="rId3"/>
    <p:sldLayoutId id="2147483660" r:id="rId4"/>
    <p:sldLayoutId id="2147483661" r:id="rId5"/>
    <p:sldLayoutId id="2147483662" r:id="rId6"/>
  </p:sldLayoutIdLst>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5.xml"/><Relationship Id="rId6" Type="http://schemas.openxmlformats.org/officeDocument/2006/relationships/image" Target="../media/image3.png"/><Relationship Id="rId5" Type="http://schemas.microsoft.com/office/2007/relationships/hdphoto" Target="../media/hdphoto1.wdp"/><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8" Type="http://schemas.openxmlformats.org/officeDocument/2006/relationships/diagramLayout" Target="../diagrams/layout2.xml"/><Relationship Id="rId3" Type="http://schemas.openxmlformats.org/officeDocument/2006/relationships/diagramLayout" Target="../diagrams/layout1.xml"/><Relationship Id="rId7" Type="http://schemas.openxmlformats.org/officeDocument/2006/relationships/diagramData" Target="../diagrams/data2.xml"/><Relationship Id="rId2" Type="http://schemas.openxmlformats.org/officeDocument/2006/relationships/diagramData" Target="../diagrams/data1.xml"/><Relationship Id="rId1" Type="http://schemas.openxmlformats.org/officeDocument/2006/relationships/slideLayout" Target="../slideLayouts/slideLayout3.xml"/><Relationship Id="rId6" Type="http://schemas.microsoft.com/office/2007/relationships/diagramDrawing" Target="../diagrams/drawing1.xml"/><Relationship Id="rId11" Type="http://schemas.microsoft.com/office/2007/relationships/diagramDrawing" Target="../diagrams/drawing2.xml"/><Relationship Id="rId5" Type="http://schemas.openxmlformats.org/officeDocument/2006/relationships/diagramColors" Target="../diagrams/colors1.xml"/><Relationship Id="rId10" Type="http://schemas.openxmlformats.org/officeDocument/2006/relationships/diagramColors" Target="../diagrams/colors2.xml"/><Relationship Id="rId4" Type="http://schemas.openxmlformats.org/officeDocument/2006/relationships/diagramQuickStyle" Target="../diagrams/quickStyle1.xml"/><Relationship Id="rId9" Type="http://schemas.openxmlformats.org/officeDocument/2006/relationships/diagramQuickStyle" Target="../diagrams/quickStyl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5.xml"/><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8.png"/><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0.wmf"/></Relationships>
</file>

<file path=ppt/slides/_rels/slide43.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1.wmf"/></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3.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5.xml.rels><?xml version="1.0" encoding="UTF-8" standalone="yes"?>
<Relationships xmlns="http://schemas.openxmlformats.org/package/2006/relationships"><Relationship Id="rId3" Type="http://schemas.openxmlformats.org/officeDocument/2006/relationships/image" Target="../media/image11.wmf"/><Relationship Id="rId2" Type="http://schemas.openxmlformats.org/officeDocument/2006/relationships/oleObject" Target="../embeddings/oleObject3.bin"/><Relationship Id="rId1" Type="http://schemas.openxmlformats.org/officeDocument/2006/relationships/slideLayout" Target="../slideLayouts/slideLayout3.xml"/><Relationship Id="rId5" Type="http://schemas.openxmlformats.org/officeDocument/2006/relationships/image" Target="../media/image6.png"/><Relationship Id="rId4" Type="http://schemas.openxmlformats.org/officeDocument/2006/relationships/image" Target="../media/image5.png"/></Relationships>
</file>

<file path=ppt/slides/_rels/slide6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6.png"/><Relationship Id="rId1" Type="http://schemas.openxmlformats.org/officeDocument/2006/relationships/slideLayout" Target="../slideLayouts/slideLayout2.xml"/><Relationship Id="rId5" Type="http://schemas.openxmlformats.org/officeDocument/2006/relationships/image" Target="../media/image11.wmf"/><Relationship Id="rId4" Type="http://schemas.openxmlformats.org/officeDocument/2006/relationships/oleObject" Target="../embeddings/oleObject4.bin"/></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6.xml.rels><?xml version="1.0" encoding="UTF-8" standalone="yes"?>
<Relationships xmlns="http://schemas.openxmlformats.org/package/2006/relationships"><Relationship Id="rId3" Type="http://schemas.openxmlformats.org/officeDocument/2006/relationships/oleObject" Target="../embeddings/oleObject5.bin"/><Relationship Id="rId2" Type="http://schemas.openxmlformats.org/officeDocument/2006/relationships/notesSlide" Target="../notesSlides/notesSlide9.xml"/><Relationship Id="rId1" Type="http://schemas.openxmlformats.org/officeDocument/2006/relationships/slideLayout" Target="../slideLayouts/slideLayout3.xml"/><Relationship Id="rId6" Type="http://schemas.openxmlformats.org/officeDocument/2006/relationships/image" Target="../media/image6.png"/><Relationship Id="rId5" Type="http://schemas.openxmlformats.org/officeDocument/2006/relationships/image" Target="../media/image9.png"/><Relationship Id="rId4" Type="http://schemas.openxmlformats.org/officeDocument/2006/relationships/image" Target="../media/image11.wmf"/></Relationships>
</file>

<file path=ppt/slides/_rels/slide77.xml.rels><?xml version="1.0" encoding="UTF-8" standalone="yes"?>
<Relationships xmlns="http://schemas.openxmlformats.org/package/2006/relationships"><Relationship Id="rId3" Type="http://schemas.openxmlformats.org/officeDocument/2006/relationships/oleObject" Target="../embeddings/oleObject6.bin"/><Relationship Id="rId2" Type="http://schemas.openxmlformats.org/officeDocument/2006/relationships/image" Target="../media/image6.png"/><Relationship Id="rId1" Type="http://schemas.openxmlformats.org/officeDocument/2006/relationships/slideLayout" Target="../slideLayouts/slideLayout3.xml"/><Relationship Id="rId5" Type="http://schemas.openxmlformats.org/officeDocument/2006/relationships/image" Target="../media/image9.png"/><Relationship Id="rId4" Type="http://schemas.openxmlformats.org/officeDocument/2006/relationships/image" Target="../media/image11.wmf"/></Relationships>
</file>

<file path=ppt/slides/_rels/slide78.xml.rels><?xml version="1.0" encoding="UTF-8" standalone="yes"?>
<Relationships xmlns="http://schemas.openxmlformats.org/package/2006/relationships"><Relationship Id="rId3" Type="http://schemas.openxmlformats.org/officeDocument/2006/relationships/oleObject" Target="../embeddings/oleObject7.bin"/><Relationship Id="rId2" Type="http://schemas.openxmlformats.org/officeDocument/2006/relationships/image" Target="../media/image6.png"/><Relationship Id="rId1" Type="http://schemas.openxmlformats.org/officeDocument/2006/relationships/slideLayout" Target="../slideLayouts/slideLayout3.xml"/><Relationship Id="rId5" Type="http://schemas.openxmlformats.org/officeDocument/2006/relationships/image" Target="../media/image9.png"/><Relationship Id="rId4" Type="http://schemas.openxmlformats.org/officeDocument/2006/relationships/image" Target="../media/image11.wmf"/></Relationships>
</file>

<file path=ppt/slides/_rels/slide7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Layout" Target="../slideLayouts/slideLayout3.xml"/><Relationship Id="rId5" Type="http://schemas.openxmlformats.org/officeDocument/2006/relationships/image" Target="../media/image11.wmf"/><Relationship Id="rId4" Type="http://schemas.openxmlformats.org/officeDocument/2006/relationships/oleObject" Target="../embeddings/oleObject8.bin"/></Relationships>
</file>

<file path=ppt/slides/_rels/slide8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Layout" Target="../slideLayouts/slideLayout3.xml"/><Relationship Id="rId5" Type="http://schemas.openxmlformats.org/officeDocument/2006/relationships/image" Target="../media/image11.wmf"/><Relationship Id="rId4" Type="http://schemas.openxmlformats.org/officeDocument/2006/relationships/oleObject" Target="../embeddings/oleObject9.bin"/></Relationships>
</file>

<file path=ppt/slides/_rels/slide8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Layout" Target="../slideLayouts/slideLayout3.xml"/><Relationship Id="rId5" Type="http://schemas.openxmlformats.org/officeDocument/2006/relationships/image" Target="../media/image11.wmf"/><Relationship Id="rId4" Type="http://schemas.openxmlformats.org/officeDocument/2006/relationships/oleObject" Target="../embeddings/oleObject10.bin"/></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5.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5.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5.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Layout" Target="../slideLayouts/slideLayout3.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0.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3.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111.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image" Target="../media/image15.jpeg"/><Relationship Id="rId1" Type="http://schemas.openxmlformats.org/officeDocument/2006/relationships/slideLayout" Target="../slideLayouts/slideLayout3.xml"/></Relationships>
</file>

<file path=ppt/slides/_rels/slide112.xml.rels><?xml version="1.0" encoding="UTF-8" standalone="yes"?>
<Relationships xmlns="http://schemas.openxmlformats.org/package/2006/relationships"><Relationship Id="rId8" Type="http://schemas.openxmlformats.org/officeDocument/2006/relationships/hyperlink" Target="http://www.sohu.com/" TargetMode="External"/><Relationship Id="rId3" Type="http://schemas.openxmlformats.org/officeDocument/2006/relationships/hyperlink" Target="http://www.baidu.com/" TargetMode="External"/><Relationship Id="rId7" Type="http://schemas.openxmlformats.org/officeDocument/2006/relationships/hyperlink" Target="http://www.sina.com/" TargetMode="External"/><Relationship Id="rId2" Type="http://schemas.openxmlformats.org/officeDocument/2006/relationships/hyperlink" Target="http://www.cn.bing.com/" TargetMode="External"/><Relationship Id="rId1" Type="http://schemas.openxmlformats.org/officeDocument/2006/relationships/slideLayout" Target="../slideLayouts/slideLayout3.xml"/><Relationship Id="rId6" Type="http://schemas.openxmlformats.org/officeDocument/2006/relationships/hyperlink" Target="http://www.cn.yahoo.com/" TargetMode="External"/><Relationship Id="rId5" Type="http://schemas.openxmlformats.org/officeDocument/2006/relationships/hyperlink" Target="http://www.yahoo.com/" TargetMode="External"/><Relationship Id="rId4" Type="http://schemas.openxmlformats.org/officeDocument/2006/relationships/hyperlink" Target="http://www.google.com/" TargetMode="External"/><Relationship Id="rId9" Type="http://schemas.openxmlformats.org/officeDocument/2006/relationships/hyperlink" Target="http://www.163.com/" TargetMode="Externa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6.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3.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0.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oleObject" Target="../embeddings/oleObject11.bin"/><Relationship Id="rId1" Type="http://schemas.openxmlformats.org/officeDocument/2006/relationships/slideLayout" Target="../slideLayouts/slideLayout3.xml"/><Relationship Id="rId5" Type="http://schemas.openxmlformats.org/officeDocument/2006/relationships/image" Target="../media/image18.emf"/><Relationship Id="rId4" Type="http://schemas.openxmlformats.org/officeDocument/2006/relationships/oleObject" Target="../embeddings/oleObject12.bin"/></Relationships>
</file>

<file path=ppt/slides/_rels/slide121.xml.rels><?xml version="1.0" encoding="UTF-8" standalone="yes"?>
<Relationships xmlns="http://schemas.openxmlformats.org/package/2006/relationships"><Relationship Id="rId8" Type="http://schemas.openxmlformats.org/officeDocument/2006/relationships/oleObject" Target="../embeddings/oleObject15.bin"/><Relationship Id="rId3" Type="http://schemas.openxmlformats.org/officeDocument/2006/relationships/oleObject" Target="../embeddings/oleObject13.bin"/><Relationship Id="rId7" Type="http://schemas.openxmlformats.org/officeDocument/2006/relationships/image" Target="../media/image17.emf"/><Relationship Id="rId2" Type="http://schemas.openxmlformats.org/officeDocument/2006/relationships/notesSlide" Target="../notesSlides/notesSlide13.xml"/><Relationship Id="rId1" Type="http://schemas.openxmlformats.org/officeDocument/2006/relationships/slideLayout" Target="../slideLayouts/slideLayout3.xml"/><Relationship Id="rId6" Type="http://schemas.openxmlformats.org/officeDocument/2006/relationships/oleObject" Target="../embeddings/oleObject14.bin"/><Relationship Id="rId5" Type="http://schemas.openxmlformats.org/officeDocument/2006/relationships/image" Target="../media/image11.wmf"/><Relationship Id="rId4" Type="http://schemas.openxmlformats.org/officeDocument/2006/relationships/image" Target="../media/image10.wmf"/><Relationship Id="rId9" Type="http://schemas.openxmlformats.org/officeDocument/2006/relationships/image" Target="../media/image18.emf"/></Relationships>
</file>

<file path=ppt/slides/_rels/slide122.xml.rels><?xml version="1.0" encoding="UTF-8" standalone="yes"?>
<Relationships xmlns="http://schemas.openxmlformats.org/package/2006/relationships"><Relationship Id="rId8" Type="http://schemas.openxmlformats.org/officeDocument/2006/relationships/oleObject" Target="../embeddings/oleObject18.bin"/><Relationship Id="rId3" Type="http://schemas.openxmlformats.org/officeDocument/2006/relationships/oleObject" Target="../embeddings/oleObject16.bin"/><Relationship Id="rId7" Type="http://schemas.openxmlformats.org/officeDocument/2006/relationships/image" Target="../media/image17.emf"/><Relationship Id="rId2" Type="http://schemas.openxmlformats.org/officeDocument/2006/relationships/notesSlide" Target="../notesSlides/notesSlide14.xml"/><Relationship Id="rId1" Type="http://schemas.openxmlformats.org/officeDocument/2006/relationships/slideLayout" Target="../slideLayouts/slideLayout3.xml"/><Relationship Id="rId6" Type="http://schemas.openxmlformats.org/officeDocument/2006/relationships/oleObject" Target="../embeddings/oleObject17.bin"/><Relationship Id="rId5" Type="http://schemas.openxmlformats.org/officeDocument/2006/relationships/image" Target="../media/image11.wmf"/><Relationship Id="rId4" Type="http://schemas.openxmlformats.org/officeDocument/2006/relationships/image" Target="../media/image10.wmf"/><Relationship Id="rId9" Type="http://schemas.openxmlformats.org/officeDocument/2006/relationships/image" Target="../media/image18.emf"/></Relationships>
</file>

<file path=ppt/slides/_rels/slide123.xml.rels><?xml version="1.0" encoding="UTF-8" standalone="yes"?>
<Relationships xmlns="http://schemas.openxmlformats.org/package/2006/relationships"><Relationship Id="rId8" Type="http://schemas.openxmlformats.org/officeDocument/2006/relationships/image" Target="../media/image18.emf"/><Relationship Id="rId3" Type="http://schemas.openxmlformats.org/officeDocument/2006/relationships/oleObject" Target="../embeddings/oleObject19.bin"/><Relationship Id="rId7" Type="http://schemas.openxmlformats.org/officeDocument/2006/relationships/oleObject" Target="../embeddings/oleObject21.bin"/><Relationship Id="rId2" Type="http://schemas.openxmlformats.org/officeDocument/2006/relationships/notesSlide" Target="../notesSlides/notesSlide15.xml"/><Relationship Id="rId1" Type="http://schemas.openxmlformats.org/officeDocument/2006/relationships/slideLayout" Target="../slideLayouts/slideLayout3.xml"/><Relationship Id="rId6" Type="http://schemas.openxmlformats.org/officeDocument/2006/relationships/image" Target="../media/image17.emf"/><Relationship Id="rId5" Type="http://schemas.openxmlformats.org/officeDocument/2006/relationships/oleObject" Target="../embeddings/oleObject20.bin"/><Relationship Id="rId4" Type="http://schemas.openxmlformats.org/officeDocument/2006/relationships/image" Target="../media/image11.wmf"/></Relationships>
</file>

<file path=ppt/slides/_rels/slide124.xml.rels><?xml version="1.0" encoding="UTF-8" standalone="yes"?>
<Relationships xmlns="http://schemas.openxmlformats.org/package/2006/relationships"><Relationship Id="rId8" Type="http://schemas.openxmlformats.org/officeDocument/2006/relationships/oleObject" Target="../embeddings/oleObject25.bin"/><Relationship Id="rId3" Type="http://schemas.openxmlformats.org/officeDocument/2006/relationships/oleObject" Target="../embeddings/oleObject22.bin"/><Relationship Id="rId7" Type="http://schemas.openxmlformats.org/officeDocument/2006/relationships/image" Target="../media/image17.emf"/><Relationship Id="rId2" Type="http://schemas.openxmlformats.org/officeDocument/2006/relationships/notesSlide" Target="../notesSlides/notesSlide16.xml"/><Relationship Id="rId1" Type="http://schemas.openxmlformats.org/officeDocument/2006/relationships/slideLayout" Target="../slideLayouts/slideLayout3.xml"/><Relationship Id="rId6" Type="http://schemas.openxmlformats.org/officeDocument/2006/relationships/oleObject" Target="../embeddings/oleObject24.bin"/><Relationship Id="rId5" Type="http://schemas.openxmlformats.org/officeDocument/2006/relationships/oleObject" Target="../embeddings/oleObject23.bin"/><Relationship Id="rId4" Type="http://schemas.openxmlformats.org/officeDocument/2006/relationships/image" Target="../media/image11.wmf"/><Relationship Id="rId9" Type="http://schemas.openxmlformats.org/officeDocument/2006/relationships/image" Target="../media/image18.emf"/></Relationships>
</file>

<file path=ppt/slides/_rels/slide125.xml.rels><?xml version="1.0" encoding="UTF-8" standalone="yes"?>
<Relationships xmlns="http://schemas.openxmlformats.org/package/2006/relationships"><Relationship Id="rId8" Type="http://schemas.openxmlformats.org/officeDocument/2006/relationships/image" Target="../media/image18.emf"/><Relationship Id="rId3" Type="http://schemas.openxmlformats.org/officeDocument/2006/relationships/oleObject" Target="../embeddings/oleObject26.bin"/><Relationship Id="rId7" Type="http://schemas.openxmlformats.org/officeDocument/2006/relationships/oleObject" Target="../embeddings/oleObject28.bin"/><Relationship Id="rId2" Type="http://schemas.openxmlformats.org/officeDocument/2006/relationships/notesSlide" Target="../notesSlides/notesSlide17.xml"/><Relationship Id="rId1" Type="http://schemas.openxmlformats.org/officeDocument/2006/relationships/slideLayout" Target="../slideLayouts/slideLayout3.xml"/><Relationship Id="rId6" Type="http://schemas.openxmlformats.org/officeDocument/2006/relationships/image" Target="../media/image17.emf"/><Relationship Id="rId5" Type="http://schemas.openxmlformats.org/officeDocument/2006/relationships/oleObject" Target="../embeddings/oleObject27.bin"/><Relationship Id="rId4" Type="http://schemas.openxmlformats.org/officeDocument/2006/relationships/image" Target="../media/image11.wmf"/></Relationships>
</file>

<file path=ppt/slides/_rels/slide126.xml.rels><?xml version="1.0" encoding="UTF-8" standalone="yes"?>
<Relationships xmlns="http://schemas.openxmlformats.org/package/2006/relationships"><Relationship Id="rId3" Type="http://schemas.openxmlformats.org/officeDocument/2006/relationships/image" Target="../media/image11.wmf"/><Relationship Id="rId7" Type="http://schemas.openxmlformats.org/officeDocument/2006/relationships/image" Target="../media/image18.emf"/><Relationship Id="rId2" Type="http://schemas.openxmlformats.org/officeDocument/2006/relationships/oleObject" Target="../embeddings/oleObject29.bin"/><Relationship Id="rId1" Type="http://schemas.openxmlformats.org/officeDocument/2006/relationships/slideLayout" Target="../slideLayouts/slideLayout3.xml"/><Relationship Id="rId6" Type="http://schemas.openxmlformats.org/officeDocument/2006/relationships/oleObject" Target="../embeddings/oleObject31.bin"/><Relationship Id="rId5" Type="http://schemas.openxmlformats.org/officeDocument/2006/relationships/image" Target="../media/image17.emf"/><Relationship Id="rId4" Type="http://schemas.openxmlformats.org/officeDocument/2006/relationships/oleObject" Target="../embeddings/oleObject30.bin"/></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9.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oleObject" Target="../embeddings/oleObject11.bin"/><Relationship Id="rId1" Type="http://schemas.openxmlformats.org/officeDocument/2006/relationships/slideLayout" Target="../slideLayouts/slideLayout3.xml"/><Relationship Id="rId5" Type="http://schemas.openxmlformats.org/officeDocument/2006/relationships/image" Target="../media/image18.emf"/><Relationship Id="rId4" Type="http://schemas.openxmlformats.org/officeDocument/2006/relationships/oleObject" Target="../embeddings/oleObject12.bin"/></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8.xml.rels><?xml version="1.0" encoding="UTF-8" standalone="yes"?>
<Relationships xmlns="http://schemas.openxmlformats.org/package/2006/relationships"><Relationship Id="rId3" Type="http://schemas.openxmlformats.org/officeDocument/2006/relationships/oleObject" Target="../embeddings/oleObject11.bin"/><Relationship Id="rId2" Type="http://schemas.openxmlformats.org/officeDocument/2006/relationships/notesSlide" Target="../notesSlides/notesSlide19.xml"/><Relationship Id="rId1" Type="http://schemas.openxmlformats.org/officeDocument/2006/relationships/slideLayout" Target="../slideLayouts/slideLayout3.xml"/><Relationship Id="rId6" Type="http://schemas.openxmlformats.org/officeDocument/2006/relationships/image" Target="../media/image18.emf"/><Relationship Id="rId5" Type="http://schemas.openxmlformats.org/officeDocument/2006/relationships/oleObject" Target="../embeddings/oleObject12.bin"/><Relationship Id="rId4" Type="http://schemas.openxmlformats.org/officeDocument/2006/relationships/image" Target="../media/image17.emf"/></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2.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5.xml"/></Relationships>
</file>

<file path=ppt/slides/_rels/slide143.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5.xml"/></Relationships>
</file>

<file path=ppt/slides/_rels/slide144.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oleObject" Target="../embeddings/oleObject11.bin"/><Relationship Id="rId1" Type="http://schemas.openxmlformats.org/officeDocument/2006/relationships/slideLayout" Target="../slideLayouts/slideLayout3.xml"/><Relationship Id="rId5" Type="http://schemas.openxmlformats.org/officeDocument/2006/relationships/image" Target="../media/image18.emf"/><Relationship Id="rId4" Type="http://schemas.openxmlformats.org/officeDocument/2006/relationships/oleObject" Target="../embeddings/oleObject12.bin"/></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9.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3.xml"/></Relationships>
</file>

<file path=ppt/slides/_rels/slide15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155.xml.rels><?xml version="1.0" encoding="UTF-8" standalone="yes"?>
<Relationships xmlns="http://schemas.openxmlformats.org/package/2006/relationships"><Relationship Id="rId2" Type="http://schemas.openxmlformats.org/officeDocument/2006/relationships/hyperlink" Target="https://www.base64decode.org/" TargetMode="External"/><Relationship Id="rId1" Type="http://schemas.openxmlformats.org/officeDocument/2006/relationships/slideLayout" Target="../slideLayouts/slideLayout3.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1.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3.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Layout" Target="../slideLayouts/slideLayout3.xml"/></Relationships>
</file>

<file path=ppt/slides/_rels/slide16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Layout" Target="../slideLayouts/slideLayout3.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86.xml.rels><?xml version="1.0" encoding="UTF-8" standalone="yes"?>
<Relationships xmlns="http://schemas.openxmlformats.org/package/2006/relationships"><Relationship Id="rId3" Type="http://schemas.openxmlformats.org/officeDocument/2006/relationships/image" Target="../media/image23.wmf"/><Relationship Id="rId2" Type="http://schemas.openxmlformats.org/officeDocument/2006/relationships/image" Target="../media/image6.png"/><Relationship Id="rId1" Type="http://schemas.openxmlformats.org/officeDocument/2006/relationships/slideLayout" Target="../slideLayouts/slideLayout5.xml"/><Relationship Id="rId4" Type="http://schemas.openxmlformats.org/officeDocument/2006/relationships/image" Target="../media/image9.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5.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4.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oleObject" Target="../embeddings/oleObject32.bin"/><Relationship Id="rId1" Type="http://schemas.openxmlformats.org/officeDocument/2006/relationships/slideLayout" Target="../slideLayouts/slideLayout5.xml"/><Relationship Id="rId5" Type="http://schemas.openxmlformats.org/officeDocument/2006/relationships/image" Target="../media/image9.png"/><Relationship Id="rId4" Type="http://schemas.openxmlformats.org/officeDocument/2006/relationships/image" Target="../media/image6.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24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241.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242.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5.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4.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5.xml"/></Relationships>
</file>

<file path=ppt/slides/_rels/slide245.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5.xml"/></Relationships>
</file>

<file path=ppt/slides/_rels/slide246.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5.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3.xml"/></Relationships>
</file>

<file path=ppt/slides/_rels/slide24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3.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1.xml"/><Relationship Id="rId1" Type="http://schemas.openxmlformats.org/officeDocument/2006/relationships/slideLayout" Target="../slideLayouts/slideLayout3.xml"/><Relationship Id="rId4" Type="http://schemas.openxmlformats.org/officeDocument/2006/relationships/image" Target="../media/image25.png"/></Relationships>
</file>

<file path=ppt/slides/_rels/slide25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3.xml"/></Relationships>
</file>

<file path=ppt/slides/_rels/slide25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Layout" Target="../slideLayouts/slideLayout3.xml"/></Relationships>
</file>

<file path=ppt/slides/_rels/slide256.xml.rels><?xml version="1.0" encoding="UTF-8" standalone="yes"?>
<Relationships xmlns="http://schemas.openxmlformats.org/package/2006/relationships"><Relationship Id="rId8" Type="http://schemas.openxmlformats.org/officeDocument/2006/relationships/oleObject" Target="../embeddings/oleObject36.bin"/><Relationship Id="rId3" Type="http://schemas.openxmlformats.org/officeDocument/2006/relationships/oleObject" Target="../embeddings/oleObject33.bin"/><Relationship Id="rId7" Type="http://schemas.openxmlformats.org/officeDocument/2006/relationships/oleObject" Target="../embeddings/oleObject35.bin"/><Relationship Id="rId2" Type="http://schemas.openxmlformats.org/officeDocument/2006/relationships/notesSlide" Target="../notesSlides/notesSlide33.xml"/><Relationship Id="rId1" Type="http://schemas.openxmlformats.org/officeDocument/2006/relationships/slideLayout" Target="../slideLayouts/slideLayout3.xml"/><Relationship Id="rId6" Type="http://schemas.openxmlformats.org/officeDocument/2006/relationships/image" Target="../media/image11.wmf"/><Relationship Id="rId5" Type="http://schemas.openxmlformats.org/officeDocument/2006/relationships/oleObject" Target="../embeddings/oleObject34.bin"/><Relationship Id="rId4" Type="http://schemas.openxmlformats.org/officeDocument/2006/relationships/image" Target="../media/image28.wmf"/></Relationships>
</file>

<file path=ppt/slides/_rels/slide257.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260.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3.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3.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5.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26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3.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0.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3.xml"/></Relationships>
</file>

<file path=ppt/slides/_rels/slide271.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a:extLst>
              <a:ext uri="{FF2B5EF4-FFF2-40B4-BE49-F238E27FC236}">
                <a16:creationId xmlns:a16="http://schemas.microsoft.com/office/drawing/2014/main" id="{B3E627C1-4460-D634-DE39-462B2A930A4B}"/>
              </a:ext>
            </a:extLst>
          </p:cNvPr>
          <p:cNvPicPr>
            <a:picLocks noChangeAspect="1"/>
          </p:cNvPicPr>
          <p:nvPr/>
        </p:nvPicPr>
        <p:blipFill>
          <a:blip r:embed="rId3"/>
          <a:srcRect l="12200" r="23"/>
          <a:stretch>
            <a:fillRect/>
          </a:stretch>
        </p:blipFill>
        <p:spPr>
          <a:xfrm>
            <a:off x="0" y="0"/>
            <a:ext cx="9144000" cy="5143500"/>
          </a:xfrm>
          <a:prstGeom prst="rect">
            <a:avLst/>
          </a:prstGeom>
        </p:spPr>
      </p:pic>
      <p:sp>
        <p:nvSpPr>
          <p:cNvPr id="7" name="矩形 6"/>
          <p:cNvSpPr/>
          <p:nvPr/>
        </p:nvSpPr>
        <p:spPr>
          <a:xfrm>
            <a:off x="4772483" y="1363816"/>
            <a:ext cx="2717412" cy="938719"/>
          </a:xfrm>
          <a:prstGeom prst="rect">
            <a:avLst/>
          </a:prstGeom>
        </p:spPr>
        <p:txBody>
          <a:bodyPr wrap="none">
            <a:spAutoFit/>
          </a:bodyPr>
          <a:lstStyle/>
          <a:p>
            <a:pPr algn="ctr" eaLnBrk="0" hangingPunct="0"/>
            <a:r>
              <a:rPr lang="zh-CN" altLang="en-US" sz="5500" dirty="0">
                <a:solidFill>
                  <a:schemeClr val="bg1"/>
                </a:solidFill>
                <a:latin typeface="微软雅黑" panose="020B0503020204020204" pitchFamily="34" charset="-122"/>
                <a:ea typeface="微软雅黑" panose="020B0503020204020204" pitchFamily="34" charset="-122"/>
              </a:rPr>
              <a:t>应 用 层</a:t>
            </a:r>
            <a:endParaRPr lang="fr-FR" altLang="zh-CN" sz="5500" dirty="0">
              <a:solidFill>
                <a:schemeClr val="bg1"/>
              </a:solidFill>
              <a:latin typeface="微软雅黑" panose="020B0503020204020204" pitchFamily="34" charset="-122"/>
              <a:ea typeface="微软雅黑" panose="020B0503020204020204" pitchFamily="34" charset="-122"/>
            </a:endParaRPr>
          </a:p>
        </p:txBody>
      </p:sp>
      <p:sp>
        <p:nvSpPr>
          <p:cNvPr id="8" name="矩形 7"/>
          <p:cNvSpPr/>
          <p:nvPr/>
        </p:nvSpPr>
        <p:spPr>
          <a:xfrm>
            <a:off x="4772483" y="881198"/>
            <a:ext cx="1338828" cy="523220"/>
          </a:xfrm>
          <a:prstGeom prst="rect">
            <a:avLst/>
          </a:prstGeom>
        </p:spPr>
        <p:txBody>
          <a:bodyPr wrap="none">
            <a:spAutoFit/>
          </a:bodyPr>
          <a:lstStyle/>
          <a:p>
            <a:pPr algn="ctr" eaLnBrk="0" hangingPunct="0"/>
            <a:r>
              <a:rPr lang="fr-FR" altLang="zh-CN" sz="2800" dirty="0">
                <a:solidFill>
                  <a:schemeClr val="bg1"/>
                </a:solidFill>
                <a:latin typeface="Montserrat" panose="00000500000000000000" pitchFamily="2" charset="0"/>
                <a:ea typeface="微软雅黑 Light" panose="020B0502040204020203" pitchFamily="34" charset="-122"/>
              </a:rPr>
              <a:t>第 6 章</a:t>
            </a:r>
          </a:p>
        </p:txBody>
      </p:sp>
      <p:sp>
        <p:nvSpPr>
          <p:cNvPr id="11" name="Rectangle 4"/>
          <p:cNvSpPr>
            <a:spLocks noChangeArrowheads="1"/>
          </p:cNvSpPr>
          <p:nvPr/>
        </p:nvSpPr>
        <p:spPr bwMode="auto">
          <a:xfrm>
            <a:off x="0" y="3016721"/>
            <a:ext cx="2631044" cy="134857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r" eaLnBrk="0" hangingPunct="0">
              <a:lnSpc>
                <a:spcPct val="150000"/>
              </a:lnSpc>
            </a:pPr>
            <a:r>
              <a:rPr lang="zh-CN" altLang="en-US" sz="1400" dirty="0">
                <a:solidFill>
                  <a:schemeClr val="bg1"/>
                </a:solidFill>
                <a:latin typeface="Montserrat" panose="00000500000000000000" pitchFamily="2" charset="0"/>
                <a:ea typeface="微软雅黑" panose="020B0503020204020204" pitchFamily="34" charset="-122"/>
              </a:rPr>
              <a:t>张树彬</a:t>
            </a:r>
            <a:endParaRPr lang="en-US" altLang="zh-CN" sz="1400" dirty="0">
              <a:solidFill>
                <a:schemeClr val="bg1"/>
              </a:solidFill>
              <a:latin typeface="Montserrat" panose="00000500000000000000" pitchFamily="2" charset="0"/>
              <a:ea typeface="微软雅黑" panose="020B0503020204020204" pitchFamily="34" charset="-122"/>
            </a:endParaRPr>
          </a:p>
          <a:p>
            <a:pPr algn="r" eaLnBrk="0" hangingPunct="0">
              <a:lnSpc>
                <a:spcPct val="150000"/>
              </a:lnSpc>
            </a:pPr>
            <a:r>
              <a:rPr lang="zh-CN" altLang="en-US" sz="1400" dirty="0">
                <a:solidFill>
                  <a:schemeClr val="bg1"/>
                </a:solidFill>
                <a:latin typeface="Montserrat" panose="00000500000000000000" pitchFamily="2" charset="0"/>
                <a:ea typeface="微软雅黑" panose="020B0503020204020204" pitchFamily="34" charset="-122"/>
              </a:rPr>
              <a:t>广州 </a:t>
            </a:r>
            <a:r>
              <a:rPr lang="en-US" altLang="zh-CN" sz="1400" dirty="0">
                <a:solidFill>
                  <a:schemeClr val="bg1"/>
                </a:solidFill>
                <a:latin typeface="Montserrat" panose="00000500000000000000" pitchFamily="2" charset="0"/>
                <a:ea typeface="微软雅黑" panose="020B0503020204020204" pitchFamily="34" charset="-122"/>
              </a:rPr>
              <a:t>· </a:t>
            </a:r>
            <a:r>
              <a:rPr lang="zh-CN" altLang="en-US" sz="1400" dirty="0">
                <a:solidFill>
                  <a:schemeClr val="bg1"/>
                </a:solidFill>
                <a:latin typeface="Montserrat" panose="00000500000000000000" pitchFamily="2" charset="0"/>
                <a:ea typeface="微软雅黑" panose="020B0503020204020204" pitchFamily="34" charset="-122"/>
              </a:rPr>
              <a:t>中国</a:t>
            </a:r>
            <a:endParaRPr lang="en-US" altLang="zh-CN" sz="1400" dirty="0">
              <a:solidFill>
                <a:schemeClr val="bg1"/>
              </a:solidFill>
              <a:latin typeface="Montserrat" panose="00000500000000000000" pitchFamily="2" charset="0"/>
              <a:ea typeface="微软雅黑" panose="020B0503020204020204" pitchFamily="34" charset="-122"/>
            </a:endParaRPr>
          </a:p>
          <a:p>
            <a:pPr algn="r" eaLnBrk="0" hangingPunct="0">
              <a:lnSpc>
                <a:spcPct val="150000"/>
              </a:lnSpc>
            </a:pPr>
            <a:r>
              <a:rPr lang="en-US" altLang="zh-CN" sz="1400" dirty="0">
                <a:solidFill>
                  <a:schemeClr val="bg1"/>
                </a:solidFill>
                <a:latin typeface="Montserrat" panose="00000500000000000000" pitchFamily="2" charset="0"/>
                <a:ea typeface="微软雅黑" panose="020B0503020204020204" pitchFamily="34" charset="-122"/>
              </a:rPr>
              <a:t>2025-10-10</a:t>
            </a:r>
          </a:p>
          <a:p>
            <a:pPr algn="r" eaLnBrk="0" hangingPunct="0">
              <a:lnSpc>
                <a:spcPct val="150000"/>
              </a:lnSpc>
            </a:pPr>
            <a:r>
              <a:rPr lang="en-US" altLang="zh-CN" sz="1400" dirty="0">
                <a:solidFill>
                  <a:schemeClr val="bg1"/>
                </a:solidFill>
                <a:latin typeface="Montserrat" panose="00000500000000000000" pitchFamily="2" charset="0"/>
                <a:ea typeface="微软雅黑" panose="020B0503020204020204" pitchFamily="34" charset="-122"/>
              </a:rPr>
              <a:t>glplaman.github.io</a:t>
            </a:r>
            <a:endParaRPr lang="fr-FR" sz="1400" dirty="0">
              <a:solidFill>
                <a:schemeClr val="bg1"/>
              </a:solidFill>
              <a:latin typeface="Montserrat" panose="00000500000000000000" pitchFamily="2" charset="0"/>
              <a:ea typeface="微软雅黑" panose="020B0503020204020204" pitchFamily="34" charset="-122"/>
            </a:endParaRPr>
          </a:p>
        </p:txBody>
      </p:sp>
      <p:sp>
        <p:nvSpPr>
          <p:cNvPr id="12" name="Rectangle 6"/>
          <p:cNvSpPr>
            <a:spLocks noChangeArrowheads="1"/>
          </p:cNvSpPr>
          <p:nvPr/>
        </p:nvSpPr>
        <p:spPr bwMode="auto">
          <a:xfrm>
            <a:off x="118641" y="2681759"/>
            <a:ext cx="2512403" cy="33813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r" eaLnBrk="0" hangingPunct="0">
              <a:spcBef>
                <a:spcPts val="1000"/>
              </a:spcBef>
            </a:pPr>
            <a:r>
              <a:rPr lang="fr-FR" sz="1600" dirty="0">
                <a:solidFill>
                  <a:schemeClr val="bg1"/>
                </a:solidFill>
                <a:latin typeface="Montserrat" panose="00000500000000000000" pitchFamily="2" charset="0"/>
                <a:ea typeface="微软雅黑" panose="020B0503020204020204" pitchFamily="34" charset="-122"/>
              </a:rPr>
              <a:t>计算机网络 - 第 8 版</a:t>
            </a:r>
          </a:p>
        </p:txBody>
      </p:sp>
      <p:cxnSp>
        <p:nvCxnSpPr>
          <p:cNvPr id="13" name="直接连接符 12"/>
          <p:cNvCxnSpPr/>
          <p:nvPr/>
        </p:nvCxnSpPr>
        <p:spPr>
          <a:xfrm>
            <a:off x="0" y="3016721"/>
            <a:ext cx="2749685" cy="3175"/>
          </a:xfrm>
          <a:prstGeom prst="line">
            <a:avLst/>
          </a:prstGeom>
          <a:ln w="19050">
            <a:solidFill>
              <a:schemeClr val="bg1"/>
            </a:solidFill>
          </a:ln>
        </p:spPr>
        <p:style>
          <a:lnRef idx="1">
            <a:schemeClr val="accent1"/>
          </a:lnRef>
          <a:fillRef idx="0">
            <a:schemeClr val="accent1"/>
          </a:fillRef>
          <a:effectRef idx="0">
            <a:schemeClr val="accent1"/>
          </a:effectRef>
          <a:fontRef idx="minor">
            <a:schemeClr val="tx1"/>
          </a:fontRef>
        </p:style>
      </p:cxnSp>
      <p:pic>
        <p:nvPicPr>
          <p:cNvPr id="14" name="图片 9"/>
          <p:cNvPicPr>
            <a:picLocks noChangeAspect="1"/>
          </p:cNvPicPr>
          <p:nvPr/>
        </p:nvPicPr>
        <p:blipFill>
          <a:blip r:embed="rId4" cstate="print">
            <a:extLst>
              <a:ext uri="{BEBA8EAE-BF5A-486C-A8C5-ECC9F3942E4B}">
                <a14:imgProps xmlns:a14="http://schemas.microsoft.com/office/drawing/2010/main">
                  <a14:imgLayer r:embed="rId5">
                    <a14:imgEffect>
                      <a14:artisticPencilSketch/>
                    </a14:imgEffect>
                  </a14:imgLayer>
                </a14:imgProps>
              </a:ext>
              <a:ext uri="{28A0092B-C50C-407E-A947-70E740481C1C}">
                <a14:useLocalDpi xmlns:a14="http://schemas.microsoft.com/office/drawing/2010/main" val="0"/>
              </a:ext>
            </a:extLst>
          </a:blip>
          <a:srcRect/>
          <a:stretch>
            <a:fillRect/>
          </a:stretch>
        </p:blipFill>
        <p:spPr bwMode="auto">
          <a:xfrm>
            <a:off x="666405" y="231632"/>
            <a:ext cx="1198563" cy="285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 name="图片 4">
            <a:extLst>
              <a:ext uri="{FF2B5EF4-FFF2-40B4-BE49-F238E27FC236}">
                <a16:creationId xmlns:a16="http://schemas.microsoft.com/office/drawing/2014/main" id="{CA32DF29-5693-F599-F096-B66CB52D3AA0}"/>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26405" y="104507"/>
            <a:ext cx="540000" cy="540000"/>
          </a:xfrm>
          <a:prstGeom prst="rect">
            <a:avLst/>
          </a:prstGeom>
        </p:spPr>
      </p:pic>
      <p:sp>
        <p:nvSpPr>
          <p:cNvPr id="6" name="矩形 5">
            <a:extLst>
              <a:ext uri="{FF2B5EF4-FFF2-40B4-BE49-F238E27FC236}">
                <a16:creationId xmlns:a16="http://schemas.microsoft.com/office/drawing/2014/main" id="{551DB1CE-13F0-032E-9F7B-7C5FBF249954}"/>
              </a:ext>
            </a:extLst>
          </p:cNvPr>
          <p:cNvSpPr/>
          <p:nvPr/>
        </p:nvSpPr>
        <p:spPr>
          <a:xfrm>
            <a:off x="5945694" y="990842"/>
            <a:ext cx="2127505" cy="369332"/>
          </a:xfrm>
          <a:prstGeom prst="rect">
            <a:avLst/>
          </a:prstGeom>
        </p:spPr>
        <p:txBody>
          <a:bodyPr wrap="none">
            <a:spAutoFit/>
          </a:bodyPr>
          <a:lstStyle/>
          <a:p>
            <a:pPr eaLnBrk="0" hangingPunct="0"/>
            <a:r>
              <a:rPr lang="fr-FR" altLang="zh-CN" dirty="0">
                <a:solidFill>
                  <a:schemeClr val="bg1"/>
                </a:solidFill>
                <a:latin typeface="Montserrat" panose="00000500000000000000" pitchFamily="2" charset="0"/>
                <a:ea typeface="微软雅黑 Light" panose="020B0502040204020203" pitchFamily="34" charset="-122"/>
              </a:rPr>
              <a:t>Application layer</a:t>
            </a:r>
          </a:p>
        </p:txBody>
      </p:sp>
    </p:spTree>
    <p:extLst>
      <p:ext uri="{BB962C8B-B14F-4D97-AF65-F5344CB8AC3E}">
        <p14:creationId xmlns:p14="http://schemas.microsoft.com/office/powerpoint/2010/main" val="40205601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8">
            <a:extLst>
              <a:ext uri="{FF2B5EF4-FFF2-40B4-BE49-F238E27FC236}">
                <a16:creationId xmlns:a16="http://schemas.microsoft.com/office/drawing/2014/main" id="{BA19E582-4EAA-7E29-750D-3184A328FDE1}"/>
              </a:ext>
            </a:extLst>
          </p:cNvPr>
          <p:cNvSpPr>
            <a:spLocks noChangeArrowheads="1"/>
          </p:cNvSpPr>
          <p:nvPr/>
        </p:nvSpPr>
        <p:spPr bwMode="auto">
          <a:xfrm>
            <a:off x="3563766" y="1354881"/>
            <a:ext cx="4197661" cy="33746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6.1</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域名系统 </a:t>
            </a:r>
            <a:r>
              <a:rPr lang="en-US" altLang="zh-CN" sz="1600" dirty="0">
                <a:latin typeface="Montserrat" panose="00000500000000000000" pitchFamily="2" charset="0"/>
                <a:ea typeface="微软雅黑 Light" panose="020B0502040204020203" pitchFamily="34" charset="-122"/>
              </a:rPr>
              <a:t>DNS</a:t>
            </a:r>
            <a:endParaRPr lang="zh-CN" altLang="en-US"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6.2</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文件传送协议 </a:t>
            </a:r>
            <a:r>
              <a:rPr lang="en-US" altLang="zh-CN" sz="1600" dirty="0">
                <a:latin typeface="Montserrat" panose="00000500000000000000" pitchFamily="2" charset="0"/>
                <a:ea typeface="微软雅黑 Light" panose="020B0502040204020203" pitchFamily="34" charset="-122"/>
              </a:rPr>
              <a:t>FTP</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6.3</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远程终端协议 </a:t>
            </a:r>
            <a:r>
              <a:rPr lang="en-US" altLang="zh-CN" sz="1600" dirty="0">
                <a:latin typeface="Montserrat" panose="00000500000000000000" pitchFamily="2" charset="0"/>
                <a:ea typeface="微软雅黑 Light" panose="020B0502040204020203" pitchFamily="34" charset="-122"/>
              </a:rPr>
              <a:t>TELNET</a:t>
            </a:r>
            <a:endParaRPr lang="zh-CN" altLang="en-US"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6.4</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万维网 </a:t>
            </a:r>
            <a:r>
              <a:rPr lang="en-US" altLang="zh-CN" sz="1600" dirty="0">
                <a:latin typeface="Montserrat" panose="00000500000000000000" pitchFamily="2" charset="0"/>
                <a:ea typeface="微软雅黑 Light" panose="020B0502040204020203" pitchFamily="34" charset="-122"/>
              </a:rPr>
              <a:t>WWW</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电子邮件</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6.6</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动态主机配置协议 </a:t>
            </a:r>
            <a:r>
              <a:rPr lang="en-US" altLang="zh-CN" sz="1600" dirty="0">
                <a:latin typeface="Montserrat" panose="00000500000000000000" pitchFamily="2" charset="0"/>
                <a:ea typeface="微软雅黑 Light" panose="020B0502040204020203" pitchFamily="34" charset="-122"/>
              </a:rPr>
              <a:t>DHCP</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6.7</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简单网络管理协议 </a:t>
            </a:r>
            <a:r>
              <a:rPr lang="en-US" altLang="zh-CN" sz="1600" dirty="0">
                <a:latin typeface="Montserrat" panose="00000500000000000000" pitchFamily="2" charset="0"/>
                <a:ea typeface="微软雅黑 Light" panose="020B0502040204020203" pitchFamily="34" charset="-122"/>
              </a:rPr>
              <a:t>SNMP</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6.8 </a:t>
            </a:r>
            <a:r>
              <a:rPr lang="zh-CN" altLang="en-US" sz="1600" dirty="0">
                <a:latin typeface="Montserrat" panose="00000500000000000000" pitchFamily="2" charset="0"/>
                <a:ea typeface="微软雅黑 Light" panose="020B0502040204020203" pitchFamily="34" charset="-122"/>
              </a:rPr>
              <a:t>应用进程跨越网络的通信</a:t>
            </a:r>
            <a:endParaRPr lang="en-US" altLang="zh-CN"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6.9</a:t>
            </a:r>
            <a:r>
              <a:rPr lang="en-US" altLang="zh-CN" sz="1600" dirty="0">
                <a:latin typeface="Montserrat" panose="00000500000000000000" pitchFamily="2" charset="0"/>
                <a:ea typeface="微软雅黑 Light" panose="020B0502040204020203" pitchFamily="34" charset="-122"/>
              </a:rPr>
              <a:t> P2P </a:t>
            </a:r>
            <a:r>
              <a:rPr lang="zh-CN" altLang="en-US" sz="1600" dirty="0">
                <a:latin typeface="Montserrat" panose="00000500000000000000" pitchFamily="2" charset="0"/>
                <a:ea typeface="微软雅黑 Light" panose="020B0502040204020203" pitchFamily="34" charset="-122"/>
              </a:rPr>
              <a:t>应用</a:t>
            </a:r>
            <a:endParaRPr lang="en-US" altLang="zh-CN" sz="1600" dirty="0">
              <a:latin typeface="Montserrat" panose="00000500000000000000" pitchFamily="2" charset="0"/>
              <a:ea typeface="微软雅黑 Light" panose="020B0502040204020203" pitchFamily="34" charset="-122"/>
            </a:endParaRPr>
          </a:p>
        </p:txBody>
      </p:sp>
      <p:sp>
        <p:nvSpPr>
          <p:cNvPr id="3" name="Rectangle 29">
            <a:extLst>
              <a:ext uri="{FF2B5EF4-FFF2-40B4-BE49-F238E27FC236}">
                <a16:creationId xmlns:a16="http://schemas.microsoft.com/office/drawing/2014/main" id="{EE94B6BE-95C4-D087-337F-96DBB0809687}"/>
              </a:ext>
            </a:extLst>
          </p:cNvPr>
          <p:cNvSpPr>
            <a:spLocks noChangeArrowheads="1"/>
          </p:cNvSpPr>
          <p:nvPr/>
        </p:nvSpPr>
        <p:spPr bwMode="auto">
          <a:xfrm>
            <a:off x="3563766" y="711857"/>
            <a:ext cx="5090116"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solidFill>
                  <a:srgbClr val="C00000"/>
                </a:solidFill>
                <a:latin typeface="Montserrat" panose="00000500000000000000" pitchFamily="2" charset="0"/>
                <a:ea typeface="微软雅黑 Light" panose="020B0502040204020203" pitchFamily="34" charset="-122"/>
              </a:rPr>
              <a:t>Chap6</a:t>
            </a:r>
            <a:r>
              <a:rPr lang="en-US" altLang="zh-CN" sz="2000" dirty="0">
                <a:latin typeface="Montserrat" panose="00000500000000000000" pitchFamily="2" charset="0"/>
                <a:ea typeface="微软雅黑 Light" panose="020B0502040204020203" pitchFamily="34" charset="-122"/>
              </a:rPr>
              <a:t> </a:t>
            </a:r>
            <a:r>
              <a:rPr lang="zh-CN" altLang="en-US" sz="2000" dirty="0">
                <a:latin typeface="Montserrat" panose="00000500000000000000" pitchFamily="2" charset="0"/>
                <a:ea typeface="微软雅黑 Light" panose="020B0502040204020203" pitchFamily="34" charset="-122"/>
              </a:rPr>
              <a:t>应用层 </a:t>
            </a:r>
            <a:r>
              <a:rPr lang="en-US" altLang="zh-CN" sz="2000" dirty="0">
                <a:latin typeface="Montserrat" panose="00000500000000000000" pitchFamily="2" charset="0"/>
                <a:ea typeface="微软雅黑 Light" panose="020B0502040204020203" pitchFamily="34" charset="-122"/>
              </a:rPr>
              <a:t>Application layer</a:t>
            </a:r>
            <a:endParaRPr lang="zh-CN" altLang="fr-FR" sz="20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6435693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矩形: 圆角 6">
            <a:extLst>
              <a:ext uri="{FF2B5EF4-FFF2-40B4-BE49-F238E27FC236}">
                <a16:creationId xmlns:a16="http://schemas.microsoft.com/office/drawing/2014/main" id="{629400F3-DE53-B43D-CB6A-2946D23F5694}"/>
              </a:ext>
            </a:extLst>
          </p:cNvPr>
          <p:cNvSpPr/>
          <p:nvPr/>
        </p:nvSpPr>
        <p:spPr>
          <a:xfrm>
            <a:off x="2519493" y="3561883"/>
            <a:ext cx="900000" cy="288000"/>
          </a:xfrm>
          <a:prstGeom prst="roundRect">
            <a:avLst/>
          </a:prstGeom>
          <a:solidFill>
            <a:schemeClr val="tx2">
              <a:lumMod val="60000"/>
              <a:lumOff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P2P</a:t>
            </a:r>
            <a:endParaRPr lang="zh-CN" altLang="en-US" sz="1200" dirty="0">
              <a:latin typeface="Montserrat" panose="00000500000000000000" pitchFamily="2" charset="0"/>
            </a:endParaRPr>
          </a:p>
        </p:txBody>
      </p:sp>
      <p:sp>
        <p:nvSpPr>
          <p:cNvPr id="8" name="矩形: 圆角 7">
            <a:extLst>
              <a:ext uri="{FF2B5EF4-FFF2-40B4-BE49-F238E27FC236}">
                <a16:creationId xmlns:a16="http://schemas.microsoft.com/office/drawing/2014/main" id="{AA86A75B-8DFB-F371-3E52-09CE6AD8E86D}"/>
              </a:ext>
            </a:extLst>
          </p:cNvPr>
          <p:cNvSpPr/>
          <p:nvPr/>
        </p:nvSpPr>
        <p:spPr>
          <a:xfrm>
            <a:off x="2519493" y="1134793"/>
            <a:ext cx="900000" cy="288000"/>
          </a:xfrm>
          <a:prstGeom prst="roundRect">
            <a:avLst/>
          </a:prstGeom>
          <a:solidFill>
            <a:srgbClr val="20BF6B"/>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DNS</a:t>
            </a:r>
            <a:endParaRPr lang="zh-CN" altLang="en-US" sz="1200" dirty="0">
              <a:latin typeface="Montserrat" panose="00000500000000000000" pitchFamily="2" charset="0"/>
            </a:endParaRPr>
          </a:p>
        </p:txBody>
      </p:sp>
      <p:cxnSp>
        <p:nvCxnSpPr>
          <p:cNvPr id="9" name="连接符: 曲线 8">
            <a:extLst>
              <a:ext uri="{FF2B5EF4-FFF2-40B4-BE49-F238E27FC236}">
                <a16:creationId xmlns:a16="http://schemas.microsoft.com/office/drawing/2014/main" id="{60B1734A-3601-47A5-EA6C-5455500C472B}"/>
              </a:ext>
            </a:extLst>
          </p:cNvPr>
          <p:cNvCxnSpPr>
            <a:cxnSpLocks/>
            <a:stCxn id="20" idx="3"/>
            <a:endCxn id="8" idx="1"/>
          </p:cNvCxnSpPr>
          <p:nvPr/>
        </p:nvCxnSpPr>
        <p:spPr>
          <a:xfrm flipV="1">
            <a:off x="2150843" y="1278793"/>
            <a:ext cx="368650" cy="1213545"/>
          </a:xfrm>
          <a:prstGeom prst="curvedConnector3">
            <a:avLst>
              <a:gd name="adj1" fmla="val 50000"/>
            </a:avLst>
          </a:prstGeom>
          <a:ln>
            <a:solidFill>
              <a:srgbClr val="20BF6B"/>
            </a:solidFill>
          </a:ln>
        </p:spPr>
        <p:style>
          <a:lnRef idx="1">
            <a:schemeClr val="accent1"/>
          </a:lnRef>
          <a:fillRef idx="0">
            <a:schemeClr val="accent1"/>
          </a:fillRef>
          <a:effectRef idx="0">
            <a:schemeClr val="accent1"/>
          </a:effectRef>
          <a:fontRef idx="minor">
            <a:schemeClr val="tx1"/>
          </a:fontRef>
        </p:style>
      </p:cxnSp>
      <p:cxnSp>
        <p:nvCxnSpPr>
          <p:cNvPr id="10" name="连接符: 曲线 9">
            <a:extLst>
              <a:ext uri="{FF2B5EF4-FFF2-40B4-BE49-F238E27FC236}">
                <a16:creationId xmlns:a16="http://schemas.microsoft.com/office/drawing/2014/main" id="{6C0016EE-AAAB-765F-3CDF-AB4005732D52}"/>
              </a:ext>
            </a:extLst>
          </p:cNvPr>
          <p:cNvCxnSpPr>
            <a:cxnSpLocks/>
            <a:stCxn id="20" idx="3"/>
            <a:endCxn id="7" idx="1"/>
          </p:cNvCxnSpPr>
          <p:nvPr/>
        </p:nvCxnSpPr>
        <p:spPr>
          <a:xfrm>
            <a:off x="2150843" y="2492338"/>
            <a:ext cx="368650" cy="1213545"/>
          </a:xfrm>
          <a:prstGeom prst="curvedConnector3">
            <a:avLst>
              <a:gd name="adj1" fmla="val 50000"/>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20" name="矩形: 圆角 19">
            <a:extLst>
              <a:ext uri="{FF2B5EF4-FFF2-40B4-BE49-F238E27FC236}">
                <a16:creationId xmlns:a16="http://schemas.microsoft.com/office/drawing/2014/main" id="{D6544857-C00B-910E-3125-ED8D6CCE5CB9}"/>
              </a:ext>
            </a:extLst>
          </p:cNvPr>
          <p:cNvSpPr/>
          <p:nvPr/>
        </p:nvSpPr>
        <p:spPr>
          <a:xfrm>
            <a:off x="530843" y="2348338"/>
            <a:ext cx="1620000" cy="288000"/>
          </a:xfrm>
          <a:prstGeom prst="roundRect">
            <a:avLst/>
          </a:prstGeom>
          <a:solidFill>
            <a:schemeClr val="tx1"/>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ea typeface="微软雅黑" panose="020B0503020204020204" pitchFamily="34" charset="-122"/>
              </a:rPr>
              <a:t>Application Layer</a:t>
            </a:r>
            <a:endParaRPr lang="zh-CN" altLang="en-US" sz="1200" dirty="0">
              <a:latin typeface="Montserrat" panose="00000500000000000000" pitchFamily="2" charset="0"/>
              <a:ea typeface="微软雅黑" panose="020B0503020204020204" pitchFamily="34" charset="-122"/>
            </a:endParaRPr>
          </a:p>
        </p:txBody>
      </p:sp>
      <p:sp>
        <p:nvSpPr>
          <p:cNvPr id="27" name="矩形: 圆角 26">
            <a:extLst>
              <a:ext uri="{FF2B5EF4-FFF2-40B4-BE49-F238E27FC236}">
                <a16:creationId xmlns:a16="http://schemas.microsoft.com/office/drawing/2014/main" id="{DA7203CA-45D2-1372-A0DD-623479E1E401}"/>
              </a:ext>
            </a:extLst>
          </p:cNvPr>
          <p:cNvSpPr/>
          <p:nvPr/>
        </p:nvSpPr>
        <p:spPr>
          <a:xfrm>
            <a:off x="2519493" y="1481520"/>
            <a:ext cx="900000" cy="288000"/>
          </a:xfrm>
          <a:prstGeom prst="roundRect">
            <a:avLst/>
          </a:prstGeom>
          <a:solidFill>
            <a:srgbClr val="20BF6B"/>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FTP</a:t>
            </a:r>
            <a:endParaRPr lang="zh-CN" altLang="en-US" sz="1200" dirty="0">
              <a:latin typeface="Montserrat" panose="00000500000000000000" pitchFamily="2" charset="0"/>
            </a:endParaRPr>
          </a:p>
        </p:txBody>
      </p:sp>
      <p:sp>
        <p:nvSpPr>
          <p:cNvPr id="28" name="矩形: 圆角 27">
            <a:extLst>
              <a:ext uri="{FF2B5EF4-FFF2-40B4-BE49-F238E27FC236}">
                <a16:creationId xmlns:a16="http://schemas.microsoft.com/office/drawing/2014/main" id="{A8C33F42-C193-7D8C-7947-B5A3A1DE2639}"/>
              </a:ext>
            </a:extLst>
          </p:cNvPr>
          <p:cNvSpPr/>
          <p:nvPr/>
        </p:nvSpPr>
        <p:spPr>
          <a:xfrm>
            <a:off x="2519493" y="1828247"/>
            <a:ext cx="900000" cy="288000"/>
          </a:xfrm>
          <a:prstGeom prst="roundRect">
            <a:avLst/>
          </a:prstGeom>
          <a:solidFill>
            <a:srgbClr val="20BF6B"/>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Telnet</a:t>
            </a:r>
            <a:endParaRPr lang="zh-CN" altLang="en-US" sz="1200" dirty="0">
              <a:latin typeface="Montserrat" panose="00000500000000000000" pitchFamily="2" charset="0"/>
            </a:endParaRPr>
          </a:p>
        </p:txBody>
      </p:sp>
      <p:sp>
        <p:nvSpPr>
          <p:cNvPr id="29" name="矩形: 圆角 28">
            <a:extLst>
              <a:ext uri="{FF2B5EF4-FFF2-40B4-BE49-F238E27FC236}">
                <a16:creationId xmlns:a16="http://schemas.microsoft.com/office/drawing/2014/main" id="{DDC1F7D2-085D-C267-FE9C-E0D2771BA47C}"/>
              </a:ext>
            </a:extLst>
          </p:cNvPr>
          <p:cNvSpPr/>
          <p:nvPr/>
        </p:nvSpPr>
        <p:spPr>
          <a:xfrm>
            <a:off x="2519493" y="2174974"/>
            <a:ext cx="900000" cy="288000"/>
          </a:xfrm>
          <a:prstGeom prst="roundRect">
            <a:avLst/>
          </a:prstGeom>
          <a:solidFill>
            <a:srgbClr val="20BF6B"/>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WWW</a:t>
            </a:r>
            <a:endParaRPr lang="zh-CN" altLang="en-US" sz="1200" dirty="0">
              <a:latin typeface="Montserrat" panose="00000500000000000000" pitchFamily="2" charset="0"/>
            </a:endParaRPr>
          </a:p>
        </p:txBody>
      </p:sp>
      <p:sp>
        <p:nvSpPr>
          <p:cNvPr id="30" name="矩形: 圆角 29">
            <a:extLst>
              <a:ext uri="{FF2B5EF4-FFF2-40B4-BE49-F238E27FC236}">
                <a16:creationId xmlns:a16="http://schemas.microsoft.com/office/drawing/2014/main" id="{B8577513-8D06-0DE1-747E-7246703AE5B3}"/>
              </a:ext>
            </a:extLst>
          </p:cNvPr>
          <p:cNvSpPr/>
          <p:nvPr/>
        </p:nvSpPr>
        <p:spPr>
          <a:xfrm>
            <a:off x="2519493" y="2521701"/>
            <a:ext cx="900000" cy="288000"/>
          </a:xfrm>
          <a:prstGeom prst="roundRect">
            <a:avLst/>
          </a:prstGeom>
          <a:solidFill>
            <a:srgbClr val="20BF6B"/>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SMTP</a:t>
            </a:r>
            <a:endParaRPr lang="zh-CN" altLang="en-US" sz="1200" dirty="0">
              <a:latin typeface="Montserrat" panose="00000500000000000000" pitchFamily="2" charset="0"/>
            </a:endParaRPr>
          </a:p>
        </p:txBody>
      </p:sp>
      <p:sp>
        <p:nvSpPr>
          <p:cNvPr id="31" name="矩形: 圆角 30">
            <a:extLst>
              <a:ext uri="{FF2B5EF4-FFF2-40B4-BE49-F238E27FC236}">
                <a16:creationId xmlns:a16="http://schemas.microsoft.com/office/drawing/2014/main" id="{B42D4875-D682-F495-E53A-CCBB1E4924C8}"/>
              </a:ext>
            </a:extLst>
          </p:cNvPr>
          <p:cNvSpPr/>
          <p:nvPr/>
        </p:nvSpPr>
        <p:spPr>
          <a:xfrm>
            <a:off x="2519493" y="2868428"/>
            <a:ext cx="900000" cy="288000"/>
          </a:xfrm>
          <a:prstGeom prst="roundRect">
            <a:avLst/>
          </a:prstGeom>
          <a:solidFill>
            <a:srgbClr val="20BF6B"/>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DHCP</a:t>
            </a:r>
            <a:endParaRPr lang="zh-CN" altLang="en-US" sz="1200" dirty="0">
              <a:latin typeface="Montserrat" panose="00000500000000000000" pitchFamily="2" charset="0"/>
            </a:endParaRPr>
          </a:p>
        </p:txBody>
      </p:sp>
      <p:sp>
        <p:nvSpPr>
          <p:cNvPr id="32" name="矩形: 圆角 31">
            <a:extLst>
              <a:ext uri="{FF2B5EF4-FFF2-40B4-BE49-F238E27FC236}">
                <a16:creationId xmlns:a16="http://schemas.microsoft.com/office/drawing/2014/main" id="{4465E33A-66A6-19EA-211A-455DF95BB7F1}"/>
              </a:ext>
            </a:extLst>
          </p:cNvPr>
          <p:cNvSpPr/>
          <p:nvPr/>
        </p:nvSpPr>
        <p:spPr>
          <a:xfrm>
            <a:off x="2519493" y="3215155"/>
            <a:ext cx="900000" cy="288000"/>
          </a:xfrm>
          <a:prstGeom prst="roundRect">
            <a:avLst/>
          </a:prstGeom>
          <a:solidFill>
            <a:srgbClr val="20BF6B"/>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SNMP</a:t>
            </a:r>
            <a:endParaRPr lang="zh-CN" altLang="en-US" sz="1200" dirty="0">
              <a:latin typeface="Montserrat" panose="00000500000000000000" pitchFamily="2" charset="0"/>
            </a:endParaRPr>
          </a:p>
        </p:txBody>
      </p:sp>
    </p:spTree>
    <p:extLst>
      <p:ext uri="{BB962C8B-B14F-4D97-AF65-F5344CB8AC3E}">
        <p14:creationId xmlns:p14="http://schemas.microsoft.com/office/powerpoint/2010/main" val="35555905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立方体 1">
            <a:extLst>
              <a:ext uri="{FF2B5EF4-FFF2-40B4-BE49-F238E27FC236}">
                <a16:creationId xmlns:a16="http://schemas.microsoft.com/office/drawing/2014/main" id="{435C3A33-26FE-E3E7-0872-187E42137F9F}"/>
              </a:ext>
            </a:extLst>
          </p:cNvPr>
          <p:cNvSpPr/>
          <p:nvPr/>
        </p:nvSpPr>
        <p:spPr>
          <a:xfrm>
            <a:off x="5983013" y="3695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Physical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3" name="立方体 2">
            <a:extLst>
              <a:ext uri="{FF2B5EF4-FFF2-40B4-BE49-F238E27FC236}">
                <a16:creationId xmlns:a16="http://schemas.microsoft.com/office/drawing/2014/main" id="{5BBEED79-2FDF-A30A-3F5E-9997C4F4B485}"/>
              </a:ext>
            </a:extLst>
          </p:cNvPr>
          <p:cNvSpPr/>
          <p:nvPr/>
        </p:nvSpPr>
        <p:spPr>
          <a:xfrm>
            <a:off x="5983013" y="3263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Data-link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4" name="立方体 3">
            <a:extLst>
              <a:ext uri="{FF2B5EF4-FFF2-40B4-BE49-F238E27FC236}">
                <a16:creationId xmlns:a16="http://schemas.microsoft.com/office/drawing/2014/main" id="{3942FE45-4B66-D58E-0F63-E5C8764D8764}"/>
              </a:ext>
            </a:extLst>
          </p:cNvPr>
          <p:cNvSpPr/>
          <p:nvPr/>
        </p:nvSpPr>
        <p:spPr>
          <a:xfrm>
            <a:off x="5983013" y="2831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7" name="立方体 6">
            <a:extLst>
              <a:ext uri="{FF2B5EF4-FFF2-40B4-BE49-F238E27FC236}">
                <a16:creationId xmlns:a16="http://schemas.microsoft.com/office/drawing/2014/main" id="{AC16E806-4C54-1A71-BC62-CDF158228534}"/>
              </a:ext>
            </a:extLst>
          </p:cNvPr>
          <p:cNvSpPr/>
          <p:nvPr/>
        </p:nvSpPr>
        <p:spPr>
          <a:xfrm>
            <a:off x="5983013" y="2399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Transport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8" name="立方体 7">
            <a:extLst>
              <a:ext uri="{FF2B5EF4-FFF2-40B4-BE49-F238E27FC236}">
                <a16:creationId xmlns:a16="http://schemas.microsoft.com/office/drawing/2014/main" id="{FF170F7F-545A-BBE1-F38E-06E563AA7DD1}"/>
              </a:ext>
            </a:extLst>
          </p:cNvPr>
          <p:cNvSpPr/>
          <p:nvPr/>
        </p:nvSpPr>
        <p:spPr>
          <a:xfrm>
            <a:off x="5983013" y="1967090"/>
            <a:ext cx="2160000" cy="576000"/>
          </a:xfrm>
          <a:prstGeom prst="cube">
            <a:avLst/>
          </a:prstGeom>
          <a:solidFill>
            <a:schemeClr val="accent6">
              <a:lumMod val="7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Application layer</a:t>
            </a:r>
            <a:endParaRPr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9" name="Text Box 13">
            <a:extLst>
              <a:ext uri="{FF2B5EF4-FFF2-40B4-BE49-F238E27FC236}">
                <a16:creationId xmlns:a16="http://schemas.microsoft.com/office/drawing/2014/main" id="{839C774B-3804-877D-D39F-0536C858BEC9}"/>
              </a:ext>
            </a:extLst>
          </p:cNvPr>
          <p:cNvSpPr txBox="1">
            <a:spLocks noChangeArrowheads="1"/>
          </p:cNvSpPr>
          <p:nvPr/>
        </p:nvSpPr>
        <p:spPr bwMode="auto">
          <a:xfrm>
            <a:off x="1227962" y="4323367"/>
            <a:ext cx="1863011"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200" dirty="0">
                <a:solidFill>
                  <a:sysClr val="windowText" lastClr="000000"/>
                </a:solidFill>
                <a:latin typeface="Montserrat" panose="00000500000000000000" pitchFamily="2" charset="0"/>
                <a:ea typeface="微软雅黑 Light" panose="020B0502040204020203" pitchFamily="34" charset="-122"/>
              </a:rPr>
              <a:t>OSI </a:t>
            </a:r>
            <a:r>
              <a:rPr kumimoji="1" lang="zh-CN" altLang="en-US" sz="1200" dirty="0">
                <a:solidFill>
                  <a:sysClr val="windowText" lastClr="000000"/>
                </a:solidFill>
                <a:latin typeface="Montserrat" panose="00000500000000000000" pitchFamily="2" charset="0"/>
                <a:ea typeface="微软雅黑 Light" panose="020B0502040204020203" pitchFamily="34" charset="-122"/>
              </a:rPr>
              <a:t>的七层协议体系结构</a:t>
            </a:r>
          </a:p>
        </p:txBody>
      </p:sp>
      <p:sp>
        <p:nvSpPr>
          <p:cNvPr id="10" name="Text Box 12">
            <a:extLst>
              <a:ext uri="{FF2B5EF4-FFF2-40B4-BE49-F238E27FC236}">
                <a16:creationId xmlns:a16="http://schemas.microsoft.com/office/drawing/2014/main" id="{35267EE4-94AC-20A1-16B2-C38D408C3727}"/>
              </a:ext>
            </a:extLst>
          </p:cNvPr>
          <p:cNvSpPr txBox="1">
            <a:spLocks noChangeArrowheads="1"/>
          </p:cNvSpPr>
          <p:nvPr/>
        </p:nvSpPr>
        <p:spPr bwMode="auto">
          <a:xfrm>
            <a:off x="3547488" y="4323367"/>
            <a:ext cx="212750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200" dirty="0">
                <a:latin typeface="Montserrat" panose="00000500000000000000" pitchFamily="2" charset="0"/>
                <a:ea typeface="微软雅黑 Light" panose="020B0502040204020203" pitchFamily="34" charset="-122"/>
              </a:rPr>
              <a:t>TCP/IP </a:t>
            </a:r>
            <a:r>
              <a:rPr kumimoji="1" lang="zh-CN" altLang="en-US" sz="1200" dirty="0">
                <a:latin typeface="Montserrat" panose="00000500000000000000" pitchFamily="2" charset="0"/>
                <a:ea typeface="微软雅黑 Light" panose="020B0502040204020203" pitchFamily="34" charset="-122"/>
              </a:rPr>
              <a:t>的四层协议体系结构</a:t>
            </a:r>
          </a:p>
        </p:txBody>
      </p:sp>
      <p:sp>
        <p:nvSpPr>
          <p:cNvPr id="11" name="Text Box 113">
            <a:extLst>
              <a:ext uri="{FF2B5EF4-FFF2-40B4-BE49-F238E27FC236}">
                <a16:creationId xmlns:a16="http://schemas.microsoft.com/office/drawing/2014/main" id="{71AC5A9E-A7D4-6E70-1C3A-C9EA49BE2432}"/>
              </a:ext>
            </a:extLst>
          </p:cNvPr>
          <p:cNvSpPr txBox="1">
            <a:spLocks noChangeArrowheads="1"/>
          </p:cNvSpPr>
          <p:nvPr/>
        </p:nvSpPr>
        <p:spPr bwMode="auto">
          <a:xfrm>
            <a:off x="6278183" y="4323367"/>
            <a:ext cx="156966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fontAlgn="auto" hangingPunct="1">
              <a:spcBef>
                <a:spcPts val="0"/>
              </a:spcBef>
              <a:spcAft>
                <a:spcPts val="0"/>
              </a:spcAft>
              <a:defRPr/>
            </a:pPr>
            <a:r>
              <a:rPr lang="zh-CN" altLang="en-US" sz="1200" dirty="0">
                <a:latin typeface="Montserrat" panose="00000500000000000000" pitchFamily="2" charset="0"/>
                <a:ea typeface="微软雅黑 Light" panose="020B0502040204020203" pitchFamily="34" charset="-122"/>
              </a:rPr>
              <a:t>五层协议的体系结构</a:t>
            </a:r>
          </a:p>
        </p:txBody>
      </p:sp>
      <p:sp>
        <p:nvSpPr>
          <p:cNvPr id="12" name="立方体 11">
            <a:extLst>
              <a:ext uri="{FF2B5EF4-FFF2-40B4-BE49-F238E27FC236}">
                <a16:creationId xmlns:a16="http://schemas.microsoft.com/office/drawing/2014/main" id="{F9C55828-F5E0-0B53-4BBA-DBED06D45979}"/>
              </a:ext>
            </a:extLst>
          </p:cNvPr>
          <p:cNvSpPr/>
          <p:nvPr/>
        </p:nvSpPr>
        <p:spPr>
          <a:xfrm>
            <a:off x="1079467" y="3695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Physical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3" name="立方体 12">
            <a:extLst>
              <a:ext uri="{FF2B5EF4-FFF2-40B4-BE49-F238E27FC236}">
                <a16:creationId xmlns:a16="http://schemas.microsoft.com/office/drawing/2014/main" id="{D0F76DCC-754B-1D07-E625-F613FF231F9A}"/>
              </a:ext>
            </a:extLst>
          </p:cNvPr>
          <p:cNvSpPr/>
          <p:nvPr/>
        </p:nvSpPr>
        <p:spPr>
          <a:xfrm>
            <a:off x="1079467" y="3263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Data-link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4" name="立方体 13">
            <a:extLst>
              <a:ext uri="{FF2B5EF4-FFF2-40B4-BE49-F238E27FC236}">
                <a16:creationId xmlns:a16="http://schemas.microsoft.com/office/drawing/2014/main" id="{AD130686-D01A-03CA-9811-69900FA01F65}"/>
              </a:ext>
            </a:extLst>
          </p:cNvPr>
          <p:cNvSpPr/>
          <p:nvPr/>
        </p:nvSpPr>
        <p:spPr>
          <a:xfrm>
            <a:off x="1079467" y="2831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5" name="立方体 14">
            <a:extLst>
              <a:ext uri="{FF2B5EF4-FFF2-40B4-BE49-F238E27FC236}">
                <a16:creationId xmlns:a16="http://schemas.microsoft.com/office/drawing/2014/main" id="{31E9EFFF-39A9-5FF8-2C80-B125076CA022}"/>
              </a:ext>
            </a:extLst>
          </p:cNvPr>
          <p:cNvSpPr/>
          <p:nvPr/>
        </p:nvSpPr>
        <p:spPr>
          <a:xfrm>
            <a:off x="1079467" y="2399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Transport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6" name="立方体 15">
            <a:extLst>
              <a:ext uri="{FF2B5EF4-FFF2-40B4-BE49-F238E27FC236}">
                <a16:creationId xmlns:a16="http://schemas.microsoft.com/office/drawing/2014/main" id="{53B2E1FF-84A4-3B5D-EB3D-9F45AFF377A8}"/>
              </a:ext>
            </a:extLst>
          </p:cNvPr>
          <p:cNvSpPr/>
          <p:nvPr/>
        </p:nvSpPr>
        <p:spPr>
          <a:xfrm>
            <a:off x="1079467" y="1967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Session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7" name="立方体 16">
            <a:extLst>
              <a:ext uri="{FF2B5EF4-FFF2-40B4-BE49-F238E27FC236}">
                <a16:creationId xmlns:a16="http://schemas.microsoft.com/office/drawing/2014/main" id="{5AD7C9D4-5D75-34A4-FDB3-04F7C0D00772}"/>
              </a:ext>
            </a:extLst>
          </p:cNvPr>
          <p:cNvSpPr/>
          <p:nvPr/>
        </p:nvSpPr>
        <p:spPr>
          <a:xfrm>
            <a:off x="1079467" y="1536101"/>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Presentation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8" name="立方体 17">
            <a:extLst>
              <a:ext uri="{FF2B5EF4-FFF2-40B4-BE49-F238E27FC236}">
                <a16:creationId xmlns:a16="http://schemas.microsoft.com/office/drawing/2014/main" id="{B3CC4A8D-5DE9-B9C9-1761-BDF1741BBE2F}"/>
              </a:ext>
            </a:extLst>
          </p:cNvPr>
          <p:cNvSpPr/>
          <p:nvPr/>
        </p:nvSpPr>
        <p:spPr>
          <a:xfrm>
            <a:off x="1079467" y="1104101"/>
            <a:ext cx="2160000" cy="576000"/>
          </a:xfrm>
          <a:prstGeom prst="cube">
            <a:avLst/>
          </a:prstGeom>
          <a:solidFill>
            <a:schemeClr val="accent6">
              <a:lumMod val="7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Application layer</a:t>
            </a:r>
            <a:endParaRPr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19" name="立方体 18">
            <a:extLst>
              <a:ext uri="{FF2B5EF4-FFF2-40B4-BE49-F238E27FC236}">
                <a16:creationId xmlns:a16="http://schemas.microsoft.com/office/drawing/2014/main" id="{B6D68859-360D-D5F5-AC0B-CE64A496F5EB}"/>
              </a:ext>
            </a:extLst>
          </p:cNvPr>
          <p:cNvSpPr/>
          <p:nvPr/>
        </p:nvSpPr>
        <p:spPr>
          <a:xfrm>
            <a:off x="3531240" y="3695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Interface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20" name="立方体 19">
            <a:extLst>
              <a:ext uri="{FF2B5EF4-FFF2-40B4-BE49-F238E27FC236}">
                <a16:creationId xmlns:a16="http://schemas.microsoft.com/office/drawing/2014/main" id="{0C2950DC-F4FD-1B66-DE09-62FCC12CA38B}"/>
              </a:ext>
            </a:extLst>
          </p:cNvPr>
          <p:cNvSpPr/>
          <p:nvPr/>
        </p:nvSpPr>
        <p:spPr>
          <a:xfrm>
            <a:off x="3531240" y="3263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layer</a:t>
            </a:r>
          </a:p>
        </p:txBody>
      </p:sp>
      <p:sp>
        <p:nvSpPr>
          <p:cNvPr id="21" name="立方体 20">
            <a:extLst>
              <a:ext uri="{FF2B5EF4-FFF2-40B4-BE49-F238E27FC236}">
                <a16:creationId xmlns:a16="http://schemas.microsoft.com/office/drawing/2014/main" id="{2726D570-622A-ED1F-A74E-030CE7E092BB}"/>
              </a:ext>
            </a:extLst>
          </p:cNvPr>
          <p:cNvSpPr/>
          <p:nvPr/>
        </p:nvSpPr>
        <p:spPr>
          <a:xfrm>
            <a:off x="3531240" y="2831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Transport layer</a:t>
            </a:r>
          </a:p>
        </p:txBody>
      </p:sp>
      <p:sp>
        <p:nvSpPr>
          <p:cNvPr id="22" name="立方体 21">
            <a:extLst>
              <a:ext uri="{FF2B5EF4-FFF2-40B4-BE49-F238E27FC236}">
                <a16:creationId xmlns:a16="http://schemas.microsoft.com/office/drawing/2014/main" id="{C3585DD1-4685-5D0C-DED7-3B3F1EF5F3B5}"/>
              </a:ext>
            </a:extLst>
          </p:cNvPr>
          <p:cNvSpPr/>
          <p:nvPr/>
        </p:nvSpPr>
        <p:spPr>
          <a:xfrm>
            <a:off x="3531240" y="2399090"/>
            <a:ext cx="2160000" cy="576000"/>
          </a:xfrm>
          <a:prstGeom prst="cube">
            <a:avLst/>
          </a:prstGeom>
          <a:solidFill>
            <a:schemeClr val="accent6">
              <a:lumMod val="7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Application layer</a:t>
            </a:r>
          </a:p>
        </p:txBody>
      </p:sp>
      <p:sp>
        <p:nvSpPr>
          <p:cNvPr id="23" name="标题 22">
            <a:extLst>
              <a:ext uri="{FF2B5EF4-FFF2-40B4-BE49-F238E27FC236}">
                <a16:creationId xmlns:a16="http://schemas.microsoft.com/office/drawing/2014/main" id="{4D86DB01-FAC0-240E-94B6-A34E8A177EC5}"/>
              </a:ext>
            </a:extLst>
          </p:cNvPr>
          <p:cNvSpPr>
            <a:spLocks noGrp="1"/>
          </p:cNvSpPr>
          <p:nvPr>
            <p:ph type="title"/>
          </p:nvPr>
        </p:nvSpPr>
        <p:spPr>
          <a:xfrm>
            <a:off x="2880000" y="144000"/>
            <a:ext cx="3384000" cy="338554"/>
          </a:xfrm>
        </p:spPr>
        <p:txBody>
          <a:bodyPr/>
          <a:lstStyle/>
          <a:p>
            <a:r>
              <a:rPr lang="zh-CN" altLang="en-US" dirty="0"/>
              <a:t>计算机网络体系结构</a:t>
            </a:r>
          </a:p>
        </p:txBody>
      </p:sp>
    </p:spTree>
    <p:extLst>
      <p:ext uri="{BB962C8B-B14F-4D97-AF65-F5344CB8AC3E}">
        <p14:creationId xmlns:p14="http://schemas.microsoft.com/office/powerpoint/2010/main" val="22640046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1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9E70971-532E-31D0-8BF3-55D68B035738}"/>
              </a:ext>
            </a:extLst>
          </p:cNvPr>
          <p:cNvSpPr>
            <a:spLocks noGrp="1"/>
          </p:cNvSpPr>
          <p:nvPr>
            <p:ph type="title"/>
          </p:nvPr>
        </p:nvSpPr>
        <p:spPr>
          <a:xfrm>
            <a:off x="485999" y="174482"/>
            <a:ext cx="8171999" cy="338554"/>
          </a:xfrm>
        </p:spPr>
        <p:txBody>
          <a:bodyPr/>
          <a:lstStyle/>
          <a:p>
            <a:r>
              <a:rPr lang="en-US" altLang="zh-CN" dirty="0"/>
              <a:t>6 </a:t>
            </a:r>
            <a:r>
              <a:rPr lang="zh-CN" altLang="en-US" dirty="0"/>
              <a:t>应用层协议</a:t>
            </a:r>
          </a:p>
        </p:txBody>
      </p:sp>
      <p:sp>
        <p:nvSpPr>
          <p:cNvPr id="3" name="内容占位符 2">
            <a:extLst>
              <a:ext uri="{FF2B5EF4-FFF2-40B4-BE49-F238E27FC236}">
                <a16:creationId xmlns:a16="http://schemas.microsoft.com/office/drawing/2014/main" id="{5A563086-2AAD-32C9-387B-6D2138E14699}"/>
              </a:ext>
            </a:extLst>
          </p:cNvPr>
          <p:cNvSpPr>
            <a:spLocks noGrp="1"/>
          </p:cNvSpPr>
          <p:nvPr>
            <p:ph sz="quarter" idx="11"/>
          </p:nvPr>
        </p:nvSpPr>
        <p:spPr>
          <a:xfrm>
            <a:off x="486000" y="687518"/>
            <a:ext cx="8172000" cy="4079035"/>
          </a:xfrm>
        </p:spPr>
        <p:txBody>
          <a:bodyPr/>
          <a:lstStyle/>
          <a:p>
            <a:r>
              <a:rPr lang="zh-CN" altLang="en-US" dirty="0"/>
              <a:t>精确定义不同主机中的多个应用进程之间的通信规则</a:t>
            </a:r>
            <a:endParaRPr lang="en-US" altLang="zh-CN" dirty="0"/>
          </a:p>
          <a:p>
            <a:r>
              <a:rPr lang="zh-CN" altLang="en-US" dirty="0"/>
              <a:t>包括：</a:t>
            </a:r>
            <a:endParaRPr lang="en-US" altLang="zh-CN" dirty="0"/>
          </a:p>
          <a:p>
            <a:pPr lvl="1"/>
            <a:r>
              <a:rPr lang="zh-CN" altLang="en-US" dirty="0"/>
              <a:t>应用进程交换的报文类型，如请求报文和响应报文</a:t>
            </a:r>
          </a:p>
          <a:p>
            <a:pPr lvl="1"/>
            <a:r>
              <a:rPr lang="zh-CN" altLang="en-US" dirty="0"/>
              <a:t>各种报文类型的语法，如报文中的各个字段及其详细描述</a:t>
            </a:r>
          </a:p>
          <a:p>
            <a:pPr lvl="1"/>
            <a:r>
              <a:rPr lang="zh-CN" altLang="en-US" dirty="0"/>
              <a:t>字段的语义，即包含在字段中的信息的含义</a:t>
            </a:r>
          </a:p>
          <a:p>
            <a:pPr lvl="1"/>
            <a:r>
              <a:rPr lang="zh-CN" altLang="en-US" dirty="0"/>
              <a:t>进程何时、如何发送报文，以及对报文进行响应的规则</a:t>
            </a:r>
          </a:p>
          <a:p>
            <a:endParaRPr lang="zh-CN" altLang="en-US" dirty="0"/>
          </a:p>
        </p:txBody>
      </p:sp>
    </p:spTree>
    <p:extLst>
      <p:ext uri="{BB962C8B-B14F-4D97-AF65-F5344CB8AC3E}">
        <p14:creationId xmlns:p14="http://schemas.microsoft.com/office/powerpoint/2010/main" val="14007001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内容占位符 7">
            <a:extLst>
              <a:ext uri="{FF2B5EF4-FFF2-40B4-BE49-F238E27FC236}">
                <a16:creationId xmlns:a16="http://schemas.microsoft.com/office/drawing/2014/main" id="{F9066784-5CDA-FF05-0F0B-2236B25C9CC7}"/>
              </a:ext>
            </a:extLst>
          </p:cNvPr>
          <p:cNvSpPr>
            <a:spLocks noGrp="1"/>
          </p:cNvSpPr>
          <p:nvPr>
            <p:ph sz="quarter" idx="11"/>
          </p:nvPr>
        </p:nvSpPr>
        <p:spPr/>
        <p:txBody>
          <a:bodyPr/>
          <a:lstStyle/>
          <a:p>
            <a:endParaRPr lang="zh-CN" altLang="en-US"/>
          </a:p>
        </p:txBody>
      </p:sp>
      <p:graphicFrame>
        <p:nvGraphicFramePr>
          <p:cNvPr id="2" name="图示 1"/>
          <p:cNvGraphicFramePr/>
          <p:nvPr>
            <p:extLst>
              <p:ext uri="{D42A27DB-BD31-4B8C-83A1-F6EECF244321}">
                <p14:modId xmlns:p14="http://schemas.microsoft.com/office/powerpoint/2010/main" val="1537704943"/>
              </p:ext>
            </p:extLst>
          </p:nvPr>
        </p:nvGraphicFramePr>
        <p:xfrm>
          <a:off x="689500" y="1207367"/>
          <a:ext cx="3811477" cy="15891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6" name="图示 5"/>
          <p:cNvGraphicFramePr/>
          <p:nvPr>
            <p:extLst>
              <p:ext uri="{D42A27DB-BD31-4B8C-83A1-F6EECF244321}">
                <p14:modId xmlns:p14="http://schemas.microsoft.com/office/powerpoint/2010/main" val="3948227665"/>
              </p:ext>
            </p:extLst>
          </p:nvPr>
        </p:nvGraphicFramePr>
        <p:xfrm>
          <a:off x="4702207" y="1207367"/>
          <a:ext cx="3811477" cy="1589100"/>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
        <p:nvSpPr>
          <p:cNvPr id="3" name="标题 1">
            <a:extLst>
              <a:ext uri="{FF2B5EF4-FFF2-40B4-BE49-F238E27FC236}">
                <a16:creationId xmlns:a16="http://schemas.microsoft.com/office/drawing/2014/main" id="{E1674977-0B3C-56F4-49F2-E926D5A622D3}"/>
              </a:ext>
            </a:extLst>
          </p:cNvPr>
          <p:cNvSpPr txBox="1">
            <a:spLocks/>
          </p:cNvSpPr>
          <p:nvPr/>
        </p:nvSpPr>
        <p:spPr>
          <a:xfrm>
            <a:off x="485775" y="550863"/>
            <a:ext cx="8172450" cy="338137"/>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endParaRPr lang="zh-CN" altLang="en-US" dirty="0"/>
          </a:p>
        </p:txBody>
      </p:sp>
      <p:sp>
        <p:nvSpPr>
          <p:cNvPr id="4" name="标题 3">
            <a:extLst>
              <a:ext uri="{FF2B5EF4-FFF2-40B4-BE49-F238E27FC236}">
                <a16:creationId xmlns:a16="http://schemas.microsoft.com/office/drawing/2014/main" id="{A680794D-067E-7FBF-81C2-22449E54014C}"/>
              </a:ext>
            </a:extLst>
          </p:cNvPr>
          <p:cNvSpPr>
            <a:spLocks noGrp="1"/>
          </p:cNvSpPr>
          <p:nvPr>
            <p:ph type="title"/>
          </p:nvPr>
        </p:nvSpPr>
        <p:spPr>
          <a:xfrm>
            <a:off x="485999" y="174482"/>
            <a:ext cx="8171999" cy="338554"/>
          </a:xfrm>
        </p:spPr>
        <p:txBody>
          <a:bodyPr/>
          <a:lstStyle/>
          <a:p>
            <a:r>
              <a:rPr lang="en-US" altLang="zh-CN" dirty="0"/>
              <a:t>6 </a:t>
            </a:r>
            <a:r>
              <a:rPr lang="zh-CN" altLang="en-US" dirty="0"/>
              <a:t>应用层协议</a:t>
            </a:r>
          </a:p>
        </p:txBody>
      </p:sp>
    </p:spTree>
    <p:extLst>
      <p:ext uri="{BB962C8B-B14F-4D97-AF65-F5344CB8AC3E}">
        <p14:creationId xmlns:p14="http://schemas.microsoft.com/office/powerpoint/2010/main" val="15284366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0"/>
                                  </p:stCondLst>
                                  <p:childTnLst>
                                    <p:set>
                                      <p:cBhvr>
                                        <p:cTn id="6" dur="1" fill="hold">
                                          <p:stCondLst>
                                            <p:cond delay="0"/>
                                          </p:stCondLst>
                                        </p:cTn>
                                        <p:tgtEl>
                                          <p:spTgt spid="2">
                                            <p:graphicEl>
                                              <a:dgm id="{7908BCB8-DE9B-4BF1-8D07-3A3FD24C7968}"/>
                                            </p:graphicEl>
                                          </p:spTgt>
                                        </p:tgtEl>
                                        <p:attrNameLst>
                                          <p:attrName>style.visibility</p:attrName>
                                        </p:attrNameLst>
                                      </p:cBhvr>
                                      <p:to>
                                        <p:strVal val="visible"/>
                                      </p:to>
                                    </p:set>
                                    <p:animEffect transition="in" filter="wipe(up)">
                                      <p:cBhvr>
                                        <p:cTn id="7" dur="1000"/>
                                        <p:tgtEl>
                                          <p:spTgt spid="2">
                                            <p:graphicEl>
                                              <a:dgm id="{7908BCB8-DE9B-4BF1-8D07-3A3FD24C7968}"/>
                                            </p:graphic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2">
                                            <p:graphicEl>
                                              <a:dgm id="{F381CC4E-322C-45E6-B7E7-4ED70FA8CF2E}"/>
                                            </p:graphicEl>
                                          </p:spTgt>
                                        </p:tgtEl>
                                        <p:attrNameLst>
                                          <p:attrName>style.visibility</p:attrName>
                                        </p:attrNameLst>
                                      </p:cBhvr>
                                      <p:to>
                                        <p:strVal val="visible"/>
                                      </p:to>
                                    </p:set>
                                    <p:animEffect transition="in" filter="wipe(up)">
                                      <p:cBhvr>
                                        <p:cTn id="12" dur="1000"/>
                                        <p:tgtEl>
                                          <p:spTgt spid="2">
                                            <p:graphicEl>
                                              <a:dgm id="{F381CC4E-322C-45E6-B7E7-4ED70FA8CF2E}"/>
                                            </p:graphicEl>
                                          </p:spTgt>
                                        </p:tgtEl>
                                      </p:cBhvr>
                                    </p:animEffect>
                                  </p:childTnLst>
                                </p:cTn>
                              </p:par>
                            </p:childTnLst>
                          </p:cTn>
                        </p:par>
                        <p:par>
                          <p:cTn id="13" fill="hold">
                            <p:stCondLst>
                              <p:cond delay="1000"/>
                            </p:stCondLst>
                            <p:childTnLst>
                              <p:par>
                                <p:cTn id="14" presetID="22" presetClass="entr" presetSubtype="1" fill="hold" grpId="0" nodeType="afterEffect">
                                  <p:stCondLst>
                                    <p:cond delay="0"/>
                                  </p:stCondLst>
                                  <p:childTnLst>
                                    <p:set>
                                      <p:cBhvr>
                                        <p:cTn id="15" dur="1" fill="hold">
                                          <p:stCondLst>
                                            <p:cond delay="0"/>
                                          </p:stCondLst>
                                        </p:cTn>
                                        <p:tgtEl>
                                          <p:spTgt spid="2">
                                            <p:graphicEl>
                                              <a:dgm id="{1F36E606-4D05-483A-959D-7AFAA3F99964}"/>
                                            </p:graphicEl>
                                          </p:spTgt>
                                        </p:tgtEl>
                                        <p:attrNameLst>
                                          <p:attrName>style.visibility</p:attrName>
                                        </p:attrNameLst>
                                      </p:cBhvr>
                                      <p:to>
                                        <p:strVal val="visible"/>
                                      </p:to>
                                    </p:set>
                                    <p:animEffect transition="in" filter="wipe(up)">
                                      <p:cBhvr>
                                        <p:cTn id="16" dur="1000"/>
                                        <p:tgtEl>
                                          <p:spTgt spid="2">
                                            <p:graphicEl>
                                              <a:dgm id="{1F36E606-4D05-483A-959D-7AFAA3F99964}"/>
                                            </p:graphicEl>
                                          </p:spTgt>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1" fill="hold" grpId="0" nodeType="clickEffect">
                                  <p:stCondLst>
                                    <p:cond delay="0"/>
                                  </p:stCondLst>
                                  <p:childTnLst>
                                    <p:set>
                                      <p:cBhvr>
                                        <p:cTn id="20" dur="1" fill="hold">
                                          <p:stCondLst>
                                            <p:cond delay="0"/>
                                          </p:stCondLst>
                                        </p:cTn>
                                        <p:tgtEl>
                                          <p:spTgt spid="2">
                                            <p:graphicEl>
                                              <a:dgm id="{49899EA7-F8C0-4BB7-A6AD-5F40B1731420}"/>
                                            </p:graphicEl>
                                          </p:spTgt>
                                        </p:tgtEl>
                                        <p:attrNameLst>
                                          <p:attrName>style.visibility</p:attrName>
                                        </p:attrNameLst>
                                      </p:cBhvr>
                                      <p:to>
                                        <p:strVal val="visible"/>
                                      </p:to>
                                    </p:set>
                                    <p:animEffect transition="in" filter="wipe(up)">
                                      <p:cBhvr>
                                        <p:cTn id="21" dur="1000"/>
                                        <p:tgtEl>
                                          <p:spTgt spid="2">
                                            <p:graphicEl>
                                              <a:dgm id="{49899EA7-F8C0-4BB7-A6AD-5F40B1731420}"/>
                                            </p:graphicEl>
                                          </p:spTgt>
                                        </p:tgtEl>
                                      </p:cBhvr>
                                    </p:animEffect>
                                  </p:childTnLst>
                                </p:cTn>
                              </p:par>
                            </p:childTnLst>
                          </p:cTn>
                        </p:par>
                        <p:par>
                          <p:cTn id="22" fill="hold">
                            <p:stCondLst>
                              <p:cond delay="1000"/>
                            </p:stCondLst>
                            <p:childTnLst>
                              <p:par>
                                <p:cTn id="23" presetID="22" presetClass="entr" presetSubtype="1" fill="hold" grpId="0" nodeType="afterEffect">
                                  <p:stCondLst>
                                    <p:cond delay="0"/>
                                  </p:stCondLst>
                                  <p:childTnLst>
                                    <p:set>
                                      <p:cBhvr>
                                        <p:cTn id="24" dur="1" fill="hold">
                                          <p:stCondLst>
                                            <p:cond delay="0"/>
                                          </p:stCondLst>
                                        </p:cTn>
                                        <p:tgtEl>
                                          <p:spTgt spid="2">
                                            <p:graphicEl>
                                              <a:dgm id="{07CD9CA8-8213-4B82-96DE-5A2E23AB39DC}"/>
                                            </p:graphicEl>
                                          </p:spTgt>
                                        </p:tgtEl>
                                        <p:attrNameLst>
                                          <p:attrName>style.visibility</p:attrName>
                                        </p:attrNameLst>
                                      </p:cBhvr>
                                      <p:to>
                                        <p:strVal val="visible"/>
                                      </p:to>
                                    </p:set>
                                    <p:animEffect transition="in" filter="wipe(up)">
                                      <p:cBhvr>
                                        <p:cTn id="25" dur="1000"/>
                                        <p:tgtEl>
                                          <p:spTgt spid="2">
                                            <p:graphicEl>
                                              <a:dgm id="{07CD9CA8-8213-4B82-96DE-5A2E23AB39DC}"/>
                                            </p:graphicEl>
                                          </p:spTgt>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1" fill="hold" grpId="0" nodeType="clickEffect">
                                  <p:stCondLst>
                                    <p:cond delay="0"/>
                                  </p:stCondLst>
                                  <p:childTnLst>
                                    <p:set>
                                      <p:cBhvr>
                                        <p:cTn id="29" dur="1" fill="hold">
                                          <p:stCondLst>
                                            <p:cond delay="0"/>
                                          </p:stCondLst>
                                        </p:cTn>
                                        <p:tgtEl>
                                          <p:spTgt spid="2">
                                            <p:graphicEl>
                                              <a:dgm id="{D772C529-9144-4F64-AC62-C41998E87A93}"/>
                                            </p:graphicEl>
                                          </p:spTgt>
                                        </p:tgtEl>
                                        <p:attrNameLst>
                                          <p:attrName>style.visibility</p:attrName>
                                        </p:attrNameLst>
                                      </p:cBhvr>
                                      <p:to>
                                        <p:strVal val="visible"/>
                                      </p:to>
                                    </p:set>
                                    <p:animEffect transition="in" filter="wipe(up)">
                                      <p:cBhvr>
                                        <p:cTn id="30" dur="1000"/>
                                        <p:tgtEl>
                                          <p:spTgt spid="2">
                                            <p:graphicEl>
                                              <a:dgm id="{D772C529-9144-4F64-AC62-C41998E87A93}"/>
                                            </p:graphicEl>
                                          </p:spTgt>
                                        </p:tgtEl>
                                      </p:cBhvr>
                                    </p:animEffect>
                                  </p:childTnLst>
                                </p:cTn>
                              </p:par>
                            </p:childTnLst>
                          </p:cTn>
                        </p:par>
                        <p:par>
                          <p:cTn id="31" fill="hold">
                            <p:stCondLst>
                              <p:cond delay="1000"/>
                            </p:stCondLst>
                            <p:childTnLst>
                              <p:par>
                                <p:cTn id="32" presetID="22" presetClass="entr" presetSubtype="1" fill="hold" grpId="0" nodeType="afterEffect">
                                  <p:stCondLst>
                                    <p:cond delay="0"/>
                                  </p:stCondLst>
                                  <p:childTnLst>
                                    <p:set>
                                      <p:cBhvr>
                                        <p:cTn id="33" dur="1" fill="hold">
                                          <p:stCondLst>
                                            <p:cond delay="0"/>
                                          </p:stCondLst>
                                        </p:cTn>
                                        <p:tgtEl>
                                          <p:spTgt spid="2">
                                            <p:graphicEl>
                                              <a:dgm id="{629FD194-4F20-42AB-A0D3-D63455B286FC}"/>
                                            </p:graphicEl>
                                          </p:spTgt>
                                        </p:tgtEl>
                                        <p:attrNameLst>
                                          <p:attrName>style.visibility</p:attrName>
                                        </p:attrNameLst>
                                      </p:cBhvr>
                                      <p:to>
                                        <p:strVal val="visible"/>
                                      </p:to>
                                    </p:set>
                                    <p:animEffect transition="in" filter="wipe(up)">
                                      <p:cBhvr>
                                        <p:cTn id="34" dur="1000"/>
                                        <p:tgtEl>
                                          <p:spTgt spid="2">
                                            <p:graphicEl>
                                              <a:dgm id="{629FD194-4F20-42AB-A0D3-D63455B286FC}"/>
                                            </p:graphic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1" fill="hold" grpId="0" nodeType="clickEffect">
                                  <p:stCondLst>
                                    <p:cond delay="0"/>
                                  </p:stCondLst>
                                  <p:childTnLst>
                                    <p:set>
                                      <p:cBhvr>
                                        <p:cTn id="38" dur="1" fill="hold">
                                          <p:stCondLst>
                                            <p:cond delay="0"/>
                                          </p:stCondLst>
                                        </p:cTn>
                                        <p:tgtEl>
                                          <p:spTgt spid="6">
                                            <p:graphicEl>
                                              <a:dgm id="{7908BCB8-DE9B-4BF1-8D07-3A3FD24C7968}"/>
                                            </p:graphicEl>
                                          </p:spTgt>
                                        </p:tgtEl>
                                        <p:attrNameLst>
                                          <p:attrName>style.visibility</p:attrName>
                                        </p:attrNameLst>
                                      </p:cBhvr>
                                      <p:to>
                                        <p:strVal val="visible"/>
                                      </p:to>
                                    </p:set>
                                    <p:animEffect transition="in" filter="wipe(up)">
                                      <p:cBhvr>
                                        <p:cTn id="39" dur="1000"/>
                                        <p:tgtEl>
                                          <p:spTgt spid="6">
                                            <p:graphicEl>
                                              <a:dgm id="{7908BCB8-DE9B-4BF1-8D07-3A3FD24C7968}"/>
                                            </p:graphicEl>
                                          </p:spTgt>
                                        </p:tgtEl>
                                      </p:cBhvr>
                                    </p:animEffect>
                                  </p:childTnLst>
                                </p:cTn>
                              </p:par>
                            </p:childTnLst>
                          </p:cTn>
                        </p:par>
                        <p:par>
                          <p:cTn id="40" fill="hold">
                            <p:stCondLst>
                              <p:cond delay="1000"/>
                            </p:stCondLst>
                            <p:childTnLst>
                              <p:par>
                                <p:cTn id="41" presetID="22" presetClass="entr" presetSubtype="1" fill="hold" grpId="0" nodeType="afterEffect">
                                  <p:stCondLst>
                                    <p:cond delay="0"/>
                                  </p:stCondLst>
                                  <p:childTnLst>
                                    <p:set>
                                      <p:cBhvr>
                                        <p:cTn id="42" dur="1" fill="hold">
                                          <p:stCondLst>
                                            <p:cond delay="0"/>
                                          </p:stCondLst>
                                        </p:cTn>
                                        <p:tgtEl>
                                          <p:spTgt spid="6">
                                            <p:graphicEl>
                                              <a:dgm id="{F381CC4E-322C-45E6-B7E7-4ED70FA8CF2E}"/>
                                            </p:graphicEl>
                                          </p:spTgt>
                                        </p:tgtEl>
                                        <p:attrNameLst>
                                          <p:attrName>style.visibility</p:attrName>
                                        </p:attrNameLst>
                                      </p:cBhvr>
                                      <p:to>
                                        <p:strVal val="visible"/>
                                      </p:to>
                                    </p:set>
                                    <p:animEffect transition="in" filter="wipe(up)">
                                      <p:cBhvr>
                                        <p:cTn id="43" dur="1000"/>
                                        <p:tgtEl>
                                          <p:spTgt spid="6">
                                            <p:graphicEl>
                                              <a:dgm id="{F381CC4E-322C-45E6-B7E7-4ED70FA8CF2E}"/>
                                            </p:graphicEl>
                                          </p:spTgt>
                                        </p:tgtEl>
                                      </p:cBhvr>
                                    </p:animEffect>
                                  </p:childTnLst>
                                </p:cTn>
                              </p:par>
                            </p:childTnLst>
                          </p:cTn>
                        </p:par>
                        <p:par>
                          <p:cTn id="44" fill="hold">
                            <p:stCondLst>
                              <p:cond delay="2000"/>
                            </p:stCondLst>
                            <p:childTnLst>
                              <p:par>
                                <p:cTn id="45" presetID="22" presetClass="entr" presetSubtype="1" fill="hold" grpId="0" nodeType="afterEffect">
                                  <p:stCondLst>
                                    <p:cond delay="0"/>
                                  </p:stCondLst>
                                  <p:childTnLst>
                                    <p:set>
                                      <p:cBhvr>
                                        <p:cTn id="46" dur="1" fill="hold">
                                          <p:stCondLst>
                                            <p:cond delay="0"/>
                                          </p:stCondLst>
                                        </p:cTn>
                                        <p:tgtEl>
                                          <p:spTgt spid="6">
                                            <p:graphicEl>
                                              <a:dgm id="{1F36E606-4D05-483A-959D-7AFAA3F99964}"/>
                                            </p:graphicEl>
                                          </p:spTgt>
                                        </p:tgtEl>
                                        <p:attrNameLst>
                                          <p:attrName>style.visibility</p:attrName>
                                        </p:attrNameLst>
                                      </p:cBhvr>
                                      <p:to>
                                        <p:strVal val="visible"/>
                                      </p:to>
                                    </p:set>
                                    <p:animEffect transition="in" filter="wipe(up)">
                                      <p:cBhvr>
                                        <p:cTn id="47" dur="1000"/>
                                        <p:tgtEl>
                                          <p:spTgt spid="6">
                                            <p:graphicEl>
                                              <a:dgm id="{1F36E606-4D05-483A-959D-7AFAA3F99964}"/>
                                            </p:graphicEl>
                                          </p:spTgt>
                                        </p:tgtEl>
                                      </p:cBhvr>
                                    </p:animEffect>
                                  </p:childTnLst>
                                </p:cTn>
                              </p:par>
                            </p:childTnLst>
                          </p:cTn>
                        </p:par>
                        <p:par>
                          <p:cTn id="48" fill="hold">
                            <p:stCondLst>
                              <p:cond delay="3000"/>
                            </p:stCondLst>
                            <p:childTnLst>
                              <p:par>
                                <p:cTn id="49" presetID="22" presetClass="entr" presetSubtype="1" fill="hold" grpId="0" nodeType="afterEffect">
                                  <p:stCondLst>
                                    <p:cond delay="0"/>
                                  </p:stCondLst>
                                  <p:childTnLst>
                                    <p:set>
                                      <p:cBhvr>
                                        <p:cTn id="50" dur="1" fill="hold">
                                          <p:stCondLst>
                                            <p:cond delay="0"/>
                                          </p:stCondLst>
                                        </p:cTn>
                                        <p:tgtEl>
                                          <p:spTgt spid="6">
                                            <p:graphicEl>
                                              <a:dgm id="{49899EA7-F8C0-4BB7-A6AD-5F40B1731420}"/>
                                            </p:graphicEl>
                                          </p:spTgt>
                                        </p:tgtEl>
                                        <p:attrNameLst>
                                          <p:attrName>style.visibility</p:attrName>
                                        </p:attrNameLst>
                                      </p:cBhvr>
                                      <p:to>
                                        <p:strVal val="visible"/>
                                      </p:to>
                                    </p:set>
                                    <p:animEffect transition="in" filter="wipe(up)">
                                      <p:cBhvr>
                                        <p:cTn id="51" dur="1000"/>
                                        <p:tgtEl>
                                          <p:spTgt spid="6">
                                            <p:graphicEl>
                                              <a:dgm id="{49899EA7-F8C0-4BB7-A6AD-5F40B1731420}"/>
                                            </p:graphicEl>
                                          </p:spTgt>
                                        </p:tgtEl>
                                      </p:cBhvr>
                                    </p:animEffect>
                                  </p:childTnLst>
                                </p:cTn>
                              </p:par>
                            </p:childTnLst>
                          </p:cTn>
                        </p:par>
                        <p:par>
                          <p:cTn id="52" fill="hold">
                            <p:stCondLst>
                              <p:cond delay="4000"/>
                            </p:stCondLst>
                            <p:childTnLst>
                              <p:par>
                                <p:cTn id="53" presetID="22" presetClass="entr" presetSubtype="1" fill="hold" grpId="0" nodeType="afterEffect">
                                  <p:stCondLst>
                                    <p:cond delay="0"/>
                                  </p:stCondLst>
                                  <p:childTnLst>
                                    <p:set>
                                      <p:cBhvr>
                                        <p:cTn id="54" dur="1" fill="hold">
                                          <p:stCondLst>
                                            <p:cond delay="0"/>
                                          </p:stCondLst>
                                        </p:cTn>
                                        <p:tgtEl>
                                          <p:spTgt spid="6">
                                            <p:graphicEl>
                                              <a:dgm id="{07CD9CA8-8213-4B82-96DE-5A2E23AB39DC}"/>
                                            </p:graphicEl>
                                          </p:spTgt>
                                        </p:tgtEl>
                                        <p:attrNameLst>
                                          <p:attrName>style.visibility</p:attrName>
                                        </p:attrNameLst>
                                      </p:cBhvr>
                                      <p:to>
                                        <p:strVal val="visible"/>
                                      </p:to>
                                    </p:set>
                                    <p:animEffect transition="in" filter="wipe(up)">
                                      <p:cBhvr>
                                        <p:cTn id="55" dur="1000"/>
                                        <p:tgtEl>
                                          <p:spTgt spid="6">
                                            <p:graphicEl>
                                              <a:dgm id="{07CD9CA8-8213-4B82-96DE-5A2E23AB39DC}"/>
                                            </p:graphicEl>
                                          </p:spTgt>
                                        </p:tgtEl>
                                      </p:cBhvr>
                                    </p:animEffect>
                                  </p:childTnLst>
                                </p:cTn>
                              </p:par>
                            </p:childTnLst>
                          </p:cTn>
                        </p:par>
                        <p:par>
                          <p:cTn id="56" fill="hold">
                            <p:stCondLst>
                              <p:cond delay="5000"/>
                            </p:stCondLst>
                            <p:childTnLst>
                              <p:par>
                                <p:cTn id="57" presetID="22" presetClass="entr" presetSubtype="1" fill="hold" grpId="0" nodeType="afterEffect">
                                  <p:stCondLst>
                                    <p:cond delay="0"/>
                                  </p:stCondLst>
                                  <p:childTnLst>
                                    <p:set>
                                      <p:cBhvr>
                                        <p:cTn id="58" dur="1" fill="hold">
                                          <p:stCondLst>
                                            <p:cond delay="0"/>
                                          </p:stCondLst>
                                        </p:cTn>
                                        <p:tgtEl>
                                          <p:spTgt spid="6">
                                            <p:graphicEl>
                                              <a:dgm id="{D772C529-9144-4F64-AC62-C41998E87A93}"/>
                                            </p:graphicEl>
                                          </p:spTgt>
                                        </p:tgtEl>
                                        <p:attrNameLst>
                                          <p:attrName>style.visibility</p:attrName>
                                        </p:attrNameLst>
                                      </p:cBhvr>
                                      <p:to>
                                        <p:strVal val="visible"/>
                                      </p:to>
                                    </p:set>
                                    <p:animEffect transition="in" filter="wipe(up)">
                                      <p:cBhvr>
                                        <p:cTn id="59" dur="1000"/>
                                        <p:tgtEl>
                                          <p:spTgt spid="6">
                                            <p:graphicEl>
                                              <a:dgm id="{D772C529-9144-4F64-AC62-C41998E87A93}"/>
                                            </p:graphicEl>
                                          </p:spTgt>
                                        </p:tgtEl>
                                      </p:cBhvr>
                                    </p:animEffect>
                                  </p:childTnLst>
                                </p:cTn>
                              </p:par>
                            </p:childTnLst>
                          </p:cTn>
                        </p:par>
                        <p:par>
                          <p:cTn id="60" fill="hold">
                            <p:stCondLst>
                              <p:cond delay="6000"/>
                            </p:stCondLst>
                            <p:childTnLst>
                              <p:par>
                                <p:cTn id="61" presetID="22" presetClass="entr" presetSubtype="1" fill="hold" grpId="0" nodeType="afterEffect">
                                  <p:stCondLst>
                                    <p:cond delay="0"/>
                                  </p:stCondLst>
                                  <p:childTnLst>
                                    <p:set>
                                      <p:cBhvr>
                                        <p:cTn id="62" dur="1" fill="hold">
                                          <p:stCondLst>
                                            <p:cond delay="0"/>
                                          </p:stCondLst>
                                        </p:cTn>
                                        <p:tgtEl>
                                          <p:spTgt spid="6">
                                            <p:graphicEl>
                                              <a:dgm id="{629FD194-4F20-42AB-A0D3-D63455B286FC}"/>
                                            </p:graphicEl>
                                          </p:spTgt>
                                        </p:tgtEl>
                                        <p:attrNameLst>
                                          <p:attrName>style.visibility</p:attrName>
                                        </p:attrNameLst>
                                      </p:cBhvr>
                                      <p:to>
                                        <p:strVal val="visible"/>
                                      </p:to>
                                    </p:set>
                                    <p:animEffect transition="in" filter="wipe(up)">
                                      <p:cBhvr>
                                        <p:cTn id="63" dur="1000"/>
                                        <p:tgtEl>
                                          <p:spTgt spid="6">
                                            <p:graphicEl>
                                              <a:dgm id="{629FD194-4F20-42AB-A0D3-D63455B286FC}"/>
                                            </p:graphic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2" grpId="0" uiExpand="1">
        <p:bldSub>
          <a:bldDgm bld="lvlOne"/>
        </p:bldSub>
      </p:bldGraphic>
      <p:bldGraphic spid="6" grpId="0" uiExpand="1">
        <p:bldSub>
          <a:bldDgm bld="lvlOne"/>
        </p:bldSub>
      </p:bldGraphic>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Line 16"/>
          <p:cNvSpPr>
            <a:spLocks noChangeShapeType="1"/>
          </p:cNvSpPr>
          <p:nvPr/>
        </p:nvSpPr>
        <p:spPr bwMode="auto">
          <a:xfrm>
            <a:off x="3637198" y="1311966"/>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2" name="Rectangle 8">
            <a:extLst>
              <a:ext uri="{FF2B5EF4-FFF2-40B4-BE49-F238E27FC236}">
                <a16:creationId xmlns:a16="http://schemas.microsoft.com/office/drawing/2014/main" id="{6429693B-80FE-9424-A5DC-374B5FB5758B}"/>
              </a:ext>
            </a:extLst>
          </p:cNvPr>
          <p:cNvSpPr>
            <a:spLocks noChangeArrowheads="1"/>
          </p:cNvSpPr>
          <p:nvPr/>
        </p:nvSpPr>
        <p:spPr bwMode="auto">
          <a:xfrm>
            <a:off x="3563766" y="1354881"/>
            <a:ext cx="4197661" cy="11585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6.1.1</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域名系统 </a:t>
            </a:r>
            <a:r>
              <a:rPr lang="en-US" altLang="zh-CN" sz="1600" dirty="0">
                <a:latin typeface="Montserrat" panose="00000500000000000000" pitchFamily="2" charset="0"/>
                <a:ea typeface="微软雅黑 Light" panose="020B0502040204020203" pitchFamily="34" charset="-122"/>
              </a:rPr>
              <a:t>DNS</a:t>
            </a:r>
            <a:endParaRPr lang="zh-CN" altLang="en-US"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6.1.2</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互联网的域名结构</a:t>
            </a:r>
            <a:endParaRPr lang="en-US" altLang="zh-CN"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6.1.3</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域名服务器</a:t>
            </a:r>
            <a:endParaRPr lang="en-US" altLang="zh-CN" sz="1600" dirty="0">
              <a:latin typeface="Montserrat" panose="00000500000000000000" pitchFamily="2" charset="0"/>
              <a:ea typeface="微软雅黑 Light" panose="020B0502040204020203" pitchFamily="34" charset="-122"/>
            </a:endParaRPr>
          </a:p>
        </p:txBody>
      </p:sp>
      <p:sp>
        <p:nvSpPr>
          <p:cNvPr id="3" name="Rectangle 29">
            <a:extLst>
              <a:ext uri="{FF2B5EF4-FFF2-40B4-BE49-F238E27FC236}">
                <a16:creationId xmlns:a16="http://schemas.microsoft.com/office/drawing/2014/main" id="{708B0E6C-DBE0-18BF-26B0-9FAB9DE835A6}"/>
              </a:ext>
            </a:extLst>
          </p:cNvPr>
          <p:cNvSpPr>
            <a:spLocks noChangeArrowheads="1"/>
          </p:cNvSpPr>
          <p:nvPr/>
        </p:nvSpPr>
        <p:spPr bwMode="auto">
          <a:xfrm>
            <a:off x="3563766" y="711857"/>
            <a:ext cx="5090116"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solidFill>
                  <a:srgbClr val="FF0000"/>
                </a:solidFill>
                <a:latin typeface="Montserrat" panose="00000500000000000000" pitchFamily="2" charset="0"/>
                <a:ea typeface="微软雅黑 Light" panose="020B0502040204020203" pitchFamily="34" charset="-122"/>
              </a:rPr>
              <a:t>6.1</a:t>
            </a:r>
            <a:r>
              <a:rPr lang="en-US" altLang="zh-CN" sz="2000" dirty="0">
                <a:latin typeface="Montserrat" panose="00000500000000000000" pitchFamily="2" charset="0"/>
                <a:ea typeface="微软雅黑 Light" panose="020B0502040204020203" pitchFamily="34" charset="-122"/>
              </a:rPr>
              <a:t> </a:t>
            </a:r>
            <a:r>
              <a:rPr lang="zh-CN" altLang="en-US" sz="2000" dirty="0">
                <a:latin typeface="Montserrat" panose="00000500000000000000" pitchFamily="2" charset="0"/>
                <a:ea typeface="微软雅黑 Light" panose="020B0502040204020203" pitchFamily="34" charset="-122"/>
              </a:rPr>
              <a:t>域名系统 </a:t>
            </a:r>
            <a:r>
              <a:rPr lang="en-US" altLang="zh-CN" sz="2000" dirty="0">
                <a:latin typeface="Montserrat" panose="00000500000000000000" pitchFamily="2" charset="0"/>
                <a:ea typeface="微软雅黑 Light" panose="020B0502040204020203" pitchFamily="34" charset="-122"/>
              </a:rPr>
              <a:t>DNS</a:t>
            </a:r>
          </a:p>
        </p:txBody>
      </p:sp>
    </p:spTree>
    <p:extLst>
      <p:ext uri="{BB962C8B-B14F-4D97-AF65-F5344CB8AC3E}">
        <p14:creationId xmlns:p14="http://schemas.microsoft.com/office/powerpoint/2010/main" val="26169022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矩形: 圆角 22">
            <a:extLst>
              <a:ext uri="{FF2B5EF4-FFF2-40B4-BE49-F238E27FC236}">
                <a16:creationId xmlns:a16="http://schemas.microsoft.com/office/drawing/2014/main" id="{BB6F7C31-A0CA-B731-3829-C9E6821CD9EC}"/>
              </a:ext>
            </a:extLst>
          </p:cNvPr>
          <p:cNvSpPr/>
          <p:nvPr/>
        </p:nvSpPr>
        <p:spPr>
          <a:xfrm>
            <a:off x="1880432" y="2350980"/>
            <a:ext cx="864000" cy="288000"/>
          </a:xfrm>
          <a:prstGeom prst="roundRect">
            <a:avLst/>
          </a:prstGeom>
          <a:solidFill>
            <a:srgbClr val="F9423A">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latin typeface="Montserrat" panose="00000500000000000000" pitchFamily="2" charset="0"/>
              </a:rPr>
              <a:t>DN</a:t>
            </a:r>
            <a:r>
              <a:rPr lang="en-US" altLang="zh-CN" sz="1200" dirty="0">
                <a:latin typeface="Montserrat" panose="00000500000000000000" pitchFamily="2" charset="0"/>
              </a:rPr>
              <a:t>S</a:t>
            </a:r>
            <a:endParaRPr lang="zh-CN" altLang="en-US" sz="1200" dirty="0">
              <a:latin typeface="Montserrat" panose="00000500000000000000" pitchFamily="2" charset="0"/>
            </a:endParaRPr>
          </a:p>
        </p:txBody>
      </p:sp>
      <p:sp>
        <p:nvSpPr>
          <p:cNvPr id="24" name="矩形: 圆角 23">
            <a:extLst>
              <a:ext uri="{FF2B5EF4-FFF2-40B4-BE49-F238E27FC236}">
                <a16:creationId xmlns:a16="http://schemas.microsoft.com/office/drawing/2014/main" id="{F22594FC-6499-4B62-3BEF-6AEDE290FC0E}"/>
              </a:ext>
            </a:extLst>
          </p:cNvPr>
          <p:cNvSpPr/>
          <p:nvPr/>
        </p:nvSpPr>
        <p:spPr>
          <a:xfrm>
            <a:off x="3034634" y="1476625"/>
            <a:ext cx="1080000" cy="252000"/>
          </a:xfrm>
          <a:prstGeom prst="roundRect">
            <a:avLst/>
          </a:prstGeom>
          <a:solidFill>
            <a:srgbClr val="4472C4">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Domain</a:t>
            </a:r>
            <a:endParaRPr lang="zh-CN" altLang="en-US" sz="1200" dirty="0">
              <a:latin typeface="Montserrat" panose="00000500000000000000" pitchFamily="2" charset="0"/>
            </a:endParaRPr>
          </a:p>
        </p:txBody>
      </p:sp>
      <p:sp>
        <p:nvSpPr>
          <p:cNvPr id="25" name="矩形: 圆角 24">
            <a:extLst>
              <a:ext uri="{FF2B5EF4-FFF2-40B4-BE49-F238E27FC236}">
                <a16:creationId xmlns:a16="http://schemas.microsoft.com/office/drawing/2014/main" id="{674F58F2-FF6F-F864-967B-F43392A36E52}"/>
              </a:ext>
            </a:extLst>
          </p:cNvPr>
          <p:cNvSpPr/>
          <p:nvPr/>
        </p:nvSpPr>
        <p:spPr>
          <a:xfrm>
            <a:off x="3034634" y="2725950"/>
            <a:ext cx="1080000" cy="288000"/>
          </a:xfrm>
          <a:prstGeom prst="roundRect">
            <a:avLst/>
          </a:prstGeom>
          <a:solidFill>
            <a:srgbClr val="F6A04D">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Server</a:t>
            </a:r>
            <a:endParaRPr lang="zh-CN" altLang="en-US" sz="1200" dirty="0">
              <a:latin typeface="Montserrat" panose="00000500000000000000" pitchFamily="2" charset="0"/>
            </a:endParaRPr>
          </a:p>
        </p:txBody>
      </p:sp>
      <p:sp>
        <p:nvSpPr>
          <p:cNvPr id="27" name="矩形: 圆角 26">
            <a:extLst>
              <a:ext uri="{FF2B5EF4-FFF2-40B4-BE49-F238E27FC236}">
                <a16:creationId xmlns:a16="http://schemas.microsoft.com/office/drawing/2014/main" id="{96864AD8-386B-77A5-C5CE-BCD8D2A320E7}"/>
              </a:ext>
            </a:extLst>
          </p:cNvPr>
          <p:cNvSpPr/>
          <p:nvPr/>
        </p:nvSpPr>
        <p:spPr>
          <a:xfrm>
            <a:off x="3034634" y="3823230"/>
            <a:ext cx="1080000" cy="288000"/>
          </a:xfrm>
          <a:prstGeom prst="roundRect">
            <a:avLst/>
          </a:prstGeom>
          <a:solidFill>
            <a:srgbClr val="00BC7B">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Resolve</a:t>
            </a:r>
            <a:endParaRPr lang="zh-CN" altLang="en-US" sz="1200" dirty="0">
              <a:latin typeface="Montserrat" panose="00000500000000000000" pitchFamily="2" charset="0"/>
            </a:endParaRPr>
          </a:p>
        </p:txBody>
      </p:sp>
      <p:sp>
        <p:nvSpPr>
          <p:cNvPr id="32" name="矩形: 圆角 31">
            <a:extLst>
              <a:ext uri="{FF2B5EF4-FFF2-40B4-BE49-F238E27FC236}">
                <a16:creationId xmlns:a16="http://schemas.microsoft.com/office/drawing/2014/main" id="{0C13AF0C-04B1-D3C0-9901-A7DB97A52C93}"/>
              </a:ext>
            </a:extLst>
          </p:cNvPr>
          <p:cNvSpPr/>
          <p:nvPr/>
        </p:nvSpPr>
        <p:spPr>
          <a:xfrm>
            <a:off x="4310986" y="3636683"/>
            <a:ext cx="1080000" cy="288000"/>
          </a:xfrm>
          <a:prstGeom prst="roundRect">
            <a:avLst/>
          </a:prstGeom>
          <a:noFill/>
          <a:ln w="12700">
            <a:solidFill>
              <a:srgbClr val="1AC38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rPr>
              <a:t>Recursive</a:t>
            </a:r>
            <a:endParaRPr lang="zh-CN" altLang="en-US" sz="1200" dirty="0">
              <a:solidFill>
                <a:sysClr val="windowText" lastClr="000000"/>
              </a:solidFill>
              <a:latin typeface="Montserrat" panose="00000500000000000000" pitchFamily="2" charset="0"/>
            </a:endParaRPr>
          </a:p>
        </p:txBody>
      </p:sp>
      <p:sp>
        <p:nvSpPr>
          <p:cNvPr id="33" name="矩形: 圆角 32">
            <a:extLst>
              <a:ext uri="{FF2B5EF4-FFF2-40B4-BE49-F238E27FC236}">
                <a16:creationId xmlns:a16="http://schemas.microsoft.com/office/drawing/2014/main" id="{ECAEA79D-2126-F235-D246-768E09985DD0}"/>
              </a:ext>
            </a:extLst>
          </p:cNvPr>
          <p:cNvSpPr/>
          <p:nvPr/>
        </p:nvSpPr>
        <p:spPr>
          <a:xfrm>
            <a:off x="4310986" y="4009777"/>
            <a:ext cx="1080000" cy="288000"/>
          </a:xfrm>
          <a:prstGeom prst="roundRect">
            <a:avLst/>
          </a:prstGeom>
          <a:noFill/>
          <a:ln w="12700">
            <a:solidFill>
              <a:srgbClr val="1AC38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rPr>
              <a:t>Iterative</a:t>
            </a:r>
            <a:endParaRPr lang="zh-CN" altLang="en-US" sz="1200" dirty="0">
              <a:solidFill>
                <a:sysClr val="windowText" lastClr="000000"/>
              </a:solidFill>
              <a:latin typeface="Montserrat" panose="00000500000000000000" pitchFamily="2" charset="0"/>
            </a:endParaRPr>
          </a:p>
        </p:txBody>
      </p:sp>
      <p:cxnSp>
        <p:nvCxnSpPr>
          <p:cNvPr id="34" name="连接符: 曲线 33">
            <a:extLst>
              <a:ext uri="{FF2B5EF4-FFF2-40B4-BE49-F238E27FC236}">
                <a16:creationId xmlns:a16="http://schemas.microsoft.com/office/drawing/2014/main" id="{09B6B008-BF76-0186-3E9A-DFC23AA69CE3}"/>
              </a:ext>
            </a:extLst>
          </p:cNvPr>
          <p:cNvCxnSpPr>
            <a:cxnSpLocks/>
            <a:stCxn id="23" idx="3"/>
            <a:endCxn id="24" idx="1"/>
          </p:cNvCxnSpPr>
          <p:nvPr/>
        </p:nvCxnSpPr>
        <p:spPr>
          <a:xfrm flipV="1">
            <a:off x="2744432" y="1602625"/>
            <a:ext cx="290202" cy="892355"/>
          </a:xfrm>
          <a:prstGeom prst="curvedConnector3">
            <a:avLst/>
          </a:prstGeom>
          <a:ln>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36" name="连接符: 曲线 35">
            <a:extLst>
              <a:ext uri="{FF2B5EF4-FFF2-40B4-BE49-F238E27FC236}">
                <a16:creationId xmlns:a16="http://schemas.microsoft.com/office/drawing/2014/main" id="{90A1583F-A011-836F-B6B3-8E3E56646A44}"/>
              </a:ext>
            </a:extLst>
          </p:cNvPr>
          <p:cNvCxnSpPr>
            <a:stCxn id="23" idx="3"/>
            <a:endCxn id="27" idx="1"/>
          </p:cNvCxnSpPr>
          <p:nvPr/>
        </p:nvCxnSpPr>
        <p:spPr>
          <a:xfrm>
            <a:off x="2744432" y="2494980"/>
            <a:ext cx="290202" cy="1472250"/>
          </a:xfrm>
          <a:prstGeom prst="curvedConnector3">
            <a:avLst/>
          </a:prstGeom>
          <a:ln>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37" name="连接符: 曲线 36">
            <a:extLst>
              <a:ext uri="{FF2B5EF4-FFF2-40B4-BE49-F238E27FC236}">
                <a16:creationId xmlns:a16="http://schemas.microsoft.com/office/drawing/2014/main" id="{BB4B1BC1-2450-12F3-DA76-1B6D6912A66A}"/>
              </a:ext>
            </a:extLst>
          </p:cNvPr>
          <p:cNvCxnSpPr>
            <a:stCxn id="25" idx="1"/>
            <a:endCxn id="23" idx="3"/>
          </p:cNvCxnSpPr>
          <p:nvPr/>
        </p:nvCxnSpPr>
        <p:spPr>
          <a:xfrm rot="10800000">
            <a:off x="2744432" y="2494980"/>
            <a:ext cx="290202" cy="374970"/>
          </a:xfrm>
          <a:prstGeom prst="curvedConnector3">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38" name="连接符: 曲线 37">
            <a:extLst>
              <a:ext uri="{FF2B5EF4-FFF2-40B4-BE49-F238E27FC236}">
                <a16:creationId xmlns:a16="http://schemas.microsoft.com/office/drawing/2014/main" id="{8C960020-56D6-666A-AD9D-E08F56DB48EC}"/>
              </a:ext>
            </a:extLst>
          </p:cNvPr>
          <p:cNvCxnSpPr>
            <a:cxnSpLocks/>
            <a:stCxn id="25" idx="3"/>
            <a:endCxn id="45" idx="1"/>
          </p:cNvCxnSpPr>
          <p:nvPr/>
        </p:nvCxnSpPr>
        <p:spPr>
          <a:xfrm flipV="1">
            <a:off x="4114634" y="2326811"/>
            <a:ext cx="196352" cy="543139"/>
          </a:xfrm>
          <a:prstGeom prst="curvedConnector3">
            <a:avLst>
              <a:gd name="adj1" fmla="val 50000"/>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39" name="连接符: 曲线 38">
            <a:extLst>
              <a:ext uri="{FF2B5EF4-FFF2-40B4-BE49-F238E27FC236}">
                <a16:creationId xmlns:a16="http://schemas.microsoft.com/office/drawing/2014/main" id="{6844B4FE-48FE-5847-B692-8B5B134BDB5F}"/>
              </a:ext>
            </a:extLst>
          </p:cNvPr>
          <p:cNvCxnSpPr>
            <a:cxnSpLocks/>
            <a:stCxn id="47" idx="1"/>
            <a:endCxn id="25" idx="3"/>
          </p:cNvCxnSpPr>
          <p:nvPr/>
        </p:nvCxnSpPr>
        <p:spPr>
          <a:xfrm rot="10800000">
            <a:off x="4114634" y="2869950"/>
            <a:ext cx="196352" cy="543140"/>
          </a:xfrm>
          <a:prstGeom prst="curvedConnector3">
            <a:avLst>
              <a:gd name="adj1" fmla="val 50000"/>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40" name="连接符: 曲线 39">
            <a:extLst>
              <a:ext uri="{FF2B5EF4-FFF2-40B4-BE49-F238E27FC236}">
                <a16:creationId xmlns:a16="http://schemas.microsoft.com/office/drawing/2014/main" id="{5AFF3508-7F65-0105-F3CE-968CB579012C}"/>
              </a:ext>
            </a:extLst>
          </p:cNvPr>
          <p:cNvCxnSpPr>
            <a:cxnSpLocks/>
            <a:stCxn id="24" idx="3"/>
            <a:endCxn id="51" idx="1"/>
          </p:cNvCxnSpPr>
          <p:nvPr/>
        </p:nvCxnSpPr>
        <p:spPr>
          <a:xfrm flipV="1">
            <a:off x="4114634" y="1240532"/>
            <a:ext cx="196352" cy="362093"/>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41" name="连接符: 曲线 40">
            <a:extLst>
              <a:ext uri="{FF2B5EF4-FFF2-40B4-BE49-F238E27FC236}">
                <a16:creationId xmlns:a16="http://schemas.microsoft.com/office/drawing/2014/main" id="{971F4A1A-CEE5-0088-40C1-A8435E8571A7}"/>
              </a:ext>
            </a:extLst>
          </p:cNvPr>
          <p:cNvCxnSpPr>
            <a:cxnSpLocks/>
            <a:stCxn id="53" idx="1"/>
            <a:endCxn id="24" idx="3"/>
          </p:cNvCxnSpPr>
          <p:nvPr/>
        </p:nvCxnSpPr>
        <p:spPr>
          <a:xfrm rot="10800000">
            <a:off x="4114634" y="1602626"/>
            <a:ext cx="196352" cy="362093"/>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42" name="连接符: 曲线 41">
            <a:extLst>
              <a:ext uri="{FF2B5EF4-FFF2-40B4-BE49-F238E27FC236}">
                <a16:creationId xmlns:a16="http://schemas.microsoft.com/office/drawing/2014/main" id="{14249E8E-7B86-FCE4-D9C0-320B930FD954}"/>
              </a:ext>
            </a:extLst>
          </p:cNvPr>
          <p:cNvCxnSpPr>
            <a:stCxn id="27" idx="3"/>
            <a:endCxn id="32" idx="1"/>
          </p:cNvCxnSpPr>
          <p:nvPr/>
        </p:nvCxnSpPr>
        <p:spPr>
          <a:xfrm flipV="1">
            <a:off x="4114634" y="3780683"/>
            <a:ext cx="196352" cy="186547"/>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43" name="连接符: 曲线 42">
            <a:extLst>
              <a:ext uri="{FF2B5EF4-FFF2-40B4-BE49-F238E27FC236}">
                <a16:creationId xmlns:a16="http://schemas.microsoft.com/office/drawing/2014/main" id="{D22100C4-D51B-0AED-C425-7977A0A5B0DF}"/>
              </a:ext>
            </a:extLst>
          </p:cNvPr>
          <p:cNvCxnSpPr>
            <a:stCxn id="33" idx="1"/>
            <a:endCxn id="27" idx="3"/>
          </p:cNvCxnSpPr>
          <p:nvPr/>
        </p:nvCxnSpPr>
        <p:spPr>
          <a:xfrm rot="10800000">
            <a:off x="4114634" y="3967231"/>
            <a:ext cx="196352" cy="186547"/>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sp>
        <p:nvSpPr>
          <p:cNvPr id="44" name="文本框 43">
            <a:extLst>
              <a:ext uri="{FF2B5EF4-FFF2-40B4-BE49-F238E27FC236}">
                <a16:creationId xmlns:a16="http://schemas.microsoft.com/office/drawing/2014/main" id="{B3B49022-E8F1-E577-0C5F-74346120106B}"/>
              </a:ext>
            </a:extLst>
          </p:cNvPr>
          <p:cNvSpPr txBox="1"/>
          <p:nvPr/>
        </p:nvSpPr>
        <p:spPr>
          <a:xfrm>
            <a:off x="4310986" y="2550404"/>
            <a:ext cx="2319068" cy="276999"/>
          </a:xfrm>
          <a:prstGeom prst="roundRect">
            <a:avLst/>
          </a:prstGeom>
          <a:noFill/>
          <a:ln w="12700">
            <a:solidFill>
              <a:srgbClr val="F7AA5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Top-Level Domain Server</a:t>
            </a:r>
            <a:endParaRPr lang="zh-CN" altLang="en-US" dirty="0"/>
          </a:p>
        </p:txBody>
      </p:sp>
      <p:sp>
        <p:nvSpPr>
          <p:cNvPr id="45" name="文本框 44">
            <a:extLst>
              <a:ext uri="{FF2B5EF4-FFF2-40B4-BE49-F238E27FC236}">
                <a16:creationId xmlns:a16="http://schemas.microsoft.com/office/drawing/2014/main" id="{B1DDD2B1-DD37-D0DD-41A5-2432443B7177}"/>
              </a:ext>
            </a:extLst>
          </p:cNvPr>
          <p:cNvSpPr txBox="1"/>
          <p:nvPr/>
        </p:nvSpPr>
        <p:spPr>
          <a:xfrm>
            <a:off x="4310986" y="2188311"/>
            <a:ext cx="1982735" cy="276999"/>
          </a:xfrm>
          <a:prstGeom prst="roundRect">
            <a:avLst/>
          </a:prstGeom>
          <a:noFill/>
          <a:ln w="12700">
            <a:solidFill>
              <a:srgbClr val="F7AA5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Root Name Server</a:t>
            </a:r>
            <a:endParaRPr lang="zh-CN" altLang="en-US" dirty="0"/>
          </a:p>
        </p:txBody>
      </p:sp>
      <p:sp>
        <p:nvSpPr>
          <p:cNvPr id="46" name="文本框 45">
            <a:extLst>
              <a:ext uri="{FF2B5EF4-FFF2-40B4-BE49-F238E27FC236}">
                <a16:creationId xmlns:a16="http://schemas.microsoft.com/office/drawing/2014/main" id="{C21AC5A5-69A4-067F-C1D6-08277B695CEB}"/>
              </a:ext>
            </a:extLst>
          </p:cNvPr>
          <p:cNvSpPr txBox="1"/>
          <p:nvPr/>
        </p:nvSpPr>
        <p:spPr>
          <a:xfrm>
            <a:off x="4310986" y="2912497"/>
            <a:ext cx="2319071" cy="276999"/>
          </a:xfrm>
          <a:prstGeom prst="roundRect">
            <a:avLst/>
          </a:prstGeom>
          <a:noFill/>
          <a:ln w="12700">
            <a:solidFill>
              <a:srgbClr val="F7AA5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Authoritative Name Server</a:t>
            </a:r>
            <a:endParaRPr lang="zh-CN" altLang="en-US" dirty="0"/>
          </a:p>
        </p:txBody>
      </p:sp>
      <p:sp>
        <p:nvSpPr>
          <p:cNvPr id="47" name="文本框 46">
            <a:extLst>
              <a:ext uri="{FF2B5EF4-FFF2-40B4-BE49-F238E27FC236}">
                <a16:creationId xmlns:a16="http://schemas.microsoft.com/office/drawing/2014/main" id="{3AAB91CE-BA87-1B1E-B2FA-4BB2BAF80E71}"/>
              </a:ext>
            </a:extLst>
          </p:cNvPr>
          <p:cNvSpPr txBox="1"/>
          <p:nvPr/>
        </p:nvSpPr>
        <p:spPr>
          <a:xfrm>
            <a:off x="4310986" y="3274590"/>
            <a:ext cx="2319071" cy="276999"/>
          </a:xfrm>
          <a:prstGeom prst="roundRect">
            <a:avLst/>
          </a:prstGeom>
          <a:noFill/>
          <a:ln w="12700">
            <a:solidFill>
              <a:srgbClr val="F7AA5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Local Name Server</a:t>
            </a:r>
            <a:endParaRPr lang="zh-CN" altLang="en-US" dirty="0"/>
          </a:p>
        </p:txBody>
      </p:sp>
      <p:sp>
        <p:nvSpPr>
          <p:cNvPr id="51" name="文本框 50">
            <a:extLst>
              <a:ext uri="{FF2B5EF4-FFF2-40B4-BE49-F238E27FC236}">
                <a16:creationId xmlns:a16="http://schemas.microsoft.com/office/drawing/2014/main" id="{17C2C2DF-4879-855A-8E41-E5BD178CE66F}"/>
              </a:ext>
            </a:extLst>
          </p:cNvPr>
          <p:cNvSpPr txBox="1"/>
          <p:nvPr/>
        </p:nvSpPr>
        <p:spPr>
          <a:xfrm>
            <a:off x="4310986" y="1102032"/>
            <a:ext cx="1982735" cy="276999"/>
          </a:xfrm>
          <a:prstGeom prst="roundRect">
            <a:avLst/>
          </a:prstGeom>
          <a:noFill/>
          <a:ln w="12700">
            <a:solidFill>
              <a:srgbClr val="5780C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Root Name</a:t>
            </a:r>
            <a:endParaRPr lang="zh-CN" altLang="en-US" dirty="0"/>
          </a:p>
        </p:txBody>
      </p:sp>
      <p:sp>
        <p:nvSpPr>
          <p:cNvPr id="52" name="文本框 51">
            <a:extLst>
              <a:ext uri="{FF2B5EF4-FFF2-40B4-BE49-F238E27FC236}">
                <a16:creationId xmlns:a16="http://schemas.microsoft.com/office/drawing/2014/main" id="{924D5CDF-40E1-A314-3AA0-E6C1EFD56FCC}"/>
              </a:ext>
            </a:extLst>
          </p:cNvPr>
          <p:cNvSpPr txBox="1"/>
          <p:nvPr/>
        </p:nvSpPr>
        <p:spPr>
          <a:xfrm>
            <a:off x="4310986" y="1464125"/>
            <a:ext cx="2076734" cy="276999"/>
          </a:xfrm>
          <a:prstGeom prst="roundRect">
            <a:avLst/>
          </a:prstGeom>
          <a:noFill/>
          <a:ln w="12700">
            <a:solidFill>
              <a:srgbClr val="5780C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t>TLD - Top-Level Domain</a:t>
            </a:r>
            <a:endParaRPr lang="zh-CN" altLang="en-US" dirty="0"/>
          </a:p>
        </p:txBody>
      </p:sp>
      <p:sp>
        <p:nvSpPr>
          <p:cNvPr id="53" name="文本框 52">
            <a:extLst>
              <a:ext uri="{FF2B5EF4-FFF2-40B4-BE49-F238E27FC236}">
                <a16:creationId xmlns:a16="http://schemas.microsoft.com/office/drawing/2014/main" id="{B22EB895-AAFF-BD06-4266-2FDC83ACB524}"/>
              </a:ext>
            </a:extLst>
          </p:cNvPr>
          <p:cNvSpPr txBox="1"/>
          <p:nvPr/>
        </p:nvSpPr>
        <p:spPr>
          <a:xfrm>
            <a:off x="4310986" y="1826218"/>
            <a:ext cx="2526542" cy="276999"/>
          </a:xfrm>
          <a:prstGeom prst="roundRect">
            <a:avLst/>
          </a:prstGeom>
          <a:noFill/>
          <a:ln w="12700">
            <a:solidFill>
              <a:srgbClr val="5780C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t>SLD - Second-Level Domain</a:t>
            </a:r>
            <a:endParaRPr lang="zh-CN" altLang="en-US" dirty="0"/>
          </a:p>
        </p:txBody>
      </p:sp>
      <p:sp>
        <p:nvSpPr>
          <p:cNvPr id="59" name="文本框 58">
            <a:extLst>
              <a:ext uri="{FF2B5EF4-FFF2-40B4-BE49-F238E27FC236}">
                <a16:creationId xmlns:a16="http://schemas.microsoft.com/office/drawing/2014/main" id="{DF7D2887-83A5-96EB-2F88-685910A1B69D}"/>
              </a:ext>
            </a:extLst>
          </p:cNvPr>
          <p:cNvSpPr txBox="1"/>
          <p:nvPr/>
        </p:nvSpPr>
        <p:spPr>
          <a:xfrm>
            <a:off x="6619734" y="1584822"/>
            <a:ext cx="1666733"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t>Generic TLD</a:t>
            </a:r>
            <a:endParaRPr lang="zh-CN" altLang="en-US" dirty="0"/>
          </a:p>
        </p:txBody>
      </p:sp>
      <p:sp>
        <p:nvSpPr>
          <p:cNvPr id="63" name="文本框 62">
            <a:extLst>
              <a:ext uri="{FF2B5EF4-FFF2-40B4-BE49-F238E27FC236}">
                <a16:creationId xmlns:a16="http://schemas.microsoft.com/office/drawing/2014/main" id="{11AB917F-98D1-9C4A-A1C2-1624255B33AC}"/>
              </a:ext>
            </a:extLst>
          </p:cNvPr>
          <p:cNvSpPr txBox="1"/>
          <p:nvPr/>
        </p:nvSpPr>
        <p:spPr>
          <a:xfrm>
            <a:off x="6619735" y="1343427"/>
            <a:ext cx="1666733"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t>Nation TLD</a:t>
            </a:r>
            <a:endParaRPr lang="zh-CN" altLang="en-US" dirty="0"/>
          </a:p>
        </p:txBody>
      </p:sp>
      <p:cxnSp>
        <p:nvCxnSpPr>
          <p:cNvPr id="67" name="连接符: 曲线 66">
            <a:extLst>
              <a:ext uri="{FF2B5EF4-FFF2-40B4-BE49-F238E27FC236}">
                <a16:creationId xmlns:a16="http://schemas.microsoft.com/office/drawing/2014/main" id="{B9DE2C3E-CE94-721C-5049-41CFBA9BA091}"/>
              </a:ext>
            </a:extLst>
          </p:cNvPr>
          <p:cNvCxnSpPr>
            <a:cxnSpLocks/>
            <a:stCxn id="52" idx="3"/>
            <a:endCxn id="63" idx="1"/>
          </p:cNvCxnSpPr>
          <p:nvPr/>
        </p:nvCxnSpPr>
        <p:spPr>
          <a:xfrm flipV="1">
            <a:off x="6387720" y="1481927"/>
            <a:ext cx="232015" cy="120698"/>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70" name="连接符: 曲线 69">
            <a:extLst>
              <a:ext uri="{FF2B5EF4-FFF2-40B4-BE49-F238E27FC236}">
                <a16:creationId xmlns:a16="http://schemas.microsoft.com/office/drawing/2014/main" id="{568A418C-3BB0-DF43-50BC-2A781C462C2D}"/>
              </a:ext>
            </a:extLst>
          </p:cNvPr>
          <p:cNvCxnSpPr>
            <a:cxnSpLocks/>
            <a:stCxn id="52" idx="3"/>
            <a:endCxn id="59" idx="1"/>
          </p:cNvCxnSpPr>
          <p:nvPr/>
        </p:nvCxnSpPr>
        <p:spPr>
          <a:xfrm>
            <a:off x="6387720" y="1602625"/>
            <a:ext cx="232014" cy="120697"/>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sp>
        <p:nvSpPr>
          <p:cNvPr id="74" name="矩形: 圆角 73">
            <a:extLst>
              <a:ext uri="{FF2B5EF4-FFF2-40B4-BE49-F238E27FC236}">
                <a16:creationId xmlns:a16="http://schemas.microsoft.com/office/drawing/2014/main" id="{74010D7A-EB6E-C26D-1FC3-A92916973D6C}"/>
              </a:ext>
            </a:extLst>
          </p:cNvPr>
          <p:cNvSpPr/>
          <p:nvPr/>
        </p:nvSpPr>
        <p:spPr>
          <a:xfrm>
            <a:off x="3034634" y="780052"/>
            <a:ext cx="1080000" cy="252000"/>
          </a:xfrm>
          <a:prstGeom prst="roundRect">
            <a:avLst/>
          </a:prstGeom>
          <a:solidFill>
            <a:schemeClr val="accent2">
              <a:lumMod val="60000"/>
              <a:lumOff val="40000"/>
              <a:alpha val="89804"/>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UDP</a:t>
            </a:r>
            <a:endParaRPr lang="zh-CN" altLang="en-US" sz="1200" dirty="0">
              <a:latin typeface="Montserrat" panose="00000500000000000000" pitchFamily="2" charset="0"/>
            </a:endParaRPr>
          </a:p>
        </p:txBody>
      </p:sp>
      <p:sp>
        <p:nvSpPr>
          <p:cNvPr id="75" name="文本框 74">
            <a:extLst>
              <a:ext uri="{FF2B5EF4-FFF2-40B4-BE49-F238E27FC236}">
                <a16:creationId xmlns:a16="http://schemas.microsoft.com/office/drawing/2014/main" id="{71166C7F-1C95-30AB-56D5-24B11A121836}"/>
              </a:ext>
            </a:extLst>
          </p:cNvPr>
          <p:cNvSpPr txBox="1"/>
          <p:nvPr/>
        </p:nvSpPr>
        <p:spPr>
          <a:xfrm>
            <a:off x="4310986" y="764679"/>
            <a:ext cx="1666733"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t>Port 53</a:t>
            </a:r>
            <a:endParaRPr lang="zh-CN" altLang="en-US" dirty="0"/>
          </a:p>
        </p:txBody>
      </p:sp>
      <p:cxnSp>
        <p:nvCxnSpPr>
          <p:cNvPr id="76" name="连接符: 曲线 75">
            <a:extLst>
              <a:ext uri="{FF2B5EF4-FFF2-40B4-BE49-F238E27FC236}">
                <a16:creationId xmlns:a16="http://schemas.microsoft.com/office/drawing/2014/main" id="{F3413525-7963-C0B5-D118-BABA9BB51BBD}"/>
              </a:ext>
            </a:extLst>
          </p:cNvPr>
          <p:cNvCxnSpPr>
            <a:cxnSpLocks/>
            <a:stCxn id="23" idx="3"/>
            <a:endCxn id="74" idx="1"/>
          </p:cNvCxnSpPr>
          <p:nvPr/>
        </p:nvCxnSpPr>
        <p:spPr>
          <a:xfrm flipV="1">
            <a:off x="2744432" y="906052"/>
            <a:ext cx="290202" cy="1588928"/>
          </a:xfrm>
          <a:prstGeom prst="curvedConnector3">
            <a:avLst>
              <a:gd name="adj1" fmla="val 50000"/>
            </a:avLst>
          </a:prstGeom>
          <a:ln>
            <a:solidFill>
              <a:srgbClr val="DDA19F"/>
            </a:solidFill>
          </a:ln>
        </p:spPr>
        <p:style>
          <a:lnRef idx="1">
            <a:schemeClr val="accent1"/>
          </a:lnRef>
          <a:fillRef idx="0">
            <a:schemeClr val="accent1"/>
          </a:fillRef>
          <a:effectRef idx="0">
            <a:schemeClr val="accent1"/>
          </a:effectRef>
          <a:fontRef idx="minor">
            <a:schemeClr val="tx1"/>
          </a:fontRef>
        </p:style>
      </p:cxnSp>
      <p:cxnSp>
        <p:nvCxnSpPr>
          <p:cNvPr id="80" name="直接箭头连接符 79">
            <a:extLst>
              <a:ext uri="{FF2B5EF4-FFF2-40B4-BE49-F238E27FC236}">
                <a16:creationId xmlns:a16="http://schemas.microsoft.com/office/drawing/2014/main" id="{8DCF2A34-4A48-A916-021F-ECBA9AFF9D43}"/>
              </a:ext>
            </a:extLst>
          </p:cNvPr>
          <p:cNvCxnSpPr>
            <a:stCxn id="74" idx="3"/>
            <a:endCxn id="75" idx="1"/>
          </p:cNvCxnSpPr>
          <p:nvPr/>
        </p:nvCxnSpPr>
        <p:spPr>
          <a:xfrm flipV="1">
            <a:off x="4114634" y="903179"/>
            <a:ext cx="196352" cy="2873"/>
          </a:xfrm>
          <a:prstGeom prst="straightConnector1">
            <a:avLst/>
          </a:prstGeom>
          <a:ln>
            <a:solidFill>
              <a:srgbClr val="DDA19F"/>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4588899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1">
            <a:extLst>
              <a:ext uri="{FF2B5EF4-FFF2-40B4-BE49-F238E27FC236}">
                <a16:creationId xmlns:a16="http://schemas.microsoft.com/office/drawing/2014/main" id="{D91322FE-A99E-6978-9922-E9AAFB0C9E6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167804" y="1777775"/>
            <a:ext cx="476702" cy="667383"/>
          </a:xfrm>
          <a:prstGeom prst="rect">
            <a:avLst/>
          </a:prstGeom>
        </p:spPr>
      </p:pic>
      <p:sp>
        <p:nvSpPr>
          <p:cNvPr id="3" name="Text Box 9">
            <a:extLst>
              <a:ext uri="{FF2B5EF4-FFF2-40B4-BE49-F238E27FC236}">
                <a16:creationId xmlns:a16="http://schemas.microsoft.com/office/drawing/2014/main" id="{57C767B4-9E62-E260-4199-EB5CD37368E8}"/>
              </a:ext>
            </a:extLst>
          </p:cNvPr>
          <p:cNvSpPr txBox="1">
            <a:spLocks noChangeArrowheads="1"/>
          </p:cNvSpPr>
          <p:nvPr/>
        </p:nvSpPr>
        <p:spPr bwMode="auto">
          <a:xfrm flipH="1">
            <a:off x="5877805" y="2467113"/>
            <a:ext cx="10567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DNS Server</a:t>
            </a:r>
          </a:p>
        </p:txBody>
      </p:sp>
      <p:sp>
        <p:nvSpPr>
          <p:cNvPr id="4" name="Text Box 33">
            <a:extLst>
              <a:ext uri="{FF2B5EF4-FFF2-40B4-BE49-F238E27FC236}">
                <a16:creationId xmlns:a16="http://schemas.microsoft.com/office/drawing/2014/main" id="{9E89FB7B-A766-4950-D70E-BA21D84B8972}"/>
              </a:ext>
            </a:extLst>
          </p:cNvPr>
          <p:cNvSpPr txBox="1">
            <a:spLocks noChangeArrowheads="1"/>
          </p:cNvSpPr>
          <p:nvPr/>
        </p:nvSpPr>
        <p:spPr bwMode="auto">
          <a:xfrm flipH="1">
            <a:off x="4177324" y="2204339"/>
            <a:ext cx="12490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sym typeface="Wingdings" pitchFamily="2" charset="2"/>
              </a:rPr>
              <a:t>185.199.108.153</a:t>
            </a:r>
          </a:p>
        </p:txBody>
      </p:sp>
      <p:sp>
        <p:nvSpPr>
          <p:cNvPr id="5" name="Line 35">
            <a:extLst>
              <a:ext uri="{FF2B5EF4-FFF2-40B4-BE49-F238E27FC236}">
                <a16:creationId xmlns:a16="http://schemas.microsoft.com/office/drawing/2014/main" id="{2EB071B0-8F6C-F0D1-2A34-4981B117D2E2}"/>
              </a:ext>
            </a:extLst>
          </p:cNvPr>
          <p:cNvSpPr>
            <a:spLocks noChangeShapeType="1"/>
          </p:cNvSpPr>
          <p:nvPr/>
        </p:nvSpPr>
        <p:spPr bwMode="auto">
          <a:xfrm rot="16200000" flipH="1" flipV="1">
            <a:off x="4801853" y="944340"/>
            <a:ext cx="0" cy="2520000"/>
          </a:xfrm>
          <a:prstGeom prst="line">
            <a:avLst/>
          </a:prstGeom>
          <a:noFill/>
          <a:ln w="1905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6" name="Text Box 11">
            <a:extLst>
              <a:ext uri="{FF2B5EF4-FFF2-40B4-BE49-F238E27FC236}">
                <a16:creationId xmlns:a16="http://schemas.microsoft.com/office/drawing/2014/main" id="{C253E76C-25FE-2C82-CA54-B9E7EB6F74D1}"/>
              </a:ext>
            </a:extLst>
          </p:cNvPr>
          <p:cNvSpPr txBox="1">
            <a:spLocks noChangeArrowheads="1"/>
          </p:cNvSpPr>
          <p:nvPr/>
        </p:nvSpPr>
        <p:spPr bwMode="auto">
          <a:xfrm flipH="1">
            <a:off x="2929415" y="2502956"/>
            <a:ext cx="638316"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lnSpc>
                <a:spcPct val="80000"/>
              </a:lnSpc>
            </a:pPr>
            <a:r>
              <a:rPr kumimoji="1" lang="en-US" altLang="zh-CN" sz="1200" dirty="0">
                <a:latin typeface="Montserrat" panose="00000500000000000000" pitchFamily="2" charset="0"/>
                <a:ea typeface="微软雅黑 Light" panose="020B0502040204020203" pitchFamily="34" charset="-122"/>
              </a:rPr>
              <a:t>Client</a:t>
            </a:r>
          </a:p>
        </p:txBody>
      </p:sp>
      <p:sp>
        <p:nvSpPr>
          <p:cNvPr id="7" name="Text Box 32">
            <a:extLst>
              <a:ext uri="{FF2B5EF4-FFF2-40B4-BE49-F238E27FC236}">
                <a16:creationId xmlns:a16="http://schemas.microsoft.com/office/drawing/2014/main" id="{5074953F-41E8-0FF6-DB37-73C0C2BAC81E}"/>
              </a:ext>
            </a:extLst>
          </p:cNvPr>
          <p:cNvSpPr txBox="1">
            <a:spLocks noChangeArrowheads="1"/>
          </p:cNvSpPr>
          <p:nvPr/>
        </p:nvSpPr>
        <p:spPr bwMode="auto">
          <a:xfrm flipH="1">
            <a:off x="3975344" y="1767046"/>
            <a:ext cx="16530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sym typeface="Wingdings" pitchFamily="2" charset="2"/>
              </a:rPr>
              <a:t>glplaman.github.io</a:t>
            </a:r>
          </a:p>
        </p:txBody>
      </p:sp>
      <p:sp>
        <p:nvSpPr>
          <p:cNvPr id="8" name="Line 34">
            <a:extLst>
              <a:ext uri="{FF2B5EF4-FFF2-40B4-BE49-F238E27FC236}">
                <a16:creationId xmlns:a16="http://schemas.microsoft.com/office/drawing/2014/main" id="{557B6283-349B-2E2E-B976-0FDBFDD6E9FD}"/>
              </a:ext>
            </a:extLst>
          </p:cNvPr>
          <p:cNvSpPr>
            <a:spLocks noChangeShapeType="1"/>
          </p:cNvSpPr>
          <p:nvPr/>
        </p:nvSpPr>
        <p:spPr bwMode="auto">
          <a:xfrm rot="16200000" flipH="1">
            <a:off x="4801853" y="845600"/>
            <a:ext cx="0" cy="2520000"/>
          </a:xfrm>
          <a:prstGeom prst="line">
            <a:avLst/>
          </a:prstGeom>
          <a:noFill/>
          <a:ln w="1905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pic>
        <p:nvPicPr>
          <p:cNvPr id="9" name="Picture 197" descr="jisuanji">
            <a:extLst>
              <a:ext uri="{FF2B5EF4-FFF2-40B4-BE49-F238E27FC236}">
                <a16:creationId xmlns:a16="http://schemas.microsoft.com/office/drawing/2014/main" id="{E46B8731-B183-1C4C-C0CD-AF7B31945285}"/>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53851" y="1914942"/>
            <a:ext cx="393048" cy="393049"/>
          </a:xfrm>
          <a:prstGeom prst="rect">
            <a:avLst/>
          </a:prstGeom>
          <a:noFill/>
          <a:extLst>
            <a:ext uri="{909E8E84-426E-40DD-AFC4-6F175D3DCCD1}">
              <a14:hiddenFill xmlns:a14="http://schemas.microsoft.com/office/drawing/2010/main">
                <a:solidFill>
                  <a:srgbClr val="FFFFFF"/>
                </a:solidFill>
              </a14:hiddenFill>
            </a:ext>
          </a:extLst>
        </p:spPr>
      </p:pic>
      <p:pic>
        <p:nvPicPr>
          <p:cNvPr id="10" name="图片 9">
            <a:extLst>
              <a:ext uri="{FF2B5EF4-FFF2-40B4-BE49-F238E27FC236}">
                <a16:creationId xmlns:a16="http://schemas.microsoft.com/office/drawing/2014/main" id="{CFE56DE2-228C-9124-D7FC-13517C69A48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188033" y="3006885"/>
            <a:ext cx="476702" cy="667383"/>
          </a:xfrm>
          <a:prstGeom prst="rect">
            <a:avLst/>
          </a:prstGeom>
        </p:spPr>
      </p:pic>
      <p:sp>
        <p:nvSpPr>
          <p:cNvPr id="11" name="Text Box 9">
            <a:extLst>
              <a:ext uri="{FF2B5EF4-FFF2-40B4-BE49-F238E27FC236}">
                <a16:creationId xmlns:a16="http://schemas.microsoft.com/office/drawing/2014/main" id="{57C86B53-D7D7-DD94-B940-92B7C0FD91B9}"/>
              </a:ext>
            </a:extLst>
          </p:cNvPr>
          <p:cNvSpPr txBox="1">
            <a:spLocks noChangeArrowheads="1"/>
          </p:cNvSpPr>
          <p:nvPr/>
        </p:nvSpPr>
        <p:spPr bwMode="auto">
          <a:xfrm flipH="1">
            <a:off x="5076767" y="3696223"/>
            <a:ext cx="69922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WWW</a:t>
            </a:r>
          </a:p>
        </p:txBody>
      </p:sp>
      <p:grpSp>
        <p:nvGrpSpPr>
          <p:cNvPr id="14" name="组合 13">
            <a:extLst>
              <a:ext uri="{FF2B5EF4-FFF2-40B4-BE49-F238E27FC236}">
                <a16:creationId xmlns:a16="http://schemas.microsoft.com/office/drawing/2014/main" id="{B97F70E7-DE1D-8F88-FF2F-130F8D02354D}"/>
              </a:ext>
            </a:extLst>
          </p:cNvPr>
          <p:cNvGrpSpPr/>
          <p:nvPr/>
        </p:nvGrpSpPr>
        <p:grpSpPr>
          <a:xfrm rot="1441646">
            <a:off x="3376082" y="2732085"/>
            <a:ext cx="1803879" cy="90040"/>
            <a:chOff x="2808127" y="2791424"/>
            <a:chExt cx="2525430" cy="90040"/>
          </a:xfrm>
        </p:grpSpPr>
        <p:sp>
          <p:nvSpPr>
            <p:cNvPr id="12" name="Line 35">
              <a:extLst>
                <a:ext uri="{FF2B5EF4-FFF2-40B4-BE49-F238E27FC236}">
                  <a16:creationId xmlns:a16="http://schemas.microsoft.com/office/drawing/2014/main" id="{C4924BF3-FDBD-97A3-523B-A33D6E500913}"/>
                </a:ext>
              </a:extLst>
            </p:cNvPr>
            <p:cNvSpPr>
              <a:spLocks noChangeShapeType="1"/>
            </p:cNvSpPr>
            <p:nvPr/>
          </p:nvSpPr>
          <p:spPr bwMode="auto">
            <a:xfrm rot="16200000" flipH="1" flipV="1">
              <a:off x="4068127" y="1621464"/>
              <a:ext cx="0" cy="2519999"/>
            </a:xfrm>
            <a:prstGeom prst="line">
              <a:avLst/>
            </a:prstGeom>
            <a:noFill/>
            <a:ln w="1905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3" name="Line 34">
              <a:extLst>
                <a:ext uri="{FF2B5EF4-FFF2-40B4-BE49-F238E27FC236}">
                  <a16:creationId xmlns:a16="http://schemas.microsoft.com/office/drawing/2014/main" id="{564389D1-A7B9-DF69-2D42-86F8259335F3}"/>
                </a:ext>
              </a:extLst>
            </p:cNvPr>
            <p:cNvSpPr>
              <a:spLocks noChangeShapeType="1"/>
            </p:cNvSpPr>
            <p:nvPr/>
          </p:nvSpPr>
          <p:spPr bwMode="auto">
            <a:xfrm rot="16200000" flipH="1">
              <a:off x="4073557" y="1531424"/>
              <a:ext cx="0" cy="2520000"/>
            </a:xfrm>
            <a:prstGeom prst="line">
              <a:avLst/>
            </a:prstGeom>
            <a:noFill/>
            <a:ln w="1905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grpSp>
      <p:sp>
        <p:nvSpPr>
          <p:cNvPr id="15" name="Text Box 33">
            <a:extLst>
              <a:ext uri="{FF2B5EF4-FFF2-40B4-BE49-F238E27FC236}">
                <a16:creationId xmlns:a16="http://schemas.microsoft.com/office/drawing/2014/main" id="{BDD192C9-AD93-8F85-EE9C-9B3745AE0A4E}"/>
              </a:ext>
            </a:extLst>
          </p:cNvPr>
          <p:cNvSpPr txBox="1">
            <a:spLocks noChangeArrowheads="1"/>
          </p:cNvSpPr>
          <p:nvPr/>
        </p:nvSpPr>
        <p:spPr bwMode="auto">
          <a:xfrm rot="1549316" flipH="1">
            <a:off x="3782568" y="2508816"/>
            <a:ext cx="12490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sym typeface="Wingdings" pitchFamily="2" charset="2"/>
              </a:rPr>
              <a:t>185.199.108.153</a:t>
            </a:r>
          </a:p>
        </p:txBody>
      </p:sp>
      <p:pic>
        <p:nvPicPr>
          <p:cNvPr id="17" name="图片 16">
            <a:extLst>
              <a:ext uri="{FF2B5EF4-FFF2-40B4-BE49-F238E27FC236}">
                <a16:creationId xmlns:a16="http://schemas.microsoft.com/office/drawing/2014/main" id="{F7AF1167-4FD3-26A2-D52F-927754E25B4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975344" y="2887812"/>
            <a:ext cx="360000" cy="360000"/>
          </a:xfrm>
          <a:prstGeom prst="rect">
            <a:avLst/>
          </a:prstGeom>
        </p:spPr>
      </p:pic>
    </p:spTree>
    <p:extLst>
      <p:ext uri="{BB962C8B-B14F-4D97-AF65-F5344CB8AC3E}">
        <p14:creationId xmlns:p14="http://schemas.microsoft.com/office/powerpoint/2010/main" val="9839559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0" name="组合 39"/>
          <p:cNvGrpSpPr/>
          <p:nvPr/>
        </p:nvGrpSpPr>
        <p:grpSpPr>
          <a:xfrm>
            <a:off x="976026" y="2665944"/>
            <a:ext cx="6820266" cy="1650084"/>
            <a:chOff x="976026" y="2665944"/>
            <a:chExt cx="6820266" cy="1650084"/>
          </a:xfrm>
        </p:grpSpPr>
        <p:sp>
          <p:nvSpPr>
            <p:cNvPr id="8" name="矩形 7"/>
            <p:cNvSpPr/>
            <p:nvPr/>
          </p:nvSpPr>
          <p:spPr>
            <a:xfrm>
              <a:off x="2389017" y="2665944"/>
              <a:ext cx="2611805" cy="276999"/>
            </a:xfrm>
            <a:prstGeom prst="rect">
              <a:avLst/>
            </a:prstGeom>
          </p:spPr>
          <p:txBody>
            <a:bodyPr wrap="none">
              <a:spAutoFit/>
            </a:bodyPr>
            <a:lstStyle/>
            <a:p>
              <a:pPr algn="ctr"/>
              <a:r>
                <a:rPr lang="zh-CN" altLang="en-US" sz="1200" b="1" dirty="0">
                  <a:latin typeface="微软雅黑 Light" panose="020B0502040204020203" pitchFamily="34" charset="-122"/>
                  <a:ea typeface="微软雅黑 Light" panose="020B0502040204020203" pitchFamily="34" charset="-122"/>
                </a:rPr>
                <a:t>查询 </a:t>
              </a:r>
              <a:r>
                <a:rPr lang="en-US" altLang="zh-CN" sz="1200" b="1" dirty="0">
                  <a:latin typeface="微软雅黑 Light" panose="020B0502040204020203" pitchFamily="34" charset="-122"/>
                  <a:ea typeface="微软雅黑 Light" panose="020B0502040204020203" pitchFamily="34" charset="-122"/>
                </a:rPr>
                <a:t>www.myschool.edu </a:t>
              </a:r>
              <a:r>
                <a:rPr lang="zh-CN" altLang="en-US" sz="1200" b="1" dirty="0">
                  <a:latin typeface="微软雅黑 Light" panose="020B0502040204020203" pitchFamily="34" charset="-122"/>
                  <a:ea typeface="微软雅黑 Light" panose="020B0502040204020203" pitchFamily="34" charset="-122"/>
                </a:rPr>
                <a:t>的 </a:t>
              </a:r>
              <a:r>
                <a:rPr lang="en-US" altLang="zh-CN" sz="1200" b="1" dirty="0">
                  <a:latin typeface="微软雅黑 Light" panose="020B0502040204020203" pitchFamily="34" charset="-122"/>
                  <a:ea typeface="微软雅黑 Light" panose="020B0502040204020203" pitchFamily="34" charset="-122"/>
                </a:rPr>
                <a:t>IP </a:t>
              </a:r>
              <a:r>
                <a:rPr lang="zh-CN" altLang="en-US" sz="1200" b="1" dirty="0">
                  <a:latin typeface="微软雅黑 Light" panose="020B0502040204020203" pitchFamily="34" charset="-122"/>
                  <a:ea typeface="微软雅黑 Light" panose="020B0502040204020203" pitchFamily="34" charset="-122"/>
                </a:rPr>
                <a:t>地址</a:t>
              </a:r>
              <a:endParaRPr lang="zh-CN" altLang="en-US" sz="1200" dirty="0">
                <a:latin typeface="Montserrat" panose="00000500000000000000" pitchFamily="2" charset="0"/>
                <a:ea typeface="微软雅黑 Light" panose="020B0502040204020203" pitchFamily="34" charset="-122"/>
              </a:endParaRPr>
            </a:p>
          </p:txBody>
        </p:sp>
        <p:sp>
          <p:nvSpPr>
            <p:cNvPr id="16" name="矩形 15"/>
            <p:cNvSpPr/>
            <p:nvPr/>
          </p:nvSpPr>
          <p:spPr>
            <a:xfrm>
              <a:off x="5154350" y="4008251"/>
              <a:ext cx="1154483" cy="307777"/>
            </a:xfrm>
            <a:prstGeom prst="rect">
              <a:avLst/>
            </a:prstGeom>
          </p:spPr>
          <p:txBody>
            <a:bodyPr wrap="none">
              <a:spAutoFit/>
            </a:bodyPr>
            <a:lstStyle/>
            <a:p>
              <a:pPr algn="ctr"/>
              <a:r>
                <a:rPr lang="en-US" altLang="zh-CN" sz="1400" b="1" dirty="0">
                  <a:latin typeface="微软雅黑 Light" panose="020B0502040204020203" pitchFamily="34" charset="-122"/>
                  <a:ea typeface="微软雅黑 Light" panose="020B0502040204020203" pitchFamily="34" charset="-122"/>
                </a:rPr>
                <a:t>211.44.55.66</a:t>
              </a:r>
              <a:endParaRPr lang="zh-CN" altLang="en-US" sz="1400" dirty="0">
                <a:latin typeface="Montserrat" panose="00000500000000000000" pitchFamily="2" charset="0"/>
                <a:ea typeface="微软雅黑 Light" panose="020B0502040204020203" pitchFamily="34" charset="-122"/>
              </a:endParaRPr>
            </a:p>
          </p:txBody>
        </p:sp>
        <p:sp>
          <p:nvSpPr>
            <p:cNvPr id="10" name="云形 9"/>
            <p:cNvSpPr/>
            <p:nvPr/>
          </p:nvSpPr>
          <p:spPr>
            <a:xfrm>
              <a:off x="5318528" y="2683699"/>
              <a:ext cx="1787626" cy="1219649"/>
            </a:xfrm>
            <a:prstGeom prst="cloud">
              <a:avLst/>
            </a:prstGeom>
            <a:solidFill>
              <a:schemeClr val="bg1"/>
            </a:solidFill>
            <a:ln w="12700">
              <a:noFill/>
            </a:ln>
            <a:scene3d>
              <a:camera prst="orthographicFront"/>
              <a:lightRig rig="threePt" dir="t"/>
            </a:scene3d>
            <a:sp3d>
              <a:bevelT/>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latin typeface="Montserrat" panose="00000500000000000000" pitchFamily="2" charset="0"/>
                <a:ea typeface="微软雅黑 Light" panose="020B0502040204020203" pitchFamily="34" charset="-122"/>
              </a:endParaRPr>
            </a:p>
          </p:txBody>
        </p:sp>
        <p:pic>
          <p:nvPicPr>
            <p:cNvPr id="18" name="图片 1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544615" y="3640097"/>
              <a:ext cx="297954" cy="417136"/>
            </a:xfrm>
            <a:prstGeom prst="rect">
              <a:avLst/>
            </a:prstGeom>
          </p:spPr>
        </p:pic>
        <p:sp>
          <p:nvSpPr>
            <p:cNvPr id="3" name="圆角矩形 2"/>
            <p:cNvSpPr/>
            <p:nvPr/>
          </p:nvSpPr>
          <p:spPr>
            <a:xfrm>
              <a:off x="5145486" y="2759941"/>
              <a:ext cx="773085" cy="406121"/>
            </a:xfrm>
            <a:prstGeom prst="roundRect">
              <a:avLst/>
            </a:prstGeom>
            <a:solidFill>
              <a:srgbClr val="00B0F0"/>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600" b="1" dirty="0">
                  <a:latin typeface="微软雅黑 Light" panose="020B0502040204020203" pitchFamily="34" charset="-122"/>
                  <a:ea typeface="微软雅黑 Light" panose="020B0502040204020203" pitchFamily="34" charset="-122"/>
                </a:rPr>
                <a:t>DNS</a:t>
              </a:r>
              <a:endParaRPr lang="zh-CN" altLang="en-US" sz="1600" b="1" dirty="0">
                <a:latin typeface="微软雅黑 Light" panose="020B0502040204020203" pitchFamily="34" charset="-122"/>
                <a:ea typeface="微软雅黑 Light" panose="020B0502040204020203" pitchFamily="34" charset="-122"/>
              </a:endParaRPr>
            </a:p>
          </p:txBody>
        </p:sp>
        <p:sp>
          <p:nvSpPr>
            <p:cNvPr id="23" name="矩形 22"/>
            <p:cNvSpPr/>
            <p:nvPr/>
          </p:nvSpPr>
          <p:spPr>
            <a:xfrm>
              <a:off x="2876860" y="2969044"/>
              <a:ext cx="1694695" cy="276999"/>
            </a:xfrm>
            <a:prstGeom prst="rect">
              <a:avLst/>
            </a:prstGeom>
          </p:spPr>
          <p:txBody>
            <a:bodyPr wrap="none">
              <a:spAutoFit/>
            </a:bodyPr>
            <a:lstStyle/>
            <a:p>
              <a:pPr algn="ctr"/>
              <a:r>
                <a:rPr lang="en-US" altLang="zh-CN" sz="1200" b="1" dirty="0">
                  <a:latin typeface="微软雅黑 Light" panose="020B0502040204020203" pitchFamily="34" charset="-122"/>
                  <a:ea typeface="微软雅黑 Light" panose="020B0502040204020203" pitchFamily="34" charset="-122"/>
                </a:rPr>
                <a:t>IP </a:t>
              </a:r>
              <a:r>
                <a:rPr lang="zh-CN" altLang="en-US" sz="1200" b="1" dirty="0">
                  <a:latin typeface="微软雅黑 Light" panose="020B0502040204020203" pitchFamily="34" charset="-122"/>
                  <a:ea typeface="微软雅黑 Light" panose="020B0502040204020203" pitchFamily="34" charset="-122"/>
                </a:rPr>
                <a:t>地址为 </a:t>
              </a:r>
              <a:r>
                <a:rPr lang="en-US" altLang="zh-CN" sz="1200" b="1" dirty="0">
                  <a:latin typeface="微软雅黑 Light" panose="020B0502040204020203" pitchFamily="34" charset="-122"/>
                  <a:ea typeface="微软雅黑 Light" panose="020B0502040204020203" pitchFamily="34" charset="-122"/>
                </a:rPr>
                <a:t>211.44.55.66</a:t>
              </a:r>
              <a:endParaRPr lang="zh-CN" altLang="en-US" sz="1200" dirty="0">
                <a:latin typeface="Montserrat" panose="00000500000000000000" pitchFamily="2" charset="0"/>
                <a:ea typeface="微软雅黑 Light" panose="020B0502040204020203" pitchFamily="34" charset="-122"/>
              </a:endParaRPr>
            </a:p>
          </p:txBody>
        </p:sp>
        <p:grpSp>
          <p:nvGrpSpPr>
            <p:cNvPr id="26" name="组合 25"/>
            <p:cNvGrpSpPr/>
            <p:nvPr/>
          </p:nvGrpSpPr>
          <p:grpSpPr>
            <a:xfrm>
              <a:off x="1696121" y="2698471"/>
              <a:ext cx="640530" cy="640531"/>
              <a:chOff x="1749336" y="2998394"/>
              <a:chExt cx="640530" cy="640531"/>
            </a:xfrm>
          </p:grpSpPr>
          <p:pic>
            <p:nvPicPr>
              <p:cNvPr id="19"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49336" y="2998394"/>
                <a:ext cx="640530" cy="640531"/>
              </a:xfrm>
              <a:prstGeom prst="rect">
                <a:avLst/>
              </a:prstGeom>
              <a:noFill/>
              <a:extLst>
                <a:ext uri="{909E8E84-426E-40DD-AFC4-6F175D3DCCD1}">
                  <a14:hiddenFill xmlns:a14="http://schemas.microsoft.com/office/drawing/2010/main">
                    <a:solidFill>
                      <a:srgbClr val="FFFFFF"/>
                    </a:solidFill>
                  </a14:hiddenFill>
                </a:ext>
              </a:extLst>
            </p:spPr>
          </p:pic>
          <p:sp>
            <p:nvSpPr>
              <p:cNvPr id="24" name="文本框 23"/>
              <p:cNvSpPr txBox="1"/>
              <p:nvPr/>
            </p:nvSpPr>
            <p:spPr>
              <a:xfrm>
                <a:off x="1763811" y="3117525"/>
                <a:ext cx="602363" cy="261610"/>
              </a:xfrm>
              <a:prstGeom prst="rect">
                <a:avLst/>
              </a:prstGeom>
              <a:noFill/>
            </p:spPr>
            <p:txBody>
              <a:bodyPr wrap="square" rtlCol="0">
                <a:spAutoFit/>
              </a:bodyPr>
              <a:lstStyle/>
              <a:p>
                <a:pPr algn="ctr"/>
                <a:r>
                  <a:rPr lang="zh-CN" altLang="en-US" sz="1100" b="1" dirty="0">
                    <a:solidFill>
                      <a:srgbClr val="FFFF00"/>
                    </a:solidFill>
                    <a:latin typeface="微软雅黑 Light" panose="020B0502040204020203" pitchFamily="34" charset="-122"/>
                    <a:ea typeface="微软雅黑 Light" panose="020B0502040204020203" pitchFamily="34" charset="-122"/>
                  </a:rPr>
                  <a:t>浏览器</a:t>
                </a:r>
              </a:p>
            </p:txBody>
          </p:sp>
        </p:grpSp>
        <p:sp>
          <p:nvSpPr>
            <p:cNvPr id="25" name="矩形 24"/>
            <p:cNvSpPr/>
            <p:nvPr/>
          </p:nvSpPr>
          <p:spPr>
            <a:xfrm>
              <a:off x="5869485" y="3154596"/>
              <a:ext cx="723275" cy="307777"/>
            </a:xfrm>
            <a:prstGeom prst="rect">
              <a:avLst/>
            </a:prstGeom>
          </p:spPr>
          <p:txBody>
            <a:bodyPr wrap="none">
              <a:spAutoFit/>
            </a:bodyPr>
            <a:lstStyle/>
            <a:p>
              <a:r>
                <a:rPr lang="zh-CN" altLang="en-US" sz="1400" b="1" dirty="0">
                  <a:solidFill>
                    <a:srgbClr val="000066"/>
                  </a:solidFill>
                  <a:latin typeface="微软雅黑 Light" panose="020B0502040204020203" pitchFamily="34" charset="-122"/>
                  <a:ea typeface="微软雅黑 Light" panose="020B0502040204020203" pitchFamily="34" charset="-122"/>
                </a:rPr>
                <a:t>互联网</a:t>
              </a:r>
            </a:p>
          </p:txBody>
        </p:sp>
        <p:cxnSp>
          <p:nvCxnSpPr>
            <p:cNvPr id="27" name="直接箭头连接符 26"/>
            <p:cNvCxnSpPr/>
            <p:nvPr/>
          </p:nvCxnSpPr>
          <p:spPr>
            <a:xfrm>
              <a:off x="2312959" y="3146458"/>
              <a:ext cx="3192435" cy="756890"/>
            </a:xfrm>
            <a:prstGeom prst="straightConnector1">
              <a:avLst/>
            </a:prstGeom>
            <a:ln w="19050">
              <a:solidFill>
                <a:schemeClr val="tx1"/>
              </a:solidFill>
              <a:prstDash val="sysDash"/>
              <a:tailEnd type="triangle"/>
            </a:ln>
          </p:spPr>
          <p:style>
            <a:lnRef idx="1">
              <a:schemeClr val="dk1"/>
            </a:lnRef>
            <a:fillRef idx="0">
              <a:schemeClr val="dk1"/>
            </a:fillRef>
            <a:effectRef idx="0">
              <a:schemeClr val="dk1"/>
            </a:effectRef>
            <a:fontRef idx="minor">
              <a:schemeClr val="tx1"/>
            </a:fontRef>
          </p:style>
        </p:cxnSp>
        <p:pic>
          <p:nvPicPr>
            <p:cNvPr id="33" name="图片 3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820787" y="3286709"/>
              <a:ext cx="297954" cy="417136"/>
            </a:xfrm>
            <a:prstGeom prst="rect">
              <a:avLst/>
            </a:prstGeom>
          </p:spPr>
        </p:pic>
        <p:sp>
          <p:nvSpPr>
            <p:cNvPr id="34" name="矩形 33"/>
            <p:cNvSpPr/>
            <p:nvPr/>
          </p:nvSpPr>
          <p:spPr>
            <a:xfrm>
              <a:off x="6648221" y="3648022"/>
              <a:ext cx="1148071" cy="307777"/>
            </a:xfrm>
            <a:prstGeom prst="rect">
              <a:avLst/>
            </a:prstGeom>
          </p:spPr>
          <p:txBody>
            <a:bodyPr wrap="none">
              <a:spAutoFit/>
            </a:bodyPr>
            <a:lstStyle/>
            <a:p>
              <a:pPr algn="ctr"/>
              <a:r>
                <a:rPr lang="en-US" altLang="zh-CN" sz="1400" b="1" dirty="0">
                  <a:latin typeface="微软雅黑 Light" panose="020B0502040204020203" pitchFamily="34" charset="-122"/>
                  <a:ea typeface="微软雅黑 Light" panose="020B0502040204020203" pitchFamily="34" charset="-122"/>
                </a:rPr>
                <a:t>200.11.22.33</a:t>
              </a:r>
              <a:endParaRPr lang="zh-CN" altLang="en-US" sz="1400" dirty="0">
                <a:latin typeface="Montserrat" panose="00000500000000000000" pitchFamily="2" charset="0"/>
                <a:ea typeface="微软雅黑 Light" panose="020B0502040204020203" pitchFamily="34" charset="-122"/>
              </a:endParaRPr>
            </a:p>
          </p:txBody>
        </p:sp>
        <p:sp>
          <p:nvSpPr>
            <p:cNvPr id="35" name="矩形 34"/>
            <p:cNvSpPr/>
            <p:nvPr/>
          </p:nvSpPr>
          <p:spPr>
            <a:xfrm>
              <a:off x="976026" y="3340059"/>
              <a:ext cx="1948162" cy="276999"/>
            </a:xfrm>
            <a:prstGeom prst="rect">
              <a:avLst/>
            </a:prstGeom>
          </p:spPr>
          <p:txBody>
            <a:bodyPr wrap="none">
              <a:spAutoFit/>
            </a:bodyPr>
            <a:lstStyle/>
            <a:p>
              <a:pPr algn="ctr"/>
              <a:r>
                <a:rPr lang="en-US" altLang="zh-CN" sz="1200" b="1" dirty="0">
                  <a:latin typeface="微软雅黑 Light" panose="020B0502040204020203" pitchFamily="34" charset="-122"/>
                  <a:ea typeface="微软雅黑 Light" panose="020B0502040204020203" pitchFamily="34" charset="-122"/>
                </a:rPr>
                <a:t>http://www.myschool.edu</a:t>
              </a:r>
              <a:endParaRPr lang="zh-CN" altLang="en-US" sz="1200" dirty="0">
                <a:latin typeface="Montserrat" panose="00000500000000000000" pitchFamily="2" charset="0"/>
                <a:ea typeface="微软雅黑 Light" panose="020B0502040204020203" pitchFamily="34" charset="-122"/>
              </a:endParaRPr>
            </a:p>
          </p:txBody>
        </p:sp>
        <p:grpSp>
          <p:nvGrpSpPr>
            <p:cNvPr id="38" name="组合 37"/>
            <p:cNvGrpSpPr/>
            <p:nvPr/>
          </p:nvGrpSpPr>
          <p:grpSpPr>
            <a:xfrm>
              <a:off x="2284350" y="2920745"/>
              <a:ext cx="2861961" cy="87320"/>
              <a:chOff x="2977656" y="2920745"/>
              <a:chExt cx="1954758" cy="87320"/>
            </a:xfrm>
          </p:grpSpPr>
          <p:cxnSp>
            <p:nvCxnSpPr>
              <p:cNvPr id="5" name="直接箭头连接符 4"/>
              <p:cNvCxnSpPr/>
              <p:nvPr/>
            </p:nvCxnSpPr>
            <p:spPr>
              <a:xfrm>
                <a:off x="2977656" y="2920745"/>
                <a:ext cx="1954758" cy="0"/>
              </a:xfrm>
              <a:prstGeom prst="straightConnector1">
                <a:avLst/>
              </a:prstGeom>
              <a:ln w="19050">
                <a:solidFill>
                  <a:srgbClr val="CC00CC"/>
                </a:solidFill>
                <a:tailEnd type="triangle"/>
              </a:ln>
            </p:spPr>
            <p:style>
              <a:lnRef idx="1">
                <a:schemeClr val="dk1"/>
              </a:lnRef>
              <a:fillRef idx="0">
                <a:schemeClr val="dk1"/>
              </a:fillRef>
              <a:effectRef idx="0">
                <a:schemeClr val="dk1"/>
              </a:effectRef>
              <a:fontRef idx="minor">
                <a:schemeClr val="tx1"/>
              </a:fontRef>
            </p:style>
          </p:cxnSp>
          <p:cxnSp>
            <p:nvCxnSpPr>
              <p:cNvPr id="9" name="直接箭头连接符 8"/>
              <p:cNvCxnSpPr/>
              <p:nvPr/>
            </p:nvCxnSpPr>
            <p:spPr>
              <a:xfrm>
                <a:off x="2977656" y="3008065"/>
                <a:ext cx="1954758" cy="0"/>
              </a:xfrm>
              <a:prstGeom prst="straightConnector1">
                <a:avLst/>
              </a:prstGeom>
              <a:ln w="19050">
                <a:solidFill>
                  <a:srgbClr val="000099"/>
                </a:solidFill>
                <a:headEnd type="triangle" w="med" len="med"/>
                <a:tailEnd type="none" w="med" len="med"/>
              </a:ln>
            </p:spPr>
            <p:style>
              <a:lnRef idx="1">
                <a:schemeClr val="dk1"/>
              </a:lnRef>
              <a:fillRef idx="0">
                <a:schemeClr val="dk1"/>
              </a:fillRef>
              <a:effectRef idx="0">
                <a:schemeClr val="dk1"/>
              </a:effectRef>
              <a:fontRef idx="minor">
                <a:schemeClr val="tx1"/>
              </a:fontRef>
            </p:style>
          </p:cxnSp>
        </p:grpSp>
      </p:grpSp>
      <p:sp>
        <p:nvSpPr>
          <p:cNvPr id="2" name="标题 1">
            <a:extLst>
              <a:ext uri="{FF2B5EF4-FFF2-40B4-BE49-F238E27FC236}">
                <a16:creationId xmlns:a16="http://schemas.microsoft.com/office/drawing/2014/main" id="{C6BF2EB8-6220-5B41-AD46-C0BED242ADC5}"/>
              </a:ext>
            </a:extLst>
          </p:cNvPr>
          <p:cNvSpPr>
            <a:spLocks noGrp="1"/>
          </p:cNvSpPr>
          <p:nvPr>
            <p:ph type="title"/>
          </p:nvPr>
        </p:nvSpPr>
        <p:spPr>
          <a:xfrm>
            <a:off x="485999" y="174482"/>
            <a:ext cx="8171999" cy="338554"/>
          </a:xfrm>
        </p:spPr>
        <p:txBody>
          <a:bodyPr/>
          <a:lstStyle/>
          <a:p>
            <a:r>
              <a:rPr lang="en-US" altLang="zh-CN" dirty="0"/>
              <a:t>6.1.1  </a:t>
            </a:r>
            <a:r>
              <a:rPr lang="zh-CN" altLang="en-US" dirty="0"/>
              <a:t>域名系统</a:t>
            </a:r>
          </a:p>
        </p:txBody>
      </p:sp>
      <p:sp>
        <p:nvSpPr>
          <p:cNvPr id="7" name="内容占位符 6">
            <a:extLst>
              <a:ext uri="{FF2B5EF4-FFF2-40B4-BE49-F238E27FC236}">
                <a16:creationId xmlns:a16="http://schemas.microsoft.com/office/drawing/2014/main" id="{7BBAEAC0-A391-90A0-ABF7-50AB9990BFBB}"/>
              </a:ext>
            </a:extLst>
          </p:cNvPr>
          <p:cNvSpPr>
            <a:spLocks noGrp="1"/>
          </p:cNvSpPr>
          <p:nvPr>
            <p:ph sz="quarter" idx="11"/>
          </p:nvPr>
        </p:nvSpPr>
        <p:spPr>
          <a:xfrm>
            <a:off x="486000" y="687518"/>
            <a:ext cx="8172000" cy="4079035"/>
          </a:xfrm>
        </p:spPr>
        <p:txBody>
          <a:bodyPr/>
          <a:lstStyle/>
          <a:p>
            <a:r>
              <a:rPr lang="zh-CN" altLang="en-US" dirty="0"/>
              <a:t>域名系统 </a:t>
            </a:r>
            <a:r>
              <a:rPr lang="en-US" altLang="zh-CN" dirty="0"/>
              <a:t>DNS</a:t>
            </a:r>
          </a:p>
          <a:p>
            <a:pPr lvl="1"/>
            <a:r>
              <a:rPr lang="en-US" altLang="zh-CN" dirty="0"/>
              <a:t>Domain Name System</a:t>
            </a:r>
          </a:p>
          <a:p>
            <a:pPr lvl="1"/>
            <a:r>
              <a:rPr lang="zh-CN" altLang="en-US" dirty="0"/>
              <a:t>互联网使用的命名系统</a:t>
            </a:r>
            <a:endParaRPr lang="en-US" altLang="zh-CN" dirty="0"/>
          </a:p>
          <a:p>
            <a:pPr lvl="1"/>
            <a:r>
              <a:rPr lang="zh-CN" altLang="en-US" dirty="0"/>
              <a:t>用来把人们使用的机器名字（域名）转换为 </a:t>
            </a:r>
            <a:r>
              <a:rPr lang="en-US" altLang="zh-CN" dirty="0"/>
              <a:t>IP </a:t>
            </a:r>
            <a:r>
              <a:rPr lang="zh-CN" altLang="en-US" dirty="0"/>
              <a:t>地址</a:t>
            </a:r>
            <a:endParaRPr lang="en-US" altLang="zh-CN" dirty="0"/>
          </a:p>
          <a:p>
            <a:pPr lvl="1"/>
            <a:r>
              <a:rPr lang="zh-CN" altLang="en-US" dirty="0"/>
              <a:t>为互联网的各种网络应用提供了核心服务</a:t>
            </a:r>
            <a:endParaRPr lang="en-US" altLang="zh-CN" dirty="0"/>
          </a:p>
          <a:p>
            <a:endParaRPr lang="zh-CN" altLang="en-US" dirty="0"/>
          </a:p>
        </p:txBody>
      </p:sp>
    </p:spTree>
    <p:extLst>
      <p:ext uri="{BB962C8B-B14F-4D97-AF65-F5344CB8AC3E}">
        <p14:creationId xmlns:p14="http://schemas.microsoft.com/office/powerpoint/2010/main" val="6689464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539C13CC-F4F0-7DC5-C345-9F73159EAAA6}"/>
              </a:ext>
            </a:extLst>
          </p:cNvPr>
          <p:cNvSpPr>
            <a:spLocks noGrp="1"/>
          </p:cNvSpPr>
          <p:nvPr>
            <p:ph type="title"/>
          </p:nvPr>
        </p:nvSpPr>
        <p:spPr>
          <a:xfrm>
            <a:off x="485999" y="174482"/>
            <a:ext cx="8171999" cy="338554"/>
          </a:xfrm>
        </p:spPr>
        <p:txBody>
          <a:bodyPr/>
          <a:lstStyle/>
          <a:p>
            <a:r>
              <a:rPr lang="en-US" altLang="zh-CN" dirty="0"/>
              <a:t>6.1.1  </a:t>
            </a:r>
            <a:r>
              <a:rPr lang="zh-CN" altLang="en-US" dirty="0"/>
              <a:t>域名系统</a:t>
            </a:r>
          </a:p>
        </p:txBody>
      </p:sp>
      <p:sp>
        <p:nvSpPr>
          <p:cNvPr id="4" name="内容占位符 3">
            <a:extLst>
              <a:ext uri="{FF2B5EF4-FFF2-40B4-BE49-F238E27FC236}">
                <a16:creationId xmlns:a16="http://schemas.microsoft.com/office/drawing/2014/main" id="{15FD84F0-4868-0B12-E9A7-181D4A300CEF}"/>
              </a:ext>
            </a:extLst>
          </p:cNvPr>
          <p:cNvSpPr>
            <a:spLocks noGrp="1"/>
          </p:cNvSpPr>
          <p:nvPr>
            <p:ph sz="quarter" idx="11"/>
          </p:nvPr>
        </p:nvSpPr>
        <p:spPr>
          <a:xfrm>
            <a:off x="486000" y="687518"/>
            <a:ext cx="8172000" cy="4079035"/>
          </a:xfrm>
        </p:spPr>
        <p:txBody>
          <a:bodyPr/>
          <a:lstStyle/>
          <a:p>
            <a:r>
              <a:rPr lang="zh-CN" altLang="en-US" dirty="0"/>
              <a:t>域名采用层次树状结构的命名方法</a:t>
            </a:r>
            <a:endParaRPr lang="en-US" altLang="zh-CN" dirty="0"/>
          </a:p>
          <a:p>
            <a:pPr lvl="1"/>
            <a:r>
              <a:rPr lang="en-US" altLang="zh-CN" dirty="0"/>
              <a:t>www.myschool.edu</a:t>
            </a:r>
          </a:p>
          <a:p>
            <a:r>
              <a:rPr lang="en-US" altLang="zh-CN" dirty="0"/>
              <a:t>DNS </a:t>
            </a:r>
            <a:r>
              <a:rPr lang="zh-CN" altLang="en-US" dirty="0"/>
              <a:t>是一个联机分布式数据库系统，采用客户服务器方式</a:t>
            </a:r>
            <a:endParaRPr lang="en-US" altLang="zh-CN" dirty="0"/>
          </a:p>
          <a:p>
            <a:r>
              <a:rPr lang="zh-CN" altLang="en-US" dirty="0"/>
              <a:t>域名到 </a:t>
            </a:r>
            <a:r>
              <a:rPr lang="en-US" altLang="zh-CN" dirty="0"/>
              <a:t>IP </a:t>
            </a:r>
            <a:r>
              <a:rPr lang="zh-CN" altLang="en-US" dirty="0"/>
              <a:t>地址的解析是由若干个域名服务器程序共同完成</a:t>
            </a:r>
            <a:endParaRPr lang="en-US" altLang="zh-CN" dirty="0"/>
          </a:p>
          <a:p>
            <a:r>
              <a:rPr lang="zh-CN" altLang="en-US" dirty="0"/>
              <a:t>域名服务器程序在专设的结点上运行，运行该程序的机器称为域名服务器</a:t>
            </a:r>
          </a:p>
        </p:txBody>
      </p:sp>
      <p:sp>
        <p:nvSpPr>
          <p:cNvPr id="5" name="Rectangle 122"/>
          <p:cNvSpPr>
            <a:spLocks noChangeArrowheads="1"/>
          </p:cNvSpPr>
          <p:nvPr/>
        </p:nvSpPr>
        <p:spPr bwMode="auto">
          <a:xfrm>
            <a:off x="4013904" y="2571750"/>
            <a:ext cx="409790" cy="324229"/>
          </a:xfrm>
          <a:prstGeom prst="rect">
            <a:avLst/>
          </a:prstGeom>
          <a:solidFill>
            <a:schemeClr val="bg1"/>
          </a:solidFill>
          <a:ln>
            <a:noFill/>
          </a:ln>
          <a:effectLst/>
          <a:extLs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zh-CN" altLang="en-US" sz="1400" dirty="0">
                <a:latin typeface="Montserrat" panose="00000500000000000000" pitchFamily="2" charset="0"/>
                <a:ea typeface="微软雅黑 Light" panose="020B0502040204020203" pitchFamily="34" charset="-122"/>
              </a:rPr>
              <a:t>根</a:t>
            </a:r>
          </a:p>
        </p:txBody>
      </p:sp>
      <p:sp>
        <p:nvSpPr>
          <p:cNvPr id="19" name="Text Box 105"/>
          <p:cNvSpPr txBox="1">
            <a:spLocks noChangeArrowheads="1"/>
          </p:cNvSpPr>
          <p:nvPr/>
        </p:nvSpPr>
        <p:spPr bwMode="auto">
          <a:xfrm>
            <a:off x="5036129" y="3707293"/>
            <a:ext cx="30008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dirty="0">
                <a:solidFill>
                  <a:schemeClr val="tx1"/>
                </a:solidFill>
                <a:latin typeface="Montserrat" panose="00000500000000000000" pitchFamily="2" charset="0"/>
                <a:ea typeface="微软雅黑 Light" panose="020B0502040204020203" pitchFamily="34" charset="-122"/>
              </a:rPr>
              <a:t>…</a:t>
            </a:r>
          </a:p>
        </p:txBody>
      </p:sp>
      <p:sp>
        <p:nvSpPr>
          <p:cNvPr id="25" name="Text Box 124"/>
          <p:cNvSpPr txBox="1">
            <a:spLocks noChangeArrowheads="1"/>
          </p:cNvSpPr>
          <p:nvPr/>
        </p:nvSpPr>
        <p:spPr bwMode="auto">
          <a:xfrm>
            <a:off x="4108423" y="3759542"/>
            <a:ext cx="105670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dirty="0" err="1">
                <a:solidFill>
                  <a:schemeClr val="tx1"/>
                </a:solidFill>
                <a:latin typeface="Montserrat" panose="00000500000000000000" pitchFamily="2" charset="0"/>
                <a:ea typeface="微软雅黑 Light" panose="020B0502040204020203" pitchFamily="34" charset="-122"/>
              </a:rPr>
              <a:t>myschool</a:t>
            </a:r>
            <a:endParaRPr kumimoji="1" lang="en-US" altLang="zh-CN" sz="1400" dirty="0">
              <a:solidFill>
                <a:schemeClr val="tx1"/>
              </a:solidFill>
              <a:latin typeface="Montserrat" panose="00000500000000000000" pitchFamily="2" charset="0"/>
              <a:ea typeface="微软雅黑 Light" panose="020B0502040204020203" pitchFamily="34" charset="-122"/>
            </a:endParaRPr>
          </a:p>
        </p:txBody>
      </p:sp>
      <p:sp>
        <p:nvSpPr>
          <p:cNvPr id="28" name="Line 142"/>
          <p:cNvSpPr>
            <a:spLocks noChangeShapeType="1"/>
          </p:cNvSpPr>
          <p:nvPr/>
        </p:nvSpPr>
        <p:spPr bwMode="auto">
          <a:xfrm>
            <a:off x="4543958" y="3493010"/>
            <a:ext cx="81165" cy="32422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29" name="Line 143"/>
          <p:cNvSpPr>
            <a:spLocks noChangeShapeType="1"/>
          </p:cNvSpPr>
          <p:nvPr/>
        </p:nvSpPr>
        <p:spPr bwMode="auto">
          <a:xfrm>
            <a:off x="4543958" y="3505933"/>
            <a:ext cx="557632" cy="29112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30" name="Line 144"/>
          <p:cNvSpPr>
            <a:spLocks noChangeShapeType="1"/>
          </p:cNvSpPr>
          <p:nvPr/>
        </p:nvSpPr>
        <p:spPr bwMode="auto">
          <a:xfrm flipV="1">
            <a:off x="4132895" y="3517678"/>
            <a:ext cx="411062" cy="2793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grpSp>
        <p:nvGrpSpPr>
          <p:cNvPr id="35" name="Group 162"/>
          <p:cNvGrpSpPr>
            <a:grpSpLocks/>
          </p:cNvGrpSpPr>
          <p:nvPr/>
        </p:nvGrpSpPr>
        <p:grpSpPr bwMode="auto">
          <a:xfrm>
            <a:off x="3805824" y="3494320"/>
            <a:ext cx="341067" cy="118649"/>
            <a:chOff x="2875" y="1143"/>
            <a:chExt cx="330" cy="132"/>
          </a:xfrm>
        </p:grpSpPr>
        <p:sp>
          <p:nvSpPr>
            <p:cNvPr id="56" name="Line 163"/>
            <p:cNvSpPr>
              <a:spLocks noChangeShapeType="1"/>
            </p:cNvSpPr>
            <p:nvPr/>
          </p:nvSpPr>
          <p:spPr bwMode="auto">
            <a:xfrm>
              <a:off x="3061" y="1143"/>
              <a:ext cx="144" cy="13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57" name="Line 164"/>
            <p:cNvSpPr>
              <a:spLocks noChangeShapeType="1"/>
            </p:cNvSpPr>
            <p:nvPr/>
          </p:nvSpPr>
          <p:spPr bwMode="auto">
            <a:xfrm>
              <a:off x="3050" y="1143"/>
              <a:ext cx="37" cy="12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58" name="Line 165"/>
            <p:cNvSpPr>
              <a:spLocks noChangeShapeType="1"/>
            </p:cNvSpPr>
            <p:nvPr/>
          </p:nvSpPr>
          <p:spPr bwMode="auto">
            <a:xfrm flipH="1">
              <a:off x="2875" y="1143"/>
              <a:ext cx="144" cy="13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59" name="Line 166"/>
            <p:cNvSpPr>
              <a:spLocks noChangeShapeType="1"/>
            </p:cNvSpPr>
            <p:nvPr/>
          </p:nvSpPr>
          <p:spPr bwMode="auto">
            <a:xfrm flipH="1">
              <a:off x="2980" y="1143"/>
              <a:ext cx="54" cy="12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grpSp>
      <p:grpSp>
        <p:nvGrpSpPr>
          <p:cNvPr id="38" name="Group 177"/>
          <p:cNvGrpSpPr>
            <a:grpSpLocks/>
          </p:cNvGrpSpPr>
          <p:nvPr/>
        </p:nvGrpSpPr>
        <p:grpSpPr bwMode="auto">
          <a:xfrm>
            <a:off x="4882480" y="3494320"/>
            <a:ext cx="341067" cy="118649"/>
            <a:chOff x="2875" y="1143"/>
            <a:chExt cx="330" cy="132"/>
          </a:xfrm>
        </p:grpSpPr>
        <p:sp>
          <p:nvSpPr>
            <p:cNvPr id="44" name="Line 178"/>
            <p:cNvSpPr>
              <a:spLocks noChangeShapeType="1"/>
            </p:cNvSpPr>
            <p:nvPr/>
          </p:nvSpPr>
          <p:spPr bwMode="auto">
            <a:xfrm>
              <a:off x="3061" y="1143"/>
              <a:ext cx="144" cy="13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45" name="Line 179"/>
            <p:cNvSpPr>
              <a:spLocks noChangeShapeType="1"/>
            </p:cNvSpPr>
            <p:nvPr/>
          </p:nvSpPr>
          <p:spPr bwMode="auto">
            <a:xfrm>
              <a:off x="3050" y="1143"/>
              <a:ext cx="37" cy="12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46" name="Line 180"/>
            <p:cNvSpPr>
              <a:spLocks noChangeShapeType="1"/>
            </p:cNvSpPr>
            <p:nvPr/>
          </p:nvSpPr>
          <p:spPr bwMode="auto">
            <a:xfrm flipH="1">
              <a:off x="2875" y="1143"/>
              <a:ext cx="144" cy="13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47" name="Line 181"/>
            <p:cNvSpPr>
              <a:spLocks noChangeShapeType="1"/>
            </p:cNvSpPr>
            <p:nvPr/>
          </p:nvSpPr>
          <p:spPr bwMode="auto">
            <a:xfrm flipH="1">
              <a:off x="2980" y="1143"/>
              <a:ext cx="54" cy="12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grpSp>
      <p:sp>
        <p:nvSpPr>
          <p:cNvPr id="73" name="Text Box 150"/>
          <p:cNvSpPr txBox="1">
            <a:spLocks noChangeArrowheads="1"/>
          </p:cNvSpPr>
          <p:nvPr/>
        </p:nvSpPr>
        <p:spPr bwMode="auto">
          <a:xfrm>
            <a:off x="4507722" y="4126966"/>
            <a:ext cx="655949" cy="307777"/>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dirty="0">
                <a:solidFill>
                  <a:schemeClr val="tx1"/>
                </a:solidFill>
                <a:latin typeface="Montserrat" panose="00000500000000000000" pitchFamily="2" charset="0"/>
                <a:ea typeface="微软雅黑 Light" panose="020B0502040204020203" pitchFamily="34" charset="-122"/>
              </a:rPr>
              <a:t>www</a:t>
            </a:r>
          </a:p>
        </p:txBody>
      </p:sp>
      <p:sp>
        <p:nvSpPr>
          <p:cNvPr id="74" name="Text Box 152"/>
          <p:cNvSpPr txBox="1">
            <a:spLocks noChangeArrowheads="1"/>
          </p:cNvSpPr>
          <p:nvPr/>
        </p:nvSpPr>
        <p:spPr bwMode="auto">
          <a:xfrm>
            <a:off x="3872519" y="3706942"/>
            <a:ext cx="30008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dirty="0">
                <a:solidFill>
                  <a:schemeClr val="tx1"/>
                </a:solidFill>
                <a:latin typeface="Montserrat" panose="00000500000000000000" pitchFamily="2" charset="0"/>
                <a:ea typeface="微软雅黑 Light" panose="020B0502040204020203" pitchFamily="34" charset="-122"/>
              </a:rPr>
              <a:t>…</a:t>
            </a:r>
          </a:p>
        </p:txBody>
      </p:sp>
      <p:sp>
        <p:nvSpPr>
          <p:cNvPr id="76" name="Line 154"/>
          <p:cNvSpPr>
            <a:spLocks noChangeShapeType="1"/>
          </p:cNvSpPr>
          <p:nvPr/>
        </p:nvSpPr>
        <p:spPr bwMode="auto">
          <a:xfrm>
            <a:off x="4708746" y="4027869"/>
            <a:ext cx="130465" cy="18602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100" name="Text Box 107"/>
          <p:cNvSpPr txBox="1">
            <a:spLocks noChangeArrowheads="1"/>
          </p:cNvSpPr>
          <p:nvPr/>
        </p:nvSpPr>
        <p:spPr bwMode="auto">
          <a:xfrm>
            <a:off x="3761282" y="3238222"/>
            <a:ext cx="58862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dirty="0">
                <a:solidFill>
                  <a:schemeClr val="tx1"/>
                </a:solidFill>
                <a:latin typeface="Montserrat" panose="00000500000000000000" pitchFamily="2" charset="0"/>
                <a:ea typeface="微软雅黑 Light" panose="020B0502040204020203" pitchFamily="34" charset="-122"/>
              </a:rPr>
              <a:t>com</a:t>
            </a:r>
          </a:p>
        </p:txBody>
      </p:sp>
      <p:sp>
        <p:nvSpPr>
          <p:cNvPr id="102" name="Text Box 109"/>
          <p:cNvSpPr txBox="1">
            <a:spLocks noChangeArrowheads="1"/>
          </p:cNvSpPr>
          <p:nvPr/>
        </p:nvSpPr>
        <p:spPr bwMode="auto">
          <a:xfrm>
            <a:off x="4293248" y="3238222"/>
            <a:ext cx="53572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dirty="0" err="1">
                <a:solidFill>
                  <a:schemeClr val="tx1"/>
                </a:solidFill>
                <a:latin typeface="Montserrat" panose="00000500000000000000" pitchFamily="2" charset="0"/>
                <a:ea typeface="微软雅黑 Light" panose="020B0502040204020203" pitchFamily="34" charset="-122"/>
              </a:rPr>
              <a:t>edu</a:t>
            </a:r>
            <a:endParaRPr kumimoji="1" lang="en-US" altLang="zh-CN" sz="1400" dirty="0">
              <a:solidFill>
                <a:schemeClr val="tx1"/>
              </a:solidFill>
              <a:latin typeface="Montserrat" panose="00000500000000000000" pitchFamily="2" charset="0"/>
              <a:ea typeface="微软雅黑 Light" panose="020B0502040204020203" pitchFamily="34" charset="-122"/>
            </a:endParaRPr>
          </a:p>
        </p:txBody>
      </p:sp>
      <p:sp>
        <p:nvSpPr>
          <p:cNvPr id="103" name="Text Box 110"/>
          <p:cNvSpPr txBox="1">
            <a:spLocks noChangeArrowheads="1"/>
          </p:cNvSpPr>
          <p:nvPr/>
        </p:nvSpPr>
        <p:spPr bwMode="auto">
          <a:xfrm>
            <a:off x="4839211" y="3238222"/>
            <a:ext cx="51809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dirty="0">
                <a:solidFill>
                  <a:schemeClr val="tx1"/>
                </a:solidFill>
                <a:latin typeface="Montserrat" panose="00000500000000000000" pitchFamily="2" charset="0"/>
                <a:ea typeface="微软雅黑 Light" panose="020B0502040204020203" pitchFamily="34" charset="-122"/>
              </a:rPr>
              <a:t>gov</a:t>
            </a:r>
          </a:p>
        </p:txBody>
      </p:sp>
      <p:sp>
        <p:nvSpPr>
          <p:cNvPr id="110" name="Line 134"/>
          <p:cNvSpPr>
            <a:spLocks noChangeShapeType="1"/>
          </p:cNvSpPr>
          <p:nvPr/>
        </p:nvSpPr>
        <p:spPr bwMode="auto">
          <a:xfrm flipH="1">
            <a:off x="3667098" y="2863864"/>
            <a:ext cx="559882" cy="43614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111" name="Line 135"/>
          <p:cNvSpPr>
            <a:spLocks noChangeShapeType="1"/>
          </p:cNvSpPr>
          <p:nvPr/>
        </p:nvSpPr>
        <p:spPr bwMode="auto">
          <a:xfrm flipH="1">
            <a:off x="4024710" y="2872742"/>
            <a:ext cx="187090" cy="42727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112" name="Line 136"/>
          <p:cNvSpPr>
            <a:spLocks noChangeShapeType="1"/>
          </p:cNvSpPr>
          <p:nvPr/>
        </p:nvSpPr>
        <p:spPr bwMode="auto">
          <a:xfrm>
            <a:off x="4227071" y="2882275"/>
            <a:ext cx="316887" cy="4287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113" name="Line 137"/>
          <p:cNvSpPr>
            <a:spLocks noChangeShapeType="1"/>
          </p:cNvSpPr>
          <p:nvPr/>
        </p:nvSpPr>
        <p:spPr bwMode="auto">
          <a:xfrm>
            <a:off x="4224526" y="2872877"/>
            <a:ext cx="866668" cy="44052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114" name="Line 138"/>
          <p:cNvSpPr>
            <a:spLocks noChangeShapeType="1"/>
          </p:cNvSpPr>
          <p:nvPr/>
        </p:nvSpPr>
        <p:spPr bwMode="auto">
          <a:xfrm>
            <a:off x="4241070" y="2864654"/>
            <a:ext cx="1259701" cy="43935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117" name="Text Box 141"/>
          <p:cNvSpPr txBox="1">
            <a:spLocks noChangeArrowheads="1"/>
          </p:cNvSpPr>
          <p:nvPr/>
        </p:nvSpPr>
        <p:spPr bwMode="auto">
          <a:xfrm>
            <a:off x="3475485" y="3191232"/>
            <a:ext cx="30008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dirty="0">
                <a:solidFill>
                  <a:schemeClr val="tx1"/>
                </a:solidFill>
                <a:latin typeface="Montserrat" panose="00000500000000000000" pitchFamily="2" charset="0"/>
                <a:ea typeface="微软雅黑 Light" panose="020B0502040204020203" pitchFamily="34" charset="-122"/>
              </a:rPr>
              <a:t>…</a:t>
            </a:r>
          </a:p>
        </p:txBody>
      </p:sp>
      <p:sp>
        <p:nvSpPr>
          <p:cNvPr id="118" name="Text Box 207"/>
          <p:cNvSpPr txBox="1">
            <a:spLocks noChangeArrowheads="1"/>
          </p:cNvSpPr>
          <p:nvPr/>
        </p:nvSpPr>
        <p:spPr bwMode="auto">
          <a:xfrm>
            <a:off x="5354005" y="3191232"/>
            <a:ext cx="30008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dirty="0">
                <a:solidFill>
                  <a:schemeClr val="tx1"/>
                </a:solidFill>
                <a:latin typeface="Montserrat" panose="00000500000000000000" pitchFamily="2" charset="0"/>
                <a:ea typeface="微软雅黑 Light" panose="020B0502040204020203" pitchFamily="34" charset="-122"/>
              </a:rPr>
              <a:t>…</a:t>
            </a:r>
          </a:p>
        </p:txBody>
      </p:sp>
    </p:spTree>
    <p:extLst>
      <p:ext uri="{BB962C8B-B14F-4D97-AF65-F5344CB8AC3E}">
        <p14:creationId xmlns:p14="http://schemas.microsoft.com/office/powerpoint/2010/main" val="40240448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矩形 32"/>
          <p:cNvSpPr/>
          <p:nvPr/>
        </p:nvSpPr>
        <p:spPr>
          <a:xfrm>
            <a:off x="5742727" y="3683064"/>
            <a:ext cx="815070" cy="276999"/>
          </a:xfrm>
          <a:prstGeom prst="rect">
            <a:avLst/>
          </a:prstGeom>
        </p:spPr>
        <p:txBody>
          <a:bodyPr wrap="square">
            <a:spAutoFit/>
          </a:bodyPr>
          <a:lstStyle/>
          <a:p>
            <a:pPr algn="just"/>
            <a:r>
              <a:rPr lang="en-US" altLang="zh-CN" sz="1200" dirty="0">
                <a:latin typeface="Montserrat" panose="00000500000000000000" pitchFamily="2" charset="0"/>
                <a:ea typeface="微软雅黑 Light" panose="020B0502040204020203" pitchFamily="34" charset="-122"/>
              </a:rPr>
              <a:t>Server</a:t>
            </a:r>
            <a:endParaRPr lang="zh-CN" altLang="en-US" sz="1200" dirty="0">
              <a:latin typeface="Montserrat" panose="00000500000000000000" pitchFamily="2" charset="0"/>
              <a:ea typeface="微软雅黑 Light" panose="020B0502040204020203" pitchFamily="34" charset="-122"/>
            </a:endParaRPr>
          </a:p>
        </p:txBody>
      </p:sp>
      <p:cxnSp>
        <p:nvCxnSpPr>
          <p:cNvPr id="34" name="直接箭头连接符 33"/>
          <p:cNvCxnSpPr/>
          <p:nvPr/>
        </p:nvCxnSpPr>
        <p:spPr>
          <a:xfrm>
            <a:off x="3169328" y="2417626"/>
            <a:ext cx="953457" cy="0"/>
          </a:xfrm>
          <a:prstGeom prst="straightConnector1">
            <a:avLst/>
          </a:prstGeom>
          <a:ln w="38100">
            <a:solidFill>
              <a:srgbClr val="000099"/>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 name="直接箭头连接符 34"/>
          <p:cNvCxnSpPr/>
          <p:nvPr/>
        </p:nvCxnSpPr>
        <p:spPr>
          <a:xfrm>
            <a:off x="3170724" y="2259928"/>
            <a:ext cx="960116" cy="1"/>
          </a:xfrm>
          <a:prstGeom prst="straightConnector1">
            <a:avLst/>
          </a:prstGeom>
          <a:ln w="38100">
            <a:solidFill>
              <a:srgbClr val="CC00CC"/>
            </a:solidFill>
            <a:tailEnd type="triangle"/>
          </a:ln>
        </p:spPr>
        <p:style>
          <a:lnRef idx="1">
            <a:schemeClr val="accent1"/>
          </a:lnRef>
          <a:fillRef idx="0">
            <a:schemeClr val="accent1"/>
          </a:fillRef>
          <a:effectRef idx="0">
            <a:schemeClr val="accent1"/>
          </a:effectRef>
          <a:fontRef idx="minor">
            <a:schemeClr val="tx1"/>
          </a:fontRef>
        </p:style>
      </p:cxnSp>
      <p:sp>
        <p:nvSpPr>
          <p:cNvPr id="20" name="矩形 19"/>
          <p:cNvSpPr/>
          <p:nvPr/>
        </p:nvSpPr>
        <p:spPr>
          <a:xfrm>
            <a:off x="6544499" y="1389508"/>
            <a:ext cx="526106" cy="276999"/>
          </a:xfrm>
          <a:prstGeom prst="rect">
            <a:avLst/>
          </a:prstGeom>
        </p:spPr>
        <p:txBody>
          <a:bodyPr wrap="none">
            <a:spAutoFit/>
          </a:bodyPr>
          <a:lstStyle/>
          <a:p>
            <a:pPr algn="just"/>
            <a:r>
              <a:rPr lang="en-US" altLang="zh-CN" sz="1200" dirty="0">
                <a:latin typeface="Montserrat" panose="00000500000000000000" pitchFamily="2" charset="0"/>
                <a:ea typeface="微软雅黑 Light" panose="020B0502040204020203" pitchFamily="34" charset="-122"/>
              </a:rPr>
              <a:t>DNS</a:t>
            </a:r>
            <a:endParaRPr lang="zh-CN" altLang="en-US" sz="1200" dirty="0">
              <a:latin typeface="Montserrat" panose="00000500000000000000" pitchFamily="2" charset="0"/>
              <a:ea typeface="微软雅黑 Light" panose="020B0502040204020203" pitchFamily="34" charset="-122"/>
            </a:endParaRPr>
          </a:p>
        </p:txBody>
      </p:sp>
      <p:cxnSp>
        <p:nvCxnSpPr>
          <p:cNvPr id="36" name="直接箭头连接符 35"/>
          <p:cNvCxnSpPr/>
          <p:nvPr/>
        </p:nvCxnSpPr>
        <p:spPr>
          <a:xfrm flipV="1">
            <a:off x="4792931" y="1467848"/>
            <a:ext cx="1209158" cy="617697"/>
          </a:xfrm>
          <a:prstGeom prst="straightConnector1">
            <a:avLst/>
          </a:prstGeom>
          <a:ln w="381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37" name="直接箭头连接符 36"/>
          <p:cNvCxnSpPr/>
          <p:nvPr/>
        </p:nvCxnSpPr>
        <p:spPr>
          <a:xfrm flipV="1">
            <a:off x="4797661" y="1600666"/>
            <a:ext cx="1177012" cy="612650"/>
          </a:xfrm>
          <a:prstGeom prst="straightConnector1">
            <a:avLst/>
          </a:prstGeom>
          <a:ln w="38100">
            <a:solidFill>
              <a:srgbClr val="0070C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73" name="矩形 72"/>
          <p:cNvSpPr/>
          <p:nvPr/>
        </p:nvSpPr>
        <p:spPr>
          <a:xfrm>
            <a:off x="2793891" y="1596600"/>
            <a:ext cx="345961" cy="1440162"/>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ysClr val="windowText" lastClr="000000"/>
                </a:solidFill>
                <a:latin typeface="Montserrat" panose="00000500000000000000" pitchFamily="2" charset="0"/>
                <a:ea typeface="微软雅黑 Light" panose="020B0502040204020203" pitchFamily="34" charset="-122"/>
              </a:rPr>
              <a:t>解析程序</a:t>
            </a:r>
            <a:endParaRPr lang="zh-CN" altLang="en-US" sz="1400" dirty="0">
              <a:solidFill>
                <a:sysClr val="windowText" lastClr="000000"/>
              </a:solidFill>
              <a:latin typeface="Montserrat" panose="00000500000000000000" pitchFamily="2" charset="0"/>
              <a:ea typeface="微软雅黑 Light" panose="020B0502040204020203" pitchFamily="34" charset="-122"/>
            </a:endParaRPr>
          </a:p>
        </p:txBody>
      </p:sp>
      <p:sp>
        <p:nvSpPr>
          <p:cNvPr id="74" name="圆角右箭头 73"/>
          <p:cNvSpPr/>
          <p:nvPr/>
        </p:nvSpPr>
        <p:spPr>
          <a:xfrm>
            <a:off x="1869235" y="1746270"/>
            <a:ext cx="901666" cy="461528"/>
          </a:xfrm>
          <a:prstGeom prst="bentArrow">
            <a:avLst>
              <a:gd name="adj1" fmla="val 11913"/>
              <a:gd name="adj2" fmla="val 15020"/>
              <a:gd name="adj3" fmla="val 25000"/>
              <a:gd name="adj4" fmla="val 41706"/>
            </a:avLst>
          </a:prstGeom>
          <a:solidFill>
            <a:srgbClr val="009900"/>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latin typeface="Montserrat" panose="00000500000000000000" pitchFamily="2" charset="0"/>
              <a:ea typeface="微软雅黑 Light" panose="020B0502040204020203" pitchFamily="34" charset="-122"/>
            </a:endParaRPr>
          </a:p>
        </p:txBody>
      </p:sp>
      <p:cxnSp>
        <p:nvCxnSpPr>
          <p:cNvPr id="75" name="直接箭头连接符 74"/>
          <p:cNvCxnSpPr/>
          <p:nvPr/>
        </p:nvCxnSpPr>
        <p:spPr>
          <a:xfrm>
            <a:off x="4792931" y="2321087"/>
            <a:ext cx="1204428" cy="1527"/>
          </a:xfrm>
          <a:prstGeom prst="straightConnector1">
            <a:avLst/>
          </a:prstGeom>
          <a:ln w="38100">
            <a:solidFill>
              <a:srgbClr val="800000"/>
            </a:solidFill>
            <a:tailEnd type="triangle"/>
          </a:ln>
        </p:spPr>
        <p:style>
          <a:lnRef idx="1">
            <a:schemeClr val="accent1"/>
          </a:lnRef>
          <a:fillRef idx="0">
            <a:schemeClr val="accent1"/>
          </a:fillRef>
          <a:effectRef idx="0">
            <a:schemeClr val="accent1"/>
          </a:effectRef>
          <a:fontRef idx="minor">
            <a:schemeClr val="tx1"/>
          </a:fontRef>
        </p:style>
      </p:cxnSp>
      <p:cxnSp>
        <p:nvCxnSpPr>
          <p:cNvPr id="76" name="直接箭头连接符 75"/>
          <p:cNvCxnSpPr/>
          <p:nvPr/>
        </p:nvCxnSpPr>
        <p:spPr>
          <a:xfrm>
            <a:off x="4792931" y="2426967"/>
            <a:ext cx="1141500" cy="0"/>
          </a:xfrm>
          <a:prstGeom prst="straightConnector1">
            <a:avLst/>
          </a:prstGeom>
          <a:ln w="38100">
            <a:solidFill>
              <a:srgbClr val="CC66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79" name="矩形 78"/>
          <p:cNvSpPr/>
          <p:nvPr/>
        </p:nvSpPr>
        <p:spPr>
          <a:xfrm>
            <a:off x="6539769" y="2161348"/>
            <a:ext cx="526106" cy="276999"/>
          </a:xfrm>
          <a:prstGeom prst="rect">
            <a:avLst/>
          </a:prstGeom>
        </p:spPr>
        <p:txBody>
          <a:bodyPr wrap="none">
            <a:spAutoFit/>
          </a:bodyPr>
          <a:lstStyle/>
          <a:p>
            <a:pPr algn="just"/>
            <a:r>
              <a:rPr lang="en-US" altLang="zh-CN" sz="1200" dirty="0">
                <a:latin typeface="Montserrat" panose="00000500000000000000" pitchFamily="2" charset="0"/>
                <a:ea typeface="微软雅黑 Light" panose="020B0502040204020203" pitchFamily="34" charset="-122"/>
              </a:rPr>
              <a:t>DNS</a:t>
            </a:r>
            <a:endParaRPr lang="zh-CN" altLang="en-US" sz="1200" dirty="0">
              <a:latin typeface="Montserrat" panose="00000500000000000000" pitchFamily="2" charset="0"/>
              <a:ea typeface="微软雅黑 Light" panose="020B0502040204020203" pitchFamily="34" charset="-122"/>
            </a:endParaRPr>
          </a:p>
        </p:txBody>
      </p:sp>
      <p:cxnSp>
        <p:nvCxnSpPr>
          <p:cNvPr id="77" name="直接箭头连接符 76"/>
          <p:cNvCxnSpPr/>
          <p:nvPr/>
        </p:nvCxnSpPr>
        <p:spPr>
          <a:xfrm>
            <a:off x="4798091" y="2547446"/>
            <a:ext cx="1188023" cy="512659"/>
          </a:xfrm>
          <a:prstGeom prst="straightConnector1">
            <a:avLst/>
          </a:prstGeom>
          <a:ln w="38100">
            <a:solidFill>
              <a:srgbClr val="660066"/>
            </a:solidFill>
            <a:tailEnd type="triangle"/>
          </a:ln>
        </p:spPr>
        <p:style>
          <a:lnRef idx="1">
            <a:schemeClr val="accent1"/>
          </a:lnRef>
          <a:fillRef idx="0">
            <a:schemeClr val="accent1"/>
          </a:fillRef>
          <a:effectRef idx="0">
            <a:schemeClr val="accent1"/>
          </a:effectRef>
          <a:fontRef idx="minor">
            <a:schemeClr val="tx1"/>
          </a:fontRef>
        </p:style>
      </p:cxnSp>
      <p:cxnSp>
        <p:nvCxnSpPr>
          <p:cNvPr id="78" name="直接箭头连接符 77"/>
          <p:cNvCxnSpPr/>
          <p:nvPr/>
        </p:nvCxnSpPr>
        <p:spPr>
          <a:xfrm>
            <a:off x="4792931" y="2656744"/>
            <a:ext cx="1130255" cy="500667"/>
          </a:xfrm>
          <a:prstGeom prst="straightConnector1">
            <a:avLst/>
          </a:prstGeom>
          <a:ln w="38100">
            <a:solidFill>
              <a:srgbClr val="0099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80" name="矩形 79"/>
          <p:cNvSpPr/>
          <p:nvPr/>
        </p:nvSpPr>
        <p:spPr>
          <a:xfrm>
            <a:off x="6528524" y="2961690"/>
            <a:ext cx="526106" cy="276999"/>
          </a:xfrm>
          <a:prstGeom prst="rect">
            <a:avLst/>
          </a:prstGeom>
        </p:spPr>
        <p:txBody>
          <a:bodyPr wrap="none">
            <a:spAutoFit/>
          </a:bodyPr>
          <a:lstStyle/>
          <a:p>
            <a:pPr algn="just"/>
            <a:r>
              <a:rPr lang="en-US" altLang="zh-CN" sz="1200" dirty="0">
                <a:latin typeface="Montserrat" panose="00000500000000000000" pitchFamily="2" charset="0"/>
                <a:ea typeface="微软雅黑 Light" panose="020B0502040204020203" pitchFamily="34" charset="-122"/>
              </a:rPr>
              <a:t>DNS</a:t>
            </a:r>
            <a:endParaRPr lang="zh-CN" altLang="en-US" sz="1200" dirty="0">
              <a:latin typeface="Montserrat" panose="00000500000000000000" pitchFamily="2" charset="0"/>
              <a:ea typeface="微软雅黑 Light" panose="020B0502040204020203" pitchFamily="34" charset="-122"/>
            </a:endParaRPr>
          </a:p>
        </p:txBody>
      </p:sp>
      <p:sp>
        <p:nvSpPr>
          <p:cNvPr id="92" name="矩形 91"/>
          <p:cNvSpPr/>
          <p:nvPr/>
        </p:nvSpPr>
        <p:spPr>
          <a:xfrm>
            <a:off x="3926028" y="1792583"/>
            <a:ext cx="978153" cy="276999"/>
          </a:xfrm>
          <a:prstGeom prst="rect">
            <a:avLst/>
          </a:prstGeom>
        </p:spPr>
        <p:txBody>
          <a:bodyPr wrap="none">
            <a:spAutoFit/>
          </a:bodyPr>
          <a:lstStyle/>
          <a:p>
            <a:pPr algn="ctr"/>
            <a:r>
              <a:rPr lang="en-US" altLang="zh-CN" sz="1200" dirty="0">
                <a:latin typeface="Montserrat" panose="00000500000000000000" pitchFamily="2" charset="0"/>
                <a:ea typeface="微软雅黑 Light" panose="020B0502040204020203" pitchFamily="34" charset="-122"/>
              </a:rPr>
              <a:t>Local DNS</a:t>
            </a:r>
            <a:endParaRPr lang="zh-CN" altLang="en-US" sz="1200" dirty="0">
              <a:latin typeface="Montserrat" panose="00000500000000000000" pitchFamily="2" charset="0"/>
              <a:ea typeface="微软雅黑 Light" panose="020B0502040204020203" pitchFamily="34" charset="-122"/>
            </a:endParaRPr>
          </a:p>
        </p:txBody>
      </p:sp>
      <p:sp>
        <p:nvSpPr>
          <p:cNvPr id="93" name="圆角右箭头 92"/>
          <p:cNvSpPr/>
          <p:nvPr/>
        </p:nvSpPr>
        <p:spPr>
          <a:xfrm flipV="1">
            <a:off x="2054947" y="2902529"/>
            <a:ext cx="3213933" cy="928144"/>
          </a:xfrm>
          <a:prstGeom prst="bentArrow">
            <a:avLst>
              <a:gd name="adj1" fmla="val 5245"/>
              <a:gd name="adj2" fmla="val 6893"/>
              <a:gd name="adj3" fmla="val 14998"/>
              <a:gd name="adj4" fmla="val 41706"/>
            </a:avLst>
          </a:prstGeom>
          <a:solidFill>
            <a:srgbClr val="C00000"/>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latin typeface="Montserrat" panose="00000500000000000000" pitchFamily="2" charset="0"/>
              <a:ea typeface="微软雅黑 Light" panose="020B0502040204020203" pitchFamily="34" charset="-122"/>
            </a:endParaRPr>
          </a:p>
        </p:txBody>
      </p:sp>
      <p:sp>
        <p:nvSpPr>
          <p:cNvPr id="94" name="圆角右箭头 93"/>
          <p:cNvSpPr/>
          <p:nvPr/>
        </p:nvSpPr>
        <p:spPr>
          <a:xfrm rot="5400000" flipH="1" flipV="1">
            <a:off x="3020293" y="1710968"/>
            <a:ext cx="1065272" cy="3396398"/>
          </a:xfrm>
          <a:prstGeom prst="bentArrow">
            <a:avLst>
              <a:gd name="adj1" fmla="val 5245"/>
              <a:gd name="adj2" fmla="val 6088"/>
              <a:gd name="adj3" fmla="val 12584"/>
              <a:gd name="adj4" fmla="val 41706"/>
            </a:avLst>
          </a:prstGeom>
          <a:solidFill>
            <a:srgbClr val="9933FF"/>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latin typeface="Montserrat" panose="00000500000000000000" pitchFamily="2" charset="0"/>
              <a:ea typeface="微软雅黑 Light" panose="020B0502040204020203" pitchFamily="34" charset="-122"/>
            </a:endParaRPr>
          </a:p>
        </p:txBody>
      </p:sp>
      <p:sp>
        <p:nvSpPr>
          <p:cNvPr id="95" name="圆角右箭头 94"/>
          <p:cNvSpPr/>
          <p:nvPr/>
        </p:nvSpPr>
        <p:spPr>
          <a:xfrm rot="16200000" flipH="1">
            <a:off x="2228242" y="1689761"/>
            <a:ext cx="282418" cy="785149"/>
          </a:xfrm>
          <a:prstGeom prst="bentArrow">
            <a:avLst>
              <a:gd name="adj1" fmla="val 19310"/>
              <a:gd name="adj2" fmla="val 25803"/>
              <a:gd name="adj3" fmla="val 36096"/>
              <a:gd name="adj4" fmla="val 23212"/>
            </a:avLst>
          </a:prstGeom>
          <a:solidFill>
            <a:srgbClr val="0066CC"/>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latin typeface="Montserrat" panose="00000500000000000000" pitchFamily="2" charset="0"/>
              <a:ea typeface="微软雅黑 Light" panose="020B0502040204020203" pitchFamily="34" charset="-122"/>
            </a:endParaRPr>
          </a:p>
        </p:txBody>
      </p:sp>
      <p:sp>
        <p:nvSpPr>
          <p:cNvPr id="2" name="矩形 1"/>
          <p:cNvSpPr/>
          <p:nvPr/>
        </p:nvSpPr>
        <p:spPr>
          <a:xfrm>
            <a:off x="4659179" y="4117443"/>
            <a:ext cx="1653017" cy="276999"/>
          </a:xfrm>
          <a:prstGeom prst="rect">
            <a:avLst/>
          </a:prstGeom>
        </p:spPr>
        <p:txBody>
          <a:bodyPr wrap="none">
            <a:spAutoFit/>
          </a:bodyPr>
          <a:lstStyle/>
          <a:p>
            <a:r>
              <a:rPr lang="en-US" altLang="zh-CN" sz="1200" dirty="0">
                <a:latin typeface="Montserrat" panose="00000500000000000000" pitchFamily="2" charset="0"/>
                <a:ea typeface="微软雅黑 Light" panose="020B0502040204020203" pitchFamily="34" charset="-122"/>
              </a:rPr>
              <a:t>glplaman.github.io</a:t>
            </a:r>
            <a:endParaRPr lang="zh-CN" altLang="en-US" sz="1200" dirty="0">
              <a:latin typeface="Montserrat" panose="00000500000000000000" pitchFamily="2" charset="0"/>
              <a:ea typeface="微软雅黑 Light" panose="020B0502040204020203" pitchFamily="34" charset="-122"/>
            </a:endParaRPr>
          </a:p>
        </p:txBody>
      </p:sp>
      <p:sp>
        <p:nvSpPr>
          <p:cNvPr id="4" name="矩形 3"/>
          <p:cNvSpPr/>
          <p:nvPr/>
        </p:nvSpPr>
        <p:spPr>
          <a:xfrm>
            <a:off x="2584086" y="2989214"/>
            <a:ext cx="788998" cy="276999"/>
          </a:xfrm>
          <a:prstGeom prst="rect">
            <a:avLst/>
          </a:prstGeom>
        </p:spPr>
        <p:txBody>
          <a:bodyPr wrap="none">
            <a:spAutoFit/>
          </a:bodyPr>
          <a:lstStyle/>
          <a:p>
            <a:pPr algn="ctr"/>
            <a:r>
              <a:rPr lang="en-US" altLang="zh-CN" sz="1200" dirty="0">
                <a:latin typeface="Montserrat" panose="00000500000000000000" pitchFamily="2" charset="0"/>
                <a:ea typeface="微软雅黑 Light" panose="020B0502040204020203" pitchFamily="34" charset="-122"/>
              </a:rPr>
              <a:t>resolver</a:t>
            </a:r>
            <a:endParaRPr lang="zh-CN" altLang="en-US" sz="1200" dirty="0">
              <a:latin typeface="Montserrat" panose="00000500000000000000" pitchFamily="2" charset="0"/>
              <a:ea typeface="微软雅黑 Light" panose="020B0502040204020203" pitchFamily="34" charset="-122"/>
            </a:endParaRPr>
          </a:p>
        </p:txBody>
      </p:sp>
      <p:sp>
        <p:nvSpPr>
          <p:cNvPr id="3" name="矩形 2"/>
          <p:cNvSpPr/>
          <p:nvPr/>
        </p:nvSpPr>
        <p:spPr>
          <a:xfrm>
            <a:off x="291124" y="762820"/>
            <a:ext cx="2385275" cy="338554"/>
          </a:xfrm>
          <a:prstGeom prst="rect">
            <a:avLst/>
          </a:prstGeom>
          <a:solidFill>
            <a:srgbClr val="000099"/>
          </a:solidFill>
          <a:ln>
            <a:noFill/>
          </a:ln>
        </p:spPr>
        <p:txBody>
          <a:bodyPr wrap="square">
            <a:spAutoFit/>
          </a:bodyPr>
          <a:lstStyle/>
          <a:p>
            <a:pPr algn="ctr"/>
            <a:r>
              <a:rPr lang="en-US" altLang="zh-CN" sz="1600" b="1" dirty="0">
                <a:solidFill>
                  <a:schemeClr val="bg1"/>
                </a:solidFill>
                <a:latin typeface="Montserrat" panose="00000500000000000000" pitchFamily="2" charset="0"/>
                <a:ea typeface="微软雅黑 Light" panose="020B0502040204020203" pitchFamily="34" charset="-122"/>
              </a:rPr>
              <a:t>DNS </a:t>
            </a:r>
            <a:r>
              <a:rPr lang="zh-CN" altLang="en-US" sz="1600" b="1" dirty="0">
                <a:solidFill>
                  <a:schemeClr val="bg1"/>
                </a:solidFill>
                <a:latin typeface="Montserrat" panose="00000500000000000000" pitchFamily="2" charset="0"/>
                <a:ea typeface="微软雅黑 Light" panose="020B0502040204020203" pitchFamily="34" charset="-122"/>
              </a:rPr>
              <a:t>使用 </a:t>
            </a:r>
            <a:r>
              <a:rPr lang="en-US" altLang="zh-CN" sz="1600" b="1" dirty="0">
                <a:solidFill>
                  <a:schemeClr val="bg1"/>
                </a:solidFill>
                <a:latin typeface="Montserrat" panose="00000500000000000000" pitchFamily="2" charset="0"/>
                <a:ea typeface="微软雅黑 Light" panose="020B0502040204020203" pitchFamily="34" charset="-122"/>
              </a:rPr>
              <a:t>UDP </a:t>
            </a:r>
            <a:r>
              <a:rPr lang="zh-CN" altLang="en-US" sz="1600" b="1" dirty="0">
                <a:solidFill>
                  <a:schemeClr val="bg1"/>
                </a:solidFill>
                <a:latin typeface="Montserrat" panose="00000500000000000000" pitchFamily="2" charset="0"/>
                <a:ea typeface="微软雅黑 Light" panose="020B0502040204020203" pitchFamily="34" charset="-122"/>
              </a:rPr>
              <a:t>通信</a:t>
            </a:r>
          </a:p>
        </p:txBody>
      </p:sp>
      <p:pic>
        <p:nvPicPr>
          <p:cNvPr id="7" name="Picture 197" descr="jisuanji">
            <a:extLst>
              <a:ext uri="{FF2B5EF4-FFF2-40B4-BE49-F238E27FC236}">
                <a16:creationId xmlns:a16="http://schemas.microsoft.com/office/drawing/2014/main" id="{543F1A5C-BB1C-6E52-7147-97691F766BB1}"/>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18547" y="2269989"/>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96" name="图片 95">
            <a:extLst>
              <a:ext uri="{FF2B5EF4-FFF2-40B4-BE49-F238E27FC236}">
                <a16:creationId xmlns:a16="http://schemas.microsoft.com/office/drawing/2014/main" id="{9FF7DC9F-D70E-8E06-0B46-86B01DD226A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091902" y="1226112"/>
            <a:ext cx="441076" cy="617506"/>
          </a:xfrm>
          <a:prstGeom prst="rect">
            <a:avLst/>
          </a:prstGeom>
        </p:spPr>
      </p:pic>
      <p:sp>
        <p:nvSpPr>
          <p:cNvPr id="97" name="标题 96">
            <a:extLst>
              <a:ext uri="{FF2B5EF4-FFF2-40B4-BE49-F238E27FC236}">
                <a16:creationId xmlns:a16="http://schemas.microsoft.com/office/drawing/2014/main" id="{8383837E-2E5D-4A21-D9BF-4066FFA2A7DD}"/>
              </a:ext>
            </a:extLst>
          </p:cNvPr>
          <p:cNvSpPr>
            <a:spLocks noGrp="1"/>
          </p:cNvSpPr>
          <p:nvPr>
            <p:ph type="title"/>
          </p:nvPr>
        </p:nvSpPr>
        <p:spPr>
          <a:xfrm>
            <a:off x="2880000" y="144000"/>
            <a:ext cx="3384000" cy="338554"/>
          </a:xfrm>
        </p:spPr>
        <p:txBody>
          <a:bodyPr/>
          <a:lstStyle/>
          <a:p>
            <a:r>
              <a:rPr lang="zh-CN" altLang="en-US" dirty="0"/>
              <a:t>域名解析过程要点</a:t>
            </a:r>
          </a:p>
        </p:txBody>
      </p:sp>
      <p:pic>
        <p:nvPicPr>
          <p:cNvPr id="100" name="图片 99">
            <a:extLst>
              <a:ext uri="{FF2B5EF4-FFF2-40B4-BE49-F238E27FC236}">
                <a16:creationId xmlns:a16="http://schemas.microsoft.com/office/drawing/2014/main" id="{E225E823-6079-4381-DB47-ADA36EE9A7B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087172" y="2012054"/>
            <a:ext cx="441076" cy="617506"/>
          </a:xfrm>
          <a:prstGeom prst="rect">
            <a:avLst/>
          </a:prstGeom>
        </p:spPr>
      </p:pic>
      <p:pic>
        <p:nvPicPr>
          <p:cNvPr id="101" name="图片 100">
            <a:extLst>
              <a:ext uri="{FF2B5EF4-FFF2-40B4-BE49-F238E27FC236}">
                <a16:creationId xmlns:a16="http://schemas.microsoft.com/office/drawing/2014/main" id="{F571CAC7-C2A7-DE11-7DA4-0E0E3B92FED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199226" y="2083452"/>
            <a:ext cx="441076" cy="617506"/>
          </a:xfrm>
          <a:prstGeom prst="rect">
            <a:avLst/>
          </a:prstGeom>
        </p:spPr>
      </p:pic>
      <p:pic>
        <p:nvPicPr>
          <p:cNvPr id="102" name="图片 101">
            <a:extLst>
              <a:ext uri="{FF2B5EF4-FFF2-40B4-BE49-F238E27FC236}">
                <a16:creationId xmlns:a16="http://schemas.microsoft.com/office/drawing/2014/main" id="{9F99CE0C-259C-9EFB-5B93-72C5BA44E25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341322" y="3507567"/>
            <a:ext cx="441076" cy="617506"/>
          </a:xfrm>
          <a:prstGeom prst="rect">
            <a:avLst/>
          </a:prstGeom>
        </p:spPr>
      </p:pic>
      <p:pic>
        <p:nvPicPr>
          <p:cNvPr id="103" name="图片 102">
            <a:extLst>
              <a:ext uri="{FF2B5EF4-FFF2-40B4-BE49-F238E27FC236}">
                <a16:creationId xmlns:a16="http://schemas.microsoft.com/office/drawing/2014/main" id="{BFE8EE38-7AF3-675E-58D6-A97CC01B4A8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087172" y="2810049"/>
            <a:ext cx="441076" cy="617506"/>
          </a:xfrm>
          <a:prstGeom prst="rect">
            <a:avLst/>
          </a:prstGeom>
        </p:spPr>
      </p:pic>
      <p:sp>
        <p:nvSpPr>
          <p:cNvPr id="104" name="矩形 103">
            <a:extLst>
              <a:ext uri="{FF2B5EF4-FFF2-40B4-BE49-F238E27FC236}">
                <a16:creationId xmlns:a16="http://schemas.microsoft.com/office/drawing/2014/main" id="{DAF07D71-1659-C875-4E4C-9E25BC1B30F5}"/>
              </a:ext>
            </a:extLst>
          </p:cNvPr>
          <p:cNvSpPr/>
          <p:nvPr/>
        </p:nvSpPr>
        <p:spPr>
          <a:xfrm>
            <a:off x="2644564" y="1324524"/>
            <a:ext cx="815070" cy="276999"/>
          </a:xfrm>
          <a:prstGeom prst="rect">
            <a:avLst/>
          </a:prstGeom>
        </p:spPr>
        <p:txBody>
          <a:bodyPr wrap="square">
            <a:spAutoFit/>
          </a:bodyPr>
          <a:lstStyle/>
          <a:p>
            <a:pPr algn="just"/>
            <a:r>
              <a:rPr lang="en-US" altLang="zh-CN" sz="1200" dirty="0">
                <a:latin typeface="Montserrat" panose="00000500000000000000" pitchFamily="2" charset="0"/>
                <a:ea typeface="微软雅黑 Light" panose="020B0502040204020203" pitchFamily="34" charset="-122"/>
              </a:rPr>
              <a:t>Client</a:t>
            </a:r>
            <a:endParaRPr lang="zh-CN" altLang="en-US" sz="1200" dirty="0">
              <a:latin typeface="Montserrat" panose="00000500000000000000" pitchFamily="2" charset="0"/>
              <a:ea typeface="微软雅黑 Light" panose="020B0502040204020203" pitchFamily="34" charset="-122"/>
            </a:endParaRPr>
          </a:p>
        </p:txBody>
      </p:sp>
      <p:sp>
        <p:nvSpPr>
          <p:cNvPr id="105" name="矩形 104">
            <a:extLst>
              <a:ext uri="{FF2B5EF4-FFF2-40B4-BE49-F238E27FC236}">
                <a16:creationId xmlns:a16="http://schemas.microsoft.com/office/drawing/2014/main" id="{0B61717A-1367-F998-2052-747131956763}"/>
              </a:ext>
            </a:extLst>
          </p:cNvPr>
          <p:cNvSpPr/>
          <p:nvPr/>
        </p:nvSpPr>
        <p:spPr>
          <a:xfrm>
            <a:off x="1141706" y="2403665"/>
            <a:ext cx="815070" cy="276999"/>
          </a:xfrm>
          <a:prstGeom prst="rect">
            <a:avLst/>
          </a:prstGeom>
        </p:spPr>
        <p:txBody>
          <a:bodyPr wrap="square">
            <a:spAutoFit/>
          </a:bodyPr>
          <a:lstStyle/>
          <a:p>
            <a:pPr algn="just"/>
            <a:r>
              <a:rPr lang="en-US" altLang="zh-CN" sz="1200" dirty="0">
                <a:latin typeface="Montserrat" panose="00000500000000000000" pitchFamily="2" charset="0"/>
                <a:ea typeface="微软雅黑 Light" panose="020B0502040204020203" pitchFamily="34" charset="-122"/>
              </a:rPr>
              <a:t>App</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22001897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74"/>
                                        </p:tgtEl>
                                        <p:attrNameLst>
                                          <p:attrName>style.visibility</p:attrName>
                                        </p:attrNameLst>
                                      </p:cBhvr>
                                      <p:to>
                                        <p:strVal val="visible"/>
                                      </p:to>
                                    </p:set>
                                    <p:animEffect transition="in" filter="wipe(left)">
                                      <p:cBhvr>
                                        <p:cTn id="7" dur="1000"/>
                                        <p:tgtEl>
                                          <p:spTgt spid="74"/>
                                        </p:tgtEl>
                                      </p:cBhvr>
                                    </p:animEffect>
                                  </p:childTnLst>
                                </p:cTn>
                              </p:par>
                            </p:childTnLst>
                          </p:cTn>
                        </p:par>
                        <p:par>
                          <p:cTn id="8" fill="hold">
                            <p:stCondLst>
                              <p:cond delay="1000"/>
                            </p:stCondLst>
                            <p:childTnLst>
                              <p:par>
                                <p:cTn id="9" presetID="22" presetClass="entr" presetSubtype="8" fill="hold" nodeType="afterEffect">
                                  <p:stCondLst>
                                    <p:cond delay="0"/>
                                  </p:stCondLst>
                                  <p:childTnLst>
                                    <p:set>
                                      <p:cBhvr>
                                        <p:cTn id="10" dur="1" fill="hold">
                                          <p:stCondLst>
                                            <p:cond delay="0"/>
                                          </p:stCondLst>
                                        </p:cTn>
                                        <p:tgtEl>
                                          <p:spTgt spid="35"/>
                                        </p:tgtEl>
                                        <p:attrNameLst>
                                          <p:attrName>style.visibility</p:attrName>
                                        </p:attrNameLst>
                                      </p:cBhvr>
                                      <p:to>
                                        <p:strVal val="visible"/>
                                      </p:to>
                                    </p:set>
                                    <p:animEffect transition="in" filter="wipe(left)">
                                      <p:cBhvr>
                                        <p:cTn id="11" dur="1000"/>
                                        <p:tgtEl>
                                          <p:spTgt spid="35"/>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2" fill="hold" nodeType="clickEffect">
                                  <p:stCondLst>
                                    <p:cond delay="0"/>
                                  </p:stCondLst>
                                  <p:childTnLst>
                                    <p:set>
                                      <p:cBhvr>
                                        <p:cTn id="15" dur="1" fill="hold">
                                          <p:stCondLst>
                                            <p:cond delay="0"/>
                                          </p:stCondLst>
                                        </p:cTn>
                                        <p:tgtEl>
                                          <p:spTgt spid="34"/>
                                        </p:tgtEl>
                                        <p:attrNameLst>
                                          <p:attrName>style.visibility</p:attrName>
                                        </p:attrNameLst>
                                      </p:cBhvr>
                                      <p:to>
                                        <p:strVal val="visible"/>
                                      </p:to>
                                    </p:set>
                                    <p:animEffect transition="in" filter="wipe(right)">
                                      <p:cBhvr>
                                        <p:cTn id="16" dur="1000"/>
                                        <p:tgtEl>
                                          <p:spTgt spid="34"/>
                                        </p:tgtEl>
                                      </p:cBhvr>
                                    </p:animEffect>
                                  </p:childTnLst>
                                </p:cTn>
                              </p:par>
                            </p:childTnLst>
                          </p:cTn>
                        </p:par>
                        <p:par>
                          <p:cTn id="17" fill="hold">
                            <p:stCondLst>
                              <p:cond delay="1000"/>
                            </p:stCondLst>
                            <p:childTnLst>
                              <p:par>
                                <p:cTn id="18" presetID="22" presetClass="entr" presetSubtype="2" fill="hold" grpId="0" nodeType="afterEffect">
                                  <p:stCondLst>
                                    <p:cond delay="0"/>
                                  </p:stCondLst>
                                  <p:childTnLst>
                                    <p:set>
                                      <p:cBhvr>
                                        <p:cTn id="19" dur="1" fill="hold">
                                          <p:stCondLst>
                                            <p:cond delay="0"/>
                                          </p:stCondLst>
                                        </p:cTn>
                                        <p:tgtEl>
                                          <p:spTgt spid="95"/>
                                        </p:tgtEl>
                                        <p:attrNameLst>
                                          <p:attrName>style.visibility</p:attrName>
                                        </p:attrNameLst>
                                      </p:cBhvr>
                                      <p:to>
                                        <p:strVal val="visible"/>
                                      </p:to>
                                    </p:set>
                                    <p:animEffect transition="in" filter="wipe(right)">
                                      <p:cBhvr>
                                        <p:cTn id="20" dur="1000"/>
                                        <p:tgtEl>
                                          <p:spTgt spid="95"/>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93"/>
                                        </p:tgtEl>
                                        <p:attrNameLst>
                                          <p:attrName>style.visibility</p:attrName>
                                        </p:attrNameLst>
                                      </p:cBhvr>
                                      <p:to>
                                        <p:strVal val="visible"/>
                                      </p:to>
                                    </p:set>
                                    <p:animEffect transition="in" filter="wipe(left)">
                                      <p:cBhvr>
                                        <p:cTn id="25" dur="1000"/>
                                        <p:tgtEl>
                                          <p:spTgt spid="93"/>
                                        </p:tgtEl>
                                      </p:cBhvr>
                                    </p:animEffect>
                                  </p:childTnLst>
                                </p:cTn>
                              </p:par>
                            </p:childTnLst>
                          </p:cTn>
                        </p:par>
                        <p:par>
                          <p:cTn id="26" fill="hold">
                            <p:stCondLst>
                              <p:cond delay="1000"/>
                            </p:stCondLst>
                            <p:childTnLst>
                              <p:par>
                                <p:cTn id="27" presetID="22" presetClass="entr" presetSubtype="2" fill="hold" grpId="0" nodeType="afterEffect">
                                  <p:stCondLst>
                                    <p:cond delay="0"/>
                                  </p:stCondLst>
                                  <p:childTnLst>
                                    <p:set>
                                      <p:cBhvr>
                                        <p:cTn id="28" dur="1" fill="hold">
                                          <p:stCondLst>
                                            <p:cond delay="0"/>
                                          </p:stCondLst>
                                        </p:cTn>
                                        <p:tgtEl>
                                          <p:spTgt spid="94"/>
                                        </p:tgtEl>
                                        <p:attrNameLst>
                                          <p:attrName>style.visibility</p:attrName>
                                        </p:attrNameLst>
                                      </p:cBhvr>
                                      <p:to>
                                        <p:strVal val="visible"/>
                                      </p:to>
                                    </p:set>
                                    <p:animEffect transition="in" filter="wipe(right)">
                                      <p:cBhvr>
                                        <p:cTn id="29" dur="1000"/>
                                        <p:tgtEl>
                                          <p:spTgt spid="94"/>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nodeType="clickEffect">
                                  <p:stCondLst>
                                    <p:cond delay="0"/>
                                  </p:stCondLst>
                                  <p:childTnLst>
                                    <p:set>
                                      <p:cBhvr>
                                        <p:cTn id="33" dur="1" fill="hold">
                                          <p:stCondLst>
                                            <p:cond delay="0"/>
                                          </p:stCondLst>
                                        </p:cTn>
                                        <p:tgtEl>
                                          <p:spTgt spid="36"/>
                                        </p:tgtEl>
                                        <p:attrNameLst>
                                          <p:attrName>style.visibility</p:attrName>
                                        </p:attrNameLst>
                                      </p:cBhvr>
                                      <p:to>
                                        <p:strVal val="visible"/>
                                      </p:to>
                                    </p:set>
                                    <p:animEffect transition="in" filter="wipe(left)">
                                      <p:cBhvr>
                                        <p:cTn id="34" dur="1000"/>
                                        <p:tgtEl>
                                          <p:spTgt spid="36"/>
                                        </p:tgtEl>
                                      </p:cBhvr>
                                    </p:animEffect>
                                  </p:childTnLst>
                                </p:cTn>
                              </p:par>
                            </p:childTnLst>
                          </p:cTn>
                        </p:par>
                        <p:par>
                          <p:cTn id="35" fill="hold">
                            <p:stCondLst>
                              <p:cond delay="1000"/>
                            </p:stCondLst>
                            <p:childTnLst>
                              <p:par>
                                <p:cTn id="36" presetID="22" presetClass="entr" presetSubtype="2" fill="hold" nodeType="afterEffect">
                                  <p:stCondLst>
                                    <p:cond delay="0"/>
                                  </p:stCondLst>
                                  <p:childTnLst>
                                    <p:set>
                                      <p:cBhvr>
                                        <p:cTn id="37" dur="1" fill="hold">
                                          <p:stCondLst>
                                            <p:cond delay="0"/>
                                          </p:stCondLst>
                                        </p:cTn>
                                        <p:tgtEl>
                                          <p:spTgt spid="37"/>
                                        </p:tgtEl>
                                        <p:attrNameLst>
                                          <p:attrName>style.visibility</p:attrName>
                                        </p:attrNameLst>
                                      </p:cBhvr>
                                      <p:to>
                                        <p:strVal val="visible"/>
                                      </p:to>
                                    </p:set>
                                    <p:animEffect transition="in" filter="wipe(right)">
                                      <p:cBhvr>
                                        <p:cTn id="38" dur="1000"/>
                                        <p:tgtEl>
                                          <p:spTgt spid="37"/>
                                        </p:tgtEl>
                                      </p:cBhvr>
                                    </p:animEffect>
                                  </p:childTnLst>
                                </p:cTn>
                              </p:par>
                            </p:childTnLst>
                          </p:cTn>
                        </p:par>
                        <p:par>
                          <p:cTn id="39" fill="hold">
                            <p:stCondLst>
                              <p:cond delay="2000"/>
                            </p:stCondLst>
                            <p:childTnLst>
                              <p:par>
                                <p:cTn id="40" presetID="22" presetClass="entr" presetSubtype="8" fill="hold" nodeType="afterEffect">
                                  <p:stCondLst>
                                    <p:cond delay="0"/>
                                  </p:stCondLst>
                                  <p:childTnLst>
                                    <p:set>
                                      <p:cBhvr>
                                        <p:cTn id="41" dur="1" fill="hold">
                                          <p:stCondLst>
                                            <p:cond delay="0"/>
                                          </p:stCondLst>
                                        </p:cTn>
                                        <p:tgtEl>
                                          <p:spTgt spid="75"/>
                                        </p:tgtEl>
                                        <p:attrNameLst>
                                          <p:attrName>style.visibility</p:attrName>
                                        </p:attrNameLst>
                                      </p:cBhvr>
                                      <p:to>
                                        <p:strVal val="visible"/>
                                      </p:to>
                                    </p:set>
                                    <p:animEffect transition="in" filter="wipe(left)">
                                      <p:cBhvr>
                                        <p:cTn id="42" dur="1000"/>
                                        <p:tgtEl>
                                          <p:spTgt spid="75"/>
                                        </p:tgtEl>
                                      </p:cBhvr>
                                    </p:animEffect>
                                  </p:childTnLst>
                                </p:cTn>
                              </p:par>
                            </p:childTnLst>
                          </p:cTn>
                        </p:par>
                        <p:par>
                          <p:cTn id="43" fill="hold">
                            <p:stCondLst>
                              <p:cond delay="3000"/>
                            </p:stCondLst>
                            <p:childTnLst>
                              <p:par>
                                <p:cTn id="44" presetID="22" presetClass="entr" presetSubtype="2" fill="hold" nodeType="afterEffect">
                                  <p:stCondLst>
                                    <p:cond delay="0"/>
                                  </p:stCondLst>
                                  <p:childTnLst>
                                    <p:set>
                                      <p:cBhvr>
                                        <p:cTn id="45" dur="1" fill="hold">
                                          <p:stCondLst>
                                            <p:cond delay="0"/>
                                          </p:stCondLst>
                                        </p:cTn>
                                        <p:tgtEl>
                                          <p:spTgt spid="76"/>
                                        </p:tgtEl>
                                        <p:attrNameLst>
                                          <p:attrName>style.visibility</p:attrName>
                                        </p:attrNameLst>
                                      </p:cBhvr>
                                      <p:to>
                                        <p:strVal val="visible"/>
                                      </p:to>
                                    </p:set>
                                    <p:animEffect transition="in" filter="wipe(right)">
                                      <p:cBhvr>
                                        <p:cTn id="46" dur="1000"/>
                                        <p:tgtEl>
                                          <p:spTgt spid="76"/>
                                        </p:tgtEl>
                                      </p:cBhvr>
                                    </p:animEffect>
                                  </p:childTnLst>
                                </p:cTn>
                              </p:par>
                            </p:childTnLst>
                          </p:cTn>
                        </p:par>
                        <p:par>
                          <p:cTn id="47" fill="hold">
                            <p:stCondLst>
                              <p:cond delay="4000"/>
                            </p:stCondLst>
                            <p:childTnLst>
                              <p:par>
                                <p:cTn id="48" presetID="22" presetClass="entr" presetSubtype="8" fill="hold" nodeType="afterEffect">
                                  <p:stCondLst>
                                    <p:cond delay="0"/>
                                  </p:stCondLst>
                                  <p:childTnLst>
                                    <p:set>
                                      <p:cBhvr>
                                        <p:cTn id="49" dur="1" fill="hold">
                                          <p:stCondLst>
                                            <p:cond delay="0"/>
                                          </p:stCondLst>
                                        </p:cTn>
                                        <p:tgtEl>
                                          <p:spTgt spid="77"/>
                                        </p:tgtEl>
                                        <p:attrNameLst>
                                          <p:attrName>style.visibility</p:attrName>
                                        </p:attrNameLst>
                                      </p:cBhvr>
                                      <p:to>
                                        <p:strVal val="visible"/>
                                      </p:to>
                                    </p:set>
                                    <p:animEffect transition="in" filter="wipe(left)">
                                      <p:cBhvr>
                                        <p:cTn id="50" dur="1000"/>
                                        <p:tgtEl>
                                          <p:spTgt spid="77"/>
                                        </p:tgtEl>
                                      </p:cBhvr>
                                    </p:animEffect>
                                  </p:childTnLst>
                                </p:cTn>
                              </p:par>
                            </p:childTnLst>
                          </p:cTn>
                        </p:par>
                        <p:par>
                          <p:cTn id="51" fill="hold">
                            <p:stCondLst>
                              <p:cond delay="5000"/>
                            </p:stCondLst>
                            <p:childTnLst>
                              <p:par>
                                <p:cTn id="52" presetID="22" presetClass="entr" presetSubtype="2" fill="hold" nodeType="afterEffect">
                                  <p:stCondLst>
                                    <p:cond delay="0"/>
                                  </p:stCondLst>
                                  <p:childTnLst>
                                    <p:set>
                                      <p:cBhvr>
                                        <p:cTn id="53" dur="1" fill="hold">
                                          <p:stCondLst>
                                            <p:cond delay="0"/>
                                          </p:stCondLst>
                                        </p:cTn>
                                        <p:tgtEl>
                                          <p:spTgt spid="78"/>
                                        </p:tgtEl>
                                        <p:attrNameLst>
                                          <p:attrName>style.visibility</p:attrName>
                                        </p:attrNameLst>
                                      </p:cBhvr>
                                      <p:to>
                                        <p:strVal val="visible"/>
                                      </p:to>
                                    </p:set>
                                    <p:animEffect transition="in" filter="wipe(right)">
                                      <p:cBhvr>
                                        <p:cTn id="54" dur="10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4" grpId="0" animBg="1"/>
      <p:bldP spid="93" grpId="0" animBg="1"/>
      <p:bldP spid="94" grpId="0" animBg="1"/>
      <p:bldP spid="95"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529E787-089F-2913-3E07-64A060A02D64}"/>
              </a:ext>
            </a:extLst>
          </p:cNvPr>
          <p:cNvSpPr>
            <a:spLocks noGrp="1"/>
          </p:cNvSpPr>
          <p:nvPr>
            <p:ph type="title"/>
          </p:nvPr>
        </p:nvSpPr>
        <p:spPr>
          <a:xfrm>
            <a:off x="485999" y="174482"/>
            <a:ext cx="8171999" cy="338554"/>
          </a:xfrm>
        </p:spPr>
        <p:txBody>
          <a:bodyPr/>
          <a:lstStyle/>
          <a:p>
            <a:r>
              <a:rPr lang="en-US" altLang="zh-CN" dirty="0"/>
              <a:t>6.1.2   </a:t>
            </a:r>
            <a:r>
              <a:rPr lang="zh-CN" altLang="en-US" dirty="0"/>
              <a:t>互联网的域名结构</a:t>
            </a:r>
          </a:p>
        </p:txBody>
      </p:sp>
      <p:sp>
        <p:nvSpPr>
          <p:cNvPr id="3" name="内容占位符 2">
            <a:extLst>
              <a:ext uri="{FF2B5EF4-FFF2-40B4-BE49-F238E27FC236}">
                <a16:creationId xmlns:a16="http://schemas.microsoft.com/office/drawing/2014/main" id="{3C6BC4E0-5B57-1FF9-0812-F08D46D2EEBD}"/>
              </a:ext>
            </a:extLst>
          </p:cNvPr>
          <p:cNvSpPr>
            <a:spLocks noGrp="1"/>
          </p:cNvSpPr>
          <p:nvPr>
            <p:ph sz="quarter" idx="11"/>
          </p:nvPr>
        </p:nvSpPr>
        <p:spPr>
          <a:xfrm>
            <a:off x="486000" y="687518"/>
            <a:ext cx="8172000" cy="4079035"/>
          </a:xfrm>
        </p:spPr>
        <p:txBody>
          <a:bodyPr/>
          <a:lstStyle/>
          <a:p>
            <a:r>
              <a:rPr lang="zh-CN" altLang="en-US" dirty="0"/>
              <a:t>命名方法</a:t>
            </a:r>
            <a:endParaRPr lang="en-US" altLang="zh-CN" dirty="0"/>
          </a:p>
          <a:p>
            <a:pPr lvl="1"/>
            <a:r>
              <a:rPr lang="zh-CN" altLang="en-US" dirty="0"/>
              <a:t>层次树状结构方法</a:t>
            </a:r>
          </a:p>
          <a:p>
            <a:r>
              <a:rPr lang="zh-CN" altLang="en-US" dirty="0"/>
              <a:t>域名 </a:t>
            </a:r>
            <a:r>
              <a:rPr lang="en-US" altLang="zh-CN" dirty="0"/>
              <a:t>domain name</a:t>
            </a:r>
          </a:p>
          <a:p>
            <a:pPr lvl="1"/>
            <a:r>
              <a:rPr lang="zh-CN" altLang="en-US" dirty="0"/>
              <a:t>任何一个连接在互联网上的主机或路由器，都有一个唯一的层次结构的名字</a:t>
            </a:r>
            <a:endParaRPr lang="en-US" altLang="zh-CN" dirty="0"/>
          </a:p>
          <a:p>
            <a:r>
              <a:rPr lang="zh-CN" altLang="en-US" dirty="0"/>
              <a:t>域 </a:t>
            </a:r>
            <a:r>
              <a:rPr lang="en-US" altLang="zh-CN" dirty="0"/>
              <a:t>domain</a:t>
            </a:r>
          </a:p>
          <a:p>
            <a:pPr lvl="1"/>
            <a:r>
              <a:rPr lang="zh-CN" altLang="en-US" dirty="0"/>
              <a:t>名字空间中一个可被管理的划分</a:t>
            </a:r>
            <a:endParaRPr lang="en-US" altLang="zh-CN" dirty="0"/>
          </a:p>
          <a:p>
            <a:pPr lvl="1"/>
            <a:r>
              <a:rPr lang="zh-CN" altLang="en-US" dirty="0"/>
              <a:t>可以划分为子域</a:t>
            </a:r>
            <a:endParaRPr lang="en-US" altLang="zh-CN" dirty="0"/>
          </a:p>
          <a:p>
            <a:pPr lvl="1"/>
            <a:r>
              <a:rPr lang="zh-CN" altLang="en-US" dirty="0"/>
              <a:t>而子域还可继续划分为子域的子域</a:t>
            </a:r>
            <a:endParaRPr lang="en-US" altLang="zh-CN" dirty="0"/>
          </a:p>
          <a:p>
            <a:pPr lvl="1"/>
            <a:r>
              <a:rPr lang="zh-CN" altLang="en-US" dirty="0"/>
              <a:t>这样就形成了顶级域、二级域、三级域，等等</a:t>
            </a:r>
          </a:p>
          <a:p>
            <a:endParaRPr lang="zh-CN" altLang="en-US" dirty="0"/>
          </a:p>
        </p:txBody>
      </p:sp>
    </p:spTree>
    <p:extLst>
      <p:ext uri="{BB962C8B-B14F-4D97-AF65-F5344CB8AC3E}">
        <p14:creationId xmlns:p14="http://schemas.microsoft.com/office/powerpoint/2010/main" val="32354610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AFF1437-4137-C584-3960-4B6E03727E27}"/>
              </a:ext>
            </a:extLst>
          </p:cNvPr>
          <p:cNvSpPr>
            <a:spLocks noGrp="1"/>
          </p:cNvSpPr>
          <p:nvPr>
            <p:ph type="title"/>
          </p:nvPr>
        </p:nvSpPr>
        <p:spPr>
          <a:xfrm>
            <a:off x="485999" y="174482"/>
            <a:ext cx="8171999" cy="338554"/>
          </a:xfrm>
        </p:spPr>
        <p:txBody>
          <a:bodyPr/>
          <a:lstStyle/>
          <a:p>
            <a:r>
              <a:rPr lang="en-US" altLang="zh-CN" dirty="0"/>
              <a:t>6.1.2   </a:t>
            </a:r>
            <a:r>
              <a:rPr lang="zh-CN" altLang="en-US" dirty="0"/>
              <a:t>互联网的域名结构</a:t>
            </a:r>
          </a:p>
        </p:txBody>
      </p:sp>
      <p:sp>
        <p:nvSpPr>
          <p:cNvPr id="26" name="内容占位符 25">
            <a:extLst>
              <a:ext uri="{FF2B5EF4-FFF2-40B4-BE49-F238E27FC236}">
                <a16:creationId xmlns:a16="http://schemas.microsoft.com/office/drawing/2014/main" id="{30574258-EEA2-A109-E08B-AB07E8FD26A0}"/>
              </a:ext>
            </a:extLst>
          </p:cNvPr>
          <p:cNvSpPr>
            <a:spLocks noGrp="1"/>
          </p:cNvSpPr>
          <p:nvPr>
            <p:ph sz="quarter" idx="11"/>
          </p:nvPr>
        </p:nvSpPr>
        <p:spPr>
          <a:xfrm>
            <a:off x="486000" y="687518"/>
            <a:ext cx="8172000" cy="4079035"/>
          </a:xfrm>
        </p:spPr>
        <p:txBody>
          <a:bodyPr/>
          <a:lstStyle/>
          <a:p>
            <a:r>
              <a:rPr lang="zh-CN" altLang="en-US" dirty="0"/>
              <a:t>域名结构</a:t>
            </a:r>
            <a:endParaRPr lang="en-US" altLang="zh-CN" dirty="0"/>
          </a:p>
          <a:p>
            <a:pPr lvl="1"/>
            <a:r>
              <a:rPr lang="zh-CN" altLang="en-US" dirty="0"/>
              <a:t>层次结构</a:t>
            </a:r>
            <a:endParaRPr lang="en-US" altLang="zh-CN" dirty="0"/>
          </a:p>
          <a:p>
            <a:pPr lvl="1"/>
            <a:r>
              <a:rPr lang="zh-CN" altLang="en-US" dirty="0"/>
              <a:t>由标号 </a:t>
            </a:r>
            <a:r>
              <a:rPr lang="en-US" altLang="zh-CN" dirty="0"/>
              <a:t>(label) </a:t>
            </a:r>
            <a:r>
              <a:rPr lang="zh-CN" altLang="en-US" dirty="0"/>
              <a:t>序列组成，各标号之间用点（</a:t>
            </a:r>
            <a:r>
              <a:rPr lang="en-US" altLang="zh-CN" dirty="0"/>
              <a:t>.</a:t>
            </a:r>
            <a:r>
              <a:rPr lang="zh-CN" altLang="en-US" dirty="0"/>
              <a:t>）隔开，各标号分别代表不同级别的域名</a:t>
            </a:r>
          </a:p>
          <a:p>
            <a:endParaRPr lang="zh-CN" altLang="en-US" dirty="0"/>
          </a:p>
        </p:txBody>
      </p:sp>
      <p:sp>
        <p:nvSpPr>
          <p:cNvPr id="17" name="矩形 16"/>
          <p:cNvSpPr/>
          <p:nvPr/>
        </p:nvSpPr>
        <p:spPr>
          <a:xfrm>
            <a:off x="2902003" y="2848210"/>
            <a:ext cx="2134148" cy="400110"/>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6" name="Text Box 7"/>
          <p:cNvSpPr txBox="1">
            <a:spLocks noChangeArrowheads="1"/>
          </p:cNvSpPr>
          <p:nvPr/>
        </p:nvSpPr>
        <p:spPr bwMode="auto">
          <a:xfrm>
            <a:off x="3021625" y="2848210"/>
            <a:ext cx="145745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C00000"/>
                </a:solidFill>
                <a:latin typeface="Montserrat" panose="00000500000000000000" pitchFamily="2" charset="0"/>
                <a:ea typeface="微软雅黑 Light" panose="020B0502040204020203" pitchFamily="34" charset="-122"/>
              </a:rPr>
              <a:t>mail.cctv.com </a:t>
            </a:r>
          </a:p>
        </p:txBody>
      </p:sp>
      <p:grpSp>
        <p:nvGrpSpPr>
          <p:cNvPr id="14" name="组合 13"/>
          <p:cNvGrpSpPr/>
          <p:nvPr/>
        </p:nvGrpSpPr>
        <p:grpSpPr>
          <a:xfrm>
            <a:off x="2242227" y="3156184"/>
            <a:ext cx="3500739" cy="883403"/>
            <a:chOff x="2014957" y="2987504"/>
            <a:chExt cx="3500739" cy="883403"/>
          </a:xfrm>
        </p:grpSpPr>
        <p:sp>
          <p:nvSpPr>
            <p:cNvPr id="7" name="Text Box 8"/>
            <p:cNvSpPr txBox="1">
              <a:spLocks noChangeArrowheads="1"/>
            </p:cNvSpPr>
            <p:nvPr/>
          </p:nvSpPr>
          <p:spPr bwMode="auto">
            <a:xfrm>
              <a:off x="2123250" y="3274842"/>
              <a:ext cx="259878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dirty="0">
                  <a:latin typeface="Montserrat" panose="00000500000000000000" pitchFamily="2" charset="0"/>
                  <a:ea typeface="微软雅黑 Light" panose="020B0502040204020203" pitchFamily="34" charset="-122"/>
                </a:rPr>
                <a:t>三级域名 </a:t>
              </a:r>
              <a:r>
                <a:rPr lang="en-US" altLang="zh-CN" sz="1400" dirty="0">
                  <a:latin typeface="Montserrat" panose="00000500000000000000" pitchFamily="2" charset="0"/>
                  <a:ea typeface="微软雅黑 Light" panose="020B0502040204020203" pitchFamily="34" charset="-122"/>
                </a:rPr>
                <a:t>. </a:t>
              </a:r>
              <a:r>
                <a:rPr lang="zh-CN" altLang="en-US" sz="1400" dirty="0">
                  <a:latin typeface="Montserrat" panose="00000500000000000000" pitchFamily="2" charset="0"/>
                  <a:ea typeface="微软雅黑 Light" panose="020B0502040204020203" pitchFamily="34" charset="-122"/>
                </a:rPr>
                <a:t>二级域名 </a:t>
              </a:r>
              <a:r>
                <a:rPr lang="en-US" altLang="zh-CN" sz="1400" dirty="0">
                  <a:latin typeface="Montserrat" panose="00000500000000000000" pitchFamily="2" charset="0"/>
                  <a:ea typeface="微软雅黑 Light" panose="020B0502040204020203" pitchFamily="34" charset="-122"/>
                </a:rPr>
                <a:t>. </a:t>
              </a:r>
              <a:r>
                <a:rPr lang="zh-CN" altLang="en-US" sz="1400" dirty="0">
                  <a:latin typeface="Montserrat" panose="00000500000000000000" pitchFamily="2" charset="0"/>
                  <a:ea typeface="微软雅黑 Light" panose="020B0502040204020203" pitchFamily="34" charset="-122"/>
                </a:rPr>
                <a:t>顶级域名</a:t>
              </a:r>
            </a:p>
          </p:txBody>
        </p:sp>
        <p:sp>
          <p:nvSpPr>
            <p:cNvPr id="8" name="Line 9"/>
            <p:cNvSpPr>
              <a:spLocks noChangeShapeType="1"/>
            </p:cNvSpPr>
            <p:nvPr/>
          </p:nvSpPr>
          <p:spPr bwMode="auto">
            <a:xfrm flipV="1">
              <a:off x="3784308" y="2987504"/>
              <a:ext cx="0" cy="287338"/>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Montserrat" panose="00000500000000000000" pitchFamily="2" charset="0"/>
                <a:ea typeface="微软雅黑 Light" panose="020B0502040204020203" pitchFamily="34" charset="-122"/>
              </a:endParaRPr>
            </a:p>
          </p:txBody>
        </p:sp>
        <p:sp>
          <p:nvSpPr>
            <p:cNvPr id="9" name="Line 10"/>
            <p:cNvSpPr>
              <a:spLocks noChangeShapeType="1"/>
            </p:cNvSpPr>
            <p:nvPr/>
          </p:nvSpPr>
          <p:spPr bwMode="auto">
            <a:xfrm flipV="1">
              <a:off x="2674733" y="3013694"/>
              <a:ext cx="504825" cy="287338"/>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Montserrat" panose="00000500000000000000" pitchFamily="2" charset="0"/>
                <a:ea typeface="微软雅黑 Light" panose="020B0502040204020203" pitchFamily="34" charset="-122"/>
              </a:endParaRPr>
            </a:p>
          </p:txBody>
        </p:sp>
        <p:sp>
          <p:nvSpPr>
            <p:cNvPr id="10" name="Line 11"/>
            <p:cNvSpPr>
              <a:spLocks noChangeShapeType="1"/>
            </p:cNvSpPr>
            <p:nvPr/>
          </p:nvSpPr>
          <p:spPr bwMode="auto">
            <a:xfrm flipH="1" flipV="1">
              <a:off x="4276776" y="3013698"/>
              <a:ext cx="504825" cy="287338"/>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Montserrat" panose="00000500000000000000" pitchFamily="2" charset="0"/>
                <a:ea typeface="微软雅黑 Light" panose="020B0502040204020203" pitchFamily="34" charset="-122"/>
              </a:endParaRPr>
            </a:p>
          </p:txBody>
        </p:sp>
        <p:sp>
          <p:nvSpPr>
            <p:cNvPr id="3" name="矩形 2"/>
            <p:cNvSpPr/>
            <p:nvPr/>
          </p:nvSpPr>
          <p:spPr>
            <a:xfrm>
              <a:off x="2014957" y="3563130"/>
              <a:ext cx="1261884" cy="307777"/>
            </a:xfrm>
            <a:prstGeom prst="rect">
              <a:avLst/>
            </a:prstGeom>
          </p:spPr>
          <p:txBody>
            <a:bodyPr wrap="none">
              <a:spAutoFit/>
            </a:bodyPr>
            <a:lstStyle/>
            <a:p>
              <a:r>
                <a:rPr lang="zh-CN" altLang="en-US" sz="1400" dirty="0">
                  <a:solidFill>
                    <a:srgbClr val="0000FF"/>
                  </a:solidFill>
                  <a:latin typeface="Montserrat" panose="00000500000000000000" pitchFamily="2" charset="0"/>
                  <a:ea typeface="微软雅黑 Light" panose="020B0502040204020203" pitchFamily="34" charset="-122"/>
                </a:rPr>
                <a:t>（级别最低）</a:t>
              </a:r>
            </a:p>
          </p:txBody>
        </p:sp>
        <p:sp>
          <p:nvSpPr>
            <p:cNvPr id="12" name="矩形 11"/>
            <p:cNvSpPr/>
            <p:nvPr/>
          </p:nvSpPr>
          <p:spPr>
            <a:xfrm>
              <a:off x="4253812" y="3563130"/>
              <a:ext cx="1261884" cy="307777"/>
            </a:xfrm>
            <a:prstGeom prst="rect">
              <a:avLst/>
            </a:prstGeom>
          </p:spPr>
          <p:txBody>
            <a:bodyPr wrap="none">
              <a:spAutoFit/>
            </a:bodyPr>
            <a:lstStyle/>
            <a:p>
              <a:r>
                <a:rPr lang="zh-CN" altLang="en-US" sz="1400" dirty="0">
                  <a:solidFill>
                    <a:srgbClr val="9900FF"/>
                  </a:solidFill>
                  <a:latin typeface="Montserrat" panose="00000500000000000000" pitchFamily="2" charset="0"/>
                  <a:ea typeface="微软雅黑 Light" panose="020B0502040204020203" pitchFamily="34" charset="-122"/>
                </a:rPr>
                <a:t>（级别最高）</a:t>
              </a:r>
            </a:p>
          </p:txBody>
        </p:sp>
      </p:grpSp>
      <p:grpSp>
        <p:nvGrpSpPr>
          <p:cNvPr id="18" name="组合 17"/>
          <p:cNvGrpSpPr/>
          <p:nvPr/>
        </p:nvGrpSpPr>
        <p:grpSpPr>
          <a:xfrm>
            <a:off x="1316609" y="2062198"/>
            <a:ext cx="2664777" cy="916986"/>
            <a:chOff x="3660125" y="2092751"/>
            <a:chExt cx="2664777" cy="1090208"/>
          </a:xfrm>
        </p:grpSpPr>
        <p:sp>
          <p:nvSpPr>
            <p:cNvPr id="4" name="矩形 3"/>
            <p:cNvSpPr/>
            <p:nvPr/>
          </p:nvSpPr>
          <p:spPr>
            <a:xfrm>
              <a:off x="3660125" y="2092751"/>
              <a:ext cx="2459328" cy="365917"/>
            </a:xfrm>
            <a:prstGeom prst="rect">
              <a:avLst/>
            </a:prstGeom>
          </p:spPr>
          <p:txBody>
            <a:bodyPr wrap="none">
              <a:spAutoFit/>
            </a:bodyPr>
            <a:lstStyle/>
            <a:p>
              <a:r>
                <a:rPr lang="zh-CN" altLang="en-US" sz="1400" dirty="0">
                  <a:latin typeface="Montserrat" panose="00000500000000000000" pitchFamily="2" charset="0"/>
                  <a:ea typeface="微软雅黑 Light" panose="020B0502040204020203" pitchFamily="34" charset="-122"/>
                </a:rPr>
                <a:t>每一个标号不超过 </a:t>
              </a:r>
              <a:r>
                <a:rPr lang="en-US" altLang="zh-CN" sz="1400" dirty="0">
                  <a:latin typeface="Montserrat" panose="00000500000000000000" pitchFamily="2" charset="0"/>
                  <a:ea typeface="微软雅黑 Light" panose="020B0502040204020203" pitchFamily="34" charset="-122"/>
                </a:rPr>
                <a:t>63 </a:t>
              </a:r>
              <a:r>
                <a:rPr lang="zh-CN" altLang="en-US" sz="1400" dirty="0">
                  <a:latin typeface="Montserrat" panose="00000500000000000000" pitchFamily="2" charset="0"/>
                  <a:ea typeface="微软雅黑 Light" panose="020B0502040204020203" pitchFamily="34" charset="-122"/>
                </a:rPr>
                <a:t>个字符</a:t>
              </a:r>
            </a:p>
          </p:txBody>
        </p:sp>
        <p:sp>
          <p:nvSpPr>
            <p:cNvPr id="20" name="Line 11"/>
            <p:cNvSpPr>
              <a:spLocks noChangeShapeType="1"/>
            </p:cNvSpPr>
            <p:nvPr/>
          </p:nvSpPr>
          <p:spPr bwMode="auto">
            <a:xfrm>
              <a:off x="6104848" y="2502619"/>
              <a:ext cx="220054" cy="680340"/>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grpSp>
      <p:grpSp>
        <p:nvGrpSpPr>
          <p:cNvPr id="19" name="组合 18"/>
          <p:cNvGrpSpPr/>
          <p:nvPr/>
        </p:nvGrpSpPr>
        <p:grpSpPr>
          <a:xfrm>
            <a:off x="1751022" y="2400264"/>
            <a:ext cx="1655805" cy="556780"/>
            <a:chOff x="4242919" y="2380321"/>
            <a:chExt cx="1655805" cy="661958"/>
          </a:xfrm>
        </p:grpSpPr>
        <p:sp>
          <p:nvSpPr>
            <p:cNvPr id="5" name="矩形 4"/>
            <p:cNvSpPr/>
            <p:nvPr/>
          </p:nvSpPr>
          <p:spPr>
            <a:xfrm>
              <a:off x="4242919" y="2380321"/>
              <a:ext cx="1620957" cy="365917"/>
            </a:xfrm>
            <a:prstGeom prst="rect">
              <a:avLst/>
            </a:prstGeom>
          </p:spPr>
          <p:txBody>
            <a:bodyPr wrap="none">
              <a:spAutoFit/>
            </a:bodyPr>
            <a:lstStyle/>
            <a:p>
              <a:r>
                <a:rPr lang="zh-CN" altLang="en-US" sz="1400" dirty="0">
                  <a:latin typeface="Montserrat" panose="00000500000000000000" pitchFamily="2" charset="0"/>
                  <a:ea typeface="微软雅黑 Light" panose="020B0502040204020203" pitchFamily="34" charset="-122"/>
                </a:rPr>
                <a:t>不区分大小写字母</a:t>
              </a:r>
            </a:p>
          </p:txBody>
        </p:sp>
        <p:sp>
          <p:nvSpPr>
            <p:cNvPr id="21" name="Line 11"/>
            <p:cNvSpPr>
              <a:spLocks noChangeShapeType="1"/>
            </p:cNvSpPr>
            <p:nvPr/>
          </p:nvSpPr>
          <p:spPr bwMode="auto">
            <a:xfrm>
              <a:off x="5797824" y="2718876"/>
              <a:ext cx="100900" cy="323403"/>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grpSp>
      <p:grpSp>
        <p:nvGrpSpPr>
          <p:cNvPr id="22" name="组合 21"/>
          <p:cNvGrpSpPr/>
          <p:nvPr/>
        </p:nvGrpSpPr>
        <p:grpSpPr>
          <a:xfrm>
            <a:off x="4912310" y="2212153"/>
            <a:ext cx="2730237" cy="630485"/>
            <a:chOff x="4928337" y="2765085"/>
            <a:chExt cx="2730237" cy="630485"/>
          </a:xfrm>
        </p:grpSpPr>
        <p:sp>
          <p:nvSpPr>
            <p:cNvPr id="11" name="矩形 10"/>
            <p:cNvSpPr/>
            <p:nvPr/>
          </p:nvSpPr>
          <p:spPr>
            <a:xfrm>
              <a:off x="4928339" y="2765085"/>
              <a:ext cx="2730235" cy="307777"/>
            </a:xfrm>
            <a:prstGeom prst="rect">
              <a:avLst/>
            </a:prstGeom>
          </p:spPr>
          <p:txBody>
            <a:bodyPr wrap="none">
              <a:spAutoFit/>
            </a:bodyPr>
            <a:lstStyle/>
            <a:p>
              <a:r>
                <a:rPr lang="zh-CN" altLang="en-US" sz="1400" dirty="0">
                  <a:latin typeface="Montserrat" panose="00000500000000000000" pitchFamily="2" charset="0"/>
                  <a:ea typeface="微软雅黑 Light" panose="020B0502040204020203" pitchFamily="34" charset="-122"/>
                </a:rPr>
                <a:t>完整域名总共不超过 </a:t>
              </a:r>
              <a:r>
                <a:rPr lang="en-US" altLang="zh-CN" sz="1400" dirty="0">
                  <a:latin typeface="Montserrat" panose="00000500000000000000" pitchFamily="2" charset="0"/>
                  <a:ea typeface="微软雅黑 Light" panose="020B0502040204020203" pitchFamily="34" charset="-122"/>
                </a:rPr>
                <a:t>255 </a:t>
              </a:r>
              <a:r>
                <a:rPr lang="zh-CN" altLang="en-US" sz="1400" dirty="0">
                  <a:latin typeface="Montserrat" panose="00000500000000000000" pitchFamily="2" charset="0"/>
                  <a:ea typeface="微软雅黑 Light" panose="020B0502040204020203" pitchFamily="34" charset="-122"/>
                </a:rPr>
                <a:t>个字符</a:t>
              </a:r>
            </a:p>
          </p:txBody>
        </p:sp>
        <p:sp>
          <p:nvSpPr>
            <p:cNvPr id="23" name="Line 11"/>
            <p:cNvSpPr>
              <a:spLocks noChangeShapeType="1"/>
            </p:cNvSpPr>
            <p:nvPr/>
          </p:nvSpPr>
          <p:spPr bwMode="auto">
            <a:xfrm flipH="1">
              <a:off x="4928337" y="3047553"/>
              <a:ext cx="197159" cy="348017"/>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grpSp>
      <p:sp>
        <p:nvSpPr>
          <p:cNvPr id="24" name="矩形 23"/>
          <p:cNvSpPr/>
          <p:nvPr/>
        </p:nvSpPr>
        <p:spPr>
          <a:xfrm>
            <a:off x="6136955" y="2716147"/>
            <a:ext cx="2050884" cy="1015663"/>
          </a:xfrm>
          <a:prstGeom prst="rect">
            <a:avLst/>
          </a:prstGeom>
          <a:solidFill>
            <a:schemeClr val="bg1"/>
          </a:solidFill>
        </p:spPr>
        <p:txBody>
          <a:bodyPr wrap="square">
            <a:spAutoFit/>
          </a:bodyPr>
          <a:lstStyle/>
          <a:p>
            <a:pPr>
              <a:lnSpc>
                <a:spcPts val="2400"/>
              </a:lnSpc>
            </a:pPr>
            <a:r>
              <a:rPr lang="zh-CN" altLang="en-US" sz="1400" dirty="0">
                <a:solidFill>
                  <a:srgbClr val="C00000"/>
                </a:solidFill>
                <a:latin typeface="Montserrat" panose="00000500000000000000" pitchFamily="2" charset="0"/>
                <a:ea typeface="微软雅黑 Light" panose="020B0502040204020203" pitchFamily="34" charset="-122"/>
              </a:rPr>
              <a:t>注意：</a:t>
            </a:r>
            <a:r>
              <a:rPr lang="zh-CN" altLang="en-US" sz="1400" dirty="0">
                <a:latin typeface="Montserrat" panose="00000500000000000000" pitchFamily="2" charset="0"/>
                <a:ea typeface="微软雅黑 Light" panose="020B0502040204020203" pitchFamily="34" charset="-122"/>
              </a:rPr>
              <a:t>域名只是个逻辑概念，并不代表计算机所在的物理地点。</a:t>
            </a:r>
          </a:p>
        </p:txBody>
      </p:sp>
    </p:spTree>
    <p:extLst>
      <p:ext uri="{BB962C8B-B14F-4D97-AF65-F5344CB8AC3E}">
        <p14:creationId xmlns:p14="http://schemas.microsoft.com/office/powerpoint/2010/main" val="10733735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wipe(down)">
                                      <p:cBhvr>
                                        <p:cTn id="7" dur="1000"/>
                                        <p:tgtEl>
                                          <p:spTgt spid="1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18"/>
                                        </p:tgtEl>
                                        <p:attrNameLst>
                                          <p:attrName>style.visibility</p:attrName>
                                        </p:attrNameLst>
                                      </p:cBhvr>
                                      <p:to>
                                        <p:strVal val="visible"/>
                                      </p:to>
                                    </p:set>
                                    <p:animEffect transition="in" filter="wipe(up)">
                                      <p:cBhvr>
                                        <p:cTn id="12" dur="1000"/>
                                        <p:tgtEl>
                                          <p:spTgt spid="18"/>
                                        </p:tgtEl>
                                      </p:cBhvr>
                                    </p:animEffect>
                                  </p:childTnLst>
                                </p:cTn>
                              </p:par>
                            </p:childTnLst>
                          </p:cTn>
                        </p:par>
                        <p:par>
                          <p:cTn id="13" fill="hold">
                            <p:stCondLst>
                              <p:cond delay="1000"/>
                            </p:stCondLst>
                            <p:childTnLst>
                              <p:par>
                                <p:cTn id="14" presetID="22" presetClass="entr" presetSubtype="1" fill="hold" nodeType="afterEffect">
                                  <p:stCondLst>
                                    <p:cond delay="0"/>
                                  </p:stCondLst>
                                  <p:childTnLst>
                                    <p:set>
                                      <p:cBhvr>
                                        <p:cTn id="15" dur="1" fill="hold">
                                          <p:stCondLst>
                                            <p:cond delay="0"/>
                                          </p:stCondLst>
                                        </p:cTn>
                                        <p:tgtEl>
                                          <p:spTgt spid="19"/>
                                        </p:tgtEl>
                                        <p:attrNameLst>
                                          <p:attrName>style.visibility</p:attrName>
                                        </p:attrNameLst>
                                      </p:cBhvr>
                                      <p:to>
                                        <p:strVal val="visible"/>
                                      </p:to>
                                    </p:set>
                                    <p:animEffect transition="in" filter="wipe(up)">
                                      <p:cBhvr>
                                        <p:cTn id="16" dur="1000"/>
                                        <p:tgtEl>
                                          <p:spTgt spid="19"/>
                                        </p:tgtEl>
                                      </p:cBhvr>
                                    </p:animEffec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par>
                          <p:cTn id="21" fill="hold">
                            <p:stCondLst>
                              <p:cond delay="0"/>
                            </p:stCondLst>
                            <p:childTnLst>
                              <p:par>
                                <p:cTn id="22" presetID="35" presetClass="emph" presetSubtype="0" repeatCount="3000" fill="hold" grpId="1" nodeType="afterEffect">
                                  <p:stCondLst>
                                    <p:cond delay="0"/>
                                  </p:stCondLst>
                                  <p:childTnLst>
                                    <p:anim calcmode="discrete" valueType="str">
                                      <p:cBhvr>
                                        <p:cTn id="23" dur="1000" fill="hold"/>
                                        <p:tgtEl>
                                          <p:spTgt spid="17"/>
                                        </p:tgtEl>
                                        <p:attrNameLst>
                                          <p:attrName>style.visibility</p:attrName>
                                        </p:attrNameLst>
                                      </p:cBhvr>
                                      <p:tavLst>
                                        <p:tav tm="0">
                                          <p:val>
                                            <p:strVal val="hidden"/>
                                          </p:val>
                                        </p:tav>
                                        <p:tav tm="50000">
                                          <p:val>
                                            <p:strVal val="visible"/>
                                          </p:val>
                                        </p:tav>
                                      </p:tavLst>
                                    </p:anim>
                                  </p:childTnLst>
                                </p:cTn>
                              </p:par>
                              <p:par>
                                <p:cTn id="24" presetID="22" presetClass="entr" presetSubtype="1" fill="hold" nodeType="withEffect">
                                  <p:stCondLst>
                                    <p:cond delay="0"/>
                                  </p:stCondLst>
                                  <p:childTnLst>
                                    <p:set>
                                      <p:cBhvr>
                                        <p:cTn id="25" dur="1" fill="hold">
                                          <p:stCondLst>
                                            <p:cond delay="0"/>
                                          </p:stCondLst>
                                        </p:cTn>
                                        <p:tgtEl>
                                          <p:spTgt spid="22"/>
                                        </p:tgtEl>
                                        <p:attrNameLst>
                                          <p:attrName>style.visibility</p:attrName>
                                        </p:attrNameLst>
                                      </p:cBhvr>
                                      <p:to>
                                        <p:strVal val="visible"/>
                                      </p:to>
                                    </p:set>
                                    <p:animEffect transition="in" filter="wipe(up)">
                                      <p:cBhvr>
                                        <p:cTn id="26" dur="1000"/>
                                        <p:tgtEl>
                                          <p:spTgt spid="22"/>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7" grpId="1" animBg="1"/>
      <p:bldP spid="24"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0597"/>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7" name="Rectangle 6"/>
          <p:cNvSpPr>
            <a:spLocks noChangeArrowheads="1"/>
          </p:cNvSpPr>
          <p:nvPr/>
        </p:nvSpPr>
        <p:spPr bwMode="auto">
          <a:xfrm>
            <a:off x="2309096" y="577386"/>
            <a:ext cx="454451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全球顶级域名 </a:t>
            </a:r>
            <a:r>
              <a:rPr lang="en-US" altLang="zh-CN" sz="2000" b="1" dirty="0">
                <a:solidFill>
                  <a:schemeClr val="bg1"/>
                </a:solidFill>
                <a:latin typeface="微软雅黑 Light" panose="020B0502040204020203" pitchFamily="34" charset="-122"/>
                <a:ea typeface="微软雅黑 Light" panose="020B0502040204020203" pitchFamily="34" charset="-122"/>
              </a:rPr>
              <a:t>TLD (Top Level Domain)</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任意多边形 3"/>
          <p:cNvSpPr/>
          <p:nvPr/>
        </p:nvSpPr>
        <p:spPr>
          <a:xfrm>
            <a:off x="1064087" y="1019586"/>
            <a:ext cx="1695570" cy="2984244"/>
          </a:xfrm>
          <a:custGeom>
            <a:avLst/>
            <a:gdLst>
              <a:gd name="connsiteX0" fmla="*/ 0 w 1695570"/>
              <a:gd name="connsiteY0" fmla="*/ 169557 h 3330474"/>
              <a:gd name="connsiteX1" fmla="*/ 169557 w 1695570"/>
              <a:gd name="connsiteY1" fmla="*/ 0 h 3330474"/>
              <a:gd name="connsiteX2" fmla="*/ 1526013 w 1695570"/>
              <a:gd name="connsiteY2" fmla="*/ 0 h 3330474"/>
              <a:gd name="connsiteX3" fmla="*/ 1695570 w 1695570"/>
              <a:gd name="connsiteY3" fmla="*/ 169557 h 3330474"/>
              <a:gd name="connsiteX4" fmla="*/ 1695570 w 1695570"/>
              <a:gd name="connsiteY4" fmla="*/ 3160917 h 3330474"/>
              <a:gd name="connsiteX5" fmla="*/ 1526013 w 1695570"/>
              <a:gd name="connsiteY5" fmla="*/ 3330474 h 3330474"/>
              <a:gd name="connsiteX6" fmla="*/ 169557 w 1695570"/>
              <a:gd name="connsiteY6" fmla="*/ 3330474 h 3330474"/>
              <a:gd name="connsiteX7" fmla="*/ 0 w 1695570"/>
              <a:gd name="connsiteY7" fmla="*/ 3160917 h 3330474"/>
              <a:gd name="connsiteX8" fmla="*/ 0 w 1695570"/>
              <a:gd name="connsiteY8" fmla="*/ 169557 h 33304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95570" h="3330474">
                <a:moveTo>
                  <a:pt x="0" y="169557"/>
                </a:moveTo>
                <a:cubicBezTo>
                  <a:pt x="0" y="75913"/>
                  <a:pt x="75913" y="0"/>
                  <a:pt x="169557" y="0"/>
                </a:cubicBezTo>
                <a:lnTo>
                  <a:pt x="1526013" y="0"/>
                </a:lnTo>
                <a:cubicBezTo>
                  <a:pt x="1619657" y="0"/>
                  <a:pt x="1695570" y="75913"/>
                  <a:pt x="1695570" y="169557"/>
                </a:cubicBezTo>
                <a:lnTo>
                  <a:pt x="1695570" y="3160917"/>
                </a:lnTo>
                <a:cubicBezTo>
                  <a:pt x="1695570" y="3254561"/>
                  <a:pt x="1619657" y="3330474"/>
                  <a:pt x="1526013" y="3330474"/>
                </a:cubicBezTo>
                <a:lnTo>
                  <a:pt x="169557" y="3330474"/>
                </a:lnTo>
                <a:cubicBezTo>
                  <a:pt x="75913" y="3330474"/>
                  <a:pt x="0" y="3254561"/>
                  <a:pt x="0" y="3160917"/>
                </a:cubicBezTo>
                <a:lnTo>
                  <a:pt x="0" y="169557"/>
                </a:lnTo>
                <a:close/>
              </a:path>
            </a:pathLst>
          </a:custGeom>
        </p:spPr>
        <p:style>
          <a:lnRef idx="0">
            <a:schemeClr val="dk1">
              <a:hueOff val="0"/>
              <a:satOff val="0"/>
              <a:lumOff val="0"/>
              <a:alphaOff val="0"/>
            </a:schemeClr>
          </a:lnRef>
          <a:fillRef idx="1">
            <a:schemeClr val="accent5">
              <a:tint val="40000"/>
              <a:hueOff val="0"/>
              <a:satOff val="0"/>
              <a:lumOff val="0"/>
              <a:alphaOff val="0"/>
            </a:schemeClr>
          </a:fillRef>
          <a:effectRef idx="1">
            <a:schemeClr val="accent5">
              <a:tint val="40000"/>
              <a:hueOff val="0"/>
              <a:satOff val="0"/>
              <a:lumOff val="0"/>
              <a:alphaOff val="0"/>
            </a:schemeClr>
          </a:effectRef>
          <a:fontRef idx="minor">
            <a:schemeClr val="dk1">
              <a:hueOff val="0"/>
              <a:satOff val="0"/>
              <a:lumOff val="0"/>
              <a:alphaOff val="0"/>
            </a:schemeClr>
          </a:fontRef>
        </p:style>
        <p:txBody>
          <a:bodyPr spcFirstLastPara="0" vert="horz" wrap="square" lIns="53340" tIns="53340" rIns="53340" bIns="2384672" numCol="1" spcCol="1270" anchor="ctr" anchorCtr="0">
            <a:noAutofit/>
          </a:bodyPr>
          <a:lstStyle/>
          <a:p>
            <a:pPr lvl="0" algn="ctr" defTabSz="622300">
              <a:lnSpc>
                <a:spcPts val="1800"/>
              </a:lnSpc>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国家顶级域名 </a:t>
            </a:r>
            <a:r>
              <a:rPr lang="en-US" altLang="en-US" sz="1400" kern="1200" dirty="0" err="1">
                <a:latin typeface="Montserrat" panose="00000500000000000000" pitchFamily="2" charset="0"/>
                <a:ea typeface="微软雅黑 Light" panose="020B0502040204020203" pitchFamily="34" charset="-122"/>
              </a:rPr>
              <a:t>nTLD</a:t>
            </a:r>
            <a:endParaRPr lang="zh-CN" altLang="en-US" sz="1400" kern="1200" dirty="0">
              <a:latin typeface="Montserrat" panose="00000500000000000000" pitchFamily="2" charset="0"/>
              <a:ea typeface="微软雅黑 Light" panose="020B0502040204020203" pitchFamily="34" charset="-122"/>
            </a:endParaRPr>
          </a:p>
        </p:txBody>
      </p:sp>
      <p:sp>
        <p:nvSpPr>
          <p:cNvPr id="5" name="任意多边形 4"/>
          <p:cNvSpPr/>
          <p:nvPr/>
        </p:nvSpPr>
        <p:spPr>
          <a:xfrm>
            <a:off x="1233644" y="1827430"/>
            <a:ext cx="1356456" cy="603994"/>
          </a:xfrm>
          <a:custGeom>
            <a:avLst/>
            <a:gdLst>
              <a:gd name="connsiteX0" fmla="*/ 0 w 1356456"/>
              <a:gd name="connsiteY0" fmla="*/ 65430 h 654304"/>
              <a:gd name="connsiteX1" fmla="*/ 65430 w 1356456"/>
              <a:gd name="connsiteY1" fmla="*/ 0 h 654304"/>
              <a:gd name="connsiteX2" fmla="*/ 1291026 w 1356456"/>
              <a:gd name="connsiteY2" fmla="*/ 0 h 654304"/>
              <a:gd name="connsiteX3" fmla="*/ 1356456 w 1356456"/>
              <a:gd name="connsiteY3" fmla="*/ 65430 h 654304"/>
              <a:gd name="connsiteX4" fmla="*/ 1356456 w 1356456"/>
              <a:gd name="connsiteY4" fmla="*/ 588874 h 654304"/>
              <a:gd name="connsiteX5" fmla="*/ 1291026 w 1356456"/>
              <a:gd name="connsiteY5" fmla="*/ 654304 h 654304"/>
              <a:gd name="connsiteX6" fmla="*/ 65430 w 1356456"/>
              <a:gd name="connsiteY6" fmla="*/ 654304 h 654304"/>
              <a:gd name="connsiteX7" fmla="*/ 0 w 1356456"/>
              <a:gd name="connsiteY7" fmla="*/ 588874 h 654304"/>
              <a:gd name="connsiteX8" fmla="*/ 0 w 1356456"/>
              <a:gd name="connsiteY8" fmla="*/ 65430 h 6543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654304">
                <a:moveTo>
                  <a:pt x="0" y="65430"/>
                </a:moveTo>
                <a:cubicBezTo>
                  <a:pt x="0" y="29294"/>
                  <a:pt x="29294" y="0"/>
                  <a:pt x="65430" y="0"/>
                </a:cubicBezTo>
                <a:lnTo>
                  <a:pt x="1291026" y="0"/>
                </a:lnTo>
                <a:cubicBezTo>
                  <a:pt x="1327162" y="0"/>
                  <a:pt x="1356456" y="29294"/>
                  <a:pt x="1356456" y="65430"/>
                </a:cubicBezTo>
                <a:lnTo>
                  <a:pt x="1356456" y="588874"/>
                </a:lnTo>
                <a:cubicBezTo>
                  <a:pt x="1356456" y="625010"/>
                  <a:pt x="1327162" y="654304"/>
                  <a:pt x="1291026" y="654304"/>
                </a:cubicBezTo>
                <a:lnTo>
                  <a:pt x="65430" y="654304"/>
                </a:lnTo>
                <a:cubicBezTo>
                  <a:pt x="29294" y="654304"/>
                  <a:pt x="0" y="625010"/>
                  <a:pt x="0" y="588874"/>
                </a:cubicBezTo>
                <a:lnTo>
                  <a:pt x="0" y="65430"/>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0"/>
              <a:satOff val="0"/>
              <a:lumOff val="0"/>
              <a:alphaOff val="0"/>
            </a:schemeClr>
          </a:fillRef>
          <a:effectRef idx="1">
            <a:schemeClr val="accent5">
              <a:hueOff val="0"/>
              <a:satOff val="0"/>
              <a:lumOff val="0"/>
              <a:alphaOff val="0"/>
            </a:schemeClr>
          </a:effectRef>
          <a:fontRef idx="minor">
            <a:schemeClr val="dk1"/>
          </a:fontRef>
        </p:style>
        <p:txBody>
          <a:bodyPr spcFirstLastPara="0" vert="horz" wrap="square" lIns="54724" tIns="45834" rIns="54724" bIns="45834" numCol="1" spcCol="1270" anchor="ctr" anchorCtr="0">
            <a:noAutofit/>
          </a:bodyPr>
          <a:lstStyle/>
          <a:p>
            <a:pPr lvl="0" algn="ctr" defTabSz="622300">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采用 </a:t>
            </a:r>
            <a:r>
              <a:rPr lang="en-US" altLang="en-US" sz="1400" kern="1200" dirty="0">
                <a:latin typeface="Montserrat" panose="00000500000000000000" pitchFamily="2" charset="0"/>
                <a:ea typeface="微软雅黑 Light" panose="020B0502040204020203" pitchFamily="34" charset="-122"/>
              </a:rPr>
              <a:t>ISO 3166</a:t>
            </a:r>
            <a:r>
              <a:rPr lang="zh-CN" altLang="en-US" sz="1400" kern="1200" dirty="0">
                <a:latin typeface="Montserrat" panose="00000500000000000000" pitchFamily="2" charset="0"/>
                <a:ea typeface="微软雅黑 Light" panose="020B0502040204020203" pitchFamily="34" charset="-122"/>
              </a:rPr>
              <a:t>的规定</a:t>
            </a:r>
          </a:p>
        </p:txBody>
      </p:sp>
      <p:sp>
        <p:nvSpPr>
          <p:cNvPr id="8" name="任意多边形 7"/>
          <p:cNvSpPr/>
          <p:nvPr/>
        </p:nvSpPr>
        <p:spPr>
          <a:xfrm>
            <a:off x="1233644" y="2524347"/>
            <a:ext cx="1356456" cy="603994"/>
          </a:xfrm>
          <a:custGeom>
            <a:avLst/>
            <a:gdLst>
              <a:gd name="connsiteX0" fmla="*/ 0 w 1356456"/>
              <a:gd name="connsiteY0" fmla="*/ 65430 h 654304"/>
              <a:gd name="connsiteX1" fmla="*/ 65430 w 1356456"/>
              <a:gd name="connsiteY1" fmla="*/ 0 h 654304"/>
              <a:gd name="connsiteX2" fmla="*/ 1291026 w 1356456"/>
              <a:gd name="connsiteY2" fmla="*/ 0 h 654304"/>
              <a:gd name="connsiteX3" fmla="*/ 1356456 w 1356456"/>
              <a:gd name="connsiteY3" fmla="*/ 65430 h 654304"/>
              <a:gd name="connsiteX4" fmla="*/ 1356456 w 1356456"/>
              <a:gd name="connsiteY4" fmla="*/ 588874 h 654304"/>
              <a:gd name="connsiteX5" fmla="*/ 1291026 w 1356456"/>
              <a:gd name="connsiteY5" fmla="*/ 654304 h 654304"/>
              <a:gd name="connsiteX6" fmla="*/ 65430 w 1356456"/>
              <a:gd name="connsiteY6" fmla="*/ 654304 h 654304"/>
              <a:gd name="connsiteX7" fmla="*/ 0 w 1356456"/>
              <a:gd name="connsiteY7" fmla="*/ 588874 h 654304"/>
              <a:gd name="connsiteX8" fmla="*/ 0 w 1356456"/>
              <a:gd name="connsiteY8" fmla="*/ 65430 h 6543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654304">
                <a:moveTo>
                  <a:pt x="0" y="65430"/>
                </a:moveTo>
                <a:cubicBezTo>
                  <a:pt x="0" y="29294"/>
                  <a:pt x="29294" y="0"/>
                  <a:pt x="65430" y="0"/>
                </a:cubicBezTo>
                <a:lnTo>
                  <a:pt x="1291026" y="0"/>
                </a:lnTo>
                <a:cubicBezTo>
                  <a:pt x="1327162" y="0"/>
                  <a:pt x="1356456" y="29294"/>
                  <a:pt x="1356456" y="65430"/>
                </a:cubicBezTo>
                <a:lnTo>
                  <a:pt x="1356456" y="588874"/>
                </a:lnTo>
                <a:cubicBezTo>
                  <a:pt x="1356456" y="625010"/>
                  <a:pt x="1327162" y="654304"/>
                  <a:pt x="1291026" y="654304"/>
                </a:cubicBezTo>
                <a:lnTo>
                  <a:pt x="65430" y="654304"/>
                </a:lnTo>
                <a:cubicBezTo>
                  <a:pt x="29294" y="654304"/>
                  <a:pt x="0" y="625010"/>
                  <a:pt x="0" y="588874"/>
                </a:cubicBezTo>
                <a:lnTo>
                  <a:pt x="0" y="65430"/>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1241735"/>
              <a:satOff val="4976"/>
              <a:lumOff val="1078"/>
              <a:alphaOff val="0"/>
            </a:schemeClr>
          </a:fillRef>
          <a:effectRef idx="1">
            <a:schemeClr val="accent5">
              <a:hueOff val="-1241735"/>
              <a:satOff val="4976"/>
              <a:lumOff val="1078"/>
              <a:alphaOff val="0"/>
            </a:schemeClr>
          </a:effectRef>
          <a:fontRef idx="minor">
            <a:schemeClr val="dk1"/>
          </a:fontRef>
        </p:style>
        <p:txBody>
          <a:bodyPr spcFirstLastPara="0" vert="horz" wrap="square" lIns="54724" tIns="45834" rIns="54724" bIns="45834" numCol="1" spcCol="1270" anchor="ctr" anchorCtr="0">
            <a:noAutofit/>
          </a:bodyPr>
          <a:lstStyle/>
          <a:p>
            <a:pPr lvl="0" algn="ctr" defTabSz="622300">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又常记为 </a:t>
            </a:r>
            <a:r>
              <a:rPr lang="en-US" altLang="en-US" sz="1400" kern="1200" dirty="0" err="1">
                <a:latin typeface="Montserrat" panose="00000500000000000000" pitchFamily="2" charset="0"/>
                <a:ea typeface="微软雅黑 Light" panose="020B0502040204020203" pitchFamily="34" charset="-122"/>
              </a:rPr>
              <a:t>ccTLD</a:t>
            </a:r>
            <a:endParaRPr lang="zh-CN" altLang="en-US" sz="1400" kern="1200" dirty="0">
              <a:latin typeface="Montserrat" panose="00000500000000000000" pitchFamily="2" charset="0"/>
              <a:ea typeface="微软雅黑 Light" panose="020B0502040204020203" pitchFamily="34" charset="-122"/>
            </a:endParaRPr>
          </a:p>
        </p:txBody>
      </p:sp>
      <p:sp>
        <p:nvSpPr>
          <p:cNvPr id="9" name="任意多边形 8"/>
          <p:cNvSpPr/>
          <p:nvPr/>
        </p:nvSpPr>
        <p:spPr>
          <a:xfrm>
            <a:off x="1233644" y="3221264"/>
            <a:ext cx="1356456" cy="603994"/>
          </a:xfrm>
          <a:custGeom>
            <a:avLst/>
            <a:gdLst>
              <a:gd name="connsiteX0" fmla="*/ 0 w 1356456"/>
              <a:gd name="connsiteY0" fmla="*/ 65430 h 654304"/>
              <a:gd name="connsiteX1" fmla="*/ 65430 w 1356456"/>
              <a:gd name="connsiteY1" fmla="*/ 0 h 654304"/>
              <a:gd name="connsiteX2" fmla="*/ 1291026 w 1356456"/>
              <a:gd name="connsiteY2" fmla="*/ 0 h 654304"/>
              <a:gd name="connsiteX3" fmla="*/ 1356456 w 1356456"/>
              <a:gd name="connsiteY3" fmla="*/ 65430 h 654304"/>
              <a:gd name="connsiteX4" fmla="*/ 1356456 w 1356456"/>
              <a:gd name="connsiteY4" fmla="*/ 588874 h 654304"/>
              <a:gd name="connsiteX5" fmla="*/ 1291026 w 1356456"/>
              <a:gd name="connsiteY5" fmla="*/ 654304 h 654304"/>
              <a:gd name="connsiteX6" fmla="*/ 65430 w 1356456"/>
              <a:gd name="connsiteY6" fmla="*/ 654304 h 654304"/>
              <a:gd name="connsiteX7" fmla="*/ 0 w 1356456"/>
              <a:gd name="connsiteY7" fmla="*/ 588874 h 654304"/>
              <a:gd name="connsiteX8" fmla="*/ 0 w 1356456"/>
              <a:gd name="connsiteY8" fmla="*/ 65430 h 6543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654304">
                <a:moveTo>
                  <a:pt x="0" y="65430"/>
                </a:moveTo>
                <a:cubicBezTo>
                  <a:pt x="0" y="29294"/>
                  <a:pt x="29294" y="0"/>
                  <a:pt x="65430" y="0"/>
                </a:cubicBezTo>
                <a:lnTo>
                  <a:pt x="1291026" y="0"/>
                </a:lnTo>
                <a:cubicBezTo>
                  <a:pt x="1327162" y="0"/>
                  <a:pt x="1356456" y="29294"/>
                  <a:pt x="1356456" y="65430"/>
                </a:cubicBezTo>
                <a:lnTo>
                  <a:pt x="1356456" y="588874"/>
                </a:lnTo>
                <a:cubicBezTo>
                  <a:pt x="1356456" y="625010"/>
                  <a:pt x="1327162" y="654304"/>
                  <a:pt x="1291026" y="654304"/>
                </a:cubicBezTo>
                <a:lnTo>
                  <a:pt x="65430" y="654304"/>
                </a:lnTo>
                <a:cubicBezTo>
                  <a:pt x="29294" y="654304"/>
                  <a:pt x="0" y="625010"/>
                  <a:pt x="0" y="588874"/>
                </a:cubicBezTo>
                <a:lnTo>
                  <a:pt x="0" y="65430"/>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2483469"/>
              <a:satOff val="9953"/>
              <a:lumOff val="2157"/>
              <a:alphaOff val="0"/>
            </a:schemeClr>
          </a:fillRef>
          <a:effectRef idx="1">
            <a:schemeClr val="accent5">
              <a:hueOff val="-2483469"/>
              <a:satOff val="9953"/>
              <a:lumOff val="2157"/>
              <a:alphaOff val="0"/>
            </a:schemeClr>
          </a:effectRef>
          <a:fontRef idx="minor">
            <a:schemeClr val="dk1"/>
          </a:fontRef>
        </p:style>
        <p:txBody>
          <a:bodyPr spcFirstLastPara="0" vert="horz" wrap="square" lIns="54724" tIns="45834" rIns="54724" bIns="45834" numCol="1" spcCol="1270" anchor="ctr" anchorCtr="0">
            <a:noAutofit/>
          </a:bodyPr>
          <a:lstStyle/>
          <a:p>
            <a:pPr lvl="0" algn="ctr" defTabSz="622300">
              <a:spcBef>
                <a:spcPct val="0"/>
              </a:spcBef>
              <a:spcAft>
                <a:spcPts val="0"/>
              </a:spcAft>
            </a:pPr>
            <a:r>
              <a:rPr lang="zh-CN" altLang="en-US" sz="1200" kern="1200" dirty="0">
                <a:latin typeface="Montserrat" panose="00000500000000000000" pitchFamily="2" charset="0"/>
                <a:ea typeface="微软雅黑 Light" panose="020B0502040204020203" pitchFamily="34" charset="-122"/>
              </a:rPr>
              <a:t>总数已达 </a:t>
            </a:r>
            <a:r>
              <a:rPr lang="en-US" altLang="en-US" sz="1200" kern="1200" dirty="0">
                <a:latin typeface="Montserrat" panose="00000500000000000000" pitchFamily="2" charset="0"/>
                <a:ea typeface="微软雅黑 Light" panose="020B0502040204020203" pitchFamily="34" charset="-122"/>
              </a:rPr>
              <a:t>316 </a:t>
            </a:r>
            <a:r>
              <a:rPr lang="zh-CN" altLang="en-US" sz="1200" kern="1200" dirty="0">
                <a:latin typeface="Montserrat" panose="00000500000000000000" pitchFamily="2" charset="0"/>
                <a:ea typeface="微软雅黑 Light" panose="020B0502040204020203" pitchFamily="34" charset="-122"/>
              </a:rPr>
              <a:t>个</a:t>
            </a:r>
          </a:p>
        </p:txBody>
      </p:sp>
      <p:sp>
        <p:nvSpPr>
          <p:cNvPr id="10" name="任意多边形 9"/>
          <p:cNvSpPr/>
          <p:nvPr/>
        </p:nvSpPr>
        <p:spPr>
          <a:xfrm>
            <a:off x="2886825" y="1019586"/>
            <a:ext cx="1695570" cy="2984244"/>
          </a:xfrm>
          <a:custGeom>
            <a:avLst/>
            <a:gdLst>
              <a:gd name="connsiteX0" fmla="*/ 0 w 1695570"/>
              <a:gd name="connsiteY0" fmla="*/ 169557 h 3330474"/>
              <a:gd name="connsiteX1" fmla="*/ 169557 w 1695570"/>
              <a:gd name="connsiteY1" fmla="*/ 0 h 3330474"/>
              <a:gd name="connsiteX2" fmla="*/ 1526013 w 1695570"/>
              <a:gd name="connsiteY2" fmla="*/ 0 h 3330474"/>
              <a:gd name="connsiteX3" fmla="*/ 1695570 w 1695570"/>
              <a:gd name="connsiteY3" fmla="*/ 169557 h 3330474"/>
              <a:gd name="connsiteX4" fmla="*/ 1695570 w 1695570"/>
              <a:gd name="connsiteY4" fmla="*/ 3160917 h 3330474"/>
              <a:gd name="connsiteX5" fmla="*/ 1526013 w 1695570"/>
              <a:gd name="connsiteY5" fmla="*/ 3330474 h 3330474"/>
              <a:gd name="connsiteX6" fmla="*/ 169557 w 1695570"/>
              <a:gd name="connsiteY6" fmla="*/ 3330474 h 3330474"/>
              <a:gd name="connsiteX7" fmla="*/ 0 w 1695570"/>
              <a:gd name="connsiteY7" fmla="*/ 3160917 h 3330474"/>
              <a:gd name="connsiteX8" fmla="*/ 0 w 1695570"/>
              <a:gd name="connsiteY8" fmla="*/ 169557 h 33304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95570" h="3330474">
                <a:moveTo>
                  <a:pt x="0" y="169557"/>
                </a:moveTo>
                <a:cubicBezTo>
                  <a:pt x="0" y="75913"/>
                  <a:pt x="75913" y="0"/>
                  <a:pt x="169557" y="0"/>
                </a:cubicBezTo>
                <a:lnTo>
                  <a:pt x="1526013" y="0"/>
                </a:lnTo>
                <a:cubicBezTo>
                  <a:pt x="1619657" y="0"/>
                  <a:pt x="1695570" y="75913"/>
                  <a:pt x="1695570" y="169557"/>
                </a:cubicBezTo>
                <a:lnTo>
                  <a:pt x="1695570" y="3160917"/>
                </a:lnTo>
                <a:cubicBezTo>
                  <a:pt x="1695570" y="3254561"/>
                  <a:pt x="1619657" y="3330474"/>
                  <a:pt x="1526013" y="3330474"/>
                </a:cubicBezTo>
                <a:lnTo>
                  <a:pt x="169557" y="3330474"/>
                </a:lnTo>
                <a:cubicBezTo>
                  <a:pt x="75913" y="3330474"/>
                  <a:pt x="0" y="3254561"/>
                  <a:pt x="0" y="3160917"/>
                </a:cubicBezTo>
                <a:lnTo>
                  <a:pt x="0" y="169557"/>
                </a:lnTo>
                <a:close/>
              </a:path>
            </a:pathLst>
          </a:custGeom>
        </p:spPr>
        <p:style>
          <a:lnRef idx="0">
            <a:schemeClr val="dk1">
              <a:hueOff val="0"/>
              <a:satOff val="0"/>
              <a:lumOff val="0"/>
              <a:alphaOff val="0"/>
            </a:schemeClr>
          </a:lnRef>
          <a:fillRef idx="1">
            <a:schemeClr val="accent5">
              <a:tint val="40000"/>
              <a:hueOff val="0"/>
              <a:satOff val="0"/>
              <a:lumOff val="0"/>
              <a:alphaOff val="0"/>
            </a:schemeClr>
          </a:fillRef>
          <a:effectRef idx="1">
            <a:schemeClr val="accent5">
              <a:tint val="40000"/>
              <a:hueOff val="0"/>
              <a:satOff val="0"/>
              <a:lumOff val="0"/>
              <a:alphaOff val="0"/>
            </a:schemeClr>
          </a:effectRef>
          <a:fontRef idx="minor">
            <a:schemeClr val="dk1">
              <a:hueOff val="0"/>
              <a:satOff val="0"/>
              <a:lumOff val="0"/>
              <a:alphaOff val="0"/>
            </a:schemeClr>
          </a:fontRef>
        </p:style>
        <p:txBody>
          <a:bodyPr spcFirstLastPara="0" vert="horz" wrap="square" lIns="53340" tIns="53340" rIns="53340" bIns="2384672" numCol="1" spcCol="1270" anchor="ctr" anchorCtr="0">
            <a:noAutofit/>
          </a:bodyPr>
          <a:lstStyle/>
          <a:p>
            <a:pPr lvl="0" algn="ctr" defTabSz="622300">
              <a:lnSpc>
                <a:spcPts val="1800"/>
              </a:lnSpc>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通用顶级域名 </a:t>
            </a:r>
            <a:r>
              <a:rPr lang="en-US" altLang="en-US" sz="1400" kern="1200" dirty="0" err="1">
                <a:latin typeface="Montserrat" panose="00000500000000000000" pitchFamily="2" charset="0"/>
                <a:ea typeface="微软雅黑 Light" panose="020B0502040204020203" pitchFamily="34" charset="-122"/>
              </a:rPr>
              <a:t>gTLD</a:t>
            </a:r>
            <a:endParaRPr lang="zh-CN" altLang="en-US" sz="1400" kern="1200" dirty="0">
              <a:latin typeface="Montserrat" panose="00000500000000000000" pitchFamily="2" charset="0"/>
              <a:ea typeface="微软雅黑 Light" panose="020B0502040204020203" pitchFamily="34" charset="-122"/>
            </a:endParaRPr>
          </a:p>
        </p:txBody>
      </p:sp>
      <p:sp>
        <p:nvSpPr>
          <p:cNvPr id="11" name="任意多边形 10"/>
          <p:cNvSpPr/>
          <p:nvPr/>
        </p:nvSpPr>
        <p:spPr>
          <a:xfrm>
            <a:off x="3056382" y="1828068"/>
            <a:ext cx="1356456" cy="926970"/>
          </a:xfrm>
          <a:custGeom>
            <a:avLst/>
            <a:gdLst>
              <a:gd name="connsiteX0" fmla="*/ 0 w 1356456"/>
              <a:gd name="connsiteY0" fmla="*/ 100418 h 1004183"/>
              <a:gd name="connsiteX1" fmla="*/ 100418 w 1356456"/>
              <a:gd name="connsiteY1" fmla="*/ 0 h 1004183"/>
              <a:gd name="connsiteX2" fmla="*/ 1256038 w 1356456"/>
              <a:gd name="connsiteY2" fmla="*/ 0 h 1004183"/>
              <a:gd name="connsiteX3" fmla="*/ 1356456 w 1356456"/>
              <a:gd name="connsiteY3" fmla="*/ 100418 h 1004183"/>
              <a:gd name="connsiteX4" fmla="*/ 1356456 w 1356456"/>
              <a:gd name="connsiteY4" fmla="*/ 903765 h 1004183"/>
              <a:gd name="connsiteX5" fmla="*/ 1256038 w 1356456"/>
              <a:gd name="connsiteY5" fmla="*/ 1004183 h 1004183"/>
              <a:gd name="connsiteX6" fmla="*/ 100418 w 1356456"/>
              <a:gd name="connsiteY6" fmla="*/ 1004183 h 1004183"/>
              <a:gd name="connsiteX7" fmla="*/ 0 w 1356456"/>
              <a:gd name="connsiteY7" fmla="*/ 903765 h 1004183"/>
              <a:gd name="connsiteX8" fmla="*/ 0 w 1356456"/>
              <a:gd name="connsiteY8" fmla="*/ 100418 h 10041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1004183">
                <a:moveTo>
                  <a:pt x="0" y="100418"/>
                </a:moveTo>
                <a:cubicBezTo>
                  <a:pt x="0" y="44959"/>
                  <a:pt x="44959" y="0"/>
                  <a:pt x="100418" y="0"/>
                </a:cubicBezTo>
                <a:lnTo>
                  <a:pt x="1256038" y="0"/>
                </a:lnTo>
                <a:cubicBezTo>
                  <a:pt x="1311497" y="0"/>
                  <a:pt x="1356456" y="44959"/>
                  <a:pt x="1356456" y="100418"/>
                </a:cubicBezTo>
                <a:lnTo>
                  <a:pt x="1356456" y="903765"/>
                </a:lnTo>
                <a:cubicBezTo>
                  <a:pt x="1356456" y="959224"/>
                  <a:pt x="1311497" y="1004183"/>
                  <a:pt x="1256038" y="1004183"/>
                </a:cubicBezTo>
                <a:lnTo>
                  <a:pt x="100418" y="1004183"/>
                </a:lnTo>
                <a:cubicBezTo>
                  <a:pt x="44959" y="1004183"/>
                  <a:pt x="0" y="959224"/>
                  <a:pt x="0" y="903765"/>
                </a:cubicBezTo>
                <a:lnTo>
                  <a:pt x="0" y="100418"/>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3725204"/>
              <a:satOff val="14929"/>
              <a:lumOff val="3235"/>
              <a:alphaOff val="0"/>
            </a:schemeClr>
          </a:fillRef>
          <a:effectRef idx="1">
            <a:schemeClr val="accent5">
              <a:hueOff val="-3725204"/>
              <a:satOff val="14929"/>
              <a:lumOff val="3235"/>
              <a:alphaOff val="0"/>
            </a:schemeClr>
          </a:effectRef>
          <a:fontRef idx="minor">
            <a:schemeClr val="dk1"/>
          </a:fontRef>
        </p:style>
        <p:txBody>
          <a:bodyPr spcFirstLastPara="0" vert="horz" wrap="square" lIns="64972" tIns="56082" rIns="64972" bIns="56082" numCol="1" spcCol="1270" anchor="ctr" anchorCtr="0">
            <a:noAutofit/>
          </a:bodyPr>
          <a:lstStyle/>
          <a:p>
            <a:pPr lvl="0" algn="ctr" defTabSz="622300">
              <a:spcBef>
                <a:spcPct val="0"/>
              </a:spcBef>
              <a:spcAft>
                <a:spcPts val="0"/>
              </a:spcAft>
            </a:pPr>
            <a:r>
              <a:rPr lang="en-US" altLang="en-US" sz="1400" kern="1200" dirty="0">
                <a:latin typeface="Montserrat" panose="00000500000000000000" pitchFamily="2" charset="0"/>
                <a:ea typeface="微软雅黑 Light" panose="020B0502040204020203" pitchFamily="34" charset="-122"/>
              </a:rPr>
              <a:t>com</a:t>
            </a:r>
            <a:r>
              <a:rPr lang="zh-CN" altLang="en-US" sz="1400" kern="1200" dirty="0">
                <a:latin typeface="Montserrat" panose="00000500000000000000" pitchFamily="2" charset="0"/>
                <a:ea typeface="微软雅黑 Light" panose="020B0502040204020203" pitchFamily="34" charset="-122"/>
              </a:rPr>
              <a:t>，</a:t>
            </a:r>
            <a:r>
              <a:rPr lang="en-US" altLang="en-US" sz="1400" kern="1200" dirty="0">
                <a:latin typeface="Montserrat" panose="00000500000000000000" pitchFamily="2" charset="0"/>
                <a:ea typeface="微软雅黑 Light" panose="020B0502040204020203" pitchFamily="34" charset="-122"/>
              </a:rPr>
              <a:t>net</a:t>
            </a:r>
            <a:r>
              <a:rPr lang="zh-CN" altLang="en-US" sz="1400" kern="1200" dirty="0">
                <a:latin typeface="Montserrat" panose="00000500000000000000" pitchFamily="2" charset="0"/>
                <a:ea typeface="微软雅黑 Light" panose="020B0502040204020203" pitchFamily="34" charset="-122"/>
              </a:rPr>
              <a:t>，</a:t>
            </a:r>
            <a:r>
              <a:rPr lang="en-US" altLang="zh-CN" sz="1400" kern="1200" dirty="0">
                <a:latin typeface="Montserrat" panose="00000500000000000000" pitchFamily="2" charset="0"/>
                <a:ea typeface="微软雅黑 Light" panose="020B0502040204020203" pitchFamily="34" charset="-122"/>
              </a:rPr>
              <a:t>org</a:t>
            </a:r>
            <a:r>
              <a:rPr lang="zh-CN" altLang="en-US" sz="1400" kern="1200" dirty="0">
                <a:latin typeface="Montserrat" panose="00000500000000000000" pitchFamily="2" charset="0"/>
                <a:ea typeface="微软雅黑 Light" panose="020B0502040204020203" pitchFamily="34" charset="-122"/>
              </a:rPr>
              <a:t>，</a:t>
            </a:r>
            <a:r>
              <a:rPr lang="en-US" altLang="en-US" sz="1400" kern="1200" dirty="0" err="1">
                <a:latin typeface="Montserrat" panose="00000500000000000000" pitchFamily="2" charset="0"/>
                <a:ea typeface="微软雅黑 Light" panose="020B0502040204020203" pitchFamily="34" charset="-122"/>
              </a:rPr>
              <a:t>edu</a:t>
            </a:r>
            <a:r>
              <a:rPr lang="zh-CN" altLang="en-US" sz="1400" kern="1200" dirty="0">
                <a:latin typeface="Montserrat" panose="00000500000000000000" pitchFamily="2" charset="0"/>
                <a:ea typeface="微软雅黑 Light" panose="020B0502040204020203" pitchFamily="34" charset="-122"/>
              </a:rPr>
              <a:t>，</a:t>
            </a:r>
            <a:r>
              <a:rPr lang="en-US" altLang="zh-CN" sz="1400" kern="1200" dirty="0" err="1">
                <a:latin typeface="Montserrat" panose="00000500000000000000" pitchFamily="2" charset="0"/>
                <a:ea typeface="微软雅黑 Light" panose="020B0502040204020203" pitchFamily="34" charset="-122"/>
              </a:rPr>
              <a:t>gov</a:t>
            </a:r>
            <a:r>
              <a:rPr lang="en-US" altLang="zh-CN" sz="1400" kern="1200" dirty="0">
                <a:latin typeface="Montserrat" panose="00000500000000000000" pitchFamily="2" charset="0"/>
                <a:ea typeface="微软雅黑 Light" panose="020B0502040204020203" pitchFamily="34" charset="-122"/>
              </a:rPr>
              <a:t> </a:t>
            </a:r>
            <a:r>
              <a:rPr lang="zh-CN" altLang="en-US" sz="1400" kern="1200" dirty="0">
                <a:latin typeface="Montserrat" panose="00000500000000000000" pitchFamily="2" charset="0"/>
                <a:ea typeface="微软雅黑 Light" panose="020B0502040204020203" pitchFamily="34" charset="-122"/>
              </a:rPr>
              <a:t>等</a:t>
            </a:r>
          </a:p>
        </p:txBody>
      </p:sp>
      <p:sp>
        <p:nvSpPr>
          <p:cNvPr id="12" name="任意多边形 11"/>
          <p:cNvSpPr/>
          <p:nvPr/>
        </p:nvSpPr>
        <p:spPr>
          <a:xfrm>
            <a:off x="3056382" y="2897650"/>
            <a:ext cx="1356456" cy="926970"/>
          </a:xfrm>
          <a:custGeom>
            <a:avLst/>
            <a:gdLst>
              <a:gd name="connsiteX0" fmla="*/ 0 w 1356456"/>
              <a:gd name="connsiteY0" fmla="*/ 100418 h 1004183"/>
              <a:gd name="connsiteX1" fmla="*/ 100418 w 1356456"/>
              <a:gd name="connsiteY1" fmla="*/ 0 h 1004183"/>
              <a:gd name="connsiteX2" fmla="*/ 1256038 w 1356456"/>
              <a:gd name="connsiteY2" fmla="*/ 0 h 1004183"/>
              <a:gd name="connsiteX3" fmla="*/ 1356456 w 1356456"/>
              <a:gd name="connsiteY3" fmla="*/ 100418 h 1004183"/>
              <a:gd name="connsiteX4" fmla="*/ 1356456 w 1356456"/>
              <a:gd name="connsiteY4" fmla="*/ 903765 h 1004183"/>
              <a:gd name="connsiteX5" fmla="*/ 1256038 w 1356456"/>
              <a:gd name="connsiteY5" fmla="*/ 1004183 h 1004183"/>
              <a:gd name="connsiteX6" fmla="*/ 100418 w 1356456"/>
              <a:gd name="connsiteY6" fmla="*/ 1004183 h 1004183"/>
              <a:gd name="connsiteX7" fmla="*/ 0 w 1356456"/>
              <a:gd name="connsiteY7" fmla="*/ 903765 h 1004183"/>
              <a:gd name="connsiteX8" fmla="*/ 0 w 1356456"/>
              <a:gd name="connsiteY8" fmla="*/ 100418 h 10041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1004183">
                <a:moveTo>
                  <a:pt x="0" y="100418"/>
                </a:moveTo>
                <a:cubicBezTo>
                  <a:pt x="0" y="44959"/>
                  <a:pt x="44959" y="0"/>
                  <a:pt x="100418" y="0"/>
                </a:cubicBezTo>
                <a:lnTo>
                  <a:pt x="1256038" y="0"/>
                </a:lnTo>
                <a:cubicBezTo>
                  <a:pt x="1311497" y="0"/>
                  <a:pt x="1356456" y="44959"/>
                  <a:pt x="1356456" y="100418"/>
                </a:cubicBezTo>
                <a:lnTo>
                  <a:pt x="1356456" y="903765"/>
                </a:lnTo>
                <a:cubicBezTo>
                  <a:pt x="1356456" y="959224"/>
                  <a:pt x="1311497" y="1004183"/>
                  <a:pt x="1256038" y="1004183"/>
                </a:cubicBezTo>
                <a:lnTo>
                  <a:pt x="100418" y="1004183"/>
                </a:lnTo>
                <a:cubicBezTo>
                  <a:pt x="44959" y="1004183"/>
                  <a:pt x="0" y="959224"/>
                  <a:pt x="0" y="903765"/>
                </a:cubicBezTo>
                <a:lnTo>
                  <a:pt x="0" y="100418"/>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4966938"/>
              <a:satOff val="19906"/>
              <a:lumOff val="4314"/>
              <a:alphaOff val="0"/>
            </a:schemeClr>
          </a:fillRef>
          <a:effectRef idx="1">
            <a:schemeClr val="accent5">
              <a:hueOff val="-4966938"/>
              <a:satOff val="19906"/>
              <a:lumOff val="4314"/>
              <a:alphaOff val="0"/>
            </a:schemeClr>
          </a:effectRef>
          <a:fontRef idx="minor">
            <a:schemeClr val="dk1"/>
          </a:fontRef>
        </p:style>
        <p:txBody>
          <a:bodyPr spcFirstLastPara="0" vert="horz" wrap="square" lIns="64972" tIns="56082" rIns="64972" bIns="56082" numCol="1" spcCol="1270" anchor="ctr" anchorCtr="0">
            <a:noAutofit/>
          </a:bodyPr>
          <a:lstStyle/>
          <a:p>
            <a:pPr lvl="0" algn="ctr" defTabSz="622300">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总数已达 </a:t>
            </a:r>
            <a:r>
              <a:rPr lang="en-US" altLang="en-US" sz="1400" kern="1200" dirty="0">
                <a:latin typeface="Montserrat" panose="00000500000000000000" pitchFamily="2" charset="0"/>
                <a:ea typeface="微软雅黑 Light" panose="020B0502040204020203" pitchFamily="34" charset="-122"/>
              </a:rPr>
              <a:t>20 </a:t>
            </a:r>
            <a:r>
              <a:rPr lang="zh-CN" altLang="en-US" sz="1400" kern="1200" dirty="0">
                <a:latin typeface="Montserrat" panose="00000500000000000000" pitchFamily="2" charset="0"/>
                <a:ea typeface="微软雅黑 Light" panose="020B0502040204020203" pitchFamily="34" charset="-122"/>
              </a:rPr>
              <a:t>个</a:t>
            </a:r>
          </a:p>
        </p:txBody>
      </p:sp>
      <p:sp>
        <p:nvSpPr>
          <p:cNvPr id="13" name="任意多边形 12"/>
          <p:cNvSpPr/>
          <p:nvPr/>
        </p:nvSpPr>
        <p:spPr>
          <a:xfrm>
            <a:off x="4709563" y="1019586"/>
            <a:ext cx="1695570" cy="2984244"/>
          </a:xfrm>
          <a:custGeom>
            <a:avLst/>
            <a:gdLst>
              <a:gd name="connsiteX0" fmla="*/ 0 w 1695570"/>
              <a:gd name="connsiteY0" fmla="*/ 169557 h 3330474"/>
              <a:gd name="connsiteX1" fmla="*/ 169557 w 1695570"/>
              <a:gd name="connsiteY1" fmla="*/ 0 h 3330474"/>
              <a:gd name="connsiteX2" fmla="*/ 1526013 w 1695570"/>
              <a:gd name="connsiteY2" fmla="*/ 0 h 3330474"/>
              <a:gd name="connsiteX3" fmla="*/ 1695570 w 1695570"/>
              <a:gd name="connsiteY3" fmla="*/ 169557 h 3330474"/>
              <a:gd name="connsiteX4" fmla="*/ 1695570 w 1695570"/>
              <a:gd name="connsiteY4" fmla="*/ 3160917 h 3330474"/>
              <a:gd name="connsiteX5" fmla="*/ 1526013 w 1695570"/>
              <a:gd name="connsiteY5" fmla="*/ 3330474 h 3330474"/>
              <a:gd name="connsiteX6" fmla="*/ 169557 w 1695570"/>
              <a:gd name="connsiteY6" fmla="*/ 3330474 h 3330474"/>
              <a:gd name="connsiteX7" fmla="*/ 0 w 1695570"/>
              <a:gd name="connsiteY7" fmla="*/ 3160917 h 3330474"/>
              <a:gd name="connsiteX8" fmla="*/ 0 w 1695570"/>
              <a:gd name="connsiteY8" fmla="*/ 169557 h 33304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95570" h="3330474">
                <a:moveTo>
                  <a:pt x="0" y="169557"/>
                </a:moveTo>
                <a:cubicBezTo>
                  <a:pt x="0" y="75913"/>
                  <a:pt x="75913" y="0"/>
                  <a:pt x="169557" y="0"/>
                </a:cubicBezTo>
                <a:lnTo>
                  <a:pt x="1526013" y="0"/>
                </a:lnTo>
                <a:cubicBezTo>
                  <a:pt x="1619657" y="0"/>
                  <a:pt x="1695570" y="75913"/>
                  <a:pt x="1695570" y="169557"/>
                </a:cubicBezTo>
                <a:lnTo>
                  <a:pt x="1695570" y="3160917"/>
                </a:lnTo>
                <a:cubicBezTo>
                  <a:pt x="1695570" y="3254561"/>
                  <a:pt x="1619657" y="3330474"/>
                  <a:pt x="1526013" y="3330474"/>
                </a:cubicBezTo>
                <a:lnTo>
                  <a:pt x="169557" y="3330474"/>
                </a:lnTo>
                <a:cubicBezTo>
                  <a:pt x="75913" y="3330474"/>
                  <a:pt x="0" y="3254561"/>
                  <a:pt x="0" y="3160917"/>
                </a:cubicBezTo>
                <a:lnTo>
                  <a:pt x="0" y="169557"/>
                </a:lnTo>
                <a:close/>
              </a:path>
            </a:pathLst>
          </a:custGeom>
        </p:spPr>
        <p:style>
          <a:lnRef idx="0">
            <a:schemeClr val="dk1">
              <a:hueOff val="0"/>
              <a:satOff val="0"/>
              <a:lumOff val="0"/>
              <a:alphaOff val="0"/>
            </a:schemeClr>
          </a:lnRef>
          <a:fillRef idx="1">
            <a:schemeClr val="accent5">
              <a:tint val="40000"/>
              <a:hueOff val="0"/>
              <a:satOff val="0"/>
              <a:lumOff val="0"/>
              <a:alphaOff val="0"/>
            </a:schemeClr>
          </a:fillRef>
          <a:effectRef idx="1">
            <a:schemeClr val="accent5">
              <a:tint val="40000"/>
              <a:hueOff val="0"/>
              <a:satOff val="0"/>
              <a:lumOff val="0"/>
              <a:alphaOff val="0"/>
            </a:schemeClr>
          </a:effectRef>
          <a:fontRef idx="minor">
            <a:schemeClr val="dk1">
              <a:hueOff val="0"/>
              <a:satOff val="0"/>
              <a:lumOff val="0"/>
              <a:alphaOff val="0"/>
            </a:schemeClr>
          </a:fontRef>
        </p:style>
        <p:txBody>
          <a:bodyPr spcFirstLastPara="0" vert="horz" wrap="square" lIns="53340" tIns="53340" rIns="53340" bIns="2384672" numCol="1" spcCol="1270" anchor="t" anchorCtr="0">
            <a:noAutofit/>
          </a:bodyPr>
          <a:lstStyle/>
          <a:p>
            <a:pPr lvl="0" algn="ctr" defTabSz="622300">
              <a:lnSpc>
                <a:spcPts val="1800"/>
              </a:lnSpc>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基础结构域名</a:t>
            </a:r>
            <a:r>
              <a:rPr lang="en-US" altLang="en-US" sz="1400" kern="1200" dirty="0">
                <a:latin typeface="Montserrat" panose="00000500000000000000" pitchFamily="2" charset="0"/>
                <a:ea typeface="微软雅黑 Light" panose="020B0502040204020203" pitchFamily="34" charset="-122"/>
              </a:rPr>
              <a:t>(infrastructure domain)</a:t>
            </a:r>
            <a:endParaRPr lang="zh-CN" altLang="en-US" sz="1400" kern="1200" dirty="0">
              <a:latin typeface="Montserrat" panose="00000500000000000000" pitchFamily="2" charset="0"/>
              <a:ea typeface="微软雅黑 Light" panose="020B0502040204020203" pitchFamily="34" charset="-122"/>
            </a:endParaRPr>
          </a:p>
        </p:txBody>
      </p:sp>
      <p:sp>
        <p:nvSpPr>
          <p:cNvPr id="14" name="任意多边形 13"/>
          <p:cNvSpPr/>
          <p:nvPr/>
        </p:nvSpPr>
        <p:spPr>
          <a:xfrm>
            <a:off x="4879120" y="1828068"/>
            <a:ext cx="1356456" cy="926970"/>
          </a:xfrm>
          <a:custGeom>
            <a:avLst/>
            <a:gdLst>
              <a:gd name="connsiteX0" fmla="*/ 0 w 1356456"/>
              <a:gd name="connsiteY0" fmla="*/ 100418 h 1004183"/>
              <a:gd name="connsiteX1" fmla="*/ 100418 w 1356456"/>
              <a:gd name="connsiteY1" fmla="*/ 0 h 1004183"/>
              <a:gd name="connsiteX2" fmla="*/ 1256038 w 1356456"/>
              <a:gd name="connsiteY2" fmla="*/ 0 h 1004183"/>
              <a:gd name="connsiteX3" fmla="*/ 1356456 w 1356456"/>
              <a:gd name="connsiteY3" fmla="*/ 100418 h 1004183"/>
              <a:gd name="connsiteX4" fmla="*/ 1356456 w 1356456"/>
              <a:gd name="connsiteY4" fmla="*/ 903765 h 1004183"/>
              <a:gd name="connsiteX5" fmla="*/ 1256038 w 1356456"/>
              <a:gd name="connsiteY5" fmla="*/ 1004183 h 1004183"/>
              <a:gd name="connsiteX6" fmla="*/ 100418 w 1356456"/>
              <a:gd name="connsiteY6" fmla="*/ 1004183 h 1004183"/>
              <a:gd name="connsiteX7" fmla="*/ 0 w 1356456"/>
              <a:gd name="connsiteY7" fmla="*/ 903765 h 1004183"/>
              <a:gd name="connsiteX8" fmla="*/ 0 w 1356456"/>
              <a:gd name="connsiteY8" fmla="*/ 100418 h 10041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1004183">
                <a:moveTo>
                  <a:pt x="0" y="100418"/>
                </a:moveTo>
                <a:cubicBezTo>
                  <a:pt x="0" y="44959"/>
                  <a:pt x="44959" y="0"/>
                  <a:pt x="100418" y="0"/>
                </a:cubicBezTo>
                <a:lnTo>
                  <a:pt x="1256038" y="0"/>
                </a:lnTo>
                <a:cubicBezTo>
                  <a:pt x="1311497" y="0"/>
                  <a:pt x="1356456" y="44959"/>
                  <a:pt x="1356456" y="100418"/>
                </a:cubicBezTo>
                <a:lnTo>
                  <a:pt x="1356456" y="903765"/>
                </a:lnTo>
                <a:cubicBezTo>
                  <a:pt x="1356456" y="959224"/>
                  <a:pt x="1311497" y="1004183"/>
                  <a:pt x="1256038" y="1004183"/>
                </a:cubicBezTo>
                <a:lnTo>
                  <a:pt x="100418" y="1004183"/>
                </a:lnTo>
                <a:cubicBezTo>
                  <a:pt x="44959" y="1004183"/>
                  <a:pt x="0" y="959224"/>
                  <a:pt x="0" y="903765"/>
                </a:cubicBezTo>
                <a:lnTo>
                  <a:pt x="0" y="100418"/>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6208672"/>
              <a:satOff val="24882"/>
              <a:lumOff val="5392"/>
              <a:alphaOff val="0"/>
            </a:schemeClr>
          </a:fillRef>
          <a:effectRef idx="1">
            <a:schemeClr val="accent5">
              <a:hueOff val="-6208672"/>
              <a:satOff val="24882"/>
              <a:lumOff val="5392"/>
              <a:alphaOff val="0"/>
            </a:schemeClr>
          </a:effectRef>
          <a:fontRef idx="minor">
            <a:schemeClr val="dk1"/>
          </a:fontRef>
        </p:style>
        <p:txBody>
          <a:bodyPr spcFirstLastPara="0" vert="horz" wrap="square" lIns="64972" tIns="56082" rIns="64972" bIns="56082" numCol="1" spcCol="1270" anchor="ctr" anchorCtr="0">
            <a:noAutofit/>
          </a:bodyPr>
          <a:lstStyle/>
          <a:p>
            <a:pPr lvl="0" algn="ctr" defTabSz="622300">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只有一个：</a:t>
            </a:r>
            <a:r>
              <a:rPr lang="en-US" altLang="en-US" sz="1400" kern="1200" dirty="0" err="1">
                <a:latin typeface="Montserrat" panose="00000500000000000000" pitchFamily="2" charset="0"/>
                <a:ea typeface="微软雅黑 Light" panose="020B0502040204020203" pitchFamily="34" charset="-122"/>
              </a:rPr>
              <a:t>arpa</a:t>
            </a:r>
            <a:endParaRPr lang="zh-CN" altLang="en-US" sz="1400" kern="1200" dirty="0">
              <a:latin typeface="Montserrat" panose="00000500000000000000" pitchFamily="2" charset="0"/>
              <a:ea typeface="微软雅黑 Light" panose="020B0502040204020203" pitchFamily="34" charset="-122"/>
            </a:endParaRPr>
          </a:p>
        </p:txBody>
      </p:sp>
      <p:sp>
        <p:nvSpPr>
          <p:cNvPr id="15" name="任意多边形 14"/>
          <p:cNvSpPr/>
          <p:nvPr/>
        </p:nvSpPr>
        <p:spPr>
          <a:xfrm>
            <a:off x="4879120" y="2897650"/>
            <a:ext cx="1356456" cy="926970"/>
          </a:xfrm>
          <a:custGeom>
            <a:avLst/>
            <a:gdLst>
              <a:gd name="connsiteX0" fmla="*/ 0 w 1356456"/>
              <a:gd name="connsiteY0" fmla="*/ 100418 h 1004183"/>
              <a:gd name="connsiteX1" fmla="*/ 100418 w 1356456"/>
              <a:gd name="connsiteY1" fmla="*/ 0 h 1004183"/>
              <a:gd name="connsiteX2" fmla="*/ 1256038 w 1356456"/>
              <a:gd name="connsiteY2" fmla="*/ 0 h 1004183"/>
              <a:gd name="connsiteX3" fmla="*/ 1356456 w 1356456"/>
              <a:gd name="connsiteY3" fmla="*/ 100418 h 1004183"/>
              <a:gd name="connsiteX4" fmla="*/ 1356456 w 1356456"/>
              <a:gd name="connsiteY4" fmla="*/ 903765 h 1004183"/>
              <a:gd name="connsiteX5" fmla="*/ 1256038 w 1356456"/>
              <a:gd name="connsiteY5" fmla="*/ 1004183 h 1004183"/>
              <a:gd name="connsiteX6" fmla="*/ 100418 w 1356456"/>
              <a:gd name="connsiteY6" fmla="*/ 1004183 h 1004183"/>
              <a:gd name="connsiteX7" fmla="*/ 0 w 1356456"/>
              <a:gd name="connsiteY7" fmla="*/ 903765 h 1004183"/>
              <a:gd name="connsiteX8" fmla="*/ 0 w 1356456"/>
              <a:gd name="connsiteY8" fmla="*/ 100418 h 10041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1004183">
                <a:moveTo>
                  <a:pt x="0" y="100418"/>
                </a:moveTo>
                <a:cubicBezTo>
                  <a:pt x="0" y="44959"/>
                  <a:pt x="44959" y="0"/>
                  <a:pt x="100418" y="0"/>
                </a:cubicBezTo>
                <a:lnTo>
                  <a:pt x="1256038" y="0"/>
                </a:lnTo>
                <a:cubicBezTo>
                  <a:pt x="1311497" y="0"/>
                  <a:pt x="1356456" y="44959"/>
                  <a:pt x="1356456" y="100418"/>
                </a:cubicBezTo>
                <a:lnTo>
                  <a:pt x="1356456" y="903765"/>
                </a:lnTo>
                <a:cubicBezTo>
                  <a:pt x="1356456" y="959224"/>
                  <a:pt x="1311497" y="1004183"/>
                  <a:pt x="1256038" y="1004183"/>
                </a:cubicBezTo>
                <a:lnTo>
                  <a:pt x="100418" y="1004183"/>
                </a:lnTo>
                <a:cubicBezTo>
                  <a:pt x="44959" y="1004183"/>
                  <a:pt x="0" y="959224"/>
                  <a:pt x="0" y="903765"/>
                </a:cubicBezTo>
                <a:lnTo>
                  <a:pt x="0" y="100418"/>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7450407"/>
              <a:satOff val="29858"/>
              <a:lumOff val="6471"/>
              <a:alphaOff val="0"/>
            </a:schemeClr>
          </a:fillRef>
          <a:effectRef idx="1">
            <a:schemeClr val="accent5">
              <a:hueOff val="-7450407"/>
              <a:satOff val="29858"/>
              <a:lumOff val="6471"/>
              <a:alphaOff val="0"/>
            </a:schemeClr>
          </a:effectRef>
          <a:fontRef idx="minor">
            <a:schemeClr val="dk1"/>
          </a:fontRef>
        </p:style>
        <p:txBody>
          <a:bodyPr spcFirstLastPara="0" vert="horz" wrap="square" lIns="64972" tIns="56082" rIns="64972" bIns="56082" numCol="1" spcCol="1270" anchor="ctr" anchorCtr="0">
            <a:noAutofit/>
          </a:bodyPr>
          <a:lstStyle/>
          <a:p>
            <a:pPr lvl="0" algn="ctr" defTabSz="622300">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用于反向域名解析，又称为反向域名</a:t>
            </a:r>
          </a:p>
        </p:txBody>
      </p:sp>
      <p:sp>
        <p:nvSpPr>
          <p:cNvPr id="16" name="任意多边形 15"/>
          <p:cNvSpPr/>
          <p:nvPr/>
        </p:nvSpPr>
        <p:spPr>
          <a:xfrm>
            <a:off x="6532301" y="1019586"/>
            <a:ext cx="1695570" cy="2984244"/>
          </a:xfrm>
          <a:custGeom>
            <a:avLst/>
            <a:gdLst>
              <a:gd name="connsiteX0" fmla="*/ 0 w 1695570"/>
              <a:gd name="connsiteY0" fmla="*/ 169557 h 3330474"/>
              <a:gd name="connsiteX1" fmla="*/ 169557 w 1695570"/>
              <a:gd name="connsiteY1" fmla="*/ 0 h 3330474"/>
              <a:gd name="connsiteX2" fmla="*/ 1526013 w 1695570"/>
              <a:gd name="connsiteY2" fmla="*/ 0 h 3330474"/>
              <a:gd name="connsiteX3" fmla="*/ 1695570 w 1695570"/>
              <a:gd name="connsiteY3" fmla="*/ 169557 h 3330474"/>
              <a:gd name="connsiteX4" fmla="*/ 1695570 w 1695570"/>
              <a:gd name="connsiteY4" fmla="*/ 3160917 h 3330474"/>
              <a:gd name="connsiteX5" fmla="*/ 1526013 w 1695570"/>
              <a:gd name="connsiteY5" fmla="*/ 3330474 h 3330474"/>
              <a:gd name="connsiteX6" fmla="*/ 169557 w 1695570"/>
              <a:gd name="connsiteY6" fmla="*/ 3330474 h 3330474"/>
              <a:gd name="connsiteX7" fmla="*/ 0 w 1695570"/>
              <a:gd name="connsiteY7" fmla="*/ 3160917 h 3330474"/>
              <a:gd name="connsiteX8" fmla="*/ 0 w 1695570"/>
              <a:gd name="connsiteY8" fmla="*/ 169557 h 33304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95570" h="3330474">
                <a:moveTo>
                  <a:pt x="0" y="169557"/>
                </a:moveTo>
                <a:cubicBezTo>
                  <a:pt x="0" y="75913"/>
                  <a:pt x="75913" y="0"/>
                  <a:pt x="169557" y="0"/>
                </a:cubicBezTo>
                <a:lnTo>
                  <a:pt x="1526013" y="0"/>
                </a:lnTo>
                <a:cubicBezTo>
                  <a:pt x="1619657" y="0"/>
                  <a:pt x="1695570" y="75913"/>
                  <a:pt x="1695570" y="169557"/>
                </a:cubicBezTo>
                <a:lnTo>
                  <a:pt x="1695570" y="3160917"/>
                </a:lnTo>
                <a:cubicBezTo>
                  <a:pt x="1695570" y="3254561"/>
                  <a:pt x="1619657" y="3330474"/>
                  <a:pt x="1526013" y="3330474"/>
                </a:cubicBezTo>
                <a:lnTo>
                  <a:pt x="169557" y="3330474"/>
                </a:lnTo>
                <a:cubicBezTo>
                  <a:pt x="75913" y="3330474"/>
                  <a:pt x="0" y="3254561"/>
                  <a:pt x="0" y="3160917"/>
                </a:cubicBezTo>
                <a:lnTo>
                  <a:pt x="0" y="169557"/>
                </a:lnTo>
                <a:close/>
              </a:path>
            </a:pathLst>
          </a:custGeom>
          <a:ln w="19050">
            <a:solidFill>
              <a:srgbClr val="000066"/>
            </a:solidFill>
            <a:prstDash val="sysDash"/>
          </a:ln>
        </p:spPr>
        <p:style>
          <a:lnRef idx="0">
            <a:schemeClr val="dk1">
              <a:hueOff val="0"/>
              <a:satOff val="0"/>
              <a:lumOff val="0"/>
              <a:alphaOff val="0"/>
            </a:schemeClr>
          </a:lnRef>
          <a:fillRef idx="1">
            <a:schemeClr val="accent5">
              <a:tint val="40000"/>
              <a:hueOff val="0"/>
              <a:satOff val="0"/>
              <a:lumOff val="0"/>
              <a:alphaOff val="0"/>
            </a:schemeClr>
          </a:fillRef>
          <a:effectRef idx="1">
            <a:schemeClr val="accent5">
              <a:tint val="40000"/>
              <a:hueOff val="0"/>
              <a:satOff val="0"/>
              <a:lumOff val="0"/>
              <a:alphaOff val="0"/>
            </a:schemeClr>
          </a:effectRef>
          <a:fontRef idx="minor">
            <a:schemeClr val="dk1">
              <a:hueOff val="0"/>
              <a:satOff val="0"/>
              <a:lumOff val="0"/>
              <a:alphaOff val="0"/>
            </a:schemeClr>
          </a:fontRef>
        </p:style>
        <p:txBody>
          <a:bodyPr spcFirstLastPara="0" vert="horz" wrap="square" lIns="53340" tIns="53340" rIns="53340" bIns="2384672" numCol="1" spcCol="1270" anchor="ctr" anchorCtr="0">
            <a:noAutofit/>
          </a:bodyPr>
          <a:lstStyle/>
          <a:p>
            <a:pPr lvl="0" algn="ctr" defTabSz="622300">
              <a:lnSpc>
                <a:spcPts val="1800"/>
              </a:lnSpc>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新顶级域名</a:t>
            </a:r>
            <a:endParaRPr lang="en-US" altLang="zh-CN" sz="1400" kern="1200" dirty="0">
              <a:latin typeface="Montserrat" panose="00000500000000000000" pitchFamily="2" charset="0"/>
              <a:ea typeface="微软雅黑 Light" panose="020B0502040204020203" pitchFamily="34" charset="-122"/>
            </a:endParaRPr>
          </a:p>
          <a:p>
            <a:pPr lvl="0" algn="ctr" defTabSz="622300">
              <a:lnSpc>
                <a:spcPts val="1800"/>
              </a:lnSpc>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a:t>
            </a:r>
            <a:r>
              <a:rPr lang="en-US" altLang="en-US" sz="1400" kern="1200" dirty="0">
                <a:latin typeface="Montserrat" panose="00000500000000000000" pitchFamily="2" charset="0"/>
                <a:ea typeface="微软雅黑 Light" panose="020B0502040204020203" pitchFamily="34" charset="-122"/>
              </a:rPr>
              <a:t>New </a:t>
            </a:r>
            <a:r>
              <a:rPr lang="en-US" altLang="en-US" sz="1400" kern="1200" dirty="0" err="1">
                <a:latin typeface="Montserrat" panose="00000500000000000000" pitchFamily="2" charset="0"/>
                <a:ea typeface="微软雅黑 Light" panose="020B0502040204020203" pitchFamily="34" charset="-122"/>
              </a:rPr>
              <a:t>gTLD</a:t>
            </a:r>
            <a:r>
              <a:rPr lang="zh-CN" altLang="en-US" sz="1400" kern="1200" dirty="0">
                <a:latin typeface="Montserrat" panose="00000500000000000000" pitchFamily="2" charset="0"/>
                <a:ea typeface="微软雅黑 Light" panose="020B0502040204020203" pitchFamily="34" charset="-122"/>
              </a:rPr>
              <a:t>）</a:t>
            </a:r>
          </a:p>
        </p:txBody>
      </p:sp>
      <p:sp>
        <p:nvSpPr>
          <p:cNvPr id="17" name="任意多边形 16"/>
          <p:cNvSpPr/>
          <p:nvPr/>
        </p:nvSpPr>
        <p:spPr>
          <a:xfrm>
            <a:off x="6701858" y="1828068"/>
            <a:ext cx="1356456" cy="926970"/>
          </a:xfrm>
          <a:custGeom>
            <a:avLst/>
            <a:gdLst>
              <a:gd name="connsiteX0" fmla="*/ 0 w 1356456"/>
              <a:gd name="connsiteY0" fmla="*/ 100418 h 1004183"/>
              <a:gd name="connsiteX1" fmla="*/ 100418 w 1356456"/>
              <a:gd name="connsiteY1" fmla="*/ 0 h 1004183"/>
              <a:gd name="connsiteX2" fmla="*/ 1256038 w 1356456"/>
              <a:gd name="connsiteY2" fmla="*/ 0 h 1004183"/>
              <a:gd name="connsiteX3" fmla="*/ 1356456 w 1356456"/>
              <a:gd name="connsiteY3" fmla="*/ 100418 h 1004183"/>
              <a:gd name="connsiteX4" fmla="*/ 1356456 w 1356456"/>
              <a:gd name="connsiteY4" fmla="*/ 903765 h 1004183"/>
              <a:gd name="connsiteX5" fmla="*/ 1256038 w 1356456"/>
              <a:gd name="connsiteY5" fmla="*/ 1004183 h 1004183"/>
              <a:gd name="connsiteX6" fmla="*/ 100418 w 1356456"/>
              <a:gd name="connsiteY6" fmla="*/ 1004183 h 1004183"/>
              <a:gd name="connsiteX7" fmla="*/ 0 w 1356456"/>
              <a:gd name="connsiteY7" fmla="*/ 903765 h 1004183"/>
              <a:gd name="connsiteX8" fmla="*/ 0 w 1356456"/>
              <a:gd name="connsiteY8" fmla="*/ 100418 h 10041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1004183">
                <a:moveTo>
                  <a:pt x="0" y="100418"/>
                </a:moveTo>
                <a:cubicBezTo>
                  <a:pt x="0" y="44959"/>
                  <a:pt x="44959" y="0"/>
                  <a:pt x="100418" y="0"/>
                </a:cubicBezTo>
                <a:lnTo>
                  <a:pt x="1256038" y="0"/>
                </a:lnTo>
                <a:cubicBezTo>
                  <a:pt x="1311497" y="0"/>
                  <a:pt x="1356456" y="44959"/>
                  <a:pt x="1356456" y="100418"/>
                </a:cubicBezTo>
                <a:lnTo>
                  <a:pt x="1356456" y="903765"/>
                </a:lnTo>
                <a:cubicBezTo>
                  <a:pt x="1356456" y="959224"/>
                  <a:pt x="1311497" y="1004183"/>
                  <a:pt x="1256038" y="1004183"/>
                </a:cubicBezTo>
                <a:lnTo>
                  <a:pt x="100418" y="1004183"/>
                </a:lnTo>
                <a:cubicBezTo>
                  <a:pt x="44959" y="1004183"/>
                  <a:pt x="0" y="959224"/>
                  <a:pt x="0" y="903765"/>
                </a:cubicBezTo>
                <a:lnTo>
                  <a:pt x="0" y="100418"/>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8692142"/>
              <a:satOff val="34835"/>
              <a:lumOff val="7549"/>
              <a:alphaOff val="0"/>
            </a:schemeClr>
          </a:fillRef>
          <a:effectRef idx="1">
            <a:schemeClr val="accent5">
              <a:hueOff val="-8692142"/>
              <a:satOff val="34835"/>
              <a:lumOff val="7549"/>
              <a:alphaOff val="0"/>
            </a:schemeClr>
          </a:effectRef>
          <a:fontRef idx="minor">
            <a:schemeClr val="dk1"/>
          </a:fontRef>
        </p:style>
        <p:txBody>
          <a:bodyPr spcFirstLastPara="0" vert="horz" wrap="square" lIns="64972" tIns="56082" rIns="64972" bIns="56082" numCol="1" spcCol="1270" anchor="ctr" anchorCtr="0">
            <a:noAutofit/>
          </a:bodyPr>
          <a:lstStyle/>
          <a:p>
            <a:pPr lvl="0" algn="ctr" defTabSz="622300">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任何公司、机构都有权向</a:t>
            </a:r>
            <a:r>
              <a:rPr lang="en-US" altLang="en-US" sz="1400" kern="1200" dirty="0">
                <a:latin typeface="Montserrat" panose="00000500000000000000" pitchFamily="2" charset="0"/>
                <a:ea typeface="微软雅黑 Light" panose="020B0502040204020203" pitchFamily="34" charset="-122"/>
              </a:rPr>
              <a:t>ICANN </a:t>
            </a:r>
            <a:r>
              <a:rPr lang="zh-CN" altLang="en-US" sz="1400" kern="1200" dirty="0">
                <a:latin typeface="Montserrat" panose="00000500000000000000" pitchFamily="2" charset="0"/>
                <a:ea typeface="微软雅黑 Light" panose="020B0502040204020203" pitchFamily="34" charset="-122"/>
              </a:rPr>
              <a:t>申请新的顶级域</a:t>
            </a:r>
          </a:p>
        </p:txBody>
      </p:sp>
      <p:sp>
        <p:nvSpPr>
          <p:cNvPr id="18" name="任意多边形 17"/>
          <p:cNvSpPr/>
          <p:nvPr/>
        </p:nvSpPr>
        <p:spPr>
          <a:xfrm>
            <a:off x="6701858" y="2897650"/>
            <a:ext cx="1356456" cy="926970"/>
          </a:xfrm>
          <a:custGeom>
            <a:avLst/>
            <a:gdLst>
              <a:gd name="connsiteX0" fmla="*/ 0 w 1356456"/>
              <a:gd name="connsiteY0" fmla="*/ 100418 h 1004183"/>
              <a:gd name="connsiteX1" fmla="*/ 100418 w 1356456"/>
              <a:gd name="connsiteY1" fmla="*/ 0 h 1004183"/>
              <a:gd name="connsiteX2" fmla="*/ 1256038 w 1356456"/>
              <a:gd name="connsiteY2" fmla="*/ 0 h 1004183"/>
              <a:gd name="connsiteX3" fmla="*/ 1356456 w 1356456"/>
              <a:gd name="connsiteY3" fmla="*/ 100418 h 1004183"/>
              <a:gd name="connsiteX4" fmla="*/ 1356456 w 1356456"/>
              <a:gd name="connsiteY4" fmla="*/ 903765 h 1004183"/>
              <a:gd name="connsiteX5" fmla="*/ 1256038 w 1356456"/>
              <a:gd name="connsiteY5" fmla="*/ 1004183 h 1004183"/>
              <a:gd name="connsiteX6" fmla="*/ 100418 w 1356456"/>
              <a:gd name="connsiteY6" fmla="*/ 1004183 h 1004183"/>
              <a:gd name="connsiteX7" fmla="*/ 0 w 1356456"/>
              <a:gd name="connsiteY7" fmla="*/ 903765 h 1004183"/>
              <a:gd name="connsiteX8" fmla="*/ 0 w 1356456"/>
              <a:gd name="connsiteY8" fmla="*/ 100418 h 10041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1004183">
                <a:moveTo>
                  <a:pt x="0" y="100418"/>
                </a:moveTo>
                <a:cubicBezTo>
                  <a:pt x="0" y="44959"/>
                  <a:pt x="44959" y="0"/>
                  <a:pt x="100418" y="0"/>
                </a:cubicBezTo>
                <a:lnTo>
                  <a:pt x="1256038" y="0"/>
                </a:lnTo>
                <a:cubicBezTo>
                  <a:pt x="1311497" y="0"/>
                  <a:pt x="1356456" y="44959"/>
                  <a:pt x="1356456" y="100418"/>
                </a:cubicBezTo>
                <a:lnTo>
                  <a:pt x="1356456" y="903765"/>
                </a:lnTo>
                <a:cubicBezTo>
                  <a:pt x="1356456" y="959224"/>
                  <a:pt x="1311497" y="1004183"/>
                  <a:pt x="1256038" y="1004183"/>
                </a:cubicBezTo>
                <a:lnTo>
                  <a:pt x="100418" y="1004183"/>
                </a:lnTo>
                <a:cubicBezTo>
                  <a:pt x="44959" y="1004183"/>
                  <a:pt x="0" y="959224"/>
                  <a:pt x="0" y="903765"/>
                </a:cubicBezTo>
                <a:lnTo>
                  <a:pt x="0" y="100418"/>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9933876"/>
              <a:satOff val="39811"/>
              <a:lumOff val="8628"/>
              <a:alphaOff val="0"/>
            </a:schemeClr>
          </a:fillRef>
          <a:effectRef idx="1">
            <a:schemeClr val="accent5">
              <a:hueOff val="-9933876"/>
              <a:satOff val="39811"/>
              <a:lumOff val="8628"/>
              <a:alphaOff val="0"/>
            </a:schemeClr>
          </a:effectRef>
          <a:fontRef idx="minor">
            <a:schemeClr val="dk1"/>
          </a:fontRef>
        </p:style>
        <p:txBody>
          <a:bodyPr spcFirstLastPara="0" vert="horz" wrap="square" lIns="64972" tIns="56082" rIns="64972" bIns="56082" numCol="1" spcCol="1270" anchor="ctr" anchorCtr="0">
            <a:noAutofit/>
          </a:bodyPr>
          <a:lstStyle/>
          <a:p>
            <a:pPr lvl="0" algn="ctr" defTabSz="622300">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真正的企业网络商标</a:t>
            </a:r>
          </a:p>
        </p:txBody>
      </p:sp>
      <p:sp>
        <p:nvSpPr>
          <p:cNvPr id="22" name="矩形 21"/>
          <p:cNvSpPr/>
          <p:nvPr/>
        </p:nvSpPr>
        <p:spPr>
          <a:xfrm>
            <a:off x="1389888" y="4023377"/>
            <a:ext cx="6602193" cy="679801"/>
          </a:xfrm>
          <a:prstGeom prst="rect">
            <a:avLst/>
          </a:prstGeom>
        </p:spPr>
        <p:txBody>
          <a:bodyPr wrap="square">
            <a:spAutoFit/>
          </a:bodyPr>
          <a:lstStyle/>
          <a:p>
            <a:pPr>
              <a:lnSpc>
                <a:spcPts val="2400"/>
              </a:lnSpc>
            </a:pPr>
            <a:r>
              <a:rPr lang="zh-CN" altLang="en-US" sz="1600" b="1" dirty="0">
                <a:latin typeface="微软雅黑 Light" panose="020B0502040204020203" pitchFamily="34" charset="-122"/>
                <a:ea typeface="微软雅黑 Light" panose="020B0502040204020203" pitchFamily="34" charset="-122"/>
              </a:rPr>
              <a:t>在国家顶级域名下注册的二级域名均由该国家自行确定。</a:t>
            </a:r>
            <a:endParaRPr lang="en-US" altLang="zh-CN" sz="1600" b="1" dirty="0">
              <a:latin typeface="微软雅黑 Light" panose="020B0502040204020203" pitchFamily="34" charset="-122"/>
              <a:ea typeface="微软雅黑 Light" panose="020B0502040204020203" pitchFamily="34" charset="-122"/>
            </a:endParaRPr>
          </a:p>
          <a:p>
            <a:pPr>
              <a:lnSpc>
                <a:spcPts val="2400"/>
              </a:lnSpc>
            </a:pPr>
            <a:r>
              <a:rPr lang="zh-CN" altLang="en-US" sz="1600" b="1" dirty="0">
                <a:latin typeface="微软雅黑 Light" panose="020B0502040204020203" pitchFamily="34" charset="-122"/>
                <a:ea typeface="微软雅黑 Light" panose="020B0502040204020203" pitchFamily="34" charset="-122"/>
              </a:rPr>
              <a:t>我国把二级域名划分为“</a:t>
            </a:r>
            <a:r>
              <a:rPr lang="zh-CN" altLang="en-US" sz="1600" b="1" dirty="0">
                <a:solidFill>
                  <a:srgbClr val="0000CC"/>
                </a:solidFill>
                <a:latin typeface="微软雅黑 Light" panose="020B0502040204020203" pitchFamily="34" charset="-122"/>
                <a:ea typeface="微软雅黑 Light" panose="020B0502040204020203" pitchFamily="34" charset="-122"/>
              </a:rPr>
              <a:t>类别域名</a:t>
            </a:r>
            <a:r>
              <a:rPr lang="zh-CN" altLang="en-US" sz="1600" b="1" dirty="0">
                <a:latin typeface="微软雅黑 Light" panose="020B0502040204020203" pitchFamily="34" charset="-122"/>
                <a:ea typeface="微软雅黑 Light" panose="020B0502040204020203" pitchFamily="34" charset="-122"/>
              </a:rPr>
              <a:t>”和“</a:t>
            </a:r>
            <a:r>
              <a:rPr lang="zh-CN" altLang="en-US" sz="1600" b="1" dirty="0">
                <a:solidFill>
                  <a:srgbClr val="0000CC"/>
                </a:solidFill>
                <a:latin typeface="微软雅黑 Light" panose="020B0502040204020203" pitchFamily="34" charset="-122"/>
                <a:ea typeface="微软雅黑 Light" panose="020B0502040204020203" pitchFamily="34" charset="-122"/>
              </a:rPr>
              <a:t>行政区域名</a:t>
            </a:r>
            <a:r>
              <a:rPr lang="zh-CN" altLang="en-US" sz="1600" b="1" dirty="0">
                <a:latin typeface="微软雅黑 Light" panose="020B0502040204020203" pitchFamily="34" charset="-122"/>
                <a:ea typeface="微软雅黑 Light" panose="020B0502040204020203" pitchFamily="34" charset="-122"/>
              </a:rPr>
              <a:t>”两大类。</a:t>
            </a:r>
          </a:p>
        </p:txBody>
      </p:sp>
    </p:spTree>
    <p:extLst>
      <p:ext uri="{BB962C8B-B14F-4D97-AF65-F5344CB8AC3E}">
        <p14:creationId xmlns:p14="http://schemas.microsoft.com/office/powerpoint/2010/main" val="22009552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10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79" name="Rectangle 6"/>
          <p:cNvSpPr>
            <a:spLocks noChangeArrowheads="1"/>
          </p:cNvSpPr>
          <p:nvPr/>
        </p:nvSpPr>
        <p:spPr bwMode="auto">
          <a:xfrm>
            <a:off x="3206618" y="582898"/>
            <a:ext cx="274947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互联网的域名空间结构</a:t>
            </a:r>
          </a:p>
        </p:txBody>
      </p:sp>
      <p:sp>
        <p:nvSpPr>
          <p:cNvPr id="81" name="Rectangle 122"/>
          <p:cNvSpPr>
            <a:spLocks noChangeArrowheads="1"/>
          </p:cNvSpPr>
          <p:nvPr/>
        </p:nvSpPr>
        <p:spPr bwMode="auto">
          <a:xfrm>
            <a:off x="4927416" y="1019374"/>
            <a:ext cx="1675702" cy="324229"/>
          </a:xfrm>
          <a:prstGeom prst="rect">
            <a:avLst/>
          </a:prstGeom>
          <a:solidFill>
            <a:srgbClr val="C3E3F9"/>
          </a:solidFill>
          <a:ln>
            <a:noFill/>
          </a:ln>
          <a:effectLst/>
        </p:spPr>
        <p:txBody>
          <a:bodyPr wrap="none" anchor="ctr"/>
          <a:lstStyle/>
          <a:p>
            <a:pPr algn="ctr"/>
            <a:r>
              <a:rPr kumimoji="1" lang="zh-CN" altLang="en-US" sz="1600" b="1" dirty="0">
                <a:solidFill>
                  <a:srgbClr val="C00000"/>
                </a:solidFill>
                <a:latin typeface="微软雅黑 Light" panose="020B0502040204020203" pitchFamily="34" charset="-122"/>
                <a:ea typeface="微软雅黑 Light" panose="020B0502040204020203" pitchFamily="34" charset="-122"/>
              </a:rPr>
              <a:t>根</a:t>
            </a:r>
            <a:r>
              <a:rPr kumimoji="1" lang="zh-CN" altLang="en-US" sz="1600" b="1" dirty="0">
                <a:latin typeface="微软雅黑 Light" panose="020B0502040204020203" pitchFamily="34" charset="-122"/>
                <a:ea typeface="微软雅黑 Light" panose="020B0502040204020203" pitchFamily="34" charset="-122"/>
              </a:rPr>
              <a:t>（根没有名字）</a:t>
            </a:r>
          </a:p>
        </p:txBody>
      </p:sp>
      <p:grpSp>
        <p:nvGrpSpPr>
          <p:cNvPr id="82" name="Group 216"/>
          <p:cNvGrpSpPr>
            <a:grpSpLocks/>
          </p:cNvGrpSpPr>
          <p:nvPr/>
        </p:nvGrpSpPr>
        <p:grpSpPr bwMode="auto">
          <a:xfrm>
            <a:off x="1111677" y="3394713"/>
            <a:ext cx="6307201" cy="756537"/>
            <a:chOff x="113" y="2435"/>
            <a:chExt cx="4956" cy="644"/>
          </a:xfrm>
        </p:grpSpPr>
        <p:sp>
          <p:nvSpPr>
            <p:cNvPr id="84" name="Rectangle 130"/>
            <p:cNvSpPr>
              <a:spLocks noChangeArrowheads="1"/>
            </p:cNvSpPr>
            <p:nvPr/>
          </p:nvSpPr>
          <p:spPr bwMode="auto">
            <a:xfrm>
              <a:off x="113" y="2811"/>
              <a:ext cx="708" cy="260"/>
            </a:xfrm>
            <a:prstGeom prst="rect">
              <a:avLst/>
            </a:prstGeom>
            <a:solidFill>
              <a:srgbClr val="008000"/>
            </a:solidFill>
            <a:ln>
              <a:noFill/>
            </a:ln>
            <a:effectLst/>
            <a:extLst>
              <a:ext uri="{91240B29-F687-4F45-9708-019B960494DF}">
                <a14:hiddenLine xmlns:a14="http://schemas.microsoft.com/office/drawing/2010/main" w="19050" algn="ctr">
                  <a:solidFill>
                    <a:srgbClr val="CCECFF"/>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zh-CN" altLang="en-US" sz="1400" b="1" dirty="0">
                  <a:solidFill>
                    <a:schemeClr val="bg1"/>
                  </a:solidFill>
                  <a:latin typeface="微软雅黑 Light" panose="020B0502040204020203" pitchFamily="34" charset="-122"/>
                  <a:ea typeface="微软雅黑 Light" panose="020B0502040204020203" pitchFamily="34" charset="-122"/>
                </a:rPr>
                <a:t>四级域名</a:t>
              </a:r>
            </a:p>
          </p:txBody>
        </p:sp>
        <p:sp>
          <p:nvSpPr>
            <p:cNvPr id="85" name="Text Box 131"/>
            <p:cNvSpPr txBox="1">
              <a:spLocks noChangeArrowheads="1"/>
            </p:cNvSpPr>
            <p:nvPr/>
          </p:nvSpPr>
          <p:spPr bwMode="auto">
            <a:xfrm>
              <a:off x="3556" y="2817"/>
              <a:ext cx="408" cy="26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rgbClr val="0000CC"/>
                  </a:solidFill>
                  <a:latin typeface="微软雅黑 Light" panose="020B0502040204020203" pitchFamily="34" charset="-122"/>
                  <a:ea typeface="微软雅黑 Light" panose="020B0502040204020203" pitchFamily="34" charset="-122"/>
                </a:rPr>
                <a:t>mail</a:t>
              </a:r>
            </a:p>
          </p:txBody>
        </p:sp>
        <p:sp>
          <p:nvSpPr>
            <p:cNvPr id="86" name="Text Box 132"/>
            <p:cNvSpPr txBox="1">
              <a:spLocks noChangeArrowheads="1"/>
            </p:cNvSpPr>
            <p:nvPr/>
          </p:nvSpPr>
          <p:spPr bwMode="auto">
            <a:xfrm>
              <a:off x="4165" y="2801"/>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87" name="Text Box 151"/>
            <p:cNvSpPr txBox="1">
              <a:spLocks noChangeArrowheads="1"/>
            </p:cNvSpPr>
            <p:nvPr/>
          </p:nvSpPr>
          <p:spPr bwMode="auto">
            <a:xfrm>
              <a:off x="4614" y="2817"/>
              <a:ext cx="455" cy="26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rgbClr val="0000CC"/>
                  </a:solidFill>
                  <a:latin typeface="微软雅黑 Light" panose="020B0502040204020203" pitchFamily="34" charset="-122"/>
                  <a:ea typeface="微软雅黑 Light" panose="020B0502040204020203" pitchFamily="34" charset="-122"/>
                </a:rPr>
                <a:t>www</a:t>
              </a:r>
            </a:p>
          </p:txBody>
        </p:sp>
        <p:sp>
          <p:nvSpPr>
            <p:cNvPr id="88" name="Line 155"/>
            <p:cNvSpPr>
              <a:spLocks noChangeShapeType="1"/>
            </p:cNvSpPr>
            <p:nvPr/>
          </p:nvSpPr>
          <p:spPr bwMode="auto">
            <a:xfrm>
              <a:off x="4381" y="2435"/>
              <a:ext cx="437" cy="470"/>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9" name="Line 156"/>
            <p:cNvSpPr>
              <a:spLocks noChangeShapeType="1"/>
            </p:cNvSpPr>
            <p:nvPr/>
          </p:nvSpPr>
          <p:spPr bwMode="auto">
            <a:xfrm flipH="1">
              <a:off x="3819" y="2440"/>
              <a:ext cx="560" cy="44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90" name="Group 214"/>
          <p:cNvGrpSpPr>
            <a:grpSpLocks/>
          </p:cNvGrpSpPr>
          <p:nvPr/>
        </p:nvGrpSpPr>
        <p:grpSpPr bwMode="auto">
          <a:xfrm>
            <a:off x="1111677" y="1962694"/>
            <a:ext cx="6881162" cy="765934"/>
            <a:chOff x="113" y="1216"/>
            <a:chExt cx="5407" cy="652"/>
          </a:xfrm>
        </p:grpSpPr>
        <p:sp>
          <p:nvSpPr>
            <p:cNvPr id="92" name="Text Box 105"/>
            <p:cNvSpPr txBox="1">
              <a:spLocks noChangeArrowheads="1"/>
            </p:cNvSpPr>
            <p:nvPr/>
          </p:nvSpPr>
          <p:spPr bwMode="auto">
            <a:xfrm>
              <a:off x="1882" y="1576"/>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93" name="Text Box 115"/>
            <p:cNvSpPr txBox="1">
              <a:spLocks noChangeArrowheads="1"/>
            </p:cNvSpPr>
            <p:nvPr/>
          </p:nvSpPr>
          <p:spPr bwMode="auto">
            <a:xfrm>
              <a:off x="3956" y="1593"/>
              <a:ext cx="262"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bj</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94" name="Text Box 116"/>
            <p:cNvSpPr txBox="1">
              <a:spLocks noChangeArrowheads="1"/>
            </p:cNvSpPr>
            <p:nvPr/>
          </p:nvSpPr>
          <p:spPr bwMode="auto">
            <a:xfrm>
              <a:off x="4554" y="1592"/>
              <a:ext cx="389"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edu</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95" name="Text Box 117"/>
            <p:cNvSpPr txBox="1">
              <a:spLocks noChangeArrowheads="1"/>
            </p:cNvSpPr>
            <p:nvPr/>
          </p:nvSpPr>
          <p:spPr bwMode="auto">
            <a:xfrm>
              <a:off x="5097" y="1592"/>
              <a:ext cx="423"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com</a:t>
              </a:r>
            </a:p>
          </p:txBody>
        </p:sp>
        <p:sp>
          <p:nvSpPr>
            <p:cNvPr id="96" name="Text Box 118"/>
            <p:cNvSpPr txBox="1">
              <a:spLocks noChangeArrowheads="1"/>
            </p:cNvSpPr>
            <p:nvPr/>
          </p:nvSpPr>
          <p:spPr bwMode="auto">
            <a:xfrm>
              <a:off x="4277" y="1576"/>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97" name="Text Box 123"/>
            <p:cNvSpPr txBox="1">
              <a:spLocks noChangeArrowheads="1"/>
            </p:cNvSpPr>
            <p:nvPr/>
          </p:nvSpPr>
          <p:spPr bwMode="auto">
            <a:xfrm>
              <a:off x="1437" y="1592"/>
              <a:ext cx="396"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cctv</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98" name="Text Box 124"/>
            <p:cNvSpPr txBox="1">
              <a:spLocks noChangeArrowheads="1"/>
            </p:cNvSpPr>
            <p:nvPr/>
          </p:nvSpPr>
          <p:spPr bwMode="auto">
            <a:xfrm>
              <a:off x="2185" y="1591"/>
              <a:ext cx="38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ibm</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99" name="Text Box 125"/>
            <p:cNvSpPr txBox="1">
              <a:spLocks noChangeArrowheads="1"/>
            </p:cNvSpPr>
            <p:nvPr/>
          </p:nvSpPr>
          <p:spPr bwMode="auto">
            <a:xfrm>
              <a:off x="2546" y="1592"/>
              <a:ext cx="596"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huawei</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100" name="Rectangle 127"/>
            <p:cNvSpPr>
              <a:spLocks noChangeArrowheads="1"/>
            </p:cNvSpPr>
            <p:nvPr/>
          </p:nvSpPr>
          <p:spPr bwMode="auto">
            <a:xfrm>
              <a:off x="113" y="1608"/>
              <a:ext cx="708" cy="260"/>
            </a:xfrm>
            <a:prstGeom prst="rect">
              <a:avLst/>
            </a:prstGeom>
            <a:solidFill>
              <a:srgbClr val="0066FF"/>
            </a:solidFill>
            <a:ln>
              <a:noFill/>
            </a:ln>
            <a:effectLst/>
            <a:extLst>
              <a:ext uri="{91240B29-F687-4F45-9708-019B960494DF}">
                <a14:hiddenLine xmlns:a14="http://schemas.microsoft.com/office/drawing/2010/main" w="19050" algn="ctr">
                  <a:solidFill>
                    <a:srgbClr val="CCECFF"/>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zh-CN" altLang="en-US" sz="1400" b="1" dirty="0">
                  <a:solidFill>
                    <a:schemeClr val="bg1"/>
                  </a:solidFill>
                  <a:latin typeface="微软雅黑 Light" panose="020B0502040204020203" pitchFamily="34" charset="-122"/>
                  <a:ea typeface="微软雅黑 Light" panose="020B0502040204020203" pitchFamily="34" charset="-122"/>
                </a:rPr>
                <a:t>二级域名</a:t>
              </a:r>
            </a:p>
          </p:txBody>
        </p:sp>
        <p:sp>
          <p:nvSpPr>
            <p:cNvPr id="101" name="Line 142"/>
            <p:cNvSpPr>
              <a:spLocks noChangeShapeType="1"/>
            </p:cNvSpPr>
            <p:nvPr/>
          </p:nvSpPr>
          <p:spPr bwMode="auto">
            <a:xfrm>
              <a:off x="2180" y="1274"/>
              <a:ext cx="213" cy="373"/>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2" name="Line 143"/>
            <p:cNvSpPr>
              <a:spLocks noChangeShapeType="1"/>
            </p:cNvSpPr>
            <p:nvPr/>
          </p:nvSpPr>
          <p:spPr bwMode="auto">
            <a:xfrm>
              <a:off x="2173" y="1269"/>
              <a:ext cx="546" cy="34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3" name="Line 144"/>
            <p:cNvSpPr>
              <a:spLocks noChangeShapeType="1"/>
            </p:cNvSpPr>
            <p:nvPr/>
          </p:nvSpPr>
          <p:spPr bwMode="auto">
            <a:xfrm flipV="1">
              <a:off x="1672" y="1279"/>
              <a:ext cx="501" cy="348"/>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4" name="Line 145"/>
            <p:cNvSpPr>
              <a:spLocks noChangeShapeType="1"/>
            </p:cNvSpPr>
            <p:nvPr/>
          </p:nvSpPr>
          <p:spPr bwMode="auto">
            <a:xfrm>
              <a:off x="4662" y="1216"/>
              <a:ext cx="111" cy="431"/>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5" name="Line 146"/>
            <p:cNvSpPr>
              <a:spLocks noChangeShapeType="1"/>
            </p:cNvSpPr>
            <p:nvPr/>
          </p:nvSpPr>
          <p:spPr bwMode="auto">
            <a:xfrm>
              <a:off x="4665" y="1224"/>
              <a:ext cx="626" cy="40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6" name="Line 147"/>
            <p:cNvSpPr>
              <a:spLocks noChangeShapeType="1"/>
            </p:cNvSpPr>
            <p:nvPr/>
          </p:nvSpPr>
          <p:spPr bwMode="auto">
            <a:xfrm flipH="1">
              <a:off x="4090" y="1224"/>
              <a:ext cx="572" cy="39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107" name="Group 157"/>
            <p:cNvGrpSpPr>
              <a:grpSpLocks/>
            </p:cNvGrpSpPr>
            <p:nvPr/>
          </p:nvGrpSpPr>
          <p:grpSpPr bwMode="auto">
            <a:xfrm>
              <a:off x="1168" y="1244"/>
              <a:ext cx="268" cy="101"/>
              <a:chOff x="2875" y="1143"/>
              <a:chExt cx="330" cy="132"/>
            </a:xfrm>
          </p:grpSpPr>
          <p:sp>
            <p:nvSpPr>
              <p:cNvPr id="133" name="Line 158"/>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4" name="Line 159"/>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5" name="Line 160"/>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6" name="Line 161"/>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08" name="Group 162"/>
            <p:cNvGrpSpPr>
              <a:grpSpLocks/>
            </p:cNvGrpSpPr>
            <p:nvPr/>
          </p:nvGrpSpPr>
          <p:grpSpPr bwMode="auto">
            <a:xfrm>
              <a:off x="2507" y="1244"/>
              <a:ext cx="268" cy="101"/>
              <a:chOff x="2875" y="1143"/>
              <a:chExt cx="330" cy="132"/>
            </a:xfrm>
          </p:grpSpPr>
          <p:sp>
            <p:nvSpPr>
              <p:cNvPr id="129" name="Line 163"/>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0" name="Line 164"/>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1" name="Line 165"/>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2" name="Line 166"/>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09" name="Group 167"/>
            <p:cNvGrpSpPr>
              <a:grpSpLocks/>
            </p:cNvGrpSpPr>
            <p:nvPr/>
          </p:nvGrpSpPr>
          <p:grpSpPr bwMode="auto">
            <a:xfrm>
              <a:off x="2936" y="1244"/>
              <a:ext cx="268" cy="101"/>
              <a:chOff x="2875" y="1143"/>
              <a:chExt cx="330" cy="132"/>
            </a:xfrm>
          </p:grpSpPr>
          <p:sp>
            <p:nvSpPr>
              <p:cNvPr id="125" name="Line 168"/>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6" name="Line 169"/>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7" name="Line 170"/>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8" name="Line 171"/>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10" name="Group 172"/>
            <p:cNvGrpSpPr>
              <a:grpSpLocks/>
            </p:cNvGrpSpPr>
            <p:nvPr/>
          </p:nvGrpSpPr>
          <p:grpSpPr bwMode="auto">
            <a:xfrm>
              <a:off x="3363" y="1244"/>
              <a:ext cx="268" cy="101"/>
              <a:chOff x="2875" y="1143"/>
              <a:chExt cx="330" cy="132"/>
            </a:xfrm>
          </p:grpSpPr>
          <p:sp>
            <p:nvSpPr>
              <p:cNvPr id="121" name="Line 173"/>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2" name="Line 174"/>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3" name="Line 175"/>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4" name="Line 176"/>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11" name="Group 177"/>
            <p:cNvGrpSpPr>
              <a:grpSpLocks/>
            </p:cNvGrpSpPr>
            <p:nvPr/>
          </p:nvGrpSpPr>
          <p:grpSpPr bwMode="auto">
            <a:xfrm>
              <a:off x="3792" y="1244"/>
              <a:ext cx="268" cy="101"/>
              <a:chOff x="2875" y="1143"/>
              <a:chExt cx="330" cy="132"/>
            </a:xfrm>
          </p:grpSpPr>
          <p:sp>
            <p:nvSpPr>
              <p:cNvPr id="117" name="Line 178"/>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8" name="Line 179"/>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9" name="Line 180"/>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0" name="Line 181"/>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12" name="Group 182"/>
            <p:cNvGrpSpPr>
              <a:grpSpLocks/>
            </p:cNvGrpSpPr>
            <p:nvPr/>
          </p:nvGrpSpPr>
          <p:grpSpPr bwMode="auto">
            <a:xfrm>
              <a:off x="4935" y="1244"/>
              <a:ext cx="268" cy="101"/>
              <a:chOff x="2875" y="1143"/>
              <a:chExt cx="330" cy="132"/>
            </a:xfrm>
          </p:grpSpPr>
          <p:sp>
            <p:nvSpPr>
              <p:cNvPr id="113" name="Line 183"/>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4" name="Line 184"/>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5" name="Line 185"/>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6" name="Line 186"/>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grpSp>
        <p:nvGrpSpPr>
          <p:cNvPr id="137" name="Group 215"/>
          <p:cNvGrpSpPr>
            <a:grpSpLocks/>
          </p:cNvGrpSpPr>
          <p:nvPr/>
        </p:nvGrpSpPr>
        <p:grpSpPr bwMode="auto">
          <a:xfrm>
            <a:off x="1111677" y="2617023"/>
            <a:ext cx="6895162" cy="815271"/>
            <a:chOff x="113" y="1773"/>
            <a:chExt cx="5418" cy="694"/>
          </a:xfrm>
        </p:grpSpPr>
        <p:sp>
          <p:nvSpPr>
            <p:cNvPr id="139" name="Text Box 119"/>
            <p:cNvSpPr txBox="1">
              <a:spLocks noChangeArrowheads="1"/>
            </p:cNvSpPr>
            <p:nvPr/>
          </p:nvSpPr>
          <p:spPr bwMode="auto">
            <a:xfrm>
              <a:off x="5150" y="2205"/>
              <a:ext cx="381"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pku</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140" name="Text Box 120"/>
            <p:cNvSpPr txBox="1">
              <a:spLocks noChangeArrowheads="1"/>
            </p:cNvSpPr>
            <p:nvPr/>
          </p:nvSpPr>
          <p:spPr bwMode="auto">
            <a:xfrm>
              <a:off x="3924" y="2205"/>
              <a:ext cx="688"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tsinghua</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141" name="Text Box 121"/>
            <p:cNvSpPr txBox="1">
              <a:spLocks noChangeArrowheads="1"/>
            </p:cNvSpPr>
            <p:nvPr/>
          </p:nvSpPr>
          <p:spPr bwMode="auto">
            <a:xfrm>
              <a:off x="4754" y="2166"/>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142" name="Rectangle 128"/>
            <p:cNvSpPr>
              <a:spLocks noChangeArrowheads="1"/>
            </p:cNvSpPr>
            <p:nvPr/>
          </p:nvSpPr>
          <p:spPr bwMode="auto">
            <a:xfrm>
              <a:off x="113" y="2182"/>
              <a:ext cx="708" cy="260"/>
            </a:xfrm>
            <a:prstGeom prst="rect">
              <a:avLst/>
            </a:prstGeom>
            <a:solidFill>
              <a:srgbClr val="CC00CC"/>
            </a:solidFill>
            <a:ln>
              <a:noFill/>
            </a:ln>
            <a:effectLst/>
            <a:extLst>
              <a:ext uri="{91240B29-F687-4F45-9708-019B960494DF}">
                <a14:hiddenLine xmlns:a14="http://schemas.microsoft.com/office/drawing/2010/main" w="19050" algn="ctr">
                  <a:solidFill>
                    <a:srgbClr val="CCECFF"/>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zh-CN" altLang="en-US" sz="1400" b="1" dirty="0">
                  <a:solidFill>
                    <a:schemeClr val="bg1"/>
                  </a:solidFill>
                  <a:latin typeface="微软雅黑 Light" panose="020B0502040204020203" pitchFamily="34" charset="-122"/>
                  <a:ea typeface="微软雅黑 Light" panose="020B0502040204020203" pitchFamily="34" charset="-122"/>
                </a:rPr>
                <a:t>三级域名</a:t>
              </a:r>
            </a:p>
          </p:txBody>
        </p:sp>
        <p:sp>
          <p:nvSpPr>
            <p:cNvPr id="143" name="Text Box 129"/>
            <p:cNvSpPr txBox="1">
              <a:spLocks noChangeArrowheads="1"/>
            </p:cNvSpPr>
            <p:nvPr/>
          </p:nvSpPr>
          <p:spPr bwMode="auto">
            <a:xfrm>
              <a:off x="1064" y="2205"/>
              <a:ext cx="408" cy="26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rgbClr val="0000CC"/>
                  </a:solidFill>
                  <a:latin typeface="微软雅黑 Light" panose="020B0502040204020203" pitchFamily="34" charset="-122"/>
                  <a:ea typeface="微软雅黑 Light" panose="020B0502040204020203" pitchFamily="34" charset="-122"/>
                </a:rPr>
                <a:t>mail</a:t>
              </a:r>
            </a:p>
          </p:txBody>
        </p:sp>
        <p:sp>
          <p:nvSpPr>
            <p:cNvPr id="144" name="Line 148"/>
            <p:cNvSpPr>
              <a:spLocks noChangeShapeType="1"/>
            </p:cNvSpPr>
            <p:nvPr/>
          </p:nvSpPr>
          <p:spPr bwMode="auto">
            <a:xfrm flipH="1">
              <a:off x="4386" y="1773"/>
              <a:ext cx="387" cy="420"/>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5" name="Line 149"/>
            <p:cNvSpPr>
              <a:spLocks noChangeShapeType="1"/>
            </p:cNvSpPr>
            <p:nvPr/>
          </p:nvSpPr>
          <p:spPr bwMode="auto">
            <a:xfrm>
              <a:off x="4792" y="1784"/>
              <a:ext cx="548" cy="430"/>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6" name="Text Box 150"/>
            <p:cNvSpPr txBox="1">
              <a:spLocks noChangeArrowheads="1"/>
            </p:cNvSpPr>
            <p:nvPr/>
          </p:nvSpPr>
          <p:spPr bwMode="auto">
            <a:xfrm>
              <a:off x="1826" y="2205"/>
              <a:ext cx="455" cy="26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rgbClr val="0000CC"/>
                  </a:solidFill>
                  <a:latin typeface="微软雅黑 Light" panose="020B0502040204020203" pitchFamily="34" charset="-122"/>
                  <a:ea typeface="微软雅黑 Light" panose="020B0502040204020203" pitchFamily="34" charset="-122"/>
                </a:rPr>
                <a:t>www</a:t>
              </a:r>
            </a:p>
          </p:txBody>
        </p:sp>
        <p:sp>
          <p:nvSpPr>
            <p:cNvPr id="147" name="Text Box 152"/>
            <p:cNvSpPr txBox="1">
              <a:spLocks noChangeArrowheads="1"/>
            </p:cNvSpPr>
            <p:nvPr/>
          </p:nvSpPr>
          <p:spPr bwMode="auto">
            <a:xfrm>
              <a:off x="1519" y="2166"/>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148" name="Line 153"/>
            <p:cNvSpPr>
              <a:spLocks noChangeShapeType="1"/>
            </p:cNvSpPr>
            <p:nvPr/>
          </p:nvSpPr>
          <p:spPr bwMode="auto">
            <a:xfrm flipV="1">
              <a:off x="1274" y="1794"/>
              <a:ext cx="383" cy="44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9" name="Line 154"/>
            <p:cNvSpPr>
              <a:spLocks noChangeShapeType="1"/>
            </p:cNvSpPr>
            <p:nvPr/>
          </p:nvSpPr>
          <p:spPr bwMode="auto">
            <a:xfrm>
              <a:off x="1657" y="1794"/>
              <a:ext cx="361" cy="473"/>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150" name="Group 187"/>
            <p:cNvGrpSpPr>
              <a:grpSpLocks/>
            </p:cNvGrpSpPr>
            <p:nvPr/>
          </p:nvGrpSpPr>
          <p:grpSpPr bwMode="auto">
            <a:xfrm>
              <a:off x="2613" y="1797"/>
              <a:ext cx="269" cy="101"/>
              <a:chOff x="2875" y="1143"/>
              <a:chExt cx="330" cy="132"/>
            </a:xfrm>
          </p:grpSpPr>
          <p:sp>
            <p:nvSpPr>
              <p:cNvPr id="166" name="Line 188"/>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7" name="Line 189"/>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8" name="Line 190"/>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9" name="Line 191"/>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51" name="Group 192"/>
            <p:cNvGrpSpPr>
              <a:grpSpLocks/>
            </p:cNvGrpSpPr>
            <p:nvPr/>
          </p:nvGrpSpPr>
          <p:grpSpPr bwMode="auto">
            <a:xfrm>
              <a:off x="5131" y="1797"/>
              <a:ext cx="268" cy="101"/>
              <a:chOff x="2875" y="1143"/>
              <a:chExt cx="330" cy="132"/>
            </a:xfrm>
          </p:grpSpPr>
          <p:sp>
            <p:nvSpPr>
              <p:cNvPr id="162" name="Line 193"/>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3" name="Line 194"/>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4" name="Line 195"/>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5" name="Line 196"/>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52" name="Group 197"/>
            <p:cNvGrpSpPr>
              <a:grpSpLocks/>
            </p:cNvGrpSpPr>
            <p:nvPr/>
          </p:nvGrpSpPr>
          <p:grpSpPr bwMode="auto">
            <a:xfrm>
              <a:off x="2239" y="1797"/>
              <a:ext cx="268" cy="101"/>
              <a:chOff x="2875" y="1143"/>
              <a:chExt cx="330" cy="132"/>
            </a:xfrm>
          </p:grpSpPr>
          <p:sp>
            <p:nvSpPr>
              <p:cNvPr id="158" name="Line 198"/>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9" name="Line 199"/>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0" name="Line 200"/>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1" name="Line 201"/>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53" name="Group 202"/>
            <p:cNvGrpSpPr>
              <a:grpSpLocks/>
            </p:cNvGrpSpPr>
            <p:nvPr/>
          </p:nvGrpSpPr>
          <p:grpSpPr bwMode="auto">
            <a:xfrm>
              <a:off x="3953" y="1797"/>
              <a:ext cx="268" cy="101"/>
              <a:chOff x="2875" y="1143"/>
              <a:chExt cx="330" cy="132"/>
            </a:xfrm>
          </p:grpSpPr>
          <p:sp>
            <p:nvSpPr>
              <p:cNvPr id="154" name="Line 203"/>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5" name="Line 204"/>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6" name="Line 205"/>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7" name="Line 206"/>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grpSp>
        <p:nvGrpSpPr>
          <p:cNvPr id="170" name="Group 213"/>
          <p:cNvGrpSpPr>
            <a:grpSpLocks/>
          </p:cNvGrpSpPr>
          <p:nvPr/>
        </p:nvGrpSpPr>
        <p:grpSpPr bwMode="auto">
          <a:xfrm>
            <a:off x="1111677" y="1364746"/>
            <a:ext cx="6859528" cy="682525"/>
            <a:chOff x="113" y="707"/>
            <a:chExt cx="5390" cy="581"/>
          </a:xfrm>
        </p:grpSpPr>
        <p:sp>
          <p:nvSpPr>
            <p:cNvPr id="172" name="Text Box 106"/>
            <p:cNvSpPr txBox="1">
              <a:spLocks noChangeArrowheads="1"/>
            </p:cNvSpPr>
            <p:nvPr/>
          </p:nvSpPr>
          <p:spPr bwMode="auto">
            <a:xfrm>
              <a:off x="1975" y="1026"/>
              <a:ext cx="423"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com</a:t>
              </a:r>
            </a:p>
          </p:txBody>
        </p:sp>
        <p:sp>
          <p:nvSpPr>
            <p:cNvPr id="173" name="Text Box 107"/>
            <p:cNvSpPr txBox="1">
              <a:spLocks noChangeArrowheads="1"/>
            </p:cNvSpPr>
            <p:nvPr/>
          </p:nvSpPr>
          <p:spPr bwMode="auto">
            <a:xfrm>
              <a:off x="2472" y="1026"/>
              <a:ext cx="349"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net</a:t>
              </a:r>
            </a:p>
          </p:txBody>
        </p:sp>
        <p:sp>
          <p:nvSpPr>
            <p:cNvPr id="174" name="Text Box 108"/>
            <p:cNvSpPr txBox="1">
              <a:spLocks noChangeArrowheads="1"/>
            </p:cNvSpPr>
            <p:nvPr/>
          </p:nvSpPr>
          <p:spPr bwMode="auto">
            <a:xfrm>
              <a:off x="2900" y="1026"/>
              <a:ext cx="364"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org</a:t>
              </a:r>
            </a:p>
          </p:txBody>
        </p:sp>
        <p:sp>
          <p:nvSpPr>
            <p:cNvPr id="175" name="Text Box 109"/>
            <p:cNvSpPr txBox="1">
              <a:spLocks noChangeArrowheads="1"/>
            </p:cNvSpPr>
            <p:nvPr/>
          </p:nvSpPr>
          <p:spPr bwMode="auto">
            <a:xfrm>
              <a:off x="3329" y="1026"/>
              <a:ext cx="389"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edu</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176" name="Text Box 110"/>
            <p:cNvSpPr txBox="1">
              <a:spLocks noChangeArrowheads="1"/>
            </p:cNvSpPr>
            <p:nvPr/>
          </p:nvSpPr>
          <p:spPr bwMode="auto">
            <a:xfrm>
              <a:off x="3758" y="1026"/>
              <a:ext cx="386"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gov</a:t>
              </a:r>
            </a:p>
          </p:txBody>
        </p:sp>
        <p:sp>
          <p:nvSpPr>
            <p:cNvPr id="177" name="Text Box 111"/>
            <p:cNvSpPr txBox="1">
              <a:spLocks noChangeArrowheads="1"/>
            </p:cNvSpPr>
            <p:nvPr/>
          </p:nvSpPr>
          <p:spPr bwMode="auto">
            <a:xfrm>
              <a:off x="1114" y="1026"/>
              <a:ext cx="431"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aero</a:t>
              </a:r>
            </a:p>
          </p:txBody>
        </p:sp>
        <p:sp>
          <p:nvSpPr>
            <p:cNvPr id="178" name="Text Box 112"/>
            <p:cNvSpPr txBox="1">
              <a:spLocks noChangeArrowheads="1"/>
            </p:cNvSpPr>
            <p:nvPr/>
          </p:nvSpPr>
          <p:spPr bwMode="auto">
            <a:xfrm>
              <a:off x="4489" y="1026"/>
              <a:ext cx="295"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cn</a:t>
              </a:r>
            </a:p>
          </p:txBody>
        </p:sp>
        <p:sp>
          <p:nvSpPr>
            <p:cNvPr id="179" name="Text Box 113"/>
            <p:cNvSpPr txBox="1">
              <a:spLocks noChangeArrowheads="1"/>
            </p:cNvSpPr>
            <p:nvPr/>
          </p:nvSpPr>
          <p:spPr bwMode="auto">
            <a:xfrm>
              <a:off x="4918" y="1026"/>
              <a:ext cx="295"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uk</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180" name="Text Box 114"/>
            <p:cNvSpPr txBox="1">
              <a:spLocks noChangeArrowheads="1"/>
            </p:cNvSpPr>
            <p:nvPr/>
          </p:nvSpPr>
          <p:spPr bwMode="auto">
            <a:xfrm>
              <a:off x="5256" y="987"/>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181" name="Rectangle 126"/>
            <p:cNvSpPr>
              <a:spLocks noChangeArrowheads="1"/>
            </p:cNvSpPr>
            <p:nvPr/>
          </p:nvSpPr>
          <p:spPr bwMode="auto">
            <a:xfrm>
              <a:off x="113" y="1005"/>
              <a:ext cx="708" cy="260"/>
            </a:xfrm>
            <a:prstGeom prst="rect">
              <a:avLst/>
            </a:prstGeom>
            <a:solidFill>
              <a:srgbClr val="0000FF"/>
            </a:solidFill>
            <a:ln>
              <a:noFill/>
            </a:ln>
            <a:effectLst/>
            <a:extLst>
              <a:ext uri="{91240B29-F687-4F45-9708-019B960494DF}">
                <a14:hiddenLine xmlns:a14="http://schemas.microsoft.com/office/drawing/2010/main" w="19050">
                  <a:solidFill>
                    <a:srgbClr val="CCECFF"/>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zh-CN" altLang="en-US" sz="1400" b="1" dirty="0">
                  <a:solidFill>
                    <a:schemeClr val="bg1"/>
                  </a:solidFill>
                  <a:latin typeface="微软雅黑 Light" panose="020B0502040204020203" pitchFamily="34" charset="-122"/>
                  <a:ea typeface="微软雅黑 Light" panose="020B0502040204020203" pitchFamily="34" charset="-122"/>
                </a:rPr>
                <a:t>顶级域名</a:t>
              </a:r>
            </a:p>
          </p:txBody>
        </p:sp>
        <p:sp>
          <p:nvSpPr>
            <p:cNvPr id="182" name="Line 133"/>
            <p:cNvSpPr>
              <a:spLocks noChangeShapeType="1"/>
            </p:cNvSpPr>
            <p:nvPr/>
          </p:nvSpPr>
          <p:spPr bwMode="auto">
            <a:xfrm flipH="1">
              <a:off x="2201" y="712"/>
              <a:ext cx="1068" cy="38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3" name="Line 134"/>
            <p:cNvSpPr>
              <a:spLocks noChangeShapeType="1"/>
            </p:cNvSpPr>
            <p:nvPr/>
          </p:nvSpPr>
          <p:spPr bwMode="auto">
            <a:xfrm flipH="1">
              <a:off x="2681" y="730"/>
              <a:ext cx="575" cy="35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4" name="Line 135"/>
            <p:cNvSpPr>
              <a:spLocks noChangeShapeType="1"/>
            </p:cNvSpPr>
            <p:nvPr/>
          </p:nvSpPr>
          <p:spPr bwMode="auto">
            <a:xfrm flipH="1">
              <a:off x="3134" y="730"/>
              <a:ext cx="131" cy="344"/>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5" name="Line 136"/>
            <p:cNvSpPr>
              <a:spLocks noChangeShapeType="1"/>
            </p:cNvSpPr>
            <p:nvPr/>
          </p:nvSpPr>
          <p:spPr bwMode="auto">
            <a:xfrm>
              <a:off x="3277" y="723"/>
              <a:ext cx="249" cy="365"/>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6" name="Line 137"/>
            <p:cNvSpPr>
              <a:spLocks noChangeShapeType="1"/>
            </p:cNvSpPr>
            <p:nvPr/>
          </p:nvSpPr>
          <p:spPr bwMode="auto">
            <a:xfrm>
              <a:off x="3275" y="715"/>
              <a:ext cx="681" cy="375"/>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7" name="Line 138"/>
            <p:cNvSpPr>
              <a:spLocks noChangeShapeType="1"/>
            </p:cNvSpPr>
            <p:nvPr/>
          </p:nvSpPr>
          <p:spPr bwMode="auto">
            <a:xfrm>
              <a:off x="3288" y="708"/>
              <a:ext cx="1353" cy="377"/>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8" name="Line 139"/>
            <p:cNvSpPr>
              <a:spLocks noChangeShapeType="1"/>
            </p:cNvSpPr>
            <p:nvPr/>
          </p:nvSpPr>
          <p:spPr bwMode="auto">
            <a:xfrm flipH="1">
              <a:off x="1358" y="707"/>
              <a:ext cx="1933" cy="370"/>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9" name="Line 140"/>
            <p:cNvSpPr>
              <a:spLocks noChangeShapeType="1"/>
            </p:cNvSpPr>
            <p:nvPr/>
          </p:nvSpPr>
          <p:spPr bwMode="auto">
            <a:xfrm>
              <a:off x="3250" y="709"/>
              <a:ext cx="1777" cy="351"/>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90" name="Text Box 141"/>
            <p:cNvSpPr txBox="1">
              <a:spLocks noChangeArrowheads="1"/>
            </p:cNvSpPr>
            <p:nvPr/>
          </p:nvSpPr>
          <p:spPr bwMode="auto">
            <a:xfrm>
              <a:off x="1647" y="986"/>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191" name="Text Box 207"/>
            <p:cNvSpPr txBox="1">
              <a:spLocks noChangeArrowheads="1"/>
            </p:cNvSpPr>
            <p:nvPr/>
          </p:nvSpPr>
          <p:spPr bwMode="auto">
            <a:xfrm>
              <a:off x="4147" y="985"/>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grpSp>
      <p:sp>
        <p:nvSpPr>
          <p:cNvPr id="2" name="矩形 1"/>
          <p:cNvSpPr/>
          <p:nvPr/>
        </p:nvSpPr>
        <p:spPr>
          <a:xfrm>
            <a:off x="1447060" y="4218679"/>
            <a:ext cx="6702641" cy="369332"/>
          </a:xfrm>
          <a:prstGeom prst="rect">
            <a:avLst/>
          </a:prstGeom>
        </p:spPr>
        <p:txBody>
          <a:bodyPr wrap="square">
            <a:spAutoFit/>
          </a:bodyPr>
          <a:lstStyle/>
          <a:p>
            <a:r>
              <a:rPr lang="zh-CN" altLang="en-US" b="1" dirty="0">
                <a:latin typeface="微软雅黑 Light" panose="020B0502040204020203" pitchFamily="34" charset="-122"/>
                <a:ea typeface="微软雅黑 Light" panose="020B0502040204020203" pitchFamily="34" charset="-122"/>
              </a:rPr>
              <a:t>域名树的</a:t>
            </a:r>
            <a:r>
              <a:rPr lang="zh-CN" altLang="en-US" b="1" dirty="0">
                <a:solidFill>
                  <a:srgbClr val="C00000"/>
                </a:solidFill>
                <a:latin typeface="微软雅黑 Light" panose="020B0502040204020203" pitchFamily="34" charset="-122"/>
                <a:ea typeface="微软雅黑 Light" panose="020B0502040204020203" pitchFamily="34" charset="-122"/>
              </a:rPr>
              <a:t>树叶</a:t>
            </a:r>
            <a:r>
              <a:rPr lang="zh-CN" altLang="en-US" b="1" dirty="0">
                <a:latin typeface="微软雅黑 Light" panose="020B0502040204020203" pitchFamily="34" charset="-122"/>
                <a:ea typeface="微软雅黑 Light" panose="020B0502040204020203" pitchFamily="34" charset="-122"/>
              </a:rPr>
              <a:t>就是计算机的名字，它不能再继续往下划分子域了。</a:t>
            </a:r>
          </a:p>
        </p:txBody>
      </p:sp>
    </p:spTree>
    <p:extLst>
      <p:ext uri="{BB962C8B-B14F-4D97-AF65-F5344CB8AC3E}">
        <p14:creationId xmlns:p14="http://schemas.microsoft.com/office/powerpoint/2010/main" val="31222748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withEffect">
                                  <p:stCondLst>
                                    <p:cond delay="0"/>
                                  </p:stCondLst>
                                  <p:childTnLst>
                                    <p:set>
                                      <p:cBhvr>
                                        <p:cTn id="6" dur="1" fill="hold">
                                          <p:stCondLst>
                                            <p:cond delay="0"/>
                                          </p:stCondLst>
                                        </p:cTn>
                                        <p:tgtEl>
                                          <p:spTgt spid="170"/>
                                        </p:tgtEl>
                                        <p:attrNameLst>
                                          <p:attrName>style.visibility</p:attrName>
                                        </p:attrNameLst>
                                      </p:cBhvr>
                                      <p:to>
                                        <p:strVal val="visible"/>
                                      </p:to>
                                    </p:set>
                                    <p:animEffect transition="in" filter="wipe(up)">
                                      <p:cBhvr>
                                        <p:cTn id="7" dur="1000"/>
                                        <p:tgtEl>
                                          <p:spTgt spid="170"/>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90"/>
                                        </p:tgtEl>
                                        <p:attrNameLst>
                                          <p:attrName>style.visibility</p:attrName>
                                        </p:attrNameLst>
                                      </p:cBhvr>
                                      <p:to>
                                        <p:strVal val="visible"/>
                                      </p:to>
                                    </p:set>
                                    <p:animEffect transition="in" filter="wipe(up)">
                                      <p:cBhvr>
                                        <p:cTn id="12" dur="1000"/>
                                        <p:tgtEl>
                                          <p:spTgt spid="9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137"/>
                                        </p:tgtEl>
                                        <p:attrNameLst>
                                          <p:attrName>style.visibility</p:attrName>
                                        </p:attrNameLst>
                                      </p:cBhvr>
                                      <p:to>
                                        <p:strVal val="visible"/>
                                      </p:to>
                                    </p:set>
                                    <p:animEffect transition="in" filter="wipe(up)">
                                      <p:cBhvr>
                                        <p:cTn id="17" dur="1000"/>
                                        <p:tgtEl>
                                          <p:spTgt spid="13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82"/>
                                        </p:tgtEl>
                                        <p:attrNameLst>
                                          <p:attrName>style.visibility</p:attrName>
                                        </p:attrNameLst>
                                      </p:cBhvr>
                                      <p:to>
                                        <p:strVal val="visible"/>
                                      </p:to>
                                    </p:set>
                                    <p:animEffect transition="in" filter="wipe(up)">
                                      <p:cBhvr>
                                        <p:cTn id="22" dur="1000"/>
                                        <p:tgtEl>
                                          <p:spTgt spid="82"/>
                                        </p:tgtEl>
                                      </p:cBhvr>
                                    </p:animEffect>
                                  </p:childTnLst>
                                </p:cTn>
                              </p:par>
                            </p:childTnLst>
                          </p:cTn>
                        </p:par>
                        <p:par>
                          <p:cTn id="23" fill="hold">
                            <p:stCondLst>
                              <p:cond delay="1000"/>
                            </p:stCondLst>
                            <p:childTnLst>
                              <p:par>
                                <p:cTn id="24" presetID="10" presetClass="entr" presetSubtype="0" fill="hold" grpId="0" nodeType="afterEffect">
                                  <p:stCondLst>
                                    <p:cond delay="0"/>
                                  </p:stCondLst>
                                  <p:childTnLst>
                                    <p:set>
                                      <p:cBhvr>
                                        <p:cTn id="25" dur="1" fill="hold">
                                          <p:stCondLst>
                                            <p:cond delay="0"/>
                                          </p:stCondLst>
                                        </p:cTn>
                                        <p:tgtEl>
                                          <p:spTgt spid="2"/>
                                        </p:tgtEl>
                                        <p:attrNameLst>
                                          <p:attrName>style.visibility</p:attrName>
                                        </p:attrNameLst>
                                      </p:cBhvr>
                                      <p:to>
                                        <p:strVal val="visible"/>
                                      </p:to>
                                    </p:set>
                                    <p:animEffect transition="in" filter="fade">
                                      <p:cBhvr>
                                        <p:cTn id="26"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E7A7377-268B-9122-F7A8-CD4766EC2F5A}"/>
              </a:ext>
            </a:extLst>
          </p:cNvPr>
          <p:cNvSpPr>
            <a:spLocks noGrp="1"/>
          </p:cNvSpPr>
          <p:nvPr>
            <p:ph type="title"/>
          </p:nvPr>
        </p:nvSpPr>
        <p:spPr>
          <a:xfrm>
            <a:off x="485999" y="174482"/>
            <a:ext cx="8171999" cy="338554"/>
          </a:xfrm>
        </p:spPr>
        <p:txBody>
          <a:bodyPr/>
          <a:lstStyle/>
          <a:p>
            <a:r>
              <a:rPr lang="zh-CN" altLang="en-US" dirty="0"/>
              <a:t>互联网的域名空间结构</a:t>
            </a:r>
          </a:p>
        </p:txBody>
      </p:sp>
      <p:sp>
        <p:nvSpPr>
          <p:cNvPr id="5" name="内容占位符 4">
            <a:extLst>
              <a:ext uri="{FF2B5EF4-FFF2-40B4-BE49-F238E27FC236}">
                <a16:creationId xmlns:a16="http://schemas.microsoft.com/office/drawing/2014/main" id="{C5015F1F-795B-051B-63D9-BEEB5F8644A6}"/>
              </a:ext>
            </a:extLst>
          </p:cNvPr>
          <p:cNvSpPr>
            <a:spLocks noGrp="1"/>
          </p:cNvSpPr>
          <p:nvPr>
            <p:ph sz="quarter" idx="11"/>
          </p:nvPr>
        </p:nvSpPr>
        <p:spPr>
          <a:xfrm>
            <a:off x="486000" y="687518"/>
            <a:ext cx="8172000" cy="4079035"/>
          </a:xfrm>
        </p:spPr>
        <p:txBody>
          <a:bodyPr/>
          <a:lstStyle/>
          <a:p>
            <a:r>
              <a:rPr lang="zh-CN" altLang="en-US" dirty="0"/>
              <a:t>注意：互联网的名字空间是按照机构的组织来划分的，与物理的网络无关，与 </a:t>
            </a:r>
            <a:r>
              <a:rPr lang="en-US" altLang="zh-CN" dirty="0"/>
              <a:t>IP </a:t>
            </a:r>
            <a:r>
              <a:rPr lang="zh-CN" altLang="en-US" dirty="0"/>
              <a:t>地址中的“子网”也没有关系。</a:t>
            </a:r>
          </a:p>
          <a:p>
            <a:endParaRPr lang="zh-CN" altLang="en-US" dirty="0"/>
          </a:p>
        </p:txBody>
      </p:sp>
    </p:spTree>
    <p:extLst>
      <p:ext uri="{BB962C8B-B14F-4D97-AF65-F5344CB8AC3E}">
        <p14:creationId xmlns:p14="http://schemas.microsoft.com/office/powerpoint/2010/main" val="1811348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0EB2A92A-19AB-55D9-295A-4999AFC2517A}"/>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a:t>
            </a:r>
          </a:p>
        </p:txBody>
      </p:sp>
      <p:sp>
        <p:nvSpPr>
          <p:cNvPr id="4" name="内容占位符 3">
            <a:extLst>
              <a:ext uri="{FF2B5EF4-FFF2-40B4-BE49-F238E27FC236}">
                <a16:creationId xmlns:a16="http://schemas.microsoft.com/office/drawing/2014/main" id="{566EE599-A05A-72C5-A571-993C4710FE8E}"/>
              </a:ext>
            </a:extLst>
          </p:cNvPr>
          <p:cNvSpPr>
            <a:spLocks noGrp="1"/>
          </p:cNvSpPr>
          <p:nvPr>
            <p:ph sz="quarter" idx="11"/>
          </p:nvPr>
        </p:nvSpPr>
        <p:spPr>
          <a:xfrm>
            <a:off x="486000" y="687518"/>
            <a:ext cx="8172000" cy="4079035"/>
          </a:xfrm>
        </p:spPr>
        <p:txBody>
          <a:bodyPr/>
          <a:lstStyle/>
          <a:p>
            <a:r>
              <a:rPr lang="zh-CN" altLang="en-US" dirty="0"/>
              <a:t>实现域名系统使用分布在各地的域名服务器 </a:t>
            </a:r>
            <a:r>
              <a:rPr lang="en-US" altLang="zh-CN" dirty="0"/>
              <a:t>DNS </a:t>
            </a:r>
            <a:r>
              <a:rPr lang="zh-CN" altLang="en-US" dirty="0"/>
              <a:t>服务器</a:t>
            </a:r>
            <a:endParaRPr lang="en-US" altLang="zh-CN" dirty="0"/>
          </a:p>
          <a:p>
            <a:r>
              <a:rPr lang="zh-CN" altLang="en-US" dirty="0"/>
              <a:t>一个服务器所负责管辖的（或有权限的）范围叫做区 </a:t>
            </a:r>
            <a:r>
              <a:rPr lang="en-US" altLang="zh-CN" dirty="0"/>
              <a:t>zone</a:t>
            </a:r>
            <a:endParaRPr lang="zh-CN" altLang="en-US" dirty="0"/>
          </a:p>
          <a:p>
            <a:r>
              <a:rPr lang="zh-CN" altLang="en-US" dirty="0"/>
              <a:t>各单位根据具体情况划分自己管辖的区</a:t>
            </a:r>
            <a:endParaRPr lang="en-US" altLang="zh-CN" dirty="0"/>
          </a:p>
          <a:p>
            <a:r>
              <a:rPr lang="zh-CN" altLang="en-US" dirty="0"/>
              <a:t>一个区中的所有节点必须能够连通</a:t>
            </a:r>
          </a:p>
          <a:p>
            <a:r>
              <a:rPr lang="zh-CN" altLang="en-US" dirty="0"/>
              <a:t>每个区设置权限域名服务器保存该区中的所有主机的域名到 </a:t>
            </a:r>
            <a:r>
              <a:rPr lang="en-US" altLang="zh-CN" dirty="0"/>
              <a:t>IP </a:t>
            </a:r>
            <a:r>
              <a:rPr lang="zh-CN" altLang="en-US" dirty="0"/>
              <a:t>地址的映射</a:t>
            </a:r>
            <a:endParaRPr lang="en-US" altLang="zh-CN" dirty="0"/>
          </a:p>
          <a:p>
            <a:r>
              <a:rPr lang="en-US" altLang="zh-CN" dirty="0"/>
              <a:t>DNS </a:t>
            </a:r>
            <a:r>
              <a:rPr lang="zh-CN" altLang="en-US" dirty="0"/>
              <a:t>服务器的管辖范围不是以域为单位，而是以区为单位</a:t>
            </a:r>
            <a:endParaRPr lang="en-US" altLang="zh-CN" dirty="0"/>
          </a:p>
          <a:p>
            <a:endParaRPr lang="zh-CN" altLang="en-US" dirty="0"/>
          </a:p>
          <a:p>
            <a:endParaRPr lang="zh-CN" altLang="en-US" dirty="0"/>
          </a:p>
        </p:txBody>
      </p:sp>
    </p:spTree>
    <p:extLst>
      <p:ext uri="{BB962C8B-B14F-4D97-AF65-F5344CB8AC3E}">
        <p14:creationId xmlns:p14="http://schemas.microsoft.com/office/powerpoint/2010/main" val="21170489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AutoShape 95"/>
          <p:cNvSpPr>
            <a:spLocks noChangeArrowheads="1"/>
          </p:cNvSpPr>
          <p:nvPr/>
        </p:nvSpPr>
        <p:spPr bwMode="auto">
          <a:xfrm>
            <a:off x="1691868" y="2263871"/>
            <a:ext cx="2761795" cy="1592984"/>
          </a:xfrm>
          <a:prstGeom prst="roundRect">
            <a:avLst>
              <a:gd name="adj" fmla="val 9319"/>
            </a:avLst>
          </a:prstGeom>
          <a:solidFill>
            <a:srgbClr val="0000FF"/>
          </a:solidFill>
          <a:ln w="9525">
            <a:solidFill>
              <a:schemeClr val="tx1"/>
            </a:solidFill>
            <a:prstDash val="dash"/>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grpSp>
        <p:nvGrpSpPr>
          <p:cNvPr id="31" name="Group 173"/>
          <p:cNvGrpSpPr>
            <a:grpSpLocks/>
          </p:cNvGrpSpPr>
          <p:nvPr/>
        </p:nvGrpSpPr>
        <p:grpSpPr bwMode="auto">
          <a:xfrm>
            <a:off x="4689084" y="1219433"/>
            <a:ext cx="2775277" cy="2956210"/>
            <a:chOff x="2971" y="709"/>
            <a:chExt cx="2676" cy="3088"/>
          </a:xfrm>
        </p:grpSpPr>
        <p:sp>
          <p:nvSpPr>
            <p:cNvPr id="38" name="AutoShape 117"/>
            <p:cNvSpPr>
              <a:spLocks noChangeArrowheads="1"/>
            </p:cNvSpPr>
            <p:nvPr/>
          </p:nvSpPr>
          <p:spPr bwMode="auto">
            <a:xfrm>
              <a:off x="2971" y="1800"/>
              <a:ext cx="2665" cy="1664"/>
            </a:xfrm>
            <a:prstGeom prst="roundRect">
              <a:avLst>
                <a:gd name="adj" fmla="val 9319"/>
              </a:avLst>
            </a:prstGeom>
            <a:solidFill>
              <a:schemeClr val="accent6">
                <a:lumMod val="50000"/>
              </a:schemeClr>
            </a:solidFill>
            <a:ln w="9525">
              <a:solidFill>
                <a:schemeClr val="tx1"/>
              </a:solidFill>
              <a:prstDash val="dash"/>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grpSp>
          <p:nvGrpSpPr>
            <p:cNvPr id="32" name="Group 89"/>
            <p:cNvGrpSpPr>
              <a:grpSpLocks/>
            </p:cNvGrpSpPr>
            <p:nvPr/>
          </p:nvGrpSpPr>
          <p:grpSpPr bwMode="auto">
            <a:xfrm>
              <a:off x="4196" y="1530"/>
              <a:ext cx="256" cy="98"/>
              <a:chOff x="1519" y="813"/>
              <a:chExt cx="227" cy="77"/>
            </a:xfrm>
          </p:grpSpPr>
          <p:sp>
            <p:nvSpPr>
              <p:cNvPr id="73" name="Line 90"/>
              <p:cNvSpPr>
                <a:spLocks noChangeShapeType="1"/>
              </p:cNvSpPr>
              <p:nvPr/>
            </p:nvSpPr>
            <p:spPr bwMode="auto">
              <a:xfrm>
                <a:off x="1647" y="813"/>
                <a:ext cx="99" cy="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74" name="Line 91"/>
              <p:cNvSpPr>
                <a:spLocks noChangeShapeType="1"/>
              </p:cNvSpPr>
              <p:nvPr/>
            </p:nvSpPr>
            <p:spPr bwMode="auto">
              <a:xfrm flipH="1">
                <a:off x="1519" y="813"/>
                <a:ext cx="99" cy="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33" name="Text Box 112"/>
            <p:cNvSpPr txBox="1">
              <a:spLocks noChangeArrowheads="1"/>
            </p:cNvSpPr>
            <p:nvPr/>
          </p:nvSpPr>
          <p:spPr bwMode="auto">
            <a:xfrm>
              <a:off x="3892" y="3476"/>
              <a:ext cx="1019" cy="3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(b) </a:t>
              </a:r>
              <a:r>
                <a:rPr kumimoji="1" lang="zh-CN" altLang="en-US" sz="1400" b="1" dirty="0">
                  <a:latin typeface="微软雅黑 Light" panose="020B0502040204020203" pitchFamily="34" charset="-122"/>
                  <a:ea typeface="微软雅黑 Light" panose="020B0502040204020203" pitchFamily="34" charset="-122"/>
                </a:rPr>
                <a:t>区 </a:t>
              </a:r>
              <a:r>
                <a:rPr kumimoji="1" lang="en-US" altLang="zh-CN" sz="1400" b="1" dirty="0">
                  <a:latin typeface="微软雅黑 Light" panose="020B0502040204020203" pitchFamily="34" charset="-122"/>
                  <a:ea typeface="微软雅黑 Light" panose="020B0502040204020203" pitchFamily="34" charset="-122"/>
                </a:rPr>
                <a:t>&lt; </a:t>
              </a:r>
              <a:r>
                <a:rPr kumimoji="1" lang="zh-CN" altLang="en-US" sz="1400" b="1" dirty="0">
                  <a:latin typeface="微软雅黑 Light" panose="020B0502040204020203" pitchFamily="34" charset="-122"/>
                  <a:ea typeface="微软雅黑 Light" panose="020B0502040204020203" pitchFamily="34" charset="-122"/>
                </a:rPr>
                <a:t>域</a:t>
              </a:r>
            </a:p>
          </p:txBody>
        </p:sp>
        <p:sp>
          <p:nvSpPr>
            <p:cNvPr id="34" name="Line 113"/>
            <p:cNvSpPr>
              <a:spLocks noChangeShapeType="1"/>
            </p:cNvSpPr>
            <p:nvPr/>
          </p:nvSpPr>
          <p:spPr bwMode="auto">
            <a:xfrm>
              <a:off x="4328" y="1523"/>
              <a:ext cx="5" cy="50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5" name="Text Box 114"/>
            <p:cNvSpPr txBox="1">
              <a:spLocks noChangeArrowheads="1"/>
            </p:cNvSpPr>
            <p:nvPr/>
          </p:nvSpPr>
          <p:spPr bwMode="auto">
            <a:xfrm>
              <a:off x="3061" y="1806"/>
              <a:ext cx="937" cy="2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域 </a:t>
              </a:r>
              <a:r>
                <a:rPr kumimoji="1" lang="en-US" altLang="zh-CN" sz="1200" b="1" dirty="0">
                  <a:solidFill>
                    <a:schemeClr val="bg1"/>
                  </a:solidFill>
                  <a:latin typeface="微软雅黑 Light" panose="020B0502040204020203" pitchFamily="34" charset="-122"/>
                  <a:ea typeface="微软雅黑 Light" panose="020B0502040204020203" pitchFamily="34" charset="-122"/>
                </a:rPr>
                <a:t>abc.com</a:t>
              </a:r>
            </a:p>
          </p:txBody>
        </p:sp>
        <p:sp>
          <p:nvSpPr>
            <p:cNvPr id="36" name="Freeform 115"/>
            <p:cNvSpPr>
              <a:spLocks/>
            </p:cNvSpPr>
            <p:nvPr/>
          </p:nvSpPr>
          <p:spPr bwMode="auto">
            <a:xfrm>
              <a:off x="4458" y="2341"/>
              <a:ext cx="849" cy="958"/>
            </a:xfrm>
            <a:custGeom>
              <a:avLst/>
              <a:gdLst>
                <a:gd name="T0" fmla="*/ 627 w 753"/>
                <a:gd name="T1" fmla="*/ 43 h 900"/>
                <a:gd name="T2" fmla="*/ 149 w 753"/>
                <a:gd name="T3" fmla="*/ 90 h 900"/>
                <a:gd name="T4" fmla="*/ 1 w 753"/>
                <a:gd name="T5" fmla="*/ 345 h 900"/>
                <a:gd name="T6" fmla="*/ 167 w 753"/>
                <a:gd name="T7" fmla="*/ 532 h 900"/>
                <a:gd name="T8" fmla="*/ 472 w 753"/>
                <a:gd name="T9" fmla="*/ 854 h 900"/>
                <a:gd name="T10" fmla="*/ 745 w 753"/>
                <a:gd name="T11" fmla="*/ 1193 h 900"/>
                <a:gd name="T12" fmla="*/ 1103 w 753"/>
                <a:gd name="T13" fmla="*/ 1300 h 900"/>
                <a:gd name="T14" fmla="*/ 1416 w 753"/>
                <a:gd name="T15" fmla="*/ 1242 h 900"/>
                <a:gd name="T16" fmla="*/ 1547 w 753"/>
                <a:gd name="T17" fmla="*/ 1114 h 900"/>
                <a:gd name="T18" fmla="*/ 1413 w 753"/>
                <a:gd name="T19" fmla="*/ 843 h 900"/>
                <a:gd name="T20" fmla="*/ 1235 w 753"/>
                <a:gd name="T21" fmla="*/ 626 h 900"/>
                <a:gd name="T22" fmla="*/ 991 w 753"/>
                <a:gd name="T23" fmla="*/ 356 h 900"/>
                <a:gd name="T24" fmla="*/ 627 w 753"/>
                <a:gd name="T25" fmla="*/ 43 h 900"/>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753" h="900">
                  <a:moveTo>
                    <a:pt x="305" y="30"/>
                  </a:moveTo>
                  <a:cubicBezTo>
                    <a:pt x="237" y="0"/>
                    <a:pt x="124" y="27"/>
                    <a:pt x="73" y="62"/>
                  </a:cubicBezTo>
                  <a:cubicBezTo>
                    <a:pt x="22" y="97"/>
                    <a:pt x="0" y="187"/>
                    <a:pt x="1" y="238"/>
                  </a:cubicBezTo>
                  <a:cubicBezTo>
                    <a:pt x="2" y="289"/>
                    <a:pt x="43" y="308"/>
                    <a:pt x="81" y="366"/>
                  </a:cubicBezTo>
                  <a:cubicBezTo>
                    <a:pt x="119" y="424"/>
                    <a:pt x="184" y="510"/>
                    <a:pt x="231" y="586"/>
                  </a:cubicBezTo>
                  <a:cubicBezTo>
                    <a:pt x="278" y="662"/>
                    <a:pt x="312" y="769"/>
                    <a:pt x="363" y="820"/>
                  </a:cubicBezTo>
                  <a:cubicBezTo>
                    <a:pt x="414" y="871"/>
                    <a:pt x="483" y="888"/>
                    <a:pt x="537" y="894"/>
                  </a:cubicBezTo>
                  <a:cubicBezTo>
                    <a:pt x="591" y="900"/>
                    <a:pt x="653" y="875"/>
                    <a:pt x="689" y="854"/>
                  </a:cubicBezTo>
                  <a:cubicBezTo>
                    <a:pt x="725" y="833"/>
                    <a:pt x="753" y="812"/>
                    <a:pt x="753" y="766"/>
                  </a:cubicBezTo>
                  <a:cubicBezTo>
                    <a:pt x="753" y="720"/>
                    <a:pt x="712" y="636"/>
                    <a:pt x="687" y="580"/>
                  </a:cubicBezTo>
                  <a:cubicBezTo>
                    <a:pt x="662" y="524"/>
                    <a:pt x="635" y="486"/>
                    <a:pt x="601" y="430"/>
                  </a:cubicBezTo>
                  <a:cubicBezTo>
                    <a:pt x="567" y="374"/>
                    <a:pt x="532" y="311"/>
                    <a:pt x="483" y="244"/>
                  </a:cubicBezTo>
                  <a:cubicBezTo>
                    <a:pt x="434" y="177"/>
                    <a:pt x="368" y="58"/>
                    <a:pt x="305" y="30"/>
                  </a:cubicBezTo>
                  <a:close/>
                </a:path>
              </a:pathLst>
            </a:custGeom>
            <a:solidFill>
              <a:srgbClr val="9999FF"/>
            </a:solidFill>
            <a:ln>
              <a:noFill/>
            </a:ln>
            <a:effectLst/>
            <a:extLst>
              <a:ext uri="{91240B29-F687-4F45-9708-019B960494DF}">
                <a14:hiddenLine xmlns:a14="http://schemas.microsoft.com/office/drawing/2010/main" w="38100" cmpd="sng">
                  <a:solidFill>
                    <a:srgbClr val="5F5F5F"/>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7" name="Freeform 116"/>
            <p:cNvSpPr>
              <a:spLocks/>
            </p:cNvSpPr>
            <p:nvPr/>
          </p:nvSpPr>
          <p:spPr bwMode="auto">
            <a:xfrm>
              <a:off x="3215" y="1882"/>
              <a:ext cx="1535" cy="1436"/>
            </a:xfrm>
            <a:custGeom>
              <a:avLst/>
              <a:gdLst>
                <a:gd name="T0" fmla="*/ 2481 w 1360"/>
                <a:gd name="T1" fmla="*/ 85 h 1349"/>
                <a:gd name="T2" fmla="*/ 1823 w 1360"/>
                <a:gd name="T3" fmla="*/ 67 h 1349"/>
                <a:gd name="T4" fmla="*/ 1248 w 1360"/>
                <a:gd name="T5" fmla="*/ 490 h 1349"/>
                <a:gd name="T6" fmla="*/ 247 w 1360"/>
                <a:gd name="T7" fmla="*/ 1427 h 1349"/>
                <a:gd name="T8" fmla="*/ 27 w 1360"/>
                <a:gd name="T9" fmla="*/ 1809 h 1349"/>
                <a:gd name="T10" fmla="*/ 403 w 1360"/>
                <a:gd name="T11" fmla="*/ 1943 h 1349"/>
                <a:gd name="T12" fmla="*/ 1265 w 1360"/>
                <a:gd name="T13" fmla="*/ 1945 h 1349"/>
                <a:gd name="T14" fmla="*/ 2380 w 1360"/>
                <a:gd name="T15" fmla="*/ 1934 h 1349"/>
                <a:gd name="T16" fmla="*/ 2764 w 1360"/>
                <a:gd name="T17" fmla="*/ 1796 h 1349"/>
                <a:gd name="T18" fmla="*/ 2651 w 1360"/>
                <a:gd name="T19" fmla="*/ 1546 h 1349"/>
                <a:gd name="T20" fmla="*/ 2169 w 1360"/>
                <a:gd name="T21" fmla="*/ 1123 h 1349"/>
                <a:gd name="T22" fmla="*/ 2090 w 1360"/>
                <a:gd name="T23" fmla="*/ 884 h 1349"/>
                <a:gd name="T24" fmla="*/ 2368 w 1360"/>
                <a:gd name="T25" fmla="*/ 557 h 1349"/>
                <a:gd name="T26" fmla="*/ 2617 w 1360"/>
                <a:gd name="T27" fmla="*/ 381 h 1349"/>
                <a:gd name="T28" fmla="*/ 2652 w 1360"/>
                <a:gd name="T29" fmla="*/ 242 h 1349"/>
                <a:gd name="T30" fmla="*/ 2481 w 1360"/>
                <a:gd name="T31" fmla="*/ 85 h 1349"/>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360" h="1349">
                  <a:moveTo>
                    <a:pt x="1200" y="58"/>
                  </a:moveTo>
                  <a:cubicBezTo>
                    <a:pt x="1133" y="38"/>
                    <a:pt x="981" y="0"/>
                    <a:pt x="882" y="46"/>
                  </a:cubicBezTo>
                  <a:cubicBezTo>
                    <a:pt x="783" y="92"/>
                    <a:pt x="730" y="180"/>
                    <a:pt x="603" y="336"/>
                  </a:cubicBezTo>
                  <a:cubicBezTo>
                    <a:pt x="476" y="492"/>
                    <a:pt x="218" y="831"/>
                    <a:pt x="120" y="982"/>
                  </a:cubicBezTo>
                  <a:cubicBezTo>
                    <a:pt x="22" y="1133"/>
                    <a:pt x="0" y="1184"/>
                    <a:pt x="13" y="1243"/>
                  </a:cubicBezTo>
                  <a:cubicBezTo>
                    <a:pt x="26" y="1302"/>
                    <a:pt x="95" y="1319"/>
                    <a:pt x="195" y="1334"/>
                  </a:cubicBezTo>
                  <a:cubicBezTo>
                    <a:pt x="295" y="1349"/>
                    <a:pt x="453" y="1337"/>
                    <a:pt x="612" y="1336"/>
                  </a:cubicBezTo>
                  <a:cubicBezTo>
                    <a:pt x="771" y="1335"/>
                    <a:pt x="1031" y="1347"/>
                    <a:pt x="1152" y="1330"/>
                  </a:cubicBezTo>
                  <a:cubicBezTo>
                    <a:pt x="1273" y="1313"/>
                    <a:pt x="1316" y="1279"/>
                    <a:pt x="1338" y="1234"/>
                  </a:cubicBezTo>
                  <a:cubicBezTo>
                    <a:pt x="1360" y="1189"/>
                    <a:pt x="1331" y="1139"/>
                    <a:pt x="1283" y="1062"/>
                  </a:cubicBezTo>
                  <a:cubicBezTo>
                    <a:pt x="1235" y="985"/>
                    <a:pt x="1095" y="848"/>
                    <a:pt x="1050" y="772"/>
                  </a:cubicBezTo>
                  <a:cubicBezTo>
                    <a:pt x="1005" y="696"/>
                    <a:pt x="995" y="673"/>
                    <a:pt x="1011" y="608"/>
                  </a:cubicBezTo>
                  <a:cubicBezTo>
                    <a:pt x="1027" y="543"/>
                    <a:pt x="1104" y="440"/>
                    <a:pt x="1146" y="382"/>
                  </a:cubicBezTo>
                  <a:cubicBezTo>
                    <a:pt x="1188" y="324"/>
                    <a:pt x="1243" y="298"/>
                    <a:pt x="1266" y="262"/>
                  </a:cubicBezTo>
                  <a:cubicBezTo>
                    <a:pt x="1289" y="226"/>
                    <a:pt x="1295" y="200"/>
                    <a:pt x="1284" y="166"/>
                  </a:cubicBezTo>
                  <a:cubicBezTo>
                    <a:pt x="1273" y="132"/>
                    <a:pt x="1267" y="78"/>
                    <a:pt x="1200" y="58"/>
                  </a:cubicBezTo>
                  <a:close/>
                </a:path>
              </a:pathLst>
            </a:custGeom>
            <a:solidFill>
              <a:srgbClr val="00FFCC"/>
            </a:solidFill>
            <a:ln>
              <a:noFill/>
            </a:ln>
            <a:effectLst/>
            <a:extLst>
              <a:ext uri="{91240B29-F687-4F45-9708-019B960494DF}">
                <a14:hiddenLine xmlns:a14="http://schemas.microsoft.com/office/drawing/2010/main" w="38100" cmpd="sng">
                  <a:solidFill>
                    <a:srgbClr val="5F5F5F"/>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9" name="Text Box 118"/>
            <p:cNvSpPr txBox="1">
              <a:spLocks noChangeArrowheads="1"/>
            </p:cNvSpPr>
            <p:nvPr/>
          </p:nvSpPr>
          <p:spPr bwMode="auto">
            <a:xfrm>
              <a:off x="3018" y="2131"/>
              <a:ext cx="745" cy="37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70000"/>
                </a:lnSpc>
              </a:pPr>
              <a:r>
                <a:rPr kumimoji="1" lang="zh-CN" altLang="zh-CN" sz="1200" b="1" dirty="0">
                  <a:solidFill>
                    <a:schemeClr val="bg1"/>
                  </a:solidFill>
                  <a:latin typeface="微软雅黑 Light" panose="020B0502040204020203" pitchFamily="34" charset="-122"/>
                  <a:ea typeface="微软雅黑 Light" panose="020B0502040204020203" pitchFamily="34" charset="-122"/>
                </a:rPr>
                <a:t> 区</a:t>
              </a:r>
              <a:endParaRPr kumimoji="1" lang="zh-CN" altLang="en-US" sz="1200" b="1" dirty="0">
                <a:solidFill>
                  <a:schemeClr val="bg1"/>
                </a:solidFill>
                <a:latin typeface="微软雅黑 Light" panose="020B0502040204020203" pitchFamily="34" charset="-122"/>
                <a:ea typeface="微软雅黑 Light" panose="020B0502040204020203" pitchFamily="34" charset="-122"/>
              </a:endParaRPr>
            </a:p>
            <a:p>
              <a:pPr algn="ctr" eaLnBrk="1" hangingPunct="1">
                <a:lnSpc>
                  <a:spcPct val="70000"/>
                </a:lnSpc>
              </a:pPr>
              <a:r>
                <a:rPr kumimoji="1" lang="en-US" altLang="zh-CN" sz="1200" b="1" dirty="0">
                  <a:solidFill>
                    <a:schemeClr val="bg1"/>
                  </a:solidFill>
                  <a:latin typeface="微软雅黑 Light" panose="020B0502040204020203" pitchFamily="34" charset="-122"/>
                  <a:ea typeface="微软雅黑 Light" panose="020B0502040204020203" pitchFamily="34" charset="-122"/>
                </a:rPr>
                <a:t>abc.com</a:t>
              </a:r>
            </a:p>
          </p:txBody>
        </p:sp>
        <p:sp>
          <p:nvSpPr>
            <p:cNvPr id="40" name="Text Box 119"/>
            <p:cNvSpPr txBox="1">
              <a:spLocks noChangeArrowheads="1"/>
            </p:cNvSpPr>
            <p:nvPr/>
          </p:nvSpPr>
          <p:spPr bwMode="auto">
            <a:xfrm>
              <a:off x="4649" y="1950"/>
              <a:ext cx="998" cy="38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75000"/>
                </a:lnSpc>
              </a:pPr>
              <a:r>
                <a:rPr kumimoji="1" lang="zh-CN" altLang="en-US" sz="1200" b="1" dirty="0">
                  <a:solidFill>
                    <a:schemeClr val="bg1"/>
                  </a:solidFill>
                  <a:latin typeface="微软雅黑 Light" panose="020B0502040204020203" pitchFamily="34" charset="-122"/>
                  <a:ea typeface="微软雅黑 Light" panose="020B0502040204020203" pitchFamily="34" charset="-122"/>
                </a:rPr>
                <a:t>区</a:t>
              </a:r>
            </a:p>
            <a:p>
              <a:pPr algn="ctr" eaLnBrk="1" hangingPunct="1">
                <a:lnSpc>
                  <a:spcPct val="75000"/>
                </a:lnSpc>
              </a:pPr>
              <a:r>
                <a:rPr kumimoji="1" lang="en-US" altLang="zh-CN" sz="1200" b="1" dirty="0">
                  <a:solidFill>
                    <a:schemeClr val="bg1"/>
                  </a:solidFill>
                  <a:latin typeface="微软雅黑 Light" panose="020B0502040204020203" pitchFamily="34" charset="-122"/>
                  <a:ea typeface="微软雅黑 Light" panose="020B0502040204020203" pitchFamily="34" charset="-122"/>
                </a:rPr>
                <a:t>y.abc.com</a:t>
              </a:r>
            </a:p>
          </p:txBody>
        </p:sp>
        <p:sp>
          <p:nvSpPr>
            <p:cNvPr id="41" name="Line 120"/>
            <p:cNvSpPr>
              <a:spLocks noChangeShapeType="1"/>
            </p:cNvSpPr>
            <p:nvPr/>
          </p:nvSpPr>
          <p:spPr bwMode="auto">
            <a:xfrm>
              <a:off x="3382" y="2470"/>
              <a:ext cx="156" cy="227"/>
            </a:xfrm>
            <a:prstGeom prst="line">
              <a:avLst/>
            </a:prstGeom>
            <a:noFill/>
            <a:ln w="12700">
              <a:solidFill>
                <a:srgbClr val="FFFF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2" name="Line 121"/>
            <p:cNvSpPr>
              <a:spLocks noChangeShapeType="1"/>
            </p:cNvSpPr>
            <p:nvPr/>
          </p:nvSpPr>
          <p:spPr bwMode="auto">
            <a:xfrm rot="10800000" flipV="1">
              <a:off x="5103" y="2316"/>
              <a:ext cx="124" cy="426"/>
            </a:xfrm>
            <a:prstGeom prst="line">
              <a:avLst/>
            </a:prstGeom>
            <a:noFill/>
            <a:ln w="12700">
              <a:solidFill>
                <a:srgbClr val="FFFF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3" name="Line 122"/>
            <p:cNvSpPr>
              <a:spLocks noChangeShapeType="1"/>
            </p:cNvSpPr>
            <p:nvPr/>
          </p:nvSpPr>
          <p:spPr bwMode="auto">
            <a:xfrm flipH="1">
              <a:off x="4054" y="2124"/>
              <a:ext cx="226" cy="417"/>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4" name="Line 123"/>
            <p:cNvSpPr>
              <a:spLocks noChangeShapeType="1"/>
            </p:cNvSpPr>
            <p:nvPr/>
          </p:nvSpPr>
          <p:spPr bwMode="auto">
            <a:xfrm>
              <a:off x="4407" y="2143"/>
              <a:ext cx="297" cy="389"/>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5" name="Line 124"/>
            <p:cNvSpPr>
              <a:spLocks noChangeShapeType="1"/>
            </p:cNvSpPr>
            <p:nvPr/>
          </p:nvSpPr>
          <p:spPr bwMode="auto">
            <a:xfrm>
              <a:off x="4754" y="2610"/>
              <a:ext cx="319" cy="499"/>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6" name="Line 125"/>
            <p:cNvSpPr>
              <a:spLocks noChangeShapeType="1"/>
            </p:cNvSpPr>
            <p:nvPr/>
          </p:nvSpPr>
          <p:spPr bwMode="auto">
            <a:xfrm>
              <a:off x="4068" y="2622"/>
              <a:ext cx="388" cy="444"/>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7" name="Line 126"/>
            <p:cNvSpPr>
              <a:spLocks noChangeShapeType="1"/>
            </p:cNvSpPr>
            <p:nvPr/>
          </p:nvSpPr>
          <p:spPr bwMode="auto">
            <a:xfrm flipH="1">
              <a:off x="4002" y="2629"/>
              <a:ext cx="11" cy="380"/>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8" name="Line 127"/>
            <p:cNvSpPr>
              <a:spLocks noChangeShapeType="1"/>
            </p:cNvSpPr>
            <p:nvPr/>
          </p:nvSpPr>
          <p:spPr bwMode="auto">
            <a:xfrm flipH="1">
              <a:off x="3528" y="2578"/>
              <a:ext cx="470" cy="488"/>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9" name="Oval 128"/>
            <p:cNvSpPr>
              <a:spLocks noChangeArrowheads="1"/>
            </p:cNvSpPr>
            <p:nvPr/>
          </p:nvSpPr>
          <p:spPr bwMode="auto">
            <a:xfrm>
              <a:off x="4121" y="1982"/>
              <a:ext cx="410" cy="242"/>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err="1">
                  <a:latin typeface="微软雅黑 Light" panose="020B0502040204020203" pitchFamily="34" charset="-122"/>
                  <a:ea typeface="微软雅黑 Light" panose="020B0502040204020203" pitchFamily="34" charset="-122"/>
                </a:rPr>
                <a:t>abc</a:t>
              </a:r>
              <a:endParaRPr kumimoji="1" lang="en-US" altLang="zh-CN" sz="1200" b="1" dirty="0">
                <a:latin typeface="微软雅黑 Light" panose="020B0502040204020203" pitchFamily="34" charset="-122"/>
                <a:ea typeface="微软雅黑 Light" panose="020B0502040204020203" pitchFamily="34" charset="-122"/>
              </a:endParaRPr>
            </a:p>
          </p:txBody>
        </p:sp>
        <p:sp>
          <p:nvSpPr>
            <p:cNvPr id="50" name="Oval 129"/>
            <p:cNvSpPr>
              <a:spLocks noChangeArrowheads="1"/>
            </p:cNvSpPr>
            <p:nvPr/>
          </p:nvSpPr>
          <p:spPr bwMode="auto">
            <a:xfrm>
              <a:off x="3844" y="2481"/>
              <a:ext cx="359" cy="193"/>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x</a:t>
              </a:r>
            </a:p>
          </p:txBody>
        </p:sp>
        <p:sp>
          <p:nvSpPr>
            <p:cNvPr id="51" name="Oval 130"/>
            <p:cNvSpPr>
              <a:spLocks noChangeArrowheads="1"/>
            </p:cNvSpPr>
            <p:nvPr/>
          </p:nvSpPr>
          <p:spPr bwMode="auto">
            <a:xfrm>
              <a:off x="3332" y="3012"/>
              <a:ext cx="359" cy="194"/>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u</a:t>
              </a:r>
            </a:p>
          </p:txBody>
        </p:sp>
        <p:sp>
          <p:nvSpPr>
            <p:cNvPr id="52" name="Oval 131"/>
            <p:cNvSpPr>
              <a:spLocks noChangeArrowheads="1"/>
            </p:cNvSpPr>
            <p:nvPr/>
          </p:nvSpPr>
          <p:spPr bwMode="auto">
            <a:xfrm>
              <a:off x="3810" y="3012"/>
              <a:ext cx="359" cy="194"/>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v</a:t>
              </a:r>
            </a:p>
          </p:txBody>
        </p:sp>
        <p:sp>
          <p:nvSpPr>
            <p:cNvPr id="53" name="Oval 132"/>
            <p:cNvSpPr>
              <a:spLocks noChangeArrowheads="1"/>
            </p:cNvSpPr>
            <p:nvPr/>
          </p:nvSpPr>
          <p:spPr bwMode="auto">
            <a:xfrm>
              <a:off x="4287" y="3012"/>
              <a:ext cx="359" cy="194"/>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w</a:t>
              </a:r>
            </a:p>
          </p:txBody>
        </p:sp>
        <p:sp>
          <p:nvSpPr>
            <p:cNvPr id="54" name="Oval 133"/>
            <p:cNvSpPr>
              <a:spLocks noChangeArrowheads="1"/>
            </p:cNvSpPr>
            <p:nvPr/>
          </p:nvSpPr>
          <p:spPr bwMode="auto">
            <a:xfrm>
              <a:off x="4867" y="3012"/>
              <a:ext cx="359" cy="194"/>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t</a:t>
              </a:r>
            </a:p>
          </p:txBody>
        </p:sp>
        <p:sp>
          <p:nvSpPr>
            <p:cNvPr id="55" name="Oval 134"/>
            <p:cNvSpPr>
              <a:spLocks noChangeArrowheads="1"/>
            </p:cNvSpPr>
            <p:nvPr/>
          </p:nvSpPr>
          <p:spPr bwMode="auto">
            <a:xfrm>
              <a:off x="4560" y="2481"/>
              <a:ext cx="359" cy="193"/>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y</a:t>
              </a:r>
            </a:p>
          </p:txBody>
        </p:sp>
        <p:sp>
          <p:nvSpPr>
            <p:cNvPr id="56" name="AutoShape 135"/>
            <p:cNvSpPr>
              <a:spLocks noChangeArrowheads="1"/>
            </p:cNvSpPr>
            <p:nvPr/>
          </p:nvSpPr>
          <p:spPr bwMode="auto">
            <a:xfrm>
              <a:off x="4063" y="1232"/>
              <a:ext cx="522" cy="303"/>
            </a:xfrm>
            <a:prstGeom prst="roundRect">
              <a:avLst>
                <a:gd name="adj" fmla="val 34167"/>
              </a:avLst>
            </a:prstGeom>
            <a:solidFill>
              <a:srgbClr val="66FF66"/>
            </a:solidFill>
            <a:ln>
              <a:noFill/>
            </a:ln>
            <a:effectLst/>
            <a:extLst>
              <a:ext uri="{91240B29-F687-4F45-9708-019B960494DF}">
                <a14:hiddenLine xmlns:a14="http://schemas.microsoft.com/office/drawing/2010/main" w="9525" algn="ctr">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com</a:t>
              </a:r>
            </a:p>
          </p:txBody>
        </p:sp>
        <p:sp>
          <p:nvSpPr>
            <p:cNvPr id="57" name="AutoShape 136"/>
            <p:cNvSpPr>
              <a:spLocks noChangeArrowheads="1"/>
            </p:cNvSpPr>
            <p:nvPr/>
          </p:nvSpPr>
          <p:spPr bwMode="auto">
            <a:xfrm>
              <a:off x="4909" y="1225"/>
              <a:ext cx="522" cy="304"/>
            </a:xfrm>
            <a:prstGeom prst="roundRect">
              <a:avLst>
                <a:gd name="adj" fmla="val 34167"/>
              </a:avLst>
            </a:prstGeom>
            <a:solidFill>
              <a:srgbClr val="00B0F0"/>
            </a:solidFill>
            <a:ln>
              <a:noFill/>
            </a:ln>
            <a:effectLst/>
            <a:extLst>
              <a:ext uri="{91240B29-F687-4F45-9708-019B960494DF}">
                <a14:hiddenLine xmlns:a14="http://schemas.microsoft.com/office/drawing/2010/main" w="9525" algn="ctr">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err="1">
                  <a:latin typeface="微软雅黑 Light" panose="020B0502040204020203" pitchFamily="34" charset="-122"/>
                  <a:ea typeface="微软雅黑 Light" panose="020B0502040204020203" pitchFamily="34" charset="-122"/>
                </a:rPr>
                <a:t>edu</a:t>
              </a:r>
              <a:endParaRPr kumimoji="1" lang="en-US" altLang="zh-CN" sz="1200" b="1" dirty="0">
                <a:latin typeface="微软雅黑 Light" panose="020B0502040204020203" pitchFamily="34" charset="-122"/>
                <a:ea typeface="微软雅黑 Light" panose="020B0502040204020203" pitchFamily="34" charset="-122"/>
              </a:endParaRPr>
            </a:p>
          </p:txBody>
        </p:sp>
        <p:sp>
          <p:nvSpPr>
            <p:cNvPr id="58" name="AutoShape 137"/>
            <p:cNvSpPr>
              <a:spLocks noChangeArrowheads="1"/>
            </p:cNvSpPr>
            <p:nvPr/>
          </p:nvSpPr>
          <p:spPr bwMode="auto">
            <a:xfrm>
              <a:off x="3220" y="1225"/>
              <a:ext cx="522" cy="304"/>
            </a:xfrm>
            <a:prstGeom prst="roundRect">
              <a:avLst>
                <a:gd name="adj" fmla="val 34167"/>
              </a:avLst>
            </a:prstGeom>
            <a:solidFill>
              <a:srgbClr val="00FFCC"/>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org</a:t>
              </a:r>
            </a:p>
          </p:txBody>
        </p:sp>
        <p:grpSp>
          <p:nvGrpSpPr>
            <p:cNvPr id="59" name="Group 138"/>
            <p:cNvGrpSpPr>
              <a:grpSpLocks/>
            </p:cNvGrpSpPr>
            <p:nvPr/>
          </p:nvGrpSpPr>
          <p:grpSpPr bwMode="auto">
            <a:xfrm>
              <a:off x="5042" y="1530"/>
              <a:ext cx="256" cy="98"/>
              <a:chOff x="2875" y="1143"/>
              <a:chExt cx="330" cy="132"/>
            </a:xfrm>
          </p:grpSpPr>
          <p:sp>
            <p:nvSpPr>
              <p:cNvPr id="69" name="Line 139"/>
              <p:cNvSpPr>
                <a:spLocks noChangeShapeType="1"/>
              </p:cNvSpPr>
              <p:nvPr/>
            </p:nvSpPr>
            <p:spPr bwMode="auto">
              <a:xfrm>
                <a:off x="3061"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70" name="Line 140"/>
              <p:cNvSpPr>
                <a:spLocks noChangeShapeType="1"/>
              </p:cNvSpPr>
              <p:nvPr/>
            </p:nvSpPr>
            <p:spPr bwMode="auto">
              <a:xfrm>
                <a:off x="3050" y="1143"/>
                <a:ext cx="37" cy="1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71" name="Line 141"/>
              <p:cNvSpPr>
                <a:spLocks noChangeShapeType="1"/>
              </p:cNvSpPr>
              <p:nvPr/>
            </p:nvSpPr>
            <p:spPr bwMode="auto">
              <a:xfrm flipH="1">
                <a:off x="2875"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72" name="Line 142"/>
              <p:cNvSpPr>
                <a:spLocks noChangeShapeType="1"/>
              </p:cNvSpPr>
              <p:nvPr/>
            </p:nvSpPr>
            <p:spPr bwMode="auto">
              <a:xfrm flipH="1">
                <a:off x="2980" y="1143"/>
                <a:ext cx="54" cy="12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grpSp>
          <p:nvGrpSpPr>
            <p:cNvPr id="60" name="Group 143"/>
            <p:cNvGrpSpPr>
              <a:grpSpLocks/>
            </p:cNvGrpSpPr>
            <p:nvPr/>
          </p:nvGrpSpPr>
          <p:grpSpPr bwMode="auto">
            <a:xfrm>
              <a:off x="3353" y="1530"/>
              <a:ext cx="256" cy="98"/>
              <a:chOff x="2875" y="1143"/>
              <a:chExt cx="330" cy="132"/>
            </a:xfrm>
          </p:grpSpPr>
          <p:sp>
            <p:nvSpPr>
              <p:cNvPr id="65" name="Line 144"/>
              <p:cNvSpPr>
                <a:spLocks noChangeShapeType="1"/>
              </p:cNvSpPr>
              <p:nvPr/>
            </p:nvSpPr>
            <p:spPr bwMode="auto">
              <a:xfrm>
                <a:off x="3061"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6" name="Line 145"/>
              <p:cNvSpPr>
                <a:spLocks noChangeShapeType="1"/>
              </p:cNvSpPr>
              <p:nvPr/>
            </p:nvSpPr>
            <p:spPr bwMode="auto">
              <a:xfrm>
                <a:off x="3050" y="1143"/>
                <a:ext cx="37" cy="1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7" name="Line 146"/>
              <p:cNvSpPr>
                <a:spLocks noChangeShapeType="1"/>
              </p:cNvSpPr>
              <p:nvPr/>
            </p:nvSpPr>
            <p:spPr bwMode="auto">
              <a:xfrm flipH="1">
                <a:off x="2875"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8" name="Line 147"/>
              <p:cNvSpPr>
                <a:spLocks noChangeShapeType="1"/>
              </p:cNvSpPr>
              <p:nvPr/>
            </p:nvSpPr>
            <p:spPr bwMode="auto">
              <a:xfrm flipH="1">
                <a:off x="2980" y="1143"/>
                <a:ext cx="54" cy="12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61" name="AutoShape 148"/>
            <p:cNvSpPr>
              <a:spLocks noChangeArrowheads="1"/>
            </p:cNvSpPr>
            <p:nvPr/>
          </p:nvSpPr>
          <p:spPr bwMode="auto">
            <a:xfrm>
              <a:off x="4049" y="709"/>
              <a:ext cx="523" cy="304"/>
            </a:xfrm>
            <a:prstGeom prst="roundRect">
              <a:avLst>
                <a:gd name="adj" fmla="val 34167"/>
              </a:avLst>
            </a:prstGeom>
            <a:solidFill>
              <a:srgbClr val="FF66FF"/>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zh-CN" altLang="en-US" sz="1200" b="1" dirty="0">
                  <a:latin typeface="微软雅黑 Light" panose="020B0502040204020203" pitchFamily="34" charset="-122"/>
                  <a:ea typeface="微软雅黑 Light" panose="020B0502040204020203" pitchFamily="34" charset="-122"/>
                </a:rPr>
                <a:t>根</a:t>
              </a:r>
            </a:p>
          </p:txBody>
        </p:sp>
        <p:sp>
          <p:nvSpPr>
            <p:cNvPr id="62" name="Line 149"/>
            <p:cNvSpPr>
              <a:spLocks noChangeShapeType="1"/>
            </p:cNvSpPr>
            <p:nvPr/>
          </p:nvSpPr>
          <p:spPr bwMode="auto">
            <a:xfrm>
              <a:off x="4375" y="1010"/>
              <a:ext cx="792" cy="2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3" name="Line 150"/>
            <p:cNvSpPr>
              <a:spLocks noChangeShapeType="1"/>
            </p:cNvSpPr>
            <p:nvPr/>
          </p:nvSpPr>
          <p:spPr bwMode="auto">
            <a:xfrm flipV="1">
              <a:off x="3481" y="1010"/>
              <a:ext cx="779" cy="2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4" name="Line 151"/>
            <p:cNvSpPr>
              <a:spLocks noChangeShapeType="1"/>
            </p:cNvSpPr>
            <p:nvPr/>
          </p:nvSpPr>
          <p:spPr bwMode="auto">
            <a:xfrm>
              <a:off x="4321" y="1010"/>
              <a:ext cx="0" cy="2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5"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6" name="Rectangle 6"/>
          <p:cNvSpPr>
            <a:spLocks noChangeArrowheads="1"/>
          </p:cNvSpPr>
          <p:nvPr/>
        </p:nvSpPr>
        <p:spPr bwMode="auto">
          <a:xfrm>
            <a:off x="3168145" y="582898"/>
            <a:ext cx="282641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区的不同划分方法举例</a:t>
            </a:r>
          </a:p>
        </p:txBody>
      </p:sp>
      <p:sp>
        <p:nvSpPr>
          <p:cNvPr id="8" name="Line 92"/>
          <p:cNvSpPr>
            <a:spLocks noChangeShapeType="1"/>
          </p:cNvSpPr>
          <p:nvPr/>
        </p:nvSpPr>
        <p:spPr bwMode="auto">
          <a:xfrm>
            <a:off x="3129287" y="1989120"/>
            <a:ext cx="6223" cy="48249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2" name="Text Box 93"/>
          <p:cNvSpPr txBox="1">
            <a:spLocks noChangeArrowheads="1"/>
          </p:cNvSpPr>
          <p:nvPr/>
        </p:nvSpPr>
        <p:spPr bwMode="auto">
          <a:xfrm>
            <a:off x="1771725" y="2248647"/>
            <a:ext cx="97174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域 </a:t>
            </a:r>
            <a:r>
              <a:rPr kumimoji="1" lang="en-US" altLang="zh-CN" sz="1200" b="1" dirty="0">
                <a:solidFill>
                  <a:schemeClr val="bg1"/>
                </a:solidFill>
                <a:latin typeface="微软雅黑 Light" panose="020B0502040204020203" pitchFamily="34" charset="-122"/>
                <a:ea typeface="微软雅黑 Light" panose="020B0502040204020203" pitchFamily="34" charset="-122"/>
              </a:rPr>
              <a:t>abc.com</a:t>
            </a:r>
          </a:p>
        </p:txBody>
      </p:sp>
      <p:sp>
        <p:nvSpPr>
          <p:cNvPr id="13" name="Freeform 94"/>
          <p:cNvSpPr>
            <a:spLocks/>
          </p:cNvSpPr>
          <p:nvPr/>
        </p:nvSpPr>
        <p:spPr bwMode="auto">
          <a:xfrm>
            <a:off x="1968773" y="2337586"/>
            <a:ext cx="2243246" cy="1384288"/>
          </a:xfrm>
          <a:custGeom>
            <a:avLst/>
            <a:gdLst>
              <a:gd name="T0" fmla="*/ 2147483646 w 1917"/>
              <a:gd name="T1" fmla="*/ 2147483646 h 1143"/>
              <a:gd name="T2" fmla="*/ 2147483646 w 1917"/>
              <a:gd name="T3" fmla="*/ 2147483646 h 1143"/>
              <a:gd name="T4" fmla="*/ 2147483646 w 1917"/>
              <a:gd name="T5" fmla="*/ 2147483646 h 1143"/>
              <a:gd name="T6" fmla="*/ 2147483646 w 1917"/>
              <a:gd name="T7" fmla="*/ 2147483646 h 1143"/>
              <a:gd name="T8" fmla="*/ 2147483646 w 1917"/>
              <a:gd name="T9" fmla="*/ 2147483646 h 1143"/>
              <a:gd name="T10" fmla="*/ 2147483646 w 1917"/>
              <a:gd name="T11" fmla="*/ 2147483646 h 1143"/>
              <a:gd name="T12" fmla="*/ 2147483646 w 1917"/>
              <a:gd name="T13" fmla="*/ 2147483646 h 1143"/>
              <a:gd name="T14" fmla="*/ 2147483646 w 1917"/>
              <a:gd name="T15" fmla="*/ 2147483646 h 1143"/>
              <a:gd name="T16" fmla="*/ 2147483646 w 1917"/>
              <a:gd name="T17" fmla="*/ 2147483646 h 1143"/>
              <a:gd name="T18" fmla="*/ 2147483646 w 1917"/>
              <a:gd name="T19" fmla="*/ 2147483646 h 1143"/>
              <a:gd name="T20" fmla="*/ 2147483646 w 1917"/>
              <a:gd name="T21" fmla="*/ 2147483646 h 1143"/>
              <a:gd name="T22" fmla="*/ 2147483646 w 1917"/>
              <a:gd name="T23" fmla="*/ 2147483646 h 1143"/>
              <a:gd name="T24" fmla="*/ 2147483646 w 1917"/>
              <a:gd name="T25" fmla="*/ 2147483646 h 1143"/>
              <a:gd name="T26" fmla="*/ 2147483646 w 1917"/>
              <a:gd name="T27" fmla="*/ 2147483646 h 1143"/>
              <a:gd name="T28" fmla="*/ 2147483646 w 1917"/>
              <a:gd name="T29" fmla="*/ 2147483646 h 1143"/>
              <a:gd name="T30" fmla="*/ 2147483646 w 1917"/>
              <a:gd name="T31" fmla="*/ 2147483646 h 1143"/>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917" h="1143">
                <a:moveTo>
                  <a:pt x="1097" y="32"/>
                </a:moveTo>
                <a:cubicBezTo>
                  <a:pt x="1031" y="7"/>
                  <a:pt x="964" y="0"/>
                  <a:pt x="882" y="43"/>
                </a:cubicBezTo>
                <a:cubicBezTo>
                  <a:pt x="800" y="86"/>
                  <a:pt x="730" y="155"/>
                  <a:pt x="603" y="287"/>
                </a:cubicBezTo>
                <a:cubicBezTo>
                  <a:pt x="476" y="418"/>
                  <a:pt x="218" y="703"/>
                  <a:pt x="120" y="830"/>
                </a:cubicBezTo>
                <a:cubicBezTo>
                  <a:pt x="22" y="957"/>
                  <a:pt x="0" y="1000"/>
                  <a:pt x="13" y="1050"/>
                </a:cubicBezTo>
                <a:cubicBezTo>
                  <a:pt x="26" y="1099"/>
                  <a:pt x="95" y="1114"/>
                  <a:pt x="195" y="1126"/>
                </a:cubicBezTo>
                <a:cubicBezTo>
                  <a:pt x="295" y="1139"/>
                  <a:pt x="458" y="1126"/>
                  <a:pt x="612" y="1128"/>
                </a:cubicBezTo>
                <a:cubicBezTo>
                  <a:pt x="766" y="1130"/>
                  <a:pt x="981" y="1134"/>
                  <a:pt x="1121" y="1136"/>
                </a:cubicBezTo>
                <a:cubicBezTo>
                  <a:pt x="1261" y="1138"/>
                  <a:pt x="1336" y="1143"/>
                  <a:pt x="1451" y="1139"/>
                </a:cubicBezTo>
                <a:cubicBezTo>
                  <a:pt x="1566" y="1135"/>
                  <a:pt x="1735" y="1132"/>
                  <a:pt x="1811" y="1109"/>
                </a:cubicBezTo>
                <a:cubicBezTo>
                  <a:pt x="1887" y="1086"/>
                  <a:pt x="1917" y="1062"/>
                  <a:pt x="1907" y="1001"/>
                </a:cubicBezTo>
                <a:cubicBezTo>
                  <a:pt x="1897" y="940"/>
                  <a:pt x="1807" y="823"/>
                  <a:pt x="1751" y="743"/>
                </a:cubicBezTo>
                <a:cubicBezTo>
                  <a:pt x="1695" y="663"/>
                  <a:pt x="1625" y="586"/>
                  <a:pt x="1571" y="521"/>
                </a:cubicBezTo>
                <a:cubicBezTo>
                  <a:pt x="1517" y="456"/>
                  <a:pt x="1476" y="408"/>
                  <a:pt x="1427" y="353"/>
                </a:cubicBezTo>
                <a:cubicBezTo>
                  <a:pt x="1378" y="298"/>
                  <a:pt x="1332" y="245"/>
                  <a:pt x="1277" y="191"/>
                </a:cubicBezTo>
                <a:cubicBezTo>
                  <a:pt x="1222" y="137"/>
                  <a:pt x="1163" y="57"/>
                  <a:pt x="1097" y="32"/>
                </a:cubicBezTo>
                <a:close/>
              </a:path>
            </a:pathLst>
          </a:custGeom>
          <a:solidFill>
            <a:srgbClr val="66FFCC"/>
          </a:solidFill>
          <a:ln>
            <a:noFill/>
          </a:ln>
          <a:effectLst/>
          <a:extLst>
            <a:ext uri="{91240B29-F687-4F45-9708-019B960494DF}">
              <a14:hiddenLine xmlns:a14="http://schemas.microsoft.com/office/drawing/2010/main" w="38100" cmpd="sng">
                <a:solidFill>
                  <a:srgbClr val="5F5F5F"/>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 name="Text Box 96"/>
          <p:cNvSpPr txBox="1">
            <a:spLocks noChangeArrowheads="1"/>
          </p:cNvSpPr>
          <p:nvPr/>
        </p:nvSpPr>
        <p:spPr bwMode="auto">
          <a:xfrm>
            <a:off x="1728519" y="2584575"/>
            <a:ext cx="772969" cy="3563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70000"/>
              </a:lnSpc>
            </a:pPr>
            <a:r>
              <a:rPr kumimoji="1" lang="zh-CN" altLang="zh-CN" sz="1200" b="1" dirty="0">
                <a:solidFill>
                  <a:schemeClr val="bg1"/>
                </a:solidFill>
                <a:latin typeface="微软雅黑 Light" panose="020B0502040204020203" pitchFamily="34" charset="-122"/>
                <a:ea typeface="微软雅黑 Light" panose="020B0502040204020203" pitchFamily="34" charset="-122"/>
              </a:rPr>
              <a:t> 区</a:t>
            </a:r>
            <a:endParaRPr kumimoji="1" lang="zh-CN" altLang="en-US" sz="1200" b="1" dirty="0">
              <a:solidFill>
                <a:schemeClr val="bg1"/>
              </a:solidFill>
              <a:latin typeface="微软雅黑 Light" panose="020B0502040204020203" pitchFamily="34" charset="-122"/>
              <a:ea typeface="微软雅黑 Light" panose="020B0502040204020203" pitchFamily="34" charset="-122"/>
            </a:endParaRPr>
          </a:p>
          <a:p>
            <a:pPr algn="ctr" eaLnBrk="1" hangingPunct="1">
              <a:lnSpc>
                <a:spcPct val="70000"/>
              </a:lnSpc>
            </a:pPr>
            <a:r>
              <a:rPr kumimoji="1" lang="en-US" altLang="zh-CN" sz="1200" b="1" dirty="0">
                <a:solidFill>
                  <a:schemeClr val="bg1"/>
                </a:solidFill>
                <a:latin typeface="微软雅黑 Light" panose="020B0502040204020203" pitchFamily="34" charset="-122"/>
                <a:ea typeface="微软雅黑 Light" panose="020B0502040204020203" pitchFamily="34" charset="-122"/>
              </a:rPr>
              <a:t>abc.com</a:t>
            </a:r>
          </a:p>
        </p:txBody>
      </p:sp>
      <p:sp>
        <p:nvSpPr>
          <p:cNvPr id="16" name="Freeform 97"/>
          <p:cNvSpPr>
            <a:spLocks/>
          </p:cNvSpPr>
          <p:nvPr/>
        </p:nvSpPr>
        <p:spPr bwMode="auto">
          <a:xfrm>
            <a:off x="2099448" y="2900491"/>
            <a:ext cx="86079" cy="351337"/>
          </a:xfrm>
          <a:custGeom>
            <a:avLst/>
            <a:gdLst>
              <a:gd name="T0" fmla="*/ 0 w 172"/>
              <a:gd name="T1" fmla="*/ 0 h 244"/>
              <a:gd name="T2" fmla="*/ 2147483646 w 172"/>
              <a:gd name="T3" fmla="*/ 2147483646 h 244"/>
              <a:gd name="T4" fmla="*/ 0 60000 65536"/>
              <a:gd name="T5" fmla="*/ 0 60000 65536"/>
            </a:gdLst>
            <a:ahLst/>
            <a:cxnLst>
              <a:cxn ang="T4">
                <a:pos x="T0" y="T1"/>
              </a:cxn>
              <a:cxn ang="T5">
                <a:pos x="T2" y="T3"/>
              </a:cxn>
            </a:cxnLst>
            <a:rect l="0" t="0" r="r" b="b"/>
            <a:pathLst>
              <a:path w="172" h="244">
                <a:moveTo>
                  <a:pt x="0" y="0"/>
                </a:moveTo>
                <a:lnTo>
                  <a:pt x="172" y="244"/>
                </a:lnTo>
              </a:path>
            </a:pathLst>
          </a:custGeom>
          <a:noFill/>
          <a:ln w="12700">
            <a:solidFill>
              <a:srgbClr val="FFFF00"/>
            </a:solidFill>
            <a:round/>
            <a:headEnd/>
            <a:tailEnd type="triangl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7" name="Line 98"/>
          <p:cNvSpPr>
            <a:spLocks noChangeShapeType="1"/>
          </p:cNvSpPr>
          <p:nvPr/>
        </p:nvSpPr>
        <p:spPr bwMode="auto">
          <a:xfrm flipH="1">
            <a:off x="2837863" y="2574044"/>
            <a:ext cx="235422" cy="399204"/>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 name="Line 99"/>
          <p:cNvSpPr>
            <a:spLocks noChangeShapeType="1"/>
          </p:cNvSpPr>
          <p:nvPr/>
        </p:nvSpPr>
        <p:spPr bwMode="auto">
          <a:xfrm>
            <a:off x="3203958" y="2592234"/>
            <a:ext cx="308018" cy="372398"/>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 name="Line 100"/>
          <p:cNvSpPr>
            <a:spLocks noChangeShapeType="1"/>
          </p:cNvSpPr>
          <p:nvPr/>
        </p:nvSpPr>
        <p:spPr bwMode="auto">
          <a:xfrm>
            <a:off x="3564869" y="3039303"/>
            <a:ext cx="329798" cy="477704"/>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0" name="Line 101"/>
          <p:cNvSpPr>
            <a:spLocks noChangeShapeType="1"/>
          </p:cNvSpPr>
          <p:nvPr/>
        </p:nvSpPr>
        <p:spPr bwMode="auto">
          <a:xfrm>
            <a:off x="2853419" y="3050790"/>
            <a:ext cx="402394" cy="425051"/>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Line 102"/>
          <p:cNvSpPr>
            <a:spLocks noChangeShapeType="1"/>
          </p:cNvSpPr>
          <p:nvPr/>
        </p:nvSpPr>
        <p:spPr bwMode="auto">
          <a:xfrm flipH="1">
            <a:off x="2783933" y="3057492"/>
            <a:ext cx="11408" cy="363782"/>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2" name="Line 103"/>
          <p:cNvSpPr>
            <a:spLocks noChangeShapeType="1"/>
          </p:cNvSpPr>
          <p:nvPr/>
        </p:nvSpPr>
        <p:spPr bwMode="auto">
          <a:xfrm flipH="1">
            <a:off x="2292348" y="3008668"/>
            <a:ext cx="488474" cy="467173"/>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3" name="Oval 104"/>
          <p:cNvSpPr>
            <a:spLocks noChangeArrowheads="1"/>
          </p:cNvSpPr>
          <p:nvPr/>
        </p:nvSpPr>
        <p:spPr bwMode="auto">
          <a:xfrm>
            <a:off x="2908385" y="2438104"/>
            <a:ext cx="424174" cy="231672"/>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err="1">
                <a:latin typeface="微软雅黑 Light" panose="020B0502040204020203" pitchFamily="34" charset="-122"/>
                <a:ea typeface="微软雅黑 Light" panose="020B0502040204020203" pitchFamily="34" charset="-122"/>
              </a:rPr>
              <a:t>abc</a:t>
            </a:r>
            <a:endParaRPr kumimoji="1" lang="en-US" altLang="zh-CN" sz="1200" b="1" dirty="0">
              <a:latin typeface="微软雅黑 Light" panose="020B0502040204020203" pitchFamily="34" charset="-122"/>
              <a:ea typeface="微软雅黑 Light" panose="020B0502040204020203" pitchFamily="34" charset="-122"/>
            </a:endParaRPr>
          </a:p>
        </p:txBody>
      </p:sp>
      <p:sp>
        <p:nvSpPr>
          <p:cNvPr id="24" name="Oval 105"/>
          <p:cNvSpPr>
            <a:spLocks noChangeArrowheads="1"/>
          </p:cNvSpPr>
          <p:nvPr/>
        </p:nvSpPr>
        <p:spPr bwMode="auto">
          <a:xfrm>
            <a:off x="2620071" y="2915808"/>
            <a:ext cx="372319" cy="184763"/>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x</a:t>
            </a:r>
          </a:p>
        </p:txBody>
      </p:sp>
      <p:sp>
        <p:nvSpPr>
          <p:cNvPr id="25" name="Oval 106"/>
          <p:cNvSpPr>
            <a:spLocks noChangeArrowheads="1"/>
          </p:cNvSpPr>
          <p:nvPr/>
        </p:nvSpPr>
        <p:spPr bwMode="auto">
          <a:xfrm>
            <a:off x="2090114" y="3424146"/>
            <a:ext cx="372318" cy="18572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u</a:t>
            </a:r>
          </a:p>
        </p:txBody>
      </p:sp>
      <p:sp>
        <p:nvSpPr>
          <p:cNvPr id="26" name="Oval 107"/>
          <p:cNvSpPr>
            <a:spLocks noChangeArrowheads="1"/>
          </p:cNvSpPr>
          <p:nvPr/>
        </p:nvSpPr>
        <p:spPr bwMode="auto">
          <a:xfrm>
            <a:off x="2584810" y="3424146"/>
            <a:ext cx="372319" cy="18572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v</a:t>
            </a:r>
          </a:p>
        </p:txBody>
      </p:sp>
      <p:sp>
        <p:nvSpPr>
          <p:cNvPr id="27" name="Oval 108"/>
          <p:cNvSpPr>
            <a:spLocks noChangeArrowheads="1"/>
          </p:cNvSpPr>
          <p:nvPr/>
        </p:nvSpPr>
        <p:spPr bwMode="auto">
          <a:xfrm>
            <a:off x="3080544" y="3424146"/>
            <a:ext cx="372319" cy="18572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w</a:t>
            </a:r>
          </a:p>
        </p:txBody>
      </p:sp>
      <p:sp>
        <p:nvSpPr>
          <p:cNvPr id="28" name="Oval 109"/>
          <p:cNvSpPr>
            <a:spLocks noChangeArrowheads="1"/>
          </p:cNvSpPr>
          <p:nvPr/>
        </p:nvSpPr>
        <p:spPr bwMode="auto">
          <a:xfrm>
            <a:off x="3682061" y="3424146"/>
            <a:ext cx="372319" cy="18572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t</a:t>
            </a:r>
          </a:p>
        </p:txBody>
      </p:sp>
      <p:sp>
        <p:nvSpPr>
          <p:cNvPr id="29" name="Oval 110"/>
          <p:cNvSpPr>
            <a:spLocks noChangeArrowheads="1"/>
          </p:cNvSpPr>
          <p:nvPr/>
        </p:nvSpPr>
        <p:spPr bwMode="auto">
          <a:xfrm>
            <a:off x="3363672" y="2915808"/>
            <a:ext cx="372318" cy="184763"/>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y</a:t>
            </a:r>
          </a:p>
        </p:txBody>
      </p:sp>
      <p:sp>
        <p:nvSpPr>
          <p:cNvPr id="30" name="Text Box 111"/>
          <p:cNvSpPr txBox="1">
            <a:spLocks noChangeArrowheads="1"/>
          </p:cNvSpPr>
          <p:nvPr/>
        </p:nvSpPr>
        <p:spPr bwMode="auto">
          <a:xfrm>
            <a:off x="2584029" y="3868344"/>
            <a:ext cx="103425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(a) </a:t>
            </a:r>
            <a:r>
              <a:rPr kumimoji="1" lang="zh-CN" altLang="en-US" sz="1400" b="1" dirty="0">
                <a:latin typeface="微软雅黑 Light" panose="020B0502040204020203" pitchFamily="34" charset="-122"/>
                <a:ea typeface="微软雅黑 Light" panose="020B0502040204020203" pitchFamily="34" charset="-122"/>
              </a:rPr>
              <a:t>区 </a:t>
            </a:r>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域</a:t>
            </a:r>
          </a:p>
        </p:txBody>
      </p:sp>
      <p:sp>
        <p:nvSpPr>
          <p:cNvPr id="75" name="AutoShape 152"/>
          <p:cNvSpPr>
            <a:spLocks noChangeArrowheads="1"/>
          </p:cNvSpPr>
          <p:nvPr/>
        </p:nvSpPr>
        <p:spPr bwMode="auto">
          <a:xfrm>
            <a:off x="2858604" y="1720113"/>
            <a:ext cx="542403" cy="290069"/>
          </a:xfrm>
          <a:prstGeom prst="roundRect">
            <a:avLst>
              <a:gd name="adj" fmla="val 34167"/>
            </a:avLst>
          </a:prstGeom>
          <a:solidFill>
            <a:srgbClr val="66FF66"/>
          </a:solidFill>
          <a:ln>
            <a:noFill/>
          </a:ln>
          <a:effec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com</a:t>
            </a:r>
          </a:p>
        </p:txBody>
      </p:sp>
      <p:sp>
        <p:nvSpPr>
          <p:cNvPr id="76" name="AutoShape 153"/>
          <p:cNvSpPr>
            <a:spLocks noChangeArrowheads="1"/>
          </p:cNvSpPr>
          <p:nvPr/>
        </p:nvSpPr>
        <p:spPr bwMode="auto">
          <a:xfrm>
            <a:off x="3737028" y="1713411"/>
            <a:ext cx="541366" cy="291026"/>
          </a:xfrm>
          <a:prstGeom prst="roundRect">
            <a:avLst>
              <a:gd name="adj" fmla="val 34167"/>
            </a:avLst>
          </a:prstGeom>
          <a:solidFill>
            <a:srgbClr val="00B0F0"/>
          </a:solidFill>
          <a:ln>
            <a:noFill/>
          </a:ln>
          <a:effectLst/>
        </p:spPr>
        <p:txBody>
          <a:bodyPr wrap="none" anchor="ctr"/>
          <a:lstStyle/>
          <a:p>
            <a:pPr algn="ctr" eaLnBrk="1" hangingPunct="1"/>
            <a:r>
              <a:rPr kumimoji="1" lang="en-US" altLang="zh-CN" sz="1200" b="1" dirty="0" err="1">
                <a:latin typeface="微软雅黑 Light" panose="020B0502040204020203" pitchFamily="34" charset="-122"/>
                <a:ea typeface="微软雅黑 Light" panose="020B0502040204020203" pitchFamily="34" charset="-122"/>
              </a:rPr>
              <a:t>edu</a:t>
            </a:r>
            <a:endParaRPr kumimoji="1" lang="en-US" altLang="zh-CN" sz="1200" b="1" dirty="0">
              <a:latin typeface="微软雅黑 Light" panose="020B0502040204020203" pitchFamily="34" charset="-122"/>
              <a:ea typeface="微软雅黑 Light" panose="020B0502040204020203" pitchFamily="34" charset="-122"/>
            </a:endParaRPr>
          </a:p>
        </p:txBody>
      </p:sp>
      <p:sp>
        <p:nvSpPr>
          <p:cNvPr id="77" name="AutoShape 154"/>
          <p:cNvSpPr>
            <a:spLocks noChangeArrowheads="1"/>
          </p:cNvSpPr>
          <p:nvPr/>
        </p:nvSpPr>
        <p:spPr bwMode="auto">
          <a:xfrm>
            <a:off x="1984330" y="1713411"/>
            <a:ext cx="542403" cy="291026"/>
          </a:xfrm>
          <a:prstGeom prst="roundRect">
            <a:avLst>
              <a:gd name="adj" fmla="val 34167"/>
            </a:avLst>
          </a:prstGeom>
          <a:solidFill>
            <a:srgbClr val="00FFCC"/>
          </a:solidFill>
          <a:ln>
            <a:noFill/>
          </a:ln>
          <a:effec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org</a:t>
            </a:r>
          </a:p>
        </p:txBody>
      </p:sp>
      <p:grpSp>
        <p:nvGrpSpPr>
          <p:cNvPr id="78" name="Group 155"/>
          <p:cNvGrpSpPr>
            <a:grpSpLocks/>
          </p:cNvGrpSpPr>
          <p:nvPr/>
        </p:nvGrpSpPr>
        <p:grpSpPr bwMode="auto">
          <a:xfrm>
            <a:off x="3874961" y="2005395"/>
            <a:ext cx="265498" cy="93818"/>
            <a:chOff x="2875" y="1143"/>
            <a:chExt cx="330" cy="132"/>
          </a:xfrm>
        </p:grpSpPr>
        <p:sp>
          <p:nvSpPr>
            <p:cNvPr id="79" name="Line 156"/>
            <p:cNvSpPr>
              <a:spLocks noChangeShapeType="1"/>
            </p:cNvSpPr>
            <p:nvPr/>
          </p:nvSpPr>
          <p:spPr bwMode="auto">
            <a:xfrm>
              <a:off x="3061"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80" name="Line 157"/>
            <p:cNvSpPr>
              <a:spLocks noChangeShapeType="1"/>
            </p:cNvSpPr>
            <p:nvPr/>
          </p:nvSpPr>
          <p:spPr bwMode="auto">
            <a:xfrm>
              <a:off x="3050" y="1143"/>
              <a:ext cx="37" cy="1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81" name="Line 158"/>
            <p:cNvSpPr>
              <a:spLocks noChangeShapeType="1"/>
            </p:cNvSpPr>
            <p:nvPr/>
          </p:nvSpPr>
          <p:spPr bwMode="auto">
            <a:xfrm flipH="1">
              <a:off x="2875"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82" name="Line 159"/>
            <p:cNvSpPr>
              <a:spLocks noChangeShapeType="1"/>
            </p:cNvSpPr>
            <p:nvPr/>
          </p:nvSpPr>
          <p:spPr bwMode="auto">
            <a:xfrm flipH="1">
              <a:off x="2980" y="1143"/>
              <a:ext cx="54" cy="12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grpSp>
        <p:nvGrpSpPr>
          <p:cNvPr id="83" name="Group 160"/>
          <p:cNvGrpSpPr>
            <a:grpSpLocks/>
          </p:cNvGrpSpPr>
          <p:nvPr/>
        </p:nvGrpSpPr>
        <p:grpSpPr bwMode="auto">
          <a:xfrm>
            <a:off x="2123301" y="2005395"/>
            <a:ext cx="265498" cy="93818"/>
            <a:chOff x="2875" y="1143"/>
            <a:chExt cx="330" cy="132"/>
          </a:xfrm>
        </p:grpSpPr>
        <p:sp>
          <p:nvSpPr>
            <p:cNvPr id="84" name="Line 161"/>
            <p:cNvSpPr>
              <a:spLocks noChangeShapeType="1"/>
            </p:cNvSpPr>
            <p:nvPr/>
          </p:nvSpPr>
          <p:spPr bwMode="auto">
            <a:xfrm>
              <a:off x="3061"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85" name="Line 162"/>
            <p:cNvSpPr>
              <a:spLocks noChangeShapeType="1"/>
            </p:cNvSpPr>
            <p:nvPr/>
          </p:nvSpPr>
          <p:spPr bwMode="auto">
            <a:xfrm>
              <a:off x="3050" y="1143"/>
              <a:ext cx="37" cy="1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86" name="Line 163"/>
            <p:cNvSpPr>
              <a:spLocks noChangeShapeType="1"/>
            </p:cNvSpPr>
            <p:nvPr/>
          </p:nvSpPr>
          <p:spPr bwMode="auto">
            <a:xfrm flipH="1">
              <a:off x="2875"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87" name="Line 164"/>
            <p:cNvSpPr>
              <a:spLocks noChangeShapeType="1"/>
            </p:cNvSpPr>
            <p:nvPr/>
          </p:nvSpPr>
          <p:spPr bwMode="auto">
            <a:xfrm flipH="1">
              <a:off x="2980" y="1143"/>
              <a:ext cx="54" cy="12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88" name="AutoShape 165"/>
          <p:cNvSpPr>
            <a:spLocks noChangeArrowheads="1"/>
          </p:cNvSpPr>
          <p:nvPr/>
        </p:nvSpPr>
        <p:spPr bwMode="auto">
          <a:xfrm>
            <a:off x="2845123" y="1219433"/>
            <a:ext cx="541366" cy="291026"/>
          </a:xfrm>
          <a:prstGeom prst="roundRect">
            <a:avLst>
              <a:gd name="adj" fmla="val 34167"/>
            </a:avLst>
          </a:prstGeom>
          <a:solidFill>
            <a:srgbClr val="FF66FF"/>
          </a:solidFill>
          <a:ln>
            <a:noFill/>
          </a:ln>
          <a:effectLst/>
        </p:spPr>
        <p:txBody>
          <a:bodyPr wrap="none" anchor="ctr"/>
          <a:lstStyle/>
          <a:p>
            <a:pPr algn="ctr" eaLnBrk="1" hangingPunct="1"/>
            <a:r>
              <a:rPr kumimoji="1" lang="zh-CN" altLang="en-US" sz="1200" b="1" dirty="0">
                <a:latin typeface="微软雅黑 Light" panose="020B0502040204020203" pitchFamily="34" charset="-122"/>
                <a:ea typeface="微软雅黑 Light" panose="020B0502040204020203" pitchFamily="34" charset="-122"/>
              </a:rPr>
              <a:t>根</a:t>
            </a:r>
          </a:p>
        </p:txBody>
      </p:sp>
      <p:sp>
        <p:nvSpPr>
          <p:cNvPr id="89" name="Line 166"/>
          <p:cNvSpPr>
            <a:spLocks noChangeShapeType="1"/>
          </p:cNvSpPr>
          <p:nvPr/>
        </p:nvSpPr>
        <p:spPr bwMode="auto">
          <a:xfrm>
            <a:off x="3183216" y="1507587"/>
            <a:ext cx="821382" cy="20391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90" name="Line 167"/>
          <p:cNvSpPr>
            <a:spLocks noChangeShapeType="1"/>
          </p:cNvSpPr>
          <p:nvPr/>
        </p:nvSpPr>
        <p:spPr bwMode="auto">
          <a:xfrm flipV="1">
            <a:off x="2256049" y="1507587"/>
            <a:ext cx="807900" cy="20391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91" name="Line 168"/>
          <p:cNvSpPr>
            <a:spLocks noChangeShapeType="1"/>
          </p:cNvSpPr>
          <p:nvPr/>
        </p:nvSpPr>
        <p:spPr bwMode="auto">
          <a:xfrm>
            <a:off x="3127213" y="1507587"/>
            <a:ext cx="0" cy="20391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nvGrpSpPr>
          <p:cNvPr id="92" name="Group 169"/>
          <p:cNvGrpSpPr>
            <a:grpSpLocks/>
          </p:cNvGrpSpPr>
          <p:nvPr/>
        </p:nvGrpSpPr>
        <p:grpSpPr bwMode="auto">
          <a:xfrm>
            <a:off x="2993427" y="2005395"/>
            <a:ext cx="265498" cy="93818"/>
            <a:chOff x="1519" y="813"/>
            <a:chExt cx="227" cy="77"/>
          </a:xfrm>
        </p:grpSpPr>
        <p:sp>
          <p:nvSpPr>
            <p:cNvPr id="93" name="Line 170"/>
            <p:cNvSpPr>
              <a:spLocks noChangeShapeType="1"/>
            </p:cNvSpPr>
            <p:nvPr/>
          </p:nvSpPr>
          <p:spPr bwMode="auto">
            <a:xfrm>
              <a:off x="1647" y="813"/>
              <a:ext cx="99" cy="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94" name="Line 171"/>
            <p:cNvSpPr>
              <a:spLocks noChangeShapeType="1"/>
            </p:cNvSpPr>
            <p:nvPr/>
          </p:nvSpPr>
          <p:spPr bwMode="auto">
            <a:xfrm flipH="1">
              <a:off x="1519" y="813"/>
              <a:ext cx="99" cy="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Tree>
    <p:extLst>
      <p:ext uri="{BB962C8B-B14F-4D97-AF65-F5344CB8AC3E}">
        <p14:creationId xmlns:p14="http://schemas.microsoft.com/office/powerpoint/2010/main" val="8590875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with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wipe(up)">
                                      <p:cBhvr>
                                        <p:cTn id="7" dur="500"/>
                                        <p:tgtEl>
                                          <p:spTgt spid="30"/>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1"/>
                                        </p:tgtEl>
                                        <p:attrNameLst>
                                          <p:attrName>style.visibility</p:attrName>
                                        </p:attrNameLst>
                                      </p:cBhvr>
                                      <p:to>
                                        <p:strVal val="visible"/>
                                      </p:to>
                                    </p:set>
                                    <p:animEffect transition="in" filter="wipe(up)">
                                      <p:cBhvr>
                                        <p:cTn id="12"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236" name="Rectangle 6"/>
          <p:cNvSpPr>
            <a:spLocks noChangeArrowheads="1"/>
          </p:cNvSpPr>
          <p:nvPr/>
        </p:nvSpPr>
        <p:spPr bwMode="auto">
          <a:xfrm>
            <a:off x="2803462" y="582898"/>
            <a:ext cx="355578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树状结构的 </a:t>
            </a:r>
            <a:r>
              <a:rPr lang="en-US" altLang="zh-CN" sz="2000" b="1" dirty="0">
                <a:solidFill>
                  <a:schemeClr val="bg1"/>
                </a:solidFill>
                <a:latin typeface="微软雅黑 Light" panose="020B0502040204020203" pitchFamily="34" charset="-122"/>
                <a:ea typeface="微软雅黑 Light" panose="020B0502040204020203" pitchFamily="34" charset="-122"/>
              </a:rPr>
              <a:t>DNS </a:t>
            </a:r>
            <a:r>
              <a:rPr lang="zh-CN" altLang="en-US" sz="2000" b="1" dirty="0">
                <a:solidFill>
                  <a:schemeClr val="bg1"/>
                </a:solidFill>
                <a:latin typeface="微软雅黑 Light" panose="020B0502040204020203" pitchFamily="34" charset="-122"/>
                <a:ea typeface="微软雅黑 Light" panose="020B0502040204020203" pitchFamily="34" charset="-122"/>
              </a:rPr>
              <a:t>域名服务器</a:t>
            </a:r>
          </a:p>
        </p:txBody>
      </p:sp>
      <p:grpSp>
        <p:nvGrpSpPr>
          <p:cNvPr id="2" name="组合 1"/>
          <p:cNvGrpSpPr/>
          <p:nvPr/>
        </p:nvGrpSpPr>
        <p:grpSpPr>
          <a:xfrm>
            <a:off x="1124956" y="1129683"/>
            <a:ext cx="6831277" cy="2755833"/>
            <a:chOff x="128464" y="1556792"/>
            <a:chExt cx="9873325" cy="3983038"/>
          </a:xfrm>
        </p:grpSpPr>
        <p:sp>
          <p:nvSpPr>
            <p:cNvPr id="276" name="AutoShape 31"/>
            <p:cNvSpPr>
              <a:spLocks noChangeArrowheads="1"/>
            </p:cNvSpPr>
            <p:nvPr/>
          </p:nvSpPr>
          <p:spPr bwMode="auto">
            <a:xfrm>
              <a:off x="4154498" y="3455442"/>
              <a:ext cx="2858294" cy="2084388"/>
            </a:xfrm>
            <a:prstGeom prst="roundRect">
              <a:avLst>
                <a:gd name="adj" fmla="val 16667"/>
              </a:avLst>
            </a:prstGeom>
            <a:solidFill>
              <a:srgbClr val="00FFCC"/>
            </a:solidFill>
            <a:ln w="9525">
              <a:solidFill>
                <a:schemeClr val="tx1"/>
              </a:solidFill>
              <a:prstDash val="dash"/>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grpSp>
          <p:nvGrpSpPr>
            <p:cNvPr id="277" name="Group 5"/>
            <p:cNvGrpSpPr>
              <a:grpSpLocks/>
            </p:cNvGrpSpPr>
            <p:nvPr/>
          </p:nvGrpSpPr>
          <p:grpSpPr bwMode="auto">
            <a:xfrm>
              <a:off x="3540531" y="2136615"/>
              <a:ext cx="4677833" cy="415541"/>
              <a:chOff x="2294" y="553"/>
              <a:chExt cx="2450" cy="337"/>
            </a:xfrm>
          </p:grpSpPr>
          <p:sp>
            <p:nvSpPr>
              <p:cNvPr id="278" name="Line 6"/>
              <p:cNvSpPr>
                <a:spLocks noChangeShapeType="1"/>
              </p:cNvSpPr>
              <p:nvPr/>
            </p:nvSpPr>
            <p:spPr bwMode="auto">
              <a:xfrm flipV="1">
                <a:off x="2294" y="553"/>
                <a:ext cx="1074" cy="3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79" name="Line 7"/>
              <p:cNvSpPr>
                <a:spLocks noChangeShapeType="1"/>
              </p:cNvSpPr>
              <p:nvPr/>
            </p:nvSpPr>
            <p:spPr bwMode="auto">
              <a:xfrm>
                <a:off x="3474" y="553"/>
                <a:ext cx="0" cy="3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80" name="Line 8"/>
              <p:cNvSpPr>
                <a:spLocks noChangeShapeType="1"/>
              </p:cNvSpPr>
              <p:nvPr/>
            </p:nvSpPr>
            <p:spPr bwMode="auto">
              <a:xfrm flipH="1" flipV="1">
                <a:off x="3595" y="553"/>
                <a:ext cx="1149" cy="3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281" name="Rectangle 9"/>
            <p:cNvSpPr>
              <a:spLocks noChangeArrowheads="1"/>
            </p:cNvSpPr>
            <p:nvPr/>
          </p:nvSpPr>
          <p:spPr bwMode="auto">
            <a:xfrm>
              <a:off x="4847573" y="1639342"/>
              <a:ext cx="1905529" cy="496888"/>
            </a:xfrm>
            <a:prstGeom prst="rect">
              <a:avLst/>
            </a:prstGeom>
            <a:solidFill>
              <a:srgbClr val="CC00CC"/>
            </a:solidFill>
            <a:ln>
              <a:noFill/>
            </a:ln>
            <a:effectLst/>
            <a:extLst>
              <a:ext uri="{91240B29-F687-4F45-9708-019B960494DF}">
                <a14:hiddenLine xmlns:a14="http://schemas.microsoft.com/office/drawing/2010/main" w="9525" algn="ctr">
                  <a:solidFill>
                    <a:schemeClr val="tx1"/>
                  </a:solidFill>
                  <a:miter lim="800000"/>
                  <a:headEnd/>
                  <a:tailEnd/>
                </a14:hiddenLine>
              </a:ext>
            </a:extLst>
          </p:spPr>
          <p:txBody>
            <a:bodyPr wrap="none" anchor="ct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根域名服务器</a:t>
              </a:r>
            </a:p>
          </p:txBody>
        </p:sp>
        <p:sp>
          <p:nvSpPr>
            <p:cNvPr id="282" name="Rectangle 10"/>
            <p:cNvSpPr>
              <a:spLocks noChangeArrowheads="1"/>
            </p:cNvSpPr>
            <p:nvPr/>
          </p:nvSpPr>
          <p:spPr bwMode="auto">
            <a:xfrm>
              <a:off x="2413379" y="2552157"/>
              <a:ext cx="2096082" cy="496887"/>
            </a:xfrm>
            <a:prstGeom prst="rect">
              <a:avLst/>
            </a:prstGeom>
            <a:solidFill>
              <a:srgbClr val="008000"/>
            </a:solidFill>
            <a:ln>
              <a:noFill/>
            </a:ln>
            <a:effectLst/>
            <a:extLst>
              <a:ext uri="{91240B29-F687-4F45-9708-019B960494DF}">
                <a14:hiddenLine xmlns:a14="http://schemas.microsoft.com/office/drawing/2010/main" w="9525" algn="ctr">
                  <a:solidFill>
                    <a:schemeClr val="tx1"/>
                  </a:solidFill>
                  <a:miter lim="800000"/>
                  <a:headEnd/>
                  <a:tailEnd/>
                </a14:hiddenLine>
              </a:ext>
            </a:extLst>
          </p:spPr>
          <p:txBody>
            <a:bodyPr wrap="none" anchor="ctr"/>
            <a:lstStyle/>
            <a:p>
              <a:pPr algn="ctr" eaLnBrk="1" hangingPunct="1"/>
              <a:r>
                <a:rPr kumimoji="1" lang="en-US" altLang="zh-CN" sz="1400" b="1" dirty="0">
                  <a:solidFill>
                    <a:schemeClr val="bg1"/>
                  </a:solidFill>
                  <a:latin typeface="微软雅黑 Light" panose="020B0502040204020203" pitchFamily="34" charset="-122"/>
                  <a:ea typeface="微软雅黑 Light" panose="020B0502040204020203" pitchFamily="34" charset="-122"/>
                </a:rPr>
                <a:t>org </a:t>
              </a:r>
              <a:r>
                <a:rPr kumimoji="1" lang="zh-CN" altLang="en-US" sz="1400" b="1" dirty="0">
                  <a:solidFill>
                    <a:schemeClr val="bg1"/>
                  </a:solidFill>
                  <a:latin typeface="微软雅黑 Light" panose="020B0502040204020203" pitchFamily="34" charset="-122"/>
                  <a:ea typeface="微软雅黑 Light" panose="020B0502040204020203" pitchFamily="34" charset="-122"/>
                </a:rPr>
                <a:t>域名服务器</a:t>
              </a:r>
            </a:p>
          </p:txBody>
        </p:sp>
        <p:sp>
          <p:nvSpPr>
            <p:cNvPr id="283" name="Rectangle 11"/>
            <p:cNvSpPr>
              <a:spLocks noChangeArrowheads="1"/>
            </p:cNvSpPr>
            <p:nvPr/>
          </p:nvSpPr>
          <p:spPr bwMode="auto">
            <a:xfrm>
              <a:off x="4752297" y="2552157"/>
              <a:ext cx="2096082" cy="496887"/>
            </a:xfrm>
            <a:prstGeom prst="rect">
              <a:avLst/>
            </a:prstGeom>
            <a:solidFill>
              <a:srgbClr val="0000FF"/>
            </a:solidFill>
            <a:ln>
              <a:noFill/>
            </a:ln>
            <a:effectLst/>
            <a:extLst>
              <a:ext uri="{91240B29-F687-4F45-9708-019B960494DF}">
                <a14:hiddenLine xmlns:a14="http://schemas.microsoft.com/office/drawing/2010/main" w="9525" algn="ctr">
                  <a:solidFill>
                    <a:schemeClr val="tx1"/>
                  </a:solidFill>
                  <a:miter lim="800000"/>
                  <a:headEnd/>
                  <a:tailEnd/>
                </a14:hiddenLine>
              </a:ext>
            </a:extLst>
          </p:spPr>
          <p:txBody>
            <a:bodyPr wrap="none" anchor="ctr"/>
            <a:lstStyle/>
            <a:p>
              <a:pPr algn="ctr" eaLnBrk="1" hangingPunct="1"/>
              <a:r>
                <a:rPr kumimoji="1" lang="en-US" altLang="zh-CN" sz="1400" b="1" dirty="0">
                  <a:solidFill>
                    <a:schemeClr val="bg1"/>
                  </a:solidFill>
                  <a:latin typeface="微软雅黑 Light" panose="020B0502040204020203" pitchFamily="34" charset="-122"/>
                  <a:ea typeface="微软雅黑 Light" panose="020B0502040204020203" pitchFamily="34" charset="-122"/>
                </a:rPr>
                <a:t>com </a:t>
              </a:r>
              <a:r>
                <a:rPr kumimoji="1" lang="zh-CN" altLang="en-US" sz="1400" b="1" dirty="0">
                  <a:solidFill>
                    <a:schemeClr val="bg1"/>
                  </a:solidFill>
                  <a:latin typeface="微软雅黑 Light" panose="020B0502040204020203" pitchFamily="34" charset="-122"/>
                  <a:ea typeface="微软雅黑 Light" panose="020B0502040204020203" pitchFamily="34" charset="-122"/>
                </a:rPr>
                <a:t>域名服务器</a:t>
              </a:r>
            </a:p>
          </p:txBody>
        </p:sp>
        <p:sp>
          <p:nvSpPr>
            <p:cNvPr id="284" name="Rectangle 12"/>
            <p:cNvSpPr>
              <a:spLocks noChangeArrowheads="1"/>
            </p:cNvSpPr>
            <p:nvPr/>
          </p:nvSpPr>
          <p:spPr bwMode="auto">
            <a:xfrm>
              <a:off x="7092934" y="2552157"/>
              <a:ext cx="2096082" cy="496887"/>
            </a:xfrm>
            <a:prstGeom prst="rect">
              <a:avLst/>
            </a:prstGeom>
            <a:solidFill>
              <a:srgbClr val="7030A0"/>
            </a:solidFill>
            <a:ln>
              <a:noFill/>
            </a:ln>
            <a:effectLst/>
            <a:extLs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400" b="1" dirty="0" err="1">
                  <a:solidFill>
                    <a:schemeClr val="bg1"/>
                  </a:solidFill>
                  <a:latin typeface="微软雅黑 Light" panose="020B0502040204020203" pitchFamily="34" charset="-122"/>
                  <a:ea typeface="微软雅黑 Light" panose="020B0502040204020203" pitchFamily="34" charset="-122"/>
                </a:rPr>
                <a:t>edu</a:t>
              </a:r>
              <a:r>
                <a:rPr kumimoji="1" lang="en-US" altLang="zh-CN" sz="1400" b="1" dirty="0">
                  <a:solidFill>
                    <a:schemeClr val="bg1"/>
                  </a:solidFill>
                  <a:latin typeface="微软雅黑 Light" panose="020B0502040204020203" pitchFamily="34" charset="-122"/>
                  <a:ea typeface="微软雅黑 Light" panose="020B0502040204020203" pitchFamily="34" charset="-122"/>
                </a:rPr>
                <a:t> </a:t>
              </a:r>
              <a:r>
                <a:rPr kumimoji="1" lang="zh-CN" altLang="en-US" sz="1400" b="1" dirty="0">
                  <a:solidFill>
                    <a:schemeClr val="bg1"/>
                  </a:solidFill>
                  <a:latin typeface="微软雅黑 Light" panose="020B0502040204020203" pitchFamily="34" charset="-122"/>
                  <a:ea typeface="微软雅黑 Light" panose="020B0502040204020203" pitchFamily="34" charset="-122"/>
                </a:rPr>
                <a:t>域名服务器</a:t>
              </a:r>
            </a:p>
          </p:txBody>
        </p:sp>
        <p:grpSp>
          <p:nvGrpSpPr>
            <p:cNvPr id="285" name="Group 13"/>
            <p:cNvGrpSpPr>
              <a:grpSpLocks/>
            </p:cNvGrpSpPr>
            <p:nvPr/>
          </p:nvGrpSpPr>
          <p:grpSpPr bwMode="auto">
            <a:xfrm>
              <a:off x="7704147" y="3049042"/>
              <a:ext cx="866775" cy="249238"/>
              <a:chOff x="2875" y="1143"/>
              <a:chExt cx="330" cy="132"/>
            </a:xfrm>
          </p:grpSpPr>
          <p:sp>
            <p:nvSpPr>
              <p:cNvPr id="286" name="Line 14"/>
              <p:cNvSpPr>
                <a:spLocks noChangeShapeType="1"/>
              </p:cNvSpPr>
              <p:nvPr/>
            </p:nvSpPr>
            <p:spPr bwMode="auto">
              <a:xfrm>
                <a:off x="3061"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87" name="Line 15"/>
              <p:cNvSpPr>
                <a:spLocks noChangeShapeType="1"/>
              </p:cNvSpPr>
              <p:nvPr/>
            </p:nvSpPr>
            <p:spPr bwMode="auto">
              <a:xfrm>
                <a:off x="3050" y="1143"/>
                <a:ext cx="37" cy="1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88" name="Line 16"/>
              <p:cNvSpPr>
                <a:spLocks noChangeShapeType="1"/>
              </p:cNvSpPr>
              <p:nvPr/>
            </p:nvSpPr>
            <p:spPr bwMode="auto">
              <a:xfrm flipH="1">
                <a:off x="2875"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89" name="Line 17"/>
              <p:cNvSpPr>
                <a:spLocks noChangeShapeType="1"/>
              </p:cNvSpPr>
              <p:nvPr/>
            </p:nvSpPr>
            <p:spPr bwMode="auto">
              <a:xfrm flipH="1">
                <a:off x="2980" y="1143"/>
                <a:ext cx="54" cy="12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290" name="Text Box 18"/>
            <p:cNvSpPr txBox="1">
              <a:spLocks noChangeArrowheads="1"/>
            </p:cNvSpPr>
            <p:nvPr/>
          </p:nvSpPr>
          <p:spPr bwMode="auto">
            <a:xfrm>
              <a:off x="9263996" y="2533411"/>
              <a:ext cx="426763" cy="400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grpSp>
          <p:nvGrpSpPr>
            <p:cNvPr id="291" name="Group 19"/>
            <p:cNvGrpSpPr>
              <a:grpSpLocks/>
            </p:cNvGrpSpPr>
            <p:nvPr/>
          </p:nvGrpSpPr>
          <p:grpSpPr bwMode="auto">
            <a:xfrm>
              <a:off x="3028033" y="3049042"/>
              <a:ext cx="866775" cy="249238"/>
              <a:chOff x="2875" y="1143"/>
              <a:chExt cx="330" cy="132"/>
            </a:xfrm>
          </p:grpSpPr>
          <p:sp>
            <p:nvSpPr>
              <p:cNvPr id="292" name="Line 20"/>
              <p:cNvSpPr>
                <a:spLocks noChangeShapeType="1"/>
              </p:cNvSpPr>
              <p:nvPr/>
            </p:nvSpPr>
            <p:spPr bwMode="auto">
              <a:xfrm>
                <a:off x="3061"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3" name="Line 21"/>
              <p:cNvSpPr>
                <a:spLocks noChangeShapeType="1"/>
              </p:cNvSpPr>
              <p:nvPr/>
            </p:nvSpPr>
            <p:spPr bwMode="auto">
              <a:xfrm>
                <a:off x="3050" y="1143"/>
                <a:ext cx="37" cy="1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4" name="Line 22"/>
              <p:cNvSpPr>
                <a:spLocks noChangeShapeType="1"/>
              </p:cNvSpPr>
              <p:nvPr/>
            </p:nvSpPr>
            <p:spPr bwMode="auto">
              <a:xfrm flipH="1">
                <a:off x="2875"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5" name="Line 23"/>
              <p:cNvSpPr>
                <a:spLocks noChangeShapeType="1"/>
              </p:cNvSpPr>
              <p:nvPr/>
            </p:nvSpPr>
            <p:spPr bwMode="auto">
              <a:xfrm flipH="1">
                <a:off x="2980" y="1143"/>
                <a:ext cx="54" cy="12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296" name="Line 24"/>
            <p:cNvSpPr>
              <a:spLocks noChangeShapeType="1"/>
            </p:cNvSpPr>
            <p:nvPr/>
          </p:nvSpPr>
          <p:spPr bwMode="auto">
            <a:xfrm>
              <a:off x="5943081" y="3049042"/>
              <a:ext cx="376634" cy="24923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7" name="Line 25"/>
            <p:cNvSpPr>
              <a:spLocks noChangeShapeType="1"/>
            </p:cNvSpPr>
            <p:nvPr/>
          </p:nvSpPr>
          <p:spPr bwMode="auto">
            <a:xfrm>
              <a:off x="5913843" y="3049043"/>
              <a:ext cx="98029" cy="24447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8" name="Line 26"/>
            <p:cNvSpPr>
              <a:spLocks noChangeShapeType="1"/>
            </p:cNvSpPr>
            <p:nvPr/>
          </p:nvSpPr>
          <p:spPr bwMode="auto">
            <a:xfrm flipH="1">
              <a:off x="5452940" y="3049042"/>
              <a:ext cx="378354" cy="24923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9" name="Line 27"/>
            <p:cNvSpPr>
              <a:spLocks noChangeShapeType="1"/>
            </p:cNvSpPr>
            <p:nvPr/>
          </p:nvSpPr>
          <p:spPr bwMode="auto">
            <a:xfrm flipH="1">
              <a:off x="5590523" y="3049042"/>
              <a:ext cx="282046" cy="66833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1" name="Line 30"/>
            <p:cNvSpPr>
              <a:spLocks noChangeShapeType="1"/>
            </p:cNvSpPr>
            <p:nvPr/>
          </p:nvSpPr>
          <p:spPr bwMode="auto">
            <a:xfrm>
              <a:off x="5538929" y="4211093"/>
              <a:ext cx="0" cy="49847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2" name="Line 32"/>
            <p:cNvSpPr>
              <a:spLocks noChangeShapeType="1"/>
            </p:cNvSpPr>
            <p:nvPr/>
          </p:nvSpPr>
          <p:spPr bwMode="auto">
            <a:xfrm flipH="1" flipV="1">
              <a:off x="6557046" y="3918993"/>
              <a:ext cx="1394752" cy="180975"/>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3" name="Text Box 33"/>
            <p:cNvSpPr txBox="1">
              <a:spLocks noChangeArrowheads="1"/>
            </p:cNvSpPr>
            <p:nvPr/>
          </p:nvSpPr>
          <p:spPr bwMode="auto">
            <a:xfrm>
              <a:off x="7849639" y="3831681"/>
              <a:ext cx="2099521" cy="7562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solidFill>
                    <a:srgbClr val="0000FF"/>
                  </a:solidFill>
                  <a:latin typeface="微软雅黑 Light" panose="020B0502040204020203" pitchFamily="34" charset="-122"/>
                  <a:ea typeface="微软雅黑 Light" panose="020B0502040204020203" pitchFamily="34" charset="-122"/>
                </a:rPr>
                <a:t>abc</a:t>
              </a:r>
              <a:r>
                <a:rPr lang="en-US" altLang="zh-CN" sz="1400" b="1" dirty="0">
                  <a:solidFill>
                    <a:srgbClr val="0000FF"/>
                  </a:solidFill>
                  <a:latin typeface="微软雅黑 Light" panose="020B0502040204020203" pitchFamily="34" charset="-122"/>
                  <a:ea typeface="微软雅黑 Light" panose="020B0502040204020203" pitchFamily="34" charset="-122"/>
                </a:rPr>
                <a:t> </a:t>
              </a:r>
              <a:r>
                <a:rPr lang="zh-CN" altLang="en-US" sz="1400" b="1" dirty="0">
                  <a:solidFill>
                    <a:srgbClr val="0000FF"/>
                  </a:solidFill>
                  <a:latin typeface="微软雅黑 Light" panose="020B0502040204020203" pitchFamily="34" charset="-122"/>
                  <a:ea typeface="微软雅黑 Light" panose="020B0502040204020203" pitchFamily="34" charset="-122"/>
                </a:rPr>
                <a:t>公司有两个</a:t>
              </a:r>
            </a:p>
            <a:p>
              <a:pPr algn="ctr" eaLnBrk="1" hangingPunct="1"/>
              <a:r>
                <a:rPr lang="zh-CN" altLang="en-US" sz="1400" b="1" dirty="0">
                  <a:solidFill>
                    <a:srgbClr val="0000FF"/>
                  </a:solidFill>
                  <a:latin typeface="微软雅黑 Light" panose="020B0502040204020203" pitchFamily="34" charset="-122"/>
                  <a:ea typeface="微软雅黑 Light" panose="020B0502040204020203" pitchFamily="34" charset="-122"/>
                </a:rPr>
                <a:t>权限域名服务器</a:t>
              </a:r>
            </a:p>
          </p:txBody>
        </p:sp>
        <p:grpSp>
          <p:nvGrpSpPr>
            <p:cNvPr id="304" name="Group 34"/>
            <p:cNvGrpSpPr>
              <a:grpSpLocks/>
            </p:cNvGrpSpPr>
            <p:nvPr/>
          </p:nvGrpSpPr>
          <p:grpSpPr bwMode="auto">
            <a:xfrm>
              <a:off x="128464" y="2385468"/>
              <a:ext cx="9873325" cy="830263"/>
              <a:chOff x="158" y="799"/>
              <a:chExt cx="5444" cy="454"/>
            </a:xfrm>
          </p:grpSpPr>
          <p:sp>
            <p:nvSpPr>
              <p:cNvPr id="305" name="Line 35"/>
              <p:cNvSpPr>
                <a:spLocks noChangeShapeType="1"/>
              </p:cNvSpPr>
              <p:nvPr/>
            </p:nvSpPr>
            <p:spPr bwMode="auto">
              <a:xfrm>
                <a:off x="158" y="799"/>
                <a:ext cx="5444" cy="0"/>
              </a:xfrm>
              <a:prstGeom prst="line">
                <a:avLst/>
              </a:prstGeom>
              <a:noFill/>
              <a:ln w="12700">
                <a:solidFill>
                  <a:srgbClr val="000066"/>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6" name="Line 36"/>
              <p:cNvSpPr>
                <a:spLocks noChangeShapeType="1"/>
              </p:cNvSpPr>
              <p:nvPr/>
            </p:nvSpPr>
            <p:spPr bwMode="auto">
              <a:xfrm>
                <a:off x="158" y="1253"/>
                <a:ext cx="5444" cy="0"/>
              </a:xfrm>
              <a:prstGeom prst="line">
                <a:avLst/>
              </a:prstGeom>
              <a:noFill/>
              <a:ln w="12700">
                <a:solidFill>
                  <a:srgbClr val="000066"/>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307" name="Text Box 37"/>
            <p:cNvSpPr txBox="1">
              <a:spLocks noChangeArrowheads="1"/>
            </p:cNvSpPr>
            <p:nvPr/>
          </p:nvSpPr>
          <p:spPr bwMode="auto">
            <a:xfrm>
              <a:off x="147065" y="4063456"/>
              <a:ext cx="2083301" cy="4448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latin typeface="微软雅黑 Light" panose="020B0502040204020203" pitchFamily="34" charset="-122"/>
                  <a:ea typeface="微软雅黑 Light" panose="020B0502040204020203" pitchFamily="34" charset="-122"/>
                </a:rPr>
                <a:t>权限域名服务器</a:t>
              </a:r>
            </a:p>
          </p:txBody>
        </p:sp>
        <p:sp>
          <p:nvSpPr>
            <p:cNvPr id="308" name="Text Box 38"/>
            <p:cNvSpPr txBox="1">
              <a:spLocks noChangeArrowheads="1"/>
            </p:cNvSpPr>
            <p:nvPr/>
          </p:nvSpPr>
          <p:spPr bwMode="auto">
            <a:xfrm>
              <a:off x="265628" y="1696493"/>
              <a:ext cx="1823817" cy="4448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latin typeface="微软雅黑 Light" panose="020B0502040204020203" pitchFamily="34" charset="-122"/>
                  <a:ea typeface="微软雅黑 Light" panose="020B0502040204020203" pitchFamily="34" charset="-122"/>
                </a:rPr>
                <a:t>根域名服务器</a:t>
              </a:r>
            </a:p>
          </p:txBody>
        </p:sp>
        <p:sp>
          <p:nvSpPr>
            <p:cNvPr id="309" name="Text Box 39"/>
            <p:cNvSpPr txBox="1">
              <a:spLocks noChangeArrowheads="1"/>
            </p:cNvSpPr>
            <p:nvPr/>
          </p:nvSpPr>
          <p:spPr bwMode="auto">
            <a:xfrm>
              <a:off x="146205" y="2583906"/>
              <a:ext cx="2083301" cy="4448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latin typeface="微软雅黑 Light" panose="020B0502040204020203" pitchFamily="34" charset="-122"/>
                  <a:ea typeface="微软雅黑 Light" panose="020B0502040204020203" pitchFamily="34" charset="-122"/>
                </a:rPr>
                <a:t>顶级域名服务器</a:t>
              </a:r>
            </a:p>
          </p:txBody>
        </p:sp>
        <p:sp>
          <p:nvSpPr>
            <p:cNvPr id="310" name="Line 40"/>
            <p:cNvSpPr>
              <a:spLocks noChangeShapeType="1"/>
            </p:cNvSpPr>
            <p:nvPr/>
          </p:nvSpPr>
          <p:spPr bwMode="auto">
            <a:xfrm>
              <a:off x="2242089" y="1556792"/>
              <a:ext cx="0" cy="3983038"/>
            </a:xfrm>
            <a:prstGeom prst="line">
              <a:avLst/>
            </a:prstGeom>
            <a:noFill/>
            <a:ln w="12700">
              <a:solidFill>
                <a:srgbClr val="000066"/>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1" name="Line 41"/>
            <p:cNvSpPr>
              <a:spLocks noChangeShapeType="1"/>
            </p:cNvSpPr>
            <p:nvPr/>
          </p:nvSpPr>
          <p:spPr bwMode="auto">
            <a:xfrm flipH="1">
              <a:off x="6531250" y="4377780"/>
              <a:ext cx="1427427" cy="658812"/>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2" name="Rectangle 43"/>
            <p:cNvSpPr>
              <a:spLocks noChangeArrowheads="1"/>
            </p:cNvSpPr>
            <p:nvPr/>
          </p:nvSpPr>
          <p:spPr bwMode="auto">
            <a:xfrm>
              <a:off x="4575844" y="3683931"/>
              <a:ext cx="1907249" cy="736751"/>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pPr algn="ctr" eaLnBrk="1" hangingPunct="1"/>
              <a:r>
                <a:rPr lang="en-US" altLang="zh-CN" sz="1400" b="1" dirty="0">
                  <a:solidFill>
                    <a:srgbClr val="0000FF"/>
                  </a:solidFill>
                  <a:latin typeface="微软雅黑 Light" panose="020B0502040204020203" pitchFamily="34" charset="-122"/>
                  <a:ea typeface="微软雅黑 Light" panose="020B0502040204020203" pitchFamily="34" charset="-122"/>
                </a:rPr>
                <a:t>abc.com</a:t>
              </a:r>
            </a:p>
            <a:p>
              <a:pPr algn="ctr" eaLnBrk="1" hangingPunct="1"/>
              <a:r>
                <a:rPr lang="zh-CN" altLang="en-US" sz="1400" b="1" dirty="0">
                  <a:solidFill>
                    <a:srgbClr val="0000FF"/>
                  </a:solidFill>
                  <a:latin typeface="微软雅黑 Light" panose="020B0502040204020203" pitchFamily="34" charset="-122"/>
                  <a:ea typeface="微软雅黑 Light" panose="020B0502040204020203" pitchFamily="34" charset="-122"/>
                </a:rPr>
                <a:t>域名服务器</a:t>
              </a:r>
            </a:p>
          </p:txBody>
        </p:sp>
        <p:sp>
          <p:nvSpPr>
            <p:cNvPr id="300" name="Rectangle 29"/>
            <p:cNvSpPr>
              <a:spLocks noChangeArrowheads="1"/>
            </p:cNvSpPr>
            <p:nvPr/>
          </p:nvSpPr>
          <p:spPr bwMode="auto">
            <a:xfrm>
              <a:off x="4587885" y="4654449"/>
              <a:ext cx="1907248" cy="723789"/>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pPr algn="ctr" eaLnBrk="1" hangingPunct="1"/>
              <a:r>
                <a:rPr lang="en-US" altLang="zh-CN" sz="1400" b="1" dirty="0">
                  <a:solidFill>
                    <a:srgbClr val="0000FF"/>
                  </a:solidFill>
                  <a:latin typeface="微软雅黑 Light" panose="020B0502040204020203" pitchFamily="34" charset="-122"/>
                  <a:ea typeface="微软雅黑 Light" panose="020B0502040204020203" pitchFamily="34" charset="-122"/>
                </a:rPr>
                <a:t>y.abc.com</a:t>
              </a:r>
            </a:p>
            <a:p>
              <a:pPr algn="ctr" eaLnBrk="1" hangingPunct="1"/>
              <a:r>
                <a:rPr lang="zh-CN" altLang="en-US" sz="1400" b="1" dirty="0">
                  <a:solidFill>
                    <a:srgbClr val="0000FF"/>
                  </a:solidFill>
                  <a:latin typeface="微软雅黑 Light" panose="020B0502040204020203" pitchFamily="34" charset="-122"/>
                  <a:ea typeface="微软雅黑 Light" panose="020B0502040204020203" pitchFamily="34" charset="-122"/>
                </a:rPr>
                <a:t>域名服务器</a:t>
              </a:r>
            </a:p>
          </p:txBody>
        </p:sp>
      </p:grpSp>
      <p:sp>
        <p:nvSpPr>
          <p:cNvPr id="3" name="矩形 2"/>
          <p:cNvSpPr/>
          <p:nvPr/>
        </p:nvSpPr>
        <p:spPr>
          <a:xfrm>
            <a:off x="1811045" y="4095615"/>
            <a:ext cx="6145188" cy="369332"/>
          </a:xfrm>
          <a:prstGeom prst="rect">
            <a:avLst/>
          </a:prstGeom>
        </p:spPr>
        <p:txBody>
          <a:bodyPr wrap="square">
            <a:spAutoFit/>
          </a:bodyPr>
          <a:lstStyle/>
          <a:p>
            <a:pPr algn="ctr"/>
            <a:r>
              <a:rPr lang="zh-CN" altLang="en-US" b="1" dirty="0">
                <a:latin typeface="微软雅黑 Light" panose="020B0502040204020203" pitchFamily="34" charset="-122"/>
                <a:ea typeface="微软雅黑 Light" panose="020B0502040204020203" pitchFamily="34" charset="-122"/>
              </a:rPr>
              <a:t>每个域名服务器都只对域名体系中的</a:t>
            </a:r>
            <a:r>
              <a:rPr lang="zh-CN" altLang="en-US" b="1" dirty="0">
                <a:solidFill>
                  <a:srgbClr val="C00000"/>
                </a:solidFill>
                <a:latin typeface="微软雅黑 Light" panose="020B0502040204020203" pitchFamily="34" charset="-122"/>
                <a:ea typeface="微软雅黑 Light" panose="020B0502040204020203" pitchFamily="34" charset="-122"/>
              </a:rPr>
              <a:t>一部分</a:t>
            </a:r>
            <a:r>
              <a:rPr lang="zh-CN" altLang="en-US" b="1" dirty="0">
                <a:latin typeface="微软雅黑 Light" panose="020B0502040204020203" pitchFamily="34" charset="-122"/>
                <a:ea typeface="微软雅黑 Light" panose="020B0502040204020203" pitchFamily="34" charset="-122"/>
              </a:rPr>
              <a:t>进行管辖。</a:t>
            </a:r>
          </a:p>
        </p:txBody>
      </p:sp>
    </p:spTree>
    <p:extLst>
      <p:ext uri="{BB962C8B-B14F-4D97-AF65-F5344CB8AC3E}">
        <p14:creationId xmlns:p14="http://schemas.microsoft.com/office/powerpoint/2010/main" val="35328171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3361BA-A47D-9403-D417-16163282E848}"/>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 </a:t>
            </a:r>
            <a:r>
              <a:rPr lang="en-US" altLang="zh-CN" dirty="0"/>
              <a:t>- </a:t>
            </a:r>
            <a:r>
              <a:rPr lang="zh-CN" altLang="en-US" dirty="0"/>
              <a:t>类型</a:t>
            </a:r>
          </a:p>
        </p:txBody>
      </p:sp>
      <p:sp>
        <p:nvSpPr>
          <p:cNvPr id="3" name="内容占位符 2">
            <a:extLst>
              <a:ext uri="{FF2B5EF4-FFF2-40B4-BE49-F238E27FC236}">
                <a16:creationId xmlns:a16="http://schemas.microsoft.com/office/drawing/2014/main" id="{FF5B7A5B-5AC9-393B-515A-EB035C443A6B}"/>
              </a:ext>
            </a:extLst>
          </p:cNvPr>
          <p:cNvSpPr>
            <a:spLocks noGrp="1"/>
          </p:cNvSpPr>
          <p:nvPr>
            <p:ph sz="quarter" idx="11"/>
          </p:nvPr>
        </p:nvSpPr>
        <p:spPr>
          <a:xfrm>
            <a:off x="486000" y="687518"/>
            <a:ext cx="8172000" cy="4079035"/>
          </a:xfrm>
        </p:spPr>
        <p:txBody>
          <a:bodyPr/>
          <a:lstStyle/>
          <a:p>
            <a:r>
              <a:rPr lang="zh-CN" altLang="en-US"/>
              <a:t>根据所起的作用，分为四种类型：</a:t>
            </a:r>
            <a:endParaRPr lang="en-US" altLang="zh-CN"/>
          </a:p>
          <a:p>
            <a:pPr lvl="1"/>
            <a:r>
              <a:rPr lang="zh-CN" altLang="en-US"/>
              <a:t>根域名服务器 </a:t>
            </a:r>
          </a:p>
          <a:p>
            <a:pPr lvl="1"/>
            <a:r>
              <a:rPr lang="zh-CN" altLang="en-US"/>
              <a:t>顶级域名服务器 </a:t>
            </a:r>
          </a:p>
          <a:p>
            <a:pPr lvl="1"/>
            <a:r>
              <a:rPr lang="zh-CN" altLang="en-US"/>
              <a:t>权限域名服务器 </a:t>
            </a:r>
          </a:p>
          <a:p>
            <a:pPr lvl="1"/>
            <a:r>
              <a:rPr lang="zh-CN" altLang="en-US"/>
              <a:t>本地域名服务器 </a:t>
            </a:r>
          </a:p>
          <a:p>
            <a:endParaRPr lang="zh-CN" altLang="en-US" dirty="0"/>
          </a:p>
        </p:txBody>
      </p:sp>
    </p:spTree>
    <p:extLst>
      <p:ext uri="{BB962C8B-B14F-4D97-AF65-F5344CB8AC3E}">
        <p14:creationId xmlns:p14="http://schemas.microsoft.com/office/powerpoint/2010/main" val="11682525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AE9322C-3FB6-9500-61B9-5D1FB9256344}"/>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 </a:t>
            </a:r>
            <a:r>
              <a:rPr lang="en-US" altLang="zh-CN" dirty="0"/>
              <a:t>- </a:t>
            </a:r>
            <a:r>
              <a:rPr lang="zh-CN" altLang="en-US" dirty="0"/>
              <a:t>根域名服务器</a:t>
            </a:r>
          </a:p>
        </p:txBody>
      </p:sp>
      <p:sp>
        <p:nvSpPr>
          <p:cNvPr id="3" name="内容占位符 2">
            <a:extLst>
              <a:ext uri="{FF2B5EF4-FFF2-40B4-BE49-F238E27FC236}">
                <a16:creationId xmlns:a16="http://schemas.microsoft.com/office/drawing/2014/main" id="{52D3F750-20C8-22FA-0D9E-F047B98160B1}"/>
              </a:ext>
            </a:extLst>
          </p:cNvPr>
          <p:cNvSpPr>
            <a:spLocks noGrp="1"/>
          </p:cNvSpPr>
          <p:nvPr>
            <p:ph sz="quarter" idx="11"/>
          </p:nvPr>
        </p:nvSpPr>
        <p:spPr>
          <a:xfrm>
            <a:off x="486000" y="687518"/>
            <a:ext cx="8172000" cy="4079035"/>
          </a:xfrm>
        </p:spPr>
        <p:txBody>
          <a:bodyPr/>
          <a:lstStyle/>
          <a:p>
            <a:r>
              <a:rPr lang="zh-CN" altLang="en-US"/>
              <a:t>最高层次，最为重要</a:t>
            </a:r>
            <a:endParaRPr lang="en-US" altLang="zh-CN"/>
          </a:p>
          <a:p>
            <a:r>
              <a:rPr lang="zh-CN" altLang="en-US"/>
              <a:t>所有根域名服务器都知道所有的顶级域名服务器的域名和 </a:t>
            </a:r>
            <a:r>
              <a:rPr lang="en-US" altLang="zh-CN"/>
              <a:t>IP </a:t>
            </a:r>
            <a:r>
              <a:rPr lang="zh-CN" altLang="en-US"/>
              <a:t>地址</a:t>
            </a:r>
          </a:p>
          <a:p>
            <a:r>
              <a:rPr lang="zh-CN" altLang="en-US"/>
              <a:t>不管是哪一个本地域名服务器，若要对互联网上任何一个域名进行解析，只要自己无法解析，就首先求助于根域名服务器</a:t>
            </a:r>
            <a:endParaRPr lang="en-US" altLang="zh-CN"/>
          </a:p>
          <a:p>
            <a:r>
              <a:rPr lang="zh-CN" altLang="en-US"/>
              <a:t>若所有的根域名服务器都瘫痪了，整个互联网中的 </a:t>
            </a:r>
            <a:r>
              <a:rPr lang="en-US" altLang="zh-CN"/>
              <a:t>DNS </a:t>
            </a:r>
            <a:r>
              <a:rPr lang="zh-CN" altLang="en-US"/>
              <a:t>系统就无法工作了</a:t>
            </a:r>
          </a:p>
          <a:p>
            <a:endParaRPr lang="zh-CN" altLang="en-US" dirty="0"/>
          </a:p>
        </p:txBody>
      </p:sp>
    </p:spTree>
    <p:extLst>
      <p:ext uri="{BB962C8B-B14F-4D97-AF65-F5344CB8AC3E}">
        <p14:creationId xmlns:p14="http://schemas.microsoft.com/office/powerpoint/2010/main" val="4338023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1CA98CEA-F2D2-6978-E773-86BA0E52543B}"/>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 </a:t>
            </a:r>
            <a:r>
              <a:rPr lang="en-US" altLang="zh-CN" dirty="0"/>
              <a:t>- </a:t>
            </a:r>
            <a:r>
              <a:rPr lang="zh-CN" altLang="en-US" dirty="0"/>
              <a:t>根域名服务器</a:t>
            </a:r>
          </a:p>
        </p:txBody>
      </p:sp>
      <p:sp>
        <p:nvSpPr>
          <p:cNvPr id="4" name="内容占位符 3">
            <a:extLst>
              <a:ext uri="{FF2B5EF4-FFF2-40B4-BE49-F238E27FC236}">
                <a16:creationId xmlns:a16="http://schemas.microsoft.com/office/drawing/2014/main" id="{8EB8022B-4C00-9873-3D14-C644FA117245}"/>
              </a:ext>
            </a:extLst>
          </p:cNvPr>
          <p:cNvSpPr>
            <a:spLocks noGrp="1"/>
          </p:cNvSpPr>
          <p:nvPr>
            <p:ph sz="quarter" idx="11"/>
          </p:nvPr>
        </p:nvSpPr>
        <p:spPr>
          <a:xfrm>
            <a:off x="486000" y="687518"/>
            <a:ext cx="8172000" cy="4079035"/>
          </a:xfrm>
        </p:spPr>
        <p:txBody>
          <a:bodyPr/>
          <a:lstStyle/>
          <a:p>
            <a:r>
              <a:rPr lang="zh-CN" altLang="en-US" dirty="0"/>
              <a:t>根域名服务器共有 </a:t>
            </a:r>
            <a:r>
              <a:rPr lang="en-US" altLang="zh-CN" dirty="0"/>
              <a:t>13 </a:t>
            </a:r>
            <a:r>
              <a:rPr lang="zh-CN" altLang="en-US" dirty="0"/>
              <a:t>套装置，构成 </a:t>
            </a:r>
            <a:r>
              <a:rPr lang="en-US" altLang="zh-CN" dirty="0"/>
              <a:t>13 </a:t>
            </a:r>
            <a:r>
              <a:rPr lang="zh-CN" altLang="en-US" dirty="0"/>
              <a:t>组根域名服务器</a:t>
            </a:r>
            <a:endParaRPr lang="en-US" altLang="zh-CN" dirty="0"/>
          </a:p>
          <a:p>
            <a:r>
              <a:rPr lang="zh-CN" altLang="en-US" dirty="0"/>
              <a:t>根域名服务器总共只有 </a:t>
            </a:r>
            <a:r>
              <a:rPr lang="en-US" altLang="zh-CN" dirty="0"/>
              <a:t>13 </a:t>
            </a:r>
            <a:r>
              <a:rPr lang="zh-CN" altLang="en-US" dirty="0"/>
              <a:t>个不同 </a:t>
            </a:r>
            <a:r>
              <a:rPr lang="en-US" altLang="zh-CN" dirty="0"/>
              <a:t>IP </a:t>
            </a:r>
            <a:r>
              <a:rPr lang="zh-CN" altLang="en-US" dirty="0"/>
              <a:t>地址的域名，但并非仅由</a:t>
            </a:r>
            <a:r>
              <a:rPr lang="en-US" altLang="zh-CN" dirty="0"/>
              <a:t>13</a:t>
            </a:r>
            <a:r>
              <a:rPr lang="zh-CN" altLang="en-US" dirty="0"/>
              <a:t>台机器所组成</a:t>
            </a:r>
            <a:endParaRPr lang="en-US" altLang="zh-CN" dirty="0"/>
          </a:p>
          <a:p>
            <a:endParaRPr lang="zh-CN" altLang="en-US" dirty="0"/>
          </a:p>
        </p:txBody>
      </p:sp>
      <p:graphicFrame>
        <p:nvGraphicFramePr>
          <p:cNvPr id="2" name="表格 1"/>
          <p:cNvGraphicFramePr>
            <a:graphicFrameLocks noGrp="1"/>
          </p:cNvGraphicFramePr>
          <p:nvPr>
            <p:extLst>
              <p:ext uri="{D42A27DB-BD31-4B8C-83A1-F6EECF244321}">
                <p14:modId xmlns:p14="http://schemas.microsoft.com/office/powerpoint/2010/main" val="2452479132"/>
              </p:ext>
            </p:extLst>
          </p:nvPr>
        </p:nvGraphicFramePr>
        <p:xfrm>
          <a:off x="485774" y="1366823"/>
          <a:ext cx="8172449" cy="3330000"/>
        </p:xfrm>
        <a:graphic>
          <a:graphicData uri="http://schemas.openxmlformats.org/drawingml/2006/table">
            <a:tbl>
              <a:tblPr firstRow="1">
                <a:tableStyleId>{10A1B5D5-9B99-4C35-A422-299274C87663}</a:tableStyleId>
              </a:tblPr>
              <a:tblGrid>
                <a:gridCol w="1669141">
                  <a:extLst>
                    <a:ext uri="{9D8B030D-6E8A-4147-A177-3AD203B41FA5}">
                      <a16:colId xmlns:a16="http://schemas.microsoft.com/office/drawing/2014/main" val="408908172"/>
                    </a:ext>
                  </a:extLst>
                </a:gridCol>
                <a:gridCol w="2365930">
                  <a:extLst>
                    <a:ext uri="{9D8B030D-6E8A-4147-A177-3AD203B41FA5}">
                      <a16:colId xmlns:a16="http://schemas.microsoft.com/office/drawing/2014/main" val="3439813314"/>
                    </a:ext>
                  </a:extLst>
                </a:gridCol>
                <a:gridCol w="4137378">
                  <a:extLst>
                    <a:ext uri="{9D8B030D-6E8A-4147-A177-3AD203B41FA5}">
                      <a16:colId xmlns:a16="http://schemas.microsoft.com/office/drawing/2014/main" val="1803728834"/>
                    </a:ext>
                  </a:extLst>
                </a:gridCol>
              </a:tblGrid>
              <a:tr h="288000">
                <a:tc>
                  <a:txBody>
                    <a:bodyPr/>
                    <a:lstStyle/>
                    <a:p>
                      <a:pPr algn="ctr" fontAlgn="b">
                        <a:lnSpc>
                          <a:spcPct val="100000"/>
                        </a:lnSpc>
                      </a:pPr>
                      <a:r>
                        <a:rPr lang="zh-CN" altLang="en-US" sz="1000" b="1" cap="all" dirty="0">
                          <a:solidFill>
                            <a:schemeClr val="lt1"/>
                          </a:solidFill>
                          <a:effectLst/>
                          <a:latin typeface="Montserrat" panose="00000500000000000000" pitchFamily="2" charset="0"/>
                          <a:ea typeface="微软雅黑 Light" panose="020B0502040204020203" pitchFamily="34" charset="-122"/>
                        </a:rPr>
                        <a:t>域名</a:t>
                      </a:r>
                      <a:endParaRPr lang="en-US" sz="1000" b="1" i="0" cap="all"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algn="ctr" fontAlgn="b">
                        <a:lnSpc>
                          <a:spcPct val="100000"/>
                        </a:lnSpc>
                      </a:pPr>
                      <a:r>
                        <a:rPr lang="en-US" sz="1000" cap="all" dirty="0">
                          <a:effectLst/>
                          <a:latin typeface="Montserrat" panose="00000500000000000000" pitchFamily="2" charset="0"/>
                          <a:ea typeface="微软雅黑 Light" panose="020B0502040204020203" pitchFamily="34" charset="-122"/>
                        </a:rPr>
                        <a:t>IP </a:t>
                      </a:r>
                      <a:r>
                        <a:rPr lang="zh-CN" altLang="en-US" sz="1000" cap="all" dirty="0">
                          <a:effectLst/>
                          <a:latin typeface="Montserrat" panose="00000500000000000000" pitchFamily="2" charset="0"/>
                          <a:ea typeface="微软雅黑 Light" panose="020B0502040204020203" pitchFamily="34" charset="-122"/>
                        </a:rPr>
                        <a:t>地址</a:t>
                      </a:r>
                      <a:endParaRPr lang="en-US" sz="1000" b="1" i="0" cap="all"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algn="ctr" fontAlgn="b">
                        <a:lnSpc>
                          <a:spcPct val="100000"/>
                        </a:lnSpc>
                      </a:pPr>
                      <a:r>
                        <a:rPr lang="zh-CN" altLang="en-US" sz="1000" cap="all" dirty="0">
                          <a:effectLst/>
                          <a:latin typeface="Montserrat" panose="00000500000000000000" pitchFamily="2" charset="0"/>
                          <a:ea typeface="微软雅黑 Light" panose="020B0502040204020203" pitchFamily="34" charset="-122"/>
                        </a:rPr>
                        <a:t>运营商</a:t>
                      </a:r>
                      <a:endParaRPr lang="en-US" sz="1000" b="1" i="0" cap="all"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1140239074"/>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a.root-servers.net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198.41.0.4, 2001:503:ba3e::2:30</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Verisign, Inc.</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3799934463"/>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b.root-servers.net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199.9.14.201, 2001:500:200::b</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University of Southern </a:t>
                      </a:r>
                      <a:r>
                        <a:rPr lang="en-US" sz="1000" dirty="0" err="1">
                          <a:effectLst/>
                          <a:latin typeface="Montserrat" panose="00000500000000000000" pitchFamily="2" charset="0"/>
                          <a:ea typeface="微软雅黑 Light" panose="020B0502040204020203" pitchFamily="34" charset="-122"/>
                        </a:rPr>
                        <a:t>California,Information</a:t>
                      </a:r>
                      <a:r>
                        <a:rPr lang="en-US" sz="1000" dirty="0">
                          <a:effectLst/>
                          <a:latin typeface="Montserrat" panose="00000500000000000000" pitchFamily="2" charset="0"/>
                          <a:ea typeface="微软雅黑 Light" panose="020B0502040204020203" pitchFamily="34" charset="-122"/>
                        </a:rPr>
                        <a:t> Sciences Institute</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3810033780"/>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c.root-servers.net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192.33.4.12, 2001:500:2::c</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Cogent Communications</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1551130435"/>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d.root-servers.net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199.7.91.13, 2001:500:2d::d</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University of Maryland</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2602981751"/>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e.root-servers.net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192.203.230.10, 2001:500:a8::e</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NASA (Ames Research Center)</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2222640583"/>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f.root-servers.net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192.5.5.241, 2001:500:2f::f</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Internet Systems Consortium, Inc.</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728933610"/>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g.root-servers.net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192.112.36.4, 2001:500:12::d0d</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US Department of Defense (NIC)</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2200553252"/>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h.root-servers.net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altLang="zh-CN" sz="1000" dirty="0">
                          <a:effectLst/>
                          <a:latin typeface="Montserrat" panose="00000500000000000000" pitchFamily="2" charset="0"/>
                          <a:ea typeface="微软雅黑 Light" panose="020B0502040204020203" pitchFamily="34" charset="-122"/>
                        </a:rPr>
                        <a:t>198.97.190.53, 2001:500:1::53</a:t>
                      </a:r>
                      <a:endParaRPr lang="en-US" altLang="zh-CN"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US Army (Research Lab)</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1979510661"/>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i.root-servers.net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192.36.148.17, 2001:7fe::53</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err="1">
                          <a:effectLst/>
                          <a:latin typeface="Montserrat" panose="00000500000000000000" pitchFamily="2" charset="0"/>
                          <a:ea typeface="微软雅黑 Light" panose="020B0502040204020203" pitchFamily="34" charset="-122"/>
                        </a:rPr>
                        <a:t>Netnod</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3406046716"/>
                  </a:ext>
                </a:extLst>
              </a:tr>
              <a:tr h="234000">
                <a:tc>
                  <a:txBody>
                    <a:bodyPr/>
                    <a:lstStyle/>
                    <a:p>
                      <a:pPr fontAlgn="t">
                        <a:lnSpc>
                          <a:spcPct val="100000"/>
                        </a:lnSpc>
                      </a:pPr>
                      <a:r>
                        <a:rPr lang="en-US" sz="1000" dirty="0" err="1">
                          <a:effectLst/>
                          <a:latin typeface="Montserrat" panose="00000500000000000000" pitchFamily="2" charset="0"/>
                          <a:ea typeface="微软雅黑 Light" panose="020B0502040204020203" pitchFamily="34" charset="-122"/>
                        </a:rPr>
                        <a:t>j.root-servers.net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192.58.128.30, 2001:503:c27::2:30</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Verisign, Inc.</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3077151531"/>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k.root-servers.net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193.0.14.129, 2001:7fd::1</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RIPE NCC</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2109581213"/>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l.root-servers.net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199.7.83.42, 2001:500:9f::42</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ICANN</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1659636611"/>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m.root-servers.net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202.12.27.33, 2001:dc3::35</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WIDE Project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2430741343"/>
                  </a:ext>
                </a:extLst>
              </a:tr>
            </a:tbl>
          </a:graphicData>
        </a:graphic>
      </p:graphicFrame>
    </p:spTree>
    <p:extLst>
      <p:ext uri="{BB962C8B-B14F-4D97-AF65-F5344CB8AC3E}">
        <p14:creationId xmlns:p14="http://schemas.microsoft.com/office/powerpoint/2010/main" val="31808481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A0658CA-821E-5EA9-10A9-D6AAAB7D5692}"/>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 </a:t>
            </a:r>
            <a:r>
              <a:rPr lang="en-US" altLang="zh-CN" dirty="0"/>
              <a:t>- </a:t>
            </a:r>
            <a:r>
              <a:rPr lang="zh-CN" altLang="en-US" dirty="0"/>
              <a:t>根域名服务器</a:t>
            </a:r>
          </a:p>
        </p:txBody>
      </p:sp>
      <p:sp>
        <p:nvSpPr>
          <p:cNvPr id="4" name="内容占位符 3">
            <a:extLst>
              <a:ext uri="{FF2B5EF4-FFF2-40B4-BE49-F238E27FC236}">
                <a16:creationId xmlns:a16="http://schemas.microsoft.com/office/drawing/2014/main" id="{6AB244B7-CFA4-4926-7BD7-9A630A715284}"/>
              </a:ext>
            </a:extLst>
          </p:cNvPr>
          <p:cNvSpPr>
            <a:spLocks noGrp="1"/>
          </p:cNvSpPr>
          <p:nvPr>
            <p:ph sz="quarter" idx="11"/>
          </p:nvPr>
        </p:nvSpPr>
        <p:spPr>
          <a:xfrm>
            <a:off x="486000" y="687518"/>
            <a:ext cx="8172000" cy="4079035"/>
          </a:xfrm>
        </p:spPr>
        <p:txBody>
          <a:bodyPr/>
          <a:lstStyle/>
          <a:p>
            <a:r>
              <a:rPr lang="zh-CN" altLang="en-US"/>
              <a:t>根域名服务器分布在全世界</a:t>
            </a:r>
            <a:endParaRPr lang="en-US" altLang="zh-CN"/>
          </a:p>
          <a:p>
            <a:r>
              <a:rPr lang="zh-CN" altLang="en-US"/>
              <a:t>为了提供更可靠的服务，在每一个地点的根域名服务器往往由多台机器组成</a:t>
            </a:r>
          </a:p>
          <a:p>
            <a:r>
              <a:rPr lang="zh-CN" altLang="zh-CN"/>
              <a:t>根域名服务器采</a:t>
            </a:r>
            <a:r>
              <a:rPr lang="zh-CN" altLang="en-US"/>
              <a:t>用</a:t>
            </a:r>
            <a:r>
              <a:rPr lang="zh-CN" altLang="zh-CN"/>
              <a:t>任播</a:t>
            </a:r>
            <a:r>
              <a:rPr lang="en-US" altLang="zh-CN"/>
              <a:t> (anycast) </a:t>
            </a:r>
            <a:r>
              <a:rPr lang="zh-CN" altLang="zh-CN"/>
              <a:t>技术</a:t>
            </a:r>
            <a:r>
              <a:rPr lang="zh-CN" altLang="en-US"/>
              <a:t>，</a:t>
            </a:r>
            <a:r>
              <a:rPr lang="zh-CN" altLang="zh-CN"/>
              <a:t>当</a:t>
            </a:r>
            <a:r>
              <a:rPr lang="en-US" altLang="zh-CN"/>
              <a:t>DNS </a:t>
            </a:r>
            <a:r>
              <a:rPr lang="zh-CN" altLang="zh-CN"/>
              <a:t>客户向某个根域名服务器发出查询报文时，路由器能找到离这个</a:t>
            </a:r>
            <a:r>
              <a:rPr lang="en-US" altLang="zh-CN"/>
              <a:t> DNS </a:t>
            </a:r>
            <a:r>
              <a:rPr lang="zh-CN" altLang="zh-CN"/>
              <a:t>客户最近的一个根域名服务器</a:t>
            </a:r>
          </a:p>
          <a:p>
            <a:r>
              <a:rPr lang="zh-CN" altLang="en-US"/>
              <a:t>截至 </a:t>
            </a:r>
            <a:r>
              <a:rPr lang="en-US" altLang="zh-CN"/>
              <a:t>2020</a:t>
            </a:r>
            <a:r>
              <a:rPr lang="zh-CN" altLang="en-US"/>
              <a:t>年</a:t>
            </a:r>
            <a:r>
              <a:rPr lang="en-US" altLang="zh-CN"/>
              <a:t>9</a:t>
            </a:r>
            <a:r>
              <a:rPr lang="zh-CN" altLang="en-US"/>
              <a:t>月</a:t>
            </a:r>
            <a:r>
              <a:rPr lang="en-US" altLang="zh-CN"/>
              <a:t>3</a:t>
            </a:r>
            <a:r>
              <a:rPr lang="zh-CN" altLang="en-US"/>
              <a:t>日，全球共有 </a:t>
            </a:r>
            <a:r>
              <a:rPr lang="en-US" altLang="zh-CN"/>
              <a:t>1098 </a:t>
            </a:r>
            <a:r>
              <a:rPr lang="zh-CN" altLang="en-US"/>
              <a:t>个根域名服务器在运行，其中在我国的共有</a:t>
            </a:r>
            <a:r>
              <a:rPr lang="en-US" altLang="zh-CN"/>
              <a:t>28</a:t>
            </a:r>
            <a:r>
              <a:rPr lang="zh-CN" altLang="en-US"/>
              <a:t>个</a:t>
            </a:r>
            <a:endParaRPr lang="en-US" altLang="zh-CN"/>
          </a:p>
          <a:p>
            <a:endParaRPr lang="en-US" altLang="zh-CN"/>
          </a:p>
          <a:p>
            <a:r>
              <a:rPr lang="zh-CN" altLang="en-US"/>
              <a:t>注意：</a:t>
            </a:r>
            <a:endParaRPr lang="en-US" altLang="zh-CN"/>
          </a:p>
          <a:p>
            <a:pPr lvl="1"/>
            <a:r>
              <a:rPr lang="zh-CN" altLang="en-US"/>
              <a:t>根域名服务器并不直接把域名转换成 </a:t>
            </a:r>
            <a:r>
              <a:rPr lang="en-US" altLang="zh-CN"/>
              <a:t>IP </a:t>
            </a:r>
            <a:r>
              <a:rPr lang="zh-CN" altLang="en-US"/>
              <a:t>地址（根域名服务器也没有存放这种信息）</a:t>
            </a:r>
            <a:endParaRPr lang="en-US" altLang="zh-CN"/>
          </a:p>
          <a:p>
            <a:pPr lvl="1"/>
            <a:r>
              <a:rPr lang="zh-CN" altLang="en-US"/>
              <a:t>而是告诉本地域名服务器下一步应当找哪一个顶级域名服务器进行查询</a:t>
            </a:r>
          </a:p>
          <a:p>
            <a:endParaRPr lang="zh-CN" altLang="en-US"/>
          </a:p>
          <a:p>
            <a:endParaRPr lang="zh-CN" altLang="en-US" dirty="0"/>
          </a:p>
        </p:txBody>
      </p:sp>
    </p:spTree>
    <p:extLst>
      <p:ext uri="{BB962C8B-B14F-4D97-AF65-F5344CB8AC3E}">
        <p14:creationId xmlns:p14="http://schemas.microsoft.com/office/powerpoint/2010/main" val="27597976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F3E1AE4-383D-6FFE-E5C0-74694987A4C7}"/>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 </a:t>
            </a:r>
            <a:r>
              <a:rPr lang="en-US" altLang="zh-CN" dirty="0"/>
              <a:t>- </a:t>
            </a:r>
            <a:r>
              <a:rPr lang="zh-CN" altLang="en-US" dirty="0"/>
              <a:t>顶级域名服务器</a:t>
            </a:r>
          </a:p>
        </p:txBody>
      </p:sp>
      <p:sp>
        <p:nvSpPr>
          <p:cNvPr id="3" name="内容占位符 2">
            <a:extLst>
              <a:ext uri="{FF2B5EF4-FFF2-40B4-BE49-F238E27FC236}">
                <a16:creationId xmlns:a16="http://schemas.microsoft.com/office/drawing/2014/main" id="{5BA68435-FFF7-7C45-75CC-4E9E3C0400CE}"/>
              </a:ext>
            </a:extLst>
          </p:cNvPr>
          <p:cNvSpPr>
            <a:spLocks noGrp="1"/>
          </p:cNvSpPr>
          <p:nvPr>
            <p:ph sz="quarter" idx="11"/>
          </p:nvPr>
        </p:nvSpPr>
        <p:spPr>
          <a:xfrm>
            <a:off x="486000" y="687518"/>
            <a:ext cx="8172000" cy="4079035"/>
          </a:xfrm>
        </p:spPr>
        <p:txBody>
          <a:bodyPr/>
          <a:lstStyle/>
          <a:p>
            <a:r>
              <a:rPr lang="zh-CN" altLang="en-US"/>
              <a:t>顶级域名服务器</a:t>
            </a:r>
            <a:endParaRPr lang="en-US" altLang="zh-CN"/>
          </a:p>
          <a:p>
            <a:pPr lvl="1"/>
            <a:r>
              <a:rPr lang="zh-CN" altLang="en-US"/>
              <a:t> </a:t>
            </a:r>
            <a:r>
              <a:rPr lang="en-US" altLang="zh-CN"/>
              <a:t>TLD – Top Level Domain</a:t>
            </a:r>
          </a:p>
          <a:p>
            <a:pPr lvl="1"/>
            <a:r>
              <a:rPr lang="zh-CN" altLang="en-US"/>
              <a:t>负责管理在该顶级域名服务器注册的所有二级域名</a:t>
            </a:r>
          </a:p>
          <a:p>
            <a:r>
              <a:rPr lang="zh-CN" altLang="en-US"/>
              <a:t>当收到 </a:t>
            </a:r>
            <a:r>
              <a:rPr lang="en-US" altLang="zh-CN"/>
              <a:t>DNS </a:t>
            </a:r>
            <a:r>
              <a:rPr lang="zh-CN" altLang="en-US"/>
              <a:t>查询请求时，就给出相应的回答</a:t>
            </a:r>
            <a:endParaRPr lang="en-US" altLang="zh-CN"/>
          </a:p>
          <a:p>
            <a:r>
              <a:rPr lang="zh-CN" altLang="en-US"/>
              <a:t>可能是最后的结果，也可能是下一步应当找的域名服务器的 </a:t>
            </a:r>
            <a:r>
              <a:rPr lang="en-US" altLang="zh-CN"/>
              <a:t>IP </a:t>
            </a:r>
            <a:r>
              <a:rPr lang="zh-CN" altLang="en-US"/>
              <a:t>地址</a:t>
            </a:r>
          </a:p>
          <a:p>
            <a:endParaRPr lang="zh-CN" altLang="en-US" dirty="0"/>
          </a:p>
        </p:txBody>
      </p:sp>
    </p:spTree>
    <p:extLst>
      <p:ext uri="{BB962C8B-B14F-4D97-AF65-F5344CB8AC3E}">
        <p14:creationId xmlns:p14="http://schemas.microsoft.com/office/powerpoint/2010/main" val="29027039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A9B9B11-AB63-9417-26D7-8EA1ED505111}"/>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 </a:t>
            </a:r>
            <a:r>
              <a:rPr lang="en-US" altLang="zh-CN" dirty="0"/>
              <a:t>- </a:t>
            </a:r>
            <a:r>
              <a:rPr lang="zh-CN" altLang="en-US" dirty="0"/>
              <a:t>权限域名服务器</a:t>
            </a:r>
          </a:p>
        </p:txBody>
      </p:sp>
      <p:sp>
        <p:nvSpPr>
          <p:cNvPr id="3" name="内容占位符 2">
            <a:extLst>
              <a:ext uri="{FF2B5EF4-FFF2-40B4-BE49-F238E27FC236}">
                <a16:creationId xmlns:a16="http://schemas.microsoft.com/office/drawing/2014/main" id="{31F53DD5-FB48-AB44-89D7-2727C7006770}"/>
              </a:ext>
            </a:extLst>
          </p:cNvPr>
          <p:cNvSpPr>
            <a:spLocks noGrp="1"/>
          </p:cNvSpPr>
          <p:nvPr>
            <p:ph sz="quarter" idx="11"/>
          </p:nvPr>
        </p:nvSpPr>
        <p:spPr>
          <a:xfrm>
            <a:off x="486000" y="687518"/>
            <a:ext cx="8172000" cy="4079035"/>
          </a:xfrm>
        </p:spPr>
        <p:txBody>
          <a:bodyPr/>
          <a:lstStyle/>
          <a:p>
            <a:r>
              <a:rPr lang="zh-CN" altLang="en-US"/>
              <a:t>负责一个区 </a:t>
            </a:r>
            <a:r>
              <a:rPr lang="en-US" altLang="zh-CN"/>
              <a:t>zone </a:t>
            </a:r>
            <a:r>
              <a:rPr lang="zh-CN" altLang="en-US"/>
              <a:t>的域名服务器</a:t>
            </a:r>
          </a:p>
          <a:p>
            <a:r>
              <a:rPr lang="zh-CN" altLang="en-US"/>
              <a:t>当一个权限域名服务器还不能给出最后的查询回答时，就会告诉发出查询请求的 </a:t>
            </a:r>
            <a:r>
              <a:rPr lang="en-US" altLang="zh-CN"/>
              <a:t>DNS </a:t>
            </a:r>
            <a:r>
              <a:rPr lang="zh-CN" altLang="en-US"/>
              <a:t>客户，下一步应当找哪一个权限域名服务器</a:t>
            </a:r>
          </a:p>
          <a:p>
            <a:endParaRPr lang="zh-CN" altLang="en-US" dirty="0"/>
          </a:p>
        </p:txBody>
      </p:sp>
    </p:spTree>
    <p:extLst>
      <p:ext uri="{BB962C8B-B14F-4D97-AF65-F5344CB8AC3E}">
        <p14:creationId xmlns:p14="http://schemas.microsoft.com/office/powerpoint/2010/main" val="1764252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E12526E-1561-6970-CA2A-560E7A492E8A}"/>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 </a:t>
            </a:r>
            <a:r>
              <a:rPr lang="en-US" altLang="zh-CN" dirty="0"/>
              <a:t>- </a:t>
            </a:r>
            <a:r>
              <a:rPr lang="zh-CN" altLang="en-US" dirty="0"/>
              <a:t>本地域名服务器</a:t>
            </a:r>
          </a:p>
        </p:txBody>
      </p:sp>
      <p:sp>
        <p:nvSpPr>
          <p:cNvPr id="3" name="内容占位符 2">
            <a:extLst>
              <a:ext uri="{FF2B5EF4-FFF2-40B4-BE49-F238E27FC236}">
                <a16:creationId xmlns:a16="http://schemas.microsoft.com/office/drawing/2014/main" id="{DEE475E9-301D-A7E5-86FB-BA45D57EF5D8}"/>
              </a:ext>
            </a:extLst>
          </p:cNvPr>
          <p:cNvSpPr>
            <a:spLocks noGrp="1"/>
          </p:cNvSpPr>
          <p:nvPr>
            <p:ph sz="quarter" idx="11"/>
          </p:nvPr>
        </p:nvSpPr>
        <p:spPr>
          <a:xfrm>
            <a:off x="486000" y="687518"/>
            <a:ext cx="8172000" cy="4079035"/>
          </a:xfrm>
        </p:spPr>
        <p:txBody>
          <a:bodyPr/>
          <a:lstStyle/>
          <a:p>
            <a:r>
              <a:rPr lang="zh-CN" altLang="en-US"/>
              <a:t>非常重要</a:t>
            </a:r>
          </a:p>
          <a:p>
            <a:r>
              <a:rPr lang="zh-CN" altLang="en-US"/>
              <a:t>当一个主机发出 </a:t>
            </a:r>
            <a:r>
              <a:rPr lang="en-US" altLang="zh-CN"/>
              <a:t>DNS </a:t>
            </a:r>
            <a:r>
              <a:rPr lang="zh-CN" altLang="en-US"/>
              <a:t>查询请求时，该查询请求报文就发送给本地域名服务器</a:t>
            </a:r>
          </a:p>
          <a:p>
            <a:r>
              <a:rPr lang="zh-CN" altLang="en-US"/>
              <a:t>每一个互联网服务提供者 </a:t>
            </a:r>
            <a:r>
              <a:rPr lang="en-US" altLang="zh-CN"/>
              <a:t>ISP </a:t>
            </a:r>
            <a:r>
              <a:rPr lang="zh-CN" altLang="en-US"/>
              <a:t>或一个大学，都可以拥有一个本地域名服务器</a:t>
            </a:r>
            <a:endParaRPr lang="en-US" altLang="zh-CN"/>
          </a:p>
          <a:p>
            <a:r>
              <a:rPr lang="zh-CN" altLang="en-US"/>
              <a:t>当所要查询的主机也属于同一个本地 </a:t>
            </a:r>
            <a:r>
              <a:rPr lang="en-US" altLang="zh-CN"/>
              <a:t>ISP </a:t>
            </a:r>
            <a:r>
              <a:rPr lang="zh-CN" altLang="en-US"/>
              <a:t>时，该本地域名服务器立即就能将所查询的主机名转换为它的 </a:t>
            </a:r>
            <a:r>
              <a:rPr lang="en-US" altLang="zh-CN"/>
              <a:t>IP </a:t>
            </a:r>
            <a:r>
              <a:rPr lang="zh-CN" altLang="en-US"/>
              <a:t>地址，而不需要再去询问其他的域名服务器</a:t>
            </a:r>
          </a:p>
          <a:p>
            <a:r>
              <a:rPr lang="zh-CN" altLang="en-US"/>
              <a:t>本地域名服务器有时也称为默认域名服务器</a:t>
            </a:r>
          </a:p>
          <a:p>
            <a:endParaRPr lang="zh-CN" altLang="en-US" dirty="0"/>
          </a:p>
        </p:txBody>
      </p:sp>
    </p:spTree>
    <p:extLst>
      <p:ext uri="{BB962C8B-B14F-4D97-AF65-F5344CB8AC3E}">
        <p14:creationId xmlns:p14="http://schemas.microsoft.com/office/powerpoint/2010/main" val="39743446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5E8B17C-A709-0595-1D66-3634631AE9BF}"/>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 </a:t>
            </a:r>
            <a:r>
              <a:rPr lang="en-US" altLang="zh-CN" dirty="0"/>
              <a:t>- </a:t>
            </a:r>
            <a:r>
              <a:rPr lang="zh-CN" altLang="en-US" dirty="0"/>
              <a:t>提高域名服务器的可靠性</a:t>
            </a:r>
          </a:p>
        </p:txBody>
      </p:sp>
      <p:sp>
        <p:nvSpPr>
          <p:cNvPr id="3" name="内容占位符 2">
            <a:extLst>
              <a:ext uri="{FF2B5EF4-FFF2-40B4-BE49-F238E27FC236}">
                <a16:creationId xmlns:a16="http://schemas.microsoft.com/office/drawing/2014/main" id="{6FF5AEEE-2C37-243A-AF61-7C7BF0C32E43}"/>
              </a:ext>
            </a:extLst>
          </p:cNvPr>
          <p:cNvSpPr>
            <a:spLocks noGrp="1"/>
          </p:cNvSpPr>
          <p:nvPr>
            <p:ph sz="quarter" idx="11"/>
          </p:nvPr>
        </p:nvSpPr>
        <p:spPr>
          <a:xfrm>
            <a:off x="486000" y="687518"/>
            <a:ext cx="8172000" cy="4079035"/>
          </a:xfrm>
        </p:spPr>
        <p:txBody>
          <a:bodyPr/>
          <a:lstStyle/>
          <a:p>
            <a:r>
              <a:rPr lang="en-US" altLang="zh-CN"/>
              <a:t>DNS </a:t>
            </a:r>
            <a:r>
              <a:rPr lang="zh-CN" altLang="en-US"/>
              <a:t>域名服务器都把数据复制到几个域名服务器来保存</a:t>
            </a:r>
            <a:endParaRPr lang="en-US" altLang="zh-CN"/>
          </a:p>
          <a:p>
            <a:pPr lvl="1"/>
            <a:r>
              <a:rPr lang="zh-CN" altLang="en-US"/>
              <a:t>其中的一个是主域名服务器</a:t>
            </a:r>
            <a:endParaRPr lang="en-US" altLang="zh-CN"/>
          </a:p>
          <a:p>
            <a:pPr lvl="1"/>
            <a:r>
              <a:rPr lang="zh-CN" altLang="en-US"/>
              <a:t>其他的是辅助域名服务器。</a:t>
            </a:r>
          </a:p>
          <a:p>
            <a:r>
              <a:rPr lang="zh-CN" altLang="en-US"/>
              <a:t>当主域名服务器出故障时，辅助域名服务器可以保证 </a:t>
            </a:r>
            <a:r>
              <a:rPr lang="en-US" altLang="zh-CN"/>
              <a:t>DNS </a:t>
            </a:r>
            <a:r>
              <a:rPr lang="zh-CN" altLang="en-US"/>
              <a:t>的查询工作不会中断</a:t>
            </a:r>
          </a:p>
          <a:p>
            <a:r>
              <a:rPr lang="zh-CN" altLang="en-US"/>
              <a:t>主域名服务器定期把数据复制到辅助域名服务器中</a:t>
            </a:r>
            <a:endParaRPr lang="en-US" altLang="zh-CN"/>
          </a:p>
          <a:p>
            <a:r>
              <a:rPr lang="zh-CN" altLang="en-US"/>
              <a:t>更改数据只能在主域名服务器中进行，保证了数据的一致性</a:t>
            </a:r>
          </a:p>
          <a:p>
            <a:endParaRPr lang="zh-CN" altLang="en-US" dirty="0"/>
          </a:p>
        </p:txBody>
      </p:sp>
    </p:spTree>
    <p:extLst>
      <p:ext uri="{BB962C8B-B14F-4D97-AF65-F5344CB8AC3E}">
        <p14:creationId xmlns:p14="http://schemas.microsoft.com/office/powerpoint/2010/main" val="15384511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947989310"/>
              </p:ext>
            </p:extLst>
          </p:nvPr>
        </p:nvGraphicFramePr>
        <p:xfrm>
          <a:off x="485776" y="1080655"/>
          <a:ext cx="8172450" cy="286990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标题 2">
            <a:extLst>
              <a:ext uri="{FF2B5EF4-FFF2-40B4-BE49-F238E27FC236}">
                <a16:creationId xmlns:a16="http://schemas.microsoft.com/office/drawing/2014/main" id="{98632270-2D00-421B-FAE5-FC658CEC91CC}"/>
              </a:ext>
            </a:extLst>
          </p:cNvPr>
          <p:cNvSpPr>
            <a:spLocks noGrp="1"/>
          </p:cNvSpPr>
          <p:nvPr>
            <p:ph type="title"/>
          </p:nvPr>
        </p:nvSpPr>
        <p:spPr>
          <a:xfrm>
            <a:off x="2880000" y="144000"/>
            <a:ext cx="3384000" cy="338554"/>
          </a:xfrm>
        </p:spPr>
        <p:txBody>
          <a:bodyPr/>
          <a:lstStyle/>
          <a:p>
            <a:r>
              <a:rPr lang="zh-CN" altLang="en-US" dirty="0"/>
              <a:t>域名解析过程</a:t>
            </a:r>
          </a:p>
        </p:txBody>
      </p:sp>
    </p:spTree>
    <p:extLst>
      <p:ext uri="{BB962C8B-B14F-4D97-AF65-F5344CB8AC3E}">
        <p14:creationId xmlns:p14="http://schemas.microsoft.com/office/powerpoint/2010/main" val="19642666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4" name="图片 5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17018" y="1400999"/>
            <a:ext cx="476702" cy="667383"/>
          </a:xfrm>
          <a:prstGeom prst="rect">
            <a:avLst/>
          </a:prstGeom>
        </p:spPr>
      </p:pic>
      <p:pic>
        <p:nvPicPr>
          <p:cNvPr id="56" name="图片 5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532346" y="2844583"/>
            <a:ext cx="476702" cy="667383"/>
          </a:xfrm>
          <a:prstGeom prst="rect">
            <a:avLst/>
          </a:prstGeom>
        </p:spPr>
      </p:pic>
      <p:pic>
        <p:nvPicPr>
          <p:cNvPr id="57" name="图片 56"/>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42958" y="2844583"/>
            <a:ext cx="476702" cy="667383"/>
          </a:xfrm>
          <a:prstGeom prst="rect">
            <a:avLst/>
          </a:prstGeom>
        </p:spPr>
      </p:pic>
      <p:sp>
        <p:nvSpPr>
          <p:cNvPr id="12" name="Text Box 7"/>
          <p:cNvSpPr txBox="1">
            <a:spLocks noChangeArrowheads="1"/>
          </p:cNvSpPr>
          <p:nvPr/>
        </p:nvSpPr>
        <p:spPr bwMode="auto">
          <a:xfrm flipH="1">
            <a:off x="4772996" y="1110083"/>
            <a:ext cx="101662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9900FF"/>
                </a:solidFill>
                <a:latin typeface="Montserrat" panose="00000500000000000000" pitchFamily="2" charset="0"/>
                <a:ea typeface="微软雅黑 Light" panose="020B0502040204020203" pitchFamily="34" charset="-122"/>
              </a:rPr>
              <a:t>TLD Server</a:t>
            </a:r>
          </a:p>
        </p:txBody>
      </p:sp>
      <p:sp>
        <p:nvSpPr>
          <p:cNvPr id="13" name="Text Box 8"/>
          <p:cNvSpPr txBox="1">
            <a:spLocks noChangeArrowheads="1"/>
          </p:cNvSpPr>
          <p:nvPr/>
        </p:nvSpPr>
        <p:spPr bwMode="auto">
          <a:xfrm flipH="1">
            <a:off x="4514706" y="3533562"/>
            <a:ext cx="26027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993300"/>
                </a:solidFill>
                <a:latin typeface="Montserrat" panose="00000500000000000000" pitchFamily="2" charset="0"/>
                <a:ea typeface="微软雅黑 Light" panose="020B0502040204020203" pitchFamily="34" charset="-122"/>
              </a:rPr>
              <a:t>Authoritative DNS Server</a:t>
            </a:r>
          </a:p>
        </p:txBody>
      </p:sp>
      <p:sp>
        <p:nvSpPr>
          <p:cNvPr id="14" name="Text Box 9"/>
          <p:cNvSpPr txBox="1">
            <a:spLocks noChangeArrowheads="1"/>
          </p:cNvSpPr>
          <p:nvPr/>
        </p:nvSpPr>
        <p:spPr bwMode="auto">
          <a:xfrm flipH="1">
            <a:off x="3130062" y="3533921"/>
            <a:ext cx="15039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0000FF"/>
                </a:solidFill>
                <a:latin typeface="Montserrat" panose="00000500000000000000" pitchFamily="2" charset="0"/>
                <a:ea typeface="微软雅黑 Light" panose="020B0502040204020203" pitchFamily="34" charset="-122"/>
              </a:rPr>
              <a:t>Local DNS Server</a:t>
            </a:r>
          </a:p>
        </p:txBody>
      </p:sp>
      <p:sp>
        <p:nvSpPr>
          <p:cNvPr id="15" name="Text Box 12"/>
          <p:cNvSpPr txBox="1">
            <a:spLocks noChangeArrowheads="1"/>
          </p:cNvSpPr>
          <p:nvPr/>
        </p:nvSpPr>
        <p:spPr bwMode="auto">
          <a:xfrm flipH="1">
            <a:off x="2988363" y="1106089"/>
            <a:ext cx="14622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C00000"/>
                </a:solidFill>
                <a:latin typeface="Montserrat" panose="00000500000000000000" pitchFamily="2" charset="0"/>
                <a:ea typeface="微软雅黑 Light" panose="020B0502040204020203" pitchFamily="34" charset="-122"/>
              </a:rPr>
              <a:t>Root DNS Server</a:t>
            </a:r>
            <a:endParaRPr kumimoji="1" lang="zh-CN" altLang="en-US" sz="1200" dirty="0">
              <a:solidFill>
                <a:srgbClr val="C00000"/>
              </a:solidFill>
              <a:latin typeface="Montserrat" panose="00000500000000000000" pitchFamily="2" charset="0"/>
              <a:ea typeface="微软雅黑 Light" panose="020B0502040204020203" pitchFamily="34" charset="-122"/>
            </a:endParaRPr>
          </a:p>
        </p:txBody>
      </p:sp>
      <p:sp>
        <p:nvSpPr>
          <p:cNvPr id="20" name="Text Box 18"/>
          <p:cNvSpPr txBox="1">
            <a:spLocks noChangeArrowheads="1"/>
          </p:cNvSpPr>
          <p:nvPr/>
        </p:nvSpPr>
        <p:spPr bwMode="auto">
          <a:xfrm flipH="1">
            <a:off x="3425142" y="2517601"/>
            <a:ext cx="367662"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21" name="Line 20"/>
          <p:cNvSpPr>
            <a:spLocks noChangeShapeType="1"/>
          </p:cNvSpPr>
          <p:nvPr/>
        </p:nvSpPr>
        <p:spPr bwMode="auto">
          <a:xfrm rot="10800000" flipH="1">
            <a:off x="3719494" y="2123730"/>
            <a:ext cx="0" cy="648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23" name="Text Box 19"/>
          <p:cNvSpPr txBox="1">
            <a:spLocks noChangeArrowheads="1"/>
          </p:cNvSpPr>
          <p:nvPr/>
        </p:nvSpPr>
        <p:spPr bwMode="auto">
          <a:xfrm flipH="1">
            <a:off x="3762808" y="2014511"/>
            <a:ext cx="367661"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24" name="Line 21"/>
          <p:cNvSpPr>
            <a:spLocks noChangeShapeType="1"/>
          </p:cNvSpPr>
          <p:nvPr/>
        </p:nvSpPr>
        <p:spPr bwMode="auto">
          <a:xfrm rot="10800000" flipH="1" flipV="1">
            <a:off x="3822789" y="2123730"/>
            <a:ext cx="0" cy="648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26" name="Text Box 14"/>
          <p:cNvSpPr txBox="1">
            <a:spLocks noChangeArrowheads="1"/>
          </p:cNvSpPr>
          <p:nvPr/>
        </p:nvSpPr>
        <p:spPr bwMode="auto">
          <a:xfrm flipH="1">
            <a:off x="3967275" y="1419806"/>
            <a:ext cx="367663" cy="3383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27" name="Line 22"/>
          <p:cNvSpPr>
            <a:spLocks noChangeShapeType="1"/>
          </p:cNvSpPr>
          <p:nvPr/>
        </p:nvSpPr>
        <p:spPr bwMode="auto">
          <a:xfrm rot="10800000" flipH="1">
            <a:off x="4030047" y="1713530"/>
            <a:ext cx="1007463" cy="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29" name="Text Box 13"/>
          <p:cNvSpPr txBox="1">
            <a:spLocks noChangeArrowheads="1"/>
          </p:cNvSpPr>
          <p:nvPr/>
        </p:nvSpPr>
        <p:spPr bwMode="auto">
          <a:xfrm flipH="1">
            <a:off x="4691272" y="1776896"/>
            <a:ext cx="367663"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30" name="Line 23"/>
          <p:cNvSpPr>
            <a:spLocks noChangeShapeType="1"/>
          </p:cNvSpPr>
          <p:nvPr/>
        </p:nvSpPr>
        <p:spPr bwMode="auto">
          <a:xfrm flipH="1" flipV="1">
            <a:off x="4030048" y="1802828"/>
            <a:ext cx="1007462" cy="1025"/>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33" name="Text Box 25"/>
          <p:cNvSpPr txBox="1">
            <a:spLocks noChangeArrowheads="1"/>
          </p:cNvSpPr>
          <p:nvPr/>
        </p:nvSpPr>
        <p:spPr bwMode="auto">
          <a:xfrm flipH="1">
            <a:off x="5297892" y="2036796"/>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34" name="Line 27"/>
          <p:cNvSpPr>
            <a:spLocks noChangeShapeType="1"/>
          </p:cNvSpPr>
          <p:nvPr/>
        </p:nvSpPr>
        <p:spPr bwMode="auto">
          <a:xfrm rot="16200000" flipH="1">
            <a:off x="5008838" y="2447731"/>
            <a:ext cx="648000" cy="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36" name="Line 28"/>
          <p:cNvSpPr>
            <a:spLocks noChangeShapeType="1"/>
          </p:cNvSpPr>
          <p:nvPr/>
        </p:nvSpPr>
        <p:spPr bwMode="auto">
          <a:xfrm rot="5400000" flipH="1" flipV="1">
            <a:off x="4909438" y="2447731"/>
            <a:ext cx="648000" cy="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37" name="Text Box 29"/>
          <p:cNvSpPr txBox="1">
            <a:spLocks noChangeArrowheads="1"/>
          </p:cNvSpPr>
          <p:nvPr/>
        </p:nvSpPr>
        <p:spPr bwMode="auto">
          <a:xfrm flipH="1">
            <a:off x="4929644" y="2508193"/>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pic>
        <p:nvPicPr>
          <p:cNvPr id="53" name="图片 5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532346" y="1400999"/>
            <a:ext cx="476702" cy="667383"/>
          </a:xfrm>
          <a:prstGeom prst="rect">
            <a:avLst/>
          </a:prstGeom>
        </p:spPr>
      </p:pic>
      <p:grpSp>
        <p:nvGrpSpPr>
          <p:cNvPr id="2" name="组合 1"/>
          <p:cNvGrpSpPr/>
          <p:nvPr/>
        </p:nvGrpSpPr>
        <p:grpSpPr>
          <a:xfrm>
            <a:off x="6176311" y="4243671"/>
            <a:ext cx="2041636" cy="528629"/>
            <a:chOff x="5967873" y="3583250"/>
            <a:chExt cx="2041636" cy="528629"/>
          </a:xfrm>
        </p:grpSpPr>
        <p:sp>
          <p:nvSpPr>
            <p:cNvPr id="55" name="Line 27"/>
            <p:cNvSpPr>
              <a:spLocks noChangeShapeType="1"/>
            </p:cNvSpPr>
            <p:nvPr/>
          </p:nvSpPr>
          <p:spPr bwMode="auto">
            <a:xfrm rot="16200000" flipH="1">
              <a:off x="6187692" y="3520577"/>
              <a:ext cx="0" cy="439638"/>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59" name="Line 28"/>
            <p:cNvSpPr>
              <a:spLocks noChangeShapeType="1"/>
            </p:cNvSpPr>
            <p:nvPr/>
          </p:nvSpPr>
          <p:spPr bwMode="auto">
            <a:xfrm rot="5400000">
              <a:off x="6187691" y="3754442"/>
              <a:ext cx="0" cy="439636"/>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60" name="Text Box 50"/>
            <p:cNvSpPr txBox="1">
              <a:spLocks noChangeArrowheads="1"/>
            </p:cNvSpPr>
            <p:nvPr/>
          </p:nvSpPr>
          <p:spPr bwMode="auto">
            <a:xfrm flipH="1">
              <a:off x="6407509" y="3583250"/>
              <a:ext cx="16020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查询请求，域名</a:t>
              </a:r>
            </a:p>
          </p:txBody>
        </p:sp>
        <p:sp>
          <p:nvSpPr>
            <p:cNvPr id="61" name="Text Box 50"/>
            <p:cNvSpPr txBox="1">
              <a:spLocks noChangeArrowheads="1"/>
            </p:cNvSpPr>
            <p:nvPr/>
          </p:nvSpPr>
          <p:spPr bwMode="auto">
            <a:xfrm flipH="1">
              <a:off x="6407509" y="3834880"/>
              <a:ext cx="16020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查询响应，</a:t>
              </a:r>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地址</a:t>
              </a:r>
            </a:p>
          </p:txBody>
        </p:sp>
      </p:grpSp>
      <p:sp>
        <p:nvSpPr>
          <p:cNvPr id="3" name="标题 2">
            <a:extLst>
              <a:ext uri="{FF2B5EF4-FFF2-40B4-BE49-F238E27FC236}">
                <a16:creationId xmlns:a16="http://schemas.microsoft.com/office/drawing/2014/main" id="{3B11791B-27E5-3212-ADEF-3D71AD02A6C7}"/>
              </a:ext>
            </a:extLst>
          </p:cNvPr>
          <p:cNvSpPr>
            <a:spLocks noGrp="1"/>
          </p:cNvSpPr>
          <p:nvPr>
            <p:ph type="title"/>
          </p:nvPr>
        </p:nvSpPr>
        <p:spPr>
          <a:xfrm>
            <a:off x="2880000" y="144000"/>
            <a:ext cx="3384000" cy="338554"/>
          </a:xfrm>
        </p:spPr>
        <p:txBody>
          <a:bodyPr/>
          <a:lstStyle/>
          <a:p>
            <a:r>
              <a:rPr lang="zh-CN" altLang="en-US" dirty="0"/>
              <a:t>递归查询</a:t>
            </a:r>
          </a:p>
        </p:txBody>
      </p:sp>
      <p:sp>
        <p:nvSpPr>
          <p:cNvPr id="4" name="矩形 3">
            <a:extLst>
              <a:ext uri="{FF2B5EF4-FFF2-40B4-BE49-F238E27FC236}">
                <a16:creationId xmlns:a16="http://schemas.microsoft.com/office/drawing/2014/main" id="{4A036343-4DDB-2A64-EBB3-6DE98010D979}"/>
              </a:ext>
            </a:extLst>
          </p:cNvPr>
          <p:cNvSpPr/>
          <p:nvPr/>
        </p:nvSpPr>
        <p:spPr>
          <a:xfrm>
            <a:off x="3013461" y="1106089"/>
            <a:ext cx="3545335" cy="2726776"/>
          </a:xfrm>
          <a:prstGeom prst="rect">
            <a:avLst/>
          </a:prstGeom>
          <a:noFill/>
          <a:ln w="12700">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Text Box 33">
            <a:extLst>
              <a:ext uri="{FF2B5EF4-FFF2-40B4-BE49-F238E27FC236}">
                <a16:creationId xmlns:a16="http://schemas.microsoft.com/office/drawing/2014/main" id="{A5B7E0D6-B2AC-E1ED-575C-BB5537C420C4}"/>
              </a:ext>
            </a:extLst>
          </p:cNvPr>
          <p:cNvSpPr txBox="1">
            <a:spLocks noChangeArrowheads="1"/>
          </p:cNvSpPr>
          <p:nvPr/>
        </p:nvSpPr>
        <p:spPr bwMode="auto">
          <a:xfrm flipH="1">
            <a:off x="3242672" y="3235326"/>
            <a:ext cx="367663"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 name="Line 35">
            <a:extLst>
              <a:ext uri="{FF2B5EF4-FFF2-40B4-BE49-F238E27FC236}">
                <a16:creationId xmlns:a16="http://schemas.microsoft.com/office/drawing/2014/main" id="{D340186E-F3EC-8942-660A-587124B646CC}"/>
              </a:ext>
            </a:extLst>
          </p:cNvPr>
          <p:cNvSpPr>
            <a:spLocks noChangeShapeType="1"/>
          </p:cNvSpPr>
          <p:nvPr/>
        </p:nvSpPr>
        <p:spPr bwMode="auto">
          <a:xfrm rot="16200000" flipH="1" flipV="1">
            <a:off x="3101753" y="2911148"/>
            <a:ext cx="0" cy="720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7" name="Text Box 11">
            <a:extLst>
              <a:ext uri="{FF2B5EF4-FFF2-40B4-BE49-F238E27FC236}">
                <a16:creationId xmlns:a16="http://schemas.microsoft.com/office/drawing/2014/main" id="{0BBEECC0-EF77-9B1A-6494-4FF650658F8A}"/>
              </a:ext>
            </a:extLst>
          </p:cNvPr>
          <p:cNvSpPr txBox="1">
            <a:spLocks noChangeArrowheads="1"/>
          </p:cNvSpPr>
          <p:nvPr/>
        </p:nvSpPr>
        <p:spPr bwMode="auto">
          <a:xfrm flipH="1">
            <a:off x="2129315" y="3319776"/>
            <a:ext cx="638316"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lnSpc>
                <a:spcPct val="80000"/>
              </a:lnSpc>
            </a:pPr>
            <a:r>
              <a:rPr kumimoji="1" lang="en-US" altLang="zh-CN" sz="1200" dirty="0">
                <a:latin typeface="Montserrat" panose="00000500000000000000" pitchFamily="2" charset="0"/>
                <a:ea typeface="微软雅黑 Light" panose="020B0502040204020203" pitchFamily="34" charset="-122"/>
              </a:rPr>
              <a:t>Client</a:t>
            </a:r>
          </a:p>
        </p:txBody>
      </p:sp>
      <p:sp>
        <p:nvSpPr>
          <p:cNvPr id="8" name="Text Box 32">
            <a:extLst>
              <a:ext uri="{FF2B5EF4-FFF2-40B4-BE49-F238E27FC236}">
                <a16:creationId xmlns:a16="http://schemas.microsoft.com/office/drawing/2014/main" id="{AC762167-2CDB-520D-16A3-A3D643925958}"/>
              </a:ext>
            </a:extLst>
          </p:cNvPr>
          <p:cNvSpPr txBox="1">
            <a:spLocks noChangeArrowheads="1"/>
          </p:cNvSpPr>
          <p:nvPr/>
        </p:nvSpPr>
        <p:spPr bwMode="auto">
          <a:xfrm flipH="1">
            <a:off x="2667149" y="2866430"/>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9" name="Line 34">
            <a:extLst>
              <a:ext uri="{FF2B5EF4-FFF2-40B4-BE49-F238E27FC236}">
                <a16:creationId xmlns:a16="http://schemas.microsoft.com/office/drawing/2014/main" id="{CCAC8790-1628-17C0-5233-789B078EEA5E}"/>
              </a:ext>
            </a:extLst>
          </p:cNvPr>
          <p:cNvSpPr>
            <a:spLocks noChangeShapeType="1"/>
          </p:cNvSpPr>
          <p:nvPr/>
        </p:nvSpPr>
        <p:spPr bwMode="auto">
          <a:xfrm rot="16200000" flipH="1">
            <a:off x="3101753" y="2812408"/>
            <a:ext cx="0" cy="720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pic>
        <p:nvPicPr>
          <p:cNvPr id="10" name="Picture 197" descr="jisuanji">
            <a:extLst>
              <a:ext uri="{FF2B5EF4-FFF2-40B4-BE49-F238E27FC236}">
                <a16:creationId xmlns:a16="http://schemas.microsoft.com/office/drawing/2014/main" id="{ABABF061-092D-FB76-D515-39B03542E74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53751" y="2952667"/>
            <a:ext cx="393048" cy="39304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254814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8F65A090-BFFE-12FC-D81A-A80DE8E0651C}"/>
              </a:ext>
            </a:extLst>
          </p:cNvPr>
          <p:cNvSpPr>
            <a:spLocks noGrp="1"/>
          </p:cNvSpPr>
          <p:nvPr>
            <p:ph type="title"/>
          </p:nvPr>
        </p:nvSpPr>
        <p:spPr>
          <a:xfrm>
            <a:off x="2880000" y="144000"/>
            <a:ext cx="3384000" cy="338554"/>
          </a:xfrm>
        </p:spPr>
        <p:txBody>
          <a:bodyPr/>
          <a:lstStyle/>
          <a:p>
            <a:r>
              <a:rPr lang="zh-CN" altLang="en-US" dirty="0"/>
              <a:t>迭代查询</a:t>
            </a:r>
          </a:p>
        </p:txBody>
      </p:sp>
      <p:pic>
        <p:nvPicPr>
          <p:cNvPr id="6" name="图片 5">
            <a:extLst>
              <a:ext uri="{FF2B5EF4-FFF2-40B4-BE49-F238E27FC236}">
                <a16:creationId xmlns:a16="http://schemas.microsoft.com/office/drawing/2014/main" id="{9E29BBE4-F9A7-BA02-0578-39538ED5485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17018" y="1400999"/>
            <a:ext cx="476702" cy="667383"/>
          </a:xfrm>
          <a:prstGeom prst="rect">
            <a:avLst/>
          </a:prstGeom>
        </p:spPr>
      </p:pic>
      <p:pic>
        <p:nvPicPr>
          <p:cNvPr id="7" name="图片 6">
            <a:extLst>
              <a:ext uri="{FF2B5EF4-FFF2-40B4-BE49-F238E27FC236}">
                <a16:creationId xmlns:a16="http://schemas.microsoft.com/office/drawing/2014/main" id="{8AF80900-EF42-E6EC-15E0-CE0FBFC07D4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532346" y="2844583"/>
            <a:ext cx="476702" cy="667383"/>
          </a:xfrm>
          <a:prstGeom prst="rect">
            <a:avLst/>
          </a:prstGeom>
        </p:spPr>
      </p:pic>
      <p:pic>
        <p:nvPicPr>
          <p:cNvPr id="8" name="图片 7">
            <a:extLst>
              <a:ext uri="{FF2B5EF4-FFF2-40B4-BE49-F238E27FC236}">
                <a16:creationId xmlns:a16="http://schemas.microsoft.com/office/drawing/2014/main" id="{C30C13CB-89FB-6BCC-537F-30AA035F688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42958" y="2844583"/>
            <a:ext cx="476702" cy="667383"/>
          </a:xfrm>
          <a:prstGeom prst="rect">
            <a:avLst/>
          </a:prstGeom>
        </p:spPr>
      </p:pic>
      <p:sp>
        <p:nvSpPr>
          <p:cNvPr id="9" name="Text Box 7">
            <a:extLst>
              <a:ext uri="{FF2B5EF4-FFF2-40B4-BE49-F238E27FC236}">
                <a16:creationId xmlns:a16="http://schemas.microsoft.com/office/drawing/2014/main" id="{67B21F31-549F-F3BE-9169-3D090DD7B272}"/>
              </a:ext>
            </a:extLst>
          </p:cNvPr>
          <p:cNvSpPr txBox="1">
            <a:spLocks noChangeArrowheads="1"/>
          </p:cNvSpPr>
          <p:nvPr/>
        </p:nvSpPr>
        <p:spPr bwMode="auto">
          <a:xfrm flipH="1">
            <a:off x="4772996" y="1110083"/>
            <a:ext cx="101662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9900FF"/>
                </a:solidFill>
                <a:latin typeface="Montserrat" panose="00000500000000000000" pitchFamily="2" charset="0"/>
                <a:ea typeface="微软雅黑 Light" panose="020B0502040204020203" pitchFamily="34" charset="-122"/>
              </a:rPr>
              <a:t>TLD Server</a:t>
            </a:r>
          </a:p>
        </p:txBody>
      </p:sp>
      <p:sp>
        <p:nvSpPr>
          <p:cNvPr id="10" name="Text Box 8">
            <a:extLst>
              <a:ext uri="{FF2B5EF4-FFF2-40B4-BE49-F238E27FC236}">
                <a16:creationId xmlns:a16="http://schemas.microsoft.com/office/drawing/2014/main" id="{57B44F72-CB3F-2D76-6110-A72B1EFFC433}"/>
              </a:ext>
            </a:extLst>
          </p:cNvPr>
          <p:cNvSpPr txBox="1">
            <a:spLocks noChangeArrowheads="1"/>
          </p:cNvSpPr>
          <p:nvPr/>
        </p:nvSpPr>
        <p:spPr bwMode="auto">
          <a:xfrm flipH="1">
            <a:off x="4514706" y="3533562"/>
            <a:ext cx="26027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993300"/>
                </a:solidFill>
                <a:latin typeface="Montserrat" panose="00000500000000000000" pitchFamily="2" charset="0"/>
                <a:ea typeface="微软雅黑 Light" panose="020B0502040204020203" pitchFamily="34" charset="-122"/>
              </a:rPr>
              <a:t>Authoritative DNS Server</a:t>
            </a:r>
          </a:p>
        </p:txBody>
      </p:sp>
      <p:sp>
        <p:nvSpPr>
          <p:cNvPr id="11" name="Text Box 9">
            <a:extLst>
              <a:ext uri="{FF2B5EF4-FFF2-40B4-BE49-F238E27FC236}">
                <a16:creationId xmlns:a16="http://schemas.microsoft.com/office/drawing/2014/main" id="{03F7F62F-7082-481A-306C-A33E810FC203}"/>
              </a:ext>
            </a:extLst>
          </p:cNvPr>
          <p:cNvSpPr txBox="1">
            <a:spLocks noChangeArrowheads="1"/>
          </p:cNvSpPr>
          <p:nvPr/>
        </p:nvSpPr>
        <p:spPr bwMode="auto">
          <a:xfrm flipH="1">
            <a:off x="3130062" y="3533921"/>
            <a:ext cx="15039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0000FF"/>
                </a:solidFill>
                <a:latin typeface="Montserrat" panose="00000500000000000000" pitchFamily="2" charset="0"/>
                <a:ea typeface="微软雅黑 Light" panose="020B0502040204020203" pitchFamily="34" charset="-122"/>
              </a:rPr>
              <a:t>Local DNS Server</a:t>
            </a:r>
          </a:p>
        </p:txBody>
      </p:sp>
      <p:sp>
        <p:nvSpPr>
          <p:cNvPr id="16" name="Text Box 12">
            <a:extLst>
              <a:ext uri="{FF2B5EF4-FFF2-40B4-BE49-F238E27FC236}">
                <a16:creationId xmlns:a16="http://schemas.microsoft.com/office/drawing/2014/main" id="{6C406D1C-BEBF-A11A-A880-382A81C0D8E9}"/>
              </a:ext>
            </a:extLst>
          </p:cNvPr>
          <p:cNvSpPr txBox="1">
            <a:spLocks noChangeArrowheads="1"/>
          </p:cNvSpPr>
          <p:nvPr/>
        </p:nvSpPr>
        <p:spPr bwMode="auto">
          <a:xfrm flipH="1">
            <a:off x="2988363" y="1106089"/>
            <a:ext cx="14622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C00000"/>
                </a:solidFill>
                <a:latin typeface="Montserrat" panose="00000500000000000000" pitchFamily="2" charset="0"/>
                <a:ea typeface="微软雅黑 Light" panose="020B0502040204020203" pitchFamily="34" charset="-122"/>
              </a:rPr>
              <a:t>Root DNS Server</a:t>
            </a:r>
            <a:endParaRPr kumimoji="1" lang="zh-CN" altLang="en-US" sz="1200" dirty="0">
              <a:solidFill>
                <a:srgbClr val="C00000"/>
              </a:solidFill>
              <a:latin typeface="Montserrat" panose="00000500000000000000" pitchFamily="2" charset="0"/>
              <a:ea typeface="微软雅黑 Light" panose="020B0502040204020203" pitchFamily="34" charset="-122"/>
            </a:endParaRPr>
          </a:p>
        </p:txBody>
      </p:sp>
      <p:sp>
        <p:nvSpPr>
          <p:cNvPr id="17" name="Text Box 18">
            <a:extLst>
              <a:ext uri="{FF2B5EF4-FFF2-40B4-BE49-F238E27FC236}">
                <a16:creationId xmlns:a16="http://schemas.microsoft.com/office/drawing/2014/main" id="{586B044F-5520-627E-8B33-CDA1537FBE08}"/>
              </a:ext>
            </a:extLst>
          </p:cNvPr>
          <p:cNvSpPr txBox="1">
            <a:spLocks noChangeArrowheads="1"/>
          </p:cNvSpPr>
          <p:nvPr/>
        </p:nvSpPr>
        <p:spPr bwMode="auto">
          <a:xfrm flipH="1">
            <a:off x="3425142" y="2517601"/>
            <a:ext cx="367662"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18" name="Line 20">
            <a:extLst>
              <a:ext uri="{FF2B5EF4-FFF2-40B4-BE49-F238E27FC236}">
                <a16:creationId xmlns:a16="http://schemas.microsoft.com/office/drawing/2014/main" id="{66BE7CDA-5CC0-C720-F192-DD1E6877F40E}"/>
              </a:ext>
            </a:extLst>
          </p:cNvPr>
          <p:cNvSpPr>
            <a:spLocks noChangeShapeType="1"/>
          </p:cNvSpPr>
          <p:nvPr/>
        </p:nvSpPr>
        <p:spPr bwMode="auto">
          <a:xfrm rot="10800000" flipH="1">
            <a:off x="3719494" y="2123730"/>
            <a:ext cx="0" cy="648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31" name="Text Box 19">
            <a:extLst>
              <a:ext uri="{FF2B5EF4-FFF2-40B4-BE49-F238E27FC236}">
                <a16:creationId xmlns:a16="http://schemas.microsoft.com/office/drawing/2014/main" id="{8ADA9EC7-03C3-EDF0-1E20-66E3ABDC0940}"/>
              </a:ext>
            </a:extLst>
          </p:cNvPr>
          <p:cNvSpPr txBox="1">
            <a:spLocks noChangeArrowheads="1"/>
          </p:cNvSpPr>
          <p:nvPr/>
        </p:nvSpPr>
        <p:spPr bwMode="auto">
          <a:xfrm flipH="1">
            <a:off x="4693450" y="3224993"/>
            <a:ext cx="367661"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38" name="Line 21">
            <a:extLst>
              <a:ext uri="{FF2B5EF4-FFF2-40B4-BE49-F238E27FC236}">
                <a16:creationId xmlns:a16="http://schemas.microsoft.com/office/drawing/2014/main" id="{305ABD2D-9632-922E-AABA-C8283BDE29E5}"/>
              </a:ext>
            </a:extLst>
          </p:cNvPr>
          <p:cNvSpPr>
            <a:spLocks noChangeShapeType="1"/>
          </p:cNvSpPr>
          <p:nvPr/>
        </p:nvSpPr>
        <p:spPr bwMode="auto">
          <a:xfrm rot="10800000" flipH="1" flipV="1">
            <a:off x="3809727" y="2123730"/>
            <a:ext cx="0" cy="648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46" name="Text Box 14">
            <a:extLst>
              <a:ext uri="{FF2B5EF4-FFF2-40B4-BE49-F238E27FC236}">
                <a16:creationId xmlns:a16="http://schemas.microsoft.com/office/drawing/2014/main" id="{B8D9EB2E-D01D-781C-E812-E903BE7BA5F1}"/>
              </a:ext>
            </a:extLst>
          </p:cNvPr>
          <p:cNvSpPr txBox="1">
            <a:spLocks noChangeArrowheads="1"/>
          </p:cNvSpPr>
          <p:nvPr/>
        </p:nvSpPr>
        <p:spPr bwMode="auto">
          <a:xfrm flipH="1">
            <a:off x="3778564" y="2002904"/>
            <a:ext cx="367663" cy="3383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2" name="Line 22">
            <a:extLst>
              <a:ext uri="{FF2B5EF4-FFF2-40B4-BE49-F238E27FC236}">
                <a16:creationId xmlns:a16="http://schemas.microsoft.com/office/drawing/2014/main" id="{39720D7A-9BFA-ADB5-F9A6-07625AD2CE27}"/>
              </a:ext>
            </a:extLst>
          </p:cNvPr>
          <p:cNvSpPr>
            <a:spLocks noChangeShapeType="1"/>
          </p:cNvSpPr>
          <p:nvPr/>
        </p:nvSpPr>
        <p:spPr bwMode="auto">
          <a:xfrm rot="10800000" flipH="1">
            <a:off x="4009049" y="1983136"/>
            <a:ext cx="866536" cy="848698"/>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63" name="Text Box 13">
            <a:extLst>
              <a:ext uri="{FF2B5EF4-FFF2-40B4-BE49-F238E27FC236}">
                <a16:creationId xmlns:a16="http://schemas.microsoft.com/office/drawing/2014/main" id="{D94E46DF-DD2E-22A1-2D2F-D182AD2376AF}"/>
              </a:ext>
            </a:extLst>
          </p:cNvPr>
          <p:cNvSpPr txBox="1">
            <a:spLocks noChangeArrowheads="1"/>
          </p:cNvSpPr>
          <p:nvPr/>
        </p:nvSpPr>
        <p:spPr bwMode="auto">
          <a:xfrm flipH="1">
            <a:off x="4090195" y="2904304"/>
            <a:ext cx="367663"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4" name="Line 23">
            <a:extLst>
              <a:ext uri="{FF2B5EF4-FFF2-40B4-BE49-F238E27FC236}">
                <a16:creationId xmlns:a16="http://schemas.microsoft.com/office/drawing/2014/main" id="{0C83C11F-FC24-A1F4-3077-D050375BC2F7}"/>
              </a:ext>
            </a:extLst>
          </p:cNvPr>
          <p:cNvSpPr>
            <a:spLocks noChangeShapeType="1"/>
          </p:cNvSpPr>
          <p:nvPr/>
        </p:nvSpPr>
        <p:spPr bwMode="auto">
          <a:xfrm flipH="1">
            <a:off x="4039032" y="2094506"/>
            <a:ext cx="853434" cy="848185"/>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65" name="Text Box 25">
            <a:extLst>
              <a:ext uri="{FF2B5EF4-FFF2-40B4-BE49-F238E27FC236}">
                <a16:creationId xmlns:a16="http://schemas.microsoft.com/office/drawing/2014/main" id="{45E74DDC-ADEB-DA81-CD3A-F6A910700122}"/>
              </a:ext>
            </a:extLst>
          </p:cNvPr>
          <p:cNvSpPr txBox="1">
            <a:spLocks noChangeArrowheads="1"/>
          </p:cNvSpPr>
          <p:nvPr/>
        </p:nvSpPr>
        <p:spPr bwMode="auto">
          <a:xfrm flipH="1">
            <a:off x="3873226" y="2456557"/>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8" name="Text Box 29">
            <a:extLst>
              <a:ext uri="{FF2B5EF4-FFF2-40B4-BE49-F238E27FC236}">
                <a16:creationId xmlns:a16="http://schemas.microsoft.com/office/drawing/2014/main" id="{282AB457-D445-E6D6-E3B4-60C3CD2887BA}"/>
              </a:ext>
            </a:extLst>
          </p:cNvPr>
          <p:cNvSpPr txBox="1">
            <a:spLocks noChangeArrowheads="1"/>
          </p:cNvSpPr>
          <p:nvPr/>
        </p:nvSpPr>
        <p:spPr bwMode="auto">
          <a:xfrm flipH="1">
            <a:off x="4799505" y="2069128"/>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9" name="Text Box 33">
            <a:extLst>
              <a:ext uri="{FF2B5EF4-FFF2-40B4-BE49-F238E27FC236}">
                <a16:creationId xmlns:a16="http://schemas.microsoft.com/office/drawing/2014/main" id="{E13E1A7F-F3F8-6BC2-0BD4-A47BD21B38CD}"/>
              </a:ext>
            </a:extLst>
          </p:cNvPr>
          <p:cNvSpPr txBox="1">
            <a:spLocks noChangeArrowheads="1"/>
          </p:cNvSpPr>
          <p:nvPr/>
        </p:nvSpPr>
        <p:spPr bwMode="auto">
          <a:xfrm flipH="1">
            <a:off x="3242672" y="3235326"/>
            <a:ext cx="367663"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70" name="Line 35">
            <a:extLst>
              <a:ext uri="{FF2B5EF4-FFF2-40B4-BE49-F238E27FC236}">
                <a16:creationId xmlns:a16="http://schemas.microsoft.com/office/drawing/2014/main" id="{316B5444-4986-3494-6DD0-8F6BFE784B94}"/>
              </a:ext>
            </a:extLst>
          </p:cNvPr>
          <p:cNvSpPr>
            <a:spLocks noChangeShapeType="1"/>
          </p:cNvSpPr>
          <p:nvPr/>
        </p:nvSpPr>
        <p:spPr bwMode="auto">
          <a:xfrm rot="16200000" flipH="1" flipV="1">
            <a:off x="3101753" y="2911148"/>
            <a:ext cx="0" cy="720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71" name="Text Box 11">
            <a:extLst>
              <a:ext uri="{FF2B5EF4-FFF2-40B4-BE49-F238E27FC236}">
                <a16:creationId xmlns:a16="http://schemas.microsoft.com/office/drawing/2014/main" id="{F427D927-CB5D-214E-FA8E-15C2DC3BCA0A}"/>
              </a:ext>
            </a:extLst>
          </p:cNvPr>
          <p:cNvSpPr txBox="1">
            <a:spLocks noChangeArrowheads="1"/>
          </p:cNvSpPr>
          <p:nvPr/>
        </p:nvSpPr>
        <p:spPr bwMode="auto">
          <a:xfrm flipH="1">
            <a:off x="2129315" y="3319776"/>
            <a:ext cx="638316"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lnSpc>
                <a:spcPct val="80000"/>
              </a:lnSpc>
            </a:pPr>
            <a:r>
              <a:rPr kumimoji="1" lang="en-US" altLang="zh-CN" sz="1200" dirty="0">
                <a:latin typeface="Montserrat" panose="00000500000000000000" pitchFamily="2" charset="0"/>
                <a:ea typeface="微软雅黑 Light" panose="020B0502040204020203" pitchFamily="34" charset="-122"/>
              </a:rPr>
              <a:t>Client</a:t>
            </a:r>
          </a:p>
        </p:txBody>
      </p:sp>
      <p:sp>
        <p:nvSpPr>
          <p:cNvPr id="72" name="Text Box 32">
            <a:extLst>
              <a:ext uri="{FF2B5EF4-FFF2-40B4-BE49-F238E27FC236}">
                <a16:creationId xmlns:a16="http://schemas.microsoft.com/office/drawing/2014/main" id="{4AEA25CC-6430-DDEE-6DB5-A42490CBD090}"/>
              </a:ext>
            </a:extLst>
          </p:cNvPr>
          <p:cNvSpPr txBox="1">
            <a:spLocks noChangeArrowheads="1"/>
          </p:cNvSpPr>
          <p:nvPr/>
        </p:nvSpPr>
        <p:spPr bwMode="auto">
          <a:xfrm flipH="1">
            <a:off x="2667149" y="2866430"/>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73" name="Line 34">
            <a:extLst>
              <a:ext uri="{FF2B5EF4-FFF2-40B4-BE49-F238E27FC236}">
                <a16:creationId xmlns:a16="http://schemas.microsoft.com/office/drawing/2014/main" id="{8AAF1F49-9586-9750-965B-66ED7194C61E}"/>
              </a:ext>
            </a:extLst>
          </p:cNvPr>
          <p:cNvSpPr>
            <a:spLocks noChangeShapeType="1"/>
          </p:cNvSpPr>
          <p:nvPr/>
        </p:nvSpPr>
        <p:spPr bwMode="auto">
          <a:xfrm rot="16200000" flipH="1">
            <a:off x="3101753" y="2812408"/>
            <a:ext cx="0" cy="720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pic>
        <p:nvPicPr>
          <p:cNvPr id="74" name="图片 73">
            <a:extLst>
              <a:ext uri="{FF2B5EF4-FFF2-40B4-BE49-F238E27FC236}">
                <a16:creationId xmlns:a16="http://schemas.microsoft.com/office/drawing/2014/main" id="{1179A637-F188-0331-1627-0192342E9CC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532346" y="1400999"/>
            <a:ext cx="476702" cy="667383"/>
          </a:xfrm>
          <a:prstGeom prst="rect">
            <a:avLst/>
          </a:prstGeom>
        </p:spPr>
      </p:pic>
      <p:pic>
        <p:nvPicPr>
          <p:cNvPr id="75" name="Picture 197" descr="jisuanji">
            <a:extLst>
              <a:ext uri="{FF2B5EF4-FFF2-40B4-BE49-F238E27FC236}">
                <a16:creationId xmlns:a16="http://schemas.microsoft.com/office/drawing/2014/main" id="{A1427FAE-351C-C8D7-3411-10BFDF7CECE5}"/>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53751" y="2952667"/>
            <a:ext cx="393048" cy="393049"/>
          </a:xfrm>
          <a:prstGeom prst="rect">
            <a:avLst/>
          </a:prstGeom>
          <a:noFill/>
          <a:extLst>
            <a:ext uri="{909E8E84-426E-40DD-AFC4-6F175D3DCCD1}">
              <a14:hiddenFill xmlns:a14="http://schemas.microsoft.com/office/drawing/2010/main">
                <a:solidFill>
                  <a:srgbClr val="FFFFFF"/>
                </a:solidFill>
              </a14:hiddenFill>
            </a:ext>
          </a:extLst>
        </p:spPr>
      </p:pic>
      <p:sp>
        <p:nvSpPr>
          <p:cNvPr id="76" name="Line 35">
            <a:extLst>
              <a:ext uri="{FF2B5EF4-FFF2-40B4-BE49-F238E27FC236}">
                <a16:creationId xmlns:a16="http://schemas.microsoft.com/office/drawing/2014/main" id="{B575E89F-DBC0-B633-8F83-F4B4AAE0F278}"/>
              </a:ext>
            </a:extLst>
          </p:cNvPr>
          <p:cNvSpPr>
            <a:spLocks noChangeShapeType="1"/>
          </p:cNvSpPr>
          <p:nvPr/>
        </p:nvSpPr>
        <p:spPr bwMode="auto">
          <a:xfrm rot="16200000" flipH="1" flipV="1">
            <a:off x="4529811" y="2845639"/>
            <a:ext cx="0" cy="864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77" name="Line 34">
            <a:extLst>
              <a:ext uri="{FF2B5EF4-FFF2-40B4-BE49-F238E27FC236}">
                <a16:creationId xmlns:a16="http://schemas.microsoft.com/office/drawing/2014/main" id="{335AAF83-EE79-35B3-5DD4-93703859216B}"/>
              </a:ext>
            </a:extLst>
          </p:cNvPr>
          <p:cNvSpPr>
            <a:spLocks noChangeShapeType="1"/>
          </p:cNvSpPr>
          <p:nvPr/>
        </p:nvSpPr>
        <p:spPr bwMode="auto">
          <a:xfrm rot="16200000" flipH="1">
            <a:off x="4529811" y="2746899"/>
            <a:ext cx="0" cy="864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grpSp>
        <p:nvGrpSpPr>
          <p:cNvPr id="78" name="组合 77">
            <a:extLst>
              <a:ext uri="{FF2B5EF4-FFF2-40B4-BE49-F238E27FC236}">
                <a16:creationId xmlns:a16="http://schemas.microsoft.com/office/drawing/2014/main" id="{B9F14C03-D07E-E78C-9CAF-1A9961A50CA7}"/>
              </a:ext>
            </a:extLst>
          </p:cNvPr>
          <p:cNvGrpSpPr/>
          <p:nvPr/>
        </p:nvGrpSpPr>
        <p:grpSpPr>
          <a:xfrm>
            <a:off x="6176311" y="4243671"/>
            <a:ext cx="2041636" cy="528629"/>
            <a:chOff x="5967873" y="3583250"/>
            <a:chExt cx="2041636" cy="528629"/>
          </a:xfrm>
        </p:grpSpPr>
        <p:sp>
          <p:nvSpPr>
            <p:cNvPr id="79" name="Line 27">
              <a:extLst>
                <a:ext uri="{FF2B5EF4-FFF2-40B4-BE49-F238E27FC236}">
                  <a16:creationId xmlns:a16="http://schemas.microsoft.com/office/drawing/2014/main" id="{A3CA896D-6837-190B-D350-C27D79DF7FCE}"/>
                </a:ext>
              </a:extLst>
            </p:cNvPr>
            <p:cNvSpPr>
              <a:spLocks noChangeShapeType="1"/>
            </p:cNvSpPr>
            <p:nvPr/>
          </p:nvSpPr>
          <p:spPr bwMode="auto">
            <a:xfrm rot="16200000" flipH="1">
              <a:off x="6187692" y="3520577"/>
              <a:ext cx="0" cy="439638"/>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80" name="Line 28">
              <a:extLst>
                <a:ext uri="{FF2B5EF4-FFF2-40B4-BE49-F238E27FC236}">
                  <a16:creationId xmlns:a16="http://schemas.microsoft.com/office/drawing/2014/main" id="{DC793F01-599B-B632-F32F-0DCF5A13D752}"/>
                </a:ext>
              </a:extLst>
            </p:cNvPr>
            <p:cNvSpPr>
              <a:spLocks noChangeShapeType="1"/>
            </p:cNvSpPr>
            <p:nvPr/>
          </p:nvSpPr>
          <p:spPr bwMode="auto">
            <a:xfrm rot="5400000">
              <a:off x="6187691" y="3754442"/>
              <a:ext cx="0" cy="439636"/>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81" name="Text Box 50">
              <a:extLst>
                <a:ext uri="{FF2B5EF4-FFF2-40B4-BE49-F238E27FC236}">
                  <a16:creationId xmlns:a16="http://schemas.microsoft.com/office/drawing/2014/main" id="{6418B90C-CD76-F659-0E68-ABF337C44C3F}"/>
                </a:ext>
              </a:extLst>
            </p:cNvPr>
            <p:cNvSpPr txBox="1">
              <a:spLocks noChangeArrowheads="1"/>
            </p:cNvSpPr>
            <p:nvPr/>
          </p:nvSpPr>
          <p:spPr bwMode="auto">
            <a:xfrm flipH="1">
              <a:off x="6407509" y="3583250"/>
              <a:ext cx="16020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查询请求，域名</a:t>
              </a:r>
            </a:p>
          </p:txBody>
        </p:sp>
        <p:sp>
          <p:nvSpPr>
            <p:cNvPr id="82" name="Text Box 50">
              <a:extLst>
                <a:ext uri="{FF2B5EF4-FFF2-40B4-BE49-F238E27FC236}">
                  <a16:creationId xmlns:a16="http://schemas.microsoft.com/office/drawing/2014/main" id="{815A792A-B6C9-D936-45AB-C0D2BD17B97B}"/>
                </a:ext>
              </a:extLst>
            </p:cNvPr>
            <p:cNvSpPr txBox="1">
              <a:spLocks noChangeArrowheads="1"/>
            </p:cNvSpPr>
            <p:nvPr/>
          </p:nvSpPr>
          <p:spPr bwMode="auto">
            <a:xfrm flipH="1">
              <a:off x="6407509" y="3834880"/>
              <a:ext cx="16020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查询响应，</a:t>
              </a:r>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地址</a:t>
              </a:r>
            </a:p>
          </p:txBody>
        </p:sp>
      </p:grpSp>
      <p:sp>
        <p:nvSpPr>
          <p:cNvPr id="84" name="矩形 83">
            <a:extLst>
              <a:ext uri="{FF2B5EF4-FFF2-40B4-BE49-F238E27FC236}">
                <a16:creationId xmlns:a16="http://schemas.microsoft.com/office/drawing/2014/main" id="{E5D44F4A-4050-BCC1-5BCB-E1C0228132E9}"/>
              </a:ext>
            </a:extLst>
          </p:cNvPr>
          <p:cNvSpPr/>
          <p:nvPr/>
        </p:nvSpPr>
        <p:spPr>
          <a:xfrm>
            <a:off x="3013461" y="1106089"/>
            <a:ext cx="3545335" cy="2726776"/>
          </a:xfrm>
          <a:prstGeom prst="rect">
            <a:avLst/>
          </a:prstGeom>
          <a:noFill/>
          <a:ln w="12700">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6481638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9D3C22-9CD6-B76C-F2B4-453270AD3594}"/>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2196537E-5C71-1018-1122-EAAC8FBC540A}"/>
              </a:ext>
            </a:extLst>
          </p:cNvPr>
          <p:cNvSpPr>
            <a:spLocks noGrp="1"/>
          </p:cNvSpPr>
          <p:nvPr>
            <p:ph type="title"/>
          </p:nvPr>
        </p:nvSpPr>
        <p:spPr>
          <a:xfrm>
            <a:off x="2880000" y="144000"/>
            <a:ext cx="3384000" cy="338554"/>
          </a:xfrm>
        </p:spPr>
        <p:txBody>
          <a:bodyPr/>
          <a:lstStyle/>
          <a:p>
            <a:r>
              <a:rPr lang="en-US" altLang="zh-CN" dirty="0"/>
              <a:t>8</a:t>
            </a:r>
            <a:r>
              <a:rPr lang="zh-CN" altLang="en-US" dirty="0"/>
              <a:t>个报文</a:t>
            </a:r>
          </a:p>
        </p:txBody>
      </p:sp>
      <p:pic>
        <p:nvPicPr>
          <p:cNvPr id="6" name="图片 5">
            <a:extLst>
              <a:ext uri="{FF2B5EF4-FFF2-40B4-BE49-F238E27FC236}">
                <a16:creationId xmlns:a16="http://schemas.microsoft.com/office/drawing/2014/main" id="{E83F1B76-1117-AD14-B881-FB734D7FB22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598061" y="1400999"/>
            <a:ext cx="476702" cy="667383"/>
          </a:xfrm>
          <a:prstGeom prst="rect">
            <a:avLst/>
          </a:prstGeom>
        </p:spPr>
      </p:pic>
      <p:pic>
        <p:nvPicPr>
          <p:cNvPr id="7" name="图片 6">
            <a:extLst>
              <a:ext uri="{FF2B5EF4-FFF2-40B4-BE49-F238E27FC236}">
                <a16:creationId xmlns:a16="http://schemas.microsoft.com/office/drawing/2014/main" id="{D6066D64-FC29-8CAD-F323-CFC43062232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532346" y="2844583"/>
            <a:ext cx="476702" cy="667383"/>
          </a:xfrm>
          <a:prstGeom prst="rect">
            <a:avLst/>
          </a:prstGeom>
        </p:spPr>
      </p:pic>
      <p:pic>
        <p:nvPicPr>
          <p:cNvPr id="8" name="图片 7">
            <a:extLst>
              <a:ext uri="{FF2B5EF4-FFF2-40B4-BE49-F238E27FC236}">
                <a16:creationId xmlns:a16="http://schemas.microsoft.com/office/drawing/2014/main" id="{30FA67B5-BE7E-5A9F-3999-E099920147D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598061" y="2844583"/>
            <a:ext cx="476702" cy="667383"/>
          </a:xfrm>
          <a:prstGeom prst="rect">
            <a:avLst/>
          </a:prstGeom>
        </p:spPr>
      </p:pic>
      <p:sp>
        <p:nvSpPr>
          <p:cNvPr id="9" name="Text Box 7">
            <a:extLst>
              <a:ext uri="{FF2B5EF4-FFF2-40B4-BE49-F238E27FC236}">
                <a16:creationId xmlns:a16="http://schemas.microsoft.com/office/drawing/2014/main" id="{72DDA19A-F0EB-E0A2-CE9E-140E33E905EE}"/>
              </a:ext>
            </a:extLst>
          </p:cNvPr>
          <p:cNvSpPr txBox="1">
            <a:spLocks noChangeArrowheads="1"/>
          </p:cNvSpPr>
          <p:nvPr/>
        </p:nvSpPr>
        <p:spPr bwMode="auto">
          <a:xfrm flipH="1">
            <a:off x="5043153" y="1110083"/>
            <a:ext cx="10887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r" eaLnBrk="1" hangingPunct="1"/>
            <a:r>
              <a:rPr kumimoji="1" lang="en-US" altLang="zh-CN" sz="1200" dirty="0">
                <a:solidFill>
                  <a:srgbClr val="9900FF"/>
                </a:solidFill>
                <a:latin typeface="Montserrat" panose="00000500000000000000" pitchFamily="2" charset="0"/>
                <a:ea typeface="微软雅黑 Light" panose="020B0502040204020203" pitchFamily="34" charset="-122"/>
              </a:rPr>
              <a:t>.com Server</a:t>
            </a:r>
          </a:p>
        </p:txBody>
      </p:sp>
      <p:sp>
        <p:nvSpPr>
          <p:cNvPr id="10" name="Text Box 8">
            <a:extLst>
              <a:ext uri="{FF2B5EF4-FFF2-40B4-BE49-F238E27FC236}">
                <a16:creationId xmlns:a16="http://schemas.microsoft.com/office/drawing/2014/main" id="{CFAB2363-F053-C116-6D0A-50D142346AF9}"/>
              </a:ext>
            </a:extLst>
          </p:cNvPr>
          <p:cNvSpPr txBox="1">
            <a:spLocks noChangeArrowheads="1"/>
          </p:cNvSpPr>
          <p:nvPr/>
        </p:nvSpPr>
        <p:spPr bwMode="auto">
          <a:xfrm flipH="1">
            <a:off x="4627975" y="2608891"/>
            <a:ext cx="15039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r" eaLnBrk="1" hangingPunct="1"/>
            <a:r>
              <a:rPr kumimoji="1" lang="en-US" altLang="zh-CN" sz="1200" dirty="0">
                <a:solidFill>
                  <a:srgbClr val="993300"/>
                </a:solidFill>
                <a:latin typeface="Montserrat" panose="00000500000000000000" pitchFamily="2" charset="0"/>
                <a:ea typeface="微软雅黑 Light" panose="020B0502040204020203" pitchFamily="34" charset="-122"/>
              </a:rPr>
              <a:t>abc.com Server</a:t>
            </a:r>
          </a:p>
        </p:txBody>
      </p:sp>
      <p:sp>
        <p:nvSpPr>
          <p:cNvPr id="11" name="Text Box 9">
            <a:extLst>
              <a:ext uri="{FF2B5EF4-FFF2-40B4-BE49-F238E27FC236}">
                <a16:creationId xmlns:a16="http://schemas.microsoft.com/office/drawing/2014/main" id="{76D7F7DF-66ED-66EF-E10C-0BA1A3C94E72}"/>
              </a:ext>
            </a:extLst>
          </p:cNvPr>
          <p:cNvSpPr txBox="1">
            <a:spLocks noChangeArrowheads="1"/>
          </p:cNvSpPr>
          <p:nvPr/>
        </p:nvSpPr>
        <p:spPr bwMode="auto">
          <a:xfrm flipH="1">
            <a:off x="3597575" y="3533921"/>
            <a:ext cx="15039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0000FF"/>
                </a:solidFill>
                <a:latin typeface="Montserrat" panose="00000500000000000000" pitchFamily="2" charset="0"/>
                <a:ea typeface="微软雅黑 Light" panose="020B0502040204020203" pitchFamily="34" charset="-122"/>
              </a:rPr>
              <a:t>Local DNS Server</a:t>
            </a:r>
          </a:p>
        </p:txBody>
      </p:sp>
      <p:sp>
        <p:nvSpPr>
          <p:cNvPr id="16" name="Text Box 12">
            <a:extLst>
              <a:ext uri="{FF2B5EF4-FFF2-40B4-BE49-F238E27FC236}">
                <a16:creationId xmlns:a16="http://schemas.microsoft.com/office/drawing/2014/main" id="{8961AA69-BA2C-0BE3-33A6-1DC3E292EDF7}"/>
              </a:ext>
            </a:extLst>
          </p:cNvPr>
          <p:cNvSpPr txBox="1">
            <a:spLocks noChangeArrowheads="1"/>
          </p:cNvSpPr>
          <p:nvPr/>
        </p:nvSpPr>
        <p:spPr bwMode="auto">
          <a:xfrm flipH="1">
            <a:off x="3455876" y="1106089"/>
            <a:ext cx="14622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C00000"/>
                </a:solidFill>
                <a:latin typeface="Montserrat" panose="00000500000000000000" pitchFamily="2" charset="0"/>
                <a:ea typeface="微软雅黑 Light" panose="020B0502040204020203" pitchFamily="34" charset="-122"/>
              </a:rPr>
              <a:t>Root DNS Server</a:t>
            </a:r>
            <a:endParaRPr kumimoji="1" lang="zh-CN" altLang="en-US" sz="1200" dirty="0">
              <a:solidFill>
                <a:srgbClr val="C00000"/>
              </a:solidFill>
              <a:latin typeface="Montserrat" panose="00000500000000000000" pitchFamily="2" charset="0"/>
              <a:ea typeface="微软雅黑 Light" panose="020B0502040204020203" pitchFamily="34" charset="-122"/>
            </a:endParaRPr>
          </a:p>
        </p:txBody>
      </p:sp>
      <p:sp>
        <p:nvSpPr>
          <p:cNvPr id="17" name="Text Box 18">
            <a:extLst>
              <a:ext uri="{FF2B5EF4-FFF2-40B4-BE49-F238E27FC236}">
                <a16:creationId xmlns:a16="http://schemas.microsoft.com/office/drawing/2014/main" id="{79E7B123-DE1B-C50B-93A6-C948FED16B45}"/>
              </a:ext>
            </a:extLst>
          </p:cNvPr>
          <p:cNvSpPr txBox="1">
            <a:spLocks noChangeArrowheads="1"/>
          </p:cNvSpPr>
          <p:nvPr/>
        </p:nvSpPr>
        <p:spPr bwMode="auto">
          <a:xfrm flipH="1">
            <a:off x="3425142" y="2517601"/>
            <a:ext cx="367662"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18" name="Line 20">
            <a:extLst>
              <a:ext uri="{FF2B5EF4-FFF2-40B4-BE49-F238E27FC236}">
                <a16:creationId xmlns:a16="http://schemas.microsoft.com/office/drawing/2014/main" id="{78E7BAB0-A866-A5DF-4684-F0DA8CF1ECD5}"/>
              </a:ext>
            </a:extLst>
          </p:cNvPr>
          <p:cNvSpPr>
            <a:spLocks noChangeShapeType="1"/>
          </p:cNvSpPr>
          <p:nvPr/>
        </p:nvSpPr>
        <p:spPr bwMode="auto">
          <a:xfrm rot="10800000" flipH="1">
            <a:off x="3719494" y="2123730"/>
            <a:ext cx="0" cy="648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31" name="Text Box 19">
            <a:extLst>
              <a:ext uri="{FF2B5EF4-FFF2-40B4-BE49-F238E27FC236}">
                <a16:creationId xmlns:a16="http://schemas.microsoft.com/office/drawing/2014/main" id="{97601F50-8BFA-E78E-D7F1-0651E4E9083C}"/>
              </a:ext>
            </a:extLst>
          </p:cNvPr>
          <p:cNvSpPr txBox="1">
            <a:spLocks noChangeArrowheads="1"/>
          </p:cNvSpPr>
          <p:nvPr/>
        </p:nvSpPr>
        <p:spPr bwMode="auto">
          <a:xfrm flipH="1">
            <a:off x="5170150" y="3224993"/>
            <a:ext cx="367661"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38" name="Line 21">
            <a:extLst>
              <a:ext uri="{FF2B5EF4-FFF2-40B4-BE49-F238E27FC236}">
                <a16:creationId xmlns:a16="http://schemas.microsoft.com/office/drawing/2014/main" id="{63B987A2-4345-3AE0-A2A0-4A79C312E3B7}"/>
              </a:ext>
            </a:extLst>
          </p:cNvPr>
          <p:cNvSpPr>
            <a:spLocks noChangeShapeType="1"/>
          </p:cNvSpPr>
          <p:nvPr/>
        </p:nvSpPr>
        <p:spPr bwMode="auto">
          <a:xfrm rot="10800000" flipH="1" flipV="1">
            <a:off x="3809727" y="2123730"/>
            <a:ext cx="0" cy="648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46" name="Text Box 14">
            <a:extLst>
              <a:ext uri="{FF2B5EF4-FFF2-40B4-BE49-F238E27FC236}">
                <a16:creationId xmlns:a16="http://schemas.microsoft.com/office/drawing/2014/main" id="{48F68AFE-07C3-BB48-E9E9-EA846A78C563}"/>
              </a:ext>
            </a:extLst>
          </p:cNvPr>
          <p:cNvSpPr txBox="1">
            <a:spLocks noChangeArrowheads="1"/>
          </p:cNvSpPr>
          <p:nvPr/>
        </p:nvSpPr>
        <p:spPr bwMode="auto">
          <a:xfrm flipH="1">
            <a:off x="3778564" y="2002904"/>
            <a:ext cx="367663" cy="3383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2" name="Line 22">
            <a:extLst>
              <a:ext uri="{FF2B5EF4-FFF2-40B4-BE49-F238E27FC236}">
                <a16:creationId xmlns:a16="http://schemas.microsoft.com/office/drawing/2014/main" id="{109265BF-25F7-204B-FBD7-4A9B9F835CE3}"/>
              </a:ext>
            </a:extLst>
          </p:cNvPr>
          <p:cNvSpPr>
            <a:spLocks noChangeShapeType="1"/>
          </p:cNvSpPr>
          <p:nvPr/>
        </p:nvSpPr>
        <p:spPr bwMode="auto">
          <a:xfrm rot="10800000" flipH="1">
            <a:off x="4009048" y="1599429"/>
            <a:ext cx="1503935" cy="1232405"/>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63" name="Text Box 13">
            <a:extLst>
              <a:ext uri="{FF2B5EF4-FFF2-40B4-BE49-F238E27FC236}">
                <a16:creationId xmlns:a16="http://schemas.microsoft.com/office/drawing/2014/main" id="{84267230-1A40-C42C-29BF-851AA2551445}"/>
              </a:ext>
            </a:extLst>
          </p:cNvPr>
          <p:cNvSpPr txBox="1">
            <a:spLocks noChangeArrowheads="1"/>
          </p:cNvSpPr>
          <p:nvPr/>
        </p:nvSpPr>
        <p:spPr bwMode="auto">
          <a:xfrm flipH="1">
            <a:off x="4090195" y="2904304"/>
            <a:ext cx="367663"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4" name="Line 23">
            <a:extLst>
              <a:ext uri="{FF2B5EF4-FFF2-40B4-BE49-F238E27FC236}">
                <a16:creationId xmlns:a16="http://schemas.microsoft.com/office/drawing/2014/main" id="{33DF1C91-9FDC-8628-2C03-F99A83A1C8F0}"/>
              </a:ext>
            </a:extLst>
          </p:cNvPr>
          <p:cNvSpPr>
            <a:spLocks noChangeShapeType="1"/>
          </p:cNvSpPr>
          <p:nvPr/>
        </p:nvSpPr>
        <p:spPr bwMode="auto">
          <a:xfrm rot="60000" flipH="1">
            <a:off x="4039032" y="1730152"/>
            <a:ext cx="1440000" cy="1212539"/>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65" name="Text Box 25">
            <a:extLst>
              <a:ext uri="{FF2B5EF4-FFF2-40B4-BE49-F238E27FC236}">
                <a16:creationId xmlns:a16="http://schemas.microsoft.com/office/drawing/2014/main" id="{2D6DC51D-4D10-C1EB-17AF-FC4F166C3E21}"/>
              </a:ext>
            </a:extLst>
          </p:cNvPr>
          <p:cNvSpPr txBox="1">
            <a:spLocks noChangeArrowheads="1"/>
          </p:cNvSpPr>
          <p:nvPr/>
        </p:nvSpPr>
        <p:spPr bwMode="auto">
          <a:xfrm flipH="1">
            <a:off x="3873226" y="2456557"/>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8" name="Text Box 29">
            <a:extLst>
              <a:ext uri="{FF2B5EF4-FFF2-40B4-BE49-F238E27FC236}">
                <a16:creationId xmlns:a16="http://schemas.microsoft.com/office/drawing/2014/main" id="{891580BC-6E8D-0E99-991B-AB9B0676DD39}"/>
              </a:ext>
            </a:extLst>
          </p:cNvPr>
          <p:cNvSpPr txBox="1">
            <a:spLocks noChangeArrowheads="1"/>
          </p:cNvSpPr>
          <p:nvPr/>
        </p:nvSpPr>
        <p:spPr bwMode="auto">
          <a:xfrm flipH="1">
            <a:off x="5295200" y="1744739"/>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9" name="Text Box 33">
            <a:extLst>
              <a:ext uri="{FF2B5EF4-FFF2-40B4-BE49-F238E27FC236}">
                <a16:creationId xmlns:a16="http://schemas.microsoft.com/office/drawing/2014/main" id="{6A2D0551-BB93-739B-5D57-281BA6313BE0}"/>
              </a:ext>
            </a:extLst>
          </p:cNvPr>
          <p:cNvSpPr txBox="1">
            <a:spLocks noChangeArrowheads="1"/>
          </p:cNvSpPr>
          <p:nvPr/>
        </p:nvSpPr>
        <p:spPr bwMode="auto">
          <a:xfrm flipH="1">
            <a:off x="3160172" y="3235326"/>
            <a:ext cx="367663"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70" name="Line 35">
            <a:extLst>
              <a:ext uri="{FF2B5EF4-FFF2-40B4-BE49-F238E27FC236}">
                <a16:creationId xmlns:a16="http://schemas.microsoft.com/office/drawing/2014/main" id="{86E5014C-6055-3611-9B49-0C82E4472FAB}"/>
              </a:ext>
            </a:extLst>
          </p:cNvPr>
          <p:cNvSpPr>
            <a:spLocks noChangeShapeType="1"/>
          </p:cNvSpPr>
          <p:nvPr/>
        </p:nvSpPr>
        <p:spPr bwMode="auto">
          <a:xfrm rot="16200000" flipH="1" flipV="1">
            <a:off x="2842988" y="2551148"/>
            <a:ext cx="0" cy="1440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71" name="Text Box 11">
            <a:extLst>
              <a:ext uri="{FF2B5EF4-FFF2-40B4-BE49-F238E27FC236}">
                <a16:creationId xmlns:a16="http://schemas.microsoft.com/office/drawing/2014/main" id="{FD32996B-45C4-0877-C4E0-7B2E3061C236}"/>
              </a:ext>
            </a:extLst>
          </p:cNvPr>
          <p:cNvSpPr txBox="1">
            <a:spLocks noChangeArrowheads="1"/>
          </p:cNvSpPr>
          <p:nvPr/>
        </p:nvSpPr>
        <p:spPr bwMode="auto">
          <a:xfrm flipH="1">
            <a:off x="1510550" y="3319776"/>
            <a:ext cx="638316"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lnSpc>
                <a:spcPct val="80000"/>
              </a:lnSpc>
            </a:pPr>
            <a:r>
              <a:rPr kumimoji="1" lang="en-US" altLang="zh-CN" sz="1200" dirty="0">
                <a:latin typeface="Montserrat" panose="00000500000000000000" pitchFamily="2" charset="0"/>
                <a:ea typeface="微软雅黑 Light" panose="020B0502040204020203" pitchFamily="34" charset="-122"/>
              </a:rPr>
              <a:t>Client</a:t>
            </a:r>
          </a:p>
        </p:txBody>
      </p:sp>
      <p:sp>
        <p:nvSpPr>
          <p:cNvPr id="72" name="Text Box 32">
            <a:extLst>
              <a:ext uri="{FF2B5EF4-FFF2-40B4-BE49-F238E27FC236}">
                <a16:creationId xmlns:a16="http://schemas.microsoft.com/office/drawing/2014/main" id="{4DE48515-71EF-08C2-69D9-B476EE0006B4}"/>
              </a:ext>
            </a:extLst>
          </p:cNvPr>
          <p:cNvSpPr txBox="1">
            <a:spLocks noChangeArrowheads="1"/>
          </p:cNvSpPr>
          <p:nvPr/>
        </p:nvSpPr>
        <p:spPr bwMode="auto">
          <a:xfrm flipH="1">
            <a:off x="2048384" y="2866430"/>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73" name="Line 34">
            <a:extLst>
              <a:ext uri="{FF2B5EF4-FFF2-40B4-BE49-F238E27FC236}">
                <a16:creationId xmlns:a16="http://schemas.microsoft.com/office/drawing/2014/main" id="{730B76CF-23E5-FA01-2069-B43AD3820221}"/>
              </a:ext>
            </a:extLst>
          </p:cNvPr>
          <p:cNvSpPr>
            <a:spLocks noChangeShapeType="1"/>
          </p:cNvSpPr>
          <p:nvPr/>
        </p:nvSpPr>
        <p:spPr bwMode="auto">
          <a:xfrm rot="16200000" flipH="1">
            <a:off x="2842988" y="2452408"/>
            <a:ext cx="0" cy="1440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pic>
        <p:nvPicPr>
          <p:cNvPr id="74" name="图片 73">
            <a:extLst>
              <a:ext uri="{FF2B5EF4-FFF2-40B4-BE49-F238E27FC236}">
                <a16:creationId xmlns:a16="http://schemas.microsoft.com/office/drawing/2014/main" id="{2B2A1103-A9E6-56C8-3C4E-BF77CD810B34}"/>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532346" y="1400999"/>
            <a:ext cx="476702" cy="667383"/>
          </a:xfrm>
          <a:prstGeom prst="rect">
            <a:avLst/>
          </a:prstGeom>
        </p:spPr>
      </p:pic>
      <p:pic>
        <p:nvPicPr>
          <p:cNvPr id="75" name="Picture 197" descr="jisuanji">
            <a:extLst>
              <a:ext uri="{FF2B5EF4-FFF2-40B4-BE49-F238E27FC236}">
                <a16:creationId xmlns:a16="http://schemas.microsoft.com/office/drawing/2014/main" id="{D085EFCC-EE73-7B7E-63D0-B2A0FF8C310F}"/>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34986" y="2952667"/>
            <a:ext cx="393048" cy="393049"/>
          </a:xfrm>
          <a:prstGeom prst="rect">
            <a:avLst/>
          </a:prstGeom>
          <a:noFill/>
          <a:extLst>
            <a:ext uri="{909E8E84-426E-40DD-AFC4-6F175D3DCCD1}">
              <a14:hiddenFill xmlns:a14="http://schemas.microsoft.com/office/drawing/2010/main">
                <a:solidFill>
                  <a:srgbClr val="FFFFFF"/>
                </a:solidFill>
              </a14:hiddenFill>
            </a:ext>
          </a:extLst>
        </p:spPr>
      </p:pic>
      <p:sp>
        <p:nvSpPr>
          <p:cNvPr id="76" name="Line 35">
            <a:extLst>
              <a:ext uri="{FF2B5EF4-FFF2-40B4-BE49-F238E27FC236}">
                <a16:creationId xmlns:a16="http://schemas.microsoft.com/office/drawing/2014/main" id="{5A91C696-8D37-9B1D-262A-7A26E44B1FAA}"/>
              </a:ext>
            </a:extLst>
          </p:cNvPr>
          <p:cNvSpPr>
            <a:spLocks noChangeShapeType="1"/>
          </p:cNvSpPr>
          <p:nvPr/>
        </p:nvSpPr>
        <p:spPr bwMode="auto">
          <a:xfrm rot="16200000" flipH="1" flipV="1">
            <a:off x="4817811" y="2557639"/>
            <a:ext cx="0" cy="1440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77" name="Line 34">
            <a:extLst>
              <a:ext uri="{FF2B5EF4-FFF2-40B4-BE49-F238E27FC236}">
                <a16:creationId xmlns:a16="http://schemas.microsoft.com/office/drawing/2014/main" id="{B4476440-7947-C5C1-701E-9B48459DD308}"/>
              </a:ext>
            </a:extLst>
          </p:cNvPr>
          <p:cNvSpPr>
            <a:spLocks noChangeShapeType="1"/>
          </p:cNvSpPr>
          <p:nvPr/>
        </p:nvSpPr>
        <p:spPr bwMode="auto">
          <a:xfrm rot="16200000" flipH="1">
            <a:off x="4817811" y="2458899"/>
            <a:ext cx="0" cy="1440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grpSp>
        <p:nvGrpSpPr>
          <p:cNvPr id="78" name="组合 77">
            <a:extLst>
              <a:ext uri="{FF2B5EF4-FFF2-40B4-BE49-F238E27FC236}">
                <a16:creationId xmlns:a16="http://schemas.microsoft.com/office/drawing/2014/main" id="{E689FC7D-C5AA-71A6-BD23-028B904EAF26}"/>
              </a:ext>
            </a:extLst>
          </p:cNvPr>
          <p:cNvGrpSpPr/>
          <p:nvPr/>
        </p:nvGrpSpPr>
        <p:grpSpPr>
          <a:xfrm>
            <a:off x="6176311" y="4243671"/>
            <a:ext cx="2041636" cy="528629"/>
            <a:chOff x="5967873" y="3583250"/>
            <a:chExt cx="2041636" cy="528629"/>
          </a:xfrm>
        </p:grpSpPr>
        <p:sp>
          <p:nvSpPr>
            <p:cNvPr id="79" name="Line 27">
              <a:extLst>
                <a:ext uri="{FF2B5EF4-FFF2-40B4-BE49-F238E27FC236}">
                  <a16:creationId xmlns:a16="http://schemas.microsoft.com/office/drawing/2014/main" id="{301065E0-48DD-D6EE-D0DA-23A015641925}"/>
                </a:ext>
              </a:extLst>
            </p:cNvPr>
            <p:cNvSpPr>
              <a:spLocks noChangeShapeType="1"/>
            </p:cNvSpPr>
            <p:nvPr/>
          </p:nvSpPr>
          <p:spPr bwMode="auto">
            <a:xfrm rot="16200000" flipH="1">
              <a:off x="6187692" y="3520577"/>
              <a:ext cx="0" cy="439638"/>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80" name="Line 28">
              <a:extLst>
                <a:ext uri="{FF2B5EF4-FFF2-40B4-BE49-F238E27FC236}">
                  <a16:creationId xmlns:a16="http://schemas.microsoft.com/office/drawing/2014/main" id="{783479B0-DC99-F8AE-2F89-2EEEEC52EB42}"/>
                </a:ext>
              </a:extLst>
            </p:cNvPr>
            <p:cNvSpPr>
              <a:spLocks noChangeShapeType="1"/>
            </p:cNvSpPr>
            <p:nvPr/>
          </p:nvSpPr>
          <p:spPr bwMode="auto">
            <a:xfrm rot="5400000">
              <a:off x="6187691" y="3754442"/>
              <a:ext cx="0" cy="439636"/>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81" name="Text Box 50">
              <a:extLst>
                <a:ext uri="{FF2B5EF4-FFF2-40B4-BE49-F238E27FC236}">
                  <a16:creationId xmlns:a16="http://schemas.microsoft.com/office/drawing/2014/main" id="{D41479DF-C2B4-1D76-AE73-23EFDD8F1F8B}"/>
                </a:ext>
              </a:extLst>
            </p:cNvPr>
            <p:cNvSpPr txBox="1">
              <a:spLocks noChangeArrowheads="1"/>
            </p:cNvSpPr>
            <p:nvPr/>
          </p:nvSpPr>
          <p:spPr bwMode="auto">
            <a:xfrm flipH="1">
              <a:off x="6407509" y="3583250"/>
              <a:ext cx="16020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查询请求，域名</a:t>
              </a:r>
            </a:p>
          </p:txBody>
        </p:sp>
        <p:sp>
          <p:nvSpPr>
            <p:cNvPr id="82" name="Text Box 50">
              <a:extLst>
                <a:ext uri="{FF2B5EF4-FFF2-40B4-BE49-F238E27FC236}">
                  <a16:creationId xmlns:a16="http://schemas.microsoft.com/office/drawing/2014/main" id="{767AF789-CEBA-213F-1F27-E9FF78950A74}"/>
                </a:ext>
              </a:extLst>
            </p:cNvPr>
            <p:cNvSpPr txBox="1">
              <a:spLocks noChangeArrowheads="1"/>
            </p:cNvSpPr>
            <p:nvPr/>
          </p:nvSpPr>
          <p:spPr bwMode="auto">
            <a:xfrm flipH="1">
              <a:off x="6407509" y="3834880"/>
              <a:ext cx="16020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查询响应，</a:t>
              </a:r>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地址</a:t>
              </a:r>
            </a:p>
          </p:txBody>
        </p:sp>
      </p:grpSp>
      <p:sp>
        <p:nvSpPr>
          <p:cNvPr id="84" name="矩形 83">
            <a:extLst>
              <a:ext uri="{FF2B5EF4-FFF2-40B4-BE49-F238E27FC236}">
                <a16:creationId xmlns:a16="http://schemas.microsoft.com/office/drawing/2014/main" id="{ADD8F9A5-BA25-239A-2361-A509E7DC7D78}"/>
              </a:ext>
            </a:extLst>
          </p:cNvPr>
          <p:cNvSpPr/>
          <p:nvPr/>
        </p:nvSpPr>
        <p:spPr>
          <a:xfrm>
            <a:off x="3455876" y="1106089"/>
            <a:ext cx="2711056" cy="2726776"/>
          </a:xfrm>
          <a:prstGeom prst="rect">
            <a:avLst/>
          </a:prstGeom>
          <a:noFill/>
          <a:ln w="12700">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Text Box 11">
            <a:extLst>
              <a:ext uri="{FF2B5EF4-FFF2-40B4-BE49-F238E27FC236}">
                <a16:creationId xmlns:a16="http://schemas.microsoft.com/office/drawing/2014/main" id="{1C9E9C5E-1346-8E17-00D2-064CAC1F29FC}"/>
              </a:ext>
            </a:extLst>
          </p:cNvPr>
          <p:cNvSpPr txBox="1">
            <a:spLocks noChangeArrowheads="1"/>
          </p:cNvSpPr>
          <p:nvPr/>
        </p:nvSpPr>
        <p:spPr bwMode="auto">
          <a:xfrm flipH="1">
            <a:off x="2229415" y="2925145"/>
            <a:ext cx="1281120"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80000"/>
              </a:lnSpc>
            </a:pPr>
            <a:r>
              <a:rPr kumimoji="1" lang="en-US" altLang="zh-CN" sz="1200" dirty="0">
                <a:latin typeface="Montserrat" panose="00000500000000000000" pitchFamily="2" charset="0"/>
                <a:ea typeface="微软雅黑 Light" panose="020B0502040204020203" pitchFamily="34" charset="-122"/>
              </a:rPr>
              <a:t>www.abc.com</a:t>
            </a:r>
          </a:p>
        </p:txBody>
      </p:sp>
      <p:sp>
        <p:nvSpPr>
          <p:cNvPr id="5" name="Text Box 11">
            <a:extLst>
              <a:ext uri="{FF2B5EF4-FFF2-40B4-BE49-F238E27FC236}">
                <a16:creationId xmlns:a16="http://schemas.microsoft.com/office/drawing/2014/main" id="{AA633672-E2D4-617C-162D-459AD1979127}"/>
              </a:ext>
            </a:extLst>
          </p:cNvPr>
          <p:cNvSpPr txBox="1">
            <a:spLocks noChangeArrowheads="1"/>
          </p:cNvSpPr>
          <p:nvPr/>
        </p:nvSpPr>
        <p:spPr bwMode="auto">
          <a:xfrm flipH="1">
            <a:off x="4335147" y="3317580"/>
            <a:ext cx="965329" cy="2163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80000"/>
              </a:lnSpc>
            </a:pPr>
            <a:r>
              <a:rPr kumimoji="1" lang="en-US" altLang="zh-CN" sz="1000" dirty="0">
                <a:latin typeface="Montserrat" panose="00000500000000000000" pitchFamily="2" charset="0"/>
                <a:ea typeface="微软雅黑 Light" panose="020B0502040204020203" pitchFamily="34" charset="-122"/>
              </a:rPr>
              <a:t>198.51.100.50</a:t>
            </a:r>
          </a:p>
        </p:txBody>
      </p:sp>
      <p:sp>
        <p:nvSpPr>
          <p:cNvPr id="12" name="Text Box 11">
            <a:extLst>
              <a:ext uri="{FF2B5EF4-FFF2-40B4-BE49-F238E27FC236}">
                <a16:creationId xmlns:a16="http://schemas.microsoft.com/office/drawing/2014/main" id="{EA8FA89C-FA96-CC5F-5672-AAA608DDFF6A}"/>
              </a:ext>
            </a:extLst>
          </p:cNvPr>
          <p:cNvSpPr txBox="1">
            <a:spLocks noChangeArrowheads="1"/>
          </p:cNvSpPr>
          <p:nvPr/>
        </p:nvSpPr>
        <p:spPr bwMode="auto">
          <a:xfrm flipH="1">
            <a:off x="2277824" y="3317580"/>
            <a:ext cx="965329" cy="2163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80000"/>
              </a:lnSpc>
            </a:pPr>
            <a:r>
              <a:rPr kumimoji="1" lang="en-US" altLang="zh-CN" sz="1000" dirty="0">
                <a:latin typeface="Montserrat" panose="00000500000000000000" pitchFamily="2" charset="0"/>
                <a:ea typeface="微软雅黑 Light" panose="020B0502040204020203" pitchFamily="34" charset="-122"/>
              </a:rPr>
              <a:t>198.51.100.50</a:t>
            </a:r>
          </a:p>
        </p:txBody>
      </p:sp>
      <p:sp>
        <p:nvSpPr>
          <p:cNvPr id="13" name="Text Box 11">
            <a:extLst>
              <a:ext uri="{FF2B5EF4-FFF2-40B4-BE49-F238E27FC236}">
                <a16:creationId xmlns:a16="http://schemas.microsoft.com/office/drawing/2014/main" id="{3DDB309C-5AF1-D087-7883-6E786E3FA968}"/>
              </a:ext>
            </a:extLst>
          </p:cNvPr>
          <p:cNvSpPr txBox="1">
            <a:spLocks noChangeArrowheads="1"/>
          </p:cNvSpPr>
          <p:nvPr/>
        </p:nvSpPr>
        <p:spPr bwMode="auto">
          <a:xfrm rot="-5400000" flipH="1">
            <a:off x="2650348" y="2094819"/>
            <a:ext cx="1281120"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80000"/>
              </a:lnSpc>
            </a:pPr>
            <a:r>
              <a:rPr kumimoji="1" lang="en-US" altLang="zh-CN" sz="1200" dirty="0">
                <a:latin typeface="Montserrat" panose="00000500000000000000" pitchFamily="2" charset="0"/>
                <a:ea typeface="微软雅黑 Light" panose="020B0502040204020203" pitchFamily="34" charset="-122"/>
              </a:rPr>
              <a:t>www.abc.com</a:t>
            </a:r>
          </a:p>
        </p:txBody>
      </p:sp>
      <p:sp>
        <p:nvSpPr>
          <p:cNvPr id="14" name="Text Box 11">
            <a:extLst>
              <a:ext uri="{FF2B5EF4-FFF2-40B4-BE49-F238E27FC236}">
                <a16:creationId xmlns:a16="http://schemas.microsoft.com/office/drawing/2014/main" id="{28EA9050-114E-BB30-447F-666C08524D27}"/>
              </a:ext>
            </a:extLst>
          </p:cNvPr>
          <p:cNvSpPr txBox="1">
            <a:spLocks noChangeArrowheads="1"/>
          </p:cNvSpPr>
          <p:nvPr/>
        </p:nvSpPr>
        <p:spPr bwMode="auto">
          <a:xfrm rot="-2400000" flipH="1">
            <a:off x="4075655" y="1958372"/>
            <a:ext cx="1281120"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80000"/>
              </a:lnSpc>
            </a:pPr>
            <a:r>
              <a:rPr kumimoji="1" lang="en-US" altLang="zh-CN" sz="1200" dirty="0">
                <a:latin typeface="Montserrat" panose="00000500000000000000" pitchFamily="2" charset="0"/>
                <a:ea typeface="微软雅黑 Light" panose="020B0502040204020203" pitchFamily="34" charset="-122"/>
              </a:rPr>
              <a:t>www.abc.com</a:t>
            </a:r>
          </a:p>
        </p:txBody>
      </p:sp>
      <p:sp>
        <p:nvSpPr>
          <p:cNvPr id="15" name="Text Box 11">
            <a:extLst>
              <a:ext uri="{FF2B5EF4-FFF2-40B4-BE49-F238E27FC236}">
                <a16:creationId xmlns:a16="http://schemas.microsoft.com/office/drawing/2014/main" id="{CE676635-FE73-516E-BF9A-FFAFC9AC3B3C}"/>
              </a:ext>
            </a:extLst>
          </p:cNvPr>
          <p:cNvSpPr txBox="1">
            <a:spLocks noChangeArrowheads="1"/>
          </p:cNvSpPr>
          <p:nvPr/>
        </p:nvSpPr>
        <p:spPr bwMode="auto">
          <a:xfrm flipH="1">
            <a:off x="4333121" y="2953602"/>
            <a:ext cx="1281120"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80000"/>
              </a:lnSpc>
            </a:pPr>
            <a:r>
              <a:rPr kumimoji="1" lang="en-US" altLang="zh-CN" sz="1200" dirty="0">
                <a:latin typeface="Montserrat" panose="00000500000000000000" pitchFamily="2" charset="0"/>
                <a:ea typeface="微软雅黑 Light" panose="020B0502040204020203" pitchFamily="34" charset="-122"/>
              </a:rPr>
              <a:t>www.abc.com</a:t>
            </a:r>
          </a:p>
        </p:txBody>
      </p:sp>
    </p:spTree>
    <p:extLst>
      <p:ext uri="{BB962C8B-B14F-4D97-AF65-F5344CB8AC3E}">
        <p14:creationId xmlns:p14="http://schemas.microsoft.com/office/powerpoint/2010/main" val="1322710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C93D9A0-7849-9243-C514-C925D2FABD27}"/>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 </a:t>
            </a:r>
            <a:r>
              <a:rPr lang="en-US" altLang="zh-CN" dirty="0"/>
              <a:t>- </a:t>
            </a:r>
            <a:r>
              <a:rPr lang="zh-CN" altLang="en-US" dirty="0"/>
              <a:t>高速缓存</a:t>
            </a:r>
          </a:p>
        </p:txBody>
      </p:sp>
      <p:sp>
        <p:nvSpPr>
          <p:cNvPr id="3" name="内容占位符 2">
            <a:extLst>
              <a:ext uri="{FF2B5EF4-FFF2-40B4-BE49-F238E27FC236}">
                <a16:creationId xmlns:a16="http://schemas.microsoft.com/office/drawing/2014/main" id="{DA295562-9A99-6858-C061-00F9FC7C71DE}"/>
              </a:ext>
            </a:extLst>
          </p:cNvPr>
          <p:cNvSpPr>
            <a:spLocks noGrp="1"/>
          </p:cNvSpPr>
          <p:nvPr>
            <p:ph sz="quarter" idx="11"/>
          </p:nvPr>
        </p:nvSpPr>
        <p:spPr>
          <a:xfrm>
            <a:off x="486000" y="687518"/>
            <a:ext cx="8172000" cy="4079035"/>
          </a:xfrm>
        </p:spPr>
        <p:txBody>
          <a:bodyPr/>
          <a:lstStyle/>
          <a:p>
            <a:r>
              <a:rPr lang="zh-CN" altLang="en-US" dirty="0"/>
              <a:t>也称高速缓存域名服务器</a:t>
            </a:r>
            <a:endParaRPr lang="en-US" altLang="zh-CN" dirty="0"/>
          </a:p>
          <a:p>
            <a:r>
              <a:rPr lang="zh-CN" altLang="en-US" dirty="0"/>
              <a:t>存放最近用过的名字以及从何处获得名字映射信息的记录</a:t>
            </a:r>
          </a:p>
          <a:p>
            <a:r>
              <a:rPr lang="zh-CN" altLang="en-US" dirty="0"/>
              <a:t>作用</a:t>
            </a:r>
            <a:endParaRPr lang="en-US" altLang="zh-CN" dirty="0"/>
          </a:p>
          <a:p>
            <a:pPr lvl="1"/>
            <a:r>
              <a:rPr lang="zh-CN" altLang="en-US" dirty="0"/>
              <a:t>减轻根域名服务器的负荷，使 </a:t>
            </a:r>
            <a:r>
              <a:rPr lang="en-US" altLang="zh-CN" dirty="0"/>
              <a:t>DNS </a:t>
            </a:r>
            <a:r>
              <a:rPr lang="zh-CN" altLang="en-US" dirty="0"/>
              <a:t>查询请求和回答报文的数量大为减少</a:t>
            </a:r>
          </a:p>
          <a:p>
            <a:r>
              <a:rPr lang="zh-CN" altLang="en-US" dirty="0"/>
              <a:t>域名服务器应为每项内容设置计时器，并处理超过合理时间的项</a:t>
            </a:r>
          </a:p>
          <a:p>
            <a:r>
              <a:rPr lang="zh-CN" altLang="en-US" dirty="0"/>
              <a:t>当权限域名服务器回答一个查询请求时，在响应中指明绑定有效存在的时间值。增加此时间值可减少网络开销，而减少此时间值可提高域名转换的准确性</a:t>
            </a:r>
          </a:p>
          <a:p>
            <a:endParaRPr lang="zh-CN" altLang="en-US" dirty="0"/>
          </a:p>
        </p:txBody>
      </p:sp>
    </p:spTree>
    <p:extLst>
      <p:ext uri="{BB962C8B-B14F-4D97-AF65-F5344CB8AC3E}">
        <p14:creationId xmlns:p14="http://schemas.microsoft.com/office/powerpoint/2010/main" val="2658655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6" name="Line 16"/>
          <p:cNvSpPr>
            <a:spLocks noChangeShapeType="1"/>
          </p:cNvSpPr>
          <p:nvPr/>
        </p:nvSpPr>
        <p:spPr bwMode="auto">
          <a:xfrm>
            <a:off x="3637198" y="1267587"/>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2" name="Rectangle 8">
            <a:extLst>
              <a:ext uri="{FF2B5EF4-FFF2-40B4-BE49-F238E27FC236}">
                <a16:creationId xmlns:a16="http://schemas.microsoft.com/office/drawing/2014/main" id="{FE87848C-AECC-D25B-57C8-902A288F7AF6}"/>
              </a:ext>
            </a:extLst>
          </p:cNvPr>
          <p:cNvSpPr>
            <a:spLocks noChangeArrowheads="1"/>
          </p:cNvSpPr>
          <p:nvPr/>
        </p:nvSpPr>
        <p:spPr bwMode="auto">
          <a:xfrm>
            <a:off x="3563766" y="1354881"/>
            <a:ext cx="4197661" cy="11585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6.2.1</a:t>
            </a:r>
            <a:r>
              <a:rPr lang="en-US" altLang="zh-CN" sz="1600" dirty="0">
                <a:latin typeface="Montserrat" panose="00000500000000000000" pitchFamily="2" charset="0"/>
                <a:ea typeface="微软雅黑 Light" panose="020B0502040204020203" pitchFamily="34" charset="-122"/>
              </a:rPr>
              <a:t> FTP </a:t>
            </a:r>
            <a:r>
              <a:rPr lang="zh-CN" altLang="en-US" sz="1600" dirty="0">
                <a:latin typeface="Montserrat" panose="00000500000000000000" pitchFamily="2" charset="0"/>
                <a:ea typeface="微软雅黑 Light" panose="020B0502040204020203" pitchFamily="34" charset="-122"/>
              </a:rPr>
              <a:t>概述</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6.2.2</a:t>
            </a:r>
            <a:r>
              <a:rPr lang="en-US" altLang="zh-CN" sz="1600" dirty="0">
                <a:latin typeface="Montserrat" panose="00000500000000000000" pitchFamily="2" charset="0"/>
                <a:ea typeface="微软雅黑 Light" panose="020B0502040204020203" pitchFamily="34" charset="-122"/>
              </a:rPr>
              <a:t> FTP </a:t>
            </a:r>
            <a:r>
              <a:rPr lang="zh-CN" altLang="en-US" sz="1600" dirty="0">
                <a:latin typeface="Montserrat" panose="00000500000000000000" pitchFamily="2" charset="0"/>
                <a:ea typeface="微软雅黑 Light" panose="020B0502040204020203" pitchFamily="34" charset="-122"/>
              </a:rPr>
              <a:t>的基本工作原理</a:t>
            </a:r>
            <a:endParaRPr lang="en-US" altLang="zh-CN"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6.2.3</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简单文件传送协议 </a:t>
            </a:r>
            <a:r>
              <a:rPr lang="en-US" altLang="zh-CN" sz="1600" dirty="0">
                <a:latin typeface="Montserrat" panose="00000500000000000000" pitchFamily="2" charset="0"/>
                <a:ea typeface="微软雅黑 Light" panose="020B0502040204020203" pitchFamily="34" charset="-122"/>
              </a:rPr>
              <a:t>TFTP</a:t>
            </a:r>
          </a:p>
        </p:txBody>
      </p:sp>
      <p:sp>
        <p:nvSpPr>
          <p:cNvPr id="3" name="Rectangle 29">
            <a:extLst>
              <a:ext uri="{FF2B5EF4-FFF2-40B4-BE49-F238E27FC236}">
                <a16:creationId xmlns:a16="http://schemas.microsoft.com/office/drawing/2014/main" id="{41F5A660-4E1F-7BE0-5AD0-E928B540ECD2}"/>
              </a:ext>
            </a:extLst>
          </p:cNvPr>
          <p:cNvSpPr>
            <a:spLocks noChangeArrowheads="1"/>
          </p:cNvSpPr>
          <p:nvPr/>
        </p:nvSpPr>
        <p:spPr bwMode="auto">
          <a:xfrm>
            <a:off x="3563766" y="711857"/>
            <a:ext cx="5090116" cy="70788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solidFill>
                  <a:srgbClr val="FF0000"/>
                </a:solidFill>
                <a:latin typeface="Montserrat" panose="00000500000000000000" pitchFamily="2" charset="0"/>
                <a:ea typeface="微软雅黑 Light" panose="020B0502040204020203" pitchFamily="34" charset="-122"/>
              </a:rPr>
              <a:t>6.2</a:t>
            </a:r>
            <a:r>
              <a:rPr lang="en-US" altLang="zh-CN" sz="2000" dirty="0">
                <a:latin typeface="Montserrat" panose="00000500000000000000" pitchFamily="2" charset="0"/>
                <a:ea typeface="微软雅黑 Light" panose="020B0502040204020203" pitchFamily="34" charset="-122"/>
              </a:rPr>
              <a:t> </a:t>
            </a:r>
            <a:r>
              <a:rPr lang="zh-CN" altLang="en-US" sz="2000" dirty="0">
                <a:latin typeface="Montserrat" panose="00000500000000000000" pitchFamily="2" charset="0"/>
                <a:ea typeface="微软雅黑 Light" panose="020B0502040204020203" pitchFamily="34" charset="-122"/>
              </a:rPr>
              <a:t>文件传送协议 </a:t>
            </a:r>
            <a:r>
              <a:rPr lang="en-US" altLang="zh-CN" sz="2000" dirty="0">
                <a:latin typeface="Montserrat" panose="00000500000000000000" pitchFamily="2" charset="0"/>
                <a:ea typeface="微软雅黑 Light" panose="020B0502040204020203" pitchFamily="34" charset="-122"/>
              </a:rPr>
              <a:t>FTP</a:t>
            </a:r>
            <a:endParaRPr lang="zh-CN" altLang="en-US" sz="2000" dirty="0">
              <a:latin typeface="Montserrat" panose="00000500000000000000" pitchFamily="2" charset="0"/>
              <a:ea typeface="微软雅黑 Light" panose="020B0502040204020203" pitchFamily="34" charset="-122"/>
            </a:endParaRPr>
          </a:p>
          <a:p>
            <a:pPr eaLnBrk="0" hangingPunct="0"/>
            <a:endParaRPr lang="en-US" altLang="zh-CN" sz="20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933607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752E1E-625F-21B2-277F-4B85719023F9}"/>
            </a:ext>
          </a:extLst>
        </p:cNvPr>
        <p:cNvGrpSpPr/>
        <p:nvPr/>
      </p:nvGrpSpPr>
      <p:grpSpPr>
        <a:xfrm>
          <a:off x="0" y="0"/>
          <a:ext cx="0" cy="0"/>
          <a:chOff x="0" y="0"/>
          <a:chExt cx="0" cy="0"/>
        </a:xfrm>
      </p:grpSpPr>
      <p:sp>
        <p:nvSpPr>
          <p:cNvPr id="23" name="矩形: 圆角 22">
            <a:extLst>
              <a:ext uri="{FF2B5EF4-FFF2-40B4-BE49-F238E27FC236}">
                <a16:creationId xmlns:a16="http://schemas.microsoft.com/office/drawing/2014/main" id="{53B2A5E6-15B0-8F14-F8AC-683406D8BEEF}"/>
              </a:ext>
            </a:extLst>
          </p:cNvPr>
          <p:cNvSpPr/>
          <p:nvPr/>
        </p:nvSpPr>
        <p:spPr>
          <a:xfrm>
            <a:off x="1880432" y="2350980"/>
            <a:ext cx="864000" cy="288000"/>
          </a:xfrm>
          <a:prstGeom prst="roundRect">
            <a:avLst/>
          </a:prstGeom>
          <a:solidFill>
            <a:srgbClr val="F9423A">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FTP</a:t>
            </a:r>
            <a:endParaRPr lang="zh-CN" altLang="en-US" sz="1200" dirty="0">
              <a:latin typeface="Montserrat" panose="00000500000000000000" pitchFamily="2" charset="0"/>
            </a:endParaRPr>
          </a:p>
        </p:txBody>
      </p:sp>
      <p:sp>
        <p:nvSpPr>
          <p:cNvPr id="24" name="矩形: 圆角 23">
            <a:extLst>
              <a:ext uri="{FF2B5EF4-FFF2-40B4-BE49-F238E27FC236}">
                <a16:creationId xmlns:a16="http://schemas.microsoft.com/office/drawing/2014/main" id="{8A3A6B5B-2D66-39B4-CF69-D6B5A602EF57}"/>
              </a:ext>
            </a:extLst>
          </p:cNvPr>
          <p:cNvSpPr/>
          <p:nvPr/>
        </p:nvSpPr>
        <p:spPr>
          <a:xfrm>
            <a:off x="3002664" y="1986733"/>
            <a:ext cx="1152000" cy="252000"/>
          </a:xfrm>
          <a:prstGeom prst="roundRect">
            <a:avLst/>
          </a:prstGeom>
          <a:solidFill>
            <a:srgbClr val="4472C4">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Port</a:t>
            </a:r>
            <a:endParaRPr lang="zh-CN" altLang="en-US" sz="1200" dirty="0">
              <a:latin typeface="Montserrat" panose="00000500000000000000" pitchFamily="2" charset="0"/>
            </a:endParaRPr>
          </a:p>
        </p:txBody>
      </p:sp>
      <p:sp>
        <p:nvSpPr>
          <p:cNvPr id="25" name="矩形: 圆角 24">
            <a:extLst>
              <a:ext uri="{FF2B5EF4-FFF2-40B4-BE49-F238E27FC236}">
                <a16:creationId xmlns:a16="http://schemas.microsoft.com/office/drawing/2014/main" id="{19980651-E0FF-F512-012F-30C211B48C61}"/>
              </a:ext>
            </a:extLst>
          </p:cNvPr>
          <p:cNvSpPr/>
          <p:nvPr/>
        </p:nvSpPr>
        <p:spPr>
          <a:xfrm>
            <a:off x="3002664" y="2720748"/>
            <a:ext cx="1152000" cy="288000"/>
          </a:xfrm>
          <a:prstGeom prst="roundRect">
            <a:avLst/>
          </a:prstGeom>
          <a:solidFill>
            <a:srgbClr val="F6A04D">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Connection</a:t>
            </a:r>
            <a:endParaRPr lang="zh-CN" altLang="en-US" sz="1200" dirty="0">
              <a:latin typeface="Montserrat" panose="00000500000000000000" pitchFamily="2" charset="0"/>
            </a:endParaRPr>
          </a:p>
        </p:txBody>
      </p:sp>
      <p:sp>
        <p:nvSpPr>
          <p:cNvPr id="27" name="矩形: 圆角 26">
            <a:extLst>
              <a:ext uri="{FF2B5EF4-FFF2-40B4-BE49-F238E27FC236}">
                <a16:creationId xmlns:a16="http://schemas.microsoft.com/office/drawing/2014/main" id="{A87303B5-5FDE-3A09-E9CD-0A67DA082708}"/>
              </a:ext>
            </a:extLst>
          </p:cNvPr>
          <p:cNvSpPr/>
          <p:nvPr/>
        </p:nvSpPr>
        <p:spPr>
          <a:xfrm>
            <a:off x="3002664" y="3483765"/>
            <a:ext cx="1152000" cy="288000"/>
          </a:xfrm>
          <a:prstGeom prst="roundRect">
            <a:avLst/>
          </a:prstGeom>
          <a:solidFill>
            <a:srgbClr val="00BC7B">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Mode</a:t>
            </a:r>
            <a:endParaRPr lang="zh-CN" altLang="en-US" sz="1200" dirty="0">
              <a:latin typeface="Montserrat" panose="00000500000000000000" pitchFamily="2" charset="0"/>
            </a:endParaRPr>
          </a:p>
        </p:txBody>
      </p:sp>
      <p:sp>
        <p:nvSpPr>
          <p:cNvPr id="32" name="矩形: 圆角 31">
            <a:extLst>
              <a:ext uri="{FF2B5EF4-FFF2-40B4-BE49-F238E27FC236}">
                <a16:creationId xmlns:a16="http://schemas.microsoft.com/office/drawing/2014/main" id="{9E1A9E36-D537-E40A-254A-09A17EA0E6A2}"/>
              </a:ext>
            </a:extLst>
          </p:cNvPr>
          <p:cNvSpPr/>
          <p:nvPr/>
        </p:nvSpPr>
        <p:spPr>
          <a:xfrm>
            <a:off x="4310985" y="3290261"/>
            <a:ext cx="1418401" cy="288000"/>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rPr>
              <a:t>Active mode</a:t>
            </a:r>
            <a:endParaRPr lang="zh-CN" altLang="en-US" sz="1200" dirty="0">
              <a:solidFill>
                <a:sysClr val="windowText" lastClr="000000"/>
              </a:solidFill>
              <a:latin typeface="Montserrat" panose="00000500000000000000" pitchFamily="2" charset="0"/>
            </a:endParaRPr>
          </a:p>
        </p:txBody>
      </p:sp>
      <p:sp>
        <p:nvSpPr>
          <p:cNvPr id="33" name="矩形: 圆角 32">
            <a:extLst>
              <a:ext uri="{FF2B5EF4-FFF2-40B4-BE49-F238E27FC236}">
                <a16:creationId xmlns:a16="http://schemas.microsoft.com/office/drawing/2014/main" id="{32EA589C-DE93-52D3-4BDF-C821A570D8F4}"/>
              </a:ext>
            </a:extLst>
          </p:cNvPr>
          <p:cNvSpPr/>
          <p:nvPr/>
        </p:nvSpPr>
        <p:spPr>
          <a:xfrm>
            <a:off x="4310986" y="3677269"/>
            <a:ext cx="1418400" cy="288000"/>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rPr>
              <a:t>Passive mode</a:t>
            </a:r>
            <a:endParaRPr lang="zh-CN" altLang="en-US" sz="1200" dirty="0">
              <a:solidFill>
                <a:sysClr val="windowText" lastClr="000000"/>
              </a:solidFill>
              <a:latin typeface="Montserrat" panose="00000500000000000000" pitchFamily="2" charset="0"/>
            </a:endParaRPr>
          </a:p>
        </p:txBody>
      </p:sp>
      <p:cxnSp>
        <p:nvCxnSpPr>
          <p:cNvPr id="34" name="连接符: 曲线 33">
            <a:extLst>
              <a:ext uri="{FF2B5EF4-FFF2-40B4-BE49-F238E27FC236}">
                <a16:creationId xmlns:a16="http://schemas.microsoft.com/office/drawing/2014/main" id="{5C78910E-2B0E-1EE1-2354-818A945FE25A}"/>
              </a:ext>
            </a:extLst>
          </p:cNvPr>
          <p:cNvCxnSpPr>
            <a:cxnSpLocks/>
            <a:stCxn id="23" idx="3"/>
            <a:endCxn id="24" idx="1"/>
          </p:cNvCxnSpPr>
          <p:nvPr/>
        </p:nvCxnSpPr>
        <p:spPr>
          <a:xfrm flipV="1">
            <a:off x="2744432" y="2112733"/>
            <a:ext cx="258232" cy="382247"/>
          </a:xfrm>
          <a:prstGeom prst="curvedConnector3">
            <a:avLst/>
          </a:prstGeom>
          <a:ln>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36" name="连接符: 曲线 35">
            <a:extLst>
              <a:ext uri="{FF2B5EF4-FFF2-40B4-BE49-F238E27FC236}">
                <a16:creationId xmlns:a16="http://schemas.microsoft.com/office/drawing/2014/main" id="{CC3C04AC-0AA4-BD39-931A-BB2613350159}"/>
              </a:ext>
            </a:extLst>
          </p:cNvPr>
          <p:cNvCxnSpPr>
            <a:stCxn id="23" idx="3"/>
            <a:endCxn id="27" idx="1"/>
          </p:cNvCxnSpPr>
          <p:nvPr/>
        </p:nvCxnSpPr>
        <p:spPr>
          <a:xfrm>
            <a:off x="2744432" y="2494980"/>
            <a:ext cx="258232" cy="1132785"/>
          </a:xfrm>
          <a:prstGeom prst="curvedConnector3">
            <a:avLst/>
          </a:prstGeom>
          <a:ln>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37" name="连接符: 曲线 36">
            <a:extLst>
              <a:ext uri="{FF2B5EF4-FFF2-40B4-BE49-F238E27FC236}">
                <a16:creationId xmlns:a16="http://schemas.microsoft.com/office/drawing/2014/main" id="{C85EAE23-C368-CDCC-82C5-954E5F9B01FB}"/>
              </a:ext>
            </a:extLst>
          </p:cNvPr>
          <p:cNvCxnSpPr>
            <a:stCxn id="25" idx="1"/>
            <a:endCxn id="23" idx="3"/>
          </p:cNvCxnSpPr>
          <p:nvPr/>
        </p:nvCxnSpPr>
        <p:spPr>
          <a:xfrm rot="10800000">
            <a:off x="2744432" y="2494980"/>
            <a:ext cx="258232" cy="369768"/>
          </a:xfrm>
          <a:prstGeom prst="curvedConnector3">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38" name="连接符: 曲线 37">
            <a:extLst>
              <a:ext uri="{FF2B5EF4-FFF2-40B4-BE49-F238E27FC236}">
                <a16:creationId xmlns:a16="http://schemas.microsoft.com/office/drawing/2014/main" id="{2F70D455-4B74-DDB2-011A-B7ADCAA26929}"/>
              </a:ext>
            </a:extLst>
          </p:cNvPr>
          <p:cNvCxnSpPr>
            <a:cxnSpLocks/>
            <a:stCxn id="25" idx="3"/>
            <a:endCxn id="44" idx="1"/>
          </p:cNvCxnSpPr>
          <p:nvPr/>
        </p:nvCxnSpPr>
        <p:spPr>
          <a:xfrm flipV="1">
            <a:off x="4154664" y="2676745"/>
            <a:ext cx="156322" cy="188003"/>
          </a:xfrm>
          <a:prstGeom prst="curvedConnector3">
            <a:avLst>
              <a:gd name="adj1" fmla="val 50000"/>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39" name="连接符: 曲线 38">
            <a:extLst>
              <a:ext uri="{FF2B5EF4-FFF2-40B4-BE49-F238E27FC236}">
                <a16:creationId xmlns:a16="http://schemas.microsoft.com/office/drawing/2014/main" id="{3594D37C-EFEC-BCD8-84AB-013B2B1E7AEE}"/>
              </a:ext>
            </a:extLst>
          </p:cNvPr>
          <p:cNvCxnSpPr>
            <a:cxnSpLocks/>
            <a:stCxn id="46" idx="1"/>
            <a:endCxn id="25" idx="3"/>
          </p:cNvCxnSpPr>
          <p:nvPr/>
        </p:nvCxnSpPr>
        <p:spPr>
          <a:xfrm rot="10800000">
            <a:off x="4154664" y="2864749"/>
            <a:ext cx="156322" cy="188005"/>
          </a:xfrm>
          <a:prstGeom prst="curvedConnector3">
            <a:avLst>
              <a:gd name="adj1" fmla="val 50000"/>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40" name="连接符: 曲线 39">
            <a:extLst>
              <a:ext uri="{FF2B5EF4-FFF2-40B4-BE49-F238E27FC236}">
                <a16:creationId xmlns:a16="http://schemas.microsoft.com/office/drawing/2014/main" id="{5038622F-0659-9FE4-8FCA-84DF1B68D1C2}"/>
              </a:ext>
            </a:extLst>
          </p:cNvPr>
          <p:cNvCxnSpPr>
            <a:cxnSpLocks/>
            <a:stCxn id="24" idx="3"/>
            <a:endCxn id="51" idx="1"/>
          </p:cNvCxnSpPr>
          <p:nvPr/>
        </p:nvCxnSpPr>
        <p:spPr>
          <a:xfrm flipV="1">
            <a:off x="4154664" y="1924729"/>
            <a:ext cx="156322" cy="188004"/>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41" name="连接符: 曲线 40">
            <a:extLst>
              <a:ext uri="{FF2B5EF4-FFF2-40B4-BE49-F238E27FC236}">
                <a16:creationId xmlns:a16="http://schemas.microsoft.com/office/drawing/2014/main" id="{BCA2F2CE-7D9A-260D-800E-F27F1F0048E3}"/>
              </a:ext>
            </a:extLst>
          </p:cNvPr>
          <p:cNvCxnSpPr>
            <a:cxnSpLocks/>
            <a:stCxn id="53" idx="1"/>
            <a:endCxn id="24" idx="3"/>
          </p:cNvCxnSpPr>
          <p:nvPr/>
        </p:nvCxnSpPr>
        <p:spPr>
          <a:xfrm rot="10800000">
            <a:off x="4154664" y="2112733"/>
            <a:ext cx="156322" cy="188004"/>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42" name="连接符: 曲线 41">
            <a:extLst>
              <a:ext uri="{FF2B5EF4-FFF2-40B4-BE49-F238E27FC236}">
                <a16:creationId xmlns:a16="http://schemas.microsoft.com/office/drawing/2014/main" id="{84306C3F-6AF6-8DC8-8780-8D75BF5FB700}"/>
              </a:ext>
            </a:extLst>
          </p:cNvPr>
          <p:cNvCxnSpPr>
            <a:cxnSpLocks/>
            <a:stCxn id="27" idx="3"/>
            <a:endCxn id="32" idx="1"/>
          </p:cNvCxnSpPr>
          <p:nvPr/>
        </p:nvCxnSpPr>
        <p:spPr>
          <a:xfrm flipV="1">
            <a:off x="4154664" y="3434261"/>
            <a:ext cx="156321" cy="193504"/>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43" name="连接符: 曲线 42">
            <a:extLst>
              <a:ext uri="{FF2B5EF4-FFF2-40B4-BE49-F238E27FC236}">
                <a16:creationId xmlns:a16="http://schemas.microsoft.com/office/drawing/2014/main" id="{EA6BD8D6-D611-7AFE-65C4-AF80F2E8DA98}"/>
              </a:ext>
            </a:extLst>
          </p:cNvPr>
          <p:cNvCxnSpPr>
            <a:cxnSpLocks/>
            <a:stCxn id="33" idx="1"/>
            <a:endCxn id="27" idx="3"/>
          </p:cNvCxnSpPr>
          <p:nvPr/>
        </p:nvCxnSpPr>
        <p:spPr>
          <a:xfrm rot="10800000">
            <a:off x="4154664" y="3627765"/>
            <a:ext cx="156322" cy="193504"/>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sp>
        <p:nvSpPr>
          <p:cNvPr id="44" name="文本框 43">
            <a:extLst>
              <a:ext uri="{FF2B5EF4-FFF2-40B4-BE49-F238E27FC236}">
                <a16:creationId xmlns:a16="http://schemas.microsoft.com/office/drawing/2014/main" id="{ACECB963-7582-0D85-D5C9-9BE3E4447B69}"/>
              </a:ext>
            </a:extLst>
          </p:cNvPr>
          <p:cNvSpPr txBox="1"/>
          <p:nvPr/>
        </p:nvSpPr>
        <p:spPr>
          <a:xfrm>
            <a:off x="4310986" y="2538245"/>
            <a:ext cx="2319068"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Data Connection</a:t>
            </a:r>
            <a:endParaRPr lang="zh-CN" altLang="en-US" dirty="0"/>
          </a:p>
        </p:txBody>
      </p:sp>
      <p:sp>
        <p:nvSpPr>
          <p:cNvPr id="46" name="文本框 45">
            <a:extLst>
              <a:ext uri="{FF2B5EF4-FFF2-40B4-BE49-F238E27FC236}">
                <a16:creationId xmlns:a16="http://schemas.microsoft.com/office/drawing/2014/main" id="{11ED1445-5DBA-BDFD-5043-8ACA7D456E29}"/>
              </a:ext>
            </a:extLst>
          </p:cNvPr>
          <p:cNvSpPr txBox="1"/>
          <p:nvPr/>
        </p:nvSpPr>
        <p:spPr>
          <a:xfrm>
            <a:off x="4310986" y="2914253"/>
            <a:ext cx="2319071"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Control Connection</a:t>
            </a:r>
            <a:endParaRPr lang="zh-CN" altLang="en-US" dirty="0"/>
          </a:p>
        </p:txBody>
      </p:sp>
      <p:sp>
        <p:nvSpPr>
          <p:cNvPr id="51" name="文本框 50">
            <a:extLst>
              <a:ext uri="{FF2B5EF4-FFF2-40B4-BE49-F238E27FC236}">
                <a16:creationId xmlns:a16="http://schemas.microsoft.com/office/drawing/2014/main" id="{52623ACD-6974-C37B-8361-50D56855BE2A}"/>
              </a:ext>
            </a:extLst>
          </p:cNvPr>
          <p:cNvSpPr txBox="1"/>
          <p:nvPr/>
        </p:nvSpPr>
        <p:spPr>
          <a:xfrm>
            <a:off x="4310986" y="1786229"/>
            <a:ext cx="1982735"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21</a:t>
            </a:r>
            <a:endParaRPr lang="zh-CN" altLang="en-US" dirty="0"/>
          </a:p>
        </p:txBody>
      </p:sp>
      <p:sp>
        <p:nvSpPr>
          <p:cNvPr id="53" name="文本框 52">
            <a:extLst>
              <a:ext uri="{FF2B5EF4-FFF2-40B4-BE49-F238E27FC236}">
                <a16:creationId xmlns:a16="http://schemas.microsoft.com/office/drawing/2014/main" id="{BD1B519D-D5DA-78CE-2F54-AAF97110F4FD}"/>
              </a:ext>
            </a:extLst>
          </p:cNvPr>
          <p:cNvSpPr txBox="1"/>
          <p:nvPr/>
        </p:nvSpPr>
        <p:spPr>
          <a:xfrm>
            <a:off x="4310986" y="2162237"/>
            <a:ext cx="2526542"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t>20</a:t>
            </a:r>
            <a:endParaRPr lang="zh-CN" altLang="en-US" dirty="0"/>
          </a:p>
        </p:txBody>
      </p:sp>
    </p:spTree>
    <p:extLst>
      <p:ext uri="{BB962C8B-B14F-4D97-AF65-F5344CB8AC3E}">
        <p14:creationId xmlns:p14="http://schemas.microsoft.com/office/powerpoint/2010/main" val="40006795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B739273-086F-1451-AC42-2CBF9E082AB6}"/>
              </a:ext>
            </a:extLst>
          </p:cNvPr>
          <p:cNvSpPr>
            <a:spLocks noGrp="1"/>
          </p:cNvSpPr>
          <p:nvPr>
            <p:ph type="title"/>
          </p:nvPr>
        </p:nvSpPr>
        <p:spPr>
          <a:xfrm>
            <a:off x="485999" y="174482"/>
            <a:ext cx="8171999" cy="338554"/>
          </a:xfrm>
        </p:spPr>
        <p:txBody>
          <a:bodyPr/>
          <a:lstStyle/>
          <a:p>
            <a:r>
              <a:rPr lang="en-US" altLang="zh-CN" dirty="0"/>
              <a:t>6.2.1  FTP </a:t>
            </a:r>
            <a:r>
              <a:rPr lang="zh-CN" altLang="en-US" dirty="0"/>
              <a:t>概述</a:t>
            </a:r>
          </a:p>
        </p:txBody>
      </p:sp>
      <p:sp>
        <p:nvSpPr>
          <p:cNvPr id="3" name="内容占位符 2">
            <a:extLst>
              <a:ext uri="{FF2B5EF4-FFF2-40B4-BE49-F238E27FC236}">
                <a16:creationId xmlns:a16="http://schemas.microsoft.com/office/drawing/2014/main" id="{E43F50E3-7D95-1EE8-8B20-265C8FBC66B3}"/>
              </a:ext>
            </a:extLst>
          </p:cNvPr>
          <p:cNvSpPr>
            <a:spLocks noGrp="1"/>
          </p:cNvSpPr>
          <p:nvPr>
            <p:ph sz="quarter" idx="11"/>
          </p:nvPr>
        </p:nvSpPr>
        <p:spPr>
          <a:xfrm>
            <a:off x="486000" y="687518"/>
            <a:ext cx="8172000" cy="4079035"/>
          </a:xfrm>
        </p:spPr>
        <p:txBody>
          <a:bodyPr/>
          <a:lstStyle/>
          <a:p>
            <a:r>
              <a:rPr lang="zh-CN" altLang="en-US" dirty="0"/>
              <a:t>文件传送协议 </a:t>
            </a:r>
            <a:r>
              <a:rPr lang="en-US" altLang="zh-CN" dirty="0"/>
              <a:t>FTP (File Transfer Protocol) </a:t>
            </a:r>
            <a:r>
              <a:rPr lang="zh-CN" altLang="en-US" dirty="0"/>
              <a:t>是互联网上使用得最广泛的文件传送协议</a:t>
            </a:r>
          </a:p>
          <a:p>
            <a:r>
              <a:rPr lang="zh-CN" altLang="en-US" dirty="0"/>
              <a:t>提供交互式的访问，允许客户指明文件的类型与格式，并允许文件具有存取权限</a:t>
            </a:r>
          </a:p>
          <a:p>
            <a:r>
              <a:rPr lang="zh-CN" altLang="en-US" dirty="0"/>
              <a:t>屏蔽了各计算机系统的细节，因而适合于在异构网络中任意计算机之间传送文件</a:t>
            </a:r>
          </a:p>
          <a:p>
            <a:r>
              <a:rPr lang="zh-CN" altLang="en-US" dirty="0"/>
              <a:t>是文件共享协议的一个大类</a:t>
            </a:r>
          </a:p>
          <a:p>
            <a:endParaRPr lang="zh-CN" altLang="en-US" dirty="0"/>
          </a:p>
        </p:txBody>
      </p:sp>
    </p:spTree>
    <p:extLst>
      <p:ext uri="{BB962C8B-B14F-4D97-AF65-F5344CB8AC3E}">
        <p14:creationId xmlns:p14="http://schemas.microsoft.com/office/powerpoint/2010/main" val="10635492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1DA7BD9-214C-EEA0-1048-82DA0A444D7A}"/>
              </a:ext>
            </a:extLst>
          </p:cNvPr>
          <p:cNvSpPr>
            <a:spLocks noGrp="1"/>
          </p:cNvSpPr>
          <p:nvPr>
            <p:ph type="title"/>
          </p:nvPr>
        </p:nvSpPr>
        <p:spPr>
          <a:xfrm>
            <a:off x="485999" y="174482"/>
            <a:ext cx="8171999" cy="338554"/>
          </a:xfrm>
        </p:spPr>
        <p:txBody>
          <a:bodyPr/>
          <a:lstStyle/>
          <a:p>
            <a:r>
              <a:rPr lang="en-US" altLang="zh-CN" dirty="0"/>
              <a:t>6.2.1  FTP </a:t>
            </a:r>
            <a:r>
              <a:rPr lang="zh-CN" altLang="en-US" dirty="0"/>
              <a:t>概述</a:t>
            </a:r>
          </a:p>
        </p:txBody>
      </p:sp>
      <p:sp>
        <p:nvSpPr>
          <p:cNvPr id="3" name="内容占位符 2">
            <a:extLst>
              <a:ext uri="{FF2B5EF4-FFF2-40B4-BE49-F238E27FC236}">
                <a16:creationId xmlns:a16="http://schemas.microsoft.com/office/drawing/2014/main" id="{F186E35E-69D7-386B-9DC5-E3710AD0338A}"/>
              </a:ext>
            </a:extLst>
          </p:cNvPr>
          <p:cNvSpPr>
            <a:spLocks noGrp="1"/>
          </p:cNvSpPr>
          <p:nvPr>
            <p:ph sz="quarter" idx="11"/>
          </p:nvPr>
        </p:nvSpPr>
        <p:spPr>
          <a:xfrm>
            <a:off x="486000" y="687518"/>
            <a:ext cx="8172000" cy="4079035"/>
          </a:xfrm>
        </p:spPr>
        <p:txBody>
          <a:bodyPr/>
          <a:lstStyle/>
          <a:p>
            <a:r>
              <a:rPr lang="zh-CN" altLang="en-US" dirty="0"/>
              <a:t>文件传送协议</a:t>
            </a:r>
            <a:r>
              <a:rPr lang="en-US" altLang="zh-CN" dirty="0"/>
              <a:t>FTP</a:t>
            </a:r>
          </a:p>
          <a:p>
            <a:pPr lvl="1"/>
            <a:r>
              <a:rPr lang="zh-CN" altLang="en-US" dirty="0"/>
              <a:t>复制整个文件。对文件副本进行访问</a:t>
            </a:r>
            <a:endParaRPr lang="en-US" altLang="zh-CN" dirty="0"/>
          </a:p>
          <a:p>
            <a:pPr lvl="1"/>
            <a:r>
              <a:rPr lang="zh-CN" altLang="en-US" dirty="0"/>
              <a:t>若要存取一个文件，就必须先获得一个本地文件副本</a:t>
            </a:r>
            <a:endParaRPr lang="en-US" altLang="zh-CN" dirty="0"/>
          </a:p>
          <a:p>
            <a:pPr lvl="1"/>
            <a:r>
              <a:rPr lang="zh-CN" altLang="en-US" dirty="0"/>
              <a:t>若要修改文件，只能对文件副本进行修改，然后再将修改后的文件副本传回到原节点</a:t>
            </a:r>
            <a:endParaRPr lang="en-US" altLang="zh-CN" dirty="0"/>
          </a:p>
          <a:p>
            <a:pPr lvl="1"/>
            <a:r>
              <a:rPr lang="en-US" altLang="zh-CN" dirty="0"/>
              <a:t>FTP</a:t>
            </a:r>
            <a:r>
              <a:rPr lang="zh-CN" altLang="en-US" dirty="0"/>
              <a:t>：基于</a:t>
            </a:r>
            <a:r>
              <a:rPr lang="en-US" altLang="zh-CN" dirty="0"/>
              <a:t>TCP</a:t>
            </a:r>
          </a:p>
          <a:p>
            <a:r>
              <a:rPr lang="zh-CN" altLang="en-US" dirty="0"/>
              <a:t>联机访问 </a:t>
            </a:r>
            <a:r>
              <a:rPr lang="en-US" altLang="zh-CN" dirty="0"/>
              <a:t>(on-line access) </a:t>
            </a:r>
            <a:r>
              <a:rPr lang="zh-CN" altLang="en-US" dirty="0"/>
              <a:t>协议：</a:t>
            </a:r>
            <a:r>
              <a:rPr lang="en-US" altLang="zh-CN" dirty="0"/>
              <a:t>NFS </a:t>
            </a:r>
            <a:r>
              <a:rPr lang="zh-CN" altLang="en-US" dirty="0"/>
              <a:t>等</a:t>
            </a:r>
            <a:endParaRPr lang="en-US" altLang="zh-CN" dirty="0"/>
          </a:p>
          <a:p>
            <a:pPr lvl="1"/>
            <a:r>
              <a:rPr lang="zh-CN" altLang="en-US" dirty="0"/>
              <a:t>允许同时对一个文件进行存取</a:t>
            </a:r>
            <a:endParaRPr lang="en-US" altLang="zh-CN" dirty="0"/>
          </a:p>
          <a:p>
            <a:pPr lvl="1"/>
            <a:r>
              <a:rPr lang="zh-CN" altLang="en-US" dirty="0"/>
              <a:t>远地共享文件访问，如同对本地文件的访问一样</a:t>
            </a:r>
            <a:endParaRPr lang="en-US" altLang="zh-CN" dirty="0"/>
          </a:p>
          <a:p>
            <a:pPr lvl="1"/>
            <a:r>
              <a:rPr lang="zh-CN" altLang="en-US" dirty="0"/>
              <a:t>透明存取，不需要对该应用程序作明显的改动</a:t>
            </a:r>
            <a:endParaRPr lang="en-US" altLang="zh-CN" dirty="0"/>
          </a:p>
          <a:p>
            <a:pPr lvl="1"/>
            <a:r>
              <a:rPr lang="zh-CN" altLang="en-US" dirty="0"/>
              <a:t>由操作系统负责</a:t>
            </a:r>
            <a:endParaRPr lang="en-US" altLang="zh-CN" dirty="0"/>
          </a:p>
          <a:p>
            <a:endParaRPr lang="zh-CN" altLang="en-US" dirty="0"/>
          </a:p>
        </p:txBody>
      </p:sp>
    </p:spTree>
    <p:extLst>
      <p:ext uri="{BB962C8B-B14F-4D97-AF65-F5344CB8AC3E}">
        <p14:creationId xmlns:p14="http://schemas.microsoft.com/office/powerpoint/2010/main" val="16808732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85933ED-C5D8-2B9A-A9E3-A0DD70B05A68}"/>
              </a:ext>
            </a:extLst>
          </p:cNvPr>
          <p:cNvSpPr>
            <a:spLocks noGrp="1"/>
          </p:cNvSpPr>
          <p:nvPr>
            <p:ph type="title"/>
          </p:nvPr>
        </p:nvSpPr>
        <p:spPr>
          <a:xfrm>
            <a:off x="485999" y="174482"/>
            <a:ext cx="8171999" cy="338554"/>
          </a:xfrm>
        </p:spPr>
        <p:txBody>
          <a:bodyPr/>
          <a:lstStyle/>
          <a:p>
            <a:r>
              <a:rPr lang="en-US" altLang="zh-CN" dirty="0"/>
              <a:t>6.2.2  FTP </a:t>
            </a:r>
            <a:r>
              <a:rPr lang="zh-CN" altLang="en-US" dirty="0"/>
              <a:t>的基本工作原理</a:t>
            </a:r>
          </a:p>
        </p:txBody>
      </p:sp>
      <p:sp>
        <p:nvSpPr>
          <p:cNvPr id="4" name="内容占位符 3">
            <a:extLst>
              <a:ext uri="{FF2B5EF4-FFF2-40B4-BE49-F238E27FC236}">
                <a16:creationId xmlns:a16="http://schemas.microsoft.com/office/drawing/2014/main" id="{78E292BE-B123-4F3E-3DCE-4C5D93BFB5B2}"/>
              </a:ext>
            </a:extLst>
          </p:cNvPr>
          <p:cNvSpPr>
            <a:spLocks noGrp="1"/>
          </p:cNvSpPr>
          <p:nvPr>
            <p:ph sz="quarter" idx="11"/>
          </p:nvPr>
        </p:nvSpPr>
        <p:spPr>
          <a:xfrm>
            <a:off x="486000" y="687518"/>
            <a:ext cx="8172000" cy="4079035"/>
          </a:xfrm>
        </p:spPr>
        <p:txBody>
          <a:bodyPr/>
          <a:lstStyle/>
          <a:p>
            <a:r>
              <a:rPr lang="zh-CN" altLang="en-US" dirty="0"/>
              <a:t>网络环境下复制文件的复杂性</a:t>
            </a:r>
          </a:p>
          <a:p>
            <a:pPr lvl="1"/>
            <a:r>
              <a:rPr lang="zh-CN" altLang="en-US" dirty="0"/>
              <a:t>计算机存储数据的格式不同</a:t>
            </a:r>
          </a:p>
          <a:p>
            <a:pPr lvl="1"/>
            <a:r>
              <a:rPr lang="zh-CN" altLang="en-US" dirty="0"/>
              <a:t>文件的目录结构和文件命名的规定不同</a:t>
            </a:r>
          </a:p>
          <a:p>
            <a:pPr lvl="1"/>
            <a:r>
              <a:rPr lang="zh-CN" altLang="en-US" dirty="0"/>
              <a:t>对于相同的文件存取功能，操作系统使用的命令不同</a:t>
            </a:r>
          </a:p>
          <a:p>
            <a:pPr lvl="1"/>
            <a:r>
              <a:rPr lang="zh-CN" altLang="en-US" dirty="0"/>
              <a:t>访问控制方法不同</a:t>
            </a:r>
          </a:p>
        </p:txBody>
      </p:sp>
    </p:spTree>
    <p:extLst>
      <p:ext uri="{BB962C8B-B14F-4D97-AF65-F5344CB8AC3E}">
        <p14:creationId xmlns:p14="http://schemas.microsoft.com/office/powerpoint/2010/main" val="13600529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内容占位符 38">
            <a:extLst>
              <a:ext uri="{FF2B5EF4-FFF2-40B4-BE49-F238E27FC236}">
                <a16:creationId xmlns:a16="http://schemas.microsoft.com/office/drawing/2014/main" id="{3C34A00A-6F00-73A1-20F7-8E42672825F2}"/>
              </a:ext>
            </a:extLst>
          </p:cNvPr>
          <p:cNvSpPr>
            <a:spLocks noGrp="1"/>
          </p:cNvSpPr>
          <p:nvPr>
            <p:ph sz="quarter" idx="11"/>
          </p:nvPr>
        </p:nvSpPr>
        <p:spPr/>
        <p:txBody>
          <a:bodyPr/>
          <a:lstStyle/>
          <a:p>
            <a:endParaRPr lang="zh-CN" altLang="en-US"/>
          </a:p>
        </p:txBody>
      </p:sp>
      <p:pic>
        <p:nvPicPr>
          <p:cNvPr id="4" name="图片 3">
            <a:extLst>
              <a:ext uri="{FF2B5EF4-FFF2-40B4-BE49-F238E27FC236}">
                <a16:creationId xmlns:a16="http://schemas.microsoft.com/office/drawing/2014/main" id="{05BFE6AB-ED00-4EE3-6B44-A303A58C5A1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045718" y="1172891"/>
            <a:ext cx="476702" cy="667383"/>
          </a:xfrm>
          <a:prstGeom prst="rect">
            <a:avLst/>
          </a:prstGeom>
        </p:spPr>
      </p:pic>
      <p:sp>
        <p:nvSpPr>
          <p:cNvPr id="5" name="Line 35">
            <a:extLst>
              <a:ext uri="{FF2B5EF4-FFF2-40B4-BE49-F238E27FC236}">
                <a16:creationId xmlns:a16="http://schemas.microsoft.com/office/drawing/2014/main" id="{77DE201E-B3B6-DE5B-CE11-218574934133}"/>
              </a:ext>
            </a:extLst>
          </p:cNvPr>
          <p:cNvSpPr>
            <a:spLocks noChangeShapeType="1"/>
          </p:cNvSpPr>
          <p:nvPr/>
        </p:nvSpPr>
        <p:spPr bwMode="auto">
          <a:xfrm rot="16200000" flipH="1" flipV="1">
            <a:off x="4400828" y="71345"/>
            <a:ext cx="0" cy="2880000"/>
          </a:xfrm>
          <a:prstGeom prst="line">
            <a:avLst/>
          </a:prstGeom>
          <a:noFill/>
          <a:ln w="38100">
            <a:solidFill>
              <a:srgbClr val="0033CC"/>
            </a:solidFill>
            <a:round/>
            <a:headEnd type="triangle"/>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6" name="Line 34">
            <a:extLst>
              <a:ext uri="{FF2B5EF4-FFF2-40B4-BE49-F238E27FC236}">
                <a16:creationId xmlns:a16="http://schemas.microsoft.com/office/drawing/2014/main" id="{30635E03-00BE-8356-DF59-D8C6DD8C51E7}"/>
              </a:ext>
            </a:extLst>
          </p:cNvPr>
          <p:cNvSpPr>
            <a:spLocks noChangeShapeType="1"/>
          </p:cNvSpPr>
          <p:nvPr/>
        </p:nvSpPr>
        <p:spPr bwMode="auto">
          <a:xfrm rot="16200000" flipH="1">
            <a:off x="4400828" y="318995"/>
            <a:ext cx="0" cy="2880000"/>
          </a:xfrm>
          <a:prstGeom prst="line">
            <a:avLst/>
          </a:prstGeom>
          <a:noFill/>
          <a:ln w="38100">
            <a:solidFill>
              <a:srgbClr val="9900FF"/>
            </a:solidFill>
            <a:round/>
            <a:headEnd type="triangle"/>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pic>
        <p:nvPicPr>
          <p:cNvPr id="7" name="Picture 197" descr="jisuanji">
            <a:extLst>
              <a:ext uri="{FF2B5EF4-FFF2-40B4-BE49-F238E27FC236}">
                <a16:creationId xmlns:a16="http://schemas.microsoft.com/office/drawing/2014/main" id="{17A12C4F-5DC8-3E80-C3F3-49488B7090CE}"/>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77576" y="1447225"/>
            <a:ext cx="393048" cy="393049"/>
          </a:xfrm>
          <a:prstGeom prst="rect">
            <a:avLst/>
          </a:prstGeom>
          <a:noFill/>
          <a:extLst>
            <a:ext uri="{909E8E84-426E-40DD-AFC4-6F175D3DCCD1}">
              <a14:hiddenFill xmlns:a14="http://schemas.microsoft.com/office/drawing/2010/main">
                <a:solidFill>
                  <a:srgbClr val="FFFFFF"/>
                </a:solidFill>
              </a14:hiddenFill>
            </a:ext>
          </a:extLst>
        </p:spPr>
      </p:pic>
      <p:sp>
        <p:nvSpPr>
          <p:cNvPr id="9" name="Text Box 11">
            <a:extLst>
              <a:ext uri="{FF2B5EF4-FFF2-40B4-BE49-F238E27FC236}">
                <a16:creationId xmlns:a16="http://schemas.microsoft.com/office/drawing/2014/main" id="{B5045D87-7C81-2E7E-1971-1CE17EF7C3E8}"/>
              </a:ext>
            </a:extLst>
          </p:cNvPr>
          <p:cNvSpPr txBox="1">
            <a:spLocks noChangeArrowheads="1"/>
          </p:cNvSpPr>
          <p:nvPr/>
        </p:nvSpPr>
        <p:spPr bwMode="auto">
          <a:xfrm flipH="1">
            <a:off x="2064442" y="1833020"/>
            <a:ext cx="638316"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Client</a:t>
            </a:r>
          </a:p>
        </p:txBody>
      </p:sp>
      <p:sp>
        <p:nvSpPr>
          <p:cNvPr id="10" name="Text Box 11">
            <a:extLst>
              <a:ext uri="{FF2B5EF4-FFF2-40B4-BE49-F238E27FC236}">
                <a16:creationId xmlns:a16="http://schemas.microsoft.com/office/drawing/2014/main" id="{DAA69B25-EDA3-8EBE-F05B-F2F5FB7CDF7D}"/>
              </a:ext>
            </a:extLst>
          </p:cNvPr>
          <p:cNvSpPr txBox="1">
            <a:spLocks noChangeArrowheads="1"/>
          </p:cNvSpPr>
          <p:nvPr/>
        </p:nvSpPr>
        <p:spPr bwMode="auto">
          <a:xfrm flipH="1">
            <a:off x="6066317" y="1833020"/>
            <a:ext cx="1007007"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FTP Server</a:t>
            </a:r>
          </a:p>
        </p:txBody>
      </p:sp>
      <p:sp>
        <p:nvSpPr>
          <p:cNvPr id="11" name="Text Box 11">
            <a:extLst>
              <a:ext uri="{FF2B5EF4-FFF2-40B4-BE49-F238E27FC236}">
                <a16:creationId xmlns:a16="http://schemas.microsoft.com/office/drawing/2014/main" id="{67691C32-4095-B385-25E1-85A43156637B}"/>
              </a:ext>
            </a:extLst>
          </p:cNvPr>
          <p:cNvSpPr txBox="1">
            <a:spLocks noChangeArrowheads="1"/>
          </p:cNvSpPr>
          <p:nvPr/>
        </p:nvSpPr>
        <p:spPr bwMode="auto">
          <a:xfrm flipH="1">
            <a:off x="3552680" y="1270190"/>
            <a:ext cx="1696298"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Control Connection</a:t>
            </a:r>
          </a:p>
        </p:txBody>
      </p:sp>
      <p:sp>
        <p:nvSpPr>
          <p:cNvPr id="12" name="Text Box 11">
            <a:extLst>
              <a:ext uri="{FF2B5EF4-FFF2-40B4-BE49-F238E27FC236}">
                <a16:creationId xmlns:a16="http://schemas.microsoft.com/office/drawing/2014/main" id="{EA5E2543-9393-C80E-D51A-1A4F45176098}"/>
              </a:ext>
            </a:extLst>
          </p:cNvPr>
          <p:cNvSpPr txBox="1">
            <a:spLocks noChangeArrowheads="1"/>
          </p:cNvSpPr>
          <p:nvPr/>
        </p:nvSpPr>
        <p:spPr bwMode="auto">
          <a:xfrm flipH="1">
            <a:off x="3652868" y="1758995"/>
            <a:ext cx="1495922"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Data Connection</a:t>
            </a:r>
          </a:p>
        </p:txBody>
      </p:sp>
      <p:sp>
        <p:nvSpPr>
          <p:cNvPr id="13" name="椭圆 12">
            <a:extLst>
              <a:ext uri="{FF2B5EF4-FFF2-40B4-BE49-F238E27FC236}">
                <a16:creationId xmlns:a16="http://schemas.microsoft.com/office/drawing/2014/main" id="{72104C56-6E0D-D07C-48B1-C8C876F46B48}"/>
              </a:ext>
            </a:extLst>
          </p:cNvPr>
          <p:cNvSpPr/>
          <p:nvPr/>
        </p:nvSpPr>
        <p:spPr>
          <a:xfrm>
            <a:off x="5827551" y="1427892"/>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椭圆 13">
            <a:extLst>
              <a:ext uri="{FF2B5EF4-FFF2-40B4-BE49-F238E27FC236}">
                <a16:creationId xmlns:a16="http://schemas.microsoft.com/office/drawing/2014/main" id="{7400DB66-4F8A-D290-8C73-BFF5A9E50401}"/>
              </a:ext>
            </a:extLst>
          </p:cNvPr>
          <p:cNvSpPr/>
          <p:nvPr/>
        </p:nvSpPr>
        <p:spPr>
          <a:xfrm>
            <a:off x="5827551" y="1662670"/>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Text Box 11">
            <a:extLst>
              <a:ext uri="{FF2B5EF4-FFF2-40B4-BE49-F238E27FC236}">
                <a16:creationId xmlns:a16="http://schemas.microsoft.com/office/drawing/2014/main" id="{18EB6320-661B-D553-FA21-7F8C35F31690}"/>
              </a:ext>
            </a:extLst>
          </p:cNvPr>
          <p:cNvSpPr txBox="1">
            <a:spLocks noChangeArrowheads="1"/>
          </p:cNvSpPr>
          <p:nvPr/>
        </p:nvSpPr>
        <p:spPr bwMode="auto">
          <a:xfrm flipH="1">
            <a:off x="5748808" y="1225274"/>
            <a:ext cx="328937"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21</a:t>
            </a:r>
          </a:p>
        </p:txBody>
      </p:sp>
      <p:sp>
        <p:nvSpPr>
          <p:cNvPr id="16" name="Text Box 11">
            <a:extLst>
              <a:ext uri="{FF2B5EF4-FFF2-40B4-BE49-F238E27FC236}">
                <a16:creationId xmlns:a16="http://schemas.microsoft.com/office/drawing/2014/main" id="{F613BFA9-9E18-8E7C-3DA9-DE7595F6C8B7}"/>
              </a:ext>
            </a:extLst>
          </p:cNvPr>
          <p:cNvSpPr txBox="1">
            <a:spLocks noChangeArrowheads="1"/>
          </p:cNvSpPr>
          <p:nvPr/>
        </p:nvSpPr>
        <p:spPr bwMode="auto">
          <a:xfrm flipH="1">
            <a:off x="5725564" y="1832899"/>
            <a:ext cx="375424"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20</a:t>
            </a:r>
          </a:p>
        </p:txBody>
      </p:sp>
      <p:sp>
        <p:nvSpPr>
          <p:cNvPr id="17" name="椭圆 16">
            <a:extLst>
              <a:ext uri="{FF2B5EF4-FFF2-40B4-BE49-F238E27FC236}">
                <a16:creationId xmlns:a16="http://schemas.microsoft.com/office/drawing/2014/main" id="{E91A51CF-0B86-ACF5-C361-FFC72F58D3B1}"/>
              </a:ext>
            </a:extLst>
          </p:cNvPr>
          <p:cNvSpPr/>
          <p:nvPr/>
        </p:nvSpPr>
        <p:spPr>
          <a:xfrm>
            <a:off x="2799455" y="1427892"/>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Text Box 11">
            <a:extLst>
              <a:ext uri="{FF2B5EF4-FFF2-40B4-BE49-F238E27FC236}">
                <a16:creationId xmlns:a16="http://schemas.microsoft.com/office/drawing/2014/main" id="{5B1640E1-698F-D538-C406-099210145F9E}"/>
              </a:ext>
            </a:extLst>
          </p:cNvPr>
          <p:cNvSpPr txBox="1">
            <a:spLocks noChangeArrowheads="1"/>
          </p:cNvSpPr>
          <p:nvPr/>
        </p:nvSpPr>
        <p:spPr bwMode="auto">
          <a:xfrm flipH="1">
            <a:off x="2573019" y="1225274"/>
            <a:ext cx="603050"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54321</a:t>
            </a:r>
          </a:p>
        </p:txBody>
      </p:sp>
      <p:sp>
        <p:nvSpPr>
          <p:cNvPr id="19" name="椭圆 18">
            <a:extLst>
              <a:ext uri="{FF2B5EF4-FFF2-40B4-BE49-F238E27FC236}">
                <a16:creationId xmlns:a16="http://schemas.microsoft.com/office/drawing/2014/main" id="{3592C5A8-8328-91B7-32B3-95F528415A94}"/>
              </a:ext>
            </a:extLst>
          </p:cNvPr>
          <p:cNvSpPr/>
          <p:nvPr/>
        </p:nvSpPr>
        <p:spPr>
          <a:xfrm>
            <a:off x="2788818" y="1657500"/>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Text Box 11">
            <a:extLst>
              <a:ext uri="{FF2B5EF4-FFF2-40B4-BE49-F238E27FC236}">
                <a16:creationId xmlns:a16="http://schemas.microsoft.com/office/drawing/2014/main" id="{D937BFBF-AA9E-6B76-661B-405684D76B76}"/>
              </a:ext>
            </a:extLst>
          </p:cNvPr>
          <p:cNvSpPr txBox="1">
            <a:spLocks noChangeArrowheads="1"/>
          </p:cNvSpPr>
          <p:nvPr/>
        </p:nvSpPr>
        <p:spPr bwMode="auto">
          <a:xfrm flipH="1">
            <a:off x="2554585" y="1832899"/>
            <a:ext cx="639919"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65432</a:t>
            </a:r>
          </a:p>
        </p:txBody>
      </p:sp>
      <p:sp>
        <p:nvSpPr>
          <p:cNvPr id="21" name="Text Box 11">
            <a:extLst>
              <a:ext uri="{FF2B5EF4-FFF2-40B4-BE49-F238E27FC236}">
                <a16:creationId xmlns:a16="http://schemas.microsoft.com/office/drawing/2014/main" id="{189892A3-E43B-655B-9A17-86234CA5A080}"/>
              </a:ext>
            </a:extLst>
          </p:cNvPr>
          <p:cNvSpPr txBox="1">
            <a:spLocks noChangeArrowheads="1"/>
          </p:cNvSpPr>
          <p:nvPr/>
        </p:nvSpPr>
        <p:spPr bwMode="auto">
          <a:xfrm flipH="1">
            <a:off x="3836540" y="781385"/>
            <a:ext cx="1143262"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b="1" dirty="0">
                <a:latin typeface="Montserrat" panose="00000500000000000000" pitchFamily="2" charset="0"/>
                <a:ea typeface="微软雅黑 Light" panose="020B0502040204020203" pitchFamily="34" charset="-122"/>
              </a:rPr>
              <a:t>Active Mode</a:t>
            </a:r>
          </a:p>
        </p:txBody>
      </p:sp>
      <p:pic>
        <p:nvPicPr>
          <p:cNvPr id="8" name="图片 7">
            <a:extLst>
              <a:ext uri="{FF2B5EF4-FFF2-40B4-BE49-F238E27FC236}">
                <a16:creationId xmlns:a16="http://schemas.microsoft.com/office/drawing/2014/main" id="{3E33CF0B-6A9C-407F-4D42-02448F79D39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041181" y="3213302"/>
            <a:ext cx="476702" cy="667383"/>
          </a:xfrm>
          <a:prstGeom prst="rect">
            <a:avLst/>
          </a:prstGeom>
        </p:spPr>
      </p:pic>
      <p:sp>
        <p:nvSpPr>
          <p:cNvPr id="22" name="Line 35">
            <a:extLst>
              <a:ext uri="{FF2B5EF4-FFF2-40B4-BE49-F238E27FC236}">
                <a16:creationId xmlns:a16="http://schemas.microsoft.com/office/drawing/2014/main" id="{09D4FBF1-E915-26D6-8D33-BBA06188301C}"/>
              </a:ext>
            </a:extLst>
          </p:cNvPr>
          <p:cNvSpPr>
            <a:spLocks noChangeShapeType="1"/>
          </p:cNvSpPr>
          <p:nvPr/>
        </p:nvSpPr>
        <p:spPr bwMode="auto">
          <a:xfrm rot="16200000" flipH="1" flipV="1">
            <a:off x="4396291" y="2111756"/>
            <a:ext cx="0" cy="2880000"/>
          </a:xfrm>
          <a:prstGeom prst="line">
            <a:avLst/>
          </a:prstGeom>
          <a:noFill/>
          <a:ln w="38100">
            <a:solidFill>
              <a:srgbClr val="0033CC"/>
            </a:solidFill>
            <a:round/>
            <a:headEnd type="triangle"/>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23" name="Line 34">
            <a:extLst>
              <a:ext uri="{FF2B5EF4-FFF2-40B4-BE49-F238E27FC236}">
                <a16:creationId xmlns:a16="http://schemas.microsoft.com/office/drawing/2014/main" id="{CBF461E3-484D-2A60-B1CF-ED1ED498407A}"/>
              </a:ext>
            </a:extLst>
          </p:cNvPr>
          <p:cNvSpPr>
            <a:spLocks noChangeShapeType="1"/>
          </p:cNvSpPr>
          <p:nvPr/>
        </p:nvSpPr>
        <p:spPr bwMode="auto">
          <a:xfrm rot="16200000" flipH="1">
            <a:off x="4396291" y="2359406"/>
            <a:ext cx="0" cy="2880000"/>
          </a:xfrm>
          <a:prstGeom prst="line">
            <a:avLst/>
          </a:prstGeom>
          <a:noFill/>
          <a:ln w="38100">
            <a:solidFill>
              <a:srgbClr val="9900FF"/>
            </a:solidFill>
            <a:round/>
            <a:headEnd type="none"/>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pic>
        <p:nvPicPr>
          <p:cNvPr id="24" name="Picture 197" descr="jisuanji">
            <a:extLst>
              <a:ext uri="{FF2B5EF4-FFF2-40B4-BE49-F238E27FC236}">
                <a16:creationId xmlns:a16="http://schemas.microsoft.com/office/drawing/2014/main" id="{B25D4CE4-F43A-494B-3464-1FFD9E491EAD}"/>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73039" y="3487636"/>
            <a:ext cx="393048" cy="393049"/>
          </a:xfrm>
          <a:prstGeom prst="rect">
            <a:avLst/>
          </a:prstGeom>
          <a:noFill/>
          <a:extLst>
            <a:ext uri="{909E8E84-426E-40DD-AFC4-6F175D3DCCD1}">
              <a14:hiddenFill xmlns:a14="http://schemas.microsoft.com/office/drawing/2010/main">
                <a:solidFill>
                  <a:srgbClr val="FFFFFF"/>
                </a:solidFill>
              </a14:hiddenFill>
            </a:ext>
          </a:extLst>
        </p:spPr>
      </p:pic>
      <p:sp>
        <p:nvSpPr>
          <p:cNvPr id="25" name="Text Box 11">
            <a:extLst>
              <a:ext uri="{FF2B5EF4-FFF2-40B4-BE49-F238E27FC236}">
                <a16:creationId xmlns:a16="http://schemas.microsoft.com/office/drawing/2014/main" id="{E4CE30FE-3BD7-B58D-7814-565510D50B4B}"/>
              </a:ext>
            </a:extLst>
          </p:cNvPr>
          <p:cNvSpPr txBox="1">
            <a:spLocks noChangeArrowheads="1"/>
          </p:cNvSpPr>
          <p:nvPr/>
        </p:nvSpPr>
        <p:spPr bwMode="auto">
          <a:xfrm flipH="1">
            <a:off x="2059905" y="3873431"/>
            <a:ext cx="638316"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Client</a:t>
            </a:r>
          </a:p>
        </p:txBody>
      </p:sp>
      <p:sp>
        <p:nvSpPr>
          <p:cNvPr id="26" name="Text Box 11">
            <a:extLst>
              <a:ext uri="{FF2B5EF4-FFF2-40B4-BE49-F238E27FC236}">
                <a16:creationId xmlns:a16="http://schemas.microsoft.com/office/drawing/2014/main" id="{F4D77A70-2972-96B0-6224-E2B8C4F29559}"/>
              </a:ext>
            </a:extLst>
          </p:cNvPr>
          <p:cNvSpPr txBox="1">
            <a:spLocks noChangeArrowheads="1"/>
          </p:cNvSpPr>
          <p:nvPr/>
        </p:nvSpPr>
        <p:spPr bwMode="auto">
          <a:xfrm flipH="1">
            <a:off x="6061780" y="3873431"/>
            <a:ext cx="1007007"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FTP Server</a:t>
            </a:r>
          </a:p>
        </p:txBody>
      </p:sp>
      <p:sp>
        <p:nvSpPr>
          <p:cNvPr id="27" name="Text Box 11">
            <a:extLst>
              <a:ext uri="{FF2B5EF4-FFF2-40B4-BE49-F238E27FC236}">
                <a16:creationId xmlns:a16="http://schemas.microsoft.com/office/drawing/2014/main" id="{EC23EBC5-65FD-E6C3-423E-C5D8BDBD243B}"/>
              </a:ext>
            </a:extLst>
          </p:cNvPr>
          <p:cNvSpPr txBox="1">
            <a:spLocks noChangeArrowheads="1"/>
          </p:cNvSpPr>
          <p:nvPr/>
        </p:nvSpPr>
        <p:spPr bwMode="auto">
          <a:xfrm flipH="1">
            <a:off x="3548143" y="3310601"/>
            <a:ext cx="1696298"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Control Connection</a:t>
            </a:r>
          </a:p>
        </p:txBody>
      </p:sp>
      <p:sp>
        <p:nvSpPr>
          <p:cNvPr id="28" name="Text Box 11">
            <a:extLst>
              <a:ext uri="{FF2B5EF4-FFF2-40B4-BE49-F238E27FC236}">
                <a16:creationId xmlns:a16="http://schemas.microsoft.com/office/drawing/2014/main" id="{DFDCF5A9-F56D-F230-E0CE-29991C7E7BBC}"/>
              </a:ext>
            </a:extLst>
          </p:cNvPr>
          <p:cNvSpPr txBox="1">
            <a:spLocks noChangeArrowheads="1"/>
          </p:cNvSpPr>
          <p:nvPr/>
        </p:nvSpPr>
        <p:spPr bwMode="auto">
          <a:xfrm flipH="1">
            <a:off x="3648331" y="3799406"/>
            <a:ext cx="1495922"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Data Connection</a:t>
            </a:r>
          </a:p>
        </p:txBody>
      </p:sp>
      <p:sp>
        <p:nvSpPr>
          <p:cNvPr id="29" name="椭圆 28">
            <a:extLst>
              <a:ext uri="{FF2B5EF4-FFF2-40B4-BE49-F238E27FC236}">
                <a16:creationId xmlns:a16="http://schemas.microsoft.com/office/drawing/2014/main" id="{C5ED2E5F-90B8-F870-B116-516861BCD684}"/>
              </a:ext>
            </a:extLst>
          </p:cNvPr>
          <p:cNvSpPr/>
          <p:nvPr/>
        </p:nvSpPr>
        <p:spPr>
          <a:xfrm>
            <a:off x="5823014" y="3468303"/>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椭圆 29">
            <a:extLst>
              <a:ext uri="{FF2B5EF4-FFF2-40B4-BE49-F238E27FC236}">
                <a16:creationId xmlns:a16="http://schemas.microsoft.com/office/drawing/2014/main" id="{50035519-6057-60DE-5C62-1AAAD44F0AE4}"/>
              </a:ext>
            </a:extLst>
          </p:cNvPr>
          <p:cNvSpPr/>
          <p:nvPr/>
        </p:nvSpPr>
        <p:spPr>
          <a:xfrm>
            <a:off x="5823014" y="3703081"/>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Text Box 11">
            <a:extLst>
              <a:ext uri="{FF2B5EF4-FFF2-40B4-BE49-F238E27FC236}">
                <a16:creationId xmlns:a16="http://schemas.microsoft.com/office/drawing/2014/main" id="{648DBA89-89D9-AFA0-34DA-198C32A3FB9A}"/>
              </a:ext>
            </a:extLst>
          </p:cNvPr>
          <p:cNvSpPr txBox="1">
            <a:spLocks noChangeArrowheads="1"/>
          </p:cNvSpPr>
          <p:nvPr/>
        </p:nvSpPr>
        <p:spPr bwMode="auto">
          <a:xfrm flipH="1">
            <a:off x="5744271" y="3265685"/>
            <a:ext cx="328937"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21</a:t>
            </a:r>
          </a:p>
        </p:txBody>
      </p:sp>
      <p:sp>
        <p:nvSpPr>
          <p:cNvPr id="32" name="Text Box 11">
            <a:extLst>
              <a:ext uri="{FF2B5EF4-FFF2-40B4-BE49-F238E27FC236}">
                <a16:creationId xmlns:a16="http://schemas.microsoft.com/office/drawing/2014/main" id="{592C6557-511B-6138-4C15-BACCAD4CC479}"/>
              </a:ext>
            </a:extLst>
          </p:cNvPr>
          <p:cNvSpPr txBox="1">
            <a:spLocks noChangeArrowheads="1"/>
          </p:cNvSpPr>
          <p:nvPr/>
        </p:nvSpPr>
        <p:spPr bwMode="auto">
          <a:xfrm flipH="1">
            <a:off x="5606413" y="3873310"/>
            <a:ext cx="604654"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51230</a:t>
            </a:r>
          </a:p>
        </p:txBody>
      </p:sp>
      <p:sp>
        <p:nvSpPr>
          <p:cNvPr id="33" name="椭圆 32">
            <a:extLst>
              <a:ext uri="{FF2B5EF4-FFF2-40B4-BE49-F238E27FC236}">
                <a16:creationId xmlns:a16="http://schemas.microsoft.com/office/drawing/2014/main" id="{5C5A2D0B-4CD7-E73D-4D6E-D83C7E8FB2C7}"/>
              </a:ext>
            </a:extLst>
          </p:cNvPr>
          <p:cNvSpPr/>
          <p:nvPr/>
        </p:nvSpPr>
        <p:spPr>
          <a:xfrm>
            <a:off x="2794918" y="3468303"/>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Text Box 11">
            <a:extLst>
              <a:ext uri="{FF2B5EF4-FFF2-40B4-BE49-F238E27FC236}">
                <a16:creationId xmlns:a16="http://schemas.microsoft.com/office/drawing/2014/main" id="{A76890BC-F282-6CB8-DAB1-1BDA99E731EB}"/>
              </a:ext>
            </a:extLst>
          </p:cNvPr>
          <p:cNvSpPr txBox="1">
            <a:spLocks noChangeArrowheads="1"/>
          </p:cNvSpPr>
          <p:nvPr/>
        </p:nvSpPr>
        <p:spPr bwMode="auto">
          <a:xfrm flipH="1">
            <a:off x="2568482" y="3265685"/>
            <a:ext cx="603050"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54321</a:t>
            </a:r>
          </a:p>
        </p:txBody>
      </p:sp>
      <p:sp>
        <p:nvSpPr>
          <p:cNvPr id="35" name="椭圆 34">
            <a:extLst>
              <a:ext uri="{FF2B5EF4-FFF2-40B4-BE49-F238E27FC236}">
                <a16:creationId xmlns:a16="http://schemas.microsoft.com/office/drawing/2014/main" id="{3263EFA6-BC11-1DC8-2D74-B4A0F3F7A239}"/>
              </a:ext>
            </a:extLst>
          </p:cNvPr>
          <p:cNvSpPr/>
          <p:nvPr/>
        </p:nvSpPr>
        <p:spPr>
          <a:xfrm>
            <a:off x="2784281" y="3697911"/>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6" name="Text Box 11">
            <a:extLst>
              <a:ext uri="{FF2B5EF4-FFF2-40B4-BE49-F238E27FC236}">
                <a16:creationId xmlns:a16="http://schemas.microsoft.com/office/drawing/2014/main" id="{C2BE1A4D-0F60-4F3A-E249-4F1E6570431F}"/>
              </a:ext>
            </a:extLst>
          </p:cNvPr>
          <p:cNvSpPr txBox="1">
            <a:spLocks noChangeArrowheads="1"/>
          </p:cNvSpPr>
          <p:nvPr/>
        </p:nvSpPr>
        <p:spPr bwMode="auto">
          <a:xfrm flipH="1">
            <a:off x="2550048" y="3873310"/>
            <a:ext cx="639919"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65432</a:t>
            </a:r>
          </a:p>
        </p:txBody>
      </p:sp>
      <p:sp>
        <p:nvSpPr>
          <p:cNvPr id="37" name="Text Box 11">
            <a:extLst>
              <a:ext uri="{FF2B5EF4-FFF2-40B4-BE49-F238E27FC236}">
                <a16:creationId xmlns:a16="http://schemas.microsoft.com/office/drawing/2014/main" id="{62A54078-CF37-EBC7-5A93-3E0B9697FBF5}"/>
              </a:ext>
            </a:extLst>
          </p:cNvPr>
          <p:cNvSpPr txBox="1">
            <a:spLocks noChangeArrowheads="1"/>
          </p:cNvSpPr>
          <p:nvPr/>
        </p:nvSpPr>
        <p:spPr bwMode="auto">
          <a:xfrm flipH="1">
            <a:off x="3778303" y="2821796"/>
            <a:ext cx="1250663"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b="1" dirty="0">
                <a:latin typeface="Montserrat" panose="00000500000000000000" pitchFamily="2" charset="0"/>
                <a:ea typeface="微软雅黑 Light" panose="020B0502040204020203" pitchFamily="34" charset="-122"/>
              </a:rPr>
              <a:t>Passive Mode</a:t>
            </a:r>
          </a:p>
        </p:txBody>
      </p:sp>
      <p:sp>
        <p:nvSpPr>
          <p:cNvPr id="2" name="标题 1">
            <a:extLst>
              <a:ext uri="{FF2B5EF4-FFF2-40B4-BE49-F238E27FC236}">
                <a16:creationId xmlns:a16="http://schemas.microsoft.com/office/drawing/2014/main" id="{15BA39A2-ACF4-0FC8-78A9-7D309146713F}"/>
              </a:ext>
            </a:extLst>
          </p:cNvPr>
          <p:cNvSpPr>
            <a:spLocks noGrp="1"/>
          </p:cNvSpPr>
          <p:nvPr>
            <p:ph type="title"/>
          </p:nvPr>
        </p:nvSpPr>
        <p:spPr>
          <a:xfrm>
            <a:off x="485999" y="174482"/>
            <a:ext cx="8171999" cy="338554"/>
          </a:xfrm>
        </p:spPr>
        <p:txBody>
          <a:bodyPr/>
          <a:lstStyle/>
          <a:p>
            <a:r>
              <a:rPr lang="en-US" altLang="zh-CN" dirty="0"/>
              <a:t>6.2.2  FTP </a:t>
            </a:r>
            <a:r>
              <a:rPr lang="zh-CN" altLang="en-US" dirty="0"/>
              <a:t>的基本工作原理</a:t>
            </a:r>
          </a:p>
        </p:txBody>
      </p:sp>
    </p:spTree>
    <p:extLst>
      <p:ext uri="{BB962C8B-B14F-4D97-AF65-F5344CB8AC3E}">
        <p14:creationId xmlns:p14="http://schemas.microsoft.com/office/powerpoint/2010/main" val="19067261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6C00268-9D4A-77D0-E90D-8D8EEF54B222}"/>
              </a:ext>
            </a:extLst>
          </p:cNvPr>
          <p:cNvSpPr>
            <a:spLocks noGrp="1"/>
          </p:cNvSpPr>
          <p:nvPr>
            <p:ph type="title"/>
          </p:nvPr>
        </p:nvSpPr>
        <p:spPr>
          <a:xfrm>
            <a:off x="485999" y="174482"/>
            <a:ext cx="8171999" cy="338554"/>
          </a:xfrm>
        </p:spPr>
        <p:txBody>
          <a:bodyPr/>
          <a:lstStyle/>
          <a:p>
            <a:r>
              <a:rPr lang="en-US" altLang="zh-CN" dirty="0"/>
              <a:t>FTP </a:t>
            </a:r>
            <a:r>
              <a:rPr lang="zh-CN" altLang="en-US" dirty="0"/>
              <a:t>特点</a:t>
            </a:r>
          </a:p>
        </p:txBody>
      </p:sp>
      <p:sp>
        <p:nvSpPr>
          <p:cNvPr id="3" name="内容占位符 2">
            <a:extLst>
              <a:ext uri="{FF2B5EF4-FFF2-40B4-BE49-F238E27FC236}">
                <a16:creationId xmlns:a16="http://schemas.microsoft.com/office/drawing/2014/main" id="{172C3FCC-5588-326D-3B43-E7B33769402D}"/>
              </a:ext>
            </a:extLst>
          </p:cNvPr>
          <p:cNvSpPr>
            <a:spLocks noGrp="1"/>
          </p:cNvSpPr>
          <p:nvPr>
            <p:ph sz="quarter" idx="11"/>
          </p:nvPr>
        </p:nvSpPr>
        <p:spPr>
          <a:xfrm>
            <a:off x="486000" y="687518"/>
            <a:ext cx="8172000" cy="4079035"/>
          </a:xfrm>
        </p:spPr>
        <p:txBody>
          <a:bodyPr/>
          <a:lstStyle/>
          <a:p>
            <a:r>
              <a:rPr lang="zh-CN" altLang="en-US" dirty="0"/>
              <a:t>只提供文件传送的一些基本服务，使用 </a:t>
            </a:r>
            <a:r>
              <a:rPr lang="en-US" altLang="zh-CN" dirty="0"/>
              <a:t>TCP </a:t>
            </a:r>
            <a:r>
              <a:rPr lang="zh-CN" altLang="en-US" dirty="0"/>
              <a:t>可靠的运输服务</a:t>
            </a:r>
          </a:p>
          <a:p>
            <a:r>
              <a:rPr lang="zh-CN" altLang="en-US" dirty="0"/>
              <a:t>主要功能：减少或消除在不同操作系统下处理文件的不兼容性</a:t>
            </a:r>
          </a:p>
          <a:p>
            <a:r>
              <a:rPr lang="zh-CN" altLang="en-US" dirty="0"/>
              <a:t>使用客户服务器方式</a:t>
            </a:r>
            <a:endParaRPr lang="en-US" altLang="zh-CN" dirty="0"/>
          </a:p>
          <a:p>
            <a:pPr lvl="1"/>
            <a:r>
              <a:rPr lang="zh-CN" altLang="en-US" dirty="0"/>
              <a:t>一个 </a:t>
            </a:r>
            <a:r>
              <a:rPr lang="en-US" altLang="zh-CN" dirty="0"/>
              <a:t>FTP </a:t>
            </a:r>
            <a:r>
              <a:rPr lang="zh-CN" altLang="en-US" dirty="0"/>
              <a:t>服务器进程可同时为多个客户进程提供服务</a:t>
            </a:r>
            <a:endParaRPr lang="en-US" altLang="zh-CN" dirty="0"/>
          </a:p>
          <a:p>
            <a:pPr lvl="1"/>
            <a:r>
              <a:rPr lang="en-US" altLang="zh-CN" dirty="0"/>
              <a:t>FTP </a:t>
            </a:r>
            <a:r>
              <a:rPr lang="zh-CN" altLang="en-US" dirty="0"/>
              <a:t>的服务器进程由两大部分组成：</a:t>
            </a:r>
            <a:endParaRPr lang="en-US" altLang="zh-CN" dirty="0"/>
          </a:p>
          <a:p>
            <a:pPr lvl="2"/>
            <a:r>
              <a:rPr lang="zh-CN" altLang="en-US" dirty="0"/>
              <a:t>一个主进程，负责接受新的请求</a:t>
            </a:r>
            <a:endParaRPr lang="en-US" altLang="zh-CN" dirty="0"/>
          </a:p>
          <a:p>
            <a:pPr lvl="2"/>
            <a:r>
              <a:rPr lang="zh-CN" altLang="en-US" dirty="0"/>
              <a:t>若干个从属进程，负责处理单个请求</a:t>
            </a:r>
          </a:p>
          <a:p>
            <a:endParaRPr lang="zh-CN" altLang="en-US" dirty="0"/>
          </a:p>
        </p:txBody>
      </p:sp>
    </p:spTree>
    <p:extLst>
      <p:ext uri="{BB962C8B-B14F-4D97-AF65-F5344CB8AC3E}">
        <p14:creationId xmlns:p14="http://schemas.microsoft.com/office/powerpoint/2010/main" val="37887187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53A1AC6-F871-B80E-CDED-1BC0D1052EB8}"/>
              </a:ext>
            </a:extLst>
          </p:cNvPr>
          <p:cNvSpPr>
            <a:spLocks noGrp="1"/>
          </p:cNvSpPr>
          <p:nvPr>
            <p:ph type="title"/>
          </p:nvPr>
        </p:nvSpPr>
        <p:spPr>
          <a:xfrm>
            <a:off x="485999" y="174482"/>
            <a:ext cx="8171999" cy="338554"/>
          </a:xfrm>
        </p:spPr>
        <p:txBody>
          <a:bodyPr/>
          <a:lstStyle/>
          <a:p>
            <a:r>
              <a:rPr lang="en-US" altLang="zh-CN" dirty="0"/>
              <a:t>FTP </a:t>
            </a:r>
            <a:r>
              <a:rPr lang="zh-CN" altLang="en-US" dirty="0"/>
              <a:t>主进程的工作步骤</a:t>
            </a:r>
          </a:p>
        </p:txBody>
      </p:sp>
      <p:sp>
        <p:nvSpPr>
          <p:cNvPr id="3" name="内容占位符 2">
            <a:extLst>
              <a:ext uri="{FF2B5EF4-FFF2-40B4-BE49-F238E27FC236}">
                <a16:creationId xmlns:a16="http://schemas.microsoft.com/office/drawing/2014/main" id="{882F2773-5B09-9AC5-C6B0-71208D5F1843}"/>
              </a:ext>
            </a:extLst>
          </p:cNvPr>
          <p:cNvSpPr>
            <a:spLocks noGrp="1"/>
          </p:cNvSpPr>
          <p:nvPr>
            <p:ph sz="quarter" idx="11"/>
          </p:nvPr>
        </p:nvSpPr>
        <p:spPr>
          <a:xfrm>
            <a:off x="486000" y="687518"/>
            <a:ext cx="8172000" cy="4079035"/>
          </a:xfrm>
        </p:spPr>
        <p:txBody>
          <a:bodyPr/>
          <a:lstStyle/>
          <a:p>
            <a:r>
              <a:rPr lang="zh-CN" altLang="en-US" dirty="0"/>
              <a:t>打开熟知端口（端口号为 </a:t>
            </a:r>
            <a:r>
              <a:rPr lang="en-US" altLang="zh-CN" dirty="0"/>
              <a:t>21</a:t>
            </a:r>
            <a:r>
              <a:rPr lang="zh-CN" altLang="en-US" dirty="0"/>
              <a:t>），使客户进程能够连接上</a:t>
            </a:r>
          </a:p>
          <a:p>
            <a:r>
              <a:rPr lang="zh-CN" altLang="en-US" dirty="0"/>
              <a:t>等待客户进程发出连接请求</a:t>
            </a:r>
          </a:p>
          <a:p>
            <a:r>
              <a:rPr lang="zh-CN" altLang="en-US" dirty="0"/>
              <a:t>启动从属进程来处理客户进程发来的请求</a:t>
            </a:r>
            <a:endParaRPr lang="en-US" altLang="zh-CN" dirty="0"/>
          </a:p>
          <a:p>
            <a:pPr lvl="1"/>
            <a:r>
              <a:rPr lang="zh-CN" altLang="en-US" dirty="0"/>
              <a:t>从属进程对客户进程的请求处理完毕后即终止</a:t>
            </a:r>
            <a:endParaRPr lang="en-US" altLang="zh-CN" dirty="0"/>
          </a:p>
          <a:p>
            <a:pPr lvl="1"/>
            <a:r>
              <a:rPr lang="zh-CN" altLang="en-US" dirty="0"/>
              <a:t>但从属进程在运行期间根据需要还可能创建其他一些子进程</a:t>
            </a:r>
          </a:p>
          <a:p>
            <a:r>
              <a:rPr lang="zh-CN" altLang="en-US" dirty="0"/>
              <a:t>回到等待状态，继续接受其他客户进程发来的请求</a:t>
            </a:r>
            <a:endParaRPr lang="en-US" altLang="zh-CN" dirty="0"/>
          </a:p>
          <a:p>
            <a:r>
              <a:rPr lang="zh-CN" altLang="en-US" dirty="0"/>
              <a:t>主进程与从属进程并发进行处理</a:t>
            </a:r>
          </a:p>
          <a:p>
            <a:endParaRPr lang="zh-CN" altLang="en-US" dirty="0"/>
          </a:p>
        </p:txBody>
      </p:sp>
    </p:spTree>
    <p:extLst>
      <p:ext uri="{BB962C8B-B14F-4D97-AF65-F5344CB8AC3E}">
        <p14:creationId xmlns:p14="http://schemas.microsoft.com/office/powerpoint/2010/main" val="38255378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849135" y="1522581"/>
            <a:ext cx="7488921" cy="2442794"/>
            <a:chOff x="317184" y="1916832"/>
            <a:chExt cx="9388344" cy="3062362"/>
          </a:xfrm>
        </p:grpSpPr>
        <p:sp>
          <p:nvSpPr>
            <p:cNvPr id="60" name="Rectangle 82"/>
            <p:cNvSpPr>
              <a:spLocks noChangeArrowheads="1"/>
            </p:cNvSpPr>
            <p:nvPr/>
          </p:nvSpPr>
          <p:spPr bwMode="auto">
            <a:xfrm>
              <a:off x="6971059" y="2566118"/>
              <a:ext cx="1640681" cy="1760538"/>
            </a:xfrm>
            <a:prstGeom prst="rect">
              <a:avLst/>
            </a:prstGeom>
            <a:solidFill>
              <a:srgbClr val="0000FF"/>
            </a:solidFill>
            <a:ln w="9525" algn="ctr">
              <a:noFill/>
              <a:prstDash val="sysDot"/>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1" name="Oval 83"/>
            <p:cNvSpPr>
              <a:spLocks noChangeArrowheads="1"/>
            </p:cNvSpPr>
            <p:nvPr/>
          </p:nvSpPr>
          <p:spPr bwMode="auto">
            <a:xfrm>
              <a:off x="7062207" y="2750269"/>
              <a:ext cx="1367235" cy="557213"/>
            </a:xfrm>
            <a:prstGeom prst="ellipse">
              <a:avLst/>
            </a:prstGeom>
            <a:solidFill>
              <a:srgbClr val="99FFCC"/>
            </a:solidFill>
            <a:ln w="9525" algn="ctr">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控制进程</a:t>
              </a:r>
            </a:p>
          </p:txBody>
        </p:sp>
        <p:grpSp>
          <p:nvGrpSpPr>
            <p:cNvPr id="62" name="Group 84"/>
            <p:cNvGrpSpPr>
              <a:grpSpLocks/>
            </p:cNvGrpSpPr>
            <p:nvPr/>
          </p:nvGrpSpPr>
          <p:grpSpPr bwMode="auto">
            <a:xfrm>
              <a:off x="317184" y="2008906"/>
              <a:ext cx="820341" cy="1204912"/>
              <a:chOff x="480" y="1395"/>
              <a:chExt cx="511" cy="728"/>
            </a:xfrm>
          </p:grpSpPr>
          <p:grpSp>
            <p:nvGrpSpPr>
              <p:cNvPr id="63" name="Group 85"/>
              <p:cNvGrpSpPr>
                <a:grpSpLocks/>
              </p:cNvGrpSpPr>
              <p:nvPr/>
            </p:nvGrpSpPr>
            <p:grpSpPr bwMode="auto">
              <a:xfrm>
                <a:off x="717" y="1446"/>
                <a:ext cx="274" cy="237"/>
                <a:chOff x="717" y="1446"/>
                <a:chExt cx="274" cy="237"/>
              </a:xfrm>
            </p:grpSpPr>
            <p:sp>
              <p:nvSpPr>
                <p:cNvPr id="88" name="Arc 86"/>
                <p:cNvSpPr>
                  <a:spLocks/>
                </p:cNvSpPr>
                <p:nvPr/>
              </p:nvSpPr>
              <p:spPr bwMode="auto">
                <a:xfrm>
                  <a:off x="930" y="1618"/>
                  <a:ext cx="58" cy="39"/>
                </a:xfrm>
                <a:custGeom>
                  <a:avLst/>
                  <a:gdLst>
                    <a:gd name="T0" fmla="*/ 0 w 38273"/>
                    <a:gd name="T1" fmla="*/ 0 h 35142"/>
                    <a:gd name="T2" fmla="*/ 0 w 38273"/>
                    <a:gd name="T3" fmla="*/ 0 h 35142"/>
                    <a:gd name="T4" fmla="*/ 0 w 38273"/>
                    <a:gd name="T5" fmla="*/ 0 h 35142"/>
                    <a:gd name="T6" fmla="*/ 0 60000 65536"/>
                    <a:gd name="T7" fmla="*/ 0 60000 65536"/>
                    <a:gd name="T8" fmla="*/ 0 60000 65536"/>
                  </a:gdLst>
                  <a:ahLst/>
                  <a:cxnLst>
                    <a:cxn ang="T6">
                      <a:pos x="T0" y="T1"/>
                    </a:cxn>
                    <a:cxn ang="T7">
                      <a:pos x="T2" y="T3"/>
                    </a:cxn>
                    <a:cxn ang="T8">
                      <a:pos x="T4" y="T5"/>
                    </a:cxn>
                  </a:cxnLst>
                  <a:rect l="0" t="0" r="r" b="b"/>
                  <a:pathLst>
                    <a:path w="38273" h="35142" fill="none" extrusionOk="0">
                      <a:moveTo>
                        <a:pt x="-1" y="7867"/>
                      </a:moveTo>
                      <a:cubicBezTo>
                        <a:pt x="4103" y="2886"/>
                        <a:pt x="10218" y="-1"/>
                        <a:pt x="16673" y="0"/>
                      </a:cubicBezTo>
                      <a:cubicBezTo>
                        <a:pt x="28602" y="0"/>
                        <a:pt x="38273" y="9670"/>
                        <a:pt x="38273" y="21600"/>
                      </a:cubicBezTo>
                      <a:cubicBezTo>
                        <a:pt x="38273" y="26526"/>
                        <a:pt x="36589" y="31304"/>
                        <a:pt x="33500" y="35141"/>
                      </a:cubicBezTo>
                    </a:path>
                    <a:path w="38273" h="35142" stroke="0" extrusionOk="0">
                      <a:moveTo>
                        <a:pt x="-1" y="7867"/>
                      </a:moveTo>
                      <a:cubicBezTo>
                        <a:pt x="4103" y="2886"/>
                        <a:pt x="10218" y="-1"/>
                        <a:pt x="16673" y="0"/>
                      </a:cubicBezTo>
                      <a:cubicBezTo>
                        <a:pt x="28602" y="0"/>
                        <a:pt x="38273" y="9670"/>
                        <a:pt x="38273" y="21600"/>
                      </a:cubicBezTo>
                      <a:cubicBezTo>
                        <a:pt x="38273" y="26526"/>
                        <a:pt x="36589" y="31304"/>
                        <a:pt x="33500" y="35141"/>
                      </a:cubicBezTo>
                      <a:lnTo>
                        <a:pt x="16673" y="21600"/>
                      </a:lnTo>
                      <a:lnTo>
                        <a:pt x="-1" y="7867"/>
                      </a:lnTo>
                      <a:close/>
                    </a:path>
                  </a:pathLst>
                </a:custGeom>
                <a:noFill/>
                <a:ln w="4763">
                  <a:solidFill>
                    <a:srgbClr val="494936"/>
                  </a:solidFill>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9" name="Arc 87"/>
                <p:cNvSpPr>
                  <a:spLocks/>
                </p:cNvSpPr>
                <p:nvPr/>
              </p:nvSpPr>
              <p:spPr bwMode="auto">
                <a:xfrm>
                  <a:off x="929" y="1618"/>
                  <a:ext cx="55" cy="36"/>
                </a:xfrm>
                <a:custGeom>
                  <a:avLst/>
                  <a:gdLst>
                    <a:gd name="T0" fmla="*/ 0 w 38146"/>
                    <a:gd name="T1" fmla="*/ 0 h 34928"/>
                    <a:gd name="T2" fmla="*/ 0 w 38146"/>
                    <a:gd name="T3" fmla="*/ 0 h 34928"/>
                    <a:gd name="T4" fmla="*/ 0 w 38146"/>
                    <a:gd name="T5" fmla="*/ 0 h 34928"/>
                    <a:gd name="T6" fmla="*/ 0 60000 65536"/>
                    <a:gd name="T7" fmla="*/ 0 60000 65536"/>
                    <a:gd name="T8" fmla="*/ 0 60000 65536"/>
                  </a:gdLst>
                  <a:ahLst/>
                  <a:cxnLst>
                    <a:cxn ang="T6">
                      <a:pos x="T0" y="T1"/>
                    </a:cxn>
                    <a:cxn ang="T7">
                      <a:pos x="T2" y="T3"/>
                    </a:cxn>
                    <a:cxn ang="T8">
                      <a:pos x="T4" y="T5"/>
                    </a:cxn>
                  </a:cxnLst>
                  <a:rect l="0" t="0" r="r" b="b"/>
                  <a:pathLst>
                    <a:path w="38146" h="34928" fill="none" extrusionOk="0">
                      <a:moveTo>
                        <a:pt x="0" y="7715"/>
                      </a:moveTo>
                      <a:cubicBezTo>
                        <a:pt x="4104" y="2824"/>
                        <a:pt x="10161" y="-1"/>
                        <a:pt x="16546" y="0"/>
                      </a:cubicBezTo>
                      <a:cubicBezTo>
                        <a:pt x="28475" y="0"/>
                        <a:pt x="38146" y="9670"/>
                        <a:pt x="38146" y="21600"/>
                      </a:cubicBezTo>
                      <a:cubicBezTo>
                        <a:pt x="38146" y="26432"/>
                        <a:pt x="36525" y="31125"/>
                        <a:pt x="33543" y="34927"/>
                      </a:cubicBezTo>
                    </a:path>
                    <a:path w="38146" h="34928" stroke="0" extrusionOk="0">
                      <a:moveTo>
                        <a:pt x="0" y="7715"/>
                      </a:moveTo>
                      <a:cubicBezTo>
                        <a:pt x="4104" y="2824"/>
                        <a:pt x="10161" y="-1"/>
                        <a:pt x="16546" y="0"/>
                      </a:cubicBezTo>
                      <a:cubicBezTo>
                        <a:pt x="28475" y="0"/>
                        <a:pt x="38146" y="9670"/>
                        <a:pt x="38146" y="21600"/>
                      </a:cubicBezTo>
                      <a:cubicBezTo>
                        <a:pt x="38146" y="26432"/>
                        <a:pt x="36525" y="31125"/>
                        <a:pt x="33543" y="34927"/>
                      </a:cubicBezTo>
                      <a:lnTo>
                        <a:pt x="16546" y="21600"/>
                      </a:lnTo>
                      <a:lnTo>
                        <a:pt x="0" y="7715"/>
                      </a:lnTo>
                      <a:close/>
                    </a:path>
                  </a:pathLst>
                </a:custGeom>
                <a:noFill/>
                <a:ln w="4763">
                  <a:solidFill>
                    <a:srgbClr val="DBDBCE"/>
                  </a:solidFill>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0" name="Freeform 88"/>
                <p:cNvSpPr>
                  <a:spLocks/>
                </p:cNvSpPr>
                <p:nvPr/>
              </p:nvSpPr>
              <p:spPr bwMode="auto">
                <a:xfrm>
                  <a:off x="751" y="1591"/>
                  <a:ext cx="205" cy="26"/>
                </a:xfrm>
                <a:custGeom>
                  <a:avLst/>
                  <a:gdLst>
                    <a:gd name="T0" fmla="*/ 0 w 205"/>
                    <a:gd name="T1" fmla="*/ 26 h 26"/>
                    <a:gd name="T2" fmla="*/ 25 w 205"/>
                    <a:gd name="T3" fmla="*/ 0 h 26"/>
                    <a:gd name="T4" fmla="*/ 205 w 205"/>
                    <a:gd name="T5" fmla="*/ 0 h 26"/>
                    <a:gd name="T6" fmla="*/ 180 w 205"/>
                    <a:gd name="T7" fmla="*/ 26 h 26"/>
                    <a:gd name="T8" fmla="*/ 0 w 205"/>
                    <a:gd name="T9" fmla="*/ 26 h 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5" h="26">
                      <a:moveTo>
                        <a:pt x="0" y="26"/>
                      </a:moveTo>
                      <a:lnTo>
                        <a:pt x="25" y="0"/>
                      </a:lnTo>
                      <a:lnTo>
                        <a:pt x="205" y="0"/>
                      </a:lnTo>
                      <a:lnTo>
                        <a:pt x="180" y="26"/>
                      </a:lnTo>
                      <a:lnTo>
                        <a:pt x="0" y="26"/>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1" name="Freeform 89"/>
                <p:cNvSpPr>
                  <a:spLocks/>
                </p:cNvSpPr>
                <p:nvPr/>
              </p:nvSpPr>
              <p:spPr bwMode="auto">
                <a:xfrm>
                  <a:off x="751" y="1591"/>
                  <a:ext cx="205" cy="26"/>
                </a:xfrm>
                <a:custGeom>
                  <a:avLst/>
                  <a:gdLst>
                    <a:gd name="T0" fmla="*/ 0 w 205"/>
                    <a:gd name="T1" fmla="*/ 26 h 26"/>
                    <a:gd name="T2" fmla="*/ 25 w 205"/>
                    <a:gd name="T3" fmla="*/ 0 h 26"/>
                    <a:gd name="T4" fmla="*/ 205 w 205"/>
                    <a:gd name="T5" fmla="*/ 0 h 26"/>
                    <a:gd name="T6" fmla="*/ 180 w 205"/>
                    <a:gd name="T7" fmla="*/ 26 h 26"/>
                    <a:gd name="T8" fmla="*/ 0 w 205"/>
                    <a:gd name="T9" fmla="*/ 26 h 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5" h="26">
                      <a:moveTo>
                        <a:pt x="0" y="26"/>
                      </a:moveTo>
                      <a:lnTo>
                        <a:pt x="25" y="0"/>
                      </a:lnTo>
                      <a:lnTo>
                        <a:pt x="205" y="0"/>
                      </a:lnTo>
                      <a:lnTo>
                        <a:pt x="180" y="26"/>
                      </a:lnTo>
                      <a:lnTo>
                        <a:pt x="0" y="26"/>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2" name="Rectangle 90"/>
                <p:cNvSpPr>
                  <a:spLocks noChangeArrowheads="1"/>
                </p:cNvSpPr>
                <p:nvPr/>
              </p:nvSpPr>
              <p:spPr bwMode="auto">
                <a:xfrm>
                  <a:off x="751" y="1617"/>
                  <a:ext cx="180" cy="31"/>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3" name="Rectangle 91"/>
                <p:cNvSpPr>
                  <a:spLocks noChangeArrowheads="1"/>
                </p:cNvSpPr>
                <p:nvPr/>
              </p:nvSpPr>
              <p:spPr bwMode="auto">
                <a:xfrm>
                  <a:off x="752" y="1618"/>
                  <a:ext cx="178" cy="29"/>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4" name="Freeform 92"/>
                <p:cNvSpPr>
                  <a:spLocks/>
                </p:cNvSpPr>
                <p:nvPr/>
              </p:nvSpPr>
              <p:spPr bwMode="auto">
                <a:xfrm>
                  <a:off x="931" y="1591"/>
                  <a:ext cx="25" cy="57"/>
                </a:xfrm>
                <a:custGeom>
                  <a:avLst/>
                  <a:gdLst>
                    <a:gd name="T0" fmla="*/ 0 w 25"/>
                    <a:gd name="T1" fmla="*/ 57 h 57"/>
                    <a:gd name="T2" fmla="*/ 25 w 25"/>
                    <a:gd name="T3" fmla="*/ 35 h 57"/>
                    <a:gd name="T4" fmla="*/ 25 w 25"/>
                    <a:gd name="T5" fmla="*/ 0 h 57"/>
                    <a:gd name="T6" fmla="*/ 0 w 25"/>
                    <a:gd name="T7" fmla="*/ 26 h 57"/>
                    <a:gd name="T8" fmla="*/ 0 w 25"/>
                    <a:gd name="T9" fmla="*/ 57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57">
                      <a:moveTo>
                        <a:pt x="0" y="57"/>
                      </a:moveTo>
                      <a:lnTo>
                        <a:pt x="25" y="35"/>
                      </a:lnTo>
                      <a:lnTo>
                        <a:pt x="25" y="0"/>
                      </a:lnTo>
                      <a:lnTo>
                        <a:pt x="0" y="26"/>
                      </a:lnTo>
                      <a:lnTo>
                        <a:pt x="0" y="57"/>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5" name="Freeform 93"/>
                <p:cNvSpPr>
                  <a:spLocks/>
                </p:cNvSpPr>
                <p:nvPr/>
              </p:nvSpPr>
              <p:spPr bwMode="auto">
                <a:xfrm>
                  <a:off x="931" y="1591"/>
                  <a:ext cx="25" cy="57"/>
                </a:xfrm>
                <a:custGeom>
                  <a:avLst/>
                  <a:gdLst>
                    <a:gd name="T0" fmla="*/ 0 w 25"/>
                    <a:gd name="T1" fmla="*/ 57 h 57"/>
                    <a:gd name="T2" fmla="*/ 25 w 25"/>
                    <a:gd name="T3" fmla="*/ 35 h 57"/>
                    <a:gd name="T4" fmla="*/ 25 w 25"/>
                    <a:gd name="T5" fmla="*/ 0 h 57"/>
                    <a:gd name="T6" fmla="*/ 0 w 25"/>
                    <a:gd name="T7" fmla="*/ 26 h 57"/>
                    <a:gd name="T8" fmla="*/ 0 w 25"/>
                    <a:gd name="T9" fmla="*/ 57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57">
                      <a:moveTo>
                        <a:pt x="0" y="57"/>
                      </a:moveTo>
                      <a:lnTo>
                        <a:pt x="25" y="35"/>
                      </a:lnTo>
                      <a:lnTo>
                        <a:pt x="25" y="0"/>
                      </a:lnTo>
                      <a:lnTo>
                        <a:pt x="0" y="26"/>
                      </a:lnTo>
                      <a:lnTo>
                        <a:pt x="0" y="57"/>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6" name="Freeform 94"/>
                <p:cNvSpPr>
                  <a:spLocks/>
                </p:cNvSpPr>
                <p:nvPr/>
              </p:nvSpPr>
              <p:spPr bwMode="auto">
                <a:xfrm>
                  <a:off x="757" y="1591"/>
                  <a:ext cx="196" cy="19"/>
                </a:xfrm>
                <a:custGeom>
                  <a:avLst/>
                  <a:gdLst>
                    <a:gd name="T0" fmla="*/ 0 w 196"/>
                    <a:gd name="T1" fmla="*/ 19 h 19"/>
                    <a:gd name="T2" fmla="*/ 19 w 196"/>
                    <a:gd name="T3" fmla="*/ 0 h 19"/>
                    <a:gd name="T4" fmla="*/ 196 w 196"/>
                    <a:gd name="T5" fmla="*/ 0 h 19"/>
                    <a:gd name="T6" fmla="*/ 177 w 196"/>
                    <a:gd name="T7" fmla="*/ 19 h 19"/>
                    <a:gd name="T8" fmla="*/ 0 w 196"/>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6" h="19">
                      <a:moveTo>
                        <a:pt x="0" y="19"/>
                      </a:moveTo>
                      <a:lnTo>
                        <a:pt x="19" y="0"/>
                      </a:lnTo>
                      <a:lnTo>
                        <a:pt x="196" y="0"/>
                      </a:lnTo>
                      <a:lnTo>
                        <a:pt x="177" y="19"/>
                      </a:lnTo>
                      <a:lnTo>
                        <a:pt x="0"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7" name="Freeform 95"/>
                <p:cNvSpPr>
                  <a:spLocks/>
                </p:cNvSpPr>
                <p:nvPr/>
              </p:nvSpPr>
              <p:spPr bwMode="auto">
                <a:xfrm>
                  <a:off x="757" y="1591"/>
                  <a:ext cx="196" cy="19"/>
                </a:xfrm>
                <a:custGeom>
                  <a:avLst/>
                  <a:gdLst>
                    <a:gd name="T0" fmla="*/ 0 w 196"/>
                    <a:gd name="T1" fmla="*/ 19 h 19"/>
                    <a:gd name="T2" fmla="*/ 19 w 196"/>
                    <a:gd name="T3" fmla="*/ 0 h 19"/>
                    <a:gd name="T4" fmla="*/ 196 w 196"/>
                    <a:gd name="T5" fmla="*/ 0 h 19"/>
                    <a:gd name="T6" fmla="*/ 177 w 196"/>
                    <a:gd name="T7" fmla="*/ 19 h 19"/>
                    <a:gd name="T8" fmla="*/ 0 w 196"/>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6" h="19">
                      <a:moveTo>
                        <a:pt x="0" y="19"/>
                      </a:moveTo>
                      <a:lnTo>
                        <a:pt x="19" y="0"/>
                      </a:lnTo>
                      <a:lnTo>
                        <a:pt x="196" y="0"/>
                      </a:lnTo>
                      <a:lnTo>
                        <a:pt x="177" y="19"/>
                      </a:lnTo>
                      <a:lnTo>
                        <a:pt x="0" y="19"/>
                      </a:lnTo>
                      <a:close/>
                    </a:path>
                  </a:pathLst>
                </a:custGeom>
                <a:solidFill>
                  <a:srgbClr val="00000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8" name="Freeform 96"/>
                <p:cNvSpPr>
                  <a:spLocks/>
                </p:cNvSpPr>
                <p:nvPr/>
              </p:nvSpPr>
              <p:spPr bwMode="auto">
                <a:xfrm>
                  <a:off x="751" y="1446"/>
                  <a:ext cx="202" cy="19"/>
                </a:xfrm>
                <a:custGeom>
                  <a:avLst/>
                  <a:gdLst>
                    <a:gd name="T0" fmla="*/ 0 w 202"/>
                    <a:gd name="T1" fmla="*/ 19 h 19"/>
                    <a:gd name="T2" fmla="*/ 19 w 202"/>
                    <a:gd name="T3" fmla="*/ 0 h 19"/>
                    <a:gd name="T4" fmla="*/ 202 w 202"/>
                    <a:gd name="T5" fmla="*/ 0 h 19"/>
                    <a:gd name="T6" fmla="*/ 180 w 202"/>
                    <a:gd name="T7" fmla="*/ 19 h 19"/>
                    <a:gd name="T8" fmla="*/ 0 w 202"/>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2" h="19">
                      <a:moveTo>
                        <a:pt x="0" y="19"/>
                      </a:moveTo>
                      <a:lnTo>
                        <a:pt x="19" y="0"/>
                      </a:lnTo>
                      <a:lnTo>
                        <a:pt x="202" y="0"/>
                      </a:lnTo>
                      <a:lnTo>
                        <a:pt x="180" y="19"/>
                      </a:lnTo>
                      <a:lnTo>
                        <a:pt x="0" y="19"/>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9" name="Freeform 97"/>
                <p:cNvSpPr>
                  <a:spLocks/>
                </p:cNvSpPr>
                <p:nvPr/>
              </p:nvSpPr>
              <p:spPr bwMode="auto">
                <a:xfrm>
                  <a:off x="751" y="1446"/>
                  <a:ext cx="202" cy="19"/>
                </a:xfrm>
                <a:custGeom>
                  <a:avLst/>
                  <a:gdLst>
                    <a:gd name="T0" fmla="*/ 0 w 202"/>
                    <a:gd name="T1" fmla="*/ 19 h 19"/>
                    <a:gd name="T2" fmla="*/ 19 w 202"/>
                    <a:gd name="T3" fmla="*/ 0 h 19"/>
                    <a:gd name="T4" fmla="*/ 202 w 202"/>
                    <a:gd name="T5" fmla="*/ 0 h 19"/>
                    <a:gd name="T6" fmla="*/ 180 w 202"/>
                    <a:gd name="T7" fmla="*/ 19 h 19"/>
                    <a:gd name="T8" fmla="*/ 0 w 202"/>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2" h="19">
                      <a:moveTo>
                        <a:pt x="0" y="19"/>
                      </a:moveTo>
                      <a:lnTo>
                        <a:pt x="19" y="0"/>
                      </a:lnTo>
                      <a:lnTo>
                        <a:pt x="202" y="0"/>
                      </a:lnTo>
                      <a:lnTo>
                        <a:pt x="180" y="19"/>
                      </a:lnTo>
                      <a:lnTo>
                        <a:pt x="0" y="19"/>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0" name="Rectangle 98"/>
                <p:cNvSpPr>
                  <a:spLocks noChangeArrowheads="1"/>
                </p:cNvSpPr>
                <p:nvPr/>
              </p:nvSpPr>
              <p:spPr bwMode="auto">
                <a:xfrm>
                  <a:off x="752" y="1466"/>
                  <a:ext cx="181" cy="140"/>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1" name="Rectangle 99"/>
                <p:cNvSpPr>
                  <a:spLocks noChangeArrowheads="1"/>
                </p:cNvSpPr>
                <p:nvPr/>
              </p:nvSpPr>
              <p:spPr bwMode="auto">
                <a:xfrm>
                  <a:off x="768" y="1485"/>
                  <a:ext cx="149" cy="108"/>
                </a:xfrm>
                <a:prstGeom prst="rect">
                  <a:avLst/>
                </a:prstGeom>
                <a:solidFill>
                  <a:srgbClr val="FFFFFF"/>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2" name="Freeform 100"/>
                <p:cNvSpPr>
                  <a:spLocks/>
                </p:cNvSpPr>
                <p:nvPr/>
              </p:nvSpPr>
              <p:spPr bwMode="auto">
                <a:xfrm>
                  <a:off x="931" y="1446"/>
                  <a:ext cx="22" cy="161"/>
                </a:xfrm>
                <a:custGeom>
                  <a:avLst/>
                  <a:gdLst>
                    <a:gd name="T0" fmla="*/ 0 w 22"/>
                    <a:gd name="T1" fmla="*/ 161 h 161"/>
                    <a:gd name="T2" fmla="*/ 22 w 22"/>
                    <a:gd name="T3" fmla="*/ 142 h 161"/>
                    <a:gd name="T4" fmla="*/ 22 w 22"/>
                    <a:gd name="T5" fmla="*/ 0 h 161"/>
                    <a:gd name="T6" fmla="*/ 0 w 22"/>
                    <a:gd name="T7" fmla="*/ 19 h 161"/>
                    <a:gd name="T8" fmla="*/ 0 w 22"/>
                    <a:gd name="T9" fmla="*/ 161 h 16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 h="161">
                      <a:moveTo>
                        <a:pt x="0" y="161"/>
                      </a:moveTo>
                      <a:lnTo>
                        <a:pt x="22" y="142"/>
                      </a:lnTo>
                      <a:lnTo>
                        <a:pt x="22" y="0"/>
                      </a:lnTo>
                      <a:lnTo>
                        <a:pt x="0" y="19"/>
                      </a:lnTo>
                      <a:lnTo>
                        <a:pt x="0" y="161"/>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3" name="Freeform 101"/>
                <p:cNvSpPr>
                  <a:spLocks/>
                </p:cNvSpPr>
                <p:nvPr/>
              </p:nvSpPr>
              <p:spPr bwMode="auto">
                <a:xfrm>
                  <a:off x="931" y="1446"/>
                  <a:ext cx="22" cy="161"/>
                </a:xfrm>
                <a:custGeom>
                  <a:avLst/>
                  <a:gdLst>
                    <a:gd name="T0" fmla="*/ 0 w 22"/>
                    <a:gd name="T1" fmla="*/ 161 h 161"/>
                    <a:gd name="T2" fmla="*/ 22 w 22"/>
                    <a:gd name="T3" fmla="*/ 142 h 161"/>
                    <a:gd name="T4" fmla="*/ 22 w 22"/>
                    <a:gd name="T5" fmla="*/ 0 h 161"/>
                    <a:gd name="T6" fmla="*/ 0 w 22"/>
                    <a:gd name="T7" fmla="*/ 19 h 161"/>
                    <a:gd name="T8" fmla="*/ 0 w 22"/>
                    <a:gd name="T9" fmla="*/ 161 h 16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 h="161">
                      <a:moveTo>
                        <a:pt x="0" y="161"/>
                      </a:moveTo>
                      <a:lnTo>
                        <a:pt x="22" y="142"/>
                      </a:lnTo>
                      <a:lnTo>
                        <a:pt x="22" y="0"/>
                      </a:lnTo>
                      <a:lnTo>
                        <a:pt x="0" y="19"/>
                      </a:lnTo>
                      <a:lnTo>
                        <a:pt x="0" y="161"/>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4" name="Freeform 102"/>
                <p:cNvSpPr>
                  <a:spLocks/>
                </p:cNvSpPr>
                <p:nvPr/>
              </p:nvSpPr>
              <p:spPr bwMode="auto">
                <a:xfrm>
                  <a:off x="717" y="1642"/>
                  <a:ext cx="223" cy="35"/>
                </a:xfrm>
                <a:custGeom>
                  <a:avLst/>
                  <a:gdLst>
                    <a:gd name="T0" fmla="*/ 0 w 223"/>
                    <a:gd name="T1" fmla="*/ 35 h 35"/>
                    <a:gd name="T2" fmla="*/ 28 w 223"/>
                    <a:gd name="T3" fmla="*/ 0 h 35"/>
                    <a:gd name="T4" fmla="*/ 223 w 223"/>
                    <a:gd name="T5" fmla="*/ 0 h 35"/>
                    <a:gd name="T6" fmla="*/ 195 w 223"/>
                    <a:gd name="T7" fmla="*/ 35 h 35"/>
                    <a:gd name="T8" fmla="*/ 0 w 223"/>
                    <a:gd name="T9" fmla="*/ 35 h 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3" h="35">
                      <a:moveTo>
                        <a:pt x="0" y="35"/>
                      </a:moveTo>
                      <a:lnTo>
                        <a:pt x="28" y="0"/>
                      </a:lnTo>
                      <a:lnTo>
                        <a:pt x="223" y="0"/>
                      </a:lnTo>
                      <a:lnTo>
                        <a:pt x="195" y="35"/>
                      </a:lnTo>
                      <a:lnTo>
                        <a:pt x="0" y="35"/>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5" name="Freeform 103"/>
                <p:cNvSpPr>
                  <a:spLocks/>
                </p:cNvSpPr>
                <p:nvPr/>
              </p:nvSpPr>
              <p:spPr bwMode="auto">
                <a:xfrm>
                  <a:off x="717" y="1642"/>
                  <a:ext cx="223" cy="35"/>
                </a:xfrm>
                <a:custGeom>
                  <a:avLst/>
                  <a:gdLst>
                    <a:gd name="T0" fmla="*/ 0 w 223"/>
                    <a:gd name="T1" fmla="*/ 35 h 35"/>
                    <a:gd name="T2" fmla="*/ 28 w 223"/>
                    <a:gd name="T3" fmla="*/ 0 h 35"/>
                    <a:gd name="T4" fmla="*/ 223 w 223"/>
                    <a:gd name="T5" fmla="*/ 0 h 35"/>
                    <a:gd name="T6" fmla="*/ 195 w 223"/>
                    <a:gd name="T7" fmla="*/ 35 h 35"/>
                    <a:gd name="T8" fmla="*/ 0 w 223"/>
                    <a:gd name="T9" fmla="*/ 35 h 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3" h="35">
                      <a:moveTo>
                        <a:pt x="0" y="35"/>
                      </a:moveTo>
                      <a:lnTo>
                        <a:pt x="28" y="0"/>
                      </a:lnTo>
                      <a:lnTo>
                        <a:pt x="223" y="0"/>
                      </a:lnTo>
                      <a:lnTo>
                        <a:pt x="195" y="35"/>
                      </a:lnTo>
                      <a:lnTo>
                        <a:pt x="0" y="35"/>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6" name="Freeform 104"/>
                <p:cNvSpPr>
                  <a:spLocks/>
                </p:cNvSpPr>
                <p:nvPr/>
              </p:nvSpPr>
              <p:spPr bwMode="auto">
                <a:xfrm>
                  <a:off x="912" y="1642"/>
                  <a:ext cx="28" cy="41"/>
                </a:xfrm>
                <a:custGeom>
                  <a:avLst/>
                  <a:gdLst>
                    <a:gd name="T0" fmla="*/ 0 w 28"/>
                    <a:gd name="T1" fmla="*/ 41 h 41"/>
                    <a:gd name="T2" fmla="*/ 28 w 28"/>
                    <a:gd name="T3" fmla="*/ 13 h 41"/>
                    <a:gd name="T4" fmla="*/ 28 w 28"/>
                    <a:gd name="T5" fmla="*/ 0 h 41"/>
                    <a:gd name="T6" fmla="*/ 0 w 28"/>
                    <a:gd name="T7" fmla="*/ 35 h 41"/>
                    <a:gd name="T8" fmla="*/ 0 w 28"/>
                    <a:gd name="T9" fmla="*/ 41 h 4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8" h="41">
                      <a:moveTo>
                        <a:pt x="0" y="41"/>
                      </a:moveTo>
                      <a:lnTo>
                        <a:pt x="28" y="13"/>
                      </a:lnTo>
                      <a:lnTo>
                        <a:pt x="28" y="0"/>
                      </a:lnTo>
                      <a:lnTo>
                        <a:pt x="0" y="35"/>
                      </a:lnTo>
                      <a:lnTo>
                        <a:pt x="0" y="41"/>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7" name="Freeform 105"/>
                <p:cNvSpPr>
                  <a:spLocks/>
                </p:cNvSpPr>
                <p:nvPr/>
              </p:nvSpPr>
              <p:spPr bwMode="auto">
                <a:xfrm>
                  <a:off x="912" y="1642"/>
                  <a:ext cx="28" cy="41"/>
                </a:xfrm>
                <a:custGeom>
                  <a:avLst/>
                  <a:gdLst>
                    <a:gd name="T0" fmla="*/ 0 w 28"/>
                    <a:gd name="T1" fmla="*/ 41 h 41"/>
                    <a:gd name="T2" fmla="*/ 28 w 28"/>
                    <a:gd name="T3" fmla="*/ 13 h 41"/>
                    <a:gd name="T4" fmla="*/ 28 w 28"/>
                    <a:gd name="T5" fmla="*/ 0 h 41"/>
                    <a:gd name="T6" fmla="*/ 0 w 28"/>
                    <a:gd name="T7" fmla="*/ 35 h 41"/>
                    <a:gd name="T8" fmla="*/ 0 w 28"/>
                    <a:gd name="T9" fmla="*/ 41 h 4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8" h="41">
                      <a:moveTo>
                        <a:pt x="0" y="41"/>
                      </a:moveTo>
                      <a:lnTo>
                        <a:pt x="28" y="13"/>
                      </a:lnTo>
                      <a:lnTo>
                        <a:pt x="28" y="0"/>
                      </a:lnTo>
                      <a:lnTo>
                        <a:pt x="0" y="35"/>
                      </a:lnTo>
                      <a:lnTo>
                        <a:pt x="0" y="41"/>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8" name="Rectangle 106"/>
                <p:cNvSpPr>
                  <a:spLocks noChangeArrowheads="1"/>
                </p:cNvSpPr>
                <p:nvPr/>
              </p:nvSpPr>
              <p:spPr bwMode="auto">
                <a:xfrm>
                  <a:off x="717" y="1677"/>
                  <a:ext cx="195" cy="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9" name="Rectangle 107"/>
                <p:cNvSpPr>
                  <a:spLocks noChangeArrowheads="1"/>
                </p:cNvSpPr>
                <p:nvPr/>
              </p:nvSpPr>
              <p:spPr bwMode="auto">
                <a:xfrm>
                  <a:off x="718" y="1678"/>
                  <a:ext cx="193" cy="4"/>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0" name="Freeform 108"/>
                <p:cNvSpPr>
                  <a:spLocks/>
                </p:cNvSpPr>
                <p:nvPr/>
              </p:nvSpPr>
              <p:spPr bwMode="auto">
                <a:xfrm>
                  <a:off x="953" y="1651"/>
                  <a:ext cx="38" cy="23"/>
                </a:xfrm>
                <a:custGeom>
                  <a:avLst/>
                  <a:gdLst>
                    <a:gd name="T0" fmla="*/ 0 w 38"/>
                    <a:gd name="T1" fmla="*/ 23 h 23"/>
                    <a:gd name="T2" fmla="*/ 13 w 38"/>
                    <a:gd name="T3" fmla="*/ 0 h 23"/>
                    <a:gd name="T4" fmla="*/ 38 w 38"/>
                    <a:gd name="T5" fmla="*/ 0 h 23"/>
                    <a:gd name="T6" fmla="*/ 25 w 38"/>
                    <a:gd name="T7" fmla="*/ 23 h 23"/>
                    <a:gd name="T8" fmla="*/ 0 w 38"/>
                    <a:gd name="T9" fmla="*/ 23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8" h="23">
                      <a:moveTo>
                        <a:pt x="0" y="23"/>
                      </a:moveTo>
                      <a:lnTo>
                        <a:pt x="13" y="0"/>
                      </a:lnTo>
                      <a:lnTo>
                        <a:pt x="38" y="0"/>
                      </a:lnTo>
                      <a:lnTo>
                        <a:pt x="25"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1" name="Freeform 109"/>
                <p:cNvSpPr>
                  <a:spLocks/>
                </p:cNvSpPr>
                <p:nvPr/>
              </p:nvSpPr>
              <p:spPr bwMode="auto">
                <a:xfrm>
                  <a:off x="953" y="1651"/>
                  <a:ext cx="38" cy="23"/>
                </a:xfrm>
                <a:custGeom>
                  <a:avLst/>
                  <a:gdLst>
                    <a:gd name="T0" fmla="*/ 0 w 38"/>
                    <a:gd name="T1" fmla="*/ 23 h 23"/>
                    <a:gd name="T2" fmla="*/ 13 w 38"/>
                    <a:gd name="T3" fmla="*/ 0 h 23"/>
                    <a:gd name="T4" fmla="*/ 38 w 38"/>
                    <a:gd name="T5" fmla="*/ 0 h 23"/>
                    <a:gd name="T6" fmla="*/ 25 w 38"/>
                    <a:gd name="T7" fmla="*/ 23 h 23"/>
                    <a:gd name="T8" fmla="*/ 0 w 38"/>
                    <a:gd name="T9" fmla="*/ 23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8" h="23">
                      <a:moveTo>
                        <a:pt x="0" y="23"/>
                      </a:moveTo>
                      <a:lnTo>
                        <a:pt x="13" y="0"/>
                      </a:lnTo>
                      <a:lnTo>
                        <a:pt x="38" y="0"/>
                      </a:lnTo>
                      <a:lnTo>
                        <a:pt x="25" y="23"/>
                      </a:lnTo>
                      <a:lnTo>
                        <a:pt x="0" y="23"/>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2" name="Freeform 110"/>
                <p:cNvSpPr>
                  <a:spLocks/>
                </p:cNvSpPr>
                <p:nvPr/>
              </p:nvSpPr>
              <p:spPr bwMode="auto">
                <a:xfrm>
                  <a:off x="978" y="1651"/>
                  <a:ext cx="13" cy="29"/>
                </a:xfrm>
                <a:custGeom>
                  <a:avLst/>
                  <a:gdLst>
                    <a:gd name="T0" fmla="*/ 0 w 13"/>
                    <a:gd name="T1" fmla="*/ 29 h 29"/>
                    <a:gd name="T2" fmla="*/ 13 w 13"/>
                    <a:gd name="T3" fmla="*/ 16 h 29"/>
                    <a:gd name="T4" fmla="*/ 13 w 13"/>
                    <a:gd name="T5" fmla="*/ 0 h 29"/>
                    <a:gd name="T6" fmla="*/ 0 w 13"/>
                    <a:gd name="T7" fmla="*/ 23 h 29"/>
                    <a:gd name="T8" fmla="*/ 0 w 13"/>
                    <a:gd name="T9" fmla="*/ 29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29">
                      <a:moveTo>
                        <a:pt x="0" y="29"/>
                      </a:moveTo>
                      <a:lnTo>
                        <a:pt x="13" y="16"/>
                      </a:lnTo>
                      <a:lnTo>
                        <a:pt x="13" y="0"/>
                      </a:lnTo>
                      <a:lnTo>
                        <a:pt x="0" y="23"/>
                      </a:lnTo>
                      <a:lnTo>
                        <a:pt x="0" y="29"/>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3" name="Freeform 111"/>
                <p:cNvSpPr>
                  <a:spLocks/>
                </p:cNvSpPr>
                <p:nvPr/>
              </p:nvSpPr>
              <p:spPr bwMode="auto">
                <a:xfrm>
                  <a:off x="978" y="1651"/>
                  <a:ext cx="13" cy="29"/>
                </a:xfrm>
                <a:custGeom>
                  <a:avLst/>
                  <a:gdLst>
                    <a:gd name="T0" fmla="*/ 0 w 13"/>
                    <a:gd name="T1" fmla="*/ 29 h 29"/>
                    <a:gd name="T2" fmla="*/ 13 w 13"/>
                    <a:gd name="T3" fmla="*/ 16 h 29"/>
                    <a:gd name="T4" fmla="*/ 13 w 13"/>
                    <a:gd name="T5" fmla="*/ 0 h 29"/>
                    <a:gd name="T6" fmla="*/ 0 w 13"/>
                    <a:gd name="T7" fmla="*/ 23 h 29"/>
                    <a:gd name="T8" fmla="*/ 0 w 13"/>
                    <a:gd name="T9" fmla="*/ 29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29">
                      <a:moveTo>
                        <a:pt x="0" y="29"/>
                      </a:moveTo>
                      <a:lnTo>
                        <a:pt x="13" y="16"/>
                      </a:lnTo>
                      <a:lnTo>
                        <a:pt x="13" y="0"/>
                      </a:lnTo>
                      <a:lnTo>
                        <a:pt x="0" y="23"/>
                      </a:lnTo>
                      <a:lnTo>
                        <a:pt x="0" y="29"/>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4" name="Rectangle 112"/>
                <p:cNvSpPr>
                  <a:spLocks noChangeArrowheads="1"/>
                </p:cNvSpPr>
                <p:nvPr/>
              </p:nvSpPr>
              <p:spPr bwMode="auto">
                <a:xfrm>
                  <a:off x="950" y="1674"/>
                  <a:ext cx="28" cy="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5" name="Rectangle 113"/>
                <p:cNvSpPr>
                  <a:spLocks noChangeArrowheads="1"/>
                </p:cNvSpPr>
                <p:nvPr/>
              </p:nvSpPr>
              <p:spPr bwMode="auto">
                <a:xfrm>
                  <a:off x="951" y="1675"/>
                  <a:ext cx="26" cy="4"/>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sp>
            <p:nvSpPr>
              <p:cNvPr id="64" name="Freeform 114"/>
              <p:cNvSpPr>
                <a:spLocks/>
              </p:cNvSpPr>
              <p:nvPr/>
            </p:nvSpPr>
            <p:spPr bwMode="auto">
              <a:xfrm>
                <a:off x="710" y="1620"/>
                <a:ext cx="85" cy="38"/>
              </a:xfrm>
              <a:custGeom>
                <a:avLst/>
                <a:gdLst>
                  <a:gd name="T0" fmla="*/ 0 w 85"/>
                  <a:gd name="T1" fmla="*/ 16 h 38"/>
                  <a:gd name="T2" fmla="*/ 25 w 85"/>
                  <a:gd name="T3" fmla="*/ 16 h 38"/>
                  <a:gd name="T4" fmla="*/ 44 w 85"/>
                  <a:gd name="T5" fmla="*/ 0 h 38"/>
                  <a:gd name="T6" fmla="*/ 70 w 85"/>
                  <a:gd name="T7" fmla="*/ 9 h 38"/>
                  <a:gd name="T8" fmla="*/ 79 w 85"/>
                  <a:gd name="T9" fmla="*/ 12 h 38"/>
                  <a:gd name="T10" fmla="*/ 85 w 85"/>
                  <a:gd name="T11" fmla="*/ 19 h 38"/>
                  <a:gd name="T12" fmla="*/ 82 w 85"/>
                  <a:gd name="T13" fmla="*/ 31 h 38"/>
                  <a:gd name="T14" fmla="*/ 79 w 85"/>
                  <a:gd name="T15" fmla="*/ 31 h 38"/>
                  <a:gd name="T16" fmla="*/ 73 w 85"/>
                  <a:gd name="T17" fmla="*/ 22 h 38"/>
                  <a:gd name="T18" fmla="*/ 70 w 85"/>
                  <a:gd name="T19" fmla="*/ 19 h 38"/>
                  <a:gd name="T20" fmla="*/ 57 w 85"/>
                  <a:gd name="T21" fmla="*/ 22 h 38"/>
                  <a:gd name="T22" fmla="*/ 66 w 85"/>
                  <a:gd name="T23" fmla="*/ 25 h 38"/>
                  <a:gd name="T24" fmla="*/ 70 w 85"/>
                  <a:gd name="T25" fmla="*/ 25 h 38"/>
                  <a:gd name="T26" fmla="*/ 70 w 85"/>
                  <a:gd name="T27" fmla="*/ 31 h 38"/>
                  <a:gd name="T28" fmla="*/ 41 w 85"/>
                  <a:gd name="T29" fmla="*/ 38 h 38"/>
                  <a:gd name="T30" fmla="*/ 22 w 85"/>
                  <a:gd name="T31" fmla="*/ 31 h 38"/>
                  <a:gd name="T32" fmla="*/ 3 w 85"/>
                  <a:gd name="T33" fmla="*/ 31 h 38"/>
                  <a:gd name="T34" fmla="*/ 0 w 85"/>
                  <a:gd name="T35" fmla="*/ 16 h 38"/>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85" h="38">
                    <a:moveTo>
                      <a:pt x="0" y="16"/>
                    </a:moveTo>
                    <a:lnTo>
                      <a:pt x="25" y="16"/>
                    </a:lnTo>
                    <a:lnTo>
                      <a:pt x="44" y="0"/>
                    </a:lnTo>
                    <a:lnTo>
                      <a:pt x="70" y="9"/>
                    </a:lnTo>
                    <a:lnTo>
                      <a:pt x="79" y="12"/>
                    </a:lnTo>
                    <a:lnTo>
                      <a:pt x="85" y="19"/>
                    </a:lnTo>
                    <a:lnTo>
                      <a:pt x="82" y="31"/>
                    </a:lnTo>
                    <a:lnTo>
                      <a:pt x="79" y="31"/>
                    </a:lnTo>
                    <a:lnTo>
                      <a:pt x="73" y="22"/>
                    </a:lnTo>
                    <a:lnTo>
                      <a:pt x="70" y="19"/>
                    </a:lnTo>
                    <a:lnTo>
                      <a:pt x="57" y="22"/>
                    </a:lnTo>
                    <a:lnTo>
                      <a:pt x="66" y="25"/>
                    </a:lnTo>
                    <a:lnTo>
                      <a:pt x="70" y="25"/>
                    </a:lnTo>
                    <a:lnTo>
                      <a:pt x="70" y="31"/>
                    </a:lnTo>
                    <a:lnTo>
                      <a:pt x="41" y="38"/>
                    </a:lnTo>
                    <a:lnTo>
                      <a:pt x="22" y="31"/>
                    </a:lnTo>
                    <a:lnTo>
                      <a:pt x="3" y="31"/>
                    </a:lnTo>
                    <a:lnTo>
                      <a:pt x="0" y="16"/>
                    </a:lnTo>
                    <a:close/>
                  </a:path>
                </a:pathLst>
              </a:custGeom>
              <a:solidFill>
                <a:srgbClr val="FFA3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5" name="Freeform 115"/>
              <p:cNvSpPr>
                <a:spLocks/>
              </p:cNvSpPr>
              <p:nvPr/>
            </p:nvSpPr>
            <p:spPr bwMode="auto">
              <a:xfrm>
                <a:off x="710" y="1620"/>
                <a:ext cx="85" cy="38"/>
              </a:xfrm>
              <a:custGeom>
                <a:avLst/>
                <a:gdLst>
                  <a:gd name="T0" fmla="*/ 0 w 85"/>
                  <a:gd name="T1" fmla="*/ 16 h 38"/>
                  <a:gd name="T2" fmla="*/ 25 w 85"/>
                  <a:gd name="T3" fmla="*/ 16 h 38"/>
                  <a:gd name="T4" fmla="*/ 44 w 85"/>
                  <a:gd name="T5" fmla="*/ 0 h 38"/>
                  <a:gd name="T6" fmla="*/ 70 w 85"/>
                  <a:gd name="T7" fmla="*/ 9 h 38"/>
                  <a:gd name="T8" fmla="*/ 79 w 85"/>
                  <a:gd name="T9" fmla="*/ 12 h 38"/>
                  <a:gd name="T10" fmla="*/ 85 w 85"/>
                  <a:gd name="T11" fmla="*/ 19 h 38"/>
                  <a:gd name="T12" fmla="*/ 82 w 85"/>
                  <a:gd name="T13" fmla="*/ 31 h 38"/>
                  <a:gd name="T14" fmla="*/ 79 w 85"/>
                  <a:gd name="T15" fmla="*/ 31 h 38"/>
                  <a:gd name="T16" fmla="*/ 73 w 85"/>
                  <a:gd name="T17" fmla="*/ 22 h 38"/>
                  <a:gd name="T18" fmla="*/ 70 w 85"/>
                  <a:gd name="T19" fmla="*/ 19 h 38"/>
                  <a:gd name="T20" fmla="*/ 57 w 85"/>
                  <a:gd name="T21" fmla="*/ 22 h 38"/>
                  <a:gd name="T22" fmla="*/ 66 w 85"/>
                  <a:gd name="T23" fmla="*/ 25 h 38"/>
                  <a:gd name="T24" fmla="*/ 70 w 85"/>
                  <a:gd name="T25" fmla="*/ 25 h 38"/>
                  <a:gd name="T26" fmla="*/ 70 w 85"/>
                  <a:gd name="T27" fmla="*/ 31 h 38"/>
                  <a:gd name="T28" fmla="*/ 41 w 85"/>
                  <a:gd name="T29" fmla="*/ 38 h 38"/>
                  <a:gd name="T30" fmla="*/ 22 w 85"/>
                  <a:gd name="T31" fmla="*/ 31 h 38"/>
                  <a:gd name="T32" fmla="*/ 3 w 85"/>
                  <a:gd name="T33" fmla="*/ 31 h 38"/>
                  <a:gd name="T34" fmla="*/ 0 w 85"/>
                  <a:gd name="T35" fmla="*/ 16 h 38"/>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85" h="38">
                    <a:moveTo>
                      <a:pt x="0" y="16"/>
                    </a:moveTo>
                    <a:lnTo>
                      <a:pt x="25" y="16"/>
                    </a:lnTo>
                    <a:lnTo>
                      <a:pt x="44" y="0"/>
                    </a:lnTo>
                    <a:lnTo>
                      <a:pt x="70" y="9"/>
                    </a:lnTo>
                    <a:lnTo>
                      <a:pt x="79" y="12"/>
                    </a:lnTo>
                    <a:lnTo>
                      <a:pt x="85" y="19"/>
                    </a:lnTo>
                    <a:lnTo>
                      <a:pt x="82" y="31"/>
                    </a:lnTo>
                    <a:lnTo>
                      <a:pt x="79" y="31"/>
                    </a:lnTo>
                    <a:lnTo>
                      <a:pt x="73" y="22"/>
                    </a:lnTo>
                    <a:lnTo>
                      <a:pt x="70" y="19"/>
                    </a:lnTo>
                    <a:lnTo>
                      <a:pt x="57" y="22"/>
                    </a:lnTo>
                    <a:lnTo>
                      <a:pt x="66" y="25"/>
                    </a:lnTo>
                    <a:lnTo>
                      <a:pt x="70" y="25"/>
                    </a:lnTo>
                    <a:lnTo>
                      <a:pt x="70" y="31"/>
                    </a:lnTo>
                    <a:lnTo>
                      <a:pt x="41" y="38"/>
                    </a:lnTo>
                    <a:lnTo>
                      <a:pt x="22" y="31"/>
                    </a:lnTo>
                    <a:lnTo>
                      <a:pt x="3" y="31"/>
                    </a:lnTo>
                    <a:lnTo>
                      <a:pt x="0" y="16"/>
                    </a:lnTo>
                    <a:close/>
                  </a:path>
                </a:pathLst>
              </a:custGeom>
              <a:solidFill>
                <a:srgbClr val="FFA38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6" name="Freeform 116"/>
              <p:cNvSpPr>
                <a:spLocks/>
              </p:cNvSpPr>
              <p:nvPr/>
            </p:nvSpPr>
            <p:spPr bwMode="auto">
              <a:xfrm>
                <a:off x="612" y="1629"/>
                <a:ext cx="108" cy="48"/>
              </a:xfrm>
              <a:custGeom>
                <a:avLst/>
                <a:gdLst>
                  <a:gd name="T0" fmla="*/ 0 w 108"/>
                  <a:gd name="T1" fmla="*/ 0 h 48"/>
                  <a:gd name="T2" fmla="*/ 101 w 108"/>
                  <a:gd name="T3" fmla="*/ 3 h 48"/>
                  <a:gd name="T4" fmla="*/ 108 w 108"/>
                  <a:gd name="T5" fmla="*/ 13 h 48"/>
                  <a:gd name="T6" fmla="*/ 108 w 108"/>
                  <a:gd name="T7" fmla="*/ 32 h 48"/>
                  <a:gd name="T8" fmla="*/ 29 w 108"/>
                  <a:gd name="T9" fmla="*/ 48 h 48"/>
                  <a:gd name="T10" fmla="*/ 0 w 108"/>
                  <a:gd name="T11" fmla="*/ 0 h 4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08" h="48">
                    <a:moveTo>
                      <a:pt x="0" y="0"/>
                    </a:moveTo>
                    <a:lnTo>
                      <a:pt x="101" y="3"/>
                    </a:lnTo>
                    <a:lnTo>
                      <a:pt x="108" y="13"/>
                    </a:lnTo>
                    <a:lnTo>
                      <a:pt x="108" y="32"/>
                    </a:lnTo>
                    <a:lnTo>
                      <a:pt x="29" y="48"/>
                    </a:lnTo>
                    <a:lnTo>
                      <a:pt x="0" y="0"/>
                    </a:lnTo>
                    <a:close/>
                  </a:path>
                </a:pathLst>
              </a:custGeom>
              <a:solidFill>
                <a:srgbClr val="62624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7" name="Freeform 117"/>
              <p:cNvSpPr>
                <a:spLocks/>
              </p:cNvSpPr>
              <p:nvPr/>
            </p:nvSpPr>
            <p:spPr bwMode="auto">
              <a:xfrm>
                <a:off x="612" y="1629"/>
                <a:ext cx="108" cy="48"/>
              </a:xfrm>
              <a:custGeom>
                <a:avLst/>
                <a:gdLst>
                  <a:gd name="T0" fmla="*/ 0 w 108"/>
                  <a:gd name="T1" fmla="*/ 0 h 48"/>
                  <a:gd name="T2" fmla="*/ 101 w 108"/>
                  <a:gd name="T3" fmla="*/ 3 h 48"/>
                  <a:gd name="T4" fmla="*/ 108 w 108"/>
                  <a:gd name="T5" fmla="*/ 13 h 48"/>
                  <a:gd name="T6" fmla="*/ 108 w 108"/>
                  <a:gd name="T7" fmla="*/ 32 h 48"/>
                  <a:gd name="T8" fmla="*/ 29 w 108"/>
                  <a:gd name="T9" fmla="*/ 48 h 48"/>
                  <a:gd name="T10" fmla="*/ 0 w 108"/>
                  <a:gd name="T11" fmla="*/ 0 h 4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08" h="48">
                    <a:moveTo>
                      <a:pt x="0" y="0"/>
                    </a:moveTo>
                    <a:lnTo>
                      <a:pt x="101" y="3"/>
                    </a:lnTo>
                    <a:lnTo>
                      <a:pt x="108" y="13"/>
                    </a:lnTo>
                    <a:lnTo>
                      <a:pt x="108" y="32"/>
                    </a:lnTo>
                    <a:lnTo>
                      <a:pt x="29" y="48"/>
                    </a:lnTo>
                    <a:lnTo>
                      <a:pt x="0" y="0"/>
                    </a:lnTo>
                    <a:close/>
                  </a:path>
                </a:pathLst>
              </a:custGeom>
              <a:solidFill>
                <a:srgbClr val="626248"/>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8" name="Freeform 118"/>
              <p:cNvSpPr>
                <a:spLocks/>
              </p:cNvSpPr>
              <p:nvPr/>
            </p:nvSpPr>
            <p:spPr bwMode="auto">
              <a:xfrm>
                <a:off x="742" y="1863"/>
                <a:ext cx="79" cy="98"/>
              </a:xfrm>
              <a:custGeom>
                <a:avLst/>
                <a:gdLst>
                  <a:gd name="T0" fmla="*/ 44 w 79"/>
                  <a:gd name="T1" fmla="*/ 0 h 98"/>
                  <a:gd name="T2" fmla="*/ 47 w 79"/>
                  <a:gd name="T3" fmla="*/ 45 h 98"/>
                  <a:gd name="T4" fmla="*/ 53 w 79"/>
                  <a:gd name="T5" fmla="*/ 48 h 98"/>
                  <a:gd name="T6" fmla="*/ 75 w 79"/>
                  <a:gd name="T7" fmla="*/ 64 h 98"/>
                  <a:gd name="T8" fmla="*/ 79 w 79"/>
                  <a:gd name="T9" fmla="*/ 89 h 98"/>
                  <a:gd name="T10" fmla="*/ 56 w 79"/>
                  <a:gd name="T11" fmla="*/ 89 h 98"/>
                  <a:gd name="T12" fmla="*/ 41 w 79"/>
                  <a:gd name="T13" fmla="*/ 89 h 98"/>
                  <a:gd name="T14" fmla="*/ 41 w 79"/>
                  <a:gd name="T15" fmla="*/ 95 h 98"/>
                  <a:gd name="T16" fmla="*/ 15 w 79"/>
                  <a:gd name="T17" fmla="*/ 98 h 98"/>
                  <a:gd name="T18" fmla="*/ 6 w 79"/>
                  <a:gd name="T19" fmla="*/ 98 h 98"/>
                  <a:gd name="T20" fmla="*/ 0 w 79"/>
                  <a:gd name="T21" fmla="*/ 98 h 98"/>
                  <a:gd name="T22" fmla="*/ 0 w 79"/>
                  <a:gd name="T23" fmla="*/ 76 h 98"/>
                  <a:gd name="T24" fmla="*/ 3 w 79"/>
                  <a:gd name="T25" fmla="*/ 70 h 98"/>
                  <a:gd name="T26" fmla="*/ 9 w 79"/>
                  <a:gd name="T27" fmla="*/ 54 h 98"/>
                  <a:gd name="T28" fmla="*/ 6 w 79"/>
                  <a:gd name="T29" fmla="*/ 10 h 98"/>
                  <a:gd name="T30" fmla="*/ 44 w 79"/>
                  <a:gd name="T31" fmla="*/ 0 h 9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79" h="98">
                    <a:moveTo>
                      <a:pt x="44" y="0"/>
                    </a:moveTo>
                    <a:lnTo>
                      <a:pt x="47" y="45"/>
                    </a:lnTo>
                    <a:lnTo>
                      <a:pt x="53" y="48"/>
                    </a:lnTo>
                    <a:lnTo>
                      <a:pt x="75" y="64"/>
                    </a:lnTo>
                    <a:lnTo>
                      <a:pt x="79" y="89"/>
                    </a:lnTo>
                    <a:lnTo>
                      <a:pt x="56" y="89"/>
                    </a:lnTo>
                    <a:lnTo>
                      <a:pt x="41" y="89"/>
                    </a:lnTo>
                    <a:lnTo>
                      <a:pt x="41" y="95"/>
                    </a:lnTo>
                    <a:lnTo>
                      <a:pt x="15" y="98"/>
                    </a:lnTo>
                    <a:lnTo>
                      <a:pt x="6" y="98"/>
                    </a:lnTo>
                    <a:lnTo>
                      <a:pt x="0" y="98"/>
                    </a:lnTo>
                    <a:lnTo>
                      <a:pt x="0" y="76"/>
                    </a:lnTo>
                    <a:lnTo>
                      <a:pt x="3" y="70"/>
                    </a:lnTo>
                    <a:lnTo>
                      <a:pt x="9" y="54"/>
                    </a:lnTo>
                    <a:lnTo>
                      <a:pt x="6" y="10"/>
                    </a:lnTo>
                    <a:lnTo>
                      <a:pt x="44" y="0"/>
                    </a:lnTo>
                    <a:close/>
                  </a:path>
                </a:pathLst>
              </a:custGeom>
              <a:solidFill>
                <a:srgbClr val="22222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9" name="Freeform 119"/>
              <p:cNvSpPr>
                <a:spLocks/>
              </p:cNvSpPr>
              <p:nvPr/>
            </p:nvSpPr>
            <p:spPr bwMode="auto">
              <a:xfrm>
                <a:off x="742" y="1863"/>
                <a:ext cx="79" cy="98"/>
              </a:xfrm>
              <a:custGeom>
                <a:avLst/>
                <a:gdLst>
                  <a:gd name="T0" fmla="*/ 44 w 79"/>
                  <a:gd name="T1" fmla="*/ 0 h 98"/>
                  <a:gd name="T2" fmla="*/ 47 w 79"/>
                  <a:gd name="T3" fmla="*/ 45 h 98"/>
                  <a:gd name="T4" fmla="*/ 53 w 79"/>
                  <a:gd name="T5" fmla="*/ 48 h 98"/>
                  <a:gd name="T6" fmla="*/ 75 w 79"/>
                  <a:gd name="T7" fmla="*/ 64 h 98"/>
                  <a:gd name="T8" fmla="*/ 79 w 79"/>
                  <a:gd name="T9" fmla="*/ 89 h 98"/>
                  <a:gd name="T10" fmla="*/ 56 w 79"/>
                  <a:gd name="T11" fmla="*/ 89 h 98"/>
                  <a:gd name="T12" fmla="*/ 41 w 79"/>
                  <a:gd name="T13" fmla="*/ 89 h 98"/>
                  <a:gd name="T14" fmla="*/ 41 w 79"/>
                  <a:gd name="T15" fmla="*/ 95 h 98"/>
                  <a:gd name="T16" fmla="*/ 15 w 79"/>
                  <a:gd name="T17" fmla="*/ 98 h 98"/>
                  <a:gd name="T18" fmla="*/ 6 w 79"/>
                  <a:gd name="T19" fmla="*/ 98 h 98"/>
                  <a:gd name="T20" fmla="*/ 0 w 79"/>
                  <a:gd name="T21" fmla="*/ 98 h 98"/>
                  <a:gd name="T22" fmla="*/ 0 w 79"/>
                  <a:gd name="T23" fmla="*/ 76 h 98"/>
                  <a:gd name="T24" fmla="*/ 3 w 79"/>
                  <a:gd name="T25" fmla="*/ 70 h 98"/>
                  <a:gd name="T26" fmla="*/ 9 w 79"/>
                  <a:gd name="T27" fmla="*/ 54 h 98"/>
                  <a:gd name="T28" fmla="*/ 6 w 79"/>
                  <a:gd name="T29" fmla="*/ 10 h 98"/>
                  <a:gd name="T30" fmla="*/ 44 w 79"/>
                  <a:gd name="T31" fmla="*/ 0 h 9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79" h="98">
                    <a:moveTo>
                      <a:pt x="44" y="0"/>
                    </a:moveTo>
                    <a:lnTo>
                      <a:pt x="47" y="45"/>
                    </a:lnTo>
                    <a:lnTo>
                      <a:pt x="53" y="48"/>
                    </a:lnTo>
                    <a:lnTo>
                      <a:pt x="75" y="64"/>
                    </a:lnTo>
                    <a:lnTo>
                      <a:pt x="79" y="89"/>
                    </a:lnTo>
                    <a:lnTo>
                      <a:pt x="56" y="89"/>
                    </a:lnTo>
                    <a:lnTo>
                      <a:pt x="41" y="89"/>
                    </a:lnTo>
                    <a:lnTo>
                      <a:pt x="41" y="95"/>
                    </a:lnTo>
                    <a:lnTo>
                      <a:pt x="15" y="98"/>
                    </a:lnTo>
                    <a:lnTo>
                      <a:pt x="6" y="98"/>
                    </a:lnTo>
                    <a:lnTo>
                      <a:pt x="0" y="98"/>
                    </a:lnTo>
                    <a:lnTo>
                      <a:pt x="0" y="76"/>
                    </a:lnTo>
                    <a:lnTo>
                      <a:pt x="3" y="70"/>
                    </a:lnTo>
                    <a:lnTo>
                      <a:pt x="9" y="54"/>
                    </a:lnTo>
                    <a:lnTo>
                      <a:pt x="6" y="10"/>
                    </a:lnTo>
                    <a:lnTo>
                      <a:pt x="44" y="0"/>
                    </a:lnTo>
                    <a:close/>
                  </a:path>
                </a:pathLst>
              </a:custGeom>
              <a:solidFill>
                <a:srgbClr val="222222"/>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0" name="Freeform 120"/>
              <p:cNvSpPr>
                <a:spLocks/>
              </p:cNvSpPr>
              <p:nvPr/>
            </p:nvSpPr>
            <p:spPr bwMode="auto">
              <a:xfrm>
                <a:off x="795" y="1924"/>
                <a:ext cx="120" cy="98"/>
              </a:xfrm>
              <a:custGeom>
                <a:avLst/>
                <a:gdLst>
                  <a:gd name="T0" fmla="*/ 60 w 120"/>
                  <a:gd name="T1" fmla="*/ 0 h 98"/>
                  <a:gd name="T2" fmla="*/ 54 w 120"/>
                  <a:gd name="T3" fmla="*/ 31 h 98"/>
                  <a:gd name="T4" fmla="*/ 63 w 120"/>
                  <a:gd name="T5" fmla="*/ 31 h 98"/>
                  <a:gd name="T6" fmla="*/ 82 w 120"/>
                  <a:gd name="T7" fmla="*/ 44 h 98"/>
                  <a:gd name="T8" fmla="*/ 108 w 120"/>
                  <a:gd name="T9" fmla="*/ 44 h 98"/>
                  <a:gd name="T10" fmla="*/ 117 w 120"/>
                  <a:gd name="T11" fmla="*/ 47 h 98"/>
                  <a:gd name="T12" fmla="*/ 120 w 120"/>
                  <a:gd name="T13" fmla="*/ 56 h 98"/>
                  <a:gd name="T14" fmla="*/ 117 w 120"/>
                  <a:gd name="T15" fmla="*/ 66 h 98"/>
                  <a:gd name="T16" fmla="*/ 92 w 120"/>
                  <a:gd name="T17" fmla="*/ 82 h 98"/>
                  <a:gd name="T18" fmla="*/ 82 w 120"/>
                  <a:gd name="T19" fmla="*/ 85 h 98"/>
                  <a:gd name="T20" fmla="*/ 67 w 120"/>
                  <a:gd name="T21" fmla="*/ 85 h 98"/>
                  <a:gd name="T22" fmla="*/ 41 w 120"/>
                  <a:gd name="T23" fmla="*/ 88 h 98"/>
                  <a:gd name="T24" fmla="*/ 41 w 120"/>
                  <a:gd name="T25" fmla="*/ 98 h 98"/>
                  <a:gd name="T26" fmla="*/ 32 w 120"/>
                  <a:gd name="T27" fmla="*/ 98 h 98"/>
                  <a:gd name="T28" fmla="*/ 19 w 120"/>
                  <a:gd name="T29" fmla="*/ 98 h 98"/>
                  <a:gd name="T30" fmla="*/ 10 w 120"/>
                  <a:gd name="T31" fmla="*/ 94 h 98"/>
                  <a:gd name="T32" fmla="*/ 0 w 120"/>
                  <a:gd name="T33" fmla="*/ 88 h 98"/>
                  <a:gd name="T34" fmla="*/ 0 w 120"/>
                  <a:gd name="T35" fmla="*/ 72 h 98"/>
                  <a:gd name="T36" fmla="*/ 7 w 120"/>
                  <a:gd name="T37" fmla="*/ 56 h 98"/>
                  <a:gd name="T38" fmla="*/ 10 w 120"/>
                  <a:gd name="T39" fmla="*/ 47 h 98"/>
                  <a:gd name="T40" fmla="*/ 16 w 120"/>
                  <a:gd name="T41" fmla="*/ 37 h 98"/>
                  <a:gd name="T42" fmla="*/ 22 w 120"/>
                  <a:gd name="T43" fmla="*/ 6 h 98"/>
                  <a:gd name="T44" fmla="*/ 60 w 120"/>
                  <a:gd name="T45" fmla="*/ 0 h 98"/>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120" h="98">
                    <a:moveTo>
                      <a:pt x="60" y="0"/>
                    </a:moveTo>
                    <a:lnTo>
                      <a:pt x="54" y="31"/>
                    </a:lnTo>
                    <a:lnTo>
                      <a:pt x="63" y="31"/>
                    </a:lnTo>
                    <a:lnTo>
                      <a:pt x="82" y="44"/>
                    </a:lnTo>
                    <a:lnTo>
                      <a:pt x="108" y="44"/>
                    </a:lnTo>
                    <a:lnTo>
                      <a:pt x="117" y="47"/>
                    </a:lnTo>
                    <a:lnTo>
                      <a:pt x="120" y="56"/>
                    </a:lnTo>
                    <a:lnTo>
                      <a:pt x="117" y="66"/>
                    </a:lnTo>
                    <a:lnTo>
                      <a:pt x="92" y="82"/>
                    </a:lnTo>
                    <a:lnTo>
                      <a:pt x="82" y="85"/>
                    </a:lnTo>
                    <a:lnTo>
                      <a:pt x="67" y="85"/>
                    </a:lnTo>
                    <a:lnTo>
                      <a:pt x="41" y="88"/>
                    </a:lnTo>
                    <a:lnTo>
                      <a:pt x="41" y="98"/>
                    </a:lnTo>
                    <a:lnTo>
                      <a:pt x="32" y="98"/>
                    </a:lnTo>
                    <a:lnTo>
                      <a:pt x="19" y="98"/>
                    </a:lnTo>
                    <a:lnTo>
                      <a:pt x="10" y="94"/>
                    </a:lnTo>
                    <a:lnTo>
                      <a:pt x="0" y="88"/>
                    </a:lnTo>
                    <a:lnTo>
                      <a:pt x="0" y="72"/>
                    </a:lnTo>
                    <a:lnTo>
                      <a:pt x="7" y="56"/>
                    </a:lnTo>
                    <a:lnTo>
                      <a:pt x="10" y="47"/>
                    </a:lnTo>
                    <a:lnTo>
                      <a:pt x="16" y="37"/>
                    </a:lnTo>
                    <a:lnTo>
                      <a:pt x="22" y="6"/>
                    </a:lnTo>
                    <a:lnTo>
                      <a:pt x="60" y="0"/>
                    </a:lnTo>
                    <a:close/>
                  </a:path>
                </a:pathLst>
              </a:custGeom>
              <a:solidFill>
                <a:srgbClr val="22222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1" name="Freeform 121"/>
              <p:cNvSpPr>
                <a:spLocks/>
              </p:cNvSpPr>
              <p:nvPr/>
            </p:nvSpPr>
            <p:spPr bwMode="auto">
              <a:xfrm>
                <a:off x="795" y="1924"/>
                <a:ext cx="120" cy="98"/>
              </a:xfrm>
              <a:custGeom>
                <a:avLst/>
                <a:gdLst>
                  <a:gd name="T0" fmla="*/ 60 w 120"/>
                  <a:gd name="T1" fmla="*/ 0 h 98"/>
                  <a:gd name="T2" fmla="*/ 54 w 120"/>
                  <a:gd name="T3" fmla="*/ 31 h 98"/>
                  <a:gd name="T4" fmla="*/ 63 w 120"/>
                  <a:gd name="T5" fmla="*/ 31 h 98"/>
                  <a:gd name="T6" fmla="*/ 82 w 120"/>
                  <a:gd name="T7" fmla="*/ 44 h 98"/>
                  <a:gd name="T8" fmla="*/ 108 w 120"/>
                  <a:gd name="T9" fmla="*/ 44 h 98"/>
                  <a:gd name="T10" fmla="*/ 117 w 120"/>
                  <a:gd name="T11" fmla="*/ 47 h 98"/>
                  <a:gd name="T12" fmla="*/ 120 w 120"/>
                  <a:gd name="T13" fmla="*/ 56 h 98"/>
                  <a:gd name="T14" fmla="*/ 117 w 120"/>
                  <a:gd name="T15" fmla="*/ 66 h 98"/>
                  <a:gd name="T16" fmla="*/ 92 w 120"/>
                  <a:gd name="T17" fmla="*/ 82 h 98"/>
                  <a:gd name="T18" fmla="*/ 82 w 120"/>
                  <a:gd name="T19" fmla="*/ 85 h 98"/>
                  <a:gd name="T20" fmla="*/ 67 w 120"/>
                  <a:gd name="T21" fmla="*/ 85 h 98"/>
                  <a:gd name="T22" fmla="*/ 41 w 120"/>
                  <a:gd name="T23" fmla="*/ 88 h 98"/>
                  <a:gd name="T24" fmla="*/ 41 w 120"/>
                  <a:gd name="T25" fmla="*/ 98 h 98"/>
                  <a:gd name="T26" fmla="*/ 32 w 120"/>
                  <a:gd name="T27" fmla="*/ 98 h 98"/>
                  <a:gd name="T28" fmla="*/ 19 w 120"/>
                  <a:gd name="T29" fmla="*/ 98 h 98"/>
                  <a:gd name="T30" fmla="*/ 10 w 120"/>
                  <a:gd name="T31" fmla="*/ 94 h 98"/>
                  <a:gd name="T32" fmla="*/ 0 w 120"/>
                  <a:gd name="T33" fmla="*/ 88 h 98"/>
                  <a:gd name="T34" fmla="*/ 0 w 120"/>
                  <a:gd name="T35" fmla="*/ 72 h 98"/>
                  <a:gd name="T36" fmla="*/ 7 w 120"/>
                  <a:gd name="T37" fmla="*/ 56 h 98"/>
                  <a:gd name="T38" fmla="*/ 10 w 120"/>
                  <a:gd name="T39" fmla="*/ 47 h 98"/>
                  <a:gd name="T40" fmla="*/ 16 w 120"/>
                  <a:gd name="T41" fmla="*/ 37 h 98"/>
                  <a:gd name="T42" fmla="*/ 22 w 120"/>
                  <a:gd name="T43" fmla="*/ 6 h 98"/>
                  <a:gd name="T44" fmla="*/ 60 w 120"/>
                  <a:gd name="T45" fmla="*/ 0 h 98"/>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120" h="98">
                    <a:moveTo>
                      <a:pt x="60" y="0"/>
                    </a:moveTo>
                    <a:lnTo>
                      <a:pt x="54" y="31"/>
                    </a:lnTo>
                    <a:lnTo>
                      <a:pt x="63" y="31"/>
                    </a:lnTo>
                    <a:lnTo>
                      <a:pt x="82" y="44"/>
                    </a:lnTo>
                    <a:lnTo>
                      <a:pt x="108" y="44"/>
                    </a:lnTo>
                    <a:lnTo>
                      <a:pt x="117" y="47"/>
                    </a:lnTo>
                    <a:lnTo>
                      <a:pt x="120" y="56"/>
                    </a:lnTo>
                    <a:lnTo>
                      <a:pt x="117" y="66"/>
                    </a:lnTo>
                    <a:lnTo>
                      <a:pt x="92" y="82"/>
                    </a:lnTo>
                    <a:lnTo>
                      <a:pt x="82" y="85"/>
                    </a:lnTo>
                    <a:lnTo>
                      <a:pt x="67" y="85"/>
                    </a:lnTo>
                    <a:lnTo>
                      <a:pt x="41" y="88"/>
                    </a:lnTo>
                    <a:lnTo>
                      <a:pt x="41" y="98"/>
                    </a:lnTo>
                    <a:lnTo>
                      <a:pt x="32" y="98"/>
                    </a:lnTo>
                    <a:lnTo>
                      <a:pt x="19" y="98"/>
                    </a:lnTo>
                    <a:lnTo>
                      <a:pt x="10" y="94"/>
                    </a:lnTo>
                    <a:lnTo>
                      <a:pt x="0" y="88"/>
                    </a:lnTo>
                    <a:lnTo>
                      <a:pt x="0" y="72"/>
                    </a:lnTo>
                    <a:lnTo>
                      <a:pt x="7" y="56"/>
                    </a:lnTo>
                    <a:lnTo>
                      <a:pt x="10" y="47"/>
                    </a:lnTo>
                    <a:lnTo>
                      <a:pt x="16" y="37"/>
                    </a:lnTo>
                    <a:lnTo>
                      <a:pt x="22" y="6"/>
                    </a:lnTo>
                    <a:lnTo>
                      <a:pt x="60" y="0"/>
                    </a:lnTo>
                    <a:close/>
                  </a:path>
                </a:pathLst>
              </a:custGeom>
              <a:solidFill>
                <a:srgbClr val="222222"/>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2" name="Freeform 122"/>
              <p:cNvSpPr>
                <a:spLocks/>
              </p:cNvSpPr>
              <p:nvPr/>
            </p:nvSpPr>
            <p:spPr bwMode="auto">
              <a:xfrm>
                <a:off x="710" y="1844"/>
                <a:ext cx="92" cy="54"/>
              </a:xfrm>
              <a:custGeom>
                <a:avLst/>
                <a:gdLst>
                  <a:gd name="T0" fmla="*/ 0 w 92"/>
                  <a:gd name="T1" fmla="*/ 32 h 54"/>
                  <a:gd name="T2" fmla="*/ 88 w 92"/>
                  <a:gd name="T3" fmla="*/ 0 h 54"/>
                  <a:gd name="T4" fmla="*/ 92 w 92"/>
                  <a:gd name="T5" fmla="*/ 7 h 54"/>
                  <a:gd name="T6" fmla="*/ 92 w 92"/>
                  <a:gd name="T7" fmla="*/ 16 h 54"/>
                  <a:gd name="T8" fmla="*/ 88 w 92"/>
                  <a:gd name="T9" fmla="*/ 23 h 54"/>
                  <a:gd name="T10" fmla="*/ 7 w 92"/>
                  <a:gd name="T11" fmla="*/ 54 h 54"/>
                  <a:gd name="T12" fmla="*/ 0 w 92"/>
                  <a:gd name="T13" fmla="*/ 32 h 5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92" h="54">
                    <a:moveTo>
                      <a:pt x="0" y="32"/>
                    </a:moveTo>
                    <a:lnTo>
                      <a:pt x="88" y="0"/>
                    </a:lnTo>
                    <a:lnTo>
                      <a:pt x="92" y="7"/>
                    </a:lnTo>
                    <a:lnTo>
                      <a:pt x="92" y="16"/>
                    </a:lnTo>
                    <a:lnTo>
                      <a:pt x="88" y="23"/>
                    </a:lnTo>
                    <a:lnTo>
                      <a:pt x="7" y="54"/>
                    </a:lnTo>
                    <a:lnTo>
                      <a:pt x="0" y="32"/>
                    </a:lnTo>
                    <a:close/>
                  </a:path>
                </a:pathLst>
              </a:custGeom>
              <a:solidFill>
                <a:srgbClr val="004E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3" name="Freeform 123"/>
              <p:cNvSpPr>
                <a:spLocks/>
              </p:cNvSpPr>
              <p:nvPr/>
            </p:nvSpPr>
            <p:spPr bwMode="auto">
              <a:xfrm>
                <a:off x="710" y="1844"/>
                <a:ext cx="92" cy="54"/>
              </a:xfrm>
              <a:custGeom>
                <a:avLst/>
                <a:gdLst>
                  <a:gd name="T0" fmla="*/ 0 w 92"/>
                  <a:gd name="T1" fmla="*/ 32 h 54"/>
                  <a:gd name="T2" fmla="*/ 88 w 92"/>
                  <a:gd name="T3" fmla="*/ 0 h 54"/>
                  <a:gd name="T4" fmla="*/ 92 w 92"/>
                  <a:gd name="T5" fmla="*/ 7 h 54"/>
                  <a:gd name="T6" fmla="*/ 92 w 92"/>
                  <a:gd name="T7" fmla="*/ 16 h 54"/>
                  <a:gd name="T8" fmla="*/ 88 w 92"/>
                  <a:gd name="T9" fmla="*/ 23 h 54"/>
                  <a:gd name="T10" fmla="*/ 7 w 92"/>
                  <a:gd name="T11" fmla="*/ 54 h 54"/>
                  <a:gd name="T12" fmla="*/ 0 w 92"/>
                  <a:gd name="T13" fmla="*/ 32 h 5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92" h="54">
                    <a:moveTo>
                      <a:pt x="0" y="32"/>
                    </a:moveTo>
                    <a:lnTo>
                      <a:pt x="88" y="0"/>
                    </a:lnTo>
                    <a:lnTo>
                      <a:pt x="92" y="7"/>
                    </a:lnTo>
                    <a:lnTo>
                      <a:pt x="92" y="16"/>
                    </a:lnTo>
                    <a:lnTo>
                      <a:pt x="88" y="23"/>
                    </a:lnTo>
                    <a:lnTo>
                      <a:pt x="7" y="54"/>
                    </a:lnTo>
                    <a:lnTo>
                      <a:pt x="0" y="32"/>
                    </a:lnTo>
                    <a:close/>
                  </a:path>
                </a:pathLst>
              </a:custGeom>
              <a:solidFill>
                <a:srgbClr val="004EFF"/>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4" name="Freeform 124"/>
              <p:cNvSpPr>
                <a:spLocks/>
              </p:cNvSpPr>
              <p:nvPr/>
            </p:nvSpPr>
            <p:spPr bwMode="auto">
              <a:xfrm>
                <a:off x="710" y="1750"/>
                <a:ext cx="170" cy="189"/>
              </a:xfrm>
              <a:custGeom>
                <a:avLst/>
                <a:gdLst>
                  <a:gd name="T0" fmla="*/ 7 w 170"/>
                  <a:gd name="T1" fmla="*/ 0 h 189"/>
                  <a:gd name="T2" fmla="*/ 44 w 170"/>
                  <a:gd name="T3" fmla="*/ 25 h 189"/>
                  <a:gd name="T4" fmla="*/ 82 w 170"/>
                  <a:gd name="T5" fmla="*/ 25 h 189"/>
                  <a:gd name="T6" fmla="*/ 158 w 170"/>
                  <a:gd name="T7" fmla="*/ 31 h 189"/>
                  <a:gd name="T8" fmla="*/ 170 w 170"/>
                  <a:gd name="T9" fmla="*/ 60 h 189"/>
                  <a:gd name="T10" fmla="*/ 167 w 170"/>
                  <a:gd name="T11" fmla="*/ 145 h 189"/>
                  <a:gd name="T12" fmla="*/ 167 w 170"/>
                  <a:gd name="T13" fmla="*/ 177 h 189"/>
                  <a:gd name="T14" fmla="*/ 133 w 170"/>
                  <a:gd name="T15" fmla="*/ 189 h 189"/>
                  <a:gd name="T16" fmla="*/ 98 w 170"/>
                  <a:gd name="T17" fmla="*/ 186 h 189"/>
                  <a:gd name="T18" fmla="*/ 107 w 170"/>
                  <a:gd name="T19" fmla="*/ 94 h 189"/>
                  <a:gd name="T20" fmla="*/ 88 w 170"/>
                  <a:gd name="T21" fmla="*/ 94 h 189"/>
                  <a:gd name="T22" fmla="*/ 0 w 170"/>
                  <a:gd name="T23" fmla="*/ 126 h 189"/>
                  <a:gd name="T24" fmla="*/ 7 w 170"/>
                  <a:gd name="T25" fmla="*/ 0 h 18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0" h="189">
                    <a:moveTo>
                      <a:pt x="7" y="0"/>
                    </a:moveTo>
                    <a:lnTo>
                      <a:pt x="44" y="25"/>
                    </a:lnTo>
                    <a:lnTo>
                      <a:pt x="82" y="25"/>
                    </a:lnTo>
                    <a:lnTo>
                      <a:pt x="158" y="31"/>
                    </a:lnTo>
                    <a:lnTo>
                      <a:pt x="170" y="60"/>
                    </a:lnTo>
                    <a:lnTo>
                      <a:pt x="167" y="145"/>
                    </a:lnTo>
                    <a:lnTo>
                      <a:pt x="167" y="177"/>
                    </a:lnTo>
                    <a:lnTo>
                      <a:pt x="133" y="189"/>
                    </a:lnTo>
                    <a:lnTo>
                      <a:pt x="98" y="186"/>
                    </a:lnTo>
                    <a:lnTo>
                      <a:pt x="107" y="94"/>
                    </a:lnTo>
                    <a:lnTo>
                      <a:pt x="88" y="94"/>
                    </a:lnTo>
                    <a:lnTo>
                      <a:pt x="0" y="126"/>
                    </a:lnTo>
                    <a:lnTo>
                      <a:pt x="7" y="0"/>
                    </a:lnTo>
                    <a:close/>
                  </a:path>
                </a:pathLst>
              </a:custGeom>
              <a:solidFill>
                <a:srgbClr val="62624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5" name="Freeform 125"/>
              <p:cNvSpPr>
                <a:spLocks/>
              </p:cNvSpPr>
              <p:nvPr/>
            </p:nvSpPr>
            <p:spPr bwMode="auto">
              <a:xfrm>
                <a:off x="710" y="1750"/>
                <a:ext cx="170" cy="189"/>
              </a:xfrm>
              <a:custGeom>
                <a:avLst/>
                <a:gdLst>
                  <a:gd name="T0" fmla="*/ 7 w 170"/>
                  <a:gd name="T1" fmla="*/ 0 h 189"/>
                  <a:gd name="T2" fmla="*/ 44 w 170"/>
                  <a:gd name="T3" fmla="*/ 25 h 189"/>
                  <a:gd name="T4" fmla="*/ 82 w 170"/>
                  <a:gd name="T5" fmla="*/ 25 h 189"/>
                  <a:gd name="T6" fmla="*/ 158 w 170"/>
                  <a:gd name="T7" fmla="*/ 31 h 189"/>
                  <a:gd name="T8" fmla="*/ 170 w 170"/>
                  <a:gd name="T9" fmla="*/ 60 h 189"/>
                  <a:gd name="T10" fmla="*/ 167 w 170"/>
                  <a:gd name="T11" fmla="*/ 145 h 189"/>
                  <a:gd name="T12" fmla="*/ 167 w 170"/>
                  <a:gd name="T13" fmla="*/ 177 h 189"/>
                  <a:gd name="T14" fmla="*/ 133 w 170"/>
                  <a:gd name="T15" fmla="*/ 189 h 189"/>
                  <a:gd name="T16" fmla="*/ 98 w 170"/>
                  <a:gd name="T17" fmla="*/ 186 h 189"/>
                  <a:gd name="T18" fmla="*/ 107 w 170"/>
                  <a:gd name="T19" fmla="*/ 94 h 189"/>
                  <a:gd name="T20" fmla="*/ 88 w 170"/>
                  <a:gd name="T21" fmla="*/ 94 h 189"/>
                  <a:gd name="T22" fmla="*/ 0 w 170"/>
                  <a:gd name="T23" fmla="*/ 126 h 189"/>
                  <a:gd name="T24" fmla="*/ 7 w 170"/>
                  <a:gd name="T25" fmla="*/ 0 h 18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0" h="189">
                    <a:moveTo>
                      <a:pt x="7" y="0"/>
                    </a:moveTo>
                    <a:lnTo>
                      <a:pt x="44" y="25"/>
                    </a:lnTo>
                    <a:lnTo>
                      <a:pt x="82" y="25"/>
                    </a:lnTo>
                    <a:lnTo>
                      <a:pt x="158" y="31"/>
                    </a:lnTo>
                    <a:lnTo>
                      <a:pt x="170" y="60"/>
                    </a:lnTo>
                    <a:lnTo>
                      <a:pt x="167" y="145"/>
                    </a:lnTo>
                    <a:lnTo>
                      <a:pt x="167" y="177"/>
                    </a:lnTo>
                    <a:lnTo>
                      <a:pt x="133" y="189"/>
                    </a:lnTo>
                    <a:lnTo>
                      <a:pt x="98" y="186"/>
                    </a:lnTo>
                    <a:lnTo>
                      <a:pt x="107" y="94"/>
                    </a:lnTo>
                    <a:lnTo>
                      <a:pt x="88" y="94"/>
                    </a:lnTo>
                    <a:lnTo>
                      <a:pt x="0" y="126"/>
                    </a:lnTo>
                    <a:lnTo>
                      <a:pt x="7" y="0"/>
                    </a:lnTo>
                    <a:close/>
                  </a:path>
                </a:pathLst>
              </a:custGeom>
              <a:solidFill>
                <a:srgbClr val="626248"/>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6" name="Freeform 126"/>
              <p:cNvSpPr>
                <a:spLocks/>
              </p:cNvSpPr>
              <p:nvPr/>
            </p:nvSpPr>
            <p:spPr bwMode="auto">
              <a:xfrm>
                <a:off x="521" y="1930"/>
                <a:ext cx="236" cy="193"/>
              </a:xfrm>
              <a:custGeom>
                <a:avLst/>
                <a:gdLst>
                  <a:gd name="T0" fmla="*/ 142 w 236"/>
                  <a:gd name="T1" fmla="*/ 0 h 193"/>
                  <a:gd name="T2" fmla="*/ 145 w 236"/>
                  <a:gd name="T3" fmla="*/ 54 h 193"/>
                  <a:gd name="T4" fmla="*/ 227 w 236"/>
                  <a:gd name="T5" fmla="*/ 22 h 193"/>
                  <a:gd name="T6" fmla="*/ 233 w 236"/>
                  <a:gd name="T7" fmla="*/ 25 h 193"/>
                  <a:gd name="T8" fmla="*/ 236 w 236"/>
                  <a:gd name="T9" fmla="*/ 47 h 193"/>
                  <a:gd name="T10" fmla="*/ 230 w 236"/>
                  <a:gd name="T11" fmla="*/ 47 h 193"/>
                  <a:gd name="T12" fmla="*/ 230 w 236"/>
                  <a:gd name="T13" fmla="*/ 57 h 193"/>
                  <a:gd name="T14" fmla="*/ 227 w 236"/>
                  <a:gd name="T15" fmla="*/ 63 h 193"/>
                  <a:gd name="T16" fmla="*/ 224 w 236"/>
                  <a:gd name="T17" fmla="*/ 63 h 193"/>
                  <a:gd name="T18" fmla="*/ 218 w 236"/>
                  <a:gd name="T19" fmla="*/ 60 h 193"/>
                  <a:gd name="T20" fmla="*/ 214 w 236"/>
                  <a:gd name="T21" fmla="*/ 54 h 193"/>
                  <a:gd name="T22" fmla="*/ 214 w 236"/>
                  <a:gd name="T23" fmla="*/ 47 h 193"/>
                  <a:gd name="T24" fmla="*/ 151 w 236"/>
                  <a:gd name="T25" fmla="*/ 73 h 193"/>
                  <a:gd name="T26" fmla="*/ 208 w 236"/>
                  <a:gd name="T27" fmla="*/ 136 h 193"/>
                  <a:gd name="T28" fmla="*/ 211 w 236"/>
                  <a:gd name="T29" fmla="*/ 161 h 193"/>
                  <a:gd name="T30" fmla="*/ 208 w 236"/>
                  <a:gd name="T31" fmla="*/ 171 h 193"/>
                  <a:gd name="T32" fmla="*/ 208 w 236"/>
                  <a:gd name="T33" fmla="*/ 177 h 193"/>
                  <a:gd name="T34" fmla="*/ 205 w 236"/>
                  <a:gd name="T35" fmla="*/ 187 h 193"/>
                  <a:gd name="T36" fmla="*/ 202 w 236"/>
                  <a:gd name="T37" fmla="*/ 190 h 193"/>
                  <a:gd name="T38" fmla="*/ 199 w 236"/>
                  <a:gd name="T39" fmla="*/ 190 h 193"/>
                  <a:gd name="T40" fmla="*/ 192 w 236"/>
                  <a:gd name="T41" fmla="*/ 193 h 193"/>
                  <a:gd name="T42" fmla="*/ 189 w 236"/>
                  <a:gd name="T43" fmla="*/ 190 h 193"/>
                  <a:gd name="T44" fmla="*/ 186 w 236"/>
                  <a:gd name="T45" fmla="*/ 180 h 193"/>
                  <a:gd name="T46" fmla="*/ 183 w 236"/>
                  <a:gd name="T47" fmla="*/ 177 h 193"/>
                  <a:gd name="T48" fmla="*/ 189 w 236"/>
                  <a:gd name="T49" fmla="*/ 171 h 193"/>
                  <a:gd name="T50" fmla="*/ 192 w 236"/>
                  <a:gd name="T51" fmla="*/ 168 h 193"/>
                  <a:gd name="T52" fmla="*/ 192 w 236"/>
                  <a:gd name="T53" fmla="*/ 161 h 193"/>
                  <a:gd name="T54" fmla="*/ 196 w 236"/>
                  <a:gd name="T55" fmla="*/ 161 h 193"/>
                  <a:gd name="T56" fmla="*/ 199 w 236"/>
                  <a:gd name="T57" fmla="*/ 155 h 193"/>
                  <a:gd name="T58" fmla="*/ 132 w 236"/>
                  <a:gd name="T59" fmla="*/ 79 h 193"/>
                  <a:gd name="T60" fmla="*/ 22 w 236"/>
                  <a:gd name="T61" fmla="*/ 142 h 193"/>
                  <a:gd name="T62" fmla="*/ 22 w 236"/>
                  <a:gd name="T63" fmla="*/ 152 h 193"/>
                  <a:gd name="T64" fmla="*/ 19 w 236"/>
                  <a:gd name="T65" fmla="*/ 155 h 193"/>
                  <a:gd name="T66" fmla="*/ 19 w 236"/>
                  <a:gd name="T67" fmla="*/ 171 h 193"/>
                  <a:gd name="T68" fmla="*/ 16 w 236"/>
                  <a:gd name="T69" fmla="*/ 174 h 193"/>
                  <a:gd name="T70" fmla="*/ 13 w 236"/>
                  <a:gd name="T71" fmla="*/ 177 h 193"/>
                  <a:gd name="T72" fmla="*/ 6 w 236"/>
                  <a:gd name="T73" fmla="*/ 177 h 193"/>
                  <a:gd name="T74" fmla="*/ 0 w 236"/>
                  <a:gd name="T75" fmla="*/ 171 h 193"/>
                  <a:gd name="T76" fmla="*/ 6 w 236"/>
                  <a:gd name="T77" fmla="*/ 155 h 193"/>
                  <a:gd name="T78" fmla="*/ 6 w 236"/>
                  <a:gd name="T79" fmla="*/ 149 h 193"/>
                  <a:gd name="T80" fmla="*/ 13 w 236"/>
                  <a:gd name="T81" fmla="*/ 139 h 193"/>
                  <a:gd name="T82" fmla="*/ 9 w 236"/>
                  <a:gd name="T83" fmla="*/ 120 h 193"/>
                  <a:gd name="T84" fmla="*/ 114 w 236"/>
                  <a:gd name="T85" fmla="*/ 66 h 193"/>
                  <a:gd name="T86" fmla="*/ 79 w 236"/>
                  <a:gd name="T87" fmla="*/ 35 h 193"/>
                  <a:gd name="T88" fmla="*/ 73 w 236"/>
                  <a:gd name="T89" fmla="*/ 41 h 193"/>
                  <a:gd name="T90" fmla="*/ 69 w 236"/>
                  <a:gd name="T91" fmla="*/ 47 h 193"/>
                  <a:gd name="T92" fmla="*/ 63 w 236"/>
                  <a:gd name="T93" fmla="*/ 54 h 193"/>
                  <a:gd name="T94" fmla="*/ 50 w 236"/>
                  <a:gd name="T95" fmla="*/ 44 h 193"/>
                  <a:gd name="T96" fmla="*/ 50 w 236"/>
                  <a:gd name="T97" fmla="*/ 41 h 193"/>
                  <a:gd name="T98" fmla="*/ 54 w 236"/>
                  <a:gd name="T99" fmla="*/ 35 h 193"/>
                  <a:gd name="T100" fmla="*/ 63 w 236"/>
                  <a:gd name="T101" fmla="*/ 31 h 193"/>
                  <a:gd name="T102" fmla="*/ 66 w 236"/>
                  <a:gd name="T103" fmla="*/ 22 h 193"/>
                  <a:gd name="T104" fmla="*/ 82 w 236"/>
                  <a:gd name="T105" fmla="*/ 9 h 193"/>
                  <a:gd name="T106" fmla="*/ 120 w 236"/>
                  <a:gd name="T107" fmla="*/ 44 h 193"/>
                  <a:gd name="T108" fmla="*/ 120 w 236"/>
                  <a:gd name="T109" fmla="*/ 6 h 193"/>
                  <a:gd name="T110" fmla="*/ 142 w 236"/>
                  <a:gd name="T111" fmla="*/ 0 h 193"/>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236" h="193">
                    <a:moveTo>
                      <a:pt x="142" y="0"/>
                    </a:moveTo>
                    <a:lnTo>
                      <a:pt x="145" y="54"/>
                    </a:lnTo>
                    <a:lnTo>
                      <a:pt x="227" y="22"/>
                    </a:lnTo>
                    <a:lnTo>
                      <a:pt x="233" y="25"/>
                    </a:lnTo>
                    <a:lnTo>
                      <a:pt x="236" y="47"/>
                    </a:lnTo>
                    <a:lnTo>
                      <a:pt x="230" y="47"/>
                    </a:lnTo>
                    <a:lnTo>
                      <a:pt x="230" y="57"/>
                    </a:lnTo>
                    <a:lnTo>
                      <a:pt x="227" y="63"/>
                    </a:lnTo>
                    <a:lnTo>
                      <a:pt x="224" y="63"/>
                    </a:lnTo>
                    <a:lnTo>
                      <a:pt x="218" y="60"/>
                    </a:lnTo>
                    <a:lnTo>
                      <a:pt x="214" y="54"/>
                    </a:lnTo>
                    <a:lnTo>
                      <a:pt x="214" y="47"/>
                    </a:lnTo>
                    <a:lnTo>
                      <a:pt x="151" y="73"/>
                    </a:lnTo>
                    <a:lnTo>
                      <a:pt x="208" y="136"/>
                    </a:lnTo>
                    <a:lnTo>
                      <a:pt x="211" y="161"/>
                    </a:lnTo>
                    <a:lnTo>
                      <a:pt x="208" y="171"/>
                    </a:lnTo>
                    <a:lnTo>
                      <a:pt x="208" y="177"/>
                    </a:lnTo>
                    <a:lnTo>
                      <a:pt x="205" y="187"/>
                    </a:lnTo>
                    <a:lnTo>
                      <a:pt x="202" y="190"/>
                    </a:lnTo>
                    <a:lnTo>
                      <a:pt x="199" y="190"/>
                    </a:lnTo>
                    <a:lnTo>
                      <a:pt x="192" y="193"/>
                    </a:lnTo>
                    <a:lnTo>
                      <a:pt x="189" y="190"/>
                    </a:lnTo>
                    <a:lnTo>
                      <a:pt x="186" y="180"/>
                    </a:lnTo>
                    <a:lnTo>
                      <a:pt x="183" y="177"/>
                    </a:lnTo>
                    <a:lnTo>
                      <a:pt x="189" y="171"/>
                    </a:lnTo>
                    <a:lnTo>
                      <a:pt x="192" y="168"/>
                    </a:lnTo>
                    <a:lnTo>
                      <a:pt x="192" y="161"/>
                    </a:lnTo>
                    <a:lnTo>
                      <a:pt x="196" y="161"/>
                    </a:lnTo>
                    <a:lnTo>
                      <a:pt x="199" y="155"/>
                    </a:lnTo>
                    <a:lnTo>
                      <a:pt x="132" y="79"/>
                    </a:lnTo>
                    <a:lnTo>
                      <a:pt x="22" y="142"/>
                    </a:lnTo>
                    <a:lnTo>
                      <a:pt x="22" y="152"/>
                    </a:lnTo>
                    <a:lnTo>
                      <a:pt x="19" y="155"/>
                    </a:lnTo>
                    <a:lnTo>
                      <a:pt x="19" y="171"/>
                    </a:lnTo>
                    <a:lnTo>
                      <a:pt x="16" y="174"/>
                    </a:lnTo>
                    <a:lnTo>
                      <a:pt x="13" y="177"/>
                    </a:lnTo>
                    <a:lnTo>
                      <a:pt x="6" y="177"/>
                    </a:lnTo>
                    <a:lnTo>
                      <a:pt x="0" y="171"/>
                    </a:lnTo>
                    <a:lnTo>
                      <a:pt x="6" y="155"/>
                    </a:lnTo>
                    <a:lnTo>
                      <a:pt x="6" y="149"/>
                    </a:lnTo>
                    <a:lnTo>
                      <a:pt x="13" y="139"/>
                    </a:lnTo>
                    <a:lnTo>
                      <a:pt x="9" y="120"/>
                    </a:lnTo>
                    <a:lnTo>
                      <a:pt x="114" y="66"/>
                    </a:lnTo>
                    <a:lnTo>
                      <a:pt x="79" y="35"/>
                    </a:lnTo>
                    <a:lnTo>
                      <a:pt x="73" y="41"/>
                    </a:lnTo>
                    <a:lnTo>
                      <a:pt x="69" y="47"/>
                    </a:lnTo>
                    <a:lnTo>
                      <a:pt x="63" y="54"/>
                    </a:lnTo>
                    <a:lnTo>
                      <a:pt x="50" y="44"/>
                    </a:lnTo>
                    <a:lnTo>
                      <a:pt x="50" y="41"/>
                    </a:lnTo>
                    <a:lnTo>
                      <a:pt x="54" y="35"/>
                    </a:lnTo>
                    <a:lnTo>
                      <a:pt x="63" y="31"/>
                    </a:lnTo>
                    <a:lnTo>
                      <a:pt x="66" y="22"/>
                    </a:lnTo>
                    <a:lnTo>
                      <a:pt x="82" y="9"/>
                    </a:lnTo>
                    <a:lnTo>
                      <a:pt x="120" y="44"/>
                    </a:lnTo>
                    <a:lnTo>
                      <a:pt x="120" y="6"/>
                    </a:lnTo>
                    <a:lnTo>
                      <a:pt x="142" y="0"/>
                    </a:lnTo>
                    <a:close/>
                  </a:path>
                </a:pathLst>
              </a:custGeom>
              <a:solidFill>
                <a:srgbClr val="AAAAA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7" name="Freeform 127"/>
              <p:cNvSpPr>
                <a:spLocks/>
              </p:cNvSpPr>
              <p:nvPr/>
            </p:nvSpPr>
            <p:spPr bwMode="auto">
              <a:xfrm>
                <a:off x="521" y="1930"/>
                <a:ext cx="236" cy="193"/>
              </a:xfrm>
              <a:custGeom>
                <a:avLst/>
                <a:gdLst>
                  <a:gd name="T0" fmla="*/ 142 w 236"/>
                  <a:gd name="T1" fmla="*/ 0 h 193"/>
                  <a:gd name="T2" fmla="*/ 145 w 236"/>
                  <a:gd name="T3" fmla="*/ 54 h 193"/>
                  <a:gd name="T4" fmla="*/ 227 w 236"/>
                  <a:gd name="T5" fmla="*/ 22 h 193"/>
                  <a:gd name="T6" fmla="*/ 233 w 236"/>
                  <a:gd name="T7" fmla="*/ 25 h 193"/>
                  <a:gd name="T8" fmla="*/ 236 w 236"/>
                  <a:gd name="T9" fmla="*/ 47 h 193"/>
                  <a:gd name="T10" fmla="*/ 230 w 236"/>
                  <a:gd name="T11" fmla="*/ 47 h 193"/>
                  <a:gd name="T12" fmla="*/ 230 w 236"/>
                  <a:gd name="T13" fmla="*/ 57 h 193"/>
                  <a:gd name="T14" fmla="*/ 227 w 236"/>
                  <a:gd name="T15" fmla="*/ 63 h 193"/>
                  <a:gd name="T16" fmla="*/ 224 w 236"/>
                  <a:gd name="T17" fmla="*/ 63 h 193"/>
                  <a:gd name="T18" fmla="*/ 218 w 236"/>
                  <a:gd name="T19" fmla="*/ 60 h 193"/>
                  <a:gd name="T20" fmla="*/ 214 w 236"/>
                  <a:gd name="T21" fmla="*/ 54 h 193"/>
                  <a:gd name="T22" fmla="*/ 214 w 236"/>
                  <a:gd name="T23" fmla="*/ 47 h 193"/>
                  <a:gd name="T24" fmla="*/ 151 w 236"/>
                  <a:gd name="T25" fmla="*/ 73 h 193"/>
                  <a:gd name="T26" fmla="*/ 208 w 236"/>
                  <a:gd name="T27" fmla="*/ 136 h 193"/>
                  <a:gd name="T28" fmla="*/ 211 w 236"/>
                  <a:gd name="T29" fmla="*/ 161 h 193"/>
                  <a:gd name="T30" fmla="*/ 208 w 236"/>
                  <a:gd name="T31" fmla="*/ 171 h 193"/>
                  <a:gd name="T32" fmla="*/ 208 w 236"/>
                  <a:gd name="T33" fmla="*/ 177 h 193"/>
                  <a:gd name="T34" fmla="*/ 205 w 236"/>
                  <a:gd name="T35" fmla="*/ 187 h 193"/>
                  <a:gd name="T36" fmla="*/ 202 w 236"/>
                  <a:gd name="T37" fmla="*/ 190 h 193"/>
                  <a:gd name="T38" fmla="*/ 199 w 236"/>
                  <a:gd name="T39" fmla="*/ 190 h 193"/>
                  <a:gd name="T40" fmla="*/ 192 w 236"/>
                  <a:gd name="T41" fmla="*/ 193 h 193"/>
                  <a:gd name="T42" fmla="*/ 189 w 236"/>
                  <a:gd name="T43" fmla="*/ 190 h 193"/>
                  <a:gd name="T44" fmla="*/ 186 w 236"/>
                  <a:gd name="T45" fmla="*/ 180 h 193"/>
                  <a:gd name="T46" fmla="*/ 183 w 236"/>
                  <a:gd name="T47" fmla="*/ 177 h 193"/>
                  <a:gd name="T48" fmla="*/ 189 w 236"/>
                  <a:gd name="T49" fmla="*/ 171 h 193"/>
                  <a:gd name="T50" fmla="*/ 192 w 236"/>
                  <a:gd name="T51" fmla="*/ 168 h 193"/>
                  <a:gd name="T52" fmla="*/ 192 w 236"/>
                  <a:gd name="T53" fmla="*/ 161 h 193"/>
                  <a:gd name="T54" fmla="*/ 196 w 236"/>
                  <a:gd name="T55" fmla="*/ 161 h 193"/>
                  <a:gd name="T56" fmla="*/ 199 w 236"/>
                  <a:gd name="T57" fmla="*/ 155 h 193"/>
                  <a:gd name="T58" fmla="*/ 132 w 236"/>
                  <a:gd name="T59" fmla="*/ 79 h 193"/>
                  <a:gd name="T60" fmla="*/ 22 w 236"/>
                  <a:gd name="T61" fmla="*/ 142 h 193"/>
                  <a:gd name="T62" fmla="*/ 22 w 236"/>
                  <a:gd name="T63" fmla="*/ 152 h 193"/>
                  <a:gd name="T64" fmla="*/ 19 w 236"/>
                  <a:gd name="T65" fmla="*/ 155 h 193"/>
                  <a:gd name="T66" fmla="*/ 19 w 236"/>
                  <a:gd name="T67" fmla="*/ 171 h 193"/>
                  <a:gd name="T68" fmla="*/ 16 w 236"/>
                  <a:gd name="T69" fmla="*/ 174 h 193"/>
                  <a:gd name="T70" fmla="*/ 13 w 236"/>
                  <a:gd name="T71" fmla="*/ 177 h 193"/>
                  <a:gd name="T72" fmla="*/ 6 w 236"/>
                  <a:gd name="T73" fmla="*/ 177 h 193"/>
                  <a:gd name="T74" fmla="*/ 0 w 236"/>
                  <a:gd name="T75" fmla="*/ 171 h 193"/>
                  <a:gd name="T76" fmla="*/ 6 w 236"/>
                  <a:gd name="T77" fmla="*/ 155 h 193"/>
                  <a:gd name="T78" fmla="*/ 6 w 236"/>
                  <a:gd name="T79" fmla="*/ 149 h 193"/>
                  <a:gd name="T80" fmla="*/ 13 w 236"/>
                  <a:gd name="T81" fmla="*/ 139 h 193"/>
                  <a:gd name="T82" fmla="*/ 9 w 236"/>
                  <a:gd name="T83" fmla="*/ 120 h 193"/>
                  <a:gd name="T84" fmla="*/ 114 w 236"/>
                  <a:gd name="T85" fmla="*/ 66 h 193"/>
                  <a:gd name="T86" fmla="*/ 79 w 236"/>
                  <a:gd name="T87" fmla="*/ 35 h 193"/>
                  <a:gd name="T88" fmla="*/ 73 w 236"/>
                  <a:gd name="T89" fmla="*/ 41 h 193"/>
                  <a:gd name="T90" fmla="*/ 69 w 236"/>
                  <a:gd name="T91" fmla="*/ 47 h 193"/>
                  <a:gd name="T92" fmla="*/ 63 w 236"/>
                  <a:gd name="T93" fmla="*/ 54 h 193"/>
                  <a:gd name="T94" fmla="*/ 50 w 236"/>
                  <a:gd name="T95" fmla="*/ 44 h 193"/>
                  <a:gd name="T96" fmla="*/ 50 w 236"/>
                  <a:gd name="T97" fmla="*/ 41 h 193"/>
                  <a:gd name="T98" fmla="*/ 54 w 236"/>
                  <a:gd name="T99" fmla="*/ 35 h 193"/>
                  <a:gd name="T100" fmla="*/ 63 w 236"/>
                  <a:gd name="T101" fmla="*/ 31 h 193"/>
                  <a:gd name="T102" fmla="*/ 66 w 236"/>
                  <a:gd name="T103" fmla="*/ 22 h 193"/>
                  <a:gd name="T104" fmla="*/ 82 w 236"/>
                  <a:gd name="T105" fmla="*/ 9 h 193"/>
                  <a:gd name="T106" fmla="*/ 120 w 236"/>
                  <a:gd name="T107" fmla="*/ 44 h 193"/>
                  <a:gd name="T108" fmla="*/ 120 w 236"/>
                  <a:gd name="T109" fmla="*/ 6 h 193"/>
                  <a:gd name="T110" fmla="*/ 142 w 236"/>
                  <a:gd name="T111" fmla="*/ 0 h 193"/>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236" h="193">
                    <a:moveTo>
                      <a:pt x="142" y="0"/>
                    </a:moveTo>
                    <a:lnTo>
                      <a:pt x="145" y="54"/>
                    </a:lnTo>
                    <a:lnTo>
                      <a:pt x="227" y="22"/>
                    </a:lnTo>
                    <a:lnTo>
                      <a:pt x="233" y="25"/>
                    </a:lnTo>
                    <a:lnTo>
                      <a:pt x="236" y="47"/>
                    </a:lnTo>
                    <a:lnTo>
                      <a:pt x="230" y="47"/>
                    </a:lnTo>
                    <a:lnTo>
                      <a:pt x="230" y="57"/>
                    </a:lnTo>
                    <a:lnTo>
                      <a:pt x="227" y="63"/>
                    </a:lnTo>
                    <a:lnTo>
                      <a:pt x="224" y="63"/>
                    </a:lnTo>
                    <a:lnTo>
                      <a:pt x="218" y="60"/>
                    </a:lnTo>
                    <a:lnTo>
                      <a:pt x="214" y="54"/>
                    </a:lnTo>
                    <a:lnTo>
                      <a:pt x="214" y="47"/>
                    </a:lnTo>
                    <a:lnTo>
                      <a:pt x="151" y="73"/>
                    </a:lnTo>
                    <a:lnTo>
                      <a:pt x="208" y="136"/>
                    </a:lnTo>
                    <a:lnTo>
                      <a:pt x="211" y="161"/>
                    </a:lnTo>
                    <a:lnTo>
                      <a:pt x="208" y="171"/>
                    </a:lnTo>
                    <a:lnTo>
                      <a:pt x="208" y="177"/>
                    </a:lnTo>
                    <a:lnTo>
                      <a:pt x="205" y="187"/>
                    </a:lnTo>
                    <a:lnTo>
                      <a:pt x="202" y="190"/>
                    </a:lnTo>
                    <a:lnTo>
                      <a:pt x="199" y="190"/>
                    </a:lnTo>
                    <a:lnTo>
                      <a:pt x="192" y="193"/>
                    </a:lnTo>
                    <a:lnTo>
                      <a:pt x="189" y="190"/>
                    </a:lnTo>
                    <a:lnTo>
                      <a:pt x="186" y="180"/>
                    </a:lnTo>
                    <a:lnTo>
                      <a:pt x="183" y="177"/>
                    </a:lnTo>
                    <a:lnTo>
                      <a:pt x="189" y="171"/>
                    </a:lnTo>
                    <a:lnTo>
                      <a:pt x="192" y="168"/>
                    </a:lnTo>
                    <a:lnTo>
                      <a:pt x="192" y="161"/>
                    </a:lnTo>
                    <a:lnTo>
                      <a:pt x="196" y="161"/>
                    </a:lnTo>
                    <a:lnTo>
                      <a:pt x="199" y="155"/>
                    </a:lnTo>
                    <a:lnTo>
                      <a:pt x="132" y="79"/>
                    </a:lnTo>
                    <a:lnTo>
                      <a:pt x="22" y="142"/>
                    </a:lnTo>
                    <a:lnTo>
                      <a:pt x="22" y="152"/>
                    </a:lnTo>
                    <a:lnTo>
                      <a:pt x="19" y="155"/>
                    </a:lnTo>
                    <a:lnTo>
                      <a:pt x="19" y="171"/>
                    </a:lnTo>
                    <a:lnTo>
                      <a:pt x="16" y="174"/>
                    </a:lnTo>
                    <a:lnTo>
                      <a:pt x="13" y="177"/>
                    </a:lnTo>
                    <a:lnTo>
                      <a:pt x="6" y="177"/>
                    </a:lnTo>
                    <a:lnTo>
                      <a:pt x="0" y="171"/>
                    </a:lnTo>
                    <a:lnTo>
                      <a:pt x="6" y="155"/>
                    </a:lnTo>
                    <a:lnTo>
                      <a:pt x="6" y="149"/>
                    </a:lnTo>
                    <a:lnTo>
                      <a:pt x="13" y="139"/>
                    </a:lnTo>
                    <a:lnTo>
                      <a:pt x="9" y="120"/>
                    </a:lnTo>
                    <a:lnTo>
                      <a:pt x="114" y="66"/>
                    </a:lnTo>
                    <a:lnTo>
                      <a:pt x="79" y="35"/>
                    </a:lnTo>
                    <a:lnTo>
                      <a:pt x="73" y="41"/>
                    </a:lnTo>
                    <a:lnTo>
                      <a:pt x="69" y="47"/>
                    </a:lnTo>
                    <a:lnTo>
                      <a:pt x="63" y="54"/>
                    </a:lnTo>
                    <a:lnTo>
                      <a:pt x="50" y="44"/>
                    </a:lnTo>
                    <a:lnTo>
                      <a:pt x="50" y="41"/>
                    </a:lnTo>
                    <a:lnTo>
                      <a:pt x="54" y="35"/>
                    </a:lnTo>
                    <a:lnTo>
                      <a:pt x="63" y="31"/>
                    </a:lnTo>
                    <a:lnTo>
                      <a:pt x="66" y="22"/>
                    </a:lnTo>
                    <a:lnTo>
                      <a:pt x="82" y="9"/>
                    </a:lnTo>
                    <a:lnTo>
                      <a:pt x="120" y="44"/>
                    </a:lnTo>
                    <a:lnTo>
                      <a:pt x="120" y="6"/>
                    </a:lnTo>
                    <a:lnTo>
                      <a:pt x="142" y="0"/>
                    </a:lnTo>
                    <a:close/>
                  </a:path>
                </a:pathLst>
              </a:custGeom>
              <a:solidFill>
                <a:srgbClr val="AAAAAA"/>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8" name="Freeform 128"/>
              <p:cNvSpPr>
                <a:spLocks/>
              </p:cNvSpPr>
              <p:nvPr/>
            </p:nvSpPr>
            <p:spPr bwMode="auto">
              <a:xfrm>
                <a:off x="811" y="1658"/>
                <a:ext cx="69" cy="54"/>
              </a:xfrm>
              <a:custGeom>
                <a:avLst/>
                <a:gdLst>
                  <a:gd name="T0" fmla="*/ 0 w 69"/>
                  <a:gd name="T1" fmla="*/ 35 h 54"/>
                  <a:gd name="T2" fmla="*/ 19 w 69"/>
                  <a:gd name="T3" fmla="*/ 22 h 54"/>
                  <a:gd name="T4" fmla="*/ 19 w 69"/>
                  <a:gd name="T5" fmla="*/ 6 h 54"/>
                  <a:gd name="T6" fmla="*/ 35 w 69"/>
                  <a:gd name="T7" fmla="*/ 0 h 54"/>
                  <a:gd name="T8" fmla="*/ 38 w 69"/>
                  <a:gd name="T9" fmla="*/ 0 h 54"/>
                  <a:gd name="T10" fmla="*/ 38 w 69"/>
                  <a:gd name="T11" fmla="*/ 6 h 54"/>
                  <a:gd name="T12" fmla="*/ 51 w 69"/>
                  <a:gd name="T13" fmla="*/ 3 h 54"/>
                  <a:gd name="T14" fmla="*/ 63 w 69"/>
                  <a:gd name="T15" fmla="*/ 0 h 54"/>
                  <a:gd name="T16" fmla="*/ 69 w 69"/>
                  <a:gd name="T17" fmla="*/ 6 h 54"/>
                  <a:gd name="T18" fmla="*/ 63 w 69"/>
                  <a:gd name="T19" fmla="*/ 9 h 54"/>
                  <a:gd name="T20" fmla="*/ 63 w 69"/>
                  <a:gd name="T21" fmla="*/ 38 h 54"/>
                  <a:gd name="T22" fmla="*/ 41 w 69"/>
                  <a:gd name="T23" fmla="*/ 50 h 54"/>
                  <a:gd name="T24" fmla="*/ 35 w 69"/>
                  <a:gd name="T25" fmla="*/ 50 h 54"/>
                  <a:gd name="T26" fmla="*/ 25 w 69"/>
                  <a:gd name="T27" fmla="*/ 54 h 54"/>
                  <a:gd name="T28" fmla="*/ 0 w 69"/>
                  <a:gd name="T29" fmla="*/ 35 h 5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69" h="54">
                    <a:moveTo>
                      <a:pt x="0" y="35"/>
                    </a:moveTo>
                    <a:lnTo>
                      <a:pt x="19" y="22"/>
                    </a:lnTo>
                    <a:lnTo>
                      <a:pt x="19" y="6"/>
                    </a:lnTo>
                    <a:lnTo>
                      <a:pt x="35" y="0"/>
                    </a:lnTo>
                    <a:lnTo>
                      <a:pt x="38" y="0"/>
                    </a:lnTo>
                    <a:lnTo>
                      <a:pt x="38" y="6"/>
                    </a:lnTo>
                    <a:lnTo>
                      <a:pt x="51" y="3"/>
                    </a:lnTo>
                    <a:lnTo>
                      <a:pt x="63" y="0"/>
                    </a:lnTo>
                    <a:lnTo>
                      <a:pt x="69" y="6"/>
                    </a:lnTo>
                    <a:lnTo>
                      <a:pt x="63" y="9"/>
                    </a:lnTo>
                    <a:lnTo>
                      <a:pt x="63" y="38"/>
                    </a:lnTo>
                    <a:lnTo>
                      <a:pt x="41" y="50"/>
                    </a:lnTo>
                    <a:lnTo>
                      <a:pt x="35" y="50"/>
                    </a:lnTo>
                    <a:lnTo>
                      <a:pt x="25" y="54"/>
                    </a:lnTo>
                    <a:lnTo>
                      <a:pt x="0" y="35"/>
                    </a:lnTo>
                    <a:close/>
                  </a:path>
                </a:pathLst>
              </a:custGeom>
              <a:solidFill>
                <a:srgbClr val="FFA3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9" name="Freeform 129"/>
              <p:cNvSpPr>
                <a:spLocks/>
              </p:cNvSpPr>
              <p:nvPr/>
            </p:nvSpPr>
            <p:spPr bwMode="auto">
              <a:xfrm>
                <a:off x="811" y="1658"/>
                <a:ext cx="69" cy="54"/>
              </a:xfrm>
              <a:custGeom>
                <a:avLst/>
                <a:gdLst>
                  <a:gd name="T0" fmla="*/ 0 w 69"/>
                  <a:gd name="T1" fmla="*/ 35 h 54"/>
                  <a:gd name="T2" fmla="*/ 19 w 69"/>
                  <a:gd name="T3" fmla="*/ 22 h 54"/>
                  <a:gd name="T4" fmla="*/ 19 w 69"/>
                  <a:gd name="T5" fmla="*/ 6 h 54"/>
                  <a:gd name="T6" fmla="*/ 35 w 69"/>
                  <a:gd name="T7" fmla="*/ 0 h 54"/>
                  <a:gd name="T8" fmla="*/ 38 w 69"/>
                  <a:gd name="T9" fmla="*/ 0 h 54"/>
                  <a:gd name="T10" fmla="*/ 38 w 69"/>
                  <a:gd name="T11" fmla="*/ 6 h 54"/>
                  <a:gd name="T12" fmla="*/ 51 w 69"/>
                  <a:gd name="T13" fmla="*/ 3 h 54"/>
                  <a:gd name="T14" fmla="*/ 63 w 69"/>
                  <a:gd name="T15" fmla="*/ 0 h 54"/>
                  <a:gd name="T16" fmla="*/ 69 w 69"/>
                  <a:gd name="T17" fmla="*/ 6 h 54"/>
                  <a:gd name="T18" fmla="*/ 63 w 69"/>
                  <a:gd name="T19" fmla="*/ 9 h 54"/>
                  <a:gd name="T20" fmla="*/ 63 w 69"/>
                  <a:gd name="T21" fmla="*/ 38 h 54"/>
                  <a:gd name="T22" fmla="*/ 41 w 69"/>
                  <a:gd name="T23" fmla="*/ 50 h 54"/>
                  <a:gd name="T24" fmla="*/ 35 w 69"/>
                  <a:gd name="T25" fmla="*/ 50 h 54"/>
                  <a:gd name="T26" fmla="*/ 25 w 69"/>
                  <a:gd name="T27" fmla="*/ 54 h 54"/>
                  <a:gd name="T28" fmla="*/ 0 w 69"/>
                  <a:gd name="T29" fmla="*/ 35 h 5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69" h="54">
                    <a:moveTo>
                      <a:pt x="0" y="35"/>
                    </a:moveTo>
                    <a:lnTo>
                      <a:pt x="19" y="22"/>
                    </a:lnTo>
                    <a:lnTo>
                      <a:pt x="19" y="6"/>
                    </a:lnTo>
                    <a:lnTo>
                      <a:pt x="35" y="0"/>
                    </a:lnTo>
                    <a:lnTo>
                      <a:pt x="38" y="0"/>
                    </a:lnTo>
                    <a:lnTo>
                      <a:pt x="38" y="6"/>
                    </a:lnTo>
                    <a:lnTo>
                      <a:pt x="51" y="3"/>
                    </a:lnTo>
                    <a:lnTo>
                      <a:pt x="63" y="0"/>
                    </a:lnTo>
                    <a:lnTo>
                      <a:pt x="69" y="6"/>
                    </a:lnTo>
                    <a:lnTo>
                      <a:pt x="63" y="9"/>
                    </a:lnTo>
                    <a:lnTo>
                      <a:pt x="63" y="38"/>
                    </a:lnTo>
                    <a:lnTo>
                      <a:pt x="41" y="50"/>
                    </a:lnTo>
                    <a:lnTo>
                      <a:pt x="35" y="50"/>
                    </a:lnTo>
                    <a:lnTo>
                      <a:pt x="25" y="54"/>
                    </a:lnTo>
                    <a:lnTo>
                      <a:pt x="0" y="35"/>
                    </a:lnTo>
                    <a:close/>
                  </a:path>
                </a:pathLst>
              </a:custGeom>
              <a:solidFill>
                <a:srgbClr val="FFA38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0" name="Freeform 130"/>
              <p:cNvSpPr>
                <a:spLocks/>
              </p:cNvSpPr>
              <p:nvPr/>
            </p:nvSpPr>
            <p:spPr bwMode="auto">
              <a:xfrm>
                <a:off x="590" y="1417"/>
                <a:ext cx="111" cy="149"/>
              </a:xfrm>
              <a:custGeom>
                <a:avLst/>
                <a:gdLst>
                  <a:gd name="T0" fmla="*/ 101 w 111"/>
                  <a:gd name="T1" fmla="*/ 13 h 149"/>
                  <a:gd name="T2" fmla="*/ 101 w 111"/>
                  <a:gd name="T3" fmla="*/ 41 h 149"/>
                  <a:gd name="T4" fmla="*/ 101 w 111"/>
                  <a:gd name="T5" fmla="*/ 48 h 149"/>
                  <a:gd name="T6" fmla="*/ 111 w 111"/>
                  <a:gd name="T7" fmla="*/ 70 h 149"/>
                  <a:gd name="T8" fmla="*/ 108 w 111"/>
                  <a:gd name="T9" fmla="*/ 76 h 149"/>
                  <a:gd name="T10" fmla="*/ 101 w 111"/>
                  <a:gd name="T11" fmla="*/ 76 h 149"/>
                  <a:gd name="T12" fmla="*/ 101 w 111"/>
                  <a:gd name="T13" fmla="*/ 89 h 149"/>
                  <a:gd name="T14" fmla="*/ 95 w 111"/>
                  <a:gd name="T15" fmla="*/ 89 h 149"/>
                  <a:gd name="T16" fmla="*/ 98 w 111"/>
                  <a:gd name="T17" fmla="*/ 92 h 149"/>
                  <a:gd name="T18" fmla="*/ 98 w 111"/>
                  <a:gd name="T19" fmla="*/ 92 h 149"/>
                  <a:gd name="T20" fmla="*/ 95 w 111"/>
                  <a:gd name="T21" fmla="*/ 105 h 149"/>
                  <a:gd name="T22" fmla="*/ 92 w 111"/>
                  <a:gd name="T23" fmla="*/ 114 h 149"/>
                  <a:gd name="T24" fmla="*/ 86 w 111"/>
                  <a:gd name="T25" fmla="*/ 117 h 149"/>
                  <a:gd name="T26" fmla="*/ 76 w 111"/>
                  <a:gd name="T27" fmla="*/ 117 h 149"/>
                  <a:gd name="T28" fmla="*/ 63 w 111"/>
                  <a:gd name="T29" fmla="*/ 127 h 149"/>
                  <a:gd name="T30" fmla="*/ 51 w 111"/>
                  <a:gd name="T31" fmla="*/ 149 h 149"/>
                  <a:gd name="T32" fmla="*/ 0 w 111"/>
                  <a:gd name="T33" fmla="*/ 105 h 149"/>
                  <a:gd name="T34" fmla="*/ 26 w 111"/>
                  <a:gd name="T35" fmla="*/ 0 h 149"/>
                  <a:gd name="T36" fmla="*/ 101 w 111"/>
                  <a:gd name="T37" fmla="*/ 13 h 14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1" h="149">
                    <a:moveTo>
                      <a:pt x="101" y="13"/>
                    </a:moveTo>
                    <a:lnTo>
                      <a:pt x="101" y="41"/>
                    </a:lnTo>
                    <a:lnTo>
                      <a:pt x="101" y="48"/>
                    </a:lnTo>
                    <a:lnTo>
                      <a:pt x="111" y="70"/>
                    </a:lnTo>
                    <a:lnTo>
                      <a:pt x="108" y="76"/>
                    </a:lnTo>
                    <a:lnTo>
                      <a:pt x="101" y="76"/>
                    </a:lnTo>
                    <a:lnTo>
                      <a:pt x="101" y="89"/>
                    </a:lnTo>
                    <a:lnTo>
                      <a:pt x="95" y="89"/>
                    </a:lnTo>
                    <a:lnTo>
                      <a:pt x="98" y="92"/>
                    </a:lnTo>
                    <a:lnTo>
                      <a:pt x="95" y="105"/>
                    </a:lnTo>
                    <a:lnTo>
                      <a:pt x="92" y="114"/>
                    </a:lnTo>
                    <a:lnTo>
                      <a:pt x="86" y="117"/>
                    </a:lnTo>
                    <a:lnTo>
                      <a:pt x="76" y="117"/>
                    </a:lnTo>
                    <a:lnTo>
                      <a:pt x="63" y="127"/>
                    </a:lnTo>
                    <a:lnTo>
                      <a:pt x="51" y="149"/>
                    </a:lnTo>
                    <a:lnTo>
                      <a:pt x="0" y="105"/>
                    </a:lnTo>
                    <a:lnTo>
                      <a:pt x="26" y="0"/>
                    </a:lnTo>
                    <a:lnTo>
                      <a:pt x="101" y="13"/>
                    </a:lnTo>
                    <a:close/>
                  </a:path>
                </a:pathLst>
              </a:custGeom>
              <a:solidFill>
                <a:srgbClr val="FFA3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1" name="Freeform 131"/>
              <p:cNvSpPr>
                <a:spLocks/>
              </p:cNvSpPr>
              <p:nvPr/>
            </p:nvSpPr>
            <p:spPr bwMode="auto">
              <a:xfrm>
                <a:off x="590" y="1417"/>
                <a:ext cx="111" cy="149"/>
              </a:xfrm>
              <a:custGeom>
                <a:avLst/>
                <a:gdLst>
                  <a:gd name="T0" fmla="*/ 101 w 111"/>
                  <a:gd name="T1" fmla="*/ 13 h 149"/>
                  <a:gd name="T2" fmla="*/ 101 w 111"/>
                  <a:gd name="T3" fmla="*/ 41 h 149"/>
                  <a:gd name="T4" fmla="*/ 101 w 111"/>
                  <a:gd name="T5" fmla="*/ 48 h 149"/>
                  <a:gd name="T6" fmla="*/ 111 w 111"/>
                  <a:gd name="T7" fmla="*/ 70 h 149"/>
                  <a:gd name="T8" fmla="*/ 108 w 111"/>
                  <a:gd name="T9" fmla="*/ 76 h 149"/>
                  <a:gd name="T10" fmla="*/ 101 w 111"/>
                  <a:gd name="T11" fmla="*/ 76 h 149"/>
                  <a:gd name="T12" fmla="*/ 101 w 111"/>
                  <a:gd name="T13" fmla="*/ 89 h 149"/>
                  <a:gd name="T14" fmla="*/ 95 w 111"/>
                  <a:gd name="T15" fmla="*/ 89 h 149"/>
                  <a:gd name="T16" fmla="*/ 98 w 111"/>
                  <a:gd name="T17" fmla="*/ 92 h 149"/>
                  <a:gd name="T18" fmla="*/ 95 w 111"/>
                  <a:gd name="T19" fmla="*/ 105 h 149"/>
                  <a:gd name="T20" fmla="*/ 92 w 111"/>
                  <a:gd name="T21" fmla="*/ 114 h 149"/>
                  <a:gd name="T22" fmla="*/ 86 w 111"/>
                  <a:gd name="T23" fmla="*/ 117 h 149"/>
                  <a:gd name="T24" fmla="*/ 76 w 111"/>
                  <a:gd name="T25" fmla="*/ 117 h 149"/>
                  <a:gd name="T26" fmla="*/ 63 w 111"/>
                  <a:gd name="T27" fmla="*/ 127 h 149"/>
                  <a:gd name="T28" fmla="*/ 51 w 111"/>
                  <a:gd name="T29" fmla="*/ 149 h 149"/>
                  <a:gd name="T30" fmla="*/ 0 w 111"/>
                  <a:gd name="T31" fmla="*/ 105 h 149"/>
                  <a:gd name="T32" fmla="*/ 26 w 111"/>
                  <a:gd name="T33" fmla="*/ 0 h 149"/>
                  <a:gd name="T34" fmla="*/ 101 w 111"/>
                  <a:gd name="T35" fmla="*/ 13 h 14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111" h="149">
                    <a:moveTo>
                      <a:pt x="101" y="13"/>
                    </a:moveTo>
                    <a:lnTo>
                      <a:pt x="101" y="41"/>
                    </a:lnTo>
                    <a:lnTo>
                      <a:pt x="101" y="48"/>
                    </a:lnTo>
                    <a:lnTo>
                      <a:pt x="111" y="70"/>
                    </a:lnTo>
                    <a:lnTo>
                      <a:pt x="108" y="76"/>
                    </a:lnTo>
                    <a:lnTo>
                      <a:pt x="101" y="76"/>
                    </a:lnTo>
                    <a:lnTo>
                      <a:pt x="101" y="89"/>
                    </a:lnTo>
                    <a:lnTo>
                      <a:pt x="95" y="89"/>
                    </a:lnTo>
                    <a:lnTo>
                      <a:pt x="98" y="92"/>
                    </a:lnTo>
                    <a:lnTo>
                      <a:pt x="95" y="105"/>
                    </a:lnTo>
                    <a:lnTo>
                      <a:pt x="92" y="114"/>
                    </a:lnTo>
                    <a:lnTo>
                      <a:pt x="86" y="117"/>
                    </a:lnTo>
                    <a:lnTo>
                      <a:pt x="76" y="117"/>
                    </a:lnTo>
                    <a:lnTo>
                      <a:pt x="63" y="127"/>
                    </a:lnTo>
                    <a:lnTo>
                      <a:pt x="51" y="149"/>
                    </a:lnTo>
                    <a:lnTo>
                      <a:pt x="0" y="105"/>
                    </a:lnTo>
                    <a:lnTo>
                      <a:pt x="26" y="0"/>
                    </a:lnTo>
                    <a:lnTo>
                      <a:pt x="101" y="13"/>
                    </a:lnTo>
                    <a:close/>
                  </a:path>
                </a:pathLst>
              </a:custGeom>
              <a:solidFill>
                <a:srgbClr val="FFA38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2" name="Freeform 132"/>
              <p:cNvSpPr>
                <a:spLocks/>
              </p:cNvSpPr>
              <p:nvPr/>
            </p:nvSpPr>
            <p:spPr bwMode="auto">
              <a:xfrm>
                <a:off x="568" y="1395"/>
                <a:ext cx="133" cy="124"/>
              </a:xfrm>
              <a:custGeom>
                <a:avLst/>
                <a:gdLst>
                  <a:gd name="T0" fmla="*/ 76 w 133"/>
                  <a:gd name="T1" fmla="*/ 86 h 124"/>
                  <a:gd name="T2" fmla="*/ 67 w 133"/>
                  <a:gd name="T3" fmla="*/ 95 h 124"/>
                  <a:gd name="T4" fmla="*/ 57 w 133"/>
                  <a:gd name="T5" fmla="*/ 120 h 124"/>
                  <a:gd name="T6" fmla="*/ 29 w 133"/>
                  <a:gd name="T7" fmla="*/ 124 h 124"/>
                  <a:gd name="T8" fmla="*/ 16 w 133"/>
                  <a:gd name="T9" fmla="*/ 120 h 124"/>
                  <a:gd name="T10" fmla="*/ 0 w 133"/>
                  <a:gd name="T11" fmla="*/ 63 h 124"/>
                  <a:gd name="T12" fmla="*/ 0 w 133"/>
                  <a:gd name="T13" fmla="*/ 44 h 124"/>
                  <a:gd name="T14" fmla="*/ 16 w 133"/>
                  <a:gd name="T15" fmla="*/ 16 h 124"/>
                  <a:gd name="T16" fmla="*/ 38 w 133"/>
                  <a:gd name="T17" fmla="*/ 0 h 124"/>
                  <a:gd name="T18" fmla="*/ 73 w 133"/>
                  <a:gd name="T19" fmla="*/ 0 h 124"/>
                  <a:gd name="T20" fmla="*/ 108 w 133"/>
                  <a:gd name="T21" fmla="*/ 10 h 124"/>
                  <a:gd name="T22" fmla="*/ 111 w 133"/>
                  <a:gd name="T23" fmla="*/ 19 h 124"/>
                  <a:gd name="T24" fmla="*/ 133 w 133"/>
                  <a:gd name="T25" fmla="*/ 32 h 124"/>
                  <a:gd name="T26" fmla="*/ 133 w 133"/>
                  <a:gd name="T27" fmla="*/ 41 h 124"/>
                  <a:gd name="T28" fmla="*/ 120 w 133"/>
                  <a:gd name="T29" fmla="*/ 51 h 124"/>
                  <a:gd name="T30" fmla="*/ 108 w 133"/>
                  <a:gd name="T31" fmla="*/ 54 h 124"/>
                  <a:gd name="T32" fmla="*/ 98 w 133"/>
                  <a:gd name="T33" fmla="*/ 63 h 124"/>
                  <a:gd name="T34" fmla="*/ 98 w 133"/>
                  <a:gd name="T35" fmla="*/ 86 h 124"/>
                  <a:gd name="T36" fmla="*/ 85 w 133"/>
                  <a:gd name="T37" fmla="*/ 92 h 124"/>
                  <a:gd name="T38" fmla="*/ 76 w 133"/>
                  <a:gd name="T39" fmla="*/ 86 h 124"/>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133" h="124">
                    <a:moveTo>
                      <a:pt x="76" y="86"/>
                    </a:moveTo>
                    <a:lnTo>
                      <a:pt x="67" y="95"/>
                    </a:lnTo>
                    <a:lnTo>
                      <a:pt x="57" y="120"/>
                    </a:lnTo>
                    <a:lnTo>
                      <a:pt x="29" y="124"/>
                    </a:lnTo>
                    <a:lnTo>
                      <a:pt x="16" y="120"/>
                    </a:lnTo>
                    <a:lnTo>
                      <a:pt x="0" y="63"/>
                    </a:lnTo>
                    <a:lnTo>
                      <a:pt x="0" y="44"/>
                    </a:lnTo>
                    <a:lnTo>
                      <a:pt x="16" y="16"/>
                    </a:lnTo>
                    <a:lnTo>
                      <a:pt x="38" y="0"/>
                    </a:lnTo>
                    <a:lnTo>
                      <a:pt x="73" y="0"/>
                    </a:lnTo>
                    <a:lnTo>
                      <a:pt x="108" y="10"/>
                    </a:lnTo>
                    <a:lnTo>
                      <a:pt x="111" y="19"/>
                    </a:lnTo>
                    <a:lnTo>
                      <a:pt x="133" y="32"/>
                    </a:lnTo>
                    <a:lnTo>
                      <a:pt x="133" y="41"/>
                    </a:lnTo>
                    <a:lnTo>
                      <a:pt x="120" y="51"/>
                    </a:lnTo>
                    <a:lnTo>
                      <a:pt x="108" y="54"/>
                    </a:lnTo>
                    <a:lnTo>
                      <a:pt x="98" y="63"/>
                    </a:lnTo>
                    <a:lnTo>
                      <a:pt x="98" y="86"/>
                    </a:lnTo>
                    <a:lnTo>
                      <a:pt x="85" y="92"/>
                    </a:lnTo>
                    <a:lnTo>
                      <a:pt x="76" y="86"/>
                    </a:lnTo>
                    <a:close/>
                  </a:path>
                </a:pathLst>
              </a:custGeom>
              <a:solidFill>
                <a:srgbClr val="8F5B1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3" name="Freeform 133"/>
              <p:cNvSpPr>
                <a:spLocks/>
              </p:cNvSpPr>
              <p:nvPr/>
            </p:nvSpPr>
            <p:spPr bwMode="auto">
              <a:xfrm>
                <a:off x="568" y="1395"/>
                <a:ext cx="133" cy="124"/>
              </a:xfrm>
              <a:custGeom>
                <a:avLst/>
                <a:gdLst>
                  <a:gd name="T0" fmla="*/ 76 w 133"/>
                  <a:gd name="T1" fmla="*/ 86 h 124"/>
                  <a:gd name="T2" fmla="*/ 67 w 133"/>
                  <a:gd name="T3" fmla="*/ 95 h 124"/>
                  <a:gd name="T4" fmla="*/ 57 w 133"/>
                  <a:gd name="T5" fmla="*/ 120 h 124"/>
                  <a:gd name="T6" fmla="*/ 29 w 133"/>
                  <a:gd name="T7" fmla="*/ 124 h 124"/>
                  <a:gd name="T8" fmla="*/ 16 w 133"/>
                  <a:gd name="T9" fmla="*/ 120 h 124"/>
                  <a:gd name="T10" fmla="*/ 0 w 133"/>
                  <a:gd name="T11" fmla="*/ 63 h 124"/>
                  <a:gd name="T12" fmla="*/ 0 w 133"/>
                  <a:gd name="T13" fmla="*/ 44 h 124"/>
                  <a:gd name="T14" fmla="*/ 16 w 133"/>
                  <a:gd name="T15" fmla="*/ 16 h 124"/>
                  <a:gd name="T16" fmla="*/ 38 w 133"/>
                  <a:gd name="T17" fmla="*/ 0 h 124"/>
                  <a:gd name="T18" fmla="*/ 73 w 133"/>
                  <a:gd name="T19" fmla="*/ 0 h 124"/>
                  <a:gd name="T20" fmla="*/ 108 w 133"/>
                  <a:gd name="T21" fmla="*/ 10 h 124"/>
                  <a:gd name="T22" fmla="*/ 111 w 133"/>
                  <a:gd name="T23" fmla="*/ 19 h 124"/>
                  <a:gd name="T24" fmla="*/ 133 w 133"/>
                  <a:gd name="T25" fmla="*/ 32 h 124"/>
                  <a:gd name="T26" fmla="*/ 133 w 133"/>
                  <a:gd name="T27" fmla="*/ 41 h 124"/>
                  <a:gd name="T28" fmla="*/ 120 w 133"/>
                  <a:gd name="T29" fmla="*/ 51 h 124"/>
                  <a:gd name="T30" fmla="*/ 108 w 133"/>
                  <a:gd name="T31" fmla="*/ 54 h 124"/>
                  <a:gd name="T32" fmla="*/ 98 w 133"/>
                  <a:gd name="T33" fmla="*/ 63 h 124"/>
                  <a:gd name="T34" fmla="*/ 98 w 133"/>
                  <a:gd name="T35" fmla="*/ 86 h 124"/>
                  <a:gd name="T36" fmla="*/ 85 w 133"/>
                  <a:gd name="T37" fmla="*/ 92 h 124"/>
                  <a:gd name="T38" fmla="*/ 76 w 133"/>
                  <a:gd name="T39" fmla="*/ 86 h 124"/>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133" h="124">
                    <a:moveTo>
                      <a:pt x="76" y="86"/>
                    </a:moveTo>
                    <a:lnTo>
                      <a:pt x="67" y="95"/>
                    </a:lnTo>
                    <a:lnTo>
                      <a:pt x="57" y="120"/>
                    </a:lnTo>
                    <a:lnTo>
                      <a:pt x="29" y="124"/>
                    </a:lnTo>
                    <a:lnTo>
                      <a:pt x="16" y="120"/>
                    </a:lnTo>
                    <a:lnTo>
                      <a:pt x="0" y="63"/>
                    </a:lnTo>
                    <a:lnTo>
                      <a:pt x="0" y="44"/>
                    </a:lnTo>
                    <a:lnTo>
                      <a:pt x="16" y="16"/>
                    </a:lnTo>
                    <a:lnTo>
                      <a:pt x="38" y="0"/>
                    </a:lnTo>
                    <a:lnTo>
                      <a:pt x="73" y="0"/>
                    </a:lnTo>
                    <a:lnTo>
                      <a:pt x="108" y="10"/>
                    </a:lnTo>
                    <a:lnTo>
                      <a:pt x="111" y="19"/>
                    </a:lnTo>
                    <a:lnTo>
                      <a:pt x="133" y="32"/>
                    </a:lnTo>
                    <a:lnTo>
                      <a:pt x="133" y="41"/>
                    </a:lnTo>
                    <a:lnTo>
                      <a:pt x="120" y="51"/>
                    </a:lnTo>
                    <a:lnTo>
                      <a:pt x="108" y="54"/>
                    </a:lnTo>
                    <a:lnTo>
                      <a:pt x="98" y="63"/>
                    </a:lnTo>
                    <a:lnTo>
                      <a:pt x="98" y="86"/>
                    </a:lnTo>
                    <a:lnTo>
                      <a:pt x="85" y="92"/>
                    </a:lnTo>
                    <a:lnTo>
                      <a:pt x="76" y="86"/>
                    </a:lnTo>
                    <a:close/>
                  </a:path>
                </a:pathLst>
              </a:custGeom>
              <a:solidFill>
                <a:schemeClr val="tx1"/>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4" name="Freeform 134"/>
              <p:cNvSpPr>
                <a:spLocks/>
              </p:cNvSpPr>
              <p:nvPr/>
            </p:nvSpPr>
            <p:spPr bwMode="auto">
              <a:xfrm>
                <a:off x="512" y="1512"/>
                <a:ext cx="327" cy="446"/>
              </a:xfrm>
              <a:custGeom>
                <a:avLst/>
                <a:gdLst>
                  <a:gd name="T0" fmla="*/ 69 w 327"/>
                  <a:gd name="T1" fmla="*/ 0 h 446"/>
                  <a:gd name="T2" fmla="*/ 88 w 327"/>
                  <a:gd name="T3" fmla="*/ 7 h 446"/>
                  <a:gd name="T4" fmla="*/ 100 w 327"/>
                  <a:gd name="T5" fmla="*/ 16 h 446"/>
                  <a:gd name="T6" fmla="*/ 138 w 327"/>
                  <a:gd name="T7" fmla="*/ 67 h 446"/>
                  <a:gd name="T8" fmla="*/ 151 w 327"/>
                  <a:gd name="T9" fmla="*/ 73 h 446"/>
                  <a:gd name="T10" fmla="*/ 157 w 327"/>
                  <a:gd name="T11" fmla="*/ 89 h 446"/>
                  <a:gd name="T12" fmla="*/ 164 w 327"/>
                  <a:gd name="T13" fmla="*/ 111 h 446"/>
                  <a:gd name="T14" fmla="*/ 211 w 327"/>
                  <a:gd name="T15" fmla="*/ 187 h 446"/>
                  <a:gd name="T16" fmla="*/ 217 w 327"/>
                  <a:gd name="T17" fmla="*/ 187 h 446"/>
                  <a:gd name="T18" fmla="*/ 223 w 327"/>
                  <a:gd name="T19" fmla="*/ 187 h 446"/>
                  <a:gd name="T20" fmla="*/ 233 w 327"/>
                  <a:gd name="T21" fmla="*/ 196 h 446"/>
                  <a:gd name="T22" fmla="*/ 296 w 327"/>
                  <a:gd name="T23" fmla="*/ 177 h 446"/>
                  <a:gd name="T24" fmla="*/ 318 w 327"/>
                  <a:gd name="T25" fmla="*/ 196 h 446"/>
                  <a:gd name="T26" fmla="*/ 327 w 327"/>
                  <a:gd name="T27" fmla="*/ 209 h 446"/>
                  <a:gd name="T28" fmla="*/ 264 w 327"/>
                  <a:gd name="T29" fmla="*/ 247 h 446"/>
                  <a:gd name="T30" fmla="*/ 239 w 327"/>
                  <a:gd name="T31" fmla="*/ 256 h 446"/>
                  <a:gd name="T32" fmla="*/ 214 w 327"/>
                  <a:gd name="T33" fmla="*/ 253 h 446"/>
                  <a:gd name="T34" fmla="*/ 217 w 327"/>
                  <a:gd name="T35" fmla="*/ 307 h 446"/>
                  <a:gd name="T36" fmla="*/ 205 w 327"/>
                  <a:gd name="T37" fmla="*/ 358 h 446"/>
                  <a:gd name="T38" fmla="*/ 192 w 327"/>
                  <a:gd name="T39" fmla="*/ 412 h 446"/>
                  <a:gd name="T40" fmla="*/ 170 w 327"/>
                  <a:gd name="T41" fmla="*/ 437 h 446"/>
                  <a:gd name="T42" fmla="*/ 132 w 327"/>
                  <a:gd name="T43" fmla="*/ 446 h 446"/>
                  <a:gd name="T44" fmla="*/ 72 w 327"/>
                  <a:gd name="T45" fmla="*/ 424 h 446"/>
                  <a:gd name="T46" fmla="*/ 72 w 327"/>
                  <a:gd name="T47" fmla="*/ 304 h 446"/>
                  <a:gd name="T48" fmla="*/ 31 w 327"/>
                  <a:gd name="T49" fmla="*/ 351 h 446"/>
                  <a:gd name="T50" fmla="*/ 12 w 327"/>
                  <a:gd name="T51" fmla="*/ 294 h 446"/>
                  <a:gd name="T52" fmla="*/ 3 w 327"/>
                  <a:gd name="T53" fmla="*/ 225 h 446"/>
                  <a:gd name="T54" fmla="*/ 0 w 327"/>
                  <a:gd name="T55" fmla="*/ 158 h 446"/>
                  <a:gd name="T56" fmla="*/ 0 w 327"/>
                  <a:gd name="T57" fmla="*/ 149 h 446"/>
                  <a:gd name="T58" fmla="*/ 3 w 327"/>
                  <a:gd name="T59" fmla="*/ 79 h 446"/>
                  <a:gd name="T60" fmla="*/ 15 w 327"/>
                  <a:gd name="T61" fmla="*/ 38 h 446"/>
                  <a:gd name="T62" fmla="*/ 37 w 327"/>
                  <a:gd name="T63" fmla="*/ 16 h 446"/>
                  <a:gd name="T64" fmla="*/ 56 w 327"/>
                  <a:gd name="T65" fmla="*/ 13 h 446"/>
                  <a:gd name="T66" fmla="*/ 69 w 327"/>
                  <a:gd name="T67" fmla="*/ 0 h 44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327" h="446">
                    <a:moveTo>
                      <a:pt x="69" y="0"/>
                    </a:moveTo>
                    <a:lnTo>
                      <a:pt x="88" y="7"/>
                    </a:lnTo>
                    <a:lnTo>
                      <a:pt x="100" y="16"/>
                    </a:lnTo>
                    <a:lnTo>
                      <a:pt x="138" y="67"/>
                    </a:lnTo>
                    <a:lnTo>
                      <a:pt x="151" y="73"/>
                    </a:lnTo>
                    <a:lnTo>
                      <a:pt x="157" y="89"/>
                    </a:lnTo>
                    <a:lnTo>
                      <a:pt x="164" y="111"/>
                    </a:lnTo>
                    <a:lnTo>
                      <a:pt x="211" y="187"/>
                    </a:lnTo>
                    <a:lnTo>
                      <a:pt x="217" y="187"/>
                    </a:lnTo>
                    <a:lnTo>
                      <a:pt x="223" y="187"/>
                    </a:lnTo>
                    <a:lnTo>
                      <a:pt x="233" y="196"/>
                    </a:lnTo>
                    <a:lnTo>
                      <a:pt x="296" y="177"/>
                    </a:lnTo>
                    <a:lnTo>
                      <a:pt x="318" y="196"/>
                    </a:lnTo>
                    <a:lnTo>
                      <a:pt x="327" y="209"/>
                    </a:lnTo>
                    <a:lnTo>
                      <a:pt x="264" y="247"/>
                    </a:lnTo>
                    <a:lnTo>
                      <a:pt x="239" y="256"/>
                    </a:lnTo>
                    <a:lnTo>
                      <a:pt x="214" y="253"/>
                    </a:lnTo>
                    <a:lnTo>
                      <a:pt x="217" y="307"/>
                    </a:lnTo>
                    <a:lnTo>
                      <a:pt x="205" y="358"/>
                    </a:lnTo>
                    <a:lnTo>
                      <a:pt x="192" y="412"/>
                    </a:lnTo>
                    <a:lnTo>
                      <a:pt x="170" y="437"/>
                    </a:lnTo>
                    <a:lnTo>
                      <a:pt x="132" y="446"/>
                    </a:lnTo>
                    <a:lnTo>
                      <a:pt x="72" y="424"/>
                    </a:lnTo>
                    <a:lnTo>
                      <a:pt x="72" y="304"/>
                    </a:lnTo>
                    <a:lnTo>
                      <a:pt x="31" y="351"/>
                    </a:lnTo>
                    <a:lnTo>
                      <a:pt x="12" y="294"/>
                    </a:lnTo>
                    <a:lnTo>
                      <a:pt x="3" y="225"/>
                    </a:lnTo>
                    <a:lnTo>
                      <a:pt x="0" y="158"/>
                    </a:lnTo>
                    <a:lnTo>
                      <a:pt x="0" y="149"/>
                    </a:lnTo>
                    <a:lnTo>
                      <a:pt x="3" y="79"/>
                    </a:lnTo>
                    <a:lnTo>
                      <a:pt x="15" y="38"/>
                    </a:lnTo>
                    <a:lnTo>
                      <a:pt x="37" y="16"/>
                    </a:lnTo>
                    <a:lnTo>
                      <a:pt x="56" y="13"/>
                    </a:lnTo>
                    <a:lnTo>
                      <a:pt x="69" y="0"/>
                    </a:lnTo>
                    <a:close/>
                  </a:path>
                </a:pathLst>
              </a:custGeom>
              <a:solidFill>
                <a:srgbClr val="62624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5" name="Freeform 135"/>
              <p:cNvSpPr>
                <a:spLocks/>
              </p:cNvSpPr>
              <p:nvPr/>
            </p:nvSpPr>
            <p:spPr bwMode="auto">
              <a:xfrm>
                <a:off x="512" y="1512"/>
                <a:ext cx="327" cy="446"/>
              </a:xfrm>
              <a:custGeom>
                <a:avLst/>
                <a:gdLst>
                  <a:gd name="T0" fmla="*/ 69 w 327"/>
                  <a:gd name="T1" fmla="*/ 0 h 446"/>
                  <a:gd name="T2" fmla="*/ 88 w 327"/>
                  <a:gd name="T3" fmla="*/ 7 h 446"/>
                  <a:gd name="T4" fmla="*/ 100 w 327"/>
                  <a:gd name="T5" fmla="*/ 16 h 446"/>
                  <a:gd name="T6" fmla="*/ 138 w 327"/>
                  <a:gd name="T7" fmla="*/ 67 h 446"/>
                  <a:gd name="T8" fmla="*/ 151 w 327"/>
                  <a:gd name="T9" fmla="*/ 73 h 446"/>
                  <a:gd name="T10" fmla="*/ 157 w 327"/>
                  <a:gd name="T11" fmla="*/ 89 h 446"/>
                  <a:gd name="T12" fmla="*/ 164 w 327"/>
                  <a:gd name="T13" fmla="*/ 111 h 446"/>
                  <a:gd name="T14" fmla="*/ 211 w 327"/>
                  <a:gd name="T15" fmla="*/ 187 h 446"/>
                  <a:gd name="T16" fmla="*/ 217 w 327"/>
                  <a:gd name="T17" fmla="*/ 187 h 446"/>
                  <a:gd name="T18" fmla="*/ 223 w 327"/>
                  <a:gd name="T19" fmla="*/ 187 h 446"/>
                  <a:gd name="T20" fmla="*/ 233 w 327"/>
                  <a:gd name="T21" fmla="*/ 196 h 446"/>
                  <a:gd name="T22" fmla="*/ 296 w 327"/>
                  <a:gd name="T23" fmla="*/ 177 h 446"/>
                  <a:gd name="T24" fmla="*/ 318 w 327"/>
                  <a:gd name="T25" fmla="*/ 196 h 446"/>
                  <a:gd name="T26" fmla="*/ 327 w 327"/>
                  <a:gd name="T27" fmla="*/ 209 h 446"/>
                  <a:gd name="T28" fmla="*/ 264 w 327"/>
                  <a:gd name="T29" fmla="*/ 247 h 446"/>
                  <a:gd name="T30" fmla="*/ 239 w 327"/>
                  <a:gd name="T31" fmla="*/ 256 h 446"/>
                  <a:gd name="T32" fmla="*/ 214 w 327"/>
                  <a:gd name="T33" fmla="*/ 253 h 446"/>
                  <a:gd name="T34" fmla="*/ 217 w 327"/>
                  <a:gd name="T35" fmla="*/ 307 h 446"/>
                  <a:gd name="T36" fmla="*/ 205 w 327"/>
                  <a:gd name="T37" fmla="*/ 358 h 446"/>
                  <a:gd name="T38" fmla="*/ 192 w 327"/>
                  <a:gd name="T39" fmla="*/ 412 h 446"/>
                  <a:gd name="T40" fmla="*/ 170 w 327"/>
                  <a:gd name="T41" fmla="*/ 437 h 446"/>
                  <a:gd name="T42" fmla="*/ 132 w 327"/>
                  <a:gd name="T43" fmla="*/ 446 h 446"/>
                  <a:gd name="T44" fmla="*/ 72 w 327"/>
                  <a:gd name="T45" fmla="*/ 424 h 446"/>
                  <a:gd name="T46" fmla="*/ 72 w 327"/>
                  <a:gd name="T47" fmla="*/ 304 h 446"/>
                  <a:gd name="T48" fmla="*/ 31 w 327"/>
                  <a:gd name="T49" fmla="*/ 351 h 446"/>
                  <a:gd name="T50" fmla="*/ 12 w 327"/>
                  <a:gd name="T51" fmla="*/ 294 h 446"/>
                  <a:gd name="T52" fmla="*/ 3 w 327"/>
                  <a:gd name="T53" fmla="*/ 225 h 446"/>
                  <a:gd name="T54" fmla="*/ 0 w 327"/>
                  <a:gd name="T55" fmla="*/ 158 h 446"/>
                  <a:gd name="T56" fmla="*/ 0 w 327"/>
                  <a:gd name="T57" fmla="*/ 149 h 446"/>
                  <a:gd name="T58" fmla="*/ 3 w 327"/>
                  <a:gd name="T59" fmla="*/ 79 h 446"/>
                  <a:gd name="T60" fmla="*/ 15 w 327"/>
                  <a:gd name="T61" fmla="*/ 38 h 446"/>
                  <a:gd name="T62" fmla="*/ 37 w 327"/>
                  <a:gd name="T63" fmla="*/ 16 h 446"/>
                  <a:gd name="T64" fmla="*/ 56 w 327"/>
                  <a:gd name="T65" fmla="*/ 13 h 446"/>
                  <a:gd name="T66" fmla="*/ 69 w 327"/>
                  <a:gd name="T67" fmla="*/ 0 h 44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327" h="446">
                    <a:moveTo>
                      <a:pt x="69" y="0"/>
                    </a:moveTo>
                    <a:lnTo>
                      <a:pt x="88" y="7"/>
                    </a:lnTo>
                    <a:lnTo>
                      <a:pt x="100" y="16"/>
                    </a:lnTo>
                    <a:lnTo>
                      <a:pt x="138" y="67"/>
                    </a:lnTo>
                    <a:lnTo>
                      <a:pt x="151" y="73"/>
                    </a:lnTo>
                    <a:lnTo>
                      <a:pt x="157" y="89"/>
                    </a:lnTo>
                    <a:lnTo>
                      <a:pt x="164" y="111"/>
                    </a:lnTo>
                    <a:lnTo>
                      <a:pt x="211" y="187"/>
                    </a:lnTo>
                    <a:lnTo>
                      <a:pt x="217" y="187"/>
                    </a:lnTo>
                    <a:lnTo>
                      <a:pt x="223" y="187"/>
                    </a:lnTo>
                    <a:lnTo>
                      <a:pt x="233" y="196"/>
                    </a:lnTo>
                    <a:lnTo>
                      <a:pt x="296" y="177"/>
                    </a:lnTo>
                    <a:lnTo>
                      <a:pt x="318" y="196"/>
                    </a:lnTo>
                    <a:lnTo>
                      <a:pt x="327" y="209"/>
                    </a:lnTo>
                    <a:lnTo>
                      <a:pt x="264" y="247"/>
                    </a:lnTo>
                    <a:lnTo>
                      <a:pt x="239" y="256"/>
                    </a:lnTo>
                    <a:lnTo>
                      <a:pt x="214" y="253"/>
                    </a:lnTo>
                    <a:lnTo>
                      <a:pt x="217" y="307"/>
                    </a:lnTo>
                    <a:lnTo>
                      <a:pt x="205" y="358"/>
                    </a:lnTo>
                    <a:lnTo>
                      <a:pt x="192" y="412"/>
                    </a:lnTo>
                    <a:lnTo>
                      <a:pt x="170" y="437"/>
                    </a:lnTo>
                    <a:lnTo>
                      <a:pt x="132" y="446"/>
                    </a:lnTo>
                    <a:lnTo>
                      <a:pt x="72" y="424"/>
                    </a:lnTo>
                    <a:lnTo>
                      <a:pt x="72" y="304"/>
                    </a:lnTo>
                    <a:lnTo>
                      <a:pt x="31" y="351"/>
                    </a:lnTo>
                    <a:lnTo>
                      <a:pt x="12" y="294"/>
                    </a:lnTo>
                    <a:lnTo>
                      <a:pt x="3" y="225"/>
                    </a:lnTo>
                    <a:lnTo>
                      <a:pt x="0" y="158"/>
                    </a:lnTo>
                    <a:lnTo>
                      <a:pt x="0" y="149"/>
                    </a:lnTo>
                    <a:lnTo>
                      <a:pt x="3" y="79"/>
                    </a:lnTo>
                    <a:lnTo>
                      <a:pt x="15" y="38"/>
                    </a:lnTo>
                    <a:lnTo>
                      <a:pt x="37" y="16"/>
                    </a:lnTo>
                    <a:lnTo>
                      <a:pt x="56" y="13"/>
                    </a:lnTo>
                    <a:lnTo>
                      <a:pt x="69" y="0"/>
                    </a:lnTo>
                    <a:close/>
                  </a:path>
                </a:pathLst>
              </a:custGeom>
              <a:solidFill>
                <a:srgbClr val="626248"/>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6" name="Freeform 136"/>
              <p:cNvSpPr>
                <a:spLocks/>
              </p:cNvSpPr>
              <p:nvPr/>
            </p:nvSpPr>
            <p:spPr bwMode="auto">
              <a:xfrm>
                <a:off x="480" y="1712"/>
                <a:ext cx="136" cy="243"/>
              </a:xfrm>
              <a:custGeom>
                <a:avLst/>
                <a:gdLst>
                  <a:gd name="T0" fmla="*/ 104 w 136"/>
                  <a:gd name="T1" fmla="*/ 104 h 243"/>
                  <a:gd name="T2" fmla="*/ 88 w 136"/>
                  <a:gd name="T3" fmla="*/ 66 h 243"/>
                  <a:gd name="T4" fmla="*/ 79 w 136"/>
                  <a:gd name="T5" fmla="*/ 44 h 243"/>
                  <a:gd name="T6" fmla="*/ 35 w 136"/>
                  <a:gd name="T7" fmla="*/ 19 h 243"/>
                  <a:gd name="T8" fmla="*/ 16 w 136"/>
                  <a:gd name="T9" fmla="*/ 0 h 243"/>
                  <a:gd name="T10" fmla="*/ 3 w 136"/>
                  <a:gd name="T11" fmla="*/ 3 h 243"/>
                  <a:gd name="T12" fmla="*/ 0 w 136"/>
                  <a:gd name="T13" fmla="*/ 6 h 243"/>
                  <a:gd name="T14" fmla="*/ 22 w 136"/>
                  <a:gd name="T15" fmla="*/ 63 h 243"/>
                  <a:gd name="T16" fmla="*/ 76 w 136"/>
                  <a:gd name="T17" fmla="*/ 218 h 243"/>
                  <a:gd name="T18" fmla="*/ 136 w 136"/>
                  <a:gd name="T19" fmla="*/ 243 h 243"/>
                  <a:gd name="T20" fmla="*/ 132 w 136"/>
                  <a:gd name="T21" fmla="*/ 174 h 243"/>
                  <a:gd name="T22" fmla="*/ 104 w 136"/>
                  <a:gd name="T23" fmla="*/ 104 h 243"/>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6" h="243">
                    <a:moveTo>
                      <a:pt x="104" y="104"/>
                    </a:moveTo>
                    <a:lnTo>
                      <a:pt x="88" y="66"/>
                    </a:lnTo>
                    <a:lnTo>
                      <a:pt x="79" y="44"/>
                    </a:lnTo>
                    <a:lnTo>
                      <a:pt x="35" y="19"/>
                    </a:lnTo>
                    <a:lnTo>
                      <a:pt x="16" y="0"/>
                    </a:lnTo>
                    <a:lnTo>
                      <a:pt x="3" y="3"/>
                    </a:lnTo>
                    <a:lnTo>
                      <a:pt x="0" y="6"/>
                    </a:lnTo>
                    <a:lnTo>
                      <a:pt x="22" y="63"/>
                    </a:lnTo>
                    <a:lnTo>
                      <a:pt x="76" y="218"/>
                    </a:lnTo>
                    <a:lnTo>
                      <a:pt x="136" y="243"/>
                    </a:lnTo>
                    <a:lnTo>
                      <a:pt x="132" y="174"/>
                    </a:lnTo>
                    <a:lnTo>
                      <a:pt x="104" y="104"/>
                    </a:lnTo>
                    <a:close/>
                  </a:path>
                </a:pathLst>
              </a:custGeom>
              <a:solidFill>
                <a:srgbClr val="004E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7" name="Freeform 137"/>
              <p:cNvSpPr>
                <a:spLocks/>
              </p:cNvSpPr>
              <p:nvPr/>
            </p:nvSpPr>
            <p:spPr bwMode="auto">
              <a:xfrm>
                <a:off x="480" y="1712"/>
                <a:ext cx="136" cy="243"/>
              </a:xfrm>
              <a:custGeom>
                <a:avLst/>
                <a:gdLst>
                  <a:gd name="T0" fmla="*/ 104 w 136"/>
                  <a:gd name="T1" fmla="*/ 104 h 243"/>
                  <a:gd name="T2" fmla="*/ 88 w 136"/>
                  <a:gd name="T3" fmla="*/ 66 h 243"/>
                  <a:gd name="T4" fmla="*/ 79 w 136"/>
                  <a:gd name="T5" fmla="*/ 44 h 243"/>
                  <a:gd name="T6" fmla="*/ 35 w 136"/>
                  <a:gd name="T7" fmla="*/ 19 h 243"/>
                  <a:gd name="T8" fmla="*/ 16 w 136"/>
                  <a:gd name="T9" fmla="*/ 0 h 243"/>
                  <a:gd name="T10" fmla="*/ 3 w 136"/>
                  <a:gd name="T11" fmla="*/ 3 h 243"/>
                  <a:gd name="T12" fmla="*/ 0 w 136"/>
                  <a:gd name="T13" fmla="*/ 6 h 243"/>
                  <a:gd name="T14" fmla="*/ 22 w 136"/>
                  <a:gd name="T15" fmla="*/ 63 h 243"/>
                  <a:gd name="T16" fmla="*/ 76 w 136"/>
                  <a:gd name="T17" fmla="*/ 218 h 243"/>
                  <a:gd name="T18" fmla="*/ 136 w 136"/>
                  <a:gd name="T19" fmla="*/ 243 h 243"/>
                  <a:gd name="T20" fmla="*/ 132 w 136"/>
                  <a:gd name="T21" fmla="*/ 174 h 243"/>
                  <a:gd name="T22" fmla="*/ 104 w 136"/>
                  <a:gd name="T23" fmla="*/ 104 h 243"/>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6" h="243">
                    <a:moveTo>
                      <a:pt x="104" y="104"/>
                    </a:moveTo>
                    <a:lnTo>
                      <a:pt x="88" y="66"/>
                    </a:lnTo>
                    <a:lnTo>
                      <a:pt x="79" y="44"/>
                    </a:lnTo>
                    <a:lnTo>
                      <a:pt x="35" y="19"/>
                    </a:lnTo>
                    <a:lnTo>
                      <a:pt x="16" y="0"/>
                    </a:lnTo>
                    <a:lnTo>
                      <a:pt x="3" y="3"/>
                    </a:lnTo>
                    <a:lnTo>
                      <a:pt x="0" y="6"/>
                    </a:lnTo>
                    <a:lnTo>
                      <a:pt x="22" y="63"/>
                    </a:lnTo>
                    <a:lnTo>
                      <a:pt x="76" y="218"/>
                    </a:lnTo>
                    <a:lnTo>
                      <a:pt x="136" y="243"/>
                    </a:lnTo>
                    <a:lnTo>
                      <a:pt x="132" y="174"/>
                    </a:lnTo>
                    <a:lnTo>
                      <a:pt x="104" y="104"/>
                    </a:lnTo>
                    <a:close/>
                  </a:path>
                </a:pathLst>
              </a:custGeom>
              <a:solidFill>
                <a:srgbClr val="004EFF"/>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sp>
          <p:nvSpPr>
            <p:cNvPr id="116" name="Rectangle 138"/>
            <p:cNvSpPr>
              <a:spLocks noChangeArrowheads="1"/>
            </p:cNvSpPr>
            <p:nvPr/>
          </p:nvSpPr>
          <p:spPr bwMode="auto">
            <a:xfrm>
              <a:off x="1593270" y="1916832"/>
              <a:ext cx="1640681" cy="2409825"/>
            </a:xfrm>
            <a:prstGeom prst="rect">
              <a:avLst/>
            </a:prstGeom>
            <a:solidFill>
              <a:srgbClr val="0000FF"/>
            </a:solidFill>
            <a:ln w="9525">
              <a:noFill/>
              <a:prstDash val="sysDot"/>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7" name="Line 139"/>
            <p:cNvSpPr>
              <a:spLocks noChangeShapeType="1"/>
            </p:cNvSpPr>
            <p:nvPr/>
          </p:nvSpPr>
          <p:spPr bwMode="auto">
            <a:xfrm>
              <a:off x="1046376" y="2288306"/>
              <a:ext cx="638043" cy="0"/>
            </a:xfrm>
            <a:prstGeom prst="line">
              <a:avLst/>
            </a:prstGeom>
            <a:noFill/>
            <a:ln w="127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8" name="Text Box 140"/>
            <p:cNvSpPr txBox="1">
              <a:spLocks noChangeArrowheads="1"/>
            </p:cNvSpPr>
            <p:nvPr/>
          </p:nvSpPr>
          <p:spPr bwMode="auto">
            <a:xfrm>
              <a:off x="1678699" y="4337766"/>
              <a:ext cx="1391913"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FTP </a:t>
              </a:r>
              <a:r>
                <a:rPr kumimoji="1" lang="zh-CN" altLang="en-US" sz="1400" dirty="0">
                  <a:latin typeface="Montserrat" panose="00000500000000000000" pitchFamily="2" charset="0"/>
                  <a:ea typeface="微软雅黑 Light" panose="020B0502040204020203" pitchFamily="34" charset="-122"/>
                </a:rPr>
                <a:t>客户端</a:t>
              </a:r>
            </a:p>
          </p:txBody>
        </p:sp>
        <p:sp>
          <p:nvSpPr>
            <p:cNvPr id="119" name="Text Box 141"/>
            <p:cNvSpPr txBox="1">
              <a:spLocks noChangeArrowheads="1"/>
            </p:cNvSpPr>
            <p:nvPr/>
          </p:nvSpPr>
          <p:spPr bwMode="auto">
            <a:xfrm>
              <a:off x="6927924" y="4337766"/>
              <a:ext cx="1616985"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FTP </a:t>
              </a:r>
              <a:r>
                <a:rPr kumimoji="1" lang="zh-CN" altLang="en-US" sz="1400" dirty="0">
                  <a:latin typeface="Montserrat" panose="00000500000000000000" pitchFamily="2" charset="0"/>
                  <a:ea typeface="微软雅黑 Light" panose="020B0502040204020203" pitchFamily="34" charset="-122"/>
                </a:rPr>
                <a:t>服务器端</a:t>
              </a:r>
            </a:p>
          </p:txBody>
        </p:sp>
        <p:sp>
          <p:nvSpPr>
            <p:cNvPr id="120" name="AutoShape 142"/>
            <p:cNvSpPr>
              <a:spLocks noChangeArrowheads="1"/>
            </p:cNvSpPr>
            <p:nvPr/>
          </p:nvSpPr>
          <p:spPr bwMode="auto">
            <a:xfrm>
              <a:off x="408334" y="3399557"/>
              <a:ext cx="638042" cy="835025"/>
            </a:xfrm>
            <a:prstGeom prst="can">
              <a:avLst>
                <a:gd name="adj" fmla="val 35445"/>
              </a:avLst>
            </a:prstGeom>
            <a:gradFill rotWithShape="1">
              <a:gsLst>
                <a:gs pos="0">
                  <a:srgbClr val="0070C0"/>
                </a:gs>
                <a:gs pos="50000">
                  <a:srgbClr val="00FFCC"/>
                </a:gs>
                <a:gs pos="100000">
                  <a:srgbClr val="0070C0"/>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1" name="Line 143"/>
            <p:cNvSpPr>
              <a:spLocks noChangeShapeType="1"/>
            </p:cNvSpPr>
            <p:nvPr/>
          </p:nvSpPr>
          <p:spPr bwMode="auto">
            <a:xfrm>
              <a:off x="1046376" y="3817068"/>
              <a:ext cx="638043" cy="0"/>
            </a:xfrm>
            <a:prstGeom prst="line">
              <a:avLst/>
            </a:prstGeom>
            <a:noFill/>
            <a:ln w="127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2" name="Line 144"/>
            <p:cNvSpPr>
              <a:spLocks noChangeShapeType="1"/>
            </p:cNvSpPr>
            <p:nvPr/>
          </p:nvSpPr>
          <p:spPr bwMode="auto">
            <a:xfrm>
              <a:off x="8429442" y="3817068"/>
              <a:ext cx="638042" cy="0"/>
            </a:xfrm>
            <a:prstGeom prst="line">
              <a:avLst/>
            </a:prstGeom>
            <a:noFill/>
            <a:ln w="127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3" name="AutoShape 145"/>
            <p:cNvSpPr>
              <a:spLocks noChangeArrowheads="1"/>
            </p:cNvSpPr>
            <p:nvPr/>
          </p:nvSpPr>
          <p:spPr bwMode="auto">
            <a:xfrm>
              <a:off x="9067485" y="3399557"/>
              <a:ext cx="638043" cy="835025"/>
            </a:xfrm>
            <a:prstGeom prst="can">
              <a:avLst>
                <a:gd name="adj" fmla="val 35445"/>
              </a:avLst>
            </a:prstGeom>
            <a:gradFill rotWithShape="1">
              <a:gsLst>
                <a:gs pos="0">
                  <a:srgbClr val="0070C0"/>
                </a:gs>
                <a:gs pos="50000">
                  <a:srgbClr val="00FFCC"/>
                </a:gs>
                <a:gs pos="100000">
                  <a:srgbClr val="0070C0"/>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4" name="Line 146"/>
            <p:cNvSpPr>
              <a:spLocks noChangeShapeType="1"/>
            </p:cNvSpPr>
            <p:nvPr/>
          </p:nvSpPr>
          <p:spPr bwMode="auto">
            <a:xfrm>
              <a:off x="3051653" y="3863106"/>
              <a:ext cx="4010554" cy="0"/>
            </a:xfrm>
            <a:prstGeom prst="line">
              <a:avLst/>
            </a:prstGeom>
            <a:noFill/>
            <a:ln w="381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5" name="Line 147"/>
            <p:cNvSpPr>
              <a:spLocks noChangeShapeType="1"/>
            </p:cNvSpPr>
            <p:nvPr/>
          </p:nvSpPr>
          <p:spPr bwMode="auto">
            <a:xfrm>
              <a:off x="3051653" y="3029668"/>
              <a:ext cx="4010554" cy="0"/>
            </a:xfrm>
            <a:prstGeom prst="line">
              <a:avLst/>
            </a:prstGeom>
            <a:noFill/>
            <a:ln w="38100">
              <a:solidFill>
                <a:srgbClr val="FF6600"/>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aphicFrame>
          <p:nvGraphicFramePr>
            <p:cNvPr id="126" name="Object 148"/>
            <p:cNvGraphicFramePr>
              <a:graphicFrameLocks noChangeAspect="1"/>
            </p:cNvGraphicFramePr>
            <p:nvPr>
              <p:extLst>
                <p:ext uri="{D42A27DB-BD31-4B8C-83A1-F6EECF244321}">
                  <p14:modId xmlns:p14="http://schemas.microsoft.com/office/powerpoint/2010/main" val="2097526836"/>
                </p:ext>
              </p:extLst>
            </p:nvPr>
          </p:nvGraphicFramePr>
          <p:xfrm>
            <a:off x="3871995" y="2658193"/>
            <a:ext cx="2369873" cy="1746250"/>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47"/>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71995" y="2658193"/>
                          <a:ext cx="2369873" cy="1746250"/>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127" name="Text Box 149"/>
            <p:cNvSpPr txBox="1">
              <a:spLocks noChangeArrowheads="1"/>
            </p:cNvSpPr>
            <p:nvPr/>
          </p:nvSpPr>
          <p:spPr bwMode="auto">
            <a:xfrm>
              <a:off x="4611580" y="3310268"/>
              <a:ext cx="810261" cy="3472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solidFill>
                    <a:srgbClr val="0000FF"/>
                  </a:solidFill>
                  <a:latin typeface="Montserrat" panose="00000500000000000000" pitchFamily="2" charset="0"/>
                  <a:ea typeface="微软雅黑 Light" panose="020B0502040204020203" pitchFamily="34" charset="-122"/>
                </a:rPr>
                <a:t>互联网</a:t>
              </a:r>
            </a:p>
          </p:txBody>
        </p:sp>
        <p:sp>
          <p:nvSpPr>
            <p:cNvPr id="128" name="Text Box 150"/>
            <p:cNvSpPr txBox="1">
              <a:spLocks noChangeArrowheads="1"/>
            </p:cNvSpPr>
            <p:nvPr/>
          </p:nvSpPr>
          <p:spPr bwMode="auto">
            <a:xfrm>
              <a:off x="4113857" y="2020018"/>
              <a:ext cx="1629443"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solidFill>
                    <a:srgbClr val="0000FF"/>
                  </a:solidFill>
                  <a:latin typeface="Montserrat" panose="00000500000000000000" pitchFamily="2" charset="0"/>
                  <a:ea typeface="微软雅黑 Light" panose="020B0502040204020203" pitchFamily="34" charset="-122"/>
                </a:rPr>
                <a:t>TCP </a:t>
              </a:r>
              <a:r>
                <a:rPr kumimoji="1" lang="zh-CN" altLang="en-US" sz="1400" dirty="0">
                  <a:solidFill>
                    <a:srgbClr val="0000FF"/>
                  </a:solidFill>
                  <a:latin typeface="Montserrat" panose="00000500000000000000" pitchFamily="2" charset="0"/>
                  <a:ea typeface="微软雅黑 Light" panose="020B0502040204020203" pitchFamily="34" charset="-122"/>
                </a:rPr>
                <a:t>控制连接</a:t>
              </a:r>
            </a:p>
          </p:txBody>
        </p:sp>
        <p:sp>
          <p:nvSpPr>
            <p:cNvPr id="129" name="Text Box 151"/>
            <p:cNvSpPr txBox="1">
              <a:spLocks noChangeArrowheads="1"/>
            </p:cNvSpPr>
            <p:nvPr/>
          </p:nvSpPr>
          <p:spPr bwMode="auto">
            <a:xfrm>
              <a:off x="4209227" y="4593355"/>
              <a:ext cx="1629443"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solidFill>
                    <a:srgbClr val="CC00CC"/>
                  </a:solidFill>
                  <a:latin typeface="Montserrat" panose="00000500000000000000" pitchFamily="2" charset="0"/>
                  <a:ea typeface="微软雅黑 Light" panose="020B0502040204020203" pitchFamily="34" charset="-122"/>
                </a:rPr>
                <a:t>TCP </a:t>
              </a:r>
              <a:r>
                <a:rPr kumimoji="1" lang="zh-CN" altLang="en-US" sz="1400" dirty="0">
                  <a:solidFill>
                    <a:srgbClr val="CC00CC"/>
                  </a:solidFill>
                  <a:latin typeface="Montserrat" panose="00000500000000000000" pitchFamily="2" charset="0"/>
                  <a:ea typeface="微软雅黑 Light" panose="020B0502040204020203" pitchFamily="34" charset="-122"/>
                </a:rPr>
                <a:t>数据连接</a:t>
              </a:r>
            </a:p>
          </p:txBody>
        </p:sp>
        <p:sp>
          <p:nvSpPr>
            <p:cNvPr id="130" name="Line 152"/>
            <p:cNvSpPr>
              <a:spLocks noChangeShapeType="1"/>
            </p:cNvSpPr>
            <p:nvPr/>
          </p:nvSpPr>
          <p:spPr bwMode="auto">
            <a:xfrm flipH="1" flipV="1">
              <a:off x="3689696" y="3863107"/>
              <a:ext cx="1002638" cy="649287"/>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1" name="Line 153"/>
            <p:cNvSpPr>
              <a:spLocks noChangeShapeType="1"/>
            </p:cNvSpPr>
            <p:nvPr/>
          </p:nvSpPr>
          <p:spPr bwMode="auto">
            <a:xfrm flipV="1">
              <a:off x="5330377" y="3863107"/>
              <a:ext cx="1093788" cy="649287"/>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2" name="Line 154"/>
            <p:cNvSpPr>
              <a:spLocks noChangeShapeType="1"/>
            </p:cNvSpPr>
            <p:nvPr/>
          </p:nvSpPr>
          <p:spPr bwMode="auto">
            <a:xfrm>
              <a:off x="5239228" y="2472456"/>
              <a:ext cx="1184937" cy="557212"/>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3" name="Line 155"/>
            <p:cNvSpPr>
              <a:spLocks noChangeShapeType="1"/>
            </p:cNvSpPr>
            <p:nvPr/>
          </p:nvSpPr>
          <p:spPr bwMode="auto">
            <a:xfrm flipH="1">
              <a:off x="3598546" y="2472456"/>
              <a:ext cx="1093788" cy="557212"/>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4" name="Oval 156"/>
            <p:cNvSpPr>
              <a:spLocks noChangeArrowheads="1"/>
            </p:cNvSpPr>
            <p:nvPr/>
          </p:nvSpPr>
          <p:spPr bwMode="auto">
            <a:xfrm>
              <a:off x="1684419" y="2008906"/>
              <a:ext cx="1367234" cy="557212"/>
            </a:xfrm>
            <a:prstGeom prst="ellipse">
              <a:avLst/>
            </a:prstGeom>
            <a:solidFill>
              <a:srgbClr val="00FFCC"/>
            </a:solidFill>
            <a:ln w="9525">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用户界面</a:t>
              </a:r>
            </a:p>
          </p:txBody>
        </p:sp>
        <p:sp>
          <p:nvSpPr>
            <p:cNvPr id="135" name="Line 157"/>
            <p:cNvSpPr>
              <a:spLocks noChangeShapeType="1"/>
            </p:cNvSpPr>
            <p:nvPr/>
          </p:nvSpPr>
          <p:spPr bwMode="auto">
            <a:xfrm>
              <a:off x="2413611" y="3307481"/>
              <a:ext cx="0" cy="277812"/>
            </a:xfrm>
            <a:prstGeom prst="line">
              <a:avLst/>
            </a:prstGeom>
            <a:noFill/>
            <a:ln w="38100">
              <a:solidFill>
                <a:srgbClr val="00B0F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6" name="Oval 158"/>
            <p:cNvSpPr>
              <a:spLocks noChangeArrowheads="1"/>
            </p:cNvSpPr>
            <p:nvPr/>
          </p:nvSpPr>
          <p:spPr bwMode="auto">
            <a:xfrm>
              <a:off x="1684419" y="2750269"/>
              <a:ext cx="1367234" cy="557213"/>
            </a:xfrm>
            <a:prstGeom prst="ellipse">
              <a:avLst/>
            </a:prstGeom>
            <a:solidFill>
              <a:srgbClr val="99FFCC"/>
            </a:solidFill>
            <a:ln w="9525">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控制进程</a:t>
              </a:r>
            </a:p>
          </p:txBody>
        </p:sp>
        <p:sp>
          <p:nvSpPr>
            <p:cNvPr id="137" name="Oval 159"/>
            <p:cNvSpPr>
              <a:spLocks noChangeArrowheads="1"/>
            </p:cNvSpPr>
            <p:nvPr/>
          </p:nvSpPr>
          <p:spPr bwMode="auto">
            <a:xfrm>
              <a:off x="1684419" y="3493219"/>
              <a:ext cx="1367234" cy="741363"/>
            </a:xfrm>
            <a:prstGeom prst="ellipse">
              <a:avLst/>
            </a:prstGeom>
            <a:solidFill>
              <a:srgbClr val="66FF66"/>
            </a:solidFill>
            <a:ln w="9525">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数据传送</a:t>
              </a:r>
            </a:p>
            <a:p>
              <a:pPr algn="ctr" eaLnBrk="1" hangingPunct="1"/>
              <a:r>
                <a:rPr kumimoji="1" lang="zh-CN" altLang="en-US" sz="1200" dirty="0">
                  <a:latin typeface="Montserrat" panose="00000500000000000000" pitchFamily="2" charset="0"/>
                  <a:ea typeface="微软雅黑 Light" panose="020B0502040204020203" pitchFamily="34" charset="-122"/>
                </a:rPr>
                <a:t>进程</a:t>
              </a:r>
            </a:p>
          </p:txBody>
        </p:sp>
        <p:sp>
          <p:nvSpPr>
            <p:cNvPr id="138" name="Line 160"/>
            <p:cNvSpPr>
              <a:spLocks noChangeShapeType="1"/>
            </p:cNvSpPr>
            <p:nvPr/>
          </p:nvSpPr>
          <p:spPr bwMode="auto">
            <a:xfrm>
              <a:off x="7791399" y="3307481"/>
              <a:ext cx="0" cy="277812"/>
            </a:xfrm>
            <a:prstGeom prst="line">
              <a:avLst/>
            </a:prstGeom>
            <a:noFill/>
            <a:ln w="38100">
              <a:solidFill>
                <a:srgbClr val="00B0F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9" name="Oval 161"/>
            <p:cNvSpPr>
              <a:spLocks noChangeArrowheads="1"/>
            </p:cNvSpPr>
            <p:nvPr/>
          </p:nvSpPr>
          <p:spPr bwMode="auto">
            <a:xfrm>
              <a:off x="7062207" y="3493219"/>
              <a:ext cx="1367235" cy="741363"/>
            </a:xfrm>
            <a:prstGeom prst="ellipse">
              <a:avLst/>
            </a:prstGeom>
            <a:solidFill>
              <a:srgbClr val="66FF66"/>
            </a:solidFill>
            <a:ln w="9525" algn="ctr">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数据传送</a:t>
              </a:r>
            </a:p>
            <a:p>
              <a:pPr algn="ctr" eaLnBrk="1" hangingPunct="1"/>
              <a:r>
                <a:rPr kumimoji="1" lang="zh-CN" altLang="en-US" sz="1200" dirty="0">
                  <a:latin typeface="Montserrat" panose="00000500000000000000" pitchFamily="2" charset="0"/>
                  <a:ea typeface="微软雅黑 Light" panose="020B0502040204020203" pitchFamily="34" charset="-122"/>
                </a:rPr>
                <a:t>进程</a:t>
              </a:r>
            </a:p>
          </p:txBody>
        </p:sp>
        <p:sp>
          <p:nvSpPr>
            <p:cNvPr id="140" name="Oval 161"/>
            <p:cNvSpPr>
              <a:spLocks noChangeArrowheads="1"/>
            </p:cNvSpPr>
            <p:nvPr/>
          </p:nvSpPr>
          <p:spPr bwMode="auto">
            <a:xfrm>
              <a:off x="8167270" y="3344333"/>
              <a:ext cx="377639" cy="286999"/>
            </a:xfrm>
            <a:prstGeom prst="ellipse">
              <a:avLst/>
            </a:prstGeom>
            <a:solidFill>
              <a:srgbClr val="66FF66"/>
            </a:solidFill>
            <a:ln w="9525" algn="ctr">
              <a:noFill/>
              <a:round/>
              <a:headEnd/>
              <a:tailEnd/>
            </a:ln>
            <a:effectLst/>
          </p:spPr>
          <p:txBody>
            <a:bodyPr wrap="none" anchor="ctr"/>
            <a:lstStyle/>
            <a:p>
              <a:pPr algn="ctr" eaLnBrk="1" hangingPunct="1"/>
              <a:endParaRPr kumimoji="1" lang="zh-CN" altLang="en-US" sz="1200" dirty="0">
                <a:latin typeface="Montserrat" panose="00000500000000000000" pitchFamily="2" charset="0"/>
                <a:ea typeface="微软雅黑 Light" panose="020B0502040204020203" pitchFamily="34" charset="-122"/>
              </a:endParaRPr>
            </a:p>
          </p:txBody>
        </p:sp>
        <p:sp>
          <p:nvSpPr>
            <p:cNvPr id="141" name="Oval 161"/>
            <p:cNvSpPr>
              <a:spLocks noChangeArrowheads="1"/>
            </p:cNvSpPr>
            <p:nvPr/>
          </p:nvSpPr>
          <p:spPr bwMode="auto">
            <a:xfrm>
              <a:off x="8234101" y="4022938"/>
              <a:ext cx="377639" cy="286999"/>
            </a:xfrm>
            <a:prstGeom prst="ellipse">
              <a:avLst/>
            </a:prstGeom>
            <a:solidFill>
              <a:srgbClr val="66FF66"/>
            </a:solidFill>
            <a:ln w="9525" algn="ctr">
              <a:noFill/>
              <a:round/>
              <a:headEnd/>
              <a:tailEnd/>
            </a:ln>
            <a:effectLst/>
          </p:spPr>
          <p:txBody>
            <a:bodyPr wrap="none" anchor="ctr"/>
            <a:lstStyle/>
            <a:p>
              <a:pPr algn="ctr" eaLnBrk="1" hangingPunct="1"/>
              <a:endParaRPr kumimoji="1" lang="zh-CN" altLang="en-US" sz="1200" dirty="0">
                <a:latin typeface="Montserrat" panose="00000500000000000000" pitchFamily="2" charset="0"/>
                <a:ea typeface="微软雅黑 Light" panose="020B0502040204020203" pitchFamily="34" charset="-122"/>
              </a:endParaRPr>
            </a:p>
          </p:txBody>
        </p:sp>
      </p:grpSp>
      <p:grpSp>
        <p:nvGrpSpPr>
          <p:cNvPr id="17" name="组合 16"/>
          <p:cNvGrpSpPr/>
          <p:nvPr/>
        </p:nvGrpSpPr>
        <p:grpSpPr>
          <a:xfrm>
            <a:off x="4725624" y="1032110"/>
            <a:ext cx="2391084" cy="1344396"/>
            <a:chOff x="4725624" y="1040988"/>
            <a:chExt cx="2391084" cy="1344396"/>
          </a:xfrm>
        </p:grpSpPr>
        <p:sp>
          <p:nvSpPr>
            <p:cNvPr id="4" name="矩形 3"/>
            <p:cNvSpPr/>
            <p:nvPr/>
          </p:nvSpPr>
          <p:spPr>
            <a:xfrm>
              <a:off x="4725624" y="1040988"/>
              <a:ext cx="2391084" cy="461665"/>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在整个会话期间一直保持打开，</a:t>
              </a:r>
              <a:endParaRPr lang="en-US" altLang="zh-CN" sz="1200" dirty="0">
                <a:latin typeface="Montserrat" panose="00000500000000000000" pitchFamily="2" charset="0"/>
                <a:ea typeface="微软雅黑 Light" panose="020B0502040204020203" pitchFamily="34" charset="-122"/>
              </a:endParaRPr>
            </a:p>
            <a:p>
              <a:r>
                <a:rPr lang="zh-CN" altLang="en-US" sz="1200" dirty="0">
                  <a:latin typeface="Montserrat" panose="00000500000000000000" pitchFamily="2" charset="0"/>
                  <a:ea typeface="微软雅黑 Light" panose="020B0502040204020203" pitchFamily="34" charset="-122"/>
                </a:rPr>
                <a:t>传输 </a:t>
              </a:r>
              <a:r>
                <a:rPr lang="en-US" altLang="zh-CN" sz="1200" dirty="0">
                  <a:latin typeface="Montserrat" panose="00000500000000000000" pitchFamily="2" charset="0"/>
                  <a:ea typeface="微软雅黑 Light" panose="020B0502040204020203" pitchFamily="34" charset="-122"/>
                </a:rPr>
                <a:t>FTP </a:t>
              </a:r>
              <a:r>
                <a:rPr lang="zh-CN" altLang="en-US" sz="1200" dirty="0">
                  <a:latin typeface="Montserrat" panose="00000500000000000000" pitchFamily="2" charset="0"/>
                  <a:ea typeface="微软雅黑 Light" panose="020B0502040204020203" pitchFamily="34" charset="-122"/>
                </a:rPr>
                <a:t>客户发出的传送请求。</a:t>
              </a:r>
            </a:p>
          </p:txBody>
        </p:sp>
        <p:cxnSp>
          <p:nvCxnSpPr>
            <p:cNvPr id="7" name="直接箭头连接符 6"/>
            <p:cNvCxnSpPr/>
            <p:nvPr/>
          </p:nvCxnSpPr>
          <p:spPr>
            <a:xfrm>
              <a:off x="5463220" y="1491442"/>
              <a:ext cx="327934" cy="893942"/>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grpSp>
        <p:nvGrpSpPr>
          <p:cNvPr id="18" name="组合 17"/>
          <p:cNvGrpSpPr/>
          <p:nvPr/>
        </p:nvGrpSpPr>
        <p:grpSpPr>
          <a:xfrm>
            <a:off x="5863994" y="1579885"/>
            <a:ext cx="2600659" cy="722473"/>
            <a:chOff x="5863994" y="1588763"/>
            <a:chExt cx="2600659" cy="722473"/>
          </a:xfrm>
        </p:grpSpPr>
        <p:sp>
          <p:nvSpPr>
            <p:cNvPr id="144" name="矩形 143"/>
            <p:cNvSpPr/>
            <p:nvPr/>
          </p:nvSpPr>
          <p:spPr>
            <a:xfrm>
              <a:off x="5863994" y="1588763"/>
              <a:ext cx="2600659" cy="276999"/>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收到客户连接请求后有主进程创建。</a:t>
              </a:r>
            </a:p>
          </p:txBody>
        </p:sp>
        <p:cxnSp>
          <p:nvCxnSpPr>
            <p:cNvPr id="145" name="直接箭头连接符 144"/>
            <p:cNvCxnSpPr/>
            <p:nvPr/>
          </p:nvCxnSpPr>
          <p:spPr>
            <a:xfrm flipH="1">
              <a:off x="6916110" y="1849446"/>
              <a:ext cx="70444" cy="461790"/>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grpSp>
        <p:nvGrpSpPr>
          <p:cNvPr id="19" name="组合 18"/>
          <p:cNvGrpSpPr/>
          <p:nvPr/>
        </p:nvGrpSpPr>
        <p:grpSpPr>
          <a:xfrm>
            <a:off x="4847067" y="3159212"/>
            <a:ext cx="3688804" cy="1224795"/>
            <a:chOff x="4847067" y="3168090"/>
            <a:chExt cx="3688804" cy="1224795"/>
          </a:xfrm>
        </p:grpSpPr>
        <p:sp>
          <p:nvSpPr>
            <p:cNvPr id="5" name="矩形 4"/>
            <p:cNvSpPr/>
            <p:nvPr/>
          </p:nvSpPr>
          <p:spPr>
            <a:xfrm>
              <a:off x="4847067" y="3931220"/>
              <a:ext cx="3688804" cy="461665"/>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收到客户发送来的文件传输请求后由控制进程创建。</a:t>
              </a:r>
              <a:endParaRPr lang="en-US" altLang="zh-CN" sz="1200" dirty="0">
                <a:latin typeface="Montserrat" panose="00000500000000000000" pitchFamily="2" charset="0"/>
                <a:ea typeface="微软雅黑 Light" panose="020B0502040204020203" pitchFamily="34" charset="-122"/>
              </a:endParaRPr>
            </a:p>
            <a:p>
              <a:r>
                <a:rPr lang="zh-CN" altLang="en-US" sz="1200" dirty="0">
                  <a:latin typeface="Montserrat" panose="00000500000000000000" pitchFamily="2" charset="0"/>
                  <a:ea typeface="微软雅黑 Light" panose="020B0502040204020203" pitchFamily="34" charset="-122"/>
                </a:rPr>
                <a:t>实际完成文件的传送。传送完毕后关闭。</a:t>
              </a:r>
            </a:p>
          </p:txBody>
        </p:sp>
        <p:cxnSp>
          <p:nvCxnSpPr>
            <p:cNvPr id="146" name="直接箭头连接符 145"/>
            <p:cNvCxnSpPr/>
            <p:nvPr/>
          </p:nvCxnSpPr>
          <p:spPr>
            <a:xfrm flipV="1">
              <a:off x="5690124" y="3168090"/>
              <a:ext cx="703584" cy="794398"/>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grpSp>
        <p:nvGrpSpPr>
          <p:cNvPr id="20" name="组合 19"/>
          <p:cNvGrpSpPr/>
          <p:nvPr/>
        </p:nvGrpSpPr>
        <p:grpSpPr>
          <a:xfrm>
            <a:off x="1252514" y="3108857"/>
            <a:ext cx="2886864" cy="1145709"/>
            <a:chOff x="1252514" y="3117735"/>
            <a:chExt cx="2886864" cy="1145709"/>
          </a:xfrm>
        </p:grpSpPr>
        <p:sp>
          <p:nvSpPr>
            <p:cNvPr id="143" name="矩形 142"/>
            <p:cNvSpPr/>
            <p:nvPr/>
          </p:nvSpPr>
          <p:spPr>
            <a:xfrm>
              <a:off x="1252514" y="3986445"/>
              <a:ext cx="2886864" cy="276999"/>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动态创建。传输文件。传送完毕后释放。</a:t>
              </a:r>
              <a:endParaRPr lang="en-US" altLang="zh-CN" sz="1200" dirty="0">
                <a:latin typeface="Montserrat" panose="00000500000000000000" pitchFamily="2" charset="0"/>
                <a:ea typeface="微软雅黑 Light" panose="020B0502040204020203" pitchFamily="34" charset="-122"/>
              </a:endParaRPr>
            </a:p>
          </p:txBody>
        </p:sp>
        <p:cxnSp>
          <p:nvCxnSpPr>
            <p:cNvPr id="147" name="直接箭头连接符 146"/>
            <p:cNvCxnSpPr/>
            <p:nvPr/>
          </p:nvCxnSpPr>
          <p:spPr>
            <a:xfrm flipV="1">
              <a:off x="3223892" y="3117735"/>
              <a:ext cx="241530" cy="868710"/>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sp>
        <p:nvSpPr>
          <p:cNvPr id="3" name="标题 2">
            <a:extLst>
              <a:ext uri="{FF2B5EF4-FFF2-40B4-BE49-F238E27FC236}">
                <a16:creationId xmlns:a16="http://schemas.microsoft.com/office/drawing/2014/main" id="{11DCF4C1-9D0E-DC37-4B57-BB7E84B1B9E8}"/>
              </a:ext>
            </a:extLst>
          </p:cNvPr>
          <p:cNvSpPr>
            <a:spLocks noGrp="1"/>
          </p:cNvSpPr>
          <p:nvPr>
            <p:ph type="title"/>
          </p:nvPr>
        </p:nvSpPr>
        <p:spPr>
          <a:xfrm>
            <a:off x="2880000" y="144000"/>
            <a:ext cx="3384000" cy="338554"/>
          </a:xfrm>
        </p:spPr>
        <p:txBody>
          <a:bodyPr/>
          <a:lstStyle/>
          <a:p>
            <a:r>
              <a:rPr lang="en-US" altLang="zh-CN" dirty="0"/>
              <a:t>FTP </a:t>
            </a:r>
            <a:r>
              <a:rPr lang="zh-CN" altLang="en-US" dirty="0"/>
              <a:t>客户和服务器之间的两个从属进程和两个 </a:t>
            </a:r>
            <a:r>
              <a:rPr lang="en-US" altLang="zh-CN" dirty="0"/>
              <a:t>TCP </a:t>
            </a:r>
            <a:r>
              <a:rPr lang="zh-CN" altLang="en-US" dirty="0"/>
              <a:t>连接</a:t>
            </a:r>
          </a:p>
        </p:txBody>
      </p:sp>
    </p:spTree>
    <p:extLst>
      <p:ext uri="{BB962C8B-B14F-4D97-AF65-F5344CB8AC3E}">
        <p14:creationId xmlns:p14="http://schemas.microsoft.com/office/powerpoint/2010/main" val="21188650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5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5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9"/>
                                        </p:tgtEl>
                                        <p:attrNameLst>
                                          <p:attrName>style.visibility</p:attrName>
                                        </p:attrNameLst>
                                      </p:cBhvr>
                                      <p:to>
                                        <p:strVal val="visible"/>
                                      </p:to>
                                    </p:set>
                                    <p:animEffect transition="in" filter="fade">
                                      <p:cBhvr>
                                        <p:cTn id="17" dur="500"/>
                                        <p:tgtEl>
                                          <p:spTgt spid="1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0"/>
                                        </p:tgtEl>
                                        <p:attrNameLst>
                                          <p:attrName>style.visibility</p:attrName>
                                        </p:attrNameLst>
                                      </p:cBhvr>
                                      <p:to>
                                        <p:strVal val="visible"/>
                                      </p:to>
                                    </p:set>
                                    <p:animEffect transition="in" filter="fade">
                                      <p:cBhvr>
                                        <p:cTn id="22"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849135" y="1522581"/>
            <a:ext cx="7488921" cy="2442794"/>
            <a:chOff x="317184" y="1916832"/>
            <a:chExt cx="9388344" cy="3062362"/>
          </a:xfrm>
        </p:grpSpPr>
        <p:sp>
          <p:nvSpPr>
            <p:cNvPr id="60" name="Rectangle 82"/>
            <p:cNvSpPr>
              <a:spLocks noChangeArrowheads="1"/>
            </p:cNvSpPr>
            <p:nvPr/>
          </p:nvSpPr>
          <p:spPr bwMode="auto">
            <a:xfrm>
              <a:off x="6971059" y="2566118"/>
              <a:ext cx="1640681" cy="1760538"/>
            </a:xfrm>
            <a:prstGeom prst="rect">
              <a:avLst/>
            </a:prstGeom>
            <a:solidFill>
              <a:srgbClr val="0000FF"/>
            </a:solidFill>
            <a:ln w="9525" algn="ctr">
              <a:noFill/>
              <a:prstDash val="sysDot"/>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1" name="Oval 83"/>
            <p:cNvSpPr>
              <a:spLocks noChangeArrowheads="1"/>
            </p:cNvSpPr>
            <p:nvPr/>
          </p:nvSpPr>
          <p:spPr bwMode="auto">
            <a:xfrm>
              <a:off x="7062207" y="2750269"/>
              <a:ext cx="1367235" cy="557213"/>
            </a:xfrm>
            <a:prstGeom prst="ellipse">
              <a:avLst/>
            </a:prstGeom>
            <a:solidFill>
              <a:srgbClr val="99FFCC"/>
            </a:solidFill>
            <a:ln w="9525" algn="ctr">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控制进程</a:t>
              </a:r>
            </a:p>
          </p:txBody>
        </p:sp>
        <p:grpSp>
          <p:nvGrpSpPr>
            <p:cNvPr id="62" name="Group 84"/>
            <p:cNvGrpSpPr>
              <a:grpSpLocks/>
            </p:cNvGrpSpPr>
            <p:nvPr/>
          </p:nvGrpSpPr>
          <p:grpSpPr bwMode="auto">
            <a:xfrm>
              <a:off x="317184" y="2008906"/>
              <a:ext cx="820341" cy="1204912"/>
              <a:chOff x="480" y="1395"/>
              <a:chExt cx="511" cy="728"/>
            </a:xfrm>
          </p:grpSpPr>
          <p:grpSp>
            <p:nvGrpSpPr>
              <p:cNvPr id="63" name="Group 85"/>
              <p:cNvGrpSpPr>
                <a:grpSpLocks/>
              </p:cNvGrpSpPr>
              <p:nvPr/>
            </p:nvGrpSpPr>
            <p:grpSpPr bwMode="auto">
              <a:xfrm>
                <a:off x="717" y="1446"/>
                <a:ext cx="274" cy="237"/>
                <a:chOff x="717" y="1446"/>
                <a:chExt cx="274" cy="237"/>
              </a:xfrm>
            </p:grpSpPr>
            <p:sp>
              <p:nvSpPr>
                <p:cNvPr id="88" name="Arc 86"/>
                <p:cNvSpPr>
                  <a:spLocks/>
                </p:cNvSpPr>
                <p:nvPr/>
              </p:nvSpPr>
              <p:spPr bwMode="auto">
                <a:xfrm>
                  <a:off x="930" y="1618"/>
                  <a:ext cx="58" cy="39"/>
                </a:xfrm>
                <a:custGeom>
                  <a:avLst/>
                  <a:gdLst>
                    <a:gd name="T0" fmla="*/ 0 w 38273"/>
                    <a:gd name="T1" fmla="*/ 0 h 35142"/>
                    <a:gd name="T2" fmla="*/ 0 w 38273"/>
                    <a:gd name="T3" fmla="*/ 0 h 35142"/>
                    <a:gd name="T4" fmla="*/ 0 w 38273"/>
                    <a:gd name="T5" fmla="*/ 0 h 35142"/>
                    <a:gd name="T6" fmla="*/ 0 60000 65536"/>
                    <a:gd name="T7" fmla="*/ 0 60000 65536"/>
                    <a:gd name="T8" fmla="*/ 0 60000 65536"/>
                  </a:gdLst>
                  <a:ahLst/>
                  <a:cxnLst>
                    <a:cxn ang="T6">
                      <a:pos x="T0" y="T1"/>
                    </a:cxn>
                    <a:cxn ang="T7">
                      <a:pos x="T2" y="T3"/>
                    </a:cxn>
                    <a:cxn ang="T8">
                      <a:pos x="T4" y="T5"/>
                    </a:cxn>
                  </a:cxnLst>
                  <a:rect l="0" t="0" r="r" b="b"/>
                  <a:pathLst>
                    <a:path w="38273" h="35142" fill="none" extrusionOk="0">
                      <a:moveTo>
                        <a:pt x="-1" y="7867"/>
                      </a:moveTo>
                      <a:cubicBezTo>
                        <a:pt x="4103" y="2886"/>
                        <a:pt x="10218" y="-1"/>
                        <a:pt x="16673" y="0"/>
                      </a:cubicBezTo>
                      <a:cubicBezTo>
                        <a:pt x="28602" y="0"/>
                        <a:pt x="38273" y="9670"/>
                        <a:pt x="38273" y="21600"/>
                      </a:cubicBezTo>
                      <a:cubicBezTo>
                        <a:pt x="38273" y="26526"/>
                        <a:pt x="36589" y="31304"/>
                        <a:pt x="33500" y="35141"/>
                      </a:cubicBezTo>
                    </a:path>
                    <a:path w="38273" h="35142" stroke="0" extrusionOk="0">
                      <a:moveTo>
                        <a:pt x="-1" y="7867"/>
                      </a:moveTo>
                      <a:cubicBezTo>
                        <a:pt x="4103" y="2886"/>
                        <a:pt x="10218" y="-1"/>
                        <a:pt x="16673" y="0"/>
                      </a:cubicBezTo>
                      <a:cubicBezTo>
                        <a:pt x="28602" y="0"/>
                        <a:pt x="38273" y="9670"/>
                        <a:pt x="38273" y="21600"/>
                      </a:cubicBezTo>
                      <a:cubicBezTo>
                        <a:pt x="38273" y="26526"/>
                        <a:pt x="36589" y="31304"/>
                        <a:pt x="33500" y="35141"/>
                      </a:cubicBezTo>
                      <a:lnTo>
                        <a:pt x="16673" y="21600"/>
                      </a:lnTo>
                      <a:lnTo>
                        <a:pt x="-1" y="7867"/>
                      </a:lnTo>
                      <a:close/>
                    </a:path>
                  </a:pathLst>
                </a:custGeom>
                <a:noFill/>
                <a:ln w="4763">
                  <a:solidFill>
                    <a:srgbClr val="494936"/>
                  </a:solidFill>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9" name="Arc 87"/>
                <p:cNvSpPr>
                  <a:spLocks/>
                </p:cNvSpPr>
                <p:nvPr/>
              </p:nvSpPr>
              <p:spPr bwMode="auto">
                <a:xfrm>
                  <a:off x="929" y="1618"/>
                  <a:ext cx="55" cy="36"/>
                </a:xfrm>
                <a:custGeom>
                  <a:avLst/>
                  <a:gdLst>
                    <a:gd name="T0" fmla="*/ 0 w 38146"/>
                    <a:gd name="T1" fmla="*/ 0 h 34928"/>
                    <a:gd name="T2" fmla="*/ 0 w 38146"/>
                    <a:gd name="T3" fmla="*/ 0 h 34928"/>
                    <a:gd name="T4" fmla="*/ 0 w 38146"/>
                    <a:gd name="T5" fmla="*/ 0 h 34928"/>
                    <a:gd name="T6" fmla="*/ 0 60000 65536"/>
                    <a:gd name="T7" fmla="*/ 0 60000 65536"/>
                    <a:gd name="T8" fmla="*/ 0 60000 65536"/>
                  </a:gdLst>
                  <a:ahLst/>
                  <a:cxnLst>
                    <a:cxn ang="T6">
                      <a:pos x="T0" y="T1"/>
                    </a:cxn>
                    <a:cxn ang="T7">
                      <a:pos x="T2" y="T3"/>
                    </a:cxn>
                    <a:cxn ang="T8">
                      <a:pos x="T4" y="T5"/>
                    </a:cxn>
                  </a:cxnLst>
                  <a:rect l="0" t="0" r="r" b="b"/>
                  <a:pathLst>
                    <a:path w="38146" h="34928" fill="none" extrusionOk="0">
                      <a:moveTo>
                        <a:pt x="0" y="7715"/>
                      </a:moveTo>
                      <a:cubicBezTo>
                        <a:pt x="4104" y="2824"/>
                        <a:pt x="10161" y="-1"/>
                        <a:pt x="16546" y="0"/>
                      </a:cubicBezTo>
                      <a:cubicBezTo>
                        <a:pt x="28475" y="0"/>
                        <a:pt x="38146" y="9670"/>
                        <a:pt x="38146" y="21600"/>
                      </a:cubicBezTo>
                      <a:cubicBezTo>
                        <a:pt x="38146" y="26432"/>
                        <a:pt x="36525" y="31125"/>
                        <a:pt x="33543" y="34927"/>
                      </a:cubicBezTo>
                    </a:path>
                    <a:path w="38146" h="34928" stroke="0" extrusionOk="0">
                      <a:moveTo>
                        <a:pt x="0" y="7715"/>
                      </a:moveTo>
                      <a:cubicBezTo>
                        <a:pt x="4104" y="2824"/>
                        <a:pt x="10161" y="-1"/>
                        <a:pt x="16546" y="0"/>
                      </a:cubicBezTo>
                      <a:cubicBezTo>
                        <a:pt x="28475" y="0"/>
                        <a:pt x="38146" y="9670"/>
                        <a:pt x="38146" y="21600"/>
                      </a:cubicBezTo>
                      <a:cubicBezTo>
                        <a:pt x="38146" y="26432"/>
                        <a:pt x="36525" y="31125"/>
                        <a:pt x="33543" y="34927"/>
                      </a:cubicBezTo>
                      <a:lnTo>
                        <a:pt x="16546" y="21600"/>
                      </a:lnTo>
                      <a:lnTo>
                        <a:pt x="0" y="7715"/>
                      </a:lnTo>
                      <a:close/>
                    </a:path>
                  </a:pathLst>
                </a:custGeom>
                <a:noFill/>
                <a:ln w="4763">
                  <a:solidFill>
                    <a:srgbClr val="DBDBCE"/>
                  </a:solidFill>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0" name="Freeform 88"/>
                <p:cNvSpPr>
                  <a:spLocks/>
                </p:cNvSpPr>
                <p:nvPr/>
              </p:nvSpPr>
              <p:spPr bwMode="auto">
                <a:xfrm>
                  <a:off x="751" y="1591"/>
                  <a:ext cx="205" cy="26"/>
                </a:xfrm>
                <a:custGeom>
                  <a:avLst/>
                  <a:gdLst>
                    <a:gd name="T0" fmla="*/ 0 w 205"/>
                    <a:gd name="T1" fmla="*/ 26 h 26"/>
                    <a:gd name="T2" fmla="*/ 25 w 205"/>
                    <a:gd name="T3" fmla="*/ 0 h 26"/>
                    <a:gd name="T4" fmla="*/ 205 w 205"/>
                    <a:gd name="T5" fmla="*/ 0 h 26"/>
                    <a:gd name="T6" fmla="*/ 180 w 205"/>
                    <a:gd name="T7" fmla="*/ 26 h 26"/>
                    <a:gd name="T8" fmla="*/ 0 w 205"/>
                    <a:gd name="T9" fmla="*/ 26 h 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5" h="26">
                      <a:moveTo>
                        <a:pt x="0" y="26"/>
                      </a:moveTo>
                      <a:lnTo>
                        <a:pt x="25" y="0"/>
                      </a:lnTo>
                      <a:lnTo>
                        <a:pt x="205" y="0"/>
                      </a:lnTo>
                      <a:lnTo>
                        <a:pt x="180" y="26"/>
                      </a:lnTo>
                      <a:lnTo>
                        <a:pt x="0" y="26"/>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1" name="Freeform 89"/>
                <p:cNvSpPr>
                  <a:spLocks/>
                </p:cNvSpPr>
                <p:nvPr/>
              </p:nvSpPr>
              <p:spPr bwMode="auto">
                <a:xfrm>
                  <a:off x="751" y="1591"/>
                  <a:ext cx="205" cy="26"/>
                </a:xfrm>
                <a:custGeom>
                  <a:avLst/>
                  <a:gdLst>
                    <a:gd name="T0" fmla="*/ 0 w 205"/>
                    <a:gd name="T1" fmla="*/ 26 h 26"/>
                    <a:gd name="T2" fmla="*/ 25 w 205"/>
                    <a:gd name="T3" fmla="*/ 0 h 26"/>
                    <a:gd name="T4" fmla="*/ 205 w 205"/>
                    <a:gd name="T5" fmla="*/ 0 h 26"/>
                    <a:gd name="T6" fmla="*/ 180 w 205"/>
                    <a:gd name="T7" fmla="*/ 26 h 26"/>
                    <a:gd name="T8" fmla="*/ 0 w 205"/>
                    <a:gd name="T9" fmla="*/ 26 h 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5" h="26">
                      <a:moveTo>
                        <a:pt x="0" y="26"/>
                      </a:moveTo>
                      <a:lnTo>
                        <a:pt x="25" y="0"/>
                      </a:lnTo>
                      <a:lnTo>
                        <a:pt x="205" y="0"/>
                      </a:lnTo>
                      <a:lnTo>
                        <a:pt x="180" y="26"/>
                      </a:lnTo>
                      <a:lnTo>
                        <a:pt x="0" y="26"/>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2" name="Rectangle 90"/>
                <p:cNvSpPr>
                  <a:spLocks noChangeArrowheads="1"/>
                </p:cNvSpPr>
                <p:nvPr/>
              </p:nvSpPr>
              <p:spPr bwMode="auto">
                <a:xfrm>
                  <a:off x="751" y="1617"/>
                  <a:ext cx="180" cy="31"/>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3" name="Rectangle 91"/>
                <p:cNvSpPr>
                  <a:spLocks noChangeArrowheads="1"/>
                </p:cNvSpPr>
                <p:nvPr/>
              </p:nvSpPr>
              <p:spPr bwMode="auto">
                <a:xfrm>
                  <a:off x="752" y="1618"/>
                  <a:ext cx="178" cy="29"/>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4" name="Freeform 92"/>
                <p:cNvSpPr>
                  <a:spLocks/>
                </p:cNvSpPr>
                <p:nvPr/>
              </p:nvSpPr>
              <p:spPr bwMode="auto">
                <a:xfrm>
                  <a:off x="931" y="1591"/>
                  <a:ext cx="25" cy="57"/>
                </a:xfrm>
                <a:custGeom>
                  <a:avLst/>
                  <a:gdLst>
                    <a:gd name="T0" fmla="*/ 0 w 25"/>
                    <a:gd name="T1" fmla="*/ 57 h 57"/>
                    <a:gd name="T2" fmla="*/ 25 w 25"/>
                    <a:gd name="T3" fmla="*/ 35 h 57"/>
                    <a:gd name="T4" fmla="*/ 25 w 25"/>
                    <a:gd name="T5" fmla="*/ 0 h 57"/>
                    <a:gd name="T6" fmla="*/ 0 w 25"/>
                    <a:gd name="T7" fmla="*/ 26 h 57"/>
                    <a:gd name="T8" fmla="*/ 0 w 25"/>
                    <a:gd name="T9" fmla="*/ 57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57">
                      <a:moveTo>
                        <a:pt x="0" y="57"/>
                      </a:moveTo>
                      <a:lnTo>
                        <a:pt x="25" y="35"/>
                      </a:lnTo>
                      <a:lnTo>
                        <a:pt x="25" y="0"/>
                      </a:lnTo>
                      <a:lnTo>
                        <a:pt x="0" y="26"/>
                      </a:lnTo>
                      <a:lnTo>
                        <a:pt x="0" y="57"/>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5" name="Freeform 93"/>
                <p:cNvSpPr>
                  <a:spLocks/>
                </p:cNvSpPr>
                <p:nvPr/>
              </p:nvSpPr>
              <p:spPr bwMode="auto">
                <a:xfrm>
                  <a:off x="931" y="1591"/>
                  <a:ext cx="25" cy="57"/>
                </a:xfrm>
                <a:custGeom>
                  <a:avLst/>
                  <a:gdLst>
                    <a:gd name="T0" fmla="*/ 0 w 25"/>
                    <a:gd name="T1" fmla="*/ 57 h 57"/>
                    <a:gd name="T2" fmla="*/ 25 w 25"/>
                    <a:gd name="T3" fmla="*/ 35 h 57"/>
                    <a:gd name="T4" fmla="*/ 25 w 25"/>
                    <a:gd name="T5" fmla="*/ 0 h 57"/>
                    <a:gd name="T6" fmla="*/ 0 w 25"/>
                    <a:gd name="T7" fmla="*/ 26 h 57"/>
                    <a:gd name="T8" fmla="*/ 0 w 25"/>
                    <a:gd name="T9" fmla="*/ 57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57">
                      <a:moveTo>
                        <a:pt x="0" y="57"/>
                      </a:moveTo>
                      <a:lnTo>
                        <a:pt x="25" y="35"/>
                      </a:lnTo>
                      <a:lnTo>
                        <a:pt x="25" y="0"/>
                      </a:lnTo>
                      <a:lnTo>
                        <a:pt x="0" y="26"/>
                      </a:lnTo>
                      <a:lnTo>
                        <a:pt x="0" y="57"/>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6" name="Freeform 94"/>
                <p:cNvSpPr>
                  <a:spLocks/>
                </p:cNvSpPr>
                <p:nvPr/>
              </p:nvSpPr>
              <p:spPr bwMode="auto">
                <a:xfrm>
                  <a:off x="757" y="1591"/>
                  <a:ext cx="196" cy="19"/>
                </a:xfrm>
                <a:custGeom>
                  <a:avLst/>
                  <a:gdLst>
                    <a:gd name="T0" fmla="*/ 0 w 196"/>
                    <a:gd name="T1" fmla="*/ 19 h 19"/>
                    <a:gd name="T2" fmla="*/ 19 w 196"/>
                    <a:gd name="T3" fmla="*/ 0 h 19"/>
                    <a:gd name="T4" fmla="*/ 196 w 196"/>
                    <a:gd name="T5" fmla="*/ 0 h 19"/>
                    <a:gd name="T6" fmla="*/ 177 w 196"/>
                    <a:gd name="T7" fmla="*/ 19 h 19"/>
                    <a:gd name="T8" fmla="*/ 0 w 196"/>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6" h="19">
                      <a:moveTo>
                        <a:pt x="0" y="19"/>
                      </a:moveTo>
                      <a:lnTo>
                        <a:pt x="19" y="0"/>
                      </a:lnTo>
                      <a:lnTo>
                        <a:pt x="196" y="0"/>
                      </a:lnTo>
                      <a:lnTo>
                        <a:pt x="177" y="19"/>
                      </a:lnTo>
                      <a:lnTo>
                        <a:pt x="0"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7" name="Freeform 95"/>
                <p:cNvSpPr>
                  <a:spLocks/>
                </p:cNvSpPr>
                <p:nvPr/>
              </p:nvSpPr>
              <p:spPr bwMode="auto">
                <a:xfrm>
                  <a:off x="757" y="1591"/>
                  <a:ext cx="196" cy="19"/>
                </a:xfrm>
                <a:custGeom>
                  <a:avLst/>
                  <a:gdLst>
                    <a:gd name="T0" fmla="*/ 0 w 196"/>
                    <a:gd name="T1" fmla="*/ 19 h 19"/>
                    <a:gd name="T2" fmla="*/ 19 w 196"/>
                    <a:gd name="T3" fmla="*/ 0 h 19"/>
                    <a:gd name="T4" fmla="*/ 196 w 196"/>
                    <a:gd name="T5" fmla="*/ 0 h 19"/>
                    <a:gd name="T6" fmla="*/ 177 w 196"/>
                    <a:gd name="T7" fmla="*/ 19 h 19"/>
                    <a:gd name="T8" fmla="*/ 0 w 196"/>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6" h="19">
                      <a:moveTo>
                        <a:pt x="0" y="19"/>
                      </a:moveTo>
                      <a:lnTo>
                        <a:pt x="19" y="0"/>
                      </a:lnTo>
                      <a:lnTo>
                        <a:pt x="196" y="0"/>
                      </a:lnTo>
                      <a:lnTo>
                        <a:pt x="177" y="19"/>
                      </a:lnTo>
                      <a:lnTo>
                        <a:pt x="0" y="19"/>
                      </a:lnTo>
                      <a:close/>
                    </a:path>
                  </a:pathLst>
                </a:custGeom>
                <a:solidFill>
                  <a:srgbClr val="00000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8" name="Freeform 96"/>
                <p:cNvSpPr>
                  <a:spLocks/>
                </p:cNvSpPr>
                <p:nvPr/>
              </p:nvSpPr>
              <p:spPr bwMode="auto">
                <a:xfrm>
                  <a:off x="751" y="1446"/>
                  <a:ext cx="202" cy="19"/>
                </a:xfrm>
                <a:custGeom>
                  <a:avLst/>
                  <a:gdLst>
                    <a:gd name="T0" fmla="*/ 0 w 202"/>
                    <a:gd name="T1" fmla="*/ 19 h 19"/>
                    <a:gd name="T2" fmla="*/ 19 w 202"/>
                    <a:gd name="T3" fmla="*/ 0 h 19"/>
                    <a:gd name="T4" fmla="*/ 202 w 202"/>
                    <a:gd name="T5" fmla="*/ 0 h 19"/>
                    <a:gd name="T6" fmla="*/ 180 w 202"/>
                    <a:gd name="T7" fmla="*/ 19 h 19"/>
                    <a:gd name="T8" fmla="*/ 0 w 202"/>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2" h="19">
                      <a:moveTo>
                        <a:pt x="0" y="19"/>
                      </a:moveTo>
                      <a:lnTo>
                        <a:pt x="19" y="0"/>
                      </a:lnTo>
                      <a:lnTo>
                        <a:pt x="202" y="0"/>
                      </a:lnTo>
                      <a:lnTo>
                        <a:pt x="180" y="19"/>
                      </a:lnTo>
                      <a:lnTo>
                        <a:pt x="0" y="19"/>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9" name="Freeform 97"/>
                <p:cNvSpPr>
                  <a:spLocks/>
                </p:cNvSpPr>
                <p:nvPr/>
              </p:nvSpPr>
              <p:spPr bwMode="auto">
                <a:xfrm>
                  <a:off x="751" y="1446"/>
                  <a:ext cx="202" cy="19"/>
                </a:xfrm>
                <a:custGeom>
                  <a:avLst/>
                  <a:gdLst>
                    <a:gd name="T0" fmla="*/ 0 w 202"/>
                    <a:gd name="T1" fmla="*/ 19 h 19"/>
                    <a:gd name="T2" fmla="*/ 19 w 202"/>
                    <a:gd name="T3" fmla="*/ 0 h 19"/>
                    <a:gd name="T4" fmla="*/ 202 w 202"/>
                    <a:gd name="T5" fmla="*/ 0 h 19"/>
                    <a:gd name="T6" fmla="*/ 180 w 202"/>
                    <a:gd name="T7" fmla="*/ 19 h 19"/>
                    <a:gd name="T8" fmla="*/ 0 w 202"/>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2" h="19">
                      <a:moveTo>
                        <a:pt x="0" y="19"/>
                      </a:moveTo>
                      <a:lnTo>
                        <a:pt x="19" y="0"/>
                      </a:lnTo>
                      <a:lnTo>
                        <a:pt x="202" y="0"/>
                      </a:lnTo>
                      <a:lnTo>
                        <a:pt x="180" y="19"/>
                      </a:lnTo>
                      <a:lnTo>
                        <a:pt x="0" y="19"/>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0" name="Rectangle 98"/>
                <p:cNvSpPr>
                  <a:spLocks noChangeArrowheads="1"/>
                </p:cNvSpPr>
                <p:nvPr/>
              </p:nvSpPr>
              <p:spPr bwMode="auto">
                <a:xfrm>
                  <a:off x="752" y="1466"/>
                  <a:ext cx="181" cy="140"/>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1" name="Rectangle 99"/>
                <p:cNvSpPr>
                  <a:spLocks noChangeArrowheads="1"/>
                </p:cNvSpPr>
                <p:nvPr/>
              </p:nvSpPr>
              <p:spPr bwMode="auto">
                <a:xfrm>
                  <a:off x="768" y="1485"/>
                  <a:ext cx="149" cy="108"/>
                </a:xfrm>
                <a:prstGeom prst="rect">
                  <a:avLst/>
                </a:prstGeom>
                <a:solidFill>
                  <a:srgbClr val="FFFFFF"/>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2" name="Freeform 100"/>
                <p:cNvSpPr>
                  <a:spLocks/>
                </p:cNvSpPr>
                <p:nvPr/>
              </p:nvSpPr>
              <p:spPr bwMode="auto">
                <a:xfrm>
                  <a:off x="931" y="1446"/>
                  <a:ext cx="22" cy="161"/>
                </a:xfrm>
                <a:custGeom>
                  <a:avLst/>
                  <a:gdLst>
                    <a:gd name="T0" fmla="*/ 0 w 22"/>
                    <a:gd name="T1" fmla="*/ 161 h 161"/>
                    <a:gd name="T2" fmla="*/ 22 w 22"/>
                    <a:gd name="T3" fmla="*/ 142 h 161"/>
                    <a:gd name="T4" fmla="*/ 22 w 22"/>
                    <a:gd name="T5" fmla="*/ 0 h 161"/>
                    <a:gd name="T6" fmla="*/ 0 w 22"/>
                    <a:gd name="T7" fmla="*/ 19 h 161"/>
                    <a:gd name="T8" fmla="*/ 0 w 22"/>
                    <a:gd name="T9" fmla="*/ 161 h 16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 h="161">
                      <a:moveTo>
                        <a:pt x="0" y="161"/>
                      </a:moveTo>
                      <a:lnTo>
                        <a:pt x="22" y="142"/>
                      </a:lnTo>
                      <a:lnTo>
                        <a:pt x="22" y="0"/>
                      </a:lnTo>
                      <a:lnTo>
                        <a:pt x="0" y="19"/>
                      </a:lnTo>
                      <a:lnTo>
                        <a:pt x="0" y="161"/>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3" name="Freeform 101"/>
                <p:cNvSpPr>
                  <a:spLocks/>
                </p:cNvSpPr>
                <p:nvPr/>
              </p:nvSpPr>
              <p:spPr bwMode="auto">
                <a:xfrm>
                  <a:off x="931" y="1446"/>
                  <a:ext cx="22" cy="161"/>
                </a:xfrm>
                <a:custGeom>
                  <a:avLst/>
                  <a:gdLst>
                    <a:gd name="T0" fmla="*/ 0 w 22"/>
                    <a:gd name="T1" fmla="*/ 161 h 161"/>
                    <a:gd name="T2" fmla="*/ 22 w 22"/>
                    <a:gd name="T3" fmla="*/ 142 h 161"/>
                    <a:gd name="T4" fmla="*/ 22 w 22"/>
                    <a:gd name="T5" fmla="*/ 0 h 161"/>
                    <a:gd name="T6" fmla="*/ 0 w 22"/>
                    <a:gd name="T7" fmla="*/ 19 h 161"/>
                    <a:gd name="T8" fmla="*/ 0 w 22"/>
                    <a:gd name="T9" fmla="*/ 161 h 16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 h="161">
                      <a:moveTo>
                        <a:pt x="0" y="161"/>
                      </a:moveTo>
                      <a:lnTo>
                        <a:pt x="22" y="142"/>
                      </a:lnTo>
                      <a:lnTo>
                        <a:pt x="22" y="0"/>
                      </a:lnTo>
                      <a:lnTo>
                        <a:pt x="0" y="19"/>
                      </a:lnTo>
                      <a:lnTo>
                        <a:pt x="0" y="161"/>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4" name="Freeform 102"/>
                <p:cNvSpPr>
                  <a:spLocks/>
                </p:cNvSpPr>
                <p:nvPr/>
              </p:nvSpPr>
              <p:spPr bwMode="auto">
                <a:xfrm>
                  <a:off x="717" y="1642"/>
                  <a:ext cx="223" cy="35"/>
                </a:xfrm>
                <a:custGeom>
                  <a:avLst/>
                  <a:gdLst>
                    <a:gd name="T0" fmla="*/ 0 w 223"/>
                    <a:gd name="T1" fmla="*/ 35 h 35"/>
                    <a:gd name="T2" fmla="*/ 28 w 223"/>
                    <a:gd name="T3" fmla="*/ 0 h 35"/>
                    <a:gd name="T4" fmla="*/ 223 w 223"/>
                    <a:gd name="T5" fmla="*/ 0 h 35"/>
                    <a:gd name="T6" fmla="*/ 195 w 223"/>
                    <a:gd name="T7" fmla="*/ 35 h 35"/>
                    <a:gd name="T8" fmla="*/ 0 w 223"/>
                    <a:gd name="T9" fmla="*/ 35 h 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3" h="35">
                      <a:moveTo>
                        <a:pt x="0" y="35"/>
                      </a:moveTo>
                      <a:lnTo>
                        <a:pt x="28" y="0"/>
                      </a:lnTo>
                      <a:lnTo>
                        <a:pt x="223" y="0"/>
                      </a:lnTo>
                      <a:lnTo>
                        <a:pt x="195" y="35"/>
                      </a:lnTo>
                      <a:lnTo>
                        <a:pt x="0" y="35"/>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5" name="Freeform 103"/>
                <p:cNvSpPr>
                  <a:spLocks/>
                </p:cNvSpPr>
                <p:nvPr/>
              </p:nvSpPr>
              <p:spPr bwMode="auto">
                <a:xfrm>
                  <a:off x="717" y="1642"/>
                  <a:ext cx="223" cy="35"/>
                </a:xfrm>
                <a:custGeom>
                  <a:avLst/>
                  <a:gdLst>
                    <a:gd name="T0" fmla="*/ 0 w 223"/>
                    <a:gd name="T1" fmla="*/ 35 h 35"/>
                    <a:gd name="T2" fmla="*/ 28 w 223"/>
                    <a:gd name="T3" fmla="*/ 0 h 35"/>
                    <a:gd name="T4" fmla="*/ 223 w 223"/>
                    <a:gd name="T5" fmla="*/ 0 h 35"/>
                    <a:gd name="T6" fmla="*/ 195 w 223"/>
                    <a:gd name="T7" fmla="*/ 35 h 35"/>
                    <a:gd name="T8" fmla="*/ 0 w 223"/>
                    <a:gd name="T9" fmla="*/ 35 h 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3" h="35">
                      <a:moveTo>
                        <a:pt x="0" y="35"/>
                      </a:moveTo>
                      <a:lnTo>
                        <a:pt x="28" y="0"/>
                      </a:lnTo>
                      <a:lnTo>
                        <a:pt x="223" y="0"/>
                      </a:lnTo>
                      <a:lnTo>
                        <a:pt x="195" y="35"/>
                      </a:lnTo>
                      <a:lnTo>
                        <a:pt x="0" y="35"/>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6" name="Freeform 104"/>
                <p:cNvSpPr>
                  <a:spLocks/>
                </p:cNvSpPr>
                <p:nvPr/>
              </p:nvSpPr>
              <p:spPr bwMode="auto">
                <a:xfrm>
                  <a:off x="912" y="1642"/>
                  <a:ext cx="28" cy="41"/>
                </a:xfrm>
                <a:custGeom>
                  <a:avLst/>
                  <a:gdLst>
                    <a:gd name="T0" fmla="*/ 0 w 28"/>
                    <a:gd name="T1" fmla="*/ 41 h 41"/>
                    <a:gd name="T2" fmla="*/ 28 w 28"/>
                    <a:gd name="T3" fmla="*/ 13 h 41"/>
                    <a:gd name="T4" fmla="*/ 28 w 28"/>
                    <a:gd name="T5" fmla="*/ 0 h 41"/>
                    <a:gd name="T6" fmla="*/ 0 w 28"/>
                    <a:gd name="T7" fmla="*/ 35 h 41"/>
                    <a:gd name="T8" fmla="*/ 0 w 28"/>
                    <a:gd name="T9" fmla="*/ 41 h 4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8" h="41">
                      <a:moveTo>
                        <a:pt x="0" y="41"/>
                      </a:moveTo>
                      <a:lnTo>
                        <a:pt x="28" y="13"/>
                      </a:lnTo>
                      <a:lnTo>
                        <a:pt x="28" y="0"/>
                      </a:lnTo>
                      <a:lnTo>
                        <a:pt x="0" y="35"/>
                      </a:lnTo>
                      <a:lnTo>
                        <a:pt x="0" y="41"/>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7" name="Freeform 105"/>
                <p:cNvSpPr>
                  <a:spLocks/>
                </p:cNvSpPr>
                <p:nvPr/>
              </p:nvSpPr>
              <p:spPr bwMode="auto">
                <a:xfrm>
                  <a:off x="912" y="1642"/>
                  <a:ext cx="28" cy="41"/>
                </a:xfrm>
                <a:custGeom>
                  <a:avLst/>
                  <a:gdLst>
                    <a:gd name="T0" fmla="*/ 0 w 28"/>
                    <a:gd name="T1" fmla="*/ 41 h 41"/>
                    <a:gd name="T2" fmla="*/ 28 w 28"/>
                    <a:gd name="T3" fmla="*/ 13 h 41"/>
                    <a:gd name="T4" fmla="*/ 28 w 28"/>
                    <a:gd name="T5" fmla="*/ 0 h 41"/>
                    <a:gd name="T6" fmla="*/ 0 w 28"/>
                    <a:gd name="T7" fmla="*/ 35 h 41"/>
                    <a:gd name="T8" fmla="*/ 0 w 28"/>
                    <a:gd name="T9" fmla="*/ 41 h 4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8" h="41">
                      <a:moveTo>
                        <a:pt x="0" y="41"/>
                      </a:moveTo>
                      <a:lnTo>
                        <a:pt x="28" y="13"/>
                      </a:lnTo>
                      <a:lnTo>
                        <a:pt x="28" y="0"/>
                      </a:lnTo>
                      <a:lnTo>
                        <a:pt x="0" y="35"/>
                      </a:lnTo>
                      <a:lnTo>
                        <a:pt x="0" y="41"/>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8" name="Rectangle 106"/>
                <p:cNvSpPr>
                  <a:spLocks noChangeArrowheads="1"/>
                </p:cNvSpPr>
                <p:nvPr/>
              </p:nvSpPr>
              <p:spPr bwMode="auto">
                <a:xfrm>
                  <a:off x="717" y="1677"/>
                  <a:ext cx="195" cy="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9" name="Rectangle 107"/>
                <p:cNvSpPr>
                  <a:spLocks noChangeArrowheads="1"/>
                </p:cNvSpPr>
                <p:nvPr/>
              </p:nvSpPr>
              <p:spPr bwMode="auto">
                <a:xfrm>
                  <a:off x="718" y="1678"/>
                  <a:ext cx="193" cy="4"/>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0" name="Freeform 108"/>
                <p:cNvSpPr>
                  <a:spLocks/>
                </p:cNvSpPr>
                <p:nvPr/>
              </p:nvSpPr>
              <p:spPr bwMode="auto">
                <a:xfrm>
                  <a:off x="953" y="1651"/>
                  <a:ext cx="38" cy="23"/>
                </a:xfrm>
                <a:custGeom>
                  <a:avLst/>
                  <a:gdLst>
                    <a:gd name="T0" fmla="*/ 0 w 38"/>
                    <a:gd name="T1" fmla="*/ 23 h 23"/>
                    <a:gd name="T2" fmla="*/ 13 w 38"/>
                    <a:gd name="T3" fmla="*/ 0 h 23"/>
                    <a:gd name="T4" fmla="*/ 38 w 38"/>
                    <a:gd name="T5" fmla="*/ 0 h 23"/>
                    <a:gd name="T6" fmla="*/ 25 w 38"/>
                    <a:gd name="T7" fmla="*/ 23 h 23"/>
                    <a:gd name="T8" fmla="*/ 0 w 38"/>
                    <a:gd name="T9" fmla="*/ 23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8" h="23">
                      <a:moveTo>
                        <a:pt x="0" y="23"/>
                      </a:moveTo>
                      <a:lnTo>
                        <a:pt x="13" y="0"/>
                      </a:lnTo>
                      <a:lnTo>
                        <a:pt x="38" y="0"/>
                      </a:lnTo>
                      <a:lnTo>
                        <a:pt x="25"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1" name="Freeform 109"/>
                <p:cNvSpPr>
                  <a:spLocks/>
                </p:cNvSpPr>
                <p:nvPr/>
              </p:nvSpPr>
              <p:spPr bwMode="auto">
                <a:xfrm>
                  <a:off x="953" y="1651"/>
                  <a:ext cx="38" cy="23"/>
                </a:xfrm>
                <a:custGeom>
                  <a:avLst/>
                  <a:gdLst>
                    <a:gd name="T0" fmla="*/ 0 w 38"/>
                    <a:gd name="T1" fmla="*/ 23 h 23"/>
                    <a:gd name="T2" fmla="*/ 13 w 38"/>
                    <a:gd name="T3" fmla="*/ 0 h 23"/>
                    <a:gd name="T4" fmla="*/ 38 w 38"/>
                    <a:gd name="T5" fmla="*/ 0 h 23"/>
                    <a:gd name="T6" fmla="*/ 25 w 38"/>
                    <a:gd name="T7" fmla="*/ 23 h 23"/>
                    <a:gd name="T8" fmla="*/ 0 w 38"/>
                    <a:gd name="T9" fmla="*/ 23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8" h="23">
                      <a:moveTo>
                        <a:pt x="0" y="23"/>
                      </a:moveTo>
                      <a:lnTo>
                        <a:pt x="13" y="0"/>
                      </a:lnTo>
                      <a:lnTo>
                        <a:pt x="38" y="0"/>
                      </a:lnTo>
                      <a:lnTo>
                        <a:pt x="25" y="23"/>
                      </a:lnTo>
                      <a:lnTo>
                        <a:pt x="0" y="23"/>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2" name="Freeform 110"/>
                <p:cNvSpPr>
                  <a:spLocks/>
                </p:cNvSpPr>
                <p:nvPr/>
              </p:nvSpPr>
              <p:spPr bwMode="auto">
                <a:xfrm>
                  <a:off x="978" y="1651"/>
                  <a:ext cx="13" cy="29"/>
                </a:xfrm>
                <a:custGeom>
                  <a:avLst/>
                  <a:gdLst>
                    <a:gd name="T0" fmla="*/ 0 w 13"/>
                    <a:gd name="T1" fmla="*/ 29 h 29"/>
                    <a:gd name="T2" fmla="*/ 13 w 13"/>
                    <a:gd name="T3" fmla="*/ 16 h 29"/>
                    <a:gd name="T4" fmla="*/ 13 w 13"/>
                    <a:gd name="T5" fmla="*/ 0 h 29"/>
                    <a:gd name="T6" fmla="*/ 0 w 13"/>
                    <a:gd name="T7" fmla="*/ 23 h 29"/>
                    <a:gd name="T8" fmla="*/ 0 w 13"/>
                    <a:gd name="T9" fmla="*/ 29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29">
                      <a:moveTo>
                        <a:pt x="0" y="29"/>
                      </a:moveTo>
                      <a:lnTo>
                        <a:pt x="13" y="16"/>
                      </a:lnTo>
                      <a:lnTo>
                        <a:pt x="13" y="0"/>
                      </a:lnTo>
                      <a:lnTo>
                        <a:pt x="0" y="23"/>
                      </a:lnTo>
                      <a:lnTo>
                        <a:pt x="0" y="29"/>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3" name="Freeform 111"/>
                <p:cNvSpPr>
                  <a:spLocks/>
                </p:cNvSpPr>
                <p:nvPr/>
              </p:nvSpPr>
              <p:spPr bwMode="auto">
                <a:xfrm>
                  <a:off x="978" y="1651"/>
                  <a:ext cx="13" cy="29"/>
                </a:xfrm>
                <a:custGeom>
                  <a:avLst/>
                  <a:gdLst>
                    <a:gd name="T0" fmla="*/ 0 w 13"/>
                    <a:gd name="T1" fmla="*/ 29 h 29"/>
                    <a:gd name="T2" fmla="*/ 13 w 13"/>
                    <a:gd name="T3" fmla="*/ 16 h 29"/>
                    <a:gd name="T4" fmla="*/ 13 w 13"/>
                    <a:gd name="T5" fmla="*/ 0 h 29"/>
                    <a:gd name="T6" fmla="*/ 0 w 13"/>
                    <a:gd name="T7" fmla="*/ 23 h 29"/>
                    <a:gd name="T8" fmla="*/ 0 w 13"/>
                    <a:gd name="T9" fmla="*/ 29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29">
                      <a:moveTo>
                        <a:pt x="0" y="29"/>
                      </a:moveTo>
                      <a:lnTo>
                        <a:pt x="13" y="16"/>
                      </a:lnTo>
                      <a:lnTo>
                        <a:pt x="13" y="0"/>
                      </a:lnTo>
                      <a:lnTo>
                        <a:pt x="0" y="23"/>
                      </a:lnTo>
                      <a:lnTo>
                        <a:pt x="0" y="29"/>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4" name="Rectangle 112"/>
                <p:cNvSpPr>
                  <a:spLocks noChangeArrowheads="1"/>
                </p:cNvSpPr>
                <p:nvPr/>
              </p:nvSpPr>
              <p:spPr bwMode="auto">
                <a:xfrm>
                  <a:off x="950" y="1674"/>
                  <a:ext cx="28" cy="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5" name="Rectangle 113"/>
                <p:cNvSpPr>
                  <a:spLocks noChangeArrowheads="1"/>
                </p:cNvSpPr>
                <p:nvPr/>
              </p:nvSpPr>
              <p:spPr bwMode="auto">
                <a:xfrm>
                  <a:off x="951" y="1675"/>
                  <a:ext cx="26" cy="4"/>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sp>
            <p:nvSpPr>
              <p:cNvPr id="64" name="Freeform 114"/>
              <p:cNvSpPr>
                <a:spLocks/>
              </p:cNvSpPr>
              <p:nvPr/>
            </p:nvSpPr>
            <p:spPr bwMode="auto">
              <a:xfrm>
                <a:off x="710" y="1620"/>
                <a:ext cx="85" cy="38"/>
              </a:xfrm>
              <a:custGeom>
                <a:avLst/>
                <a:gdLst>
                  <a:gd name="T0" fmla="*/ 0 w 85"/>
                  <a:gd name="T1" fmla="*/ 16 h 38"/>
                  <a:gd name="T2" fmla="*/ 25 w 85"/>
                  <a:gd name="T3" fmla="*/ 16 h 38"/>
                  <a:gd name="T4" fmla="*/ 44 w 85"/>
                  <a:gd name="T5" fmla="*/ 0 h 38"/>
                  <a:gd name="T6" fmla="*/ 70 w 85"/>
                  <a:gd name="T7" fmla="*/ 9 h 38"/>
                  <a:gd name="T8" fmla="*/ 79 w 85"/>
                  <a:gd name="T9" fmla="*/ 12 h 38"/>
                  <a:gd name="T10" fmla="*/ 85 w 85"/>
                  <a:gd name="T11" fmla="*/ 19 h 38"/>
                  <a:gd name="T12" fmla="*/ 82 w 85"/>
                  <a:gd name="T13" fmla="*/ 31 h 38"/>
                  <a:gd name="T14" fmla="*/ 79 w 85"/>
                  <a:gd name="T15" fmla="*/ 31 h 38"/>
                  <a:gd name="T16" fmla="*/ 73 w 85"/>
                  <a:gd name="T17" fmla="*/ 22 h 38"/>
                  <a:gd name="T18" fmla="*/ 70 w 85"/>
                  <a:gd name="T19" fmla="*/ 19 h 38"/>
                  <a:gd name="T20" fmla="*/ 57 w 85"/>
                  <a:gd name="T21" fmla="*/ 22 h 38"/>
                  <a:gd name="T22" fmla="*/ 66 w 85"/>
                  <a:gd name="T23" fmla="*/ 25 h 38"/>
                  <a:gd name="T24" fmla="*/ 70 w 85"/>
                  <a:gd name="T25" fmla="*/ 25 h 38"/>
                  <a:gd name="T26" fmla="*/ 70 w 85"/>
                  <a:gd name="T27" fmla="*/ 31 h 38"/>
                  <a:gd name="T28" fmla="*/ 41 w 85"/>
                  <a:gd name="T29" fmla="*/ 38 h 38"/>
                  <a:gd name="T30" fmla="*/ 22 w 85"/>
                  <a:gd name="T31" fmla="*/ 31 h 38"/>
                  <a:gd name="T32" fmla="*/ 3 w 85"/>
                  <a:gd name="T33" fmla="*/ 31 h 38"/>
                  <a:gd name="T34" fmla="*/ 0 w 85"/>
                  <a:gd name="T35" fmla="*/ 16 h 38"/>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85" h="38">
                    <a:moveTo>
                      <a:pt x="0" y="16"/>
                    </a:moveTo>
                    <a:lnTo>
                      <a:pt x="25" y="16"/>
                    </a:lnTo>
                    <a:lnTo>
                      <a:pt x="44" y="0"/>
                    </a:lnTo>
                    <a:lnTo>
                      <a:pt x="70" y="9"/>
                    </a:lnTo>
                    <a:lnTo>
                      <a:pt x="79" y="12"/>
                    </a:lnTo>
                    <a:lnTo>
                      <a:pt x="85" y="19"/>
                    </a:lnTo>
                    <a:lnTo>
                      <a:pt x="82" y="31"/>
                    </a:lnTo>
                    <a:lnTo>
                      <a:pt x="79" y="31"/>
                    </a:lnTo>
                    <a:lnTo>
                      <a:pt x="73" y="22"/>
                    </a:lnTo>
                    <a:lnTo>
                      <a:pt x="70" y="19"/>
                    </a:lnTo>
                    <a:lnTo>
                      <a:pt x="57" y="22"/>
                    </a:lnTo>
                    <a:lnTo>
                      <a:pt x="66" y="25"/>
                    </a:lnTo>
                    <a:lnTo>
                      <a:pt x="70" y="25"/>
                    </a:lnTo>
                    <a:lnTo>
                      <a:pt x="70" y="31"/>
                    </a:lnTo>
                    <a:lnTo>
                      <a:pt x="41" y="38"/>
                    </a:lnTo>
                    <a:lnTo>
                      <a:pt x="22" y="31"/>
                    </a:lnTo>
                    <a:lnTo>
                      <a:pt x="3" y="31"/>
                    </a:lnTo>
                    <a:lnTo>
                      <a:pt x="0" y="16"/>
                    </a:lnTo>
                    <a:close/>
                  </a:path>
                </a:pathLst>
              </a:custGeom>
              <a:solidFill>
                <a:srgbClr val="FFA3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5" name="Freeform 115"/>
              <p:cNvSpPr>
                <a:spLocks/>
              </p:cNvSpPr>
              <p:nvPr/>
            </p:nvSpPr>
            <p:spPr bwMode="auto">
              <a:xfrm>
                <a:off x="710" y="1620"/>
                <a:ext cx="85" cy="38"/>
              </a:xfrm>
              <a:custGeom>
                <a:avLst/>
                <a:gdLst>
                  <a:gd name="T0" fmla="*/ 0 w 85"/>
                  <a:gd name="T1" fmla="*/ 16 h 38"/>
                  <a:gd name="T2" fmla="*/ 25 w 85"/>
                  <a:gd name="T3" fmla="*/ 16 h 38"/>
                  <a:gd name="T4" fmla="*/ 44 w 85"/>
                  <a:gd name="T5" fmla="*/ 0 h 38"/>
                  <a:gd name="T6" fmla="*/ 70 w 85"/>
                  <a:gd name="T7" fmla="*/ 9 h 38"/>
                  <a:gd name="T8" fmla="*/ 79 w 85"/>
                  <a:gd name="T9" fmla="*/ 12 h 38"/>
                  <a:gd name="T10" fmla="*/ 85 w 85"/>
                  <a:gd name="T11" fmla="*/ 19 h 38"/>
                  <a:gd name="T12" fmla="*/ 82 w 85"/>
                  <a:gd name="T13" fmla="*/ 31 h 38"/>
                  <a:gd name="T14" fmla="*/ 79 w 85"/>
                  <a:gd name="T15" fmla="*/ 31 h 38"/>
                  <a:gd name="T16" fmla="*/ 73 w 85"/>
                  <a:gd name="T17" fmla="*/ 22 h 38"/>
                  <a:gd name="T18" fmla="*/ 70 w 85"/>
                  <a:gd name="T19" fmla="*/ 19 h 38"/>
                  <a:gd name="T20" fmla="*/ 57 w 85"/>
                  <a:gd name="T21" fmla="*/ 22 h 38"/>
                  <a:gd name="T22" fmla="*/ 66 w 85"/>
                  <a:gd name="T23" fmla="*/ 25 h 38"/>
                  <a:gd name="T24" fmla="*/ 70 w 85"/>
                  <a:gd name="T25" fmla="*/ 25 h 38"/>
                  <a:gd name="T26" fmla="*/ 70 w 85"/>
                  <a:gd name="T27" fmla="*/ 31 h 38"/>
                  <a:gd name="T28" fmla="*/ 41 w 85"/>
                  <a:gd name="T29" fmla="*/ 38 h 38"/>
                  <a:gd name="T30" fmla="*/ 22 w 85"/>
                  <a:gd name="T31" fmla="*/ 31 h 38"/>
                  <a:gd name="T32" fmla="*/ 3 w 85"/>
                  <a:gd name="T33" fmla="*/ 31 h 38"/>
                  <a:gd name="T34" fmla="*/ 0 w 85"/>
                  <a:gd name="T35" fmla="*/ 16 h 38"/>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85" h="38">
                    <a:moveTo>
                      <a:pt x="0" y="16"/>
                    </a:moveTo>
                    <a:lnTo>
                      <a:pt x="25" y="16"/>
                    </a:lnTo>
                    <a:lnTo>
                      <a:pt x="44" y="0"/>
                    </a:lnTo>
                    <a:lnTo>
                      <a:pt x="70" y="9"/>
                    </a:lnTo>
                    <a:lnTo>
                      <a:pt x="79" y="12"/>
                    </a:lnTo>
                    <a:lnTo>
                      <a:pt x="85" y="19"/>
                    </a:lnTo>
                    <a:lnTo>
                      <a:pt x="82" y="31"/>
                    </a:lnTo>
                    <a:lnTo>
                      <a:pt x="79" y="31"/>
                    </a:lnTo>
                    <a:lnTo>
                      <a:pt x="73" y="22"/>
                    </a:lnTo>
                    <a:lnTo>
                      <a:pt x="70" y="19"/>
                    </a:lnTo>
                    <a:lnTo>
                      <a:pt x="57" y="22"/>
                    </a:lnTo>
                    <a:lnTo>
                      <a:pt x="66" y="25"/>
                    </a:lnTo>
                    <a:lnTo>
                      <a:pt x="70" y="25"/>
                    </a:lnTo>
                    <a:lnTo>
                      <a:pt x="70" y="31"/>
                    </a:lnTo>
                    <a:lnTo>
                      <a:pt x="41" y="38"/>
                    </a:lnTo>
                    <a:lnTo>
                      <a:pt x="22" y="31"/>
                    </a:lnTo>
                    <a:lnTo>
                      <a:pt x="3" y="31"/>
                    </a:lnTo>
                    <a:lnTo>
                      <a:pt x="0" y="16"/>
                    </a:lnTo>
                    <a:close/>
                  </a:path>
                </a:pathLst>
              </a:custGeom>
              <a:solidFill>
                <a:srgbClr val="FFA38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6" name="Freeform 116"/>
              <p:cNvSpPr>
                <a:spLocks/>
              </p:cNvSpPr>
              <p:nvPr/>
            </p:nvSpPr>
            <p:spPr bwMode="auto">
              <a:xfrm>
                <a:off x="612" y="1629"/>
                <a:ext cx="108" cy="48"/>
              </a:xfrm>
              <a:custGeom>
                <a:avLst/>
                <a:gdLst>
                  <a:gd name="T0" fmla="*/ 0 w 108"/>
                  <a:gd name="T1" fmla="*/ 0 h 48"/>
                  <a:gd name="T2" fmla="*/ 101 w 108"/>
                  <a:gd name="T3" fmla="*/ 3 h 48"/>
                  <a:gd name="T4" fmla="*/ 108 w 108"/>
                  <a:gd name="T5" fmla="*/ 13 h 48"/>
                  <a:gd name="T6" fmla="*/ 108 w 108"/>
                  <a:gd name="T7" fmla="*/ 32 h 48"/>
                  <a:gd name="T8" fmla="*/ 29 w 108"/>
                  <a:gd name="T9" fmla="*/ 48 h 48"/>
                  <a:gd name="T10" fmla="*/ 0 w 108"/>
                  <a:gd name="T11" fmla="*/ 0 h 4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08" h="48">
                    <a:moveTo>
                      <a:pt x="0" y="0"/>
                    </a:moveTo>
                    <a:lnTo>
                      <a:pt x="101" y="3"/>
                    </a:lnTo>
                    <a:lnTo>
                      <a:pt x="108" y="13"/>
                    </a:lnTo>
                    <a:lnTo>
                      <a:pt x="108" y="32"/>
                    </a:lnTo>
                    <a:lnTo>
                      <a:pt x="29" y="48"/>
                    </a:lnTo>
                    <a:lnTo>
                      <a:pt x="0" y="0"/>
                    </a:lnTo>
                    <a:close/>
                  </a:path>
                </a:pathLst>
              </a:custGeom>
              <a:solidFill>
                <a:srgbClr val="62624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7" name="Freeform 117"/>
              <p:cNvSpPr>
                <a:spLocks/>
              </p:cNvSpPr>
              <p:nvPr/>
            </p:nvSpPr>
            <p:spPr bwMode="auto">
              <a:xfrm>
                <a:off x="612" y="1629"/>
                <a:ext cx="108" cy="48"/>
              </a:xfrm>
              <a:custGeom>
                <a:avLst/>
                <a:gdLst>
                  <a:gd name="T0" fmla="*/ 0 w 108"/>
                  <a:gd name="T1" fmla="*/ 0 h 48"/>
                  <a:gd name="T2" fmla="*/ 101 w 108"/>
                  <a:gd name="T3" fmla="*/ 3 h 48"/>
                  <a:gd name="T4" fmla="*/ 108 w 108"/>
                  <a:gd name="T5" fmla="*/ 13 h 48"/>
                  <a:gd name="T6" fmla="*/ 108 w 108"/>
                  <a:gd name="T7" fmla="*/ 32 h 48"/>
                  <a:gd name="T8" fmla="*/ 29 w 108"/>
                  <a:gd name="T9" fmla="*/ 48 h 48"/>
                  <a:gd name="T10" fmla="*/ 0 w 108"/>
                  <a:gd name="T11" fmla="*/ 0 h 4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08" h="48">
                    <a:moveTo>
                      <a:pt x="0" y="0"/>
                    </a:moveTo>
                    <a:lnTo>
                      <a:pt x="101" y="3"/>
                    </a:lnTo>
                    <a:lnTo>
                      <a:pt x="108" y="13"/>
                    </a:lnTo>
                    <a:lnTo>
                      <a:pt x="108" y="32"/>
                    </a:lnTo>
                    <a:lnTo>
                      <a:pt x="29" y="48"/>
                    </a:lnTo>
                    <a:lnTo>
                      <a:pt x="0" y="0"/>
                    </a:lnTo>
                    <a:close/>
                  </a:path>
                </a:pathLst>
              </a:custGeom>
              <a:solidFill>
                <a:srgbClr val="626248"/>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8" name="Freeform 118"/>
              <p:cNvSpPr>
                <a:spLocks/>
              </p:cNvSpPr>
              <p:nvPr/>
            </p:nvSpPr>
            <p:spPr bwMode="auto">
              <a:xfrm>
                <a:off x="742" y="1863"/>
                <a:ext cx="79" cy="98"/>
              </a:xfrm>
              <a:custGeom>
                <a:avLst/>
                <a:gdLst>
                  <a:gd name="T0" fmla="*/ 44 w 79"/>
                  <a:gd name="T1" fmla="*/ 0 h 98"/>
                  <a:gd name="T2" fmla="*/ 47 w 79"/>
                  <a:gd name="T3" fmla="*/ 45 h 98"/>
                  <a:gd name="T4" fmla="*/ 53 w 79"/>
                  <a:gd name="T5" fmla="*/ 48 h 98"/>
                  <a:gd name="T6" fmla="*/ 75 w 79"/>
                  <a:gd name="T7" fmla="*/ 64 h 98"/>
                  <a:gd name="T8" fmla="*/ 79 w 79"/>
                  <a:gd name="T9" fmla="*/ 89 h 98"/>
                  <a:gd name="T10" fmla="*/ 56 w 79"/>
                  <a:gd name="T11" fmla="*/ 89 h 98"/>
                  <a:gd name="T12" fmla="*/ 41 w 79"/>
                  <a:gd name="T13" fmla="*/ 89 h 98"/>
                  <a:gd name="T14" fmla="*/ 41 w 79"/>
                  <a:gd name="T15" fmla="*/ 95 h 98"/>
                  <a:gd name="T16" fmla="*/ 15 w 79"/>
                  <a:gd name="T17" fmla="*/ 98 h 98"/>
                  <a:gd name="T18" fmla="*/ 6 w 79"/>
                  <a:gd name="T19" fmla="*/ 98 h 98"/>
                  <a:gd name="T20" fmla="*/ 0 w 79"/>
                  <a:gd name="T21" fmla="*/ 98 h 98"/>
                  <a:gd name="T22" fmla="*/ 0 w 79"/>
                  <a:gd name="T23" fmla="*/ 76 h 98"/>
                  <a:gd name="T24" fmla="*/ 3 w 79"/>
                  <a:gd name="T25" fmla="*/ 70 h 98"/>
                  <a:gd name="T26" fmla="*/ 9 w 79"/>
                  <a:gd name="T27" fmla="*/ 54 h 98"/>
                  <a:gd name="T28" fmla="*/ 6 w 79"/>
                  <a:gd name="T29" fmla="*/ 10 h 98"/>
                  <a:gd name="T30" fmla="*/ 44 w 79"/>
                  <a:gd name="T31" fmla="*/ 0 h 9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79" h="98">
                    <a:moveTo>
                      <a:pt x="44" y="0"/>
                    </a:moveTo>
                    <a:lnTo>
                      <a:pt x="47" y="45"/>
                    </a:lnTo>
                    <a:lnTo>
                      <a:pt x="53" y="48"/>
                    </a:lnTo>
                    <a:lnTo>
                      <a:pt x="75" y="64"/>
                    </a:lnTo>
                    <a:lnTo>
                      <a:pt x="79" y="89"/>
                    </a:lnTo>
                    <a:lnTo>
                      <a:pt x="56" y="89"/>
                    </a:lnTo>
                    <a:lnTo>
                      <a:pt x="41" y="89"/>
                    </a:lnTo>
                    <a:lnTo>
                      <a:pt x="41" y="95"/>
                    </a:lnTo>
                    <a:lnTo>
                      <a:pt x="15" y="98"/>
                    </a:lnTo>
                    <a:lnTo>
                      <a:pt x="6" y="98"/>
                    </a:lnTo>
                    <a:lnTo>
                      <a:pt x="0" y="98"/>
                    </a:lnTo>
                    <a:lnTo>
                      <a:pt x="0" y="76"/>
                    </a:lnTo>
                    <a:lnTo>
                      <a:pt x="3" y="70"/>
                    </a:lnTo>
                    <a:lnTo>
                      <a:pt x="9" y="54"/>
                    </a:lnTo>
                    <a:lnTo>
                      <a:pt x="6" y="10"/>
                    </a:lnTo>
                    <a:lnTo>
                      <a:pt x="44" y="0"/>
                    </a:lnTo>
                    <a:close/>
                  </a:path>
                </a:pathLst>
              </a:custGeom>
              <a:solidFill>
                <a:srgbClr val="22222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9" name="Freeform 119"/>
              <p:cNvSpPr>
                <a:spLocks/>
              </p:cNvSpPr>
              <p:nvPr/>
            </p:nvSpPr>
            <p:spPr bwMode="auto">
              <a:xfrm>
                <a:off x="742" y="1863"/>
                <a:ext cx="79" cy="98"/>
              </a:xfrm>
              <a:custGeom>
                <a:avLst/>
                <a:gdLst>
                  <a:gd name="T0" fmla="*/ 44 w 79"/>
                  <a:gd name="T1" fmla="*/ 0 h 98"/>
                  <a:gd name="T2" fmla="*/ 47 w 79"/>
                  <a:gd name="T3" fmla="*/ 45 h 98"/>
                  <a:gd name="T4" fmla="*/ 53 w 79"/>
                  <a:gd name="T5" fmla="*/ 48 h 98"/>
                  <a:gd name="T6" fmla="*/ 75 w 79"/>
                  <a:gd name="T7" fmla="*/ 64 h 98"/>
                  <a:gd name="T8" fmla="*/ 79 w 79"/>
                  <a:gd name="T9" fmla="*/ 89 h 98"/>
                  <a:gd name="T10" fmla="*/ 56 w 79"/>
                  <a:gd name="T11" fmla="*/ 89 h 98"/>
                  <a:gd name="T12" fmla="*/ 41 w 79"/>
                  <a:gd name="T13" fmla="*/ 89 h 98"/>
                  <a:gd name="T14" fmla="*/ 41 w 79"/>
                  <a:gd name="T15" fmla="*/ 95 h 98"/>
                  <a:gd name="T16" fmla="*/ 15 w 79"/>
                  <a:gd name="T17" fmla="*/ 98 h 98"/>
                  <a:gd name="T18" fmla="*/ 6 w 79"/>
                  <a:gd name="T19" fmla="*/ 98 h 98"/>
                  <a:gd name="T20" fmla="*/ 0 w 79"/>
                  <a:gd name="T21" fmla="*/ 98 h 98"/>
                  <a:gd name="T22" fmla="*/ 0 w 79"/>
                  <a:gd name="T23" fmla="*/ 76 h 98"/>
                  <a:gd name="T24" fmla="*/ 3 w 79"/>
                  <a:gd name="T25" fmla="*/ 70 h 98"/>
                  <a:gd name="T26" fmla="*/ 9 w 79"/>
                  <a:gd name="T27" fmla="*/ 54 h 98"/>
                  <a:gd name="T28" fmla="*/ 6 w 79"/>
                  <a:gd name="T29" fmla="*/ 10 h 98"/>
                  <a:gd name="T30" fmla="*/ 44 w 79"/>
                  <a:gd name="T31" fmla="*/ 0 h 9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79" h="98">
                    <a:moveTo>
                      <a:pt x="44" y="0"/>
                    </a:moveTo>
                    <a:lnTo>
                      <a:pt x="47" y="45"/>
                    </a:lnTo>
                    <a:lnTo>
                      <a:pt x="53" y="48"/>
                    </a:lnTo>
                    <a:lnTo>
                      <a:pt x="75" y="64"/>
                    </a:lnTo>
                    <a:lnTo>
                      <a:pt x="79" y="89"/>
                    </a:lnTo>
                    <a:lnTo>
                      <a:pt x="56" y="89"/>
                    </a:lnTo>
                    <a:lnTo>
                      <a:pt x="41" y="89"/>
                    </a:lnTo>
                    <a:lnTo>
                      <a:pt x="41" y="95"/>
                    </a:lnTo>
                    <a:lnTo>
                      <a:pt x="15" y="98"/>
                    </a:lnTo>
                    <a:lnTo>
                      <a:pt x="6" y="98"/>
                    </a:lnTo>
                    <a:lnTo>
                      <a:pt x="0" y="98"/>
                    </a:lnTo>
                    <a:lnTo>
                      <a:pt x="0" y="76"/>
                    </a:lnTo>
                    <a:lnTo>
                      <a:pt x="3" y="70"/>
                    </a:lnTo>
                    <a:lnTo>
                      <a:pt x="9" y="54"/>
                    </a:lnTo>
                    <a:lnTo>
                      <a:pt x="6" y="10"/>
                    </a:lnTo>
                    <a:lnTo>
                      <a:pt x="44" y="0"/>
                    </a:lnTo>
                    <a:close/>
                  </a:path>
                </a:pathLst>
              </a:custGeom>
              <a:solidFill>
                <a:srgbClr val="222222"/>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0" name="Freeform 120"/>
              <p:cNvSpPr>
                <a:spLocks/>
              </p:cNvSpPr>
              <p:nvPr/>
            </p:nvSpPr>
            <p:spPr bwMode="auto">
              <a:xfrm>
                <a:off x="795" y="1924"/>
                <a:ext cx="120" cy="98"/>
              </a:xfrm>
              <a:custGeom>
                <a:avLst/>
                <a:gdLst>
                  <a:gd name="T0" fmla="*/ 60 w 120"/>
                  <a:gd name="T1" fmla="*/ 0 h 98"/>
                  <a:gd name="T2" fmla="*/ 54 w 120"/>
                  <a:gd name="T3" fmla="*/ 31 h 98"/>
                  <a:gd name="T4" fmla="*/ 63 w 120"/>
                  <a:gd name="T5" fmla="*/ 31 h 98"/>
                  <a:gd name="T6" fmla="*/ 82 w 120"/>
                  <a:gd name="T7" fmla="*/ 44 h 98"/>
                  <a:gd name="T8" fmla="*/ 108 w 120"/>
                  <a:gd name="T9" fmla="*/ 44 h 98"/>
                  <a:gd name="T10" fmla="*/ 117 w 120"/>
                  <a:gd name="T11" fmla="*/ 47 h 98"/>
                  <a:gd name="T12" fmla="*/ 120 w 120"/>
                  <a:gd name="T13" fmla="*/ 56 h 98"/>
                  <a:gd name="T14" fmla="*/ 117 w 120"/>
                  <a:gd name="T15" fmla="*/ 66 h 98"/>
                  <a:gd name="T16" fmla="*/ 92 w 120"/>
                  <a:gd name="T17" fmla="*/ 82 h 98"/>
                  <a:gd name="T18" fmla="*/ 82 w 120"/>
                  <a:gd name="T19" fmla="*/ 85 h 98"/>
                  <a:gd name="T20" fmla="*/ 67 w 120"/>
                  <a:gd name="T21" fmla="*/ 85 h 98"/>
                  <a:gd name="T22" fmla="*/ 41 w 120"/>
                  <a:gd name="T23" fmla="*/ 88 h 98"/>
                  <a:gd name="T24" fmla="*/ 41 w 120"/>
                  <a:gd name="T25" fmla="*/ 98 h 98"/>
                  <a:gd name="T26" fmla="*/ 32 w 120"/>
                  <a:gd name="T27" fmla="*/ 98 h 98"/>
                  <a:gd name="T28" fmla="*/ 19 w 120"/>
                  <a:gd name="T29" fmla="*/ 98 h 98"/>
                  <a:gd name="T30" fmla="*/ 10 w 120"/>
                  <a:gd name="T31" fmla="*/ 94 h 98"/>
                  <a:gd name="T32" fmla="*/ 0 w 120"/>
                  <a:gd name="T33" fmla="*/ 88 h 98"/>
                  <a:gd name="T34" fmla="*/ 0 w 120"/>
                  <a:gd name="T35" fmla="*/ 72 h 98"/>
                  <a:gd name="T36" fmla="*/ 7 w 120"/>
                  <a:gd name="T37" fmla="*/ 56 h 98"/>
                  <a:gd name="T38" fmla="*/ 10 w 120"/>
                  <a:gd name="T39" fmla="*/ 47 h 98"/>
                  <a:gd name="T40" fmla="*/ 16 w 120"/>
                  <a:gd name="T41" fmla="*/ 37 h 98"/>
                  <a:gd name="T42" fmla="*/ 22 w 120"/>
                  <a:gd name="T43" fmla="*/ 6 h 98"/>
                  <a:gd name="T44" fmla="*/ 60 w 120"/>
                  <a:gd name="T45" fmla="*/ 0 h 98"/>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120" h="98">
                    <a:moveTo>
                      <a:pt x="60" y="0"/>
                    </a:moveTo>
                    <a:lnTo>
                      <a:pt x="54" y="31"/>
                    </a:lnTo>
                    <a:lnTo>
                      <a:pt x="63" y="31"/>
                    </a:lnTo>
                    <a:lnTo>
                      <a:pt x="82" y="44"/>
                    </a:lnTo>
                    <a:lnTo>
                      <a:pt x="108" y="44"/>
                    </a:lnTo>
                    <a:lnTo>
                      <a:pt x="117" y="47"/>
                    </a:lnTo>
                    <a:lnTo>
                      <a:pt x="120" y="56"/>
                    </a:lnTo>
                    <a:lnTo>
                      <a:pt x="117" y="66"/>
                    </a:lnTo>
                    <a:lnTo>
                      <a:pt x="92" y="82"/>
                    </a:lnTo>
                    <a:lnTo>
                      <a:pt x="82" y="85"/>
                    </a:lnTo>
                    <a:lnTo>
                      <a:pt x="67" y="85"/>
                    </a:lnTo>
                    <a:lnTo>
                      <a:pt x="41" y="88"/>
                    </a:lnTo>
                    <a:lnTo>
                      <a:pt x="41" y="98"/>
                    </a:lnTo>
                    <a:lnTo>
                      <a:pt x="32" y="98"/>
                    </a:lnTo>
                    <a:lnTo>
                      <a:pt x="19" y="98"/>
                    </a:lnTo>
                    <a:lnTo>
                      <a:pt x="10" y="94"/>
                    </a:lnTo>
                    <a:lnTo>
                      <a:pt x="0" y="88"/>
                    </a:lnTo>
                    <a:lnTo>
                      <a:pt x="0" y="72"/>
                    </a:lnTo>
                    <a:lnTo>
                      <a:pt x="7" y="56"/>
                    </a:lnTo>
                    <a:lnTo>
                      <a:pt x="10" y="47"/>
                    </a:lnTo>
                    <a:lnTo>
                      <a:pt x="16" y="37"/>
                    </a:lnTo>
                    <a:lnTo>
                      <a:pt x="22" y="6"/>
                    </a:lnTo>
                    <a:lnTo>
                      <a:pt x="60" y="0"/>
                    </a:lnTo>
                    <a:close/>
                  </a:path>
                </a:pathLst>
              </a:custGeom>
              <a:solidFill>
                <a:srgbClr val="22222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1" name="Freeform 121"/>
              <p:cNvSpPr>
                <a:spLocks/>
              </p:cNvSpPr>
              <p:nvPr/>
            </p:nvSpPr>
            <p:spPr bwMode="auto">
              <a:xfrm>
                <a:off x="795" y="1924"/>
                <a:ext cx="120" cy="98"/>
              </a:xfrm>
              <a:custGeom>
                <a:avLst/>
                <a:gdLst>
                  <a:gd name="T0" fmla="*/ 60 w 120"/>
                  <a:gd name="T1" fmla="*/ 0 h 98"/>
                  <a:gd name="T2" fmla="*/ 54 w 120"/>
                  <a:gd name="T3" fmla="*/ 31 h 98"/>
                  <a:gd name="T4" fmla="*/ 63 w 120"/>
                  <a:gd name="T5" fmla="*/ 31 h 98"/>
                  <a:gd name="T6" fmla="*/ 82 w 120"/>
                  <a:gd name="T7" fmla="*/ 44 h 98"/>
                  <a:gd name="T8" fmla="*/ 108 w 120"/>
                  <a:gd name="T9" fmla="*/ 44 h 98"/>
                  <a:gd name="T10" fmla="*/ 117 w 120"/>
                  <a:gd name="T11" fmla="*/ 47 h 98"/>
                  <a:gd name="T12" fmla="*/ 120 w 120"/>
                  <a:gd name="T13" fmla="*/ 56 h 98"/>
                  <a:gd name="T14" fmla="*/ 117 w 120"/>
                  <a:gd name="T15" fmla="*/ 66 h 98"/>
                  <a:gd name="T16" fmla="*/ 92 w 120"/>
                  <a:gd name="T17" fmla="*/ 82 h 98"/>
                  <a:gd name="T18" fmla="*/ 82 w 120"/>
                  <a:gd name="T19" fmla="*/ 85 h 98"/>
                  <a:gd name="T20" fmla="*/ 67 w 120"/>
                  <a:gd name="T21" fmla="*/ 85 h 98"/>
                  <a:gd name="T22" fmla="*/ 41 w 120"/>
                  <a:gd name="T23" fmla="*/ 88 h 98"/>
                  <a:gd name="T24" fmla="*/ 41 w 120"/>
                  <a:gd name="T25" fmla="*/ 98 h 98"/>
                  <a:gd name="T26" fmla="*/ 32 w 120"/>
                  <a:gd name="T27" fmla="*/ 98 h 98"/>
                  <a:gd name="T28" fmla="*/ 19 w 120"/>
                  <a:gd name="T29" fmla="*/ 98 h 98"/>
                  <a:gd name="T30" fmla="*/ 10 w 120"/>
                  <a:gd name="T31" fmla="*/ 94 h 98"/>
                  <a:gd name="T32" fmla="*/ 0 w 120"/>
                  <a:gd name="T33" fmla="*/ 88 h 98"/>
                  <a:gd name="T34" fmla="*/ 0 w 120"/>
                  <a:gd name="T35" fmla="*/ 72 h 98"/>
                  <a:gd name="T36" fmla="*/ 7 w 120"/>
                  <a:gd name="T37" fmla="*/ 56 h 98"/>
                  <a:gd name="T38" fmla="*/ 10 w 120"/>
                  <a:gd name="T39" fmla="*/ 47 h 98"/>
                  <a:gd name="T40" fmla="*/ 16 w 120"/>
                  <a:gd name="T41" fmla="*/ 37 h 98"/>
                  <a:gd name="T42" fmla="*/ 22 w 120"/>
                  <a:gd name="T43" fmla="*/ 6 h 98"/>
                  <a:gd name="T44" fmla="*/ 60 w 120"/>
                  <a:gd name="T45" fmla="*/ 0 h 98"/>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120" h="98">
                    <a:moveTo>
                      <a:pt x="60" y="0"/>
                    </a:moveTo>
                    <a:lnTo>
                      <a:pt x="54" y="31"/>
                    </a:lnTo>
                    <a:lnTo>
                      <a:pt x="63" y="31"/>
                    </a:lnTo>
                    <a:lnTo>
                      <a:pt x="82" y="44"/>
                    </a:lnTo>
                    <a:lnTo>
                      <a:pt x="108" y="44"/>
                    </a:lnTo>
                    <a:lnTo>
                      <a:pt x="117" y="47"/>
                    </a:lnTo>
                    <a:lnTo>
                      <a:pt x="120" y="56"/>
                    </a:lnTo>
                    <a:lnTo>
                      <a:pt x="117" y="66"/>
                    </a:lnTo>
                    <a:lnTo>
                      <a:pt x="92" y="82"/>
                    </a:lnTo>
                    <a:lnTo>
                      <a:pt x="82" y="85"/>
                    </a:lnTo>
                    <a:lnTo>
                      <a:pt x="67" y="85"/>
                    </a:lnTo>
                    <a:lnTo>
                      <a:pt x="41" y="88"/>
                    </a:lnTo>
                    <a:lnTo>
                      <a:pt x="41" y="98"/>
                    </a:lnTo>
                    <a:lnTo>
                      <a:pt x="32" y="98"/>
                    </a:lnTo>
                    <a:lnTo>
                      <a:pt x="19" y="98"/>
                    </a:lnTo>
                    <a:lnTo>
                      <a:pt x="10" y="94"/>
                    </a:lnTo>
                    <a:lnTo>
                      <a:pt x="0" y="88"/>
                    </a:lnTo>
                    <a:lnTo>
                      <a:pt x="0" y="72"/>
                    </a:lnTo>
                    <a:lnTo>
                      <a:pt x="7" y="56"/>
                    </a:lnTo>
                    <a:lnTo>
                      <a:pt x="10" y="47"/>
                    </a:lnTo>
                    <a:lnTo>
                      <a:pt x="16" y="37"/>
                    </a:lnTo>
                    <a:lnTo>
                      <a:pt x="22" y="6"/>
                    </a:lnTo>
                    <a:lnTo>
                      <a:pt x="60" y="0"/>
                    </a:lnTo>
                    <a:close/>
                  </a:path>
                </a:pathLst>
              </a:custGeom>
              <a:solidFill>
                <a:srgbClr val="222222"/>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2" name="Freeform 122"/>
              <p:cNvSpPr>
                <a:spLocks/>
              </p:cNvSpPr>
              <p:nvPr/>
            </p:nvSpPr>
            <p:spPr bwMode="auto">
              <a:xfrm>
                <a:off x="710" y="1844"/>
                <a:ext cx="92" cy="54"/>
              </a:xfrm>
              <a:custGeom>
                <a:avLst/>
                <a:gdLst>
                  <a:gd name="T0" fmla="*/ 0 w 92"/>
                  <a:gd name="T1" fmla="*/ 32 h 54"/>
                  <a:gd name="T2" fmla="*/ 88 w 92"/>
                  <a:gd name="T3" fmla="*/ 0 h 54"/>
                  <a:gd name="T4" fmla="*/ 92 w 92"/>
                  <a:gd name="T5" fmla="*/ 7 h 54"/>
                  <a:gd name="T6" fmla="*/ 92 w 92"/>
                  <a:gd name="T7" fmla="*/ 16 h 54"/>
                  <a:gd name="T8" fmla="*/ 88 w 92"/>
                  <a:gd name="T9" fmla="*/ 23 h 54"/>
                  <a:gd name="T10" fmla="*/ 7 w 92"/>
                  <a:gd name="T11" fmla="*/ 54 h 54"/>
                  <a:gd name="T12" fmla="*/ 0 w 92"/>
                  <a:gd name="T13" fmla="*/ 32 h 5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92" h="54">
                    <a:moveTo>
                      <a:pt x="0" y="32"/>
                    </a:moveTo>
                    <a:lnTo>
                      <a:pt x="88" y="0"/>
                    </a:lnTo>
                    <a:lnTo>
                      <a:pt x="92" y="7"/>
                    </a:lnTo>
                    <a:lnTo>
                      <a:pt x="92" y="16"/>
                    </a:lnTo>
                    <a:lnTo>
                      <a:pt x="88" y="23"/>
                    </a:lnTo>
                    <a:lnTo>
                      <a:pt x="7" y="54"/>
                    </a:lnTo>
                    <a:lnTo>
                      <a:pt x="0" y="32"/>
                    </a:lnTo>
                    <a:close/>
                  </a:path>
                </a:pathLst>
              </a:custGeom>
              <a:solidFill>
                <a:srgbClr val="004E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3" name="Freeform 123"/>
              <p:cNvSpPr>
                <a:spLocks/>
              </p:cNvSpPr>
              <p:nvPr/>
            </p:nvSpPr>
            <p:spPr bwMode="auto">
              <a:xfrm>
                <a:off x="710" y="1844"/>
                <a:ext cx="92" cy="54"/>
              </a:xfrm>
              <a:custGeom>
                <a:avLst/>
                <a:gdLst>
                  <a:gd name="T0" fmla="*/ 0 w 92"/>
                  <a:gd name="T1" fmla="*/ 32 h 54"/>
                  <a:gd name="T2" fmla="*/ 88 w 92"/>
                  <a:gd name="T3" fmla="*/ 0 h 54"/>
                  <a:gd name="T4" fmla="*/ 92 w 92"/>
                  <a:gd name="T5" fmla="*/ 7 h 54"/>
                  <a:gd name="T6" fmla="*/ 92 w 92"/>
                  <a:gd name="T7" fmla="*/ 16 h 54"/>
                  <a:gd name="T8" fmla="*/ 88 w 92"/>
                  <a:gd name="T9" fmla="*/ 23 h 54"/>
                  <a:gd name="T10" fmla="*/ 7 w 92"/>
                  <a:gd name="T11" fmla="*/ 54 h 54"/>
                  <a:gd name="T12" fmla="*/ 0 w 92"/>
                  <a:gd name="T13" fmla="*/ 32 h 5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92" h="54">
                    <a:moveTo>
                      <a:pt x="0" y="32"/>
                    </a:moveTo>
                    <a:lnTo>
                      <a:pt x="88" y="0"/>
                    </a:lnTo>
                    <a:lnTo>
                      <a:pt x="92" y="7"/>
                    </a:lnTo>
                    <a:lnTo>
                      <a:pt x="92" y="16"/>
                    </a:lnTo>
                    <a:lnTo>
                      <a:pt x="88" y="23"/>
                    </a:lnTo>
                    <a:lnTo>
                      <a:pt x="7" y="54"/>
                    </a:lnTo>
                    <a:lnTo>
                      <a:pt x="0" y="32"/>
                    </a:lnTo>
                    <a:close/>
                  </a:path>
                </a:pathLst>
              </a:custGeom>
              <a:solidFill>
                <a:srgbClr val="004EFF"/>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4" name="Freeform 124"/>
              <p:cNvSpPr>
                <a:spLocks/>
              </p:cNvSpPr>
              <p:nvPr/>
            </p:nvSpPr>
            <p:spPr bwMode="auto">
              <a:xfrm>
                <a:off x="710" y="1750"/>
                <a:ext cx="170" cy="189"/>
              </a:xfrm>
              <a:custGeom>
                <a:avLst/>
                <a:gdLst>
                  <a:gd name="T0" fmla="*/ 7 w 170"/>
                  <a:gd name="T1" fmla="*/ 0 h 189"/>
                  <a:gd name="T2" fmla="*/ 44 w 170"/>
                  <a:gd name="T3" fmla="*/ 25 h 189"/>
                  <a:gd name="T4" fmla="*/ 82 w 170"/>
                  <a:gd name="T5" fmla="*/ 25 h 189"/>
                  <a:gd name="T6" fmla="*/ 158 w 170"/>
                  <a:gd name="T7" fmla="*/ 31 h 189"/>
                  <a:gd name="T8" fmla="*/ 170 w 170"/>
                  <a:gd name="T9" fmla="*/ 60 h 189"/>
                  <a:gd name="T10" fmla="*/ 167 w 170"/>
                  <a:gd name="T11" fmla="*/ 145 h 189"/>
                  <a:gd name="T12" fmla="*/ 167 w 170"/>
                  <a:gd name="T13" fmla="*/ 177 h 189"/>
                  <a:gd name="T14" fmla="*/ 133 w 170"/>
                  <a:gd name="T15" fmla="*/ 189 h 189"/>
                  <a:gd name="T16" fmla="*/ 98 w 170"/>
                  <a:gd name="T17" fmla="*/ 186 h 189"/>
                  <a:gd name="T18" fmla="*/ 107 w 170"/>
                  <a:gd name="T19" fmla="*/ 94 h 189"/>
                  <a:gd name="T20" fmla="*/ 88 w 170"/>
                  <a:gd name="T21" fmla="*/ 94 h 189"/>
                  <a:gd name="T22" fmla="*/ 0 w 170"/>
                  <a:gd name="T23" fmla="*/ 126 h 189"/>
                  <a:gd name="T24" fmla="*/ 7 w 170"/>
                  <a:gd name="T25" fmla="*/ 0 h 18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0" h="189">
                    <a:moveTo>
                      <a:pt x="7" y="0"/>
                    </a:moveTo>
                    <a:lnTo>
                      <a:pt x="44" y="25"/>
                    </a:lnTo>
                    <a:lnTo>
                      <a:pt x="82" y="25"/>
                    </a:lnTo>
                    <a:lnTo>
                      <a:pt x="158" y="31"/>
                    </a:lnTo>
                    <a:lnTo>
                      <a:pt x="170" y="60"/>
                    </a:lnTo>
                    <a:lnTo>
                      <a:pt x="167" y="145"/>
                    </a:lnTo>
                    <a:lnTo>
                      <a:pt x="167" y="177"/>
                    </a:lnTo>
                    <a:lnTo>
                      <a:pt x="133" y="189"/>
                    </a:lnTo>
                    <a:lnTo>
                      <a:pt x="98" y="186"/>
                    </a:lnTo>
                    <a:lnTo>
                      <a:pt x="107" y="94"/>
                    </a:lnTo>
                    <a:lnTo>
                      <a:pt x="88" y="94"/>
                    </a:lnTo>
                    <a:lnTo>
                      <a:pt x="0" y="126"/>
                    </a:lnTo>
                    <a:lnTo>
                      <a:pt x="7" y="0"/>
                    </a:lnTo>
                    <a:close/>
                  </a:path>
                </a:pathLst>
              </a:custGeom>
              <a:solidFill>
                <a:srgbClr val="62624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5" name="Freeform 125"/>
              <p:cNvSpPr>
                <a:spLocks/>
              </p:cNvSpPr>
              <p:nvPr/>
            </p:nvSpPr>
            <p:spPr bwMode="auto">
              <a:xfrm>
                <a:off x="710" y="1750"/>
                <a:ext cx="170" cy="189"/>
              </a:xfrm>
              <a:custGeom>
                <a:avLst/>
                <a:gdLst>
                  <a:gd name="T0" fmla="*/ 7 w 170"/>
                  <a:gd name="T1" fmla="*/ 0 h 189"/>
                  <a:gd name="T2" fmla="*/ 44 w 170"/>
                  <a:gd name="T3" fmla="*/ 25 h 189"/>
                  <a:gd name="T4" fmla="*/ 82 w 170"/>
                  <a:gd name="T5" fmla="*/ 25 h 189"/>
                  <a:gd name="T6" fmla="*/ 158 w 170"/>
                  <a:gd name="T7" fmla="*/ 31 h 189"/>
                  <a:gd name="T8" fmla="*/ 170 w 170"/>
                  <a:gd name="T9" fmla="*/ 60 h 189"/>
                  <a:gd name="T10" fmla="*/ 167 w 170"/>
                  <a:gd name="T11" fmla="*/ 145 h 189"/>
                  <a:gd name="T12" fmla="*/ 167 w 170"/>
                  <a:gd name="T13" fmla="*/ 177 h 189"/>
                  <a:gd name="T14" fmla="*/ 133 w 170"/>
                  <a:gd name="T15" fmla="*/ 189 h 189"/>
                  <a:gd name="T16" fmla="*/ 98 w 170"/>
                  <a:gd name="T17" fmla="*/ 186 h 189"/>
                  <a:gd name="T18" fmla="*/ 107 w 170"/>
                  <a:gd name="T19" fmla="*/ 94 h 189"/>
                  <a:gd name="T20" fmla="*/ 88 w 170"/>
                  <a:gd name="T21" fmla="*/ 94 h 189"/>
                  <a:gd name="T22" fmla="*/ 0 w 170"/>
                  <a:gd name="T23" fmla="*/ 126 h 189"/>
                  <a:gd name="T24" fmla="*/ 7 w 170"/>
                  <a:gd name="T25" fmla="*/ 0 h 18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0" h="189">
                    <a:moveTo>
                      <a:pt x="7" y="0"/>
                    </a:moveTo>
                    <a:lnTo>
                      <a:pt x="44" y="25"/>
                    </a:lnTo>
                    <a:lnTo>
                      <a:pt x="82" y="25"/>
                    </a:lnTo>
                    <a:lnTo>
                      <a:pt x="158" y="31"/>
                    </a:lnTo>
                    <a:lnTo>
                      <a:pt x="170" y="60"/>
                    </a:lnTo>
                    <a:lnTo>
                      <a:pt x="167" y="145"/>
                    </a:lnTo>
                    <a:lnTo>
                      <a:pt x="167" y="177"/>
                    </a:lnTo>
                    <a:lnTo>
                      <a:pt x="133" y="189"/>
                    </a:lnTo>
                    <a:lnTo>
                      <a:pt x="98" y="186"/>
                    </a:lnTo>
                    <a:lnTo>
                      <a:pt x="107" y="94"/>
                    </a:lnTo>
                    <a:lnTo>
                      <a:pt x="88" y="94"/>
                    </a:lnTo>
                    <a:lnTo>
                      <a:pt x="0" y="126"/>
                    </a:lnTo>
                    <a:lnTo>
                      <a:pt x="7" y="0"/>
                    </a:lnTo>
                    <a:close/>
                  </a:path>
                </a:pathLst>
              </a:custGeom>
              <a:solidFill>
                <a:srgbClr val="626248"/>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6" name="Freeform 126"/>
              <p:cNvSpPr>
                <a:spLocks/>
              </p:cNvSpPr>
              <p:nvPr/>
            </p:nvSpPr>
            <p:spPr bwMode="auto">
              <a:xfrm>
                <a:off x="521" y="1930"/>
                <a:ext cx="236" cy="193"/>
              </a:xfrm>
              <a:custGeom>
                <a:avLst/>
                <a:gdLst>
                  <a:gd name="T0" fmla="*/ 142 w 236"/>
                  <a:gd name="T1" fmla="*/ 0 h 193"/>
                  <a:gd name="T2" fmla="*/ 145 w 236"/>
                  <a:gd name="T3" fmla="*/ 54 h 193"/>
                  <a:gd name="T4" fmla="*/ 227 w 236"/>
                  <a:gd name="T5" fmla="*/ 22 h 193"/>
                  <a:gd name="T6" fmla="*/ 233 w 236"/>
                  <a:gd name="T7" fmla="*/ 25 h 193"/>
                  <a:gd name="T8" fmla="*/ 236 w 236"/>
                  <a:gd name="T9" fmla="*/ 47 h 193"/>
                  <a:gd name="T10" fmla="*/ 230 w 236"/>
                  <a:gd name="T11" fmla="*/ 47 h 193"/>
                  <a:gd name="T12" fmla="*/ 230 w 236"/>
                  <a:gd name="T13" fmla="*/ 57 h 193"/>
                  <a:gd name="T14" fmla="*/ 227 w 236"/>
                  <a:gd name="T15" fmla="*/ 63 h 193"/>
                  <a:gd name="T16" fmla="*/ 224 w 236"/>
                  <a:gd name="T17" fmla="*/ 63 h 193"/>
                  <a:gd name="T18" fmla="*/ 218 w 236"/>
                  <a:gd name="T19" fmla="*/ 60 h 193"/>
                  <a:gd name="T20" fmla="*/ 214 w 236"/>
                  <a:gd name="T21" fmla="*/ 54 h 193"/>
                  <a:gd name="T22" fmla="*/ 214 w 236"/>
                  <a:gd name="T23" fmla="*/ 47 h 193"/>
                  <a:gd name="T24" fmla="*/ 151 w 236"/>
                  <a:gd name="T25" fmla="*/ 73 h 193"/>
                  <a:gd name="T26" fmla="*/ 208 w 236"/>
                  <a:gd name="T27" fmla="*/ 136 h 193"/>
                  <a:gd name="T28" fmla="*/ 211 w 236"/>
                  <a:gd name="T29" fmla="*/ 161 h 193"/>
                  <a:gd name="T30" fmla="*/ 208 w 236"/>
                  <a:gd name="T31" fmla="*/ 171 h 193"/>
                  <a:gd name="T32" fmla="*/ 208 w 236"/>
                  <a:gd name="T33" fmla="*/ 177 h 193"/>
                  <a:gd name="T34" fmla="*/ 205 w 236"/>
                  <a:gd name="T35" fmla="*/ 187 h 193"/>
                  <a:gd name="T36" fmla="*/ 202 w 236"/>
                  <a:gd name="T37" fmla="*/ 190 h 193"/>
                  <a:gd name="T38" fmla="*/ 199 w 236"/>
                  <a:gd name="T39" fmla="*/ 190 h 193"/>
                  <a:gd name="T40" fmla="*/ 192 w 236"/>
                  <a:gd name="T41" fmla="*/ 193 h 193"/>
                  <a:gd name="T42" fmla="*/ 189 w 236"/>
                  <a:gd name="T43" fmla="*/ 190 h 193"/>
                  <a:gd name="T44" fmla="*/ 186 w 236"/>
                  <a:gd name="T45" fmla="*/ 180 h 193"/>
                  <a:gd name="T46" fmla="*/ 183 w 236"/>
                  <a:gd name="T47" fmla="*/ 177 h 193"/>
                  <a:gd name="T48" fmla="*/ 189 w 236"/>
                  <a:gd name="T49" fmla="*/ 171 h 193"/>
                  <a:gd name="T50" fmla="*/ 192 w 236"/>
                  <a:gd name="T51" fmla="*/ 168 h 193"/>
                  <a:gd name="T52" fmla="*/ 192 w 236"/>
                  <a:gd name="T53" fmla="*/ 161 h 193"/>
                  <a:gd name="T54" fmla="*/ 196 w 236"/>
                  <a:gd name="T55" fmla="*/ 161 h 193"/>
                  <a:gd name="T56" fmla="*/ 199 w 236"/>
                  <a:gd name="T57" fmla="*/ 155 h 193"/>
                  <a:gd name="T58" fmla="*/ 132 w 236"/>
                  <a:gd name="T59" fmla="*/ 79 h 193"/>
                  <a:gd name="T60" fmla="*/ 22 w 236"/>
                  <a:gd name="T61" fmla="*/ 142 h 193"/>
                  <a:gd name="T62" fmla="*/ 22 w 236"/>
                  <a:gd name="T63" fmla="*/ 152 h 193"/>
                  <a:gd name="T64" fmla="*/ 19 w 236"/>
                  <a:gd name="T65" fmla="*/ 155 h 193"/>
                  <a:gd name="T66" fmla="*/ 19 w 236"/>
                  <a:gd name="T67" fmla="*/ 171 h 193"/>
                  <a:gd name="T68" fmla="*/ 16 w 236"/>
                  <a:gd name="T69" fmla="*/ 174 h 193"/>
                  <a:gd name="T70" fmla="*/ 13 w 236"/>
                  <a:gd name="T71" fmla="*/ 177 h 193"/>
                  <a:gd name="T72" fmla="*/ 6 w 236"/>
                  <a:gd name="T73" fmla="*/ 177 h 193"/>
                  <a:gd name="T74" fmla="*/ 0 w 236"/>
                  <a:gd name="T75" fmla="*/ 171 h 193"/>
                  <a:gd name="T76" fmla="*/ 6 w 236"/>
                  <a:gd name="T77" fmla="*/ 155 h 193"/>
                  <a:gd name="T78" fmla="*/ 6 w 236"/>
                  <a:gd name="T79" fmla="*/ 149 h 193"/>
                  <a:gd name="T80" fmla="*/ 13 w 236"/>
                  <a:gd name="T81" fmla="*/ 139 h 193"/>
                  <a:gd name="T82" fmla="*/ 9 w 236"/>
                  <a:gd name="T83" fmla="*/ 120 h 193"/>
                  <a:gd name="T84" fmla="*/ 114 w 236"/>
                  <a:gd name="T85" fmla="*/ 66 h 193"/>
                  <a:gd name="T86" fmla="*/ 79 w 236"/>
                  <a:gd name="T87" fmla="*/ 35 h 193"/>
                  <a:gd name="T88" fmla="*/ 73 w 236"/>
                  <a:gd name="T89" fmla="*/ 41 h 193"/>
                  <a:gd name="T90" fmla="*/ 69 w 236"/>
                  <a:gd name="T91" fmla="*/ 47 h 193"/>
                  <a:gd name="T92" fmla="*/ 63 w 236"/>
                  <a:gd name="T93" fmla="*/ 54 h 193"/>
                  <a:gd name="T94" fmla="*/ 50 w 236"/>
                  <a:gd name="T95" fmla="*/ 44 h 193"/>
                  <a:gd name="T96" fmla="*/ 50 w 236"/>
                  <a:gd name="T97" fmla="*/ 41 h 193"/>
                  <a:gd name="T98" fmla="*/ 54 w 236"/>
                  <a:gd name="T99" fmla="*/ 35 h 193"/>
                  <a:gd name="T100" fmla="*/ 63 w 236"/>
                  <a:gd name="T101" fmla="*/ 31 h 193"/>
                  <a:gd name="T102" fmla="*/ 66 w 236"/>
                  <a:gd name="T103" fmla="*/ 22 h 193"/>
                  <a:gd name="T104" fmla="*/ 82 w 236"/>
                  <a:gd name="T105" fmla="*/ 9 h 193"/>
                  <a:gd name="T106" fmla="*/ 120 w 236"/>
                  <a:gd name="T107" fmla="*/ 44 h 193"/>
                  <a:gd name="T108" fmla="*/ 120 w 236"/>
                  <a:gd name="T109" fmla="*/ 6 h 193"/>
                  <a:gd name="T110" fmla="*/ 142 w 236"/>
                  <a:gd name="T111" fmla="*/ 0 h 193"/>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236" h="193">
                    <a:moveTo>
                      <a:pt x="142" y="0"/>
                    </a:moveTo>
                    <a:lnTo>
                      <a:pt x="145" y="54"/>
                    </a:lnTo>
                    <a:lnTo>
                      <a:pt x="227" y="22"/>
                    </a:lnTo>
                    <a:lnTo>
                      <a:pt x="233" y="25"/>
                    </a:lnTo>
                    <a:lnTo>
                      <a:pt x="236" y="47"/>
                    </a:lnTo>
                    <a:lnTo>
                      <a:pt x="230" y="47"/>
                    </a:lnTo>
                    <a:lnTo>
                      <a:pt x="230" y="57"/>
                    </a:lnTo>
                    <a:lnTo>
                      <a:pt x="227" y="63"/>
                    </a:lnTo>
                    <a:lnTo>
                      <a:pt x="224" y="63"/>
                    </a:lnTo>
                    <a:lnTo>
                      <a:pt x="218" y="60"/>
                    </a:lnTo>
                    <a:lnTo>
                      <a:pt x="214" y="54"/>
                    </a:lnTo>
                    <a:lnTo>
                      <a:pt x="214" y="47"/>
                    </a:lnTo>
                    <a:lnTo>
                      <a:pt x="151" y="73"/>
                    </a:lnTo>
                    <a:lnTo>
                      <a:pt x="208" y="136"/>
                    </a:lnTo>
                    <a:lnTo>
                      <a:pt x="211" y="161"/>
                    </a:lnTo>
                    <a:lnTo>
                      <a:pt x="208" y="171"/>
                    </a:lnTo>
                    <a:lnTo>
                      <a:pt x="208" y="177"/>
                    </a:lnTo>
                    <a:lnTo>
                      <a:pt x="205" y="187"/>
                    </a:lnTo>
                    <a:lnTo>
                      <a:pt x="202" y="190"/>
                    </a:lnTo>
                    <a:lnTo>
                      <a:pt x="199" y="190"/>
                    </a:lnTo>
                    <a:lnTo>
                      <a:pt x="192" y="193"/>
                    </a:lnTo>
                    <a:lnTo>
                      <a:pt x="189" y="190"/>
                    </a:lnTo>
                    <a:lnTo>
                      <a:pt x="186" y="180"/>
                    </a:lnTo>
                    <a:lnTo>
                      <a:pt x="183" y="177"/>
                    </a:lnTo>
                    <a:lnTo>
                      <a:pt x="189" y="171"/>
                    </a:lnTo>
                    <a:lnTo>
                      <a:pt x="192" y="168"/>
                    </a:lnTo>
                    <a:lnTo>
                      <a:pt x="192" y="161"/>
                    </a:lnTo>
                    <a:lnTo>
                      <a:pt x="196" y="161"/>
                    </a:lnTo>
                    <a:lnTo>
                      <a:pt x="199" y="155"/>
                    </a:lnTo>
                    <a:lnTo>
                      <a:pt x="132" y="79"/>
                    </a:lnTo>
                    <a:lnTo>
                      <a:pt x="22" y="142"/>
                    </a:lnTo>
                    <a:lnTo>
                      <a:pt x="22" y="152"/>
                    </a:lnTo>
                    <a:lnTo>
                      <a:pt x="19" y="155"/>
                    </a:lnTo>
                    <a:lnTo>
                      <a:pt x="19" y="171"/>
                    </a:lnTo>
                    <a:lnTo>
                      <a:pt x="16" y="174"/>
                    </a:lnTo>
                    <a:lnTo>
                      <a:pt x="13" y="177"/>
                    </a:lnTo>
                    <a:lnTo>
                      <a:pt x="6" y="177"/>
                    </a:lnTo>
                    <a:lnTo>
                      <a:pt x="0" y="171"/>
                    </a:lnTo>
                    <a:lnTo>
                      <a:pt x="6" y="155"/>
                    </a:lnTo>
                    <a:lnTo>
                      <a:pt x="6" y="149"/>
                    </a:lnTo>
                    <a:lnTo>
                      <a:pt x="13" y="139"/>
                    </a:lnTo>
                    <a:lnTo>
                      <a:pt x="9" y="120"/>
                    </a:lnTo>
                    <a:lnTo>
                      <a:pt x="114" y="66"/>
                    </a:lnTo>
                    <a:lnTo>
                      <a:pt x="79" y="35"/>
                    </a:lnTo>
                    <a:lnTo>
                      <a:pt x="73" y="41"/>
                    </a:lnTo>
                    <a:lnTo>
                      <a:pt x="69" y="47"/>
                    </a:lnTo>
                    <a:lnTo>
                      <a:pt x="63" y="54"/>
                    </a:lnTo>
                    <a:lnTo>
                      <a:pt x="50" y="44"/>
                    </a:lnTo>
                    <a:lnTo>
                      <a:pt x="50" y="41"/>
                    </a:lnTo>
                    <a:lnTo>
                      <a:pt x="54" y="35"/>
                    </a:lnTo>
                    <a:lnTo>
                      <a:pt x="63" y="31"/>
                    </a:lnTo>
                    <a:lnTo>
                      <a:pt x="66" y="22"/>
                    </a:lnTo>
                    <a:lnTo>
                      <a:pt x="82" y="9"/>
                    </a:lnTo>
                    <a:lnTo>
                      <a:pt x="120" y="44"/>
                    </a:lnTo>
                    <a:lnTo>
                      <a:pt x="120" y="6"/>
                    </a:lnTo>
                    <a:lnTo>
                      <a:pt x="142" y="0"/>
                    </a:lnTo>
                    <a:close/>
                  </a:path>
                </a:pathLst>
              </a:custGeom>
              <a:solidFill>
                <a:srgbClr val="AAAAA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7" name="Freeform 127"/>
              <p:cNvSpPr>
                <a:spLocks/>
              </p:cNvSpPr>
              <p:nvPr/>
            </p:nvSpPr>
            <p:spPr bwMode="auto">
              <a:xfrm>
                <a:off x="521" y="1930"/>
                <a:ext cx="236" cy="193"/>
              </a:xfrm>
              <a:custGeom>
                <a:avLst/>
                <a:gdLst>
                  <a:gd name="T0" fmla="*/ 142 w 236"/>
                  <a:gd name="T1" fmla="*/ 0 h 193"/>
                  <a:gd name="T2" fmla="*/ 145 w 236"/>
                  <a:gd name="T3" fmla="*/ 54 h 193"/>
                  <a:gd name="T4" fmla="*/ 227 w 236"/>
                  <a:gd name="T5" fmla="*/ 22 h 193"/>
                  <a:gd name="T6" fmla="*/ 233 w 236"/>
                  <a:gd name="T7" fmla="*/ 25 h 193"/>
                  <a:gd name="T8" fmla="*/ 236 w 236"/>
                  <a:gd name="T9" fmla="*/ 47 h 193"/>
                  <a:gd name="T10" fmla="*/ 230 w 236"/>
                  <a:gd name="T11" fmla="*/ 47 h 193"/>
                  <a:gd name="T12" fmla="*/ 230 w 236"/>
                  <a:gd name="T13" fmla="*/ 57 h 193"/>
                  <a:gd name="T14" fmla="*/ 227 w 236"/>
                  <a:gd name="T15" fmla="*/ 63 h 193"/>
                  <a:gd name="T16" fmla="*/ 224 w 236"/>
                  <a:gd name="T17" fmla="*/ 63 h 193"/>
                  <a:gd name="T18" fmla="*/ 218 w 236"/>
                  <a:gd name="T19" fmla="*/ 60 h 193"/>
                  <a:gd name="T20" fmla="*/ 214 w 236"/>
                  <a:gd name="T21" fmla="*/ 54 h 193"/>
                  <a:gd name="T22" fmla="*/ 214 w 236"/>
                  <a:gd name="T23" fmla="*/ 47 h 193"/>
                  <a:gd name="T24" fmla="*/ 151 w 236"/>
                  <a:gd name="T25" fmla="*/ 73 h 193"/>
                  <a:gd name="T26" fmla="*/ 208 w 236"/>
                  <a:gd name="T27" fmla="*/ 136 h 193"/>
                  <a:gd name="T28" fmla="*/ 211 w 236"/>
                  <a:gd name="T29" fmla="*/ 161 h 193"/>
                  <a:gd name="T30" fmla="*/ 208 w 236"/>
                  <a:gd name="T31" fmla="*/ 171 h 193"/>
                  <a:gd name="T32" fmla="*/ 208 w 236"/>
                  <a:gd name="T33" fmla="*/ 177 h 193"/>
                  <a:gd name="T34" fmla="*/ 205 w 236"/>
                  <a:gd name="T35" fmla="*/ 187 h 193"/>
                  <a:gd name="T36" fmla="*/ 202 w 236"/>
                  <a:gd name="T37" fmla="*/ 190 h 193"/>
                  <a:gd name="T38" fmla="*/ 199 w 236"/>
                  <a:gd name="T39" fmla="*/ 190 h 193"/>
                  <a:gd name="T40" fmla="*/ 192 w 236"/>
                  <a:gd name="T41" fmla="*/ 193 h 193"/>
                  <a:gd name="T42" fmla="*/ 189 w 236"/>
                  <a:gd name="T43" fmla="*/ 190 h 193"/>
                  <a:gd name="T44" fmla="*/ 186 w 236"/>
                  <a:gd name="T45" fmla="*/ 180 h 193"/>
                  <a:gd name="T46" fmla="*/ 183 w 236"/>
                  <a:gd name="T47" fmla="*/ 177 h 193"/>
                  <a:gd name="T48" fmla="*/ 189 w 236"/>
                  <a:gd name="T49" fmla="*/ 171 h 193"/>
                  <a:gd name="T50" fmla="*/ 192 w 236"/>
                  <a:gd name="T51" fmla="*/ 168 h 193"/>
                  <a:gd name="T52" fmla="*/ 192 w 236"/>
                  <a:gd name="T53" fmla="*/ 161 h 193"/>
                  <a:gd name="T54" fmla="*/ 196 w 236"/>
                  <a:gd name="T55" fmla="*/ 161 h 193"/>
                  <a:gd name="T56" fmla="*/ 199 w 236"/>
                  <a:gd name="T57" fmla="*/ 155 h 193"/>
                  <a:gd name="T58" fmla="*/ 132 w 236"/>
                  <a:gd name="T59" fmla="*/ 79 h 193"/>
                  <a:gd name="T60" fmla="*/ 22 w 236"/>
                  <a:gd name="T61" fmla="*/ 142 h 193"/>
                  <a:gd name="T62" fmla="*/ 22 w 236"/>
                  <a:gd name="T63" fmla="*/ 152 h 193"/>
                  <a:gd name="T64" fmla="*/ 19 w 236"/>
                  <a:gd name="T65" fmla="*/ 155 h 193"/>
                  <a:gd name="T66" fmla="*/ 19 w 236"/>
                  <a:gd name="T67" fmla="*/ 171 h 193"/>
                  <a:gd name="T68" fmla="*/ 16 w 236"/>
                  <a:gd name="T69" fmla="*/ 174 h 193"/>
                  <a:gd name="T70" fmla="*/ 13 w 236"/>
                  <a:gd name="T71" fmla="*/ 177 h 193"/>
                  <a:gd name="T72" fmla="*/ 6 w 236"/>
                  <a:gd name="T73" fmla="*/ 177 h 193"/>
                  <a:gd name="T74" fmla="*/ 0 w 236"/>
                  <a:gd name="T75" fmla="*/ 171 h 193"/>
                  <a:gd name="T76" fmla="*/ 6 w 236"/>
                  <a:gd name="T77" fmla="*/ 155 h 193"/>
                  <a:gd name="T78" fmla="*/ 6 w 236"/>
                  <a:gd name="T79" fmla="*/ 149 h 193"/>
                  <a:gd name="T80" fmla="*/ 13 w 236"/>
                  <a:gd name="T81" fmla="*/ 139 h 193"/>
                  <a:gd name="T82" fmla="*/ 9 w 236"/>
                  <a:gd name="T83" fmla="*/ 120 h 193"/>
                  <a:gd name="T84" fmla="*/ 114 w 236"/>
                  <a:gd name="T85" fmla="*/ 66 h 193"/>
                  <a:gd name="T86" fmla="*/ 79 w 236"/>
                  <a:gd name="T87" fmla="*/ 35 h 193"/>
                  <a:gd name="T88" fmla="*/ 73 w 236"/>
                  <a:gd name="T89" fmla="*/ 41 h 193"/>
                  <a:gd name="T90" fmla="*/ 69 w 236"/>
                  <a:gd name="T91" fmla="*/ 47 h 193"/>
                  <a:gd name="T92" fmla="*/ 63 w 236"/>
                  <a:gd name="T93" fmla="*/ 54 h 193"/>
                  <a:gd name="T94" fmla="*/ 50 w 236"/>
                  <a:gd name="T95" fmla="*/ 44 h 193"/>
                  <a:gd name="T96" fmla="*/ 50 w 236"/>
                  <a:gd name="T97" fmla="*/ 41 h 193"/>
                  <a:gd name="T98" fmla="*/ 54 w 236"/>
                  <a:gd name="T99" fmla="*/ 35 h 193"/>
                  <a:gd name="T100" fmla="*/ 63 w 236"/>
                  <a:gd name="T101" fmla="*/ 31 h 193"/>
                  <a:gd name="T102" fmla="*/ 66 w 236"/>
                  <a:gd name="T103" fmla="*/ 22 h 193"/>
                  <a:gd name="T104" fmla="*/ 82 w 236"/>
                  <a:gd name="T105" fmla="*/ 9 h 193"/>
                  <a:gd name="T106" fmla="*/ 120 w 236"/>
                  <a:gd name="T107" fmla="*/ 44 h 193"/>
                  <a:gd name="T108" fmla="*/ 120 w 236"/>
                  <a:gd name="T109" fmla="*/ 6 h 193"/>
                  <a:gd name="T110" fmla="*/ 142 w 236"/>
                  <a:gd name="T111" fmla="*/ 0 h 193"/>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236" h="193">
                    <a:moveTo>
                      <a:pt x="142" y="0"/>
                    </a:moveTo>
                    <a:lnTo>
                      <a:pt x="145" y="54"/>
                    </a:lnTo>
                    <a:lnTo>
                      <a:pt x="227" y="22"/>
                    </a:lnTo>
                    <a:lnTo>
                      <a:pt x="233" y="25"/>
                    </a:lnTo>
                    <a:lnTo>
                      <a:pt x="236" y="47"/>
                    </a:lnTo>
                    <a:lnTo>
                      <a:pt x="230" y="47"/>
                    </a:lnTo>
                    <a:lnTo>
                      <a:pt x="230" y="57"/>
                    </a:lnTo>
                    <a:lnTo>
                      <a:pt x="227" y="63"/>
                    </a:lnTo>
                    <a:lnTo>
                      <a:pt x="224" y="63"/>
                    </a:lnTo>
                    <a:lnTo>
                      <a:pt x="218" y="60"/>
                    </a:lnTo>
                    <a:lnTo>
                      <a:pt x="214" y="54"/>
                    </a:lnTo>
                    <a:lnTo>
                      <a:pt x="214" y="47"/>
                    </a:lnTo>
                    <a:lnTo>
                      <a:pt x="151" y="73"/>
                    </a:lnTo>
                    <a:lnTo>
                      <a:pt x="208" y="136"/>
                    </a:lnTo>
                    <a:lnTo>
                      <a:pt x="211" y="161"/>
                    </a:lnTo>
                    <a:lnTo>
                      <a:pt x="208" y="171"/>
                    </a:lnTo>
                    <a:lnTo>
                      <a:pt x="208" y="177"/>
                    </a:lnTo>
                    <a:lnTo>
                      <a:pt x="205" y="187"/>
                    </a:lnTo>
                    <a:lnTo>
                      <a:pt x="202" y="190"/>
                    </a:lnTo>
                    <a:lnTo>
                      <a:pt x="199" y="190"/>
                    </a:lnTo>
                    <a:lnTo>
                      <a:pt x="192" y="193"/>
                    </a:lnTo>
                    <a:lnTo>
                      <a:pt x="189" y="190"/>
                    </a:lnTo>
                    <a:lnTo>
                      <a:pt x="186" y="180"/>
                    </a:lnTo>
                    <a:lnTo>
                      <a:pt x="183" y="177"/>
                    </a:lnTo>
                    <a:lnTo>
                      <a:pt x="189" y="171"/>
                    </a:lnTo>
                    <a:lnTo>
                      <a:pt x="192" y="168"/>
                    </a:lnTo>
                    <a:lnTo>
                      <a:pt x="192" y="161"/>
                    </a:lnTo>
                    <a:lnTo>
                      <a:pt x="196" y="161"/>
                    </a:lnTo>
                    <a:lnTo>
                      <a:pt x="199" y="155"/>
                    </a:lnTo>
                    <a:lnTo>
                      <a:pt x="132" y="79"/>
                    </a:lnTo>
                    <a:lnTo>
                      <a:pt x="22" y="142"/>
                    </a:lnTo>
                    <a:lnTo>
                      <a:pt x="22" y="152"/>
                    </a:lnTo>
                    <a:lnTo>
                      <a:pt x="19" y="155"/>
                    </a:lnTo>
                    <a:lnTo>
                      <a:pt x="19" y="171"/>
                    </a:lnTo>
                    <a:lnTo>
                      <a:pt x="16" y="174"/>
                    </a:lnTo>
                    <a:lnTo>
                      <a:pt x="13" y="177"/>
                    </a:lnTo>
                    <a:lnTo>
                      <a:pt x="6" y="177"/>
                    </a:lnTo>
                    <a:lnTo>
                      <a:pt x="0" y="171"/>
                    </a:lnTo>
                    <a:lnTo>
                      <a:pt x="6" y="155"/>
                    </a:lnTo>
                    <a:lnTo>
                      <a:pt x="6" y="149"/>
                    </a:lnTo>
                    <a:lnTo>
                      <a:pt x="13" y="139"/>
                    </a:lnTo>
                    <a:lnTo>
                      <a:pt x="9" y="120"/>
                    </a:lnTo>
                    <a:lnTo>
                      <a:pt x="114" y="66"/>
                    </a:lnTo>
                    <a:lnTo>
                      <a:pt x="79" y="35"/>
                    </a:lnTo>
                    <a:lnTo>
                      <a:pt x="73" y="41"/>
                    </a:lnTo>
                    <a:lnTo>
                      <a:pt x="69" y="47"/>
                    </a:lnTo>
                    <a:lnTo>
                      <a:pt x="63" y="54"/>
                    </a:lnTo>
                    <a:lnTo>
                      <a:pt x="50" y="44"/>
                    </a:lnTo>
                    <a:lnTo>
                      <a:pt x="50" y="41"/>
                    </a:lnTo>
                    <a:lnTo>
                      <a:pt x="54" y="35"/>
                    </a:lnTo>
                    <a:lnTo>
                      <a:pt x="63" y="31"/>
                    </a:lnTo>
                    <a:lnTo>
                      <a:pt x="66" y="22"/>
                    </a:lnTo>
                    <a:lnTo>
                      <a:pt x="82" y="9"/>
                    </a:lnTo>
                    <a:lnTo>
                      <a:pt x="120" y="44"/>
                    </a:lnTo>
                    <a:lnTo>
                      <a:pt x="120" y="6"/>
                    </a:lnTo>
                    <a:lnTo>
                      <a:pt x="142" y="0"/>
                    </a:lnTo>
                    <a:close/>
                  </a:path>
                </a:pathLst>
              </a:custGeom>
              <a:solidFill>
                <a:srgbClr val="AAAAAA"/>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8" name="Freeform 128"/>
              <p:cNvSpPr>
                <a:spLocks/>
              </p:cNvSpPr>
              <p:nvPr/>
            </p:nvSpPr>
            <p:spPr bwMode="auto">
              <a:xfrm>
                <a:off x="811" y="1658"/>
                <a:ext cx="69" cy="54"/>
              </a:xfrm>
              <a:custGeom>
                <a:avLst/>
                <a:gdLst>
                  <a:gd name="T0" fmla="*/ 0 w 69"/>
                  <a:gd name="T1" fmla="*/ 35 h 54"/>
                  <a:gd name="T2" fmla="*/ 19 w 69"/>
                  <a:gd name="T3" fmla="*/ 22 h 54"/>
                  <a:gd name="T4" fmla="*/ 19 w 69"/>
                  <a:gd name="T5" fmla="*/ 6 h 54"/>
                  <a:gd name="T6" fmla="*/ 35 w 69"/>
                  <a:gd name="T7" fmla="*/ 0 h 54"/>
                  <a:gd name="T8" fmla="*/ 38 w 69"/>
                  <a:gd name="T9" fmla="*/ 0 h 54"/>
                  <a:gd name="T10" fmla="*/ 38 w 69"/>
                  <a:gd name="T11" fmla="*/ 6 h 54"/>
                  <a:gd name="T12" fmla="*/ 51 w 69"/>
                  <a:gd name="T13" fmla="*/ 3 h 54"/>
                  <a:gd name="T14" fmla="*/ 63 w 69"/>
                  <a:gd name="T15" fmla="*/ 0 h 54"/>
                  <a:gd name="T16" fmla="*/ 69 w 69"/>
                  <a:gd name="T17" fmla="*/ 6 h 54"/>
                  <a:gd name="T18" fmla="*/ 63 w 69"/>
                  <a:gd name="T19" fmla="*/ 9 h 54"/>
                  <a:gd name="T20" fmla="*/ 63 w 69"/>
                  <a:gd name="T21" fmla="*/ 38 h 54"/>
                  <a:gd name="T22" fmla="*/ 41 w 69"/>
                  <a:gd name="T23" fmla="*/ 50 h 54"/>
                  <a:gd name="T24" fmla="*/ 35 w 69"/>
                  <a:gd name="T25" fmla="*/ 50 h 54"/>
                  <a:gd name="T26" fmla="*/ 25 w 69"/>
                  <a:gd name="T27" fmla="*/ 54 h 54"/>
                  <a:gd name="T28" fmla="*/ 0 w 69"/>
                  <a:gd name="T29" fmla="*/ 35 h 5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69" h="54">
                    <a:moveTo>
                      <a:pt x="0" y="35"/>
                    </a:moveTo>
                    <a:lnTo>
                      <a:pt x="19" y="22"/>
                    </a:lnTo>
                    <a:lnTo>
                      <a:pt x="19" y="6"/>
                    </a:lnTo>
                    <a:lnTo>
                      <a:pt x="35" y="0"/>
                    </a:lnTo>
                    <a:lnTo>
                      <a:pt x="38" y="0"/>
                    </a:lnTo>
                    <a:lnTo>
                      <a:pt x="38" y="6"/>
                    </a:lnTo>
                    <a:lnTo>
                      <a:pt x="51" y="3"/>
                    </a:lnTo>
                    <a:lnTo>
                      <a:pt x="63" y="0"/>
                    </a:lnTo>
                    <a:lnTo>
                      <a:pt x="69" y="6"/>
                    </a:lnTo>
                    <a:lnTo>
                      <a:pt x="63" y="9"/>
                    </a:lnTo>
                    <a:lnTo>
                      <a:pt x="63" y="38"/>
                    </a:lnTo>
                    <a:lnTo>
                      <a:pt x="41" y="50"/>
                    </a:lnTo>
                    <a:lnTo>
                      <a:pt x="35" y="50"/>
                    </a:lnTo>
                    <a:lnTo>
                      <a:pt x="25" y="54"/>
                    </a:lnTo>
                    <a:lnTo>
                      <a:pt x="0" y="35"/>
                    </a:lnTo>
                    <a:close/>
                  </a:path>
                </a:pathLst>
              </a:custGeom>
              <a:solidFill>
                <a:srgbClr val="FFA3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9" name="Freeform 129"/>
              <p:cNvSpPr>
                <a:spLocks/>
              </p:cNvSpPr>
              <p:nvPr/>
            </p:nvSpPr>
            <p:spPr bwMode="auto">
              <a:xfrm>
                <a:off x="811" y="1658"/>
                <a:ext cx="69" cy="54"/>
              </a:xfrm>
              <a:custGeom>
                <a:avLst/>
                <a:gdLst>
                  <a:gd name="T0" fmla="*/ 0 w 69"/>
                  <a:gd name="T1" fmla="*/ 35 h 54"/>
                  <a:gd name="T2" fmla="*/ 19 w 69"/>
                  <a:gd name="T3" fmla="*/ 22 h 54"/>
                  <a:gd name="T4" fmla="*/ 19 w 69"/>
                  <a:gd name="T5" fmla="*/ 6 h 54"/>
                  <a:gd name="T6" fmla="*/ 35 w 69"/>
                  <a:gd name="T7" fmla="*/ 0 h 54"/>
                  <a:gd name="T8" fmla="*/ 38 w 69"/>
                  <a:gd name="T9" fmla="*/ 0 h 54"/>
                  <a:gd name="T10" fmla="*/ 38 w 69"/>
                  <a:gd name="T11" fmla="*/ 6 h 54"/>
                  <a:gd name="T12" fmla="*/ 51 w 69"/>
                  <a:gd name="T13" fmla="*/ 3 h 54"/>
                  <a:gd name="T14" fmla="*/ 63 w 69"/>
                  <a:gd name="T15" fmla="*/ 0 h 54"/>
                  <a:gd name="T16" fmla="*/ 69 w 69"/>
                  <a:gd name="T17" fmla="*/ 6 h 54"/>
                  <a:gd name="T18" fmla="*/ 63 w 69"/>
                  <a:gd name="T19" fmla="*/ 9 h 54"/>
                  <a:gd name="T20" fmla="*/ 63 w 69"/>
                  <a:gd name="T21" fmla="*/ 38 h 54"/>
                  <a:gd name="T22" fmla="*/ 41 w 69"/>
                  <a:gd name="T23" fmla="*/ 50 h 54"/>
                  <a:gd name="T24" fmla="*/ 35 w 69"/>
                  <a:gd name="T25" fmla="*/ 50 h 54"/>
                  <a:gd name="T26" fmla="*/ 25 w 69"/>
                  <a:gd name="T27" fmla="*/ 54 h 54"/>
                  <a:gd name="T28" fmla="*/ 0 w 69"/>
                  <a:gd name="T29" fmla="*/ 35 h 5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69" h="54">
                    <a:moveTo>
                      <a:pt x="0" y="35"/>
                    </a:moveTo>
                    <a:lnTo>
                      <a:pt x="19" y="22"/>
                    </a:lnTo>
                    <a:lnTo>
                      <a:pt x="19" y="6"/>
                    </a:lnTo>
                    <a:lnTo>
                      <a:pt x="35" y="0"/>
                    </a:lnTo>
                    <a:lnTo>
                      <a:pt x="38" y="0"/>
                    </a:lnTo>
                    <a:lnTo>
                      <a:pt x="38" y="6"/>
                    </a:lnTo>
                    <a:lnTo>
                      <a:pt x="51" y="3"/>
                    </a:lnTo>
                    <a:lnTo>
                      <a:pt x="63" y="0"/>
                    </a:lnTo>
                    <a:lnTo>
                      <a:pt x="69" y="6"/>
                    </a:lnTo>
                    <a:lnTo>
                      <a:pt x="63" y="9"/>
                    </a:lnTo>
                    <a:lnTo>
                      <a:pt x="63" y="38"/>
                    </a:lnTo>
                    <a:lnTo>
                      <a:pt x="41" y="50"/>
                    </a:lnTo>
                    <a:lnTo>
                      <a:pt x="35" y="50"/>
                    </a:lnTo>
                    <a:lnTo>
                      <a:pt x="25" y="54"/>
                    </a:lnTo>
                    <a:lnTo>
                      <a:pt x="0" y="35"/>
                    </a:lnTo>
                    <a:close/>
                  </a:path>
                </a:pathLst>
              </a:custGeom>
              <a:solidFill>
                <a:srgbClr val="FFA38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0" name="Freeform 130"/>
              <p:cNvSpPr>
                <a:spLocks/>
              </p:cNvSpPr>
              <p:nvPr/>
            </p:nvSpPr>
            <p:spPr bwMode="auto">
              <a:xfrm>
                <a:off x="590" y="1417"/>
                <a:ext cx="111" cy="149"/>
              </a:xfrm>
              <a:custGeom>
                <a:avLst/>
                <a:gdLst>
                  <a:gd name="T0" fmla="*/ 101 w 111"/>
                  <a:gd name="T1" fmla="*/ 13 h 149"/>
                  <a:gd name="T2" fmla="*/ 101 w 111"/>
                  <a:gd name="T3" fmla="*/ 41 h 149"/>
                  <a:gd name="T4" fmla="*/ 101 w 111"/>
                  <a:gd name="T5" fmla="*/ 48 h 149"/>
                  <a:gd name="T6" fmla="*/ 111 w 111"/>
                  <a:gd name="T7" fmla="*/ 70 h 149"/>
                  <a:gd name="T8" fmla="*/ 108 w 111"/>
                  <a:gd name="T9" fmla="*/ 76 h 149"/>
                  <a:gd name="T10" fmla="*/ 101 w 111"/>
                  <a:gd name="T11" fmla="*/ 76 h 149"/>
                  <a:gd name="T12" fmla="*/ 101 w 111"/>
                  <a:gd name="T13" fmla="*/ 89 h 149"/>
                  <a:gd name="T14" fmla="*/ 95 w 111"/>
                  <a:gd name="T15" fmla="*/ 89 h 149"/>
                  <a:gd name="T16" fmla="*/ 98 w 111"/>
                  <a:gd name="T17" fmla="*/ 92 h 149"/>
                  <a:gd name="T18" fmla="*/ 98 w 111"/>
                  <a:gd name="T19" fmla="*/ 92 h 149"/>
                  <a:gd name="T20" fmla="*/ 95 w 111"/>
                  <a:gd name="T21" fmla="*/ 105 h 149"/>
                  <a:gd name="T22" fmla="*/ 92 w 111"/>
                  <a:gd name="T23" fmla="*/ 114 h 149"/>
                  <a:gd name="T24" fmla="*/ 86 w 111"/>
                  <a:gd name="T25" fmla="*/ 117 h 149"/>
                  <a:gd name="T26" fmla="*/ 76 w 111"/>
                  <a:gd name="T27" fmla="*/ 117 h 149"/>
                  <a:gd name="T28" fmla="*/ 63 w 111"/>
                  <a:gd name="T29" fmla="*/ 127 h 149"/>
                  <a:gd name="T30" fmla="*/ 51 w 111"/>
                  <a:gd name="T31" fmla="*/ 149 h 149"/>
                  <a:gd name="T32" fmla="*/ 0 w 111"/>
                  <a:gd name="T33" fmla="*/ 105 h 149"/>
                  <a:gd name="T34" fmla="*/ 26 w 111"/>
                  <a:gd name="T35" fmla="*/ 0 h 149"/>
                  <a:gd name="T36" fmla="*/ 101 w 111"/>
                  <a:gd name="T37" fmla="*/ 13 h 14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1" h="149">
                    <a:moveTo>
                      <a:pt x="101" y="13"/>
                    </a:moveTo>
                    <a:lnTo>
                      <a:pt x="101" y="41"/>
                    </a:lnTo>
                    <a:lnTo>
                      <a:pt x="101" y="48"/>
                    </a:lnTo>
                    <a:lnTo>
                      <a:pt x="111" y="70"/>
                    </a:lnTo>
                    <a:lnTo>
                      <a:pt x="108" y="76"/>
                    </a:lnTo>
                    <a:lnTo>
                      <a:pt x="101" y="76"/>
                    </a:lnTo>
                    <a:lnTo>
                      <a:pt x="101" y="89"/>
                    </a:lnTo>
                    <a:lnTo>
                      <a:pt x="95" y="89"/>
                    </a:lnTo>
                    <a:lnTo>
                      <a:pt x="98" y="92"/>
                    </a:lnTo>
                    <a:lnTo>
                      <a:pt x="95" y="105"/>
                    </a:lnTo>
                    <a:lnTo>
                      <a:pt x="92" y="114"/>
                    </a:lnTo>
                    <a:lnTo>
                      <a:pt x="86" y="117"/>
                    </a:lnTo>
                    <a:lnTo>
                      <a:pt x="76" y="117"/>
                    </a:lnTo>
                    <a:lnTo>
                      <a:pt x="63" y="127"/>
                    </a:lnTo>
                    <a:lnTo>
                      <a:pt x="51" y="149"/>
                    </a:lnTo>
                    <a:lnTo>
                      <a:pt x="0" y="105"/>
                    </a:lnTo>
                    <a:lnTo>
                      <a:pt x="26" y="0"/>
                    </a:lnTo>
                    <a:lnTo>
                      <a:pt x="101" y="13"/>
                    </a:lnTo>
                    <a:close/>
                  </a:path>
                </a:pathLst>
              </a:custGeom>
              <a:solidFill>
                <a:srgbClr val="FFA3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1" name="Freeform 131"/>
              <p:cNvSpPr>
                <a:spLocks/>
              </p:cNvSpPr>
              <p:nvPr/>
            </p:nvSpPr>
            <p:spPr bwMode="auto">
              <a:xfrm>
                <a:off x="590" y="1417"/>
                <a:ext cx="111" cy="149"/>
              </a:xfrm>
              <a:custGeom>
                <a:avLst/>
                <a:gdLst>
                  <a:gd name="T0" fmla="*/ 101 w 111"/>
                  <a:gd name="T1" fmla="*/ 13 h 149"/>
                  <a:gd name="T2" fmla="*/ 101 w 111"/>
                  <a:gd name="T3" fmla="*/ 41 h 149"/>
                  <a:gd name="T4" fmla="*/ 101 w 111"/>
                  <a:gd name="T5" fmla="*/ 48 h 149"/>
                  <a:gd name="T6" fmla="*/ 111 w 111"/>
                  <a:gd name="T7" fmla="*/ 70 h 149"/>
                  <a:gd name="T8" fmla="*/ 108 w 111"/>
                  <a:gd name="T9" fmla="*/ 76 h 149"/>
                  <a:gd name="T10" fmla="*/ 101 w 111"/>
                  <a:gd name="T11" fmla="*/ 76 h 149"/>
                  <a:gd name="T12" fmla="*/ 101 w 111"/>
                  <a:gd name="T13" fmla="*/ 89 h 149"/>
                  <a:gd name="T14" fmla="*/ 95 w 111"/>
                  <a:gd name="T15" fmla="*/ 89 h 149"/>
                  <a:gd name="T16" fmla="*/ 98 w 111"/>
                  <a:gd name="T17" fmla="*/ 92 h 149"/>
                  <a:gd name="T18" fmla="*/ 95 w 111"/>
                  <a:gd name="T19" fmla="*/ 105 h 149"/>
                  <a:gd name="T20" fmla="*/ 92 w 111"/>
                  <a:gd name="T21" fmla="*/ 114 h 149"/>
                  <a:gd name="T22" fmla="*/ 86 w 111"/>
                  <a:gd name="T23" fmla="*/ 117 h 149"/>
                  <a:gd name="T24" fmla="*/ 76 w 111"/>
                  <a:gd name="T25" fmla="*/ 117 h 149"/>
                  <a:gd name="T26" fmla="*/ 63 w 111"/>
                  <a:gd name="T27" fmla="*/ 127 h 149"/>
                  <a:gd name="T28" fmla="*/ 51 w 111"/>
                  <a:gd name="T29" fmla="*/ 149 h 149"/>
                  <a:gd name="T30" fmla="*/ 0 w 111"/>
                  <a:gd name="T31" fmla="*/ 105 h 149"/>
                  <a:gd name="T32" fmla="*/ 26 w 111"/>
                  <a:gd name="T33" fmla="*/ 0 h 149"/>
                  <a:gd name="T34" fmla="*/ 101 w 111"/>
                  <a:gd name="T35" fmla="*/ 13 h 14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111" h="149">
                    <a:moveTo>
                      <a:pt x="101" y="13"/>
                    </a:moveTo>
                    <a:lnTo>
                      <a:pt x="101" y="41"/>
                    </a:lnTo>
                    <a:lnTo>
                      <a:pt x="101" y="48"/>
                    </a:lnTo>
                    <a:lnTo>
                      <a:pt x="111" y="70"/>
                    </a:lnTo>
                    <a:lnTo>
                      <a:pt x="108" y="76"/>
                    </a:lnTo>
                    <a:lnTo>
                      <a:pt x="101" y="76"/>
                    </a:lnTo>
                    <a:lnTo>
                      <a:pt x="101" y="89"/>
                    </a:lnTo>
                    <a:lnTo>
                      <a:pt x="95" y="89"/>
                    </a:lnTo>
                    <a:lnTo>
                      <a:pt x="98" y="92"/>
                    </a:lnTo>
                    <a:lnTo>
                      <a:pt x="95" y="105"/>
                    </a:lnTo>
                    <a:lnTo>
                      <a:pt x="92" y="114"/>
                    </a:lnTo>
                    <a:lnTo>
                      <a:pt x="86" y="117"/>
                    </a:lnTo>
                    <a:lnTo>
                      <a:pt x="76" y="117"/>
                    </a:lnTo>
                    <a:lnTo>
                      <a:pt x="63" y="127"/>
                    </a:lnTo>
                    <a:lnTo>
                      <a:pt x="51" y="149"/>
                    </a:lnTo>
                    <a:lnTo>
                      <a:pt x="0" y="105"/>
                    </a:lnTo>
                    <a:lnTo>
                      <a:pt x="26" y="0"/>
                    </a:lnTo>
                    <a:lnTo>
                      <a:pt x="101" y="13"/>
                    </a:lnTo>
                    <a:close/>
                  </a:path>
                </a:pathLst>
              </a:custGeom>
              <a:solidFill>
                <a:srgbClr val="FFA38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2" name="Freeform 132"/>
              <p:cNvSpPr>
                <a:spLocks/>
              </p:cNvSpPr>
              <p:nvPr/>
            </p:nvSpPr>
            <p:spPr bwMode="auto">
              <a:xfrm>
                <a:off x="568" y="1395"/>
                <a:ext cx="133" cy="124"/>
              </a:xfrm>
              <a:custGeom>
                <a:avLst/>
                <a:gdLst>
                  <a:gd name="T0" fmla="*/ 76 w 133"/>
                  <a:gd name="T1" fmla="*/ 86 h 124"/>
                  <a:gd name="T2" fmla="*/ 67 w 133"/>
                  <a:gd name="T3" fmla="*/ 95 h 124"/>
                  <a:gd name="T4" fmla="*/ 57 w 133"/>
                  <a:gd name="T5" fmla="*/ 120 h 124"/>
                  <a:gd name="T6" fmla="*/ 29 w 133"/>
                  <a:gd name="T7" fmla="*/ 124 h 124"/>
                  <a:gd name="T8" fmla="*/ 16 w 133"/>
                  <a:gd name="T9" fmla="*/ 120 h 124"/>
                  <a:gd name="T10" fmla="*/ 0 w 133"/>
                  <a:gd name="T11" fmla="*/ 63 h 124"/>
                  <a:gd name="T12" fmla="*/ 0 w 133"/>
                  <a:gd name="T13" fmla="*/ 44 h 124"/>
                  <a:gd name="T14" fmla="*/ 16 w 133"/>
                  <a:gd name="T15" fmla="*/ 16 h 124"/>
                  <a:gd name="T16" fmla="*/ 38 w 133"/>
                  <a:gd name="T17" fmla="*/ 0 h 124"/>
                  <a:gd name="T18" fmla="*/ 73 w 133"/>
                  <a:gd name="T19" fmla="*/ 0 h 124"/>
                  <a:gd name="T20" fmla="*/ 108 w 133"/>
                  <a:gd name="T21" fmla="*/ 10 h 124"/>
                  <a:gd name="T22" fmla="*/ 111 w 133"/>
                  <a:gd name="T23" fmla="*/ 19 h 124"/>
                  <a:gd name="T24" fmla="*/ 133 w 133"/>
                  <a:gd name="T25" fmla="*/ 32 h 124"/>
                  <a:gd name="T26" fmla="*/ 133 w 133"/>
                  <a:gd name="T27" fmla="*/ 41 h 124"/>
                  <a:gd name="T28" fmla="*/ 120 w 133"/>
                  <a:gd name="T29" fmla="*/ 51 h 124"/>
                  <a:gd name="T30" fmla="*/ 108 w 133"/>
                  <a:gd name="T31" fmla="*/ 54 h 124"/>
                  <a:gd name="T32" fmla="*/ 98 w 133"/>
                  <a:gd name="T33" fmla="*/ 63 h 124"/>
                  <a:gd name="T34" fmla="*/ 98 w 133"/>
                  <a:gd name="T35" fmla="*/ 86 h 124"/>
                  <a:gd name="T36" fmla="*/ 85 w 133"/>
                  <a:gd name="T37" fmla="*/ 92 h 124"/>
                  <a:gd name="T38" fmla="*/ 76 w 133"/>
                  <a:gd name="T39" fmla="*/ 86 h 124"/>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133" h="124">
                    <a:moveTo>
                      <a:pt x="76" y="86"/>
                    </a:moveTo>
                    <a:lnTo>
                      <a:pt x="67" y="95"/>
                    </a:lnTo>
                    <a:lnTo>
                      <a:pt x="57" y="120"/>
                    </a:lnTo>
                    <a:lnTo>
                      <a:pt x="29" y="124"/>
                    </a:lnTo>
                    <a:lnTo>
                      <a:pt x="16" y="120"/>
                    </a:lnTo>
                    <a:lnTo>
                      <a:pt x="0" y="63"/>
                    </a:lnTo>
                    <a:lnTo>
                      <a:pt x="0" y="44"/>
                    </a:lnTo>
                    <a:lnTo>
                      <a:pt x="16" y="16"/>
                    </a:lnTo>
                    <a:lnTo>
                      <a:pt x="38" y="0"/>
                    </a:lnTo>
                    <a:lnTo>
                      <a:pt x="73" y="0"/>
                    </a:lnTo>
                    <a:lnTo>
                      <a:pt x="108" y="10"/>
                    </a:lnTo>
                    <a:lnTo>
                      <a:pt x="111" y="19"/>
                    </a:lnTo>
                    <a:lnTo>
                      <a:pt x="133" y="32"/>
                    </a:lnTo>
                    <a:lnTo>
                      <a:pt x="133" y="41"/>
                    </a:lnTo>
                    <a:lnTo>
                      <a:pt x="120" y="51"/>
                    </a:lnTo>
                    <a:lnTo>
                      <a:pt x="108" y="54"/>
                    </a:lnTo>
                    <a:lnTo>
                      <a:pt x="98" y="63"/>
                    </a:lnTo>
                    <a:lnTo>
                      <a:pt x="98" y="86"/>
                    </a:lnTo>
                    <a:lnTo>
                      <a:pt x="85" y="92"/>
                    </a:lnTo>
                    <a:lnTo>
                      <a:pt x="76" y="86"/>
                    </a:lnTo>
                    <a:close/>
                  </a:path>
                </a:pathLst>
              </a:custGeom>
              <a:solidFill>
                <a:srgbClr val="8F5B1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3" name="Freeform 133"/>
              <p:cNvSpPr>
                <a:spLocks/>
              </p:cNvSpPr>
              <p:nvPr/>
            </p:nvSpPr>
            <p:spPr bwMode="auto">
              <a:xfrm>
                <a:off x="568" y="1395"/>
                <a:ext cx="133" cy="124"/>
              </a:xfrm>
              <a:custGeom>
                <a:avLst/>
                <a:gdLst>
                  <a:gd name="T0" fmla="*/ 76 w 133"/>
                  <a:gd name="T1" fmla="*/ 86 h 124"/>
                  <a:gd name="T2" fmla="*/ 67 w 133"/>
                  <a:gd name="T3" fmla="*/ 95 h 124"/>
                  <a:gd name="T4" fmla="*/ 57 w 133"/>
                  <a:gd name="T5" fmla="*/ 120 h 124"/>
                  <a:gd name="T6" fmla="*/ 29 w 133"/>
                  <a:gd name="T7" fmla="*/ 124 h 124"/>
                  <a:gd name="T8" fmla="*/ 16 w 133"/>
                  <a:gd name="T9" fmla="*/ 120 h 124"/>
                  <a:gd name="T10" fmla="*/ 0 w 133"/>
                  <a:gd name="T11" fmla="*/ 63 h 124"/>
                  <a:gd name="T12" fmla="*/ 0 w 133"/>
                  <a:gd name="T13" fmla="*/ 44 h 124"/>
                  <a:gd name="T14" fmla="*/ 16 w 133"/>
                  <a:gd name="T15" fmla="*/ 16 h 124"/>
                  <a:gd name="T16" fmla="*/ 38 w 133"/>
                  <a:gd name="T17" fmla="*/ 0 h 124"/>
                  <a:gd name="T18" fmla="*/ 73 w 133"/>
                  <a:gd name="T19" fmla="*/ 0 h 124"/>
                  <a:gd name="T20" fmla="*/ 108 w 133"/>
                  <a:gd name="T21" fmla="*/ 10 h 124"/>
                  <a:gd name="T22" fmla="*/ 111 w 133"/>
                  <a:gd name="T23" fmla="*/ 19 h 124"/>
                  <a:gd name="T24" fmla="*/ 133 w 133"/>
                  <a:gd name="T25" fmla="*/ 32 h 124"/>
                  <a:gd name="T26" fmla="*/ 133 w 133"/>
                  <a:gd name="T27" fmla="*/ 41 h 124"/>
                  <a:gd name="T28" fmla="*/ 120 w 133"/>
                  <a:gd name="T29" fmla="*/ 51 h 124"/>
                  <a:gd name="T30" fmla="*/ 108 w 133"/>
                  <a:gd name="T31" fmla="*/ 54 h 124"/>
                  <a:gd name="T32" fmla="*/ 98 w 133"/>
                  <a:gd name="T33" fmla="*/ 63 h 124"/>
                  <a:gd name="T34" fmla="*/ 98 w 133"/>
                  <a:gd name="T35" fmla="*/ 86 h 124"/>
                  <a:gd name="T36" fmla="*/ 85 w 133"/>
                  <a:gd name="T37" fmla="*/ 92 h 124"/>
                  <a:gd name="T38" fmla="*/ 76 w 133"/>
                  <a:gd name="T39" fmla="*/ 86 h 124"/>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133" h="124">
                    <a:moveTo>
                      <a:pt x="76" y="86"/>
                    </a:moveTo>
                    <a:lnTo>
                      <a:pt x="67" y="95"/>
                    </a:lnTo>
                    <a:lnTo>
                      <a:pt x="57" y="120"/>
                    </a:lnTo>
                    <a:lnTo>
                      <a:pt x="29" y="124"/>
                    </a:lnTo>
                    <a:lnTo>
                      <a:pt x="16" y="120"/>
                    </a:lnTo>
                    <a:lnTo>
                      <a:pt x="0" y="63"/>
                    </a:lnTo>
                    <a:lnTo>
                      <a:pt x="0" y="44"/>
                    </a:lnTo>
                    <a:lnTo>
                      <a:pt x="16" y="16"/>
                    </a:lnTo>
                    <a:lnTo>
                      <a:pt x="38" y="0"/>
                    </a:lnTo>
                    <a:lnTo>
                      <a:pt x="73" y="0"/>
                    </a:lnTo>
                    <a:lnTo>
                      <a:pt x="108" y="10"/>
                    </a:lnTo>
                    <a:lnTo>
                      <a:pt x="111" y="19"/>
                    </a:lnTo>
                    <a:lnTo>
                      <a:pt x="133" y="32"/>
                    </a:lnTo>
                    <a:lnTo>
                      <a:pt x="133" y="41"/>
                    </a:lnTo>
                    <a:lnTo>
                      <a:pt x="120" y="51"/>
                    </a:lnTo>
                    <a:lnTo>
                      <a:pt x="108" y="54"/>
                    </a:lnTo>
                    <a:lnTo>
                      <a:pt x="98" y="63"/>
                    </a:lnTo>
                    <a:lnTo>
                      <a:pt x="98" y="86"/>
                    </a:lnTo>
                    <a:lnTo>
                      <a:pt x="85" y="92"/>
                    </a:lnTo>
                    <a:lnTo>
                      <a:pt x="76" y="86"/>
                    </a:lnTo>
                    <a:close/>
                  </a:path>
                </a:pathLst>
              </a:custGeom>
              <a:solidFill>
                <a:schemeClr val="tx1"/>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4" name="Freeform 134"/>
              <p:cNvSpPr>
                <a:spLocks/>
              </p:cNvSpPr>
              <p:nvPr/>
            </p:nvSpPr>
            <p:spPr bwMode="auto">
              <a:xfrm>
                <a:off x="512" y="1512"/>
                <a:ext cx="327" cy="446"/>
              </a:xfrm>
              <a:custGeom>
                <a:avLst/>
                <a:gdLst>
                  <a:gd name="T0" fmla="*/ 69 w 327"/>
                  <a:gd name="T1" fmla="*/ 0 h 446"/>
                  <a:gd name="T2" fmla="*/ 88 w 327"/>
                  <a:gd name="T3" fmla="*/ 7 h 446"/>
                  <a:gd name="T4" fmla="*/ 100 w 327"/>
                  <a:gd name="T5" fmla="*/ 16 h 446"/>
                  <a:gd name="T6" fmla="*/ 138 w 327"/>
                  <a:gd name="T7" fmla="*/ 67 h 446"/>
                  <a:gd name="T8" fmla="*/ 151 w 327"/>
                  <a:gd name="T9" fmla="*/ 73 h 446"/>
                  <a:gd name="T10" fmla="*/ 157 w 327"/>
                  <a:gd name="T11" fmla="*/ 89 h 446"/>
                  <a:gd name="T12" fmla="*/ 164 w 327"/>
                  <a:gd name="T13" fmla="*/ 111 h 446"/>
                  <a:gd name="T14" fmla="*/ 211 w 327"/>
                  <a:gd name="T15" fmla="*/ 187 h 446"/>
                  <a:gd name="T16" fmla="*/ 217 w 327"/>
                  <a:gd name="T17" fmla="*/ 187 h 446"/>
                  <a:gd name="T18" fmla="*/ 223 w 327"/>
                  <a:gd name="T19" fmla="*/ 187 h 446"/>
                  <a:gd name="T20" fmla="*/ 233 w 327"/>
                  <a:gd name="T21" fmla="*/ 196 h 446"/>
                  <a:gd name="T22" fmla="*/ 296 w 327"/>
                  <a:gd name="T23" fmla="*/ 177 h 446"/>
                  <a:gd name="T24" fmla="*/ 318 w 327"/>
                  <a:gd name="T25" fmla="*/ 196 h 446"/>
                  <a:gd name="T26" fmla="*/ 327 w 327"/>
                  <a:gd name="T27" fmla="*/ 209 h 446"/>
                  <a:gd name="T28" fmla="*/ 264 w 327"/>
                  <a:gd name="T29" fmla="*/ 247 h 446"/>
                  <a:gd name="T30" fmla="*/ 239 w 327"/>
                  <a:gd name="T31" fmla="*/ 256 h 446"/>
                  <a:gd name="T32" fmla="*/ 214 w 327"/>
                  <a:gd name="T33" fmla="*/ 253 h 446"/>
                  <a:gd name="T34" fmla="*/ 217 w 327"/>
                  <a:gd name="T35" fmla="*/ 307 h 446"/>
                  <a:gd name="T36" fmla="*/ 205 w 327"/>
                  <a:gd name="T37" fmla="*/ 358 h 446"/>
                  <a:gd name="T38" fmla="*/ 192 w 327"/>
                  <a:gd name="T39" fmla="*/ 412 h 446"/>
                  <a:gd name="T40" fmla="*/ 170 w 327"/>
                  <a:gd name="T41" fmla="*/ 437 h 446"/>
                  <a:gd name="T42" fmla="*/ 132 w 327"/>
                  <a:gd name="T43" fmla="*/ 446 h 446"/>
                  <a:gd name="T44" fmla="*/ 72 w 327"/>
                  <a:gd name="T45" fmla="*/ 424 h 446"/>
                  <a:gd name="T46" fmla="*/ 72 w 327"/>
                  <a:gd name="T47" fmla="*/ 304 h 446"/>
                  <a:gd name="T48" fmla="*/ 31 w 327"/>
                  <a:gd name="T49" fmla="*/ 351 h 446"/>
                  <a:gd name="T50" fmla="*/ 12 w 327"/>
                  <a:gd name="T51" fmla="*/ 294 h 446"/>
                  <a:gd name="T52" fmla="*/ 3 w 327"/>
                  <a:gd name="T53" fmla="*/ 225 h 446"/>
                  <a:gd name="T54" fmla="*/ 0 w 327"/>
                  <a:gd name="T55" fmla="*/ 158 h 446"/>
                  <a:gd name="T56" fmla="*/ 0 w 327"/>
                  <a:gd name="T57" fmla="*/ 149 h 446"/>
                  <a:gd name="T58" fmla="*/ 3 w 327"/>
                  <a:gd name="T59" fmla="*/ 79 h 446"/>
                  <a:gd name="T60" fmla="*/ 15 w 327"/>
                  <a:gd name="T61" fmla="*/ 38 h 446"/>
                  <a:gd name="T62" fmla="*/ 37 w 327"/>
                  <a:gd name="T63" fmla="*/ 16 h 446"/>
                  <a:gd name="T64" fmla="*/ 56 w 327"/>
                  <a:gd name="T65" fmla="*/ 13 h 446"/>
                  <a:gd name="T66" fmla="*/ 69 w 327"/>
                  <a:gd name="T67" fmla="*/ 0 h 44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327" h="446">
                    <a:moveTo>
                      <a:pt x="69" y="0"/>
                    </a:moveTo>
                    <a:lnTo>
                      <a:pt x="88" y="7"/>
                    </a:lnTo>
                    <a:lnTo>
                      <a:pt x="100" y="16"/>
                    </a:lnTo>
                    <a:lnTo>
                      <a:pt x="138" y="67"/>
                    </a:lnTo>
                    <a:lnTo>
                      <a:pt x="151" y="73"/>
                    </a:lnTo>
                    <a:lnTo>
                      <a:pt x="157" y="89"/>
                    </a:lnTo>
                    <a:lnTo>
                      <a:pt x="164" y="111"/>
                    </a:lnTo>
                    <a:lnTo>
                      <a:pt x="211" y="187"/>
                    </a:lnTo>
                    <a:lnTo>
                      <a:pt x="217" y="187"/>
                    </a:lnTo>
                    <a:lnTo>
                      <a:pt x="223" y="187"/>
                    </a:lnTo>
                    <a:lnTo>
                      <a:pt x="233" y="196"/>
                    </a:lnTo>
                    <a:lnTo>
                      <a:pt x="296" y="177"/>
                    </a:lnTo>
                    <a:lnTo>
                      <a:pt x="318" y="196"/>
                    </a:lnTo>
                    <a:lnTo>
                      <a:pt x="327" y="209"/>
                    </a:lnTo>
                    <a:lnTo>
                      <a:pt x="264" y="247"/>
                    </a:lnTo>
                    <a:lnTo>
                      <a:pt x="239" y="256"/>
                    </a:lnTo>
                    <a:lnTo>
                      <a:pt x="214" y="253"/>
                    </a:lnTo>
                    <a:lnTo>
                      <a:pt x="217" y="307"/>
                    </a:lnTo>
                    <a:lnTo>
                      <a:pt x="205" y="358"/>
                    </a:lnTo>
                    <a:lnTo>
                      <a:pt x="192" y="412"/>
                    </a:lnTo>
                    <a:lnTo>
                      <a:pt x="170" y="437"/>
                    </a:lnTo>
                    <a:lnTo>
                      <a:pt x="132" y="446"/>
                    </a:lnTo>
                    <a:lnTo>
                      <a:pt x="72" y="424"/>
                    </a:lnTo>
                    <a:lnTo>
                      <a:pt x="72" y="304"/>
                    </a:lnTo>
                    <a:lnTo>
                      <a:pt x="31" y="351"/>
                    </a:lnTo>
                    <a:lnTo>
                      <a:pt x="12" y="294"/>
                    </a:lnTo>
                    <a:lnTo>
                      <a:pt x="3" y="225"/>
                    </a:lnTo>
                    <a:lnTo>
                      <a:pt x="0" y="158"/>
                    </a:lnTo>
                    <a:lnTo>
                      <a:pt x="0" y="149"/>
                    </a:lnTo>
                    <a:lnTo>
                      <a:pt x="3" y="79"/>
                    </a:lnTo>
                    <a:lnTo>
                      <a:pt x="15" y="38"/>
                    </a:lnTo>
                    <a:lnTo>
                      <a:pt x="37" y="16"/>
                    </a:lnTo>
                    <a:lnTo>
                      <a:pt x="56" y="13"/>
                    </a:lnTo>
                    <a:lnTo>
                      <a:pt x="69" y="0"/>
                    </a:lnTo>
                    <a:close/>
                  </a:path>
                </a:pathLst>
              </a:custGeom>
              <a:solidFill>
                <a:srgbClr val="62624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5" name="Freeform 135"/>
              <p:cNvSpPr>
                <a:spLocks/>
              </p:cNvSpPr>
              <p:nvPr/>
            </p:nvSpPr>
            <p:spPr bwMode="auto">
              <a:xfrm>
                <a:off x="512" y="1512"/>
                <a:ext cx="327" cy="446"/>
              </a:xfrm>
              <a:custGeom>
                <a:avLst/>
                <a:gdLst>
                  <a:gd name="T0" fmla="*/ 69 w 327"/>
                  <a:gd name="T1" fmla="*/ 0 h 446"/>
                  <a:gd name="T2" fmla="*/ 88 w 327"/>
                  <a:gd name="T3" fmla="*/ 7 h 446"/>
                  <a:gd name="T4" fmla="*/ 100 w 327"/>
                  <a:gd name="T5" fmla="*/ 16 h 446"/>
                  <a:gd name="T6" fmla="*/ 138 w 327"/>
                  <a:gd name="T7" fmla="*/ 67 h 446"/>
                  <a:gd name="T8" fmla="*/ 151 w 327"/>
                  <a:gd name="T9" fmla="*/ 73 h 446"/>
                  <a:gd name="T10" fmla="*/ 157 w 327"/>
                  <a:gd name="T11" fmla="*/ 89 h 446"/>
                  <a:gd name="T12" fmla="*/ 164 w 327"/>
                  <a:gd name="T13" fmla="*/ 111 h 446"/>
                  <a:gd name="T14" fmla="*/ 211 w 327"/>
                  <a:gd name="T15" fmla="*/ 187 h 446"/>
                  <a:gd name="T16" fmla="*/ 217 w 327"/>
                  <a:gd name="T17" fmla="*/ 187 h 446"/>
                  <a:gd name="T18" fmla="*/ 223 w 327"/>
                  <a:gd name="T19" fmla="*/ 187 h 446"/>
                  <a:gd name="T20" fmla="*/ 233 w 327"/>
                  <a:gd name="T21" fmla="*/ 196 h 446"/>
                  <a:gd name="T22" fmla="*/ 296 w 327"/>
                  <a:gd name="T23" fmla="*/ 177 h 446"/>
                  <a:gd name="T24" fmla="*/ 318 w 327"/>
                  <a:gd name="T25" fmla="*/ 196 h 446"/>
                  <a:gd name="T26" fmla="*/ 327 w 327"/>
                  <a:gd name="T27" fmla="*/ 209 h 446"/>
                  <a:gd name="T28" fmla="*/ 264 w 327"/>
                  <a:gd name="T29" fmla="*/ 247 h 446"/>
                  <a:gd name="T30" fmla="*/ 239 w 327"/>
                  <a:gd name="T31" fmla="*/ 256 h 446"/>
                  <a:gd name="T32" fmla="*/ 214 w 327"/>
                  <a:gd name="T33" fmla="*/ 253 h 446"/>
                  <a:gd name="T34" fmla="*/ 217 w 327"/>
                  <a:gd name="T35" fmla="*/ 307 h 446"/>
                  <a:gd name="T36" fmla="*/ 205 w 327"/>
                  <a:gd name="T37" fmla="*/ 358 h 446"/>
                  <a:gd name="T38" fmla="*/ 192 w 327"/>
                  <a:gd name="T39" fmla="*/ 412 h 446"/>
                  <a:gd name="T40" fmla="*/ 170 w 327"/>
                  <a:gd name="T41" fmla="*/ 437 h 446"/>
                  <a:gd name="T42" fmla="*/ 132 w 327"/>
                  <a:gd name="T43" fmla="*/ 446 h 446"/>
                  <a:gd name="T44" fmla="*/ 72 w 327"/>
                  <a:gd name="T45" fmla="*/ 424 h 446"/>
                  <a:gd name="T46" fmla="*/ 72 w 327"/>
                  <a:gd name="T47" fmla="*/ 304 h 446"/>
                  <a:gd name="T48" fmla="*/ 31 w 327"/>
                  <a:gd name="T49" fmla="*/ 351 h 446"/>
                  <a:gd name="T50" fmla="*/ 12 w 327"/>
                  <a:gd name="T51" fmla="*/ 294 h 446"/>
                  <a:gd name="T52" fmla="*/ 3 w 327"/>
                  <a:gd name="T53" fmla="*/ 225 h 446"/>
                  <a:gd name="T54" fmla="*/ 0 w 327"/>
                  <a:gd name="T55" fmla="*/ 158 h 446"/>
                  <a:gd name="T56" fmla="*/ 0 w 327"/>
                  <a:gd name="T57" fmla="*/ 149 h 446"/>
                  <a:gd name="T58" fmla="*/ 3 w 327"/>
                  <a:gd name="T59" fmla="*/ 79 h 446"/>
                  <a:gd name="T60" fmla="*/ 15 w 327"/>
                  <a:gd name="T61" fmla="*/ 38 h 446"/>
                  <a:gd name="T62" fmla="*/ 37 w 327"/>
                  <a:gd name="T63" fmla="*/ 16 h 446"/>
                  <a:gd name="T64" fmla="*/ 56 w 327"/>
                  <a:gd name="T65" fmla="*/ 13 h 446"/>
                  <a:gd name="T66" fmla="*/ 69 w 327"/>
                  <a:gd name="T67" fmla="*/ 0 h 44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327" h="446">
                    <a:moveTo>
                      <a:pt x="69" y="0"/>
                    </a:moveTo>
                    <a:lnTo>
                      <a:pt x="88" y="7"/>
                    </a:lnTo>
                    <a:lnTo>
                      <a:pt x="100" y="16"/>
                    </a:lnTo>
                    <a:lnTo>
                      <a:pt x="138" y="67"/>
                    </a:lnTo>
                    <a:lnTo>
                      <a:pt x="151" y="73"/>
                    </a:lnTo>
                    <a:lnTo>
                      <a:pt x="157" y="89"/>
                    </a:lnTo>
                    <a:lnTo>
                      <a:pt x="164" y="111"/>
                    </a:lnTo>
                    <a:lnTo>
                      <a:pt x="211" y="187"/>
                    </a:lnTo>
                    <a:lnTo>
                      <a:pt x="217" y="187"/>
                    </a:lnTo>
                    <a:lnTo>
                      <a:pt x="223" y="187"/>
                    </a:lnTo>
                    <a:lnTo>
                      <a:pt x="233" y="196"/>
                    </a:lnTo>
                    <a:lnTo>
                      <a:pt x="296" y="177"/>
                    </a:lnTo>
                    <a:lnTo>
                      <a:pt x="318" y="196"/>
                    </a:lnTo>
                    <a:lnTo>
                      <a:pt x="327" y="209"/>
                    </a:lnTo>
                    <a:lnTo>
                      <a:pt x="264" y="247"/>
                    </a:lnTo>
                    <a:lnTo>
                      <a:pt x="239" y="256"/>
                    </a:lnTo>
                    <a:lnTo>
                      <a:pt x="214" y="253"/>
                    </a:lnTo>
                    <a:lnTo>
                      <a:pt x="217" y="307"/>
                    </a:lnTo>
                    <a:lnTo>
                      <a:pt x="205" y="358"/>
                    </a:lnTo>
                    <a:lnTo>
                      <a:pt x="192" y="412"/>
                    </a:lnTo>
                    <a:lnTo>
                      <a:pt x="170" y="437"/>
                    </a:lnTo>
                    <a:lnTo>
                      <a:pt x="132" y="446"/>
                    </a:lnTo>
                    <a:lnTo>
                      <a:pt x="72" y="424"/>
                    </a:lnTo>
                    <a:lnTo>
                      <a:pt x="72" y="304"/>
                    </a:lnTo>
                    <a:lnTo>
                      <a:pt x="31" y="351"/>
                    </a:lnTo>
                    <a:lnTo>
                      <a:pt x="12" y="294"/>
                    </a:lnTo>
                    <a:lnTo>
                      <a:pt x="3" y="225"/>
                    </a:lnTo>
                    <a:lnTo>
                      <a:pt x="0" y="158"/>
                    </a:lnTo>
                    <a:lnTo>
                      <a:pt x="0" y="149"/>
                    </a:lnTo>
                    <a:lnTo>
                      <a:pt x="3" y="79"/>
                    </a:lnTo>
                    <a:lnTo>
                      <a:pt x="15" y="38"/>
                    </a:lnTo>
                    <a:lnTo>
                      <a:pt x="37" y="16"/>
                    </a:lnTo>
                    <a:lnTo>
                      <a:pt x="56" y="13"/>
                    </a:lnTo>
                    <a:lnTo>
                      <a:pt x="69" y="0"/>
                    </a:lnTo>
                    <a:close/>
                  </a:path>
                </a:pathLst>
              </a:custGeom>
              <a:solidFill>
                <a:srgbClr val="626248"/>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6" name="Freeform 136"/>
              <p:cNvSpPr>
                <a:spLocks/>
              </p:cNvSpPr>
              <p:nvPr/>
            </p:nvSpPr>
            <p:spPr bwMode="auto">
              <a:xfrm>
                <a:off x="480" y="1712"/>
                <a:ext cx="136" cy="243"/>
              </a:xfrm>
              <a:custGeom>
                <a:avLst/>
                <a:gdLst>
                  <a:gd name="T0" fmla="*/ 104 w 136"/>
                  <a:gd name="T1" fmla="*/ 104 h 243"/>
                  <a:gd name="T2" fmla="*/ 88 w 136"/>
                  <a:gd name="T3" fmla="*/ 66 h 243"/>
                  <a:gd name="T4" fmla="*/ 79 w 136"/>
                  <a:gd name="T5" fmla="*/ 44 h 243"/>
                  <a:gd name="T6" fmla="*/ 35 w 136"/>
                  <a:gd name="T7" fmla="*/ 19 h 243"/>
                  <a:gd name="T8" fmla="*/ 16 w 136"/>
                  <a:gd name="T9" fmla="*/ 0 h 243"/>
                  <a:gd name="T10" fmla="*/ 3 w 136"/>
                  <a:gd name="T11" fmla="*/ 3 h 243"/>
                  <a:gd name="T12" fmla="*/ 0 w 136"/>
                  <a:gd name="T13" fmla="*/ 6 h 243"/>
                  <a:gd name="T14" fmla="*/ 22 w 136"/>
                  <a:gd name="T15" fmla="*/ 63 h 243"/>
                  <a:gd name="T16" fmla="*/ 76 w 136"/>
                  <a:gd name="T17" fmla="*/ 218 h 243"/>
                  <a:gd name="T18" fmla="*/ 136 w 136"/>
                  <a:gd name="T19" fmla="*/ 243 h 243"/>
                  <a:gd name="T20" fmla="*/ 132 w 136"/>
                  <a:gd name="T21" fmla="*/ 174 h 243"/>
                  <a:gd name="T22" fmla="*/ 104 w 136"/>
                  <a:gd name="T23" fmla="*/ 104 h 243"/>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6" h="243">
                    <a:moveTo>
                      <a:pt x="104" y="104"/>
                    </a:moveTo>
                    <a:lnTo>
                      <a:pt x="88" y="66"/>
                    </a:lnTo>
                    <a:lnTo>
                      <a:pt x="79" y="44"/>
                    </a:lnTo>
                    <a:lnTo>
                      <a:pt x="35" y="19"/>
                    </a:lnTo>
                    <a:lnTo>
                      <a:pt x="16" y="0"/>
                    </a:lnTo>
                    <a:lnTo>
                      <a:pt x="3" y="3"/>
                    </a:lnTo>
                    <a:lnTo>
                      <a:pt x="0" y="6"/>
                    </a:lnTo>
                    <a:lnTo>
                      <a:pt x="22" y="63"/>
                    </a:lnTo>
                    <a:lnTo>
                      <a:pt x="76" y="218"/>
                    </a:lnTo>
                    <a:lnTo>
                      <a:pt x="136" y="243"/>
                    </a:lnTo>
                    <a:lnTo>
                      <a:pt x="132" y="174"/>
                    </a:lnTo>
                    <a:lnTo>
                      <a:pt x="104" y="104"/>
                    </a:lnTo>
                    <a:close/>
                  </a:path>
                </a:pathLst>
              </a:custGeom>
              <a:solidFill>
                <a:srgbClr val="004E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7" name="Freeform 137"/>
              <p:cNvSpPr>
                <a:spLocks/>
              </p:cNvSpPr>
              <p:nvPr/>
            </p:nvSpPr>
            <p:spPr bwMode="auto">
              <a:xfrm>
                <a:off x="480" y="1712"/>
                <a:ext cx="136" cy="243"/>
              </a:xfrm>
              <a:custGeom>
                <a:avLst/>
                <a:gdLst>
                  <a:gd name="T0" fmla="*/ 104 w 136"/>
                  <a:gd name="T1" fmla="*/ 104 h 243"/>
                  <a:gd name="T2" fmla="*/ 88 w 136"/>
                  <a:gd name="T3" fmla="*/ 66 h 243"/>
                  <a:gd name="T4" fmla="*/ 79 w 136"/>
                  <a:gd name="T5" fmla="*/ 44 h 243"/>
                  <a:gd name="T6" fmla="*/ 35 w 136"/>
                  <a:gd name="T7" fmla="*/ 19 h 243"/>
                  <a:gd name="T8" fmla="*/ 16 w 136"/>
                  <a:gd name="T9" fmla="*/ 0 h 243"/>
                  <a:gd name="T10" fmla="*/ 3 w 136"/>
                  <a:gd name="T11" fmla="*/ 3 h 243"/>
                  <a:gd name="T12" fmla="*/ 0 w 136"/>
                  <a:gd name="T13" fmla="*/ 6 h 243"/>
                  <a:gd name="T14" fmla="*/ 22 w 136"/>
                  <a:gd name="T15" fmla="*/ 63 h 243"/>
                  <a:gd name="T16" fmla="*/ 76 w 136"/>
                  <a:gd name="T17" fmla="*/ 218 h 243"/>
                  <a:gd name="T18" fmla="*/ 136 w 136"/>
                  <a:gd name="T19" fmla="*/ 243 h 243"/>
                  <a:gd name="T20" fmla="*/ 132 w 136"/>
                  <a:gd name="T21" fmla="*/ 174 h 243"/>
                  <a:gd name="T22" fmla="*/ 104 w 136"/>
                  <a:gd name="T23" fmla="*/ 104 h 243"/>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6" h="243">
                    <a:moveTo>
                      <a:pt x="104" y="104"/>
                    </a:moveTo>
                    <a:lnTo>
                      <a:pt x="88" y="66"/>
                    </a:lnTo>
                    <a:lnTo>
                      <a:pt x="79" y="44"/>
                    </a:lnTo>
                    <a:lnTo>
                      <a:pt x="35" y="19"/>
                    </a:lnTo>
                    <a:lnTo>
                      <a:pt x="16" y="0"/>
                    </a:lnTo>
                    <a:lnTo>
                      <a:pt x="3" y="3"/>
                    </a:lnTo>
                    <a:lnTo>
                      <a:pt x="0" y="6"/>
                    </a:lnTo>
                    <a:lnTo>
                      <a:pt x="22" y="63"/>
                    </a:lnTo>
                    <a:lnTo>
                      <a:pt x="76" y="218"/>
                    </a:lnTo>
                    <a:lnTo>
                      <a:pt x="136" y="243"/>
                    </a:lnTo>
                    <a:lnTo>
                      <a:pt x="132" y="174"/>
                    </a:lnTo>
                    <a:lnTo>
                      <a:pt x="104" y="104"/>
                    </a:lnTo>
                    <a:close/>
                  </a:path>
                </a:pathLst>
              </a:custGeom>
              <a:solidFill>
                <a:srgbClr val="004EFF"/>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sp>
          <p:nvSpPr>
            <p:cNvPr id="116" name="Rectangle 138"/>
            <p:cNvSpPr>
              <a:spLocks noChangeArrowheads="1"/>
            </p:cNvSpPr>
            <p:nvPr/>
          </p:nvSpPr>
          <p:spPr bwMode="auto">
            <a:xfrm>
              <a:off x="1593270" y="1916832"/>
              <a:ext cx="1640681" cy="2409825"/>
            </a:xfrm>
            <a:prstGeom prst="rect">
              <a:avLst/>
            </a:prstGeom>
            <a:solidFill>
              <a:srgbClr val="0000FF"/>
            </a:solidFill>
            <a:ln w="9525">
              <a:noFill/>
              <a:prstDash val="sysDot"/>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7" name="Line 139"/>
            <p:cNvSpPr>
              <a:spLocks noChangeShapeType="1"/>
            </p:cNvSpPr>
            <p:nvPr/>
          </p:nvSpPr>
          <p:spPr bwMode="auto">
            <a:xfrm>
              <a:off x="1046376" y="2288306"/>
              <a:ext cx="638043" cy="0"/>
            </a:xfrm>
            <a:prstGeom prst="line">
              <a:avLst/>
            </a:prstGeom>
            <a:noFill/>
            <a:ln w="127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8" name="Text Box 140"/>
            <p:cNvSpPr txBox="1">
              <a:spLocks noChangeArrowheads="1"/>
            </p:cNvSpPr>
            <p:nvPr/>
          </p:nvSpPr>
          <p:spPr bwMode="auto">
            <a:xfrm>
              <a:off x="1678699" y="4337766"/>
              <a:ext cx="1391913"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FTP </a:t>
              </a:r>
              <a:r>
                <a:rPr kumimoji="1" lang="zh-CN" altLang="en-US" sz="1400" dirty="0">
                  <a:latin typeface="Montserrat" panose="00000500000000000000" pitchFamily="2" charset="0"/>
                  <a:ea typeface="微软雅黑 Light" panose="020B0502040204020203" pitchFamily="34" charset="-122"/>
                </a:rPr>
                <a:t>客户端</a:t>
              </a:r>
            </a:p>
          </p:txBody>
        </p:sp>
        <p:sp>
          <p:nvSpPr>
            <p:cNvPr id="119" name="Text Box 141"/>
            <p:cNvSpPr txBox="1">
              <a:spLocks noChangeArrowheads="1"/>
            </p:cNvSpPr>
            <p:nvPr/>
          </p:nvSpPr>
          <p:spPr bwMode="auto">
            <a:xfrm>
              <a:off x="6927924" y="4337766"/>
              <a:ext cx="1616985"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FTP </a:t>
              </a:r>
              <a:r>
                <a:rPr kumimoji="1" lang="zh-CN" altLang="en-US" sz="1400" dirty="0">
                  <a:latin typeface="Montserrat" panose="00000500000000000000" pitchFamily="2" charset="0"/>
                  <a:ea typeface="微软雅黑 Light" panose="020B0502040204020203" pitchFamily="34" charset="-122"/>
                </a:rPr>
                <a:t>服务器端</a:t>
              </a:r>
            </a:p>
          </p:txBody>
        </p:sp>
        <p:sp>
          <p:nvSpPr>
            <p:cNvPr id="120" name="AutoShape 142"/>
            <p:cNvSpPr>
              <a:spLocks noChangeArrowheads="1"/>
            </p:cNvSpPr>
            <p:nvPr/>
          </p:nvSpPr>
          <p:spPr bwMode="auto">
            <a:xfrm>
              <a:off x="408334" y="3399557"/>
              <a:ext cx="638042" cy="835025"/>
            </a:xfrm>
            <a:prstGeom prst="can">
              <a:avLst>
                <a:gd name="adj" fmla="val 35445"/>
              </a:avLst>
            </a:prstGeom>
            <a:gradFill rotWithShape="1">
              <a:gsLst>
                <a:gs pos="0">
                  <a:srgbClr val="0070C0"/>
                </a:gs>
                <a:gs pos="50000">
                  <a:srgbClr val="00FFCC"/>
                </a:gs>
                <a:gs pos="100000">
                  <a:srgbClr val="0070C0"/>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1" name="Line 143"/>
            <p:cNvSpPr>
              <a:spLocks noChangeShapeType="1"/>
            </p:cNvSpPr>
            <p:nvPr/>
          </p:nvSpPr>
          <p:spPr bwMode="auto">
            <a:xfrm>
              <a:off x="1046376" y="3817068"/>
              <a:ext cx="638043" cy="0"/>
            </a:xfrm>
            <a:prstGeom prst="line">
              <a:avLst/>
            </a:prstGeom>
            <a:noFill/>
            <a:ln w="127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2" name="Line 144"/>
            <p:cNvSpPr>
              <a:spLocks noChangeShapeType="1"/>
            </p:cNvSpPr>
            <p:nvPr/>
          </p:nvSpPr>
          <p:spPr bwMode="auto">
            <a:xfrm>
              <a:off x="8429442" y="3817068"/>
              <a:ext cx="638042" cy="0"/>
            </a:xfrm>
            <a:prstGeom prst="line">
              <a:avLst/>
            </a:prstGeom>
            <a:noFill/>
            <a:ln w="127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3" name="AutoShape 145"/>
            <p:cNvSpPr>
              <a:spLocks noChangeArrowheads="1"/>
            </p:cNvSpPr>
            <p:nvPr/>
          </p:nvSpPr>
          <p:spPr bwMode="auto">
            <a:xfrm>
              <a:off x="9067485" y="3399557"/>
              <a:ext cx="638043" cy="835025"/>
            </a:xfrm>
            <a:prstGeom prst="can">
              <a:avLst>
                <a:gd name="adj" fmla="val 35445"/>
              </a:avLst>
            </a:prstGeom>
            <a:gradFill rotWithShape="1">
              <a:gsLst>
                <a:gs pos="0">
                  <a:srgbClr val="0070C0"/>
                </a:gs>
                <a:gs pos="50000">
                  <a:srgbClr val="00FFCC"/>
                </a:gs>
                <a:gs pos="100000">
                  <a:srgbClr val="0070C0"/>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4" name="Line 146"/>
            <p:cNvSpPr>
              <a:spLocks noChangeShapeType="1"/>
            </p:cNvSpPr>
            <p:nvPr/>
          </p:nvSpPr>
          <p:spPr bwMode="auto">
            <a:xfrm>
              <a:off x="3051653" y="3863106"/>
              <a:ext cx="4010554" cy="0"/>
            </a:xfrm>
            <a:prstGeom prst="line">
              <a:avLst/>
            </a:prstGeom>
            <a:noFill/>
            <a:ln w="381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5" name="Line 147"/>
            <p:cNvSpPr>
              <a:spLocks noChangeShapeType="1"/>
            </p:cNvSpPr>
            <p:nvPr/>
          </p:nvSpPr>
          <p:spPr bwMode="auto">
            <a:xfrm>
              <a:off x="3051653" y="3029668"/>
              <a:ext cx="4010554" cy="0"/>
            </a:xfrm>
            <a:prstGeom prst="line">
              <a:avLst/>
            </a:prstGeom>
            <a:noFill/>
            <a:ln w="38100">
              <a:solidFill>
                <a:srgbClr val="FF6600"/>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aphicFrame>
          <p:nvGraphicFramePr>
            <p:cNvPr id="126" name="Object 148"/>
            <p:cNvGraphicFramePr>
              <a:graphicFrameLocks noChangeAspect="1"/>
            </p:cNvGraphicFramePr>
            <p:nvPr>
              <p:extLst>
                <p:ext uri="{D42A27DB-BD31-4B8C-83A1-F6EECF244321}">
                  <p14:modId xmlns:p14="http://schemas.microsoft.com/office/powerpoint/2010/main" val="2097526836"/>
                </p:ext>
              </p:extLst>
            </p:nvPr>
          </p:nvGraphicFramePr>
          <p:xfrm>
            <a:off x="3871995" y="2658193"/>
            <a:ext cx="2369873" cy="1746250"/>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4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71995" y="2658193"/>
                          <a:ext cx="2369873" cy="1746250"/>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127" name="Text Box 149"/>
            <p:cNvSpPr txBox="1">
              <a:spLocks noChangeArrowheads="1"/>
            </p:cNvSpPr>
            <p:nvPr/>
          </p:nvSpPr>
          <p:spPr bwMode="auto">
            <a:xfrm>
              <a:off x="4611580" y="3310268"/>
              <a:ext cx="810261" cy="3472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solidFill>
                    <a:srgbClr val="0000FF"/>
                  </a:solidFill>
                  <a:latin typeface="Montserrat" panose="00000500000000000000" pitchFamily="2" charset="0"/>
                  <a:ea typeface="微软雅黑 Light" panose="020B0502040204020203" pitchFamily="34" charset="-122"/>
                </a:rPr>
                <a:t>互联网</a:t>
              </a:r>
            </a:p>
          </p:txBody>
        </p:sp>
        <p:sp>
          <p:nvSpPr>
            <p:cNvPr id="128" name="Text Box 150"/>
            <p:cNvSpPr txBox="1">
              <a:spLocks noChangeArrowheads="1"/>
            </p:cNvSpPr>
            <p:nvPr/>
          </p:nvSpPr>
          <p:spPr bwMode="auto">
            <a:xfrm>
              <a:off x="4113857" y="2020018"/>
              <a:ext cx="1629443"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solidFill>
                    <a:srgbClr val="0000FF"/>
                  </a:solidFill>
                  <a:latin typeface="Montserrat" panose="00000500000000000000" pitchFamily="2" charset="0"/>
                  <a:ea typeface="微软雅黑 Light" panose="020B0502040204020203" pitchFamily="34" charset="-122"/>
                </a:rPr>
                <a:t>TCP </a:t>
              </a:r>
              <a:r>
                <a:rPr kumimoji="1" lang="zh-CN" altLang="en-US" sz="1400" dirty="0">
                  <a:solidFill>
                    <a:srgbClr val="0000FF"/>
                  </a:solidFill>
                  <a:latin typeface="Montserrat" panose="00000500000000000000" pitchFamily="2" charset="0"/>
                  <a:ea typeface="微软雅黑 Light" panose="020B0502040204020203" pitchFamily="34" charset="-122"/>
                </a:rPr>
                <a:t>控制连接</a:t>
              </a:r>
            </a:p>
          </p:txBody>
        </p:sp>
        <p:sp>
          <p:nvSpPr>
            <p:cNvPr id="129" name="Text Box 151"/>
            <p:cNvSpPr txBox="1">
              <a:spLocks noChangeArrowheads="1"/>
            </p:cNvSpPr>
            <p:nvPr/>
          </p:nvSpPr>
          <p:spPr bwMode="auto">
            <a:xfrm>
              <a:off x="4209227" y="4593355"/>
              <a:ext cx="1629443"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solidFill>
                    <a:srgbClr val="CC00CC"/>
                  </a:solidFill>
                  <a:latin typeface="Montserrat" panose="00000500000000000000" pitchFamily="2" charset="0"/>
                  <a:ea typeface="微软雅黑 Light" panose="020B0502040204020203" pitchFamily="34" charset="-122"/>
                </a:rPr>
                <a:t>TCP </a:t>
              </a:r>
              <a:r>
                <a:rPr kumimoji="1" lang="zh-CN" altLang="en-US" sz="1400" dirty="0">
                  <a:solidFill>
                    <a:srgbClr val="CC00CC"/>
                  </a:solidFill>
                  <a:latin typeface="Montserrat" panose="00000500000000000000" pitchFamily="2" charset="0"/>
                  <a:ea typeface="微软雅黑 Light" panose="020B0502040204020203" pitchFamily="34" charset="-122"/>
                </a:rPr>
                <a:t>数据连接</a:t>
              </a:r>
            </a:p>
          </p:txBody>
        </p:sp>
        <p:sp>
          <p:nvSpPr>
            <p:cNvPr id="130" name="Line 152"/>
            <p:cNvSpPr>
              <a:spLocks noChangeShapeType="1"/>
            </p:cNvSpPr>
            <p:nvPr/>
          </p:nvSpPr>
          <p:spPr bwMode="auto">
            <a:xfrm flipH="1" flipV="1">
              <a:off x="3689696" y="3863107"/>
              <a:ext cx="1002638" cy="649287"/>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1" name="Line 153"/>
            <p:cNvSpPr>
              <a:spLocks noChangeShapeType="1"/>
            </p:cNvSpPr>
            <p:nvPr/>
          </p:nvSpPr>
          <p:spPr bwMode="auto">
            <a:xfrm flipV="1">
              <a:off x="5330377" y="3863107"/>
              <a:ext cx="1093788" cy="649287"/>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2" name="Line 154"/>
            <p:cNvSpPr>
              <a:spLocks noChangeShapeType="1"/>
            </p:cNvSpPr>
            <p:nvPr/>
          </p:nvSpPr>
          <p:spPr bwMode="auto">
            <a:xfrm>
              <a:off x="5239228" y="2472456"/>
              <a:ext cx="1184937" cy="557212"/>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3" name="Line 155"/>
            <p:cNvSpPr>
              <a:spLocks noChangeShapeType="1"/>
            </p:cNvSpPr>
            <p:nvPr/>
          </p:nvSpPr>
          <p:spPr bwMode="auto">
            <a:xfrm flipH="1">
              <a:off x="3598546" y="2472456"/>
              <a:ext cx="1093788" cy="557212"/>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4" name="Oval 156"/>
            <p:cNvSpPr>
              <a:spLocks noChangeArrowheads="1"/>
            </p:cNvSpPr>
            <p:nvPr/>
          </p:nvSpPr>
          <p:spPr bwMode="auto">
            <a:xfrm>
              <a:off x="1684419" y="2008906"/>
              <a:ext cx="1367234" cy="557212"/>
            </a:xfrm>
            <a:prstGeom prst="ellipse">
              <a:avLst/>
            </a:prstGeom>
            <a:solidFill>
              <a:srgbClr val="00FFCC"/>
            </a:solidFill>
            <a:ln w="9525">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用户界面</a:t>
              </a:r>
            </a:p>
          </p:txBody>
        </p:sp>
        <p:sp>
          <p:nvSpPr>
            <p:cNvPr id="135" name="Line 157"/>
            <p:cNvSpPr>
              <a:spLocks noChangeShapeType="1"/>
            </p:cNvSpPr>
            <p:nvPr/>
          </p:nvSpPr>
          <p:spPr bwMode="auto">
            <a:xfrm>
              <a:off x="2413611" y="3307481"/>
              <a:ext cx="0" cy="277812"/>
            </a:xfrm>
            <a:prstGeom prst="line">
              <a:avLst/>
            </a:prstGeom>
            <a:noFill/>
            <a:ln w="38100">
              <a:solidFill>
                <a:srgbClr val="00B0F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6" name="Oval 158"/>
            <p:cNvSpPr>
              <a:spLocks noChangeArrowheads="1"/>
            </p:cNvSpPr>
            <p:nvPr/>
          </p:nvSpPr>
          <p:spPr bwMode="auto">
            <a:xfrm>
              <a:off x="1684419" y="2750269"/>
              <a:ext cx="1367234" cy="557213"/>
            </a:xfrm>
            <a:prstGeom prst="ellipse">
              <a:avLst/>
            </a:prstGeom>
            <a:solidFill>
              <a:srgbClr val="99FFCC"/>
            </a:solidFill>
            <a:ln w="9525">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控制进程</a:t>
              </a:r>
            </a:p>
          </p:txBody>
        </p:sp>
        <p:sp>
          <p:nvSpPr>
            <p:cNvPr id="137" name="Oval 159"/>
            <p:cNvSpPr>
              <a:spLocks noChangeArrowheads="1"/>
            </p:cNvSpPr>
            <p:nvPr/>
          </p:nvSpPr>
          <p:spPr bwMode="auto">
            <a:xfrm>
              <a:off x="1684419" y="3493219"/>
              <a:ext cx="1367234" cy="741363"/>
            </a:xfrm>
            <a:prstGeom prst="ellipse">
              <a:avLst/>
            </a:prstGeom>
            <a:solidFill>
              <a:srgbClr val="66FF66"/>
            </a:solidFill>
            <a:ln w="9525">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数据传送</a:t>
              </a:r>
            </a:p>
            <a:p>
              <a:pPr algn="ctr" eaLnBrk="1" hangingPunct="1"/>
              <a:r>
                <a:rPr kumimoji="1" lang="zh-CN" altLang="en-US" sz="1200" dirty="0">
                  <a:latin typeface="Montserrat" panose="00000500000000000000" pitchFamily="2" charset="0"/>
                  <a:ea typeface="微软雅黑 Light" panose="020B0502040204020203" pitchFamily="34" charset="-122"/>
                </a:rPr>
                <a:t>进程</a:t>
              </a:r>
            </a:p>
          </p:txBody>
        </p:sp>
        <p:sp>
          <p:nvSpPr>
            <p:cNvPr id="138" name="Line 160"/>
            <p:cNvSpPr>
              <a:spLocks noChangeShapeType="1"/>
            </p:cNvSpPr>
            <p:nvPr/>
          </p:nvSpPr>
          <p:spPr bwMode="auto">
            <a:xfrm>
              <a:off x="7791399" y="3307481"/>
              <a:ext cx="0" cy="277812"/>
            </a:xfrm>
            <a:prstGeom prst="line">
              <a:avLst/>
            </a:prstGeom>
            <a:noFill/>
            <a:ln w="38100">
              <a:solidFill>
                <a:srgbClr val="00B0F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9" name="Oval 161"/>
            <p:cNvSpPr>
              <a:spLocks noChangeArrowheads="1"/>
            </p:cNvSpPr>
            <p:nvPr/>
          </p:nvSpPr>
          <p:spPr bwMode="auto">
            <a:xfrm>
              <a:off x="7062207" y="3493219"/>
              <a:ext cx="1367235" cy="741363"/>
            </a:xfrm>
            <a:prstGeom prst="ellipse">
              <a:avLst/>
            </a:prstGeom>
            <a:solidFill>
              <a:srgbClr val="66FF66"/>
            </a:solidFill>
            <a:ln w="9525" algn="ctr">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数据传送</a:t>
              </a:r>
            </a:p>
            <a:p>
              <a:pPr algn="ctr" eaLnBrk="1" hangingPunct="1"/>
              <a:r>
                <a:rPr kumimoji="1" lang="zh-CN" altLang="en-US" sz="1200" dirty="0">
                  <a:latin typeface="Montserrat" panose="00000500000000000000" pitchFamily="2" charset="0"/>
                  <a:ea typeface="微软雅黑 Light" panose="020B0502040204020203" pitchFamily="34" charset="-122"/>
                </a:rPr>
                <a:t>进程</a:t>
              </a:r>
            </a:p>
          </p:txBody>
        </p:sp>
        <p:sp>
          <p:nvSpPr>
            <p:cNvPr id="140" name="Oval 161"/>
            <p:cNvSpPr>
              <a:spLocks noChangeArrowheads="1"/>
            </p:cNvSpPr>
            <p:nvPr/>
          </p:nvSpPr>
          <p:spPr bwMode="auto">
            <a:xfrm>
              <a:off x="8167270" y="3344333"/>
              <a:ext cx="377639" cy="286999"/>
            </a:xfrm>
            <a:prstGeom prst="ellipse">
              <a:avLst/>
            </a:prstGeom>
            <a:solidFill>
              <a:srgbClr val="66FF66"/>
            </a:solidFill>
            <a:ln w="9525" algn="ctr">
              <a:noFill/>
              <a:round/>
              <a:headEnd/>
              <a:tailEnd/>
            </a:ln>
            <a:effectLst/>
          </p:spPr>
          <p:txBody>
            <a:bodyPr wrap="none" anchor="ctr"/>
            <a:lstStyle/>
            <a:p>
              <a:pPr algn="ctr" eaLnBrk="1" hangingPunct="1"/>
              <a:endParaRPr kumimoji="1" lang="zh-CN" altLang="en-US" sz="1200" dirty="0">
                <a:latin typeface="Montserrat" panose="00000500000000000000" pitchFamily="2" charset="0"/>
                <a:ea typeface="微软雅黑 Light" panose="020B0502040204020203" pitchFamily="34" charset="-122"/>
              </a:endParaRPr>
            </a:p>
          </p:txBody>
        </p:sp>
        <p:sp>
          <p:nvSpPr>
            <p:cNvPr id="141" name="Oval 161"/>
            <p:cNvSpPr>
              <a:spLocks noChangeArrowheads="1"/>
            </p:cNvSpPr>
            <p:nvPr/>
          </p:nvSpPr>
          <p:spPr bwMode="auto">
            <a:xfrm>
              <a:off x="8234101" y="4022938"/>
              <a:ext cx="377639" cy="286999"/>
            </a:xfrm>
            <a:prstGeom prst="ellipse">
              <a:avLst/>
            </a:prstGeom>
            <a:solidFill>
              <a:srgbClr val="66FF66"/>
            </a:solidFill>
            <a:ln w="9525" algn="ctr">
              <a:noFill/>
              <a:round/>
              <a:headEnd/>
              <a:tailEnd/>
            </a:ln>
            <a:effectLst/>
          </p:spPr>
          <p:txBody>
            <a:bodyPr wrap="none" anchor="ctr"/>
            <a:lstStyle/>
            <a:p>
              <a:pPr algn="ctr" eaLnBrk="1" hangingPunct="1"/>
              <a:endParaRPr kumimoji="1" lang="zh-CN" altLang="en-US" sz="1200" dirty="0">
                <a:latin typeface="Montserrat" panose="00000500000000000000" pitchFamily="2" charset="0"/>
                <a:ea typeface="微软雅黑 Light" panose="020B0502040204020203" pitchFamily="34" charset="-122"/>
              </a:endParaRPr>
            </a:p>
          </p:txBody>
        </p:sp>
      </p:grpSp>
      <p:sp>
        <p:nvSpPr>
          <p:cNvPr id="3" name="矩形 2"/>
          <p:cNvSpPr/>
          <p:nvPr/>
        </p:nvSpPr>
        <p:spPr>
          <a:xfrm>
            <a:off x="5758298" y="2102452"/>
            <a:ext cx="377026" cy="338554"/>
          </a:xfrm>
          <a:prstGeom prst="rect">
            <a:avLst/>
          </a:prstGeom>
        </p:spPr>
        <p:txBody>
          <a:bodyPr wrap="none">
            <a:spAutoFit/>
          </a:bodyPr>
          <a:lstStyle/>
          <a:p>
            <a:r>
              <a:rPr lang="en-US" altLang="zh-CN" sz="1600" dirty="0">
                <a:solidFill>
                  <a:srgbClr val="C00000"/>
                </a:solidFill>
                <a:latin typeface="Montserrat" panose="00000500000000000000" pitchFamily="2" charset="0"/>
                <a:ea typeface="微软雅黑 Light" panose="020B0502040204020203" pitchFamily="34" charset="-122"/>
              </a:rPr>
              <a:t>21</a:t>
            </a:r>
            <a:endParaRPr lang="zh-CN" altLang="en-US" sz="1600" dirty="0">
              <a:solidFill>
                <a:srgbClr val="C00000"/>
              </a:solidFill>
              <a:latin typeface="Montserrat" panose="00000500000000000000" pitchFamily="2" charset="0"/>
              <a:ea typeface="微软雅黑 Light" panose="020B0502040204020203" pitchFamily="34" charset="-122"/>
            </a:endParaRPr>
          </a:p>
        </p:txBody>
      </p:sp>
      <p:sp>
        <p:nvSpPr>
          <p:cNvPr id="142" name="矩形 141"/>
          <p:cNvSpPr/>
          <p:nvPr/>
        </p:nvSpPr>
        <p:spPr>
          <a:xfrm>
            <a:off x="5758298" y="2759387"/>
            <a:ext cx="437940" cy="338554"/>
          </a:xfrm>
          <a:prstGeom prst="rect">
            <a:avLst/>
          </a:prstGeom>
        </p:spPr>
        <p:txBody>
          <a:bodyPr wrap="none">
            <a:spAutoFit/>
          </a:bodyPr>
          <a:lstStyle/>
          <a:p>
            <a:r>
              <a:rPr lang="en-US" altLang="zh-CN" sz="1600" dirty="0">
                <a:solidFill>
                  <a:srgbClr val="C00000"/>
                </a:solidFill>
                <a:latin typeface="Montserrat" panose="00000500000000000000" pitchFamily="2" charset="0"/>
                <a:ea typeface="微软雅黑 Light" panose="020B0502040204020203" pitchFamily="34" charset="-122"/>
              </a:rPr>
              <a:t>20</a:t>
            </a:r>
            <a:endParaRPr lang="zh-CN" altLang="en-US" sz="1600" dirty="0">
              <a:solidFill>
                <a:srgbClr val="C00000"/>
              </a:solidFill>
              <a:latin typeface="Montserrat" panose="00000500000000000000" pitchFamily="2" charset="0"/>
              <a:ea typeface="微软雅黑 Light" panose="020B0502040204020203" pitchFamily="34" charset="-122"/>
            </a:endParaRPr>
          </a:p>
        </p:txBody>
      </p:sp>
      <p:grpSp>
        <p:nvGrpSpPr>
          <p:cNvPr id="17" name="组合 16"/>
          <p:cNvGrpSpPr/>
          <p:nvPr/>
        </p:nvGrpSpPr>
        <p:grpSpPr>
          <a:xfrm>
            <a:off x="4725624" y="1032110"/>
            <a:ext cx="2391084" cy="1344396"/>
            <a:chOff x="4725624" y="1040988"/>
            <a:chExt cx="2391084" cy="1344396"/>
          </a:xfrm>
        </p:grpSpPr>
        <p:sp>
          <p:nvSpPr>
            <p:cNvPr id="4" name="矩形 3"/>
            <p:cNvSpPr/>
            <p:nvPr/>
          </p:nvSpPr>
          <p:spPr>
            <a:xfrm>
              <a:off x="4725624" y="1040988"/>
              <a:ext cx="2391084" cy="461665"/>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在整个会话期间一直保持打开。</a:t>
              </a:r>
              <a:endParaRPr lang="en-US" altLang="zh-CN" sz="1200" dirty="0">
                <a:latin typeface="Montserrat" panose="00000500000000000000" pitchFamily="2" charset="0"/>
                <a:ea typeface="微软雅黑 Light" panose="020B0502040204020203" pitchFamily="34" charset="-122"/>
              </a:endParaRPr>
            </a:p>
            <a:p>
              <a:r>
                <a:rPr lang="zh-CN" altLang="en-US" sz="1200" dirty="0">
                  <a:latin typeface="Montserrat" panose="00000500000000000000" pitchFamily="2" charset="0"/>
                  <a:ea typeface="微软雅黑 Light" panose="020B0502040204020203" pitchFamily="34" charset="-122"/>
                </a:rPr>
                <a:t>传输 </a:t>
              </a:r>
              <a:r>
                <a:rPr lang="en-US" altLang="zh-CN" sz="1200" dirty="0">
                  <a:latin typeface="Montserrat" panose="00000500000000000000" pitchFamily="2" charset="0"/>
                  <a:ea typeface="微软雅黑 Light" panose="020B0502040204020203" pitchFamily="34" charset="-122"/>
                </a:rPr>
                <a:t>FTP </a:t>
              </a:r>
              <a:r>
                <a:rPr lang="zh-CN" altLang="en-US" sz="1200" dirty="0">
                  <a:latin typeface="Montserrat" panose="00000500000000000000" pitchFamily="2" charset="0"/>
                  <a:ea typeface="微软雅黑 Light" panose="020B0502040204020203" pitchFamily="34" charset="-122"/>
                </a:rPr>
                <a:t>客户发出的传送请求。</a:t>
              </a:r>
            </a:p>
          </p:txBody>
        </p:sp>
        <p:cxnSp>
          <p:nvCxnSpPr>
            <p:cNvPr id="7" name="直接箭头连接符 6"/>
            <p:cNvCxnSpPr/>
            <p:nvPr/>
          </p:nvCxnSpPr>
          <p:spPr>
            <a:xfrm>
              <a:off x="5463220" y="1491442"/>
              <a:ext cx="327934" cy="893942"/>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grpSp>
        <p:nvGrpSpPr>
          <p:cNvPr id="18" name="组合 17"/>
          <p:cNvGrpSpPr/>
          <p:nvPr/>
        </p:nvGrpSpPr>
        <p:grpSpPr>
          <a:xfrm>
            <a:off x="5863994" y="1579885"/>
            <a:ext cx="2600659" cy="722473"/>
            <a:chOff x="5863994" y="1588763"/>
            <a:chExt cx="2600659" cy="722473"/>
          </a:xfrm>
        </p:grpSpPr>
        <p:sp>
          <p:nvSpPr>
            <p:cNvPr id="144" name="矩形 143"/>
            <p:cNvSpPr/>
            <p:nvPr/>
          </p:nvSpPr>
          <p:spPr>
            <a:xfrm>
              <a:off x="5863994" y="1588763"/>
              <a:ext cx="2600659" cy="276999"/>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收到客户连接请求后有主进程创建。</a:t>
              </a:r>
            </a:p>
          </p:txBody>
        </p:sp>
        <p:cxnSp>
          <p:nvCxnSpPr>
            <p:cNvPr id="145" name="直接箭头连接符 144"/>
            <p:cNvCxnSpPr/>
            <p:nvPr/>
          </p:nvCxnSpPr>
          <p:spPr>
            <a:xfrm flipH="1">
              <a:off x="6916110" y="1849446"/>
              <a:ext cx="70444" cy="461790"/>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grpSp>
        <p:nvGrpSpPr>
          <p:cNvPr id="19" name="组合 18"/>
          <p:cNvGrpSpPr/>
          <p:nvPr/>
        </p:nvGrpSpPr>
        <p:grpSpPr>
          <a:xfrm>
            <a:off x="4847067" y="3159212"/>
            <a:ext cx="3688804" cy="1224795"/>
            <a:chOff x="4847067" y="3168090"/>
            <a:chExt cx="3688804" cy="1224795"/>
          </a:xfrm>
        </p:grpSpPr>
        <p:sp>
          <p:nvSpPr>
            <p:cNvPr id="5" name="矩形 4"/>
            <p:cNvSpPr/>
            <p:nvPr/>
          </p:nvSpPr>
          <p:spPr>
            <a:xfrm>
              <a:off x="4847067" y="3931220"/>
              <a:ext cx="3688804" cy="461665"/>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收到客户发送来的文件传输请求后由控制进程创建。</a:t>
              </a:r>
              <a:endParaRPr lang="en-US" altLang="zh-CN" sz="1200" dirty="0">
                <a:latin typeface="Montserrat" panose="00000500000000000000" pitchFamily="2" charset="0"/>
                <a:ea typeface="微软雅黑 Light" panose="020B0502040204020203" pitchFamily="34" charset="-122"/>
              </a:endParaRPr>
            </a:p>
            <a:p>
              <a:r>
                <a:rPr lang="zh-CN" altLang="en-US" sz="1200" dirty="0">
                  <a:latin typeface="Montserrat" panose="00000500000000000000" pitchFamily="2" charset="0"/>
                  <a:ea typeface="微软雅黑 Light" panose="020B0502040204020203" pitchFamily="34" charset="-122"/>
                </a:rPr>
                <a:t>实际完成文件的传送。传送完毕后关闭。</a:t>
              </a:r>
            </a:p>
          </p:txBody>
        </p:sp>
        <p:cxnSp>
          <p:nvCxnSpPr>
            <p:cNvPr id="146" name="直接箭头连接符 145"/>
            <p:cNvCxnSpPr/>
            <p:nvPr/>
          </p:nvCxnSpPr>
          <p:spPr>
            <a:xfrm flipV="1">
              <a:off x="5690124" y="3168090"/>
              <a:ext cx="703584" cy="794398"/>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grpSp>
        <p:nvGrpSpPr>
          <p:cNvPr id="20" name="组合 19"/>
          <p:cNvGrpSpPr/>
          <p:nvPr/>
        </p:nvGrpSpPr>
        <p:grpSpPr>
          <a:xfrm>
            <a:off x="1252514" y="3108857"/>
            <a:ext cx="2886864" cy="1145709"/>
            <a:chOff x="1252514" y="3117735"/>
            <a:chExt cx="2886864" cy="1145709"/>
          </a:xfrm>
        </p:grpSpPr>
        <p:sp>
          <p:nvSpPr>
            <p:cNvPr id="143" name="矩形 142"/>
            <p:cNvSpPr/>
            <p:nvPr/>
          </p:nvSpPr>
          <p:spPr>
            <a:xfrm>
              <a:off x="1252514" y="3986445"/>
              <a:ext cx="2886864" cy="276999"/>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动态创建。传输文件。传送完毕后释放。</a:t>
              </a:r>
              <a:endParaRPr lang="en-US" altLang="zh-CN" sz="1200" dirty="0">
                <a:latin typeface="Montserrat" panose="00000500000000000000" pitchFamily="2" charset="0"/>
                <a:ea typeface="微软雅黑 Light" panose="020B0502040204020203" pitchFamily="34" charset="-122"/>
              </a:endParaRPr>
            </a:p>
          </p:txBody>
        </p:sp>
        <p:cxnSp>
          <p:nvCxnSpPr>
            <p:cNvPr id="147" name="直接箭头连接符 146"/>
            <p:cNvCxnSpPr/>
            <p:nvPr/>
          </p:nvCxnSpPr>
          <p:spPr>
            <a:xfrm flipV="1">
              <a:off x="3223892" y="3117735"/>
              <a:ext cx="241530" cy="868710"/>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sp>
        <p:nvSpPr>
          <p:cNvPr id="6" name="标题 5">
            <a:extLst>
              <a:ext uri="{FF2B5EF4-FFF2-40B4-BE49-F238E27FC236}">
                <a16:creationId xmlns:a16="http://schemas.microsoft.com/office/drawing/2014/main" id="{C488C777-5E43-E969-37EC-839A67746B7E}"/>
              </a:ext>
            </a:extLst>
          </p:cNvPr>
          <p:cNvSpPr>
            <a:spLocks noGrp="1"/>
          </p:cNvSpPr>
          <p:nvPr>
            <p:ph type="title"/>
          </p:nvPr>
        </p:nvSpPr>
        <p:spPr>
          <a:xfrm>
            <a:off x="2880000" y="144000"/>
            <a:ext cx="3384000" cy="338554"/>
          </a:xfrm>
        </p:spPr>
        <p:txBody>
          <a:bodyPr/>
          <a:lstStyle/>
          <a:p>
            <a:r>
              <a:rPr lang="en-US" altLang="zh-CN" dirty="0"/>
              <a:t>FTP </a:t>
            </a:r>
            <a:r>
              <a:rPr lang="zh-CN" altLang="en-US" dirty="0"/>
              <a:t>使用两个不同的端口号</a:t>
            </a:r>
          </a:p>
        </p:txBody>
      </p:sp>
    </p:spTree>
    <p:extLst>
      <p:ext uri="{BB962C8B-B14F-4D97-AF65-F5344CB8AC3E}">
        <p14:creationId xmlns:p14="http://schemas.microsoft.com/office/powerpoint/2010/main" val="5206649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14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142" grpId="0"/>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C0F3D33-5D01-0691-169C-68DFDF4DA179}"/>
              </a:ext>
            </a:extLst>
          </p:cNvPr>
          <p:cNvSpPr>
            <a:spLocks noGrp="1"/>
          </p:cNvSpPr>
          <p:nvPr>
            <p:ph type="title"/>
          </p:nvPr>
        </p:nvSpPr>
        <p:spPr>
          <a:xfrm>
            <a:off x="485999" y="174482"/>
            <a:ext cx="8171999" cy="338554"/>
          </a:xfrm>
        </p:spPr>
        <p:txBody>
          <a:bodyPr/>
          <a:lstStyle/>
          <a:p>
            <a:r>
              <a:rPr lang="en-US" altLang="zh-CN" dirty="0"/>
              <a:t>NFS </a:t>
            </a:r>
            <a:r>
              <a:rPr lang="zh-CN" altLang="en-US" dirty="0"/>
              <a:t>采用的思路</a:t>
            </a:r>
          </a:p>
        </p:txBody>
      </p:sp>
      <p:sp>
        <p:nvSpPr>
          <p:cNvPr id="3" name="内容占位符 2">
            <a:extLst>
              <a:ext uri="{FF2B5EF4-FFF2-40B4-BE49-F238E27FC236}">
                <a16:creationId xmlns:a16="http://schemas.microsoft.com/office/drawing/2014/main" id="{CE93C98D-0D6B-1A85-5D61-026B79A17F6B}"/>
              </a:ext>
            </a:extLst>
          </p:cNvPr>
          <p:cNvSpPr>
            <a:spLocks noGrp="1"/>
          </p:cNvSpPr>
          <p:nvPr>
            <p:ph sz="quarter" idx="11"/>
          </p:nvPr>
        </p:nvSpPr>
        <p:spPr>
          <a:xfrm>
            <a:off x="486000" y="687518"/>
            <a:ext cx="8172000" cy="4079035"/>
          </a:xfrm>
        </p:spPr>
        <p:txBody>
          <a:bodyPr/>
          <a:lstStyle/>
          <a:p>
            <a:r>
              <a:rPr lang="en-US" altLang="zh-CN" dirty="0"/>
              <a:t>FTP </a:t>
            </a:r>
            <a:r>
              <a:rPr lang="zh-CN" altLang="en-US" dirty="0"/>
              <a:t>并非对所有的数据传输都是最佳的：仅能访问副本</a:t>
            </a:r>
            <a:endParaRPr lang="en-US" altLang="zh-CN" dirty="0"/>
          </a:p>
          <a:p>
            <a:r>
              <a:rPr lang="en-US" altLang="zh-CN" dirty="0"/>
              <a:t>NFS </a:t>
            </a:r>
            <a:r>
              <a:rPr lang="zh-CN" altLang="en-US" dirty="0"/>
              <a:t>允许应用进程打开一个远地文件，并能在该文件的某一个特定的位置上开始读写数据</a:t>
            </a:r>
          </a:p>
          <a:p>
            <a:r>
              <a:rPr lang="en-US" altLang="zh-CN" dirty="0"/>
              <a:t>NFS </a:t>
            </a:r>
            <a:r>
              <a:rPr lang="zh-CN" altLang="en-US" dirty="0"/>
              <a:t>可使用户只复制一个大文件中的一个很小的片段，而不需要复制整个大文件</a:t>
            </a:r>
          </a:p>
          <a:p>
            <a:r>
              <a:rPr lang="en-US" altLang="zh-CN" dirty="0"/>
              <a:t>NFS </a:t>
            </a:r>
            <a:r>
              <a:rPr lang="zh-CN" altLang="en-US" dirty="0"/>
              <a:t>在网络上传送的只是少量的修改数据</a:t>
            </a:r>
          </a:p>
          <a:p>
            <a:endParaRPr lang="zh-CN" altLang="en-US" dirty="0"/>
          </a:p>
        </p:txBody>
      </p:sp>
    </p:spTree>
    <p:extLst>
      <p:ext uri="{BB962C8B-B14F-4D97-AF65-F5344CB8AC3E}">
        <p14:creationId xmlns:p14="http://schemas.microsoft.com/office/powerpoint/2010/main" val="19433642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284DFA9-F8BF-FEBE-C2C5-D8E69A9BF303}"/>
              </a:ext>
            </a:extLst>
          </p:cNvPr>
          <p:cNvSpPr>
            <a:spLocks noGrp="1"/>
          </p:cNvSpPr>
          <p:nvPr>
            <p:ph type="title"/>
          </p:nvPr>
        </p:nvSpPr>
        <p:spPr>
          <a:xfrm>
            <a:off x="485999" y="174482"/>
            <a:ext cx="8171999" cy="338554"/>
          </a:xfrm>
        </p:spPr>
        <p:txBody>
          <a:bodyPr/>
          <a:lstStyle/>
          <a:p>
            <a:r>
              <a:rPr lang="en-US" altLang="zh-CN" dirty="0"/>
              <a:t>6.2.3  </a:t>
            </a:r>
            <a:r>
              <a:rPr lang="zh-CN" altLang="en-US" dirty="0"/>
              <a:t>简单文件传送协议 </a:t>
            </a:r>
            <a:r>
              <a:rPr lang="en-US" altLang="zh-CN" dirty="0"/>
              <a:t>TFTP</a:t>
            </a:r>
            <a:endParaRPr lang="zh-CN" altLang="en-US" dirty="0"/>
          </a:p>
        </p:txBody>
      </p:sp>
      <p:sp>
        <p:nvSpPr>
          <p:cNvPr id="3" name="内容占位符 2">
            <a:extLst>
              <a:ext uri="{FF2B5EF4-FFF2-40B4-BE49-F238E27FC236}">
                <a16:creationId xmlns:a16="http://schemas.microsoft.com/office/drawing/2014/main" id="{4B65EF68-F5D4-B589-7075-081420450926}"/>
              </a:ext>
            </a:extLst>
          </p:cNvPr>
          <p:cNvSpPr>
            <a:spLocks noGrp="1"/>
          </p:cNvSpPr>
          <p:nvPr>
            <p:ph sz="quarter" idx="11"/>
          </p:nvPr>
        </p:nvSpPr>
        <p:spPr>
          <a:xfrm>
            <a:off x="486000" y="687518"/>
            <a:ext cx="8172000" cy="4079035"/>
          </a:xfrm>
        </p:spPr>
        <p:txBody>
          <a:bodyPr/>
          <a:lstStyle/>
          <a:p>
            <a:r>
              <a:rPr lang="en-US" altLang="zh-CN" dirty="0"/>
              <a:t>TFTP (Trivial File Transfer Protocol) </a:t>
            </a:r>
            <a:r>
              <a:rPr lang="zh-CN" altLang="en-US" dirty="0"/>
              <a:t>是一个很小且易于实现的文件传送协议</a:t>
            </a:r>
          </a:p>
          <a:p>
            <a:r>
              <a:rPr lang="zh-CN" altLang="en-US" dirty="0"/>
              <a:t>使用客户服务器方式和使用 </a:t>
            </a:r>
            <a:r>
              <a:rPr lang="en-US" altLang="zh-CN" dirty="0"/>
              <a:t>UDP </a:t>
            </a:r>
            <a:r>
              <a:rPr lang="zh-CN" altLang="en-US" dirty="0"/>
              <a:t>数据报，因此 </a:t>
            </a:r>
            <a:r>
              <a:rPr lang="en-US" altLang="zh-CN" dirty="0"/>
              <a:t>TFTP </a:t>
            </a:r>
            <a:r>
              <a:rPr lang="zh-CN" altLang="en-US" dirty="0"/>
              <a:t>需要有自己的差错改正措施</a:t>
            </a:r>
          </a:p>
          <a:p>
            <a:r>
              <a:rPr lang="zh-CN" altLang="en-US" dirty="0"/>
              <a:t>只支持文件传输，不支持交互</a:t>
            </a:r>
          </a:p>
          <a:p>
            <a:r>
              <a:rPr lang="zh-CN" altLang="en-US" dirty="0"/>
              <a:t>没有庞大的命令集，没有列目录的功能，也不能对用户进行身份鉴别</a:t>
            </a:r>
            <a:endParaRPr lang="en-US" altLang="zh-CN" dirty="0"/>
          </a:p>
          <a:p>
            <a:r>
              <a:rPr lang="zh-CN" altLang="en-US" dirty="0"/>
              <a:t>优点：</a:t>
            </a:r>
            <a:endParaRPr lang="en-US" altLang="zh-CN" dirty="0"/>
          </a:p>
          <a:p>
            <a:pPr lvl="1"/>
            <a:r>
              <a:rPr lang="zh-CN" altLang="en-US" dirty="0"/>
              <a:t>可用于 </a:t>
            </a:r>
            <a:r>
              <a:rPr lang="en-US" altLang="zh-CN" dirty="0"/>
              <a:t>UDP </a:t>
            </a:r>
            <a:r>
              <a:rPr lang="zh-CN" altLang="en-US" dirty="0"/>
              <a:t>环境</a:t>
            </a:r>
            <a:endParaRPr lang="en-US" altLang="zh-CN" dirty="0"/>
          </a:p>
          <a:p>
            <a:pPr lvl="1"/>
            <a:r>
              <a:rPr lang="zh-CN" altLang="en-US" dirty="0"/>
              <a:t>代码所占的内存较小</a:t>
            </a:r>
          </a:p>
          <a:p>
            <a:endParaRPr lang="zh-CN" altLang="en-US" dirty="0"/>
          </a:p>
        </p:txBody>
      </p:sp>
    </p:spTree>
    <p:extLst>
      <p:ext uri="{BB962C8B-B14F-4D97-AF65-F5344CB8AC3E}">
        <p14:creationId xmlns:p14="http://schemas.microsoft.com/office/powerpoint/2010/main" val="42789788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242C1CA-9B2E-98E7-A059-1288125D50BF}"/>
              </a:ext>
            </a:extLst>
          </p:cNvPr>
          <p:cNvSpPr>
            <a:spLocks noGrp="1"/>
          </p:cNvSpPr>
          <p:nvPr>
            <p:ph type="title"/>
          </p:nvPr>
        </p:nvSpPr>
        <p:spPr>
          <a:xfrm>
            <a:off x="485999" y="174482"/>
            <a:ext cx="8171999" cy="338554"/>
          </a:xfrm>
        </p:spPr>
        <p:txBody>
          <a:bodyPr/>
          <a:lstStyle/>
          <a:p>
            <a:r>
              <a:rPr lang="en-US" altLang="zh-CN" dirty="0"/>
              <a:t>6.2.3  </a:t>
            </a:r>
            <a:r>
              <a:rPr lang="zh-CN" altLang="en-US" dirty="0"/>
              <a:t>简单文件传送协议 </a:t>
            </a:r>
            <a:r>
              <a:rPr lang="en-US" altLang="zh-CN" dirty="0"/>
              <a:t>TFTP - </a:t>
            </a:r>
            <a:r>
              <a:rPr lang="zh-CN" altLang="en-US" dirty="0"/>
              <a:t>特点</a:t>
            </a:r>
          </a:p>
        </p:txBody>
      </p:sp>
      <p:sp>
        <p:nvSpPr>
          <p:cNvPr id="3" name="内容占位符 2">
            <a:extLst>
              <a:ext uri="{FF2B5EF4-FFF2-40B4-BE49-F238E27FC236}">
                <a16:creationId xmlns:a16="http://schemas.microsoft.com/office/drawing/2014/main" id="{BD732D58-3499-A04E-51D2-66FCF42AD6FA}"/>
              </a:ext>
            </a:extLst>
          </p:cNvPr>
          <p:cNvSpPr>
            <a:spLocks noGrp="1"/>
          </p:cNvSpPr>
          <p:nvPr>
            <p:ph sz="quarter" idx="11"/>
          </p:nvPr>
        </p:nvSpPr>
        <p:spPr>
          <a:xfrm>
            <a:off x="486000" y="687518"/>
            <a:ext cx="8172000" cy="4079035"/>
          </a:xfrm>
        </p:spPr>
        <p:txBody>
          <a:bodyPr/>
          <a:lstStyle/>
          <a:p>
            <a:r>
              <a:rPr lang="zh-CN" altLang="en-US" dirty="0"/>
              <a:t>每次传送的数据报文中有 </a:t>
            </a:r>
            <a:r>
              <a:rPr lang="en-US" altLang="zh-CN" dirty="0"/>
              <a:t>512 </a:t>
            </a:r>
            <a:r>
              <a:rPr lang="zh-CN" altLang="en-US" dirty="0"/>
              <a:t>字节的数据，但最后一次可不足 </a:t>
            </a:r>
            <a:r>
              <a:rPr lang="en-US" altLang="zh-CN" dirty="0"/>
              <a:t>512 </a:t>
            </a:r>
            <a:r>
              <a:rPr lang="zh-CN" altLang="en-US" dirty="0"/>
              <a:t>字节</a:t>
            </a:r>
          </a:p>
          <a:p>
            <a:r>
              <a:rPr lang="zh-CN" altLang="en-US" dirty="0"/>
              <a:t>数据报文按序编号，从 </a:t>
            </a:r>
            <a:r>
              <a:rPr lang="en-US" altLang="zh-CN" dirty="0"/>
              <a:t>1 </a:t>
            </a:r>
            <a:r>
              <a:rPr lang="zh-CN" altLang="en-US" dirty="0"/>
              <a:t>开始</a:t>
            </a:r>
          </a:p>
          <a:p>
            <a:r>
              <a:rPr lang="zh-CN" altLang="en-US" dirty="0"/>
              <a:t>支持 </a:t>
            </a:r>
            <a:r>
              <a:rPr lang="en-US" altLang="zh-CN" dirty="0"/>
              <a:t>ASCII </a:t>
            </a:r>
            <a:r>
              <a:rPr lang="zh-CN" altLang="en-US" dirty="0"/>
              <a:t>码或二进制传送</a:t>
            </a:r>
          </a:p>
          <a:p>
            <a:r>
              <a:rPr lang="zh-CN" altLang="en-US" dirty="0"/>
              <a:t>可对文件进行读或写</a:t>
            </a:r>
          </a:p>
          <a:p>
            <a:r>
              <a:rPr lang="zh-CN" altLang="en-US" dirty="0"/>
              <a:t>使用很简单的首部</a:t>
            </a:r>
          </a:p>
          <a:p>
            <a:endParaRPr lang="zh-CN" altLang="en-US" dirty="0"/>
          </a:p>
        </p:txBody>
      </p:sp>
    </p:spTree>
    <p:extLst>
      <p:ext uri="{BB962C8B-B14F-4D97-AF65-F5344CB8AC3E}">
        <p14:creationId xmlns:p14="http://schemas.microsoft.com/office/powerpoint/2010/main" val="24009695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A32AB05-770B-944E-78C0-33FC3ADE4E1C}"/>
              </a:ext>
            </a:extLst>
          </p:cNvPr>
          <p:cNvSpPr>
            <a:spLocks noGrp="1"/>
          </p:cNvSpPr>
          <p:nvPr>
            <p:ph type="title"/>
          </p:nvPr>
        </p:nvSpPr>
        <p:spPr>
          <a:xfrm>
            <a:off x="485999" y="174482"/>
            <a:ext cx="8171999" cy="338554"/>
          </a:xfrm>
        </p:spPr>
        <p:txBody>
          <a:bodyPr/>
          <a:lstStyle/>
          <a:p>
            <a:r>
              <a:rPr lang="en-US" altLang="zh-CN" dirty="0"/>
              <a:t>TFTP </a:t>
            </a:r>
            <a:r>
              <a:rPr lang="zh-CN" altLang="en-US" dirty="0"/>
              <a:t>的工作很像停止等待协议</a:t>
            </a:r>
          </a:p>
        </p:txBody>
      </p:sp>
      <p:sp>
        <p:nvSpPr>
          <p:cNvPr id="3" name="内容占位符 2">
            <a:extLst>
              <a:ext uri="{FF2B5EF4-FFF2-40B4-BE49-F238E27FC236}">
                <a16:creationId xmlns:a16="http://schemas.microsoft.com/office/drawing/2014/main" id="{BF419927-F0D5-DACB-7D4B-FA2C170BE2CB}"/>
              </a:ext>
            </a:extLst>
          </p:cNvPr>
          <p:cNvSpPr>
            <a:spLocks noGrp="1"/>
          </p:cNvSpPr>
          <p:nvPr>
            <p:ph sz="quarter" idx="11"/>
          </p:nvPr>
        </p:nvSpPr>
        <p:spPr>
          <a:xfrm>
            <a:off x="486000" y="687518"/>
            <a:ext cx="8172000" cy="4079035"/>
          </a:xfrm>
        </p:spPr>
        <p:txBody>
          <a:bodyPr/>
          <a:lstStyle/>
          <a:p>
            <a:r>
              <a:rPr lang="zh-CN" altLang="en-US" dirty="0"/>
              <a:t>发送完一个文件块后就等待对方的确认，确认时应指明所确认的块编号</a:t>
            </a:r>
          </a:p>
          <a:p>
            <a:r>
              <a:rPr lang="zh-CN" altLang="en-US" dirty="0"/>
              <a:t>发完数据后在规定时间内收不到确认就要重发数据 </a:t>
            </a:r>
            <a:r>
              <a:rPr lang="en-US" altLang="zh-CN" dirty="0"/>
              <a:t>PDU</a:t>
            </a:r>
            <a:endParaRPr lang="zh-CN" altLang="en-US" dirty="0"/>
          </a:p>
          <a:p>
            <a:r>
              <a:rPr lang="zh-CN" altLang="en-US" dirty="0"/>
              <a:t>发送确认 </a:t>
            </a:r>
            <a:r>
              <a:rPr lang="en-US" altLang="zh-CN" dirty="0"/>
              <a:t>PDU </a:t>
            </a:r>
            <a:r>
              <a:rPr lang="zh-CN" altLang="en-US" dirty="0"/>
              <a:t>的一方若在规定时间内未收到下一个文件块，需重发确认 </a:t>
            </a:r>
            <a:r>
              <a:rPr lang="en-US" altLang="zh-CN" dirty="0"/>
              <a:t>PDU</a:t>
            </a:r>
            <a:r>
              <a:rPr lang="zh-CN" altLang="en-US" dirty="0"/>
              <a:t>，保证文件的传送不致因某一个数据报的丢失而告失败</a:t>
            </a:r>
          </a:p>
          <a:p>
            <a:endParaRPr lang="zh-CN" altLang="en-US" dirty="0"/>
          </a:p>
        </p:txBody>
      </p:sp>
    </p:spTree>
    <p:extLst>
      <p:ext uri="{BB962C8B-B14F-4D97-AF65-F5344CB8AC3E}">
        <p14:creationId xmlns:p14="http://schemas.microsoft.com/office/powerpoint/2010/main" val="39677469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3B45E4C-28CD-90F0-5B88-6B90A258FFAB}"/>
              </a:ext>
            </a:extLst>
          </p:cNvPr>
          <p:cNvSpPr>
            <a:spLocks noGrp="1"/>
          </p:cNvSpPr>
          <p:nvPr>
            <p:ph type="title"/>
          </p:nvPr>
        </p:nvSpPr>
        <p:spPr>
          <a:xfrm>
            <a:off x="485999" y="174482"/>
            <a:ext cx="8171999" cy="338554"/>
          </a:xfrm>
        </p:spPr>
        <p:txBody>
          <a:bodyPr/>
          <a:lstStyle/>
          <a:p>
            <a:r>
              <a:rPr lang="en-US" altLang="zh-CN" dirty="0"/>
              <a:t>6.2.3  </a:t>
            </a:r>
            <a:r>
              <a:rPr lang="zh-CN" altLang="en-US" dirty="0"/>
              <a:t>简单文件传送协议 </a:t>
            </a:r>
            <a:r>
              <a:rPr lang="en-US" altLang="zh-CN" dirty="0"/>
              <a:t>TFTP - </a:t>
            </a:r>
            <a:r>
              <a:rPr lang="zh-CN" altLang="en-US" dirty="0"/>
              <a:t>工作过程</a:t>
            </a:r>
          </a:p>
        </p:txBody>
      </p:sp>
      <p:sp>
        <p:nvSpPr>
          <p:cNvPr id="3" name="内容占位符 2">
            <a:extLst>
              <a:ext uri="{FF2B5EF4-FFF2-40B4-BE49-F238E27FC236}">
                <a16:creationId xmlns:a16="http://schemas.microsoft.com/office/drawing/2014/main" id="{60F6826C-4B4F-A0A5-3D4C-9468C1F382A9}"/>
              </a:ext>
            </a:extLst>
          </p:cNvPr>
          <p:cNvSpPr>
            <a:spLocks noGrp="1"/>
          </p:cNvSpPr>
          <p:nvPr>
            <p:ph sz="quarter" idx="11"/>
          </p:nvPr>
        </p:nvSpPr>
        <p:spPr>
          <a:xfrm>
            <a:off x="486000" y="687518"/>
            <a:ext cx="8172000" cy="4079035"/>
          </a:xfrm>
        </p:spPr>
        <p:txBody>
          <a:bodyPr/>
          <a:lstStyle/>
          <a:p>
            <a:r>
              <a:rPr lang="zh-CN" altLang="en-US" dirty="0"/>
              <a:t>开始工作时，</a:t>
            </a:r>
            <a:r>
              <a:rPr lang="en-US" altLang="zh-CN" dirty="0"/>
              <a:t>TFTP </a:t>
            </a:r>
            <a:r>
              <a:rPr lang="zh-CN" altLang="en-US" dirty="0"/>
              <a:t>客户进程发送一个读请求或写请求报文给 </a:t>
            </a:r>
            <a:r>
              <a:rPr lang="en-US" altLang="zh-CN" dirty="0"/>
              <a:t>TFTP </a:t>
            </a:r>
            <a:r>
              <a:rPr lang="zh-CN" altLang="en-US" dirty="0"/>
              <a:t>服务器进程，其 </a:t>
            </a:r>
            <a:r>
              <a:rPr lang="en-US" altLang="zh-CN" dirty="0"/>
              <a:t>UDP </a:t>
            </a:r>
            <a:r>
              <a:rPr lang="zh-CN" altLang="en-US" dirty="0"/>
              <a:t>熟知端口号码为 </a:t>
            </a:r>
            <a:r>
              <a:rPr lang="en-US" altLang="zh-CN" dirty="0"/>
              <a:t>69</a:t>
            </a:r>
            <a:endParaRPr lang="zh-CN" altLang="en-US" dirty="0"/>
          </a:p>
          <a:p>
            <a:r>
              <a:rPr lang="en-US" altLang="zh-CN" dirty="0"/>
              <a:t>TFTP </a:t>
            </a:r>
            <a:r>
              <a:rPr lang="zh-CN" altLang="en-US" dirty="0"/>
              <a:t>服务器进程选择一个新的端口和 </a:t>
            </a:r>
            <a:r>
              <a:rPr lang="en-US" altLang="zh-CN" dirty="0"/>
              <a:t>TFTP </a:t>
            </a:r>
            <a:r>
              <a:rPr lang="zh-CN" altLang="en-US" dirty="0"/>
              <a:t>客户进程进行通信</a:t>
            </a:r>
          </a:p>
          <a:p>
            <a:r>
              <a:rPr lang="zh-CN" altLang="en-US" dirty="0"/>
              <a:t>若文件长度恰好为 </a:t>
            </a:r>
            <a:r>
              <a:rPr lang="en-US" altLang="zh-CN" dirty="0"/>
              <a:t>512 </a:t>
            </a:r>
            <a:r>
              <a:rPr lang="zh-CN" altLang="en-US" dirty="0"/>
              <a:t>字节的整数倍，则在文件传送完毕后，还必须在最后发送一个只含首部而无数据的数据报文</a:t>
            </a:r>
          </a:p>
          <a:p>
            <a:r>
              <a:rPr lang="zh-CN" altLang="en-US" dirty="0"/>
              <a:t>若文件长度不是 </a:t>
            </a:r>
            <a:r>
              <a:rPr lang="en-US" altLang="zh-CN" dirty="0"/>
              <a:t>512 </a:t>
            </a:r>
            <a:r>
              <a:rPr lang="zh-CN" altLang="en-US" dirty="0"/>
              <a:t>字节的整数倍，则最后传送数据报文的数据字段一定不满 </a:t>
            </a:r>
            <a:r>
              <a:rPr lang="en-US" altLang="zh-CN" dirty="0"/>
              <a:t>512 </a:t>
            </a:r>
            <a:r>
              <a:rPr lang="zh-CN" altLang="en-US" dirty="0"/>
              <a:t>字节，作为文件结束的标志</a:t>
            </a:r>
          </a:p>
          <a:p>
            <a:endParaRPr lang="zh-CN" altLang="en-US" dirty="0"/>
          </a:p>
        </p:txBody>
      </p:sp>
    </p:spTree>
    <p:extLst>
      <p:ext uri="{BB962C8B-B14F-4D97-AF65-F5344CB8AC3E}">
        <p14:creationId xmlns:p14="http://schemas.microsoft.com/office/powerpoint/2010/main" val="373473556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8">
            <a:extLst>
              <a:ext uri="{FF2B5EF4-FFF2-40B4-BE49-F238E27FC236}">
                <a16:creationId xmlns:a16="http://schemas.microsoft.com/office/drawing/2014/main" id="{C1CF29BE-F1BD-DDE3-D698-601384607B87}"/>
              </a:ext>
            </a:extLst>
          </p:cNvPr>
          <p:cNvSpPr>
            <a:spLocks noChangeArrowheads="1"/>
          </p:cNvSpPr>
          <p:nvPr/>
        </p:nvSpPr>
        <p:spPr bwMode="auto">
          <a:xfrm>
            <a:off x="3563766" y="1354881"/>
            <a:ext cx="4197661" cy="7892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6.3.1</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远程终端协议 </a:t>
            </a:r>
            <a:r>
              <a:rPr lang="en-US" altLang="zh-CN" sz="1600" dirty="0">
                <a:latin typeface="Montserrat" panose="00000500000000000000" pitchFamily="2" charset="0"/>
                <a:ea typeface="微软雅黑 Light" panose="020B0502040204020203" pitchFamily="34" charset="-122"/>
              </a:rPr>
              <a:t>TELNET</a:t>
            </a:r>
            <a:endParaRPr lang="zh-CN" altLang="en-US"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6.3.2</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网络虚拟终端 </a:t>
            </a:r>
            <a:r>
              <a:rPr lang="en-US" altLang="zh-CN" sz="1600" dirty="0">
                <a:latin typeface="Montserrat" panose="00000500000000000000" pitchFamily="2" charset="0"/>
                <a:ea typeface="微软雅黑 Light" panose="020B0502040204020203" pitchFamily="34" charset="-122"/>
              </a:rPr>
              <a:t>NVT</a:t>
            </a:r>
          </a:p>
        </p:txBody>
      </p:sp>
      <p:sp>
        <p:nvSpPr>
          <p:cNvPr id="5" name="Rectangle 29">
            <a:extLst>
              <a:ext uri="{FF2B5EF4-FFF2-40B4-BE49-F238E27FC236}">
                <a16:creationId xmlns:a16="http://schemas.microsoft.com/office/drawing/2014/main" id="{8BFC9671-C02A-DDDA-AED2-CFC43C862424}"/>
              </a:ext>
            </a:extLst>
          </p:cNvPr>
          <p:cNvSpPr>
            <a:spLocks noChangeArrowheads="1"/>
          </p:cNvSpPr>
          <p:nvPr/>
        </p:nvSpPr>
        <p:spPr bwMode="auto">
          <a:xfrm>
            <a:off x="3563766" y="711857"/>
            <a:ext cx="5090116"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solidFill>
                  <a:srgbClr val="FF0000"/>
                </a:solidFill>
                <a:latin typeface="Montserrat" panose="00000500000000000000" pitchFamily="2" charset="0"/>
                <a:ea typeface="微软雅黑 Light" panose="020B0502040204020203" pitchFamily="34" charset="-122"/>
              </a:rPr>
              <a:t>6.3</a:t>
            </a:r>
            <a:r>
              <a:rPr lang="en-US" altLang="zh-CN" sz="2000" dirty="0">
                <a:latin typeface="Montserrat" panose="00000500000000000000" pitchFamily="2" charset="0"/>
                <a:ea typeface="微软雅黑 Light" panose="020B0502040204020203" pitchFamily="34" charset="-122"/>
              </a:rPr>
              <a:t> </a:t>
            </a:r>
            <a:r>
              <a:rPr lang="zh-CN" altLang="en-US" sz="2000" dirty="0">
                <a:latin typeface="Montserrat" panose="00000500000000000000" pitchFamily="2" charset="0"/>
                <a:ea typeface="微软雅黑 Light" panose="020B0502040204020203" pitchFamily="34" charset="-122"/>
              </a:rPr>
              <a:t>远程终端协议 </a:t>
            </a:r>
            <a:r>
              <a:rPr lang="en-US" altLang="zh-CN" sz="2000" dirty="0">
                <a:latin typeface="Montserrat" panose="00000500000000000000" pitchFamily="2" charset="0"/>
                <a:ea typeface="微软雅黑 Light" panose="020B0502040204020203" pitchFamily="34" charset="-122"/>
              </a:rPr>
              <a:t>TELNET</a:t>
            </a:r>
            <a:endParaRPr lang="zh-CN" altLang="en-US" sz="20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1175922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9B66AF9-C36E-01F4-A906-184D85E3E384}"/>
              </a:ext>
            </a:extLst>
          </p:cNvPr>
          <p:cNvSpPr>
            <a:spLocks noGrp="1"/>
          </p:cNvSpPr>
          <p:nvPr>
            <p:ph type="title"/>
          </p:nvPr>
        </p:nvSpPr>
        <p:spPr>
          <a:xfrm>
            <a:off x="485999" y="174482"/>
            <a:ext cx="8171999" cy="338554"/>
          </a:xfrm>
        </p:spPr>
        <p:txBody>
          <a:bodyPr/>
          <a:lstStyle/>
          <a:p>
            <a:r>
              <a:rPr lang="en-US" altLang="zh-CN" dirty="0"/>
              <a:t>6.3  </a:t>
            </a:r>
            <a:r>
              <a:rPr lang="zh-CN" altLang="en-US" dirty="0"/>
              <a:t>远程终端协议 </a:t>
            </a:r>
            <a:r>
              <a:rPr lang="en-US" altLang="zh-CN" dirty="0"/>
              <a:t>TELNET</a:t>
            </a:r>
          </a:p>
        </p:txBody>
      </p:sp>
      <p:sp>
        <p:nvSpPr>
          <p:cNvPr id="3" name="内容占位符 2">
            <a:extLst>
              <a:ext uri="{FF2B5EF4-FFF2-40B4-BE49-F238E27FC236}">
                <a16:creationId xmlns:a16="http://schemas.microsoft.com/office/drawing/2014/main" id="{F15D16C2-CC64-058B-DCF8-5310149A205F}"/>
              </a:ext>
            </a:extLst>
          </p:cNvPr>
          <p:cNvSpPr>
            <a:spLocks noGrp="1"/>
          </p:cNvSpPr>
          <p:nvPr>
            <p:ph sz="quarter" idx="11"/>
          </p:nvPr>
        </p:nvSpPr>
        <p:spPr>
          <a:xfrm>
            <a:off x="486000" y="687518"/>
            <a:ext cx="8172000" cy="4079035"/>
          </a:xfrm>
        </p:spPr>
        <p:txBody>
          <a:bodyPr/>
          <a:lstStyle/>
          <a:p>
            <a:r>
              <a:rPr lang="zh-CN" altLang="en-US" dirty="0"/>
              <a:t>是一个简单的远程终端协议，是互联网的正式标准</a:t>
            </a:r>
          </a:p>
          <a:p>
            <a:r>
              <a:rPr lang="zh-CN" altLang="en-US" dirty="0"/>
              <a:t>允许用户在其所在地通过 </a:t>
            </a:r>
            <a:r>
              <a:rPr lang="en-US" altLang="zh-CN" dirty="0"/>
              <a:t>TCP </a:t>
            </a:r>
            <a:r>
              <a:rPr lang="zh-CN" altLang="en-US" dirty="0"/>
              <a:t>连接注册（即登录）到远地的另一个主机上（使用主机名或 </a:t>
            </a:r>
            <a:r>
              <a:rPr lang="en-US" altLang="zh-CN" dirty="0"/>
              <a:t>IP </a:t>
            </a:r>
            <a:r>
              <a:rPr lang="zh-CN" altLang="en-US" dirty="0"/>
              <a:t>地址）</a:t>
            </a:r>
          </a:p>
          <a:p>
            <a:r>
              <a:rPr lang="zh-CN" altLang="en-US" dirty="0"/>
              <a:t>能将用户的击键传到远地主机，同时也能将远地主机的输出通过 </a:t>
            </a:r>
            <a:r>
              <a:rPr lang="en-US" altLang="zh-CN" dirty="0"/>
              <a:t>TCP </a:t>
            </a:r>
            <a:r>
              <a:rPr lang="zh-CN" altLang="en-US" dirty="0"/>
              <a:t>连接返回到用户屏幕</a:t>
            </a:r>
            <a:endParaRPr lang="en-US" altLang="zh-CN" dirty="0"/>
          </a:p>
          <a:p>
            <a:r>
              <a:rPr lang="zh-CN" altLang="en-US" dirty="0"/>
              <a:t>服务是透明的</a:t>
            </a:r>
            <a:endParaRPr lang="en-US" altLang="zh-CN" dirty="0"/>
          </a:p>
          <a:p>
            <a:r>
              <a:rPr lang="zh-CN" altLang="en-US" dirty="0"/>
              <a:t>又称为终端仿真协议</a:t>
            </a:r>
          </a:p>
          <a:p>
            <a:endParaRPr lang="zh-CN" altLang="en-US" dirty="0"/>
          </a:p>
        </p:txBody>
      </p:sp>
    </p:spTree>
    <p:extLst>
      <p:ext uri="{BB962C8B-B14F-4D97-AF65-F5344CB8AC3E}">
        <p14:creationId xmlns:p14="http://schemas.microsoft.com/office/powerpoint/2010/main" val="10931879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44C20F74-3D3F-15B4-DBBF-BB622DACACFB}"/>
              </a:ext>
            </a:extLst>
          </p:cNvPr>
          <p:cNvSpPr>
            <a:spLocks noGrp="1"/>
          </p:cNvSpPr>
          <p:nvPr>
            <p:ph type="title"/>
          </p:nvPr>
        </p:nvSpPr>
        <p:spPr>
          <a:xfrm>
            <a:off x="485999" y="174482"/>
            <a:ext cx="8171999" cy="338554"/>
          </a:xfrm>
        </p:spPr>
        <p:txBody>
          <a:bodyPr/>
          <a:lstStyle/>
          <a:p>
            <a:r>
              <a:rPr lang="en-US" altLang="zh-CN" dirty="0"/>
              <a:t>6.3  </a:t>
            </a:r>
            <a:r>
              <a:rPr lang="zh-CN" altLang="en-US" dirty="0"/>
              <a:t>远程终端协议 </a:t>
            </a:r>
            <a:r>
              <a:rPr lang="en-US" altLang="zh-CN" dirty="0"/>
              <a:t>TELNET</a:t>
            </a:r>
            <a:endParaRPr lang="zh-CN" altLang="en-US" dirty="0"/>
          </a:p>
        </p:txBody>
      </p:sp>
      <p:sp>
        <p:nvSpPr>
          <p:cNvPr id="3" name="内容占位符 2">
            <a:extLst>
              <a:ext uri="{FF2B5EF4-FFF2-40B4-BE49-F238E27FC236}">
                <a16:creationId xmlns:a16="http://schemas.microsoft.com/office/drawing/2014/main" id="{A70C96E3-4332-F9ED-F883-013F689BFA82}"/>
              </a:ext>
            </a:extLst>
          </p:cNvPr>
          <p:cNvSpPr>
            <a:spLocks noGrp="1"/>
          </p:cNvSpPr>
          <p:nvPr>
            <p:ph sz="quarter" idx="11"/>
          </p:nvPr>
        </p:nvSpPr>
        <p:spPr>
          <a:xfrm>
            <a:off x="486000" y="687518"/>
            <a:ext cx="8172000" cy="4079035"/>
          </a:xfrm>
        </p:spPr>
        <p:txBody>
          <a:bodyPr/>
          <a:lstStyle/>
          <a:p>
            <a:r>
              <a:rPr lang="en-US" altLang="zh-CN" dirty="0"/>
              <a:t>TELNET </a:t>
            </a:r>
            <a:r>
              <a:rPr lang="zh-CN" altLang="en-US" dirty="0"/>
              <a:t>使用客户</a:t>
            </a:r>
            <a:r>
              <a:rPr lang="en-US" altLang="zh-CN" dirty="0"/>
              <a:t>/</a:t>
            </a:r>
            <a:r>
              <a:rPr lang="zh-CN" altLang="en-US" dirty="0"/>
              <a:t>服务器 </a:t>
            </a:r>
            <a:r>
              <a:rPr lang="en-US" altLang="zh-CN" dirty="0"/>
              <a:t>C/S </a:t>
            </a:r>
            <a:r>
              <a:rPr lang="zh-CN" altLang="en-US" dirty="0"/>
              <a:t>方式</a:t>
            </a:r>
          </a:p>
          <a:p>
            <a:pPr lvl="1"/>
            <a:r>
              <a:rPr lang="zh-CN" altLang="en-US" dirty="0"/>
              <a:t>在本地系统运行 </a:t>
            </a:r>
            <a:r>
              <a:rPr lang="en-US" altLang="zh-CN" dirty="0"/>
              <a:t>TELNET </a:t>
            </a:r>
            <a:r>
              <a:rPr lang="zh-CN" altLang="en-US" dirty="0"/>
              <a:t>客户进程，而在远地主机则运行 </a:t>
            </a:r>
            <a:r>
              <a:rPr lang="en-US" altLang="zh-CN" dirty="0"/>
              <a:t>TELNET </a:t>
            </a:r>
            <a:r>
              <a:rPr lang="zh-CN" altLang="en-US" dirty="0"/>
              <a:t>服务器进程</a:t>
            </a:r>
          </a:p>
          <a:p>
            <a:r>
              <a:rPr lang="zh-CN" altLang="en-US" dirty="0"/>
              <a:t>服务器中的主进程等待新的请求，产生从属进程来处理每一个连接</a:t>
            </a:r>
          </a:p>
        </p:txBody>
      </p:sp>
    </p:spTree>
    <p:extLst>
      <p:ext uri="{BB962C8B-B14F-4D97-AF65-F5344CB8AC3E}">
        <p14:creationId xmlns:p14="http://schemas.microsoft.com/office/powerpoint/2010/main" val="40339827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云形 5">
            <a:extLst>
              <a:ext uri="{FF2B5EF4-FFF2-40B4-BE49-F238E27FC236}">
                <a16:creationId xmlns:a16="http://schemas.microsoft.com/office/drawing/2014/main" id="{938ED39D-0D20-161F-65BA-5550543C187F}"/>
              </a:ext>
            </a:extLst>
          </p:cNvPr>
          <p:cNvSpPr/>
          <p:nvPr/>
        </p:nvSpPr>
        <p:spPr>
          <a:xfrm>
            <a:off x="3209105" y="2332181"/>
            <a:ext cx="2117853" cy="1063926"/>
          </a:xfrm>
          <a:prstGeom prst="cloud">
            <a:avLst/>
          </a:prstGeom>
          <a:solidFill>
            <a:schemeClr val="bg1">
              <a:lumMod val="95000"/>
            </a:schemeClr>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内容占位符 31">
            <a:extLst>
              <a:ext uri="{FF2B5EF4-FFF2-40B4-BE49-F238E27FC236}">
                <a16:creationId xmlns:a16="http://schemas.microsoft.com/office/drawing/2014/main" id="{2B99BCDB-F904-172F-43CC-5080485FD2CD}"/>
              </a:ext>
            </a:extLst>
          </p:cNvPr>
          <p:cNvSpPr>
            <a:spLocks noGrp="1"/>
          </p:cNvSpPr>
          <p:nvPr>
            <p:ph sz="quarter" idx="11"/>
          </p:nvPr>
        </p:nvSpPr>
        <p:spPr>
          <a:xfrm>
            <a:off x="486000" y="687518"/>
            <a:ext cx="8172000" cy="4079035"/>
          </a:xfrm>
        </p:spPr>
        <p:txBody>
          <a:bodyPr/>
          <a:lstStyle/>
          <a:p>
            <a:r>
              <a:rPr lang="en-US" altLang="zh-CN" dirty="0"/>
              <a:t>TELNET </a:t>
            </a:r>
            <a:r>
              <a:rPr lang="zh-CN" altLang="en-US" dirty="0"/>
              <a:t>使用网络虚拟终端 </a:t>
            </a:r>
            <a:r>
              <a:rPr lang="en-US" altLang="zh-CN" dirty="0"/>
              <a:t>NVT - Network Virtual Terminal</a:t>
            </a:r>
            <a:r>
              <a:rPr lang="zh-CN" altLang="en-US" dirty="0"/>
              <a:t> </a:t>
            </a:r>
            <a:endParaRPr lang="en-US" altLang="zh-CN" dirty="0"/>
          </a:p>
          <a:p>
            <a:r>
              <a:rPr lang="en-US" altLang="zh-CN" dirty="0"/>
              <a:t>TELNET </a:t>
            </a:r>
            <a:r>
              <a:rPr lang="zh-CN" altLang="en-US" dirty="0"/>
              <a:t>的选项协商 </a:t>
            </a:r>
            <a:r>
              <a:rPr lang="en-US" altLang="zh-CN" dirty="0"/>
              <a:t>(Option Negotiation) </a:t>
            </a:r>
            <a:r>
              <a:rPr lang="zh-CN" altLang="en-US" dirty="0"/>
              <a:t>使客户和服务器可商定使用更多的终端功能，协商的双方是平等的</a:t>
            </a:r>
          </a:p>
          <a:p>
            <a:endParaRPr lang="zh-CN" altLang="en-US" dirty="0"/>
          </a:p>
          <a:p>
            <a:endParaRPr lang="zh-CN" altLang="en-US" dirty="0"/>
          </a:p>
        </p:txBody>
      </p:sp>
      <p:sp>
        <p:nvSpPr>
          <p:cNvPr id="46" name="AutoShape 189"/>
          <p:cNvSpPr>
            <a:spLocks noChangeAspect="1" noChangeArrowheads="1" noTextEdit="1"/>
          </p:cNvSpPr>
          <p:nvPr/>
        </p:nvSpPr>
        <p:spPr bwMode="auto">
          <a:xfrm>
            <a:off x="1638459" y="2423203"/>
            <a:ext cx="1465666" cy="13282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4" name="AutoShape 165"/>
          <p:cNvSpPr>
            <a:spLocks noChangeAspect="1" noChangeArrowheads="1" noTextEdit="1"/>
          </p:cNvSpPr>
          <p:nvPr/>
        </p:nvSpPr>
        <p:spPr bwMode="auto">
          <a:xfrm>
            <a:off x="6123095" y="2362637"/>
            <a:ext cx="1585335" cy="1628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30" name="Text Box 6"/>
          <p:cNvSpPr txBox="1">
            <a:spLocks noChangeArrowheads="1"/>
          </p:cNvSpPr>
          <p:nvPr/>
        </p:nvSpPr>
        <p:spPr bwMode="auto">
          <a:xfrm>
            <a:off x="3862311" y="2995644"/>
            <a:ext cx="81144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Internet</a:t>
            </a:r>
            <a:endParaRPr kumimoji="1" lang="zh-CN" altLang="en-US" sz="1200" dirty="0">
              <a:latin typeface="Montserrat" panose="00000500000000000000" pitchFamily="2" charset="0"/>
              <a:ea typeface="微软雅黑 Light" panose="020B0502040204020203" pitchFamily="34" charset="-122"/>
            </a:endParaRPr>
          </a:p>
        </p:txBody>
      </p:sp>
      <p:sp>
        <p:nvSpPr>
          <p:cNvPr id="33" name="Text Box 9"/>
          <p:cNvSpPr txBox="1">
            <a:spLocks noChangeArrowheads="1"/>
          </p:cNvSpPr>
          <p:nvPr/>
        </p:nvSpPr>
        <p:spPr bwMode="auto">
          <a:xfrm>
            <a:off x="4021008" y="2700447"/>
            <a:ext cx="49404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TCP</a:t>
            </a:r>
            <a:endParaRPr kumimoji="1" lang="zh-CN" altLang="en-US" sz="1200" dirty="0">
              <a:latin typeface="Montserrat" panose="00000500000000000000" pitchFamily="2" charset="0"/>
              <a:ea typeface="微软雅黑 Light" panose="020B0502040204020203" pitchFamily="34" charset="-122"/>
            </a:endParaRPr>
          </a:p>
        </p:txBody>
      </p:sp>
      <p:sp>
        <p:nvSpPr>
          <p:cNvPr id="37" name="Text Box 14"/>
          <p:cNvSpPr txBox="1">
            <a:spLocks noChangeArrowheads="1"/>
          </p:cNvSpPr>
          <p:nvPr/>
        </p:nvSpPr>
        <p:spPr bwMode="auto">
          <a:xfrm>
            <a:off x="3475987" y="3445645"/>
            <a:ext cx="158408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NVT character set</a:t>
            </a:r>
            <a:endParaRPr kumimoji="1" lang="zh-CN" altLang="en-US" sz="1200" dirty="0">
              <a:latin typeface="Montserrat" panose="00000500000000000000" pitchFamily="2" charset="0"/>
              <a:ea typeface="微软雅黑 Light" panose="020B0502040204020203" pitchFamily="34" charset="-122"/>
            </a:endParaRPr>
          </a:p>
        </p:txBody>
      </p:sp>
      <p:sp>
        <p:nvSpPr>
          <p:cNvPr id="41" name="Oval 18"/>
          <p:cNvSpPr>
            <a:spLocks noChangeArrowheads="1"/>
          </p:cNvSpPr>
          <p:nvPr/>
        </p:nvSpPr>
        <p:spPr bwMode="auto">
          <a:xfrm>
            <a:off x="2017146" y="2289689"/>
            <a:ext cx="706366" cy="585157"/>
          </a:xfrm>
          <a:prstGeom prst="ellipse">
            <a:avLst/>
          </a:prstGeom>
          <a:noFill/>
          <a:ln w="12700">
            <a:noFill/>
            <a:round/>
            <a:headEnd/>
            <a:tailEnd/>
          </a:ln>
          <a:effectLst/>
        </p:spPr>
        <p:txBody>
          <a:bodyPr wrap="none" anchor="ctr"/>
          <a:lstStyle/>
          <a:p>
            <a:pPr algn="ctr" eaLnBrk="1" hangingPunct="1"/>
            <a:endParaRPr kumimoji="1" lang="zh-CN" altLang="en-US" sz="1200" dirty="0">
              <a:solidFill>
                <a:sysClr val="windowText" lastClr="000000"/>
              </a:solidFill>
              <a:latin typeface="Montserrat" panose="00000500000000000000" pitchFamily="2" charset="0"/>
              <a:ea typeface="微软雅黑 Light" panose="020B0502040204020203" pitchFamily="34" charset="-122"/>
            </a:endParaRPr>
          </a:p>
        </p:txBody>
      </p:sp>
      <p:sp>
        <p:nvSpPr>
          <p:cNvPr id="44" name="Text Box 12"/>
          <p:cNvSpPr txBox="1">
            <a:spLocks noChangeArrowheads="1"/>
          </p:cNvSpPr>
          <p:nvPr/>
        </p:nvSpPr>
        <p:spPr bwMode="auto">
          <a:xfrm>
            <a:off x="177803" y="1521234"/>
            <a:ext cx="14606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latin typeface="Montserrat" panose="00000500000000000000" pitchFamily="2" charset="0"/>
                <a:ea typeface="微软雅黑 Light" panose="020B0502040204020203" pitchFamily="34" charset="-122"/>
              </a:rPr>
              <a:t> </a:t>
            </a:r>
            <a:r>
              <a:rPr kumimoji="1" lang="zh-CN" altLang="en-US" sz="1200" dirty="0">
                <a:latin typeface="Montserrat" panose="00000500000000000000" pitchFamily="2" charset="0"/>
                <a:ea typeface="微软雅黑 Light" panose="020B0502040204020203" pitchFamily="34" charset="-122"/>
              </a:rPr>
              <a:t>使用客户端的格式</a:t>
            </a:r>
          </a:p>
        </p:txBody>
      </p:sp>
      <p:sp>
        <p:nvSpPr>
          <p:cNvPr id="58" name="标题 57">
            <a:extLst>
              <a:ext uri="{FF2B5EF4-FFF2-40B4-BE49-F238E27FC236}">
                <a16:creationId xmlns:a16="http://schemas.microsoft.com/office/drawing/2014/main" id="{F6070622-53C9-BC7D-6425-D0ABA43B7C7D}"/>
              </a:ext>
            </a:extLst>
          </p:cNvPr>
          <p:cNvSpPr>
            <a:spLocks noGrp="1"/>
          </p:cNvSpPr>
          <p:nvPr>
            <p:ph type="title"/>
          </p:nvPr>
        </p:nvSpPr>
        <p:spPr>
          <a:xfrm>
            <a:off x="485999" y="174482"/>
            <a:ext cx="8171999" cy="338554"/>
          </a:xfrm>
        </p:spPr>
        <p:txBody>
          <a:bodyPr/>
          <a:lstStyle/>
          <a:p>
            <a:r>
              <a:rPr lang="en-US" altLang="zh-CN" dirty="0"/>
              <a:t>6.3  </a:t>
            </a:r>
            <a:r>
              <a:rPr lang="zh-CN" altLang="en-US" dirty="0"/>
              <a:t>网络虚拟终端 </a:t>
            </a:r>
          </a:p>
        </p:txBody>
      </p:sp>
      <p:sp>
        <p:nvSpPr>
          <p:cNvPr id="71" name="箭头: 左右 70">
            <a:extLst>
              <a:ext uri="{FF2B5EF4-FFF2-40B4-BE49-F238E27FC236}">
                <a16:creationId xmlns:a16="http://schemas.microsoft.com/office/drawing/2014/main" id="{4C5F43E3-4CF6-522A-D6C4-34647F23AC85}"/>
              </a:ext>
            </a:extLst>
          </p:cNvPr>
          <p:cNvSpPr/>
          <p:nvPr/>
        </p:nvSpPr>
        <p:spPr>
          <a:xfrm>
            <a:off x="2828031" y="2874846"/>
            <a:ext cx="2880000" cy="144000"/>
          </a:xfrm>
          <a:prstGeom prst="leftRightArrow">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矩形 1">
            <a:extLst>
              <a:ext uri="{FF2B5EF4-FFF2-40B4-BE49-F238E27FC236}">
                <a16:creationId xmlns:a16="http://schemas.microsoft.com/office/drawing/2014/main" id="{FB4A38C2-A700-C093-D7A5-DCD154728500}"/>
              </a:ext>
            </a:extLst>
          </p:cNvPr>
          <p:cNvSpPr/>
          <p:nvPr/>
        </p:nvSpPr>
        <p:spPr>
          <a:xfrm>
            <a:off x="1883228" y="2594144"/>
            <a:ext cx="900000" cy="540000"/>
          </a:xfrm>
          <a:prstGeom prst="rect">
            <a:avLst/>
          </a:prstGeom>
          <a:ln w="12700"/>
        </p:spPr>
        <p:style>
          <a:lnRef idx="3">
            <a:schemeClr val="lt1"/>
          </a:lnRef>
          <a:fillRef idx="1">
            <a:schemeClr val="accent5"/>
          </a:fillRef>
          <a:effectRef idx="1">
            <a:schemeClr val="accent5"/>
          </a:effectRef>
          <a:fontRef idx="minor">
            <a:schemeClr val="lt1"/>
          </a:fontRef>
        </p:style>
        <p:txBody>
          <a:bodyPr rtlCol="0"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Telnet</a:t>
            </a:r>
          </a:p>
          <a:p>
            <a:pPr algn="ctr"/>
            <a:r>
              <a:rPr kumimoji="1" lang="en-US" altLang="zh-CN" sz="1200" dirty="0">
                <a:solidFill>
                  <a:schemeClr val="bg1"/>
                </a:solidFill>
                <a:latin typeface="Montserrat" panose="00000500000000000000" pitchFamily="2" charset="0"/>
                <a:ea typeface="微软雅黑 Light" panose="020B0502040204020203" pitchFamily="34" charset="-122"/>
              </a:rPr>
              <a:t>Client</a:t>
            </a:r>
            <a:endParaRPr kumimoji="1" lang="zh-CN" altLang="en-US" sz="1200" dirty="0">
              <a:solidFill>
                <a:schemeClr val="bg1"/>
              </a:solidFill>
              <a:latin typeface="Montserrat" panose="00000500000000000000" pitchFamily="2" charset="0"/>
              <a:ea typeface="微软雅黑 Light" panose="020B0502040204020203" pitchFamily="34" charset="-122"/>
            </a:endParaRPr>
          </a:p>
        </p:txBody>
      </p:sp>
      <p:pic>
        <p:nvPicPr>
          <p:cNvPr id="69" name="Picture 200" descr="jisuanji">
            <a:extLst>
              <a:ext uri="{FF2B5EF4-FFF2-40B4-BE49-F238E27FC236}">
                <a16:creationId xmlns:a16="http://schemas.microsoft.com/office/drawing/2014/main" id="{599FB058-D876-A8C2-D573-D026FD8E6628}"/>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165539" y="2630906"/>
            <a:ext cx="503237" cy="503238"/>
          </a:xfrm>
          <a:prstGeom prst="rect">
            <a:avLst/>
          </a:prstGeom>
          <a:noFill/>
          <a:extLst>
            <a:ext uri="{909E8E84-426E-40DD-AFC4-6F175D3DCCD1}">
              <a14:hiddenFill xmlns:a14="http://schemas.microsoft.com/office/drawing/2010/main">
                <a:solidFill>
                  <a:srgbClr val="FFFFFF"/>
                </a:solidFill>
              </a14:hiddenFill>
            </a:ext>
          </a:extLst>
        </p:spPr>
      </p:pic>
      <p:sp>
        <p:nvSpPr>
          <p:cNvPr id="3" name="文本框 2">
            <a:extLst>
              <a:ext uri="{FF2B5EF4-FFF2-40B4-BE49-F238E27FC236}">
                <a16:creationId xmlns:a16="http://schemas.microsoft.com/office/drawing/2014/main" id="{9547ED45-3D22-5A08-6BE0-FD9E84AA374F}"/>
              </a:ext>
            </a:extLst>
          </p:cNvPr>
          <p:cNvSpPr txBox="1"/>
          <p:nvPr/>
        </p:nvSpPr>
        <p:spPr>
          <a:xfrm>
            <a:off x="982583" y="2375364"/>
            <a:ext cx="869149"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Light" panose="020B0502040204020203" pitchFamily="34" charset="-122"/>
              </a:rPr>
              <a:t>Terminal</a:t>
            </a:r>
            <a:endParaRPr lang="zh-CN" altLang="en-US" sz="1200" dirty="0">
              <a:latin typeface="Montserrat" panose="00000500000000000000" pitchFamily="2" charset="0"/>
              <a:ea typeface="微软雅黑 Light" panose="020B0502040204020203" pitchFamily="34" charset="-122"/>
            </a:endParaRPr>
          </a:p>
        </p:txBody>
      </p:sp>
      <p:sp>
        <p:nvSpPr>
          <p:cNvPr id="5" name="矩形 4">
            <a:extLst>
              <a:ext uri="{FF2B5EF4-FFF2-40B4-BE49-F238E27FC236}">
                <a16:creationId xmlns:a16="http://schemas.microsoft.com/office/drawing/2014/main" id="{BEB635DA-94EA-CB75-7301-9AC18E7C328D}"/>
              </a:ext>
            </a:extLst>
          </p:cNvPr>
          <p:cNvSpPr/>
          <p:nvPr/>
        </p:nvSpPr>
        <p:spPr>
          <a:xfrm>
            <a:off x="5752834" y="2594144"/>
            <a:ext cx="900000" cy="540000"/>
          </a:xfrm>
          <a:prstGeom prst="rect">
            <a:avLst/>
          </a:prstGeom>
          <a:ln w="12700"/>
        </p:spPr>
        <p:style>
          <a:lnRef idx="3">
            <a:schemeClr val="lt1"/>
          </a:lnRef>
          <a:fillRef idx="1">
            <a:schemeClr val="accent5"/>
          </a:fillRef>
          <a:effectRef idx="1">
            <a:schemeClr val="accent5"/>
          </a:effectRef>
          <a:fontRef idx="minor">
            <a:schemeClr val="lt1"/>
          </a:fontRef>
        </p:style>
        <p:txBody>
          <a:bodyPr rtlCol="0"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Telnet</a:t>
            </a:r>
          </a:p>
          <a:p>
            <a:pPr algn="ctr"/>
            <a:r>
              <a:rPr kumimoji="1" lang="en-US" altLang="zh-CN" sz="1200" dirty="0">
                <a:solidFill>
                  <a:schemeClr val="bg1"/>
                </a:solidFill>
                <a:latin typeface="Montserrat" panose="00000500000000000000" pitchFamily="2" charset="0"/>
                <a:ea typeface="微软雅黑 Light" panose="020B0502040204020203" pitchFamily="34" charset="-122"/>
              </a:rPr>
              <a:t>Server</a:t>
            </a:r>
            <a:endParaRPr kumimoji="1" lang="zh-CN" altLang="en-US" sz="1200" dirty="0">
              <a:solidFill>
                <a:schemeClr val="bg1"/>
              </a:solidFill>
              <a:latin typeface="Montserrat" panose="00000500000000000000" pitchFamily="2" charset="0"/>
              <a:ea typeface="微软雅黑 Light" panose="020B0502040204020203" pitchFamily="34" charset="-122"/>
            </a:endParaRPr>
          </a:p>
        </p:txBody>
      </p:sp>
      <p:pic>
        <p:nvPicPr>
          <p:cNvPr id="9" name="Picture 200" descr="jisuanji">
            <a:extLst>
              <a:ext uri="{FF2B5EF4-FFF2-40B4-BE49-F238E27FC236}">
                <a16:creationId xmlns:a16="http://schemas.microsoft.com/office/drawing/2014/main" id="{57B2700B-B1C7-F6F3-2394-5A38CBA0A0B5}"/>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49575" y="2630906"/>
            <a:ext cx="503237" cy="503238"/>
          </a:xfrm>
          <a:prstGeom prst="rect">
            <a:avLst/>
          </a:prstGeom>
          <a:noFill/>
          <a:extLst>
            <a:ext uri="{909E8E84-426E-40DD-AFC4-6F175D3DCCD1}">
              <a14:hiddenFill xmlns:a14="http://schemas.microsoft.com/office/drawing/2010/main">
                <a:solidFill>
                  <a:srgbClr val="FFFFFF"/>
                </a:solidFill>
              </a14:hiddenFill>
            </a:ext>
          </a:extLst>
        </p:spPr>
      </p:pic>
      <p:sp>
        <p:nvSpPr>
          <p:cNvPr id="10" name="文本框 9">
            <a:extLst>
              <a:ext uri="{FF2B5EF4-FFF2-40B4-BE49-F238E27FC236}">
                <a16:creationId xmlns:a16="http://schemas.microsoft.com/office/drawing/2014/main" id="{B21D6611-F844-57F9-7D03-1272E64588F0}"/>
              </a:ext>
            </a:extLst>
          </p:cNvPr>
          <p:cNvSpPr txBox="1"/>
          <p:nvPr/>
        </p:nvSpPr>
        <p:spPr>
          <a:xfrm>
            <a:off x="6766619" y="2375364"/>
            <a:ext cx="869149"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Light" panose="020B0502040204020203" pitchFamily="34" charset="-122"/>
              </a:rPr>
              <a:t>Terminal</a:t>
            </a:r>
            <a:endParaRPr lang="zh-CN" altLang="en-US" sz="1200" dirty="0">
              <a:latin typeface="Montserrat" panose="00000500000000000000" pitchFamily="2" charset="0"/>
              <a:ea typeface="微软雅黑 Light" panose="020B0502040204020203" pitchFamily="34" charset="-122"/>
            </a:endParaRPr>
          </a:p>
        </p:txBody>
      </p:sp>
      <p:cxnSp>
        <p:nvCxnSpPr>
          <p:cNvPr id="12" name="直接连接符 11">
            <a:extLst>
              <a:ext uri="{FF2B5EF4-FFF2-40B4-BE49-F238E27FC236}">
                <a16:creationId xmlns:a16="http://schemas.microsoft.com/office/drawing/2014/main" id="{64EA5DAF-8565-25F6-31BB-899F33EB9F5F}"/>
              </a:ext>
            </a:extLst>
          </p:cNvPr>
          <p:cNvCxnSpPr>
            <a:cxnSpLocks/>
          </p:cNvCxnSpPr>
          <p:nvPr/>
        </p:nvCxnSpPr>
        <p:spPr>
          <a:xfrm>
            <a:off x="2333228" y="3134144"/>
            <a:ext cx="0" cy="90000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13" name="直接连接符 12">
            <a:extLst>
              <a:ext uri="{FF2B5EF4-FFF2-40B4-BE49-F238E27FC236}">
                <a16:creationId xmlns:a16="http://schemas.microsoft.com/office/drawing/2014/main" id="{B7C120D4-142E-64EA-FA9B-B64897ABEB97}"/>
              </a:ext>
            </a:extLst>
          </p:cNvPr>
          <p:cNvCxnSpPr>
            <a:cxnSpLocks/>
          </p:cNvCxnSpPr>
          <p:nvPr/>
        </p:nvCxnSpPr>
        <p:spPr>
          <a:xfrm>
            <a:off x="6202834" y="3134144"/>
            <a:ext cx="0" cy="90000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sp>
        <p:nvSpPr>
          <p:cNvPr id="14" name="箭头: 左右 13">
            <a:extLst>
              <a:ext uri="{FF2B5EF4-FFF2-40B4-BE49-F238E27FC236}">
                <a16:creationId xmlns:a16="http://schemas.microsoft.com/office/drawing/2014/main" id="{20A06FC0-A15E-6210-8C7D-DDBECEBB7A97}"/>
              </a:ext>
            </a:extLst>
          </p:cNvPr>
          <p:cNvSpPr/>
          <p:nvPr/>
        </p:nvSpPr>
        <p:spPr>
          <a:xfrm>
            <a:off x="1643822" y="2766887"/>
            <a:ext cx="216000" cy="144000"/>
          </a:xfrm>
          <a:prstGeom prst="leftRightArrow">
            <a:avLst/>
          </a:prstGeom>
          <a:solidFill>
            <a:srgbClr val="F796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箭头: 左右 14">
            <a:extLst>
              <a:ext uri="{FF2B5EF4-FFF2-40B4-BE49-F238E27FC236}">
                <a16:creationId xmlns:a16="http://schemas.microsoft.com/office/drawing/2014/main" id="{28709FA9-D3B9-3E9A-499E-61514B05C627}"/>
              </a:ext>
            </a:extLst>
          </p:cNvPr>
          <p:cNvSpPr/>
          <p:nvPr/>
        </p:nvSpPr>
        <p:spPr>
          <a:xfrm>
            <a:off x="6709937" y="2766887"/>
            <a:ext cx="216000" cy="144000"/>
          </a:xfrm>
          <a:prstGeom prst="leftRightArrow">
            <a:avLst/>
          </a:prstGeom>
          <a:solidFill>
            <a:srgbClr val="F796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文本框 15">
            <a:extLst>
              <a:ext uri="{FF2B5EF4-FFF2-40B4-BE49-F238E27FC236}">
                <a16:creationId xmlns:a16="http://schemas.microsoft.com/office/drawing/2014/main" id="{D6EF0879-57D0-68DB-5F47-269D03668864}"/>
              </a:ext>
            </a:extLst>
          </p:cNvPr>
          <p:cNvSpPr txBox="1"/>
          <p:nvPr/>
        </p:nvSpPr>
        <p:spPr>
          <a:xfrm>
            <a:off x="693035" y="3445645"/>
            <a:ext cx="1640193"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Light" panose="020B0502040204020203" pitchFamily="34" charset="-122"/>
              </a:rPr>
              <a:t>Local character set</a:t>
            </a:r>
            <a:endParaRPr lang="zh-CN" altLang="en-US" sz="1200" dirty="0">
              <a:latin typeface="Montserrat" panose="00000500000000000000" pitchFamily="2" charset="0"/>
              <a:ea typeface="微软雅黑 Light" panose="020B0502040204020203" pitchFamily="34" charset="-122"/>
            </a:endParaRPr>
          </a:p>
        </p:txBody>
      </p:sp>
      <p:sp>
        <p:nvSpPr>
          <p:cNvPr id="17" name="文本框 16">
            <a:extLst>
              <a:ext uri="{FF2B5EF4-FFF2-40B4-BE49-F238E27FC236}">
                <a16:creationId xmlns:a16="http://schemas.microsoft.com/office/drawing/2014/main" id="{A00FB04E-312E-3038-5B37-9BACC9F7D809}"/>
              </a:ext>
            </a:extLst>
          </p:cNvPr>
          <p:cNvSpPr txBox="1"/>
          <p:nvPr/>
        </p:nvSpPr>
        <p:spPr>
          <a:xfrm>
            <a:off x="6202834" y="3445645"/>
            <a:ext cx="1891865"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Light" panose="020B0502040204020203" pitchFamily="34" charset="-122"/>
              </a:rPr>
              <a:t>Remote character set</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2038366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标题 32">
            <a:extLst>
              <a:ext uri="{FF2B5EF4-FFF2-40B4-BE49-F238E27FC236}">
                <a16:creationId xmlns:a16="http://schemas.microsoft.com/office/drawing/2014/main" id="{9943CB31-7708-8E14-988B-BEDE81A67AF2}"/>
              </a:ext>
            </a:extLst>
          </p:cNvPr>
          <p:cNvSpPr>
            <a:spLocks noGrp="1"/>
          </p:cNvSpPr>
          <p:nvPr>
            <p:ph type="title"/>
          </p:nvPr>
        </p:nvSpPr>
        <p:spPr>
          <a:xfrm>
            <a:off x="485999" y="174482"/>
            <a:ext cx="8171999" cy="338554"/>
          </a:xfrm>
        </p:spPr>
        <p:txBody>
          <a:bodyPr/>
          <a:lstStyle/>
          <a:p>
            <a:r>
              <a:rPr lang="en-US" altLang="zh-CN" dirty="0"/>
              <a:t>6.3  </a:t>
            </a:r>
            <a:r>
              <a:rPr lang="zh-CN" altLang="en-US" dirty="0"/>
              <a:t>网络虚拟终端 </a:t>
            </a:r>
          </a:p>
        </p:txBody>
      </p:sp>
      <p:sp>
        <p:nvSpPr>
          <p:cNvPr id="31" name="内容占位符 30">
            <a:extLst>
              <a:ext uri="{FF2B5EF4-FFF2-40B4-BE49-F238E27FC236}">
                <a16:creationId xmlns:a16="http://schemas.microsoft.com/office/drawing/2014/main" id="{86DAD489-9F3D-E64C-B51B-284D1B9D5AC9}"/>
              </a:ext>
            </a:extLst>
          </p:cNvPr>
          <p:cNvSpPr>
            <a:spLocks noGrp="1"/>
          </p:cNvSpPr>
          <p:nvPr>
            <p:ph sz="quarter" idx="11"/>
          </p:nvPr>
        </p:nvSpPr>
        <p:spPr>
          <a:xfrm>
            <a:off x="486000" y="687518"/>
            <a:ext cx="8172000" cy="4079035"/>
          </a:xfrm>
        </p:spPr>
        <p:txBody>
          <a:bodyPr/>
          <a:lstStyle/>
          <a:p>
            <a:r>
              <a:rPr lang="en-US" altLang="zh-CN" dirty="0"/>
              <a:t>NVT </a:t>
            </a:r>
            <a:r>
              <a:rPr lang="zh-CN" altLang="en-US" dirty="0"/>
              <a:t>格式 </a:t>
            </a:r>
          </a:p>
          <a:p>
            <a:pPr lvl="1"/>
            <a:r>
              <a:rPr lang="zh-CN" altLang="en-US" dirty="0"/>
              <a:t>两个字符集：数据，控制</a:t>
            </a:r>
          </a:p>
          <a:p>
            <a:r>
              <a:rPr lang="zh-CN" altLang="en-US" dirty="0"/>
              <a:t>客户端把用户的击键和命令转换成 </a:t>
            </a:r>
            <a:r>
              <a:rPr lang="en-US" altLang="zh-CN" dirty="0"/>
              <a:t>NVT </a:t>
            </a:r>
            <a:r>
              <a:rPr lang="zh-CN" altLang="en-US" dirty="0"/>
              <a:t>格式，并送交服务器</a:t>
            </a:r>
          </a:p>
          <a:p>
            <a:r>
              <a:rPr lang="zh-CN" altLang="en-US" dirty="0"/>
              <a:t>服务器端把收到的数据和命令，从 </a:t>
            </a:r>
            <a:r>
              <a:rPr lang="en-US" altLang="zh-CN" dirty="0"/>
              <a:t>NVT </a:t>
            </a:r>
            <a:r>
              <a:rPr lang="zh-CN" altLang="en-US" dirty="0"/>
              <a:t>格式转换成远地系统所需的格式</a:t>
            </a:r>
          </a:p>
          <a:p>
            <a:r>
              <a:rPr lang="zh-CN" altLang="en-US" dirty="0"/>
              <a:t>向客户返回数据时</a:t>
            </a:r>
            <a:endParaRPr lang="en-US" altLang="zh-CN" dirty="0"/>
          </a:p>
          <a:p>
            <a:pPr lvl="1"/>
            <a:r>
              <a:rPr lang="zh-CN" altLang="en-US" dirty="0"/>
              <a:t>服务器把远地系统的格式转换为 </a:t>
            </a:r>
            <a:r>
              <a:rPr lang="en-US" altLang="zh-CN" dirty="0"/>
              <a:t>NVT </a:t>
            </a:r>
            <a:r>
              <a:rPr lang="zh-CN" altLang="en-US" dirty="0"/>
              <a:t>格式</a:t>
            </a:r>
            <a:endParaRPr lang="en-US" altLang="zh-CN" dirty="0"/>
          </a:p>
          <a:p>
            <a:pPr lvl="1"/>
            <a:r>
              <a:rPr lang="zh-CN" altLang="en-US" dirty="0"/>
              <a:t>本地客户再从 </a:t>
            </a:r>
            <a:r>
              <a:rPr lang="en-US" altLang="zh-CN" dirty="0"/>
              <a:t>NVT </a:t>
            </a:r>
            <a:r>
              <a:rPr lang="zh-CN" altLang="en-US" dirty="0"/>
              <a:t>格式转换到本地系统所需的格式</a:t>
            </a:r>
          </a:p>
          <a:p>
            <a:endParaRPr lang="zh-CN" altLang="en-US" dirty="0"/>
          </a:p>
        </p:txBody>
      </p:sp>
      <p:sp>
        <p:nvSpPr>
          <p:cNvPr id="7" name="Text Box 10"/>
          <p:cNvSpPr txBox="1">
            <a:spLocks noChangeArrowheads="1"/>
          </p:cNvSpPr>
          <p:nvPr/>
        </p:nvSpPr>
        <p:spPr bwMode="auto">
          <a:xfrm>
            <a:off x="2034816" y="4259649"/>
            <a:ext cx="112883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dirty="0">
                <a:latin typeface="Montserrat" panose="00000500000000000000" pitchFamily="2" charset="0"/>
                <a:ea typeface="微软雅黑 Light" panose="020B0502040204020203" pitchFamily="34" charset="-122"/>
              </a:rPr>
              <a:t> </a:t>
            </a:r>
            <a:r>
              <a:rPr kumimoji="1" lang="zh-CN" altLang="en-US" sz="1400" dirty="0">
                <a:latin typeface="Montserrat" panose="00000500000000000000" pitchFamily="2" charset="0"/>
                <a:ea typeface="微软雅黑 Light" panose="020B0502040204020203" pitchFamily="34" charset="-122"/>
              </a:rPr>
              <a:t>控制字符：</a:t>
            </a:r>
          </a:p>
        </p:txBody>
      </p:sp>
      <p:grpSp>
        <p:nvGrpSpPr>
          <p:cNvPr id="17" name="组合 16"/>
          <p:cNvGrpSpPr/>
          <p:nvPr/>
        </p:nvGrpSpPr>
        <p:grpSpPr>
          <a:xfrm>
            <a:off x="3479921" y="4259649"/>
            <a:ext cx="2365746" cy="360000"/>
            <a:chOff x="1526959" y="2041864"/>
            <a:chExt cx="2343694" cy="443884"/>
          </a:xfrm>
        </p:grpSpPr>
        <p:sp>
          <p:nvSpPr>
            <p:cNvPr id="18" name="矩形 17"/>
            <p:cNvSpPr/>
            <p:nvPr/>
          </p:nvSpPr>
          <p:spPr>
            <a:xfrm>
              <a:off x="1526959" y="2041864"/>
              <a:ext cx="292963" cy="443884"/>
            </a:xfrm>
            <a:prstGeom prst="rect">
              <a:avLst/>
            </a:prstGeom>
            <a:solidFill>
              <a:srgbClr val="00B0F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latin typeface="Montserrat" panose="00000500000000000000" pitchFamily="2" charset="0"/>
                  <a:ea typeface="微软雅黑 Light" panose="020B0502040204020203" pitchFamily="34" charset="-122"/>
                </a:rPr>
                <a:t>1</a:t>
              </a: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19" name="矩形 18"/>
            <p:cNvSpPr/>
            <p:nvPr/>
          </p:nvSpPr>
          <p:spPr>
            <a:xfrm>
              <a:off x="1819921"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20" name="矩形 19"/>
            <p:cNvSpPr/>
            <p:nvPr/>
          </p:nvSpPr>
          <p:spPr>
            <a:xfrm>
              <a:off x="2112884"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21" name="矩形 20"/>
            <p:cNvSpPr/>
            <p:nvPr/>
          </p:nvSpPr>
          <p:spPr>
            <a:xfrm>
              <a:off x="2405846"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22" name="矩形 21"/>
            <p:cNvSpPr/>
            <p:nvPr/>
          </p:nvSpPr>
          <p:spPr>
            <a:xfrm>
              <a:off x="2698809"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23" name="矩形 22"/>
            <p:cNvSpPr/>
            <p:nvPr/>
          </p:nvSpPr>
          <p:spPr>
            <a:xfrm>
              <a:off x="2991768"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24" name="矩形 23"/>
            <p:cNvSpPr/>
            <p:nvPr/>
          </p:nvSpPr>
          <p:spPr>
            <a:xfrm>
              <a:off x="3284731"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25" name="矩形 24"/>
            <p:cNvSpPr/>
            <p:nvPr/>
          </p:nvSpPr>
          <p:spPr>
            <a:xfrm>
              <a:off x="3577690"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grpSp>
      <p:sp>
        <p:nvSpPr>
          <p:cNvPr id="6" name="Text Box 10"/>
          <p:cNvSpPr txBox="1">
            <a:spLocks noChangeArrowheads="1"/>
          </p:cNvSpPr>
          <p:nvPr/>
        </p:nvSpPr>
        <p:spPr bwMode="auto">
          <a:xfrm>
            <a:off x="2034816" y="3700137"/>
            <a:ext cx="112883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dirty="0">
                <a:latin typeface="Montserrat" panose="00000500000000000000" pitchFamily="2" charset="0"/>
                <a:ea typeface="微软雅黑 Light" panose="020B0502040204020203" pitchFamily="34" charset="-122"/>
              </a:rPr>
              <a:t> </a:t>
            </a:r>
            <a:r>
              <a:rPr kumimoji="1" lang="zh-CN" altLang="en-US" sz="1400" dirty="0">
                <a:latin typeface="Montserrat" panose="00000500000000000000" pitchFamily="2" charset="0"/>
                <a:ea typeface="微软雅黑 Light" panose="020B0502040204020203" pitchFamily="34" charset="-122"/>
              </a:rPr>
              <a:t>数据字符：</a:t>
            </a:r>
          </a:p>
        </p:txBody>
      </p:sp>
      <p:grpSp>
        <p:nvGrpSpPr>
          <p:cNvPr id="16" name="组合 15"/>
          <p:cNvGrpSpPr/>
          <p:nvPr/>
        </p:nvGrpSpPr>
        <p:grpSpPr>
          <a:xfrm>
            <a:off x="3479921" y="3669817"/>
            <a:ext cx="2365752" cy="360000"/>
            <a:chOff x="1526957" y="2041864"/>
            <a:chExt cx="2343696" cy="443884"/>
          </a:xfrm>
        </p:grpSpPr>
        <p:sp>
          <p:nvSpPr>
            <p:cNvPr id="8" name="矩形 7"/>
            <p:cNvSpPr/>
            <p:nvPr/>
          </p:nvSpPr>
          <p:spPr>
            <a:xfrm>
              <a:off x="1526957" y="2041864"/>
              <a:ext cx="292963" cy="443884"/>
            </a:xfrm>
            <a:prstGeom prst="rect">
              <a:avLst/>
            </a:prstGeom>
            <a:solidFill>
              <a:srgbClr val="FFC00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latin typeface="Montserrat" panose="00000500000000000000" pitchFamily="2" charset="0"/>
                  <a:ea typeface="微软雅黑 Light" panose="020B0502040204020203" pitchFamily="34" charset="-122"/>
                </a:rPr>
                <a:t>0</a:t>
              </a: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9" name="矩形 8"/>
            <p:cNvSpPr/>
            <p:nvPr/>
          </p:nvSpPr>
          <p:spPr>
            <a:xfrm>
              <a:off x="1819919"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10" name="矩形 9"/>
            <p:cNvSpPr/>
            <p:nvPr/>
          </p:nvSpPr>
          <p:spPr>
            <a:xfrm>
              <a:off x="2112881"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11" name="矩形 10"/>
            <p:cNvSpPr/>
            <p:nvPr/>
          </p:nvSpPr>
          <p:spPr>
            <a:xfrm>
              <a:off x="2405843"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12" name="矩形 11"/>
            <p:cNvSpPr/>
            <p:nvPr/>
          </p:nvSpPr>
          <p:spPr>
            <a:xfrm>
              <a:off x="2698805"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13" name="矩形 12"/>
            <p:cNvSpPr/>
            <p:nvPr/>
          </p:nvSpPr>
          <p:spPr>
            <a:xfrm>
              <a:off x="2991764"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14" name="矩形 13"/>
            <p:cNvSpPr/>
            <p:nvPr/>
          </p:nvSpPr>
          <p:spPr>
            <a:xfrm>
              <a:off x="3284726"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15" name="矩形 14"/>
            <p:cNvSpPr/>
            <p:nvPr/>
          </p:nvSpPr>
          <p:spPr>
            <a:xfrm>
              <a:off x="3577690"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grpSp>
      <p:sp>
        <p:nvSpPr>
          <p:cNvPr id="26" name="右大括号 25"/>
          <p:cNvSpPr/>
          <p:nvPr/>
        </p:nvSpPr>
        <p:spPr>
          <a:xfrm rot="16200000">
            <a:off x="4710726" y="2486661"/>
            <a:ext cx="199855" cy="2070029"/>
          </a:xfrm>
          <a:prstGeom prst="rightBrace">
            <a:avLst>
              <a:gd name="adj1" fmla="val 38636"/>
              <a:gd name="adj2" fmla="val 50000"/>
            </a:avLst>
          </a:prstGeom>
          <a:ln w="9525">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sz="1600" dirty="0">
              <a:ln w="19050">
                <a:solidFill>
                  <a:schemeClr val="tx1"/>
                </a:solidFill>
              </a:ln>
              <a:latin typeface="Montserrat" panose="00000500000000000000" pitchFamily="2" charset="0"/>
              <a:ea typeface="微软雅黑 Light" panose="020B0502040204020203" pitchFamily="34" charset="-122"/>
            </a:endParaRPr>
          </a:p>
        </p:txBody>
      </p:sp>
      <p:sp>
        <p:nvSpPr>
          <p:cNvPr id="27" name="Text Box 10"/>
          <p:cNvSpPr txBox="1">
            <a:spLocks noChangeArrowheads="1"/>
          </p:cNvSpPr>
          <p:nvPr/>
        </p:nvSpPr>
        <p:spPr bwMode="auto">
          <a:xfrm>
            <a:off x="3956193" y="3143853"/>
            <a:ext cx="14734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dirty="0">
                <a:latin typeface="Montserrat" panose="00000500000000000000" pitchFamily="2" charset="0"/>
                <a:ea typeface="微软雅黑 Light" panose="020B0502040204020203" pitchFamily="34" charset="-122"/>
              </a:rPr>
              <a:t>标准 </a:t>
            </a:r>
            <a:r>
              <a:rPr kumimoji="1" lang="en-US" altLang="zh-CN" sz="1400" dirty="0">
                <a:latin typeface="Montserrat" panose="00000500000000000000" pitchFamily="2" charset="0"/>
                <a:ea typeface="微软雅黑 Light" panose="020B0502040204020203" pitchFamily="34" charset="-122"/>
              </a:rPr>
              <a:t>ASCII </a:t>
            </a:r>
            <a:r>
              <a:rPr kumimoji="1" lang="zh-CN" altLang="en-US" sz="1400" dirty="0">
                <a:latin typeface="Montserrat" panose="00000500000000000000" pitchFamily="2" charset="0"/>
                <a:ea typeface="微软雅黑 Light" panose="020B0502040204020203" pitchFamily="34" charset="-122"/>
              </a:rPr>
              <a:t>字符</a:t>
            </a:r>
          </a:p>
        </p:txBody>
      </p:sp>
    </p:spTree>
    <p:extLst>
      <p:ext uri="{BB962C8B-B14F-4D97-AF65-F5344CB8AC3E}">
        <p14:creationId xmlns:p14="http://schemas.microsoft.com/office/powerpoint/2010/main" val="30077901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 name="Line 16"/>
          <p:cNvSpPr>
            <a:spLocks noChangeShapeType="1"/>
          </p:cNvSpPr>
          <p:nvPr/>
        </p:nvSpPr>
        <p:spPr bwMode="auto">
          <a:xfrm>
            <a:off x="3637198" y="832562"/>
            <a:ext cx="0" cy="3357124"/>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2" name="Rectangle 8">
            <a:extLst>
              <a:ext uri="{FF2B5EF4-FFF2-40B4-BE49-F238E27FC236}">
                <a16:creationId xmlns:a16="http://schemas.microsoft.com/office/drawing/2014/main" id="{73679B2E-C224-EAB3-9287-3A88C41CCC99}"/>
              </a:ext>
            </a:extLst>
          </p:cNvPr>
          <p:cNvSpPr>
            <a:spLocks noChangeArrowheads="1"/>
          </p:cNvSpPr>
          <p:nvPr/>
        </p:nvSpPr>
        <p:spPr bwMode="auto">
          <a:xfrm>
            <a:off x="3563766" y="1354881"/>
            <a:ext cx="4197661" cy="26359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6.4.1</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万维网</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6.4.2</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统一资源定位符 </a:t>
            </a:r>
            <a:r>
              <a:rPr lang="en-US" altLang="zh-CN" sz="1600" dirty="0">
                <a:latin typeface="Montserrat" panose="00000500000000000000" pitchFamily="2" charset="0"/>
                <a:ea typeface="微软雅黑 Light" panose="020B0502040204020203" pitchFamily="34" charset="-122"/>
              </a:rPr>
              <a:t>URL</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6.4.3 </a:t>
            </a:r>
            <a:r>
              <a:rPr lang="zh-CN" altLang="en-US" sz="1600" dirty="0">
                <a:latin typeface="Montserrat" panose="00000500000000000000" pitchFamily="2" charset="0"/>
                <a:ea typeface="微软雅黑 Light" panose="020B0502040204020203" pitchFamily="34" charset="-122"/>
              </a:rPr>
              <a:t>超文本传送协议 </a:t>
            </a:r>
            <a:r>
              <a:rPr lang="en-US" altLang="zh-CN" sz="1600" dirty="0">
                <a:latin typeface="Montserrat" panose="00000500000000000000" pitchFamily="2" charset="0"/>
                <a:ea typeface="微软雅黑 Light" panose="020B0502040204020203" pitchFamily="34" charset="-122"/>
              </a:rPr>
              <a:t>HTTP</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6.4.4 </a:t>
            </a:r>
            <a:r>
              <a:rPr lang="zh-CN" altLang="en-US" sz="1600" dirty="0">
                <a:latin typeface="Montserrat" panose="00000500000000000000" pitchFamily="2" charset="0"/>
                <a:ea typeface="微软雅黑 Light" panose="020B0502040204020203" pitchFamily="34" charset="-122"/>
              </a:rPr>
              <a:t>万维网的文档</a:t>
            </a:r>
            <a:endParaRPr lang="en-US" altLang="zh-CN"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6.4.5 </a:t>
            </a:r>
            <a:r>
              <a:rPr lang="zh-CN" altLang="en-US" sz="1600" dirty="0">
                <a:latin typeface="Montserrat" panose="00000500000000000000" pitchFamily="2" charset="0"/>
                <a:ea typeface="微软雅黑 Light" panose="020B0502040204020203" pitchFamily="34" charset="-122"/>
              </a:rPr>
              <a:t>万维网的信息检索系统</a:t>
            </a:r>
            <a:endParaRPr lang="en-US" altLang="zh-CN"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6.4.6 </a:t>
            </a:r>
            <a:r>
              <a:rPr lang="zh-CN" altLang="en-US" sz="1600" dirty="0">
                <a:latin typeface="Montserrat" panose="00000500000000000000" pitchFamily="2" charset="0"/>
                <a:ea typeface="微软雅黑 Light" panose="020B0502040204020203" pitchFamily="34" charset="-122"/>
              </a:rPr>
              <a:t>博客和微博</a:t>
            </a:r>
            <a:endParaRPr lang="en-US" altLang="zh-CN"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6.4.7 </a:t>
            </a:r>
            <a:r>
              <a:rPr lang="zh-CN" altLang="en-US" sz="1600" dirty="0">
                <a:latin typeface="Montserrat" panose="00000500000000000000" pitchFamily="2" charset="0"/>
                <a:ea typeface="微软雅黑 Light" panose="020B0502040204020203" pitchFamily="34" charset="-122"/>
              </a:rPr>
              <a:t>社交网站</a:t>
            </a:r>
            <a:endParaRPr lang="en-US" altLang="zh-CN" sz="1600" dirty="0">
              <a:latin typeface="Montserrat" panose="00000500000000000000" pitchFamily="2" charset="0"/>
              <a:ea typeface="微软雅黑 Light" panose="020B0502040204020203" pitchFamily="34" charset="-122"/>
            </a:endParaRPr>
          </a:p>
        </p:txBody>
      </p:sp>
      <p:sp>
        <p:nvSpPr>
          <p:cNvPr id="3" name="Rectangle 29">
            <a:extLst>
              <a:ext uri="{FF2B5EF4-FFF2-40B4-BE49-F238E27FC236}">
                <a16:creationId xmlns:a16="http://schemas.microsoft.com/office/drawing/2014/main" id="{B1BD7EB0-BA73-6A6A-F3FC-97DC958FA28A}"/>
              </a:ext>
            </a:extLst>
          </p:cNvPr>
          <p:cNvSpPr>
            <a:spLocks noChangeArrowheads="1"/>
          </p:cNvSpPr>
          <p:nvPr/>
        </p:nvSpPr>
        <p:spPr bwMode="auto">
          <a:xfrm>
            <a:off x="3563766" y="711857"/>
            <a:ext cx="5090116"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solidFill>
                  <a:srgbClr val="FF0000"/>
                </a:solidFill>
                <a:latin typeface="Montserrat" panose="00000500000000000000" pitchFamily="2" charset="0"/>
                <a:ea typeface="微软雅黑 Light" panose="020B0502040204020203" pitchFamily="34" charset="-122"/>
              </a:rPr>
              <a:t>6.4</a:t>
            </a:r>
            <a:r>
              <a:rPr lang="en-US" altLang="zh-CN" sz="2000" dirty="0">
                <a:latin typeface="Montserrat" panose="00000500000000000000" pitchFamily="2" charset="0"/>
                <a:ea typeface="微软雅黑 Light" panose="020B0502040204020203" pitchFamily="34" charset="-122"/>
              </a:rPr>
              <a:t> </a:t>
            </a:r>
            <a:r>
              <a:rPr lang="zh-CN" altLang="en-US" sz="2000" dirty="0">
                <a:latin typeface="Montserrat" panose="00000500000000000000" pitchFamily="2" charset="0"/>
                <a:ea typeface="微软雅黑 Light" panose="020B0502040204020203" pitchFamily="34" charset="-122"/>
              </a:rPr>
              <a:t>万维网 </a:t>
            </a:r>
            <a:r>
              <a:rPr lang="en-US" altLang="zh-CN" sz="2000" dirty="0">
                <a:latin typeface="Montserrat" panose="00000500000000000000" pitchFamily="2" charset="0"/>
                <a:ea typeface="微软雅黑 Light" panose="020B0502040204020203" pitchFamily="34" charset="-122"/>
              </a:rPr>
              <a:t>WWW</a:t>
            </a:r>
          </a:p>
        </p:txBody>
      </p:sp>
    </p:spTree>
    <p:extLst>
      <p:ext uri="{BB962C8B-B14F-4D97-AF65-F5344CB8AC3E}">
        <p14:creationId xmlns:p14="http://schemas.microsoft.com/office/powerpoint/2010/main" val="13039896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42777D-2169-A9BA-FAAE-E8045FF59173}"/>
              </a:ext>
            </a:extLst>
          </p:cNvPr>
          <p:cNvSpPr>
            <a:spLocks noGrp="1"/>
          </p:cNvSpPr>
          <p:nvPr>
            <p:ph type="title"/>
          </p:nvPr>
        </p:nvSpPr>
        <p:spPr>
          <a:xfrm>
            <a:off x="485999" y="174482"/>
            <a:ext cx="8171999" cy="338554"/>
          </a:xfrm>
        </p:spPr>
        <p:txBody>
          <a:bodyPr/>
          <a:lstStyle/>
          <a:p>
            <a:r>
              <a:rPr lang="en-US" altLang="zh-CN" dirty="0"/>
              <a:t>6.4.1  </a:t>
            </a:r>
            <a:r>
              <a:rPr lang="zh-CN" altLang="en-US" dirty="0"/>
              <a:t>万维网</a:t>
            </a:r>
          </a:p>
        </p:txBody>
      </p:sp>
      <p:sp>
        <p:nvSpPr>
          <p:cNvPr id="3" name="内容占位符 2">
            <a:extLst>
              <a:ext uri="{FF2B5EF4-FFF2-40B4-BE49-F238E27FC236}">
                <a16:creationId xmlns:a16="http://schemas.microsoft.com/office/drawing/2014/main" id="{271EB87E-22F1-DB0E-90D1-0F5DCB83F6BC}"/>
              </a:ext>
            </a:extLst>
          </p:cNvPr>
          <p:cNvSpPr>
            <a:spLocks noGrp="1"/>
          </p:cNvSpPr>
          <p:nvPr>
            <p:ph sz="quarter" idx="11"/>
          </p:nvPr>
        </p:nvSpPr>
        <p:spPr>
          <a:xfrm>
            <a:off x="486000" y="687518"/>
            <a:ext cx="8172000" cy="4079035"/>
          </a:xfrm>
        </p:spPr>
        <p:txBody>
          <a:bodyPr/>
          <a:lstStyle/>
          <a:p>
            <a:r>
              <a:rPr lang="zh-CN" altLang="en-US" dirty="0"/>
              <a:t>万维网 </a:t>
            </a:r>
            <a:r>
              <a:rPr lang="en-US" altLang="zh-CN" dirty="0"/>
              <a:t>WWW (World Wide Web) </a:t>
            </a:r>
            <a:r>
              <a:rPr lang="zh-CN" altLang="en-US" dirty="0"/>
              <a:t>并非某种特殊的计算机网络</a:t>
            </a:r>
          </a:p>
          <a:p>
            <a:r>
              <a:rPr lang="zh-CN" altLang="en-US" dirty="0"/>
              <a:t>万维网是一个大规模的、联机式的信息储藏所</a:t>
            </a:r>
          </a:p>
          <a:p>
            <a:r>
              <a:rPr lang="zh-CN" altLang="en-US" dirty="0"/>
              <a:t>万维网用链接的方法能非常方便地从互联网上的一个站点访问另一个站点，从而主动地按需获取丰富的信息</a:t>
            </a:r>
          </a:p>
          <a:p>
            <a:r>
              <a:rPr lang="zh-CN" altLang="en-US" dirty="0"/>
              <a:t>这种访问方式称为链接 </a:t>
            </a:r>
            <a:r>
              <a:rPr lang="en-US" altLang="zh-CN" dirty="0"/>
              <a:t>- Hyperlink</a:t>
            </a:r>
            <a:endParaRPr lang="zh-CN" altLang="en-US" dirty="0"/>
          </a:p>
          <a:p>
            <a:endParaRPr lang="zh-CN" altLang="en-US" dirty="0"/>
          </a:p>
        </p:txBody>
      </p:sp>
    </p:spTree>
    <p:extLst>
      <p:ext uri="{BB962C8B-B14F-4D97-AF65-F5344CB8AC3E}">
        <p14:creationId xmlns:p14="http://schemas.microsoft.com/office/powerpoint/2010/main" val="9275337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2D7D356F-45B6-E32E-194F-BA74B3773C29}"/>
              </a:ext>
            </a:extLst>
          </p:cNvPr>
          <p:cNvSpPr>
            <a:spLocks noGrp="1"/>
          </p:cNvSpPr>
          <p:nvPr>
            <p:ph type="title"/>
          </p:nvPr>
        </p:nvSpPr>
        <p:spPr>
          <a:xfrm>
            <a:off x="485999" y="174482"/>
            <a:ext cx="8171999" cy="338554"/>
          </a:xfrm>
        </p:spPr>
        <p:txBody>
          <a:bodyPr/>
          <a:lstStyle/>
          <a:p>
            <a:r>
              <a:rPr lang="en-US" altLang="zh-CN" dirty="0"/>
              <a:t>6.4.1  </a:t>
            </a:r>
            <a:r>
              <a:rPr lang="zh-CN" altLang="en-US" dirty="0"/>
              <a:t>万维网</a:t>
            </a:r>
          </a:p>
        </p:txBody>
      </p:sp>
      <p:sp>
        <p:nvSpPr>
          <p:cNvPr id="6" name="内容占位符 5">
            <a:extLst>
              <a:ext uri="{FF2B5EF4-FFF2-40B4-BE49-F238E27FC236}">
                <a16:creationId xmlns:a16="http://schemas.microsoft.com/office/drawing/2014/main" id="{6BFC31B7-58D6-5C31-B382-C61B8AE72055}"/>
              </a:ext>
            </a:extLst>
          </p:cNvPr>
          <p:cNvSpPr>
            <a:spLocks noGrp="1"/>
          </p:cNvSpPr>
          <p:nvPr>
            <p:ph sz="quarter" idx="11"/>
          </p:nvPr>
        </p:nvSpPr>
        <p:spPr>
          <a:xfrm>
            <a:off x="486000" y="687518"/>
            <a:ext cx="8172000" cy="4079035"/>
          </a:xfrm>
        </p:spPr>
        <p:txBody>
          <a:bodyPr/>
          <a:lstStyle/>
          <a:p>
            <a:r>
              <a:rPr lang="zh-CN" altLang="en-US" dirty="0"/>
              <a:t>万维网 </a:t>
            </a:r>
            <a:r>
              <a:rPr lang="en-US" altLang="zh-CN" dirty="0"/>
              <a:t>WWW - World Wide Web</a:t>
            </a:r>
          </a:p>
          <a:p>
            <a:pPr lvl="1"/>
            <a:r>
              <a:rPr lang="zh-CN" altLang="en-US" dirty="0"/>
              <a:t>一个大规模的、联机式的信息储藏所</a:t>
            </a:r>
            <a:endParaRPr lang="en-US" altLang="zh-CN" dirty="0"/>
          </a:p>
          <a:p>
            <a:pPr lvl="1"/>
            <a:r>
              <a:rPr lang="zh-CN" altLang="en-US" dirty="0"/>
              <a:t>并非某种特殊的计算机网络</a:t>
            </a:r>
            <a:endParaRPr lang="en-US" altLang="zh-CN" dirty="0"/>
          </a:p>
          <a:p>
            <a:pPr lvl="1"/>
            <a:r>
              <a:rPr lang="zh-CN" altLang="en-US" dirty="0"/>
              <a:t>访问方法：链接</a:t>
            </a:r>
            <a:endParaRPr lang="en-US" altLang="zh-CN" dirty="0"/>
          </a:p>
          <a:p>
            <a:pPr lvl="1"/>
            <a:r>
              <a:rPr lang="zh-CN" altLang="en-US" dirty="0"/>
              <a:t>提供分布式服务</a:t>
            </a:r>
          </a:p>
          <a:p>
            <a:pPr lvl="1"/>
            <a:endParaRPr lang="zh-CN" altLang="en-US" dirty="0"/>
          </a:p>
          <a:p>
            <a:endParaRPr lang="zh-CN" altLang="en-US" dirty="0"/>
          </a:p>
        </p:txBody>
      </p:sp>
      <p:sp>
        <p:nvSpPr>
          <p:cNvPr id="138" name="Text Box 5"/>
          <p:cNvSpPr txBox="1">
            <a:spLocks noChangeArrowheads="1"/>
          </p:cNvSpPr>
          <p:nvPr/>
        </p:nvSpPr>
        <p:spPr bwMode="auto">
          <a:xfrm>
            <a:off x="3484179" y="3302141"/>
            <a:ext cx="434425" cy="5655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4000" dirty="0">
                <a:solidFill>
                  <a:srgbClr val="009900"/>
                </a:solidFill>
                <a:latin typeface="Montserrat" panose="00000500000000000000" pitchFamily="2" charset="0"/>
                <a:ea typeface="微软雅黑 Light" panose="020B0502040204020203" pitchFamily="34" charset="-122"/>
                <a:sym typeface="Wingdings" pitchFamily="2" charset="2"/>
              </a:rPr>
              <a:t></a:t>
            </a:r>
            <a:endParaRPr kumimoji="1" lang="en-US" altLang="zh-CN" sz="4000" dirty="0">
              <a:solidFill>
                <a:srgbClr val="009900"/>
              </a:solidFill>
              <a:latin typeface="Montserrat" panose="00000500000000000000" pitchFamily="2" charset="0"/>
              <a:ea typeface="微软雅黑 Light" panose="020B0502040204020203" pitchFamily="34" charset="-122"/>
            </a:endParaRPr>
          </a:p>
        </p:txBody>
      </p:sp>
      <p:sp>
        <p:nvSpPr>
          <p:cNvPr id="139" name="Text Box 6"/>
          <p:cNvSpPr txBox="1">
            <a:spLocks noChangeArrowheads="1"/>
          </p:cNvSpPr>
          <p:nvPr/>
        </p:nvSpPr>
        <p:spPr bwMode="auto">
          <a:xfrm>
            <a:off x="2277974" y="2141875"/>
            <a:ext cx="434425" cy="5655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4000" dirty="0">
                <a:solidFill>
                  <a:srgbClr val="009900"/>
                </a:solidFill>
                <a:latin typeface="Montserrat" panose="00000500000000000000" pitchFamily="2" charset="0"/>
                <a:ea typeface="微软雅黑 Light" panose="020B0502040204020203" pitchFamily="34" charset="-122"/>
                <a:sym typeface="Wingdings" pitchFamily="2" charset="2"/>
              </a:rPr>
              <a:t></a:t>
            </a:r>
            <a:endParaRPr kumimoji="1" lang="en-US" altLang="zh-CN" sz="4000" dirty="0">
              <a:solidFill>
                <a:srgbClr val="009900"/>
              </a:solidFill>
              <a:latin typeface="Montserrat" panose="00000500000000000000" pitchFamily="2" charset="0"/>
              <a:ea typeface="微软雅黑 Light" panose="020B0502040204020203" pitchFamily="34" charset="-122"/>
            </a:endParaRPr>
          </a:p>
        </p:txBody>
      </p:sp>
      <p:sp>
        <p:nvSpPr>
          <p:cNvPr id="140" name="Text Box 7"/>
          <p:cNvSpPr txBox="1">
            <a:spLocks noChangeArrowheads="1"/>
          </p:cNvSpPr>
          <p:nvPr/>
        </p:nvSpPr>
        <p:spPr bwMode="auto">
          <a:xfrm>
            <a:off x="4293146" y="2041761"/>
            <a:ext cx="434425" cy="5655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4000" dirty="0">
                <a:solidFill>
                  <a:srgbClr val="009900"/>
                </a:solidFill>
                <a:latin typeface="Montserrat" panose="00000500000000000000" pitchFamily="2" charset="0"/>
                <a:ea typeface="微软雅黑 Light" panose="020B0502040204020203" pitchFamily="34" charset="-122"/>
                <a:sym typeface="Wingdings" pitchFamily="2" charset="2"/>
              </a:rPr>
              <a:t></a:t>
            </a:r>
            <a:endParaRPr kumimoji="1" lang="en-US" altLang="zh-CN" sz="4000" dirty="0">
              <a:solidFill>
                <a:srgbClr val="009900"/>
              </a:solidFill>
              <a:latin typeface="Montserrat" panose="00000500000000000000" pitchFamily="2" charset="0"/>
              <a:ea typeface="微软雅黑 Light" panose="020B0502040204020203" pitchFamily="34" charset="-122"/>
            </a:endParaRPr>
          </a:p>
        </p:txBody>
      </p:sp>
      <p:sp>
        <p:nvSpPr>
          <p:cNvPr id="141" name="Text Box 8"/>
          <p:cNvSpPr txBox="1">
            <a:spLocks noChangeArrowheads="1"/>
          </p:cNvSpPr>
          <p:nvPr/>
        </p:nvSpPr>
        <p:spPr bwMode="auto">
          <a:xfrm>
            <a:off x="5387480" y="3260346"/>
            <a:ext cx="434425" cy="5655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4000" dirty="0">
                <a:solidFill>
                  <a:srgbClr val="009900"/>
                </a:solidFill>
                <a:latin typeface="Montserrat" panose="00000500000000000000" pitchFamily="2" charset="0"/>
                <a:ea typeface="微软雅黑 Light" panose="020B0502040204020203" pitchFamily="34" charset="-122"/>
                <a:sym typeface="Wingdings" pitchFamily="2" charset="2"/>
              </a:rPr>
              <a:t></a:t>
            </a:r>
            <a:endParaRPr kumimoji="1" lang="en-US" altLang="zh-CN" sz="4000" dirty="0">
              <a:solidFill>
                <a:srgbClr val="009900"/>
              </a:solidFill>
              <a:latin typeface="Montserrat" panose="00000500000000000000" pitchFamily="2" charset="0"/>
              <a:ea typeface="微软雅黑 Light" panose="020B0502040204020203" pitchFamily="34" charset="-122"/>
            </a:endParaRPr>
          </a:p>
        </p:txBody>
      </p:sp>
      <p:sp>
        <p:nvSpPr>
          <p:cNvPr id="163" name="Text Box 9"/>
          <p:cNvSpPr txBox="1">
            <a:spLocks noChangeArrowheads="1"/>
          </p:cNvSpPr>
          <p:nvPr/>
        </p:nvSpPr>
        <p:spPr bwMode="auto">
          <a:xfrm>
            <a:off x="5791669" y="2313576"/>
            <a:ext cx="434425" cy="5655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4000" dirty="0">
                <a:solidFill>
                  <a:srgbClr val="009900"/>
                </a:solidFill>
                <a:latin typeface="Montserrat" panose="00000500000000000000" pitchFamily="2" charset="0"/>
                <a:ea typeface="微软雅黑 Light" panose="020B0502040204020203" pitchFamily="34" charset="-122"/>
                <a:sym typeface="Wingdings" pitchFamily="2" charset="2"/>
              </a:rPr>
              <a:t></a:t>
            </a:r>
            <a:endParaRPr kumimoji="1" lang="en-US" altLang="zh-CN" sz="4000" dirty="0">
              <a:solidFill>
                <a:srgbClr val="009900"/>
              </a:solidFill>
              <a:latin typeface="Montserrat" panose="00000500000000000000" pitchFamily="2" charset="0"/>
              <a:ea typeface="微软雅黑 Light" panose="020B0502040204020203" pitchFamily="34" charset="-122"/>
            </a:endParaRPr>
          </a:p>
        </p:txBody>
      </p:sp>
      <p:sp>
        <p:nvSpPr>
          <p:cNvPr id="174" name="Text Box 11"/>
          <p:cNvSpPr txBox="1">
            <a:spLocks noChangeArrowheads="1"/>
          </p:cNvSpPr>
          <p:nvPr/>
        </p:nvSpPr>
        <p:spPr bwMode="auto">
          <a:xfrm>
            <a:off x="2244675" y="3166297"/>
            <a:ext cx="501023" cy="221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Site A</a:t>
            </a:r>
          </a:p>
        </p:txBody>
      </p:sp>
      <p:sp>
        <p:nvSpPr>
          <p:cNvPr id="179" name="Text Box 16"/>
          <p:cNvSpPr txBox="1">
            <a:spLocks noChangeArrowheads="1"/>
          </p:cNvSpPr>
          <p:nvPr/>
        </p:nvSpPr>
        <p:spPr bwMode="auto">
          <a:xfrm>
            <a:off x="5758370" y="3238782"/>
            <a:ext cx="501023" cy="221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Site C</a:t>
            </a:r>
          </a:p>
        </p:txBody>
      </p:sp>
      <p:sp>
        <p:nvSpPr>
          <p:cNvPr id="180" name="Text Box 17"/>
          <p:cNvSpPr txBox="1">
            <a:spLocks noChangeArrowheads="1"/>
          </p:cNvSpPr>
          <p:nvPr/>
        </p:nvSpPr>
        <p:spPr bwMode="auto">
          <a:xfrm>
            <a:off x="5357383" y="4260198"/>
            <a:ext cx="494619" cy="221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latin typeface="Montserrat" panose="00000500000000000000" pitchFamily="2" charset="0"/>
                <a:ea typeface="微软雅黑 Light" panose="020B0502040204020203" pitchFamily="34" charset="-122"/>
              </a:rPr>
              <a:t>Site E</a:t>
            </a:r>
          </a:p>
        </p:txBody>
      </p:sp>
      <p:sp>
        <p:nvSpPr>
          <p:cNvPr id="181" name="Text Box 18"/>
          <p:cNvSpPr txBox="1">
            <a:spLocks noChangeArrowheads="1"/>
          </p:cNvSpPr>
          <p:nvPr/>
        </p:nvSpPr>
        <p:spPr bwMode="auto">
          <a:xfrm>
            <a:off x="3444476" y="4312272"/>
            <a:ext cx="513830" cy="221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latin typeface="Montserrat" panose="00000500000000000000" pitchFamily="2" charset="0"/>
                <a:ea typeface="微软雅黑 Light" panose="020B0502040204020203" pitchFamily="34" charset="-122"/>
              </a:rPr>
              <a:t>Site D</a:t>
            </a:r>
          </a:p>
        </p:txBody>
      </p:sp>
      <p:sp>
        <p:nvSpPr>
          <p:cNvPr id="182" name="Text Box 19"/>
          <p:cNvSpPr txBox="1">
            <a:spLocks noChangeArrowheads="1"/>
          </p:cNvSpPr>
          <p:nvPr/>
        </p:nvSpPr>
        <p:spPr bwMode="auto">
          <a:xfrm>
            <a:off x="4257926" y="3037234"/>
            <a:ext cx="504865" cy="221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Site B</a:t>
            </a:r>
          </a:p>
        </p:txBody>
      </p:sp>
      <p:sp>
        <p:nvSpPr>
          <p:cNvPr id="184" name="Line 25"/>
          <p:cNvSpPr>
            <a:spLocks noChangeShapeType="1"/>
          </p:cNvSpPr>
          <p:nvPr/>
        </p:nvSpPr>
        <p:spPr bwMode="auto">
          <a:xfrm flipV="1">
            <a:off x="2708893" y="2339557"/>
            <a:ext cx="1600791" cy="142876"/>
          </a:xfrm>
          <a:prstGeom prst="line">
            <a:avLst/>
          </a:prstGeom>
          <a:noFill/>
          <a:ln w="19050">
            <a:solidFill>
              <a:srgbClr val="00B0F0"/>
            </a:solidFill>
            <a:prstDash val="sysDot"/>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185" name="Text Box 26"/>
          <p:cNvSpPr txBox="1">
            <a:spLocks noChangeArrowheads="1"/>
          </p:cNvSpPr>
          <p:nvPr/>
        </p:nvSpPr>
        <p:spPr bwMode="auto">
          <a:xfrm rot="21377422">
            <a:off x="3130740" y="2201701"/>
            <a:ext cx="788999"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000" dirty="0">
                <a:latin typeface="Montserrat" panose="00000500000000000000" pitchFamily="2" charset="0"/>
                <a:ea typeface="微软雅黑 Light" panose="020B0502040204020203" pitchFamily="34" charset="-122"/>
              </a:rPr>
              <a:t>hyperlink</a:t>
            </a:r>
            <a:endParaRPr kumimoji="1" lang="zh-CN" altLang="en-US" sz="1000" dirty="0">
              <a:latin typeface="Montserrat" panose="00000500000000000000" pitchFamily="2" charset="0"/>
              <a:ea typeface="微软雅黑 Light" panose="020B0502040204020203" pitchFamily="34" charset="-122"/>
            </a:endParaRPr>
          </a:p>
        </p:txBody>
      </p:sp>
      <p:sp>
        <p:nvSpPr>
          <p:cNvPr id="187" name="Line 22"/>
          <p:cNvSpPr>
            <a:spLocks noChangeShapeType="1"/>
          </p:cNvSpPr>
          <p:nvPr/>
        </p:nvSpPr>
        <p:spPr bwMode="auto">
          <a:xfrm flipH="1">
            <a:off x="3790248" y="2544687"/>
            <a:ext cx="541744" cy="914777"/>
          </a:xfrm>
          <a:prstGeom prst="line">
            <a:avLst/>
          </a:prstGeom>
          <a:noFill/>
          <a:ln w="19050">
            <a:solidFill>
              <a:srgbClr val="00B0F0"/>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188" name="Text Box 27"/>
          <p:cNvSpPr txBox="1">
            <a:spLocks noChangeArrowheads="1"/>
          </p:cNvSpPr>
          <p:nvPr/>
        </p:nvSpPr>
        <p:spPr bwMode="auto">
          <a:xfrm rot="18143965">
            <a:off x="3654585" y="2706241"/>
            <a:ext cx="788999"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000" dirty="0">
                <a:latin typeface="Montserrat" panose="00000500000000000000" pitchFamily="2" charset="0"/>
                <a:ea typeface="微软雅黑 Light" panose="020B0502040204020203" pitchFamily="34" charset="-122"/>
              </a:rPr>
              <a:t>hyperlink</a:t>
            </a:r>
            <a:endParaRPr kumimoji="1" lang="zh-CN" altLang="en-US" sz="1000" dirty="0">
              <a:latin typeface="Montserrat" panose="00000500000000000000" pitchFamily="2" charset="0"/>
              <a:ea typeface="微软雅黑 Light" panose="020B0502040204020203" pitchFamily="34" charset="-122"/>
            </a:endParaRPr>
          </a:p>
        </p:txBody>
      </p:sp>
      <p:sp>
        <p:nvSpPr>
          <p:cNvPr id="190" name="Line 20"/>
          <p:cNvSpPr>
            <a:spLocks noChangeShapeType="1"/>
          </p:cNvSpPr>
          <p:nvPr/>
        </p:nvSpPr>
        <p:spPr bwMode="auto">
          <a:xfrm>
            <a:off x="2708893" y="2634812"/>
            <a:ext cx="2742401" cy="1111162"/>
          </a:xfrm>
          <a:prstGeom prst="line">
            <a:avLst/>
          </a:prstGeom>
          <a:noFill/>
          <a:ln w="19050">
            <a:solidFill>
              <a:srgbClr val="00B0F0"/>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191" name="Text Box 28"/>
          <p:cNvSpPr txBox="1">
            <a:spLocks noChangeArrowheads="1"/>
          </p:cNvSpPr>
          <p:nvPr/>
        </p:nvSpPr>
        <p:spPr bwMode="auto">
          <a:xfrm rot="1357240">
            <a:off x="2900513" y="2634226"/>
            <a:ext cx="788999"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000" dirty="0">
                <a:latin typeface="Montserrat" panose="00000500000000000000" pitchFamily="2" charset="0"/>
                <a:ea typeface="微软雅黑 Light" panose="020B0502040204020203" pitchFamily="34" charset="-122"/>
              </a:rPr>
              <a:t>hyperlink</a:t>
            </a:r>
            <a:endParaRPr kumimoji="1" lang="zh-CN" altLang="en-US" sz="1000" dirty="0">
              <a:latin typeface="Montserrat" panose="00000500000000000000" pitchFamily="2" charset="0"/>
              <a:ea typeface="微软雅黑 Light" panose="020B0502040204020203" pitchFamily="34" charset="-122"/>
            </a:endParaRPr>
          </a:p>
        </p:txBody>
      </p:sp>
      <p:sp>
        <p:nvSpPr>
          <p:cNvPr id="193" name="Line 21"/>
          <p:cNvSpPr>
            <a:spLocks noChangeShapeType="1"/>
          </p:cNvSpPr>
          <p:nvPr/>
        </p:nvSpPr>
        <p:spPr bwMode="auto">
          <a:xfrm flipV="1">
            <a:off x="3903221" y="3034269"/>
            <a:ext cx="1855148" cy="761601"/>
          </a:xfrm>
          <a:prstGeom prst="line">
            <a:avLst/>
          </a:prstGeom>
          <a:noFill/>
          <a:ln w="19050">
            <a:solidFill>
              <a:srgbClr val="00B0F0"/>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194" name="Text Box 29"/>
          <p:cNvSpPr txBox="1">
            <a:spLocks noChangeArrowheads="1"/>
          </p:cNvSpPr>
          <p:nvPr/>
        </p:nvSpPr>
        <p:spPr bwMode="auto">
          <a:xfrm rot="20118828">
            <a:off x="3937492" y="3586431"/>
            <a:ext cx="788999"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000" dirty="0">
                <a:latin typeface="Montserrat" panose="00000500000000000000" pitchFamily="2" charset="0"/>
                <a:ea typeface="微软雅黑 Light" panose="020B0502040204020203" pitchFamily="34" charset="-122"/>
              </a:rPr>
              <a:t>hyperlink</a:t>
            </a:r>
            <a:endParaRPr kumimoji="1" lang="zh-CN" altLang="en-US" sz="1000" dirty="0">
              <a:latin typeface="Montserrat" panose="00000500000000000000" pitchFamily="2" charset="0"/>
              <a:ea typeface="微软雅黑 Light" panose="020B0502040204020203" pitchFamily="34" charset="-122"/>
            </a:endParaRPr>
          </a:p>
        </p:txBody>
      </p:sp>
      <p:sp>
        <p:nvSpPr>
          <p:cNvPr id="199" name="Line 23"/>
          <p:cNvSpPr>
            <a:spLocks noChangeShapeType="1"/>
          </p:cNvSpPr>
          <p:nvPr/>
        </p:nvSpPr>
        <p:spPr bwMode="auto">
          <a:xfrm>
            <a:off x="4692183" y="2634812"/>
            <a:ext cx="759112" cy="864625"/>
          </a:xfrm>
          <a:prstGeom prst="line">
            <a:avLst/>
          </a:prstGeom>
          <a:noFill/>
          <a:ln w="19050">
            <a:solidFill>
              <a:srgbClr val="00B0F0"/>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200" name="Text Box 31"/>
          <p:cNvSpPr txBox="1">
            <a:spLocks noChangeArrowheads="1"/>
          </p:cNvSpPr>
          <p:nvPr/>
        </p:nvSpPr>
        <p:spPr bwMode="auto">
          <a:xfrm rot="2686426">
            <a:off x="4678200" y="2742325"/>
            <a:ext cx="788999"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000" dirty="0">
                <a:latin typeface="Montserrat" panose="00000500000000000000" pitchFamily="2" charset="0"/>
                <a:ea typeface="微软雅黑 Light" panose="020B0502040204020203" pitchFamily="34" charset="-122"/>
              </a:rPr>
              <a:t>hyperlink</a:t>
            </a:r>
            <a:endParaRPr kumimoji="1" lang="zh-CN" altLang="en-US" sz="1000" dirty="0">
              <a:latin typeface="Montserrat" panose="00000500000000000000" pitchFamily="2" charset="0"/>
              <a:ea typeface="微软雅黑 Light" panose="020B0502040204020203" pitchFamily="34" charset="-122"/>
            </a:endParaRPr>
          </a:p>
        </p:txBody>
      </p:sp>
      <p:pic>
        <p:nvPicPr>
          <p:cNvPr id="219" name="Picture 200"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00358" y="3938746"/>
            <a:ext cx="402066" cy="402066"/>
          </a:xfrm>
          <a:prstGeom prst="rect">
            <a:avLst/>
          </a:prstGeom>
          <a:noFill/>
          <a:extLst>
            <a:ext uri="{909E8E84-426E-40DD-AFC4-6F175D3DCCD1}">
              <a14:hiddenFill xmlns:a14="http://schemas.microsoft.com/office/drawing/2010/main">
                <a:solidFill>
                  <a:srgbClr val="FFFFFF"/>
                </a:solidFill>
              </a14:hiddenFill>
            </a:ext>
          </a:extLst>
        </p:spPr>
      </p:pic>
      <p:pic>
        <p:nvPicPr>
          <p:cNvPr id="220" name="Picture 200"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09325" y="2687716"/>
            <a:ext cx="402066" cy="402066"/>
          </a:xfrm>
          <a:prstGeom prst="rect">
            <a:avLst/>
          </a:prstGeom>
          <a:noFill/>
          <a:extLst>
            <a:ext uri="{909E8E84-426E-40DD-AFC4-6F175D3DCCD1}">
              <a14:hiddenFill xmlns:a14="http://schemas.microsoft.com/office/drawing/2010/main">
                <a:solidFill>
                  <a:srgbClr val="FFFFFF"/>
                </a:solidFill>
              </a14:hiddenFill>
            </a:ext>
          </a:extLst>
        </p:spPr>
      </p:pic>
      <p:pic>
        <p:nvPicPr>
          <p:cNvPr id="221" name="Picture 200"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07848" y="2868171"/>
            <a:ext cx="402066" cy="402066"/>
          </a:xfrm>
          <a:prstGeom prst="rect">
            <a:avLst/>
          </a:prstGeom>
          <a:noFill/>
          <a:extLst>
            <a:ext uri="{909E8E84-426E-40DD-AFC4-6F175D3DCCD1}">
              <a14:hiddenFill xmlns:a14="http://schemas.microsoft.com/office/drawing/2010/main">
                <a:solidFill>
                  <a:srgbClr val="FFFFFF"/>
                </a:solidFill>
              </a14:hiddenFill>
            </a:ext>
          </a:extLst>
        </p:spPr>
      </p:pic>
      <p:pic>
        <p:nvPicPr>
          <p:cNvPr id="222" name="Picture 200"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03659" y="3897296"/>
            <a:ext cx="402066" cy="402066"/>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200" descr="jisuanji">
            <a:extLst>
              <a:ext uri="{FF2B5EF4-FFF2-40B4-BE49-F238E27FC236}">
                <a16:creationId xmlns:a16="http://schemas.microsoft.com/office/drawing/2014/main" id="{CDE12068-5C2B-3416-B5B5-110E101C47E4}"/>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94153" y="2769744"/>
            <a:ext cx="402066" cy="402066"/>
          </a:xfrm>
          <a:prstGeom prst="rect">
            <a:avLst/>
          </a:prstGeom>
          <a:noFill/>
          <a:extLst>
            <a:ext uri="{909E8E84-426E-40DD-AFC4-6F175D3DCCD1}">
              <a14:hiddenFill xmlns:a14="http://schemas.microsoft.com/office/drawing/2010/main">
                <a:solidFill>
                  <a:srgbClr val="FFFFFF"/>
                </a:solidFill>
              </a14:hiddenFill>
            </a:ext>
          </a:extLst>
        </p:spPr>
      </p:pic>
      <p:sp>
        <p:nvSpPr>
          <p:cNvPr id="196" name="Line 24"/>
          <p:cNvSpPr>
            <a:spLocks noChangeShapeType="1"/>
          </p:cNvSpPr>
          <p:nvPr/>
        </p:nvSpPr>
        <p:spPr bwMode="auto">
          <a:xfrm flipH="1" flipV="1">
            <a:off x="2683406" y="2769744"/>
            <a:ext cx="878522" cy="874803"/>
          </a:xfrm>
          <a:prstGeom prst="line">
            <a:avLst/>
          </a:prstGeom>
          <a:noFill/>
          <a:ln w="19050">
            <a:solidFill>
              <a:srgbClr val="00B0F0"/>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197" name="Text Box 30"/>
          <p:cNvSpPr txBox="1">
            <a:spLocks noChangeArrowheads="1"/>
          </p:cNvSpPr>
          <p:nvPr/>
        </p:nvSpPr>
        <p:spPr bwMode="auto">
          <a:xfrm rot="2570439">
            <a:off x="2878184" y="3047625"/>
            <a:ext cx="788999"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000" dirty="0">
                <a:latin typeface="Montserrat" panose="00000500000000000000" pitchFamily="2" charset="0"/>
                <a:ea typeface="微软雅黑 Light" panose="020B0502040204020203" pitchFamily="34" charset="-122"/>
              </a:rPr>
              <a:t>hyperlink</a:t>
            </a:r>
            <a:endParaRPr kumimoji="1" lang="zh-CN" altLang="en-US" sz="10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25981700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DDD4DD07-2C87-9C19-22D1-59237644EB6C}"/>
              </a:ext>
            </a:extLst>
          </p:cNvPr>
          <p:cNvSpPr>
            <a:spLocks noGrp="1"/>
          </p:cNvSpPr>
          <p:nvPr>
            <p:ph type="title"/>
          </p:nvPr>
        </p:nvSpPr>
        <p:spPr>
          <a:xfrm>
            <a:off x="485999" y="174482"/>
            <a:ext cx="8171999" cy="338554"/>
          </a:xfrm>
        </p:spPr>
        <p:txBody>
          <a:bodyPr/>
          <a:lstStyle/>
          <a:p>
            <a:r>
              <a:rPr lang="en-US" altLang="zh-CN" dirty="0"/>
              <a:t>6.4.1  </a:t>
            </a:r>
            <a:r>
              <a:rPr lang="zh-CN" altLang="en-US" dirty="0"/>
              <a:t>万维网</a:t>
            </a:r>
          </a:p>
        </p:txBody>
      </p:sp>
      <p:sp>
        <p:nvSpPr>
          <p:cNvPr id="6" name="内容占位符 5">
            <a:extLst>
              <a:ext uri="{FF2B5EF4-FFF2-40B4-BE49-F238E27FC236}">
                <a16:creationId xmlns:a16="http://schemas.microsoft.com/office/drawing/2014/main" id="{112660B0-D440-C132-1245-0C7311303A49}"/>
              </a:ext>
            </a:extLst>
          </p:cNvPr>
          <p:cNvSpPr>
            <a:spLocks noGrp="1"/>
          </p:cNvSpPr>
          <p:nvPr>
            <p:ph sz="quarter" idx="11"/>
          </p:nvPr>
        </p:nvSpPr>
        <p:spPr>
          <a:xfrm>
            <a:off x="486000" y="687518"/>
            <a:ext cx="8172000" cy="4079035"/>
          </a:xfrm>
        </p:spPr>
        <p:txBody>
          <a:bodyPr/>
          <a:lstStyle/>
          <a:p>
            <a:r>
              <a:rPr lang="zh-CN" altLang="en-US" dirty="0"/>
              <a:t>万维网是分布式超媒体 </a:t>
            </a:r>
            <a:r>
              <a:rPr lang="en-US" altLang="zh-CN" dirty="0"/>
              <a:t>Hypermedia </a:t>
            </a:r>
            <a:r>
              <a:rPr lang="zh-CN" altLang="en-US" dirty="0"/>
              <a:t>系统</a:t>
            </a:r>
          </a:p>
          <a:p>
            <a:r>
              <a:rPr lang="zh-CN" altLang="en-US" dirty="0"/>
              <a:t>是超文本 </a:t>
            </a:r>
            <a:r>
              <a:rPr lang="en-US" altLang="zh-CN" dirty="0"/>
              <a:t>Hypertext  </a:t>
            </a:r>
            <a:r>
              <a:rPr lang="zh-CN" altLang="en-US" dirty="0"/>
              <a:t>系统的扩充</a:t>
            </a:r>
          </a:p>
          <a:p>
            <a:r>
              <a:rPr lang="zh-CN" altLang="en-US" dirty="0"/>
              <a:t>超文本</a:t>
            </a:r>
            <a:endParaRPr lang="en-US" altLang="zh-CN" dirty="0"/>
          </a:p>
          <a:p>
            <a:pPr lvl="1"/>
            <a:r>
              <a:rPr lang="zh-CN" altLang="en-US" dirty="0"/>
              <a:t>由多个信息源链接成</a:t>
            </a:r>
            <a:endParaRPr lang="en-US" altLang="zh-CN" dirty="0"/>
          </a:p>
          <a:p>
            <a:pPr lvl="1"/>
            <a:r>
              <a:rPr lang="zh-CN" altLang="en-US" dirty="0"/>
              <a:t>是万维网的基础</a:t>
            </a:r>
          </a:p>
          <a:p>
            <a:r>
              <a:rPr lang="zh-CN" altLang="en-US" dirty="0"/>
              <a:t>超媒体与超文本的区别</a:t>
            </a:r>
            <a:endParaRPr lang="en-US" altLang="zh-CN" dirty="0"/>
          </a:p>
          <a:p>
            <a:pPr lvl="1"/>
            <a:r>
              <a:rPr lang="zh-CN" altLang="en-US" dirty="0"/>
              <a:t>超文本文档仅包含文本信息</a:t>
            </a:r>
            <a:endParaRPr lang="en-US" altLang="zh-CN" dirty="0"/>
          </a:p>
          <a:p>
            <a:pPr lvl="1"/>
            <a:r>
              <a:rPr lang="zh-CN" altLang="en-US" dirty="0"/>
              <a:t>超媒体文档还包含其他信息，如图形、图像、声音、动画，甚至活动视频图像等</a:t>
            </a:r>
            <a:endParaRPr lang="en-US" altLang="zh-CN" dirty="0"/>
          </a:p>
          <a:p>
            <a:pPr lvl="1"/>
            <a:r>
              <a:rPr lang="zh-CN" altLang="en-US" dirty="0"/>
              <a:t>分布式系统</a:t>
            </a:r>
            <a:endParaRPr lang="en-US" altLang="zh-CN" dirty="0"/>
          </a:p>
          <a:p>
            <a:pPr lvl="1"/>
            <a:r>
              <a:rPr lang="zh-CN" altLang="en-US" dirty="0"/>
              <a:t>信息分布在整个互联网上。每台主机上的文档都独立进行管理</a:t>
            </a:r>
          </a:p>
          <a:p>
            <a:endParaRPr lang="zh-CN" altLang="en-US" dirty="0"/>
          </a:p>
        </p:txBody>
      </p:sp>
    </p:spTree>
    <p:extLst>
      <p:ext uri="{BB962C8B-B14F-4D97-AF65-F5344CB8AC3E}">
        <p14:creationId xmlns:p14="http://schemas.microsoft.com/office/powerpoint/2010/main" val="24101201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D49B3AE6-00CA-4063-181C-55282E0C2875}"/>
              </a:ext>
            </a:extLst>
          </p:cNvPr>
          <p:cNvSpPr>
            <a:spLocks noGrp="1"/>
          </p:cNvSpPr>
          <p:nvPr>
            <p:ph type="title"/>
          </p:nvPr>
        </p:nvSpPr>
        <p:spPr>
          <a:xfrm>
            <a:off x="485999" y="174482"/>
            <a:ext cx="8171999" cy="338554"/>
          </a:xfrm>
        </p:spPr>
        <p:txBody>
          <a:bodyPr/>
          <a:lstStyle/>
          <a:p>
            <a:r>
              <a:rPr lang="en-US" altLang="zh-CN" dirty="0"/>
              <a:t>6.4.1  </a:t>
            </a:r>
            <a:r>
              <a:rPr lang="zh-CN" altLang="en-US" dirty="0"/>
              <a:t>万维网</a:t>
            </a:r>
          </a:p>
        </p:txBody>
      </p:sp>
      <p:sp>
        <p:nvSpPr>
          <p:cNvPr id="6" name="内容占位符 5">
            <a:extLst>
              <a:ext uri="{FF2B5EF4-FFF2-40B4-BE49-F238E27FC236}">
                <a16:creationId xmlns:a16="http://schemas.microsoft.com/office/drawing/2014/main" id="{FE67586E-52D7-451E-2FCA-3E6BB107C478}"/>
              </a:ext>
            </a:extLst>
          </p:cNvPr>
          <p:cNvSpPr>
            <a:spLocks noGrp="1"/>
          </p:cNvSpPr>
          <p:nvPr>
            <p:ph sz="quarter" idx="11"/>
          </p:nvPr>
        </p:nvSpPr>
        <p:spPr>
          <a:xfrm>
            <a:off x="486000" y="687518"/>
            <a:ext cx="8172000" cy="4079035"/>
          </a:xfrm>
        </p:spPr>
        <p:txBody>
          <a:bodyPr/>
          <a:lstStyle/>
          <a:p>
            <a:r>
              <a:rPr lang="zh-CN" altLang="en-US" dirty="0"/>
              <a:t>以客户 </a:t>
            </a:r>
            <a:r>
              <a:rPr lang="en-US" altLang="zh-CN" dirty="0"/>
              <a:t>Client/</a:t>
            </a:r>
            <a:r>
              <a:rPr lang="zh-CN" altLang="en-US" dirty="0"/>
              <a:t>服务器</a:t>
            </a:r>
            <a:r>
              <a:rPr lang="en-US" altLang="zh-CN" dirty="0"/>
              <a:t>Server</a:t>
            </a:r>
            <a:r>
              <a:rPr lang="zh-CN" altLang="en-US" dirty="0"/>
              <a:t> </a:t>
            </a:r>
            <a:r>
              <a:rPr lang="en-US" altLang="zh-CN" dirty="0"/>
              <a:t>– C/S </a:t>
            </a:r>
            <a:r>
              <a:rPr lang="zh-CN" altLang="en-US" dirty="0"/>
              <a:t>方式工作</a:t>
            </a:r>
          </a:p>
          <a:p>
            <a:r>
              <a:rPr lang="zh-CN" altLang="en-US" dirty="0"/>
              <a:t>客户程序</a:t>
            </a:r>
            <a:endParaRPr lang="en-US" altLang="zh-CN" dirty="0"/>
          </a:p>
          <a:p>
            <a:pPr lvl="1"/>
            <a:r>
              <a:rPr lang="zh-CN" altLang="en-US" dirty="0"/>
              <a:t>客户程序向服务器程序发出请求</a:t>
            </a:r>
            <a:endParaRPr lang="en-US" altLang="zh-CN" dirty="0"/>
          </a:p>
          <a:p>
            <a:pPr lvl="1"/>
            <a:r>
              <a:rPr lang="zh-CN" altLang="en-US" dirty="0"/>
              <a:t>一个客户程序主窗口上显示出的万维网文档称为页面 </a:t>
            </a:r>
            <a:r>
              <a:rPr lang="en-US" altLang="zh-CN" dirty="0"/>
              <a:t>Page</a:t>
            </a:r>
          </a:p>
          <a:p>
            <a:pPr lvl="1"/>
            <a:r>
              <a:rPr lang="zh-CN" altLang="en-US" dirty="0"/>
              <a:t>浏览器</a:t>
            </a:r>
            <a:endParaRPr lang="en-US" altLang="zh-CN" dirty="0"/>
          </a:p>
          <a:p>
            <a:r>
              <a:rPr lang="zh-CN" altLang="en-US" dirty="0"/>
              <a:t>服务器程序</a:t>
            </a:r>
            <a:endParaRPr lang="en-US" altLang="zh-CN" dirty="0"/>
          </a:p>
          <a:p>
            <a:pPr lvl="1"/>
            <a:r>
              <a:rPr lang="zh-CN" altLang="en-US" dirty="0"/>
              <a:t>在万维网文档所驻留的主机上运行。这个主机也称为万维网服务器</a:t>
            </a:r>
            <a:endParaRPr lang="en-US" altLang="zh-CN" dirty="0"/>
          </a:p>
          <a:p>
            <a:pPr lvl="1"/>
            <a:r>
              <a:rPr lang="zh-CN" altLang="en-US" dirty="0"/>
              <a:t>服务器程序向客户程序送回客户所要的万维网文档</a:t>
            </a:r>
          </a:p>
        </p:txBody>
      </p:sp>
    </p:spTree>
    <p:extLst>
      <p:ext uri="{BB962C8B-B14F-4D97-AF65-F5344CB8AC3E}">
        <p14:creationId xmlns:p14="http://schemas.microsoft.com/office/powerpoint/2010/main" val="1747270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94F1E1E-A38F-3B02-E851-C281C2BD14CB}"/>
              </a:ext>
            </a:extLst>
          </p:cNvPr>
          <p:cNvSpPr>
            <a:spLocks noGrp="1"/>
          </p:cNvSpPr>
          <p:nvPr>
            <p:ph type="title"/>
          </p:nvPr>
        </p:nvSpPr>
        <p:spPr>
          <a:xfrm>
            <a:off x="485999" y="174482"/>
            <a:ext cx="8171999" cy="338554"/>
          </a:xfrm>
        </p:spPr>
        <p:txBody>
          <a:bodyPr/>
          <a:lstStyle/>
          <a:p>
            <a:r>
              <a:rPr lang="en-US" altLang="zh-CN" dirty="0"/>
              <a:t>6.4.1  </a:t>
            </a:r>
            <a:r>
              <a:rPr lang="zh-CN" altLang="en-US" dirty="0"/>
              <a:t>万维网</a:t>
            </a:r>
          </a:p>
        </p:txBody>
      </p:sp>
      <p:sp>
        <p:nvSpPr>
          <p:cNvPr id="6" name="内容占位符 5">
            <a:extLst>
              <a:ext uri="{FF2B5EF4-FFF2-40B4-BE49-F238E27FC236}">
                <a16:creationId xmlns:a16="http://schemas.microsoft.com/office/drawing/2014/main" id="{60A3FF74-7570-8C38-0408-3277E10EA2B2}"/>
              </a:ext>
            </a:extLst>
          </p:cNvPr>
          <p:cNvSpPr>
            <a:spLocks noGrp="1"/>
          </p:cNvSpPr>
          <p:nvPr>
            <p:ph sz="quarter" idx="11"/>
          </p:nvPr>
        </p:nvSpPr>
        <p:spPr>
          <a:xfrm>
            <a:off x="486000" y="687518"/>
            <a:ext cx="8172000" cy="4079035"/>
          </a:xfrm>
        </p:spPr>
        <p:txBody>
          <a:bodyPr/>
          <a:lstStyle/>
          <a:p>
            <a:r>
              <a:rPr lang="zh-CN" altLang="en-US" dirty="0"/>
              <a:t>怎样标志分布在整个互联网上的万维网文档？ </a:t>
            </a:r>
          </a:p>
          <a:p>
            <a:pPr lvl="1"/>
            <a:r>
              <a:rPr lang="zh-CN" altLang="en-US" dirty="0"/>
              <a:t>使用统一资源定位符 </a:t>
            </a:r>
            <a:r>
              <a:rPr lang="en-US" altLang="zh-CN" dirty="0"/>
              <a:t>URL - Uniform Resource Locator</a:t>
            </a:r>
            <a:endParaRPr lang="zh-CN" altLang="en-US" dirty="0"/>
          </a:p>
          <a:p>
            <a:pPr lvl="1"/>
            <a:r>
              <a:rPr lang="zh-CN" altLang="en-US" dirty="0"/>
              <a:t>使每一个文档在整个互联网的范围内具有唯一的标识符 </a:t>
            </a:r>
            <a:r>
              <a:rPr lang="en-US" altLang="zh-CN" dirty="0"/>
              <a:t>URL</a:t>
            </a:r>
          </a:p>
          <a:p>
            <a:r>
              <a:rPr lang="zh-CN" altLang="en-US" dirty="0"/>
              <a:t>用什么协议来实现万维网上的各种链接？ </a:t>
            </a:r>
          </a:p>
          <a:p>
            <a:pPr lvl="1"/>
            <a:r>
              <a:rPr lang="zh-CN" altLang="en-US" dirty="0"/>
              <a:t>使用超文本传送协议 </a:t>
            </a:r>
            <a:r>
              <a:rPr lang="en-US" altLang="zh-CN" dirty="0"/>
              <a:t>HTTP - </a:t>
            </a:r>
            <a:r>
              <a:rPr lang="en-US" altLang="zh-CN" dirty="0" err="1"/>
              <a:t>HyperText</a:t>
            </a:r>
            <a:r>
              <a:rPr lang="en-US" altLang="zh-CN" dirty="0"/>
              <a:t> Transfer Protocol</a:t>
            </a:r>
            <a:endParaRPr lang="zh-CN" altLang="en-US" dirty="0"/>
          </a:p>
          <a:p>
            <a:pPr lvl="1"/>
            <a:r>
              <a:rPr lang="en-US" altLang="zh-CN" dirty="0"/>
              <a:t>HTTP </a:t>
            </a:r>
            <a:r>
              <a:rPr lang="zh-CN" altLang="en-US" dirty="0"/>
              <a:t>是一个应用层协议，使用 </a:t>
            </a:r>
            <a:r>
              <a:rPr lang="en-US" altLang="zh-CN" dirty="0"/>
              <a:t>TCP </a:t>
            </a:r>
            <a:r>
              <a:rPr lang="zh-CN" altLang="en-US" dirty="0"/>
              <a:t>连接进行可靠的传送 </a:t>
            </a:r>
          </a:p>
          <a:p>
            <a:r>
              <a:rPr lang="zh-CN" altLang="en-US" dirty="0"/>
              <a:t>怎样使不同作者创作的不同风格的万维网文档都能在互联网上的各种主机上显示出来，同时使用户清楚地知道在什么地方存在着链接？</a:t>
            </a:r>
            <a:endParaRPr lang="en-US" altLang="zh-CN" dirty="0"/>
          </a:p>
          <a:p>
            <a:pPr lvl="1"/>
            <a:r>
              <a:rPr lang="zh-CN" altLang="en-US" dirty="0"/>
              <a:t>使用超文本标记语言 </a:t>
            </a:r>
            <a:r>
              <a:rPr lang="en-US" altLang="zh-CN" dirty="0"/>
              <a:t>HTML - </a:t>
            </a:r>
            <a:r>
              <a:rPr lang="en-US" altLang="zh-CN" dirty="0" err="1"/>
              <a:t>HyperText</a:t>
            </a:r>
            <a:r>
              <a:rPr lang="en-US" altLang="zh-CN" dirty="0"/>
              <a:t> Markup Language</a:t>
            </a:r>
          </a:p>
          <a:p>
            <a:r>
              <a:rPr lang="zh-CN" altLang="en-US" dirty="0"/>
              <a:t>怎样使用户能够很方便地找到所需的信息？ </a:t>
            </a:r>
          </a:p>
          <a:p>
            <a:pPr lvl="1"/>
            <a:r>
              <a:rPr lang="zh-CN" altLang="en-US" dirty="0"/>
              <a:t>使用各种的搜索工具，即搜索引擎</a:t>
            </a:r>
          </a:p>
          <a:p>
            <a:endParaRPr lang="zh-CN" altLang="en-US" dirty="0"/>
          </a:p>
        </p:txBody>
      </p:sp>
    </p:spTree>
    <p:extLst>
      <p:ext uri="{BB962C8B-B14F-4D97-AF65-F5344CB8AC3E}">
        <p14:creationId xmlns:p14="http://schemas.microsoft.com/office/powerpoint/2010/main" val="27184637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0094BD5-A37B-94DF-54F4-B32F10D66E7A}"/>
              </a:ext>
            </a:extLst>
          </p:cNvPr>
          <p:cNvSpPr>
            <a:spLocks noGrp="1"/>
          </p:cNvSpPr>
          <p:nvPr>
            <p:ph type="title"/>
          </p:nvPr>
        </p:nvSpPr>
        <p:spPr>
          <a:xfrm>
            <a:off x="485999" y="174482"/>
            <a:ext cx="8171999" cy="338554"/>
          </a:xfrm>
        </p:spPr>
        <p:txBody>
          <a:bodyPr/>
          <a:lstStyle/>
          <a:p>
            <a:r>
              <a:rPr lang="en-US" altLang="zh-CN" dirty="0"/>
              <a:t>6.4.2  </a:t>
            </a:r>
            <a:r>
              <a:rPr lang="zh-CN" altLang="en-US" dirty="0"/>
              <a:t>统一资源定位符 </a:t>
            </a:r>
            <a:r>
              <a:rPr lang="en-US" altLang="zh-CN" dirty="0"/>
              <a:t>URL</a:t>
            </a:r>
            <a:endParaRPr lang="zh-CN" altLang="en-US" dirty="0"/>
          </a:p>
        </p:txBody>
      </p:sp>
      <p:sp>
        <p:nvSpPr>
          <p:cNvPr id="6" name="内容占位符 5">
            <a:extLst>
              <a:ext uri="{FF2B5EF4-FFF2-40B4-BE49-F238E27FC236}">
                <a16:creationId xmlns:a16="http://schemas.microsoft.com/office/drawing/2014/main" id="{D0D43235-BE60-D728-9644-AD31A125FDF0}"/>
              </a:ext>
            </a:extLst>
          </p:cNvPr>
          <p:cNvSpPr>
            <a:spLocks noGrp="1"/>
          </p:cNvSpPr>
          <p:nvPr>
            <p:ph sz="quarter" idx="11"/>
          </p:nvPr>
        </p:nvSpPr>
        <p:spPr>
          <a:xfrm>
            <a:off x="486000" y="687518"/>
            <a:ext cx="8172000" cy="4079035"/>
          </a:xfrm>
        </p:spPr>
        <p:txBody>
          <a:bodyPr/>
          <a:lstStyle/>
          <a:p>
            <a:r>
              <a:rPr lang="zh-CN" altLang="en-US" dirty="0"/>
              <a:t>对互联网上资源的位置和访问方法的一种简洁表示</a:t>
            </a:r>
          </a:p>
          <a:p>
            <a:r>
              <a:rPr lang="zh-CN" altLang="en-US" dirty="0"/>
              <a:t>给资源的位置提供一种抽象的识别方法，并用这种方法给资源定位</a:t>
            </a:r>
          </a:p>
          <a:p>
            <a:r>
              <a:rPr lang="zh-CN" altLang="en-US" dirty="0"/>
              <a:t>互联网上的资源的地址</a:t>
            </a:r>
            <a:endParaRPr lang="en-US" altLang="zh-CN" dirty="0"/>
          </a:p>
          <a:p>
            <a:r>
              <a:rPr lang="zh-CN" altLang="en-US" dirty="0"/>
              <a:t>互联网上的资源，都有一个唯一确定的</a:t>
            </a:r>
            <a:r>
              <a:rPr lang="en-US" altLang="zh-CN" dirty="0"/>
              <a:t>URL</a:t>
            </a:r>
          </a:p>
          <a:p>
            <a:r>
              <a:rPr lang="zh-CN" altLang="en-US" dirty="0"/>
              <a:t>资源：指在互联网上可以被访问的任何对象，包括文件目录、文件、文档、图像、声音等，以及与互联网相连的任何形式的数据</a:t>
            </a:r>
            <a:endParaRPr lang="en-US" altLang="zh-CN" dirty="0"/>
          </a:p>
          <a:p>
            <a:endParaRPr lang="en-US" altLang="zh-CN" dirty="0"/>
          </a:p>
          <a:p>
            <a:r>
              <a:rPr lang="en-US" altLang="zh-CN" dirty="0"/>
              <a:t>URL </a:t>
            </a:r>
            <a:r>
              <a:rPr lang="zh-CN" altLang="en-US" dirty="0"/>
              <a:t>相当于一个文件名在网络范围的扩展</a:t>
            </a:r>
            <a:endParaRPr lang="en-US" altLang="zh-CN" dirty="0"/>
          </a:p>
          <a:p>
            <a:r>
              <a:rPr lang="zh-CN" altLang="en-US" dirty="0"/>
              <a:t>因此 </a:t>
            </a:r>
            <a:r>
              <a:rPr lang="en-US" altLang="zh-CN" dirty="0"/>
              <a:t>URL </a:t>
            </a:r>
            <a:r>
              <a:rPr lang="zh-CN" altLang="en-US" dirty="0"/>
              <a:t>是与互联网相连的机器上的任何可访问对象的一个指针</a:t>
            </a:r>
          </a:p>
        </p:txBody>
      </p:sp>
    </p:spTree>
    <p:extLst>
      <p:ext uri="{BB962C8B-B14F-4D97-AF65-F5344CB8AC3E}">
        <p14:creationId xmlns:p14="http://schemas.microsoft.com/office/powerpoint/2010/main" val="9090690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13519EE-71E2-C568-A292-2F127A727A59}"/>
              </a:ext>
            </a:extLst>
          </p:cNvPr>
          <p:cNvSpPr>
            <a:spLocks noGrp="1"/>
          </p:cNvSpPr>
          <p:nvPr>
            <p:ph type="title"/>
          </p:nvPr>
        </p:nvSpPr>
        <p:spPr>
          <a:xfrm>
            <a:off x="485999" y="174482"/>
            <a:ext cx="8171999" cy="338554"/>
          </a:xfrm>
        </p:spPr>
        <p:txBody>
          <a:bodyPr/>
          <a:lstStyle/>
          <a:p>
            <a:r>
              <a:rPr lang="en-US" altLang="zh-CN" dirty="0"/>
              <a:t>6.4.2  </a:t>
            </a:r>
            <a:r>
              <a:rPr lang="zh-CN" altLang="en-US" dirty="0"/>
              <a:t>统一资源定位符 </a:t>
            </a:r>
            <a:r>
              <a:rPr lang="en-US" altLang="zh-CN" dirty="0"/>
              <a:t>URL</a:t>
            </a:r>
            <a:endParaRPr lang="zh-CN" altLang="en-US" dirty="0"/>
          </a:p>
        </p:txBody>
      </p:sp>
      <p:sp>
        <p:nvSpPr>
          <p:cNvPr id="3" name="内容占位符 2">
            <a:extLst>
              <a:ext uri="{FF2B5EF4-FFF2-40B4-BE49-F238E27FC236}">
                <a16:creationId xmlns:a16="http://schemas.microsoft.com/office/drawing/2014/main" id="{C87BF24E-A27C-6901-1F10-8850CC827830}"/>
              </a:ext>
            </a:extLst>
          </p:cNvPr>
          <p:cNvSpPr>
            <a:spLocks noGrp="1"/>
          </p:cNvSpPr>
          <p:nvPr>
            <p:ph sz="quarter" idx="11"/>
          </p:nvPr>
        </p:nvSpPr>
        <p:spPr>
          <a:xfrm>
            <a:off x="486000" y="687518"/>
            <a:ext cx="8172000" cy="4079035"/>
          </a:xfrm>
        </p:spPr>
        <p:txBody>
          <a:bodyPr/>
          <a:lstStyle/>
          <a:p>
            <a:r>
              <a:rPr lang="zh-CN" altLang="en-US" dirty="0"/>
              <a:t>由以冒号 </a:t>
            </a:r>
            <a:r>
              <a:rPr lang="en-US" altLang="zh-CN" dirty="0"/>
              <a:t>:</a:t>
            </a:r>
            <a:r>
              <a:rPr lang="zh-CN" altLang="en-US" dirty="0"/>
              <a:t> 隔开的两大部分组成</a:t>
            </a:r>
            <a:endParaRPr lang="en-US" altLang="zh-CN" dirty="0"/>
          </a:p>
          <a:p>
            <a:r>
              <a:rPr lang="zh-CN" altLang="en-US" dirty="0"/>
              <a:t>对字符大写或小写没有要求</a:t>
            </a:r>
          </a:p>
        </p:txBody>
      </p:sp>
      <p:sp>
        <p:nvSpPr>
          <p:cNvPr id="10" name="Text Box 25"/>
          <p:cNvSpPr txBox="1">
            <a:spLocks noChangeArrowheads="1"/>
          </p:cNvSpPr>
          <p:nvPr/>
        </p:nvSpPr>
        <p:spPr bwMode="auto">
          <a:xfrm>
            <a:off x="768619" y="1488896"/>
            <a:ext cx="3895149" cy="307777"/>
          </a:xfrm>
          <a:prstGeom prst="rect">
            <a:avLst/>
          </a:prstGeom>
          <a:noFill/>
          <a:ln w="9525">
            <a:noFill/>
            <a:miter lim="800000"/>
            <a:headEnd/>
            <a:tailEnd/>
          </a:ln>
          <a:effec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dirty="0">
                <a:latin typeface="Montserrat" panose="00000500000000000000" pitchFamily="2" charset="0"/>
                <a:ea typeface="微软雅黑 Light" panose="020B0502040204020203" pitchFamily="34" charset="-122"/>
              </a:rPr>
              <a:t>&lt;</a:t>
            </a:r>
            <a:r>
              <a:rPr lang="zh-CN" altLang="en-US" sz="1400" dirty="0">
                <a:latin typeface="Montserrat" panose="00000500000000000000" pitchFamily="2" charset="0"/>
                <a:ea typeface="微软雅黑 Light" panose="020B0502040204020203" pitchFamily="34" charset="-122"/>
              </a:rPr>
              <a:t>协议</a:t>
            </a:r>
            <a:r>
              <a:rPr lang="en-US" altLang="zh-CN" sz="1400" dirty="0">
                <a:latin typeface="Montserrat" panose="00000500000000000000" pitchFamily="2" charset="0"/>
                <a:ea typeface="微软雅黑 Light" panose="020B0502040204020203" pitchFamily="34" charset="-122"/>
              </a:rPr>
              <a:t>&gt;://&lt;</a:t>
            </a:r>
            <a:r>
              <a:rPr lang="zh-CN" altLang="en-US" sz="1400" dirty="0">
                <a:latin typeface="Montserrat" panose="00000500000000000000" pitchFamily="2" charset="0"/>
                <a:ea typeface="微软雅黑 Light" panose="020B0502040204020203" pitchFamily="34" charset="-122"/>
              </a:rPr>
              <a:t>主机</a:t>
            </a:r>
            <a:r>
              <a:rPr lang="en-US" altLang="zh-CN" sz="1400" dirty="0">
                <a:latin typeface="Montserrat" panose="00000500000000000000" pitchFamily="2" charset="0"/>
                <a:ea typeface="微软雅黑 Light" panose="020B0502040204020203" pitchFamily="34" charset="-122"/>
              </a:rPr>
              <a:t>&gt;:&lt;</a:t>
            </a:r>
            <a:r>
              <a:rPr lang="zh-CN" altLang="en-US" sz="1400" dirty="0">
                <a:latin typeface="Montserrat" panose="00000500000000000000" pitchFamily="2" charset="0"/>
                <a:ea typeface="微软雅黑 Light" panose="020B0502040204020203" pitchFamily="34" charset="-122"/>
              </a:rPr>
              <a:t>端口</a:t>
            </a:r>
            <a:r>
              <a:rPr lang="en-US" altLang="zh-CN" sz="1400" dirty="0">
                <a:latin typeface="Montserrat" panose="00000500000000000000" pitchFamily="2" charset="0"/>
                <a:ea typeface="微软雅黑 Light" panose="020B0502040204020203" pitchFamily="34" charset="-122"/>
              </a:rPr>
              <a:t>&gt;/&lt;</a:t>
            </a:r>
            <a:r>
              <a:rPr lang="zh-CN" altLang="en-US" sz="1400" dirty="0">
                <a:latin typeface="Montserrat" panose="00000500000000000000" pitchFamily="2" charset="0"/>
                <a:ea typeface="微软雅黑 Light" panose="020B0502040204020203" pitchFamily="34" charset="-122"/>
              </a:rPr>
              <a:t>路径</a:t>
            </a:r>
            <a:r>
              <a:rPr lang="en-US" altLang="zh-CN" sz="1400" dirty="0">
                <a:latin typeface="Montserrat" panose="00000500000000000000" pitchFamily="2" charset="0"/>
                <a:ea typeface="微软雅黑 Light" panose="020B0502040204020203" pitchFamily="34" charset="-122"/>
              </a:rPr>
              <a:t>&gt; </a:t>
            </a:r>
          </a:p>
        </p:txBody>
      </p:sp>
      <p:sp>
        <p:nvSpPr>
          <p:cNvPr id="12" name="Line 26"/>
          <p:cNvSpPr>
            <a:spLocks noChangeShapeType="1"/>
          </p:cNvSpPr>
          <p:nvPr/>
        </p:nvSpPr>
        <p:spPr bwMode="auto">
          <a:xfrm>
            <a:off x="1590514" y="1802990"/>
            <a:ext cx="216000" cy="0"/>
          </a:xfrm>
          <a:prstGeom prst="line">
            <a:avLst/>
          </a:prstGeom>
          <a:noFill/>
          <a:ln w="127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sp>
        <p:nvSpPr>
          <p:cNvPr id="13" name="Freeform 27"/>
          <p:cNvSpPr>
            <a:spLocks/>
          </p:cNvSpPr>
          <p:nvPr/>
        </p:nvSpPr>
        <p:spPr bwMode="auto">
          <a:xfrm>
            <a:off x="1709140" y="1802989"/>
            <a:ext cx="215888" cy="2196000"/>
          </a:xfrm>
          <a:custGeom>
            <a:avLst/>
            <a:gdLst>
              <a:gd name="T0" fmla="*/ 0 w 771"/>
              <a:gd name="T1" fmla="*/ 0 h 726"/>
              <a:gd name="T2" fmla="*/ 0 w 771"/>
              <a:gd name="T3" fmla="*/ 726 h 726"/>
              <a:gd name="T4" fmla="*/ 12 w 771"/>
              <a:gd name="T5" fmla="*/ 726 h 726"/>
              <a:gd name="T6" fmla="*/ 0 60000 65536"/>
              <a:gd name="T7" fmla="*/ 0 60000 65536"/>
              <a:gd name="T8" fmla="*/ 0 60000 65536"/>
            </a:gdLst>
            <a:ahLst/>
            <a:cxnLst>
              <a:cxn ang="T6">
                <a:pos x="T0" y="T1"/>
              </a:cxn>
              <a:cxn ang="T7">
                <a:pos x="T2" y="T3"/>
              </a:cxn>
              <a:cxn ang="T8">
                <a:pos x="T4" y="T5"/>
              </a:cxn>
            </a:cxnLst>
            <a:rect l="0" t="0" r="r" b="b"/>
            <a:pathLst>
              <a:path w="771" h="726">
                <a:moveTo>
                  <a:pt x="0" y="0"/>
                </a:moveTo>
                <a:lnTo>
                  <a:pt x="0" y="726"/>
                </a:lnTo>
                <a:lnTo>
                  <a:pt x="771" y="726"/>
                </a:lnTo>
              </a:path>
            </a:pathLst>
          </a:custGeom>
          <a:noFill/>
          <a:ln w="127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sp>
        <p:nvSpPr>
          <p:cNvPr id="14" name="AutoShape 28"/>
          <p:cNvSpPr>
            <a:spLocks/>
          </p:cNvSpPr>
          <p:nvPr/>
        </p:nvSpPr>
        <p:spPr bwMode="auto">
          <a:xfrm>
            <a:off x="1915409" y="3816552"/>
            <a:ext cx="87638" cy="360000"/>
          </a:xfrm>
          <a:prstGeom prst="leftBrace">
            <a:avLst>
              <a:gd name="adj1" fmla="val 92175"/>
              <a:gd name="adj2" fmla="val 50000"/>
            </a:avLst>
          </a:prstGeom>
          <a:noFill/>
          <a:ln w="12700">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
        <p:nvSpPr>
          <p:cNvPr id="15" name="Text Box 29"/>
          <p:cNvSpPr txBox="1">
            <a:spLocks noChangeArrowheads="1"/>
          </p:cNvSpPr>
          <p:nvPr/>
        </p:nvSpPr>
        <p:spPr bwMode="auto">
          <a:xfrm>
            <a:off x="1975352" y="3765720"/>
            <a:ext cx="2645276" cy="461665"/>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en-US" altLang="zh-CN" sz="1200" dirty="0">
                <a:latin typeface="Montserrat" panose="00000500000000000000" pitchFamily="2" charset="0"/>
                <a:ea typeface="微软雅黑 Light" panose="020B0502040204020203" pitchFamily="34" charset="-122"/>
              </a:rPr>
              <a:t>ftp - </a:t>
            </a:r>
            <a:r>
              <a:rPr lang="zh-CN" altLang="en-US" sz="1200" dirty="0">
                <a:latin typeface="Montserrat" panose="00000500000000000000" pitchFamily="2" charset="0"/>
                <a:ea typeface="微软雅黑 Light" panose="020B0502040204020203" pitchFamily="34" charset="-122"/>
              </a:rPr>
              <a:t>文件传送协议 </a:t>
            </a:r>
            <a:r>
              <a:rPr lang="en-US" altLang="zh-CN" sz="1200" dirty="0">
                <a:latin typeface="Montserrat" panose="00000500000000000000" pitchFamily="2" charset="0"/>
                <a:ea typeface="微软雅黑 Light" panose="020B0502040204020203" pitchFamily="34" charset="-122"/>
              </a:rPr>
              <a:t>FTP</a:t>
            </a:r>
          </a:p>
          <a:p>
            <a:pPr eaLnBrk="1" hangingPunct="1"/>
            <a:r>
              <a:rPr lang="en-US" altLang="zh-CN" sz="1200" dirty="0">
                <a:latin typeface="Montserrat" panose="00000500000000000000" pitchFamily="2" charset="0"/>
                <a:ea typeface="微软雅黑 Light" panose="020B0502040204020203" pitchFamily="34" charset="-122"/>
              </a:rPr>
              <a:t>https - </a:t>
            </a:r>
            <a:r>
              <a:rPr lang="zh-CN" altLang="en-US" sz="1200" dirty="0">
                <a:latin typeface="Montserrat" panose="00000500000000000000" pitchFamily="2" charset="0"/>
                <a:ea typeface="微软雅黑 Light" panose="020B0502040204020203" pitchFamily="34" charset="-122"/>
              </a:rPr>
              <a:t>超文本传送安全协议 </a:t>
            </a:r>
            <a:r>
              <a:rPr lang="en-US" altLang="zh-CN" sz="1200" dirty="0">
                <a:latin typeface="Montserrat" panose="00000500000000000000" pitchFamily="2" charset="0"/>
                <a:ea typeface="微软雅黑 Light" panose="020B0502040204020203" pitchFamily="34" charset="-122"/>
              </a:rPr>
              <a:t>HTTPS</a:t>
            </a:r>
          </a:p>
        </p:txBody>
      </p:sp>
      <p:sp>
        <p:nvSpPr>
          <p:cNvPr id="19" name="Line 26"/>
          <p:cNvSpPr>
            <a:spLocks noChangeShapeType="1"/>
          </p:cNvSpPr>
          <p:nvPr/>
        </p:nvSpPr>
        <p:spPr bwMode="auto">
          <a:xfrm>
            <a:off x="2000909" y="1802972"/>
            <a:ext cx="216000" cy="0"/>
          </a:xfrm>
          <a:prstGeom prst="line">
            <a:avLst/>
          </a:prstGeom>
          <a:noFill/>
          <a:ln w="127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sp>
        <p:nvSpPr>
          <p:cNvPr id="20" name="Freeform 27"/>
          <p:cNvSpPr>
            <a:spLocks/>
          </p:cNvSpPr>
          <p:nvPr/>
        </p:nvSpPr>
        <p:spPr bwMode="auto">
          <a:xfrm>
            <a:off x="2116494" y="1802971"/>
            <a:ext cx="411469" cy="1656000"/>
          </a:xfrm>
          <a:custGeom>
            <a:avLst/>
            <a:gdLst>
              <a:gd name="T0" fmla="*/ 0 w 771"/>
              <a:gd name="T1" fmla="*/ 0 h 726"/>
              <a:gd name="T2" fmla="*/ 0 w 771"/>
              <a:gd name="T3" fmla="*/ 726 h 726"/>
              <a:gd name="T4" fmla="*/ 12 w 771"/>
              <a:gd name="T5" fmla="*/ 726 h 726"/>
              <a:gd name="T6" fmla="*/ 0 60000 65536"/>
              <a:gd name="T7" fmla="*/ 0 60000 65536"/>
              <a:gd name="T8" fmla="*/ 0 60000 65536"/>
            </a:gdLst>
            <a:ahLst/>
            <a:cxnLst>
              <a:cxn ang="T6">
                <a:pos x="T0" y="T1"/>
              </a:cxn>
              <a:cxn ang="T7">
                <a:pos x="T2" y="T3"/>
              </a:cxn>
              <a:cxn ang="T8">
                <a:pos x="T4" y="T5"/>
              </a:cxn>
            </a:cxnLst>
            <a:rect l="0" t="0" r="r" b="b"/>
            <a:pathLst>
              <a:path w="771" h="726">
                <a:moveTo>
                  <a:pt x="0" y="0"/>
                </a:moveTo>
                <a:lnTo>
                  <a:pt x="0" y="726"/>
                </a:lnTo>
                <a:lnTo>
                  <a:pt x="771" y="726"/>
                </a:lnTo>
              </a:path>
            </a:pathLst>
          </a:custGeom>
          <a:noFill/>
          <a:ln w="127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sp>
        <p:nvSpPr>
          <p:cNvPr id="21" name="Text Box 29"/>
          <p:cNvSpPr txBox="1">
            <a:spLocks noChangeArrowheads="1"/>
          </p:cNvSpPr>
          <p:nvPr/>
        </p:nvSpPr>
        <p:spPr bwMode="auto">
          <a:xfrm>
            <a:off x="2510863" y="3334665"/>
            <a:ext cx="954107" cy="276999"/>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200" dirty="0">
                <a:latin typeface="Montserrat" panose="00000500000000000000" pitchFamily="2" charset="0"/>
                <a:ea typeface="微软雅黑 Light" panose="020B0502040204020203" pitchFamily="34" charset="-122"/>
              </a:rPr>
              <a:t>规定的格式</a:t>
            </a:r>
          </a:p>
        </p:txBody>
      </p:sp>
      <p:sp>
        <p:nvSpPr>
          <p:cNvPr id="23" name="Line 26">
            <a:extLst>
              <a:ext uri="{FF2B5EF4-FFF2-40B4-BE49-F238E27FC236}">
                <a16:creationId xmlns:a16="http://schemas.microsoft.com/office/drawing/2014/main" id="{06913E38-6BC6-0016-8EC7-3547F3DB3F9D}"/>
              </a:ext>
            </a:extLst>
          </p:cNvPr>
          <p:cNvSpPr>
            <a:spLocks noChangeShapeType="1"/>
          </p:cNvSpPr>
          <p:nvPr/>
        </p:nvSpPr>
        <p:spPr bwMode="auto">
          <a:xfrm>
            <a:off x="2376964" y="1804338"/>
            <a:ext cx="216000" cy="0"/>
          </a:xfrm>
          <a:prstGeom prst="line">
            <a:avLst/>
          </a:prstGeom>
          <a:noFill/>
          <a:ln w="127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sp>
        <p:nvSpPr>
          <p:cNvPr id="24" name="Freeform 27">
            <a:extLst>
              <a:ext uri="{FF2B5EF4-FFF2-40B4-BE49-F238E27FC236}">
                <a16:creationId xmlns:a16="http://schemas.microsoft.com/office/drawing/2014/main" id="{154F1200-8C38-4112-6DF8-41C6531B8FB3}"/>
              </a:ext>
            </a:extLst>
          </p:cNvPr>
          <p:cNvSpPr>
            <a:spLocks/>
          </p:cNvSpPr>
          <p:nvPr/>
        </p:nvSpPr>
        <p:spPr bwMode="auto">
          <a:xfrm>
            <a:off x="2491560" y="1804338"/>
            <a:ext cx="411469" cy="1224000"/>
          </a:xfrm>
          <a:custGeom>
            <a:avLst/>
            <a:gdLst>
              <a:gd name="T0" fmla="*/ 0 w 771"/>
              <a:gd name="T1" fmla="*/ 0 h 726"/>
              <a:gd name="T2" fmla="*/ 0 w 771"/>
              <a:gd name="T3" fmla="*/ 726 h 726"/>
              <a:gd name="T4" fmla="*/ 12 w 771"/>
              <a:gd name="T5" fmla="*/ 726 h 726"/>
              <a:gd name="T6" fmla="*/ 0 60000 65536"/>
              <a:gd name="T7" fmla="*/ 0 60000 65536"/>
              <a:gd name="T8" fmla="*/ 0 60000 65536"/>
            </a:gdLst>
            <a:ahLst/>
            <a:cxnLst>
              <a:cxn ang="T6">
                <a:pos x="T0" y="T1"/>
              </a:cxn>
              <a:cxn ang="T7">
                <a:pos x="T2" y="T3"/>
              </a:cxn>
              <a:cxn ang="T8">
                <a:pos x="T4" y="T5"/>
              </a:cxn>
            </a:cxnLst>
            <a:rect l="0" t="0" r="r" b="b"/>
            <a:pathLst>
              <a:path w="771" h="726">
                <a:moveTo>
                  <a:pt x="0" y="0"/>
                </a:moveTo>
                <a:lnTo>
                  <a:pt x="0" y="726"/>
                </a:lnTo>
                <a:lnTo>
                  <a:pt x="771" y="726"/>
                </a:lnTo>
              </a:path>
            </a:pathLst>
          </a:custGeom>
          <a:noFill/>
          <a:ln w="127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sp>
        <p:nvSpPr>
          <p:cNvPr id="25" name="Text Box 29">
            <a:extLst>
              <a:ext uri="{FF2B5EF4-FFF2-40B4-BE49-F238E27FC236}">
                <a16:creationId xmlns:a16="http://schemas.microsoft.com/office/drawing/2014/main" id="{71806309-216F-5B9A-8D37-08884A65D7FD}"/>
              </a:ext>
            </a:extLst>
          </p:cNvPr>
          <p:cNvSpPr txBox="1">
            <a:spLocks noChangeArrowheads="1"/>
          </p:cNvSpPr>
          <p:nvPr/>
        </p:nvSpPr>
        <p:spPr bwMode="auto">
          <a:xfrm>
            <a:off x="2954070" y="2797637"/>
            <a:ext cx="3814369" cy="461665"/>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200" dirty="0">
                <a:latin typeface="Montserrat" panose="00000500000000000000" pitchFamily="2" charset="0"/>
                <a:ea typeface="微软雅黑 Light" panose="020B0502040204020203" pitchFamily="34" charset="-122"/>
              </a:rPr>
              <a:t>主机的域名 </a:t>
            </a:r>
            <a:r>
              <a:rPr lang="en-US" altLang="zh-CN" sz="1200" dirty="0">
                <a:latin typeface="Montserrat" panose="00000500000000000000" pitchFamily="2" charset="0"/>
                <a:ea typeface="微软雅黑 Light" panose="020B0502040204020203" pitchFamily="34" charset="-122"/>
              </a:rPr>
              <a:t>domain</a:t>
            </a:r>
          </a:p>
          <a:p>
            <a:r>
              <a:rPr lang="zh-CN" altLang="en-US" sz="1200" dirty="0">
                <a:latin typeface="Montserrat" panose="00000500000000000000" pitchFamily="2" charset="0"/>
                <a:ea typeface="微软雅黑 Light" panose="020B0502040204020203" pitchFamily="34" charset="-122"/>
              </a:rPr>
              <a:t>主机的 </a:t>
            </a:r>
            <a:r>
              <a:rPr lang="en-US" altLang="zh-CN" sz="1200" dirty="0">
                <a:latin typeface="Montserrat" panose="00000500000000000000" pitchFamily="2" charset="0"/>
                <a:ea typeface="微软雅黑 Light" panose="020B0502040204020203" pitchFamily="34" charset="-122"/>
              </a:rPr>
              <a:t>IP </a:t>
            </a:r>
            <a:r>
              <a:rPr lang="zh-CN" altLang="en-US" sz="1200" dirty="0">
                <a:latin typeface="Montserrat" panose="00000500000000000000" pitchFamily="2" charset="0"/>
                <a:ea typeface="微软雅黑 Light" panose="020B0502040204020203" pitchFamily="34" charset="-122"/>
              </a:rPr>
              <a:t>地址</a:t>
            </a:r>
          </a:p>
        </p:txBody>
      </p:sp>
      <p:sp>
        <p:nvSpPr>
          <p:cNvPr id="27" name="Line 26"/>
          <p:cNvSpPr>
            <a:spLocks noChangeShapeType="1"/>
          </p:cNvSpPr>
          <p:nvPr/>
        </p:nvSpPr>
        <p:spPr bwMode="auto">
          <a:xfrm>
            <a:off x="2969706" y="1804339"/>
            <a:ext cx="216000" cy="0"/>
          </a:xfrm>
          <a:prstGeom prst="line">
            <a:avLst/>
          </a:prstGeom>
          <a:noFill/>
          <a:ln w="127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28" name="Freeform 27"/>
          <p:cNvSpPr>
            <a:spLocks/>
          </p:cNvSpPr>
          <p:nvPr/>
        </p:nvSpPr>
        <p:spPr bwMode="auto">
          <a:xfrm>
            <a:off x="3093755" y="1804339"/>
            <a:ext cx="411469" cy="716229"/>
          </a:xfrm>
          <a:custGeom>
            <a:avLst/>
            <a:gdLst>
              <a:gd name="T0" fmla="*/ 0 w 771"/>
              <a:gd name="T1" fmla="*/ 0 h 726"/>
              <a:gd name="T2" fmla="*/ 0 w 771"/>
              <a:gd name="T3" fmla="*/ 726 h 726"/>
              <a:gd name="T4" fmla="*/ 12 w 771"/>
              <a:gd name="T5" fmla="*/ 726 h 726"/>
              <a:gd name="T6" fmla="*/ 0 60000 65536"/>
              <a:gd name="T7" fmla="*/ 0 60000 65536"/>
              <a:gd name="T8" fmla="*/ 0 60000 65536"/>
            </a:gdLst>
            <a:ahLst/>
            <a:cxnLst>
              <a:cxn ang="T6">
                <a:pos x="T0" y="T1"/>
              </a:cxn>
              <a:cxn ang="T7">
                <a:pos x="T2" y="T3"/>
              </a:cxn>
              <a:cxn ang="T8">
                <a:pos x="T4" y="T5"/>
              </a:cxn>
            </a:cxnLst>
            <a:rect l="0" t="0" r="r" b="b"/>
            <a:pathLst>
              <a:path w="771" h="726">
                <a:moveTo>
                  <a:pt x="0" y="0"/>
                </a:moveTo>
                <a:lnTo>
                  <a:pt x="0" y="726"/>
                </a:lnTo>
                <a:lnTo>
                  <a:pt x="771" y="726"/>
                </a:lnTo>
              </a:path>
            </a:pathLst>
          </a:custGeom>
          <a:noFill/>
          <a:ln w="127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29" name="Text Box 29"/>
          <p:cNvSpPr txBox="1">
            <a:spLocks noChangeArrowheads="1"/>
          </p:cNvSpPr>
          <p:nvPr/>
        </p:nvSpPr>
        <p:spPr bwMode="auto">
          <a:xfrm>
            <a:off x="3560344" y="2282276"/>
            <a:ext cx="1980394" cy="461665"/>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200" dirty="0">
                <a:latin typeface="Montserrat" panose="00000500000000000000" pitchFamily="2" charset="0"/>
                <a:ea typeface="微软雅黑 Light" panose="020B0502040204020203" pitchFamily="34" charset="-122"/>
              </a:rPr>
              <a:t>端口号 </a:t>
            </a:r>
            <a:r>
              <a:rPr lang="en-US" altLang="zh-CN" sz="1200" dirty="0">
                <a:latin typeface="Montserrat" panose="00000500000000000000" pitchFamily="2" charset="0"/>
                <a:ea typeface="微软雅黑 Light" panose="020B0502040204020203" pitchFamily="34" charset="-122"/>
              </a:rPr>
              <a:t>port</a:t>
            </a:r>
          </a:p>
          <a:p>
            <a:r>
              <a:rPr lang="zh-CN" altLang="en-US" sz="1200" dirty="0">
                <a:latin typeface="Montserrat" panose="00000500000000000000" pitchFamily="2" charset="0"/>
                <a:ea typeface="微软雅黑 Light" panose="020B0502040204020203" pitchFamily="34" charset="-122"/>
              </a:rPr>
              <a:t>省略时使用默认端口号</a:t>
            </a:r>
          </a:p>
        </p:txBody>
      </p:sp>
      <p:sp>
        <p:nvSpPr>
          <p:cNvPr id="31" name="Line 26"/>
          <p:cNvSpPr>
            <a:spLocks noChangeShapeType="1"/>
          </p:cNvSpPr>
          <p:nvPr/>
        </p:nvSpPr>
        <p:spPr bwMode="auto">
          <a:xfrm>
            <a:off x="3585839" y="1804339"/>
            <a:ext cx="216000" cy="0"/>
          </a:xfrm>
          <a:prstGeom prst="line">
            <a:avLst/>
          </a:prstGeom>
          <a:noFill/>
          <a:ln w="127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32" name="Freeform 27"/>
          <p:cNvSpPr>
            <a:spLocks/>
          </p:cNvSpPr>
          <p:nvPr/>
        </p:nvSpPr>
        <p:spPr bwMode="auto">
          <a:xfrm>
            <a:off x="3691062" y="1804339"/>
            <a:ext cx="1656000" cy="324000"/>
          </a:xfrm>
          <a:custGeom>
            <a:avLst/>
            <a:gdLst>
              <a:gd name="T0" fmla="*/ 0 w 771"/>
              <a:gd name="T1" fmla="*/ 0 h 726"/>
              <a:gd name="T2" fmla="*/ 0 w 771"/>
              <a:gd name="T3" fmla="*/ 726 h 726"/>
              <a:gd name="T4" fmla="*/ 12 w 771"/>
              <a:gd name="T5" fmla="*/ 726 h 726"/>
              <a:gd name="T6" fmla="*/ 0 60000 65536"/>
              <a:gd name="T7" fmla="*/ 0 60000 65536"/>
              <a:gd name="T8" fmla="*/ 0 60000 65536"/>
            </a:gdLst>
            <a:ahLst/>
            <a:cxnLst>
              <a:cxn ang="T6">
                <a:pos x="T0" y="T1"/>
              </a:cxn>
              <a:cxn ang="T7">
                <a:pos x="T2" y="T3"/>
              </a:cxn>
              <a:cxn ang="T8">
                <a:pos x="T4" y="T5"/>
              </a:cxn>
            </a:cxnLst>
            <a:rect l="0" t="0" r="r" b="b"/>
            <a:pathLst>
              <a:path w="771" h="726">
                <a:moveTo>
                  <a:pt x="0" y="0"/>
                </a:moveTo>
                <a:lnTo>
                  <a:pt x="0" y="726"/>
                </a:lnTo>
                <a:lnTo>
                  <a:pt x="771" y="726"/>
                </a:lnTo>
              </a:path>
            </a:pathLst>
          </a:custGeom>
          <a:noFill/>
          <a:ln w="127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33" name="Text Box 29"/>
          <p:cNvSpPr txBox="1">
            <a:spLocks noChangeArrowheads="1"/>
          </p:cNvSpPr>
          <p:nvPr/>
        </p:nvSpPr>
        <p:spPr bwMode="auto">
          <a:xfrm>
            <a:off x="5364246" y="1892363"/>
            <a:ext cx="3036914" cy="461665"/>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200" dirty="0">
                <a:latin typeface="Montserrat" panose="00000500000000000000" pitchFamily="2" charset="0"/>
                <a:ea typeface="微软雅黑 Light" panose="020B0502040204020203" pitchFamily="34" charset="-122"/>
              </a:rPr>
              <a:t>资源所在目录位置。区分大小写</a:t>
            </a:r>
            <a:endParaRPr lang="en-US" altLang="zh-CN" sz="1200" dirty="0">
              <a:latin typeface="Montserrat" panose="00000500000000000000" pitchFamily="2" charset="0"/>
              <a:ea typeface="微软雅黑 Light" panose="020B0502040204020203" pitchFamily="34" charset="-122"/>
            </a:endParaRPr>
          </a:p>
          <a:p>
            <a:r>
              <a:rPr lang="zh-CN" altLang="en-US" sz="1200" dirty="0">
                <a:latin typeface="Montserrat" panose="00000500000000000000" pitchFamily="2" charset="0"/>
                <a:ea typeface="微软雅黑 Light" panose="020B0502040204020203" pitchFamily="34" charset="-122"/>
              </a:rPr>
              <a:t>省略时使用所定义的默认路径</a:t>
            </a:r>
            <a:endParaRPr lang="en-US" altLang="zh-CN" sz="1200" dirty="0">
              <a:latin typeface="Montserrat" panose="00000500000000000000" pitchFamily="2" charset="0"/>
              <a:ea typeface="微软雅黑 Light" panose="020B0502040204020203" pitchFamily="34" charset="-122"/>
            </a:endParaRPr>
          </a:p>
        </p:txBody>
      </p:sp>
      <p:sp>
        <p:nvSpPr>
          <p:cNvPr id="4" name="AutoShape 28">
            <a:extLst>
              <a:ext uri="{FF2B5EF4-FFF2-40B4-BE49-F238E27FC236}">
                <a16:creationId xmlns:a16="http://schemas.microsoft.com/office/drawing/2014/main" id="{DDBCF75E-60AA-DEE7-1440-A4904A82D3E4}"/>
              </a:ext>
            </a:extLst>
          </p:cNvPr>
          <p:cNvSpPr>
            <a:spLocks/>
          </p:cNvSpPr>
          <p:nvPr/>
        </p:nvSpPr>
        <p:spPr bwMode="auto">
          <a:xfrm>
            <a:off x="2912830" y="2848469"/>
            <a:ext cx="87638" cy="360000"/>
          </a:xfrm>
          <a:prstGeom prst="leftBrace">
            <a:avLst>
              <a:gd name="adj1" fmla="val 92175"/>
              <a:gd name="adj2" fmla="val 50000"/>
            </a:avLst>
          </a:prstGeom>
          <a:noFill/>
          <a:ln w="12700">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
        <p:nvSpPr>
          <p:cNvPr id="5" name="AutoShape 28">
            <a:extLst>
              <a:ext uri="{FF2B5EF4-FFF2-40B4-BE49-F238E27FC236}">
                <a16:creationId xmlns:a16="http://schemas.microsoft.com/office/drawing/2014/main" id="{89A8001D-F3CC-A1B2-66E4-9F42802EFD13}"/>
              </a:ext>
            </a:extLst>
          </p:cNvPr>
          <p:cNvSpPr>
            <a:spLocks/>
          </p:cNvSpPr>
          <p:nvPr/>
        </p:nvSpPr>
        <p:spPr bwMode="auto">
          <a:xfrm>
            <a:off x="5338670" y="1943195"/>
            <a:ext cx="87638" cy="360000"/>
          </a:xfrm>
          <a:prstGeom prst="leftBrace">
            <a:avLst>
              <a:gd name="adj1" fmla="val 92175"/>
              <a:gd name="adj2" fmla="val 50000"/>
            </a:avLst>
          </a:prstGeom>
          <a:noFill/>
          <a:ln w="12700">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
        <p:nvSpPr>
          <p:cNvPr id="6" name="AutoShape 28">
            <a:extLst>
              <a:ext uri="{FF2B5EF4-FFF2-40B4-BE49-F238E27FC236}">
                <a16:creationId xmlns:a16="http://schemas.microsoft.com/office/drawing/2014/main" id="{8A2C74B3-B7C1-EA23-24A3-CCCEE5F5E270}"/>
              </a:ext>
            </a:extLst>
          </p:cNvPr>
          <p:cNvSpPr>
            <a:spLocks/>
          </p:cNvSpPr>
          <p:nvPr/>
        </p:nvSpPr>
        <p:spPr bwMode="auto">
          <a:xfrm>
            <a:off x="3489229" y="2333108"/>
            <a:ext cx="87638" cy="360000"/>
          </a:xfrm>
          <a:prstGeom prst="leftBrace">
            <a:avLst>
              <a:gd name="adj1" fmla="val 92175"/>
              <a:gd name="adj2" fmla="val 50000"/>
            </a:avLst>
          </a:prstGeom>
          <a:noFill/>
          <a:ln w="12700">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0058330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2584425" y="2390985"/>
            <a:ext cx="3336171" cy="369332"/>
          </a:xfrm>
          <a:prstGeom prst="rect">
            <a:avLst/>
          </a:prstGeom>
          <a:solidFill>
            <a:srgbClr val="0000FF"/>
          </a:solidFill>
        </p:spPr>
        <p:txBody>
          <a:bodyPr wrap="none">
            <a:spAutoFit/>
          </a:bodyPr>
          <a:lstStyle/>
          <a:p>
            <a:pPr algn="ctr" eaLnBrk="0" hangingPunct="0">
              <a:buClr>
                <a:srgbClr val="0070C0"/>
              </a:buClr>
            </a:pPr>
            <a:r>
              <a:rPr lang="en-US" altLang="zh-CN" b="1" dirty="0">
                <a:solidFill>
                  <a:schemeClr val="bg1"/>
                </a:solidFill>
                <a:latin typeface="Montserrat" panose="00000500000000000000" pitchFamily="2" charset="0"/>
                <a:ea typeface="微软雅黑 Light" panose="020B0502040204020203" pitchFamily="34" charset="-122"/>
              </a:rPr>
              <a:t>https://&lt;</a:t>
            </a:r>
            <a:r>
              <a:rPr lang="zh-CN" altLang="en-US" b="1" dirty="0">
                <a:solidFill>
                  <a:schemeClr val="bg1"/>
                </a:solidFill>
                <a:latin typeface="Montserrat" panose="00000500000000000000" pitchFamily="2" charset="0"/>
                <a:ea typeface="微软雅黑 Light" panose="020B0502040204020203" pitchFamily="34" charset="-122"/>
              </a:rPr>
              <a:t>主机</a:t>
            </a:r>
            <a:r>
              <a:rPr lang="en-US" altLang="zh-CN" b="1" dirty="0">
                <a:solidFill>
                  <a:schemeClr val="bg1"/>
                </a:solidFill>
                <a:latin typeface="Montserrat" panose="00000500000000000000" pitchFamily="2" charset="0"/>
                <a:ea typeface="微软雅黑 Light" panose="020B0502040204020203" pitchFamily="34" charset="-122"/>
              </a:rPr>
              <a:t>&gt;:&lt;</a:t>
            </a:r>
            <a:r>
              <a:rPr lang="zh-CN" altLang="en-US" b="1" dirty="0">
                <a:solidFill>
                  <a:schemeClr val="bg1"/>
                </a:solidFill>
                <a:latin typeface="Montserrat" panose="00000500000000000000" pitchFamily="2" charset="0"/>
                <a:ea typeface="微软雅黑 Light" panose="020B0502040204020203" pitchFamily="34" charset="-122"/>
              </a:rPr>
              <a:t>端口</a:t>
            </a:r>
            <a:r>
              <a:rPr lang="en-US" altLang="zh-CN" b="1" dirty="0">
                <a:solidFill>
                  <a:schemeClr val="bg1"/>
                </a:solidFill>
                <a:latin typeface="Montserrat" panose="00000500000000000000" pitchFamily="2" charset="0"/>
                <a:ea typeface="微软雅黑 Light" panose="020B0502040204020203" pitchFamily="34" charset="-122"/>
              </a:rPr>
              <a:t>&gt;/&lt;</a:t>
            </a:r>
            <a:r>
              <a:rPr lang="zh-CN" altLang="en-US" b="1" dirty="0">
                <a:solidFill>
                  <a:schemeClr val="bg1"/>
                </a:solidFill>
                <a:latin typeface="Montserrat" panose="00000500000000000000" pitchFamily="2" charset="0"/>
                <a:ea typeface="微软雅黑 Light" panose="020B0502040204020203" pitchFamily="34" charset="-122"/>
              </a:rPr>
              <a:t>路径</a:t>
            </a:r>
            <a:r>
              <a:rPr lang="en-US" altLang="zh-CN" b="1" dirty="0">
                <a:solidFill>
                  <a:schemeClr val="bg1"/>
                </a:solidFill>
                <a:latin typeface="Montserrat" panose="00000500000000000000" pitchFamily="2" charset="0"/>
                <a:ea typeface="微软雅黑 Light" panose="020B0502040204020203" pitchFamily="34" charset="-122"/>
              </a:rPr>
              <a:t>&gt; </a:t>
            </a:r>
          </a:p>
        </p:txBody>
      </p:sp>
      <p:grpSp>
        <p:nvGrpSpPr>
          <p:cNvPr id="12" name="Group 9"/>
          <p:cNvGrpSpPr>
            <a:grpSpLocks/>
          </p:cNvGrpSpPr>
          <p:nvPr/>
        </p:nvGrpSpPr>
        <p:grpSpPr bwMode="auto">
          <a:xfrm>
            <a:off x="2461120" y="1029707"/>
            <a:ext cx="1977970" cy="1758800"/>
            <a:chOff x="1136" y="529"/>
            <a:chExt cx="1553" cy="1496"/>
          </a:xfrm>
        </p:grpSpPr>
        <p:grpSp>
          <p:nvGrpSpPr>
            <p:cNvPr id="13" name="Group 5"/>
            <p:cNvGrpSpPr>
              <a:grpSpLocks/>
            </p:cNvGrpSpPr>
            <p:nvPr/>
          </p:nvGrpSpPr>
          <p:grpSpPr bwMode="auto">
            <a:xfrm>
              <a:off x="1295" y="817"/>
              <a:ext cx="325" cy="1208"/>
              <a:chOff x="1715" y="723"/>
              <a:chExt cx="325" cy="1208"/>
            </a:xfrm>
          </p:grpSpPr>
          <p:sp>
            <p:nvSpPr>
              <p:cNvPr id="15" name="Rectangle 6"/>
              <p:cNvSpPr>
                <a:spLocks noChangeArrowheads="1"/>
              </p:cNvSpPr>
              <p:nvPr/>
            </p:nvSpPr>
            <p:spPr bwMode="auto">
              <a:xfrm>
                <a:off x="1715" y="1570"/>
                <a:ext cx="325" cy="36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
            <p:nvSpPr>
              <p:cNvPr id="16" name="Line 7"/>
              <p:cNvSpPr>
                <a:spLocks noChangeShapeType="1"/>
              </p:cNvSpPr>
              <p:nvPr/>
            </p:nvSpPr>
            <p:spPr bwMode="auto">
              <a:xfrm flipV="1">
                <a:off x="1878" y="723"/>
                <a:ext cx="0" cy="847"/>
              </a:xfrm>
              <a:prstGeom prst="line">
                <a:avLst/>
              </a:prstGeom>
              <a:noFill/>
              <a:ln w="3810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grpSp>
        <p:sp>
          <p:nvSpPr>
            <p:cNvPr id="14" name="Text Box 8"/>
            <p:cNvSpPr txBox="1">
              <a:spLocks noChangeArrowheads="1"/>
            </p:cNvSpPr>
            <p:nvPr/>
          </p:nvSpPr>
          <p:spPr bwMode="auto">
            <a:xfrm>
              <a:off x="1136" y="529"/>
              <a:ext cx="1553"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dirty="0">
                  <a:solidFill>
                    <a:srgbClr val="000099"/>
                  </a:solidFill>
                  <a:latin typeface="Montserrat" panose="00000500000000000000" pitchFamily="2" charset="0"/>
                  <a:ea typeface="微软雅黑 Light" panose="020B0502040204020203" pitchFamily="34" charset="-122"/>
                </a:rPr>
                <a:t>使用 </a:t>
              </a:r>
              <a:r>
                <a:rPr lang="en-US" altLang="zh-CN" sz="1600" dirty="0">
                  <a:solidFill>
                    <a:srgbClr val="000099"/>
                  </a:solidFill>
                  <a:latin typeface="Montserrat" panose="00000500000000000000" pitchFamily="2" charset="0"/>
                  <a:ea typeface="微软雅黑 Light" panose="020B0502040204020203" pitchFamily="34" charset="-122"/>
                </a:rPr>
                <a:t>HTTPS </a:t>
              </a:r>
              <a:r>
                <a:rPr lang="zh-CN" altLang="en-US" sz="1600" dirty="0">
                  <a:solidFill>
                    <a:srgbClr val="000099"/>
                  </a:solidFill>
                  <a:latin typeface="Montserrat" panose="00000500000000000000" pitchFamily="2" charset="0"/>
                  <a:ea typeface="微软雅黑 Light" panose="020B0502040204020203" pitchFamily="34" charset="-122"/>
                </a:rPr>
                <a:t>协议。</a:t>
              </a:r>
            </a:p>
          </p:txBody>
        </p:sp>
      </p:grpSp>
      <p:sp>
        <p:nvSpPr>
          <p:cNvPr id="18" name="矩形 17"/>
          <p:cNvSpPr/>
          <p:nvPr/>
        </p:nvSpPr>
        <p:spPr>
          <a:xfrm>
            <a:off x="2261469" y="3736373"/>
            <a:ext cx="4603350" cy="307777"/>
          </a:xfrm>
          <a:prstGeom prst="rect">
            <a:avLst/>
          </a:prstGeom>
        </p:spPr>
        <p:txBody>
          <a:bodyPr wrap="square">
            <a:noAutofit/>
          </a:bodyPr>
          <a:lstStyle/>
          <a:p>
            <a:pPr algn="ctr"/>
            <a:r>
              <a:rPr lang="en-US" altLang="zh-CN" sz="1400" dirty="0">
                <a:latin typeface="Montserrat" panose="00000500000000000000" pitchFamily="2" charset="0"/>
                <a:ea typeface="微软雅黑 Light" panose="020B0502040204020203" pitchFamily="34" charset="-122"/>
                <a:cs typeface="Times New Roman" pitchFamily="18" charset="0"/>
              </a:rPr>
              <a:t>https://</a:t>
            </a:r>
            <a:r>
              <a:rPr lang="en-US" altLang="zh-CN" sz="1400" dirty="0">
                <a:solidFill>
                  <a:schemeClr val="tx2">
                    <a:lumMod val="60000"/>
                    <a:lumOff val="40000"/>
                  </a:schemeClr>
                </a:solidFill>
                <a:latin typeface="Montserrat" panose="00000500000000000000" pitchFamily="2" charset="0"/>
                <a:ea typeface="微软雅黑 Light" panose="020B0502040204020203" pitchFamily="34" charset="-122"/>
                <a:cs typeface="Times New Roman" pitchFamily="18" charset="0"/>
              </a:rPr>
              <a:t>glplaman.github.io</a:t>
            </a:r>
            <a:r>
              <a:rPr lang="en-US" altLang="zh-CN" sz="1400" dirty="0">
                <a:latin typeface="Montserrat" panose="00000500000000000000" pitchFamily="2" charset="0"/>
                <a:ea typeface="微软雅黑 Light" panose="020B0502040204020203" pitchFamily="34" charset="-122"/>
                <a:cs typeface="Times New Roman" pitchFamily="18" charset="0"/>
              </a:rPr>
              <a:t>/</a:t>
            </a:r>
            <a:r>
              <a:rPr lang="en-US" altLang="zh-CN" sz="1400" dirty="0">
                <a:solidFill>
                  <a:srgbClr val="00B050"/>
                </a:solidFill>
                <a:latin typeface="Montserrat" panose="00000500000000000000" pitchFamily="2" charset="0"/>
                <a:ea typeface="微软雅黑 Light" panose="020B0502040204020203" pitchFamily="34" charset="-122"/>
                <a:cs typeface="Times New Roman" pitchFamily="18" charset="0"/>
              </a:rPr>
              <a:t>network/index.html</a:t>
            </a:r>
            <a:endParaRPr lang="zh-CN" altLang="zh-CN" sz="1400" dirty="0">
              <a:solidFill>
                <a:srgbClr val="00B050"/>
              </a:solidFill>
              <a:latin typeface="Montserrat" panose="00000500000000000000" pitchFamily="2" charset="0"/>
              <a:ea typeface="微软雅黑 Light" panose="020B0502040204020203" pitchFamily="34" charset="-122"/>
              <a:cs typeface="Times New Roman" pitchFamily="18" charset="0"/>
            </a:endParaRPr>
          </a:p>
        </p:txBody>
      </p:sp>
      <p:sp>
        <p:nvSpPr>
          <p:cNvPr id="19" name="左大括号 18"/>
          <p:cNvSpPr/>
          <p:nvPr/>
        </p:nvSpPr>
        <p:spPr>
          <a:xfrm rot="16200000">
            <a:off x="3879134" y="3222461"/>
            <a:ext cx="117397" cy="1656000"/>
          </a:xfrm>
          <a:prstGeom prst="leftBrace">
            <a:avLst>
              <a:gd name="adj1" fmla="val 47208"/>
              <a:gd name="adj2" fmla="val 49826"/>
            </a:avLst>
          </a:prstGeom>
          <a:ln w="12700">
            <a:solidFill>
              <a:schemeClr val="tx2">
                <a:lumMod val="60000"/>
                <a:lumOff val="4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20" name="左大括号 19"/>
          <p:cNvSpPr/>
          <p:nvPr/>
        </p:nvSpPr>
        <p:spPr>
          <a:xfrm rot="16200000">
            <a:off x="5633560" y="3222460"/>
            <a:ext cx="117399" cy="1656000"/>
          </a:xfrm>
          <a:prstGeom prst="leftBrace">
            <a:avLst>
              <a:gd name="adj1" fmla="val 47208"/>
              <a:gd name="adj2" fmla="val 49826"/>
            </a:avLst>
          </a:prstGeom>
          <a:ln w="12700">
            <a:solidFill>
              <a:srgbClr val="00B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21" name="TextBox 17"/>
          <p:cNvSpPr txBox="1"/>
          <p:nvPr/>
        </p:nvSpPr>
        <p:spPr>
          <a:xfrm>
            <a:off x="3544936" y="4109159"/>
            <a:ext cx="785792" cy="276999"/>
          </a:xfrm>
          <a:prstGeom prst="rect">
            <a:avLst/>
          </a:prstGeom>
          <a:noFill/>
        </p:spPr>
        <p:txBody>
          <a:bodyPr wrap="none" rtlCol="0">
            <a:spAutoFit/>
          </a:bodyPr>
          <a:lstStyle/>
          <a:p>
            <a:pPr algn="ctr"/>
            <a:r>
              <a:rPr lang="en-US" altLang="zh-CN" sz="1200" dirty="0">
                <a:solidFill>
                  <a:schemeClr val="tx2">
                    <a:lumMod val="60000"/>
                    <a:lumOff val="40000"/>
                  </a:schemeClr>
                </a:solidFill>
                <a:latin typeface="Montserrat" panose="00000500000000000000" pitchFamily="2" charset="0"/>
                <a:ea typeface="微软雅黑 Light" panose="020B0502040204020203" pitchFamily="34" charset="-122"/>
              </a:rPr>
              <a:t>domain</a:t>
            </a:r>
            <a:endParaRPr lang="zh-CN" altLang="en-US" sz="1200" dirty="0">
              <a:solidFill>
                <a:schemeClr val="tx2">
                  <a:lumMod val="60000"/>
                  <a:lumOff val="40000"/>
                </a:schemeClr>
              </a:solidFill>
              <a:latin typeface="Montserrat" panose="00000500000000000000" pitchFamily="2" charset="0"/>
              <a:ea typeface="微软雅黑 Light" panose="020B0502040204020203" pitchFamily="34" charset="-122"/>
            </a:endParaRPr>
          </a:p>
        </p:txBody>
      </p:sp>
      <p:sp>
        <p:nvSpPr>
          <p:cNvPr id="22" name="TextBox 18"/>
          <p:cNvSpPr txBox="1"/>
          <p:nvPr/>
        </p:nvSpPr>
        <p:spPr>
          <a:xfrm>
            <a:off x="5171227" y="4109158"/>
            <a:ext cx="1042065" cy="276999"/>
          </a:xfrm>
          <a:prstGeom prst="rect">
            <a:avLst/>
          </a:prstGeom>
          <a:noFill/>
        </p:spPr>
        <p:txBody>
          <a:bodyPr wrap="square" rtlCol="0">
            <a:spAutoFit/>
          </a:bodyPr>
          <a:lstStyle>
            <a:defPPr>
              <a:defRPr lang="zh-CN"/>
            </a:defPPr>
            <a:lvl1pPr>
              <a:defRPr sz="3200" b="1">
                <a:solidFill>
                  <a:srgbClr val="000000"/>
                </a:solidFill>
                <a:latin typeface="+mn-lt"/>
                <a:ea typeface="+mn-ea"/>
              </a:defRPr>
            </a:lvl1pPr>
          </a:lstStyle>
          <a:p>
            <a:pPr algn="ctr"/>
            <a:r>
              <a:rPr lang="en-US" altLang="zh-CN" sz="1200" b="0" dirty="0">
                <a:solidFill>
                  <a:srgbClr val="00B050"/>
                </a:solidFill>
                <a:latin typeface="Montserrat" panose="00000500000000000000" pitchFamily="2" charset="0"/>
                <a:ea typeface="微软雅黑 Light" panose="020B0502040204020203" pitchFamily="34" charset="-122"/>
              </a:rPr>
              <a:t>path</a:t>
            </a:r>
            <a:endParaRPr lang="zh-CN" altLang="en-US" sz="1200" b="0" dirty="0">
              <a:solidFill>
                <a:srgbClr val="00B050"/>
              </a:solidFill>
              <a:latin typeface="Montserrat" panose="00000500000000000000" pitchFamily="2" charset="0"/>
              <a:ea typeface="微软雅黑 Light" panose="020B0502040204020203" pitchFamily="34" charset="-122"/>
            </a:endParaRPr>
          </a:p>
        </p:txBody>
      </p:sp>
      <p:grpSp>
        <p:nvGrpSpPr>
          <p:cNvPr id="28" name="Group 9"/>
          <p:cNvGrpSpPr>
            <a:grpSpLocks/>
          </p:cNvGrpSpPr>
          <p:nvPr/>
        </p:nvGrpSpPr>
        <p:grpSpPr bwMode="auto">
          <a:xfrm>
            <a:off x="2920866" y="1322749"/>
            <a:ext cx="1416292" cy="1466053"/>
            <a:chOff x="1207" y="782"/>
            <a:chExt cx="1112" cy="1247"/>
          </a:xfrm>
        </p:grpSpPr>
        <p:grpSp>
          <p:nvGrpSpPr>
            <p:cNvPr id="29" name="Group 5"/>
            <p:cNvGrpSpPr>
              <a:grpSpLocks/>
            </p:cNvGrpSpPr>
            <p:nvPr/>
          </p:nvGrpSpPr>
          <p:grpSpPr bwMode="auto">
            <a:xfrm>
              <a:off x="1509" y="1046"/>
              <a:ext cx="182" cy="983"/>
              <a:chOff x="1929" y="952"/>
              <a:chExt cx="182" cy="983"/>
            </a:xfrm>
          </p:grpSpPr>
          <p:sp>
            <p:nvSpPr>
              <p:cNvPr id="31" name="Rectangle 6"/>
              <p:cNvSpPr>
                <a:spLocks noChangeArrowheads="1"/>
              </p:cNvSpPr>
              <p:nvPr/>
            </p:nvSpPr>
            <p:spPr bwMode="auto">
              <a:xfrm>
                <a:off x="1929" y="1574"/>
                <a:ext cx="182" cy="361"/>
              </a:xfrm>
              <a:prstGeom prst="rect">
                <a:avLst/>
              </a:prstGeom>
              <a:noFill/>
              <a:ln w="38100">
                <a:solidFill>
                  <a:schemeClr val="accent6">
                    <a:lumMod val="75000"/>
                  </a:schemeClr>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
            <p:nvSpPr>
              <p:cNvPr id="32" name="Line 7"/>
              <p:cNvSpPr>
                <a:spLocks noChangeShapeType="1"/>
              </p:cNvSpPr>
              <p:nvPr/>
            </p:nvSpPr>
            <p:spPr bwMode="auto">
              <a:xfrm flipV="1">
                <a:off x="2018" y="952"/>
                <a:ext cx="0" cy="613"/>
              </a:xfrm>
              <a:prstGeom prst="line">
                <a:avLst/>
              </a:prstGeom>
              <a:noFill/>
              <a:ln w="38100">
                <a:solidFill>
                  <a:schemeClr val="accent6">
                    <a:lumMod val="75000"/>
                  </a:schemeClr>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grpSp>
        <p:sp>
          <p:nvSpPr>
            <p:cNvPr id="30" name="Text Box 8"/>
            <p:cNvSpPr txBox="1">
              <a:spLocks noChangeArrowheads="1"/>
            </p:cNvSpPr>
            <p:nvPr/>
          </p:nvSpPr>
          <p:spPr bwMode="auto">
            <a:xfrm>
              <a:off x="1207" y="782"/>
              <a:ext cx="1112"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600" dirty="0">
                  <a:solidFill>
                    <a:srgbClr val="000099"/>
                  </a:solidFill>
                  <a:latin typeface="Montserrat" panose="00000500000000000000" pitchFamily="2" charset="0"/>
                  <a:ea typeface="微软雅黑 Light" panose="020B0502040204020203" pitchFamily="34" charset="-122"/>
                </a:rPr>
                <a:t>规定的格式。</a:t>
              </a:r>
            </a:p>
          </p:txBody>
        </p:sp>
      </p:grpSp>
      <p:grpSp>
        <p:nvGrpSpPr>
          <p:cNvPr id="33" name="Group 9"/>
          <p:cNvGrpSpPr>
            <a:grpSpLocks/>
          </p:cNvGrpSpPr>
          <p:nvPr/>
        </p:nvGrpSpPr>
        <p:grpSpPr bwMode="auto">
          <a:xfrm>
            <a:off x="3341093" y="1632849"/>
            <a:ext cx="2151186" cy="1155682"/>
            <a:chOff x="1102" y="1036"/>
            <a:chExt cx="1689" cy="983"/>
          </a:xfrm>
        </p:grpSpPr>
        <p:grpSp>
          <p:nvGrpSpPr>
            <p:cNvPr id="34" name="Group 5"/>
            <p:cNvGrpSpPr>
              <a:grpSpLocks/>
            </p:cNvGrpSpPr>
            <p:nvPr/>
          </p:nvGrpSpPr>
          <p:grpSpPr bwMode="auto">
            <a:xfrm>
              <a:off x="1280" y="1303"/>
              <a:ext cx="428" cy="716"/>
              <a:chOff x="1699" y="1209"/>
              <a:chExt cx="428" cy="716"/>
            </a:xfrm>
          </p:grpSpPr>
          <p:sp>
            <p:nvSpPr>
              <p:cNvPr id="36" name="Rectangle 6"/>
              <p:cNvSpPr>
                <a:spLocks noChangeArrowheads="1"/>
              </p:cNvSpPr>
              <p:nvPr/>
            </p:nvSpPr>
            <p:spPr bwMode="auto">
              <a:xfrm>
                <a:off x="1699" y="1564"/>
                <a:ext cx="428" cy="36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
            <p:nvSpPr>
              <p:cNvPr id="37" name="Line 7"/>
              <p:cNvSpPr>
                <a:spLocks noChangeShapeType="1"/>
              </p:cNvSpPr>
              <p:nvPr/>
            </p:nvSpPr>
            <p:spPr bwMode="auto">
              <a:xfrm flipV="1">
                <a:off x="1918" y="1209"/>
                <a:ext cx="0" cy="355"/>
              </a:xfrm>
              <a:prstGeom prst="line">
                <a:avLst/>
              </a:prstGeom>
              <a:noFill/>
              <a:ln w="3810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grpSp>
        <p:sp>
          <p:nvSpPr>
            <p:cNvPr id="35" name="Text Box 8"/>
            <p:cNvSpPr txBox="1">
              <a:spLocks noChangeArrowheads="1"/>
            </p:cNvSpPr>
            <p:nvPr/>
          </p:nvSpPr>
          <p:spPr bwMode="auto">
            <a:xfrm>
              <a:off x="1102" y="1036"/>
              <a:ext cx="1689"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600" dirty="0">
                  <a:solidFill>
                    <a:srgbClr val="000099"/>
                  </a:solidFill>
                  <a:latin typeface="Montserrat" panose="00000500000000000000" pitchFamily="2" charset="0"/>
                  <a:ea typeface="微软雅黑 Light" panose="020B0502040204020203" pitchFamily="34" charset="-122"/>
                </a:rPr>
                <a:t>主机域名或 </a:t>
              </a:r>
              <a:r>
                <a:rPr lang="en-US" altLang="zh-CN" sz="1600" dirty="0">
                  <a:solidFill>
                    <a:srgbClr val="000099"/>
                  </a:solidFill>
                  <a:latin typeface="Montserrat" panose="00000500000000000000" pitchFamily="2" charset="0"/>
                  <a:ea typeface="微软雅黑 Light" panose="020B0502040204020203" pitchFamily="34" charset="-122"/>
                </a:rPr>
                <a:t>IP </a:t>
              </a:r>
              <a:r>
                <a:rPr lang="zh-CN" altLang="en-US" sz="1600" dirty="0">
                  <a:solidFill>
                    <a:srgbClr val="000099"/>
                  </a:solidFill>
                  <a:latin typeface="Montserrat" panose="00000500000000000000" pitchFamily="2" charset="0"/>
                  <a:ea typeface="微软雅黑 Light" panose="020B0502040204020203" pitchFamily="34" charset="-122"/>
                </a:rPr>
                <a:t>地址。</a:t>
              </a:r>
            </a:p>
          </p:txBody>
        </p:sp>
      </p:grpSp>
      <p:grpSp>
        <p:nvGrpSpPr>
          <p:cNvPr id="38" name="Group 9"/>
          <p:cNvGrpSpPr>
            <a:grpSpLocks/>
          </p:cNvGrpSpPr>
          <p:nvPr/>
        </p:nvGrpSpPr>
        <p:grpSpPr bwMode="auto">
          <a:xfrm>
            <a:off x="4162932" y="1937878"/>
            <a:ext cx="3585307" cy="851185"/>
            <a:chOff x="1058" y="1303"/>
            <a:chExt cx="2815" cy="724"/>
          </a:xfrm>
        </p:grpSpPr>
        <p:grpSp>
          <p:nvGrpSpPr>
            <p:cNvPr id="39" name="Group 5"/>
            <p:cNvGrpSpPr>
              <a:grpSpLocks/>
            </p:cNvGrpSpPr>
            <p:nvPr/>
          </p:nvGrpSpPr>
          <p:grpSpPr bwMode="auto">
            <a:xfrm>
              <a:off x="1152" y="1507"/>
              <a:ext cx="417" cy="520"/>
              <a:chOff x="1570" y="1413"/>
              <a:chExt cx="417" cy="520"/>
            </a:xfrm>
          </p:grpSpPr>
          <p:sp>
            <p:nvSpPr>
              <p:cNvPr id="41" name="Rectangle 6"/>
              <p:cNvSpPr>
                <a:spLocks noChangeArrowheads="1"/>
              </p:cNvSpPr>
              <p:nvPr/>
            </p:nvSpPr>
            <p:spPr bwMode="auto">
              <a:xfrm>
                <a:off x="1570" y="1572"/>
                <a:ext cx="417" cy="361"/>
              </a:xfrm>
              <a:prstGeom prst="rect">
                <a:avLst/>
              </a:prstGeom>
              <a:noFill/>
              <a:ln w="38100">
                <a:solidFill>
                  <a:schemeClr val="accent6">
                    <a:lumMod val="75000"/>
                  </a:schemeClr>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
            <p:nvSpPr>
              <p:cNvPr id="42" name="Line 7"/>
              <p:cNvSpPr>
                <a:spLocks noChangeShapeType="1"/>
              </p:cNvSpPr>
              <p:nvPr/>
            </p:nvSpPr>
            <p:spPr bwMode="auto">
              <a:xfrm flipV="1">
                <a:off x="1788" y="1413"/>
                <a:ext cx="0" cy="159"/>
              </a:xfrm>
              <a:prstGeom prst="line">
                <a:avLst/>
              </a:prstGeom>
              <a:noFill/>
              <a:ln w="38100">
                <a:solidFill>
                  <a:schemeClr val="accent6">
                    <a:lumMod val="75000"/>
                  </a:schemeClr>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grpSp>
        <p:sp>
          <p:nvSpPr>
            <p:cNvPr id="40" name="Text Box 8"/>
            <p:cNvSpPr txBox="1">
              <a:spLocks noChangeArrowheads="1"/>
            </p:cNvSpPr>
            <p:nvPr/>
          </p:nvSpPr>
          <p:spPr bwMode="auto">
            <a:xfrm>
              <a:off x="1058" y="1303"/>
              <a:ext cx="2815"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en-US" altLang="zh-CN" sz="1600" dirty="0">
                  <a:solidFill>
                    <a:srgbClr val="000099"/>
                  </a:solidFill>
                  <a:latin typeface="Montserrat" panose="00000500000000000000" pitchFamily="2" charset="0"/>
                  <a:ea typeface="微软雅黑 Light" panose="020B0502040204020203" pitchFamily="34" charset="-122"/>
                </a:rPr>
                <a:t>HTTP </a:t>
              </a:r>
              <a:r>
                <a:rPr lang="zh-CN" altLang="en-US" sz="1600" dirty="0">
                  <a:solidFill>
                    <a:srgbClr val="000099"/>
                  </a:solidFill>
                  <a:latin typeface="Montserrat" panose="00000500000000000000" pitchFamily="2" charset="0"/>
                  <a:ea typeface="微软雅黑 Light" panose="020B0502040204020203" pitchFamily="34" charset="-122"/>
                </a:rPr>
                <a:t>的默认端口号是 </a:t>
              </a:r>
              <a:r>
                <a:rPr lang="en-US" altLang="zh-CN" sz="1600" dirty="0">
                  <a:solidFill>
                    <a:srgbClr val="000099"/>
                  </a:solidFill>
                  <a:latin typeface="Montserrat" panose="00000500000000000000" pitchFamily="2" charset="0"/>
                  <a:ea typeface="微软雅黑 Light" panose="020B0502040204020203" pitchFamily="34" charset="-122"/>
                </a:rPr>
                <a:t>80</a:t>
              </a:r>
              <a:r>
                <a:rPr lang="zh-CN" altLang="en-US" sz="1600" dirty="0">
                  <a:solidFill>
                    <a:srgbClr val="000099"/>
                  </a:solidFill>
                  <a:latin typeface="Montserrat" panose="00000500000000000000" pitchFamily="2" charset="0"/>
                  <a:ea typeface="微软雅黑 Light" panose="020B0502040204020203" pitchFamily="34" charset="-122"/>
                </a:rPr>
                <a:t>，可省略。</a:t>
              </a:r>
            </a:p>
          </p:txBody>
        </p:sp>
      </p:grpSp>
      <p:grpSp>
        <p:nvGrpSpPr>
          <p:cNvPr id="43" name="Group 9"/>
          <p:cNvGrpSpPr>
            <a:grpSpLocks/>
          </p:cNvGrpSpPr>
          <p:nvPr/>
        </p:nvGrpSpPr>
        <p:grpSpPr bwMode="auto">
          <a:xfrm>
            <a:off x="3809948" y="2364507"/>
            <a:ext cx="3949568" cy="1390817"/>
            <a:chOff x="915" y="1658"/>
            <a:chExt cx="3101" cy="1183"/>
          </a:xfrm>
        </p:grpSpPr>
        <p:grpSp>
          <p:nvGrpSpPr>
            <p:cNvPr id="44" name="Group 5"/>
            <p:cNvGrpSpPr>
              <a:grpSpLocks/>
            </p:cNvGrpSpPr>
            <p:nvPr/>
          </p:nvGrpSpPr>
          <p:grpSpPr bwMode="auto">
            <a:xfrm>
              <a:off x="1936" y="1658"/>
              <a:ext cx="428" cy="528"/>
              <a:chOff x="2356" y="1564"/>
              <a:chExt cx="428" cy="528"/>
            </a:xfrm>
          </p:grpSpPr>
          <p:sp>
            <p:nvSpPr>
              <p:cNvPr id="46" name="Rectangle 6"/>
              <p:cNvSpPr>
                <a:spLocks noChangeArrowheads="1"/>
              </p:cNvSpPr>
              <p:nvPr/>
            </p:nvSpPr>
            <p:spPr bwMode="auto">
              <a:xfrm>
                <a:off x="2356" y="1564"/>
                <a:ext cx="428" cy="36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
            <p:nvSpPr>
              <p:cNvPr id="47" name="Line 7"/>
              <p:cNvSpPr>
                <a:spLocks noChangeShapeType="1"/>
              </p:cNvSpPr>
              <p:nvPr/>
            </p:nvSpPr>
            <p:spPr bwMode="auto">
              <a:xfrm flipV="1">
                <a:off x="2556" y="1933"/>
                <a:ext cx="0" cy="159"/>
              </a:xfrm>
              <a:prstGeom prst="line">
                <a:avLst/>
              </a:prstGeom>
              <a:noFill/>
              <a:ln w="38100">
                <a:solidFill>
                  <a:srgbClr val="CC00CC"/>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grpSp>
        <p:sp>
          <p:nvSpPr>
            <p:cNvPr id="45" name="Text Box 8"/>
            <p:cNvSpPr txBox="1">
              <a:spLocks noChangeArrowheads="1"/>
            </p:cNvSpPr>
            <p:nvPr/>
          </p:nvSpPr>
          <p:spPr bwMode="auto">
            <a:xfrm>
              <a:off x="915" y="2134"/>
              <a:ext cx="3101" cy="7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600" dirty="0">
                  <a:solidFill>
                    <a:srgbClr val="000099"/>
                  </a:solidFill>
                  <a:latin typeface="Montserrat" panose="00000500000000000000" pitchFamily="2" charset="0"/>
                  <a:ea typeface="微软雅黑 Light" panose="020B0502040204020203" pitchFamily="34" charset="-122"/>
                </a:rPr>
                <a:t>省略时指到互联网上的某个主页 </a:t>
              </a:r>
              <a:r>
                <a:rPr lang="en-US" altLang="zh-CN" sz="1600" dirty="0">
                  <a:solidFill>
                    <a:srgbClr val="000099"/>
                  </a:solidFill>
                  <a:latin typeface="Montserrat" panose="00000500000000000000" pitchFamily="2" charset="0"/>
                  <a:ea typeface="微软雅黑 Light" panose="020B0502040204020203" pitchFamily="34" charset="-122"/>
                </a:rPr>
                <a:t>(home page)</a:t>
              </a:r>
              <a:r>
                <a:rPr lang="zh-CN" altLang="en-US" sz="1600" dirty="0">
                  <a:solidFill>
                    <a:srgbClr val="000099"/>
                  </a:solidFill>
                  <a:latin typeface="Montserrat" panose="00000500000000000000" pitchFamily="2" charset="0"/>
                  <a:ea typeface="微软雅黑 Light" panose="020B0502040204020203" pitchFamily="34" charset="-122"/>
                </a:rPr>
                <a:t>。更复杂一些的路径是指向层次结构的从属页面。</a:t>
              </a:r>
            </a:p>
          </p:txBody>
        </p:sp>
      </p:grpSp>
      <p:sp>
        <p:nvSpPr>
          <p:cNvPr id="3" name="标题 2">
            <a:extLst>
              <a:ext uri="{FF2B5EF4-FFF2-40B4-BE49-F238E27FC236}">
                <a16:creationId xmlns:a16="http://schemas.microsoft.com/office/drawing/2014/main" id="{F8928915-D0C7-C59D-A38B-9E84EE3F2663}"/>
              </a:ext>
            </a:extLst>
          </p:cNvPr>
          <p:cNvSpPr>
            <a:spLocks noGrp="1"/>
          </p:cNvSpPr>
          <p:nvPr>
            <p:ph type="title"/>
          </p:nvPr>
        </p:nvSpPr>
        <p:spPr>
          <a:xfrm>
            <a:off x="485999" y="174482"/>
            <a:ext cx="8171999" cy="338554"/>
          </a:xfrm>
        </p:spPr>
        <p:txBody>
          <a:bodyPr/>
          <a:lstStyle/>
          <a:p>
            <a:r>
              <a:rPr lang="en-US" altLang="zh-CN" dirty="0"/>
              <a:t>6.4.2  </a:t>
            </a:r>
            <a:r>
              <a:rPr lang="zh-CN" altLang="en-US" dirty="0"/>
              <a:t>统一资源定位符 </a:t>
            </a:r>
            <a:r>
              <a:rPr lang="en-US" altLang="zh-CN" dirty="0"/>
              <a:t>URL</a:t>
            </a:r>
            <a:endParaRPr lang="zh-CN" altLang="en-US" dirty="0"/>
          </a:p>
        </p:txBody>
      </p:sp>
      <p:sp>
        <p:nvSpPr>
          <p:cNvPr id="8" name="内容占位符 7">
            <a:extLst>
              <a:ext uri="{FF2B5EF4-FFF2-40B4-BE49-F238E27FC236}">
                <a16:creationId xmlns:a16="http://schemas.microsoft.com/office/drawing/2014/main" id="{2D6D353B-FEAF-EC87-81C7-21533867DF4C}"/>
              </a:ext>
            </a:extLst>
          </p:cNvPr>
          <p:cNvSpPr>
            <a:spLocks noGrp="1"/>
          </p:cNvSpPr>
          <p:nvPr>
            <p:ph sz="quarter" idx="11"/>
          </p:nvPr>
        </p:nvSpPr>
        <p:spPr/>
        <p:txBody>
          <a:bodyPr/>
          <a:lstStyle/>
          <a:p>
            <a:endParaRPr lang="zh-CN" altLang="en-US"/>
          </a:p>
        </p:txBody>
      </p:sp>
      <p:sp>
        <p:nvSpPr>
          <p:cNvPr id="4" name="左大括号 3">
            <a:extLst>
              <a:ext uri="{FF2B5EF4-FFF2-40B4-BE49-F238E27FC236}">
                <a16:creationId xmlns:a16="http://schemas.microsoft.com/office/drawing/2014/main" id="{7ED41AD9-0843-D215-3EA7-470A66D3C3AE}"/>
              </a:ext>
            </a:extLst>
          </p:cNvPr>
          <p:cNvSpPr/>
          <p:nvPr/>
        </p:nvSpPr>
        <p:spPr>
          <a:xfrm rot="16200000">
            <a:off x="2697230" y="3798459"/>
            <a:ext cx="117397" cy="504000"/>
          </a:xfrm>
          <a:prstGeom prst="leftBrace">
            <a:avLst>
              <a:gd name="adj1" fmla="val 47208"/>
              <a:gd name="adj2" fmla="val 49826"/>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6" name="TextBox 17">
            <a:extLst>
              <a:ext uri="{FF2B5EF4-FFF2-40B4-BE49-F238E27FC236}">
                <a16:creationId xmlns:a16="http://schemas.microsoft.com/office/drawing/2014/main" id="{55111E66-7068-E4D1-A6C1-15B4E6AF1443}"/>
              </a:ext>
            </a:extLst>
          </p:cNvPr>
          <p:cNvSpPr txBox="1"/>
          <p:nvPr/>
        </p:nvSpPr>
        <p:spPr>
          <a:xfrm>
            <a:off x="2377392" y="4087546"/>
            <a:ext cx="829074"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protocol</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23839916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wipe(down)">
                                      <p:cBhvr>
                                        <p:cTn id="7" dur="1000"/>
                                        <p:tgtEl>
                                          <p:spTgt spid="12"/>
                                        </p:tgtEl>
                                      </p:cBhvr>
                                    </p:animEffect>
                                  </p:childTnLst>
                                </p:cTn>
                              </p:par>
                            </p:childTnLst>
                          </p:cTn>
                        </p:par>
                        <p:par>
                          <p:cTn id="8" fill="hold">
                            <p:stCondLst>
                              <p:cond delay="1000"/>
                            </p:stCondLst>
                            <p:childTnLst>
                              <p:par>
                                <p:cTn id="9" presetID="22" presetClass="entr" presetSubtype="4" fill="hold" nodeType="after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wipe(down)">
                                      <p:cBhvr>
                                        <p:cTn id="11" dur="1000"/>
                                        <p:tgtEl>
                                          <p:spTgt spid="28"/>
                                        </p:tgtEl>
                                      </p:cBhvr>
                                    </p:animEffect>
                                  </p:childTnLst>
                                </p:cTn>
                              </p:par>
                            </p:childTnLst>
                          </p:cTn>
                        </p:par>
                        <p:par>
                          <p:cTn id="12" fill="hold">
                            <p:stCondLst>
                              <p:cond delay="2000"/>
                            </p:stCondLst>
                            <p:childTnLst>
                              <p:par>
                                <p:cTn id="13" presetID="22" presetClass="entr" presetSubtype="4" fill="hold" nodeType="afterEffect">
                                  <p:stCondLst>
                                    <p:cond delay="0"/>
                                  </p:stCondLst>
                                  <p:childTnLst>
                                    <p:set>
                                      <p:cBhvr>
                                        <p:cTn id="14" dur="1" fill="hold">
                                          <p:stCondLst>
                                            <p:cond delay="0"/>
                                          </p:stCondLst>
                                        </p:cTn>
                                        <p:tgtEl>
                                          <p:spTgt spid="33"/>
                                        </p:tgtEl>
                                        <p:attrNameLst>
                                          <p:attrName>style.visibility</p:attrName>
                                        </p:attrNameLst>
                                      </p:cBhvr>
                                      <p:to>
                                        <p:strVal val="visible"/>
                                      </p:to>
                                    </p:set>
                                    <p:animEffect transition="in" filter="wipe(down)">
                                      <p:cBhvr>
                                        <p:cTn id="15" dur="1000"/>
                                        <p:tgtEl>
                                          <p:spTgt spid="33"/>
                                        </p:tgtEl>
                                      </p:cBhvr>
                                    </p:animEffect>
                                  </p:childTnLst>
                                </p:cTn>
                              </p:par>
                            </p:childTnLst>
                          </p:cTn>
                        </p:par>
                        <p:par>
                          <p:cTn id="16" fill="hold">
                            <p:stCondLst>
                              <p:cond delay="3000"/>
                            </p:stCondLst>
                            <p:childTnLst>
                              <p:par>
                                <p:cTn id="17" presetID="22" presetClass="entr" presetSubtype="4" fill="hold" nodeType="afterEffect">
                                  <p:stCondLst>
                                    <p:cond delay="0"/>
                                  </p:stCondLst>
                                  <p:childTnLst>
                                    <p:set>
                                      <p:cBhvr>
                                        <p:cTn id="18" dur="1" fill="hold">
                                          <p:stCondLst>
                                            <p:cond delay="0"/>
                                          </p:stCondLst>
                                        </p:cTn>
                                        <p:tgtEl>
                                          <p:spTgt spid="38"/>
                                        </p:tgtEl>
                                        <p:attrNameLst>
                                          <p:attrName>style.visibility</p:attrName>
                                        </p:attrNameLst>
                                      </p:cBhvr>
                                      <p:to>
                                        <p:strVal val="visible"/>
                                      </p:to>
                                    </p:set>
                                    <p:animEffect transition="in" filter="wipe(down)">
                                      <p:cBhvr>
                                        <p:cTn id="19" dur="1000"/>
                                        <p:tgtEl>
                                          <p:spTgt spid="38"/>
                                        </p:tgtEl>
                                      </p:cBhvr>
                                    </p:animEffect>
                                  </p:childTnLst>
                                </p:cTn>
                              </p:par>
                            </p:childTnLst>
                          </p:cTn>
                        </p:par>
                        <p:par>
                          <p:cTn id="20" fill="hold">
                            <p:stCondLst>
                              <p:cond delay="4000"/>
                            </p:stCondLst>
                            <p:childTnLst>
                              <p:par>
                                <p:cTn id="21" presetID="22" presetClass="entr" presetSubtype="1" fill="hold" nodeType="afterEffect">
                                  <p:stCondLst>
                                    <p:cond delay="0"/>
                                  </p:stCondLst>
                                  <p:childTnLst>
                                    <p:set>
                                      <p:cBhvr>
                                        <p:cTn id="22" dur="1" fill="hold">
                                          <p:stCondLst>
                                            <p:cond delay="0"/>
                                          </p:stCondLst>
                                        </p:cTn>
                                        <p:tgtEl>
                                          <p:spTgt spid="43"/>
                                        </p:tgtEl>
                                        <p:attrNameLst>
                                          <p:attrName>style.visibility</p:attrName>
                                        </p:attrNameLst>
                                      </p:cBhvr>
                                      <p:to>
                                        <p:strVal val="visible"/>
                                      </p:to>
                                    </p:set>
                                    <p:animEffect transition="in" filter="wipe(up)">
                                      <p:cBhvr>
                                        <p:cTn id="23" dur="10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a:extLst>
              <a:ext uri="{FF2B5EF4-FFF2-40B4-BE49-F238E27FC236}">
                <a16:creationId xmlns:a16="http://schemas.microsoft.com/office/drawing/2014/main" id="{321CB009-AD56-2F1C-F6D2-82F7084E0B78}"/>
              </a:ext>
            </a:extLst>
          </p:cNvPr>
          <p:cNvSpPr/>
          <p:nvPr/>
        </p:nvSpPr>
        <p:spPr>
          <a:xfrm>
            <a:off x="2261469" y="3736373"/>
            <a:ext cx="4603350" cy="307777"/>
          </a:xfrm>
          <a:prstGeom prst="rect">
            <a:avLst/>
          </a:prstGeom>
        </p:spPr>
        <p:txBody>
          <a:bodyPr wrap="square">
            <a:noAutofit/>
          </a:bodyPr>
          <a:lstStyle/>
          <a:p>
            <a:pPr algn="ctr"/>
            <a:r>
              <a:rPr lang="en-US" altLang="zh-CN" sz="1400" dirty="0">
                <a:latin typeface="Montserrat" panose="00000500000000000000" pitchFamily="2" charset="0"/>
                <a:ea typeface="微软雅黑 Light" panose="020B0502040204020203" pitchFamily="34" charset="-122"/>
                <a:cs typeface="Times New Roman" pitchFamily="18" charset="0"/>
              </a:rPr>
              <a:t>https://</a:t>
            </a:r>
            <a:r>
              <a:rPr lang="en-US" altLang="zh-CN" sz="1400" dirty="0">
                <a:solidFill>
                  <a:schemeClr val="tx2">
                    <a:lumMod val="60000"/>
                    <a:lumOff val="40000"/>
                  </a:schemeClr>
                </a:solidFill>
                <a:latin typeface="Montserrat" panose="00000500000000000000" pitchFamily="2" charset="0"/>
                <a:ea typeface="微软雅黑 Light" panose="020B0502040204020203" pitchFamily="34" charset="-122"/>
                <a:cs typeface="Times New Roman" pitchFamily="18" charset="0"/>
              </a:rPr>
              <a:t>glplaman.github.io</a:t>
            </a:r>
            <a:r>
              <a:rPr lang="en-US" altLang="zh-CN" sz="1400" dirty="0">
                <a:latin typeface="Montserrat" panose="00000500000000000000" pitchFamily="2" charset="0"/>
                <a:ea typeface="微软雅黑 Light" panose="020B0502040204020203" pitchFamily="34" charset="-122"/>
                <a:cs typeface="Times New Roman" pitchFamily="18" charset="0"/>
              </a:rPr>
              <a:t>/</a:t>
            </a:r>
            <a:r>
              <a:rPr lang="en-US" altLang="zh-CN" sz="1400" dirty="0">
                <a:solidFill>
                  <a:srgbClr val="00B050"/>
                </a:solidFill>
                <a:latin typeface="Montserrat" panose="00000500000000000000" pitchFamily="2" charset="0"/>
                <a:ea typeface="微软雅黑 Light" panose="020B0502040204020203" pitchFamily="34" charset="-122"/>
                <a:cs typeface="Times New Roman" pitchFamily="18" charset="0"/>
              </a:rPr>
              <a:t>network/index.html</a:t>
            </a:r>
            <a:endParaRPr lang="zh-CN" altLang="zh-CN" sz="1400" dirty="0">
              <a:solidFill>
                <a:srgbClr val="00B050"/>
              </a:solidFill>
              <a:latin typeface="Montserrat" panose="00000500000000000000" pitchFamily="2" charset="0"/>
              <a:ea typeface="微软雅黑 Light" panose="020B0502040204020203" pitchFamily="34" charset="-122"/>
              <a:cs typeface="Times New Roman" pitchFamily="18" charset="0"/>
            </a:endParaRPr>
          </a:p>
        </p:txBody>
      </p:sp>
      <p:sp>
        <p:nvSpPr>
          <p:cNvPr id="4" name="左大括号 3">
            <a:extLst>
              <a:ext uri="{FF2B5EF4-FFF2-40B4-BE49-F238E27FC236}">
                <a16:creationId xmlns:a16="http://schemas.microsoft.com/office/drawing/2014/main" id="{6D86076D-4687-63B9-8219-417AEFCEE7AC}"/>
              </a:ext>
            </a:extLst>
          </p:cNvPr>
          <p:cNvSpPr/>
          <p:nvPr/>
        </p:nvSpPr>
        <p:spPr>
          <a:xfrm rot="16200000">
            <a:off x="3879134" y="3222461"/>
            <a:ext cx="117397" cy="1656000"/>
          </a:xfrm>
          <a:prstGeom prst="leftBrace">
            <a:avLst>
              <a:gd name="adj1" fmla="val 47208"/>
              <a:gd name="adj2" fmla="val 49826"/>
            </a:avLst>
          </a:prstGeom>
          <a:ln w="12700">
            <a:solidFill>
              <a:schemeClr val="tx2">
                <a:lumMod val="60000"/>
                <a:lumOff val="4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5" name="左大括号 4">
            <a:extLst>
              <a:ext uri="{FF2B5EF4-FFF2-40B4-BE49-F238E27FC236}">
                <a16:creationId xmlns:a16="http://schemas.microsoft.com/office/drawing/2014/main" id="{2B819A0E-82EF-EA20-BBD0-E8CE12B5220E}"/>
              </a:ext>
            </a:extLst>
          </p:cNvPr>
          <p:cNvSpPr/>
          <p:nvPr/>
        </p:nvSpPr>
        <p:spPr>
          <a:xfrm rot="16200000">
            <a:off x="5688742" y="3186460"/>
            <a:ext cx="117399" cy="1728000"/>
          </a:xfrm>
          <a:prstGeom prst="leftBrace">
            <a:avLst>
              <a:gd name="adj1" fmla="val 47208"/>
              <a:gd name="adj2" fmla="val 49826"/>
            </a:avLst>
          </a:prstGeom>
          <a:ln w="12700">
            <a:solidFill>
              <a:srgbClr val="00B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6" name="TextBox 17">
            <a:extLst>
              <a:ext uri="{FF2B5EF4-FFF2-40B4-BE49-F238E27FC236}">
                <a16:creationId xmlns:a16="http://schemas.microsoft.com/office/drawing/2014/main" id="{C5F4A7B5-3558-5024-7E51-87B8CFFC335D}"/>
              </a:ext>
            </a:extLst>
          </p:cNvPr>
          <p:cNvSpPr txBox="1"/>
          <p:nvPr/>
        </p:nvSpPr>
        <p:spPr>
          <a:xfrm>
            <a:off x="3544936" y="4109159"/>
            <a:ext cx="785792" cy="276999"/>
          </a:xfrm>
          <a:prstGeom prst="rect">
            <a:avLst/>
          </a:prstGeom>
          <a:noFill/>
        </p:spPr>
        <p:txBody>
          <a:bodyPr wrap="none" rtlCol="0">
            <a:spAutoFit/>
          </a:bodyPr>
          <a:lstStyle/>
          <a:p>
            <a:pPr algn="ctr"/>
            <a:r>
              <a:rPr lang="en-US" altLang="zh-CN" sz="1200" dirty="0">
                <a:solidFill>
                  <a:schemeClr val="tx2">
                    <a:lumMod val="60000"/>
                    <a:lumOff val="40000"/>
                  </a:schemeClr>
                </a:solidFill>
                <a:latin typeface="Montserrat" panose="00000500000000000000" pitchFamily="2" charset="0"/>
                <a:ea typeface="微软雅黑 Light" panose="020B0502040204020203" pitchFamily="34" charset="-122"/>
              </a:rPr>
              <a:t>domain</a:t>
            </a:r>
            <a:endParaRPr lang="zh-CN" altLang="en-US" sz="1200" dirty="0">
              <a:solidFill>
                <a:schemeClr val="tx2">
                  <a:lumMod val="60000"/>
                  <a:lumOff val="40000"/>
                </a:schemeClr>
              </a:solidFill>
              <a:latin typeface="Montserrat" panose="00000500000000000000" pitchFamily="2" charset="0"/>
              <a:ea typeface="微软雅黑 Light" panose="020B0502040204020203" pitchFamily="34" charset="-122"/>
            </a:endParaRPr>
          </a:p>
        </p:txBody>
      </p:sp>
      <p:sp>
        <p:nvSpPr>
          <p:cNvPr id="7" name="TextBox 18">
            <a:extLst>
              <a:ext uri="{FF2B5EF4-FFF2-40B4-BE49-F238E27FC236}">
                <a16:creationId xmlns:a16="http://schemas.microsoft.com/office/drawing/2014/main" id="{07B34242-391F-AFB7-625F-10D8BFF68690}"/>
              </a:ext>
            </a:extLst>
          </p:cNvPr>
          <p:cNvSpPr txBox="1"/>
          <p:nvPr/>
        </p:nvSpPr>
        <p:spPr>
          <a:xfrm>
            <a:off x="5171227" y="4109158"/>
            <a:ext cx="1042065" cy="276999"/>
          </a:xfrm>
          <a:prstGeom prst="rect">
            <a:avLst/>
          </a:prstGeom>
          <a:noFill/>
        </p:spPr>
        <p:txBody>
          <a:bodyPr wrap="square" rtlCol="0">
            <a:spAutoFit/>
          </a:bodyPr>
          <a:lstStyle>
            <a:defPPr>
              <a:defRPr lang="zh-CN"/>
            </a:defPPr>
            <a:lvl1pPr>
              <a:defRPr sz="3200" b="1">
                <a:solidFill>
                  <a:srgbClr val="000000"/>
                </a:solidFill>
                <a:latin typeface="+mn-lt"/>
                <a:ea typeface="+mn-ea"/>
              </a:defRPr>
            </a:lvl1pPr>
          </a:lstStyle>
          <a:p>
            <a:pPr algn="ctr"/>
            <a:r>
              <a:rPr lang="en-US" altLang="zh-CN" sz="1200" b="0" dirty="0">
                <a:solidFill>
                  <a:srgbClr val="00B050"/>
                </a:solidFill>
                <a:latin typeface="Montserrat" panose="00000500000000000000" pitchFamily="2" charset="0"/>
                <a:ea typeface="微软雅黑 Light" panose="020B0502040204020203" pitchFamily="34" charset="-122"/>
              </a:rPr>
              <a:t>path</a:t>
            </a:r>
            <a:endParaRPr lang="zh-CN" altLang="en-US" sz="1200" b="0" dirty="0">
              <a:solidFill>
                <a:srgbClr val="00B050"/>
              </a:solidFill>
              <a:latin typeface="Montserrat" panose="00000500000000000000" pitchFamily="2" charset="0"/>
              <a:ea typeface="微软雅黑 Light" panose="020B0502040204020203" pitchFamily="34" charset="-122"/>
            </a:endParaRPr>
          </a:p>
        </p:txBody>
      </p:sp>
      <p:sp>
        <p:nvSpPr>
          <p:cNvPr id="8" name="左大括号 7">
            <a:extLst>
              <a:ext uri="{FF2B5EF4-FFF2-40B4-BE49-F238E27FC236}">
                <a16:creationId xmlns:a16="http://schemas.microsoft.com/office/drawing/2014/main" id="{334139B8-12B0-90D6-8608-E92870B5FB7A}"/>
              </a:ext>
            </a:extLst>
          </p:cNvPr>
          <p:cNvSpPr/>
          <p:nvPr/>
        </p:nvSpPr>
        <p:spPr>
          <a:xfrm rot="16200000">
            <a:off x="2697230" y="3798459"/>
            <a:ext cx="117397" cy="504000"/>
          </a:xfrm>
          <a:prstGeom prst="leftBrace">
            <a:avLst>
              <a:gd name="adj1" fmla="val 47208"/>
              <a:gd name="adj2" fmla="val 49826"/>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9" name="TextBox 17">
            <a:extLst>
              <a:ext uri="{FF2B5EF4-FFF2-40B4-BE49-F238E27FC236}">
                <a16:creationId xmlns:a16="http://schemas.microsoft.com/office/drawing/2014/main" id="{CD8FC4BC-03A1-C0FA-7EC3-9E183476A078}"/>
              </a:ext>
            </a:extLst>
          </p:cNvPr>
          <p:cNvSpPr txBox="1"/>
          <p:nvPr/>
        </p:nvSpPr>
        <p:spPr>
          <a:xfrm>
            <a:off x="2377392" y="4087546"/>
            <a:ext cx="829074"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protocol</a:t>
            </a:r>
            <a:endParaRPr lang="zh-CN" altLang="en-US" sz="1200" dirty="0">
              <a:latin typeface="Montserrat" panose="00000500000000000000" pitchFamily="2" charset="0"/>
              <a:ea typeface="微软雅黑 Light" panose="020B0502040204020203" pitchFamily="34" charset="-122"/>
            </a:endParaRPr>
          </a:p>
        </p:txBody>
      </p:sp>
      <p:sp>
        <p:nvSpPr>
          <p:cNvPr id="10" name="矩形 9">
            <a:extLst>
              <a:ext uri="{FF2B5EF4-FFF2-40B4-BE49-F238E27FC236}">
                <a16:creationId xmlns:a16="http://schemas.microsoft.com/office/drawing/2014/main" id="{AFBB2F2F-1CA0-2D04-3708-C90D741FEB70}"/>
              </a:ext>
            </a:extLst>
          </p:cNvPr>
          <p:cNvSpPr/>
          <p:nvPr/>
        </p:nvSpPr>
        <p:spPr>
          <a:xfrm>
            <a:off x="2261469" y="2571750"/>
            <a:ext cx="4603350" cy="307777"/>
          </a:xfrm>
          <a:prstGeom prst="rect">
            <a:avLst/>
          </a:prstGeom>
        </p:spPr>
        <p:txBody>
          <a:bodyPr wrap="square">
            <a:noAutofit/>
          </a:bodyPr>
          <a:lstStyle/>
          <a:p>
            <a:pPr algn="ctr"/>
            <a:r>
              <a:rPr lang="en-US" altLang="zh-CN" sz="1400" dirty="0">
                <a:latin typeface="Montserrat" panose="00000500000000000000" pitchFamily="2" charset="0"/>
                <a:ea typeface="微软雅黑 Light" panose="020B0502040204020203" pitchFamily="34" charset="-122"/>
                <a:cs typeface="Times New Roman" pitchFamily="18" charset="0"/>
              </a:rPr>
              <a:t>https://</a:t>
            </a:r>
            <a:r>
              <a:rPr lang="en-US" altLang="zh-CN" sz="1400" dirty="0">
                <a:solidFill>
                  <a:schemeClr val="tx2">
                    <a:lumMod val="60000"/>
                    <a:lumOff val="40000"/>
                  </a:schemeClr>
                </a:solidFill>
                <a:latin typeface="Montserrat" panose="00000500000000000000" pitchFamily="2" charset="0"/>
                <a:ea typeface="微软雅黑 Light" panose="020B0502040204020203" pitchFamily="34" charset="-122"/>
                <a:cs typeface="Times New Roman" pitchFamily="18" charset="0"/>
              </a:rPr>
              <a:t>185.199.108.153</a:t>
            </a:r>
            <a:r>
              <a:rPr lang="en-US" altLang="zh-CN" sz="1400" dirty="0">
                <a:latin typeface="Montserrat" panose="00000500000000000000" pitchFamily="2" charset="0"/>
                <a:ea typeface="微软雅黑 Light" panose="020B0502040204020203" pitchFamily="34" charset="-122"/>
                <a:cs typeface="Times New Roman" pitchFamily="18" charset="0"/>
              </a:rPr>
              <a:t>/</a:t>
            </a:r>
            <a:r>
              <a:rPr lang="en-US" altLang="zh-CN" sz="1400" dirty="0">
                <a:solidFill>
                  <a:srgbClr val="00B050"/>
                </a:solidFill>
                <a:latin typeface="Montserrat" panose="00000500000000000000" pitchFamily="2" charset="0"/>
                <a:ea typeface="微软雅黑 Light" panose="020B0502040204020203" pitchFamily="34" charset="-122"/>
                <a:cs typeface="Times New Roman" pitchFamily="18" charset="0"/>
              </a:rPr>
              <a:t>network/index.html</a:t>
            </a:r>
            <a:endParaRPr lang="zh-CN" altLang="zh-CN" sz="1400" dirty="0">
              <a:solidFill>
                <a:srgbClr val="00B050"/>
              </a:solidFill>
              <a:latin typeface="Montserrat" panose="00000500000000000000" pitchFamily="2" charset="0"/>
              <a:ea typeface="微软雅黑 Light" panose="020B0502040204020203" pitchFamily="34" charset="-122"/>
              <a:cs typeface="Times New Roman" pitchFamily="18" charset="0"/>
            </a:endParaRPr>
          </a:p>
        </p:txBody>
      </p:sp>
      <p:sp>
        <p:nvSpPr>
          <p:cNvPr id="11" name="左大括号 10">
            <a:extLst>
              <a:ext uri="{FF2B5EF4-FFF2-40B4-BE49-F238E27FC236}">
                <a16:creationId xmlns:a16="http://schemas.microsoft.com/office/drawing/2014/main" id="{2AE3F18D-BEB4-F3C2-1542-5CBFAE33CD09}"/>
              </a:ext>
            </a:extLst>
          </p:cNvPr>
          <p:cNvSpPr/>
          <p:nvPr/>
        </p:nvSpPr>
        <p:spPr>
          <a:xfrm rot="16200000">
            <a:off x="3891734" y="2273838"/>
            <a:ext cx="117397" cy="1224000"/>
          </a:xfrm>
          <a:prstGeom prst="leftBrace">
            <a:avLst>
              <a:gd name="adj1" fmla="val 47208"/>
              <a:gd name="adj2" fmla="val 49826"/>
            </a:avLst>
          </a:prstGeom>
          <a:ln w="12700">
            <a:solidFill>
              <a:schemeClr val="tx2">
                <a:lumMod val="60000"/>
                <a:lumOff val="4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12" name="左大括号 11">
            <a:extLst>
              <a:ext uri="{FF2B5EF4-FFF2-40B4-BE49-F238E27FC236}">
                <a16:creationId xmlns:a16="http://schemas.microsoft.com/office/drawing/2014/main" id="{9B984DC1-09C9-EDE6-76B1-0E6609B7E67D}"/>
              </a:ext>
            </a:extLst>
          </p:cNvPr>
          <p:cNvSpPr/>
          <p:nvPr/>
        </p:nvSpPr>
        <p:spPr>
          <a:xfrm rot="16200000">
            <a:off x="5477734" y="2021837"/>
            <a:ext cx="117399" cy="1728000"/>
          </a:xfrm>
          <a:prstGeom prst="leftBrace">
            <a:avLst>
              <a:gd name="adj1" fmla="val 47208"/>
              <a:gd name="adj2" fmla="val 49826"/>
            </a:avLst>
          </a:prstGeom>
          <a:ln w="12700">
            <a:solidFill>
              <a:srgbClr val="00B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13" name="TextBox 17">
            <a:extLst>
              <a:ext uri="{FF2B5EF4-FFF2-40B4-BE49-F238E27FC236}">
                <a16:creationId xmlns:a16="http://schemas.microsoft.com/office/drawing/2014/main" id="{8DC4D532-FC64-DD2A-2106-6C138A06297C}"/>
              </a:ext>
            </a:extLst>
          </p:cNvPr>
          <p:cNvSpPr txBox="1"/>
          <p:nvPr/>
        </p:nvSpPr>
        <p:spPr>
          <a:xfrm>
            <a:off x="3779552" y="2944536"/>
            <a:ext cx="341760" cy="276999"/>
          </a:xfrm>
          <a:prstGeom prst="rect">
            <a:avLst/>
          </a:prstGeom>
          <a:noFill/>
        </p:spPr>
        <p:txBody>
          <a:bodyPr wrap="none" rtlCol="0">
            <a:spAutoFit/>
          </a:bodyPr>
          <a:lstStyle/>
          <a:p>
            <a:pPr algn="ctr"/>
            <a:r>
              <a:rPr lang="en-US" altLang="zh-CN" sz="1200" dirty="0">
                <a:solidFill>
                  <a:schemeClr val="tx2">
                    <a:lumMod val="60000"/>
                    <a:lumOff val="40000"/>
                  </a:schemeClr>
                </a:solidFill>
                <a:latin typeface="Montserrat" panose="00000500000000000000" pitchFamily="2" charset="0"/>
                <a:ea typeface="微软雅黑 Light" panose="020B0502040204020203" pitchFamily="34" charset="-122"/>
              </a:rPr>
              <a:t>IP</a:t>
            </a:r>
            <a:endParaRPr lang="zh-CN" altLang="en-US" sz="1200" dirty="0">
              <a:solidFill>
                <a:schemeClr val="tx2">
                  <a:lumMod val="60000"/>
                  <a:lumOff val="40000"/>
                </a:schemeClr>
              </a:solidFill>
              <a:latin typeface="Montserrat" panose="00000500000000000000" pitchFamily="2" charset="0"/>
              <a:ea typeface="微软雅黑 Light" panose="020B0502040204020203" pitchFamily="34" charset="-122"/>
            </a:endParaRPr>
          </a:p>
        </p:txBody>
      </p:sp>
      <p:sp>
        <p:nvSpPr>
          <p:cNvPr id="14" name="TextBox 18">
            <a:extLst>
              <a:ext uri="{FF2B5EF4-FFF2-40B4-BE49-F238E27FC236}">
                <a16:creationId xmlns:a16="http://schemas.microsoft.com/office/drawing/2014/main" id="{61D390DF-8762-5747-0F03-99401D7B7893}"/>
              </a:ext>
            </a:extLst>
          </p:cNvPr>
          <p:cNvSpPr txBox="1"/>
          <p:nvPr/>
        </p:nvSpPr>
        <p:spPr>
          <a:xfrm>
            <a:off x="5171227" y="2944535"/>
            <a:ext cx="1042065" cy="276999"/>
          </a:xfrm>
          <a:prstGeom prst="rect">
            <a:avLst/>
          </a:prstGeom>
          <a:noFill/>
        </p:spPr>
        <p:txBody>
          <a:bodyPr wrap="square" rtlCol="0">
            <a:spAutoFit/>
          </a:bodyPr>
          <a:lstStyle>
            <a:defPPr>
              <a:defRPr lang="zh-CN"/>
            </a:defPPr>
            <a:lvl1pPr>
              <a:defRPr sz="3200" b="1">
                <a:solidFill>
                  <a:srgbClr val="000000"/>
                </a:solidFill>
                <a:latin typeface="+mn-lt"/>
                <a:ea typeface="+mn-ea"/>
              </a:defRPr>
            </a:lvl1pPr>
          </a:lstStyle>
          <a:p>
            <a:pPr algn="ctr"/>
            <a:r>
              <a:rPr lang="en-US" altLang="zh-CN" sz="1200" b="0" dirty="0">
                <a:solidFill>
                  <a:srgbClr val="00B050"/>
                </a:solidFill>
                <a:latin typeface="Montserrat" panose="00000500000000000000" pitchFamily="2" charset="0"/>
                <a:ea typeface="微软雅黑 Light" panose="020B0502040204020203" pitchFamily="34" charset="-122"/>
              </a:rPr>
              <a:t>path</a:t>
            </a:r>
            <a:endParaRPr lang="zh-CN" altLang="en-US" sz="1200" b="0" dirty="0">
              <a:solidFill>
                <a:srgbClr val="00B050"/>
              </a:solidFill>
              <a:latin typeface="Montserrat" panose="00000500000000000000" pitchFamily="2" charset="0"/>
              <a:ea typeface="微软雅黑 Light" panose="020B0502040204020203" pitchFamily="34" charset="-122"/>
            </a:endParaRPr>
          </a:p>
        </p:txBody>
      </p:sp>
      <p:sp>
        <p:nvSpPr>
          <p:cNvPr id="15" name="左大括号 14">
            <a:extLst>
              <a:ext uri="{FF2B5EF4-FFF2-40B4-BE49-F238E27FC236}">
                <a16:creationId xmlns:a16="http://schemas.microsoft.com/office/drawing/2014/main" id="{60B3363D-352F-1A0C-F75C-52C977BABDE4}"/>
              </a:ext>
            </a:extLst>
          </p:cNvPr>
          <p:cNvSpPr/>
          <p:nvPr/>
        </p:nvSpPr>
        <p:spPr>
          <a:xfrm rot="16200000">
            <a:off x="2897255" y="2633836"/>
            <a:ext cx="117397" cy="504000"/>
          </a:xfrm>
          <a:prstGeom prst="leftBrace">
            <a:avLst>
              <a:gd name="adj1" fmla="val 47208"/>
              <a:gd name="adj2" fmla="val 49826"/>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16" name="TextBox 17">
            <a:extLst>
              <a:ext uri="{FF2B5EF4-FFF2-40B4-BE49-F238E27FC236}">
                <a16:creationId xmlns:a16="http://schemas.microsoft.com/office/drawing/2014/main" id="{5B8FEAA7-B4C7-B0B0-4D27-12C158D32E2A}"/>
              </a:ext>
            </a:extLst>
          </p:cNvPr>
          <p:cNvSpPr txBox="1"/>
          <p:nvPr/>
        </p:nvSpPr>
        <p:spPr>
          <a:xfrm>
            <a:off x="2577417" y="2922923"/>
            <a:ext cx="829074"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protocol</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41989440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2141FF72-872F-F8C1-B7CD-1E9C20946A8C}"/>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a:t>
            </a:r>
            <a:endParaRPr lang="zh-CN" altLang="en-US" dirty="0"/>
          </a:p>
        </p:txBody>
      </p:sp>
      <p:sp>
        <p:nvSpPr>
          <p:cNvPr id="5" name="内容占位符 4">
            <a:extLst>
              <a:ext uri="{FF2B5EF4-FFF2-40B4-BE49-F238E27FC236}">
                <a16:creationId xmlns:a16="http://schemas.microsoft.com/office/drawing/2014/main" id="{F5ECFF2A-A5BB-E784-B1DB-5D14166A1917}"/>
              </a:ext>
            </a:extLst>
          </p:cNvPr>
          <p:cNvSpPr>
            <a:spLocks noGrp="1"/>
          </p:cNvSpPr>
          <p:nvPr>
            <p:ph sz="quarter" idx="11"/>
          </p:nvPr>
        </p:nvSpPr>
        <p:spPr>
          <a:xfrm>
            <a:off x="486000" y="687518"/>
            <a:ext cx="8172000" cy="4079035"/>
          </a:xfrm>
        </p:spPr>
        <p:txBody>
          <a:bodyPr/>
          <a:lstStyle/>
          <a:p>
            <a:r>
              <a:rPr lang="en-US" altLang="zh-CN" dirty="0"/>
              <a:t>HTTP </a:t>
            </a:r>
            <a:r>
              <a:rPr lang="zh-CN" altLang="en-US" dirty="0"/>
              <a:t>是面向事务的 </a:t>
            </a:r>
            <a:r>
              <a:rPr lang="en-US" altLang="zh-CN" dirty="0"/>
              <a:t>(transaction-oriented) </a:t>
            </a:r>
            <a:r>
              <a:rPr lang="zh-CN" altLang="en-US" dirty="0"/>
              <a:t>应用层协议</a:t>
            </a:r>
            <a:endParaRPr lang="en-US" altLang="zh-CN" dirty="0"/>
          </a:p>
          <a:p>
            <a:r>
              <a:rPr lang="zh-CN" altLang="en-US" dirty="0"/>
              <a:t>使用 </a:t>
            </a:r>
            <a:r>
              <a:rPr lang="en-US" altLang="zh-CN" dirty="0"/>
              <a:t>TCP </a:t>
            </a:r>
            <a:r>
              <a:rPr lang="zh-CN" altLang="en-US" dirty="0"/>
              <a:t>连接进行可靠的传送</a:t>
            </a:r>
            <a:endParaRPr lang="en-US" altLang="zh-CN" dirty="0"/>
          </a:p>
          <a:p>
            <a:r>
              <a:rPr lang="zh-CN" altLang="en-US" dirty="0"/>
              <a:t>定义了浏览器与万维网服务器通信的格式和规则</a:t>
            </a:r>
            <a:endParaRPr lang="en-US" altLang="zh-CN" dirty="0"/>
          </a:p>
          <a:p>
            <a:r>
              <a:rPr lang="zh-CN" altLang="en-US" dirty="0"/>
              <a:t>是万维网上能够可靠地交换文件（包括文本、声音、图像等各种多媒体文件）的重要基础</a:t>
            </a:r>
            <a:endParaRPr lang="en-US" altLang="zh-CN" dirty="0"/>
          </a:p>
          <a:p>
            <a:r>
              <a:rPr lang="en-US" altLang="zh-CN" dirty="0"/>
              <a:t>HTTP </a:t>
            </a:r>
            <a:r>
              <a:rPr lang="zh-CN" altLang="en-US" dirty="0"/>
              <a:t>不仅传送完成超文本跳转所必需的信息，而且也传送任何可从互联网上得到的信息，如文本、超文本、声音和图像等</a:t>
            </a:r>
          </a:p>
          <a:p>
            <a:endParaRPr lang="en-US" altLang="zh-CN" dirty="0"/>
          </a:p>
          <a:p>
            <a:endParaRPr lang="zh-CN" altLang="en-US" dirty="0"/>
          </a:p>
        </p:txBody>
      </p:sp>
    </p:spTree>
    <p:extLst>
      <p:ext uri="{BB962C8B-B14F-4D97-AF65-F5344CB8AC3E}">
        <p14:creationId xmlns:p14="http://schemas.microsoft.com/office/powerpoint/2010/main" val="5622565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E4A5AC5-2B79-B6F3-F882-77DF85F5B792}"/>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基本过程</a:t>
            </a:r>
          </a:p>
        </p:txBody>
      </p:sp>
      <p:sp>
        <p:nvSpPr>
          <p:cNvPr id="65" name="内容占位符 64">
            <a:extLst>
              <a:ext uri="{FF2B5EF4-FFF2-40B4-BE49-F238E27FC236}">
                <a16:creationId xmlns:a16="http://schemas.microsoft.com/office/drawing/2014/main" id="{2FEE52BE-5F49-357F-2E1C-A016F8D6255E}"/>
              </a:ext>
            </a:extLst>
          </p:cNvPr>
          <p:cNvSpPr>
            <a:spLocks noGrp="1"/>
          </p:cNvSpPr>
          <p:nvPr>
            <p:ph sz="quarter" idx="11"/>
          </p:nvPr>
        </p:nvSpPr>
        <p:spPr/>
        <p:txBody>
          <a:bodyPr/>
          <a:lstStyle/>
          <a:p>
            <a:endParaRPr lang="zh-CN" altLang="en-US" dirty="0"/>
          </a:p>
        </p:txBody>
      </p:sp>
      <p:sp>
        <p:nvSpPr>
          <p:cNvPr id="9" name="矩形 8"/>
          <p:cNvSpPr/>
          <p:nvPr/>
        </p:nvSpPr>
        <p:spPr>
          <a:xfrm>
            <a:off x="2186228" y="1586995"/>
            <a:ext cx="596307" cy="33992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graphicFrame>
        <p:nvGraphicFramePr>
          <p:cNvPr id="17" name="Object 66"/>
          <p:cNvGraphicFramePr>
            <a:graphicFrameLocks noChangeAspect="1"/>
          </p:cNvGraphicFramePr>
          <p:nvPr>
            <p:extLst>
              <p:ext uri="{D42A27DB-BD31-4B8C-83A1-F6EECF244321}">
                <p14:modId xmlns:p14="http://schemas.microsoft.com/office/powerpoint/2010/main" val="1147271616"/>
              </p:ext>
            </p:extLst>
          </p:nvPr>
        </p:nvGraphicFramePr>
        <p:xfrm>
          <a:off x="3478498" y="2050412"/>
          <a:ext cx="2148903" cy="873047"/>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39"/>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478498" y="2050412"/>
                        <a:ext cx="2148903" cy="87304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26" name="Rectangle 78"/>
          <p:cNvSpPr>
            <a:spLocks noChangeArrowheads="1"/>
          </p:cNvSpPr>
          <p:nvPr/>
        </p:nvSpPr>
        <p:spPr bwMode="auto">
          <a:xfrm>
            <a:off x="4201482" y="2199680"/>
            <a:ext cx="506550" cy="251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en-US" altLang="zh-CN" sz="1050" dirty="0">
                <a:solidFill>
                  <a:sysClr val="windowText" lastClr="000000"/>
                </a:solidFill>
                <a:latin typeface="微软雅黑 Light" panose="020B0502040204020203" pitchFamily="34" charset="-122"/>
                <a:ea typeface="微软雅黑 Light" panose="020B0502040204020203" pitchFamily="34" charset="-122"/>
              </a:rPr>
              <a:t>HTTP</a:t>
            </a:r>
          </a:p>
        </p:txBody>
      </p:sp>
      <p:sp>
        <p:nvSpPr>
          <p:cNvPr id="28" name="Freeform 81"/>
          <p:cNvSpPr>
            <a:spLocks/>
          </p:cNvSpPr>
          <p:nvPr/>
        </p:nvSpPr>
        <p:spPr bwMode="auto">
          <a:xfrm>
            <a:off x="2897353" y="1599965"/>
            <a:ext cx="414342" cy="286648"/>
          </a:xfrm>
          <a:custGeom>
            <a:avLst/>
            <a:gdLst>
              <a:gd name="T0" fmla="*/ 2147483646 w 463"/>
              <a:gd name="T1" fmla="*/ 0 h 322"/>
              <a:gd name="T2" fmla="*/ 2147483646 w 463"/>
              <a:gd name="T3" fmla="*/ 0 h 322"/>
              <a:gd name="T4" fmla="*/ 2147483646 w 463"/>
              <a:gd name="T5" fmla="*/ 2147483646 h 322"/>
              <a:gd name="T6" fmla="*/ 0 w 463"/>
              <a:gd name="T7" fmla="*/ 2147483646 h 322"/>
              <a:gd name="T8" fmla="*/ 2147483646 w 463"/>
              <a:gd name="T9" fmla="*/ 0 h 3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63" h="322">
                <a:moveTo>
                  <a:pt x="17" y="0"/>
                </a:moveTo>
                <a:lnTo>
                  <a:pt x="462" y="0"/>
                </a:lnTo>
                <a:lnTo>
                  <a:pt x="443" y="321"/>
                </a:lnTo>
                <a:lnTo>
                  <a:pt x="0" y="304"/>
                </a:lnTo>
                <a:lnTo>
                  <a:pt x="17" y="0"/>
                </a:lnTo>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solidFill>
                <a:srgbClr val="000099"/>
              </a:solidFill>
              <a:latin typeface="微软雅黑 Light" panose="020B0502040204020203" pitchFamily="34" charset="-122"/>
              <a:ea typeface="微软雅黑 Light" panose="020B0502040204020203" pitchFamily="34" charset="-122"/>
            </a:endParaRPr>
          </a:p>
        </p:txBody>
      </p:sp>
      <p:sp>
        <p:nvSpPr>
          <p:cNvPr id="36" name="Line 89"/>
          <p:cNvSpPr>
            <a:spLocks noChangeShapeType="1"/>
          </p:cNvSpPr>
          <p:nvPr/>
        </p:nvSpPr>
        <p:spPr bwMode="auto">
          <a:xfrm flipV="1">
            <a:off x="3374757" y="2423733"/>
            <a:ext cx="2304000" cy="0"/>
          </a:xfrm>
          <a:prstGeom prst="line">
            <a:avLst/>
          </a:prstGeom>
          <a:noFill/>
          <a:ln w="38100">
            <a:solidFill>
              <a:srgbClr val="4BACC6"/>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dirty="0">
              <a:solidFill>
                <a:srgbClr val="000099"/>
              </a:solidFill>
              <a:latin typeface="微软雅黑 Light" panose="020B0502040204020203" pitchFamily="34" charset="-122"/>
              <a:ea typeface="微软雅黑 Light" panose="020B0502040204020203" pitchFamily="34" charset="-122"/>
            </a:endParaRPr>
          </a:p>
        </p:txBody>
      </p:sp>
      <p:sp>
        <p:nvSpPr>
          <p:cNvPr id="39" name="Line 92"/>
          <p:cNvSpPr>
            <a:spLocks noChangeShapeType="1"/>
          </p:cNvSpPr>
          <p:nvPr/>
        </p:nvSpPr>
        <p:spPr bwMode="auto">
          <a:xfrm>
            <a:off x="3087223" y="2680217"/>
            <a:ext cx="0" cy="1540528"/>
          </a:xfrm>
          <a:prstGeom prst="line">
            <a:avLst/>
          </a:prstGeom>
          <a:noFill/>
          <a:ln w="19050">
            <a:solidFill>
              <a:schemeClr val="tx1"/>
            </a:solidFill>
            <a:round/>
            <a:headEnd/>
            <a:tailEnd type="triangle"/>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solidFill>
                <a:srgbClr val="000099"/>
              </a:solidFill>
              <a:latin typeface="微软雅黑 Light" panose="020B0502040204020203" pitchFamily="34" charset="-122"/>
              <a:ea typeface="微软雅黑 Light" panose="020B0502040204020203" pitchFamily="34" charset="-122"/>
            </a:endParaRPr>
          </a:p>
        </p:txBody>
      </p:sp>
      <p:sp>
        <p:nvSpPr>
          <p:cNvPr id="40" name="Line 93"/>
          <p:cNvSpPr>
            <a:spLocks noChangeShapeType="1"/>
          </p:cNvSpPr>
          <p:nvPr/>
        </p:nvSpPr>
        <p:spPr bwMode="auto">
          <a:xfrm>
            <a:off x="5961891" y="2680217"/>
            <a:ext cx="0" cy="1540528"/>
          </a:xfrm>
          <a:prstGeom prst="line">
            <a:avLst/>
          </a:prstGeom>
          <a:noFill/>
          <a:ln w="19050">
            <a:solidFill>
              <a:schemeClr val="tx1"/>
            </a:solidFill>
            <a:round/>
            <a:headEnd/>
            <a:tailEnd type="triangle"/>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solidFill>
                <a:srgbClr val="000099"/>
              </a:solidFill>
              <a:latin typeface="微软雅黑 Light" panose="020B0502040204020203" pitchFamily="34" charset="-122"/>
              <a:ea typeface="微软雅黑 Light" panose="020B0502040204020203" pitchFamily="34" charset="-122"/>
            </a:endParaRPr>
          </a:p>
        </p:txBody>
      </p:sp>
      <p:sp>
        <p:nvSpPr>
          <p:cNvPr id="42" name="Line 103"/>
          <p:cNvSpPr>
            <a:spLocks noChangeShapeType="1"/>
          </p:cNvSpPr>
          <p:nvPr/>
        </p:nvSpPr>
        <p:spPr bwMode="auto">
          <a:xfrm>
            <a:off x="3087223" y="3027471"/>
            <a:ext cx="2874668" cy="0"/>
          </a:xfrm>
          <a:prstGeom prst="line">
            <a:avLst/>
          </a:prstGeom>
          <a:noFill/>
          <a:ln w="28575">
            <a:solidFill>
              <a:schemeClr val="tx1"/>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solidFill>
                <a:srgbClr val="0000FF"/>
              </a:solidFill>
              <a:latin typeface="微软雅黑 Light" panose="020B0502040204020203" pitchFamily="34" charset="-122"/>
              <a:ea typeface="微软雅黑 Light" panose="020B0502040204020203" pitchFamily="34" charset="-122"/>
            </a:endParaRPr>
          </a:p>
        </p:txBody>
      </p:sp>
      <p:sp>
        <p:nvSpPr>
          <p:cNvPr id="43" name="Text Box 104"/>
          <p:cNvSpPr txBox="1">
            <a:spLocks noChangeArrowheads="1"/>
          </p:cNvSpPr>
          <p:nvPr/>
        </p:nvSpPr>
        <p:spPr bwMode="auto">
          <a:xfrm>
            <a:off x="3998422" y="2910355"/>
            <a:ext cx="1068241" cy="253888"/>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050" dirty="0">
                <a:latin typeface="微软雅黑 Light" panose="020B0502040204020203" pitchFamily="34" charset="-122"/>
                <a:ea typeface="微软雅黑 Light" panose="020B0502040204020203" pitchFamily="34" charset="-122"/>
              </a:rPr>
              <a:t>建立 </a:t>
            </a:r>
            <a:r>
              <a:rPr kumimoji="1" lang="en-US" altLang="zh-CN" sz="1050" dirty="0">
                <a:latin typeface="微软雅黑 Light" panose="020B0502040204020203" pitchFamily="34" charset="-122"/>
                <a:ea typeface="微软雅黑 Light" panose="020B0502040204020203" pitchFamily="34" charset="-122"/>
              </a:rPr>
              <a:t>TCP </a:t>
            </a:r>
            <a:r>
              <a:rPr kumimoji="1" lang="zh-CN" altLang="en-US" sz="1050" dirty="0">
                <a:latin typeface="微软雅黑 Light" panose="020B0502040204020203" pitchFamily="34" charset="-122"/>
                <a:ea typeface="微软雅黑 Light" panose="020B0502040204020203" pitchFamily="34" charset="-122"/>
              </a:rPr>
              <a:t>连接</a:t>
            </a:r>
          </a:p>
        </p:txBody>
      </p:sp>
      <p:sp>
        <p:nvSpPr>
          <p:cNvPr id="47" name="Line 94"/>
          <p:cNvSpPr>
            <a:spLocks noChangeShapeType="1"/>
          </p:cNvSpPr>
          <p:nvPr/>
        </p:nvSpPr>
        <p:spPr bwMode="auto">
          <a:xfrm>
            <a:off x="3087225" y="3340328"/>
            <a:ext cx="2874666" cy="0"/>
          </a:xfrm>
          <a:prstGeom prst="line">
            <a:avLst/>
          </a:prstGeom>
          <a:noFill/>
          <a:ln w="28575">
            <a:solidFill>
              <a:schemeClr val="tx1"/>
            </a:solidFill>
            <a:prstDash val="sys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solidFill>
                <a:srgbClr val="000099"/>
              </a:solidFill>
              <a:latin typeface="微软雅黑 Light" panose="020B0502040204020203" pitchFamily="34" charset="-122"/>
              <a:ea typeface="微软雅黑 Light" panose="020B0502040204020203" pitchFamily="34" charset="-122"/>
            </a:endParaRPr>
          </a:p>
        </p:txBody>
      </p:sp>
      <p:grpSp>
        <p:nvGrpSpPr>
          <p:cNvPr id="48" name="Group 95"/>
          <p:cNvGrpSpPr>
            <a:grpSpLocks/>
          </p:cNvGrpSpPr>
          <p:nvPr/>
        </p:nvGrpSpPr>
        <p:grpSpPr bwMode="auto">
          <a:xfrm>
            <a:off x="3285967" y="3216660"/>
            <a:ext cx="1464838" cy="248155"/>
            <a:chOff x="513" y="1824"/>
            <a:chExt cx="1296" cy="240"/>
          </a:xfrm>
          <a:solidFill>
            <a:schemeClr val="bg1"/>
          </a:solidFill>
        </p:grpSpPr>
        <p:sp>
          <p:nvSpPr>
            <p:cNvPr id="50" name="AutoShape 96"/>
            <p:cNvSpPr>
              <a:spLocks noChangeArrowheads="1"/>
            </p:cNvSpPr>
            <p:nvPr/>
          </p:nvSpPr>
          <p:spPr bwMode="auto">
            <a:xfrm>
              <a:off x="1521" y="1872"/>
              <a:ext cx="288" cy="144"/>
            </a:xfrm>
            <a:prstGeom prst="rightArrow">
              <a:avLst>
                <a:gd name="adj1" fmla="val 50000"/>
                <a:gd name="adj2" fmla="val 50000"/>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50" dirty="0">
                <a:solidFill>
                  <a:srgbClr val="000099"/>
                </a:solidFill>
                <a:latin typeface="微软雅黑 Light" panose="020B0502040204020203" pitchFamily="34" charset="-122"/>
                <a:ea typeface="微软雅黑 Light" panose="020B0502040204020203" pitchFamily="34" charset="-122"/>
              </a:endParaRPr>
            </a:p>
          </p:txBody>
        </p:sp>
        <p:sp>
          <p:nvSpPr>
            <p:cNvPr id="51" name="Rectangle 97"/>
            <p:cNvSpPr>
              <a:spLocks noChangeArrowheads="1"/>
            </p:cNvSpPr>
            <p:nvPr/>
          </p:nvSpPr>
          <p:spPr bwMode="auto">
            <a:xfrm>
              <a:off x="513" y="1824"/>
              <a:ext cx="1008" cy="240"/>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050" dirty="0">
                  <a:latin typeface="微软雅黑 Light" panose="020B0502040204020203" pitchFamily="34" charset="-122"/>
                  <a:ea typeface="微软雅黑 Light" panose="020B0502040204020203" pitchFamily="34" charset="-122"/>
                </a:rPr>
                <a:t>HTTP </a:t>
              </a:r>
              <a:r>
                <a:rPr kumimoji="1" lang="zh-CN" altLang="en-US" sz="1050" dirty="0">
                  <a:latin typeface="微软雅黑 Light" panose="020B0502040204020203" pitchFamily="34" charset="-122"/>
                  <a:ea typeface="微软雅黑 Light" panose="020B0502040204020203" pitchFamily="34" charset="-122"/>
                </a:rPr>
                <a:t>请求报文</a:t>
              </a:r>
            </a:p>
          </p:txBody>
        </p:sp>
      </p:grpSp>
      <p:sp>
        <p:nvSpPr>
          <p:cNvPr id="53" name="Line 106"/>
          <p:cNvSpPr>
            <a:spLocks noChangeShapeType="1"/>
          </p:cNvSpPr>
          <p:nvPr/>
        </p:nvSpPr>
        <p:spPr bwMode="auto">
          <a:xfrm>
            <a:off x="3087223" y="3990611"/>
            <a:ext cx="2874668" cy="0"/>
          </a:xfrm>
          <a:prstGeom prst="line">
            <a:avLst/>
          </a:prstGeom>
          <a:noFill/>
          <a:ln w="28575">
            <a:solidFill>
              <a:srgbClr val="4BACC6"/>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solidFill>
                <a:srgbClr val="0000FF"/>
              </a:solidFill>
              <a:latin typeface="微软雅黑 Light" panose="020B0502040204020203" pitchFamily="34" charset="-122"/>
              <a:ea typeface="微软雅黑 Light" panose="020B0502040204020203" pitchFamily="34" charset="-122"/>
            </a:endParaRPr>
          </a:p>
        </p:txBody>
      </p:sp>
      <p:sp>
        <p:nvSpPr>
          <p:cNvPr id="54" name="Text Box 107"/>
          <p:cNvSpPr txBox="1">
            <a:spLocks noChangeArrowheads="1"/>
          </p:cNvSpPr>
          <p:nvPr/>
        </p:nvSpPr>
        <p:spPr bwMode="auto">
          <a:xfrm>
            <a:off x="3998422" y="3885779"/>
            <a:ext cx="1068241" cy="253889"/>
          </a:xfrm>
          <a:prstGeom prst="rect">
            <a:avLst/>
          </a:prstGeom>
          <a:solidFill>
            <a:schemeClr val="bg1"/>
          </a:solidFill>
          <a:ln>
            <a:noFill/>
          </a:ln>
          <a:effec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050" dirty="0">
                <a:latin typeface="微软雅黑 Light" panose="020B0502040204020203" pitchFamily="34" charset="-122"/>
                <a:ea typeface="微软雅黑 Light" panose="020B0502040204020203" pitchFamily="34" charset="-122"/>
              </a:rPr>
              <a:t>释放 </a:t>
            </a:r>
            <a:r>
              <a:rPr kumimoji="1" lang="en-US" altLang="zh-CN" sz="1050" dirty="0">
                <a:latin typeface="微软雅黑 Light" panose="020B0502040204020203" pitchFamily="34" charset="-122"/>
                <a:ea typeface="微软雅黑 Light" panose="020B0502040204020203" pitchFamily="34" charset="-122"/>
              </a:rPr>
              <a:t>TCP </a:t>
            </a:r>
            <a:r>
              <a:rPr kumimoji="1" lang="zh-CN" altLang="en-US" sz="1050" dirty="0">
                <a:latin typeface="微软雅黑 Light" panose="020B0502040204020203" pitchFamily="34" charset="-122"/>
                <a:ea typeface="微软雅黑 Light" panose="020B0502040204020203" pitchFamily="34" charset="-122"/>
              </a:rPr>
              <a:t>连接</a:t>
            </a:r>
          </a:p>
        </p:txBody>
      </p:sp>
      <p:sp>
        <p:nvSpPr>
          <p:cNvPr id="56" name="Line 98"/>
          <p:cNvSpPr>
            <a:spLocks noChangeShapeType="1"/>
          </p:cNvSpPr>
          <p:nvPr/>
        </p:nvSpPr>
        <p:spPr bwMode="auto">
          <a:xfrm flipH="1">
            <a:off x="3099929" y="3674482"/>
            <a:ext cx="2861961" cy="0"/>
          </a:xfrm>
          <a:prstGeom prst="line">
            <a:avLst/>
          </a:prstGeom>
          <a:noFill/>
          <a:ln w="28575">
            <a:solidFill>
              <a:srgbClr val="F79646"/>
            </a:solidFill>
            <a:prstDash val="sys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solidFill>
                <a:srgbClr val="000099"/>
              </a:solidFill>
              <a:latin typeface="微软雅黑 Light" panose="020B0502040204020203" pitchFamily="34" charset="-122"/>
              <a:ea typeface="微软雅黑 Light" panose="020B0502040204020203" pitchFamily="34" charset="-122"/>
            </a:endParaRPr>
          </a:p>
        </p:txBody>
      </p:sp>
      <p:sp>
        <p:nvSpPr>
          <p:cNvPr id="57" name="Rectangle 112"/>
          <p:cNvSpPr>
            <a:spLocks noChangeArrowheads="1"/>
          </p:cNvSpPr>
          <p:nvPr/>
        </p:nvSpPr>
        <p:spPr bwMode="auto">
          <a:xfrm>
            <a:off x="5551776" y="3516420"/>
            <a:ext cx="275920" cy="33604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50" dirty="0">
              <a:solidFill>
                <a:srgbClr val="000099"/>
              </a:solidFill>
              <a:latin typeface="微软雅黑 Light" panose="020B0502040204020203" pitchFamily="34" charset="-122"/>
              <a:ea typeface="微软雅黑 Light" panose="020B0502040204020203" pitchFamily="34" charset="-122"/>
            </a:endParaRPr>
          </a:p>
        </p:txBody>
      </p:sp>
      <p:sp>
        <p:nvSpPr>
          <p:cNvPr id="59" name="TextBox 56"/>
          <p:cNvSpPr txBox="1"/>
          <p:nvPr/>
        </p:nvSpPr>
        <p:spPr>
          <a:xfrm>
            <a:off x="5495044" y="3437491"/>
            <a:ext cx="393049" cy="461665"/>
          </a:xfrm>
          <a:prstGeom prst="rect">
            <a:avLst/>
          </a:prstGeom>
          <a:noFill/>
        </p:spPr>
        <p:txBody>
          <a:bodyPr wrap="square" rtlCol="0" anchor="ctr">
            <a:spAutoFit/>
          </a:bodyPr>
          <a:lstStyle/>
          <a:p>
            <a:pPr algn="ctr"/>
            <a:r>
              <a:rPr kumimoji="1" lang="en-US" altLang="zh-CN" sz="2400" dirty="0">
                <a:solidFill>
                  <a:srgbClr val="009900"/>
                </a:solidFill>
                <a:latin typeface="微软雅黑 Light" panose="020B0502040204020203" pitchFamily="34" charset="-122"/>
                <a:ea typeface="微软雅黑 Light" panose="020B0502040204020203" pitchFamily="34" charset="-122"/>
                <a:sym typeface="Wingdings" pitchFamily="2" charset="2"/>
              </a:rPr>
              <a:t></a:t>
            </a:r>
            <a:endParaRPr lang="zh-CN" altLang="en-US" sz="2400" dirty="0">
              <a:solidFill>
                <a:srgbClr val="009900"/>
              </a:solidFill>
              <a:latin typeface="微软雅黑 Light" panose="020B0502040204020203" pitchFamily="34" charset="-122"/>
              <a:ea typeface="微软雅黑 Light" panose="020B0502040204020203" pitchFamily="34" charset="-122"/>
            </a:endParaRPr>
          </a:p>
        </p:txBody>
      </p:sp>
      <p:grpSp>
        <p:nvGrpSpPr>
          <p:cNvPr id="60" name="Group 99"/>
          <p:cNvGrpSpPr>
            <a:grpSpLocks/>
          </p:cNvGrpSpPr>
          <p:nvPr/>
        </p:nvGrpSpPr>
        <p:grpSpPr bwMode="auto">
          <a:xfrm flipH="1">
            <a:off x="4101403" y="3550813"/>
            <a:ext cx="1450373" cy="248156"/>
            <a:chOff x="903" y="1824"/>
            <a:chExt cx="1284" cy="240"/>
          </a:xfrm>
          <a:solidFill>
            <a:schemeClr val="bg1"/>
          </a:solidFill>
        </p:grpSpPr>
        <p:sp>
          <p:nvSpPr>
            <p:cNvPr id="61" name="AutoShape 100"/>
            <p:cNvSpPr>
              <a:spLocks noChangeArrowheads="1"/>
            </p:cNvSpPr>
            <p:nvPr/>
          </p:nvSpPr>
          <p:spPr bwMode="auto">
            <a:xfrm>
              <a:off x="1899" y="1872"/>
              <a:ext cx="288" cy="144"/>
            </a:xfrm>
            <a:prstGeom prst="rightArrow">
              <a:avLst>
                <a:gd name="adj1" fmla="val 50000"/>
                <a:gd name="adj2" fmla="val 50000"/>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50" dirty="0">
                <a:solidFill>
                  <a:srgbClr val="000099"/>
                </a:solidFill>
                <a:latin typeface="微软雅黑 Light" panose="020B0502040204020203" pitchFamily="34" charset="-122"/>
                <a:ea typeface="微软雅黑 Light" panose="020B0502040204020203" pitchFamily="34" charset="-122"/>
              </a:endParaRPr>
            </a:p>
          </p:txBody>
        </p:sp>
        <p:sp>
          <p:nvSpPr>
            <p:cNvPr id="62" name="Rectangle 101"/>
            <p:cNvSpPr>
              <a:spLocks noChangeArrowheads="1"/>
            </p:cNvSpPr>
            <p:nvPr/>
          </p:nvSpPr>
          <p:spPr bwMode="auto">
            <a:xfrm>
              <a:off x="903" y="1824"/>
              <a:ext cx="1008" cy="240"/>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050" dirty="0">
                  <a:latin typeface="微软雅黑 Light" panose="020B0502040204020203" pitchFamily="34" charset="-122"/>
                  <a:ea typeface="微软雅黑 Light" panose="020B0502040204020203" pitchFamily="34" charset="-122"/>
                </a:rPr>
                <a:t>HTTP </a:t>
              </a:r>
              <a:r>
                <a:rPr kumimoji="1" lang="zh-CN" altLang="en-US" sz="1050" dirty="0">
                  <a:latin typeface="微软雅黑 Light" panose="020B0502040204020203" pitchFamily="34" charset="-122"/>
                  <a:ea typeface="微软雅黑 Light" panose="020B0502040204020203" pitchFamily="34" charset="-122"/>
                </a:rPr>
                <a:t>响应报文</a:t>
              </a:r>
            </a:p>
          </p:txBody>
        </p:sp>
      </p:grpSp>
      <p:sp>
        <p:nvSpPr>
          <p:cNvPr id="11" name="Rectangle 6">
            <a:extLst>
              <a:ext uri="{FF2B5EF4-FFF2-40B4-BE49-F238E27FC236}">
                <a16:creationId xmlns:a16="http://schemas.microsoft.com/office/drawing/2014/main" id="{37A83016-ECCD-681A-D9FB-803A591AB0A4}"/>
              </a:ext>
            </a:extLst>
          </p:cNvPr>
          <p:cNvSpPr>
            <a:spLocks noChangeArrowheads="1"/>
          </p:cNvSpPr>
          <p:nvPr/>
        </p:nvSpPr>
        <p:spPr bwMode="auto">
          <a:xfrm>
            <a:off x="5720355" y="1773369"/>
            <a:ext cx="668453" cy="3863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a:lnSpc>
                <a:spcPct val="80000"/>
              </a:lnSpc>
            </a:pPr>
            <a:r>
              <a:rPr kumimoji="1" lang="en-US" altLang="zh-CN" sz="1200" dirty="0">
                <a:latin typeface="Montserrat" panose="00000500000000000000" pitchFamily="2" charset="0"/>
                <a:ea typeface="微软雅黑 Light" panose="020B0502040204020203" pitchFamily="34" charset="-122"/>
              </a:rPr>
              <a:t>Server</a:t>
            </a:r>
          </a:p>
          <a:p>
            <a:pPr algn="ctr">
              <a:lnSpc>
                <a:spcPct val="80000"/>
              </a:lnSpc>
            </a:pPr>
            <a:r>
              <a:rPr kumimoji="1" lang="en-US" altLang="zh-CN" sz="1200" dirty="0">
                <a:latin typeface="Montserrat" panose="00000500000000000000" pitchFamily="2" charset="0"/>
                <a:ea typeface="微软雅黑 Light" panose="020B0502040204020203" pitchFamily="34" charset="-122"/>
              </a:rPr>
              <a:t>443</a:t>
            </a:r>
            <a:endParaRPr kumimoji="1" lang="zh-CN" altLang="en-US" sz="1200" dirty="0">
              <a:latin typeface="Montserrat" panose="00000500000000000000" pitchFamily="2" charset="0"/>
              <a:ea typeface="微软雅黑 Light" panose="020B0502040204020203" pitchFamily="34" charset="-122"/>
            </a:endParaRPr>
          </a:p>
        </p:txBody>
      </p:sp>
      <p:sp>
        <p:nvSpPr>
          <p:cNvPr id="12" name="Rectangle 7">
            <a:extLst>
              <a:ext uri="{FF2B5EF4-FFF2-40B4-BE49-F238E27FC236}">
                <a16:creationId xmlns:a16="http://schemas.microsoft.com/office/drawing/2014/main" id="{CB998C28-26DB-580B-007C-5D9A18345EB0}"/>
              </a:ext>
            </a:extLst>
          </p:cNvPr>
          <p:cNvSpPr>
            <a:spLocks noChangeArrowheads="1"/>
          </p:cNvSpPr>
          <p:nvPr/>
        </p:nvSpPr>
        <p:spPr bwMode="auto">
          <a:xfrm>
            <a:off x="2625486" y="1755447"/>
            <a:ext cx="636394"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a:r>
              <a:rPr kumimoji="1" lang="en-US" altLang="zh-CN" sz="1200" dirty="0">
                <a:latin typeface="Montserrat" panose="00000500000000000000" pitchFamily="2" charset="0"/>
                <a:ea typeface="微软雅黑 Light" panose="020B0502040204020203" pitchFamily="34" charset="-122"/>
              </a:rPr>
              <a:t>Client</a:t>
            </a:r>
          </a:p>
          <a:p>
            <a:pPr algn="ctr"/>
            <a:r>
              <a:rPr kumimoji="1" lang="en-US" altLang="zh-CN" sz="1200" dirty="0">
                <a:latin typeface="Montserrat" panose="00000500000000000000" pitchFamily="2" charset="0"/>
                <a:ea typeface="微软雅黑 Light" panose="020B0502040204020203" pitchFamily="34" charset="-122"/>
              </a:rPr>
              <a:t>XXXX</a:t>
            </a:r>
            <a:endParaRPr kumimoji="1" lang="zh-CN" altLang="en-US" sz="1200" dirty="0">
              <a:latin typeface="Montserrat" panose="00000500000000000000" pitchFamily="2" charset="0"/>
              <a:ea typeface="微软雅黑 Light" panose="020B0502040204020203" pitchFamily="34" charset="-122"/>
            </a:endParaRPr>
          </a:p>
        </p:txBody>
      </p:sp>
      <p:pic>
        <p:nvPicPr>
          <p:cNvPr id="13" name="图片 12">
            <a:extLst>
              <a:ext uri="{FF2B5EF4-FFF2-40B4-BE49-F238E27FC236}">
                <a16:creationId xmlns:a16="http://schemas.microsoft.com/office/drawing/2014/main" id="{99E2A51D-8E4A-FA00-788A-3128ACA6196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720355" y="2077441"/>
            <a:ext cx="511585" cy="716219"/>
          </a:xfrm>
          <a:prstGeom prst="rect">
            <a:avLst/>
          </a:prstGeom>
        </p:spPr>
      </p:pic>
      <p:pic>
        <p:nvPicPr>
          <p:cNvPr id="14" name="Picture 197" descr="jisuanji">
            <a:extLst>
              <a:ext uri="{FF2B5EF4-FFF2-40B4-BE49-F238E27FC236}">
                <a16:creationId xmlns:a16="http://schemas.microsoft.com/office/drawing/2014/main" id="{100C9196-F6B6-E796-F51A-D8E1F143FEF2}"/>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836594" y="2141338"/>
            <a:ext cx="516657" cy="51665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065725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06827" y="1437680"/>
            <a:ext cx="868380" cy="868382"/>
          </a:xfrm>
          <a:prstGeom prst="rect">
            <a:avLst/>
          </a:prstGeom>
          <a:noFill/>
          <a:extLst>
            <a:ext uri="{909E8E84-426E-40DD-AFC4-6F175D3DCCD1}">
              <a14:hiddenFill xmlns:a14="http://schemas.microsoft.com/office/drawing/2010/main">
                <a:solidFill>
                  <a:srgbClr val="FFFFFF"/>
                </a:solidFill>
              </a14:hiddenFill>
            </a:ext>
          </a:extLst>
        </p:spPr>
      </p:pic>
      <p:sp>
        <p:nvSpPr>
          <p:cNvPr id="9" name="矩形 8"/>
          <p:cNvSpPr/>
          <p:nvPr/>
        </p:nvSpPr>
        <p:spPr>
          <a:xfrm>
            <a:off x="925599" y="1586995"/>
            <a:ext cx="596307" cy="33992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10" name="Text Box 110"/>
          <p:cNvSpPr txBox="1">
            <a:spLocks noChangeArrowheads="1"/>
          </p:cNvSpPr>
          <p:nvPr/>
        </p:nvSpPr>
        <p:spPr bwMode="auto">
          <a:xfrm>
            <a:off x="5481420" y="1906021"/>
            <a:ext cx="723275" cy="1015663"/>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6000" b="1" dirty="0">
                <a:solidFill>
                  <a:srgbClr val="009900"/>
                </a:solidFill>
                <a:latin typeface="微软雅黑 Light" panose="020B0502040204020203" pitchFamily="34" charset="-122"/>
                <a:ea typeface="微软雅黑 Light" panose="020B0502040204020203" pitchFamily="34" charset="-122"/>
                <a:sym typeface="Wingdings" pitchFamily="2" charset="2"/>
              </a:rPr>
              <a:t></a:t>
            </a:r>
            <a:endParaRPr kumimoji="1" lang="en-US" altLang="zh-CN" sz="6000" b="1" dirty="0">
              <a:solidFill>
                <a:srgbClr val="009900"/>
              </a:solidFill>
              <a:latin typeface="微软雅黑 Light" panose="020B0502040204020203" pitchFamily="34" charset="-122"/>
              <a:ea typeface="微软雅黑 Light" panose="020B0502040204020203" pitchFamily="34" charset="-122"/>
            </a:endParaRPr>
          </a:p>
        </p:txBody>
      </p:sp>
      <p:pic>
        <p:nvPicPr>
          <p:cNvPr id="16" name="图片 1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655520" y="1342814"/>
            <a:ext cx="808942" cy="1132519"/>
          </a:xfrm>
          <a:prstGeom prst="rect">
            <a:avLst/>
          </a:prstGeom>
        </p:spPr>
      </p:pic>
      <p:graphicFrame>
        <p:nvGraphicFramePr>
          <p:cNvPr id="17" name="Object 66"/>
          <p:cNvGraphicFramePr>
            <a:graphicFrameLocks noChangeAspect="1"/>
          </p:cNvGraphicFramePr>
          <p:nvPr>
            <p:extLst>
              <p:ext uri="{D42A27DB-BD31-4B8C-83A1-F6EECF244321}">
                <p14:modId xmlns:p14="http://schemas.microsoft.com/office/powerpoint/2010/main" val="2214520532"/>
              </p:ext>
            </p:extLst>
          </p:nvPr>
        </p:nvGraphicFramePr>
        <p:xfrm>
          <a:off x="2217869" y="2050412"/>
          <a:ext cx="2148903" cy="873047"/>
        </p:xfrm>
        <a:graphic>
          <a:graphicData uri="http://schemas.openxmlformats.org/presentationml/2006/ole">
            <mc:AlternateContent xmlns:mc="http://schemas.openxmlformats.org/markup-compatibility/2006">
              <mc:Choice xmlns:v="urn:schemas-microsoft-com:vml" Requires="v">
                <p:oleObj name="VISIO" r:id="rId4" imgW="1687068" imgH="964692" progId="">
                  <p:embed/>
                </p:oleObj>
              </mc:Choice>
              <mc:Fallback>
                <p:oleObj name="VISIO" r:id="rId4" imgW="1687068" imgH="964692" progId="">
                  <p:embed/>
                  <p:pic>
                    <p:nvPicPr>
                      <p:cNvPr id="0" name="Picture 40"/>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217869" y="2050412"/>
                        <a:ext cx="2148903" cy="87304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18" name="Freeform 70"/>
          <p:cNvSpPr>
            <a:spLocks/>
          </p:cNvSpPr>
          <p:nvPr/>
        </p:nvSpPr>
        <p:spPr bwMode="auto">
          <a:xfrm>
            <a:off x="4113906" y="2234685"/>
            <a:ext cx="1025331" cy="384108"/>
          </a:xfrm>
          <a:custGeom>
            <a:avLst/>
            <a:gdLst>
              <a:gd name="T0" fmla="*/ 2147483646 w 567"/>
              <a:gd name="T1" fmla="*/ 0 h 371"/>
              <a:gd name="T2" fmla="*/ 2147483646 w 567"/>
              <a:gd name="T3" fmla="*/ 2147483646 h 371"/>
              <a:gd name="T4" fmla="*/ 2147483646 w 567"/>
              <a:gd name="T5" fmla="*/ 2147483646 h 371"/>
              <a:gd name="T6" fmla="*/ 2147483646 w 567"/>
              <a:gd name="T7" fmla="*/ 2147483646 h 371"/>
              <a:gd name="T8" fmla="*/ 0 w 567"/>
              <a:gd name="T9" fmla="*/ 2147483646 h 3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7" h="371">
                <a:moveTo>
                  <a:pt x="567" y="0"/>
                </a:moveTo>
                <a:cubicBezTo>
                  <a:pt x="561" y="28"/>
                  <a:pt x="553" y="122"/>
                  <a:pt x="530" y="168"/>
                </a:cubicBezTo>
                <a:cubicBezTo>
                  <a:pt x="516" y="193"/>
                  <a:pt x="460" y="266"/>
                  <a:pt x="428" y="280"/>
                </a:cubicBezTo>
                <a:cubicBezTo>
                  <a:pt x="395" y="294"/>
                  <a:pt x="356" y="316"/>
                  <a:pt x="314" y="328"/>
                </a:cubicBezTo>
                <a:cubicBezTo>
                  <a:pt x="241" y="341"/>
                  <a:pt x="52" y="364"/>
                  <a:pt x="0" y="371"/>
                </a:cubicBezTo>
              </a:path>
            </a:pathLst>
          </a:custGeom>
          <a:noFill/>
          <a:ln w="28575"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19" name="Freeform 71"/>
          <p:cNvSpPr>
            <a:spLocks/>
          </p:cNvSpPr>
          <p:nvPr/>
        </p:nvSpPr>
        <p:spPr bwMode="auto">
          <a:xfrm>
            <a:off x="1176367" y="2053688"/>
            <a:ext cx="1282831" cy="557735"/>
          </a:xfrm>
          <a:custGeom>
            <a:avLst/>
            <a:gdLst>
              <a:gd name="T0" fmla="*/ 2147483646 w 759"/>
              <a:gd name="T1" fmla="*/ 0 h 664"/>
              <a:gd name="T2" fmla="*/ 2147483646 w 759"/>
              <a:gd name="T3" fmla="*/ 2147483646 h 664"/>
              <a:gd name="T4" fmla="*/ 2147483646 w 759"/>
              <a:gd name="T5" fmla="*/ 2147483646 h 664"/>
              <a:gd name="T6" fmla="*/ 2147483646 w 759"/>
              <a:gd name="T7" fmla="*/ 2147483646 h 664"/>
              <a:gd name="T8" fmla="*/ 2147483646 w 759"/>
              <a:gd name="T9" fmla="*/ 2147483646 h 664"/>
              <a:gd name="T10" fmla="*/ 2147483646 w 759"/>
              <a:gd name="T11" fmla="*/ 2147483646 h 664"/>
              <a:gd name="T12" fmla="*/ 2147483646 w 759"/>
              <a:gd name="T13" fmla="*/ 2147483646 h 664"/>
              <a:gd name="T14" fmla="*/ 2147483646 w 759"/>
              <a:gd name="T15" fmla="*/ 2147483646 h 66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759" h="664">
                <a:moveTo>
                  <a:pt x="7" y="0"/>
                </a:moveTo>
                <a:cubicBezTo>
                  <a:pt x="8" y="71"/>
                  <a:pt x="0" y="333"/>
                  <a:pt x="15" y="424"/>
                </a:cubicBezTo>
                <a:cubicBezTo>
                  <a:pt x="30" y="515"/>
                  <a:pt x="77" y="520"/>
                  <a:pt x="100" y="545"/>
                </a:cubicBezTo>
                <a:lnTo>
                  <a:pt x="154" y="571"/>
                </a:lnTo>
                <a:lnTo>
                  <a:pt x="190" y="591"/>
                </a:lnTo>
                <a:lnTo>
                  <a:pt x="351" y="633"/>
                </a:lnTo>
                <a:lnTo>
                  <a:pt x="583" y="664"/>
                </a:lnTo>
                <a:lnTo>
                  <a:pt x="759" y="664"/>
                </a:lnTo>
              </a:path>
            </a:pathLst>
          </a:custGeom>
          <a:noFill/>
          <a:ln w="28575" cap="rnd" cmpd="sng">
            <a:solidFill>
              <a:srgbClr val="0000FF"/>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20" name="Rectangle 72"/>
          <p:cNvSpPr>
            <a:spLocks noChangeArrowheads="1"/>
          </p:cNvSpPr>
          <p:nvPr/>
        </p:nvSpPr>
        <p:spPr bwMode="auto">
          <a:xfrm>
            <a:off x="2944842" y="2535256"/>
            <a:ext cx="586700" cy="251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050" b="1" dirty="0">
                <a:latin typeface="微软雅黑 Light" panose="020B0502040204020203" pitchFamily="34" charset="-122"/>
                <a:ea typeface="微软雅黑 Light" panose="020B0502040204020203" pitchFamily="34" charset="-122"/>
              </a:rPr>
              <a:t>互联网</a:t>
            </a:r>
          </a:p>
        </p:txBody>
      </p:sp>
      <p:sp>
        <p:nvSpPr>
          <p:cNvPr id="21" name="Rectangle 73"/>
          <p:cNvSpPr>
            <a:spLocks noChangeArrowheads="1"/>
          </p:cNvSpPr>
          <p:nvPr/>
        </p:nvSpPr>
        <p:spPr bwMode="auto">
          <a:xfrm>
            <a:off x="4238704" y="1038001"/>
            <a:ext cx="1468352" cy="349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a:lnSpc>
                <a:spcPct val="80000"/>
              </a:lnSpc>
            </a:pPr>
            <a:r>
              <a:rPr kumimoji="1" lang="zh-CN" altLang="en-US" sz="1050" b="1" dirty="0">
                <a:latin typeface="微软雅黑 Light" panose="020B0502040204020203" pitchFamily="34" charset="-122"/>
                <a:ea typeface="微软雅黑 Light" panose="020B0502040204020203" pitchFamily="34" charset="-122"/>
              </a:rPr>
              <a:t>服务器</a:t>
            </a:r>
          </a:p>
          <a:p>
            <a:pPr algn="ctr">
              <a:lnSpc>
                <a:spcPct val="80000"/>
              </a:lnSpc>
            </a:pPr>
            <a:r>
              <a:rPr kumimoji="1" lang="en-US" altLang="zh-CN" sz="1050" b="1" dirty="0">
                <a:latin typeface="微软雅黑 Light" panose="020B0502040204020203" pitchFamily="34" charset="-122"/>
                <a:ea typeface="微软雅黑 Light" panose="020B0502040204020203" pitchFamily="34" charset="-122"/>
              </a:rPr>
              <a:t>www.tsinghua.edu.cn</a:t>
            </a:r>
          </a:p>
        </p:txBody>
      </p:sp>
      <p:sp>
        <p:nvSpPr>
          <p:cNvPr id="22" name="Rectangle 74"/>
          <p:cNvSpPr>
            <a:spLocks noChangeArrowheads="1"/>
          </p:cNvSpPr>
          <p:nvPr/>
        </p:nvSpPr>
        <p:spPr bwMode="auto">
          <a:xfrm>
            <a:off x="2331773" y="1117845"/>
            <a:ext cx="1343317" cy="251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zh-CN" sz="1050" b="1" dirty="0">
                <a:solidFill>
                  <a:srgbClr val="000099"/>
                </a:solidFill>
                <a:latin typeface="微软雅黑 Light" panose="020B0502040204020203" pitchFamily="34" charset="-122"/>
                <a:ea typeface="微软雅黑 Light" panose="020B0502040204020203" pitchFamily="34" charset="-122"/>
              </a:rPr>
              <a:t>链接到</a:t>
            </a:r>
            <a:r>
              <a:rPr kumimoji="1" lang="en-US" altLang="zh-CN" sz="1050" b="1" dirty="0">
                <a:solidFill>
                  <a:srgbClr val="000099"/>
                </a:solidFill>
                <a:latin typeface="微软雅黑 Light" panose="020B0502040204020203" pitchFamily="34" charset="-122"/>
                <a:ea typeface="微软雅黑 Light" panose="020B0502040204020203" pitchFamily="34" charset="-122"/>
              </a:rPr>
              <a:t> URL </a:t>
            </a:r>
            <a:r>
              <a:rPr kumimoji="1" lang="zh-CN" altLang="en-US" sz="1050" b="1" dirty="0">
                <a:solidFill>
                  <a:srgbClr val="000099"/>
                </a:solidFill>
                <a:latin typeface="微软雅黑 Light" panose="020B0502040204020203" pitchFamily="34" charset="-122"/>
                <a:ea typeface="微软雅黑 Light" panose="020B0502040204020203" pitchFamily="34" charset="-122"/>
              </a:rPr>
              <a:t>的超链</a:t>
            </a:r>
          </a:p>
        </p:txBody>
      </p:sp>
      <p:sp>
        <p:nvSpPr>
          <p:cNvPr id="23" name="Rectangle 75"/>
          <p:cNvSpPr>
            <a:spLocks noChangeArrowheads="1"/>
          </p:cNvSpPr>
          <p:nvPr/>
        </p:nvSpPr>
        <p:spPr bwMode="auto">
          <a:xfrm>
            <a:off x="2524854" y="2237410"/>
            <a:ext cx="1542090" cy="251351"/>
          </a:xfrm>
          <a:prstGeom prst="rect">
            <a:avLst/>
          </a:prstGeom>
          <a:solidFill>
            <a:schemeClr val="bg1"/>
          </a:solidFill>
          <a:ln>
            <a:noFill/>
          </a:ln>
          <a:effectLst/>
          <a:extLs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en-US" altLang="zh-CN" sz="1050" b="1" dirty="0">
                <a:latin typeface="微软雅黑 Light" panose="020B0502040204020203" pitchFamily="34" charset="-122"/>
                <a:ea typeface="微软雅黑 Light" panose="020B0502040204020203" pitchFamily="34" charset="-122"/>
              </a:rPr>
              <a:t>HTTP </a:t>
            </a:r>
            <a:r>
              <a:rPr kumimoji="1" lang="zh-CN" altLang="en-US" sz="1050" b="1" dirty="0">
                <a:latin typeface="微软雅黑 Light" panose="020B0502040204020203" pitchFamily="34" charset="-122"/>
                <a:ea typeface="微软雅黑 Light" panose="020B0502040204020203" pitchFamily="34" charset="-122"/>
              </a:rPr>
              <a:t>使用此 </a:t>
            </a:r>
            <a:r>
              <a:rPr kumimoji="1" lang="en-US" altLang="zh-CN" sz="1050" b="1" dirty="0">
                <a:latin typeface="微软雅黑 Light" panose="020B0502040204020203" pitchFamily="34" charset="-122"/>
                <a:ea typeface="微软雅黑 Light" panose="020B0502040204020203" pitchFamily="34" charset="-122"/>
              </a:rPr>
              <a:t>TCP </a:t>
            </a:r>
            <a:r>
              <a:rPr kumimoji="1" lang="zh-CN" altLang="en-US" sz="1050" b="1" dirty="0">
                <a:latin typeface="微软雅黑 Light" panose="020B0502040204020203" pitchFamily="34" charset="-122"/>
                <a:ea typeface="微软雅黑 Light" panose="020B0502040204020203" pitchFamily="34" charset="-122"/>
              </a:rPr>
              <a:t>连接</a:t>
            </a:r>
          </a:p>
        </p:txBody>
      </p:sp>
      <p:sp>
        <p:nvSpPr>
          <p:cNvPr id="24" name="Rectangle 76"/>
          <p:cNvSpPr>
            <a:spLocks noChangeArrowheads="1"/>
          </p:cNvSpPr>
          <p:nvPr/>
        </p:nvSpPr>
        <p:spPr bwMode="auto">
          <a:xfrm>
            <a:off x="1616842" y="1611431"/>
            <a:ext cx="586700" cy="3806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nSpc>
                <a:spcPct val="90000"/>
              </a:lnSpc>
            </a:pPr>
            <a:r>
              <a:rPr kumimoji="1" lang="zh-CN" altLang="en-US" sz="1050" b="1" dirty="0">
                <a:solidFill>
                  <a:srgbClr val="000099"/>
                </a:solidFill>
                <a:latin typeface="微软雅黑 Light" panose="020B0502040204020203" pitchFamily="34" charset="-122"/>
                <a:ea typeface="微软雅黑 Light" panose="020B0502040204020203" pitchFamily="34" charset="-122"/>
              </a:rPr>
              <a:t>浏览器</a:t>
            </a:r>
          </a:p>
          <a:p>
            <a:pPr>
              <a:lnSpc>
                <a:spcPct val="90000"/>
              </a:lnSpc>
            </a:pPr>
            <a:r>
              <a:rPr kumimoji="1" lang="zh-CN" altLang="en-US" sz="1050" b="1" dirty="0">
                <a:solidFill>
                  <a:srgbClr val="000099"/>
                </a:solidFill>
                <a:latin typeface="微软雅黑 Light" panose="020B0502040204020203" pitchFamily="34" charset="-122"/>
                <a:ea typeface="微软雅黑 Light" panose="020B0502040204020203" pitchFamily="34" charset="-122"/>
              </a:rPr>
              <a:t> 程序</a:t>
            </a:r>
          </a:p>
        </p:txBody>
      </p:sp>
      <p:sp>
        <p:nvSpPr>
          <p:cNvPr id="25" name="Rectangle 77"/>
          <p:cNvSpPr>
            <a:spLocks noChangeArrowheads="1"/>
          </p:cNvSpPr>
          <p:nvPr/>
        </p:nvSpPr>
        <p:spPr bwMode="auto">
          <a:xfrm>
            <a:off x="3365815" y="1611431"/>
            <a:ext cx="1286199" cy="3806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nSpc>
                <a:spcPct val="90000"/>
              </a:lnSpc>
            </a:pPr>
            <a:r>
              <a:rPr kumimoji="1" lang="zh-CN" altLang="en-US" sz="1050" b="1" dirty="0">
                <a:solidFill>
                  <a:srgbClr val="000099"/>
                </a:solidFill>
                <a:latin typeface="微软雅黑 Light" panose="020B0502040204020203" pitchFamily="34" charset="-122"/>
                <a:ea typeface="微软雅黑 Light" panose="020B0502040204020203" pitchFamily="34" charset="-122"/>
              </a:rPr>
              <a:t>服务器程序</a:t>
            </a:r>
            <a:endParaRPr kumimoji="1" lang="en-US" altLang="zh-CN" sz="1050" b="1" dirty="0">
              <a:solidFill>
                <a:srgbClr val="000099"/>
              </a:solidFill>
              <a:latin typeface="微软雅黑 Light" panose="020B0502040204020203" pitchFamily="34" charset="-122"/>
              <a:ea typeface="微软雅黑 Light" panose="020B0502040204020203" pitchFamily="34" charset="-122"/>
            </a:endParaRPr>
          </a:p>
          <a:p>
            <a:pPr>
              <a:lnSpc>
                <a:spcPct val="90000"/>
              </a:lnSpc>
            </a:pPr>
            <a:r>
              <a:rPr kumimoji="1" lang="zh-CN" altLang="en-US" sz="1050" b="1" dirty="0">
                <a:solidFill>
                  <a:srgbClr val="000099"/>
                </a:solidFill>
                <a:latin typeface="微软雅黑 Light" panose="020B0502040204020203" pitchFamily="34" charset="-122"/>
                <a:ea typeface="微软雅黑 Light" panose="020B0502040204020203" pitchFamily="34" charset="-122"/>
              </a:rPr>
              <a:t>监听</a:t>
            </a:r>
            <a:r>
              <a:rPr kumimoji="1" lang="en-US" altLang="zh-CN" sz="1050" b="1" dirty="0">
                <a:solidFill>
                  <a:srgbClr val="000099"/>
                </a:solidFill>
                <a:latin typeface="微软雅黑 Light" panose="020B0502040204020203" pitchFamily="34" charset="-122"/>
                <a:ea typeface="微软雅黑 Light" panose="020B0502040204020203" pitchFamily="34" charset="-122"/>
              </a:rPr>
              <a:t>TCP </a:t>
            </a:r>
            <a:r>
              <a:rPr kumimoji="1" lang="zh-CN" altLang="en-US" sz="1050" b="1" dirty="0">
                <a:solidFill>
                  <a:srgbClr val="000099"/>
                </a:solidFill>
                <a:latin typeface="微软雅黑 Light" panose="020B0502040204020203" pitchFamily="34" charset="-122"/>
                <a:ea typeface="微软雅黑 Light" panose="020B0502040204020203" pitchFamily="34" charset="-122"/>
              </a:rPr>
              <a:t>端口</a:t>
            </a:r>
            <a:r>
              <a:rPr kumimoji="1" lang="en-US" altLang="zh-CN" sz="1050" b="1" dirty="0">
                <a:solidFill>
                  <a:srgbClr val="000099"/>
                </a:solidFill>
                <a:latin typeface="微软雅黑 Light" panose="020B0502040204020203" pitchFamily="34" charset="-122"/>
                <a:ea typeface="微软雅黑 Light" panose="020B0502040204020203" pitchFamily="34" charset="-122"/>
              </a:rPr>
              <a:t>80</a:t>
            </a:r>
            <a:endParaRPr kumimoji="1"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26" name="Rectangle 78"/>
          <p:cNvSpPr>
            <a:spLocks noChangeArrowheads="1"/>
          </p:cNvSpPr>
          <p:nvPr/>
        </p:nvSpPr>
        <p:spPr bwMode="auto">
          <a:xfrm>
            <a:off x="2542845" y="1803894"/>
            <a:ext cx="506550" cy="251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en-US" altLang="zh-CN" sz="1050" b="1" dirty="0">
                <a:solidFill>
                  <a:srgbClr val="000099"/>
                </a:solidFill>
                <a:latin typeface="微软雅黑 Light" panose="020B0502040204020203" pitchFamily="34" charset="-122"/>
                <a:ea typeface="微软雅黑 Light" panose="020B0502040204020203" pitchFamily="34" charset="-122"/>
              </a:rPr>
              <a:t>HTTP</a:t>
            </a:r>
          </a:p>
        </p:txBody>
      </p:sp>
      <p:sp>
        <p:nvSpPr>
          <p:cNvPr id="27" name="Rectangle 79"/>
          <p:cNvSpPr>
            <a:spLocks noChangeArrowheads="1"/>
          </p:cNvSpPr>
          <p:nvPr/>
        </p:nvSpPr>
        <p:spPr bwMode="auto">
          <a:xfrm>
            <a:off x="1591475" y="1247798"/>
            <a:ext cx="452048" cy="251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050" b="1" dirty="0">
                <a:latin typeface="微软雅黑 Light" panose="020B0502040204020203" pitchFamily="34" charset="-122"/>
                <a:ea typeface="微软雅黑 Light" panose="020B0502040204020203" pitchFamily="34" charset="-122"/>
              </a:rPr>
              <a:t>客户</a:t>
            </a:r>
          </a:p>
        </p:txBody>
      </p:sp>
      <p:sp>
        <p:nvSpPr>
          <p:cNvPr id="28" name="Freeform 81"/>
          <p:cNvSpPr>
            <a:spLocks/>
          </p:cNvSpPr>
          <p:nvPr/>
        </p:nvSpPr>
        <p:spPr bwMode="auto">
          <a:xfrm>
            <a:off x="1636724" y="1599965"/>
            <a:ext cx="414342" cy="286648"/>
          </a:xfrm>
          <a:custGeom>
            <a:avLst/>
            <a:gdLst>
              <a:gd name="T0" fmla="*/ 2147483646 w 463"/>
              <a:gd name="T1" fmla="*/ 0 h 322"/>
              <a:gd name="T2" fmla="*/ 2147483646 w 463"/>
              <a:gd name="T3" fmla="*/ 0 h 322"/>
              <a:gd name="T4" fmla="*/ 2147483646 w 463"/>
              <a:gd name="T5" fmla="*/ 2147483646 h 322"/>
              <a:gd name="T6" fmla="*/ 0 w 463"/>
              <a:gd name="T7" fmla="*/ 2147483646 h 322"/>
              <a:gd name="T8" fmla="*/ 2147483646 w 463"/>
              <a:gd name="T9" fmla="*/ 0 h 3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63" h="322">
                <a:moveTo>
                  <a:pt x="17" y="0"/>
                </a:moveTo>
                <a:lnTo>
                  <a:pt x="462" y="0"/>
                </a:lnTo>
                <a:lnTo>
                  <a:pt x="443" y="321"/>
                </a:lnTo>
                <a:lnTo>
                  <a:pt x="0" y="304"/>
                </a:lnTo>
                <a:lnTo>
                  <a:pt x="17" y="0"/>
                </a:lnTo>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29" name="Rectangle 82"/>
          <p:cNvSpPr>
            <a:spLocks noChangeArrowheads="1"/>
          </p:cNvSpPr>
          <p:nvPr/>
        </p:nvSpPr>
        <p:spPr bwMode="auto">
          <a:xfrm>
            <a:off x="878232" y="1564547"/>
            <a:ext cx="721352" cy="4129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050" b="1" dirty="0">
                <a:latin typeface="微软雅黑 Light" panose="020B0502040204020203" pitchFamily="34" charset="-122"/>
                <a:ea typeface="微软雅黑 Light" panose="020B0502040204020203" pitchFamily="34" charset="-122"/>
              </a:rPr>
              <a:t>清华大学</a:t>
            </a:r>
          </a:p>
          <a:p>
            <a:r>
              <a:rPr kumimoji="1" lang="zh-CN" altLang="en-US" sz="1050" b="1" dirty="0">
                <a:latin typeface="微软雅黑 Light" panose="020B0502040204020203" pitchFamily="34" charset="-122"/>
                <a:ea typeface="微软雅黑 Light" panose="020B0502040204020203" pitchFamily="34" charset="-122"/>
              </a:rPr>
              <a:t>院系设置</a:t>
            </a:r>
          </a:p>
        </p:txBody>
      </p:sp>
      <p:sp>
        <p:nvSpPr>
          <p:cNvPr id="30" name="Line 83"/>
          <p:cNvSpPr>
            <a:spLocks noChangeShapeType="1"/>
          </p:cNvSpPr>
          <p:nvPr/>
        </p:nvSpPr>
        <p:spPr bwMode="auto">
          <a:xfrm>
            <a:off x="925600" y="1950360"/>
            <a:ext cx="665875"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1" name="Oval 84"/>
          <p:cNvSpPr>
            <a:spLocks noChangeArrowheads="1"/>
          </p:cNvSpPr>
          <p:nvPr/>
        </p:nvSpPr>
        <p:spPr bwMode="auto">
          <a:xfrm>
            <a:off x="1093079" y="1978958"/>
            <a:ext cx="331829" cy="130220"/>
          </a:xfrm>
          <a:prstGeom prst="ellipse">
            <a:avLst/>
          </a:prstGeom>
          <a:solidFill>
            <a:srgbClr val="00FFCC"/>
          </a:solidFill>
          <a:ln w="12700">
            <a:solidFill>
              <a:schemeClr val="tx1"/>
            </a:solidFill>
            <a:round/>
            <a:headEnd/>
            <a:tailEnd/>
          </a:ln>
          <a:effec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2" name="Line 85"/>
          <p:cNvSpPr>
            <a:spLocks noChangeShapeType="1"/>
          </p:cNvSpPr>
          <p:nvPr/>
        </p:nvSpPr>
        <p:spPr bwMode="auto">
          <a:xfrm>
            <a:off x="4491994" y="1871871"/>
            <a:ext cx="284805" cy="131039"/>
          </a:xfrm>
          <a:prstGeom prst="line">
            <a:avLst/>
          </a:prstGeom>
          <a:noFill/>
          <a:ln w="28575">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3" name="Line 86"/>
          <p:cNvSpPr>
            <a:spLocks noChangeShapeType="1"/>
          </p:cNvSpPr>
          <p:nvPr/>
        </p:nvSpPr>
        <p:spPr bwMode="auto">
          <a:xfrm flipH="1">
            <a:off x="1368607" y="1871870"/>
            <a:ext cx="306600" cy="131039"/>
          </a:xfrm>
          <a:prstGeom prst="line">
            <a:avLst/>
          </a:prstGeom>
          <a:noFill/>
          <a:ln w="28575">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4" name="Oval 87"/>
          <p:cNvSpPr>
            <a:spLocks noChangeArrowheads="1"/>
          </p:cNvSpPr>
          <p:nvPr/>
        </p:nvSpPr>
        <p:spPr bwMode="auto">
          <a:xfrm>
            <a:off x="4728887" y="1959503"/>
            <a:ext cx="332716" cy="130220"/>
          </a:xfrm>
          <a:prstGeom prst="ellipse">
            <a:avLst/>
          </a:prstGeom>
          <a:solidFill>
            <a:srgbClr val="00FFCC"/>
          </a:solidFill>
          <a:ln w="12700">
            <a:solidFill>
              <a:schemeClr val="tx1"/>
            </a:solidFill>
            <a:round/>
            <a:headEnd/>
            <a:tailEnd/>
          </a:ln>
          <a:effec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5" name="Freeform 88"/>
          <p:cNvSpPr>
            <a:spLocks/>
          </p:cNvSpPr>
          <p:nvPr/>
        </p:nvSpPr>
        <p:spPr bwMode="auto">
          <a:xfrm>
            <a:off x="1319039" y="2057782"/>
            <a:ext cx="3576205" cy="423420"/>
          </a:xfrm>
          <a:custGeom>
            <a:avLst/>
            <a:gdLst>
              <a:gd name="T0" fmla="*/ 0 w 2448"/>
              <a:gd name="T1" fmla="*/ 0 h 852"/>
              <a:gd name="T2" fmla="*/ 0 w 2448"/>
              <a:gd name="T3" fmla="*/ 2147483646 h 852"/>
              <a:gd name="T4" fmla="*/ 2147483646 w 2448"/>
              <a:gd name="T5" fmla="*/ 2147483646 h 852"/>
              <a:gd name="T6" fmla="*/ 2147483646 w 2448"/>
              <a:gd name="T7" fmla="*/ 2147483646 h 852"/>
              <a:gd name="T8" fmla="*/ 2147483646 w 2448"/>
              <a:gd name="T9" fmla="*/ 2147483646 h 852"/>
              <a:gd name="T10" fmla="*/ 2147483646 w 2448"/>
              <a:gd name="T11" fmla="*/ 2147483646 h 852"/>
              <a:gd name="T12" fmla="*/ 2147483646 w 2448"/>
              <a:gd name="T13" fmla="*/ 2147483646 h 852"/>
              <a:gd name="T14" fmla="*/ 2147483646 w 2448"/>
              <a:gd name="T15" fmla="*/ 2147483646 h 852"/>
              <a:gd name="T16" fmla="*/ 2147483646 w 2448"/>
              <a:gd name="T17" fmla="*/ 2147483646 h 852"/>
              <a:gd name="T18" fmla="*/ 2147483646 w 2448"/>
              <a:gd name="T19" fmla="*/ 2147483646 h 852"/>
              <a:gd name="T20" fmla="*/ 2147483646 w 2448"/>
              <a:gd name="T21" fmla="*/ 2147483646 h 852"/>
              <a:gd name="T22" fmla="*/ 2147483646 w 2448"/>
              <a:gd name="T23" fmla="*/ 2147483646 h 852"/>
              <a:gd name="T24" fmla="*/ 2147483646 w 2448"/>
              <a:gd name="T25" fmla="*/ 2147483646 h 852"/>
              <a:gd name="T26" fmla="*/ 2147483646 w 2448"/>
              <a:gd name="T27" fmla="*/ 2147483646 h 852"/>
              <a:gd name="T28" fmla="*/ 2147483646 w 2448"/>
              <a:gd name="T29" fmla="*/ 2147483646 h 852"/>
              <a:gd name="T30" fmla="*/ 2147483646 w 2448"/>
              <a:gd name="T31" fmla="*/ 2147483646 h 85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2448" h="852">
                <a:moveTo>
                  <a:pt x="0" y="0"/>
                </a:moveTo>
                <a:lnTo>
                  <a:pt x="0" y="608"/>
                </a:lnTo>
                <a:lnTo>
                  <a:pt x="6" y="651"/>
                </a:lnTo>
                <a:lnTo>
                  <a:pt x="24" y="699"/>
                </a:lnTo>
                <a:lnTo>
                  <a:pt x="66" y="750"/>
                </a:lnTo>
                <a:lnTo>
                  <a:pt x="144" y="793"/>
                </a:lnTo>
                <a:lnTo>
                  <a:pt x="282" y="830"/>
                </a:lnTo>
                <a:lnTo>
                  <a:pt x="432" y="852"/>
                </a:lnTo>
                <a:lnTo>
                  <a:pt x="816" y="852"/>
                </a:lnTo>
                <a:lnTo>
                  <a:pt x="2135" y="852"/>
                </a:lnTo>
                <a:lnTo>
                  <a:pt x="2250" y="837"/>
                </a:lnTo>
                <a:lnTo>
                  <a:pt x="2315" y="815"/>
                </a:lnTo>
                <a:lnTo>
                  <a:pt x="2394" y="757"/>
                </a:lnTo>
                <a:lnTo>
                  <a:pt x="2436" y="680"/>
                </a:lnTo>
                <a:lnTo>
                  <a:pt x="2448" y="615"/>
                </a:lnTo>
                <a:lnTo>
                  <a:pt x="2448" y="18"/>
                </a:lnTo>
              </a:path>
            </a:pathLst>
          </a:custGeom>
          <a:noFill/>
          <a:ln w="28575" cap="flat" cmpd="sng">
            <a:solidFill>
              <a:srgbClr val="C00000"/>
            </a:solidFill>
            <a:prstDash val="sysDot"/>
            <a:round/>
            <a:headEnd type="triangle" w="sm" len="lg"/>
            <a:tailEnd type="triangl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6" name="Line 89"/>
          <p:cNvSpPr>
            <a:spLocks noChangeShapeType="1"/>
          </p:cNvSpPr>
          <p:nvPr/>
        </p:nvSpPr>
        <p:spPr bwMode="auto">
          <a:xfrm flipV="1">
            <a:off x="1424907" y="2031574"/>
            <a:ext cx="3303980" cy="0"/>
          </a:xfrm>
          <a:prstGeom prst="line">
            <a:avLst/>
          </a:prstGeom>
          <a:noFill/>
          <a:ln w="38100">
            <a:solidFill>
              <a:srgbClr val="0000FF"/>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7" name="Line 90"/>
          <p:cNvSpPr>
            <a:spLocks noChangeShapeType="1"/>
          </p:cNvSpPr>
          <p:nvPr/>
        </p:nvSpPr>
        <p:spPr bwMode="auto">
          <a:xfrm rot="16200000" flipH="1">
            <a:off x="5007482" y="2054438"/>
            <a:ext cx="149057" cy="108244"/>
          </a:xfrm>
          <a:prstGeom prst="line">
            <a:avLst/>
          </a:prstGeom>
          <a:noFill/>
          <a:ln w="2857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8" name="Freeform 91"/>
          <p:cNvSpPr>
            <a:spLocks/>
          </p:cNvSpPr>
          <p:nvPr/>
        </p:nvSpPr>
        <p:spPr bwMode="auto">
          <a:xfrm rot="216073">
            <a:off x="1522353" y="1335967"/>
            <a:ext cx="3104827" cy="358196"/>
          </a:xfrm>
          <a:custGeom>
            <a:avLst/>
            <a:gdLst>
              <a:gd name="T0" fmla="*/ 0 w 2454"/>
              <a:gd name="T1" fmla="*/ 2147483646 h 332"/>
              <a:gd name="T2" fmla="*/ 2147483646 w 2454"/>
              <a:gd name="T3" fmla="*/ 2147483646 h 332"/>
              <a:gd name="T4" fmla="*/ 2147483646 w 2454"/>
              <a:gd name="T5" fmla="*/ 2147483646 h 332"/>
              <a:gd name="T6" fmla="*/ 2147483646 w 2454"/>
              <a:gd name="T7" fmla="*/ 2147483646 h 332"/>
              <a:gd name="T8" fmla="*/ 2147483646 w 2454"/>
              <a:gd name="T9" fmla="*/ 2147483646 h 332"/>
              <a:gd name="T10" fmla="*/ 2147483646 w 2454"/>
              <a:gd name="T11" fmla="*/ 2147483646 h 332"/>
              <a:gd name="T12" fmla="*/ 2147483646 w 2454"/>
              <a:gd name="T13" fmla="*/ 2147483646 h 33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454" h="332">
                <a:moveTo>
                  <a:pt x="0" y="332"/>
                </a:moveTo>
                <a:cubicBezTo>
                  <a:pt x="56" y="300"/>
                  <a:pt x="211" y="189"/>
                  <a:pt x="336" y="140"/>
                </a:cubicBezTo>
                <a:cubicBezTo>
                  <a:pt x="461" y="91"/>
                  <a:pt x="595" y="61"/>
                  <a:pt x="753" y="38"/>
                </a:cubicBezTo>
                <a:cubicBezTo>
                  <a:pt x="911" y="15"/>
                  <a:pt x="1120" y="0"/>
                  <a:pt x="1287" y="2"/>
                </a:cubicBezTo>
                <a:cubicBezTo>
                  <a:pt x="1454" y="4"/>
                  <a:pt x="1606" y="28"/>
                  <a:pt x="1756" y="50"/>
                </a:cubicBezTo>
                <a:cubicBezTo>
                  <a:pt x="1907" y="71"/>
                  <a:pt x="2075" y="102"/>
                  <a:pt x="2191" y="129"/>
                </a:cubicBezTo>
                <a:cubicBezTo>
                  <a:pt x="2307" y="156"/>
                  <a:pt x="2400" y="194"/>
                  <a:pt x="2454" y="212"/>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9" name="Line 92"/>
          <p:cNvSpPr>
            <a:spLocks noChangeShapeType="1"/>
          </p:cNvSpPr>
          <p:nvPr/>
        </p:nvSpPr>
        <p:spPr bwMode="auto">
          <a:xfrm>
            <a:off x="1826594" y="2680217"/>
            <a:ext cx="0" cy="1540528"/>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40" name="Line 93"/>
          <p:cNvSpPr>
            <a:spLocks noChangeShapeType="1"/>
          </p:cNvSpPr>
          <p:nvPr/>
        </p:nvSpPr>
        <p:spPr bwMode="auto">
          <a:xfrm>
            <a:off x="4701262" y="2680217"/>
            <a:ext cx="0" cy="1540528"/>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grpSp>
        <p:nvGrpSpPr>
          <p:cNvPr id="41" name="Group 116"/>
          <p:cNvGrpSpPr>
            <a:grpSpLocks/>
          </p:cNvGrpSpPr>
          <p:nvPr/>
        </p:nvGrpSpPr>
        <p:grpSpPr bwMode="auto">
          <a:xfrm>
            <a:off x="1826594" y="2910355"/>
            <a:ext cx="2874668" cy="253888"/>
            <a:chOff x="1149" y="2693"/>
            <a:chExt cx="3240" cy="310"/>
          </a:xfrm>
        </p:grpSpPr>
        <p:sp>
          <p:nvSpPr>
            <p:cNvPr id="42" name="Line 103"/>
            <p:cNvSpPr>
              <a:spLocks noChangeShapeType="1"/>
            </p:cNvSpPr>
            <p:nvPr/>
          </p:nvSpPr>
          <p:spPr bwMode="auto">
            <a:xfrm>
              <a:off x="1149" y="2836"/>
              <a:ext cx="3240" cy="0"/>
            </a:xfrm>
            <a:prstGeom prst="line">
              <a:avLst/>
            </a:prstGeom>
            <a:noFill/>
            <a:ln w="28575">
              <a:solidFill>
                <a:srgbClr val="0000FF"/>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FF"/>
                </a:solidFill>
                <a:latin typeface="微软雅黑 Light" panose="020B0502040204020203" pitchFamily="34" charset="-122"/>
                <a:ea typeface="微软雅黑 Light" panose="020B0502040204020203" pitchFamily="34" charset="-122"/>
              </a:endParaRPr>
            </a:p>
          </p:txBody>
        </p:sp>
        <p:sp>
          <p:nvSpPr>
            <p:cNvPr id="43" name="Text Box 104"/>
            <p:cNvSpPr txBox="1">
              <a:spLocks noChangeArrowheads="1"/>
            </p:cNvSpPr>
            <p:nvPr/>
          </p:nvSpPr>
          <p:spPr bwMode="auto">
            <a:xfrm>
              <a:off x="2176" y="2693"/>
              <a:ext cx="1204" cy="310"/>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050" b="1" dirty="0">
                  <a:latin typeface="微软雅黑 Light" panose="020B0502040204020203" pitchFamily="34" charset="-122"/>
                  <a:ea typeface="微软雅黑 Light" panose="020B0502040204020203" pitchFamily="34" charset="-122"/>
                </a:rPr>
                <a:t>建立 </a:t>
              </a:r>
              <a:r>
                <a:rPr kumimoji="1" lang="en-US" altLang="zh-CN" sz="1050" b="1" dirty="0">
                  <a:latin typeface="微软雅黑 Light" panose="020B0502040204020203" pitchFamily="34" charset="-122"/>
                  <a:ea typeface="微软雅黑 Light" panose="020B0502040204020203" pitchFamily="34" charset="-122"/>
                </a:rPr>
                <a:t>TCP </a:t>
              </a:r>
              <a:r>
                <a:rPr kumimoji="1" lang="zh-CN" altLang="en-US" sz="1050" b="1" dirty="0">
                  <a:latin typeface="微软雅黑 Light" panose="020B0502040204020203" pitchFamily="34" charset="-122"/>
                  <a:ea typeface="微软雅黑 Light" panose="020B0502040204020203" pitchFamily="34" charset="-122"/>
                </a:rPr>
                <a:t>连接</a:t>
              </a:r>
            </a:p>
          </p:txBody>
        </p:sp>
      </p:grpSp>
      <p:sp>
        <p:nvSpPr>
          <p:cNvPr id="44" name="Line 108"/>
          <p:cNvSpPr>
            <a:spLocks noChangeShapeType="1"/>
          </p:cNvSpPr>
          <p:nvPr/>
        </p:nvSpPr>
        <p:spPr bwMode="auto">
          <a:xfrm>
            <a:off x="5284312" y="2237276"/>
            <a:ext cx="289241" cy="82718"/>
          </a:xfrm>
          <a:prstGeom prst="line">
            <a:avLst/>
          </a:prstGeom>
          <a:noFill/>
          <a:ln w="28575">
            <a:solidFill>
              <a:srgbClr val="333399"/>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45" name="AutoShape 111"/>
          <p:cNvSpPr>
            <a:spLocks noChangeArrowheads="1"/>
          </p:cNvSpPr>
          <p:nvPr/>
        </p:nvSpPr>
        <p:spPr bwMode="auto">
          <a:xfrm>
            <a:off x="4972880" y="2151967"/>
            <a:ext cx="332716" cy="130220"/>
          </a:xfrm>
          <a:prstGeom prst="can">
            <a:avLst>
              <a:gd name="adj" fmla="val 39583"/>
            </a:avLst>
          </a:prstGeom>
          <a:solidFill>
            <a:srgbClr val="FF00FF"/>
          </a:solidFill>
          <a:ln w="9525">
            <a:solidFill>
              <a:schemeClr val="tx1"/>
            </a:solidFill>
            <a:round/>
            <a:headEnd/>
            <a:tailEnd/>
          </a:ln>
          <a:effec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grpSp>
        <p:nvGrpSpPr>
          <p:cNvPr id="46" name="Group 117"/>
          <p:cNvGrpSpPr>
            <a:grpSpLocks/>
          </p:cNvGrpSpPr>
          <p:nvPr/>
        </p:nvGrpSpPr>
        <p:grpSpPr bwMode="auto">
          <a:xfrm>
            <a:off x="1089297" y="3160152"/>
            <a:ext cx="3611964" cy="415230"/>
            <a:chOff x="318" y="2998"/>
            <a:chExt cx="4071" cy="507"/>
          </a:xfrm>
        </p:grpSpPr>
        <p:sp>
          <p:nvSpPr>
            <p:cNvPr id="47" name="Line 94"/>
            <p:cNvSpPr>
              <a:spLocks noChangeShapeType="1"/>
            </p:cNvSpPr>
            <p:nvPr/>
          </p:nvSpPr>
          <p:spPr bwMode="auto">
            <a:xfrm>
              <a:off x="1149" y="3218"/>
              <a:ext cx="3240" cy="0"/>
            </a:xfrm>
            <a:prstGeom prst="line">
              <a:avLst/>
            </a:prstGeom>
            <a:noFill/>
            <a:ln w="28575">
              <a:solidFill>
                <a:srgbClr val="0000FF"/>
              </a:solidFill>
              <a:prstDash val="sys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grpSp>
          <p:nvGrpSpPr>
            <p:cNvPr id="48" name="Group 95"/>
            <p:cNvGrpSpPr>
              <a:grpSpLocks/>
            </p:cNvGrpSpPr>
            <p:nvPr/>
          </p:nvGrpSpPr>
          <p:grpSpPr bwMode="auto">
            <a:xfrm>
              <a:off x="1373" y="3067"/>
              <a:ext cx="1651" cy="303"/>
              <a:chOff x="513" y="1824"/>
              <a:chExt cx="1296" cy="240"/>
            </a:xfrm>
          </p:grpSpPr>
          <p:sp>
            <p:nvSpPr>
              <p:cNvPr id="50" name="AutoShape 96"/>
              <p:cNvSpPr>
                <a:spLocks noChangeArrowheads="1"/>
              </p:cNvSpPr>
              <p:nvPr/>
            </p:nvSpPr>
            <p:spPr bwMode="auto">
              <a:xfrm>
                <a:off x="1521" y="1872"/>
                <a:ext cx="288" cy="144"/>
              </a:xfrm>
              <a:prstGeom prst="rightArrow">
                <a:avLst>
                  <a:gd name="adj1" fmla="val 50000"/>
                  <a:gd name="adj2" fmla="val 50000"/>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51" name="Rectangle 97"/>
              <p:cNvSpPr>
                <a:spLocks noChangeArrowheads="1"/>
              </p:cNvSpPr>
              <p:nvPr/>
            </p:nvSpPr>
            <p:spPr bwMode="auto">
              <a:xfrm>
                <a:off x="513" y="1824"/>
                <a:ext cx="1008" cy="240"/>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050" b="1" dirty="0">
                    <a:latin typeface="微软雅黑 Light" panose="020B0502040204020203" pitchFamily="34" charset="-122"/>
                    <a:ea typeface="微软雅黑 Light" panose="020B0502040204020203" pitchFamily="34" charset="-122"/>
                  </a:rPr>
                  <a:t>HTTP </a:t>
                </a:r>
                <a:r>
                  <a:rPr kumimoji="1" lang="zh-CN" altLang="en-US" sz="1050" b="1" dirty="0">
                    <a:latin typeface="微软雅黑 Light" panose="020B0502040204020203" pitchFamily="34" charset="-122"/>
                    <a:ea typeface="微软雅黑 Light" panose="020B0502040204020203" pitchFamily="34" charset="-122"/>
                  </a:rPr>
                  <a:t>请求报文</a:t>
                </a:r>
              </a:p>
            </p:txBody>
          </p:sp>
        </p:grpSp>
        <p:sp>
          <p:nvSpPr>
            <p:cNvPr id="49" name="Text Box 114"/>
            <p:cNvSpPr txBox="1">
              <a:spLocks noChangeArrowheads="1"/>
            </p:cNvSpPr>
            <p:nvPr/>
          </p:nvSpPr>
          <p:spPr bwMode="auto">
            <a:xfrm>
              <a:off x="318" y="2998"/>
              <a:ext cx="815" cy="5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050" b="1" dirty="0">
                  <a:solidFill>
                    <a:srgbClr val="000099"/>
                  </a:solidFill>
                  <a:latin typeface="微软雅黑 Light" panose="020B0502040204020203" pitchFamily="34" charset="-122"/>
                  <a:ea typeface="微软雅黑 Light" panose="020B0502040204020203" pitchFamily="34" charset="-122"/>
                  <a:sym typeface="Wingdings" pitchFamily="2" charset="2"/>
                </a:rPr>
                <a:t>浏览器</a:t>
              </a:r>
              <a:endParaRPr kumimoji="1" lang="en-US" altLang="zh-CN" sz="1050" b="1" dirty="0">
                <a:solidFill>
                  <a:srgbClr val="000099"/>
                </a:solidFill>
                <a:latin typeface="微软雅黑 Light" panose="020B0502040204020203" pitchFamily="34" charset="-122"/>
                <a:ea typeface="微软雅黑 Light" panose="020B0502040204020203" pitchFamily="34" charset="-122"/>
                <a:sym typeface="Wingdings" pitchFamily="2" charset="2"/>
              </a:endParaRPr>
            </a:p>
            <a:p>
              <a:pPr algn="ctr" eaLnBrk="1" hangingPunct="1"/>
              <a:r>
                <a:rPr kumimoji="1" lang="zh-CN" altLang="en-US" sz="1050" b="1" dirty="0">
                  <a:solidFill>
                    <a:srgbClr val="000099"/>
                  </a:solidFill>
                  <a:latin typeface="微软雅黑 Light" panose="020B0502040204020203" pitchFamily="34" charset="-122"/>
                  <a:ea typeface="微软雅黑 Light" panose="020B0502040204020203" pitchFamily="34" charset="-122"/>
                  <a:sym typeface="Wingdings" pitchFamily="2" charset="2"/>
                </a:rPr>
                <a:t>发出</a:t>
              </a:r>
              <a:r>
                <a:rPr kumimoji="1" lang="zh-CN" altLang="en-US" sz="1050" b="1" dirty="0">
                  <a:solidFill>
                    <a:srgbClr val="000099"/>
                  </a:solidFill>
                  <a:latin typeface="微软雅黑 Light" panose="020B0502040204020203" pitchFamily="34" charset="-122"/>
                  <a:ea typeface="微软雅黑 Light" panose="020B0502040204020203" pitchFamily="34" charset="-122"/>
                </a:rPr>
                <a:t>请求</a:t>
              </a:r>
            </a:p>
          </p:txBody>
        </p:sp>
      </p:grpSp>
      <p:grpSp>
        <p:nvGrpSpPr>
          <p:cNvPr id="52" name="Group 120"/>
          <p:cNvGrpSpPr>
            <a:grpSpLocks/>
          </p:cNvGrpSpPr>
          <p:nvPr/>
        </p:nvGrpSpPr>
        <p:grpSpPr bwMode="auto">
          <a:xfrm>
            <a:off x="1826594" y="3885779"/>
            <a:ext cx="2874668" cy="253889"/>
            <a:chOff x="1149" y="3884"/>
            <a:chExt cx="3240" cy="310"/>
          </a:xfrm>
        </p:grpSpPr>
        <p:sp>
          <p:nvSpPr>
            <p:cNvPr id="53" name="Line 106"/>
            <p:cNvSpPr>
              <a:spLocks noChangeShapeType="1"/>
            </p:cNvSpPr>
            <p:nvPr/>
          </p:nvSpPr>
          <p:spPr bwMode="auto">
            <a:xfrm>
              <a:off x="1149" y="4012"/>
              <a:ext cx="3240" cy="0"/>
            </a:xfrm>
            <a:prstGeom prst="line">
              <a:avLst/>
            </a:prstGeom>
            <a:noFill/>
            <a:ln w="28575">
              <a:solidFill>
                <a:srgbClr val="0000FF"/>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FF"/>
                </a:solidFill>
                <a:latin typeface="微软雅黑 Light" panose="020B0502040204020203" pitchFamily="34" charset="-122"/>
                <a:ea typeface="微软雅黑 Light" panose="020B0502040204020203" pitchFamily="34" charset="-122"/>
              </a:endParaRPr>
            </a:p>
          </p:txBody>
        </p:sp>
        <p:sp>
          <p:nvSpPr>
            <p:cNvPr id="54" name="Text Box 107"/>
            <p:cNvSpPr txBox="1">
              <a:spLocks noChangeArrowheads="1"/>
            </p:cNvSpPr>
            <p:nvPr/>
          </p:nvSpPr>
          <p:spPr bwMode="auto">
            <a:xfrm>
              <a:off x="2176" y="3884"/>
              <a:ext cx="1204" cy="310"/>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050" b="1" dirty="0">
                  <a:latin typeface="微软雅黑 Light" panose="020B0502040204020203" pitchFamily="34" charset="-122"/>
                  <a:ea typeface="微软雅黑 Light" panose="020B0502040204020203" pitchFamily="34" charset="-122"/>
                </a:rPr>
                <a:t>释放 </a:t>
              </a:r>
              <a:r>
                <a:rPr kumimoji="1" lang="en-US" altLang="zh-CN" sz="1050" b="1" dirty="0">
                  <a:latin typeface="微软雅黑 Light" panose="020B0502040204020203" pitchFamily="34" charset="-122"/>
                  <a:ea typeface="微软雅黑 Light" panose="020B0502040204020203" pitchFamily="34" charset="-122"/>
                </a:rPr>
                <a:t>TCP </a:t>
              </a:r>
              <a:r>
                <a:rPr kumimoji="1" lang="zh-CN" altLang="en-US" sz="1050" b="1" dirty="0">
                  <a:latin typeface="微软雅黑 Light" panose="020B0502040204020203" pitchFamily="34" charset="-122"/>
                  <a:ea typeface="微软雅黑 Light" panose="020B0502040204020203" pitchFamily="34" charset="-122"/>
                </a:rPr>
                <a:t>连接</a:t>
              </a:r>
            </a:p>
          </p:txBody>
        </p:sp>
      </p:grpSp>
      <p:grpSp>
        <p:nvGrpSpPr>
          <p:cNvPr id="55" name="组合 54"/>
          <p:cNvGrpSpPr/>
          <p:nvPr/>
        </p:nvGrpSpPr>
        <p:grpSpPr>
          <a:xfrm>
            <a:off x="1839300" y="3314381"/>
            <a:ext cx="3564300" cy="707886"/>
            <a:chOff x="3088360" y="3469637"/>
            <a:chExt cx="3564300" cy="707886"/>
          </a:xfrm>
        </p:grpSpPr>
        <p:sp>
          <p:nvSpPr>
            <p:cNvPr id="56" name="Line 98"/>
            <p:cNvSpPr>
              <a:spLocks noChangeShapeType="1"/>
            </p:cNvSpPr>
            <p:nvPr/>
          </p:nvSpPr>
          <p:spPr bwMode="auto">
            <a:xfrm flipH="1">
              <a:off x="3088360" y="3829738"/>
              <a:ext cx="2861961" cy="0"/>
            </a:xfrm>
            <a:prstGeom prst="line">
              <a:avLst/>
            </a:prstGeom>
            <a:noFill/>
            <a:ln w="28575">
              <a:solidFill>
                <a:srgbClr val="CC00CC"/>
              </a:solidFill>
              <a:prstDash val="sys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57" name="Rectangle 112"/>
            <p:cNvSpPr>
              <a:spLocks noChangeArrowheads="1"/>
            </p:cNvSpPr>
            <p:nvPr/>
          </p:nvSpPr>
          <p:spPr bwMode="auto">
            <a:xfrm>
              <a:off x="5540207" y="3671676"/>
              <a:ext cx="275920" cy="33604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58" name="Text Box 109"/>
            <p:cNvSpPr txBox="1">
              <a:spLocks noChangeArrowheads="1"/>
            </p:cNvSpPr>
            <p:nvPr/>
          </p:nvSpPr>
          <p:spPr bwMode="auto">
            <a:xfrm>
              <a:off x="5929385" y="3660729"/>
              <a:ext cx="723275" cy="4154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050" b="1" dirty="0">
                  <a:solidFill>
                    <a:srgbClr val="000099"/>
                  </a:solidFill>
                  <a:latin typeface="微软雅黑 Light" panose="020B0502040204020203" pitchFamily="34" charset="-122"/>
                  <a:ea typeface="微软雅黑 Light" panose="020B0502040204020203" pitchFamily="34" charset="-122"/>
                  <a:sym typeface="Wingdings" pitchFamily="2" charset="2"/>
                </a:rPr>
                <a:t>服务器</a:t>
              </a:r>
              <a:endParaRPr kumimoji="1" lang="en-US" altLang="zh-CN" sz="1050" b="1" dirty="0">
                <a:solidFill>
                  <a:srgbClr val="000099"/>
                </a:solidFill>
                <a:latin typeface="微软雅黑 Light" panose="020B0502040204020203" pitchFamily="34" charset="-122"/>
                <a:ea typeface="微软雅黑 Light" panose="020B0502040204020203" pitchFamily="34" charset="-122"/>
                <a:sym typeface="Wingdings" pitchFamily="2" charset="2"/>
              </a:endParaRPr>
            </a:p>
            <a:p>
              <a:pPr algn="ctr" eaLnBrk="1" hangingPunct="1"/>
              <a:r>
                <a:rPr kumimoji="1" lang="zh-CN" altLang="en-US" sz="1050" b="1" dirty="0">
                  <a:solidFill>
                    <a:srgbClr val="000099"/>
                  </a:solidFill>
                  <a:latin typeface="微软雅黑 Light" panose="020B0502040204020203" pitchFamily="34" charset="-122"/>
                  <a:ea typeface="微软雅黑 Light" panose="020B0502040204020203" pitchFamily="34" charset="-122"/>
                  <a:sym typeface="Wingdings" pitchFamily="2" charset="2"/>
                </a:rPr>
                <a:t>返回</a:t>
              </a:r>
              <a:r>
                <a:rPr kumimoji="1" lang="zh-CN" altLang="en-US" sz="1050" b="1" dirty="0">
                  <a:solidFill>
                    <a:srgbClr val="000099"/>
                  </a:solidFill>
                  <a:latin typeface="微软雅黑 Light" panose="020B0502040204020203" pitchFamily="34" charset="-122"/>
                  <a:ea typeface="微软雅黑 Light" panose="020B0502040204020203" pitchFamily="34" charset="-122"/>
                </a:rPr>
                <a:t>响应</a:t>
              </a:r>
            </a:p>
          </p:txBody>
        </p:sp>
        <p:sp>
          <p:nvSpPr>
            <p:cNvPr id="59" name="TextBox 56"/>
            <p:cNvSpPr txBox="1"/>
            <p:nvPr/>
          </p:nvSpPr>
          <p:spPr>
            <a:xfrm>
              <a:off x="5483475" y="3469637"/>
              <a:ext cx="393049" cy="707886"/>
            </a:xfrm>
            <a:prstGeom prst="rect">
              <a:avLst/>
            </a:prstGeom>
            <a:noFill/>
          </p:spPr>
          <p:txBody>
            <a:bodyPr wrap="square" rtlCol="0" anchor="ctr">
              <a:spAutoFit/>
            </a:bodyPr>
            <a:lstStyle/>
            <a:p>
              <a:pPr algn="ctr"/>
              <a:r>
                <a:rPr kumimoji="1" lang="en-US" altLang="zh-CN" sz="4000" b="1" dirty="0">
                  <a:solidFill>
                    <a:srgbClr val="009900"/>
                  </a:solidFill>
                  <a:latin typeface="微软雅黑 Light" panose="020B0502040204020203" pitchFamily="34" charset="-122"/>
                  <a:ea typeface="微软雅黑 Light" panose="020B0502040204020203" pitchFamily="34" charset="-122"/>
                  <a:sym typeface="Wingdings" pitchFamily="2" charset="2"/>
                </a:rPr>
                <a:t></a:t>
              </a:r>
              <a:endParaRPr lang="zh-CN" altLang="en-US" sz="4000" dirty="0">
                <a:solidFill>
                  <a:srgbClr val="009900"/>
                </a:solidFill>
                <a:latin typeface="微软雅黑 Light" panose="020B0502040204020203" pitchFamily="34" charset="-122"/>
                <a:ea typeface="微软雅黑 Light" panose="020B0502040204020203" pitchFamily="34" charset="-122"/>
              </a:endParaRPr>
            </a:p>
          </p:txBody>
        </p:sp>
        <p:grpSp>
          <p:nvGrpSpPr>
            <p:cNvPr id="60" name="Group 99"/>
            <p:cNvGrpSpPr>
              <a:grpSpLocks/>
            </p:cNvGrpSpPr>
            <p:nvPr/>
          </p:nvGrpSpPr>
          <p:grpSpPr bwMode="auto">
            <a:xfrm flipH="1">
              <a:off x="4089834" y="3706069"/>
              <a:ext cx="1450373" cy="248156"/>
              <a:chOff x="903" y="1824"/>
              <a:chExt cx="1284" cy="240"/>
            </a:xfrm>
          </p:grpSpPr>
          <p:sp>
            <p:nvSpPr>
              <p:cNvPr id="61" name="AutoShape 100"/>
              <p:cNvSpPr>
                <a:spLocks noChangeArrowheads="1"/>
              </p:cNvSpPr>
              <p:nvPr/>
            </p:nvSpPr>
            <p:spPr bwMode="auto">
              <a:xfrm>
                <a:off x="1899" y="1872"/>
                <a:ext cx="288" cy="144"/>
              </a:xfrm>
              <a:prstGeom prst="rightArrow">
                <a:avLst>
                  <a:gd name="adj1" fmla="val 50000"/>
                  <a:gd name="adj2" fmla="val 50000"/>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62" name="Rectangle 101"/>
              <p:cNvSpPr>
                <a:spLocks noChangeArrowheads="1"/>
              </p:cNvSpPr>
              <p:nvPr/>
            </p:nvSpPr>
            <p:spPr bwMode="auto">
              <a:xfrm>
                <a:off x="903" y="1824"/>
                <a:ext cx="1008" cy="24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050" b="1" dirty="0">
                    <a:latin typeface="微软雅黑 Light" panose="020B0502040204020203" pitchFamily="34" charset="-122"/>
                    <a:ea typeface="微软雅黑 Light" panose="020B0502040204020203" pitchFamily="34" charset="-122"/>
                  </a:rPr>
                  <a:t>HTTP </a:t>
                </a:r>
                <a:r>
                  <a:rPr kumimoji="1" lang="zh-CN" altLang="en-US" sz="1050" b="1" dirty="0">
                    <a:latin typeface="微软雅黑 Light" panose="020B0502040204020203" pitchFamily="34" charset="-122"/>
                    <a:ea typeface="微软雅黑 Light" panose="020B0502040204020203" pitchFamily="34" charset="-122"/>
                  </a:rPr>
                  <a:t>响应报文</a:t>
                </a:r>
              </a:p>
            </p:txBody>
          </p:sp>
        </p:grpSp>
      </p:grpSp>
      <p:sp>
        <p:nvSpPr>
          <p:cNvPr id="2" name="矩形 1"/>
          <p:cNvSpPr/>
          <p:nvPr/>
        </p:nvSpPr>
        <p:spPr>
          <a:xfrm>
            <a:off x="5341898" y="2711817"/>
            <a:ext cx="3148428" cy="1477328"/>
          </a:xfrm>
          <a:prstGeom prst="rect">
            <a:avLst/>
          </a:prstGeom>
          <a:solidFill>
            <a:schemeClr val="bg1"/>
          </a:solidFill>
        </p:spPr>
        <p:txBody>
          <a:bodyPr wrap="square">
            <a:spAutoFit/>
          </a:bodyPr>
          <a:lstStyle/>
          <a:p>
            <a:pPr>
              <a:lnSpc>
                <a:spcPts val="1800"/>
              </a:lnSpc>
            </a:pPr>
            <a:r>
              <a:rPr lang="en-US" altLang="zh-CN" sz="1400" b="1" dirty="0">
                <a:solidFill>
                  <a:srgbClr val="0000FF"/>
                </a:solidFill>
                <a:latin typeface="微软雅黑 Light" panose="020B0502040204020203" pitchFamily="34" charset="-122"/>
                <a:ea typeface="微软雅黑 Light" panose="020B0502040204020203" pitchFamily="34" charset="-122"/>
              </a:rPr>
              <a:t>HTTP </a:t>
            </a:r>
            <a:r>
              <a:rPr lang="zh-CN" altLang="en-US" sz="1400" b="1" dirty="0">
                <a:solidFill>
                  <a:srgbClr val="0000FF"/>
                </a:solidFill>
                <a:latin typeface="微软雅黑 Light" panose="020B0502040204020203" pitchFamily="34" charset="-122"/>
                <a:ea typeface="微软雅黑 Light" panose="020B0502040204020203" pitchFamily="34" charset="-122"/>
              </a:rPr>
              <a:t>规定：</a:t>
            </a:r>
            <a:r>
              <a:rPr lang="zh-CN" altLang="en-US" sz="1400" b="1" dirty="0">
                <a:latin typeface="微软雅黑 Light" panose="020B0502040204020203" pitchFamily="34" charset="-122"/>
                <a:ea typeface="微软雅黑 Light" panose="020B0502040204020203" pitchFamily="34" charset="-122"/>
              </a:rPr>
              <a:t>在 </a:t>
            </a:r>
            <a:r>
              <a:rPr lang="en-US" altLang="zh-CN" sz="1400" b="1" dirty="0">
                <a:latin typeface="微软雅黑 Light" panose="020B0502040204020203" pitchFamily="34" charset="-122"/>
                <a:ea typeface="微软雅黑 Light" panose="020B0502040204020203" pitchFamily="34" charset="-122"/>
              </a:rPr>
              <a:t>HTTP </a:t>
            </a:r>
            <a:r>
              <a:rPr lang="zh-CN" altLang="en-US" sz="1400" b="1" dirty="0">
                <a:latin typeface="微软雅黑 Light" panose="020B0502040204020203" pitchFamily="34" charset="-122"/>
                <a:ea typeface="微软雅黑 Light" panose="020B0502040204020203" pitchFamily="34" charset="-122"/>
              </a:rPr>
              <a:t>客户与 </a:t>
            </a:r>
            <a:r>
              <a:rPr lang="en-US" altLang="zh-CN" sz="1400" b="1" dirty="0">
                <a:latin typeface="微软雅黑 Light" panose="020B0502040204020203" pitchFamily="34" charset="-122"/>
                <a:ea typeface="微软雅黑 Light" panose="020B0502040204020203" pitchFamily="34" charset="-122"/>
              </a:rPr>
              <a:t>HTTP </a:t>
            </a:r>
            <a:r>
              <a:rPr lang="zh-CN" altLang="en-US" sz="1400" b="1" dirty="0">
                <a:latin typeface="微软雅黑 Light" panose="020B0502040204020203" pitchFamily="34" charset="-122"/>
                <a:ea typeface="微软雅黑 Light" panose="020B0502040204020203" pitchFamily="34" charset="-122"/>
              </a:rPr>
              <a:t>服务器之间的每次交互，都由一个 </a:t>
            </a:r>
            <a:r>
              <a:rPr lang="en-US" altLang="zh-CN" sz="1400" b="1" dirty="0">
                <a:solidFill>
                  <a:srgbClr val="C00000"/>
                </a:solidFill>
                <a:latin typeface="微软雅黑 Light" panose="020B0502040204020203" pitchFamily="34" charset="-122"/>
                <a:ea typeface="微软雅黑 Light" panose="020B0502040204020203" pitchFamily="34" charset="-122"/>
              </a:rPr>
              <a:t>ASCII</a:t>
            </a:r>
            <a:r>
              <a:rPr lang="en-US" altLang="zh-CN" sz="1400" b="1" dirty="0">
                <a:latin typeface="微软雅黑 Light" panose="020B0502040204020203" pitchFamily="34" charset="-122"/>
                <a:ea typeface="微软雅黑 Light" panose="020B0502040204020203" pitchFamily="34" charset="-122"/>
              </a:rPr>
              <a:t> </a:t>
            </a:r>
            <a:r>
              <a:rPr lang="zh-CN" altLang="en-US" sz="1400" b="1" dirty="0">
                <a:latin typeface="微软雅黑 Light" panose="020B0502040204020203" pitchFamily="34" charset="-122"/>
                <a:ea typeface="微软雅黑 Light" panose="020B0502040204020203" pitchFamily="34" charset="-122"/>
              </a:rPr>
              <a:t>码串构成的</a:t>
            </a:r>
            <a:r>
              <a:rPr lang="zh-CN" altLang="en-US" sz="1400" b="1" dirty="0">
                <a:solidFill>
                  <a:srgbClr val="C00000"/>
                </a:solidFill>
                <a:latin typeface="微软雅黑 Light" panose="020B0502040204020203" pitchFamily="34" charset="-122"/>
                <a:ea typeface="微软雅黑 Light" panose="020B0502040204020203" pitchFamily="34" charset="-122"/>
              </a:rPr>
              <a:t>请求</a:t>
            </a:r>
            <a:r>
              <a:rPr lang="zh-CN" altLang="en-US" sz="1400" b="1" dirty="0">
                <a:latin typeface="微软雅黑 Light" panose="020B0502040204020203" pitchFamily="34" charset="-122"/>
                <a:ea typeface="微软雅黑 Light" panose="020B0502040204020203" pitchFamily="34" charset="-122"/>
              </a:rPr>
              <a:t>和一个类似的通用互联网扩充，即“类</a:t>
            </a:r>
            <a:r>
              <a:rPr lang="en-US" altLang="zh-CN" sz="1400" b="1" dirty="0">
                <a:latin typeface="微软雅黑 Light" panose="020B0502040204020203" pitchFamily="34" charset="-122"/>
                <a:ea typeface="微软雅黑 Light" panose="020B0502040204020203" pitchFamily="34" charset="-122"/>
              </a:rPr>
              <a:t>MIME (MIME-like)”</a:t>
            </a:r>
            <a:r>
              <a:rPr lang="zh-CN" altLang="en-US" sz="1400" b="1" dirty="0">
                <a:latin typeface="微软雅黑 Light" panose="020B0502040204020203" pitchFamily="34" charset="-122"/>
                <a:ea typeface="微软雅黑 Light" panose="020B0502040204020203" pitchFamily="34" charset="-122"/>
              </a:rPr>
              <a:t>的</a:t>
            </a:r>
            <a:r>
              <a:rPr lang="zh-CN" altLang="en-US" sz="1400" b="1" dirty="0">
                <a:solidFill>
                  <a:srgbClr val="C00000"/>
                </a:solidFill>
                <a:latin typeface="微软雅黑 Light" panose="020B0502040204020203" pitchFamily="34" charset="-122"/>
                <a:ea typeface="微软雅黑 Light" panose="020B0502040204020203" pitchFamily="34" charset="-122"/>
              </a:rPr>
              <a:t>响应</a:t>
            </a:r>
            <a:r>
              <a:rPr lang="zh-CN" altLang="en-US" sz="1400" b="1" dirty="0">
                <a:latin typeface="微软雅黑 Light" panose="020B0502040204020203" pitchFamily="34" charset="-122"/>
                <a:ea typeface="微软雅黑 Light" panose="020B0502040204020203" pitchFamily="34" charset="-122"/>
              </a:rPr>
              <a:t>组成。</a:t>
            </a:r>
            <a:r>
              <a:rPr lang="en-US" altLang="zh-CN" sz="1400" b="1" dirty="0">
                <a:latin typeface="微软雅黑 Light" panose="020B0502040204020203" pitchFamily="34" charset="-122"/>
                <a:ea typeface="微软雅黑 Light" panose="020B0502040204020203" pitchFamily="34" charset="-122"/>
              </a:rPr>
              <a:t>HTTP </a:t>
            </a:r>
            <a:r>
              <a:rPr lang="zh-CN" altLang="en-US" sz="1400" b="1" dirty="0">
                <a:latin typeface="微软雅黑 Light" panose="020B0502040204020203" pitchFamily="34" charset="-122"/>
                <a:ea typeface="微软雅黑 Light" panose="020B0502040204020203" pitchFamily="34" charset="-122"/>
              </a:rPr>
              <a:t>报文通常都使用 </a:t>
            </a:r>
            <a:r>
              <a:rPr lang="en-US" altLang="zh-CN" sz="1400" b="1" dirty="0">
                <a:latin typeface="微软雅黑 Light" panose="020B0502040204020203" pitchFamily="34" charset="-122"/>
                <a:ea typeface="微软雅黑 Light" panose="020B0502040204020203" pitchFamily="34" charset="-122"/>
              </a:rPr>
              <a:t>TCP </a:t>
            </a:r>
            <a:r>
              <a:rPr lang="zh-CN" altLang="en-US" sz="1400" b="1" dirty="0">
                <a:latin typeface="微软雅黑 Light" panose="020B0502040204020203" pitchFamily="34" charset="-122"/>
                <a:ea typeface="微软雅黑 Light" panose="020B0502040204020203" pitchFamily="34" charset="-122"/>
              </a:rPr>
              <a:t>连接传送。</a:t>
            </a:r>
          </a:p>
        </p:txBody>
      </p:sp>
      <p:sp>
        <p:nvSpPr>
          <p:cNvPr id="3" name="标题 2">
            <a:extLst>
              <a:ext uri="{FF2B5EF4-FFF2-40B4-BE49-F238E27FC236}">
                <a16:creationId xmlns:a16="http://schemas.microsoft.com/office/drawing/2014/main" id="{102B06F9-A4DF-6E64-1C07-0BC0F67C39ED}"/>
              </a:ext>
            </a:extLst>
          </p:cNvPr>
          <p:cNvSpPr>
            <a:spLocks noGrp="1"/>
          </p:cNvSpPr>
          <p:nvPr>
            <p:ph type="title"/>
          </p:nvPr>
        </p:nvSpPr>
        <p:spPr>
          <a:xfrm>
            <a:off x="2880000" y="144000"/>
            <a:ext cx="3384000" cy="338554"/>
          </a:xfrm>
        </p:spPr>
        <p:txBody>
          <a:bodyPr/>
          <a:lstStyle/>
          <a:p>
            <a:r>
              <a:rPr lang="en-US" altLang="zh-CN" dirty="0"/>
              <a:t>1.  HTTP </a:t>
            </a:r>
            <a:r>
              <a:rPr lang="zh-CN" altLang="en-US" dirty="0"/>
              <a:t>的操作过程</a:t>
            </a:r>
          </a:p>
        </p:txBody>
      </p:sp>
    </p:spTree>
    <p:extLst>
      <p:ext uri="{BB962C8B-B14F-4D97-AF65-F5344CB8AC3E}">
        <p14:creationId xmlns:p14="http://schemas.microsoft.com/office/powerpoint/2010/main" val="9176373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1D91076-5351-F3EF-0795-37E283FEDF49}"/>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基本过程</a:t>
            </a:r>
          </a:p>
        </p:txBody>
      </p:sp>
      <p:sp>
        <p:nvSpPr>
          <p:cNvPr id="3" name="内容占位符 2">
            <a:extLst>
              <a:ext uri="{FF2B5EF4-FFF2-40B4-BE49-F238E27FC236}">
                <a16:creationId xmlns:a16="http://schemas.microsoft.com/office/drawing/2014/main" id="{7F9AE517-0F28-4846-0F1B-56A0A8282495}"/>
              </a:ext>
            </a:extLst>
          </p:cNvPr>
          <p:cNvSpPr>
            <a:spLocks noGrp="1"/>
          </p:cNvSpPr>
          <p:nvPr>
            <p:ph sz="quarter" idx="11"/>
          </p:nvPr>
        </p:nvSpPr>
        <p:spPr>
          <a:xfrm>
            <a:off x="486000" y="687518"/>
            <a:ext cx="8172000" cy="4079035"/>
          </a:xfrm>
        </p:spPr>
        <p:txBody>
          <a:bodyPr/>
          <a:lstStyle/>
          <a:p>
            <a:r>
              <a:rPr lang="zh-CN" altLang="en-US" dirty="0"/>
              <a:t>用户浏览页面的两种方法</a:t>
            </a:r>
            <a:endParaRPr lang="en-US" altLang="zh-CN" dirty="0"/>
          </a:p>
          <a:p>
            <a:pPr lvl="1"/>
            <a:r>
              <a:rPr lang="zh-CN" altLang="en-US" dirty="0"/>
              <a:t>在浏览器的地址窗口中键入所要找的页面的 </a:t>
            </a:r>
            <a:r>
              <a:rPr lang="en-US" altLang="zh-CN" dirty="0"/>
              <a:t>URL</a:t>
            </a:r>
            <a:endParaRPr lang="zh-CN" altLang="en-US" dirty="0"/>
          </a:p>
          <a:p>
            <a:pPr lvl="1"/>
            <a:r>
              <a:rPr lang="zh-CN" altLang="en-US" dirty="0"/>
              <a:t>在某一个页面中用鼠标点击一个可选部分，这时浏览器会自动在互联网上找到所要链接的页面</a:t>
            </a:r>
          </a:p>
          <a:p>
            <a:endParaRPr lang="zh-CN" altLang="en-US" dirty="0"/>
          </a:p>
        </p:txBody>
      </p:sp>
    </p:spTree>
    <p:extLst>
      <p:ext uri="{BB962C8B-B14F-4D97-AF65-F5344CB8AC3E}">
        <p14:creationId xmlns:p14="http://schemas.microsoft.com/office/powerpoint/2010/main" val="29891138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1953DF2-33E2-0C73-0D9E-EAA747E75D4F}"/>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基本过程</a:t>
            </a:r>
          </a:p>
        </p:txBody>
      </p:sp>
      <p:sp>
        <p:nvSpPr>
          <p:cNvPr id="3" name="内容占位符 2">
            <a:extLst>
              <a:ext uri="{FF2B5EF4-FFF2-40B4-BE49-F238E27FC236}">
                <a16:creationId xmlns:a16="http://schemas.microsoft.com/office/drawing/2014/main" id="{2709178F-7247-8CBD-D80F-2B160BEED765}"/>
              </a:ext>
            </a:extLst>
          </p:cNvPr>
          <p:cNvSpPr>
            <a:spLocks noGrp="1"/>
          </p:cNvSpPr>
          <p:nvPr>
            <p:ph sz="quarter" idx="11"/>
          </p:nvPr>
        </p:nvSpPr>
        <p:spPr>
          <a:xfrm>
            <a:off x="486000" y="687518"/>
            <a:ext cx="8172000" cy="4079035"/>
          </a:xfrm>
        </p:spPr>
        <p:txBody>
          <a:bodyPr/>
          <a:lstStyle/>
          <a:p>
            <a:r>
              <a:rPr lang="zh-CN" altLang="en-US" dirty="0"/>
              <a:t>特点</a:t>
            </a:r>
            <a:endParaRPr lang="en-US" altLang="zh-CN" dirty="0"/>
          </a:p>
          <a:p>
            <a:pPr lvl="1"/>
            <a:r>
              <a:rPr lang="en-US" altLang="zh-CN" dirty="0"/>
              <a:t>HTTP </a:t>
            </a:r>
            <a:r>
              <a:rPr lang="zh-CN" altLang="en-US" dirty="0"/>
              <a:t>使用了面向连接的 </a:t>
            </a:r>
            <a:r>
              <a:rPr lang="en-US" altLang="zh-CN" dirty="0"/>
              <a:t>TCP </a:t>
            </a:r>
            <a:r>
              <a:rPr lang="zh-CN" altLang="en-US" dirty="0"/>
              <a:t>作为运输层协议，保证了数据的可靠传输</a:t>
            </a:r>
            <a:endParaRPr lang="en-US" altLang="zh-CN" dirty="0"/>
          </a:p>
          <a:p>
            <a:pPr lvl="1"/>
            <a:r>
              <a:rPr lang="en-US" altLang="zh-CN" dirty="0"/>
              <a:t>HTTP </a:t>
            </a:r>
            <a:r>
              <a:rPr lang="zh-CN" altLang="en-US" dirty="0"/>
              <a:t>协议本身也是无连接的</a:t>
            </a:r>
          </a:p>
          <a:p>
            <a:pPr lvl="1"/>
            <a:r>
              <a:rPr lang="en-US" altLang="zh-CN" dirty="0"/>
              <a:t>HTTP </a:t>
            </a:r>
            <a:r>
              <a:rPr lang="zh-CN" altLang="en-US" dirty="0"/>
              <a:t>是无状态的 </a:t>
            </a:r>
            <a:r>
              <a:rPr lang="en-US" altLang="zh-CN" dirty="0"/>
              <a:t>(stateless)</a:t>
            </a:r>
            <a:r>
              <a:rPr lang="zh-CN" altLang="en-US" dirty="0"/>
              <a:t>，简化了服务器的设计，使服务器更容易支持大量并发的 </a:t>
            </a:r>
            <a:r>
              <a:rPr lang="en-US" altLang="zh-CN" dirty="0"/>
              <a:t>HTTP </a:t>
            </a:r>
            <a:r>
              <a:rPr lang="zh-CN" altLang="en-US" dirty="0"/>
              <a:t>请求</a:t>
            </a:r>
          </a:p>
          <a:p>
            <a:endParaRPr lang="zh-CN" altLang="en-US" dirty="0"/>
          </a:p>
        </p:txBody>
      </p:sp>
    </p:spTree>
    <p:extLst>
      <p:ext uri="{BB962C8B-B14F-4D97-AF65-F5344CB8AC3E}">
        <p14:creationId xmlns:p14="http://schemas.microsoft.com/office/powerpoint/2010/main" val="37707661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CF3A2AE-945F-DDEB-25F2-269986345C5E}"/>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基本过程</a:t>
            </a:r>
          </a:p>
        </p:txBody>
      </p:sp>
      <p:sp>
        <p:nvSpPr>
          <p:cNvPr id="6" name="内容占位符 5">
            <a:extLst>
              <a:ext uri="{FF2B5EF4-FFF2-40B4-BE49-F238E27FC236}">
                <a16:creationId xmlns:a16="http://schemas.microsoft.com/office/drawing/2014/main" id="{60F81C31-5400-1585-BE2B-171F87A86C8C}"/>
              </a:ext>
            </a:extLst>
          </p:cNvPr>
          <p:cNvSpPr>
            <a:spLocks noGrp="1"/>
          </p:cNvSpPr>
          <p:nvPr>
            <p:ph sz="quarter" idx="11"/>
          </p:nvPr>
        </p:nvSpPr>
        <p:spPr>
          <a:xfrm>
            <a:off x="486000" y="687518"/>
            <a:ext cx="8172000" cy="4079035"/>
          </a:xfrm>
        </p:spPr>
        <p:txBody>
          <a:bodyPr/>
          <a:lstStyle/>
          <a:p>
            <a:r>
              <a:rPr lang="zh-CN" altLang="en-US" dirty="0"/>
              <a:t>请求文档所需的时间 </a:t>
            </a:r>
            <a:endParaRPr lang="en-US" altLang="zh-CN" dirty="0"/>
          </a:p>
          <a:p>
            <a:pPr lvl="1"/>
            <a:r>
              <a:rPr lang="en-US" altLang="zh-CN" dirty="0"/>
              <a:t>&gt;=   RTT</a:t>
            </a:r>
            <a:r>
              <a:rPr lang="zh-CN" altLang="en-US" dirty="0"/>
              <a:t>（三报文握手建立 </a:t>
            </a:r>
            <a:r>
              <a:rPr lang="en-US" altLang="zh-CN" dirty="0"/>
              <a:t>TCP </a:t>
            </a:r>
            <a:r>
              <a:rPr lang="zh-CN" altLang="en-US" dirty="0"/>
              <a:t>连接）</a:t>
            </a:r>
            <a:r>
              <a:rPr lang="en-US" altLang="zh-CN" dirty="0"/>
              <a:t>+ RTT</a:t>
            </a:r>
            <a:r>
              <a:rPr lang="zh-CN" altLang="en-US" dirty="0"/>
              <a:t>（请求和接收文档）</a:t>
            </a:r>
            <a:r>
              <a:rPr lang="en-US" altLang="zh-CN" dirty="0"/>
              <a:t>+ </a:t>
            </a:r>
            <a:r>
              <a:rPr lang="zh-CN" altLang="en-US" dirty="0"/>
              <a:t>文档的传输时间</a:t>
            </a:r>
            <a:endParaRPr lang="en-US" altLang="zh-CN" dirty="0"/>
          </a:p>
          <a:p>
            <a:pPr lvl="1"/>
            <a:r>
              <a:rPr lang="en-US" altLang="zh-CN" dirty="0"/>
              <a:t>= 2 RTT + </a:t>
            </a:r>
            <a:r>
              <a:rPr lang="zh-CN" altLang="en-US" dirty="0"/>
              <a:t>文档的传输时间</a:t>
            </a:r>
          </a:p>
        </p:txBody>
      </p:sp>
      <p:sp>
        <p:nvSpPr>
          <p:cNvPr id="56" name="Line 20"/>
          <p:cNvSpPr>
            <a:spLocks noChangeShapeType="1"/>
          </p:cNvSpPr>
          <p:nvPr/>
        </p:nvSpPr>
        <p:spPr bwMode="auto">
          <a:xfrm flipH="1">
            <a:off x="3255093" y="3412453"/>
            <a:ext cx="3270" cy="615774"/>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57" name="Rectangle 25"/>
          <p:cNvSpPr>
            <a:spLocks noChangeArrowheads="1"/>
          </p:cNvSpPr>
          <p:nvPr/>
        </p:nvSpPr>
        <p:spPr bwMode="auto">
          <a:xfrm>
            <a:off x="3071970" y="3635822"/>
            <a:ext cx="355344" cy="173061"/>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58" name="Text Box 26"/>
          <p:cNvSpPr txBox="1">
            <a:spLocks noChangeArrowheads="1"/>
          </p:cNvSpPr>
          <p:nvPr/>
        </p:nvSpPr>
        <p:spPr bwMode="auto">
          <a:xfrm>
            <a:off x="3018331" y="3594342"/>
            <a:ext cx="471604" cy="276999"/>
          </a:xfrm>
          <a:prstGeom prst="rect">
            <a:avLst/>
          </a:prstGeom>
          <a:noFill/>
          <a:ln>
            <a:noFill/>
          </a:ln>
          <a:effec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solidFill>
                  <a:sysClr val="windowText" lastClr="000000"/>
                </a:solidFill>
                <a:latin typeface="Montserrat" panose="00000500000000000000" pitchFamily="2" charset="0"/>
                <a:ea typeface="微软雅黑 Light" panose="020B0502040204020203" pitchFamily="34" charset="-122"/>
              </a:rPr>
              <a:t>RTT</a:t>
            </a:r>
          </a:p>
        </p:txBody>
      </p:sp>
      <p:sp>
        <p:nvSpPr>
          <p:cNvPr id="59" name="Line 19"/>
          <p:cNvSpPr>
            <a:spLocks noChangeShapeType="1"/>
          </p:cNvSpPr>
          <p:nvPr/>
        </p:nvSpPr>
        <p:spPr bwMode="auto">
          <a:xfrm flipH="1">
            <a:off x="3258362" y="2793661"/>
            <a:ext cx="4360" cy="614768"/>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60" name="Rectangle 22"/>
          <p:cNvSpPr>
            <a:spLocks noChangeArrowheads="1"/>
          </p:cNvSpPr>
          <p:nvPr/>
        </p:nvSpPr>
        <p:spPr bwMode="auto">
          <a:xfrm>
            <a:off x="3071970" y="3033128"/>
            <a:ext cx="355344" cy="17406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61" name="Text Box 23"/>
          <p:cNvSpPr txBox="1">
            <a:spLocks noChangeArrowheads="1"/>
          </p:cNvSpPr>
          <p:nvPr/>
        </p:nvSpPr>
        <p:spPr bwMode="auto">
          <a:xfrm>
            <a:off x="3021711" y="2990531"/>
            <a:ext cx="471604" cy="276999"/>
          </a:xfrm>
          <a:prstGeom prst="rect">
            <a:avLst/>
          </a:prstGeom>
          <a:noFill/>
          <a:ln>
            <a:noFill/>
          </a:ln>
          <a:effec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solidFill>
                  <a:sysClr val="windowText" lastClr="000000"/>
                </a:solidFill>
                <a:latin typeface="Montserrat" panose="00000500000000000000" pitchFamily="2" charset="0"/>
                <a:ea typeface="微软雅黑 Light" panose="020B0502040204020203" pitchFamily="34" charset="-122"/>
              </a:rPr>
              <a:t>RTT</a:t>
            </a:r>
          </a:p>
        </p:txBody>
      </p:sp>
      <p:sp>
        <p:nvSpPr>
          <p:cNvPr id="62" name="Freeform 4"/>
          <p:cNvSpPr>
            <a:spLocks/>
          </p:cNvSpPr>
          <p:nvPr/>
        </p:nvSpPr>
        <p:spPr bwMode="auto">
          <a:xfrm>
            <a:off x="3439305" y="3729395"/>
            <a:ext cx="2196376" cy="519182"/>
          </a:xfrm>
          <a:custGeom>
            <a:avLst/>
            <a:gdLst>
              <a:gd name="T0" fmla="*/ 0 w 1679"/>
              <a:gd name="T1" fmla="*/ 2147483646 h 408"/>
              <a:gd name="T2" fmla="*/ 0 w 1679"/>
              <a:gd name="T3" fmla="*/ 2147483646 h 408"/>
              <a:gd name="T4" fmla="*/ 2147483646 w 1679"/>
              <a:gd name="T5" fmla="*/ 0 h 408"/>
              <a:gd name="T6" fmla="*/ 2147483646 w 1679"/>
              <a:gd name="T7" fmla="*/ 2147483646 h 408"/>
              <a:gd name="T8" fmla="*/ 0 w 1679"/>
              <a:gd name="T9" fmla="*/ 2147483646 h 40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679" h="408">
                <a:moveTo>
                  <a:pt x="0" y="408"/>
                </a:moveTo>
                <a:lnTo>
                  <a:pt x="0" y="227"/>
                </a:lnTo>
                <a:lnTo>
                  <a:pt x="1679" y="0"/>
                </a:lnTo>
                <a:lnTo>
                  <a:pt x="1679" y="181"/>
                </a:lnTo>
                <a:lnTo>
                  <a:pt x="0" y="408"/>
                </a:lnTo>
                <a:close/>
              </a:path>
            </a:pathLst>
          </a:custGeom>
          <a:solidFill>
            <a:schemeClr val="bg1">
              <a:lumMod val="95000"/>
            </a:schemeClr>
          </a:solidFill>
          <a:ln>
            <a:noFill/>
          </a:ln>
          <a:effec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64" name="Rectangle 6"/>
          <p:cNvSpPr>
            <a:spLocks noChangeArrowheads="1"/>
          </p:cNvSpPr>
          <p:nvPr/>
        </p:nvSpPr>
        <p:spPr bwMode="auto">
          <a:xfrm>
            <a:off x="5241790" y="1896646"/>
            <a:ext cx="668454" cy="2385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a:lnSpc>
                <a:spcPct val="80000"/>
              </a:lnSpc>
            </a:pPr>
            <a:r>
              <a:rPr kumimoji="1" lang="en-US" altLang="zh-CN" sz="1200" dirty="0">
                <a:latin typeface="Montserrat" panose="00000500000000000000" pitchFamily="2" charset="0"/>
                <a:ea typeface="微软雅黑 Light" panose="020B0502040204020203" pitchFamily="34" charset="-122"/>
              </a:rPr>
              <a:t>Server</a:t>
            </a:r>
            <a:endParaRPr kumimoji="1" lang="zh-CN" altLang="en-US" sz="1200" dirty="0">
              <a:latin typeface="Montserrat" panose="00000500000000000000" pitchFamily="2" charset="0"/>
              <a:ea typeface="微软雅黑 Light" panose="020B0502040204020203" pitchFamily="34" charset="-122"/>
            </a:endParaRPr>
          </a:p>
        </p:txBody>
      </p:sp>
      <p:sp>
        <p:nvSpPr>
          <p:cNvPr id="65" name="Rectangle 7"/>
          <p:cNvSpPr>
            <a:spLocks noChangeArrowheads="1"/>
          </p:cNvSpPr>
          <p:nvPr/>
        </p:nvSpPr>
        <p:spPr bwMode="auto">
          <a:xfrm>
            <a:off x="3147026" y="1878724"/>
            <a:ext cx="63639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a:r>
              <a:rPr kumimoji="1" lang="en-US" altLang="zh-CN" sz="1200" dirty="0">
                <a:latin typeface="Montserrat" panose="00000500000000000000" pitchFamily="2" charset="0"/>
                <a:ea typeface="微软雅黑 Light" panose="020B0502040204020203" pitchFamily="34" charset="-122"/>
              </a:rPr>
              <a:t>Client</a:t>
            </a:r>
            <a:endParaRPr kumimoji="1" lang="zh-CN" altLang="en-US" sz="1200" dirty="0">
              <a:latin typeface="Montserrat" panose="00000500000000000000" pitchFamily="2" charset="0"/>
              <a:ea typeface="微软雅黑 Light" panose="020B0502040204020203" pitchFamily="34" charset="-122"/>
            </a:endParaRPr>
          </a:p>
        </p:txBody>
      </p:sp>
      <p:sp>
        <p:nvSpPr>
          <p:cNvPr id="67" name="Line 9"/>
          <p:cNvSpPr>
            <a:spLocks noChangeShapeType="1"/>
          </p:cNvSpPr>
          <p:nvPr/>
        </p:nvSpPr>
        <p:spPr bwMode="auto">
          <a:xfrm>
            <a:off x="3440394" y="2744359"/>
            <a:ext cx="0" cy="1893606"/>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68" name="Text Box 10"/>
          <p:cNvSpPr txBox="1">
            <a:spLocks noChangeArrowheads="1"/>
          </p:cNvSpPr>
          <p:nvPr/>
        </p:nvSpPr>
        <p:spPr bwMode="auto">
          <a:xfrm>
            <a:off x="1920759" y="2664871"/>
            <a:ext cx="1189749" cy="276999"/>
          </a:xfrm>
          <a:prstGeom prst="rect">
            <a:avLst/>
          </a:prstGeom>
          <a:noFill/>
          <a:ln w="9525">
            <a:noFill/>
            <a:miter lim="800000"/>
            <a:headEnd/>
            <a:tailEnd/>
          </a:ln>
          <a:effec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solidFill>
                  <a:sysClr val="windowText" lastClr="000000"/>
                </a:solidFill>
                <a:latin typeface="Montserrat" panose="00000500000000000000" pitchFamily="2" charset="0"/>
                <a:ea typeface="微软雅黑 Light" panose="020B0502040204020203" pitchFamily="34" charset="-122"/>
              </a:rPr>
              <a:t>发起 </a:t>
            </a:r>
            <a:r>
              <a:rPr kumimoji="1" lang="en-US" altLang="zh-CN" sz="1200" dirty="0">
                <a:solidFill>
                  <a:sysClr val="windowText" lastClr="000000"/>
                </a:solidFill>
                <a:latin typeface="Montserrat" panose="00000500000000000000" pitchFamily="2" charset="0"/>
                <a:ea typeface="微软雅黑 Light" panose="020B0502040204020203" pitchFamily="34" charset="-122"/>
              </a:rPr>
              <a:t>TCP </a:t>
            </a:r>
            <a:r>
              <a:rPr kumimoji="1" lang="zh-CN" altLang="en-US" sz="1200" dirty="0">
                <a:solidFill>
                  <a:sysClr val="windowText" lastClr="000000"/>
                </a:solidFill>
                <a:latin typeface="Montserrat" panose="00000500000000000000" pitchFamily="2" charset="0"/>
                <a:ea typeface="微软雅黑 Light" panose="020B0502040204020203" pitchFamily="34" charset="-122"/>
              </a:rPr>
              <a:t>连接</a:t>
            </a:r>
          </a:p>
        </p:txBody>
      </p:sp>
      <p:sp>
        <p:nvSpPr>
          <p:cNvPr id="69" name="Text Box 11"/>
          <p:cNvSpPr txBox="1">
            <a:spLocks noChangeArrowheads="1"/>
          </p:cNvSpPr>
          <p:nvPr/>
        </p:nvSpPr>
        <p:spPr bwMode="auto">
          <a:xfrm>
            <a:off x="1858242" y="3261529"/>
            <a:ext cx="1252266" cy="276999"/>
          </a:xfrm>
          <a:prstGeom prst="rect">
            <a:avLst/>
          </a:prstGeom>
          <a:noFill/>
          <a:ln w="9525">
            <a:noFill/>
            <a:miter lim="800000"/>
            <a:headEnd/>
            <a:tailEnd/>
          </a:ln>
          <a:effec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solidFill>
                  <a:sysClr val="windowText" lastClr="000000"/>
                </a:solidFill>
                <a:latin typeface="Montserrat" panose="00000500000000000000" pitchFamily="2" charset="0"/>
                <a:ea typeface="微软雅黑 Light" panose="020B0502040204020203" pitchFamily="34" charset="-122"/>
              </a:rPr>
              <a:t>HTTP </a:t>
            </a:r>
            <a:r>
              <a:rPr kumimoji="1" lang="zh-CN" altLang="en-US" sz="1200" dirty="0">
                <a:solidFill>
                  <a:sysClr val="windowText" lastClr="000000"/>
                </a:solidFill>
                <a:latin typeface="Montserrat" panose="00000500000000000000" pitchFamily="2" charset="0"/>
                <a:ea typeface="微软雅黑 Light" panose="020B0502040204020203" pitchFamily="34" charset="-122"/>
              </a:rPr>
              <a:t>请求报文</a:t>
            </a:r>
          </a:p>
        </p:txBody>
      </p:sp>
      <p:sp>
        <p:nvSpPr>
          <p:cNvPr id="70" name="Line 12"/>
          <p:cNvSpPr>
            <a:spLocks noChangeShapeType="1"/>
          </p:cNvSpPr>
          <p:nvPr/>
        </p:nvSpPr>
        <p:spPr bwMode="auto">
          <a:xfrm>
            <a:off x="3440394" y="2793660"/>
            <a:ext cx="2196375" cy="287764"/>
          </a:xfrm>
          <a:prstGeom prst="line">
            <a:avLst/>
          </a:prstGeom>
          <a:noFill/>
          <a:ln w="28575">
            <a:solidFill>
              <a:srgbClr val="F7964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71" name="Line 13"/>
          <p:cNvSpPr>
            <a:spLocks noChangeShapeType="1"/>
          </p:cNvSpPr>
          <p:nvPr/>
        </p:nvSpPr>
        <p:spPr bwMode="auto">
          <a:xfrm flipH="1">
            <a:off x="3432765" y="3108591"/>
            <a:ext cx="2196376" cy="288770"/>
          </a:xfrm>
          <a:prstGeom prst="line">
            <a:avLst/>
          </a:prstGeom>
          <a:noFill/>
          <a:ln w="28575">
            <a:solidFill>
              <a:srgbClr val="F7964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72" name="Line 14"/>
          <p:cNvSpPr>
            <a:spLocks noChangeShapeType="1"/>
          </p:cNvSpPr>
          <p:nvPr/>
        </p:nvSpPr>
        <p:spPr bwMode="auto">
          <a:xfrm>
            <a:off x="3440394" y="3424528"/>
            <a:ext cx="2196375" cy="287764"/>
          </a:xfrm>
          <a:prstGeom prst="line">
            <a:avLst/>
          </a:prstGeom>
          <a:noFill/>
          <a:ln w="28575">
            <a:solidFill>
              <a:srgbClr val="F7964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73" name="Line 15"/>
          <p:cNvSpPr>
            <a:spLocks noChangeShapeType="1"/>
          </p:cNvSpPr>
          <p:nvPr/>
        </p:nvSpPr>
        <p:spPr bwMode="auto">
          <a:xfrm>
            <a:off x="3145001" y="2793660"/>
            <a:ext cx="295394" cy="0"/>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74" name="Line 16"/>
          <p:cNvSpPr>
            <a:spLocks noChangeShapeType="1"/>
          </p:cNvSpPr>
          <p:nvPr/>
        </p:nvSpPr>
        <p:spPr bwMode="auto">
          <a:xfrm>
            <a:off x="3149361" y="3408428"/>
            <a:ext cx="295394" cy="0"/>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75" name="Line 17"/>
          <p:cNvSpPr>
            <a:spLocks noChangeShapeType="1"/>
          </p:cNvSpPr>
          <p:nvPr/>
        </p:nvSpPr>
        <p:spPr bwMode="auto">
          <a:xfrm>
            <a:off x="3137371" y="4250589"/>
            <a:ext cx="295393" cy="0"/>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76" name="Line 18"/>
          <p:cNvSpPr>
            <a:spLocks noChangeShapeType="1"/>
          </p:cNvSpPr>
          <p:nvPr/>
        </p:nvSpPr>
        <p:spPr bwMode="auto">
          <a:xfrm>
            <a:off x="3137371" y="4020178"/>
            <a:ext cx="295393" cy="0"/>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77" name="Text Box 27"/>
          <p:cNvSpPr txBox="1">
            <a:spLocks noChangeArrowheads="1"/>
          </p:cNvSpPr>
          <p:nvPr/>
        </p:nvSpPr>
        <p:spPr bwMode="auto">
          <a:xfrm>
            <a:off x="5883917" y="3676407"/>
            <a:ext cx="1261884" cy="276999"/>
          </a:xfrm>
          <a:prstGeom prst="rect">
            <a:avLst/>
          </a:prstGeom>
          <a:noFill/>
          <a:ln w="9525">
            <a:noFill/>
            <a:miter lim="800000"/>
            <a:headEnd/>
            <a:tailEnd/>
          </a:ln>
          <a:effec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solidFill>
                  <a:sysClr val="windowText" lastClr="000000"/>
                </a:solidFill>
                <a:latin typeface="Montserrat" panose="00000500000000000000" pitchFamily="2" charset="0"/>
                <a:ea typeface="微软雅黑 Light" panose="020B0502040204020203" pitchFamily="34" charset="-122"/>
              </a:rPr>
              <a:t>传输文档的时间</a:t>
            </a:r>
          </a:p>
        </p:txBody>
      </p:sp>
      <p:sp>
        <p:nvSpPr>
          <p:cNvPr id="78" name="Text Box 28"/>
          <p:cNvSpPr txBox="1">
            <a:spLocks noChangeArrowheads="1"/>
          </p:cNvSpPr>
          <p:nvPr/>
        </p:nvSpPr>
        <p:spPr bwMode="auto">
          <a:xfrm>
            <a:off x="2002512" y="4001988"/>
            <a:ext cx="1107996" cy="276999"/>
          </a:xfrm>
          <a:prstGeom prst="rect">
            <a:avLst/>
          </a:prstGeom>
          <a:noFill/>
          <a:ln w="9525">
            <a:noFill/>
            <a:miter lim="800000"/>
            <a:headEnd/>
            <a:tailEnd/>
          </a:ln>
          <a:effec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solidFill>
                  <a:sysClr val="windowText" lastClr="000000"/>
                </a:solidFill>
                <a:latin typeface="Montserrat" panose="00000500000000000000" pitchFamily="2" charset="0"/>
                <a:ea typeface="微软雅黑 Light" panose="020B0502040204020203" pitchFamily="34" charset="-122"/>
              </a:rPr>
              <a:t>整个文档收到</a:t>
            </a:r>
          </a:p>
        </p:txBody>
      </p:sp>
      <p:sp>
        <p:nvSpPr>
          <p:cNvPr id="79" name="AutoShape 29"/>
          <p:cNvSpPr>
            <a:spLocks noChangeArrowheads="1"/>
          </p:cNvSpPr>
          <p:nvPr/>
        </p:nvSpPr>
        <p:spPr bwMode="auto">
          <a:xfrm rot="21154273">
            <a:off x="4254634" y="3899438"/>
            <a:ext cx="652918" cy="173061"/>
          </a:xfrm>
          <a:prstGeom prst="leftArrow">
            <a:avLst>
              <a:gd name="adj1" fmla="val 50000"/>
              <a:gd name="adj2" fmla="val 87064"/>
            </a:avLst>
          </a:prstGeom>
          <a:solidFill>
            <a:srgbClr val="4BACC6"/>
          </a:solidFill>
          <a:ln w="9525">
            <a:noFill/>
            <a:miter lim="800000"/>
            <a:headEnd/>
            <a:tailEnd/>
          </a:ln>
          <a:effec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80" name="Line 30"/>
          <p:cNvSpPr>
            <a:spLocks noChangeShapeType="1"/>
          </p:cNvSpPr>
          <p:nvPr/>
        </p:nvSpPr>
        <p:spPr bwMode="auto">
          <a:xfrm>
            <a:off x="5630229" y="2741339"/>
            <a:ext cx="0" cy="1892600"/>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83" name="Text Box 33"/>
          <p:cNvSpPr txBox="1">
            <a:spLocks noChangeArrowheads="1"/>
          </p:cNvSpPr>
          <p:nvPr/>
        </p:nvSpPr>
        <p:spPr bwMode="auto">
          <a:xfrm rot="21159151">
            <a:off x="3961445" y="4094813"/>
            <a:ext cx="125226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latin typeface="Montserrat" panose="00000500000000000000" pitchFamily="2" charset="0"/>
                <a:ea typeface="微软雅黑 Light" panose="020B0502040204020203" pitchFamily="34" charset="-122"/>
              </a:rPr>
              <a:t>HTTP </a:t>
            </a:r>
            <a:r>
              <a:rPr kumimoji="1" lang="zh-CN" altLang="en-US" sz="1200" dirty="0">
                <a:latin typeface="Montserrat" panose="00000500000000000000" pitchFamily="2" charset="0"/>
                <a:ea typeface="微软雅黑 Light" panose="020B0502040204020203" pitchFamily="34" charset="-122"/>
              </a:rPr>
              <a:t>响应报文</a:t>
            </a:r>
          </a:p>
        </p:txBody>
      </p:sp>
      <p:sp>
        <p:nvSpPr>
          <p:cNvPr id="84" name="AutoShape 34"/>
          <p:cNvSpPr>
            <a:spLocks/>
          </p:cNvSpPr>
          <p:nvPr/>
        </p:nvSpPr>
        <p:spPr bwMode="auto">
          <a:xfrm>
            <a:off x="5661840" y="3716316"/>
            <a:ext cx="59950" cy="231418"/>
          </a:xfrm>
          <a:prstGeom prst="rightBracket">
            <a:avLst>
              <a:gd name="adj" fmla="val 34849"/>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85" name="Line 35"/>
          <p:cNvSpPr>
            <a:spLocks noChangeShapeType="1"/>
          </p:cNvSpPr>
          <p:nvPr/>
        </p:nvSpPr>
        <p:spPr bwMode="auto">
          <a:xfrm>
            <a:off x="5721790" y="3832024"/>
            <a:ext cx="16212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pic>
        <p:nvPicPr>
          <p:cNvPr id="87" name="图片 86"/>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372332" y="2077441"/>
            <a:ext cx="511585" cy="716219"/>
          </a:xfrm>
          <a:prstGeom prst="rect">
            <a:avLst/>
          </a:prstGeom>
        </p:spPr>
      </p:pic>
      <p:pic>
        <p:nvPicPr>
          <p:cNvPr id="88"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218736" y="2141338"/>
            <a:ext cx="516657" cy="516658"/>
          </a:xfrm>
          <a:prstGeom prst="rect">
            <a:avLst/>
          </a:prstGeom>
          <a:noFill/>
          <a:extLst>
            <a:ext uri="{909E8E84-426E-40DD-AFC4-6F175D3DCCD1}">
              <a14:hiddenFill xmlns:a14="http://schemas.microsoft.com/office/drawing/2010/main">
                <a:solidFill>
                  <a:srgbClr val="FFFFFF"/>
                </a:solidFill>
              </a14:hiddenFill>
            </a:ext>
          </a:extLst>
        </p:spPr>
      </p:pic>
      <p:sp>
        <p:nvSpPr>
          <p:cNvPr id="3" name="矩形 2"/>
          <p:cNvSpPr/>
          <p:nvPr/>
        </p:nvSpPr>
        <p:spPr>
          <a:xfrm>
            <a:off x="5249291" y="1461642"/>
            <a:ext cx="3107597" cy="322717"/>
          </a:xfrm>
          <a:prstGeom prst="rect">
            <a:avLst/>
          </a:prstGeom>
          <a:solidFill>
            <a:schemeClr val="bg1"/>
          </a:solidFill>
        </p:spPr>
        <p:txBody>
          <a:bodyPr wrap="square">
            <a:spAutoFit/>
          </a:bodyPr>
          <a:lstStyle/>
          <a:p>
            <a:pPr>
              <a:lnSpc>
                <a:spcPts val="2000"/>
              </a:lnSpc>
            </a:pP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8471199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 Box 4"/>
          <p:cNvSpPr txBox="1">
            <a:spLocks noChangeArrowheads="1"/>
          </p:cNvSpPr>
          <p:nvPr/>
        </p:nvSpPr>
        <p:spPr bwMode="auto">
          <a:xfrm>
            <a:off x="6908190" y="1122804"/>
            <a:ext cx="2026123" cy="206723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accent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nSpc>
                <a:spcPts val="2200"/>
              </a:lnSpc>
            </a:pPr>
            <a:r>
              <a:rPr lang="zh-CN" altLang="en-US" sz="1600" b="1" dirty="0">
                <a:latin typeface="微软雅黑 Light" panose="020B0502040204020203" pitchFamily="34" charset="-122"/>
                <a:ea typeface="微软雅黑 Light" panose="020B0502040204020203" pitchFamily="34" charset="-122"/>
              </a:rPr>
              <a:t>假设一个主页</a:t>
            </a:r>
            <a:r>
              <a:rPr lang="en-US" altLang="zh-CN" sz="1600" b="1" dirty="0">
                <a:latin typeface="微软雅黑 Light" panose="020B0502040204020203" pitchFamily="34" charset="-122"/>
                <a:ea typeface="微软雅黑 Light" panose="020B0502040204020203" pitchFamily="34" charset="-122"/>
              </a:rPr>
              <a:t>page.html </a:t>
            </a:r>
            <a:r>
              <a:rPr lang="zh-CN" altLang="en-US" sz="1600" b="1" dirty="0">
                <a:latin typeface="微软雅黑 Light" panose="020B0502040204020203" pitchFamily="34" charset="-122"/>
                <a:ea typeface="微软雅黑 Light" panose="020B0502040204020203" pitchFamily="34" charset="-122"/>
              </a:rPr>
              <a:t>上有 </a:t>
            </a:r>
            <a:r>
              <a:rPr lang="en-US" altLang="zh-CN" sz="1600" b="1" dirty="0">
                <a:latin typeface="微软雅黑 Light" panose="020B0502040204020203" pitchFamily="34" charset="-122"/>
                <a:ea typeface="微软雅黑 Light" panose="020B0502040204020203" pitchFamily="34" charset="-122"/>
              </a:rPr>
              <a:t>10 </a:t>
            </a:r>
            <a:r>
              <a:rPr lang="zh-CN" altLang="en-US" sz="1600" b="1" dirty="0">
                <a:latin typeface="微软雅黑 Light" panose="020B0502040204020203" pitchFamily="34" charset="-122"/>
                <a:ea typeface="微软雅黑 Light" panose="020B0502040204020203" pitchFamily="34" charset="-122"/>
              </a:rPr>
              <a:t>个链接的图片：</a:t>
            </a:r>
            <a:r>
              <a:rPr lang="en-US" altLang="zh-CN" sz="1600" b="1" dirty="0">
                <a:latin typeface="微软雅黑 Light" panose="020B0502040204020203" pitchFamily="34" charset="-122"/>
                <a:ea typeface="微软雅黑 Light" panose="020B0502040204020203" pitchFamily="34" charset="-122"/>
              </a:rPr>
              <a:t>page1.jpg, page2.jpg, page3.jpg,</a:t>
            </a:r>
          </a:p>
          <a:p>
            <a:pPr>
              <a:lnSpc>
                <a:spcPts val="2200"/>
              </a:lnSpc>
            </a:pPr>
            <a:r>
              <a:rPr lang="en-US" altLang="zh-CN" sz="1600" b="1" dirty="0">
                <a:latin typeface="微软雅黑 Light" panose="020B0502040204020203" pitchFamily="34" charset="-122"/>
                <a:ea typeface="微软雅黑 Light" panose="020B0502040204020203" pitchFamily="34" charset="-122"/>
              </a:rPr>
              <a:t>…</a:t>
            </a:r>
          </a:p>
        </p:txBody>
      </p:sp>
      <p:sp>
        <p:nvSpPr>
          <p:cNvPr id="8" name="Line 5"/>
          <p:cNvSpPr>
            <a:spLocks noChangeShapeType="1"/>
          </p:cNvSpPr>
          <p:nvPr/>
        </p:nvSpPr>
        <p:spPr bwMode="auto">
          <a:xfrm>
            <a:off x="4715307" y="1281829"/>
            <a:ext cx="6384" cy="3260286"/>
          </a:xfrm>
          <a:prstGeom prst="line">
            <a:avLst/>
          </a:prstGeom>
          <a:noFill/>
          <a:ln w="12700">
            <a:solidFill>
              <a:schemeClr val="tx1"/>
            </a:solidFill>
            <a:prstDash val="solid"/>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9" name="Line 6"/>
          <p:cNvSpPr>
            <a:spLocks noChangeShapeType="1"/>
          </p:cNvSpPr>
          <p:nvPr/>
        </p:nvSpPr>
        <p:spPr bwMode="auto">
          <a:xfrm flipH="1">
            <a:off x="5835636" y="1277495"/>
            <a:ext cx="12767" cy="3267871"/>
          </a:xfrm>
          <a:prstGeom prst="line">
            <a:avLst/>
          </a:prstGeom>
          <a:noFill/>
          <a:ln w="12700">
            <a:solidFill>
              <a:schemeClr val="tx1"/>
            </a:solidFill>
            <a:prstDash val="solid"/>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grpSp>
        <p:nvGrpSpPr>
          <p:cNvPr id="52" name="组合 51"/>
          <p:cNvGrpSpPr/>
          <p:nvPr/>
        </p:nvGrpSpPr>
        <p:grpSpPr>
          <a:xfrm>
            <a:off x="3338004" y="1266224"/>
            <a:ext cx="3595617" cy="1578522"/>
            <a:chOff x="3338004" y="1266224"/>
            <a:chExt cx="3595617" cy="1578522"/>
          </a:xfrm>
        </p:grpSpPr>
        <p:sp>
          <p:nvSpPr>
            <p:cNvPr id="18" name="Text Box 12"/>
            <p:cNvSpPr txBox="1">
              <a:spLocks noChangeArrowheads="1"/>
            </p:cNvSpPr>
            <p:nvPr/>
          </p:nvSpPr>
          <p:spPr bwMode="auto">
            <a:xfrm>
              <a:off x="5902120" y="2198103"/>
              <a:ext cx="1031501"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b="1" dirty="0">
                  <a:solidFill>
                    <a:srgbClr val="0000CC"/>
                  </a:solidFill>
                  <a:latin typeface="微软雅黑 Light" panose="020B0502040204020203" pitchFamily="34" charset="-122"/>
                  <a:ea typeface="微软雅黑 Light" panose="020B0502040204020203" pitchFamily="34" charset="-122"/>
                </a:rPr>
                <a:t>传输 </a:t>
              </a:r>
              <a:r>
                <a:rPr lang="en-US" altLang="zh-CN" sz="1200" b="1" dirty="0">
                  <a:solidFill>
                    <a:srgbClr val="0000CC"/>
                  </a:solidFill>
                  <a:latin typeface="微软雅黑 Light" panose="020B0502040204020203" pitchFamily="34" charset="-122"/>
                  <a:ea typeface="微软雅黑 Light" panose="020B0502040204020203" pitchFamily="34" charset="-122"/>
                </a:rPr>
                <a:t>page.html </a:t>
              </a:r>
              <a:r>
                <a:rPr lang="zh-CN" altLang="en-US" sz="1200" b="1" dirty="0">
                  <a:solidFill>
                    <a:srgbClr val="0000CC"/>
                  </a:solidFill>
                  <a:latin typeface="微软雅黑 Light" panose="020B0502040204020203" pitchFamily="34" charset="-122"/>
                  <a:ea typeface="微软雅黑 Light" panose="020B0502040204020203" pitchFamily="34" charset="-122"/>
                </a:rPr>
                <a:t>的时间</a:t>
              </a:r>
            </a:p>
          </p:txBody>
        </p:sp>
        <p:grpSp>
          <p:nvGrpSpPr>
            <p:cNvPr id="3" name="组合 2"/>
            <p:cNvGrpSpPr/>
            <p:nvPr/>
          </p:nvGrpSpPr>
          <p:grpSpPr>
            <a:xfrm>
              <a:off x="3338004" y="1266224"/>
              <a:ext cx="2613601" cy="1578522"/>
              <a:chOff x="3338004" y="1266224"/>
              <a:chExt cx="2613601" cy="1578522"/>
            </a:xfrm>
          </p:grpSpPr>
          <p:sp>
            <p:nvSpPr>
              <p:cNvPr id="13" name="Line 7"/>
              <p:cNvSpPr>
                <a:spLocks noChangeShapeType="1"/>
              </p:cNvSpPr>
              <p:nvPr/>
            </p:nvSpPr>
            <p:spPr bwMode="auto">
              <a:xfrm>
                <a:off x="4724883" y="1440021"/>
                <a:ext cx="1128840" cy="266544"/>
              </a:xfrm>
              <a:prstGeom prst="line">
                <a:avLst/>
              </a:prstGeom>
              <a:noFill/>
              <a:ln w="19050">
                <a:solidFill>
                  <a:srgbClr val="99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4" name="Line 8"/>
              <p:cNvSpPr>
                <a:spLocks noChangeShapeType="1"/>
              </p:cNvSpPr>
              <p:nvPr/>
            </p:nvSpPr>
            <p:spPr bwMode="auto">
              <a:xfrm flipH="1">
                <a:off x="4715307" y="1739071"/>
                <a:ext cx="1121392" cy="275212"/>
              </a:xfrm>
              <a:prstGeom prst="line">
                <a:avLst/>
              </a:prstGeom>
              <a:noFill/>
              <a:ln w="19050">
                <a:solidFill>
                  <a:srgbClr val="99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 name="Line 9"/>
              <p:cNvSpPr>
                <a:spLocks noChangeShapeType="1"/>
              </p:cNvSpPr>
              <p:nvPr/>
            </p:nvSpPr>
            <p:spPr bwMode="auto">
              <a:xfrm>
                <a:off x="4720627" y="2085794"/>
                <a:ext cx="1128840" cy="266544"/>
              </a:xfrm>
              <a:prstGeom prst="line">
                <a:avLst/>
              </a:prstGeom>
              <a:noFill/>
              <a:ln w="19050">
                <a:solidFill>
                  <a:srgbClr val="99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 name="Line 10"/>
              <p:cNvSpPr>
                <a:spLocks noChangeShapeType="1"/>
              </p:cNvSpPr>
              <p:nvPr/>
            </p:nvSpPr>
            <p:spPr bwMode="auto">
              <a:xfrm flipH="1">
                <a:off x="4731266" y="2432938"/>
                <a:ext cx="1121392" cy="258959"/>
              </a:xfrm>
              <a:prstGeom prst="line">
                <a:avLst/>
              </a:prstGeom>
              <a:noFill/>
              <a:ln w="127000">
                <a:solidFill>
                  <a:srgbClr val="0099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7" name="AutoShape 11"/>
              <p:cNvSpPr>
                <a:spLocks/>
              </p:cNvSpPr>
              <p:nvPr/>
            </p:nvSpPr>
            <p:spPr bwMode="auto">
              <a:xfrm>
                <a:off x="5901600" y="2366634"/>
                <a:ext cx="50005" cy="124604"/>
              </a:xfrm>
              <a:prstGeom prst="rightBrace">
                <a:avLst>
                  <a:gd name="adj1" fmla="val 20390"/>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 name="Text Box 14"/>
              <p:cNvSpPr txBox="1">
                <a:spLocks noChangeArrowheads="1"/>
              </p:cNvSpPr>
              <p:nvPr/>
            </p:nvSpPr>
            <p:spPr bwMode="auto">
              <a:xfrm>
                <a:off x="3338004" y="1266224"/>
                <a:ext cx="118847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b="1" dirty="0">
                    <a:solidFill>
                      <a:srgbClr val="0000CC"/>
                    </a:solidFill>
                    <a:latin typeface="微软雅黑 Light" panose="020B0502040204020203" pitchFamily="34" charset="-122"/>
                    <a:ea typeface="微软雅黑 Light" panose="020B0502040204020203" pitchFamily="34" charset="-122"/>
                  </a:rPr>
                  <a:t>发起 </a:t>
                </a:r>
                <a:r>
                  <a:rPr lang="en-US" altLang="zh-CN" sz="1200" b="1" dirty="0">
                    <a:solidFill>
                      <a:srgbClr val="0000CC"/>
                    </a:solidFill>
                    <a:latin typeface="微软雅黑 Light" panose="020B0502040204020203" pitchFamily="34" charset="-122"/>
                    <a:ea typeface="微软雅黑 Light" panose="020B0502040204020203" pitchFamily="34" charset="-122"/>
                  </a:rPr>
                  <a:t>TCP </a:t>
                </a:r>
                <a:r>
                  <a:rPr lang="zh-CN" altLang="en-US" sz="1200" b="1" dirty="0">
                    <a:solidFill>
                      <a:srgbClr val="0000CC"/>
                    </a:solidFill>
                    <a:latin typeface="微软雅黑 Light" panose="020B0502040204020203" pitchFamily="34" charset="-122"/>
                    <a:ea typeface="微软雅黑 Light" panose="020B0502040204020203" pitchFamily="34" charset="-122"/>
                  </a:rPr>
                  <a:t>连接</a:t>
                </a:r>
              </a:p>
            </p:txBody>
          </p:sp>
          <p:sp>
            <p:nvSpPr>
              <p:cNvPr id="20" name="Text Box 17"/>
              <p:cNvSpPr txBox="1">
                <a:spLocks noChangeArrowheads="1"/>
              </p:cNvSpPr>
              <p:nvPr/>
            </p:nvSpPr>
            <p:spPr bwMode="auto">
              <a:xfrm>
                <a:off x="4738206" y="1926570"/>
                <a:ext cx="109798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200" b="1" dirty="0">
                    <a:solidFill>
                      <a:srgbClr val="C00000"/>
                    </a:solidFill>
                    <a:latin typeface="微软雅黑 Light" panose="020B0502040204020203" pitchFamily="34" charset="-122"/>
                    <a:ea typeface="微软雅黑 Light" panose="020B0502040204020203" pitchFamily="34" charset="-122"/>
                  </a:rPr>
                  <a:t>GET page.html</a:t>
                </a:r>
              </a:p>
            </p:txBody>
          </p:sp>
          <p:sp>
            <p:nvSpPr>
              <p:cNvPr id="21" name="Text Box 21"/>
              <p:cNvSpPr txBox="1">
                <a:spLocks noChangeArrowheads="1"/>
              </p:cNvSpPr>
              <p:nvPr/>
            </p:nvSpPr>
            <p:spPr bwMode="auto">
              <a:xfrm>
                <a:off x="3751375" y="2567747"/>
                <a:ext cx="79370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defRPr sz="1200" b="1">
                    <a:solidFill>
                      <a:srgbClr val="0000CC"/>
                    </a:solidFill>
                    <a:latin typeface="微软雅黑" panose="020B0503020204020204" pitchFamily="34" charset="-122"/>
                    <a:ea typeface="微软雅黑" panose="020B0503020204020204" pitchFamily="34" charset="-122"/>
                  </a:defRPr>
                </a:lvl1pPr>
                <a:lvl2pPr marL="742950" indent="-285750">
                  <a:defRPr>
                    <a:latin typeface="Tahoma" pitchFamily="34" charset="0"/>
                    <a:ea typeface="黑体" pitchFamily="2" charset="-122"/>
                  </a:defRPr>
                </a:lvl2pPr>
                <a:lvl3pPr marL="1143000" indent="-228600">
                  <a:defRPr>
                    <a:latin typeface="Tahoma" pitchFamily="34" charset="0"/>
                    <a:ea typeface="黑体" pitchFamily="2" charset="-122"/>
                  </a:defRPr>
                </a:lvl3pPr>
                <a:lvl4pPr marL="1600200" indent="-228600">
                  <a:defRPr>
                    <a:latin typeface="Tahoma" pitchFamily="34" charset="0"/>
                    <a:ea typeface="黑体" pitchFamily="2" charset="-122"/>
                  </a:defRPr>
                </a:lvl4pPr>
                <a:lvl5pPr marL="2057400" indent="-228600">
                  <a:defRPr>
                    <a:latin typeface="Tahoma" pitchFamily="34" charset="0"/>
                    <a:ea typeface="黑体" pitchFamily="2" charset="-122"/>
                  </a:defRPr>
                </a:lvl5pPr>
                <a:lvl6pPr marL="2514600" indent="-228600" eaLnBrk="0" fontAlgn="base" hangingPunct="0">
                  <a:spcBef>
                    <a:spcPct val="0"/>
                  </a:spcBef>
                  <a:spcAft>
                    <a:spcPct val="0"/>
                  </a:spcAft>
                  <a:defRPr>
                    <a:latin typeface="Tahoma" pitchFamily="34" charset="0"/>
                    <a:ea typeface="黑体" pitchFamily="2" charset="-122"/>
                  </a:defRPr>
                </a:lvl6pPr>
                <a:lvl7pPr marL="2971800" indent="-228600" eaLnBrk="0" fontAlgn="base" hangingPunct="0">
                  <a:spcBef>
                    <a:spcPct val="0"/>
                  </a:spcBef>
                  <a:spcAft>
                    <a:spcPct val="0"/>
                  </a:spcAft>
                  <a:defRPr>
                    <a:latin typeface="Tahoma" pitchFamily="34" charset="0"/>
                    <a:ea typeface="黑体" pitchFamily="2" charset="-122"/>
                  </a:defRPr>
                </a:lvl7pPr>
                <a:lvl8pPr marL="3429000" indent="-228600" eaLnBrk="0" fontAlgn="base" hangingPunct="0">
                  <a:spcBef>
                    <a:spcPct val="0"/>
                  </a:spcBef>
                  <a:spcAft>
                    <a:spcPct val="0"/>
                  </a:spcAft>
                  <a:defRPr>
                    <a:latin typeface="Tahoma" pitchFamily="34" charset="0"/>
                    <a:ea typeface="黑体" pitchFamily="2" charset="-122"/>
                  </a:defRPr>
                </a:lvl8pPr>
                <a:lvl9pPr marL="3886200" indent="-228600" eaLnBrk="0" fontAlgn="base" hangingPunct="0">
                  <a:spcBef>
                    <a:spcPct val="0"/>
                  </a:spcBef>
                  <a:spcAft>
                    <a:spcPct val="0"/>
                  </a:spcAft>
                  <a:defRPr>
                    <a:latin typeface="Tahoma" pitchFamily="34" charset="0"/>
                    <a:ea typeface="黑体" pitchFamily="2" charset="-122"/>
                  </a:defRPr>
                </a:lvl9pPr>
              </a:lstStyle>
              <a:p>
                <a:r>
                  <a:rPr lang="zh-CN" altLang="en-US" dirty="0">
                    <a:latin typeface="微软雅黑 Light" panose="020B0502040204020203" pitchFamily="34" charset="-122"/>
                    <a:ea typeface="微软雅黑 Light" panose="020B0502040204020203" pitchFamily="34" charset="-122"/>
                  </a:rPr>
                  <a:t>收到文档</a:t>
                </a:r>
              </a:p>
            </p:txBody>
          </p:sp>
          <p:sp>
            <p:nvSpPr>
              <p:cNvPr id="24" name="Line 13"/>
              <p:cNvSpPr>
                <a:spLocks noChangeShapeType="1"/>
              </p:cNvSpPr>
              <p:nvPr/>
            </p:nvSpPr>
            <p:spPr bwMode="auto">
              <a:xfrm>
                <a:off x="4453578" y="1422685"/>
                <a:ext cx="261729" cy="108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5" name="AutoShape 15"/>
              <p:cNvSpPr>
                <a:spLocks/>
              </p:cNvSpPr>
              <p:nvPr/>
            </p:nvSpPr>
            <p:spPr bwMode="auto">
              <a:xfrm>
                <a:off x="4544013" y="1457357"/>
                <a:ext cx="86179" cy="548257"/>
              </a:xfrm>
              <a:prstGeom prst="leftBrace">
                <a:avLst>
                  <a:gd name="adj1" fmla="val 52058"/>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6" name="Text Box 16"/>
              <p:cNvSpPr txBox="1">
                <a:spLocks noChangeArrowheads="1"/>
              </p:cNvSpPr>
              <p:nvPr/>
            </p:nvSpPr>
            <p:spPr bwMode="auto">
              <a:xfrm>
                <a:off x="4115245" y="1596047"/>
                <a:ext cx="4523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200" b="1" dirty="0">
                    <a:latin typeface="微软雅黑 Light" panose="020B0502040204020203" pitchFamily="34" charset="-122"/>
                    <a:ea typeface="微软雅黑 Light" panose="020B0502040204020203" pitchFamily="34" charset="-122"/>
                  </a:rPr>
                  <a:t>RTT</a:t>
                </a:r>
              </a:p>
            </p:txBody>
          </p:sp>
          <p:sp>
            <p:nvSpPr>
              <p:cNvPr id="27" name="AutoShape 18"/>
              <p:cNvSpPr>
                <a:spLocks/>
              </p:cNvSpPr>
              <p:nvPr/>
            </p:nvSpPr>
            <p:spPr bwMode="auto">
              <a:xfrm>
                <a:off x="4548268" y="2078210"/>
                <a:ext cx="86179" cy="548257"/>
              </a:xfrm>
              <a:prstGeom prst="leftBrace">
                <a:avLst>
                  <a:gd name="adj1" fmla="val 52058"/>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8" name="Text Box 19"/>
              <p:cNvSpPr txBox="1">
                <a:spLocks noChangeArrowheads="1"/>
              </p:cNvSpPr>
              <p:nvPr/>
            </p:nvSpPr>
            <p:spPr bwMode="auto">
              <a:xfrm>
                <a:off x="4128013" y="2225568"/>
                <a:ext cx="4523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200" b="1" dirty="0">
                    <a:latin typeface="微软雅黑 Light" panose="020B0502040204020203" pitchFamily="34" charset="-122"/>
                    <a:ea typeface="微软雅黑 Light" panose="020B0502040204020203" pitchFamily="34" charset="-122"/>
                  </a:rPr>
                  <a:t>RTT</a:t>
                </a:r>
              </a:p>
            </p:txBody>
          </p:sp>
          <p:sp>
            <p:nvSpPr>
              <p:cNvPr id="29" name="Line 20"/>
              <p:cNvSpPr>
                <a:spLocks noChangeShapeType="1"/>
              </p:cNvSpPr>
              <p:nvPr/>
            </p:nvSpPr>
            <p:spPr bwMode="auto">
              <a:xfrm flipH="1">
                <a:off x="4494007" y="2733070"/>
                <a:ext cx="229811" cy="10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 name="Line 23"/>
              <p:cNvSpPr>
                <a:spLocks noChangeShapeType="1"/>
              </p:cNvSpPr>
              <p:nvPr/>
            </p:nvSpPr>
            <p:spPr bwMode="auto">
              <a:xfrm flipH="1">
                <a:off x="4480176" y="2077126"/>
                <a:ext cx="229811" cy="108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grpSp>
      </p:grpSp>
      <p:grpSp>
        <p:nvGrpSpPr>
          <p:cNvPr id="53" name="组合 52"/>
          <p:cNvGrpSpPr/>
          <p:nvPr/>
        </p:nvGrpSpPr>
        <p:grpSpPr>
          <a:xfrm>
            <a:off x="5253660" y="4257392"/>
            <a:ext cx="68093" cy="273778"/>
            <a:chOff x="5253660" y="4257392"/>
            <a:chExt cx="68093" cy="273778"/>
          </a:xfrm>
        </p:grpSpPr>
        <p:sp>
          <p:nvSpPr>
            <p:cNvPr id="37" name="Oval 30"/>
            <p:cNvSpPr>
              <a:spLocks noChangeArrowheads="1"/>
            </p:cNvSpPr>
            <p:nvPr/>
          </p:nvSpPr>
          <p:spPr bwMode="auto">
            <a:xfrm>
              <a:off x="5262172" y="4257392"/>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8" name="Oval 31"/>
            <p:cNvSpPr>
              <a:spLocks noChangeArrowheads="1"/>
            </p:cNvSpPr>
            <p:nvPr/>
          </p:nvSpPr>
          <p:spPr bwMode="auto">
            <a:xfrm>
              <a:off x="5257916" y="4364484"/>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9" name="Oval 32"/>
            <p:cNvSpPr>
              <a:spLocks noChangeArrowheads="1"/>
            </p:cNvSpPr>
            <p:nvPr/>
          </p:nvSpPr>
          <p:spPr bwMode="auto">
            <a:xfrm>
              <a:off x="5253660" y="4470493"/>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grpSp>
      <p:grpSp>
        <p:nvGrpSpPr>
          <p:cNvPr id="51" name="组合 50"/>
          <p:cNvGrpSpPr/>
          <p:nvPr/>
        </p:nvGrpSpPr>
        <p:grpSpPr>
          <a:xfrm>
            <a:off x="3360550" y="2749191"/>
            <a:ext cx="3547641" cy="1507486"/>
            <a:chOff x="3360550" y="2749191"/>
            <a:chExt cx="3547641" cy="1507486"/>
          </a:xfrm>
        </p:grpSpPr>
        <p:grpSp>
          <p:nvGrpSpPr>
            <p:cNvPr id="4" name="组合 3"/>
            <p:cNvGrpSpPr/>
            <p:nvPr/>
          </p:nvGrpSpPr>
          <p:grpSpPr>
            <a:xfrm>
              <a:off x="3751375" y="2885392"/>
              <a:ext cx="3156816" cy="1371285"/>
              <a:chOff x="3751375" y="2841002"/>
              <a:chExt cx="3156816" cy="1371285"/>
            </a:xfrm>
          </p:grpSpPr>
          <p:sp>
            <p:nvSpPr>
              <p:cNvPr id="22" name="Line 22"/>
              <p:cNvSpPr>
                <a:spLocks noChangeShapeType="1"/>
              </p:cNvSpPr>
              <p:nvPr/>
            </p:nvSpPr>
            <p:spPr bwMode="auto">
              <a:xfrm>
                <a:off x="4723818" y="2843169"/>
                <a:ext cx="1128840" cy="266544"/>
              </a:xfrm>
              <a:prstGeom prst="line">
                <a:avLst/>
              </a:prstGeom>
              <a:noFill/>
              <a:ln w="19050">
                <a:solidFill>
                  <a:srgbClr val="99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 name="Line 24"/>
              <p:cNvSpPr>
                <a:spLocks noChangeShapeType="1"/>
              </p:cNvSpPr>
              <p:nvPr/>
            </p:nvSpPr>
            <p:spPr bwMode="auto">
              <a:xfrm flipH="1">
                <a:off x="4695092" y="3143302"/>
                <a:ext cx="1121392" cy="275212"/>
              </a:xfrm>
              <a:prstGeom prst="line">
                <a:avLst/>
              </a:prstGeom>
              <a:noFill/>
              <a:ln w="19050">
                <a:solidFill>
                  <a:srgbClr val="99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2" name="Line 25"/>
              <p:cNvSpPr>
                <a:spLocks noChangeShapeType="1"/>
              </p:cNvSpPr>
              <p:nvPr/>
            </p:nvSpPr>
            <p:spPr bwMode="auto">
              <a:xfrm>
                <a:off x="4716371" y="3466188"/>
                <a:ext cx="1128840" cy="266544"/>
              </a:xfrm>
              <a:prstGeom prst="line">
                <a:avLst/>
              </a:prstGeom>
              <a:noFill/>
              <a:ln w="19050">
                <a:solidFill>
                  <a:srgbClr val="99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3" name="Line 26"/>
              <p:cNvSpPr>
                <a:spLocks noChangeShapeType="1"/>
              </p:cNvSpPr>
              <p:nvPr/>
            </p:nvSpPr>
            <p:spPr bwMode="auto">
              <a:xfrm flipH="1">
                <a:off x="4704667" y="3785824"/>
                <a:ext cx="1121392" cy="258960"/>
              </a:xfrm>
              <a:prstGeom prst="line">
                <a:avLst/>
              </a:prstGeom>
              <a:noFill/>
              <a:ln w="127000">
                <a:solidFill>
                  <a:srgbClr val="00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4" name="Text Box 27"/>
              <p:cNvSpPr txBox="1">
                <a:spLocks noChangeArrowheads="1"/>
              </p:cNvSpPr>
              <p:nvPr/>
            </p:nvSpPr>
            <p:spPr bwMode="auto">
              <a:xfrm>
                <a:off x="4741906" y="3285853"/>
                <a:ext cx="107883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defRPr sz="1200" b="1">
                    <a:solidFill>
                      <a:srgbClr val="C00000"/>
                    </a:solidFill>
                    <a:latin typeface="微软雅黑" panose="020B0503020204020204" pitchFamily="34" charset="-122"/>
                    <a:ea typeface="微软雅黑" panose="020B0503020204020204" pitchFamily="34" charset="-122"/>
                  </a:defRPr>
                </a:lvl1pPr>
                <a:lvl2pPr marL="742950" indent="-285750">
                  <a:defRPr>
                    <a:latin typeface="Tahoma" pitchFamily="34" charset="0"/>
                    <a:ea typeface="黑体" pitchFamily="2" charset="-122"/>
                  </a:defRPr>
                </a:lvl2pPr>
                <a:lvl3pPr marL="1143000" indent="-228600">
                  <a:defRPr>
                    <a:latin typeface="Tahoma" pitchFamily="34" charset="0"/>
                    <a:ea typeface="黑体" pitchFamily="2" charset="-122"/>
                  </a:defRPr>
                </a:lvl3pPr>
                <a:lvl4pPr marL="1600200" indent="-228600">
                  <a:defRPr>
                    <a:latin typeface="Tahoma" pitchFamily="34" charset="0"/>
                    <a:ea typeface="黑体" pitchFamily="2" charset="-122"/>
                  </a:defRPr>
                </a:lvl4pPr>
                <a:lvl5pPr marL="2057400" indent="-228600">
                  <a:defRPr>
                    <a:latin typeface="Tahoma" pitchFamily="34" charset="0"/>
                    <a:ea typeface="黑体" pitchFamily="2" charset="-122"/>
                  </a:defRPr>
                </a:lvl5pPr>
                <a:lvl6pPr marL="2514600" indent="-228600" eaLnBrk="0" fontAlgn="base" hangingPunct="0">
                  <a:spcBef>
                    <a:spcPct val="0"/>
                  </a:spcBef>
                  <a:spcAft>
                    <a:spcPct val="0"/>
                  </a:spcAft>
                  <a:defRPr>
                    <a:latin typeface="Tahoma" pitchFamily="34" charset="0"/>
                    <a:ea typeface="黑体" pitchFamily="2" charset="-122"/>
                  </a:defRPr>
                </a:lvl6pPr>
                <a:lvl7pPr marL="2971800" indent="-228600" eaLnBrk="0" fontAlgn="base" hangingPunct="0">
                  <a:spcBef>
                    <a:spcPct val="0"/>
                  </a:spcBef>
                  <a:spcAft>
                    <a:spcPct val="0"/>
                  </a:spcAft>
                  <a:defRPr>
                    <a:latin typeface="Tahoma" pitchFamily="34" charset="0"/>
                    <a:ea typeface="黑体" pitchFamily="2" charset="-122"/>
                  </a:defRPr>
                </a:lvl7pPr>
                <a:lvl8pPr marL="3429000" indent="-228600" eaLnBrk="0" fontAlgn="base" hangingPunct="0">
                  <a:spcBef>
                    <a:spcPct val="0"/>
                  </a:spcBef>
                  <a:spcAft>
                    <a:spcPct val="0"/>
                  </a:spcAft>
                  <a:defRPr>
                    <a:latin typeface="Tahoma" pitchFamily="34" charset="0"/>
                    <a:ea typeface="黑体" pitchFamily="2" charset="-122"/>
                  </a:defRPr>
                </a:lvl8pPr>
                <a:lvl9pPr marL="3886200" indent="-228600" eaLnBrk="0" fontAlgn="base" hangingPunct="0">
                  <a:spcBef>
                    <a:spcPct val="0"/>
                  </a:spcBef>
                  <a:spcAft>
                    <a:spcPct val="0"/>
                  </a:spcAft>
                  <a:defRPr>
                    <a:latin typeface="Tahoma" pitchFamily="34" charset="0"/>
                    <a:ea typeface="黑体" pitchFamily="2" charset="-122"/>
                  </a:defRPr>
                </a:lvl9pPr>
              </a:lstStyle>
              <a:p>
                <a:r>
                  <a:rPr lang="en-US" altLang="zh-CN" dirty="0">
                    <a:latin typeface="微软雅黑 Light" panose="020B0502040204020203" pitchFamily="34" charset="-122"/>
                    <a:ea typeface="微软雅黑 Light" panose="020B0502040204020203" pitchFamily="34" charset="-122"/>
                  </a:rPr>
                  <a:t>GET page1.jpg</a:t>
                </a:r>
              </a:p>
            </p:txBody>
          </p:sp>
          <p:sp>
            <p:nvSpPr>
              <p:cNvPr id="35" name="Text Box 28"/>
              <p:cNvSpPr txBox="1">
                <a:spLocks noChangeArrowheads="1"/>
              </p:cNvSpPr>
              <p:nvPr/>
            </p:nvSpPr>
            <p:spPr bwMode="auto">
              <a:xfrm>
                <a:off x="5902121" y="3550702"/>
                <a:ext cx="1006070"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defRPr sz="1200" b="1">
                    <a:solidFill>
                      <a:srgbClr val="0000CC"/>
                    </a:solidFill>
                    <a:latin typeface="微软雅黑" panose="020B0503020204020204" pitchFamily="34" charset="-122"/>
                    <a:ea typeface="微软雅黑" panose="020B0503020204020204" pitchFamily="34" charset="-122"/>
                  </a:defRPr>
                </a:lvl1pPr>
                <a:lvl2pPr marL="742950" indent="-285750">
                  <a:defRPr>
                    <a:latin typeface="Tahoma" pitchFamily="34" charset="0"/>
                    <a:ea typeface="黑体" pitchFamily="2" charset="-122"/>
                  </a:defRPr>
                </a:lvl2pPr>
                <a:lvl3pPr marL="1143000" indent="-228600">
                  <a:defRPr>
                    <a:latin typeface="Tahoma" pitchFamily="34" charset="0"/>
                    <a:ea typeface="黑体" pitchFamily="2" charset="-122"/>
                  </a:defRPr>
                </a:lvl3pPr>
                <a:lvl4pPr marL="1600200" indent="-228600">
                  <a:defRPr>
                    <a:latin typeface="Tahoma" pitchFamily="34" charset="0"/>
                    <a:ea typeface="黑体" pitchFamily="2" charset="-122"/>
                  </a:defRPr>
                </a:lvl4pPr>
                <a:lvl5pPr marL="2057400" indent="-228600">
                  <a:defRPr>
                    <a:latin typeface="Tahoma" pitchFamily="34" charset="0"/>
                    <a:ea typeface="黑体" pitchFamily="2" charset="-122"/>
                  </a:defRPr>
                </a:lvl5pPr>
                <a:lvl6pPr marL="2514600" indent="-228600" eaLnBrk="0" fontAlgn="base" hangingPunct="0">
                  <a:spcBef>
                    <a:spcPct val="0"/>
                  </a:spcBef>
                  <a:spcAft>
                    <a:spcPct val="0"/>
                  </a:spcAft>
                  <a:defRPr>
                    <a:latin typeface="Tahoma" pitchFamily="34" charset="0"/>
                    <a:ea typeface="黑体" pitchFamily="2" charset="-122"/>
                  </a:defRPr>
                </a:lvl6pPr>
                <a:lvl7pPr marL="2971800" indent="-228600" eaLnBrk="0" fontAlgn="base" hangingPunct="0">
                  <a:spcBef>
                    <a:spcPct val="0"/>
                  </a:spcBef>
                  <a:spcAft>
                    <a:spcPct val="0"/>
                  </a:spcAft>
                  <a:defRPr>
                    <a:latin typeface="Tahoma" pitchFamily="34" charset="0"/>
                    <a:ea typeface="黑体" pitchFamily="2" charset="-122"/>
                  </a:defRPr>
                </a:lvl7pPr>
                <a:lvl8pPr marL="3429000" indent="-228600" eaLnBrk="0" fontAlgn="base" hangingPunct="0">
                  <a:spcBef>
                    <a:spcPct val="0"/>
                  </a:spcBef>
                  <a:spcAft>
                    <a:spcPct val="0"/>
                  </a:spcAft>
                  <a:defRPr>
                    <a:latin typeface="Tahoma" pitchFamily="34" charset="0"/>
                    <a:ea typeface="黑体" pitchFamily="2" charset="-122"/>
                  </a:defRPr>
                </a:lvl8pPr>
                <a:lvl9pPr marL="3886200" indent="-228600" eaLnBrk="0" fontAlgn="base" hangingPunct="0">
                  <a:spcBef>
                    <a:spcPct val="0"/>
                  </a:spcBef>
                  <a:spcAft>
                    <a:spcPct val="0"/>
                  </a:spcAft>
                  <a:defRPr>
                    <a:latin typeface="Tahoma" pitchFamily="34" charset="0"/>
                    <a:ea typeface="黑体" pitchFamily="2" charset="-122"/>
                  </a:defRPr>
                </a:lvl9pPr>
              </a:lstStyle>
              <a:p>
                <a:r>
                  <a:rPr lang="zh-CN" altLang="en-US" dirty="0">
                    <a:latin typeface="微软雅黑 Light" panose="020B0502040204020203" pitchFamily="34" charset="-122"/>
                    <a:ea typeface="微软雅黑 Light" panose="020B0502040204020203" pitchFamily="34" charset="-122"/>
                  </a:rPr>
                  <a:t>传输 </a:t>
                </a:r>
                <a:r>
                  <a:rPr lang="en-US" altLang="zh-CN" dirty="0">
                    <a:latin typeface="微软雅黑 Light" panose="020B0502040204020203" pitchFamily="34" charset="-122"/>
                    <a:ea typeface="微软雅黑 Light" panose="020B0502040204020203" pitchFamily="34" charset="-122"/>
                  </a:rPr>
                  <a:t>page1.jpg</a:t>
                </a:r>
              </a:p>
              <a:p>
                <a:r>
                  <a:rPr lang="zh-CN" altLang="en-US" dirty="0">
                    <a:latin typeface="微软雅黑 Light" panose="020B0502040204020203" pitchFamily="34" charset="-122"/>
                    <a:ea typeface="微软雅黑 Light" panose="020B0502040204020203" pitchFamily="34" charset="-122"/>
                  </a:rPr>
                  <a:t>的时间</a:t>
                </a:r>
              </a:p>
            </p:txBody>
          </p:sp>
          <p:sp>
            <p:nvSpPr>
              <p:cNvPr id="36" name="AutoShape 29"/>
              <p:cNvSpPr>
                <a:spLocks/>
              </p:cNvSpPr>
              <p:nvPr/>
            </p:nvSpPr>
            <p:spPr bwMode="auto">
              <a:xfrm>
                <a:off x="5875001" y="3735982"/>
                <a:ext cx="50005" cy="124604"/>
              </a:xfrm>
              <a:prstGeom prst="rightBrace">
                <a:avLst>
                  <a:gd name="adj1" fmla="val 20390"/>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1" name="Line 13"/>
              <p:cNvSpPr>
                <a:spLocks noChangeShapeType="1"/>
              </p:cNvSpPr>
              <p:nvPr/>
            </p:nvSpPr>
            <p:spPr bwMode="auto">
              <a:xfrm>
                <a:off x="4453578" y="2841002"/>
                <a:ext cx="261729" cy="108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2" name="AutoShape 15"/>
              <p:cNvSpPr>
                <a:spLocks/>
              </p:cNvSpPr>
              <p:nvPr/>
            </p:nvSpPr>
            <p:spPr bwMode="auto">
              <a:xfrm>
                <a:off x="4544013" y="2875659"/>
                <a:ext cx="86179" cy="548017"/>
              </a:xfrm>
              <a:prstGeom prst="leftBrace">
                <a:avLst>
                  <a:gd name="adj1" fmla="val 52058"/>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3" name="Text Box 16"/>
              <p:cNvSpPr txBox="1">
                <a:spLocks noChangeArrowheads="1"/>
              </p:cNvSpPr>
              <p:nvPr/>
            </p:nvSpPr>
            <p:spPr bwMode="auto">
              <a:xfrm>
                <a:off x="4115245" y="3014288"/>
                <a:ext cx="4523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200" b="1" dirty="0">
                    <a:latin typeface="微软雅黑 Light" panose="020B0502040204020203" pitchFamily="34" charset="-122"/>
                    <a:ea typeface="微软雅黑 Light" panose="020B0502040204020203" pitchFamily="34" charset="-122"/>
                  </a:rPr>
                  <a:t>RTT</a:t>
                </a:r>
              </a:p>
            </p:txBody>
          </p:sp>
          <p:sp>
            <p:nvSpPr>
              <p:cNvPr id="44" name="AutoShape 18"/>
              <p:cNvSpPr>
                <a:spLocks/>
              </p:cNvSpPr>
              <p:nvPr/>
            </p:nvSpPr>
            <p:spPr bwMode="auto">
              <a:xfrm>
                <a:off x="4548268" y="3444768"/>
                <a:ext cx="86179" cy="548017"/>
              </a:xfrm>
              <a:prstGeom prst="leftBrace">
                <a:avLst>
                  <a:gd name="adj1" fmla="val 52058"/>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5" name="Text Box 19"/>
              <p:cNvSpPr txBox="1">
                <a:spLocks noChangeArrowheads="1"/>
              </p:cNvSpPr>
              <p:nvPr/>
            </p:nvSpPr>
            <p:spPr bwMode="auto">
              <a:xfrm>
                <a:off x="4128013" y="3592061"/>
                <a:ext cx="4523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200" b="1" dirty="0">
                    <a:latin typeface="微软雅黑 Light" panose="020B0502040204020203" pitchFamily="34" charset="-122"/>
                    <a:ea typeface="微软雅黑 Light" panose="020B0502040204020203" pitchFamily="34" charset="-122"/>
                  </a:rPr>
                  <a:t>RTT</a:t>
                </a:r>
              </a:p>
            </p:txBody>
          </p:sp>
          <p:sp>
            <p:nvSpPr>
              <p:cNvPr id="47" name="Line 23"/>
              <p:cNvSpPr>
                <a:spLocks noChangeShapeType="1"/>
              </p:cNvSpPr>
              <p:nvPr/>
            </p:nvSpPr>
            <p:spPr bwMode="auto">
              <a:xfrm flipH="1">
                <a:off x="4480176" y="3443685"/>
                <a:ext cx="229811" cy="108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8" name="Text Box 21"/>
              <p:cNvSpPr txBox="1">
                <a:spLocks noChangeArrowheads="1"/>
              </p:cNvSpPr>
              <p:nvPr/>
            </p:nvSpPr>
            <p:spPr bwMode="auto">
              <a:xfrm>
                <a:off x="3751375" y="3935288"/>
                <a:ext cx="79370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defRPr sz="1200" b="1">
                    <a:solidFill>
                      <a:srgbClr val="0000CC"/>
                    </a:solidFill>
                    <a:latin typeface="微软雅黑" panose="020B0503020204020204" pitchFamily="34" charset="-122"/>
                    <a:ea typeface="微软雅黑" panose="020B0503020204020204" pitchFamily="34" charset="-122"/>
                  </a:defRPr>
                </a:lvl1pPr>
                <a:lvl2pPr marL="742950" indent="-285750">
                  <a:defRPr>
                    <a:latin typeface="Tahoma" pitchFamily="34" charset="0"/>
                    <a:ea typeface="黑体" pitchFamily="2" charset="-122"/>
                  </a:defRPr>
                </a:lvl2pPr>
                <a:lvl3pPr marL="1143000" indent="-228600">
                  <a:defRPr>
                    <a:latin typeface="Tahoma" pitchFamily="34" charset="0"/>
                    <a:ea typeface="黑体" pitchFamily="2" charset="-122"/>
                  </a:defRPr>
                </a:lvl3pPr>
                <a:lvl4pPr marL="1600200" indent="-228600">
                  <a:defRPr>
                    <a:latin typeface="Tahoma" pitchFamily="34" charset="0"/>
                    <a:ea typeface="黑体" pitchFamily="2" charset="-122"/>
                  </a:defRPr>
                </a:lvl4pPr>
                <a:lvl5pPr marL="2057400" indent="-228600">
                  <a:defRPr>
                    <a:latin typeface="Tahoma" pitchFamily="34" charset="0"/>
                    <a:ea typeface="黑体" pitchFamily="2" charset="-122"/>
                  </a:defRPr>
                </a:lvl5pPr>
                <a:lvl6pPr marL="2514600" indent="-228600" eaLnBrk="0" fontAlgn="base" hangingPunct="0">
                  <a:spcBef>
                    <a:spcPct val="0"/>
                  </a:spcBef>
                  <a:spcAft>
                    <a:spcPct val="0"/>
                  </a:spcAft>
                  <a:defRPr>
                    <a:latin typeface="Tahoma" pitchFamily="34" charset="0"/>
                    <a:ea typeface="黑体" pitchFamily="2" charset="-122"/>
                  </a:defRPr>
                </a:lvl6pPr>
                <a:lvl7pPr marL="2971800" indent="-228600" eaLnBrk="0" fontAlgn="base" hangingPunct="0">
                  <a:spcBef>
                    <a:spcPct val="0"/>
                  </a:spcBef>
                  <a:spcAft>
                    <a:spcPct val="0"/>
                  </a:spcAft>
                  <a:defRPr>
                    <a:latin typeface="Tahoma" pitchFamily="34" charset="0"/>
                    <a:ea typeface="黑体" pitchFamily="2" charset="-122"/>
                  </a:defRPr>
                </a:lvl7pPr>
                <a:lvl8pPr marL="3429000" indent="-228600" eaLnBrk="0" fontAlgn="base" hangingPunct="0">
                  <a:spcBef>
                    <a:spcPct val="0"/>
                  </a:spcBef>
                  <a:spcAft>
                    <a:spcPct val="0"/>
                  </a:spcAft>
                  <a:defRPr>
                    <a:latin typeface="Tahoma" pitchFamily="34" charset="0"/>
                    <a:ea typeface="黑体" pitchFamily="2" charset="-122"/>
                  </a:defRPr>
                </a:lvl8pPr>
                <a:lvl9pPr marL="3886200" indent="-228600" eaLnBrk="0" fontAlgn="base" hangingPunct="0">
                  <a:spcBef>
                    <a:spcPct val="0"/>
                  </a:spcBef>
                  <a:spcAft>
                    <a:spcPct val="0"/>
                  </a:spcAft>
                  <a:defRPr>
                    <a:latin typeface="Tahoma" pitchFamily="34" charset="0"/>
                    <a:ea typeface="黑体" pitchFamily="2" charset="-122"/>
                  </a:defRPr>
                </a:lvl9pPr>
              </a:lstStyle>
              <a:p>
                <a:r>
                  <a:rPr lang="zh-CN" altLang="en-US" dirty="0">
                    <a:latin typeface="微软雅黑 Light" panose="020B0502040204020203" pitchFamily="34" charset="-122"/>
                    <a:ea typeface="微软雅黑 Light" panose="020B0502040204020203" pitchFamily="34" charset="-122"/>
                  </a:rPr>
                  <a:t>收到文档</a:t>
                </a:r>
              </a:p>
            </p:txBody>
          </p:sp>
          <p:sp>
            <p:nvSpPr>
              <p:cNvPr id="49" name="Line 20"/>
              <p:cNvSpPr>
                <a:spLocks noChangeShapeType="1"/>
              </p:cNvSpPr>
              <p:nvPr/>
            </p:nvSpPr>
            <p:spPr bwMode="auto">
              <a:xfrm flipH="1">
                <a:off x="4494007" y="4100611"/>
                <a:ext cx="229811" cy="10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50" name="Text Box 14"/>
            <p:cNvSpPr txBox="1">
              <a:spLocks noChangeArrowheads="1"/>
            </p:cNvSpPr>
            <p:nvPr/>
          </p:nvSpPr>
          <p:spPr bwMode="auto">
            <a:xfrm>
              <a:off x="3360550" y="2749191"/>
              <a:ext cx="118847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b="1" dirty="0">
                  <a:solidFill>
                    <a:srgbClr val="0000CC"/>
                  </a:solidFill>
                  <a:latin typeface="微软雅黑 Light" panose="020B0502040204020203" pitchFamily="34" charset="-122"/>
                  <a:ea typeface="微软雅黑 Light" panose="020B0502040204020203" pitchFamily="34" charset="-122"/>
                </a:rPr>
                <a:t>发起 </a:t>
              </a:r>
              <a:r>
                <a:rPr lang="en-US" altLang="zh-CN" sz="1200" b="1" dirty="0">
                  <a:solidFill>
                    <a:srgbClr val="0000CC"/>
                  </a:solidFill>
                  <a:latin typeface="微软雅黑 Light" panose="020B0502040204020203" pitchFamily="34" charset="-122"/>
                  <a:ea typeface="微软雅黑 Light" panose="020B0502040204020203" pitchFamily="34" charset="-122"/>
                </a:rPr>
                <a:t>TCP </a:t>
              </a:r>
              <a:r>
                <a:rPr lang="zh-CN" altLang="en-US" sz="1200" b="1" dirty="0">
                  <a:solidFill>
                    <a:srgbClr val="0000CC"/>
                  </a:solidFill>
                  <a:latin typeface="微软雅黑 Light" panose="020B0502040204020203" pitchFamily="34" charset="-122"/>
                  <a:ea typeface="微软雅黑 Light" panose="020B0502040204020203" pitchFamily="34" charset="-122"/>
                </a:rPr>
                <a:t>连接</a:t>
              </a:r>
            </a:p>
          </p:txBody>
        </p:sp>
      </p:grpSp>
      <p:sp>
        <p:nvSpPr>
          <p:cNvPr id="54" name="Rectangle 6"/>
          <p:cNvSpPr>
            <a:spLocks noChangeArrowheads="1"/>
          </p:cNvSpPr>
          <p:nvPr/>
        </p:nvSpPr>
        <p:spPr bwMode="auto">
          <a:xfrm>
            <a:off x="5358745" y="1016583"/>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200" b="1" dirty="0">
                <a:latin typeface="微软雅黑 Light" panose="020B0502040204020203" pitchFamily="34" charset="-122"/>
                <a:ea typeface="微软雅黑 Light" panose="020B0502040204020203" pitchFamily="34" charset="-122"/>
              </a:rPr>
              <a:t>万维网服务器</a:t>
            </a:r>
          </a:p>
        </p:txBody>
      </p:sp>
      <p:sp>
        <p:nvSpPr>
          <p:cNvPr id="55" name="Rectangle 7"/>
          <p:cNvSpPr>
            <a:spLocks noChangeArrowheads="1"/>
          </p:cNvSpPr>
          <p:nvPr/>
        </p:nvSpPr>
        <p:spPr bwMode="auto">
          <a:xfrm>
            <a:off x="4239214" y="1016583"/>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200" b="1" dirty="0">
                <a:latin typeface="微软雅黑 Light" panose="020B0502040204020203" pitchFamily="34" charset="-122"/>
                <a:ea typeface="微软雅黑 Light" panose="020B0502040204020203" pitchFamily="34" charset="-122"/>
              </a:rPr>
              <a:t>万维网客户</a:t>
            </a:r>
          </a:p>
        </p:txBody>
      </p:sp>
      <p:sp>
        <p:nvSpPr>
          <p:cNvPr id="56" name="矩形 55"/>
          <p:cNvSpPr/>
          <p:nvPr/>
        </p:nvSpPr>
        <p:spPr>
          <a:xfrm>
            <a:off x="6828676" y="3251849"/>
            <a:ext cx="2105638" cy="861774"/>
          </a:xfrm>
          <a:prstGeom prst="rect">
            <a:avLst/>
          </a:prstGeom>
          <a:solidFill>
            <a:srgbClr val="FFFF99"/>
          </a:solidFill>
        </p:spPr>
        <p:txBody>
          <a:bodyPr wrap="square">
            <a:spAutoFit/>
          </a:bodyPr>
          <a:lstStyle/>
          <a:p>
            <a:pPr>
              <a:lnSpc>
                <a:spcPts val="2000"/>
              </a:lnSpc>
            </a:pPr>
            <a:r>
              <a:rPr lang="zh-CN" altLang="en-US" sz="1400" b="1" dirty="0">
                <a:latin typeface="微软雅黑 Light" panose="020B0502040204020203" pitchFamily="34" charset="-122"/>
                <a:ea typeface="微软雅黑 Light" panose="020B0502040204020203" pitchFamily="34" charset="-122"/>
              </a:rPr>
              <a:t>所需的时间 </a:t>
            </a:r>
            <a:r>
              <a:rPr lang="en-US" altLang="zh-CN" sz="1400" b="1" dirty="0">
                <a:latin typeface="微软雅黑 Light" panose="020B0502040204020203" pitchFamily="34" charset="-122"/>
                <a:ea typeface="微软雅黑 Light" panose="020B0502040204020203" pitchFamily="34" charset="-122"/>
              </a:rPr>
              <a:t>&gt;= </a:t>
            </a:r>
          </a:p>
          <a:p>
            <a:pPr>
              <a:lnSpc>
                <a:spcPts val="2000"/>
              </a:lnSpc>
            </a:pPr>
            <a:r>
              <a:rPr lang="en-US" altLang="zh-CN" sz="1400" b="1" dirty="0">
                <a:latin typeface="微软雅黑 Light" panose="020B0502040204020203" pitchFamily="34" charset="-122"/>
                <a:ea typeface="微软雅黑 Light" panose="020B0502040204020203" pitchFamily="34" charset="-122"/>
              </a:rPr>
              <a:t>   22 RTT </a:t>
            </a:r>
          </a:p>
          <a:p>
            <a:pPr>
              <a:lnSpc>
                <a:spcPts val="2000"/>
              </a:lnSpc>
            </a:pPr>
            <a:r>
              <a:rPr lang="en-US" altLang="zh-CN" sz="1400" b="1" dirty="0">
                <a:latin typeface="微软雅黑 Light" panose="020B0502040204020203" pitchFamily="34" charset="-122"/>
                <a:ea typeface="微软雅黑 Light" panose="020B0502040204020203" pitchFamily="34" charset="-122"/>
              </a:rPr>
              <a:t>+ 11 </a:t>
            </a:r>
            <a:r>
              <a:rPr lang="zh-CN" altLang="en-US" sz="1400" b="1" dirty="0">
                <a:latin typeface="微软雅黑 Light" panose="020B0502040204020203" pitchFamily="34" charset="-122"/>
                <a:ea typeface="微软雅黑 Light" panose="020B0502040204020203" pitchFamily="34" charset="-122"/>
              </a:rPr>
              <a:t>个文档的传输时间</a:t>
            </a:r>
            <a:endParaRPr lang="zh-CN" altLang="en-US" sz="1400" dirty="0">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7A9B9703-543A-28AA-0F8B-B4A113C7F405}"/>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HTTP/1.0</a:t>
            </a:r>
            <a:endParaRPr lang="zh-CN" altLang="en-US" dirty="0"/>
          </a:p>
        </p:txBody>
      </p:sp>
      <p:sp>
        <p:nvSpPr>
          <p:cNvPr id="12" name="内容占位符 11">
            <a:extLst>
              <a:ext uri="{FF2B5EF4-FFF2-40B4-BE49-F238E27FC236}">
                <a16:creationId xmlns:a16="http://schemas.microsoft.com/office/drawing/2014/main" id="{E1305090-EE3A-7529-0132-FFFCBC11CDA4}"/>
              </a:ext>
            </a:extLst>
          </p:cNvPr>
          <p:cNvSpPr>
            <a:spLocks noGrp="1"/>
          </p:cNvSpPr>
          <p:nvPr>
            <p:ph sz="quarter" idx="11"/>
          </p:nvPr>
        </p:nvSpPr>
        <p:spPr>
          <a:xfrm>
            <a:off x="486000" y="687518"/>
            <a:ext cx="8172000" cy="4079035"/>
          </a:xfrm>
        </p:spPr>
        <p:txBody>
          <a:bodyPr/>
          <a:lstStyle/>
          <a:p>
            <a:r>
              <a:rPr lang="zh-CN" altLang="en-US" dirty="0"/>
              <a:t>主要缺点</a:t>
            </a:r>
            <a:endParaRPr lang="en-US" altLang="zh-CN" dirty="0"/>
          </a:p>
          <a:p>
            <a:pPr lvl="1"/>
            <a:r>
              <a:rPr lang="zh-CN" altLang="en-US" dirty="0"/>
              <a:t>每请求一个文档就要有两倍 </a:t>
            </a:r>
            <a:r>
              <a:rPr lang="en-US" altLang="zh-CN" dirty="0"/>
              <a:t>RTT </a:t>
            </a:r>
            <a:r>
              <a:rPr lang="zh-CN" altLang="en-US" dirty="0"/>
              <a:t>的开销。</a:t>
            </a:r>
            <a:endParaRPr lang="en-US" altLang="zh-CN" dirty="0"/>
          </a:p>
          <a:p>
            <a:pPr lvl="1"/>
            <a:r>
              <a:rPr lang="zh-CN" altLang="en-US" dirty="0"/>
              <a:t>客户和服务器每一次建立新的 </a:t>
            </a:r>
            <a:r>
              <a:rPr lang="en-US" altLang="zh-CN" dirty="0"/>
              <a:t>TCP </a:t>
            </a:r>
            <a:r>
              <a:rPr lang="zh-CN" altLang="en-US" dirty="0"/>
              <a:t>连接都要分配缓存和变量。</a:t>
            </a:r>
            <a:endParaRPr lang="en-US" altLang="zh-CN" dirty="0"/>
          </a:p>
          <a:p>
            <a:pPr lvl="1"/>
            <a:r>
              <a:rPr lang="zh-CN" altLang="en-US" dirty="0"/>
              <a:t>这种非持续连接使服务器的负担很重。</a:t>
            </a:r>
            <a:endParaRPr lang="en-US" altLang="zh-CN" dirty="0"/>
          </a:p>
          <a:p>
            <a:endParaRPr lang="zh-CN" altLang="en-US" dirty="0"/>
          </a:p>
        </p:txBody>
      </p:sp>
    </p:spTree>
    <p:extLst>
      <p:ext uri="{BB962C8B-B14F-4D97-AF65-F5344CB8AC3E}">
        <p14:creationId xmlns:p14="http://schemas.microsoft.com/office/powerpoint/2010/main" val="17148635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2"/>
                                        </p:tgtEl>
                                        <p:attrNameLst>
                                          <p:attrName>style.visibility</p:attrName>
                                        </p:attrNameLst>
                                      </p:cBhvr>
                                      <p:to>
                                        <p:strVal val="visible"/>
                                      </p:to>
                                    </p:set>
                                    <p:animEffect transition="in" filter="wipe(up)">
                                      <p:cBhvr>
                                        <p:cTn id="7" dur="1000"/>
                                        <p:tgtEl>
                                          <p:spTgt spid="52"/>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1"/>
                                        </p:tgtEl>
                                        <p:attrNameLst>
                                          <p:attrName>style.visibility</p:attrName>
                                        </p:attrNameLst>
                                      </p:cBhvr>
                                      <p:to>
                                        <p:strVal val="visible"/>
                                      </p:to>
                                    </p:set>
                                    <p:animEffect transition="in" filter="wipe(up)">
                                      <p:cBhvr>
                                        <p:cTn id="12" dur="1000"/>
                                        <p:tgtEl>
                                          <p:spTgt spid="51"/>
                                        </p:tgtEl>
                                      </p:cBhvr>
                                    </p:animEffect>
                                  </p:childTnLst>
                                </p:cTn>
                              </p:par>
                            </p:childTnLst>
                          </p:cTn>
                        </p:par>
                        <p:par>
                          <p:cTn id="13" fill="hold">
                            <p:stCondLst>
                              <p:cond delay="1000"/>
                            </p:stCondLst>
                            <p:childTnLst>
                              <p:par>
                                <p:cTn id="14" presetID="22" presetClass="entr" presetSubtype="1" fill="hold" nodeType="afterEffect">
                                  <p:stCondLst>
                                    <p:cond delay="0"/>
                                  </p:stCondLst>
                                  <p:childTnLst>
                                    <p:set>
                                      <p:cBhvr>
                                        <p:cTn id="15" dur="1" fill="hold">
                                          <p:stCondLst>
                                            <p:cond delay="0"/>
                                          </p:stCondLst>
                                        </p:cTn>
                                        <p:tgtEl>
                                          <p:spTgt spid="53"/>
                                        </p:tgtEl>
                                        <p:attrNameLst>
                                          <p:attrName>style.visibility</p:attrName>
                                        </p:attrNameLst>
                                      </p:cBhvr>
                                      <p:to>
                                        <p:strVal val="visible"/>
                                      </p:to>
                                    </p:set>
                                    <p:animEffect transition="in" filter="wipe(up)">
                                      <p:cBhvr>
                                        <p:cTn id="16" dur="1000"/>
                                        <p:tgtEl>
                                          <p:spTgt spid="53"/>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56"/>
                                        </p:tgtEl>
                                        <p:attrNameLst>
                                          <p:attrName>style.visibility</p:attrName>
                                        </p:attrNameLst>
                                      </p:cBhvr>
                                      <p:to>
                                        <p:strVal val="visible"/>
                                      </p:to>
                                    </p:set>
                                    <p:animEffect transition="in" filter="fade">
                                      <p:cBhvr>
                                        <p:cTn id="21" dur="10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6" grpId="0" animBg="1"/>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BA74FCE-39F3-810E-88A4-6916350D7240}"/>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HTTP/1.1</a:t>
            </a:r>
            <a:endParaRPr lang="zh-CN" altLang="en-US" dirty="0"/>
          </a:p>
        </p:txBody>
      </p:sp>
      <p:sp>
        <p:nvSpPr>
          <p:cNvPr id="3" name="内容占位符 2">
            <a:extLst>
              <a:ext uri="{FF2B5EF4-FFF2-40B4-BE49-F238E27FC236}">
                <a16:creationId xmlns:a16="http://schemas.microsoft.com/office/drawing/2014/main" id="{0B4F6A22-2A2C-99E7-96B6-2A5B2ED43BF8}"/>
              </a:ext>
            </a:extLst>
          </p:cNvPr>
          <p:cNvSpPr>
            <a:spLocks noGrp="1"/>
          </p:cNvSpPr>
          <p:nvPr>
            <p:ph sz="quarter" idx="11"/>
          </p:nvPr>
        </p:nvSpPr>
        <p:spPr>
          <a:xfrm>
            <a:off x="486000" y="687518"/>
            <a:ext cx="8172000" cy="4079035"/>
          </a:xfrm>
        </p:spPr>
        <p:txBody>
          <a:bodyPr/>
          <a:lstStyle/>
          <a:p>
            <a:r>
              <a:rPr lang="zh-CN" altLang="en-US" dirty="0"/>
              <a:t>使用持续连接</a:t>
            </a:r>
            <a:r>
              <a:rPr lang="en-US" altLang="zh-CN" dirty="0"/>
              <a:t> - persistent connection</a:t>
            </a:r>
          </a:p>
          <a:p>
            <a:pPr lvl="1"/>
            <a:r>
              <a:rPr lang="zh-CN" altLang="en-US" dirty="0"/>
              <a:t>服务器在发送响应后仍然在一段时间内保持这条连接（不释放），使同一个客户（浏览器）和该服务器可以继续在这条连接上传送后续的 </a:t>
            </a:r>
            <a:r>
              <a:rPr lang="en-US" altLang="zh-CN" dirty="0"/>
              <a:t>HTTP </a:t>
            </a:r>
            <a:r>
              <a:rPr lang="zh-CN" altLang="en-US" dirty="0"/>
              <a:t>请求报文和响应报文</a:t>
            </a:r>
            <a:endParaRPr lang="en-US" altLang="zh-CN" dirty="0"/>
          </a:p>
          <a:p>
            <a:pPr lvl="1"/>
            <a:r>
              <a:rPr lang="zh-CN" altLang="en-US" dirty="0"/>
              <a:t>只要文档都在同一个服务器上，就可以继续使用该 </a:t>
            </a:r>
            <a:r>
              <a:rPr lang="en-US" altLang="zh-CN" dirty="0"/>
              <a:t>TCP </a:t>
            </a:r>
            <a:r>
              <a:rPr lang="zh-CN" altLang="en-US" dirty="0"/>
              <a:t>连接</a:t>
            </a:r>
            <a:endParaRPr lang="en-US" altLang="zh-CN" dirty="0"/>
          </a:p>
          <a:p>
            <a:r>
              <a:rPr lang="zh-CN" altLang="en-US" dirty="0"/>
              <a:t>两种工作方式：</a:t>
            </a:r>
            <a:endParaRPr lang="en-US" altLang="zh-CN" dirty="0"/>
          </a:p>
          <a:p>
            <a:pPr lvl="1"/>
            <a:r>
              <a:rPr lang="zh-CN" altLang="en-US" dirty="0"/>
              <a:t>非流水线方式 </a:t>
            </a:r>
            <a:r>
              <a:rPr lang="en-US" altLang="zh-CN" dirty="0"/>
              <a:t>- without pipelining</a:t>
            </a:r>
          </a:p>
          <a:p>
            <a:pPr lvl="1"/>
            <a:r>
              <a:rPr lang="zh-CN" altLang="en-US" dirty="0"/>
              <a:t>流水线方式 </a:t>
            </a:r>
            <a:r>
              <a:rPr lang="en-US" altLang="zh-CN" dirty="0"/>
              <a:t>- with pipelining</a:t>
            </a:r>
            <a:endParaRPr lang="zh-CN" altLang="en-US" dirty="0"/>
          </a:p>
          <a:p>
            <a:endParaRPr lang="zh-CN" altLang="en-US" dirty="0"/>
          </a:p>
        </p:txBody>
      </p:sp>
    </p:spTree>
    <p:extLst>
      <p:ext uri="{BB962C8B-B14F-4D97-AF65-F5344CB8AC3E}">
        <p14:creationId xmlns:p14="http://schemas.microsoft.com/office/powerpoint/2010/main" val="29335223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Line 2"/>
          <p:cNvSpPr>
            <a:spLocks noChangeShapeType="1"/>
          </p:cNvSpPr>
          <p:nvPr/>
        </p:nvSpPr>
        <p:spPr bwMode="auto">
          <a:xfrm>
            <a:off x="4992706" y="1250946"/>
            <a:ext cx="0" cy="3275515"/>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 name="Line 3"/>
          <p:cNvSpPr>
            <a:spLocks noChangeShapeType="1"/>
          </p:cNvSpPr>
          <p:nvPr/>
        </p:nvSpPr>
        <p:spPr bwMode="auto">
          <a:xfrm>
            <a:off x="6545422" y="1240063"/>
            <a:ext cx="0" cy="3275515"/>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0" name="Rectangle 6"/>
          <p:cNvSpPr>
            <a:spLocks noChangeArrowheads="1"/>
          </p:cNvSpPr>
          <p:nvPr/>
        </p:nvSpPr>
        <p:spPr bwMode="auto">
          <a:xfrm>
            <a:off x="5977236" y="953840"/>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200" b="1" dirty="0">
                <a:latin typeface="微软雅黑 Light" panose="020B0502040204020203" pitchFamily="34" charset="-122"/>
                <a:ea typeface="微软雅黑 Light" panose="020B0502040204020203" pitchFamily="34" charset="-122"/>
              </a:rPr>
              <a:t>万维网服务器</a:t>
            </a:r>
          </a:p>
        </p:txBody>
      </p:sp>
      <p:sp>
        <p:nvSpPr>
          <p:cNvPr id="41" name="Rectangle 7"/>
          <p:cNvSpPr>
            <a:spLocks noChangeArrowheads="1"/>
          </p:cNvSpPr>
          <p:nvPr/>
        </p:nvSpPr>
        <p:spPr bwMode="auto">
          <a:xfrm>
            <a:off x="4502586" y="953840"/>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200" b="1" dirty="0">
                <a:latin typeface="微软雅黑 Light" panose="020B0502040204020203" pitchFamily="34" charset="-122"/>
                <a:ea typeface="微软雅黑 Light" panose="020B0502040204020203" pitchFamily="34" charset="-122"/>
              </a:rPr>
              <a:t>万维网客户</a:t>
            </a:r>
          </a:p>
        </p:txBody>
      </p:sp>
      <p:grpSp>
        <p:nvGrpSpPr>
          <p:cNvPr id="54" name="组合 53"/>
          <p:cNvGrpSpPr/>
          <p:nvPr/>
        </p:nvGrpSpPr>
        <p:grpSpPr>
          <a:xfrm>
            <a:off x="3775648" y="1248914"/>
            <a:ext cx="2769774" cy="861437"/>
            <a:chOff x="3775648" y="1248914"/>
            <a:chExt cx="2769774" cy="861437"/>
          </a:xfrm>
        </p:grpSpPr>
        <p:grpSp>
          <p:nvGrpSpPr>
            <p:cNvPr id="49" name="组合 48"/>
            <p:cNvGrpSpPr/>
            <p:nvPr/>
          </p:nvGrpSpPr>
          <p:grpSpPr>
            <a:xfrm>
              <a:off x="5016247" y="1762124"/>
              <a:ext cx="1503604" cy="348227"/>
              <a:chOff x="5442383" y="1762124"/>
              <a:chExt cx="1503604" cy="348227"/>
            </a:xfrm>
          </p:grpSpPr>
          <p:sp>
            <p:nvSpPr>
              <p:cNvPr id="26" name="Rectangle 21"/>
              <p:cNvSpPr>
                <a:spLocks noChangeArrowheads="1"/>
              </p:cNvSpPr>
              <p:nvPr/>
            </p:nvSpPr>
            <p:spPr bwMode="auto">
              <a:xfrm rot="21230751">
                <a:off x="5442383" y="1762124"/>
                <a:ext cx="1503604" cy="348227"/>
              </a:xfrm>
              <a:prstGeom prst="rect">
                <a:avLst/>
              </a:prstGeom>
              <a:solidFill>
                <a:srgbClr val="009900"/>
              </a:solidFill>
              <a:ln w="9525">
                <a:noFill/>
                <a:miter lim="800000"/>
                <a:headEnd/>
                <a:tailEnd/>
              </a:ln>
              <a:effectLst/>
            </p:spPr>
            <p:txBody>
              <a:bodyPr wrap="none" anchor="ctr"/>
              <a:lstStyle/>
              <a:p>
                <a:pPr algn="ctr"/>
                <a:endParaRPr lang="en-CA" altLang="zh-CN" sz="1400" b="1" dirty="0">
                  <a:latin typeface="微软雅黑 Light" panose="020B0502040204020203" pitchFamily="34" charset="-122"/>
                  <a:ea typeface="微软雅黑 Light" panose="020B0502040204020203" pitchFamily="34" charset="-122"/>
                </a:endParaRPr>
              </a:p>
            </p:txBody>
          </p:sp>
          <p:sp>
            <p:nvSpPr>
              <p:cNvPr id="28" name="Text Box 23"/>
              <p:cNvSpPr txBox="1">
                <a:spLocks noChangeArrowheads="1"/>
              </p:cNvSpPr>
              <p:nvPr/>
            </p:nvSpPr>
            <p:spPr bwMode="auto">
              <a:xfrm>
                <a:off x="5552340" y="1785702"/>
                <a:ext cx="127114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400" b="1" dirty="0">
                    <a:solidFill>
                      <a:schemeClr val="bg1"/>
                    </a:solidFill>
                    <a:latin typeface="微软雅黑 Light" panose="020B0502040204020203" pitchFamily="34" charset="-122"/>
                    <a:ea typeface="微软雅黑 Light" panose="020B0502040204020203" pitchFamily="34" charset="-122"/>
                  </a:rPr>
                  <a:t>page.html</a:t>
                </a:r>
                <a:endParaRPr lang="en-CA" altLang="zh-CN" sz="1400" b="1" dirty="0">
                  <a:solidFill>
                    <a:schemeClr val="bg1"/>
                  </a:solidFill>
                  <a:latin typeface="微软雅黑 Light" panose="020B0502040204020203" pitchFamily="34" charset="-122"/>
                  <a:ea typeface="微软雅黑 Light" panose="020B0502040204020203" pitchFamily="34" charset="-122"/>
                </a:endParaRPr>
              </a:p>
            </p:txBody>
          </p:sp>
        </p:grpSp>
        <p:grpSp>
          <p:nvGrpSpPr>
            <p:cNvPr id="4" name="组合 3"/>
            <p:cNvGrpSpPr/>
            <p:nvPr/>
          </p:nvGrpSpPr>
          <p:grpSpPr>
            <a:xfrm>
              <a:off x="3775648" y="1248914"/>
              <a:ext cx="2769774" cy="414600"/>
              <a:chOff x="4201784" y="1248914"/>
              <a:chExt cx="2769774" cy="414600"/>
            </a:xfrm>
          </p:grpSpPr>
          <p:sp>
            <p:nvSpPr>
              <p:cNvPr id="23" name="Line 18"/>
              <p:cNvSpPr>
                <a:spLocks noChangeShapeType="1"/>
              </p:cNvSpPr>
              <p:nvPr/>
            </p:nvSpPr>
            <p:spPr bwMode="auto">
              <a:xfrm>
                <a:off x="5411697" y="1371510"/>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4" name="Line 19"/>
              <p:cNvSpPr>
                <a:spLocks noChangeShapeType="1"/>
              </p:cNvSpPr>
              <p:nvPr/>
            </p:nvSpPr>
            <p:spPr bwMode="auto">
              <a:xfrm flipH="1">
                <a:off x="5427040" y="1491214"/>
                <a:ext cx="1488261" cy="43528"/>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5" name="Line 20"/>
              <p:cNvSpPr>
                <a:spLocks noChangeShapeType="1"/>
              </p:cNvSpPr>
              <p:nvPr/>
            </p:nvSpPr>
            <p:spPr bwMode="auto">
              <a:xfrm>
                <a:off x="5437268" y="1576457"/>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2" name="Text Box 14"/>
              <p:cNvSpPr txBox="1">
                <a:spLocks noChangeArrowheads="1"/>
              </p:cNvSpPr>
              <p:nvPr/>
            </p:nvSpPr>
            <p:spPr bwMode="auto">
              <a:xfrm>
                <a:off x="4201784" y="1248914"/>
                <a:ext cx="1252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b="1" dirty="0">
                    <a:solidFill>
                      <a:srgbClr val="0000CC"/>
                    </a:solidFill>
                    <a:latin typeface="微软雅黑 Light" panose="020B0502040204020203" pitchFamily="34" charset="-122"/>
                    <a:ea typeface="微软雅黑 Light" panose="020B0502040204020203" pitchFamily="34" charset="-122"/>
                  </a:rPr>
                  <a:t>发起 </a:t>
                </a:r>
                <a:r>
                  <a:rPr lang="en-US" altLang="zh-CN" sz="1200" b="1" dirty="0">
                    <a:solidFill>
                      <a:srgbClr val="0000CC"/>
                    </a:solidFill>
                    <a:latin typeface="微软雅黑 Light" panose="020B0502040204020203" pitchFamily="34" charset="-122"/>
                    <a:ea typeface="微软雅黑 Light" panose="020B0502040204020203" pitchFamily="34" charset="-122"/>
                  </a:rPr>
                  <a:t>TCP </a:t>
                </a:r>
                <a:r>
                  <a:rPr lang="zh-CN" altLang="en-US" sz="1200" b="1" dirty="0">
                    <a:solidFill>
                      <a:srgbClr val="0000CC"/>
                    </a:solidFill>
                    <a:latin typeface="微软雅黑 Light" panose="020B0502040204020203" pitchFamily="34" charset="-122"/>
                    <a:ea typeface="微软雅黑 Light" panose="020B0502040204020203" pitchFamily="34" charset="-122"/>
                  </a:rPr>
                  <a:t>连接</a:t>
                </a:r>
              </a:p>
            </p:txBody>
          </p:sp>
        </p:grpSp>
      </p:grpSp>
      <p:grpSp>
        <p:nvGrpSpPr>
          <p:cNvPr id="44" name="组合 43"/>
          <p:cNvGrpSpPr/>
          <p:nvPr/>
        </p:nvGrpSpPr>
        <p:grpSpPr>
          <a:xfrm>
            <a:off x="5700971" y="3609231"/>
            <a:ext cx="68093" cy="273778"/>
            <a:chOff x="5253660" y="4257392"/>
            <a:chExt cx="68093" cy="273778"/>
          </a:xfrm>
        </p:grpSpPr>
        <p:sp>
          <p:nvSpPr>
            <p:cNvPr id="45" name="Oval 30"/>
            <p:cNvSpPr>
              <a:spLocks noChangeArrowheads="1"/>
            </p:cNvSpPr>
            <p:nvPr/>
          </p:nvSpPr>
          <p:spPr bwMode="auto">
            <a:xfrm>
              <a:off x="5262172" y="4257392"/>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6" name="Oval 31"/>
            <p:cNvSpPr>
              <a:spLocks noChangeArrowheads="1"/>
            </p:cNvSpPr>
            <p:nvPr/>
          </p:nvSpPr>
          <p:spPr bwMode="auto">
            <a:xfrm>
              <a:off x="5257916" y="4364484"/>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7" name="Oval 32"/>
            <p:cNvSpPr>
              <a:spLocks noChangeArrowheads="1"/>
            </p:cNvSpPr>
            <p:nvPr/>
          </p:nvSpPr>
          <p:spPr bwMode="auto">
            <a:xfrm>
              <a:off x="5253660" y="4470493"/>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grpSp>
      <p:grpSp>
        <p:nvGrpSpPr>
          <p:cNvPr id="52" name="组合 51"/>
          <p:cNvGrpSpPr/>
          <p:nvPr/>
        </p:nvGrpSpPr>
        <p:grpSpPr>
          <a:xfrm>
            <a:off x="3770718" y="4067972"/>
            <a:ext cx="2743829" cy="389521"/>
            <a:chOff x="4196854" y="4067972"/>
            <a:chExt cx="2743829" cy="389521"/>
          </a:xfrm>
        </p:grpSpPr>
        <p:grpSp>
          <p:nvGrpSpPr>
            <p:cNvPr id="3" name="组合 2"/>
            <p:cNvGrpSpPr/>
            <p:nvPr/>
          </p:nvGrpSpPr>
          <p:grpSpPr>
            <a:xfrm>
              <a:off x="5429646" y="4067972"/>
              <a:ext cx="1511037" cy="272914"/>
              <a:chOff x="5474036" y="4254409"/>
              <a:chExt cx="1511037" cy="272914"/>
            </a:xfrm>
          </p:grpSpPr>
          <p:sp>
            <p:nvSpPr>
              <p:cNvPr id="13" name="Line 8"/>
              <p:cNvSpPr>
                <a:spLocks noChangeShapeType="1"/>
              </p:cNvSpPr>
              <p:nvPr/>
            </p:nvSpPr>
            <p:spPr bwMode="auto">
              <a:xfrm flipH="1">
                <a:off x="5480596" y="4254409"/>
                <a:ext cx="1497522" cy="43528"/>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9"/>
              <p:cNvSpPr>
                <a:spLocks noChangeShapeType="1"/>
              </p:cNvSpPr>
              <p:nvPr/>
            </p:nvSpPr>
            <p:spPr bwMode="auto">
              <a:xfrm>
                <a:off x="5496035" y="4330583"/>
                <a:ext cx="1489038" cy="108822"/>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0"/>
              <p:cNvSpPr>
                <a:spLocks noChangeShapeType="1"/>
              </p:cNvSpPr>
              <p:nvPr/>
            </p:nvSpPr>
            <p:spPr bwMode="auto">
              <a:xfrm flipH="1">
                <a:off x="5474036" y="4483795"/>
                <a:ext cx="1497522" cy="43528"/>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48" name="Text Box 14"/>
            <p:cNvSpPr txBox="1">
              <a:spLocks noChangeArrowheads="1"/>
            </p:cNvSpPr>
            <p:nvPr/>
          </p:nvSpPr>
          <p:spPr bwMode="auto">
            <a:xfrm>
              <a:off x="4196854" y="4180494"/>
              <a:ext cx="1252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b="1" dirty="0">
                  <a:solidFill>
                    <a:srgbClr val="0000CC"/>
                  </a:solidFill>
                  <a:latin typeface="微软雅黑 Light" panose="020B0502040204020203" pitchFamily="34" charset="-122"/>
                  <a:ea typeface="微软雅黑 Light" panose="020B0502040204020203" pitchFamily="34" charset="-122"/>
                </a:rPr>
                <a:t>释放 </a:t>
              </a:r>
              <a:r>
                <a:rPr lang="en-US" altLang="zh-CN" sz="1200" b="1" dirty="0">
                  <a:solidFill>
                    <a:srgbClr val="0000CC"/>
                  </a:solidFill>
                  <a:latin typeface="微软雅黑 Light" panose="020B0502040204020203" pitchFamily="34" charset="-122"/>
                  <a:ea typeface="微软雅黑 Light" panose="020B0502040204020203" pitchFamily="34" charset="-122"/>
                </a:rPr>
                <a:t>TCP </a:t>
              </a:r>
              <a:r>
                <a:rPr lang="zh-CN" altLang="en-US" sz="1200" b="1" dirty="0">
                  <a:solidFill>
                    <a:srgbClr val="0000CC"/>
                  </a:solidFill>
                  <a:latin typeface="微软雅黑 Light" panose="020B0502040204020203" pitchFamily="34" charset="-122"/>
                  <a:ea typeface="微软雅黑 Light" panose="020B0502040204020203" pitchFamily="34" charset="-122"/>
                </a:rPr>
                <a:t>连接</a:t>
              </a:r>
            </a:p>
          </p:txBody>
        </p:sp>
      </p:grpSp>
      <p:sp>
        <p:nvSpPr>
          <p:cNvPr id="53" name="矩形 52"/>
          <p:cNvSpPr/>
          <p:nvPr/>
        </p:nvSpPr>
        <p:spPr>
          <a:xfrm>
            <a:off x="6661084" y="1881928"/>
            <a:ext cx="2105638" cy="1631216"/>
          </a:xfrm>
          <a:prstGeom prst="rect">
            <a:avLst/>
          </a:prstGeom>
          <a:solidFill>
            <a:srgbClr val="FFFF99"/>
          </a:solidFill>
        </p:spPr>
        <p:txBody>
          <a:bodyPr wrap="square">
            <a:spAutoFit/>
          </a:bodyPr>
          <a:lstStyle/>
          <a:p>
            <a:pPr>
              <a:lnSpc>
                <a:spcPts val="2000"/>
              </a:lnSpc>
            </a:pPr>
            <a:r>
              <a:rPr lang="zh-CN" altLang="en-US" sz="1400" b="1" dirty="0">
                <a:latin typeface="微软雅黑 Light" panose="020B0502040204020203" pitchFamily="34" charset="-122"/>
                <a:ea typeface="微软雅黑 Light" panose="020B0502040204020203" pitchFamily="34" charset="-122"/>
              </a:rPr>
              <a:t>所需的时间 </a:t>
            </a:r>
            <a:r>
              <a:rPr lang="en-US" altLang="zh-CN" sz="1400" b="1" dirty="0">
                <a:latin typeface="微软雅黑 Light" panose="020B0502040204020203" pitchFamily="34" charset="-122"/>
                <a:ea typeface="微软雅黑 Light" panose="020B0502040204020203" pitchFamily="34" charset="-122"/>
              </a:rPr>
              <a:t>&gt;= </a:t>
            </a:r>
          </a:p>
          <a:p>
            <a:pPr>
              <a:lnSpc>
                <a:spcPts val="2000"/>
              </a:lnSpc>
            </a:pPr>
            <a:r>
              <a:rPr lang="en-US" altLang="zh-CN" sz="1400" b="1" dirty="0">
                <a:latin typeface="微软雅黑 Light" panose="020B0502040204020203" pitchFamily="34" charset="-122"/>
                <a:ea typeface="微软雅黑 Light" panose="020B0502040204020203" pitchFamily="34" charset="-122"/>
              </a:rPr>
              <a:t>   2 RTT </a:t>
            </a:r>
          </a:p>
          <a:p>
            <a:pPr>
              <a:lnSpc>
                <a:spcPts val="2000"/>
              </a:lnSpc>
            </a:pPr>
            <a:r>
              <a:rPr lang="en-US" altLang="zh-CN" sz="1400" b="1" dirty="0">
                <a:latin typeface="微软雅黑 Light" panose="020B0502040204020203" pitchFamily="34" charset="-122"/>
                <a:ea typeface="微软雅黑 Light" panose="020B0502040204020203" pitchFamily="34" charset="-122"/>
              </a:rPr>
              <a:t>+ page.html </a:t>
            </a:r>
            <a:r>
              <a:rPr lang="zh-CN" altLang="en-US" sz="1400" b="1" dirty="0">
                <a:latin typeface="微软雅黑 Light" panose="020B0502040204020203" pitchFamily="34" charset="-122"/>
                <a:ea typeface="微软雅黑 Light" panose="020B0502040204020203" pitchFamily="34" charset="-122"/>
              </a:rPr>
              <a:t>传输时间</a:t>
            </a:r>
            <a:endParaRPr lang="en-US" altLang="zh-CN" sz="1400" b="1" dirty="0">
              <a:latin typeface="微软雅黑 Light" panose="020B0502040204020203" pitchFamily="34" charset="-122"/>
              <a:ea typeface="微软雅黑 Light" panose="020B0502040204020203" pitchFamily="34" charset="-122"/>
            </a:endParaRPr>
          </a:p>
          <a:p>
            <a:pPr>
              <a:lnSpc>
                <a:spcPts val="2000"/>
              </a:lnSpc>
            </a:pPr>
            <a:r>
              <a:rPr lang="en-US" altLang="zh-CN" sz="1400" b="1" dirty="0">
                <a:latin typeface="微软雅黑 Light" panose="020B0502040204020203" pitchFamily="34" charset="-122"/>
                <a:ea typeface="微软雅黑 Light" panose="020B0502040204020203" pitchFamily="34" charset="-122"/>
              </a:rPr>
              <a:t>+ 10 RTT</a:t>
            </a:r>
          </a:p>
          <a:p>
            <a:pPr>
              <a:lnSpc>
                <a:spcPts val="2000"/>
              </a:lnSpc>
            </a:pPr>
            <a:r>
              <a:rPr lang="en-US" altLang="zh-CN" sz="1400" b="1" dirty="0">
                <a:latin typeface="微软雅黑 Light" panose="020B0502040204020203" pitchFamily="34" charset="-122"/>
                <a:ea typeface="微软雅黑 Light" panose="020B0502040204020203" pitchFamily="34" charset="-122"/>
              </a:rPr>
              <a:t>+ 10 </a:t>
            </a:r>
            <a:r>
              <a:rPr lang="zh-CN" altLang="en-US" sz="1400" b="1" dirty="0">
                <a:latin typeface="微软雅黑 Light" panose="020B0502040204020203" pitchFamily="34" charset="-122"/>
                <a:ea typeface="微软雅黑 Light" panose="020B0502040204020203" pitchFamily="34" charset="-122"/>
              </a:rPr>
              <a:t>个文档的传输时间</a:t>
            </a:r>
            <a:endParaRPr lang="en-US" altLang="zh-CN" sz="1400" b="1" dirty="0">
              <a:latin typeface="微软雅黑 Light" panose="020B0502040204020203" pitchFamily="34" charset="-122"/>
              <a:ea typeface="微软雅黑 Light" panose="020B0502040204020203" pitchFamily="34" charset="-122"/>
            </a:endParaRPr>
          </a:p>
          <a:p>
            <a:pPr>
              <a:lnSpc>
                <a:spcPts val="2000"/>
              </a:lnSpc>
            </a:pPr>
            <a:r>
              <a:rPr lang="en-US" altLang="zh-CN" sz="1400" b="1" dirty="0">
                <a:latin typeface="微软雅黑 Light" panose="020B0502040204020203" pitchFamily="34" charset="-122"/>
                <a:ea typeface="微软雅黑 Light" panose="020B0502040204020203" pitchFamily="34" charset="-122"/>
              </a:rPr>
              <a:t>+ </a:t>
            </a:r>
            <a:r>
              <a:rPr lang="zh-CN" altLang="en-US" sz="1400" b="1" dirty="0">
                <a:latin typeface="微软雅黑 Light" panose="020B0502040204020203" pitchFamily="34" charset="-122"/>
                <a:ea typeface="微软雅黑 Light" panose="020B0502040204020203" pitchFamily="34" charset="-122"/>
              </a:rPr>
              <a:t>空闲时间</a:t>
            </a:r>
            <a:endParaRPr lang="zh-CN" altLang="en-US" sz="1400" dirty="0">
              <a:latin typeface="Montserrat" panose="00000500000000000000" pitchFamily="2" charset="0"/>
              <a:ea typeface="微软雅黑 Light" panose="020B0502040204020203" pitchFamily="34" charset="-122"/>
            </a:endParaRPr>
          </a:p>
        </p:txBody>
      </p:sp>
      <p:grpSp>
        <p:nvGrpSpPr>
          <p:cNvPr id="63" name="组合 62"/>
          <p:cNvGrpSpPr/>
          <p:nvPr/>
        </p:nvGrpSpPr>
        <p:grpSpPr>
          <a:xfrm>
            <a:off x="4308273" y="2070235"/>
            <a:ext cx="2203727" cy="807585"/>
            <a:chOff x="4308273" y="2070235"/>
            <a:chExt cx="2203727" cy="807585"/>
          </a:xfrm>
        </p:grpSpPr>
        <p:grpSp>
          <p:nvGrpSpPr>
            <p:cNvPr id="50" name="组合 49"/>
            <p:cNvGrpSpPr/>
            <p:nvPr/>
          </p:nvGrpSpPr>
          <p:grpSpPr>
            <a:xfrm>
              <a:off x="4308273" y="2070235"/>
              <a:ext cx="2201256" cy="723594"/>
              <a:chOff x="4734409" y="1919309"/>
              <a:chExt cx="2201256" cy="723594"/>
            </a:xfrm>
          </p:grpSpPr>
          <p:grpSp>
            <p:nvGrpSpPr>
              <p:cNvPr id="31" name="Group 26"/>
              <p:cNvGrpSpPr>
                <a:grpSpLocks/>
              </p:cNvGrpSpPr>
              <p:nvPr/>
            </p:nvGrpSpPr>
            <p:grpSpPr bwMode="auto">
              <a:xfrm>
                <a:off x="5443288" y="2294674"/>
                <a:ext cx="1492377" cy="348229"/>
                <a:chOff x="1159" y="2266"/>
                <a:chExt cx="1160" cy="384"/>
              </a:xfrm>
            </p:grpSpPr>
            <p:sp>
              <p:nvSpPr>
                <p:cNvPr id="33" name="Rectangle 27"/>
                <p:cNvSpPr>
                  <a:spLocks noChangeArrowheads="1"/>
                </p:cNvSpPr>
                <p:nvPr/>
              </p:nvSpPr>
              <p:spPr bwMode="auto">
                <a:xfrm rot="21395996">
                  <a:off x="1159" y="2266"/>
                  <a:ext cx="1160" cy="384"/>
                </a:xfrm>
                <a:prstGeom prst="rect">
                  <a:avLst/>
                </a:prstGeom>
                <a:solidFill>
                  <a:srgbClr val="0099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en-CA" altLang="zh-CN" sz="1400" b="1" dirty="0">
                    <a:latin typeface="微软雅黑 Light" panose="020B0502040204020203" pitchFamily="34" charset="-122"/>
                    <a:ea typeface="微软雅黑 Light" panose="020B0502040204020203" pitchFamily="34" charset="-122"/>
                  </a:endParaRPr>
                </a:p>
              </p:txBody>
            </p:sp>
            <p:sp>
              <p:nvSpPr>
                <p:cNvPr id="34" name="Text Box 28"/>
                <p:cNvSpPr txBox="1">
                  <a:spLocks noChangeArrowheads="1"/>
                </p:cNvSpPr>
                <p:nvPr/>
              </p:nvSpPr>
              <p:spPr bwMode="auto">
                <a:xfrm>
                  <a:off x="1255" y="2277"/>
                  <a:ext cx="970" cy="3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400" b="1" dirty="0">
                      <a:latin typeface="微软雅黑 Light" panose="020B0502040204020203" pitchFamily="34" charset="-122"/>
                      <a:ea typeface="微软雅黑 Light" panose="020B0502040204020203" pitchFamily="34" charset="-122"/>
                    </a:rPr>
                    <a:t>page1.jpg</a:t>
                  </a:r>
                  <a:endParaRPr lang="en-CA" altLang="zh-CN" sz="1400" b="1" dirty="0">
                    <a:latin typeface="微软雅黑 Light" panose="020B0502040204020203" pitchFamily="34" charset="-122"/>
                    <a:ea typeface="微软雅黑 Light" panose="020B0502040204020203" pitchFamily="34" charset="-122"/>
                  </a:endParaRPr>
                </a:p>
              </p:txBody>
            </p:sp>
          </p:grpSp>
          <p:sp>
            <p:nvSpPr>
              <p:cNvPr id="32" name="Text Box 29"/>
              <p:cNvSpPr txBox="1">
                <a:spLocks noChangeArrowheads="1"/>
              </p:cNvSpPr>
              <p:nvPr/>
            </p:nvSpPr>
            <p:spPr bwMode="auto">
              <a:xfrm>
                <a:off x="4734409" y="1919309"/>
                <a:ext cx="604670" cy="307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400" b="1" dirty="0">
                    <a:latin typeface="微软雅黑 Light" panose="020B0502040204020203" pitchFamily="34" charset="-122"/>
                    <a:ea typeface="微软雅黑 Light" panose="020B0502040204020203" pitchFamily="34" charset="-122"/>
                  </a:rPr>
                  <a:t>空闲</a:t>
                </a:r>
                <a:endParaRPr lang="en-CA" altLang="zh-CN" sz="1400" b="1" dirty="0">
                  <a:latin typeface="微软雅黑 Light" panose="020B0502040204020203" pitchFamily="34" charset="-122"/>
                  <a:ea typeface="微软雅黑 Light" panose="020B0502040204020203" pitchFamily="34" charset="-122"/>
                </a:endParaRPr>
              </a:p>
            </p:txBody>
          </p:sp>
        </p:grpSp>
        <p:sp>
          <p:nvSpPr>
            <p:cNvPr id="55" name="Line 18"/>
            <p:cNvSpPr>
              <a:spLocks noChangeShapeType="1"/>
            </p:cNvSpPr>
            <p:nvPr/>
          </p:nvSpPr>
          <p:spPr bwMode="auto">
            <a:xfrm>
              <a:off x="4977710" y="2261337"/>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cxnSp>
          <p:nvCxnSpPr>
            <p:cNvPr id="58" name="直接连接符 57"/>
            <p:cNvCxnSpPr/>
            <p:nvPr/>
          </p:nvCxnSpPr>
          <p:spPr>
            <a:xfrm>
              <a:off x="4785064" y="2223945"/>
              <a:ext cx="192646" cy="0"/>
            </a:xfrm>
            <a:prstGeom prst="line">
              <a:avLst/>
            </a:prstGeom>
            <a:ln w="28575">
              <a:solidFill>
                <a:srgbClr val="C00000"/>
              </a:solidFill>
            </a:ln>
          </p:spPr>
          <p:style>
            <a:lnRef idx="1">
              <a:schemeClr val="dk1"/>
            </a:lnRef>
            <a:fillRef idx="0">
              <a:schemeClr val="dk1"/>
            </a:fillRef>
            <a:effectRef idx="0">
              <a:schemeClr val="dk1"/>
            </a:effectRef>
            <a:fontRef idx="minor">
              <a:schemeClr val="tx1"/>
            </a:fontRef>
          </p:style>
        </p:cxnSp>
        <p:cxnSp>
          <p:nvCxnSpPr>
            <p:cNvPr id="59" name="直接连接符 58"/>
            <p:cNvCxnSpPr/>
            <p:nvPr/>
          </p:nvCxnSpPr>
          <p:spPr>
            <a:xfrm>
              <a:off x="4785064" y="2877820"/>
              <a:ext cx="192646" cy="0"/>
            </a:xfrm>
            <a:prstGeom prst="line">
              <a:avLst/>
            </a:prstGeom>
            <a:ln w="28575">
              <a:solidFill>
                <a:srgbClr val="C00000"/>
              </a:solidFill>
            </a:ln>
          </p:spPr>
          <p:style>
            <a:lnRef idx="1">
              <a:schemeClr val="dk1"/>
            </a:lnRef>
            <a:fillRef idx="0">
              <a:schemeClr val="dk1"/>
            </a:fillRef>
            <a:effectRef idx="0">
              <a:schemeClr val="dk1"/>
            </a:effectRef>
            <a:fontRef idx="minor">
              <a:schemeClr val="tx1"/>
            </a:fontRef>
          </p:style>
        </p:cxnSp>
        <p:cxnSp>
          <p:nvCxnSpPr>
            <p:cNvPr id="60" name="直接连接符 59"/>
            <p:cNvCxnSpPr/>
            <p:nvPr/>
          </p:nvCxnSpPr>
          <p:spPr>
            <a:xfrm flipV="1">
              <a:off x="4986740" y="2175669"/>
              <a:ext cx="0" cy="120318"/>
            </a:xfrm>
            <a:prstGeom prst="line">
              <a:avLst/>
            </a:prstGeom>
            <a:ln w="28575">
              <a:solidFill>
                <a:srgbClr val="C00000"/>
              </a:solidFill>
            </a:ln>
          </p:spPr>
          <p:style>
            <a:lnRef idx="1">
              <a:schemeClr val="dk1"/>
            </a:lnRef>
            <a:fillRef idx="0">
              <a:schemeClr val="dk1"/>
            </a:fillRef>
            <a:effectRef idx="0">
              <a:schemeClr val="dk1"/>
            </a:effectRef>
            <a:fontRef idx="minor">
              <a:schemeClr val="tx1"/>
            </a:fontRef>
          </p:style>
        </p:cxnSp>
      </p:grpSp>
      <p:grpSp>
        <p:nvGrpSpPr>
          <p:cNvPr id="64" name="组合 63"/>
          <p:cNvGrpSpPr/>
          <p:nvPr/>
        </p:nvGrpSpPr>
        <p:grpSpPr>
          <a:xfrm>
            <a:off x="4308273" y="2735353"/>
            <a:ext cx="2210259" cy="742899"/>
            <a:chOff x="4308273" y="2735353"/>
            <a:chExt cx="2210259" cy="742899"/>
          </a:xfrm>
        </p:grpSpPr>
        <p:grpSp>
          <p:nvGrpSpPr>
            <p:cNvPr id="51" name="组合 50"/>
            <p:cNvGrpSpPr/>
            <p:nvPr/>
          </p:nvGrpSpPr>
          <p:grpSpPr>
            <a:xfrm>
              <a:off x="4308273" y="2735353"/>
              <a:ext cx="2210259" cy="742899"/>
              <a:chOff x="4734409" y="2531159"/>
              <a:chExt cx="2210259" cy="742899"/>
            </a:xfrm>
          </p:grpSpPr>
          <p:grpSp>
            <p:nvGrpSpPr>
              <p:cNvPr id="36" name="Group 31"/>
              <p:cNvGrpSpPr>
                <a:grpSpLocks/>
              </p:cNvGrpSpPr>
              <p:nvPr/>
            </p:nvGrpSpPr>
            <p:grpSpPr bwMode="auto">
              <a:xfrm>
                <a:off x="5440713" y="2925831"/>
                <a:ext cx="1503955" cy="348227"/>
                <a:chOff x="1145" y="3634"/>
                <a:chExt cx="1169" cy="384"/>
              </a:xfrm>
            </p:grpSpPr>
            <p:sp>
              <p:nvSpPr>
                <p:cNvPr id="38" name="Rectangle 32"/>
                <p:cNvSpPr>
                  <a:spLocks noChangeArrowheads="1"/>
                </p:cNvSpPr>
                <p:nvPr/>
              </p:nvSpPr>
              <p:spPr bwMode="auto">
                <a:xfrm rot="21347042">
                  <a:off x="1145" y="3634"/>
                  <a:ext cx="1169" cy="384"/>
                </a:xfrm>
                <a:prstGeom prst="rect">
                  <a:avLst/>
                </a:prstGeom>
                <a:solidFill>
                  <a:srgbClr val="0099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en-CA" altLang="zh-CN" sz="1400" b="1" dirty="0">
                    <a:latin typeface="微软雅黑 Light" panose="020B0502040204020203" pitchFamily="34" charset="-122"/>
                    <a:ea typeface="微软雅黑 Light" panose="020B0502040204020203" pitchFamily="34" charset="-122"/>
                  </a:endParaRPr>
                </a:p>
              </p:txBody>
            </p:sp>
            <p:sp>
              <p:nvSpPr>
                <p:cNvPr id="39" name="Text Box 33"/>
                <p:cNvSpPr txBox="1">
                  <a:spLocks noChangeArrowheads="1"/>
                </p:cNvSpPr>
                <p:nvPr/>
              </p:nvSpPr>
              <p:spPr bwMode="auto">
                <a:xfrm>
                  <a:off x="1251" y="3637"/>
                  <a:ext cx="994" cy="3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400" b="1" dirty="0">
                      <a:latin typeface="微软雅黑 Light" panose="020B0502040204020203" pitchFamily="34" charset="-122"/>
                      <a:ea typeface="微软雅黑 Light" panose="020B0502040204020203" pitchFamily="34" charset="-122"/>
                    </a:rPr>
                    <a:t>page2.jpg</a:t>
                  </a:r>
                  <a:endParaRPr lang="en-CA" altLang="zh-CN" sz="1400" b="1" dirty="0">
                    <a:latin typeface="微软雅黑 Light" panose="020B0502040204020203" pitchFamily="34" charset="-122"/>
                    <a:ea typeface="微软雅黑 Light" panose="020B0502040204020203" pitchFamily="34" charset="-122"/>
                  </a:endParaRPr>
                </a:p>
              </p:txBody>
            </p:sp>
          </p:grpSp>
          <p:sp>
            <p:nvSpPr>
              <p:cNvPr id="43" name="Text Box 29"/>
              <p:cNvSpPr txBox="1">
                <a:spLocks noChangeArrowheads="1"/>
              </p:cNvSpPr>
              <p:nvPr/>
            </p:nvSpPr>
            <p:spPr bwMode="auto">
              <a:xfrm>
                <a:off x="4734409" y="2531159"/>
                <a:ext cx="604670" cy="307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400" b="1" dirty="0">
                    <a:latin typeface="微软雅黑 Light" panose="020B0502040204020203" pitchFamily="34" charset="-122"/>
                    <a:ea typeface="微软雅黑 Light" panose="020B0502040204020203" pitchFamily="34" charset="-122"/>
                  </a:rPr>
                  <a:t>空闲</a:t>
                </a:r>
                <a:endParaRPr lang="en-CA" altLang="zh-CN" sz="1400" b="1" dirty="0">
                  <a:latin typeface="微软雅黑 Light" panose="020B0502040204020203" pitchFamily="34" charset="-122"/>
                  <a:ea typeface="微软雅黑 Light" panose="020B0502040204020203" pitchFamily="34" charset="-122"/>
                </a:endParaRPr>
              </a:p>
            </p:txBody>
          </p:sp>
        </p:grpSp>
        <p:sp>
          <p:nvSpPr>
            <p:cNvPr id="56" name="Line 18"/>
            <p:cNvSpPr>
              <a:spLocks noChangeShapeType="1"/>
            </p:cNvSpPr>
            <p:nvPr/>
          </p:nvSpPr>
          <p:spPr bwMode="auto">
            <a:xfrm>
              <a:off x="4977710" y="2935942"/>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cxnSp>
          <p:nvCxnSpPr>
            <p:cNvPr id="62" name="直接连接符 61"/>
            <p:cNvCxnSpPr/>
            <p:nvPr/>
          </p:nvCxnSpPr>
          <p:spPr>
            <a:xfrm flipV="1">
              <a:off x="4986740" y="2815624"/>
              <a:ext cx="0" cy="120318"/>
            </a:xfrm>
            <a:prstGeom prst="line">
              <a:avLst/>
            </a:prstGeom>
            <a:ln w="28575">
              <a:solidFill>
                <a:srgbClr val="C00000"/>
              </a:solidFill>
            </a:ln>
          </p:spPr>
          <p:style>
            <a:lnRef idx="1">
              <a:schemeClr val="dk1"/>
            </a:lnRef>
            <a:fillRef idx="0">
              <a:schemeClr val="dk1"/>
            </a:fillRef>
            <a:effectRef idx="0">
              <a:schemeClr val="dk1"/>
            </a:effectRef>
            <a:fontRef idx="minor">
              <a:schemeClr val="tx1"/>
            </a:fontRef>
          </p:style>
        </p:cxnSp>
      </p:grpSp>
      <p:sp>
        <p:nvSpPr>
          <p:cNvPr id="9" name="标题 8">
            <a:extLst>
              <a:ext uri="{FF2B5EF4-FFF2-40B4-BE49-F238E27FC236}">
                <a16:creationId xmlns:a16="http://schemas.microsoft.com/office/drawing/2014/main" id="{BDDE7B4C-0ABA-2B24-BDAA-2B8FD65AA17A}"/>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HTTP/1.1</a:t>
            </a:r>
            <a:endParaRPr lang="zh-CN" altLang="en-US" dirty="0"/>
          </a:p>
        </p:txBody>
      </p:sp>
      <p:sp>
        <p:nvSpPr>
          <p:cNvPr id="7" name="内容占位符 6">
            <a:extLst>
              <a:ext uri="{FF2B5EF4-FFF2-40B4-BE49-F238E27FC236}">
                <a16:creationId xmlns:a16="http://schemas.microsoft.com/office/drawing/2014/main" id="{4351D699-3F13-DF1A-BAA0-FEC5376CBB4C}"/>
              </a:ext>
            </a:extLst>
          </p:cNvPr>
          <p:cNvSpPr>
            <a:spLocks noGrp="1"/>
          </p:cNvSpPr>
          <p:nvPr>
            <p:ph sz="quarter" idx="11"/>
          </p:nvPr>
        </p:nvSpPr>
        <p:spPr>
          <a:xfrm>
            <a:off x="486000" y="687518"/>
            <a:ext cx="8172000" cy="4079035"/>
          </a:xfrm>
        </p:spPr>
        <p:txBody>
          <a:bodyPr/>
          <a:lstStyle/>
          <a:p>
            <a:r>
              <a:rPr lang="zh-CN" altLang="en-US" dirty="0"/>
              <a:t>持续连接：非流水线方式 </a:t>
            </a:r>
          </a:p>
          <a:p>
            <a:pPr lvl="1"/>
            <a:r>
              <a:rPr lang="zh-CN" altLang="en-US" dirty="0"/>
              <a:t>客户在收到前一个响应之后才能发出下一个请求。</a:t>
            </a:r>
            <a:endParaRPr lang="en-US" altLang="zh-CN" dirty="0"/>
          </a:p>
          <a:p>
            <a:pPr lvl="1"/>
            <a:r>
              <a:rPr lang="zh-CN" altLang="en-US" dirty="0"/>
              <a:t>缺点：</a:t>
            </a:r>
            <a:r>
              <a:rPr lang="en-US" altLang="zh-CN" dirty="0"/>
              <a:t>TCP </a:t>
            </a:r>
            <a:r>
              <a:rPr lang="zh-CN" altLang="en-US" dirty="0"/>
              <a:t>连接空闲状态。</a:t>
            </a:r>
          </a:p>
          <a:p>
            <a:endParaRPr lang="zh-CN" altLang="en-US" dirty="0"/>
          </a:p>
        </p:txBody>
      </p:sp>
    </p:spTree>
    <p:extLst>
      <p:ext uri="{BB962C8B-B14F-4D97-AF65-F5344CB8AC3E}">
        <p14:creationId xmlns:p14="http://schemas.microsoft.com/office/powerpoint/2010/main" val="29236775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4"/>
                                        </p:tgtEl>
                                        <p:attrNameLst>
                                          <p:attrName>style.visibility</p:attrName>
                                        </p:attrNameLst>
                                      </p:cBhvr>
                                      <p:to>
                                        <p:strVal val="visible"/>
                                      </p:to>
                                    </p:set>
                                    <p:animEffect transition="in" filter="wipe(up)">
                                      <p:cBhvr>
                                        <p:cTn id="7" dur="1000"/>
                                        <p:tgtEl>
                                          <p:spTgt spid="5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63"/>
                                        </p:tgtEl>
                                        <p:attrNameLst>
                                          <p:attrName>style.visibility</p:attrName>
                                        </p:attrNameLst>
                                      </p:cBhvr>
                                      <p:to>
                                        <p:strVal val="visible"/>
                                      </p:to>
                                    </p:set>
                                    <p:animEffect transition="in" filter="wipe(up)">
                                      <p:cBhvr>
                                        <p:cTn id="12" dur="1000"/>
                                        <p:tgtEl>
                                          <p:spTgt spid="6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64"/>
                                        </p:tgtEl>
                                        <p:attrNameLst>
                                          <p:attrName>style.visibility</p:attrName>
                                        </p:attrNameLst>
                                      </p:cBhvr>
                                      <p:to>
                                        <p:strVal val="visible"/>
                                      </p:to>
                                    </p:set>
                                    <p:animEffect transition="in" filter="wipe(up)">
                                      <p:cBhvr>
                                        <p:cTn id="17" dur="1000"/>
                                        <p:tgtEl>
                                          <p:spTgt spid="64"/>
                                        </p:tgtEl>
                                      </p:cBhvr>
                                    </p:animEffect>
                                  </p:childTnLst>
                                </p:cTn>
                              </p:par>
                            </p:childTnLst>
                          </p:cTn>
                        </p:par>
                        <p:par>
                          <p:cTn id="18" fill="hold">
                            <p:stCondLst>
                              <p:cond delay="1000"/>
                            </p:stCondLst>
                            <p:childTnLst>
                              <p:par>
                                <p:cTn id="19" presetID="22" presetClass="entr" presetSubtype="1" fill="hold" nodeType="afterEffect">
                                  <p:stCondLst>
                                    <p:cond delay="0"/>
                                  </p:stCondLst>
                                  <p:childTnLst>
                                    <p:set>
                                      <p:cBhvr>
                                        <p:cTn id="20" dur="1" fill="hold">
                                          <p:stCondLst>
                                            <p:cond delay="0"/>
                                          </p:stCondLst>
                                        </p:cTn>
                                        <p:tgtEl>
                                          <p:spTgt spid="44"/>
                                        </p:tgtEl>
                                        <p:attrNameLst>
                                          <p:attrName>style.visibility</p:attrName>
                                        </p:attrNameLst>
                                      </p:cBhvr>
                                      <p:to>
                                        <p:strVal val="visible"/>
                                      </p:to>
                                    </p:set>
                                    <p:animEffect transition="in" filter="wipe(up)">
                                      <p:cBhvr>
                                        <p:cTn id="21" dur="1000"/>
                                        <p:tgtEl>
                                          <p:spTgt spid="4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1" fill="hold" nodeType="clickEffect">
                                  <p:stCondLst>
                                    <p:cond delay="0"/>
                                  </p:stCondLst>
                                  <p:childTnLst>
                                    <p:set>
                                      <p:cBhvr>
                                        <p:cTn id="25" dur="1" fill="hold">
                                          <p:stCondLst>
                                            <p:cond delay="0"/>
                                          </p:stCondLst>
                                        </p:cTn>
                                        <p:tgtEl>
                                          <p:spTgt spid="52"/>
                                        </p:tgtEl>
                                        <p:attrNameLst>
                                          <p:attrName>style.visibility</p:attrName>
                                        </p:attrNameLst>
                                      </p:cBhvr>
                                      <p:to>
                                        <p:strVal val="visible"/>
                                      </p:to>
                                    </p:set>
                                    <p:animEffect transition="in" filter="wipe(up)">
                                      <p:cBhvr>
                                        <p:cTn id="26" dur="1000"/>
                                        <p:tgtEl>
                                          <p:spTgt spid="52"/>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53"/>
                                        </p:tgtEl>
                                        <p:attrNameLst>
                                          <p:attrName>style.visibility</p:attrName>
                                        </p:attrNameLst>
                                      </p:cBhvr>
                                      <p:to>
                                        <p:strVal val="visible"/>
                                      </p:to>
                                    </p:set>
                                    <p:animEffect transition="in" filter="fade">
                                      <p:cBhvr>
                                        <p:cTn id="31" dur="10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 grpId="0" animBg="1"/>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Line 2"/>
          <p:cNvSpPr>
            <a:spLocks noChangeShapeType="1"/>
          </p:cNvSpPr>
          <p:nvPr/>
        </p:nvSpPr>
        <p:spPr bwMode="auto">
          <a:xfrm>
            <a:off x="4992706" y="1250946"/>
            <a:ext cx="0" cy="3275515"/>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 name="Line 3"/>
          <p:cNvSpPr>
            <a:spLocks noChangeShapeType="1"/>
          </p:cNvSpPr>
          <p:nvPr/>
        </p:nvSpPr>
        <p:spPr bwMode="auto">
          <a:xfrm>
            <a:off x="6545422" y="1240063"/>
            <a:ext cx="0" cy="3275515"/>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0" name="Rectangle 6"/>
          <p:cNvSpPr>
            <a:spLocks noChangeArrowheads="1"/>
          </p:cNvSpPr>
          <p:nvPr/>
        </p:nvSpPr>
        <p:spPr bwMode="auto">
          <a:xfrm>
            <a:off x="5977236" y="953840"/>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200" b="1" dirty="0">
                <a:latin typeface="微软雅黑 Light" panose="020B0502040204020203" pitchFamily="34" charset="-122"/>
                <a:ea typeface="微软雅黑 Light" panose="020B0502040204020203" pitchFamily="34" charset="-122"/>
              </a:rPr>
              <a:t>万维网服务器</a:t>
            </a:r>
          </a:p>
        </p:txBody>
      </p:sp>
      <p:sp>
        <p:nvSpPr>
          <p:cNvPr id="41" name="Rectangle 7"/>
          <p:cNvSpPr>
            <a:spLocks noChangeArrowheads="1"/>
          </p:cNvSpPr>
          <p:nvPr/>
        </p:nvSpPr>
        <p:spPr bwMode="auto">
          <a:xfrm>
            <a:off x="4502586" y="953840"/>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200" b="1" dirty="0">
                <a:latin typeface="微软雅黑 Light" panose="020B0502040204020203" pitchFamily="34" charset="-122"/>
                <a:ea typeface="微软雅黑 Light" panose="020B0502040204020203" pitchFamily="34" charset="-122"/>
              </a:rPr>
              <a:t>万维网客户</a:t>
            </a:r>
          </a:p>
        </p:txBody>
      </p:sp>
      <p:grpSp>
        <p:nvGrpSpPr>
          <p:cNvPr id="4" name="组合 3"/>
          <p:cNvGrpSpPr/>
          <p:nvPr/>
        </p:nvGrpSpPr>
        <p:grpSpPr>
          <a:xfrm>
            <a:off x="3775648" y="1248914"/>
            <a:ext cx="2769774" cy="414600"/>
            <a:chOff x="4201784" y="1248914"/>
            <a:chExt cx="2769774" cy="414600"/>
          </a:xfrm>
        </p:grpSpPr>
        <p:sp>
          <p:nvSpPr>
            <p:cNvPr id="23" name="Line 18"/>
            <p:cNvSpPr>
              <a:spLocks noChangeShapeType="1"/>
            </p:cNvSpPr>
            <p:nvPr/>
          </p:nvSpPr>
          <p:spPr bwMode="auto">
            <a:xfrm>
              <a:off x="5411697" y="1371510"/>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4" name="Line 19"/>
            <p:cNvSpPr>
              <a:spLocks noChangeShapeType="1"/>
            </p:cNvSpPr>
            <p:nvPr/>
          </p:nvSpPr>
          <p:spPr bwMode="auto">
            <a:xfrm flipH="1">
              <a:off x="5427040" y="1491214"/>
              <a:ext cx="1488261" cy="43528"/>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5" name="Line 20"/>
            <p:cNvSpPr>
              <a:spLocks noChangeShapeType="1"/>
            </p:cNvSpPr>
            <p:nvPr/>
          </p:nvSpPr>
          <p:spPr bwMode="auto">
            <a:xfrm>
              <a:off x="5437268" y="1576457"/>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2" name="Text Box 14"/>
            <p:cNvSpPr txBox="1">
              <a:spLocks noChangeArrowheads="1"/>
            </p:cNvSpPr>
            <p:nvPr/>
          </p:nvSpPr>
          <p:spPr bwMode="auto">
            <a:xfrm>
              <a:off x="4201784" y="1248914"/>
              <a:ext cx="1252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b="1" dirty="0">
                  <a:solidFill>
                    <a:srgbClr val="0000CC"/>
                  </a:solidFill>
                  <a:latin typeface="微软雅黑 Light" panose="020B0502040204020203" pitchFamily="34" charset="-122"/>
                  <a:ea typeface="微软雅黑 Light" panose="020B0502040204020203" pitchFamily="34" charset="-122"/>
                </a:rPr>
                <a:t>发起 </a:t>
              </a:r>
              <a:r>
                <a:rPr lang="en-US" altLang="zh-CN" sz="1200" b="1" dirty="0">
                  <a:solidFill>
                    <a:srgbClr val="0000CC"/>
                  </a:solidFill>
                  <a:latin typeface="微软雅黑 Light" panose="020B0502040204020203" pitchFamily="34" charset="-122"/>
                  <a:ea typeface="微软雅黑 Light" panose="020B0502040204020203" pitchFamily="34" charset="-122"/>
                </a:rPr>
                <a:t>TCP </a:t>
              </a:r>
              <a:r>
                <a:rPr lang="zh-CN" altLang="en-US" sz="1200" b="1" dirty="0">
                  <a:solidFill>
                    <a:srgbClr val="0000CC"/>
                  </a:solidFill>
                  <a:latin typeface="微软雅黑 Light" panose="020B0502040204020203" pitchFamily="34" charset="-122"/>
                  <a:ea typeface="微软雅黑 Light" panose="020B0502040204020203" pitchFamily="34" charset="-122"/>
                </a:rPr>
                <a:t>连接</a:t>
              </a:r>
            </a:p>
          </p:txBody>
        </p:sp>
      </p:grpSp>
      <p:grpSp>
        <p:nvGrpSpPr>
          <p:cNvPr id="52" name="组合 51"/>
          <p:cNvGrpSpPr/>
          <p:nvPr/>
        </p:nvGrpSpPr>
        <p:grpSpPr>
          <a:xfrm>
            <a:off x="3770718" y="4067972"/>
            <a:ext cx="2743829" cy="389521"/>
            <a:chOff x="4196854" y="4067972"/>
            <a:chExt cx="2743829" cy="389521"/>
          </a:xfrm>
        </p:grpSpPr>
        <p:grpSp>
          <p:nvGrpSpPr>
            <p:cNvPr id="3" name="组合 2"/>
            <p:cNvGrpSpPr/>
            <p:nvPr/>
          </p:nvGrpSpPr>
          <p:grpSpPr>
            <a:xfrm>
              <a:off x="5429646" y="4067972"/>
              <a:ext cx="1511037" cy="272914"/>
              <a:chOff x="5474036" y="4254409"/>
              <a:chExt cx="1511037" cy="272914"/>
            </a:xfrm>
          </p:grpSpPr>
          <p:sp>
            <p:nvSpPr>
              <p:cNvPr id="13" name="Line 8"/>
              <p:cNvSpPr>
                <a:spLocks noChangeShapeType="1"/>
              </p:cNvSpPr>
              <p:nvPr/>
            </p:nvSpPr>
            <p:spPr bwMode="auto">
              <a:xfrm flipH="1">
                <a:off x="5480596" y="4254409"/>
                <a:ext cx="1497522" cy="43528"/>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9"/>
              <p:cNvSpPr>
                <a:spLocks noChangeShapeType="1"/>
              </p:cNvSpPr>
              <p:nvPr/>
            </p:nvSpPr>
            <p:spPr bwMode="auto">
              <a:xfrm>
                <a:off x="5496035" y="4330583"/>
                <a:ext cx="1489038" cy="108822"/>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0"/>
              <p:cNvSpPr>
                <a:spLocks noChangeShapeType="1"/>
              </p:cNvSpPr>
              <p:nvPr/>
            </p:nvSpPr>
            <p:spPr bwMode="auto">
              <a:xfrm flipH="1">
                <a:off x="5474036" y="4483795"/>
                <a:ext cx="1497522" cy="43528"/>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48" name="Text Box 14"/>
            <p:cNvSpPr txBox="1">
              <a:spLocks noChangeArrowheads="1"/>
            </p:cNvSpPr>
            <p:nvPr/>
          </p:nvSpPr>
          <p:spPr bwMode="auto">
            <a:xfrm>
              <a:off x="4196854" y="4180494"/>
              <a:ext cx="1252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b="1" dirty="0">
                  <a:solidFill>
                    <a:srgbClr val="0000CC"/>
                  </a:solidFill>
                  <a:latin typeface="微软雅黑 Light" panose="020B0502040204020203" pitchFamily="34" charset="-122"/>
                  <a:ea typeface="微软雅黑 Light" panose="020B0502040204020203" pitchFamily="34" charset="-122"/>
                </a:rPr>
                <a:t>释放 </a:t>
              </a:r>
              <a:r>
                <a:rPr lang="en-US" altLang="zh-CN" sz="1200" b="1" dirty="0">
                  <a:solidFill>
                    <a:srgbClr val="0000CC"/>
                  </a:solidFill>
                  <a:latin typeface="微软雅黑 Light" panose="020B0502040204020203" pitchFamily="34" charset="-122"/>
                  <a:ea typeface="微软雅黑 Light" panose="020B0502040204020203" pitchFamily="34" charset="-122"/>
                </a:rPr>
                <a:t>TCP </a:t>
              </a:r>
              <a:r>
                <a:rPr lang="zh-CN" altLang="en-US" sz="1200" b="1" dirty="0">
                  <a:solidFill>
                    <a:srgbClr val="0000CC"/>
                  </a:solidFill>
                  <a:latin typeface="微软雅黑 Light" panose="020B0502040204020203" pitchFamily="34" charset="-122"/>
                  <a:ea typeface="微软雅黑 Light" panose="020B0502040204020203" pitchFamily="34" charset="-122"/>
                </a:rPr>
                <a:t>连接</a:t>
              </a:r>
            </a:p>
          </p:txBody>
        </p:sp>
      </p:grpSp>
      <p:sp>
        <p:nvSpPr>
          <p:cNvPr id="53" name="矩形 52"/>
          <p:cNvSpPr/>
          <p:nvPr/>
        </p:nvSpPr>
        <p:spPr>
          <a:xfrm>
            <a:off x="6661084" y="1881928"/>
            <a:ext cx="2105638" cy="861774"/>
          </a:xfrm>
          <a:prstGeom prst="rect">
            <a:avLst/>
          </a:prstGeom>
          <a:solidFill>
            <a:srgbClr val="FFFF99"/>
          </a:solidFill>
        </p:spPr>
        <p:txBody>
          <a:bodyPr wrap="square">
            <a:spAutoFit/>
          </a:bodyPr>
          <a:lstStyle/>
          <a:p>
            <a:pPr>
              <a:lnSpc>
                <a:spcPts val="2000"/>
              </a:lnSpc>
            </a:pPr>
            <a:r>
              <a:rPr lang="zh-CN" altLang="en-US" sz="1400" b="1" dirty="0">
                <a:latin typeface="微软雅黑 Light" panose="020B0502040204020203" pitchFamily="34" charset="-122"/>
                <a:ea typeface="微软雅黑 Light" panose="020B0502040204020203" pitchFamily="34" charset="-122"/>
              </a:rPr>
              <a:t>所需的时间 </a:t>
            </a:r>
            <a:r>
              <a:rPr lang="en-US" altLang="zh-CN" sz="1400" b="1" dirty="0">
                <a:latin typeface="微软雅黑 Light" panose="020B0502040204020203" pitchFamily="34" charset="-122"/>
                <a:ea typeface="微软雅黑 Light" panose="020B0502040204020203" pitchFamily="34" charset="-122"/>
              </a:rPr>
              <a:t>&gt;= </a:t>
            </a:r>
          </a:p>
          <a:p>
            <a:pPr>
              <a:lnSpc>
                <a:spcPts val="2000"/>
              </a:lnSpc>
            </a:pPr>
            <a:r>
              <a:rPr lang="en-US" altLang="zh-CN" sz="1400" b="1" dirty="0">
                <a:latin typeface="微软雅黑 Light" panose="020B0502040204020203" pitchFamily="34" charset="-122"/>
                <a:ea typeface="微软雅黑 Light" panose="020B0502040204020203" pitchFamily="34" charset="-122"/>
              </a:rPr>
              <a:t>   1 RTT </a:t>
            </a:r>
          </a:p>
          <a:p>
            <a:pPr>
              <a:lnSpc>
                <a:spcPts val="2000"/>
              </a:lnSpc>
            </a:pPr>
            <a:r>
              <a:rPr lang="en-US" altLang="zh-CN" sz="1400" b="1" dirty="0">
                <a:latin typeface="微软雅黑 Light" panose="020B0502040204020203" pitchFamily="34" charset="-122"/>
                <a:ea typeface="微软雅黑 Light" panose="020B0502040204020203" pitchFamily="34" charset="-122"/>
              </a:rPr>
              <a:t>+ 11 </a:t>
            </a:r>
            <a:r>
              <a:rPr lang="zh-CN" altLang="en-US" sz="1400" b="1" dirty="0">
                <a:latin typeface="微软雅黑 Light" panose="020B0502040204020203" pitchFamily="34" charset="-122"/>
                <a:ea typeface="微软雅黑 Light" panose="020B0502040204020203" pitchFamily="34" charset="-122"/>
              </a:rPr>
              <a:t>个文档的传输时间</a:t>
            </a:r>
            <a:endParaRPr lang="en-US" altLang="zh-CN" sz="1400" b="1" dirty="0">
              <a:latin typeface="微软雅黑 Light" panose="020B0502040204020203" pitchFamily="34" charset="-122"/>
              <a:ea typeface="微软雅黑 Light" panose="020B0502040204020203" pitchFamily="34" charset="-122"/>
            </a:endParaRPr>
          </a:p>
        </p:txBody>
      </p:sp>
      <p:grpSp>
        <p:nvGrpSpPr>
          <p:cNvPr id="8" name="组合 7"/>
          <p:cNvGrpSpPr/>
          <p:nvPr/>
        </p:nvGrpSpPr>
        <p:grpSpPr>
          <a:xfrm>
            <a:off x="4381085" y="1589855"/>
            <a:ext cx="2130915" cy="913826"/>
            <a:chOff x="4381085" y="1589855"/>
            <a:chExt cx="2130915" cy="913826"/>
          </a:xfrm>
        </p:grpSpPr>
        <p:grpSp>
          <p:nvGrpSpPr>
            <p:cNvPr id="44" name="组合 43"/>
            <p:cNvGrpSpPr/>
            <p:nvPr/>
          </p:nvGrpSpPr>
          <p:grpSpPr>
            <a:xfrm>
              <a:off x="5700971" y="1922931"/>
              <a:ext cx="68093" cy="273778"/>
              <a:chOff x="5253660" y="4257392"/>
              <a:chExt cx="68093" cy="273778"/>
            </a:xfrm>
          </p:grpSpPr>
          <p:sp>
            <p:nvSpPr>
              <p:cNvPr id="45" name="Oval 30"/>
              <p:cNvSpPr>
                <a:spLocks noChangeArrowheads="1"/>
              </p:cNvSpPr>
              <p:nvPr/>
            </p:nvSpPr>
            <p:spPr bwMode="auto">
              <a:xfrm>
                <a:off x="5262172" y="4257392"/>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6" name="Oval 31"/>
              <p:cNvSpPr>
                <a:spLocks noChangeArrowheads="1"/>
              </p:cNvSpPr>
              <p:nvPr/>
            </p:nvSpPr>
            <p:spPr bwMode="auto">
              <a:xfrm>
                <a:off x="5257916" y="4364484"/>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7" name="Oval 32"/>
              <p:cNvSpPr>
                <a:spLocks noChangeArrowheads="1"/>
              </p:cNvSpPr>
              <p:nvPr/>
            </p:nvSpPr>
            <p:spPr bwMode="auto">
              <a:xfrm>
                <a:off x="5253660" y="4470493"/>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55" name="Line 18"/>
            <p:cNvSpPr>
              <a:spLocks noChangeShapeType="1"/>
            </p:cNvSpPr>
            <p:nvPr/>
          </p:nvSpPr>
          <p:spPr bwMode="auto">
            <a:xfrm>
              <a:off x="4977710" y="1694559"/>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6" name="Line 18"/>
            <p:cNvSpPr>
              <a:spLocks noChangeShapeType="1"/>
            </p:cNvSpPr>
            <p:nvPr/>
          </p:nvSpPr>
          <p:spPr bwMode="auto">
            <a:xfrm>
              <a:off x="4977710" y="1809694"/>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7" name="AutoShape 15"/>
            <p:cNvSpPr>
              <a:spLocks/>
            </p:cNvSpPr>
            <p:nvPr/>
          </p:nvSpPr>
          <p:spPr bwMode="auto">
            <a:xfrm>
              <a:off x="4827118" y="1589855"/>
              <a:ext cx="101751" cy="893911"/>
            </a:xfrm>
            <a:prstGeom prst="leftBrace">
              <a:avLst>
                <a:gd name="adj1" fmla="val 52058"/>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1" name="Text Box 16"/>
            <p:cNvSpPr txBox="1">
              <a:spLocks noChangeArrowheads="1"/>
            </p:cNvSpPr>
            <p:nvPr/>
          </p:nvSpPr>
          <p:spPr bwMode="auto">
            <a:xfrm>
              <a:off x="4381085" y="1878640"/>
              <a:ext cx="4523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200" b="1" dirty="0">
                  <a:latin typeface="微软雅黑 Light" panose="020B0502040204020203" pitchFamily="34" charset="-122"/>
                  <a:ea typeface="微软雅黑 Light" panose="020B0502040204020203" pitchFamily="34" charset="-122"/>
                </a:rPr>
                <a:t>RTT</a:t>
              </a:r>
            </a:p>
          </p:txBody>
        </p:sp>
        <p:sp>
          <p:nvSpPr>
            <p:cNvPr id="65" name="Line 23"/>
            <p:cNvSpPr>
              <a:spLocks noChangeShapeType="1"/>
            </p:cNvSpPr>
            <p:nvPr/>
          </p:nvSpPr>
          <p:spPr bwMode="auto">
            <a:xfrm flipH="1">
              <a:off x="4763281" y="2502598"/>
              <a:ext cx="229811" cy="108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6" name="Line 18"/>
            <p:cNvSpPr>
              <a:spLocks noChangeShapeType="1"/>
            </p:cNvSpPr>
            <p:nvPr/>
          </p:nvSpPr>
          <p:spPr bwMode="auto">
            <a:xfrm>
              <a:off x="4977710" y="2252651"/>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9" name="组合 8"/>
          <p:cNvGrpSpPr/>
          <p:nvPr/>
        </p:nvGrpSpPr>
        <p:grpSpPr>
          <a:xfrm>
            <a:off x="3852846" y="2462389"/>
            <a:ext cx="2666067" cy="1002575"/>
            <a:chOff x="3852846" y="2462389"/>
            <a:chExt cx="2666067" cy="1002575"/>
          </a:xfrm>
        </p:grpSpPr>
        <p:grpSp>
          <p:nvGrpSpPr>
            <p:cNvPr id="49" name="组合 48"/>
            <p:cNvGrpSpPr/>
            <p:nvPr/>
          </p:nvGrpSpPr>
          <p:grpSpPr>
            <a:xfrm>
              <a:off x="5007753" y="2462389"/>
              <a:ext cx="1503604" cy="329153"/>
              <a:chOff x="5442383" y="1762124"/>
              <a:chExt cx="1503604" cy="363055"/>
            </a:xfrm>
          </p:grpSpPr>
          <p:sp>
            <p:nvSpPr>
              <p:cNvPr id="26" name="Rectangle 21"/>
              <p:cNvSpPr>
                <a:spLocks noChangeArrowheads="1"/>
              </p:cNvSpPr>
              <p:nvPr/>
            </p:nvSpPr>
            <p:spPr bwMode="auto">
              <a:xfrm rot="21373145">
                <a:off x="5442383" y="1762124"/>
                <a:ext cx="1503604" cy="348227"/>
              </a:xfrm>
              <a:prstGeom prst="rect">
                <a:avLst/>
              </a:prstGeom>
              <a:solidFill>
                <a:srgbClr val="009900"/>
              </a:solidFill>
              <a:ln w="9525">
                <a:noFill/>
                <a:miter lim="800000"/>
                <a:headEnd/>
                <a:tailEnd/>
              </a:ln>
              <a:effectLst/>
            </p:spPr>
            <p:txBody>
              <a:bodyPr wrap="none" anchor="ctr"/>
              <a:lstStyle/>
              <a:p>
                <a:pPr algn="ctr"/>
                <a:endParaRPr lang="en-CA" altLang="zh-CN" sz="1400" b="1" dirty="0">
                  <a:latin typeface="微软雅黑 Light" panose="020B0502040204020203" pitchFamily="34" charset="-122"/>
                  <a:ea typeface="微软雅黑 Light" panose="020B0502040204020203" pitchFamily="34" charset="-122"/>
                </a:endParaRPr>
              </a:p>
            </p:txBody>
          </p:sp>
          <p:sp>
            <p:nvSpPr>
              <p:cNvPr id="28" name="Text Box 23"/>
              <p:cNvSpPr txBox="1">
                <a:spLocks noChangeArrowheads="1"/>
              </p:cNvSpPr>
              <p:nvPr/>
            </p:nvSpPr>
            <p:spPr bwMode="auto">
              <a:xfrm>
                <a:off x="5552340" y="1785702"/>
                <a:ext cx="1271140" cy="3394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400" b="1" dirty="0">
                    <a:solidFill>
                      <a:schemeClr val="bg1"/>
                    </a:solidFill>
                    <a:latin typeface="微软雅黑 Light" panose="020B0502040204020203" pitchFamily="34" charset="-122"/>
                    <a:ea typeface="微软雅黑 Light" panose="020B0502040204020203" pitchFamily="34" charset="-122"/>
                  </a:rPr>
                  <a:t>page.html</a:t>
                </a:r>
                <a:endParaRPr lang="en-CA" altLang="zh-CN" sz="1400" b="1" dirty="0">
                  <a:solidFill>
                    <a:schemeClr val="bg1"/>
                  </a:solidFill>
                  <a:latin typeface="微软雅黑 Light" panose="020B0502040204020203" pitchFamily="34" charset="-122"/>
                  <a:ea typeface="微软雅黑 Light" panose="020B0502040204020203" pitchFamily="34" charset="-122"/>
                </a:endParaRPr>
              </a:p>
            </p:txBody>
          </p:sp>
        </p:grpSp>
        <p:grpSp>
          <p:nvGrpSpPr>
            <p:cNvPr id="31" name="Group 26"/>
            <p:cNvGrpSpPr>
              <a:grpSpLocks/>
            </p:cNvGrpSpPr>
            <p:nvPr/>
          </p:nvGrpSpPr>
          <p:grpSpPr bwMode="auto">
            <a:xfrm>
              <a:off x="5017533" y="2782837"/>
              <a:ext cx="1492377" cy="316534"/>
              <a:chOff x="1159" y="2266"/>
              <a:chExt cx="1160" cy="385"/>
            </a:xfrm>
          </p:grpSpPr>
          <p:sp>
            <p:nvSpPr>
              <p:cNvPr id="33" name="Rectangle 27"/>
              <p:cNvSpPr>
                <a:spLocks noChangeArrowheads="1"/>
              </p:cNvSpPr>
              <p:nvPr/>
            </p:nvSpPr>
            <p:spPr bwMode="auto">
              <a:xfrm rot="21395996">
                <a:off x="1159" y="2266"/>
                <a:ext cx="1160" cy="384"/>
              </a:xfrm>
              <a:prstGeom prst="rect">
                <a:avLst/>
              </a:prstGeom>
              <a:solidFill>
                <a:srgbClr val="0099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en-CA" altLang="zh-CN" sz="1400" b="1" dirty="0">
                  <a:latin typeface="微软雅黑 Light" panose="020B0502040204020203" pitchFamily="34" charset="-122"/>
                  <a:ea typeface="微软雅黑 Light" panose="020B0502040204020203" pitchFamily="34" charset="-122"/>
                </a:endParaRPr>
              </a:p>
            </p:txBody>
          </p:sp>
          <p:sp>
            <p:nvSpPr>
              <p:cNvPr id="34" name="Text Box 28"/>
              <p:cNvSpPr txBox="1">
                <a:spLocks noChangeArrowheads="1"/>
              </p:cNvSpPr>
              <p:nvPr/>
            </p:nvSpPr>
            <p:spPr bwMode="auto">
              <a:xfrm>
                <a:off x="1255" y="2277"/>
                <a:ext cx="970" cy="3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400" b="1" dirty="0">
                    <a:latin typeface="微软雅黑 Light" panose="020B0502040204020203" pitchFamily="34" charset="-122"/>
                    <a:ea typeface="微软雅黑 Light" panose="020B0502040204020203" pitchFamily="34" charset="-122"/>
                  </a:rPr>
                  <a:t>page1.jpg</a:t>
                </a:r>
                <a:endParaRPr lang="en-CA" altLang="zh-CN" sz="1400" b="1" dirty="0">
                  <a:latin typeface="微软雅黑 Light" panose="020B0502040204020203" pitchFamily="34" charset="-122"/>
                  <a:ea typeface="微软雅黑 Light" panose="020B0502040204020203" pitchFamily="34" charset="-122"/>
                </a:endParaRPr>
              </a:p>
            </p:txBody>
          </p:sp>
        </p:grpSp>
        <p:grpSp>
          <p:nvGrpSpPr>
            <p:cNvPr id="36" name="Group 31"/>
            <p:cNvGrpSpPr>
              <a:grpSpLocks/>
            </p:cNvGrpSpPr>
            <p:nvPr/>
          </p:nvGrpSpPr>
          <p:grpSpPr bwMode="auto">
            <a:xfrm>
              <a:off x="5014958" y="3094398"/>
              <a:ext cx="1503955" cy="315710"/>
              <a:chOff x="1145" y="3634"/>
              <a:chExt cx="1169" cy="384"/>
            </a:xfrm>
            <a:solidFill>
              <a:schemeClr val="accent6">
                <a:lumMod val="60000"/>
                <a:lumOff val="40000"/>
              </a:schemeClr>
            </a:solidFill>
          </p:grpSpPr>
          <p:sp>
            <p:nvSpPr>
              <p:cNvPr id="38" name="Rectangle 32"/>
              <p:cNvSpPr>
                <a:spLocks noChangeArrowheads="1"/>
              </p:cNvSpPr>
              <p:nvPr/>
            </p:nvSpPr>
            <p:spPr bwMode="auto">
              <a:xfrm rot="21347042">
                <a:off x="1145" y="3634"/>
                <a:ext cx="1169" cy="384"/>
              </a:xfrm>
              <a:prstGeom prst="rect">
                <a:avLst/>
              </a:prstGeom>
              <a:grp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en-CA" altLang="zh-CN" sz="1400" b="1" dirty="0">
                  <a:latin typeface="微软雅黑 Light" panose="020B0502040204020203" pitchFamily="34" charset="-122"/>
                  <a:ea typeface="微软雅黑 Light" panose="020B0502040204020203" pitchFamily="34" charset="-122"/>
                </a:endParaRPr>
              </a:p>
            </p:txBody>
          </p:sp>
          <p:sp>
            <p:nvSpPr>
              <p:cNvPr id="39" name="Text Box 33"/>
              <p:cNvSpPr txBox="1">
                <a:spLocks noChangeArrowheads="1"/>
              </p:cNvSpPr>
              <p:nvPr/>
            </p:nvSpPr>
            <p:spPr bwMode="auto">
              <a:xfrm>
                <a:off x="1251" y="3637"/>
                <a:ext cx="994" cy="374"/>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400" b="1" dirty="0">
                    <a:latin typeface="微软雅黑 Light" panose="020B0502040204020203" pitchFamily="34" charset="-122"/>
                    <a:ea typeface="微软雅黑 Light" panose="020B0502040204020203" pitchFamily="34" charset="-122"/>
                  </a:rPr>
                  <a:t>page2.jpg</a:t>
                </a:r>
                <a:endParaRPr lang="en-CA" altLang="zh-CN" sz="1400" b="1" dirty="0">
                  <a:latin typeface="微软雅黑 Light" panose="020B0502040204020203" pitchFamily="34" charset="-122"/>
                  <a:ea typeface="微软雅黑 Light" panose="020B0502040204020203" pitchFamily="34" charset="-122"/>
                </a:endParaRPr>
              </a:p>
            </p:txBody>
          </p:sp>
        </p:grpSp>
        <p:sp>
          <p:nvSpPr>
            <p:cNvPr id="67" name="AutoShape 15"/>
            <p:cNvSpPr>
              <a:spLocks/>
            </p:cNvSpPr>
            <p:nvPr/>
          </p:nvSpPr>
          <p:spPr bwMode="auto">
            <a:xfrm>
              <a:off x="4827118" y="2530936"/>
              <a:ext cx="105522" cy="934028"/>
            </a:xfrm>
            <a:prstGeom prst="leftBrace">
              <a:avLst>
                <a:gd name="adj1" fmla="val 52058"/>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9" name="Text Box 12"/>
            <p:cNvSpPr txBox="1">
              <a:spLocks noChangeArrowheads="1"/>
            </p:cNvSpPr>
            <p:nvPr/>
          </p:nvSpPr>
          <p:spPr bwMode="auto">
            <a:xfrm>
              <a:off x="3852846" y="2757571"/>
              <a:ext cx="103150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r"/>
              <a:r>
                <a:rPr lang="zh-CN" altLang="en-US" sz="1200" b="1" dirty="0">
                  <a:solidFill>
                    <a:srgbClr val="0000CC"/>
                  </a:solidFill>
                  <a:latin typeface="微软雅黑 Light" panose="020B0502040204020203" pitchFamily="34" charset="-122"/>
                  <a:ea typeface="微软雅黑 Light" panose="020B0502040204020203" pitchFamily="34" charset="-122"/>
                </a:rPr>
                <a:t>传输文档的时间</a:t>
              </a:r>
            </a:p>
          </p:txBody>
        </p:sp>
      </p:grpSp>
      <p:sp>
        <p:nvSpPr>
          <p:cNvPr id="2" name="标题 1">
            <a:extLst>
              <a:ext uri="{FF2B5EF4-FFF2-40B4-BE49-F238E27FC236}">
                <a16:creationId xmlns:a16="http://schemas.microsoft.com/office/drawing/2014/main" id="{D5725204-0FC3-A3CF-026F-C3C69608F15A}"/>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HTTP/1.1</a:t>
            </a:r>
            <a:endParaRPr lang="zh-CN" altLang="en-US" dirty="0"/>
          </a:p>
        </p:txBody>
      </p:sp>
      <p:sp>
        <p:nvSpPr>
          <p:cNvPr id="7" name="内容占位符 6">
            <a:extLst>
              <a:ext uri="{FF2B5EF4-FFF2-40B4-BE49-F238E27FC236}">
                <a16:creationId xmlns:a16="http://schemas.microsoft.com/office/drawing/2014/main" id="{CDFE326E-EBC0-7F18-6753-5E527297918C}"/>
              </a:ext>
            </a:extLst>
          </p:cNvPr>
          <p:cNvSpPr>
            <a:spLocks noGrp="1"/>
          </p:cNvSpPr>
          <p:nvPr>
            <p:ph sz="quarter" idx="11"/>
          </p:nvPr>
        </p:nvSpPr>
        <p:spPr>
          <a:xfrm>
            <a:off x="486000" y="687518"/>
            <a:ext cx="8172000" cy="4079035"/>
          </a:xfrm>
        </p:spPr>
        <p:txBody>
          <a:bodyPr/>
          <a:lstStyle/>
          <a:p>
            <a:r>
              <a:rPr lang="zh-CN" altLang="en-US" dirty="0"/>
              <a:t>持续连接：流水线方式 </a:t>
            </a:r>
          </a:p>
          <a:p>
            <a:pPr lvl="1"/>
            <a:r>
              <a:rPr lang="zh-CN" altLang="en-US" dirty="0"/>
              <a:t>客户在收到响应报文之前就能够接着发送新的请求报文。</a:t>
            </a:r>
            <a:endParaRPr lang="en-US" altLang="zh-CN" dirty="0"/>
          </a:p>
          <a:p>
            <a:pPr lvl="1"/>
            <a:r>
              <a:rPr lang="zh-CN" altLang="en-US" dirty="0"/>
              <a:t>连续的多个请求报文到达服务器后，服务器就可连续发回响应报文。</a:t>
            </a:r>
            <a:endParaRPr lang="en-US" altLang="zh-CN" dirty="0"/>
          </a:p>
          <a:p>
            <a:pPr lvl="1"/>
            <a:r>
              <a:rPr lang="zh-CN" altLang="en-US" dirty="0"/>
              <a:t>下载效率提高。</a:t>
            </a:r>
          </a:p>
          <a:p>
            <a:endParaRPr lang="zh-CN" altLang="en-US" dirty="0"/>
          </a:p>
        </p:txBody>
      </p:sp>
    </p:spTree>
    <p:extLst>
      <p:ext uri="{BB962C8B-B14F-4D97-AF65-F5344CB8AC3E}">
        <p14:creationId xmlns:p14="http://schemas.microsoft.com/office/powerpoint/2010/main" val="23459299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up)">
                                      <p:cBhvr>
                                        <p:cTn id="7" dur="1000"/>
                                        <p:tgtEl>
                                          <p:spTgt spid="4"/>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wipe(up)">
                                      <p:cBhvr>
                                        <p:cTn id="11" dur="1000"/>
                                        <p:tgtEl>
                                          <p:spTgt spid="8"/>
                                        </p:tgtEl>
                                      </p:cBhvr>
                                    </p:animEffect>
                                  </p:childTnLst>
                                </p:cTn>
                              </p:par>
                            </p:childTnLst>
                          </p:cTn>
                        </p:par>
                        <p:par>
                          <p:cTn id="12" fill="hold">
                            <p:stCondLst>
                              <p:cond delay="2000"/>
                            </p:stCondLst>
                            <p:childTnLst>
                              <p:par>
                                <p:cTn id="13" presetID="22" presetClass="entr" presetSubtype="1" fill="hold" nodeType="after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wipe(up)">
                                      <p:cBhvr>
                                        <p:cTn id="15" dur="1000"/>
                                        <p:tgtEl>
                                          <p:spTgt spid="9"/>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1" fill="hold" nodeType="clickEffect">
                                  <p:stCondLst>
                                    <p:cond delay="0"/>
                                  </p:stCondLst>
                                  <p:childTnLst>
                                    <p:set>
                                      <p:cBhvr>
                                        <p:cTn id="19" dur="1" fill="hold">
                                          <p:stCondLst>
                                            <p:cond delay="0"/>
                                          </p:stCondLst>
                                        </p:cTn>
                                        <p:tgtEl>
                                          <p:spTgt spid="52"/>
                                        </p:tgtEl>
                                        <p:attrNameLst>
                                          <p:attrName>style.visibility</p:attrName>
                                        </p:attrNameLst>
                                      </p:cBhvr>
                                      <p:to>
                                        <p:strVal val="visible"/>
                                      </p:to>
                                    </p:set>
                                    <p:animEffect transition="in" filter="wipe(up)">
                                      <p:cBhvr>
                                        <p:cTn id="20" dur="1000"/>
                                        <p:tgtEl>
                                          <p:spTgt spid="52"/>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53"/>
                                        </p:tgtEl>
                                        <p:attrNameLst>
                                          <p:attrName>style.visibility</p:attrName>
                                        </p:attrNameLst>
                                      </p:cBhvr>
                                      <p:to>
                                        <p:strVal val="visible"/>
                                      </p:to>
                                    </p:set>
                                    <p:animEffect transition="in" filter="fade">
                                      <p:cBhvr>
                                        <p:cTn id="25" dur="10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 grpId="0" animBg="1"/>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81FB7A9-33B1-6FE7-DF4B-FF39A666BC48}"/>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HTTP/2</a:t>
            </a:r>
            <a:endParaRPr lang="zh-CN" altLang="en-US" dirty="0"/>
          </a:p>
        </p:txBody>
      </p:sp>
      <p:sp>
        <p:nvSpPr>
          <p:cNvPr id="3" name="内容占位符 2">
            <a:extLst>
              <a:ext uri="{FF2B5EF4-FFF2-40B4-BE49-F238E27FC236}">
                <a16:creationId xmlns:a16="http://schemas.microsoft.com/office/drawing/2014/main" id="{1A54214E-650D-A5C8-25AC-5B73FBB26529}"/>
              </a:ext>
            </a:extLst>
          </p:cNvPr>
          <p:cNvSpPr>
            <a:spLocks noGrp="1"/>
          </p:cNvSpPr>
          <p:nvPr>
            <p:ph sz="quarter" idx="11"/>
          </p:nvPr>
        </p:nvSpPr>
        <p:spPr>
          <a:xfrm>
            <a:off x="486000" y="687518"/>
            <a:ext cx="8172000" cy="4079035"/>
          </a:xfrm>
        </p:spPr>
        <p:txBody>
          <a:bodyPr/>
          <a:lstStyle/>
          <a:p>
            <a:r>
              <a:rPr lang="zh-CN" altLang="en-US" dirty="0"/>
              <a:t>是协议 </a:t>
            </a:r>
            <a:r>
              <a:rPr lang="en-US" altLang="zh-CN" dirty="0"/>
              <a:t>HTTP/1.1 </a:t>
            </a:r>
            <a:r>
              <a:rPr lang="zh-CN" altLang="en-US" dirty="0"/>
              <a:t>的升级版本</a:t>
            </a:r>
            <a:endParaRPr lang="en-US" altLang="zh-CN" dirty="0"/>
          </a:p>
          <a:p>
            <a:r>
              <a:rPr lang="zh-CN" altLang="en-US" dirty="0"/>
              <a:t>服务器可以并行发回响应（使用同一个 </a:t>
            </a:r>
            <a:r>
              <a:rPr lang="en-US" altLang="zh-CN" dirty="0"/>
              <a:t>TCP </a:t>
            </a:r>
            <a:r>
              <a:rPr lang="zh-CN" altLang="en-US" dirty="0"/>
              <a:t>连接）</a:t>
            </a:r>
            <a:endParaRPr lang="en-US" altLang="zh-CN" dirty="0"/>
          </a:p>
          <a:p>
            <a:r>
              <a:rPr lang="zh-CN" altLang="en-US" dirty="0"/>
              <a:t>允许客户复用 </a:t>
            </a:r>
            <a:r>
              <a:rPr lang="en-US" altLang="zh-CN" dirty="0"/>
              <a:t>TCP </a:t>
            </a:r>
            <a:r>
              <a:rPr lang="zh-CN" altLang="en-US" dirty="0"/>
              <a:t>连接进行多个请求</a:t>
            </a:r>
            <a:endParaRPr lang="en-US" altLang="zh-CN" dirty="0"/>
          </a:p>
          <a:p>
            <a:r>
              <a:rPr lang="zh-CN" altLang="en-US" dirty="0"/>
              <a:t>把所有的报文都划分为许多较小的二进制编码的帧，并采用了新的压缩算法，不发送重复的首部字段，大大减小了首部的开销，提高了传输效率</a:t>
            </a:r>
            <a:endParaRPr lang="en-US" altLang="zh-CN" dirty="0"/>
          </a:p>
          <a:p>
            <a:r>
              <a:rPr lang="zh-CN" altLang="en-US" dirty="0"/>
              <a:t>向后兼容</a:t>
            </a:r>
            <a:endParaRPr lang="en-US" altLang="zh-CN" dirty="0"/>
          </a:p>
          <a:p>
            <a:endParaRPr lang="zh-CN" altLang="en-US" dirty="0"/>
          </a:p>
        </p:txBody>
      </p:sp>
    </p:spTree>
    <p:extLst>
      <p:ext uri="{BB962C8B-B14F-4D97-AF65-F5344CB8AC3E}">
        <p14:creationId xmlns:p14="http://schemas.microsoft.com/office/powerpoint/2010/main" val="275455265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78F51DE-3374-CA78-A521-FFEFEB71A4E8}"/>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代理服务器</a:t>
            </a:r>
          </a:p>
        </p:txBody>
      </p:sp>
      <p:sp>
        <p:nvSpPr>
          <p:cNvPr id="3" name="内容占位符 2">
            <a:extLst>
              <a:ext uri="{FF2B5EF4-FFF2-40B4-BE49-F238E27FC236}">
                <a16:creationId xmlns:a16="http://schemas.microsoft.com/office/drawing/2014/main" id="{02EFEE8C-48F1-D87A-3F50-20A3393ED2EE}"/>
              </a:ext>
            </a:extLst>
          </p:cNvPr>
          <p:cNvSpPr>
            <a:spLocks noGrp="1"/>
          </p:cNvSpPr>
          <p:nvPr>
            <p:ph sz="quarter" idx="11"/>
          </p:nvPr>
        </p:nvSpPr>
        <p:spPr>
          <a:xfrm>
            <a:off x="486000" y="687518"/>
            <a:ext cx="8172000" cy="4079035"/>
          </a:xfrm>
        </p:spPr>
        <p:txBody>
          <a:bodyPr/>
          <a:lstStyle/>
          <a:p>
            <a:r>
              <a:rPr lang="zh-CN" altLang="en-US" dirty="0"/>
              <a:t>代理服务器  </a:t>
            </a:r>
            <a:r>
              <a:rPr lang="en-US" altLang="zh-CN" dirty="0"/>
              <a:t>- proxy server</a:t>
            </a:r>
          </a:p>
          <a:p>
            <a:pPr lvl="1"/>
            <a:r>
              <a:rPr lang="zh-CN" altLang="en-US" dirty="0"/>
              <a:t>又称为万维网高速缓存 </a:t>
            </a:r>
            <a:r>
              <a:rPr lang="en-US" altLang="zh-CN" dirty="0"/>
              <a:t>Web cache</a:t>
            </a:r>
          </a:p>
          <a:p>
            <a:pPr lvl="1"/>
            <a:r>
              <a:rPr lang="zh-CN" altLang="en-US" dirty="0"/>
              <a:t>把最近的请求和响应暂存在本地磁盘中</a:t>
            </a:r>
            <a:endParaRPr lang="en-US" altLang="zh-CN" dirty="0"/>
          </a:p>
          <a:p>
            <a:pPr lvl="1"/>
            <a:r>
              <a:rPr lang="zh-CN" altLang="en-US" dirty="0"/>
              <a:t>代表浏览器发出 </a:t>
            </a:r>
            <a:r>
              <a:rPr lang="en-US" altLang="zh-CN" dirty="0"/>
              <a:t>HTTP </a:t>
            </a:r>
            <a:r>
              <a:rPr lang="zh-CN" altLang="en-US" dirty="0"/>
              <a:t>请求</a:t>
            </a:r>
            <a:endParaRPr lang="en-US" altLang="zh-CN" dirty="0"/>
          </a:p>
          <a:p>
            <a:pPr lvl="1"/>
            <a:r>
              <a:rPr lang="zh-CN" altLang="en-US" dirty="0"/>
              <a:t>使用高速缓存可减少访问互联网服务器的时延</a:t>
            </a:r>
            <a:endParaRPr lang="en-US" altLang="zh-CN" dirty="0"/>
          </a:p>
          <a:p>
            <a:pPr lvl="1"/>
            <a:r>
              <a:rPr lang="zh-CN" altLang="en-US" dirty="0"/>
              <a:t>可工作在客户端或服务器端</a:t>
            </a:r>
          </a:p>
          <a:p>
            <a:r>
              <a:rPr lang="zh-CN" altLang="en-US" dirty="0"/>
              <a:t>新发展</a:t>
            </a:r>
            <a:endParaRPr lang="en-US" altLang="zh-CN" dirty="0"/>
          </a:p>
          <a:p>
            <a:pPr lvl="1"/>
            <a:r>
              <a:rPr lang="en-US" altLang="zh-CN" dirty="0"/>
              <a:t>CDN</a:t>
            </a:r>
            <a:r>
              <a:rPr lang="zh-CN" altLang="en-US" dirty="0"/>
              <a:t>（内容分发网络）</a:t>
            </a:r>
            <a:r>
              <a:rPr lang="en-US" altLang="zh-CN" dirty="0"/>
              <a:t>—— </a:t>
            </a:r>
            <a:r>
              <a:rPr lang="zh-CN" altLang="en-US" dirty="0"/>
              <a:t>全球级 </a:t>
            </a:r>
            <a:r>
              <a:rPr lang="en-US" altLang="zh-CN" dirty="0"/>
              <a:t>Web </a:t>
            </a:r>
            <a:r>
              <a:rPr lang="zh-CN" altLang="en-US" dirty="0"/>
              <a:t>缓存</a:t>
            </a:r>
            <a:endParaRPr lang="en-US" altLang="zh-CN" dirty="0"/>
          </a:p>
          <a:p>
            <a:pPr lvl="1"/>
            <a:r>
              <a:rPr lang="zh-CN" altLang="en-US" dirty="0"/>
              <a:t>反向代理（</a:t>
            </a:r>
            <a:r>
              <a:rPr lang="en-US" altLang="zh-CN" dirty="0"/>
              <a:t>Reverse Proxy</a:t>
            </a:r>
            <a:r>
              <a:rPr lang="zh-CN" altLang="en-US" dirty="0"/>
              <a:t>）</a:t>
            </a:r>
            <a:r>
              <a:rPr lang="en-US" altLang="zh-CN" dirty="0"/>
              <a:t>—— </a:t>
            </a:r>
            <a:r>
              <a:rPr lang="zh-CN" altLang="en-US" dirty="0"/>
              <a:t>服务端的代理缓存</a:t>
            </a:r>
          </a:p>
          <a:p>
            <a:pPr lvl="1"/>
            <a:r>
              <a:rPr lang="zh-CN" altLang="en-US" dirty="0"/>
              <a:t>浏览器缓存（</a:t>
            </a:r>
            <a:r>
              <a:rPr lang="en-US" altLang="zh-CN" dirty="0"/>
              <a:t>Browser Cache</a:t>
            </a:r>
            <a:r>
              <a:rPr lang="zh-CN" altLang="en-US" dirty="0"/>
              <a:t>）</a:t>
            </a:r>
            <a:r>
              <a:rPr lang="en-US" altLang="zh-CN" dirty="0"/>
              <a:t>—— </a:t>
            </a:r>
            <a:r>
              <a:rPr lang="zh-CN" altLang="en-US" dirty="0"/>
              <a:t>客户端的“微型代理”</a:t>
            </a:r>
          </a:p>
          <a:p>
            <a:pPr lvl="1"/>
            <a:r>
              <a:rPr lang="zh-CN" altLang="en-US" dirty="0"/>
              <a:t>企业</a:t>
            </a:r>
            <a:r>
              <a:rPr lang="en-US" altLang="zh-CN" dirty="0"/>
              <a:t>/ISP </a:t>
            </a:r>
            <a:r>
              <a:rPr lang="zh-CN" altLang="en-US" dirty="0"/>
              <a:t>代理缓存</a:t>
            </a:r>
          </a:p>
        </p:txBody>
      </p:sp>
    </p:spTree>
    <p:extLst>
      <p:ext uri="{BB962C8B-B14F-4D97-AF65-F5344CB8AC3E}">
        <p14:creationId xmlns:p14="http://schemas.microsoft.com/office/powerpoint/2010/main" val="15836431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47711F5-ED3A-DFFF-2779-E05E9E21F9FF}"/>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代理服务器</a:t>
            </a:r>
          </a:p>
        </p:txBody>
      </p:sp>
      <p:sp>
        <p:nvSpPr>
          <p:cNvPr id="3" name="内容占位符 2">
            <a:extLst>
              <a:ext uri="{FF2B5EF4-FFF2-40B4-BE49-F238E27FC236}">
                <a16:creationId xmlns:a16="http://schemas.microsoft.com/office/drawing/2014/main" id="{428CF3E4-FACF-34EA-EED5-9A0D4EBF43E2}"/>
              </a:ext>
            </a:extLst>
          </p:cNvPr>
          <p:cNvSpPr>
            <a:spLocks noGrp="1"/>
          </p:cNvSpPr>
          <p:nvPr>
            <p:ph sz="quarter" idx="11"/>
          </p:nvPr>
        </p:nvSpPr>
        <p:spPr>
          <a:xfrm>
            <a:off x="486000" y="687518"/>
            <a:ext cx="8172000" cy="4079035"/>
          </a:xfrm>
        </p:spPr>
        <p:txBody>
          <a:bodyPr/>
          <a:lstStyle/>
          <a:p>
            <a:r>
              <a:rPr lang="zh-CN" altLang="en-US" dirty="0"/>
              <a:t>不使用高速缓存的情况</a:t>
            </a:r>
            <a:endParaRPr lang="en-US" altLang="zh-CN" dirty="0"/>
          </a:p>
          <a:p>
            <a:pPr lvl="1"/>
            <a:r>
              <a:rPr lang="zh-CN" altLang="en-US" dirty="0"/>
              <a:t>所有万维网通信量都经过这条链路</a:t>
            </a:r>
            <a:endParaRPr lang="en-US" altLang="zh-CN" dirty="0"/>
          </a:p>
          <a:p>
            <a:pPr lvl="1"/>
            <a:r>
              <a:rPr lang="zh-CN" altLang="en-US" dirty="0"/>
              <a:t>这条链路通信量很大，导致时延增加</a:t>
            </a:r>
          </a:p>
          <a:p>
            <a:endParaRPr lang="zh-CN" altLang="en-US" dirty="0"/>
          </a:p>
          <a:p>
            <a:endParaRPr lang="zh-CN" altLang="en-US" dirty="0"/>
          </a:p>
          <a:p>
            <a:endParaRPr lang="zh-CN" altLang="en-US" dirty="0"/>
          </a:p>
        </p:txBody>
      </p:sp>
      <p:graphicFrame>
        <p:nvGraphicFramePr>
          <p:cNvPr id="31" name="Object 44"/>
          <p:cNvGraphicFramePr>
            <a:graphicFrameLocks noChangeAspect="1"/>
          </p:cNvGraphicFramePr>
          <p:nvPr>
            <p:extLst>
              <p:ext uri="{D42A27DB-BD31-4B8C-83A1-F6EECF244321}">
                <p14:modId xmlns:p14="http://schemas.microsoft.com/office/powerpoint/2010/main" val="725953664"/>
              </p:ext>
            </p:extLst>
          </p:nvPr>
        </p:nvGraphicFramePr>
        <p:xfrm>
          <a:off x="6185200" y="2789181"/>
          <a:ext cx="1509164" cy="951134"/>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15"/>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185200" y="2789181"/>
                        <a:ext cx="1509164" cy="951134"/>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32" name="Line 45"/>
          <p:cNvSpPr>
            <a:spLocks noChangeShapeType="1"/>
          </p:cNvSpPr>
          <p:nvPr/>
        </p:nvSpPr>
        <p:spPr bwMode="auto">
          <a:xfrm>
            <a:off x="3790053" y="3253939"/>
            <a:ext cx="2154462"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33" name="Line 46"/>
          <p:cNvSpPr>
            <a:spLocks noChangeShapeType="1"/>
          </p:cNvSpPr>
          <p:nvPr/>
        </p:nvSpPr>
        <p:spPr bwMode="auto">
          <a:xfrm>
            <a:off x="7119321" y="3675465"/>
            <a:ext cx="554227" cy="449146"/>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34" name="Line 47"/>
          <p:cNvSpPr>
            <a:spLocks noChangeShapeType="1"/>
          </p:cNvSpPr>
          <p:nvPr/>
        </p:nvSpPr>
        <p:spPr bwMode="auto">
          <a:xfrm>
            <a:off x="7439368" y="3444887"/>
            <a:ext cx="444943" cy="94873"/>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35" name="Line 48"/>
          <p:cNvSpPr>
            <a:spLocks noChangeShapeType="1"/>
          </p:cNvSpPr>
          <p:nvPr/>
        </p:nvSpPr>
        <p:spPr bwMode="auto">
          <a:xfrm flipV="1">
            <a:off x="7464087" y="2881653"/>
            <a:ext cx="420224" cy="127298"/>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36" name="Line 49"/>
          <p:cNvSpPr>
            <a:spLocks noChangeShapeType="1"/>
          </p:cNvSpPr>
          <p:nvPr/>
        </p:nvSpPr>
        <p:spPr bwMode="auto">
          <a:xfrm flipV="1">
            <a:off x="7093301" y="2370058"/>
            <a:ext cx="580248" cy="492380"/>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00" name="Rectangle 114"/>
          <p:cNvSpPr>
            <a:spLocks noChangeArrowheads="1"/>
          </p:cNvSpPr>
          <p:nvPr/>
        </p:nvSpPr>
        <p:spPr bwMode="auto">
          <a:xfrm>
            <a:off x="2403184" y="2152690"/>
            <a:ext cx="27321" cy="2146055"/>
          </a:xfrm>
          <a:prstGeom prst="rect">
            <a:avLst/>
          </a:prstGeom>
          <a:solidFill>
            <a:srgbClr val="3366CC"/>
          </a:solidFill>
          <a:ln w="38100" cmpd="sng">
            <a:solidFill>
              <a:srgbClr val="3366CC"/>
            </a:solidFill>
            <a:miter lim="800000"/>
            <a:headEnd/>
            <a:tailEnd/>
          </a:ln>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01" name="Line 115"/>
          <p:cNvSpPr>
            <a:spLocks noChangeShapeType="1"/>
          </p:cNvSpPr>
          <p:nvPr/>
        </p:nvSpPr>
        <p:spPr bwMode="auto">
          <a:xfrm>
            <a:off x="1729264" y="2473338"/>
            <a:ext cx="701240"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02" name="Line 116"/>
          <p:cNvSpPr>
            <a:spLocks noChangeShapeType="1"/>
          </p:cNvSpPr>
          <p:nvPr/>
        </p:nvSpPr>
        <p:spPr bwMode="auto">
          <a:xfrm>
            <a:off x="1938726" y="3059389"/>
            <a:ext cx="491779" cy="1201"/>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03" name="Line 117"/>
          <p:cNvSpPr>
            <a:spLocks noChangeShapeType="1"/>
          </p:cNvSpPr>
          <p:nvPr/>
        </p:nvSpPr>
        <p:spPr bwMode="auto">
          <a:xfrm>
            <a:off x="1362381" y="3466503"/>
            <a:ext cx="1053813" cy="36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04" name="Line 118"/>
          <p:cNvSpPr>
            <a:spLocks noChangeShapeType="1"/>
          </p:cNvSpPr>
          <p:nvPr/>
        </p:nvSpPr>
        <p:spPr bwMode="auto">
          <a:xfrm>
            <a:off x="1799519" y="4009323"/>
            <a:ext cx="632288"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05" name="Line 119"/>
          <p:cNvSpPr>
            <a:spLocks noChangeShapeType="1"/>
          </p:cNvSpPr>
          <p:nvPr/>
        </p:nvSpPr>
        <p:spPr bwMode="auto">
          <a:xfrm>
            <a:off x="2416194" y="3247936"/>
            <a:ext cx="1193020" cy="2402"/>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nvGrpSpPr>
          <p:cNvPr id="106" name="Group 120"/>
          <p:cNvGrpSpPr>
            <a:grpSpLocks/>
          </p:cNvGrpSpPr>
          <p:nvPr/>
        </p:nvGrpSpPr>
        <p:grpSpPr bwMode="auto">
          <a:xfrm>
            <a:off x="3483017" y="3087012"/>
            <a:ext cx="477468" cy="309839"/>
            <a:chOff x="2154" y="3033"/>
            <a:chExt cx="309" cy="192"/>
          </a:xfrm>
        </p:grpSpPr>
        <p:sp>
          <p:nvSpPr>
            <p:cNvPr id="107" name="Oval 121"/>
            <p:cNvSpPr>
              <a:spLocks noChangeArrowheads="1"/>
            </p:cNvSpPr>
            <p:nvPr/>
          </p:nvSpPr>
          <p:spPr bwMode="auto">
            <a:xfrm>
              <a:off x="2155"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08" name="Rectangle 122"/>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09" name="Rectangle 123"/>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10" name="Oval 124"/>
            <p:cNvSpPr>
              <a:spLocks noChangeArrowheads="1"/>
            </p:cNvSpPr>
            <p:nvPr/>
          </p:nvSpPr>
          <p:spPr bwMode="auto">
            <a:xfrm>
              <a:off x="2155"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nvGrpSpPr>
            <p:cNvPr id="111" name="Group 125"/>
            <p:cNvGrpSpPr>
              <a:grpSpLocks/>
            </p:cNvGrpSpPr>
            <p:nvPr/>
          </p:nvGrpSpPr>
          <p:grpSpPr bwMode="auto">
            <a:xfrm>
              <a:off x="2201" y="3046"/>
              <a:ext cx="214" cy="86"/>
              <a:chOff x="2201" y="3046"/>
              <a:chExt cx="214" cy="86"/>
            </a:xfrm>
          </p:grpSpPr>
          <p:grpSp>
            <p:nvGrpSpPr>
              <p:cNvPr id="114" name="Group 126"/>
              <p:cNvGrpSpPr>
                <a:grpSpLocks/>
              </p:cNvGrpSpPr>
              <p:nvPr/>
            </p:nvGrpSpPr>
            <p:grpSpPr bwMode="auto">
              <a:xfrm>
                <a:off x="2201" y="3046"/>
                <a:ext cx="212" cy="84"/>
                <a:chOff x="2201" y="3046"/>
                <a:chExt cx="212" cy="84"/>
              </a:xfrm>
            </p:grpSpPr>
            <p:sp>
              <p:nvSpPr>
                <p:cNvPr id="124" name="Freeform 127"/>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5" name="Freeform 128"/>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6" name="Freeform 129"/>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7" name="Freeform 130"/>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8" name="Freeform 131"/>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9" name="Freeform 132"/>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30" name="Freeform 133"/>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31" name="Freeform 134"/>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grpSp>
            <p:nvGrpSpPr>
              <p:cNvPr id="115" name="Group 135"/>
              <p:cNvGrpSpPr>
                <a:grpSpLocks/>
              </p:cNvGrpSpPr>
              <p:nvPr/>
            </p:nvGrpSpPr>
            <p:grpSpPr bwMode="auto">
              <a:xfrm>
                <a:off x="2203" y="3048"/>
                <a:ext cx="212" cy="84"/>
                <a:chOff x="2203" y="3048"/>
                <a:chExt cx="212" cy="84"/>
              </a:xfrm>
            </p:grpSpPr>
            <p:sp>
              <p:nvSpPr>
                <p:cNvPr id="116" name="Freeform 136"/>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17" name="Freeform 137"/>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18" name="Freeform 138"/>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19" name="Freeform 139"/>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0" name="Freeform 140"/>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1" name="Freeform 141"/>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2" name="Freeform 142"/>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3" name="Freeform 143"/>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grpSp>
        <p:sp>
          <p:nvSpPr>
            <p:cNvPr id="112" name="Line 144"/>
            <p:cNvSpPr>
              <a:spLocks noChangeShapeType="1"/>
            </p:cNvSpPr>
            <p:nvPr/>
          </p:nvSpPr>
          <p:spPr bwMode="auto">
            <a:xfrm>
              <a:off x="2154"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13" name="Line 145"/>
            <p:cNvSpPr>
              <a:spLocks noChangeShapeType="1"/>
            </p:cNvSpPr>
            <p:nvPr/>
          </p:nvSpPr>
          <p:spPr bwMode="auto">
            <a:xfrm>
              <a:off x="246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sp>
        <p:nvSpPr>
          <p:cNvPr id="240" name="Rectangle 254"/>
          <p:cNvSpPr>
            <a:spLocks noChangeArrowheads="1"/>
          </p:cNvSpPr>
          <p:nvPr/>
        </p:nvSpPr>
        <p:spPr bwMode="auto">
          <a:xfrm>
            <a:off x="2626957" y="2444516"/>
            <a:ext cx="729863" cy="5115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41" name="Rectangle 255"/>
          <p:cNvSpPr>
            <a:spLocks noChangeArrowheads="1"/>
          </p:cNvSpPr>
          <p:nvPr/>
        </p:nvSpPr>
        <p:spPr bwMode="auto">
          <a:xfrm>
            <a:off x="2668104" y="2126737"/>
            <a:ext cx="734251"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eaLnBrk="1" hangingPunct="1"/>
            <a:r>
              <a:rPr kumimoji="1" lang="zh-CN" altLang="en-US" sz="1600" b="1" dirty="0">
                <a:solidFill>
                  <a:schemeClr val="bg1"/>
                </a:solidFill>
                <a:latin typeface="Montserrat" panose="00000500000000000000" pitchFamily="2" charset="0"/>
                <a:ea typeface="微软雅黑 Light" panose="020B0502040204020203" pitchFamily="34" charset="-122"/>
              </a:rPr>
              <a:t>校园网</a:t>
            </a:r>
          </a:p>
        </p:txBody>
      </p:sp>
      <p:sp>
        <p:nvSpPr>
          <p:cNvPr id="263" name="Rectangle 279"/>
          <p:cNvSpPr>
            <a:spLocks noChangeArrowheads="1"/>
          </p:cNvSpPr>
          <p:nvPr/>
        </p:nvSpPr>
        <p:spPr bwMode="auto">
          <a:xfrm>
            <a:off x="6603463" y="2144524"/>
            <a:ext cx="769441"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200" dirty="0">
                <a:latin typeface="Montserrat" panose="00000500000000000000" pitchFamily="2" charset="0"/>
                <a:ea typeface="微软雅黑 Light" panose="020B0502040204020203" pitchFamily="34" charset="-122"/>
              </a:rPr>
              <a:t>源点服务器</a:t>
            </a:r>
          </a:p>
        </p:txBody>
      </p:sp>
      <p:sp>
        <p:nvSpPr>
          <p:cNvPr id="264" name="Rectangle 280"/>
          <p:cNvSpPr>
            <a:spLocks noChangeArrowheads="1"/>
          </p:cNvSpPr>
          <p:nvPr/>
        </p:nvSpPr>
        <p:spPr bwMode="auto">
          <a:xfrm>
            <a:off x="4168645" y="2926087"/>
            <a:ext cx="697338" cy="3218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65" name="Rectangle 281"/>
          <p:cNvSpPr>
            <a:spLocks noChangeArrowheads="1"/>
          </p:cNvSpPr>
          <p:nvPr/>
        </p:nvSpPr>
        <p:spPr bwMode="auto">
          <a:xfrm>
            <a:off x="4543892" y="2980128"/>
            <a:ext cx="711733"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2 Mbit/s</a:t>
            </a:r>
          </a:p>
        </p:txBody>
      </p:sp>
      <p:grpSp>
        <p:nvGrpSpPr>
          <p:cNvPr id="266" name="Group 282"/>
          <p:cNvGrpSpPr>
            <a:grpSpLocks/>
          </p:cNvGrpSpPr>
          <p:nvPr/>
        </p:nvGrpSpPr>
        <p:grpSpPr bwMode="auto">
          <a:xfrm>
            <a:off x="5783191" y="3087012"/>
            <a:ext cx="477468" cy="309839"/>
            <a:chOff x="3202" y="3033"/>
            <a:chExt cx="309" cy="192"/>
          </a:xfrm>
        </p:grpSpPr>
        <p:sp>
          <p:nvSpPr>
            <p:cNvPr id="267" name="Oval 283"/>
            <p:cNvSpPr>
              <a:spLocks noChangeArrowheads="1"/>
            </p:cNvSpPr>
            <p:nvPr/>
          </p:nvSpPr>
          <p:spPr bwMode="auto">
            <a:xfrm>
              <a:off x="3203"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68" name="Rectangle 284"/>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69" name="Rectangle 285"/>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70" name="Oval 286"/>
            <p:cNvSpPr>
              <a:spLocks noChangeArrowheads="1"/>
            </p:cNvSpPr>
            <p:nvPr/>
          </p:nvSpPr>
          <p:spPr bwMode="auto">
            <a:xfrm>
              <a:off x="3203"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nvGrpSpPr>
            <p:cNvPr id="271" name="Group 287"/>
            <p:cNvGrpSpPr>
              <a:grpSpLocks/>
            </p:cNvGrpSpPr>
            <p:nvPr/>
          </p:nvGrpSpPr>
          <p:grpSpPr bwMode="auto">
            <a:xfrm>
              <a:off x="3249" y="3046"/>
              <a:ext cx="214" cy="86"/>
              <a:chOff x="3249" y="3046"/>
              <a:chExt cx="214" cy="86"/>
            </a:xfrm>
          </p:grpSpPr>
          <p:grpSp>
            <p:nvGrpSpPr>
              <p:cNvPr id="274" name="Group 288"/>
              <p:cNvGrpSpPr>
                <a:grpSpLocks/>
              </p:cNvGrpSpPr>
              <p:nvPr/>
            </p:nvGrpSpPr>
            <p:grpSpPr bwMode="auto">
              <a:xfrm>
                <a:off x="3249" y="3046"/>
                <a:ext cx="212" cy="84"/>
                <a:chOff x="3249" y="3046"/>
                <a:chExt cx="212" cy="84"/>
              </a:xfrm>
            </p:grpSpPr>
            <p:sp>
              <p:nvSpPr>
                <p:cNvPr id="284" name="Freeform 289"/>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5" name="Freeform 290"/>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6" name="Freeform 291"/>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7" name="Freeform 292"/>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8" name="Freeform 293"/>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9" name="Freeform 294"/>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90" name="Freeform 295"/>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91" name="Freeform 296"/>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grpSp>
            <p:nvGrpSpPr>
              <p:cNvPr id="275" name="Group 297"/>
              <p:cNvGrpSpPr>
                <a:grpSpLocks/>
              </p:cNvGrpSpPr>
              <p:nvPr/>
            </p:nvGrpSpPr>
            <p:grpSpPr bwMode="auto">
              <a:xfrm>
                <a:off x="3251" y="3048"/>
                <a:ext cx="212" cy="84"/>
                <a:chOff x="3251" y="3048"/>
                <a:chExt cx="212" cy="84"/>
              </a:xfrm>
            </p:grpSpPr>
            <p:sp>
              <p:nvSpPr>
                <p:cNvPr id="276" name="Freeform 298"/>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77" name="Freeform 299"/>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78" name="Freeform 300"/>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79" name="Freeform 301"/>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0" name="Freeform 302"/>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1" name="Freeform 303"/>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2" name="Freeform 304"/>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3" name="Freeform 305"/>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grpSp>
        <p:sp>
          <p:nvSpPr>
            <p:cNvPr id="272" name="Line 306"/>
            <p:cNvSpPr>
              <a:spLocks noChangeShapeType="1"/>
            </p:cNvSpPr>
            <p:nvPr/>
          </p:nvSpPr>
          <p:spPr bwMode="auto">
            <a:xfrm>
              <a:off x="320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73" name="Line 307"/>
            <p:cNvSpPr>
              <a:spLocks noChangeShapeType="1"/>
            </p:cNvSpPr>
            <p:nvPr/>
          </p:nvSpPr>
          <p:spPr bwMode="auto">
            <a:xfrm>
              <a:off x="3510"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sp>
        <p:nvSpPr>
          <p:cNvPr id="292" name="Rectangle 308"/>
          <p:cNvSpPr>
            <a:spLocks noChangeArrowheads="1"/>
          </p:cNvSpPr>
          <p:nvPr/>
        </p:nvSpPr>
        <p:spPr bwMode="auto">
          <a:xfrm>
            <a:off x="6269767" y="2736341"/>
            <a:ext cx="729863" cy="3230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93" name="Rectangle 309"/>
          <p:cNvSpPr>
            <a:spLocks noChangeArrowheads="1"/>
          </p:cNvSpPr>
          <p:nvPr/>
        </p:nvSpPr>
        <p:spPr bwMode="auto">
          <a:xfrm>
            <a:off x="6652101" y="3177081"/>
            <a:ext cx="53860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400" dirty="0">
                <a:latin typeface="Montserrat" panose="00000500000000000000" pitchFamily="2" charset="0"/>
                <a:ea typeface="微软雅黑 Light" panose="020B0502040204020203" pitchFamily="34" charset="-122"/>
              </a:rPr>
              <a:t>互联网</a:t>
            </a:r>
          </a:p>
        </p:txBody>
      </p:sp>
      <p:sp>
        <p:nvSpPr>
          <p:cNvPr id="294" name="Rectangle 310"/>
          <p:cNvSpPr>
            <a:spLocks noChangeArrowheads="1"/>
          </p:cNvSpPr>
          <p:nvPr/>
        </p:nvSpPr>
        <p:spPr bwMode="auto">
          <a:xfrm>
            <a:off x="3748421" y="2809597"/>
            <a:ext cx="327853" cy="301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95" name="Rectangle 311"/>
          <p:cNvSpPr>
            <a:spLocks noChangeArrowheads="1"/>
          </p:cNvSpPr>
          <p:nvPr/>
        </p:nvSpPr>
        <p:spPr bwMode="auto">
          <a:xfrm>
            <a:off x="3047180" y="3393247"/>
            <a:ext cx="355175" cy="3026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96" name="Rectangle 312"/>
          <p:cNvSpPr>
            <a:spLocks noChangeArrowheads="1"/>
          </p:cNvSpPr>
          <p:nvPr/>
        </p:nvSpPr>
        <p:spPr bwMode="auto">
          <a:xfrm>
            <a:off x="2061020" y="3101422"/>
            <a:ext cx="357776" cy="3014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97" name="Rectangle 313"/>
          <p:cNvSpPr>
            <a:spLocks noChangeArrowheads="1"/>
          </p:cNvSpPr>
          <p:nvPr/>
        </p:nvSpPr>
        <p:spPr bwMode="auto">
          <a:xfrm>
            <a:off x="1078421" y="2976045"/>
            <a:ext cx="550689"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eaLnBrk="1" hangingPunct="1"/>
            <a:r>
              <a:rPr kumimoji="1" lang="zh-CN" altLang="en-US" sz="1200" b="1" dirty="0">
                <a:solidFill>
                  <a:schemeClr val="bg1"/>
                </a:solidFill>
                <a:latin typeface="Montserrat" panose="00000500000000000000" pitchFamily="2" charset="0"/>
                <a:ea typeface="微软雅黑 Light" panose="020B0502040204020203" pitchFamily="34" charset="-122"/>
              </a:rPr>
              <a:t>浏览器</a:t>
            </a:r>
          </a:p>
        </p:txBody>
      </p:sp>
      <p:sp>
        <p:nvSpPr>
          <p:cNvPr id="298" name="Rectangle 314"/>
          <p:cNvSpPr>
            <a:spLocks noChangeArrowheads="1"/>
          </p:cNvSpPr>
          <p:nvPr/>
        </p:nvSpPr>
        <p:spPr bwMode="auto">
          <a:xfrm>
            <a:off x="3501849" y="2862438"/>
            <a:ext cx="17152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1</a:t>
            </a:r>
          </a:p>
        </p:txBody>
      </p:sp>
      <p:sp>
        <p:nvSpPr>
          <p:cNvPr id="299" name="Rectangle 315"/>
          <p:cNvSpPr>
            <a:spLocks noChangeArrowheads="1"/>
          </p:cNvSpPr>
          <p:nvPr/>
        </p:nvSpPr>
        <p:spPr bwMode="auto">
          <a:xfrm>
            <a:off x="5892475" y="2831213"/>
            <a:ext cx="195566"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2</a:t>
            </a:r>
          </a:p>
        </p:txBody>
      </p:sp>
      <p:pic>
        <p:nvPicPr>
          <p:cNvPr id="312" name="图片 31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555184" y="1878702"/>
            <a:ext cx="441076" cy="617506"/>
          </a:xfrm>
          <a:prstGeom prst="rect">
            <a:avLst/>
          </a:prstGeom>
        </p:spPr>
      </p:pic>
      <p:pic>
        <p:nvPicPr>
          <p:cNvPr id="314" name="Picture 197"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541931" y="2114584"/>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315" name="Picture 197"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613187" y="2691017"/>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316" name="Picture 197"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541931" y="3691778"/>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317" name="Picture 197"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043608" y="3189261"/>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318" name="图片 317"/>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812360" y="2541189"/>
            <a:ext cx="441076" cy="617506"/>
          </a:xfrm>
          <a:prstGeom prst="rect">
            <a:avLst/>
          </a:prstGeom>
        </p:spPr>
      </p:pic>
      <p:pic>
        <p:nvPicPr>
          <p:cNvPr id="319" name="图片 318"/>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812360" y="3261269"/>
            <a:ext cx="441076" cy="617506"/>
          </a:xfrm>
          <a:prstGeom prst="rect">
            <a:avLst/>
          </a:prstGeom>
        </p:spPr>
      </p:pic>
      <p:pic>
        <p:nvPicPr>
          <p:cNvPr id="320" name="图片 319"/>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555184" y="3837333"/>
            <a:ext cx="441076" cy="617506"/>
          </a:xfrm>
          <a:prstGeom prst="rect">
            <a:avLst/>
          </a:prstGeom>
        </p:spPr>
      </p:pic>
      <p:sp>
        <p:nvSpPr>
          <p:cNvPr id="300" name="Freeform 316"/>
          <p:cNvSpPr>
            <a:spLocks/>
          </p:cNvSpPr>
          <p:nvPr/>
        </p:nvSpPr>
        <p:spPr bwMode="auto">
          <a:xfrm>
            <a:off x="3832987" y="2446917"/>
            <a:ext cx="3801532" cy="879078"/>
          </a:xfrm>
          <a:custGeom>
            <a:avLst/>
            <a:gdLst>
              <a:gd name="T0" fmla="*/ 0 w 2922"/>
              <a:gd name="T1" fmla="*/ 2147483646 h 732"/>
              <a:gd name="T2" fmla="*/ 2147483646 w 2922"/>
              <a:gd name="T3" fmla="*/ 2147483646 h 732"/>
              <a:gd name="T4" fmla="*/ 2147483646 w 2922"/>
              <a:gd name="T5" fmla="*/ 2147483646 h 732"/>
              <a:gd name="T6" fmla="*/ 2147483646 w 2922"/>
              <a:gd name="T7" fmla="*/ 2147483646 h 732"/>
              <a:gd name="T8" fmla="*/ 2147483646 w 2922"/>
              <a:gd name="T9" fmla="*/ 0 h 7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922" h="732">
                <a:moveTo>
                  <a:pt x="0" y="718"/>
                </a:moveTo>
                <a:cubicBezTo>
                  <a:pt x="127" y="717"/>
                  <a:pt x="481" y="715"/>
                  <a:pt x="765" y="712"/>
                </a:cubicBezTo>
                <a:cubicBezTo>
                  <a:pt x="1049" y="709"/>
                  <a:pt x="1442" y="732"/>
                  <a:pt x="1702" y="700"/>
                </a:cubicBezTo>
                <a:cubicBezTo>
                  <a:pt x="1962" y="668"/>
                  <a:pt x="2121" y="637"/>
                  <a:pt x="2324" y="520"/>
                </a:cubicBezTo>
                <a:cubicBezTo>
                  <a:pt x="2527" y="403"/>
                  <a:pt x="2798" y="108"/>
                  <a:pt x="2922" y="0"/>
                </a:cubicBezTo>
              </a:path>
            </a:pathLst>
          </a:custGeom>
          <a:noFill/>
          <a:ln w="38100" cmpd="sng">
            <a:solidFill>
              <a:srgbClr val="CC00CC"/>
            </a:solidFill>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304" name="Freeform 320"/>
          <p:cNvSpPr>
            <a:spLocks/>
          </p:cNvSpPr>
          <p:nvPr/>
        </p:nvSpPr>
        <p:spPr bwMode="auto">
          <a:xfrm>
            <a:off x="1938726" y="2326825"/>
            <a:ext cx="1615846" cy="877877"/>
          </a:xfrm>
          <a:custGeom>
            <a:avLst/>
            <a:gdLst>
              <a:gd name="T0" fmla="*/ 0 w 620"/>
              <a:gd name="T1" fmla="*/ 0 h 909"/>
              <a:gd name="T2" fmla="*/ 2147483646 w 620"/>
              <a:gd name="T3" fmla="*/ 2147483646 h 909"/>
              <a:gd name="T4" fmla="*/ 0 60000 65536"/>
              <a:gd name="T5" fmla="*/ 0 60000 65536"/>
            </a:gdLst>
            <a:ahLst/>
            <a:cxnLst>
              <a:cxn ang="T4">
                <a:pos x="T0" y="T1"/>
              </a:cxn>
              <a:cxn ang="T5">
                <a:pos x="T2" y="T3"/>
              </a:cxn>
            </a:cxnLst>
            <a:rect l="0" t="0" r="r" b="b"/>
            <a:pathLst>
              <a:path w="620" h="909">
                <a:moveTo>
                  <a:pt x="0" y="0"/>
                </a:moveTo>
                <a:cubicBezTo>
                  <a:pt x="103" y="151"/>
                  <a:pt x="491" y="720"/>
                  <a:pt x="620" y="909"/>
                </a:cubicBezTo>
              </a:path>
            </a:pathLst>
          </a:custGeom>
          <a:noFill/>
          <a:ln w="28575" cmpd="sng">
            <a:solidFill>
              <a:srgbClr val="CC00CC"/>
            </a:solidFill>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305" name="Freeform 321"/>
          <p:cNvSpPr>
            <a:spLocks/>
          </p:cNvSpPr>
          <p:nvPr/>
        </p:nvSpPr>
        <p:spPr bwMode="auto">
          <a:xfrm>
            <a:off x="2079234" y="2912876"/>
            <a:ext cx="1403783" cy="366283"/>
          </a:xfrm>
          <a:custGeom>
            <a:avLst/>
            <a:gdLst>
              <a:gd name="T0" fmla="*/ 0 w 620"/>
              <a:gd name="T1" fmla="*/ 0 h 909"/>
              <a:gd name="T2" fmla="*/ 2147483646 w 620"/>
              <a:gd name="T3" fmla="*/ 2147483646 h 909"/>
              <a:gd name="T4" fmla="*/ 0 60000 65536"/>
              <a:gd name="T5" fmla="*/ 0 60000 65536"/>
            </a:gdLst>
            <a:ahLst/>
            <a:cxnLst>
              <a:cxn ang="T4">
                <a:pos x="T0" y="T1"/>
              </a:cxn>
              <a:cxn ang="T5">
                <a:pos x="T2" y="T3"/>
              </a:cxn>
            </a:cxnLst>
            <a:rect l="0" t="0" r="r" b="b"/>
            <a:pathLst>
              <a:path w="620" h="909">
                <a:moveTo>
                  <a:pt x="0" y="0"/>
                </a:moveTo>
                <a:cubicBezTo>
                  <a:pt x="103" y="151"/>
                  <a:pt x="491" y="720"/>
                  <a:pt x="620" y="909"/>
                </a:cubicBezTo>
              </a:path>
            </a:pathLst>
          </a:custGeom>
          <a:noFill/>
          <a:ln w="28575" cmpd="sng">
            <a:solidFill>
              <a:srgbClr val="CC00CC"/>
            </a:solidFill>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306" name="Freeform 322"/>
          <p:cNvSpPr>
            <a:spLocks/>
          </p:cNvSpPr>
          <p:nvPr/>
        </p:nvSpPr>
        <p:spPr bwMode="auto">
          <a:xfrm>
            <a:off x="1437840" y="3321191"/>
            <a:ext cx="2079004" cy="28822"/>
          </a:xfrm>
          <a:custGeom>
            <a:avLst/>
            <a:gdLst>
              <a:gd name="T0" fmla="*/ 0 w 1344"/>
              <a:gd name="T1" fmla="*/ 2147483646 h 17"/>
              <a:gd name="T2" fmla="*/ 2147483646 w 1344"/>
              <a:gd name="T3" fmla="*/ 0 h 17"/>
              <a:gd name="T4" fmla="*/ 0 60000 65536"/>
              <a:gd name="T5" fmla="*/ 0 60000 65536"/>
            </a:gdLst>
            <a:ahLst/>
            <a:cxnLst>
              <a:cxn ang="T4">
                <a:pos x="T0" y="T1"/>
              </a:cxn>
              <a:cxn ang="T5">
                <a:pos x="T2" y="T3"/>
              </a:cxn>
            </a:cxnLst>
            <a:rect l="0" t="0" r="r" b="b"/>
            <a:pathLst>
              <a:path w="1344" h="17">
                <a:moveTo>
                  <a:pt x="0" y="17"/>
                </a:moveTo>
                <a:cubicBezTo>
                  <a:pt x="224" y="14"/>
                  <a:pt x="1064" y="4"/>
                  <a:pt x="1344" y="0"/>
                </a:cubicBezTo>
              </a:path>
            </a:pathLst>
          </a:custGeom>
          <a:noFill/>
          <a:ln w="28575" cmpd="sng">
            <a:solidFill>
              <a:srgbClr val="CC00CC"/>
            </a:solidFill>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307" name="Freeform 323"/>
          <p:cNvSpPr>
            <a:spLocks/>
          </p:cNvSpPr>
          <p:nvPr/>
        </p:nvSpPr>
        <p:spPr bwMode="auto">
          <a:xfrm>
            <a:off x="1938725" y="3374032"/>
            <a:ext cx="1628856" cy="489978"/>
          </a:xfrm>
          <a:custGeom>
            <a:avLst/>
            <a:gdLst>
              <a:gd name="T0" fmla="*/ 0 w 1052"/>
              <a:gd name="T1" fmla="*/ 2147483646 h 304"/>
              <a:gd name="T2" fmla="*/ 2147483646 w 1052"/>
              <a:gd name="T3" fmla="*/ 0 h 304"/>
              <a:gd name="T4" fmla="*/ 0 60000 65536"/>
              <a:gd name="T5" fmla="*/ 0 60000 65536"/>
            </a:gdLst>
            <a:ahLst/>
            <a:cxnLst>
              <a:cxn ang="T4">
                <a:pos x="T0" y="T1"/>
              </a:cxn>
              <a:cxn ang="T5">
                <a:pos x="T2" y="T3"/>
              </a:cxn>
            </a:cxnLst>
            <a:rect l="0" t="0" r="r" b="b"/>
            <a:pathLst>
              <a:path w="1052" h="304">
                <a:moveTo>
                  <a:pt x="0" y="304"/>
                </a:moveTo>
                <a:cubicBezTo>
                  <a:pt x="175" y="253"/>
                  <a:pt x="833" y="63"/>
                  <a:pt x="1052" y="0"/>
                </a:cubicBezTo>
              </a:path>
            </a:pathLst>
          </a:custGeom>
          <a:noFill/>
          <a:ln w="28575" cmpd="sng">
            <a:solidFill>
              <a:srgbClr val="CC00CC"/>
            </a:solidFill>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9" name="云形 8">
            <a:extLst>
              <a:ext uri="{FF2B5EF4-FFF2-40B4-BE49-F238E27FC236}">
                <a16:creationId xmlns:a16="http://schemas.microsoft.com/office/drawing/2014/main" id="{F8D36561-CDB0-57F9-60A8-C452AF00D60A}"/>
              </a:ext>
            </a:extLst>
          </p:cNvPr>
          <p:cNvSpPr/>
          <p:nvPr/>
        </p:nvSpPr>
        <p:spPr>
          <a:xfrm>
            <a:off x="434820" y="1733421"/>
            <a:ext cx="3611524" cy="3041339"/>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6203504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6668699-FEE9-6483-5EA6-B8A01546FCFF}"/>
              </a:ext>
            </a:extLst>
          </p:cNvPr>
          <p:cNvSpPr>
            <a:spLocks noGrp="1"/>
          </p:cNvSpPr>
          <p:nvPr>
            <p:ph type="title"/>
          </p:nvPr>
        </p:nvSpPr>
        <p:spPr>
          <a:xfrm>
            <a:off x="485999" y="174482"/>
            <a:ext cx="8171999" cy="338554"/>
          </a:xfrm>
        </p:spPr>
        <p:txBody>
          <a:bodyPr/>
          <a:lstStyle/>
          <a:p>
            <a:r>
              <a:rPr lang="en-US" altLang="zh-CN"/>
              <a:t>6.4.3  </a:t>
            </a:r>
            <a:r>
              <a:rPr lang="zh-CN" altLang="en-US"/>
              <a:t>超文本传送协议 </a:t>
            </a:r>
            <a:r>
              <a:rPr lang="en-US" altLang="zh-CN"/>
              <a:t>HTTP - </a:t>
            </a:r>
            <a:r>
              <a:rPr lang="zh-CN" altLang="en-US"/>
              <a:t>代理服务器</a:t>
            </a:r>
            <a:endParaRPr lang="zh-CN" altLang="en-US" dirty="0"/>
          </a:p>
        </p:txBody>
      </p:sp>
      <p:sp>
        <p:nvSpPr>
          <p:cNvPr id="5" name="内容占位符 4">
            <a:extLst>
              <a:ext uri="{FF2B5EF4-FFF2-40B4-BE49-F238E27FC236}">
                <a16:creationId xmlns:a16="http://schemas.microsoft.com/office/drawing/2014/main" id="{2AABC8C4-2CC1-4FEB-0B6D-A60C973A66B6}"/>
              </a:ext>
            </a:extLst>
          </p:cNvPr>
          <p:cNvSpPr>
            <a:spLocks noGrp="1"/>
          </p:cNvSpPr>
          <p:nvPr>
            <p:ph sz="quarter" idx="11"/>
          </p:nvPr>
        </p:nvSpPr>
        <p:spPr>
          <a:xfrm>
            <a:off x="486000" y="687518"/>
            <a:ext cx="8172000" cy="4079035"/>
          </a:xfrm>
        </p:spPr>
        <p:txBody>
          <a:bodyPr/>
          <a:lstStyle/>
          <a:p>
            <a:r>
              <a:rPr lang="zh-CN" altLang="en-US" dirty="0"/>
              <a:t>使用高速缓存的情况</a:t>
            </a:r>
          </a:p>
          <a:p>
            <a:endParaRPr lang="zh-CN" altLang="en-US" dirty="0"/>
          </a:p>
        </p:txBody>
      </p:sp>
      <p:sp>
        <p:nvSpPr>
          <p:cNvPr id="4" name="云形 3">
            <a:extLst>
              <a:ext uri="{FF2B5EF4-FFF2-40B4-BE49-F238E27FC236}">
                <a16:creationId xmlns:a16="http://schemas.microsoft.com/office/drawing/2014/main" id="{62F72D1F-0E0A-F6BA-5DBF-C53CE0E3DC25}"/>
              </a:ext>
            </a:extLst>
          </p:cNvPr>
          <p:cNvSpPr/>
          <p:nvPr/>
        </p:nvSpPr>
        <p:spPr>
          <a:xfrm>
            <a:off x="434820" y="1153390"/>
            <a:ext cx="3611524" cy="3041339"/>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Montserrat" panose="00000500000000000000" pitchFamily="2" charset="0"/>
              <a:ea typeface="微软雅黑 Light" panose="020B0502040204020203" pitchFamily="34" charset="-122"/>
            </a:endParaRPr>
          </a:p>
        </p:txBody>
      </p:sp>
      <p:sp>
        <p:nvSpPr>
          <p:cNvPr id="136" name="Rectangle 114"/>
          <p:cNvSpPr>
            <a:spLocks noChangeArrowheads="1"/>
          </p:cNvSpPr>
          <p:nvPr/>
        </p:nvSpPr>
        <p:spPr bwMode="auto">
          <a:xfrm>
            <a:off x="2403184" y="1572659"/>
            <a:ext cx="27321" cy="2146055"/>
          </a:xfrm>
          <a:prstGeom prst="rect">
            <a:avLst/>
          </a:prstGeom>
          <a:solidFill>
            <a:srgbClr val="3366CC"/>
          </a:solidFill>
          <a:ln w="38100" cmpd="sng">
            <a:solidFill>
              <a:srgbClr val="3366CC"/>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7" name="Line 115"/>
          <p:cNvSpPr>
            <a:spLocks noChangeShapeType="1"/>
          </p:cNvSpPr>
          <p:nvPr/>
        </p:nvSpPr>
        <p:spPr bwMode="auto">
          <a:xfrm>
            <a:off x="1729264" y="1893307"/>
            <a:ext cx="701240"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8" name="Line 116"/>
          <p:cNvSpPr>
            <a:spLocks noChangeShapeType="1"/>
          </p:cNvSpPr>
          <p:nvPr/>
        </p:nvSpPr>
        <p:spPr bwMode="auto">
          <a:xfrm>
            <a:off x="1938726" y="2479358"/>
            <a:ext cx="491779" cy="1201"/>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9" name="Line 117"/>
          <p:cNvSpPr>
            <a:spLocks noChangeShapeType="1"/>
          </p:cNvSpPr>
          <p:nvPr/>
        </p:nvSpPr>
        <p:spPr bwMode="auto">
          <a:xfrm>
            <a:off x="1362381" y="2886472"/>
            <a:ext cx="1053813" cy="36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40" name="Line 118"/>
          <p:cNvSpPr>
            <a:spLocks noChangeShapeType="1"/>
          </p:cNvSpPr>
          <p:nvPr/>
        </p:nvSpPr>
        <p:spPr bwMode="auto">
          <a:xfrm>
            <a:off x="1799519" y="3429292"/>
            <a:ext cx="632288"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44" name="Line 119"/>
          <p:cNvSpPr>
            <a:spLocks noChangeShapeType="1"/>
          </p:cNvSpPr>
          <p:nvPr/>
        </p:nvSpPr>
        <p:spPr bwMode="auto">
          <a:xfrm>
            <a:off x="2443258" y="2943988"/>
            <a:ext cx="1193020" cy="2402"/>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45" name="Rectangle 255"/>
          <p:cNvSpPr>
            <a:spLocks noChangeArrowheads="1"/>
          </p:cNvSpPr>
          <p:nvPr/>
        </p:nvSpPr>
        <p:spPr bwMode="auto">
          <a:xfrm>
            <a:off x="2668104" y="1546706"/>
            <a:ext cx="615553"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600" dirty="0">
                <a:solidFill>
                  <a:schemeClr val="bg1"/>
                </a:solidFill>
                <a:latin typeface="Montserrat" panose="00000500000000000000" pitchFamily="2" charset="0"/>
                <a:ea typeface="微软雅黑 Light" panose="020B0502040204020203" pitchFamily="34" charset="-122"/>
              </a:rPr>
              <a:t>校园网</a:t>
            </a:r>
          </a:p>
        </p:txBody>
      </p:sp>
      <p:sp>
        <p:nvSpPr>
          <p:cNvPr id="146" name="Rectangle 312"/>
          <p:cNvSpPr>
            <a:spLocks noChangeArrowheads="1"/>
          </p:cNvSpPr>
          <p:nvPr/>
        </p:nvSpPr>
        <p:spPr bwMode="auto">
          <a:xfrm>
            <a:off x="2061020" y="2521391"/>
            <a:ext cx="357776" cy="3014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48" name="Rectangle 313"/>
          <p:cNvSpPr>
            <a:spLocks noChangeArrowheads="1"/>
          </p:cNvSpPr>
          <p:nvPr/>
        </p:nvSpPr>
        <p:spPr bwMode="auto">
          <a:xfrm>
            <a:off x="1078422" y="2396014"/>
            <a:ext cx="461665"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200" dirty="0">
                <a:solidFill>
                  <a:schemeClr val="bg1"/>
                </a:solidFill>
                <a:latin typeface="Montserrat" panose="00000500000000000000" pitchFamily="2" charset="0"/>
                <a:ea typeface="微软雅黑 Light" panose="020B0502040204020203" pitchFamily="34" charset="-122"/>
              </a:rPr>
              <a:t>浏览器</a:t>
            </a:r>
          </a:p>
        </p:txBody>
      </p:sp>
      <p:pic>
        <p:nvPicPr>
          <p:cNvPr id="149"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1534553"/>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50"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13187" y="2110986"/>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51"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3111747"/>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52"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43608" y="2609230"/>
            <a:ext cx="516657" cy="516658"/>
          </a:xfrm>
          <a:prstGeom prst="rect">
            <a:avLst/>
          </a:prstGeom>
          <a:noFill/>
          <a:extLst>
            <a:ext uri="{909E8E84-426E-40DD-AFC4-6F175D3DCCD1}">
              <a14:hiddenFill xmlns:a14="http://schemas.microsoft.com/office/drawing/2010/main">
                <a:solidFill>
                  <a:srgbClr val="FFFFFF"/>
                </a:solidFill>
              </a14:hiddenFill>
            </a:ext>
          </a:extLst>
        </p:spPr>
      </p:pic>
      <p:sp>
        <p:nvSpPr>
          <p:cNvPr id="141" name="Line 119"/>
          <p:cNvSpPr>
            <a:spLocks noChangeShapeType="1"/>
          </p:cNvSpPr>
          <p:nvPr/>
        </p:nvSpPr>
        <p:spPr bwMode="auto">
          <a:xfrm flipV="1">
            <a:off x="2977610" y="2970289"/>
            <a:ext cx="513818" cy="650825"/>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aphicFrame>
        <p:nvGraphicFramePr>
          <p:cNvPr id="31" name="Object 44"/>
          <p:cNvGraphicFramePr>
            <a:graphicFrameLocks noChangeAspect="1"/>
          </p:cNvGraphicFramePr>
          <p:nvPr>
            <p:extLst>
              <p:ext uri="{D42A27DB-BD31-4B8C-83A1-F6EECF244321}">
                <p14:modId xmlns:p14="http://schemas.microsoft.com/office/powerpoint/2010/main" val="2000663618"/>
              </p:ext>
            </p:extLst>
          </p:nvPr>
        </p:nvGraphicFramePr>
        <p:xfrm>
          <a:off x="6071848" y="2423792"/>
          <a:ext cx="1509164" cy="951134"/>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1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071848" y="2423792"/>
                        <a:ext cx="1509164" cy="951134"/>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32" name="Line 45"/>
          <p:cNvSpPr>
            <a:spLocks noChangeShapeType="1"/>
          </p:cNvSpPr>
          <p:nvPr/>
        </p:nvSpPr>
        <p:spPr bwMode="auto">
          <a:xfrm>
            <a:off x="3676701" y="2888550"/>
            <a:ext cx="2154462"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33" name="Line 46"/>
          <p:cNvSpPr>
            <a:spLocks noChangeShapeType="1"/>
          </p:cNvSpPr>
          <p:nvPr/>
        </p:nvSpPr>
        <p:spPr bwMode="auto">
          <a:xfrm>
            <a:off x="7005969" y="3310076"/>
            <a:ext cx="554227" cy="449146"/>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34" name="Line 47"/>
          <p:cNvSpPr>
            <a:spLocks noChangeShapeType="1"/>
          </p:cNvSpPr>
          <p:nvPr/>
        </p:nvSpPr>
        <p:spPr bwMode="auto">
          <a:xfrm>
            <a:off x="7326016" y="3079498"/>
            <a:ext cx="444943" cy="94873"/>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35" name="Line 48"/>
          <p:cNvSpPr>
            <a:spLocks noChangeShapeType="1"/>
          </p:cNvSpPr>
          <p:nvPr/>
        </p:nvSpPr>
        <p:spPr bwMode="auto">
          <a:xfrm flipV="1">
            <a:off x="7350735" y="2516264"/>
            <a:ext cx="420224" cy="127298"/>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36" name="Line 49"/>
          <p:cNvSpPr>
            <a:spLocks noChangeShapeType="1"/>
          </p:cNvSpPr>
          <p:nvPr/>
        </p:nvSpPr>
        <p:spPr bwMode="auto">
          <a:xfrm flipV="1">
            <a:off x="6979949" y="2004669"/>
            <a:ext cx="580248" cy="492380"/>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nvGrpSpPr>
          <p:cNvPr id="43" name="Group 120"/>
          <p:cNvGrpSpPr>
            <a:grpSpLocks/>
          </p:cNvGrpSpPr>
          <p:nvPr/>
        </p:nvGrpSpPr>
        <p:grpSpPr bwMode="auto">
          <a:xfrm>
            <a:off x="3321527" y="2753930"/>
            <a:ext cx="477468" cy="309839"/>
            <a:chOff x="2154" y="3033"/>
            <a:chExt cx="309" cy="192"/>
          </a:xfrm>
        </p:grpSpPr>
        <p:sp>
          <p:nvSpPr>
            <p:cNvPr id="44" name="Oval 121"/>
            <p:cNvSpPr>
              <a:spLocks noChangeArrowheads="1"/>
            </p:cNvSpPr>
            <p:nvPr/>
          </p:nvSpPr>
          <p:spPr bwMode="auto">
            <a:xfrm>
              <a:off x="2155"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45" name="Rectangle 122"/>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46" name="Rectangle 123"/>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47" name="Oval 124"/>
            <p:cNvSpPr>
              <a:spLocks noChangeArrowheads="1"/>
            </p:cNvSpPr>
            <p:nvPr/>
          </p:nvSpPr>
          <p:spPr bwMode="auto">
            <a:xfrm>
              <a:off x="2155"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nvGrpSpPr>
            <p:cNvPr id="48" name="Group 125"/>
            <p:cNvGrpSpPr>
              <a:grpSpLocks/>
            </p:cNvGrpSpPr>
            <p:nvPr/>
          </p:nvGrpSpPr>
          <p:grpSpPr bwMode="auto">
            <a:xfrm>
              <a:off x="2201" y="3046"/>
              <a:ext cx="214" cy="86"/>
              <a:chOff x="2201" y="3046"/>
              <a:chExt cx="214" cy="86"/>
            </a:xfrm>
          </p:grpSpPr>
          <p:grpSp>
            <p:nvGrpSpPr>
              <p:cNvPr id="51" name="Group 126"/>
              <p:cNvGrpSpPr>
                <a:grpSpLocks/>
              </p:cNvGrpSpPr>
              <p:nvPr/>
            </p:nvGrpSpPr>
            <p:grpSpPr bwMode="auto">
              <a:xfrm>
                <a:off x="2201" y="3046"/>
                <a:ext cx="212" cy="84"/>
                <a:chOff x="2201" y="3046"/>
                <a:chExt cx="212" cy="84"/>
              </a:xfrm>
            </p:grpSpPr>
            <p:sp>
              <p:nvSpPr>
                <p:cNvPr id="61" name="Freeform 127"/>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2" name="Freeform 128"/>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3" name="Freeform 129"/>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4" name="Freeform 130"/>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5" name="Freeform 131"/>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6" name="Freeform 132"/>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7" name="Freeform 133"/>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8" name="Freeform 134"/>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grpSp>
            <p:nvGrpSpPr>
              <p:cNvPr id="52" name="Group 135"/>
              <p:cNvGrpSpPr>
                <a:grpSpLocks/>
              </p:cNvGrpSpPr>
              <p:nvPr/>
            </p:nvGrpSpPr>
            <p:grpSpPr bwMode="auto">
              <a:xfrm>
                <a:off x="2203" y="3048"/>
                <a:ext cx="212" cy="84"/>
                <a:chOff x="2203" y="3048"/>
                <a:chExt cx="212" cy="84"/>
              </a:xfrm>
            </p:grpSpPr>
            <p:sp>
              <p:nvSpPr>
                <p:cNvPr id="53" name="Freeform 136"/>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54" name="Freeform 137"/>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55" name="Freeform 138"/>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56" name="Freeform 139"/>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57" name="Freeform 140"/>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58" name="Freeform 141"/>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59" name="Freeform 142"/>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0" name="Freeform 143"/>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grpSp>
        <p:sp>
          <p:nvSpPr>
            <p:cNvPr id="49" name="Line 144"/>
            <p:cNvSpPr>
              <a:spLocks noChangeShapeType="1"/>
            </p:cNvSpPr>
            <p:nvPr/>
          </p:nvSpPr>
          <p:spPr bwMode="auto">
            <a:xfrm>
              <a:off x="2154"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50" name="Line 145"/>
            <p:cNvSpPr>
              <a:spLocks noChangeShapeType="1"/>
            </p:cNvSpPr>
            <p:nvPr/>
          </p:nvSpPr>
          <p:spPr bwMode="auto">
            <a:xfrm>
              <a:off x="246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sp>
        <p:nvSpPr>
          <p:cNvPr id="69" name="Rectangle 254"/>
          <p:cNvSpPr>
            <a:spLocks noChangeArrowheads="1"/>
          </p:cNvSpPr>
          <p:nvPr/>
        </p:nvSpPr>
        <p:spPr bwMode="auto">
          <a:xfrm>
            <a:off x="2513605" y="2079127"/>
            <a:ext cx="729863" cy="5115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1" name="Rectangle 279"/>
          <p:cNvSpPr>
            <a:spLocks noChangeArrowheads="1"/>
          </p:cNvSpPr>
          <p:nvPr/>
        </p:nvSpPr>
        <p:spPr bwMode="auto">
          <a:xfrm>
            <a:off x="7350735" y="1274990"/>
            <a:ext cx="109039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1" lang="zh-CN" altLang="en-US" sz="1400" dirty="0">
                <a:latin typeface="Montserrat" panose="00000500000000000000" pitchFamily="2" charset="0"/>
                <a:ea typeface="微软雅黑 Light" panose="020B0502040204020203" pitchFamily="34" charset="-122"/>
              </a:rPr>
              <a:t>源点服务器</a:t>
            </a:r>
          </a:p>
        </p:txBody>
      </p:sp>
      <p:sp>
        <p:nvSpPr>
          <p:cNvPr id="72" name="Rectangle 280"/>
          <p:cNvSpPr>
            <a:spLocks noChangeArrowheads="1"/>
          </p:cNvSpPr>
          <p:nvPr/>
        </p:nvSpPr>
        <p:spPr bwMode="auto">
          <a:xfrm>
            <a:off x="4055293" y="2560698"/>
            <a:ext cx="697338" cy="3218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3" name="Rectangle 281"/>
          <p:cNvSpPr>
            <a:spLocks noChangeArrowheads="1"/>
          </p:cNvSpPr>
          <p:nvPr/>
        </p:nvSpPr>
        <p:spPr bwMode="auto">
          <a:xfrm>
            <a:off x="4374843" y="2614739"/>
            <a:ext cx="711733"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2 Mbit/s</a:t>
            </a:r>
          </a:p>
        </p:txBody>
      </p:sp>
      <p:grpSp>
        <p:nvGrpSpPr>
          <p:cNvPr id="74" name="Group 282"/>
          <p:cNvGrpSpPr>
            <a:grpSpLocks/>
          </p:cNvGrpSpPr>
          <p:nvPr/>
        </p:nvGrpSpPr>
        <p:grpSpPr bwMode="auto">
          <a:xfrm>
            <a:off x="5669839" y="2721623"/>
            <a:ext cx="477468" cy="309839"/>
            <a:chOff x="3202" y="3033"/>
            <a:chExt cx="309" cy="192"/>
          </a:xfrm>
        </p:grpSpPr>
        <p:sp>
          <p:nvSpPr>
            <p:cNvPr id="75" name="Oval 283"/>
            <p:cNvSpPr>
              <a:spLocks noChangeArrowheads="1"/>
            </p:cNvSpPr>
            <p:nvPr/>
          </p:nvSpPr>
          <p:spPr bwMode="auto">
            <a:xfrm>
              <a:off x="3203"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6" name="Rectangle 284"/>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7" name="Rectangle 285"/>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8" name="Oval 286"/>
            <p:cNvSpPr>
              <a:spLocks noChangeArrowheads="1"/>
            </p:cNvSpPr>
            <p:nvPr/>
          </p:nvSpPr>
          <p:spPr bwMode="auto">
            <a:xfrm>
              <a:off x="3203"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nvGrpSpPr>
            <p:cNvPr id="79" name="Group 287"/>
            <p:cNvGrpSpPr>
              <a:grpSpLocks/>
            </p:cNvGrpSpPr>
            <p:nvPr/>
          </p:nvGrpSpPr>
          <p:grpSpPr bwMode="auto">
            <a:xfrm>
              <a:off x="3249" y="3046"/>
              <a:ext cx="214" cy="86"/>
              <a:chOff x="3249" y="3046"/>
              <a:chExt cx="214" cy="86"/>
            </a:xfrm>
          </p:grpSpPr>
          <p:grpSp>
            <p:nvGrpSpPr>
              <p:cNvPr id="82" name="Group 288"/>
              <p:cNvGrpSpPr>
                <a:grpSpLocks/>
              </p:cNvGrpSpPr>
              <p:nvPr/>
            </p:nvGrpSpPr>
            <p:grpSpPr bwMode="auto">
              <a:xfrm>
                <a:off x="3249" y="3046"/>
                <a:ext cx="212" cy="84"/>
                <a:chOff x="3249" y="3046"/>
                <a:chExt cx="212" cy="84"/>
              </a:xfrm>
            </p:grpSpPr>
            <p:sp>
              <p:nvSpPr>
                <p:cNvPr id="92" name="Freeform 289"/>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3" name="Freeform 290"/>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4" name="Freeform 291"/>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5" name="Freeform 292"/>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6" name="Freeform 293"/>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7" name="Freeform 294"/>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8" name="Freeform 295"/>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9" name="Freeform 296"/>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grpSp>
            <p:nvGrpSpPr>
              <p:cNvPr id="83" name="Group 297"/>
              <p:cNvGrpSpPr>
                <a:grpSpLocks/>
              </p:cNvGrpSpPr>
              <p:nvPr/>
            </p:nvGrpSpPr>
            <p:grpSpPr bwMode="auto">
              <a:xfrm>
                <a:off x="3251" y="3048"/>
                <a:ext cx="212" cy="84"/>
                <a:chOff x="3251" y="3048"/>
                <a:chExt cx="212" cy="84"/>
              </a:xfrm>
            </p:grpSpPr>
            <p:sp>
              <p:nvSpPr>
                <p:cNvPr id="84" name="Freeform 298"/>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5" name="Freeform 299"/>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6" name="Freeform 300"/>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7" name="Freeform 301"/>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8" name="Freeform 302"/>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9" name="Freeform 303"/>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0" name="Freeform 304"/>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1" name="Freeform 305"/>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grpSp>
        <p:sp>
          <p:nvSpPr>
            <p:cNvPr id="80" name="Line 306"/>
            <p:cNvSpPr>
              <a:spLocks noChangeShapeType="1"/>
            </p:cNvSpPr>
            <p:nvPr/>
          </p:nvSpPr>
          <p:spPr bwMode="auto">
            <a:xfrm>
              <a:off x="320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1" name="Line 307"/>
            <p:cNvSpPr>
              <a:spLocks noChangeShapeType="1"/>
            </p:cNvSpPr>
            <p:nvPr/>
          </p:nvSpPr>
          <p:spPr bwMode="auto">
            <a:xfrm>
              <a:off x="3510"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sp>
        <p:nvSpPr>
          <p:cNvPr id="100" name="Rectangle 308"/>
          <p:cNvSpPr>
            <a:spLocks noChangeArrowheads="1"/>
          </p:cNvSpPr>
          <p:nvPr/>
        </p:nvSpPr>
        <p:spPr bwMode="auto">
          <a:xfrm>
            <a:off x="6156415" y="2370952"/>
            <a:ext cx="729863" cy="3230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1" name="Rectangle 309"/>
          <p:cNvSpPr>
            <a:spLocks noChangeArrowheads="1"/>
          </p:cNvSpPr>
          <p:nvPr/>
        </p:nvSpPr>
        <p:spPr bwMode="auto">
          <a:xfrm>
            <a:off x="6538749" y="2811692"/>
            <a:ext cx="53860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400" dirty="0">
                <a:latin typeface="Montserrat" panose="00000500000000000000" pitchFamily="2" charset="0"/>
                <a:ea typeface="微软雅黑 Light" panose="020B0502040204020203" pitchFamily="34" charset="-122"/>
              </a:rPr>
              <a:t>互联网</a:t>
            </a:r>
          </a:p>
        </p:txBody>
      </p:sp>
      <p:sp>
        <p:nvSpPr>
          <p:cNvPr id="102" name="Rectangle 310"/>
          <p:cNvSpPr>
            <a:spLocks noChangeArrowheads="1"/>
          </p:cNvSpPr>
          <p:nvPr/>
        </p:nvSpPr>
        <p:spPr bwMode="auto">
          <a:xfrm>
            <a:off x="3635069" y="2444208"/>
            <a:ext cx="327853" cy="301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3" name="Rectangle 311"/>
          <p:cNvSpPr>
            <a:spLocks noChangeArrowheads="1"/>
          </p:cNvSpPr>
          <p:nvPr/>
        </p:nvSpPr>
        <p:spPr bwMode="auto">
          <a:xfrm>
            <a:off x="2933828" y="3027858"/>
            <a:ext cx="355175" cy="3026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6" name="Rectangle 314"/>
          <p:cNvSpPr>
            <a:spLocks noChangeArrowheads="1"/>
          </p:cNvSpPr>
          <p:nvPr/>
        </p:nvSpPr>
        <p:spPr bwMode="auto">
          <a:xfrm>
            <a:off x="3631167" y="2464624"/>
            <a:ext cx="17312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1</a:t>
            </a:r>
          </a:p>
        </p:txBody>
      </p:sp>
      <p:sp>
        <p:nvSpPr>
          <p:cNvPr id="107" name="Rectangle 315"/>
          <p:cNvSpPr>
            <a:spLocks noChangeArrowheads="1"/>
          </p:cNvSpPr>
          <p:nvPr/>
        </p:nvSpPr>
        <p:spPr bwMode="auto">
          <a:xfrm>
            <a:off x="5779123" y="2465824"/>
            <a:ext cx="19717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2</a:t>
            </a:r>
          </a:p>
        </p:txBody>
      </p:sp>
      <p:pic>
        <p:nvPicPr>
          <p:cNvPr id="112" name="图片 11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441832" y="1513313"/>
            <a:ext cx="441076" cy="617506"/>
          </a:xfrm>
          <a:prstGeom prst="rect">
            <a:avLst/>
          </a:prstGeom>
        </p:spPr>
      </p:pic>
      <p:pic>
        <p:nvPicPr>
          <p:cNvPr id="117" name="图片 116"/>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699008" y="2175800"/>
            <a:ext cx="441076" cy="617506"/>
          </a:xfrm>
          <a:prstGeom prst="rect">
            <a:avLst/>
          </a:prstGeom>
        </p:spPr>
      </p:pic>
      <p:pic>
        <p:nvPicPr>
          <p:cNvPr id="118" name="图片 117"/>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699008" y="2895880"/>
            <a:ext cx="441076" cy="617506"/>
          </a:xfrm>
          <a:prstGeom prst="rect">
            <a:avLst/>
          </a:prstGeom>
        </p:spPr>
      </p:pic>
      <p:pic>
        <p:nvPicPr>
          <p:cNvPr id="119" name="图片 118"/>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441832" y="3471944"/>
            <a:ext cx="441076" cy="617506"/>
          </a:xfrm>
          <a:prstGeom prst="rect">
            <a:avLst/>
          </a:prstGeom>
        </p:spPr>
      </p:pic>
      <p:pic>
        <p:nvPicPr>
          <p:cNvPr id="128" name="图片 127"/>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639810" y="3452412"/>
            <a:ext cx="441076" cy="617506"/>
          </a:xfrm>
          <a:prstGeom prst="rect">
            <a:avLst/>
          </a:prstGeom>
        </p:spPr>
      </p:pic>
      <p:cxnSp>
        <p:nvCxnSpPr>
          <p:cNvPr id="3" name="直接箭头连接符 2"/>
          <p:cNvCxnSpPr/>
          <p:nvPr/>
        </p:nvCxnSpPr>
        <p:spPr>
          <a:xfrm>
            <a:off x="1825374" y="1963801"/>
            <a:ext cx="1034974" cy="1620917"/>
          </a:xfrm>
          <a:prstGeom prst="straightConnector1">
            <a:avLst/>
          </a:prstGeom>
          <a:ln w="38100">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29" name="直接箭头连接符 128"/>
          <p:cNvCxnSpPr/>
          <p:nvPr/>
        </p:nvCxnSpPr>
        <p:spPr>
          <a:xfrm>
            <a:off x="1825374" y="2560698"/>
            <a:ext cx="881176" cy="1024020"/>
          </a:xfrm>
          <a:prstGeom prst="straightConnector1">
            <a:avLst/>
          </a:prstGeom>
          <a:ln w="38100">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0" name="直接箭头连接符 129"/>
          <p:cNvCxnSpPr/>
          <p:nvPr/>
        </p:nvCxnSpPr>
        <p:spPr>
          <a:xfrm>
            <a:off x="1290296" y="2967888"/>
            <a:ext cx="1483088" cy="740362"/>
          </a:xfrm>
          <a:prstGeom prst="straightConnector1">
            <a:avLst/>
          </a:prstGeom>
          <a:ln w="38100">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5" name="直接箭头连接符 134"/>
          <p:cNvCxnSpPr/>
          <p:nvPr/>
        </p:nvCxnSpPr>
        <p:spPr>
          <a:xfrm>
            <a:off x="1775935" y="3573454"/>
            <a:ext cx="952317" cy="269593"/>
          </a:xfrm>
          <a:prstGeom prst="straightConnector1">
            <a:avLst/>
          </a:prstGeom>
          <a:ln w="38100">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42" name="矩形 141"/>
          <p:cNvSpPr/>
          <p:nvPr/>
        </p:nvSpPr>
        <p:spPr>
          <a:xfrm>
            <a:off x="4004325" y="908563"/>
            <a:ext cx="3297333" cy="766074"/>
          </a:xfrm>
          <a:prstGeom prst="rect">
            <a:avLst/>
          </a:prstGeom>
          <a:noFill/>
          <a:ln>
            <a:solidFill>
              <a:schemeClr val="tx1"/>
            </a:solidFill>
          </a:ln>
        </p:spPr>
        <p:txBody>
          <a:bodyPr wrap="square">
            <a:spAutoFit/>
          </a:bodyPr>
          <a:lstStyle/>
          <a:p>
            <a:pPr algn="just"/>
            <a:r>
              <a:rPr kumimoji="1" lang="en-US" altLang="zh-CN" sz="1400" dirty="0">
                <a:latin typeface="Montserrat" panose="00000500000000000000" pitchFamily="2" charset="0"/>
                <a:ea typeface="微软雅黑 Light" panose="020B0502040204020203" pitchFamily="34" charset="-122"/>
              </a:rPr>
              <a:t>(1) </a:t>
            </a:r>
            <a:r>
              <a:rPr kumimoji="1" lang="zh-CN" altLang="en-US" sz="1400" dirty="0">
                <a:latin typeface="Montserrat" panose="00000500000000000000" pitchFamily="2" charset="0"/>
                <a:ea typeface="微软雅黑 Light" panose="020B0502040204020203" pitchFamily="34" charset="-122"/>
              </a:rPr>
              <a:t>浏览器访问互联网的服务器时，先与校园网的高速缓存建立 </a:t>
            </a:r>
            <a:r>
              <a:rPr kumimoji="1" lang="en-US" altLang="zh-CN" sz="1400" dirty="0">
                <a:latin typeface="Montserrat" panose="00000500000000000000" pitchFamily="2" charset="0"/>
                <a:ea typeface="微软雅黑 Light" panose="020B0502040204020203" pitchFamily="34" charset="-122"/>
              </a:rPr>
              <a:t>TCP </a:t>
            </a:r>
            <a:r>
              <a:rPr kumimoji="1" lang="zh-CN" altLang="en-US" sz="1400" dirty="0">
                <a:latin typeface="Montserrat" panose="00000500000000000000" pitchFamily="2" charset="0"/>
                <a:ea typeface="微软雅黑 Light" panose="020B0502040204020203" pitchFamily="34" charset="-122"/>
              </a:rPr>
              <a:t>连接，并向高速缓存发出 </a:t>
            </a:r>
            <a:r>
              <a:rPr kumimoji="1" lang="en-US" altLang="zh-CN" sz="1400" dirty="0">
                <a:latin typeface="Montserrat" panose="00000500000000000000" pitchFamily="2" charset="0"/>
                <a:ea typeface="微软雅黑 Light" panose="020B0502040204020203" pitchFamily="34" charset="-122"/>
              </a:rPr>
              <a:t>HTTP </a:t>
            </a:r>
            <a:r>
              <a:rPr kumimoji="1" lang="zh-CN" altLang="en-US" sz="1400" dirty="0">
                <a:latin typeface="Montserrat" panose="00000500000000000000" pitchFamily="2" charset="0"/>
                <a:ea typeface="微软雅黑 Light" panose="020B0502040204020203" pitchFamily="34" charset="-122"/>
              </a:rPr>
              <a:t>请求报文</a:t>
            </a:r>
          </a:p>
        </p:txBody>
      </p:sp>
      <p:sp>
        <p:nvSpPr>
          <p:cNvPr id="143" name="Text Box 328"/>
          <p:cNvSpPr txBox="1">
            <a:spLocks noChangeArrowheads="1"/>
          </p:cNvSpPr>
          <p:nvPr/>
        </p:nvSpPr>
        <p:spPr bwMode="auto">
          <a:xfrm>
            <a:off x="3761576" y="3548615"/>
            <a:ext cx="1621051" cy="5236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lang="zh-CN" altLang="en-US" sz="1400" dirty="0">
                <a:latin typeface="Montserrat" panose="00000500000000000000" pitchFamily="2" charset="0"/>
                <a:ea typeface="微软雅黑 Light" panose="020B0502040204020203" pitchFamily="34" charset="-122"/>
              </a:rPr>
              <a:t>校园网的高速缓存</a:t>
            </a:r>
          </a:p>
          <a:p>
            <a:pPr algn="ctr"/>
            <a:r>
              <a:rPr lang="zh-CN" altLang="en-US" sz="1400" dirty="0">
                <a:latin typeface="Montserrat" panose="00000500000000000000" pitchFamily="2" charset="0"/>
                <a:ea typeface="微软雅黑 Light" panose="020B0502040204020203" pitchFamily="34" charset="-122"/>
              </a:rPr>
              <a:t>（代理服务器）</a:t>
            </a:r>
          </a:p>
        </p:txBody>
      </p:sp>
      <p:cxnSp>
        <p:nvCxnSpPr>
          <p:cNvPr id="147" name="直接箭头连接符 146"/>
          <p:cNvCxnSpPr/>
          <p:nvPr/>
        </p:nvCxnSpPr>
        <p:spPr>
          <a:xfrm flipH="1">
            <a:off x="2977610" y="3708250"/>
            <a:ext cx="821385" cy="134797"/>
          </a:xfrm>
          <a:prstGeom prst="straightConnector1">
            <a:avLst/>
          </a:prstGeom>
          <a:ln w="19050">
            <a:solidFill>
              <a:srgbClr val="00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336398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2000"/>
                                        <p:tgtEl>
                                          <p:spTgt spid="3"/>
                                        </p:tgtEl>
                                      </p:cBhvr>
                                    </p:animEffect>
                                  </p:childTnLst>
                                </p:cTn>
                              </p:par>
                            </p:childTnLst>
                          </p:cTn>
                        </p:par>
                        <p:par>
                          <p:cTn id="8" fill="hold">
                            <p:stCondLst>
                              <p:cond delay="2000"/>
                            </p:stCondLst>
                            <p:childTnLst>
                              <p:par>
                                <p:cTn id="9" presetID="22" presetClass="entr" presetSubtype="1" fill="hold" nodeType="afterEffect">
                                  <p:stCondLst>
                                    <p:cond delay="0"/>
                                  </p:stCondLst>
                                  <p:childTnLst>
                                    <p:set>
                                      <p:cBhvr>
                                        <p:cTn id="10" dur="1" fill="hold">
                                          <p:stCondLst>
                                            <p:cond delay="0"/>
                                          </p:stCondLst>
                                        </p:cTn>
                                        <p:tgtEl>
                                          <p:spTgt spid="129"/>
                                        </p:tgtEl>
                                        <p:attrNameLst>
                                          <p:attrName>style.visibility</p:attrName>
                                        </p:attrNameLst>
                                      </p:cBhvr>
                                      <p:to>
                                        <p:strVal val="visible"/>
                                      </p:to>
                                    </p:set>
                                    <p:animEffect transition="in" filter="wipe(up)">
                                      <p:cBhvr>
                                        <p:cTn id="11" dur="2000"/>
                                        <p:tgtEl>
                                          <p:spTgt spid="129"/>
                                        </p:tgtEl>
                                      </p:cBhvr>
                                    </p:animEffect>
                                  </p:childTnLst>
                                </p:cTn>
                              </p:par>
                            </p:childTnLst>
                          </p:cTn>
                        </p:par>
                        <p:par>
                          <p:cTn id="12" fill="hold">
                            <p:stCondLst>
                              <p:cond delay="4000"/>
                            </p:stCondLst>
                            <p:childTnLst>
                              <p:par>
                                <p:cTn id="13" presetID="22" presetClass="entr" presetSubtype="1" fill="hold" nodeType="afterEffect">
                                  <p:stCondLst>
                                    <p:cond delay="0"/>
                                  </p:stCondLst>
                                  <p:childTnLst>
                                    <p:set>
                                      <p:cBhvr>
                                        <p:cTn id="14" dur="1" fill="hold">
                                          <p:stCondLst>
                                            <p:cond delay="0"/>
                                          </p:stCondLst>
                                        </p:cTn>
                                        <p:tgtEl>
                                          <p:spTgt spid="130"/>
                                        </p:tgtEl>
                                        <p:attrNameLst>
                                          <p:attrName>style.visibility</p:attrName>
                                        </p:attrNameLst>
                                      </p:cBhvr>
                                      <p:to>
                                        <p:strVal val="visible"/>
                                      </p:to>
                                    </p:set>
                                    <p:animEffect transition="in" filter="wipe(up)">
                                      <p:cBhvr>
                                        <p:cTn id="15" dur="2000"/>
                                        <p:tgtEl>
                                          <p:spTgt spid="130"/>
                                        </p:tgtEl>
                                      </p:cBhvr>
                                    </p:animEffect>
                                  </p:childTnLst>
                                </p:cTn>
                              </p:par>
                            </p:childTnLst>
                          </p:cTn>
                        </p:par>
                        <p:par>
                          <p:cTn id="16" fill="hold">
                            <p:stCondLst>
                              <p:cond delay="6000"/>
                            </p:stCondLst>
                            <p:childTnLst>
                              <p:par>
                                <p:cTn id="17" presetID="22" presetClass="entr" presetSubtype="1" fill="hold" nodeType="afterEffect">
                                  <p:stCondLst>
                                    <p:cond delay="0"/>
                                  </p:stCondLst>
                                  <p:childTnLst>
                                    <p:set>
                                      <p:cBhvr>
                                        <p:cTn id="18" dur="1" fill="hold">
                                          <p:stCondLst>
                                            <p:cond delay="0"/>
                                          </p:stCondLst>
                                        </p:cTn>
                                        <p:tgtEl>
                                          <p:spTgt spid="135"/>
                                        </p:tgtEl>
                                        <p:attrNameLst>
                                          <p:attrName>style.visibility</p:attrName>
                                        </p:attrNameLst>
                                      </p:cBhvr>
                                      <p:to>
                                        <p:strVal val="visible"/>
                                      </p:to>
                                    </p:set>
                                    <p:animEffect transition="in" filter="wipe(up)">
                                      <p:cBhvr>
                                        <p:cTn id="19" dur="2000"/>
                                        <p:tgtEl>
                                          <p:spTgt spid="1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09154E5-1E29-52CF-DD4B-73D66CC8B208}"/>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代理服务器</a:t>
            </a:r>
          </a:p>
        </p:txBody>
      </p:sp>
      <p:sp>
        <p:nvSpPr>
          <p:cNvPr id="5" name="内容占位符 4">
            <a:extLst>
              <a:ext uri="{FF2B5EF4-FFF2-40B4-BE49-F238E27FC236}">
                <a16:creationId xmlns:a16="http://schemas.microsoft.com/office/drawing/2014/main" id="{CC6EA070-AAA0-C604-65AF-0083D9D43CEB}"/>
              </a:ext>
            </a:extLst>
          </p:cNvPr>
          <p:cNvSpPr>
            <a:spLocks noGrp="1"/>
          </p:cNvSpPr>
          <p:nvPr>
            <p:ph sz="quarter" idx="11"/>
          </p:nvPr>
        </p:nvSpPr>
        <p:spPr>
          <a:xfrm>
            <a:off x="486000" y="687518"/>
            <a:ext cx="8172000" cy="4079035"/>
          </a:xfrm>
        </p:spPr>
        <p:txBody>
          <a:bodyPr/>
          <a:lstStyle/>
          <a:p>
            <a:r>
              <a:rPr lang="zh-CN" altLang="en-US" dirty="0"/>
              <a:t>使用高速缓存的情况</a:t>
            </a:r>
          </a:p>
          <a:p>
            <a:endParaRPr lang="zh-CN" altLang="en-US" dirty="0"/>
          </a:p>
        </p:txBody>
      </p:sp>
      <p:sp>
        <p:nvSpPr>
          <p:cNvPr id="131" name="Rectangle 114"/>
          <p:cNvSpPr>
            <a:spLocks noChangeArrowheads="1"/>
          </p:cNvSpPr>
          <p:nvPr/>
        </p:nvSpPr>
        <p:spPr bwMode="auto">
          <a:xfrm>
            <a:off x="2403184" y="1572659"/>
            <a:ext cx="27321" cy="2146055"/>
          </a:xfrm>
          <a:prstGeom prst="rect">
            <a:avLst/>
          </a:prstGeom>
          <a:solidFill>
            <a:srgbClr val="3366CC"/>
          </a:solidFill>
          <a:ln w="38100" cmpd="sng">
            <a:solidFill>
              <a:srgbClr val="3366CC"/>
            </a:solidFill>
            <a:miter lim="800000"/>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2" name="Line 115"/>
          <p:cNvSpPr>
            <a:spLocks noChangeShapeType="1"/>
          </p:cNvSpPr>
          <p:nvPr/>
        </p:nvSpPr>
        <p:spPr bwMode="auto">
          <a:xfrm>
            <a:off x="1729264" y="1893307"/>
            <a:ext cx="701240"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3" name="Line 116"/>
          <p:cNvSpPr>
            <a:spLocks noChangeShapeType="1"/>
          </p:cNvSpPr>
          <p:nvPr/>
        </p:nvSpPr>
        <p:spPr bwMode="auto">
          <a:xfrm>
            <a:off x="1938726" y="2479358"/>
            <a:ext cx="491779" cy="1201"/>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4" name="Line 117"/>
          <p:cNvSpPr>
            <a:spLocks noChangeShapeType="1"/>
          </p:cNvSpPr>
          <p:nvPr/>
        </p:nvSpPr>
        <p:spPr bwMode="auto">
          <a:xfrm>
            <a:off x="1362381" y="2886472"/>
            <a:ext cx="1053813" cy="36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5" name="Line 118"/>
          <p:cNvSpPr>
            <a:spLocks noChangeShapeType="1"/>
          </p:cNvSpPr>
          <p:nvPr/>
        </p:nvSpPr>
        <p:spPr bwMode="auto">
          <a:xfrm>
            <a:off x="1799519" y="3429292"/>
            <a:ext cx="632288"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6" name="Line 119"/>
          <p:cNvSpPr>
            <a:spLocks noChangeShapeType="1"/>
          </p:cNvSpPr>
          <p:nvPr/>
        </p:nvSpPr>
        <p:spPr bwMode="auto">
          <a:xfrm>
            <a:off x="2443258" y="2943988"/>
            <a:ext cx="1193020" cy="2402"/>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7" name="Rectangle 255"/>
          <p:cNvSpPr>
            <a:spLocks noChangeArrowheads="1"/>
          </p:cNvSpPr>
          <p:nvPr/>
        </p:nvSpPr>
        <p:spPr bwMode="auto">
          <a:xfrm>
            <a:off x="2668104" y="1546706"/>
            <a:ext cx="615553"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600" b="1" dirty="0">
                <a:solidFill>
                  <a:schemeClr val="bg1"/>
                </a:solidFill>
                <a:latin typeface="微软雅黑 Light" panose="020B0502040204020203" pitchFamily="34" charset="-122"/>
                <a:ea typeface="微软雅黑 Light" panose="020B0502040204020203" pitchFamily="34" charset="-122"/>
              </a:rPr>
              <a:t>校园网</a:t>
            </a:r>
          </a:p>
        </p:txBody>
      </p:sp>
      <p:sp>
        <p:nvSpPr>
          <p:cNvPr id="138" name="Rectangle 312"/>
          <p:cNvSpPr>
            <a:spLocks noChangeArrowheads="1"/>
          </p:cNvSpPr>
          <p:nvPr/>
        </p:nvSpPr>
        <p:spPr bwMode="auto">
          <a:xfrm>
            <a:off x="2061020" y="2521391"/>
            <a:ext cx="357776" cy="3014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9" name="Rectangle 313"/>
          <p:cNvSpPr>
            <a:spLocks noChangeArrowheads="1"/>
          </p:cNvSpPr>
          <p:nvPr/>
        </p:nvSpPr>
        <p:spPr bwMode="auto">
          <a:xfrm>
            <a:off x="1078422" y="2396014"/>
            <a:ext cx="461665"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浏览器</a:t>
            </a:r>
          </a:p>
        </p:txBody>
      </p:sp>
      <p:pic>
        <p:nvPicPr>
          <p:cNvPr id="140"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1534553"/>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41"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13187" y="2110986"/>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42"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3111747"/>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43"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43608" y="2609230"/>
            <a:ext cx="516657" cy="516658"/>
          </a:xfrm>
          <a:prstGeom prst="rect">
            <a:avLst/>
          </a:prstGeom>
          <a:noFill/>
          <a:extLst>
            <a:ext uri="{909E8E84-426E-40DD-AFC4-6F175D3DCCD1}">
              <a14:hiddenFill xmlns:a14="http://schemas.microsoft.com/office/drawing/2010/main">
                <a:solidFill>
                  <a:srgbClr val="FFFFFF"/>
                </a:solidFill>
              </a14:hiddenFill>
            </a:ext>
          </a:extLst>
        </p:spPr>
      </p:pic>
      <p:sp>
        <p:nvSpPr>
          <p:cNvPr id="144" name="Line 119"/>
          <p:cNvSpPr>
            <a:spLocks noChangeShapeType="1"/>
          </p:cNvSpPr>
          <p:nvPr/>
        </p:nvSpPr>
        <p:spPr bwMode="auto">
          <a:xfrm flipV="1">
            <a:off x="2977610" y="2970289"/>
            <a:ext cx="513818" cy="650825"/>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aphicFrame>
        <p:nvGraphicFramePr>
          <p:cNvPr id="192" name="Object 44"/>
          <p:cNvGraphicFramePr>
            <a:graphicFrameLocks noChangeAspect="1"/>
          </p:cNvGraphicFramePr>
          <p:nvPr>
            <p:extLst>
              <p:ext uri="{D42A27DB-BD31-4B8C-83A1-F6EECF244321}">
                <p14:modId xmlns:p14="http://schemas.microsoft.com/office/powerpoint/2010/main" val="3667047836"/>
              </p:ext>
            </p:extLst>
          </p:nvPr>
        </p:nvGraphicFramePr>
        <p:xfrm>
          <a:off x="6071848" y="2423794"/>
          <a:ext cx="1509164" cy="951134"/>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10"/>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071848" y="2423794"/>
                        <a:ext cx="1509164" cy="951134"/>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193" name="Line 45"/>
          <p:cNvSpPr>
            <a:spLocks noChangeShapeType="1"/>
          </p:cNvSpPr>
          <p:nvPr/>
        </p:nvSpPr>
        <p:spPr bwMode="auto">
          <a:xfrm>
            <a:off x="3676701" y="2888552"/>
            <a:ext cx="2154462"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94" name="Line 46"/>
          <p:cNvSpPr>
            <a:spLocks noChangeShapeType="1"/>
          </p:cNvSpPr>
          <p:nvPr/>
        </p:nvSpPr>
        <p:spPr bwMode="auto">
          <a:xfrm>
            <a:off x="7005969" y="3310078"/>
            <a:ext cx="554227" cy="449146"/>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95" name="Line 47"/>
          <p:cNvSpPr>
            <a:spLocks noChangeShapeType="1"/>
          </p:cNvSpPr>
          <p:nvPr/>
        </p:nvSpPr>
        <p:spPr bwMode="auto">
          <a:xfrm>
            <a:off x="7326016" y="3079500"/>
            <a:ext cx="444943" cy="94873"/>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96" name="Line 48"/>
          <p:cNvSpPr>
            <a:spLocks noChangeShapeType="1"/>
          </p:cNvSpPr>
          <p:nvPr/>
        </p:nvSpPr>
        <p:spPr bwMode="auto">
          <a:xfrm flipV="1">
            <a:off x="7350735" y="2516266"/>
            <a:ext cx="420224" cy="127298"/>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97" name="Line 49"/>
          <p:cNvSpPr>
            <a:spLocks noChangeShapeType="1"/>
          </p:cNvSpPr>
          <p:nvPr/>
        </p:nvSpPr>
        <p:spPr bwMode="auto">
          <a:xfrm flipV="1">
            <a:off x="6979949" y="2004671"/>
            <a:ext cx="580248" cy="492380"/>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204" name="Group 120"/>
          <p:cNvGrpSpPr>
            <a:grpSpLocks/>
          </p:cNvGrpSpPr>
          <p:nvPr/>
        </p:nvGrpSpPr>
        <p:grpSpPr bwMode="auto">
          <a:xfrm>
            <a:off x="3321527" y="2753932"/>
            <a:ext cx="477468" cy="309839"/>
            <a:chOff x="2154" y="3033"/>
            <a:chExt cx="309" cy="192"/>
          </a:xfrm>
        </p:grpSpPr>
        <p:sp>
          <p:nvSpPr>
            <p:cNvPr id="205" name="Oval 121"/>
            <p:cNvSpPr>
              <a:spLocks noChangeArrowheads="1"/>
            </p:cNvSpPr>
            <p:nvPr/>
          </p:nvSpPr>
          <p:spPr bwMode="auto">
            <a:xfrm>
              <a:off x="2155"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06" name="Rectangle 122"/>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07" name="Rectangle 123"/>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08" name="Oval 124"/>
            <p:cNvSpPr>
              <a:spLocks noChangeArrowheads="1"/>
            </p:cNvSpPr>
            <p:nvPr/>
          </p:nvSpPr>
          <p:spPr bwMode="auto">
            <a:xfrm>
              <a:off x="2155"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209" name="Group 125"/>
            <p:cNvGrpSpPr>
              <a:grpSpLocks/>
            </p:cNvGrpSpPr>
            <p:nvPr/>
          </p:nvGrpSpPr>
          <p:grpSpPr bwMode="auto">
            <a:xfrm>
              <a:off x="2201" y="3046"/>
              <a:ext cx="214" cy="86"/>
              <a:chOff x="2201" y="3046"/>
              <a:chExt cx="214" cy="86"/>
            </a:xfrm>
          </p:grpSpPr>
          <p:grpSp>
            <p:nvGrpSpPr>
              <p:cNvPr id="212" name="Group 126"/>
              <p:cNvGrpSpPr>
                <a:grpSpLocks/>
              </p:cNvGrpSpPr>
              <p:nvPr/>
            </p:nvGrpSpPr>
            <p:grpSpPr bwMode="auto">
              <a:xfrm>
                <a:off x="2201" y="3046"/>
                <a:ext cx="212" cy="84"/>
                <a:chOff x="2201" y="3046"/>
                <a:chExt cx="212" cy="84"/>
              </a:xfrm>
            </p:grpSpPr>
            <p:sp>
              <p:nvSpPr>
                <p:cNvPr id="222" name="Freeform 127"/>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3" name="Freeform 128"/>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4" name="Freeform 129"/>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5" name="Freeform 130"/>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6" name="Freeform 131"/>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7" name="Freeform 132"/>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8" name="Freeform 133"/>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9" name="Freeform 134"/>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213" name="Group 135"/>
              <p:cNvGrpSpPr>
                <a:grpSpLocks/>
              </p:cNvGrpSpPr>
              <p:nvPr/>
            </p:nvGrpSpPr>
            <p:grpSpPr bwMode="auto">
              <a:xfrm>
                <a:off x="2203" y="3048"/>
                <a:ext cx="212" cy="84"/>
                <a:chOff x="2203" y="3048"/>
                <a:chExt cx="212" cy="84"/>
              </a:xfrm>
            </p:grpSpPr>
            <p:sp>
              <p:nvSpPr>
                <p:cNvPr id="214" name="Freeform 136"/>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15" name="Freeform 137"/>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16" name="Freeform 138"/>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17" name="Freeform 139"/>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18" name="Freeform 140"/>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19" name="Freeform 141"/>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0" name="Freeform 142"/>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1" name="Freeform 143"/>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210" name="Line 144"/>
            <p:cNvSpPr>
              <a:spLocks noChangeShapeType="1"/>
            </p:cNvSpPr>
            <p:nvPr/>
          </p:nvSpPr>
          <p:spPr bwMode="auto">
            <a:xfrm>
              <a:off x="2154"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11" name="Line 145"/>
            <p:cNvSpPr>
              <a:spLocks noChangeShapeType="1"/>
            </p:cNvSpPr>
            <p:nvPr/>
          </p:nvSpPr>
          <p:spPr bwMode="auto">
            <a:xfrm>
              <a:off x="246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230" name="Rectangle 254"/>
          <p:cNvSpPr>
            <a:spLocks noChangeArrowheads="1"/>
          </p:cNvSpPr>
          <p:nvPr/>
        </p:nvSpPr>
        <p:spPr bwMode="auto">
          <a:xfrm>
            <a:off x="2513605" y="2079129"/>
            <a:ext cx="729863" cy="5115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33" name="Rectangle 280"/>
          <p:cNvSpPr>
            <a:spLocks noChangeArrowheads="1"/>
          </p:cNvSpPr>
          <p:nvPr/>
        </p:nvSpPr>
        <p:spPr bwMode="auto">
          <a:xfrm>
            <a:off x="4055293" y="2560700"/>
            <a:ext cx="697338" cy="3218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235" name="Group 282"/>
          <p:cNvGrpSpPr>
            <a:grpSpLocks/>
          </p:cNvGrpSpPr>
          <p:nvPr/>
        </p:nvGrpSpPr>
        <p:grpSpPr bwMode="auto">
          <a:xfrm>
            <a:off x="5669839" y="2721625"/>
            <a:ext cx="477468" cy="309839"/>
            <a:chOff x="3202" y="3033"/>
            <a:chExt cx="309" cy="192"/>
          </a:xfrm>
        </p:grpSpPr>
        <p:sp>
          <p:nvSpPr>
            <p:cNvPr id="236" name="Oval 283"/>
            <p:cNvSpPr>
              <a:spLocks noChangeArrowheads="1"/>
            </p:cNvSpPr>
            <p:nvPr/>
          </p:nvSpPr>
          <p:spPr bwMode="auto">
            <a:xfrm>
              <a:off x="3203"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37" name="Rectangle 284"/>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38" name="Rectangle 285"/>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39" name="Oval 286"/>
            <p:cNvSpPr>
              <a:spLocks noChangeArrowheads="1"/>
            </p:cNvSpPr>
            <p:nvPr/>
          </p:nvSpPr>
          <p:spPr bwMode="auto">
            <a:xfrm>
              <a:off x="3203"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240" name="Group 287"/>
            <p:cNvGrpSpPr>
              <a:grpSpLocks/>
            </p:cNvGrpSpPr>
            <p:nvPr/>
          </p:nvGrpSpPr>
          <p:grpSpPr bwMode="auto">
            <a:xfrm>
              <a:off x="3249" y="3046"/>
              <a:ext cx="214" cy="86"/>
              <a:chOff x="3249" y="3046"/>
              <a:chExt cx="214" cy="86"/>
            </a:xfrm>
          </p:grpSpPr>
          <p:grpSp>
            <p:nvGrpSpPr>
              <p:cNvPr id="243" name="Group 288"/>
              <p:cNvGrpSpPr>
                <a:grpSpLocks/>
              </p:cNvGrpSpPr>
              <p:nvPr/>
            </p:nvGrpSpPr>
            <p:grpSpPr bwMode="auto">
              <a:xfrm>
                <a:off x="3249" y="3046"/>
                <a:ext cx="212" cy="84"/>
                <a:chOff x="3249" y="3046"/>
                <a:chExt cx="212" cy="84"/>
              </a:xfrm>
            </p:grpSpPr>
            <p:sp>
              <p:nvSpPr>
                <p:cNvPr id="253" name="Freeform 289"/>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4" name="Freeform 290"/>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5" name="Freeform 291"/>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6" name="Freeform 292"/>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7" name="Freeform 293"/>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8" name="Freeform 294"/>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9" name="Freeform 295"/>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60" name="Freeform 296"/>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244" name="Group 297"/>
              <p:cNvGrpSpPr>
                <a:grpSpLocks/>
              </p:cNvGrpSpPr>
              <p:nvPr/>
            </p:nvGrpSpPr>
            <p:grpSpPr bwMode="auto">
              <a:xfrm>
                <a:off x="3251" y="3048"/>
                <a:ext cx="212" cy="84"/>
                <a:chOff x="3251" y="3048"/>
                <a:chExt cx="212" cy="84"/>
              </a:xfrm>
            </p:grpSpPr>
            <p:sp>
              <p:nvSpPr>
                <p:cNvPr id="245" name="Freeform 298"/>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46" name="Freeform 299"/>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47" name="Freeform 300"/>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48" name="Freeform 301"/>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49" name="Freeform 302"/>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0" name="Freeform 303"/>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1" name="Freeform 304"/>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2" name="Freeform 305"/>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241" name="Line 306"/>
            <p:cNvSpPr>
              <a:spLocks noChangeShapeType="1"/>
            </p:cNvSpPr>
            <p:nvPr/>
          </p:nvSpPr>
          <p:spPr bwMode="auto">
            <a:xfrm>
              <a:off x="320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42" name="Line 307"/>
            <p:cNvSpPr>
              <a:spLocks noChangeShapeType="1"/>
            </p:cNvSpPr>
            <p:nvPr/>
          </p:nvSpPr>
          <p:spPr bwMode="auto">
            <a:xfrm>
              <a:off x="3510"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261" name="Rectangle 308"/>
          <p:cNvSpPr>
            <a:spLocks noChangeArrowheads="1"/>
          </p:cNvSpPr>
          <p:nvPr/>
        </p:nvSpPr>
        <p:spPr bwMode="auto">
          <a:xfrm>
            <a:off x="6156415" y="2370954"/>
            <a:ext cx="729863" cy="3230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63" name="Rectangle 310"/>
          <p:cNvSpPr>
            <a:spLocks noChangeArrowheads="1"/>
          </p:cNvSpPr>
          <p:nvPr/>
        </p:nvSpPr>
        <p:spPr bwMode="auto">
          <a:xfrm>
            <a:off x="3635069" y="2444210"/>
            <a:ext cx="327853" cy="301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64" name="Rectangle 311"/>
          <p:cNvSpPr>
            <a:spLocks noChangeArrowheads="1"/>
          </p:cNvSpPr>
          <p:nvPr/>
        </p:nvSpPr>
        <p:spPr bwMode="auto">
          <a:xfrm>
            <a:off x="2933828" y="3027860"/>
            <a:ext cx="355175" cy="3026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pic>
        <p:nvPicPr>
          <p:cNvPr id="269" name="图片 268"/>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441832" y="1513315"/>
            <a:ext cx="441076" cy="617506"/>
          </a:xfrm>
          <a:prstGeom prst="rect">
            <a:avLst/>
          </a:prstGeom>
        </p:spPr>
      </p:pic>
      <p:pic>
        <p:nvPicPr>
          <p:cNvPr id="274" name="图片 273"/>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699008" y="2175802"/>
            <a:ext cx="441076" cy="617506"/>
          </a:xfrm>
          <a:prstGeom prst="rect">
            <a:avLst/>
          </a:prstGeom>
        </p:spPr>
      </p:pic>
      <p:pic>
        <p:nvPicPr>
          <p:cNvPr id="275" name="图片 274"/>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699008" y="2895882"/>
            <a:ext cx="441076" cy="617506"/>
          </a:xfrm>
          <a:prstGeom prst="rect">
            <a:avLst/>
          </a:prstGeom>
        </p:spPr>
      </p:pic>
      <p:pic>
        <p:nvPicPr>
          <p:cNvPr id="276" name="图片 275"/>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441832" y="3471946"/>
            <a:ext cx="441076" cy="617506"/>
          </a:xfrm>
          <a:prstGeom prst="rect">
            <a:avLst/>
          </a:prstGeom>
        </p:spPr>
      </p:pic>
      <p:pic>
        <p:nvPicPr>
          <p:cNvPr id="277" name="图片 276"/>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639810" y="3452414"/>
            <a:ext cx="441076" cy="617506"/>
          </a:xfrm>
          <a:prstGeom prst="rect">
            <a:avLst/>
          </a:prstGeom>
        </p:spPr>
      </p:pic>
      <p:cxnSp>
        <p:nvCxnSpPr>
          <p:cNvPr id="278" name="直接箭头连接符 277"/>
          <p:cNvCxnSpPr/>
          <p:nvPr/>
        </p:nvCxnSpPr>
        <p:spPr>
          <a:xfrm>
            <a:off x="1825374" y="1963803"/>
            <a:ext cx="1034974" cy="1620917"/>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9" name="直接箭头连接符 278"/>
          <p:cNvCxnSpPr/>
          <p:nvPr/>
        </p:nvCxnSpPr>
        <p:spPr>
          <a:xfrm>
            <a:off x="1825374" y="2560700"/>
            <a:ext cx="881176" cy="1024020"/>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0" name="直接箭头连接符 279"/>
          <p:cNvCxnSpPr/>
          <p:nvPr/>
        </p:nvCxnSpPr>
        <p:spPr>
          <a:xfrm>
            <a:off x="1290296" y="2967890"/>
            <a:ext cx="1483088" cy="740362"/>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1" name="直接箭头连接符 280"/>
          <p:cNvCxnSpPr/>
          <p:nvPr/>
        </p:nvCxnSpPr>
        <p:spPr>
          <a:xfrm>
            <a:off x="1775935" y="3573456"/>
            <a:ext cx="952317" cy="269593"/>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4" name="直接箭头连接符 283"/>
          <p:cNvCxnSpPr/>
          <p:nvPr/>
        </p:nvCxnSpPr>
        <p:spPr>
          <a:xfrm flipH="1">
            <a:off x="2977610" y="3708252"/>
            <a:ext cx="821385" cy="134797"/>
          </a:xfrm>
          <a:prstGeom prst="straightConnector1">
            <a:avLst/>
          </a:prstGeom>
          <a:ln w="19050">
            <a:solidFill>
              <a:srgbClr val="00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 name="云形 2">
            <a:extLst>
              <a:ext uri="{FF2B5EF4-FFF2-40B4-BE49-F238E27FC236}">
                <a16:creationId xmlns:a16="http://schemas.microsoft.com/office/drawing/2014/main" id="{F3AE01B0-1816-E30C-84E1-F01D41EA9544}"/>
              </a:ext>
            </a:extLst>
          </p:cNvPr>
          <p:cNvSpPr/>
          <p:nvPr/>
        </p:nvSpPr>
        <p:spPr>
          <a:xfrm>
            <a:off x="434820" y="1153390"/>
            <a:ext cx="3611524" cy="3041339"/>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Montserrat" panose="00000500000000000000" pitchFamily="2" charset="0"/>
              <a:ea typeface="微软雅黑 Light" panose="020B0502040204020203" pitchFamily="34" charset="-122"/>
            </a:endParaRPr>
          </a:p>
        </p:txBody>
      </p:sp>
      <p:sp>
        <p:nvSpPr>
          <p:cNvPr id="4" name="Rectangle 279">
            <a:extLst>
              <a:ext uri="{FF2B5EF4-FFF2-40B4-BE49-F238E27FC236}">
                <a16:creationId xmlns:a16="http://schemas.microsoft.com/office/drawing/2014/main" id="{633B16F3-B8D2-7690-7619-D19F7F0AE87D}"/>
              </a:ext>
            </a:extLst>
          </p:cNvPr>
          <p:cNvSpPr>
            <a:spLocks noChangeArrowheads="1"/>
          </p:cNvSpPr>
          <p:nvPr/>
        </p:nvSpPr>
        <p:spPr bwMode="auto">
          <a:xfrm>
            <a:off x="7350735" y="1274990"/>
            <a:ext cx="109039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1" lang="zh-CN" altLang="en-US" sz="1400" dirty="0">
                <a:latin typeface="Montserrat" panose="00000500000000000000" pitchFamily="2" charset="0"/>
                <a:ea typeface="微软雅黑 Light" panose="020B0502040204020203" pitchFamily="34" charset="-122"/>
              </a:rPr>
              <a:t>源点服务器</a:t>
            </a:r>
          </a:p>
        </p:txBody>
      </p:sp>
      <p:sp>
        <p:nvSpPr>
          <p:cNvPr id="6" name="矩形 5">
            <a:extLst>
              <a:ext uri="{FF2B5EF4-FFF2-40B4-BE49-F238E27FC236}">
                <a16:creationId xmlns:a16="http://schemas.microsoft.com/office/drawing/2014/main" id="{BCDFDC69-4F33-90AA-FC8D-C2054F2C75AA}"/>
              </a:ext>
            </a:extLst>
          </p:cNvPr>
          <p:cNvSpPr/>
          <p:nvPr/>
        </p:nvSpPr>
        <p:spPr>
          <a:xfrm>
            <a:off x="4004325" y="908563"/>
            <a:ext cx="3297333" cy="766074"/>
          </a:xfrm>
          <a:prstGeom prst="rect">
            <a:avLst/>
          </a:prstGeom>
          <a:noFill/>
          <a:ln>
            <a:solidFill>
              <a:schemeClr val="tx1"/>
            </a:solidFill>
          </a:ln>
        </p:spPr>
        <p:txBody>
          <a:bodyPr wrap="square">
            <a:spAutoFit/>
          </a:bodyPr>
          <a:lstStyle/>
          <a:p>
            <a:pPr algn="just"/>
            <a:r>
              <a:rPr kumimoji="1" lang="en-US" altLang="zh-CN" sz="1400" dirty="0">
                <a:latin typeface="Montserrat" panose="00000500000000000000" pitchFamily="2" charset="0"/>
                <a:ea typeface="微软雅黑 Light" panose="020B0502040204020203" pitchFamily="34" charset="-122"/>
              </a:rPr>
              <a:t>(2) </a:t>
            </a:r>
            <a:r>
              <a:rPr kumimoji="1" lang="zh-CN" altLang="en-US" sz="1400" dirty="0">
                <a:latin typeface="Montserrat" panose="00000500000000000000" pitchFamily="2" charset="0"/>
                <a:ea typeface="微软雅黑 Light" panose="020B0502040204020203" pitchFamily="34" charset="-122"/>
              </a:rPr>
              <a:t>若高速缓存已经存放了所请求的对象，则将此对象放入 </a:t>
            </a:r>
            <a:r>
              <a:rPr kumimoji="1" lang="en-US" altLang="zh-CN" sz="1400" dirty="0">
                <a:latin typeface="Montserrat" panose="00000500000000000000" pitchFamily="2" charset="0"/>
                <a:ea typeface="微软雅黑 Light" panose="020B0502040204020203" pitchFamily="34" charset="-122"/>
              </a:rPr>
              <a:t>HTTP </a:t>
            </a:r>
            <a:r>
              <a:rPr kumimoji="1" lang="zh-CN" altLang="en-US" sz="1400" dirty="0">
                <a:latin typeface="Montserrat" panose="00000500000000000000" pitchFamily="2" charset="0"/>
                <a:ea typeface="微软雅黑 Light" panose="020B0502040204020203" pitchFamily="34" charset="-122"/>
              </a:rPr>
              <a:t>响应报文中返回给浏览器</a:t>
            </a:r>
          </a:p>
        </p:txBody>
      </p:sp>
      <p:sp>
        <p:nvSpPr>
          <p:cNvPr id="9" name="Rectangle 281">
            <a:extLst>
              <a:ext uri="{FF2B5EF4-FFF2-40B4-BE49-F238E27FC236}">
                <a16:creationId xmlns:a16="http://schemas.microsoft.com/office/drawing/2014/main" id="{FAE2E37A-FE30-DA09-B3DC-8DDA52744C4E}"/>
              </a:ext>
            </a:extLst>
          </p:cNvPr>
          <p:cNvSpPr>
            <a:spLocks noChangeArrowheads="1"/>
          </p:cNvSpPr>
          <p:nvPr/>
        </p:nvSpPr>
        <p:spPr bwMode="auto">
          <a:xfrm>
            <a:off x="4374843" y="2614739"/>
            <a:ext cx="711733"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2 Mbit/s</a:t>
            </a:r>
          </a:p>
        </p:txBody>
      </p:sp>
      <p:sp>
        <p:nvSpPr>
          <p:cNvPr id="10" name="Rectangle 309">
            <a:extLst>
              <a:ext uri="{FF2B5EF4-FFF2-40B4-BE49-F238E27FC236}">
                <a16:creationId xmlns:a16="http://schemas.microsoft.com/office/drawing/2014/main" id="{D08A4A9D-C73A-8249-D0FC-D0125D427932}"/>
              </a:ext>
            </a:extLst>
          </p:cNvPr>
          <p:cNvSpPr>
            <a:spLocks noChangeArrowheads="1"/>
          </p:cNvSpPr>
          <p:nvPr/>
        </p:nvSpPr>
        <p:spPr bwMode="auto">
          <a:xfrm>
            <a:off x="6538749" y="2811692"/>
            <a:ext cx="53860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400" dirty="0">
                <a:latin typeface="Montserrat" panose="00000500000000000000" pitchFamily="2" charset="0"/>
                <a:ea typeface="微软雅黑 Light" panose="020B0502040204020203" pitchFamily="34" charset="-122"/>
              </a:rPr>
              <a:t>互联网</a:t>
            </a:r>
          </a:p>
        </p:txBody>
      </p:sp>
      <p:sp>
        <p:nvSpPr>
          <p:cNvPr id="11" name="Rectangle 314">
            <a:extLst>
              <a:ext uri="{FF2B5EF4-FFF2-40B4-BE49-F238E27FC236}">
                <a16:creationId xmlns:a16="http://schemas.microsoft.com/office/drawing/2014/main" id="{481A1F78-E0BF-1FA8-5725-695E66930201}"/>
              </a:ext>
            </a:extLst>
          </p:cNvPr>
          <p:cNvSpPr>
            <a:spLocks noChangeArrowheads="1"/>
          </p:cNvSpPr>
          <p:nvPr/>
        </p:nvSpPr>
        <p:spPr bwMode="auto">
          <a:xfrm>
            <a:off x="3631167" y="2464624"/>
            <a:ext cx="17312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1</a:t>
            </a:r>
          </a:p>
        </p:txBody>
      </p:sp>
      <p:sp>
        <p:nvSpPr>
          <p:cNvPr id="12" name="Rectangle 315">
            <a:extLst>
              <a:ext uri="{FF2B5EF4-FFF2-40B4-BE49-F238E27FC236}">
                <a16:creationId xmlns:a16="http://schemas.microsoft.com/office/drawing/2014/main" id="{C1A6B4C7-4E29-FFD5-3FEB-D7F78FBF3E24}"/>
              </a:ext>
            </a:extLst>
          </p:cNvPr>
          <p:cNvSpPr>
            <a:spLocks noChangeArrowheads="1"/>
          </p:cNvSpPr>
          <p:nvPr/>
        </p:nvSpPr>
        <p:spPr bwMode="auto">
          <a:xfrm>
            <a:off x="5779123" y="2465824"/>
            <a:ext cx="19717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2</a:t>
            </a:r>
          </a:p>
        </p:txBody>
      </p:sp>
      <p:sp>
        <p:nvSpPr>
          <p:cNvPr id="13" name="Text Box 328">
            <a:extLst>
              <a:ext uri="{FF2B5EF4-FFF2-40B4-BE49-F238E27FC236}">
                <a16:creationId xmlns:a16="http://schemas.microsoft.com/office/drawing/2014/main" id="{1604E7C9-CBF8-C111-3EAA-BCF23E0BF8DC}"/>
              </a:ext>
            </a:extLst>
          </p:cNvPr>
          <p:cNvSpPr txBox="1">
            <a:spLocks noChangeArrowheads="1"/>
          </p:cNvSpPr>
          <p:nvPr/>
        </p:nvSpPr>
        <p:spPr bwMode="auto">
          <a:xfrm>
            <a:off x="3761576" y="3548615"/>
            <a:ext cx="1621051" cy="5236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lang="zh-CN" altLang="en-US" sz="1400" dirty="0">
                <a:latin typeface="Montserrat" panose="00000500000000000000" pitchFamily="2" charset="0"/>
                <a:ea typeface="微软雅黑 Light" panose="020B0502040204020203" pitchFamily="34" charset="-122"/>
              </a:rPr>
              <a:t>校园网的高速缓存</a:t>
            </a:r>
          </a:p>
          <a:p>
            <a:pPr algn="ctr"/>
            <a:r>
              <a:rPr lang="zh-CN" altLang="en-US" sz="1400" dirty="0">
                <a:latin typeface="Montserrat" panose="00000500000000000000" pitchFamily="2" charset="0"/>
                <a:ea typeface="微软雅黑 Light" panose="020B0502040204020203" pitchFamily="34" charset="-122"/>
              </a:rPr>
              <a:t>（代理服务器）</a:t>
            </a:r>
          </a:p>
        </p:txBody>
      </p:sp>
    </p:spTree>
    <p:extLst>
      <p:ext uri="{BB962C8B-B14F-4D97-AF65-F5344CB8AC3E}">
        <p14:creationId xmlns:p14="http://schemas.microsoft.com/office/powerpoint/2010/main" val="12860475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nodeType="afterEffect">
                                  <p:stCondLst>
                                    <p:cond delay="0"/>
                                  </p:stCondLst>
                                  <p:childTnLst>
                                    <p:set>
                                      <p:cBhvr>
                                        <p:cTn id="6" dur="1" fill="hold">
                                          <p:stCondLst>
                                            <p:cond delay="0"/>
                                          </p:stCondLst>
                                        </p:cTn>
                                        <p:tgtEl>
                                          <p:spTgt spid="278"/>
                                        </p:tgtEl>
                                        <p:attrNameLst>
                                          <p:attrName>style.visibility</p:attrName>
                                        </p:attrNameLst>
                                      </p:cBhvr>
                                      <p:to>
                                        <p:strVal val="visible"/>
                                      </p:to>
                                    </p:set>
                                    <p:animEffect transition="in" filter="wipe(down)">
                                      <p:cBhvr>
                                        <p:cTn id="7" dur="2000"/>
                                        <p:tgtEl>
                                          <p:spTgt spid="278"/>
                                        </p:tgtEl>
                                      </p:cBhvr>
                                    </p:animEffect>
                                  </p:childTnLst>
                                </p:cTn>
                              </p:par>
                            </p:childTnLst>
                          </p:cTn>
                        </p:par>
                        <p:par>
                          <p:cTn id="8" fill="hold">
                            <p:stCondLst>
                              <p:cond delay="2000"/>
                            </p:stCondLst>
                            <p:childTnLst>
                              <p:par>
                                <p:cTn id="9" presetID="22" presetClass="entr" presetSubtype="4" fill="hold" nodeType="afterEffect">
                                  <p:stCondLst>
                                    <p:cond delay="0"/>
                                  </p:stCondLst>
                                  <p:childTnLst>
                                    <p:set>
                                      <p:cBhvr>
                                        <p:cTn id="10" dur="1" fill="hold">
                                          <p:stCondLst>
                                            <p:cond delay="0"/>
                                          </p:stCondLst>
                                        </p:cTn>
                                        <p:tgtEl>
                                          <p:spTgt spid="279"/>
                                        </p:tgtEl>
                                        <p:attrNameLst>
                                          <p:attrName>style.visibility</p:attrName>
                                        </p:attrNameLst>
                                      </p:cBhvr>
                                      <p:to>
                                        <p:strVal val="visible"/>
                                      </p:to>
                                    </p:set>
                                    <p:animEffect transition="in" filter="wipe(down)">
                                      <p:cBhvr>
                                        <p:cTn id="11" dur="2000"/>
                                        <p:tgtEl>
                                          <p:spTgt spid="279"/>
                                        </p:tgtEl>
                                      </p:cBhvr>
                                    </p:animEffect>
                                  </p:childTnLst>
                                </p:cTn>
                              </p:par>
                            </p:childTnLst>
                          </p:cTn>
                        </p:par>
                        <p:par>
                          <p:cTn id="12" fill="hold">
                            <p:stCondLst>
                              <p:cond delay="4000"/>
                            </p:stCondLst>
                            <p:childTnLst>
                              <p:par>
                                <p:cTn id="13" presetID="22" presetClass="entr" presetSubtype="4" fill="hold" nodeType="afterEffect">
                                  <p:stCondLst>
                                    <p:cond delay="0"/>
                                  </p:stCondLst>
                                  <p:childTnLst>
                                    <p:set>
                                      <p:cBhvr>
                                        <p:cTn id="14" dur="1" fill="hold">
                                          <p:stCondLst>
                                            <p:cond delay="0"/>
                                          </p:stCondLst>
                                        </p:cTn>
                                        <p:tgtEl>
                                          <p:spTgt spid="280"/>
                                        </p:tgtEl>
                                        <p:attrNameLst>
                                          <p:attrName>style.visibility</p:attrName>
                                        </p:attrNameLst>
                                      </p:cBhvr>
                                      <p:to>
                                        <p:strVal val="visible"/>
                                      </p:to>
                                    </p:set>
                                    <p:animEffect transition="in" filter="wipe(down)">
                                      <p:cBhvr>
                                        <p:cTn id="15" dur="2000"/>
                                        <p:tgtEl>
                                          <p:spTgt spid="280"/>
                                        </p:tgtEl>
                                      </p:cBhvr>
                                    </p:animEffect>
                                  </p:childTnLst>
                                </p:cTn>
                              </p:par>
                            </p:childTnLst>
                          </p:cTn>
                        </p:par>
                        <p:par>
                          <p:cTn id="16" fill="hold">
                            <p:stCondLst>
                              <p:cond delay="6000"/>
                            </p:stCondLst>
                            <p:childTnLst>
                              <p:par>
                                <p:cTn id="17" presetID="22" presetClass="entr" presetSubtype="4" fill="hold" nodeType="afterEffect">
                                  <p:stCondLst>
                                    <p:cond delay="0"/>
                                  </p:stCondLst>
                                  <p:childTnLst>
                                    <p:set>
                                      <p:cBhvr>
                                        <p:cTn id="18" dur="1" fill="hold">
                                          <p:stCondLst>
                                            <p:cond delay="0"/>
                                          </p:stCondLst>
                                        </p:cTn>
                                        <p:tgtEl>
                                          <p:spTgt spid="281"/>
                                        </p:tgtEl>
                                        <p:attrNameLst>
                                          <p:attrName>style.visibility</p:attrName>
                                        </p:attrNameLst>
                                      </p:cBhvr>
                                      <p:to>
                                        <p:strVal val="visible"/>
                                      </p:to>
                                    </p:set>
                                    <p:animEffect transition="in" filter="wipe(down)">
                                      <p:cBhvr>
                                        <p:cTn id="19" dur="2000"/>
                                        <p:tgtEl>
                                          <p:spTgt spid="28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 name="Rectangle 114"/>
          <p:cNvSpPr>
            <a:spLocks noChangeArrowheads="1"/>
          </p:cNvSpPr>
          <p:nvPr/>
        </p:nvSpPr>
        <p:spPr bwMode="auto">
          <a:xfrm>
            <a:off x="2403184" y="1572659"/>
            <a:ext cx="27321" cy="2146055"/>
          </a:xfrm>
          <a:prstGeom prst="rect">
            <a:avLst/>
          </a:prstGeom>
          <a:solidFill>
            <a:srgbClr val="3366CC"/>
          </a:solidFill>
          <a:ln w="38100" cmpd="sng">
            <a:solidFill>
              <a:srgbClr val="3366CC"/>
            </a:solidFill>
            <a:miter lim="800000"/>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4" name="Line 115"/>
          <p:cNvSpPr>
            <a:spLocks noChangeShapeType="1"/>
          </p:cNvSpPr>
          <p:nvPr/>
        </p:nvSpPr>
        <p:spPr bwMode="auto">
          <a:xfrm>
            <a:off x="1729264" y="1893307"/>
            <a:ext cx="701240"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5" name="Line 116"/>
          <p:cNvSpPr>
            <a:spLocks noChangeShapeType="1"/>
          </p:cNvSpPr>
          <p:nvPr/>
        </p:nvSpPr>
        <p:spPr bwMode="auto">
          <a:xfrm>
            <a:off x="1938726" y="2479358"/>
            <a:ext cx="491779" cy="1201"/>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6" name="Line 117"/>
          <p:cNvSpPr>
            <a:spLocks noChangeShapeType="1"/>
          </p:cNvSpPr>
          <p:nvPr/>
        </p:nvSpPr>
        <p:spPr bwMode="auto">
          <a:xfrm>
            <a:off x="1362381" y="2886472"/>
            <a:ext cx="1053813" cy="36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7" name="Line 118"/>
          <p:cNvSpPr>
            <a:spLocks noChangeShapeType="1"/>
          </p:cNvSpPr>
          <p:nvPr/>
        </p:nvSpPr>
        <p:spPr bwMode="auto">
          <a:xfrm>
            <a:off x="1799519" y="3429292"/>
            <a:ext cx="632288"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8" name="Line 119"/>
          <p:cNvSpPr>
            <a:spLocks noChangeShapeType="1"/>
          </p:cNvSpPr>
          <p:nvPr/>
        </p:nvSpPr>
        <p:spPr bwMode="auto">
          <a:xfrm>
            <a:off x="2443258" y="2943988"/>
            <a:ext cx="1193020" cy="2402"/>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9" name="Rectangle 255"/>
          <p:cNvSpPr>
            <a:spLocks noChangeArrowheads="1"/>
          </p:cNvSpPr>
          <p:nvPr/>
        </p:nvSpPr>
        <p:spPr bwMode="auto">
          <a:xfrm>
            <a:off x="2668104" y="1546706"/>
            <a:ext cx="615553"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600" b="1" dirty="0">
                <a:solidFill>
                  <a:schemeClr val="bg1"/>
                </a:solidFill>
                <a:latin typeface="微软雅黑 Light" panose="020B0502040204020203" pitchFamily="34" charset="-122"/>
                <a:ea typeface="微软雅黑 Light" panose="020B0502040204020203" pitchFamily="34" charset="-122"/>
              </a:rPr>
              <a:t>校园网</a:t>
            </a:r>
          </a:p>
        </p:txBody>
      </p:sp>
      <p:sp>
        <p:nvSpPr>
          <p:cNvPr id="160" name="Rectangle 312"/>
          <p:cNvSpPr>
            <a:spLocks noChangeArrowheads="1"/>
          </p:cNvSpPr>
          <p:nvPr/>
        </p:nvSpPr>
        <p:spPr bwMode="auto">
          <a:xfrm>
            <a:off x="2061020" y="2521391"/>
            <a:ext cx="357776" cy="3014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1" name="Rectangle 313"/>
          <p:cNvSpPr>
            <a:spLocks noChangeArrowheads="1"/>
          </p:cNvSpPr>
          <p:nvPr/>
        </p:nvSpPr>
        <p:spPr bwMode="auto">
          <a:xfrm>
            <a:off x="1078422" y="2396014"/>
            <a:ext cx="461665"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浏览器</a:t>
            </a:r>
          </a:p>
        </p:txBody>
      </p:sp>
      <p:pic>
        <p:nvPicPr>
          <p:cNvPr id="162"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1534553"/>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3"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13187" y="2110986"/>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4"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3111747"/>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5"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43608" y="2609230"/>
            <a:ext cx="516657" cy="516658"/>
          </a:xfrm>
          <a:prstGeom prst="rect">
            <a:avLst/>
          </a:prstGeom>
          <a:noFill/>
          <a:extLst>
            <a:ext uri="{909E8E84-426E-40DD-AFC4-6F175D3DCCD1}">
              <a14:hiddenFill xmlns:a14="http://schemas.microsoft.com/office/drawing/2010/main">
                <a:solidFill>
                  <a:srgbClr val="FFFFFF"/>
                </a:solidFill>
              </a14:hiddenFill>
            </a:ext>
          </a:extLst>
        </p:spPr>
      </p:pic>
      <p:sp>
        <p:nvSpPr>
          <p:cNvPr id="166" name="Line 119"/>
          <p:cNvSpPr>
            <a:spLocks noChangeShapeType="1"/>
          </p:cNvSpPr>
          <p:nvPr/>
        </p:nvSpPr>
        <p:spPr bwMode="auto">
          <a:xfrm flipV="1">
            <a:off x="2977610" y="2970289"/>
            <a:ext cx="513818" cy="650825"/>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8" name="Rectangle 254"/>
          <p:cNvSpPr>
            <a:spLocks noChangeArrowheads="1"/>
          </p:cNvSpPr>
          <p:nvPr/>
        </p:nvSpPr>
        <p:spPr bwMode="auto">
          <a:xfrm>
            <a:off x="2513605" y="2079129"/>
            <a:ext cx="729863" cy="5115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9" name="Rectangle 311"/>
          <p:cNvSpPr>
            <a:spLocks noChangeArrowheads="1"/>
          </p:cNvSpPr>
          <p:nvPr/>
        </p:nvSpPr>
        <p:spPr bwMode="auto">
          <a:xfrm>
            <a:off x="2933828" y="3027860"/>
            <a:ext cx="355175" cy="3026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pic>
        <p:nvPicPr>
          <p:cNvPr id="170" name="图片 169"/>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639810" y="3452414"/>
            <a:ext cx="441076" cy="617506"/>
          </a:xfrm>
          <a:prstGeom prst="rect">
            <a:avLst/>
          </a:prstGeom>
        </p:spPr>
      </p:pic>
      <p:graphicFrame>
        <p:nvGraphicFramePr>
          <p:cNvPr id="41" name="Object 44"/>
          <p:cNvGraphicFramePr>
            <a:graphicFrameLocks noChangeAspect="1"/>
          </p:cNvGraphicFramePr>
          <p:nvPr>
            <p:extLst>
              <p:ext uri="{D42A27DB-BD31-4B8C-83A1-F6EECF244321}">
                <p14:modId xmlns:p14="http://schemas.microsoft.com/office/powerpoint/2010/main" val="1367370087"/>
              </p:ext>
            </p:extLst>
          </p:nvPr>
        </p:nvGraphicFramePr>
        <p:xfrm>
          <a:off x="6071848" y="2423792"/>
          <a:ext cx="1509164" cy="951134"/>
        </p:xfrm>
        <a:graphic>
          <a:graphicData uri="http://schemas.openxmlformats.org/presentationml/2006/ole">
            <mc:AlternateContent xmlns:mc="http://schemas.openxmlformats.org/markup-compatibility/2006">
              <mc:Choice xmlns:v="urn:schemas-microsoft-com:vml" Requires="v">
                <p:oleObj name="VISIO" r:id="rId4" imgW="1687068" imgH="964692" progId="">
                  <p:embed/>
                </p:oleObj>
              </mc:Choice>
              <mc:Fallback>
                <p:oleObj name="VISIO" r:id="rId4" imgW="1687068" imgH="964692" progId="">
                  <p:embed/>
                  <p:pic>
                    <p:nvPicPr>
                      <p:cNvPr id="0" name="Picture 208"/>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071848" y="2423792"/>
                        <a:ext cx="1509164" cy="951134"/>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42" name="Line 45"/>
          <p:cNvSpPr>
            <a:spLocks noChangeShapeType="1"/>
          </p:cNvSpPr>
          <p:nvPr/>
        </p:nvSpPr>
        <p:spPr bwMode="auto">
          <a:xfrm>
            <a:off x="3676701" y="2888550"/>
            <a:ext cx="2154462"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3" name="Line 46"/>
          <p:cNvSpPr>
            <a:spLocks noChangeShapeType="1"/>
          </p:cNvSpPr>
          <p:nvPr/>
        </p:nvSpPr>
        <p:spPr bwMode="auto">
          <a:xfrm>
            <a:off x="7005969" y="3310076"/>
            <a:ext cx="554227" cy="449146"/>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4" name="Line 47"/>
          <p:cNvSpPr>
            <a:spLocks noChangeShapeType="1"/>
          </p:cNvSpPr>
          <p:nvPr/>
        </p:nvSpPr>
        <p:spPr bwMode="auto">
          <a:xfrm>
            <a:off x="7326016" y="3079498"/>
            <a:ext cx="444943" cy="94873"/>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5" name="Line 48"/>
          <p:cNvSpPr>
            <a:spLocks noChangeShapeType="1"/>
          </p:cNvSpPr>
          <p:nvPr/>
        </p:nvSpPr>
        <p:spPr bwMode="auto">
          <a:xfrm flipV="1">
            <a:off x="7350735" y="2516264"/>
            <a:ext cx="420224" cy="127298"/>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6" name="Line 49"/>
          <p:cNvSpPr>
            <a:spLocks noChangeShapeType="1"/>
          </p:cNvSpPr>
          <p:nvPr/>
        </p:nvSpPr>
        <p:spPr bwMode="auto">
          <a:xfrm flipV="1">
            <a:off x="6979949" y="2004669"/>
            <a:ext cx="580248" cy="492380"/>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53" name="Group 120"/>
          <p:cNvGrpSpPr>
            <a:grpSpLocks/>
          </p:cNvGrpSpPr>
          <p:nvPr/>
        </p:nvGrpSpPr>
        <p:grpSpPr bwMode="auto">
          <a:xfrm>
            <a:off x="3321527" y="2753930"/>
            <a:ext cx="477468" cy="309839"/>
            <a:chOff x="2154" y="3033"/>
            <a:chExt cx="309" cy="192"/>
          </a:xfrm>
        </p:grpSpPr>
        <p:sp>
          <p:nvSpPr>
            <p:cNvPr id="54" name="Oval 121"/>
            <p:cNvSpPr>
              <a:spLocks noChangeArrowheads="1"/>
            </p:cNvSpPr>
            <p:nvPr/>
          </p:nvSpPr>
          <p:spPr bwMode="auto">
            <a:xfrm>
              <a:off x="2155"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5" name="Rectangle 122"/>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6" name="Rectangle 123"/>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7" name="Oval 124"/>
            <p:cNvSpPr>
              <a:spLocks noChangeArrowheads="1"/>
            </p:cNvSpPr>
            <p:nvPr/>
          </p:nvSpPr>
          <p:spPr bwMode="auto">
            <a:xfrm>
              <a:off x="2155"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58" name="Group 125"/>
            <p:cNvGrpSpPr>
              <a:grpSpLocks/>
            </p:cNvGrpSpPr>
            <p:nvPr/>
          </p:nvGrpSpPr>
          <p:grpSpPr bwMode="auto">
            <a:xfrm>
              <a:off x="2201" y="3046"/>
              <a:ext cx="214" cy="86"/>
              <a:chOff x="2201" y="3046"/>
              <a:chExt cx="214" cy="86"/>
            </a:xfrm>
          </p:grpSpPr>
          <p:grpSp>
            <p:nvGrpSpPr>
              <p:cNvPr id="61" name="Group 126"/>
              <p:cNvGrpSpPr>
                <a:grpSpLocks/>
              </p:cNvGrpSpPr>
              <p:nvPr/>
            </p:nvGrpSpPr>
            <p:grpSpPr bwMode="auto">
              <a:xfrm>
                <a:off x="2201" y="3046"/>
                <a:ext cx="212" cy="84"/>
                <a:chOff x="2201" y="3046"/>
                <a:chExt cx="212" cy="84"/>
              </a:xfrm>
            </p:grpSpPr>
            <p:sp>
              <p:nvSpPr>
                <p:cNvPr id="71" name="Freeform 127"/>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2" name="Freeform 128"/>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3" name="Freeform 129"/>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4" name="Freeform 130"/>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5" name="Freeform 131"/>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6" name="Freeform 132"/>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7" name="Freeform 133"/>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8" name="Freeform 134"/>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62" name="Group 135"/>
              <p:cNvGrpSpPr>
                <a:grpSpLocks/>
              </p:cNvGrpSpPr>
              <p:nvPr/>
            </p:nvGrpSpPr>
            <p:grpSpPr bwMode="auto">
              <a:xfrm>
                <a:off x="2203" y="3048"/>
                <a:ext cx="212" cy="84"/>
                <a:chOff x="2203" y="3048"/>
                <a:chExt cx="212" cy="84"/>
              </a:xfrm>
            </p:grpSpPr>
            <p:sp>
              <p:nvSpPr>
                <p:cNvPr id="63" name="Freeform 136"/>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4" name="Freeform 137"/>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5" name="Freeform 138"/>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6" name="Freeform 139"/>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7" name="Freeform 140"/>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8" name="Freeform 141"/>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9" name="Freeform 142"/>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0" name="Freeform 143"/>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59" name="Line 144"/>
            <p:cNvSpPr>
              <a:spLocks noChangeShapeType="1"/>
            </p:cNvSpPr>
            <p:nvPr/>
          </p:nvSpPr>
          <p:spPr bwMode="auto">
            <a:xfrm>
              <a:off x="2154"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0" name="Line 145"/>
            <p:cNvSpPr>
              <a:spLocks noChangeShapeType="1"/>
            </p:cNvSpPr>
            <p:nvPr/>
          </p:nvSpPr>
          <p:spPr bwMode="auto">
            <a:xfrm>
              <a:off x="246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82" name="Rectangle 280"/>
          <p:cNvSpPr>
            <a:spLocks noChangeArrowheads="1"/>
          </p:cNvSpPr>
          <p:nvPr/>
        </p:nvSpPr>
        <p:spPr bwMode="auto">
          <a:xfrm>
            <a:off x="4055293" y="2560698"/>
            <a:ext cx="697338" cy="3218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84" name="Group 282"/>
          <p:cNvGrpSpPr>
            <a:grpSpLocks/>
          </p:cNvGrpSpPr>
          <p:nvPr/>
        </p:nvGrpSpPr>
        <p:grpSpPr bwMode="auto">
          <a:xfrm>
            <a:off x="5669839" y="2721623"/>
            <a:ext cx="477468" cy="309839"/>
            <a:chOff x="3202" y="3033"/>
            <a:chExt cx="309" cy="192"/>
          </a:xfrm>
        </p:grpSpPr>
        <p:sp>
          <p:nvSpPr>
            <p:cNvPr id="85" name="Oval 283"/>
            <p:cNvSpPr>
              <a:spLocks noChangeArrowheads="1"/>
            </p:cNvSpPr>
            <p:nvPr/>
          </p:nvSpPr>
          <p:spPr bwMode="auto">
            <a:xfrm>
              <a:off x="3203"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6" name="Rectangle 284"/>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7" name="Rectangle 285"/>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8" name="Oval 286"/>
            <p:cNvSpPr>
              <a:spLocks noChangeArrowheads="1"/>
            </p:cNvSpPr>
            <p:nvPr/>
          </p:nvSpPr>
          <p:spPr bwMode="auto">
            <a:xfrm>
              <a:off x="3203"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89" name="Group 287"/>
            <p:cNvGrpSpPr>
              <a:grpSpLocks/>
            </p:cNvGrpSpPr>
            <p:nvPr/>
          </p:nvGrpSpPr>
          <p:grpSpPr bwMode="auto">
            <a:xfrm>
              <a:off x="3249" y="3046"/>
              <a:ext cx="214" cy="86"/>
              <a:chOff x="3249" y="3046"/>
              <a:chExt cx="214" cy="86"/>
            </a:xfrm>
          </p:grpSpPr>
          <p:grpSp>
            <p:nvGrpSpPr>
              <p:cNvPr id="92" name="Group 288"/>
              <p:cNvGrpSpPr>
                <a:grpSpLocks/>
              </p:cNvGrpSpPr>
              <p:nvPr/>
            </p:nvGrpSpPr>
            <p:grpSpPr bwMode="auto">
              <a:xfrm>
                <a:off x="3249" y="3046"/>
                <a:ext cx="212" cy="84"/>
                <a:chOff x="3249" y="3046"/>
                <a:chExt cx="212" cy="84"/>
              </a:xfrm>
            </p:grpSpPr>
            <p:sp>
              <p:nvSpPr>
                <p:cNvPr id="102" name="Freeform 289"/>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3" name="Freeform 290"/>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4" name="Freeform 291"/>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5" name="Freeform 292"/>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6" name="Freeform 293"/>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7" name="Freeform 294"/>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8" name="Freeform 295"/>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9" name="Freeform 296"/>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93" name="Group 297"/>
              <p:cNvGrpSpPr>
                <a:grpSpLocks/>
              </p:cNvGrpSpPr>
              <p:nvPr/>
            </p:nvGrpSpPr>
            <p:grpSpPr bwMode="auto">
              <a:xfrm>
                <a:off x="3251" y="3048"/>
                <a:ext cx="212" cy="84"/>
                <a:chOff x="3251" y="3048"/>
                <a:chExt cx="212" cy="84"/>
              </a:xfrm>
            </p:grpSpPr>
            <p:sp>
              <p:nvSpPr>
                <p:cNvPr id="94" name="Freeform 298"/>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5" name="Freeform 299"/>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6" name="Freeform 300"/>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7" name="Freeform 301"/>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8" name="Freeform 302"/>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9" name="Freeform 303"/>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0" name="Freeform 304"/>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1" name="Freeform 305"/>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90" name="Line 306"/>
            <p:cNvSpPr>
              <a:spLocks noChangeShapeType="1"/>
            </p:cNvSpPr>
            <p:nvPr/>
          </p:nvSpPr>
          <p:spPr bwMode="auto">
            <a:xfrm>
              <a:off x="320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1" name="Line 307"/>
            <p:cNvSpPr>
              <a:spLocks noChangeShapeType="1"/>
            </p:cNvSpPr>
            <p:nvPr/>
          </p:nvSpPr>
          <p:spPr bwMode="auto">
            <a:xfrm>
              <a:off x="3510"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110" name="Rectangle 308"/>
          <p:cNvSpPr>
            <a:spLocks noChangeArrowheads="1"/>
          </p:cNvSpPr>
          <p:nvPr/>
        </p:nvSpPr>
        <p:spPr bwMode="auto">
          <a:xfrm>
            <a:off x="6156415" y="2370952"/>
            <a:ext cx="729863" cy="3230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21" name="Rectangle 310"/>
          <p:cNvSpPr>
            <a:spLocks noChangeArrowheads="1"/>
          </p:cNvSpPr>
          <p:nvPr/>
        </p:nvSpPr>
        <p:spPr bwMode="auto">
          <a:xfrm>
            <a:off x="3635069" y="2444208"/>
            <a:ext cx="327853" cy="301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pic>
        <p:nvPicPr>
          <p:cNvPr id="128" name="图片 127"/>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441832" y="1513313"/>
            <a:ext cx="441076" cy="617506"/>
          </a:xfrm>
          <a:prstGeom prst="rect">
            <a:avLst/>
          </a:prstGeom>
        </p:spPr>
      </p:pic>
      <p:pic>
        <p:nvPicPr>
          <p:cNvPr id="133" name="图片 13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699008" y="2175800"/>
            <a:ext cx="441076" cy="617506"/>
          </a:xfrm>
          <a:prstGeom prst="rect">
            <a:avLst/>
          </a:prstGeom>
        </p:spPr>
      </p:pic>
      <p:pic>
        <p:nvPicPr>
          <p:cNvPr id="134" name="图片 13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699008" y="2895880"/>
            <a:ext cx="441076" cy="617506"/>
          </a:xfrm>
          <a:prstGeom prst="rect">
            <a:avLst/>
          </a:prstGeom>
        </p:spPr>
      </p:pic>
      <p:pic>
        <p:nvPicPr>
          <p:cNvPr id="135" name="图片 13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441832" y="3471944"/>
            <a:ext cx="441076" cy="617506"/>
          </a:xfrm>
          <a:prstGeom prst="rect">
            <a:avLst/>
          </a:prstGeom>
        </p:spPr>
      </p:pic>
      <p:cxnSp>
        <p:nvCxnSpPr>
          <p:cNvPr id="143" name="直接箭头连接符 142"/>
          <p:cNvCxnSpPr/>
          <p:nvPr/>
        </p:nvCxnSpPr>
        <p:spPr>
          <a:xfrm flipH="1">
            <a:off x="2977610" y="3708250"/>
            <a:ext cx="821385" cy="134797"/>
          </a:xfrm>
          <a:prstGeom prst="straightConnector1">
            <a:avLst/>
          </a:prstGeom>
          <a:ln w="19050">
            <a:solidFill>
              <a:srgbClr val="00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44" name="Freeform 325"/>
          <p:cNvSpPr>
            <a:spLocks/>
          </p:cNvSpPr>
          <p:nvPr/>
        </p:nvSpPr>
        <p:spPr bwMode="auto">
          <a:xfrm>
            <a:off x="2860347" y="1930663"/>
            <a:ext cx="4838661" cy="1597317"/>
          </a:xfrm>
          <a:custGeom>
            <a:avLst/>
            <a:gdLst>
              <a:gd name="T0" fmla="*/ 0 w 3356"/>
              <a:gd name="T1" fmla="*/ 2147483646 h 1179"/>
              <a:gd name="T2" fmla="*/ 2147483646 w 3356"/>
              <a:gd name="T3" fmla="*/ 2147483646 h 1179"/>
              <a:gd name="T4" fmla="*/ 2147483646 w 3356"/>
              <a:gd name="T5" fmla="*/ 2147483646 h 1179"/>
              <a:gd name="T6" fmla="*/ 2147483646 w 3356"/>
              <a:gd name="T7" fmla="*/ 2147483646 h 1179"/>
              <a:gd name="T8" fmla="*/ 2147483646 w 3356"/>
              <a:gd name="T9" fmla="*/ 2147483646 h 1179"/>
              <a:gd name="T10" fmla="*/ 2147483646 w 3356"/>
              <a:gd name="T11" fmla="*/ 2147483646 h 1179"/>
              <a:gd name="T12" fmla="*/ 2147483646 w 3356"/>
              <a:gd name="T13" fmla="*/ 2147483646 h 1179"/>
              <a:gd name="T14" fmla="*/ 2147483646 w 3356"/>
              <a:gd name="T15" fmla="*/ 2147483646 h 1179"/>
              <a:gd name="T16" fmla="*/ 2147483646 w 3356"/>
              <a:gd name="T17" fmla="*/ 0 h 117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356" h="1179">
                <a:moveTo>
                  <a:pt x="0" y="1179"/>
                </a:moveTo>
                <a:cubicBezTo>
                  <a:pt x="64" y="1127"/>
                  <a:pt x="263" y="937"/>
                  <a:pt x="385" y="867"/>
                </a:cubicBezTo>
                <a:cubicBezTo>
                  <a:pt x="507" y="797"/>
                  <a:pt x="552" y="778"/>
                  <a:pt x="732" y="758"/>
                </a:cubicBezTo>
                <a:cubicBezTo>
                  <a:pt x="912" y="738"/>
                  <a:pt x="1271" y="752"/>
                  <a:pt x="1464" y="749"/>
                </a:cubicBezTo>
                <a:cubicBezTo>
                  <a:pt x="1657" y="746"/>
                  <a:pt x="1767" y="750"/>
                  <a:pt x="1893" y="739"/>
                </a:cubicBezTo>
                <a:cubicBezTo>
                  <a:pt x="2019" y="728"/>
                  <a:pt x="2099" y="720"/>
                  <a:pt x="2222" y="680"/>
                </a:cubicBezTo>
                <a:cubicBezTo>
                  <a:pt x="2345" y="640"/>
                  <a:pt x="2503" y="567"/>
                  <a:pt x="2631" y="499"/>
                </a:cubicBezTo>
                <a:cubicBezTo>
                  <a:pt x="2759" y="431"/>
                  <a:pt x="2872" y="355"/>
                  <a:pt x="2993" y="272"/>
                </a:cubicBezTo>
                <a:cubicBezTo>
                  <a:pt x="3114" y="189"/>
                  <a:pt x="3295" y="53"/>
                  <a:pt x="3356" y="0"/>
                </a:cubicBezTo>
              </a:path>
            </a:pathLst>
          </a:custGeom>
          <a:noFill/>
          <a:ln w="57150" cmpd="sng">
            <a:solidFill>
              <a:srgbClr val="CC00CC"/>
            </a:solidFill>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solidFill>
                <a:srgbClr val="000099"/>
              </a:solidFill>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03F40C74-ACE0-922F-6B91-886CC2C8BD8F}"/>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代理服务器</a:t>
            </a:r>
          </a:p>
        </p:txBody>
      </p:sp>
      <p:sp>
        <p:nvSpPr>
          <p:cNvPr id="3" name="内容占位符 2">
            <a:extLst>
              <a:ext uri="{FF2B5EF4-FFF2-40B4-BE49-F238E27FC236}">
                <a16:creationId xmlns:a16="http://schemas.microsoft.com/office/drawing/2014/main" id="{00C24943-A9A0-07D0-91F5-80A6ADEAA013}"/>
              </a:ext>
            </a:extLst>
          </p:cNvPr>
          <p:cNvSpPr>
            <a:spLocks noGrp="1"/>
          </p:cNvSpPr>
          <p:nvPr>
            <p:ph sz="quarter" idx="11"/>
          </p:nvPr>
        </p:nvSpPr>
        <p:spPr>
          <a:xfrm>
            <a:off x="486000" y="687518"/>
            <a:ext cx="8172000" cy="4079035"/>
          </a:xfrm>
        </p:spPr>
        <p:txBody>
          <a:bodyPr/>
          <a:lstStyle/>
          <a:p>
            <a:r>
              <a:rPr lang="zh-CN" altLang="en-US" dirty="0"/>
              <a:t>使用高速缓存的情况</a:t>
            </a:r>
          </a:p>
          <a:p>
            <a:endParaRPr lang="zh-CN" altLang="en-US" dirty="0"/>
          </a:p>
        </p:txBody>
      </p:sp>
      <p:sp>
        <p:nvSpPr>
          <p:cNvPr id="4" name="Rectangle 281">
            <a:extLst>
              <a:ext uri="{FF2B5EF4-FFF2-40B4-BE49-F238E27FC236}">
                <a16:creationId xmlns:a16="http://schemas.microsoft.com/office/drawing/2014/main" id="{08BBA9C9-2C24-269C-792D-0CE18B1167C4}"/>
              </a:ext>
            </a:extLst>
          </p:cNvPr>
          <p:cNvSpPr>
            <a:spLocks noChangeArrowheads="1"/>
          </p:cNvSpPr>
          <p:nvPr/>
        </p:nvSpPr>
        <p:spPr bwMode="auto">
          <a:xfrm>
            <a:off x="4374843" y="2614739"/>
            <a:ext cx="711733"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2 Mbit/s</a:t>
            </a:r>
          </a:p>
        </p:txBody>
      </p:sp>
      <p:sp>
        <p:nvSpPr>
          <p:cNvPr id="5" name="Rectangle 309">
            <a:extLst>
              <a:ext uri="{FF2B5EF4-FFF2-40B4-BE49-F238E27FC236}">
                <a16:creationId xmlns:a16="http://schemas.microsoft.com/office/drawing/2014/main" id="{ECD141B9-0541-1271-7813-81927A751443}"/>
              </a:ext>
            </a:extLst>
          </p:cNvPr>
          <p:cNvSpPr>
            <a:spLocks noChangeArrowheads="1"/>
          </p:cNvSpPr>
          <p:nvPr/>
        </p:nvSpPr>
        <p:spPr bwMode="auto">
          <a:xfrm>
            <a:off x="6538749" y="2811692"/>
            <a:ext cx="53860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400" dirty="0">
                <a:latin typeface="Montserrat" panose="00000500000000000000" pitchFamily="2" charset="0"/>
                <a:ea typeface="微软雅黑 Light" panose="020B0502040204020203" pitchFamily="34" charset="-122"/>
              </a:rPr>
              <a:t>互联网</a:t>
            </a:r>
          </a:p>
        </p:txBody>
      </p:sp>
      <p:sp>
        <p:nvSpPr>
          <p:cNvPr id="6" name="Rectangle 314">
            <a:extLst>
              <a:ext uri="{FF2B5EF4-FFF2-40B4-BE49-F238E27FC236}">
                <a16:creationId xmlns:a16="http://schemas.microsoft.com/office/drawing/2014/main" id="{5D61CFB4-D095-A5DB-8159-25C8EBB9290C}"/>
              </a:ext>
            </a:extLst>
          </p:cNvPr>
          <p:cNvSpPr>
            <a:spLocks noChangeArrowheads="1"/>
          </p:cNvSpPr>
          <p:nvPr/>
        </p:nvSpPr>
        <p:spPr bwMode="auto">
          <a:xfrm>
            <a:off x="3631167" y="2464624"/>
            <a:ext cx="17312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1</a:t>
            </a:r>
          </a:p>
        </p:txBody>
      </p:sp>
      <p:sp>
        <p:nvSpPr>
          <p:cNvPr id="7" name="Rectangle 315">
            <a:extLst>
              <a:ext uri="{FF2B5EF4-FFF2-40B4-BE49-F238E27FC236}">
                <a16:creationId xmlns:a16="http://schemas.microsoft.com/office/drawing/2014/main" id="{A9865E37-D5A1-4B2D-F995-509FCC086CFE}"/>
              </a:ext>
            </a:extLst>
          </p:cNvPr>
          <p:cNvSpPr>
            <a:spLocks noChangeArrowheads="1"/>
          </p:cNvSpPr>
          <p:nvPr/>
        </p:nvSpPr>
        <p:spPr bwMode="auto">
          <a:xfrm>
            <a:off x="5779123" y="2465824"/>
            <a:ext cx="19717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2</a:t>
            </a:r>
          </a:p>
        </p:txBody>
      </p:sp>
      <p:sp>
        <p:nvSpPr>
          <p:cNvPr id="8" name="Text Box 328">
            <a:extLst>
              <a:ext uri="{FF2B5EF4-FFF2-40B4-BE49-F238E27FC236}">
                <a16:creationId xmlns:a16="http://schemas.microsoft.com/office/drawing/2014/main" id="{B4502AAD-5EF5-117D-A0D2-165FBE6C1841}"/>
              </a:ext>
            </a:extLst>
          </p:cNvPr>
          <p:cNvSpPr txBox="1">
            <a:spLocks noChangeArrowheads="1"/>
          </p:cNvSpPr>
          <p:nvPr/>
        </p:nvSpPr>
        <p:spPr bwMode="auto">
          <a:xfrm>
            <a:off x="3761576" y="3548615"/>
            <a:ext cx="1621051" cy="5236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lang="zh-CN" altLang="en-US" sz="1400" dirty="0">
                <a:latin typeface="Montserrat" panose="00000500000000000000" pitchFamily="2" charset="0"/>
                <a:ea typeface="微软雅黑 Light" panose="020B0502040204020203" pitchFamily="34" charset="-122"/>
              </a:rPr>
              <a:t>校园网的高速缓存</a:t>
            </a:r>
          </a:p>
          <a:p>
            <a:pPr algn="ctr"/>
            <a:r>
              <a:rPr lang="zh-CN" altLang="en-US" sz="1400" dirty="0">
                <a:latin typeface="Montserrat" panose="00000500000000000000" pitchFamily="2" charset="0"/>
                <a:ea typeface="微软雅黑 Light" panose="020B0502040204020203" pitchFamily="34" charset="-122"/>
              </a:rPr>
              <a:t>（代理服务器）</a:t>
            </a:r>
          </a:p>
        </p:txBody>
      </p:sp>
      <p:sp>
        <p:nvSpPr>
          <p:cNvPr id="9" name="Rectangle 279">
            <a:extLst>
              <a:ext uri="{FF2B5EF4-FFF2-40B4-BE49-F238E27FC236}">
                <a16:creationId xmlns:a16="http://schemas.microsoft.com/office/drawing/2014/main" id="{FFBD7971-25B8-D750-C7B8-3509189E10C3}"/>
              </a:ext>
            </a:extLst>
          </p:cNvPr>
          <p:cNvSpPr>
            <a:spLocks noChangeArrowheads="1"/>
          </p:cNvSpPr>
          <p:nvPr/>
        </p:nvSpPr>
        <p:spPr bwMode="auto">
          <a:xfrm>
            <a:off x="7350735" y="1274990"/>
            <a:ext cx="109039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1" lang="zh-CN" altLang="en-US" sz="1400" dirty="0">
                <a:latin typeface="Montserrat" panose="00000500000000000000" pitchFamily="2" charset="0"/>
                <a:ea typeface="微软雅黑 Light" panose="020B0502040204020203" pitchFamily="34" charset="-122"/>
              </a:rPr>
              <a:t>源点服务器</a:t>
            </a:r>
          </a:p>
        </p:txBody>
      </p:sp>
      <p:sp>
        <p:nvSpPr>
          <p:cNvPr id="10" name="矩形 9">
            <a:extLst>
              <a:ext uri="{FF2B5EF4-FFF2-40B4-BE49-F238E27FC236}">
                <a16:creationId xmlns:a16="http://schemas.microsoft.com/office/drawing/2014/main" id="{F61437B6-9DF8-1303-4685-D1FA802C579E}"/>
              </a:ext>
            </a:extLst>
          </p:cNvPr>
          <p:cNvSpPr/>
          <p:nvPr/>
        </p:nvSpPr>
        <p:spPr>
          <a:xfrm>
            <a:off x="4004325" y="908563"/>
            <a:ext cx="3297333" cy="766074"/>
          </a:xfrm>
          <a:prstGeom prst="rect">
            <a:avLst/>
          </a:prstGeom>
          <a:noFill/>
          <a:ln>
            <a:solidFill>
              <a:schemeClr val="tx1"/>
            </a:solidFill>
          </a:ln>
        </p:spPr>
        <p:txBody>
          <a:bodyPr wrap="square">
            <a:spAutoFit/>
          </a:bodyPr>
          <a:lstStyle/>
          <a:p>
            <a:pPr algn="just"/>
            <a:r>
              <a:rPr kumimoji="1" lang="en-US" altLang="zh-CN" sz="1400" dirty="0">
                <a:latin typeface="Montserrat" panose="00000500000000000000" pitchFamily="2" charset="0"/>
                <a:ea typeface="微软雅黑 Light" panose="020B0502040204020203" pitchFamily="34" charset="-122"/>
              </a:rPr>
              <a:t>(3) </a:t>
            </a:r>
            <a:r>
              <a:rPr kumimoji="1" lang="zh-CN" altLang="en-US" sz="1400" dirty="0">
                <a:latin typeface="Montserrat" panose="00000500000000000000" pitchFamily="2" charset="0"/>
                <a:ea typeface="微软雅黑 Light" panose="020B0502040204020203" pitchFamily="34" charset="-122"/>
              </a:rPr>
              <a:t>若未存放，高速缓存就代表浏览器与互联网上的源点服务器建立 </a:t>
            </a:r>
            <a:r>
              <a:rPr kumimoji="1" lang="en-US" altLang="zh-CN" sz="1400" dirty="0">
                <a:latin typeface="Montserrat" panose="00000500000000000000" pitchFamily="2" charset="0"/>
                <a:ea typeface="微软雅黑 Light" panose="020B0502040204020203" pitchFamily="34" charset="-122"/>
              </a:rPr>
              <a:t>TCP </a:t>
            </a:r>
            <a:r>
              <a:rPr kumimoji="1" lang="zh-CN" altLang="en-US" sz="1400" dirty="0">
                <a:latin typeface="Montserrat" panose="00000500000000000000" pitchFamily="2" charset="0"/>
                <a:ea typeface="微软雅黑 Light" panose="020B0502040204020203" pitchFamily="34" charset="-122"/>
              </a:rPr>
              <a:t>连接，并发送 </a:t>
            </a:r>
            <a:r>
              <a:rPr kumimoji="1" lang="en-US" altLang="zh-CN" sz="1400" dirty="0">
                <a:latin typeface="Montserrat" panose="00000500000000000000" pitchFamily="2" charset="0"/>
                <a:ea typeface="微软雅黑 Light" panose="020B0502040204020203" pitchFamily="34" charset="-122"/>
              </a:rPr>
              <a:t>HTTP </a:t>
            </a:r>
            <a:r>
              <a:rPr kumimoji="1" lang="zh-CN" altLang="en-US" sz="1400" dirty="0">
                <a:latin typeface="Montserrat" panose="00000500000000000000" pitchFamily="2" charset="0"/>
                <a:ea typeface="微软雅黑 Light" panose="020B0502040204020203" pitchFamily="34" charset="-122"/>
              </a:rPr>
              <a:t>请求报文</a:t>
            </a:r>
          </a:p>
        </p:txBody>
      </p:sp>
      <p:sp>
        <p:nvSpPr>
          <p:cNvPr id="11" name="云形 10">
            <a:extLst>
              <a:ext uri="{FF2B5EF4-FFF2-40B4-BE49-F238E27FC236}">
                <a16:creationId xmlns:a16="http://schemas.microsoft.com/office/drawing/2014/main" id="{3D7DD4B9-C83E-7FC6-2658-04230C77FD97}"/>
              </a:ext>
            </a:extLst>
          </p:cNvPr>
          <p:cNvSpPr/>
          <p:nvPr/>
        </p:nvSpPr>
        <p:spPr>
          <a:xfrm>
            <a:off x="434820" y="1153390"/>
            <a:ext cx="3611524" cy="3041339"/>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9463205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144"/>
                                        </p:tgtEl>
                                        <p:attrNameLst>
                                          <p:attrName>style.visibility</p:attrName>
                                        </p:attrNameLst>
                                      </p:cBhvr>
                                      <p:to>
                                        <p:strVal val="visible"/>
                                      </p:to>
                                    </p:set>
                                    <p:animEffect transition="in" filter="wipe(left)">
                                      <p:cBhvr>
                                        <p:cTn id="7" dur="2000"/>
                                        <p:tgtEl>
                                          <p:spTgt spid="1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4" grpId="0" animBg="1"/>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 name="Rectangle 114"/>
          <p:cNvSpPr>
            <a:spLocks noChangeArrowheads="1"/>
          </p:cNvSpPr>
          <p:nvPr/>
        </p:nvSpPr>
        <p:spPr bwMode="auto">
          <a:xfrm>
            <a:off x="2403184" y="1572659"/>
            <a:ext cx="27321" cy="2146055"/>
          </a:xfrm>
          <a:prstGeom prst="rect">
            <a:avLst/>
          </a:prstGeom>
          <a:solidFill>
            <a:srgbClr val="3366CC"/>
          </a:solidFill>
          <a:ln w="38100" cmpd="sng">
            <a:solidFill>
              <a:srgbClr val="3366CC"/>
            </a:solidFill>
            <a:miter lim="800000"/>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4" name="Line 115"/>
          <p:cNvSpPr>
            <a:spLocks noChangeShapeType="1"/>
          </p:cNvSpPr>
          <p:nvPr/>
        </p:nvSpPr>
        <p:spPr bwMode="auto">
          <a:xfrm>
            <a:off x="1729264" y="1893307"/>
            <a:ext cx="701240"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5" name="Line 116"/>
          <p:cNvSpPr>
            <a:spLocks noChangeShapeType="1"/>
          </p:cNvSpPr>
          <p:nvPr/>
        </p:nvSpPr>
        <p:spPr bwMode="auto">
          <a:xfrm>
            <a:off x="1938726" y="2479358"/>
            <a:ext cx="491779" cy="1201"/>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6" name="Line 117"/>
          <p:cNvSpPr>
            <a:spLocks noChangeShapeType="1"/>
          </p:cNvSpPr>
          <p:nvPr/>
        </p:nvSpPr>
        <p:spPr bwMode="auto">
          <a:xfrm>
            <a:off x="1362381" y="2886472"/>
            <a:ext cx="1053813" cy="36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7" name="Line 118"/>
          <p:cNvSpPr>
            <a:spLocks noChangeShapeType="1"/>
          </p:cNvSpPr>
          <p:nvPr/>
        </p:nvSpPr>
        <p:spPr bwMode="auto">
          <a:xfrm>
            <a:off x="1799519" y="3429292"/>
            <a:ext cx="632288"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8" name="Line 119"/>
          <p:cNvSpPr>
            <a:spLocks noChangeShapeType="1"/>
          </p:cNvSpPr>
          <p:nvPr/>
        </p:nvSpPr>
        <p:spPr bwMode="auto">
          <a:xfrm>
            <a:off x="2443258" y="2943988"/>
            <a:ext cx="1193020" cy="2402"/>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9" name="Rectangle 255"/>
          <p:cNvSpPr>
            <a:spLocks noChangeArrowheads="1"/>
          </p:cNvSpPr>
          <p:nvPr/>
        </p:nvSpPr>
        <p:spPr bwMode="auto">
          <a:xfrm>
            <a:off x="2668104" y="1546706"/>
            <a:ext cx="615553"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600" b="1" dirty="0">
                <a:solidFill>
                  <a:schemeClr val="bg1"/>
                </a:solidFill>
                <a:latin typeface="微软雅黑 Light" panose="020B0502040204020203" pitchFamily="34" charset="-122"/>
                <a:ea typeface="微软雅黑 Light" panose="020B0502040204020203" pitchFamily="34" charset="-122"/>
              </a:rPr>
              <a:t>校园网</a:t>
            </a:r>
          </a:p>
        </p:txBody>
      </p:sp>
      <p:sp>
        <p:nvSpPr>
          <p:cNvPr id="160" name="Rectangle 312"/>
          <p:cNvSpPr>
            <a:spLocks noChangeArrowheads="1"/>
          </p:cNvSpPr>
          <p:nvPr/>
        </p:nvSpPr>
        <p:spPr bwMode="auto">
          <a:xfrm>
            <a:off x="2061020" y="2521391"/>
            <a:ext cx="357776" cy="3014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1" name="Rectangle 313"/>
          <p:cNvSpPr>
            <a:spLocks noChangeArrowheads="1"/>
          </p:cNvSpPr>
          <p:nvPr/>
        </p:nvSpPr>
        <p:spPr bwMode="auto">
          <a:xfrm>
            <a:off x="1078422" y="2396014"/>
            <a:ext cx="461665"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浏览器</a:t>
            </a:r>
          </a:p>
        </p:txBody>
      </p:sp>
      <p:pic>
        <p:nvPicPr>
          <p:cNvPr id="162"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1534553"/>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3"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13187" y="2110986"/>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4"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3111747"/>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5"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43608" y="2609230"/>
            <a:ext cx="516657" cy="516658"/>
          </a:xfrm>
          <a:prstGeom prst="rect">
            <a:avLst/>
          </a:prstGeom>
          <a:noFill/>
          <a:extLst>
            <a:ext uri="{909E8E84-426E-40DD-AFC4-6F175D3DCCD1}">
              <a14:hiddenFill xmlns:a14="http://schemas.microsoft.com/office/drawing/2010/main">
                <a:solidFill>
                  <a:srgbClr val="FFFFFF"/>
                </a:solidFill>
              </a14:hiddenFill>
            </a:ext>
          </a:extLst>
        </p:spPr>
      </p:pic>
      <p:sp>
        <p:nvSpPr>
          <p:cNvPr id="166" name="Line 119"/>
          <p:cNvSpPr>
            <a:spLocks noChangeShapeType="1"/>
          </p:cNvSpPr>
          <p:nvPr/>
        </p:nvSpPr>
        <p:spPr bwMode="auto">
          <a:xfrm flipV="1">
            <a:off x="2977610" y="2970289"/>
            <a:ext cx="513818" cy="650825"/>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8" name="Rectangle 254"/>
          <p:cNvSpPr>
            <a:spLocks noChangeArrowheads="1"/>
          </p:cNvSpPr>
          <p:nvPr/>
        </p:nvSpPr>
        <p:spPr bwMode="auto">
          <a:xfrm>
            <a:off x="2513605" y="2079129"/>
            <a:ext cx="729863" cy="5115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9" name="Rectangle 311"/>
          <p:cNvSpPr>
            <a:spLocks noChangeArrowheads="1"/>
          </p:cNvSpPr>
          <p:nvPr/>
        </p:nvSpPr>
        <p:spPr bwMode="auto">
          <a:xfrm>
            <a:off x="2933828" y="3027860"/>
            <a:ext cx="355175" cy="3026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pic>
        <p:nvPicPr>
          <p:cNvPr id="170" name="图片 169"/>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639810" y="3452414"/>
            <a:ext cx="441076" cy="617506"/>
          </a:xfrm>
          <a:prstGeom prst="rect">
            <a:avLst/>
          </a:prstGeom>
        </p:spPr>
      </p:pic>
      <p:graphicFrame>
        <p:nvGraphicFramePr>
          <p:cNvPr id="41" name="Object 44"/>
          <p:cNvGraphicFramePr>
            <a:graphicFrameLocks noChangeAspect="1"/>
          </p:cNvGraphicFramePr>
          <p:nvPr>
            <p:extLst>
              <p:ext uri="{D42A27DB-BD31-4B8C-83A1-F6EECF244321}">
                <p14:modId xmlns:p14="http://schemas.microsoft.com/office/powerpoint/2010/main" val="1367370087"/>
              </p:ext>
            </p:extLst>
          </p:nvPr>
        </p:nvGraphicFramePr>
        <p:xfrm>
          <a:off x="6071848" y="2423792"/>
          <a:ext cx="1509164" cy="951134"/>
        </p:xfrm>
        <a:graphic>
          <a:graphicData uri="http://schemas.openxmlformats.org/presentationml/2006/ole">
            <mc:AlternateContent xmlns:mc="http://schemas.openxmlformats.org/markup-compatibility/2006">
              <mc:Choice xmlns:v="urn:schemas-microsoft-com:vml" Requires="v">
                <p:oleObj name="VISIO" r:id="rId4" imgW="1687068" imgH="964692" progId="">
                  <p:embed/>
                </p:oleObj>
              </mc:Choice>
              <mc:Fallback>
                <p:oleObj name="VISIO" r:id="rId4" imgW="1687068" imgH="964692" progId="">
                  <p:embed/>
                  <p:pic>
                    <p:nvPicPr>
                      <p:cNvPr id="0" name="Picture 34"/>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071848" y="2423792"/>
                        <a:ext cx="1509164" cy="951134"/>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42" name="Line 45"/>
          <p:cNvSpPr>
            <a:spLocks noChangeShapeType="1"/>
          </p:cNvSpPr>
          <p:nvPr/>
        </p:nvSpPr>
        <p:spPr bwMode="auto">
          <a:xfrm>
            <a:off x="3676701" y="2888550"/>
            <a:ext cx="2154462"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3" name="Line 46"/>
          <p:cNvSpPr>
            <a:spLocks noChangeShapeType="1"/>
          </p:cNvSpPr>
          <p:nvPr/>
        </p:nvSpPr>
        <p:spPr bwMode="auto">
          <a:xfrm>
            <a:off x="7005969" y="3310076"/>
            <a:ext cx="554227" cy="449146"/>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4" name="Line 47"/>
          <p:cNvSpPr>
            <a:spLocks noChangeShapeType="1"/>
          </p:cNvSpPr>
          <p:nvPr/>
        </p:nvSpPr>
        <p:spPr bwMode="auto">
          <a:xfrm>
            <a:off x="7326016" y="3079498"/>
            <a:ext cx="444943" cy="94873"/>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5" name="Line 48"/>
          <p:cNvSpPr>
            <a:spLocks noChangeShapeType="1"/>
          </p:cNvSpPr>
          <p:nvPr/>
        </p:nvSpPr>
        <p:spPr bwMode="auto">
          <a:xfrm flipV="1">
            <a:off x="7350735" y="2516264"/>
            <a:ext cx="420224" cy="127298"/>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6" name="Line 49"/>
          <p:cNvSpPr>
            <a:spLocks noChangeShapeType="1"/>
          </p:cNvSpPr>
          <p:nvPr/>
        </p:nvSpPr>
        <p:spPr bwMode="auto">
          <a:xfrm flipV="1">
            <a:off x="6979949" y="2004669"/>
            <a:ext cx="580248" cy="492380"/>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53" name="Group 120"/>
          <p:cNvGrpSpPr>
            <a:grpSpLocks/>
          </p:cNvGrpSpPr>
          <p:nvPr/>
        </p:nvGrpSpPr>
        <p:grpSpPr bwMode="auto">
          <a:xfrm>
            <a:off x="3321527" y="2753930"/>
            <a:ext cx="477468" cy="309839"/>
            <a:chOff x="2154" y="3033"/>
            <a:chExt cx="309" cy="192"/>
          </a:xfrm>
        </p:grpSpPr>
        <p:sp>
          <p:nvSpPr>
            <p:cNvPr id="54" name="Oval 121"/>
            <p:cNvSpPr>
              <a:spLocks noChangeArrowheads="1"/>
            </p:cNvSpPr>
            <p:nvPr/>
          </p:nvSpPr>
          <p:spPr bwMode="auto">
            <a:xfrm>
              <a:off x="2155"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5" name="Rectangle 122"/>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6" name="Rectangle 123"/>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7" name="Oval 124"/>
            <p:cNvSpPr>
              <a:spLocks noChangeArrowheads="1"/>
            </p:cNvSpPr>
            <p:nvPr/>
          </p:nvSpPr>
          <p:spPr bwMode="auto">
            <a:xfrm>
              <a:off x="2155"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58" name="Group 125"/>
            <p:cNvGrpSpPr>
              <a:grpSpLocks/>
            </p:cNvGrpSpPr>
            <p:nvPr/>
          </p:nvGrpSpPr>
          <p:grpSpPr bwMode="auto">
            <a:xfrm>
              <a:off x="2201" y="3046"/>
              <a:ext cx="214" cy="86"/>
              <a:chOff x="2201" y="3046"/>
              <a:chExt cx="214" cy="86"/>
            </a:xfrm>
          </p:grpSpPr>
          <p:grpSp>
            <p:nvGrpSpPr>
              <p:cNvPr id="61" name="Group 126"/>
              <p:cNvGrpSpPr>
                <a:grpSpLocks/>
              </p:cNvGrpSpPr>
              <p:nvPr/>
            </p:nvGrpSpPr>
            <p:grpSpPr bwMode="auto">
              <a:xfrm>
                <a:off x="2201" y="3046"/>
                <a:ext cx="212" cy="84"/>
                <a:chOff x="2201" y="3046"/>
                <a:chExt cx="212" cy="84"/>
              </a:xfrm>
            </p:grpSpPr>
            <p:sp>
              <p:nvSpPr>
                <p:cNvPr id="71" name="Freeform 127"/>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2" name="Freeform 128"/>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3" name="Freeform 129"/>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4" name="Freeform 130"/>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5" name="Freeform 131"/>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6" name="Freeform 132"/>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7" name="Freeform 133"/>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8" name="Freeform 134"/>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62" name="Group 135"/>
              <p:cNvGrpSpPr>
                <a:grpSpLocks/>
              </p:cNvGrpSpPr>
              <p:nvPr/>
            </p:nvGrpSpPr>
            <p:grpSpPr bwMode="auto">
              <a:xfrm>
                <a:off x="2203" y="3048"/>
                <a:ext cx="212" cy="84"/>
                <a:chOff x="2203" y="3048"/>
                <a:chExt cx="212" cy="84"/>
              </a:xfrm>
            </p:grpSpPr>
            <p:sp>
              <p:nvSpPr>
                <p:cNvPr id="63" name="Freeform 136"/>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4" name="Freeform 137"/>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5" name="Freeform 138"/>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6" name="Freeform 139"/>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7" name="Freeform 140"/>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8" name="Freeform 141"/>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9" name="Freeform 142"/>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0" name="Freeform 143"/>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59" name="Line 144"/>
            <p:cNvSpPr>
              <a:spLocks noChangeShapeType="1"/>
            </p:cNvSpPr>
            <p:nvPr/>
          </p:nvSpPr>
          <p:spPr bwMode="auto">
            <a:xfrm>
              <a:off x="2154"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0" name="Line 145"/>
            <p:cNvSpPr>
              <a:spLocks noChangeShapeType="1"/>
            </p:cNvSpPr>
            <p:nvPr/>
          </p:nvSpPr>
          <p:spPr bwMode="auto">
            <a:xfrm>
              <a:off x="246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82" name="Rectangle 280"/>
          <p:cNvSpPr>
            <a:spLocks noChangeArrowheads="1"/>
          </p:cNvSpPr>
          <p:nvPr/>
        </p:nvSpPr>
        <p:spPr bwMode="auto">
          <a:xfrm>
            <a:off x="4055293" y="2560698"/>
            <a:ext cx="697338" cy="3218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84" name="Group 282"/>
          <p:cNvGrpSpPr>
            <a:grpSpLocks/>
          </p:cNvGrpSpPr>
          <p:nvPr/>
        </p:nvGrpSpPr>
        <p:grpSpPr bwMode="auto">
          <a:xfrm>
            <a:off x="5669839" y="2721623"/>
            <a:ext cx="477468" cy="309839"/>
            <a:chOff x="3202" y="3033"/>
            <a:chExt cx="309" cy="192"/>
          </a:xfrm>
        </p:grpSpPr>
        <p:sp>
          <p:nvSpPr>
            <p:cNvPr id="85" name="Oval 283"/>
            <p:cNvSpPr>
              <a:spLocks noChangeArrowheads="1"/>
            </p:cNvSpPr>
            <p:nvPr/>
          </p:nvSpPr>
          <p:spPr bwMode="auto">
            <a:xfrm>
              <a:off x="3203"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6" name="Rectangle 284"/>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7" name="Rectangle 285"/>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8" name="Oval 286"/>
            <p:cNvSpPr>
              <a:spLocks noChangeArrowheads="1"/>
            </p:cNvSpPr>
            <p:nvPr/>
          </p:nvSpPr>
          <p:spPr bwMode="auto">
            <a:xfrm>
              <a:off x="3203"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89" name="Group 287"/>
            <p:cNvGrpSpPr>
              <a:grpSpLocks/>
            </p:cNvGrpSpPr>
            <p:nvPr/>
          </p:nvGrpSpPr>
          <p:grpSpPr bwMode="auto">
            <a:xfrm>
              <a:off x="3249" y="3046"/>
              <a:ext cx="214" cy="86"/>
              <a:chOff x="3249" y="3046"/>
              <a:chExt cx="214" cy="86"/>
            </a:xfrm>
          </p:grpSpPr>
          <p:grpSp>
            <p:nvGrpSpPr>
              <p:cNvPr id="92" name="Group 288"/>
              <p:cNvGrpSpPr>
                <a:grpSpLocks/>
              </p:cNvGrpSpPr>
              <p:nvPr/>
            </p:nvGrpSpPr>
            <p:grpSpPr bwMode="auto">
              <a:xfrm>
                <a:off x="3249" y="3046"/>
                <a:ext cx="212" cy="84"/>
                <a:chOff x="3249" y="3046"/>
                <a:chExt cx="212" cy="84"/>
              </a:xfrm>
            </p:grpSpPr>
            <p:sp>
              <p:nvSpPr>
                <p:cNvPr id="102" name="Freeform 289"/>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3" name="Freeform 290"/>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4" name="Freeform 291"/>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5" name="Freeform 292"/>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6" name="Freeform 293"/>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7" name="Freeform 294"/>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8" name="Freeform 295"/>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9" name="Freeform 296"/>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93" name="Group 297"/>
              <p:cNvGrpSpPr>
                <a:grpSpLocks/>
              </p:cNvGrpSpPr>
              <p:nvPr/>
            </p:nvGrpSpPr>
            <p:grpSpPr bwMode="auto">
              <a:xfrm>
                <a:off x="3251" y="3048"/>
                <a:ext cx="212" cy="84"/>
                <a:chOff x="3251" y="3048"/>
                <a:chExt cx="212" cy="84"/>
              </a:xfrm>
            </p:grpSpPr>
            <p:sp>
              <p:nvSpPr>
                <p:cNvPr id="94" name="Freeform 298"/>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5" name="Freeform 299"/>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6" name="Freeform 300"/>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7" name="Freeform 301"/>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8" name="Freeform 302"/>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9" name="Freeform 303"/>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0" name="Freeform 304"/>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1" name="Freeform 305"/>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90" name="Line 306"/>
            <p:cNvSpPr>
              <a:spLocks noChangeShapeType="1"/>
            </p:cNvSpPr>
            <p:nvPr/>
          </p:nvSpPr>
          <p:spPr bwMode="auto">
            <a:xfrm>
              <a:off x="320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1" name="Line 307"/>
            <p:cNvSpPr>
              <a:spLocks noChangeShapeType="1"/>
            </p:cNvSpPr>
            <p:nvPr/>
          </p:nvSpPr>
          <p:spPr bwMode="auto">
            <a:xfrm>
              <a:off x="3510"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110" name="Rectangle 308"/>
          <p:cNvSpPr>
            <a:spLocks noChangeArrowheads="1"/>
          </p:cNvSpPr>
          <p:nvPr/>
        </p:nvSpPr>
        <p:spPr bwMode="auto">
          <a:xfrm>
            <a:off x="6156415" y="2370952"/>
            <a:ext cx="729863" cy="3230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21" name="Rectangle 310"/>
          <p:cNvSpPr>
            <a:spLocks noChangeArrowheads="1"/>
          </p:cNvSpPr>
          <p:nvPr/>
        </p:nvSpPr>
        <p:spPr bwMode="auto">
          <a:xfrm>
            <a:off x="3635069" y="2444208"/>
            <a:ext cx="327853" cy="301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pic>
        <p:nvPicPr>
          <p:cNvPr id="128" name="图片 127"/>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441832" y="1513313"/>
            <a:ext cx="441076" cy="617506"/>
          </a:xfrm>
          <a:prstGeom prst="rect">
            <a:avLst/>
          </a:prstGeom>
        </p:spPr>
      </p:pic>
      <p:pic>
        <p:nvPicPr>
          <p:cNvPr id="133" name="图片 13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699008" y="2175800"/>
            <a:ext cx="441076" cy="617506"/>
          </a:xfrm>
          <a:prstGeom prst="rect">
            <a:avLst/>
          </a:prstGeom>
        </p:spPr>
      </p:pic>
      <p:pic>
        <p:nvPicPr>
          <p:cNvPr id="134" name="图片 13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699008" y="2895880"/>
            <a:ext cx="441076" cy="617506"/>
          </a:xfrm>
          <a:prstGeom prst="rect">
            <a:avLst/>
          </a:prstGeom>
        </p:spPr>
      </p:pic>
      <p:pic>
        <p:nvPicPr>
          <p:cNvPr id="135" name="图片 13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441832" y="3471944"/>
            <a:ext cx="441076" cy="617506"/>
          </a:xfrm>
          <a:prstGeom prst="rect">
            <a:avLst/>
          </a:prstGeom>
        </p:spPr>
      </p:pic>
      <p:cxnSp>
        <p:nvCxnSpPr>
          <p:cNvPr id="143" name="直接箭头连接符 142"/>
          <p:cNvCxnSpPr/>
          <p:nvPr/>
        </p:nvCxnSpPr>
        <p:spPr>
          <a:xfrm flipH="1">
            <a:off x="2977610" y="3708250"/>
            <a:ext cx="821385" cy="134797"/>
          </a:xfrm>
          <a:prstGeom prst="straightConnector1">
            <a:avLst/>
          </a:prstGeom>
          <a:ln w="19050">
            <a:solidFill>
              <a:srgbClr val="00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12" name="Freeform 325"/>
          <p:cNvSpPr>
            <a:spLocks/>
          </p:cNvSpPr>
          <p:nvPr/>
        </p:nvSpPr>
        <p:spPr bwMode="auto">
          <a:xfrm>
            <a:off x="2860347" y="2037199"/>
            <a:ext cx="4838661" cy="1597317"/>
          </a:xfrm>
          <a:custGeom>
            <a:avLst/>
            <a:gdLst>
              <a:gd name="T0" fmla="*/ 0 w 3356"/>
              <a:gd name="T1" fmla="*/ 2147483646 h 1179"/>
              <a:gd name="T2" fmla="*/ 2147483646 w 3356"/>
              <a:gd name="T3" fmla="*/ 2147483646 h 1179"/>
              <a:gd name="T4" fmla="*/ 2147483646 w 3356"/>
              <a:gd name="T5" fmla="*/ 2147483646 h 1179"/>
              <a:gd name="T6" fmla="*/ 2147483646 w 3356"/>
              <a:gd name="T7" fmla="*/ 2147483646 h 1179"/>
              <a:gd name="T8" fmla="*/ 2147483646 w 3356"/>
              <a:gd name="T9" fmla="*/ 2147483646 h 1179"/>
              <a:gd name="T10" fmla="*/ 2147483646 w 3356"/>
              <a:gd name="T11" fmla="*/ 2147483646 h 1179"/>
              <a:gd name="T12" fmla="*/ 2147483646 w 3356"/>
              <a:gd name="T13" fmla="*/ 2147483646 h 1179"/>
              <a:gd name="T14" fmla="*/ 2147483646 w 3356"/>
              <a:gd name="T15" fmla="*/ 2147483646 h 1179"/>
              <a:gd name="T16" fmla="*/ 2147483646 w 3356"/>
              <a:gd name="T17" fmla="*/ 0 h 117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356" h="1179">
                <a:moveTo>
                  <a:pt x="0" y="1179"/>
                </a:moveTo>
                <a:cubicBezTo>
                  <a:pt x="64" y="1127"/>
                  <a:pt x="263" y="937"/>
                  <a:pt x="385" y="867"/>
                </a:cubicBezTo>
                <a:cubicBezTo>
                  <a:pt x="507" y="797"/>
                  <a:pt x="552" y="778"/>
                  <a:pt x="732" y="758"/>
                </a:cubicBezTo>
                <a:cubicBezTo>
                  <a:pt x="912" y="738"/>
                  <a:pt x="1271" y="752"/>
                  <a:pt x="1464" y="749"/>
                </a:cubicBezTo>
                <a:cubicBezTo>
                  <a:pt x="1657" y="746"/>
                  <a:pt x="1767" y="750"/>
                  <a:pt x="1893" y="739"/>
                </a:cubicBezTo>
                <a:cubicBezTo>
                  <a:pt x="2019" y="728"/>
                  <a:pt x="2099" y="720"/>
                  <a:pt x="2222" y="680"/>
                </a:cubicBezTo>
                <a:cubicBezTo>
                  <a:pt x="2345" y="640"/>
                  <a:pt x="2503" y="567"/>
                  <a:pt x="2631" y="499"/>
                </a:cubicBezTo>
                <a:cubicBezTo>
                  <a:pt x="2759" y="431"/>
                  <a:pt x="2872" y="355"/>
                  <a:pt x="2993" y="272"/>
                </a:cubicBezTo>
                <a:cubicBezTo>
                  <a:pt x="3114" y="189"/>
                  <a:pt x="3295" y="53"/>
                  <a:pt x="3356" y="0"/>
                </a:cubicBezTo>
              </a:path>
            </a:pathLst>
          </a:custGeom>
          <a:noFill/>
          <a:ln w="57150" cmpd="sng">
            <a:solidFill>
              <a:srgbClr val="CC00CC"/>
            </a:solidFill>
            <a:round/>
            <a:headEnd type="triangl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solidFill>
                <a:srgbClr val="000099"/>
              </a:solidFill>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A0B7F1CD-3D6A-8ECA-3BE1-B7661382DC18}"/>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代理服务器</a:t>
            </a:r>
          </a:p>
        </p:txBody>
      </p:sp>
      <p:sp>
        <p:nvSpPr>
          <p:cNvPr id="3" name="内容占位符 2">
            <a:extLst>
              <a:ext uri="{FF2B5EF4-FFF2-40B4-BE49-F238E27FC236}">
                <a16:creationId xmlns:a16="http://schemas.microsoft.com/office/drawing/2014/main" id="{C0EACFF2-0639-9712-C0B7-C6E91201A050}"/>
              </a:ext>
            </a:extLst>
          </p:cNvPr>
          <p:cNvSpPr>
            <a:spLocks noGrp="1"/>
          </p:cNvSpPr>
          <p:nvPr>
            <p:ph sz="quarter" idx="11"/>
          </p:nvPr>
        </p:nvSpPr>
        <p:spPr>
          <a:xfrm>
            <a:off x="486000" y="687518"/>
            <a:ext cx="8172000" cy="4079035"/>
          </a:xfrm>
        </p:spPr>
        <p:txBody>
          <a:bodyPr/>
          <a:lstStyle/>
          <a:p>
            <a:r>
              <a:rPr lang="zh-CN" altLang="en-US" dirty="0"/>
              <a:t>使用高速缓存的情况</a:t>
            </a:r>
          </a:p>
          <a:p>
            <a:endParaRPr lang="zh-CN" altLang="en-US" dirty="0"/>
          </a:p>
        </p:txBody>
      </p:sp>
      <p:sp>
        <p:nvSpPr>
          <p:cNvPr id="4" name="Rectangle 281">
            <a:extLst>
              <a:ext uri="{FF2B5EF4-FFF2-40B4-BE49-F238E27FC236}">
                <a16:creationId xmlns:a16="http://schemas.microsoft.com/office/drawing/2014/main" id="{F7EB5044-F59D-F530-2AD5-F279E6D92C73}"/>
              </a:ext>
            </a:extLst>
          </p:cNvPr>
          <p:cNvSpPr>
            <a:spLocks noChangeArrowheads="1"/>
          </p:cNvSpPr>
          <p:nvPr/>
        </p:nvSpPr>
        <p:spPr bwMode="auto">
          <a:xfrm>
            <a:off x="4374843" y="2614739"/>
            <a:ext cx="711733"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2 Mbit/s</a:t>
            </a:r>
          </a:p>
        </p:txBody>
      </p:sp>
      <p:sp>
        <p:nvSpPr>
          <p:cNvPr id="5" name="Rectangle 309">
            <a:extLst>
              <a:ext uri="{FF2B5EF4-FFF2-40B4-BE49-F238E27FC236}">
                <a16:creationId xmlns:a16="http://schemas.microsoft.com/office/drawing/2014/main" id="{6C606F72-94E8-DC71-D6ED-8899876E451A}"/>
              </a:ext>
            </a:extLst>
          </p:cNvPr>
          <p:cNvSpPr>
            <a:spLocks noChangeArrowheads="1"/>
          </p:cNvSpPr>
          <p:nvPr/>
        </p:nvSpPr>
        <p:spPr bwMode="auto">
          <a:xfrm>
            <a:off x="6538749" y="2811692"/>
            <a:ext cx="53860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400" dirty="0">
                <a:latin typeface="Montserrat" panose="00000500000000000000" pitchFamily="2" charset="0"/>
                <a:ea typeface="微软雅黑 Light" panose="020B0502040204020203" pitchFamily="34" charset="-122"/>
              </a:rPr>
              <a:t>互联网</a:t>
            </a:r>
          </a:p>
        </p:txBody>
      </p:sp>
      <p:sp>
        <p:nvSpPr>
          <p:cNvPr id="6" name="Rectangle 314">
            <a:extLst>
              <a:ext uri="{FF2B5EF4-FFF2-40B4-BE49-F238E27FC236}">
                <a16:creationId xmlns:a16="http://schemas.microsoft.com/office/drawing/2014/main" id="{D06E433D-13BF-7521-AAF6-DCA478042B82}"/>
              </a:ext>
            </a:extLst>
          </p:cNvPr>
          <p:cNvSpPr>
            <a:spLocks noChangeArrowheads="1"/>
          </p:cNvSpPr>
          <p:nvPr/>
        </p:nvSpPr>
        <p:spPr bwMode="auto">
          <a:xfrm>
            <a:off x="3631167" y="2464624"/>
            <a:ext cx="17312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1</a:t>
            </a:r>
          </a:p>
        </p:txBody>
      </p:sp>
      <p:sp>
        <p:nvSpPr>
          <p:cNvPr id="7" name="Rectangle 315">
            <a:extLst>
              <a:ext uri="{FF2B5EF4-FFF2-40B4-BE49-F238E27FC236}">
                <a16:creationId xmlns:a16="http://schemas.microsoft.com/office/drawing/2014/main" id="{DFF2CBBA-FAED-FD05-83A6-FA186E7BAF82}"/>
              </a:ext>
            </a:extLst>
          </p:cNvPr>
          <p:cNvSpPr>
            <a:spLocks noChangeArrowheads="1"/>
          </p:cNvSpPr>
          <p:nvPr/>
        </p:nvSpPr>
        <p:spPr bwMode="auto">
          <a:xfrm>
            <a:off x="5779123" y="2465824"/>
            <a:ext cx="19717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2</a:t>
            </a:r>
          </a:p>
        </p:txBody>
      </p:sp>
      <p:sp>
        <p:nvSpPr>
          <p:cNvPr id="8" name="Text Box 328">
            <a:extLst>
              <a:ext uri="{FF2B5EF4-FFF2-40B4-BE49-F238E27FC236}">
                <a16:creationId xmlns:a16="http://schemas.microsoft.com/office/drawing/2014/main" id="{8B550A88-A0A7-F7AD-5D33-264093C116D6}"/>
              </a:ext>
            </a:extLst>
          </p:cNvPr>
          <p:cNvSpPr txBox="1">
            <a:spLocks noChangeArrowheads="1"/>
          </p:cNvSpPr>
          <p:nvPr/>
        </p:nvSpPr>
        <p:spPr bwMode="auto">
          <a:xfrm>
            <a:off x="3761576" y="3548615"/>
            <a:ext cx="1621051" cy="5236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lang="zh-CN" altLang="en-US" sz="1400" dirty="0">
                <a:latin typeface="Montserrat" panose="00000500000000000000" pitchFamily="2" charset="0"/>
                <a:ea typeface="微软雅黑 Light" panose="020B0502040204020203" pitchFamily="34" charset="-122"/>
              </a:rPr>
              <a:t>校园网的高速缓存</a:t>
            </a:r>
          </a:p>
          <a:p>
            <a:pPr algn="ctr"/>
            <a:r>
              <a:rPr lang="zh-CN" altLang="en-US" sz="1400" dirty="0">
                <a:latin typeface="Montserrat" panose="00000500000000000000" pitchFamily="2" charset="0"/>
                <a:ea typeface="微软雅黑 Light" panose="020B0502040204020203" pitchFamily="34" charset="-122"/>
              </a:rPr>
              <a:t>（代理服务器）</a:t>
            </a:r>
          </a:p>
        </p:txBody>
      </p:sp>
      <p:sp>
        <p:nvSpPr>
          <p:cNvPr id="9" name="Rectangle 279">
            <a:extLst>
              <a:ext uri="{FF2B5EF4-FFF2-40B4-BE49-F238E27FC236}">
                <a16:creationId xmlns:a16="http://schemas.microsoft.com/office/drawing/2014/main" id="{487F8928-EC82-91BF-9735-5080A647F928}"/>
              </a:ext>
            </a:extLst>
          </p:cNvPr>
          <p:cNvSpPr>
            <a:spLocks noChangeArrowheads="1"/>
          </p:cNvSpPr>
          <p:nvPr/>
        </p:nvSpPr>
        <p:spPr bwMode="auto">
          <a:xfrm>
            <a:off x="7350735" y="1274990"/>
            <a:ext cx="109039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1" lang="zh-CN" altLang="en-US" sz="1400" dirty="0">
                <a:latin typeface="Montserrat" panose="00000500000000000000" pitchFamily="2" charset="0"/>
                <a:ea typeface="微软雅黑 Light" panose="020B0502040204020203" pitchFamily="34" charset="-122"/>
              </a:rPr>
              <a:t>源点服务器</a:t>
            </a:r>
          </a:p>
        </p:txBody>
      </p:sp>
      <p:sp>
        <p:nvSpPr>
          <p:cNvPr id="10" name="矩形 9">
            <a:extLst>
              <a:ext uri="{FF2B5EF4-FFF2-40B4-BE49-F238E27FC236}">
                <a16:creationId xmlns:a16="http://schemas.microsoft.com/office/drawing/2014/main" id="{82637968-E3D9-8AFA-9997-6330BF94BB7C}"/>
              </a:ext>
            </a:extLst>
          </p:cNvPr>
          <p:cNvSpPr/>
          <p:nvPr/>
        </p:nvSpPr>
        <p:spPr>
          <a:xfrm>
            <a:off x="4004325" y="908563"/>
            <a:ext cx="3297333" cy="766074"/>
          </a:xfrm>
          <a:prstGeom prst="rect">
            <a:avLst/>
          </a:prstGeom>
          <a:noFill/>
          <a:ln>
            <a:solidFill>
              <a:schemeClr val="tx1"/>
            </a:solidFill>
          </a:ln>
        </p:spPr>
        <p:txBody>
          <a:bodyPr wrap="square">
            <a:spAutoFit/>
          </a:bodyPr>
          <a:lstStyle/>
          <a:p>
            <a:pPr algn="just"/>
            <a:r>
              <a:rPr kumimoji="1" lang="en-US" altLang="zh-CN" sz="1400" dirty="0">
                <a:latin typeface="Montserrat" panose="00000500000000000000" pitchFamily="2" charset="0"/>
                <a:ea typeface="微软雅黑 Light" panose="020B0502040204020203" pitchFamily="34" charset="-122"/>
              </a:rPr>
              <a:t>(4) </a:t>
            </a:r>
            <a:r>
              <a:rPr kumimoji="1" lang="zh-CN" altLang="en-US" sz="1400" dirty="0">
                <a:latin typeface="Montserrat" panose="00000500000000000000" pitchFamily="2" charset="0"/>
                <a:ea typeface="微软雅黑 Light" panose="020B0502040204020203" pitchFamily="34" charset="-122"/>
              </a:rPr>
              <a:t>源点服务器将所请求的对象放在 </a:t>
            </a:r>
            <a:r>
              <a:rPr kumimoji="1" lang="en-US" altLang="zh-CN" sz="1400" dirty="0">
                <a:latin typeface="Montserrat" panose="00000500000000000000" pitchFamily="2" charset="0"/>
                <a:ea typeface="微软雅黑 Light" panose="020B0502040204020203" pitchFamily="34" charset="-122"/>
              </a:rPr>
              <a:t>HTTP </a:t>
            </a:r>
            <a:r>
              <a:rPr kumimoji="1" lang="zh-CN" altLang="en-US" sz="1400" dirty="0">
                <a:latin typeface="Montserrat" panose="00000500000000000000" pitchFamily="2" charset="0"/>
                <a:ea typeface="微软雅黑 Light" panose="020B0502040204020203" pitchFamily="34" charset="-122"/>
              </a:rPr>
              <a:t>响应报文中返回给校园网的高速缓存</a:t>
            </a:r>
          </a:p>
        </p:txBody>
      </p:sp>
      <p:sp>
        <p:nvSpPr>
          <p:cNvPr id="11" name="云形 10">
            <a:extLst>
              <a:ext uri="{FF2B5EF4-FFF2-40B4-BE49-F238E27FC236}">
                <a16:creationId xmlns:a16="http://schemas.microsoft.com/office/drawing/2014/main" id="{B6003530-00B5-1069-4D85-CF5DF5A95F27}"/>
              </a:ext>
            </a:extLst>
          </p:cNvPr>
          <p:cNvSpPr/>
          <p:nvPr/>
        </p:nvSpPr>
        <p:spPr>
          <a:xfrm>
            <a:off x="434820" y="1153390"/>
            <a:ext cx="3611524" cy="3041339"/>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2569842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grpId="0" nodeType="afterEffect">
                                  <p:stCondLst>
                                    <p:cond delay="0"/>
                                  </p:stCondLst>
                                  <p:childTnLst>
                                    <p:set>
                                      <p:cBhvr>
                                        <p:cTn id="6" dur="1" fill="hold">
                                          <p:stCondLst>
                                            <p:cond delay="0"/>
                                          </p:stCondLst>
                                        </p:cTn>
                                        <p:tgtEl>
                                          <p:spTgt spid="112"/>
                                        </p:tgtEl>
                                        <p:attrNameLst>
                                          <p:attrName>style.visibility</p:attrName>
                                        </p:attrNameLst>
                                      </p:cBhvr>
                                      <p:to>
                                        <p:strVal val="visible"/>
                                      </p:to>
                                    </p:set>
                                    <p:animEffect transition="in" filter="wipe(right)">
                                      <p:cBhvr>
                                        <p:cTn id="7" dur="2000"/>
                                        <p:tgtEl>
                                          <p:spTgt spid="1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2" grpId="0" animBg="1"/>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 name="Rectangle 114"/>
          <p:cNvSpPr>
            <a:spLocks noChangeArrowheads="1"/>
          </p:cNvSpPr>
          <p:nvPr/>
        </p:nvSpPr>
        <p:spPr bwMode="auto">
          <a:xfrm>
            <a:off x="2403184" y="1572659"/>
            <a:ext cx="27321" cy="2146055"/>
          </a:xfrm>
          <a:prstGeom prst="rect">
            <a:avLst/>
          </a:prstGeom>
          <a:solidFill>
            <a:srgbClr val="3366CC"/>
          </a:solidFill>
          <a:ln w="38100" cmpd="sng">
            <a:solidFill>
              <a:srgbClr val="3366CC"/>
            </a:solidFill>
            <a:miter lim="800000"/>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4" name="Line 115"/>
          <p:cNvSpPr>
            <a:spLocks noChangeShapeType="1"/>
          </p:cNvSpPr>
          <p:nvPr/>
        </p:nvSpPr>
        <p:spPr bwMode="auto">
          <a:xfrm>
            <a:off x="1729264" y="1893307"/>
            <a:ext cx="701240"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5" name="Line 116"/>
          <p:cNvSpPr>
            <a:spLocks noChangeShapeType="1"/>
          </p:cNvSpPr>
          <p:nvPr/>
        </p:nvSpPr>
        <p:spPr bwMode="auto">
          <a:xfrm>
            <a:off x="1938726" y="2479358"/>
            <a:ext cx="491779" cy="1201"/>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6" name="Line 117"/>
          <p:cNvSpPr>
            <a:spLocks noChangeShapeType="1"/>
          </p:cNvSpPr>
          <p:nvPr/>
        </p:nvSpPr>
        <p:spPr bwMode="auto">
          <a:xfrm>
            <a:off x="1362381" y="2886472"/>
            <a:ext cx="1053813" cy="36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7" name="Line 118"/>
          <p:cNvSpPr>
            <a:spLocks noChangeShapeType="1"/>
          </p:cNvSpPr>
          <p:nvPr/>
        </p:nvSpPr>
        <p:spPr bwMode="auto">
          <a:xfrm>
            <a:off x="1799519" y="3429292"/>
            <a:ext cx="632288"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8" name="Line 119"/>
          <p:cNvSpPr>
            <a:spLocks noChangeShapeType="1"/>
          </p:cNvSpPr>
          <p:nvPr/>
        </p:nvSpPr>
        <p:spPr bwMode="auto">
          <a:xfrm>
            <a:off x="2443258" y="2943988"/>
            <a:ext cx="1193020" cy="2402"/>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9" name="Rectangle 255"/>
          <p:cNvSpPr>
            <a:spLocks noChangeArrowheads="1"/>
          </p:cNvSpPr>
          <p:nvPr/>
        </p:nvSpPr>
        <p:spPr bwMode="auto">
          <a:xfrm>
            <a:off x="2668104" y="1546706"/>
            <a:ext cx="615553"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600" b="1" dirty="0">
                <a:solidFill>
                  <a:schemeClr val="bg1"/>
                </a:solidFill>
                <a:latin typeface="微软雅黑 Light" panose="020B0502040204020203" pitchFamily="34" charset="-122"/>
                <a:ea typeface="微软雅黑 Light" panose="020B0502040204020203" pitchFamily="34" charset="-122"/>
              </a:rPr>
              <a:t>校园网</a:t>
            </a:r>
          </a:p>
        </p:txBody>
      </p:sp>
      <p:sp>
        <p:nvSpPr>
          <p:cNvPr id="160" name="Rectangle 312"/>
          <p:cNvSpPr>
            <a:spLocks noChangeArrowheads="1"/>
          </p:cNvSpPr>
          <p:nvPr/>
        </p:nvSpPr>
        <p:spPr bwMode="auto">
          <a:xfrm>
            <a:off x="2061020" y="2521391"/>
            <a:ext cx="357776" cy="3014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1" name="Rectangle 313"/>
          <p:cNvSpPr>
            <a:spLocks noChangeArrowheads="1"/>
          </p:cNvSpPr>
          <p:nvPr/>
        </p:nvSpPr>
        <p:spPr bwMode="auto">
          <a:xfrm>
            <a:off x="1078422" y="2396014"/>
            <a:ext cx="461665"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浏览器</a:t>
            </a:r>
          </a:p>
        </p:txBody>
      </p:sp>
      <p:pic>
        <p:nvPicPr>
          <p:cNvPr id="162"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1534553"/>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3"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13187" y="2110986"/>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4"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3111747"/>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5"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43608" y="2609230"/>
            <a:ext cx="516657" cy="516658"/>
          </a:xfrm>
          <a:prstGeom prst="rect">
            <a:avLst/>
          </a:prstGeom>
          <a:noFill/>
          <a:extLst>
            <a:ext uri="{909E8E84-426E-40DD-AFC4-6F175D3DCCD1}">
              <a14:hiddenFill xmlns:a14="http://schemas.microsoft.com/office/drawing/2010/main">
                <a:solidFill>
                  <a:srgbClr val="FFFFFF"/>
                </a:solidFill>
              </a14:hiddenFill>
            </a:ext>
          </a:extLst>
        </p:spPr>
      </p:pic>
      <p:sp>
        <p:nvSpPr>
          <p:cNvPr id="166" name="Line 119"/>
          <p:cNvSpPr>
            <a:spLocks noChangeShapeType="1"/>
          </p:cNvSpPr>
          <p:nvPr/>
        </p:nvSpPr>
        <p:spPr bwMode="auto">
          <a:xfrm flipV="1">
            <a:off x="2977610" y="2970289"/>
            <a:ext cx="513818" cy="650825"/>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8" name="Rectangle 254"/>
          <p:cNvSpPr>
            <a:spLocks noChangeArrowheads="1"/>
          </p:cNvSpPr>
          <p:nvPr/>
        </p:nvSpPr>
        <p:spPr bwMode="auto">
          <a:xfrm>
            <a:off x="2513605" y="2079129"/>
            <a:ext cx="729863" cy="5115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9" name="Rectangle 311"/>
          <p:cNvSpPr>
            <a:spLocks noChangeArrowheads="1"/>
          </p:cNvSpPr>
          <p:nvPr/>
        </p:nvSpPr>
        <p:spPr bwMode="auto">
          <a:xfrm>
            <a:off x="2933828" y="3027860"/>
            <a:ext cx="355175" cy="3026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pic>
        <p:nvPicPr>
          <p:cNvPr id="170" name="图片 169"/>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639810" y="3452414"/>
            <a:ext cx="441076" cy="617506"/>
          </a:xfrm>
          <a:prstGeom prst="rect">
            <a:avLst/>
          </a:prstGeom>
        </p:spPr>
      </p:pic>
      <p:graphicFrame>
        <p:nvGraphicFramePr>
          <p:cNvPr id="41" name="Object 44"/>
          <p:cNvGraphicFramePr>
            <a:graphicFrameLocks noChangeAspect="1"/>
          </p:cNvGraphicFramePr>
          <p:nvPr>
            <p:extLst>
              <p:ext uri="{D42A27DB-BD31-4B8C-83A1-F6EECF244321}">
                <p14:modId xmlns:p14="http://schemas.microsoft.com/office/powerpoint/2010/main" val="1367370087"/>
              </p:ext>
            </p:extLst>
          </p:nvPr>
        </p:nvGraphicFramePr>
        <p:xfrm>
          <a:off x="6071848" y="2423792"/>
          <a:ext cx="1509164" cy="951134"/>
        </p:xfrm>
        <a:graphic>
          <a:graphicData uri="http://schemas.openxmlformats.org/presentationml/2006/ole">
            <mc:AlternateContent xmlns:mc="http://schemas.openxmlformats.org/markup-compatibility/2006">
              <mc:Choice xmlns:v="urn:schemas-microsoft-com:vml" Requires="v">
                <p:oleObj name="VISIO" r:id="rId4" imgW="1687068" imgH="964692" progId="">
                  <p:embed/>
                </p:oleObj>
              </mc:Choice>
              <mc:Fallback>
                <p:oleObj name="VISIO" r:id="rId4" imgW="1687068" imgH="964692" progId="">
                  <p:embed/>
                  <p:pic>
                    <p:nvPicPr>
                      <p:cNvPr id="0" name="Picture 35"/>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071848" y="2423792"/>
                        <a:ext cx="1509164" cy="951134"/>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42" name="Line 45"/>
          <p:cNvSpPr>
            <a:spLocks noChangeShapeType="1"/>
          </p:cNvSpPr>
          <p:nvPr/>
        </p:nvSpPr>
        <p:spPr bwMode="auto">
          <a:xfrm>
            <a:off x="3676701" y="2888550"/>
            <a:ext cx="2154462"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3" name="Line 46"/>
          <p:cNvSpPr>
            <a:spLocks noChangeShapeType="1"/>
          </p:cNvSpPr>
          <p:nvPr/>
        </p:nvSpPr>
        <p:spPr bwMode="auto">
          <a:xfrm>
            <a:off x="7005969" y="3310076"/>
            <a:ext cx="554227" cy="449146"/>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4" name="Line 47"/>
          <p:cNvSpPr>
            <a:spLocks noChangeShapeType="1"/>
          </p:cNvSpPr>
          <p:nvPr/>
        </p:nvSpPr>
        <p:spPr bwMode="auto">
          <a:xfrm>
            <a:off x="7326016" y="3079498"/>
            <a:ext cx="444943" cy="94873"/>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5" name="Line 48"/>
          <p:cNvSpPr>
            <a:spLocks noChangeShapeType="1"/>
          </p:cNvSpPr>
          <p:nvPr/>
        </p:nvSpPr>
        <p:spPr bwMode="auto">
          <a:xfrm flipV="1">
            <a:off x="7350735" y="2516264"/>
            <a:ext cx="420224" cy="127298"/>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6" name="Line 49"/>
          <p:cNvSpPr>
            <a:spLocks noChangeShapeType="1"/>
          </p:cNvSpPr>
          <p:nvPr/>
        </p:nvSpPr>
        <p:spPr bwMode="auto">
          <a:xfrm flipV="1">
            <a:off x="6979949" y="2004669"/>
            <a:ext cx="580248" cy="492380"/>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53" name="Group 120"/>
          <p:cNvGrpSpPr>
            <a:grpSpLocks/>
          </p:cNvGrpSpPr>
          <p:nvPr/>
        </p:nvGrpSpPr>
        <p:grpSpPr bwMode="auto">
          <a:xfrm>
            <a:off x="3321527" y="2753930"/>
            <a:ext cx="477468" cy="309839"/>
            <a:chOff x="2154" y="3033"/>
            <a:chExt cx="309" cy="192"/>
          </a:xfrm>
        </p:grpSpPr>
        <p:sp>
          <p:nvSpPr>
            <p:cNvPr id="54" name="Oval 121"/>
            <p:cNvSpPr>
              <a:spLocks noChangeArrowheads="1"/>
            </p:cNvSpPr>
            <p:nvPr/>
          </p:nvSpPr>
          <p:spPr bwMode="auto">
            <a:xfrm>
              <a:off x="2155"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5" name="Rectangle 122"/>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6" name="Rectangle 123"/>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7" name="Oval 124"/>
            <p:cNvSpPr>
              <a:spLocks noChangeArrowheads="1"/>
            </p:cNvSpPr>
            <p:nvPr/>
          </p:nvSpPr>
          <p:spPr bwMode="auto">
            <a:xfrm>
              <a:off x="2155"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58" name="Group 125"/>
            <p:cNvGrpSpPr>
              <a:grpSpLocks/>
            </p:cNvGrpSpPr>
            <p:nvPr/>
          </p:nvGrpSpPr>
          <p:grpSpPr bwMode="auto">
            <a:xfrm>
              <a:off x="2201" y="3046"/>
              <a:ext cx="214" cy="86"/>
              <a:chOff x="2201" y="3046"/>
              <a:chExt cx="214" cy="86"/>
            </a:xfrm>
          </p:grpSpPr>
          <p:grpSp>
            <p:nvGrpSpPr>
              <p:cNvPr id="61" name="Group 126"/>
              <p:cNvGrpSpPr>
                <a:grpSpLocks/>
              </p:cNvGrpSpPr>
              <p:nvPr/>
            </p:nvGrpSpPr>
            <p:grpSpPr bwMode="auto">
              <a:xfrm>
                <a:off x="2201" y="3046"/>
                <a:ext cx="212" cy="84"/>
                <a:chOff x="2201" y="3046"/>
                <a:chExt cx="212" cy="84"/>
              </a:xfrm>
            </p:grpSpPr>
            <p:sp>
              <p:nvSpPr>
                <p:cNvPr id="71" name="Freeform 127"/>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2" name="Freeform 128"/>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3" name="Freeform 129"/>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4" name="Freeform 130"/>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5" name="Freeform 131"/>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6" name="Freeform 132"/>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7" name="Freeform 133"/>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8" name="Freeform 134"/>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62" name="Group 135"/>
              <p:cNvGrpSpPr>
                <a:grpSpLocks/>
              </p:cNvGrpSpPr>
              <p:nvPr/>
            </p:nvGrpSpPr>
            <p:grpSpPr bwMode="auto">
              <a:xfrm>
                <a:off x="2203" y="3048"/>
                <a:ext cx="212" cy="84"/>
                <a:chOff x="2203" y="3048"/>
                <a:chExt cx="212" cy="84"/>
              </a:xfrm>
            </p:grpSpPr>
            <p:sp>
              <p:nvSpPr>
                <p:cNvPr id="63" name="Freeform 136"/>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4" name="Freeform 137"/>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5" name="Freeform 138"/>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6" name="Freeform 139"/>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7" name="Freeform 140"/>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8" name="Freeform 141"/>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9" name="Freeform 142"/>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0" name="Freeform 143"/>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59" name="Line 144"/>
            <p:cNvSpPr>
              <a:spLocks noChangeShapeType="1"/>
            </p:cNvSpPr>
            <p:nvPr/>
          </p:nvSpPr>
          <p:spPr bwMode="auto">
            <a:xfrm>
              <a:off x="2154"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0" name="Line 145"/>
            <p:cNvSpPr>
              <a:spLocks noChangeShapeType="1"/>
            </p:cNvSpPr>
            <p:nvPr/>
          </p:nvSpPr>
          <p:spPr bwMode="auto">
            <a:xfrm>
              <a:off x="246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82" name="Rectangle 280"/>
          <p:cNvSpPr>
            <a:spLocks noChangeArrowheads="1"/>
          </p:cNvSpPr>
          <p:nvPr/>
        </p:nvSpPr>
        <p:spPr bwMode="auto">
          <a:xfrm>
            <a:off x="4055293" y="2560698"/>
            <a:ext cx="697338" cy="3218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84" name="Group 282"/>
          <p:cNvGrpSpPr>
            <a:grpSpLocks/>
          </p:cNvGrpSpPr>
          <p:nvPr/>
        </p:nvGrpSpPr>
        <p:grpSpPr bwMode="auto">
          <a:xfrm>
            <a:off x="5669839" y="2721623"/>
            <a:ext cx="477468" cy="309839"/>
            <a:chOff x="3202" y="3033"/>
            <a:chExt cx="309" cy="192"/>
          </a:xfrm>
        </p:grpSpPr>
        <p:sp>
          <p:nvSpPr>
            <p:cNvPr id="85" name="Oval 283"/>
            <p:cNvSpPr>
              <a:spLocks noChangeArrowheads="1"/>
            </p:cNvSpPr>
            <p:nvPr/>
          </p:nvSpPr>
          <p:spPr bwMode="auto">
            <a:xfrm>
              <a:off x="3203"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6" name="Rectangle 284"/>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7" name="Rectangle 285"/>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8" name="Oval 286"/>
            <p:cNvSpPr>
              <a:spLocks noChangeArrowheads="1"/>
            </p:cNvSpPr>
            <p:nvPr/>
          </p:nvSpPr>
          <p:spPr bwMode="auto">
            <a:xfrm>
              <a:off x="3203"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89" name="Group 287"/>
            <p:cNvGrpSpPr>
              <a:grpSpLocks/>
            </p:cNvGrpSpPr>
            <p:nvPr/>
          </p:nvGrpSpPr>
          <p:grpSpPr bwMode="auto">
            <a:xfrm>
              <a:off x="3249" y="3046"/>
              <a:ext cx="214" cy="86"/>
              <a:chOff x="3249" y="3046"/>
              <a:chExt cx="214" cy="86"/>
            </a:xfrm>
          </p:grpSpPr>
          <p:grpSp>
            <p:nvGrpSpPr>
              <p:cNvPr id="92" name="Group 288"/>
              <p:cNvGrpSpPr>
                <a:grpSpLocks/>
              </p:cNvGrpSpPr>
              <p:nvPr/>
            </p:nvGrpSpPr>
            <p:grpSpPr bwMode="auto">
              <a:xfrm>
                <a:off x="3249" y="3046"/>
                <a:ext cx="212" cy="84"/>
                <a:chOff x="3249" y="3046"/>
                <a:chExt cx="212" cy="84"/>
              </a:xfrm>
            </p:grpSpPr>
            <p:sp>
              <p:nvSpPr>
                <p:cNvPr id="102" name="Freeform 289"/>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3" name="Freeform 290"/>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4" name="Freeform 291"/>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5" name="Freeform 292"/>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6" name="Freeform 293"/>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7" name="Freeform 294"/>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8" name="Freeform 295"/>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9" name="Freeform 296"/>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93" name="Group 297"/>
              <p:cNvGrpSpPr>
                <a:grpSpLocks/>
              </p:cNvGrpSpPr>
              <p:nvPr/>
            </p:nvGrpSpPr>
            <p:grpSpPr bwMode="auto">
              <a:xfrm>
                <a:off x="3251" y="3048"/>
                <a:ext cx="212" cy="84"/>
                <a:chOff x="3251" y="3048"/>
                <a:chExt cx="212" cy="84"/>
              </a:xfrm>
            </p:grpSpPr>
            <p:sp>
              <p:nvSpPr>
                <p:cNvPr id="94" name="Freeform 298"/>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5" name="Freeform 299"/>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6" name="Freeform 300"/>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7" name="Freeform 301"/>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8" name="Freeform 302"/>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9" name="Freeform 303"/>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0" name="Freeform 304"/>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1" name="Freeform 305"/>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90" name="Line 306"/>
            <p:cNvSpPr>
              <a:spLocks noChangeShapeType="1"/>
            </p:cNvSpPr>
            <p:nvPr/>
          </p:nvSpPr>
          <p:spPr bwMode="auto">
            <a:xfrm>
              <a:off x="320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1" name="Line 307"/>
            <p:cNvSpPr>
              <a:spLocks noChangeShapeType="1"/>
            </p:cNvSpPr>
            <p:nvPr/>
          </p:nvSpPr>
          <p:spPr bwMode="auto">
            <a:xfrm>
              <a:off x="3510"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110" name="Rectangle 308"/>
          <p:cNvSpPr>
            <a:spLocks noChangeArrowheads="1"/>
          </p:cNvSpPr>
          <p:nvPr/>
        </p:nvSpPr>
        <p:spPr bwMode="auto">
          <a:xfrm>
            <a:off x="6156415" y="2370952"/>
            <a:ext cx="729863" cy="3230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21" name="Rectangle 310"/>
          <p:cNvSpPr>
            <a:spLocks noChangeArrowheads="1"/>
          </p:cNvSpPr>
          <p:nvPr/>
        </p:nvSpPr>
        <p:spPr bwMode="auto">
          <a:xfrm>
            <a:off x="3635069" y="2444208"/>
            <a:ext cx="327853" cy="301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pic>
        <p:nvPicPr>
          <p:cNvPr id="128" name="图片 127"/>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441832" y="1513313"/>
            <a:ext cx="441076" cy="617506"/>
          </a:xfrm>
          <a:prstGeom prst="rect">
            <a:avLst/>
          </a:prstGeom>
        </p:spPr>
      </p:pic>
      <p:pic>
        <p:nvPicPr>
          <p:cNvPr id="133" name="图片 13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699008" y="2175800"/>
            <a:ext cx="441076" cy="617506"/>
          </a:xfrm>
          <a:prstGeom prst="rect">
            <a:avLst/>
          </a:prstGeom>
        </p:spPr>
      </p:pic>
      <p:pic>
        <p:nvPicPr>
          <p:cNvPr id="134" name="图片 13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699008" y="2895880"/>
            <a:ext cx="441076" cy="617506"/>
          </a:xfrm>
          <a:prstGeom prst="rect">
            <a:avLst/>
          </a:prstGeom>
        </p:spPr>
      </p:pic>
      <p:pic>
        <p:nvPicPr>
          <p:cNvPr id="135" name="图片 13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441832" y="3471944"/>
            <a:ext cx="441076" cy="617506"/>
          </a:xfrm>
          <a:prstGeom prst="rect">
            <a:avLst/>
          </a:prstGeom>
        </p:spPr>
      </p:pic>
      <p:cxnSp>
        <p:nvCxnSpPr>
          <p:cNvPr id="143" name="直接箭头连接符 142"/>
          <p:cNvCxnSpPr/>
          <p:nvPr/>
        </p:nvCxnSpPr>
        <p:spPr>
          <a:xfrm flipH="1">
            <a:off x="2977610" y="3708250"/>
            <a:ext cx="821385" cy="134797"/>
          </a:xfrm>
          <a:prstGeom prst="straightConnector1">
            <a:avLst/>
          </a:prstGeom>
          <a:ln w="19050">
            <a:solidFill>
              <a:srgbClr val="00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3" name="直接箭头连接符 112"/>
          <p:cNvCxnSpPr/>
          <p:nvPr/>
        </p:nvCxnSpPr>
        <p:spPr>
          <a:xfrm>
            <a:off x="1825374" y="1963801"/>
            <a:ext cx="1034974" cy="1620917"/>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4" name="直接箭头连接符 113"/>
          <p:cNvCxnSpPr/>
          <p:nvPr/>
        </p:nvCxnSpPr>
        <p:spPr>
          <a:xfrm>
            <a:off x="1825374" y="2560698"/>
            <a:ext cx="881176" cy="1024020"/>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5" name="直接箭头连接符 114"/>
          <p:cNvCxnSpPr/>
          <p:nvPr/>
        </p:nvCxnSpPr>
        <p:spPr>
          <a:xfrm>
            <a:off x="1290296" y="2967888"/>
            <a:ext cx="1483088" cy="740362"/>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7" name="直接箭头连接符 116"/>
          <p:cNvCxnSpPr/>
          <p:nvPr/>
        </p:nvCxnSpPr>
        <p:spPr>
          <a:xfrm>
            <a:off x="1775935" y="3573454"/>
            <a:ext cx="952317" cy="269593"/>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2" name="标题 1">
            <a:extLst>
              <a:ext uri="{FF2B5EF4-FFF2-40B4-BE49-F238E27FC236}">
                <a16:creationId xmlns:a16="http://schemas.microsoft.com/office/drawing/2014/main" id="{4560B5F8-0F99-FBBF-E884-D57A71BC3583}"/>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代理服务器</a:t>
            </a:r>
          </a:p>
        </p:txBody>
      </p:sp>
      <p:sp>
        <p:nvSpPr>
          <p:cNvPr id="3" name="内容占位符 2">
            <a:extLst>
              <a:ext uri="{FF2B5EF4-FFF2-40B4-BE49-F238E27FC236}">
                <a16:creationId xmlns:a16="http://schemas.microsoft.com/office/drawing/2014/main" id="{1B103C35-0A92-9DBA-3435-CCB55F285925}"/>
              </a:ext>
            </a:extLst>
          </p:cNvPr>
          <p:cNvSpPr>
            <a:spLocks noGrp="1"/>
          </p:cNvSpPr>
          <p:nvPr>
            <p:ph sz="quarter" idx="11"/>
          </p:nvPr>
        </p:nvSpPr>
        <p:spPr>
          <a:xfrm>
            <a:off x="486000" y="687518"/>
            <a:ext cx="8172000" cy="4079035"/>
          </a:xfrm>
        </p:spPr>
        <p:txBody>
          <a:bodyPr/>
          <a:lstStyle/>
          <a:p>
            <a:r>
              <a:rPr lang="zh-CN" altLang="en-US" dirty="0"/>
              <a:t>使用高速缓存的情况</a:t>
            </a:r>
          </a:p>
          <a:p>
            <a:endParaRPr lang="zh-CN" altLang="en-US" dirty="0"/>
          </a:p>
        </p:txBody>
      </p:sp>
      <p:sp>
        <p:nvSpPr>
          <p:cNvPr id="4" name="Rectangle 281">
            <a:extLst>
              <a:ext uri="{FF2B5EF4-FFF2-40B4-BE49-F238E27FC236}">
                <a16:creationId xmlns:a16="http://schemas.microsoft.com/office/drawing/2014/main" id="{68D31A94-9F9B-921E-368D-DA2935ED1706}"/>
              </a:ext>
            </a:extLst>
          </p:cNvPr>
          <p:cNvSpPr>
            <a:spLocks noChangeArrowheads="1"/>
          </p:cNvSpPr>
          <p:nvPr/>
        </p:nvSpPr>
        <p:spPr bwMode="auto">
          <a:xfrm>
            <a:off x="4374843" y="2614739"/>
            <a:ext cx="711733"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2 Mbit/s</a:t>
            </a:r>
          </a:p>
        </p:txBody>
      </p:sp>
      <p:sp>
        <p:nvSpPr>
          <p:cNvPr id="5" name="Rectangle 309">
            <a:extLst>
              <a:ext uri="{FF2B5EF4-FFF2-40B4-BE49-F238E27FC236}">
                <a16:creationId xmlns:a16="http://schemas.microsoft.com/office/drawing/2014/main" id="{5D1076AD-4B16-0528-4D81-D861F47F8A4E}"/>
              </a:ext>
            </a:extLst>
          </p:cNvPr>
          <p:cNvSpPr>
            <a:spLocks noChangeArrowheads="1"/>
          </p:cNvSpPr>
          <p:nvPr/>
        </p:nvSpPr>
        <p:spPr bwMode="auto">
          <a:xfrm>
            <a:off x="6538749" y="2811692"/>
            <a:ext cx="53860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400" dirty="0">
                <a:latin typeface="Montserrat" panose="00000500000000000000" pitchFamily="2" charset="0"/>
                <a:ea typeface="微软雅黑 Light" panose="020B0502040204020203" pitchFamily="34" charset="-122"/>
              </a:rPr>
              <a:t>互联网</a:t>
            </a:r>
          </a:p>
        </p:txBody>
      </p:sp>
      <p:sp>
        <p:nvSpPr>
          <p:cNvPr id="6" name="Rectangle 314">
            <a:extLst>
              <a:ext uri="{FF2B5EF4-FFF2-40B4-BE49-F238E27FC236}">
                <a16:creationId xmlns:a16="http://schemas.microsoft.com/office/drawing/2014/main" id="{3B25CDB7-BB3D-6253-C12E-FD13A65A27AD}"/>
              </a:ext>
            </a:extLst>
          </p:cNvPr>
          <p:cNvSpPr>
            <a:spLocks noChangeArrowheads="1"/>
          </p:cNvSpPr>
          <p:nvPr/>
        </p:nvSpPr>
        <p:spPr bwMode="auto">
          <a:xfrm>
            <a:off x="3631167" y="2464624"/>
            <a:ext cx="17312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1</a:t>
            </a:r>
          </a:p>
        </p:txBody>
      </p:sp>
      <p:sp>
        <p:nvSpPr>
          <p:cNvPr id="7" name="Rectangle 315">
            <a:extLst>
              <a:ext uri="{FF2B5EF4-FFF2-40B4-BE49-F238E27FC236}">
                <a16:creationId xmlns:a16="http://schemas.microsoft.com/office/drawing/2014/main" id="{EBC4CD57-30CB-07E2-0FB9-B8DB9F008574}"/>
              </a:ext>
            </a:extLst>
          </p:cNvPr>
          <p:cNvSpPr>
            <a:spLocks noChangeArrowheads="1"/>
          </p:cNvSpPr>
          <p:nvPr/>
        </p:nvSpPr>
        <p:spPr bwMode="auto">
          <a:xfrm>
            <a:off x="5779123" y="2465824"/>
            <a:ext cx="19717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2</a:t>
            </a:r>
          </a:p>
        </p:txBody>
      </p:sp>
      <p:sp>
        <p:nvSpPr>
          <p:cNvPr id="8" name="Text Box 328">
            <a:extLst>
              <a:ext uri="{FF2B5EF4-FFF2-40B4-BE49-F238E27FC236}">
                <a16:creationId xmlns:a16="http://schemas.microsoft.com/office/drawing/2014/main" id="{222AF1CF-1B66-8E85-1926-23DB5E73AB91}"/>
              </a:ext>
            </a:extLst>
          </p:cNvPr>
          <p:cNvSpPr txBox="1">
            <a:spLocks noChangeArrowheads="1"/>
          </p:cNvSpPr>
          <p:nvPr/>
        </p:nvSpPr>
        <p:spPr bwMode="auto">
          <a:xfrm>
            <a:off x="3761576" y="3548615"/>
            <a:ext cx="1621051" cy="5236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lang="zh-CN" altLang="en-US" sz="1400" dirty="0">
                <a:latin typeface="Montserrat" panose="00000500000000000000" pitchFamily="2" charset="0"/>
                <a:ea typeface="微软雅黑 Light" panose="020B0502040204020203" pitchFamily="34" charset="-122"/>
              </a:rPr>
              <a:t>校园网的高速缓存</a:t>
            </a:r>
          </a:p>
          <a:p>
            <a:pPr algn="ctr"/>
            <a:r>
              <a:rPr lang="zh-CN" altLang="en-US" sz="1400" dirty="0">
                <a:latin typeface="Montserrat" panose="00000500000000000000" pitchFamily="2" charset="0"/>
                <a:ea typeface="微软雅黑 Light" panose="020B0502040204020203" pitchFamily="34" charset="-122"/>
              </a:rPr>
              <a:t>（代理服务器）</a:t>
            </a:r>
          </a:p>
        </p:txBody>
      </p:sp>
      <p:sp>
        <p:nvSpPr>
          <p:cNvPr id="9" name="Rectangle 279">
            <a:extLst>
              <a:ext uri="{FF2B5EF4-FFF2-40B4-BE49-F238E27FC236}">
                <a16:creationId xmlns:a16="http://schemas.microsoft.com/office/drawing/2014/main" id="{1E2381FD-C897-163A-7880-ADA444DC890A}"/>
              </a:ext>
            </a:extLst>
          </p:cNvPr>
          <p:cNvSpPr>
            <a:spLocks noChangeArrowheads="1"/>
          </p:cNvSpPr>
          <p:nvPr/>
        </p:nvSpPr>
        <p:spPr bwMode="auto">
          <a:xfrm>
            <a:off x="7350735" y="1274990"/>
            <a:ext cx="109039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1" lang="zh-CN" altLang="en-US" sz="1400" dirty="0">
                <a:latin typeface="Montserrat" panose="00000500000000000000" pitchFamily="2" charset="0"/>
                <a:ea typeface="微软雅黑 Light" panose="020B0502040204020203" pitchFamily="34" charset="-122"/>
              </a:rPr>
              <a:t>源点服务器</a:t>
            </a:r>
          </a:p>
        </p:txBody>
      </p:sp>
      <p:sp>
        <p:nvSpPr>
          <p:cNvPr id="10" name="矩形 9">
            <a:extLst>
              <a:ext uri="{FF2B5EF4-FFF2-40B4-BE49-F238E27FC236}">
                <a16:creationId xmlns:a16="http://schemas.microsoft.com/office/drawing/2014/main" id="{6F86043E-5B6D-5592-29AE-2A56279A98C7}"/>
              </a:ext>
            </a:extLst>
          </p:cNvPr>
          <p:cNvSpPr/>
          <p:nvPr/>
        </p:nvSpPr>
        <p:spPr>
          <a:xfrm>
            <a:off x="4004325" y="908563"/>
            <a:ext cx="3297333" cy="1169551"/>
          </a:xfrm>
          <a:prstGeom prst="rect">
            <a:avLst/>
          </a:prstGeom>
          <a:noFill/>
          <a:ln>
            <a:solidFill>
              <a:schemeClr val="tx1"/>
            </a:solidFill>
          </a:ln>
        </p:spPr>
        <p:txBody>
          <a:bodyPr wrap="square">
            <a:spAutoFit/>
          </a:bodyPr>
          <a:lstStyle/>
          <a:p>
            <a:pPr algn="just"/>
            <a:r>
              <a:rPr kumimoji="1" lang="en-US" altLang="zh-CN" sz="1400" dirty="0">
                <a:latin typeface="Montserrat" panose="00000500000000000000" pitchFamily="2" charset="0"/>
                <a:ea typeface="微软雅黑 Light" panose="020B0502040204020203" pitchFamily="34" charset="-122"/>
              </a:rPr>
              <a:t>(5) </a:t>
            </a:r>
            <a:r>
              <a:rPr kumimoji="1" lang="zh-CN" altLang="en-US" sz="1400" dirty="0">
                <a:latin typeface="Montserrat" panose="00000500000000000000" pitchFamily="2" charset="0"/>
                <a:ea typeface="微软雅黑 Light" panose="020B0502040204020203" pitchFamily="34" charset="-122"/>
              </a:rPr>
              <a:t>高速缓存收到对象后，先复制到本地存储器中（留待以后用），然后将该对象放在 </a:t>
            </a:r>
            <a:r>
              <a:rPr kumimoji="1" lang="en-US" altLang="zh-CN" sz="1400" dirty="0">
                <a:latin typeface="Montserrat" panose="00000500000000000000" pitchFamily="2" charset="0"/>
                <a:ea typeface="微软雅黑 Light" panose="020B0502040204020203" pitchFamily="34" charset="-122"/>
              </a:rPr>
              <a:t>HTTP </a:t>
            </a:r>
            <a:r>
              <a:rPr kumimoji="1" lang="zh-CN" altLang="en-US" sz="1400" dirty="0">
                <a:latin typeface="Montserrat" panose="00000500000000000000" pitchFamily="2" charset="0"/>
                <a:ea typeface="微软雅黑 Light" panose="020B0502040204020203" pitchFamily="34" charset="-122"/>
              </a:rPr>
              <a:t>响应报文中，通过已建立的 </a:t>
            </a:r>
            <a:r>
              <a:rPr kumimoji="1" lang="en-US" altLang="zh-CN" sz="1400" dirty="0">
                <a:latin typeface="Montserrat" panose="00000500000000000000" pitchFamily="2" charset="0"/>
                <a:ea typeface="微软雅黑 Light" panose="020B0502040204020203" pitchFamily="34" charset="-122"/>
              </a:rPr>
              <a:t>TCP </a:t>
            </a:r>
            <a:r>
              <a:rPr kumimoji="1" lang="zh-CN" altLang="en-US" sz="1400" dirty="0">
                <a:latin typeface="Montserrat" panose="00000500000000000000" pitchFamily="2" charset="0"/>
                <a:ea typeface="微软雅黑 Light" panose="020B0502040204020203" pitchFamily="34" charset="-122"/>
              </a:rPr>
              <a:t>连接，返回给请求该对象的浏览器</a:t>
            </a:r>
          </a:p>
        </p:txBody>
      </p:sp>
      <p:sp>
        <p:nvSpPr>
          <p:cNvPr id="11" name="云形 10">
            <a:extLst>
              <a:ext uri="{FF2B5EF4-FFF2-40B4-BE49-F238E27FC236}">
                <a16:creationId xmlns:a16="http://schemas.microsoft.com/office/drawing/2014/main" id="{F4DB7647-F29F-477C-9C1C-9B6503291ECD}"/>
              </a:ext>
            </a:extLst>
          </p:cNvPr>
          <p:cNvSpPr/>
          <p:nvPr/>
        </p:nvSpPr>
        <p:spPr>
          <a:xfrm>
            <a:off x="434820" y="1153390"/>
            <a:ext cx="3611524" cy="3041339"/>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226430207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13"/>
                                        </p:tgtEl>
                                        <p:attrNameLst>
                                          <p:attrName>style.visibility</p:attrName>
                                        </p:attrNameLst>
                                      </p:cBhvr>
                                      <p:to>
                                        <p:strVal val="visible"/>
                                      </p:to>
                                    </p:set>
                                    <p:animEffect transition="in" filter="wipe(down)">
                                      <p:cBhvr>
                                        <p:cTn id="7" dur="2000"/>
                                        <p:tgtEl>
                                          <p:spTgt spid="113"/>
                                        </p:tgtEl>
                                      </p:cBhvr>
                                    </p:animEffect>
                                  </p:childTnLst>
                                </p:cTn>
                              </p:par>
                            </p:childTnLst>
                          </p:cTn>
                        </p:par>
                        <p:par>
                          <p:cTn id="8" fill="hold">
                            <p:stCondLst>
                              <p:cond delay="2000"/>
                            </p:stCondLst>
                            <p:childTnLst>
                              <p:par>
                                <p:cTn id="9" presetID="22" presetClass="entr" presetSubtype="4" fill="hold" nodeType="afterEffect">
                                  <p:stCondLst>
                                    <p:cond delay="0"/>
                                  </p:stCondLst>
                                  <p:childTnLst>
                                    <p:set>
                                      <p:cBhvr>
                                        <p:cTn id="10" dur="1" fill="hold">
                                          <p:stCondLst>
                                            <p:cond delay="0"/>
                                          </p:stCondLst>
                                        </p:cTn>
                                        <p:tgtEl>
                                          <p:spTgt spid="114"/>
                                        </p:tgtEl>
                                        <p:attrNameLst>
                                          <p:attrName>style.visibility</p:attrName>
                                        </p:attrNameLst>
                                      </p:cBhvr>
                                      <p:to>
                                        <p:strVal val="visible"/>
                                      </p:to>
                                    </p:set>
                                    <p:animEffect transition="in" filter="wipe(down)">
                                      <p:cBhvr>
                                        <p:cTn id="11" dur="2000"/>
                                        <p:tgtEl>
                                          <p:spTgt spid="114"/>
                                        </p:tgtEl>
                                      </p:cBhvr>
                                    </p:animEffect>
                                  </p:childTnLst>
                                </p:cTn>
                              </p:par>
                            </p:childTnLst>
                          </p:cTn>
                        </p:par>
                        <p:par>
                          <p:cTn id="12" fill="hold">
                            <p:stCondLst>
                              <p:cond delay="4000"/>
                            </p:stCondLst>
                            <p:childTnLst>
                              <p:par>
                                <p:cTn id="13" presetID="22" presetClass="entr" presetSubtype="4" fill="hold" nodeType="afterEffect">
                                  <p:stCondLst>
                                    <p:cond delay="0"/>
                                  </p:stCondLst>
                                  <p:childTnLst>
                                    <p:set>
                                      <p:cBhvr>
                                        <p:cTn id="14" dur="1" fill="hold">
                                          <p:stCondLst>
                                            <p:cond delay="0"/>
                                          </p:stCondLst>
                                        </p:cTn>
                                        <p:tgtEl>
                                          <p:spTgt spid="115"/>
                                        </p:tgtEl>
                                        <p:attrNameLst>
                                          <p:attrName>style.visibility</p:attrName>
                                        </p:attrNameLst>
                                      </p:cBhvr>
                                      <p:to>
                                        <p:strVal val="visible"/>
                                      </p:to>
                                    </p:set>
                                    <p:animEffect transition="in" filter="wipe(down)">
                                      <p:cBhvr>
                                        <p:cTn id="15" dur="2000"/>
                                        <p:tgtEl>
                                          <p:spTgt spid="115"/>
                                        </p:tgtEl>
                                      </p:cBhvr>
                                    </p:animEffect>
                                  </p:childTnLst>
                                </p:cTn>
                              </p:par>
                            </p:childTnLst>
                          </p:cTn>
                        </p:par>
                        <p:par>
                          <p:cTn id="16" fill="hold">
                            <p:stCondLst>
                              <p:cond delay="6000"/>
                            </p:stCondLst>
                            <p:childTnLst>
                              <p:par>
                                <p:cTn id="17" presetID="22" presetClass="entr" presetSubtype="4" fill="hold" nodeType="afterEffect">
                                  <p:stCondLst>
                                    <p:cond delay="0"/>
                                  </p:stCondLst>
                                  <p:childTnLst>
                                    <p:set>
                                      <p:cBhvr>
                                        <p:cTn id="18" dur="1" fill="hold">
                                          <p:stCondLst>
                                            <p:cond delay="0"/>
                                          </p:stCondLst>
                                        </p:cTn>
                                        <p:tgtEl>
                                          <p:spTgt spid="117"/>
                                        </p:tgtEl>
                                        <p:attrNameLst>
                                          <p:attrName>style.visibility</p:attrName>
                                        </p:attrNameLst>
                                      </p:cBhvr>
                                      <p:to>
                                        <p:strVal val="visible"/>
                                      </p:to>
                                    </p:set>
                                    <p:animEffect transition="in" filter="wipe(down)">
                                      <p:cBhvr>
                                        <p:cTn id="19" dur="2000"/>
                                        <p:tgtEl>
                                          <p:spTgt spid="1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B6A0FB0-4091-032C-87C4-02F0556438AA}"/>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HTTP </a:t>
            </a:r>
            <a:r>
              <a:rPr lang="zh-CN" altLang="en-US" dirty="0"/>
              <a:t>的报文结构</a:t>
            </a:r>
          </a:p>
        </p:txBody>
      </p:sp>
      <p:sp>
        <p:nvSpPr>
          <p:cNvPr id="3" name="内容占位符 2">
            <a:extLst>
              <a:ext uri="{FF2B5EF4-FFF2-40B4-BE49-F238E27FC236}">
                <a16:creationId xmlns:a16="http://schemas.microsoft.com/office/drawing/2014/main" id="{ECE1610A-3EAE-ACC6-1597-D95BF673976E}"/>
              </a:ext>
            </a:extLst>
          </p:cNvPr>
          <p:cNvSpPr>
            <a:spLocks noGrp="1"/>
          </p:cNvSpPr>
          <p:nvPr>
            <p:ph sz="quarter" idx="11"/>
          </p:nvPr>
        </p:nvSpPr>
        <p:spPr>
          <a:xfrm>
            <a:off x="486000" y="687518"/>
            <a:ext cx="8172000" cy="4079035"/>
          </a:xfrm>
        </p:spPr>
        <p:txBody>
          <a:bodyPr/>
          <a:lstStyle/>
          <a:p>
            <a:r>
              <a:rPr lang="zh-CN" altLang="en-US" dirty="0"/>
              <a:t>两类报文：</a:t>
            </a:r>
          </a:p>
          <a:p>
            <a:pPr lvl="1"/>
            <a:r>
              <a:rPr lang="zh-CN" altLang="en-US" dirty="0"/>
              <a:t>请求报文：从客户向服务器的请求</a:t>
            </a:r>
          </a:p>
          <a:p>
            <a:pPr lvl="1"/>
            <a:r>
              <a:rPr lang="zh-CN" altLang="en-US" dirty="0"/>
              <a:t>响应报文：从服务器到客户的回答</a:t>
            </a:r>
          </a:p>
          <a:p>
            <a:r>
              <a:rPr lang="zh-CN" altLang="en-US" dirty="0"/>
              <a:t>由于 </a:t>
            </a:r>
            <a:r>
              <a:rPr lang="en-US" altLang="zh-CN" dirty="0"/>
              <a:t>HTTP </a:t>
            </a:r>
            <a:r>
              <a:rPr lang="zh-CN" altLang="en-US" dirty="0"/>
              <a:t>是面向正文的 </a:t>
            </a:r>
            <a:r>
              <a:rPr lang="en-US" altLang="zh-CN" dirty="0"/>
              <a:t>(text-oriented)</a:t>
            </a:r>
            <a:r>
              <a:rPr lang="zh-CN" altLang="en-US" dirty="0"/>
              <a:t>，因此报文中每一个字段的值都是一些 </a:t>
            </a:r>
            <a:r>
              <a:rPr lang="en-US" altLang="zh-CN" dirty="0"/>
              <a:t>ASCII </a:t>
            </a:r>
            <a:r>
              <a:rPr lang="zh-CN" altLang="en-US" dirty="0"/>
              <a:t>码串，每个字段的长度都是不确定的</a:t>
            </a:r>
            <a:endParaRPr lang="en-US" altLang="zh-CN" dirty="0"/>
          </a:p>
          <a:p>
            <a:r>
              <a:rPr lang="zh-CN" altLang="en-US" dirty="0"/>
              <a:t>三个组成部分：</a:t>
            </a:r>
            <a:endParaRPr lang="en-US" altLang="zh-CN" dirty="0"/>
          </a:p>
          <a:p>
            <a:pPr lvl="1"/>
            <a:r>
              <a:rPr lang="zh-CN" altLang="en-US" dirty="0"/>
              <a:t>开始行：用于区分是请求报文还是响应报文</a:t>
            </a:r>
            <a:endParaRPr lang="en-US" altLang="zh-CN" dirty="0"/>
          </a:p>
          <a:p>
            <a:pPr lvl="1"/>
            <a:r>
              <a:rPr lang="zh-CN" altLang="en-US" dirty="0"/>
              <a:t>首部行：说明浏览器、服务器或报文主体的一些信息。可以有多行，也可以不使用</a:t>
            </a:r>
            <a:endParaRPr lang="en-US" altLang="zh-CN" dirty="0"/>
          </a:p>
          <a:p>
            <a:pPr lvl="1"/>
            <a:r>
              <a:rPr lang="zh-CN" altLang="en-US" dirty="0"/>
              <a:t>实体主体：请求报文中一般不用，响应报文中也可能没有该字段</a:t>
            </a:r>
            <a:endParaRPr lang="en-US" altLang="zh-CN" dirty="0"/>
          </a:p>
          <a:p>
            <a:endParaRPr lang="zh-CN" altLang="en-US" dirty="0"/>
          </a:p>
        </p:txBody>
      </p:sp>
    </p:spTree>
    <p:extLst>
      <p:ext uri="{BB962C8B-B14F-4D97-AF65-F5344CB8AC3E}">
        <p14:creationId xmlns:p14="http://schemas.microsoft.com/office/powerpoint/2010/main" val="25801003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 name="Rectangle 51"/>
          <p:cNvSpPr>
            <a:spLocks noChangeArrowheads="1"/>
          </p:cNvSpPr>
          <p:nvPr/>
        </p:nvSpPr>
        <p:spPr bwMode="auto">
          <a:xfrm>
            <a:off x="2707874" y="2220904"/>
            <a:ext cx="2220302" cy="266560"/>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19" name="Rectangle 43"/>
          <p:cNvSpPr>
            <a:spLocks noChangeArrowheads="1"/>
          </p:cNvSpPr>
          <p:nvPr/>
        </p:nvSpPr>
        <p:spPr bwMode="auto">
          <a:xfrm>
            <a:off x="2707874" y="1687782"/>
            <a:ext cx="2220302" cy="266560"/>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42" name="Rectangle 34"/>
          <p:cNvSpPr>
            <a:spLocks noChangeArrowheads="1"/>
          </p:cNvSpPr>
          <p:nvPr/>
        </p:nvSpPr>
        <p:spPr bwMode="auto">
          <a:xfrm>
            <a:off x="2707874" y="1422258"/>
            <a:ext cx="3398995" cy="26552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51" name="Rectangle 23"/>
          <p:cNvSpPr>
            <a:spLocks noChangeArrowheads="1"/>
          </p:cNvSpPr>
          <p:nvPr/>
        </p:nvSpPr>
        <p:spPr bwMode="auto">
          <a:xfrm>
            <a:off x="4300064" y="2227127"/>
            <a:ext cx="628112" cy="254114"/>
          </a:xfrm>
          <a:prstGeom prst="rect">
            <a:avLst/>
          </a:prstGeom>
          <a:solidFill>
            <a:srgbClr val="00B0F0"/>
          </a:solidFill>
          <a:ln>
            <a:noFill/>
          </a:ln>
          <a:effec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52" name="Rectangle 24"/>
          <p:cNvSpPr>
            <a:spLocks noChangeArrowheads="1"/>
          </p:cNvSpPr>
          <p:nvPr/>
        </p:nvSpPr>
        <p:spPr bwMode="auto">
          <a:xfrm>
            <a:off x="2712369" y="2499910"/>
            <a:ext cx="643842" cy="253077"/>
          </a:xfrm>
          <a:prstGeom prst="rect">
            <a:avLst/>
          </a:prstGeom>
          <a:solidFill>
            <a:srgbClr val="00B0F0"/>
          </a:solidFill>
          <a:ln>
            <a:noFill/>
          </a:ln>
          <a:effec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53" name="Rectangle 25"/>
          <p:cNvSpPr>
            <a:spLocks noChangeArrowheads="1"/>
          </p:cNvSpPr>
          <p:nvPr/>
        </p:nvSpPr>
        <p:spPr bwMode="auto">
          <a:xfrm>
            <a:off x="4300064" y="1694005"/>
            <a:ext cx="628112" cy="260337"/>
          </a:xfrm>
          <a:prstGeom prst="rect">
            <a:avLst/>
          </a:prstGeom>
          <a:solidFill>
            <a:srgbClr val="00B0F0"/>
          </a:solidFill>
          <a:ln>
            <a:noFill/>
          </a:ln>
          <a:effec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54" name="Rectangle 26"/>
          <p:cNvSpPr>
            <a:spLocks noChangeArrowheads="1"/>
          </p:cNvSpPr>
          <p:nvPr/>
        </p:nvSpPr>
        <p:spPr bwMode="auto">
          <a:xfrm>
            <a:off x="3906792" y="2227126"/>
            <a:ext cx="85396"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55" name="Rectangle 27"/>
          <p:cNvSpPr>
            <a:spLocks noChangeArrowheads="1"/>
          </p:cNvSpPr>
          <p:nvPr/>
        </p:nvSpPr>
        <p:spPr bwMode="auto">
          <a:xfrm>
            <a:off x="3906792" y="1694005"/>
            <a:ext cx="78654"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56" name="Line 28"/>
          <p:cNvSpPr>
            <a:spLocks noChangeShapeType="1"/>
          </p:cNvSpPr>
          <p:nvPr/>
        </p:nvSpPr>
        <p:spPr bwMode="auto">
          <a:xfrm>
            <a:off x="3809036"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57" name="Line 29"/>
          <p:cNvSpPr>
            <a:spLocks noChangeShapeType="1"/>
          </p:cNvSpPr>
          <p:nvPr/>
        </p:nvSpPr>
        <p:spPr bwMode="auto">
          <a:xfrm>
            <a:off x="4300064"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58" name="Line 30"/>
          <p:cNvSpPr>
            <a:spLocks noChangeShapeType="1"/>
          </p:cNvSpPr>
          <p:nvPr/>
        </p:nvSpPr>
        <p:spPr bwMode="auto">
          <a:xfrm>
            <a:off x="3906792"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59" name="Rectangle 31"/>
          <p:cNvSpPr>
            <a:spLocks noChangeArrowheads="1"/>
          </p:cNvSpPr>
          <p:nvPr/>
        </p:nvSpPr>
        <p:spPr bwMode="auto">
          <a:xfrm>
            <a:off x="5458532" y="1428482"/>
            <a:ext cx="648337" cy="259300"/>
          </a:xfrm>
          <a:prstGeom prst="rect">
            <a:avLst/>
          </a:prstGeom>
          <a:solidFill>
            <a:srgbClr val="00B0F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60" name="Rectangle 32"/>
          <p:cNvSpPr>
            <a:spLocks noChangeArrowheads="1"/>
          </p:cNvSpPr>
          <p:nvPr/>
        </p:nvSpPr>
        <p:spPr bwMode="auto">
          <a:xfrm>
            <a:off x="4515802" y="1428482"/>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61" name="Rectangle 33"/>
          <p:cNvSpPr>
            <a:spLocks noChangeArrowheads="1"/>
          </p:cNvSpPr>
          <p:nvPr/>
        </p:nvSpPr>
        <p:spPr bwMode="auto">
          <a:xfrm>
            <a:off x="3573073" y="1428482"/>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62" name="Text Box 35"/>
          <p:cNvSpPr txBox="1">
            <a:spLocks noChangeArrowheads="1"/>
          </p:cNvSpPr>
          <p:nvPr/>
        </p:nvSpPr>
        <p:spPr bwMode="auto">
          <a:xfrm>
            <a:off x="2829227" y="1414998"/>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方   法</a:t>
            </a:r>
          </a:p>
        </p:txBody>
      </p:sp>
      <p:sp>
        <p:nvSpPr>
          <p:cNvPr id="163" name="Line 36"/>
          <p:cNvSpPr>
            <a:spLocks noChangeShapeType="1"/>
          </p:cNvSpPr>
          <p:nvPr/>
        </p:nvSpPr>
        <p:spPr bwMode="auto">
          <a:xfrm>
            <a:off x="3573073"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64" name="Line 37"/>
          <p:cNvSpPr>
            <a:spLocks noChangeShapeType="1"/>
          </p:cNvSpPr>
          <p:nvPr/>
        </p:nvSpPr>
        <p:spPr bwMode="auto">
          <a:xfrm>
            <a:off x="3651727"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65" name="Line 38"/>
          <p:cNvSpPr>
            <a:spLocks noChangeShapeType="1"/>
          </p:cNvSpPr>
          <p:nvPr/>
        </p:nvSpPr>
        <p:spPr bwMode="auto">
          <a:xfrm>
            <a:off x="4515802"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66" name="Line 39"/>
          <p:cNvSpPr>
            <a:spLocks noChangeShapeType="1"/>
          </p:cNvSpPr>
          <p:nvPr/>
        </p:nvSpPr>
        <p:spPr bwMode="auto">
          <a:xfrm>
            <a:off x="4594456"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67" name="Line 40"/>
          <p:cNvSpPr>
            <a:spLocks noChangeShapeType="1"/>
          </p:cNvSpPr>
          <p:nvPr/>
        </p:nvSpPr>
        <p:spPr bwMode="auto">
          <a:xfrm>
            <a:off x="5458532"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68" name="Text Box 41"/>
          <p:cNvSpPr txBox="1">
            <a:spLocks noChangeArrowheads="1"/>
          </p:cNvSpPr>
          <p:nvPr/>
        </p:nvSpPr>
        <p:spPr bwMode="auto">
          <a:xfrm>
            <a:off x="3802295" y="1414998"/>
            <a:ext cx="5084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latin typeface="Montserrat" panose="00000500000000000000" pitchFamily="2" charset="0"/>
                <a:ea typeface="微软雅黑 Light" panose="020B0502040204020203" pitchFamily="34" charset="-122"/>
              </a:rPr>
              <a:t>URL</a:t>
            </a:r>
          </a:p>
        </p:txBody>
      </p:sp>
      <p:sp>
        <p:nvSpPr>
          <p:cNvPr id="169" name="Text Box 42"/>
          <p:cNvSpPr txBox="1">
            <a:spLocks noChangeArrowheads="1"/>
          </p:cNvSpPr>
          <p:nvPr/>
        </p:nvSpPr>
        <p:spPr bwMode="auto">
          <a:xfrm>
            <a:off x="4684347" y="1414998"/>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版   本</a:t>
            </a:r>
          </a:p>
        </p:txBody>
      </p:sp>
      <p:sp>
        <p:nvSpPr>
          <p:cNvPr id="170" name="Text Box 44"/>
          <p:cNvSpPr txBox="1">
            <a:spLocks noChangeArrowheads="1"/>
          </p:cNvSpPr>
          <p:nvPr/>
        </p:nvSpPr>
        <p:spPr bwMode="auto">
          <a:xfrm>
            <a:off x="2713492" y="1684670"/>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solidFill>
                  <a:schemeClr val="bg1"/>
                </a:solidFill>
                <a:latin typeface="Montserrat" panose="00000500000000000000" pitchFamily="2" charset="0"/>
                <a:ea typeface="微软雅黑 Light" panose="020B0502040204020203" pitchFamily="34" charset="-122"/>
              </a:rPr>
              <a:t>首部字段名</a:t>
            </a:r>
          </a:p>
        </p:txBody>
      </p:sp>
      <p:sp>
        <p:nvSpPr>
          <p:cNvPr id="171" name="Line 45"/>
          <p:cNvSpPr>
            <a:spLocks noChangeShapeType="1"/>
          </p:cNvSpPr>
          <p:nvPr/>
        </p:nvSpPr>
        <p:spPr bwMode="auto">
          <a:xfrm>
            <a:off x="3809036"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72" name="Line 46"/>
          <p:cNvSpPr>
            <a:spLocks noChangeShapeType="1"/>
          </p:cNvSpPr>
          <p:nvPr/>
        </p:nvSpPr>
        <p:spPr bwMode="auto">
          <a:xfrm>
            <a:off x="4300064"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73" name="Text Box 47"/>
          <p:cNvSpPr txBox="1">
            <a:spLocks noChangeArrowheads="1"/>
          </p:cNvSpPr>
          <p:nvPr/>
        </p:nvSpPr>
        <p:spPr bwMode="auto">
          <a:xfrm>
            <a:off x="1876736" y="1947539"/>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dirty="0">
                <a:latin typeface="Montserrat" panose="00000500000000000000" pitchFamily="2" charset="0"/>
                <a:ea typeface="微软雅黑 Light" panose="020B0502040204020203" pitchFamily="34" charset="-122"/>
              </a:rPr>
              <a:t>首部行</a:t>
            </a:r>
          </a:p>
        </p:txBody>
      </p:sp>
      <p:sp>
        <p:nvSpPr>
          <p:cNvPr id="174" name="Line 48"/>
          <p:cNvSpPr>
            <a:spLocks noChangeShapeType="1"/>
          </p:cNvSpPr>
          <p:nvPr/>
        </p:nvSpPr>
        <p:spPr bwMode="auto">
          <a:xfrm>
            <a:off x="3906792"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75" name="Text Box 49"/>
          <p:cNvSpPr txBox="1">
            <a:spLocks noChangeArrowheads="1"/>
          </p:cNvSpPr>
          <p:nvPr/>
        </p:nvSpPr>
        <p:spPr bwMode="auto">
          <a:xfrm>
            <a:off x="3744379" y="1685708"/>
            <a:ext cx="21672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solidFill>
                  <a:schemeClr val="bg1"/>
                </a:solidFill>
                <a:latin typeface="Montserrat" panose="00000500000000000000" pitchFamily="2" charset="0"/>
                <a:ea typeface="微软雅黑 Light" panose="020B0502040204020203" pitchFamily="34" charset="-122"/>
              </a:rPr>
              <a:t>:</a:t>
            </a:r>
          </a:p>
        </p:txBody>
      </p:sp>
      <p:sp>
        <p:nvSpPr>
          <p:cNvPr id="176" name="Text Box 50"/>
          <p:cNvSpPr txBox="1">
            <a:spLocks noChangeArrowheads="1"/>
          </p:cNvSpPr>
          <p:nvPr/>
        </p:nvSpPr>
        <p:spPr bwMode="auto">
          <a:xfrm>
            <a:off x="3993312" y="1689857"/>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solidFill>
                  <a:schemeClr val="bg1"/>
                </a:solidFill>
                <a:latin typeface="Montserrat" panose="00000500000000000000" pitchFamily="2" charset="0"/>
                <a:ea typeface="微软雅黑 Light" panose="020B0502040204020203" pitchFamily="34" charset="-122"/>
              </a:rPr>
              <a:t>值</a:t>
            </a:r>
          </a:p>
        </p:txBody>
      </p:sp>
      <p:sp>
        <p:nvSpPr>
          <p:cNvPr id="177" name="Text Box 52"/>
          <p:cNvSpPr txBox="1">
            <a:spLocks noChangeArrowheads="1"/>
          </p:cNvSpPr>
          <p:nvPr/>
        </p:nvSpPr>
        <p:spPr bwMode="auto">
          <a:xfrm>
            <a:off x="2710122" y="2212606"/>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solidFill>
                  <a:schemeClr val="bg1"/>
                </a:solidFill>
                <a:latin typeface="Montserrat" panose="00000500000000000000" pitchFamily="2" charset="0"/>
                <a:ea typeface="微软雅黑 Light" panose="020B0502040204020203" pitchFamily="34" charset="-122"/>
              </a:rPr>
              <a:t>首部字段名</a:t>
            </a:r>
          </a:p>
        </p:txBody>
      </p:sp>
      <p:sp>
        <p:nvSpPr>
          <p:cNvPr id="178" name="Text Box 53"/>
          <p:cNvSpPr txBox="1">
            <a:spLocks noChangeArrowheads="1"/>
          </p:cNvSpPr>
          <p:nvPr/>
        </p:nvSpPr>
        <p:spPr bwMode="auto">
          <a:xfrm>
            <a:off x="4010166" y="2220904"/>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solidFill>
                  <a:schemeClr val="bg1"/>
                </a:solidFill>
                <a:latin typeface="Montserrat" panose="00000500000000000000" pitchFamily="2" charset="0"/>
                <a:ea typeface="微软雅黑 Light" panose="020B0502040204020203" pitchFamily="34" charset="-122"/>
              </a:rPr>
              <a:t>值</a:t>
            </a:r>
          </a:p>
        </p:txBody>
      </p:sp>
      <p:sp>
        <p:nvSpPr>
          <p:cNvPr id="179" name="Text Box 54"/>
          <p:cNvSpPr txBox="1">
            <a:spLocks noChangeArrowheads="1"/>
          </p:cNvSpPr>
          <p:nvPr/>
        </p:nvSpPr>
        <p:spPr bwMode="auto">
          <a:xfrm>
            <a:off x="3730382" y="2625412"/>
            <a:ext cx="21672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latin typeface="Montserrat" panose="00000500000000000000" pitchFamily="2" charset="0"/>
                <a:ea typeface="微软雅黑 Light" panose="020B0502040204020203" pitchFamily="34" charset="-122"/>
              </a:rPr>
              <a:t>:</a:t>
            </a:r>
          </a:p>
        </p:txBody>
      </p:sp>
      <p:sp>
        <p:nvSpPr>
          <p:cNvPr id="180" name="Text Box 55"/>
          <p:cNvSpPr txBox="1">
            <a:spLocks noChangeArrowheads="1"/>
          </p:cNvSpPr>
          <p:nvPr/>
        </p:nvSpPr>
        <p:spPr bwMode="auto">
          <a:xfrm rot="16200000">
            <a:off x="3246779" y="1966755"/>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latin typeface="Montserrat" panose="00000500000000000000" pitchFamily="2" charset="0"/>
                <a:ea typeface="微软雅黑 Light" panose="020B0502040204020203" pitchFamily="34" charset="-122"/>
              </a:rPr>
              <a:t>…</a:t>
            </a:r>
          </a:p>
        </p:txBody>
      </p:sp>
      <p:sp>
        <p:nvSpPr>
          <p:cNvPr id="181" name="AutoShape 56"/>
          <p:cNvSpPr>
            <a:spLocks/>
          </p:cNvSpPr>
          <p:nvPr/>
        </p:nvSpPr>
        <p:spPr bwMode="auto">
          <a:xfrm flipH="1">
            <a:off x="2545337" y="1722010"/>
            <a:ext cx="157309" cy="765455"/>
          </a:xfrm>
          <a:prstGeom prst="rightBrace">
            <a:avLst>
              <a:gd name="adj1" fmla="val 43929"/>
              <a:gd name="adj2" fmla="val 50000"/>
            </a:avLst>
          </a:prstGeom>
          <a:noFill/>
          <a:ln w="19050">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82" name="Rectangle 57"/>
          <p:cNvSpPr>
            <a:spLocks noChangeArrowheads="1"/>
          </p:cNvSpPr>
          <p:nvPr/>
        </p:nvSpPr>
        <p:spPr bwMode="auto">
          <a:xfrm>
            <a:off x="2707874" y="2752988"/>
            <a:ext cx="3537202" cy="599502"/>
          </a:xfrm>
          <a:prstGeom prst="rect">
            <a:avLst/>
          </a:prstGeom>
          <a:noFill/>
          <a:ln w="9525">
            <a:solidFill>
              <a:schemeClr val="tx1"/>
            </a:solidFill>
            <a:miter lim="800000"/>
            <a:headEnd/>
            <a:tailEnd/>
          </a:ln>
          <a:effectLst/>
        </p:spPr>
        <p:txBody>
          <a:bodyPr wrap="none" anchor="ctr"/>
          <a:lstStyle/>
          <a:p>
            <a:pPr algn="ctr"/>
            <a:r>
              <a:rPr kumimoji="1" lang="zh-CN" altLang="en-US" sz="1200" dirty="0">
                <a:latin typeface="Montserrat" panose="00000500000000000000" pitchFamily="2" charset="0"/>
                <a:ea typeface="微软雅黑 Light" panose="020B0502040204020203" pitchFamily="34" charset="-122"/>
              </a:rPr>
              <a:t>实体主体</a:t>
            </a:r>
          </a:p>
          <a:p>
            <a:pPr algn="ctr"/>
            <a:r>
              <a:rPr kumimoji="1" lang="zh-CN" altLang="en-US" sz="1200" dirty="0">
                <a:latin typeface="Montserrat" panose="00000500000000000000" pitchFamily="2" charset="0"/>
                <a:ea typeface="微软雅黑 Light" panose="020B0502040204020203" pitchFamily="34" charset="-122"/>
              </a:rPr>
              <a:t>（通常不用）</a:t>
            </a:r>
          </a:p>
        </p:txBody>
      </p:sp>
      <p:sp>
        <p:nvSpPr>
          <p:cNvPr id="185" name="Line 60"/>
          <p:cNvSpPr>
            <a:spLocks noChangeShapeType="1"/>
          </p:cNvSpPr>
          <p:nvPr/>
        </p:nvSpPr>
        <p:spPr bwMode="auto">
          <a:xfrm>
            <a:off x="2707874" y="1954342"/>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86" name="Line 61"/>
          <p:cNvSpPr>
            <a:spLocks noChangeShapeType="1"/>
          </p:cNvSpPr>
          <p:nvPr/>
        </p:nvSpPr>
        <p:spPr bwMode="auto">
          <a:xfrm>
            <a:off x="2707874" y="2487463"/>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87" name="Line 62"/>
          <p:cNvSpPr>
            <a:spLocks noChangeShapeType="1"/>
          </p:cNvSpPr>
          <p:nvPr/>
        </p:nvSpPr>
        <p:spPr bwMode="auto">
          <a:xfrm>
            <a:off x="3356211" y="2487463"/>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88" name="Line 63"/>
          <p:cNvSpPr>
            <a:spLocks noChangeShapeType="1"/>
          </p:cNvSpPr>
          <p:nvPr/>
        </p:nvSpPr>
        <p:spPr bwMode="auto">
          <a:xfrm>
            <a:off x="4928176" y="1954342"/>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89" name="Text Box 64"/>
          <p:cNvSpPr txBox="1">
            <a:spLocks noChangeArrowheads="1"/>
          </p:cNvSpPr>
          <p:nvPr/>
        </p:nvSpPr>
        <p:spPr bwMode="auto">
          <a:xfrm>
            <a:off x="3815778" y="99078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空格</a:t>
            </a:r>
          </a:p>
        </p:txBody>
      </p:sp>
      <p:sp>
        <p:nvSpPr>
          <p:cNvPr id="190" name="Text Box 65"/>
          <p:cNvSpPr txBox="1">
            <a:spLocks noChangeArrowheads="1"/>
          </p:cNvSpPr>
          <p:nvPr/>
        </p:nvSpPr>
        <p:spPr bwMode="auto">
          <a:xfrm>
            <a:off x="5186612" y="990783"/>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回车换行</a:t>
            </a:r>
          </a:p>
        </p:txBody>
      </p:sp>
      <p:sp>
        <p:nvSpPr>
          <p:cNvPr id="191" name="Line 66"/>
          <p:cNvSpPr>
            <a:spLocks noChangeShapeType="1"/>
          </p:cNvSpPr>
          <p:nvPr/>
        </p:nvSpPr>
        <p:spPr bwMode="auto">
          <a:xfrm>
            <a:off x="4247254" y="1222078"/>
            <a:ext cx="288774"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92" name="Line 67"/>
          <p:cNvSpPr>
            <a:spLocks noChangeShapeType="1"/>
          </p:cNvSpPr>
          <p:nvPr/>
        </p:nvSpPr>
        <p:spPr bwMode="auto">
          <a:xfrm flipH="1">
            <a:off x="3592174" y="1222078"/>
            <a:ext cx="314618"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93" name="Line 68"/>
          <p:cNvSpPr>
            <a:spLocks noChangeShapeType="1"/>
          </p:cNvSpPr>
          <p:nvPr/>
        </p:nvSpPr>
        <p:spPr bwMode="auto">
          <a:xfrm>
            <a:off x="5609099" y="1222078"/>
            <a:ext cx="157309"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94" name="Line 69"/>
          <p:cNvSpPr>
            <a:spLocks noChangeShapeType="1"/>
          </p:cNvSpPr>
          <p:nvPr/>
        </p:nvSpPr>
        <p:spPr bwMode="auto">
          <a:xfrm>
            <a:off x="3985446"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95" name="Line 70"/>
          <p:cNvSpPr>
            <a:spLocks noChangeShapeType="1"/>
          </p:cNvSpPr>
          <p:nvPr/>
        </p:nvSpPr>
        <p:spPr bwMode="auto">
          <a:xfrm>
            <a:off x="3985446"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96" name="Text Box 71"/>
          <p:cNvSpPr txBox="1">
            <a:spLocks noChangeArrowheads="1"/>
          </p:cNvSpPr>
          <p:nvPr/>
        </p:nvSpPr>
        <p:spPr bwMode="auto">
          <a:xfrm>
            <a:off x="3744379" y="2221940"/>
            <a:ext cx="21672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solidFill>
                  <a:schemeClr val="bg1"/>
                </a:solidFill>
                <a:latin typeface="Montserrat" panose="00000500000000000000" pitchFamily="2" charset="0"/>
                <a:ea typeface="微软雅黑 Light" panose="020B0502040204020203" pitchFamily="34" charset="-122"/>
              </a:rPr>
              <a:t>:</a:t>
            </a:r>
          </a:p>
        </p:txBody>
      </p:sp>
      <p:sp>
        <p:nvSpPr>
          <p:cNvPr id="197" name="Text Box 72"/>
          <p:cNvSpPr txBox="1">
            <a:spLocks noChangeArrowheads="1"/>
          </p:cNvSpPr>
          <p:nvPr/>
        </p:nvSpPr>
        <p:spPr bwMode="auto">
          <a:xfrm>
            <a:off x="5429318" y="1414998"/>
            <a:ext cx="59503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solidFill>
                  <a:srgbClr val="FFFF00"/>
                </a:solidFill>
                <a:latin typeface="Montserrat" panose="00000500000000000000" pitchFamily="2" charset="0"/>
                <a:ea typeface="微软雅黑 Light" panose="020B0502040204020203" pitchFamily="34" charset="-122"/>
              </a:rPr>
              <a:t>CRLF</a:t>
            </a:r>
          </a:p>
        </p:txBody>
      </p:sp>
      <p:sp>
        <p:nvSpPr>
          <p:cNvPr id="200" name="Text Box 75"/>
          <p:cNvSpPr txBox="1">
            <a:spLocks noChangeArrowheads="1"/>
          </p:cNvSpPr>
          <p:nvPr/>
        </p:nvSpPr>
        <p:spPr bwMode="auto">
          <a:xfrm>
            <a:off x="2710121" y="2482278"/>
            <a:ext cx="59503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solidFill>
                  <a:srgbClr val="FFFF00"/>
                </a:solidFill>
                <a:latin typeface="Montserrat" panose="00000500000000000000" pitchFamily="2" charset="0"/>
                <a:ea typeface="微软雅黑 Light" panose="020B0502040204020203" pitchFamily="34" charset="-122"/>
              </a:rPr>
              <a:t>CRLF</a:t>
            </a:r>
          </a:p>
        </p:txBody>
      </p:sp>
      <p:sp>
        <p:nvSpPr>
          <p:cNvPr id="202" name="Rectangle 132"/>
          <p:cNvSpPr>
            <a:spLocks noChangeArrowheads="1"/>
          </p:cNvSpPr>
          <p:nvPr/>
        </p:nvSpPr>
        <p:spPr bwMode="auto">
          <a:xfrm>
            <a:off x="2622488" y="1386996"/>
            <a:ext cx="3622590" cy="328794"/>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203" name="Text Box 133"/>
          <p:cNvSpPr txBox="1">
            <a:spLocks noChangeArrowheads="1"/>
          </p:cNvSpPr>
          <p:nvPr/>
        </p:nvSpPr>
        <p:spPr bwMode="auto">
          <a:xfrm>
            <a:off x="1891003" y="1405666"/>
            <a:ext cx="723619" cy="308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dirty="0">
                <a:latin typeface="Montserrat" panose="00000500000000000000" pitchFamily="2" charset="0"/>
                <a:ea typeface="微软雅黑 Light" panose="020B0502040204020203" pitchFamily="34" charset="-122"/>
              </a:rPr>
              <a:t>请求行</a:t>
            </a:r>
          </a:p>
        </p:txBody>
      </p:sp>
      <p:sp>
        <p:nvSpPr>
          <p:cNvPr id="204" name="Text Box 73"/>
          <p:cNvSpPr txBox="1">
            <a:spLocks noChangeArrowheads="1"/>
          </p:cNvSpPr>
          <p:nvPr/>
        </p:nvSpPr>
        <p:spPr bwMode="auto">
          <a:xfrm>
            <a:off x="4310177" y="2226089"/>
            <a:ext cx="601144"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solidFill>
                  <a:srgbClr val="FFFF00"/>
                </a:solidFill>
                <a:latin typeface="Montserrat" panose="00000500000000000000" pitchFamily="2" charset="0"/>
                <a:ea typeface="微软雅黑 Light" panose="020B0502040204020203" pitchFamily="34" charset="-122"/>
              </a:rPr>
              <a:t>CRLF</a:t>
            </a:r>
          </a:p>
        </p:txBody>
      </p:sp>
      <p:sp>
        <p:nvSpPr>
          <p:cNvPr id="205" name="Text Box 74"/>
          <p:cNvSpPr txBox="1">
            <a:spLocks noChangeArrowheads="1"/>
          </p:cNvSpPr>
          <p:nvPr/>
        </p:nvSpPr>
        <p:spPr bwMode="auto">
          <a:xfrm>
            <a:off x="4314671" y="1697117"/>
            <a:ext cx="59503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solidFill>
                  <a:srgbClr val="FFFF00"/>
                </a:solidFill>
                <a:latin typeface="Montserrat" panose="00000500000000000000" pitchFamily="2" charset="0"/>
                <a:ea typeface="微软雅黑 Light" panose="020B0502040204020203" pitchFamily="34" charset="-122"/>
              </a:rPr>
              <a:t>CRLF</a:t>
            </a:r>
          </a:p>
        </p:txBody>
      </p:sp>
      <p:sp>
        <p:nvSpPr>
          <p:cNvPr id="206" name="矩形 205"/>
          <p:cNvSpPr/>
          <p:nvPr/>
        </p:nvSpPr>
        <p:spPr>
          <a:xfrm>
            <a:off x="1346773" y="3552318"/>
            <a:ext cx="6636391" cy="328873"/>
          </a:xfrm>
          <a:prstGeom prst="rect">
            <a:avLst/>
          </a:prstGeom>
          <a:solidFill>
            <a:srgbClr val="00FFFF"/>
          </a:solidFill>
          <a:ln>
            <a:solidFill>
              <a:schemeClr val="tx1"/>
            </a:solidFill>
          </a:ln>
        </p:spPr>
        <p:txBody>
          <a:bodyPr wrap="square">
            <a:spAutoFit/>
          </a:bodyPr>
          <a:lstStyle/>
          <a:p>
            <a:pPr>
              <a:lnSpc>
                <a:spcPts val="2000"/>
              </a:lnSpc>
            </a:pPr>
            <a:r>
              <a:rPr kumimoji="1" lang="zh-CN" altLang="en-US" sz="1400" b="1" dirty="0">
                <a:latin typeface="微软雅黑 Light" panose="020B0502040204020203" pitchFamily="34" charset="-122"/>
                <a:ea typeface="微软雅黑 Light" panose="020B0502040204020203" pitchFamily="34" charset="-122"/>
              </a:rPr>
              <a:t>在请求报文中，开始行是请求行。</a:t>
            </a:r>
          </a:p>
        </p:txBody>
      </p:sp>
      <p:sp>
        <p:nvSpPr>
          <p:cNvPr id="2" name="标题 1">
            <a:extLst>
              <a:ext uri="{FF2B5EF4-FFF2-40B4-BE49-F238E27FC236}">
                <a16:creationId xmlns:a16="http://schemas.microsoft.com/office/drawing/2014/main" id="{6B389190-496E-F124-7C81-E121F72F7831}"/>
              </a:ext>
            </a:extLst>
          </p:cNvPr>
          <p:cNvSpPr>
            <a:spLocks noGrp="1"/>
          </p:cNvSpPr>
          <p:nvPr>
            <p:ph type="title"/>
          </p:nvPr>
        </p:nvSpPr>
        <p:spPr>
          <a:xfrm>
            <a:off x="2880000" y="144000"/>
            <a:ext cx="3384000" cy="338554"/>
          </a:xfrm>
        </p:spPr>
        <p:txBody>
          <a:bodyPr/>
          <a:lstStyle/>
          <a:p>
            <a:r>
              <a:rPr lang="en-US" altLang="zh-CN" dirty="0"/>
              <a:t>HTTP </a:t>
            </a:r>
            <a:r>
              <a:rPr lang="zh-CN" altLang="en-US" dirty="0"/>
              <a:t>的报文结构（请求报文）</a:t>
            </a:r>
          </a:p>
        </p:txBody>
      </p:sp>
    </p:spTree>
    <p:extLst>
      <p:ext uri="{BB962C8B-B14F-4D97-AF65-F5344CB8AC3E}">
        <p14:creationId xmlns:p14="http://schemas.microsoft.com/office/powerpoint/2010/main" val="10830772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51"/>
          <p:cNvSpPr>
            <a:spLocks noChangeArrowheads="1"/>
          </p:cNvSpPr>
          <p:nvPr/>
        </p:nvSpPr>
        <p:spPr bwMode="auto">
          <a:xfrm>
            <a:off x="2707874" y="2226967"/>
            <a:ext cx="2220302" cy="266560"/>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6" name="Rectangle 43"/>
          <p:cNvSpPr>
            <a:spLocks noChangeArrowheads="1"/>
          </p:cNvSpPr>
          <p:nvPr/>
        </p:nvSpPr>
        <p:spPr bwMode="auto">
          <a:xfrm>
            <a:off x="2707874" y="1693845"/>
            <a:ext cx="2220302" cy="266560"/>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7" name="Rectangle 34"/>
          <p:cNvSpPr>
            <a:spLocks noChangeArrowheads="1"/>
          </p:cNvSpPr>
          <p:nvPr/>
        </p:nvSpPr>
        <p:spPr bwMode="auto">
          <a:xfrm>
            <a:off x="2707874" y="1428321"/>
            <a:ext cx="3398995" cy="26552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8" name="Rectangle 23"/>
          <p:cNvSpPr>
            <a:spLocks noChangeArrowheads="1"/>
          </p:cNvSpPr>
          <p:nvPr/>
        </p:nvSpPr>
        <p:spPr bwMode="auto">
          <a:xfrm>
            <a:off x="4300064" y="2233190"/>
            <a:ext cx="628112" cy="254114"/>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9" name="Rectangle 24"/>
          <p:cNvSpPr>
            <a:spLocks noChangeArrowheads="1"/>
          </p:cNvSpPr>
          <p:nvPr/>
        </p:nvSpPr>
        <p:spPr bwMode="auto">
          <a:xfrm>
            <a:off x="2712369" y="2505973"/>
            <a:ext cx="643842" cy="25307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0" name="Rectangle 25"/>
          <p:cNvSpPr>
            <a:spLocks noChangeArrowheads="1"/>
          </p:cNvSpPr>
          <p:nvPr/>
        </p:nvSpPr>
        <p:spPr bwMode="auto">
          <a:xfrm>
            <a:off x="4300064" y="1700068"/>
            <a:ext cx="628112" cy="26033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1" name="Rectangle 26"/>
          <p:cNvSpPr>
            <a:spLocks noChangeArrowheads="1"/>
          </p:cNvSpPr>
          <p:nvPr/>
        </p:nvSpPr>
        <p:spPr bwMode="auto">
          <a:xfrm>
            <a:off x="3906792" y="2233189"/>
            <a:ext cx="85396"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2" name="Rectangle 27"/>
          <p:cNvSpPr>
            <a:spLocks noChangeArrowheads="1"/>
          </p:cNvSpPr>
          <p:nvPr/>
        </p:nvSpPr>
        <p:spPr bwMode="auto">
          <a:xfrm>
            <a:off x="3906792" y="1700068"/>
            <a:ext cx="78654"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3" name="Line 28"/>
          <p:cNvSpPr>
            <a:spLocks noChangeShapeType="1"/>
          </p:cNvSpPr>
          <p:nvPr/>
        </p:nvSpPr>
        <p:spPr bwMode="auto">
          <a:xfrm>
            <a:off x="3809036"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4" name="Line 29"/>
          <p:cNvSpPr>
            <a:spLocks noChangeShapeType="1"/>
          </p:cNvSpPr>
          <p:nvPr/>
        </p:nvSpPr>
        <p:spPr bwMode="auto">
          <a:xfrm>
            <a:off x="4300064"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 name="Line 30"/>
          <p:cNvSpPr>
            <a:spLocks noChangeShapeType="1"/>
          </p:cNvSpPr>
          <p:nvPr/>
        </p:nvSpPr>
        <p:spPr bwMode="auto">
          <a:xfrm>
            <a:off x="3906792"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 name="Rectangle 31"/>
          <p:cNvSpPr>
            <a:spLocks noChangeArrowheads="1"/>
          </p:cNvSpPr>
          <p:nvPr/>
        </p:nvSpPr>
        <p:spPr bwMode="auto">
          <a:xfrm>
            <a:off x="5458532" y="1434545"/>
            <a:ext cx="648337" cy="259300"/>
          </a:xfrm>
          <a:prstGeom prst="rect">
            <a:avLst/>
          </a:prstGeom>
          <a:solidFill>
            <a:srgbClr val="00B0F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7" name="Rectangle 32"/>
          <p:cNvSpPr>
            <a:spLocks noChangeArrowheads="1"/>
          </p:cNvSpPr>
          <p:nvPr/>
        </p:nvSpPr>
        <p:spPr bwMode="auto">
          <a:xfrm>
            <a:off x="4515802" y="1434545"/>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8" name="Rectangle 33"/>
          <p:cNvSpPr>
            <a:spLocks noChangeArrowheads="1"/>
          </p:cNvSpPr>
          <p:nvPr/>
        </p:nvSpPr>
        <p:spPr bwMode="auto">
          <a:xfrm>
            <a:off x="3573073" y="1434545"/>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9" name="Text Box 35"/>
          <p:cNvSpPr txBox="1">
            <a:spLocks noChangeArrowheads="1"/>
          </p:cNvSpPr>
          <p:nvPr/>
        </p:nvSpPr>
        <p:spPr bwMode="auto">
          <a:xfrm>
            <a:off x="2829227" y="1421061"/>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方   法</a:t>
            </a:r>
          </a:p>
        </p:txBody>
      </p:sp>
      <p:sp>
        <p:nvSpPr>
          <p:cNvPr id="20" name="Line 36"/>
          <p:cNvSpPr>
            <a:spLocks noChangeShapeType="1"/>
          </p:cNvSpPr>
          <p:nvPr/>
        </p:nvSpPr>
        <p:spPr bwMode="auto">
          <a:xfrm>
            <a:off x="3573073"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Line 37"/>
          <p:cNvSpPr>
            <a:spLocks noChangeShapeType="1"/>
          </p:cNvSpPr>
          <p:nvPr/>
        </p:nvSpPr>
        <p:spPr bwMode="auto">
          <a:xfrm>
            <a:off x="3651727"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2" name="Line 38"/>
          <p:cNvSpPr>
            <a:spLocks noChangeShapeType="1"/>
          </p:cNvSpPr>
          <p:nvPr/>
        </p:nvSpPr>
        <p:spPr bwMode="auto">
          <a:xfrm>
            <a:off x="4515802"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3" name="Line 39"/>
          <p:cNvSpPr>
            <a:spLocks noChangeShapeType="1"/>
          </p:cNvSpPr>
          <p:nvPr/>
        </p:nvSpPr>
        <p:spPr bwMode="auto">
          <a:xfrm>
            <a:off x="4594456"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4" name="Line 40"/>
          <p:cNvSpPr>
            <a:spLocks noChangeShapeType="1"/>
          </p:cNvSpPr>
          <p:nvPr/>
        </p:nvSpPr>
        <p:spPr bwMode="auto">
          <a:xfrm>
            <a:off x="5458532"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5" name="Text Box 41"/>
          <p:cNvSpPr txBox="1">
            <a:spLocks noChangeArrowheads="1"/>
          </p:cNvSpPr>
          <p:nvPr/>
        </p:nvSpPr>
        <p:spPr bwMode="auto">
          <a:xfrm>
            <a:off x="3802295" y="1421061"/>
            <a:ext cx="46198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URL</a:t>
            </a:r>
          </a:p>
        </p:txBody>
      </p:sp>
      <p:sp>
        <p:nvSpPr>
          <p:cNvPr id="26" name="Text Box 42"/>
          <p:cNvSpPr txBox="1">
            <a:spLocks noChangeArrowheads="1"/>
          </p:cNvSpPr>
          <p:nvPr/>
        </p:nvSpPr>
        <p:spPr bwMode="auto">
          <a:xfrm>
            <a:off x="4684347" y="1421061"/>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版   本</a:t>
            </a:r>
          </a:p>
        </p:txBody>
      </p:sp>
      <p:sp>
        <p:nvSpPr>
          <p:cNvPr id="27" name="Text Box 44"/>
          <p:cNvSpPr txBox="1">
            <a:spLocks noChangeArrowheads="1"/>
          </p:cNvSpPr>
          <p:nvPr/>
        </p:nvSpPr>
        <p:spPr bwMode="auto">
          <a:xfrm>
            <a:off x="2713492" y="1690733"/>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28" name="Line 45"/>
          <p:cNvSpPr>
            <a:spLocks noChangeShapeType="1"/>
          </p:cNvSpPr>
          <p:nvPr/>
        </p:nvSpPr>
        <p:spPr bwMode="auto">
          <a:xfrm>
            <a:off x="3809036"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 name="Line 46"/>
          <p:cNvSpPr>
            <a:spLocks noChangeShapeType="1"/>
          </p:cNvSpPr>
          <p:nvPr/>
        </p:nvSpPr>
        <p:spPr bwMode="auto">
          <a:xfrm>
            <a:off x="4300064"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 name="Line 48"/>
          <p:cNvSpPr>
            <a:spLocks noChangeShapeType="1"/>
          </p:cNvSpPr>
          <p:nvPr/>
        </p:nvSpPr>
        <p:spPr bwMode="auto">
          <a:xfrm>
            <a:off x="3906792"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2" name="Text Box 49"/>
          <p:cNvSpPr txBox="1">
            <a:spLocks noChangeArrowheads="1"/>
          </p:cNvSpPr>
          <p:nvPr/>
        </p:nvSpPr>
        <p:spPr bwMode="auto">
          <a:xfrm>
            <a:off x="3744379" y="1691771"/>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33" name="Text Box 50"/>
          <p:cNvSpPr txBox="1">
            <a:spLocks noChangeArrowheads="1"/>
          </p:cNvSpPr>
          <p:nvPr/>
        </p:nvSpPr>
        <p:spPr bwMode="auto">
          <a:xfrm>
            <a:off x="3993312" y="1695920"/>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34" name="Text Box 52"/>
          <p:cNvSpPr txBox="1">
            <a:spLocks noChangeArrowheads="1"/>
          </p:cNvSpPr>
          <p:nvPr/>
        </p:nvSpPr>
        <p:spPr bwMode="auto">
          <a:xfrm>
            <a:off x="2710122" y="2218669"/>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35" name="Text Box 53"/>
          <p:cNvSpPr txBox="1">
            <a:spLocks noChangeArrowheads="1"/>
          </p:cNvSpPr>
          <p:nvPr/>
        </p:nvSpPr>
        <p:spPr bwMode="auto">
          <a:xfrm>
            <a:off x="4010166" y="2226967"/>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36" name="Text Box 54"/>
          <p:cNvSpPr txBox="1">
            <a:spLocks noChangeArrowheads="1"/>
          </p:cNvSpPr>
          <p:nvPr/>
        </p:nvSpPr>
        <p:spPr bwMode="auto">
          <a:xfrm>
            <a:off x="3730382" y="2631475"/>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37" name="Text Box 55"/>
          <p:cNvSpPr txBox="1">
            <a:spLocks noChangeArrowheads="1"/>
          </p:cNvSpPr>
          <p:nvPr/>
        </p:nvSpPr>
        <p:spPr bwMode="auto">
          <a:xfrm rot="16200000">
            <a:off x="3246779" y="1972818"/>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39" name="Rectangle 57"/>
          <p:cNvSpPr>
            <a:spLocks noChangeArrowheads="1"/>
          </p:cNvSpPr>
          <p:nvPr/>
        </p:nvSpPr>
        <p:spPr bwMode="auto">
          <a:xfrm>
            <a:off x="2707874" y="2759051"/>
            <a:ext cx="3537202" cy="599502"/>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40" name="Text Box 58"/>
          <p:cNvSpPr txBox="1">
            <a:spLocks noChangeArrowheads="1"/>
          </p:cNvSpPr>
          <p:nvPr/>
        </p:nvSpPr>
        <p:spPr bwMode="auto">
          <a:xfrm>
            <a:off x="3886521" y="2820245"/>
            <a:ext cx="110799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实体主体</a:t>
            </a:r>
          </a:p>
          <a:p>
            <a:pPr algn="ct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（通常不用）</a:t>
            </a:r>
          </a:p>
        </p:txBody>
      </p:sp>
      <p:sp>
        <p:nvSpPr>
          <p:cNvPr id="42" name="Line 60"/>
          <p:cNvSpPr>
            <a:spLocks noChangeShapeType="1"/>
          </p:cNvSpPr>
          <p:nvPr/>
        </p:nvSpPr>
        <p:spPr bwMode="auto">
          <a:xfrm>
            <a:off x="2707874" y="1960405"/>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3" name="Line 61"/>
          <p:cNvSpPr>
            <a:spLocks noChangeShapeType="1"/>
          </p:cNvSpPr>
          <p:nvPr/>
        </p:nvSpPr>
        <p:spPr bwMode="auto">
          <a:xfrm>
            <a:off x="2707874" y="2493526"/>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4" name="Line 62"/>
          <p:cNvSpPr>
            <a:spLocks noChangeShapeType="1"/>
          </p:cNvSpPr>
          <p:nvPr/>
        </p:nvSpPr>
        <p:spPr bwMode="auto">
          <a:xfrm>
            <a:off x="3356211" y="2493526"/>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5" name="Line 63"/>
          <p:cNvSpPr>
            <a:spLocks noChangeShapeType="1"/>
          </p:cNvSpPr>
          <p:nvPr/>
        </p:nvSpPr>
        <p:spPr bwMode="auto">
          <a:xfrm>
            <a:off x="4928176" y="1960405"/>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6" name="Text Box 64"/>
          <p:cNvSpPr txBox="1">
            <a:spLocks noChangeArrowheads="1"/>
          </p:cNvSpPr>
          <p:nvPr/>
        </p:nvSpPr>
        <p:spPr bwMode="auto">
          <a:xfrm>
            <a:off x="3815778" y="996846"/>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空格</a:t>
            </a:r>
          </a:p>
        </p:txBody>
      </p:sp>
      <p:sp>
        <p:nvSpPr>
          <p:cNvPr id="47" name="Text Box 65"/>
          <p:cNvSpPr txBox="1">
            <a:spLocks noChangeArrowheads="1"/>
          </p:cNvSpPr>
          <p:nvPr/>
        </p:nvSpPr>
        <p:spPr bwMode="auto">
          <a:xfrm>
            <a:off x="5186612" y="996846"/>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回车换行</a:t>
            </a:r>
          </a:p>
        </p:txBody>
      </p:sp>
      <p:sp>
        <p:nvSpPr>
          <p:cNvPr id="48" name="Line 66"/>
          <p:cNvSpPr>
            <a:spLocks noChangeShapeType="1"/>
          </p:cNvSpPr>
          <p:nvPr/>
        </p:nvSpPr>
        <p:spPr bwMode="auto">
          <a:xfrm>
            <a:off x="4247254" y="1228141"/>
            <a:ext cx="288774"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9" name="Line 67"/>
          <p:cNvSpPr>
            <a:spLocks noChangeShapeType="1"/>
          </p:cNvSpPr>
          <p:nvPr/>
        </p:nvSpPr>
        <p:spPr bwMode="auto">
          <a:xfrm flipH="1">
            <a:off x="3592174" y="1228141"/>
            <a:ext cx="314618"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0" name="Line 68"/>
          <p:cNvSpPr>
            <a:spLocks noChangeShapeType="1"/>
          </p:cNvSpPr>
          <p:nvPr/>
        </p:nvSpPr>
        <p:spPr bwMode="auto">
          <a:xfrm>
            <a:off x="5609099" y="1228141"/>
            <a:ext cx="157309"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1" name="Line 69"/>
          <p:cNvSpPr>
            <a:spLocks noChangeShapeType="1"/>
          </p:cNvSpPr>
          <p:nvPr/>
        </p:nvSpPr>
        <p:spPr bwMode="auto">
          <a:xfrm>
            <a:off x="3985446"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2" name="Line 70"/>
          <p:cNvSpPr>
            <a:spLocks noChangeShapeType="1"/>
          </p:cNvSpPr>
          <p:nvPr/>
        </p:nvSpPr>
        <p:spPr bwMode="auto">
          <a:xfrm>
            <a:off x="3985446"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3" name="Text Box 71"/>
          <p:cNvSpPr txBox="1">
            <a:spLocks noChangeArrowheads="1"/>
          </p:cNvSpPr>
          <p:nvPr/>
        </p:nvSpPr>
        <p:spPr bwMode="auto">
          <a:xfrm>
            <a:off x="3744379" y="2228003"/>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54" name="Text Box 72"/>
          <p:cNvSpPr txBox="1">
            <a:spLocks noChangeArrowheads="1"/>
          </p:cNvSpPr>
          <p:nvPr/>
        </p:nvSpPr>
        <p:spPr bwMode="auto">
          <a:xfrm>
            <a:off x="5429318" y="1421061"/>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55" name="Text Box 75"/>
          <p:cNvSpPr txBox="1">
            <a:spLocks noChangeArrowheads="1"/>
          </p:cNvSpPr>
          <p:nvPr/>
        </p:nvSpPr>
        <p:spPr bwMode="auto">
          <a:xfrm>
            <a:off x="2710121" y="2488341"/>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57" name="Rectangle 132"/>
          <p:cNvSpPr>
            <a:spLocks noChangeArrowheads="1"/>
          </p:cNvSpPr>
          <p:nvPr/>
        </p:nvSpPr>
        <p:spPr bwMode="auto">
          <a:xfrm>
            <a:off x="2622487" y="1393059"/>
            <a:ext cx="1029240" cy="328794"/>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59" name="Text Box 73"/>
          <p:cNvSpPr txBox="1">
            <a:spLocks noChangeArrowheads="1"/>
          </p:cNvSpPr>
          <p:nvPr/>
        </p:nvSpPr>
        <p:spPr bwMode="auto">
          <a:xfrm>
            <a:off x="4310177" y="2232152"/>
            <a:ext cx="601144"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60" name="Text Box 74"/>
          <p:cNvSpPr txBox="1">
            <a:spLocks noChangeArrowheads="1"/>
          </p:cNvSpPr>
          <p:nvPr/>
        </p:nvSpPr>
        <p:spPr bwMode="auto">
          <a:xfrm>
            <a:off x="4314671" y="1703180"/>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61" name="矩形 60"/>
          <p:cNvSpPr/>
          <p:nvPr/>
        </p:nvSpPr>
        <p:spPr>
          <a:xfrm>
            <a:off x="1346773" y="3448136"/>
            <a:ext cx="6636391" cy="605294"/>
          </a:xfrm>
          <a:prstGeom prst="rect">
            <a:avLst/>
          </a:prstGeom>
          <a:solidFill>
            <a:srgbClr val="00FFFF"/>
          </a:solidFill>
          <a:ln>
            <a:solidFill>
              <a:schemeClr val="tx1"/>
            </a:solidFill>
          </a:ln>
        </p:spPr>
        <p:txBody>
          <a:bodyPr wrap="square">
            <a:spAutoFit/>
          </a:bodyPr>
          <a:lstStyle/>
          <a:p>
            <a:pPr>
              <a:lnSpc>
                <a:spcPts val="2000"/>
              </a:lnSpc>
            </a:pPr>
            <a:r>
              <a:rPr kumimoji="1" lang="zh-CN" altLang="en-US" sz="1400" b="1" dirty="0">
                <a:latin typeface="微软雅黑 Light" panose="020B0502040204020203" pitchFamily="34" charset="-122"/>
                <a:ea typeface="微软雅黑 Light" panose="020B0502040204020203" pitchFamily="34" charset="-122"/>
              </a:rPr>
              <a:t>方法：对所请求的对象进行的操作，实际上就是一些命令。</a:t>
            </a:r>
            <a:endParaRPr kumimoji="1" lang="en-US" altLang="zh-CN" sz="1400" b="1" dirty="0">
              <a:latin typeface="微软雅黑 Light" panose="020B0502040204020203" pitchFamily="34" charset="-122"/>
              <a:ea typeface="微软雅黑 Light" panose="020B0502040204020203" pitchFamily="34" charset="-122"/>
            </a:endParaRPr>
          </a:p>
          <a:p>
            <a:pPr>
              <a:lnSpc>
                <a:spcPts val="2000"/>
              </a:lnSpc>
            </a:pPr>
            <a:r>
              <a:rPr kumimoji="1" lang="zh-CN" altLang="en-US" sz="1400" b="1" dirty="0">
                <a:latin typeface="微软雅黑 Light" panose="020B0502040204020203" pitchFamily="34" charset="-122"/>
                <a:ea typeface="微软雅黑 Light" panose="020B0502040204020203" pitchFamily="34" charset="-122"/>
              </a:rPr>
              <a:t>请求报文的类型是由它所采用的方法决定的。 </a:t>
            </a:r>
          </a:p>
        </p:txBody>
      </p:sp>
      <p:sp>
        <p:nvSpPr>
          <p:cNvPr id="69" name="Text Box 133"/>
          <p:cNvSpPr txBox="1">
            <a:spLocks noChangeArrowheads="1"/>
          </p:cNvSpPr>
          <p:nvPr/>
        </p:nvSpPr>
        <p:spPr bwMode="auto">
          <a:xfrm>
            <a:off x="1891003" y="1405666"/>
            <a:ext cx="723619" cy="308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请求行</a:t>
            </a:r>
          </a:p>
        </p:txBody>
      </p:sp>
      <p:sp>
        <p:nvSpPr>
          <p:cNvPr id="70" name="Text Box 47"/>
          <p:cNvSpPr txBox="1">
            <a:spLocks noChangeArrowheads="1"/>
          </p:cNvSpPr>
          <p:nvPr/>
        </p:nvSpPr>
        <p:spPr bwMode="auto">
          <a:xfrm>
            <a:off x="1876736" y="1947539"/>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首部行</a:t>
            </a:r>
          </a:p>
        </p:txBody>
      </p:sp>
      <p:sp>
        <p:nvSpPr>
          <p:cNvPr id="71" name="AutoShape 56"/>
          <p:cNvSpPr>
            <a:spLocks/>
          </p:cNvSpPr>
          <p:nvPr/>
        </p:nvSpPr>
        <p:spPr bwMode="auto">
          <a:xfrm flipH="1">
            <a:off x="2545337" y="1722010"/>
            <a:ext cx="157309" cy="765455"/>
          </a:xfrm>
          <a:prstGeom prst="rightBrace">
            <a:avLst>
              <a:gd name="adj1" fmla="val 43929"/>
              <a:gd name="adj2" fmla="val 50000"/>
            </a:avLst>
          </a:prstGeom>
          <a:noFill/>
          <a:ln w="19050">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2564869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500"/>
                                  </p:stCondLst>
                                  <p:childTnLst>
                                    <p:anim calcmode="discrete" valueType="str">
                                      <p:cBhvr>
                                        <p:cTn id="6" dur="1000" fill="hold"/>
                                        <p:tgtEl>
                                          <p:spTgt spid="5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7" grpId="0" animBg="1"/>
    </p:bld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2148"/>
            <a:ext cx="8048776"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3" name="矩形 2"/>
          <p:cNvSpPr/>
          <p:nvPr/>
        </p:nvSpPr>
        <p:spPr>
          <a:xfrm>
            <a:off x="645268" y="560764"/>
            <a:ext cx="3274230"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000" b="1" dirty="0">
                <a:latin typeface="微软雅黑 Light" panose="020B0502040204020203" pitchFamily="34" charset="-122"/>
                <a:ea typeface="微软雅黑 Light" panose="020B0502040204020203" pitchFamily="34" charset="-122"/>
              </a:rPr>
              <a:t>HTTP </a:t>
            </a:r>
            <a:r>
              <a:rPr lang="zh-CN" altLang="en-US" sz="2000" b="1" dirty="0">
                <a:latin typeface="微软雅黑 Light" panose="020B0502040204020203" pitchFamily="34" charset="-122"/>
                <a:ea typeface="微软雅黑 Light" panose="020B0502040204020203" pitchFamily="34" charset="-122"/>
              </a:rPr>
              <a:t>请求报文的一些方法</a:t>
            </a:r>
          </a:p>
        </p:txBody>
      </p:sp>
      <p:graphicFrame>
        <p:nvGraphicFramePr>
          <p:cNvPr id="7" name="图示 6"/>
          <p:cNvGraphicFramePr/>
          <p:nvPr>
            <p:extLst>
              <p:ext uri="{D42A27DB-BD31-4B8C-83A1-F6EECF244321}">
                <p14:modId xmlns:p14="http://schemas.microsoft.com/office/powerpoint/2010/main" val="2459573070"/>
              </p:ext>
            </p:extLst>
          </p:nvPr>
        </p:nvGraphicFramePr>
        <p:xfrm>
          <a:off x="556963" y="981296"/>
          <a:ext cx="8048776" cy="324251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cxnSp>
        <p:nvCxnSpPr>
          <p:cNvPr id="9" name="直接连接符 8"/>
          <p:cNvCxnSpPr/>
          <p:nvPr/>
        </p:nvCxnSpPr>
        <p:spPr>
          <a:xfrm>
            <a:off x="3060406" y="960874"/>
            <a:ext cx="0" cy="3386004"/>
          </a:xfrm>
          <a:prstGeom prst="line">
            <a:avLst/>
          </a:prstGeom>
          <a:ln w="57150">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925673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51"/>
          <p:cNvSpPr>
            <a:spLocks noChangeArrowheads="1"/>
          </p:cNvSpPr>
          <p:nvPr/>
        </p:nvSpPr>
        <p:spPr bwMode="auto">
          <a:xfrm>
            <a:off x="2707874" y="2226967"/>
            <a:ext cx="2220302" cy="266560"/>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6" name="Rectangle 43"/>
          <p:cNvSpPr>
            <a:spLocks noChangeArrowheads="1"/>
          </p:cNvSpPr>
          <p:nvPr/>
        </p:nvSpPr>
        <p:spPr bwMode="auto">
          <a:xfrm>
            <a:off x="2707874" y="1693845"/>
            <a:ext cx="2220302" cy="266560"/>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7" name="Rectangle 34"/>
          <p:cNvSpPr>
            <a:spLocks noChangeArrowheads="1"/>
          </p:cNvSpPr>
          <p:nvPr/>
        </p:nvSpPr>
        <p:spPr bwMode="auto">
          <a:xfrm>
            <a:off x="2707874" y="1428321"/>
            <a:ext cx="3398995" cy="26552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8" name="Rectangle 23"/>
          <p:cNvSpPr>
            <a:spLocks noChangeArrowheads="1"/>
          </p:cNvSpPr>
          <p:nvPr/>
        </p:nvSpPr>
        <p:spPr bwMode="auto">
          <a:xfrm>
            <a:off x="4300064" y="2233190"/>
            <a:ext cx="628112" cy="254114"/>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9" name="Rectangle 24"/>
          <p:cNvSpPr>
            <a:spLocks noChangeArrowheads="1"/>
          </p:cNvSpPr>
          <p:nvPr/>
        </p:nvSpPr>
        <p:spPr bwMode="auto">
          <a:xfrm>
            <a:off x="2712369" y="2505973"/>
            <a:ext cx="643842" cy="25307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0" name="Rectangle 25"/>
          <p:cNvSpPr>
            <a:spLocks noChangeArrowheads="1"/>
          </p:cNvSpPr>
          <p:nvPr/>
        </p:nvSpPr>
        <p:spPr bwMode="auto">
          <a:xfrm>
            <a:off x="4300064" y="1700068"/>
            <a:ext cx="628112" cy="26033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1" name="Rectangle 26"/>
          <p:cNvSpPr>
            <a:spLocks noChangeArrowheads="1"/>
          </p:cNvSpPr>
          <p:nvPr/>
        </p:nvSpPr>
        <p:spPr bwMode="auto">
          <a:xfrm>
            <a:off x="3906792" y="2233189"/>
            <a:ext cx="85396"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2" name="Rectangle 27"/>
          <p:cNvSpPr>
            <a:spLocks noChangeArrowheads="1"/>
          </p:cNvSpPr>
          <p:nvPr/>
        </p:nvSpPr>
        <p:spPr bwMode="auto">
          <a:xfrm>
            <a:off x="3906792" y="1700068"/>
            <a:ext cx="78654"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3" name="Line 28"/>
          <p:cNvSpPr>
            <a:spLocks noChangeShapeType="1"/>
          </p:cNvSpPr>
          <p:nvPr/>
        </p:nvSpPr>
        <p:spPr bwMode="auto">
          <a:xfrm>
            <a:off x="3809036"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4" name="Line 29"/>
          <p:cNvSpPr>
            <a:spLocks noChangeShapeType="1"/>
          </p:cNvSpPr>
          <p:nvPr/>
        </p:nvSpPr>
        <p:spPr bwMode="auto">
          <a:xfrm>
            <a:off x="4300064"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 name="Line 30"/>
          <p:cNvSpPr>
            <a:spLocks noChangeShapeType="1"/>
          </p:cNvSpPr>
          <p:nvPr/>
        </p:nvSpPr>
        <p:spPr bwMode="auto">
          <a:xfrm>
            <a:off x="3906792"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 name="Rectangle 31"/>
          <p:cNvSpPr>
            <a:spLocks noChangeArrowheads="1"/>
          </p:cNvSpPr>
          <p:nvPr/>
        </p:nvSpPr>
        <p:spPr bwMode="auto">
          <a:xfrm>
            <a:off x="5458532" y="1434545"/>
            <a:ext cx="648337" cy="259300"/>
          </a:xfrm>
          <a:prstGeom prst="rect">
            <a:avLst/>
          </a:prstGeom>
          <a:solidFill>
            <a:srgbClr val="00B0F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7" name="Rectangle 32"/>
          <p:cNvSpPr>
            <a:spLocks noChangeArrowheads="1"/>
          </p:cNvSpPr>
          <p:nvPr/>
        </p:nvSpPr>
        <p:spPr bwMode="auto">
          <a:xfrm>
            <a:off x="4515802" y="1434545"/>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8" name="Rectangle 33"/>
          <p:cNvSpPr>
            <a:spLocks noChangeArrowheads="1"/>
          </p:cNvSpPr>
          <p:nvPr/>
        </p:nvSpPr>
        <p:spPr bwMode="auto">
          <a:xfrm>
            <a:off x="3573073" y="1434545"/>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9" name="Text Box 35"/>
          <p:cNvSpPr txBox="1">
            <a:spLocks noChangeArrowheads="1"/>
          </p:cNvSpPr>
          <p:nvPr/>
        </p:nvSpPr>
        <p:spPr bwMode="auto">
          <a:xfrm>
            <a:off x="2829227" y="1421061"/>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方   法</a:t>
            </a:r>
          </a:p>
        </p:txBody>
      </p:sp>
      <p:sp>
        <p:nvSpPr>
          <p:cNvPr id="20" name="Line 36"/>
          <p:cNvSpPr>
            <a:spLocks noChangeShapeType="1"/>
          </p:cNvSpPr>
          <p:nvPr/>
        </p:nvSpPr>
        <p:spPr bwMode="auto">
          <a:xfrm>
            <a:off x="3573073"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Line 37"/>
          <p:cNvSpPr>
            <a:spLocks noChangeShapeType="1"/>
          </p:cNvSpPr>
          <p:nvPr/>
        </p:nvSpPr>
        <p:spPr bwMode="auto">
          <a:xfrm>
            <a:off x="3651727"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2" name="Line 38"/>
          <p:cNvSpPr>
            <a:spLocks noChangeShapeType="1"/>
          </p:cNvSpPr>
          <p:nvPr/>
        </p:nvSpPr>
        <p:spPr bwMode="auto">
          <a:xfrm>
            <a:off x="4515802"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3" name="Line 39"/>
          <p:cNvSpPr>
            <a:spLocks noChangeShapeType="1"/>
          </p:cNvSpPr>
          <p:nvPr/>
        </p:nvSpPr>
        <p:spPr bwMode="auto">
          <a:xfrm>
            <a:off x="4594456"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4" name="Line 40"/>
          <p:cNvSpPr>
            <a:spLocks noChangeShapeType="1"/>
          </p:cNvSpPr>
          <p:nvPr/>
        </p:nvSpPr>
        <p:spPr bwMode="auto">
          <a:xfrm>
            <a:off x="5458532"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5" name="Text Box 41"/>
          <p:cNvSpPr txBox="1">
            <a:spLocks noChangeArrowheads="1"/>
          </p:cNvSpPr>
          <p:nvPr/>
        </p:nvSpPr>
        <p:spPr bwMode="auto">
          <a:xfrm>
            <a:off x="3802295" y="1421061"/>
            <a:ext cx="46198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URL</a:t>
            </a:r>
          </a:p>
        </p:txBody>
      </p:sp>
      <p:sp>
        <p:nvSpPr>
          <p:cNvPr id="26" name="Text Box 42"/>
          <p:cNvSpPr txBox="1">
            <a:spLocks noChangeArrowheads="1"/>
          </p:cNvSpPr>
          <p:nvPr/>
        </p:nvSpPr>
        <p:spPr bwMode="auto">
          <a:xfrm>
            <a:off x="4684347" y="1421061"/>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版   本</a:t>
            </a:r>
          </a:p>
        </p:txBody>
      </p:sp>
      <p:sp>
        <p:nvSpPr>
          <p:cNvPr id="27" name="Text Box 44"/>
          <p:cNvSpPr txBox="1">
            <a:spLocks noChangeArrowheads="1"/>
          </p:cNvSpPr>
          <p:nvPr/>
        </p:nvSpPr>
        <p:spPr bwMode="auto">
          <a:xfrm>
            <a:off x="2713492" y="1690733"/>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28" name="Line 45"/>
          <p:cNvSpPr>
            <a:spLocks noChangeShapeType="1"/>
          </p:cNvSpPr>
          <p:nvPr/>
        </p:nvSpPr>
        <p:spPr bwMode="auto">
          <a:xfrm>
            <a:off x="3809036"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 name="Line 46"/>
          <p:cNvSpPr>
            <a:spLocks noChangeShapeType="1"/>
          </p:cNvSpPr>
          <p:nvPr/>
        </p:nvSpPr>
        <p:spPr bwMode="auto">
          <a:xfrm>
            <a:off x="4300064"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 name="Line 48"/>
          <p:cNvSpPr>
            <a:spLocks noChangeShapeType="1"/>
          </p:cNvSpPr>
          <p:nvPr/>
        </p:nvSpPr>
        <p:spPr bwMode="auto">
          <a:xfrm>
            <a:off x="3906792"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2" name="Text Box 49"/>
          <p:cNvSpPr txBox="1">
            <a:spLocks noChangeArrowheads="1"/>
          </p:cNvSpPr>
          <p:nvPr/>
        </p:nvSpPr>
        <p:spPr bwMode="auto">
          <a:xfrm>
            <a:off x="3744379" y="1691771"/>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33" name="Text Box 50"/>
          <p:cNvSpPr txBox="1">
            <a:spLocks noChangeArrowheads="1"/>
          </p:cNvSpPr>
          <p:nvPr/>
        </p:nvSpPr>
        <p:spPr bwMode="auto">
          <a:xfrm>
            <a:off x="3993312" y="1695920"/>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34" name="Text Box 52"/>
          <p:cNvSpPr txBox="1">
            <a:spLocks noChangeArrowheads="1"/>
          </p:cNvSpPr>
          <p:nvPr/>
        </p:nvSpPr>
        <p:spPr bwMode="auto">
          <a:xfrm>
            <a:off x="2710122" y="2218669"/>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35" name="Text Box 53"/>
          <p:cNvSpPr txBox="1">
            <a:spLocks noChangeArrowheads="1"/>
          </p:cNvSpPr>
          <p:nvPr/>
        </p:nvSpPr>
        <p:spPr bwMode="auto">
          <a:xfrm>
            <a:off x="4010166" y="2226967"/>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36" name="Text Box 54"/>
          <p:cNvSpPr txBox="1">
            <a:spLocks noChangeArrowheads="1"/>
          </p:cNvSpPr>
          <p:nvPr/>
        </p:nvSpPr>
        <p:spPr bwMode="auto">
          <a:xfrm>
            <a:off x="3730382" y="2631475"/>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37" name="Text Box 55"/>
          <p:cNvSpPr txBox="1">
            <a:spLocks noChangeArrowheads="1"/>
          </p:cNvSpPr>
          <p:nvPr/>
        </p:nvSpPr>
        <p:spPr bwMode="auto">
          <a:xfrm rot="16200000">
            <a:off x="3246779" y="1972818"/>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39" name="Rectangle 57"/>
          <p:cNvSpPr>
            <a:spLocks noChangeArrowheads="1"/>
          </p:cNvSpPr>
          <p:nvPr/>
        </p:nvSpPr>
        <p:spPr bwMode="auto">
          <a:xfrm>
            <a:off x="2707874" y="2759051"/>
            <a:ext cx="3537202" cy="599502"/>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40" name="Text Box 58"/>
          <p:cNvSpPr txBox="1">
            <a:spLocks noChangeArrowheads="1"/>
          </p:cNvSpPr>
          <p:nvPr/>
        </p:nvSpPr>
        <p:spPr bwMode="auto">
          <a:xfrm>
            <a:off x="3886521" y="2820245"/>
            <a:ext cx="110799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实体主体</a:t>
            </a:r>
          </a:p>
          <a:p>
            <a:pPr algn="ct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（通常不用）</a:t>
            </a:r>
          </a:p>
        </p:txBody>
      </p:sp>
      <p:sp>
        <p:nvSpPr>
          <p:cNvPr id="42" name="Line 60"/>
          <p:cNvSpPr>
            <a:spLocks noChangeShapeType="1"/>
          </p:cNvSpPr>
          <p:nvPr/>
        </p:nvSpPr>
        <p:spPr bwMode="auto">
          <a:xfrm>
            <a:off x="2707874" y="1960405"/>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3" name="Line 61"/>
          <p:cNvSpPr>
            <a:spLocks noChangeShapeType="1"/>
          </p:cNvSpPr>
          <p:nvPr/>
        </p:nvSpPr>
        <p:spPr bwMode="auto">
          <a:xfrm>
            <a:off x="2707874" y="2493526"/>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4" name="Line 62"/>
          <p:cNvSpPr>
            <a:spLocks noChangeShapeType="1"/>
          </p:cNvSpPr>
          <p:nvPr/>
        </p:nvSpPr>
        <p:spPr bwMode="auto">
          <a:xfrm>
            <a:off x="3356211" y="2493526"/>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5" name="Line 63"/>
          <p:cNvSpPr>
            <a:spLocks noChangeShapeType="1"/>
          </p:cNvSpPr>
          <p:nvPr/>
        </p:nvSpPr>
        <p:spPr bwMode="auto">
          <a:xfrm>
            <a:off x="4928176" y="1960405"/>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6" name="Text Box 64"/>
          <p:cNvSpPr txBox="1">
            <a:spLocks noChangeArrowheads="1"/>
          </p:cNvSpPr>
          <p:nvPr/>
        </p:nvSpPr>
        <p:spPr bwMode="auto">
          <a:xfrm>
            <a:off x="3815778" y="996846"/>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空格</a:t>
            </a:r>
          </a:p>
        </p:txBody>
      </p:sp>
      <p:sp>
        <p:nvSpPr>
          <p:cNvPr id="47" name="Text Box 65"/>
          <p:cNvSpPr txBox="1">
            <a:spLocks noChangeArrowheads="1"/>
          </p:cNvSpPr>
          <p:nvPr/>
        </p:nvSpPr>
        <p:spPr bwMode="auto">
          <a:xfrm>
            <a:off x="5186612" y="996846"/>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回车换行</a:t>
            </a:r>
          </a:p>
        </p:txBody>
      </p:sp>
      <p:sp>
        <p:nvSpPr>
          <p:cNvPr id="48" name="Line 66"/>
          <p:cNvSpPr>
            <a:spLocks noChangeShapeType="1"/>
          </p:cNvSpPr>
          <p:nvPr/>
        </p:nvSpPr>
        <p:spPr bwMode="auto">
          <a:xfrm>
            <a:off x="4247254" y="1228141"/>
            <a:ext cx="288774"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9" name="Line 67"/>
          <p:cNvSpPr>
            <a:spLocks noChangeShapeType="1"/>
          </p:cNvSpPr>
          <p:nvPr/>
        </p:nvSpPr>
        <p:spPr bwMode="auto">
          <a:xfrm flipH="1">
            <a:off x="3592174" y="1228141"/>
            <a:ext cx="314618"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0" name="Line 68"/>
          <p:cNvSpPr>
            <a:spLocks noChangeShapeType="1"/>
          </p:cNvSpPr>
          <p:nvPr/>
        </p:nvSpPr>
        <p:spPr bwMode="auto">
          <a:xfrm>
            <a:off x="5609099" y="1228141"/>
            <a:ext cx="157309"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1" name="Line 69"/>
          <p:cNvSpPr>
            <a:spLocks noChangeShapeType="1"/>
          </p:cNvSpPr>
          <p:nvPr/>
        </p:nvSpPr>
        <p:spPr bwMode="auto">
          <a:xfrm>
            <a:off x="3985446"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2" name="Line 70"/>
          <p:cNvSpPr>
            <a:spLocks noChangeShapeType="1"/>
          </p:cNvSpPr>
          <p:nvPr/>
        </p:nvSpPr>
        <p:spPr bwMode="auto">
          <a:xfrm>
            <a:off x="3985446"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3" name="Text Box 71"/>
          <p:cNvSpPr txBox="1">
            <a:spLocks noChangeArrowheads="1"/>
          </p:cNvSpPr>
          <p:nvPr/>
        </p:nvSpPr>
        <p:spPr bwMode="auto">
          <a:xfrm>
            <a:off x="3744379" y="2228003"/>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54" name="Text Box 72"/>
          <p:cNvSpPr txBox="1">
            <a:spLocks noChangeArrowheads="1"/>
          </p:cNvSpPr>
          <p:nvPr/>
        </p:nvSpPr>
        <p:spPr bwMode="auto">
          <a:xfrm>
            <a:off x="5429318" y="1421061"/>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55" name="Text Box 75"/>
          <p:cNvSpPr txBox="1">
            <a:spLocks noChangeArrowheads="1"/>
          </p:cNvSpPr>
          <p:nvPr/>
        </p:nvSpPr>
        <p:spPr bwMode="auto">
          <a:xfrm>
            <a:off x="2710121" y="2488341"/>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59" name="Text Box 73"/>
          <p:cNvSpPr txBox="1">
            <a:spLocks noChangeArrowheads="1"/>
          </p:cNvSpPr>
          <p:nvPr/>
        </p:nvSpPr>
        <p:spPr bwMode="auto">
          <a:xfrm>
            <a:off x="4310177" y="2232152"/>
            <a:ext cx="601144"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60" name="Text Box 74"/>
          <p:cNvSpPr txBox="1">
            <a:spLocks noChangeArrowheads="1"/>
          </p:cNvSpPr>
          <p:nvPr/>
        </p:nvSpPr>
        <p:spPr bwMode="auto">
          <a:xfrm>
            <a:off x="4314671" y="1703180"/>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61" name="矩形 60"/>
          <p:cNvSpPr/>
          <p:nvPr/>
        </p:nvSpPr>
        <p:spPr>
          <a:xfrm>
            <a:off x="1346773" y="3448136"/>
            <a:ext cx="6636391" cy="328551"/>
          </a:xfrm>
          <a:prstGeom prst="rect">
            <a:avLst/>
          </a:prstGeom>
          <a:solidFill>
            <a:srgbClr val="00FFFF"/>
          </a:solidFill>
          <a:ln>
            <a:solidFill>
              <a:schemeClr val="tx1"/>
            </a:solidFill>
          </a:ln>
        </p:spPr>
        <p:txBody>
          <a:bodyPr wrap="square">
            <a:spAutoFit/>
          </a:bodyPr>
          <a:lstStyle/>
          <a:p>
            <a:pPr>
              <a:lnSpc>
                <a:spcPts val="2000"/>
              </a:lnSpc>
            </a:pPr>
            <a:r>
              <a:rPr kumimoji="1" lang="en-US" altLang="zh-CN" sz="1400" b="1" dirty="0">
                <a:latin typeface="微软雅黑 Light" panose="020B0502040204020203" pitchFamily="34" charset="-122"/>
                <a:ea typeface="微软雅黑 Light" panose="020B0502040204020203" pitchFamily="34" charset="-122"/>
              </a:rPr>
              <a:t>URL</a:t>
            </a:r>
            <a:r>
              <a:rPr kumimoji="1" lang="zh-CN" altLang="en-US" sz="1400" b="1" dirty="0">
                <a:latin typeface="微软雅黑 Light" panose="020B0502040204020203" pitchFamily="34" charset="-122"/>
                <a:ea typeface="微软雅黑 Light" panose="020B0502040204020203" pitchFamily="34" charset="-122"/>
              </a:rPr>
              <a:t>：所请求的资源的 </a:t>
            </a:r>
            <a:r>
              <a:rPr kumimoji="1" lang="en-US" altLang="zh-CN" sz="1400" b="1" dirty="0">
                <a:latin typeface="微软雅黑 Light" panose="020B0502040204020203" pitchFamily="34" charset="-122"/>
                <a:ea typeface="微软雅黑 Light" panose="020B0502040204020203" pitchFamily="34" charset="-122"/>
              </a:rPr>
              <a:t>URL</a:t>
            </a:r>
            <a:r>
              <a:rPr kumimoji="1" lang="zh-CN" altLang="en-US" sz="1400" b="1" dirty="0">
                <a:latin typeface="微软雅黑 Light" panose="020B0502040204020203" pitchFamily="34" charset="-122"/>
                <a:ea typeface="微软雅黑 Light" panose="020B0502040204020203" pitchFamily="34" charset="-122"/>
              </a:rPr>
              <a:t>。</a:t>
            </a:r>
          </a:p>
        </p:txBody>
      </p:sp>
      <p:sp>
        <p:nvSpPr>
          <p:cNvPr id="69" name="Text Box 133"/>
          <p:cNvSpPr txBox="1">
            <a:spLocks noChangeArrowheads="1"/>
          </p:cNvSpPr>
          <p:nvPr/>
        </p:nvSpPr>
        <p:spPr bwMode="auto">
          <a:xfrm>
            <a:off x="1891003" y="1405666"/>
            <a:ext cx="723619" cy="308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请求行</a:t>
            </a:r>
          </a:p>
        </p:txBody>
      </p:sp>
      <p:sp>
        <p:nvSpPr>
          <p:cNvPr id="70" name="Text Box 47"/>
          <p:cNvSpPr txBox="1">
            <a:spLocks noChangeArrowheads="1"/>
          </p:cNvSpPr>
          <p:nvPr/>
        </p:nvSpPr>
        <p:spPr bwMode="auto">
          <a:xfrm>
            <a:off x="1876736" y="1947539"/>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首部行</a:t>
            </a:r>
          </a:p>
        </p:txBody>
      </p:sp>
      <p:sp>
        <p:nvSpPr>
          <p:cNvPr id="71" name="AutoShape 56"/>
          <p:cNvSpPr>
            <a:spLocks/>
          </p:cNvSpPr>
          <p:nvPr/>
        </p:nvSpPr>
        <p:spPr bwMode="auto">
          <a:xfrm flipH="1">
            <a:off x="2545337" y="1722010"/>
            <a:ext cx="157309" cy="765455"/>
          </a:xfrm>
          <a:prstGeom prst="rightBrace">
            <a:avLst>
              <a:gd name="adj1" fmla="val 43929"/>
              <a:gd name="adj2" fmla="val 50000"/>
            </a:avLst>
          </a:prstGeom>
          <a:noFill/>
          <a:ln w="19050">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63" name="Rectangle 132"/>
          <p:cNvSpPr>
            <a:spLocks noChangeArrowheads="1"/>
          </p:cNvSpPr>
          <p:nvPr/>
        </p:nvSpPr>
        <p:spPr bwMode="auto">
          <a:xfrm>
            <a:off x="3592182" y="1395872"/>
            <a:ext cx="1006775" cy="328794"/>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032249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750"/>
                                  </p:stCondLst>
                                  <p:childTnLst>
                                    <p:anim calcmode="discrete" valueType="str">
                                      <p:cBhvr>
                                        <p:cTn id="6" dur="500" fill="hold"/>
                                        <p:tgtEl>
                                          <p:spTgt spid="6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3" grpId="0" animBg="1"/>
    </p:bld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51"/>
          <p:cNvSpPr>
            <a:spLocks noChangeArrowheads="1"/>
          </p:cNvSpPr>
          <p:nvPr/>
        </p:nvSpPr>
        <p:spPr bwMode="auto">
          <a:xfrm>
            <a:off x="2707874" y="2226967"/>
            <a:ext cx="2220302" cy="266560"/>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6" name="Rectangle 43"/>
          <p:cNvSpPr>
            <a:spLocks noChangeArrowheads="1"/>
          </p:cNvSpPr>
          <p:nvPr/>
        </p:nvSpPr>
        <p:spPr bwMode="auto">
          <a:xfrm>
            <a:off x="2707874" y="1693845"/>
            <a:ext cx="2220302" cy="266560"/>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7" name="Rectangle 34"/>
          <p:cNvSpPr>
            <a:spLocks noChangeArrowheads="1"/>
          </p:cNvSpPr>
          <p:nvPr/>
        </p:nvSpPr>
        <p:spPr bwMode="auto">
          <a:xfrm>
            <a:off x="2707874" y="1428321"/>
            <a:ext cx="3398995" cy="26552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8" name="Rectangle 23"/>
          <p:cNvSpPr>
            <a:spLocks noChangeArrowheads="1"/>
          </p:cNvSpPr>
          <p:nvPr/>
        </p:nvSpPr>
        <p:spPr bwMode="auto">
          <a:xfrm>
            <a:off x="4300064" y="2233190"/>
            <a:ext cx="628112" cy="254114"/>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9" name="Rectangle 24"/>
          <p:cNvSpPr>
            <a:spLocks noChangeArrowheads="1"/>
          </p:cNvSpPr>
          <p:nvPr/>
        </p:nvSpPr>
        <p:spPr bwMode="auto">
          <a:xfrm>
            <a:off x="2712369" y="2505973"/>
            <a:ext cx="643842" cy="25307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0" name="Rectangle 25"/>
          <p:cNvSpPr>
            <a:spLocks noChangeArrowheads="1"/>
          </p:cNvSpPr>
          <p:nvPr/>
        </p:nvSpPr>
        <p:spPr bwMode="auto">
          <a:xfrm>
            <a:off x="4300064" y="1700068"/>
            <a:ext cx="628112" cy="26033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1" name="Rectangle 26"/>
          <p:cNvSpPr>
            <a:spLocks noChangeArrowheads="1"/>
          </p:cNvSpPr>
          <p:nvPr/>
        </p:nvSpPr>
        <p:spPr bwMode="auto">
          <a:xfrm>
            <a:off x="3906792" y="2233189"/>
            <a:ext cx="85396"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2" name="Rectangle 27"/>
          <p:cNvSpPr>
            <a:spLocks noChangeArrowheads="1"/>
          </p:cNvSpPr>
          <p:nvPr/>
        </p:nvSpPr>
        <p:spPr bwMode="auto">
          <a:xfrm>
            <a:off x="3906792" y="1700068"/>
            <a:ext cx="78654"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3" name="Line 28"/>
          <p:cNvSpPr>
            <a:spLocks noChangeShapeType="1"/>
          </p:cNvSpPr>
          <p:nvPr/>
        </p:nvSpPr>
        <p:spPr bwMode="auto">
          <a:xfrm>
            <a:off x="3809036"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4" name="Line 29"/>
          <p:cNvSpPr>
            <a:spLocks noChangeShapeType="1"/>
          </p:cNvSpPr>
          <p:nvPr/>
        </p:nvSpPr>
        <p:spPr bwMode="auto">
          <a:xfrm>
            <a:off x="4300064"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 name="Line 30"/>
          <p:cNvSpPr>
            <a:spLocks noChangeShapeType="1"/>
          </p:cNvSpPr>
          <p:nvPr/>
        </p:nvSpPr>
        <p:spPr bwMode="auto">
          <a:xfrm>
            <a:off x="3906792"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 name="Rectangle 31"/>
          <p:cNvSpPr>
            <a:spLocks noChangeArrowheads="1"/>
          </p:cNvSpPr>
          <p:nvPr/>
        </p:nvSpPr>
        <p:spPr bwMode="auto">
          <a:xfrm>
            <a:off x="5458532" y="1434545"/>
            <a:ext cx="648337" cy="259300"/>
          </a:xfrm>
          <a:prstGeom prst="rect">
            <a:avLst/>
          </a:prstGeom>
          <a:solidFill>
            <a:srgbClr val="00B0F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7" name="Rectangle 32"/>
          <p:cNvSpPr>
            <a:spLocks noChangeArrowheads="1"/>
          </p:cNvSpPr>
          <p:nvPr/>
        </p:nvSpPr>
        <p:spPr bwMode="auto">
          <a:xfrm>
            <a:off x="4515802" y="1434545"/>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8" name="Rectangle 33"/>
          <p:cNvSpPr>
            <a:spLocks noChangeArrowheads="1"/>
          </p:cNvSpPr>
          <p:nvPr/>
        </p:nvSpPr>
        <p:spPr bwMode="auto">
          <a:xfrm>
            <a:off x="3573073" y="1434545"/>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9" name="Text Box 35"/>
          <p:cNvSpPr txBox="1">
            <a:spLocks noChangeArrowheads="1"/>
          </p:cNvSpPr>
          <p:nvPr/>
        </p:nvSpPr>
        <p:spPr bwMode="auto">
          <a:xfrm>
            <a:off x="2829227" y="1421061"/>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方   法</a:t>
            </a:r>
          </a:p>
        </p:txBody>
      </p:sp>
      <p:sp>
        <p:nvSpPr>
          <p:cNvPr id="20" name="Line 36"/>
          <p:cNvSpPr>
            <a:spLocks noChangeShapeType="1"/>
          </p:cNvSpPr>
          <p:nvPr/>
        </p:nvSpPr>
        <p:spPr bwMode="auto">
          <a:xfrm>
            <a:off x="3573073"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Line 37"/>
          <p:cNvSpPr>
            <a:spLocks noChangeShapeType="1"/>
          </p:cNvSpPr>
          <p:nvPr/>
        </p:nvSpPr>
        <p:spPr bwMode="auto">
          <a:xfrm>
            <a:off x="3651727"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2" name="Line 38"/>
          <p:cNvSpPr>
            <a:spLocks noChangeShapeType="1"/>
          </p:cNvSpPr>
          <p:nvPr/>
        </p:nvSpPr>
        <p:spPr bwMode="auto">
          <a:xfrm>
            <a:off x="4515802"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3" name="Line 39"/>
          <p:cNvSpPr>
            <a:spLocks noChangeShapeType="1"/>
          </p:cNvSpPr>
          <p:nvPr/>
        </p:nvSpPr>
        <p:spPr bwMode="auto">
          <a:xfrm>
            <a:off x="4594456"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4" name="Line 40"/>
          <p:cNvSpPr>
            <a:spLocks noChangeShapeType="1"/>
          </p:cNvSpPr>
          <p:nvPr/>
        </p:nvSpPr>
        <p:spPr bwMode="auto">
          <a:xfrm>
            <a:off x="5458532"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5" name="Text Box 41"/>
          <p:cNvSpPr txBox="1">
            <a:spLocks noChangeArrowheads="1"/>
          </p:cNvSpPr>
          <p:nvPr/>
        </p:nvSpPr>
        <p:spPr bwMode="auto">
          <a:xfrm>
            <a:off x="3802295" y="1421061"/>
            <a:ext cx="46198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URL</a:t>
            </a:r>
          </a:p>
        </p:txBody>
      </p:sp>
      <p:sp>
        <p:nvSpPr>
          <p:cNvPr id="26" name="Text Box 42"/>
          <p:cNvSpPr txBox="1">
            <a:spLocks noChangeArrowheads="1"/>
          </p:cNvSpPr>
          <p:nvPr/>
        </p:nvSpPr>
        <p:spPr bwMode="auto">
          <a:xfrm>
            <a:off x="4684347" y="1421061"/>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版   本</a:t>
            </a:r>
          </a:p>
        </p:txBody>
      </p:sp>
      <p:sp>
        <p:nvSpPr>
          <p:cNvPr id="27" name="Text Box 44"/>
          <p:cNvSpPr txBox="1">
            <a:spLocks noChangeArrowheads="1"/>
          </p:cNvSpPr>
          <p:nvPr/>
        </p:nvSpPr>
        <p:spPr bwMode="auto">
          <a:xfrm>
            <a:off x="2713492" y="1690733"/>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28" name="Line 45"/>
          <p:cNvSpPr>
            <a:spLocks noChangeShapeType="1"/>
          </p:cNvSpPr>
          <p:nvPr/>
        </p:nvSpPr>
        <p:spPr bwMode="auto">
          <a:xfrm>
            <a:off x="3809036"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 name="Line 46"/>
          <p:cNvSpPr>
            <a:spLocks noChangeShapeType="1"/>
          </p:cNvSpPr>
          <p:nvPr/>
        </p:nvSpPr>
        <p:spPr bwMode="auto">
          <a:xfrm>
            <a:off x="4300064"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 name="Line 48"/>
          <p:cNvSpPr>
            <a:spLocks noChangeShapeType="1"/>
          </p:cNvSpPr>
          <p:nvPr/>
        </p:nvSpPr>
        <p:spPr bwMode="auto">
          <a:xfrm>
            <a:off x="3906792"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2" name="Text Box 49"/>
          <p:cNvSpPr txBox="1">
            <a:spLocks noChangeArrowheads="1"/>
          </p:cNvSpPr>
          <p:nvPr/>
        </p:nvSpPr>
        <p:spPr bwMode="auto">
          <a:xfrm>
            <a:off x="3744379" y="1691771"/>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33" name="Text Box 50"/>
          <p:cNvSpPr txBox="1">
            <a:spLocks noChangeArrowheads="1"/>
          </p:cNvSpPr>
          <p:nvPr/>
        </p:nvSpPr>
        <p:spPr bwMode="auto">
          <a:xfrm>
            <a:off x="3993312" y="1695920"/>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34" name="Text Box 52"/>
          <p:cNvSpPr txBox="1">
            <a:spLocks noChangeArrowheads="1"/>
          </p:cNvSpPr>
          <p:nvPr/>
        </p:nvSpPr>
        <p:spPr bwMode="auto">
          <a:xfrm>
            <a:off x="2710122" y="2218669"/>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35" name="Text Box 53"/>
          <p:cNvSpPr txBox="1">
            <a:spLocks noChangeArrowheads="1"/>
          </p:cNvSpPr>
          <p:nvPr/>
        </p:nvSpPr>
        <p:spPr bwMode="auto">
          <a:xfrm>
            <a:off x="4010166" y="2226967"/>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36" name="Text Box 54"/>
          <p:cNvSpPr txBox="1">
            <a:spLocks noChangeArrowheads="1"/>
          </p:cNvSpPr>
          <p:nvPr/>
        </p:nvSpPr>
        <p:spPr bwMode="auto">
          <a:xfrm>
            <a:off x="3730382" y="2631475"/>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37" name="Text Box 55"/>
          <p:cNvSpPr txBox="1">
            <a:spLocks noChangeArrowheads="1"/>
          </p:cNvSpPr>
          <p:nvPr/>
        </p:nvSpPr>
        <p:spPr bwMode="auto">
          <a:xfrm rot="16200000">
            <a:off x="3246779" y="1972818"/>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39" name="Rectangle 57"/>
          <p:cNvSpPr>
            <a:spLocks noChangeArrowheads="1"/>
          </p:cNvSpPr>
          <p:nvPr/>
        </p:nvSpPr>
        <p:spPr bwMode="auto">
          <a:xfrm>
            <a:off x="2707874" y="2759051"/>
            <a:ext cx="3537202" cy="599502"/>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40" name="Text Box 58"/>
          <p:cNvSpPr txBox="1">
            <a:spLocks noChangeArrowheads="1"/>
          </p:cNvSpPr>
          <p:nvPr/>
        </p:nvSpPr>
        <p:spPr bwMode="auto">
          <a:xfrm>
            <a:off x="3886521" y="2820245"/>
            <a:ext cx="110799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实体主体</a:t>
            </a:r>
          </a:p>
          <a:p>
            <a:pPr algn="ct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（通常不用）</a:t>
            </a:r>
          </a:p>
        </p:txBody>
      </p:sp>
      <p:sp>
        <p:nvSpPr>
          <p:cNvPr id="42" name="Line 60"/>
          <p:cNvSpPr>
            <a:spLocks noChangeShapeType="1"/>
          </p:cNvSpPr>
          <p:nvPr/>
        </p:nvSpPr>
        <p:spPr bwMode="auto">
          <a:xfrm>
            <a:off x="2707874" y="1960405"/>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3" name="Line 61"/>
          <p:cNvSpPr>
            <a:spLocks noChangeShapeType="1"/>
          </p:cNvSpPr>
          <p:nvPr/>
        </p:nvSpPr>
        <p:spPr bwMode="auto">
          <a:xfrm>
            <a:off x="2707874" y="2493526"/>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4" name="Line 62"/>
          <p:cNvSpPr>
            <a:spLocks noChangeShapeType="1"/>
          </p:cNvSpPr>
          <p:nvPr/>
        </p:nvSpPr>
        <p:spPr bwMode="auto">
          <a:xfrm>
            <a:off x="3356211" y="2493526"/>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5" name="Line 63"/>
          <p:cNvSpPr>
            <a:spLocks noChangeShapeType="1"/>
          </p:cNvSpPr>
          <p:nvPr/>
        </p:nvSpPr>
        <p:spPr bwMode="auto">
          <a:xfrm>
            <a:off x="4928176" y="1960405"/>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6" name="Text Box 64"/>
          <p:cNvSpPr txBox="1">
            <a:spLocks noChangeArrowheads="1"/>
          </p:cNvSpPr>
          <p:nvPr/>
        </p:nvSpPr>
        <p:spPr bwMode="auto">
          <a:xfrm>
            <a:off x="3815778" y="996846"/>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空格</a:t>
            </a:r>
          </a:p>
        </p:txBody>
      </p:sp>
      <p:sp>
        <p:nvSpPr>
          <p:cNvPr id="47" name="Text Box 65"/>
          <p:cNvSpPr txBox="1">
            <a:spLocks noChangeArrowheads="1"/>
          </p:cNvSpPr>
          <p:nvPr/>
        </p:nvSpPr>
        <p:spPr bwMode="auto">
          <a:xfrm>
            <a:off x="5186612" y="996846"/>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回车换行</a:t>
            </a:r>
          </a:p>
        </p:txBody>
      </p:sp>
      <p:sp>
        <p:nvSpPr>
          <p:cNvPr id="48" name="Line 66"/>
          <p:cNvSpPr>
            <a:spLocks noChangeShapeType="1"/>
          </p:cNvSpPr>
          <p:nvPr/>
        </p:nvSpPr>
        <p:spPr bwMode="auto">
          <a:xfrm>
            <a:off x="4247254" y="1228141"/>
            <a:ext cx="288774"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9" name="Line 67"/>
          <p:cNvSpPr>
            <a:spLocks noChangeShapeType="1"/>
          </p:cNvSpPr>
          <p:nvPr/>
        </p:nvSpPr>
        <p:spPr bwMode="auto">
          <a:xfrm flipH="1">
            <a:off x="3592174" y="1228141"/>
            <a:ext cx="314618"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0" name="Line 68"/>
          <p:cNvSpPr>
            <a:spLocks noChangeShapeType="1"/>
          </p:cNvSpPr>
          <p:nvPr/>
        </p:nvSpPr>
        <p:spPr bwMode="auto">
          <a:xfrm>
            <a:off x="5609099" y="1228141"/>
            <a:ext cx="157309"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1" name="Line 69"/>
          <p:cNvSpPr>
            <a:spLocks noChangeShapeType="1"/>
          </p:cNvSpPr>
          <p:nvPr/>
        </p:nvSpPr>
        <p:spPr bwMode="auto">
          <a:xfrm>
            <a:off x="3985446"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2" name="Line 70"/>
          <p:cNvSpPr>
            <a:spLocks noChangeShapeType="1"/>
          </p:cNvSpPr>
          <p:nvPr/>
        </p:nvSpPr>
        <p:spPr bwMode="auto">
          <a:xfrm>
            <a:off x="3985446"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3" name="Text Box 71"/>
          <p:cNvSpPr txBox="1">
            <a:spLocks noChangeArrowheads="1"/>
          </p:cNvSpPr>
          <p:nvPr/>
        </p:nvSpPr>
        <p:spPr bwMode="auto">
          <a:xfrm>
            <a:off x="3744379" y="2228003"/>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54" name="Text Box 72"/>
          <p:cNvSpPr txBox="1">
            <a:spLocks noChangeArrowheads="1"/>
          </p:cNvSpPr>
          <p:nvPr/>
        </p:nvSpPr>
        <p:spPr bwMode="auto">
          <a:xfrm>
            <a:off x="5429318" y="1421061"/>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55" name="Text Box 75"/>
          <p:cNvSpPr txBox="1">
            <a:spLocks noChangeArrowheads="1"/>
          </p:cNvSpPr>
          <p:nvPr/>
        </p:nvSpPr>
        <p:spPr bwMode="auto">
          <a:xfrm>
            <a:off x="2710121" y="2488341"/>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59" name="Text Box 73"/>
          <p:cNvSpPr txBox="1">
            <a:spLocks noChangeArrowheads="1"/>
          </p:cNvSpPr>
          <p:nvPr/>
        </p:nvSpPr>
        <p:spPr bwMode="auto">
          <a:xfrm>
            <a:off x="4310177" y="2232152"/>
            <a:ext cx="601144"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60" name="Text Box 74"/>
          <p:cNvSpPr txBox="1">
            <a:spLocks noChangeArrowheads="1"/>
          </p:cNvSpPr>
          <p:nvPr/>
        </p:nvSpPr>
        <p:spPr bwMode="auto">
          <a:xfrm>
            <a:off x="4314671" y="1703180"/>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61" name="矩形 60"/>
          <p:cNvSpPr/>
          <p:nvPr/>
        </p:nvSpPr>
        <p:spPr>
          <a:xfrm>
            <a:off x="1346773" y="3448136"/>
            <a:ext cx="6636391" cy="328551"/>
          </a:xfrm>
          <a:prstGeom prst="rect">
            <a:avLst/>
          </a:prstGeom>
          <a:solidFill>
            <a:srgbClr val="00FFFF"/>
          </a:solidFill>
          <a:ln>
            <a:solidFill>
              <a:schemeClr val="tx1"/>
            </a:solidFill>
          </a:ln>
        </p:spPr>
        <p:txBody>
          <a:bodyPr wrap="square">
            <a:spAutoFit/>
          </a:bodyPr>
          <a:lstStyle/>
          <a:p>
            <a:pPr>
              <a:lnSpc>
                <a:spcPts val="2000"/>
              </a:lnSpc>
            </a:pPr>
            <a:r>
              <a:rPr kumimoji="1" lang="zh-CN" altLang="en-US" sz="1400" b="1" dirty="0">
                <a:latin typeface="微软雅黑 Light" panose="020B0502040204020203" pitchFamily="34" charset="-122"/>
                <a:ea typeface="微软雅黑 Light" panose="020B0502040204020203" pitchFamily="34" charset="-122"/>
              </a:rPr>
              <a:t>版本：</a:t>
            </a:r>
            <a:r>
              <a:rPr kumimoji="1" lang="en-US" altLang="zh-CN" sz="1400" b="1" dirty="0">
                <a:latin typeface="微软雅黑 Light" panose="020B0502040204020203" pitchFamily="34" charset="-122"/>
                <a:ea typeface="微软雅黑 Light" panose="020B0502040204020203" pitchFamily="34" charset="-122"/>
              </a:rPr>
              <a:t>HTTP </a:t>
            </a:r>
            <a:r>
              <a:rPr kumimoji="1" lang="zh-CN" altLang="en-US" sz="1400" b="1" dirty="0">
                <a:latin typeface="微软雅黑 Light" panose="020B0502040204020203" pitchFamily="34" charset="-122"/>
                <a:ea typeface="微软雅黑 Light" panose="020B0502040204020203" pitchFamily="34" charset="-122"/>
              </a:rPr>
              <a:t>的版本。</a:t>
            </a:r>
          </a:p>
        </p:txBody>
      </p:sp>
      <p:sp>
        <p:nvSpPr>
          <p:cNvPr id="69" name="Text Box 133"/>
          <p:cNvSpPr txBox="1">
            <a:spLocks noChangeArrowheads="1"/>
          </p:cNvSpPr>
          <p:nvPr/>
        </p:nvSpPr>
        <p:spPr bwMode="auto">
          <a:xfrm>
            <a:off x="1891003" y="1405666"/>
            <a:ext cx="723619" cy="308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请求行</a:t>
            </a:r>
          </a:p>
        </p:txBody>
      </p:sp>
      <p:sp>
        <p:nvSpPr>
          <p:cNvPr id="70" name="Text Box 47"/>
          <p:cNvSpPr txBox="1">
            <a:spLocks noChangeArrowheads="1"/>
          </p:cNvSpPr>
          <p:nvPr/>
        </p:nvSpPr>
        <p:spPr bwMode="auto">
          <a:xfrm>
            <a:off x="1876736" y="1947539"/>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首部行</a:t>
            </a:r>
          </a:p>
        </p:txBody>
      </p:sp>
      <p:sp>
        <p:nvSpPr>
          <p:cNvPr id="71" name="AutoShape 56"/>
          <p:cNvSpPr>
            <a:spLocks/>
          </p:cNvSpPr>
          <p:nvPr/>
        </p:nvSpPr>
        <p:spPr bwMode="auto">
          <a:xfrm flipH="1">
            <a:off x="2545337" y="1722010"/>
            <a:ext cx="157309" cy="765455"/>
          </a:xfrm>
          <a:prstGeom prst="rightBrace">
            <a:avLst>
              <a:gd name="adj1" fmla="val 43929"/>
              <a:gd name="adj2" fmla="val 50000"/>
            </a:avLst>
          </a:prstGeom>
          <a:noFill/>
          <a:ln w="19050">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64" name="Rectangle 132"/>
          <p:cNvSpPr>
            <a:spLocks noChangeArrowheads="1"/>
          </p:cNvSpPr>
          <p:nvPr/>
        </p:nvSpPr>
        <p:spPr bwMode="auto">
          <a:xfrm>
            <a:off x="4555129" y="1395872"/>
            <a:ext cx="948557" cy="328794"/>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17580547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750"/>
                                  </p:stCondLst>
                                  <p:childTnLst>
                                    <p:anim calcmode="discrete" valueType="str">
                                      <p:cBhvr>
                                        <p:cTn id="6" dur="500" fill="hold"/>
                                        <p:tgtEl>
                                          <p:spTgt spid="6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4" grpId="0" animBg="1"/>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 name="AutoShape 5"/>
          <p:cNvSpPr>
            <a:spLocks noChangeArrowheads="1"/>
          </p:cNvSpPr>
          <p:nvPr/>
        </p:nvSpPr>
        <p:spPr bwMode="auto">
          <a:xfrm>
            <a:off x="556963" y="612150"/>
            <a:ext cx="8048776"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68" name="矩形 67"/>
          <p:cNvSpPr/>
          <p:nvPr/>
        </p:nvSpPr>
        <p:spPr>
          <a:xfrm>
            <a:off x="645268" y="569910"/>
            <a:ext cx="2504788"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000" b="1" dirty="0">
                <a:latin typeface="微软雅黑 Light" panose="020B0502040204020203" pitchFamily="34" charset="-122"/>
                <a:ea typeface="微软雅黑 Light" panose="020B0502040204020203" pitchFamily="34" charset="-122"/>
              </a:rPr>
              <a:t>HTTP </a:t>
            </a:r>
            <a:r>
              <a:rPr lang="zh-CN" altLang="en-US" sz="2000" b="1" dirty="0">
                <a:latin typeface="微软雅黑 Light" panose="020B0502040204020203" pitchFamily="34" charset="-122"/>
                <a:ea typeface="微软雅黑 Light" panose="020B0502040204020203" pitchFamily="34" charset="-122"/>
              </a:rPr>
              <a:t>请求报文举例</a:t>
            </a:r>
          </a:p>
        </p:txBody>
      </p:sp>
      <p:sp>
        <p:nvSpPr>
          <p:cNvPr id="2" name="矩形 1"/>
          <p:cNvSpPr/>
          <p:nvPr/>
        </p:nvSpPr>
        <p:spPr>
          <a:xfrm>
            <a:off x="1615736" y="1012260"/>
            <a:ext cx="3400148" cy="2092881"/>
          </a:xfrm>
          <a:prstGeom prst="rect">
            <a:avLst/>
          </a:prstGeom>
        </p:spPr>
        <p:txBody>
          <a:bodyPr wrap="square">
            <a:spAutoFit/>
          </a:bodyPr>
          <a:lstStyle/>
          <a:p>
            <a:pPr>
              <a:lnSpc>
                <a:spcPts val="2600"/>
              </a:lnSpc>
              <a:spcAft>
                <a:spcPts val="0"/>
              </a:spcAft>
            </a:pPr>
            <a:r>
              <a:rPr lang="en-US" altLang="zh-CN" b="1" kern="5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rPr>
              <a:t>GET /</a:t>
            </a:r>
            <a:r>
              <a:rPr lang="en-US" altLang="zh-CN" b="1" kern="500" dirty="0" err="1">
                <a:solidFill>
                  <a:srgbClr val="C00000"/>
                </a:solidFill>
                <a:latin typeface="Montserrat" panose="00000500000000000000" pitchFamily="2" charset="0"/>
                <a:ea typeface="微软雅黑 Light" panose="020B0502040204020203" pitchFamily="34" charset="-122"/>
                <a:cs typeface="Times New Roman" panose="02020603050405020304" pitchFamily="18" charset="0"/>
              </a:rPr>
              <a:t>dir</a:t>
            </a:r>
            <a:r>
              <a:rPr lang="en-US" altLang="zh-CN" b="1" kern="5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rPr>
              <a:t>/index.htm HTTP/1.1</a:t>
            </a:r>
          </a:p>
          <a:p>
            <a:pPr>
              <a:lnSpc>
                <a:spcPts val="2600"/>
              </a:lnSpc>
              <a:spcAft>
                <a:spcPts val="0"/>
              </a:spcAft>
            </a:pPr>
            <a:r>
              <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Host: www.xyz.edu.cn</a:t>
            </a:r>
          </a:p>
          <a:p>
            <a:pPr>
              <a:lnSpc>
                <a:spcPts val="2600"/>
              </a:lnSpc>
              <a:spcAft>
                <a:spcPts val="0"/>
              </a:spcAft>
            </a:pPr>
            <a:r>
              <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Connection: close</a:t>
            </a:r>
          </a:p>
          <a:p>
            <a:pPr>
              <a:lnSpc>
                <a:spcPts val="2600"/>
              </a:lnSpc>
              <a:spcAft>
                <a:spcPts val="0"/>
              </a:spcAft>
            </a:pPr>
            <a:r>
              <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User-Agent: Mozilla/5.0</a:t>
            </a:r>
          </a:p>
          <a:p>
            <a:pPr>
              <a:lnSpc>
                <a:spcPts val="2600"/>
              </a:lnSpc>
              <a:spcAft>
                <a:spcPts val="0"/>
              </a:spcAft>
            </a:pPr>
            <a:r>
              <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Accept-Language: </a:t>
            </a:r>
            <a:r>
              <a:rPr lang="en-US" altLang="zh-CN" b="1" kern="500" dirty="0" err="1">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cn</a:t>
            </a:r>
            <a:endPar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endParaRPr>
          </a:p>
          <a:p>
            <a:pPr>
              <a:lnSpc>
                <a:spcPts val="2600"/>
              </a:lnSpc>
              <a:spcAft>
                <a:spcPts val="0"/>
              </a:spcAft>
            </a:pPr>
            <a:r>
              <a:rPr lang="en-US" altLang="zh-CN" b="1" kern="500" dirty="0">
                <a:solidFill>
                  <a:schemeClr val="tx1">
                    <a:lumMod val="95000"/>
                    <a:lumOff val="5000"/>
                  </a:schemeClr>
                </a:solidFill>
                <a:latin typeface="Montserrat" panose="00000500000000000000" pitchFamily="2" charset="0"/>
                <a:ea typeface="微软雅黑 Light" panose="020B0502040204020203" pitchFamily="34" charset="-122"/>
                <a:cs typeface="Times New Roman" panose="02020603050405020304" pitchFamily="18" charset="0"/>
              </a:rPr>
              <a:t>CRLF</a:t>
            </a:r>
          </a:p>
        </p:txBody>
      </p:sp>
      <p:sp>
        <p:nvSpPr>
          <p:cNvPr id="3" name="矩形 2"/>
          <p:cNvSpPr/>
          <p:nvPr/>
        </p:nvSpPr>
        <p:spPr>
          <a:xfrm>
            <a:off x="4898150" y="1056648"/>
            <a:ext cx="1685077" cy="338554"/>
          </a:xfrm>
          <a:prstGeom prst="rect">
            <a:avLst/>
          </a:prstGeom>
        </p:spPr>
        <p:txBody>
          <a:bodyPr wrap="none">
            <a:spAutoFit/>
          </a:bodyPr>
          <a:lstStyle/>
          <a:p>
            <a:r>
              <a:rPr lang="zh-CN" altLang="en-US" sz="1600" b="1" dirty="0">
                <a:latin typeface="微软雅黑 Light" panose="020B0502040204020203" pitchFamily="34" charset="-122"/>
                <a:ea typeface="微软雅黑 Light" panose="020B0502040204020203" pitchFamily="34" charset="-122"/>
              </a:rPr>
              <a:t>使用了相对 </a:t>
            </a:r>
            <a:r>
              <a:rPr lang="en-US" altLang="zh-CN" sz="1600" b="1" dirty="0">
                <a:latin typeface="微软雅黑 Light" panose="020B0502040204020203" pitchFamily="34" charset="-122"/>
                <a:ea typeface="微软雅黑 Light" panose="020B0502040204020203" pitchFamily="34" charset="-122"/>
              </a:rPr>
              <a:t>URL</a:t>
            </a:r>
            <a:endParaRPr lang="zh-CN" altLang="en-US" sz="1600" b="1" dirty="0">
              <a:latin typeface="微软雅黑 Light" panose="020B0502040204020203" pitchFamily="34" charset="-122"/>
              <a:ea typeface="微软雅黑 Light" panose="020B0502040204020203" pitchFamily="34" charset="-122"/>
            </a:endParaRPr>
          </a:p>
        </p:txBody>
      </p:sp>
      <p:sp>
        <p:nvSpPr>
          <p:cNvPr id="63" name="Text Box 133"/>
          <p:cNvSpPr txBox="1">
            <a:spLocks noChangeArrowheads="1"/>
          </p:cNvSpPr>
          <p:nvPr/>
        </p:nvSpPr>
        <p:spPr bwMode="auto">
          <a:xfrm>
            <a:off x="759679" y="1087150"/>
            <a:ext cx="723619" cy="308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请求行</a:t>
            </a:r>
          </a:p>
        </p:txBody>
      </p:sp>
      <p:sp>
        <p:nvSpPr>
          <p:cNvPr id="65" name="Text Box 47"/>
          <p:cNvSpPr txBox="1">
            <a:spLocks noChangeArrowheads="1"/>
          </p:cNvSpPr>
          <p:nvPr/>
        </p:nvSpPr>
        <p:spPr bwMode="auto">
          <a:xfrm>
            <a:off x="745412" y="1850973"/>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首部行</a:t>
            </a:r>
          </a:p>
        </p:txBody>
      </p:sp>
      <p:sp>
        <p:nvSpPr>
          <p:cNvPr id="66" name="AutoShape 56"/>
          <p:cNvSpPr>
            <a:spLocks/>
          </p:cNvSpPr>
          <p:nvPr/>
        </p:nvSpPr>
        <p:spPr bwMode="auto">
          <a:xfrm flipH="1">
            <a:off x="1433175" y="1474518"/>
            <a:ext cx="167949" cy="1144395"/>
          </a:xfrm>
          <a:prstGeom prst="rightBrace">
            <a:avLst>
              <a:gd name="adj1" fmla="val 43929"/>
              <a:gd name="adj2" fmla="val 50000"/>
            </a:avLst>
          </a:prstGeom>
          <a:noFill/>
          <a:ln w="19050">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72" name="矩形 71"/>
          <p:cNvSpPr/>
          <p:nvPr/>
        </p:nvSpPr>
        <p:spPr>
          <a:xfrm>
            <a:off x="4898150" y="1396606"/>
            <a:ext cx="2852063" cy="338554"/>
          </a:xfrm>
          <a:prstGeom prst="rect">
            <a:avLst/>
          </a:prstGeom>
        </p:spPr>
        <p:txBody>
          <a:bodyPr wrap="none">
            <a:spAutoFit/>
          </a:bodyPr>
          <a:lstStyle/>
          <a:p>
            <a:r>
              <a:rPr lang="zh-CN" altLang="en-US" sz="1600" b="1" dirty="0">
                <a:latin typeface="微软雅黑 Light" panose="020B0502040204020203" pitchFamily="34" charset="-122"/>
                <a:ea typeface="微软雅黑 Light" panose="020B0502040204020203" pitchFamily="34" charset="-122"/>
              </a:rPr>
              <a:t>首部行开始。给出主机的域名</a:t>
            </a:r>
          </a:p>
        </p:txBody>
      </p:sp>
      <p:sp>
        <p:nvSpPr>
          <p:cNvPr id="73" name="矩形 72"/>
          <p:cNvSpPr/>
          <p:nvPr/>
        </p:nvSpPr>
        <p:spPr>
          <a:xfrm>
            <a:off x="4898150" y="1712542"/>
            <a:ext cx="3877985" cy="338554"/>
          </a:xfrm>
          <a:prstGeom prst="rect">
            <a:avLst/>
          </a:prstGeom>
        </p:spPr>
        <p:txBody>
          <a:bodyPr wrap="none">
            <a:spAutoFit/>
          </a:bodyPr>
          <a:lstStyle/>
          <a:p>
            <a:r>
              <a:rPr lang="zh-CN" altLang="en-US" sz="1600" b="1" dirty="0">
                <a:latin typeface="微软雅黑 Light" panose="020B0502040204020203" pitchFamily="34" charset="-122"/>
                <a:ea typeface="微软雅黑 Light" panose="020B0502040204020203" pitchFamily="34" charset="-122"/>
              </a:rPr>
              <a:t>告诉服务器发送完请求的文档后释放连接</a:t>
            </a:r>
          </a:p>
        </p:txBody>
      </p:sp>
      <p:sp>
        <p:nvSpPr>
          <p:cNvPr id="74" name="矩形 73"/>
          <p:cNvSpPr/>
          <p:nvPr/>
        </p:nvSpPr>
        <p:spPr>
          <a:xfrm>
            <a:off x="4898150" y="2052500"/>
            <a:ext cx="3627596" cy="338554"/>
          </a:xfrm>
          <a:prstGeom prst="rect">
            <a:avLst/>
          </a:prstGeom>
        </p:spPr>
        <p:txBody>
          <a:bodyPr wrap="none">
            <a:spAutoFit/>
          </a:bodyPr>
          <a:lstStyle/>
          <a:p>
            <a:r>
              <a:rPr lang="zh-CN" altLang="en-US" sz="1600" b="1" dirty="0">
                <a:latin typeface="微软雅黑 Light" panose="020B0502040204020203" pitchFamily="34" charset="-122"/>
                <a:ea typeface="微软雅黑 Light" panose="020B0502040204020203" pitchFamily="34" charset="-122"/>
              </a:rPr>
              <a:t>表明用户代理使用火狐浏览器 </a:t>
            </a:r>
            <a:r>
              <a:rPr lang="en-US" altLang="zh-CN" sz="1600" b="1" dirty="0">
                <a:latin typeface="微软雅黑 Light" panose="020B0502040204020203" pitchFamily="34" charset="-122"/>
                <a:ea typeface="微软雅黑 Light" panose="020B0502040204020203" pitchFamily="34" charset="-122"/>
              </a:rPr>
              <a:t>Firefox</a:t>
            </a:r>
            <a:endParaRPr lang="zh-CN" altLang="en-US" sz="1600" b="1" dirty="0">
              <a:latin typeface="微软雅黑 Light" panose="020B0502040204020203" pitchFamily="34" charset="-122"/>
              <a:ea typeface="微软雅黑 Light" panose="020B0502040204020203" pitchFamily="34" charset="-122"/>
            </a:endParaRPr>
          </a:p>
        </p:txBody>
      </p:sp>
      <p:sp>
        <p:nvSpPr>
          <p:cNvPr id="75" name="矩形 74"/>
          <p:cNvSpPr/>
          <p:nvPr/>
        </p:nvSpPr>
        <p:spPr>
          <a:xfrm>
            <a:off x="4898150" y="2396862"/>
            <a:ext cx="3672800" cy="338554"/>
          </a:xfrm>
          <a:prstGeom prst="rect">
            <a:avLst/>
          </a:prstGeom>
        </p:spPr>
        <p:txBody>
          <a:bodyPr wrap="none">
            <a:spAutoFit/>
          </a:bodyPr>
          <a:lstStyle/>
          <a:p>
            <a:r>
              <a:rPr lang="zh-CN" altLang="en-US" sz="1600" b="1" dirty="0">
                <a:latin typeface="微软雅黑 Light" panose="020B0502040204020203" pitchFamily="34" charset="-122"/>
                <a:ea typeface="微软雅黑 Light" panose="020B0502040204020203" pitchFamily="34" charset="-122"/>
              </a:rPr>
              <a:t>表示用户希望优先得到中文版本的文档</a:t>
            </a:r>
          </a:p>
        </p:txBody>
      </p:sp>
      <p:sp>
        <p:nvSpPr>
          <p:cNvPr id="76" name="矩形 75"/>
          <p:cNvSpPr/>
          <p:nvPr/>
        </p:nvSpPr>
        <p:spPr>
          <a:xfrm>
            <a:off x="4898150" y="2736820"/>
            <a:ext cx="2646878" cy="338554"/>
          </a:xfrm>
          <a:prstGeom prst="rect">
            <a:avLst/>
          </a:prstGeom>
        </p:spPr>
        <p:txBody>
          <a:bodyPr wrap="none">
            <a:spAutoFit/>
          </a:bodyPr>
          <a:lstStyle/>
          <a:p>
            <a:r>
              <a:rPr lang="zh-CN" altLang="en-US" sz="1600" b="1" dirty="0">
                <a:latin typeface="微软雅黑 Light" panose="020B0502040204020203" pitchFamily="34" charset="-122"/>
                <a:ea typeface="微软雅黑 Light" panose="020B0502040204020203" pitchFamily="34" charset="-122"/>
              </a:rPr>
              <a:t>请求报文的最后一行为空行</a:t>
            </a:r>
          </a:p>
        </p:txBody>
      </p:sp>
      <p:sp>
        <p:nvSpPr>
          <p:cNvPr id="77" name="矩形 76"/>
          <p:cNvSpPr/>
          <p:nvPr/>
        </p:nvSpPr>
        <p:spPr>
          <a:xfrm>
            <a:off x="4898150" y="3071423"/>
            <a:ext cx="1415772" cy="338554"/>
          </a:xfrm>
          <a:prstGeom prst="rect">
            <a:avLst/>
          </a:prstGeom>
        </p:spPr>
        <p:txBody>
          <a:bodyPr wrap="none">
            <a:spAutoFit/>
          </a:bodyPr>
          <a:lstStyle/>
          <a:p>
            <a:r>
              <a:rPr lang="zh-CN" altLang="en-US" sz="1600" b="1" dirty="0">
                <a:solidFill>
                  <a:srgbClr val="0000FF"/>
                </a:solidFill>
                <a:latin typeface="微软雅黑 Light" panose="020B0502040204020203" pitchFamily="34" charset="-122"/>
                <a:ea typeface="微软雅黑 Light" panose="020B0502040204020203" pitchFamily="34" charset="-122"/>
              </a:rPr>
              <a:t>没有实体主体</a:t>
            </a:r>
          </a:p>
        </p:txBody>
      </p:sp>
    </p:spTree>
    <p:extLst>
      <p:ext uri="{BB962C8B-B14F-4D97-AF65-F5344CB8AC3E}">
        <p14:creationId xmlns:p14="http://schemas.microsoft.com/office/powerpoint/2010/main" val="14364683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2">
                                            <p:txEl>
                                              <p:pRg st="0" end="0"/>
                                            </p:txEl>
                                          </p:spTgt>
                                        </p:tgtEl>
                                        <p:attrNameLst>
                                          <p:attrName>style.visibility</p:attrName>
                                        </p:attrNameLst>
                                      </p:cBhvr>
                                      <p:to>
                                        <p:strVal val="visible"/>
                                      </p:to>
                                    </p:set>
                                    <p:animEffect transition="in" filter="fade">
                                      <p:cBhvr>
                                        <p:cTn id="12" dur="1000"/>
                                        <p:tgtEl>
                                          <p:spTgt spid="72">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73">
                                            <p:txEl>
                                              <p:pRg st="0" end="0"/>
                                            </p:txEl>
                                          </p:spTgt>
                                        </p:tgtEl>
                                        <p:attrNameLst>
                                          <p:attrName>style.visibility</p:attrName>
                                        </p:attrNameLst>
                                      </p:cBhvr>
                                      <p:to>
                                        <p:strVal val="visible"/>
                                      </p:to>
                                    </p:set>
                                    <p:animEffect transition="in" filter="fade">
                                      <p:cBhvr>
                                        <p:cTn id="17" dur="1000"/>
                                        <p:tgtEl>
                                          <p:spTgt spid="73">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74">
                                            <p:txEl>
                                              <p:pRg st="0" end="0"/>
                                            </p:txEl>
                                          </p:spTgt>
                                        </p:tgtEl>
                                        <p:attrNameLst>
                                          <p:attrName>style.visibility</p:attrName>
                                        </p:attrNameLst>
                                      </p:cBhvr>
                                      <p:to>
                                        <p:strVal val="visible"/>
                                      </p:to>
                                    </p:set>
                                    <p:animEffect transition="in" filter="fade">
                                      <p:cBhvr>
                                        <p:cTn id="22" dur="1000"/>
                                        <p:tgtEl>
                                          <p:spTgt spid="74">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5">
                                            <p:txEl>
                                              <p:pRg st="0" end="0"/>
                                            </p:txEl>
                                          </p:spTgt>
                                        </p:tgtEl>
                                        <p:attrNameLst>
                                          <p:attrName>style.visibility</p:attrName>
                                        </p:attrNameLst>
                                      </p:cBhvr>
                                      <p:to>
                                        <p:strVal val="visible"/>
                                      </p:to>
                                    </p:set>
                                    <p:animEffect transition="in" filter="fade">
                                      <p:cBhvr>
                                        <p:cTn id="27" dur="1000"/>
                                        <p:tgtEl>
                                          <p:spTgt spid="75">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76">
                                            <p:txEl>
                                              <p:pRg st="0" end="0"/>
                                            </p:txEl>
                                          </p:spTgt>
                                        </p:tgtEl>
                                        <p:attrNameLst>
                                          <p:attrName>style.visibility</p:attrName>
                                        </p:attrNameLst>
                                      </p:cBhvr>
                                      <p:to>
                                        <p:strVal val="visible"/>
                                      </p:to>
                                    </p:set>
                                    <p:animEffect transition="in" filter="fade">
                                      <p:cBhvr>
                                        <p:cTn id="32" dur="1000"/>
                                        <p:tgtEl>
                                          <p:spTgt spid="76">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77">
                                            <p:txEl>
                                              <p:pRg st="0" end="0"/>
                                            </p:txEl>
                                          </p:spTgt>
                                        </p:tgtEl>
                                        <p:attrNameLst>
                                          <p:attrName>style.visibility</p:attrName>
                                        </p:attrNameLst>
                                      </p:cBhvr>
                                      <p:to>
                                        <p:strVal val="visible"/>
                                      </p:to>
                                    </p:set>
                                    <p:animEffect transition="in" filter="fade">
                                      <p:cBhvr>
                                        <p:cTn id="37" dur="1000"/>
                                        <p:tgtEl>
                                          <p:spTgt spid="7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72" grpId="0" build="p"/>
      <p:bldP spid="73" grpId="0" build="p"/>
      <p:bldP spid="74" grpId="0" build="p"/>
      <p:bldP spid="75" grpId="0" build="p"/>
      <p:bldP spid="76" grpId="0" build="p"/>
      <p:bldP spid="77" grpId="0" build="p"/>
    </p:bld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 name="Rectangle 51"/>
          <p:cNvSpPr>
            <a:spLocks noChangeArrowheads="1"/>
          </p:cNvSpPr>
          <p:nvPr/>
        </p:nvSpPr>
        <p:spPr bwMode="auto">
          <a:xfrm>
            <a:off x="2707874" y="2220904"/>
            <a:ext cx="2220302" cy="266560"/>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19" name="Rectangle 43"/>
          <p:cNvSpPr>
            <a:spLocks noChangeArrowheads="1"/>
          </p:cNvSpPr>
          <p:nvPr/>
        </p:nvSpPr>
        <p:spPr bwMode="auto">
          <a:xfrm>
            <a:off x="2707874" y="1687782"/>
            <a:ext cx="2220302" cy="266560"/>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42" name="Rectangle 34"/>
          <p:cNvSpPr>
            <a:spLocks noChangeArrowheads="1"/>
          </p:cNvSpPr>
          <p:nvPr/>
        </p:nvSpPr>
        <p:spPr bwMode="auto">
          <a:xfrm>
            <a:off x="2707874" y="1422258"/>
            <a:ext cx="3398995" cy="26552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51" name="Rectangle 23"/>
          <p:cNvSpPr>
            <a:spLocks noChangeArrowheads="1"/>
          </p:cNvSpPr>
          <p:nvPr/>
        </p:nvSpPr>
        <p:spPr bwMode="auto">
          <a:xfrm>
            <a:off x="4300064" y="2227127"/>
            <a:ext cx="628112" cy="254114"/>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52" name="Rectangle 24"/>
          <p:cNvSpPr>
            <a:spLocks noChangeArrowheads="1"/>
          </p:cNvSpPr>
          <p:nvPr/>
        </p:nvSpPr>
        <p:spPr bwMode="auto">
          <a:xfrm>
            <a:off x="2712369" y="2499910"/>
            <a:ext cx="643842" cy="25307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53" name="Rectangle 25"/>
          <p:cNvSpPr>
            <a:spLocks noChangeArrowheads="1"/>
          </p:cNvSpPr>
          <p:nvPr/>
        </p:nvSpPr>
        <p:spPr bwMode="auto">
          <a:xfrm>
            <a:off x="4300064" y="1694005"/>
            <a:ext cx="628112" cy="26033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54" name="Rectangle 26"/>
          <p:cNvSpPr>
            <a:spLocks noChangeArrowheads="1"/>
          </p:cNvSpPr>
          <p:nvPr/>
        </p:nvSpPr>
        <p:spPr bwMode="auto">
          <a:xfrm>
            <a:off x="3906792" y="2227126"/>
            <a:ext cx="85396"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55" name="Rectangle 27"/>
          <p:cNvSpPr>
            <a:spLocks noChangeArrowheads="1"/>
          </p:cNvSpPr>
          <p:nvPr/>
        </p:nvSpPr>
        <p:spPr bwMode="auto">
          <a:xfrm>
            <a:off x="3906792" y="1694005"/>
            <a:ext cx="78654"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56" name="Line 28"/>
          <p:cNvSpPr>
            <a:spLocks noChangeShapeType="1"/>
          </p:cNvSpPr>
          <p:nvPr/>
        </p:nvSpPr>
        <p:spPr bwMode="auto">
          <a:xfrm>
            <a:off x="3809036"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7" name="Line 29"/>
          <p:cNvSpPr>
            <a:spLocks noChangeShapeType="1"/>
          </p:cNvSpPr>
          <p:nvPr/>
        </p:nvSpPr>
        <p:spPr bwMode="auto">
          <a:xfrm>
            <a:off x="4300064"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8" name="Line 30"/>
          <p:cNvSpPr>
            <a:spLocks noChangeShapeType="1"/>
          </p:cNvSpPr>
          <p:nvPr/>
        </p:nvSpPr>
        <p:spPr bwMode="auto">
          <a:xfrm>
            <a:off x="3906792"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9" name="Rectangle 31"/>
          <p:cNvSpPr>
            <a:spLocks noChangeArrowheads="1"/>
          </p:cNvSpPr>
          <p:nvPr/>
        </p:nvSpPr>
        <p:spPr bwMode="auto">
          <a:xfrm>
            <a:off x="5458532" y="1428482"/>
            <a:ext cx="648337" cy="259300"/>
          </a:xfrm>
          <a:prstGeom prst="rect">
            <a:avLst/>
          </a:prstGeom>
          <a:solidFill>
            <a:srgbClr val="00B0F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60" name="Rectangle 32"/>
          <p:cNvSpPr>
            <a:spLocks noChangeArrowheads="1"/>
          </p:cNvSpPr>
          <p:nvPr/>
        </p:nvSpPr>
        <p:spPr bwMode="auto">
          <a:xfrm>
            <a:off x="4515802" y="1428482"/>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61" name="Rectangle 33"/>
          <p:cNvSpPr>
            <a:spLocks noChangeArrowheads="1"/>
          </p:cNvSpPr>
          <p:nvPr/>
        </p:nvSpPr>
        <p:spPr bwMode="auto">
          <a:xfrm>
            <a:off x="3573073" y="1428482"/>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62" name="Text Box 35"/>
          <p:cNvSpPr txBox="1">
            <a:spLocks noChangeArrowheads="1"/>
          </p:cNvSpPr>
          <p:nvPr/>
        </p:nvSpPr>
        <p:spPr bwMode="auto">
          <a:xfrm>
            <a:off x="2829227" y="1414998"/>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zh-CN" altLang="en-US" sz="1200" b="1" dirty="0">
                <a:latin typeface="微软雅黑 Light" panose="020B0502040204020203" pitchFamily="34" charset="-122"/>
                <a:ea typeface="微软雅黑 Light" panose="020B0502040204020203" pitchFamily="34" charset="-122"/>
              </a:rPr>
              <a:t>版   本</a:t>
            </a:r>
          </a:p>
        </p:txBody>
      </p:sp>
      <p:sp>
        <p:nvSpPr>
          <p:cNvPr id="163" name="Line 36"/>
          <p:cNvSpPr>
            <a:spLocks noChangeShapeType="1"/>
          </p:cNvSpPr>
          <p:nvPr/>
        </p:nvSpPr>
        <p:spPr bwMode="auto">
          <a:xfrm>
            <a:off x="3573073"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4" name="Line 37"/>
          <p:cNvSpPr>
            <a:spLocks noChangeShapeType="1"/>
          </p:cNvSpPr>
          <p:nvPr/>
        </p:nvSpPr>
        <p:spPr bwMode="auto">
          <a:xfrm>
            <a:off x="3651727"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5" name="Line 38"/>
          <p:cNvSpPr>
            <a:spLocks noChangeShapeType="1"/>
          </p:cNvSpPr>
          <p:nvPr/>
        </p:nvSpPr>
        <p:spPr bwMode="auto">
          <a:xfrm>
            <a:off x="4515802"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6" name="Line 39"/>
          <p:cNvSpPr>
            <a:spLocks noChangeShapeType="1"/>
          </p:cNvSpPr>
          <p:nvPr/>
        </p:nvSpPr>
        <p:spPr bwMode="auto">
          <a:xfrm>
            <a:off x="4594456"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7" name="Line 40"/>
          <p:cNvSpPr>
            <a:spLocks noChangeShapeType="1"/>
          </p:cNvSpPr>
          <p:nvPr/>
        </p:nvSpPr>
        <p:spPr bwMode="auto">
          <a:xfrm>
            <a:off x="5458532"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8" name="Text Box 41"/>
          <p:cNvSpPr txBox="1">
            <a:spLocks noChangeArrowheads="1"/>
          </p:cNvSpPr>
          <p:nvPr/>
        </p:nvSpPr>
        <p:spPr bwMode="auto">
          <a:xfrm>
            <a:off x="3802295" y="1414998"/>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zh-CN" altLang="en-US" sz="1200" b="1" dirty="0">
                <a:latin typeface="微软雅黑 Light" panose="020B0502040204020203" pitchFamily="34" charset="-122"/>
                <a:ea typeface="微软雅黑 Light" panose="020B0502040204020203" pitchFamily="34" charset="-122"/>
              </a:rPr>
              <a:t>状态码</a:t>
            </a:r>
          </a:p>
        </p:txBody>
      </p:sp>
      <p:sp>
        <p:nvSpPr>
          <p:cNvPr id="169" name="Text Box 42"/>
          <p:cNvSpPr txBox="1">
            <a:spLocks noChangeArrowheads="1"/>
          </p:cNvSpPr>
          <p:nvPr/>
        </p:nvSpPr>
        <p:spPr bwMode="auto">
          <a:xfrm>
            <a:off x="4684347" y="1414998"/>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zh-CN" altLang="en-US" sz="1200" b="1" dirty="0">
                <a:latin typeface="微软雅黑 Light" panose="020B0502040204020203" pitchFamily="34" charset="-122"/>
                <a:ea typeface="微软雅黑 Light" panose="020B0502040204020203" pitchFamily="34" charset="-122"/>
              </a:rPr>
              <a:t>短   语</a:t>
            </a:r>
          </a:p>
        </p:txBody>
      </p:sp>
      <p:sp>
        <p:nvSpPr>
          <p:cNvPr id="170" name="Text Box 44"/>
          <p:cNvSpPr txBox="1">
            <a:spLocks noChangeArrowheads="1"/>
          </p:cNvSpPr>
          <p:nvPr/>
        </p:nvSpPr>
        <p:spPr bwMode="auto">
          <a:xfrm>
            <a:off x="2713492" y="1684670"/>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171" name="Line 45"/>
          <p:cNvSpPr>
            <a:spLocks noChangeShapeType="1"/>
          </p:cNvSpPr>
          <p:nvPr/>
        </p:nvSpPr>
        <p:spPr bwMode="auto">
          <a:xfrm>
            <a:off x="3809036"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72" name="Line 46"/>
          <p:cNvSpPr>
            <a:spLocks noChangeShapeType="1"/>
          </p:cNvSpPr>
          <p:nvPr/>
        </p:nvSpPr>
        <p:spPr bwMode="auto">
          <a:xfrm>
            <a:off x="4300064"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73" name="Text Box 47"/>
          <p:cNvSpPr txBox="1">
            <a:spLocks noChangeArrowheads="1"/>
          </p:cNvSpPr>
          <p:nvPr/>
        </p:nvSpPr>
        <p:spPr bwMode="auto">
          <a:xfrm>
            <a:off x="1876736" y="1947539"/>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首部行</a:t>
            </a:r>
          </a:p>
        </p:txBody>
      </p:sp>
      <p:sp>
        <p:nvSpPr>
          <p:cNvPr id="174" name="Line 48"/>
          <p:cNvSpPr>
            <a:spLocks noChangeShapeType="1"/>
          </p:cNvSpPr>
          <p:nvPr/>
        </p:nvSpPr>
        <p:spPr bwMode="auto">
          <a:xfrm>
            <a:off x="3906792"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75" name="Text Box 49"/>
          <p:cNvSpPr txBox="1">
            <a:spLocks noChangeArrowheads="1"/>
          </p:cNvSpPr>
          <p:nvPr/>
        </p:nvSpPr>
        <p:spPr bwMode="auto">
          <a:xfrm>
            <a:off x="3744379" y="1685708"/>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176" name="Text Box 50"/>
          <p:cNvSpPr txBox="1">
            <a:spLocks noChangeArrowheads="1"/>
          </p:cNvSpPr>
          <p:nvPr/>
        </p:nvSpPr>
        <p:spPr bwMode="auto">
          <a:xfrm>
            <a:off x="3993312" y="1689857"/>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177" name="Text Box 52"/>
          <p:cNvSpPr txBox="1">
            <a:spLocks noChangeArrowheads="1"/>
          </p:cNvSpPr>
          <p:nvPr/>
        </p:nvSpPr>
        <p:spPr bwMode="auto">
          <a:xfrm>
            <a:off x="2710122" y="2212606"/>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178" name="Text Box 53"/>
          <p:cNvSpPr txBox="1">
            <a:spLocks noChangeArrowheads="1"/>
          </p:cNvSpPr>
          <p:nvPr/>
        </p:nvSpPr>
        <p:spPr bwMode="auto">
          <a:xfrm>
            <a:off x="4010166" y="2220904"/>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179" name="Text Box 54"/>
          <p:cNvSpPr txBox="1">
            <a:spLocks noChangeArrowheads="1"/>
          </p:cNvSpPr>
          <p:nvPr/>
        </p:nvSpPr>
        <p:spPr bwMode="auto">
          <a:xfrm>
            <a:off x="3730382" y="2625412"/>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180" name="Text Box 55"/>
          <p:cNvSpPr txBox="1">
            <a:spLocks noChangeArrowheads="1"/>
          </p:cNvSpPr>
          <p:nvPr/>
        </p:nvSpPr>
        <p:spPr bwMode="auto">
          <a:xfrm rot="16200000">
            <a:off x="3246779" y="1966755"/>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181" name="AutoShape 56"/>
          <p:cNvSpPr>
            <a:spLocks/>
          </p:cNvSpPr>
          <p:nvPr/>
        </p:nvSpPr>
        <p:spPr bwMode="auto">
          <a:xfrm flipH="1">
            <a:off x="2545337" y="1722010"/>
            <a:ext cx="157309" cy="765455"/>
          </a:xfrm>
          <a:prstGeom prst="rightBrace">
            <a:avLst>
              <a:gd name="adj1" fmla="val 43929"/>
              <a:gd name="adj2" fmla="val 50000"/>
            </a:avLst>
          </a:prstGeom>
          <a:noFill/>
          <a:ln w="19050">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82" name="Rectangle 57"/>
          <p:cNvSpPr>
            <a:spLocks noChangeArrowheads="1"/>
          </p:cNvSpPr>
          <p:nvPr/>
        </p:nvSpPr>
        <p:spPr bwMode="auto">
          <a:xfrm>
            <a:off x="2707874" y="2752988"/>
            <a:ext cx="3537202" cy="599502"/>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83" name="Text Box 58"/>
          <p:cNvSpPr txBox="1">
            <a:spLocks noChangeArrowheads="1"/>
          </p:cNvSpPr>
          <p:nvPr/>
        </p:nvSpPr>
        <p:spPr bwMode="auto">
          <a:xfrm>
            <a:off x="3450505" y="2796426"/>
            <a:ext cx="1980029"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实体主体</a:t>
            </a:r>
          </a:p>
          <a:p>
            <a:pPr algn="ctr"/>
            <a:r>
              <a:rPr kumimoji="1" lang="zh-CN" altLang="en-US" sz="1400" b="1" dirty="0">
                <a:solidFill>
                  <a:schemeClr val="bg1"/>
                </a:solidFill>
                <a:latin typeface="微软雅黑 Light" panose="020B0502040204020203" pitchFamily="34" charset="-122"/>
                <a:ea typeface="微软雅黑 Light" panose="020B0502040204020203" pitchFamily="34" charset="-122"/>
              </a:rPr>
              <a:t>（有些响应报文不用）</a:t>
            </a:r>
          </a:p>
        </p:txBody>
      </p:sp>
      <p:sp>
        <p:nvSpPr>
          <p:cNvPr id="185" name="Line 60"/>
          <p:cNvSpPr>
            <a:spLocks noChangeShapeType="1"/>
          </p:cNvSpPr>
          <p:nvPr/>
        </p:nvSpPr>
        <p:spPr bwMode="auto">
          <a:xfrm>
            <a:off x="2707874" y="1954342"/>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6" name="Line 61"/>
          <p:cNvSpPr>
            <a:spLocks noChangeShapeType="1"/>
          </p:cNvSpPr>
          <p:nvPr/>
        </p:nvSpPr>
        <p:spPr bwMode="auto">
          <a:xfrm>
            <a:off x="2707874" y="2487463"/>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7" name="Line 62"/>
          <p:cNvSpPr>
            <a:spLocks noChangeShapeType="1"/>
          </p:cNvSpPr>
          <p:nvPr/>
        </p:nvSpPr>
        <p:spPr bwMode="auto">
          <a:xfrm>
            <a:off x="3356211" y="2487463"/>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8" name="Line 63"/>
          <p:cNvSpPr>
            <a:spLocks noChangeShapeType="1"/>
          </p:cNvSpPr>
          <p:nvPr/>
        </p:nvSpPr>
        <p:spPr bwMode="auto">
          <a:xfrm>
            <a:off x="4928176" y="1954342"/>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9" name="Text Box 64"/>
          <p:cNvSpPr txBox="1">
            <a:spLocks noChangeArrowheads="1"/>
          </p:cNvSpPr>
          <p:nvPr/>
        </p:nvSpPr>
        <p:spPr bwMode="auto">
          <a:xfrm>
            <a:off x="3815778" y="99078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空格</a:t>
            </a:r>
          </a:p>
        </p:txBody>
      </p:sp>
      <p:sp>
        <p:nvSpPr>
          <p:cNvPr id="190" name="Text Box 65"/>
          <p:cNvSpPr txBox="1">
            <a:spLocks noChangeArrowheads="1"/>
          </p:cNvSpPr>
          <p:nvPr/>
        </p:nvSpPr>
        <p:spPr bwMode="auto">
          <a:xfrm>
            <a:off x="5186612" y="990783"/>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回车换行</a:t>
            </a:r>
          </a:p>
        </p:txBody>
      </p:sp>
      <p:sp>
        <p:nvSpPr>
          <p:cNvPr id="191" name="Line 66"/>
          <p:cNvSpPr>
            <a:spLocks noChangeShapeType="1"/>
          </p:cNvSpPr>
          <p:nvPr/>
        </p:nvSpPr>
        <p:spPr bwMode="auto">
          <a:xfrm>
            <a:off x="4247254" y="1222078"/>
            <a:ext cx="288774"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2" name="Line 67"/>
          <p:cNvSpPr>
            <a:spLocks noChangeShapeType="1"/>
          </p:cNvSpPr>
          <p:nvPr/>
        </p:nvSpPr>
        <p:spPr bwMode="auto">
          <a:xfrm flipH="1">
            <a:off x="3592174" y="1222078"/>
            <a:ext cx="314618"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3" name="Line 68"/>
          <p:cNvSpPr>
            <a:spLocks noChangeShapeType="1"/>
          </p:cNvSpPr>
          <p:nvPr/>
        </p:nvSpPr>
        <p:spPr bwMode="auto">
          <a:xfrm>
            <a:off x="5609099" y="1222078"/>
            <a:ext cx="157309"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4" name="Line 69"/>
          <p:cNvSpPr>
            <a:spLocks noChangeShapeType="1"/>
          </p:cNvSpPr>
          <p:nvPr/>
        </p:nvSpPr>
        <p:spPr bwMode="auto">
          <a:xfrm>
            <a:off x="3985446"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5" name="Line 70"/>
          <p:cNvSpPr>
            <a:spLocks noChangeShapeType="1"/>
          </p:cNvSpPr>
          <p:nvPr/>
        </p:nvSpPr>
        <p:spPr bwMode="auto">
          <a:xfrm>
            <a:off x="3985446"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6" name="Text Box 71"/>
          <p:cNvSpPr txBox="1">
            <a:spLocks noChangeArrowheads="1"/>
          </p:cNvSpPr>
          <p:nvPr/>
        </p:nvSpPr>
        <p:spPr bwMode="auto">
          <a:xfrm>
            <a:off x="3744379" y="2221940"/>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197" name="Text Box 72"/>
          <p:cNvSpPr txBox="1">
            <a:spLocks noChangeArrowheads="1"/>
          </p:cNvSpPr>
          <p:nvPr/>
        </p:nvSpPr>
        <p:spPr bwMode="auto">
          <a:xfrm>
            <a:off x="5429318" y="1414998"/>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200" name="Text Box 75"/>
          <p:cNvSpPr txBox="1">
            <a:spLocks noChangeArrowheads="1"/>
          </p:cNvSpPr>
          <p:nvPr/>
        </p:nvSpPr>
        <p:spPr bwMode="auto">
          <a:xfrm>
            <a:off x="2710121" y="2482278"/>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grpSp>
        <p:nvGrpSpPr>
          <p:cNvPr id="201" name="Group 134"/>
          <p:cNvGrpSpPr>
            <a:grpSpLocks/>
          </p:cNvGrpSpPr>
          <p:nvPr/>
        </p:nvGrpSpPr>
        <p:grpSpPr bwMode="auto">
          <a:xfrm>
            <a:off x="1891003" y="1386996"/>
            <a:ext cx="4354075" cy="328794"/>
            <a:chOff x="460" y="1045"/>
            <a:chExt cx="3875" cy="317"/>
          </a:xfrm>
        </p:grpSpPr>
        <p:sp>
          <p:nvSpPr>
            <p:cNvPr id="202" name="Rectangle 132"/>
            <p:cNvSpPr>
              <a:spLocks noChangeArrowheads="1"/>
            </p:cNvSpPr>
            <p:nvPr/>
          </p:nvSpPr>
          <p:spPr bwMode="auto">
            <a:xfrm>
              <a:off x="1111" y="1045"/>
              <a:ext cx="3224" cy="317"/>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203" name="Text Box 133"/>
            <p:cNvSpPr txBox="1">
              <a:spLocks noChangeArrowheads="1"/>
            </p:cNvSpPr>
            <p:nvPr/>
          </p:nvSpPr>
          <p:spPr bwMode="auto">
            <a:xfrm>
              <a:off x="460" y="1063"/>
              <a:ext cx="644" cy="2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400" b="1" dirty="0">
                  <a:latin typeface="微软雅黑 Light" panose="020B0502040204020203" pitchFamily="34" charset="-122"/>
                  <a:ea typeface="微软雅黑 Light" panose="020B0502040204020203" pitchFamily="34" charset="-122"/>
                </a:rPr>
                <a:t>状态行</a:t>
              </a:r>
            </a:p>
          </p:txBody>
        </p:sp>
      </p:grpSp>
      <p:sp>
        <p:nvSpPr>
          <p:cNvPr id="204" name="Text Box 73"/>
          <p:cNvSpPr txBox="1">
            <a:spLocks noChangeArrowheads="1"/>
          </p:cNvSpPr>
          <p:nvPr/>
        </p:nvSpPr>
        <p:spPr bwMode="auto">
          <a:xfrm>
            <a:off x="4310177" y="2226089"/>
            <a:ext cx="601144"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205" name="Text Box 74"/>
          <p:cNvSpPr txBox="1">
            <a:spLocks noChangeArrowheads="1"/>
          </p:cNvSpPr>
          <p:nvPr/>
        </p:nvSpPr>
        <p:spPr bwMode="auto">
          <a:xfrm>
            <a:off x="4314671" y="1697117"/>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206" name="矩形 205"/>
          <p:cNvSpPr/>
          <p:nvPr/>
        </p:nvSpPr>
        <p:spPr>
          <a:xfrm>
            <a:off x="1346773" y="3454660"/>
            <a:ext cx="6636391" cy="605294"/>
          </a:xfrm>
          <a:prstGeom prst="rect">
            <a:avLst/>
          </a:prstGeom>
          <a:solidFill>
            <a:srgbClr val="00FFFF"/>
          </a:solidFill>
          <a:ln>
            <a:solidFill>
              <a:schemeClr val="tx1"/>
            </a:solidFill>
          </a:ln>
        </p:spPr>
        <p:txBody>
          <a:bodyPr wrap="square">
            <a:spAutoFit/>
          </a:bodyPr>
          <a:lstStyle/>
          <a:p>
            <a:pPr>
              <a:lnSpc>
                <a:spcPts val="2000"/>
              </a:lnSpc>
            </a:pPr>
            <a:r>
              <a:rPr kumimoji="1" lang="zh-CN" altLang="en-US" sz="1400" b="1" dirty="0">
                <a:latin typeface="微软雅黑 Light" panose="020B0502040204020203" pitchFamily="34" charset="-122"/>
                <a:ea typeface="微软雅黑 Light" panose="020B0502040204020203" pitchFamily="34" charset="-122"/>
              </a:rPr>
              <a:t>在响应报文中，开始行是状态行。</a:t>
            </a:r>
            <a:endParaRPr kumimoji="1" lang="en-US" altLang="zh-CN" sz="1400" b="1" dirty="0">
              <a:latin typeface="微软雅黑 Light" panose="020B0502040204020203" pitchFamily="34" charset="-122"/>
              <a:ea typeface="微软雅黑 Light" panose="020B0502040204020203" pitchFamily="34" charset="-122"/>
            </a:endParaRPr>
          </a:p>
          <a:p>
            <a:pPr>
              <a:lnSpc>
                <a:spcPts val="2000"/>
              </a:lnSpc>
            </a:pPr>
            <a:r>
              <a:rPr kumimoji="1" lang="zh-CN" altLang="en-US" sz="1400" b="1" dirty="0">
                <a:latin typeface="微软雅黑 Light" panose="020B0502040204020203" pitchFamily="34" charset="-122"/>
                <a:ea typeface="微软雅黑 Light" panose="020B0502040204020203" pitchFamily="34" charset="-122"/>
              </a:rPr>
              <a:t>版本：</a:t>
            </a:r>
            <a:r>
              <a:rPr kumimoji="1" lang="en-US" altLang="zh-CN" sz="1400" b="1" dirty="0">
                <a:latin typeface="微软雅黑 Light" panose="020B0502040204020203" pitchFamily="34" charset="-122"/>
                <a:ea typeface="微软雅黑 Light" panose="020B0502040204020203" pitchFamily="34" charset="-122"/>
              </a:rPr>
              <a:t>HTTP </a:t>
            </a:r>
            <a:r>
              <a:rPr kumimoji="1" lang="zh-CN" altLang="en-US" sz="1400" b="1" dirty="0">
                <a:latin typeface="微软雅黑 Light" panose="020B0502040204020203" pitchFamily="34" charset="-122"/>
                <a:ea typeface="微软雅黑 Light" panose="020B0502040204020203" pitchFamily="34" charset="-122"/>
              </a:rPr>
              <a:t>的版本。状态码：服务器操作完成的状态。短语：解释状态码。</a:t>
            </a:r>
          </a:p>
        </p:txBody>
      </p:sp>
      <p:sp>
        <p:nvSpPr>
          <p:cNvPr id="2" name="标题 1">
            <a:extLst>
              <a:ext uri="{FF2B5EF4-FFF2-40B4-BE49-F238E27FC236}">
                <a16:creationId xmlns:a16="http://schemas.microsoft.com/office/drawing/2014/main" id="{CB2E8956-452E-84D6-8227-1F89AEA06D71}"/>
              </a:ext>
            </a:extLst>
          </p:cNvPr>
          <p:cNvSpPr>
            <a:spLocks noGrp="1"/>
          </p:cNvSpPr>
          <p:nvPr>
            <p:ph type="title"/>
          </p:nvPr>
        </p:nvSpPr>
        <p:spPr>
          <a:xfrm>
            <a:off x="2880000" y="144000"/>
            <a:ext cx="3384000" cy="338554"/>
          </a:xfrm>
        </p:spPr>
        <p:txBody>
          <a:bodyPr/>
          <a:lstStyle/>
          <a:p>
            <a:r>
              <a:rPr lang="en-US" altLang="zh-CN" dirty="0"/>
              <a:t>HTTP </a:t>
            </a:r>
            <a:r>
              <a:rPr lang="zh-CN" altLang="en-US" dirty="0"/>
              <a:t>的报文结构（响应报文）</a:t>
            </a:r>
          </a:p>
        </p:txBody>
      </p:sp>
    </p:spTree>
    <p:extLst>
      <p:ext uri="{BB962C8B-B14F-4D97-AF65-F5344CB8AC3E}">
        <p14:creationId xmlns:p14="http://schemas.microsoft.com/office/powerpoint/2010/main" val="182693975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500"/>
                                  </p:stCondLst>
                                  <p:childTnLst>
                                    <p:anim calcmode="discrete" valueType="str">
                                      <p:cBhvr>
                                        <p:cTn id="6" dur="1000" fill="hold"/>
                                        <p:tgtEl>
                                          <p:spTgt spid="20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68"/>
          <p:cNvSpPr>
            <a:spLocks noChangeArrowheads="1"/>
          </p:cNvSpPr>
          <p:nvPr/>
        </p:nvSpPr>
        <p:spPr bwMode="auto">
          <a:xfrm>
            <a:off x="556963" y="929132"/>
            <a:ext cx="8081200" cy="198079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0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1xx </a:t>
            </a:r>
            <a:r>
              <a:rPr lang="zh-CN" altLang="en-US" sz="2000" b="1" dirty="0">
                <a:solidFill>
                  <a:srgbClr val="0000FF"/>
                </a:solidFill>
                <a:latin typeface="微软雅黑 Light" panose="020B0502040204020203" pitchFamily="34" charset="-122"/>
                <a:ea typeface="微软雅黑 Light" panose="020B0502040204020203" pitchFamily="34" charset="-122"/>
              </a:rPr>
              <a:t>表示通知信息</a:t>
            </a:r>
            <a:r>
              <a:rPr lang="zh-CN" altLang="en-US" sz="2000" b="1" dirty="0">
                <a:latin typeface="微软雅黑 Light" panose="020B0502040204020203" pitchFamily="34" charset="-122"/>
                <a:ea typeface="微软雅黑 Light" panose="020B0502040204020203" pitchFamily="34" charset="-122"/>
              </a:rPr>
              <a:t>，如请求收到了或正在进行处理。</a:t>
            </a:r>
          </a:p>
          <a:p>
            <a:pPr marL="285750" indent="-285750" eaLnBrk="0" hangingPunct="0">
              <a:lnSpc>
                <a:spcPts val="30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2xx </a:t>
            </a:r>
            <a:r>
              <a:rPr lang="zh-CN" altLang="en-US" sz="2000" b="1" dirty="0">
                <a:solidFill>
                  <a:srgbClr val="0000FF"/>
                </a:solidFill>
                <a:latin typeface="微软雅黑 Light" panose="020B0502040204020203" pitchFamily="34" charset="-122"/>
                <a:ea typeface="微软雅黑 Light" panose="020B0502040204020203" pitchFamily="34" charset="-122"/>
              </a:rPr>
              <a:t>表示成功</a:t>
            </a:r>
            <a:r>
              <a:rPr lang="zh-CN" altLang="en-US" sz="2000" b="1" dirty="0">
                <a:latin typeface="微软雅黑 Light" panose="020B0502040204020203" pitchFamily="34" charset="-122"/>
                <a:ea typeface="微软雅黑 Light" panose="020B0502040204020203" pitchFamily="34" charset="-122"/>
              </a:rPr>
              <a:t>，如接受或知道了。</a:t>
            </a:r>
          </a:p>
          <a:p>
            <a:pPr marL="285750" indent="-285750" eaLnBrk="0" hangingPunct="0">
              <a:lnSpc>
                <a:spcPts val="30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3xx </a:t>
            </a:r>
            <a:r>
              <a:rPr lang="zh-CN" altLang="en-US" sz="2000" b="1" dirty="0">
                <a:solidFill>
                  <a:srgbClr val="0000FF"/>
                </a:solidFill>
                <a:latin typeface="微软雅黑 Light" panose="020B0502040204020203" pitchFamily="34" charset="-122"/>
                <a:ea typeface="微软雅黑 Light" panose="020B0502040204020203" pitchFamily="34" charset="-122"/>
              </a:rPr>
              <a:t>表示重定向</a:t>
            </a:r>
            <a:r>
              <a:rPr lang="zh-CN" altLang="en-US" sz="2000" b="1" dirty="0">
                <a:latin typeface="微软雅黑 Light" panose="020B0502040204020203" pitchFamily="34" charset="-122"/>
                <a:ea typeface="微软雅黑 Light" panose="020B0502040204020203" pitchFamily="34" charset="-122"/>
              </a:rPr>
              <a:t>，表示要完成请求还必须采取进一步的行动。</a:t>
            </a:r>
          </a:p>
          <a:p>
            <a:pPr marL="285750" indent="-285750" eaLnBrk="0" hangingPunct="0">
              <a:lnSpc>
                <a:spcPts val="30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4xx </a:t>
            </a:r>
            <a:r>
              <a:rPr lang="zh-CN" altLang="en-US" sz="2000" b="1" dirty="0">
                <a:solidFill>
                  <a:srgbClr val="0000FF"/>
                </a:solidFill>
                <a:latin typeface="微软雅黑 Light" panose="020B0502040204020203" pitchFamily="34" charset="-122"/>
                <a:ea typeface="微软雅黑 Light" panose="020B0502040204020203" pitchFamily="34" charset="-122"/>
              </a:rPr>
              <a:t>表示客户的差错</a:t>
            </a:r>
            <a:r>
              <a:rPr lang="zh-CN" altLang="en-US" sz="2000" b="1" dirty="0">
                <a:latin typeface="微软雅黑 Light" panose="020B0502040204020203" pitchFamily="34" charset="-122"/>
                <a:ea typeface="微软雅黑 Light" panose="020B0502040204020203" pitchFamily="34" charset="-122"/>
              </a:rPr>
              <a:t>，如请求中有错误的语法或不能完成。</a:t>
            </a:r>
          </a:p>
          <a:p>
            <a:pPr marL="285750" indent="-285750" eaLnBrk="0" hangingPunct="0">
              <a:lnSpc>
                <a:spcPts val="30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5xx </a:t>
            </a:r>
            <a:r>
              <a:rPr lang="zh-CN" altLang="en-US" sz="2000" b="1" dirty="0">
                <a:solidFill>
                  <a:srgbClr val="0000FF"/>
                </a:solidFill>
                <a:latin typeface="微软雅黑 Light" panose="020B0502040204020203" pitchFamily="34" charset="-122"/>
                <a:ea typeface="微软雅黑 Light" panose="020B0502040204020203" pitchFamily="34" charset="-122"/>
              </a:rPr>
              <a:t>表示服务器的差错</a:t>
            </a:r>
            <a:r>
              <a:rPr lang="zh-CN" altLang="en-US" sz="2000" b="1" dirty="0">
                <a:latin typeface="微软雅黑 Light" panose="020B0502040204020203" pitchFamily="34" charset="-122"/>
                <a:ea typeface="微软雅黑 Light" panose="020B0502040204020203" pitchFamily="34" charset="-122"/>
              </a:rPr>
              <a:t>，如服务器失效无法完成请求。</a:t>
            </a:r>
          </a:p>
        </p:txBody>
      </p:sp>
      <p:sp>
        <p:nvSpPr>
          <p:cNvPr id="4" name="矩形 3"/>
          <p:cNvSpPr/>
          <p:nvPr/>
        </p:nvSpPr>
        <p:spPr>
          <a:xfrm>
            <a:off x="645268" y="552756"/>
            <a:ext cx="4190571"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2000" b="1" dirty="0">
                <a:latin typeface="微软雅黑 Light" panose="020B0502040204020203" pitchFamily="34" charset="-122"/>
                <a:ea typeface="微软雅黑 Light" panose="020B0502040204020203" pitchFamily="34" charset="-122"/>
              </a:rPr>
              <a:t>状态码：都是三位数字，分为</a:t>
            </a:r>
            <a:r>
              <a:rPr lang="en-US" altLang="zh-CN" sz="2000" b="1" dirty="0">
                <a:latin typeface="微软雅黑 Light" panose="020B0502040204020203" pitchFamily="34" charset="-122"/>
                <a:ea typeface="微软雅黑 Light" panose="020B0502040204020203" pitchFamily="34" charset="-122"/>
              </a:rPr>
              <a:t>5</a:t>
            </a:r>
            <a:r>
              <a:rPr lang="zh-CN" altLang="en-US" sz="2000" b="1" dirty="0">
                <a:latin typeface="微软雅黑 Light" panose="020B0502040204020203" pitchFamily="34" charset="-122"/>
                <a:ea typeface="微软雅黑 Light" panose="020B0502040204020203" pitchFamily="34" charset="-122"/>
              </a:rPr>
              <a:t>大类</a:t>
            </a:r>
          </a:p>
        </p:txBody>
      </p:sp>
      <p:sp>
        <p:nvSpPr>
          <p:cNvPr id="5" name="矩形 4"/>
          <p:cNvSpPr/>
          <p:nvPr/>
        </p:nvSpPr>
        <p:spPr>
          <a:xfrm>
            <a:off x="834501" y="2916840"/>
            <a:ext cx="6951216" cy="1426031"/>
          </a:xfrm>
          <a:prstGeom prst="rect">
            <a:avLst/>
          </a:prstGeom>
        </p:spPr>
        <p:txBody>
          <a:bodyPr wrap="square">
            <a:spAutoFit/>
          </a:bodyPr>
          <a:lstStyle/>
          <a:p>
            <a:pPr algn="just">
              <a:lnSpc>
                <a:spcPts val="2600"/>
              </a:lnSpc>
              <a:spcAft>
                <a:spcPts val="0"/>
              </a:spcAft>
            </a:pPr>
            <a:r>
              <a:rPr lang="zh-CN" altLang="zh-CN" b="1" kern="500" dirty="0">
                <a:latin typeface="微软雅黑 Light" panose="020B0502040204020203" pitchFamily="34" charset="-122"/>
                <a:ea typeface="微软雅黑 Light" panose="020B0502040204020203" pitchFamily="34" charset="-122"/>
              </a:rPr>
              <a:t>响应报文中常见到的三种状态行</a:t>
            </a:r>
            <a:r>
              <a:rPr lang="zh-CN" altLang="en-US" b="1" kern="500" dirty="0">
                <a:latin typeface="微软雅黑 Light" panose="020B0502040204020203" pitchFamily="34" charset="-122"/>
                <a:ea typeface="微软雅黑 Light" panose="020B0502040204020203" pitchFamily="34" charset="-122"/>
              </a:rPr>
              <a:t>：</a:t>
            </a:r>
            <a:endParaRPr lang="zh-CN" altLang="zh-CN" b="1" kern="500" dirty="0">
              <a:latin typeface="微软雅黑 Light" panose="020B0502040204020203" pitchFamily="34" charset="-122"/>
              <a:ea typeface="微软雅黑 Light" panose="020B0502040204020203" pitchFamily="34" charset="-122"/>
            </a:endParaRPr>
          </a:p>
          <a:p>
            <a:pPr algn="just">
              <a:lnSpc>
                <a:spcPts val="2600"/>
              </a:lnSpc>
              <a:spcAft>
                <a:spcPts val="0"/>
              </a:spcAft>
            </a:pPr>
            <a:r>
              <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HTTP/1.1 202 Accepted</a:t>
            </a:r>
            <a:r>
              <a:rPr lang="en-US" altLang="zh-CN" b="1" kern="500" dirty="0">
                <a:latin typeface="Montserrat" panose="00000500000000000000" pitchFamily="2" charset="0"/>
                <a:ea typeface="微软雅黑 Light" panose="020B0502040204020203" pitchFamily="34" charset="-122"/>
                <a:cs typeface="Times New Roman" panose="02020603050405020304" pitchFamily="18" charset="0"/>
              </a:rPr>
              <a:t>		</a:t>
            </a:r>
            <a:r>
              <a:rPr lang="zh-CN" altLang="zh-CN" b="1" kern="500" dirty="0">
                <a:latin typeface="Montserrat" panose="00000500000000000000" pitchFamily="2" charset="0"/>
                <a:ea typeface="微软雅黑 Light" panose="020B0502040204020203" pitchFamily="34" charset="-122"/>
              </a:rPr>
              <a:t>接受</a:t>
            </a:r>
          </a:p>
          <a:p>
            <a:pPr algn="just">
              <a:lnSpc>
                <a:spcPts val="2600"/>
              </a:lnSpc>
              <a:spcAft>
                <a:spcPts val="0"/>
              </a:spcAft>
            </a:pPr>
            <a:r>
              <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HTTP/1.1 400 Bad Request</a:t>
            </a:r>
            <a:r>
              <a:rPr lang="en-US" altLang="zh-CN" b="1" kern="500" dirty="0">
                <a:latin typeface="Montserrat" panose="00000500000000000000" pitchFamily="2" charset="0"/>
                <a:ea typeface="微软雅黑 Light" panose="020B0502040204020203" pitchFamily="34" charset="-122"/>
                <a:cs typeface="Times New Roman" panose="02020603050405020304" pitchFamily="18" charset="0"/>
              </a:rPr>
              <a:t>		</a:t>
            </a:r>
            <a:r>
              <a:rPr lang="zh-CN" altLang="zh-CN" b="1" kern="500" dirty="0">
                <a:latin typeface="Montserrat" panose="00000500000000000000" pitchFamily="2" charset="0"/>
                <a:ea typeface="微软雅黑 Light" panose="020B0502040204020203" pitchFamily="34" charset="-122"/>
              </a:rPr>
              <a:t>错误的请求</a:t>
            </a:r>
          </a:p>
          <a:p>
            <a:pPr algn="just">
              <a:lnSpc>
                <a:spcPts val="2600"/>
              </a:lnSpc>
              <a:spcAft>
                <a:spcPts val="0"/>
              </a:spcAft>
            </a:pPr>
            <a:r>
              <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Http/1.1 404 Not Found</a:t>
            </a:r>
            <a:r>
              <a:rPr lang="en-US" altLang="zh-CN" b="1" kern="500" dirty="0">
                <a:latin typeface="Montserrat" panose="00000500000000000000" pitchFamily="2" charset="0"/>
                <a:ea typeface="微软雅黑 Light" panose="020B0502040204020203" pitchFamily="34" charset="-122"/>
                <a:cs typeface="Times New Roman" panose="02020603050405020304" pitchFamily="18" charset="0"/>
              </a:rPr>
              <a:t>		</a:t>
            </a:r>
            <a:r>
              <a:rPr lang="zh-CN" altLang="zh-CN" b="1" kern="500" dirty="0">
                <a:latin typeface="Montserrat" panose="00000500000000000000" pitchFamily="2" charset="0"/>
                <a:ea typeface="微软雅黑 Light" panose="020B0502040204020203" pitchFamily="34" charset="-122"/>
              </a:rPr>
              <a:t>找不到</a:t>
            </a:r>
          </a:p>
        </p:txBody>
      </p:sp>
    </p:spTree>
    <p:extLst>
      <p:ext uri="{BB962C8B-B14F-4D97-AF65-F5344CB8AC3E}">
        <p14:creationId xmlns:p14="http://schemas.microsoft.com/office/powerpoint/2010/main" val="17636566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9078077-FB14-9D82-3940-11B42C9C590D}"/>
              </a:ext>
            </a:extLst>
          </p:cNvPr>
          <p:cNvSpPr>
            <a:spLocks noGrp="1"/>
          </p:cNvSpPr>
          <p:nvPr>
            <p:ph type="title"/>
          </p:nvPr>
        </p:nvSpPr>
        <p:spPr>
          <a:xfrm>
            <a:off x="485999" y="174482"/>
            <a:ext cx="8171999" cy="338554"/>
          </a:xfrm>
        </p:spPr>
        <p:txBody>
          <a:bodyPr/>
          <a:lstStyle/>
          <a:p>
            <a:r>
              <a:rPr lang="en-US" altLang="zh-CN" dirty="0"/>
              <a:t>4. </a:t>
            </a:r>
            <a:r>
              <a:rPr lang="zh-CN" altLang="en-US" dirty="0"/>
              <a:t>在服务器上存放用户的信息</a:t>
            </a:r>
          </a:p>
        </p:txBody>
      </p:sp>
      <p:sp>
        <p:nvSpPr>
          <p:cNvPr id="9" name="内容占位符 8">
            <a:extLst>
              <a:ext uri="{FF2B5EF4-FFF2-40B4-BE49-F238E27FC236}">
                <a16:creationId xmlns:a16="http://schemas.microsoft.com/office/drawing/2014/main" id="{2984B7CF-D7EE-F72A-E964-33BAED6612C0}"/>
              </a:ext>
            </a:extLst>
          </p:cNvPr>
          <p:cNvSpPr>
            <a:spLocks noGrp="1"/>
          </p:cNvSpPr>
          <p:nvPr>
            <p:ph sz="quarter" idx="11"/>
          </p:nvPr>
        </p:nvSpPr>
        <p:spPr>
          <a:xfrm>
            <a:off x="486000" y="687518"/>
            <a:ext cx="8172000" cy="4079035"/>
          </a:xfrm>
        </p:spPr>
        <p:txBody>
          <a:bodyPr/>
          <a:lstStyle/>
          <a:p>
            <a:r>
              <a:rPr lang="zh-CN" altLang="en-US" dirty="0"/>
              <a:t>万维网使用 </a:t>
            </a:r>
            <a:r>
              <a:rPr lang="en-US" altLang="zh-CN"/>
              <a:t>Cookie </a:t>
            </a:r>
            <a:r>
              <a:rPr lang="zh-CN" altLang="en-US"/>
              <a:t>跟踪</a:t>
            </a:r>
            <a:r>
              <a:rPr lang="zh-CN" altLang="en-US" dirty="0"/>
              <a:t>在 </a:t>
            </a:r>
            <a:r>
              <a:rPr lang="en-US" altLang="zh-CN"/>
              <a:t>HTTP </a:t>
            </a:r>
            <a:r>
              <a:rPr lang="zh-CN" altLang="en-US"/>
              <a:t>服务器</a:t>
            </a:r>
            <a:r>
              <a:rPr lang="zh-CN" altLang="en-US" dirty="0"/>
              <a:t>和客户之间传递的状态信息</a:t>
            </a:r>
          </a:p>
        </p:txBody>
      </p:sp>
      <p:grpSp>
        <p:nvGrpSpPr>
          <p:cNvPr id="7" name="Group 5"/>
          <p:cNvGrpSpPr>
            <a:grpSpLocks/>
          </p:cNvGrpSpPr>
          <p:nvPr/>
        </p:nvGrpSpPr>
        <p:grpSpPr bwMode="auto">
          <a:xfrm>
            <a:off x="2353913" y="3239298"/>
            <a:ext cx="2956331" cy="318744"/>
            <a:chOff x="1285" y="2720"/>
            <a:chExt cx="2219" cy="340"/>
          </a:xfrm>
        </p:grpSpPr>
        <p:sp>
          <p:nvSpPr>
            <p:cNvPr id="8" name="Line 6"/>
            <p:cNvSpPr>
              <a:spLocks noChangeShapeType="1"/>
            </p:cNvSpPr>
            <p:nvPr/>
          </p:nvSpPr>
          <p:spPr bwMode="auto">
            <a:xfrm flipH="1">
              <a:off x="1285" y="2720"/>
              <a:ext cx="2219" cy="199"/>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11" name="Text Box 9"/>
            <p:cNvSpPr txBox="1">
              <a:spLocks noChangeArrowheads="1"/>
            </p:cNvSpPr>
            <p:nvPr/>
          </p:nvSpPr>
          <p:spPr bwMode="auto">
            <a:xfrm>
              <a:off x="1456" y="2732"/>
              <a:ext cx="1567" cy="32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400" dirty="0">
                  <a:latin typeface="Montserrat" panose="00000500000000000000" pitchFamily="2" charset="0"/>
                  <a:ea typeface="微软雅黑 Light" panose="020B0502040204020203" pitchFamily="34" charset="-122"/>
                </a:rPr>
                <a:t>http </a:t>
              </a:r>
              <a:r>
                <a:rPr lang="zh-CN" altLang="en-US" sz="1400" dirty="0">
                  <a:latin typeface="Montserrat" panose="00000500000000000000" pitchFamily="2" charset="0"/>
                  <a:ea typeface="微软雅黑 Light" panose="020B0502040204020203" pitchFamily="34" charset="-122"/>
                </a:rPr>
                <a:t>响应 </a:t>
              </a:r>
            </a:p>
          </p:txBody>
        </p:sp>
      </p:grpSp>
      <p:grpSp>
        <p:nvGrpSpPr>
          <p:cNvPr id="12" name="Group 10"/>
          <p:cNvGrpSpPr>
            <a:grpSpLocks/>
          </p:cNvGrpSpPr>
          <p:nvPr/>
        </p:nvGrpSpPr>
        <p:grpSpPr bwMode="auto">
          <a:xfrm>
            <a:off x="2354415" y="4152257"/>
            <a:ext cx="2944341" cy="348742"/>
            <a:chOff x="1365" y="3581"/>
            <a:chExt cx="2210" cy="372"/>
          </a:xfrm>
        </p:grpSpPr>
        <p:sp>
          <p:nvSpPr>
            <p:cNvPr id="13" name="Line 11"/>
            <p:cNvSpPr>
              <a:spLocks noChangeShapeType="1"/>
            </p:cNvSpPr>
            <p:nvPr/>
          </p:nvSpPr>
          <p:spPr bwMode="auto">
            <a:xfrm flipH="1">
              <a:off x="1365" y="3581"/>
              <a:ext cx="2210" cy="293"/>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16" name="Text Box 14"/>
            <p:cNvSpPr txBox="1">
              <a:spLocks noChangeArrowheads="1"/>
            </p:cNvSpPr>
            <p:nvPr/>
          </p:nvSpPr>
          <p:spPr bwMode="auto">
            <a:xfrm>
              <a:off x="1545" y="3625"/>
              <a:ext cx="1567" cy="32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400" dirty="0">
                  <a:latin typeface="Montserrat" panose="00000500000000000000" pitchFamily="2" charset="0"/>
                  <a:ea typeface="微软雅黑 Light" panose="020B0502040204020203" pitchFamily="34" charset="-122"/>
                </a:rPr>
                <a:t>http </a:t>
              </a:r>
              <a:r>
                <a:rPr lang="zh-CN" altLang="en-US" sz="1400" dirty="0">
                  <a:latin typeface="Montserrat" panose="00000500000000000000" pitchFamily="2" charset="0"/>
                  <a:ea typeface="微软雅黑 Light" panose="020B0502040204020203" pitchFamily="34" charset="-122"/>
                </a:rPr>
                <a:t>响应 </a:t>
              </a:r>
            </a:p>
          </p:txBody>
        </p:sp>
      </p:grpSp>
      <p:sp>
        <p:nvSpPr>
          <p:cNvPr id="17" name="Text Box 15"/>
          <p:cNvSpPr txBox="1">
            <a:spLocks noChangeArrowheads="1"/>
          </p:cNvSpPr>
          <p:nvPr/>
        </p:nvSpPr>
        <p:spPr bwMode="auto">
          <a:xfrm>
            <a:off x="1138081" y="2169376"/>
            <a:ext cx="127055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400" dirty="0">
                <a:latin typeface="Montserrat" panose="00000500000000000000" pitchFamily="2" charset="0"/>
                <a:ea typeface="微软雅黑 Light" panose="020B0502040204020203" pitchFamily="34" charset="-122"/>
              </a:rPr>
              <a:t>cookie file</a:t>
            </a:r>
          </a:p>
        </p:txBody>
      </p:sp>
      <p:grpSp>
        <p:nvGrpSpPr>
          <p:cNvPr id="19" name="Group 17"/>
          <p:cNvGrpSpPr>
            <a:grpSpLocks/>
          </p:cNvGrpSpPr>
          <p:nvPr/>
        </p:nvGrpSpPr>
        <p:grpSpPr bwMode="auto">
          <a:xfrm>
            <a:off x="2325175" y="2776920"/>
            <a:ext cx="5145612" cy="535302"/>
            <a:chOff x="1392" y="2261"/>
            <a:chExt cx="3555" cy="571"/>
          </a:xfrm>
        </p:grpSpPr>
        <p:sp>
          <p:nvSpPr>
            <p:cNvPr id="20" name="Line 18"/>
            <p:cNvSpPr>
              <a:spLocks noChangeShapeType="1"/>
            </p:cNvSpPr>
            <p:nvPr/>
          </p:nvSpPr>
          <p:spPr bwMode="auto">
            <a:xfrm>
              <a:off x="1392" y="2357"/>
              <a:ext cx="2082" cy="240"/>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21" name="Text Box 19"/>
            <p:cNvSpPr txBox="1">
              <a:spLocks noChangeArrowheads="1"/>
            </p:cNvSpPr>
            <p:nvPr/>
          </p:nvSpPr>
          <p:spPr bwMode="auto">
            <a:xfrm>
              <a:off x="1562" y="2261"/>
              <a:ext cx="1443" cy="46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lnSpc>
                  <a:spcPct val="80000"/>
                </a:lnSpc>
              </a:pPr>
              <a:r>
                <a:rPr lang="en-US" altLang="zh-CN" sz="1400" dirty="0">
                  <a:latin typeface="Montserrat" panose="00000500000000000000" pitchFamily="2" charset="0"/>
                  <a:ea typeface="微软雅黑 Light" panose="020B0502040204020203" pitchFamily="34" charset="-122"/>
                </a:rPr>
                <a:t>http </a:t>
              </a:r>
              <a:r>
                <a:rPr lang="zh-CN" altLang="en-US" sz="1400" dirty="0">
                  <a:latin typeface="Montserrat" panose="00000500000000000000" pitchFamily="2" charset="0"/>
                  <a:ea typeface="微软雅黑 Light" panose="020B0502040204020203" pitchFamily="34" charset="-122"/>
                </a:rPr>
                <a:t>请求</a:t>
              </a:r>
              <a:endParaRPr lang="en-US" altLang="zh-CN" sz="1400" dirty="0">
                <a:latin typeface="Montserrat" panose="00000500000000000000" pitchFamily="2" charset="0"/>
                <a:ea typeface="微软雅黑 Light" panose="020B0502040204020203" pitchFamily="34" charset="-122"/>
              </a:endParaRPr>
            </a:p>
            <a:p>
              <a:pPr algn="ctr">
                <a:lnSpc>
                  <a:spcPct val="80000"/>
                </a:lnSpc>
              </a:pPr>
              <a:r>
                <a:rPr lang="en-US" altLang="zh-CN" sz="1400" dirty="0">
                  <a:solidFill>
                    <a:srgbClr val="0000FF"/>
                  </a:solidFill>
                  <a:latin typeface="Montserrat" panose="00000500000000000000" pitchFamily="2" charset="0"/>
                  <a:ea typeface="微软雅黑 Light" panose="020B0502040204020203" pitchFamily="34" charset="-122"/>
                </a:rPr>
                <a:t>cookie: ad42</a:t>
              </a:r>
            </a:p>
          </p:txBody>
        </p:sp>
        <p:sp>
          <p:nvSpPr>
            <p:cNvPr id="22" name="Text Box 20"/>
            <p:cNvSpPr txBox="1">
              <a:spLocks noChangeArrowheads="1"/>
            </p:cNvSpPr>
            <p:nvPr/>
          </p:nvSpPr>
          <p:spPr bwMode="auto">
            <a:xfrm>
              <a:off x="3508" y="2504"/>
              <a:ext cx="411" cy="32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zh-CN" altLang="en-US" sz="1400" dirty="0">
                  <a:solidFill>
                    <a:srgbClr val="0000FF"/>
                  </a:solidFill>
                  <a:latin typeface="Montserrat" panose="00000500000000000000" pitchFamily="2" charset="0"/>
                  <a:ea typeface="微软雅黑 Light" panose="020B0502040204020203" pitchFamily="34" charset="-122"/>
                </a:rPr>
                <a:t>处理</a:t>
              </a:r>
              <a:endParaRPr lang="en-US" altLang="zh-CN" sz="1400" dirty="0">
                <a:solidFill>
                  <a:srgbClr val="0000FF"/>
                </a:solidFill>
                <a:latin typeface="Montserrat" panose="00000500000000000000" pitchFamily="2" charset="0"/>
                <a:ea typeface="微软雅黑 Light" panose="020B0502040204020203" pitchFamily="34" charset="-122"/>
              </a:endParaRPr>
            </a:p>
          </p:txBody>
        </p:sp>
        <p:sp>
          <p:nvSpPr>
            <p:cNvPr id="23" name="Line 21"/>
            <p:cNvSpPr>
              <a:spLocks noChangeShapeType="1"/>
            </p:cNvSpPr>
            <p:nvPr/>
          </p:nvSpPr>
          <p:spPr bwMode="auto">
            <a:xfrm flipV="1">
              <a:off x="3967" y="2439"/>
              <a:ext cx="980" cy="228"/>
            </a:xfrm>
            <a:prstGeom prst="line">
              <a:avLst/>
            </a:prstGeom>
            <a:noFill/>
            <a:ln w="9525">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26" name="Text Box 24"/>
            <p:cNvSpPr txBox="1">
              <a:spLocks noChangeArrowheads="1"/>
            </p:cNvSpPr>
            <p:nvPr/>
          </p:nvSpPr>
          <p:spPr bwMode="auto">
            <a:xfrm>
              <a:off x="4252" y="2400"/>
              <a:ext cx="340" cy="295"/>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dirty="0">
                  <a:latin typeface="Montserrat" panose="00000500000000000000" pitchFamily="2" charset="0"/>
                  <a:ea typeface="微软雅黑 Light" panose="020B0502040204020203" pitchFamily="34" charset="-122"/>
                </a:rPr>
                <a:t>访问</a:t>
              </a:r>
              <a:endParaRPr lang="en-US" altLang="zh-CN" sz="1200" dirty="0">
                <a:latin typeface="Montserrat" panose="00000500000000000000" pitchFamily="2" charset="0"/>
                <a:ea typeface="微软雅黑 Light" panose="020B0502040204020203" pitchFamily="34" charset="-122"/>
              </a:endParaRPr>
            </a:p>
          </p:txBody>
        </p:sp>
      </p:grpSp>
      <p:sp>
        <p:nvSpPr>
          <p:cNvPr id="28" name="AutoShape 26"/>
          <p:cNvSpPr>
            <a:spLocks noChangeArrowheads="1"/>
          </p:cNvSpPr>
          <p:nvPr/>
        </p:nvSpPr>
        <p:spPr bwMode="auto">
          <a:xfrm>
            <a:off x="1119464" y="1723191"/>
            <a:ext cx="1139100" cy="455616"/>
          </a:xfrm>
          <a:prstGeom prst="can">
            <a:avLst>
              <a:gd name="adj" fmla="val 25000"/>
            </a:avLst>
          </a:prstGeom>
          <a:solidFill>
            <a:srgbClr val="0070C0"/>
          </a:solidFill>
          <a:ln w="9525">
            <a:noFill/>
            <a:round/>
            <a:headEnd/>
            <a:tailEnd/>
          </a:ln>
          <a:effec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29" name="Text Box 27"/>
          <p:cNvSpPr txBox="1">
            <a:spLocks noChangeArrowheads="1"/>
          </p:cNvSpPr>
          <p:nvPr/>
        </p:nvSpPr>
        <p:spPr bwMode="auto">
          <a:xfrm>
            <a:off x="1163429" y="1804752"/>
            <a:ext cx="1000543" cy="3074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400" dirty="0">
                <a:solidFill>
                  <a:schemeClr val="bg1"/>
                </a:solidFill>
                <a:latin typeface="Montserrat" panose="00000500000000000000" pitchFamily="2" charset="0"/>
                <a:ea typeface="微软雅黑 Light" panose="020B0502040204020203" pitchFamily="34" charset="-122"/>
              </a:rPr>
              <a:t>JD 1234</a:t>
            </a:r>
          </a:p>
        </p:txBody>
      </p:sp>
      <p:sp>
        <p:nvSpPr>
          <p:cNvPr id="30" name="AutoShape 28"/>
          <p:cNvSpPr>
            <a:spLocks noChangeArrowheads="1"/>
          </p:cNvSpPr>
          <p:nvPr/>
        </p:nvSpPr>
        <p:spPr bwMode="auto">
          <a:xfrm>
            <a:off x="7565597" y="2623173"/>
            <a:ext cx="544020" cy="516595"/>
          </a:xfrm>
          <a:prstGeom prst="can">
            <a:avLst>
              <a:gd name="adj" fmla="val 39157"/>
            </a:avLst>
          </a:prstGeom>
          <a:solidFill>
            <a:srgbClr val="92D050"/>
          </a:solidFill>
          <a:ln w="9525">
            <a:noFill/>
            <a:round/>
            <a:headEnd/>
            <a:tailEnd/>
          </a:ln>
          <a:effec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grpSp>
        <p:nvGrpSpPr>
          <p:cNvPr id="31" name="Group 29"/>
          <p:cNvGrpSpPr>
            <a:grpSpLocks/>
          </p:cNvGrpSpPr>
          <p:nvPr/>
        </p:nvGrpSpPr>
        <p:grpSpPr bwMode="auto">
          <a:xfrm>
            <a:off x="2243909" y="1837565"/>
            <a:ext cx="5407917" cy="996544"/>
            <a:chOff x="1386" y="1259"/>
            <a:chExt cx="3719" cy="1063"/>
          </a:xfrm>
        </p:grpSpPr>
        <p:sp>
          <p:nvSpPr>
            <p:cNvPr id="32" name="Line 30"/>
            <p:cNvSpPr>
              <a:spLocks noChangeShapeType="1"/>
            </p:cNvSpPr>
            <p:nvPr/>
          </p:nvSpPr>
          <p:spPr bwMode="auto">
            <a:xfrm>
              <a:off x="1386" y="1364"/>
              <a:ext cx="2109" cy="200"/>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33" name="Text Box 31"/>
            <p:cNvSpPr txBox="1">
              <a:spLocks noChangeArrowheads="1"/>
            </p:cNvSpPr>
            <p:nvPr/>
          </p:nvSpPr>
          <p:spPr bwMode="auto">
            <a:xfrm>
              <a:off x="1627" y="1259"/>
              <a:ext cx="1436" cy="32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400" dirty="0">
                  <a:latin typeface="Montserrat" panose="00000500000000000000" pitchFamily="2" charset="0"/>
                  <a:ea typeface="微软雅黑 Light" panose="020B0502040204020203" pitchFamily="34" charset="-122"/>
                </a:rPr>
                <a:t>http </a:t>
              </a:r>
              <a:r>
                <a:rPr lang="zh-CN" altLang="en-US" sz="1400" dirty="0">
                  <a:latin typeface="Montserrat" panose="00000500000000000000" pitchFamily="2" charset="0"/>
                  <a:ea typeface="微软雅黑 Light" panose="020B0502040204020203" pitchFamily="34" charset="-122"/>
                </a:rPr>
                <a:t>请求</a:t>
              </a:r>
              <a:endParaRPr lang="en-US" altLang="zh-CN" sz="1400" dirty="0">
                <a:latin typeface="Montserrat" panose="00000500000000000000" pitchFamily="2" charset="0"/>
                <a:ea typeface="微软雅黑 Light" panose="020B0502040204020203" pitchFamily="34" charset="-122"/>
              </a:endParaRPr>
            </a:p>
          </p:txBody>
        </p:sp>
        <p:sp>
          <p:nvSpPr>
            <p:cNvPr id="34" name="Text Box 32"/>
            <p:cNvSpPr txBox="1">
              <a:spLocks noChangeArrowheads="1"/>
            </p:cNvSpPr>
            <p:nvPr/>
          </p:nvSpPr>
          <p:spPr bwMode="auto">
            <a:xfrm>
              <a:off x="3467" y="1364"/>
              <a:ext cx="982" cy="68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200" dirty="0">
                  <a:solidFill>
                    <a:srgbClr val="0000FF"/>
                  </a:solidFill>
                  <a:latin typeface="Montserrat" panose="00000500000000000000" pitchFamily="2" charset="0"/>
                  <a:ea typeface="微软雅黑 Light" panose="020B0502040204020203" pitchFamily="34" charset="-122"/>
                </a:rPr>
                <a:t>JD </a:t>
              </a:r>
              <a:r>
                <a:rPr lang="zh-CN" altLang="en-US" sz="1200" dirty="0">
                  <a:solidFill>
                    <a:srgbClr val="0000FF"/>
                  </a:solidFill>
                  <a:latin typeface="Montserrat" panose="00000500000000000000" pitchFamily="2" charset="0"/>
                  <a:ea typeface="微软雅黑 Light" panose="020B0502040204020203" pitchFamily="34" charset="-122"/>
                </a:rPr>
                <a:t>服务器为用户创建</a:t>
              </a:r>
              <a:r>
                <a:rPr lang="zh-CN" altLang="en-US" sz="1200" dirty="0">
                  <a:solidFill>
                    <a:srgbClr val="C00000"/>
                  </a:solidFill>
                  <a:latin typeface="Montserrat" panose="00000500000000000000" pitchFamily="2" charset="0"/>
                  <a:ea typeface="微软雅黑 Light" panose="020B0502040204020203" pitchFamily="34" charset="-122"/>
                </a:rPr>
                <a:t>唯一</a:t>
              </a:r>
              <a:r>
                <a:rPr lang="zh-CN" altLang="en-US" sz="1200" dirty="0">
                  <a:solidFill>
                    <a:srgbClr val="0000FF"/>
                  </a:solidFill>
                  <a:latin typeface="Montserrat" panose="00000500000000000000" pitchFamily="2" charset="0"/>
                  <a:ea typeface="微软雅黑 Light" panose="020B0502040204020203" pitchFamily="34" charset="-122"/>
                </a:rPr>
                <a:t>识别码</a:t>
              </a:r>
              <a:r>
                <a:rPr lang="en-US" altLang="zh-CN" sz="1200" dirty="0">
                  <a:solidFill>
                    <a:srgbClr val="0000FF"/>
                  </a:solidFill>
                  <a:latin typeface="Montserrat" panose="00000500000000000000" pitchFamily="2" charset="0"/>
                  <a:ea typeface="微软雅黑 Light" panose="020B0502040204020203" pitchFamily="34" charset="-122"/>
                </a:rPr>
                <a:t>ad42</a:t>
              </a:r>
            </a:p>
          </p:txBody>
        </p:sp>
        <p:grpSp>
          <p:nvGrpSpPr>
            <p:cNvPr id="35" name="Group 33"/>
            <p:cNvGrpSpPr>
              <a:grpSpLocks/>
            </p:cNvGrpSpPr>
            <p:nvPr/>
          </p:nvGrpSpPr>
          <p:grpSpPr bwMode="auto">
            <a:xfrm>
              <a:off x="4195" y="1723"/>
              <a:ext cx="910" cy="599"/>
              <a:chOff x="4195" y="1633"/>
              <a:chExt cx="910" cy="599"/>
            </a:xfrm>
          </p:grpSpPr>
          <p:sp>
            <p:nvSpPr>
              <p:cNvPr id="36" name="Line 34"/>
              <p:cNvSpPr>
                <a:spLocks noChangeShapeType="1"/>
              </p:cNvSpPr>
              <p:nvPr/>
            </p:nvSpPr>
            <p:spPr bwMode="auto">
              <a:xfrm>
                <a:off x="4407" y="1633"/>
                <a:ext cx="574" cy="599"/>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38" name="Text Box 36"/>
              <p:cNvSpPr txBox="1">
                <a:spLocks noChangeArrowheads="1"/>
              </p:cNvSpPr>
              <p:nvPr/>
            </p:nvSpPr>
            <p:spPr bwMode="auto">
              <a:xfrm>
                <a:off x="4195" y="1796"/>
                <a:ext cx="910" cy="248"/>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lnSpc>
                    <a:spcPct val="75000"/>
                  </a:lnSpc>
                </a:pPr>
                <a:r>
                  <a:rPr lang="zh-CN" altLang="en-US" sz="1200" dirty="0">
                    <a:latin typeface="Montserrat" panose="00000500000000000000" pitchFamily="2" charset="0"/>
                    <a:ea typeface="微软雅黑 Light" panose="020B0502040204020203" pitchFamily="34" charset="-122"/>
                  </a:rPr>
                  <a:t>产生一个项目</a:t>
                </a:r>
                <a:endParaRPr lang="en-US" altLang="zh-CN" sz="1200" dirty="0">
                  <a:latin typeface="Montserrat" panose="00000500000000000000" pitchFamily="2" charset="0"/>
                  <a:ea typeface="微软雅黑 Light" panose="020B0502040204020203" pitchFamily="34" charset="-122"/>
                </a:endParaRPr>
              </a:p>
            </p:txBody>
          </p:sp>
        </p:grpSp>
      </p:grpSp>
      <p:sp>
        <p:nvSpPr>
          <p:cNvPr id="40" name="Line 38"/>
          <p:cNvSpPr>
            <a:spLocks noChangeShapeType="1"/>
          </p:cNvSpPr>
          <p:nvPr/>
        </p:nvSpPr>
        <p:spPr bwMode="auto">
          <a:xfrm flipH="1">
            <a:off x="2287874" y="2306080"/>
            <a:ext cx="2981645" cy="380617"/>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41" name="Text Box 39"/>
          <p:cNvSpPr txBox="1">
            <a:spLocks noChangeArrowheads="1"/>
          </p:cNvSpPr>
          <p:nvPr/>
        </p:nvSpPr>
        <p:spPr bwMode="auto">
          <a:xfrm>
            <a:off x="2572982" y="2213269"/>
            <a:ext cx="2088000" cy="523114"/>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400" dirty="0">
                <a:latin typeface="Montserrat" panose="00000500000000000000" pitchFamily="2" charset="0"/>
                <a:ea typeface="微软雅黑 Light" panose="020B0502040204020203" pitchFamily="34" charset="-122"/>
              </a:rPr>
              <a:t>http </a:t>
            </a:r>
            <a:r>
              <a:rPr lang="zh-CN" altLang="en-US" sz="1400" dirty="0">
                <a:latin typeface="Montserrat" panose="00000500000000000000" pitchFamily="2" charset="0"/>
                <a:ea typeface="微软雅黑 Light" panose="020B0502040204020203" pitchFamily="34" charset="-122"/>
              </a:rPr>
              <a:t>响应</a:t>
            </a:r>
            <a:r>
              <a:rPr lang="en-US" altLang="zh-CN" sz="1400" dirty="0">
                <a:latin typeface="Montserrat" panose="00000500000000000000" pitchFamily="2" charset="0"/>
                <a:ea typeface="微软雅黑 Light" panose="020B0502040204020203" pitchFamily="34" charset="-122"/>
              </a:rPr>
              <a:t> </a:t>
            </a:r>
          </a:p>
          <a:p>
            <a:pPr algn="ctr"/>
            <a:r>
              <a:rPr lang="en-US" altLang="zh-CN" sz="1400" dirty="0">
                <a:solidFill>
                  <a:srgbClr val="0000FF"/>
                </a:solidFill>
                <a:latin typeface="Montserrat" panose="00000500000000000000" pitchFamily="2" charset="0"/>
                <a:ea typeface="微软雅黑 Light" panose="020B0502040204020203" pitchFamily="34" charset="-122"/>
              </a:rPr>
              <a:t>set-cookie: ad42 </a:t>
            </a:r>
          </a:p>
        </p:txBody>
      </p:sp>
      <p:sp>
        <p:nvSpPr>
          <p:cNvPr id="43" name="AutoShape 41"/>
          <p:cNvSpPr>
            <a:spLocks noChangeArrowheads="1"/>
          </p:cNvSpPr>
          <p:nvPr/>
        </p:nvSpPr>
        <p:spPr bwMode="auto">
          <a:xfrm>
            <a:off x="1139448" y="2449514"/>
            <a:ext cx="1104461" cy="455616"/>
          </a:xfrm>
          <a:prstGeom prst="can">
            <a:avLst>
              <a:gd name="adj" fmla="val 25000"/>
            </a:avLst>
          </a:prstGeom>
          <a:solidFill>
            <a:srgbClr val="0070C0"/>
          </a:solidFill>
          <a:ln w="9525">
            <a:noFill/>
            <a:round/>
            <a:headEnd/>
            <a:tailEnd/>
          </a:ln>
          <a:effec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44" name="Text Box 42"/>
          <p:cNvSpPr txBox="1">
            <a:spLocks noChangeArrowheads="1"/>
          </p:cNvSpPr>
          <p:nvPr/>
        </p:nvSpPr>
        <p:spPr bwMode="auto">
          <a:xfrm>
            <a:off x="1186078" y="2506700"/>
            <a:ext cx="1016530" cy="4612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200" dirty="0">
                <a:solidFill>
                  <a:schemeClr val="bg1"/>
                </a:solidFill>
                <a:latin typeface="Montserrat" panose="00000500000000000000" pitchFamily="2" charset="0"/>
                <a:ea typeface="微软雅黑 Light" panose="020B0502040204020203" pitchFamily="34" charset="-122"/>
              </a:rPr>
              <a:t>JD 1234</a:t>
            </a:r>
          </a:p>
          <a:p>
            <a:pPr algn="ctr"/>
            <a:r>
              <a:rPr lang="en-US" altLang="zh-CN" sz="1200" dirty="0">
                <a:solidFill>
                  <a:schemeClr val="bg1"/>
                </a:solidFill>
                <a:latin typeface="Montserrat" panose="00000500000000000000" pitchFamily="2" charset="0"/>
                <a:ea typeface="微软雅黑 Light" panose="020B0502040204020203" pitchFamily="34" charset="-122"/>
              </a:rPr>
              <a:t>ad42</a:t>
            </a:r>
          </a:p>
        </p:txBody>
      </p:sp>
      <p:grpSp>
        <p:nvGrpSpPr>
          <p:cNvPr id="45" name="Group 43"/>
          <p:cNvGrpSpPr>
            <a:grpSpLocks/>
          </p:cNvGrpSpPr>
          <p:nvPr/>
        </p:nvGrpSpPr>
        <p:grpSpPr bwMode="auto">
          <a:xfrm>
            <a:off x="2332973" y="3071515"/>
            <a:ext cx="5171916" cy="1143727"/>
            <a:chOff x="1374" y="2480"/>
            <a:chExt cx="3882" cy="1220"/>
          </a:xfrm>
        </p:grpSpPr>
        <p:sp>
          <p:nvSpPr>
            <p:cNvPr id="46" name="Line 44"/>
            <p:cNvSpPr>
              <a:spLocks noChangeShapeType="1"/>
            </p:cNvSpPr>
            <p:nvPr/>
          </p:nvSpPr>
          <p:spPr bwMode="auto">
            <a:xfrm>
              <a:off x="1374" y="3293"/>
              <a:ext cx="2235" cy="158"/>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47" name="Text Box 45"/>
            <p:cNvSpPr txBox="1">
              <a:spLocks noChangeArrowheads="1"/>
            </p:cNvSpPr>
            <p:nvPr/>
          </p:nvSpPr>
          <p:spPr bwMode="auto">
            <a:xfrm>
              <a:off x="1561" y="3171"/>
              <a:ext cx="1567" cy="46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lnSpc>
                  <a:spcPct val="80000"/>
                </a:lnSpc>
              </a:pPr>
              <a:r>
                <a:rPr lang="en-US" altLang="zh-CN" sz="1400" dirty="0">
                  <a:latin typeface="Montserrat" panose="00000500000000000000" pitchFamily="2" charset="0"/>
                  <a:ea typeface="微软雅黑 Light" panose="020B0502040204020203" pitchFamily="34" charset="-122"/>
                </a:rPr>
                <a:t>http </a:t>
              </a:r>
              <a:r>
                <a:rPr lang="zh-CN" altLang="en-US" sz="1400" dirty="0">
                  <a:latin typeface="Montserrat" panose="00000500000000000000" pitchFamily="2" charset="0"/>
                  <a:ea typeface="微软雅黑 Light" panose="020B0502040204020203" pitchFamily="34" charset="-122"/>
                </a:rPr>
                <a:t>请求</a:t>
              </a:r>
            </a:p>
            <a:p>
              <a:pPr algn="ctr">
                <a:lnSpc>
                  <a:spcPct val="80000"/>
                </a:lnSpc>
              </a:pPr>
              <a:r>
                <a:rPr lang="en-US" altLang="zh-CN" sz="1400" dirty="0">
                  <a:latin typeface="Montserrat" panose="00000500000000000000" pitchFamily="2" charset="0"/>
                  <a:ea typeface="微软雅黑 Light" panose="020B0502040204020203" pitchFamily="34" charset="-122"/>
                </a:rPr>
                <a:t>cookie: ad42</a:t>
              </a:r>
            </a:p>
          </p:txBody>
        </p:sp>
        <p:sp>
          <p:nvSpPr>
            <p:cNvPr id="48" name="Text Box 46"/>
            <p:cNvSpPr txBox="1">
              <a:spLocks noChangeArrowheads="1"/>
            </p:cNvSpPr>
            <p:nvPr/>
          </p:nvSpPr>
          <p:spPr bwMode="auto">
            <a:xfrm>
              <a:off x="3706" y="3372"/>
              <a:ext cx="408" cy="32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zh-CN" altLang="en-US" sz="1400" dirty="0">
                  <a:solidFill>
                    <a:srgbClr val="0000FF"/>
                  </a:solidFill>
                  <a:latin typeface="Montserrat" panose="00000500000000000000" pitchFamily="2" charset="0"/>
                  <a:ea typeface="微软雅黑 Light" panose="020B0502040204020203" pitchFamily="34" charset="-122"/>
                </a:rPr>
                <a:t>处理</a:t>
              </a:r>
            </a:p>
          </p:txBody>
        </p:sp>
        <p:sp>
          <p:nvSpPr>
            <p:cNvPr id="49" name="Line 47"/>
            <p:cNvSpPr>
              <a:spLocks noChangeShapeType="1"/>
            </p:cNvSpPr>
            <p:nvPr/>
          </p:nvSpPr>
          <p:spPr bwMode="auto">
            <a:xfrm flipV="1">
              <a:off x="4211" y="2480"/>
              <a:ext cx="1045" cy="971"/>
            </a:xfrm>
            <a:prstGeom prst="line">
              <a:avLst/>
            </a:prstGeom>
            <a:noFill/>
            <a:ln w="9525">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50" name="Text Box 48"/>
            <p:cNvSpPr txBox="1">
              <a:spLocks noChangeArrowheads="1"/>
            </p:cNvSpPr>
            <p:nvPr/>
          </p:nvSpPr>
          <p:spPr bwMode="auto">
            <a:xfrm>
              <a:off x="4494" y="2844"/>
              <a:ext cx="370" cy="295"/>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dirty="0">
                  <a:latin typeface="Montserrat" panose="00000500000000000000" pitchFamily="2" charset="0"/>
                  <a:ea typeface="微软雅黑 Light" panose="020B0502040204020203" pitchFamily="34" charset="-122"/>
                </a:rPr>
                <a:t>访问</a:t>
              </a:r>
            </a:p>
          </p:txBody>
        </p:sp>
      </p:grpSp>
      <p:sp>
        <p:nvSpPr>
          <p:cNvPr id="18" name="Text Box 16"/>
          <p:cNvSpPr txBox="1">
            <a:spLocks noChangeArrowheads="1"/>
          </p:cNvSpPr>
          <p:nvPr/>
        </p:nvSpPr>
        <p:spPr bwMode="auto">
          <a:xfrm>
            <a:off x="777810" y="3396225"/>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400" dirty="0">
                <a:latin typeface="Montserrat" panose="00000500000000000000" pitchFamily="2" charset="0"/>
                <a:ea typeface="微软雅黑 Light" panose="020B0502040204020203" pitchFamily="34" charset="-122"/>
              </a:rPr>
              <a:t>几天后</a:t>
            </a:r>
            <a:endParaRPr lang="en-US" altLang="zh-CN" sz="1400" dirty="0">
              <a:latin typeface="Montserrat" panose="00000500000000000000" pitchFamily="2" charset="0"/>
              <a:ea typeface="微软雅黑 Light" panose="020B0502040204020203" pitchFamily="34" charset="-122"/>
            </a:endParaRPr>
          </a:p>
        </p:txBody>
      </p:sp>
      <p:sp>
        <p:nvSpPr>
          <p:cNvPr id="52" name="AutoShape 50"/>
          <p:cNvSpPr>
            <a:spLocks noChangeArrowheads="1"/>
          </p:cNvSpPr>
          <p:nvPr/>
        </p:nvSpPr>
        <p:spPr bwMode="auto">
          <a:xfrm>
            <a:off x="1145201" y="3696648"/>
            <a:ext cx="1104461" cy="455616"/>
          </a:xfrm>
          <a:prstGeom prst="can">
            <a:avLst>
              <a:gd name="adj" fmla="val 25000"/>
            </a:avLst>
          </a:prstGeom>
          <a:solidFill>
            <a:srgbClr val="0070C0"/>
          </a:solidFill>
          <a:ln w="9525">
            <a:noFill/>
            <a:round/>
            <a:headEnd/>
            <a:tailEnd/>
          </a:ln>
          <a:effec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53" name="Text Box 51"/>
          <p:cNvSpPr txBox="1">
            <a:spLocks noChangeArrowheads="1"/>
          </p:cNvSpPr>
          <p:nvPr/>
        </p:nvSpPr>
        <p:spPr bwMode="auto">
          <a:xfrm>
            <a:off x="1053274" y="3751022"/>
            <a:ext cx="1337610" cy="4612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200" dirty="0">
                <a:solidFill>
                  <a:schemeClr val="bg1"/>
                </a:solidFill>
                <a:latin typeface="Montserrat" panose="00000500000000000000" pitchFamily="2" charset="0"/>
                <a:ea typeface="微软雅黑 Light" panose="020B0502040204020203" pitchFamily="34" charset="-122"/>
              </a:rPr>
              <a:t>JD 1234</a:t>
            </a:r>
          </a:p>
          <a:p>
            <a:pPr algn="ctr"/>
            <a:r>
              <a:rPr lang="en-US" altLang="zh-CN" sz="1200" dirty="0">
                <a:solidFill>
                  <a:schemeClr val="bg1"/>
                </a:solidFill>
                <a:latin typeface="Montserrat" panose="00000500000000000000" pitchFamily="2" charset="0"/>
                <a:ea typeface="微软雅黑 Light" panose="020B0502040204020203" pitchFamily="34" charset="-122"/>
              </a:rPr>
              <a:t>ad42</a:t>
            </a:r>
          </a:p>
        </p:txBody>
      </p:sp>
      <p:sp>
        <p:nvSpPr>
          <p:cNvPr id="54" name="Text Box 52"/>
          <p:cNvSpPr txBox="1">
            <a:spLocks noChangeArrowheads="1"/>
          </p:cNvSpPr>
          <p:nvPr/>
        </p:nvSpPr>
        <p:spPr bwMode="auto">
          <a:xfrm>
            <a:off x="7504887" y="3158476"/>
            <a:ext cx="723275" cy="523220"/>
          </a:xfrm>
          <a:prstGeom prst="rect">
            <a:avLst/>
          </a:prstGeom>
          <a:noFill/>
          <a:ln>
            <a:noFill/>
          </a:ln>
          <a:effec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zh-CN" altLang="en-US" sz="1400" dirty="0">
                <a:solidFill>
                  <a:srgbClr val="C00000"/>
                </a:solidFill>
                <a:latin typeface="Montserrat" panose="00000500000000000000" pitchFamily="2" charset="0"/>
                <a:ea typeface="微软雅黑 Light" panose="020B0502040204020203" pitchFamily="34" charset="-122"/>
              </a:rPr>
              <a:t>后台</a:t>
            </a:r>
            <a:endParaRPr lang="en-US" altLang="zh-CN" sz="1400" dirty="0">
              <a:solidFill>
                <a:srgbClr val="C00000"/>
              </a:solidFill>
              <a:latin typeface="Montserrat" panose="00000500000000000000" pitchFamily="2" charset="0"/>
              <a:ea typeface="微软雅黑 Light" panose="020B0502040204020203" pitchFamily="34" charset="-122"/>
            </a:endParaRPr>
          </a:p>
          <a:p>
            <a:pPr algn="ctr"/>
            <a:r>
              <a:rPr lang="zh-CN" altLang="en-US" sz="1400" dirty="0">
                <a:solidFill>
                  <a:srgbClr val="C00000"/>
                </a:solidFill>
                <a:latin typeface="Montserrat" panose="00000500000000000000" pitchFamily="2" charset="0"/>
                <a:ea typeface="微软雅黑 Light" panose="020B0502040204020203" pitchFamily="34" charset="-122"/>
              </a:rPr>
              <a:t>数据库</a:t>
            </a:r>
            <a:endParaRPr lang="en-US" altLang="zh-CN" sz="1400" dirty="0">
              <a:solidFill>
                <a:srgbClr val="C00000"/>
              </a:solidFill>
              <a:latin typeface="Montserrat" panose="00000500000000000000" pitchFamily="2" charset="0"/>
              <a:ea typeface="微软雅黑 Light" panose="020B0502040204020203" pitchFamily="34" charset="-122"/>
            </a:endParaRPr>
          </a:p>
        </p:txBody>
      </p:sp>
      <p:sp>
        <p:nvSpPr>
          <p:cNvPr id="56" name="Rectangle 6"/>
          <p:cNvSpPr>
            <a:spLocks noChangeArrowheads="1"/>
          </p:cNvSpPr>
          <p:nvPr/>
        </p:nvSpPr>
        <p:spPr bwMode="auto">
          <a:xfrm>
            <a:off x="5592513" y="1399786"/>
            <a:ext cx="72135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400" dirty="0">
                <a:latin typeface="Montserrat" panose="00000500000000000000" pitchFamily="2" charset="0"/>
                <a:ea typeface="微软雅黑 Light" panose="020B0502040204020203" pitchFamily="34" charset="-122"/>
              </a:rPr>
              <a:t>服务器</a:t>
            </a:r>
          </a:p>
        </p:txBody>
      </p:sp>
      <p:sp>
        <p:nvSpPr>
          <p:cNvPr id="57" name="Rectangle 7"/>
          <p:cNvSpPr>
            <a:spLocks noChangeArrowheads="1"/>
          </p:cNvSpPr>
          <p:nvPr/>
        </p:nvSpPr>
        <p:spPr bwMode="auto">
          <a:xfrm>
            <a:off x="1403785" y="1399786"/>
            <a:ext cx="729368"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400" dirty="0">
                <a:latin typeface="Montserrat" panose="00000500000000000000" pitchFamily="2" charset="0"/>
                <a:ea typeface="微软雅黑 Light" panose="020B0502040204020203" pitchFamily="34" charset="-122"/>
              </a:rPr>
              <a:t>用户 </a:t>
            </a:r>
            <a:r>
              <a:rPr kumimoji="1" lang="en-US" altLang="zh-CN" sz="1400" dirty="0">
                <a:latin typeface="Montserrat" panose="00000500000000000000" pitchFamily="2" charset="0"/>
                <a:ea typeface="微软雅黑 Light" panose="020B0502040204020203" pitchFamily="34" charset="-122"/>
              </a:rPr>
              <a:t>A</a:t>
            </a:r>
            <a:endParaRPr kumimoji="1" lang="zh-CN" altLang="en-US" sz="14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8624007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wipe(left)">
                                      <p:cBhvr>
                                        <p:cTn id="7" dur="1000"/>
                                        <p:tgtEl>
                                          <p:spTgt spid="31"/>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wipe(left)">
                                      <p:cBhvr>
                                        <p:cTn id="12" dur="1000"/>
                                        <p:tgtEl>
                                          <p:spTgt spid="19"/>
                                        </p:tgtEl>
                                      </p:cBhvr>
                                    </p:animEffect>
                                  </p:childTnLst>
                                </p:cTn>
                              </p:par>
                            </p:childTnLst>
                          </p:cTn>
                        </p:par>
                        <p:par>
                          <p:cTn id="13" fill="hold">
                            <p:stCondLst>
                              <p:cond delay="1000"/>
                            </p:stCondLst>
                            <p:childTnLst>
                              <p:par>
                                <p:cTn id="14" presetID="22" presetClass="entr" presetSubtype="2" fill="hold" nodeType="after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right)">
                                      <p:cBhvr>
                                        <p:cTn id="16" dur="1000"/>
                                        <p:tgtEl>
                                          <p:spTgt spid="7"/>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nodeType="clickEffect">
                                  <p:stCondLst>
                                    <p:cond delay="0"/>
                                  </p:stCondLst>
                                  <p:childTnLst>
                                    <p:set>
                                      <p:cBhvr>
                                        <p:cTn id="20" dur="1" fill="hold">
                                          <p:stCondLst>
                                            <p:cond delay="0"/>
                                          </p:stCondLst>
                                        </p:cTn>
                                        <p:tgtEl>
                                          <p:spTgt spid="45"/>
                                        </p:tgtEl>
                                        <p:attrNameLst>
                                          <p:attrName>style.visibility</p:attrName>
                                        </p:attrNameLst>
                                      </p:cBhvr>
                                      <p:to>
                                        <p:strVal val="visible"/>
                                      </p:to>
                                    </p:set>
                                    <p:animEffect transition="in" filter="wipe(left)">
                                      <p:cBhvr>
                                        <p:cTn id="21" dur="1000"/>
                                        <p:tgtEl>
                                          <p:spTgt spid="45"/>
                                        </p:tgtEl>
                                      </p:cBhvr>
                                    </p:animEffect>
                                  </p:childTnLst>
                                </p:cTn>
                              </p:par>
                            </p:childTnLst>
                          </p:cTn>
                        </p:par>
                        <p:par>
                          <p:cTn id="22" fill="hold">
                            <p:stCondLst>
                              <p:cond delay="1000"/>
                            </p:stCondLst>
                            <p:childTnLst>
                              <p:par>
                                <p:cTn id="23" presetID="22" presetClass="entr" presetSubtype="2" fill="hold" nodeType="after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right)">
                                      <p:cBhvr>
                                        <p:cTn id="25" dur="10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142E95E9-8F13-616E-9A46-47DE6D86797C}"/>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a:t>
            </a:r>
          </a:p>
        </p:txBody>
      </p:sp>
      <p:sp>
        <p:nvSpPr>
          <p:cNvPr id="5" name="内容占位符 4">
            <a:extLst>
              <a:ext uri="{FF2B5EF4-FFF2-40B4-BE49-F238E27FC236}">
                <a16:creationId xmlns:a16="http://schemas.microsoft.com/office/drawing/2014/main" id="{3C2233FB-025B-FE82-4396-79C80C23F69C}"/>
              </a:ext>
            </a:extLst>
          </p:cNvPr>
          <p:cNvSpPr>
            <a:spLocks noGrp="1"/>
          </p:cNvSpPr>
          <p:nvPr>
            <p:ph sz="quarter" idx="11"/>
          </p:nvPr>
        </p:nvSpPr>
        <p:spPr>
          <a:xfrm>
            <a:off x="486000" y="687518"/>
            <a:ext cx="8172000" cy="4079035"/>
          </a:xfrm>
        </p:spPr>
        <p:txBody>
          <a:bodyPr/>
          <a:lstStyle/>
          <a:p>
            <a:r>
              <a:rPr lang="zh-CN" altLang="en-US" dirty="0"/>
              <a:t>在一个客户程序主窗口上显示出的万维网文档称为页面 </a:t>
            </a:r>
            <a:r>
              <a:rPr lang="en-US" altLang="zh-CN" dirty="0"/>
              <a:t>page</a:t>
            </a:r>
          </a:p>
          <a:p>
            <a:r>
              <a:rPr lang="zh-CN" altLang="en-US" dirty="0"/>
              <a:t>页面制作的标准语言：</a:t>
            </a:r>
            <a:r>
              <a:rPr lang="en-US" altLang="zh-CN" dirty="0"/>
              <a:t>HTML</a:t>
            </a:r>
          </a:p>
          <a:p>
            <a:r>
              <a:rPr lang="zh-CN" altLang="en-US" dirty="0"/>
              <a:t>分为：</a:t>
            </a:r>
            <a:endParaRPr lang="en-US" altLang="zh-CN" dirty="0"/>
          </a:p>
          <a:p>
            <a:pPr lvl="1"/>
            <a:r>
              <a:rPr lang="zh-CN" altLang="en-US" dirty="0"/>
              <a:t>静态万维网文档。内容不会改变。简单</a:t>
            </a:r>
            <a:endParaRPr lang="en-US" altLang="zh-CN" dirty="0"/>
          </a:p>
          <a:p>
            <a:pPr lvl="1"/>
            <a:r>
              <a:rPr lang="zh-CN" altLang="en-US" dirty="0"/>
              <a:t>动态万维网文档。文档的内容由应用程序动态创建</a:t>
            </a:r>
            <a:endParaRPr lang="en-US" altLang="zh-CN" dirty="0"/>
          </a:p>
          <a:p>
            <a:pPr lvl="1"/>
            <a:r>
              <a:rPr lang="zh-CN" altLang="en-US" dirty="0"/>
              <a:t>活动万维网文档。由浏览器端改变文档的内容</a:t>
            </a:r>
          </a:p>
          <a:p>
            <a:endParaRPr lang="zh-CN" altLang="en-US" dirty="0"/>
          </a:p>
        </p:txBody>
      </p:sp>
    </p:spTree>
    <p:extLst>
      <p:ext uri="{BB962C8B-B14F-4D97-AF65-F5344CB8AC3E}">
        <p14:creationId xmlns:p14="http://schemas.microsoft.com/office/powerpoint/2010/main" val="32304394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2BC9E27-0B78-1E50-1F75-BEB7A75FD436}"/>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超文本标记语言 </a:t>
            </a:r>
            <a:r>
              <a:rPr lang="en-US" altLang="zh-CN" dirty="0"/>
              <a:t>HTML</a:t>
            </a:r>
          </a:p>
        </p:txBody>
      </p:sp>
      <p:sp>
        <p:nvSpPr>
          <p:cNvPr id="3" name="内容占位符 2">
            <a:extLst>
              <a:ext uri="{FF2B5EF4-FFF2-40B4-BE49-F238E27FC236}">
                <a16:creationId xmlns:a16="http://schemas.microsoft.com/office/drawing/2014/main" id="{8BA7EFD1-D622-D78F-E7F5-B89A07379D58}"/>
              </a:ext>
            </a:extLst>
          </p:cNvPr>
          <p:cNvSpPr>
            <a:spLocks noGrp="1"/>
          </p:cNvSpPr>
          <p:nvPr>
            <p:ph sz="quarter" idx="11"/>
          </p:nvPr>
        </p:nvSpPr>
        <p:spPr>
          <a:xfrm>
            <a:off x="486000" y="687518"/>
            <a:ext cx="8172000" cy="4079035"/>
          </a:xfrm>
        </p:spPr>
        <p:txBody>
          <a:bodyPr/>
          <a:lstStyle/>
          <a:p>
            <a:r>
              <a:rPr lang="zh-CN" altLang="en-US" dirty="0"/>
              <a:t>超文本标记语言 </a:t>
            </a:r>
            <a:r>
              <a:rPr lang="en-US" altLang="zh-CN" dirty="0"/>
              <a:t>HTML - Hypertext Markup Language</a:t>
            </a:r>
          </a:p>
          <a:p>
            <a:pPr lvl="1"/>
            <a:r>
              <a:rPr lang="zh-CN" altLang="en-US" dirty="0"/>
              <a:t>制作万维网页面的标准语言</a:t>
            </a:r>
            <a:endParaRPr lang="en-US" altLang="zh-CN" dirty="0"/>
          </a:p>
          <a:p>
            <a:pPr lvl="1"/>
            <a:r>
              <a:rPr lang="zh-CN" altLang="en-US" dirty="0"/>
              <a:t>它消除了不同计算机之间信息交流的障碍</a:t>
            </a:r>
            <a:endParaRPr lang="en-US" altLang="zh-CN" dirty="0"/>
          </a:p>
          <a:p>
            <a:pPr lvl="1"/>
            <a:r>
              <a:rPr lang="zh-CN" altLang="en-US" dirty="0"/>
              <a:t>是万维网的重要基础 </a:t>
            </a:r>
            <a:r>
              <a:rPr lang="en-US" altLang="zh-CN" dirty="0"/>
              <a:t>[RFC 2854]</a:t>
            </a:r>
          </a:p>
          <a:p>
            <a:r>
              <a:rPr lang="zh-CN" altLang="en-US" dirty="0"/>
              <a:t>最新 </a:t>
            </a:r>
            <a:r>
              <a:rPr lang="en-US" altLang="zh-CN" dirty="0"/>
              <a:t>HTML 5.0 </a:t>
            </a:r>
            <a:r>
              <a:rPr lang="zh-CN" altLang="en-US" dirty="0"/>
              <a:t>增加了</a:t>
            </a:r>
            <a:r>
              <a:rPr lang="en-US" altLang="zh-CN" dirty="0"/>
              <a:t>&lt;audio&gt;</a:t>
            </a:r>
            <a:r>
              <a:rPr lang="zh-CN" altLang="en-US" dirty="0"/>
              <a:t>和</a:t>
            </a:r>
            <a:r>
              <a:rPr lang="en-US" altLang="zh-CN" dirty="0"/>
              <a:t>&lt;video&gt;</a:t>
            </a:r>
            <a:r>
              <a:rPr lang="zh-CN" altLang="en-US" dirty="0"/>
              <a:t>两个标签，实现对多媒体中的音频、视频使用的支持，增加了能够在移动设备上支持多媒体功能</a:t>
            </a:r>
            <a:endParaRPr lang="en-US" altLang="zh-CN" dirty="0"/>
          </a:p>
          <a:p>
            <a:endParaRPr lang="en-US" altLang="zh-CN" dirty="0"/>
          </a:p>
          <a:p>
            <a:r>
              <a:rPr lang="zh-CN" altLang="en-US" dirty="0"/>
              <a:t>注意：</a:t>
            </a:r>
            <a:r>
              <a:rPr lang="en-US" altLang="zh-CN" dirty="0"/>
              <a:t>HTML </a:t>
            </a:r>
            <a:r>
              <a:rPr lang="zh-CN" altLang="en-US" dirty="0"/>
              <a:t>不是应用层的协议，只是万维网浏览器使用的一种语言</a:t>
            </a:r>
          </a:p>
          <a:p>
            <a:endParaRPr lang="en-US" altLang="zh-CN" dirty="0"/>
          </a:p>
          <a:p>
            <a:endParaRPr lang="zh-CN" altLang="en-US" dirty="0"/>
          </a:p>
        </p:txBody>
      </p:sp>
    </p:spTree>
    <p:extLst>
      <p:ext uri="{BB962C8B-B14F-4D97-AF65-F5344CB8AC3E}">
        <p14:creationId xmlns:p14="http://schemas.microsoft.com/office/powerpoint/2010/main" val="36394079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6A400A1-B248-A968-8646-5C1ABB0EAFF9}"/>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超文本标记语言 </a:t>
            </a:r>
            <a:r>
              <a:rPr lang="en-US" altLang="zh-CN" dirty="0"/>
              <a:t>HTML</a:t>
            </a:r>
          </a:p>
        </p:txBody>
      </p:sp>
      <p:sp>
        <p:nvSpPr>
          <p:cNvPr id="3" name="内容占位符 2">
            <a:extLst>
              <a:ext uri="{FF2B5EF4-FFF2-40B4-BE49-F238E27FC236}">
                <a16:creationId xmlns:a16="http://schemas.microsoft.com/office/drawing/2014/main" id="{9B4B6751-79EA-D88B-B9A5-277C6F904E6B}"/>
              </a:ext>
            </a:extLst>
          </p:cNvPr>
          <p:cNvSpPr>
            <a:spLocks noGrp="1"/>
          </p:cNvSpPr>
          <p:nvPr>
            <p:ph sz="quarter" idx="11"/>
          </p:nvPr>
        </p:nvSpPr>
        <p:spPr>
          <a:xfrm>
            <a:off x="486000" y="687518"/>
            <a:ext cx="8172000" cy="4079035"/>
          </a:xfrm>
        </p:spPr>
        <p:txBody>
          <a:bodyPr/>
          <a:lstStyle/>
          <a:p>
            <a:r>
              <a:rPr lang="en-US" altLang="zh-CN" dirty="0"/>
              <a:t>HTML </a:t>
            </a:r>
            <a:r>
              <a:rPr lang="zh-CN" altLang="en-US" dirty="0"/>
              <a:t>定义了许多用于排版的命令</a:t>
            </a:r>
            <a:endParaRPr lang="en-US" altLang="zh-CN" dirty="0"/>
          </a:p>
          <a:p>
            <a:pPr lvl="1"/>
            <a:r>
              <a:rPr lang="zh-CN" altLang="en-US" dirty="0"/>
              <a:t>标记</a:t>
            </a:r>
            <a:endParaRPr lang="en-US" altLang="zh-CN" dirty="0"/>
          </a:p>
          <a:p>
            <a:pPr lvl="1"/>
            <a:r>
              <a:rPr lang="zh-CN" altLang="en-US" dirty="0"/>
              <a:t>也叫标签</a:t>
            </a:r>
          </a:p>
          <a:p>
            <a:r>
              <a:rPr lang="en-US" altLang="zh-CN" dirty="0"/>
              <a:t>HTML </a:t>
            </a:r>
            <a:r>
              <a:rPr lang="zh-CN" altLang="en-US" dirty="0"/>
              <a:t>把各种标签嵌入到万维网的页面中，构成了所谓的 </a:t>
            </a:r>
            <a:r>
              <a:rPr lang="en-US" altLang="zh-CN" dirty="0"/>
              <a:t>HTML </a:t>
            </a:r>
            <a:r>
              <a:rPr lang="zh-CN" altLang="en-US" dirty="0"/>
              <a:t>文档</a:t>
            </a:r>
            <a:endParaRPr lang="en-US" altLang="zh-CN" dirty="0"/>
          </a:p>
          <a:p>
            <a:r>
              <a:rPr lang="en-US" altLang="zh-CN" dirty="0"/>
              <a:t>HTML </a:t>
            </a:r>
            <a:r>
              <a:rPr lang="zh-CN" altLang="en-US" dirty="0"/>
              <a:t>文档是一种可以用任何文本编辑器创建的 </a:t>
            </a:r>
            <a:r>
              <a:rPr lang="en-US" altLang="zh-CN" dirty="0"/>
              <a:t>ASCII </a:t>
            </a:r>
            <a:r>
              <a:rPr lang="zh-CN" altLang="en-US" dirty="0"/>
              <a:t>码文件</a:t>
            </a:r>
            <a:endParaRPr lang="en-US" altLang="zh-CN" dirty="0"/>
          </a:p>
          <a:p>
            <a:r>
              <a:rPr lang="en-US" altLang="zh-CN" dirty="0"/>
              <a:t>HTML </a:t>
            </a:r>
            <a:r>
              <a:rPr lang="zh-CN" altLang="en-US" dirty="0"/>
              <a:t>文档的后缀：</a:t>
            </a:r>
            <a:r>
              <a:rPr lang="en-US" altLang="zh-CN" dirty="0"/>
              <a:t>.html </a:t>
            </a:r>
            <a:r>
              <a:rPr lang="zh-CN" altLang="en-US" dirty="0"/>
              <a:t>或 </a:t>
            </a:r>
            <a:r>
              <a:rPr lang="en-US" altLang="zh-CN" dirty="0"/>
              <a:t>.</a:t>
            </a:r>
            <a:r>
              <a:rPr lang="en-US" altLang="zh-CN" dirty="0" err="1"/>
              <a:t>htm</a:t>
            </a:r>
            <a:endParaRPr lang="zh-CN" altLang="en-US" dirty="0"/>
          </a:p>
          <a:p>
            <a:endParaRPr lang="zh-CN" altLang="en-US" dirty="0"/>
          </a:p>
        </p:txBody>
      </p:sp>
    </p:spTree>
    <p:extLst>
      <p:ext uri="{BB962C8B-B14F-4D97-AF65-F5344CB8AC3E}">
        <p14:creationId xmlns:p14="http://schemas.microsoft.com/office/powerpoint/2010/main" val="27588526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15EFF48-1405-B4AB-3050-98905A02C6EE}"/>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超文本标记语言 </a:t>
            </a:r>
            <a:r>
              <a:rPr lang="en-US" altLang="zh-CN" dirty="0"/>
              <a:t>HTML – </a:t>
            </a:r>
            <a:r>
              <a:rPr lang="zh-CN" altLang="en-US" dirty="0"/>
              <a:t>标签</a:t>
            </a:r>
          </a:p>
        </p:txBody>
      </p:sp>
      <p:sp>
        <p:nvSpPr>
          <p:cNvPr id="19" name="内容占位符 18">
            <a:extLst>
              <a:ext uri="{FF2B5EF4-FFF2-40B4-BE49-F238E27FC236}">
                <a16:creationId xmlns:a16="http://schemas.microsoft.com/office/drawing/2014/main" id="{73715B37-FDBE-0B0C-1BF3-2A651509B074}"/>
              </a:ext>
            </a:extLst>
          </p:cNvPr>
          <p:cNvSpPr>
            <a:spLocks noGrp="1"/>
          </p:cNvSpPr>
          <p:nvPr>
            <p:ph sz="quarter" idx="11"/>
          </p:nvPr>
        </p:nvSpPr>
        <p:spPr/>
        <p:txBody>
          <a:bodyPr/>
          <a:lstStyle/>
          <a:p>
            <a:endParaRPr lang="zh-CN" altLang="en-US"/>
          </a:p>
        </p:txBody>
      </p:sp>
      <p:sp>
        <p:nvSpPr>
          <p:cNvPr id="5" name="Text Box 4"/>
          <p:cNvSpPr txBox="1">
            <a:spLocks noChangeArrowheads="1"/>
          </p:cNvSpPr>
          <p:nvPr/>
        </p:nvSpPr>
        <p:spPr bwMode="auto">
          <a:xfrm>
            <a:off x="2318278" y="1670726"/>
            <a:ext cx="4741180" cy="22467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en-US" altLang="zh-CN" sz="1400" dirty="0">
                <a:latin typeface="Montserrat" panose="00000500000000000000" pitchFamily="2" charset="0"/>
                <a:ea typeface="微软雅黑 Light" panose="020B0502040204020203" pitchFamily="34" charset="-122"/>
              </a:rPr>
              <a:t>&lt;HTML&gt;                                          </a:t>
            </a:r>
          </a:p>
          <a:p>
            <a:pPr eaLnBrk="1" hangingPunct="1"/>
            <a:r>
              <a:rPr lang="en-US" altLang="zh-CN" sz="1400" dirty="0">
                <a:latin typeface="Montserrat" panose="00000500000000000000" pitchFamily="2" charset="0"/>
                <a:ea typeface="微软雅黑 Light" panose="020B0502040204020203" pitchFamily="34" charset="-122"/>
              </a:rPr>
              <a:t>&lt;HEAD&gt;                                         </a:t>
            </a:r>
            <a:br>
              <a:rPr lang="en-US" altLang="zh-CN" sz="1400" dirty="0">
                <a:latin typeface="Montserrat" panose="00000500000000000000" pitchFamily="2" charset="0"/>
                <a:ea typeface="微软雅黑 Light" panose="020B0502040204020203" pitchFamily="34" charset="-122"/>
              </a:rPr>
            </a:br>
            <a:r>
              <a:rPr lang="en-US" altLang="zh-CN" sz="1400" dirty="0">
                <a:latin typeface="Montserrat" panose="00000500000000000000" pitchFamily="2" charset="0"/>
                <a:ea typeface="微软雅黑 Light" panose="020B0502040204020203" pitchFamily="34" charset="-122"/>
              </a:rPr>
              <a:t>      &lt;TITLE&gt;</a:t>
            </a:r>
            <a:r>
              <a:rPr lang="zh-CN" altLang="en-US" sz="1400" dirty="0">
                <a:latin typeface="Montserrat" panose="00000500000000000000" pitchFamily="2" charset="0"/>
                <a:ea typeface="微软雅黑 Light" panose="020B0502040204020203" pitchFamily="34" charset="-122"/>
              </a:rPr>
              <a:t>一个 </a:t>
            </a:r>
            <a:r>
              <a:rPr lang="en-US" altLang="zh-CN" sz="1400" dirty="0">
                <a:latin typeface="Montserrat" panose="00000500000000000000" pitchFamily="2" charset="0"/>
                <a:ea typeface="微软雅黑 Light" panose="020B0502040204020203" pitchFamily="34" charset="-122"/>
              </a:rPr>
              <a:t>HTML </a:t>
            </a:r>
            <a:r>
              <a:rPr lang="zh-CN" altLang="en-US" sz="1400" dirty="0">
                <a:latin typeface="Montserrat" panose="00000500000000000000" pitchFamily="2" charset="0"/>
                <a:ea typeface="微软雅黑 Light" panose="020B0502040204020203" pitchFamily="34" charset="-122"/>
              </a:rPr>
              <a:t>的例子</a:t>
            </a:r>
            <a:r>
              <a:rPr lang="en-US" altLang="zh-CN" sz="1400" dirty="0">
                <a:latin typeface="Montserrat" panose="00000500000000000000" pitchFamily="2" charset="0"/>
                <a:ea typeface="微软雅黑 Light" panose="020B0502040204020203" pitchFamily="34" charset="-122"/>
              </a:rPr>
              <a:t>&lt;/TITLE&gt;</a:t>
            </a:r>
          </a:p>
          <a:p>
            <a:pPr eaLnBrk="1" hangingPunct="1"/>
            <a:r>
              <a:rPr lang="en-US" altLang="zh-CN" sz="1400" dirty="0">
                <a:latin typeface="Montserrat" panose="00000500000000000000" pitchFamily="2" charset="0"/>
                <a:ea typeface="微软雅黑 Light" panose="020B0502040204020203" pitchFamily="34" charset="-122"/>
              </a:rPr>
              <a:t>&lt;/HEAD&gt;</a:t>
            </a:r>
          </a:p>
          <a:p>
            <a:pPr eaLnBrk="1" hangingPunct="1"/>
            <a:r>
              <a:rPr lang="en-US" altLang="zh-CN" sz="1400" dirty="0">
                <a:latin typeface="Montserrat" panose="00000500000000000000" pitchFamily="2" charset="0"/>
                <a:ea typeface="微软雅黑 Light" panose="020B0502040204020203" pitchFamily="34" charset="-122"/>
              </a:rPr>
              <a:t>&lt;BODY&gt;</a:t>
            </a:r>
          </a:p>
          <a:p>
            <a:pPr eaLnBrk="1" hangingPunct="1"/>
            <a:r>
              <a:rPr lang="en-US" altLang="zh-CN" sz="1400" dirty="0">
                <a:latin typeface="Montserrat" panose="00000500000000000000" pitchFamily="2" charset="0"/>
                <a:ea typeface="微软雅黑 Light" panose="020B0502040204020203" pitchFamily="34" charset="-122"/>
              </a:rPr>
              <a:t>      &lt;H1&gt;HTML </a:t>
            </a:r>
            <a:r>
              <a:rPr lang="zh-CN" altLang="en-US" sz="1400" dirty="0">
                <a:latin typeface="Montserrat" panose="00000500000000000000" pitchFamily="2" charset="0"/>
                <a:ea typeface="微软雅黑 Light" panose="020B0502040204020203" pitchFamily="34" charset="-122"/>
              </a:rPr>
              <a:t>很容易掌握</a:t>
            </a:r>
            <a:r>
              <a:rPr lang="en-US" altLang="zh-CN" sz="1400" dirty="0">
                <a:latin typeface="Montserrat" panose="00000500000000000000" pitchFamily="2" charset="0"/>
                <a:ea typeface="微软雅黑 Light" panose="020B0502040204020203" pitchFamily="34" charset="-122"/>
              </a:rPr>
              <a:t>&lt;/H1&gt;</a:t>
            </a:r>
          </a:p>
          <a:p>
            <a:pPr eaLnBrk="1" hangingPunct="1"/>
            <a:r>
              <a:rPr lang="en-US" altLang="zh-CN" sz="1400" dirty="0">
                <a:latin typeface="Montserrat" panose="00000500000000000000" pitchFamily="2" charset="0"/>
                <a:ea typeface="微软雅黑 Light" panose="020B0502040204020203" pitchFamily="34" charset="-122"/>
              </a:rPr>
              <a:t>      &lt;P&gt;</a:t>
            </a:r>
            <a:r>
              <a:rPr lang="zh-CN" altLang="en-US" sz="1400" dirty="0">
                <a:latin typeface="Montserrat" panose="00000500000000000000" pitchFamily="2" charset="0"/>
                <a:ea typeface="微软雅黑 Light" panose="020B0502040204020203" pitchFamily="34" charset="-122"/>
              </a:rPr>
              <a:t>这是第一个段落。</a:t>
            </a:r>
            <a:r>
              <a:rPr lang="en-US" altLang="zh-CN" sz="1400" dirty="0">
                <a:latin typeface="Montserrat" panose="00000500000000000000" pitchFamily="2" charset="0"/>
                <a:ea typeface="微软雅黑 Light" panose="020B0502040204020203" pitchFamily="34" charset="-122"/>
              </a:rPr>
              <a:t>&lt;/P&gt;</a:t>
            </a:r>
          </a:p>
          <a:p>
            <a:pPr eaLnBrk="1" hangingPunct="1"/>
            <a:r>
              <a:rPr lang="en-US" altLang="zh-CN" sz="1400" dirty="0">
                <a:latin typeface="Montserrat" panose="00000500000000000000" pitchFamily="2" charset="0"/>
                <a:ea typeface="微软雅黑 Light" panose="020B0502040204020203" pitchFamily="34" charset="-122"/>
              </a:rPr>
              <a:t>      &lt;P&gt;</a:t>
            </a:r>
            <a:r>
              <a:rPr lang="zh-CN" altLang="en-US" sz="1400" dirty="0">
                <a:latin typeface="Montserrat" panose="00000500000000000000" pitchFamily="2" charset="0"/>
                <a:ea typeface="微软雅黑 Light" panose="020B0502040204020203" pitchFamily="34" charset="-122"/>
              </a:rPr>
              <a:t>这是第二个段落。</a:t>
            </a:r>
            <a:r>
              <a:rPr lang="en-US" altLang="zh-CN" sz="1400" dirty="0">
                <a:latin typeface="Montserrat" panose="00000500000000000000" pitchFamily="2" charset="0"/>
                <a:ea typeface="微软雅黑 Light" panose="020B0502040204020203" pitchFamily="34" charset="-122"/>
              </a:rPr>
              <a:t>&lt;/P&gt;</a:t>
            </a:r>
          </a:p>
          <a:p>
            <a:pPr eaLnBrk="1" hangingPunct="1"/>
            <a:r>
              <a:rPr lang="en-US" altLang="zh-CN" sz="1400" dirty="0">
                <a:latin typeface="Montserrat" panose="00000500000000000000" pitchFamily="2" charset="0"/>
                <a:ea typeface="微软雅黑 Light" panose="020B0502040204020203" pitchFamily="34" charset="-122"/>
              </a:rPr>
              <a:t>&lt;/BODY&gt;</a:t>
            </a:r>
          </a:p>
          <a:p>
            <a:pPr eaLnBrk="1" hangingPunct="1"/>
            <a:r>
              <a:rPr lang="en-US" altLang="zh-CN" sz="1400" dirty="0">
                <a:latin typeface="Montserrat" panose="00000500000000000000" pitchFamily="2" charset="0"/>
                <a:ea typeface="微软雅黑 Light" panose="020B0502040204020203" pitchFamily="34" charset="-122"/>
              </a:rPr>
              <a:t>&lt;/HTML&gt;</a:t>
            </a:r>
          </a:p>
        </p:txBody>
      </p:sp>
      <p:grpSp>
        <p:nvGrpSpPr>
          <p:cNvPr id="16" name="组合 15"/>
          <p:cNvGrpSpPr/>
          <p:nvPr/>
        </p:nvGrpSpPr>
        <p:grpSpPr>
          <a:xfrm>
            <a:off x="968437" y="1817720"/>
            <a:ext cx="808985" cy="1944000"/>
            <a:chOff x="1202807" y="1334295"/>
            <a:chExt cx="808985" cy="1944000"/>
          </a:xfrm>
        </p:grpSpPr>
        <p:sp>
          <p:nvSpPr>
            <p:cNvPr id="2" name="左大括号 1"/>
            <p:cNvSpPr/>
            <p:nvPr/>
          </p:nvSpPr>
          <p:spPr>
            <a:xfrm>
              <a:off x="1823224" y="1334295"/>
              <a:ext cx="188568" cy="1944000"/>
            </a:xfrm>
            <a:prstGeom prst="leftBrace">
              <a:avLst>
                <a:gd name="adj1" fmla="val 20518"/>
                <a:gd name="adj2" fmla="val 50972"/>
              </a:avLst>
            </a:prstGeom>
            <a:ln w="12700">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9" name="矩形 8"/>
            <p:cNvSpPr/>
            <p:nvPr/>
          </p:nvSpPr>
          <p:spPr>
            <a:xfrm>
              <a:off x="1202807" y="2152407"/>
              <a:ext cx="671545" cy="307777"/>
            </a:xfrm>
            <a:prstGeom prst="rect">
              <a:avLst/>
            </a:prstGeom>
          </p:spPr>
          <p:txBody>
            <a:bodyPr wrap="square">
              <a:spAutoFit/>
            </a:bodyPr>
            <a:lstStyle/>
            <a:p>
              <a:pPr algn="r"/>
              <a:r>
                <a:rPr lang="zh-CN" altLang="en-US" sz="1400" dirty="0">
                  <a:latin typeface="Montserrat" panose="00000500000000000000" pitchFamily="2" charset="0"/>
                  <a:ea typeface="微软雅黑 Light" panose="020B0502040204020203" pitchFamily="34" charset="-122"/>
                </a:rPr>
                <a:t>文档</a:t>
              </a:r>
            </a:p>
          </p:txBody>
        </p:sp>
      </p:grpSp>
      <p:grpSp>
        <p:nvGrpSpPr>
          <p:cNvPr id="17" name="组合 16"/>
          <p:cNvGrpSpPr/>
          <p:nvPr/>
        </p:nvGrpSpPr>
        <p:grpSpPr>
          <a:xfrm>
            <a:off x="1603775" y="2025862"/>
            <a:ext cx="760827" cy="432000"/>
            <a:chOff x="1838145" y="1546282"/>
            <a:chExt cx="760827" cy="432000"/>
          </a:xfrm>
        </p:grpSpPr>
        <p:sp>
          <p:nvSpPr>
            <p:cNvPr id="11" name="左大括号 10"/>
            <p:cNvSpPr/>
            <p:nvPr/>
          </p:nvSpPr>
          <p:spPr>
            <a:xfrm>
              <a:off x="2448302" y="1546282"/>
              <a:ext cx="150670" cy="432000"/>
            </a:xfrm>
            <a:prstGeom prst="leftBrace">
              <a:avLst>
                <a:gd name="adj1" fmla="val 20518"/>
                <a:gd name="adj2" fmla="val 50972"/>
              </a:avLst>
            </a:prstGeom>
            <a:ln w="12700">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13" name="矩形 12"/>
            <p:cNvSpPr/>
            <p:nvPr/>
          </p:nvSpPr>
          <p:spPr>
            <a:xfrm>
              <a:off x="1838145" y="1608394"/>
              <a:ext cx="671544" cy="307777"/>
            </a:xfrm>
            <a:prstGeom prst="rect">
              <a:avLst/>
            </a:prstGeom>
          </p:spPr>
          <p:txBody>
            <a:bodyPr wrap="square">
              <a:spAutoFit/>
            </a:bodyPr>
            <a:lstStyle/>
            <a:p>
              <a:pPr algn="r"/>
              <a:r>
                <a:rPr lang="zh-CN" altLang="en-US" sz="1400" dirty="0">
                  <a:latin typeface="Montserrat" panose="00000500000000000000" pitchFamily="2" charset="0"/>
                  <a:ea typeface="微软雅黑 Light" panose="020B0502040204020203" pitchFamily="34" charset="-122"/>
                </a:rPr>
                <a:t>首部</a:t>
              </a:r>
              <a:endParaRPr lang="en-US" altLang="zh-CN" sz="1400" dirty="0">
                <a:latin typeface="Montserrat" panose="00000500000000000000" pitchFamily="2" charset="0"/>
                <a:ea typeface="微软雅黑 Light" panose="020B0502040204020203" pitchFamily="34" charset="-122"/>
              </a:endParaRPr>
            </a:p>
          </p:txBody>
        </p:sp>
      </p:grpSp>
      <p:grpSp>
        <p:nvGrpSpPr>
          <p:cNvPr id="18" name="组合 17"/>
          <p:cNvGrpSpPr/>
          <p:nvPr/>
        </p:nvGrpSpPr>
        <p:grpSpPr>
          <a:xfrm>
            <a:off x="1603775" y="2677230"/>
            <a:ext cx="760827" cy="828000"/>
            <a:chOff x="1838145" y="2466614"/>
            <a:chExt cx="760827" cy="828000"/>
          </a:xfrm>
        </p:grpSpPr>
        <p:sp>
          <p:nvSpPr>
            <p:cNvPr id="14" name="左大括号 13"/>
            <p:cNvSpPr/>
            <p:nvPr/>
          </p:nvSpPr>
          <p:spPr>
            <a:xfrm>
              <a:off x="2448302" y="2466614"/>
              <a:ext cx="150670" cy="828000"/>
            </a:xfrm>
            <a:prstGeom prst="leftBrace">
              <a:avLst>
                <a:gd name="adj1" fmla="val 20518"/>
                <a:gd name="adj2" fmla="val 50972"/>
              </a:avLst>
            </a:prstGeom>
            <a:ln w="12700">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15" name="矩形 14"/>
            <p:cNvSpPr/>
            <p:nvPr/>
          </p:nvSpPr>
          <p:spPr>
            <a:xfrm>
              <a:off x="1838145" y="2726726"/>
              <a:ext cx="671544" cy="307777"/>
            </a:xfrm>
            <a:prstGeom prst="rect">
              <a:avLst/>
            </a:prstGeom>
          </p:spPr>
          <p:txBody>
            <a:bodyPr wrap="square">
              <a:spAutoFit/>
            </a:bodyPr>
            <a:lstStyle/>
            <a:p>
              <a:pPr algn="r"/>
              <a:r>
                <a:rPr lang="zh-CN" altLang="en-US" sz="1400" dirty="0">
                  <a:latin typeface="Montserrat" panose="00000500000000000000" pitchFamily="2" charset="0"/>
                  <a:ea typeface="微软雅黑 Light" panose="020B0502040204020203" pitchFamily="34" charset="-122"/>
                </a:rPr>
                <a:t>主体</a:t>
              </a:r>
              <a:endParaRPr lang="en-US" altLang="zh-CN" sz="1400" dirty="0">
                <a:latin typeface="Montserrat" panose="00000500000000000000" pitchFamily="2" charset="0"/>
                <a:ea typeface="微软雅黑 Light" panose="020B0502040204020203" pitchFamily="34" charset="-122"/>
              </a:endParaRPr>
            </a:p>
          </p:txBody>
        </p:sp>
      </p:grpSp>
      <p:pic>
        <p:nvPicPr>
          <p:cNvPr id="25" name="Picture 5" descr="HTML"/>
          <p:cNvPicPr>
            <a:picLocks noChangeAspect="1" noChangeArrowheads="1"/>
          </p:cNvPicPr>
          <p:nvPr/>
        </p:nvPicPr>
        <p:blipFill>
          <a:blip r:embed="rId2">
            <a:extLst>
              <a:ext uri="{28A0092B-C50C-407E-A947-70E740481C1C}">
                <a14:useLocalDpi xmlns:a14="http://schemas.microsoft.com/office/drawing/2010/main" val="0"/>
              </a:ext>
            </a:extLst>
          </a:blip>
          <a:srcRect r="39665" b="65755"/>
          <a:stretch>
            <a:fillRect/>
          </a:stretch>
        </p:blipFill>
        <p:spPr bwMode="auto">
          <a:xfrm>
            <a:off x="5337736" y="2697912"/>
            <a:ext cx="3078295" cy="131037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651702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nodeType="click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fade">
                                      <p:cBhvr>
                                        <p:cTn id="11" dur="500"/>
                                        <p:tgtEl>
                                          <p:spTgt spid="16"/>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fade">
                                      <p:cBhvr>
                                        <p:cTn id="16" dur="500"/>
                                        <p:tgtEl>
                                          <p:spTgt spid="17"/>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FCAEF4BB-11D5-508F-8DDF-1A2919102C28}"/>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超文本标记语言 </a:t>
            </a:r>
            <a:r>
              <a:rPr lang="en-US" altLang="zh-CN" dirty="0"/>
              <a:t>HTML – </a:t>
            </a:r>
            <a:r>
              <a:rPr lang="zh-CN" altLang="en-US" dirty="0"/>
              <a:t>标签</a:t>
            </a:r>
          </a:p>
        </p:txBody>
      </p:sp>
      <p:sp>
        <p:nvSpPr>
          <p:cNvPr id="8" name="内容占位符 7">
            <a:extLst>
              <a:ext uri="{FF2B5EF4-FFF2-40B4-BE49-F238E27FC236}">
                <a16:creationId xmlns:a16="http://schemas.microsoft.com/office/drawing/2014/main" id="{42946583-CD91-60DC-C2EC-9A0B8F0BDFA1}"/>
              </a:ext>
            </a:extLst>
          </p:cNvPr>
          <p:cNvSpPr>
            <a:spLocks noGrp="1"/>
          </p:cNvSpPr>
          <p:nvPr>
            <p:ph sz="quarter" idx="11"/>
          </p:nvPr>
        </p:nvSpPr>
        <p:spPr>
          <a:xfrm>
            <a:off x="486000" y="687518"/>
            <a:ext cx="8172000" cy="4079035"/>
          </a:xfrm>
        </p:spPr>
        <p:txBody>
          <a:bodyPr/>
          <a:lstStyle/>
          <a:p>
            <a:r>
              <a:rPr lang="zh-CN" altLang="en-US" dirty="0"/>
              <a:t>链接标签 </a:t>
            </a:r>
            <a:r>
              <a:rPr lang="en-US" altLang="zh-CN" dirty="0"/>
              <a:t>&lt;a&gt;</a:t>
            </a:r>
          </a:p>
          <a:p>
            <a:pPr lvl="1"/>
            <a:r>
              <a:rPr lang="zh-CN" altLang="en-US" dirty="0"/>
              <a:t>每个链接都有一个起点和终点</a:t>
            </a:r>
            <a:endParaRPr lang="en-US" altLang="zh-CN" dirty="0"/>
          </a:p>
          <a:p>
            <a:pPr lvl="1"/>
            <a:r>
              <a:rPr lang="zh-CN" altLang="en-US" dirty="0"/>
              <a:t>起点：说明在万维网页面中的什么地方可引出一个链接。可以文字、图像；如</a:t>
            </a:r>
            <a:r>
              <a:rPr lang="en-US" altLang="zh-CN" dirty="0"/>
              <a:t>&lt;a </a:t>
            </a:r>
            <a:r>
              <a:rPr lang="en-US" altLang="zh-CN" dirty="0" err="1"/>
              <a:t>href</a:t>
            </a:r>
            <a:r>
              <a:rPr lang="en-US" altLang="zh-CN" dirty="0"/>
              <a:t> = “http://glplaman.github.io”&gt;</a:t>
            </a:r>
            <a:r>
              <a:rPr lang="zh-CN" altLang="en-US" dirty="0"/>
              <a:t>大树小站</a:t>
            </a:r>
            <a:r>
              <a:rPr lang="en-US" altLang="zh-CN" dirty="0"/>
              <a:t>&lt;/a&gt;</a:t>
            </a:r>
          </a:p>
          <a:p>
            <a:pPr lvl="1"/>
            <a:r>
              <a:rPr lang="zh-CN" altLang="en-US" dirty="0"/>
              <a:t>终点：</a:t>
            </a:r>
            <a:endParaRPr lang="en-US" altLang="zh-CN" dirty="0"/>
          </a:p>
          <a:p>
            <a:pPr lvl="2"/>
            <a:r>
              <a:rPr lang="zh-CN" altLang="en-US" dirty="0"/>
              <a:t>可以是其他网站上的页面。这种链接方式叫做远程链接。这时必须指明链接到的网站的 </a:t>
            </a:r>
            <a:r>
              <a:rPr lang="en-US" altLang="zh-CN" dirty="0"/>
              <a:t>URL</a:t>
            </a:r>
          </a:p>
          <a:p>
            <a:pPr lvl="2"/>
            <a:r>
              <a:rPr lang="zh-CN" altLang="en-US" dirty="0"/>
              <a:t>可以指向本计算机中的某一个文件或本文件中的某处，这种链接方式叫做本地链接。这时必须指明链接的路径</a:t>
            </a:r>
            <a:endParaRPr lang="en-US" altLang="zh-CN" dirty="0"/>
          </a:p>
          <a:p>
            <a:r>
              <a:rPr lang="zh-CN" altLang="en-US" dirty="0"/>
              <a:t>图像标签 </a:t>
            </a:r>
            <a:r>
              <a:rPr lang="en-US" altLang="zh-CN" dirty="0"/>
              <a:t>&lt;</a:t>
            </a:r>
            <a:r>
              <a:rPr lang="en-US" altLang="zh-CN" dirty="0" err="1"/>
              <a:t>img</a:t>
            </a:r>
            <a:r>
              <a:rPr lang="en-US" altLang="zh-CN" dirty="0"/>
              <a:t>&gt;</a:t>
            </a:r>
          </a:p>
          <a:p>
            <a:pPr lvl="1"/>
            <a:r>
              <a:rPr lang="zh-CN" altLang="en-US" dirty="0"/>
              <a:t>允许在万维网页面中插入图像</a:t>
            </a:r>
            <a:endParaRPr lang="en-US" altLang="zh-CN" dirty="0"/>
          </a:p>
          <a:p>
            <a:pPr lvl="1"/>
            <a:r>
              <a:rPr lang="zh-CN" altLang="en-US" dirty="0"/>
              <a:t>一个页面本身带有的图像称为内含图像 </a:t>
            </a:r>
            <a:r>
              <a:rPr lang="en-US" altLang="zh-CN" dirty="0"/>
              <a:t>(inline image)</a:t>
            </a:r>
          </a:p>
          <a:p>
            <a:pPr lvl="1"/>
            <a:r>
              <a:rPr lang="en-US" altLang="zh-CN" dirty="0"/>
              <a:t>HTML </a:t>
            </a:r>
            <a:r>
              <a:rPr lang="zh-CN" altLang="en-US" dirty="0"/>
              <a:t>标准没有规定该图像的格式</a:t>
            </a:r>
            <a:endParaRPr lang="en-US" altLang="zh-CN" dirty="0"/>
          </a:p>
          <a:p>
            <a:pPr lvl="1"/>
            <a:r>
              <a:rPr lang="zh-CN" altLang="en-US" dirty="0"/>
              <a:t>大多数浏览器都支持 </a:t>
            </a:r>
            <a:r>
              <a:rPr lang="en-US" altLang="zh-CN" dirty="0"/>
              <a:t>GIF </a:t>
            </a:r>
            <a:r>
              <a:rPr lang="zh-CN" altLang="en-US" dirty="0"/>
              <a:t>和 </a:t>
            </a:r>
            <a:r>
              <a:rPr lang="en-US" altLang="zh-CN" dirty="0"/>
              <a:t>JPEG </a:t>
            </a:r>
            <a:r>
              <a:rPr lang="zh-CN" altLang="en-US" dirty="0"/>
              <a:t>文件</a:t>
            </a:r>
          </a:p>
        </p:txBody>
      </p:sp>
    </p:spTree>
    <p:extLst>
      <p:ext uri="{BB962C8B-B14F-4D97-AF65-F5344CB8AC3E}">
        <p14:creationId xmlns:p14="http://schemas.microsoft.com/office/powerpoint/2010/main" val="8308218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DDCBAF94-6214-D296-7FEA-4A843D2D37B0}"/>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XML</a:t>
            </a:r>
            <a:endParaRPr lang="zh-CN" altLang="en-US" dirty="0"/>
          </a:p>
        </p:txBody>
      </p:sp>
      <p:sp>
        <p:nvSpPr>
          <p:cNvPr id="6" name="内容占位符 5">
            <a:extLst>
              <a:ext uri="{FF2B5EF4-FFF2-40B4-BE49-F238E27FC236}">
                <a16:creationId xmlns:a16="http://schemas.microsoft.com/office/drawing/2014/main" id="{686E0B60-CF65-4112-FA17-586F4A1AE496}"/>
              </a:ext>
            </a:extLst>
          </p:cNvPr>
          <p:cNvSpPr>
            <a:spLocks noGrp="1"/>
          </p:cNvSpPr>
          <p:nvPr>
            <p:ph sz="quarter" idx="11"/>
          </p:nvPr>
        </p:nvSpPr>
        <p:spPr>
          <a:xfrm>
            <a:off x="486000" y="687518"/>
            <a:ext cx="8172000" cy="4079035"/>
          </a:xfrm>
        </p:spPr>
        <p:txBody>
          <a:bodyPr/>
          <a:lstStyle/>
          <a:p>
            <a:r>
              <a:rPr lang="zh-CN" altLang="en-US" dirty="0"/>
              <a:t>可扩展标记语言 </a:t>
            </a:r>
            <a:r>
              <a:rPr lang="en-US" altLang="zh-CN" dirty="0"/>
              <a:t>XML (Extensible Markup Language) </a:t>
            </a:r>
            <a:r>
              <a:rPr lang="zh-CN" altLang="en-US" dirty="0"/>
              <a:t>和 </a:t>
            </a:r>
            <a:r>
              <a:rPr lang="en-US" altLang="zh-CN" dirty="0"/>
              <a:t>HTML </a:t>
            </a:r>
            <a:r>
              <a:rPr lang="zh-CN" altLang="en-US" dirty="0"/>
              <a:t>很相似</a:t>
            </a:r>
          </a:p>
          <a:p>
            <a:r>
              <a:rPr lang="zh-CN" altLang="en-US" dirty="0"/>
              <a:t>设计宗旨是：传输数据，而不是显示数据</a:t>
            </a:r>
            <a:endParaRPr lang="en-US" altLang="zh-CN" dirty="0"/>
          </a:p>
          <a:p>
            <a:r>
              <a:rPr lang="zh-CN" altLang="en-US" dirty="0"/>
              <a:t>特点和优点：</a:t>
            </a:r>
            <a:endParaRPr lang="en-US" altLang="zh-CN" dirty="0"/>
          </a:p>
          <a:p>
            <a:pPr lvl="1"/>
            <a:r>
              <a:rPr lang="zh-CN" altLang="en-US" dirty="0"/>
              <a:t>可用来标记数据、定义数据类型</a:t>
            </a:r>
            <a:endParaRPr lang="en-US" altLang="zh-CN" dirty="0"/>
          </a:p>
          <a:p>
            <a:pPr lvl="1"/>
            <a:r>
              <a:rPr lang="zh-CN" altLang="en-US" dirty="0"/>
              <a:t>允许用户对自己的标记语言进行自定义，并且是无限制的</a:t>
            </a:r>
            <a:endParaRPr lang="en-US" altLang="zh-CN" dirty="0"/>
          </a:p>
          <a:p>
            <a:pPr lvl="1"/>
            <a:r>
              <a:rPr lang="zh-CN" altLang="en-US" dirty="0"/>
              <a:t>简单，与平台无关</a:t>
            </a:r>
            <a:endParaRPr lang="en-US" altLang="zh-CN" dirty="0"/>
          </a:p>
          <a:p>
            <a:pPr lvl="1"/>
            <a:r>
              <a:rPr lang="zh-CN" altLang="en-US" dirty="0"/>
              <a:t>将用户界面与结构化数据分隔开来</a:t>
            </a:r>
          </a:p>
          <a:p>
            <a:endParaRPr lang="zh-CN" altLang="en-US" dirty="0"/>
          </a:p>
        </p:txBody>
      </p:sp>
    </p:spTree>
    <p:extLst>
      <p:ext uri="{BB962C8B-B14F-4D97-AF65-F5344CB8AC3E}">
        <p14:creationId xmlns:p14="http://schemas.microsoft.com/office/powerpoint/2010/main" val="198383519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AE38630A-792D-CCC8-B4E6-756B277288BD}"/>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XHTML</a:t>
            </a:r>
            <a:endParaRPr lang="zh-CN" altLang="en-US" dirty="0"/>
          </a:p>
        </p:txBody>
      </p:sp>
      <p:sp>
        <p:nvSpPr>
          <p:cNvPr id="6" name="内容占位符 5">
            <a:extLst>
              <a:ext uri="{FF2B5EF4-FFF2-40B4-BE49-F238E27FC236}">
                <a16:creationId xmlns:a16="http://schemas.microsoft.com/office/drawing/2014/main" id="{98719D2B-A02A-3D4F-4F52-B97701557E03}"/>
              </a:ext>
            </a:extLst>
          </p:cNvPr>
          <p:cNvSpPr>
            <a:spLocks noGrp="1"/>
          </p:cNvSpPr>
          <p:nvPr>
            <p:ph sz="quarter" idx="11"/>
          </p:nvPr>
        </p:nvSpPr>
        <p:spPr>
          <a:xfrm>
            <a:off x="486000" y="687518"/>
            <a:ext cx="8172000" cy="4079035"/>
          </a:xfrm>
        </p:spPr>
        <p:txBody>
          <a:bodyPr/>
          <a:lstStyle/>
          <a:p>
            <a:r>
              <a:rPr lang="zh-CN" altLang="en-US" dirty="0"/>
              <a:t>可扩展超文本标记语言 </a:t>
            </a:r>
            <a:r>
              <a:rPr lang="en-US" altLang="zh-CN" dirty="0"/>
              <a:t>XHTML (Extensible HTML) </a:t>
            </a:r>
            <a:r>
              <a:rPr lang="zh-CN" altLang="en-US" dirty="0"/>
              <a:t>与 </a:t>
            </a:r>
            <a:r>
              <a:rPr lang="en-US" altLang="zh-CN" dirty="0"/>
              <a:t>HTML 4.01 </a:t>
            </a:r>
            <a:r>
              <a:rPr lang="zh-CN" altLang="en-US" dirty="0"/>
              <a:t>几乎相同，是更严格的 </a:t>
            </a:r>
            <a:r>
              <a:rPr lang="en-US" altLang="zh-CN" dirty="0"/>
              <a:t>HTML </a:t>
            </a:r>
            <a:r>
              <a:rPr lang="zh-CN" altLang="en-US" dirty="0"/>
              <a:t>版本</a:t>
            </a:r>
            <a:endParaRPr lang="en-US" altLang="zh-CN" dirty="0"/>
          </a:p>
          <a:p>
            <a:r>
              <a:rPr lang="zh-CN" altLang="en-US" dirty="0"/>
              <a:t>作为一种 </a:t>
            </a:r>
            <a:r>
              <a:rPr lang="en-US" altLang="zh-CN" dirty="0"/>
              <a:t>XML </a:t>
            </a:r>
            <a:r>
              <a:rPr lang="zh-CN" altLang="en-US" dirty="0"/>
              <a:t>应用被重新定义的 </a:t>
            </a:r>
            <a:r>
              <a:rPr lang="en-US" altLang="zh-CN" dirty="0"/>
              <a:t>HTML</a:t>
            </a:r>
            <a:r>
              <a:rPr lang="zh-CN" altLang="en-US" dirty="0"/>
              <a:t>，将逐渐取代 </a:t>
            </a:r>
            <a:r>
              <a:rPr lang="en-US" altLang="zh-CN" dirty="0"/>
              <a:t>HTML</a:t>
            </a:r>
            <a:endParaRPr lang="zh-CN" altLang="en-US" dirty="0"/>
          </a:p>
          <a:p>
            <a:endParaRPr lang="zh-CN" altLang="en-US" dirty="0"/>
          </a:p>
        </p:txBody>
      </p:sp>
    </p:spTree>
    <p:extLst>
      <p:ext uri="{BB962C8B-B14F-4D97-AF65-F5344CB8AC3E}">
        <p14:creationId xmlns:p14="http://schemas.microsoft.com/office/powerpoint/2010/main" val="19102007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EBAB1D7-458B-4D1E-2401-DD5D726A7A25}"/>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CSS</a:t>
            </a:r>
            <a:endParaRPr lang="zh-CN" altLang="en-US" dirty="0"/>
          </a:p>
        </p:txBody>
      </p:sp>
      <p:sp>
        <p:nvSpPr>
          <p:cNvPr id="7" name="内容占位符 6">
            <a:extLst>
              <a:ext uri="{FF2B5EF4-FFF2-40B4-BE49-F238E27FC236}">
                <a16:creationId xmlns:a16="http://schemas.microsoft.com/office/drawing/2014/main" id="{EDBB8FE1-D008-B358-8B22-7DEBBA7888F9}"/>
              </a:ext>
            </a:extLst>
          </p:cNvPr>
          <p:cNvSpPr>
            <a:spLocks noGrp="1"/>
          </p:cNvSpPr>
          <p:nvPr>
            <p:ph sz="quarter" idx="11"/>
          </p:nvPr>
        </p:nvSpPr>
        <p:spPr>
          <a:xfrm>
            <a:off x="486000" y="687518"/>
            <a:ext cx="8172000" cy="4079035"/>
          </a:xfrm>
        </p:spPr>
        <p:txBody>
          <a:bodyPr/>
          <a:lstStyle/>
          <a:p>
            <a:r>
              <a:rPr lang="zh-CN" altLang="en-US" dirty="0"/>
              <a:t>层叠样式表 </a:t>
            </a:r>
            <a:r>
              <a:rPr lang="en-US" altLang="zh-CN" dirty="0"/>
              <a:t>CSS (Cascading Style Sheets) </a:t>
            </a:r>
            <a:r>
              <a:rPr lang="zh-CN" altLang="en-US" dirty="0"/>
              <a:t>是一种样式表语言，用于为 </a:t>
            </a:r>
            <a:r>
              <a:rPr lang="en-US" altLang="zh-CN" dirty="0"/>
              <a:t>HTML </a:t>
            </a:r>
            <a:r>
              <a:rPr lang="zh-CN" altLang="en-US" dirty="0"/>
              <a:t>文档定义布局</a:t>
            </a:r>
          </a:p>
          <a:p>
            <a:r>
              <a:rPr lang="en-US" altLang="zh-CN" dirty="0"/>
              <a:t>CSS </a:t>
            </a:r>
            <a:r>
              <a:rPr lang="zh-CN" altLang="en-US" dirty="0"/>
              <a:t>与 </a:t>
            </a:r>
            <a:r>
              <a:rPr lang="en-US" altLang="zh-CN" dirty="0"/>
              <a:t>HTML </a:t>
            </a:r>
            <a:r>
              <a:rPr lang="zh-CN" altLang="en-US" dirty="0"/>
              <a:t>的区别：</a:t>
            </a:r>
            <a:endParaRPr lang="en-US" altLang="zh-CN" dirty="0"/>
          </a:p>
          <a:p>
            <a:pPr lvl="1"/>
            <a:r>
              <a:rPr lang="en-US" altLang="zh-CN" dirty="0"/>
              <a:t>HTML </a:t>
            </a:r>
            <a:r>
              <a:rPr lang="zh-CN" altLang="en-US" dirty="0"/>
              <a:t>用于结构化内容</a:t>
            </a:r>
            <a:endParaRPr lang="en-US" altLang="zh-CN" dirty="0"/>
          </a:p>
          <a:p>
            <a:pPr lvl="1"/>
            <a:r>
              <a:rPr lang="en-US" altLang="zh-CN" dirty="0"/>
              <a:t>CSS </a:t>
            </a:r>
            <a:r>
              <a:rPr lang="zh-CN" altLang="en-US" dirty="0"/>
              <a:t>则用于格式化结构化的内容；例如：精确规定在浏览器上显示的字体、颜色、边距、高度、宽度、背景图像等</a:t>
            </a:r>
          </a:p>
          <a:p>
            <a:endParaRPr lang="zh-CN" altLang="en-US" dirty="0"/>
          </a:p>
        </p:txBody>
      </p:sp>
    </p:spTree>
    <p:extLst>
      <p:ext uri="{BB962C8B-B14F-4D97-AF65-F5344CB8AC3E}">
        <p14:creationId xmlns:p14="http://schemas.microsoft.com/office/powerpoint/2010/main" val="20284031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6F770C-8DD1-AE54-B5C7-51691A60B567}"/>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DFE4B64A-0ECF-6E5F-33F9-62BC16F45E2B}"/>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JavaScript</a:t>
            </a:r>
            <a:endParaRPr lang="zh-CN" altLang="en-US" dirty="0"/>
          </a:p>
        </p:txBody>
      </p:sp>
      <p:sp>
        <p:nvSpPr>
          <p:cNvPr id="3" name="内容占位符 2">
            <a:extLst>
              <a:ext uri="{FF2B5EF4-FFF2-40B4-BE49-F238E27FC236}">
                <a16:creationId xmlns:a16="http://schemas.microsoft.com/office/drawing/2014/main" id="{5CA3EDCB-3327-C63F-9C70-D368A1426697}"/>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5689569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56FBBA2-2102-2270-A3F0-99CC05CBE39C}"/>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动态万维网文档</a:t>
            </a:r>
          </a:p>
        </p:txBody>
      </p:sp>
      <p:sp>
        <p:nvSpPr>
          <p:cNvPr id="8" name="内容占位符 7">
            <a:extLst>
              <a:ext uri="{FF2B5EF4-FFF2-40B4-BE49-F238E27FC236}">
                <a16:creationId xmlns:a16="http://schemas.microsoft.com/office/drawing/2014/main" id="{2860E9B4-B2DD-C73D-68AD-FE2D5EA47E48}"/>
              </a:ext>
            </a:extLst>
          </p:cNvPr>
          <p:cNvSpPr>
            <a:spLocks noGrp="1"/>
          </p:cNvSpPr>
          <p:nvPr>
            <p:ph sz="quarter" idx="11"/>
          </p:nvPr>
        </p:nvSpPr>
        <p:spPr>
          <a:xfrm>
            <a:off x="486000" y="687518"/>
            <a:ext cx="8172000" cy="4079035"/>
          </a:xfrm>
        </p:spPr>
        <p:txBody>
          <a:bodyPr/>
          <a:lstStyle/>
          <a:p>
            <a:r>
              <a:rPr lang="zh-CN" altLang="en-US" dirty="0"/>
              <a:t>静态文档：</a:t>
            </a:r>
            <a:endParaRPr lang="en-US" altLang="zh-CN" dirty="0"/>
          </a:p>
          <a:p>
            <a:pPr lvl="1"/>
            <a:r>
              <a:rPr lang="zh-CN" altLang="en-US" dirty="0"/>
              <a:t>该文档创作完毕后就存放在万维网服务器中，在被用户浏览的过程中，内容不会改变</a:t>
            </a:r>
          </a:p>
          <a:p>
            <a:r>
              <a:rPr lang="zh-CN" altLang="en-US" dirty="0"/>
              <a:t>动态文档：</a:t>
            </a:r>
            <a:endParaRPr lang="en-US" altLang="zh-CN" dirty="0"/>
          </a:p>
          <a:p>
            <a:pPr lvl="1"/>
            <a:r>
              <a:rPr lang="zh-CN" altLang="en-US" dirty="0"/>
              <a:t>文档的内容是在浏览器访问万维网服务器时才由应用程序动态创建</a:t>
            </a:r>
          </a:p>
          <a:p>
            <a:r>
              <a:rPr lang="zh-CN" altLang="en-US" dirty="0"/>
              <a:t>动态文档和静态文档之间的主要差别体现在服务器端：文档内容的生成方法不同。从浏览器的角度看，这两种文档并没有区别</a:t>
            </a:r>
          </a:p>
          <a:p>
            <a:endParaRPr lang="zh-CN" altLang="en-US" dirty="0"/>
          </a:p>
        </p:txBody>
      </p:sp>
    </p:spTree>
    <p:extLst>
      <p:ext uri="{BB962C8B-B14F-4D97-AF65-F5344CB8AC3E}">
        <p14:creationId xmlns:p14="http://schemas.microsoft.com/office/powerpoint/2010/main" val="23866077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54977CF9-97B9-4923-86BD-83DC701D1D5A}"/>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动态万维网文档</a:t>
            </a:r>
          </a:p>
        </p:txBody>
      </p:sp>
      <p:sp>
        <p:nvSpPr>
          <p:cNvPr id="6" name="内容占位符 5">
            <a:extLst>
              <a:ext uri="{FF2B5EF4-FFF2-40B4-BE49-F238E27FC236}">
                <a16:creationId xmlns:a16="http://schemas.microsoft.com/office/drawing/2014/main" id="{7C18C0B9-EC50-B764-85A0-C01BD822D42E}"/>
              </a:ext>
            </a:extLst>
          </p:cNvPr>
          <p:cNvSpPr>
            <a:spLocks noGrp="1"/>
          </p:cNvSpPr>
          <p:nvPr>
            <p:ph sz="quarter" idx="11"/>
          </p:nvPr>
        </p:nvSpPr>
        <p:spPr>
          <a:xfrm>
            <a:off x="486000" y="687518"/>
            <a:ext cx="8172000" cy="4079035"/>
          </a:xfrm>
        </p:spPr>
        <p:txBody>
          <a:bodyPr/>
          <a:lstStyle/>
          <a:p>
            <a:r>
              <a:rPr lang="zh-CN" altLang="en-US" dirty="0"/>
              <a:t>万维网服务器功能的扩充</a:t>
            </a:r>
          </a:p>
          <a:p>
            <a:pPr lvl="1"/>
            <a:r>
              <a:rPr lang="zh-CN" altLang="en-US" dirty="0"/>
              <a:t>增加一个应用程序：处理浏览器发来的数据，并创建动态文档</a:t>
            </a:r>
          </a:p>
          <a:p>
            <a:pPr lvl="1"/>
            <a:r>
              <a:rPr lang="zh-CN" altLang="en-US" dirty="0"/>
              <a:t>增加一个机制：使万维网服务器把浏览器发来的数据传送给这个应用程序，然后万维网服务器能够解释这个应用程序的输出，并向浏览器返回 </a:t>
            </a:r>
            <a:r>
              <a:rPr lang="en-US" altLang="zh-CN" dirty="0"/>
              <a:t>HTML </a:t>
            </a:r>
            <a:r>
              <a:rPr lang="zh-CN" altLang="en-US" dirty="0"/>
              <a:t>文档</a:t>
            </a:r>
          </a:p>
          <a:p>
            <a:endParaRPr lang="zh-CN" altLang="en-US" dirty="0"/>
          </a:p>
        </p:txBody>
      </p:sp>
    </p:spTree>
    <p:extLst>
      <p:ext uri="{BB962C8B-B14F-4D97-AF65-F5344CB8AC3E}">
        <p14:creationId xmlns:p14="http://schemas.microsoft.com/office/powerpoint/2010/main" val="40169657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4" name="图片 5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464089" y="1306545"/>
            <a:ext cx="1117348" cy="1564286"/>
          </a:xfrm>
          <a:prstGeom prst="rect">
            <a:avLst/>
          </a:prstGeom>
        </p:spPr>
      </p:pic>
      <p:pic>
        <p:nvPicPr>
          <p:cNvPr id="52"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89331" y="1565693"/>
            <a:ext cx="918304" cy="918306"/>
          </a:xfrm>
          <a:prstGeom prst="rect">
            <a:avLst/>
          </a:prstGeom>
          <a:noFill/>
          <a:extLst>
            <a:ext uri="{909E8E84-426E-40DD-AFC4-6F175D3DCCD1}">
              <a14:hiddenFill xmlns:a14="http://schemas.microsoft.com/office/drawing/2010/main">
                <a:solidFill>
                  <a:srgbClr val="FFFFFF"/>
                </a:solidFill>
              </a14:hiddenFill>
            </a:ext>
          </a:extLst>
        </p:spPr>
      </p:pic>
      <p:grpSp>
        <p:nvGrpSpPr>
          <p:cNvPr id="13" name="Group 49"/>
          <p:cNvGrpSpPr>
            <a:grpSpLocks/>
          </p:cNvGrpSpPr>
          <p:nvPr/>
        </p:nvGrpSpPr>
        <p:grpSpPr bwMode="auto">
          <a:xfrm>
            <a:off x="5765827" y="1852999"/>
            <a:ext cx="1421552" cy="824975"/>
            <a:chOff x="3530" y="1904"/>
            <a:chExt cx="1150" cy="723"/>
          </a:xfrm>
        </p:grpSpPr>
        <p:sp>
          <p:nvSpPr>
            <p:cNvPr id="14" name="AutoShape 5"/>
            <p:cNvSpPr>
              <a:spLocks noChangeArrowheads="1"/>
            </p:cNvSpPr>
            <p:nvPr/>
          </p:nvSpPr>
          <p:spPr bwMode="auto">
            <a:xfrm>
              <a:off x="4238" y="1904"/>
              <a:ext cx="442" cy="289"/>
            </a:xfrm>
            <a:prstGeom prst="can">
              <a:avLst>
                <a:gd name="adj" fmla="val 39583"/>
              </a:avLst>
            </a:prstGeom>
            <a:solidFill>
              <a:srgbClr val="00CC00"/>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flipV="1">
              <a:off x="3985" y="2177"/>
              <a:ext cx="393" cy="232"/>
            </a:xfrm>
            <a:prstGeom prst="line">
              <a:avLst/>
            </a:prstGeom>
            <a:noFill/>
            <a:ln w="28575">
              <a:solidFill>
                <a:srgbClr val="FF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8"/>
            <p:cNvSpPr>
              <a:spLocks noChangeShapeType="1"/>
            </p:cNvSpPr>
            <p:nvPr/>
          </p:nvSpPr>
          <p:spPr bwMode="auto">
            <a:xfrm>
              <a:off x="3530" y="2276"/>
              <a:ext cx="186" cy="181"/>
            </a:xfrm>
            <a:prstGeom prst="line">
              <a:avLst/>
            </a:prstGeom>
            <a:noFill/>
            <a:ln w="25400">
              <a:solidFill>
                <a:srgbClr val="FF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Oval 13"/>
            <p:cNvSpPr>
              <a:spLocks noChangeArrowheads="1"/>
            </p:cNvSpPr>
            <p:nvPr/>
          </p:nvSpPr>
          <p:spPr bwMode="auto">
            <a:xfrm>
              <a:off x="3658" y="2401"/>
              <a:ext cx="450" cy="226"/>
            </a:xfrm>
            <a:prstGeom prst="ellipse">
              <a:avLst/>
            </a:prstGeom>
            <a:solidFill>
              <a:srgbClr val="FFC000"/>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lang="en-US" altLang="zh-CN" sz="1400" b="1" dirty="0">
                  <a:latin typeface="微软雅黑 Light" panose="020B0502040204020203" pitchFamily="34" charset="-122"/>
                  <a:ea typeface="微软雅黑 Light" panose="020B0502040204020203" pitchFamily="34" charset="-122"/>
                </a:rPr>
                <a:t>CGI</a:t>
              </a:r>
            </a:p>
          </p:txBody>
        </p:sp>
      </p:grpSp>
      <p:grpSp>
        <p:nvGrpSpPr>
          <p:cNvPr id="18" name="Group 45"/>
          <p:cNvGrpSpPr>
            <a:grpSpLocks/>
          </p:cNvGrpSpPr>
          <p:nvPr/>
        </p:nvGrpSpPr>
        <p:grpSpPr bwMode="auto">
          <a:xfrm>
            <a:off x="2223070" y="3241656"/>
            <a:ext cx="4154643" cy="1200381"/>
            <a:chOff x="664" y="3124"/>
            <a:chExt cx="3361" cy="1052"/>
          </a:xfrm>
        </p:grpSpPr>
        <p:sp>
          <p:nvSpPr>
            <p:cNvPr id="19" name="Line 32"/>
            <p:cNvSpPr>
              <a:spLocks noChangeShapeType="1"/>
            </p:cNvSpPr>
            <p:nvPr/>
          </p:nvSpPr>
          <p:spPr bwMode="auto">
            <a:xfrm flipH="1" flipV="1">
              <a:off x="664" y="3680"/>
              <a:ext cx="2965" cy="11"/>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34"/>
            <p:cNvSpPr txBox="1">
              <a:spLocks noChangeArrowheads="1"/>
            </p:cNvSpPr>
            <p:nvPr/>
          </p:nvSpPr>
          <p:spPr bwMode="auto">
            <a:xfrm>
              <a:off x="2336" y="3124"/>
              <a:ext cx="672" cy="10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7200" b="1" dirty="0">
                  <a:solidFill>
                    <a:srgbClr val="0000FF"/>
                  </a:solidFill>
                  <a:latin typeface="微软雅黑 Light" panose="020B0502040204020203" pitchFamily="34" charset="-122"/>
                  <a:ea typeface="微软雅黑 Light" panose="020B0502040204020203" pitchFamily="34" charset="-122"/>
                  <a:sym typeface="Wingdings" pitchFamily="2" charset="2"/>
                </a:rPr>
                <a:t></a:t>
              </a:r>
              <a:endParaRPr kumimoji="1" lang="en-US" altLang="zh-CN" sz="7200" b="1" dirty="0">
                <a:solidFill>
                  <a:srgbClr val="0000FF"/>
                </a:solidFill>
                <a:latin typeface="微软雅黑 Light" panose="020B0502040204020203" pitchFamily="34" charset="-122"/>
                <a:ea typeface="微软雅黑 Light" panose="020B0502040204020203" pitchFamily="34" charset="-122"/>
              </a:endParaRPr>
            </a:p>
          </p:txBody>
        </p:sp>
        <p:sp>
          <p:nvSpPr>
            <p:cNvPr id="21" name="Text Box 36"/>
            <p:cNvSpPr txBox="1">
              <a:spLocks noChangeArrowheads="1"/>
            </p:cNvSpPr>
            <p:nvPr/>
          </p:nvSpPr>
          <p:spPr bwMode="auto">
            <a:xfrm>
              <a:off x="2795" y="3217"/>
              <a:ext cx="1230" cy="3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800" b="1" dirty="0">
                  <a:latin typeface="微软雅黑 Light" panose="020B0502040204020203" pitchFamily="34" charset="-122"/>
                  <a:ea typeface="微软雅黑 Light" panose="020B0502040204020203" pitchFamily="34" charset="-122"/>
                  <a:sym typeface="Wingdings" pitchFamily="2" charset="2"/>
                </a:rPr>
                <a:t></a:t>
              </a:r>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响应动态文档</a:t>
              </a:r>
            </a:p>
          </p:txBody>
        </p:sp>
        <p:grpSp>
          <p:nvGrpSpPr>
            <p:cNvPr id="22" name="Group 37"/>
            <p:cNvGrpSpPr>
              <a:grpSpLocks/>
            </p:cNvGrpSpPr>
            <p:nvPr/>
          </p:nvGrpSpPr>
          <p:grpSpPr bwMode="auto">
            <a:xfrm flipH="1">
              <a:off x="1039" y="3509"/>
              <a:ext cx="1433" cy="321"/>
              <a:chOff x="1152" y="1824"/>
              <a:chExt cx="1296" cy="240"/>
            </a:xfrm>
          </p:grpSpPr>
          <p:sp>
            <p:nvSpPr>
              <p:cNvPr id="23" name="AutoShape 38"/>
              <p:cNvSpPr>
                <a:spLocks noChangeArrowheads="1"/>
              </p:cNvSpPr>
              <p:nvPr/>
            </p:nvSpPr>
            <p:spPr bwMode="auto">
              <a:xfrm>
                <a:off x="2160" y="1872"/>
                <a:ext cx="288" cy="144"/>
              </a:xfrm>
              <a:prstGeom prst="rightArrow">
                <a:avLst>
                  <a:gd name="adj1" fmla="val 50000"/>
                  <a:gd name="adj2" fmla="val 50000"/>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24" name="Rectangle 39"/>
              <p:cNvSpPr>
                <a:spLocks noChangeArrowheads="1"/>
              </p:cNvSpPr>
              <p:nvPr/>
            </p:nvSpPr>
            <p:spPr bwMode="auto">
              <a:xfrm>
                <a:off x="1152" y="1824"/>
                <a:ext cx="1008" cy="240"/>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400" b="1" dirty="0">
                    <a:solidFill>
                      <a:schemeClr val="bg1"/>
                    </a:solidFill>
                    <a:latin typeface="微软雅黑 Light" panose="020B0502040204020203" pitchFamily="34" charset="-122"/>
                    <a:ea typeface="微软雅黑 Light" panose="020B0502040204020203" pitchFamily="34" charset="-122"/>
                  </a:rPr>
                  <a:t>HTTP </a:t>
                </a:r>
                <a:r>
                  <a:rPr kumimoji="1" lang="zh-CN" altLang="en-US" sz="1400" b="1" dirty="0">
                    <a:solidFill>
                      <a:schemeClr val="bg1"/>
                    </a:solidFill>
                    <a:latin typeface="微软雅黑 Light" panose="020B0502040204020203" pitchFamily="34" charset="-122"/>
                    <a:ea typeface="微软雅黑 Light" panose="020B0502040204020203" pitchFamily="34" charset="-122"/>
                  </a:rPr>
                  <a:t>响应报文</a:t>
                </a:r>
              </a:p>
            </p:txBody>
          </p:sp>
        </p:grpSp>
      </p:grpSp>
      <p:sp>
        <p:nvSpPr>
          <p:cNvPr id="25" name="Rectangle 6"/>
          <p:cNvSpPr>
            <a:spLocks noChangeArrowheads="1"/>
          </p:cNvSpPr>
          <p:nvPr/>
        </p:nvSpPr>
        <p:spPr bwMode="auto">
          <a:xfrm>
            <a:off x="5439488" y="1030307"/>
            <a:ext cx="1259961"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400" b="1" dirty="0">
                <a:latin typeface="微软雅黑 Light" panose="020B0502040204020203" pitchFamily="34" charset="-122"/>
                <a:ea typeface="微软雅黑 Light" panose="020B0502040204020203" pitchFamily="34" charset="-122"/>
              </a:rPr>
              <a:t>万维网服务器</a:t>
            </a:r>
          </a:p>
        </p:txBody>
      </p:sp>
      <p:sp>
        <p:nvSpPr>
          <p:cNvPr id="26" name="Oval 7"/>
          <p:cNvSpPr>
            <a:spLocks noChangeArrowheads="1"/>
          </p:cNvSpPr>
          <p:nvPr/>
        </p:nvSpPr>
        <p:spPr bwMode="auto">
          <a:xfrm>
            <a:off x="5464090" y="2037719"/>
            <a:ext cx="531658" cy="259166"/>
          </a:xfrm>
          <a:prstGeom prst="ellipse">
            <a:avLst/>
          </a:prstGeom>
          <a:solidFill>
            <a:srgbClr val="00FFFF"/>
          </a:solidFill>
          <a:ln w="9525">
            <a:solidFill>
              <a:schemeClr val="tx1"/>
            </a:solidFill>
            <a:round/>
            <a:headEnd/>
            <a:tailEnd/>
          </a:ln>
          <a:effec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27" name="Rectangle 8"/>
          <p:cNvSpPr>
            <a:spLocks noChangeArrowheads="1"/>
          </p:cNvSpPr>
          <p:nvPr/>
        </p:nvSpPr>
        <p:spPr bwMode="auto">
          <a:xfrm>
            <a:off x="2940772" y="1517519"/>
            <a:ext cx="721352" cy="4775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nSpc>
                <a:spcPct val="90000"/>
              </a:lnSpc>
            </a:pPr>
            <a:r>
              <a:rPr kumimoji="1" lang="zh-CN" altLang="en-US" sz="1400" b="1" dirty="0">
                <a:latin typeface="微软雅黑 Light" panose="020B0502040204020203" pitchFamily="34" charset="-122"/>
                <a:ea typeface="微软雅黑 Light" panose="020B0502040204020203" pitchFamily="34" charset="-122"/>
              </a:rPr>
              <a:t>浏览器</a:t>
            </a:r>
          </a:p>
          <a:p>
            <a:pPr>
              <a:lnSpc>
                <a:spcPct val="90000"/>
              </a:lnSpc>
            </a:pPr>
            <a:r>
              <a:rPr kumimoji="1" lang="zh-CN" altLang="en-US" sz="1400" b="1" dirty="0">
                <a:latin typeface="微软雅黑 Light" panose="020B0502040204020203" pitchFamily="34" charset="-122"/>
                <a:ea typeface="微软雅黑 Light" panose="020B0502040204020203" pitchFamily="34" charset="-122"/>
              </a:rPr>
              <a:t> 程序</a:t>
            </a:r>
          </a:p>
        </p:txBody>
      </p:sp>
      <p:sp>
        <p:nvSpPr>
          <p:cNvPr id="28" name="Rectangle 9"/>
          <p:cNvSpPr>
            <a:spLocks noChangeArrowheads="1"/>
          </p:cNvSpPr>
          <p:nvPr/>
        </p:nvSpPr>
        <p:spPr bwMode="auto">
          <a:xfrm>
            <a:off x="1815383" y="1290466"/>
            <a:ext cx="1080425"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400" b="1" dirty="0">
                <a:latin typeface="微软雅黑 Light" panose="020B0502040204020203" pitchFamily="34" charset="-122"/>
                <a:ea typeface="微软雅黑 Light" panose="020B0502040204020203" pitchFamily="34" charset="-122"/>
              </a:rPr>
              <a:t>万维网客户</a:t>
            </a:r>
          </a:p>
        </p:txBody>
      </p:sp>
      <p:sp>
        <p:nvSpPr>
          <p:cNvPr id="29" name="Line 10"/>
          <p:cNvSpPr>
            <a:spLocks noChangeShapeType="1"/>
          </p:cNvSpPr>
          <p:nvPr/>
        </p:nvSpPr>
        <p:spPr bwMode="auto">
          <a:xfrm>
            <a:off x="5067412" y="1803669"/>
            <a:ext cx="605705" cy="379093"/>
          </a:xfrm>
          <a:prstGeom prst="line">
            <a:avLst/>
          </a:prstGeom>
          <a:noFill/>
          <a:ln w="28575">
            <a:solidFill>
              <a:srgbClr val="FF00FF"/>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Rectangle 11"/>
          <p:cNvSpPr>
            <a:spLocks noChangeArrowheads="1"/>
          </p:cNvSpPr>
          <p:nvPr/>
        </p:nvSpPr>
        <p:spPr bwMode="auto">
          <a:xfrm>
            <a:off x="4460470" y="1529820"/>
            <a:ext cx="721352" cy="4775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nSpc>
                <a:spcPct val="90000"/>
              </a:lnSpc>
            </a:pPr>
            <a:r>
              <a:rPr kumimoji="1" lang="zh-CN" altLang="en-US" sz="1400" b="1" dirty="0">
                <a:latin typeface="微软雅黑 Light" panose="020B0502040204020203" pitchFamily="34" charset="-122"/>
                <a:ea typeface="微软雅黑 Light" panose="020B0502040204020203" pitchFamily="34" charset="-122"/>
              </a:rPr>
              <a:t>服务器</a:t>
            </a:r>
          </a:p>
          <a:p>
            <a:pPr>
              <a:lnSpc>
                <a:spcPct val="90000"/>
              </a:lnSpc>
            </a:pPr>
            <a:r>
              <a:rPr kumimoji="1" lang="zh-CN" altLang="en-US" sz="1400" b="1" dirty="0">
                <a:latin typeface="微软雅黑 Light" panose="020B0502040204020203" pitchFamily="34" charset="-122"/>
                <a:ea typeface="微软雅黑 Light" panose="020B0502040204020203" pitchFamily="34" charset="-122"/>
              </a:rPr>
              <a:t> 程序</a:t>
            </a:r>
          </a:p>
        </p:txBody>
      </p:sp>
      <p:sp>
        <p:nvSpPr>
          <p:cNvPr id="31" name="Rectangle 12"/>
          <p:cNvSpPr>
            <a:spLocks noChangeArrowheads="1"/>
          </p:cNvSpPr>
          <p:nvPr/>
        </p:nvSpPr>
        <p:spPr bwMode="auto">
          <a:xfrm>
            <a:off x="3686651" y="1935156"/>
            <a:ext cx="624403"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en-US" altLang="zh-CN" sz="1400" b="1" dirty="0">
                <a:latin typeface="微软雅黑 Light" panose="020B0502040204020203" pitchFamily="34" charset="-122"/>
                <a:ea typeface="微软雅黑 Light" panose="020B0502040204020203" pitchFamily="34" charset="-122"/>
              </a:rPr>
              <a:t>HTTP</a:t>
            </a:r>
          </a:p>
        </p:txBody>
      </p:sp>
      <p:sp>
        <p:nvSpPr>
          <p:cNvPr id="32" name="Rectangle 16"/>
          <p:cNvSpPr>
            <a:spLocks noChangeArrowheads="1"/>
          </p:cNvSpPr>
          <p:nvPr/>
        </p:nvSpPr>
        <p:spPr bwMode="auto">
          <a:xfrm>
            <a:off x="6544861" y="1572303"/>
            <a:ext cx="72135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400" b="1" dirty="0">
                <a:latin typeface="微软雅黑 Light" panose="020B0502040204020203" pitchFamily="34" charset="-122"/>
                <a:ea typeface="微软雅黑 Light" panose="020B0502040204020203" pitchFamily="34" charset="-122"/>
              </a:rPr>
              <a:t>数据库</a:t>
            </a:r>
          </a:p>
        </p:txBody>
      </p:sp>
      <p:sp>
        <p:nvSpPr>
          <p:cNvPr id="34" name="Oval 20"/>
          <p:cNvSpPr>
            <a:spLocks noChangeArrowheads="1"/>
          </p:cNvSpPr>
          <p:nvPr/>
        </p:nvSpPr>
        <p:spPr bwMode="auto">
          <a:xfrm>
            <a:off x="2054028" y="2058059"/>
            <a:ext cx="567551" cy="257114"/>
          </a:xfrm>
          <a:prstGeom prst="ellipse">
            <a:avLst/>
          </a:prstGeom>
          <a:solidFill>
            <a:srgbClr val="66FF66"/>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35" name="Line 21"/>
          <p:cNvSpPr>
            <a:spLocks noChangeShapeType="1"/>
          </p:cNvSpPr>
          <p:nvPr/>
        </p:nvSpPr>
        <p:spPr bwMode="auto">
          <a:xfrm flipH="1">
            <a:off x="2423324" y="1803669"/>
            <a:ext cx="585052" cy="397351"/>
          </a:xfrm>
          <a:prstGeom prst="line">
            <a:avLst/>
          </a:prstGeom>
          <a:noFill/>
          <a:ln w="28575">
            <a:solidFill>
              <a:srgbClr val="FF00FF"/>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37" name="Group 50"/>
          <p:cNvGrpSpPr>
            <a:grpSpLocks/>
          </p:cNvGrpSpPr>
          <p:nvPr/>
        </p:nvGrpSpPr>
        <p:grpSpPr bwMode="auto">
          <a:xfrm>
            <a:off x="1935051" y="2782951"/>
            <a:ext cx="3964277" cy="1325894"/>
            <a:chOff x="431" y="2722"/>
            <a:chExt cx="3207" cy="1162"/>
          </a:xfrm>
        </p:grpSpPr>
        <p:sp>
          <p:nvSpPr>
            <p:cNvPr id="38" name="Line 27"/>
            <p:cNvSpPr>
              <a:spLocks noChangeShapeType="1"/>
            </p:cNvSpPr>
            <p:nvPr/>
          </p:nvSpPr>
          <p:spPr bwMode="auto">
            <a:xfrm>
              <a:off x="664" y="2791"/>
              <a:ext cx="0" cy="1093"/>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9" name="Line 28"/>
            <p:cNvSpPr>
              <a:spLocks noChangeShapeType="1"/>
            </p:cNvSpPr>
            <p:nvPr/>
          </p:nvSpPr>
          <p:spPr bwMode="auto">
            <a:xfrm>
              <a:off x="3638" y="2855"/>
              <a:ext cx="0" cy="1029"/>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40" name="Group 44"/>
            <p:cNvGrpSpPr>
              <a:grpSpLocks/>
            </p:cNvGrpSpPr>
            <p:nvPr/>
          </p:nvGrpSpPr>
          <p:grpSpPr bwMode="auto">
            <a:xfrm>
              <a:off x="431" y="2722"/>
              <a:ext cx="3207" cy="519"/>
              <a:chOff x="431" y="2722"/>
              <a:chExt cx="3207" cy="519"/>
            </a:xfrm>
          </p:grpSpPr>
          <p:sp>
            <p:nvSpPr>
              <p:cNvPr id="41" name="Line 23"/>
              <p:cNvSpPr>
                <a:spLocks noChangeShapeType="1"/>
              </p:cNvSpPr>
              <p:nvPr/>
            </p:nvSpPr>
            <p:spPr bwMode="auto">
              <a:xfrm flipV="1">
                <a:off x="673" y="3080"/>
                <a:ext cx="2965" cy="11"/>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42" name="Group 24"/>
              <p:cNvGrpSpPr>
                <a:grpSpLocks/>
              </p:cNvGrpSpPr>
              <p:nvPr/>
            </p:nvGrpSpPr>
            <p:grpSpPr bwMode="auto">
              <a:xfrm>
                <a:off x="1419" y="2919"/>
                <a:ext cx="1461" cy="322"/>
                <a:chOff x="1152" y="1824"/>
                <a:chExt cx="1296" cy="240"/>
              </a:xfrm>
            </p:grpSpPr>
            <p:sp>
              <p:nvSpPr>
                <p:cNvPr id="44" name="AutoShape 25"/>
                <p:cNvSpPr>
                  <a:spLocks noChangeArrowheads="1"/>
                </p:cNvSpPr>
                <p:nvPr/>
              </p:nvSpPr>
              <p:spPr bwMode="auto">
                <a:xfrm>
                  <a:off x="2160" y="1872"/>
                  <a:ext cx="288" cy="144"/>
                </a:xfrm>
                <a:prstGeom prst="rightArrow">
                  <a:avLst>
                    <a:gd name="adj1" fmla="val 50000"/>
                    <a:gd name="adj2"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45" name="Rectangle 26"/>
                <p:cNvSpPr>
                  <a:spLocks noChangeArrowheads="1"/>
                </p:cNvSpPr>
                <p:nvPr/>
              </p:nvSpPr>
              <p:spPr bwMode="auto">
                <a:xfrm>
                  <a:off x="1152" y="1824"/>
                  <a:ext cx="1008" cy="240"/>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400" b="1" dirty="0">
                      <a:solidFill>
                        <a:schemeClr val="bg1"/>
                      </a:solidFill>
                      <a:latin typeface="微软雅黑 Light" panose="020B0502040204020203" pitchFamily="34" charset="-122"/>
                      <a:ea typeface="微软雅黑 Light" panose="020B0502040204020203" pitchFamily="34" charset="-122"/>
                    </a:rPr>
                    <a:t>HTTP </a:t>
                  </a:r>
                  <a:r>
                    <a:rPr kumimoji="1" lang="zh-CN" altLang="en-US" sz="1400" b="1" dirty="0">
                      <a:solidFill>
                        <a:schemeClr val="bg1"/>
                      </a:solidFill>
                      <a:latin typeface="微软雅黑 Light" panose="020B0502040204020203" pitchFamily="34" charset="-122"/>
                      <a:ea typeface="微软雅黑 Light" panose="020B0502040204020203" pitchFamily="34" charset="-122"/>
                    </a:rPr>
                    <a:t>请求报文</a:t>
                  </a:r>
                </a:p>
              </p:txBody>
            </p:sp>
          </p:grpSp>
          <p:sp>
            <p:nvSpPr>
              <p:cNvPr id="43" name="Text Box 29"/>
              <p:cNvSpPr txBox="1">
                <a:spLocks noChangeArrowheads="1"/>
              </p:cNvSpPr>
              <p:nvPr/>
            </p:nvSpPr>
            <p:spPr bwMode="auto">
              <a:xfrm>
                <a:off x="431" y="2722"/>
                <a:ext cx="939" cy="324"/>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800" b="1" dirty="0">
                    <a:latin typeface="微软雅黑 Light" panose="020B0502040204020203" pitchFamily="34" charset="-122"/>
                    <a:ea typeface="微软雅黑 Light" panose="020B0502040204020203" pitchFamily="34" charset="-122"/>
                    <a:sym typeface="Wingdings" pitchFamily="2" charset="2"/>
                  </a:rPr>
                  <a:t></a:t>
                </a:r>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请求文档</a:t>
                </a:r>
              </a:p>
            </p:txBody>
          </p:sp>
        </p:grpSp>
      </p:grpSp>
      <p:grpSp>
        <p:nvGrpSpPr>
          <p:cNvPr id="46" name="Group 42"/>
          <p:cNvGrpSpPr>
            <a:grpSpLocks/>
          </p:cNvGrpSpPr>
          <p:nvPr/>
        </p:nvGrpSpPr>
        <p:grpSpPr bwMode="auto">
          <a:xfrm>
            <a:off x="6355464" y="2624355"/>
            <a:ext cx="1976577" cy="1353282"/>
            <a:chOff x="3909" y="2533"/>
            <a:chExt cx="1599" cy="1186"/>
          </a:xfrm>
        </p:grpSpPr>
        <p:sp>
          <p:nvSpPr>
            <p:cNvPr id="47" name="Line 30"/>
            <p:cNvSpPr>
              <a:spLocks noChangeShapeType="1"/>
            </p:cNvSpPr>
            <p:nvPr/>
          </p:nvSpPr>
          <p:spPr bwMode="auto">
            <a:xfrm>
              <a:off x="3909" y="2533"/>
              <a:ext cx="278" cy="336"/>
            </a:xfrm>
            <a:prstGeom prst="line">
              <a:avLst/>
            </a:prstGeom>
            <a:noFill/>
            <a:ln w="28575">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8" name="Text Box 31"/>
            <p:cNvSpPr txBox="1">
              <a:spLocks noChangeArrowheads="1"/>
            </p:cNvSpPr>
            <p:nvPr/>
          </p:nvSpPr>
          <p:spPr bwMode="auto">
            <a:xfrm>
              <a:off x="4260" y="2552"/>
              <a:ext cx="1248" cy="5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800" b="1" dirty="0">
                  <a:latin typeface="微软雅黑 Light" panose="020B0502040204020203" pitchFamily="34" charset="-122"/>
                  <a:ea typeface="微软雅黑 Light" panose="020B0502040204020203" pitchFamily="34" charset="-122"/>
                  <a:sym typeface="Wingdings" pitchFamily="2" charset="2"/>
                </a:rPr>
                <a:t></a:t>
              </a:r>
              <a:r>
                <a:rPr kumimoji="1" lang="en-US" altLang="zh-CN" sz="1800" b="1" dirty="0">
                  <a:latin typeface="微软雅黑 Light" panose="020B0502040204020203" pitchFamily="34" charset="-122"/>
                  <a:ea typeface="微软雅黑 Light" panose="020B0502040204020203" pitchFamily="34" charset="-122"/>
                </a:rPr>
                <a:t> </a:t>
              </a:r>
              <a:r>
                <a:rPr kumimoji="1" lang="en-US" altLang="zh-CN" sz="1400" b="1" dirty="0">
                  <a:latin typeface="微软雅黑 Light" panose="020B0502040204020203" pitchFamily="34" charset="-122"/>
                  <a:ea typeface="微软雅黑 Light" panose="020B0502040204020203" pitchFamily="34" charset="-122"/>
                </a:rPr>
                <a:t>CGI </a:t>
              </a:r>
              <a:r>
                <a:rPr kumimoji="1" lang="zh-CN" altLang="en-US" sz="1400" b="1" dirty="0">
                  <a:latin typeface="微软雅黑 Light" panose="020B0502040204020203" pitchFamily="34" charset="-122"/>
                  <a:ea typeface="微软雅黑 Light" panose="020B0502040204020203" pitchFamily="34" charset="-122"/>
                </a:rPr>
                <a:t>程序创建</a:t>
              </a:r>
            </a:p>
            <a:p>
              <a:pPr algn="ctr" eaLnBrk="1" hangingPunct="1"/>
              <a:r>
                <a:rPr kumimoji="1" lang="zh-CN" altLang="en-US" sz="1400" b="1" dirty="0">
                  <a:latin typeface="微软雅黑 Light" panose="020B0502040204020203" pitchFamily="34" charset="-122"/>
                  <a:ea typeface="微软雅黑 Light" panose="020B0502040204020203" pitchFamily="34" charset="-122"/>
                </a:rPr>
                <a:t>动态文档</a:t>
              </a:r>
            </a:p>
          </p:txBody>
        </p:sp>
        <p:sp>
          <p:nvSpPr>
            <p:cNvPr id="49" name="Text Box 35"/>
            <p:cNvSpPr txBox="1">
              <a:spLocks noChangeArrowheads="1"/>
            </p:cNvSpPr>
            <p:nvPr/>
          </p:nvSpPr>
          <p:spPr bwMode="auto">
            <a:xfrm>
              <a:off x="4035" y="2667"/>
              <a:ext cx="672" cy="10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7200" b="1" dirty="0">
                  <a:solidFill>
                    <a:srgbClr val="0000FF"/>
                  </a:solidFill>
                  <a:latin typeface="微软雅黑 Light" panose="020B0502040204020203" pitchFamily="34" charset="-122"/>
                  <a:ea typeface="微软雅黑 Light" panose="020B0502040204020203" pitchFamily="34" charset="-122"/>
                  <a:sym typeface="Wingdings" pitchFamily="2" charset="2"/>
                </a:rPr>
                <a:t></a:t>
              </a:r>
              <a:endParaRPr kumimoji="1" lang="en-US" altLang="zh-CN" sz="7200" b="1" dirty="0">
                <a:solidFill>
                  <a:srgbClr val="0000FF"/>
                </a:solidFill>
                <a:latin typeface="微软雅黑 Light" panose="020B0502040204020203" pitchFamily="34" charset="-122"/>
                <a:ea typeface="微软雅黑 Light" panose="020B0502040204020203" pitchFamily="34" charset="-122"/>
              </a:endParaRPr>
            </a:p>
          </p:txBody>
        </p:sp>
      </p:grpSp>
      <p:sp>
        <p:nvSpPr>
          <p:cNvPr id="50" name="Line 15"/>
          <p:cNvSpPr>
            <a:spLocks noChangeShapeType="1"/>
          </p:cNvSpPr>
          <p:nvPr/>
        </p:nvSpPr>
        <p:spPr bwMode="auto">
          <a:xfrm>
            <a:off x="2490075" y="2219308"/>
            <a:ext cx="3142249" cy="0"/>
          </a:xfrm>
          <a:prstGeom prst="line">
            <a:avLst/>
          </a:prstGeom>
          <a:noFill/>
          <a:ln w="38100">
            <a:solidFill>
              <a:srgbClr val="CC00CC"/>
            </a:solidFill>
            <a:prstDash val="dash"/>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 name="标题 1">
            <a:extLst>
              <a:ext uri="{FF2B5EF4-FFF2-40B4-BE49-F238E27FC236}">
                <a16:creationId xmlns:a16="http://schemas.microsoft.com/office/drawing/2014/main" id="{A170D5E1-EA82-1148-086E-10C1A47E25DB}"/>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动态万维网文档</a:t>
            </a:r>
          </a:p>
        </p:txBody>
      </p:sp>
      <p:sp>
        <p:nvSpPr>
          <p:cNvPr id="3" name="内容占位符 2">
            <a:extLst>
              <a:ext uri="{FF2B5EF4-FFF2-40B4-BE49-F238E27FC236}">
                <a16:creationId xmlns:a16="http://schemas.microsoft.com/office/drawing/2014/main" id="{3C6C69FA-DEB9-D723-D667-1AC330FEFF9B}"/>
              </a:ext>
            </a:extLst>
          </p:cNvPr>
          <p:cNvSpPr>
            <a:spLocks noGrp="1"/>
          </p:cNvSpPr>
          <p:nvPr>
            <p:ph sz="quarter" idx="11"/>
          </p:nvPr>
        </p:nvSpPr>
        <p:spPr>
          <a:xfrm>
            <a:off x="486000" y="687518"/>
            <a:ext cx="8172000" cy="4079035"/>
          </a:xfrm>
        </p:spPr>
        <p:txBody>
          <a:bodyPr/>
          <a:lstStyle/>
          <a:p>
            <a:r>
              <a:rPr lang="zh-CN" altLang="en-US" dirty="0"/>
              <a:t>扩充了功能的万维网服务器</a:t>
            </a:r>
          </a:p>
        </p:txBody>
      </p:sp>
    </p:spTree>
    <p:extLst>
      <p:ext uri="{BB962C8B-B14F-4D97-AF65-F5344CB8AC3E}">
        <p14:creationId xmlns:p14="http://schemas.microsoft.com/office/powerpoint/2010/main" val="37207427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37"/>
                                        </p:tgtEl>
                                        <p:attrNameLst>
                                          <p:attrName>style.visibility</p:attrName>
                                        </p:attrNameLst>
                                      </p:cBhvr>
                                      <p:to>
                                        <p:strVal val="visible"/>
                                      </p:to>
                                    </p:set>
                                    <p:animEffect transition="in" filter="wipe(left)">
                                      <p:cBhvr>
                                        <p:cTn id="7" dur="2000"/>
                                        <p:tgtEl>
                                          <p:spTgt spid="3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3"/>
                                        </p:tgtEl>
                                        <p:attrNameLst>
                                          <p:attrName>style.visibility</p:attrName>
                                        </p:attrNameLst>
                                      </p:cBhvr>
                                      <p:to>
                                        <p:strVal val="visible"/>
                                      </p:to>
                                    </p:set>
                                    <p:animEffect transition="in" filter="wipe(left)">
                                      <p:cBhvr>
                                        <p:cTn id="12" dur="1000"/>
                                        <p:tgtEl>
                                          <p:spTgt spid="13"/>
                                        </p:tgtEl>
                                      </p:cBhvr>
                                    </p:animEffect>
                                  </p:childTnLst>
                                </p:cTn>
                              </p:par>
                            </p:childTnLst>
                          </p:cTn>
                        </p:par>
                        <p:par>
                          <p:cTn id="13" fill="hold">
                            <p:stCondLst>
                              <p:cond delay="1000"/>
                            </p:stCondLst>
                            <p:childTnLst>
                              <p:par>
                                <p:cTn id="14" presetID="22" presetClass="entr" presetSubtype="8" fill="hold" nodeType="afterEffect">
                                  <p:stCondLst>
                                    <p:cond delay="0"/>
                                  </p:stCondLst>
                                  <p:childTnLst>
                                    <p:set>
                                      <p:cBhvr>
                                        <p:cTn id="15" dur="1" fill="hold">
                                          <p:stCondLst>
                                            <p:cond delay="0"/>
                                          </p:stCondLst>
                                        </p:cTn>
                                        <p:tgtEl>
                                          <p:spTgt spid="46"/>
                                        </p:tgtEl>
                                        <p:attrNameLst>
                                          <p:attrName>style.visibility</p:attrName>
                                        </p:attrNameLst>
                                      </p:cBhvr>
                                      <p:to>
                                        <p:strVal val="visible"/>
                                      </p:to>
                                    </p:set>
                                    <p:animEffect transition="in" filter="wipe(left)">
                                      <p:cBhvr>
                                        <p:cTn id="16" dur="2000"/>
                                        <p:tgtEl>
                                          <p:spTgt spid="46"/>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2" fill="hold" nodeType="click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wipe(right)">
                                      <p:cBhvr>
                                        <p:cTn id="21" dur="20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5CB376E5-7B6C-CB91-B2C6-14988DA8F6C8}"/>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动态万维网文档 </a:t>
            </a:r>
            <a:r>
              <a:rPr lang="en-US" altLang="zh-CN" dirty="0"/>
              <a:t>- CGI</a:t>
            </a:r>
            <a:endParaRPr lang="zh-CN" altLang="en-US" dirty="0"/>
          </a:p>
        </p:txBody>
      </p:sp>
      <p:sp>
        <p:nvSpPr>
          <p:cNvPr id="6" name="内容占位符 5">
            <a:extLst>
              <a:ext uri="{FF2B5EF4-FFF2-40B4-BE49-F238E27FC236}">
                <a16:creationId xmlns:a16="http://schemas.microsoft.com/office/drawing/2014/main" id="{562F9C1A-0C99-8010-2A12-8099830B0956}"/>
              </a:ext>
            </a:extLst>
          </p:cNvPr>
          <p:cNvSpPr>
            <a:spLocks noGrp="1"/>
          </p:cNvSpPr>
          <p:nvPr>
            <p:ph sz="quarter" idx="11"/>
          </p:nvPr>
        </p:nvSpPr>
        <p:spPr>
          <a:xfrm>
            <a:off x="486000" y="687518"/>
            <a:ext cx="8172000" cy="4079035"/>
          </a:xfrm>
        </p:spPr>
        <p:txBody>
          <a:bodyPr/>
          <a:lstStyle/>
          <a:p>
            <a:r>
              <a:rPr lang="zh-CN" altLang="en-US" dirty="0"/>
              <a:t>通用网关接口 </a:t>
            </a:r>
            <a:r>
              <a:rPr lang="en-US" altLang="zh-CN" dirty="0"/>
              <a:t>CGI (Common Gateway Interface) </a:t>
            </a:r>
            <a:r>
              <a:rPr lang="zh-CN" altLang="en-US" dirty="0"/>
              <a:t>：定义动态文档应如何创建，输入数据应如何提供给应用程序，以及输出结果应如何使用的一种标准</a:t>
            </a:r>
          </a:p>
          <a:p>
            <a:r>
              <a:rPr lang="zh-CN" altLang="en-US" dirty="0"/>
              <a:t>通用：</a:t>
            </a:r>
            <a:r>
              <a:rPr lang="en-US" altLang="zh-CN" dirty="0"/>
              <a:t>CGI </a:t>
            </a:r>
            <a:r>
              <a:rPr lang="zh-CN" altLang="en-US" dirty="0"/>
              <a:t>标准所定义的规则对其他任何语言都是通用的</a:t>
            </a:r>
          </a:p>
          <a:p>
            <a:r>
              <a:rPr lang="zh-CN" altLang="en-US" dirty="0"/>
              <a:t>网关：</a:t>
            </a:r>
            <a:r>
              <a:rPr lang="en-US" altLang="zh-CN" dirty="0"/>
              <a:t>CGI </a:t>
            </a:r>
            <a:r>
              <a:rPr lang="zh-CN" altLang="en-US" dirty="0"/>
              <a:t>程序的作用像网关</a:t>
            </a:r>
          </a:p>
          <a:p>
            <a:r>
              <a:rPr lang="zh-CN" altLang="en-US" dirty="0"/>
              <a:t>接口：有一些已定义好的变量和调用等可供其他 </a:t>
            </a:r>
            <a:r>
              <a:rPr lang="en-US" altLang="zh-CN" dirty="0"/>
              <a:t>CGI </a:t>
            </a:r>
            <a:r>
              <a:rPr lang="zh-CN" altLang="en-US" dirty="0"/>
              <a:t>程序使用</a:t>
            </a:r>
          </a:p>
          <a:p>
            <a:endParaRPr lang="zh-CN" altLang="en-US" dirty="0"/>
          </a:p>
        </p:txBody>
      </p:sp>
    </p:spTree>
    <p:extLst>
      <p:ext uri="{BB962C8B-B14F-4D97-AF65-F5344CB8AC3E}">
        <p14:creationId xmlns:p14="http://schemas.microsoft.com/office/powerpoint/2010/main" val="10758464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114B24B7-A667-653D-1EF0-D32725BE71F0}"/>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动态万维网文档 </a:t>
            </a:r>
            <a:r>
              <a:rPr lang="en-US" altLang="zh-CN" dirty="0"/>
              <a:t>- CGI</a:t>
            </a:r>
            <a:endParaRPr lang="zh-CN" altLang="en-US" dirty="0"/>
          </a:p>
        </p:txBody>
      </p:sp>
      <p:sp>
        <p:nvSpPr>
          <p:cNvPr id="9" name="内容占位符 8">
            <a:extLst>
              <a:ext uri="{FF2B5EF4-FFF2-40B4-BE49-F238E27FC236}">
                <a16:creationId xmlns:a16="http://schemas.microsoft.com/office/drawing/2014/main" id="{6DCE7EDF-6008-3662-EC6F-F2386706DC70}"/>
              </a:ext>
            </a:extLst>
          </p:cNvPr>
          <p:cNvSpPr>
            <a:spLocks noGrp="1"/>
          </p:cNvSpPr>
          <p:nvPr>
            <p:ph sz="quarter" idx="11"/>
          </p:nvPr>
        </p:nvSpPr>
        <p:spPr>
          <a:xfrm>
            <a:off x="486000" y="687518"/>
            <a:ext cx="8172000" cy="4079035"/>
          </a:xfrm>
        </p:spPr>
        <p:txBody>
          <a:bodyPr/>
          <a:lstStyle/>
          <a:p>
            <a:r>
              <a:rPr lang="zh-CN" altLang="en-US" dirty="0"/>
              <a:t>正式名字：</a:t>
            </a:r>
            <a:r>
              <a:rPr lang="en-US" altLang="zh-CN" dirty="0"/>
              <a:t>CGI </a:t>
            </a:r>
            <a:r>
              <a:rPr lang="zh-CN" altLang="en-US" dirty="0"/>
              <a:t>脚本 </a:t>
            </a:r>
            <a:r>
              <a:rPr lang="en-US" altLang="zh-CN" dirty="0"/>
              <a:t>(script)</a:t>
            </a:r>
            <a:endParaRPr lang="zh-CN" altLang="en-US" dirty="0"/>
          </a:p>
          <a:p>
            <a:r>
              <a:rPr lang="zh-CN" altLang="en-US" dirty="0"/>
              <a:t>脚本：指的是一个程序，它被另一个程序（解释程序）而不是计算机的处理机来解释或执行</a:t>
            </a:r>
            <a:endParaRPr lang="en-US" altLang="zh-CN" dirty="0"/>
          </a:p>
          <a:p>
            <a:r>
              <a:rPr lang="zh-CN" altLang="en-US" dirty="0"/>
              <a:t>脚本语言 </a:t>
            </a:r>
            <a:r>
              <a:rPr lang="en-US" altLang="zh-CN" dirty="0"/>
              <a:t>(script language)</a:t>
            </a:r>
            <a:r>
              <a:rPr lang="zh-CN" altLang="en-US" dirty="0"/>
              <a:t>：如 </a:t>
            </a:r>
            <a:r>
              <a:rPr lang="en-US" altLang="zh-CN" dirty="0"/>
              <a:t>Perl, JavaScript</a:t>
            </a:r>
            <a:r>
              <a:rPr lang="zh-CN" altLang="en-US" dirty="0"/>
              <a:t>，</a:t>
            </a:r>
            <a:r>
              <a:rPr lang="en-US" altLang="zh-CN" dirty="0" err="1"/>
              <a:t>Tcl</a:t>
            </a:r>
            <a:r>
              <a:rPr lang="en-US" altLang="zh-CN" dirty="0"/>
              <a:t>/Tk </a:t>
            </a:r>
            <a:r>
              <a:rPr lang="zh-CN" altLang="en-US" dirty="0"/>
              <a:t>等。也可用一些常用的编程语言写出，如 </a:t>
            </a:r>
            <a:r>
              <a:rPr lang="en-US" altLang="zh-CN" dirty="0"/>
              <a:t>C</a:t>
            </a:r>
            <a:r>
              <a:rPr lang="zh-CN" altLang="en-US" dirty="0"/>
              <a:t>，</a:t>
            </a:r>
            <a:r>
              <a:rPr lang="en-US" altLang="zh-CN" dirty="0"/>
              <a:t>C++</a:t>
            </a:r>
            <a:r>
              <a:rPr lang="zh-CN" altLang="en-US" dirty="0"/>
              <a:t>等</a:t>
            </a:r>
          </a:p>
          <a:p>
            <a:r>
              <a:rPr lang="zh-CN" altLang="en-US" dirty="0"/>
              <a:t>脚本运行起来要比一般的编译程序要慢</a:t>
            </a:r>
            <a:endParaRPr lang="en-US" altLang="zh-CN" dirty="0"/>
          </a:p>
          <a:p>
            <a:r>
              <a:rPr lang="zh-CN" altLang="en-US" dirty="0"/>
              <a:t>脚本不一定是一个独立的程序，可以是一个动态装入的库，甚至是服务器的一个子程序</a:t>
            </a:r>
            <a:endParaRPr lang="en-US" altLang="zh-CN" dirty="0"/>
          </a:p>
          <a:p>
            <a:endParaRPr lang="en-US" altLang="zh-CN" dirty="0"/>
          </a:p>
          <a:p>
            <a:endParaRPr lang="en-US" altLang="zh-CN" dirty="0"/>
          </a:p>
          <a:p>
            <a:r>
              <a:rPr lang="en-US" altLang="zh-CN" dirty="0"/>
              <a:t>CGI </a:t>
            </a:r>
            <a:r>
              <a:rPr lang="zh-CN" altLang="en-US" dirty="0"/>
              <a:t>程序又称为 </a:t>
            </a:r>
            <a:r>
              <a:rPr lang="en-US" altLang="zh-CN" dirty="0" err="1"/>
              <a:t>cgi</a:t>
            </a:r>
            <a:r>
              <a:rPr lang="en-US" altLang="zh-CN" dirty="0"/>
              <a:t>-bin </a:t>
            </a:r>
            <a:r>
              <a:rPr lang="zh-CN" altLang="en-US" dirty="0"/>
              <a:t>脚本，因为在许多万维网服务器上，将 </a:t>
            </a:r>
            <a:r>
              <a:rPr lang="en-US" altLang="zh-CN" dirty="0"/>
              <a:t>CGI </a:t>
            </a:r>
            <a:r>
              <a:rPr lang="zh-CN" altLang="en-US" dirty="0"/>
              <a:t>程序放在 </a:t>
            </a:r>
            <a:r>
              <a:rPr lang="en-US" altLang="zh-CN" dirty="0"/>
              <a:t>/</a:t>
            </a:r>
            <a:r>
              <a:rPr lang="en-US" altLang="zh-CN" dirty="0" err="1"/>
              <a:t>cgi</a:t>
            </a:r>
            <a:r>
              <a:rPr lang="en-US" altLang="zh-CN" dirty="0"/>
              <a:t>-bin </a:t>
            </a:r>
            <a:r>
              <a:rPr lang="zh-CN" altLang="en-US" dirty="0"/>
              <a:t>的目录下。</a:t>
            </a:r>
          </a:p>
          <a:p>
            <a:endParaRPr lang="zh-CN" altLang="en-US" dirty="0"/>
          </a:p>
          <a:p>
            <a:endParaRPr lang="zh-CN" altLang="en-US" dirty="0"/>
          </a:p>
        </p:txBody>
      </p:sp>
    </p:spTree>
    <p:extLst>
      <p:ext uri="{BB962C8B-B14F-4D97-AF65-F5344CB8AC3E}">
        <p14:creationId xmlns:p14="http://schemas.microsoft.com/office/powerpoint/2010/main" val="39698960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A111037C-E403-4F6D-BB6E-74F8A333C3FA}"/>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活动万维网文档</a:t>
            </a:r>
          </a:p>
        </p:txBody>
      </p:sp>
      <p:sp>
        <p:nvSpPr>
          <p:cNvPr id="6" name="内容占位符 5">
            <a:extLst>
              <a:ext uri="{FF2B5EF4-FFF2-40B4-BE49-F238E27FC236}">
                <a16:creationId xmlns:a16="http://schemas.microsoft.com/office/drawing/2014/main" id="{0B11BAC1-D8B1-DECA-7B9A-314B5BEFA2A8}"/>
              </a:ext>
            </a:extLst>
          </p:cNvPr>
          <p:cNvSpPr>
            <a:spLocks noGrp="1"/>
          </p:cNvSpPr>
          <p:nvPr>
            <p:ph sz="quarter" idx="11"/>
          </p:nvPr>
        </p:nvSpPr>
        <p:spPr>
          <a:xfrm>
            <a:off x="486000" y="687518"/>
            <a:ext cx="8172000" cy="4079035"/>
          </a:xfrm>
        </p:spPr>
        <p:txBody>
          <a:bodyPr/>
          <a:lstStyle/>
          <a:p>
            <a:r>
              <a:rPr lang="zh-CN" altLang="en-US" dirty="0"/>
              <a:t>活动文档 </a:t>
            </a:r>
            <a:r>
              <a:rPr lang="en-US" altLang="zh-CN" dirty="0"/>
              <a:t>(active document) </a:t>
            </a:r>
            <a:r>
              <a:rPr lang="zh-CN" altLang="en-US" dirty="0"/>
              <a:t>技术：把屏幕连续更新的工作转移给浏览器端</a:t>
            </a:r>
          </a:p>
          <a:p>
            <a:r>
              <a:rPr lang="zh-CN" altLang="en-US" dirty="0"/>
              <a:t>每当浏览器请求一个活动文档时，服务器就返回一段程序副本在浏览器端运行</a:t>
            </a:r>
          </a:p>
          <a:p>
            <a:r>
              <a:rPr lang="zh-CN" altLang="en-US" dirty="0"/>
              <a:t>活动文档程序可与用户直接交互，并可连续地改变屏幕的显示</a:t>
            </a:r>
          </a:p>
          <a:p>
            <a:r>
              <a:rPr lang="zh-CN" altLang="en-US" dirty="0"/>
              <a:t>由于活动文档技术不需要服务器的连续更新传送，对网络带宽的要求也不会太高</a:t>
            </a:r>
          </a:p>
          <a:p>
            <a:endParaRPr lang="zh-CN" altLang="en-US" dirty="0"/>
          </a:p>
        </p:txBody>
      </p:sp>
    </p:spTree>
    <p:extLst>
      <p:ext uri="{BB962C8B-B14F-4D97-AF65-F5344CB8AC3E}">
        <p14:creationId xmlns:p14="http://schemas.microsoft.com/office/powerpoint/2010/main" val="4414462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064C727-B6CF-AB44-0AD6-D870EA4E7C53}"/>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活动万维网文档</a:t>
            </a:r>
          </a:p>
        </p:txBody>
      </p:sp>
      <p:sp>
        <p:nvSpPr>
          <p:cNvPr id="7" name="内容占位符 6">
            <a:extLst>
              <a:ext uri="{FF2B5EF4-FFF2-40B4-BE49-F238E27FC236}">
                <a16:creationId xmlns:a16="http://schemas.microsoft.com/office/drawing/2014/main" id="{20916C61-94BF-AE55-967A-D65F49C6EFBD}"/>
              </a:ext>
            </a:extLst>
          </p:cNvPr>
          <p:cNvSpPr>
            <a:spLocks noGrp="1"/>
          </p:cNvSpPr>
          <p:nvPr>
            <p:ph sz="quarter" idx="11"/>
          </p:nvPr>
        </p:nvSpPr>
        <p:spPr>
          <a:xfrm>
            <a:off x="486000" y="687518"/>
            <a:ext cx="8172000" cy="4079035"/>
          </a:xfrm>
        </p:spPr>
        <p:txBody>
          <a:bodyPr/>
          <a:lstStyle/>
          <a:p>
            <a:r>
              <a:rPr lang="zh-CN" altLang="en-US" dirty="0"/>
              <a:t>活动文档在客户端创建</a:t>
            </a:r>
          </a:p>
          <a:p>
            <a:endParaRPr lang="zh-CN" altLang="en-US" dirty="0"/>
          </a:p>
        </p:txBody>
      </p:sp>
      <p:sp>
        <p:nvSpPr>
          <p:cNvPr id="41" name="Text Box 35"/>
          <p:cNvSpPr txBox="1">
            <a:spLocks noChangeArrowheads="1"/>
          </p:cNvSpPr>
          <p:nvPr/>
        </p:nvSpPr>
        <p:spPr bwMode="auto">
          <a:xfrm>
            <a:off x="6787313" y="1644546"/>
            <a:ext cx="830681" cy="12003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7200" b="1" dirty="0">
                <a:solidFill>
                  <a:srgbClr val="0000FF"/>
                </a:solidFill>
                <a:latin typeface="微软雅黑 Light" panose="020B0502040204020203" pitchFamily="34" charset="-122"/>
                <a:ea typeface="微软雅黑 Light" panose="020B0502040204020203" pitchFamily="34" charset="-122"/>
                <a:sym typeface="Wingdings" pitchFamily="2" charset="2"/>
              </a:rPr>
              <a:t></a:t>
            </a:r>
            <a:endParaRPr kumimoji="1" lang="en-US" altLang="zh-CN" sz="7200" b="1" dirty="0">
              <a:solidFill>
                <a:srgbClr val="0000FF"/>
              </a:solidFill>
              <a:latin typeface="微软雅黑 Light" panose="020B0502040204020203" pitchFamily="34" charset="-122"/>
              <a:ea typeface="微软雅黑 Light" panose="020B0502040204020203" pitchFamily="34" charset="-122"/>
            </a:endParaRPr>
          </a:p>
        </p:txBody>
      </p:sp>
      <p:pic>
        <p:nvPicPr>
          <p:cNvPr id="3" name="图片 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464089" y="1310914"/>
            <a:ext cx="1117348" cy="1564286"/>
          </a:xfrm>
          <a:prstGeom prst="rect">
            <a:avLst/>
          </a:prstGeom>
        </p:spPr>
      </p:pic>
      <p:pic>
        <p:nvPicPr>
          <p:cNvPr id="4"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89331" y="1570062"/>
            <a:ext cx="918304" cy="918306"/>
          </a:xfrm>
          <a:prstGeom prst="rect">
            <a:avLst/>
          </a:prstGeom>
          <a:noFill/>
          <a:extLst>
            <a:ext uri="{909E8E84-426E-40DD-AFC4-6F175D3DCCD1}">
              <a14:hiddenFill xmlns:a14="http://schemas.microsoft.com/office/drawing/2010/main">
                <a:solidFill>
                  <a:srgbClr val="FFFFFF"/>
                </a:solidFill>
              </a14:hiddenFill>
            </a:ext>
          </a:extLst>
        </p:spPr>
      </p:pic>
      <p:sp>
        <p:nvSpPr>
          <p:cNvPr id="8" name="AutoShape 5"/>
          <p:cNvSpPr>
            <a:spLocks noChangeArrowheads="1"/>
          </p:cNvSpPr>
          <p:nvPr/>
        </p:nvSpPr>
        <p:spPr bwMode="auto">
          <a:xfrm>
            <a:off x="6920814" y="2608418"/>
            <a:ext cx="546370" cy="329762"/>
          </a:xfrm>
          <a:prstGeom prst="can">
            <a:avLst>
              <a:gd name="adj" fmla="val 39583"/>
            </a:avLst>
          </a:prstGeom>
          <a:solidFill>
            <a:srgbClr val="00CC00"/>
          </a:solidFill>
          <a:ln w="9525">
            <a:solidFill>
              <a:schemeClr val="tx1"/>
            </a:solidFill>
            <a:round/>
            <a:headEnd/>
            <a:tailEnd/>
          </a:ln>
          <a:effec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grpSp>
        <p:nvGrpSpPr>
          <p:cNvPr id="12" name="Group 45"/>
          <p:cNvGrpSpPr>
            <a:grpSpLocks/>
          </p:cNvGrpSpPr>
          <p:nvPr/>
        </p:nvGrpSpPr>
        <p:grpSpPr bwMode="auto">
          <a:xfrm>
            <a:off x="2223070" y="3246025"/>
            <a:ext cx="3759079" cy="1200381"/>
            <a:chOff x="664" y="3124"/>
            <a:chExt cx="3041" cy="1052"/>
          </a:xfrm>
        </p:grpSpPr>
        <p:sp>
          <p:nvSpPr>
            <p:cNvPr id="13" name="Line 32"/>
            <p:cNvSpPr>
              <a:spLocks noChangeShapeType="1"/>
            </p:cNvSpPr>
            <p:nvPr/>
          </p:nvSpPr>
          <p:spPr bwMode="auto">
            <a:xfrm flipH="1" flipV="1">
              <a:off x="664" y="3680"/>
              <a:ext cx="2965" cy="11"/>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Text Box 36"/>
            <p:cNvSpPr txBox="1">
              <a:spLocks noChangeArrowheads="1"/>
            </p:cNvSpPr>
            <p:nvPr/>
          </p:nvSpPr>
          <p:spPr bwMode="auto">
            <a:xfrm>
              <a:off x="2809" y="3369"/>
              <a:ext cx="896" cy="3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800" b="1" dirty="0">
                  <a:latin typeface="微软雅黑 Light" panose="020B0502040204020203" pitchFamily="34" charset="-122"/>
                  <a:ea typeface="微软雅黑 Light" panose="020B0502040204020203" pitchFamily="34" charset="-122"/>
                  <a:sym typeface="Wingdings" pitchFamily="2" charset="2"/>
                </a:rPr>
                <a:t></a:t>
              </a:r>
              <a:r>
                <a:rPr kumimoji="1" lang="zh-CN" altLang="en-US" sz="1400" b="1" dirty="0">
                  <a:latin typeface="微软雅黑 Light" panose="020B0502040204020203" pitchFamily="34" charset="-122"/>
                  <a:ea typeface="微软雅黑 Light" panose="020B0502040204020203" pitchFamily="34" charset="-122"/>
                </a:rPr>
                <a:t>响应程序</a:t>
              </a:r>
            </a:p>
          </p:txBody>
        </p:sp>
        <p:grpSp>
          <p:nvGrpSpPr>
            <p:cNvPr id="16" name="Group 37"/>
            <p:cNvGrpSpPr>
              <a:grpSpLocks/>
            </p:cNvGrpSpPr>
            <p:nvPr/>
          </p:nvGrpSpPr>
          <p:grpSpPr bwMode="auto">
            <a:xfrm flipH="1">
              <a:off x="1039" y="3509"/>
              <a:ext cx="1433" cy="321"/>
              <a:chOff x="1152" y="1824"/>
              <a:chExt cx="1296" cy="240"/>
            </a:xfrm>
          </p:grpSpPr>
          <p:sp>
            <p:nvSpPr>
              <p:cNvPr id="17" name="AutoShape 38"/>
              <p:cNvSpPr>
                <a:spLocks noChangeArrowheads="1"/>
              </p:cNvSpPr>
              <p:nvPr/>
            </p:nvSpPr>
            <p:spPr bwMode="auto">
              <a:xfrm>
                <a:off x="2160" y="1872"/>
                <a:ext cx="288" cy="144"/>
              </a:xfrm>
              <a:prstGeom prst="rightArrow">
                <a:avLst>
                  <a:gd name="adj1" fmla="val 50000"/>
                  <a:gd name="adj2" fmla="val 50000"/>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18" name="Rectangle 39"/>
              <p:cNvSpPr>
                <a:spLocks noChangeArrowheads="1"/>
              </p:cNvSpPr>
              <p:nvPr/>
            </p:nvSpPr>
            <p:spPr bwMode="auto">
              <a:xfrm>
                <a:off x="1152" y="1824"/>
                <a:ext cx="1008" cy="240"/>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400" b="1" dirty="0">
                    <a:solidFill>
                      <a:schemeClr val="bg1"/>
                    </a:solidFill>
                    <a:latin typeface="微软雅黑 Light" panose="020B0502040204020203" pitchFamily="34" charset="-122"/>
                    <a:ea typeface="微软雅黑 Light" panose="020B0502040204020203" pitchFamily="34" charset="-122"/>
                  </a:rPr>
                  <a:t>HTTP </a:t>
                </a:r>
                <a:r>
                  <a:rPr kumimoji="1" lang="zh-CN" altLang="en-US" sz="1400" b="1" dirty="0">
                    <a:solidFill>
                      <a:schemeClr val="bg1"/>
                    </a:solidFill>
                    <a:latin typeface="微软雅黑 Light" panose="020B0502040204020203" pitchFamily="34" charset="-122"/>
                    <a:ea typeface="微软雅黑 Light" panose="020B0502040204020203" pitchFamily="34" charset="-122"/>
                  </a:rPr>
                  <a:t>响应报文</a:t>
                </a:r>
              </a:p>
            </p:txBody>
          </p:sp>
        </p:grpSp>
        <p:sp>
          <p:nvSpPr>
            <p:cNvPr id="14" name="Text Box 34"/>
            <p:cNvSpPr txBox="1">
              <a:spLocks noChangeArrowheads="1"/>
            </p:cNvSpPr>
            <p:nvPr/>
          </p:nvSpPr>
          <p:spPr bwMode="auto">
            <a:xfrm>
              <a:off x="2336" y="3124"/>
              <a:ext cx="672" cy="10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7200" b="1" dirty="0">
                  <a:solidFill>
                    <a:srgbClr val="0000FF"/>
                  </a:solidFill>
                  <a:latin typeface="微软雅黑 Light" panose="020B0502040204020203" pitchFamily="34" charset="-122"/>
                  <a:ea typeface="微软雅黑 Light" panose="020B0502040204020203" pitchFamily="34" charset="-122"/>
                  <a:sym typeface="Wingdings" pitchFamily="2" charset="2"/>
                </a:rPr>
                <a:t></a:t>
              </a:r>
              <a:endParaRPr kumimoji="1" lang="en-US" altLang="zh-CN" sz="7200" b="1" dirty="0">
                <a:solidFill>
                  <a:srgbClr val="0000FF"/>
                </a:solidFill>
                <a:latin typeface="微软雅黑 Light" panose="020B0502040204020203" pitchFamily="34" charset="-122"/>
                <a:ea typeface="微软雅黑 Light" panose="020B0502040204020203" pitchFamily="34" charset="-122"/>
              </a:endParaRPr>
            </a:p>
          </p:txBody>
        </p:sp>
      </p:grpSp>
      <p:sp>
        <p:nvSpPr>
          <p:cNvPr id="19" name="Rectangle 6"/>
          <p:cNvSpPr>
            <a:spLocks noChangeArrowheads="1"/>
          </p:cNvSpPr>
          <p:nvPr/>
        </p:nvSpPr>
        <p:spPr bwMode="auto">
          <a:xfrm>
            <a:off x="5439488" y="1034676"/>
            <a:ext cx="1259961"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400" b="1" dirty="0">
                <a:latin typeface="微软雅黑 Light" panose="020B0502040204020203" pitchFamily="34" charset="-122"/>
                <a:ea typeface="微软雅黑 Light" panose="020B0502040204020203" pitchFamily="34" charset="-122"/>
              </a:rPr>
              <a:t>万维网服务器</a:t>
            </a:r>
          </a:p>
        </p:txBody>
      </p:sp>
      <p:sp>
        <p:nvSpPr>
          <p:cNvPr id="20" name="Oval 7"/>
          <p:cNvSpPr>
            <a:spLocks noChangeArrowheads="1"/>
          </p:cNvSpPr>
          <p:nvPr/>
        </p:nvSpPr>
        <p:spPr bwMode="auto">
          <a:xfrm>
            <a:off x="5464090" y="2042088"/>
            <a:ext cx="531658" cy="259166"/>
          </a:xfrm>
          <a:prstGeom prst="ellipse">
            <a:avLst/>
          </a:prstGeom>
          <a:solidFill>
            <a:srgbClr val="00FFFF"/>
          </a:solidFill>
          <a:ln w="9525">
            <a:solidFill>
              <a:schemeClr val="tx1"/>
            </a:solidFill>
            <a:round/>
            <a:headEnd/>
            <a:tailEnd/>
          </a:ln>
          <a:effec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21" name="Rectangle 8"/>
          <p:cNvSpPr>
            <a:spLocks noChangeArrowheads="1"/>
          </p:cNvSpPr>
          <p:nvPr/>
        </p:nvSpPr>
        <p:spPr bwMode="auto">
          <a:xfrm>
            <a:off x="2940772" y="1521888"/>
            <a:ext cx="721352" cy="4775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nSpc>
                <a:spcPct val="90000"/>
              </a:lnSpc>
            </a:pPr>
            <a:r>
              <a:rPr kumimoji="1" lang="zh-CN" altLang="en-US" sz="1400" b="1" dirty="0">
                <a:latin typeface="微软雅黑 Light" panose="020B0502040204020203" pitchFamily="34" charset="-122"/>
                <a:ea typeface="微软雅黑 Light" panose="020B0502040204020203" pitchFamily="34" charset="-122"/>
              </a:rPr>
              <a:t>浏览器</a:t>
            </a:r>
          </a:p>
          <a:p>
            <a:pPr>
              <a:lnSpc>
                <a:spcPct val="90000"/>
              </a:lnSpc>
            </a:pPr>
            <a:r>
              <a:rPr kumimoji="1" lang="zh-CN" altLang="en-US" sz="1400" b="1" dirty="0">
                <a:latin typeface="微软雅黑 Light" panose="020B0502040204020203" pitchFamily="34" charset="-122"/>
                <a:ea typeface="微软雅黑 Light" panose="020B0502040204020203" pitchFamily="34" charset="-122"/>
              </a:rPr>
              <a:t> 程序</a:t>
            </a:r>
          </a:p>
        </p:txBody>
      </p:sp>
      <p:sp>
        <p:nvSpPr>
          <p:cNvPr id="22" name="Rectangle 9"/>
          <p:cNvSpPr>
            <a:spLocks noChangeArrowheads="1"/>
          </p:cNvSpPr>
          <p:nvPr/>
        </p:nvSpPr>
        <p:spPr bwMode="auto">
          <a:xfrm>
            <a:off x="1815383" y="1294835"/>
            <a:ext cx="1080425"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400" b="1" dirty="0">
                <a:latin typeface="微软雅黑 Light" panose="020B0502040204020203" pitchFamily="34" charset="-122"/>
                <a:ea typeface="微软雅黑 Light" panose="020B0502040204020203" pitchFamily="34" charset="-122"/>
              </a:rPr>
              <a:t>万维网客户</a:t>
            </a:r>
          </a:p>
        </p:txBody>
      </p:sp>
      <p:sp>
        <p:nvSpPr>
          <p:cNvPr id="23" name="Line 10"/>
          <p:cNvSpPr>
            <a:spLocks noChangeShapeType="1"/>
          </p:cNvSpPr>
          <p:nvPr/>
        </p:nvSpPr>
        <p:spPr bwMode="auto">
          <a:xfrm>
            <a:off x="5067412" y="1808038"/>
            <a:ext cx="605705" cy="379093"/>
          </a:xfrm>
          <a:prstGeom prst="line">
            <a:avLst/>
          </a:prstGeom>
          <a:noFill/>
          <a:ln w="28575">
            <a:solidFill>
              <a:srgbClr val="FF00FF"/>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4" name="Rectangle 11"/>
          <p:cNvSpPr>
            <a:spLocks noChangeArrowheads="1"/>
          </p:cNvSpPr>
          <p:nvPr/>
        </p:nvSpPr>
        <p:spPr bwMode="auto">
          <a:xfrm>
            <a:off x="4460470" y="1534189"/>
            <a:ext cx="721352" cy="4775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nSpc>
                <a:spcPct val="90000"/>
              </a:lnSpc>
            </a:pPr>
            <a:r>
              <a:rPr kumimoji="1" lang="zh-CN" altLang="en-US" sz="1400" b="1" dirty="0">
                <a:latin typeface="微软雅黑 Light" panose="020B0502040204020203" pitchFamily="34" charset="-122"/>
                <a:ea typeface="微软雅黑 Light" panose="020B0502040204020203" pitchFamily="34" charset="-122"/>
              </a:rPr>
              <a:t>服务器</a:t>
            </a:r>
          </a:p>
          <a:p>
            <a:pPr>
              <a:lnSpc>
                <a:spcPct val="90000"/>
              </a:lnSpc>
            </a:pPr>
            <a:r>
              <a:rPr kumimoji="1" lang="zh-CN" altLang="en-US" sz="1400" b="1" dirty="0">
                <a:latin typeface="微软雅黑 Light" panose="020B0502040204020203" pitchFamily="34" charset="-122"/>
                <a:ea typeface="微软雅黑 Light" panose="020B0502040204020203" pitchFamily="34" charset="-122"/>
              </a:rPr>
              <a:t> 程序</a:t>
            </a:r>
          </a:p>
        </p:txBody>
      </p:sp>
      <p:sp>
        <p:nvSpPr>
          <p:cNvPr id="25" name="Rectangle 12"/>
          <p:cNvSpPr>
            <a:spLocks noChangeArrowheads="1"/>
          </p:cNvSpPr>
          <p:nvPr/>
        </p:nvSpPr>
        <p:spPr bwMode="auto">
          <a:xfrm>
            <a:off x="3686651" y="1939525"/>
            <a:ext cx="624403"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en-US" altLang="zh-CN" sz="1400" b="1" dirty="0">
                <a:latin typeface="微软雅黑 Light" panose="020B0502040204020203" pitchFamily="34" charset="-122"/>
                <a:ea typeface="微软雅黑 Light" panose="020B0502040204020203" pitchFamily="34" charset="-122"/>
              </a:rPr>
              <a:t>HTTP</a:t>
            </a:r>
          </a:p>
        </p:txBody>
      </p:sp>
      <p:sp>
        <p:nvSpPr>
          <p:cNvPr id="27" name="Oval 20"/>
          <p:cNvSpPr>
            <a:spLocks noChangeArrowheads="1"/>
          </p:cNvSpPr>
          <p:nvPr/>
        </p:nvSpPr>
        <p:spPr bwMode="auto">
          <a:xfrm>
            <a:off x="2054028" y="2062428"/>
            <a:ext cx="567551" cy="257114"/>
          </a:xfrm>
          <a:prstGeom prst="ellipse">
            <a:avLst/>
          </a:prstGeom>
          <a:solidFill>
            <a:srgbClr val="66FF66"/>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1"/>
          <p:cNvSpPr>
            <a:spLocks noChangeShapeType="1"/>
          </p:cNvSpPr>
          <p:nvPr/>
        </p:nvSpPr>
        <p:spPr bwMode="auto">
          <a:xfrm flipH="1">
            <a:off x="2423324" y="1808038"/>
            <a:ext cx="585052" cy="397351"/>
          </a:xfrm>
          <a:prstGeom prst="line">
            <a:avLst/>
          </a:prstGeom>
          <a:noFill/>
          <a:ln w="28575">
            <a:solidFill>
              <a:srgbClr val="FF00FF"/>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29" name="Group 50"/>
          <p:cNvGrpSpPr>
            <a:grpSpLocks/>
          </p:cNvGrpSpPr>
          <p:nvPr/>
        </p:nvGrpSpPr>
        <p:grpSpPr bwMode="auto">
          <a:xfrm>
            <a:off x="1935051" y="2787320"/>
            <a:ext cx="3964277" cy="1325894"/>
            <a:chOff x="431" y="2722"/>
            <a:chExt cx="3207" cy="1162"/>
          </a:xfrm>
        </p:grpSpPr>
        <p:sp>
          <p:nvSpPr>
            <p:cNvPr id="30" name="Line 27"/>
            <p:cNvSpPr>
              <a:spLocks noChangeShapeType="1"/>
            </p:cNvSpPr>
            <p:nvPr/>
          </p:nvSpPr>
          <p:spPr bwMode="auto">
            <a:xfrm>
              <a:off x="664" y="2791"/>
              <a:ext cx="0" cy="1093"/>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Line 28"/>
            <p:cNvSpPr>
              <a:spLocks noChangeShapeType="1"/>
            </p:cNvSpPr>
            <p:nvPr/>
          </p:nvSpPr>
          <p:spPr bwMode="auto">
            <a:xfrm>
              <a:off x="3638" y="2855"/>
              <a:ext cx="0" cy="1029"/>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32" name="Group 44"/>
            <p:cNvGrpSpPr>
              <a:grpSpLocks/>
            </p:cNvGrpSpPr>
            <p:nvPr/>
          </p:nvGrpSpPr>
          <p:grpSpPr bwMode="auto">
            <a:xfrm>
              <a:off x="431" y="2722"/>
              <a:ext cx="3207" cy="519"/>
              <a:chOff x="431" y="2722"/>
              <a:chExt cx="3207" cy="519"/>
            </a:xfrm>
          </p:grpSpPr>
          <p:sp>
            <p:nvSpPr>
              <p:cNvPr id="33" name="Line 23"/>
              <p:cNvSpPr>
                <a:spLocks noChangeShapeType="1"/>
              </p:cNvSpPr>
              <p:nvPr/>
            </p:nvSpPr>
            <p:spPr bwMode="auto">
              <a:xfrm flipV="1">
                <a:off x="673" y="3080"/>
                <a:ext cx="2965" cy="11"/>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34" name="Group 24"/>
              <p:cNvGrpSpPr>
                <a:grpSpLocks/>
              </p:cNvGrpSpPr>
              <p:nvPr/>
            </p:nvGrpSpPr>
            <p:grpSpPr bwMode="auto">
              <a:xfrm>
                <a:off x="1419" y="2919"/>
                <a:ext cx="1461" cy="322"/>
                <a:chOff x="1152" y="1824"/>
                <a:chExt cx="1296" cy="240"/>
              </a:xfrm>
            </p:grpSpPr>
            <p:sp>
              <p:nvSpPr>
                <p:cNvPr id="36" name="AutoShape 25"/>
                <p:cNvSpPr>
                  <a:spLocks noChangeArrowheads="1"/>
                </p:cNvSpPr>
                <p:nvPr/>
              </p:nvSpPr>
              <p:spPr bwMode="auto">
                <a:xfrm>
                  <a:off x="2160" y="1872"/>
                  <a:ext cx="288" cy="144"/>
                </a:xfrm>
                <a:prstGeom prst="rightArrow">
                  <a:avLst>
                    <a:gd name="adj1" fmla="val 50000"/>
                    <a:gd name="adj2"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37" name="Rectangle 26"/>
                <p:cNvSpPr>
                  <a:spLocks noChangeArrowheads="1"/>
                </p:cNvSpPr>
                <p:nvPr/>
              </p:nvSpPr>
              <p:spPr bwMode="auto">
                <a:xfrm>
                  <a:off x="1152" y="1824"/>
                  <a:ext cx="1008" cy="240"/>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400" b="1" dirty="0">
                      <a:solidFill>
                        <a:schemeClr val="bg1"/>
                      </a:solidFill>
                      <a:latin typeface="微软雅黑 Light" panose="020B0502040204020203" pitchFamily="34" charset="-122"/>
                      <a:ea typeface="微软雅黑 Light" panose="020B0502040204020203" pitchFamily="34" charset="-122"/>
                    </a:rPr>
                    <a:t>HTTP </a:t>
                  </a:r>
                  <a:r>
                    <a:rPr kumimoji="1" lang="zh-CN" altLang="en-US" sz="1400" b="1" dirty="0">
                      <a:solidFill>
                        <a:schemeClr val="bg1"/>
                      </a:solidFill>
                      <a:latin typeface="微软雅黑 Light" panose="020B0502040204020203" pitchFamily="34" charset="-122"/>
                      <a:ea typeface="微软雅黑 Light" panose="020B0502040204020203" pitchFamily="34" charset="-122"/>
                    </a:rPr>
                    <a:t>请求报文</a:t>
                  </a:r>
                </a:p>
              </p:txBody>
            </p:sp>
          </p:grpSp>
          <p:sp>
            <p:nvSpPr>
              <p:cNvPr id="35" name="Text Box 29"/>
              <p:cNvSpPr txBox="1">
                <a:spLocks noChangeArrowheads="1"/>
              </p:cNvSpPr>
              <p:nvPr/>
            </p:nvSpPr>
            <p:spPr bwMode="auto">
              <a:xfrm>
                <a:off x="431" y="2722"/>
                <a:ext cx="939" cy="324"/>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800" b="1" dirty="0">
                    <a:latin typeface="微软雅黑 Light" panose="020B0502040204020203" pitchFamily="34" charset="-122"/>
                    <a:ea typeface="微软雅黑 Light" panose="020B0502040204020203" pitchFamily="34" charset="-122"/>
                    <a:sym typeface="Wingdings" pitchFamily="2" charset="2"/>
                  </a:rPr>
                  <a:t></a:t>
                </a:r>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请求文档</a:t>
                </a:r>
              </a:p>
            </p:txBody>
          </p:sp>
        </p:grpSp>
      </p:grpSp>
      <p:sp>
        <p:nvSpPr>
          <p:cNvPr id="40" name="Text Box 31"/>
          <p:cNvSpPr txBox="1">
            <a:spLocks noChangeArrowheads="1"/>
          </p:cNvSpPr>
          <p:nvPr/>
        </p:nvSpPr>
        <p:spPr bwMode="auto">
          <a:xfrm>
            <a:off x="1039584" y="3445400"/>
            <a:ext cx="1176925" cy="8002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800" b="1" dirty="0">
                <a:solidFill>
                  <a:srgbClr val="0000FF"/>
                </a:solidFill>
                <a:latin typeface="微软雅黑 Light" panose="020B0502040204020203" pitchFamily="34" charset="-122"/>
                <a:ea typeface="微软雅黑 Light" panose="020B0502040204020203" pitchFamily="34" charset="-122"/>
                <a:sym typeface="Wingdings" pitchFamily="2" charset="2"/>
              </a:rPr>
              <a:t> </a:t>
            </a:r>
            <a:r>
              <a:rPr kumimoji="1" lang="zh-CN" altLang="en-US" sz="1400" b="1" dirty="0">
                <a:solidFill>
                  <a:srgbClr val="0000FF"/>
                </a:solidFill>
                <a:latin typeface="微软雅黑 Light" panose="020B0502040204020203" pitchFamily="34" charset="-122"/>
                <a:ea typeface="微软雅黑 Light" panose="020B0502040204020203" pitchFamily="34" charset="-122"/>
              </a:rPr>
              <a:t>此程序在</a:t>
            </a:r>
          </a:p>
          <a:p>
            <a:pPr algn="ctr"/>
            <a:r>
              <a:rPr kumimoji="1" lang="zh-CN" altLang="en-US" sz="1400" b="1" dirty="0">
                <a:solidFill>
                  <a:srgbClr val="CC00FF"/>
                </a:solidFill>
                <a:latin typeface="微软雅黑 Light" panose="020B0502040204020203" pitchFamily="34" charset="-122"/>
                <a:ea typeface="微软雅黑 Light" panose="020B0502040204020203" pitchFamily="34" charset="-122"/>
              </a:rPr>
              <a:t>客户端</a:t>
            </a:r>
            <a:r>
              <a:rPr kumimoji="1" lang="zh-CN" altLang="en-US" sz="1400" b="1" dirty="0">
                <a:solidFill>
                  <a:srgbClr val="0000FF"/>
                </a:solidFill>
                <a:latin typeface="微软雅黑 Light" panose="020B0502040204020203" pitchFamily="34" charset="-122"/>
                <a:ea typeface="微软雅黑 Light" panose="020B0502040204020203" pitchFamily="34" charset="-122"/>
              </a:rPr>
              <a:t>创建</a:t>
            </a:r>
          </a:p>
          <a:p>
            <a:pPr algn="ctr"/>
            <a:r>
              <a:rPr kumimoji="1" lang="zh-CN" altLang="en-US" sz="1400" b="1" dirty="0">
                <a:solidFill>
                  <a:srgbClr val="0000FF"/>
                </a:solidFill>
                <a:latin typeface="微软雅黑 Light" panose="020B0502040204020203" pitchFamily="34" charset="-122"/>
                <a:ea typeface="微软雅黑 Light" panose="020B0502040204020203" pitchFamily="34" charset="-122"/>
              </a:rPr>
              <a:t>出活动文档</a:t>
            </a:r>
          </a:p>
        </p:txBody>
      </p:sp>
      <p:sp>
        <p:nvSpPr>
          <p:cNvPr id="42" name="Line 15"/>
          <p:cNvSpPr>
            <a:spLocks noChangeShapeType="1"/>
          </p:cNvSpPr>
          <p:nvPr/>
        </p:nvSpPr>
        <p:spPr bwMode="auto">
          <a:xfrm>
            <a:off x="2490075" y="2223677"/>
            <a:ext cx="3142249" cy="0"/>
          </a:xfrm>
          <a:prstGeom prst="line">
            <a:avLst/>
          </a:prstGeom>
          <a:noFill/>
          <a:ln w="38100">
            <a:solidFill>
              <a:srgbClr val="CC00CC"/>
            </a:solidFill>
            <a:prstDash val="dash"/>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5" name="Text Box 31"/>
          <p:cNvSpPr txBox="1">
            <a:spLocks noChangeArrowheads="1"/>
          </p:cNvSpPr>
          <p:nvPr/>
        </p:nvSpPr>
        <p:spPr bwMode="auto">
          <a:xfrm>
            <a:off x="6490906" y="2955417"/>
            <a:ext cx="1439407"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zh-CN" altLang="en-US" sz="1400" b="1" dirty="0">
                <a:latin typeface="微软雅黑 Light" panose="020B0502040204020203" pitchFamily="34" charset="-122"/>
                <a:ea typeface="微软雅黑 Light" panose="020B0502040204020203" pitchFamily="34" charset="-122"/>
              </a:rPr>
              <a:t>程序</a:t>
            </a:r>
            <a:r>
              <a:rPr kumimoji="1" lang="zh-CN" altLang="en-US" sz="1400" b="1" dirty="0">
                <a:solidFill>
                  <a:srgbClr val="0000FF"/>
                </a:solidFill>
                <a:latin typeface="微软雅黑 Light" panose="020B0502040204020203" pitchFamily="34" charset="-122"/>
                <a:ea typeface="微软雅黑 Light" panose="020B0502040204020203" pitchFamily="34" charset="-122"/>
              </a:rPr>
              <a:t>事先</a:t>
            </a:r>
            <a:r>
              <a:rPr kumimoji="1" lang="zh-CN" altLang="en-US" sz="1400" b="1" dirty="0">
                <a:latin typeface="微软雅黑 Light" panose="020B0502040204020203" pitchFamily="34" charset="-122"/>
                <a:ea typeface="微软雅黑 Light" panose="020B0502040204020203" pitchFamily="34" charset="-122"/>
              </a:rPr>
              <a:t>被编译成二进制代码，存放为文件</a:t>
            </a:r>
          </a:p>
        </p:txBody>
      </p:sp>
      <p:sp>
        <p:nvSpPr>
          <p:cNvPr id="10" name="Line 18"/>
          <p:cNvSpPr>
            <a:spLocks noChangeShapeType="1"/>
          </p:cNvSpPr>
          <p:nvPr/>
        </p:nvSpPr>
        <p:spPr bwMode="auto">
          <a:xfrm>
            <a:off x="5845975" y="2187131"/>
            <a:ext cx="1176617" cy="586168"/>
          </a:xfrm>
          <a:prstGeom prst="line">
            <a:avLst/>
          </a:prstGeom>
          <a:noFill/>
          <a:ln w="25400">
            <a:solidFill>
              <a:srgbClr val="FF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6" name="Text Box 31"/>
          <p:cNvSpPr txBox="1">
            <a:spLocks noChangeArrowheads="1"/>
          </p:cNvSpPr>
          <p:nvPr/>
        </p:nvSpPr>
        <p:spPr bwMode="auto">
          <a:xfrm>
            <a:off x="6845948" y="1598383"/>
            <a:ext cx="61137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zh-CN" altLang="en-US" sz="1400" b="1" dirty="0">
                <a:latin typeface="微软雅黑 Light" panose="020B0502040204020203" pitchFamily="34" charset="-122"/>
                <a:ea typeface="微软雅黑 Light" panose="020B0502040204020203" pitchFamily="34" charset="-122"/>
              </a:rPr>
              <a:t>程序</a:t>
            </a:r>
          </a:p>
        </p:txBody>
      </p:sp>
    </p:spTree>
    <p:extLst>
      <p:ext uri="{BB962C8B-B14F-4D97-AF65-F5344CB8AC3E}">
        <p14:creationId xmlns:p14="http://schemas.microsoft.com/office/powerpoint/2010/main" val="294192606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2000"/>
                                        <p:tgtEl>
                                          <p:spTgt spid="29"/>
                                        </p:tgtEl>
                                      </p:cBhvr>
                                    </p:animEffect>
                                  </p:childTnLst>
                                </p:cTn>
                              </p:par>
                            </p:childTnLst>
                          </p:cTn>
                        </p:par>
                        <p:par>
                          <p:cTn id="8" fill="hold">
                            <p:stCondLst>
                              <p:cond delay="2000"/>
                            </p:stCondLst>
                            <p:childTnLst>
                              <p:par>
                                <p:cTn id="9" presetID="22" presetClass="entr" presetSubtype="2" fill="hold" nodeType="afterEffect">
                                  <p:stCondLst>
                                    <p:cond delay="500"/>
                                  </p:stCondLst>
                                  <p:childTnLst>
                                    <p:set>
                                      <p:cBhvr>
                                        <p:cTn id="10" dur="1" fill="hold">
                                          <p:stCondLst>
                                            <p:cond delay="0"/>
                                          </p:stCondLst>
                                        </p:cTn>
                                        <p:tgtEl>
                                          <p:spTgt spid="12"/>
                                        </p:tgtEl>
                                        <p:attrNameLst>
                                          <p:attrName>style.visibility</p:attrName>
                                        </p:attrNameLst>
                                      </p:cBhvr>
                                      <p:to>
                                        <p:strVal val="visible"/>
                                      </p:to>
                                    </p:set>
                                    <p:animEffect transition="in" filter="wipe(right)">
                                      <p:cBhvr>
                                        <p:cTn id="11" dur="2000"/>
                                        <p:tgtEl>
                                          <p:spTgt spid="12"/>
                                        </p:tgtEl>
                                      </p:cBhvr>
                                    </p:animEffect>
                                  </p:childTnLst>
                                </p:cTn>
                              </p:par>
                            </p:childTnLst>
                          </p:cTn>
                        </p:par>
                        <p:par>
                          <p:cTn id="12" fill="hold">
                            <p:stCondLst>
                              <p:cond delay="4500"/>
                            </p:stCondLst>
                            <p:childTnLst>
                              <p:par>
                                <p:cTn id="13" presetID="1" presetClass="entr" presetSubtype="0" fill="hold" grpId="0" nodeType="afterEffect">
                                  <p:stCondLst>
                                    <p:cond delay="250"/>
                                  </p:stCondLst>
                                  <p:childTnLst>
                                    <p:set>
                                      <p:cBhvr>
                                        <p:cTn id="14" dur="1" fill="hold">
                                          <p:stCondLst>
                                            <p:cond delay="0"/>
                                          </p:stCondLst>
                                        </p:cTn>
                                        <p:tgtEl>
                                          <p:spTgt spid="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p:bld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E16CE6C-0BB5-349E-CE68-5E77297ADCAA}"/>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活动万维网文档</a:t>
            </a:r>
          </a:p>
        </p:txBody>
      </p:sp>
      <p:sp>
        <p:nvSpPr>
          <p:cNvPr id="6" name="内容占位符 5">
            <a:extLst>
              <a:ext uri="{FF2B5EF4-FFF2-40B4-BE49-F238E27FC236}">
                <a16:creationId xmlns:a16="http://schemas.microsoft.com/office/drawing/2014/main" id="{23E512CC-0CA9-5C3E-9B93-DBE104C6B915}"/>
              </a:ext>
            </a:extLst>
          </p:cNvPr>
          <p:cNvSpPr>
            <a:spLocks noGrp="1"/>
          </p:cNvSpPr>
          <p:nvPr>
            <p:ph sz="quarter" idx="11"/>
          </p:nvPr>
        </p:nvSpPr>
        <p:spPr>
          <a:xfrm>
            <a:off x="486000" y="687518"/>
            <a:ext cx="8172000" cy="4079035"/>
          </a:xfrm>
        </p:spPr>
        <p:txBody>
          <a:bodyPr/>
          <a:lstStyle/>
          <a:p>
            <a:r>
              <a:rPr lang="zh-CN" altLang="en-US" dirty="0"/>
              <a:t>用 </a:t>
            </a:r>
            <a:r>
              <a:rPr lang="en-US" altLang="zh-CN" dirty="0"/>
              <a:t>Java </a:t>
            </a:r>
            <a:r>
              <a:rPr lang="zh-CN" altLang="en-US" dirty="0"/>
              <a:t>语言创建活动文档</a:t>
            </a:r>
            <a:endParaRPr lang="en-US" altLang="zh-CN" dirty="0"/>
          </a:p>
          <a:p>
            <a:pPr lvl="1"/>
            <a:r>
              <a:rPr lang="en-US" altLang="zh-CN" dirty="0"/>
              <a:t>Java </a:t>
            </a:r>
            <a:r>
              <a:rPr lang="zh-CN" altLang="en-US" dirty="0"/>
              <a:t>语言是一项用于创建和运行活动文档的技术</a:t>
            </a:r>
          </a:p>
          <a:p>
            <a:pPr lvl="1"/>
            <a:r>
              <a:rPr lang="zh-CN" altLang="en-US" dirty="0"/>
              <a:t>在 </a:t>
            </a:r>
            <a:r>
              <a:rPr lang="en-US" altLang="zh-CN" dirty="0"/>
              <a:t>Java </a:t>
            </a:r>
            <a:r>
              <a:rPr lang="zh-CN" altLang="en-US" dirty="0"/>
              <a:t>技术中使用小应用程序 </a:t>
            </a:r>
            <a:r>
              <a:rPr lang="en-US" altLang="zh-CN" dirty="0"/>
              <a:t>(applet) </a:t>
            </a:r>
            <a:r>
              <a:rPr lang="zh-CN" altLang="en-US" dirty="0"/>
              <a:t>来描述活动文档程序</a:t>
            </a:r>
          </a:p>
          <a:p>
            <a:pPr lvl="1"/>
            <a:r>
              <a:rPr lang="zh-CN" altLang="en-US" dirty="0"/>
              <a:t>用户从万维网服务器下载嵌入了 </a:t>
            </a:r>
            <a:r>
              <a:rPr lang="en-US" altLang="zh-CN" dirty="0"/>
              <a:t>applet </a:t>
            </a:r>
            <a:r>
              <a:rPr lang="zh-CN" altLang="en-US" dirty="0"/>
              <a:t>的 </a:t>
            </a:r>
            <a:r>
              <a:rPr lang="en-US" altLang="zh-CN" dirty="0"/>
              <a:t>HTML </a:t>
            </a:r>
            <a:r>
              <a:rPr lang="zh-CN" altLang="en-US" dirty="0"/>
              <a:t>文档后，可在浏览器的屏幕上点击某个图像，就可看到动画效果，或在下拉式菜单中点击某个项目，就可看到计算结果</a:t>
            </a:r>
          </a:p>
          <a:p>
            <a:pPr lvl="1"/>
            <a:r>
              <a:rPr lang="en-US" altLang="zh-CN" dirty="0"/>
              <a:t>Java </a:t>
            </a:r>
            <a:r>
              <a:rPr lang="zh-CN" altLang="en-US" dirty="0"/>
              <a:t>技术是活动文档技术的一部分</a:t>
            </a:r>
          </a:p>
          <a:p>
            <a:endParaRPr lang="zh-CN" altLang="en-US" dirty="0"/>
          </a:p>
          <a:p>
            <a:endParaRPr lang="zh-CN" altLang="en-US" dirty="0"/>
          </a:p>
        </p:txBody>
      </p:sp>
    </p:spTree>
    <p:extLst>
      <p:ext uri="{BB962C8B-B14F-4D97-AF65-F5344CB8AC3E}">
        <p14:creationId xmlns:p14="http://schemas.microsoft.com/office/powerpoint/2010/main" val="256135187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2B7D146-31B3-FE7B-96A0-67819FFBF6E5}"/>
              </a:ext>
            </a:extLst>
          </p:cNvPr>
          <p:cNvSpPr>
            <a:spLocks noGrp="1"/>
          </p:cNvSpPr>
          <p:nvPr>
            <p:ph type="title"/>
          </p:nvPr>
        </p:nvSpPr>
        <p:spPr>
          <a:xfrm>
            <a:off x="485999" y="174482"/>
            <a:ext cx="8171999" cy="338554"/>
          </a:xfrm>
        </p:spPr>
        <p:txBody>
          <a:bodyPr/>
          <a:lstStyle/>
          <a:p>
            <a:r>
              <a:rPr lang="en-US" altLang="zh-CN" dirty="0"/>
              <a:t>6.4.5  </a:t>
            </a:r>
            <a:r>
              <a:rPr lang="zh-CN" altLang="en-US" dirty="0"/>
              <a:t>万维网的信息检索系统</a:t>
            </a:r>
          </a:p>
        </p:txBody>
      </p:sp>
      <p:sp>
        <p:nvSpPr>
          <p:cNvPr id="3" name="内容占位符 2">
            <a:extLst>
              <a:ext uri="{FF2B5EF4-FFF2-40B4-BE49-F238E27FC236}">
                <a16:creationId xmlns:a16="http://schemas.microsoft.com/office/drawing/2014/main" id="{63A35A5C-8E24-C07C-FA2E-757A7E1F38D5}"/>
              </a:ext>
            </a:extLst>
          </p:cNvPr>
          <p:cNvSpPr>
            <a:spLocks noGrp="1"/>
          </p:cNvSpPr>
          <p:nvPr>
            <p:ph sz="quarter" idx="11"/>
          </p:nvPr>
        </p:nvSpPr>
        <p:spPr>
          <a:xfrm>
            <a:off x="486000" y="687518"/>
            <a:ext cx="8172000" cy="4079035"/>
          </a:xfrm>
        </p:spPr>
        <p:txBody>
          <a:bodyPr/>
          <a:lstStyle/>
          <a:p>
            <a:r>
              <a:rPr lang="zh-CN" altLang="en-US" dirty="0"/>
              <a:t>使用户能够很方便地找到所需的信息</a:t>
            </a:r>
            <a:endParaRPr lang="en-US" altLang="zh-CN" dirty="0"/>
          </a:p>
          <a:p>
            <a:r>
              <a:rPr lang="zh-CN" altLang="en-US" dirty="0"/>
              <a:t>在万维网中用来进行搜索的程序叫做搜索引擎 </a:t>
            </a:r>
            <a:r>
              <a:rPr lang="en-US" altLang="zh-CN" dirty="0"/>
              <a:t>(search engine)</a:t>
            </a:r>
            <a:endParaRPr lang="zh-CN" altLang="en-US" dirty="0"/>
          </a:p>
          <a:p>
            <a:endParaRPr lang="zh-CN" altLang="en-US" dirty="0"/>
          </a:p>
        </p:txBody>
      </p:sp>
    </p:spTree>
    <p:extLst>
      <p:ext uri="{BB962C8B-B14F-4D97-AF65-F5344CB8AC3E}">
        <p14:creationId xmlns:p14="http://schemas.microsoft.com/office/powerpoint/2010/main" val="22851463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1652910924"/>
              </p:ext>
            </p:extLst>
          </p:nvPr>
        </p:nvGraphicFramePr>
        <p:xfrm>
          <a:off x="485775" y="1015066"/>
          <a:ext cx="8172450" cy="357757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标题 2">
            <a:extLst>
              <a:ext uri="{FF2B5EF4-FFF2-40B4-BE49-F238E27FC236}">
                <a16:creationId xmlns:a16="http://schemas.microsoft.com/office/drawing/2014/main" id="{AF4A2823-8284-5396-62EB-439343F26EB6}"/>
              </a:ext>
            </a:extLst>
          </p:cNvPr>
          <p:cNvSpPr>
            <a:spLocks noGrp="1"/>
          </p:cNvSpPr>
          <p:nvPr>
            <p:ph type="title"/>
          </p:nvPr>
        </p:nvSpPr>
        <p:spPr>
          <a:xfrm>
            <a:off x="485999" y="174482"/>
            <a:ext cx="8171999" cy="338554"/>
          </a:xfrm>
        </p:spPr>
        <p:txBody>
          <a:bodyPr/>
          <a:lstStyle/>
          <a:p>
            <a:r>
              <a:rPr lang="en-US" altLang="zh-CN" dirty="0"/>
              <a:t>6.4.5  </a:t>
            </a:r>
            <a:r>
              <a:rPr lang="zh-CN" altLang="en-US" dirty="0"/>
              <a:t>万维网的信息检索系统 </a:t>
            </a:r>
            <a:r>
              <a:rPr lang="en-US" altLang="zh-CN" dirty="0"/>
              <a:t>- </a:t>
            </a:r>
            <a:r>
              <a:rPr lang="zh-CN" altLang="en-US" dirty="0"/>
              <a:t>搜索引擎</a:t>
            </a:r>
          </a:p>
        </p:txBody>
      </p:sp>
      <p:sp>
        <p:nvSpPr>
          <p:cNvPr id="6" name="内容占位符 5">
            <a:extLst>
              <a:ext uri="{FF2B5EF4-FFF2-40B4-BE49-F238E27FC236}">
                <a16:creationId xmlns:a16="http://schemas.microsoft.com/office/drawing/2014/main" id="{B94BBD20-2C24-F92A-9C9E-0C09B806015E}"/>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12502240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6"/>
          <p:cNvSpPr txBox="1"/>
          <p:nvPr/>
        </p:nvSpPr>
        <p:spPr>
          <a:xfrm>
            <a:off x="3491880" y="3734537"/>
            <a:ext cx="1726755" cy="338554"/>
          </a:xfrm>
          <a:prstGeom prst="rect">
            <a:avLst/>
          </a:prstGeom>
          <a:noFill/>
        </p:spPr>
        <p:txBody>
          <a:bodyPr wrap="none" rtlCol="0">
            <a:spAutoFit/>
          </a:bodyPr>
          <a:lstStyle/>
          <a:p>
            <a:r>
              <a:rPr lang="en-US" altLang="zh-CN" sz="1600" b="1" dirty="0">
                <a:latin typeface="微软雅黑 Light" panose="020B0502040204020203" pitchFamily="34" charset="-122"/>
                <a:ea typeface="微软雅黑 Light" panose="020B0502040204020203" pitchFamily="34" charset="-122"/>
                <a:cs typeface="Times New Roman" pitchFamily="18" charset="0"/>
              </a:rPr>
              <a:t>(b) </a:t>
            </a:r>
            <a:r>
              <a:rPr lang="zh-CN" altLang="en-US" sz="1600" b="1" dirty="0">
                <a:latin typeface="微软雅黑 Light" panose="020B0502040204020203" pitchFamily="34" charset="-122"/>
                <a:ea typeface="微软雅黑 Light" panose="020B0502040204020203" pitchFamily="34" charset="-122"/>
                <a:cs typeface="Times New Roman" pitchFamily="18" charset="0"/>
              </a:rPr>
              <a:t>分类检索举例</a:t>
            </a:r>
          </a:p>
        </p:txBody>
      </p:sp>
      <p:grpSp>
        <p:nvGrpSpPr>
          <p:cNvPr id="12" name="组合 11"/>
          <p:cNvGrpSpPr/>
          <p:nvPr/>
        </p:nvGrpSpPr>
        <p:grpSpPr>
          <a:xfrm>
            <a:off x="1296140" y="2610313"/>
            <a:ext cx="6676008" cy="886063"/>
            <a:chOff x="107503" y="2060848"/>
            <a:chExt cx="8856985" cy="1399389"/>
          </a:xfrm>
        </p:grpSpPr>
        <p:pic>
          <p:nvPicPr>
            <p:cNvPr id="6" name="图片 5" descr="sina-1.jpg"/>
            <p:cNvPicPr>
              <a:picLocks noChangeAspect="1"/>
            </p:cNvPicPr>
            <p:nvPr/>
          </p:nvPicPr>
          <p:blipFill>
            <a:blip r:embed="rId2" cstate="print"/>
            <a:stretch>
              <a:fillRect/>
            </a:stretch>
          </p:blipFill>
          <p:spPr>
            <a:xfrm>
              <a:off x="107503" y="2079309"/>
              <a:ext cx="8856985" cy="1380928"/>
            </a:xfrm>
            <a:prstGeom prst="rect">
              <a:avLst/>
            </a:prstGeom>
          </p:spPr>
        </p:pic>
        <p:sp>
          <p:nvSpPr>
            <p:cNvPr id="9" name="矩形 8"/>
            <p:cNvSpPr/>
            <p:nvPr/>
          </p:nvSpPr>
          <p:spPr>
            <a:xfrm>
              <a:off x="107504" y="2060848"/>
              <a:ext cx="8850229" cy="1376619"/>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grpSp>
      <p:grpSp>
        <p:nvGrpSpPr>
          <p:cNvPr id="11" name="组合 10"/>
          <p:cNvGrpSpPr/>
          <p:nvPr/>
        </p:nvGrpSpPr>
        <p:grpSpPr>
          <a:xfrm>
            <a:off x="1296140" y="861134"/>
            <a:ext cx="6668990" cy="1269550"/>
            <a:chOff x="107504" y="116632"/>
            <a:chExt cx="8850229" cy="1501140"/>
          </a:xfrm>
        </p:grpSpPr>
        <p:pic>
          <p:nvPicPr>
            <p:cNvPr id="5" name="图片 4" descr="google.jpg"/>
            <p:cNvPicPr>
              <a:picLocks noChangeAspect="1"/>
            </p:cNvPicPr>
            <p:nvPr/>
          </p:nvPicPr>
          <p:blipFill>
            <a:blip r:embed="rId3" cstate="print"/>
            <a:stretch>
              <a:fillRect/>
            </a:stretch>
          </p:blipFill>
          <p:spPr>
            <a:xfrm>
              <a:off x="1979712" y="116632"/>
              <a:ext cx="4861560" cy="1501140"/>
            </a:xfrm>
            <a:prstGeom prst="rect">
              <a:avLst/>
            </a:prstGeom>
          </p:spPr>
        </p:pic>
        <p:sp>
          <p:nvSpPr>
            <p:cNvPr id="10" name="矩形 9"/>
            <p:cNvSpPr/>
            <p:nvPr/>
          </p:nvSpPr>
          <p:spPr>
            <a:xfrm>
              <a:off x="107504" y="180173"/>
              <a:ext cx="8850229" cy="1376619"/>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grpSp>
      <p:sp>
        <p:nvSpPr>
          <p:cNvPr id="13" name="TextBox 5"/>
          <p:cNvSpPr txBox="1"/>
          <p:nvPr/>
        </p:nvSpPr>
        <p:spPr>
          <a:xfrm>
            <a:off x="3491880" y="2061872"/>
            <a:ext cx="1755609" cy="338554"/>
          </a:xfrm>
          <a:prstGeom prst="rect">
            <a:avLst/>
          </a:prstGeom>
          <a:noFill/>
        </p:spPr>
        <p:txBody>
          <a:bodyPr wrap="none" rtlCol="0">
            <a:spAutoFit/>
          </a:bodyPr>
          <a:lstStyle/>
          <a:p>
            <a:r>
              <a:rPr lang="en-US" altLang="zh-CN" sz="1600" b="1" dirty="0">
                <a:latin typeface="微软雅黑 Light" panose="020B0502040204020203" pitchFamily="34" charset="-122"/>
                <a:ea typeface="微软雅黑 Light" panose="020B0502040204020203" pitchFamily="34" charset="-122"/>
                <a:cs typeface="Times New Roman" pitchFamily="18" charset="0"/>
              </a:rPr>
              <a:t>(a) </a:t>
            </a:r>
            <a:r>
              <a:rPr lang="zh-CN" altLang="en-US" sz="1600" b="1" dirty="0">
                <a:latin typeface="微软雅黑 Light" panose="020B0502040204020203" pitchFamily="34" charset="-122"/>
                <a:ea typeface="微软雅黑 Light" panose="020B0502040204020203" pitchFamily="34" charset="-122"/>
                <a:cs typeface="Times New Roman" pitchFamily="18" charset="0"/>
              </a:rPr>
              <a:t>全文检索举例</a:t>
            </a:r>
          </a:p>
        </p:txBody>
      </p:sp>
      <p:sp>
        <p:nvSpPr>
          <p:cNvPr id="2" name="标题 1">
            <a:extLst>
              <a:ext uri="{FF2B5EF4-FFF2-40B4-BE49-F238E27FC236}">
                <a16:creationId xmlns:a16="http://schemas.microsoft.com/office/drawing/2014/main" id="{EDB14A9C-1BBC-DE4F-EA9C-65D4090BF7A4}"/>
              </a:ext>
            </a:extLst>
          </p:cNvPr>
          <p:cNvSpPr>
            <a:spLocks noGrp="1"/>
          </p:cNvSpPr>
          <p:nvPr>
            <p:ph type="title"/>
          </p:nvPr>
        </p:nvSpPr>
        <p:spPr>
          <a:xfrm>
            <a:off x="485999" y="174482"/>
            <a:ext cx="8171999" cy="338554"/>
          </a:xfrm>
        </p:spPr>
        <p:txBody>
          <a:bodyPr/>
          <a:lstStyle/>
          <a:p>
            <a:r>
              <a:rPr lang="en-US" altLang="zh-CN" dirty="0"/>
              <a:t>6.4.5  </a:t>
            </a:r>
            <a:r>
              <a:rPr lang="zh-CN" altLang="en-US" dirty="0"/>
              <a:t>万维网的信息检索系统 </a:t>
            </a:r>
            <a:r>
              <a:rPr lang="en-US" altLang="zh-CN" dirty="0"/>
              <a:t>- </a:t>
            </a:r>
            <a:r>
              <a:rPr lang="zh-CN" altLang="en-US" dirty="0"/>
              <a:t>搜索引擎</a:t>
            </a:r>
          </a:p>
        </p:txBody>
      </p:sp>
      <p:sp>
        <p:nvSpPr>
          <p:cNvPr id="7" name="内容占位符 6">
            <a:extLst>
              <a:ext uri="{FF2B5EF4-FFF2-40B4-BE49-F238E27FC236}">
                <a16:creationId xmlns:a16="http://schemas.microsoft.com/office/drawing/2014/main" id="{E0B42A52-ABE1-B35F-83D3-431D43E85A6A}"/>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12889029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123F727-80A4-14A6-98CB-AE7D24F65DF7}"/>
              </a:ext>
            </a:extLst>
          </p:cNvPr>
          <p:cNvSpPr>
            <a:spLocks noGrp="1"/>
          </p:cNvSpPr>
          <p:nvPr>
            <p:ph type="title"/>
          </p:nvPr>
        </p:nvSpPr>
        <p:spPr>
          <a:xfrm>
            <a:off x="485999" y="174482"/>
            <a:ext cx="8171999" cy="338554"/>
          </a:xfrm>
        </p:spPr>
        <p:txBody>
          <a:bodyPr/>
          <a:lstStyle/>
          <a:p>
            <a:r>
              <a:rPr lang="en-US" altLang="zh-CN" dirty="0"/>
              <a:t>6.4.5  </a:t>
            </a:r>
            <a:r>
              <a:rPr lang="zh-CN" altLang="en-US" dirty="0"/>
              <a:t>万维网的信息检索系统 </a:t>
            </a:r>
            <a:r>
              <a:rPr lang="en-US" altLang="zh-CN" dirty="0"/>
              <a:t>- </a:t>
            </a:r>
            <a:r>
              <a:rPr lang="zh-CN" altLang="en-US" dirty="0"/>
              <a:t>搜索引擎</a:t>
            </a:r>
          </a:p>
        </p:txBody>
      </p:sp>
      <p:sp>
        <p:nvSpPr>
          <p:cNvPr id="6" name="内容占位符 5">
            <a:extLst>
              <a:ext uri="{FF2B5EF4-FFF2-40B4-BE49-F238E27FC236}">
                <a16:creationId xmlns:a16="http://schemas.microsoft.com/office/drawing/2014/main" id="{E81A46EA-8C5D-224B-D2EA-779AA868BFFF}"/>
              </a:ext>
            </a:extLst>
          </p:cNvPr>
          <p:cNvSpPr>
            <a:spLocks noGrp="1"/>
          </p:cNvSpPr>
          <p:nvPr>
            <p:ph sz="quarter" idx="11"/>
          </p:nvPr>
        </p:nvSpPr>
        <p:spPr>
          <a:xfrm>
            <a:off x="486000" y="687518"/>
            <a:ext cx="8172000" cy="4079035"/>
          </a:xfrm>
        </p:spPr>
        <p:txBody>
          <a:bodyPr/>
          <a:lstStyle/>
          <a:p>
            <a:r>
              <a:rPr lang="zh-CN" altLang="en-US" dirty="0"/>
              <a:t>全文检索搜索引擎</a:t>
            </a:r>
          </a:p>
          <a:p>
            <a:pPr lvl="1"/>
            <a:r>
              <a:rPr lang="zh-CN" altLang="en-US" dirty="0"/>
              <a:t>必应 </a:t>
            </a:r>
            <a:r>
              <a:rPr lang="en-US" altLang="zh-CN" dirty="0">
                <a:hlinkClick r:id="rId2"/>
              </a:rPr>
              <a:t>www.cn.bing.com</a:t>
            </a:r>
            <a:r>
              <a:rPr lang="en-US" altLang="zh-CN" dirty="0"/>
              <a:t> </a:t>
            </a:r>
          </a:p>
          <a:p>
            <a:pPr lvl="1"/>
            <a:r>
              <a:rPr lang="zh-CN" altLang="en-US" dirty="0"/>
              <a:t>百度 </a:t>
            </a:r>
            <a:r>
              <a:rPr lang="en-US" altLang="zh-CN" dirty="0">
                <a:hlinkClick r:id="rId3"/>
              </a:rPr>
              <a:t>www.baidu.com</a:t>
            </a:r>
            <a:r>
              <a:rPr lang="en-US" altLang="zh-CN" dirty="0"/>
              <a:t> </a:t>
            </a:r>
          </a:p>
          <a:p>
            <a:pPr lvl="1"/>
            <a:r>
              <a:rPr lang="zh-CN" altLang="en-US" dirty="0"/>
              <a:t>谷歌 </a:t>
            </a:r>
            <a:r>
              <a:rPr lang="en-US" altLang="zh-CN" dirty="0">
                <a:hlinkClick r:id="rId4"/>
              </a:rPr>
              <a:t>www.google.com</a:t>
            </a:r>
            <a:r>
              <a:rPr lang="en-US" altLang="zh-CN" dirty="0"/>
              <a:t> - </a:t>
            </a:r>
            <a:r>
              <a:rPr lang="zh-CN" altLang="en-US" dirty="0"/>
              <a:t>不可用</a:t>
            </a:r>
            <a:endParaRPr lang="en-US" altLang="zh-CN" dirty="0"/>
          </a:p>
          <a:p>
            <a:r>
              <a:rPr lang="zh-CN" altLang="en-US" dirty="0"/>
              <a:t>分类目录搜索引擎 </a:t>
            </a:r>
            <a:r>
              <a:rPr lang="en-US" altLang="zh-CN" dirty="0"/>
              <a:t>- </a:t>
            </a:r>
            <a:r>
              <a:rPr lang="zh-CN" altLang="en-US" dirty="0"/>
              <a:t>被淘汰</a:t>
            </a:r>
          </a:p>
          <a:p>
            <a:pPr lvl="1"/>
            <a:r>
              <a:rPr lang="zh-CN" altLang="en-US" dirty="0"/>
              <a:t>雅虎 </a:t>
            </a:r>
            <a:r>
              <a:rPr lang="en-US" altLang="zh-CN" dirty="0">
                <a:hlinkClick r:id="rId5"/>
              </a:rPr>
              <a:t>www.yahoo.com</a:t>
            </a:r>
            <a:r>
              <a:rPr lang="en-US" altLang="zh-CN" dirty="0"/>
              <a:t> - </a:t>
            </a:r>
            <a:r>
              <a:rPr lang="zh-CN" altLang="en-US" dirty="0"/>
              <a:t>不可用</a:t>
            </a:r>
            <a:endParaRPr lang="en-US" altLang="zh-CN" dirty="0"/>
          </a:p>
          <a:p>
            <a:pPr lvl="1"/>
            <a:r>
              <a:rPr lang="zh-CN" altLang="en-US" dirty="0"/>
              <a:t>雅虎中国 </a:t>
            </a:r>
            <a:r>
              <a:rPr lang="en-US" altLang="zh-CN" dirty="0">
                <a:hlinkClick r:id="rId6"/>
              </a:rPr>
              <a:t>www.cn.yahoo.com</a:t>
            </a:r>
            <a:r>
              <a:rPr lang="en-US" altLang="zh-CN" dirty="0"/>
              <a:t> - </a:t>
            </a:r>
            <a:r>
              <a:rPr lang="zh-CN" altLang="en-US" dirty="0"/>
              <a:t>不可用</a:t>
            </a:r>
            <a:endParaRPr lang="en-US" altLang="zh-CN" dirty="0"/>
          </a:p>
          <a:p>
            <a:pPr lvl="1"/>
            <a:r>
              <a:rPr lang="zh-CN" altLang="en-US" dirty="0"/>
              <a:t>新浪 </a:t>
            </a:r>
            <a:r>
              <a:rPr lang="en-US" altLang="zh-CN" dirty="0">
                <a:hlinkClick r:id="rId7"/>
              </a:rPr>
              <a:t>www.sina.com</a:t>
            </a:r>
            <a:r>
              <a:rPr lang="en-US" altLang="zh-CN" dirty="0"/>
              <a:t> – </a:t>
            </a:r>
            <a:r>
              <a:rPr lang="zh-CN" altLang="en-US" dirty="0"/>
              <a:t>转型</a:t>
            </a:r>
            <a:endParaRPr lang="en-US" altLang="zh-CN" dirty="0"/>
          </a:p>
          <a:p>
            <a:pPr lvl="1"/>
            <a:r>
              <a:rPr lang="zh-CN" altLang="en-US" dirty="0"/>
              <a:t>搜狐 </a:t>
            </a:r>
            <a:r>
              <a:rPr lang="en-US" altLang="zh-CN" dirty="0">
                <a:hlinkClick r:id="rId8"/>
              </a:rPr>
              <a:t>www.sohu.com</a:t>
            </a:r>
            <a:r>
              <a:rPr lang="en-US" altLang="zh-CN" dirty="0"/>
              <a:t> – </a:t>
            </a:r>
            <a:r>
              <a:rPr lang="zh-CN" altLang="en-US" dirty="0"/>
              <a:t>转型</a:t>
            </a:r>
            <a:endParaRPr lang="en-US" altLang="zh-CN" dirty="0"/>
          </a:p>
          <a:p>
            <a:pPr lvl="1"/>
            <a:r>
              <a:rPr lang="zh-CN" altLang="en-US" dirty="0"/>
              <a:t>网易 </a:t>
            </a:r>
            <a:r>
              <a:rPr lang="en-US" altLang="zh-CN" dirty="0">
                <a:hlinkClick r:id="rId9"/>
              </a:rPr>
              <a:t>www.163.com</a:t>
            </a:r>
            <a:r>
              <a:rPr lang="en-US" altLang="zh-CN" dirty="0"/>
              <a:t> – </a:t>
            </a:r>
            <a:r>
              <a:rPr lang="zh-CN" altLang="en-US" dirty="0"/>
              <a:t>转型</a:t>
            </a:r>
            <a:endParaRPr lang="en-US" altLang="zh-CN" dirty="0"/>
          </a:p>
          <a:p>
            <a:endParaRPr lang="zh-CN" altLang="en-US" dirty="0"/>
          </a:p>
        </p:txBody>
      </p:sp>
    </p:spTree>
    <p:extLst>
      <p:ext uri="{BB962C8B-B14F-4D97-AF65-F5344CB8AC3E}">
        <p14:creationId xmlns:p14="http://schemas.microsoft.com/office/powerpoint/2010/main" val="32549018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7B8CC42-14CE-3F2B-C36E-44C222D02BDE}"/>
              </a:ext>
            </a:extLst>
          </p:cNvPr>
          <p:cNvSpPr>
            <a:spLocks noGrp="1"/>
          </p:cNvSpPr>
          <p:nvPr>
            <p:ph type="title"/>
          </p:nvPr>
        </p:nvSpPr>
        <p:spPr>
          <a:xfrm>
            <a:off x="485999" y="174482"/>
            <a:ext cx="8171999" cy="338554"/>
          </a:xfrm>
        </p:spPr>
        <p:txBody>
          <a:bodyPr/>
          <a:lstStyle/>
          <a:p>
            <a:r>
              <a:rPr lang="en-US" altLang="zh-CN" dirty="0"/>
              <a:t>6.4.5  </a:t>
            </a:r>
            <a:r>
              <a:rPr lang="zh-CN" altLang="en-US" dirty="0"/>
              <a:t>万维网的信息检索系统 </a:t>
            </a:r>
            <a:r>
              <a:rPr lang="en-US" altLang="zh-CN" dirty="0"/>
              <a:t>- </a:t>
            </a:r>
            <a:r>
              <a:rPr lang="zh-CN" altLang="en-US" dirty="0"/>
              <a:t>垂直搜索引擎</a:t>
            </a:r>
          </a:p>
        </p:txBody>
      </p:sp>
      <p:sp>
        <p:nvSpPr>
          <p:cNvPr id="8" name="内容占位符 7">
            <a:extLst>
              <a:ext uri="{FF2B5EF4-FFF2-40B4-BE49-F238E27FC236}">
                <a16:creationId xmlns:a16="http://schemas.microsoft.com/office/drawing/2014/main" id="{9DE05CC5-8E25-2DD4-2204-0BCA56C53923}"/>
              </a:ext>
            </a:extLst>
          </p:cNvPr>
          <p:cNvSpPr>
            <a:spLocks noGrp="1"/>
          </p:cNvSpPr>
          <p:nvPr>
            <p:ph sz="quarter" idx="11"/>
          </p:nvPr>
        </p:nvSpPr>
        <p:spPr>
          <a:xfrm>
            <a:off x="486000" y="687518"/>
            <a:ext cx="8172000" cy="4079035"/>
          </a:xfrm>
        </p:spPr>
        <p:txBody>
          <a:bodyPr/>
          <a:lstStyle/>
          <a:p>
            <a:r>
              <a:rPr lang="zh-CN" altLang="en-US" dirty="0"/>
              <a:t>垂直搜索引擎 </a:t>
            </a:r>
            <a:r>
              <a:rPr lang="en-US" altLang="zh-CN" dirty="0"/>
              <a:t>(Vertical Search Engine) </a:t>
            </a:r>
            <a:r>
              <a:rPr lang="zh-CN" altLang="en-US" dirty="0"/>
              <a:t>：</a:t>
            </a:r>
            <a:endParaRPr lang="en-US" altLang="zh-CN" dirty="0"/>
          </a:p>
          <a:p>
            <a:pPr lvl="1"/>
            <a:r>
              <a:rPr lang="zh-CN" altLang="en-US" dirty="0"/>
              <a:t>针对某一特定领域、特定人群或某一特定需求提供搜索服务</a:t>
            </a:r>
          </a:p>
          <a:p>
            <a:pPr lvl="1"/>
            <a:r>
              <a:rPr lang="zh-CN" altLang="en-US" dirty="0"/>
              <a:t>也是提供关键字来进行搜索，但被放到一个行业知识的上下文中，返回的结果更倾向于信息、消息、条目等</a:t>
            </a:r>
            <a:endParaRPr lang="en-US" altLang="zh-CN" dirty="0"/>
          </a:p>
          <a:p>
            <a:pPr lvl="1"/>
            <a:r>
              <a:rPr lang="zh-CN" altLang="en-US" dirty="0"/>
              <a:t>目前热门的垂直搜索行业有：购物、旅游、汽车、求职、房产、交友等</a:t>
            </a:r>
          </a:p>
          <a:p>
            <a:endParaRPr lang="zh-CN" altLang="en-US" dirty="0"/>
          </a:p>
        </p:txBody>
      </p:sp>
    </p:spTree>
    <p:extLst>
      <p:ext uri="{BB962C8B-B14F-4D97-AF65-F5344CB8AC3E}">
        <p14:creationId xmlns:p14="http://schemas.microsoft.com/office/powerpoint/2010/main" val="10650305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47EFB5DE-8008-FE08-67F8-B2704A219607}"/>
              </a:ext>
            </a:extLst>
          </p:cNvPr>
          <p:cNvSpPr>
            <a:spLocks noGrp="1"/>
          </p:cNvSpPr>
          <p:nvPr>
            <p:ph type="title"/>
          </p:nvPr>
        </p:nvSpPr>
        <p:spPr>
          <a:xfrm>
            <a:off x="485999" y="174482"/>
            <a:ext cx="8171999" cy="338554"/>
          </a:xfrm>
        </p:spPr>
        <p:txBody>
          <a:bodyPr/>
          <a:lstStyle/>
          <a:p>
            <a:r>
              <a:rPr lang="en-US" altLang="zh-CN" dirty="0"/>
              <a:t>6.4.5  </a:t>
            </a:r>
            <a:r>
              <a:rPr lang="zh-CN" altLang="en-US" dirty="0"/>
              <a:t>万维网的信息检索系统 </a:t>
            </a:r>
            <a:r>
              <a:rPr lang="en-US" altLang="zh-CN" dirty="0"/>
              <a:t>- </a:t>
            </a:r>
            <a:r>
              <a:rPr lang="zh-CN" altLang="en-US" dirty="0"/>
              <a:t>元搜索引擎</a:t>
            </a:r>
          </a:p>
        </p:txBody>
      </p:sp>
      <p:sp>
        <p:nvSpPr>
          <p:cNvPr id="6" name="内容占位符 5">
            <a:extLst>
              <a:ext uri="{FF2B5EF4-FFF2-40B4-BE49-F238E27FC236}">
                <a16:creationId xmlns:a16="http://schemas.microsoft.com/office/drawing/2014/main" id="{AD536EB4-E8F7-390F-F15B-BB3F358DEE51}"/>
              </a:ext>
            </a:extLst>
          </p:cNvPr>
          <p:cNvSpPr>
            <a:spLocks noGrp="1"/>
          </p:cNvSpPr>
          <p:nvPr>
            <p:ph sz="quarter" idx="11"/>
          </p:nvPr>
        </p:nvSpPr>
        <p:spPr>
          <a:xfrm>
            <a:off x="486000" y="687518"/>
            <a:ext cx="8172000" cy="4079035"/>
          </a:xfrm>
        </p:spPr>
        <p:txBody>
          <a:bodyPr/>
          <a:lstStyle/>
          <a:p>
            <a:r>
              <a:rPr lang="zh-CN" altLang="en-US" dirty="0"/>
              <a:t>元搜索引擎 </a:t>
            </a:r>
            <a:r>
              <a:rPr lang="en-US" altLang="zh-CN" dirty="0"/>
              <a:t>(Meta Search Engine) </a:t>
            </a:r>
            <a:r>
              <a:rPr lang="zh-CN" altLang="en-US" dirty="0"/>
              <a:t>：</a:t>
            </a:r>
            <a:endParaRPr lang="en-US" altLang="zh-CN" dirty="0"/>
          </a:p>
          <a:p>
            <a:pPr lvl="1"/>
            <a:r>
              <a:rPr lang="zh-CN" altLang="en-US" dirty="0"/>
              <a:t>把用户提交的检索请求发送到多个独立的搜索引擎上去搜索，并把检索结果集中统一处理，以统一的格式提供给用户，因此是搜索引擎之上的搜索引擎</a:t>
            </a:r>
            <a:endParaRPr lang="en-US" altLang="zh-CN" dirty="0"/>
          </a:p>
          <a:p>
            <a:pPr lvl="1"/>
            <a:r>
              <a:rPr lang="zh-CN" altLang="en-US" dirty="0"/>
              <a:t>主要精力放在提高搜索速度、智能化处理搜索结果、个性化搜索功能的设置和用户检索界面的友好性上</a:t>
            </a:r>
            <a:endParaRPr lang="en-US" altLang="zh-CN" dirty="0"/>
          </a:p>
          <a:p>
            <a:pPr lvl="1"/>
            <a:r>
              <a:rPr lang="zh-CN" altLang="en-US" dirty="0"/>
              <a:t>其查全率和查准率都比较高</a:t>
            </a:r>
          </a:p>
          <a:p>
            <a:endParaRPr lang="zh-CN" altLang="en-US" dirty="0"/>
          </a:p>
        </p:txBody>
      </p:sp>
    </p:spTree>
    <p:extLst>
      <p:ext uri="{BB962C8B-B14F-4D97-AF65-F5344CB8AC3E}">
        <p14:creationId xmlns:p14="http://schemas.microsoft.com/office/powerpoint/2010/main" val="18209685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812F4BC4-DFAF-315E-6730-F9B00EABE90A}"/>
              </a:ext>
            </a:extLst>
          </p:cNvPr>
          <p:cNvSpPr>
            <a:spLocks noGrp="1"/>
          </p:cNvSpPr>
          <p:nvPr>
            <p:ph type="title"/>
          </p:nvPr>
        </p:nvSpPr>
        <p:spPr>
          <a:xfrm>
            <a:off x="485999" y="174482"/>
            <a:ext cx="8171999" cy="338554"/>
          </a:xfrm>
        </p:spPr>
        <p:txBody>
          <a:bodyPr/>
          <a:lstStyle/>
          <a:p>
            <a:r>
              <a:rPr lang="en-US" altLang="zh-CN" dirty="0"/>
              <a:t>6.4.5  </a:t>
            </a:r>
            <a:r>
              <a:rPr lang="zh-CN" altLang="en-US" dirty="0"/>
              <a:t>万维网的信息检索系统 </a:t>
            </a:r>
            <a:r>
              <a:rPr lang="en-US" altLang="zh-CN" dirty="0"/>
              <a:t>- Google </a:t>
            </a:r>
            <a:r>
              <a:rPr lang="zh-CN" altLang="en-US" dirty="0"/>
              <a:t>搜索技术的特点</a:t>
            </a:r>
          </a:p>
        </p:txBody>
      </p:sp>
      <p:sp>
        <p:nvSpPr>
          <p:cNvPr id="5" name="内容占位符 4">
            <a:extLst>
              <a:ext uri="{FF2B5EF4-FFF2-40B4-BE49-F238E27FC236}">
                <a16:creationId xmlns:a16="http://schemas.microsoft.com/office/drawing/2014/main" id="{65EEC8E3-06E5-E815-8470-801E4828BA1A}"/>
              </a:ext>
            </a:extLst>
          </p:cNvPr>
          <p:cNvSpPr>
            <a:spLocks noGrp="1"/>
          </p:cNvSpPr>
          <p:nvPr>
            <p:ph sz="quarter" idx="11"/>
          </p:nvPr>
        </p:nvSpPr>
        <p:spPr>
          <a:xfrm>
            <a:off x="486000" y="687518"/>
            <a:ext cx="8172000" cy="4079035"/>
          </a:xfrm>
        </p:spPr>
        <p:txBody>
          <a:bodyPr/>
          <a:lstStyle/>
          <a:p>
            <a:r>
              <a:rPr lang="zh-CN" altLang="en-US" dirty="0"/>
              <a:t>核心技术：网页排名（</a:t>
            </a:r>
            <a:r>
              <a:rPr lang="en-US" altLang="zh-CN" dirty="0"/>
              <a:t>PageRank</a:t>
            </a:r>
            <a:r>
              <a:rPr lang="zh-CN" altLang="en-US" dirty="0"/>
              <a:t>）</a:t>
            </a:r>
            <a:endParaRPr lang="en-US" altLang="zh-CN" dirty="0"/>
          </a:p>
          <a:p>
            <a:pPr lvl="1"/>
            <a:r>
              <a:rPr lang="zh-CN" altLang="en-US" dirty="0"/>
              <a:t>对搜索结果按重要性排序</a:t>
            </a:r>
            <a:endParaRPr lang="en-US" altLang="zh-CN" dirty="0"/>
          </a:p>
          <a:p>
            <a:pPr lvl="1"/>
            <a:r>
              <a:rPr lang="zh-CN" altLang="en-US" dirty="0"/>
              <a:t>对链接的数目进行加权统计。来自重要网站的链接，其权重较大</a:t>
            </a:r>
            <a:endParaRPr lang="en-US" altLang="zh-CN" dirty="0"/>
          </a:p>
          <a:p>
            <a:pPr lvl="1"/>
            <a:r>
              <a:rPr lang="zh-CN" altLang="en-US" dirty="0"/>
              <a:t>进行超文本匹配分析，确定哪些网页与正在执行的特定搜索相关</a:t>
            </a:r>
            <a:endParaRPr lang="en-US" altLang="zh-CN" dirty="0"/>
          </a:p>
          <a:p>
            <a:pPr lvl="1"/>
            <a:r>
              <a:rPr lang="zh-CN" altLang="en-US" dirty="0"/>
              <a:t>在综合考虑整体重要性以及与特定查询的相关性之后，</a:t>
            </a:r>
            <a:r>
              <a:rPr lang="en-US" altLang="zh-CN" dirty="0"/>
              <a:t>Google  </a:t>
            </a:r>
            <a:r>
              <a:rPr lang="zh-CN" altLang="en-US" dirty="0"/>
              <a:t>就把最相关、最可靠的搜索结果放在首位</a:t>
            </a:r>
          </a:p>
          <a:p>
            <a:endParaRPr lang="zh-CN" altLang="en-US" dirty="0"/>
          </a:p>
        </p:txBody>
      </p:sp>
    </p:spTree>
    <p:extLst>
      <p:ext uri="{BB962C8B-B14F-4D97-AF65-F5344CB8AC3E}">
        <p14:creationId xmlns:p14="http://schemas.microsoft.com/office/powerpoint/2010/main" val="38698286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1" name="图示 10"/>
          <p:cNvGraphicFramePr/>
          <p:nvPr>
            <p:extLst>
              <p:ext uri="{D42A27DB-BD31-4B8C-83A1-F6EECF244321}">
                <p14:modId xmlns:p14="http://schemas.microsoft.com/office/powerpoint/2010/main" val="3031574077"/>
              </p:ext>
            </p:extLst>
          </p:nvPr>
        </p:nvGraphicFramePr>
        <p:xfrm>
          <a:off x="486000" y="1163781"/>
          <a:ext cx="8172000" cy="311525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标题 2">
            <a:extLst>
              <a:ext uri="{FF2B5EF4-FFF2-40B4-BE49-F238E27FC236}">
                <a16:creationId xmlns:a16="http://schemas.microsoft.com/office/drawing/2014/main" id="{216770B2-A3F4-AD58-9296-0ADDD3221072}"/>
              </a:ext>
            </a:extLst>
          </p:cNvPr>
          <p:cNvSpPr>
            <a:spLocks noGrp="1"/>
          </p:cNvSpPr>
          <p:nvPr>
            <p:ph type="title"/>
          </p:nvPr>
        </p:nvSpPr>
        <p:spPr>
          <a:xfrm>
            <a:off x="485999" y="174482"/>
            <a:ext cx="8171999" cy="338554"/>
          </a:xfrm>
        </p:spPr>
        <p:txBody>
          <a:bodyPr/>
          <a:lstStyle/>
          <a:p>
            <a:r>
              <a:rPr lang="en-US" altLang="zh-CN" dirty="0"/>
              <a:t>6.4.6  </a:t>
            </a:r>
            <a:r>
              <a:rPr lang="zh-CN" altLang="en-US" dirty="0"/>
              <a:t>博客和微博</a:t>
            </a:r>
          </a:p>
        </p:txBody>
      </p:sp>
      <p:sp>
        <p:nvSpPr>
          <p:cNvPr id="6" name="内容占位符 5">
            <a:extLst>
              <a:ext uri="{FF2B5EF4-FFF2-40B4-BE49-F238E27FC236}">
                <a16:creationId xmlns:a16="http://schemas.microsoft.com/office/drawing/2014/main" id="{E04930E9-86D7-68D5-6AA6-A3711960AE5E}"/>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39766894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EA5C6C6-5048-BBF2-06C9-CEFEA1057C08}"/>
              </a:ext>
            </a:extLst>
          </p:cNvPr>
          <p:cNvSpPr>
            <a:spLocks noGrp="1"/>
          </p:cNvSpPr>
          <p:nvPr>
            <p:ph type="title"/>
          </p:nvPr>
        </p:nvSpPr>
        <p:spPr>
          <a:xfrm>
            <a:off x="485999" y="174482"/>
            <a:ext cx="8171999" cy="338554"/>
          </a:xfrm>
        </p:spPr>
        <p:txBody>
          <a:bodyPr/>
          <a:lstStyle/>
          <a:p>
            <a:r>
              <a:rPr lang="en-US" altLang="zh-CN" dirty="0"/>
              <a:t>6.4.7  </a:t>
            </a:r>
            <a:r>
              <a:rPr lang="zh-CN" altLang="en-US" dirty="0"/>
              <a:t>社交网站</a:t>
            </a:r>
          </a:p>
        </p:txBody>
      </p:sp>
      <p:sp>
        <p:nvSpPr>
          <p:cNvPr id="4" name="内容占位符 3">
            <a:extLst>
              <a:ext uri="{FF2B5EF4-FFF2-40B4-BE49-F238E27FC236}">
                <a16:creationId xmlns:a16="http://schemas.microsoft.com/office/drawing/2014/main" id="{B84C7620-F39D-785E-C0A8-8A31203396FA}"/>
              </a:ext>
            </a:extLst>
          </p:cNvPr>
          <p:cNvSpPr>
            <a:spLocks noGrp="1"/>
          </p:cNvSpPr>
          <p:nvPr>
            <p:ph sz="quarter" idx="11"/>
          </p:nvPr>
        </p:nvSpPr>
        <p:spPr>
          <a:xfrm>
            <a:off x="486000" y="687518"/>
            <a:ext cx="8172000" cy="4079035"/>
          </a:xfrm>
        </p:spPr>
        <p:txBody>
          <a:bodyPr/>
          <a:lstStyle/>
          <a:p>
            <a:r>
              <a:rPr lang="zh-CN" altLang="en-US" dirty="0"/>
              <a:t>社交网站 </a:t>
            </a:r>
            <a:r>
              <a:rPr lang="en-US" altLang="zh-CN" dirty="0"/>
              <a:t>SNS (Social Networking Site) </a:t>
            </a:r>
            <a:r>
              <a:rPr lang="zh-CN" altLang="en-US" dirty="0"/>
              <a:t>：为一群拥有相同兴趣与活动的人创建在线社区</a:t>
            </a:r>
            <a:endParaRPr lang="en-US" altLang="zh-CN" dirty="0"/>
          </a:p>
          <a:p>
            <a:r>
              <a:rPr lang="zh-CN" altLang="en-US" dirty="0"/>
              <a:t>功能丰富：如电子邮件、即时传信（在线聊天）、博客撰写、共享相册、上传视频、网页游戏、创建社团、刊登广告等</a:t>
            </a:r>
            <a:endParaRPr lang="en-US" altLang="zh-CN" dirty="0"/>
          </a:p>
          <a:p>
            <a:r>
              <a:rPr lang="zh-CN" altLang="en-US" dirty="0"/>
              <a:t>热门：</a:t>
            </a:r>
            <a:endParaRPr lang="en-US" altLang="zh-CN" dirty="0"/>
          </a:p>
          <a:p>
            <a:pPr lvl="1"/>
            <a:r>
              <a:rPr lang="zh-CN" altLang="en-US" dirty="0"/>
              <a:t>微信 </a:t>
            </a:r>
            <a:r>
              <a:rPr lang="en-US" altLang="zh-CN" dirty="0"/>
              <a:t>weixin.qq.com</a:t>
            </a:r>
          </a:p>
          <a:p>
            <a:pPr lvl="1"/>
            <a:r>
              <a:rPr lang="zh-CN" altLang="en-US" dirty="0"/>
              <a:t>抖音</a:t>
            </a:r>
          </a:p>
          <a:p>
            <a:pPr lvl="1"/>
            <a:r>
              <a:rPr lang="en-US" altLang="zh-CN" dirty="0"/>
              <a:t>facebook.com – </a:t>
            </a:r>
            <a:r>
              <a:rPr lang="zh-CN" altLang="en-US" dirty="0"/>
              <a:t>不可用</a:t>
            </a:r>
            <a:endParaRPr lang="en-US" altLang="zh-CN" dirty="0"/>
          </a:p>
          <a:p>
            <a:pPr lvl="1"/>
            <a:r>
              <a:rPr lang="en-US" altLang="zh-CN" dirty="0"/>
              <a:t>youTube.com – </a:t>
            </a:r>
            <a:r>
              <a:rPr lang="zh-CN" altLang="en-US" dirty="0"/>
              <a:t>不可用</a:t>
            </a:r>
            <a:endParaRPr lang="en-US" altLang="zh-CN" dirty="0"/>
          </a:p>
          <a:p>
            <a:pPr lvl="1"/>
            <a:r>
              <a:rPr lang="en-US" altLang="zh-CN" dirty="0"/>
              <a:t>twitter.com – </a:t>
            </a:r>
            <a:r>
              <a:rPr lang="zh-CN" altLang="en-US" dirty="0"/>
              <a:t>不可用</a:t>
            </a:r>
            <a:endParaRPr lang="en-US" altLang="zh-CN" dirty="0"/>
          </a:p>
          <a:p>
            <a:endParaRPr lang="zh-CN" altLang="en-US" dirty="0"/>
          </a:p>
        </p:txBody>
      </p:sp>
    </p:spTree>
    <p:extLst>
      <p:ext uri="{BB962C8B-B14F-4D97-AF65-F5344CB8AC3E}">
        <p14:creationId xmlns:p14="http://schemas.microsoft.com/office/powerpoint/2010/main" val="17488062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29"/>
          <p:cNvSpPr>
            <a:spLocks noChangeArrowheads="1"/>
          </p:cNvSpPr>
          <p:nvPr/>
        </p:nvSpPr>
        <p:spPr bwMode="auto">
          <a:xfrm>
            <a:off x="3563766" y="711857"/>
            <a:ext cx="3282981"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solidFill>
                  <a:srgbClr val="C00000"/>
                </a:solidFill>
                <a:latin typeface="Montserrat" panose="00000500000000000000" pitchFamily="2" charset="0"/>
                <a:ea typeface="微软雅黑 Light" panose="020B0502040204020203" pitchFamily="34" charset="-122"/>
              </a:rPr>
              <a:t>6.5</a:t>
            </a:r>
            <a:r>
              <a:rPr lang="en-US" altLang="zh-CN" sz="2000" dirty="0">
                <a:latin typeface="Montserrat" panose="00000500000000000000" pitchFamily="2" charset="0"/>
                <a:ea typeface="微软雅黑 Light" panose="020B0502040204020203" pitchFamily="34" charset="-122"/>
              </a:rPr>
              <a:t> </a:t>
            </a:r>
            <a:r>
              <a:rPr lang="zh-CN" altLang="en-US" sz="2000" dirty="0">
                <a:latin typeface="Montserrat" panose="00000500000000000000" pitchFamily="2" charset="0"/>
                <a:ea typeface="微软雅黑 Light" panose="020B0502040204020203" pitchFamily="34" charset="-122"/>
              </a:rPr>
              <a:t>电子邮件</a:t>
            </a:r>
            <a:endParaRPr lang="zh-CN" altLang="fr-FR" sz="2000" dirty="0">
              <a:latin typeface="Montserrat" panose="00000500000000000000" pitchFamily="2" charset="0"/>
              <a:ea typeface="微软雅黑 Light" panose="020B0502040204020203" pitchFamily="34" charset="-122"/>
            </a:endParaRPr>
          </a:p>
        </p:txBody>
      </p:sp>
      <p:sp>
        <p:nvSpPr>
          <p:cNvPr id="12" name="Rectangle 8"/>
          <p:cNvSpPr>
            <a:spLocks noChangeArrowheads="1"/>
          </p:cNvSpPr>
          <p:nvPr/>
        </p:nvSpPr>
        <p:spPr bwMode="auto">
          <a:xfrm>
            <a:off x="3563766" y="1354881"/>
            <a:ext cx="4197661" cy="22665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6.5.1</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电子邮件</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6.5.2</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简单邮件传送协议 </a:t>
            </a:r>
            <a:r>
              <a:rPr lang="en-US" altLang="zh-CN" sz="1600" dirty="0">
                <a:latin typeface="Montserrat" panose="00000500000000000000" pitchFamily="2" charset="0"/>
                <a:ea typeface="微软雅黑 Light" panose="020B0502040204020203" pitchFamily="34" charset="-122"/>
              </a:rPr>
              <a:t>SMTP</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6.5.3</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电子邮件的信息格式</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6.5.4</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邮件读取协议 </a:t>
            </a:r>
            <a:r>
              <a:rPr lang="en-US" altLang="zh-CN" sz="1600" dirty="0">
                <a:latin typeface="Montserrat" panose="00000500000000000000" pitchFamily="2" charset="0"/>
                <a:ea typeface="微软雅黑 Light" panose="020B0502040204020203" pitchFamily="34" charset="-122"/>
              </a:rPr>
              <a:t>POP3 </a:t>
            </a:r>
            <a:r>
              <a:rPr lang="zh-CN" altLang="en-US" sz="1600" dirty="0">
                <a:latin typeface="Montserrat" panose="00000500000000000000" pitchFamily="2" charset="0"/>
                <a:ea typeface="微软雅黑 Light" panose="020B0502040204020203" pitchFamily="34" charset="-122"/>
              </a:rPr>
              <a:t>和 </a:t>
            </a:r>
            <a:r>
              <a:rPr lang="en-US" altLang="zh-CN" sz="1600" dirty="0">
                <a:latin typeface="Montserrat" panose="00000500000000000000" pitchFamily="2" charset="0"/>
                <a:ea typeface="微软雅黑 Light" panose="020B0502040204020203" pitchFamily="34" charset="-122"/>
              </a:rPr>
              <a:t>IMAP</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6.5.5</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基于万维网的电子邮件</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6.5.6</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通用互联网邮件扩充 </a:t>
            </a:r>
            <a:r>
              <a:rPr lang="en-US" altLang="zh-CN" sz="1600" dirty="0">
                <a:latin typeface="Montserrat" panose="00000500000000000000" pitchFamily="2" charset="0"/>
                <a:ea typeface="微软雅黑 Light" panose="020B0502040204020203" pitchFamily="34" charset="-122"/>
              </a:rPr>
              <a:t>MIME</a:t>
            </a:r>
          </a:p>
        </p:txBody>
      </p:sp>
    </p:spTree>
    <p:extLst>
      <p:ext uri="{BB962C8B-B14F-4D97-AF65-F5344CB8AC3E}">
        <p14:creationId xmlns:p14="http://schemas.microsoft.com/office/powerpoint/2010/main" val="12928410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DC1F86AE-51BD-05CB-98D2-AFFEB7FE89C7}"/>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概述</a:t>
            </a:r>
          </a:p>
        </p:txBody>
      </p:sp>
      <p:sp>
        <p:nvSpPr>
          <p:cNvPr id="6" name="内容占位符 5">
            <a:extLst>
              <a:ext uri="{FF2B5EF4-FFF2-40B4-BE49-F238E27FC236}">
                <a16:creationId xmlns:a16="http://schemas.microsoft.com/office/drawing/2014/main" id="{0129C16F-8466-7630-FD0C-C90A39420198}"/>
              </a:ext>
            </a:extLst>
          </p:cNvPr>
          <p:cNvSpPr>
            <a:spLocks noGrp="1"/>
          </p:cNvSpPr>
          <p:nvPr>
            <p:ph sz="quarter" idx="11"/>
          </p:nvPr>
        </p:nvSpPr>
        <p:spPr>
          <a:xfrm>
            <a:off x="486000" y="687518"/>
            <a:ext cx="8172000" cy="4079035"/>
          </a:xfrm>
        </p:spPr>
        <p:txBody>
          <a:bodyPr/>
          <a:lstStyle/>
          <a:p>
            <a:r>
              <a:rPr lang="zh-CN" altLang="en-US" dirty="0"/>
              <a:t>电子邮件 </a:t>
            </a:r>
            <a:r>
              <a:rPr lang="en-US" altLang="zh-CN" dirty="0"/>
              <a:t>e-mail</a:t>
            </a:r>
            <a:r>
              <a:rPr lang="zh-CN" altLang="en-US" dirty="0"/>
              <a:t>：指使用电子设备交换的邮件及其方法</a:t>
            </a:r>
            <a:endParaRPr lang="en-US" altLang="zh-CN" dirty="0"/>
          </a:p>
          <a:p>
            <a:r>
              <a:rPr lang="zh-CN" altLang="en-US" dirty="0"/>
              <a:t>优点</a:t>
            </a:r>
            <a:endParaRPr lang="en-US" altLang="zh-CN" dirty="0"/>
          </a:p>
          <a:p>
            <a:pPr lvl="1"/>
            <a:r>
              <a:rPr lang="zh-CN" altLang="en-US" dirty="0"/>
              <a:t>使用方便，传递迅速，费用低廉</a:t>
            </a:r>
            <a:endParaRPr lang="en-US" altLang="zh-CN" dirty="0"/>
          </a:p>
          <a:p>
            <a:pPr lvl="1"/>
            <a:r>
              <a:rPr lang="zh-CN" altLang="en-US" dirty="0"/>
              <a:t>可以传送多种类型的信息，包括：文字信息，声音和图像等</a:t>
            </a:r>
            <a:endParaRPr lang="en-US" altLang="zh-CN" dirty="0"/>
          </a:p>
          <a:p>
            <a:r>
              <a:rPr lang="zh-CN" altLang="en-US" dirty="0"/>
              <a:t>重要标准</a:t>
            </a:r>
            <a:endParaRPr lang="en-US" altLang="zh-CN" dirty="0"/>
          </a:p>
          <a:p>
            <a:pPr lvl="1"/>
            <a:r>
              <a:rPr lang="zh-CN" altLang="en-US" dirty="0"/>
              <a:t>简单邮件发送协议 </a:t>
            </a:r>
            <a:r>
              <a:rPr lang="en-US" altLang="zh-CN" dirty="0"/>
              <a:t>SMTP</a:t>
            </a:r>
          </a:p>
          <a:p>
            <a:pPr lvl="1"/>
            <a:r>
              <a:rPr lang="zh-CN" altLang="en-US" dirty="0"/>
              <a:t>互联网文本报文格式</a:t>
            </a:r>
          </a:p>
          <a:p>
            <a:pPr lvl="1"/>
            <a:r>
              <a:rPr lang="zh-CN" altLang="en-US" dirty="0"/>
              <a:t>通用互联网邮件扩充 </a:t>
            </a:r>
            <a:r>
              <a:rPr lang="en-US" altLang="zh-CN" dirty="0"/>
              <a:t>MIME</a:t>
            </a:r>
          </a:p>
          <a:p>
            <a:pPr lvl="1"/>
            <a:r>
              <a:rPr lang="zh-CN" altLang="en-US" dirty="0"/>
              <a:t>邮件读取协议 </a:t>
            </a:r>
            <a:r>
              <a:rPr lang="en-US" altLang="zh-CN" dirty="0"/>
              <a:t>POP3 </a:t>
            </a:r>
            <a:r>
              <a:rPr lang="zh-CN" altLang="en-US" dirty="0"/>
              <a:t>和 </a:t>
            </a:r>
            <a:r>
              <a:rPr lang="en-US" altLang="zh-CN" dirty="0"/>
              <a:t>IMAP</a:t>
            </a:r>
            <a:endParaRPr lang="zh-CN" altLang="en-US" dirty="0"/>
          </a:p>
          <a:p>
            <a:endParaRPr lang="zh-CN" altLang="en-US" dirty="0"/>
          </a:p>
        </p:txBody>
      </p:sp>
    </p:spTree>
    <p:extLst>
      <p:ext uri="{BB962C8B-B14F-4D97-AF65-F5344CB8AC3E}">
        <p14:creationId xmlns:p14="http://schemas.microsoft.com/office/powerpoint/2010/main" val="35682415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C8EFAAD-8BB1-42D9-D5A1-C49CDB22D271}"/>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组成</a:t>
            </a:r>
          </a:p>
        </p:txBody>
      </p:sp>
      <p:sp>
        <p:nvSpPr>
          <p:cNvPr id="4" name="内容占位符 3">
            <a:extLst>
              <a:ext uri="{FF2B5EF4-FFF2-40B4-BE49-F238E27FC236}">
                <a16:creationId xmlns:a16="http://schemas.microsoft.com/office/drawing/2014/main" id="{8382D251-B95F-D8D9-E26E-F696D8676794}"/>
              </a:ext>
            </a:extLst>
          </p:cNvPr>
          <p:cNvSpPr>
            <a:spLocks noGrp="1"/>
          </p:cNvSpPr>
          <p:nvPr>
            <p:ph sz="quarter" idx="11"/>
          </p:nvPr>
        </p:nvSpPr>
        <p:spPr>
          <a:xfrm>
            <a:off x="486000" y="687518"/>
            <a:ext cx="8172000" cy="4079035"/>
          </a:xfrm>
        </p:spPr>
        <p:txBody>
          <a:bodyPr/>
          <a:lstStyle/>
          <a:p>
            <a:endParaRPr lang="zh-CN" altLang="en-US" dirty="0"/>
          </a:p>
        </p:txBody>
      </p:sp>
      <p:sp>
        <p:nvSpPr>
          <p:cNvPr id="27" name="文本框 26">
            <a:extLst>
              <a:ext uri="{FF2B5EF4-FFF2-40B4-BE49-F238E27FC236}">
                <a16:creationId xmlns:a16="http://schemas.microsoft.com/office/drawing/2014/main" id="{41785BD4-F3BD-8A8F-2452-A650E617F9F4}"/>
              </a:ext>
            </a:extLst>
          </p:cNvPr>
          <p:cNvSpPr txBox="1"/>
          <p:nvPr/>
        </p:nvSpPr>
        <p:spPr>
          <a:xfrm>
            <a:off x="485775" y="694578"/>
            <a:ext cx="2520000" cy="1800000"/>
          </a:xfrm>
          <a:prstGeom prst="rect">
            <a:avLst/>
          </a:prstGeom>
          <a:solidFill>
            <a:schemeClr val="bg1">
              <a:lumMod val="95000"/>
            </a:schemeClr>
          </a:solidFill>
        </p:spPr>
        <p:txBody>
          <a:bodyPr wrap="square" rtlCol="0">
            <a:noAutofit/>
          </a:bodyPr>
          <a:lstStyle/>
          <a:p>
            <a:pPr algn="just">
              <a:spcAft>
                <a:spcPts val="600"/>
              </a:spcAft>
            </a:pPr>
            <a:r>
              <a:rPr lang="en-US" altLang="zh-CN" sz="1200" dirty="0">
                <a:solidFill>
                  <a:srgbClr val="C00000"/>
                </a:solidFill>
                <a:latin typeface="Montserrat" panose="00000500000000000000" pitchFamily="2" charset="0"/>
                <a:ea typeface="微软雅黑 Light" panose="020B0502040204020203" pitchFamily="34" charset="-122"/>
              </a:rPr>
              <a:t>P1</a:t>
            </a:r>
            <a:r>
              <a:rPr lang="en-US" altLang="zh-CN" sz="1200" dirty="0">
                <a:latin typeface="Montserrat" panose="00000500000000000000" pitchFamily="2" charset="0"/>
                <a:ea typeface="微软雅黑 Light" panose="020B0502040204020203" pitchFamily="34" charset="-122"/>
              </a:rPr>
              <a:t> </a:t>
            </a:r>
            <a:r>
              <a:rPr lang="zh-CN" altLang="en-US" sz="1200" dirty="0">
                <a:latin typeface="Montserrat" panose="00000500000000000000" pitchFamily="2" charset="0"/>
                <a:ea typeface="微软雅黑 Light" panose="020B0502040204020203" pitchFamily="34" charset="-122"/>
              </a:rPr>
              <a:t>用户代理 </a:t>
            </a:r>
            <a:r>
              <a:rPr lang="en-US" altLang="zh-CN" sz="1200" dirty="0">
                <a:latin typeface="Montserrat" panose="00000500000000000000" pitchFamily="2" charset="0"/>
                <a:ea typeface="微软雅黑 Light" panose="020B0502040204020203" pitchFamily="34" charset="-122"/>
              </a:rPr>
              <a:t>User Agent - UA</a:t>
            </a:r>
          </a:p>
          <a:p>
            <a:pPr algn="just"/>
            <a:r>
              <a:rPr lang="zh-CN" altLang="en-US" sz="1200" dirty="0">
                <a:latin typeface="Montserrat" panose="00000500000000000000" pitchFamily="2" charset="0"/>
                <a:ea typeface="微软雅黑 Light" panose="020B0502040204020203" pitchFamily="34" charset="-122"/>
              </a:rPr>
              <a:t>用户与电子邮件系统的接口；又被称为电子邮件客户端软件，如</a:t>
            </a:r>
            <a:r>
              <a:rPr lang="en-US" altLang="zh-CN" sz="1200" dirty="0">
                <a:latin typeface="Montserrat" panose="00000500000000000000" pitchFamily="2" charset="0"/>
                <a:ea typeface="微软雅黑 Light" panose="020B0502040204020203" pitchFamily="34" charset="-122"/>
              </a:rPr>
              <a:t>Outlook</a:t>
            </a:r>
            <a:r>
              <a:rPr lang="zh-CN" altLang="en-US" sz="1200" dirty="0">
                <a:latin typeface="Montserrat" panose="00000500000000000000" pitchFamily="2" charset="0"/>
                <a:ea typeface="微软雅黑 Light" panose="020B0502040204020203" pitchFamily="34" charset="-122"/>
              </a:rPr>
              <a:t>、</a:t>
            </a:r>
            <a:r>
              <a:rPr lang="en-US" altLang="zh-CN" sz="1200" dirty="0" err="1">
                <a:latin typeface="Montserrat" panose="00000500000000000000" pitchFamily="2" charset="0"/>
                <a:ea typeface="微软雅黑 Light" panose="020B0502040204020203" pitchFamily="34" charset="-122"/>
              </a:rPr>
              <a:t>Foxmail</a:t>
            </a:r>
            <a:r>
              <a:rPr lang="en-US" altLang="zh-CN" sz="1200" dirty="0">
                <a:latin typeface="Montserrat" panose="00000500000000000000" pitchFamily="2" charset="0"/>
                <a:ea typeface="微软雅黑 Light" panose="020B0502040204020203" pitchFamily="34" charset="-122"/>
              </a:rPr>
              <a:t> </a:t>
            </a:r>
            <a:endParaRPr lang="zh-CN" altLang="en-US" sz="1200" dirty="0">
              <a:latin typeface="Montserrat" panose="00000500000000000000" pitchFamily="2" charset="0"/>
              <a:ea typeface="微软雅黑 Light" panose="020B0502040204020203" pitchFamily="34" charset="-122"/>
            </a:endParaRPr>
          </a:p>
          <a:p>
            <a:pPr algn="just"/>
            <a:r>
              <a:rPr lang="zh-CN" altLang="en-US" sz="1200" dirty="0">
                <a:latin typeface="Montserrat" panose="00000500000000000000" pitchFamily="2" charset="0"/>
                <a:ea typeface="微软雅黑 Light" panose="020B0502040204020203" pitchFamily="34" charset="-122"/>
              </a:rPr>
              <a:t>基本功能：</a:t>
            </a:r>
            <a:endParaRPr lang="en-US" altLang="zh-CN" sz="1200" dirty="0">
              <a:latin typeface="Montserrat" panose="00000500000000000000" pitchFamily="2" charset="0"/>
              <a:ea typeface="微软雅黑 Light" panose="020B0502040204020203" pitchFamily="34" charset="-122"/>
            </a:endParaRPr>
          </a:p>
          <a:p>
            <a:pPr marL="171450" indent="-171450" algn="just">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撰写</a:t>
            </a:r>
            <a:endParaRPr lang="en-US" altLang="zh-CN" sz="1200" dirty="0">
              <a:latin typeface="Montserrat" panose="00000500000000000000" pitchFamily="2" charset="0"/>
              <a:ea typeface="微软雅黑 Light" panose="020B0502040204020203" pitchFamily="34" charset="-122"/>
            </a:endParaRPr>
          </a:p>
          <a:p>
            <a:pPr marL="171450" indent="-171450" algn="just">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显示</a:t>
            </a:r>
            <a:endParaRPr lang="en-US" altLang="zh-CN" sz="1200" dirty="0">
              <a:latin typeface="Montserrat" panose="00000500000000000000" pitchFamily="2" charset="0"/>
              <a:ea typeface="微软雅黑 Light" panose="020B0502040204020203" pitchFamily="34" charset="-122"/>
            </a:endParaRPr>
          </a:p>
          <a:p>
            <a:pPr marL="171450" indent="-171450" algn="just">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处理</a:t>
            </a:r>
            <a:endParaRPr lang="en-US" altLang="zh-CN" sz="1200" dirty="0">
              <a:latin typeface="Montserrat" panose="00000500000000000000" pitchFamily="2" charset="0"/>
              <a:ea typeface="微软雅黑 Light" panose="020B0502040204020203" pitchFamily="34" charset="-122"/>
            </a:endParaRPr>
          </a:p>
          <a:p>
            <a:pPr marL="171450" indent="-171450" algn="just">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通信</a:t>
            </a:r>
          </a:p>
        </p:txBody>
      </p:sp>
      <p:sp>
        <p:nvSpPr>
          <p:cNvPr id="28" name="文本框 27">
            <a:extLst>
              <a:ext uri="{FF2B5EF4-FFF2-40B4-BE49-F238E27FC236}">
                <a16:creationId xmlns:a16="http://schemas.microsoft.com/office/drawing/2014/main" id="{993FB6A1-8B16-E2D8-7FD6-47C63FFEFC44}"/>
              </a:ext>
            </a:extLst>
          </p:cNvPr>
          <p:cNvSpPr txBox="1"/>
          <p:nvPr/>
        </p:nvSpPr>
        <p:spPr>
          <a:xfrm>
            <a:off x="3312000" y="694578"/>
            <a:ext cx="2520000" cy="1800000"/>
          </a:xfrm>
          <a:prstGeom prst="rect">
            <a:avLst/>
          </a:prstGeom>
          <a:solidFill>
            <a:schemeClr val="bg1">
              <a:lumMod val="95000"/>
            </a:schemeClr>
          </a:solidFill>
        </p:spPr>
        <p:txBody>
          <a:bodyPr wrap="square" rtlCol="0">
            <a:noAutofit/>
          </a:bodyPr>
          <a:lstStyle/>
          <a:p>
            <a:pPr algn="just">
              <a:spcAft>
                <a:spcPts val="600"/>
              </a:spcAft>
            </a:pPr>
            <a:r>
              <a:rPr lang="en-US" altLang="zh-CN" sz="1200" dirty="0">
                <a:solidFill>
                  <a:srgbClr val="C00000"/>
                </a:solidFill>
                <a:latin typeface="Montserrat" panose="00000500000000000000" pitchFamily="2" charset="0"/>
                <a:ea typeface="微软雅黑 Light" panose="020B0502040204020203" pitchFamily="34" charset="-122"/>
              </a:rPr>
              <a:t>P2</a:t>
            </a:r>
            <a:r>
              <a:rPr lang="en-US" altLang="zh-CN" sz="1200" dirty="0">
                <a:latin typeface="Montserrat" panose="00000500000000000000" pitchFamily="2" charset="0"/>
                <a:ea typeface="微软雅黑 Light" panose="020B0502040204020203" pitchFamily="34" charset="-122"/>
              </a:rPr>
              <a:t> </a:t>
            </a:r>
            <a:r>
              <a:rPr lang="zh-CN" altLang="en-US" sz="1200" dirty="0">
                <a:latin typeface="Montserrat" panose="00000500000000000000" pitchFamily="2" charset="0"/>
                <a:ea typeface="微软雅黑 Light" panose="020B0502040204020203" pitchFamily="34" charset="-122"/>
              </a:rPr>
              <a:t>邮件服务器 </a:t>
            </a:r>
            <a:r>
              <a:rPr lang="en-US" altLang="zh-CN" sz="1200" dirty="0">
                <a:latin typeface="Montserrat" panose="00000500000000000000" pitchFamily="2" charset="0"/>
                <a:ea typeface="微软雅黑 Light" panose="020B0502040204020203" pitchFamily="34" charset="-122"/>
              </a:rPr>
              <a:t>Mail Server</a:t>
            </a:r>
          </a:p>
          <a:p>
            <a:pPr algn="just"/>
            <a:r>
              <a:rPr lang="zh-CN" altLang="en-US" sz="1200" dirty="0">
                <a:latin typeface="Montserrat" panose="00000500000000000000" pitchFamily="2" charset="0"/>
                <a:ea typeface="微软雅黑 Light" panose="020B0502040204020203" pitchFamily="34" charset="-122"/>
              </a:rPr>
              <a:t>又被称为邮件传输代理</a:t>
            </a:r>
          </a:p>
          <a:p>
            <a:pPr algn="just"/>
            <a:r>
              <a:rPr lang="zh-CN" altLang="en-US" sz="1200" dirty="0">
                <a:latin typeface="Montserrat" panose="00000500000000000000" pitchFamily="2" charset="0"/>
                <a:ea typeface="微软雅黑 Light" panose="020B0502040204020203" pitchFamily="34" charset="-122"/>
              </a:rPr>
              <a:t>按照客户服务器方式工作</a:t>
            </a:r>
          </a:p>
          <a:p>
            <a:pPr algn="just"/>
            <a:r>
              <a:rPr lang="zh-CN" altLang="en-US" sz="1200" dirty="0">
                <a:latin typeface="Montserrat" panose="00000500000000000000" pitchFamily="2" charset="0"/>
                <a:ea typeface="微软雅黑 Light" panose="020B0502040204020203" pitchFamily="34" charset="-122"/>
              </a:rPr>
              <a:t>功能：</a:t>
            </a:r>
            <a:endParaRPr lang="en-US" altLang="zh-CN" sz="1200" dirty="0">
              <a:latin typeface="Montserrat" panose="00000500000000000000" pitchFamily="2" charset="0"/>
              <a:ea typeface="微软雅黑 Light" panose="020B0502040204020203" pitchFamily="34" charset="-122"/>
            </a:endParaRPr>
          </a:p>
          <a:p>
            <a:pPr marL="171450" indent="-171450" algn="just">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发送和接收邮件</a:t>
            </a:r>
            <a:endParaRPr lang="en-US" altLang="zh-CN" sz="1200" dirty="0">
              <a:latin typeface="Montserrat" panose="00000500000000000000" pitchFamily="2" charset="0"/>
              <a:ea typeface="微软雅黑 Light" panose="020B0502040204020203" pitchFamily="34" charset="-122"/>
            </a:endParaRPr>
          </a:p>
          <a:p>
            <a:pPr marL="171450" indent="-171450" algn="just">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能够同时充当客户和服务器</a:t>
            </a:r>
            <a:endParaRPr lang="en-US" altLang="zh-CN" sz="1200" dirty="0">
              <a:latin typeface="Montserrat" panose="00000500000000000000" pitchFamily="2" charset="0"/>
              <a:ea typeface="微软雅黑 Light" panose="020B0502040204020203" pitchFamily="34" charset="-122"/>
            </a:endParaRPr>
          </a:p>
          <a:p>
            <a:pPr marL="171450" indent="-171450" algn="just">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向发信人报告邮件传送情况</a:t>
            </a:r>
          </a:p>
          <a:p>
            <a:pPr algn="just"/>
            <a:endParaRPr lang="zh-CN" altLang="en-US" sz="1200" dirty="0">
              <a:latin typeface="Montserrat" panose="00000500000000000000" pitchFamily="2" charset="0"/>
              <a:ea typeface="微软雅黑 Light" panose="020B0502040204020203" pitchFamily="34" charset="-122"/>
            </a:endParaRPr>
          </a:p>
        </p:txBody>
      </p:sp>
      <p:sp>
        <p:nvSpPr>
          <p:cNvPr id="29" name="文本框 28">
            <a:extLst>
              <a:ext uri="{FF2B5EF4-FFF2-40B4-BE49-F238E27FC236}">
                <a16:creationId xmlns:a16="http://schemas.microsoft.com/office/drawing/2014/main" id="{5D67661F-DA99-4EC2-A789-0953F24D7C1C}"/>
              </a:ext>
            </a:extLst>
          </p:cNvPr>
          <p:cNvSpPr txBox="1"/>
          <p:nvPr/>
        </p:nvSpPr>
        <p:spPr>
          <a:xfrm>
            <a:off x="6138225" y="694579"/>
            <a:ext cx="2520000" cy="1800000"/>
          </a:xfrm>
          <a:prstGeom prst="rect">
            <a:avLst/>
          </a:prstGeom>
          <a:solidFill>
            <a:schemeClr val="bg1">
              <a:lumMod val="95000"/>
            </a:schemeClr>
          </a:solidFill>
        </p:spPr>
        <p:txBody>
          <a:bodyPr wrap="square" rtlCol="0">
            <a:noAutofit/>
          </a:bodyPr>
          <a:lstStyle/>
          <a:p>
            <a:pPr algn="just">
              <a:spcAft>
                <a:spcPts val="600"/>
              </a:spcAft>
            </a:pPr>
            <a:r>
              <a:rPr lang="en-US" altLang="zh-CN" sz="1200" dirty="0">
                <a:solidFill>
                  <a:srgbClr val="C00000"/>
                </a:solidFill>
                <a:latin typeface="Montserrat" panose="00000500000000000000" pitchFamily="2" charset="0"/>
                <a:ea typeface="微软雅黑 Light" panose="020B0502040204020203" pitchFamily="34" charset="-122"/>
              </a:rPr>
              <a:t>P3</a:t>
            </a:r>
            <a:r>
              <a:rPr lang="en-US" altLang="zh-CN" sz="1200" dirty="0">
                <a:latin typeface="Montserrat" panose="00000500000000000000" pitchFamily="2" charset="0"/>
                <a:ea typeface="微软雅黑 Light" panose="020B0502040204020203" pitchFamily="34" charset="-122"/>
              </a:rPr>
              <a:t> </a:t>
            </a:r>
            <a:r>
              <a:rPr lang="zh-CN" altLang="en-US" sz="1200" dirty="0">
                <a:latin typeface="Montserrat" panose="00000500000000000000" pitchFamily="2" charset="0"/>
                <a:ea typeface="微软雅黑 Light" panose="020B0502040204020203" pitchFamily="34" charset="-122"/>
              </a:rPr>
              <a:t>邮件发送和邮件读取协议</a:t>
            </a:r>
          </a:p>
          <a:p>
            <a:pPr algn="just"/>
            <a:r>
              <a:rPr lang="zh-CN" altLang="en-US" sz="1200" dirty="0">
                <a:latin typeface="Montserrat" panose="00000500000000000000" pitchFamily="2" charset="0"/>
                <a:ea typeface="微软雅黑 Light" panose="020B0502040204020203" pitchFamily="34" charset="-122"/>
              </a:rPr>
              <a:t>邮件发送和读取使用不同的协议</a:t>
            </a:r>
          </a:p>
          <a:p>
            <a:pPr algn="just"/>
            <a:r>
              <a:rPr lang="zh-CN" altLang="en-US" sz="1200" dirty="0">
                <a:latin typeface="Montserrat" panose="00000500000000000000" pitchFamily="2" charset="0"/>
                <a:ea typeface="微软雅黑 Light" panose="020B0502040204020203" pitchFamily="34" charset="-122"/>
              </a:rPr>
              <a:t>简单邮件发送协议 </a:t>
            </a:r>
            <a:r>
              <a:rPr lang="en-US" altLang="zh-CN" sz="1200" dirty="0">
                <a:latin typeface="Montserrat" panose="00000500000000000000" pitchFamily="2" charset="0"/>
                <a:ea typeface="微软雅黑 Light" panose="020B0502040204020203" pitchFamily="34" charset="-122"/>
              </a:rPr>
              <a:t>SMTP</a:t>
            </a:r>
            <a:r>
              <a:rPr lang="zh-CN" altLang="en-US" sz="1200" dirty="0">
                <a:latin typeface="Montserrat" panose="00000500000000000000" pitchFamily="2" charset="0"/>
                <a:ea typeface="微软雅黑 Light" panose="020B0502040204020203" pitchFamily="34" charset="-122"/>
              </a:rPr>
              <a:t>：用于在用户代理向邮件服务器或邮件服务器之间发送邮件</a:t>
            </a:r>
          </a:p>
          <a:p>
            <a:pPr algn="just"/>
            <a:r>
              <a:rPr lang="zh-CN" altLang="en-US" sz="1200" dirty="0">
                <a:latin typeface="Montserrat" panose="00000500000000000000" pitchFamily="2" charset="0"/>
                <a:ea typeface="微软雅黑 Light" panose="020B0502040204020203" pitchFamily="34" charset="-122"/>
              </a:rPr>
              <a:t>邮局协议 </a:t>
            </a:r>
            <a:r>
              <a:rPr lang="en-US" altLang="zh-CN" sz="1200" dirty="0">
                <a:latin typeface="Montserrat" panose="00000500000000000000" pitchFamily="2" charset="0"/>
                <a:ea typeface="微软雅黑 Light" panose="020B0502040204020203" pitchFamily="34" charset="-122"/>
              </a:rPr>
              <a:t>POP3</a:t>
            </a:r>
            <a:r>
              <a:rPr lang="zh-CN" altLang="en-US" sz="1200" dirty="0">
                <a:latin typeface="Montserrat" panose="00000500000000000000" pitchFamily="2" charset="0"/>
                <a:ea typeface="微软雅黑 Light" panose="020B0502040204020203" pitchFamily="34" charset="-122"/>
              </a:rPr>
              <a:t>：用于用户代理从邮件服务器读取邮件</a:t>
            </a:r>
          </a:p>
        </p:txBody>
      </p:sp>
      <p:sp>
        <p:nvSpPr>
          <p:cNvPr id="3" name="Rectangle 386">
            <a:extLst>
              <a:ext uri="{FF2B5EF4-FFF2-40B4-BE49-F238E27FC236}">
                <a16:creationId xmlns:a16="http://schemas.microsoft.com/office/drawing/2014/main" id="{B4AF4B12-668F-96B7-6EC5-F934A7CE813C}"/>
              </a:ext>
            </a:extLst>
          </p:cNvPr>
          <p:cNvSpPr>
            <a:spLocks noChangeArrowheads="1"/>
          </p:cNvSpPr>
          <p:nvPr/>
        </p:nvSpPr>
        <p:spPr bwMode="auto">
          <a:xfrm>
            <a:off x="3019580" y="3173543"/>
            <a:ext cx="680437" cy="1346517"/>
          </a:xfrm>
          <a:prstGeom prst="rect">
            <a:avLst/>
          </a:prstGeom>
          <a:noFill/>
          <a:ln w="12700"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5" name="Rectangle 387">
            <a:extLst>
              <a:ext uri="{FF2B5EF4-FFF2-40B4-BE49-F238E27FC236}">
                <a16:creationId xmlns:a16="http://schemas.microsoft.com/office/drawing/2014/main" id="{D7F4C0A2-6ECC-BDA3-9465-2498A26EB72C}"/>
              </a:ext>
            </a:extLst>
          </p:cNvPr>
          <p:cNvSpPr>
            <a:spLocks noChangeArrowheads="1"/>
          </p:cNvSpPr>
          <p:nvPr/>
        </p:nvSpPr>
        <p:spPr bwMode="auto">
          <a:xfrm>
            <a:off x="1657456" y="3173543"/>
            <a:ext cx="680437" cy="1346517"/>
          </a:xfrm>
          <a:prstGeom prst="rect">
            <a:avLst/>
          </a:prstGeom>
          <a:noFill/>
          <a:ln w="9525">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6" name="Line 388">
            <a:extLst>
              <a:ext uri="{FF2B5EF4-FFF2-40B4-BE49-F238E27FC236}">
                <a16:creationId xmlns:a16="http://schemas.microsoft.com/office/drawing/2014/main" id="{BAE1A7F6-2F58-092E-59D7-5B119C33EF1B}"/>
              </a:ext>
            </a:extLst>
          </p:cNvPr>
          <p:cNvSpPr>
            <a:spLocks noChangeShapeType="1"/>
          </p:cNvSpPr>
          <p:nvPr/>
        </p:nvSpPr>
        <p:spPr bwMode="auto">
          <a:xfrm>
            <a:off x="2134011" y="3516315"/>
            <a:ext cx="941856" cy="0"/>
          </a:xfrm>
          <a:prstGeom prst="line">
            <a:avLst/>
          </a:prstGeom>
          <a:noFill/>
          <a:ln w="38100">
            <a:solidFill>
              <a:srgbClr val="4BACC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dirty="0">
              <a:latin typeface="Montserrat" panose="00000500000000000000" pitchFamily="2" charset="0"/>
              <a:ea typeface="微软雅黑 Light" panose="020B0502040204020203" pitchFamily="34" charset="-122"/>
            </a:endParaRPr>
          </a:p>
        </p:txBody>
      </p:sp>
      <p:sp>
        <p:nvSpPr>
          <p:cNvPr id="8" name="Oval 397">
            <a:extLst>
              <a:ext uri="{FF2B5EF4-FFF2-40B4-BE49-F238E27FC236}">
                <a16:creationId xmlns:a16="http://schemas.microsoft.com/office/drawing/2014/main" id="{4300F4D4-164E-0605-B946-76DD019F95FF}"/>
              </a:ext>
            </a:extLst>
          </p:cNvPr>
          <p:cNvSpPr>
            <a:spLocks noChangeArrowheads="1"/>
          </p:cNvSpPr>
          <p:nvPr/>
        </p:nvSpPr>
        <p:spPr bwMode="auto">
          <a:xfrm>
            <a:off x="1713742" y="3237429"/>
            <a:ext cx="566615" cy="556545"/>
          </a:xfrm>
          <a:prstGeom prst="ellipse">
            <a:avLst/>
          </a:prstGeom>
          <a:solidFill>
            <a:srgbClr val="4BACC6"/>
          </a:solidFill>
          <a:ln w="9525">
            <a:noFill/>
            <a:round/>
            <a:headEnd/>
            <a:tailEnd/>
          </a:ln>
          <a:effectLst/>
        </p:spPr>
        <p:txBody>
          <a:bodyPr wrap="none" anchor="ctr"/>
          <a:lstStyle/>
          <a:p>
            <a:pPr algn="ctr" eaLnBrk="1" hangingPunct="1"/>
            <a:r>
              <a:rPr kumimoji="1" lang="en-US" altLang="zh-CN" sz="1100" dirty="0">
                <a:solidFill>
                  <a:schemeClr val="bg1"/>
                </a:solidFill>
                <a:latin typeface="Montserrat" panose="00000500000000000000" pitchFamily="2" charset="0"/>
                <a:ea typeface="微软雅黑 Light" panose="020B0502040204020203" pitchFamily="34" charset="-122"/>
              </a:rPr>
              <a:t>SMTP</a:t>
            </a:r>
          </a:p>
          <a:p>
            <a:pPr algn="ctr" eaLnBrk="1" hangingPunct="1"/>
            <a:r>
              <a:rPr kumimoji="1" lang="en-US" altLang="zh-CN" sz="1100" dirty="0">
                <a:solidFill>
                  <a:schemeClr val="bg1"/>
                </a:solidFill>
                <a:latin typeface="Montserrat" panose="00000500000000000000" pitchFamily="2" charset="0"/>
                <a:ea typeface="微软雅黑 Light" panose="020B0502040204020203" pitchFamily="34" charset="-122"/>
              </a:rPr>
              <a:t>Client</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9" name="Oval 405">
            <a:extLst>
              <a:ext uri="{FF2B5EF4-FFF2-40B4-BE49-F238E27FC236}">
                <a16:creationId xmlns:a16="http://schemas.microsoft.com/office/drawing/2014/main" id="{CC19B658-60BA-F86B-E76A-D5660FB34994}"/>
              </a:ext>
            </a:extLst>
          </p:cNvPr>
          <p:cNvSpPr>
            <a:spLocks noChangeArrowheads="1"/>
          </p:cNvSpPr>
          <p:nvPr/>
        </p:nvSpPr>
        <p:spPr bwMode="auto">
          <a:xfrm>
            <a:off x="3077118" y="3237429"/>
            <a:ext cx="566615" cy="556545"/>
          </a:xfrm>
          <a:prstGeom prst="ellipse">
            <a:avLst/>
          </a:prstGeom>
          <a:solidFill>
            <a:srgbClr val="4BACC6"/>
          </a:solidFill>
          <a:ln w="9525">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SMTP</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Server</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10" name="Oval 406">
            <a:extLst>
              <a:ext uri="{FF2B5EF4-FFF2-40B4-BE49-F238E27FC236}">
                <a16:creationId xmlns:a16="http://schemas.microsoft.com/office/drawing/2014/main" id="{06198F72-6114-702B-7DA6-00C0385D1131}"/>
              </a:ext>
            </a:extLst>
          </p:cNvPr>
          <p:cNvSpPr>
            <a:spLocks noChangeArrowheads="1"/>
          </p:cNvSpPr>
          <p:nvPr/>
        </p:nvSpPr>
        <p:spPr bwMode="auto">
          <a:xfrm>
            <a:off x="3077118" y="3850488"/>
            <a:ext cx="566615" cy="556543"/>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SMTP</a:t>
            </a:r>
          </a:p>
          <a:p>
            <a:pPr algn="ctr"/>
            <a:r>
              <a:rPr kumimoji="1" lang="en-US" altLang="zh-CN" sz="1100" dirty="0">
                <a:latin typeface="Montserrat" panose="00000500000000000000" pitchFamily="2" charset="0"/>
                <a:ea typeface="微软雅黑 Light" panose="020B0502040204020203" pitchFamily="34" charset="-122"/>
              </a:rPr>
              <a:t>Client</a:t>
            </a:r>
            <a:endParaRPr kumimoji="1" lang="zh-CN" altLang="en-US" sz="1100" dirty="0">
              <a:latin typeface="Montserrat" panose="00000500000000000000" pitchFamily="2" charset="0"/>
              <a:ea typeface="微软雅黑 Light" panose="020B0502040204020203" pitchFamily="34" charset="-122"/>
            </a:endParaRPr>
          </a:p>
        </p:txBody>
      </p:sp>
      <p:sp>
        <p:nvSpPr>
          <p:cNvPr id="11" name="Text Box 399">
            <a:extLst>
              <a:ext uri="{FF2B5EF4-FFF2-40B4-BE49-F238E27FC236}">
                <a16:creationId xmlns:a16="http://schemas.microsoft.com/office/drawing/2014/main" id="{C6CC29F8-26FC-24E1-C4C7-F92689CB5FB1}"/>
              </a:ext>
            </a:extLst>
          </p:cNvPr>
          <p:cNvSpPr txBox="1">
            <a:spLocks noChangeArrowheads="1"/>
          </p:cNvSpPr>
          <p:nvPr/>
        </p:nvSpPr>
        <p:spPr bwMode="auto">
          <a:xfrm>
            <a:off x="729032" y="2804587"/>
            <a:ext cx="607859"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发件人</a:t>
            </a:r>
          </a:p>
        </p:txBody>
      </p:sp>
      <p:graphicFrame>
        <p:nvGraphicFramePr>
          <p:cNvPr id="12" name="对象 11">
            <a:extLst>
              <a:ext uri="{FF2B5EF4-FFF2-40B4-BE49-F238E27FC236}">
                <a16:creationId xmlns:a16="http://schemas.microsoft.com/office/drawing/2014/main" id="{26D63AB6-223E-1B9B-2F0C-29DB8FC3FE15}"/>
              </a:ext>
            </a:extLst>
          </p:cNvPr>
          <p:cNvGraphicFramePr>
            <a:graphicFrameLocks noChangeAspect="1"/>
          </p:cNvGraphicFramePr>
          <p:nvPr>
            <p:extLst>
              <p:ext uri="{D42A27DB-BD31-4B8C-83A1-F6EECF244321}">
                <p14:modId xmlns:p14="http://schemas.microsoft.com/office/powerpoint/2010/main" val="2714346310"/>
              </p:ext>
            </p:extLst>
          </p:nvPr>
        </p:nvGraphicFramePr>
        <p:xfrm>
          <a:off x="875180" y="3213529"/>
          <a:ext cx="546759" cy="666388"/>
        </p:xfrm>
        <a:graphic>
          <a:graphicData uri="http://schemas.openxmlformats.org/presentationml/2006/ole">
            <mc:AlternateContent xmlns:mc="http://schemas.openxmlformats.org/markup-compatibility/2006">
              <mc:Choice xmlns:v="urn:schemas-microsoft-com:vml" Requires="v">
                <p:oleObj name="Visio" r:id="rId2" imgW="3561172" imgH="4347469" progId="">
                  <p:embed/>
                </p:oleObj>
              </mc:Choice>
              <mc:Fallback>
                <p:oleObj name="Visio" r:id="rId2" imgW="3561172" imgH="4347469" progId="">
                  <p:embed/>
                  <p:pic>
                    <p:nvPicPr>
                      <p:cNvPr id="50" name="对象 49">
                        <a:extLst>
                          <a:ext uri="{FF2B5EF4-FFF2-40B4-BE49-F238E27FC236}">
                            <a16:creationId xmlns:a16="http://schemas.microsoft.com/office/drawing/2014/main" id="{5EEA4974-A1EF-15D1-6D48-7BD2C9BC51F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l="5348" t="4167" r="4546" b="11185"/>
                      <a:stretch>
                        <a:fillRect/>
                      </a:stretch>
                    </p:blipFill>
                    <p:spPr bwMode="auto">
                      <a:xfrm>
                        <a:off x="875180" y="3213529"/>
                        <a:ext cx="546759"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3" name="Rectangle 385">
            <a:extLst>
              <a:ext uri="{FF2B5EF4-FFF2-40B4-BE49-F238E27FC236}">
                <a16:creationId xmlns:a16="http://schemas.microsoft.com/office/drawing/2014/main" id="{2A198617-A97D-9362-0D69-A68D1F2D3959}"/>
              </a:ext>
            </a:extLst>
          </p:cNvPr>
          <p:cNvSpPr>
            <a:spLocks noChangeArrowheads="1"/>
          </p:cNvSpPr>
          <p:nvPr/>
        </p:nvSpPr>
        <p:spPr bwMode="auto">
          <a:xfrm>
            <a:off x="6835923" y="3182144"/>
            <a:ext cx="680437" cy="13379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14" name="Text Box 395">
            <a:extLst>
              <a:ext uri="{FF2B5EF4-FFF2-40B4-BE49-F238E27FC236}">
                <a16:creationId xmlns:a16="http://schemas.microsoft.com/office/drawing/2014/main" id="{34A6429C-19B5-FDDF-2869-9C0E1DCD48A5}"/>
              </a:ext>
            </a:extLst>
          </p:cNvPr>
          <p:cNvSpPr txBox="1">
            <a:spLocks noChangeArrowheads="1"/>
          </p:cNvSpPr>
          <p:nvPr/>
        </p:nvSpPr>
        <p:spPr bwMode="auto">
          <a:xfrm>
            <a:off x="6260881" y="3623601"/>
            <a:ext cx="468397"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TCP</a:t>
            </a:r>
            <a:endParaRPr kumimoji="1" lang="zh-CN" altLang="en-US" sz="1100" dirty="0">
              <a:solidFill>
                <a:srgbClr val="F79646"/>
              </a:solidFill>
              <a:latin typeface="Montserrat" panose="00000500000000000000" pitchFamily="2" charset="0"/>
              <a:ea typeface="微软雅黑 Light" panose="020B0502040204020203" pitchFamily="34" charset="-122"/>
            </a:endParaRPr>
          </a:p>
        </p:txBody>
      </p:sp>
      <p:sp>
        <p:nvSpPr>
          <p:cNvPr id="15" name="Oval 398">
            <a:extLst>
              <a:ext uri="{FF2B5EF4-FFF2-40B4-BE49-F238E27FC236}">
                <a16:creationId xmlns:a16="http://schemas.microsoft.com/office/drawing/2014/main" id="{ACD1954C-B87B-B236-A75E-388109B3A054}"/>
              </a:ext>
            </a:extLst>
          </p:cNvPr>
          <p:cNvSpPr>
            <a:spLocks noChangeArrowheads="1"/>
          </p:cNvSpPr>
          <p:nvPr/>
        </p:nvSpPr>
        <p:spPr bwMode="auto">
          <a:xfrm>
            <a:off x="6892210" y="3237429"/>
            <a:ext cx="566614" cy="556545"/>
          </a:xfrm>
          <a:prstGeom prst="ellipse">
            <a:avLst/>
          </a:prstGeom>
          <a:solidFill>
            <a:srgbClr val="F79646"/>
          </a:solidFill>
          <a:ln w="9525">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POP3</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Client</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16" name="Rectangle 401">
            <a:extLst>
              <a:ext uri="{FF2B5EF4-FFF2-40B4-BE49-F238E27FC236}">
                <a16:creationId xmlns:a16="http://schemas.microsoft.com/office/drawing/2014/main" id="{FA9C653A-9A68-0218-555C-D2DA8AF2D575}"/>
              </a:ext>
            </a:extLst>
          </p:cNvPr>
          <p:cNvSpPr>
            <a:spLocks noChangeArrowheads="1"/>
          </p:cNvSpPr>
          <p:nvPr/>
        </p:nvSpPr>
        <p:spPr bwMode="auto">
          <a:xfrm>
            <a:off x="5475048" y="3182144"/>
            <a:ext cx="680437" cy="1337917"/>
          </a:xfrm>
          <a:prstGeom prst="rect">
            <a:avLst/>
          </a:prstGeom>
          <a:noFill/>
          <a:ln w="12700"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17" name="Oval 402">
            <a:extLst>
              <a:ext uri="{FF2B5EF4-FFF2-40B4-BE49-F238E27FC236}">
                <a16:creationId xmlns:a16="http://schemas.microsoft.com/office/drawing/2014/main" id="{F7C7D95E-07BB-825F-95CF-91C85174456E}"/>
              </a:ext>
            </a:extLst>
          </p:cNvPr>
          <p:cNvSpPr>
            <a:spLocks noChangeArrowheads="1"/>
          </p:cNvSpPr>
          <p:nvPr/>
        </p:nvSpPr>
        <p:spPr bwMode="auto">
          <a:xfrm>
            <a:off x="5531335" y="3850488"/>
            <a:ext cx="566614" cy="556543"/>
          </a:xfrm>
          <a:prstGeom prst="ellipse">
            <a:avLst/>
          </a:prstGeom>
          <a:solidFill>
            <a:schemeClr val="bg1">
              <a:lumMod val="95000"/>
            </a:schemeClr>
          </a:solidFill>
          <a:ln w="9525" algn="ctr">
            <a:noFill/>
            <a:round/>
            <a:headEnd/>
            <a:tailEnd/>
          </a:ln>
          <a:effectLst/>
        </p:spPr>
        <p:txBody>
          <a:bodyPr wrap="none" anchor="ctr"/>
          <a:lstStyle/>
          <a:p>
            <a:pPr algn="ctr" eaLnBrk="1" hangingPunct="1"/>
            <a:r>
              <a:rPr kumimoji="1" lang="en-US" altLang="zh-CN" sz="1100" dirty="0">
                <a:latin typeface="Montserrat" panose="00000500000000000000" pitchFamily="2" charset="0"/>
                <a:ea typeface="微软雅黑 Light" panose="020B0502040204020203" pitchFamily="34" charset="-122"/>
              </a:rPr>
              <a:t>SMTP</a:t>
            </a:r>
          </a:p>
          <a:p>
            <a:pPr algn="ctr" eaLnBrk="1" hangingPunct="1"/>
            <a:r>
              <a:rPr kumimoji="1" lang="en-US" altLang="zh-CN" sz="1100" dirty="0">
                <a:latin typeface="Montserrat" panose="00000500000000000000" pitchFamily="2" charset="0"/>
                <a:ea typeface="微软雅黑 Light" panose="020B0502040204020203" pitchFamily="34" charset="-122"/>
              </a:rPr>
              <a:t>Server</a:t>
            </a:r>
            <a:endParaRPr kumimoji="1" lang="zh-CN" altLang="en-US" sz="1100" dirty="0">
              <a:latin typeface="Montserrat" panose="00000500000000000000" pitchFamily="2" charset="0"/>
              <a:ea typeface="微软雅黑 Light" panose="020B0502040204020203" pitchFamily="34" charset="-122"/>
            </a:endParaRPr>
          </a:p>
        </p:txBody>
      </p:sp>
      <p:sp>
        <p:nvSpPr>
          <p:cNvPr id="18" name="Oval 403">
            <a:extLst>
              <a:ext uri="{FF2B5EF4-FFF2-40B4-BE49-F238E27FC236}">
                <a16:creationId xmlns:a16="http://schemas.microsoft.com/office/drawing/2014/main" id="{2BBD1304-75CB-3F27-CBC8-DEE5D1EF6186}"/>
              </a:ext>
            </a:extLst>
          </p:cNvPr>
          <p:cNvSpPr>
            <a:spLocks noChangeArrowheads="1"/>
          </p:cNvSpPr>
          <p:nvPr/>
        </p:nvSpPr>
        <p:spPr bwMode="auto">
          <a:xfrm>
            <a:off x="5531335" y="3237429"/>
            <a:ext cx="566614" cy="556545"/>
          </a:xfrm>
          <a:prstGeom prst="ellipse">
            <a:avLst/>
          </a:prstGeom>
          <a:solidFill>
            <a:srgbClr val="F79646"/>
          </a:solidFill>
          <a:ln w="9525">
            <a:noFill/>
            <a:round/>
            <a:headEnd/>
            <a:tailEnd/>
          </a:ln>
          <a:effectLst/>
        </p:spPr>
        <p:txBody>
          <a:bodyPr wrap="none" anchor="ctr"/>
          <a:lstStyle/>
          <a:p>
            <a:pPr algn="ctr" eaLnBrk="1" hangingPunct="1"/>
            <a:r>
              <a:rPr kumimoji="1" lang="en-US" altLang="zh-CN" sz="1100" dirty="0">
                <a:solidFill>
                  <a:schemeClr val="bg1"/>
                </a:solidFill>
                <a:latin typeface="Montserrat" panose="00000500000000000000" pitchFamily="2" charset="0"/>
                <a:ea typeface="微软雅黑 Light" panose="020B0502040204020203" pitchFamily="34" charset="-122"/>
              </a:rPr>
              <a:t>POP3</a:t>
            </a:r>
          </a:p>
          <a:p>
            <a:pPr algn="ctr" eaLnBrk="1" hangingPunct="1"/>
            <a:r>
              <a:rPr kumimoji="1" lang="en-US" altLang="zh-CN" sz="1100" dirty="0">
                <a:solidFill>
                  <a:schemeClr val="bg1"/>
                </a:solidFill>
                <a:latin typeface="Montserrat" panose="00000500000000000000" pitchFamily="2" charset="0"/>
                <a:ea typeface="微软雅黑 Light" panose="020B0502040204020203" pitchFamily="34" charset="-122"/>
              </a:rPr>
              <a:t>Server</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19" name="Line 408">
            <a:extLst>
              <a:ext uri="{FF2B5EF4-FFF2-40B4-BE49-F238E27FC236}">
                <a16:creationId xmlns:a16="http://schemas.microsoft.com/office/drawing/2014/main" id="{4341523B-CD04-2889-DCB7-DD12D87A1590}"/>
              </a:ext>
            </a:extLst>
          </p:cNvPr>
          <p:cNvSpPr>
            <a:spLocks noChangeShapeType="1"/>
          </p:cNvSpPr>
          <p:nvPr/>
        </p:nvSpPr>
        <p:spPr bwMode="auto">
          <a:xfrm flipV="1">
            <a:off x="6097949" y="3516315"/>
            <a:ext cx="794261" cy="0"/>
          </a:xfrm>
          <a:prstGeom prst="line">
            <a:avLst/>
          </a:prstGeom>
          <a:noFill/>
          <a:ln w="38100">
            <a:solidFill>
              <a:srgbClr val="F7964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dirty="0">
              <a:latin typeface="Montserrat" panose="00000500000000000000" pitchFamily="2" charset="0"/>
              <a:ea typeface="微软雅黑 Light" panose="020B0502040204020203" pitchFamily="34" charset="-122"/>
            </a:endParaRPr>
          </a:p>
        </p:txBody>
      </p:sp>
      <p:graphicFrame>
        <p:nvGraphicFramePr>
          <p:cNvPr id="20" name="对象 19">
            <a:extLst>
              <a:ext uri="{FF2B5EF4-FFF2-40B4-BE49-F238E27FC236}">
                <a16:creationId xmlns:a16="http://schemas.microsoft.com/office/drawing/2014/main" id="{5004E330-1D13-F202-541A-87200755BAE1}"/>
              </a:ext>
            </a:extLst>
          </p:cNvPr>
          <p:cNvGraphicFramePr>
            <a:graphicFrameLocks noChangeAspect="1"/>
          </p:cNvGraphicFramePr>
          <p:nvPr>
            <p:extLst>
              <p:ext uri="{D42A27DB-BD31-4B8C-83A1-F6EECF244321}">
                <p14:modId xmlns:p14="http://schemas.microsoft.com/office/powerpoint/2010/main" val="2873666838"/>
              </p:ext>
            </p:extLst>
          </p:nvPr>
        </p:nvGraphicFramePr>
        <p:xfrm>
          <a:off x="7744964" y="3213529"/>
          <a:ext cx="551626" cy="666388"/>
        </p:xfrm>
        <a:graphic>
          <a:graphicData uri="http://schemas.openxmlformats.org/presentationml/2006/ole">
            <mc:AlternateContent xmlns:mc="http://schemas.openxmlformats.org/markup-compatibility/2006">
              <mc:Choice xmlns:v="urn:schemas-microsoft-com:vml" Requires="v">
                <p:oleObj name="Visio" r:id="rId4" imgW="3561172" imgH="4347469" progId="">
                  <p:embed/>
                </p:oleObj>
              </mc:Choice>
              <mc:Fallback>
                <p:oleObj name="Visio" r:id="rId4" imgW="3561172" imgH="4347469" progId="">
                  <p:embed/>
                  <p:pic>
                    <p:nvPicPr>
                      <p:cNvPr id="58" name="对象 57">
                        <a:extLst>
                          <a:ext uri="{FF2B5EF4-FFF2-40B4-BE49-F238E27FC236}">
                            <a16:creationId xmlns:a16="http://schemas.microsoft.com/office/drawing/2014/main" id="{B750695B-E0D5-E338-8E99-7C2EA6B2CF1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l="4546" t="3947" r="4546" b="11403"/>
                      <a:stretch>
                        <a:fillRect/>
                      </a:stretch>
                    </p:blipFill>
                    <p:spPr bwMode="auto">
                      <a:xfrm>
                        <a:off x="7744964" y="3213529"/>
                        <a:ext cx="551626"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1" name="Text Box 399">
            <a:extLst>
              <a:ext uri="{FF2B5EF4-FFF2-40B4-BE49-F238E27FC236}">
                <a16:creationId xmlns:a16="http://schemas.microsoft.com/office/drawing/2014/main" id="{A105E5C7-52A6-59A1-4C56-694205DE218E}"/>
              </a:ext>
            </a:extLst>
          </p:cNvPr>
          <p:cNvSpPr txBox="1">
            <a:spLocks noChangeArrowheads="1"/>
          </p:cNvSpPr>
          <p:nvPr/>
        </p:nvSpPr>
        <p:spPr bwMode="auto">
          <a:xfrm>
            <a:off x="7815300" y="2804587"/>
            <a:ext cx="607859"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收件人</a:t>
            </a:r>
          </a:p>
        </p:txBody>
      </p:sp>
      <p:sp>
        <p:nvSpPr>
          <p:cNvPr id="22" name="Line 404">
            <a:extLst>
              <a:ext uri="{FF2B5EF4-FFF2-40B4-BE49-F238E27FC236}">
                <a16:creationId xmlns:a16="http://schemas.microsoft.com/office/drawing/2014/main" id="{0C64FA0F-A3B3-A796-CA8E-0634158C1167}"/>
              </a:ext>
            </a:extLst>
          </p:cNvPr>
          <p:cNvSpPr>
            <a:spLocks noChangeShapeType="1"/>
          </p:cNvSpPr>
          <p:nvPr/>
        </p:nvSpPr>
        <p:spPr bwMode="auto">
          <a:xfrm flipV="1">
            <a:off x="3628236" y="4129374"/>
            <a:ext cx="1928643" cy="0"/>
          </a:xfrm>
          <a:prstGeom prst="line">
            <a:avLst/>
          </a:prstGeom>
          <a:noFill/>
          <a:ln w="381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050" dirty="0">
              <a:latin typeface="Montserrat" panose="00000500000000000000" pitchFamily="2" charset="0"/>
              <a:ea typeface="微软雅黑 Light" panose="020B0502040204020203" pitchFamily="34" charset="-122"/>
            </a:endParaRPr>
          </a:p>
        </p:txBody>
      </p:sp>
      <p:sp>
        <p:nvSpPr>
          <p:cNvPr id="23" name="Text Box 409">
            <a:extLst>
              <a:ext uri="{FF2B5EF4-FFF2-40B4-BE49-F238E27FC236}">
                <a16:creationId xmlns:a16="http://schemas.microsoft.com/office/drawing/2014/main" id="{7261FD8A-4993-B38E-BD5A-2719BF0E9030}"/>
              </a:ext>
            </a:extLst>
          </p:cNvPr>
          <p:cNvSpPr txBox="1">
            <a:spLocks noChangeArrowheads="1"/>
          </p:cNvSpPr>
          <p:nvPr/>
        </p:nvSpPr>
        <p:spPr bwMode="auto">
          <a:xfrm>
            <a:off x="4345535" y="4146573"/>
            <a:ext cx="494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TCP</a:t>
            </a:r>
            <a:endParaRPr kumimoji="1" lang="zh-CN" altLang="en-US" sz="1200" dirty="0">
              <a:latin typeface="Montserrat" panose="00000500000000000000" pitchFamily="2" charset="0"/>
              <a:ea typeface="微软雅黑 Light" panose="020B0502040204020203" pitchFamily="34" charset="-122"/>
            </a:endParaRPr>
          </a:p>
        </p:txBody>
      </p:sp>
      <p:sp>
        <p:nvSpPr>
          <p:cNvPr id="24" name="圆角矩形 418">
            <a:extLst>
              <a:ext uri="{FF2B5EF4-FFF2-40B4-BE49-F238E27FC236}">
                <a16:creationId xmlns:a16="http://schemas.microsoft.com/office/drawing/2014/main" id="{AB341327-300D-1F5D-9D95-6E922526459B}"/>
              </a:ext>
            </a:extLst>
          </p:cNvPr>
          <p:cNvSpPr/>
          <p:nvPr/>
        </p:nvSpPr>
        <p:spPr>
          <a:xfrm>
            <a:off x="1484031" y="2603548"/>
            <a:ext cx="6194639" cy="2126256"/>
          </a:xfrm>
          <a:prstGeom prst="roundRect">
            <a:avLst>
              <a:gd name="adj" fmla="val 7039"/>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26" name="Text Box 396">
            <a:extLst>
              <a:ext uri="{FF2B5EF4-FFF2-40B4-BE49-F238E27FC236}">
                <a16:creationId xmlns:a16="http://schemas.microsoft.com/office/drawing/2014/main" id="{CAB1D031-FE36-7527-BAB1-544086CA0D8C}"/>
              </a:ext>
            </a:extLst>
          </p:cNvPr>
          <p:cNvSpPr txBox="1">
            <a:spLocks noChangeArrowheads="1"/>
          </p:cNvSpPr>
          <p:nvPr/>
        </p:nvSpPr>
        <p:spPr bwMode="auto">
          <a:xfrm>
            <a:off x="2917836" y="2701771"/>
            <a:ext cx="889987"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发送方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邮件服务器</a:t>
            </a:r>
          </a:p>
        </p:txBody>
      </p:sp>
      <p:sp>
        <p:nvSpPr>
          <p:cNvPr id="30" name="Text Box 399">
            <a:extLst>
              <a:ext uri="{FF2B5EF4-FFF2-40B4-BE49-F238E27FC236}">
                <a16:creationId xmlns:a16="http://schemas.microsoft.com/office/drawing/2014/main" id="{A4C6F1F2-3DB6-4C44-306A-EED2EA711562}"/>
              </a:ext>
            </a:extLst>
          </p:cNvPr>
          <p:cNvSpPr txBox="1">
            <a:spLocks noChangeArrowheads="1"/>
          </p:cNvSpPr>
          <p:nvPr/>
        </p:nvSpPr>
        <p:spPr bwMode="auto">
          <a:xfrm>
            <a:off x="1621814" y="2701771"/>
            <a:ext cx="748923"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发件方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用户代理</a:t>
            </a:r>
          </a:p>
        </p:txBody>
      </p:sp>
      <p:sp>
        <p:nvSpPr>
          <p:cNvPr id="31" name="Text Box 390">
            <a:extLst>
              <a:ext uri="{FF2B5EF4-FFF2-40B4-BE49-F238E27FC236}">
                <a16:creationId xmlns:a16="http://schemas.microsoft.com/office/drawing/2014/main" id="{96C2E3EB-226A-A5BF-9209-1CB0D859EF9C}"/>
              </a:ext>
            </a:extLst>
          </p:cNvPr>
          <p:cNvSpPr txBox="1">
            <a:spLocks noChangeArrowheads="1"/>
          </p:cNvSpPr>
          <p:nvPr/>
        </p:nvSpPr>
        <p:spPr bwMode="auto">
          <a:xfrm>
            <a:off x="6202370" y="3223625"/>
            <a:ext cx="585418"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POP3</a:t>
            </a:r>
          </a:p>
        </p:txBody>
      </p:sp>
      <p:sp>
        <p:nvSpPr>
          <p:cNvPr id="32" name="Text Box 400">
            <a:extLst>
              <a:ext uri="{FF2B5EF4-FFF2-40B4-BE49-F238E27FC236}">
                <a16:creationId xmlns:a16="http://schemas.microsoft.com/office/drawing/2014/main" id="{74C29A35-EFE1-1232-5958-6407D6284508}"/>
              </a:ext>
            </a:extLst>
          </p:cNvPr>
          <p:cNvSpPr txBox="1">
            <a:spLocks noChangeArrowheads="1"/>
          </p:cNvSpPr>
          <p:nvPr/>
        </p:nvSpPr>
        <p:spPr bwMode="auto">
          <a:xfrm>
            <a:off x="5361275" y="2701771"/>
            <a:ext cx="889987"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接收方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邮件服务器</a:t>
            </a:r>
          </a:p>
        </p:txBody>
      </p:sp>
      <p:sp>
        <p:nvSpPr>
          <p:cNvPr id="33" name="Text Box 407">
            <a:extLst>
              <a:ext uri="{FF2B5EF4-FFF2-40B4-BE49-F238E27FC236}">
                <a16:creationId xmlns:a16="http://schemas.microsoft.com/office/drawing/2014/main" id="{835E3FA8-712E-AB30-6107-DDFA7E65F980}"/>
              </a:ext>
            </a:extLst>
          </p:cNvPr>
          <p:cNvSpPr txBox="1">
            <a:spLocks noChangeArrowheads="1"/>
          </p:cNvSpPr>
          <p:nvPr/>
        </p:nvSpPr>
        <p:spPr bwMode="auto">
          <a:xfrm>
            <a:off x="6808085" y="2701771"/>
            <a:ext cx="748923"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接收方</a:t>
            </a:r>
            <a:endParaRPr kumimoji="1" lang="en-US" altLang="zh-CN" sz="1100" dirty="0">
              <a:latin typeface="Montserrat" panose="00000500000000000000" pitchFamily="2" charset="0"/>
              <a:ea typeface="微软雅黑 Light" panose="020B0502040204020203" pitchFamily="34" charset="-122"/>
            </a:endParaRP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用户代理</a:t>
            </a:r>
          </a:p>
        </p:txBody>
      </p:sp>
      <p:sp>
        <p:nvSpPr>
          <p:cNvPr id="34" name="Text Box 392">
            <a:extLst>
              <a:ext uri="{FF2B5EF4-FFF2-40B4-BE49-F238E27FC236}">
                <a16:creationId xmlns:a16="http://schemas.microsoft.com/office/drawing/2014/main" id="{44A77F5C-BC04-FB28-5AE5-087DADD10FBE}"/>
              </a:ext>
            </a:extLst>
          </p:cNvPr>
          <p:cNvSpPr txBox="1">
            <a:spLocks noChangeArrowheads="1"/>
          </p:cNvSpPr>
          <p:nvPr/>
        </p:nvSpPr>
        <p:spPr bwMode="auto">
          <a:xfrm>
            <a:off x="4259773" y="3849259"/>
            <a:ext cx="6655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SMTP</a:t>
            </a:r>
          </a:p>
        </p:txBody>
      </p:sp>
      <p:sp>
        <p:nvSpPr>
          <p:cNvPr id="35" name="Text Box 394">
            <a:extLst>
              <a:ext uri="{FF2B5EF4-FFF2-40B4-BE49-F238E27FC236}">
                <a16:creationId xmlns:a16="http://schemas.microsoft.com/office/drawing/2014/main" id="{FE4845AF-B0AA-8A8D-A5C5-592E1C390946}"/>
              </a:ext>
            </a:extLst>
          </p:cNvPr>
          <p:cNvSpPr txBox="1">
            <a:spLocks noChangeArrowheads="1"/>
          </p:cNvSpPr>
          <p:nvPr/>
        </p:nvSpPr>
        <p:spPr bwMode="auto">
          <a:xfrm>
            <a:off x="2443311" y="3623601"/>
            <a:ext cx="468397"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4BACC6"/>
                </a:solidFill>
                <a:latin typeface="Montserrat" panose="00000500000000000000" pitchFamily="2" charset="0"/>
                <a:ea typeface="微软雅黑 Light" panose="020B0502040204020203" pitchFamily="34" charset="-122"/>
              </a:rPr>
              <a:t>TCP</a:t>
            </a:r>
            <a:endParaRPr kumimoji="1" lang="zh-CN" altLang="en-US" sz="1100" dirty="0">
              <a:solidFill>
                <a:srgbClr val="4BACC6"/>
              </a:solidFill>
              <a:latin typeface="Montserrat" panose="00000500000000000000" pitchFamily="2" charset="0"/>
              <a:ea typeface="微软雅黑 Light" panose="020B0502040204020203" pitchFamily="34" charset="-122"/>
            </a:endParaRPr>
          </a:p>
        </p:txBody>
      </p:sp>
      <p:sp>
        <p:nvSpPr>
          <p:cNvPr id="36" name="Text Box 389">
            <a:extLst>
              <a:ext uri="{FF2B5EF4-FFF2-40B4-BE49-F238E27FC236}">
                <a16:creationId xmlns:a16="http://schemas.microsoft.com/office/drawing/2014/main" id="{638F2722-BBE6-8D82-8A53-566CC67C4AA9}"/>
              </a:ext>
            </a:extLst>
          </p:cNvPr>
          <p:cNvSpPr txBox="1">
            <a:spLocks noChangeArrowheads="1"/>
          </p:cNvSpPr>
          <p:nvPr/>
        </p:nvSpPr>
        <p:spPr bwMode="auto">
          <a:xfrm>
            <a:off x="2383197" y="3223625"/>
            <a:ext cx="588624"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4BACC6"/>
                </a:solidFill>
                <a:latin typeface="Montserrat" panose="00000500000000000000" pitchFamily="2" charset="0"/>
                <a:ea typeface="微软雅黑 Light" panose="020B0502040204020203" pitchFamily="34" charset="-122"/>
              </a:rPr>
              <a:t>SMTP</a:t>
            </a:r>
          </a:p>
        </p:txBody>
      </p:sp>
    </p:spTree>
    <p:extLst>
      <p:ext uri="{BB962C8B-B14F-4D97-AF65-F5344CB8AC3E}">
        <p14:creationId xmlns:p14="http://schemas.microsoft.com/office/powerpoint/2010/main" val="25766395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Object 383"/>
          <p:cNvGraphicFramePr>
            <a:graphicFrameLocks noChangeAspect="1"/>
          </p:cNvGraphicFramePr>
          <p:nvPr>
            <p:extLst>
              <p:ext uri="{D42A27DB-BD31-4B8C-83A1-F6EECF244321}">
                <p14:modId xmlns:p14="http://schemas.microsoft.com/office/powerpoint/2010/main" val="1515248841"/>
              </p:ext>
            </p:extLst>
          </p:nvPr>
        </p:nvGraphicFramePr>
        <p:xfrm>
          <a:off x="3846905" y="3043640"/>
          <a:ext cx="1597512"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46905" y="3043640"/>
                        <a:ext cx="1597512" cy="84277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9" name="Object 383"/>
          <p:cNvGraphicFramePr>
            <a:graphicFrameLocks noChangeAspect="1"/>
          </p:cNvGraphicFramePr>
          <p:nvPr>
            <p:extLst>
              <p:ext uri="{D42A27DB-BD31-4B8C-83A1-F6EECF244321}">
                <p14:modId xmlns:p14="http://schemas.microsoft.com/office/powerpoint/2010/main" val="3541143482"/>
              </p:ext>
            </p:extLst>
          </p:nvPr>
        </p:nvGraphicFramePr>
        <p:xfrm>
          <a:off x="5780655" y="2980580"/>
          <a:ext cx="1597279"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780655" y="2980580"/>
                        <a:ext cx="1597279" cy="842777"/>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 name="Line 3"/>
          <p:cNvSpPr>
            <a:spLocks noChangeShapeType="1"/>
          </p:cNvSpPr>
          <p:nvPr/>
        </p:nvSpPr>
        <p:spPr bwMode="auto">
          <a:xfrm flipH="1" flipV="1">
            <a:off x="2328917" y="3340981"/>
            <a:ext cx="483179" cy="44601"/>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 name="Freeform 4"/>
          <p:cNvSpPr>
            <a:spLocks/>
          </p:cNvSpPr>
          <p:nvPr/>
        </p:nvSpPr>
        <p:spPr bwMode="auto">
          <a:xfrm>
            <a:off x="6375543" y="3302885"/>
            <a:ext cx="483179" cy="83627"/>
          </a:xfrm>
          <a:custGeom>
            <a:avLst/>
            <a:gdLst>
              <a:gd name="T0" fmla="*/ 2147483646 w 480"/>
              <a:gd name="T1" fmla="*/ 0 h 90"/>
              <a:gd name="T2" fmla="*/ 0 w 480"/>
              <a:gd name="T3" fmla="*/ 2147483646 h 90"/>
              <a:gd name="T4" fmla="*/ 0 60000 65536"/>
              <a:gd name="T5" fmla="*/ 0 60000 65536"/>
            </a:gdLst>
            <a:ahLst/>
            <a:cxnLst>
              <a:cxn ang="T4">
                <a:pos x="T0" y="T1"/>
              </a:cxn>
              <a:cxn ang="T5">
                <a:pos x="T2" y="T3"/>
              </a:cxn>
            </a:cxnLst>
            <a:rect l="0" t="0" r="r" b="b"/>
            <a:pathLst>
              <a:path w="480" h="90">
                <a:moveTo>
                  <a:pt x="480" y="0"/>
                </a:moveTo>
                <a:lnTo>
                  <a:pt x="0" y="90"/>
                </a:lnTo>
              </a:path>
            </a:pathLst>
          </a:custGeom>
          <a:noFill/>
          <a:ln w="38100" cmpd="sng">
            <a:solidFill>
              <a:srgbClr val="0000FF"/>
            </a:solidFill>
            <a:round/>
            <a:headEnd type="none" w="med" len="med"/>
            <a:tailEnd type="non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 name="Line 5"/>
          <p:cNvSpPr>
            <a:spLocks noChangeShapeType="1"/>
          </p:cNvSpPr>
          <p:nvPr/>
        </p:nvSpPr>
        <p:spPr bwMode="auto">
          <a:xfrm flipH="1" flipV="1">
            <a:off x="5360866" y="3430183"/>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 name="Line 6"/>
          <p:cNvSpPr>
            <a:spLocks noChangeShapeType="1"/>
          </p:cNvSpPr>
          <p:nvPr/>
        </p:nvSpPr>
        <p:spPr bwMode="auto">
          <a:xfrm flipH="1" flipV="1">
            <a:off x="3440229" y="3422750"/>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 name="Text Box 8"/>
          <p:cNvSpPr txBox="1">
            <a:spLocks noChangeArrowheads="1"/>
          </p:cNvSpPr>
          <p:nvPr/>
        </p:nvSpPr>
        <p:spPr bwMode="auto">
          <a:xfrm>
            <a:off x="2324891" y="3949601"/>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邮件缓存</a:t>
            </a:r>
          </a:p>
        </p:txBody>
      </p:sp>
      <p:sp>
        <p:nvSpPr>
          <p:cNvPr id="16" name="Text Box 9"/>
          <p:cNvSpPr txBox="1">
            <a:spLocks noChangeArrowheads="1"/>
          </p:cNvSpPr>
          <p:nvPr/>
        </p:nvSpPr>
        <p:spPr bwMode="auto">
          <a:xfrm>
            <a:off x="5131356"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17" name="Oval 10"/>
          <p:cNvSpPr>
            <a:spLocks noChangeArrowheads="1"/>
          </p:cNvSpPr>
          <p:nvPr/>
        </p:nvSpPr>
        <p:spPr bwMode="auto">
          <a:xfrm>
            <a:off x="5662853" y="3027844"/>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8" name="Group 11"/>
          <p:cNvGrpSpPr>
            <a:grpSpLocks/>
          </p:cNvGrpSpPr>
          <p:nvPr/>
        </p:nvGrpSpPr>
        <p:grpSpPr bwMode="auto">
          <a:xfrm>
            <a:off x="5905450" y="3091958"/>
            <a:ext cx="289908" cy="267607"/>
            <a:chOff x="2351" y="2975"/>
            <a:chExt cx="481" cy="433"/>
          </a:xfrm>
          <a:effectLst/>
        </p:grpSpPr>
        <p:sp>
          <p:nvSpPr>
            <p:cNvPr id="19" name="Rectangle 12"/>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20" name="Line 13"/>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 name="Line 14"/>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 name="Line 15"/>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 name="Line 16"/>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 name="Line 17"/>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 name="Line 18"/>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 name="Line 19"/>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 name="Line 20"/>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8" name="Group 21"/>
          <p:cNvGrpSpPr>
            <a:grpSpLocks/>
          </p:cNvGrpSpPr>
          <p:nvPr/>
        </p:nvGrpSpPr>
        <p:grpSpPr bwMode="auto">
          <a:xfrm>
            <a:off x="5839013" y="3415316"/>
            <a:ext cx="463047" cy="267607"/>
            <a:chOff x="1296" y="768"/>
            <a:chExt cx="556" cy="336"/>
          </a:xfrm>
          <a:effectLst/>
        </p:grpSpPr>
        <p:sp>
          <p:nvSpPr>
            <p:cNvPr id="29" name="Rectangle 22"/>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0" name="Group 23"/>
            <p:cNvGrpSpPr>
              <a:grpSpLocks/>
            </p:cNvGrpSpPr>
            <p:nvPr/>
          </p:nvGrpSpPr>
          <p:grpSpPr bwMode="auto">
            <a:xfrm>
              <a:off x="1367" y="829"/>
              <a:ext cx="393" cy="214"/>
              <a:chOff x="2928" y="3744"/>
              <a:chExt cx="528" cy="336"/>
            </a:xfrm>
          </p:grpSpPr>
          <p:grpSp>
            <p:nvGrpSpPr>
              <p:cNvPr id="31" name="Group 24"/>
              <p:cNvGrpSpPr>
                <a:grpSpLocks/>
              </p:cNvGrpSpPr>
              <p:nvPr/>
            </p:nvGrpSpPr>
            <p:grpSpPr bwMode="auto">
              <a:xfrm>
                <a:off x="3024" y="3744"/>
                <a:ext cx="432" cy="240"/>
                <a:chOff x="2736" y="3648"/>
                <a:chExt cx="432" cy="240"/>
              </a:xfrm>
            </p:grpSpPr>
            <p:grpSp>
              <p:nvGrpSpPr>
                <p:cNvPr id="46" name="Group 25"/>
                <p:cNvGrpSpPr>
                  <a:grpSpLocks/>
                </p:cNvGrpSpPr>
                <p:nvPr/>
              </p:nvGrpSpPr>
              <p:grpSpPr bwMode="auto">
                <a:xfrm>
                  <a:off x="2736" y="3648"/>
                  <a:ext cx="432" cy="240"/>
                  <a:chOff x="2592" y="3504"/>
                  <a:chExt cx="576" cy="384"/>
                </a:xfrm>
              </p:grpSpPr>
              <p:sp>
                <p:nvSpPr>
                  <p:cNvPr id="48" name="Rectangle 26"/>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9" name="Freeform 27"/>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0" name="Line 28"/>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1" name="Line 29"/>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7" name="Line 30"/>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 name="Group 31"/>
              <p:cNvGrpSpPr>
                <a:grpSpLocks/>
              </p:cNvGrpSpPr>
              <p:nvPr/>
            </p:nvGrpSpPr>
            <p:grpSpPr bwMode="auto">
              <a:xfrm>
                <a:off x="2976" y="3792"/>
                <a:ext cx="432" cy="240"/>
                <a:chOff x="2736" y="3648"/>
                <a:chExt cx="432" cy="240"/>
              </a:xfrm>
            </p:grpSpPr>
            <p:grpSp>
              <p:nvGrpSpPr>
                <p:cNvPr id="40" name="Group 32"/>
                <p:cNvGrpSpPr>
                  <a:grpSpLocks/>
                </p:cNvGrpSpPr>
                <p:nvPr/>
              </p:nvGrpSpPr>
              <p:grpSpPr bwMode="auto">
                <a:xfrm>
                  <a:off x="2736" y="3648"/>
                  <a:ext cx="432" cy="240"/>
                  <a:chOff x="2592" y="3504"/>
                  <a:chExt cx="576" cy="384"/>
                </a:xfrm>
              </p:grpSpPr>
              <p:sp>
                <p:nvSpPr>
                  <p:cNvPr id="42" name="Rectangle 33"/>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3" name="Freeform 34"/>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4" name="Line 35"/>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5" name="Line 36"/>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1" name="Line 37"/>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 name="Group 38"/>
              <p:cNvGrpSpPr>
                <a:grpSpLocks/>
              </p:cNvGrpSpPr>
              <p:nvPr/>
            </p:nvGrpSpPr>
            <p:grpSpPr bwMode="auto">
              <a:xfrm>
                <a:off x="2928" y="3840"/>
                <a:ext cx="432" cy="240"/>
                <a:chOff x="2736" y="3648"/>
                <a:chExt cx="432" cy="240"/>
              </a:xfrm>
            </p:grpSpPr>
            <p:grpSp>
              <p:nvGrpSpPr>
                <p:cNvPr id="34" name="Group 39"/>
                <p:cNvGrpSpPr>
                  <a:grpSpLocks/>
                </p:cNvGrpSpPr>
                <p:nvPr/>
              </p:nvGrpSpPr>
              <p:grpSpPr bwMode="auto">
                <a:xfrm>
                  <a:off x="2736" y="3648"/>
                  <a:ext cx="432" cy="240"/>
                  <a:chOff x="2592" y="3504"/>
                  <a:chExt cx="576" cy="384"/>
                </a:xfrm>
              </p:grpSpPr>
              <p:sp>
                <p:nvSpPr>
                  <p:cNvPr id="36" name="Rectangle 40"/>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 name="Freeform 41"/>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8" name="Line 42"/>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 name="Line 43"/>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5" name="Line 44"/>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sp>
        <p:nvSpPr>
          <p:cNvPr id="200" name="Text Box 193"/>
          <p:cNvSpPr txBox="1">
            <a:spLocks noChangeArrowheads="1"/>
          </p:cNvSpPr>
          <p:nvPr/>
        </p:nvSpPr>
        <p:spPr bwMode="auto">
          <a:xfrm>
            <a:off x="6632191" y="3918638"/>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grpSp>
        <p:nvGrpSpPr>
          <p:cNvPr id="202" name="Group 195"/>
          <p:cNvGrpSpPr>
            <a:grpSpLocks/>
          </p:cNvGrpSpPr>
          <p:nvPr/>
        </p:nvGrpSpPr>
        <p:grpSpPr bwMode="auto">
          <a:xfrm>
            <a:off x="6678537" y="3067799"/>
            <a:ext cx="449960" cy="289908"/>
            <a:chOff x="4993" y="1674"/>
            <a:chExt cx="447" cy="312"/>
          </a:xfrm>
        </p:grpSpPr>
        <p:grpSp>
          <p:nvGrpSpPr>
            <p:cNvPr id="203" name="Group 196"/>
            <p:cNvGrpSpPr>
              <a:grpSpLocks/>
            </p:cNvGrpSpPr>
            <p:nvPr/>
          </p:nvGrpSpPr>
          <p:grpSpPr bwMode="auto">
            <a:xfrm>
              <a:off x="4993" y="1674"/>
              <a:ext cx="345" cy="282"/>
              <a:chOff x="4993" y="1674"/>
              <a:chExt cx="345" cy="282"/>
            </a:xfrm>
          </p:grpSpPr>
          <p:grpSp>
            <p:nvGrpSpPr>
              <p:cNvPr id="236" name="Group 197"/>
              <p:cNvGrpSpPr>
                <a:grpSpLocks/>
              </p:cNvGrpSpPr>
              <p:nvPr/>
            </p:nvGrpSpPr>
            <p:grpSpPr bwMode="auto">
              <a:xfrm>
                <a:off x="4993" y="1674"/>
                <a:ext cx="345" cy="282"/>
                <a:chOff x="4993" y="1674"/>
                <a:chExt cx="345" cy="282"/>
              </a:xfrm>
            </p:grpSpPr>
            <p:grpSp>
              <p:nvGrpSpPr>
                <p:cNvPr id="245" name="Group 198"/>
                <p:cNvGrpSpPr>
                  <a:grpSpLocks/>
                </p:cNvGrpSpPr>
                <p:nvPr/>
              </p:nvGrpSpPr>
              <p:grpSpPr bwMode="auto">
                <a:xfrm>
                  <a:off x="4993" y="1833"/>
                  <a:ext cx="345" cy="123"/>
                  <a:chOff x="4993" y="1833"/>
                  <a:chExt cx="345" cy="123"/>
                </a:xfrm>
              </p:grpSpPr>
              <p:sp>
                <p:nvSpPr>
                  <p:cNvPr id="251" name="Freeform 199"/>
                  <p:cNvSpPr>
                    <a:spLocks/>
                  </p:cNvSpPr>
                  <p:nvPr/>
                </p:nvSpPr>
                <p:spPr bwMode="auto">
                  <a:xfrm>
                    <a:off x="5140" y="1833"/>
                    <a:ext cx="198" cy="123"/>
                  </a:xfrm>
                  <a:custGeom>
                    <a:avLst/>
                    <a:gdLst>
                      <a:gd name="T0" fmla="*/ 0 w 1188"/>
                      <a:gd name="T1" fmla="*/ 0 h 738"/>
                      <a:gd name="T2" fmla="*/ 0 w 1188"/>
                      <a:gd name="T3" fmla="*/ 0 h 738"/>
                      <a:gd name="T4" fmla="*/ 0 w 1188"/>
                      <a:gd name="T5" fmla="*/ 0 h 738"/>
                      <a:gd name="T6" fmla="*/ 0 w 1188"/>
                      <a:gd name="T7" fmla="*/ 0 h 738"/>
                      <a:gd name="T8" fmla="*/ 0 w 1188"/>
                      <a:gd name="T9" fmla="*/ 0 h 73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88" h="738">
                        <a:moveTo>
                          <a:pt x="0" y="225"/>
                        </a:moveTo>
                        <a:lnTo>
                          <a:pt x="0" y="738"/>
                        </a:lnTo>
                        <a:lnTo>
                          <a:pt x="1188" y="360"/>
                        </a:lnTo>
                        <a:lnTo>
                          <a:pt x="1188" y="0"/>
                        </a:lnTo>
                        <a:lnTo>
                          <a:pt x="0" y="225"/>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2" name="Freeform 200"/>
                  <p:cNvSpPr>
                    <a:spLocks/>
                  </p:cNvSpPr>
                  <p:nvPr/>
                </p:nvSpPr>
                <p:spPr bwMode="auto">
                  <a:xfrm>
                    <a:off x="4993" y="1862"/>
                    <a:ext cx="147" cy="94"/>
                  </a:xfrm>
                  <a:custGeom>
                    <a:avLst/>
                    <a:gdLst>
                      <a:gd name="T0" fmla="*/ 0 w 882"/>
                      <a:gd name="T1" fmla="*/ 0 h 563"/>
                      <a:gd name="T2" fmla="*/ 0 w 882"/>
                      <a:gd name="T3" fmla="*/ 0 h 563"/>
                      <a:gd name="T4" fmla="*/ 0 w 882"/>
                      <a:gd name="T5" fmla="*/ 0 h 563"/>
                      <a:gd name="T6" fmla="*/ 0 w 882"/>
                      <a:gd name="T7" fmla="*/ 0 h 563"/>
                      <a:gd name="T8" fmla="*/ 0 w 882"/>
                      <a:gd name="T9" fmla="*/ 0 h 5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82" h="563">
                        <a:moveTo>
                          <a:pt x="882" y="50"/>
                        </a:moveTo>
                        <a:lnTo>
                          <a:pt x="882" y="563"/>
                        </a:lnTo>
                        <a:lnTo>
                          <a:pt x="0" y="436"/>
                        </a:lnTo>
                        <a:lnTo>
                          <a:pt x="0" y="0"/>
                        </a:lnTo>
                        <a:lnTo>
                          <a:pt x="882" y="5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3" name="Freeform 201"/>
                  <p:cNvSpPr>
                    <a:spLocks/>
                  </p:cNvSpPr>
                  <p:nvPr/>
                </p:nvSpPr>
                <p:spPr bwMode="auto">
                  <a:xfrm>
                    <a:off x="4993" y="1833"/>
                    <a:ext cx="345" cy="38"/>
                  </a:xfrm>
                  <a:custGeom>
                    <a:avLst/>
                    <a:gdLst>
                      <a:gd name="T0" fmla="*/ 0 w 2070"/>
                      <a:gd name="T1" fmla="*/ 0 h 225"/>
                      <a:gd name="T2" fmla="*/ 0 w 2070"/>
                      <a:gd name="T3" fmla="*/ 0 h 225"/>
                      <a:gd name="T4" fmla="*/ 0 w 2070"/>
                      <a:gd name="T5" fmla="*/ 0 h 225"/>
                      <a:gd name="T6" fmla="*/ 0 w 2070"/>
                      <a:gd name="T7" fmla="*/ 0 h 225"/>
                      <a:gd name="T8" fmla="*/ 0 w 2070"/>
                      <a:gd name="T9" fmla="*/ 0 h 2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70" h="225">
                        <a:moveTo>
                          <a:pt x="0" y="175"/>
                        </a:moveTo>
                        <a:lnTo>
                          <a:pt x="892" y="225"/>
                        </a:lnTo>
                        <a:lnTo>
                          <a:pt x="2070" y="0"/>
                        </a:lnTo>
                        <a:lnTo>
                          <a:pt x="1202" y="0"/>
                        </a:lnTo>
                        <a:lnTo>
                          <a:pt x="0" y="175"/>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246" name="Freeform 202"/>
                <p:cNvSpPr>
                  <a:spLocks/>
                </p:cNvSpPr>
                <p:nvPr/>
              </p:nvSpPr>
              <p:spPr bwMode="auto">
                <a:xfrm>
                  <a:off x="5105" y="1823"/>
                  <a:ext cx="126" cy="35"/>
                </a:xfrm>
                <a:custGeom>
                  <a:avLst/>
                  <a:gdLst>
                    <a:gd name="T0" fmla="*/ 0 w 751"/>
                    <a:gd name="T1" fmla="*/ 0 h 210"/>
                    <a:gd name="T2" fmla="*/ 0 w 751"/>
                    <a:gd name="T3" fmla="*/ 0 h 210"/>
                    <a:gd name="T4" fmla="*/ 0 w 751"/>
                    <a:gd name="T5" fmla="*/ 0 h 210"/>
                    <a:gd name="T6" fmla="*/ 0 w 751"/>
                    <a:gd name="T7" fmla="*/ 0 h 210"/>
                    <a:gd name="T8" fmla="*/ 0 w 751"/>
                    <a:gd name="T9" fmla="*/ 0 h 210"/>
                    <a:gd name="T10" fmla="*/ 0 w 751"/>
                    <a:gd name="T11" fmla="*/ 0 h 21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51" h="210">
                      <a:moveTo>
                        <a:pt x="0" y="120"/>
                      </a:moveTo>
                      <a:lnTo>
                        <a:pt x="0" y="188"/>
                      </a:lnTo>
                      <a:lnTo>
                        <a:pt x="351" y="210"/>
                      </a:lnTo>
                      <a:lnTo>
                        <a:pt x="751" y="135"/>
                      </a:lnTo>
                      <a:lnTo>
                        <a:pt x="751" y="0"/>
                      </a:lnTo>
                      <a:lnTo>
                        <a:pt x="0" y="12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47" name="Group 203"/>
                <p:cNvGrpSpPr>
                  <a:grpSpLocks/>
                </p:cNvGrpSpPr>
                <p:nvPr/>
              </p:nvGrpSpPr>
              <p:grpSpPr bwMode="auto">
                <a:xfrm>
                  <a:off x="5020" y="1674"/>
                  <a:ext cx="279" cy="176"/>
                  <a:chOff x="5020" y="1674"/>
                  <a:chExt cx="279" cy="176"/>
                </a:xfrm>
              </p:grpSpPr>
              <p:sp>
                <p:nvSpPr>
                  <p:cNvPr id="248" name="Freeform 204"/>
                  <p:cNvSpPr>
                    <a:spLocks/>
                  </p:cNvSpPr>
                  <p:nvPr/>
                </p:nvSpPr>
                <p:spPr bwMode="auto">
                  <a:xfrm>
                    <a:off x="5139" y="1674"/>
                    <a:ext cx="160" cy="172"/>
                  </a:xfrm>
                  <a:custGeom>
                    <a:avLst/>
                    <a:gdLst>
                      <a:gd name="T0" fmla="*/ 0 w 960"/>
                      <a:gd name="T1" fmla="*/ 0 h 1031"/>
                      <a:gd name="T2" fmla="*/ 0 w 960"/>
                      <a:gd name="T3" fmla="*/ 0 h 1031"/>
                      <a:gd name="T4" fmla="*/ 0 w 960"/>
                      <a:gd name="T5" fmla="*/ 0 h 1031"/>
                      <a:gd name="T6" fmla="*/ 0 w 960"/>
                      <a:gd name="T7" fmla="*/ 0 h 1031"/>
                      <a:gd name="T8" fmla="*/ 0 w 960"/>
                      <a:gd name="T9" fmla="*/ 0 h 103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60" h="1031">
                        <a:moveTo>
                          <a:pt x="135" y="1031"/>
                        </a:moveTo>
                        <a:lnTo>
                          <a:pt x="0" y="33"/>
                        </a:lnTo>
                        <a:lnTo>
                          <a:pt x="827" y="0"/>
                        </a:lnTo>
                        <a:lnTo>
                          <a:pt x="960" y="889"/>
                        </a:lnTo>
                        <a:lnTo>
                          <a:pt x="135" y="1031"/>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9" name="Freeform 205"/>
                  <p:cNvSpPr>
                    <a:spLocks/>
                  </p:cNvSpPr>
                  <p:nvPr/>
                </p:nvSpPr>
                <p:spPr bwMode="auto">
                  <a:xfrm>
                    <a:off x="5020" y="1679"/>
                    <a:ext cx="141" cy="171"/>
                  </a:xfrm>
                  <a:custGeom>
                    <a:avLst/>
                    <a:gdLst>
                      <a:gd name="T0" fmla="*/ 0 w 850"/>
                      <a:gd name="T1" fmla="*/ 0 h 1026"/>
                      <a:gd name="T2" fmla="*/ 0 w 850"/>
                      <a:gd name="T3" fmla="*/ 0 h 1026"/>
                      <a:gd name="T4" fmla="*/ 0 w 850"/>
                      <a:gd name="T5" fmla="*/ 0 h 1026"/>
                      <a:gd name="T6" fmla="*/ 0 w 850"/>
                      <a:gd name="T7" fmla="*/ 0 h 1026"/>
                      <a:gd name="T8" fmla="*/ 0 w 850"/>
                      <a:gd name="T9" fmla="*/ 0 h 10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50" h="1026">
                        <a:moveTo>
                          <a:pt x="715" y="0"/>
                        </a:moveTo>
                        <a:lnTo>
                          <a:pt x="0" y="228"/>
                        </a:lnTo>
                        <a:lnTo>
                          <a:pt x="102" y="1026"/>
                        </a:lnTo>
                        <a:lnTo>
                          <a:pt x="850" y="1000"/>
                        </a:lnTo>
                        <a:lnTo>
                          <a:pt x="715" y="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0" name="Freeform 206"/>
                  <p:cNvSpPr>
                    <a:spLocks/>
                  </p:cNvSpPr>
                  <p:nvPr/>
                </p:nvSpPr>
                <p:spPr bwMode="auto">
                  <a:xfrm>
                    <a:off x="5166" y="1691"/>
                    <a:ext cx="115" cy="129"/>
                  </a:xfrm>
                  <a:custGeom>
                    <a:avLst/>
                    <a:gdLst>
                      <a:gd name="T0" fmla="*/ 0 w 689"/>
                      <a:gd name="T1" fmla="*/ 0 h 778"/>
                      <a:gd name="T2" fmla="*/ 0 w 689"/>
                      <a:gd name="T3" fmla="*/ 0 h 778"/>
                      <a:gd name="T4" fmla="*/ 0 w 689"/>
                      <a:gd name="T5" fmla="*/ 0 h 778"/>
                      <a:gd name="T6" fmla="*/ 0 w 689"/>
                      <a:gd name="T7" fmla="*/ 0 h 778"/>
                      <a:gd name="T8" fmla="*/ 0 w 689"/>
                      <a:gd name="T9" fmla="*/ 0 h 77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9" h="778">
                        <a:moveTo>
                          <a:pt x="0" y="36"/>
                        </a:moveTo>
                        <a:lnTo>
                          <a:pt x="98" y="778"/>
                        </a:lnTo>
                        <a:lnTo>
                          <a:pt x="689" y="689"/>
                        </a:lnTo>
                        <a:lnTo>
                          <a:pt x="587" y="0"/>
                        </a:lnTo>
                        <a:lnTo>
                          <a:pt x="0" y="36"/>
                        </a:lnTo>
                        <a:close/>
                      </a:path>
                    </a:pathLst>
                  </a:custGeom>
                  <a:solidFill>
                    <a:srgbClr val="0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37" name="Group 207"/>
              <p:cNvGrpSpPr>
                <a:grpSpLocks/>
              </p:cNvGrpSpPr>
              <p:nvPr/>
            </p:nvGrpSpPr>
            <p:grpSpPr bwMode="auto">
              <a:xfrm>
                <a:off x="5212" y="1846"/>
                <a:ext cx="113" cy="80"/>
                <a:chOff x="5212" y="1846"/>
                <a:chExt cx="113" cy="80"/>
              </a:xfrm>
            </p:grpSpPr>
            <p:sp>
              <p:nvSpPr>
                <p:cNvPr id="238" name="Freeform 208"/>
                <p:cNvSpPr>
                  <a:spLocks/>
                </p:cNvSpPr>
                <p:nvPr/>
              </p:nvSpPr>
              <p:spPr bwMode="auto">
                <a:xfrm>
                  <a:off x="5212" y="1846"/>
                  <a:ext cx="112" cy="80"/>
                </a:xfrm>
                <a:custGeom>
                  <a:avLst/>
                  <a:gdLst>
                    <a:gd name="T0" fmla="*/ 0 w 674"/>
                    <a:gd name="T1" fmla="*/ 0 h 482"/>
                    <a:gd name="T2" fmla="*/ 0 w 674"/>
                    <a:gd name="T3" fmla="*/ 0 h 482"/>
                    <a:gd name="T4" fmla="*/ 0 w 674"/>
                    <a:gd name="T5" fmla="*/ 0 h 482"/>
                    <a:gd name="T6" fmla="*/ 0 w 674"/>
                    <a:gd name="T7" fmla="*/ 0 h 482"/>
                    <a:gd name="T8" fmla="*/ 0 w 674"/>
                    <a:gd name="T9" fmla="*/ 0 h 48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74" h="482">
                      <a:moveTo>
                        <a:pt x="674" y="0"/>
                      </a:moveTo>
                      <a:lnTo>
                        <a:pt x="0" y="143"/>
                      </a:lnTo>
                      <a:lnTo>
                        <a:pt x="0" y="482"/>
                      </a:lnTo>
                      <a:lnTo>
                        <a:pt x="674" y="271"/>
                      </a:lnTo>
                      <a:lnTo>
                        <a:pt x="674" y="0"/>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9" name="Line 209"/>
                <p:cNvSpPr>
                  <a:spLocks noChangeShapeType="1"/>
                </p:cNvSpPr>
                <p:nvPr/>
              </p:nvSpPr>
              <p:spPr bwMode="auto">
                <a:xfrm flipV="1">
                  <a:off x="5286" y="1866"/>
                  <a:ext cx="30" cy="7"/>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0" name="Line 210"/>
                <p:cNvSpPr>
                  <a:spLocks noChangeShapeType="1"/>
                </p:cNvSpPr>
                <p:nvPr/>
              </p:nvSpPr>
              <p:spPr bwMode="auto">
                <a:xfrm flipH="1">
                  <a:off x="5231" y="1876"/>
                  <a:ext cx="39" cy="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1" name="Line 211"/>
                <p:cNvSpPr>
                  <a:spLocks noChangeShapeType="1"/>
                </p:cNvSpPr>
                <p:nvPr/>
              </p:nvSpPr>
              <p:spPr bwMode="auto">
                <a:xfrm>
                  <a:off x="5277" y="1856"/>
                  <a:ext cx="1" cy="52"/>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2" name="Line 212"/>
                <p:cNvSpPr>
                  <a:spLocks noChangeShapeType="1"/>
                </p:cNvSpPr>
                <p:nvPr/>
              </p:nvSpPr>
              <p:spPr bwMode="auto">
                <a:xfrm>
                  <a:off x="5223" y="1868"/>
                  <a:ext cx="1" cy="57"/>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3" name="Line 213"/>
                <p:cNvSpPr>
                  <a:spLocks noChangeShapeType="1"/>
                </p:cNvSpPr>
                <p:nvPr/>
              </p:nvSpPr>
              <p:spPr bwMode="auto">
                <a:xfrm flipH="1">
                  <a:off x="5223" y="1867"/>
                  <a:ext cx="102" cy="26"/>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4" name="Line 214"/>
                <p:cNvSpPr>
                  <a:spLocks noChangeShapeType="1"/>
                </p:cNvSpPr>
                <p:nvPr/>
              </p:nvSpPr>
              <p:spPr bwMode="auto">
                <a:xfrm flipV="1">
                  <a:off x="5223" y="1860"/>
                  <a:ext cx="102" cy="23"/>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04" name="Group 215"/>
            <p:cNvGrpSpPr>
              <a:grpSpLocks/>
            </p:cNvGrpSpPr>
            <p:nvPr/>
          </p:nvGrpSpPr>
          <p:grpSpPr bwMode="auto">
            <a:xfrm>
              <a:off x="5170" y="1848"/>
              <a:ext cx="270" cy="138"/>
              <a:chOff x="5170" y="1848"/>
              <a:chExt cx="270" cy="138"/>
            </a:xfrm>
          </p:grpSpPr>
          <p:grpSp>
            <p:nvGrpSpPr>
              <p:cNvPr id="205" name="Group 216"/>
              <p:cNvGrpSpPr>
                <a:grpSpLocks/>
              </p:cNvGrpSpPr>
              <p:nvPr/>
            </p:nvGrpSpPr>
            <p:grpSpPr bwMode="auto">
              <a:xfrm>
                <a:off x="5188" y="1923"/>
                <a:ext cx="43" cy="32"/>
                <a:chOff x="5188" y="1923"/>
                <a:chExt cx="43" cy="32"/>
              </a:xfrm>
            </p:grpSpPr>
            <p:sp>
              <p:nvSpPr>
                <p:cNvPr id="234" name="Freeform 217"/>
                <p:cNvSpPr>
                  <a:spLocks/>
                </p:cNvSpPr>
                <p:nvPr/>
              </p:nvSpPr>
              <p:spPr bwMode="auto">
                <a:xfrm>
                  <a:off x="5188" y="1923"/>
                  <a:ext cx="12" cy="32"/>
                </a:xfrm>
                <a:custGeom>
                  <a:avLst/>
                  <a:gdLst>
                    <a:gd name="T0" fmla="*/ 0 w 75"/>
                    <a:gd name="T1" fmla="*/ 0 h 194"/>
                    <a:gd name="T2" fmla="*/ 0 w 75"/>
                    <a:gd name="T3" fmla="*/ 0 h 194"/>
                    <a:gd name="T4" fmla="*/ 0 w 75"/>
                    <a:gd name="T5" fmla="*/ 0 h 194"/>
                    <a:gd name="T6" fmla="*/ 0 w 75"/>
                    <a:gd name="T7" fmla="*/ 0 h 194"/>
                    <a:gd name="T8" fmla="*/ 0 w 75"/>
                    <a:gd name="T9" fmla="*/ 0 h 19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5" h="194">
                      <a:moveTo>
                        <a:pt x="23" y="0"/>
                      </a:moveTo>
                      <a:lnTo>
                        <a:pt x="0" y="183"/>
                      </a:lnTo>
                      <a:lnTo>
                        <a:pt x="55" y="194"/>
                      </a:lnTo>
                      <a:lnTo>
                        <a:pt x="75" y="8"/>
                      </a:lnTo>
                      <a:lnTo>
                        <a:pt x="23"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5" name="Freeform 218"/>
                <p:cNvSpPr>
                  <a:spLocks/>
                </p:cNvSpPr>
                <p:nvPr/>
              </p:nvSpPr>
              <p:spPr bwMode="auto">
                <a:xfrm>
                  <a:off x="5197" y="1927"/>
                  <a:ext cx="34" cy="28"/>
                </a:xfrm>
                <a:custGeom>
                  <a:avLst/>
                  <a:gdLst>
                    <a:gd name="T0" fmla="*/ 0 w 206"/>
                    <a:gd name="T1" fmla="*/ 0 h 168"/>
                    <a:gd name="T2" fmla="*/ 0 w 206"/>
                    <a:gd name="T3" fmla="*/ 0 h 168"/>
                    <a:gd name="T4" fmla="*/ 0 w 206"/>
                    <a:gd name="T5" fmla="*/ 0 h 168"/>
                    <a:gd name="T6" fmla="*/ 0 w 206"/>
                    <a:gd name="T7" fmla="*/ 0 h 168"/>
                    <a:gd name="T8" fmla="*/ 0 w 206"/>
                    <a:gd name="T9" fmla="*/ 0 h 168"/>
                    <a:gd name="T10" fmla="*/ 0 w 206"/>
                    <a:gd name="T11" fmla="*/ 0 h 168"/>
                    <a:gd name="T12" fmla="*/ 0 w 206"/>
                    <a:gd name="T13" fmla="*/ 0 h 16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6" h="168">
                      <a:moveTo>
                        <a:pt x="17" y="5"/>
                      </a:moveTo>
                      <a:lnTo>
                        <a:pt x="0" y="168"/>
                      </a:lnTo>
                      <a:lnTo>
                        <a:pt x="206" y="84"/>
                      </a:lnTo>
                      <a:lnTo>
                        <a:pt x="126" y="58"/>
                      </a:lnTo>
                      <a:lnTo>
                        <a:pt x="52" y="97"/>
                      </a:lnTo>
                      <a:lnTo>
                        <a:pt x="75" y="0"/>
                      </a:lnTo>
                      <a:lnTo>
                        <a:pt x="17" y="5"/>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06" name="Group 219"/>
              <p:cNvGrpSpPr>
                <a:grpSpLocks/>
              </p:cNvGrpSpPr>
              <p:nvPr/>
            </p:nvGrpSpPr>
            <p:grpSpPr bwMode="auto">
              <a:xfrm>
                <a:off x="5170" y="1848"/>
                <a:ext cx="270" cy="138"/>
                <a:chOff x="5170" y="1848"/>
                <a:chExt cx="270" cy="138"/>
              </a:xfrm>
            </p:grpSpPr>
            <p:sp>
              <p:nvSpPr>
                <p:cNvPr id="207" name="Freeform 220"/>
                <p:cNvSpPr>
                  <a:spLocks/>
                </p:cNvSpPr>
                <p:nvPr/>
              </p:nvSpPr>
              <p:spPr bwMode="auto">
                <a:xfrm>
                  <a:off x="5175" y="1848"/>
                  <a:ext cx="264" cy="122"/>
                </a:xfrm>
                <a:custGeom>
                  <a:avLst/>
                  <a:gdLst>
                    <a:gd name="T0" fmla="*/ 0 w 1583"/>
                    <a:gd name="T1" fmla="*/ 0 h 729"/>
                    <a:gd name="T2" fmla="*/ 0 w 1583"/>
                    <a:gd name="T3" fmla="*/ 0 h 729"/>
                    <a:gd name="T4" fmla="*/ 0 w 1583"/>
                    <a:gd name="T5" fmla="*/ 0 h 729"/>
                    <a:gd name="T6" fmla="*/ 0 w 1583"/>
                    <a:gd name="T7" fmla="*/ 0 h 729"/>
                    <a:gd name="T8" fmla="*/ 0 w 1583"/>
                    <a:gd name="T9" fmla="*/ 0 h 7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583" h="729">
                      <a:moveTo>
                        <a:pt x="0" y="309"/>
                      </a:moveTo>
                      <a:lnTo>
                        <a:pt x="759" y="729"/>
                      </a:lnTo>
                      <a:lnTo>
                        <a:pt x="1583" y="318"/>
                      </a:lnTo>
                      <a:lnTo>
                        <a:pt x="951" y="0"/>
                      </a:lnTo>
                      <a:lnTo>
                        <a:pt x="0" y="309"/>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8" name="Freeform 221"/>
                <p:cNvSpPr>
                  <a:spLocks/>
                </p:cNvSpPr>
                <p:nvPr/>
              </p:nvSpPr>
              <p:spPr bwMode="auto">
                <a:xfrm>
                  <a:off x="5170" y="1899"/>
                  <a:ext cx="133" cy="86"/>
                </a:xfrm>
                <a:custGeom>
                  <a:avLst/>
                  <a:gdLst>
                    <a:gd name="T0" fmla="*/ 0 w 792"/>
                    <a:gd name="T1" fmla="*/ 0 h 516"/>
                    <a:gd name="T2" fmla="*/ 0 w 792"/>
                    <a:gd name="T3" fmla="*/ 0 h 516"/>
                    <a:gd name="T4" fmla="*/ 0 w 792"/>
                    <a:gd name="T5" fmla="*/ 0 h 516"/>
                    <a:gd name="T6" fmla="*/ 0 w 792"/>
                    <a:gd name="T7" fmla="*/ 0 h 516"/>
                    <a:gd name="T8" fmla="*/ 0 w 792"/>
                    <a:gd name="T9" fmla="*/ 0 h 51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92" h="516">
                      <a:moveTo>
                        <a:pt x="28" y="0"/>
                      </a:moveTo>
                      <a:lnTo>
                        <a:pt x="792" y="426"/>
                      </a:lnTo>
                      <a:lnTo>
                        <a:pt x="770" y="516"/>
                      </a:lnTo>
                      <a:lnTo>
                        <a:pt x="0" y="82"/>
                      </a:lnTo>
                      <a:lnTo>
                        <a:pt x="28"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9" name="Freeform 222"/>
                <p:cNvSpPr>
                  <a:spLocks/>
                </p:cNvSpPr>
                <p:nvPr/>
              </p:nvSpPr>
              <p:spPr bwMode="auto">
                <a:xfrm>
                  <a:off x="5299" y="1901"/>
                  <a:ext cx="141" cy="85"/>
                </a:xfrm>
                <a:custGeom>
                  <a:avLst/>
                  <a:gdLst>
                    <a:gd name="T0" fmla="*/ 0 w 846"/>
                    <a:gd name="T1" fmla="*/ 0 h 507"/>
                    <a:gd name="T2" fmla="*/ 0 w 846"/>
                    <a:gd name="T3" fmla="*/ 0 h 507"/>
                    <a:gd name="T4" fmla="*/ 0 w 846"/>
                    <a:gd name="T5" fmla="*/ 0 h 507"/>
                    <a:gd name="T6" fmla="*/ 0 w 846"/>
                    <a:gd name="T7" fmla="*/ 0 h 507"/>
                    <a:gd name="T8" fmla="*/ 0 w 846"/>
                    <a:gd name="T9" fmla="*/ 0 h 50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6" h="507">
                      <a:moveTo>
                        <a:pt x="0" y="507"/>
                      </a:moveTo>
                      <a:lnTo>
                        <a:pt x="25" y="411"/>
                      </a:lnTo>
                      <a:lnTo>
                        <a:pt x="846" y="0"/>
                      </a:lnTo>
                      <a:lnTo>
                        <a:pt x="817" y="76"/>
                      </a:lnTo>
                      <a:lnTo>
                        <a:pt x="0" y="507"/>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0" name="Freeform 223"/>
                <p:cNvSpPr>
                  <a:spLocks/>
                </p:cNvSpPr>
                <p:nvPr/>
              </p:nvSpPr>
              <p:spPr bwMode="auto">
                <a:xfrm>
                  <a:off x="5227" y="1905"/>
                  <a:ext cx="106" cy="54"/>
                </a:xfrm>
                <a:custGeom>
                  <a:avLst/>
                  <a:gdLst>
                    <a:gd name="T0" fmla="*/ 0 w 637"/>
                    <a:gd name="T1" fmla="*/ 0 h 321"/>
                    <a:gd name="T2" fmla="*/ 0 w 637"/>
                    <a:gd name="T3" fmla="*/ 0 h 321"/>
                    <a:gd name="T4" fmla="*/ 0 w 637"/>
                    <a:gd name="T5" fmla="*/ 0 h 321"/>
                    <a:gd name="T6" fmla="*/ 0 w 637"/>
                    <a:gd name="T7" fmla="*/ 0 h 321"/>
                    <a:gd name="T8" fmla="*/ 0 w 637"/>
                    <a:gd name="T9" fmla="*/ 0 h 32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7" h="321">
                      <a:moveTo>
                        <a:pt x="0" y="83"/>
                      </a:moveTo>
                      <a:lnTo>
                        <a:pt x="220" y="0"/>
                      </a:lnTo>
                      <a:lnTo>
                        <a:pt x="637" y="224"/>
                      </a:lnTo>
                      <a:lnTo>
                        <a:pt x="425" y="321"/>
                      </a:lnTo>
                      <a:lnTo>
                        <a:pt x="0" y="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1" name="Freeform 224"/>
                <p:cNvSpPr>
                  <a:spLocks/>
                </p:cNvSpPr>
                <p:nvPr/>
              </p:nvSpPr>
              <p:spPr bwMode="auto">
                <a:xfrm>
                  <a:off x="5270" y="1868"/>
                  <a:ext cx="156" cy="72"/>
                </a:xfrm>
                <a:custGeom>
                  <a:avLst/>
                  <a:gdLst>
                    <a:gd name="T0" fmla="*/ 0 w 938"/>
                    <a:gd name="T1" fmla="*/ 0 h 434"/>
                    <a:gd name="T2" fmla="*/ 0 w 938"/>
                    <a:gd name="T3" fmla="*/ 0 h 434"/>
                    <a:gd name="T4" fmla="*/ 0 w 938"/>
                    <a:gd name="T5" fmla="*/ 0 h 434"/>
                    <a:gd name="T6" fmla="*/ 0 w 938"/>
                    <a:gd name="T7" fmla="*/ 0 h 434"/>
                    <a:gd name="T8" fmla="*/ 0 w 938"/>
                    <a:gd name="T9" fmla="*/ 0 h 4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38" h="434">
                      <a:moveTo>
                        <a:pt x="0" y="210"/>
                      </a:moveTo>
                      <a:lnTo>
                        <a:pt x="410" y="434"/>
                      </a:lnTo>
                      <a:lnTo>
                        <a:pt x="938" y="186"/>
                      </a:lnTo>
                      <a:lnTo>
                        <a:pt x="554" y="0"/>
                      </a:lnTo>
                      <a:lnTo>
                        <a:pt x="0" y="21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2" name="Freeform 225"/>
                <p:cNvSpPr>
                  <a:spLocks/>
                </p:cNvSpPr>
                <p:nvPr/>
              </p:nvSpPr>
              <p:spPr bwMode="auto">
                <a:xfrm>
                  <a:off x="5188" y="1852"/>
                  <a:ext cx="172" cy="66"/>
                </a:xfrm>
                <a:custGeom>
                  <a:avLst/>
                  <a:gdLst>
                    <a:gd name="T0" fmla="*/ 0 w 1034"/>
                    <a:gd name="T1" fmla="*/ 0 h 395"/>
                    <a:gd name="T2" fmla="*/ 0 w 1034"/>
                    <a:gd name="T3" fmla="*/ 0 h 395"/>
                    <a:gd name="T4" fmla="*/ 0 w 1034"/>
                    <a:gd name="T5" fmla="*/ 0 h 395"/>
                    <a:gd name="T6" fmla="*/ 0 w 1034"/>
                    <a:gd name="T7" fmla="*/ 0 h 395"/>
                    <a:gd name="T8" fmla="*/ 0 w 1034"/>
                    <a:gd name="T9" fmla="*/ 0 h 39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4" h="395">
                      <a:moveTo>
                        <a:pt x="216" y="395"/>
                      </a:moveTo>
                      <a:lnTo>
                        <a:pt x="0" y="285"/>
                      </a:lnTo>
                      <a:lnTo>
                        <a:pt x="867" y="0"/>
                      </a:lnTo>
                      <a:lnTo>
                        <a:pt x="1034" y="82"/>
                      </a:lnTo>
                      <a:lnTo>
                        <a:pt x="216" y="395"/>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3" name="Line 226"/>
                <p:cNvSpPr>
                  <a:spLocks noChangeShapeType="1"/>
                </p:cNvSpPr>
                <p:nvPr/>
              </p:nvSpPr>
              <p:spPr bwMode="auto">
                <a:xfrm flipV="1">
                  <a:off x="5193" y="1855"/>
                  <a:ext cx="148" cy="51"/>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4" name="Line 227"/>
                <p:cNvSpPr>
                  <a:spLocks noChangeShapeType="1"/>
                </p:cNvSpPr>
                <p:nvPr/>
              </p:nvSpPr>
              <p:spPr bwMode="auto">
                <a:xfrm flipV="1">
                  <a:off x="5205" y="1858"/>
                  <a:ext cx="14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5" name="Line 228"/>
                <p:cNvSpPr>
                  <a:spLocks noChangeShapeType="1"/>
                </p:cNvSpPr>
                <p:nvPr/>
              </p:nvSpPr>
              <p:spPr bwMode="auto">
                <a:xfrm flipV="1">
                  <a:off x="5214" y="1862"/>
                  <a:ext cx="141" cy="5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6" name="Line 229"/>
                <p:cNvSpPr>
                  <a:spLocks noChangeShapeType="1"/>
                </p:cNvSpPr>
                <p:nvPr/>
              </p:nvSpPr>
              <p:spPr bwMode="auto">
                <a:xfrm flipV="1">
                  <a:off x="5235" y="1871"/>
                  <a:ext cx="138" cy="5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7" name="Line 230"/>
                <p:cNvSpPr>
                  <a:spLocks noChangeShapeType="1"/>
                </p:cNvSpPr>
                <p:nvPr/>
              </p:nvSpPr>
              <p:spPr bwMode="auto">
                <a:xfrm flipV="1">
                  <a:off x="5246" y="1877"/>
                  <a:ext cx="137" cy="5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8" name="Line 231"/>
                <p:cNvSpPr>
                  <a:spLocks noChangeShapeType="1"/>
                </p:cNvSpPr>
                <p:nvPr/>
              </p:nvSpPr>
              <p:spPr bwMode="auto">
                <a:xfrm flipV="1">
                  <a:off x="5261" y="1885"/>
                  <a:ext cx="124"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9" name="Line 232"/>
                <p:cNvSpPr>
                  <a:spLocks noChangeShapeType="1"/>
                </p:cNvSpPr>
                <p:nvPr/>
              </p:nvSpPr>
              <p:spPr bwMode="auto">
                <a:xfrm flipV="1">
                  <a:off x="5274" y="1890"/>
                  <a:ext cx="119"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0" name="Line 233"/>
                <p:cNvSpPr>
                  <a:spLocks noChangeShapeType="1"/>
                </p:cNvSpPr>
                <p:nvPr/>
              </p:nvSpPr>
              <p:spPr bwMode="auto">
                <a:xfrm flipV="1">
                  <a:off x="5291" y="1897"/>
                  <a:ext cx="11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1" name="Line 234"/>
                <p:cNvSpPr>
                  <a:spLocks noChangeShapeType="1"/>
                </p:cNvSpPr>
                <p:nvPr/>
              </p:nvSpPr>
              <p:spPr bwMode="auto">
                <a:xfrm>
                  <a:off x="5239" y="1915"/>
                  <a:ext cx="71" cy="40"/>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2" name="Line 235"/>
                <p:cNvSpPr>
                  <a:spLocks noChangeShapeType="1"/>
                </p:cNvSpPr>
                <p:nvPr/>
              </p:nvSpPr>
              <p:spPr bwMode="auto">
                <a:xfrm>
                  <a:off x="5255" y="1910"/>
                  <a:ext cx="69" cy="3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3" name="Line 236"/>
                <p:cNvSpPr>
                  <a:spLocks noChangeShapeType="1"/>
                </p:cNvSpPr>
                <p:nvPr/>
              </p:nvSpPr>
              <p:spPr bwMode="auto">
                <a:xfrm>
                  <a:off x="5285" y="1897"/>
                  <a:ext cx="68" cy="3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4" name="Line 237"/>
                <p:cNvSpPr>
                  <a:spLocks noChangeShapeType="1"/>
                </p:cNvSpPr>
                <p:nvPr/>
              </p:nvSpPr>
              <p:spPr bwMode="auto">
                <a:xfrm>
                  <a:off x="5301" y="1891"/>
                  <a:ext cx="67"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5" name="Line 238"/>
                <p:cNvSpPr>
                  <a:spLocks noChangeShapeType="1"/>
                </p:cNvSpPr>
                <p:nvPr/>
              </p:nvSpPr>
              <p:spPr bwMode="auto">
                <a:xfrm>
                  <a:off x="5318" y="1886"/>
                  <a:ext cx="65"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6" name="Line 239"/>
                <p:cNvSpPr>
                  <a:spLocks noChangeShapeType="1"/>
                </p:cNvSpPr>
                <p:nvPr/>
              </p:nvSpPr>
              <p:spPr bwMode="auto">
                <a:xfrm>
                  <a:off x="5332" y="1880"/>
                  <a:ext cx="64" cy="3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7" name="Line 240"/>
                <p:cNvSpPr>
                  <a:spLocks noChangeShapeType="1"/>
                </p:cNvSpPr>
                <p:nvPr/>
              </p:nvSpPr>
              <p:spPr bwMode="auto">
                <a:xfrm>
                  <a:off x="5346" y="1874"/>
                  <a:ext cx="64" cy="3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8" name="Line 241"/>
                <p:cNvSpPr>
                  <a:spLocks noChangeShapeType="1"/>
                </p:cNvSpPr>
                <p:nvPr/>
              </p:nvSpPr>
              <p:spPr bwMode="auto">
                <a:xfrm>
                  <a:off x="5209" y="1892"/>
                  <a:ext cx="35" cy="1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9" name="Line 242"/>
                <p:cNvSpPr>
                  <a:spLocks noChangeShapeType="1"/>
                </p:cNvSpPr>
                <p:nvPr/>
              </p:nvSpPr>
              <p:spPr bwMode="auto">
                <a:xfrm>
                  <a:off x="5232" y="1885"/>
                  <a:ext cx="32"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0" name="Line 243"/>
                <p:cNvSpPr>
                  <a:spLocks noChangeShapeType="1"/>
                </p:cNvSpPr>
                <p:nvPr/>
              </p:nvSpPr>
              <p:spPr bwMode="auto">
                <a:xfrm>
                  <a:off x="5252" y="1879"/>
                  <a:ext cx="33"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1" name="Line 244"/>
                <p:cNvSpPr>
                  <a:spLocks noChangeShapeType="1"/>
                </p:cNvSpPr>
                <p:nvPr/>
              </p:nvSpPr>
              <p:spPr bwMode="auto">
                <a:xfrm>
                  <a:off x="5272" y="1872"/>
                  <a:ext cx="32"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2" name="Line 245"/>
                <p:cNvSpPr>
                  <a:spLocks noChangeShapeType="1"/>
                </p:cNvSpPr>
                <p:nvPr/>
              </p:nvSpPr>
              <p:spPr bwMode="auto">
                <a:xfrm>
                  <a:off x="5292" y="1865"/>
                  <a:ext cx="31" cy="1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3" name="Line 246"/>
                <p:cNvSpPr>
                  <a:spLocks noChangeShapeType="1"/>
                </p:cNvSpPr>
                <p:nvPr/>
              </p:nvSpPr>
              <p:spPr bwMode="auto">
                <a:xfrm>
                  <a:off x="5315" y="1858"/>
                  <a:ext cx="29"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261" name="Group 254"/>
          <p:cNvGrpSpPr>
            <a:grpSpLocks/>
          </p:cNvGrpSpPr>
          <p:nvPr/>
        </p:nvGrpSpPr>
        <p:grpSpPr bwMode="auto">
          <a:xfrm>
            <a:off x="7012736" y="3240629"/>
            <a:ext cx="144954" cy="73406"/>
            <a:chOff x="5325" y="1860"/>
            <a:chExt cx="144" cy="79"/>
          </a:xfrm>
        </p:grpSpPr>
        <p:grpSp>
          <p:nvGrpSpPr>
            <p:cNvPr id="262" name="Group 255"/>
            <p:cNvGrpSpPr>
              <a:grpSpLocks/>
            </p:cNvGrpSpPr>
            <p:nvPr/>
          </p:nvGrpSpPr>
          <p:grpSpPr bwMode="auto">
            <a:xfrm>
              <a:off x="5325" y="1860"/>
              <a:ext cx="125" cy="63"/>
              <a:chOff x="5325" y="1860"/>
              <a:chExt cx="125" cy="63"/>
            </a:xfrm>
          </p:grpSpPr>
          <p:sp>
            <p:nvSpPr>
              <p:cNvPr id="266" name="Freeform 256"/>
              <p:cNvSpPr>
                <a:spLocks/>
              </p:cNvSpPr>
              <p:nvPr/>
            </p:nvSpPr>
            <p:spPr bwMode="auto">
              <a:xfrm>
                <a:off x="5325" y="1860"/>
                <a:ext cx="125" cy="63"/>
              </a:xfrm>
              <a:custGeom>
                <a:avLst/>
                <a:gdLst>
                  <a:gd name="T0" fmla="*/ 0 w 751"/>
                  <a:gd name="T1" fmla="*/ 0 h 379"/>
                  <a:gd name="T2" fmla="*/ 0 w 751"/>
                  <a:gd name="T3" fmla="*/ 0 h 379"/>
                  <a:gd name="T4" fmla="*/ 0 w 751"/>
                  <a:gd name="T5" fmla="*/ 0 h 379"/>
                  <a:gd name="T6" fmla="*/ 0 w 751"/>
                  <a:gd name="T7" fmla="*/ 0 h 379"/>
                  <a:gd name="T8" fmla="*/ 0 w 751"/>
                  <a:gd name="T9" fmla="*/ 0 h 379"/>
                  <a:gd name="T10" fmla="*/ 0 w 751"/>
                  <a:gd name="T11" fmla="*/ 0 h 379"/>
                  <a:gd name="T12" fmla="*/ 0 w 751"/>
                  <a:gd name="T13" fmla="*/ 0 h 379"/>
                  <a:gd name="T14" fmla="*/ 0 w 751"/>
                  <a:gd name="T15" fmla="*/ 0 h 379"/>
                  <a:gd name="T16" fmla="*/ 0 w 751"/>
                  <a:gd name="T17" fmla="*/ 0 h 379"/>
                  <a:gd name="T18" fmla="*/ 0 w 751"/>
                  <a:gd name="T19" fmla="*/ 0 h 379"/>
                  <a:gd name="T20" fmla="*/ 0 w 751"/>
                  <a:gd name="T21" fmla="*/ 0 h 379"/>
                  <a:gd name="T22" fmla="*/ 0 w 751"/>
                  <a:gd name="T23" fmla="*/ 0 h 379"/>
                  <a:gd name="T24" fmla="*/ 0 w 751"/>
                  <a:gd name="T25" fmla="*/ 0 h 379"/>
                  <a:gd name="T26" fmla="*/ 0 w 751"/>
                  <a:gd name="T27" fmla="*/ 0 h 379"/>
                  <a:gd name="T28" fmla="*/ 0 w 751"/>
                  <a:gd name="T29" fmla="*/ 0 h 379"/>
                  <a:gd name="T30" fmla="*/ 0 w 751"/>
                  <a:gd name="T31" fmla="*/ 0 h 379"/>
                  <a:gd name="T32" fmla="*/ 0 w 751"/>
                  <a:gd name="T33" fmla="*/ 0 h 379"/>
                  <a:gd name="T34" fmla="*/ 0 w 751"/>
                  <a:gd name="T35" fmla="*/ 0 h 379"/>
                  <a:gd name="T36" fmla="*/ 0 w 751"/>
                  <a:gd name="T37" fmla="*/ 0 h 379"/>
                  <a:gd name="T38" fmla="*/ 0 w 751"/>
                  <a:gd name="T39" fmla="*/ 0 h 379"/>
                  <a:gd name="T40" fmla="*/ 0 w 751"/>
                  <a:gd name="T41" fmla="*/ 0 h 379"/>
                  <a:gd name="T42" fmla="*/ 0 w 751"/>
                  <a:gd name="T43" fmla="*/ 0 h 379"/>
                  <a:gd name="T44" fmla="*/ 0 w 751"/>
                  <a:gd name="T45" fmla="*/ 0 h 379"/>
                  <a:gd name="T46" fmla="*/ 0 w 751"/>
                  <a:gd name="T47" fmla="*/ 0 h 379"/>
                  <a:gd name="T48" fmla="*/ 0 w 751"/>
                  <a:gd name="T49" fmla="*/ 0 h 379"/>
                  <a:gd name="T50" fmla="*/ 0 w 751"/>
                  <a:gd name="T51" fmla="*/ 0 h 379"/>
                  <a:gd name="T52" fmla="*/ 0 w 751"/>
                  <a:gd name="T53" fmla="*/ 0 h 379"/>
                  <a:gd name="T54" fmla="*/ 0 w 751"/>
                  <a:gd name="T55" fmla="*/ 0 h 379"/>
                  <a:gd name="T56" fmla="*/ 0 w 751"/>
                  <a:gd name="T57" fmla="*/ 0 h 379"/>
                  <a:gd name="T58" fmla="*/ 0 w 751"/>
                  <a:gd name="T59" fmla="*/ 0 h 379"/>
                  <a:gd name="T60" fmla="*/ 0 w 751"/>
                  <a:gd name="T61" fmla="*/ 0 h 379"/>
                  <a:gd name="T62" fmla="*/ 0 w 751"/>
                  <a:gd name="T63" fmla="*/ 0 h 379"/>
                  <a:gd name="T64" fmla="*/ 0 w 751"/>
                  <a:gd name="T65" fmla="*/ 0 h 379"/>
                  <a:gd name="T66" fmla="*/ 0 w 751"/>
                  <a:gd name="T67" fmla="*/ 0 h 379"/>
                  <a:gd name="T68" fmla="*/ 0 w 751"/>
                  <a:gd name="T69" fmla="*/ 0 h 379"/>
                  <a:gd name="T70" fmla="*/ 0 w 751"/>
                  <a:gd name="T71" fmla="*/ 0 h 379"/>
                  <a:gd name="T72" fmla="*/ 0 w 751"/>
                  <a:gd name="T73" fmla="*/ 0 h 379"/>
                  <a:gd name="T74" fmla="*/ 0 w 751"/>
                  <a:gd name="T75" fmla="*/ 0 h 379"/>
                  <a:gd name="T76" fmla="*/ 0 w 751"/>
                  <a:gd name="T77" fmla="*/ 0 h 379"/>
                  <a:gd name="T78" fmla="*/ 0 w 751"/>
                  <a:gd name="T79" fmla="*/ 0 h 379"/>
                  <a:gd name="T80" fmla="*/ 0 w 751"/>
                  <a:gd name="T81" fmla="*/ 0 h 379"/>
                  <a:gd name="T82" fmla="*/ 0 w 751"/>
                  <a:gd name="T83" fmla="*/ 0 h 379"/>
                  <a:gd name="T84" fmla="*/ 0 w 751"/>
                  <a:gd name="T85" fmla="*/ 0 h 379"/>
                  <a:gd name="T86" fmla="*/ 0 w 751"/>
                  <a:gd name="T87" fmla="*/ 0 h 379"/>
                  <a:gd name="T88" fmla="*/ 0 w 751"/>
                  <a:gd name="T89" fmla="*/ 0 h 379"/>
                  <a:gd name="T90" fmla="*/ 0 w 751"/>
                  <a:gd name="T91" fmla="*/ 0 h 379"/>
                  <a:gd name="T92" fmla="*/ 0 w 751"/>
                  <a:gd name="T93" fmla="*/ 0 h 379"/>
                  <a:gd name="T94" fmla="*/ 0 w 751"/>
                  <a:gd name="T95" fmla="*/ 0 h 379"/>
                  <a:gd name="T96" fmla="*/ 0 w 751"/>
                  <a:gd name="T97" fmla="*/ 0 h 379"/>
                  <a:gd name="T98" fmla="*/ 0 w 751"/>
                  <a:gd name="T99" fmla="*/ 0 h 379"/>
                  <a:gd name="T100" fmla="*/ 0 w 751"/>
                  <a:gd name="T101" fmla="*/ 0 h 379"/>
                  <a:gd name="T102" fmla="*/ 0 w 751"/>
                  <a:gd name="T103" fmla="*/ 0 h 379"/>
                  <a:gd name="T104" fmla="*/ 0 w 751"/>
                  <a:gd name="T105" fmla="*/ 0 h 379"/>
                  <a:gd name="T106" fmla="*/ 0 w 751"/>
                  <a:gd name="T107" fmla="*/ 0 h 379"/>
                  <a:gd name="T108" fmla="*/ 0 w 751"/>
                  <a:gd name="T109" fmla="*/ 0 h 379"/>
                  <a:gd name="T110" fmla="*/ 0 w 751"/>
                  <a:gd name="T111" fmla="*/ 0 h 379"/>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751" h="379">
                    <a:moveTo>
                      <a:pt x="679" y="379"/>
                    </a:moveTo>
                    <a:lnTo>
                      <a:pt x="639" y="370"/>
                    </a:lnTo>
                    <a:lnTo>
                      <a:pt x="600" y="352"/>
                    </a:lnTo>
                    <a:lnTo>
                      <a:pt x="564" y="344"/>
                    </a:lnTo>
                    <a:lnTo>
                      <a:pt x="502" y="353"/>
                    </a:lnTo>
                    <a:lnTo>
                      <a:pt x="457" y="352"/>
                    </a:lnTo>
                    <a:lnTo>
                      <a:pt x="425" y="341"/>
                    </a:lnTo>
                    <a:lnTo>
                      <a:pt x="399" y="332"/>
                    </a:lnTo>
                    <a:lnTo>
                      <a:pt x="373" y="320"/>
                    </a:lnTo>
                    <a:lnTo>
                      <a:pt x="346" y="295"/>
                    </a:lnTo>
                    <a:lnTo>
                      <a:pt x="324" y="273"/>
                    </a:lnTo>
                    <a:lnTo>
                      <a:pt x="288" y="246"/>
                    </a:lnTo>
                    <a:lnTo>
                      <a:pt x="238" y="254"/>
                    </a:lnTo>
                    <a:lnTo>
                      <a:pt x="208" y="256"/>
                    </a:lnTo>
                    <a:lnTo>
                      <a:pt x="190" y="251"/>
                    </a:lnTo>
                    <a:lnTo>
                      <a:pt x="182" y="243"/>
                    </a:lnTo>
                    <a:lnTo>
                      <a:pt x="176" y="228"/>
                    </a:lnTo>
                    <a:lnTo>
                      <a:pt x="180" y="215"/>
                    </a:lnTo>
                    <a:lnTo>
                      <a:pt x="190" y="200"/>
                    </a:lnTo>
                    <a:lnTo>
                      <a:pt x="208" y="193"/>
                    </a:lnTo>
                    <a:lnTo>
                      <a:pt x="248" y="188"/>
                    </a:lnTo>
                    <a:lnTo>
                      <a:pt x="296" y="171"/>
                    </a:lnTo>
                    <a:lnTo>
                      <a:pt x="256" y="140"/>
                    </a:lnTo>
                    <a:lnTo>
                      <a:pt x="209" y="121"/>
                    </a:lnTo>
                    <a:lnTo>
                      <a:pt x="168" y="124"/>
                    </a:lnTo>
                    <a:lnTo>
                      <a:pt x="121" y="121"/>
                    </a:lnTo>
                    <a:lnTo>
                      <a:pt x="93" y="131"/>
                    </a:lnTo>
                    <a:lnTo>
                      <a:pt x="54" y="132"/>
                    </a:lnTo>
                    <a:lnTo>
                      <a:pt x="42" y="121"/>
                    </a:lnTo>
                    <a:lnTo>
                      <a:pt x="39" y="105"/>
                    </a:lnTo>
                    <a:lnTo>
                      <a:pt x="18" y="106"/>
                    </a:lnTo>
                    <a:lnTo>
                      <a:pt x="6" y="103"/>
                    </a:lnTo>
                    <a:lnTo>
                      <a:pt x="0" y="87"/>
                    </a:lnTo>
                    <a:lnTo>
                      <a:pt x="4" y="74"/>
                    </a:lnTo>
                    <a:lnTo>
                      <a:pt x="15" y="68"/>
                    </a:lnTo>
                    <a:lnTo>
                      <a:pt x="36" y="56"/>
                    </a:lnTo>
                    <a:lnTo>
                      <a:pt x="52" y="44"/>
                    </a:lnTo>
                    <a:lnTo>
                      <a:pt x="71" y="34"/>
                    </a:lnTo>
                    <a:lnTo>
                      <a:pt x="93" y="27"/>
                    </a:lnTo>
                    <a:lnTo>
                      <a:pt x="112" y="27"/>
                    </a:lnTo>
                    <a:lnTo>
                      <a:pt x="203" y="9"/>
                    </a:lnTo>
                    <a:lnTo>
                      <a:pt x="222" y="4"/>
                    </a:lnTo>
                    <a:lnTo>
                      <a:pt x="244" y="0"/>
                    </a:lnTo>
                    <a:lnTo>
                      <a:pt x="267" y="4"/>
                    </a:lnTo>
                    <a:lnTo>
                      <a:pt x="295" y="13"/>
                    </a:lnTo>
                    <a:lnTo>
                      <a:pt x="373" y="56"/>
                    </a:lnTo>
                    <a:lnTo>
                      <a:pt x="410" y="64"/>
                    </a:lnTo>
                    <a:lnTo>
                      <a:pt x="443" y="71"/>
                    </a:lnTo>
                    <a:lnTo>
                      <a:pt x="469" y="87"/>
                    </a:lnTo>
                    <a:lnTo>
                      <a:pt x="484" y="108"/>
                    </a:lnTo>
                    <a:lnTo>
                      <a:pt x="549" y="153"/>
                    </a:lnTo>
                    <a:lnTo>
                      <a:pt x="578" y="174"/>
                    </a:lnTo>
                    <a:lnTo>
                      <a:pt x="617" y="215"/>
                    </a:lnTo>
                    <a:lnTo>
                      <a:pt x="641" y="227"/>
                    </a:lnTo>
                    <a:lnTo>
                      <a:pt x="751" y="232"/>
                    </a:lnTo>
                    <a:lnTo>
                      <a:pt x="679" y="379"/>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7" name="Freeform 257"/>
              <p:cNvSpPr>
                <a:spLocks/>
              </p:cNvSpPr>
              <p:nvPr/>
            </p:nvSpPr>
            <p:spPr bwMode="auto">
              <a:xfrm>
                <a:off x="5374" y="1888"/>
                <a:ext cx="29" cy="7"/>
              </a:xfrm>
              <a:custGeom>
                <a:avLst/>
                <a:gdLst>
                  <a:gd name="T0" fmla="*/ 0 w 179"/>
                  <a:gd name="T1" fmla="*/ 0 h 43"/>
                  <a:gd name="T2" fmla="*/ 0 w 179"/>
                  <a:gd name="T3" fmla="*/ 0 h 43"/>
                  <a:gd name="T4" fmla="*/ 0 w 179"/>
                  <a:gd name="T5" fmla="*/ 0 h 43"/>
                  <a:gd name="T6" fmla="*/ 0 w 179"/>
                  <a:gd name="T7" fmla="*/ 0 h 43"/>
                  <a:gd name="T8" fmla="*/ 0 w 179"/>
                  <a:gd name="T9" fmla="*/ 0 h 43"/>
                  <a:gd name="T10" fmla="*/ 0 w 179"/>
                  <a:gd name="T11" fmla="*/ 0 h 43"/>
                  <a:gd name="T12" fmla="*/ 0 w 179"/>
                  <a:gd name="T13" fmla="*/ 0 h 43"/>
                  <a:gd name="T14" fmla="*/ 0 w 179"/>
                  <a:gd name="T15" fmla="*/ 0 h 43"/>
                  <a:gd name="T16" fmla="*/ 0 w 179"/>
                  <a:gd name="T17" fmla="*/ 0 h 43"/>
                  <a:gd name="T18" fmla="*/ 0 w 179"/>
                  <a:gd name="T19" fmla="*/ 0 h 43"/>
                  <a:gd name="T20" fmla="*/ 0 w 179"/>
                  <a:gd name="T21" fmla="*/ 0 h 43"/>
                  <a:gd name="T22" fmla="*/ 0 w 179"/>
                  <a:gd name="T23" fmla="*/ 0 h 43"/>
                  <a:gd name="T24" fmla="*/ 0 w 179"/>
                  <a:gd name="T25" fmla="*/ 0 h 43"/>
                  <a:gd name="T26" fmla="*/ 0 w 179"/>
                  <a:gd name="T27" fmla="*/ 0 h 43"/>
                  <a:gd name="T28" fmla="*/ 0 w 179"/>
                  <a:gd name="T29" fmla="*/ 0 h 4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79" h="43">
                    <a:moveTo>
                      <a:pt x="0" y="0"/>
                    </a:moveTo>
                    <a:lnTo>
                      <a:pt x="6" y="11"/>
                    </a:lnTo>
                    <a:lnTo>
                      <a:pt x="38" y="10"/>
                    </a:lnTo>
                    <a:lnTo>
                      <a:pt x="50" y="16"/>
                    </a:lnTo>
                    <a:lnTo>
                      <a:pt x="76" y="29"/>
                    </a:lnTo>
                    <a:lnTo>
                      <a:pt x="112" y="37"/>
                    </a:lnTo>
                    <a:lnTo>
                      <a:pt x="150" y="38"/>
                    </a:lnTo>
                    <a:lnTo>
                      <a:pt x="179" y="43"/>
                    </a:lnTo>
                    <a:lnTo>
                      <a:pt x="155" y="34"/>
                    </a:lnTo>
                    <a:lnTo>
                      <a:pt x="125" y="29"/>
                    </a:lnTo>
                    <a:lnTo>
                      <a:pt x="105" y="29"/>
                    </a:lnTo>
                    <a:lnTo>
                      <a:pt x="76" y="21"/>
                    </a:lnTo>
                    <a:lnTo>
                      <a:pt x="53" y="8"/>
                    </a:lnTo>
                    <a:lnTo>
                      <a:pt x="43" y="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8" name="Freeform 258"/>
              <p:cNvSpPr>
                <a:spLocks/>
              </p:cNvSpPr>
              <p:nvPr/>
            </p:nvSpPr>
            <p:spPr bwMode="auto">
              <a:xfrm>
                <a:off x="5362" y="1894"/>
                <a:ext cx="4" cy="4"/>
              </a:xfrm>
              <a:custGeom>
                <a:avLst/>
                <a:gdLst>
                  <a:gd name="T0" fmla="*/ 0 w 20"/>
                  <a:gd name="T1" fmla="*/ 0 h 24"/>
                  <a:gd name="T2" fmla="*/ 0 w 20"/>
                  <a:gd name="T3" fmla="*/ 0 h 24"/>
                  <a:gd name="T4" fmla="*/ 0 w 20"/>
                  <a:gd name="T5" fmla="*/ 0 h 24"/>
                  <a:gd name="T6" fmla="*/ 0 w 20"/>
                  <a:gd name="T7" fmla="*/ 0 h 24"/>
                  <a:gd name="T8" fmla="*/ 0 w 20"/>
                  <a:gd name="T9" fmla="*/ 0 h 24"/>
                  <a:gd name="T10" fmla="*/ 0 w 20"/>
                  <a:gd name="T11" fmla="*/ 0 h 24"/>
                  <a:gd name="T12" fmla="*/ 0 w 20"/>
                  <a:gd name="T13" fmla="*/ 0 h 2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24">
                    <a:moveTo>
                      <a:pt x="4" y="0"/>
                    </a:moveTo>
                    <a:lnTo>
                      <a:pt x="12" y="6"/>
                    </a:lnTo>
                    <a:lnTo>
                      <a:pt x="9" y="15"/>
                    </a:lnTo>
                    <a:lnTo>
                      <a:pt x="0" y="24"/>
                    </a:lnTo>
                    <a:lnTo>
                      <a:pt x="17" y="18"/>
                    </a:lnTo>
                    <a:lnTo>
                      <a:pt x="20" y="8"/>
                    </a:lnTo>
                    <a:lnTo>
                      <a:pt x="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9" name="Freeform 259"/>
              <p:cNvSpPr>
                <a:spLocks/>
              </p:cNvSpPr>
              <p:nvPr/>
            </p:nvSpPr>
            <p:spPr bwMode="auto">
              <a:xfrm>
                <a:off x="5331" y="1869"/>
                <a:ext cx="17" cy="8"/>
              </a:xfrm>
              <a:custGeom>
                <a:avLst/>
                <a:gdLst>
                  <a:gd name="T0" fmla="*/ 0 w 104"/>
                  <a:gd name="T1" fmla="*/ 0 h 48"/>
                  <a:gd name="T2" fmla="*/ 0 w 104"/>
                  <a:gd name="T3" fmla="*/ 0 h 48"/>
                  <a:gd name="T4" fmla="*/ 0 w 104"/>
                  <a:gd name="T5" fmla="*/ 0 h 48"/>
                  <a:gd name="T6" fmla="*/ 0 w 104"/>
                  <a:gd name="T7" fmla="*/ 0 h 48"/>
                  <a:gd name="T8" fmla="*/ 0 w 104"/>
                  <a:gd name="T9" fmla="*/ 0 h 48"/>
                  <a:gd name="T10" fmla="*/ 0 w 104"/>
                  <a:gd name="T11" fmla="*/ 0 h 48"/>
                  <a:gd name="T12" fmla="*/ 0 w 104"/>
                  <a:gd name="T13" fmla="*/ 0 h 48"/>
                  <a:gd name="T14" fmla="*/ 0 w 104"/>
                  <a:gd name="T15" fmla="*/ 0 h 48"/>
                  <a:gd name="T16" fmla="*/ 0 w 104"/>
                  <a:gd name="T17" fmla="*/ 0 h 48"/>
                  <a:gd name="T18" fmla="*/ 0 w 104"/>
                  <a:gd name="T19" fmla="*/ 0 h 48"/>
                  <a:gd name="T20" fmla="*/ 0 w 104"/>
                  <a:gd name="T21" fmla="*/ 0 h 48"/>
                  <a:gd name="T22" fmla="*/ 0 w 104"/>
                  <a:gd name="T23" fmla="*/ 0 h 48"/>
                  <a:gd name="T24" fmla="*/ 0 w 104"/>
                  <a:gd name="T25" fmla="*/ 0 h 48"/>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4" h="48">
                    <a:moveTo>
                      <a:pt x="0" y="45"/>
                    </a:moveTo>
                    <a:lnTo>
                      <a:pt x="11" y="48"/>
                    </a:lnTo>
                    <a:lnTo>
                      <a:pt x="25" y="33"/>
                    </a:lnTo>
                    <a:lnTo>
                      <a:pt x="46" y="25"/>
                    </a:lnTo>
                    <a:lnTo>
                      <a:pt x="56" y="14"/>
                    </a:lnTo>
                    <a:lnTo>
                      <a:pt x="66" y="9"/>
                    </a:lnTo>
                    <a:lnTo>
                      <a:pt x="89" y="4"/>
                    </a:lnTo>
                    <a:lnTo>
                      <a:pt x="104" y="1"/>
                    </a:lnTo>
                    <a:lnTo>
                      <a:pt x="84" y="0"/>
                    </a:lnTo>
                    <a:lnTo>
                      <a:pt x="58" y="4"/>
                    </a:lnTo>
                    <a:lnTo>
                      <a:pt x="49" y="12"/>
                    </a:lnTo>
                    <a:lnTo>
                      <a:pt x="37" y="20"/>
                    </a:lnTo>
                    <a:lnTo>
                      <a:pt x="0" y="4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0" name="Freeform 260"/>
              <p:cNvSpPr>
                <a:spLocks/>
              </p:cNvSpPr>
              <p:nvPr/>
            </p:nvSpPr>
            <p:spPr bwMode="auto">
              <a:xfrm>
                <a:off x="5357" y="1866"/>
                <a:ext cx="27" cy="7"/>
              </a:xfrm>
              <a:custGeom>
                <a:avLst/>
                <a:gdLst>
                  <a:gd name="T0" fmla="*/ 0 w 166"/>
                  <a:gd name="T1" fmla="*/ 0 h 42"/>
                  <a:gd name="T2" fmla="*/ 0 w 166"/>
                  <a:gd name="T3" fmla="*/ 0 h 42"/>
                  <a:gd name="T4" fmla="*/ 0 w 166"/>
                  <a:gd name="T5" fmla="*/ 0 h 42"/>
                  <a:gd name="T6" fmla="*/ 0 w 166"/>
                  <a:gd name="T7" fmla="*/ 0 h 42"/>
                  <a:gd name="T8" fmla="*/ 0 w 166"/>
                  <a:gd name="T9" fmla="*/ 0 h 42"/>
                  <a:gd name="T10" fmla="*/ 0 w 166"/>
                  <a:gd name="T11" fmla="*/ 0 h 42"/>
                  <a:gd name="T12" fmla="*/ 0 w 166"/>
                  <a:gd name="T13" fmla="*/ 0 h 42"/>
                  <a:gd name="T14" fmla="*/ 0 w 166"/>
                  <a:gd name="T15" fmla="*/ 0 h 42"/>
                  <a:gd name="T16" fmla="*/ 0 w 166"/>
                  <a:gd name="T17" fmla="*/ 0 h 42"/>
                  <a:gd name="T18" fmla="*/ 0 w 166"/>
                  <a:gd name="T19" fmla="*/ 0 h 42"/>
                  <a:gd name="T20" fmla="*/ 0 w 166"/>
                  <a:gd name="T21" fmla="*/ 0 h 42"/>
                  <a:gd name="T22" fmla="*/ 0 w 166"/>
                  <a:gd name="T23" fmla="*/ 0 h 42"/>
                  <a:gd name="T24" fmla="*/ 0 w 166"/>
                  <a:gd name="T25" fmla="*/ 0 h 42"/>
                  <a:gd name="T26" fmla="*/ 0 w 166"/>
                  <a:gd name="T27" fmla="*/ 0 h 42"/>
                  <a:gd name="T28" fmla="*/ 0 w 166"/>
                  <a:gd name="T29" fmla="*/ 0 h 42"/>
                  <a:gd name="T30" fmla="*/ 0 w 166"/>
                  <a:gd name="T31" fmla="*/ 0 h 4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66" h="42">
                    <a:moveTo>
                      <a:pt x="0" y="10"/>
                    </a:moveTo>
                    <a:lnTo>
                      <a:pt x="35" y="6"/>
                    </a:lnTo>
                    <a:lnTo>
                      <a:pt x="55" y="0"/>
                    </a:lnTo>
                    <a:lnTo>
                      <a:pt x="63" y="0"/>
                    </a:lnTo>
                    <a:lnTo>
                      <a:pt x="85" y="5"/>
                    </a:lnTo>
                    <a:lnTo>
                      <a:pt x="94" y="14"/>
                    </a:lnTo>
                    <a:lnTo>
                      <a:pt x="111" y="23"/>
                    </a:lnTo>
                    <a:lnTo>
                      <a:pt x="143" y="36"/>
                    </a:lnTo>
                    <a:lnTo>
                      <a:pt x="166" y="36"/>
                    </a:lnTo>
                    <a:lnTo>
                      <a:pt x="142" y="42"/>
                    </a:lnTo>
                    <a:lnTo>
                      <a:pt x="126" y="39"/>
                    </a:lnTo>
                    <a:lnTo>
                      <a:pt x="91" y="22"/>
                    </a:lnTo>
                    <a:lnTo>
                      <a:pt x="79" y="10"/>
                    </a:lnTo>
                    <a:lnTo>
                      <a:pt x="55" y="8"/>
                    </a:lnTo>
                    <a:lnTo>
                      <a:pt x="35" y="10"/>
                    </a:lnTo>
                    <a:lnTo>
                      <a:pt x="0" y="1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1" name="Freeform 261"/>
              <p:cNvSpPr>
                <a:spLocks/>
              </p:cNvSpPr>
              <p:nvPr/>
            </p:nvSpPr>
            <p:spPr bwMode="auto">
              <a:xfrm>
                <a:off x="5335" y="1874"/>
                <a:ext cx="6" cy="5"/>
              </a:xfrm>
              <a:custGeom>
                <a:avLst/>
                <a:gdLst>
                  <a:gd name="T0" fmla="*/ 0 w 33"/>
                  <a:gd name="T1" fmla="*/ 0 h 30"/>
                  <a:gd name="T2" fmla="*/ 0 w 33"/>
                  <a:gd name="T3" fmla="*/ 0 h 30"/>
                  <a:gd name="T4" fmla="*/ 0 w 33"/>
                  <a:gd name="T5" fmla="*/ 0 h 30"/>
                  <a:gd name="T6" fmla="*/ 0 w 33"/>
                  <a:gd name="T7" fmla="*/ 0 h 30"/>
                  <a:gd name="T8" fmla="*/ 0 w 33"/>
                  <a:gd name="T9" fmla="*/ 0 h 30"/>
                  <a:gd name="T10" fmla="*/ 0 w 33"/>
                  <a:gd name="T11" fmla="*/ 0 h 3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30">
                    <a:moveTo>
                      <a:pt x="25" y="0"/>
                    </a:moveTo>
                    <a:lnTo>
                      <a:pt x="33" y="11"/>
                    </a:lnTo>
                    <a:lnTo>
                      <a:pt x="23" y="24"/>
                    </a:lnTo>
                    <a:lnTo>
                      <a:pt x="0" y="30"/>
                    </a:lnTo>
                    <a:lnTo>
                      <a:pt x="25" y="15"/>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2" name="Freeform 262"/>
              <p:cNvSpPr>
                <a:spLocks/>
              </p:cNvSpPr>
              <p:nvPr/>
            </p:nvSpPr>
            <p:spPr bwMode="auto">
              <a:xfrm>
                <a:off x="5329" y="1870"/>
                <a:ext cx="6" cy="4"/>
              </a:xfrm>
              <a:custGeom>
                <a:avLst/>
                <a:gdLst>
                  <a:gd name="T0" fmla="*/ 0 w 33"/>
                  <a:gd name="T1" fmla="*/ 0 h 28"/>
                  <a:gd name="T2" fmla="*/ 0 w 33"/>
                  <a:gd name="T3" fmla="*/ 0 h 28"/>
                  <a:gd name="T4" fmla="*/ 0 w 33"/>
                  <a:gd name="T5" fmla="*/ 0 h 28"/>
                  <a:gd name="T6" fmla="*/ 0 w 33"/>
                  <a:gd name="T7" fmla="*/ 0 h 28"/>
                  <a:gd name="T8" fmla="*/ 0 w 33"/>
                  <a:gd name="T9" fmla="*/ 0 h 28"/>
                  <a:gd name="T10" fmla="*/ 0 w 33"/>
                  <a:gd name="T11" fmla="*/ 0 h 2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28">
                    <a:moveTo>
                      <a:pt x="33" y="16"/>
                    </a:moveTo>
                    <a:lnTo>
                      <a:pt x="25" y="0"/>
                    </a:lnTo>
                    <a:lnTo>
                      <a:pt x="24" y="13"/>
                    </a:lnTo>
                    <a:lnTo>
                      <a:pt x="0" y="26"/>
                    </a:lnTo>
                    <a:lnTo>
                      <a:pt x="3" y="28"/>
                    </a:lnTo>
                    <a:lnTo>
                      <a:pt x="33" y="1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3" name="Freeform 263"/>
              <p:cNvSpPr>
                <a:spLocks/>
              </p:cNvSpPr>
              <p:nvPr/>
            </p:nvSpPr>
            <p:spPr bwMode="auto">
              <a:xfrm>
                <a:off x="5399" y="1876"/>
                <a:ext cx="6" cy="7"/>
              </a:xfrm>
              <a:custGeom>
                <a:avLst/>
                <a:gdLst>
                  <a:gd name="T0" fmla="*/ 0 w 37"/>
                  <a:gd name="T1" fmla="*/ 0 h 42"/>
                  <a:gd name="T2" fmla="*/ 0 w 37"/>
                  <a:gd name="T3" fmla="*/ 0 h 42"/>
                  <a:gd name="T4" fmla="*/ 0 w 37"/>
                  <a:gd name="T5" fmla="*/ 0 h 42"/>
                  <a:gd name="T6" fmla="*/ 0 w 37"/>
                  <a:gd name="T7" fmla="*/ 0 h 42"/>
                  <a:gd name="T8" fmla="*/ 0 w 37"/>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7" h="42">
                    <a:moveTo>
                      <a:pt x="0" y="0"/>
                    </a:moveTo>
                    <a:lnTo>
                      <a:pt x="8" y="21"/>
                    </a:lnTo>
                    <a:lnTo>
                      <a:pt x="23" y="39"/>
                    </a:lnTo>
                    <a:lnTo>
                      <a:pt x="37" y="4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4" name="Freeform 264"/>
              <p:cNvSpPr>
                <a:spLocks/>
              </p:cNvSpPr>
              <p:nvPr/>
            </p:nvSpPr>
            <p:spPr bwMode="auto">
              <a:xfrm>
                <a:off x="5420" y="1907"/>
                <a:ext cx="9" cy="6"/>
              </a:xfrm>
              <a:custGeom>
                <a:avLst/>
                <a:gdLst>
                  <a:gd name="T0" fmla="*/ 0 w 50"/>
                  <a:gd name="T1" fmla="*/ 0 h 39"/>
                  <a:gd name="T2" fmla="*/ 0 w 50"/>
                  <a:gd name="T3" fmla="*/ 0 h 39"/>
                  <a:gd name="T4" fmla="*/ 0 w 50"/>
                  <a:gd name="T5" fmla="*/ 0 h 39"/>
                  <a:gd name="T6" fmla="*/ 0 w 50"/>
                  <a:gd name="T7" fmla="*/ 0 h 3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50" h="39">
                    <a:moveTo>
                      <a:pt x="50" y="0"/>
                    </a:moveTo>
                    <a:lnTo>
                      <a:pt x="17" y="14"/>
                    </a:lnTo>
                    <a:lnTo>
                      <a:pt x="0" y="39"/>
                    </a:lnTo>
                    <a:lnTo>
                      <a:pt x="5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63" name="Group 265"/>
            <p:cNvGrpSpPr>
              <a:grpSpLocks/>
            </p:cNvGrpSpPr>
            <p:nvPr/>
          </p:nvGrpSpPr>
          <p:grpSpPr bwMode="auto">
            <a:xfrm>
              <a:off x="5432" y="1894"/>
              <a:ext cx="37" cy="45"/>
              <a:chOff x="5432" y="1894"/>
              <a:chExt cx="37" cy="45"/>
            </a:xfrm>
          </p:grpSpPr>
          <p:sp>
            <p:nvSpPr>
              <p:cNvPr id="264" name="Freeform 266"/>
              <p:cNvSpPr>
                <a:spLocks/>
              </p:cNvSpPr>
              <p:nvPr/>
            </p:nvSpPr>
            <p:spPr bwMode="auto">
              <a:xfrm>
                <a:off x="5432" y="1894"/>
                <a:ext cx="37" cy="45"/>
              </a:xfrm>
              <a:custGeom>
                <a:avLst/>
                <a:gdLst>
                  <a:gd name="T0" fmla="*/ 0 w 219"/>
                  <a:gd name="T1" fmla="*/ 0 h 267"/>
                  <a:gd name="T2" fmla="*/ 0 w 219"/>
                  <a:gd name="T3" fmla="*/ 0 h 267"/>
                  <a:gd name="T4" fmla="*/ 0 w 219"/>
                  <a:gd name="T5" fmla="*/ 0 h 267"/>
                  <a:gd name="T6" fmla="*/ 0 w 219"/>
                  <a:gd name="T7" fmla="*/ 0 h 267"/>
                  <a:gd name="T8" fmla="*/ 0 w 219"/>
                  <a:gd name="T9" fmla="*/ 0 h 267"/>
                  <a:gd name="T10" fmla="*/ 0 w 219"/>
                  <a:gd name="T11" fmla="*/ 0 h 267"/>
                  <a:gd name="T12" fmla="*/ 0 w 219"/>
                  <a:gd name="T13" fmla="*/ 0 h 267"/>
                  <a:gd name="T14" fmla="*/ 0 w 219"/>
                  <a:gd name="T15" fmla="*/ 0 h 267"/>
                  <a:gd name="T16" fmla="*/ 0 w 219"/>
                  <a:gd name="T17" fmla="*/ 0 h 267"/>
                  <a:gd name="T18" fmla="*/ 0 w 219"/>
                  <a:gd name="T19" fmla="*/ 0 h 26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267">
                    <a:moveTo>
                      <a:pt x="77" y="17"/>
                    </a:moveTo>
                    <a:lnTo>
                      <a:pt x="42" y="55"/>
                    </a:lnTo>
                    <a:lnTo>
                      <a:pt x="26" y="87"/>
                    </a:lnTo>
                    <a:lnTo>
                      <a:pt x="11" y="138"/>
                    </a:lnTo>
                    <a:lnTo>
                      <a:pt x="11" y="167"/>
                    </a:lnTo>
                    <a:lnTo>
                      <a:pt x="0" y="210"/>
                    </a:lnTo>
                    <a:lnTo>
                      <a:pt x="178" y="267"/>
                    </a:lnTo>
                    <a:lnTo>
                      <a:pt x="219" y="0"/>
                    </a:lnTo>
                    <a:lnTo>
                      <a:pt x="146" y="17"/>
                    </a:lnTo>
                    <a:lnTo>
                      <a:pt x="77" y="17"/>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5" name="Freeform 267"/>
              <p:cNvSpPr>
                <a:spLocks/>
              </p:cNvSpPr>
              <p:nvPr/>
            </p:nvSpPr>
            <p:spPr bwMode="auto">
              <a:xfrm>
                <a:off x="5436" y="1898"/>
                <a:ext cx="29" cy="37"/>
              </a:xfrm>
              <a:custGeom>
                <a:avLst/>
                <a:gdLst>
                  <a:gd name="T0" fmla="*/ 0 w 175"/>
                  <a:gd name="T1" fmla="*/ 0 h 220"/>
                  <a:gd name="T2" fmla="*/ 0 w 175"/>
                  <a:gd name="T3" fmla="*/ 0 h 220"/>
                  <a:gd name="T4" fmla="*/ 0 w 175"/>
                  <a:gd name="T5" fmla="*/ 0 h 220"/>
                  <a:gd name="T6" fmla="*/ 0 w 175"/>
                  <a:gd name="T7" fmla="*/ 0 h 220"/>
                  <a:gd name="T8" fmla="*/ 0 w 175"/>
                  <a:gd name="T9" fmla="*/ 0 h 220"/>
                  <a:gd name="T10" fmla="*/ 0 w 175"/>
                  <a:gd name="T11" fmla="*/ 0 h 220"/>
                  <a:gd name="T12" fmla="*/ 0 w 175"/>
                  <a:gd name="T13" fmla="*/ 0 h 220"/>
                  <a:gd name="T14" fmla="*/ 0 w 175"/>
                  <a:gd name="T15" fmla="*/ 0 h 220"/>
                  <a:gd name="T16" fmla="*/ 0 w 175"/>
                  <a:gd name="T17" fmla="*/ 0 h 22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75" h="220">
                    <a:moveTo>
                      <a:pt x="69" y="7"/>
                    </a:moveTo>
                    <a:lnTo>
                      <a:pt x="38" y="42"/>
                    </a:lnTo>
                    <a:lnTo>
                      <a:pt x="12" y="92"/>
                    </a:lnTo>
                    <a:lnTo>
                      <a:pt x="6" y="128"/>
                    </a:lnTo>
                    <a:lnTo>
                      <a:pt x="0" y="171"/>
                    </a:lnTo>
                    <a:lnTo>
                      <a:pt x="140" y="220"/>
                    </a:lnTo>
                    <a:lnTo>
                      <a:pt x="175" y="0"/>
                    </a:lnTo>
                    <a:lnTo>
                      <a:pt x="122" y="10"/>
                    </a:lnTo>
                    <a:lnTo>
                      <a:pt x="69" y="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sp>
        <p:nvSpPr>
          <p:cNvPr id="275" name="Freeform 268"/>
          <p:cNvSpPr>
            <a:spLocks/>
          </p:cNvSpPr>
          <p:nvPr/>
        </p:nvSpPr>
        <p:spPr bwMode="auto">
          <a:xfrm>
            <a:off x="7153663" y="3046428"/>
            <a:ext cx="123814" cy="124512"/>
          </a:xfrm>
          <a:custGeom>
            <a:avLst/>
            <a:gdLst>
              <a:gd name="T0" fmla="*/ 2147483646 w 741"/>
              <a:gd name="T1" fmla="*/ 2147483646 h 807"/>
              <a:gd name="T2" fmla="*/ 2147483646 w 741"/>
              <a:gd name="T3" fmla="*/ 2147483646 h 807"/>
              <a:gd name="T4" fmla="*/ 2147483646 w 741"/>
              <a:gd name="T5" fmla="*/ 2147483646 h 807"/>
              <a:gd name="T6" fmla="*/ 2147483646 w 741"/>
              <a:gd name="T7" fmla="*/ 2147483646 h 807"/>
              <a:gd name="T8" fmla="*/ 2147483646 w 741"/>
              <a:gd name="T9" fmla="*/ 2147483646 h 807"/>
              <a:gd name="T10" fmla="*/ 2147483646 w 741"/>
              <a:gd name="T11" fmla="*/ 2147483646 h 807"/>
              <a:gd name="T12" fmla="*/ 2147483646 w 741"/>
              <a:gd name="T13" fmla="*/ 2147483646 h 807"/>
              <a:gd name="T14" fmla="*/ 2147483646 w 741"/>
              <a:gd name="T15" fmla="*/ 2147483646 h 807"/>
              <a:gd name="T16" fmla="*/ 2147483646 w 741"/>
              <a:gd name="T17" fmla="*/ 2147483646 h 807"/>
              <a:gd name="T18" fmla="*/ 0 w 741"/>
              <a:gd name="T19" fmla="*/ 2147483646 h 807"/>
              <a:gd name="T20" fmla="*/ 0 w 741"/>
              <a:gd name="T21" fmla="*/ 2147483646 h 807"/>
              <a:gd name="T22" fmla="*/ 2147483646 w 741"/>
              <a:gd name="T23" fmla="*/ 2147483646 h 807"/>
              <a:gd name="T24" fmla="*/ 2147483646 w 741"/>
              <a:gd name="T25" fmla="*/ 2147483646 h 807"/>
              <a:gd name="T26" fmla="*/ 2147483646 w 741"/>
              <a:gd name="T27" fmla="*/ 2147483646 h 807"/>
              <a:gd name="T28" fmla="*/ 2147483646 w 741"/>
              <a:gd name="T29" fmla="*/ 2147483646 h 807"/>
              <a:gd name="T30" fmla="*/ 2147483646 w 741"/>
              <a:gd name="T31" fmla="*/ 2147483646 h 807"/>
              <a:gd name="T32" fmla="*/ 2147483646 w 741"/>
              <a:gd name="T33" fmla="*/ 2147483646 h 807"/>
              <a:gd name="T34" fmla="*/ 2147483646 w 741"/>
              <a:gd name="T35" fmla="*/ 2147483646 h 807"/>
              <a:gd name="T36" fmla="*/ 2147483646 w 741"/>
              <a:gd name="T37" fmla="*/ 2147483646 h 807"/>
              <a:gd name="T38" fmla="*/ 2147483646 w 741"/>
              <a:gd name="T39" fmla="*/ 2147483646 h 807"/>
              <a:gd name="T40" fmla="*/ 2147483646 w 741"/>
              <a:gd name="T41" fmla="*/ 2147483646 h 807"/>
              <a:gd name="T42" fmla="*/ 2147483646 w 741"/>
              <a:gd name="T43" fmla="*/ 2147483646 h 807"/>
              <a:gd name="T44" fmla="*/ 2147483646 w 741"/>
              <a:gd name="T45" fmla="*/ 2147483646 h 807"/>
              <a:gd name="T46" fmla="*/ 2147483646 w 741"/>
              <a:gd name="T47" fmla="*/ 2147483646 h 807"/>
              <a:gd name="T48" fmla="*/ 2147483646 w 741"/>
              <a:gd name="T49" fmla="*/ 2147483646 h 807"/>
              <a:gd name="T50" fmla="*/ 2147483646 w 741"/>
              <a:gd name="T51" fmla="*/ 2147483646 h 807"/>
              <a:gd name="T52" fmla="*/ 2147483646 w 741"/>
              <a:gd name="T53" fmla="*/ 2147483646 h 807"/>
              <a:gd name="T54" fmla="*/ 2147483646 w 741"/>
              <a:gd name="T55" fmla="*/ 2147483646 h 807"/>
              <a:gd name="T56" fmla="*/ 2147483646 w 741"/>
              <a:gd name="T57" fmla="*/ 2147483646 h 807"/>
              <a:gd name="T58" fmla="*/ 2147483646 w 741"/>
              <a:gd name="T59" fmla="*/ 2147483646 h 807"/>
              <a:gd name="T60" fmla="*/ 2147483646 w 741"/>
              <a:gd name="T61" fmla="*/ 2147483646 h 807"/>
              <a:gd name="T62" fmla="*/ 2147483646 w 741"/>
              <a:gd name="T63" fmla="*/ 2147483646 h 807"/>
              <a:gd name="T64" fmla="*/ 2147483646 w 741"/>
              <a:gd name="T65" fmla="*/ 2147483646 h 807"/>
              <a:gd name="T66" fmla="*/ 2147483646 w 741"/>
              <a:gd name="T67" fmla="*/ 0 h 807"/>
              <a:gd name="T68" fmla="*/ 2147483646 w 741"/>
              <a:gd name="T69" fmla="*/ 2147483646 h 807"/>
              <a:gd name="T70" fmla="*/ 2147483646 w 741"/>
              <a:gd name="T71" fmla="*/ 2147483646 h 807"/>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741" h="807">
                <a:moveTo>
                  <a:pt x="243" y="26"/>
                </a:moveTo>
                <a:lnTo>
                  <a:pt x="179" y="74"/>
                </a:lnTo>
                <a:lnTo>
                  <a:pt x="144" y="131"/>
                </a:lnTo>
                <a:lnTo>
                  <a:pt x="112" y="192"/>
                </a:lnTo>
                <a:lnTo>
                  <a:pt x="92" y="224"/>
                </a:lnTo>
                <a:lnTo>
                  <a:pt x="92" y="259"/>
                </a:lnTo>
                <a:lnTo>
                  <a:pt x="109" y="300"/>
                </a:lnTo>
                <a:lnTo>
                  <a:pt x="77" y="332"/>
                </a:lnTo>
                <a:lnTo>
                  <a:pt x="26" y="420"/>
                </a:lnTo>
                <a:lnTo>
                  <a:pt x="0" y="467"/>
                </a:lnTo>
                <a:lnTo>
                  <a:pt x="0" y="482"/>
                </a:lnTo>
                <a:lnTo>
                  <a:pt x="6" y="498"/>
                </a:lnTo>
                <a:lnTo>
                  <a:pt x="28" y="503"/>
                </a:lnTo>
                <a:lnTo>
                  <a:pt x="60" y="504"/>
                </a:lnTo>
                <a:lnTo>
                  <a:pt x="79" y="511"/>
                </a:lnTo>
                <a:lnTo>
                  <a:pt x="77" y="546"/>
                </a:lnTo>
                <a:lnTo>
                  <a:pt x="67" y="587"/>
                </a:lnTo>
                <a:lnTo>
                  <a:pt x="86" y="609"/>
                </a:lnTo>
                <a:lnTo>
                  <a:pt x="80" y="639"/>
                </a:lnTo>
                <a:lnTo>
                  <a:pt x="95" y="659"/>
                </a:lnTo>
                <a:lnTo>
                  <a:pt x="110" y="713"/>
                </a:lnTo>
                <a:lnTo>
                  <a:pt x="133" y="728"/>
                </a:lnTo>
                <a:lnTo>
                  <a:pt x="167" y="728"/>
                </a:lnTo>
                <a:lnTo>
                  <a:pt x="217" y="721"/>
                </a:lnTo>
                <a:lnTo>
                  <a:pt x="269" y="713"/>
                </a:lnTo>
                <a:lnTo>
                  <a:pt x="263" y="807"/>
                </a:lnTo>
                <a:lnTo>
                  <a:pt x="658" y="681"/>
                </a:lnTo>
                <a:lnTo>
                  <a:pt x="626" y="606"/>
                </a:lnTo>
                <a:lnTo>
                  <a:pt x="634" y="549"/>
                </a:lnTo>
                <a:lnTo>
                  <a:pt x="741" y="441"/>
                </a:lnTo>
                <a:lnTo>
                  <a:pt x="741" y="155"/>
                </a:lnTo>
                <a:lnTo>
                  <a:pt x="668" y="77"/>
                </a:lnTo>
                <a:lnTo>
                  <a:pt x="577" y="35"/>
                </a:lnTo>
                <a:lnTo>
                  <a:pt x="481" y="0"/>
                </a:lnTo>
                <a:lnTo>
                  <a:pt x="355" y="18"/>
                </a:lnTo>
                <a:lnTo>
                  <a:pt x="243" y="26"/>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6" name="Freeform 269"/>
          <p:cNvSpPr>
            <a:spLocks/>
          </p:cNvSpPr>
          <p:nvPr/>
        </p:nvSpPr>
        <p:spPr bwMode="auto">
          <a:xfrm>
            <a:off x="7159703" y="3121692"/>
            <a:ext cx="7046" cy="1858"/>
          </a:xfrm>
          <a:custGeom>
            <a:avLst/>
            <a:gdLst>
              <a:gd name="T0" fmla="*/ 0 w 42"/>
              <a:gd name="T1" fmla="*/ 2147483646 h 9"/>
              <a:gd name="T2" fmla="*/ 2147483646 w 42"/>
              <a:gd name="T3" fmla="*/ 2147483646 h 9"/>
              <a:gd name="T4" fmla="*/ 2147483646 w 42"/>
              <a:gd name="T5" fmla="*/ 2147483646 h 9"/>
              <a:gd name="T6" fmla="*/ 2147483646 w 42"/>
              <a:gd name="T7" fmla="*/ 2147483646 h 9"/>
              <a:gd name="T8" fmla="*/ 2147483646 w 42"/>
              <a:gd name="T9" fmla="*/ 2147483646 h 9"/>
              <a:gd name="T10" fmla="*/ 2147483646 w 42"/>
              <a:gd name="T11" fmla="*/ 0 h 9"/>
              <a:gd name="T12" fmla="*/ 0 w 42"/>
              <a:gd name="T13" fmla="*/ 2147483646 h 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2" h="9">
                <a:moveTo>
                  <a:pt x="0" y="3"/>
                </a:moveTo>
                <a:lnTo>
                  <a:pt x="9" y="8"/>
                </a:lnTo>
                <a:lnTo>
                  <a:pt x="30" y="6"/>
                </a:lnTo>
                <a:lnTo>
                  <a:pt x="39" y="9"/>
                </a:lnTo>
                <a:lnTo>
                  <a:pt x="42" y="2"/>
                </a:lnTo>
                <a:lnTo>
                  <a:pt x="29" y="0"/>
                </a:lnTo>
                <a:lnTo>
                  <a:pt x="0" y="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7" name="Freeform 270"/>
          <p:cNvSpPr>
            <a:spLocks/>
          </p:cNvSpPr>
          <p:nvPr/>
        </p:nvSpPr>
        <p:spPr bwMode="auto">
          <a:xfrm>
            <a:off x="7166749" y="3117047"/>
            <a:ext cx="3020" cy="4646"/>
          </a:xfrm>
          <a:custGeom>
            <a:avLst/>
            <a:gdLst>
              <a:gd name="T0" fmla="*/ 0 w 17"/>
              <a:gd name="T1" fmla="*/ 0 h 31"/>
              <a:gd name="T2" fmla="*/ 2147483646 w 17"/>
              <a:gd name="T3" fmla="*/ 2147483646 h 31"/>
              <a:gd name="T4" fmla="*/ 2147483646 w 17"/>
              <a:gd name="T5" fmla="*/ 2147483646 h 31"/>
              <a:gd name="T6" fmla="*/ 2147483646 w 17"/>
              <a:gd name="T7" fmla="*/ 2147483646 h 31"/>
              <a:gd name="T8" fmla="*/ 2147483646 w 17"/>
              <a:gd name="T9" fmla="*/ 2147483646 h 31"/>
              <a:gd name="T10" fmla="*/ 2147483646 w 17"/>
              <a:gd name="T11" fmla="*/ 2147483646 h 31"/>
              <a:gd name="T12" fmla="*/ 0 w 17"/>
              <a:gd name="T13" fmla="*/ 0 h 3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7" h="31">
                <a:moveTo>
                  <a:pt x="0" y="0"/>
                </a:moveTo>
                <a:lnTo>
                  <a:pt x="11" y="7"/>
                </a:lnTo>
                <a:lnTo>
                  <a:pt x="11" y="16"/>
                </a:lnTo>
                <a:lnTo>
                  <a:pt x="13" y="31"/>
                </a:lnTo>
                <a:lnTo>
                  <a:pt x="17" y="12"/>
                </a:lnTo>
                <a:lnTo>
                  <a:pt x="17" y="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8" name="Freeform 271"/>
          <p:cNvSpPr>
            <a:spLocks/>
          </p:cNvSpPr>
          <p:nvPr/>
        </p:nvSpPr>
        <p:spPr bwMode="auto">
          <a:xfrm>
            <a:off x="7171782" y="3101250"/>
            <a:ext cx="3020" cy="9292"/>
          </a:xfrm>
          <a:custGeom>
            <a:avLst/>
            <a:gdLst>
              <a:gd name="T0" fmla="*/ 2147483646 w 19"/>
              <a:gd name="T1" fmla="*/ 0 h 60"/>
              <a:gd name="T2" fmla="*/ 2147483646 w 19"/>
              <a:gd name="T3" fmla="*/ 2147483646 h 60"/>
              <a:gd name="T4" fmla="*/ 0 w 19"/>
              <a:gd name="T5" fmla="*/ 2147483646 h 60"/>
              <a:gd name="T6" fmla="*/ 2147483646 w 19"/>
              <a:gd name="T7" fmla="*/ 2147483646 h 60"/>
              <a:gd name="T8" fmla="*/ 2147483646 w 19"/>
              <a:gd name="T9" fmla="*/ 0 h 6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60">
                <a:moveTo>
                  <a:pt x="19" y="0"/>
                </a:moveTo>
                <a:lnTo>
                  <a:pt x="5" y="34"/>
                </a:lnTo>
                <a:lnTo>
                  <a:pt x="0" y="60"/>
                </a:lnTo>
                <a:lnTo>
                  <a:pt x="9" y="43"/>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9" name="Freeform 272"/>
          <p:cNvSpPr>
            <a:spLocks/>
          </p:cNvSpPr>
          <p:nvPr/>
        </p:nvSpPr>
        <p:spPr bwMode="auto">
          <a:xfrm>
            <a:off x="7173796" y="3091958"/>
            <a:ext cx="13086" cy="8363"/>
          </a:xfrm>
          <a:custGeom>
            <a:avLst/>
            <a:gdLst>
              <a:gd name="T0" fmla="*/ 0 w 80"/>
              <a:gd name="T1" fmla="*/ 0 h 51"/>
              <a:gd name="T2" fmla="*/ 2147483646 w 80"/>
              <a:gd name="T3" fmla="*/ 2147483646 h 51"/>
              <a:gd name="T4" fmla="*/ 2147483646 w 80"/>
              <a:gd name="T5" fmla="*/ 2147483646 h 51"/>
              <a:gd name="T6" fmla="*/ 2147483646 w 80"/>
              <a:gd name="T7" fmla="*/ 2147483646 h 51"/>
              <a:gd name="T8" fmla="*/ 2147483646 w 80"/>
              <a:gd name="T9" fmla="*/ 2147483646 h 51"/>
              <a:gd name="T10" fmla="*/ 2147483646 w 80"/>
              <a:gd name="T11" fmla="*/ 2147483646 h 51"/>
              <a:gd name="T12" fmla="*/ 2147483646 w 80"/>
              <a:gd name="T13" fmla="*/ 2147483646 h 51"/>
              <a:gd name="T14" fmla="*/ 2147483646 w 80"/>
              <a:gd name="T15" fmla="*/ 2147483646 h 51"/>
              <a:gd name="T16" fmla="*/ 2147483646 w 80"/>
              <a:gd name="T17" fmla="*/ 2147483646 h 51"/>
              <a:gd name="T18" fmla="*/ 2147483646 w 80"/>
              <a:gd name="T19" fmla="*/ 2147483646 h 51"/>
              <a:gd name="T20" fmla="*/ 0 w 80"/>
              <a:gd name="T21" fmla="*/ 0 h 51"/>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80" h="51">
                <a:moveTo>
                  <a:pt x="0" y="0"/>
                </a:moveTo>
                <a:lnTo>
                  <a:pt x="17" y="28"/>
                </a:lnTo>
                <a:lnTo>
                  <a:pt x="13" y="35"/>
                </a:lnTo>
                <a:lnTo>
                  <a:pt x="13" y="40"/>
                </a:lnTo>
                <a:lnTo>
                  <a:pt x="9" y="51"/>
                </a:lnTo>
                <a:lnTo>
                  <a:pt x="20" y="34"/>
                </a:lnTo>
                <a:lnTo>
                  <a:pt x="35" y="34"/>
                </a:lnTo>
                <a:lnTo>
                  <a:pt x="52" y="28"/>
                </a:lnTo>
                <a:lnTo>
                  <a:pt x="80" y="26"/>
                </a:lnTo>
                <a:lnTo>
                  <a:pt x="5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0" name="Freeform 273"/>
          <p:cNvSpPr>
            <a:spLocks/>
          </p:cNvSpPr>
          <p:nvPr/>
        </p:nvSpPr>
        <p:spPr bwMode="auto">
          <a:xfrm>
            <a:off x="7170776" y="3080807"/>
            <a:ext cx="22145" cy="7434"/>
          </a:xfrm>
          <a:custGeom>
            <a:avLst/>
            <a:gdLst>
              <a:gd name="T0" fmla="*/ 0 w 135"/>
              <a:gd name="T1" fmla="*/ 2147483646 h 48"/>
              <a:gd name="T2" fmla="*/ 2147483646 w 135"/>
              <a:gd name="T3" fmla="*/ 2147483646 h 48"/>
              <a:gd name="T4" fmla="*/ 2147483646 w 135"/>
              <a:gd name="T5" fmla="*/ 2147483646 h 48"/>
              <a:gd name="T6" fmla="*/ 2147483646 w 135"/>
              <a:gd name="T7" fmla="*/ 2147483646 h 48"/>
              <a:gd name="T8" fmla="*/ 2147483646 w 135"/>
              <a:gd name="T9" fmla="*/ 2147483646 h 48"/>
              <a:gd name="T10" fmla="*/ 2147483646 w 135"/>
              <a:gd name="T11" fmla="*/ 2147483646 h 48"/>
              <a:gd name="T12" fmla="*/ 2147483646 w 135"/>
              <a:gd name="T13" fmla="*/ 2147483646 h 48"/>
              <a:gd name="T14" fmla="*/ 2147483646 w 135"/>
              <a:gd name="T15" fmla="*/ 2147483646 h 48"/>
              <a:gd name="T16" fmla="*/ 2147483646 w 135"/>
              <a:gd name="T17" fmla="*/ 2147483646 h 48"/>
              <a:gd name="T18" fmla="*/ 2147483646 w 135"/>
              <a:gd name="T19" fmla="*/ 0 h 48"/>
              <a:gd name="T20" fmla="*/ 2147483646 w 135"/>
              <a:gd name="T21" fmla="*/ 2147483646 h 48"/>
              <a:gd name="T22" fmla="*/ 2147483646 w 135"/>
              <a:gd name="T23" fmla="*/ 2147483646 h 48"/>
              <a:gd name="T24" fmla="*/ 2147483646 w 135"/>
              <a:gd name="T25" fmla="*/ 2147483646 h 48"/>
              <a:gd name="T26" fmla="*/ 2147483646 w 135"/>
              <a:gd name="T27" fmla="*/ 2147483646 h 48"/>
              <a:gd name="T28" fmla="*/ 0 w 135"/>
              <a:gd name="T29" fmla="*/ 2147483646 h 4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35" h="48">
                <a:moveTo>
                  <a:pt x="0" y="25"/>
                </a:moveTo>
                <a:lnTo>
                  <a:pt x="6" y="42"/>
                </a:lnTo>
                <a:lnTo>
                  <a:pt x="20" y="48"/>
                </a:lnTo>
                <a:lnTo>
                  <a:pt x="42" y="34"/>
                </a:lnTo>
                <a:lnTo>
                  <a:pt x="69" y="25"/>
                </a:lnTo>
                <a:lnTo>
                  <a:pt x="113" y="24"/>
                </a:lnTo>
                <a:lnTo>
                  <a:pt x="135" y="27"/>
                </a:lnTo>
                <a:lnTo>
                  <a:pt x="101" y="12"/>
                </a:lnTo>
                <a:lnTo>
                  <a:pt x="77" y="6"/>
                </a:lnTo>
                <a:lnTo>
                  <a:pt x="80" y="0"/>
                </a:lnTo>
                <a:lnTo>
                  <a:pt x="57" y="9"/>
                </a:lnTo>
                <a:lnTo>
                  <a:pt x="59" y="3"/>
                </a:lnTo>
                <a:lnTo>
                  <a:pt x="40" y="12"/>
                </a:lnTo>
                <a:lnTo>
                  <a:pt x="23" y="12"/>
                </a:lnTo>
                <a:lnTo>
                  <a:pt x="0" y="2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1" name="Freeform 274"/>
          <p:cNvSpPr>
            <a:spLocks/>
          </p:cNvSpPr>
          <p:nvPr/>
        </p:nvSpPr>
        <p:spPr bwMode="auto">
          <a:xfrm>
            <a:off x="7221106" y="3091029"/>
            <a:ext cx="13087" cy="24159"/>
          </a:xfrm>
          <a:custGeom>
            <a:avLst/>
            <a:gdLst>
              <a:gd name="T0" fmla="*/ 0 w 78"/>
              <a:gd name="T1" fmla="*/ 2147483646 h 159"/>
              <a:gd name="T2" fmla="*/ 2147483646 w 78"/>
              <a:gd name="T3" fmla="*/ 2147483646 h 159"/>
              <a:gd name="T4" fmla="*/ 2147483646 w 78"/>
              <a:gd name="T5" fmla="*/ 2147483646 h 159"/>
              <a:gd name="T6" fmla="*/ 2147483646 w 78"/>
              <a:gd name="T7" fmla="*/ 2147483646 h 159"/>
              <a:gd name="T8" fmla="*/ 2147483646 w 78"/>
              <a:gd name="T9" fmla="*/ 2147483646 h 159"/>
              <a:gd name="T10" fmla="*/ 2147483646 w 78"/>
              <a:gd name="T11" fmla="*/ 2147483646 h 159"/>
              <a:gd name="T12" fmla="*/ 2147483646 w 78"/>
              <a:gd name="T13" fmla="*/ 2147483646 h 159"/>
              <a:gd name="T14" fmla="*/ 2147483646 w 78"/>
              <a:gd name="T15" fmla="*/ 2147483646 h 159"/>
              <a:gd name="T16" fmla="*/ 2147483646 w 78"/>
              <a:gd name="T17" fmla="*/ 2147483646 h 159"/>
              <a:gd name="T18" fmla="*/ 2147483646 w 78"/>
              <a:gd name="T19" fmla="*/ 2147483646 h 159"/>
              <a:gd name="T20" fmla="*/ 2147483646 w 78"/>
              <a:gd name="T21" fmla="*/ 2147483646 h 159"/>
              <a:gd name="T22" fmla="*/ 2147483646 w 78"/>
              <a:gd name="T23" fmla="*/ 2147483646 h 159"/>
              <a:gd name="T24" fmla="*/ 2147483646 w 78"/>
              <a:gd name="T25" fmla="*/ 2147483646 h 159"/>
              <a:gd name="T26" fmla="*/ 2147483646 w 78"/>
              <a:gd name="T27" fmla="*/ 2147483646 h 159"/>
              <a:gd name="T28" fmla="*/ 2147483646 w 78"/>
              <a:gd name="T29" fmla="*/ 2147483646 h 159"/>
              <a:gd name="T30" fmla="*/ 2147483646 w 78"/>
              <a:gd name="T31" fmla="*/ 2147483646 h 159"/>
              <a:gd name="T32" fmla="*/ 2147483646 w 78"/>
              <a:gd name="T33" fmla="*/ 2147483646 h 159"/>
              <a:gd name="T34" fmla="*/ 2147483646 w 78"/>
              <a:gd name="T35" fmla="*/ 2147483646 h 159"/>
              <a:gd name="T36" fmla="*/ 2147483646 w 78"/>
              <a:gd name="T37" fmla="*/ 2147483646 h 159"/>
              <a:gd name="T38" fmla="*/ 2147483646 w 78"/>
              <a:gd name="T39" fmla="*/ 2147483646 h 159"/>
              <a:gd name="T40" fmla="*/ 2147483646 w 78"/>
              <a:gd name="T41" fmla="*/ 0 h 159"/>
              <a:gd name="T42" fmla="*/ 2147483646 w 78"/>
              <a:gd name="T43" fmla="*/ 2147483646 h 159"/>
              <a:gd name="T44" fmla="*/ 0 w 78"/>
              <a:gd name="T45" fmla="*/ 2147483646 h 159"/>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78" h="159">
                <a:moveTo>
                  <a:pt x="0" y="30"/>
                </a:moveTo>
                <a:lnTo>
                  <a:pt x="24" y="10"/>
                </a:lnTo>
                <a:lnTo>
                  <a:pt x="52" y="15"/>
                </a:lnTo>
                <a:lnTo>
                  <a:pt x="68" y="41"/>
                </a:lnTo>
                <a:lnTo>
                  <a:pt x="71" y="77"/>
                </a:lnTo>
                <a:lnTo>
                  <a:pt x="68" y="105"/>
                </a:lnTo>
                <a:lnTo>
                  <a:pt x="59" y="128"/>
                </a:lnTo>
                <a:lnTo>
                  <a:pt x="44" y="93"/>
                </a:lnTo>
                <a:lnTo>
                  <a:pt x="31" y="73"/>
                </a:lnTo>
                <a:lnTo>
                  <a:pt x="5" y="60"/>
                </a:lnTo>
                <a:lnTo>
                  <a:pt x="25" y="89"/>
                </a:lnTo>
                <a:lnTo>
                  <a:pt x="47" y="111"/>
                </a:lnTo>
                <a:lnTo>
                  <a:pt x="49" y="134"/>
                </a:lnTo>
                <a:lnTo>
                  <a:pt x="40" y="156"/>
                </a:lnTo>
                <a:lnTo>
                  <a:pt x="28" y="159"/>
                </a:lnTo>
                <a:lnTo>
                  <a:pt x="61" y="151"/>
                </a:lnTo>
                <a:lnTo>
                  <a:pt x="77" y="117"/>
                </a:lnTo>
                <a:lnTo>
                  <a:pt x="78" y="73"/>
                </a:lnTo>
                <a:lnTo>
                  <a:pt x="77" y="33"/>
                </a:lnTo>
                <a:lnTo>
                  <a:pt x="59" y="7"/>
                </a:lnTo>
                <a:lnTo>
                  <a:pt x="34" y="0"/>
                </a:lnTo>
                <a:lnTo>
                  <a:pt x="10" y="4"/>
                </a:lnTo>
                <a:lnTo>
                  <a:pt x="0" y="3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2" name="Freeform 275"/>
          <p:cNvSpPr>
            <a:spLocks/>
          </p:cNvSpPr>
          <p:nvPr/>
        </p:nvSpPr>
        <p:spPr bwMode="auto">
          <a:xfrm>
            <a:off x="7218087" y="3087312"/>
            <a:ext cx="21139" cy="32521"/>
          </a:xfrm>
          <a:custGeom>
            <a:avLst/>
            <a:gdLst>
              <a:gd name="T0" fmla="*/ 0 w 129"/>
              <a:gd name="T1" fmla="*/ 2147483646 h 215"/>
              <a:gd name="T2" fmla="*/ 2147483646 w 129"/>
              <a:gd name="T3" fmla="*/ 2147483646 h 215"/>
              <a:gd name="T4" fmla="*/ 2147483646 w 129"/>
              <a:gd name="T5" fmla="*/ 2147483646 h 215"/>
              <a:gd name="T6" fmla="*/ 2147483646 w 129"/>
              <a:gd name="T7" fmla="*/ 2147483646 h 215"/>
              <a:gd name="T8" fmla="*/ 2147483646 w 129"/>
              <a:gd name="T9" fmla="*/ 2147483646 h 215"/>
              <a:gd name="T10" fmla="*/ 2147483646 w 129"/>
              <a:gd name="T11" fmla="*/ 2147483646 h 215"/>
              <a:gd name="T12" fmla="*/ 2147483646 w 129"/>
              <a:gd name="T13" fmla="*/ 2147483646 h 215"/>
              <a:gd name="T14" fmla="*/ 2147483646 w 129"/>
              <a:gd name="T15" fmla="*/ 2147483646 h 215"/>
              <a:gd name="T16" fmla="*/ 2147483646 w 129"/>
              <a:gd name="T17" fmla="*/ 2147483646 h 215"/>
              <a:gd name="T18" fmla="*/ 2147483646 w 129"/>
              <a:gd name="T19" fmla="*/ 2147483646 h 215"/>
              <a:gd name="T20" fmla="*/ 2147483646 w 129"/>
              <a:gd name="T21" fmla="*/ 2147483646 h 215"/>
              <a:gd name="T22" fmla="*/ 2147483646 w 129"/>
              <a:gd name="T23" fmla="*/ 2147483646 h 215"/>
              <a:gd name="T24" fmla="*/ 2147483646 w 129"/>
              <a:gd name="T25" fmla="*/ 2147483646 h 215"/>
              <a:gd name="T26" fmla="*/ 2147483646 w 129"/>
              <a:gd name="T27" fmla="*/ 2147483646 h 215"/>
              <a:gd name="T28" fmla="*/ 2147483646 w 129"/>
              <a:gd name="T29" fmla="*/ 2147483646 h 215"/>
              <a:gd name="T30" fmla="*/ 2147483646 w 129"/>
              <a:gd name="T31" fmla="*/ 2147483646 h 215"/>
              <a:gd name="T32" fmla="*/ 2147483646 w 129"/>
              <a:gd name="T33" fmla="*/ 2147483646 h 215"/>
              <a:gd name="T34" fmla="*/ 2147483646 w 129"/>
              <a:gd name="T35" fmla="*/ 2147483646 h 215"/>
              <a:gd name="T36" fmla="*/ 2147483646 w 129"/>
              <a:gd name="T37" fmla="*/ 2147483646 h 215"/>
              <a:gd name="T38" fmla="*/ 2147483646 w 129"/>
              <a:gd name="T39" fmla="*/ 2147483646 h 215"/>
              <a:gd name="T40" fmla="*/ 2147483646 w 129"/>
              <a:gd name="T41" fmla="*/ 2147483646 h 215"/>
              <a:gd name="T42" fmla="*/ 2147483646 w 129"/>
              <a:gd name="T43" fmla="*/ 2147483646 h 215"/>
              <a:gd name="T44" fmla="*/ 2147483646 w 129"/>
              <a:gd name="T45" fmla="*/ 2147483646 h 215"/>
              <a:gd name="T46" fmla="*/ 2147483646 w 129"/>
              <a:gd name="T47" fmla="*/ 0 h 215"/>
              <a:gd name="T48" fmla="*/ 2147483646 w 129"/>
              <a:gd name="T49" fmla="*/ 2147483646 h 215"/>
              <a:gd name="T50" fmla="*/ 2147483646 w 129"/>
              <a:gd name="T51" fmla="*/ 2147483646 h 215"/>
              <a:gd name="T52" fmla="*/ 0 w 129"/>
              <a:gd name="T53" fmla="*/ 2147483646 h 215"/>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129" h="215">
                <a:moveTo>
                  <a:pt x="0" y="53"/>
                </a:moveTo>
                <a:lnTo>
                  <a:pt x="20" y="19"/>
                </a:lnTo>
                <a:lnTo>
                  <a:pt x="54" y="9"/>
                </a:lnTo>
                <a:lnTo>
                  <a:pt x="95" y="16"/>
                </a:lnTo>
                <a:lnTo>
                  <a:pt x="109" y="35"/>
                </a:lnTo>
                <a:lnTo>
                  <a:pt x="120" y="67"/>
                </a:lnTo>
                <a:lnTo>
                  <a:pt x="120" y="93"/>
                </a:lnTo>
                <a:lnTo>
                  <a:pt x="114" y="111"/>
                </a:lnTo>
                <a:lnTo>
                  <a:pt x="114" y="137"/>
                </a:lnTo>
                <a:lnTo>
                  <a:pt x="107" y="168"/>
                </a:lnTo>
                <a:lnTo>
                  <a:pt x="80" y="198"/>
                </a:lnTo>
                <a:lnTo>
                  <a:pt x="63" y="198"/>
                </a:lnTo>
                <a:lnTo>
                  <a:pt x="40" y="198"/>
                </a:lnTo>
                <a:lnTo>
                  <a:pt x="40" y="203"/>
                </a:lnTo>
                <a:lnTo>
                  <a:pt x="57" y="215"/>
                </a:lnTo>
                <a:lnTo>
                  <a:pt x="76" y="211"/>
                </a:lnTo>
                <a:lnTo>
                  <a:pt x="101" y="201"/>
                </a:lnTo>
                <a:lnTo>
                  <a:pt x="121" y="171"/>
                </a:lnTo>
                <a:lnTo>
                  <a:pt x="123" y="121"/>
                </a:lnTo>
                <a:lnTo>
                  <a:pt x="129" y="87"/>
                </a:lnTo>
                <a:lnTo>
                  <a:pt x="129" y="58"/>
                </a:lnTo>
                <a:lnTo>
                  <a:pt x="117" y="32"/>
                </a:lnTo>
                <a:lnTo>
                  <a:pt x="103" y="9"/>
                </a:lnTo>
                <a:lnTo>
                  <a:pt x="69" y="0"/>
                </a:lnTo>
                <a:lnTo>
                  <a:pt x="20" y="6"/>
                </a:lnTo>
                <a:lnTo>
                  <a:pt x="3" y="19"/>
                </a:lnTo>
                <a:lnTo>
                  <a:pt x="0" y="5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3" name="Freeform 276"/>
          <p:cNvSpPr>
            <a:spLocks/>
          </p:cNvSpPr>
          <p:nvPr/>
        </p:nvSpPr>
        <p:spPr bwMode="auto">
          <a:xfrm>
            <a:off x="7207014" y="3122622"/>
            <a:ext cx="19126" cy="27876"/>
          </a:xfrm>
          <a:custGeom>
            <a:avLst/>
            <a:gdLst>
              <a:gd name="T0" fmla="*/ 2147483646 w 118"/>
              <a:gd name="T1" fmla="*/ 0 h 179"/>
              <a:gd name="T2" fmla="*/ 2147483646 w 118"/>
              <a:gd name="T3" fmla="*/ 2147483646 h 179"/>
              <a:gd name="T4" fmla="*/ 2147483646 w 118"/>
              <a:gd name="T5" fmla="*/ 2147483646 h 179"/>
              <a:gd name="T6" fmla="*/ 2147483646 w 118"/>
              <a:gd name="T7" fmla="*/ 2147483646 h 179"/>
              <a:gd name="T8" fmla="*/ 2147483646 w 118"/>
              <a:gd name="T9" fmla="*/ 2147483646 h 179"/>
              <a:gd name="T10" fmla="*/ 0 w 118"/>
              <a:gd name="T11" fmla="*/ 2147483646 h 179"/>
              <a:gd name="T12" fmla="*/ 2147483646 w 118"/>
              <a:gd name="T13" fmla="*/ 2147483646 h 179"/>
              <a:gd name="T14" fmla="*/ 2147483646 w 118"/>
              <a:gd name="T15" fmla="*/ 2147483646 h 179"/>
              <a:gd name="T16" fmla="*/ 2147483646 w 118"/>
              <a:gd name="T17" fmla="*/ 2147483646 h 179"/>
              <a:gd name="T18" fmla="*/ 2147483646 w 118"/>
              <a:gd name="T19" fmla="*/ 0 h 17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18" h="179">
                <a:moveTo>
                  <a:pt x="118" y="0"/>
                </a:moveTo>
                <a:lnTo>
                  <a:pt x="102" y="39"/>
                </a:lnTo>
                <a:lnTo>
                  <a:pt x="77" y="80"/>
                </a:lnTo>
                <a:lnTo>
                  <a:pt x="52" y="116"/>
                </a:lnTo>
                <a:lnTo>
                  <a:pt x="17" y="164"/>
                </a:lnTo>
                <a:lnTo>
                  <a:pt x="0" y="179"/>
                </a:lnTo>
                <a:lnTo>
                  <a:pt x="39" y="159"/>
                </a:lnTo>
                <a:lnTo>
                  <a:pt x="70" y="115"/>
                </a:lnTo>
                <a:lnTo>
                  <a:pt x="99" y="67"/>
                </a:lnTo>
                <a:lnTo>
                  <a:pt x="118"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4" name="Freeform 277"/>
          <p:cNvSpPr>
            <a:spLocks/>
          </p:cNvSpPr>
          <p:nvPr/>
        </p:nvSpPr>
        <p:spPr bwMode="auto">
          <a:xfrm>
            <a:off x="7173796" y="3028773"/>
            <a:ext cx="112742" cy="103141"/>
          </a:xfrm>
          <a:custGeom>
            <a:avLst/>
            <a:gdLst>
              <a:gd name="T0" fmla="*/ 2147483646 w 671"/>
              <a:gd name="T1" fmla="*/ 2147483646 h 670"/>
              <a:gd name="T2" fmla="*/ 2147483646 w 671"/>
              <a:gd name="T3" fmla="*/ 2147483646 h 670"/>
              <a:gd name="T4" fmla="*/ 2147483646 w 671"/>
              <a:gd name="T5" fmla="*/ 2147483646 h 670"/>
              <a:gd name="T6" fmla="*/ 2147483646 w 671"/>
              <a:gd name="T7" fmla="*/ 2147483646 h 670"/>
              <a:gd name="T8" fmla="*/ 2147483646 w 671"/>
              <a:gd name="T9" fmla="*/ 2147483646 h 670"/>
              <a:gd name="T10" fmla="*/ 2147483646 w 671"/>
              <a:gd name="T11" fmla="*/ 2147483646 h 670"/>
              <a:gd name="T12" fmla="*/ 2147483646 w 671"/>
              <a:gd name="T13" fmla="*/ 2147483646 h 670"/>
              <a:gd name="T14" fmla="*/ 2147483646 w 671"/>
              <a:gd name="T15" fmla="*/ 2147483646 h 670"/>
              <a:gd name="T16" fmla="*/ 2147483646 w 671"/>
              <a:gd name="T17" fmla="*/ 2147483646 h 670"/>
              <a:gd name="T18" fmla="*/ 2147483646 w 671"/>
              <a:gd name="T19" fmla="*/ 2147483646 h 670"/>
              <a:gd name="T20" fmla="*/ 2147483646 w 671"/>
              <a:gd name="T21" fmla="*/ 2147483646 h 670"/>
              <a:gd name="T22" fmla="*/ 2147483646 w 671"/>
              <a:gd name="T23" fmla="*/ 2147483646 h 670"/>
              <a:gd name="T24" fmla="*/ 2147483646 w 671"/>
              <a:gd name="T25" fmla="*/ 2147483646 h 670"/>
              <a:gd name="T26" fmla="*/ 2147483646 w 671"/>
              <a:gd name="T27" fmla="*/ 2147483646 h 670"/>
              <a:gd name="T28" fmla="*/ 2147483646 w 671"/>
              <a:gd name="T29" fmla="*/ 2147483646 h 670"/>
              <a:gd name="T30" fmla="*/ 2147483646 w 671"/>
              <a:gd name="T31" fmla="*/ 2147483646 h 670"/>
              <a:gd name="T32" fmla="*/ 2147483646 w 671"/>
              <a:gd name="T33" fmla="*/ 2147483646 h 670"/>
              <a:gd name="T34" fmla="*/ 2147483646 w 671"/>
              <a:gd name="T35" fmla="*/ 2147483646 h 670"/>
              <a:gd name="T36" fmla="*/ 2147483646 w 671"/>
              <a:gd name="T37" fmla="*/ 2147483646 h 670"/>
              <a:gd name="T38" fmla="*/ 2147483646 w 671"/>
              <a:gd name="T39" fmla="*/ 2147483646 h 670"/>
              <a:gd name="T40" fmla="*/ 2147483646 w 671"/>
              <a:gd name="T41" fmla="*/ 2147483646 h 670"/>
              <a:gd name="T42" fmla="*/ 2147483646 w 671"/>
              <a:gd name="T43" fmla="*/ 2147483646 h 670"/>
              <a:gd name="T44" fmla="*/ 2147483646 w 671"/>
              <a:gd name="T45" fmla="*/ 2147483646 h 670"/>
              <a:gd name="T46" fmla="*/ 2147483646 w 671"/>
              <a:gd name="T47" fmla="*/ 2147483646 h 670"/>
              <a:gd name="T48" fmla="*/ 2147483646 w 671"/>
              <a:gd name="T49" fmla="*/ 2147483646 h 670"/>
              <a:gd name="T50" fmla="*/ 2147483646 w 671"/>
              <a:gd name="T51" fmla="*/ 2147483646 h 670"/>
              <a:gd name="T52" fmla="*/ 2147483646 w 671"/>
              <a:gd name="T53" fmla="*/ 2147483646 h 670"/>
              <a:gd name="T54" fmla="*/ 2147483646 w 671"/>
              <a:gd name="T55" fmla="*/ 2147483646 h 670"/>
              <a:gd name="T56" fmla="*/ 2147483646 w 671"/>
              <a:gd name="T57" fmla="*/ 2147483646 h 670"/>
              <a:gd name="T58" fmla="*/ 2147483646 w 671"/>
              <a:gd name="T59" fmla="*/ 2147483646 h 670"/>
              <a:gd name="T60" fmla="*/ 2147483646 w 671"/>
              <a:gd name="T61" fmla="*/ 0 h 670"/>
              <a:gd name="T62" fmla="*/ 2147483646 w 671"/>
              <a:gd name="T63" fmla="*/ 2147483646 h 670"/>
              <a:gd name="T64" fmla="*/ 2147483646 w 671"/>
              <a:gd name="T65" fmla="*/ 2147483646 h 670"/>
              <a:gd name="T66" fmla="*/ 2147483646 w 671"/>
              <a:gd name="T67" fmla="*/ 2147483646 h 670"/>
              <a:gd name="T68" fmla="*/ 2147483646 w 671"/>
              <a:gd name="T69" fmla="*/ 2147483646 h 670"/>
              <a:gd name="T70" fmla="*/ 0 w 671"/>
              <a:gd name="T71" fmla="*/ 2147483646 h 670"/>
              <a:gd name="T72" fmla="*/ 2147483646 w 671"/>
              <a:gd name="T73" fmla="*/ 2147483646 h 670"/>
              <a:gd name="T74" fmla="*/ 2147483646 w 671"/>
              <a:gd name="T75" fmla="*/ 2147483646 h 67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671" h="670">
                <a:moveTo>
                  <a:pt x="54" y="193"/>
                </a:moveTo>
                <a:lnTo>
                  <a:pt x="155" y="177"/>
                </a:lnTo>
                <a:lnTo>
                  <a:pt x="223" y="187"/>
                </a:lnTo>
                <a:lnTo>
                  <a:pt x="264" y="234"/>
                </a:lnTo>
                <a:lnTo>
                  <a:pt x="238" y="290"/>
                </a:lnTo>
                <a:lnTo>
                  <a:pt x="206" y="311"/>
                </a:lnTo>
                <a:lnTo>
                  <a:pt x="197" y="366"/>
                </a:lnTo>
                <a:lnTo>
                  <a:pt x="217" y="401"/>
                </a:lnTo>
                <a:lnTo>
                  <a:pt x="200" y="453"/>
                </a:lnTo>
                <a:lnTo>
                  <a:pt x="242" y="453"/>
                </a:lnTo>
                <a:lnTo>
                  <a:pt x="254" y="394"/>
                </a:lnTo>
                <a:lnTo>
                  <a:pt x="280" y="366"/>
                </a:lnTo>
                <a:lnTo>
                  <a:pt x="329" y="366"/>
                </a:lnTo>
                <a:lnTo>
                  <a:pt x="378" y="378"/>
                </a:lnTo>
                <a:lnTo>
                  <a:pt x="393" y="419"/>
                </a:lnTo>
                <a:lnTo>
                  <a:pt x="399" y="475"/>
                </a:lnTo>
                <a:lnTo>
                  <a:pt x="393" y="516"/>
                </a:lnTo>
                <a:lnTo>
                  <a:pt x="393" y="547"/>
                </a:lnTo>
                <a:lnTo>
                  <a:pt x="396" y="581"/>
                </a:lnTo>
                <a:lnTo>
                  <a:pt x="428" y="613"/>
                </a:lnTo>
                <a:lnTo>
                  <a:pt x="451" y="632"/>
                </a:lnTo>
                <a:lnTo>
                  <a:pt x="510" y="670"/>
                </a:lnTo>
                <a:lnTo>
                  <a:pt x="620" y="558"/>
                </a:lnTo>
                <a:lnTo>
                  <a:pt x="652" y="466"/>
                </a:lnTo>
                <a:lnTo>
                  <a:pt x="665" y="318"/>
                </a:lnTo>
                <a:lnTo>
                  <a:pt x="671" y="215"/>
                </a:lnTo>
                <a:lnTo>
                  <a:pt x="658" y="114"/>
                </a:lnTo>
                <a:lnTo>
                  <a:pt x="629" y="59"/>
                </a:lnTo>
                <a:lnTo>
                  <a:pt x="562" y="21"/>
                </a:lnTo>
                <a:lnTo>
                  <a:pt x="502" y="8"/>
                </a:lnTo>
                <a:lnTo>
                  <a:pt x="384" y="0"/>
                </a:lnTo>
                <a:lnTo>
                  <a:pt x="270" y="5"/>
                </a:lnTo>
                <a:lnTo>
                  <a:pt x="129" y="30"/>
                </a:lnTo>
                <a:lnTo>
                  <a:pt x="64" y="62"/>
                </a:lnTo>
                <a:lnTo>
                  <a:pt x="32" y="94"/>
                </a:lnTo>
                <a:lnTo>
                  <a:pt x="0" y="140"/>
                </a:lnTo>
                <a:lnTo>
                  <a:pt x="6" y="166"/>
                </a:lnTo>
                <a:lnTo>
                  <a:pt x="54" y="193"/>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5" name="Freeform 278"/>
          <p:cNvSpPr>
            <a:spLocks/>
          </p:cNvSpPr>
          <p:nvPr/>
        </p:nvSpPr>
        <p:spPr bwMode="auto">
          <a:xfrm>
            <a:off x="7176815" y="3029702"/>
            <a:ext cx="107709" cy="99423"/>
          </a:xfrm>
          <a:custGeom>
            <a:avLst/>
            <a:gdLst>
              <a:gd name="T0" fmla="*/ 2147483646 w 636"/>
              <a:gd name="T1" fmla="*/ 2147483646 h 643"/>
              <a:gd name="T2" fmla="*/ 2147483646 w 636"/>
              <a:gd name="T3" fmla="*/ 2147483646 h 643"/>
              <a:gd name="T4" fmla="*/ 2147483646 w 636"/>
              <a:gd name="T5" fmla="*/ 2147483646 h 643"/>
              <a:gd name="T6" fmla="*/ 2147483646 w 636"/>
              <a:gd name="T7" fmla="*/ 2147483646 h 643"/>
              <a:gd name="T8" fmla="*/ 2147483646 w 636"/>
              <a:gd name="T9" fmla="*/ 2147483646 h 643"/>
              <a:gd name="T10" fmla="*/ 2147483646 w 636"/>
              <a:gd name="T11" fmla="*/ 2147483646 h 643"/>
              <a:gd name="T12" fmla="*/ 2147483646 w 636"/>
              <a:gd name="T13" fmla="*/ 2147483646 h 643"/>
              <a:gd name="T14" fmla="*/ 2147483646 w 636"/>
              <a:gd name="T15" fmla="*/ 2147483646 h 643"/>
              <a:gd name="T16" fmla="*/ 2147483646 w 636"/>
              <a:gd name="T17" fmla="*/ 2147483646 h 643"/>
              <a:gd name="T18" fmla="*/ 2147483646 w 636"/>
              <a:gd name="T19" fmla="*/ 2147483646 h 643"/>
              <a:gd name="T20" fmla="*/ 2147483646 w 636"/>
              <a:gd name="T21" fmla="*/ 2147483646 h 643"/>
              <a:gd name="T22" fmla="*/ 2147483646 w 636"/>
              <a:gd name="T23" fmla="*/ 2147483646 h 643"/>
              <a:gd name="T24" fmla="*/ 2147483646 w 636"/>
              <a:gd name="T25" fmla="*/ 2147483646 h 643"/>
              <a:gd name="T26" fmla="*/ 2147483646 w 636"/>
              <a:gd name="T27" fmla="*/ 2147483646 h 643"/>
              <a:gd name="T28" fmla="*/ 2147483646 w 636"/>
              <a:gd name="T29" fmla="*/ 2147483646 h 643"/>
              <a:gd name="T30" fmla="*/ 2147483646 w 636"/>
              <a:gd name="T31" fmla="*/ 2147483646 h 643"/>
              <a:gd name="T32" fmla="*/ 2147483646 w 636"/>
              <a:gd name="T33" fmla="*/ 2147483646 h 643"/>
              <a:gd name="T34" fmla="*/ 2147483646 w 636"/>
              <a:gd name="T35" fmla="*/ 2147483646 h 643"/>
              <a:gd name="T36" fmla="*/ 2147483646 w 636"/>
              <a:gd name="T37" fmla="*/ 2147483646 h 643"/>
              <a:gd name="T38" fmla="*/ 2147483646 w 636"/>
              <a:gd name="T39" fmla="*/ 2147483646 h 643"/>
              <a:gd name="T40" fmla="*/ 2147483646 w 636"/>
              <a:gd name="T41" fmla="*/ 2147483646 h 643"/>
              <a:gd name="T42" fmla="*/ 2147483646 w 636"/>
              <a:gd name="T43" fmla="*/ 2147483646 h 643"/>
              <a:gd name="T44" fmla="*/ 2147483646 w 636"/>
              <a:gd name="T45" fmla="*/ 2147483646 h 643"/>
              <a:gd name="T46" fmla="*/ 2147483646 w 636"/>
              <a:gd name="T47" fmla="*/ 2147483646 h 643"/>
              <a:gd name="T48" fmla="*/ 2147483646 w 636"/>
              <a:gd name="T49" fmla="*/ 2147483646 h 643"/>
              <a:gd name="T50" fmla="*/ 2147483646 w 636"/>
              <a:gd name="T51" fmla="*/ 2147483646 h 643"/>
              <a:gd name="T52" fmla="*/ 2147483646 w 636"/>
              <a:gd name="T53" fmla="*/ 2147483646 h 643"/>
              <a:gd name="T54" fmla="*/ 2147483646 w 636"/>
              <a:gd name="T55" fmla="*/ 2147483646 h 643"/>
              <a:gd name="T56" fmla="*/ 2147483646 w 636"/>
              <a:gd name="T57" fmla="*/ 2147483646 h 643"/>
              <a:gd name="T58" fmla="*/ 2147483646 w 636"/>
              <a:gd name="T59" fmla="*/ 2147483646 h 643"/>
              <a:gd name="T60" fmla="*/ 2147483646 w 636"/>
              <a:gd name="T61" fmla="*/ 2147483646 h 643"/>
              <a:gd name="T62" fmla="*/ 2147483646 w 636"/>
              <a:gd name="T63" fmla="*/ 2147483646 h 643"/>
              <a:gd name="T64" fmla="*/ 2147483646 w 636"/>
              <a:gd name="T65" fmla="*/ 2147483646 h 643"/>
              <a:gd name="T66" fmla="*/ 2147483646 w 636"/>
              <a:gd name="T67" fmla="*/ 2147483646 h 643"/>
              <a:gd name="T68" fmla="*/ 2147483646 w 636"/>
              <a:gd name="T69" fmla="*/ 2147483646 h 643"/>
              <a:gd name="T70" fmla="*/ 2147483646 w 636"/>
              <a:gd name="T71" fmla="*/ 2147483646 h 643"/>
              <a:gd name="T72" fmla="*/ 2147483646 w 636"/>
              <a:gd name="T73" fmla="*/ 2147483646 h 643"/>
              <a:gd name="T74" fmla="*/ 2147483646 w 636"/>
              <a:gd name="T75" fmla="*/ 2147483646 h 643"/>
              <a:gd name="T76" fmla="*/ 2147483646 w 636"/>
              <a:gd name="T77" fmla="*/ 2147483646 h 643"/>
              <a:gd name="T78" fmla="*/ 2147483646 w 636"/>
              <a:gd name="T79" fmla="*/ 2147483646 h 643"/>
              <a:gd name="T80" fmla="*/ 2147483646 w 636"/>
              <a:gd name="T81" fmla="*/ 2147483646 h 643"/>
              <a:gd name="T82" fmla="*/ 2147483646 w 636"/>
              <a:gd name="T83" fmla="*/ 2147483646 h 643"/>
              <a:gd name="T84" fmla="*/ 2147483646 w 636"/>
              <a:gd name="T85" fmla="*/ 2147483646 h 643"/>
              <a:gd name="T86" fmla="*/ 2147483646 w 636"/>
              <a:gd name="T87" fmla="*/ 2147483646 h 643"/>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636" h="643">
                <a:moveTo>
                  <a:pt x="104" y="41"/>
                </a:moveTo>
                <a:lnTo>
                  <a:pt x="51" y="63"/>
                </a:lnTo>
                <a:lnTo>
                  <a:pt x="25" y="98"/>
                </a:lnTo>
                <a:lnTo>
                  <a:pt x="10" y="121"/>
                </a:lnTo>
                <a:lnTo>
                  <a:pt x="0" y="138"/>
                </a:lnTo>
                <a:lnTo>
                  <a:pt x="13" y="152"/>
                </a:lnTo>
                <a:lnTo>
                  <a:pt x="41" y="169"/>
                </a:lnTo>
                <a:lnTo>
                  <a:pt x="110" y="158"/>
                </a:lnTo>
                <a:lnTo>
                  <a:pt x="160" y="158"/>
                </a:lnTo>
                <a:lnTo>
                  <a:pt x="194" y="141"/>
                </a:lnTo>
                <a:lnTo>
                  <a:pt x="245" y="129"/>
                </a:lnTo>
                <a:lnTo>
                  <a:pt x="290" y="126"/>
                </a:lnTo>
                <a:lnTo>
                  <a:pt x="342" y="129"/>
                </a:lnTo>
                <a:lnTo>
                  <a:pt x="267" y="138"/>
                </a:lnTo>
                <a:lnTo>
                  <a:pt x="229" y="148"/>
                </a:lnTo>
                <a:lnTo>
                  <a:pt x="201" y="158"/>
                </a:lnTo>
                <a:lnTo>
                  <a:pt x="194" y="161"/>
                </a:lnTo>
                <a:lnTo>
                  <a:pt x="213" y="169"/>
                </a:lnTo>
                <a:lnTo>
                  <a:pt x="229" y="185"/>
                </a:lnTo>
                <a:lnTo>
                  <a:pt x="255" y="169"/>
                </a:lnTo>
                <a:lnTo>
                  <a:pt x="277" y="163"/>
                </a:lnTo>
                <a:lnTo>
                  <a:pt x="325" y="155"/>
                </a:lnTo>
                <a:lnTo>
                  <a:pt x="339" y="155"/>
                </a:lnTo>
                <a:lnTo>
                  <a:pt x="293" y="172"/>
                </a:lnTo>
                <a:lnTo>
                  <a:pt x="258" y="188"/>
                </a:lnTo>
                <a:lnTo>
                  <a:pt x="239" y="201"/>
                </a:lnTo>
                <a:lnTo>
                  <a:pt x="255" y="217"/>
                </a:lnTo>
                <a:lnTo>
                  <a:pt x="293" y="204"/>
                </a:lnTo>
                <a:lnTo>
                  <a:pt x="325" y="198"/>
                </a:lnTo>
                <a:lnTo>
                  <a:pt x="267" y="226"/>
                </a:lnTo>
                <a:lnTo>
                  <a:pt x="248" y="239"/>
                </a:lnTo>
                <a:lnTo>
                  <a:pt x="242" y="266"/>
                </a:lnTo>
                <a:lnTo>
                  <a:pt x="232" y="280"/>
                </a:lnTo>
                <a:lnTo>
                  <a:pt x="267" y="263"/>
                </a:lnTo>
                <a:lnTo>
                  <a:pt x="298" y="257"/>
                </a:lnTo>
                <a:lnTo>
                  <a:pt x="348" y="255"/>
                </a:lnTo>
                <a:lnTo>
                  <a:pt x="272" y="276"/>
                </a:lnTo>
                <a:lnTo>
                  <a:pt x="226" y="294"/>
                </a:lnTo>
                <a:lnTo>
                  <a:pt x="194" y="310"/>
                </a:lnTo>
                <a:lnTo>
                  <a:pt x="191" y="335"/>
                </a:lnTo>
                <a:lnTo>
                  <a:pt x="229" y="317"/>
                </a:lnTo>
                <a:lnTo>
                  <a:pt x="280" y="300"/>
                </a:lnTo>
                <a:lnTo>
                  <a:pt x="304" y="300"/>
                </a:lnTo>
                <a:lnTo>
                  <a:pt x="248" y="320"/>
                </a:lnTo>
                <a:lnTo>
                  <a:pt x="204" y="338"/>
                </a:lnTo>
                <a:lnTo>
                  <a:pt x="187" y="355"/>
                </a:lnTo>
                <a:lnTo>
                  <a:pt x="194" y="370"/>
                </a:lnTo>
                <a:lnTo>
                  <a:pt x="229" y="358"/>
                </a:lnTo>
                <a:lnTo>
                  <a:pt x="261" y="344"/>
                </a:lnTo>
                <a:lnTo>
                  <a:pt x="327" y="341"/>
                </a:lnTo>
                <a:lnTo>
                  <a:pt x="354" y="344"/>
                </a:lnTo>
                <a:lnTo>
                  <a:pt x="415" y="348"/>
                </a:lnTo>
                <a:lnTo>
                  <a:pt x="488" y="338"/>
                </a:lnTo>
                <a:lnTo>
                  <a:pt x="444" y="355"/>
                </a:lnTo>
                <a:lnTo>
                  <a:pt x="368" y="367"/>
                </a:lnTo>
                <a:lnTo>
                  <a:pt x="384" y="393"/>
                </a:lnTo>
                <a:lnTo>
                  <a:pt x="438" y="379"/>
                </a:lnTo>
                <a:lnTo>
                  <a:pt x="491" y="361"/>
                </a:lnTo>
                <a:lnTo>
                  <a:pt x="525" y="344"/>
                </a:lnTo>
                <a:lnTo>
                  <a:pt x="460" y="393"/>
                </a:lnTo>
                <a:lnTo>
                  <a:pt x="419" y="405"/>
                </a:lnTo>
                <a:lnTo>
                  <a:pt x="384" y="417"/>
                </a:lnTo>
                <a:lnTo>
                  <a:pt x="387" y="442"/>
                </a:lnTo>
                <a:lnTo>
                  <a:pt x="438" y="434"/>
                </a:lnTo>
                <a:lnTo>
                  <a:pt x="478" y="423"/>
                </a:lnTo>
                <a:lnTo>
                  <a:pt x="454" y="440"/>
                </a:lnTo>
                <a:lnTo>
                  <a:pt x="409" y="452"/>
                </a:lnTo>
                <a:lnTo>
                  <a:pt x="387" y="455"/>
                </a:lnTo>
                <a:lnTo>
                  <a:pt x="387" y="511"/>
                </a:lnTo>
                <a:lnTo>
                  <a:pt x="435" y="492"/>
                </a:lnTo>
                <a:lnTo>
                  <a:pt x="473" y="477"/>
                </a:lnTo>
                <a:lnTo>
                  <a:pt x="432" y="508"/>
                </a:lnTo>
                <a:lnTo>
                  <a:pt x="380" y="530"/>
                </a:lnTo>
                <a:lnTo>
                  <a:pt x="384" y="556"/>
                </a:lnTo>
                <a:lnTo>
                  <a:pt x="412" y="586"/>
                </a:lnTo>
                <a:lnTo>
                  <a:pt x="438" y="553"/>
                </a:lnTo>
                <a:lnTo>
                  <a:pt x="473" y="511"/>
                </a:lnTo>
                <a:lnTo>
                  <a:pt x="496" y="471"/>
                </a:lnTo>
                <a:lnTo>
                  <a:pt x="473" y="533"/>
                </a:lnTo>
                <a:lnTo>
                  <a:pt x="454" y="556"/>
                </a:lnTo>
                <a:lnTo>
                  <a:pt x="419" y="599"/>
                </a:lnTo>
                <a:lnTo>
                  <a:pt x="444" y="628"/>
                </a:lnTo>
                <a:lnTo>
                  <a:pt x="485" y="594"/>
                </a:lnTo>
                <a:lnTo>
                  <a:pt x="514" y="553"/>
                </a:lnTo>
                <a:lnTo>
                  <a:pt x="540" y="508"/>
                </a:lnTo>
                <a:lnTo>
                  <a:pt x="517" y="573"/>
                </a:lnTo>
                <a:lnTo>
                  <a:pt x="491" y="602"/>
                </a:lnTo>
                <a:lnTo>
                  <a:pt x="465" y="631"/>
                </a:lnTo>
                <a:lnTo>
                  <a:pt x="488" y="643"/>
                </a:lnTo>
                <a:lnTo>
                  <a:pt x="540" y="599"/>
                </a:lnTo>
                <a:lnTo>
                  <a:pt x="589" y="530"/>
                </a:lnTo>
                <a:lnTo>
                  <a:pt x="607" y="477"/>
                </a:lnTo>
                <a:lnTo>
                  <a:pt x="620" y="386"/>
                </a:lnTo>
                <a:lnTo>
                  <a:pt x="627" y="317"/>
                </a:lnTo>
                <a:lnTo>
                  <a:pt x="636" y="239"/>
                </a:lnTo>
                <a:lnTo>
                  <a:pt x="582" y="255"/>
                </a:lnTo>
                <a:lnTo>
                  <a:pt x="522" y="276"/>
                </a:lnTo>
                <a:lnTo>
                  <a:pt x="432" y="297"/>
                </a:lnTo>
                <a:lnTo>
                  <a:pt x="514" y="266"/>
                </a:lnTo>
                <a:lnTo>
                  <a:pt x="543" y="249"/>
                </a:lnTo>
                <a:lnTo>
                  <a:pt x="601" y="229"/>
                </a:lnTo>
                <a:lnTo>
                  <a:pt x="630" y="223"/>
                </a:lnTo>
                <a:lnTo>
                  <a:pt x="630" y="182"/>
                </a:lnTo>
                <a:lnTo>
                  <a:pt x="623" y="129"/>
                </a:lnTo>
                <a:lnTo>
                  <a:pt x="551" y="141"/>
                </a:lnTo>
                <a:lnTo>
                  <a:pt x="505" y="155"/>
                </a:lnTo>
                <a:lnTo>
                  <a:pt x="447" y="182"/>
                </a:lnTo>
                <a:lnTo>
                  <a:pt x="499" y="141"/>
                </a:lnTo>
                <a:lnTo>
                  <a:pt x="560" y="124"/>
                </a:lnTo>
                <a:lnTo>
                  <a:pt x="620" y="109"/>
                </a:lnTo>
                <a:lnTo>
                  <a:pt x="607" y="69"/>
                </a:lnTo>
                <a:lnTo>
                  <a:pt x="589" y="45"/>
                </a:lnTo>
                <a:lnTo>
                  <a:pt x="534" y="28"/>
                </a:lnTo>
                <a:lnTo>
                  <a:pt x="482" y="41"/>
                </a:lnTo>
                <a:lnTo>
                  <a:pt x="432" y="76"/>
                </a:lnTo>
                <a:lnTo>
                  <a:pt x="465" y="35"/>
                </a:lnTo>
                <a:lnTo>
                  <a:pt x="517" y="16"/>
                </a:lnTo>
                <a:lnTo>
                  <a:pt x="460" y="6"/>
                </a:lnTo>
                <a:lnTo>
                  <a:pt x="419" y="3"/>
                </a:lnTo>
                <a:lnTo>
                  <a:pt x="359" y="13"/>
                </a:lnTo>
                <a:lnTo>
                  <a:pt x="318" y="38"/>
                </a:lnTo>
                <a:lnTo>
                  <a:pt x="255" y="51"/>
                </a:lnTo>
                <a:lnTo>
                  <a:pt x="298" y="32"/>
                </a:lnTo>
                <a:lnTo>
                  <a:pt x="330" y="13"/>
                </a:lnTo>
                <a:lnTo>
                  <a:pt x="348" y="0"/>
                </a:lnTo>
                <a:lnTo>
                  <a:pt x="287" y="3"/>
                </a:lnTo>
                <a:lnTo>
                  <a:pt x="232" y="6"/>
                </a:lnTo>
                <a:lnTo>
                  <a:pt x="198" y="22"/>
                </a:lnTo>
                <a:lnTo>
                  <a:pt x="163" y="54"/>
                </a:lnTo>
                <a:lnTo>
                  <a:pt x="136" y="95"/>
                </a:lnTo>
                <a:lnTo>
                  <a:pt x="151" y="48"/>
                </a:lnTo>
                <a:lnTo>
                  <a:pt x="184" y="16"/>
                </a:lnTo>
                <a:lnTo>
                  <a:pt x="104" y="41"/>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86" name="Group 279"/>
          <p:cNvGrpSpPr>
            <a:grpSpLocks/>
          </p:cNvGrpSpPr>
          <p:nvPr/>
        </p:nvGrpSpPr>
        <p:grpSpPr bwMode="auto">
          <a:xfrm>
            <a:off x="6951331" y="3281513"/>
            <a:ext cx="116768" cy="65973"/>
            <a:chOff x="5264" y="1904"/>
            <a:chExt cx="116" cy="71"/>
          </a:xfrm>
        </p:grpSpPr>
        <p:sp>
          <p:nvSpPr>
            <p:cNvPr id="287" name="Freeform 280"/>
            <p:cNvSpPr>
              <a:spLocks/>
            </p:cNvSpPr>
            <p:nvPr/>
          </p:nvSpPr>
          <p:spPr bwMode="auto">
            <a:xfrm>
              <a:off x="5264" y="1904"/>
              <a:ext cx="116" cy="71"/>
            </a:xfrm>
            <a:custGeom>
              <a:avLst/>
              <a:gdLst>
                <a:gd name="T0" fmla="*/ 0 w 698"/>
                <a:gd name="T1" fmla="*/ 0 h 425"/>
                <a:gd name="T2" fmla="*/ 0 w 698"/>
                <a:gd name="T3" fmla="*/ 0 h 425"/>
                <a:gd name="T4" fmla="*/ 0 w 698"/>
                <a:gd name="T5" fmla="*/ 0 h 425"/>
                <a:gd name="T6" fmla="*/ 0 w 698"/>
                <a:gd name="T7" fmla="*/ 0 h 425"/>
                <a:gd name="T8" fmla="*/ 0 w 698"/>
                <a:gd name="T9" fmla="*/ 0 h 425"/>
                <a:gd name="T10" fmla="*/ 0 w 698"/>
                <a:gd name="T11" fmla="*/ 0 h 425"/>
                <a:gd name="T12" fmla="*/ 0 w 698"/>
                <a:gd name="T13" fmla="*/ 0 h 425"/>
                <a:gd name="T14" fmla="*/ 0 w 698"/>
                <a:gd name="T15" fmla="*/ 0 h 425"/>
                <a:gd name="T16" fmla="*/ 0 w 698"/>
                <a:gd name="T17" fmla="*/ 0 h 425"/>
                <a:gd name="T18" fmla="*/ 0 w 698"/>
                <a:gd name="T19" fmla="*/ 0 h 425"/>
                <a:gd name="T20" fmla="*/ 0 w 698"/>
                <a:gd name="T21" fmla="*/ 0 h 425"/>
                <a:gd name="T22" fmla="*/ 0 w 698"/>
                <a:gd name="T23" fmla="*/ 0 h 425"/>
                <a:gd name="T24" fmla="*/ 0 w 698"/>
                <a:gd name="T25" fmla="*/ 0 h 425"/>
                <a:gd name="T26" fmla="*/ 0 w 698"/>
                <a:gd name="T27" fmla="*/ 0 h 425"/>
                <a:gd name="T28" fmla="*/ 0 w 698"/>
                <a:gd name="T29" fmla="*/ 0 h 425"/>
                <a:gd name="T30" fmla="*/ 0 w 698"/>
                <a:gd name="T31" fmla="*/ 0 h 425"/>
                <a:gd name="T32" fmla="*/ 0 w 698"/>
                <a:gd name="T33" fmla="*/ 0 h 425"/>
                <a:gd name="T34" fmla="*/ 0 w 698"/>
                <a:gd name="T35" fmla="*/ 0 h 425"/>
                <a:gd name="T36" fmla="*/ 0 w 698"/>
                <a:gd name="T37" fmla="*/ 0 h 425"/>
                <a:gd name="T38" fmla="*/ 0 w 698"/>
                <a:gd name="T39" fmla="*/ 0 h 425"/>
                <a:gd name="T40" fmla="*/ 0 w 698"/>
                <a:gd name="T41" fmla="*/ 0 h 425"/>
                <a:gd name="T42" fmla="*/ 0 w 698"/>
                <a:gd name="T43" fmla="*/ 0 h 425"/>
                <a:gd name="T44" fmla="*/ 0 w 698"/>
                <a:gd name="T45" fmla="*/ 0 h 425"/>
                <a:gd name="T46" fmla="*/ 0 w 698"/>
                <a:gd name="T47" fmla="*/ 0 h 425"/>
                <a:gd name="T48" fmla="*/ 0 w 698"/>
                <a:gd name="T49" fmla="*/ 0 h 425"/>
                <a:gd name="T50" fmla="*/ 0 w 698"/>
                <a:gd name="T51" fmla="*/ 0 h 425"/>
                <a:gd name="T52" fmla="*/ 0 w 698"/>
                <a:gd name="T53" fmla="*/ 0 h 425"/>
                <a:gd name="T54" fmla="*/ 0 w 698"/>
                <a:gd name="T55" fmla="*/ 0 h 425"/>
                <a:gd name="T56" fmla="*/ 0 w 698"/>
                <a:gd name="T57" fmla="*/ 0 h 425"/>
                <a:gd name="T58" fmla="*/ 0 w 698"/>
                <a:gd name="T59" fmla="*/ 0 h 425"/>
                <a:gd name="T60" fmla="*/ 0 w 698"/>
                <a:gd name="T61" fmla="*/ 0 h 425"/>
                <a:gd name="T62" fmla="*/ 0 w 698"/>
                <a:gd name="T63" fmla="*/ 0 h 425"/>
                <a:gd name="T64" fmla="*/ 0 w 698"/>
                <a:gd name="T65" fmla="*/ 0 h 425"/>
                <a:gd name="T66" fmla="*/ 0 w 698"/>
                <a:gd name="T67" fmla="*/ 0 h 425"/>
                <a:gd name="T68" fmla="*/ 0 w 698"/>
                <a:gd name="T69" fmla="*/ 0 h 425"/>
                <a:gd name="T70" fmla="*/ 0 w 698"/>
                <a:gd name="T71" fmla="*/ 0 h 425"/>
                <a:gd name="T72" fmla="*/ 0 w 698"/>
                <a:gd name="T73" fmla="*/ 0 h 425"/>
                <a:gd name="T74" fmla="*/ 0 w 698"/>
                <a:gd name="T75" fmla="*/ 0 h 425"/>
                <a:gd name="T76" fmla="*/ 0 w 698"/>
                <a:gd name="T77" fmla="*/ 0 h 425"/>
                <a:gd name="T78" fmla="*/ 0 w 698"/>
                <a:gd name="T79" fmla="*/ 0 h 425"/>
                <a:gd name="T80" fmla="*/ 0 w 698"/>
                <a:gd name="T81" fmla="*/ 0 h 425"/>
                <a:gd name="T82" fmla="*/ 0 w 698"/>
                <a:gd name="T83" fmla="*/ 0 h 425"/>
                <a:gd name="T84" fmla="*/ 0 w 698"/>
                <a:gd name="T85" fmla="*/ 0 h 425"/>
                <a:gd name="T86" fmla="*/ 0 w 698"/>
                <a:gd name="T87" fmla="*/ 0 h 425"/>
                <a:gd name="T88" fmla="*/ 0 w 698"/>
                <a:gd name="T89" fmla="*/ 0 h 425"/>
                <a:gd name="T90" fmla="*/ 0 w 698"/>
                <a:gd name="T91" fmla="*/ 0 h 425"/>
                <a:gd name="T92" fmla="*/ 0 w 698"/>
                <a:gd name="T93" fmla="*/ 0 h 425"/>
                <a:gd name="T94" fmla="*/ 0 w 698"/>
                <a:gd name="T95" fmla="*/ 0 h 425"/>
                <a:gd name="T96" fmla="*/ 0 w 698"/>
                <a:gd name="T97" fmla="*/ 0 h 425"/>
                <a:gd name="T98" fmla="*/ 0 w 698"/>
                <a:gd name="T99" fmla="*/ 0 h 42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698" h="425">
                  <a:moveTo>
                    <a:pt x="698" y="253"/>
                  </a:moveTo>
                  <a:lnTo>
                    <a:pt x="611" y="233"/>
                  </a:lnTo>
                  <a:lnTo>
                    <a:pt x="579" y="227"/>
                  </a:lnTo>
                  <a:lnTo>
                    <a:pt x="558" y="210"/>
                  </a:lnTo>
                  <a:lnTo>
                    <a:pt x="538" y="182"/>
                  </a:lnTo>
                  <a:lnTo>
                    <a:pt x="496" y="143"/>
                  </a:lnTo>
                  <a:lnTo>
                    <a:pt x="420" y="79"/>
                  </a:lnTo>
                  <a:lnTo>
                    <a:pt x="407" y="58"/>
                  </a:lnTo>
                  <a:lnTo>
                    <a:pt x="387" y="38"/>
                  </a:lnTo>
                  <a:lnTo>
                    <a:pt x="347" y="32"/>
                  </a:lnTo>
                  <a:lnTo>
                    <a:pt x="225" y="11"/>
                  </a:lnTo>
                  <a:lnTo>
                    <a:pt x="192" y="0"/>
                  </a:lnTo>
                  <a:lnTo>
                    <a:pt x="162" y="14"/>
                  </a:lnTo>
                  <a:lnTo>
                    <a:pt x="147" y="27"/>
                  </a:lnTo>
                  <a:lnTo>
                    <a:pt x="75" y="52"/>
                  </a:lnTo>
                  <a:lnTo>
                    <a:pt x="48" y="62"/>
                  </a:lnTo>
                  <a:lnTo>
                    <a:pt x="37" y="73"/>
                  </a:lnTo>
                  <a:lnTo>
                    <a:pt x="24" y="114"/>
                  </a:lnTo>
                  <a:lnTo>
                    <a:pt x="16" y="133"/>
                  </a:lnTo>
                  <a:lnTo>
                    <a:pt x="9" y="146"/>
                  </a:lnTo>
                  <a:lnTo>
                    <a:pt x="0" y="165"/>
                  </a:lnTo>
                  <a:lnTo>
                    <a:pt x="0" y="181"/>
                  </a:lnTo>
                  <a:lnTo>
                    <a:pt x="15" y="191"/>
                  </a:lnTo>
                  <a:lnTo>
                    <a:pt x="43" y="190"/>
                  </a:lnTo>
                  <a:lnTo>
                    <a:pt x="89" y="168"/>
                  </a:lnTo>
                  <a:lnTo>
                    <a:pt x="147" y="158"/>
                  </a:lnTo>
                  <a:lnTo>
                    <a:pt x="198" y="165"/>
                  </a:lnTo>
                  <a:lnTo>
                    <a:pt x="144" y="179"/>
                  </a:lnTo>
                  <a:lnTo>
                    <a:pt x="105" y="191"/>
                  </a:lnTo>
                  <a:lnTo>
                    <a:pt x="61" y="210"/>
                  </a:lnTo>
                  <a:lnTo>
                    <a:pt x="51" y="224"/>
                  </a:lnTo>
                  <a:lnTo>
                    <a:pt x="51" y="242"/>
                  </a:lnTo>
                  <a:lnTo>
                    <a:pt x="67" y="253"/>
                  </a:lnTo>
                  <a:lnTo>
                    <a:pt x="87" y="250"/>
                  </a:lnTo>
                  <a:lnTo>
                    <a:pt x="150" y="233"/>
                  </a:lnTo>
                  <a:lnTo>
                    <a:pt x="205" y="230"/>
                  </a:lnTo>
                  <a:lnTo>
                    <a:pt x="249" y="233"/>
                  </a:lnTo>
                  <a:lnTo>
                    <a:pt x="273" y="250"/>
                  </a:lnTo>
                  <a:lnTo>
                    <a:pt x="301" y="279"/>
                  </a:lnTo>
                  <a:lnTo>
                    <a:pt x="323" y="310"/>
                  </a:lnTo>
                  <a:lnTo>
                    <a:pt x="346" y="342"/>
                  </a:lnTo>
                  <a:lnTo>
                    <a:pt x="364" y="366"/>
                  </a:lnTo>
                  <a:lnTo>
                    <a:pt x="397" y="389"/>
                  </a:lnTo>
                  <a:lnTo>
                    <a:pt x="429" y="396"/>
                  </a:lnTo>
                  <a:lnTo>
                    <a:pt x="464" y="399"/>
                  </a:lnTo>
                  <a:lnTo>
                    <a:pt x="507" y="396"/>
                  </a:lnTo>
                  <a:lnTo>
                    <a:pt x="539" y="393"/>
                  </a:lnTo>
                  <a:lnTo>
                    <a:pt x="582" y="404"/>
                  </a:lnTo>
                  <a:lnTo>
                    <a:pt x="698" y="425"/>
                  </a:lnTo>
                  <a:lnTo>
                    <a:pt x="698" y="253"/>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8" name="Freeform 281"/>
            <p:cNvSpPr>
              <a:spLocks/>
            </p:cNvSpPr>
            <p:nvPr/>
          </p:nvSpPr>
          <p:spPr bwMode="auto">
            <a:xfrm>
              <a:off x="5269" y="1916"/>
              <a:ext cx="37" cy="9"/>
            </a:xfrm>
            <a:custGeom>
              <a:avLst/>
              <a:gdLst>
                <a:gd name="T0" fmla="*/ 0 w 223"/>
                <a:gd name="T1" fmla="*/ 0 h 52"/>
                <a:gd name="T2" fmla="*/ 0 w 223"/>
                <a:gd name="T3" fmla="*/ 0 h 52"/>
                <a:gd name="T4" fmla="*/ 0 w 223"/>
                <a:gd name="T5" fmla="*/ 0 h 52"/>
                <a:gd name="T6" fmla="*/ 0 w 223"/>
                <a:gd name="T7" fmla="*/ 0 h 52"/>
                <a:gd name="T8" fmla="*/ 0 w 223"/>
                <a:gd name="T9" fmla="*/ 0 h 52"/>
                <a:gd name="T10" fmla="*/ 0 w 223"/>
                <a:gd name="T11" fmla="*/ 0 h 52"/>
                <a:gd name="T12" fmla="*/ 0 w 223"/>
                <a:gd name="T13" fmla="*/ 0 h 52"/>
                <a:gd name="T14" fmla="*/ 0 w 223"/>
                <a:gd name="T15" fmla="*/ 0 h 52"/>
                <a:gd name="T16" fmla="*/ 0 w 223"/>
                <a:gd name="T17" fmla="*/ 0 h 52"/>
                <a:gd name="T18" fmla="*/ 0 w 223"/>
                <a:gd name="T19" fmla="*/ 0 h 52"/>
                <a:gd name="T20" fmla="*/ 0 w 223"/>
                <a:gd name="T21" fmla="*/ 0 h 52"/>
                <a:gd name="T22" fmla="*/ 0 w 223"/>
                <a:gd name="T23" fmla="*/ 0 h 52"/>
                <a:gd name="T24" fmla="*/ 0 w 223"/>
                <a:gd name="T25" fmla="*/ 0 h 52"/>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223" h="52">
                  <a:moveTo>
                    <a:pt x="0" y="52"/>
                  </a:moveTo>
                  <a:lnTo>
                    <a:pt x="38" y="36"/>
                  </a:lnTo>
                  <a:lnTo>
                    <a:pt x="69" y="30"/>
                  </a:lnTo>
                  <a:lnTo>
                    <a:pt x="107" y="18"/>
                  </a:lnTo>
                  <a:lnTo>
                    <a:pt x="139" y="11"/>
                  </a:lnTo>
                  <a:lnTo>
                    <a:pt x="189" y="15"/>
                  </a:lnTo>
                  <a:lnTo>
                    <a:pt x="223" y="18"/>
                  </a:lnTo>
                  <a:lnTo>
                    <a:pt x="171" y="8"/>
                  </a:lnTo>
                  <a:lnTo>
                    <a:pt x="127" y="0"/>
                  </a:lnTo>
                  <a:lnTo>
                    <a:pt x="69" y="24"/>
                  </a:lnTo>
                  <a:lnTo>
                    <a:pt x="38" y="28"/>
                  </a:lnTo>
                  <a:lnTo>
                    <a:pt x="3" y="45"/>
                  </a:lnTo>
                  <a:lnTo>
                    <a:pt x="0" y="5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9" name="Freeform 282"/>
            <p:cNvSpPr>
              <a:spLocks/>
            </p:cNvSpPr>
            <p:nvPr/>
          </p:nvSpPr>
          <p:spPr bwMode="auto">
            <a:xfrm>
              <a:off x="5289" y="1907"/>
              <a:ext cx="31" cy="6"/>
            </a:xfrm>
            <a:custGeom>
              <a:avLst/>
              <a:gdLst>
                <a:gd name="T0" fmla="*/ 0 w 188"/>
                <a:gd name="T1" fmla="*/ 0 h 36"/>
                <a:gd name="T2" fmla="*/ 0 w 188"/>
                <a:gd name="T3" fmla="*/ 0 h 36"/>
                <a:gd name="T4" fmla="*/ 0 w 188"/>
                <a:gd name="T5" fmla="*/ 0 h 36"/>
                <a:gd name="T6" fmla="*/ 0 w 188"/>
                <a:gd name="T7" fmla="*/ 0 h 36"/>
                <a:gd name="T8" fmla="*/ 0 w 188"/>
                <a:gd name="T9" fmla="*/ 0 h 36"/>
                <a:gd name="T10" fmla="*/ 0 w 188"/>
                <a:gd name="T11" fmla="*/ 0 h 36"/>
                <a:gd name="T12" fmla="*/ 0 w 188"/>
                <a:gd name="T13" fmla="*/ 0 h 36"/>
                <a:gd name="T14" fmla="*/ 0 w 188"/>
                <a:gd name="T15" fmla="*/ 0 h 36"/>
                <a:gd name="T16" fmla="*/ 0 w 188"/>
                <a:gd name="T17" fmla="*/ 0 h 36"/>
                <a:gd name="T18" fmla="*/ 0 w 188"/>
                <a:gd name="T19" fmla="*/ 0 h 36"/>
                <a:gd name="T20" fmla="*/ 0 w 188"/>
                <a:gd name="T21" fmla="*/ 0 h 36"/>
                <a:gd name="T22" fmla="*/ 0 w 188"/>
                <a:gd name="T23" fmla="*/ 0 h 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88" h="36">
                  <a:moveTo>
                    <a:pt x="51" y="0"/>
                  </a:moveTo>
                  <a:lnTo>
                    <a:pt x="29" y="1"/>
                  </a:lnTo>
                  <a:lnTo>
                    <a:pt x="0" y="11"/>
                  </a:lnTo>
                  <a:lnTo>
                    <a:pt x="19" y="9"/>
                  </a:lnTo>
                  <a:lnTo>
                    <a:pt x="48" y="4"/>
                  </a:lnTo>
                  <a:lnTo>
                    <a:pt x="109" y="20"/>
                  </a:lnTo>
                  <a:lnTo>
                    <a:pt x="143" y="30"/>
                  </a:lnTo>
                  <a:lnTo>
                    <a:pt x="181" y="36"/>
                  </a:lnTo>
                  <a:lnTo>
                    <a:pt x="188" y="30"/>
                  </a:lnTo>
                  <a:lnTo>
                    <a:pt x="146" y="22"/>
                  </a:lnTo>
                  <a:lnTo>
                    <a:pt x="97" y="11"/>
                  </a:lnTo>
                  <a:lnTo>
                    <a:pt x="5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0" name="Freeform 283"/>
            <p:cNvSpPr>
              <a:spLocks/>
            </p:cNvSpPr>
            <p:nvPr/>
          </p:nvSpPr>
          <p:spPr bwMode="auto">
            <a:xfrm>
              <a:off x="5295" y="1929"/>
              <a:ext cx="13" cy="3"/>
            </a:xfrm>
            <a:custGeom>
              <a:avLst/>
              <a:gdLst>
                <a:gd name="T0" fmla="*/ 0 w 76"/>
                <a:gd name="T1" fmla="*/ 0 h 17"/>
                <a:gd name="T2" fmla="*/ 0 w 76"/>
                <a:gd name="T3" fmla="*/ 0 h 17"/>
                <a:gd name="T4" fmla="*/ 0 w 76"/>
                <a:gd name="T5" fmla="*/ 0 h 17"/>
                <a:gd name="T6" fmla="*/ 0 w 76"/>
                <a:gd name="T7" fmla="*/ 0 h 17"/>
                <a:gd name="T8" fmla="*/ 0 w 76"/>
                <a:gd name="T9" fmla="*/ 0 h 17"/>
                <a:gd name="T10" fmla="*/ 0 w 76"/>
                <a:gd name="T11" fmla="*/ 0 h 17"/>
                <a:gd name="T12" fmla="*/ 0 w 76"/>
                <a:gd name="T13" fmla="*/ 0 h 1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6" h="17">
                  <a:moveTo>
                    <a:pt x="0" y="8"/>
                  </a:moveTo>
                  <a:lnTo>
                    <a:pt x="8" y="17"/>
                  </a:lnTo>
                  <a:lnTo>
                    <a:pt x="36" y="12"/>
                  </a:lnTo>
                  <a:lnTo>
                    <a:pt x="67" y="12"/>
                  </a:lnTo>
                  <a:lnTo>
                    <a:pt x="76" y="0"/>
                  </a:lnTo>
                  <a:lnTo>
                    <a:pt x="55" y="4"/>
                  </a:lnTo>
                  <a:lnTo>
                    <a:pt x="0" y="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1" name="Freeform 284"/>
            <p:cNvSpPr>
              <a:spLocks/>
            </p:cNvSpPr>
            <p:nvPr/>
          </p:nvSpPr>
          <p:spPr bwMode="auto">
            <a:xfrm>
              <a:off x="5268" y="1926"/>
              <a:ext cx="3" cy="6"/>
            </a:xfrm>
            <a:custGeom>
              <a:avLst/>
              <a:gdLst>
                <a:gd name="T0" fmla="*/ 0 w 19"/>
                <a:gd name="T1" fmla="*/ 0 h 32"/>
                <a:gd name="T2" fmla="*/ 0 w 19"/>
                <a:gd name="T3" fmla="*/ 0 h 32"/>
                <a:gd name="T4" fmla="*/ 0 w 19"/>
                <a:gd name="T5" fmla="*/ 0 h 32"/>
                <a:gd name="T6" fmla="*/ 0 w 19"/>
                <a:gd name="T7" fmla="*/ 0 h 32"/>
                <a:gd name="T8" fmla="*/ 0 w 19"/>
                <a:gd name="T9" fmla="*/ 0 h 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32">
                  <a:moveTo>
                    <a:pt x="19" y="0"/>
                  </a:moveTo>
                  <a:lnTo>
                    <a:pt x="19" y="9"/>
                  </a:lnTo>
                  <a:lnTo>
                    <a:pt x="14" y="24"/>
                  </a:lnTo>
                  <a:lnTo>
                    <a:pt x="0" y="32"/>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2" name="Freeform 285"/>
            <p:cNvSpPr>
              <a:spLocks/>
            </p:cNvSpPr>
            <p:nvPr/>
          </p:nvSpPr>
          <p:spPr bwMode="auto">
            <a:xfrm>
              <a:off x="5277" y="1940"/>
              <a:ext cx="3" cy="3"/>
            </a:xfrm>
            <a:custGeom>
              <a:avLst/>
              <a:gdLst>
                <a:gd name="T0" fmla="*/ 0 w 14"/>
                <a:gd name="T1" fmla="*/ 0 h 18"/>
                <a:gd name="T2" fmla="*/ 0 w 14"/>
                <a:gd name="T3" fmla="*/ 0 h 18"/>
                <a:gd name="T4" fmla="*/ 0 w 14"/>
                <a:gd name="T5" fmla="*/ 0 h 18"/>
                <a:gd name="T6" fmla="*/ 0 w 14"/>
                <a:gd name="T7" fmla="*/ 0 h 1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18">
                  <a:moveTo>
                    <a:pt x="14" y="0"/>
                  </a:moveTo>
                  <a:lnTo>
                    <a:pt x="11" y="9"/>
                  </a:lnTo>
                  <a:lnTo>
                    <a:pt x="0" y="18"/>
                  </a:lnTo>
                  <a:lnTo>
                    <a:pt x="1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3" name="Freeform 286"/>
            <p:cNvSpPr>
              <a:spLocks/>
            </p:cNvSpPr>
            <p:nvPr/>
          </p:nvSpPr>
          <p:spPr bwMode="auto">
            <a:xfrm>
              <a:off x="5319" y="1921"/>
              <a:ext cx="6" cy="7"/>
            </a:xfrm>
            <a:custGeom>
              <a:avLst/>
              <a:gdLst>
                <a:gd name="T0" fmla="*/ 0 w 35"/>
                <a:gd name="T1" fmla="*/ 0 h 43"/>
                <a:gd name="T2" fmla="*/ 0 w 35"/>
                <a:gd name="T3" fmla="*/ 0 h 43"/>
                <a:gd name="T4" fmla="*/ 0 w 35"/>
                <a:gd name="T5" fmla="*/ 0 h 43"/>
                <a:gd name="T6" fmla="*/ 0 w 35"/>
                <a:gd name="T7" fmla="*/ 0 h 43"/>
                <a:gd name="T8" fmla="*/ 0 w 35"/>
                <a:gd name="T9" fmla="*/ 0 h 4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43">
                  <a:moveTo>
                    <a:pt x="0" y="0"/>
                  </a:moveTo>
                  <a:lnTo>
                    <a:pt x="7" y="14"/>
                  </a:lnTo>
                  <a:lnTo>
                    <a:pt x="7" y="24"/>
                  </a:lnTo>
                  <a:lnTo>
                    <a:pt x="35" y="4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4" name="Freeform 287"/>
            <p:cNvSpPr>
              <a:spLocks/>
            </p:cNvSpPr>
            <p:nvPr/>
          </p:nvSpPr>
          <p:spPr bwMode="auto">
            <a:xfrm>
              <a:off x="5330" y="1921"/>
              <a:ext cx="19" cy="19"/>
            </a:xfrm>
            <a:custGeom>
              <a:avLst/>
              <a:gdLst>
                <a:gd name="T0" fmla="*/ 0 w 114"/>
                <a:gd name="T1" fmla="*/ 0 h 114"/>
                <a:gd name="T2" fmla="*/ 0 w 114"/>
                <a:gd name="T3" fmla="*/ 0 h 114"/>
                <a:gd name="T4" fmla="*/ 0 w 114"/>
                <a:gd name="T5" fmla="*/ 0 h 114"/>
                <a:gd name="T6" fmla="*/ 0 w 114"/>
                <a:gd name="T7" fmla="*/ 0 h 114"/>
                <a:gd name="T8" fmla="*/ 0 w 114"/>
                <a:gd name="T9" fmla="*/ 0 h 114"/>
                <a:gd name="T10" fmla="*/ 0 w 114"/>
                <a:gd name="T11" fmla="*/ 0 h 114"/>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4" h="114">
                  <a:moveTo>
                    <a:pt x="0" y="0"/>
                  </a:moveTo>
                  <a:lnTo>
                    <a:pt x="21" y="35"/>
                  </a:lnTo>
                  <a:lnTo>
                    <a:pt x="43" y="63"/>
                  </a:lnTo>
                  <a:lnTo>
                    <a:pt x="114" y="114"/>
                  </a:lnTo>
                  <a:lnTo>
                    <a:pt x="47" y="5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5" name="Freeform 288"/>
            <p:cNvSpPr>
              <a:spLocks/>
            </p:cNvSpPr>
            <p:nvPr/>
          </p:nvSpPr>
          <p:spPr bwMode="auto">
            <a:xfrm>
              <a:off x="5354" y="1948"/>
              <a:ext cx="4" cy="13"/>
            </a:xfrm>
            <a:custGeom>
              <a:avLst/>
              <a:gdLst>
                <a:gd name="T0" fmla="*/ 0 w 27"/>
                <a:gd name="T1" fmla="*/ 0 h 82"/>
                <a:gd name="T2" fmla="*/ 0 w 27"/>
                <a:gd name="T3" fmla="*/ 0 h 82"/>
                <a:gd name="T4" fmla="*/ 0 w 27"/>
                <a:gd name="T5" fmla="*/ 0 h 82"/>
                <a:gd name="T6" fmla="*/ 0 w 27"/>
                <a:gd name="T7" fmla="*/ 0 h 82"/>
                <a:gd name="T8" fmla="*/ 0 w 27"/>
                <a:gd name="T9" fmla="*/ 0 h 82"/>
                <a:gd name="T10" fmla="*/ 0 w 27"/>
                <a:gd name="T11" fmla="*/ 0 h 82"/>
                <a:gd name="T12" fmla="*/ 0 w 27"/>
                <a:gd name="T13" fmla="*/ 0 h 8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7" h="82">
                  <a:moveTo>
                    <a:pt x="27" y="0"/>
                  </a:moveTo>
                  <a:lnTo>
                    <a:pt x="9" y="29"/>
                  </a:lnTo>
                  <a:lnTo>
                    <a:pt x="4" y="57"/>
                  </a:lnTo>
                  <a:lnTo>
                    <a:pt x="3" y="82"/>
                  </a:lnTo>
                  <a:lnTo>
                    <a:pt x="0" y="47"/>
                  </a:lnTo>
                  <a:lnTo>
                    <a:pt x="3" y="21"/>
                  </a:lnTo>
                  <a:lnTo>
                    <a:pt x="2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6" name="Freeform 289"/>
            <p:cNvSpPr>
              <a:spLocks/>
            </p:cNvSpPr>
            <p:nvPr/>
          </p:nvSpPr>
          <p:spPr bwMode="auto">
            <a:xfrm>
              <a:off x="5312" y="1934"/>
              <a:ext cx="2" cy="5"/>
            </a:xfrm>
            <a:custGeom>
              <a:avLst/>
              <a:gdLst>
                <a:gd name="T0" fmla="*/ 0 w 15"/>
                <a:gd name="T1" fmla="*/ 0 h 30"/>
                <a:gd name="T2" fmla="*/ 0 w 15"/>
                <a:gd name="T3" fmla="*/ 0 h 30"/>
                <a:gd name="T4" fmla="*/ 0 w 15"/>
                <a:gd name="T5" fmla="*/ 0 h 30"/>
                <a:gd name="T6" fmla="*/ 0 w 15"/>
                <a:gd name="T7" fmla="*/ 0 h 3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5" h="30">
                  <a:moveTo>
                    <a:pt x="11" y="0"/>
                  </a:moveTo>
                  <a:lnTo>
                    <a:pt x="15" y="12"/>
                  </a:lnTo>
                  <a:lnTo>
                    <a:pt x="0" y="30"/>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97" name="Group 290"/>
          <p:cNvGrpSpPr>
            <a:grpSpLocks/>
          </p:cNvGrpSpPr>
          <p:nvPr/>
        </p:nvGrpSpPr>
        <p:grpSpPr bwMode="auto">
          <a:xfrm>
            <a:off x="7049981" y="3136559"/>
            <a:ext cx="269775" cy="283404"/>
            <a:chOff x="5362" y="1748"/>
            <a:chExt cx="268" cy="305"/>
          </a:xfrm>
        </p:grpSpPr>
        <p:sp>
          <p:nvSpPr>
            <p:cNvPr id="298" name="Freeform 291"/>
            <p:cNvSpPr>
              <a:spLocks/>
            </p:cNvSpPr>
            <p:nvPr/>
          </p:nvSpPr>
          <p:spPr bwMode="auto">
            <a:xfrm>
              <a:off x="5477" y="1748"/>
              <a:ext cx="8" cy="6"/>
            </a:xfrm>
            <a:custGeom>
              <a:avLst/>
              <a:gdLst>
                <a:gd name="T0" fmla="*/ 0 w 51"/>
                <a:gd name="T1" fmla="*/ 0 h 36"/>
                <a:gd name="T2" fmla="*/ 0 w 51"/>
                <a:gd name="T3" fmla="*/ 0 h 36"/>
                <a:gd name="T4" fmla="*/ 0 w 51"/>
                <a:gd name="T5" fmla="*/ 0 h 36"/>
                <a:gd name="T6" fmla="*/ 0 w 51"/>
                <a:gd name="T7" fmla="*/ 0 h 36"/>
                <a:gd name="T8" fmla="*/ 0 w 51"/>
                <a:gd name="T9" fmla="*/ 0 h 36"/>
                <a:gd name="T10" fmla="*/ 0 w 51"/>
                <a:gd name="T11" fmla="*/ 0 h 36"/>
                <a:gd name="T12" fmla="*/ 0 w 51"/>
                <a:gd name="T13" fmla="*/ 0 h 36"/>
                <a:gd name="T14" fmla="*/ 0 w 51"/>
                <a:gd name="T15" fmla="*/ 0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51" h="36">
                  <a:moveTo>
                    <a:pt x="0" y="0"/>
                  </a:moveTo>
                  <a:lnTo>
                    <a:pt x="14" y="10"/>
                  </a:lnTo>
                  <a:lnTo>
                    <a:pt x="29" y="15"/>
                  </a:lnTo>
                  <a:lnTo>
                    <a:pt x="43" y="23"/>
                  </a:lnTo>
                  <a:lnTo>
                    <a:pt x="51" y="36"/>
                  </a:lnTo>
                  <a:lnTo>
                    <a:pt x="39" y="32"/>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9" name="Freeform 292"/>
            <p:cNvSpPr>
              <a:spLocks/>
            </p:cNvSpPr>
            <p:nvPr/>
          </p:nvSpPr>
          <p:spPr bwMode="auto">
            <a:xfrm>
              <a:off x="5479" y="1758"/>
              <a:ext cx="2" cy="4"/>
            </a:xfrm>
            <a:custGeom>
              <a:avLst/>
              <a:gdLst>
                <a:gd name="T0" fmla="*/ 0 w 14"/>
                <a:gd name="T1" fmla="*/ 0 h 24"/>
                <a:gd name="T2" fmla="*/ 0 w 14"/>
                <a:gd name="T3" fmla="*/ 0 h 24"/>
                <a:gd name="T4" fmla="*/ 0 w 14"/>
                <a:gd name="T5" fmla="*/ 0 h 24"/>
                <a:gd name="T6" fmla="*/ 0 w 14"/>
                <a:gd name="T7" fmla="*/ 0 h 2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24">
                  <a:moveTo>
                    <a:pt x="0" y="0"/>
                  </a:moveTo>
                  <a:lnTo>
                    <a:pt x="14" y="0"/>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0" name="Freeform 293"/>
            <p:cNvSpPr>
              <a:spLocks/>
            </p:cNvSpPr>
            <p:nvPr/>
          </p:nvSpPr>
          <p:spPr bwMode="auto">
            <a:xfrm>
              <a:off x="5444" y="1788"/>
              <a:ext cx="71" cy="180"/>
            </a:xfrm>
            <a:custGeom>
              <a:avLst/>
              <a:gdLst>
                <a:gd name="T0" fmla="*/ 0 w 431"/>
                <a:gd name="T1" fmla="*/ 0 h 1076"/>
                <a:gd name="T2" fmla="*/ 0 w 431"/>
                <a:gd name="T3" fmla="*/ 0 h 1076"/>
                <a:gd name="T4" fmla="*/ 0 w 431"/>
                <a:gd name="T5" fmla="*/ 0 h 1076"/>
                <a:gd name="T6" fmla="*/ 0 w 431"/>
                <a:gd name="T7" fmla="*/ 0 h 1076"/>
                <a:gd name="T8" fmla="*/ 0 w 431"/>
                <a:gd name="T9" fmla="*/ 0 h 1076"/>
                <a:gd name="T10" fmla="*/ 0 w 431"/>
                <a:gd name="T11" fmla="*/ 0 h 1076"/>
                <a:gd name="T12" fmla="*/ 0 w 431"/>
                <a:gd name="T13" fmla="*/ 0 h 1076"/>
                <a:gd name="T14" fmla="*/ 0 w 431"/>
                <a:gd name="T15" fmla="*/ 0 h 1076"/>
                <a:gd name="T16" fmla="*/ 0 w 431"/>
                <a:gd name="T17" fmla="*/ 0 h 1076"/>
                <a:gd name="T18" fmla="*/ 0 w 431"/>
                <a:gd name="T19" fmla="*/ 0 h 1076"/>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431" h="1076">
                  <a:moveTo>
                    <a:pt x="369" y="0"/>
                  </a:moveTo>
                  <a:lnTo>
                    <a:pt x="328" y="44"/>
                  </a:lnTo>
                  <a:lnTo>
                    <a:pt x="317" y="108"/>
                  </a:lnTo>
                  <a:lnTo>
                    <a:pt x="254" y="170"/>
                  </a:lnTo>
                  <a:lnTo>
                    <a:pt x="126" y="461"/>
                  </a:lnTo>
                  <a:lnTo>
                    <a:pt x="57" y="724"/>
                  </a:lnTo>
                  <a:lnTo>
                    <a:pt x="0" y="1076"/>
                  </a:lnTo>
                  <a:lnTo>
                    <a:pt x="178" y="919"/>
                  </a:lnTo>
                  <a:lnTo>
                    <a:pt x="431" y="140"/>
                  </a:lnTo>
                  <a:lnTo>
                    <a:pt x="369" y="0"/>
                  </a:lnTo>
                  <a:close/>
                </a:path>
              </a:pathLst>
            </a:custGeom>
            <a:solidFill>
              <a:srgbClr val="40000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1" name="Freeform 294"/>
            <p:cNvSpPr>
              <a:spLocks/>
            </p:cNvSpPr>
            <p:nvPr/>
          </p:nvSpPr>
          <p:spPr bwMode="auto">
            <a:xfrm>
              <a:off x="5362" y="1754"/>
              <a:ext cx="268" cy="299"/>
            </a:xfrm>
            <a:custGeom>
              <a:avLst/>
              <a:gdLst>
                <a:gd name="T0" fmla="*/ 0 w 1606"/>
                <a:gd name="T1" fmla="*/ 0 h 1792"/>
                <a:gd name="T2" fmla="*/ 0 w 1606"/>
                <a:gd name="T3" fmla="*/ 0 h 1792"/>
                <a:gd name="T4" fmla="*/ 0 w 1606"/>
                <a:gd name="T5" fmla="*/ 0 h 1792"/>
                <a:gd name="T6" fmla="*/ 0 w 1606"/>
                <a:gd name="T7" fmla="*/ 0 h 1792"/>
                <a:gd name="T8" fmla="*/ 0 w 1606"/>
                <a:gd name="T9" fmla="*/ 0 h 1792"/>
                <a:gd name="T10" fmla="*/ 0 w 1606"/>
                <a:gd name="T11" fmla="*/ 0 h 1792"/>
                <a:gd name="T12" fmla="*/ 0 w 1606"/>
                <a:gd name="T13" fmla="*/ 0 h 1792"/>
                <a:gd name="T14" fmla="*/ 0 w 1606"/>
                <a:gd name="T15" fmla="*/ 0 h 1792"/>
                <a:gd name="T16" fmla="*/ 0 w 1606"/>
                <a:gd name="T17" fmla="*/ 0 h 1792"/>
                <a:gd name="T18" fmla="*/ 0 w 1606"/>
                <a:gd name="T19" fmla="*/ 0 h 1792"/>
                <a:gd name="T20" fmla="*/ 0 w 1606"/>
                <a:gd name="T21" fmla="*/ 0 h 1792"/>
                <a:gd name="T22" fmla="*/ 0 w 1606"/>
                <a:gd name="T23" fmla="*/ 0 h 1792"/>
                <a:gd name="T24" fmla="*/ 0 w 1606"/>
                <a:gd name="T25" fmla="*/ 0 h 1792"/>
                <a:gd name="T26" fmla="*/ 0 w 1606"/>
                <a:gd name="T27" fmla="*/ 0 h 1792"/>
                <a:gd name="T28" fmla="*/ 0 w 1606"/>
                <a:gd name="T29" fmla="*/ 0 h 1792"/>
                <a:gd name="T30" fmla="*/ 0 w 1606"/>
                <a:gd name="T31" fmla="*/ 0 h 1792"/>
                <a:gd name="T32" fmla="*/ 0 w 1606"/>
                <a:gd name="T33" fmla="*/ 0 h 1792"/>
                <a:gd name="T34" fmla="*/ 0 w 1606"/>
                <a:gd name="T35" fmla="*/ 0 h 1792"/>
                <a:gd name="T36" fmla="*/ 0 w 1606"/>
                <a:gd name="T37" fmla="*/ 0 h 1792"/>
                <a:gd name="T38" fmla="*/ 0 w 1606"/>
                <a:gd name="T39" fmla="*/ 0 h 1792"/>
                <a:gd name="T40" fmla="*/ 0 w 1606"/>
                <a:gd name="T41" fmla="*/ 0 h 1792"/>
                <a:gd name="T42" fmla="*/ 0 w 1606"/>
                <a:gd name="T43" fmla="*/ 0 h 1792"/>
                <a:gd name="T44" fmla="*/ 0 w 1606"/>
                <a:gd name="T45" fmla="*/ 0 h 1792"/>
                <a:gd name="T46" fmla="*/ 0 w 1606"/>
                <a:gd name="T47" fmla="*/ 0 h 1792"/>
                <a:gd name="T48" fmla="*/ 0 w 1606"/>
                <a:gd name="T49" fmla="*/ 0 h 1792"/>
                <a:gd name="T50" fmla="*/ 0 w 1606"/>
                <a:gd name="T51" fmla="*/ 0 h 1792"/>
                <a:gd name="T52" fmla="*/ 0 w 1606"/>
                <a:gd name="T53" fmla="*/ 0 h 1792"/>
                <a:gd name="T54" fmla="*/ 0 w 1606"/>
                <a:gd name="T55" fmla="*/ 0 h 1792"/>
                <a:gd name="T56" fmla="*/ 0 w 1606"/>
                <a:gd name="T57" fmla="*/ 0 h 1792"/>
                <a:gd name="T58" fmla="*/ 0 w 1606"/>
                <a:gd name="T59" fmla="*/ 0 h 1792"/>
                <a:gd name="T60" fmla="*/ 0 w 1606"/>
                <a:gd name="T61" fmla="*/ 0 h 1792"/>
                <a:gd name="T62" fmla="*/ 0 w 1606"/>
                <a:gd name="T63" fmla="*/ 0 h 1792"/>
                <a:gd name="T64" fmla="*/ 0 w 1606"/>
                <a:gd name="T65" fmla="*/ 0 h 1792"/>
                <a:gd name="T66" fmla="*/ 0 w 1606"/>
                <a:gd name="T67" fmla="*/ 0 h 1792"/>
                <a:gd name="T68" fmla="*/ 0 w 1606"/>
                <a:gd name="T69" fmla="*/ 0 h 1792"/>
                <a:gd name="T70" fmla="*/ 0 w 1606"/>
                <a:gd name="T71" fmla="*/ 0 h 1792"/>
                <a:gd name="T72" fmla="*/ 0 w 1606"/>
                <a:gd name="T73" fmla="*/ 0 h 1792"/>
                <a:gd name="T74" fmla="*/ 0 w 1606"/>
                <a:gd name="T75" fmla="*/ 0 h 1792"/>
                <a:gd name="T76" fmla="*/ 0 w 1606"/>
                <a:gd name="T77" fmla="*/ 0 h 1792"/>
                <a:gd name="T78" fmla="*/ 0 w 1606"/>
                <a:gd name="T79" fmla="*/ 0 h 1792"/>
                <a:gd name="T80" fmla="*/ 0 w 1606"/>
                <a:gd name="T81" fmla="*/ 0 h 1792"/>
                <a:gd name="T82" fmla="*/ 0 w 1606"/>
                <a:gd name="T83" fmla="*/ 0 h 1792"/>
                <a:gd name="T84" fmla="*/ 0 w 1606"/>
                <a:gd name="T85" fmla="*/ 0 h 1792"/>
                <a:gd name="T86" fmla="*/ 0 w 1606"/>
                <a:gd name="T87" fmla="*/ 0 h 1792"/>
                <a:gd name="T88" fmla="*/ 0 w 1606"/>
                <a:gd name="T89" fmla="*/ 0 h 1792"/>
                <a:gd name="T90" fmla="*/ 0 w 1606"/>
                <a:gd name="T91" fmla="*/ 0 h 179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606" h="1792">
                  <a:moveTo>
                    <a:pt x="1309" y="94"/>
                  </a:moveTo>
                  <a:lnTo>
                    <a:pt x="1258" y="0"/>
                  </a:lnTo>
                  <a:lnTo>
                    <a:pt x="867" y="163"/>
                  </a:lnTo>
                  <a:lnTo>
                    <a:pt x="850" y="288"/>
                  </a:lnTo>
                  <a:lnTo>
                    <a:pt x="818" y="332"/>
                  </a:lnTo>
                  <a:lnTo>
                    <a:pt x="773" y="382"/>
                  </a:lnTo>
                  <a:lnTo>
                    <a:pt x="747" y="472"/>
                  </a:lnTo>
                  <a:lnTo>
                    <a:pt x="660" y="678"/>
                  </a:lnTo>
                  <a:lnTo>
                    <a:pt x="590" y="924"/>
                  </a:lnTo>
                  <a:lnTo>
                    <a:pt x="558" y="1088"/>
                  </a:lnTo>
                  <a:lnTo>
                    <a:pt x="243" y="1094"/>
                  </a:lnTo>
                  <a:lnTo>
                    <a:pt x="192" y="1125"/>
                  </a:lnTo>
                  <a:lnTo>
                    <a:pt x="47" y="1125"/>
                  </a:lnTo>
                  <a:lnTo>
                    <a:pt x="7" y="1189"/>
                  </a:lnTo>
                  <a:lnTo>
                    <a:pt x="0" y="1264"/>
                  </a:lnTo>
                  <a:lnTo>
                    <a:pt x="15" y="1332"/>
                  </a:lnTo>
                  <a:lnTo>
                    <a:pt x="148" y="1358"/>
                  </a:lnTo>
                  <a:lnTo>
                    <a:pt x="211" y="1452"/>
                  </a:lnTo>
                  <a:lnTo>
                    <a:pt x="337" y="1484"/>
                  </a:lnTo>
                  <a:lnTo>
                    <a:pt x="430" y="1484"/>
                  </a:lnTo>
                  <a:lnTo>
                    <a:pt x="538" y="1503"/>
                  </a:lnTo>
                  <a:lnTo>
                    <a:pt x="544" y="1548"/>
                  </a:lnTo>
                  <a:lnTo>
                    <a:pt x="538" y="1642"/>
                  </a:lnTo>
                  <a:lnTo>
                    <a:pt x="550" y="1705"/>
                  </a:lnTo>
                  <a:lnTo>
                    <a:pt x="608" y="1712"/>
                  </a:lnTo>
                  <a:lnTo>
                    <a:pt x="677" y="1724"/>
                  </a:lnTo>
                  <a:lnTo>
                    <a:pt x="747" y="1786"/>
                  </a:lnTo>
                  <a:lnTo>
                    <a:pt x="830" y="1786"/>
                  </a:lnTo>
                  <a:lnTo>
                    <a:pt x="905" y="1779"/>
                  </a:lnTo>
                  <a:lnTo>
                    <a:pt x="1019" y="1744"/>
                  </a:lnTo>
                  <a:lnTo>
                    <a:pt x="1145" y="1756"/>
                  </a:lnTo>
                  <a:lnTo>
                    <a:pt x="1273" y="1792"/>
                  </a:lnTo>
                  <a:lnTo>
                    <a:pt x="1392" y="1766"/>
                  </a:lnTo>
                  <a:lnTo>
                    <a:pt x="1473" y="1674"/>
                  </a:lnTo>
                  <a:lnTo>
                    <a:pt x="1467" y="1571"/>
                  </a:lnTo>
                  <a:lnTo>
                    <a:pt x="1497" y="1446"/>
                  </a:lnTo>
                  <a:lnTo>
                    <a:pt x="1516" y="1282"/>
                  </a:lnTo>
                  <a:lnTo>
                    <a:pt x="1554" y="1131"/>
                  </a:lnTo>
                  <a:lnTo>
                    <a:pt x="1606" y="906"/>
                  </a:lnTo>
                  <a:lnTo>
                    <a:pt x="1598" y="678"/>
                  </a:lnTo>
                  <a:lnTo>
                    <a:pt x="1598" y="478"/>
                  </a:lnTo>
                  <a:lnTo>
                    <a:pt x="1586" y="338"/>
                  </a:lnTo>
                  <a:lnTo>
                    <a:pt x="1554" y="276"/>
                  </a:lnTo>
                  <a:lnTo>
                    <a:pt x="1484" y="225"/>
                  </a:lnTo>
                  <a:lnTo>
                    <a:pt x="1403" y="142"/>
                  </a:lnTo>
                  <a:lnTo>
                    <a:pt x="1309" y="94"/>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2" name="Freeform 295"/>
            <p:cNvSpPr>
              <a:spLocks/>
            </p:cNvSpPr>
            <p:nvPr/>
          </p:nvSpPr>
          <p:spPr bwMode="auto">
            <a:xfrm>
              <a:off x="5456" y="1772"/>
              <a:ext cx="169" cy="278"/>
            </a:xfrm>
            <a:custGeom>
              <a:avLst/>
              <a:gdLst>
                <a:gd name="T0" fmla="*/ 0 w 1014"/>
                <a:gd name="T1" fmla="*/ 0 h 1671"/>
                <a:gd name="T2" fmla="*/ 0 w 1014"/>
                <a:gd name="T3" fmla="*/ 0 h 1671"/>
                <a:gd name="T4" fmla="*/ 0 w 1014"/>
                <a:gd name="T5" fmla="*/ 0 h 1671"/>
                <a:gd name="T6" fmla="*/ 0 w 1014"/>
                <a:gd name="T7" fmla="*/ 0 h 1671"/>
                <a:gd name="T8" fmla="*/ 0 w 1014"/>
                <a:gd name="T9" fmla="*/ 0 h 1671"/>
                <a:gd name="T10" fmla="*/ 0 w 1014"/>
                <a:gd name="T11" fmla="*/ 0 h 1671"/>
                <a:gd name="T12" fmla="*/ 0 w 1014"/>
                <a:gd name="T13" fmla="*/ 0 h 1671"/>
                <a:gd name="T14" fmla="*/ 0 w 1014"/>
                <a:gd name="T15" fmla="*/ 0 h 1671"/>
                <a:gd name="T16" fmla="*/ 0 w 1014"/>
                <a:gd name="T17" fmla="*/ 0 h 1671"/>
                <a:gd name="T18" fmla="*/ 0 w 1014"/>
                <a:gd name="T19" fmla="*/ 0 h 1671"/>
                <a:gd name="T20" fmla="*/ 0 w 1014"/>
                <a:gd name="T21" fmla="*/ 0 h 1671"/>
                <a:gd name="T22" fmla="*/ 0 w 1014"/>
                <a:gd name="T23" fmla="*/ 0 h 1671"/>
                <a:gd name="T24" fmla="*/ 0 w 1014"/>
                <a:gd name="T25" fmla="*/ 0 h 1671"/>
                <a:gd name="T26" fmla="*/ 0 w 1014"/>
                <a:gd name="T27" fmla="*/ 0 h 1671"/>
                <a:gd name="T28" fmla="*/ 0 w 1014"/>
                <a:gd name="T29" fmla="*/ 0 h 1671"/>
                <a:gd name="T30" fmla="*/ 0 w 1014"/>
                <a:gd name="T31" fmla="*/ 0 h 1671"/>
                <a:gd name="T32" fmla="*/ 0 w 1014"/>
                <a:gd name="T33" fmla="*/ 0 h 1671"/>
                <a:gd name="T34" fmla="*/ 0 w 1014"/>
                <a:gd name="T35" fmla="*/ 0 h 1671"/>
                <a:gd name="T36" fmla="*/ 0 w 1014"/>
                <a:gd name="T37" fmla="*/ 0 h 1671"/>
                <a:gd name="T38" fmla="*/ 0 w 1014"/>
                <a:gd name="T39" fmla="*/ 0 h 1671"/>
                <a:gd name="T40" fmla="*/ 0 w 1014"/>
                <a:gd name="T41" fmla="*/ 0 h 1671"/>
                <a:gd name="T42" fmla="*/ 0 w 1014"/>
                <a:gd name="T43" fmla="*/ 0 h 1671"/>
                <a:gd name="T44" fmla="*/ 0 w 1014"/>
                <a:gd name="T45" fmla="*/ 0 h 1671"/>
                <a:gd name="T46" fmla="*/ 0 w 1014"/>
                <a:gd name="T47" fmla="*/ 0 h 1671"/>
                <a:gd name="T48" fmla="*/ 0 w 1014"/>
                <a:gd name="T49" fmla="*/ 0 h 1671"/>
                <a:gd name="T50" fmla="*/ 0 w 1014"/>
                <a:gd name="T51" fmla="*/ 0 h 1671"/>
                <a:gd name="T52" fmla="*/ 0 w 1014"/>
                <a:gd name="T53" fmla="*/ 0 h 1671"/>
                <a:gd name="T54" fmla="*/ 0 w 1014"/>
                <a:gd name="T55" fmla="*/ 0 h 1671"/>
                <a:gd name="T56" fmla="*/ 0 w 1014"/>
                <a:gd name="T57" fmla="*/ 0 h 1671"/>
                <a:gd name="T58" fmla="*/ 0 w 1014"/>
                <a:gd name="T59" fmla="*/ 0 h 1671"/>
                <a:gd name="T60" fmla="*/ 0 w 1014"/>
                <a:gd name="T61" fmla="*/ 0 h 1671"/>
                <a:gd name="T62" fmla="*/ 0 w 1014"/>
                <a:gd name="T63" fmla="*/ 0 h 1671"/>
                <a:gd name="T64" fmla="*/ 0 w 1014"/>
                <a:gd name="T65" fmla="*/ 0 h 1671"/>
                <a:gd name="T66" fmla="*/ 0 w 1014"/>
                <a:gd name="T67" fmla="*/ 0 h 1671"/>
                <a:gd name="T68" fmla="*/ 0 w 1014"/>
                <a:gd name="T69" fmla="*/ 0 h 1671"/>
                <a:gd name="T70" fmla="*/ 0 w 1014"/>
                <a:gd name="T71" fmla="*/ 0 h 1671"/>
                <a:gd name="T72" fmla="*/ 0 w 1014"/>
                <a:gd name="T73" fmla="*/ 0 h 1671"/>
                <a:gd name="T74" fmla="*/ 0 w 1014"/>
                <a:gd name="T75" fmla="*/ 0 h 1671"/>
                <a:gd name="T76" fmla="*/ 0 w 1014"/>
                <a:gd name="T77" fmla="*/ 0 h 1671"/>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014" h="1671">
                  <a:moveTo>
                    <a:pt x="0" y="1402"/>
                  </a:moveTo>
                  <a:lnTo>
                    <a:pt x="132" y="1382"/>
                  </a:lnTo>
                  <a:lnTo>
                    <a:pt x="245" y="1376"/>
                  </a:lnTo>
                  <a:lnTo>
                    <a:pt x="370" y="1363"/>
                  </a:lnTo>
                  <a:lnTo>
                    <a:pt x="509" y="1344"/>
                  </a:lnTo>
                  <a:lnTo>
                    <a:pt x="573" y="1301"/>
                  </a:lnTo>
                  <a:lnTo>
                    <a:pt x="744" y="1088"/>
                  </a:lnTo>
                  <a:lnTo>
                    <a:pt x="656" y="1149"/>
                  </a:lnTo>
                  <a:lnTo>
                    <a:pt x="598" y="1201"/>
                  </a:lnTo>
                  <a:lnTo>
                    <a:pt x="630" y="1050"/>
                  </a:lnTo>
                  <a:lnTo>
                    <a:pt x="693" y="992"/>
                  </a:lnTo>
                  <a:lnTo>
                    <a:pt x="787" y="837"/>
                  </a:lnTo>
                  <a:lnTo>
                    <a:pt x="699" y="911"/>
                  </a:lnTo>
                  <a:lnTo>
                    <a:pt x="642" y="931"/>
                  </a:lnTo>
                  <a:lnTo>
                    <a:pt x="656" y="823"/>
                  </a:lnTo>
                  <a:lnTo>
                    <a:pt x="718" y="741"/>
                  </a:lnTo>
                  <a:lnTo>
                    <a:pt x="781" y="679"/>
                  </a:lnTo>
                  <a:lnTo>
                    <a:pt x="845" y="497"/>
                  </a:lnTo>
                  <a:lnTo>
                    <a:pt x="724" y="647"/>
                  </a:lnTo>
                  <a:lnTo>
                    <a:pt x="656" y="703"/>
                  </a:lnTo>
                  <a:lnTo>
                    <a:pt x="648" y="471"/>
                  </a:lnTo>
                  <a:lnTo>
                    <a:pt x="630" y="378"/>
                  </a:lnTo>
                  <a:lnTo>
                    <a:pt x="592" y="334"/>
                  </a:lnTo>
                  <a:lnTo>
                    <a:pt x="535" y="264"/>
                  </a:lnTo>
                  <a:lnTo>
                    <a:pt x="445" y="232"/>
                  </a:lnTo>
                  <a:lnTo>
                    <a:pt x="402" y="214"/>
                  </a:lnTo>
                  <a:lnTo>
                    <a:pt x="528" y="94"/>
                  </a:lnTo>
                  <a:lnTo>
                    <a:pt x="661" y="126"/>
                  </a:lnTo>
                  <a:lnTo>
                    <a:pt x="750" y="176"/>
                  </a:lnTo>
                  <a:lnTo>
                    <a:pt x="781" y="226"/>
                  </a:lnTo>
                  <a:lnTo>
                    <a:pt x="756" y="150"/>
                  </a:lnTo>
                  <a:lnTo>
                    <a:pt x="705" y="126"/>
                  </a:lnTo>
                  <a:lnTo>
                    <a:pt x="624" y="94"/>
                  </a:lnTo>
                  <a:lnTo>
                    <a:pt x="560" y="82"/>
                  </a:lnTo>
                  <a:lnTo>
                    <a:pt x="598" y="62"/>
                  </a:lnTo>
                  <a:lnTo>
                    <a:pt x="661" y="44"/>
                  </a:lnTo>
                  <a:lnTo>
                    <a:pt x="718" y="25"/>
                  </a:lnTo>
                  <a:lnTo>
                    <a:pt x="750" y="0"/>
                  </a:lnTo>
                  <a:lnTo>
                    <a:pt x="825" y="50"/>
                  </a:lnTo>
                  <a:lnTo>
                    <a:pt x="868" y="94"/>
                  </a:lnTo>
                  <a:lnTo>
                    <a:pt x="913" y="150"/>
                  </a:lnTo>
                  <a:lnTo>
                    <a:pt x="976" y="182"/>
                  </a:lnTo>
                  <a:lnTo>
                    <a:pt x="988" y="240"/>
                  </a:lnTo>
                  <a:lnTo>
                    <a:pt x="1014" y="334"/>
                  </a:lnTo>
                  <a:lnTo>
                    <a:pt x="1014" y="478"/>
                  </a:lnTo>
                  <a:lnTo>
                    <a:pt x="1008" y="628"/>
                  </a:lnTo>
                  <a:lnTo>
                    <a:pt x="1002" y="799"/>
                  </a:lnTo>
                  <a:lnTo>
                    <a:pt x="970" y="975"/>
                  </a:lnTo>
                  <a:lnTo>
                    <a:pt x="931" y="1157"/>
                  </a:lnTo>
                  <a:lnTo>
                    <a:pt x="913" y="1314"/>
                  </a:lnTo>
                  <a:lnTo>
                    <a:pt x="882" y="1426"/>
                  </a:lnTo>
                  <a:lnTo>
                    <a:pt x="888" y="1527"/>
                  </a:lnTo>
                  <a:lnTo>
                    <a:pt x="875" y="1584"/>
                  </a:lnTo>
                  <a:lnTo>
                    <a:pt x="830" y="1627"/>
                  </a:lnTo>
                  <a:lnTo>
                    <a:pt x="775" y="1664"/>
                  </a:lnTo>
                  <a:lnTo>
                    <a:pt x="699" y="1671"/>
                  </a:lnTo>
                  <a:lnTo>
                    <a:pt x="661" y="1652"/>
                  </a:lnTo>
                  <a:lnTo>
                    <a:pt x="612" y="1648"/>
                  </a:lnTo>
                  <a:lnTo>
                    <a:pt x="490" y="1622"/>
                  </a:lnTo>
                  <a:lnTo>
                    <a:pt x="541" y="1559"/>
                  </a:lnTo>
                  <a:lnTo>
                    <a:pt x="598" y="1470"/>
                  </a:lnTo>
                  <a:lnTo>
                    <a:pt x="516" y="1534"/>
                  </a:lnTo>
                  <a:lnTo>
                    <a:pt x="452" y="1590"/>
                  </a:lnTo>
                  <a:lnTo>
                    <a:pt x="407" y="1622"/>
                  </a:lnTo>
                  <a:lnTo>
                    <a:pt x="345" y="1652"/>
                  </a:lnTo>
                  <a:lnTo>
                    <a:pt x="276" y="1652"/>
                  </a:lnTo>
                  <a:lnTo>
                    <a:pt x="208" y="1652"/>
                  </a:lnTo>
                  <a:lnTo>
                    <a:pt x="170" y="1636"/>
                  </a:lnTo>
                  <a:lnTo>
                    <a:pt x="151" y="1616"/>
                  </a:lnTo>
                  <a:lnTo>
                    <a:pt x="240" y="1565"/>
                  </a:lnTo>
                  <a:lnTo>
                    <a:pt x="327" y="1484"/>
                  </a:lnTo>
                  <a:lnTo>
                    <a:pt x="352" y="1446"/>
                  </a:lnTo>
                  <a:lnTo>
                    <a:pt x="282" y="1463"/>
                  </a:lnTo>
                  <a:lnTo>
                    <a:pt x="176" y="1546"/>
                  </a:lnTo>
                  <a:lnTo>
                    <a:pt x="132" y="1584"/>
                  </a:lnTo>
                  <a:lnTo>
                    <a:pt x="32" y="1590"/>
                  </a:lnTo>
                  <a:lnTo>
                    <a:pt x="0" y="1572"/>
                  </a:lnTo>
                  <a:lnTo>
                    <a:pt x="0" y="1527"/>
                  </a:lnTo>
                  <a:lnTo>
                    <a:pt x="0" y="1402"/>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3" name="Freeform 296"/>
            <p:cNvSpPr>
              <a:spLocks/>
            </p:cNvSpPr>
            <p:nvPr/>
          </p:nvSpPr>
          <p:spPr bwMode="auto">
            <a:xfrm>
              <a:off x="5563" y="1910"/>
              <a:ext cx="50" cy="129"/>
            </a:xfrm>
            <a:custGeom>
              <a:avLst/>
              <a:gdLst>
                <a:gd name="T0" fmla="*/ 0 w 295"/>
                <a:gd name="T1" fmla="*/ 0 h 774"/>
                <a:gd name="T2" fmla="*/ 0 w 295"/>
                <a:gd name="T3" fmla="*/ 0 h 774"/>
                <a:gd name="T4" fmla="*/ 0 w 295"/>
                <a:gd name="T5" fmla="*/ 0 h 774"/>
                <a:gd name="T6" fmla="*/ 0 w 295"/>
                <a:gd name="T7" fmla="*/ 0 h 774"/>
                <a:gd name="T8" fmla="*/ 0 w 295"/>
                <a:gd name="T9" fmla="*/ 0 h 774"/>
                <a:gd name="T10" fmla="*/ 0 w 295"/>
                <a:gd name="T11" fmla="*/ 0 h 774"/>
                <a:gd name="T12" fmla="*/ 0 w 295"/>
                <a:gd name="T13" fmla="*/ 0 h 774"/>
                <a:gd name="T14" fmla="*/ 0 w 295"/>
                <a:gd name="T15" fmla="*/ 0 h 774"/>
                <a:gd name="T16" fmla="*/ 0 w 295"/>
                <a:gd name="T17" fmla="*/ 0 h 774"/>
                <a:gd name="T18" fmla="*/ 0 w 295"/>
                <a:gd name="T19" fmla="*/ 0 h 774"/>
                <a:gd name="T20" fmla="*/ 0 w 295"/>
                <a:gd name="T21" fmla="*/ 0 h 774"/>
                <a:gd name="T22" fmla="*/ 0 w 295"/>
                <a:gd name="T23" fmla="*/ 0 h 774"/>
                <a:gd name="T24" fmla="*/ 0 w 295"/>
                <a:gd name="T25" fmla="*/ 0 h 774"/>
                <a:gd name="T26" fmla="*/ 0 w 295"/>
                <a:gd name="T27" fmla="*/ 0 h 77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95" h="774">
                  <a:moveTo>
                    <a:pt x="0" y="774"/>
                  </a:moveTo>
                  <a:lnTo>
                    <a:pt x="51" y="748"/>
                  </a:lnTo>
                  <a:lnTo>
                    <a:pt x="107" y="686"/>
                  </a:lnTo>
                  <a:lnTo>
                    <a:pt x="156" y="573"/>
                  </a:lnTo>
                  <a:lnTo>
                    <a:pt x="183" y="477"/>
                  </a:lnTo>
                  <a:lnTo>
                    <a:pt x="220" y="371"/>
                  </a:lnTo>
                  <a:lnTo>
                    <a:pt x="239" y="270"/>
                  </a:lnTo>
                  <a:lnTo>
                    <a:pt x="270" y="114"/>
                  </a:lnTo>
                  <a:lnTo>
                    <a:pt x="295" y="0"/>
                  </a:lnTo>
                  <a:lnTo>
                    <a:pt x="232" y="226"/>
                  </a:lnTo>
                  <a:lnTo>
                    <a:pt x="183" y="402"/>
                  </a:lnTo>
                  <a:lnTo>
                    <a:pt x="126" y="521"/>
                  </a:lnTo>
                  <a:lnTo>
                    <a:pt x="38" y="648"/>
                  </a:lnTo>
                  <a:lnTo>
                    <a:pt x="0" y="77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4" name="Freeform 297"/>
            <p:cNvSpPr>
              <a:spLocks/>
            </p:cNvSpPr>
            <p:nvPr/>
          </p:nvSpPr>
          <p:spPr bwMode="auto">
            <a:xfrm>
              <a:off x="5367" y="1806"/>
              <a:ext cx="195" cy="194"/>
            </a:xfrm>
            <a:custGeom>
              <a:avLst/>
              <a:gdLst>
                <a:gd name="T0" fmla="*/ 0 w 1172"/>
                <a:gd name="T1" fmla="*/ 0 h 1162"/>
                <a:gd name="T2" fmla="*/ 0 w 1172"/>
                <a:gd name="T3" fmla="*/ 0 h 1162"/>
                <a:gd name="T4" fmla="*/ 0 w 1172"/>
                <a:gd name="T5" fmla="*/ 0 h 1162"/>
                <a:gd name="T6" fmla="*/ 0 w 1172"/>
                <a:gd name="T7" fmla="*/ 0 h 1162"/>
                <a:gd name="T8" fmla="*/ 0 w 1172"/>
                <a:gd name="T9" fmla="*/ 0 h 1162"/>
                <a:gd name="T10" fmla="*/ 0 w 1172"/>
                <a:gd name="T11" fmla="*/ 0 h 1162"/>
                <a:gd name="T12" fmla="*/ 0 w 1172"/>
                <a:gd name="T13" fmla="*/ 0 h 1162"/>
                <a:gd name="T14" fmla="*/ 0 w 1172"/>
                <a:gd name="T15" fmla="*/ 0 h 1162"/>
                <a:gd name="T16" fmla="*/ 0 w 1172"/>
                <a:gd name="T17" fmla="*/ 0 h 1162"/>
                <a:gd name="T18" fmla="*/ 0 w 1172"/>
                <a:gd name="T19" fmla="*/ 0 h 1162"/>
                <a:gd name="T20" fmla="*/ 0 w 1172"/>
                <a:gd name="T21" fmla="*/ 0 h 1162"/>
                <a:gd name="T22" fmla="*/ 0 w 1172"/>
                <a:gd name="T23" fmla="*/ 0 h 1162"/>
                <a:gd name="T24" fmla="*/ 0 w 1172"/>
                <a:gd name="T25" fmla="*/ 0 h 1162"/>
                <a:gd name="T26" fmla="*/ 0 w 1172"/>
                <a:gd name="T27" fmla="*/ 0 h 1162"/>
                <a:gd name="T28" fmla="*/ 0 w 1172"/>
                <a:gd name="T29" fmla="*/ 0 h 1162"/>
                <a:gd name="T30" fmla="*/ 0 w 1172"/>
                <a:gd name="T31" fmla="*/ 0 h 1162"/>
                <a:gd name="T32" fmla="*/ 0 w 1172"/>
                <a:gd name="T33" fmla="*/ 0 h 1162"/>
                <a:gd name="T34" fmla="*/ 0 w 1172"/>
                <a:gd name="T35" fmla="*/ 0 h 1162"/>
                <a:gd name="T36" fmla="*/ 0 w 1172"/>
                <a:gd name="T37" fmla="*/ 0 h 1162"/>
                <a:gd name="T38" fmla="*/ 0 w 1172"/>
                <a:gd name="T39" fmla="*/ 0 h 1162"/>
                <a:gd name="T40" fmla="*/ 0 w 1172"/>
                <a:gd name="T41" fmla="*/ 0 h 1162"/>
                <a:gd name="T42" fmla="*/ 0 w 1172"/>
                <a:gd name="T43" fmla="*/ 0 h 1162"/>
                <a:gd name="T44" fmla="*/ 0 w 1172"/>
                <a:gd name="T45" fmla="*/ 0 h 1162"/>
                <a:gd name="T46" fmla="*/ 0 w 1172"/>
                <a:gd name="T47" fmla="*/ 0 h 1162"/>
                <a:gd name="T48" fmla="*/ 0 w 1172"/>
                <a:gd name="T49" fmla="*/ 0 h 1162"/>
                <a:gd name="T50" fmla="*/ 0 w 1172"/>
                <a:gd name="T51" fmla="*/ 0 h 1162"/>
                <a:gd name="T52" fmla="*/ 0 w 1172"/>
                <a:gd name="T53" fmla="*/ 0 h 1162"/>
                <a:gd name="T54" fmla="*/ 0 w 1172"/>
                <a:gd name="T55" fmla="*/ 0 h 1162"/>
                <a:gd name="T56" fmla="*/ 0 w 1172"/>
                <a:gd name="T57" fmla="*/ 0 h 1162"/>
                <a:gd name="T58" fmla="*/ 0 w 1172"/>
                <a:gd name="T59" fmla="*/ 0 h 1162"/>
                <a:gd name="T60" fmla="*/ 0 w 1172"/>
                <a:gd name="T61" fmla="*/ 0 h 1162"/>
                <a:gd name="T62" fmla="*/ 0 w 1172"/>
                <a:gd name="T63" fmla="*/ 0 h 1162"/>
                <a:gd name="T64" fmla="*/ 0 w 1172"/>
                <a:gd name="T65" fmla="*/ 0 h 1162"/>
                <a:gd name="T66" fmla="*/ 0 w 1172"/>
                <a:gd name="T67" fmla="*/ 0 h 1162"/>
                <a:gd name="T68" fmla="*/ 0 w 1172"/>
                <a:gd name="T69" fmla="*/ 0 h 1162"/>
                <a:gd name="T70" fmla="*/ 0 w 1172"/>
                <a:gd name="T71" fmla="*/ 0 h 1162"/>
                <a:gd name="T72" fmla="*/ 0 w 1172"/>
                <a:gd name="T73" fmla="*/ 0 h 1162"/>
                <a:gd name="T74" fmla="*/ 0 w 1172"/>
                <a:gd name="T75" fmla="*/ 0 h 1162"/>
                <a:gd name="T76" fmla="*/ 0 w 1172"/>
                <a:gd name="T77" fmla="*/ 0 h 1162"/>
                <a:gd name="T78" fmla="*/ 0 w 1172"/>
                <a:gd name="T79" fmla="*/ 0 h 1162"/>
                <a:gd name="T80" fmla="*/ 0 w 1172"/>
                <a:gd name="T81" fmla="*/ 0 h 1162"/>
                <a:gd name="T82" fmla="*/ 0 w 1172"/>
                <a:gd name="T83" fmla="*/ 0 h 1162"/>
                <a:gd name="T84" fmla="*/ 0 w 1172"/>
                <a:gd name="T85" fmla="*/ 0 h 1162"/>
                <a:gd name="T86" fmla="*/ 0 w 1172"/>
                <a:gd name="T87" fmla="*/ 0 h 1162"/>
                <a:gd name="T88" fmla="*/ 0 w 1172"/>
                <a:gd name="T89" fmla="*/ 0 h 1162"/>
                <a:gd name="T90" fmla="*/ 0 w 1172"/>
                <a:gd name="T91" fmla="*/ 0 h 1162"/>
                <a:gd name="T92" fmla="*/ 0 w 1172"/>
                <a:gd name="T93" fmla="*/ 0 h 1162"/>
                <a:gd name="T94" fmla="*/ 0 w 1172"/>
                <a:gd name="T95" fmla="*/ 0 h 1162"/>
                <a:gd name="T96" fmla="*/ 0 w 1172"/>
                <a:gd name="T97" fmla="*/ 0 h 1162"/>
                <a:gd name="T98" fmla="*/ 0 w 1172"/>
                <a:gd name="T99" fmla="*/ 0 h 1162"/>
                <a:gd name="T100" fmla="*/ 0 w 1172"/>
                <a:gd name="T101" fmla="*/ 0 h 1162"/>
                <a:gd name="T102" fmla="*/ 0 w 1172"/>
                <a:gd name="T103" fmla="*/ 0 h 1162"/>
                <a:gd name="T104" fmla="*/ 0 w 1172"/>
                <a:gd name="T105" fmla="*/ 0 h 1162"/>
                <a:gd name="T106" fmla="*/ 0 w 1172"/>
                <a:gd name="T107" fmla="*/ 0 h 1162"/>
                <a:gd name="T108" fmla="*/ 0 w 1172"/>
                <a:gd name="T109" fmla="*/ 0 h 1162"/>
                <a:gd name="T110" fmla="*/ 0 w 1172"/>
                <a:gd name="T111" fmla="*/ 0 h 11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1172" h="1162">
                  <a:moveTo>
                    <a:pt x="959" y="0"/>
                  </a:moveTo>
                  <a:lnTo>
                    <a:pt x="820" y="43"/>
                  </a:lnTo>
                  <a:lnTo>
                    <a:pt x="756" y="100"/>
                  </a:lnTo>
                  <a:lnTo>
                    <a:pt x="719" y="213"/>
                  </a:lnTo>
                  <a:lnTo>
                    <a:pt x="719" y="321"/>
                  </a:lnTo>
                  <a:lnTo>
                    <a:pt x="739" y="381"/>
                  </a:lnTo>
                  <a:lnTo>
                    <a:pt x="727" y="489"/>
                  </a:lnTo>
                  <a:lnTo>
                    <a:pt x="727" y="571"/>
                  </a:lnTo>
                  <a:lnTo>
                    <a:pt x="745" y="591"/>
                  </a:lnTo>
                  <a:lnTo>
                    <a:pt x="727" y="621"/>
                  </a:lnTo>
                  <a:lnTo>
                    <a:pt x="713" y="652"/>
                  </a:lnTo>
                  <a:lnTo>
                    <a:pt x="739" y="684"/>
                  </a:lnTo>
                  <a:lnTo>
                    <a:pt x="739" y="716"/>
                  </a:lnTo>
                  <a:lnTo>
                    <a:pt x="688" y="729"/>
                  </a:lnTo>
                  <a:lnTo>
                    <a:pt x="695" y="761"/>
                  </a:lnTo>
                  <a:lnTo>
                    <a:pt x="644" y="779"/>
                  </a:lnTo>
                  <a:lnTo>
                    <a:pt x="599" y="767"/>
                  </a:lnTo>
                  <a:lnTo>
                    <a:pt x="569" y="779"/>
                  </a:lnTo>
                  <a:lnTo>
                    <a:pt x="428" y="799"/>
                  </a:lnTo>
                  <a:lnTo>
                    <a:pt x="304" y="793"/>
                  </a:lnTo>
                  <a:lnTo>
                    <a:pt x="222" y="799"/>
                  </a:lnTo>
                  <a:lnTo>
                    <a:pt x="170" y="831"/>
                  </a:lnTo>
                  <a:lnTo>
                    <a:pt x="45" y="831"/>
                  </a:lnTo>
                  <a:lnTo>
                    <a:pt x="0" y="873"/>
                  </a:lnTo>
                  <a:lnTo>
                    <a:pt x="0" y="923"/>
                  </a:lnTo>
                  <a:lnTo>
                    <a:pt x="6" y="1004"/>
                  </a:lnTo>
                  <a:lnTo>
                    <a:pt x="109" y="1030"/>
                  </a:lnTo>
                  <a:lnTo>
                    <a:pt x="109" y="978"/>
                  </a:lnTo>
                  <a:lnTo>
                    <a:pt x="115" y="935"/>
                  </a:lnTo>
                  <a:lnTo>
                    <a:pt x="133" y="916"/>
                  </a:lnTo>
                  <a:lnTo>
                    <a:pt x="141" y="966"/>
                  </a:lnTo>
                  <a:lnTo>
                    <a:pt x="147" y="1030"/>
                  </a:lnTo>
                  <a:lnTo>
                    <a:pt x="170" y="1068"/>
                  </a:lnTo>
                  <a:lnTo>
                    <a:pt x="215" y="1118"/>
                  </a:lnTo>
                  <a:lnTo>
                    <a:pt x="321" y="1142"/>
                  </a:lnTo>
                  <a:lnTo>
                    <a:pt x="403" y="1155"/>
                  </a:lnTo>
                  <a:lnTo>
                    <a:pt x="499" y="1162"/>
                  </a:lnTo>
                  <a:lnTo>
                    <a:pt x="379" y="1093"/>
                  </a:lnTo>
                  <a:lnTo>
                    <a:pt x="297" y="1030"/>
                  </a:lnTo>
                  <a:lnTo>
                    <a:pt x="279" y="978"/>
                  </a:lnTo>
                  <a:lnTo>
                    <a:pt x="291" y="935"/>
                  </a:lnTo>
                  <a:lnTo>
                    <a:pt x="358" y="929"/>
                  </a:lnTo>
                  <a:lnTo>
                    <a:pt x="385" y="978"/>
                  </a:lnTo>
                  <a:lnTo>
                    <a:pt x="403" y="1036"/>
                  </a:lnTo>
                  <a:lnTo>
                    <a:pt x="467" y="1098"/>
                  </a:lnTo>
                  <a:lnTo>
                    <a:pt x="537" y="1149"/>
                  </a:lnTo>
                  <a:lnTo>
                    <a:pt x="607" y="1155"/>
                  </a:lnTo>
                  <a:lnTo>
                    <a:pt x="713" y="1149"/>
                  </a:lnTo>
                  <a:lnTo>
                    <a:pt x="599" y="1061"/>
                  </a:lnTo>
                  <a:lnTo>
                    <a:pt x="517" y="1016"/>
                  </a:lnTo>
                  <a:lnTo>
                    <a:pt x="454" y="966"/>
                  </a:lnTo>
                  <a:lnTo>
                    <a:pt x="435" y="929"/>
                  </a:lnTo>
                  <a:lnTo>
                    <a:pt x="441" y="891"/>
                  </a:lnTo>
                  <a:lnTo>
                    <a:pt x="479" y="885"/>
                  </a:lnTo>
                  <a:lnTo>
                    <a:pt x="523" y="923"/>
                  </a:lnTo>
                  <a:lnTo>
                    <a:pt x="549" y="972"/>
                  </a:lnTo>
                  <a:lnTo>
                    <a:pt x="607" y="1036"/>
                  </a:lnTo>
                  <a:lnTo>
                    <a:pt x="675" y="1068"/>
                  </a:lnTo>
                  <a:lnTo>
                    <a:pt x="727" y="1098"/>
                  </a:lnTo>
                  <a:lnTo>
                    <a:pt x="782" y="1123"/>
                  </a:lnTo>
                  <a:lnTo>
                    <a:pt x="846" y="1136"/>
                  </a:lnTo>
                  <a:lnTo>
                    <a:pt x="921" y="1136"/>
                  </a:lnTo>
                  <a:lnTo>
                    <a:pt x="994" y="1122"/>
                  </a:lnTo>
                  <a:lnTo>
                    <a:pt x="833" y="1068"/>
                  </a:lnTo>
                  <a:lnTo>
                    <a:pt x="771" y="1036"/>
                  </a:lnTo>
                  <a:lnTo>
                    <a:pt x="727" y="978"/>
                  </a:lnTo>
                  <a:lnTo>
                    <a:pt x="719" y="929"/>
                  </a:lnTo>
                  <a:lnTo>
                    <a:pt x="756" y="929"/>
                  </a:lnTo>
                  <a:lnTo>
                    <a:pt x="777" y="972"/>
                  </a:lnTo>
                  <a:lnTo>
                    <a:pt x="808" y="1010"/>
                  </a:lnTo>
                  <a:lnTo>
                    <a:pt x="859" y="1049"/>
                  </a:lnTo>
                  <a:lnTo>
                    <a:pt x="914" y="1087"/>
                  </a:lnTo>
                  <a:lnTo>
                    <a:pt x="989" y="1119"/>
                  </a:lnTo>
                  <a:lnTo>
                    <a:pt x="1046" y="1098"/>
                  </a:lnTo>
                  <a:lnTo>
                    <a:pt x="1072" y="1068"/>
                  </a:lnTo>
                  <a:lnTo>
                    <a:pt x="1117" y="991"/>
                  </a:lnTo>
                  <a:lnTo>
                    <a:pt x="1034" y="972"/>
                  </a:lnTo>
                  <a:lnTo>
                    <a:pt x="878" y="954"/>
                  </a:lnTo>
                  <a:lnTo>
                    <a:pt x="782" y="910"/>
                  </a:lnTo>
                  <a:lnTo>
                    <a:pt x="733" y="868"/>
                  </a:lnTo>
                  <a:lnTo>
                    <a:pt x="713" y="816"/>
                  </a:lnTo>
                  <a:lnTo>
                    <a:pt x="707" y="793"/>
                  </a:lnTo>
                  <a:lnTo>
                    <a:pt x="733" y="793"/>
                  </a:lnTo>
                  <a:lnTo>
                    <a:pt x="765" y="831"/>
                  </a:lnTo>
                  <a:lnTo>
                    <a:pt x="814" y="897"/>
                  </a:lnTo>
                  <a:lnTo>
                    <a:pt x="927" y="935"/>
                  </a:lnTo>
                  <a:lnTo>
                    <a:pt x="1034" y="968"/>
                  </a:lnTo>
                  <a:lnTo>
                    <a:pt x="1117" y="991"/>
                  </a:lnTo>
                  <a:lnTo>
                    <a:pt x="1149" y="861"/>
                  </a:lnTo>
                  <a:lnTo>
                    <a:pt x="1155" y="767"/>
                  </a:lnTo>
                  <a:lnTo>
                    <a:pt x="1155" y="683"/>
                  </a:lnTo>
                  <a:lnTo>
                    <a:pt x="1046" y="741"/>
                  </a:lnTo>
                  <a:lnTo>
                    <a:pt x="921" y="767"/>
                  </a:lnTo>
                  <a:lnTo>
                    <a:pt x="820" y="761"/>
                  </a:lnTo>
                  <a:lnTo>
                    <a:pt x="795" y="748"/>
                  </a:lnTo>
                  <a:lnTo>
                    <a:pt x="782" y="716"/>
                  </a:lnTo>
                  <a:lnTo>
                    <a:pt x="840" y="716"/>
                  </a:lnTo>
                  <a:lnTo>
                    <a:pt x="901" y="735"/>
                  </a:lnTo>
                  <a:lnTo>
                    <a:pt x="1049" y="741"/>
                  </a:lnTo>
                  <a:lnTo>
                    <a:pt x="1155" y="684"/>
                  </a:lnTo>
                  <a:lnTo>
                    <a:pt x="1161" y="565"/>
                  </a:lnTo>
                  <a:lnTo>
                    <a:pt x="1167" y="483"/>
                  </a:lnTo>
                  <a:lnTo>
                    <a:pt x="1172" y="401"/>
                  </a:lnTo>
                  <a:lnTo>
                    <a:pt x="1161" y="264"/>
                  </a:lnTo>
                  <a:lnTo>
                    <a:pt x="1129" y="213"/>
                  </a:lnTo>
                  <a:lnTo>
                    <a:pt x="1034" y="152"/>
                  </a:lnTo>
                  <a:lnTo>
                    <a:pt x="1065" y="158"/>
                  </a:lnTo>
                  <a:lnTo>
                    <a:pt x="1161" y="201"/>
                  </a:lnTo>
                  <a:lnTo>
                    <a:pt x="1123" y="113"/>
                  </a:lnTo>
                  <a:lnTo>
                    <a:pt x="1091" y="68"/>
                  </a:lnTo>
                  <a:lnTo>
                    <a:pt x="1065" y="38"/>
                  </a:lnTo>
                  <a:lnTo>
                    <a:pt x="959"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5" name="Freeform 298"/>
            <p:cNvSpPr>
              <a:spLocks/>
            </p:cNvSpPr>
            <p:nvPr/>
          </p:nvSpPr>
          <p:spPr bwMode="auto">
            <a:xfrm>
              <a:off x="5500" y="1878"/>
              <a:ext cx="49" cy="44"/>
            </a:xfrm>
            <a:custGeom>
              <a:avLst/>
              <a:gdLst>
                <a:gd name="T0" fmla="*/ 0 w 295"/>
                <a:gd name="T1" fmla="*/ 0 h 263"/>
                <a:gd name="T2" fmla="*/ 0 w 295"/>
                <a:gd name="T3" fmla="*/ 0 h 263"/>
                <a:gd name="T4" fmla="*/ 0 w 295"/>
                <a:gd name="T5" fmla="*/ 0 h 263"/>
                <a:gd name="T6" fmla="*/ 0 w 295"/>
                <a:gd name="T7" fmla="*/ 0 h 263"/>
                <a:gd name="T8" fmla="*/ 0 w 295"/>
                <a:gd name="T9" fmla="*/ 0 h 263"/>
                <a:gd name="T10" fmla="*/ 0 w 295"/>
                <a:gd name="T11" fmla="*/ 0 h 263"/>
                <a:gd name="T12" fmla="*/ 0 w 295"/>
                <a:gd name="T13" fmla="*/ 0 h 263"/>
                <a:gd name="T14" fmla="*/ 0 w 295"/>
                <a:gd name="T15" fmla="*/ 0 h 263"/>
                <a:gd name="T16" fmla="*/ 0 w 295"/>
                <a:gd name="T17" fmla="*/ 0 h 263"/>
                <a:gd name="T18" fmla="*/ 0 w 295"/>
                <a:gd name="T19" fmla="*/ 0 h 263"/>
                <a:gd name="T20" fmla="*/ 0 w 295"/>
                <a:gd name="T21" fmla="*/ 0 h 263"/>
                <a:gd name="T22" fmla="*/ 0 w 295"/>
                <a:gd name="T23" fmla="*/ 0 h 263"/>
                <a:gd name="T24" fmla="*/ 0 w 295"/>
                <a:gd name="T25" fmla="*/ 0 h 263"/>
                <a:gd name="T26" fmla="*/ 0 w 295"/>
                <a:gd name="T27" fmla="*/ 0 h 263"/>
                <a:gd name="T28" fmla="*/ 0 w 295"/>
                <a:gd name="T29" fmla="*/ 0 h 263"/>
                <a:gd name="T30" fmla="*/ 0 w 295"/>
                <a:gd name="T31" fmla="*/ 0 h 263"/>
                <a:gd name="T32" fmla="*/ 0 w 295"/>
                <a:gd name="T33" fmla="*/ 0 h 263"/>
                <a:gd name="T34" fmla="*/ 0 w 295"/>
                <a:gd name="T35" fmla="*/ 0 h 263"/>
                <a:gd name="T36" fmla="*/ 0 w 295"/>
                <a:gd name="T37" fmla="*/ 0 h 263"/>
                <a:gd name="T38" fmla="*/ 0 w 295"/>
                <a:gd name="T39" fmla="*/ 0 h 263"/>
                <a:gd name="T40" fmla="*/ 0 w 295"/>
                <a:gd name="T41" fmla="*/ 0 h 263"/>
                <a:gd name="T42" fmla="*/ 0 w 295"/>
                <a:gd name="T43" fmla="*/ 0 h 263"/>
                <a:gd name="T44" fmla="*/ 0 w 295"/>
                <a:gd name="T45" fmla="*/ 0 h 26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95" h="263">
                  <a:moveTo>
                    <a:pt x="0" y="0"/>
                  </a:moveTo>
                  <a:lnTo>
                    <a:pt x="0" y="21"/>
                  </a:lnTo>
                  <a:lnTo>
                    <a:pt x="38" y="71"/>
                  </a:lnTo>
                  <a:lnTo>
                    <a:pt x="75" y="99"/>
                  </a:lnTo>
                  <a:lnTo>
                    <a:pt x="152" y="158"/>
                  </a:lnTo>
                  <a:lnTo>
                    <a:pt x="184" y="182"/>
                  </a:lnTo>
                  <a:lnTo>
                    <a:pt x="260" y="239"/>
                  </a:lnTo>
                  <a:lnTo>
                    <a:pt x="178" y="213"/>
                  </a:lnTo>
                  <a:lnTo>
                    <a:pt x="97" y="188"/>
                  </a:lnTo>
                  <a:lnTo>
                    <a:pt x="16" y="182"/>
                  </a:lnTo>
                  <a:lnTo>
                    <a:pt x="22" y="207"/>
                  </a:lnTo>
                  <a:lnTo>
                    <a:pt x="152" y="231"/>
                  </a:lnTo>
                  <a:lnTo>
                    <a:pt x="222" y="257"/>
                  </a:lnTo>
                  <a:lnTo>
                    <a:pt x="260" y="263"/>
                  </a:lnTo>
                  <a:lnTo>
                    <a:pt x="292" y="252"/>
                  </a:lnTo>
                  <a:lnTo>
                    <a:pt x="295" y="222"/>
                  </a:lnTo>
                  <a:lnTo>
                    <a:pt x="269" y="199"/>
                  </a:lnTo>
                  <a:lnTo>
                    <a:pt x="232" y="162"/>
                  </a:lnTo>
                  <a:lnTo>
                    <a:pt x="188" y="112"/>
                  </a:lnTo>
                  <a:lnTo>
                    <a:pt x="144" y="56"/>
                  </a:lnTo>
                  <a:lnTo>
                    <a:pt x="91" y="17"/>
                  </a:lnTo>
                  <a:lnTo>
                    <a:pt x="35" y="3"/>
                  </a:lnTo>
                  <a:lnTo>
                    <a:pt x="0"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6" name="Freeform 299"/>
            <p:cNvSpPr>
              <a:spLocks/>
            </p:cNvSpPr>
            <p:nvPr/>
          </p:nvSpPr>
          <p:spPr bwMode="auto">
            <a:xfrm>
              <a:off x="5503" y="1842"/>
              <a:ext cx="44" cy="57"/>
            </a:xfrm>
            <a:custGeom>
              <a:avLst/>
              <a:gdLst>
                <a:gd name="T0" fmla="*/ 0 w 270"/>
                <a:gd name="T1" fmla="*/ 0 h 345"/>
                <a:gd name="T2" fmla="*/ 0 w 270"/>
                <a:gd name="T3" fmla="*/ 0 h 345"/>
                <a:gd name="T4" fmla="*/ 0 w 270"/>
                <a:gd name="T5" fmla="*/ 0 h 345"/>
                <a:gd name="T6" fmla="*/ 0 w 270"/>
                <a:gd name="T7" fmla="*/ 0 h 345"/>
                <a:gd name="T8" fmla="*/ 0 w 270"/>
                <a:gd name="T9" fmla="*/ 0 h 345"/>
                <a:gd name="T10" fmla="*/ 0 w 270"/>
                <a:gd name="T11" fmla="*/ 0 h 345"/>
                <a:gd name="T12" fmla="*/ 0 w 270"/>
                <a:gd name="T13" fmla="*/ 0 h 345"/>
                <a:gd name="T14" fmla="*/ 0 w 270"/>
                <a:gd name="T15" fmla="*/ 0 h 345"/>
                <a:gd name="T16" fmla="*/ 0 w 270"/>
                <a:gd name="T17" fmla="*/ 0 h 345"/>
                <a:gd name="T18" fmla="*/ 0 w 270"/>
                <a:gd name="T19" fmla="*/ 0 h 345"/>
                <a:gd name="T20" fmla="*/ 0 w 270"/>
                <a:gd name="T21" fmla="*/ 0 h 345"/>
                <a:gd name="T22" fmla="*/ 0 w 270"/>
                <a:gd name="T23" fmla="*/ 0 h 345"/>
                <a:gd name="T24" fmla="*/ 0 w 270"/>
                <a:gd name="T25" fmla="*/ 0 h 345"/>
                <a:gd name="T26" fmla="*/ 0 w 270"/>
                <a:gd name="T27" fmla="*/ 0 h 345"/>
                <a:gd name="T28" fmla="*/ 0 w 270"/>
                <a:gd name="T29" fmla="*/ 0 h 345"/>
                <a:gd name="T30" fmla="*/ 0 w 270"/>
                <a:gd name="T31" fmla="*/ 0 h 345"/>
                <a:gd name="T32" fmla="*/ 0 w 270"/>
                <a:gd name="T33" fmla="*/ 0 h 34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270" h="345">
                  <a:moveTo>
                    <a:pt x="51" y="0"/>
                  </a:moveTo>
                  <a:lnTo>
                    <a:pt x="13" y="7"/>
                  </a:lnTo>
                  <a:lnTo>
                    <a:pt x="0" y="39"/>
                  </a:lnTo>
                  <a:lnTo>
                    <a:pt x="3" y="65"/>
                  </a:lnTo>
                  <a:lnTo>
                    <a:pt x="26" y="101"/>
                  </a:lnTo>
                  <a:lnTo>
                    <a:pt x="57" y="112"/>
                  </a:lnTo>
                  <a:lnTo>
                    <a:pt x="116" y="149"/>
                  </a:lnTo>
                  <a:lnTo>
                    <a:pt x="172" y="195"/>
                  </a:lnTo>
                  <a:lnTo>
                    <a:pt x="212" y="259"/>
                  </a:lnTo>
                  <a:lnTo>
                    <a:pt x="257" y="325"/>
                  </a:lnTo>
                  <a:lnTo>
                    <a:pt x="270" y="345"/>
                  </a:lnTo>
                  <a:lnTo>
                    <a:pt x="257" y="267"/>
                  </a:lnTo>
                  <a:lnTo>
                    <a:pt x="247" y="198"/>
                  </a:lnTo>
                  <a:lnTo>
                    <a:pt x="225" y="140"/>
                  </a:lnTo>
                  <a:lnTo>
                    <a:pt x="188" y="86"/>
                  </a:lnTo>
                  <a:lnTo>
                    <a:pt x="90" y="10"/>
                  </a:lnTo>
                  <a:lnTo>
                    <a:pt x="51"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7" name="Freeform 300"/>
            <p:cNvSpPr>
              <a:spLocks/>
            </p:cNvSpPr>
            <p:nvPr/>
          </p:nvSpPr>
          <p:spPr bwMode="auto">
            <a:xfrm>
              <a:off x="5494" y="1785"/>
              <a:ext cx="48" cy="34"/>
            </a:xfrm>
            <a:custGeom>
              <a:avLst/>
              <a:gdLst>
                <a:gd name="T0" fmla="*/ 0 w 287"/>
                <a:gd name="T1" fmla="*/ 0 h 199"/>
                <a:gd name="T2" fmla="*/ 0 w 287"/>
                <a:gd name="T3" fmla="*/ 0 h 199"/>
                <a:gd name="T4" fmla="*/ 0 w 287"/>
                <a:gd name="T5" fmla="*/ 0 h 199"/>
                <a:gd name="T6" fmla="*/ 0 w 287"/>
                <a:gd name="T7" fmla="*/ 0 h 199"/>
                <a:gd name="T8" fmla="*/ 0 w 287"/>
                <a:gd name="T9" fmla="*/ 0 h 199"/>
                <a:gd name="T10" fmla="*/ 0 w 287"/>
                <a:gd name="T11" fmla="*/ 0 h 199"/>
                <a:gd name="T12" fmla="*/ 0 w 287"/>
                <a:gd name="T13" fmla="*/ 0 h 199"/>
                <a:gd name="T14" fmla="*/ 0 w 287"/>
                <a:gd name="T15" fmla="*/ 0 h 199"/>
                <a:gd name="T16" fmla="*/ 0 w 287"/>
                <a:gd name="T17" fmla="*/ 0 h 199"/>
                <a:gd name="T18" fmla="*/ 0 w 287"/>
                <a:gd name="T19" fmla="*/ 0 h 19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87" h="199">
                  <a:moveTo>
                    <a:pt x="0" y="199"/>
                  </a:moveTo>
                  <a:lnTo>
                    <a:pt x="49" y="156"/>
                  </a:lnTo>
                  <a:lnTo>
                    <a:pt x="130" y="125"/>
                  </a:lnTo>
                  <a:lnTo>
                    <a:pt x="185" y="111"/>
                  </a:lnTo>
                  <a:lnTo>
                    <a:pt x="287" y="0"/>
                  </a:lnTo>
                  <a:lnTo>
                    <a:pt x="211" y="44"/>
                  </a:lnTo>
                  <a:lnTo>
                    <a:pt x="142" y="74"/>
                  </a:lnTo>
                  <a:lnTo>
                    <a:pt x="93" y="99"/>
                  </a:lnTo>
                  <a:lnTo>
                    <a:pt x="68" y="125"/>
                  </a:lnTo>
                  <a:lnTo>
                    <a:pt x="0" y="199"/>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8" name="Freeform 301"/>
            <p:cNvSpPr>
              <a:spLocks/>
            </p:cNvSpPr>
            <p:nvPr/>
          </p:nvSpPr>
          <p:spPr bwMode="auto">
            <a:xfrm>
              <a:off x="5458" y="1846"/>
              <a:ext cx="27" cy="86"/>
            </a:xfrm>
            <a:custGeom>
              <a:avLst/>
              <a:gdLst>
                <a:gd name="T0" fmla="*/ 0 w 162"/>
                <a:gd name="T1" fmla="*/ 0 h 514"/>
                <a:gd name="T2" fmla="*/ 0 w 162"/>
                <a:gd name="T3" fmla="*/ 0 h 514"/>
                <a:gd name="T4" fmla="*/ 0 w 162"/>
                <a:gd name="T5" fmla="*/ 0 h 514"/>
                <a:gd name="T6" fmla="*/ 0 w 162"/>
                <a:gd name="T7" fmla="*/ 0 h 514"/>
                <a:gd name="T8" fmla="*/ 0 w 162"/>
                <a:gd name="T9" fmla="*/ 0 h 514"/>
                <a:gd name="T10" fmla="*/ 0 w 162"/>
                <a:gd name="T11" fmla="*/ 0 h 514"/>
                <a:gd name="T12" fmla="*/ 0 w 162"/>
                <a:gd name="T13" fmla="*/ 0 h 514"/>
                <a:gd name="T14" fmla="*/ 0 w 162"/>
                <a:gd name="T15" fmla="*/ 0 h 514"/>
                <a:gd name="T16" fmla="*/ 0 w 162"/>
                <a:gd name="T17" fmla="*/ 0 h 514"/>
                <a:gd name="T18" fmla="*/ 0 w 162"/>
                <a:gd name="T19" fmla="*/ 0 h 514"/>
                <a:gd name="T20" fmla="*/ 0 w 162"/>
                <a:gd name="T21" fmla="*/ 0 h 514"/>
                <a:gd name="T22" fmla="*/ 0 w 162"/>
                <a:gd name="T23" fmla="*/ 0 h 514"/>
                <a:gd name="T24" fmla="*/ 0 w 162"/>
                <a:gd name="T25" fmla="*/ 0 h 514"/>
                <a:gd name="T26" fmla="*/ 0 w 162"/>
                <a:gd name="T27" fmla="*/ 0 h 514"/>
                <a:gd name="T28" fmla="*/ 0 w 162"/>
                <a:gd name="T29" fmla="*/ 0 h 514"/>
                <a:gd name="T30" fmla="*/ 0 w 162"/>
                <a:gd name="T31" fmla="*/ 0 h 514"/>
                <a:gd name="T32" fmla="*/ 0 w 162"/>
                <a:gd name="T33" fmla="*/ 0 h 514"/>
                <a:gd name="T34" fmla="*/ 0 w 162"/>
                <a:gd name="T35" fmla="*/ 0 h 514"/>
                <a:gd name="T36" fmla="*/ 0 w 162"/>
                <a:gd name="T37" fmla="*/ 0 h 514"/>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62" h="514">
                  <a:moveTo>
                    <a:pt x="0" y="514"/>
                  </a:moveTo>
                  <a:lnTo>
                    <a:pt x="81" y="514"/>
                  </a:lnTo>
                  <a:lnTo>
                    <a:pt x="106" y="508"/>
                  </a:lnTo>
                  <a:lnTo>
                    <a:pt x="106" y="489"/>
                  </a:lnTo>
                  <a:lnTo>
                    <a:pt x="124" y="470"/>
                  </a:lnTo>
                  <a:lnTo>
                    <a:pt x="150" y="451"/>
                  </a:lnTo>
                  <a:lnTo>
                    <a:pt x="137" y="433"/>
                  </a:lnTo>
                  <a:lnTo>
                    <a:pt x="137" y="407"/>
                  </a:lnTo>
                  <a:lnTo>
                    <a:pt x="156" y="376"/>
                  </a:lnTo>
                  <a:lnTo>
                    <a:pt x="156" y="344"/>
                  </a:lnTo>
                  <a:lnTo>
                    <a:pt x="144" y="306"/>
                  </a:lnTo>
                  <a:lnTo>
                    <a:pt x="144" y="224"/>
                  </a:lnTo>
                  <a:lnTo>
                    <a:pt x="162" y="150"/>
                  </a:lnTo>
                  <a:lnTo>
                    <a:pt x="156" y="94"/>
                  </a:lnTo>
                  <a:lnTo>
                    <a:pt x="156" y="0"/>
                  </a:lnTo>
                  <a:lnTo>
                    <a:pt x="106" y="142"/>
                  </a:lnTo>
                  <a:lnTo>
                    <a:pt x="62" y="275"/>
                  </a:lnTo>
                  <a:lnTo>
                    <a:pt x="32" y="419"/>
                  </a:lnTo>
                  <a:lnTo>
                    <a:pt x="0" y="514"/>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9" name="Freeform 302"/>
            <p:cNvSpPr>
              <a:spLocks/>
            </p:cNvSpPr>
            <p:nvPr/>
          </p:nvSpPr>
          <p:spPr bwMode="auto">
            <a:xfrm>
              <a:off x="5498" y="1939"/>
              <a:ext cx="48" cy="16"/>
            </a:xfrm>
            <a:custGeom>
              <a:avLst/>
              <a:gdLst>
                <a:gd name="T0" fmla="*/ 0 w 289"/>
                <a:gd name="T1" fmla="*/ 0 h 97"/>
                <a:gd name="T2" fmla="*/ 0 w 289"/>
                <a:gd name="T3" fmla="*/ 0 h 97"/>
                <a:gd name="T4" fmla="*/ 0 w 289"/>
                <a:gd name="T5" fmla="*/ 0 h 97"/>
                <a:gd name="T6" fmla="*/ 0 w 289"/>
                <a:gd name="T7" fmla="*/ 0 h 97"/>
                <a:gd name="T8" fmla="*/ 0 w 289"/>
                <a:gd name="T9" fmla="*/ 0 h 97"/>
                <a:gd name="T10" fmla="*/ 0 w 289"/>
                <a:gd name="T11" fmla="*/ 0 h 97"/>
                <a:gd name="T12" fmla="*/ 0 w 289"/>
                <a:gd name="T13" fmla="*/ 0 h 97"/>
                <a:gd name="T14" fmla="*/ 0 w 289"/>
                <a:gd name="T15" fmla="*/ 0 h 97"/>
                <a:gd name="T16" fmla="*/ 0 w 289"/>
                <a:gd name="T17" fmla="*/ 0 h 97"/>
                <a:gd name="T18" fmla="*/ 0 w 289"/>
                <a:gd name="T19" fmla="*/ 0 h 97"/>
                <a:gd name="T20" fmla="*/ 0 w 289"/>
                <a:gd name="T21" fmla="*/ 0 h 9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89" h="97">
                  <a:moveTo>
                    <a:pt x="232" y="47"/>
                  </a:moveTo>
                  <a:lnTo>
                    <a:pt x="168" y="19"/>
                  </a:lnTo>
                  <a:lnTo>
                    <a:pt x="110" y="4"/>
                  </a:lnTo>
                  <a:lnTo>
                    <a:pt x="32" y="0"/>
                  </a:lnTo>
                  <a:lnTo>
                    <a:pt x="0" y="6"/>
                  </a:lnTo>
                  <a:lnTo>
                    <a:pt x="15" y="37"/>
                  </a:lnTo>
                  <a:lnTo>
                    <a:pt x="45" y="61"/>
                  </a:lnTo>
                  <a:lnTo>
                    <a:pt x="113" y="79"/>
                  </a:lnTo>
                  <a:lnTo>
                    <a:pt x="219" y="97"/>
                  </a:lnTo>
                  <a:lnTo>
                    <a:pt x="289" y="91"/>
                  </a:lnTo>
                  <a:lnTo>
                    <a:pt x="232" y="4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0" name="Freeform 303"/>
            <p:cNvSpPr>
              <a:spLocks/>
            </p:cNvSpPr>
            <p:nvPr/>
          </p:nvSpPr>
          <p:spPr bwMode="auto">
            <a:xfrm>
              <a:off x="5458" y="1947"/>
              <a:ext cx="30" cy="36"/>
            </a:xfrm>
            <a:custGeom>
              <a:avLst/>
              <a:gdLst>
                <a:gd name="T0" fmla="*/ 0 w 176"/>
                <a:gd name="T1" fmla="*/ 0 h 216"/>
                <a:gd name="T2" fmla="*/ 0 w 176"/>
                <a:gd name="T3" fmla="*/ 0 h 216"/>
                <a:gd name="T4" fmla="*/ 0 w 176"/>
                <a:gd name="T5" fmla="*/ 0 h 216"/>
                <a:gd name="T6" fmla="*/ 0 w 176"/>
                <a:gd name="T7" fmla="*/ 0 h 216"/>
                <a:gd name="T8" fmla="*/ 0 w 176"/>
                <a:gd name="T9" fmla="*/ 0 h 216"/>
                <a:gd name="T10" fmla="*/ 0 w 176"/>
                <a:gd name="T11" fmla="*/ 0 h 216"/>
                <a:gd name="T12" fmla="*/ 0 w 176"/>
                <a:gd name="T13" fmla="*/ 0 h 216"/>
                <a:gd name="T14" fmla="*/ 0 w 176"/>
                <a:gd name="T15" fmla="*/ 0 h 216"/>
                <a:gd name="T16" fmla="*/ 0 w 176"/>
                <a:gd name="T17" fmla="*/ 0 h 216"/>
                <a:gd name="T18" fmla="*/ 0 w 176"/>
                <a:gd name="T19" fmla="*/ 0 h 216"/>
                <a:gd name="T20" fmla="*/ 0 w 176"/>
                <a:gd name="T21" fmla="*/ 0 h 216"/>
                <a:gd name="T22" fmla="*/ 0 w 176"/>
                <a:gd name="T23" fmla="*/ 0 h 216"/>
                <a:gd name="T24" fmla="*/ 0 w 176"/>
                <a:gd name="T25" fmla="*/ 0 h 21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6" h="216">
                  <a:moveTo>
                    <a:pt x="81" y="59"/>
                  </a:moveTo>
                  <a:lnTo>
                    <a:pt x="59" y="14"/>
                  </a:lnTo>
                  <a:lnTo>
                    <a:pt x="26" y="0"/>
                  </a:lnTo>
                  <a:lnTo>
                    <a:pt x="3" y="11"/>
                  </a:lnTo>
                  <a:lnTo>
                    <a:pt x="0" y="35"/>
                  </a:lnTo>
                  <a:lnTo>
                    <a:pt x="15" y="76"/>
                  </a:lnTo>
                  <a:lnTo>
                    <a:pt x="40" y="115"/>
                  </a:lnTo>
                  <a:lnTo>
                    <a:pt x="71" y="150"/>
                  </a:lnTo>
                  <a:lnTo>
                    <a:pt x="113" y="185"/>
                  </a:lnTo>
                  <a:lnTo>
                    <a:pt x="176" y="216"/>
                  </a:lnTo>
                  <a:lnTo>
                    <a:pt x="119" y="153"/>
                  </a:lnTo>
                  <a:lnTo>
                    <a:pt x="100" y="108"/>
                  </a:lnTo>
                  <a:lnTo>
                    <a:pt x="81" y="59"/>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1" name="Freeform 304"/>
            <p:cNvSpPr>
              <a:spLocks/>
            </p:cNvSpPr>
            <p:nvPr/>
          </p:nvSpPr>
          <p:spPr bwMode="auto">
            <a:xfrm>
              <a:off x="5506" y="1757"/>
              <a:ext cx="70" cy="44"/>
            </a:xfrm>
            <a:custGeom>
              <a:avLst/>
              <a:gdLst>
                <a:gd name="T0" fmla="*/ 0 w 418"/>
                <a:gd name="T1" fmla="*/ 0 h 260"/>
                <a:gd name="T2" fmla="*/ 0 w 418"/>
                <a:gd name="T3" fmla="*/ 0 h 260"/>
                <a:gd name="T4" fmla="*/ 0 w 418"/>
                <a:gd name="T5" fmla="*/ 0 h 260"/>
                <a:gd name="T6" fmla="*/ 0 w 418"/>
                <a:gd name="T7" fmla="*/ 0 h 260"/>
                <a:gd name="T8" fmla="*/ 0 w 418"/>
                <a:gd name="T9" fmla="*/ 0 h 260"/>
                <a:gd name="T10" fmla="*/ 0 w 418"/>
                <a:gd name="T11" fmla="*/ 0 h 260"/>
                <a:gd name="T12" fmla="*/ 0 w 418"/>
                <a:gd name="T13" fmla="*/ 0 h 260"/>
                <a:gd name="T14" fmla="*/ 0 w 418"/>
                <a:gd name="T15" fmla="*/ 0 h 260"/>
                <a:gd name="T16" fmla="*/ 0 w 418"/>
                <a:gd name="T17" fmla="*/ 0 h 260"/>
                <a:gd name="T18" fmla="*/ 0 w 418"/>
                <a:gd name="T19" fmla="*/ 0 h 260"/>
                <a:gd name="T20" fmla="*/ 0 w 418"/>
                <a:gd name="T21" fmla="*/ 0 h 260"/>
                <a:gd name="T22" fmla="*/ 0 w 418"/>
                <a:gd name="T23" fmla="*/ 0 h 26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418" h="260">
                  <a:moveTo>
                    <a:pt x="0" y="260"/>
                  </a:moveTo>
                  <a:lnTo>
                    <a:pt x="13" y="153"/>
                  </a:lnTo>
                  <a:lnTo>
                    <a:pt x="101" y="116"/>
                  </a:lnTo>
                  <a:lnTo>
                    <a:pt x="220" y="69"/>
                  </a:lnTo>
                  <a:lnTo>
                    <a:pt x="304" y="35"/>
                  </a:lnTo>
                  <a:lnTo>
                    <a:pt x="386" y="0"/>
                  </a:lnTo>
                  <a:lnTo>
                    <a:pt x="418" y="76"/>
                  </a:lnTo>
                  <a:lnTo>
                    <a:pt x="341" y="119"/>
                  </a:lnTo>
                  <a:lnTo>
                    <a:pt x="252" y="150"/>
                  </a:lnTo>
                  <a:lnTo>
                    <a:pt x="182" y="170"/>
                  </a:lnTo>
                  <a:lnTo>
                    <a:pt x="98" y="216"/>
                  </a:lnTo>
                  <a:lnTo>
                    <a:pt x="0" y="26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12" name="Group 305"/>
          <p:cNvGrpSpPr>
            <a:grpSpLocks/>
          </p:cNvGrpSpPr>
          <p:nvPr/>
        </p:nvGrpSpPr>
        <p:grpSpPr bwMode="auto">
          <a:xfrm>
            <a:off x="7199967" y="3333548"/>
            <a:ext cx="144954" cy="180263"/>
            <a:chOff x="5511" y="1960"/>
            <a:chExt cx="144" cy="194"/>
          </a:xfrm>
        </p:grpSpPr>
        <p:sp>
          <p:nvSpPr>
            <p:cNvPr id="313" name="Freeform 306"/>
            <p:cNvSpPr>
              <a:spLocks/>
            </p:cNvSpPr>
            <p:nvPr/>
          </p:nvSpPr>
          <p:spPr bwMode="auto">
            <a:xfrm>
              <a:off x="5511" y="1960"/>
              <a:ext cx="144" cy="194"/>
            </a:xfrm>
            <a:custGeom>
              <a:avLst/>
              <a:gdLst>
                <a:gd name="T0" fmla="*/ 0 w 863"/>
                <a:gd name="T1" fmla="*/ 0 h 1164"/>
                <a:gd name="T2" fmla="*/ 0 w 863"/>
                <a:gd name="T3" fmla="*/ 0 h 1164"/>
                <a:gd name="T4" fmla="*/ 0 w 863"/>
                <a:gd name="T5" fmla="*/ 0 h 1164"/>
                <a:gd name="T6" fmla="*/ 0 w 863"/>
                <a:gd name="T7" fmla="*/ 0 h 1164"/>
                <a:gd name="T8" fmla="*/ 0 w 863"/>
                <a:gd name="T9" fmla="*/ 0 h 1164"/>
                <a:gd name="T10" fmla="*/ 0 w 863"/>
                <a:gd name="T11" fmla="*/ 0 h 1164"/>
                <a:gd name="T12" fmla="*/ 0 w 863"/>
                <a:gd name="T13" fmla="*/ 0 h 1164"/>
                <a:gd name="T14" fmla="*/ 0 w 863"/>
                <a:gd name="T15" fmla="*/ 0 h 1164"/>
                <a:gd name="T16" fmla="*/ 0 w 863"/>
                <a:gd name="T17" fmla="*/ 0 h 1164"/>
                <a:gd name="T18" fmla="*/ 0 w 863"/>
                <a:gd name="T19" fmla="*/ 0 h 1164"/>
                <a:gd name="T20" fmla="*/ 0 w 863"/>
                <a:gd name="T21" fmla="*/ 0 h 1164"/>
                <a:gd name="T22" fmla="*/ 0 w 863"/>
                <a:gd name="T23" fmla="*/ 0 h 1164"/>
                <a:gd name="T24" fmla="*/ 0 w 863"/>
                <a:gd name="T25" fmla="*/ 0 h 1164"/>
                <a:gd name="T26" fmla="*/ 0 w 863"/>
                <a:gd name="T27" fmla="*/ 0 h 1164"/>
                <a:gd name="T28" fmla="*/ 0 w 863"/>
                <a:gd name="T29" fmla="*/ 0 h 1164"/>
                <a:gd name="T30" fmla="*/ 0 w 863"/>
                <a:gd name="T31" fmla="*/ 0 h 1164"/>
                <a:gd name="T32" fmla="*/ 0 w 863"/>
                <a:gd name="T33" fmla="*/ 0 h 1164"/>
                <a:gd name="T34" fmla="*/ 0 w 863"/>
                <a:gd name="T35" fmla="*/ 0 h 1164"/>
                <a:gd name="T36" fmla="*/ 0 w 863"/>
                <a:gd name="T37" fmla="*/ 0 h 1164"/>
                <a:gd name="T38" fmla="*/ 0 w 863"/>
                <a:gd name="T39" fmla="*/ 0 h 1164"/>
                <a:gd name="T40" fmla="*/ 0 w 863"/>
                <a:gd name="T41" fmla="*/ 0 h 1164"/>
                <a:gd name="T42" fmla="*/ 0 w 863"/>
                <a:gd name="T43" fmla="*/ 0 h 1164"/>
                <a:gd name="T44" fmla="*/ 0 w 863"/>
                <a:gd name="T45" fmla="*/ 0 h 1164"/>
                <a:gd name="T46" fmla="*/ 0 w 863"/>
                <a:gd name="T47" fmla="*/ 0 h 1164"/>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863" h="1164">
                  <a:moveTo>
                    <a:pt x="385" y="172"/>
                  </a:moveTo>
                  <a:lnTo>
                    <a:pt x="543" y="158"/>
                  </a:lnTo>
                  <a:lnTo>
                    <a:pt x="637" y="133"/>
                  </a:lnTo>
                  <a:lnTo>
                    <a:pt x="667" y="90"/>
                  </a:lnTo>
                  <a:lnTo>
                    <a:pt x="667" y="52"/>
                  </a:lnTo>
                  <a:lnTo>
                    <a:pt x="694" y="20"/>
                  </a:lnTo>
                  <a:lnTo>
                    <a:pt x="782" y="0"/>
                  </a:lnTo>
                  <a:lnTo>
                    <a:pt x="863" y="7"/>
                  </a:lnTo>
                  <a:lnTo>
                    <a:pt x="763" y="907"/>
                  </a:lnTo>
                  <a:lnTo>
                    <a:pt x="694" y="990"/>
                  </a:lnTo>
                  <a:lnTo>
                    <a:pt x="605" y="1071"/>
                  </a:lnTo>
                  <a:lnTo>
                    <a:pt x="481" y="1134"/>
                  </a:lnTo>
                  <a:lnTo>
                    <a:pt x="334" y="1153"/>
                  </a:lnTo>
                  <a:lnTo>
                    <a:pt x="138" y="1164"/>
                  </a:lnTo>
                  <a:lnTo>
                    <a:pt x="25" y="1147"/>
                  </a:lnTo>
                  <a:lnTo>
                    <a:pt x="0" y="1083"/>
                  </a:lnTo>
                  <a:lnTo>
                    <a:pt x="13" y="1001"/>
                  </a:lnTo>
                  <a:lnTo>
                    <a:pt x="95" y="750"/>
                  </a:lnTo>
                  <a:lnTo>
                    <a:pt x="163" y="499"/>
                  </a:lnTo>
                  <a:lnTo>
                    <a:pt x="195" y="310"/>
                  </a:lnTo>
                  <a:lnTo>
                    <a:pt x="195" y="259"/>
                  </a:lnTo>
                  <a:lnTo>
                    <a:pt x="239" y="190"/>
                  </a:lnTo>
                  <a:lnTo>
                    <a:pt x="291" y="172"/>
                  </a:lnTo>
                  <a:lnTo>
                    <a:pt x="385" y="172"/>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4" name="Freeform 307"/>
            <p:cNvSpPr>
              <a:spLocks/>
            </p:cNvSpPr>
            <p:nvPr/>
          </p:nvSpPr>
          <p:spPr bwMode="auto">
            <a:xfrm>
              <a:off x="5528" y="1970"/>
              <a:ext cx="124" cy="177"/>
            </a:xfrm>
            <a:custGeom>
              <a:avLst/>
              <a:gdLst>
                <a:gd name="T0" fmla="*/ 0 w 743"/>
                <a:gd name="T1" fmla="*/ 0 h 1068"/>
                <a:gd name="T2" fmla="*/ 0 w 743"/>
                <a:gd name="T3" fmla="*/ 0 h 1068"/>
                <a:gd name="T4" fmla="*/ 0 w 743"/>
                <a:gd name="T5" fmla="*/ 0 h 1068"/>
                <a:gd name="T6" fmla="*/ 0 w 743"/>
                <a:gd name="T7" fmla="*/ 0 h 1068"/>
                <a:gd name="T8" fmla="*/ 0 w 743"/>
                <a:gd name="T9" fmla="*/ 0 h 1068"/>
                <a:gd name="T10" fmla="*/ 0 w 743"/>
                <a:gd name="T11" fmla="*/ 0 h 1068"/>
                <a:gd name="T12" fmla="*/ 0 w 743"/>
                <a:gd name="T13" fmla="*/ 0 h 1068"/>
                <a:gd name="T14" fmla="*/ 0 w 743"/>
                <a:gd name="T15" fmla="*/ 0 h 1068"/>
                <a:gd name="T16" fmla="*/ 0 w 743"/>
                <a:gd name="T17" fmla="*/ 0 h 1068"/>
                <a:gd name="T18" fmla="*/ 0 w 743"/>
                <a:gd name="T19" fmla="*/ 0 h 1068"/>
                <a:gd name="T20" fmla="*/ 0 w 743"/>
                <a:gd name="T21" fmla="*/ 0 h 1068"/>
                <a:gd name="T22" fmla="*/ 0 w 743"/>
                <a:gd name="T23" fmla="*/ 0 h 1068"/>
                <a:gd name="T24" fmla="*/ 0 w 743"/>
                <a:gd name="T25" fmla="*/ 0 h 1068"/>
                <a:gd name="T26" fmla="*/ 0 w 743"/>
                <a:gd name="T27" fmla="*/ 0 h 1068"/>
                <a:gd name="T28" fmla="*/ 0 w 743"/>
                <a:gd name="T29" fmla="*/ 0 h 1068"/>
                <a:gd name="T30" fmla="*/ 0 w 743"/>
                <a:gd name="T31" fmla="*/ 0 h 1068"/>
                <a:gd name="T32" fmla="*/ 0 w 743"/>
                <a:gd name="T33" fmla="*/ 0 h 1068"/>
                <a:gd name="T34" fmla="*/ 0 w 743"/>
                <a:gd name="T35" fmla="*/ 0 h 1068"/>
                <a:gd name="T36" fmla="*/ 0 w 743"/>
                <a:gd name="T37" fmla="*/ 0 h 1068"/>
                <a:gd name="T38" fmla="*/ 0 w 743"/>
                <a:gd name="T39" fmla="*/ 0 h 1068"/>
                <a:gd name="T40" fmla="*/ 0 w 743"/>
                <a:gd name="T41" fmla="*/ 0 h 1068"/>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743" h="1068">
                  <a:moveTo>
                    <a:pt x="257" y="214"/>
                  </a:moveTo>
                  <a:lnTo>
                    <a:pt x="397" y="207"/>
                  </a:lnTo>
                  <a:lnTo>
                    <a:pt x="542" y="182"/>
                  </a:lnTo>
                  <a:lnTo>
                    <a:pt x="628" y="138"/>
                  </a:lnTo>
                  <a:lnTo>
                    <a:pt x="679" y="100"/>
                  </a:lnTo>
                  <a:lnTo>
                    <a:pt x="743" y="0"/>
                  </a:lnTo>
                  <a:lnTo>
                    <a:pt x="648" y="822"/>
                  </a:lnTo>
                  <a:lnTo>
                    <a:pt x="585" y="898"/>
                  </a:lnTo>
                  <a:lnTo>
                    <a:pt x="516" y="967"/>
                  </a:lnTo>
                  <a:lnTo>
                    <a:pt x="428" y="1016"/>
                  </a:lnTo>
                  <a:lnTo>
                    <a:pt x="353" y="1042"/>
                  </a:lnTo>
                  <a:lnTo>
                    <a:pt x="257" y="1055"/>
                  </a:lnTo>
                  <a:lnTo>
                    <a:pt x="170" y="1068"/>
                  </a:lnTo>
                  <a:lnTo>
                    <a:pt x="69" y="1068"/>
                  </a:lnTo>
                  <a:lnTo>
                    <a:pt x="24" y="1055"/>
                  </a:lnTo>
                  <a:lnTo>
                    <a:pt x="0" y="1016"/>
                  </a:lnTo>
                  <a:lnTo>
                    <a:pt x="11" y="956"/>
                  </a:lnTo>
                  <a:lnTo>
                    <a:pt x="75" y="809"/>
                  </a:lnTo>
                  <a:lnTo>
                    <a:pt x="184" y="321"/>
                  </a:lnTo>
                  <a:lnTo>
                    <a:pt x="201" y="252"/>
                  </a:lnTo>
                  <a:lnTo>
                    <a:pt x="257" y="21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15" name="Oval 308"/>
          <p:cNvSpPr>
            <a:spLocks noChangeArrowheads="1"/>
          </p:cNvSpPr>
          <p:nvPr/>
        </p:nvSpPr>
        <p:spPr bwMode="auto">
          <a:xfrm>
            <a:off x="6729874" y="3187665"/>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6" name="Oval 309"/>
          <p:cNvSpPr>
            <a:spLocks noChangeArrowheads="1"/>
          </p:cNvSpPr>
          <p:nvPr/>
        </p:nvSpPr>
        <p:spPr bwMode="auto">
          <a:xfrm>
            <a:off x="2763778" y="3028773"/>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317" name="Group 310"/>
          <p:cNvGrpSpPr>
            <a:grpSpLocks/>
          </p:cNvGrpSpPr>
          <p:nvPr/>
        </p:nvGrpSpPr>
        <p:grpSpPr bwMode="auto">
          <a:xfrm>
            <a:off x="3006374" y="3092887"/>
            <a:ext cx="289908" cy="267607"/>
            <a:chOff x="2351" y="2975"/>
            <a:chExt cx="481" cy="433"/>
          </a:xfrm>
          <a:effectLst/>
        </p:grpSpPr>
        <p:sp>
          <p:nvSpPr>
            <p:cNvPr id="318" name="Rectangle 311"/>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9" name="Line 312"/>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0" name="Line 313"/>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1" name="Line 314"/>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2" name="Line 315"/>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3" name="Line 316"/>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4" name="Line 317"/>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5" name="Line 318"/>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6" name="Line 319"/>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7" name="Group 320"/>
          <p:cNvGrpSpPr>
            <a:grpSpLocks/>
          </p:cNvGrpSpPr>
          <p:nvPr/>
        </p:nvGrpSpPr>
        <p:grpSpPr bwMode="auto">
          <a:xfrm>
            <a:off x="2939937" y="3416246"/>
            <a:ext cx="463047" cy="267607"/>
            <a:chOff x="1296" y="768"/>
            <a:chExt cx="556" cy="336"/>
          </a:xfrm>
          <a:effectLst/>
        </p:grpSpPr>
        <p:sp>
          <p:nvSpPr>
            <p:cNvPr id="328" name="Rectangle 321"/>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29" name="Group 322"/>
            <p:cNvGrpSpPr>
              <a:grpSpLocks/>
            </p:cNvGrpSpPr>
            <p:nvPr/>
          </p:nvGrpSpPr>
          <p:grpSpPr bwMode="auto">
            <a:xfrm>
              <a:off x="1367" y="829"/>
              <a:ext cx="393" cy="214"/>
              <a:chOff x="2928" y="3744"/>
              <a:chExt cx="528" cy="336"/>
            </a:xfrm>
          </p:grpSpPr>
          <p:grpSp>
            <p:nvGrpSpPr>
              <p:cNvPr id="330" name="Group 323"/>
              <p:cNvGrpSpPr>
                <a:grpSpLocks/>
              </p:cNvGrpSpPr>
              <p:nvPr/>
            </p:nvGrpSpPr>
            <p:grpSpPr bwMode="auto">
              <a:xfrm>
                <a:off x="3024" y="3744"/>
                <a:ext cx="432" cy="240"/>
                <a:chOff x="2736" y="3648"/>
                <a:chExt cx="432" cy="240"/>
              </a:xfrm>
            </p:grpSpPr>
            <p:grpSp>
              <p:nvGrpSpPr>
                <p:cNvPr id="345" name="Group 324"/>
                <p:cNvGrpSpPr>
                  <a:grpSpLocks/>
                </p:cNvGrpSpPr>
                <p:nvPr/>
              </p:nvGrpSpPr>
              <p:grpSpPr bwMode="auto">
                <a:xfrm>
                  <a:off x="2736" y="3648"/>
                  <a:ext cx="432" cy="240"/>
                  <a:chOff x="2592" y="3504"/>
                  <a:chExt cx="576" cy="384"/>
                </a:xfrm>
              </p:grpSpPr>
              <p:sp>
                <p:nvSpPr>
                  <p:cNvPr id="347" name="Rectangle 325"/>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8" name="Freeform 326"/>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9" name="Line 327"/>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0" name="Line 328"/>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6" name="Line 329"/>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1" name="Group 330"/>
              <p:cNvGrpSpPr>
                <a:grpSpLocks/>
              </p:cNvGrpSpPr>
              <p:nvPr/>
            </p:nvGrpSpPr>
            <p:grpSpPr bwMode="auto">
              <a:xfrm>
                <a:off x="2976" y="3792"/>
                <a:ext cx="432" cy="240"/>
                <a:chOff x="2736" y="3648"/>
                <a:chExt cx="432" cy="240"/>
              </a:xfrm>
            </p:grpSpPr>
            <p:grpSp>
              <p:nvGrpSpPr>
                <p:cNvPr id="339" name="Group 331"/>
                <p:cNvGrpSpPr>
                  <a:grpSpLocks/>
                </p:cNvGrpSpPr>
                <p:nvPr/>
              </p:nvGrpSpPr>
              <p:grpSpPr bwMode="auto">
                <a:xfrm>
                  <a:off x="2736" y="3648"/>
                  <a:ext cx="432" cy="240"/>
                  <a:chOff x="2592" y="3504"/>
                  <a:chExt cx="576" cy="384"/>
                </a:xfrm>
              </p:grpSpPr>
              <p:sp>
                <p:nvSpPr>
                  <p:cNvPr id="341" name="Rectangle 332"/>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2" name="Freeform 333"/>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3" name="Line 334"/>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4" name="Line 335"/>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0" name="Line 336"/>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2" name="Group 337"/>
              <p:cNvGrpSpPr>
                <a:grpSpLocks/>
              </p:cNvGrpSpPr>
              <p:nvPr/>
            </p:nvGrpSpPr>
            <p:grpSpPr bwMode="auto">
              <a:xfrm>
                <a:off x="2928" y="3840"/>
                <a:ext cx="432" cy="240"/>
                <a:chOff x="2736" y="3648"/>
                <a:chExt cx="432" cy="240"/>
              </a:xfrm>
            </p:grpSpPr>
            <p:grpSp>
              <p:nvGrpSpPr>
                <p:cNvPr id="333" name="Group 338"/>
                <p:cNvGrpSpPr>
                  <a:grpSpLocks/>
                </p:cNvGrpSpPr>
                <p:nvPr/>
              </p:nvGrpSpPr>
              <p:grpSpPr bwMode="auto">
                <a:xfrm>
                  <a:off x="2736" y="3648"/>
                  <a:ext cx="432" cy="240"/>
                  <a:chOff x="2592" y="3504"/>
                  <a:chExt cx="576" cy="384"/>
                </a:xfrm>
              </p:grpSpPr>
              <p:sp>
                <p:nvSpPr>
                  <p:cNvPr id="335" name="Rectangle 339"/>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36" name="Freeform 340"/>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7" name="Line 341"/>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8" name="Line 342"/>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34" name="Line 343"/>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sp>
        <p:nvSpPr>
          <p:cNvPr id="352" name="Freeform 345"/>
          <p:cNvSpPr>
            <a:spLocks/>
          </p:cNvSpPr>
          <p:nvPr/>
        </p:nvSpPr>
        <p:spPr bwMode="auto">
          <a:xfrm>
            <a:off x="3198639" y="2876385"/>
            <a:ext cx="2829619" cy="598399"/>
          </a:xfrm>
          <a:custGeom>
            <a:avLst/>
            <a:gdLst>
              <a:gd name="T0" fmla="*/ 0 w 2811"/>
              <a:gd name="T1" fmla="*/ 2147483646 h 644"/>
              <a:gd name="T2" fmla="*/ 2147483646 w 2811"/>
              <a:gd name="T3" fmla="*/ 2147483646 h 644"/>
              <a:gd name="T4" fmla="*/ 2147483646 w 2811"/>
              <a:gd name="T5" fmla="*/ 2147483646 h 644"/>
              <a:gd name="T6" fmla="*/ 2147483646 w 2811"/>
              <a:gd name="T7" fmla="*/ 2147483646 h 644"/>
              <a:gd name="T8" fmla="*/ 2147483646 w 2811"/>
              <a:gd name="T9" fmla="*/ 2147483646 h 644"/>
              <a:gd name="T10" fmla="*/ 2147483646 w 2811"/>
              <a:gd name="T11" fmla="*/ 2147483646 h 644"/>
              <a:gd name="T12" fmla="*/ 2147483646 w 2811"/>
              <a:gd name="T13" fmla="*/ 2147483646 h 64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811" h="644">
                <a:moveTo>
                  <a:pt x="0" y="644"/>
                </a:moveTo>
                <a:cubicBezTo>
                  <a:pt x="81" y="585"/>
                  <a:pt x="354" y="376"/>
                  <a:pt x="488" y="292"/>
                </a:cubicBezTo>
                <a:cubicBezTo>
                  <a:pt x="622" y="208"/>
                  <a:pt x="688" y="181"/>
                  <a:pt x="807" y="137"/>
                </a:cubicBezTo>
                <a:cubicBezTo>
                  <a:pt x="926" y="93"/>
                  <a:pt x="1051" y="49"/>
                  <a:pt x="1200" y="28"/>
                </a:cubicBezTo>
                <a:cubicBezTo>
                  <a:pt x="1349" y="7"/>
                  <a:pt x="1533" y="0"/>
                  <a:pt x="1704" y="12"/>
                </a:cubicBezTo>
                <a:cubicBezTo>
                  <a:pt x="1875" y="24"/>
                  <a:pt x="2042" y="45"/>
                  <a:pt x="2226" y="98"/>
                </a:cubicBezTo>
                <a:cubicBezTo>
                  <a:pt x="2410" y="151"/>
                  <a:pt x="2689" y="281"/>
                  <a:pt x="2811" y="32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3" name="Freeform 346"/>
          <p:cNvSpPr>
            <a:spLocks/>
          </p:cNvSpPr>
          <p:nvPr/>
        </p:nvSpPr>
        <p:spPr bwMode="auto">
          <a:xfrm>
            <a:off x="6090669" y="3048286"/>
            <a:ext cx="731815" cy="203493"/>
          </a:xfrm>
          <a:custGeom>
            <a:avLst/>
            <a:gdLst>
              <a:gd name="T0" fmla="*/ 0 w 727"/>
              <a:gd name="T1" fmla="*/ 2147483646 h 219"/>
              <a:gd name="T2" fmla="*/ 2147483646 w 727"/>
              <a:gd name="T3" fmla="*/ 2147483646 h 219"/>
              <a:gd name="T4" fmla="*/ 2147483646 w 727"/>
              <a:gd name="T5" fmla="*/ 2147483646 h 219"/>
              <a:gd name="T6" fmla="*/ 2147483646 w 727"/>
              <a:gd name="T7" fmla="*/ 2147483646 h 219"/>
              <a:gd name="T8" fmla="*/ 2147483646 w 727"/>
              <a:gd name="T9" fmla="*/ 2147483646 h 219"/>
              <a:gd name="T10" fmla="*/ 2147483646 w 727"/>
              <a:gd name="T11" fmla="*/ 2147483646 h 219"/>
              <a:gd name="T12" fmla="*/ 2147483646 w 727"/>
              <a:gd name="T13" fmla="*/ 2147483646 h 21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27" h="219">
                <a:moveTo>
                  <a:pt x="0" y="129"/>
                </a:moveTo>
                <a:cubicBezTo>
                  <a:pt x="24" y="114"/>
                  <a:pt x="107" y="58"/>
                  <a:pt x="145" y="38"/>
                </a:cubicBezTo>
                <a:cubicBezTo>
                  <a:pt x="183" y="18"/>
                  <a:pt x="202" y="15"/>
                  <a:pt x="229" y="9"/>
                </a:cubicBezTo>
                <a:cubicBezTo>
                  <a:pt x="256" y="3"/>
                  <a:pt x="282" y="3"/>
                  <a:pt x="307" y="3"/>
                </a:cubicBezTo>
                <a:cubicBezTo>
                  <a:pt x="332" y="3"/>
                  <a:pt x="353" y="0"/>
                  <a:pt x="382" y="6"/>
                </a:cubicBezTo>
                <a:cubicBezTo>
                  <a:pt x="411" y="12"/>
                  <a:pt x="423" y="3"/>
                  <a:pt x="481" y="39"/>
                </a:cubicBezTo>
                <a:cubicBezTo>
                  <a:pt x="539" y="75"/>
                  <a:pt x="676" y="182"/>
                  <a:pt x="727" y="21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4" name="Text Box 347"/>
          <p:cNvSpPr txBox="1">
            <a:spLocks noChangeArrowheads="1"/>
          </p:cNvSpPr>
          <p:nvPr/>
        </p:nvSpPr>
        <p:spPr bwMode="auto">
          <a:xfrm>
            <a:off x="4452133" y="268868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5" name="Text Box 348"/>
          <p:cNvSpPr txBox="1">
            <a:spLocks noChangeArrowheads="1"/>
          </p:cNvSpPr>
          <p:nvPr/>
        </p:nvSpPr>
        <p:spPr bwMode="auto">
          <a:xfrm>
            <a:off x="2363458" y="302133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6" name="Text Box 349"/>
          <p:cNvSpPr txBox="1">
            <a:spLocks noChangeArrowheads="1"/>
          </p:cNvSpPr>
          <p:nvPr/>
        </p:nvSpPr>
        <p:spPr bwMode="auto">
          <a:xfrm>
            <a:off x="6208592" y="281936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POP3</a:t>
            </a:r>
          </a:p>
        </p:txBody>
      </p:sp>
      <p:sp>
        <p:nvSpPr>
          <p:cNvPr id="357" name="Text Box 350"/>
          <p:cNvSpPr txBox="1">
            <a:spLocks noChangeArrowheads="1"/>
          </p:cNvSpPr>
          <p:nvPr/>
        </p:nvSpPr>
        <p:spPr bwMode="auto">
          <a:xfrm>
            <a:off x="3246958"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358" name="Line 351"/>
          <p:cNvSpPr>
            <a:spLocks noChangeShapeType="1"/>
          </p:cNvSpPr>
          <p:nvPr/>
        </p:nvSpPr>
        <p:spPr bwMode="auto">
          <a:xfrm flipH="1" flipV="1">
            <a:off x="6849663" y="3219256"/>
            <a:ext cx="85563" cy="67645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9" name="Line 352"/>
          <p:cNvSpPr>
            <a:spLocks noChangeShapeType="1"/>
          </p:cNvSpPr>
          <p:nvPr/>
        </p:nvSpPr>
        <p:spPr bwMode="auto">
          <a:xfrm flipV="1">
            <a:off x="2715460" y="3608588"/>
            <a:ext cx="386543" cy="356809"/>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3" name="组合 2"/>
          <p:cNvGrpSpPr/>
          <p:nvPr/>
        </p:nvGrpSpPr>
        <p:grpSpPr>
          <a:xfrm>
            <a:off x="1700784" y="2860589"/>
            <a:ext cx="760001" cy="1209725"/>
            <a:chOff x="1700784" y="2878345"/>
            <a:chExt cx="760001" cy="1209725"/>
          </a:xfrm>
        </p:grpSpPr>
        <p:sp>
          <p:nvSpPr>
            <p:cNvPr id="14" name="Text Box 7"/>
            <p:cNvSpPr txBox="1">
              <a:spLocks noChangeArrowheads="1"/>
            </p:cNvSpPr>
            <p:nvPr/>
          </p:nvSpPr>
          <p:spPr bwMode="auto">
            <a:xfrm>
              <a:off x="1700784" y="2878345"/>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p:txBody>
        </p:sp>
        <p:grpSp>
          <p:nvGrpSpPr>
            <p:cNvPr id="52" name="Group 45"/>
            <p:cNvGrpSpPr>
              <a:grpSpLocks/>
            </p:cNvGrpSpPr>
            <p:nvPr/>
          </p:nvGrpSpPr>
          <p:grpSpPr bwMode="auto">
            <a:xfrm>
              <a:off x="1900095" y="3171970"/>
              <a:ext cx="560690" cy="593753"/>
              <a:chOff x="246" y="1767"/>
              <a:chExt cx="557" cy="639"/>
            </a:xfrm>
          </p:grpSpPr>
          <p:grpSp>
            <p:nvGrpSpPr>
              <p:cNvPr id="53" name="Group 46"/>
              <p:cNvGrpSpPr>
                <a:grpSpLocks/>
              </p:cNvGrpSpPr>
              <p:nvPr/>
            </p:nvGrpSpPr>
            <p:grpSpPr bwMode="auto">
              <a:xfrm>
                <a:off x="246" y="1943"/>
                <a:ext cx="557" cy="463"/>
                <a:chOff x="246" y="1943"/>
                <a:chExt cx="557" cy="463"/>
              </a:xfrm>
            </p:grpSpPr>
            <p:sp>
              <p:nvSpPr>
                <p:cNvPr id="106" name="Freeform 47"/>
                <p:cNvSpPr>
                  <a:spLocks/>
                </p:cNvSpPr>
                <p:nvPr/>
              </p:nvSpPr>
              <p:spPr bwMode="auto">
                <a:xfrm>
                  <a:off x="373" y="2005"/>
                  <a:ext cx="196" cy="295"/>
                </a:xfrm>
                <a:custGeom>
                  <a:avLst/>
                  <a:gdLst>
                    <a:gd name="T0" fmla="*/ 0 w 982"/>
                    <a:gd name="T1" fmla="*/ 0 h 1477"/>
                    <a:gd name="T2" fmla="*/ 0 w 982"/>
                    <a:gd name="T3" fmla="*/ 0 h 1477"/>
                    <a:gd name="T4" fmla="*/ 0 w 982"/>
                    <a:gd name="T5" fmla="*/ 0 h 1477"/>
                    <a:gd name="T6" fmla="*/ 0 w 982"/>
                    <a:gd name="T7" fmla="*/ 0 h 147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82" h="1477">
                      <a:moveTo>
                        <a:pt x="652" y="26"/>
                      </a:moveTo>
                      <a:lnTo>
                        <a:pt x="982" y="1347"/>
                      </a:lnTo>
                      <a:lnTo>
                        <a:pt x="0" y="1477"/>
                      </a:lnTo>
                      <a:lnTo>
                        <a:pt x="252" y="0"/>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07" name="Group 48"/>
                <p:cNvGrpSpPr>
                  <a:grpSpLocks/>
                </p:cNvGrpSpPr>
                <p:nvPr/>
              </p:nvGrpSpPr>
              <p:grpSpPr bwMode="auto">
                <a:xfrm>
                  <a:off x="246" y="1943"/>
                  <a:ext cx="551" cy="121"/>
                  <a:chOff x="246" y="1943"/>
                  <a:chExt cx="551" cy="121"/>
                </a:xfrm>
              </p:grpSpPr>
              <p:sp>
                <p:nvSpPr>
                  <p:cNvPr id="109" name="Freeform 49"/>
                  <p:cNvSpPr>
                    <a:spLocks/>
                  </p:cNvSpPr>
                  <p:nvPr/>
                </p:nvSpPr>
                <p:spPr bwMode="auto">
                  <a:xfrm>
                    <a:off x="246" y="1943"/>
                    <a:ext cx="551" cy="104"/>
                  </a:xfrm>
                  <a:custGeom>
                    <a:avLst/>
                    <a:gdLst>
                      <a:gd name="T0" fmla="*/ 0 w 2751"/>
                      <a:gd name="T1" fmla="*/ 0 h 522"/>
                      <a:gd name="T2" fmla="*/ 0 w 2751"/>
                      <a:gd name="T3" fmla="*/ 0 h 522"/>
                      <a:gd name="T4" fmla="*/ 0 w 2751"/>
                      <a:gd name="T5" fmla="*/ 0 h 522"/>
                      <a:gd name="T6" fmla="*/ 0 w 2751"/>
                      <a:gd name="T7" fmla="*/ 0 h 522"/>
                      <a:gd name="T8" fmla="*/ 0 w 2751"/>
                      <a:gd name="T9" fmla="*/ 0 h 5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751" h="522">
                        <a:moveTo>
                          <a:pt x="2751" y="270"/>
                        </a:moveTo>
                        <a:lnTo>
                          <a:pt x="1016" y="522"/>
                        </a:lnTo>
                        <a:lnTo>
                          <a:pt x="0" y="132"/>
                        </a:lnTo>
                        <a:lnTo>
                          <a:pt x="1302" y="0"/>
                        </a:lnTo>
                        <a:lnTo>
                          <a:pt x="2751" y="270"/>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0" name="Freeform 50"/>
                  <p:cNvSpPr>
                    <a:spLocks/>
                  </p:cNvSpPr>
                  <p:nvPr/>
                </p:nvSpPr>
                <p:spPr bwMode="auto">
                  <a:xfrm>
                    <a:off x="450" y="1997"/>
                    <a:ext cx="345" cy="67"/>
                  </a:xfrm>
                  <a:custGeom>
                    <a:avLst/>
                    <a:gdLst>
                      <a:gd name="T0" fmla="*/ 0 w 1728"/>
                      <a:gd name="T1" fmla="*/ 0 h 337"/>
                      <a:gd name="T2" fmla="*/ 0 w 1728"/>
                      <a:gd name="T3" fmla="*/ 0 h 337"/>
                      <a:gd name="T4" fmla="*/ 0 w 1728"/>
                      <a:gd name="T5" fmla="*/ 0 h 337"/>
                      <a:gd name="T6" fmla="*/ 0 w 1728"/>
                      <a:gd name="T7" fmla="*/ 0 h 337"/>
                      <a:gd name="T8" fmla="*/ 0 w 1728"/>
                      <a:gd name="T9" fmla="*/ 0 h 33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28" h="337">
                        <a:moveTo>
                          <a:pt x="1728" y="0"/>
                        </a:moveTo>
                        <a:lnTo>
                          <a:pt x="0" y="251"/>
                        </a:lnTo>
                        <a:lnTo>
                          <a:pt x="0" y="337"/>
                        </a:lnTo>
                        <a:lnTo>
                          <a:pt x="1728" y="88"/>
                        </a:lnTo>
                        <a:lnTo>
                          <a:pt x="1728" y="0"/>
                        </a:lnTo>
                        <a:close/>
                      </a:path>
                    </a:pathLst>
                  </a:custGeom>
                  <a:solidFill>
                    <a:srgbClr val="E0E0E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1" name="Freeform 51"/>
                  <p:cNvSpPr>
                    <a:spLocks/>
                  </p:cNvSpPr>
                  <p:nvPr/>
                </p:nvSpPr>
                <p:spPr bwMode="auto">
                  <a:xfrm>
                    <a:off x="246" y="1969"/>
                    <a:ext cx="204" cy="95"/>
                  </a:xfrm>
                  <a:custGeom>
                    <a:avLst/>
                    <a:gdLst>
                      <a:gd name="T0" fmla="*/ 0 w 1016"/>
                      <a:gd name="T1" fmla="*/ 0 h 476"/>
                      <a:gd name="T2" fmla="*/ 0 w 1016"/>
                      <a:gd name="T3" fmla="*/ 0 h 476"/>
                      <a:gd name="T4" fmla="*/ 0 w 1016"/>
                      <a:gd name="T5" fmla="*/ 0 h 476"/>
                      <a:gd name="T6" fmla="*/ 0 w 1016"/>
                      <a:gd name="T7" fmla="*/ 0 h 476"/>
                      <a:gd name="T8" fmla="*/ 0 w 1016"/>
                      <a:gd name="T9" fmla="*/ 0 h 47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16" h="476">
                        <a:moveTo>
                          <a:pt x="1016" y="476"/>
                        </a:moveTo>
                        <a:lnTo>
                          <a:pt x="1016" y="390"/>
                        </a:lnTo>
                        <a:lnTo>
                          <a:pt x="0" y="0"/>
                        </a:lnTo>
                        <a:lnTo>
                          <a:pt x="0" y="60"/>
                        </a:lnTo>
                        <a:lnTo>
                          <a:pt x="1016" y="47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08" name="Freeform 52"/>
                <p:cNvSpPr>
                  <a:spLocks/>
                </p:cNvSpPr>
                <p:nvPr/>
              </p:nvSpPr>
              <p:spPr bwMode="auto">
                <a:xfrm>
                  <a:off x="564" y="2028"/>
                  <a:ext cx="239" cy="378"/>
                </a:xfrm>
                <a:custGeom>
                  <a:avLst/>
                  <a:gdLst>
                    <a:gd name="T0" fmla="*/ 0 w 1195"/>
                    <a:gd name="T1" fmla="*/ 0 h 1893"/>
                    <a:gd name="T2" fmla="*/ 0 w 1195"/>
                    <a:gd name="T3" fmla="*/ 0 h 1893"/>
                    <a:gd name="T4" fmla="*/ 0 w 1195"/>
                    <a:gd name="T5" fmla="*/ 0 h 1893"/>
                    <a:gd name="T6" fmla="*/ 0 w 1195"/>
                    <a:gd name="T7" fmla="*/ 0 h 18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95" h="1893">
                      <a:moveTo>
                        <a:pt x="660" y="0"/>
                      </a:moveTo>
                      <a:lnTo>
                        <a:pt x="1195" y="1747"/>
                      </a:lnTo>
                      <a:lnTo>
                        <a:pt x="0" y="1893"/>
                      </a:lnTo>
                      <a:lnTo>
                        <a:pt x="191" y="35"/>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4" name="Group 53"/>
              <p:cNvGrpSpPr>
                <a:grpSpLocks/>
              </p:cNvGrpSpPr>
              <p:nvPr/>
            </p:nvGrpSpPr>
            <p:grpSpPr bwMode="auto">
              <a:xfrm>
                <a:off x="325" y="1767"/>
                <a:ext cx="383" cy="268"/>
                <a:chOff x="325" y="1767"/>
                <a:chExt cx="383" cy="268"/>
              </a:xfrm>
            </p:grpSpPr>
            <p:grpSp>
              <p:nvGrpSpPr>
                <p:cNvPr id="55" name="Group 54"/>
                <p:cNvGrpSpPr>
                  <a:grpSpLocks/>
                </p:cNvGrpSpPr>
                <p:nvPr/>
              </p:nvGrpSpPr>
              <p:grpSpPr bwMode="auto">
                <a:xfrm>
                  <a:off x="412" y="1767"/>
                  <a:ext cx="296" cy="243"/>
                  <a:chOff x="412" y="1767"/>
                  <a:chExt cx="296" cy="243"/>
                </a:xfrm>
              </p:grpSpPr>
              <p:grpSp>
                <p:nvGrpSpPr>
                  <p:cNvPr id="88" name="Group 55"/>
                  <p:cNvGrpSpPr>
                    <a:grpSpLocks/>
                  </p:cNvGrpSpPr>
                  <p:nvPr/>
                </p:nvGrpSpPr>
                <p:grpSpPr bwMode="auto">
                  <a:xfrm>
                    <a:off x="412" y="1767"/>
                    <a:ext cx="296" cy="243"/>
                    <a:chOff x="412" y="1767"/>
                    <a:chExt cx="296" cy="243"/>
                  </a:xfrm>
                </p:grpSpPr>
                <p:grpSp>
                  <p:nvGrpSpPr>
                    <p:cNvPr id="97" name="Group 56"/>
                    <p:cNvGrpSpPr>
                      <a:grpSpLocks/>
                    </p:cNvGrpSpPr>
                    <p:nvPr/>
                  </p:nvGrpSpPr>
                  <p:grpSpPr bwMode="auto">
                    <a:xfrm>
                      <a:off x="412" y="1904"/>
                      <a:ext cx="296" cy="106"/>
                      <a:chOff x="412" y="1904"/>
                      <a:chExt cx="296" cy="106"/>
                    </a:xfrm>
                  </p:grpSpPr>
                  <p:sp>
                    <p:nvSpPr>
                      <p:cNvPr id="103" name="Freeform 57"/>
                      <p:cNvSpPr>
                        <a:spLocks/>
                      </p:cNvSpPr>
                      <p:nvPr/>
                    </p:nvSpPr>
                    <p:spPr bwMode="auto">
                      <a:xfrm>
                        <a:off x="412" y="1904"/>
                        <a:ext cx="170" cy="106"/>
                      </a:xfrm>
                      <a:custGeom>
                        <a:avLst/>
                        <a:gdLst>
                          <a:gd name="T0" fmla="*/ 0 w 848"/>
                          <a:gd name="T1" fmla="*/ 0 h 530"/>
                          <a:gd name="T2" fmla="*/ 0 w 848"/>
                          <a:gd name="T3" fmla="*/ 0 h 530"/>
                          <a:gd name="T4" fmla="*/ 0 w 848"/>
                          <a:gd name="T5" fmla="*/ 0 h 530"/>
                          <a:gd name="T6" fmla="*/ 0 w 848"/>
                          <a:gd name="T7" fmla="*/ 0 h 530"/>
                          <a:gd name="T8" fmla="*/ 0 w 848"/>
                          <a:gd name="T9" fmla="*/ 0 h 5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8" h="530">
                            <a:moveTo>
                              <a:pt x="848" y="162"/>
                            </a:moveTo>
                            <a:lnTo>
                              <a:pt x="848" y="530"/>
                            </a:lnTo>
                            <a:lnTo>
                              <a:pt x="0" y="258"/>
                            </a:lnTo>
                            <a:lnTo>
                              <a:pt x="0" y="0"/>
                            </a:lnTo>
                            <a:lnTo>
                              <a:pt x="848" y="162"/>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4" name="Freeform 58"/>
                      <p:cNvSpPr>
                        <a:spLocks/>
                      </p:cNvSpPr>
                      <p:nvPr/>
                    </p:nvSpPr>
                    <p:spPr bwMode="auto">
                      <a:xfrm>
                        <a:off x="582" y="1929"/>
                        <a:ext cx="126" cy="81"/>
                      </a:xfrm>
                      <a:custGeom>
                        <a:avLst/>
                        <a:gdLst>
                          <a:gd name="T0" fmla="*/ 0 w 631"/>
                          <a:gd name="T1" fmla="*/ 0 h 404"/>
                          <a:gd name="T2" fmla="*/ 0 w 631"/>
                          <a:gd name="T3" fmla="*/ 0 h 404"/>
                          <a:gd name="T4" fmla="*/ 0 w 631"/>
                          <a:gd name="T5" fmla="*/ 0 h 404"/>
                          <a:gd name="T6" fmla="*/ 0 w 631"/>
                          <a:gd name="T7" fmla="*/ 0 h 404"/>
                          <a:gd name="T8" fmla="*/ 0 w 631"/>
                          <a:gd name="T9" fmla="*/ 0 h 40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1" h="404">
                            <a:moveTo>
                              <a:pt x="0" y="36"/>
                            </a:moveTo>
                            <a:lnTo>
                              <a:pt x="0" y="404"/>
                            </a:lnTo>
                            <a:lnTo>
                              <a:pt x="631" y="312"/>
                            </a:lnTo>
                            <a:lnTo>
                              <a:pt x="631" y="0"/>
                            </a:lnTo>
                            <a:lnTo>
                              <a:pt x="0" y="36"/>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5" name="Freeform 59"/>
                      <p:cNvSpPr>
                        <a:spLocks/>
                      </p:cNvSpPr>
                      <p:nvPr/>
                    </p:nvSpPr>
                    <p:spPr bwMode="auto">
                      <a:xfrm>
                        <a:off x="412" y="1904"/>
                        <a:ext cx="296" cy="32"/>
                      </a:xfrm>
                      <a:custGeom>
                        <a:avLst/>
                        <a:gdLst>
                          <a:gd name="T0" fmla="*/ 0 w 1479"/>
                          <a:gd name="T1" fmla="*/ 0 h 162"/>
                          <a:gd name="T2" fmla="*/ 0 w 1479"/>
                          <a:gd name="T3" fmla="*/ 0 h 162"/>
                          <a:gd name="T4" fmla="*/ 0 w 1479"/>
                          <a:gd name="T5" fmla="*/ 0 h 162"/>
                          <a:gd name="T6" fmla="*/ 0 w 1479"/>
                          <a:gd name="T7" fmla="*/ 0 h 162"/>
                          <a:gd name="T8" fmla="*/ 0 w 1479"/>
                          <a:gd name="T9" fmla="*/ 0 h 16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479" h="162">
                            <a:moveTo>
                              <a:pt x="1479" y="126"/>
                            </a:moveTo>
                            <a:lnTo>
                              <a:pt x="842" y="162"/>
                            </a:lnTo>
                            <a:lnTo>
                              <a:pt x="0" y="0"/>
                            </a:lnTo>
                            <a:lnTo>
                              <a:pt x="619" y="0"/>
                            </a:lnTo>
                            <a:lnTo>
                              <a:pt x="1479" y="12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98" name="Freeform 60"/>
                    <p:cNvSpPr>
                      <a:spLocks/>
                    </p:cNvSpPr>
                    <p:nvPr/>
                  </p:nvSpPr>
                  <p:spPr bwMode="auto">
                    <a:xfrm>
                      <a:off x="504" y="1895"/>
                      <a:ext cx="108" cy="30"/>
                    </a:xfrm>
                    <a:custGeom>
                      <a:avLst/>
                      <a:gdLst>
                        <a:gd name="T0" fmla="*/ 0 w 538"/>
                        <a:gd name="T1" fmla="*/ 0 h 151"/>
                        <a:gd name="T2" fmla="*/ 0 w 538"/>
                        <a:gd name="T3" fmla="*/ 0 h 151"/>
                        <a:gd name="T4" fmla="*/ 0 w 538"/>
                        <a:gd name="T5" fmla="*/ 0 h 151"/>
                        <a:gd name="T6" fmla="*/ 0 w 538"/>
                        <a:gd name="T7" fmla="*/ 0 h 151"/>
                        <a:gd name="T8" fmla="*/ 0 w 538"/>
                        <a:gd name="T9" fmla="*/ 0 h 151"/>
                        <a:gd name="T10" fmla="*/ 0 w 538"/>
                        <a:gd name="T11" fmla="*/ 0 h 15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38" h="151">
                          <a:moveTo>
                            <a:pt x="538" y="86"/>
                          </a:moveTo>
                          <a:lnTo>
                            <a:pt x="538" y="135"/>
                          </a:lnTo>
                          <a:lnTo>
                            <a:pt x="287" y="151"/>
                          </a:lnTo>
                          <a:lnTo>
                            <a:pt x="0" y="97"/>
                          </a:lnTo>
                          <a:lnTo>
                            <a:pt x="0" y="0"/>
                          </a:lnTo>
                          <a:lnTo>
                            <a:pt x="538" y="86"/>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99" name="Group 61"/>
                    <p:cNvGrpSpPr>
                      <a:grpSpLocks/>
                    </p:cNvGrpSpPr>
                    <p:nvPr/>
                  </p:nvGrpSpPr>
                  <p:grpSpPr bwMode="auto">
                    <a:xfrm>
                      <a:off x="446" y="1767"/>
                      <a:ext cx="239" cy="151"/>
                      <a:chOff x="446" y="1767"/>
                      <a:chExt cx="239" cy="151"/>
                    </a:xfrm>
                  </p:grpSpPr>
                  <p:sp>
                    <p:nvSpPr>
                      <p:cNvPr id="100" name="Freeform 62"/>
                      <p:cNvSpPr>
                        <a:spLocks/>
                      </p:cNvSpPr>
                      <p:nvPr/>
                    </p:nvSpPr>
                    <p:spPr bwMode="auto">
                      <a:xfrm>
                        <a:off x="446" y="1767"/>
                        <a:ext cx="137" cy="148"/>
                      </a:xfrm>
                      <a:custGeom>
                        <a:avLst/>
                        <a:gdLst>
                          <a:gd name="T0" fmla="*/ 0 w 686"/>
                          <a:gd name="T1" fmla="*/ 0 h 740"/>
                          <a:gd name="T2" fmla="*/ 0 w 686"/>
                          <a:gd name="T3" fmla="*/ 0 h 740"/>
                          <a:gd name="T4" fmla="*/ 0 w 686"/>
                          <a:gd name="T5" fmla="*/ 0 h 740"/>
                          <a:gd name="T6" fmla="*/ 0 w 686"/>
                          <a:gd name="T7" fmla="*/ 0 h 740"/>
                          <a:gd name="T8" fmla="*/ 0 w 686"/>
                          <a:gd name="T9" fmla="*/ 0 h 7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6" h="740">
                            <a:moveTo>
                              <a:pt x="589" y="740"/>
                            </a:moveTo>
                            <a:lnTo>
                              <a:pt x="686" y="24"/>
                            </a:lnTo>
                            <a:lnTo>
                              <a:pt x="95" y="0"/>
                            </a:lnTo>
                            <a:lnTo>
                              <a:pt x="0" y="638"/>
                            </a:lnTo>
                            <a:lnTo>
                              <a:pt x="589" y="740"/>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1" name="Freeform 63"/>
                      <p:cNvSpPr>
                        <a:spLocks/>
                      </p:cNvSpPr>
                      <p:nvPr/>
                    </p:nvSpPr>
                    <p:spPr bwMode="auto">
                      <a:xfrm>
                        <a:off x="564" y="1771"/>
                        <a:ext cx="121" cy="147"/>
                      </a:xfrm>
                      <a:custGeom>
                        <a:avLst/>
                        <a:gdLst>
                          <a:gd name="T0" fmla="*/ 0 w 608"/>
                          <a:gd name="T1" fmla="*/ 0 h 735"/>
                          <a:gd name="T2" fmla="*/ 0 w 608"/>
                          <a:gd name="T3" fmla="*/ 0 h 735"/>
                          <a:gd name="T4" fmla="*/ 0 w 608"/>
                          <a:gd name="T5" fmla="*/ 0 h 735"/>
                          <a:gd name="T6" fmla="*/ 0 w 608"/>
                          <a:gd name="T7" fmla="*/ 0 h 735"/>
                          <a:gd name="T8" fmla="*/ 0 w 608"/>
                          <a:gd name="T9" fmla="*/ 0 h 7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8" h="735">
                            <a:moveTo>
                              <a:pt x="97" y="0"/>
                            </a:moveTo>
                            <a:lnTo>
                              <a:pt x="608" y="163"/>
                            </a:lnTo>
                            <a:lnTo>
                              <a:pt x="536" y="735"/>
                            </a:lnTo>
                            <a:lnTo>
                              <a:pt x="0" y="717"/>
                            </a:lnTo>
                            <a:lnTo>
                              <a:pt x="97" y="0"/>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2" name="Freeform 64"/>
                      <p:cNvSpPr>
                        <a:spLocks/>
                      </p:cNvSpPr>
                      <p:nvPr/>
                    </p:nvSpPr>
                    <p:spPr bwMode="auto">
                      <a:xfrm>
                        <a:off x="462" y="1781"/>
                        <a:ext cx="98" cy="112"/>
                      </a:xfrm>
                      <a:custGeom>
                        <a:avLst/>
                        <a:gdLst>
                          <a:gd name="T0" fmla="*/ 0 w 493"/>
                          <a:gd name="T1" fmla="*/ 0 h 557"/>
                          <a:gd name="T2" fmla="*/ 0 w 493"/>
                          <a:gd name="T3" fmla="*/ 0 h 557"/>
                          <a:gd name="T4" fmla="*/ 0 w 493"/>
                          <a:gd name="T5" fmla="*/ 0 h 557"/>
                          <a:gd name="T6" fmla="*/ 0 w 493"/>
                          <a:gd name="T7" fmla="*/ 0 h 557"/>
                          <a:gd name="T8" fmla="*/ 0 w 493"/>
                          <a:gd name="T9" fmla="*/ 0 h 5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93" h="557">
                            <a:moveTo>
                              <a:pt x="493" y="25"/>
                            </a:moveTo>
                            <a:lnTo>
                              <a:pt x="423" y="557"/>
                            </a:lnTo>
                            <a:lnTo>
                              <a:pt x="0" y="494"/>
                            </a:lnTo>
                            <a:lnTo>
                              <a:pt x="73" y="0"/>
                            </a:lnTo>
                            <a:lnTo>
                              <a:pt x="493" y="25"/>
                            </a:lnTo>
                            <a:close/>
                          </a:path>
                        </a:pathLst>
                      </a:custGeom>
                      <a:solidFill>
                        <a:srgbClr val="0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89" name="Group 65"/>
                  <p:cNvGrpSpPr>
                    <a:grpSpLocks/>
                  </p:cNvGrpSpPr>
                  <p:nvPr/>
                </p:nvGrpSpPr>
                <p:grpSpPr bwMode="auto">
                  <a:xfrm>
                    <a:off x="424" y="1915"/>
                    <a:ext cx="97" cy="69"/>
                    <a:chOff x="424" y="1915"/>
                    <a:chExt cx="97" cy="69"/>
                  </a:xfrm>
                </p:grpSpPr>
                <p:sp>
                  <p:nvSpPr>
                    <p:cNvPr id="90" name="Freeform 66"/>
                    <p:cNvSpPr>
                      <a:spLocks/>
                    </p:cNvSpPr>
                    <p:nvPr/>
                  </p:nvSpPr>
                  <p:spPr bwMode="auto">
                    <a:xfrm>
                      <a:off x="424" y="1915"/>
                      <a:ext cx="97" cy="69"/>
                    </a:xfrm>
                    <a:custGeom>
                      <a:avLst/>
                      <a:gdLst>
                        <a:gd name="T0" fmla="*/ 0 w 483"/>
                        <a:gd name="T1" fmla="*/ 0 h 346"/>
                        <a:gd name="T2" fmla="*/ 0 w 483"/>
                        <a:gd name="T3" fmla="*/ 0 h 346"/>
                        <a:gd name="T4" fmla="*/ 0 w 483"/>
                        <a:gd name="T5" fmla="*/ 0 h 346"/>
                        <a:gd name="T6" fmla="*/ 0 w 483"/>
                        <a:gd name="T7" fmla="*/ 0 h 346"/>
                        <a:gd name="T8" fmla="*/ 0 w 483"/>
                        <a:gd name="T9" fmla="*/ 0 h 34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3" h="346">
                          <a:moveTo>
                            <a:pt x="0" y="0"/>
                          </a:moveTo>
                          <a:lnTo>
                            <a:pt x="483" y="104"/>
                          </a:lnTo>
                          <a:lnTo>
                            <a:pt x="483" y="346"/>
                          </a:lnTo>
                          <a:lnTo>
                            <a:pt x="0" y="195"/>
                          </a:lnTo>
                          <a:lnTo>
                            <a:pt x="0" y="0"/>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1" name="Line 67"/>
                    <p:cNvSpPr>
                      <a:spLocks noChangeShapeType="1"/>
                    </p:cNvSpPr>
                    <p:nvPr/>
                  </p:nvSpPr>
                  <p:spPr bwMode="auto">
                    <a:xfrm flipH="1" flipV="1">
                      <a:off x="433" y="1933"/>
                      <a:ext cx="26" cy="6"/>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2" name="Line 68"/>
                    <p:cNvSpPr>
                      <a:spLocks noChangeShapeType="1"/>
                    </p:cNvSpPr>
                    <p:nvPr/>
                  </p:nvSpPr>
                  <p:spPr bwMode="auto">
                    <a:xfrm>
                      <a:off x="472" y="1941"/>
                      <a:ext cx="34" cy="7"/>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3" name="Line 69"/>
                    <p:cNvSpPr>
                      <a:spLocks noChangeShapeType="1"/>
                    </p:cNvSpPr>
                    <p:nvPr/>
                  </p:nvSpPr>
                  <p:spPr bwMode="auto">
                    <a:xfrm>
                      <a:off x="465" y="1924"/>
                      <a:ext cx="1" cy="45"/>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4" name="Line 70"/>
                    <p:cNvSpPr>
                      <a:spLocks noChangeShapeType="1"/>
                    </p:cNvSpPr>
                    <p:nvPr/>
                  </p:nvSpPr>
                  <p:spPr bwMode="auto">
                    <a:xfrm>
                      <a:off x="511" y="1934"/>
                      <a:ext cx="1" cy="49"/>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5" name="Line 71"/>
                    <p:cNvSpPr>
                      <a:spLocks noChangeShapeType="1"/>
                    </p:cNvSpPr>
                    <p:nvPr/>
                  </p:nvSpPr>
                  <p:spPr bwMode="auto">
                    <a:xfrm>
                      <a:off x="425" y="1933"/>
                      <a:ext cx="88" cy="22"/>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6" name="Line 72"/>
                    <p:cNvSpPr>
                      <a:spLocks noChangeShapeType="1"/>
                    </p:cNvSpPr>
                    <p:nvPr/>
                  </p:nvSpPr>
                  <p:spPr bwMode="auto">
                    <a:xfrm flipH="1" flipV="1">
                      <a:off x="424" y="1926"/>
                      <a:ext cx="89" cy="21"/>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56" name="Group 73"/>
                <p:cNvGrpSpPr>
                  <a:grpSpLocks/>
                </p:cNvGrpSpPr>
                <p:nvPr/>
              </p:nvGrpSpPr>
              <p:grpSpPr bwMode="auto">
                <a:xfrm>
                  <a:off x="325" y="1917"/>
                  <a:ext cx="231" cy="118"/>
                  <a:chOff x="325" y="1917"/>
                  <a:chExt cx="231" cy="118"/>
                </a:xfrm>
              </p:grpSpPr>
              <p:grpSp>
                <p:nvGrpSpPr>
                  <p:cNvPr id="57" name="Group 74"/>
                  <p:cNvGrpSpPr>
                    <a:grpSpLocks/>
                  </p:cNvGrpSpPr>
                  <p:nvPr/>
                </p:nvGrpSpPr>
                <p:grpSpPr bwMode="auto">
                  <a:xfrm>
                    <a:off x="504" y="1981"/>
                    <a:ext cx="37" cy="28"/>
                    <a:chOff x="504" y="1981"/>
                    <a:chExt cx="37" cy="28"/>
                  </a:xfrm>
                </p:grpSpPr>
                <p:sp>
                  <p:nvSpPr>
                    <p:cNvPr id="86" name="Freeform 75"/>
                    <p:cNvSpPr>
                      <a:spLocks/>
                    </p:cNvSpPr>
                    <p:nvPr/>
                  </p:nvSpPr>
                  <p:spPr bwMode="auto">
                    <a:xfrm>
                      <a:off x="531" y="1981"/>
                      <a:ext cx="10" cy="28"/>
                    </a:xfrm>
                    <a:custGeom>
                      <a:avLst/>
                      <a:gdLst>
                        <a:gd name="T0" fmla="*/ 0 w 53"/>
                        <a:gd name="T1" fmla="*/ 0 h 140"/>
                        <a:gd name="T2" fmla="*/ 0 w 53"/>
                        <a:gd name="T3" fmla="*/ 0 h 140"/>
                        <a:gd name="T4" fmla="*/ 0 w 53"/>
                        <a:gd name="T5" fmla="*/ 0 h 140"/>
                        <a:gd name="T6" fmla="*/ 0 w 53"/>
                        <a:gd name="T7" fmla="*/ 0 h 140"/>
                        <a:gd name="T8" fmla="*/ 0 w 53"/>
                        <a:gd name="T9" fmla="*/ 0 h 1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3" h="140">
                          <a:moveTo>
                            <a:pt x="37" y="0"/>
                          </a:moveTo>
                          <a:lnTo>
                            <a:pt x="53" y="131"/>
                          </a:lnTo>
                          <a:lnTo>
                            <a:pt x="14" y="140"/>
                          </a:lnTo>
                          <a:lnTo>
                            <a:pt x="0" y="6"/>
                          </a:lnTo>
                          <a:lnTo>
                            <a:pt x="3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7" name="Freeform 76"/>
                    <p:cNvSpPr>
                      <a:spLocks/>
                    </p:cNvSpPr>
                    <p:nvPr/>
                  </p:nvSpPr>
                  <p:spPr bwMode="auto">
                    <a:xfrm>
                      <a:off x="504" y="1985"/>
                      <a:ext cx="29" cy="24"/>
                    </a:xfrm>
                    <a:custGeom>
                      <a:avLst/>
                      <a:gdLst>
                        <a:gd name="T0" fmla="*/ 0 w 148"/>
                        <a:gd name="T1" fmla="*/ 0 h 122"/>
                        <a:gd name="T2" fmla="*/ 0 w 148"/>
                        <a:gd name="T3" fmla="*/ 0 h 122"/>
                        <a:gd name="T4" fmla="*/ 0 w 148"/>
                        <a:gd name="T5" fmla="*/ 0 h 122"/>
                        <a:gd name="T6" fmla="*/ 0 w 148"/>
                        <a:gd name="T7" fmla="*/ 0 h 122"/>
                        <a:gd name="T8" fmla="*/ 0 w 148"/>
                        <a:gd name="T9" fmla="*/ 0 h 122"/>
                        <a:gd name="T10" fmla="*/ 0 w 148"/>
                        <a:gd name="T11" fmla="*/ 0 h 122"/>
                        <a:gd name="T12" fmla="*/ 0 w 148"/>
                        <a:gd name="T13" fmla="*/ 0 h 1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48" h="122">
                          <a:moveTo>
                            <a:pt x="136" y="5"/>
                          </a:moveTo>
                          <a:lnTo>
                            <a:pt x="148" y="122"/>
                          </a:lnTo>
                          <a:lnTo>
                            <a:pt x="0" y="61"/>
                          </a:lnTo>
                          <a:lnTo>
                            <a:pt x="58" y="43"/>
                          </a:lnTo>
                          <a:lnTo>
                            <a:pt x="111" y="70"/>
                          </a:lnTo>
                          <a:lnTo>
                            <a:pt x="94" y="0"/>
                          </a:lnTo>
                          <a:lnTo>
                            <a:pt x="136" y="5"/>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8" name="Group 77"/>
                  <p:cNvGrpSpPr>
                    <a:grpSpLocks/>
                  </p:cNvGrpSpPr>
                  <p:nvPr/>
                </p:nvGrpSpPr>
                <p:grpSpPr bwMode="auto">
                  <a:xfrm>
                    <a:off x="325" y="1917"/>
                    <a:ext cx="231" cy="118"/>
                    <a:chOff x="325" y="1917"/>
                    <a:chExt cx="231" cy="118"/>
                  </a:xfrm>
                </p:grpSpPr>
                <p:sp>
                  <p:nvSpPr>
                    <p:cNvPr id="59" name="Freeform 78"/>
                    <p:cNvSpPr>
                      <a:spLocks/>
                    </p:cNvSpPr>
                    <p:nvPr/>
                  </p:nvSpPr>
                  <p:spPr bwMode="auto">
                    <a:xfrm>
                      <a:off x="326" y="1917"/>
                      <a:ext cx="226" cy="105"/>
                    </a:xfrm>
                    <a:custGeom>
                      <a:avLst/>
                      <a:gdLst>
                        <a:gd name="T0" fmla="*/ 0 w 1132"/>
                        <a:gd name="T1" fmla="*/ 0 h 525"/>
                        <a:gd name="T2" fmla="*/ 0 w 1132"/>
                        <a:gd name="T3" fmla="*/ 0 h 525"/>
                        <a:gd name="T4" fmla="*/ 0 w 1132"/>
                        <a:gd name="T5" fmla="*/ 0 h 525"/>
                        <a:gd name="T6" fmla="*/ 0 w 1132"/>
                        <a:gd name="T7" fmla="*/ 0 h 525"/>
                        <a:gd name="T8" fmla="*/ 0 w 1132"/>
                        <a:gd name="T9" fmla="*/ 0 h 5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32" h="525">
                          <a:moveTo>
                            <a:pt x="1132" y="223"/>
                          </a:moveTo>
                          <a:lnTo>
                            <a:pt x="589" y="525"/>
                          </a:lnTo>
                          <a:lnTo>
                            <a:pt x="0" y="230"/>
                          </a:lnTo>
                          <a:lnTo>
                            <a:pt x="452" y="0"/>
                          </a:lnTo>
                          <a:lnTo>
                            <a:pt x="1132" y="223"/>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0" name="Freeform 79"/>
                    <p:cNvSpPr>
                      <a:spLocks/>
                    </p:cNvSpPr>
                    <p:nvPr/>
                  </p:nvSpPr>
                  <p:spPr bwMode="auto">
                    <a:xfrm>
                      <a:off x="443" y="1961"/>
                      <a:ext cx="113" cy="74"/>
                    </a:xfrm>
                    <a:custGeom>
                      <a:avLst/>
                      <a:gdLst>
                        <a:gd name="T0" fmla="*/ 0 w 566"/>
                        <a:gd name="T1" fmla="*/ 0 h 371"/>
                        <a:gd name="T2" fmla="*/ 0 w 566"/>
                        <a:gd name="T3" fmla="*/ 0 h 371"/>
                        <a:gd name="T4" fmla="*/ 0 w 566"/>
                        <a:gd name="T5" fmla="*/ 0 h 371"/>
                        <a:gd name="T6" fmla="*/ 0 w 566"/>
                        <a:gd name="T7" fmla="*/ 0 h 371"/>
                        <a:gd name="T8" fmla="*/ 0 w 566"/>
                        <a:gd name="T9" fmla="*/ 0 h 3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6" h="371">
                          <a:moveTo>
                            <a:pt x="547" y="0"/>
                          </a:moveTo>
                          <a:lnTo>
                            <a:pt x="0" y="307"/>
                          </a:lnTo>
                          <a:lnTo>
                            <a:pt x="16" y="371"/>
                          </a:lnTo>
                          <a:lnTo>
                            <a:pt x="566" y="60"/>
                          </a:lnTo>
                          <a:lnTo>
                            <a:pt x="54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1" name="Freeform 80"/>
                    <p:cNvSpPr>
                      <a:spLocks/>
                    </p:cNvSpPr>
                    <p:nvPr/>
                  </p:nvSpPr>
                  <p:spPr bwMode="auto">
                    <a:xfrm>
                      <a:off x="325" y="1963"/>
                      <a:ext cx="121" cy="72"/>
                    </a:xfrm>
                    <a:custGeom>
                      <a:avLst/>
                      <a:gdLst>
                        <a:gd name="T0" fmla="*/ 0 w 605"/>
                        <a:gd name="T1" fmla="*/ 0 h 363"/>
                        <a:gd name="T2" fmla="*/ 0 w 605"/>
                        <a:gd name="T3" fmla="*/ 0 h 363"/>
                        <a:gd name="T4" fmla="*/ 0 w 605"/>
                        <a:gd name="T5" fmla="*/ 0 h 363"/>
                        <a:gd name="T6" fmla="*/ 0 w 605"/>
                        <a:gd name="T7" fmla="*/ 0 h 363"/>
                        <a:gd name="T8" fmla="*/ 0 w 605"/>
                        <a:gd name="T9" fmla="*/ 0 h 3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5" h="363">
                          <a:moveTo>
                            <a:pt x="605" y="363"/>
                          </a:moveTo>
                          <a:lnTo>
                            <a:pt x="587" y="295"/>
                          </a:lnTo>
                          <a:lnTo>
                            <a:pt x="0" y="0"/>
                          </a:lnTo>
                          <a:lnTo>
                            <a:pt x="21" y="53"/>
                          </a:lnTo>
                          <a:lnTo>
                            <a:pt x="605" y="36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2" name="Freeform 81"/>
                    <p:cNvSpPr>
                      <a:spLocks/>
                    </p:cNvSpPr>
                    <p:nvPr/>
                  </p:nvSpPr>
                  <p:spPr bwMode="auto">
                    <a:xfrm>
                      <a:off x="417" y="1966"/>
                      <a:ext cx="90" cy="46"/>
                    </a:xfrm>
                    <a:custGeom>
                      <a:avLst/>
                      <a:gdLst>
                        <a:gd name="T0" fmla="*/ 0 w 454"/>
                        <a:gd name="T1" fmla="*/ 0 h 230"/>
                        <a:gd name="T2" fmla="*/ 0 w 454"/>
                        <a:gd name="T3" fmla="*/ 0 h 230"/>
                        <a:gd name="T4" fmla="*/ 0 w 454"/>
                        <a:gd name="T5" fmla="*/ 0 h 230"/>
                        <a:gd name="T6" fmla="*/ 0 w 454"/>
                        <a:gd name="T7" fmla="*/ 0 h 230"/>
                        <a:gd name="T8" fmla="*/ 0 w 454"/>
                        <a:gd name="T9" fmla="*/ 0 h 2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54" h="230">
                          <a:moveTo>
                            <a:pt x="454" y="59"/>
                          </a:moveTo>
                          <a:lnTo>
                            <a:pt x="297" y="0"/>
                          </a:lnTo>
                          <a:lnTo>
                            <a:pt x="0" y="161"/>
                          </a:lnTo>
                          <a:lnTo>
                            <a:pt x="151" y="230"/>
                          </a:lnTo>
                          <a:lnTo>
                            <a:pt x="454" y="5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3" name="Freeform 82"/>
                    <p:cNvSpPr>
                      <a:spLocks/>
                    </p:cNvSpPr>
                    <p:nvPr/>
                  </p:nvSpPr>
                  <p:spPr bwMode="auto">
                    <a:xfrm>
                      <a:off x="336" y="1934"/>
                      <a:ext cx="134" cy="61"/>
                    </a:xfrm>
                    <a:custGeom>
                      <a:avLst/>
                      <a:gdLst>
                        <a:gd name="T0" fmla="*/ 0 w 669"/>
                        <a:gd name="T1" fmla="*/ 0 h 309"/>
                        <a:gd name="T2" fmla="*/ 0 w 669"/>
                        <a:gd name="T3" fmla="*/ 0 h 309"/>
                        <a:gd name="T4" fmla="*/ 0 w 669"/>
                        <a:gd name="T5" fmla="*/ 0 h 309"/>
                        <a:gd name="T6" fmla="*/ 0 w 669"/>
                        <a:gd name="T7" fmla="*/ 0 h 309"/>
                        <a:gd name="T8" fmla="*/ 0 w 669"/>
                        <a:gd name="T9" fmla="*/ 0 h 30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69" h="309">
                          <a:moveTo>
                            <a:pt x="669" y="150"/>
                          </a:moveTo>
                          <a:lnTo>
                            <a:pt x="377" y="309"/>
                          </a:lnTo>
                          <a:lnTo>
                            <a:pt x="0" y="132"/>
                          </a:lnTo>
                          <a:lnTo>
                            <a:pt x="273" y="0"/>
                          </a:lnTo>
                          <a:lnTo>
                            <a:pt x="669" y="15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4" name="Freeform 83"/>
                    <p:cNvSpPr>
                      <a:spLocks/>
                    </p:cNvSpPr>
                    <p:nvPr/>
                  </p:nvSpPr>
                  <p:spPr bwMode="auto">
                    <a:xfrm>
                      <a:off x="393" y="1920"/>
                      <a:ext cx="148" cy="57"/>
                    </a:xfrm>
                    <a:custGeom>
                      <a:avLst/>
                      <a:gdLst>
                        <a:gd name="T0" fmla="*/ 0 w 738"/>
                        <a:gd name="T1" fmla="*/ 0 h 283"/>
                        <a:gd name="T2" fmla="*/ 0 w 738"/>
                        <a:gd name="T3" fmla="*/ 0 h 283"/>
                        <a:gd name="T4" fmla="*/ 0 w 738"/>
                        <a:gd name="T5" fmla="*/ 0 h 283"/>
                        <a:gd name="T6" fmla="*/ 0 w 738"/>
                        <a:gd name="T7" fmla="*/ 0 h 283"/>
                        <a:gd name="T8" fmla="*/ 0 w 738"/>
                        <a:gd name="T9" fmla="*/ 0 h 28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38" h="283">
                          <a:moveTo>
                            <a:pt x="584" y="283"/>
                          </a:moveTo>
                          <a:lnTo>
                            <a:pt x="738" y="205"/>
                          </a:lnTo>
                          <a:lnTo>
                            <a:pt x="118" y="0"/>
                          </a:lnTo>
                          <a:lnTo>
                            <a:pt x="0" y="60"/>
                          </a:lnTo>
                          <a:lnTo>
                            <a:pt x="584" y="2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5" name="Line 84"/>
                    <p:cNvSpPr>
                      <a:spLocks noChangeShapeType="1"/>
                    </p:cNvSpPr>
                    <p:nvPr/>
                  </p:nvSpPr>
                  <p:spPr bwMode="auto">
                    <a:xfrm flipH="1" flipV="1">
                      <a:off x="411" y="1923"/>
                      <a:ext cx="128" cy="4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6" name="Line 85"/>
                    <p:cNvSpPr>
                      <a:spLocks noChangeShapeType="1"/>
                    </p:cNvSpPr>
                    <p:nvPr/>
                  </p:nvSpPr>
                  <p:spPr bwMode="auto">
                    <a:xfrm flipH="1" flipV="1">
                      <a:off x="404" y="1925"/>
                      <a:ext cx="124" cy="45"/>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7" name="Line 86"/>
                    <p:cNvSpPr>
                      <a:spLocks noChangeShapeType="1"/>
                    </p:cNvSpPr>
                    <p:nvPr/>
                  </p:nvSpPr>
                  <p:spPr bwMode="auto">
                    <a:xfrm flipH="1" flipV="1">
                      <a:off x="399" y="1930"/>
                      <a:ext cx="121" cy="46"/>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8" name="Line 87"/>
                    <p:cNvSpPr>
                      <a:spLocks noChangeShapeType="1"/>
                    </p:cNvSpPr>
                    <p:nvPr/>
                  </p:nvSpPr>
                  <p:spPr bwMode="auto">
                    <a:xfrm flipH="1" flipV="1">
                      <a:off x="384" y="1937"/>
                      <a:ext cx="119"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9" name="Line 88"/>
                    <p:cNvSpPr>
                      <a:spLocks noChangeShapeType="1"/>
                    </p:cNvSpPr>
                    <p:nvPr/>
                  </p:nvSpPr>
                  <p:spPr bwMode="auto">
                    <a:xfrm flipH="1" flipV="1">
                      <a:off x="375" y="1942"/>
                      <a:ext cx="118"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0" name="Line 89"/>
                    <p:cNvSpPr>
                      <a:spLocks noChangeShapeType="1"/>
                    </p:cNvSpPr>
                    <p:nvPr/>
                  </p:nvSpPr>
                  <p:spPr bwMode="auto">
                    <a:xfrm flipH="1" flipV="1">
                      <a:off x="365" y="1946"/>
                      <a:ext cx="119"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1" name="Line 90"/>
                    <p:cNvSpPr>
                      <a:spLocks noChangeShapeType="1"/>
                    </p:cNvSpPr>
                    <p:nvPr/>
                  </p:nvSpPr>
                  <p:spPr bwMode="auto">
                    <a:xfrm flipH="1" flipV="1">
                      <a:off x="358" y="1951"/>
                      <a:ext cx="114" cy="50"/>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2" name="Line 91"/>
                    <p:cNvSpPr>
                      <a:spLocks noChangeShapeType="1"/>
                    </p:cNvSpPr>
                    <p:nvPr/>
                  </p:nvSpPr>
                  <p:spPr bwMode="auto">
                    <a:xfrm flipH="1" flipV="1">
                      <a:off x="347" y="1956"/>
                      <a:ext cx="114"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3" name="Line 92"/>
                    <p:cNvSpPr>
                      <a:spLocks noChangeShapeType="1"/>
                    </p:cNvSpPr>
                    <p:nvPr/>
                  </p:nvSpPr>
                  <p:spPr bwMode="auto">
                    <a:xfrm flipH="1">
                      <a:off x="437" y="1974"/>
                      <a:ext cx="61" cy="3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4" name="Line 93"/>
                    <p:cNvSpPr>
                      <a:spLocks noChangeShapeType="1"/>
                    </p:cNvSpPr>
                    <p:nvPr/>
                  </p:nvSpPr>
                  <p:spPr bwMode="auto">
                    <a:xfrm flipH="1">
                      <a:off x="426" y="1970"/>
                      <a:ext cx="58" cy="32"/>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5" name="Line 94"/>
                    <p:cNvSpPr>
                      <a:spLocks noChangeShapeType="1"/>
                    </p:cNvSpPr>
                    <p:nvPr/>
                  </p:nvSpPr>
                  <p:spPr bwMode="auto">
                    <a:xfrm flipH="1">
                      <a:off x="401" y="1959"/>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6" name="Line 95"/>
                    <p:cNvSpPr>
                      <a:spLocks noChangeShapeType="1"/>
                    </p:cNvSpPr>
                    <p:nvPr/>
                  </p:nvSpPr>
                  <p:spPr bwMode="auto">
                    <a:xfrm flipH="1">
                      <a:off x="387" y="1954"/>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7" name="Line 96"/>
                    <p:cNvSpPr>
                      <a:spLocks noChangeShapeType="1"/>
                    </p:cNvSpPr>
                    <p:nvPr/>
                  </p:nvSpPr>
                  <p:spPr bwMode="auto">
                    <a:xfrm flipH="1">
                      <a:off x="375" y="1949"/>
                      <a:ext cx="56"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8" name="Line 97"/>
                    <p:cNvSpPr>
                      <a:spLocks noChangeShapeType="1"/>
                    </p:cNvSpPr>
                    <p:nvPr/>
                  </p:nvSpPr>
                  <p:spPr bwMode="auto">
                    <a:xfrm flipH="1">
                      <a:off x="364" y="1944"/>
                      <a:ext cx="53"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9" name="Line 98"/>
                    <p:cNvSpPr>
                      <a:spLocks noChangeShapeType="1"/>
                    </p:cNvSpPr>
                    <p:nvPr/>
                  </p:nvSpPr>
                  <p:spPr bwMode="auto">
                    <a:xfrm flipH="1">
                      <a:off x="352" y="1939"/>
                      <a:ext cx="55"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0" name="Line 99"/>
                    <p:cNvSpPr>
                      <a:spLocks noChangeShapeType="1"/>
                    </p:cNvSpPr>
                    <p:nvPr/>
                  </p:nvSpPr>
                  <p:spPr bwMode="auto">
                    <a:xfrm flipH="1">
                      <a:off x="494" y="1955"/>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1" name="Line 100"/>
                    <p:cNvSpPr>
                      <a:spLocks noChangeShapeType="1"/>
                    </p:cNvSpPr>
                    <p:nvPr/>
                  </p:nvSpPr>
                  <p:spPr bwMode="auto">
                    <a:xfrm flipH="1">
                      <a:off x="477" y="1949"/>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2" name="Line 101"/>
                    <p:cNvSpPr>
                      <a:spLocks noChangeShapeType="1"/>
                    </p:cNvSpPr>
                    <p:nvPr/>
                  </p:nvSpPr>
                  <p:spPr bwMode="auto">
                    <a:xfrm flipH="1">
                      <a:off x="460" y="1943"/>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3" name="Line 102"/>
                    <p:cNvSpPr>
                      <a:spLocks noChangeShapeType="1"/>
                    </p:cNvSpPr>
                    <p:nvPr/>
                  </p:nvSpPr>
                  <p:spPr bwMode="auto">
                    <a:xfrm flipH="1">
                      <a:off x="443" y="1937"/>
                      <a:ext cx="27"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4" name="Line 103"/>
                    <p:cNvSpPr>
                      <a:spLocks noChangeShapeType="1"/>
                    </p:cNvSpPr>
                    <p:nvPr/>
                  </p:nvSpPr>
                  <p:spPr bwMode="auto">
                    <a:xfrm flipH="1">
                      <a:off x="427" y="1931"/>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5" name="Line 104"/>
                    <p:cNvSpPr>
                      <a:spLocks noChangeShapeType="1"/>
                    </p:cNvSpPr>
                    <p:nvPr/>
                  </p:nvSpPr>
                  <p:spPr bwMode="auto">
                    <a:xfrm flipH="1">
                      <a:off x="408" y="1925"/>
                      <a:ext cx="24"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grpSp>
          <p:nvGrpSpPr>
            <p:cNvPr id="112" name="Group 105"/>
            <p:cNvGrpSpPr>
              <a:grpSpLocks/>
            </p:cNvGrpSpPr>
            <p:nvPr/>
          </p:nvGrpSpPr>
          <p:grpSpPr bwMode="auto">
            <a:xfrm>
              <a:off x="1941367" y="3269534"/>
              <a:ext cx="55364" cy="100353"/>
              <a:chOff x="287" y="1872"/>
              <a:chExt cx="55" cy="108"/>
            </a:xfrm>
          </p:grpSpPr>
          <p:sp>
            <p:nvSpPr>
              <p:cNvPr id="113" name="Freeform 106"/>
              <p:cNvSpPr>
                <a:spLocks/>
              </p:cNvSpPr>
              <p:nvPr/>
            </p:nvSpPr>
            <p:spPr bwMode="auto">
              <a:xfrm>
                <a:off x="287" y="1872"/>
                <a:ext cx="55" cy="108"/>
              </a:xfrm>
              <a:custGeom>
                <a:avLst/>
                <a:gdLst>
                  <a:gd name="T0" fmla="*/ 0 w 276"/>
                  <a:gd name="T1" fmla="*/ 0 h 540"/>
                  <a:gd name="T2" fmla="*/ 0 w 276"/>
                  <a:gd name="T3" fmla="*/ 0 h 540"/>
                  <a:gd name="T4" fmla="*/ 0 w 276"/>
                  <a:gd name="T5" fmla="*/ 0 h 540"/>
                  <a:gd name="T6" fmla="*/ 0 w 276"/>
                  <a:gd name="T7" fmla="*/ 0 h 540"/>
                  <a:gd name="T8" fmla="*/ 0 w 276"/>
                  <a:gd name="T9" fmla="*/ 0 h 540"/>
                  <a:gd name="T10" fmla="*/ 0 w 276"/>
                  <a:gd name="T11" fmla="*/ 0 h 540"/>
                  <a:gd name="T12" fmla="*/ 0 w 276"/>
                  <a:gd name="T13" fmla="*/ 0 h 540"/>
                  <a:gd name="T14" fmla="*/ 0 w 276"/>
                  <a:gd name="T15" fmla="*/ 0 h 540"/>
                  <a:gd name="T16" fmla="*/ 0 w 276"/>
                  <a:gd name="T17" fmla="*/ 0 h 540"/>
                  <a:gd name="T18" fmla="*/ 0 w 276"/>
                  <a:gd name="T19" fmla="*/ 0 h 540"/>
                  <a:gd name="T20" fmla="*/ 0 w 276"/>
                  <a:gd name="T21" fmla="*/ 0 h 540"/>
                  <a:gd name="T22" fmla="*/ 0 w 276"/>
                  <a:gd name="T23" fmla="*/ 0 h 54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76" h="540">
                    <a:moveTo>
                      <a:pt x="0" y="192"/>
                    </a:moveTo>
                    <a:lnTo>
                      <a:pt x="53" y="121"/>
                    </a:lnTo>
                    <a:lnTo>
                      <a:pt x="104" y="84"/>
                    </a:lnTo>
                    <a:lnTo>
                      <a:pt x="125" y="30"/>
                    </a:lnTo>
                    <a:lnTo>
                      <a:pt x="137" y="6"/>
                    </a:lnTo>
                    <a:lnTo>
                      <a:pt x="195" y="0"/>
                    </a:lnTo>
                    <a:lnTo>
                      <a:pt x="276" y="45"/>
                    </a:lnTo>
                    <a:lnTo>
                      <a:pt x="255" y="143"/>
                    </a:lnTo>
                    <a:lnTo>
                      <a:pt x="232" y="198"/>
                    </a:lnTo>
                    <a:lnTo>
                      <a:pt x="179" y="365"/>
                    </a:lnTo>
                    <a:lnTo>
                      <a:pt x="92" y="540"/>
                    </a:lnTo>
                    <a:lnTo>
                      <a:pt x="0" y="192"/>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4" name="Freeform 107"/>
              <p:cNvSpPr>
                <a:spLocks/>
              </p:cNvSpPr>
              <p:nvPr/>
            </p:nvSpPr>
            <p:spPr bwMode="auto">
              <a:xfrm>
                <a:off x="296" y="1880"/>
                <a:ext cx="43" cy="77"/>
              </a:xfrm>
              <a:custGeom>
                <a:avLst/>
                <a:gdLst>
                  <a:gd name="T0" fmla="*/ 0 w 216"/>
                  <a:gd name="T1" fmla="*/ 0 h 385"/>
                  <a:gd name="T2" fmla="*/ 0 w 216"/>
                  <a:gd name="T3" fmla="*/ 0 h 385"/>
                  <a:gd name="T4" fmla="*/ 0 w 216"/>
                  <a:gd name="T5" fmla="*/ 0 h 385"/>
                  <a:gd name="T6" fmla="*/ 0 w 216"/>
                  <a:gd name="T7" fmla="*/ 0 h 385"/>
                  <a:gd name="T8" fmla="*/ 0 w 216"/>
                  <a:gd name="T9" fmla="*/ 0 h 385"/>
                  <a:gd name="T10" fmla="*/ 0 w 216"/>
                  <a:gd name="T11" fmla="*/ 0 h 385"/>
                  <a:gd name="T12" fmla="*/ 0 w 216"/>
                  <a:gd name="T13" fmla="*/ 0 h 385"/>
                  <a:gd name="T14" fmla="*/ 0 w 216"/>
                  <a:gd name="T15" fmla="*/ 0 h 385"/>
                  <a:gd name="T16" fmla="*/ 0 w 216"/>
                  <a:gd name="T17" fmla="*/ 0 h 385"/>
                  <a:gd name="T18" fmla="*/ 0 w 216"/>
                  <a:gd name="T19" fmla="*/ 0 h 385"/>
                  <a:gd name="T20" fmla="*/ 0 w 216"/>
                  <a:gd name="T21" fmla="*/ 0 h 385"/>
                  <a:gd name="T22" fmla="*/ 0 w 216"/>
                  <a:gd name="T23" fmla="*/ 0 h 385"/>
                  <a:gd name="T24" fmla="*/ 0 w 216"/>
                  <a:gd name="T25" fmla="*/ 0 h 385"/>
                  <a:gd name="T26" fmla="*/ 0 w 216"/>
                  <a:gd name="T27" fmla="*/ 0 h 385"/>
                  <a:gd name="T28" fmla="*/ 0 w 216"/>
                  <a:gd name="T29" fmla="*/ 0 h 385"/>
                  <a:gd name="T30" fmla="*/ 0 w 216"/>
                  <a:gd name="T31" fmla="*/ 0 h 385"/>
                  <a:gd name="T32" fmla="*/ 0 w 216"/>
                  <a:gd name="T33" fmla="*/ 0 h 385"/>
                  <a:gd name="T34" fmla="*/ 0 w 216"/>
                  <a:gd name="T35" fmla="*/ 0 h 385"/>
                  <a:gd name="T36" fmla="*/ 0 w 216"/>
                  <a:gd name="T37" fmla="*/ 0 h 385"/>
                  <a:gd name="T38" fmla="*/ 0 w 216"/>
                  <a:gd name="T39" fmla="*/ 0 h 385"/>
                  <a:gd name="T40" fmla="*/ 0 w 216"/>
                  <a:gd name="T41" fmla="*/ 0 h 385"/>
                  <a:gd name="T42" fmla="*/ 0 w 216"/>
                  <a:gd name="T43" fmla="*/ 0 h 385"/>
                  <a:gd name="T44" fmla="*/ 0 w 216"/>
                  <a:gd name="T45" fmla="*/ 0 h 385"/>
                  <a:gd name="T46" fmla="*/ 0 w 216"/>
                  <a:gd name="T47" fmla="*/ 0 h 385"/>
                  <a:gd name="T48" fmla="*/ 0 w 216"/>
                  <a:gd name="T49" fmla="*/ 0 h 385"/>
                  <a:gd name="T50" fmla="*/ 0 w 216"/>
                  <a:gd name="T51" fmla="*/ 0 h 385"/>
                  <a:gd name="T52" fmla="*/ 0 w 216"/>
                  <a:gd name="T53" fmla="*/ 0 h 385"/>
                  <a:gd name="T54" fmla="*/ 0 w 216"/>
                  <a:gd name="T55" fmla="*/ 0 h 385"/>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216" h="385">
                    <a:moveTo>
                      <a:pt x="91" y="0"/>
                    </a:moveTo>
                    <a:lnTo>
                      <a:pt x="115" y="25"/>
                    </a:lnTo>
                    <a:lnTo>
                      <a:pt x="165" y="46"/>
                    </a:lnTo>
                    <a:lnTo>
                      <a:pt x="216" y="44"/>
                    </a:lnTo>
                    <a:lnTo>
                      <a:pt x="185" y="132"/>
                    </a:lnTo>
                    <a:lnTo>
                      <a:pt x="147" y="128"/>
                    </a:lnTo>
                    <a:lnTo>
                      <a:pt x="118" y="112"/>
                    </a:lnTo>
                    <a:lnTo>
                      <a:pt x="134" y="138"/>
                    </a:lnTo>
                    <a:lnTo>
                      <a:pt x="177" y="146"/>
                    </a:lnTo>
                    <a:lnTo>
                      <a:pt x="145" y="242"/>
                    </a:lnTo>
                    <a:lnTo>
                      <a:pt x="124" y="312"/>
                    </a:lnTo>
                    <a:lnTo>
                      <a:pt x="115" y="271"/>
                    </a:lnTo>
                    <a:lnTo>
                      <a:pt x="103" y="197"/>
                    </a:lnTo>
                    <a:lnTo>
                      <a:pt x="102" y="155"/>
                    </a:lnTo>
                    <a:lnTo>
                      <a:pt x="94" y="173"/>
                    </a:lnTo>
                    <a:lnTo>
                      <a:pt x="94" y="222"/>
                    </a:lnTo>
                    <a:lnTo>
                      <a:pt x="103" y="290"/>
                    </a:lnTo>
                    <a:lnTo>
                      <a:pt x="110" y="333"/>
                    </a:lnTo>
                    <a:lnTo>
                      <a:pt x="91" y="385"/>
                    </a:lnTo>
                    <a:lnTo>
                      <a:pt x="55" y="250"/>
                    </a:lnTo>
                    <a:lnTo>
                      <a:pt x="39" y="204"/>
                    </a:lnTo>
                    <a:lnTo>
                      <a:pt x="12" y="135"/>
                    </a:lnTo>
                    <a:lnTo>
                      <a:pt x="0" y="115"/>
                    </a:lnTo>
                    <a:lnTo>
                      <a:pt x="16" y="88"/>
                    </a:lnTo>
                    <a:lnTo>
                      <a:pt x="64" y="64"/>
                    </a:lnTo>
                    <a:lnTo>
                      <a:pt x="81" y="87"/>
                    </a:lnTo>
                    <a:lnTo>
                      <a:pt x="71" y="46"/>
                    </a:lnTo>
                    <a:lnTo>
                      <a:pt x="9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15" name="Group 108"/>
            <p:cNvGrpSpPr>
              <a:grpSpLocks/>
            </p:cNvGrpSpPr>
            <p:nvPr/>
          </p:nvGrpSpPr>
          <p:grpSpPr bwMode="auto">
            <a:xfrm>
              <a:off x="1932308" y="3211925"/>
              <a:ext cx="70463" cy="70619"/>
              <a:chOff x="278" y="1810"/>
              <a:chExt cx="70" cy="76"/>
            </a:xfrm>
          </p:grpSpPr>
          <p:sp>
            <p:nvSpPr>
              <p:cNvPr id="116" name="Freeform 109"/>
              <p:cNvSpPr>
                <a:spLocks/>
              </p:cNvSpPr>
              <p:nvPr/>
            </p:nvSpPr>
            <p:spPr bwMode="auto">
              <a:xfrm>
                <a:off x="297" y="1815"/>
                <a:ext cx="51" cy="71"/>
              </a:xfrm>
              <a:custGeom>
                <a:avLst/>
                <a:gdLst>
                  <a:gd name="T0" fmla="*/ 0 w 256"/>
                  <a:gd name="T1" fmla="*/ 0 h 356"/>
                  <a:gd name="T2" fmla="*/ 0 w 256"/>
                  <a:gd name="T3" fmla="*/ 0 h 356"/>
                  <a:gd name="T4" fmla="*/ 0 w 256"/>
                  <a:gd name="T5" fmla="*/ 0 h 356"/>
                  <a:gd name="T6" fmla="*/ 0 w 256"/>
                  <a:gd name="T7" fmla="*/ 0 h 356"/>
                  <a:gd name="T8" fmla="*/ 0 w 256"/>
                  <a:gd name="T9" fmla="*/ 0 h 356"/>
                  <a:gd name="T10" fmla="*/ 0 w 256"/>
                  <a:gd name="T11" fmla="*/ 0 h 356"/>
                  <a:gd name="T12" fmla="*/ 0 w 256"/>
                  <a:gd name="T13" fmla="*/ 0 h 356"/>
                  <a:gd name="T14" fmla="*/ 0 w 256"/>
                  <a:gd name="T15" fmla="*/ 0 h 356"/>
                  <a:gd name="T16" fmla="*/ 0 w 256"/>
                  <a:gd name="T17" fmla="*/ 0 h 356"/>
                  <a:gd name="T18" fmla="*/ 0 w 256"/>
                  <a:gd name="T19" fmla="*/ 0 h 356"/>
                  <a:gd name="T20" fmla="*/ 0 w 256"/>
                  <a:gd name="T21" fmla="*/ 0 h 356"/>
                  <a:gd name="T22" fmla="*/ 0 w 256"/>
                  <a:gd name="T23" fmla="*/ 0 h 356"/>
                  <a:gd name="T24" fmla="*/ 0 w 256"/>
                  <a:gd name="T25" fmla="*/ 0 h 356"/>
                  <a:gd name="T26" fmla="*/ 0 w 256"/>
                  <a:gd name="T27" fmla="*/ 0 h 356"/>
                  <a:gd name="T28" fmla="*/ 0 w 256"/>
                  <a:gd name="T29" fmla="*/ 0 h 356"/>
                  <a:gd name="T30" fmla="*/ 0 w 256"/>
                  <a:gd name="T31" fmla="*/ 0 h 356"/>
                  <a:gd name="T32" fmla="*/ 0 w 256"/>
                  <a:gd name="T33" fmla="*/ 0 h 356"/>
                  <a:gd name="T34" fmla="*/ 0 w 256"/>
                  <a:gd name="T35" fmla="*/ 0 h 356"/>
                  <a:gd name="T36" fmla="*/ 0 w 256"/>
                  <a:gd name="T37" fmla="*/ 0 h 356"/>
                  <a:gd name="T38" fmla="*/ 0 w 256"/>
                  <a:gd name="T39" fmla="*/ 0 h 356"/>
                  <a:gd name="T40" fmla="*/ 0 w 256"/>
                  <a:gd name="T41" fmla="*/ 0 h 356"/>
                  <a:gd name="T42" fmla="*/ 0 w 256"/>
                  <a:gd name="T43" fmla="*/ 0 h 356"/>
                  <a:gd name="T44" fmla="*/ 0 w 256"/>
                  <a:gd name="T45" fmla="*/ 0 h 356"/>
                  <a:gd name="T46" fmla="*/ 0 w 256"/>
                  <a:gd name="T47" fmla="*/ 0 h 356"/>
                  <a:gd name="T48" fmla="*/ 0 w 256"/>
                  <a:gd name="T49" fmla="*/ 0 h 356"/>
                  <a:gd name="T50" fmla="*/ 0 w 256"/>
                  <a:gd name="T51" fmla="*/ 0 h 356"/>
                  <a:gd name="T52" fmla="*/ 0 w 256"/>
                  <a:gd name="T53" fmla="*/ 0 h 356"/>
                  <a:gd name="T54" fmla="*/ 0 w 256"/>
                  <a:gd name="T55" fmla="*/ 0 h 356"/>
                  <a:gd name="T56" fmla="*/ 0 w 256"/>
                  <a:gd name="T57" fmla="*/ 0 h 356"/>
                  <a:gd name="T58" fmla="*/ 0 w 256"/>
                  <a:gd name="T59" fmla="*/ 0 h 356"/>
                  <a:gd name="T60" fmla="*/ 0 w 256"/>
                  <a:gd name="T61" fmla="*/ 0 h 356"/>
                  <a:gd name="T62" fmla="*/ 0 w 256"/>
                  <a:gd name="T63" fmla="*/ 0 h 356"/>
                  <a:gd name="T64" fmla="*/ 0 w 256"/>
                  <a:gd name="T65" fmla="*/ 0 h 356"/>
                  <a:gd name="T66" fmla="*/ 0 w 256"/>
                  <a:gd name="T67" fmla="*/ 0 h 356"/>
                  <a:gd name="T68" fmla="*/ 0 w 256"/>
                  <a:gd name="T69" fmla="*/ 0 h 356"/>
                  <a:gd name="T70" fmla="*/ 0 w 256"/>
                  <a:gd name="T71" fmla="*/ 0 h 356"/>
                  <a:gd name="T72" fmla="*/ 0 w 256"/>
                  <a:gd name="T73" fmla="*/ 0 h 356"/>
                  <a:gd name="T74" fmla="*/ 0 w 256"/>
                  <a:gd name="T75" fmla="*/ 0 h 356"/>
                  <a:gd name="T76" fmla="*/ 0 w 256"/>
                  <a:gd name="T77" fmla="*/ 0 h 356"/>
                  <a:gd name="T78" fmla="*/ 0 w 256"/>
                  <a:gd name="T79" fmla="*/ 0 h 356"/>
                  <a:gd name="T80" fmla="*/ 0 w 256"/>
                  <a:gd name="T81" fmla="*/ 0 h 356"/>
                  <a:gd name="T82" fmla="*/ 0 w 256"/>
                  <a:gd name="T83" fmla="*/ 0 h 356"/>
                  <a:gd name="T84" fmla="*/ 0 w 256"/>
                  <a:gd name="T85" fmla="*/ 0 h 356"/>
                  <a:gd name="T86" fmla="*/ 0 w 256"/>
                  <a:gd name="T87" fmla="*/ 0 h 356"/>
                  <a:gd name="T88" fmla="*/ 0 w 256"/>
                  <a:gd name="T89" fmla="*/ 0 h 356"/>
                  <a:gd name="T90" fmla="*/ 0 w 256"/>
                  <a:gd name="T91" fmla="*/ 0 h 356"/>
                  <a:gd name="T92" fmla="*/ 0 w 256"/>
                  <a:gd name="T93" fmla="*/ 0 h 356"/>
                  <a:gd name="T94" fmla="*/ 0 w 256"/>
                  <a:gd name="T95" fmla="*/ 0 h 35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256" h="356">
                    <a:moveTo>
                      <a:pt x="3" y="130"/>
                    </a:moveTo>
                    <a:lnTo>
                      <a:pt x="11" y="155"/>
                    </a:lnTo>
                    <a:lnTo>
                      <a:pt x="26" y="167"/>
                    </a:lnTo>
                    <a:lnTo>
                      <a:pt x="35" y="187"/>
                    </a:lnTo>
                    <a:lnTo>
                      <a:pt x="45" y="203"/>
                    </a:lnTo>
                    <a:lnTo>
                      <a:pt x="61" y="218"/>
                    </a:lnTo>
                    <a:lnTo>
                      <a:pt x="73" y="227"/>
                    </a:lnTo>
                    <a:lnTo>
                      <a:pt x="93" y="238"/>
                    </a:lnTo>
                    <a:lnTo>
                      <a:pt x="96" y="252"/>
                    </a:lnTo>
                    <a:lnTo>
                      <a:pt x="96" y="270"/>
                    </a:lnTo>
                    <a:lnTo>
                      <a:pt x="91" y="315"/>
                    </a:lnTo>
                    <a:lnTo>
                      <a:pt x="127" y="341"/>
                    </a:lnTo>
                    <a:lnTo>
                      <a:pt x="157" y="354"/>
                    </a:lnTo>
                    <a:lnTo>
                      <a:pt x="182" y="356"/>
                    </a:lnTo>
                    <a:lnTo>
                      <a:pt x="207" y="354"/>
                    </a:lnTo>
                    <a:lnTo>
                      <a:pt x="216" y="325"/>
                    </a:lnTo>
                    <a:lnTo>
                      <a:pt x="222" y="260"/>
                    </a:lnTo>
                    <a:lnTo>
                      <a:pt x="237" y="237"/>
                    </a:lnTo>
                    <a:lnTo>
                      <a:pt x="248" y="204"/>
                    </a:lnTo>
                    <a:lnTo>
                      <a:pt x="250" y="173"/>
                    </a:lnTo>
                    <a:lnTo>
                      <a:pt x="255" y="131"/>
                    </a:lnTo>
                    <a:lnTo>
                      <a:pt x="256" y="107"/>
                    </a:lnTo>
                    <a:lnTo>
                      <a:pt x="255" y="92"/>
                    </a:lnTo>
                    <a:lnTo>
                      <a:pt x="248" y="66"/>
                    </a:lnTo>
                    <a:lnTo>
                      <a:pt x="234" y="52"/>
                    </a:lnTo>
                    <a:lnTo>
                      <a:pt x="215" y="48"/>
                    </a:lnTo>
                    <a:lnTo>
                      <a:pt x="208" y="33"/>
                    </a:lnTo>
                    <a:lnTo>
                      <a:pt x="191" y="23"/>
                    </a:lnTo>
                    <a:lnTo>
                      <a:pt x="173" y="33"/>
                    </a:lnTo>
                    <a:lnTo>
                      <a:pt x="160" y="12"/>
                    </a:lnTo>
                    <a:lnTo>
                      <a:pt x="140" y="5"/>
                    </a:lnTo>
                    <a:lnTo>
                      <a:pt x="118" y="24"/>
                    </a:lnTo>
                    <a:lnTo>
                      <a:pt x="108" y="0"/>
                    </a:lnTo>
                    <a:lnTo>
                      <a:pt x="78" y="3"/>
                    </a:lnTo>
                    <a:lnTo>
                      <a:pt x="63" y="42"/>
                    </a:lnTo>
                    <a:lnTo>
                      <a:pt x="60" y="64"/>
                    </a:lnTo>
                    <a:lnTo>
                      <a:pt x="57" y="93"/>
                    </a:lnTo>
                    <a:lnTo>
                      <a:pt x="51" y="131"/>
                    </a:lnTo>
                    <a:lnTo>
                      <a:pt x="43" y="116"/>
                    </a:lnTo>
                    <a:lnTo>
                      <a:pt x="39" y="89"/>
                    </a:lnTo>
                    <a:lnTo>
                      <a:pt x="34" y="70"/>
                    </a:lnTo>
                    <a:lnTo>
                      <a:pt x="27" y="61"/>
                    </a:lnTo>
                    <a:lnTo>
                      <a:pt x="12" y="54"/>
                    </a:lnTo>
                    <a:lnTo>
                      <a:pt x="4" y="57"/>
                    </a:lnTo>
                    <a:lnTo>
                      <a:pt x="0" y="66"/>
                    </a:lnTo>
                    <a:lnTo>
                      <a:pt x="5" y="80"/>
                    </a:lnTo>
                    <a:lnTo>
                      <a:pt x="7" y="107"/>
                    </a:lnTo>
                    <a:lnTo>
                      <a:pt x="3" y="13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7" name="Freeform 110"/>
              <p:cNvSpPr>
                <a:spLocks/>
              </p:cNvSpPr>
              <p:nvPr/>
            </p:nvSpPr>
            <p:spPr bwMode="auto">
              <a:xfrm>
                <a:off x="320" y="1820"/>
                <a:ext cx="26" cy="27"/>
              </a:xfrm>
              <a:custGeom>
                <a:avLst/>
                <a:gdLst>
                  <a:gd name="T0" fmla="*/ 0 w 129"/>
                  <a:gd name="T1" fmla="*/ 0 h 134"/>
                  <a:gd name="T2" fmla="*/ 0 w 129"/>
                  <a:gd name="T3" fmla="*/ 0 h 134"/>
                  <a:gd name="T4" fmla="*/ 0 w 129"/>
                  <a:gd name="T5" fmla="*/ 0 h 134"/>
                  <a:gd name="T6" fmla="*/ 0 w 129"/>
                  <a:gd name="T7" fmla="*/ 0 h 134"/>
                  <a:gd name="T8" fmla="*/ 0 w 129"/>
                  <a:gd name="T9" fmla="*/ 0 h 134"/>
                  <a:gd name="T10" fmla="*/ 0 w 129"/>
                  <a:gd name="T11" fmla="*/ 0 h 134"/>
                  <a:gd name="T12" fmla="*/ 0 w 129"/>
                  <a:gd name="T13" fmla="*/ 0 h 134"/>
                  <a:gd name="T14" fmla="*/ 0 w 129"/>
                  <a:gd name="T15" fmla="*/ 0 h 134"/>
                  <a:gd name="T16" fmla="*/ 0 w 129"/>
                  <a:gd name="T17" fmla="*/ 0 h 134"/>
                  <a:gd name="T18" fmla="*/ 0 w 129"/>
                  <a:gd name="T19" fmla="*/ 0 h 134"/>
                  <a:gd name="T20" fmla="*/ 0 w 129"/>
                  <a:gd name="T21" fmla="*/ 0 h 134"/>
                  <a:gd name="T22" fmla="*/ 0 w 129"/>
                  <a:gd name="T23" fmla="*/ 0 h 134"/>
                  <a:gd name="T24" fmla="*/ 0 w 129"/>
                  <a:gd name="T25" fmla="*/ 0 h 134"/>
                  <a:gd name="T26" fmla="*/ 0 w 129"/>
                  <a:gd name="T27" fmla="*/ 0 h 134"/>
                  <a:gd name="T28" fmla="*/ 0 w 129"/>
                  <a:gd name="T29" fmla="*/ 0 h 134"/>
                  <a:gd name="T30" fmla="*/ 0 w 129"/>
                  <a:gd name="T31" fmla="*/ 0 h 134"/>
                  <a:gd name="T32" fmla="*/ 0 w 129"/>
                  <a:gd name="T33" fmla="*/ 0 h 134"/>
                  <a:gd name="T34" fmla="*/ 0 w 129"/>
                  <a:gd name="T35" fmla="*/ 0 h 134"/>
                  <a:gd name="T36" fmla="*/ 0 w 129"/>
                  <a:gd name="T37" fmla="*/ 0 h 134"/>
                  <a:gd name="T38" fmla="*/ 0 w 129"/>
                  <a:gd name="T39" fmla="*/ 0 h 134"/>
                  <a:gd name="T40" fmla="*/ 0 w 129"/>
                  <a:gd name="T41" fmla="*/ 0 h 134"/>
                  <a:gd name="T42" fmla="*/ 0 w 129"/>
                  <a:gd name="T43" fmla="*/ 0 h 134"/>
                  <a:gd name="T44" fmla="*/ 0 w 129"/>
                  <a:gd name="T45" fmla="*/ 0 h 134"/>
                  <a:gd name="T46" fmla="*/ 0 w 129"/>
                  <a:gd name="T47" fmla="*/ 0 h 134"/>
                  <a:gd name="T48" fmla="*/ 0 w 129"/>
                  <a:gd name="T49" fmla="*/ 0 h 134"/>
                  <a:gd name="T50" fmla="*/ 0 w 129"/>
                  <a:gd name="T51" fmla="*/ 0 h 134"/>
                  <a:gd name="T52" fmla="*/ 0 w 129"/>
                  <a:gd name="T53" fmla="*/ 0 h 134"/>
                  <a:gd name="T54" fmla="*/ 0 w 129"/>
                  <a:gd name="T55" fmla="*/ 0 h 134"/>
                  <a:gd name="T56" fmla="*/ 0 w 129"/>
                  <a:gd name="T57" fmla="*/ 0 h 134"/>
                  <a:gd name="T58" fmla="*/ 0 w 129"/>
                  <a:gd name="T59" fmla="*/ 0 h 134"/>
                  <a:gd name="T60" fmla="*/ 0 w 129"/>
                  <a:gd name="T61" fmla="*/ 0 h 134"/>
                  <a:gd name="T62" fmla="*/ 0 w 129"/>
                  <a:gd name="T63" fmla="*/ 0 h 134"/>
                  <a:gd name="T64" fmla="*/ 0 w 129"/>
                  <a:gd name="T65" fmla="*/ 0 h 134"/>
                  <a:gd name="T66" fmla="*/ 0 w 129"/>
                  <a:gd name="T67" fmla="*/ 0 h 134"/>
                  <a:gd name="T68" fmla="*/ 0 w 129"/>
                  <a:gd name="T69" fmla="*/ 0 h 134"/>
                  <a:gd name="T70" fmla="*/ 0 w 129"/>
                  <a:gd name="T71" fmla="*/ 0 h 134"/>
                  <a:gd name="T72" fmla="*/ 0 w 129"/>
                  <a:gd name="T73" fmla="*/ 0 h 134"/>
                  <a:gd name="T74" fmla="*/ 0 w 129"/>
                  <a:gd name="T75" fmla="*/ 0 h 134"/>
                  <a:gd name="T76" fmla="*/ 0 w 129"/>
                  <a:gd name="T77" fmla="*/ 0 h 134"/>
                  <a:gd name="T78" fmla="*/ 0 w 129"/>
                  <a:gd name="T79" fmla="*/ 0 h 134"/>
                  <a:gd name="T80" fmla="*/ 0 w 129"/>
                  <a:gd name="T81" fmla="*/ 0 h 134"/>
                  <a:gd name="T82" fmla="*/ 0 w 129"/>
                  <a:gd name="T83" fmla="*/ 0 h 134"/>
                  <a:gd name="T84" fmla="*/ 0 w 129"/>
                  <a:gd name="T85" fmla="*/ 0 h 134"/>
                  <a:gd name="T86" fmla="*/ 0 w 129"/>
                  <a:gd name="T87" fmla="*/ 0 h 134"/>
                  <a:gd name="T88" fmla="*/ 0 w 129"/>
                  <a:gd name="T89" fmla="*/ 0 h 134"/>
                  <a:gd name="T90" fmla="*/ 0 w 129"/>
                  <a:gd name="T91" fmla="*/ 0 h 134"/>
                  <a:gd name="T92" fmla="*/ 0 w 129"/>
                  <a:gd name="T93" fmla="*/ 0 h 134"/>
                  <a:gd name="T94" fmla="*/ 0 w 129"/>
                  <a:gd name="T95" fmla="*/ 0 h 134"/>
                  <a:gd name="T96" fmla="*/ 0 w 129"/>
                  <a:gd name="T97" fmla="*/ 0 h 134"/>
                  <a:gd name="T98" fmla="*/ 0 w 129"/>
                  <a:gd name="T99" fmla="*/ 0 h 134"/>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129" h="134">
                    <a:moveTo>
                      <a:pt x="6" y="2"/>
                    </a:moveTo>
                    <a:lnTo>
                      <a:pt x="13" y="30"/>
                    </a:lnTo>
                    <a:lnTo>
                      <a:pt x="22" y="49"/>
                    </a:lnTo>
                    <a:lnTo>
                      <a:pt x="11" y="91"/>
                    </a:lnTo>
                    <a:lnTo>
                      <a:pt x="18" y="100"/>
                    </a:lnTo>
                    <a:lnTo>
                      <a:pt x="28" y="104"/>
                    </a:lnTo>
                    <a:lnTo>
                      <a:pt x="41" y="102"/>
                    </a:lnTo>
                    <a:lnTo>
                      <a:pt x="51" y="79"/>
                    </a:lnTo>
                    <a:lnTo>
                      <a:pt x="60" y="61"/>
                    </a:lnTo>
                    <a:lnTo>
                      <a:pt x="55" y="36"/>
                    </a:lnTo>
                    <a:lnTo>
                      <a:pt x="53" y="9"/>
                    </a:lnTo>
                    <a:lnTo>
                      <a:pt x="60" y="12"/>
                    </a:lnTo>
                    <a:lnTo>
                      <a:pt x="62" y="37"/>
                    </a:lnTo>
                    <a:lnTo>
                      <a:pt x="65" y="54"/>
                    </a:lnTo>
                    <a:lnTo>
                      <a:pt x="65" y="68"/>
                    </a:lnTo>
                    <a:lnTo>
                      <a:pt x="56" y="83"/>
                    </a:lnTo>
                    <a:lnTo>
                      <a:pt x="47" y="100"/>
                    </a:lnTo>
                    <a:lnTo>
                      <a:pt x="46" y="116"/>
                    </a:lnTo>
                    <a:lnTo>
                      <a:pt x="56" y="123"/>
                    </a:lnTo>
                    <a:lnTo>
                      <a:pt x="75" y="120"/>
                    </a:lnTo>
                    <a:lnTo>
                      <a:pt x="86" y="106"/>
                    </a:lnTo>
                    <a:lnTo>
                      <a:pt x="104" y="84"/>
                    </a:lnTo>
                    <a:lnTo>
                      <a:pt x="103" y="70"/>
                    </a:lnTo>
                    <a:lnTo>
                      <a:pt x="101" y="45"/>
                    </a:lnTo>
                    <a:lnTo>
                      <a:pt x="107" y="65"/>
                    </a:lnTo>
                    <a:lnTo>
                      <a:pt x="108" y="84"/>
                    </a:lnTo>
                    <a:lnTo>
                      <a:pt x="94" y="103"/>
                    </a:lnTo>
                    <a:lnTo>
                      <a:pt x="93" y="117"/>
                    </a:lnTo>
                    <a:lnTo>
                      <a:pt x="96" y="128"/>
                    </a:lnTo>
                    <a:lnTo>
                      <a:pt x="104" y="131"/>
                    </a:lnTo>
                    <a:lnTo>
                      <a:pt x="113" y="125"/>
                    </a:lnTo>
                    <a:lnTo>
                      <a:pt x="129" y="109"/>
                    </a:lnTo>
                    <a:lnTo>
                      <a:pt x="116" y="127"/>
                    </a:lnTo>
                    <a:lnTo>
                      <a:pt x="111" y="134"/>
                    </a:lnTo>
                    <a:lnTo>
                      <a:pt x="97" y="134"/>
                    </a:lnTo>
                    <a:lnTo>
                      <a:pt x="91" y="126"/>
                    </a:lnTo>
                    <a:lnTo>
                      <a:pt x="87" y="114"/>
                    </a:lnTo>
                    <a:lnTo>
                      <a:pt x="79" y="125"/>
                    </a:lnTo>
                    <a:lnTo>
                      <a:pt x="63" y="127"/>
                    </a:lnTo>
                    <a:lnTo>
                      <a:pt x="49" y="127"/>
                    </a:lnTo>
                    <a:lnTo>
                      <a:pt x="43" y="116"/>
                    </a:lnTo>
                    <a:lnTo>
                      <a:pt x="41" y="106"/>
                    </a:lnTo>
                    <a:lnTo>
                      <a:pt x="35" y="109"/>
                    </a:lnTo>
                    <a:lnTo>
                      <a:pt x="24" y="109"/>
                    </a:lnTo>
                    <a:lnTo>
                      <a:pt x="11" y="101"/>
                    </a:lnTo>
                    <a:lnTo>
                      <a:pt x="8" y="86"/>
                    </a:lnTo>
                    <a:lnTo>
                      <a:pt x="18" y="51"/>
                    </a:lnTo>
                    <a:lnTo>
                      <a:pt x="7" y="29"/>
                    </a:lnTo>
                    <a:lnTo>
                      <a:pt x="0" y="0"/>
                    </a:lnTo>
                    <a:lnTo>
                      <a:pt x="6"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8" name="Freeform 111"/>
              <p:cNvSpPr>
                <a:spLocks/>
              </p:cNvSpPr>
              <p:nvPr/>
            </p:nvSpPr>
            <p:spPr bwMode="auto">
              <a:xfrm>
                <a:off x="325" y="1834"/>
                <a:ext cx="4" cy="1"/>
              </a:xfrm>
              <a:custGeom>
                <a:avLst/>
                <a:gdLst>
                  <a:gd name="T0" fmla="*/ 0 w 20"/>
                  <a:gd name="T1" fmla="*/ 0 h 5"/>
                  <a:gd name="T2" fmla="*/ 0 w 20"/>
                  <a:gd name="T3" fmla="*/ 0 h 5"/>
                  <a:gd name="T4" fmla="*/ 0 w 20"/>
                  <a:gd name="T5" fmla="*/ 0 h 5"/>
                  <a:gd name="T6" fmla="*/ 0 w 20"/>
                  <a:gd name="T7" fmla="*/ 0 h 5"/>
                  <a:gd name="T8" fmla="*/ 0 w 20"/>
                  <a:gd name="T9" fmla="*/ 0 h 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 h="5">
                    <a:moveTo>
                      <a:pt x="0" y="5"/>
                    </a:moveTo>
                    <a:lnTo>
                      <a:pt x="6" y="4"/>
                    </a:lnTo>
                    <a:lnTo>
                      <a:pt x="20" y="4"/>
                    </a:lnTo>
                    <a:lnTo>
                      <a:pt x="5" y="0"/>
                    </a:lnTo>
                    <a:lnTo>
                      <a:pt x="0"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9" name="Freeform 112"/>
              <p:cNvSpPr>
                <a:spLocks/>
              </p:cNvSpPr>
              <p:nvPr/>
            </p:nvSpPr>
            <p:spPr bwMode="auto">
              <a:xfrm>
                <a:off x="330" y="1838"/>
                <a:ext cx="6" cy="2"/>
              </a:xfrm>
              <a:custGeom>
                <a:avLst/>
                <a:gdLst>
                  <a:gd name="T0" fmla="*/ 0 w 27"/>
                  <a:gd name="T1" fmla="*/ 0 h 9"/>
                  <a:gd name="T2" fmla="*/ 0 w 27"/>
                  <a:gd name="T3" fmla="*/ 0 h 9"/>
                  <a:gd name="T4" fmla="*/ 0 w 27"/>
                  <a:gd name="T5" fmla="*/ 0 h 9"/>
                  <a:gd name="T6" fmla="*/ 0 w 27"/>
                  <a:gd name="T7" fmla="*/ 0 h 9"/>
                  <a:gd name="T8" fmla="*/ 0 w 27"/>
                  <a:gd name="T9" fmla="*/ 0 h 9"/>
                  <a:gd name="T10" fmla="*/ 0 w 27"/>
                  <a:gd name="T11" fmla="*/ 0 h 9"/>
                  <a:gd name="T12" fmla="*/ 0 w 27"/>
                  <a:gd name="T13" fmla="*/ 0 h 9"/>
                  <a:gd name="T14" fmla="*/ 0 w 27"/>
                  <a:gd name="T15" fmla="*/ 0 h 9"/>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7" h="9">
                    <a:moveTo>
                      <a:pt x="27" y="7"/>
                    </a:moveTo>
                    <a:lnTo>
                      <a:pt x="23" y="3"/>
                    </a:lnTo>
                    <a:lnTo>
                      <a:pt x="17" y="1"/>
                    </a:lnTo>
                    <a:lnTo>
                      <a:pt x="6" y="0"/>
                    </a:lnTo>
                    <a:lnTo>
                      <a:pt x="0" y="9"/>
                    </a:lnTo>
                    <a:lnTo>
                      <a:pt x="8" y="3"/>
                    </a:lnTo>
                    <a:lnTo>
                      <a:pt x="15" y="2"/>
                    </a:lnTo>
                    <a:lnTo>
                      <a:pt x="27" y="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0" name="Freeform 113"/>
              <p:cNvSpPr>
                <a:spLocks/>
              </p:cNvSpPr>
              <p:nvPr/>
            </p:nvSpPr>
            <p:spPr bwMode="auto">
              <a:xfrm>
                <a:off x="340" y="1841"/>
                <a:ext cx="4" cy="1"/>
              </a:xfrm>
              <a:custGeom>
                <a:avLst/>
                <a:gdLst>
                  <a:gd name="T0" fmla="*/ 0 w 20"/>
                  <a:gd name="T1" fmla="*/ 0 h 4"/>
                  <a:gd name="T2" fmla="*/ 0 w 20"/>
                  <a:gd name="T3" fmla="*/ 0 h 4"/>
                  <a:gd name="T4" fmla="*/ 0 w 20"/>
                  <a:gd name="T5" fmla="*/ 0 h 4"/>
                  <a:gd name="T6" fmla="*/ 0 w 20"/>
                  <a:gd name="T7" fmla="*/ 0 h 4"/>
                  <a:gd name="T8" fmla="*/ 0 w 20"/>
                  <a:gd name="T9" fmla="*/ 0 h 4"/>
                  <a:gd name="T10" fmla="*/ 0 w 20"/>
                  <a:gd name="T11" fmla="*/ 0 h 4"/>
                  <a:gd name="T12" fmla="*/ 0 w 20"/>
                  <a:gd name="T13" fmla="*/ 0 h 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4">
                    <a:moveTo>
                      <a:pt x="0" y="2"/>
                    </a:moveTo>
                    <a:lnTo>
                      <a:pt x="4" y="0"/>
                    </a:lnTo>
                    <a:lnTo>
                      <a:pt x="11" y="0"/>
                    </a:lnTo>
                    <a:lnTo>
                      <a:pt x="20" y="4"/>
                    </a:lnTo>
                    <a:lnTo>
                      <a:pt x="15" y="3"/>
                    </a:lnTo>
                    <a:lnTo>
                      <a:pt x="11" y="1"/>
                    </a:lnTo>
                    <a:lnTo>
                      <a:pt x="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1" name="Freeform 114"/>
              <p:cNvSpPr>
                <a:spLocks/>
              </p:cNvSpPr>
              <p:nvPr/>
            </p:nvSpPr>
            <p:spPr bwMode="auto">
              <a:xfrm>
                <a:off x="323" y="1845"/>
                <a:ext cx="6" cy="15"/>
              </a:xfrm>
              <a:custGeom>
                <a:avLst/>
                <a:gdLst>
                  <a:gd name="T0" fmla="*/ 0 w 31"/>
                  <a:gd name="T1" fmla="*/ 0 h 74"/>
                  <a:gd name="T2" fmla="*/ 0 w 31"/>
                  <a:gd name="T3" fmla="*/ 0 h 74"/>
                  <a:gd name="T4" fmla="*/ 0 w 31"/>
                  <a:gd name="T5" fmla="*/ 0 h 74"/>
                  <a:gd name="T6" fmla="*/ 0 w 31"/>
                  <a:gd name="T7" fmla="*/ 0 h 74"/>
                  <a:gd name="T8" fmla="*/ 0 w 31"/>
                  <a:gd name="T9" fmla="*/ 0 h 74"/>
                  <a:gd name="T10" fmla="*/ 0 w 31"/>
                  <a:gd name="T11" fmla="*/ 0 h 74"/>
                  <a:gd name="T12" fmla="*/ 0 w 31"/>
                  <a:gd name="T13" fmla="*/ 0 h 74"/>
                  <a:gd name="T14" fmla="*/ 0 w 31"/>
                  <a:gd name="T15" fmla="*/ 0 h 7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1" h="74">
                    <a:moveTo>
                      <a:pt x="0" y="0"/>
                    </a:moveTo>
                    <a:lnTo>
                      <a:pt x="17" y="19"/>
                    </a:lnTo>
                    <a:lnTo>
                      <a:pt x="25" y="42"/>
                    </a:lnTo>
                    <a:lnTo>
                      <a:pt x="26" y="74"/>
                    </a:lnTo>
                    <a:lnTo>
                      <a:pt x="31" y="49"/>
                    </a:lnTo>
                    <a:lnTo>
                      <a:pt x="29" y="29"/>
                    </a:lnTo>
                    <a:lnTo>
                      <a:pt x="24" y="2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2" name="Freeform 115"/>
              <p:cNvSpPr>
                <a:spLocks/>
              </p:cNvSpPr>
              <p:nvPr/>
            </p:nvSpPr>
            <p:spPr bwMode="auto">
              <a:xfrm>
                <a:off x="308" y="1839"/>
                <a:ext cx="10" cy="5"/>
              </a:xfrm>
              <a:custGeom>
                <a:avLst/>
                <a:gdLst>
                  <a:gd name="T0" fmla="*/ 0 w 50"/>
                  <a:gd name="T1" fmla="*/ 0 h 25"/>
                  <a:gd name="T2" fmla="*/ 0 w 50"/>
                  <a:gd name="T3" fmla="*/ 0 h 25"/>
                  <a:gd name="T4" fmla="*/ 0 w 50"/>
                  <a:gd name="T5" fmla="*/ 0 h 25"/>
                  <a:gd name="T6" fmla="*/ 0 w 50"/>
                  <a:gd name="T7" fmla="*/ 0 h 25"/>
                  <a:gd name="T8" fmla="*/ 0 w 50"/>
                  <a:gd name="T9" fmla="*/ 0 h 25"/>
                  <a:gd name="T10" fmla="*/ 0 w 50"/>
                  <a:gd name="T11" fmla="*/ 0 h 25"/>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0" h="25">
                    <a:moveTo>
                      <a:pt x="0" y="11"/>
                    </a:moveTo>
                    <a:lnTo>
                      <a:pt x="19" y="13"/>
                    </a:lnTo>
                    <a:lnTo>
                      <a:pt x="50" y="25"/>
                    </a:lnTo>
                    <a:lnTo>
                      <a:pt x="28" y="9"/>
                    </a:lnTo>
                    <a:lnTo>
                      <a:pt x="1" y="0"/>
                    </a:lnTo>
                    <a:lnTo>
                      <a:pt x="0" y="1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3" name="Freeform 116"/>
              <p:cNvSpPr>
                <a:spLocks/>
              </p:cNvSpPr>
              <p:nvPr/>
            </p:nvSpPr>
            <p:spPr bwMode="auto">
              <a:xfrm>
                <a:off x="321" y="1862"/>
                <a:ext cx="7" cy="7"/>
              </a:xfrm>
              <a:custGeom>
                <a:avLst/>
                <a:gdLst>
                  <a:gd name="T0" fmla="*/ 0 w 39"/>
                  <a:gd name="T1" fmla="*/ 0 h 33"/>
                  <a:gd name="T2" fmla="*/ 0 w 39"/>
                  <a:gd name="T3" fmla="*/ 0 h 33"/>
                  <a:gd name="T4" fmla="*/ 0 w 39"/>
                  <a:gd name="T5" fmla="*/ 0 h 33"/>
                  <a:gd name="T6" fmla="*/ 0 w 39"/>
                  <a:gd name="T7" fmla="*/ 0 h 33"/>
                  <a:gd name="T8" fmla="*/ 0 w 39"/>
                  <a:gd name="T9" fmla="*/ 0 h 3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9" h="33">
                    <a:moveTo>
                      <a:pt x="39" y="0"/>
                    </a:moveTo>
                    <a:lnTo>
                      <a:pt x="20" y="21"/>
                    </a:lnTo>
                    <a:lnTo>
                      <a:pt x="0" y="33"/>
                    </a:lnTo>
                    <a:lnTo>
                      <a:pt x="26" y="25"/>
                    </a:lnTo>
                    <a:lnTo>
                      <a:pt x="3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4" name="Freeform 117"/>
              <p:cNvSpPr>
                <a:spLocks/>
              </p:cNvSpPr>
              <p:nvPr/>
            </p:nvSpPr>
            <p:spPr bwMode="auto">
              <a:xfrm>
                <a:off x="332" y="1858"/>
                <a:ext cx="7" cy="7"/>
              </a:xfrm>
              <a:custGeom>
                <a:avLst/>
                <a:gdLst>
                  <a:gd name="T0" fmla="*/ 0 w 38"/>
                  <a:gd name="T1" fmla="*/ 0 h 35"/>
                  <a:gd name="T2" fmla="*/ 0 w 38"/>
                  <a:gd name="T3" fmla="*/ 0 h 35"/>
                  <a:gd name="T4" fmla="*/ 0 w 38"/>
                  <a:gd name="T5" fmla="*/ 0 h 35"/>
                  <a:gd name="T6" fmla="*/ 0 w 38"/>
                  <a:gd name="T7" fmla="*/ 0 h 35"/>
                  <a:gd name="T8" fmla="*/ 0 w 38"/>
                  <a:gd name="T9" fmla="*/ 0 h 35"/>
                  <a:gd name="T10" fmla="*/ 0 w 38"/>
                  <a:gd name="T11" fmla="*/ 0 h 35"/>
                  <a:gd name="T12" fmla="*/ 0 w 38"/>
                  <a:gd name="T13" fmla="*/ 0 h 35"/>
                  <a:gd name="T14" fmla="*/ 0 w 38"/>
                  <a:gd name="T15" fmla="*/ 0 h 3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8" h="35">
                    <a:moveTo>
                      <a:pt x="0" y="0"/>
                    </a:moveTo>
                    <a:lnTo>
                      <a:pt x="3" y="13"/>
                    </a:lnTo>
                    <a:lnTo>
                      <a:pt x="22" y="29"/>
                    </a:lnTo>
                    <a:lnTo>
                      <a:pt x="38" y="35"/>
                    </a:lnTo>
                    <a:lnTo>
                      <a:pt x="12" y="32"/>
                    </a:lnTo>
                    <a:lnTo>
                      <a:pt x="3" y="21"/>
                    </a:lnTo>
                    <a:lnTo>
                      <a:pt x="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5" name="Freeform 118"/>
              <p:cNvSpPr>
                <a:spLocks/>
              </p:cNvSpPr>
              <p:nvPr/>
            </p:nvSpPr>
            <p:spPr bwMode="auto">
              <a:xfrm>
                <a:off x="278" y="1810"/>
                <a:ext cx="41" cy="31"/>
              </a:xfrm>
              <a:custGeom>
                <a:avLst/>
                <a:gdLst>
                  <a:gd name="T0" fmla="*/ 0 w 201"/>
                  <a:gd name="T1" fmla="*/ 0 h 158"/>
                  <a:gd name="T2" fmla="*/ 0 w 201"/>
                  <a:gd name="T3" fmla="*/ 0 h 158"/>
                  <a:gd name="T4" fmla="*/ 0 w 201"/>
                  <a:gd name="T5" fmla="*/ 0 h 158"/>
                  <a:gd name="T6" fmla="*/ 0 w 201"/>
                  <a:gd name="T7" fmla="*/ 0 h 158"/>
                  <a:gd name="T8" fmla="*/ 0 w 201"/>
                  <a:gd name="T9" fmla="*/ 0 h 158"/>
                  <a:gd name="T10" fmla="*/ 0 w 201"/>
                  <a:gd name="T11" fmla="*/ 0 h 158"/>
                  <a:gd name="T12" fmla="*/ 0 w 201"/>
                  <a:gd name="T13" fmla="*/ 0 h 1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1" h="158">
                    <a:moveTo>
                      <a:pt x="165" y="158"/>
                    </a:moveTo>
                    <a:lnTo>
                      <a:pt x="201" y="76"/>
                    </a:lnTo>
                    <a:lnTo>
                      <a:pt x="132" y="31"/>
                    </a:lnTo>
                    <a:lnTo>
                      <a:pt x="29" y="0"/>
                    </a:lnTo>
                    <a:lnTo>
                      <a:pt x="0" y="87"/>
                    </a:lnTo>
                    <a:lnTo>
                      <a:pt x="94" y="114"/>
                    </a:lnTo>
                    <a:lnTo>
                      <a:pt x="165" y="158"/>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6" name="Oval 119"/>
              <p:cNvSpPr>
                <a:spLocks noChangeArrowheads="1"/>
              </p:cNvSpPr>
              <p:nvPr/>
            </p:nvSpPr>
            <p:spPr bwMode="auto">
              <a:xfrm>
                <a:off x="304" y="1824"/>
                <a:ext cx="7" cy="9"/>
              </a:xfrm>
              <a:prstGeom prst="ellipse">
                <a:avLst/>
              </a:prstGeom>
              <a:solidFill>
                <a:srgbClr val="FFFFFF"/>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27" name="Freeform 120"/>
              <p:cNvSpPr>
                <a:spLocks/>
              </p:cNvSpPr>
              <p:nvPr/>
            </p:nvSpPr>
            <p:spPr bwMode="auto">
              <a:xfrm>
                <a:off x="297" y="1826"/>
                <a:ext cx="10" cy="22"/>
              </a:xfrm>
              <a:custGeom>
                <a:avLst/>
                <a:gdLst>
                  <a:gd name="T0" fmla="*/ 0 w 52"/>
                  <a:gd name="T1" fmla="*/ 0 h 111"/>
                  <a:gd name="T2" fmla="*/ 0 w 52"/>
                  <a:gd name="T3" fmla="*/ 0 h 111"/>
                  <a:gd name="T4" fmla="*/ 0 w 52"/>
                  <a:gd name="T5" fmla="*/ 0 h 111"/>
                  <a:gd name="T6" fmla="*/ 0 w 52"/>
                  <a:gd name="T7" fmla="*/ 0 h 111"/>
                  <a:gd name="T8" fmla="*/ 0 w 52"/>
                  <a:gd name="T9" fmla="*/ 0 h 111"/>
                  <a:gd name="T10" fmla="*/ 0 w 52"/>
                  <a:gd name="T11" fmla="*/ 0 h 111"/>
                  <a:gd name="T12" fmla="*/ 0 w 52"/>
                  <a:gd name="T13" fmla="*/ 0 h 111"/>
                  <a:gd name="T14" fmla="*/ 0 w 52"/>
                  <a:gd name="T15" fmla="*/ 0 h 111"/>
                  <a:gd name="T16" fmla="*/ 0 w 52"/>
                  <a:gd name="T17" fmla="*/ 0 h 111"/>
                  <a:gd name="T18" fmla="*/ 0 w 52"/>
                  <a:gd name="T19" fmla="*/ 0 h 111"/>
                  <a:gd name="T20" fmla="*/ 0 w 52"/>
                  <a:gd name="T21" fmla="*/ 0 h 111"/>
                  <a:gd name="T22" fmla="*/ 0 w 52"/>
                  <a:gd name="T23" fmla="*/ 0 h 111"/>
                  <a:gd name="T24" fmla="*/ 0 w 52"/>
                  <a:gd name="T25" fmla="*/ 0 h 111"/>
                  <a:gd name="T26" fmla="*/ 0 w 52"/>
                  <a:gd name="T27" fmla="*/ 0 h 111"/>
                  <a:gd name="T28" fmla="*/ 0 w 52"/>
                  <a:gd name="T29" fmla="*/ 0 h 111"/>
                  <a:gd name="T30" fmla="*/ 0 w 52"/>
                  <a:gd name="T31" fmla="*/ 0 h 11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52" h="111">
                    <a:moveTo>
                      <a:pt x="4" y="74"/>
                    </a:moveTo>
                    <a:lnTo>
                      <a:pt x="7" y="55"/>
                    </a:lnTo>
                    <a:lnTo>
                      <a:pt x="5" y="36"/>
                    </a:lnTo>
                    <a:lnTo>
                      <a:pt x="4" y="23"/>
                    </a:lnTo>
                    <a:lnTo>
                      <a:pt x="0" y="13"/>
                    </a:lnTo>
                    <a:lnTo>
                      <a:pt x="4" y="4"/>
                    </a:lnTo>
                    <a:lnTo>
                      <a:pt x="11" y="0"/>
                    </a:lnTo>
                    <a:lnTo>
                      <a:pt x="27" y="6"/>
                    </a:lnTo>
                    <a:lnTo>
                      <a:pt x="33" y="16"/>
                    </a:lnTo>
                    <a:lnTo>
                      <a:pt x="37" y="27"/>
                    </a:lnTo>
                    <a:lnTo>
                      <a:pt x="39" y="39"/>
                    </a:lnTo>
                    <a:lnTo>
                      <a:pt x="40" y="59"/>
                    </a:lnTo>
                    <a:lnTo>
                      <a:pt x="52" y="79"/>
                    </a:lnTo>
                    <a:lnTo>
                      <a:pt x="23" y="111"/>
                    </a:lnTo>
                    <a:lnTo>
                      <a:pt x="11" y="103"/>
                    </a:lnTo>
                    <a:lnTo>
                      <a:pt x="4" y="74"/>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8" name="Freeform 121"/>
              <p:cNvSpPr>
                <a:spLocks/>
              </p:cNvSpPr>
              <p:nvPr/>
            </p:nvSpPr>
            <p:spPr bwMode="auto">
              <a:xfrm>
                <a:off x="301" y="1841"/>
                <a:ext cx="7" cy="7"/>
              </a:xfrm>
              <a:custGeom>
                <a:avLst/>
                <a:gdLst>
                  <a:gd name="T0" fmla="*/ 0 w 35"/>
                  <a:gd name="T1" fmla="*/ 0 h 34"/>
                  <a:gd name="T2" fmla="*/ 0 w 35"/>
                  <a:gd name="T3" fmla="*/ 0 h 34"/>
                  <a:gd name="T4" fmla="*/ 0 w 35"/>
                  <a:gd name="T5" fmla="*/ 0 h 34"/>
                  <a:gd name="T6" fmla="*/ 0 w 35"/>
                  <a:gd name="T7" fmla="*/ 0 h 34"/>
                  <a:gd name="T8" fmla="*/ 0 w 35"/>
                  <a:gd name="T9" fmla="*/ 0 h 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34">
                    <a:moveTo>
                      <a:pt x="24" y="0"/>
                    </a:moveTo>
                    <a:lnTo>
                      <a:pt x="35" y="4"/>
                    </a:lnTo>
                    <a:lnTo>
                      <a:pt x="9" y="34"/>
                    </a:lnTo>
                    <a:lnTo>
                      <a:pt x="0" y="26"/>
                    </a:lnTo>
                    <a:lnTo>
                      <a:pt x="24" y="0"/>
                    </a:lnTo>
                    <a:close/>
                  </a:path>
                </a:pathLst>
              </a:custGeom>
              <a:solidFill>
                <a:srgbClr val="FFC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9" name="Freeform 122"/>
              <p:cNvSpPr>
                <a:spLocks/>
              </p:cNvSpPr>
              <p:nvPr/>
            </p:nvSpPr>
            <p:spPr bwMode="auto">
              <a:xfrm>
                <a:off x="312" y="1815"/>
                <a:ext cx="9" cy="20"/>
              </a:xfrm>
              <a:custGeom>
                <a:avLst/>
                <a:gdLst>
                  <a:gd name="T0" fmla="*/ 0 w 48"/>
                  <a:gd name="T1" fmla="*/ 0 h 97"/>
                  <a:gd name="T2" fmla="*/ 0 w 48"/>
                  <a:gd name="T3" fmla="*/ 0 h 97"/>
                  <a:gd name="T4" fmla="*/ 0 w 48"/>
                  <a:gd name="T5" fmla="*/ 0 h 97"/>
                  <a:gd name="T6" fmla="*/ 0 w 48"/>
                  <a:gd name="T7" fmla="*/ 0 h 97"/>
                  <a:gd name="T8" fmla="*/ 0 w 48"/>
                  <a:gd name="T9" fmla="*/ 0 h 97"/>
                  <a:gd name="T10" fmla="*/ 0 w 48"/>
                  <a:gd name="T11" fmla="*/ 0 h 97"/>
                  <a:gd name="T12" fmla="*/ 0 w 48"/>
                  <a:gd name="T13" fmla="*/ 0 h 97"/>
                  <a:gd name="T14" fmla="*/ 0 w 48"/>
                  <a:gd name="T15" fmla="*/ 0 h 97"/>
                  <a:gd name="T16" fmla="*/ 0 w 48"/>
                  <a:gd name="T17" fmla="*/ 0 h 97"/>
                  <a:gd name="T18" fmla="*/ 0 w 48"/>
                  <a:gd name="T19" fmla="*/ 0 h 97"/>
                  <a:gd name="T20" fmla="*/ 0 w 48"/>
                  <a:gd name="T21" fmla="*/ 0 h 97"/>
                  <a:gd name="T22" fmla="*/ 0 w 48"/>
                  <a:gd name="T23" fmla="*/ 0 h 97"/>
                  <a:gd name="T24" fmla="*/ 0 w 48"/>
                  <a:gd name="T25" fmla="*/ 0 h 97"/>
                  <a:gd name="T26" fmla="*/ 0 w 48"/>
                  <a:gd name="T27" fmla="*/ 0 h 97"/>
                  <a:gd name="T28" fmla="*/ 0 w 48"/>
                  <a:gd name="T29" fmla="*/ 0 h 97"/>
                  <a:gd name="T30" fmla="*/ 0 w 48"/>
                  <a:gd name="T31" fmla="*/ 0 h 97"/>
                  <a:gd name="T32" fmla="*/ 0 w 48"/>
                  <a:gd name="T33" fmla="*/ 0 h 97"/>
                  <a:gd name="T34" fmla="*/ 0 w 48"/>
                  <a:gd name="T35" fmla="*/ 0 h 97"/>
                  <a:gd name="T36" fmla="*/ 0 w 48"/>
                  <a:gd name="T37" fmla="*/ 0 h 9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8" h="97">
                    <a:moveTo>
                      <a:pt x="0" y="23"/>
                    </a:moveTo>
                    <a:lnTo>
                      <a:pt x="4" y="43"/>
                    </a:lnTo>
                    <a:lnTo>
                      <a:pt x="6" y="51"/>
                    </a:lnTo>
                    <a:lnTo>
                      <a:pt x="7" y="64"/>
                    </a:lnTo>
                    <a:lnTo>
                      <a:pt x="5" y="73"/>
                    </a:lnTo>
                    <a:lnTo>
                      <a:pt x="7" y="84"/>
                    </a:lnTo>
                    <a:lnTo>
                      <a:pt x="14" y="95"/>
                    </a:lnTo>
                    <a:lnTo>
                      <a:pt x="21" y="96"/>
                    </a:lnTo>
                    <a:lnTo>
                      <a:pt x="34" y="97"/>
                    </a:lnTo>
                    <a:lnTo>
                      <a:pt x="43" y="91"/>
                    </a:lnTo>
                    <a:lnTo>
                      <a:pt x="46" y="88"/>
                    </a:lnTo>
                    <a:lnTo>
                      <a:pt x="48" y="77"/>
                    </a:lnTo>
                    <a:lnTo>
                      <a:pt x="48" y="59"/>
                    </a:lnTo>
                    <a:lnTo>
                      <a:pt x="48" y="48"/>
                    </a:lnTo>
                    <a:lnTo>
                      <a:pt x="46" y="32"/>
                    </a:lnTo>
                    <a:lnTo>
                      <a:pt x="44" y="22"/>
                    </a:lnTo>
                    <a:lnTo>
                      <a:pt x="36" y="0"/>
                    </a:lnTo>
                    <a:lnTo>
                      <a:pt x="7" y="1"/>
                    </a:lnTo>
                    <a:lnTo>
                      <a:pt x="0" y="23"/>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0" name="Freeform 123"/>
              <p:cNvSpPr>
                <a:spLocks/>
              </p:cNvSpPr>
              <p:nvPr/>
            </p:nvSpPr>
            <p:spPr bwMode="auto">
              <a:xfrm>
                <a:off x="315" y="1828"/>
                <a:ext cx="5" cy="4"/>
              </a:xfrm>
              <a:custGeom>
                <a:avLst/>
                <a:gdLst>
                  <a:gd name="T0" fmla="*/ 0 w 24"/>
                  <a:gd name="T1" fmla="*/ 0 h 20"/>
                  <a:gd name="T2" fmla="*/ 0 w 24"/>
                  <a:gd name="T3" fmla="*/ 0 h 20"/>
                  <a:gd name="T4" fmla="*/ 0 w 24"/>
                  <a:gd name="T5" fmla="*/ 0 h 20"/>
                  <a:gd name="T6" fmla="*/ 0 w 24"/>
                  <a:gd name="T7" fmla="*/ 0 h 20"/>
                  <a:gd name="T8" fmla="*/ 0 w 24"/>
                  <a:gd name="T9" fmla="*/ 0 h 20"/>
                  <a:gd name="T10" fmla="*/ 0 w 24"/>
                  <a:gd name="T11" fmla="*/ 0 h 20"/>
                  <a:gd name="T12" fmla="*/ 0 w 24"/>
                  <a:gd name="T13" fmla="*/ 0 h 20"/>
                  <a:gd name="T14" fmla="*/ 0 w 24"/>
                  <a:gd name="T15" fmla="*/ 0 h 2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 h="20">
                    <a:moveTo>
                      <a:pt x="24" y="5"/>
                    </a:moveTo>
                    <a:lnTo>
                      <a:pt x="12" y="0"/>
                    </a:lnTo>
                    <a:lnTo>
                      <a:pt x="3" y="1"/>
                    </a:lnTo>
                    <a:lnTo>
                      <a:pt x="0" y="5"/>
                    </a:lnTo>
                    <a:lnTo>
                      <a:pt x="1" y="20"/>
                    </a:lnTo>
                    <a:lnTo>
                      <a:pt x="3" y="8"/>
                    </a:lnTo>
                    <a:lnTo>
                      <a:pt x="5" y="4"/>
                    </a:lnTo>
                    <a:lnTo>
                      <a:pt x="24"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1" name="Group 124"/>
            <p:cNvGrpSpPr>
              <a:grpSpLocks/>
            </p:cNvGrpSpPr>
            <p:nvPr/>
          </p:nvGrpSpPr>
          <p:grpSpPr bwMode="auto">
            <a:xfrm>
              <a:off x="2029950" y="3681166"/>
              <a:ext cx="139921" cy="65972"/>
              <a:chOff x="375" y="2315"/>
              <a:chExt cx="139" cy="71"/>
            </a:xfrm>
          </p:grpSpPr>
          <p:sp>
            <p:nvSpPr>
              <p:cNvPr id="132" name="Freeform 125"/>
              <p:cNvSpPr>
                <a:spLocks/>
              </p:cNvSpPr>
              <p:nvPr/>
            </p:nvSpPr>
            <p:spPr bwMode="auto">
              <a:xfrm>
                <a:off x="375" y="2315"/>
                <a:ext cx="139" cy="71"/>
              </a:xfrm>
              <a:custGeom>
                <a:avLst/>
                <a:gdLst>
                  <a:gd name="T0" fmla="*/ 0 w 691"/>
                  <a:gd name="T1" fmla="*/ 0 h 355"/>
                  <a:gd name="T2" fmla="*/ 0 w 691"/>
                  <a:gd name="T3" fmla="*/ 0 h 355"/>
                  <a:gd name="T4" fmla="*/ 0 w 691"/>
                  <a:gd name="T5" fmla="*/ 0 h 355"/>
                  <a:gd name="T6" fmla="*/ 0 w 691"/>
                  <a:gd name="T7" fmla="*/ 0 h 355"/>
                  <a:gd name="T8" fmla="*/ 0 w 691"/>
                  <a:gd name="T9" fmla="*/ 0 h 355"/>
                  <a:gd name="T10" fmla="*/ 0 w 691"/>
                  <a:gd name="T11" fmla="*/ 0 h 355"/>
                  <a:gd name="T12" fmla="*/ 0 w 691"/>
                  <a:gd name="T13" fmla="*/ 0 h 355"/>
                  <a:gd name="T14" fmla="*/ 0 w 691"/>
                  <a:gd name="T15" fmla="*/ 0 h 355"/>
                  <a:gd name="T16" fmla="*/ 0 w 691"/>
                  <a:gd name="T17" fmla="*/ 0 h 355"/>
                  <a:gd name="T18" fmla="*/ 0 w 691"/>
                  <a:gd name="T19" fmla="*/ 0 h 355"/>
                  <a:gd name="T20" fmla="*/ 0 w 691"/>
                  <a:gd name="T21" fmla="*/ 0 h 355"/>
                  <a:gd name="T22" fmla="*/ 0 w 691"/>
                  <a:gd name="T23" fmla="*/ 0 h 355"/>
                  <a:gd name="T24" fmla="*/ 0 w 691"/>
                  <a:gd name="T25" fmla="*/ 0 h 355"/>
                  <a:gd name="T26" fmla="*/ 0 w 691"/>
                  <a:gd name="T27" fmla="*/ 0 h 355"/>
                  <a:gd name="T28" fmla="*/ 0 w 691"/>
                  <a:gd name="T29" fmla="*/ 0 h 355"/>
                  <a:gd name="T30" fmla="*/ 0 w 691"/>
                  <a:gd name="T31" fmla="*/ 0 h 355"/>
                  <a:gd name="T32" fmla="*/ 0 w 691"/>
                  <a:gd name="T33" fmla="*/ 0 h 355"/>
                  <a:gd name="T34" fmla="*/ 0 w 691"/>
                  <a:gd name="T35" fmla="*/ 0 h 355"/>
                  <a:gd name="T36" fmla="*/ 0 w 691"/>
                  <a:gd name="T37" fmla="*/ 0 h 355"/>
                  <a:gd name="T38" fmla="*/ 0 w 691"/>
                  <a:gd name="T39" fmla="*/ 0 h 355"/>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91" h="355">
                    <a:moveTo>
                      <a:pt x="279" y="11"/>
                    </a:moveTo>
                    <a:lnTo>
                      <a:pt x="274" y="104"/>
                    </a:lnTo>
                    <a:lnTo>
                      <a:pt x="455" y="189"/>
                    </a:lnTo>
                    <a:lnTo>
                      <a:pt x="607" y="226"/>
                    </a:lnTo>
                    <a:lnTo>
                      <a:pt x="691" y="263"/>
                    </a:lnTo>
                    <a:lnTo>
                      <a:pt x="687" y="313"/>
                    </a:lnTo>
                    <a:lnTo>
                      <a:pt x="577" y="343"/>
                    </a:lnTo>
                    <a:lnTo>
                      <a:pt x="413" y="355"/>
                    </a:lnTo>
                    <a:lnTo>
                      <a:pt x="274" y="331"/>
                    </a:lnTo>
                    <a:lnTo>
                      <a:pt x="188" y="307"/>
                    </a:lnTo>
                    <a:lnTo>
                      <a:pt x="183" y="334"/>
                    </a:lnTo>
                    <a:lnTo>
                      <a:pt x="74" y="331"/>
                    </a:lnTo>
                    <a:lnTo>
                      <a:pt x="7" y="318"/>
                    </a:lnTo>
                    <a:lnTo>
                      <a:pt x="7" y="270"/>
                    </a:lnTo>
                    <a:lnTo>
                      <a:pt x="0" y="242"/>
                    </a:lnTo>
                    <a:lnTo>
                      <a:pt x="0" y="173"/>
                    </a:lnTo>
                    <a:lnTo>
                      <a:pt x="18" y="135"/>
                    </a:lnTo>
                    <a:lnTo>
                      <a:pt x="53" y="91"/>
                    </a:lnTo>
                    <a:lnTo>
                      <a:pt x="60" y="0"/>
                    </a:lnTo>
                    <a:lnTo>
                      <a:pt x="279" y="11"/>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3" name="Freeform 126"/>
              <p:cNvSpPr>
                <a:spLocks/>
              </p:cNvSpPr>
              <p:nvPr/>
            </p:nvSpPr>
            <p:spPr bwMode="auto">
              <a:xfrm>
                <a:off x="421" y="2341"/>
                <a:ext cx="42" cy="22"/>
              </a:xfrm>
              <a:custGeom>
                <a:avLst/>
                <a:gdLst>
                  <a:gd name="T0" fmla="*/ 0 w 208"/>
                  <a:gd name="T1" fmla="*/ 0 h 110"/>
                  <a:gd name="T2" fmla="*/ 0 w 208"/>
                  <a:gd name="T3" fmla="*/ 0 h 110"/>
                  <a:gd name="T4" fmla="*/ 0 w 208"/>
                  <a:gd name="T5" fmla="*/ 0 h 110"/>
                  <a:gd name="T6" fmla="*/ 0 w 208"/>
                  <a:gd name="T7" fmla="*/ 0 h 110"/>
                  <a:gd name="T8" fmla="*/ 0 w 208"/>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8" h="110">
                    <a:moveTo>
                      <a:pt x="53" y="0"/>
                    </a:moveTo>
                    <a:lnTo>
                      <a:pt x="0" y="58"/>
                    </a:lnTo>
                    <a:lnTo>
                      <a:pt x="186" y="110"/>
                    </a:lnTo>
                    <a:lnTo>
                      <a:pt x="208" y="70"/>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4" name="Freeform 127"/>
              <p:cNvSpPr>
                <a:spLocks/>
              </p:cNvSpPr>
              <p:nvPr/>
            </p:nvSpPr>
            <p:spPr bwMode="auto">
              <a:xfrm>
                <a:off x="463" y="2356"/>
                <a:ext cx="46" cy="13"/>
              </a:xfrm>
              <a:custGeom>
                <a:avLst/>
                <a:gdLst>
                  <a:gd name="T0" fmla="*/ 0 w 233"/>
                  <a:gd name="T1" fmla="*/ 0 h 67"/>
                  <a:gd name="T2" fmla="*/ 0 w 233"/>
                  <a:gd name="T3" fmla="*/ 0 h 67"/>
                  <a:gd name="T4" fmla="*/ 0 w 233"/>
                  <a:gd name="T5" fmla="*/ 0 h 67"/>
                  <a:gd name="T6" fmla="*/ 0 w 233"/>
                  <a:gd name="T7" fmla="*/ 0 h 67"/>
                  <a:gd name="T8" fmla="*/ 0 w 233"/>
                  <a:gd name="T9" fmla="*/ 0 h 67"/>
                  <a:gd name="T10" fmla="*/ 0 w 233"/>
                  <a:gd name="T11" fmla="*/ 0 h 67"/>
                  <a:gd name="T12" fmla="*/ 0 w 233"/>
                  <a:gd name="T13" fmla="*/ 0 h 6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3" h="67">
                    <a:moveTo>
                      <a:pt x="27" y="0"/>
                    </a:moveTo>
                    <a:lnTo>
                      <a:pt x="0" y="32"/>
                    </a:lnTo>
                    <a:lnTo>
                      <a:pt x="115" y="62"/>
                    </a:lnTo>
                    <a:lnTo>
                      <a:pt x="168" y="67"/>
                    </a:lnTo>
                    <a:lnTo>
                      <a:pt x="233" y="64"/>
                    </a:lnTo>
                    <a:lnTo>
                      <a:pt x="165" y="30"/>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5" name="Freeform 128"/>
              <p:cNvSpPr>
                <a:spLocks/>
              </p:cNvSpPr>
              <p:nvPr/>
            </p:nvSpPr>
            <p:spPr bwMode="auto">
              <a:xfrm>
                <a:off x="376" y="2341"/>
                <a:ext cx="134" cy="41"/>
              </a:xfrm>
              <a:custGeom>
                <a:avLst/>
                <a:gdLst>
                  <a:gd name="T0" fmla="*/ 0 w 670"/>
                  <a:gd name="T1" fmla="*/ 0 h 209"/>
                  <a:gd name="T2" fmla="*/ 0 w 670"/>
                  <a:gd name="T3" fmla="*/ 0 h 209"/>
                  <a:gd name="T4" fmla="*/ 0 w 670"/>
                  <a:gd name="T5" fmla="*/ 0 h 209"/>
                  <a:gd name="T6" fmla="*/ 0 w 670"/>
                  <a:gd name="T7" fmla="*/ 0 h 209"/>
                  <a:gd name="T8" fmla="*/ 0 w 670"/>
                  <a:gd name="T9" fmla="*/ 0 h 209"/>
                  <a:gd name="T10" fmla="*/ 0 w 670"/>
                  <a:gd name="T11" fmla="*/ 0 h 209"/>
                  <a:gd name="T12" fmla="*/ 0 w 670"/>
                  <a:gd name="T13" fmla="*/ 0 h 209"/>
                  <a:gd name="T14" fmla="*/ 0 w 670"/>
                  <a:gd name="T15" fmla="*/ 0 h 209"/>
                  <a:gd name="T16" fmla="*/ 0 w 670"/>
                  <a:gd name="T17" fmla="*/ 0 h 209"/>
                  <a:gd name="T18" fmla="*/ 0 w 670"/>
                  <a:gd name="T19" fmla="*/ 0 h 209"/>
                  <a:gd name="T20" fmla="*/ 0 w 670"/>
                  <a:gd name="T21" fmla="*/ 0 h 209"/>
                  <a:gd name="T22" fmla="*/ 0 w 670"/>
                  <a:gd name="T23" fmla="*/ 0 h 209"/>
                  <a:gd name="T24" fmla="*/ 0 w 670"/>
                  <a:gd name="T25" fmla="*/ 0 h 209"/>
                  <a:gd name="T26" fmla="*/ 0 w 670"/>
                  <a:gd name="T27" fmla="*/ 0 h 209"/>
                  <a:gd name="T28" fmla="*/ 0 w 670"/>
                  <a:gd name="T29" fmla="*/ 0 h 209"/>
                  <a:gd name="T30" fmla="*/ 0 w 670"/>
                  <a:gd name="T31" fmla="*/ 0 h 209"/>
                  <a:gd name="T32" fmla="*/ 0 w 670"/>
                  <a:gd name="T33" fmla="*/ 0 h 209"/>
                  <a:gd name="T34" fmla="*/ 0 w 670"/>
                  <a:gd name="T35" fmla="*/ 0 h 209"/>
                  <a:gd name="T36" fmla="*/ 0 w 670"/>
                  <a:gd name="T37" fmla="*/ 0 h 20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0" h="209">
                    <a:moveTo>
                      <a:pt x="670" y="178"/>
                    </a:moveTo>
                    <a:lnTo>
                      <a:pt x="670" y="146"/>
                    </a:lnTo>
                    <a:lnTo>
                      <a:pt x="582" y="155"/>
                    </a:lnTo>
                    <a:lnTo>
                      <a:pt x="442" y="134"/>
                    </a:lnTo>
                    <a:lnTo>
                      <a:pt x="361" y="116"/>
                    </a:lnTo>
                    <a:lnTo>
                      <a:pt x="206" y="66"/>
                    </a:lnTo>
                    <a:lnTo>
                      <a:pt x="140" y="58"/>
                    </a:lnTo>
                    <a:lnTo>
                      <a:pt x="73" y="34"/>
                    </a:lnTo>
                    <a:lnTo>
                      <a:pt x="40" y="0"/>
                    </a:lnTo>
                    <a:lnTo>
                      <a:pt x="0" y="43"/>
                    </a:lnTo>
                    <a:lnTo>
                      <a:pt x="0" y="132"/>
                    </a:lnTo>
                    <a:lnTo>
                      <a:pt x="49" y="146"/>
                    </a:lnTo>
                    <a:lnTo>
                      <a:pt x="170" y="162"/>
                    </a:lnTo>
                    <a:lnTo>
                      <a:pt x="218" y="167"/>
                    </a:lnTo>
                    <a:lnTo>
                      <a:pt x="298" y="196"/>
                    </a:lnTo>
                    <a:lnTo>
                      <a:pt x="388" y="209"/>
                    </a:lnTo>
                    <a:lnTo>
                      <a:pt x="452" y="209"/>
                    </a:lnTo>
                    <a:lnTo>
                      <a:pt x="553" y="209"/>
                    </a:lnTo>
                    <a:lnTo>
                      <a:pt x="670"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6" name="Freeform 129"/>
              <p:cNvSpPr>
                <a:spLocks/>
              </p:cNvSpPr>
              <p:nvPr/>
            </p:nvSpPr>
            <p:spPr bwMode="auto">
              <a:xfrm>
                <a:off x="386" y="2317"/>
                <a:ext cx="44" cy="34"/>
              </a:xfrm>
              <a:custGeom>
                <a:avLst/>
                <a:gdLst>
                  <a:gd name="T0" fmla="*/ 0 w 219"/>
                  <a:gd name="T1" fmla="*/ 0 h 171"/>
                  <a:gd name="T2" fmla="*/ 0 w 219"/>
                  <a:gd name="T3" fmla="*/ 0 h 171"/>
                  <a:gd name="T4" fmla="*/ 0 w 219"/>
                  <a:gd name="T5" fmla="*/ 0 h 171"/>
                  <a:gd name="T6" fmla="*/ 0 w 219"/>
                  <a:gd name="T7" fmla="*/ 0 h 171"/>
                  <a:gd name="T8" fmla="*/ 0 w 219"/>
                  <a:gd name="T9" fmla="*/ 0 h 171"/>
                  <a:gd name="T10" fmla="*/ 0 w 219"/>
                  <a:gd name="T11" fmla="*/ 0 h 171"/>
                  <a:gd name="T12" fmla="*/ 0 w 219"/>
                  <a:gd name="T13" fmla="*/ 0 h 171"/>
                  <a:gd name="T14" fmla="*/ 0 w 219"/>
                  <a:gd name="T15" fmla="*/ 0 h 171"/>
                  <a:gd name="T16" fmla="*/ 0 w 219"/>
                  <a:gd name="T17" fmla="*/ 0 h 171"/>
                  <a:gd name="T18" fmla="*/ 0 w 219"/>
                  <a:gd name="T19" fmla="*/ 0 h 17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171">
                    <a:moveTo>
                      <a:pt x="214" y="11"/>
                    </a:moveTo>
                    <a:lnTo>
                      <a:pt x="207" y="96"/>
                    </a:lnTo>
                    <a:lnTo>
                      <a:pt x="219" y="114"/>
                    </a:lnTo>
                    <a:lnTo>
                      <a:pt x="170" y="171"/>
                    </a:lnTo>
                    <a:lnTo>
                      <a:pt x="103" y="171"/>
                    </a:lnTo>
                    <a:lnTo>
                      <a:pt x="26" y="146"/>
                    </a:lnTo>
                    <a:lnTo>
                      <a:pt x="0" y="112"/>
                    </a:lnTo>
                    <a:lnTo>
                      <a:pt x="15" y="89"/>
                    </a:lnTo>
                    <a:lnTo>
                      <a:pt x="20" y="0"/>
                    </a:lnTo>
                    <a:lnTo>
                      <a:pt x="214"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7" name="Group 130"/>
            <p:cNvGrpSpPr>
              <a:grpSpLocks/>
            </p:cNvGrpSpPr>
            <p:nvPr/>
          </p:nvGrpSpPr>
          <p:grpSpPr bwMode="auto">
            <a:xfrm>
              <a:off x="2032970" y="3565947"/>
              <a:ext cx="58384" cy="131945"/>
              <a:chOff x="378" y="2191"/>
              <a:chExt cx="58" cy="142"/>
            </a:xfrm>
          </p:grpSpPr>
          <p:sp>
            <p:nvSpPr>
              <p:cNvPr id="138" name="Freeform 131"/>
              <p:cNvSpPr>
                <a:spLocks/>
              </p:cNvSpPr>
              <p:nvPr/>
            </p:nvSpPr>
            <p:spPr bwMode="auto">
              <a:xfrm>
                <a:off x="378" y="2191"/>
                <a:ext cx="58" cy="142"/>
              </a:xfrm>
              <a:custGeom>
                <a:avLst/>
                <a:gdLst>
                  <a:gd name="T0" fmla="*/ 0 w 292"/>
                  <a:gd name="T1" fmla="*/ 0 h 710"/>
                  <a:gd name="T2" fmla="*/ 0 w 292"/>
                  <a:gd name="T3" fmla="*/ 0 h 710"/>
                  <a:gd name="T4" fmla="*/ 0 w 292"/>
                  <a:gd name="T5" fmla="*/ 0 h 710"/>
                  <a:gd name="T6" fmla="*/ 0 w 292"/>
                  <a:gd name="T7" fmla="*/ 0 h 710"/>
                  <a:gd name="T8" fmla="*/ 0 w 292"/>
                  <a:gd name="T9" fmla="*/ 0 h 710"/>
                  <a:gd name="T10" fmla="*/ 0 w 292"/>
                  <a:gd name="T11" fmla="*/ 0 h 710"/>
                  <a:gd name="T12" fmla="*/ 0 w 292"/>
                  <a:gd name="T13" fmla="*/ 0 h 710"/>
                  <a:gd name="T14" fmla="*/ 0 w 292"/>
                  <a:gd name="T15" fmla="*/ 0 h 71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92" h="710">
                    <a:moveTo>
                      <a:pt x="24" y="15"/>
                    </a:moveTo>
                    <a:lnTo>
                      <a:pt x="6" y="256"/>
                    </a:lnTo>
                    <a:lnTo>
                      <a:pt x="10" y="454"/>
                    </a:lnTo>
                    <a:lnTo>
                      <a:pt x="0" y="678"/>
                    </a:lnTo>
                    <a:lnTo>
                      <a:pt x="144" y="710"/>
                    </a:lnTo>
                    <a:lnTo>
                      <a:pt x="283" y="710"/>
                    </a:lnTo>
                    <a:lnTo>
                      <a:pt x="292" y="0"/>
                    </a:lnTo>
                    <a:lnTo>
                      <a:pt x="24" y="15"/>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9" name="Freeform 132"/>
              <p:cNvSpPr>
                <a:spLocks/>
              </p:cNvSpPr>
              <p:nvPr/>
            </p:nvSpPr>
            <p:spPr bwMode="auto">
              <a:xfrm>
                <a:off x="383" y="2193"/>
                <a:ext cx="50" cy="136"/>
              </a:xfrm>
              <a:custGeom>
                <a:avLst/>
                <a:gdLst>
                  <a:gd name="T0" fmla="*/ 0 w 252"/>
                  <a:gd name="T1" fmla="*/ 0 h 681"/>
                  <a:gd name="T2" fmla="*/ 0 w 252"/>
                  <a:gd name="T3" fmla="*/ 0 h 681"/>
                  <a:gd name="T4" fmla="*/ 0 w 252"/>
                  <a:gd name="T5" fmla="*/ 0 h 681"/>
                  <a:gd name="T6" fmla="*/ 0 w 252"/>
                  <a:gd name="T7" fmla="*/ 0 h 681"/>
                  <a:gd name="T8" fmla="*/ 0 w 252"/>
                  <a:gd name="T9" fmla="*/ 0 h 681"/>
                  <a:gd name="T10" fmla="*/ 0 w 252"/>
                  <a:gd name="T11" fmla="*/ 0 h 681"/>
                  <a:gd name="T12" fmla="*/ 0 w 252"/>
                  <a:gd name="T13" fmla="*/ 0 h 681"/>
                  <a:gd name="T14" fmla="*/ 0 w 252"/>
                  <a:gd name="T15" fmla="*/ 0 h 68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52" h="681">
                    <a:moveTo>
                      <a:pt x="23" y="21"/>
                    </a:moveTo>
                    <a:lnTo>
                      <a:pt x="0" y="223"/>
                    </a:lnTo>
                    <a:lnTo>
                      <a:pt x="5" y="385"/>
                    </a:lnTo>
                    <a:lnTo>
                      <a:pt x="5" y="633"/>
                    </a:lnTo>
                    <a:lnTo>
                      <a:pt x="128" y="681"/>
                    </a:lnTo>
                    <a:lnTo>
                      <a:pt x="238" y="681"/>
                    </a:lnTo>
                    <a:lnTo>
                      <a:pt x="252" y="0"/>
                    </a:lnTo>
                    <a:lnTo>
                      <a:pt x="23" y="2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40" name="Group 133"/>
            <p:cNvGrpSpPr>
              <a:grpSpLocks/>
            </p:cNvGrpSpPr>
            <p:nvPr/>
          </p:nvGrpSpPr>
          <p:grpSpPr bwMode="auto">
            <a:xfrm>
              <a:off x="2063168" y="3699750"/>
              <a:ext cx="141934" cy="65972"/>
              <a:chOff x="408" y="2335"/>
              <a:chExt cx="141" cy="71"/>
            </a:xfrm>
          </p:grpSpPr>
          <p:sp>
            <p:nvSpPr>
              <p:cNvPr id="141" name="Freeform 134"/>
              <p:cNvSpPr>
                <a:spLocks/>
              </p:cNvSpPr>
              <p:nvPr/>
            </p:nvSpPr>
            <p:spPr bwMode="auto">
              <a:xfrm>
                <a:off x="408" y="2335"/>
                <a:ext cx="141" cy="71"/>
              </a:xfrm>
              <a:custGeom>
                <a:avLst/>
                <a:gdLst>
                  <a:gd name="T0" fmla="*/ 0 w 703"/>
                  <a:gd name="T1" fmla="*/ 0 h 356"/>
                  <a:gd name="T2" fmla="*/ 0 w 703"/>
                  <a:gd name="T3" fmla="*/ 0 h 356"/>
                  <a:gd name="T4" fmla="*/ 0 w 703"/>
                  <a:gd name="T5" fmla="*/ 0 h 356"/>
                  <a:gd name="T6" fmla="*/ 0 w 703"/>
                  <a:gd name="T7" fmla="*/ 0 h 356"/>
                  <a:gd name="T8" fmla="*/ 0 w 703"/>
                  <a:gd name="T9" fmla="*/ 0 h 356"/>
                  <a:gd name="T10" fmla="*/ 0 w 703"/>
                  <a:gd name="T11" fmla="*/ 0 h 356"/>
                  <a:gd name="T12" fmla="*/ 0 w 703"/>
                  <a:gd name="T13" fmla="*/ 0 h 356"/>
                  <a:gd name="T14" fmla="*/ 0 w 703"/>
                  <a:gd name="T15" fmla="*/ 0 h 356"/>
                  <a:gd name="T16" fmla="*/ 0 w 703"/>
                  <a:gd name="T17" fmla="*/ 0 h 356"/>
                  <a:gd name="T18" fmla="*/ 0 w 703"/>
                  <a:gd name="T19" fmla="*/ 0 h 356"/>
                  <a:gd name="T20" fmla="*/ 0 w 703"/>
                  <a:gd name="T21" fmla="*/ 0 h 356"/>
                  <a:gd name="T22" fmla="*/ 0 w 703"/>
                  <a:gd name="T23" fmla="*/ 0 h 356"/>
                  <a:gd name="T24" fmla="*/ 0 w 703"/>
                  <a:gd name="T25" fmla="*/ 0 h 356"/>
                  <a:gd name="T26" fmla="*/ 0 w 703"/>
                  <a:gd name="T27" fmla="*/ 0 h 356"/>
                  <a:gd name="T28" fmla="*/ 0 w 703"/>
                  <a:gd name="T29" fmla="*/ 0 h 356"/>
                  <a:gd name="T30" fmla="*/ 0 w 703"/>
                  <a:gd name="T31" fmla="*/ 0 h 356"/>
                  <a:gd name="T32" fmla="*/ 0 w 703"/>
                  <a:gd name="T33" fmla="*/ 0 h 356"/>
                  <a:gd name="T34" fmla="*/ 0 w 703"/>
                  <a:gd name="T35" fmla="*/ 0 h 356"/>
                  <a:gd name="T36" fmla="*/ 0 w 703"/>
                  <a:gd name="T37" fmla="*/ 0 h 356"/>
                  <a:gd name="T38" fmla="*/ 0 w 703"/>
                  <a:gd name="T39" fmla="*/ 0 h 35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703" h="356">
                    <a:moveTo>
                      <a:pt x="285" y="13"/>
                    </a:moveTo>
                    <a:lnTo>
                      <a:pt x="280" y="104"/>
                    </a:lnTo>
                    <a:lnTo>
                      <a:pt x="463" y="191"/>
                    </a:lnTo>
                    <a:lnTo>
                      <a:pt x="617" y="227"/>
                    </a:lnTo>
                    <a:lnTo>
                      <a:pt x="703" y="264"/>
                    </a:lnTo>
                    <a:lnTo>
                      <a:pt x="698" y="314"/>
                    </a:lnTo>
                    <a:lnTo>
                      <a:pt x="588" y="345"/>
                    </a:lnTo>
                    <a:lnTo>
                      <a:pt x="420" y="356"/>
                    </a:lnTo>
                    <a:lnTo>
                      <a:pt x="280" y="332"/>
                    </a:lnTo>
                    <a:lnTo>
                      <a:pt x="194" y="307"/>
                    </a:lnTo>
                    <a:lnTo>
                      <a:pt x="188" y="335"/>
                    </a:lnTo>
                    <a:lnTo>
                      <a:pt x="76" y="332"/>
                    </a:lnTo>
                    <a:lnTo>
                      <a:pt x="8" y="320"/>
                    </a:lnTo>
                    <a:lnTo>
                      <a:pt x="8" y="271"/>
                    </a:lnTo>
                    <a:lnTo>
                      <a:pt x="0" y="243"/>
                    </a:lnTo>
                    <a:lnTo>
                      <a:pt x="0" y="174"/>
                    </a:lnTo>
                    <a:lnTo>
                      <a:pt x="22" y="136"/>
                    </a:lnTo>
                    <a:lnTo>
                      <a:pt x="56" y="94"/>
                    </a:lnTo>
                    <a:lnTo>
                      <a:pt x="64" y="0"/>
                    </a:lnTo>
                    <a:lnTo>
                      <a:pt x="285" y="13"/>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2" name="Freeform 135"/>
              <p:cNvSpPr>
                <a:spLocks/>
              </p:cNvSpPr>
              <p:nvPr/>
            </p:nvSpPr>
            <p:spPr bwMode="auto">
              <a:xfrm>
                <a:off x="455" y="2361"/>
                <a:ext cx="42" cy="22"/>
              </a:xfrm>
              <a:custGeom>
                <a:avLst/>
                <a:gdLst>
                  <a:gd name="T0" fmla="*/ 0 w 210"/>
                  <a:gd name="T1" fmla="*/ 0 h 111"/>
                  <a:gd name="T2" fmla="*/ 0 w 210"/>
                  <a:gd name="T3" fmla="*/ 0 h 111"/>
                  <a:gd name="T4" fmla="*/ 0 w 210"/>
                  <a:gd name="T5" fmla="*/ 0 h 111"/>
                  <a:gd name="T6" fmla="*/ 0 w 210"/>
                  <a:gd name="T7" fmla="*/ 0 h 111"/>
                  <a:gd name="T8" fmla="*/ 0 w 210"/>
                  <a:gd name="T9" fmla="*/ 0 h 11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10" h="111">
                    <a:moveTo>
                      <a:pt x="53" y="0"/>
                    </a:moveTo>
                    <a:lnTo>
                      <a:pt x="0" y="60"/>
                    </a:lnTo>
                    <a:lnTo>
                      <a:pt x="187" y="111"/>
                    </a:lnTo>
                    <a:lnTo>
                      <a:pt x="210" y="71"/>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3" name="Freeform 136"/>
              <p:cNvSpPr>
                <a:spLocks/>
              </p:cNvSpPr>
              <p:nvPr/>
            </p:nvSpPr>
            <p:spPr bwMode="auto">
              <a:xfrm>
                <a:off x="497" y="2377"/>
                <a:ext cx="47" cy="13"/>
              </a:xfrm>
              <a:custGeom>
                <a:avLst/>
                <a:gdLst>
                  <a:gd name="T0" fmla="*/ 0 w 237"/>
                  <a:gd name="T1" fmla="*/ 0 h 66"/>
                  <a:gd name="T2" fmla="*/ 0 w 237"/>
                  <a:gd name="T3" fmla="*/ 0 h 66"/>
                  <a:gd name="T4" fmla="*/ 0 w 237"/>
                  <a:gd name="T5" fmla="*/ 0 h 66"/>
                  <a:gd name="T6" fmla="*/ 0 w 237"/>
                  <a:gd name="T7" fmla="*/ 0 h 66"/>
                  <a:gd name="T8" fmla="*/ 0 w 237"/>
                  <a:gd name="T9" fmla="*/ 0 h 66"/>
                  <a:gd name="T10" fmla="*/ 0 w 237"/>
                  <a:gd name="T11" fmla="*/ 0 h 66"/>
                  <a:gd name="T12" fmla="*/ 0 w 237"/>
                  <a:gd name="T13" fmla="*/ 0 h 6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7" h="66">
                    <a:moveTo>
                      <a:pt x="27" y="0"/>
                    </a:moveTo>
                    <a:lnTo>
                      <a:pt x="0" y="31"/>
                    </a:lnTo>
                    <a:lnTo>
                      <a:pt x="116" y="59"/>
                    </a:lnTo>
                    <a:lnTo>
                      <a:pt x="171" y="66"/>
                    </a:lnTo>
                    <a:lnTo>
                      <a:pt x="237" y="61"/>
                    </a:lnTo>
                    <a:lnTo>
                      <a:pt x="168" y="28"/>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4" name="Freeform 137"/>
              <p:cNvSpPr>
                <a:spLocks/>
              </p:cNvSpPr>
              <p:nvPr/>
            </p:nvSpPr>
            <p:spPr bwMode="auto">
              <a:xfrm>
                <a:off x="410" y="2361"/>
                <a:ext cx="135" cy="42"/>
              </a:xfrm>
              <a:custGeom>
                <a:avLst/>
                <a:gdLst>
                  <a:gd name="T0" fmla="*/ 0 w 678"/>
                  <a:gd name="T1" fmla="*/ 0 h 211"/>
                  <a:gd name="T2" fmla="*/ 0 w 678"/>
                  <a:gd name="T3" fmla="*/ 0 h 211"/>
                  <a:gd name="T4" fmla="*/ 0 w 678"/>
                  <a:gd name="T5" fmla="*/ 0 h 211"/>
                  <a:gd name="T6" fmla="*/ 0 w 678"/>
                  <a:gd name="T7" fmla="*/ 0 h 211"/>
                  <a:gd name="T8" fmla="*/ 0 w 678"/>
                  <a:gd name="T9" fmla="*/ 0 h 211"/>
                  <a:gd name="T10" fmla="*/ 0 w 678"/>
                  <a:gd name="T11" fmla="*/ 0 h 211"/>
                  <a:gd name="T12" fmla="*/ 0 w 678"/>
                  <a:gd name="T13" fmla="*/ 0 h 211"/>
                  <a:gd name="T14" fmla="*/ 0 w 678"/>
                  <a:gd name="T15" fmla="*/ 0 h 211"/>
                  <a:gd name="T16" fmla="*/ 0 w 678"/>
                  <a:gd name="T17" fmla="*/ 0 h 211"/>
                  <a:gd name="T18" fmla="*/ 0 w 678"/>
                  <a:gd name="T19" fmla="*/ 0 h 211"/>
                  <a:gd name="T20" fmla="*/ 0 w 678"/>
                  <a:gd name="T21" fmla="*/ 0 h 211"/>
                  <a:gd name="T22" fmla="*/ 0 w 678"/>
                  <a:gd name="T23" fmla="*/ 0 h 211"/>
                  <a:gd name="T24" fmla="*/ 0 w 678"/>
                  <a:gd name="T25" fmla="*/ 0 h 211"/>
                  <a:gd name="T26" fmla="*/ 0 w 678"/>
                  <a:gd name="T27" fmla="*/ 0 h 211"/>
                  <a:gd name="T28" fmla="*/ 0 w 678"/>
                  <a:gd name="T29" fmla="*/ 0 h 211"/>
                  <a:gd name="T30" fmla="*/ 0 w 678"/>
                  <a:gd name="T31" fmla="*/ 0 h 211"/>
                  <a:gd name="T32" fmla="*/ 0 w 678"/>
                  <a:gd name="T33" fmla="*/ 0 h 211"/>
                  <a:gd name="T34" fmla="*/ 0 w 678"/>
                  <a:gd name="T35" fmla="*/ 0 h 211"/>
                  <a:gd name="T36" fmla="*/ 0 w 678"/>
                  <a:gd name="T37" fmla="*/ 0 h 21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8" h="211">
                    <a:moveTo>
                      <a:pt x="678" y="178"/>
                    </a:moveTo>
                    <a:lnTo>
                      <a:pt x="678" y="147"/>
                    </a:lnTo>
                    <a:lnTo>
                      <a:pt x="590" y="156"/>
                    </a:lnTo>
                    <a:lnTo>
                      <a:pt x="446" y="136"/>
                    </a:lnTo>
                    <a:lnTo>
                      <a:pt x="365" y="117"/>
                    </a:lnTo>
                    <a:lnTo>
                      <a:pt x="209" y="66"/>
                    </a:lnTo>
                    <a:lnTo>
                      <a:pt x="140" y="60"/>
                    </a:lnTo>
                    <a:lnTo>
                      <a:pt x="74" y="35"/>
                    </a:lnTo>
                    <a:lnTo>
                      <a:pt x="39" y="0"/>
                    </a:lnTo>
                    <a:lnTo>
                      <a:pt x="0" y="44"/>
                    </a:lnTo>
                    <a:lnTo>
                      <a:pt x="0" y="133"/>
                    </a:lnTo>
                    <a:lnTo>
                      <a:pt x="50" y="147"/>
                    </a:lnTo>
                    <a:lnTo>
                      <a:pt x="171" y="162"/>
                    </a:lnTo>
                    <a:lnTo>
                      <a:pt x="220" y="170"/>
                    </a:lnTo>
                    <a:lnTo>
                      <a:pt x="300" y="197"/>
                    </a:lnTo>
                    <a:lnTo>
                      <a:pt x="392" y="211"/>
                    </a:lnTo>
                    <a:lnTo>
                      <a:pt x="458" y="211"/>
                    </a:lnTo>
                    <a:lnTo>
                      <a:pt x="560" y="211"/>
                    </a:lnTo>
                    <a:lnTo>
                      <a:pt x="678"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5" name="Freeform 138"/>
              <p:cNvSpPr>
                <a:spLocks/>
              </p:cNvSpPr>
              <p:nvPr/>
            </p:nvSpPr>
            <p:spPr bwMode="auto">
              <a:xfrm>
                <a:off x="419" y="2337"/>
                <a:ext cx="45" cy="34"/>
              </a:xfrm>
              <a:custGeom>
                <a:avLst/>
                <a:gdLst>
                  <a:gd name="T0" fmla="*/ 0 w 224"/>
                  <a:gd name="T1" fmla="*/ 0 h 170"/>
                  <a:gd name="T2" fmla="*/ 0 w 224"/>
                  <a:gd name="T3" fmla="*/ 0 h 170"/>
                  <a:gd name="T4" fmla="*/ 0 w 224"/>
                  <a:gd name="T5" fmla="*/ 0 h 170"/>
                  <a:gd name="T6" fmla="*/ 0 w 224"/>
                  <a:gd name="T7" fmla="*/ 0 h 170"/>
                  <a:gd name="T8" fmla="*/ 0 w 224"/>
                  <a:gd name="T9" fmla="*/ 0 h 170"/>
                  <a:gd name="T10" fmla="*/ 0 w 224"/>
                  <a:gd name="T11" fmla="*/ 0 h 170"/>
                  <a:gd name="T12" fmla="*/ 0 w 224"/>
                  <a:gd name="T13" fmla="*/ 0 h 170"/>
                  <a:gd name="T14" fmla="*/ 0 w 224"/>
                  <a:gd name="T15" fmla="*/ 0 h 170"/>
                  <a:gd name="T16" fmla="*/ 0 w 224"/>
                  <a:gd name="T17" fmla="*/ 0 h 170"/>
                  <a:gd name="T18" fmla="*/ 0 w 224"/>
                  <a:gd name="T19" fmla="*/ 0 h 17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24" h="170">
                    <a:moveTo>
                      <a:pt x="216" y="12"/>
                    </a:moveTo>
                    <a:lnTo>
                      <a:pt x="210" y="95"/>
                    </a:lnTo>
                    <a:lnTo>
                      <a:pt x="224" y="114"/>
                    </a:lnTo>
                    <a:lnTo>
                      <a:pt x="173" y="170"/>
                    </a:lnTo>
                    <a:lnTo>
                      <a:pt x="105" y="170"/>
                    </a:lnTo>
                    <a:lnTo>
                      <a:pt x="28" y="145"/>
                    </a:lnTo>
                    <a:lnTo>
                      <a:pt x="0" y="112"/>
                    </a:lnTo>
                    <a:lnTo>
                      <a:pt x="16" y="89"/>
                    </a:lnTo>
                    <a:lnTo>
                      <a:pt x="20" y="0"/>
                    </a:lnTo>
                    <a:lnTo>
                      <a:pt x="216" y="12"/>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46" name="Oval 139"/>
            <p:cNvSpPr>
              <a:spLocks noChangeArrowheads="1"/>
            </p:cNvSpPr>
            <p:nvPr/>
          </p:nvSpPr>
          <p:spPr bwMode="auto">
            <a:xfrm>
              <a:off x="1851777" y="3700679"/>
              <a:ext cx="168107" cy="60398"/>
            </a:xfrm>
            <a:prstGeom prst="ellipse">
              <a:avLst/>
            </a:prstGeom>
            <a:solidFill>
              <a:srgbClr val="606060"/>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47" name="Rectangle 140"/>
            <p:cNvSpPr>
              <a:spLocks noChangeArrowheads="1"/>
            </p:cNvSpPr>
            <p:nvPr/>
          </p:nvSpPr>
          <p:spPr bwMode="auto">
            <a:xfrm>
              <a:off x="1913181" y="3580814"/>
              <a:ext cx="44292" cy="137520"/>
            </a:xfrm>
            <a:prstGeom prst="rect">
              <a:avLst/>
            </a:prstGeom>
            <a:solidFill>
              <a:srgbClr val="606060"/>
            </a:solidFill>
            <a:ln w="3175">
              <a:solidFill>
                <a:srgbClr val="000000"/>
              </a:solidFill>
              <a:miter lim="800000"/>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48" name="Group 141"/>
            <p:cNvGrpSpPr>
              <a:grpSpLocks/>
            </p:cNvGrpSpPr>
            <p:nvPr/>
          </p:nvGrpSpPr>
          <p:grpSpPr bwMode="auto">
            <a:xfrm>
              <a:off x="1835671" y="3528780"/>
              <a:ext cx="222464" cy="71547"/>
              <a:chOff x="182" y="2151"/>
              <a:chExt cx="221" cy="77"/>
            </a:xfrm>
          </p:grpSpPr>
          <p:sp>
            <p:nvSpPr>
              <p:cNvPr id="149" name="Freeform 142"/>
              <p:cNvSpPr>
                <a:spLocks/>
              </p:cNvSpPr>
              <p:nvPr/>
            </p:nvSpPr>
            <p:spPr bwMode="auto">
              <a:xfrm>
                <a:off x="182" y="2151"/>
                <a:ext cx="221" cy="77"/>
              </a:xfrm>
              <a:custGeom>
                <a:avLst/>
                <a:gdLst>
                  <a:gd name="T0" fmla="*/ 0 w 1106"/>
                  <a:gd name="T1" fmla="*/ 0 h 386"/>
                  <a:gd name="T2" fmla="*/ 0 w 1106"/>
                  <a:gd name="T3" fmla="*/ 0 h 386"/>
                  <a:gd name="T4" fmla="*/ 0 w 1106"/>
                  <a:gd name="T5" fmla="*/ 0 h 386"/>
                  <a:gd name="T6" fmla="*/ 0 w 1106"/>
                  <a:gd name="T7" fmla="*/ 0 h 386"/>
                  <a:gd name="T8" fmla="*/ 0 w 1106"/>
                  <a:gd name="T9" fmla="*/ 0 h 386"/>
                  <a:gd name="T10" fmla="*/ 0 w 1106"/>
                  <a:gd name="T11" fmla="*/ 0 h 386"/>
                  <a:gd name="T12" fmla="*/ 0 w 1106"/>
                  <a:gd name="T13" fmla="*/ 0 h 386"/>
                  <a:gd name="T14" fmla="*/ 0 w 1106"/>
                  <a:gd name="T15" fmla="*/ 0 h 38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106" h="386">
                    <a:moveTo>
                      <a:pt x="1106" y="202"/>
                    </a:moveTo>
                    <a:lnTo>
                      <a:pt x="1099" y="321"/>
                    </a:lnTo>
                    <a:lnTo>
                      <a:pt x="735" y="386"/>
                    </a:lnTo>
                    <a:lnTo>
                      <a:pt x="334" y="386"/>
                    </a:lnTo>
                    <a:lnTo>
                      <a:pt x="19" y="288"/>
                    </a:lnTo>
                    <a:lnTo>
                      <a:pt x="0" y="10"/>
                    </a:lnTo>
                    <a:lnTo>
                      <a:pt x="625" y="0"/>
                    </a:lnTo>
                    <a:lnTo>
                      <a:pt x="1106" y="202"/>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0" name="Freeform 143"/>
              <p:cNvSpPr>
                <a:spLocks/>
              </p:cNvSpPr>
              <p:nvPr/>
            </p:nvSpPr>
            <p:spPr bwMode="auto">
              <a:xfrm>
                <a:off x="187" y="2180"/>
                <a:ext cx="211" cy="45"/>
              </a:xfrm>
              <a:custGeom>
                <a:avLst/>
                <a:gdLst>
                  <a:gd name="T0" fmla="*/ 0 w 1055"/>
                  <a:gd name="T1" fmla="*/ 0 h 221"/>
                  <a:gd name="T2" fmla="*/ 0 w 1055"/>
                  <a:gd name="T3" fmla="*/ 0 h 221"/>
                  <a:gd name="T4" fmla="*/ 0 w 1055"/>
                  <a:gd name="T5" fmla="*/ 0 h 221"/>
                  <a:gd name="T6" fmla="*/ 0 w 1055"/>
                  <a:gd name="T7" fmla="*/ 0 h 221"/>
                  <a:gd name="T8" fmla="*/ 0 w 1055"/>
                  <a:gd name="T9" fmla="*/ 0 h 221"/>
                  <a:gd name="T10" fmla="*/ 0 w 1055"/>
                  <a:gd name="T11" fmla="*/ 0 h 221"/>
                  <a:gd name="T12" fmla="*/ 0 w 1055"/>
                  <a:gd name="T13" fmla="*/ 0 h 221"/>
                  <a:gd name="T14" fmla="*/ 0 w 1055"/>
                  <a:gd name="T15" fmla="*/ 0 h 221"/>
                  <a:gd name="T16" fmla="*/ 0 w 1055"/>
                  <a:gd name="T17" fmla="*/ 0 h 22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 h="221">
                    <a:moveTo>
                      <a:pt x="1055" y="75"/>
                    </a:moveTo>
                    <a:lnTo>
                      <a:pt x="1049" y="162"/>
                    </a:lnTo>
                    <a:lnTo>
                      <a:pt x="721" y="221"/>
                    </a:lnTo>
                    <a:lnTo>
                      <a:pt x="296" y="221"/>
                    </a:lnTo>
                    <a:lnTo>
                      <a:pt x="0" y="119"/>
                    </a:lnTo>
                    <a:lnTo>
                      <a:pt x="0" y="0"/>
                    </a:lnTo>
                    <a:lnTo>
                      <a:pt x="283" y="119"/>
                    </a:lnTo>
                    <a:lnTo>
                      <a:pt x="716" y="124"/>
                    </a:lnTo>
                    <a:lnTo>
                      <a:pt x="1055" y="7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51" name="Freeform 144"/>
            <p:cNvSpPr>
              <a:spLocks/>
            </p:cNvSpPr>
            <p:nvPr/>
          </p:nvSpPr>
          <p:spPr bwMode="auto">
            <a:xfrm>
              <a:off x="1828626" y="3453514"/>
              <a:ext cx="304000" cy="260174"/>
            </a:xfrm>
            <a:custGeom>
              <a:avLst/>
              <a:gdLst>
                <a:gd name="T0" fmla="*/ 2147483646 w 1507"/>
                <a:gd name="T1" fmla="*/ 2147483646 h 1401"/>
                <a:gd name="T2" fmla="*/ 2147483646 w 1507"/>
                <a:gd name="T3" fmla="*/ 2147483646 h 1401"/>
                <a:gd name="T4" fmla="*/ 2147483646 w 1507"/>
                <a:gd name="T5" fmla="*/ 2147483646 h 1401"/>
                <a:gd name="T6" fmla="*/ 2147483646 w 1507"/>
                <a:gd name="T7" fmla="*/ 2147483646 h 1401"/>
                <a:gd name="T8" fmla="*/ 2147483646 w 1507"/>
                <a:gd name="T9" fmla="*/ 2147483646 h 1401"/>
                <a:gd name="T10" fmla="*/ 2147483646 w 1507"/>
                <a:gd name="T11" fmla="*/ 2147483646 h 1401"/>
                <a:gd name="T12" fmla="*/ 2147483646 w 1507"/>
                <a:gd name="T13" fmla="*/ 2147483646 h 1401"/>
                <a:gd name="T14" fmla="*/ 2147483646 w 1507"/>
                <a:gd name="T15" fmla="*/ 2147483646 h 1401"/>
                <a:gd name="T16" fmla="*/ 2147483646 w 1507"/>
                <a:gd name="T17" fmla="*/ 2147483646 h 1401"/>
                <a:gd name="T18" fmla="*/ 2147483646 w 1507"/>
                <a:gd name="T19" fmla="*/ 2147483646 h 1401"/>
                <a:gd name="T20" fmla="*/ 2147483646 w 1507"/>
                <a:gd name="T21" fmla="*/ 2147483646 h 1401"/>
                <a:gd name="T22" fmla="*/ 2147483646 w 1507"/>
                <a:gd name="T23" fmla="*/ 2147483646 h 1401"/>
                <a:gd name="T24" fmla="*/ 2147483646 w 1507"/>
                <a:gd name="T25" fmla="*/ 2147483646 h 1401"/>
                <a:gd name="T26" fmla="*/ 2147483646 w 1507"/>
                <a:gd name="T27" fmla="*/ 2147483646 h 1401"/>
                <a:gd name="T28" fmla="*/ 2147483646 w 1507"/>
                <a:gd name="T29" fmla="*/ 2147483646 h 1401"/>
                <a:gd name="T30" fmla="*/ 2147483646 w 1507"/>
                <a:gd name="T31" fmla="*/ 2147483646 h 1401"/>
                <a:gd name="T32" fmla="*/ 2147483646 w 1507"/>
                <a:gd name="T33" fmla="*/ 2147483646 h 1401"/>
                <a:gd name="T34" fmla="*/ 2147483646 w 1507"/>
                <a:gd name="T35" fmla="*/ 2147483646 h 1401"/>
                <a:gd name="T36" fmla="*/ 2147483646 w 1507"/>
                <a:gd name="T37" fmla="*/ 2147483646 h 1401"/>
                <a:gd name="T38" fmla="*/ 2147483646 w 1507"/>
                <a:gd name="T39" fmla="*/ 0 h 1401"/>
                <a:gd name="T40" fmla="*/ 2147483646 w 1507"/>
                <a:gd name="T41" fmla="*/ 2147483646 h 1401"/>
                <a:gd name="T42" fmla="*/ 2147483646 w 1507"/>
                <a:gd name="T43" fmla="*/ 2147483646 h 1401"/>
                <a:gd name="T44" fmla="*/ 2147483646 w 1507"/>
                <a:gd name="T45" fmla="*/ 2147483646 h 1401"/>
                <a:gd name="T46" fmla="*/ 2147483646 w 1507"/>
                <a:gd name="T47" fmla="*/ 2147483646 h 1401"/>
                <a:gd name="T48" fmla="*/ 2147483646 w 1507"/>
                <a:gd name="T49" fmla="*/ 2147483646 h 1401"/>
                <a:gd name="T50" fmla="*/ 0 w 1507"/>
                <a:gd name="T51" fmla="*/ 2147483646 h 1401"/>
                <a:gd name="T52" fmla="*/ 2147483646 w 1507"/>
                <a:gd name="T53" fmla="*/ 2147483646 h 1401"/>
                <a:gd name="T54" fmla="*/ 2147483646 w 1507"/>
                <a:gd name="T55" fmla="*/ 2147483646 h 1401"/>
                <a:gd name="T56" fmla="*/ 2147483646 w 1507"/>
                <a:gd name="T57" fmla="*/ 2147483646 h 1401"/>
                <a:gd name="T58" fmla="*/ 2147483646 w 1507"/>
                <a:gd name="T59" fmla="*/ 2147483646 h 1401"/>
                <a:gd name="T60" fmla="*/ 2147483646 w 1507"/>
                <a:gd name="T61" fmla="*/ 2147483646 h 1401"/>
                <a:gd name="T62" fmla="*/ 2147483646 w 1507"/>
                <a:gd name="T63" fmla="*/ 2147483646 h 1401"/>
                <a:gd name="T64" fmla="*/ 2147483646 w 1507"/>
                <a:gd name="T65" fmla="*/ 2147483646 h 1401"/>
                <a:gd name="T66" fmla="*/ 2147483646 w 1507"/>
                <a:gd name="T67" fmla="*/ 2147483646 h 1401"/>
                <a:gd name="T68" fmla="*/ 2147483646 w 1507"/>
                <a:gd name="T69" fmla="*/ 2147483646 h 1401"/>
                <a:gd name="T70" fmla="*/ 2147483646 w 1507"/>
                <a:gd name="T71" fmla="*/ 2147483646 h 1401"/>
                <a:gd name="T72" fmla="*/ 2147483646 w 1507"/>
                <a:gd name="T73" fmla="*/ 2147483646 h 1401"/>
                <a:gd name="T74" fmla="*/ 2147483646 w 1507"/>
                <a:gd name="T75" fmla="*/ 2147483646 h 1401"/>
                <a:gd name="T76" fmla="*/ 2147483646 w 1507"/>
                <a:gd name="T77" fmla="*/ 2147483646 h 1401"/>
                <a:gd name="T78" fmla="*/ 2147483646 w 1507"/>
                <a:gd name="T79" fmla="*/ 2147483646 h 1401"/>
                <a:gd name="T80" fmla="*/ 2147483646 w 1507"/>
                <a:gd name="T81" fmla="*/ 2147483646 h 1401"/>
                <a:gd name="T82" fmla="*/ 2147483646 w 1507"/>
                <a:gd name="T83" fmla="*/ 2147483646 h 1401"/>
                <a:gd name="T84" fmla="*/ 2147483646 w 1507"/>
                <a:gd name="T85" fmla="*/ 2147483646 h 1401"/>
                <a:gd name="T86" fmla="*/ 2147483646 w 1507"/>
                <a:gd name="T87" fmla="*/ 2147483646 h 1401"/>
                <a:gd name="T88" fmla="*/ 2147483646 w 1507"/>
                <a:gd name="T89" fmla="*/ 2147483646 h 1401"/>
                <a:gd name="T90" fmla="*/ 2147483646 w 1507"/>
                <a:gd name="T91" fmla="*/ 2147483646 h 1401"/>
                <a:gd name="T92" fmla="*/ 2147483646 w 1507"/>
                <a:gd name="T93" fmla="*/ 2147483646 h 1401"/>
                <a:gd name="T94" fmla="*/ 2147483646 w 1507"/>
                <a:gd name="T95" fmla="*/ 2147483646 h 1401"/>
                <a:gd name="T96" fmla="*/ 2147483646 w 1507"/>
                <a:gd name="T97" fmla="*/ 2147483646 h 1401"/>
                <a:gd name="T98" fmla="*/ 2147483646 w 1507"/>
                <a:gd name="T99" fmla="*/ 2147483646 h 1401"/>
                <a:gd name="T100" fmla="*/ 2147483646 w 1507"/>
                <a:gd name="T101" fmla="*/ 2147483646 h 1401"/>
                <a:gd name="T102" fmla="*/ 2147483646 w 1507"/>
                <a:gd name="T103" fmla="*/ 2147483646 h 1401"/>
                <a:gd name="T104" fmla="*/ 2147483646 w 1507"/>
                <a:gd name="T105" fmla="*/ 2147483646 h 1401"/>
                <a:gd name="T106" fmla="*/ 2147483646 w 1507"/>
                <a:gd name="T107" fmla="*/ 2147483646 h 1401"/>
                <a:gd name="T108" fmla="*/ 2147483646 w 1507"/>
                <a:gd name="T109" fmla="*/ 2147483646 h 1401"/>
                <a:gd name="T110" fmla="*/ 2147483646 w 1507"/>
                <a:gd name="T111" fmla="*/ 2147483646 h 1401"/>
                <a:gd name="T112" fmla="*/ 2147483646 w 1507"/>
                <a:gd name="T113" fmla="*/ 2147483646 h 1401"/>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1507" h="1401">
                  <a:moveTo>
                    <a:pt x="1501" y="789"/>
                  </a:moveTo>
                  <a:lnTo>
                    <a:pt x="1493" y="649"/>
                  </a:lnTo>
                  <a:lnTo>
                    <a:pt x="1495" y="499"/>
                  </a:lnTo>
                  <a:lnTo>
                    <a:pt x="1489" y="385"/>
                  </a:lnTo>
                  <a:lnTo>
                    <a:pt x="1424" y="317"/>
                  </a:lnTo>
                  <a:lnTo>
                    <a:pt x="1345" y="278"/>
                  </a:lnTo>
                  <a:lnTo>
                    <a:pt x="1166" y="213"/>
                  </a:lnTo>
                  <a:lnTo>
                    <a:pt x="903" y="149"/>
                  </a:lnTo>
                  <a:lnTo>
                    <a:pt x="852" y="144"/>
                  </a:lnTo>
                  <a:lnTo>
                    <a:pt x="817" y="149"/>
                  </a:lnTo>
                  <a:lnTo>
                    <a:pt x="809" y="135"/>
                  </a:lnTo>
                  <a:lnTo>
                    <a:pt x="794" y="122"/>
                  </a:lnTo>
                  <a:lnTo>
                    <a:pt x="777" y="125"/>
                  </a:lnTo>
                  <a:lnTo>
                    <a:pt x="754" y="126"/>
                  </a:lnTo>
                  <a:lnTo>
                    <a:pt x="745" y="100"/>
                  </a:lnTo>
                  <a:lnTo>
                    <a:pt x="726" y="85"/>
                  </a:lnTo>
                  <a:lnTo>
                    <a:pt x="704" y="82"/>
                  </a:lnTo>
                  <a:lnTo>
                    <a:pt x="678" y="82"/>
                  </a:lnTo>
                  <a:lnTo>
                    <a:pt x="681" y="59"/>
                  </a:lnTo>
                  <a:lnTo>
                    <a:pt x="651" y="0"/>
                  </a:lnTo>
                  <a:lnTo>
                    <a:pt x="37" y="16"/>
                  </a:lnTo>
                  <a:lnTo>
                    <a:pt x="39" y="79"/>
                  </a:lnTo>
                  <a:lnTo>
                    <a:pt x="28" y="135"/>
                  </a:lnTo>
                  <a:lnTo>
                    <a:pt x="18" y="175"/>
                  </a:lnTo>
                  <a:lnTo>
                    <a:pt x="8" y="225"/>
                  </a:lnTo>
                  <a:lnTo>
                    <a:pt x="0" y="306"/>
                  </a:lnTo>
                  <a:lnTo>
                    <a:pt x="9" y="354"/>
                  </a:lnTo>
                  <a:lnTo>
                    <a:pt x="28" y="399"/>
                  </a:lnTo>
                  <a:lnTo>
                    <a:pt x="49" y="438"/>
                  </a:lnTo>
                  <a:lnTo>
                    <a:pt x="78" y="451"/>
                  </a:lnTo>
                  <a:lnTo>
                    <a:pt x="122" y="464"/>
                  </a:lnTo>
                  <a:lnTo>
                    <a:pt x="180" y="483"/>
                  </a:lnTo>
                  <a:lnTo>
                    <a:pt x="208" y="514"/>
                  </a:lnTo>
                  <a:lnTo>
                    <a:pt x="240" y="541"/>
                  </a:lnTo>
                  <a:lnTo>
                    <a:pt x="289" y="564"/>
                  </a:lnTo>
                  <a:lnTo>
                    <a:pt x="348" y="582"/>
                  </a:lnTo>
                  <a:lnTo>
                    <a:pt x="441" y="594"/>
                  </a:lnTo>
                  <a:lnTo>
                    <a:pt x="520" y="594"/>
                  </a:lnTo>
                  <a:lnTo>
                    <a:pt x="581" y="587"/>
                  </a:lnTo>
                  <a:lnTo>
                    <a:pt x="637" y="582"/>
                  </a:lnTo>
                  <a:lnTo>
                    <a:pt x="678" y="604"/>
                  </a:lnTo>
                  <a:lnTo>
                    <a:pt x="758" y="600"/>
                  </a:lnTo>
                  <a:lnTo>
                    <a:pt x="1078" y="645"/>
                  </a:lnTo>
                  <a:lnTo>
                    <a:pt x="1165" y="655"/>
                  </a:lnTo>
                  <a:lnTo>
                    <a:pt x="1133" y="845"/>
                  </a:lnTo>
                  <a:lnTo>
                    <a:pt x="1130" y="942"/>
                  </a:lnTo>
                  <a:lnTo>
                    <a:pt x="1149" y="1066"/>
                  </a:lnTo>
                  <a:lnTo>
                    <a:pt x="1169" y="1212"/>
                  </a:lnTo>
                  <a:lnTo>
                    <a:pt x="1169" y="1363"/>
                  </a:lnTo>
                  <a:lnTo>
                    <a:pt x="1244" y="1385"/>
                  </a:lnTo>
                  <a:lnTo>
                    <a:pt x="1339" y="1395"/>
                  </a:lnTo>
                  <a:lnTo>
                    <a:pt x="1420" y="1401"/>
                  </a:lnTo>
                  <a:lnTo>
                    <a:pt x="1507" y="1391"/>
                  </a:lnTo>
                  <a:lnTo>
                    <a:pt x="1501" y="1252"/>
                  </a:lnTo>
                  <a:lnTo>
                    <a:pt x="1501" y="1024"/>
                  </a:lnTo>
                  <a:lnTo>
                    <a:pt x="1501" y="824"/>
                  </a:lnTo>
                  <a:lnTo>
                    <a:pt x="1501" y="789"/>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2" name="Freeform 145"/>
            <p:cNvSpPr>
              <a:spLocks/>
            </p:cNvSpPr>
            <p:nvPr/>
          </p:nvSpPr>
          <p:spPr bwMode="auto">
            <a:xfrm>
              <a:off x="1832652" y="3463736"/>
              <a:ext cx="296954" cy="246235"/>
            </a:xfrm>
            <a:custGeom>
              <a:avLst/>
              <a:gdLst>
                <a:gd name="T0" fmla="*/ 2147483646 w 1473"/>
                <a:gd name="T1" fmla="*/ 2147483646 h 1324"/>
                <a:gd name="T2" fmla="*/ 2147483646 w 1473"/>
                <a:gd name="T3" fmla="*/ 2147483646 h 1324"/>
                <a:gd name="T4" fmla="*/ 2147483646 w 1473"/>
                <a:gd name="T5" fmla="*/ 2147483646 h 1324"/>
                <a:gd name="T6" fmla="*/ 2147483646 w 1473"/>
                <a:gd name="T7" fmla="*/ 2147483646 h 1324"/>
                <a:gd name="T8" fmla="*/ 2147483646 w 1473"/>
                <a:gd name="T9" fmla="*/ 2147483646 h 1324"/>
                <a:gd name="T10" fmla="*/ 2147483646 w 1473"/>
                <a:gd name="T11" fmla="*/ 2147483646 h 1324"/>
                <a:gd name="T12" fmla="*/ 2147483646 w 1473"/>
                <a:gd name="T13" fmla="*/ 2147483646 h 1324"/>
                <a:gd name="T14" fmla="*/ 2147483646 w 1473"/>
                <a:gd name="T15" fmla="*/ 2147483646 h 1324"/>
                <a:gd name="T16" fmla="*/ 2147483646 w 1473"/>
                <a:gd name="T17" fmla="*/ 2147483646 h 1324"/>
                <a:gd name="T18" fmla="*/ 2147483646 w 1473"/>
                <a:gd name="T19" fmla="*/ 2147483646 h 1324"/>
                <a:gd name="T20" fmla="*/ 2147483646 w 1473"/>
                <a:gd name="T21" fmla="*/ 2147483646 h 1324"/>
                <a:gd name="T22" fmla="*/ 2147483646 w 1473"/>
                <a:gd name="T23" fmla="*/ 2147483646 h 1324"/>
                <a:gd name="T24" fmla="*/ 2147483646 w 1473"/>
                <a:gd name="T25" fmla="*/ 2147483646 h 1324"/>
                <a:gd name="T26" fmla="*/ 2147483646 w 1473"/>
                <a:gd name="T27" fmla="*/ 2147483646 h 1324"/>
                <a:gd name="T28" fmla="*/ 2147483646 w 1473"/>
                <a:gd name="T29" fmla="*/ 2147483646 h 1324"/>
                <a:gd name="T30" fmla="*/ 2147483646 w 1473"/>
                <a:gd name="T31" fmla="*/ 2147483646 h 1324"/>
                <a:gd name="T32" fmla="*/ 2147483646 w 1473"/>
                <a:gd name="T33" fmla="*/ 2147483646 h 1324"/>
                <a:gd name="T34" fmla="*/ 2147483646 w 1473"/>
                <a:gd name="T35" fmla="*/ 2147483646 h 1324"/>
                <a:gd name="T36" fmla="*/ 2147483646 w 1473"/>
                <a:gd name="T37" fmla="*/ 2147483646 h 1324"/>
                <a:gd name="T38" fmla="*/ 2147483646 w 1473"/>
                <a:gd name="T39" fmla="*/ 2147483646 h 1324"/>
                <a:gd name="T40" fmla="*/ 2147483646 w 1473"/>
                <a:gd name="T41" fmla="*/ 2147483646 h 1324"/>
                <a:gd name="T42" fmla="*/ 2147483646 w 1473"/>
                <a:gd name="T43" fmla="*/ 2147483646 h 1324"/>
                <a:gd name="T44" fmla="*/ 2147483646 w 1473"/>
                <a:gd name="T45" fmla="*/ 2147483646 h 1324"/>
                <a:gd name="T46" fmla="*/ 2147483646 w 1473"/>
                <a:gd name="T47" fmla="*/ 2147483646 h 1324"/>
                <a:gd name="T48" fmla="*/ 2147483646 w 1473"/>
                <a:gd name="T49" fmla="*/ 2147483646 h 1324"/>
                <a:gd name="T50" fmla="*/ 2147483646 w 1473"/>
                <a:gd name="T51" fmla="*/ 2147483646 h 1324"/>
                <a:gd name="T52" fmla="*/ 2147483646 w 1473"/>
                <a:gd name="T53" fmla="*/ 2147483646 h 1324"/>
                <a:gd name="T54" fmla="*/ 2147483646 w 1473"/>
                <a:gd name="T55" fmla="*/ 2147483646 h 1324"/>
                <a:gd name="T56" fmla="*/ 2147483646 w 1473"/>
                <a:gd name="T57" fmla="*/ 2147483646 h 1324"/>
                <a:gd name="T58" fmla="*/ 2147483646 w 1473"/>
                <a:gd name="T59" fmla="*/ 2147483646 h 1324"/>
                <a:gd name="T60" fmla="*/ 2147483646 w 1473"/>
                <a:gd name="T61" fmla="*/ 2147483646 h 1324"/>
                <a:gd name="T62" fmla="*/ 2147483646 w 1473"/>
                <a:gd name="T63" fmla="*/ 2147483646 h 1324"/>
                <a:gd name="T64" fmla="*/ 2147483646 w 1473"/>
                <a:gd name="T65" fmla="*/ 2147483646 h 1324"/>
                <a:gd name="T66" fmla="*/ 2147483646 w 1473"/>
                <a:gd name="T67" fmla="*/ 2147483646 h 1324"/>
                <a:gd name="T68" fmla="*/ 2147483646 w 1473"/>
                <a:gd name="T69" fmla="*/ 2147483646 h 1324"/>
                <a:gd name="T70" fmla="*/ 2147483646 w 1473"/>
                <a:gd name="T71" fmla="*/ 2147483646 h 1324"/>
                <a:gd name="T72" fmla="*/ 2147483646 w 1473"/>
                <a:gd name="T73" fmla="*/ 2147483646 h 1324"/>
                <a:gd name="T74" fmla="*/ 2147483646 w 1473"/>
                <a:gd name="T75" fmla="*/ 2147483646 h 1324"/>
                <a:gd name="T76" fmla="*/ 2147483646 w 1473"/>
                <a:gd name="T77" fmla="*/ 2147483646 h 1324"/>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473" h="1324">
                  <a:moveTo>
                    <a:pt x="49" y="23"/>
                  </a:moveTo>
                  <a:lnTo>
                    <a:pt x="46" y="66"/>
                  </a:lnTo>
                  <a:lnTo>
                    <a:pt x="29" y="49"/>
                  </a:lnTo>
                  <a:lnTo>
                    <a:pt x="10" y="144"/>
                  </a:lnTo>
                  <a:lnTo>
                    <a:pt x="0" y="254"/>
                  </a:lnTo>
                  <a:lnTo>
                    <a:pt x="39" y="367"/>
                  </a:lnTo>
                  <a:lnTo>
                    <a:pt x="130" y="393"/>
                  </a:lnTo>
                  <a:lnTo>
                    <a:pt x="120" y="367"/>
                  </a:lnTo>
                  <a:lnTo>
                    <a:pt x="169" y="406"/>
                  </a:lnTo>
                  <a:lnTo>
                    <a:pt x="211" y="449"/>
                  </a:lnTo>
                  <a:lnTo>
                    <a:pt x="306" y="494"/>
                  </a:lnTo>
                  <a:lnTo>
                    <a:pt x="421" y="504"/>
                  </a:lnTo>
                  <a:lnTo>
                    <a:pt x="562" y="511"/>
                  </a:lnTo>
                  <a:lnTo>
                    <a:pt x="620" y="504"/>
                  </a:lnTo>
                  <a:lnTo>
                    <a:pt x="569" y="481"/>
                  </a:lnTo>
                  <a:lnTo>
                    <a:pt x="546" y="423"/>
                  </a:lnTo>
                  <a:lnTo>
                    <a:pt x="588" y="471"/>
                  </a:lnTo>
                  <a:lnTo>
                    <a:pt x="641" y="501"/>
                  </a:lnTo>
                  <a:lnTo>
                    <a:pt x="688" y="527"/>
                  </a:lnTo>
                  <a:lnTo>
                    <a:pt x="737" y="520"/>
                  </a:lnTo>
                  <a:lnTo>
                    <a:pt x="706" y="497"/>
                  </a:lnTo>
                  <a:lnTo>
                    <a:pt x="672" y="469"/>
                  </a:lnTo>
                  <a:lnTo>
                    <a:pt x="725" y="488"/>
                  </a:lnTo>
                  <a:lnTo>
                    <a:pt x="776" y="527"/>
                  </a:lnTo>
                  <a:lnTo>
                    <a:pt x="946" y="546"/>
                  </a:lnTo>
                  <a:lnTo>
                    <a:pt x="1114" y="572"/>
                  </a:lnTo>
                  <a:lnTo>
                    <a:pt x="1165" y="585"/>
                  </a:lnTo>
                  <a:lnTo>
                    <a:pt x="1122" y="833"/>
                  </a:lnTo>
                  <a:lnTo>
                    <a:pt x="1155" y="1063"/>
                  </a:lnTo>
                  <a:lnTo>
                    <a:pt x="1159" y="1288"/>
                  </a:lnTo>
                  <a:lnTo>
                    <a:pt x="1266" y="1310"/>
                  </a:lnTo>
                  <a:lnTo>
                    <a:pt x="1360" y="1324"/>
                  </a:lnTo>
                  <a:lnTo>
                    <a:pt x="1473" y="1321"/>
                  </a:lnTo>
                  <a:lnTo>
                    <a:pt x="1468" y="998"/>
                  </a:lnTo>
                  <a:lnTo>
                    <a:pt x="1468" y="729"/>
                  </a:lnTo>
                  <a:lnTo>
                    <a:pt x="1451" y="579"/>
                  </a:lnTo>
                  <a:lnTo>
                    <a:pt x="1465" y="485"/>
                  </a:lnTo>
                  <a:lnTo>
                    <a:pt x="1455" y="381"/>
                  </a:lnTo>
                  <a:lnTo>
                    <a:pt x="1436" y="314"/>
                  </a:lnTo>
                  <a:lnTo>
                    <a:pt x="1355" y="261"/>
                  </a:lnTo>
                  <a:lnTo>
                    <a:pt x="1253" y="215"/>
                  </a:lnTo>
                  <a:lnTo>
                    <a:pt x="1057" y="150"/>
                  </a:lnTo>
                  <a:lnTo>
                    <a:pt x="897" y="105"/>
                  </a:lnTo>
                  <a:lnTo>
                    <a:pt x="809" y="98"/>
                  </a:lnTo>
                  <a:lnTo>
                    <a:pt x="773" y="150"/>
                  </a:lnTo>
                  <a:lnTo>
                    <a:pt x="662" y="205"/>
                  </a:lnTo>
                  <a:lnTo>
                    <a:pt x="722" y="157"/>
                  </a:lnTo>
                  <a:lnTo>
                    <a:pt x="767" y="131"/>
                  </a:lnTo>
                  <a:lnTo>
                    <a:pt x="783" y="95"/>
                  </a:lnTo>
                  <a:lnTo>
                    <a:pt x="776" y="79"/>
                  </a:lnTo>
                  <a:lnTo>
                    <a:pt x="744" y="79"/>
                  </a:lnTo>
                  <a:lnTo>
                    <a:pt x="725" y="98"/>
                  </a:lnTo>
                  <a:lnTo>
                    <a:pt x="706" y="117"/>
                  </a:lnTo>
                  <a:lnTo>
                    <a:pt x="656" y="137"/>
                  </a:lnTo>
                  <a:lnTo>
                    <a:pt x="702" y="98"/>
                  </a:lnTo>
                  <a:lnTo>
                    <a:pt x="722" y="68"/>
                  </a:lnTo>
                  <a:lnTo>
                    <a:pt x="708" y="49"/>
                  </a:lnTo>
                  <a:lnTo>
                    <a:pt x="669" y="36"/>
                  </a:lnTo>
                  <a:lnTo>
                    <a:pt x="618" y="82"/>
                  </a:lnTo>
                  <a:lnTo>
                    <a:pt x="569" y="112"/>
                  </a:lnTo>
                  <a:lnTo>
                    <a:pt x="627" y="45"/>
                  </a:lnTo>
                  <a:lnTo>
                    <a:pt x="646" y="20"/>
                  </a:lnTo>
                  <a:lnTo>
                    <a:pt x="646" y="0"/>
                  </a:lnTo>
                  <a:lnTo>
                    <a:pt x="597" y="7"/>
                  </a:lnTo>
                  <a:lnTo>
                    <a:pt x="553" y="40"/>
                  </a:lnTo>
                  <a:lnTo>
                    <a:pt x="523" y="63"/>
                  </a:lnTo>
                  <a:lnTo>
                    <a:pt x="383" y="75"/>
                  </a:lnTo>
                  <a:lnTo>
                    <a:pt x="386" y="40"/>
                  </a:lnTo>
                  <a:lnTo>
                    <a:pt x="345" y="26"/>
                  </a:lnTo>
                  <a:lnTo>
                    <a:pt x="345" y="72"/>
                  </a:lnTo>
                  <a:lnTo>
                    <a:pt x="303" y="82"/>
                  </a:lnTo>
                  <a:lnTo>
                    <a:pt x="211" y="95"/>
                  </a:lnTo>
                  <a:lnTo>
                    <a:pt x="218" y="45"/>
                  </a:lnTo>
                  <a:lnTo>
                    <a:pt x="185" y="45"/>
                  </a:lnTo>
                  <a:lnTo>
                    <a:pt x="182" y="95"/>
                  </a:lnTo>
                  <a:lnTo>
                    <a:pt x="130" y="91"/>
                  </a:lnTo>
                  <a:lnTo>
                    <a:pt x="75" y="79"/>
                  </a:lnTo>
                  <a:lnTo>
                    <a:pt x="72" y="40"/>
                  </a:lnTo>
                  <a:lnTo>
                    <a:pt x="49" y="23"/>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3" name="Freeform 146"/>
            <p:cNvSpPr>
              <a:spLocks/>
            </p:cNvSpPr>
            <p:nvPr/>
          </p:nvSpPr>
          <p:spPr bwMode="auto">
            <a:xfrm>
              <a:off x="1873923" y="3504620"/>
              <a:ext cx="40265" cy="6504"/>
            </a:xfrm>
            <a:custGeom>
              <a:avLst/>
              <a:gdLst>
                <a:gd name="T0" fmla="*/ 0 w 199"/>
                <a:gd name="T1" fmla="*/ 0 h 33"/>
                <a:gd name="T2" fmla="*/ 2147483646 w 199"/>
                <a:gd name="T3" fmla="*/ 2147483646 h 33"/>
                <a:gd name="T4" fmla="*/ 2147483646 w 199"/>
                <a:gd name="T5" fmla="*/ 2147483646 h 33"/>
                <a:gd name="T6" fmla="*/ 0 w 199"/>
                <a:gd name="T7" fmla="*/ 0 h 3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9" h="33">
                  <a:moveTo>
                    <a:pt x="0" y="0"/>
                  </a:moveTo>
                  <a:lnTo>
                    <a:pt x="93" y="33"/>
                  </a:lnTo>
                  <a:lnTo>
                    <a:pt x="199" y="2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4" name="Freeform 147"/>
            <p:cNvSpPr>
              <a:spLocks/>
            </p:cNvSpPr>
            <p:nvPr/>
          </p:nvSpPr>
          <p:spPr bwMode="auto">
            <a:xfrm>
              <a:off x="1833658" y="3494399"/>
              <a:ext cx="25166" cy="7434"/>
            </a:xfrm>
            <a:custGeom>
              <a:avLst/>
              <a:gdLst>
                <a:gd name="T0" fmla="*/ 0 w 122"/>
                <a:gd name="T1" fmla="*/ 0 h 40"/>
                <a:gd name="T2" fmla="*/ 2147483646 w 122"/>
                <a:gd name="T3" fmla="*/ 2147483646 h 40"/>
                <a:gd name="T4" fmla="*/ 2147483646 w 122"/>
                <a:gd name="T5" fmla="*/ 2147483646 h 40"/>
                <a:gd name="T6" fmla="*/ 2147483646 w 122"/>
                <a:gd name="T7" fmla="*/ 2147483646 h 40"/>
                <a:gd name="T8" fmla="*/ 0 w 122"/>
                <a:gd name="T9" fmla="*/ 0 h 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22" h="40">
                  <a:moveTo>
                    <a:pt x="0" y="0"/>
                  </a:moveTo>
                  <a:lnTo>
                    <a:pt x="32" y="25"/>
                  </a:lnTo>
                  <a:lnTo>
                    <a:pt x="122" y="38"/>
                  </a:lnTo>
                  <a:lnTo>
                    <a:pt x="30" y="40"/>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5" name="Freeform 148"/>
            <p:cNvSpPr>
              <a:spLocks/>
            </p:cNvSpPr>
            <p:nvPr/>
          </p:nvSpPr>
          <p:spPr bwMode="auto">
            <a:xfrm>
              <a:off x="1936334" y="3488824"/>
              <a:ext cx="38252" cy="18584"/>
            </a:xfrm>
            <a:custGeom>
              <a:avLst/>
              <a:gdLst>
                <a:gd name="T0" fmla="*/ 0 w 187"/>
                <a:gd name="T1" fmla="*/ 0 h 102"/>
                <a:gd name="T2" fmla="*/ 2147483646 w 187"/>
                <a:gd name="T3" fmla="*/ 2147483646 h 102"/>
                <a:gd name="T4" fmla="*/ 2147483646 w 187"/>
                <a:gd name="T5" fmla="*/ 2147483646 h 102"/>
                <a:gd name="T6" fmla="*/ 2147483646 w 187"/>
                <a:gd name="T7" fmla="*/ 2147483646 h 102"/>
                <a:gd name="T8" fmla="*/ 2147483646 w 187"/>
                <a:gd name="T9" fmla="*/ 2147483646 h 102"/>
                <a:gd name="T10" fmla="*/ 2147483646 w 187"/>
                <a:gd name="T11" fmla="*/ 2147483646 h 102"/>
                <a:gd name="T12" fmla="*/ 2147483646 w 187"/>
                <a:gd name="T13" fmla="*/ 2147483646 h 102"/>
                <a:gd name="T14" fmla="*/ 2147483646 w 187"/>
                <a:gd name="T15" fmla="*/ 2147483646 h 102"/>
                <a:gd name="T16" fmla="*/ 0 w 187"/>
                <a:gd name="T17" fmla="*/ 0 h 10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87" h="102">
                  <a:moveTo>
                    <a:pt x="0" y="0"/>
                  </a:moveTo>
                  <a:lnTo>
                    <a:pt x="84" y="9"/>
                  </a:lnTo>
                  <a:lnTo>
                    <a:pt x="101" y="23"/>
                  </a:lnTo>
                  <a:lnTo>
                    <a:pt x="101" y="54"/>
                  </a:lnTo>
                  <a:lnTo>
                    <a:pt x="106" y="89"/>
                  </a:lnTo>
                  <a:lnTo>
                    <a:pt x="187" y="102"/>
                  </a:lnTo>
                  <a:lnTo>
                    <a:pt x="90" y="98"/>
                  </a:lnTo>
                  <a:lnTo>
                    <a:pt x="7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6" name="Freeform 149"/>
            <p:cNvSpPr>
              <a:spLocks/>
            </p:cNvSpPr>
            <p:nvPr/>
          </p:nvSpPr>
          <p:spPr bwMode="auto">
            <a:xfrm>
              <a:off x="1974586" y="3531567"/>
              <a:ext cx="122808" cy="27876"/>
            </a:xfrm>
            <a:custGeom>
              <a:avLst/>
              <a:gdLst>
                <a:gd name="T0" fmla="*/ 0 w 609"/>
                <a:gd name="T1" fmla="*/ 0 h 150"/>
                <a:gd name="T2" fmla="*/ 2147483646 w 609"/>
                <a:gd name="T3" fmla="*/ 2147483646 h 150"/>
                <a:gd name="T4" fmla="*/ 2147483646 w 609"/>
                <a:gd name="T5" fmla="*/ 2147483646 h 150"/>
                <a:gd name="T6" fmla="*/ 2147483646 w 609"/>
                <a:gd name="T7" fmla="*/ 2147483646 h 150"/>
                <a:gd name="T8" fmla="*/ 2147483646 w 609"/>
                <a:gd name="T9" fmla="*/ 2147483646 h 150"/>
                <a:gd name="T10" fmla="*/ 2147483646 w 609"/>
                <a:gd name="T11" fmla="*/ 2147483646 h 150"/>
                <a:gd name="T12" fmla="*/ 2147483646 w 609"/>
                <a:gd name="T13" fmla="*/ 2147483646 h 150"/>
                <a:gd name="T14" fmla="*/ 2147483646 w 609"/>
                <a:gd name="T15" fmla="*/ 2147483646 h 150"/>
                <a:gd name="T16" fmla="*/ 2147483646 w 609"/>
                <a:gd name="T17" fmla="*/ 2147483646 h 150"/>
                <a:gd name="T18" fmla="*/ 2147483646 w 609"/>
                <a:gd name="T19" fmla="*/ 2147483646 h 150"/>
                <a:gd name="T20" fmla="*/ 2147483646 w 609"/>
                <a:gd name="T21" fmla="*/ 2147483646 h 150"/>
                <a:gd name="T22" fmla="*/ 2147483646 w 609"/>
                <a:gd name="T23" fmla="*/ 2147483646 h 150"/>
                <a:gd name="T24" fmla="*/ 2147483646 w 609"/>
                <a:gd name="T25" fmla="*/ 2147483646 h 150"/>
                <a:gd name="T26" fmla="*/ 0 w 609"/>
                <a:gd name="T27" fmla="*/ 0 h 15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609" h="150">
                  <a:moveTo>
                    <a:pt x="0" y="0"/>
                  </a:moveTo>
                  <a:lnTo>
                    <a:pt x="154" y="7"/>
                  </a:lnTo>
                  <a:lnTo>
                    <a:pt x="313" y="44"/>
                  </a:lnTo>
                  <a:lnTo>
                    <a:pt x="431" y="51"/>
                  </a:lnTo>
                  <a:lnTo>
                    <a:pt x="527" y="71"/>
                  </a:lnTo>
                  <a:lnTo>
                    <a:pt x="563" y="122"/>
                  </a:lnTo>
                  <a:lnTo>
                    <a:pt x="609" y="150"/>
                  </a:lnTo>
                  <a:lnTo>
                    <a:pt x="563" y="141"/>
                  </a:lnTo>
                  <a:lnTo>
                    <a:pt x="521" y="84"/>
                  </a:lnTo>
                  <a:lnTo>
                    <a:pt x="392" y="58"/>
                  </a:lnTo>
                  <a:lnTo>
                    <a:pt x="313" y="58"/>
                  </a:lnTo>
                  <a:lnTo>
                    <a:pt x="252" y="44"/>
                  </a:lnTo>
                  <a:lnTo>
                    <a:pt x="146" y="17"/>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7" name="Freeform 150"/>
            <p:cNvSpPr>
              <a:spLocks/>
            </p:cNvSpPr>
            <p:nvPr/>
          </p:nvSpPr>
          <p:spPr bwMode="auto">
            <a:xfrm>
              <a:off x="1851777" y="3150598"/>
              <a:ext cx="106702" cy="107786"/>
            </a:xfrm>
            <a:custGeom>
              <a:avLst/>
              <a:gdLst>
                <a:gd name="T0" fmla="*/ 2147483646 w 529"/>
                <a:gd name="T1" fmla="*/ 2147483646 h 580"/>
                <a:gd name="T2" fmla="*/ 2147483646 w 529"/>
                <a:gd name="T3" fmla="*/ 2147483646 h 580"/>
                <a:gd name="T4" fmla="*/ 2147483646 w 529"/>
                <a:gd name="T5" fmla="*/ 2147483646 h 580"/>
                <a:gd name="T6" fmla="*/ 2147483646 w 529"/>
                <a:gd name="T7" fmla="*/ 2147483646 h 580"/>
                <a:gd name="T8" fmla="*/ 2147483646 w 529"/>
                <a:gd name="T9" fmla="*/ 2147483646 h 580"/>
                <a:gd name="T10" fmla="*/ 2147483646 w 529"/>
                <a:gd name="T11" fmla="*/ 2147483646 h 580"/>
                <a:gd name="T12" fmla="*/ 2147483646 w 529"/>
                <a:gd name="T13" fmla="*/ 2147483646 h 580"/>
                <a:gd name="T14" fmla="*/ 2147483646 w 529"/>
                <a:gd name="T15" fmla="*/ 2147483646 h 580"/>
                <a:gd name="T16" fmla="*/ 2147483646 w 529"/>
                <a:gd name="T17" fmla="*/ 2147483646 h 580"/>
                <a:gd name="T18" fmla="*/ 2147483646 w 529"/>
                <a:gd name="T19" fmla="*/ 2147483646 h 580"/>
                <a:gd name="T20" fmla="*/ 2147483646 w 529"/>
                <a:gd name="T21" fmla="*/ 2147483646 h 580"/>
                <a:gd name="T22" fmla="*/ 2147483646 w 529"/>
                <a:gd name="T23" fmla="*/ 2147483646 h 580"/>
                <a:gd name="T24" fmla="*/ 2147483646 w 529"/>
                <a:gd name="T25" fmla="*/ 2147483646 h 580"/>
                <a:gd name="T26" fmla="*/ 2147483646 w 529"/>
                <a:gd name="T27" fmla="*/ 2147483646 h 580"/>
                <a:gd name="T28" fmla="*/ 2147483646 w 529"/>
                <a:gd name="T29" fmla="*/ 2147483646 h 580"/>
                <a:gd name="T30" fmla="*/ 2147483646 w 529"/>
                <a:gd name="T31" fmla="*/ 2147483646 h 580"/>
                <a:gd name="T32" fmla="*/ 2147483646 w 529"/>
                <a:gd name="T33" fmla="*/ 2147483646 h 580"/>
                <a:gd name="T34" fmla="*/ 2147483646 w 529"/>
                <a:gd name="T35" fmla="*/ 2147483646 h 580"/>
                <a:gd name="T36" fmla="*/ 2147483646 w 529"/>
                <a:gd name="T37" fmla="*/ 2147483646 h 580"/>
                <a:gd name="T38" fmla="*/ 2147483646 w 529"/>
                <a:gd name="T39" fmla="*/ 2147483646 h 580"/>
                <a:gd name="T40" fmla="*/ 2147483646 w 529"/>
                <a:gd name="T41" fmla="*/ 2147483646 h 580"/>
                <a:gd name="T42" fmla="*/ 2147483646 w 529"/>
                <a:gd name="T43" fmla="*/ 2147483646 h 580"/>
                <a:gd name="T44" fmla="*/ 2147483646 w 529"/>
                <a:gd name="T45" fmla="*/ 2147483646 h 580"/>
                <a:gd name="T46" fmla="*/ 2147483646 w 529"/>
                <a:gd name="T47" fmla="*/ 2147483646 h 580"/>
                <a:gd name="T48" fmla="*/ 2147483646 w 529"/>
                <a:gd name="T49" fmla="*/ 2147483646 h 580"/>
                <a:gd name="T50" fmla="*/ 2147483646 w 529"/>
                <a:gd name="T51" fmla="*/ 2147483646 h 580"/>
                <a:gd name="T52" fmla="*/ 2147483646 w 529"/>
                <a:gd name="T53" fmla="*/ 2147483646 h 580"/>
                <a:gd name="T54" fmla="*/ 2147483646 w 529"/>
                <a:gd name="T55" fmla="*/ 2147483646 h 580"/>
                <a:gd name="T56" fmla="*/ 2147483646 w 529"/>
                <a:gd name="T57" fmla="*/ 2147483646 h 580"/>
                <a:gd name="T58" fmla="*/ 0 w 529"/>
                <a:gd name="T59" fmla="*/ 2147483646 h 580"/>
                <a:gd name="T60" fmla="*/ 0 w 529"/>
                <a:gd name="T61" fmla="*/ 2147483646 h 580"/>
                <a:gd name="T62" fmla="*/ 2147483646 w 529"/>
                <a:gd name="T63" fmla="*/ 2147483646 h 580"/>
                <a:gd name="T64" fmla="*/ 2147483646 w 529"/>
                <a:gd name="T65" fmla="*/ 2147483646 h 580"/>
                <a:gd name="T66" fmla="*/ 2147483646 w 529"/>
                <a:gd name="T67" fmla="*/ 0 h 580"/>
                <a:gd name="T68" fmla="*/ 2147483646 w 529"/>
                <a:gd name="T69" fmla="*/ 2147483646 h 580"/>
                <a:gd name="T70" fmla="*/ 2147483646 w 529"/>
                <a:gd name="T71" fmla="*/ 2147483646 h 580"/>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529" h="580">
                  <a:moveTo>
                    <a:pt x="357" y="20"/>
                  </a:moveTo>
                  <a:lnTo>
                    <a:pt x="403" y="53"/>
                  </a:lnTo>
                  <a:lnTo>
                    <a:pt x="428" y="94"/>
                  </a:lnTo>
                  <a:lnTo>
                    <a:pt x="451" y="138"/>
                  </a:lnTo>
                  <a:lnTo>
                    <a:pt x="464" y="161"/>
                  </a:lnTo>
                  <a:lnTo>
                    <a:pt x="464" y="186"/>
                  </a:lnTo>
                  <a:lnTo>
                    <a:pt x="453" y="216"/>
                  </a:lnTo>
                  <a:lnTo>
                    <a:pt x="476" y="239"/>
                  </a:lnTo>
                  <a:lnTo>
                    <a:pt x="511" y="301"/>
                  </a:lnTo>
                  <a:lnTo>
                    <a:pt x="529" y="334"/>
                  </a:lnTo>
                  <a:lnTo>
                    <a:pt x="529" y="346"/>
                  </a:lnTo>
                  <a:lnTo>
                    <a:pt x="526" y="357"/>
                  </a:lnTo>
                  <a:lnTo>
                    <a:pt x="510" y="361"/>
                  </a:lnTo>
                  <a:lnTo>
                    <a:pt x="487" y="362"/>
                  </a:lnTo>
                  <a:lnTo>
                    <a:pt x="475" y="366"/>
                  </a:lnTo>
                  <a:lnTo>
                    <a:pt x="476" y="391"/>
                  </a:lnTo>
                  <a:lnTo>
                    <a:pt x="483" y="421"/>
                  </a:lnTo>
                  <a:lnTo>
                    <a:pt x="469" y="437"/>
                  </a:lnTo>
                  <a:lnTo>
                    <a:pt x="473" y="459"/>
                  </a:lnTo>
                  <a:lnTo>
                    <a:pt x="462" y="472"/>
                  </a:lnTo>
                  <a:lnTo>
                    <a:pt x="452" y="511"/>
                  </a:lnTo>
                  <a:lnTo>
                    <a:pt x="436" y="523"/>
                  </a:lnTo>
                  <a:lnTo>
                    <a:pt x="411" y="523"/>
                  </a:lnTo>
                  <a:lnTo>
                    <a:pt x="375" y="517"/>
                  </a:lnTo>
                  <a:lnTo>
                    <a:pt x="339" y="511"/>
                  </a:lnTo>
                  <a:lnTo>
                    <a:pt x="342" y="580"/>
                  </a:lnTo>
                  <a:lnTo>
                    <a:pt x="60" y="488"/>
                  </a:lnTo>
                  <a:lnTo>
                    <a:pt x="83" y="435"/>
                  </a:lnTo>
                  <a:lnTo>
                    <a:pt x="78" y="394"/>
                  </a:lnTo>
                  <a:lnTo>
                    <a:pt x="0" y="316"/>
                  </a:lnTo>
                  <a:lnTo>
                    <a:pt x="0" y="111"/>
                  </a:lnTo>
                  <a:lnTo>
                    <a:pt x="52" y="55"/>
                  </a:lnTo>
                  <a:lnTo>
                    <a:pt x="117" y="25"/>
                  </a:lnTo>
                  <a:lnTo>
                    <a:pt x="186" y="0"/>
                  </a:lnTo>
                  <a:lnTo>
                    <a:pt x="276" y="13"/>
                  </a:lnTo>
                  <a:lnTo>
                    <a:pt x="357" y="2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8" name="Freeform 151"/>
            <p:cNvSpPr>
              <a:spLocks/>
            </p:cNvSpPr>
            <p:nvPr/>
          </p:nvSpPr>
          <p:spPr bwMode="auto">
            <a:xfrm>
              <a:off x="1946400" y="3215641"/>
              <a:ext cx="6040" cy="929"/>
            </a:xfrm>
            <a:custGeom>
              <a:avLst/>
              <a:gdLst>
                <a:gd name="T0" fmla="*/ 2147483646 w 30"/>
                <a:gd name="T1" fmla="*/ 2147483646 h 6"/>
                <a:gd name="T2" fmla="*/ 2147483646 w 30"/>
                <a:gd name="T3" fmla="*/ 2147483646 h 6"/>
                <a:gd name="T4" fmla="*/ 2147483646 w 30"/>
                <a:gd name="T5" fmla="*/ 2147483646 h 6"/>
                <a:gd name="T6" fmla="*/ 2147483646 w 30"/>
                <a:gd name="T7" fmla="*/ 2147483646 h 6"/>
                <a:gd name="T8" fmla="*/ 0 w 30"/>
                <a:gd name="T9" fmla="*/ 2147483646 h 6"/>
                <a:gd name="T10" fmla="*/ 2147483646 w 30"/>
                <a:gd name="T11" fmla="*/ 0 h 6"/>
                <a:gd name="T12" fmla="*/ 2147483646 w 30"/>
                <a:gd name="T13" fmla="*/ 2147483646 h 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30" h="6">
                  <a:moveTo>
                    <a:pt x="30" y="2"/>
                  </a:moveTo>
                  <a:lnTo>
                    <a:pt x="23" y="6"/>
                  </a:lnTo>
                  <a:lnTo>
                    <a:pt x="8" y="5"/>
                  </a:lnTo>
                  <a:lnTo>
                    <a:pt x="2" y="6"/>
                  </a:lnTo>
                  <a:lnTo>
                    <a:pt x="0" y="1"/>
                  </a:lnTo>
                  <a:lnTo>
                    <a:pt x="9" y="0"/>
                  </a:lnTo>
                  <a:lnTo>
                    <a:pt x="3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9" name="Freeform 152"/>
            <p:cNvSpPr>
              <a:spLocks/>
            </p:cNvSpPr>
            <p:nvPr/>
          </p:nvSpPr>
          <p:spPr bwMode="auto">
            <a:xfrm>
              <a:off x="1944387" y="3211925"/>
              <a:ext cx="2013" cy="3717"/>
            </a:xfrm>
            <a:custGeom>
              <a:avLst/>
              <a:gdLst>
                <a:gd name="T0" fmla="*/ 2147483646 w 11"/>
                <a:gd name="T1" fmla="*/ 0 h 22"/>
                <a:gd name="T2" fmla="*/ 2147483646 w 11"/>
                <a:gd name="T3" fmla="*/ 2147483646 h 22"/>
                <a:gd name="T4" fmla="*/ 2147483646 w 11"/>
                <a:gd name="T5" fmla="*/ 2147483646 h 22"/>
                <a:gd name="T6" fmla="*/ 2147483646 w 11"/>
                <a:gd name="T7" fmla="*/ 2147483646 h 22"/>
                <a:gd name="T8" fmla="*/ 0 w 11"/>
                <a:gd name="T9" fmla="*/ 2147483646 h 22"/>
                <a:gd name="T10" fmla="*/ 0 w 11"/>
                <a:gd name="T11" fmla="*/ 2147483646 h 22"/>
                <a:gd name="T12" fmla="*/ 2147483646 w 11"/>
                <a:gd name="T13" fmla="*/ 0 h 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1" h="22">
                  <a:moveTo>
                    <a:pt x="11" y="0"/>
                  </a:moveTo>
                  <a:lnTo>
                    <a:pt x="3" y="6"/>
                  </a:lnTo>
                  <a:lnTo>
                    <a:pt x="3" y="12"/>
                  </a:lnTo>
                  <a:lnTo>
                    <a:pt x="2" y="22"/>
                  </a:lnTo>
                  <a:lnTo>
                    <a:pt x="0" y="8"/>
                  </a:lnTo>
                  <a:lnTo>
                    <a:pt x="0" y="1"/>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0" name="Freeform 153"/>
            <p:cNvSpPr>
              <a:spLocks/>
            </p:cNvSpPr>
            <p:nvPr/>
          </p:nvSpPr>
          <p:spPr bwMode="auto">
            <a:xfrm>
              <a:off x="1939354" y="3198916"/>
              <a:ext cx="3020" cy="7434"/>
            </a:xfrm>
            <a:custGeom>
              <a:avLst/>
              <a:gdLst>
                <a:gd name="T0" fmla="*/ 0 w 13"/>
                <a:gd name="T1" fmla="*/ 0 h 42"/>
                <a:gd name="T2" fmla="*/ 2147483646 w 13"/>
                <a:gd name="T3" fmla="*/ 2147483646 h 42"/>
                <a:gd name="T4" fmla="*/ 2147483646 w 13"/>
                <a:gd name="T5" fmla="*/ 2147483646 h 42"/>
                <a:gd name="T6" fmla="*/ 2147483646 w 13"/>
                <a:gd name="T7" fmla="*/ 2147483646 h 42"/>
                <a:gd name="T8" fmla="*/ 0 w 13"/>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42">
                  <a:moveTo>
                    <a:pt x="0" y="0"/>
                  </a:moveTo>
                  <a:lnTo>
                    <a:pt x="9" y="24"/>
                  </a:lnTo>
                  <a:lnTo>
                    <a:pt x="13" y="42"/>
                  </a:lnTo>
                  <a:lnTo>
                    <a:pt x="6" y="3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1" name="Freeform 154"/>
            <p:cNvSpPr>
              <a:spLocks/>
            </p:cNvSpPr>
            <p:nvPr/>
          </p:nvSpPr>
          <p:spPr bwMode="auto">
            <a:xfrm>
              <a:off x="1928281" y="3190553"/>
              <a:ext cx="12080" cy="6504"/>
            </a:xfrm>
            <a:custGeom>
              <a:avLst/>
              <a:gdLst>
                <a:gd name="T0" fmla="*/ 2147483646 w 56"/>
                <a:gd name="T1" fmla="*/ 0 h 36"/>
                <a:gd name="T2" fmla="*/ 2147483646 w 56"/>
                <a:gd name="T3" fmla="*/ 2147483646 h 36"/>
                <a:gd name="T4" fmla="*/ 2147483646 w 56"/>
                <a:gd name="T5" fmla="*/ 2147483646 h 36"/>
                <a:gd name="T6" fmla="*/ 2147483646 w 56"/>
                <a:gd name="T7" fmla="*/ 2147483646 h 36"/>
                <a:gd name="T8" fmla="*/ 2147483646 w 56"/>
                <a:gd name="T9" fmla="*/ 2147483646 h 36"/>
                <a:gd name="T10" fmla="*/ 2147483646 w 56"/>
                <a:gd name="T11" fmla="*/ 2147483646 h 36"/>
                <a:gd name="T12" fmla="*/ 2147483646 w 56"/>
                <a:gd name="T13" fmla="*/ 2147483646 h 36"/>
                <a:gd name="T14" fmla="*/ 2147483646 w 56"/>
                <a:gd name="T15" fmla="*/ 2147483646 h 36"/>
                <a:gd name="T16" fmla="*/ 0 w 56"/>
                <a:gd name="T17" fmla="*/ 2147483646 h 36"/>
                <a:gd name="T18" fmla="*/ 2147483646 w 56"/>
                <a:gd name="T19" fmla="*/ 2147483646 h 36"/>
                <a:gd name="T20" fmla="*/ 2147483646 w 56"/>
                <a:gd name="T21" fmla="*/ 0 h 36"/>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56" h="36">
                  <a:moveTo>
                    <a:pt x="56" y="0"/>
                  </a:moveTo>
                  <a:lnTo>
                    <a:pt x="45" y="20"/>
                  </a:lnTo>
                  <a:lnTo>
                    <a:pt x="47" y="26"/>
                  </a:lnTo>
                  <a:lnTo>
                    <a:pt x="47" y="29"/>
                  </a:lnTo>
                  <a:lnTo>
                    <a:pt x="51" y="36"/>
                  </a:lnTo>
                  <a:lnTo>
                    <a:pt x="43" y="24"/>
                  </a:lnTo>
                  <a:lnTo>
                    <a:pt x="32" y="24"/>
                  </a:lnTo>
                  <a:lnTo>
                    <a:pt x="20" y="20"/>
                  </a:lnTo>
                  <a:lnTo>
                    <a:pt x="0" y="19"/>
                  </a:lnTo>
                  <a:lnTo>
                    <a:pt x="20" y="7"/>
                  </a:lnTo>
                  <a:lnTo>
                    <a:pt x="56"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2" name="Freeform 155"/>
            <p:cNvSpPr>
              <a:spLocks/>
            </p:cNvSpPr>
            <p:nvPr/>
          </p:nvSpPr>
          <p:spPr bwMode="auto">
            <a:xfrm>
              <a:off x="1923247" y="3180333"/>
              <a:ext cx="20133" cy="6505"/>
            </a:xfrm>
            <a:custGeom>
              <a:avLst/>
              <a:gdLst>
                <a:gd name="T0" fmla="*/ 2147483646 w 96"/>
                <a:gd name="T1" fmla="*/ 2147483646 h 34"/>
                <a:gd name="T2" fmla="*/ 2147483646 w 96"/>
                <a:gd name="T3" fmla="*/ 2147483646 h 34"/>
                <a:gd name="T4" fmla="*/ 2147483646 w 96"/>
                <a:gd name="T5" fmla="*/ 2147483646 h 34"/>
                <a:gd name="T6" fmla="*/ 2147483646 w 96"/>
                <a:gd name="T7" fmla="*/ 2147483646 h 34"/>
                <a:gd name="T8" fmla="*/ 2147483646 w 96"/>
                <a:gd name="T9" fmla="*/ 2147483646 h 34"/>
                <a:gd name="T10" fmla="*/ 2147483646 w 96"/>
                <a:gd name="T11" fmla="*/ 2147483646 h 34"/>
                <a:gd name="T12" fmla="*/ 0 w 96"/>
                <a:gd name="T13" fmla="*/ 2147483646 h 34"/>
                <a:gd name="T14" fmla="*/ 2147483646 w 96"/>
                <a:gd name="T15" fmla="*/ 2147483646 h 34"/>
                <a:gd name="T16" fmla="*/ 2147483646 w 96"/>
                <a:gd name="T17" fmla="*/ 2147483646 h 34"/>
                <a:gd name="T18" fmla="*/ 2147483646 w 96"/>
                <a:gd name="T19" fmla="*/ 0 h 34"/>
                <a:gd name="T20" fmla="*/ 2147483646 w 96"/>
                <a:gd name="T21" fmla="*/ 2147483646 h 34"/>
                <a:gd name="T22" fmla="*/ 2147483646 w 96"/>
                <a:gd name="T23" fmla="*/ 2147483646 h 34"/>
                <a:gd name="T24" fmla="*/ 2147483646 w 96"/>
                <a:gd name="T25" fmla="*/ 2147483646 h 34"/>
                <a:gd name="T26" fmla="*/ 2147483646 w 96"/>
                <a:gd name="T27" fmla="*/ 2147483646 h 34"/>
                <a:gd name="T28" fmla="*/ 2147483646 w 96"/>
                <a:gd name="T29" fmla="*/ 2147483646 h 3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96" h="34">
                  <a:moveTo>
                    <a:pt x="96" y="17"/>
                  </a:moveTo>
                  <a:lnTo>
                    <a:pt x="92" y="29"/>
                  </a:lnTo>
                  <a:lnTo>
                    <a:pt x="81" y="34"/>
                  </a:lnTo>
                  <a:lnTo>
                    <a:pt x="66" y="24"/>
                  </a:lnTo>
                  <a:lnTo>
                    <a:pt x="47" y="17"/>
                  </a:lnTo>
                  <a:lnTo>
                    <a:pt x="15" y="17"/>
                  </a:lnTo>
                  <a:lnTo>
                    <a:pt x="0" y="18"/>
                  </a:lnTo>
                  <a:lnTo>
                    <a:pt x="24" y="9"/>
                  </a:lnTo>
                  <a:lnTo>
                    <a:pt x="41" y="4"/>
                  </a:lnTo>
                  <a:lnTo>
                    <a:pt x="39" y="0"/>
                  </a:lnTo>
                  <a:lnTo>
                    <a:pt x="56" y="7"/>
                  </a:lnTo>
                  <a:lnTo>
                    <a:pt x="54" y="2"/>
                  </a:lnTo>
                  <a:lnTo>
                    <a:pt x="68" y="9"/>
                  </a:lnTo>
                  <a:lnTo>
                    <a:pt x="79" y="9"/>
                  </a:lnTo>
                  <a:lnTo>
                    <a:pt x="96" y="1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3" name="Freeform 156"/>
            <p:cNvSpPr>
              <a:spLocks/>
            </p:cNvSpPr>
            <p:nvPr/>
          </p:nvSpPr>
          <p:spPr bwMode="auto">
            <a:xfrm>
              <a:off x="1888016" y="3189625"/>
              <a:ext cx="11073" cy="20442"/>
            </a:xfrm>
            <a:custGeom>
              <a:avLst/>
              <a:gdLst>
                <a:gd name="T0" fmla="*/ 2147483646 w 56"/>
                <a:gd name="T1" fmla="*/ 2147483646 h 113"/>
                <a:gd name="T2" fmla="*/ 2147483646 w 56"/>
                <a:gd name="T3" fmla="*/ 2147483646 h 113"/>
                <a:gd name="T4" fmla="*/ 2147483646 w 56"/>
                <a:gd name="T5" fmla="*/ 2147483646 h 113"/>
                <a:gd name="T6" fmla="*/ 2147483646 w 56"/>
                <a:gd name="T7" fmla="*/ 2147483646 h 113"/>
                <a:gd name="T8" fmla="*/ 2147483646 w 56"/>
                <a:gd name="T9" fmla="*/ 2147483646 h 113"/>
                <a:gd name="T10" fmla="*/ 2147483646 w 56"/>
                <a:gd name="T11" fmla="*/ 2147483646 h 113"/>
                <a:gd name="T12" fmla="*/ 2147483646 w 56"/>
                <a:gd name="T13" fmla="*/ 2147483646 h 113"/>
                <a:gd name="T14" fmla="*/ 2147483646 w 56"/>
                <a:gd name="T15" fmla="*/ 2147483646 h 113"/>
                <a:gd name="T16" fmla="*/ 2147483646 w 56"/>
                <a:gd name="T17" fmla="*/ 2147483646 h 113"/>
                <a:gd name="T18" fmla="*/ 2147483646 w 56"/>
                <a:gd name="T19" fmla="*/ 2147483646 h 113"/>
                <a:gd name="T20" fmla="*/ 2147483646 w 56"/>
                <a:gd name="T21" fmla="*/ 2147483646 h 113"/>
                <a:gd name="T22" fmla="*/ 2147483646 w 56"/>
                <a:gd name="T23" fmla="*/ 2147483646 h 113"/>
                <a:gd name="T24" fmla="*/ 2147483646 w 56"/>
                <a:gd name="T25" fmla="*/ 2147483646 h 113"/>
                <a:gd name="T26" fmla="*/ 2147483646 w 56"/>
                <a:gd name="T27" fmla="*/ 2147483646 h 113"/>
                <a:gd name="T28" fmla="*/ 2147483646 w 56"/>
                <a:gd name="T29" fmla="*/ 2147483646 h 113"/>
                <a:gd name="T30" fmla="*/ 2147483646 w 56"/>
                <a:gd name="T31" fmla="*/ 2147483646 h 113"/>
                <a:gd name="T32" fmla="*/ 2147483646 w 56"/>
                <a:gd name="T33" fmla="*/ 2147483646 h 113"/>
                <a:gd name="T34" fmla="*/ 0 w 56"/>
                <a:gd name="T35" fmla="*/ 2147483646 h 113"/>
                <a:gd name="T36" fmla="*/ 2147483646 w 56"/>
                <a:gd name="T37" fmla="*/ 2147483646 h 113"/>
                <a:gd name="T38" fmla="*/ 2147483646 w 56"/>
                <a:gd name="T39" fmla="*/ 2147483646 h 113"/>
                <a:gd name="T40" fmla="*/ 2147483646 w 56"/>
                <a:gd name="T41" fmla="*/ 0 h 113"/>
                <a:gd name="T42" fmla="*/ 2147483646 w 56"/>
                <a:gd name="T43" fmla="*/ 2147483646 h 113"/>
                <a:gd name="T44" fmla="*/ 2147483646 w 56"/>
                <a:gd name="T45" fmla="*/ 2147483646 h 11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56" h="113">
                  <a:moveTo>
                    <a:pt x="56" y="21"/>
                  </a:moveTo>
                  <a:lnTo>
                    <a:pt x="39" y="8"/>
                  </a:lnTo>
                  <a:lnTo>
                    <a:pt x="19" y="11"/>
                  </a:lnTo>
                  <a:lnTo>
                    <a:pt x="8" y="29"/>
                  </a:lnTo>
                  <a:lnTo>
                    <a:pt x="6" y="55"/>
                  </a:lnTo>
                  <a:lnTo>
                    <a:pt x="8" y="75"/>
                  </a:lnTo>
                  <a:lnTo>
                    <a:pt x="15" y="91"/>
                  </a:lnTo>
                  <a:lnTo>
                    <a:pt x="24" y="66"/>
                  </a:lnTo>
                  <a:lnTo>
                    <a:pt x="35" y="52"/>
                  </a:lnTo>
                  <a:lnTo>
                    <a:pt x="53" y="42"/>
                  </a:lnTo>
                  <a:lnTo>
                    <a:pt x="38" y="62"/>
                  </a:lnTo>
                  <a:lnTo>
                    <a:pt x="22" y="79"/>
                  </a:lnTo>
                  <a:lnTo>
                    <a:pt x="21" y="95"/>
                  </a:lnTo>
                  <a:lnTo>
                    <a:pt x="28" y="110"/>
                  </a:lnTo>
                  <a:lnTo>
                    <a:pt x="37" y="113"/>
                  </a:lnTo>
                  <a:lnTo>
                    <a:pt x="14" y="107"/>
                  </a:lnTo>
                  <a:lnTo>
                    <a:pt x="2" y="83"/>
                  </a:lnTo>
                  <a:lnTo>
                    <a:pt x="0" y="52"/>
                  </a:lnTo>
                  <a:lnTo>
                    <a:pt x="2" y="24"/>
                  </a:lnTo>
                  <a:lnTo>
                    <a:pt x="15" y="5"/>
                  </a:lnTo>
                  <a:lnTo>
                    <a:pt x="32" y="0"/>
                  </a:lnTo>
                  <a:lnTo>
                    <a:pt x="48" y="3"/>
                  </a:lnTo>
                  <a:lnTo>
                    <a:pt x="56" y="2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4" name="Freeform 157"/>
            <p:cNvSpPr>
              <a:spLocks/>
            </p:cNvSpPr>
            <p:nvPr/>
          </p:nvSpPr>
          <p:spPr bwMode="auto">
            <a:xfrm>
              <a:off x="1883990" y="3185908"/>
              <a:ext cx="18119" cy="28805"/>
            </a:xfrm>
            <a:custGeom>
              <a:avLst/>
              <a:gdLst>
                <a:gd name="T0" fmla="*/ 2147483646 w 91"/>
                <a:gd name="T1" fmla="*/ 2147483646 h 153"/>
                <a:gd name="T2" fmla="*/ 2147483646 w 91"/>
                <a:gd name="T3" fmla="*/ 2147483646 h 153"/>
                <a:gd name="T4" fmla="*/ 2147483646 w 91"/>
                <a:gd name="T5" fmla="*/ 2147483646 h 153"/>
                <a:gd name="T6" fmla="*/ 2147483646 w 91"/>
                <a:gd name="T7" fmla="*/ 2147483646 h 153"/>
                <a:gd name="T8" fmla="*/ 2147483646 w 91"/>
                <a:gd name="T9" fmla="*/ 2147483646 h 153"/>
                <a:gd name="T10" fmla="*/ 2147483646 w 91"/>
                <a:gd name="T11" fmla="*/ 2147483646 h 153"/>
                <a:gd name="T12" fmla="*/ 2147483646 w 91"/>
                <a:gd name="T13" fmla="*/ 2147483646 h 153"/>
                <a:gd name="T14" fmla="*/ 2147483646 w 91"/>
                <a:gd name="T15" fmla="*/ 2147483646 h 153"/>
                <a:gd name="T16" fmla="*/ 2147483646 w 91"/>
                <a:gd name="T17" fmla="*/ 2147483646 h 153"/>
                <a:gd name="T18" fmla="*/ 2147483646 w 91"/>
                <a:gd name="T19" fmla="*/ 2147483646 h 153"/>
                <a:gd name="T20" fmla="*/ 2147483646 w 91"/>
                <a:gd name="T21" fmla="*/ 2147483646 h 153"/>
                <a:gd name="T22" fmla="*/ 2147483646 w 91"/>
                <a:gd name="T23" fmla="*/ 2147483646 h 153"/>
                <a:gd name="T24" fmla="*/ 2147483646 w 91"/>
                <a:gd name="T25" fmla="*/ 2147483646 h 153"/>
                <a:gd name="T26" fmla="*/ 2147483646 w 91"/>
                <a:gd name="T27" fmla="*/ 2147483646 h 153"/>
                <a:gd name="T28" fmla="*/ 2147483646 w 91"/>
                <a:gd name="T29" fmla="*/ 2147483646 h 153"/>
                <a:gd name="T30" fmla="*/ 2147483646 w 91"/>
                <a:gd name="T31" fmla="*/ 2147483646 h 153"/>
                <a:gd name="T32" fmla="*/ 2147483646 w 91"/>
                <a:gd name="T33" fmla="*/ 2147483646 h 153"/>
                <a:gd name="T34" fmla="*/ 2147483646 w 91"/>
                <a:gd name="T35" fmla="*/ 2147483646 h 153"/>
                <a:gd name="T36" fmla="*/ 2147483646 w 91"/>
                <a:gd name="T37" fmla="*/ 2147483646 h 153"/>
                <a:gd name="T38" fmla="*/ 0 w 91"/>
                <a:gd name="T39" fmla="*/ 2147483646 h 153"/>
                <a:gd name="T40" fmla="*/ 0 w 91"/>
                <a:gd name="T41" fmla="*/ 2147483646 h 153"/>
                <a:gd name="T42" fmla="*/ 2147483646 w 91"/>
                <a:gd name="T43" fmla="*/ 2147483646 h 153"/>
                <a:gd name="T44" fmla="*/ 2147483646 w 91"/>
                <a:gd name="T45" fmla="*/ 2147483646 h 153"/>
                <a:gd name="T46" fmla="*/ 2147483646 w 91"/>
                <a:gd name="T47" fmla="*/ 0 h 153"/>
                <a:gd name="T48" fmla="*/ 2147483646 w 91"/>
                <a:gd name="T49" fmla="*/ 2147483646 h 153"/>
                <a:gd name="T50" fmla="*/ 2147483646 w 91"/>
                <a:gd name="T51" fmla="*/ 2147483646 h 153"/>
                <a:gd name="T52" fmla="*/ 2147483646 w 91"/>
                <a:gd name="T53" fmla="*/ 2147483646 h 153"/>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91" h="153">
                  <a:moveTo>
                    <a:pt x="91" y="38"/>
                  </a:moveTo>
                  <a:lnTo>
                    <a:pt x="76" y="13"/>
                  </a:lnTo>
                  <a:lnTo>
                    <a:pt x="54" y="7"/>
                  </a:lnTo>
                  <a:lnTo>
                    <a:pt x="24" y="12"/>
                  </a:lnTo>
                  <a:lnTo>
                    <a:pt x="14" y="25"/>
                  </a:lnTo>
                  <a:lnTo>
                    <a:pt x="7" y="48"/>
                  </a:lnTo>
                  <a:lnTo>
                    <a:pt x="7" y="66"/>
                  </a:lnTo>
                  <a:lnTo>
                    <a:pt x="11" y="79"/>
                  </a:lnTo>
                  <a:lnTo>
                    <a:pt x="11" y="98"/>
                  </a:lnTo>
                  <a:lnTo>
                    <a:pt x="15" y="120"/>
                  </a:lnTo>
                  <a:lnTo>
                    <a:pt x="34" y="142"/>
                  </a:lnTo>
                  <a:lnTo>
                    <a:pt x="47" y="142"/>
                  </a:lnTo>
                  <a:lnTo>
                    <a:pt x="63" y="142"/>
                  </a:lnTo>
                  <a:lnTo>
                    <a:pt x="63" y="144"/>
                  </a:lnTo>
                  <a:lnTo>
                    <a:pt x="51" y="153"/>
                  </a:lnTo>
                  <a:lnTo>
                    <a:pt x="36" y="151"/>
                  </a:lnTo>
                  <a:lnTo>
                    <a:pt x="19" y="144"/>
                  </a:lnTo>
                  <a:lnTo>
                    <a:pt x="6" y="121"/>
                  </a:lnTo>
                  <a:lnTo>
                    <a:pt x="5" y="86"/>
                  </a:lnTo>
                  <a:lnTo>
                    <a:pt x="0" y="62"/>
                  </a:lnTo>
                  <a:lnTo>
                    <a:pt x="0" y="41"/>
                  </a:lnTo>
                  <a:lnTo>
                    <a:pt x="9" y="23"/>
                  </a:lnTo>
                  <a:lnTo>
                    <a:pt x="18" y="7"/>
                  </a:lnTo>
                  <a:lnTo>
                    <a:pt x="42" y="0"/>
                  </a:lnTo>
                  <a:lnTo>
                    <a:pt x="76" y="5"/>
                  </a:lnTo>
                  <a:lnTo>
                    <a:pt x="89" y="13"/>
                  </a:lnTo>
                  <a:lnTo>
                    <a:pt x="91" y="3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5" name="Freeform 158"/>
            <p:cNvSpPr>
              <a:spLocks/>
            </p:cNvSpPr>
            <p:nvPr/>
          </p:nvSpPr>
          <p:spPr bwMode="auto">
            <a:xfrm>
              <a:off x="1895063" y="3216571"/>
              <a:ext cx="17112" cy="24159"/>
            </a:xfrm>
            <a:custGeom>
              <a:avLst/>
              <a:gdLst>
                <a:gd name="T0" fmla="*/ 0 w 83"/>
                <a:gd name="T1" fmla="*/ 0 h 127"/>
                <a:gd name="T2" fmla="*/ 2147483646 w 83"/>
                <a:gd name="T3" fmla="*/ 2147483646 h 127"/>
                <a:gd name="T4" fmla="*/ 2147483646 w 83"/>
                <a:gd name="T5" fmla="*/ 2147483646 h 127"/>
                <a:gd name="T6" fmla="*/ 2147483646 w 83"/>
                <a:gd name="T7" fmla="*/ 2147483646 h 127"/>
                <a:gd name="T8" fmla="*/ 2147483646 w 83"/>
                <a:gd name="T9" fmla="*/ 2147483646 h 127"/>
                <a:gd name="T10" fmla="*/ 2147483646 w 83"/>
                <a:gd name="T11" fmla="*/ 2147483646 h 127"/>
                <a:gd name="T12" fmla="*/ 2147483646 w 83"/>
                <a:gd name="T13" fmla="*/ 2147483646 h 127"/>
                <a:gd name="T14" fmla="*/ 2147483646 w 83"/>
                <a:gd name="T15" fmla="*/ 2147483646 h 127"/>
                <a:gd name="T16" fmla="*/ 2147483646 w 83"/>
                <a:gd name="T17" fmla="*/ 2147483646 h 127"/>
                <a:gd name="T18" fmla="*/ 0 w 83"/>
                <a:gd name="T19" fmla="*/ 0 h 12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83" h="127">
                  <a:moveTo>
                    <a:pt x="0" y="0"/>
                  </a:moveTo>
                  <a:lnTo>
                    <a:pt x="10" y="27"/>
                  </a:lnTo>
                  <a:lnTo>
                    <a:pt x="27" y="57"/>
                  </a:lnTo>
                  <a:lnTo>
                    <a:pt x="45" y="83"/>
                  </a:lnTo>
                  <a:lnTo>
                    <a:pt x="70" y="116"/>
                  </a:lnTo>
                  <a:lnTo>
                    <a:pt x="83" y="127"/>
                  </a:lnTo>
                  <a:lnTo>
                    <a:pt x="55" y="113"/>
                  </a:lnTo>
                  <a:lnTo>
                    <a:pt x="33" y="82"/>
                  </a:lnTo>
                  <a:lnTo>
                    <a:pt x="12" y="46"/>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6" name="Freeform 159"/>
            <p:cNvSpPr>
              <a:spLocks/>
            </p:cNvSpPr>
            <p:nvPr/>
          </p:nvSpPr>
          <p:spPr bwMode="auto">
            <a:xfrm>
              <a:off x="1843725" y="3135731"/>
              <a:ext cx="95630" cy="89202"/>
            </a:xfrm>
            <a:custGeom>
              <a:avLst/>
              <a:gdLst>
                <a:gd name="T0" fmla="*/ 2147483646 w 478"/>
                <a:gd name="T1" fmla="*/ 2147483646 h 480"/>
                <a:gd name="T2" fmla="*/ 2147483646 w 478"/>
                <a:gd name="T3" fmla="*/ 2147483646 h 480"/>
                <a:gd name="T4" fmla="*/ 2147483646 w 478"/>
                <a:gd name="T5" fmla="*/ 2147483646 h 480"/>
                <a:gd name="T6" fmla="*/ 2147483646 w 478"/>
                <a:gd name="T7" fmla="*/ 2147483646 h 480"/>
                <a:gd name="T8" fmla="*/ 2147483646 w 478"/>
                <a:gd name="T9" fmla="*/ 2147483646 h 480"/>
                <a:gd name="T10" fmla="*/ 2147483646 w 478"/>
                <a:gd name="T11" fmla="*/ 2147483646 h 480"/>
                <a:gd name="T12" fmla="*/ 2147483646 w 478"/>
                <a:gd name="T13" fmla="*/ 2147483646 h 480"/>
                <a:gd name="T14" fmla="*/ 2147483646 w 478"/>
                <a:gd name="T15" fmla="*/ 2147483646 h 480"/>
                <a:gd name="T16" fmla="*/ 2147483646 w 478"/>
                <a:gd name="T17" fmla="*/ 2147483646 h 480"/>
                <a:gd name="T18" fmla="*/ 2147483646 w 478"/>
                <a:gd name="T19" fmla="*/ 2147483646 h 480"/>
                <a:gd name="T20" fmla="*/ 2147483646 w 478"/>
                <a:gd name="T21" fmla="*/ 2147483646 h 480"/>
                <a:gd name="T22" fmla="*/ 2147483646 w 478"/>
                <a:gd name="T23" fmla="*/ 2147483646 h 480"/>
                <a:gd name="T24" fmla="*/ 2147483646 w 478"/>
                <a:gd name="T25" fmla="*/ 2147483646 h 480"/>
                <a:gd name="T26" fmla="*/ 2147483646 w 478"/>
                <a:gd name="T27" fmla="*/ 2147483646 h 480"/>
                <a:gd name="T28" fmla="*/ 2147483646 w 478"/>
                <a:gd name="T29" fmla="*/ 2147483646 h 480"/>
                <a:gd name="T30" fmla="*/ 2147483646 w 478"/>
                <a:gd name="T31" fmla="*/ 2147483646 h 480"/>
                <a:gd name="T32" fmla="*/ 2147483646 w 478"/>
                <a:gd name="T33" fmla="*/ 2147483646 h 480"/>
                <a:gd name="T34" fmla="*/ 2147483646 w 478"/>
                <a:gd name="T35" fmla="*/ 2147483646 h 480"/>
                <a:gd name="T36" fmla="*/ 2147483646 w 478"/>
                <a:gd name="T37" fmla="*/ 2147483646 h 480"/>
                <a:gd name="T38" fmla="*/ 2147483646 w 478"/>
                <a:gd name="T39" fmla="*/ 2147483646 h 480"/>
                <a:gd name="T40" fmla="*/ 2147483646 w 478"/>
                <a:gd name="T41" fmla="*/ 2147483646 h 480"/>
                <a:gd name="T42" fmla="*/ 2147483646 w 478"/>
                <a:gd name="T43" fmla="*/ 2147483646 h 480"/>
                <a:gd name="T44" fmla="*/ 2147483646 w 478"/>
                <a:gd name="T45" fmla="*/ 2147483646 h 480"/>
                <a:gd name="T46" fmla="*/ 2147483646 w 478"/>
                <a:gd name="T47" fmla="*/ 2147483646 h 480"/>
                <a:gd name="T48" fmla="*/ 2147483646 w 478"/>
                <a:gd name="T49" fmla="*/ 2147483646 h 480"/>
                <a:gd name="T50" fmla="*/ 0 w 478"/>
                <a:gd name="T51" fmla="*/ 2147483646 h 480"/>
                <a:gd name="T52" fmla="*/ 2147483646 w 478"/>
                <a:gd name="T53" fmla="*/ 2147483646 h 480"/>
                <a:gd name="T54" fmla="*/ 2147483646 w 478"/>
                <a:gd name="T55" fmla="*/ 2147483646 h 480"/>
                <a:gd name="T56" fmla="*/ 2147483646 w 478"/>
                <a:gd name="T57" fmla="*/ 2147483646 h 480"/>
                <a:gd name="T58" fmla="*/ 2147483646 w 478"/>
                <a:gd name="T59" fmla="*/ 2147483646 h 480"/>
                <a:gd name="T60" fmla="*/ 2147483646 w 478"/>
                <a:gd name="T61" fmla="*/ 0 h 480"/>
                <a:gd name="T62" fmla="*/ 2147483646 w 478"/>
                <a:gd name="T63" fmla="*/ 2147483646 h 480"/>
                <a:gd name="T64" fmla="*/ 2147483646 w 478"/>
                <a:gd name="T65" fmla="*/ 2147483646 h 480"/>
                <a:gd name="T66" fmla="*/ 2147483646 w 478"/>
                <a:gd name="T67" fmla="*/ 2147483646 h 480"/>
                <a:gd name="T68" fmla="*/ 2147483646 w 478"/>
                <a:gd name="T69" fmla="*/ 2147483646 h 480"/>
                <a:gd name="T70" fmla="*/ 2147483646 w 478"/>
                <a:gd name="T71" fmla="*/ 2147483646 h 480"/>
                <a:gd name="T72" fmla="*/ 2147483646 w 478"/>
                <a:gd name="T73" fmla="*/ 2147483646 h 480"/>
                <a:gd name="T74" fmla="*/ 2147483646 w 478"/>
                <a:gd name="T75" fmla="*/ 2147483646 h 48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478" h="480">
                  <a:moveTo>
                    <a:pt x="440" y="138"/>
                  </a:moveTo>
                  <a:lnTo>
                    <a:pt x="367" y="127"/>
                  </a:lnTo>
                  <a:lnTo>
                    <a:pt x="320" y="133"/>
                  </a:lnTo>
                  <a:lnTo>
                    <a:pt x="290" y="168"/>
                  </a:lnTo>
                  <a:lnTo>
                    <a:pt x="308" y="209"/>
                  </a:lnTo>
                  <a:lnTo>
                    <a:pt x="331" y="224"/>
                  </a:lnTo>
                  <a:lnTo>
                    <a:pt x="338" y="262"/>
                  </a:lnTo>
                  <a:lnTo>
                    <a:pt x="324" y="287"/>
                  </a:lnTo>
                  <a:lnTo>
                    <a:pt x="335" y="325"/>
                  </a:lnTo>
                  <a:lnTo>
                    <a:pt x="306" y="325"/>
                  </a:lnTo>
                  <a:lnTo>
                    <a:pt x="298" y="282"/>
                  </a:lnTo>
                  <a:lnTo>
                    <a:pt x="280" y="262"/>
                  </a:lnTo>
                  <a:lnTo>
                    <a:pt x="243" y="262"/>
                  </a:lnTo>
                  <a:lnTo>
                    <a:pt x="209" y="271"/>
                  </a:lnTo>
                  <a:lnTo>
                    <a:pt x="197" y="301"/>
                  </a:lnTo>
                  <a:lnTo>
                    <a:pt x="193" y="341"/>
                  </a:lnTo>
                  <a:lnTo>
                    <a:pt x="197" y="370"/>
                  </a:lnTo>
                  <a:lnTo>
                    <a:pt x="197" y="391"/>
                  </a:lnTo>
                  <a:lnTo>
                    <a:pt x="195" y="416"/>
                  </a:lnTo>
                  <a:lnTo>
                    <a:pt x="172" y="439"/>
                  </a:lnTo>
                  <a:lnTo>
                    <a:pt x="156" y="453"/>
                  </a:lnTo>
                  <a:lnTo>
                    <a:pt x="115" y="480"/>
                  </a:lnTo>
                  <a:lnTo>
                    <a:pt x="37" y="399"/>
                  </a:lnTo>
                  <a:lnTo>
                    <a:pt x="14" y="334"/>
                  </a:lnTo>
                  <a:lnTo>
                    <a:pt x="5" y="229"/>
                  </a:lnTo>
                  <a:lnTo>
                    <a:pt x="0" y="154"/>
                  </a:lnTo>
                  <a:lnTo>
                    <a:pt x="9" y="82"/>
                  </a:lnTo>
                  <a:lnTo>
                    <a:pt x="30" y="42"/>
                  </a:lnTo>
                  <a:lnTo>
                    <a:pt x="78" y="15"/>
                  </a:lnTo>
                  <a:lnTo>
                    <a:pt x="121" y="7"/>
                  </a:lnTo>
                  <a:lnTo>
                    <a:pt x="204" y="0"/>
                  </a:lnTo>
                  <a:lnTo>
                    <a:pt x="285" y="5"/>
                  </a:lnTo>
                  <a:lnTo>
                    <a:pt x="387" y="22"/>
                  </a:lnTo>
                  <a:lnTo>
                    <a:pt x="432" y="44"/>
                  </a:lnTo>
                  <a:lnTo>
                    <a:pt x="455" y="67"/>
                  </a:lnTo>
                  <a:lnTo>
                    <a:pt x="478" y="102"/>
                  </a:lnTo>
                  <a:lnTo>
                    <a:pt x="475" y="120"/>
                  </a:lnTo>
                  <a:lnTo>
                    <a:pt x="440" y="138"/>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7" name="Freeform 160"/>
            <p:cNvSpPr>
              <a:spLocks/>
            </p:cNvSpPr>
            <p:nvPr/>
          </p:nvSpPr>
          <p:spPr bwMode="auto">
            <a:xfrm>
              <a:off x="1845737" y="3136660"/>
              <a:ext cx="91603" cy="85486"/>
            </a:xfrm>
            <a:custGeom>
              <a:avLst/>
              <a:gdLst>
                <a:gd name="T0" fmla="*/ 2147483646 w 455"/>
                <a:gd name="T1" fmla="*/ 2147483646 h 460"/>
                <a:gd name="T2" fmla="*/ 2147483646 w 455"/>
                <a:gd name="T3" fmla="*/ 2147483646 h 460"/>
                <a:gd name="T4" fmla="*/ 2147483646 w 455"/>
                <a:gd name="T5" fmla="*/ 2147483646 h 460"/>
                <a:gd name="T6" fmla="*/ 2147483646 w 455"/>
                <a:gd name="T7" fmla="*/ 2147483646 h 460"/>
                <a:gd name="T8" fmla="*/ 2147483646 w 455"/>
                <a:gd name="T9" fmla="*/ 2147483646 h 460"/>
                <a:gd name="T10" fmla="*/ 2147483646 w 455"/>
                <a:gd name="T11" fmla="*/ 2147483646 h 460"/>
                <a:gd name="T12" fmla="*/ 2147483646 w 455"/>
                <a:gd name="T13" fmla="*/ 2147483646 h 460"/>
                <a:gd name="T14" fmla="*/ 2147483646 w 455"/>
                <a:gd name="T15" fmla="*/ 2147483646 h 460"/>
                <a:gd name="T16" fmla="*/ 2147483646 w 455"/>
                <a:gd name="T17" fmla="*/ 2147483646 h 460"/>
                <a:gd name="T18" fmla="*/ 2147483646 w 455"/>
                <a:gd name="T19" fmla="*/ 2147483646 h 460"/>
                <a:gd name="T20" fmla="*/ 2147483646 w 455"/>
                <a:gd name="T21" fmla="*/ 2147483646 h 460"/>
                <a:gd name="T22" fmla="*/ 2147483646 w 455"/>
                <a:gd name="T23" fmla="*/ 2147483646 h 460"/>
                <a:gd name="T24" fmla="*/ 2147483646 w 455"/>
                <a:gd name="T25" fmla="*/ 2147483646 h 460"/>
                <a:gd name="T26" fmla="*/ 2147483646 w 455"/>
                <a:gd name="T27" fmla="*/ 2147483646 h 460"/>
                <a:gd name="T28" fmla="*/ 2147483646 w 455"/>
                <a:gd name="T29" fmla="*/ 2147483646 h 460"/>
                <a:gd name="T30" fmla="*/ 2147483646 w 455"/>
                <a:gd name="T31" fmla="*/ 2147483646 h 460"/>
                <a:gd name="T32" fmla="*/ 2147483646 w 455"/>
                <a:gd name="T33" fmla="*/ 2147483646 h 460"/>
                <a:gd name="T34" fmla="*/ 2147483646 w 455"/>
                <a:gd name="T35" fmla="*/ 2147483646 h 460"/>
                <a:gd name="T36" fmla="*/ 2147483646 w 455"/>
                <a:gd name="T37" fmla="*/ 2147483646 h 460"/>
                <a:gd name="T38" fmla="*/ 2147483646 w 455"/>
                <a:gd name="T39" fmla="*/ 2147483646 h 460"/>
                <a:gd name="T40" fmla="*/ 2147483646 w 455"/>
                <a:gd name="T41" fmla="*/ 2147483646 h 460"/>
                <a:gd name="T42" fmla="*/ 2147483646 w 455"/>
                <a:gd name="T43" fmla="*/ 2147483646 h 460"/>
                <a:gd name="T44" fmla="*/ 2147483646 w 455"/>
                <a:gd name="T45" fmla="*/ 2147483646 h 460"/>
                <a:gd name="T46" fmla="*/ 2147483646 w 455"/>
                <a:gd name="T47" fmla="*/ 2147483646 h 460"/>
                <a:gd name="T48" fmla="*/ 2147483646 w 455"/>
                <a:gd name="T49" fmla="*/ 2147483646 h 460"/>
                <a:gd name="T50" fmla="*/ 2147483646 w 455"/>
                <a:gd name="T51" fmla="*/ 2147483646 h 460"/>
                <a:gd name="T52" fmla="*/ 2147483646 w 455"/>
                <a:gd name="T53" fmla="*/ 2147483646 h 460"/>
                <a:gd name="T54" fmla="*/ 2147483646 w 455"/>
                <a:gd name="T55" fmla="*/ 2147483646 h 460"/>
                <a:gd name="T56" fmla="*/ 2147483646 w 455"/>
                <a:gd name="T57" fmla="*/ 2147483646 h 460"/>
                <a:gd name="T58" fmla="*/ 2147483646 w 455"/>
                <a:gd name="T59" fmla="*/ 2147483646 h 460"/>
                <a:gd name="T60" fmla="*/ 2147483646 w 455"/>
                <a:gd name="T61" fmla="*/ 2147483646 h 460"/>
                <a:gd name="T62" fmla="*/ 2147483646 w 455"/>
                <a:gd name="T63" fmla="*/ 2147483646 h 460"/>
                <a:gd name="T64" fmla="*/ 2147483646 w 455"/>
                <a:gd name="T65" fmla="*/ 2147483646 h 460"/>
                <a:gd name="T66" fmla="*/ 2147483646 w 455"/>
                <a:gd name="T67" fmla="*/ 2147483646 h 460"/>
                <a:gd name="T68" fmla="*/ 2147483646 w 455"/>
                <a:gd name="T69" fmla="*/ 2147483646 h 460"/>
                <a:gd name="T70" fmla="*/ 2147483646 w 455"/>
                <a:gd name="T71" fmla="*/ 2147483646 h 460"/>
                <a:gd name="T72" fmla="*/ 2147483646 w 455"/>
                <a:gd name="T73" fmla="*/ 2147483646 h 460"/>
                <a:gd name="T74" fmla="*/ 2147483646 w 455"/>
                <a:gd name="T75" fmla="*/ 2147483646 h 460"/>
                <a:gd name="T76" fmla="*/ 2147483646 w 455"/>
                <a:gd name="T77" fmla="*/ 2147483646 h 460"/>
                <a:gd name="T78" fmla="*/ 2147483646 w 455"/>
                <a:gd name="T79" fmla="*/ 2147483646 h 460"/>
                <a:gd name="T80" fmla="*/ 2147483646 w 455"/>
                <a:gd name="T81" fmla="*/ 2147483646 h 460"/>
                <a:gd name="T82" fmla="*/ 2147483646 w 455"/>
                <a:gd name="T83" fmla="*/ 2147483646 h 460"/>
                <a:gd name="T84" fmla="*/ 2147483646 w 455"/>
                <a:gd name="T85" fmla="*/ 2147483646 h 460"/>
                <a:gd name="T86" fmla="*/ 2147483646 w 455"/>
                <a:gd name="T87" fmla="*/ 2147483646 h 460"/>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455" h="460">
                  <a:moveTo>
                    <a:pt x="379" y="28"/>
                  </a:moveTo>
                  <a:lnTo>
                    <a:pt x="418" y="44"/>
                  </a:lnTo>
                  <a:lnTo>
                    <a:pt x="436" y="69"/>
                  </a:lnTo>
                  <a:lnTo>
                    <a:pt x="447" y="85"/>
                  </a:lnTo>
                  <a:lnTo>
                    <a:pt x="455" y="98"/>
                  </a:lnTo>
                  <a:lnTo>
                    <a:pt x="444" y="108"/>
                  </a:lnTo>
                  <a:lnTo>
                    <a:pt x="425" y="120"/>
                  </a:lnTo>
                  <a:lnTo>
                    <a:pt x="376" y="113"/>
                  </a:lnTo>
                  <a:lnTo>
                    <a:pt x="339" y="113"/>
                  </a:lnTo>
                  <a:lnTo>
                    <a:pt x="315" y="100"/>
                  </a:lnTo>
                  <a:lnTo>
                    <a:pt x="279" y="92"/>
                  </a:lnTo>
                  <a:lnTo>
                    <a:pt x="247" y="90"/>
                  </a:lnTo>
                  <a:lnTo>
                    <a:pt x="209" y="92"/>
                  </a:lnTo>
                  <a:lnTo>
                    <a:pt x="264" y="98"/>
                  </a:lnTo>
                  <a:lnTo>
                    <a:pt x="291" y="105"/>
                  </a:lnTo>
                  <a:lnTo>
                    <a:pt x="311" y="113"/>
                  </a:lnTo>
                  <a:lnTo>
                    <a:pt x="315" y="115"/>
                  </a:lnTo>
                  <a:lnTo>
                    <a:pt x="302" y="120"/>
                  </a:lnTo>
                  <a:lnTo>
                    <a:pt x="291" y="131"/>
                  </a:lnTo>
                  <a:lnTo>
                    <a:pt x="272" y="120"/>
                  </a:lnTo>
                  <a:lnTo>
                    <a:pt x="256" y="116"/>
                  </a:lnTo>
                  <a:lnTo>
                    <a:pt x="223" y="110"/>
                  </a:lnTo>
                  <a:lnTo>
                    <a:pt x="212" y="110"/>
                  </a:lnTo>
                  <a:lnTo>
                    <a:pt x="246" y="122"/>
                  </a:lnTo>
                  <a:lnTo>
                    <a:pt x="270" y="133"/>
                  </a:lnTo>
                  <a:lnTo>
                    <a:pt x="283" y="142"/>
                  </a:lnTo>
                  <a:lnTo>
                    <a:pt x="272" y="154"/>
                  </a:lnTo>
                  <a:lnTo>
                    <a:pt x="246" y="145"/>
                  </a:lnTo>
                  <a:lnTo>
                    <a:pt x="223" y="140"/>
                  </a:lnTo>
                  <a:lnTo>
                    <a:pt x="264" y="161"/>
                  </a:lnTo>
                  <a:lnTo>
                    <a:pt x="277" y="170"/>
                  </a:lnTo>
                  <a:lnTo>
                    <a:pt x="281" y="189"/>
                  </a:lnTo>
                  <a:lnTo>
                    <a:pt x="289" y="199"/>
                  </a:lnTo>
                  <a:lnTo>
                    <a:pt x="264" y="187"/>
                  </a:lnTo>
                  <a:lnTo>
                    <a:pt x="241" y="183"/>
                  </a:lnTo>
                  <a:lnTo>
                    <a:pt x="205" y="181"/>
                  </a:lnTo>
                  <a:lnTo>
                    <a:pt x="259" y="197"/>
                  </a:lnTo>
                  <a:lnTo>
                    <a:pt x="293" y="210"/>
                  </a:lnTo>
                  <a:lnTo>
                    <a:pt x="315" y="222"/>
                  </a:lnTo>
                  <a:lnTo>
                    <a:pt x="318" y="239"/>
                  </a:lnTo>
                  <a:lnTo>
                    <a:pt x="291" y="227"/>
                  </a:lnTo>
                  <a:lnTo>
                    <a:pt x="254" y="214"/>
                  </a:lnTo>
                  <a:lnTo>
                    <a:pt x="237" y="214"/>
                  </a:lnTo>
                  <a:lnTo>
                    <a:pt x="277" y="228"/>
                  </a:lnTo>
                  <a:lnTo>
                    <a:pt x="309" y="242"/>
                  </a:lnTo>
                  <a:lnTo>
                    <a:pt x="320" y="253"/>
                  </a:lnTo>
                  <a:lnTo>
                    <a:pt x="315" y="264"/>
                  </a:lnTo>
                  <a:lnTo>
                    <a:pt x="291" y="255"/>
                  </a:lnTo>
                  <a:lnTo>
                    <a:pt x="269" y="246"/>
                  </a:lnTo>
                  <a:lnTo>
                    <a:pt x="221" y="244"/>
                  </a:lnTo>
                  <a:lnTo>
                    <a:pt x="202" y="246"/>
                  </a:lnTo>
                  <a:lnTo>
                    <a:pt x="158" y="249"/>
                  </a:lnTo>
                  <a:lnTo>
                    <a:pt x="107" y="242"/>
                  </a:lnTo>
                  <a:lnTo>
                    <a:pt x="137" y="253"/>
                  </a:lnTo>
                  <a:lnTo>
                    <a:pt x="191" y="262"/>
                  </a:lnTo>
                  <a:lnTo>
                    <a:pt x="181" y="280"/>
                  </a:lnTo>
                  <a:lnTo>
                    <a:pt x="141" y="271"/>
                  </a:lnTo>
                  <a:lnTo>
                    <a:pt x="104" y="258"/>
                  </a:lnTo>
                  <a:lnTo>
                    <a:pt x="79" y="246"/>
                  </a:lnTo>
                  <a:lnTo>
                    <a:pt x="126" y="280"/>
                  </a:lnTo>
                  <a:lnTo>
                    <a:pt x="156" y="290"/>
                  </a:lnTo>
                  <a:lnTo>
                    <a:pt x="181" y="298"/>
                  </a:lnTo>
                  <a:lnTo>
                    <a:pt x="178" y="317"/>
                  </a:lnTo>
                  <a:lnTo>
                    <a:pt x="141" y="310"/>
                  </a:lnTo>
                  <a:lnTo>
                    <a:pt x="113" y="302"/>
                  </a:lnTo>
                  <a:lnTo>
                    <a:pt x="131" y="315"/>
                  </a:lnTo>
                  <a:lnTo>
                    <a:pt x="161" y="323"/>
                  </a:lnTo>
                  <a:lnTo>
                    <a:pt x="178" y="325"/>
                  </a:lnTo>
                  <a:lnTo>
                    <a:pt x="178" y="365"/>
                  </a:lnTo>
                  <a:lnTo>
                    <a:pt x="143" y="351"/>
                  </a:lnTo>
                  <a:lnTo>
                    <a:pt x="116" y="341"/>
                  </a:lnTo>
                  <a:lnTo>
                    <a:pt x="145" y="363"/>
                  </a:lnTo>
                  <a:lnTo>
                    <a:pt x="182" y="379"/>
                  </a:lnTo>
                  <a:lnTo>
                    <a:pt x="181" y="397"/>
                  </a:lnTo>
                  <a:lnTo>
                    <a:pt x="159" y="418"/>
                  </a:lnTo>
                  <a:lnTo>
                    <a:pt x="141" y="395"/>
                  </a:lnTo>
                  <a:lnTo>
                    <a:pt x="116" y="365"/>
                  </a:lnTo>
                  <a:lnTo>
                    <a:pt x="100" y="337"/>
                  </a:lnTo>
                  <a:lnTo>
                    <a:pt x="116" y="381"/>
                  </a:lnTo>
                  <a:lnTo>
                    <a:pt x="131" y="397"/>
                  </a:lnTo>
                  <a:lnTo>
                    <a:pt x="156" y="429"/>
                  </a:lnTo>
                  <a:lnTo>
                    <a:pt x="137" y="449"/>
                  </a:lnTo>
                  <a:lnTo>
                    <a:pt x="109" y="424"/>
                  </a:lnTo>
                  <a:lnTo>
                    <a:pt x="88" y="395"/>
                  </a:lnTo>
                  <a:lnTo>
                    <a:pt x="69" y="363"/>
                  </a:lnTo>
                  <a:lnTo>
                    <a:pt x="86" y="409"/>
                  </a:lnTo>
                  <a:lnTo>
                    <a:pt x="104" y="430"/>
                  </a:lnTo>
                  <a:lnTo>
                    <a:pt x="121" y="452"/>
                  </a:lnTo>
                  <a:lnTo>
                    <a:pt x="107" y="460"/>
                  </a:lnTo>
                  <a:lnTo>
                    <a:pt x="69" y="429"/>
                  </a:lnTo>
                  <a:lnTo>
                    <a:pt x="34" y="379"/>
                  </a:lnTo>
                  <a:lnTo>
                    <a:pt x="21" y="341"/>
                  </a:lnTo>
                  <a:lnTo>
                    <a:pt x="12" y="275"/>
                  </a:lnTo>
                  <a:lnTo>
                    <a:pt x="7" y="227"/>
                  </a:lnTo>
                  <a:lnTo>
                    <a:pt x="0" y="170"/>
                  </a:lnTo>
                  <a:lnTo>
                    <a:pt x="39" y="181"/>
                  </a:lnTo>
                  <a:lnTo>
                    <a:pt x="81" y="197"/>
                  </a:lnTo>
                  <a:lnTo>
                    <a:pt x="145" y="212"/>
                  </a:lnTo>
                  <a:lnTo>
                    <a:pt x="88" y="189"/>
                  </a:lnTo>
                  <a:lnTo>
                    <a:pt x="67" y="177"/>
                  </a:lnTo>
                  <a:lnTo>
                    <a:pt x="26" y="162"/>
                  </a:lnTo>
                  <a:lnTo>
                    <a:pt x="5" y="158"/>
                  </a:lnTo>
                  <a:lnTo>
                    <a:pt x="5" y="129"/>
                  </a:lnTo>
                  <a:lnTo>
                    <a:pt x="10" y="92"/>
                  </a:lnTo>
                  <a:lnTo>
                    <a:pt x="61" y="100"/>
                  </a:lnTo>
                  <a:lnTo>
                    <a:pt x="94" y="110"/>
                  </a:lnTo>
                  <a:lnTo>
                    <a:pt x="135" y="129"/>
                  </a:lnTo>
                  <a:lnTo>
                    <a:pt x="97" y="100"/>
                  </a:lnTo>
                  <a:lnTo>
                    <a:pt x="54" y="88"/>
                  </a:lnTo>
                  <a:lnTo>
                    <a:pt x="12" y="77"/>
                  </a:lnTo>
                  <a:lnTo>
                    <a:pt x="21" y="49"/>
                  </a:lnTo>
                  <a:lnTo>
                    <a:pt x="34" y="31"/>
                  </a:lnTo>
                  <a:lnTo>
                    <a:pt x="73" y="19"/>
                  </a:lnTo>
                  <a:lnTo>
                    <a:pt x="111" y="28"/>
                  </a:lnTo>
                  <a:lnTo>
                    <a:pt x="145" y="53"/>
                  </a:lnTo>
                  <a:lnTo>
                    <a:pt x="121" y="25"/>
                  </a:lnTo>
                  <a:lnTo>
                    <a:pt x="86" y="10"/>
                  </a:lnTo>
                  <a:lnTo>
                    <a:pt x="126" y="4"/>
                  </a:lnTo>
                  <a:lnTo>
                    <a:pt x="156" y="2"/>
                  </a:lnTo>
                  <a:lnTo>
                    <a:pt x="198" y="8"/>
                  </a:lnTo>
                  <a:lnTo>
                    <a:pt x="226" y="27"/>
                  </a:lnTo>
                  <a:lnTo>
                    <a:pt x="272" y="35"/>
                  </a:lnTo>
                  <a:lnTo>
                    <a:pt x="241" y="23"/>
                  </a:lnTo>
                  <a:lnTo>
                    <a:pt x="218" y="8"/>
                  </a:lnTo>
                  <a:lnTo>
                    <a:pt x="205" y="0"/>
                  </a:lnTo>
                  <a:lnTo>
                    <a:pt x="249" y="2"/>
                  </a:lnTo>
                  <a:lnTo>
                    <a:pt x="289" y="4"/>
                  </a:lnTo>
                  <a:lnTo>
                    <a:pt x="313" y="15"/>
                  </a:lnTo>
                  <a:lnTo>
                    <a:pt x="337" y="37"/>
                  </a:lnTo>
                  <a:lnTo>
                    <a:pt x="356" y="67"/>
                  </a:lnTo>
                  <a:lnTo>
                    <a:pt x="346" y="33"/>
                  </a:lnTo>
                  <a:lnTo>
                    <a:pt x="322" y="10"/>
                  </a:lnTo>
                  <a:lnTo>
                    <a:pt x="379" y="28"/>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68" name="Group 161"/>
            <p:cNvGrpSpPr>
              <a:grpSpLocks/>
            </p:cNvGrpSpPr>
            <p:nvPr/>
          </p:nvGrpSpPr>
          <p:grpSpPr bwMode="auto">
            <a:xfrm>
              <a:off x="2031963" y="3353162"/>
              <a:ext cx="99655" cy="56681"/>
              <a:chOff x="377" y="1962"/>
              <a:chExt cx="99" cy="61"/>
            </a:xfrm>
          </p:grpSpPr>
          <p:sp>
            <p:nvSpPr>
              <p:cNvPr id="169" name="Freeform 162"/>
              <p:cNvSpPr>
                <a:spLocks/>
              </p:cNvSpPr>
              <p:nvPr/>
            </p:nvSpPr>
            <p:spPr bwMode="auto">
              <a:xfrm>
                <a:off x="377" y="1962"/>
                <a:ext cx="99" cy="61"/>
              </a:xfrm>
              <a:custGeom>
                <a:avLst/>
                <a:gdLst>
                  <a:gd name="T0" fmla="*/ 0 w 497"/>
                  <a:gd name="T1" fmla="*/ 0 h 305"/>
                  <a:gd name="T2" fmla="*/ 0 w 497"/>
                  <a:gd name="T3" fmla="*/ 0 h 305"/>
                  <a:gd name="T4" fmla="*/ 0 w 497"/>
                  <a:gd name="T5" fmla="*/ 0 h 305"/>
                  <a:gd name="T6" fmla="*/ 0 w 497"/>
                  <a:gd name="T7" fmla="*/ 0 h 305"/>
                  <a:gd name="T8" fmla="*/ 0 w 497"/>
                  <a:gd name="T9" fmla="*/ 0 h 305"/>
                  <a:gd name="T10" fmla="*/ 0 w 497"/>
                  <a:gd name="T11" fmla="*/ 0 h 305"/>
                  <a:gd name="T12" fmla="*/ 0 w 497"/>
                  <a:gd name="T13" fmla="*/ 0 h 305"/>
                  <a:gd name="T14" fmla="*/ 0 w 497"/>
                  <a:gd name="T15" fmla="*/ 0 h 305"/>
                  <a:gd name="T16" fmla="*/ 0 w 497"/>
                  <a:gd name="T17" fmla="*/ 0 h 305"/>
                  <a:gd name="T18" fmla="*/ 0 w 497"/>
                  <a:gd name="T19" fmla="*/ 0 h 305"/>
                  <a:gd name="T20" fmla="*/ 0 w 497"/>
                  <a:gd name="T21" fmla="*/ 0 h 305"/>
                  <a:gd name="T22" fmla="*/ 0 w 497"/>
                  <a:gd name="T23" fmla="*/ 0 h 305"/>
                  <a:gd name="T24" fmla="*/ 0 w 497"/>
                  <a:gd name="T25" fmla="*/ 0 h 305"/>
                  <a:gd name="T26" fmla="*/ 0 w 497"/>
                  <a:gd name="T27" fmla="*/ 0 h 305"/>
                  <a:gd name="T28" fmla="*/ 0 w 497"/>
                  <a:gd name="T29" fmla="*/ 0 h 305"/>
                  <a:gd name="T30" fmla="*/ 0 w 497"/>
                  <a:gd name="T31" fmla="*/ 0 h 305"/>
                  <a:gd name="T32" fmla="*/ 0 w 497"/>
                  <a:gd name="T33" fmla="*/ 0 h 305"/>
                  <a:gd name="T34" fmla="*/ 0 w 497"/>
                  <a:gd name="T35" fmla="*/ 0 h 305"/>
                  <a:gd name="T36" fmla="*/ 0 w 497"/>
                  <a:gd name="T37" fmla="*/ 0 h 305"/>
                  <a:gd name="T38" fmla="*/ 0 w 497"/>
                  <a:gd name="T39" fmla="*/ 0 h 305"/>
                  <a:gd name="T40" fmla="*/ 0 w 497"/>
                  <a:gd name="T41" fmla="*/ 0 h 305"/>
                  <a:gd name="T42" fmla="*/ 0 w 497"/>
                  <a:gd name="T43" fmla="*/ 0 h 305"/>
                  <a:gd name="T44" fmla="*/ 0 w 497"/>
                  <a:gd name="T45" fmla="*/ 0 h 305"/>
                  <a:gd name="T46" fmla="*/ 0 w 497"/>
                  <a:gd name="T47" fmla="*/ 0 h 305"/>
                  <a:gd name="T48" fmla="*/ 0 w 497"/>
                  <a:gd name="T49" fmla="*/ 0 h 305"/>
                  <a:gd name="T50" fmla="*/ 0 w 497"/>
                  <a:gd name="T51" fmla="*/ 0 h 305"/>
                  <a:gd name="T52" fmla="*/ 0 w 497"/>
                  <a:gd name="T53" fmla="*/ 0 h 305"/>
                  <a:gd name="T54" fmla="*/ 0 w 497"/>
                  <a:gd name="T55" fmla="*/ 0 h 305"/>
                  <a:gd name="T56" fmla="*/ 0 w 497"/>
                  <a:gd name="T57" fmla="*/ 0 h 305"/>
                  <a:gd name="T58" fmla="*/ 0 w 497"/>
                  <a:gd name="T59" fmla="*/ 0 h 305"/>
                  <a:gd name="T60" fmla="*/ 0 w 497"/>
                  <a:gd name="T61" fmla="*/ 0 h 305"/>
                  <a:gd name="T62" fmla="*/ 0 w 497"/>
                  <a:gd name="T63" fmla="*/ 0 h 305"/>
                  <a:gd name="T64" fmla="*/ 0 w 497"/>
                  <a:gd name="T65" fmla="*/ 0 h 305"/>
                  <a:gd name="T66" fmla="*/ 0 w 497"/>
                  <a:gd name="T67" fmla="*/ 0 h 305"/>
                  <a:gd name="T68" fmla="*/ 0 w 497"/>
                  <a:gd name="T69" fmla="*/ 0 h 305"/>
                  <a:gd name="T70" fmla="*/ 0 w 497"/>
                  <a:gd name="T71" fmla="*/ 0 h 305"/>
                  <a:gd name="T72" fmla="*/ 0 w 497"/>
                  <a:gd name="T73" fmla="*/ 0 h 305"/>
                  <a:gd name="T74" fmla="*/ 0 w 497"/>
                  <a:gd name="T75" fmla="*/ 0 h 305"/>
                  <a:gd name="T76" fmla="*/ 0 w 497"/>
                  <a:gd name="T77" fmla="*/ 0 h 305"/>
                  <a:gd name="T78" fmla="*/ 0 w 497"/>
                  <a:gd name="T79" fmla="*/ 0 h 305"/>
                  <a:gd name="T80" fmla="*/ 0 w 497"/>
                  <a:gd name="T81" fmla="*/ 0 h 305"/>
                  <a:gd name="T82" fmla="*/ 0 w 497"/>
                  <a:gd name="T83" fmla="*/ 0 h 305"/>
                  <a:gd name="T84" fmla="*/ 0 w 497"/>
                  <a:gd name="T85" fmla="*/ 0 h 305"/>
                  <a:gd name="T86" fmla="*/ 0 w 497"/>
                  <a:gd name="T87" fmla="*/ 0 h 305"/>
                  <a:gd name="T88" fmla="*/ 0 w 497"/>
                  <a:gd name="T89" fmla="*/ 0 h 305"/>
                  <a:gd name="T90" fmla="*/ 0 w 497"/>
                  <a:gd name="T91" fmla="*/ 0 h 305"/>
                  <a:gd name="T92" fmla="*/ 0 w 497"/>
                  <a:gd name="T93" fmla="*/ 0 h 305"/>
                  <a:gd name="T94" fmla="*/ 0 w 497"/>
                  <a:gd name="T95" fmla="*/ 0 h 305"/>
                  <a:gd name="T96" fmla="*/ 0 w 497"/>
                  <a:gd name="T97" fmla="*/ 0 h 305"/>
                  <a:gd name="T98" fmla="*/ 0 w 497"/>
                  <a:gd name="T99" fmla="*/ 0 h 30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497" h="305">
                    <a:moveTo>
                      <a:pt x="0" y="182"/>
                    </a:moveTo>
                    <a:lnTo>
                      <a:pt x="61" y="168"/>
                    </a:lnTo>
                    <a:lnTo>
                      <a:pt x="84" y="163"/>
                    </a:lnTo>
                    <a:lnTo>
                      <a:pt x="98" y="150"/>
                    </a:lnTo>
                    <a:lnTo>
                      <a:pt x="112" y="130"/>
                    </a:lnTo>
                    <a:lnTo>
                      <a:pt x="142" y="102"/>
                    </a:lnTo>
                    <a:lnTo>
                      <a:pt x="197" y="56"/>
                    </a:lnTo>
                    <a:lnTo>
                      <a:pt x="206" y="41"/>
                    </a:lnTo>
                    <a:lnTo>
                      <a:pt x="221" y="28"/>
                    </a:lnTo>
                    <a:lnTo>
                      <a:pt x="249" y="23"/>
                    </a:lnTo>
                    <a:lnTo>
                      <a:pt x="336" y="8"/>
                    </a:lnTo>
                    <a:lnTo>
                      <a:pt x="360" y="0"/>
                    </a:lnTo>
                    <a:lnTo>
                      <a:pt x="382" y="11"/>
                    </a:lnTo>
                    <a:lnTo>
                      <a:pt x="393" y="20"/>
                    </a:lnTo>
                    <a:lnTo>
                      <a:pt x="443" y="37"/>
                    </a:lnTo>
                    <a:lnTo>
                      <a:pt x="464" y="45"/>
                    </a:lnTo>
                    <a:lnTo>
                      <a:pt x="471" y="53"/>
                    </a:lnTo>
                    <a:lnTo>
                      <a:pt x="481" y="81"/>
                    </a:lnTo>
                    <a:lnTo>
                      <a:pt x="486" y="96"/>
                    </a:lnTo>
                    <a:lnTo>
                      <a:pt x="490" y="104"/>
                    </a:lnTo>
                    <a:lnTo>
                      <a:pt x="497" y="119"/>
                    </a:lnTo>
                    <a:lnTo>
                      <a:pt x="497" y="129"/>
                    </a:lnTo>
                    <a:lnTo>
                      <a:pt x="487" y="137"/>
                    </a:lnTo>
                    <a:lnTo>
                      <a:pt x="466" y="136"/>
                    </a:lnTo>
                    <a:lnTo>
                      <a:pt x="434" y="121"/>
                    </a:lnTo>
                    <a:lnTo>
                      <a:pt x="393" y="113"/>
                    </a:lnTo>
                    <a:lnTo>
                      <a:pt x="356" y="119"/>
                    </a:lnTo>
                    <a:lnTo>
                      <a:pt x="395" y="128"/>
                    </a:lnTo>
                    <a:lnTo>
                      <a:pt x="422" y="137"/>
                    </a:lnTo>
                    <a:lnTo>
                      <a:pt x="454" y="150"/>
                    </a:lnTo>
                    <a:lnTo>
                      <a:pt x="462" y="161"/>
                    </a:lnTo>
                    <a:lnTo>
                      <a:pt x="462" y="173"/>
                    </a:lnTo>
                    <a:lnTo>
                      <a:pt x="449" y="182"/>
                    </a:lnTo>
                    <a:lnTo>
                      <a:pt x="435" y="179"/>
                    </a:lnTo>
                    <a:lnTo>
                      <a:pt x="391" y="168"/>
                    </a:lnTo>
                    <a:lnTo>
                      <a:pt x="351" y="166"/>
                    </a:lnTo>
                    <a:lnTo>
                      <a:pt x="320" y="168"/>
                    </a:lnTo>
                    <a:lnTo>
                      <a:pt x="303" y="179"/>
                    </a:lnTo>
                    <a:lnTo>
                      <a:pt x="282" y="200"/>
                    </a:lnTo>
                    <a:lnTo>
                      <a:pt x="267" y="223"/>
                    </a:lnTo>
                    <a:lnTo>
                      <a:pt x="251" y="246"/>
                    </a:lnTo>
                    <a:lnTo>
                      <a:pt x="237" y="263"/>
                    </a:lnTo>
                    <a:lnTo>
                      <a:pt x="213" y="280"/>
                    </a:lnTo>
                    <a:lnTo>
                      <a:pt x="190" y="284"/>
                    </a:lnTo>
                    <a:lnTo>
                      <a:pt x="165" y="287"/>
                    </a:lnTo>
                    <a:lnTo>
                      <a:pt x="135" y="284"/>
                    </a:lnTo>
                    <a:lnTo>
                      <a:pt x="112" y="282"/>
                    </a:lnTo>
                    <a:lnTo>
                      <a:pt x="82" y="290"/>
                    </a:lnTo>
                    <a:lnTo>
                      <a:pt x="0" y="305"/>
                    </a:lnTo>
                    <a:lnTo>
                      <a:pt x="0" y="182"/>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0" name="Freeform 163"/>
              <p:cNvSpPr>
                <a:spLocks/>
              </p:cNvSpPr>
              <p:nvPr/>
            </p:nvSpPr>
            <p:spPr bwMode="auto">
              <a:xfrm>
                <a:off x="439" y="1973"/>
                <a:ext cx="32" cy="7"/>
              </a:xfrm>
              <a:custGeom>
                <a:avLst/>
                <a:gdLst>
                  <a:gd name="T0" fmla="*/ 0 w 159"/>
                  <a:gd name="T1" fmla="*/ 0 h 37"/>
                  <a:gd name="T2" fmla="*/ 0 w 159"/>
                  <a:gd name="T3" fmla="*/ 0 h 37"/>
                  <a:gd name="T4" fmla="*/ 0 w 159"/>
                  <a:gd name="T5" fmla="*/ 0 h 37"/>
                  <a:gd name="T6" fmla="*/ 0 w 159"/>
                  <a:gd name="T7" fmla="*/ 0 h 37"/>
                  <a:gd name="T8" fmla="*/ 0 w 159"/>
                  <a:gd name="T9" fmla="*/ 0 h 37"/>
                  <a:gd name="T10" fmla="*/ 0 w 159"/>
                  <a:gd name="T11" fmla="*/ 0 h 37"/>
                  <a:gd name="T12" fmla="*/ 0 w 159"/>
                  <a:gd name="T13" fmla="*/ 0 h 37"/>
                  <a:gd name="T14" fmla="*/ 0 w 159"/>
                  <a:gd name="T15" fmla="*/ 0 h 37"/>
                  <a:gd name="T16" fmla="*/ 0 w 159"/>
                  <a:gd name="T17" fmla="*/ 0 h 37"/>
                  <a:gd name="T18" fmla="*/ 0 w 159"/>
                  <a:gd name="T19" fmla="*/ 0 h 37"/>
                  <a:gd name="T20" fmla="*/ 0 w 159"/>
                  <a:gd name="T21" fmla="*/ 0 h 37"/>
                  <a:gd name="T22" fmla="*/ 0 w 159"/>
                  <a:gd name="T23" fmla="*/ 0 h 37"/>
                  <a:gd name="T24" fmla="*/ 0 w 159"/>
                  <a:gd name="T25" fmla="*/ 0 h 37"/>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59" h="37">
                    <a:moveTo>
                      <a:pt x="159" y="37"/>
                    </a:moveTo>
                    <a:lnTo>
                      <a:pt x="132" y="24"/>
                    </a:lnTo>
                    <a:lnTo>
                      <a:pt x="110" y="21"/>
                    </a:lnTo>
                    <a:lnTo>
                      <a:pt x="84" y="13"/>
                    </a:lnTo>
                    <a:lnTo>
                      <a:pt x="61" y="7"/>
                    </a:lnTo>
                    <a:lnTo>
                      <a:pt x="25" y="10"/>
                    </a:lnTo>
                    <a:lnTo>
                      <a:pt x="0" y="13"/>
                    </a:lnTo>
                    <a:lnTo>
                      <a:pt x="38" y="5"/>
                    </a:lnTo>
                    <a:lnTo>
                      <a:pt x="69" y="0"/>
                    </a:lnTo>
                    <a:lnTo>
                      <a:pt x="110" y="17"/>
                    </a:lnTo>
                    <a:lnTo>
                      <a:pt x="132" y="19"/>
                    </a:lnTo>
                    <a:lnTo>
                      <a:pt x="157" y="31"/>
                    </a:lnTo>
                    <a:lnTo>
                      <a:pt x="159" y="3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1" name="Freeform 164"/>
              <p:cNvSpPr>
                <a:spLocks/>
              </p:cNvSpPr>
              <p:nvPr/>
            </p:nvSpPr>
            <p:spPr bwMode="auto">
              <a:xfrm>
                <a:off x="427" y="1965"/>
                <a:ext cx="27" cy="5"/>
              </a:xfrm>
              <a:custGeom>
                <a:avLst/>
                <a:gdLst>
                  <a:gd name="T0" fmla="*/ 0 w 133"/>
                  <a:gd name="T1" fmla="*/ 0 h 25"/>
                  <a:gd name="T2" fmla="*/ 0 w 133"/>
                  <a:gd name="T3" fmla="*/ 0 h 25"/>
                  <a:gd name="T4" fmla="*/ 0 w 133"/>
                  <a:gd name="T5" fmla="*/ 0 h 25"/>
                  <a:gd name="T6" fmla="*/ 0 w 133"/>
                  <a:gd name="T7" fmla="*/ 0 h 25"/>
                  <a:gd name="T8" fmla="*/ 0 w 133"/>
                  <a:gd name="T9" fmla="*/ 0 h 25"/>
                  <a:gd name="T10" fmla="*/ 0 w 133"/>
                  <a:gd name="T11" fmla="*/ 0 h 25"/>
                  <a:gd name="T12" fmla="*/ 0 w 133"/>
                  <a:gd name="T13" fmla="*/ 0 h 25"/>
                  <a:gd name="T14" fmla="*/ 0 w 133"/>
                  <a:gd name="T15" fmla="*/ 0 h 25"/>
                  <a:gd name="T16" fmla="*/ 0 w 133"/>
                  <a:gd name="T17" fmla="*/ 0 h 25"/>
                  <a:gd name="T18" fmla="*/ 0 w 133"/>
                  <a:gd name="T19" fmla="*/ 0 h 25"/>
                  <a:gd name="T20" fmla="*/ 0 w 133"/>
                  <a:gd name="T21" fmla="*/ 0 h 25"/>
                  <a:gd name="T22" fmla="*/ 0 w 133"/>
                  <a:gd name="T23" fmla="*/ 0 h 2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3" h="25">
                    <a:moveTo>
                      <a:pt x="97" y="0"/>
                    </a:moveTo>
                    <a:lnTo>
                      <a:pt x="113" y="1"/>
                    </a:lnTo>
                    <a:lnTo>
                      <a:pt x="133" y="8"/>
                    </a:lnTo>
                    <a:lnTo>
                      <a:pt x="120" y="7"/>
                    </a:lnTo>
                    <a:lnTo>
                      <a:pt x="99" y="3"/>
                    </a:lnTo>
                    <a:lnTo>
                      <a:pt x="56" y="15"/>
                    </a:lnTo>
                    <a:lnTo>
                      <a:pt x="32" y="21"/>
                    </a:lnTo>
                    <a:lnTo>
                      <a:pt x="4" y="25"/>
                    </a:lnTo>
                    <a:lnTo>
                      <a:pt x="0" y="21"/>
                    </a:lnTo>
                    <a:lnTo>
                      <a:pt x="29" y="16"/>
                    </a:lnTo>
                    <a:lnTo>
                      <a:pt x="64" y="8"/>
                    </a:lnTo>
                    <a:lnTo>
                      <a:pt x="9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2" name="Freeform 165"/>
              <p:cNvSpPr>
                <a:spLocks/>
              </p:cNvSpPr>
              <p:nvPr/>
            </p:nvSpPr>
            <p:spPr bwMode="auto">
              <a:xfrm>
                <a:off x="438" y="1984"/>
                <a:ext cx="11" cy="2"/>
              </a:xfrm>
              <a:custGeom>
                <a:avLst/>
                <a:gdLst>
                  <a:gd name="T0" fmla="*/ 0 w 53"/>
                  <a:gd name="T1" fmla="*/ 0 h 12"/>
                  <a:gd name="T2" fmla="*/ 0 w 53"/>
                  <a:gd name="T3" fmla="*/ 0 h 12"/>
                  <a:gd name="T4" fmla="*/ 0 w 53"/>
                  <a:gd name="T5" fmla="*/ 0 h 12"/>
                  <a:gd name="T6" fmla="*/ 0 w 53"/>
                  <a:gd name="T7" fmla="*/ 0 h 12"/>
                  <a:gd name="T8" fmla="*/ 0 w 53"/>
                  <a:gd name="T9" fmla="*/ 0 h 12"/>
                  <a:gd name="T10" fmla="*/ 0 w 53"/>
                  <a:gd name="T11" fmla="*/ 0 h 12"/>
                  <a:gd name="T12" fmla="*/ 0 w 53"/>
                  <a:gd name="T13" fmla="*/ 0 h 1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53" h="12">
                    <a:moveTo>
                      <a:pt x="53" y="5"/>
                    </a:moveTo>
                    <a:lnTo>
                      <a:pt x="46" y="12"/>
                    </a:lnTo>
                    <a:lnTo>
                      <a:pt x="27" y="9"/>
                    </a:lnTo>
                    <a:lnTo>
                      <a:pt x="5" y="9"/>
                    </a:lnTo>
                    <a:lnTo>
                      <a:pt x="0" y="0"/>
                    </a:lnTo>
                    <a:lnTo>
                      <a:pt x="14" y="3"/>
                    </a:lnTo>
                    <a:lnTo>
                      <a:pt x="53"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3" name="Freeform 166"/>
              <p:cNvSpPr>
                <a:spLocks/>
              </p:cNvSpPr>
              <p:nvPr/>
            </p:nvSpPr>
            <p:spPr bwMode="auto">
              <a:xfrm>
                <a:off x="469" y="1982"/>
                <a:ext cx="3" cy="4"/>
              </a:xfrm>
              <a:custGeom>
                <a:avLst/>
                <a:gdLst>
                  <a:gd name="T0" fmla="*/ 0 w 11"/>
                  <a:gd name="T1" fmla="*/ 0 h 23"/>
                  <a:gd name="T2" fmla="*/ 0 w 11"/>
                  <a:gd name="T3" fmla="*/ 0 h 23"/>
                  <a:gd name="T4" fmla="*/ 0 w 11"/>
                  <a:gd name="T5" fmla="*/ 0 h 23"/>
                  <a:gd name="T6" fmla="*/ 0 w 11"/>
                  <a:gd name="T7" fmla="*/ 0 h 23"/>
                  <a:gd name="T8" fmla="*/ 0 w 11"/>
                  <a:gd name="T9" fmla="*/ 0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 h="23">
                    <a:moveTo>
                      <a:pt x="0" y="0"/>
                    </a:moveTo>
                    <a:lnTo>
                      <a:pt x="0" y="6"/>
                    </a:lnTo>
                    <a:lnTo>
                      <a:pt x="2" y="18"/>
                    </a:lnTo>
                    <a:lnTo>
                      <a:pt x="11" y="2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4" name="Freeform 167"/>
              <p:cNvSpPr>
                <a:spLocks/>
              </p:cNvSpPr>
              <p:nvPr/>
            </p:nvSpPr>
            <p:spPr bwMode="auto">
              <a:xfrm>
                <a:off x="462" y="1993"/>
                <a:ext cx="2" cy="2"/>
              </a:xfrm>
              <a:custGeom>
                <a:avLst/>
                <a:gdLst>
                  <a:gd name="T0" fmla="*/ 0 w 11"/>
                  <a:gd name="T1" fmla="*/ 0 h 13"/>
                  <a:gd name="T2" fmla="*/ 0 w 11"/>
                  <a:gd name="T3" fmla="*/ 0 h 13"/>
                  <a:gd name="T4" fmla="*/ 0 w 11"/>
                  <a:gd name="T5" fmla="*/ 0 h 13"/>
                  <a:gd name="T6" fmla="*/ 0 w 11"/>
                  <a:gd name="T7" fmla="*/ 0 h 1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 h="13">
                    <a:moveTo>
                      <a:pt x="0" y="0"/>
                    </a:moveTo>
                    <a:lnTo>
                      <a:pt x="3" y="7"/>
                    </a:lnTo>
                    <a:lnTo>
                      <a:pt x="11" y="1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5" name="Freeform 168"/>
              <p:cNvSpPr>
                <a:spLocks/>
              </p:cNvSpPr>
              <p:nvPr/>
            </p:nvSpPr>
            <p:spPr bwMode="auto">
              <a:xfrm>
                <a:off x="423" y="1977"/>
                <a:ext cx="5" cy="6"/>
              </a:xfrm>
              <a:custGeom>
                <a:avLst/>
                <a:gdLst>
                  <a:gd name="T0" fmla="*/ 0 w 25"/>
                  <a:gd name="T1" fmla="*/ 0 h 29"/>
                  <a:gd name="T2" fmla="*/ 0 w 25"/>
                  <a:gd name="T3" fmla="*/ 0 h 29"/>
                  <a:gd name="T4" fmla="*/ 0 w 25"/>
                  <a:gd name="T5" fmla="*/ 0 h 29"/>
                  <a:gd name="T6" fmla="*/ 0 w 25"/>
                  <a:gd name="T7" fmla="*/ 0 h 29"/>
                  <a:gd name="T8" fmla="*/ 0 w 25"/>
                  <a:gd name="T9" fmla="*/ 0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29">
                    <a:moveTo>
                      <a:pt x="25" y="0"/>
                    </a:moveTo>
                    <a:lnTo>
                      <a:pt x="21" y="9"/>
                    </a:lnTo>
                    <a:lnTo>
                      <a:pt x="21" y="17"/>
                    </a:lnTo>
                    <a:lnTo>
                      <a:pt x="0" y="29"/>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6" name="Freeform 169"/>
              <p:cNvSpPr>
                <a:spLocks/>
              </p:cNvSpPr>
              <p:nvPr/>
            </p:nvSpPr>
            <p:spPr bwMode="auto">
              <a:xfrm>
                <a:off x="403" y="1977"/>
                <a:ext cx="16" cy="16"/>
              </a:xfrm>
              <a:custGeom>
                <a:avLst/>
                <a:gdLst>
                  <a:gd name="T0" fmla="*/ 0 w 80"/>
                  <a:gd name="T1" fmla="*/ 0 h 81"/>
                  <a:gd name="T2" fmla="*/ 0 w 80"/>
                  <a:gd name="T3" fmla="*/ 0 h 81"/>
                  <a:gd name="T4" fmla="*/ 0 w 80"/>
                  <a:gd name="T5" fmla="*/ 0 h 81"/>
                  <a:gd name="T6" fmla="*/ 0 w 80"/>
                  <a:gd name="T7" fmla="*/ 0 h 81"/>
                  <a:gd name="T8" fmla="*/ 0 w 80"/>
                  <a:gd name="T9" fmla="*/ 0 h 81"/>
                  <a:gd name="T10" fmla="*/ 0 w 80"/>
                  <a:gd name="T11" fmla="*/ 0 h 8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80" h="81">
                    <a:moveTo>
                      <a:pt x="80" y="0"/>
                    </a:moveTo>
                    <a:lnTo>
                      <a:pt x="66" y="26"/>
                    </a:lnTo>
                    <a:lnTo>
                      <a:pt x="50" y="46"/>
                    </a:lnTo>
                    <a:lnTo>
                      <a:pt x="0" y="81"/>
                    </a:lnTo>
                    <a:lnTo>
                      <a:pt x="47" y="38"/>
                    </a:lnTo>
                    <a:lnTo>
                      <a:pt x="8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7" name="Freeform 170"/>
              <p:cNvSpPr>
                <a:spLocks/>
              </p:cNvSpPr>
              <p:nvPr/>
            </p:nvSpPr>
            <p:spPr bwMode="auto">
              <a:xfrm>
                <a:off x="395" y="2000"/>
                <a:ext cx="4" cy="12"/>
              </a:xfrm>
              <a:custGeom>
                <a:avLst/>
                <a:gdLst>
                  <a:gd name="T0" fmla="*/ 0 w 18"/>
                  <a:gd name="T1" fmla="*/ 0 h 58"/>
                  <a:gd name="T2" fmla="*/ 0 w 18"/>
                  <a:gd name="T3" fmla="*/ 0 h 58"/>
                  <a:gd name="T4" fmla="*/ 0 w 18"/>
                  <a:gd name="T5" fmla="*/ 0 h 58"/>
                  <a:gd name="T6" fmla="*/ 0 w 18"/>
                  <a:gd name="T7" fmla="*/ 0 h 58"/>
                  <a:gd name="T8" fmla="*/ 0 w 18"/>
                  <a:gd name="T9" fmla="*/ 0 h 58"/>
                  <a:gd name="T10" fmla="*/ 0 w 18"/>
                  <a:gd name="T11" fmla="*/ 0 h 58"/>
                  <a:gd name="T12" fmla="*/ 0 w 18"/>
                  <a:gd name="T13" fmla="*/ 0 h 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8" h="58">
                    <a:moveTo>
                      <a:pt x="0" y="0"/>
                    </a:moveTo>
                    <a:lnTo>
                      <a:pt x="11" y="20"/>
                    </a:lnTo>
                    <a:lnTo>
                      <a:pt x="15" y="41"/>
                    </a:lnTo>
                    <a:lnTo>
                      <a:pt x="16" y="58"/>
                    </a:lnTo>
                    <a:lnTo>
                      <a:pt x="18" y="33"/>
                    </a:lnTo>
                    <a:lnTo>
                      <a:pt x="16" y="1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8" name="Freeform 171"/>
              <p:cNvSpPr>
                <a:spLocks/>
              </p:cNvSpPr>
              <p:nvPr/>
            </p:nvSpPr>
            <p:spPr bwMode="auto">
              <a:xfrm>
                <a:off x="432" y="1988"/>
                <a:ext cx="2" cy="4"/>
              </a:xfrm>
              <a:custGeom>
                <a:avLst/>
                <a:gdLst>
                  <a:gd name="T0" fmla="*/ 0 w 9"/>
                  <a:gd name="T1" fmla="*/ 0 h 21"/>
                  <a:gd name="T2" fmla="*/ 0 w 9"/>
                  <a:gd name="T3" fmla="*/ 0 h 21"/>
                  <a:gd name="T4" fmla="*/ 0 w 9"/>
                  <a:gd name="T5" fmla="*/ 0 h 21"/>
                  <a:gd name="T6" fmla="*/ 0 w 9"/>
                  <a:gd name="T7" fmla="*/ 0 h 2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21">
                    <a:moveTo>
                      <a:pt x="2" y="0"/>
                    </a:moveTo>
                    <a:lnTo>
                      <a:pt x="0" y="9"/>
                    </a:lnTo>
                    <a:lnTo>
                      <a:pt x="9" y="21"/>
                    </a:lnTo>
                    <a:lnTo>
                      <a:pt x="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79" name="Group 172"/>
            <p:cNvGrpSpPr>
              <a:grpSpLocks/>
            </p:cNvGrpSpPr>
            <p:nvPr/>
          </p:nvGrpSpPr>
          <p:grpSpPr bwMode="auto">
            <a:xfrm>
              <a:off x="1815539" y="3228651"/>
              <a:ext cx="230517" cy="243448"/>
              <a:chOff x="162" y="1828"/>
              <a:chExt cx="229" cy="262"/>
            </a:xfrm>
          </p:grpSpPr>
          <p:sp>
            <p:nvSpPr>
              <p:cNvPr id="180" name="Freeform 173"/>
              <p:cNvSpPr>
                <a:spLocks/>
              </p:cNvSpPr>
              <p:nvPr/>
            </p:nvSpPr>
            <p:spPr bwMode="auto">
              <a:xfrm>
                <a:off x="286" y="1828"/>
                <a:ext cx="7" cy="5"/>
              </a:xfrm>
              <a:custGeom>
                <a:avLst/>
                <a:gdLst>
                  <a:gd name="T0" fmla="*/ 0 w 37"/>
                  <a:gd name="T1" fmla="*/ 0 h 25"/>
                  <a:gd name="T2" fmla="*/ 0 w 37"/>
                  <a:gd name="T3" fmla="*/ 0 h 25"/>
                  <a:gd name="T4" fmla="*/ 0 w 37"/>
                  <a:gd name="T5" fmla="*/ 0 h 25"/>
                  <a:gd name="T6" fmla="*/ 0 w 37"/>
                  <a:gd name="T7" fmla="*/ 0 h 25"/>
                  <a:gd name="T8" fmla="*/ 0 w 37"/>
                  <a:gd name="T9" fmla="*/ 0 h 25"/>
                  <a:gd name="T10" fmla="*/ 0 w 37"/>
                  <a:gd name="T11" fmla="*/ 0 h 25"/>
                  <a:gd name="T12" fmla="*/ 0 w 37"/>
                  <a:gd name="T13" fmla="*/ 0 h 25"/>
                  <a:gd name="T14" fmla="*/ 0 w 37"/>
                  <a:gd name="T15" fmla="*/ 0 h 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7" h="25">
                    <a:moveTo>
                      <a:pt x="37" y="0"/>
                    </a:moveTo>
                    <a:lnTo>
                      <a:pt x="26" y="7"/>
                    </a:lnTo>
                    <a:lnTo>
                      <a:pt x="16" y="10"/>
                    </a:lnTo>
                    <a:lnTo>
                      <a:pt x="6" y="16"/>
                    </a:lnTo>
                    <a:lnTo>
                      <a:pt x="0" y="25"/>
                    </a:lnTo>
                    <a:lnTo>
                      <a:pt x="9" y="22"/>
                    </a:lnTo>
                    <a:lnTo>
                      <a:pt x="26" y="17"/>
                    </a:lnTo>
                    <a:lnTo>
                      <a:pt x="3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1" name="Freeform 174"/>
              <p:cNvSpPr>
                <a:spLocks/>
              </p:cNvSpPr>
              <p:nvPr/>
            </p:nvSpPr>
            <p:spPr bwMode="auto">
              <a:xfrm>
                <a:off x="289" y="1837"/>
                <a:ext cx="2" cy="3"/>
              </a:xfrm>
              <a:custGeom>
                <a:avLst/>
                <a:gdLst>
                  <a:gd name="T0" fmla="*/ 0 w 9"/>
                  <a:gd name="T1" fmla="*/ 0 h 16"/>
                  <a:gd name="T2" fmla="*/ 0 w 9"/>
                  <a:gd name="T3" fmla="*/ 0 h 16"/>
                  <a:gd name="T4" fmla="*/ 0 w 9"/>
                  <a:gd name="T5" fmla="*/ 0 h 16"/>
                  <a:gd name="T6" fmla="*/ 0 w 9"/>
                  <a:gd name="T7" fmla="*/ 0 h 1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16">
                    <a:moveTo>
                      <a:pt x="9" y="0"/>
                    </a:moveTo>
                    <a:lnTo>
                      <a:pt x="0" y="0"/>
                    </a:lnTo>
                    <a:lnTo>
                      <a:pt x="0" y="16"/>
                    </a:lnTo>
                    <a:lnTo>
                      <a:pt x="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2" name="Freeform 175"/>
              <p:cNvSpPr>
                <a:spLocks/>
              </p:cNvSpPr>
              <p:nvPr/>
            </p:nvSpPr>
            <p:spPr bwMode="auto">
              <a:xfrm>
                <a:off x="260" y="1863"/>
                <a:ext cx="62" cy="154"/>
              </a:xfrm>
              <a:custGeom>
                <a:avLst/>
                <a:gdLst>
                  <a:gd name="T0" fmla="*/ 0 w 309"/>
                  <a:gd name="T1" fmla="*/ 0 h 772"/>
                  <a:gd name="T2" fmla="*/ 0 w 309"/>
                  <a:gd name="T3" fmla="*/ 0 h 772"/>
                  <a:gd name="T4" fmla="*/ 0 w 309"/>
                  <a:gd name="T5" fmla="*/ 0 h 772"/>
                  <a:gd name="T6" fmla="*/ 0 w 309"/>
                  <a:gd name="T7" fmla="*/ 0 h 772"/>
                  <a:gd name="T8" fmla="*/ 0 w 309"/>
                  <a:gd name="T9" fmla="*/ 0 h 772"/>
                  <a:gd name="T10" fmla="*/ 0 w 309"/>
                  <a:gd name="T11" fmla="*/ 0 h 772"/>
                  <a:gd name="T12" fmla="*/ 0 w 309"/>
                  <a:gd name="T13" fmla="*/ 0 h 772"/>
                  <a:gd name="T14" fmla="*/ 0 w 309"/>
                  <a:gd name="T15" fmla="*/ 0 h 772"/>
                  <a:gd name="T16" fmla="*/ 0 w 309"/>
                  <a:gd name="T17" fmla="*/ 0 h 772"/>
                  <a:gd name="T18" fmla="*/ 0 w 309"/>
                  <a:gd name="T19" fmla="*/ 0 h 772"/>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309" h="772">
                    <a:moveTo>
                      <a:pt x="46" y="0"/>
                    </a:moveTo>
                    <a:lnTo>
                      <a:pt x="75" y="32"/>
                    </a:lnTo>
                    <a:lnTo>
                      <a:pt x="84" y="78"/>
                    </a:lnTo>
                    <a:lnTo>
                      <a:pt x="127" y="122"/>
                    </a:lnTo>
                    <a:lnTo>
                      <a:pt x="218" y="330"/>
                    </a:lnTo>
                    <a:lnTo>
                      <a:pt x="269" y="519"/>
                    </a:lnTo>
                    <a:lnTo>
                      <a:pt x="309" y="772"/>
                    </a:lnTo>
                    <a:lnTo>
                      <a:pt x="182" y="659"/>
                    </a:lnTo>
                    <a:lnTo>
                      <a:pt x="0" y="100"/>
                    </a:lnTo>
                    <a:lnTo>
                      <a:pt x="46" y="0"/>
                    </a:lnTo>
                    <a:close/>
                  </a:path>
                </a:pathLst>
              </a:custGeom>
              <a:solidFill>
                <a:srgbClr val="40000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3" name="Freeform 176"/>
              <p:cNvSpPr>
                <a:spLocks/>
              </p:cNvSpPr>
              <p:nvPr/>
            </p:nvSpPr>
            <p:spPr bwMode="auto">
              <a:xfrm>
                <a:off x="162" y="1833"/>
                <a:ext cx="229" cy="257"/>
              </a:xfrm>
              <a:custGeom>
                <a:avLst/>
                <a:gdLst>
                  <a:gd name="T0" fmla="*/ 0 w 1147"/>
                  <a:gd name="T1" fmla="*/ 0 h 1285"/>
                  <a:gd name="T2" fmla="*/ 0 w 1147"/>
                  <a:gd name="T3" fmla="*/ 0 h 1285"/>
                  <a:gd name="T4" fmla="*/ 0 w 1147"/>
                  <a:gd name="T5" fmla="*/ 0 h 1285"/>
                  <a:gd name="T6" fmla="*/ 0 w 1147"/>
                  <a:gd name="T7" fmla="*/ 0 h 1285"/>
                  <a:gd name="T8" fmla="*/ 0 w 1147"/>
                  <a:gd name="T9" fmla="*/ 0 h 1285"/>
                  <a:gd name="T10" fmla="*/ 0 w 1147"/>
                  <a:gd name="T11" fmla="*/ 0 h 1285"/>
                  <a:gd name="T12" fmla="*/ 0 w 1147"/>
                  <a:gd name="T13" fmla="*/ 0 h 1285"/>
                  <a:gd name="T14" fmla="*/ 0 w 1147"/>
                  <a:gd name="T15" fmla="*/ 0 h 1285"/>
                  <a:gd name="T16" fmla="*/ 0 w 1147"/>
                  <a:gd name="T17" fmla="*/ 0 h 1285"/>
                  <a:gd name="T18" fmla="*/ 0 w 1147"/>
                  <a:gd name="T19" fmla="*/ 0 h 1285"/>
                  <a:gd name="T20" fmla="*/ 0 w 1147"/>
                  <a:gd name="T21" fmla="*/ 0 h 1285"/>
                  <a:gd name="T22" fmla="*/ 0 w 1147"/>
                  <a:gd name="T23" fmla="*/ 0 h 1285"/>
                  <a:gd name="T24" fmla="*/ 0 w 1147"/>
                  <a:gd name="T25" fmla="*/ 0 h 1285"/>
                  <a:gd name="T26" fmla="*/ 0 w 1147"/>
                  <a:gd name="T27" fmla="*/ 0 h 1285"/>
                  <a:gd name="T28" fmla="*/ 0 w 1147"/>
                  <a:gd name="T29" fmla="*/ 0 h 1285"/>
                  <a:gd name="T30" fmla="*/ 0 w 1147"/>
                  <a:gd name="T31" fmla="*/ 0 h 1285"/>
                  <a:gd name="T32" fmla="*/ 0 w 1147"/>
                  <a:gd name="T33" fmla="*/ 0 h 1285"/>
                  <a:gd name="T34" fmla="*/ 0 w 1147"/>
                  <a:gd name="T35" fmla="*/ 0 h 1285"/>
                  <a:gd name="T36" fmla="*/ 0 w 1147"/>
                  <a:gd name="T37" fmla="*/ 0 h 1285"/>
                  <a:gd name="T38" fmla="*/ 0 w 1147"/>
                  <a:gd name="T39" fmla="*/ 0 h 1285"/>
                  <a:gd name="T40" fmla="*/ 0 w 1147"/>
                  <a:gd name="T41" fmla="*/ 0 h 1285"/>
                  <a:gd name="T42" fmla="*/ 0 w 1147"/>
                  <a:gd name="T43" fmla="*/ 0 h 1285"/>
                  <a:gd name="T44" fmla="*/ 0 w 1147"/>
                  <a:gd name="T45" fmla="*/ 0 h 1285"/>
                  <a:gd name="T46" fmla="*/ 0 w 1147"/>
                  <a:gd name="T47" fmla="*/ 0 h 1285"/>
                  <a:gd name="T48" fmla="*/ 0 w 1147"/>
                  <a:gd name="T49" fmla="*/ 0 h 1285"/>
                  <a:gd name="T50" fmla="*/ 0 w 1147"/>
                  <a:gd name="T51" fmla="*/ 0 h 1285"/>
                  <a:gd name="T52" fmla="*/ 0 w 1147"/>
                  <a:gd name="T53" fmla="*/ 0 h 1285"/>
                  <a:gd name="T54" fmla="*/ 0 w 1147"/>
                  <a:gd name="T55" fmla="*/ 0 h 1285"/>
                  <a:gd name="T56" fmla="*/ 0 w 1147"/>
                  <a:gd name="T57" fmla="*/ 0 h 1285"/>
                  <a:gd name="T58" fmla="*/ 0 w 1147"/>
                  <a:gd name="T59" fmla="*/ 0 h 1285"/>
                  <a:gd name="T60" fmla="*/ 0 w 1147"/>
                  <a:gd name="T61" fmla="*/ 0 h 1285"/>
                  <a:gd name="T62" fmla="*/ 0 w 1147"/>
                  <a:gd name="T63" fmla="*/ 0 h 1285"/>
                  <a:gd name="T64" fmla="*/ 0 w 1147"/>
                  <a:gd name="T65" fmla="*/ 0 h 1285"/>
                  <a:gd name="T66" fmla="*/ 0 w 1147"/>
                  <a:gd name="T67" fmla="*/ 0 h 1285"/>
                  <a:gd name="T68" fmla="*/ 0 w 1147"/>
                  <a:gd name="T69" fmla="*/ 0 h 1285"/>
                  <a:gd name="T70" fmla="*/ 0 w 1147"/>
                  <a:gd name="T71" fmla="*/ 0 h 1285"/>
                  <a:gd name="T72" fmla="*/ 0 w 1147"/>
                  <a:gd name="T73" fmla="*/ 0 h 1285"/>
                  <a:gd name="T74" fmla="*/ 0 w 1147"/>
                  <a:gd name="T75" fmla="*/ 0 h 1285"/>
                  <a:gd name="T76" fmla="*/ 0 w 1147"/>
                  <a:gd name="T77" fmla="*/ 0 h 1285"/>
                  <a:gd name="T78" fmla="*/ 0 w 1147"/>
                  <a:gd name="T79" fmla="*/ 0 h 1285"/>
                  <a:gd name="T80" fmla="*/ 0 w 1147"/>
                  <a:gd name="T81" fmla="*/ 0 h 1285"/>
                  <a:gd name="T82" fmla="*/ 0 w 1147"/>
                  <a:gd name="T83" fmla="*/ 0 h 1285"/>
                  <a:gd name="T84" fmla="*/ 0 w 1147"/>
                  <a:gd name="T85" fmla="*/ 0 h 1285"/>
                  <a:gd name="T86" fmla="*/ 0 w 1147"/>
                  <a:gd name="T87" fmla="*/ 0 h 1285"/>
                  <a:gd name="T88" fmla="*/ 0 w 1147"/>
                  <a:gd name="T89" fmla="*/ 0 h 1285"/>
                  <a:gd name="T90" fmla="*/ 0 w 1147"/>
                  <a:gd name="T91" fmla="*/ 0 h 1285"/>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147" h="1285">
                    <a:moveTo>
                      <a:pt x="212" y="67"/>
                    </a:moveTo>
                    <a:lnTo>
                      <a:pt x="247" y="0"/>
                    </a:lnTo>
                    <a:lnTo>
                      <a:pt x="528" y="116"/>
                    </a:lnTo>
                    <a:lnTo>
                      <a:pt x="541" y="206"/>
                    </a:lnTo>
                    <a:lnTo>
                      <a:pt x="563" y="238"/>
                    </a:lnTo>
                    <a:lnTo>
                      <a:pt x="595" y="274"/>
                    </a:lnTo>
                    <a:lnTo>
                      <a:pt x="614" y="339"/>
                    </a:lnTo>
                    <a:lnTo>
                      <a:pt x="676" y="487"/>
                    </a:lnTo>
                    <a:lnTo>
                      <a:pt x="727" y="663"/>
                    </a:lnTo>
                    <a:lnTo>
                      <a:pt x="748" y="780"/>
                    </a:lnTo>
                    <a:lnTo>
                      <a:pt x="974" y="785"/>
                    </a:lnTo>
                    <a:lnTo>
                      <a:pt x="1011" y="807"/>
                    </a:lnTo>
                    <a:lnTo>
                      <a:pt x="1115" y="807"/>
                    </a:lnTo>
                    <a:lnTo>
                      <a:pt x="1143" y="853"/>
                    </a:lnTo>
                    <a:lnTo>
                      <a:pt x="1147" y="907"/>
                    </a:lnTo>
                    <a:lnTo>
                      <a:pt x="1137" y="956"/>
                    </a:lnTo>
                    <a:lnTo>
                      <a:pt x="1042" y="974"/>
                    </a:lnTo>
                    <a:lnTo>
                      <a:pt x="997" y="1041"/>
                    </a:lnTo>
                    <a:lnTo>
                      <a:pt x="907" y="1064"/>
                    </a:lnTo>
                    <a:lnTo>
                      <a:pt x="840" y="1064"/>
                    </a:lnTo>
                    <a:lnTo>
                      <a:pt x="763" y="1079"/>
                    </a:lnTo>
                    <a:lnTo>
                      <a:pt x="759" y="1110"/>
                    </a:lnTo>
                    <a:lnTo>
                      <a:pt x="763" y="1177"/>
                    </a:lnTo>
                    <a:lnTo>
                      <a:pt x="754" y="1223"/>
                    </a:lnTo>
                    <a:lnTo>
                      <a:pt x="713" y="1227"/>
                    </a:lnTo>
                    <a:lnTo>
                      <a:pt x="663" y="1236"/>
                    </a:lnTo>
                    <a:lnTo>
                      <a:pt x="614" y="1282"/>
                    </a:lnTo>
                    <a:lnTo>
                      <a:pt x="554" y="1282"/>
                    </a:lnTo>
                    <a:lnTo>
                      <a:pt x="501" y="1276"/>
                    </a:lnTo>
                    <a:lnTo>
                      <a:pt x="420" y="1250"/>
                    </a:lnTo>
                    <a:lnTo>
                      <a:pt x="330" y="1259"/>
                    </a:lnTo>
                    <a:lnTo>
                      <a:pt x="238" y="1285"/>
                    </a:lnTo>
                    <a:lnTo>
                      <a:pt x="153" y="1267"/>
                    </a:lnTo>
                    <a:lnTo>
                      <a:pt x="95" y="1200"/>
                    </a:lnTo>
                    <a:lnTo>
                      <a:pt x="99" y="1128"/>
                    </a:lnTo>
                    <a:lnTo>
                      <a:pt x="76" y="1038"/>
                    </a:lnTo>
                    <a:lnTo>
                      <a:pt x="64" y="920"/>
                    </a:lnTo>
                    <a:lnTo>
                      <a:pt x="36" y="812"/>
                    </a:lnTo>
                    <a:lnTo>
                      <a:pt x="0" y="650"/>
                    </a:lnTo>
                    <a:lnTo>
                      <a:pt x="4" y="487"/>
                    </a:lnTo>
                    <a:lnTo>
                      <a:pt x="4" y="342"/>
                    </a:lnTo>
                    <a:lnTo>
                      <a:pt x="14" y="243"/>
                    </a:lnTo>
                    <a:lnTo>
                      <a:pt x="36" y="198"/>
                    </a:lnTo>
                    <a:lnTo>
                      <a:pt x="87" y="162"/>
                    </a:lnTo>
                    <a:lnTo>
                      <a:pt x="145" y="102"/>
                    </a:lnTo>
                    <a:lnTo>
                      <a:pt x="212" y="67"/>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4" name="Freeform 177"/>
              <p:cNvSpPr>
                <a:spLocks/>
              </p:cNvSpPr>
              <p:nvPr/>
            </p:nvSpPr>
            <p:spPr bwMode="auto">
              <a:xfrm>
                <a:off x="166" y="1848"/>
                <a:ext cx="145" cy="240"/>
              </a:xfrm>
              <a:custGeom>
                <a:avLst/>
                <a:gdLst>
                  <a:gd name="T0" fmla="*/ 0 w 725"/>
                  <a:gd name="T1" fmla="*/ 0 h 1198"/>
                  <a:gd name="T2" fmla="*/ 0 w 725"/>
                  <a:gd name="T3" fmla="*/ 0 h 1198"/>
                  <a:gd name="T4" fmla="*/ 0 w 725"/>
                  <a:gd name="T5" fmla="*/ 0 h 1198"/>
                  <a:gd name="T6" fmla="*/ 0 w 725"/>
                  <a:gd name="T7" fmla="*/ 0 h 1198"/>
                  <a:gd name="T8" fmla="*/ 0 w 725"/>
                  <a:gd name="T9" fmla="*/ 0 h 1198"/>
                  <a:gd name="T10" fmla="*/ 0 w 725"/>
                  <a:gd name="T11" fmla="*/ 0 h 1198"/>
                  <a:gd name="T12" fmla="*/ 0 w 725"/>
                  <a:gd name="T13" fmla="*/ 0 h 1198"/>
                  <a:gd name="T14" fmla="*/ 0 w 725"/>
                  <a:gd name="T15" fmla="*/ 0 h 1198"/>
                  <a:gd name="T16" fmla="*/ 0 w 725"/>
                  <a:gd name="T17" fmla="*/ 0 h 1198"/>
                  <a:gd name="T18" fmla="*/ 0 w 725"/>
                  <a:gd name="T19" fmla="*/ 0 h 1198"/>
                  <a:gd name="T20" fmla="*/ 0 w 725"/>
                  <a:gd name="T21" fmla="*/ 0 h 1198"/>
                  <a:gd name="T22" fmla="*/ 0 w 725"/>
                  <a:gd name="T23" fmla="*/ 0 h 1198"/>
                  <a:gd name="T24" fmla="*/ 0 w 725"/>
                  <a:gd name="T25" fmla="*/ 0 h 1198"/>
                  <a:gd name="T26" fmla="*/ 0 w 725"/>
                  <a:gd name="T27" fmla="*/ 0 h 1198"/>
                  <a:gd name="T28" fmla="*/ 0 w 725"/>
                  <a:gd name="T29" fmla="*/ 0 h 1198"/>
                  <a:gd name="T30" fmla="*/ 0 w 725"/>
                  <a:gd name="T31" fmla="*/ 0 h 1198"/>
                  <a:gd name="T32" fmla="*/ 0 w 725"/>
                  <a:gd name="T33" fmla="*/ 0 h 1198"/>
                  <a:gd name="T34" fmla="*/ 0 w 725"/>
                  <a:gd name="T35" fmla="*/ 0 h 1198"/>
                  <a:gd name="T36" fmla="*/ 0 w 725"/>
                  <a:gd name="T37" fmla="*/ 0 h 1198"/>
                  <a:gd name="T38" fmla="*/ 0 w 725"/>
                  <a:gd name="T39" fmla="*/ 0 h 1198"/>
                  <a:gd name="T40" fmla="*/ 0 w 725"/>
                  <a:gd name="T41" fmla="*/ 0 h 1198"/>
                  <a:gd name="T42" fmla="*/ 0 w 725"/>
                  <a:gd name="T43" fmla="*/ 0 h 1198"/>
                  <a:gd name="T44" fmla="*/ 0 w 725"/>
                  <a:gd name="T45" fmla="*/ 0 h 1198"/>
                  <a:gd name="T46" fmla="*/ 0 w 725"/>
                  <a:gd name="T47" fmla="*/ 0 h 1198"/>
                  <a:gd name="T48" fmla="*/ 0 w 725"/>
                  <a:gd name="T49" fmla="*/ 0 h 1198"/>
                  <a:gd name="T50" fmla="*/ 0 w 725"/>
                  <a:gd name="T51" fmla="*/ 0 h 1198"/>
                  <a:gd name="T52" fmla="*/ 0 w 725"/>
                  <a:gd name="T53" fmla="*/ 0 h 1198"/>
                  <a:gd name="T54" fmla="*/ 0 w 725"/>
                  <a:gd name="T55" fmla="*/ 0 h 1198"/>
                  <a:gd name="T56" fmla="*/ 0 w 725"/>
                  <a:gd name="T57" fmla="*/ 0 h 1198"/>
                  <a:gd name="T58" fmla="*/ 0 w 725"/>
                  <a:gd name="T59" fmla="*/ 0 h 1198"/>
                  <a:gd name="T60" fmla="*/ 0 w 725"/>
                  <a:gd name="T61" fmla="*/ 0 h 1198"/>
                  <a:gd name="T62" fmla="*/ 0 w 725"/>
                  <a:gd name="T63" fmla="*/ 0 h 1198"/>
                  <a:gd name="T64" fmla="*/ 0 w 725"/>
                  <a:gd name="T65" fmla="*/ 0 h 1198"/>
                  <a:gd name="T66" fmla="*/ 0 w 725"/>
                  <a:gd name="T67" fmla="*/ 0 h 1198"/>
                  <a:gd name="T68" fmla="*/ 0 w 725"/>
                  <a:gd name="T69" fmla="*/ 0 h 1198"/>
                  <a:gd name="T70" fmla="*/ 0 w 725"/>
                  <a:gd name="T71" fmla="*/ 0 h 1198"/>
                  <a:gd name="T72" fmla="*/ 0 w 725"/>
                  <a:gd name="T73" fmla="*/ 0 h 1198"/>
                  <a:gd name="T74" fmla="*/ 0 w 725"/>
                  <a:gd name="T75" fmla="*/ 0 h 1198"/>
                  <a:gd name="T76" fmla="*/ 0 w 725"/>
                  <a:gd name="T77" fmla="*/ 0 h 119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725" h="1198">
                    <a:moveTo>
                      <a:pt x="725" y="1005"/>
                    </a:moveTo>
                    <a:lnTo>
                      <a:pt x="630" y="990"/>
                    </a:lnTo>
                    <a:lnTo>
                      <a:pt x="549" y="986"/>
                    </a:lnTo>
                    <a:lnTo>
                      <a:pt x="460" y="978"/>
                    </a:lnTo>
                    <a:lnTo>
                      <a:pt x="359" y="963"/>
                    </a:lnTo>
                    <a:lnTo>
                      <a:pt x="314" y="932"/>
                    </a:lnTo>
                    <a:lnTo>
                      <a:pt x="193" y="780"/>
                    </a:lnTo>
                    <a:lnTo>
                      <a:pt x="256" y="825"/>
                    </a:lnTo>
                    <a:lnTo>
                      <a:pt x="297" y="861"/>
                    </a:lnTo>
                    <a:lnTo>
                      <a:pt x="274" y="753"/>
                    </a:lnTo>
                    <a:lnTo>
                      <a:pt x="228" y="712"/>
                    </a:lnTo>
                    <a:lnTo>
                      <a:pt x="162" y="600"/>
                    </a:lnTo>
                    <a:lnTo>
                      <a:pt x="225" y="653"/>
                    </a:lnTo>
                    <a:lnTo>
                      <a:pt x="266" y="668"/>
                    </a:lnTo>
                    <a:lnTo>
                      <a:pt x="256" y="590"/>
                    </a:lnTo>
                    <a:lnTo>
                      <a:pt x="211" y="532"/>
                    </a:lnTo>
                    <a:lnTo>
                      <a:pt x="167" y="487"/>
                    </a:lnTo>
                    <a:lnTo>
                      <a:pt x="121" y="355"/>
                    </a:lnTo>
                    <a:lnTo>
                      <a:pt x="207" y="464"/>
                    </a:lnTo>
                    <a:lnTo>
                      <a:pt x="256" y="504"/>
                    </a:lnTo>
                    <a:lnTo>
                      <a:pt x="261" y="337"/>
                    </a:lnTo>
                    <a:lnTo>
                      <a:pt x="274" y="271"/>
                    </a:lnTo>
                    <a:lnTo>
                      <a:pt x="301" y="240"/>
                    </a:lnTo>
                    <a:lnTo>
                      <a:pt x="341" y="190"/>
                    </a:lnTo>
                    <a:lnTo>
                      <a:pt x="405" y="167"/>
                    </a:lnTo>
                    <a:lnTo>
                      <a:pt x="437" y="153"/>
                    </a:lnTo>
                    <a:lnTo>
                      <a:pt x="347" y="68"/>
                    </a:lnTo>
                    <a:lnTo>
                      <a:pt x="251" y="90"/>
                    </a:lnTo>
                    <a:lnTo>
                      <a:pt x="188" y="127"/>
                    </a:lnTo>
                    <a:lnTo>
                      <a:pt x="167" y="162"/>
                    </a:lnTo>
                    <a:lnTo>
                      <a:pt x="184" y="107"/>
                    </a:lnTo>
                    <a:lnTo>
                      <a:pt x="220" y="90"/>
                    </a:lnTo>
                    <a:lnTo>
                      <a:pt x="278" y="68"/>
                    </a:lnTo>
                    <a:lnTo>
                      <a:pt x="324" y="60"/>
                    </a:lnTo>
                    <a:lnTo>
                      <a:pt x="297" y="45"/>
                    </a:lnTo>
                    <a:lnTo>
                      <a:pt x="251" y="32"/>
                    </a:lnTo>
                    <a:lnTo>
                      <a:pt x="211" y="17"/>
                    </a:lnTo>
                    <a:lnTo>
                      <a:pt x="188" y="0"/>
                    </a:lnTo>
                    <a:lnTo>
                      <a:pt x="136" y="37"/>
                    </a:lnTo>
                    <a:lnTo>
                      <a:pt x="104" y="68"/>
                    </a:lnTo>
                    <a:lnTo>
                      <a:pt x="73" y="107"/>
                    </a:lnTo>
                    <a:lnTo>
                      <a:pt x="27" y="130"/>
                    </a:lnTo>
                    <a:lnTo>
                      <a:pt x="18" y="172"/>
                    </a:lnTo>
                    <a:lnTo>
                      <a:pt x="0" y="240"/>
                    </a:lnTo>
                    <a:lnTo>
                      <a:pt x="0" y="342"/>
                    </a:lnTo>
                    <a:lnTo>
                      <a:pt x="5" y="450"/>
                    </a:lnTo>
                    <a:lnTo>
                      <a:pt x="8" y="573"/>
                    </a:lnTo>
                    <a:lnTo>
                      <a:pt x="31" y="698"/>
                    </a:lnTo>
                    <a:lnTo>
                      <a:pt x="58" y="830"/>
                    </a:lnTo>
                    <a:lnTo>
                      <a:pt x="73" y="941"/>
                    </a:lnTo>
                    <a:lnTo>
                      <a:pt x="95" y="1022"/>
                    </a:lnTo>
                    <a:lnTo>
                      <a:pt x="90" y="1095"/>
                    </a:lnTo>
                    <a:lnTo>
                      <a:pt x="99" y="1135"/>
                    </a:lnTo>
                    <a:lnTo>
                      <a:pt x="131" y="1166"/>
                    </a:lnTo>
                    <a:lnTo>
                      <a:pt x="171" y="1193"/>
                    </a:lnTo>
                    <a:lnTo>
                      <a:pt x="225" y="1198"/>
                    </a:lnTo>
                    <a:lnTo>
                      <a:pt x="251" y="1185"/>
                    </a:lnTo>
                    <a:lnTo>
                      <a:pt x="288" y="1181"/>
                    </a:lnTo>
                    <a:lnTo>
                      <a:pt x="374" y="1163"/>
                    </a:lnTo>
                    <a:lnTo>
                      <a:pt x="337" y="1118"/>
                    </a:lnTo>
                    <a:lnTo>
                      <a:pt x="297" y="1053"/>
                    </a:lnTo>
                    <a:lnTo>
                      <a:pt x="356" y="1099"/>
                    </a:lnTo>
                    <a:lnTo>
                      <a:pt x="401" y="1140"/>
                    </a:lnTo>
                    <a:lnTo>
                      <a:pt x="433" y="1163"/>
                    </a:lnTo>
                    <a:lnTo>
                      <a:pt x="477" y="1185"/>
                    </a:lnTo>
                    <a:lnTo>
                      <a:pt x="527" y="1185"/>
                    </a:lnTo>
                    <a:lnTo>
                      <a:pt x="575" y="1185"/>
                    </a:lnTo>
                    <a:lnTo>
                      <a:pt x="603" y="1172"/>
                    </a:lnTo>
                    <a:lnTo>
                      <a:pt x="616" y="1158"/>
                    </a:lnTo>
                    <a:lnTo>
                      <a:pt x="553" y="1122"/>
                    </a:lnTo>
                    <a:lnTo>
                      <a:pt x="491" y="1063"/>
                    </a:lnTo>
                    <a:lnTo>
                      <a:pt x="472" y="1036"/>
                    </a:lnTo>
                    <a:lnTo>
                      <a:pt x="523" y="1050"/>
                    </a:lnTo>
                    <a:lnTo>
                      <a:pt x="598" y="1108"/>
                    </a:lnTo>
                    <a:lnTo>
                      <a:pt x="630" y="1135"/>
                    </a:lnTo>
                    <a:lnTo>
                      <a:pt x="702" y="1140"/>
                    </a:lnTo>
                    <a:lnTo>
                      <a:pt x="725" y="1126"/>
                    </a:lnTo>
                    <a:lnTo>
                      <a:pt x="725" y="1095"/>
                    </a:lnTo>
                    <a:lnTo>
                      <a:pt x="725" y="1005"/>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5" name="Freeform 178"/>
              <p:cNvSpPr>
                <a:spLocks/>
              </p:cNvSpPr>
              <p:nvPr/>
            </p:nvSpPr>
            <p:spPr bwMode="auto">
              <a:xfrm>
                <a:off x="176" y="1968"/>
                <a:ext cx="43" cy="110"/>
              </a:xfrm>
              <a:custGeom>
                <a:avLst/>
                <a:gdLst>
                  <a:gd name="T0" fmla="*/ 0 w 211"/>
                  <a:gd name="T1" fmla="*/ 0 h 553"/>
                  <a:gd name="T2" fmla="*/ 0 w 211"/>
                  <a:gd name="T3" fmla="*/ 0 h 553"/>
                  <a:gd name="T4" fmla="*/ 0 w 211"/>
                  <a:gd name="T5" fmla="*/ 0 h 553"/>
                  <a:gd name="T6" fmla="*/ 0 w 211"/>
                  <a:gd name="T7" fmla="*/ 0 h 553"/>
                  <a:gd name="T8" fmla="*/ 0 w 211"/>
                  <a:gd name="T9" fmla="*/ 0 h 553"/>
                  <a:gd name="T10" fmla="*/ 0 w 211"/>
                  <a:gd name="T11" fmla="*/ 0 h 553"/>
                  <a:gd name="T12" fmla="*/ 0 w 211"/>
                  <a:gd name="T13" fmla="*/ 0 h 553"/>
                  <a:gd name="T14" fmla="*/ 0 w 211"/>
                  <a:gd name="T15" fmla="*/ 0 h 553"/>
                  <a:gd name="T16" fmla="*/ 0 w 211"/>
                  <a:gd name="T17" fmla="*/ 0 h 553"/>
                  <a:gd name="T18" fmla="*/ 0 w 211"/>
                  <a:gd name="T19" fmla="*/ 0 h 553"/>
                  <a:gd name="T20" fmla="*/ 0 w 211"/>
                  <a:gd name="T21" fmla="*/ 0 h 553"/>
                  <a:gd name="T22" fmla="*/ 0 w 211"/>
                  <a:gd name="T23" fmla="*/ 0 h 553"/>
                  <a:gd name="T24" fmla="*/ 0 w 211"/>
                  <a:gd name="T25" fmla="*/ 0 h 553"/>
                  <a:gd name="T26" fmla="*/ 0 w 211"/>
                  <a:gd name="T27" fmla="*/ 0 h 5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11" h="553">
                    <a:moveTo>
                      <a:pt x="211" y="553"/>
                    </a:moveTo>
                    <a:lnTo>
                      <a:pt x="173" y="535"/>
                    </a:lnTo>
                    <a:lnTo>
                      <a:pt x="134" y="490"/>
                    </a:lnTo>
                    <a:lnTo>
                      <a:pt x="99" y="410"/>
                    </a:lnTo>
                    <a:lnTo>
                      <a:pt x="81" y="342"/>
                    </a:lnTo>
                    <a:lnTo>
                      <a:pt x="53" y="265"/>
                    </a:lnTo>
                    <a:lnTo>
                      <a:pt x="41" y="192"/>
                    </a:lnTo>
                    <a:lnTo>
                      <a:pt x="19" y="81"/>
                    </a:lnTo>
                    <a:lnTo>
                      <a:pt x="0" y="0"/>
                    </a:lnTo>
                    <a:lnTo>
                      <a:pt x="45" y="162"/>
                    </a:lnTo>
                    <a:lnTo>
                      <a:pt x="81" y="287"/>
                    </a:lnTo>
                    <a:lnTo>
                      <a:pt x="121" y="373"/>
                    </a:lnTo>
                    <a:lnTo>
                      <a:pt x="183" y="463"/>
                    </a:lnTo>
                    <a:lnTo>
                      <a:pt x="211" y="55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6" name="Freeform 179"/>
              <p:cNvSpPr>
                <a:spLocks/>
              </p:cNvSpPr>
              <p:nvPr/>
            </p:nvSpPr>
            <p:spPr bwMode="auto">
              <a:xfrm>
                <a:off x="220" y="1878"/>
                <a:ext cx="167" cy="167"/>
              </a:xfrm>
              <a:custGeom>
                <a:avLst/>
                <a:gdLst>
                  <a:gd name="T0" fmla="*/ 0 w 838"/>
                  <a:gd name="T1" fmla="*/ 0 h 832"/>
                  <a:gd name="T2" fmla="*/ 0 w 838"/>
                  <a:gd name="T3" fmla="*/ 0 h 832"/>
                  <a:gd name="T4" fmla="*/ 0 w 838"/>
                  <a:gd name="T5" fmla="*/ 0 h 832"/>
                  <a:gd name="T6" fmla="*/ 0 w 838"/>
                  <a:gd name="T7" fmla="*/ 0 h 832"/>
                  <a:gd name="T8" fmla="*/ 0 w 838"/>
                  <a:gd name="T9" fmla="*/ 0 h 832"/>
                  <a:gd name="T10" fmla="*/ 0 w 838"/>
                  <a:gd name="T11" fmla="*/ 0 h 832"/>
                  <a:gd name="T12" fmla="*/ 0 w 838"/>
                  <a:gd name="T13" fmla="*/ 0 h 832"/>
                  <a:gd name="T14" fmla="*/ 0 w 838"/>
                  <a:gd name="T15" fmla="*/ 0 h 832"/>
                  <a:gd name="T16" fmla="*/ 0 w 838"/>
                  <a:gd name="T17" fmla="*/ 0 h 832"/>
                  <a:gd name="T18" fmla="*/ 0 w 838"/>
                  <a:gd name="T19" fmla="*/ 0 h 832"/>
                  <a:gd name="T20" fmla="*/ 0 w 838"/>
                  <a:gd name="T21" fmla="*/ 0 h 832"/>
                  <a:gd name="T22" fmla="*/ 0 w 838"/>
                  <a:gd name="T23" fmla="*/ 0 h 832"/>
                  <a:gd name="T24" fmla="*/ 0 w 838"/>
                  <a:gd name="T25" fmla="*/ 0 h 832"/>
                  <a:gd name="T26" fmla="*/ 0 w 838"/>
                  <a:gd name="T27" fmla="*/ 0 h 832"/>
                  <a:gd name="T28" fmla="*/ 0 w 838"/>
                  <a:gd name="T29" fmla="*/ 0 h 832"/>
                  <a:gd name="T30" fmla="*/ 0 w 838"/>
                  <a:gd name="T31" fmla="*/ 0 h 832"/>
                  <a:gd name="T32" fmla="*/ 0 w 838"/>
                  <a:gd name="T33" fmla="*/ 0 h 832"/>
                  <a:gd name="T34" fmla="*/ 0 w 838"/>
                  <a:gd name="T35" fmla="*/ 0 h 832"/>
                  <a:gd name="T36" fmla="*/ 0 w 838"/>
                  <a:gd name="T37" fmla="*/ 0 h 832"/>
                  <a:gd name="T38" fmla="*/ 0 w 838"/>
                  <a:gd name="T39" fmla="*/ 0 h 832"/>
                  <a:gd name="T40" fmla="*/ 0 w 838"/>
                  <a:gd name="T41" fmla="*/ 0 h 832"/>
                  <a:gd name="T42" fmla="*/ 0 w 838"/>
                  <a:gd name="T43" fmla="*/ 0 h 832"/>
                  <a:gd name="T44" fmla="*/ 0 w 838"/>
                  <a:gd name="T45" fmla="*/ 0 h 832"/>
                  <a:gd name="T46" fmla="*/ 0 w 838"/>
                  <a:gd name="T47" fmla="*/ 0 h 832"/>
                  <a:gd name="T48" fmla="*/ 0 w 838"/>
                  <a:gd name="T49" fmla="*/ 0 h 832"/>
                  <a:gd name="T50" fmla="*/ 0 w 838"/>
                  <a:gd name="T51" fmla="*/ 0 h 832"/>
                  <a:gd name="T52" fmla="*/ 0 w 838"/>
                  <a:gd name="T53" fmla="*/ 0 h 832"/>
                  <a:gd name="T54" fmla="*/ 0 w 838"/>
                  <a:gd name="T55" fmla="*/ 0 h 832"/>
                  <a:gd name="T56" fmla="*/ 0 w 838"/>
                  <a:gd name="T57" fmla="*/ 0 h 832"/>
                  <a:gd name="T58" fmla="*/ 0 w 838"/>
                  <a:gd name="T59" fmla="*/ 0 h 832"/>
                  <a:gd name="T60" fmla="*/ 0 w 838"/>
                  <a:gd name="T61" fmla="*/ 0 h 832"/>
                  <a:gd name="T62" fmla="*/ 0 w 838"/>
                  <a:gd name="T63" fmla="*/ 0 h 832"/>
                  <a:gd name="T64" fmla="*/ 0 w 838"/>
                  <a:gd name="T65" fmla="*/ 0 h 832"/>
                  <a:gd name="T66" fmla="*/ 0 w 838"/>
                  <a:gd name="T67" fmla="*/ 0 h 832"/>
                  <a:gd name="T68" fmla="*/ 0 w 838"/>
                  <a:gd name="T69" fmla="*/ 0 h 832"/>
                  <a:gd name="T70" fmla="*/ 0 w 838"/>
                  <a:gd name="T71" fmla="*/ 0 h 832"/>
                  <a:gd name="T72" fmla="*/ 0 w 838"/>
                  <a:gd name="T73" fmla="*/ 0 h 832"/>
                  <a:gd name="T74" fmla="*/ 0 w 838"/>
                  <a:gd name="T75" fmla="*/ 0 h 832"/>
                  <a:gd name="T76" fmla="*/ 0 w 838"/>
                  <a:gd name="T77" fmla="*/ 0 h 832"/>
                  <a:gd name="T78" fmla="*/ 0 w 838"/>
                  <a:gd name="T79" fmla="*/ 0 h 832"/>
                  <a:gd name="T80" fmla="*/ 0 w 838"/>
                  <a:gd name="T81" fmla="*/ 0 h 832"/>
                  <a:gd name="T82" fmla="*/ 0 w 838"/>
                  <a:gd name="T83" fmla="*/ 0 h 832"/>
                  <a:gd name="T84" fmla="*/ 0 w 838"/>
                  <a:gd name="T85" fmla="*/ 0 h 832"/>
                  <a:gd name="T86" fmla="*/ 0 w 838"/>
                  <a:gd name="T87" fmla="*/ 0 h 832"/>
                  <a:gd name="T88" fmla="*/ 0 w 838"/>
                  <a:gd name="T89" fmla="*/ 0 h 832"/>
                  <a:gd name="T90" fmla="*/ 0 w 838"/>
                  <a:gd name="T91" fmla="*/ 0 h 832"/>
                  <a:gd name="T92" fmla="*/ 0 w 838"/>
                  <a:gd name="T93" fmla="*/ 0 h 832"/>
                  <a:gd name="T94" fmla="*/ 0 w 838"/>
                  <a:gd name="T95" fmla="*/ 0 h 832"/>
                  <a:gd name="T96" fmla="*/ 0 w 838"/>
                  <a:gd name="T97" fmla="*/ 0 h 832"/>
                  <a:gd name="T98" fmla="*/ 0 w 838"/>
                  <a:gd name="T99" fmla="*/ 0 h 832"/>
                  <a:gd name="T100" fmla="*/ 0 w 838"/>
                  <a:gd name="T101" fmla="*/ 0 h 832"/>
                  <a:gd name="T102" fmla="*/ 0 w 838"/>
                  <a:gd name="T103" fmla="*/ 0 h 832"/>
                  <a:gd name="T104" fmla="*/ 0 w 838"/>
                  <a:gd name="T105" fmla="*/ 0 h 832"/>
                  <a:gd name="T106" fmla="*/ 0 w 838"/>
                  <a:gd name="T107" fmla="*/ 0 h 832"/>
                  <a:gd name="T108" fmla="*/ 0 w 838"/>
                  <a:gd name="T109" fmla="*/ 0 h 832"/>
                  <a:gd name="T110" fmla="*/ 0 w 838"/>
                  <a:gd name="T111" fmla="*/ 0 h 83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838" h="832">
                    <a:moveTo>
                      <a:pt x="155" y="0"/>
                    </a:moveTo>
                    <a:lnTo>
                      <a:pt x="253" y="30"/>
                    </a:lnTo>
                    <a:lnTo>
                      <a:pt x="298" y="70"/>
                    </a:lnTo>
                    <a:lnTo>
                      <a:pt x="326" y="153"/>
                    </a:lnTo>
                    <a:lnTo>
                      <a:pt x="326" y="228"/>
                    </a:lnTo>
                    <a:lnTo>
                      <a:pt x="311" y="272"/>
                    </a:lnTo>
                    <a:lnTo>
                      <a:pt x="320" y="350"/>
                    </a:lnTo>
                    <a:lnTo>
                      <a:pt x="320" y="408"/>
                    </a:lnTo>
                    <a:lnTo>
                      <a:pt x="306" y="423"/>
                    </a:lnTo>
                    <a:lnTo>
                      <a:pt x="320" y="445"/>
                    </a:lnTo>
                    <a:lnTo>
                      <a:pt x="329" y="467"/>
                    </a:lnTo>
                    <a:lnTo>
                      <a:pt x="311" y="490"/>
                    </a:lnTo>
                    <a:lnTo>
                      <a:pt x="311" y="513"/>
                    </a:lnTo>
                    <a:lnTo>
                      <a:pt x="347" y="521"/>
                    </a:lnTo>
                    <a:lnTo>
                      <a:pt x="343" y="544"/>
                    </a:lnTo>
                    <a:lnTo>
                      <a:pt x="378" y="557"/>
                    </a:lnTo>
                    <a:lnTo>
                      <a:pt x="411" y="548"/>
                    </a:lnTo>
                    <a:lnTo>
                      <a:pt x="433" y="557"/>
                    </a:lnTo>
                    <a:lnTo>
                      <a:pt x="532" y="571"/>
                    </a:lnTo>
                    <a:lnTo>
                      <a:pt x="622" y="567"/>
                    </a:lnTo>
                    <a:lnTo>
                      <a:pt x="679" y="571"/>
                    </a:lnTo>
                    <a:lnTo>
                      <a:pt x="717" y="594"/>
                    </a:lnTo>
                    <a:lnTo>
                      <a:pt x="807" y="594"/>
                    </a:lnTo>
                    <a:lnTo>
                      <a:pt x="838" y="625"/>
                    </a:lnTo>
                    <a:lnTo>
                      <a:pt x="838" y="660"/>
                    </a:lnTo>
                    <a:lnTo>
                      <a:pt x="833" y="719"/>
                    </a:lnTo>
                    <a:lnTo>
                      <a:pt x="762" y="738"/>
                    </a:lnTo>
                    <a:lnTo>
                      <a:pt x="762" y="700"/>
                    </a:lnTo>
                    <a:lnTo>
                      <a:pt x="757" y="669"/>
                    </a:lnTo>
                    <a:lnTo>
                      <a:pt x="743" y="656"/>
                    </a:lnTo>
                    <a:lnTo>
                      <a:pt x="739" y="692"/>
                    </a:lnTo>
                    <a:lnTo>
                      <a:pt x="734" y="738"/>
                    </a:lnTo>
                    <a:lnTo>
                      <a:pt x="717" y="765"/>
                    </a:lnTo>
                    <a:lnTo>
                      <a:pt x="685" y="800"/>
                    </a:lnTo>
                    <a:lnTo>
                      <a:pt x="610" y="818"/>
                    </a:lnTo>
                    <a:lnTo>
                      <a:pt x="550" y="828"/>
                    </a:lnTo>
                    <a:lnTo>
                      <a:pt x="482" y="832"/>
                    </a:lnTo>
                    <a:lnTo>
                      <a:pt x="569" y="782"/>
                    </a:lnTo>
                    <a:lnTo>
                      <a:pt x="627" y="738"/>
                    </a:lnTo>
                    <a:lnTo>
                      <a:pt x="639" y="700"/>
                    </a:lnTo>
                    <a:lnTo>
                      <a:pt x="631" y="669"/>
                    </a:lnTo>
                    <a:lnTo>
                      <a:pt x="582" y="665"/>
                    </a:lnTo>
                    <a:lnTo>
                      <a:pt x="564" y="700"/>
                    </a:lnTo>
                    <a:lnTo>
                      <a:pt x="550" y="742"/>
                    </a:lnTo>
                    <a:lnTo>
                      <a:pt x="505" y="787"/>
                    </a:lnTo>
                    <a:lnTo>
                      <a:pt x="456" y="823"/>
                    </a:lnTo>
                    <a:lnTo>
                      <a:pt x="406" y="828"/>
                    </a:lnTo>
                    <a:lnTo>
                      <a:pt x="329" y="823"/>
                    </a:lnTo>
                    <a:lnTo>
                      <a:pt x="411" y="759"/>
                    </a:lnTo>
                    <a:lnTo>
                      <a:pt x="469" y="727"/>
                    </a:lnTo>
                    <a:lnTo>
                      <a:pt x="514" y="692"/>
                    </a:lnTo>
                    <a:lnTo>
                      <a:pt x="528" y="665"/>
                    </a:lnTo>
                    <a:lnTo>
                      <a:pt x="524" y="637"/>
                    </a:lnTo>
                    <a:lnTo>
                      <a:pt x="497" y="633"/>
                    </a:lnTo>
                    <a:lnTo>
                      <a:pt x="465" y="660"/>
                    </a:lnTo>
                    <a:lnTo>
                      <a:pt x="447" y="697"/>
                    </a:lnTo>
                    <a:lnTo>
                      <a:pt x="406" y="742"/>
                    </a:lnTo>
                    <a:lnTo>
                      <a:pt x="356" y="765"/>
                    </a:lnTo>
                    <a:lnTo>
                      <a:pt x="320" y="787"/>
                    </a:lnTo>
                    <a:lnTo>
                      <a:pt x="280" y="805"/>
                    </a:lnTo>
                    <a:lnTo>
                      <a:pt x="234" y="813"/>
                    </a:lnTo>
                    <a:lnTo>
                      <a:pt x="181" y="813"/>
                    </a:lnTo>
                    <a:lnTo>
                      <a:pt x="129" y="804"/>
                    </a:lnTo>
                    <a:lnTo>
                      <a:pt x="244" y="765"/>
                    </a:lnTo>
                    <a:lnTo>
                      <a:pt x="288" y="742"/>
                    </a:lnTo>
                    <a:lnTo>
                      <a:pt x="320" y="700"/>
                    </a:lnTo>
                    <a:lnTo>
                      <a:pt x="326" y="665"/>
                    </a:lnTo>
                    <a:lnTo>
                      <a:pt x="298" y="665"/>
                    </a:lnTo>
                    <a:lnTo>
                      <a:pt x="285" y="697"/>
                    </a:lnTo>
                    <a:lnTo>
                      <a:pt x="262" y="723"/>
                    </a:lnTo>
                    <a:lnTo>
                      <a:pt x="225" y="751"/>
                    </a:lnTo>
                    <a:lnTo>
                      <a:pt x="185" y="779"/>
                    </a:lnTo>
                    <a:lnTo>
                      <a:pt x="132" y="802"/>
                    </a:lnTo>
                    <a:lnTo>
                      <a:pt x="91" y="787"/>
                    </a:lnTo>
                    <a:lnTo>
                      <a:pt x="72" y="765"/>
                    </a:lnTo>
                    <a:lnTo>
                      <a:pt x="42" y="709"/>
                    </a:lnTo>
                    <a:lnTo>
                      <a:pt x="100" y="697"/>
                    </a:lnTo>
                    <a:lnTo>
                      <a:pt x="212" y="683"/>
                    </a:lnTo>
                    <a:lnTo>
                      <a:pt x="280" y="652"/>
                    </a:lnTo>
                    <a:lnTo>
                      <a:pt x="315" y="621"/>
                    </a:lnTo>
                    <a:lnTo>
                      <a:pt x="329" y="585"/>
                    </a:lnTo>
                    <a:lnTo>
                      <a:pt x="334" y="567"/>
                    </a:lnTo>
                    <a:lnTo>
                      <a:pt x="315" y="567"/>
                    </a:lnTo>
                    <a:lnTo>
                      <a:pt x="293" y="594"/>
                    </a:lnTo>
                    <a:lnTo>
                      <a:pt x="257" y="642"/>
                    </a:lnTo>
                    <a:lnTo>
                      <a:pt x="176" y="669"/>
                    </a:lnTo>
                    <a:lnTo>
                      <a:pt x="100" y="693"/>
                    </a:lnTo>
                    <a:lnTo>
                      <a:pt x="42" y="709"/>
                    </a:lnTo>
                    <a:lnTo>
                      <a:pt x="19" y="616"/>
                    </a:lnTo>
                    <a:lnTo>
                      <a:pt x="14" y="548"/>
                    </a:lnTo>
                    <a:lnTo>
                      <a:pt x="14" y="489"/>
                    </a:lnTo>
                    <a:lnTo>
                      <a:pt x="91" y="530"/>
                    </a:lnTo>
                    <a:lnTo>
                      <a:pt x="181" y="548"/>
                    </a:lnTo>
                    <a:lnTo>
                      <a:pt x="253" y="544"/>
                    </a:lnTo>
                    <a:lnTo>
                      <a:pt x="271" y="536"/>
                    </a:lnTo>
                    <a:lnTo>
                      <a:pt x="280" y="513"/>
                    </a:lnTo>
                    <a:lnTo>
                      <a:pt x="239" y="513"/>
                    </a:lnTo>
                    <a:lnTo>
                      <a:pt x="196" y="526"/>
                    </a:lnTo>
                    <a:lnTo>
                      <a:pt x="88" y="530"/>
                    </a:lnTo>
                    <a:lnTo>
                      <a:pt x="14" y="490"/>
                    </a:lnTo>
                    <a:lnTo>
                      <a:pt x="10" y="405"/>
                    </a:lnTo>
                    <a:lnTo>
                      <a:pt x="5" y="345"/>
                    </a:lnTo>
                    <a:lnTo>
                      <a:pt x="0" y="287"/>
                    </a:lnTo>
                    <a:lnTo>
                      <a:pt x="10" y="188"/>
                    </a:lnTo>
                    <a:lnTo>
                      <a:pt x="32" y="153"/>
                    </a:lnTo>
                    <a:lnTo>
                      <a:pt x="100" y="108"/>
                    </a:lnTo>
                    <a:lnTo>
                      <a:pt x="78" y="113"/>
                    </a:lnTo>
                    <a:lnTo>
                      <a:pt x="10" y="143"/>
                    </a:lnTo>
                    <a:lnTo>
                      <a:pt x="37" y="81"/>
                    </a:lnTo>
                    <a:lnTo>
                      <a:pt x="60" y="48"/>
                    </a:lnTo>
                    <a:lnTo>
                      <a:pt x="78" y="26"/>
                    </a:lnTo>
                    <a:lnTo>
                      <a:pt x="155"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7" name="Freeform 180"/>
              <p:cNvSpPr>
                <a:spLocks/>
              </p:cNvSpPr>
              <p:nvPr/>
            </p:nvSpPr>
            <p:spPr bwMode="auto">
              <a:xfrm>
                <a:off x="231" y="1940"/>
                <a:ext cx="42" cy="38"/>
              </a:xfrm>
              <a:custGeom>
                <a:avLst/>
                <a:gdLst>
                  <a:gd name="T0" fmla="*/ 0 w 209"/>
                  <a:gd name="T1" fmla="*/ 0 h 187"/>
                  <a:gd name="T2" fmla="*/ 0 w 209"/>
                  <a:gd name="T3" fmla="*/ 0 h 187"/>
                  <a:gd name="T4" fmla="*/ 0 w 209"/>
                  <a:gd name="T5" fmla="*/ 0 h 187"/>
                  <a:gd name="T6" fmla="*/ 0 w 209"/>
                  <a:gd name="T7" fmla="*/ 0 h 187"/>
                  <a:gd name="T8" fmla="*/ 0 w 209"/>
                  <a:gd name="T9" fmla="*/ 0 h 187"/>
                  <a:gd name="T10" fmla="*/ 0 w 209"/>
                  <a:gd name="T11" fmla="*/ 0 h 187"/>
                  <a:gd name="T12" fmla="*/ 0 w 209"/>
                  <a:gd name="T13" fmla="*/ 0 h 187"/>
                  <a:gd name="T14" fmla="*/ 0 w 209"/>
                  <a:gd name="T15" fmla="*/ 0 h 187"/>
                  <a:gd name="T16" fmla="*/ 0 w 209"/>
                  <a:gd name="T17" fmla="*/ 0 h 187"/>
                  <a:gd name="T18" fmla="*/ 0 w 209"/>
                  <a:gd name="T19" fmla="*/ 0 h 187"/>
                  <a:gd name="T20" fmla="*/ 0 w 209"/>
                  <a:gd name="T21" fmla="*/ 0 h 187"/>
                  <a:gd name="T22" fmla="*/ 0 w 209"/>
                  <a:gd name="T23" fmla="*/ 0 h 187"/>
                  <a:gd name="T24" fmla="*/ 0 w 209"/>
                  <a:gd name="T25" fmla="*/ 0 h 187"/>
                  <a:gd name="T26" fmla="*/ 0 w 209"/>
                  <a:gd name="T27" fmla="*/ 0 h 187"/>
                  <a:gd name="T28" fmla="*/ 0 w 209"/>
                  <a:gd name="T29" fmla="*/ 0 h 187"/>
                  <a:gd name="T30" fmla="*/ 0 w 209"/>
                  <a:gd name="T31" fmla="*/ 0 h 187"/>
                  <a:gd name="T32" fmla="*/ 0 w 209"/>
                  <a:gd name="T33" fmla="*/ 0 h 187"/>
                  <a:gd name="T34" fmla="*/ 0 w 209"/>
                  <a:gd name="T35" fmla="*/ 0 h 187"/>
                  <a:gd name="T36" fmla="*/ 0 w 209"/>
                  <a:gd name="T37" fmla="*/ 0 h 187"/>
                  <a:gd name="T38" fmla="*/ 0 w 209"/>
                  <a:gd name="T39" fmla="*/ 0 h 187"/>
                  <a:gd name="T40" fmla="*/ 0 w 209"/>
                  <a:gd name="T41" fmla="*/ 0 h 187"/>
                  <a:gd name="T42" fmla="*/ 0 w 209"/>
                  <a:gd name="T43" fmla="*/ 0 h 187"/>
                  <a:gd name="T44" fmla="*/ 0 w 209"/>
                  <a:gd name="T45" fmla="*/ 0 h 187"/>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09" h="187">
                    <a:moveTo>
                      <a:pt x="209" y="0"/>
                    </a:moveTo>
                    <a:lnTo>
                      <a:pt x="209" y="15"/>
                    </a:lnTo>
                    <a:lnTo>
                      <a:pt x="182" y="51"/>
                    </a:lnTo>
                    <a:lnTo>
                      <a:pt x="157" y="71"/>
                    </a:lnTo>
                    <a:lnTo>
                      <a:pt x="100" y="113"/>
                    </a:lnTo>
                    <a:lnTo>
                      <a:pt x="77" y="130"/>
                    </a:lnTo>
                    <a:lnTo>
                      <a:pt x="25" y="170"/>
                    </a:lnTo>
                    <a:lnTo>
                      <a:pt x="82" y="152"/>
                    </a:lnTo>
                    <a:lnTo>
                      <a:pt x="140" y="135"/>
                    </a:lnTo>
                    <a:lnTo>
                      <a:pt x="198" y="130"/>
                    </a:lnTo>
                    <a:lnTo>
                      <a:pt x="194" y="147"/>
                    </a:lnTo>
                    <a:lnTo>
                      <a:pt x="100" y="164"/>
                    </a:lnTo>
                    <a:lnTo>
                      <a:pt x="52" y="184"/>
                    </a:lnTo>
                    <a:lnTo>
                      <a:pt x="25" y="187"/>
                    </a:lnTo>
                    <a:lnTo>
                      <a:pt x="2" y="180"/>
                    </a:lnTo>
                    <a:lnTo>
                      <a:pt x="0" y="158"/>
                    </a:lnTo>
                    <a:lnTo>
                      <a:pt x="18" y="141"/>
                    </a:lnTo>
                    <a:lnTo>
                      <a:pt x="44" y="116"/>
                    </a:lnTo>
                    <a:lnTo>
                      <a:pt x="75" y="80"/>
                    </a:lnTo>
                    <a:lnTo>
                      <a:pt x="107" y="40"/>
                    </a:lnTo>
                    <a:lnTo>
                      <a:pt x="144" y="12"/>
                    </a:lnTo>
                    <a:lnTo>
                      <a:pt x="184" y="2"/>
                    </a:lnTo>
                    <a:lnTo>
                      <a:pt x="209"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8" name="Freeform 181"/>
              <p:cNvSpPr>
                <a:spLocks/>
              </p:cNvSpPr>
              <p:nvPr/>
            </p:nvSpPr>
            <p:spPr bwMode="auto">
              <a:xfrm>
                <a:off x="232" y="1909"/>
                <a:ext cx="39" cy="49"/>
              </a:xfrm>
              <a:custGeom>
                <a:avLst/>
                <a:gdLst>
                  <a:gd name="T0" fmla="*/ 0 w 192"/>
                  <a:gd name="T1" fmla="*/ 0 h 246"/>
                  <a:gd name="T2" fmla="*/ 0 w 192"/>
                  <a:gd name="T3" fmla="*/ 0 h 246"/>
                  <a:gd name="T4" fmla="*/ 0 w 192"/>
                  <a:gd name="T5" fmla="*/ 0 h 246"/>
                  <a:gd name="T6" fmla="*/ 0 w 192"/>
                  <a:gd name="T7" fmla="*/ 0 h 246"/>
                  <a:gd name="T8" fmla="*/ 0 w 192"/>
                  <a:gd name="T9" fmla="*/ 0 h 246"/>
                  <a:gd name="T10" fmla="*/ 0 w 192"/>
                  <a:gd name="T11" fmla="*/ 0 h 246"/>
                  <a:gd name="T12" fmla="*/ 0 w 192"/>
                  <a:gd name="T13" fmla="*/ 0 h 246"/>
                  <a:gd name="T14" fmla="*/ 0 w 192"/>
                  <a:gd name="T15" fmla="*/ 0 h 246"/>
                  <a:gd name="T16" fmla="*/ 0 w 192"/>
                  <a:gd name="T17" fmla="*/ 0 h 246"/>
                  <a:gd name="T18" fmla="*/ 0 w 192"/>
                  <a:gd name="T19" fmla="*/ 0 h 246"/>
                  <a:gd name="T20" fmla="*/ 0 w 192"/>
                  <a:gd name="T21" fmla="*/ 0 h 246"/>
                  <a:gd name="T22" fmla="*/ 0 w 192"/>
                  <a:gd name="T23" fmla="*/ 0 h 246"/>
                  <a:gd name="T24" fmla="*/ 0 w 192"/>
                  <a:gd name="T25" fmla="*/ 0 h 246"/>
                  <a:gd name="T26" fmla="*/ 0 w 192"/>
                  <a:gd name="T27" fmla="*/ 0 h 246"/>
                  <a:gd name="T28" fmla="*/ 0 w 192"/>
                  <a:gd name="T29" fmla="*/ 0 h 246"/>
                  <a:gd name="T30" fmla="*/ 0 w 192"/>
                  <a:gd name="T31" fmla="*/ 0 h 246"/>
                  <a:gd name="T32" fmla="*/ 0 w 192"/>
                  <a:gd name="T33" fmla="*/ 0 h 24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92" h="246">
                    <a:moveTo>
                      <a:pt x="156" y="0"/>
                    </a:moveTo>
                    <a:lnTo>
                      <a:pt x="183" y="4"/>
                    </a:lnTo>
                    <a:lnTo>
                      <a:pt x="192" y="27"/>
                    </a:lnTo>
                    <a:lnTo>
                      <a:pt x="190" y="46"/>
                    </a:lnTo>
                    <a:lnTo>
                      <a:pt x="174" y="71"/>
                    </a:lnTo>
                    <a:lnTo>
                      <a:pt x="152" y="78"/>
                    </a:lnTo>
                    <a:lnTo>
                      <a:pt x="110" y="106"/>
                    </a:lnTo>
                    <a:lnTo>
                      <a:pt x="69" y="140"/>
                    </a:lnTo>
                    <a:lnTo>
                      <a:pt x="41" y="184"/>
                    </a:lnTo>
                    <a:lnTo>
                      <a:pt x="8" y="231"/>
                    </a:lnTo>
                    <a:lnTo>
                      <a:pt x="0" y="246"/>
                    </a:lnTo>
                    <a:lnTo>
                      <a:pt x="8" y="190"/>
                    </a:lnTo>
                    <a:lnTo>
                      <a:pt x="16" y="141"/>
                    </a:lnTo>
                    <a:lnTo>
                      <a:pt x="31" y="99"/>
                    </a:lnTo>
                    <a:lnTo>
                      <a:pt x="57" y="60"/>
                    </a:lnTo>
                    <a:lnTo>
                      <a:pt x="128" y="6"/>
                    </a:lnTo>
                    <a:lnTo>
                      <a:pt x="156"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9" name="Freeform 182"/>
              <p:cNvSpPr>
                <a:spLocks/>
              </p:cNvSpPr>
              <p:nvPr/>
            </p:nvSpPr>
            <p:spPr bwMode="auto">
              <a:xfrm>
                <a:off x="237" y="1860"/>
                <a:ext cx="41" cy="29"/>
              </a:xfrm>
              <a:custGeom>
                <a:avLst/>
                <a:gdLst>
                  <a:gd name="T0" fmla="*/ 0 w 204"/>
                  <a:gd name="T1" fmla="*/ 0 h 141"/>
                  <a:gd name="T2" fmla="*/ 0 w 204"/>
                  <a:gd name="T3" fmla="*/ 0 h 141"/>
                  <a:gd name="T4" fmla="*/ 0 w 204"/>
                  <a:gd name="T5" fmla="*/ 0 h 141"/>
                  <a:gd name="T6" fmla="*/ 0 w 204"/>
                  <a:gd name="T7" fmla="*/ 0 h 141"/>
                  <a:gd name="T8" fmla="*/ 0 w 204"/>
                  <a:gd name="T9" fmla="*/ 0 h 141"/>
                  <a:gd name="T10" fmla="*/ 0 w 204"/>
                  <a:gd name="T11" fmla="*/ 0 h 141"/>
                  <a:gd name="T12" fmla="*/ 0 w 204"/>
                  <a:gd name="T13" fmla="*/ 0 h 141"/>
                  <a:gd name="T14" fmla="*/ 0 w 204"/>
                  <a:gd name="T15" fmla="*/ 0 h 141"/>
                  <a:gd name="T16" fmla="*/ 0 w 204"/>
                  <a:gd name="T17" fmla="*/ 0 h 141"/>
                  <a:gd name="T18" fmla="*/ 0 w 204"/>
                  <a:gd name="T19" fmla="*/ 0 h 14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04" h="141">
                    <a:moveTo>
                      <a:pt x="204" y="141"/>
                    </a:moveTo>
                    <a:lnTo>
                      <a:pt x="169" y="110"/>
                    </a:lnTo>
                    <a:lnTo>
                      <a:pt x="111" y="89"/>
                    </a:lnTo>
                    <a:lnTo>
                      <a:pt x="71" y="78"/>
                    </a:lnTo>
                    <a:lnTo>
                      <a:pt x="0" y="0"/>
                    </a:lnTo>
                    <a:lnTo>
                      <a:pt x="53" y="30"/>
                    </a:lnTo>
                    <a:lnTo>
                      <a:pt x="103" y="51"/>
                    </a:lnTo>
                    <a:lnTo>
                      <a:pt x="138" y="69"/>
                    </a:lnTo>
                    <a:lnTo>
                      <a:pt x="155" y="89"/>
                    </a:lnTo>
                    <a:lnTo>
                      <a:pt x="204" y="14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0" name="Freeform 183"/>
              <p:cNvSpPr>
                <a:spLocks/>
              </p:cNvSpPr>
              <p:nvPr/>
            </p:nvSpPr>
            <p:spPr bwMode="auto">
              <a:xfrm>
                <a:off x="286" y="1913"/>
                <a:ext cx="23" cy="73"/>
              </a:xfrm>
              <a:custGeom>
                <a:avLst/>
                <a:gdLst>
                  <a:gd name="T0" fmla="*/ 0 w 115"/>
                  <a:gd name="T1" fmla="*/ 0 h 368"/>
                  <a:gd name="T2" fmla="*/ 0 w 115"/>
                  <a:gd name="T3" fmla="*/ 0 h 368"/>
                  <a:gd name="T4" fmla="*/ 0 w 115"/>
                  <a:gd name="T5" fmla="*/ 0 h 368"/>
                  <a:gd name="T6" fmla="*/ 0 w 115"/>
                  <a:gd name="T7" fmla="*/ 0 h 368"/>
                  <a:gd name="T8" fmla="*/ 0 w 115"/>
                  <a:gd name="T9" fmla="*/ 0 h 368"/>
                  <a:gd name="T10" fmla="*/ 0 w 115"/>
                  <a:gd name="T11" fmla="*/ 0 h 368"/>
                  <a:gd name="T12" fmla="*/ 0 w 115"/>
                  <a:gd name="T13" fmla="*/ 0 h 368"/>
                  <a:gd name="T14" fmla="*/ 0 w 115"/>
                  <a:gd name="T15" fmla="*/ 0 h 368"/>
                  <a:gd name="T16" fmla="*/ 0 w 115"/>
                  <a:gd name="T17" fmla="*/ 0 h 368"/>
                  <a:gd name="T18" fmla="*/ 0 w 115"/>
                  <a:gd name="T19" fmla="*/ 0 h 368"/>
                  <a:gd name="T20" fmla="*/ 0 w 115"/>
                  <a:gd name="T21" fmla="*/ 0 h 368"/>
                  <a:gd name="T22" fmla="*/ 0 w 115"/>
                  <a:gd name="T23" fmla="*/ 0 h 368"/>
                  <a:gd name="T24" fmla="*/ 0 w 115"/>
                  <a:gd name="T25" fmla="*/ 0 h 368"/>
                  <a:gd name="T26" fmla="*/ 0 w 115"/>
                  <a:gd name="T27" fmla="*/ 0 h 368"/>
                  <a:gd name="T28" fmla="*/ 0 w 115"/>
                  <a:gd name="T29" fmla="*/ 0 h 368"/>
                  <a:gd name="T30" fmla="*/ 0 w 115"/>
                  <a:gd name="T31" fmla="*/ 0 h 368"/>
                  <a:gd name="T32" fmla="*/ 0 w 115"/>
                  <a:gd name="T33" fmla="*/ 0 h 368"/>
                  <a:gd name="T34" fmla="*/ 0 w 115"/>
                  <a:gd name="T35" fmla="*/ 0 h 368"/>
                  <a:gd name="T36" fmla="*/ 0 w 115"/>
                  <a:gd name="T37" fmla="*/ 0 h 36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5" h="368">
                    <a:moveTo>
                      <a:pt x="115" y="368"/>
                    </a:moveTo>
                    <a:lnTo>
                      <a:pt x="58" y="368"/>
                    </a:lnTo>
                    <a:lnTo>
                      <a:pt x="40" y="364"/>
                    </a:lnTo>
                    <a:lnTo>
                      <a:pt x="40" y="349"/>
                    </a:lnTo>
                    <a:lnTo>
                      <a:pt x="28" y="336"/>
                    </a:lnTo>
                    <a:lnTo>
                      <a:pt x="9" y="323"/>
                    </a:lnTo>
                    <a:lnTo>
                      <a:pt x="19" y="309"/>
                    </a:lnTo>
                    <a:lnTo>
                      <a:pt x="19" y="291"/>
                    </a:lnTo>
                    <a:lnTo>
                      <a:pt x="5" y="269"/>
                    </a:lnTo>
                    <a:lnTo>
                      <a:pt x="5" y="246"/>
                    </a:lnTo>
                    <a:lnTo>
                      <a:pt x="14" y="219"/>
                    </a:lnTo>
                    <a:lnTo>
                      <a:pt x="14" y="161"/>
                    </a:lnTo>
                    <a:lnTo>
                      <a:pt x="0" y="107"/>
                    </a:lnTo>
                    <a:lnTo>
                      <a:pt x="5" y="67"/>
                    </a:lnTo>
                    <a:lnTo>
                      <a:pt x="5" y="0"/>
                    </a:lnTo>
                    <a:lnTo>
                      <a:pt x="40" y="101"/>
                    </a:lnTo>
                    <a:lnTo>
                      <a:pt x="71" y="197"/>
                    </a:lnTo>
                    <a:lnTo>
                      <a:pt x="93" y="300"/>
                    </a:lnTo>
                    <a:lnTo>
                      <a:pt x="115" y="368"/>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1" name="Freeform 184"/>
              <p:cNvSpPr>
                <a:spLocks/>
              </p:cNvSpPr>
              <p:nvPr/>
            </p:nvSpPr>
            <p:spPr bwMode="auto">
              <a:xfrm>
                <a:off x="233" y="1992"/>
                <a:ext cx="41" cy="14"/>
              </a:xfrm>
              <a:custGeom>
                <a:avLst/>
                <a:gdLst>
                  <a:gd name="T0" fmla="*/ 0 w 206"/>
                  <a:gd name="T1" fmla="*/ 0 h 69"/>
                  <a:gd name="T2" fmla="*/ 0 w 206"/>
                  <a:gd name="T3" fmla="*/ 0 h 69"/>
                  <a:gd name="T4" fmla="*/ 0 w 206"/>
                  <a:gd name="T5" fmla="*/ 0 h 69"/>
                  <a:gd name="T6" fmla="*/ 0 w 206"/>
                  <a:gd name="T7" fmla="*/ 0 h 69"/>
                  <a:gd name="T8" fmla="*/ 0 w 206"/>
                  <a:gd name="T9" fmla="*/ 0 h 69"/>
                  <a:gd name="T10" fmla="*/ 0 w 206"/>
                  <a:gd name="T11" fmla="*/ 0 h 69"/>
                  <a:gd name="T12" fmla="*/ 0 w 206"/>
                  <a:gd name="T13" fmla="*/ 0 h 69"/>
                  <a:gd name="T14" fmla="*/ 0 w 206"/>
                  <a:gd name="T15" fmla="*/ 0 h 69"/>
                  <a:gd name="T16" fmla="*/ 0 w 206"/>
                  <a:gd name="T17" fmla="*/ 0 h 69"/>
                  <a:gd name="T18" fmla="*/ 0 w 206"/>
                  <a:gd name="T19" fmla="*/ 0 h 69"/>
                  <a:gd name="T20" fmla="*/ 0 w 206"/>
                  <a:gd name="T21" fmla="*/ 0 h 69"/>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06" h="69">
                    <a:moveTo>
                      <a:pt x="42" y="34"/>
                    </a:moveTo>
                    <a:lnTo>
                      <a:pt x="87" y="15"/>
                    </a:lnTo>
                    <a:lnTo>
                      <a:pt x="129" y="3"/>
                    </a:lnTo>
                    <a:lnTo>
                      <a:pt x="184" y="0"/>
                    </a:lnTo>
                    <a:lnTo>
                      <a:pt x="206" y="4"/>
                    </a:lnTo>
                    <a:lnTo>
                      <a:pt x="196" y="26"/>
                    </a:lnTo>
                    <a:lnTo>
                      <a:pt x="174" y="43"/>
                    </a:lnTo>
                    <a:lnTo>
                      <a:pt x="126" y="57"/>
                    </a:lnTo>
                    <a:lnTo>
                      <a:pt x="50" y="69"/>
                    </a:lnTo>
                    <a:lnTo>
                      <a:pt x="0" y="65"/>
                    </a:lnTo>
                    <a:lnTo>
                      <a:pt x="42" y="3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2" name="Freeform 185"/>
              <p:cNvSpPr>
                <a:spLocks/>
              </p:cNvSpPr>
              <p:nvPr/>
            </p:nvSpPr>
            <p:spPr bwMode="auto">
              <a:xfrm>
                <a:off x="284" y="1999"/>
                <a:ext cx="25" cy="31"/>
              </a:xfrm>
              <a:custGeom>
                <a:avLst/>
                <a:gdLst>
                  <a:gd name="T0" fmla="*/ 0 w 124"/>
                  <a:gd name="T1" fmla="*/ 0 h 154"/>
                  <a:gd name="T2" fmla="*/ 0 w 124"/>
                  <a:gd name="T3" fmla="*/ 0 h 154"/>
                  <a:gd name="T4" fmla="*/ 0 w 124"/>
                  <a:gd name="T5" fmla="*/ 0 h 154"/>
                  <a:gd name="T6" fmla="*/ 0 w 124"/>
                  <a:gd name="T7" fmla="*/ 0 h 154"/>
                  <a:gd name="T8" fmla="*/ 0 w 124"/>
                  <a:gd name="T9" fmla="*/ 0 h 154"/>
                  <a:gd name="T10" fmla="*/ 0 w 124"/>
                  <a:gd name="T11" fmla="*/ 0 h 154"/>
                  <a:gd name="T12" fmla="*/ 0 w 124"/>
                  <a:gd name="T13" fmla="*/ 0 h 154"/>
                  <a:gd name="T14" fmla="*/ 0 w 124"/>
                  <a:gd name="T15" fmla="*/ 0 h 154"/>
                  <a:gd name="T16" fmla="*/ 0 w 124"/>
                  <a:gd name="T17" fmla="*/ 0 h 154"/>
                  <a:gd name="T18" fmla="*/ 0 w 124"/>
                  <a:gd name="T19" fmla="*/ 0 h 154"/>
                  <a:gd name="T20" fmla="*/ 0 w 124"/>
                  <a:gd name="T21" fmla="*/ 0 h 154"/>
                  <a:gd name="T22" fmla="*/ 0 w 124"/>
                  <a:gd name="T23" fmla="*/ 0 h 154"/>
                  <a:gd name="T24" fmla="*/ 0 w 124"/>
                  <a:gd name="T25" fmla="*/ 0 h 15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24" h="154">
                    <a:moveTo>
                      <a:pt x="67" y="43"/>
                    </a:moveTo>
                    <a:lnTo>
                      <a:pt x="82" y="9"/>
                    </a:lnTo>
                    <a:lnTo>
                      <a:pt x="106" y="0"/>
                    </a:lnTo>
                    <a:lnTo>
                      <a:pt x="122" y="7"/>
                    </a:lnTo>
                    <a:lnTo>
                      <a:pt x="124" y="25"/>
                    </a:lnTo>
                    <a:lnTo>
                      <a:pt x="114" y="55"/>
                    </a:lnTo>
                    <a:lnTo>
                      <a:pt x="95" y="82"/>
                    </a:lnTo>
                    <a:lnTo>
                      <a:pt x="73" y="108"/>
                    </a:lnTo>
                    <a:lnTo>
                      <a:pt x="45" y="133"/>
                    </a:lnTo>
                    <a:lnTo>
                      <a:pt x="0" y="154"/>
                    </a:lnTo>
                    <a:lnTo>
                      <a:pt x="40" y="110"/>
                    </a:lnTo>
                    <a:lnTo>
                      <a:pt x="53" y="78"/>
                    </a:lnTo>
                    <a:lnTo>
                      <a:pt x="67" y="4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3" name="Freeform 186"/>
              <p:cNvSpPr>
                <a:spLocks/>
              </p:cNvSpPr>
              <p:nvPr/>
            </p:nvSpPr>
            <p:spPr bwMode="auto">
              <a:xfrm>
                <a:off x="208" y="1836"/>
                <a:ext cx="60" cy="37"/>
              </a:xfrm>
              <a:custGeom>
                <a:avLst/>
                <a:gdLst>
                  <a:gd name="T0" fmla="*/ 0 w 298"/>
                  <a:gd name="T1" fmla="*/ 0 h 186"/>
                  <a:gd name="T2" fmla="*/ 0 w 298"/>
                  <a:gd name="T3" fmla="*/ 0 h 186"/>
                  <a:gd name="T4" fmla="*/ 0 w 298"/>
                  <a:gd name="T5" fmla="*/ 0 h 186"/>
                  <a:gd name="T6" fmla="*/ 0 w 298"/>
                  <a:gd name="T7" fmla="*/ 0 h 186"/>
                  <a:gd name="T8" fmla="*/ 0 w 298"/>
                  <a:gd name="T9" fmla="*/ 0 h 186"/>
                  <a:gd name="T10" fmla="*/ 0 w 298"/>
                  <a:gd name="T11" fmla="*/ 0 h 186"/>
                  <a:gd name="T12" fmla="*/ 0 w 298"/>
                  <a:gd name="T13" fmla="*/ 0 h 186"/>
                  <a:gd name="T14" fmla="*/ 0 w 298"/>
                  <a:gd name="T15" fmla="*/ 0 h 186"/>
                  <a:gd name="T16" fmla="*/ 0 w 298"/>
                  <a:gd name="T17" fmla="*/ 0 h 186"/>
                  <a:gd name="T18" fmla="*/ 0 w 298"/>
                  <a:gd name="T19" fmla="*/ 0 h 186"/>
                  <a:gd name="T20" fmla="*/ 0 w 298"/>
                  <a:gd name="T21" fmla="*/ 0 h 186"/>
                  <a:gd name="T22" fmla="*/ 0 w 298"/>
                  <a:gd name="T23" fmla="*/ 0 h 18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98" h="186">
                    <a:moveTo>
                      <a:pt x="298" y="186"/>
                    </a:moveTo>
                    <a:lnTo>
                      <a:pt x="289" y="109"/>
                    </a:lnTo>
                    <a:lnTo>
                      <a:pt x="226" y="82"/>
                    </a:lnTo>
                    <a:lnTo>
                      <a:pt x="142" y="49"/>
                    </a:lnTo>
                    <a:lnTo>
                      <a:pt x="80" y="25"/>
                    </a:lnTo>
                    <a:lnTo>
                      <a:pt x="23" y="0"/>
                    </a:lnTo>
                    <a:lnTo>
                      <a:pt x="0" y="53"/>
                    </a:lnTo>
                    <a:lnTo>
                      <a:pt x="55" y="84"/>
                    </a:lnTo>
                    <a:lnTo>
                      <a:pt x="119" y="107"/>
                    </a:lnTo>
                    <a:lnTo>
                      <a:pt x="168" y="122"/>
                    </a:lnTo>
                    <a:lnTo>
                      <a:pt x="229" y="154"/>
                    </a:lnTo>
                    <a:lnTo>
                      <a:pt x="298" y="186"/>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94" name="Group 187"/>
            <p:cNvGrpSpPr>
              <a:grpSpLocks/>
            </p:cNvGrpSpPr>
            <p:nvPr/>
          </p:nvGrpSpPr>
          <p:grpSpPr bwMode="auto">
            <a:xfrm>
              <a:off x="1794400" y="3397763"/>
              <a:ext cx="123814" cy="155175"/>
              <a:chOff x="141" y="2010"/>
              <a:chExt cx="123" cy="167"/>
            </a:xfrm>
          </p:grpSpPr>
          <p:sp>
            <p:nvSpPr>
              <p:cNvPr id="195" name="Freeform 188"/>
              <p:cNvSpPr>
                <a:spLocks/>
              </p:cNvSpPr>
              <p:nvPr/>
            </p:nvSpPr>
            <p:spPr bwMode="auto">
              <a:xfrm>
                <a:off x="141" y="2010"/>
                <a:ext cx="123" cy="167"/>
              </a:xfrm>
              <a:custGeom>
                <a:avLst/>
                <a:gdLst>
                  <a:gd name="T0" fmla="*/ 0 w 617"/>
                  <a:gd name="T1" fmla="*/ 0 h 835"/>
                  <a:gd name="T2" fmla="*/ 0 w 617"/>
                  <a:gd name="T3" fmla="*/ 0 h 835"/>
                  <a:gd name="T4" fmla="*/ 0 w 617"/>
                  <a:gd name="T5" fmla="*/ 0 h 835"/>
                  <a:gd name="T6" fmla="*/ 0 w 617"/>
                  <a:gd name="T7" fmla="*/ 0 h 835"/>
                  <a:gd name="T8" fmla="*/ 0 w 617"/>
                  <a:gd name="T9" fmla="*/ 0 h 835"/>
                  <a:gd name="T10" fmla="*/ 0 w 617"/>
                  <a:gd name="T11" fmla="*/ 0 h 835"/>
                  <a:gd name="T12" fmla="*/ 0 w 617"/>
                  <a:gd name="T13" fmla="*/ 0 h 835"/>
                  <a:gd name="T14" fmla="*/ 0 w 617"/>
                  <a:gd name="T15" fmla="*/ 0 h 835"/>
                  <a:gd name="T16" fmla="*/ 0 w 617"/>
                  <a:gd name="T17" fmla="*/ 0 h 835"/>
                  <a:gd name="T18" fmla="*/ 0 w 617"/>
                  <a:gd name="T19" fmla="*/ 0 h 835"/>
                  <a:gd name="T20" fmla="*/ 0 w 617"/>
                  <a:gd name="T21" fmla="*/ 0 h 835"/>
                  <a:gd name="T22" fmla="*/ 0 w 617"/>
                  <a:gd name="T23" fmla="*/ 0 h 835"/>
                  <a:gd name="T24" fmla="*/ 0 w 617"/>
                  <a:gd name="T25" fmla="*/ 0 h 835"/>
                  <a:gd name="T26" fmla="*/ 0 w 617"/>
                  <a:gd name="T27" fmla="*/ 0 h 835"/>
                  <a:gd name="T28" fmla="*/ 0 w 617"/>
                  <a:gd name="T29" fmla="*/ 0 h 835"/>
                  <a:gd name="T30" fmla="*/ 0 w 617"/>
                  <a:gd name="T31" fmla="*/ 0 h 835"/>
                  <a:gd name="T32" fmla="*/ 0 w 617"/>
                  <a:gd name="T33" fmla="*/ 0 h 835"/>
                  <a:gd name="T34" fmla="*/ 0 w 617"/>
                  <a:gd name="T35" fmla="*/ 0 h 835"/>
                  <a:gd name="T36" fmla="*/ 0 w 617"/>
                  <a:gd name="T37" fmla="*/ 0 h 835"/>
                  <a:gd name="T38" fmla="*/ 0 w 617"/>
                  <a:gd name="T39" fmla="*/ 0 h 835"/>
                  <a:gd name="T40" fmla="*/ 0 w 617"/>
                  <a:gd name="T41" fmla="*/ 0 h 835"/>
                  <a:gd name="T42" fmla="*/ 0 w 617"/>
                  <a:gd name="T43" fmla="*/ 0 h 835"/>
                  <a:gd name="T44" fmla="*/ 0 w 617"/>
                  <a:gd name="T45" fmla="*/ 0 h 835"/>
                  <a:gd name="T46" fmla="*/ 0 w 617"/>
                  <a:gd name="T47" fmla="*/ 0 h 835"/>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617" h="835">
                    <a:moveTo>
                      <a:pt x="342" y="123"/>
                    </a:moveTo>
                    <a:lnTo>
                      <a:pt x="229" y="113"/>
                    </a:lnTo>
                    <a:lnTo>
                      <a:pt x="160" y="96"/>
                    </a:lnTo>
                    <a:lnTo>
                      <a:pt x="139" y="64"/>
                    </a:lnTo>
                    <a:lnTo>
                      <a:pt x="139" y="38"/>
                    </a:lnTo>
                    <a:lnTo>
                      <a:pt x="121" y="15"/>
                    </a:lnTo>
                    <a:lnTo>
                      <a:pt x="58" y="0"/>
                    </a:lnTo>
                    <a:lnTo>
                      <a:pt x="0" y="5"/>
                    </a:lnTo>
                    <a:lnTo>
                      <a:pt x="70" y="650"/>
                    </a:lnTo>
                    <a:lnTo>
                      <a:pt x="121" y="710"/>
                    </a:lnTo>
                    <a:lnTo>
                      <a:pt x="183" y="768"/>
                    </a:lnTo>
                    <a:lnTo>
                      <a:pt x="273" y="813"/>
                    </a:lnTo>
                    <a:lnTo>
                      <a:pt x="377" y="827"/>
                    </a:lnTo>
                    <a:lnTo>
                      <a:pt x="518" y="835"/>
                    </a:lnTo>
                    <a:lnTo>
                      <a:pt x="599" y="823"/>
                    </a:lnTo>
                    <a:lnTo>
                      <a:pt x="617" y="777"/>
                    </a:lnTo>
                    <a:lnTo>
                      <a:pt x="608" y="718"/>
                    </a:lnTo>
                    <a:lnTo>
                      <a:pt x="550" y="537"/>
                    </a:lnTo>
                    <a:lnTo>
                      <a:pt x="500" y="357"/>
                    </a:lnTo>
                    <a:lnTo>
                      <a:pt x="478" y="221"/>
                    </a:lnTo>
                    <a:lnTo>
                      <a:pt x="478" y="186"/>
                    </a:lnTo>
                    <a:lnTo>
                      <a:pt x="446" y="136"/>
                    </a:lnTo>
                    <a:lnTo>
                      <a:pt x="409" y="123"/>
                    </a:lnTo>
                    <a:lnTo>
                      <a:pt x="342" y="12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6" name="Freeform 189"/>
              <p:cNvSpPr>
                <a:spLocks/>
              </p:cNvSpPr>
              <p:nvPr/>
            </p:nvSpPr>
            <p:spPr bwMode="auto">
              <a:xfrm>
                <a:off x="143" y="2019"/>
                <a:ext cx="106" cy="153"/>
              </a:xfrm>
              <a:custGeom>
                <a:avLst/>
                <a:gdLst>
                  <a:gd name="T0" fmla="*/ 0 w 531"/>
                  <a:gd name="T1" fmla="*/ 0 h 766"/>
                  <a:gd name="T2" fmla="*/ 0 w 531"/>
                  <a:gd name="T3" fmla="*/ 0 h 766"/>
                  <a:gd name="T4" fmla="*/ 0 w 531"/>
                  <a:gd name="T5" fmla="*/ 0 h 766"/>
                  <a:gd name="T6" fmla="*/ 0 w 531"/>
                  <a:gd name="T7" fmla="*/ 0 h 766"/>
                  <a:gd name="T8" fmla="*/ 0 w 531"/>
                  <a:gd name="T9" fmla="*/ 0 h 766"/>
                  <a:gd name="T10" fmla="*/ 0 w 531"/>
                  <a:gd name="T11" fmla="*/ 0 h 766"/>
                  <a:gd name="T12" fmla="*/ 0 w 531"/>
                  <a:gd name="T13" fmla="*/ 0 h 766"/>
                  <a:gd name="T14" fmla="*/ 0 w 531"/>
                  <a:gd name="T15" fmla="*/ 0 h 766"/>
                  <a:gd name="T16" fmla="*/ 0 w 531"/>
                  <a:gd name="T17" fmla="*/ 0 h 766"/>
                  <a:gd name="T18" fmla="*/ 0 w 531"/>
                  <a:gd name="T19" fmla="*/ 0 h 766"/>
                  <a:gd name="T20" fmla="*/ 0 w 531"/>
                  <a:gd name="T21" fmla="*/ 0 h 766"/>
                  <a:gd name="T22" fmla="*/ 0 w 531"/>
                  <a:gd name="T23" fmla="*/ 0 h 766"/>
                  <a:gd name="T24" fmla="*/ 0 w 531"/>
                  <a:gd name="T25" fmla="*/ 0 h 766"/>
                  <a:gd name="T26" fmla="*/ 0 w 531"/>
                  <a:gd name="T27" fmla="*/ 0 h 766"/>
                  <a:gd name="T28" fmla="*/ 0 w 531"/>
                  <a:gd name="T29" fmla="*/ 0 h 766"/>
                  <a:gd name="T30" fmla="*/ 0 w 531"/>
                  <a:gd name="T31" fmla="*/ 0 h 766"/>
                  <a:gd name="T32" fmla="*/ 0 w 531"/>
                  <a:gd name="T33" fmla="*/ 0 h 766"/>
                  <a:gd name="T34" fmla="*/ 0 w 531"/>
                  <a:gd name="T35" fmla="*/ 0 h 766"/>
                  <a:gd name="T36" fmla="*/ 0 w 531"/>
                  <a:gd name="T37" fmla="*/ 0 h 766"/>
                  <a:gd name="T38" fmla="*/ 0 w 531"/>
                  <a:gd name="T39" fmla="*/ 0 h 766"/>
                  <a:gd name="T40" fmla="*/ 0 w 531"/>
                  <a:gd name="T41" fmla="*/ 0 h 76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531" h="766">
                    <a:moveTo>
                      <a:pt x="347" y="154"/>
                    </a:moveTo>
                    <a:lnTo>
                      <a:pt x="248" y="150"/>
                    </a:lnTo>
                    <a:lnTo>
                      <a:pt x="143" y="131"/>
                    </a:lnTo>
                    <a:lnTo>
                      <a:pt x="81" y="99"/>
                    </a:lnTo>
                    <a:lnTo>
                      <a:pt x="46" y="72"/>
                    </a:lnTo>
                    <a:lnTo>
                      <a:pt x="0" y="0"/>
                    </a:lnTo>
                    <a:lnTo>
                      <a:pt x="67" y="589"/>
                    </a:lnTo>
                    <a:lnTo>
                      <a:pt x="113" y="643"/>
                    </a:lnTo>
                    <a:lnTo>
                      <a:pt x="162" y="694"/>
                    </a:lnTo>
                    <a:lnTo>
                      <a:pt x="225" y="729"/>
                    </a:lnTo>
                    <a:lnTo>
                      <a:pt x="279" y="747"/>
                    </a:lnTo>
                    <a:lnTo>
                      <a:pt x="347" y="756"/>
                    </a:lnTo>
                    <a:lnTo>
                      <a:pt x="409" y="766"/>
                    </a:lnTo>
                    <a:lnTo>
                      <a:pt x="480" y="766"/>
                    </a:lnTo>
                    <a:lnTo>
                      <a:pt x="512" y="756"/>
                    </a:lnTo>
                    <a:lnTo>
                      <a:pt x="531" y="729"/>
                    </a:lnTo>
                    <a:lnTo>
                      <a:pt x="522" y="685"/>
                    </a:lnTo>
                    <a:lnTo>
                      <a:pt x="476" y="581"/>
                    </a:lnTo>
                    <a:lnTo>
                      <a:pt x="399" y="229"/>
                    </a:lnTo>
                    <a:lnTo>
                      <a:pt x="387" y="180"/>
                    </a:lnTo>
                    <a:lnTo>
                      <a:pt x="347" y="15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97" name="Freeform 190"/>
            <p:cNvSpPr>
              <a:spLocks/>
            </p:cNvSpPr>
            <p:nvPr/>
          </p:nvSpPr>
          <p:spPr bwMode="auto">
            <a:xfrm>
              <a:off x="2098400" y="3574309"/>
              <a:ext cx="9060" cy="131016"/>
            </a:xfrm>
            <a:custGeom>
              <a:avLst/>
              <a:gdLst>
                <a:gd name="T0" fmla="*/ 2147483646 w 43"/>
                <a:gd name="T1" fmla="*/ 0 h 703"/>
                <a:gd name="T2" fmla="*/ 2147483646 w 43"/>
                <a:gd name="T3" fmla="*/ 2147483646 h 703"/>
                <a:gd name="T4" fmla="*/ 2147483646 w 43"/>
                <a:gd name="T5" fmla="*/ 2147483646 h 703"/>
                <a:gd name="T6" fmla="*/ 2147483646 w 43"/>
                <a:gd name="T7" fmla="*/ 2147483646 h 703"/>
                <a:gd name="T8" fmla="*/ 2147483646 w 43"/>
                <a:gd name="T9" fmla="*/ 2147483646 h 703"/>
                <a:gd name="T10" fmla="*/ 2147483646 w 43"/>
                <a:gd name="T11" fmla="*/ 2147483646 h 703"/>
                <a:gd name="T12" fmla="*/ 2147483646 w 43"/>
                <a:gd name="T13" fmla="*/ 2147483646 h 703"/>
                <a:gd name="T14" fmla="*/ 0 w 43"/>
                <a:gd name="T15" fmla="*/ 2147483646 h 703"/>
                <a:gd name="T16" fmla="*/ 2147483646 w 43"/>
                <a:gd name="T17" fmla="*/ 2147483646 h 703"/>
                <a:gd name="T18" fmla="*/ 2147483646 w 43"/>
                <a:gd name="T19" fmla="*/ 2147483646 h 703"/>
                <a:gd name="T20" fmla="*/ 2147483646 w 43"/>
                <a:gd name="T21" fmla="*/ 2147483646 h 703"/>
                <a:gd name="T22" fmla="*/ 2147483646 w 43"/>
                <a:gd name="T23" fmla="*/ 2147483646 h 703"/>
                <a:gd name="T24" fmla="*/ 2147483646 w 43"/>
                <a:gd name="T25" fmla="*/ 2147483646 h 703"/>
                <a:gd name="T26" fmla="*/ 2147483646 w 43"/>
                <a:gd name="T27" fmla="*/ 2147483646 h 703"/>
                <a:gd name="T28" fmla="*/ 2147483646 w 43"/>
                <a:gd name="T29" fmla="*/ 0 h 70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43" h="703">
                  <a:moveTo>
                    <a:pt x="29" y="0"/>
                  </a:moveTo>
                  <a:lnTo>
                    <a:pt x="43" y="36"/>
                  </a:lnTo>
                  <a:lnTo>
                    <a:pt x="27" y="63"/>
                  </a:lnTo>
                  <a:lnTo>
                    <a:pt x="14" y="122"/>
                  </a:lnTo>
                  <a:lnTo>
                    <a:pt x="32" y="176"/>
                  </a:lnTo>
                  <a:lnTo>
                    <a:pt x="21" y="491"/>
                  </a:lnTo>
                  <a:lnTo>
                    <a:pt x="21" y="693"/>
                  </a:lnTo>
                  <a:lnTo>
                    <a:pt x="0" y="703"/>
                  </a:lnTo>
                  <a:lnTo>
                    <a:pt x="2" y="284"/>
                  </a:lnTo>
                  <a:lnTo>
                    <a:pt x="21" y="184"/>
                  </a:lnTo>
                  <a:lnTo>
                    <a:pt x="10" y="137"/>
                  </a:lnTo>
                  <a:lnTo>
                    <a:pt x="4" y="120"/>
                  </a:lnTo>
                  <a:lnTo>
                    <a:pt x="12" y="69"/>
                  </a:lnTo>
                  <a:lnTo>
                    <a:pt x="27" y="40"/>
                  </a:lnTo>
                  <a:lnTo>
                    <a:pt x="29"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8" name="Freeform 191"/>
            <p:cNvSpPr>
              <a:spLocks/>
            </p:cNvSpPr>
            <p:nvPr/>
          </p:nvSpPr>
          <p:spPr bwMode="auto">
            <a:xfrm>
              <a:off x="2062162" y="3576168"/>
              <a:ext cx="22145" cy="6505"/>
            </a:xfrm>
            <a:custGeom>
              <a:avLst/>
              <a:gdLst>
                <a:gd name="T0" fmla="*/ 2147483646 w 112"/>
                <a:gd name="T1" fmla="*/ 0 h 36"/>
                <a:gd name="T2" fmla="*/ 2147483646 w 112"/>
                <a:gd name="T3" fmla="*/ 2147483646 h 36"/>
                <a:gd name="T4" fmla="*/ 2147483646 w 112"/>
                <a:gd name="T5" fmla="*/ 2147483646 h 36"/>
                <a:gd name="T6" fmla="*/ 0 w 112"/>
                <a:gd name="T7" fmla="*/ 2147483646 h 36"/>
                <a:gd name="T8" fmla="*/ 2147483646 w 112"/>
                <a:gd name="T9" fmla="*/ 2147483646 h 36"/>
                <a:gd name="T10" fmla="*/ 2147483646 w 112"/>
                <a:gd name="T11" fmla="*/ 0 h 36"/>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2" h="36">
                  <a:moveTo>
                    <a:pt x="112" y="0"/>
                  </a:moveTo>
                  <a:lnTo>
                    <a:pt x="57" y="26"/>
                  </a:lnTo>
                  <a:lnTo>
                    <a:pt x="9" y="36"/>
                  </a:lnTo>
                  <a:lnTo>
                    <a:pt x="0" y="36"/>
                  </a:lnTo>
                  <a:lnTo>
                    <a:pt x="29" y="11"/>
                  </a:lnTo>
                  <a:lnTo>
                    <a:pt x="112"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9" name="Freeform 192"/>
            <p:cNvSpPr>
              <a:spLocks/>
            </p:cNvSpPr>
            <p:nvPr/>
          </p:nvSpPr>
          <p:spPr bwMode="auto">
            <a:xfrm>
              <a:off x="1968546" y="3236084"/>
              <a:ext cx="30199" cy="75265"/>
            </a:xfrm>
            <a:custGeom>
              <a:avLst/>
              <a:gdLst>
                <a:gd name="T0" fmla="*/ 0 w 150"/>
                <a:gd name="T1" fmla="*/ 0 h 407"/>
                <a:gd name="T2" fmla="*/ 2147483646 w 150"/>
                <a:gd name="T3" fmla="*/ 2147483646 h 407"/>
                <a:gd name="T4" fmla="*/ 2147483646 w 150"/>
                <a:gd name="T5" fmla="*/ 2147483646 h 407"/>
                <a:gd name="T6" fmla="*/ 2147483646 w 150"/>
                <a:gd name="T7" fmla="*/ 2147483646 h 407"/>
                <a:gd name="T8" fmla="*/ 2147483646 w 150"/>
                <a:gd name="T9" fmla="*/ 2147483646 h 407"/>
                <a:gd name="T10" fmla="*/ 2147483646 w 150"/>
                <a:gd name="T11" fmla="*/ 2147483646 h 407"/>
                <a:gd name="T12" fmla="*/ 2147483646 w 150"/>
                <a:gd name="T13" fmla="*/ 2147483646 h 407"/>
                <a:gd name="T14" fmla="*/ 2147483646 w 150"/>
                <a:gd name="T15" fmla="*/ 2147483646 h 407"/>
                <a:gd name="T16" fmla="*/ 2147483646 w 150"/>
                <a:gd name="T17" fmla="*/ 2147483646 h 407"/>
                <a:gd name="T18" fmla="*/ 2147483646 w 150"/>
                <a:gd name="T19" fmla="*/ 2147483646 h 407"/>
                <a:gd name="T20" fmla="*/ 2147483646 w 150"/>
                <a:gd name="T21" fmla="*/ 2147483646 h 407"/>
                <a:gd name="T22" fmla="*/ 2147483646 w 150"/>
                <a:gd name="T23" fmla="*/ 2147483646 h 407"/>
                <a:gd name="T24" fmla="*/ 2147483646 w 150"/>
                <a:gd name="T25" fmla="*/ 2147483646 h 407"/>
                <a:gd name="T26" fmla="*/ 2147483646 w 150"/>
                <a:gd name="T27" fmla="*/ 2147483646 h 407"/>
                <a:gd name="T28" fmla="*/ 2147483646 w 150"/>
                <a:gd name="T29" fmla="*/ 2147483646 h 407"/>
                <a:gd name="T30" fmla="*/ 2147483646 w 150"/>
                <a:gd name="T31" fmla="*/ 2147483646 h 407"/>
                <a:gd name="T32" fmla="*/ 2147483646 w 150"/>
                <a:gd name="T33" fmla="*/ 2147483646 h 407"/>
                <a:gd name="T34" fmla="*/ 2147483646 w 150"/>
                <a:gd name="T35" fmla="*/ 2147483646 h 407"/>
                <a:gd name="T36" fmla="*/ 2147483646 w 150"/>
                <a:gd name="T37" fmla="*/ 2147483646 h 407"/>
                <a:gd name="T38" fmla="*/ 2147483646 w 150"/>
                <a:gd name="T39" fmla="*/ 2147483646 h 407"/>
                <a:gd name="T40" fmla="*/ 2147483646 w 150"/>
                <a:gd name="T41" fmla="*/ 2147483646 h 407"/>
                <a:gd name="T42" fmla="*/ 2147483646 w 150"/>
                <a:gd name="T43" fmla="*/ 2147483646 h 407"/>
                <a:gd name="T44" fmla="*/ 2147483646 w 150"/>
                <a:gd name="T45" fmla="*/ 2147483646 h 407"/>
                <a:gd name="T46" fmla="*/ 2147483646 w 150"/>
                <a:gd name="T47" fmla="*/ 2147483646 h 407"/>
                <a:gd name="T48" fmla="*/ 2147483646 w 150"/>
                <a:gd name="T49" fmla="*/ 2147483646 h 407"/>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150" h="407">
                  <a:moveTo>
                    <a:pt x="0" y="0"/>
                  </a:moveTo>
                  <a:lnTo>
                    <a:pt x="20" y="10"/>
                  </a:lnTo>
                  <a:lnTo>
                    <a:pt x="17" y="34"/>
                  </a:lnTo>
                  <a:lnTo>
                    <a:pt x="36" y="22"/>
                  </a:lnTo>
                  <a:lnTo>
                    <a:pt x="33" y="50"/>
                  </a:lnTo>
                  <a:lnTo>
                    <a:pt x="58" y="46"/>
                  </a:lnTo>
                  <a:lnTo>
                    <a:pt x="39" y="69"/>
                  </a:lnTo>
                  <a:lnTo>
                    <a:pt x="91" y="73"/>
                  </a:lnTo>
                  <a:lnTo>
                    <a:pt x="61" y="101"/>
                  </a:lnTo>
                  <a:lnTo>
                    <a:pt x="105" y="101"/>
                  </a:lnTo>
                  <a:lnTo>
                    <a:pt x="75" y="130"/>
                  </a:lnTo>
                  <a:lnTo>
                    <a:pt x="121" y="127"/>
                  </a:lnTo>
                  <a:lnTo>
                    <a:pt x="92" y="167"/>
                  </a:lnTo>
                  <a:lnTo>
                    <a:pt x="133" y="164"/>
                  </a:lnTo>
                  <a:lnTo>
                    <a:pt x="98" y="199"/>
                  </a:lnTo>
                  <a:lnTo>
                    <a:pt x="150" y="205"/>
                  </a:lnTo>
                  <a:lnTo>
                    <a:pt x="105" y="237"/>
                  </a:lnTo>
                  <a:lnTo>
                    <a:pt x="150" y="250"/>
                  </a:lnTo>
                  <a:lnTo>
                    <a:pt x="101" y="266"/>
                  </a:lnTo>
                  <a:lnTo>
                    <a:pt x="146" y="293"/>
                  </a:lnTo>
                  <a:lnTo>
                    <a:pt x="98" y="312"/>
                  </a:lnTo>
                  <a:lnTo>
                    <a:pt x="140" y="343"/>
                  </a:lnTo>
                  <a:lnTo>
                    <a:pt x="98" y="355"/>
                  </a:lnTo>
                  <a:lnTo>
                    <a:pt x="121" y="382"/>
                  </a:lnTo>
                  <a:lnTo>
                    <a:pt x="88" y="407"/>
                  </a:lnTo>
                </a:path>
              </a:pathLst>
            </a:custGeom>
            <a:noFill/>
            <a:ln w="3175">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1" name="Oval 194"/>
            <p:cNvSpPr>
              <a:spLocks noChangeArrowheads="1"/>
            </p:cNvSpPr>
            <p:nvPr/>
          </p:nvSpPr>
          <p:spPr bwMode="auto">
            <a:xfrm>
              <a:off x="2135645" y="3298340"/>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60" name="Line 353"/>
            <p:cNvSpPr>
              <a:spLocks noChangeShapeType="1"/>
            </p:cNvSpPr>
            <p:nvPr/>
          </p:nvSpPr>
          <p:spPr bwMode="auto">
            <a:xfrm flipV="1">
              <a:off x="2119539" y="3348516"/>
              <a:ext cx="109722" cy="51291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1" name="Text Box 354"/>
            <p:cNvSpPr txBox="1">
              <a:spLocks noChangeArrowheads="1"/>
            </p:cNvSpPr>
            <p:nvPr/>
          </p:nvSpPr>
          <p:spPr bwMode="auto">
            <a:xfrm>
              <a:off x="1797420" y="3857238"/>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grpSp>
      <p:sp>
        <p:nvSpPr>
          <p:cNvPr id="362" name="Text Box 355"/>
          <p:cNvSpPr txBox="1">
            <a:spLocks noChangeArrowheads="1"/>
          </p:cNvSpPr>
          <p:nvPr/>
        </p:nvSpPr>
        <p:spPr bwMode="auto">
          <a:xfrm>
            <a:off x="5421264" y="2611566"/>
            <a:ext cx="646331" cy="23083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用户邮箱</a:t>
            </a:r>
          </a:p>
        </p:txBody>
      </p:sp>
      <p:sp>
        <p:nvSpPr>
          <p:cNvPr id="363" name="Line 356"/>
          <p:cNvSpPr>
            <a:spLocks noChangeShapeType="1"/>
          </p:cNvSpPr>
          <p:nvPr/>
        </p:nvSpPr>
        <p:spPr bwMode="auto">
          <a:xfrm rot="10800000" flipH="1" flipV="1">
            <a:off x="5759489" y="2805767"/>
            <a:ext cx="278835" cy="26017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4" name="Text Box 357"/>
          <p:cNvSpPr txBox="1">
            <a:spLocks noChangeArrowheads="1"/>
          </p:cNvSpPr>
          <p:nvPr/>
        </p:nvSpPr>
        <p:spPr bwMode="auto">
          <a:xfrm>
            <a:off x="6898987" y="2789971"/>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p:txBody>
      </p:sp>
      <p:sp>
        <p:nvSpPr>
          <p:cNvPr id="365" name="Line 358"/>
          <p:cNvSpPr>
            <a:spLocks noChangeShapeType="1"/>
          </p:cNvSpPr>
          <p:nvPr/>
        </p:nvSpPr>
        <p:spPr bwMode="auto">
          <a:xfrm flipV="1">
            <a:off x="5517900" y="3761905"/>
            <a:ext cx="377484" cy="23601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6" name="Line 359"/>
          <p:cNvSpPr>
            <a:spLocks noChangeShapeType="1"/>
          </p:cNvSpPr>
          <p:nvPr/>
        </p:nvSpPr>
        <p:spPr bwMode="auto">
          <a:xfrm flipH="1" flipV="1">
            <a:off x="3295275" y="3786993"/>
            <a:ext cx="277828" cy="21743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7" name="Text Box 375"/>
          <p:cNvSpPr txBox="1">
            <a:spLocks noChangeArrowheads="1"/>
          </p:cNvSpPr>
          <p:nvPr/>
        </p:nvSpPr>
        <p:spPr bwMode="auto">
          <a:xfrm>
            <a:off x="2238321" y="2864306"/>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68" name="Text Box 376"/>
          <p:cNvSpPr txBox="1">
            <a:spLocks noChangeArrowheads="1"/>
          </p:cNvSpPr>
          <p:nvPr/>
        </p:nvSpPr>
        <p:spPr bwMode="auto">
          <a:xfrm>
            <a:off x="4248816" y="2525725"/>
            <a:ext cx="877163"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p>
        </p:txBody>
      </p:sp>
      <p:sp>
        <p:nvSpPr>
          <p:cNvPr id="369" name="Text Box 379"/>
          <p:cNvSpPr txBox="1">
            <a:spLocks noChangeArrowheads="1"/>
          </p:cNvSpPr>
          <p:nvPr/>
        </p:nvSpPr>
        <p:spPr bwMode="auto">
          <a:xfrm>
            <a:off x="6083622" y="2674751"/>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读取邮件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70" name="Text Box 384"/>
          <p:cNvSpPr txBox="1">
            <a:spLocks noChangeArrowheads="1"/>
          </p:cNvSpPr>
          <p:nvPr/>
        </p:nvSpPr>
        <p:spPr bwMode="auto">
          <a:xfrm>
            <a:off x="4364242" y="3331097"/>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互联网</a:t>
            </a:r>
          </a:p>
        </p:txBody>
      </p:sp>
      <p:sp>
        <p:nvSpPr>
          <p:cNvPr id="371" name="Rectangle 385"/>
          <p:cNvSpPr>
            <a:spLocks noChangeArrowheads="1"/>
          </p:cNvSpPr>
          <p:nvPr/>
        </p:nvSpPr>
        <p:spPr bwMode="auto">
          <a:xfrm>
            <a:off x="6814430" y="1445137"/>
            <a:ext cx="547603" cy="1011889"/>
          </a:xfrm>
          <a:prstGeom prst="rect">
            <a:avLst/>
          </a:prstGeom>
          <a:solidFill>
            <a:srgbClr val="00FFCC"/>
          </a:solidFill>
          <a:ln w="9525"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2" name="Rectangle 386"/>
          <p:cNvSpPr>
            <a:spLocks noChangeArrowheads="1"/>
          </p:cNvSpPr>
          <p:nvPr/>
        </p:nvSpPr>
        <p:spPr bwMode="auto">
          <a:xfrm>
            <a:off x="2842294" y="1438632"/>
            <a:ext cx="547603" cy="1018393"/>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3" name="Rectangle 387"/>
          <p:cNvSpPr>
            <a:spLocks noChangeArrowheads="1"/>
          </p:cNvSpPr>
          <p:nvPr/>
        </p:nvSpPr>
        <p:spPr bwMode="auto">
          <a:xfrm>
            <a:off x="1746082" y="1438632"/>
            <a:ext cx="547603" cy="1018393"/>
          </a:xfrm>
          <a:prstGeom prst="rect">
            <a:avLst/>
          </a:prstGeom>
          <a:solidFill>
            <a:srgbClr val="00FFCC"/>
          </a:solidFill>
          <a:ln w="9525">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4" name="Line 388"/>
          <p:cNvSpPr>
            <a:spLocks noChangeShapeType="1"/>
          </p:cNvSpPr>
          <p:nvPr/>
        </p:nvSpPr>
        <p:spPr bwMode="auto">
          <a:xfrm>
            <a:off x="2129605" y="1697876"/>
            <a:ext cx="757988"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75" name="Text Box 389"/>
          <p:cNvSpPr txBox="1">
            <a:spLocks noChangeArrowheads="1"/>
          </p:cNvSpPr>
          <p:nvPr/>
        </p:nvSpPr>
        <p:spPr bwMode="auto">
          <a:xfrm>
            <a:off x="2303061" y="1471491"/>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SMTP</a:t>
            </a:r>
          </a:p>
        </p:txBody>
      </p:sp>
      <p:sp>
        <p:nvSpPr>
          <p:cNvPr id="376" name="Text Box 390"/>
          <p:cNvSpPr txBox="1">
            <a:spLocks noChangeArrowheads="1"/>
          </p:cNvSpPr>
          <p:nvPr/>
        </p:nvSpPr>
        <p:spPr bwMode="auto">
          <a:xfrm>
            <a:off x="6268517" y="147069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POP3</a:t>
            </a:r>
          </a:p>
        </p:txBody>
      </p:sp>
      <p:sp>
        <p:nvSpPr>
          <p:cNvPr id="377" name="Text Box 391"/>
          <p:cNvSpPr txBox="1">
            <a:spLocks noChangeArrowheads="1"/>
          </p:cNvSpPr>
          <p:nvPr/>
        </p:nvSpPr>
        <p:spPr bwMode="auto">
          <a:xfrm>
            <a:off x="2319473" y="1178330"/>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78" name="Text Box 392"/>
          <p:cNvSpPr txBox="1">
            <a:spLocks noChangeArrowheads="1"/>
          </p:cNvSpPr>
          <p:nvPr/>
        </p:nvSpPr>
        <p:spPr bwMode="auto">
          <a:xfrm>
            <a:off x="3916093" y="1896419"/>
            <a:ext cx="1241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发送邮件 </a:t>
            </a:r>
            <a:r>
              <a:rPr kumimoji="1" lang="en-US" altLang="zh-CN" sz="1200" b="1" dirty="0">
                <a:solidFill>
                  <a:srgbClr val="C00000"/>
                </a:solidFill>
                <a:latin typeface="微软雅黑 Light" panose="020B0502040204020203" pitchFamily="34" charset="-122"/>
                <a:ea typeface="微软雅黑 Light" panose="020B0502040204020203" pitchFamily="34" charset="-122"/>
              </a:rPr>
              <a:t>SMTP</a:t>
            </a:r>
          </a:p>
        </p:txBody>
      </p:sp>
      <p:sp>
        <p:nvSpPr>
          <p:cNvPr id="379" name="Text Box 393"/>
          <p:cNvSpPr txBox="1">
            <a:spLocks noChangeArrowheads="1"/>
          </p:cNvSpPr>
          <p:nvPr/>
        </p:nvSpPr>
        <p:spPr bwMode="auto">
          <a:xfrm>
            <a:off x="6284273" y="119239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读取</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80" name="Text Box 394"/>
          <p:cNvSpPr txBox="1">
            <a:spLocks noChangeArrowheads="1"/>
          </p:cNvSpPr>
          <p:nvPr/>
        </p:nvSpPr>
        <p:spPr bwMode="auto">
          <a:xfrm>
            <a:off x="2330846" y="1717775"/>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1" name="Text Box 395"/>
          <p:cNvSpPr txBox="1">
            <a:spLocks noChangeArrowheads="1"/>
          </p:cNvSpPr>
          <p:nvPr/>
        </p:nvSpPr>
        <p:spPr bwMode="auto">
          <a:xfrm>
            <a:off x="6297159" y="170125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2" name="Text Box 396"/>
          <p:cNvSpPr txBox="1">
            <a:spLocks noChangeArrowheads="1"/>
          </p:cNvSpPr>
          <p:nvPr/>
        </p:nvSpPr>
        <p:spPr bwMode="auto">
          <a:xfrm>
            <a:off x="2736115"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3" name="Oval 397"/>
          <p:cNvSpPr>
            <a:spLocks noChangeArrowheads="1"/>
          </p:cNvSpPr>
          <p:nvPr/>
        </p:nvSpPr>
        <p:spPr bwMode="auto">
          <a:xfrm>
            <a:off x="1791380" y="1486950"/>
            <a:ext cx="456001"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4" name="Oval 398"/>
          <p:cNvSpPr>
            <a:spLocks noChangeArrowheads="1"/>
          </p:cNvSpPr>
          <p:nvPr/>
        </p:nvSpPr>
        <p:spPr bwMode="auto">
          <a:xfrm>
            <a:off x="6859729" y="1486950"/>
            <a:ext cx="456000"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5" name="Text Box 399"/>
          <p:cNvSpPr txBox="1">
            <a:spLocks noChangeArrowheads="1"/>
          </p:cNvSpPr>
          <p:nvPr/>
        </p:nvSpPr>
        <p:spPr bwMode="auto">
          <a:xfrm>
            <a:off x="1695592"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86" name="Text Box 400"/>
          <p:cNvSpPr txBox="1">
            <a:spLocks noChangeArrowheads="1"/>
          </p:cNvSpPr>
          <p:nvPr/>
        </p:nvSpPr>
        <p:spPr bwMode="auto">
          <a:xfrm>
            <a:off x="5621097"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7" name="Rectangle 401"/>
          <p:cNvSpPr>
            <a:spLocks noChangeArrowheads="1"/>
          </p:cNvSpPr>
          <p:nvPr/>
        </p:nvSpPr>
        <p:spPr bwMode="auto">
          <a:xfrm>
            <a:off x="5719224" y="1445137"/>
            <a:ext cx="547603" cy="101188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8" name="Oval 402"/>
          <p:cNvSpPr>
            <a:spLocks noChangeArrowheads="1"/>
          </p:cNvSpPr>
          <p:nvPr/>
        </p:nvSpPr>
        <p:spPr bwMode="auto">
          <a:xfrm>
            <a:off x="5764523" y="1950617"/>
            <a:ext cx="456000" cy="420923"/>
          </a:xfrm>
          <a:prstGeom prst="ellipse">
            <a:avLst/>
          </a:prstGeom>
          <a:solidFill>
            <a:schemeClr val="bg1"/>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89" name="Oval 403"/>
          <p:cNvSpPr>
            <a:spLocks noChangeArrowheads="1"/>
          </p:cNvSpPr>
          <p:nvPr/>
        </p:nvSpPr>
        <p:spPr bwMode="auto">
          <a:xfrm>
            <a:off x="5764523" y="1486950"/>
            <a:ext cx="456000" cy="420924"/>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0" name="Line 404"/>
          <p:cNvSpPr>
            <a:spLocks noChangeShapeType="1"/>
          </p:cNvSpPr>
          <p:nvPr/>
        </p:nvSpPr>
        <p:spPr bwMode="auto">
          <a:xfrm flipV="1">
            <a:off x="3298295" y="2161543"/>
            <a:ext cx="2465220"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1" name="Oval 405"/>
          <p:cNvSpPr>
            <a:spLocks noChangeArrowheads="1"/>
          </p:cNvSpPr>
          <p:nvPr/>
        </p:nvSpPr>
        <p:spPr bwMode="auto">
          <a:xfrm>
            <a:off x="2888599" y="1486950"/>
            <a:ext cx="456001" cy="420924"/>
          </a:xfrm>
          <a:prstGeom prst="ellipse">
            <a:avLst/>
          </a:prstGeom>
          <a:solidFill>
            <a:schemeClr val="bg1"/>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2" name="Oval 406"/>
          <p:cNvSpPr>
            <a:spLocks noChangeArrowheads="1"/>
          </p:cNvSpPr>
          <p:nvPr/>
        </p:nvSpPr>
        <p:spPr bwMode="auto">
          <a:xfrm>
            <a:off x="2888599" y="1950617"/>
            <a:ext cx="456001" cy="420923"/>
          </a:xfrm>
          <a:prstGeom prst="ellipse">
            <a:avLst/>
          </a:prstGeom>
          <a:solidFill>
            <a:srgbClr val="FFFF00"/>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93" name="Text Box 407"/>
          <p:cNvSpPr txBox="1">
            <a:spLocks noChangeArrowheads="1"/>
          </p:cNvSpPr>
          <p:nvPr/>
        </p:nvSpPr>
        <p:spPr bwMode="auto">
          <a:xfrm>
            <a:off x="6770220"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94" name="Line 408"/>
          <p:cNvSpPr>
            <a:spLocks noChangeShapeType="1"/>
          </p:cNvSpPr>
          <p:nvPr/>
        </p:nvSpPr>
        <p:spPr bwMode="auto">
          <a:xfrm flipV="1">
            <a:off x="6220523" y="1697876"/>
            <a:ext cx="639206"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5" name="Text Box 409"/>
          <p:cNvSpPr txBox="1">
            <a:spLocks noChangeArrowheads="1"/>
          </p:cNvSpPr>
          <p:nvPr/>
        </p:nvSpPr>
        <p:spPr bwMode="auto">
          <a:xfrm>
            <a:off x="4130961" y="2121283"/>
            <a:ext cx="83426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TCP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连接</a:t>
            </a:r>
          </a:p>
        </p:txBody>
      </p:sp>
      <p:sp>
        <p:nvSpPr>
          <p:cNvPr id="396" name="Text Box 399"/>
          <p:cNvSpPr txBox="1">
            <a:spLocks noChangeArrowheads="1"/>
          </p:cNvSpPr>
          <p:nvPr/>
        </p:nvSpPr>
        <p:spPr bwMode="auto">
          <a:xfrm>
            <a:off x="1096459" y="1081823"/>
            <a:ext cx="53091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发件人</a:t>
            </a:r>
          </a:p>
        </p:txBody>
      </p:sp>
      <p:grpSp>
        <p:nvGrpSpPr>
          <p:cNvPr id="254" name="Group 247"/>
          <p:cNvGrpSpPr>
            <a:grpSpLocks/>
          </p:cNvGrpSpPr>
          <p:nvPr/>
        </p:nvGrpSpPr>
        <p:grpSpPr bwMode="auto">
          <a:xfrm>
            <a:off x="6953345" y="3397662"/>
            <a:ext cx="350305" cy="144024"/>
            <a:chOff x="5266" y="2029"/>
            <a:chExt cx="348" cy="155"/>
          </a:xfrm>
        </p:grpSpPr>
        <p:sp>
          <p:nvSpPr>
            <p:cNvPr id="255" name="Freeform 248"/>
            <p:cNvSpPr>
              <a:spLocks/>
            </p:cNvSpPr>
            <p:nvPr/>
          </p:nvSpPr>
          <p:spPr bwMode="auto">
            <a:xfrm>
              <a:off x="5266" y="2029"/>
              <a:ext cx="348" cy="155"/>
            </a:xfrm>
            <a:custGeom>
              <a:avLst/>
              <a:gdLst>
                <a:gd name="T0" fmla="*/ 0 w 2091"/>
                <a:gd name="T1" fmla="*/ 0 h 931"/>
                <a:gd name="T2" fmla="*/ 0 w 2091"/>
                <a:gd name="T3" fmla="*/ 0 h 931"/>
                <a:gd name="T4" fmla="*/ 0 w 2091"/>
                <a:gd name="T5" fmla="*/ 0 h 931"/>
                <a:gd name="T6" fmla="*/ 0 w 2091"/>
                <a:gd name="T7" fmla="*/ 0 h 931"/>
                <a:gd name="T8" fmla="*/ 0 w 2091"/>
                <a:gd name="T9" fmla="*/ 0 h 931"/>
                <a:gd name="T10" fmla="*/ 0 w 2091"/>
                <a:gd name="T11" fmla="*/ 0 h 931"/>
                <a:gd name="T12" fmla="*/ 0 w 2091"/>
                <a:gd name="T13" fmla="*/ 0 h 931"/>
                <a:gd name="T14" fmla="*/ 0 w 2091"/>
                <a:gd name="T15" fmla="*/ 0 h 931"/>
                <a:gd name="T16" fmla="*/ 0 w 2091"/>
                <a:gd name="T17" fmla="*/ 0 h 931"/>
                <a:gd name="T18" fmla="*/ 0 w 2091"/>
                <a:gd name="T19" fmla="*/ 0 h 931"/>
                <a:gd name="T20" fmla="*/ 0 w 2091"/>
                <a:gd name="T21" fmla="*/ 0 h 931"/>
                <a:gd name="T22" fmla="*/ 0 w 2091"/>
                <a:gd name="T23" fmla="*/ 0 h 931"/>
                <a:gd name="T24" fmla="*/ 0 w 2091"/>
                <a:gd name="T25" fmla="*/ 0 h 931"/>
                <a:gd name="T26" fmla="*/ 0 w 2091"/>
                <a:gd name="T27" fmla="*/ 0 h 931"/>
                <a:gd name="T28" fmla="*/ 0 w 2091"/>
                <a:gd name="T29" fmla="*/ 0 h 931"/>
                <a:gd name="T30" fmla="*/ 0 w 2091"/>
                <a:gd name="T31" fmla="*/ 0 h 931"/>
                <a:gd name="T32" fmla="*/ 0 w 2091"/>
                <a:gd name="T33" fmla="*/ 0 h 931"/>
                <a:gd name="T34" fmla="*/ 0 w 2091"/>
                <a:gd name="T35" fmla="*/ 0 h 931"/>
                <a:gd name="T36" fmla="*/ 0 w 2091"/>
                <a:gd name="T37" fmla="*/ 0 h 931"/>
                <a:gd name="T38" fmla="*/ 0 w 2091"/>
                <a:gd name="T39" fmla="*/ 0 h 931"/>
                <a:gd name="T40" fmla="*/ 0 w 2091"/>
                <a:gd name="T41" fmla="*/ 0 h 931"/>
                <a:gd name="T42" fmla="*/ 0 w 2091"/>
                <a:gd name="T43" fmla="*/ 0 h 931"/>
                <a:gd name="T44" fmla="*/ 0 w 2091"/>
                <a:gd name="T45" fmla="*/ 0 h 931"/>
                <a:gd name="T46" fmla="*/ 0 w 2091"/>
                <a:gd name="T47" fmla="*/ 0 h 931"/>
                <a:gd name="T48" fmla="*/ 0 w 2091"/>
                <a:gd name="T49" fmla="*/ 0 h 931"/>
                <a:gd name="T50" fmla="*/ 0 w 2091"/>
                <a:gd name="T51" fmla="*/ 0 h 931"/>
                <a:gd name="T52" fmla="*/ 0 w 2091"/>
                <a:gd name="T53" fmla="*/ 0 h 931"/>
                <a:gd name="T54" fmla="*/ 0 w 2091"/>
                <a:gd name="T55" fmla="*/ 0 h 931"/>
                <a:gd name="T56" fmla="*/ 0 w 2091"/>
                <a:gd name="T57" fmla="*/ 0 h 931"/>
                <a:gd name="T58" fmla="*/ 0 w 2091"/>
                <a:gd name="T59" fmla="*/ 0 h 931"/>
                <a:gd name="T60" fmla="*/ 0 w 2091"/>
                <a:gd name="T61" fmla="*/ 0 h 931"/>
                <a:gd name="T62" fmla="*/ 0 w 2091"/>
                <a:gd name="T63" fmla="*/ 0 h 931"/>
                <a:gd name="T64" fmla="*/ 0 w 2091"/>
                <a:gd name="T65" fmla="*/ 0 h 931"/>
                <a:gd name="T66" fmla="*/ 0 w 2091"/>
                <a:gd name="T67" fmla="*/ 0 h 931"/>
                <a:gd name="T68" fmla="*/ 0 w 2091"/>
                <a:gd name="T69" fmla="*/ 0 h 931"/>
                <a:gd name="T70" fmla="*/ 0 w 2091"/>
                <a:gd name="T71" fmla="*/ 0 h 931"/>
                <a:gd name="T72" fmla="*/ 0 w 2091"/>
                <a:gd name="T73" fmla="*/ 0 h 931"/>
                <a:gd name="T74" fmla="*/ 0 w 2091"/>
                <a:gd name="T75" fmla="*/ 0 h 931"/>
                <a:gd name="T76" fmla="*/ 0 w 2091"/>
                <a:gd name="T77" fmla="*/ 0 h 931"/>
                <a:gd name="T78" fmla="*/ 0 w 2091"/>
                <a:gd name="T79" fmla="*/ 0 h 931"/>
                <a:gd name="T80" fmla="*/ 0 w 2091"/>
                <a:gd name="T81" fmla="*/ 0 h 931"/>
                <a:gd name="T82" fmla="*/ 0 w 2091"/>
                <a:gd name="T83" fmla="*/ 0 h 931"/>
                <a:gd name="T84" fmla="*/ 0 w 2091"/>
                <a:gd name="T85" fmla="*/ 0 h 931"/>
                <a:gd name="T86" fmla="*/ 0 w 2091"/>
                <a:gd name="T87" fmla="*/ 0 h 931"/>
                <a:gd name="T88" fmla="*/ 0 w 2091"/>
                <a:gd name="T89" fmla="*/ 0 h 931"/>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0" t="0" r="r" b="b"/>
              <a:pathLst>
                <a:path w="2091" h="931">
                  <a:moveTo>
                    <a:pt x="182" y="927"/>
                  </a:moveTo>
                  <a:lnTo>
                    <a:pt x="5" y="905"/>
                  </a:lnTo>
                  <a:lnTo>
                    <a:pt x="0" y="695"/>
                  </a:lnTo>
                  <a:lnTo>
                    <a:pt x="9" y="537"/>
                  </a:lnTo>
                  <a:lnTo>
                    <a:pt x="100" y="442"/>
                  </a:lnTo>
                  <a:lnTo>
                    <a:pt x="210" y="387"/>
                  </a:lnTo>
                  <a:lnTo>
                    <a:pt x="460" y="296"/>
                  </a:lnTo>
                  <a:lnTo>
                    <a:pt x="828" y="207"/>
                  </a:lnTo>
                  <a:lnTo>
                    <a:pt x="900" y="201"/>
                  </a:lnTo>
                  <a:lnTo>
                    <a:pt x="948" y="207"/>
                  </a:lnTo>
                  <a:lnTo>
                    <a:pt x="960" y="188"/>
                  </a:lnTo>
                  <a:lnTo>
                    <a:pt x="980" y="169"/>
                  </a:lnTo>
                  <a:lnTo>
                    <a:pt x="1003" y="173"/>
                  </a:lnTo>
                  <a:lnTo>
                    <a:pt x="1035" y="176"/>
                  </a:lnTo>
                  <a:lnTo>
                    <a:pt x="1049" y="138"/>
                  </a:lnTo>
                  <a:lnTo>
                    <a:pt x="1077" y="118"/>
                  </a:lnTo>
                  <a:lnTo>
                    <a:pt x="1106" y="112"/>
                  </a:lnTo>
                  <a:lnTo>
                    <a:pt x="1144" y="112"/>
                  </a:lnTo>
                  <a:lnTo>
                    <a:pt x="1138" y="82"/>
                  </a:lnTo>
                  <a:lnTo>
                    <a:pt x="1182" y="0"/>
                  </a:lnTo>
                  <a:lnTo>
                    <a:pt x="2040" y="22"/>
                  </a:lnTo>
                  <a:lnTo>
                    <a:pt x="2037" y="110"/>
                  </a:lnTo>
                  <a:lnTo>
                    <a:pt x="2053" y="188"/>
                  </a:lnTo>
                  <a:lnTo>
                    <a:pt x="2065" y="244"/>
                  </a:lnTo>
                  <a:lnTo>
                    <a:pt x="2080" y="314"/>
                  </a:lnTo>
                  <a:lnTo>
                    <a:pt x="2091" y="427"/>
                  </a:lnTo>
                  <a:lnTo>
                    <a:pt x="2077" y="494"/>
                  </a:lnTo>
                  <a:lnTo>
                    <a:pt x="2053" y="557"/>
                  </a:lnTo>
                  <a:lnTo>
                    <a:pt x="2023" y="610"/>
                  </a:lnTo>
                  <a:lnTo>
                    <a:pt x="1983" y="629"/>
                  </a:lnTo>
                  <a:lnTo>
                    <a:pt x="1921" y="648"/>
                  </a:lnTo>
                  <a:lnTo>
                    <a:pt x="1838" y="673"/>
                  </a:lnTo>
                  <a:lnTo>
                    <a:pt x="1801" y="717"/>
                  </a:lnTo>
                  <a:lnTo>
                    <a:pt x="1757" y="754"/>
                  </a:lnTo>
                  <a:lnTo>
                    <a:pt x="1686" y="786"/>
                  </a:lnTo>
                  <a:lnTo>
                    <a:pt x="1605" y="812"/>
                  </a:lnTo>
                  <a:lnTo>
                    <a:pt x="1475" y="827"/>
                  </a:lnTo>
                  <a:lnTo>
                    <a:pt x="1364" y="827"/>
                  </a:lnTo>
                  <a:lnTo>
                    <a:pt x="1279" y="818"/>
                  </a:lnTo>
                  <a:lnTo>
                    <a:pt x="1202" y="812"/>
                  </a:lnTo>
                  <a:lnTo>
                    <a:pt x="1144" y="843"/>
                  </a:lnTo>
                  <a:lnTo>
                    <a:pt x="1031" y="837"/>
                  </a:lnTo>
                  <a:lnTo>
                    <a:pt x="582" y="901"/>
                  </a:lnTo>
                  <a:lnTo>
                    <a:pt x="386" y="931"/>
                  </a:lnTo>
                  <a:lnTo>
                    <a:pt x="182" y="927"/>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6" name="Freeform 249"/>
            <p:cNvSpPr>
              <a:spLocks/>
            </p:cNvSpPr>
            <p:nvPr/>
          </p:nvSpPr>
          <p:spPr bwMode="auto">
            <a:xfrm>
              <a:off x="5268" y="2043"/>
              <a:ext cx="342" cy="138"/>
            </a:xfrm>
            <a:custGeom>
              <a:avLst/>
              <a:gdLst>
                <a:gd name="T0" fmla="*/ 0 w 2049"/>
                <a:gd name="T1" fmla="*/ 0 h 829"/>
                <a:gd name="T2" fmla="*/ 0 w 2049"/>
                <a:gd name="T3" fmla="*/ 0 h 829"/>
                <a:gd name="T4" fmla="*/ 0 w 2049"/>
                <a:gd name="T5" fmla="*/ 0 h 829"/>
                <a:gd name="T6" fmla="*/ 0 w 2049"/>
                <a:gd name="T7" fmla="*/ 0 h 829"/>
                <a:gd name="T8" fmla="*/ 0 w 2049"/>
                <a:gd name="T9" fmla="*/ 0 h 829"/>
                <a:gd name="T10" fmla="*/ 0 w 2049"/>
                <a:gd name="T11" fmla="*/ 0 h 829"/>
                <a:gd name="T12" fmla="*/ 0 w 2049"/>
                <a:gd name="T13" fmla="*/ 0 h 829"/>
                <a:gd name="T14" fmla="*/ 0 w 2049"/>
                <a:gd name="T15" fmla="*/ 0 h 829"/>
                <a:gd name="T16" fmla="*/ 0 w 2049"/>
                <a:gd name="T17" fmla="*/ 0 h 829"/>
                <a:gd name="T18" fmla="*/ 0 w 2049"/>
                <a:gd name="T19" fmla="*/ 0 h 829"/>
                <a:gd name="T20" fmla="*/ 0 w 2049"/>
                <a:gd name="T21" fmla="*/ 0 h 829"/>
                <a:gd name="T22" fmla="*/ 0 w 2049"/>
                <a:gd name="T23" fmla="*/ 0 h 829"/>
                <a:gd name="T24" fmla="*/ 0 w 2049"/>
                <a:gd name="T25" fmla="*/ 0 h 829"/>
                <a:gd name="T26" fmla="*/ 0 w 2049"/>
                <a:gd name="T27" fmla="*/ 0 h 829"/>
                <a:gd name="T28" fmla="*/ 0 w 2049"/>
                <a:gd name="T29" fmla="*/ 0 h 829"/>
                <a:gd name="T30" fmla="*/ 0 w 2049"/>
                <a:gd name="T31" fmla="*/ 0 h 829"/>
                <a:gd name="T32" fmla="*/ 0 w 2049"/>
                <a:gd name="T33" fmla="*/ 0 h 829"/>
                <a:gd name="T34" fmla="*/ 0 w 2049"/>
                <a:gd name="T35" fmla="*/ 0 h 829"/>
                <a:gd name="T36" fmla="*/ 0 w 2049"/>
                <a:gd name="T37" fmla="*/ 0 h 829"/>
                <a:gd name="T38" fmla="*/ 0 w 2049"/>
                <a:gd name="T39" fmla="*/ 0 h 829"/>
                <a:gd name="T40" fmla="*/ 0 w 2049"/>
                <a:gd name="T41" fmla="*/ 0 h 829"/>
                <a:gd name="T42" fmla="*/ 0 w 2049"/>
                <a:gd name="T43" fmla="*/ 0 h 829"/>
                <a:gd name="T44" fmla="*/ 0 w 2049"/>
                <a:gd name="T45" fmla="*/ 0 h 829"/>
                <a:gd name="T46" fmla="*/ 0 w 2049"/>
                <a:gd name="T47" fmla="*/ 0 h 829"/>
                <a:gd name="T48" fmla="*/ 0 w 2049"/>
                <a:gd name="T49" fmla="*/ 0 h 829"/>
                <a:gd name="T50" fmla="*/ 0 w 2049"/>
                <a:gd name="T51" fmla="*/ 0 h 829"/>
                <a:gd name="T52" fmla="*/ 0 w 2049"/>
                <a:gd name="T53" fmla="*/ 0 h 829"/>
                <a:gd name="T54" fmla="*/ 0 w 2049"/>
                <a:gd name="T55" fmla="*/ 0 h 829"/>
                <a:gd name="T56" fmla="*/ 0 w 2049"/>
                <a:gd name="T57" fmla="*/ 0 h 829"/>
                <a:gd name="T58" fmla="*/ 0 w 2049"/>
                <a:gd name="T59" fmla="*/ 0 h 829"/>
                <a:gd name="T60" fmla="*/ 0 w 2049"/>
                <a:gd name="T61" fmla="*/ 0 h 829"/>
                <a:gd name="T62" fmla="*/ 0 w 2049"/>
                <a:gd name="T63" fmla="*/ 0 h 829"/>
                <a:gd name="T64" fmla="*/ 0 w 2049"/>
                <a:gd name="T65" fmla="*/ 0 h 829"/>
                <a:gd name="T66" fmla="*/ 0 w 2049"/>
                <a:gd name="T67" fmla="*/ 0 h 829"/>
                <a:gd name="T68" fmla="*/ 0 w 2049"/>
                <a:gd name="T69" fmla="*/ 0 h 829"/>
                <a:gd name="T70" fmla="*/ 0 w 2049"/>
                <a:gd name="T71" fmla="*/ 0 h 829"/>
                <a:gd name="T72" fmla="*/ 0 w 2049"/>
                <a:gd name="T73" fmla="*/ 0 h 829"/>
                <a:gd name="T74" fmla="*/ 0 w 2049"/>
                <a:gd name="T75" fmla="*/ 0 h 829"/>
                <a:gd name="T76" fmla="*/ 0 w 2049"/>
                <a:gd name="T77" fmla="*/ 0 h 829"/>
                <a:gd name="T78" fmla="*/ 0 w 2049"/>
                <a:gd name="T79" fmla="*/ 0 h 829"/>
                <a:gd name="T80" fmla="*/ 0 w 2049"/>
                <a:gd name="T81" fmla="*/ 0 h 829"/>
                <a:gd name="T82" fmla="*/ 0 w 2049"/>
                <a:gd name="T83" fmla="*/ 0 h 829"/>
                <a:gd name="T84" fmla="*/ 0 w 2049"/>
                <a:gd name="T85" fmla="*/ 0 h 829"/>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0" t="0" r="r" b="b"/>
              <a:pathLst>
                <a:path w="2049" h="829">
                  <a:moveTo>
                    <a:pt x="1982" y="31"/>
                  </a:moveTo>
                  <a:lnTo>
                    <a:pt x="1986" y="90"/>
                  </a:lnTo>
                  <a:lnTo>
                    <a:pt x="2010" y="67"/>
                  </a:lnTo>
                  <a:lnTo>
                    <a:pt x="2037" y="199"/>
                  </a:lnTo>
                  <a:lnTo>
                    <a:pt x="2049" y="353"/>
                  </a:lnTo>
                  <a:lnTo>
                    <a:pt x="1995" y="512"/>
                  </a:lnTo>
                  <a:lnTo>
                    <a:pt x="1868" y="549"/>
                  </a:lnTo>
                  <a:lnTo>
                    <a:pt x="1882" y="512"/>
                  </a:lnTo>
                  <a:lnTo>
                    <a:pt x="1814" y="567"/>
                  </a:lnTo>
                  <a:lnTo>
                    <a:pt x="1754" y="624"/>
                  </a:lnTo>
                  <a:lnTo>
                    <a:pt x="1622" y="688"/>
                  </a:lnTo>
                  <a:lnTo>
                    <a:pt x="1460" y="701"/>
                  </a:lnTo>
                  <a:lnTo>
                    <a:pt x="1264" y="710"/>
                  </a:lnTo>
                  <a:lnTo>
                    <a:pt x="1181" y="701"/>
                  </a:lnTo>
                  <a:lnTo>
                    <a:pt x="1255" y="669"/>
                  </a:lnTo>
                  <a:lnTo>
                    <a:pt x="1287" y="589"/>
                  </a:lnTo>
                  <a:lnTo>
                    <a:pt x="1228" y="656"/>
                  </a:lnTo>
                  <a:lnTo>
                    <a:pt x="1155" y="697"/>
                  </a:lnTo>
                  <a:lnTo>
                    <a:pt x="1086" y="733"/>
                  </a:lnTo>
                  <a:lnTo>
                    <a:pt x="1017" y="724"/>
                  </a:lnTo>
                  <a:lnTo>
                    <a:pt x="1063" y="692"/>
                  </a:lnTo>
                  <a:lnTo>
                    <a:pt x="1109" y="652"/>
                  </a:lnTo>
                  <a:lnTo>
                    <a:pt x="1036" y="678"/>
                  </a:lnTo>
                  <a:lnTo>
                    <a:pt x="963" y="733"/>
                  </a:lnTo>
                  <a:lnTo>
                    <a:pt x="726" y="761"/>
                  </a:lnTo>
                  <a:lnTo>
                    <a:pt x="491" y="797"/>
                  </a:lnTo>
                  <a:lnTo>
                    <a:pt x="409" y="793"/>
                  </a:lnTo>
                  <a:lnTo>
                    <a:pt x="495" y="742"/>
                  </a:lnTo>
                  <a:lnTo>
                    <a:pt x="581" y="724"/>
                  </a:lnTo>
                  <a:lnTo>
                    <a:pt x="486" y="720"/>
                  </a:lnTo>
                  <a:lnTo>
                    <a:pt x="414" y="752"/>
                  </a:lnTo>
                  <a:lnTo>
                    <a:pt x="319" y="815"/>
                  </a:lnTo>
                  <a:lnTo>
                    <a:pt x="386" y="720"/>
                  </a:lnTo>
                  <a:lnTo>
                    <a:pt x="473" y="669"/>
                  </a:lnTo>
                  <a:lnTo>
                    <a:pt x="359" y="692"/>
                  </a:lnTo>
                  <a:lnTo>
                    <a:pt x="300" y="765"/>
                  </a:lnTo>
                  <a:lnTo>
                    <a:pt x="287" y="829"/>
                  </a:lnTo>
                  <a:lnTo>
                    <a:pt x="214" y="742"/>
                  </a:lnTo>
                  <a:lnTo>
                    <a:pt x="140" y="701"/>
                  </a:lnTo>
                  <a:lnTo>
                    <a:pt x="182" y="746"/>
                  </a:lnTo>
                  <a:lnTo>
                    <a:pt x="241" y="829"/>
                  </a:lnTo>
                  <a:lnTo>
                    <a:pt x="59" y="793"/>
                  </a:lnTo>
                  <a:lnTo>
                    <a:pt x="23" y="778"/>
                  </a:lnTo>
                  <a:lnTo>
                    <a:pt x="0" y="674"/>
                  </a:lnTo>
                  <a:lnTo>
                    <a:pt x="13" y="530"/>
                  </a:lnTo>
                  <a:lnTo>
                    <a:pt x="40" y="435"/>
                  </a:lnTo>
                  <a:lnTo>
                    <a:pt x="155" y="362"/>
                  </a:lnTo>
                  <a:lnTo>
                    <a:pt x="296" y="298"/>
                  </a:lnTo>
                  <a:lnTo>
                    <a:pt x="572" y="207"/>
                  </a:lnTo>
                  <a:lnTo>
                    <a:pt x="795" y="145"/>
                  </a:lnTo>
                  <a:lnTo>
                    <a:pt x="917" y="135"/>
                  </a:lnTo>
                  <a:lnTo>
                    <a:pt x="968" y="207"/>
                  </a:lnTo>
                  <a:lnTo>
                    <a:pt x="1123" y="285"/>
                  </a:lnTo>
                  <a:lnTo>
                    <a:pt x="1040" y="217"/>
                  </a:lnTo>
                  <a:lnTo>
                    <a:pt x="977" y="182"/>
                  </a:lnTo>
                  <a:lnTo>
                    <a:pt x="953" y="131"/>
                  </a:lnTo>
                  <a:lnTo>
                    <a:pt x="963" y="108"/>
                  </a:lnTo>
                  <a:lnTo>
                    <a:pt x="1008" y="108"/>
                  </a:lnTo>
                  <a:lnTo>
                    <a:pt x="1036" y="135"/>
                  </a:lnTo>
                  <a:lnTo>
                    <a:pt x="1063" y="163"/>
                  </a:lnTo>
                  <a:lnTo>
                    <a:pt x="1132" y="190"/>
                  </a:lnTo>
                  <a:lnTo>
                    <a:pt x="1068" y="135"/>
                  </a:lnTo>
                  <a:lnTo>
                    <a:pt x="1040" y="95"/>
                  </a:lnTo>
                  <a:lnTo>
                    <a:pt x="1059" y="67"/>
                  </a:lnTo>
                  <a:lnTo>
                    <a:pt x="1113" y="50"/>
                  </a:lnTo>
                  <a:lnTo>
                    <a:pt x="1186" y="113"/>
                  </a:lnTo>
                  <a:lnTo>
                    <a:pt x="1255" y="154"/>
                  </a:lnTo>
                  <a:lnTo>
                    <a:pt x="1173" y="63"/>
                  </a:lnTo>
                  <a:lnTo>
                    <a:pt x="1145" y="27"/>
                  </a:lnTo>
                  <a:lnTo>
                    <a:pt x="1145" y="0"/>
                  </a:lnTo>
                  <a:lnTo>
                    <a:pt x="1213" y="10"/>
                  </a:lnTo>
                  <a:lnTo>
                    <a:pt x="1277" y="54"/>
                  </a:lnTo>
                  <a:lnTo>
                    <a:pt x="1319" y="86"/>
                  </a:lnTo>
                  <a:lnTo>
                    <a:pt x="1514" y="104"/>
                  </a:lnTo>
                  <a:lnTo>
                    <a:pt x="1508" y="54"/>
                  </a:lnTo>
                  <a:lnTo>
                    <a:pt x="1567" y="35"/>
                  </a:lnTo>
                  <a:lnTo>
                    <a:pt x="1567" y="99"/>
                  </a:lnTo>
                  <a:lnTo>
                    <a:pt x="1626" y="113"/>
                  </a:lnTo>
                  <a:lnTo>
                    <a:pt x="1754" y="131"/>
                  </a:lnTo>
                  <a:lnTo>
                    <a:pt x="1745" y="63"/>
                  </a:lnTo>
                  <a:lnTo>
                    <a:pt x="1790" y="63"/>
                  </a:lnTo>
                  <a:lnTo>
                    <a:pt x="1795" y="131"/>
                  </a:lnTo>
                  <a:lnTo>
                    <a:pt x="1868" y="127"/>
                  </a:lnTo>
                  <a:lnTo>
                    <a:pt x="1946" y="108"/>
                  </a:lnTo>
                  <a:lnTo>
                    <a:pt x="1950" y="54"/>
                  </a:lnTo>
                  <a:lnTo>
                    <a:pt x="1982"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7" name="Freeform 250"/>
            <p:cNvSpPr>
              <a:spLocks/>
            </p:cNvSpPr>
            <p:nvPr/>
          </p:nvSpPr>
          <p:spPr bwMode="auto">
            <a:xfrm>
              <a:off x="5515" y="2093"/>
              <a:ext cx="47" cy="8"/>
            </a:xfrm>
            <a:custGeom>
              <a:avLst/>
              <a:gdLst>
                <a:gd name="T0" fmla="*/ 0 w 280"/>
                <a:gd name="T1" fmla="*/ 0 h 48"/>
                <a:gd name="T2" fmla="*/ 0 w 280"/>
                <a:gd name="T3" fmla="*/ 0 h 48"/>
                <a:gd name="T4" fmla="*/ 0 w 280"/>
                <a:gd name="T5" fmla="*/ 0 h 48"/>
                <a:gd name="T6" fmla="*/ 0 w 280"/>
                <a:gd name="T7" fmla="*/ 0 h 4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80" h="48">
                  <a:moveTo>
                    <a:pt x="280" y="0"/>
                  </a:moveTo>
                  <a:lnTo>
                    <a:pt x="149" y="48"/>
                  </a:lnTo>
                  <a:lnTo>
                    <a:pt x="0" y="35"/>
                  </a:lnTo>
                  <a:lnTo>
                    <a:pt x="28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8" name="Freeform 251"/>
            <p:cNvSpPr>
              <a:spLocks/>
            </p:cNvSpPr>
            <p:nvPr/>
          </p:nvSpPr>
          <p:spPr bwMode="auto">
            <a:xfrm>
              <a:off x="5580" y="2080"/>
              <a:ext cx="28" cy="10"/>
            </a:xfrm>
            <a:custGeom>
              <a:avLst/>
              <a:gdLst>
                <a:gd name="T0" fmla="*/ 0 w 170"/>
                <a:gd name="T1" fmla="*/ 0 h 57"/>
                <a:gd name="T2" fmla="*/ 0 w 170"/>
                <a:gd name="T3" fmla="*/ 0 h 57"/>
                <a:gd name="T4" fmla="*/ 0 w 170"/>
                <a:gd name="T5" fmla="*/ 0 h 57"/>
                <a:gd name="T6" fmla="*/ 0 w 170"/>
                <a:gd name="T7" fmla="*/ 0 h 57"/>
                <a:gd name="T8" fmla="*/ 0 w 170"/>
                <a:gd name="T9" fmla="*/ 0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0" h="57">
                  <a:moveTo>
                    <a:pt x="170" y="0"/>
                  </a:moveTo>
                  <a:lnTo>
                    <a:pt x="125" y="35"/>
                  </a:lnTo>
                  <a:lnTo>
                    <a:pt x="0" y="53"/>
                  </a:lnTo>
                  <a:lnTo>
                    <a:pt x="130" y="57"/>
                  </a:lnTo>
                  <a:lnTo>
                    <a:pt x="17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9" name="Freeform 252"/>
            <p:cNvSpPr>
              <a:spLocks/>
            </p:cNvSpPr>
            <p:nvPr/>
          </p:nvSpPr>
          <p:spPr bwMode="auto">
            <a:xfrm>
              <a:off x="5445" y="2073"/>
              <a:ext cx="44" cy="24"/>
            </a:xfrm>
            <a:custGeom>
              <a:avLst/>
              <a:gdLst>
                <a:gd name="T0" fmla="*/ 0 w 263"/>
                <a:gd name="T1" fmla="*/ 0 h 143"/>
                <a:gd name="T2" fmla="*/ 0 w 263"/>
                <a:gd name="T3" fmla="*/ 0 h 143"/>
                <a:gd name="T4" fmla="*/ 0 w 263"/>
                <a:gd name="T5" fmla="*/ 0 h 143"/>
                <a:gd name="T6" fmla="*/ 0 w 263"/>
                <a:gd name="T7" fmla="*/ 0 h 143"/>
                <a:gd name="T8" fmla="*/ 0 w 263"/>
                <a:gd name="T9" fmla="*/ 0 h 143"/>
                <a:gd name="T10" fmla="*/ 0 w 263"/>
                <a:gd name="T11" fmla="*/ 0 h 143"/>
                <a:gd name="T12" fmla="*/ 0 w 263"/>
                <a:gd name="T13" fmla="*/ 0 h 143"/>
                <a:gd name="T14" fmla="*/ 0 w 263"/>
                <a:gd name="T15" fmla="*/ 0 h 143"/>
                <a:gd name="T16" fmla="*/ 0 w 263"/>
                <a:gd name="T17" fmla="*/ 0 h 143"/>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263" h="143">
                  <a:moveTo>
                    <a:pt x="263" y="0"/>
                  </a:moveTo>
                  <a:lnTo>
                    <a:pt x="145" y="13"/>
                  </a:lnTo>
                  <a:lnTo>
                    <a:pt x="122" y="31"/>
                  </a:lnTo>
                  <a:lnTo>
                    <a:pt x="122" y="76"/>
                  </a:lnTo>
                  <a:lnTo>
                    <a:pt x="113" y="124"/>
                  </a:lnTo>
                  <a:lnTo>
                    <a:pt x="0" y="143"/>
                  </a:lnTo>
                  <a:lnTo>
                    <a:pt x="136" y="138"/>
                  </a:lnTo>
                  <a:lnTo>
                    <a:pt x="159" y="48"/>
                  </a:lnTo>
                  <a:lnTo>
                    <a:pt x="26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0" name="Freeform 253"/>
            <p:cNvSpPr>
              <a:spLocks/>
            </p:cNvSpPr>
            <p:nvPr/>
          </p:nvSpPr>
          <p:spPr bwMode="auto">
            <a:xfrm>
              <a:off x="5303" y="2127"/>
              <a:ext cx="142" cy="35"/>
            </a:xfrm>
            <a:custGeom>
              <a:avLst/>
              <a:gdLst>
                <a:gd name="T0" fmla="*/ 0 w 853"/>
                <a:gd name="T1" fmla="*/ 0 h 212"/>
                <a:gd name="T2" fmla="*/ 0 w 853"/>
                <a:gd name="T3" fmla="*/ 0 h 212"/>
                <a:gd name="T4" fmla="*/ 0 w 853"/>
                <a:gd name="T5" fmla="*/ 0 h 212"/>
                <a:gd name="T6" fmla="*/ 0 w 853"/>
                <a:gd name="T7" fmla="*/ 0 h 212"/>
                <a:gd name="T8" fmla="*/ 0 w 853"/>
                <a:gd name="T9" fmla="*/ 0 h 212"/>
                <a:gd name="T10" fmla="*/ 0 w 853"/>
                <a:gd name="T11" fmla="*/ 0 h 212"/>
                <a:gd name="T12" fmla="*/ 0 w 853"/>
                <a:gd name="T13" fmla="*/ 0 h 212"/>
                <a:gd name="T14" fmla="*/ 0 w 853"/>
                <a:gd name="T15" fmla="*/ 0 h 212"/>
                <a:gd name="T16" fmla="*/ 0 w 853"/>
                <a:gd name="T17" fmla="*/ 0 h 212"/>
                <a:gd name="T18" fmla="*/ 0 w 853"/>
                <a:gd name="T19" fmla="*/ 0 h 212"/>
                <a:gd name="T20" fmla="*/ 0 w 853"/>
                <a:gd name="T21" fmla="*/ 0 h 212"/>
                <a:gd name="T22" fmla="*/ 0 w 853"/>
                <a:gd name="T23" fmla="*/ 0 h 212"/>
                <a:gd name="T24" fmla="*/ 0 w 853"/>
                <a:gd name="T25" fmla="*/ 0 h 212"/>
                <a:gd name="T26" fmla="*/ 0 w 853"/>
                <a:gd name="T27" fmla="*/ 0 h 212"/>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853" h="212">
                  <a:moveTo>
                    <a:pt x="853" y="0"/>
                  </a:moveTo>
                  <a:lnTo>
                    <a:pt x="636" y="10"/>
                  </a:lnTo>
                  <a:lnTo>
                    <a:pt x="413" y="63"/>
                  </a:lnTo>
                  <a:lnTo>
                    <a:pt x="249" y="71"/>
                  </a:lnTo>
                  <a:lnTo>
                    <a:pt x="114" y="99"/>
                  </a:lnTo>
                  <a:lnTo>
                    <a:pt x="64" y="170"/>
                  </a:lnTo>
                  <a:lnTo>
                    <a:pt x="0" y="212"/>
                  </a:lnTo>
                  <a:lnTo>
                    <a:pt x="64" y="198"/>
                  </a:lnTo>
                  <a:lnTo>
                    <a:pt x="123" y="117"/>
                  </a:lnTo>
                  <a:lnTo>
                    <a:pt x="304" y="81"/>
                  </a:lnTo>
                  <a:lnTo>
                    <a:pt x="413" y="81"/>
                  </a:lnTo>
                  <a:lnTo>
                    <a:pt x="500" y="63"/>
                  </a:lnTo>
                  <a:lnTo>
                    <a:pt x="649" y="23"/>
                  </a:lnTo>
                  <a:lnTo>
                    <a:pt x="85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aphicFrame>
        <p:nvGraphicFramePr>
          <p:cNvPr id="412" name="对象 411"/>
          <p:cNvGraphicFramePr>
            <a:graphicFrameLocks noChangeAspect="1"/>
          </p:cNvGraphicFramePr>
          <p:nvPr>
            <p:extLst>
              <p:ext uri="{D42A27DB-BD31-4B8C-83A1-F6EECF244321}">
                <p14:modId xmlns:p14="http://schemas.microsoft.com/office/powerpoint/2010/main" val="2442658117"/>
              </p:ext>
            </p:extLst>
          </p:nvPr>
        </p:nvGraphicFramePr>
        <p:xfrm>
          <a:off x="1234937" y="1468874"/>
          <a:ext cx="440021" cy="504000"/>
        </p:xfrm>
        <a:graphic>
          <a:graphicData uri="http://schemas.openxmlformats.org/presentationml/2006/ole">
            <mc:AlternateContent xmlns:mc="http://schemas.openxmlformats.org/markup-compatibility/2006">
              <mc:Choice xmlns:v="urn:schemas-microsoft-com:vml" Requires="v">
                <p:oleObj name="Visio" r:id="rId6" imgW="3561172" imgH="4347469" progId="">
                  <p:embed/>
                </p:oleObj>
              </mc:Choice>
              <mc:Fallback>
                <p:oleObj name="Visio" r:id="rId6" imgW="3561172" imgH="4347469" progId="">
                  <p:embed/>
                  <p:pic>
                    <p:nvPicPr>
                      <p:cNvPr id="0" name="Picture 304"/>
                      <p:cNvPicPr>
                        <a:picLocks noChangeAspect="1" noChangeArrowheads="1"/>
                      </p:cNvPicPr>
                      <p:nvPr/>
                    </p:nvPicPr>
                    <p:blipFill>
                      <a:blip r:embed="rId7">
                        <a:extLst>
                          <a:ext uri="{28A0092B-C50C-407E-A947-70E740481C1C}">
                            <a14:useLocalDpi xmlns:a14="http://schemas.microsoft.com/office/drawing/2010/main" val="0"/>
                          </a:ext>
                        </a:extLst>
                      </a:blip>
                      <a:srcRect l="5348" t="4167" r="4546" b="11185"/>
                      <a:stretch>
                        <a:fillRect/>
                      </a:stretch>
                    </p:blipFill>
                    <p:spPr bwMode="auto">
                      <a:xfrm>
                        <a:off x="1234937" y="1468874"/>
                        <a:ext cx="440021"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14" name="对象 413"/>
          <p:cNvGraphicFramePr>
            <a:graphicFrameLocks noChangeAspect="1"/>
          </p:cNvGraphicFramePr>
          <p:nvPr>
            <p:extLst>
              <p:ext uri="{D42A27DB-BD31-4B8C-83A1-F6EECF244321}">
                <p14:modId xmlns:p14="http://schemas.microsoft.com/office/powerpoint/2010/main" val="737935738"/>
              </p:ext>
            </p:extLst>
          </p:nvPr>
        </p:nvGraphicFramePr>
        <p:xfrm>
          <a:off x="7436052" y="1468874"/>
          <a:ext cx="443938" cy="504000"/>
        </p:xfrm>
        <a:graphic>
          <a:graphicData uri="http://schemas.openxmlformats.org/presentationml/2006/ole">
            <mc:AlternateContent xmlns:mc="http://schemas.openxmlformats.org/markup-compatibility/2006">
              <mc:Choice xmlns:v="urn:schemas-microsoft-com:vml" Requires="v">
                <p:oleObj name="Visio" r:id="rId8" imgW="3561172" imgH="4347469" progId="">
                  <p:embed/>
                </p:oleObj>
              </mc:Choice>
              <mc:Fallback>
                <p:oleObj name="Visio" r:id="rId8" imgW="3561172" imgH="4347469" progId="">
                  <p:embed/>
                  <p:pic>
                    <p:nvPicPr>
                      <p:cNvPr id="0" name="Picture 305"/>
                      <p:cNvPicPr>
                        <a:picLocks noChangeAspect="1" noChangeArrowheads="1"/>
                      </p:cNvPicPr>
                      <p:nvPr/>
                    </p:nvPicPr>
                    <p:blipFill>
                      <a:blip r:embed="rId9">
                        <a:extLst>
                          <a:ext uri="{28A0092B-C50C-407E-A947-70E740481C1C}">
                            <a14:useLocalDpi xmlns:a14="http://schemas.microsoft.com/office/drawing/2010/main" val="0"/>
                          </a:ext>
                        </a:extLst>
                      </a:blip>
                      <a:srcRect l="4546" t="3947" r="4546" b="11403"/>
                      <a:stretch>
                        <a:fillRect/>
                      </a:stretch>
                    </p:blipFill>
                    <p:spPr bwMode="auto">
                      <a:xfrm>
                        <a:off x="7436052" y="1468874"/>
                        <a:ext cx="443938"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22" name="Text Box 399"/>
          <p:cNvSpPr txBox="1">
            <a:spLocks noChangeArrowheads="1"/>
          </p:cNvSpPr>
          <p:nvPr/>
        </p:nvSpPr>
        <p:spPr bwMode="auto">
          <a:xfrm>
            <a:off x="7471795" y="1081823"/>
            <a:ext cx="5309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收件人</a:t>
            </a:r>
          </a:p>
        </p:txBody>
      </p:sp>
      <p:sp>
        <p:nvSpPr>
          <p:cNvPr id="351" name="Freeform 344"/>
          <p:cNvSpPr>
            <a:spLocks/>
          </p:cNvSpPr>
          <p:nvPr/>
        </p:nvSpPr>
        <p:spPr bwMode="auto">
          <a:xfrm>
            <a:off x="2220201" y="3228550"/>
            <a:ext cx="785167" cy="290837"/>
          </a:xfrm>
          <a:custGeom>
            <a:avLst/>
            <a:gdLst>
              <a:gd name="T0" fmla="*/ 0 w 780"/>
              <a:gd name="T1" fmla="*/ 2147483646 h 313"/>
              <a:gd name="T2" fmla="*/ 2147483646 w 780"/>
              <a:gd name="T3" fmla="*/ 2147483646 h 313"/>
              <a:gd name="T4" fmla="*/ 2147483646 w 780"/>
              <a:gd name="T5" fmla="*/ 2147483646 h 313"/>
              <a:gd name="T6" fmla="*/ 2147483646 w 780"/>
              <a:gd name="T7" fmla="*/ 2147483646 h 313"/>
              <a:gd name="T8" fmla="*/ 2147483646 w 780"/>
              <a:gd name="T9" fmla="*/ 2147483646 h 313"/>
              <a:gd name="T10" fmla="*/ 2147483646 w 780"/>
              <a:gd name="T11" fmla="*/ 2147483646 h 313"/>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80" h="313">
                <a:moveTo>
                  <a:pt x="0" y="99"/>
                </a:moveTo>
                <a:cubicBezTo>
                  <a:pt x="38" y="85"/>
                  <a:pt x="154" y="26"/>
                  <a:pt x="228" y="13"/>
                </a:cubicBezTo>
                <a:cubicBezTo>
                  <a:pt x="302" y="0"/>
                  <a:pt x="385" y="10"/>
                  <a:pt x="444" y="19"/>
                </a:cubicBezTo>
                <a:cubicBezTo>
                  <a:pt x="503" y="28"/>
                  <a:pt x="534" y="34"/>
                  <a:pt x="582" y="67"/>
                </a:cubicBezTo>
                <a:cubicBezTo>
                  <a:pt x="630" y="100"/>
                  <a:pt x="699" y="176"/>
                  <a:pt x="732" y="217"/>
                </a:cubicBezTo>
                <a:cubicBezTo>
                  <a:pt x="765" y="258"/>
                  <a:pt x="768" y="289"/>
                  <a:pt x="780" y="313"/>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 name="标题 1">
            <a:extLst>
              <a:ext uri="{FF2B5EF4-FFF2-40B4-BE49-F238E27FC236}">
                <a16:creationId xmlns:a16="http://schemas.microsoft.com/office/drawing/2014/main" id="{C553C3C0-7A6A-8A85-382F-875B173271C5}"/>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发送和接收</a:t>
            </a:r>
          </a:p>
        </p:txBody>
      </p:sp>
      <p:sp>
        <p:nvSpPr>
          <p:cNvPr id="401" name="内容占位符 400">
            <a:extLst>
              <a:ext uri="{FF2B5EF4-FFF2-40B4-BE49-F238E27FC236}">
                <a16:creationId xmlns:a16="http://schemas.microsoft.com/office/drawing/2014/main" id="{ACF493DB-03A8-4953-E874-A44AA54A545F}"/>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11634547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withEffect">
                                  <p:stCondLst>
                                    <p:cond delay="0"/>
                                  </p:stCondLst>
                                  <p:childTnLst>
                                    <p:anim calcmode="discrete" valueType="str">
                                      <p:cBhvr>
                                        <p:cTn id="6" dur="1000" fill="hold"/>
                                        <p:tgtEl>
                                          <p:spTgt spid="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Object 383"/>
          <p:cNvGraphicFramePr>
            <a:graphicFrameLocks noChangeAspect="1"/>
          </p:cNvGraphicFramePr>
          <p:nvPr>
            <p:extLst>
              <p:ext uri="{D42A27DB-BD31-4B8C-83A1-F6EECF244321}">
                <p14:modId xmlns:p14="http://schemas.microsoft.com/office/powerpoint/2010/main" val="3960807443"/>
              </p:ext>
            </p:extLst>
          </p:nvPr>
        </p:nvGraphicFramePr>
        <p:xfrm>
          <a:off x="3846905" y="3043640"/>
          <a:ext cx="1597512"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46905" y="3043640"/>
                        <a:ext cx="1597512" cy="84277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9" name="Object 383"/>
          <p:cNvGraphicFramePr>
            <a:graphicFrameLocks noChangeAspect="1"/>
          </p:cNvGraphicFramePr>
          <p:nvPr>
            <p:extLst>
              <p:ext uri="{D42A27DB-BD31-4B8C-83A1-F6EECF244321}">
                <p14:modId xmlns:p14="http://schemas.microsoft.com/office/powerpoint/2010/main" val="101165261"/>
              </p:ext>
            </p:extLst>
          </p:nvPr>
        </p:nvGraphicFramePr>
        <p:xfrm>
          <a:off x="5780655" y="2980580"/>
          <a:ext cx="1597279"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780655" y="2980580"/>
                        <a:ext cx="1597279" cy="842777"/>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 name="Line 3"/>
          <p:cNvSpPr>
            <a:spLocks noChangeShapeType="1"/>
          </p:cNvSpPr>
          <p:nvPr/>
        </p:nvSpPr>
        <p:spPr bwMode="auto">
          <a:xfrm flipH="1" flipV="1">
            <a:off x="2328917" y="3340981"/>
            <a:ext cx="483179" cy="44601"/>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 name="Freeform 4"/>
          <p:cNvSpPr>
            <a:spLocks/>
          </p:cNvSpPr>
          <p:nvPr/>
        </p:nvSpPr>
        <p:spPr bwMode="auto">
          <a:xfrm>
            <a:off x="6375543" y="3302885"/>
            <a:ext cx="483179" cy="83627"/>
          </a:xfrm>
          <a:custGeom>
            <a:avLst/>
            <a:gdLst>
              <a:gd name="T0" fmla="*/ 2147483646 w 480"/>
              <a:gd name="T1" fmla="*/ 0 h 90"/>
              <a:gd name="T2" fmla="*/ 0 w 480"/>
              <a:gd name="T3" fmla="*/ 2147483646 h 90"/>
              <a:gd name="T4" fmla="*/ 0 60000 65536"/>
              <a:gd name="T5" fmla="*/ 0 60000 65536"/>
            </a:gdLst>
            <a:ahLst/>
            <a:cxnLst>
              <a:cxn ang="T4">
                <a:pos x="T0" y="T1"/>
              </a:cxn>
              <a:cxn ang="T5">
                <a:pos x="T2" y="T3"/>
              </a:cxn>
            </a:cxnLst>
            <a:rect l="0" t="0" r="r" b="b"/>
            <a:pathLst>
              <a:path w="480" h="90">
                <a:moveTo>
                  <a:pt x="480" y="0"/>
                </a:moveTo>
                <a:lnTo>
                  <a:pt x="0" y="90"/>
                </a:lnTo>
              </a:path>
            </a:pathLst>
          </a:custGeom>
          <a:noFill/>
          <a:ln w="38100" cmpd="sng">
            <a:solidFill>
              <a:srgbClr val="0000FF"/>
            </a:solidFill>
            <a:round/>
            <a:headEnd type="none" w="med" len="med"/>
            <a:tailEnd type="non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 name="Line 5"/>
          <p:cNvSpPr>
            <a:spLocks noChangeShapeType="1"/>
          </p:cNvSpPr>
          <p:nvPr/>
        </p:nvSpPr>
        <p:spPr bwMode="auto">
          <a:xfrm flipH="1" flipV="1">
            <a:off x="5360866" y="3430183"/>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 name="Line 6"/>
          <p:cNvSpPr>
            <a:spLocks noChangeShapeType="1"/>
          </p:cNvSpPr>
          <p:nvPr/>
        </p:nvSpPr>
        <p:spPr bwMode="auto">
          <a:xfrm flipH="1" flipV="1">
            <a:off x="3440229" y="3422750"/>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 name="Text Box 7"/>
          <p:cNvSpPr txBox="1">
            <a:spLocks noChangeArrowheads="1"/>
          </p:cNvSpPr>
          <p:nvPr/>
        </p:nvSpPr>
        <p:spPr bwMode="auto">
          <a:xfrm>
            <a:off x="1700784" y="2860589"/>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p:txBody>
      </p:sp>
      <p:sp>
        <p:nvSpPr>
          <p:cNvPr id="15" name="Text Box 8"/>
          <p:cNvSpPr txBox="1">
            <a:spLocks noChangeArrowheads="1"/>
          </p:cNvSpPr>
          <p:nvPr/>
        </p:nvSpPr>
        <p:spPr bwMode="auto">
          <a:xfrm>
            <a:off x="2324891" y="3949601"/>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邮件缓存</a:t>
            </a:r>
          </a:p>
        </p:txBody>
      </p:sp>
      <p:sp>
        <p:nvSpPr>
          <p:cNvPr id="16" name="Text Box 9"/>
          <p:cNvSpPr txBox="1">
            <a:spLocks noChangeArrowheads="1"/>
          </p:cNvSpPr>
          <p:nvPr/>
        </p:nvSpPr>
        <p:spPr bwMode="auto">
          <a:xfrm>
            <a:off x="5131356"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17" name="Oval 10"/>
          <p:cNvSpPr>
            <a:spLocks noChangeArrowheads="1"/>
          </p:cNvSpPr>
          <p:nvPr/>
        </p:nvSpPr>
        <p:spPr bwMode="auto">
          <a:xfrm>
            <a:off x="5662853" y="3027844"/>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8" name="Group 11"/>
          <p:cNvGrpSpPr>
            <a:grpSpLocks/>
          </p:cNvGrpSpPr>
          <p:nvPr/>
        </p:nvGrpSpPr>
        <p:grpSpPr bwMode="auto">
          <a:xfrm>
            <a:off x="5905450" y="3091958"/>
            <a:ext cx="289908" cy="267607"/>
            <a:chOff x="2351" y="2975"/>
            <a:chExt cx="481" cy="433"/>
          </a:xfrm>
          <a:effectLst/>
        </p:grpSpPr>
        <p:sp>
          <p:nvSpPr>
            <p:cNvPr id="19" name="Rectangle 12"/>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20" name="Line 13"/>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 name="Line 14"/>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 name="Line 15"/>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 name="Line 16"/>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 name="Line 17"/>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 name="Line 18"/>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 name="Line 19"/>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 name="Line 20"/>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8" name="Group 21"/>
          <p:cNvGrpSpPr>
            <a:grpSpLocks/>
          </p:cNvGrpSpPr>
          <p:nvPr/>
        </p:nvGrpSpPr>
        <p:grpSpPr bwMode="auto">
          <a:xfrm>
            <a:off x="5839013" y="3415316"/>
            <a:ext cx="463047" cy="267607"/>
            <a:chOff x="1296" y="768"/>
            <a:chExt cx="556" cy="336"/>
          </a:xfrm>
          <a:effectLst/>
        </p:grpSpPr>
        <p:sp>
          <p:nvSpPr>
            <p:cNvPr id="29" name="Rectangle 22"/>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0" name="Group 23"/>
            <p:cNvGrpSpPr>
              <a:grpSpLocks/>
            </p:cNvGrpSpPr>
            <p:nvPr/>
          </p:nvGrpSpPr>
          <p:grpSpPr bwMode="auto">
            <a:xfrm>
              <a:off x="1367" y="829"/>
              <a:ext cx="393" cy="214"/>
              <a:chOff x="2928" y="3744"/>
              <a:chExt cx="528" cy="336"/>
            </a:xfrm>
          </p:grpSpPr>
          <p:grpSp>
            <p:nvGrpSpPr>
              <p:cNvPr id="31" name="Group 24"/>
              <p:cNvGrpSpPr>
                <a:grpSpLocks/>
              </p:cNvGrpSpPr>
              <p:nvPr/>
            </p:nvGrpSpPr>
            <p:grpSpPr bwMode="auto">
              <a:xfrm>
                <a:off x="3024" y="3744"/>
                <a:ext cx="432" cy="240"/>
                <a:chOff x="2736" y="3648"/>
                <a:chExt cx="432" cy="240"/>
              </a:xfrm>
            </p:grpSpPr>
            <p:grpSp>
              <p:nvGrpSpPr>
                <p:cNvPr id="46" name="Group 25"/>
                <p:cNvGrpSpPr>
                  <a:grpSpLocks/>
                </p:cNvGrpSpPr>
                <p:nvPr/>
              </p:nvGrpSpPr>
              <p:grpSpPr bwMode="auto">
                <a:xfrm>
                  <a:off x="2736" y="3648"/>
                  <a:ext cx="432" cy="240"/>
                  <a:chOff x="2592" y="3504"/>
                  <a:chExt cx="576" cy="384"/>
                </a:xfrm>
              </p:grpSpPr>
              <p:sp>
                <p:nvSpPr>
                  <p:cNvPr id="48" name="Rectangle 26"/>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9" name="Freeform 27"/>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0" name="Line 28"/>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1" name="Line 29"/>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7" name="Line 30"/>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 name="Group 31"/>
              <p:cNvGrpSpPr>
                <a:grpSpLocks/>
              </p:cNvGrpSpPr>
              <p:nvPr/>
            </p:nvGrpSpPr>
            <p:grpSpPr bwMode="auto">
              <a:xfrm>
                <a:off x="2976" y="3792"/>
                <a:ext cx="432" cy="240"/>
                <a:chOff x="2736" y="3648"/>
                <a:chExt cx="432" cy="240"/>
              </a:xfrm>
            </p:grpSpPr>
            <p:grpSp>
              <p:nvGrpSpPr>
                <p:cNvPr id="40" name="Group 32"/>
                <p:cNvGrpSpPr>
                  <a:grpSpLocks/>
                </p:cNvGrpSpPr>
                <p:nvPr/>
              </p:nvGrpSpPr>
              <p:grpSpPr bwMode="auto">
                <a:xfrm>
                  <a:off x="2736" y="3648"/>
                  <a:ext cx="432" cy="240"/>
                  <a:chOff x="2592" y="3504"/>
                  <a:chExt cx="576" cy="384"/>
                </a:xfrm>
              </p:grpSpPr>
              <p:sp>
                <p:nvSpPr>
                  <p:cNvPr id="42" name="Rectangle 33"/>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3" name="Freeform 34"/>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4" name="Line 35"/>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5" name="Line 36"/>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1" name="Line 37"/>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 name="Group 38"/>
              <p:cNvGrpSpPr>
                <a:grpSpLocks/>
              </p:cNvGrpSpPr>
              <p:nvPr/>
            </p:nvGrpSpPr>
            <p:grpSpPr bwMode="auto">
              <a:xfrm>
                <a:off x="2928" y="3840"/>
                <a:ext cx="432" cy="240"/>
                <a:chOff x="2736" y="3648"/>
                <a:chExt cx="432" cy="240"/>
              </a:xfrm>
            </p:grpSpPr>
            <p:grpSp>
              <p:nvGrpSpPr>
                <p:cNvPr id="34" name="Group 39"/>
                <p:cNvGrpSpPr>
                  <a:grpSpLocks/>
                </p:cNvGrpSpPr>
                <p:nvPr/>
              </p:nvGrpSpPr>
              <p:grpSpPr bwMode="auto">
                <a:xfrm>
                  <a:off x="2736" y="3648"/>
                  <a:ext cx="432" cy="240"/>
                  <a:chOff x="2592" y="3504"/>
                  <a:chExt cx="576" cy="384"/>
                </a:xfrm>
              </p:grpSpPr>
              <p:sp>
                <p:nvSpPr>
                  <p:cNvPr id="36" name="Rectangle 40"/>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 name="Freeform 41"/>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8" name="Line 42"/>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 name="Line 43"/>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5" name="Line 44"/>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52" name="Group 45"/>
          <p:cNvGrpSpPr>
            <a:grpSpLocks/>
          </p:cNvGrpSpPr>
          <p:nvPr/>
        </p:nvGrpSpPr>
        <p:grpSpPr bwMode="auto">
          <a:xfrm>
            <a:off x="1900095" y="3154214"/>
            <a:ext cx="560690" cy="593753"/>
            <a:chOff x="246" y="1767"/>
            <a:chExt cx="557" cy="639"/>
          </a:xfrm>
        </p:grpSpPr>
        <p:grpSp>
          <p:nvGrpSpPr>
            <p:cNvPr id="53" name="Group 46"/>
            <p:cNvGrpSpPr>
              <a:grpSpLocks/>
            </p:cNvGrpSpPr>
            <p:nvPr/>
          </p:nvGrpSpPr>
          <p:grpSpPr bwMode="auto">
            <a:xfrm>
              <a:off x="246" y="1943"/>
              <a:ext cx="557" cy="463"/>
              <a:chOff x="246" y="1943"/>
              <a:chExt cx="557" cy="463"/>
            </a:xfrm>
          </p:grpSpPr>
          <p:sp>
            <p:nvSpPr>
              <p:cNvPr id="106" name="Freeform 47"/>
              <p:cNvSpPr>
                <a:spLocks/>
              </p:cNvSpPr>
              <p:nvPr/>
            </p:nvSpPr>
            <p:spPr bwMode="auto">
              <a:xfrm>
                <a:off x="373" y="2005"/>
                <a:ext cx="196" cy="295"/>
              </a:xfrm>
              <a:custGeom>
                <a:avLst/>
                <a:gdLst>
                  <a:gd name="T0" fmla="*/ 0 w 982"/>
                  <a:gd name="T1" fmla="*/ 0 h 1477"/>
                  <a:gd name="T2" fmla="*/ 0 w 982"/>
                  <a:gd name="T3" fmla="*/ 0 h 1477"/>
                  <a:gd name="T4" fmla="*/ 0 w 982"/>
                  <a:gd name="T5" fmla="*/ 0 h 1477"/>
                  <a:gd name="T6" fmla="*/ 0 w 982"/>
                  <a:gd name="T7" fmla="*/ 0 h 147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82" h="1477">
                    <a:moveTo>
                      <a:pt x="652" y="26"/>
                    </a:moveTo>
                    <a:lnTo>
                      <a:pt x="982" y="1347"/>
                    </a:lnTo>
                    <a:lnTo>
                      <a:pt x="0" y="1477"/>
                    </a:lnTo>
                    <a:lnTo>
                      <a:pt x="252" y="0"/>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07" name="Group 48"/>
              <p:cNvGrpSpPr>
                <a:grpSpLocks/>
              </p:cNvGrpSpPr>
              <p:nvPr/>
            </p:nvGrpSpPr>
            <p:grpSpPr bwMode="auto">
              <a:xfrm>
                <a:off x="246" y="1943"/>
                <a:ext cx="551" cy="121"/>
                <a:chOff x="246" y="1943"/>
                <a:chExt cx="551" cy="121"/>
              </a:xfrm>
            </p:grpSpPr>
            <p:sp>
              <p:nvSpPr>
                <p:cNvPr id="109" name="Freeform 49"/>
                <p:cNvSpPr>
                  <a:spLocks/>
                </p:cNvSpPr>
                <p:nvPr/>
              </p:nvSpPr>
              <p:spPr bwMode="auto">
                <a:xfrm>
                  <a:off x="246" y="1943"/>
                  <a:ext cx="551" cy="104"/>
                </a:xfrm>
                <a:custGeom>
                  <a:avLst/>
                  <a:gdLst>
                    <a:gd name="T0" fmla="*/ 0 w 2751"/>
                    <a:gd name="T1" fmla="*/ 0 h 522"/>
                    <a:gd name="T2" fmla="*/ 0 w 2751"/>
                    <a:gd name="T3" fmla="*/ 0 h 522"/>
                    <a:gd name="T4" fmla="*/ 0 w 2751"/>
                    <a:gd name="T5" fmla="*/ 0 h 522"/>
                    <a:gd name="T6" fmla="*/ 0 w 2751"/>
                    <a:gd name="T7" fmla="*/ 0 h 522"/>
                    <a:gd name="T8" fmla="*/ 0 w 2751"/>
                    <a:gd name="T9" fmla="*/ 0 h 5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751" h="522">
                      <a:moveTo>
                        <a:pt x="2751" y="270"/>
                      </a:moveTo>
                      <a:lnTo>
                        <a:pt x="1016" y="522"/>
                      </a:lnTo>
                      <a:lnTo>
                        <a:pt x="0" y="132"/>
                      </a:lnTo>
                      <a:lnTo>
                        <a:pt x="1302" y="0"/>
                      </a:lnTo>
                      <a:lnTo>
                        <a:pt x="2751" y="270"/>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0" name="Freeform 50"/>
                <p:cNvSpPr>
                  <a:spLocks/>
                </p:cNvSpPr>
                <p:nvPr/>
              </p:nvSpPr>
              <p:spPr bwMode="auto">
                <a:xfrm>
                  <a:off x="450" y="1997"/>
                  <a:ext cx="345" cy="67"/>
                </a:xfrm>
                <a:custGeom>
                  <a:avLst/>
                  <a:gdLst>
                    <a:gd name="T0" fmla="*/ 0 w 1728"/>
                    <a:gd name="T1" fmla="*/ 0 h 337"/>
                    <a:gd name="T2" fmla="*/ 0 w 1728"/>
                    <a:gd name="T3" fmla="*/ 0 h 337"/>
                    <a:gd name="T4" fmla="*/ 0 w 1728"/>
                    <a:gd name="T5" fmla="*/ 0 h 337"/>
                    <a:gd name="T6" fmla="*/ 0 w 1728"/>
                    <a:gd name="T7" fmla="*/ 0 h 337"/>
                    <a:gd name="T8" fmla="*/ 0 w 1728"/>
                    <a:gd name="T9" fmla="*/ 0 h 33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28" h="337">
                      <a:moveTo>
                        <a:pt x="1728" y="0"/>
                      </a:moveTo>
                      <a:lnTo>
                        <a:pt x="0" y="251"/>
                      </a:lnTo>
                      <a:lnTo>
                        <a:pt x="0" y="337"/>
                      </a:lnTo>
                      <a:lnTo>
                        <a:pt x="1728" y="88"/>
                      </a:lnTo>
                      <a:lnTo>
                        <a:pt x="1728" y="0"/>
                      </a:lnTo>
                      <a:close/>
                    </a:path>
                  </a:pathLst>
                </a:custGeom>
                <a:solidFill>
                  <a:srgbClr val="E0E0E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1" name="Freeform 51"/>
                <p:cNvSpPr>
                  <a:spLocks/>
                </p:cNvSpPr>
                <p:nvPr/>
              </p:nvSpPr>
              <p:spPr bwMode="auto">
                <a:xfrm>
                  <a:off x="246" y="1969"/>
                  <a:ext cx="204" cy="95"/>
                </a:xfrm>
                <a:custGeom>
                  <a:avLst/>
                  <a:gdLst>
                    <a:gd name="T0" fmla="*/ 0 w 1016"/>
                    <a:gd name="T1" fmla="*/ 0 h 476"/>
                    <a:gd name="T2" fmla="*/ 0 w 1016"/>
                    <a:gd name="T3" fmla="*/ 0 h 476"/>
                    <a:gd name="T4" fmla="*/ 0 w 1016"/>
                    <a:gd name="T5" fmla="*/ 0 h 476"/>
                    <a:gd name="T6" fmla="*/ 0 w 1016"/>
                    <a:gd name="T7" fmla="*/ 0 h 476"/>
                    <a:gd name="T8" fmla="*/ 0 w 1016"/>
                    <a:gd name="T9" fmla="*/ 0 h 47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16" h="476">
                      <a:moveTo>
                        <a:pt x="1016" y="476"/>
                      </a:moveTo>
                      <a:lnTo>
                        <a:pt x="1016" y="390"/>
                      </a:lnTo>
                      <a:lnTo>
                        <a:pt x="0" y="0"/>
                      </a:lnTo>
                      <a:lnTo>
                        <a:pt x="0" y="60"/>
                      </a:lnTo>
                      <a:lnTo>
                        <a:pt x="1016" y="47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08" name="Freeform 52"/>
              <p:cNvSpPr>
                <a:spLocks/>
              </p:cNvSpPr>
              <p:nvPr/>
            </p:nvSpPr>
            <p:spPr bwMode="auto">
              <a:xfrm>
                <a:off x="564" y="2028"/>
                <a:ext cx="239" cy="378"/>
              </a:xfrm>
              <a:custGeom>
                <a:avLst/>
                <a:gdLst>
                  <a:gd name="T0" fmla="*/ 0 w 1195"/>
                  <a:gd name="T1" fmla="*/ 0 h 1893"/>
                  <a:gd name="T2" fmla="*/ 0 w 1195"/>
                  <a:gd name="T3" fmla="*/ 0 h 1893"/>
                  <a:gd name="T4" fmla="*/ 0 w 1195"/>
                  <a:gd name="T5" fmla="*/ 0 h 1893"/>
                  <a:gd name="T6" fmla="*/ 0 w 1195"/>
                  <a:gd name="T7" fmla="*/ 0 h 18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95" h="1893">
                    <a:moveTo>
                      <a:pt x="660" y="0"/>
                    </a:moveTo>
                    <a:lnTo>
                      <a:pt x="1195" y="1747"/>
                    </a:lnTo>
                    <a:lnTo>
                      <a:pt x="0" y="1893"/>
                    </a:lnTo>
                    <a:lnTo>
                      <a:pt x="191" y="35"/>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4" name="Group 53"/>
            <p:cNvGrpSpPr>
              <a:grpSpLocks/>
            </p:cNvGrpSpPr>
            <p:nvPr/>
          </p:nvGrpSpPr>
          <p:grpSpPr bwMode="auto">
            <a:xfrm>
              <a:off x="325" y="1767"/>
              <a:ext cx="383" cy="268"/>
              <a:chOff x="325" y="1767"/>
              <a:chExt cx="383" cy="268"/>
            </a:xfrm>
          </p:grpSpPr>
          <p:grpSp>
            <p:nvGrpSpPr>
              <p:cNvPr id="55" name="Group 54"/>
              <p:cNvGrpSpPr>
                <a:grpSpLocks/>
              </p:cNvGrpSpPr>
              <p:nvPr/>
            </p:nvGrpSpPr>
            <p:grpSpPr bwMode="auto">
              <a:xfrm>
                <a:off x="412" y="1767"/>
                <a:ext cx="296" cy="243"/>
                <a:chOff x="412" y="1767"/>
                <a:chExt cx="296" cy="243"/>
              </a:xfrm>
            </p:grpSpPr>
            <p:grpSp>
              <p:nvGrpSpPr>
                <p:cNvPr id="88" name="Group 55"/>
                <p:cNvGrpSpPr>
                  <a:grpSpLocks/>
                </p:cNvGrpSpPr>
                <p:nvPr/>
              </p:nvGrpSpPr>
              <p:grpSpPr bwMode="auto">
                <a:xfrm>
                  <a:off x="412" y="1767"/>
                  <a:ext cx="296" cy="243"/>
                  <a:chOff x="412" y="1767"/>
                  <a:chExt cx="296" cy="243"/>
                </a:xfrm>
              </p:grpSpPr>
              <p:grpSp>
                <p:nvGrpSpPr>
                  <p:cNvPr id="97" name="Group 56"/>
                  <p:cNvGrpSpPr>
                    <a:grpSpLocks/>
                  </p:cNvGrpSpPr>
                  <p:nvPr/>
                </p:nvGrpSpPr>
                <p:grpSpPr bwMode="auto">
                  <a:xfrm>
                    <a:off x="412" y="1904"/>
                    <a:ext cx="296" cy="106"/>
                    <a:chOff x="412" y="1904"/>
                    <a:chExt cx="296" cy="106"/>
                  </a:xfrm>
                </p:grpSpPr>
                <p:sp>
                  <p:nvSpPr>
                    <p:cNvPr id="103" name="Freeform 57"/>
                    <p:cNvSpPr>
                      <a:spLocks/>
                    </p:cNvSpPr>
                    <p:nvPr/>
                  </p:nvSpPr>
                  <p:spPr bwMode="auto">
                    <a:xfrm>
                      <a:off x="412" y="1904"/>
                      <a:ext cx="170" cy="106"/>
                    </a:xfrm>
                    <a:custGeom>
                      <a:avLst/>
                      <a:gdLst>
                        <a:gd name="T0" fmla="*/ 0 w 848"/>
                        <a:gd name="T1" fmla="*/ 0 h 530"/>
                        <a:gd name="T2" fmla="*/ 0 w 848"/>
                        <a:gd name="T3" fmla="*/ 0 h 530"/>
                        <a:gd name="T4" fmla="*/ 0 w 848"/>
                        <a:gd name="T5" fmla="*/ 0 h 530"/>
                        <a:gd name="T6" fmla="*/ 0 w 848"/>
                        <a:gd name="T7" fmla="*/ 0 h 530"/>
                        <a:gd name="T8" fmla="*/ 0 w 848"/>
                        <a:gd name="T9" fmla="*/ 0 h 5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8" h="530">
                          <a:moveTo>
                            <a:pt x="848" y="162"/>
                          </a:moveTo>
                          <a:lnTo>
                            <a:pt x="848" y="530"/>
                          </a:lnTo>
                          <a:lnTo>
                            <a:pt x="0" y="258"/>
                          </a:lnTo>
                          <a:lnTo>
                            <a:pt x="0" y="0"/>
                          </a:lnTo>
                          <a:lnTo>
                            <a:pt x="848" y="162"/>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4" name="Freeform 58"/>
                    <p:cNvSpPr>
                      <a:spLocks/>
                    </p:cNvSpPr>
                    <p:nvPr/>
                  </p:nvSpPr>
                  <p:spPr bwMode="auto">
                    <a:xfrm>
                      <a:off x="582" y="1929"/>
                      <a:ext cx="126" cy="81"/>
                    </a:xfrm>
                    <a:custGeom>
                      <a:avLst/>
                      <a:gdLst>
                        <a:gd name="T0" fmla="*/ 0 w 631"/>
                        <a:gd name="T1" fmla="*/ 0 h 404"/>
                        <a:gd name="T2" fmla="*/ 0 w 631"/>
                        <a:gd name="T3" fmla="*/ 0 h 404"/>
                        <a:gd name="T4" fmla="*/ 0 w 631"/>
                        <a:gd name="T5" fmla="*/ 0 h 404"/>
                        <a:gd name="T6" fmla="*/ 0 w 631"/>
                        <a:gd name="T7" fmla="*/ 0 h 404"/>
                        <a:gd name="T8" fmla="*/ 0 w 631"/>
                        <a:gd name="T9" fmla="*/ 0 h 40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1" h="404">
                          <a:moveTo>
                            <a:pt x="0" y="36"/>
                          </a:moveTo>
                          <a:lnTo>
                            <a:pt x="0" y="404"/>
                          </a:lnTo>
                          <a:lnTo>
                            <a:pt x="631" y="312"/>
                          </a:lnTo>
                          <a:lnTo>
                            <a:pt x="631" y="0"/>
                          </a:lnTo>
                          <a:lnTo>
                            <a:pt x="0" y="36"/>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5" name="Freeform 59"/>
                    <p:cNvSpPr>
                      <a:spLocks/>
                    </p:cNvSpPr>
                    <p:nvPr/>
                  </p:nvSpPr>
                  <p:spPr bwMode="auto">
                    <a:xfrm>
                      <a:off x="412" y="1904"/>
                      <a:ext cx="296" cy="32"/>
                    </a:xfrm>
                    <a:custGeom>
                      <a:avLst/>
                      <a:gdLst>
                        <a:gd name="T0" fmla="*/ 0 w 1479"/>
                        <a:gd name="T1" fmla="*/ 0 h 162"/>
                        <a:gd name="T2" fmla="*/ 0 w 1479"/>
                        <a:gd name="T3" fmla="*/ 0 h 162"/>
                        <a:gd name="T4" fmla="*/ 0 w 1479"/>
                        <a:gd name="T5" fmla="*/ 0 h 162"/>
                        <a:gd name="T6" fmla="*/ 0 w 1479"/>
                        <a:gd name="T7" fmla="*/ 0 h 162"/>
                        <a:gd name="T8" fmla="*/ 0 w 1479"/>
                        <a:gd name="T9" fmla="*/ 0 h 16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479" h="162">
                          <a:moveTo>
                            <a:pt x="1479" y="126"/>
                          </a:moveTo>
                          <a:lnTo>
                            <a:pt x="842" y="162"/>
                          </a:lnTo>
                          <a:lnTo>
                            <a:pt x="0" y="0"/>
                          </a:lnTo>
                          <a:lnTo>
                            <a:pt x="619" y="0"/>
                          </a:lnTo>
                          <a:lnTo>
                            <a:pt x="1479" y="12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98" name="Freeform 60"/>
                  <p:cNvSpPr>
                    <a:spLocks/>
                  </p:cNvSpPr>
                  <p:nvPr/>
                </p:nvSpPr>
                <p:spPr bwMode="auto">
                  <a:xfrm>
                    <a:off x="504" y="1895"/>
                    <a:ext cx="108" cy="30"/>
                  </a:xfrm>
                  <a:custGeom>
                    <a:avLst/>
                    <a:gdLst>
                      <a:gd name="T0" fmla="*/ 0 w 538"/>
                      <a:gd name="T1" fmla="*/ 0 h 151"/>
                      <a:gd name="T2" fmla="*/ 0 w 538"/>
                      <a:gd name="T3" fmla="*/ 0 h 151"/>
                      <a:gd name="T4" fmla="*/ 0 w 538"/>
                      <a:gd name="T5" fmla="*/ 0 h 151"/>
                      <a:gd name="T6" fmla="*/ 0 w 538"/>
                      <a:gd name="T7" fmla="*/ 0 h 151"/>
                      <a:gd name="T8" fmla="*/ 0 w 538"/>
                      <a:gd name="T9" fmla="*/ 0 h 151"/>
                      <a:gd name="T10" fmla="*/ 0 w 538"/>
                      <a:gd name="T11" fmla="*/ 0 h 15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38" h="151">
                        <a:moveTo>
                          <a:pt x="538" y="86"/>
                        </a:moveTo>
                        <a:lnTo>
                          <a:pt x="538" y="135"/>
                        </a:lnTo>
                        <a:lnTo>
                          <a:pt x="287" y="151"/>
                        </a:lnTo>
                        <a:lnTo>
                          <a:pt x="0" y="97"/>
                        </a:lnTo>
                        <a:lnTo>
                          <a:pt x="0" y="0"/>
                        </a:lnTo>
                        <a:lnTo>
                          <a:pt x="538" y="86"/>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99" name="Group 61"/>
                  <p:cNvGrpSpPr>
                    <a:grpSpLocks/>
                  </p:cNvGrpSpPr>
                  <p:nvPr/>
                </p:nvGrpSpPr>
                <p:grpSpPr bwMode="auto">
                  <a:xfrm>
                    <a:off x="446" y="1767"/>
                    <a:ext cx="239" cy="151"/>
                    <a:chOff x="446" y="1767"/>
                    <a:chExt cx="239" cy="151"/>
                  </a:xfrm>
                </p:grpSpPr>
                <p:sp>
                  <p:nvSpPr>
                    <p:cNvPr id="100" name="Freeform 62"/>
                    <p:cNvSpPr>
                      <a:spLocks/>
                    </p:cNvSpPr>
                    <p:nvPr/>
                  </p:nvSpPr>
                  <p:spPr bwMode="auto">
                    <a:xfrm>
                      <a:off x="446" y="1767"/>
                      <a:ext cx="137" cy="148"/>
                    </a:xfrm>
                    <a:custGeom>
                      <a:avLst/>
                      <a:gdLst>
                        <a:gd name="T0" fmla="*/ 0 w 686"/>
                        <a:gd name="T1" fmla="*/ 0 h 740"/>
                        <a:gd name="T2" fmla="*/ 0 w 686"/>
                        <a:gd name="T3" fmla="*/ 0 h 740"/>
                        <a:gd name="T4" fmla="*/ 0 w 686"/>
                        <a:gd name="T5" fmla="*/ 0 h 740"/>
                        <a:gd name="T6" fmla="*/ 0 w 686"/>
                        <a:gd name="T7" fmla="*/ 0 h 740"/>
                        <a:gd name="T8" fmla="*/ 0 w 686"/>
                        <a:gd name="T9" fmla="*/ 0 h 7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6" h="740">
                          <a:moveTo>
                            <a:pt x="589" y="740"/>
                          </a:moveTo>
                          <a:lnTo>
                            <a:pt x="686" y="24"/>
                          </a:lnTo>
                          <a:lnTo>
                            <a:pt x="95" y="0"/>
                          </a:lnTo>
                          <a:lnTo>
                            <a:pt x="0" y="638"/>
                          </a:lnTo>
                          <a:lnTo>
                            <a:pt x="589" y="740"/>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1" name="Freeform 63"/>
                    <p:cNvSpPr>
                      <a:spLocks/>
                    </p:cNvSpPr>
                    <p:nvPr/>
                  </p:nvSpPr>
                  <p:spPr bwMode="auto">
                    <a:xfrm>
                      <a:off x="564" y="1771"/>
                      <a:ext cx="121" cy="147"/>
                    </a:xfrm>
                    <a:custGeom>
                      <a:avLst/>
                      <a:gdLst>
                        <a:gd name="T0" fmla="*/ 0 w 608"/>
                        <a:gd name="T1" fmla="*/ 0 h 735"/>
                        <a:gd name="T2" fmla="*/ 0 w 608"/>
                        <a:gd name="T3" fmla="*/ 0 h 735"/>
                        <a:gd name="T4" fmla="*/ 0 w 608"/>
                        <a:gd name="T5" fmla="*/ 0 h 735"/>
                        <a:gd name="T6" fmla="*/ 0 w 608"/>
                        <a:gd name="T7" fmla="*/ 0 h 735"/>
                        <a:gd name="T8" fmla="*/ 0 w 608"/>
                        <a:gd name="T9" fmla="*/ 0 h 7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8" h="735">
                          <a:moveTo>
                            <a:pt x="97" y="0"/>
                          </a:moveTo>
                          <a:lnTo>
                            <a:pt x="608" y="163"/>
                          </a:lnTo>
                          <a:lnTo>
                            <a:pt x="536" y="735"/>
                          </a:lnTo>
                          <a:lnTo>
                            <a:pt x="0" y="717"/>
                          </a:lnTo>
                          <a:lnTo>
                            <a:pt x="97" y="0"/>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2" name="Freeform 64"/>
                    <p:cNvSpPr>
                      <a:spLocks/>
                    </p:cNvSpPr>
                    <p:nvPr/>
                  </p:nvSpPr>
                  <p:spPr bwMode="auto">
                    <a:xfrm>
                      <a:off x="462" y="1781"/>
                      <a:ext cx="98" cy="112"/>
                    </a:xfrm>
                    <a:custGeom>
                      <a:avLst/>
                      <a:gdLst>
                        <a:gd name="T0" fmla="*/ 0 w 493"/>
                        <a:gd name="T1" fmla="*/ 0 h 557"/>
                        <a:gd name="T2" fmla="*/ 0 w 493"/>
                        <a:gd name="T3" fmla="*/ 0 h 557"/>
                        <a:gd name="T4" fmla="*/ 0 w 493"/>
                        <a:gd name="T5" fmla="*/ 0 h 557"/>
                        <a:gd name="T6" fmla="*/ 0 w 493"/>
                        <a:gd name="T7" fmla="*/ 0 h 557"/>
                        <a:gd name="T8" fmla="*/ 0 w 493"/>
                        <a:gd name="T9" fmla="*/ 0 h 5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93" h="557">
                          <a:moveTo>
                            <a:pt x="493" y="25"/>
                          </a:moveTo>
                          <a:lnTo>
                            <a:pt x="423" y="557"/>
                          </a:lnTo>
                          <a:lnTo>
                            <a:pt x="0" y="494"/>
                          </a:lnTo>
                          <a:lnTo>
                            <a:pt x="73" y="0"/>
                          </a:lnTo>
                          <a:lnTo>
                            <a:pt x="493" y="25"/>
                          </a:lnTo>
                          <a:close/>
                        </a:path>
                      </a:pathLst>
                    </a:custGeom>
                    <a:solidFill>
                      <a:srgbClr val="0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89" name="Group 65"/>
                <p:cNvGrpSpPr>
                  <a:grpSpLocks/>
                </p:cNvGrpSpPr>
                <p:nvPr/>
              </p:nvGrpSpPr>
              <p:grpSpPr bwMode="auto">
                <a:xfrm>
                  <a:off x="424" y="1915"/>
                  <a:ext cx="97" cy="69"/>
                  <a:chOff x="424" y="1915"/>
                  <a:chExt cx="97" cy="69"/>
                </a:xfrm>
              </p:grpSpPr>
              <p:sp>
                <p:nvSpPr>
                  <p:cNvPr id="90" name="Freeform 66"/>
                  <p:cNvSpPr>
                    <a:spLocks/>
                  </p:cNvSpPr>
                  <p:nvPr/>
                </p:nvSpPr>
                <p:spPr bwMode="auto">
                  <a:xfrm>
                    <a:off x="424" y="1915"/>
                    <a:ext cx="97" cy="69"/>
                  </a:xfrm>
                  <a:custGeom>
                    <a:avLst/>
                    <a:gdLst>
                      <a:gd name="T0" fmla="*/ 0 w 483"/>
                      <a:gd name="T1" fmla="*/ 0 h 346"/>
                      <a:gd name="T2" fmla="*/ 0 w 483"/>
                      <a:gd name="T3" fmla="*/ 0 h 346"/>
                      <a:gd name="T4" fmla="*/ 0 w 483"/>
                      <a:gd name="T5" fmla="*/ 0 h 346"/>
                      <a:gd name="T6" fmla="*/ 0 w 483"/>
                      <a:gd name="T7" fmla="*/ 0 h 346"/>
                      <a:gd name="T8" fmla="*/ 0 w 483"/>
                      <a:gd name="T9" fmla="*/ 0 h 34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3" h="346">
                        <a:moveTo>
                          <a:pt x="0" y="0"/>
                        </a:moveTo>
                        <a:lnTo>
                          <a:pt x="483" y="104"/>
                        </a:lnTo>
                        <a:lnTo>
                          <a:pt x="483" y="346"/>
                        </a:lnTo>
                        <a:lnTo>
                          <a:pt x="0" y="195"/>
                        </a:lnTo>
                        <a:lnTo>
                          <a:pt x="0" y="0"/>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1" name="Line 67"/>
                  <p:cNvSpPr>
                    <a:spLocks noChangeShapeType="1"/>
                  </p:cNvSpPr>
                  <p:nvPr/>
                </p:nvSpPr>
                <p:spPr bwMode="auto">
                  <a:xfrm flipH="1" flipV="1">
                    <a:off x="433" y="1933"/>
                    <a:ext cx="26" cy="6"/>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2" name="Line 68"/>
                  <p:cNvSpPr>
                    <a:spLocks noChangeShapeType="1"/>
                  </p:cNvSpPr>
                  <p:nvPr/>
                </p:nvSpPr>
                <p:spPr bwMode="auto">
                  <a:xfrm>
                    <a:off x="472" y="1941"/>
                    <a:ext cx="34" cy="7"/>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3" name="Line 69"/>
                  <p:cNvSpPr>
                    <a:spLocks noChangeShapeType="1"/>
                  </p:cNvSpPr>
                  <p:nvPr/>
                </p:nvSpPr>
                <p:spPr bwMode="auto">
                  <a:xfrm>
                    <a:off x="465" y="1924"/>
                    <a:ext cx="1" cy="45"/>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4" name="Line 70"/>
                  <p:cNvSpPr>
                    <a:spLocks noChangeShapeType="1"/>
                  </p:cNvSpPr>
                  <p:nvPr/>
                </p:nvSpPr>
                <p:spPr bwMode="auto">
                  <a:xfrm>
                    <a:off x="511" y="1934"/>
                    <a:ext cx="1" cy="49"/>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5" name="Line 71"/>
                  <p:cNvSpPr>
                    <a:spLocks noChangeShapeType="1"/>
                  </p:cNvSpPr>
                  <p:nvPr/>
                </p:nvSpPr>
                <p:spPr bwMode="auto">
                  <a:xfrm>
                    <a:off x="425" y="1933"/>
                    <a:ext cx="88" cy="22"/>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6" name="Line 72"/>
                  <p:cNvSpPr>
                    <a:spLocks noChangeShapeType="1"/>
                  </p:cNvSpPr>
                  <p:nvPr/>
                </p:nvSpPr>
                <p:spPr bwMode="auto">
                  <a:xfrm flipH="1" flipV="1">
                    <a:off x="424" y="1926"/>
                    <a:ext cx="89" cy="21"/>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56" name="Group 73"/>
              <p:cNvGrpSpPr>
                <a:grpSpLocks/>
              </p:cNvGrpSpPr>
              <p:nvPr/>
            </p:nvGrpSpPr>
            <p:grpSpPr bwMode="auto">
              <a:xfrm>
                <a:off x="325" y="1917"/>
                <a:ext cx="231" cy="118"/>
                <a:chOff x="325" y="1917"/>
                <a:chExt cx="231" cy="118"/>
              </a:xfrm>
            </p:grpSpPr>
            <p:grpSp>
              <p:nvGrpSpPr>
                <p:cNvPr id="57" name="Group 74"/>
                <p:cNvGrpSpPr>
                  <a:grpSpLocks/>
                </p:cNvGrpSpPr>
                <p:nvPr/>
              </p:nvGrpSpPr>
              <p:grpSpPr bwMode="auto">
                <a:xfrm>
                  <a:off x="504" y="1981"/>
                  <a:ext cx="37" cy="28"/>
                  <a:chOff x="504" y="1981"/>
                  <a:chExt cx="37" cy="28"/>
                </a:xfrm>
              </p:grpSpPr>
              <p:sp>
                <p:nvSpPr>
                  <p:cNvPr id="86" name="Freeform 75"/>
                  <p:cNvSpPr>
                    <a:spLocks/>
                  </p:cNvSpPr>
                  <p:nvPr/>
                </p:nvSpPr>
                <p:spPr bwMode="auto">
                  <a:xfrm>
                    <a:off x="531" y="1981"/>
                    <a:ext cx="10" cy="28"/>
                  </a:xfrm>
                  <a:custGeom>
                    <a:avLst/>
                    <a:gdLst>
                      <a:gd name="T0" fmla="*/ 0 w 53"/>
                      <a:gd name="T1" fmla="*/ 0 h 140"/>
                      <a:gd name="T2" fmla="*/ 0 w 53"/>
                      <a:gd name="T3" fmla="*/ 0 h 140"/>
                      <a:gd name="T4" fmla="*/ 0 w 53"/>
                      <a:gd name="T5" fmla="*/ 0 h 140"/>
                      <a:gd name="T6" fmla="*/ 0 w 53"/>
                      <a:gd name="T7" fmla="*/ 0 h 140"/>
                      <a:gd name="T8" fmla="*/ 0 w 53"/>
                      <a:gd name="T9" fmla="*/ 0 h 1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3" h="140">
                        <a:moveTo>
                          <a:pt x="37" y="0"/>
                        </a:moveTo>
                        <a:lnTo>
                          <a:pt x="53" y="131"/>
                        </a:lnTo>
                        <a:lnTo>
                          <a:pt x="14" y="140"/>
                        </a:lnTo>
                        <a:lnTo>
                          <a:pt x="0" y="6"/>
                        </a:lnTo>
                        <a:lnTo>
                          <a:pt x="3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7" name="Freeform 76"/>
                  <p:cNvSpPr>
                    <a:spLocks/>
                  </p:cNvSpPr>
                  <p:nvPr/>
                </p:nvSpPr>
                <p:spPr bwMode="auto">
                  <a:xfrm>
                    <a:off x="504" y="1985"/>
                    <a:ext cx="29" cy="24"/>
                  </a:xfrm>
                  <a:custGeom>
                    <a:avLst/>
                    <a:gdLst>
                      <a:gd name="T0" fmla="*/ 0 w 148"/>
                      <a:gd name="T1" fmla="*/ 0 h 122"/>
                      <a:gd name="T2" fmla="*/ 0 w 148"/>
                      <a:gd name="T3" fmla="*/ 0 h 122"/>
                      <a:gd name="T4" fmla="*/ 0 w 148"/>
                      <a:gd name="T5" fmla="*/ 0 h 122"/>
                      <a:gd name="T6" fmla="*/ 0 w 148"/>
                      <a:gd name="T7" fmla="*/ 0 h 122"/>
                      <a:gd name="T8" fmla="*/ 0 w 148"/>
                      <a:gd name="T9" fmla="*/ 0 h 122"/>
                      <a:gd name="T10" fmla="*/ 0 w 148"/>
                      <a:gd name="T11" fmla="*/ 0 h 122"/>
                      <a:gd name="T12" fmla="*/ 0 w 148"/>
                      <a:gd name="T13" fmla="*/ 0 h 1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48" h="122">
                        <a:moveTo>
                          <a:pt x="136" y="5"/>
                        </a:moveTo>
                        <a:lnTo>
                          <a:pt x="148" y="122"/>
                        </a:lnTo>
                        <a:lnTo>
                          <a:pt x="0" y="61"/>
                        </a:lnTo>
                        <a:lnTo>
                          <a:pt x="58" y="43"/>
                        </a:lnTo>
                        <a:lnTo>
                          <a:pt x="111" y="70"/>
                        </a:lnTo>
                        <a:lnTo>
                          <a:pt x="94" y="0"/>
                        </a:lnTo>
                        <a:lnTo>
                          <a:pt x="136" y="5"/>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8" name="Group 77"/>
                <p:cNvGrpSpPr>
                  <a:grpSpLocks/>
                </p:cNvGrpSpPr>
                <p:nvPr/>
              </p:nvGrpSpPr>
              <p:grpSpPr bwMode="auto">
                <a:xfrm>
                  <a:off x="325" y="1917"/>
                  <a:ext cx="231" cy="118"/>
                  <a:chOff x="325" y="1917"/>
                  <a:chExt cx="231" cy="118"/>
                </a:xfrm>
              </p:grpSpPr>
              <p:sp>
                <p:nvSpPr>
                  <p:cNvPr id="59" name="Freeform 78"/>
                  <p:cNvSpPr>
                    <a:spLocks/>
                  </p:cNvSpPr>
                  <p:nvPr/>
                </p:nvSpPr>
                <p:spPr bwMode="auto">
                  <a:xfrm>
                    <a:off x="326" y="1917"/>
                    <a:ext cx="226" cy="105"/>
                  </a:xfrm>
                  <a:custGeom>
                    <a:avLst/>
                    <a:gdLst>
                      <a:gd name="T0" fmla="*/ 0 w 1132"/>
                      <a:gd name="T1" fmla="*/ 0 h 525"/>
                      <a:gd name="T2" fmla="*/ 0 w 1132"/>
                      <a:gd name="T3" fmla="*/ 0 h 525"/>
                      <a:gd name="T4" fmla="*/ 0 w 1132"/>
                      <a:gd name="T5" fmla="*/ 0 h 525"/>
                      <a:gd name="T6" fmla="*/ 0 w 1132"/>
                      <a:gd name="T7" fmla="*/ 0 h 525"/>
                      <a:gd name="T8" fmla="*/ 0 w 1132"/>
                      <a:gd name="T9" fmla="*/ 0 h 5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32" h="525">
                        <a:moveTo>
                          <a:pt x="1132" y="223"/>
                        </a:moveTo>
                        <a:lnTo>
                          <a:pt x="589" y="525"/>
                        </a:lnTo>
                        <a:lnTo>
                          <a:pt x="0" y="230"/>
                        </a:lnTo>
                        <a:lnTo>
                          <a:pt x="452" y="0"/>
                        </a:lnTo>
                        <a:lnTo>
                          <a:pt x="1132" y="223"/>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0" name="Freeform 79"/>
                  <p:cNvSpPr>
                    <a:spLocks/>
                  </p:cNvSpPr>
                  <p:nvPr/>
                </p:nvSpPr>
                <p:spPr bwMode="auto">
                  <a:xfrm>
                    <a:off x="443" y="1961"/>
                    <a:ext cx="113" cy="74"/>
                  </a:xfrm>
                  <a:custGeom>
                    <a:avLst/>
                    <a:gdLst>
                      <a:gd name="T0" fmla="*/ 0 w 566"/>
                      <a:gd name="T1" fmla="*/ 0 h 371"/>
                      <a:gd name="T2" fmla="*/ 0 w 566"/>
                      <a:gd name="T3" fmla="*/ 0 h 371"/>
                      <a:gd name="T4" fmla="*/ 0 w 566"/>
                      <a:gd name="T5" fmla="*/ 0 h 371"/>
                      <a:gd name="T6" fmla="*/ 0 w 566"/>
                      <a:gd name="T7" fmla="*/ 0 h 371"/>
                      <a:gd name="T8" fmla="*/ 0 w 566"/>
                      <a:gd name="T9" fmla="*/ 0 h 3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6" h="371">
                        <a:moveTo>
                          <a:pt x="547" y="0"/>
                        </a:moveTo>
                        <a:lnTo>
                          <a:pt x="0" y="307"/>
                        </a:lnTo>
                        <a:lnTo>
                          <a:pt x="16" y="371"/>
                        </a:lnTo>
                        <a:lnTo>
                          <a:pt x="566" y="60"/>
                        </a:lnTo>
                        <a:lnTo>
                          <a:pt x="54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1" name="Freeform 80"/>
                  <p:cNvSpPr>
                    <a:spLocks/>
                  </p:cNvSpPr>
                  <p:nvPr/>
                </p:nvSpPr>
                <p:spPr bwMode="auto">
                  <a:xfrm>
                    <a:off x="325" y="1963"/>
                    <a:ext cx="121" cy="72"/>
                  </a:xfrm>
                  <a:custGeom>
                    <a:avLst/>
                    <a:gdLst>
                      <a:gd name="T0" fmla="*/ 0 w 605"/>
                      <a:gd name="T1" fmla="*/ 0 h 363"/>
                      <a:gd name="T2" fmla="*/ 0 w 605"/>
                      <a:gd name="T3" fmla="*/ 0 h 363"/>
                      <a:gd name="T4" fmla="*/ 0 w 605"/>
                      <a:gd name="T5" fmla="*/ 0 h 363"/>
                      <a:gd name="T6" fmla="*/ 0 w 605"/>
                      <a:gd name="T7" fmla="*/ 0 h 363"/>
                      <a:gd name="T8" fmla="*/ 0 w 605"/>
                      <a:gd name="T9" fmla="*/ 0 h 3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5" h="363">
                        <a:moveTo>
                          <a:pt x="605" y="363"/>
                        </a:moveTo>
                        <a:lnTo>
                          <a:pt x="587" y="295"/>
                        </a:lnTo>
                        <a:lnTo>
                          <a:pt x="0" y="0"/>
                        </a:lnTo>
                        <a:lnTo>
                          <a:pt x="21" y="53"/>
                        </a:lnTo>
                        <a:lnTo>
                          <a:pt x="605" y="36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2" name="Freeform 81"/>
                  <p:cNvSpPr>
                    <a:spLocks/>
                  </p:cNvSpPr>
                  <p:nvPr/>
                </p:nvSpPr>
                <p:spPr bwMode="auto">
                  <a:xfrm>
                    <a:off x="417" y="1966"/>
                    <a:ext cx="90" cy="46"/>
                  </a:xfrm>
                  <a:custGeom>
                    <a:avLst/>
                    <a:gdLst>
                      <a:gd name="T0" fmla="*/ 0 w 454"/>
                      <a:gd name="T1" fmla="*/ 0 h 230"/>
                      <a:gd name="T2" fmla="*/ 0 w 454"/>
                      <a:gd name="T3" fmla="*/ 0 h 230"/>
                      <a:gd name="T4" fmla="*/ 0 w 454"/>
                      <a:gd name="T5" fmla="*/ 0 h 230"/>
                      <a:gd name="T6" fmla="*/ 0 w 454"/>
                      <a:gd name="T7" fmla="*/ 0 h 230"/>
                      <a:gd name="T8" fmla="*/ 0 w 454"/>
                      <a:gd name="T9" fmla="*/ 0 h 2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54" h="230">
                        <a:moveTo>
                          <a:pt x="454" y="59"/>
                        </a:moveTo>
                        <a:lnTo>
                          <a:pt x="297" y="0"/>
                        </a:lnTo>
                        <a:lnTo>
                          <a:pt x="0" y="161"/>
                        </a:lnTo>
                        <a:lnTo>
                          <a:pt x="151" y="230"/>
                        </a:lnTo>
                        <a:lnTo>
                          <a:pt x="454" y="5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3" name="Freeform 82"/>
                  <p:cNvSpPr>
                    <a:spLocks/>
                  </p:cNvSpPr>
                  <p:nvPr/>
                </p:nvSpPr>
                <p:spPr bwMode="auto">
                  <a:xfrm>
                    <a:off x="336" y="1934"/>
                    <a:ext cx="134" cy="61"/>
                  </a:xfrm>
                  <a:custGeom>
                    <a:avLst/>
                    <a:gdLst>
                      <a:gd name="T0" fmla="*/ 0 w 669"/>
                      <a:gd name="T1" fmla="*/ 0 h 309"/>
                      <a:gd name="T2" fmla="*/ 0 w 669"/>
                      <a:gd name="T3" fmla="*/ 0 h 309"/>
                      <a:gd name="T4" fmla="*/ 0 w 669"/>
                      <a:gd name="T5" fmla="*/ 0 h 309"/>
                      <a:gd name="T6" fmla="*/ 0 w 669"/>
                      <a:gd name="T7" fmla="*/ 0 h 309"/>
                      <a:gd name="T8" fmla="*/ 0 w 669"/>
                      <a:gd name="T9" fmla="*/ 0 h 30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69" h="309">
                        <a:moveTo>
                          <a:pt x="669" y="150"/>
                        </a:moveTo>
                        <a:lnTo>
                          <a:pt x="377" y="309"/>
                        </a:lnTo>
                        <a:lnTo>
                          <a:pt x="0" y="132"/>
                        </a:lnTo>
                        <a:lnTo>
                          <a:pt x="273" y="0"/>
                        </a:lnTo>
                        <a:lnTo>
                          <a:pt x="669" y="15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4" name="Freeform 83"/>
                  <p:cNvSpPr>
                    <a:spLocks/>
                  </p:cNvSpPr>
                  <p:nvPr/>
                </p:nvSpPr>
                <p:spPr bwMode="auto">
                  <a:xfrm>
                    <a:off x="393" y="1920"/>
                    <a:ext cx="148" cy="57"/>
                  </a:xfrm>
                  <a:custGeom>
                    <a:avLst/>
                    <a:gdLst>
                      <a:gd name="T0" fmla="*/ 0 w 738"/>
                      <a:gd name="T1" fmla="*/ 0 h 283"/>
                      <a:gd name="T2" fmla="*/ 0 w 738"/>
                      <a:gd name="T3" fmla="*/ 0 h 283"/>
                      <a:gd name="T4" fmla="*/ 0 w 738"/>
                      <a:gd name="T5" fmla="*/ 0 h 283"/>
                      <a:gd name="T6" fmla="*/ 0 w 738"/>
                      <a:gd name="T7" fmla="*/ 0 h 283"/>
                      <a:gd name="T8" fmla="*/ 0 w 738"/>
                      <a:gd name="T9" fmla="*/ 0 h 28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38" h="283">
                        <a:moveTo>
                          <a:pt x="584" y="283"/>
                        </a:moveTo>
                        <a:lnTo>
                          <a:pt x="738" y="205"/>
                        </a:lnTo>
                        <a:lnTo>
                          <a:pt x="118" y="0"/>
                        </a:lnTo>
                        <a:lnTo>
                          <a:pt x="0" y="60"/>
                        </a:lnTo>
                        <a:lnTo>
                          <a:pt x="584" y="2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5" name="Line 84"/>
                  <p:cNvSpPr>
                    <a:spLocks noChangeShapeType="1"/>
                  </p:cNvSpPr>
                  <p:nvPr/>
                </p:nvSpPr>
                <p:spPr bwMode="auto">
                  <a:xfrm flipH="1" flipV="1">
                    <a:off x="411" y="1923"/>
                    <a:ext cx="128" cy="4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6" name="Line 85"/>
                  <p:cNvSpPr>
                    <a:spLocks noChangeShapeType="1"/>
                  </p:cNvSpPr>
                  <p:nvPr/>
                </p:nvSpPr>
                <p:spPr bwMode="auto">
                  <a:xfrm flipH="1" flipV="1">
                    <a:off x="404" y="1925"/>
                    <a:ext cx="124" cy="45"/>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7" name="Line 86"/>
                  <p:cNvSpPr>
                    <a:spLocks noChangeShapeType="1"/>
                  </p:cNvSpPr>
                  <p:nvPr/>
                </p:nvSpPr>
                <p:spPr bwMode="auto">
                  <a:xfrm flipH="1" flipV="1">
                    <a:off x="399" y="1930"/>
                    <a:ext cx="121" cy="46"/>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8" name="Line 87"/>
                  <p:cNvSpPr>
                    <a:spLocks noChangeShapeType="1"/>
                  </p:cNvSpPr>
                  <p:nvPr/>
                </p:nvSpPr>
                <p:spPr bwMode="auto">
                  <a:xfrm flipH="1" flipV="1">
                    <a:off x="384" y="1937"/>
                    <a:ext cx="119"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9" name="Line 88"/>
                  <p:cNvSpPr>
                    <a:spLocks noChangeShapeType="1"/>
                  </p:cNvSpPr>
                  <p:nvPr/>
                </p:nvSpPr>
                <p:spPr bwMode="auto">
                  <a:xfrm flipH="1" flipV="1">
                    <a:off x="375" y="1942"/>
                    <a:ext cx="118"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0" name="Line 89"/>
                  <p:cNvSpPr>
                    <a:spLocks noChangeShapeType="1"/>
                  </p:cNvSpPr>
                  <p:nvPr/>
                </p:nvSpPr>
                <p:spPr bwMode="auto">
                  <a:xfrm flipH="1" flipV="1">
                    <a:off x="365" y="1946"/>
                    <a:ext cx="119"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1" name="Line 90"/>
                  <p:cNvSpPr>
                    <a:spLocks noChangeShapeType="1"/>
                  </p:cNvSpPr>
                  <p:nvPr/>
                </p:nvSpPr>
                <p:spPr bwMode="auto">
                  <a:xfrm flipH="1" flipV="1">
                    <a:off x="358" y="1951"/>
                    <a:ext cx="114" cy="50"/>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2" name="Line 91"/>
                  <p:cNvSpPr>
                    <a:spLocks noChangeShapeType="1"/>
                  </p:cNvSpPr>
                  <p:nvPr/>
                </p:nvSpPr>
                <p:spPr bwMode="auto">
                  <a:xfrm flipH="1" flipV="1">
                    <a:off x="347" y="1956"/>
                    <a:ext cx="114"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3" name="Line 92"/>
                  <p:cNvSpPr>
                    <a:spLocks noChangeShapeType="1"/>
                  </p:cNvSpPr>
                  <p:nvPr/>
                </p:nvSpPr>
                <p:spPr bwMode="auto">
                  <a:xfrm flipH="1">
                    <a:off x="437" y="1974"/>
                    <a:ext cx="61" cy="3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4" name="Line 93"/>
                  <p:cNvSpPr>
                    <a:spLocks noChangeShapeType="1"/>
                  </p:cNvSpPr>
                  <p:nvPr/>
                </p:nvSpPr>
                <p:spPr bwMode="auto">
                  <a:xfrm flipH="1">
                    <a:off x="426" y="1970"/>
                    <a:ext cx="58" cy="32"/>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5" name="Line 94"/>
                  <p:cNvSpPr>
                    <a:spLocks noChangeShapeType="1"/>
                  </p:cNvSpPr>
                  <p:nvPr/>
                </p:nvSpPr>
                <p:spPr bwMode="auto">
                  <a:xfrm flipH="1">
                    <a:off x="401" y="1959"/>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6" name="Line 95"/>
                  <p:cNvSpPr>
                    <a:spLocks noChangeShapeType="1"/>
                  </p:cNvSpPr>
                  <p:nvPr/>
                </p:nvSpPr>
                <p:spPr bwMode="auto">
                  <a:xfrm flipH="1">
                    <a:off x="387" y="1954"/>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7" name="Line 96"/>
                  <p:cNvSpPr>
                    <a:spLocks noChangeShapeType="1"/>
                  </p:cNvSpPr>
                  <p:nvPr/>
                </p:nvSpPr>
                <p:spPr bwMode="auto">
                  <a:xfrm flipH="1">
                    <a:off x="375" y="1949"/>
                    <a:ext cx="56"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8" name="Line 97"/>
                  <p:cNvSpPr>
                    <a:spLocks noChangeShapeType="1"/>
                  </p:cNvSpPr>
                  <p:nvPr/>
                </p:nvSpPr>
                <p:spPr bwMode="auto">
                  <a:xfrm flipH="1">
                    <a:off x="364" y="1944"/>
                    <a:ext cx="53"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9" name="Line 98"/>
                  <p:cNvSpPr>
                    <a:spLocks noChangeShapeType="1"/>
                  </p:cNvSpPr>
                  <p:nvPr/>
                </p:nvSpPr>
                <p:spPr bwMode="auto">
                  <a:xfrm flipH="1">
                    <a:off x="352" y="1939"/>
                    <a:ext cx="55"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0" name="Line 99"/>
                  <p:cNvSpPr>
                    <a:spLocks noChangeShapeType="1"/>
                  </p:cNvSpPr>
                  <p:nvPr/>
                </p:nvSpPr>
                <p:spPr bwMode="auto">
                  <a:xfrm flipH="1">
                    <a:off x="494" y="1955"/>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1" name="Line 100"/>
                  <p:cNvSpPr>
                    <a:spLocks noChangeShapeType="1"/>
                  </p:cNvSpPr>
                  <p:nvPr/>
                </p:nvSpPr>
                <p:spPr bwMode="auto">
                  <a:xfrm flipH="1">
                    <a:off x="477" y="1949"/>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2" name="Line 101"/>
                  <p:cNvSpPr>
                    <a:spLocks noChangeShapeType="1"/>
                  </p:cNvSpPr>
                  <p:nvPr/>
                </p:nvSpPr>
                <p:spPr bwMode="auto">
                  <a:xfrm flipH="1">
                    <a:off x="460" y="1943"/>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3" name="Line 102"/>
                  <p:cNvSpPr>
                    <a:spLocks noChangeShapeType="1"/>
                  </p:cNvSpPr>
                  <p:nvPr/>
                </p:nvSpPr>
                <p:spPr bwMode="auto">
                  <a:xfrm flipH="1">
                    <a:off x="443" y="1937"/>
                    <a:ext cx="27"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4" name="Line 103"/>
                  <p:cNvSpPr>
                    <a:spLocks noChangeShapeType="1"/>
                  </p:cNvSpPr>
                  <p:nvPr/>
                </p:nvSpPr>
                <p:spPr bwMode="auto">
                  <a:xfrm flipH="1">
                    <a:off x="427" y="1931"/>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5" name="Line 104"/>
                  <p:cNvSpPr>
                    <a:spLocks noChangeShapeType="1"/>
                  </p:cNvSpPr>
                  <p:nvPr/>
                </p:nvSpPr>
                <p:spPr bwMode="auto">
                  <a:xfrm flipH="1">
                    <a:off x="408" y="1925"/>
                    <a:ext cx="24"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grpSp>
        <p:nvGrpSpPr>
          <p:cNvPr id="112" name="Group 105"/>
          <p:cNvGrpSpPr>
            <a:grpSpLocks/>
          </p:cNvGrpSpPr>
          <p:nvPr/>
        </p:nvGrpSpPr>
        <p:grpSpPr bwMode="auto">
          <a:xfrm>
            <a:off x="1941367" y="3251778"/>
            <a:ext cx="55364" cy="100353"/>
            <a:chOff x="287" y="1872"/>
            <a:chExt cx="55" cy="108"/>
          </a:xfrm>
        </p:grpSpPr>
        <p:sp>
          <p:nvSpPr>
            <p:cNvPr id="113" name="Freeform 106"/>
            <p:cNvSpPr>
              <a:spLocks/>
            </p:cNvSpPr>
            <p:nvPr/>
          </p:nvSpPr>
          <p:spPr bwMode="auto">
            <a:xfrm>
              <a:off x="287" y="1872"/>
              <a:ext cx="55" cy="108"/>
            </a:xfrm>
            <a:custGeom>
              <a:avLst/>
              <a:gdLst>
                <a:gd name="T0" fmla="*/ 0 w 276"/>
                <a:gd name="T1" fmla="*/ 0 h 540"/>
                <a:gd name="T2" fmla="*/ 0 w 276"/>
                <a:gd name="T3" fmla="*/ 0 h 540"/>
                <a:gd name="T4" fmla="*/ 0 w 276"/>
                <a:gd name="T5" fmla="*/ 0 h 540"/>
                <a:gd name="T6" fmla="*/ 0 w 276"/>
                <a:gd name="T7" fmla="*/ 0 h 540"/>
                <a:gd name="T8" fmla="*/ 0 w 276"/>
                <a:gd name="T9" fmla="*/ 0 h 540"/>
                <a:gd name="T10" fmla="*/ 0 w 276"/>
                <a:gd name="T11" fmla="*/ 0 h 540"/>
                <a:gd name="T12" fmla="*/ 0 w 276"/>
                <a:gd name="T13" fmla="*/ 0 h 540"/>
                <a:gd name="T14" fmla="*/ 0 w 276"/>
                <a:gd name="T15" fmla="*/ 0 h 540"/>
                <a:gd name="T16" fmla="*/ 0 w 276"/>
                <a:gd name="T17" fmla="*/ 0 h 540"/>
                <a:gd name="T18" fmla="*/ 0 w 276"/>
                <a:gd name="T19" fmla="*/ 0 h 540"/>
                <a:gd name="T20" fmla="*/ 0 w 276"/>
                <a:gd name="T21" fmla="*/ 0 h 540"/>
                <a:gd name="T22" fmla="*/ 0 w 276"/>
                <a:gd name="T23" fmla="*/ 0 h 54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76" h="540">
                  <a:moveTo>
                    <a:pt x="0" y="192"/>
                  </a:moveTo>
                  <a:lnTo>
                    <a:pt x="53" y="121"/>
                  </a:lnTo>
                  <a:lnTo>
                    <a:pt x="104" y="84"/>
                  </a:lnTo>
                  <a:lnTo>
                    <a:pt x="125" y="30"/>
                  </a:lnTo>
                  <a:lnTo>
                    <a:pt x="137" y="6"/>
                  </a:lnTo>
                  <a:lnTo>
                    <a:pt x="195" y="0"/>
                  </a:lnTo>
                  <a:lnTo>
                    <a:pt x="276" y="45"/>
                  </a:lnTo>
                  <a:lnTo>
                    <a:pt x="255" y="143"/>
                  </a:lnTo>
                  <a:lnTo>
                    <a:pt x="232" y="198"/>
                  </a:lnTo>
                  <a:lnTo>
                    <a:pt x="179" y="365"/>
                  </a:lnTo>
                  <a:lnTo>
                    <a:pt x="92" y="540"/>
                  </a:lnTo>
                  <a:lnTo>
                    <a:pt x="0" y="192"/>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4" name="Freeform 107"/>
            <p:cNvSpPr>
              <a:spLocks/>
            </p:cNvSpPr>
            <p:nvPr/>
          </p:nvSpPr>
          <p:spPr bwMode="auto">
            <a:xfrm>
              <a:off x="296" y="1880"/>
              <a:ext cx="43" cy="77"/>
            </a:xfrm>
            <a:custGeom>
              <a:avLst/>
              <a:gdLst>
                <a:gd name="T0" fmla="*/ 0 w 216"/>
                <a:gd name="T1" fmla="*/ 0 h 385"/>
                <a:gd name="T2" fmla="*/ 0 w 216"/>
                <a:gd name="T3" fmla="*/ 0 h 385"/>
                <a:gd name="T4" fmla="*/ 0 w 216"/>
                <a:gd name="T5" fmla="*/ 0 h 385"/>
                <a:gd name="T6" fmla="*/ 0 w 216"/>
                <a:gd name="T7" fmla="*/ 0 h 385"/>
                <a:gd name="T8" fmla="*/ 0 w 216"/>
                <a:gd name="T9" fmla="*/ 0 h 385"/>
                <a:gd name="T10" fmla="*/ 0 w 216"/>
                <a:gd name="T11" fmla="*/ 0 h 385"/>
                <a:gd name="T12" fmla="*/ 0 w 216"/>
                <a:gd name="T13" fmla="*/ 0 h 385"/>
                <a:gd name="T14" fmla="*/ 0 w 216"/>
                <a:gd name="T15" fmla="*/ 0 h 385"/>
                <a:gd name="T16" fmla="*/ 0 w 216"/>
                <a:gd name="T17" fmla="*/ 0 h 385"/>
                <a:gd name="T18" fmla="*/ 0 w 216"/>
                <a:gd name="T19" fmla="*/ 0 h 385"/>
                <a:gd name="T20" fmla="*/ 0 w 216"/>
                <a:gd name="T21" fmla="*/ 0 h 385"/>
                <a:gd name="T22" fmla="*/ 0 w 216"/>
                <a:gd name="T23" fmla="*/ 0 h 385"/>
                <a:gd name="T24" fmla="*/ 0 w 216"/>
                <a:gd name="T25" fmla="*/ 0 h 385"/>
                <a:gd name="T26" fmla="*/ 0 w 216"/>
                <a:gd name="T27" fmla="*/ 0 h 385"/>
                <a:gd name="T28" fmla="*/ 0 w 216"/>
                <a:gd name="T29" fmla="*/ 0 h 385"/>
                <a:gd name="T30" fmla="*/ 0 w 216"/>
                <a:gd name="T31" fmla="*/ 0 h 385"/>
                <a:gd name="T32" fmla="*/ 0 w 216"/>
                <a:gd name="T33" fmla="*/ 0 h 385"/>
                <a:gd name="T34" fmla="*/ 0 w 216"/>
                <a:gd name="T35" fmla="*/ 0 h 385"/>
                <a:gd name="T36" fmla="*/ 0 w 216"/>
                <a:gd name="T37" fmla="*/ 0 h 385"/>
                <a:gd name="T38" fmla="*/ 0 w 216"/>
                <a:gd name="T39" fmla="*/ 0 h 385"/>
                <a:gd name="T40" fmla="*/ 0 w 216"/>
                <a:gd name="T41" fmla="*/ 0 h 385"/>
                <a:gd name="T42" fmla="*/ 0 w 216"/>
                <a:gd name="T43" fmla="*/ 0 h 385"/>
                <a:gd name="T44" fmla="*/ 0 w 216"/>
                <a:gd name="T45" fmla="*/ 0 h 385"/>
                <a:gd name="T46" fmla="*/ 0 w 216"/>
                <a:gd name="T47" fmla="*/ 0 h 385"/>
                <a:gd name="T48" fmla="*/ 0 w 216"/>
                <a:gd name="T49" fmla="*/ 0 h 385"/>
                <a:gd name="T50" fmla="*/ 0 w 216"/>
                <a:gd name="T51" fmla="*/ 0 h 385"/>
                <a:gd name="T52" fmla="*/ 0 w 216"/>
                <a:gd name="T53" fmla="*/ 0 h 385"/>
                <a:gd name="T54" fmla="*/ 0 w 216"/>
                <a:gd name="T55" fmla="*/ 0 h 385"/>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216" h="385">
                  <a:moveTo>
                    <a:pt x="91" y="0"/>
                  </a:moveTo>
                  <a:lnTo>
                    <a:pt x="115" y="25"/>
                  </a:lnTo>
                  <a:lnTo>
                    <a:pt x="165" y="46"/>
                  </a:lnTo>
                  <a:lnTo>
                    <a:pt x="216" y="44"/>
                  </a:lnTo>
                  <a:lnTo>
                    <a:pt x="185" y="132"/>
                  </a:lnTo>
                  <a:lnTo>
                    <a:pt x="147" y="128"/>
                  </a:lnTo>
                  <a:lnTo>
                    <a:pt x="118" y="112"/>
                  </a:lnTo>
                  <a:lnTo>
                    <a:pt x="134" y="138"/>
                  </a:lnTo>
                  <a:lnTo>
                    <a:pt x="177" y="146"/>
                  </a:lnTo>
                  <a:lnTo>
                    <a:pt x="145" y="242"/>
                  </a:lnTo>
                  <a:lnTo>
                    <a:pt x="124" y="312"/>
                  </a:lnTo>
                  <a:lnTo>
                    <a:pt x="115" y="271"/>
                  </a:lnTo>
                  <a:lnTo>
                    <a:pt x="103" y="197"/>
                  </a:lnTo>
                  <a:lnTo>
                    <a:pt x="102" y="155"/>
                  </a:lnTo>
                  <a:lnTo>
                    <a:pt x="94" y="173"/>
                  </a:lnTo>
                  <a:lnTo>
                    <a:pt x="94" y="222"/>
                  </a:lnTo>
                  <a:lnTo>
                    <a:pt x="103" y="290"/>
                  </a:lnTo>
                  <a:lnTo>
                    <a:pt x="110" y="333"/>
                  </a:lnTo>
                  <a:lnTo>
                    <a:pt x="91" y="385"/>
                  </a:lnTo>
                  <a:lnTo>
                    <a:pt x="55" y="250"/>
                  </a:lnTo>
                  <a:lnTo>
                    <a:pt x="39" y="204"/>
                  </a:lnTo>
                  <a:lnTo>
                    <a:pt x="12" y="135"/>
                  </a:lnTo>
                  <a:lnTo>
                    <a:pt x="0" y="115"/>
                  </a:lnTo>
                  <a:lnTo>
                    <a:pt x="16" y="88"/>
                  </a:lnTo>
                  <a:lnTo>
                    <a:pt x="64" y="64"/>
                  </a:lnTo>
                  <a:lnTo>
                    <a:pt x="81" y="87"/>
                  </a:lnTo>
                  <a:lnTo>
                    <a:pt x="71" y="46"/>
                  </a:lnTo>
                  <a:lnTo>
                    <a:pt x="9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15" name="Group 108"/>
          <p:cNvGrpSpPr>
            <a:grpSpLocks/>
          </p:cNvGrpSpPr>
          <p:nvPr/>
        </p:nvGrpSpPr>
        <p:grpSpPr bwMode="auto">
          <a:xfrm>
            <a:off x="1932308" y="3194169"/>
            <a:ext cx="70463" cy="70619"/>
            <a:chOff x="278" y="1810"/>
            <a:chExt cx="70" cy="76"/>
          </a:xfrm>
        </p:grpSpPr>
        <p:sp>
          <p:nvSpPr>
            <p:cNvPr id="116" name="Freeform 109"/>
            <p:cNvSpPr>
              <a:spLocks/>
            </p:cNvSpPr>
            <p:nvPr/>
          </p:nvSpPr>
          <p:spPr bwMode="auto">
            <a:xfrm>
              <a:off x="297" y="1815"/>
              <a:ext cx="51" cy="71"/>
            </a:xfrm>
            <a:custGeom>
              <a:avLst/>
              <a:gdLst>
                <a:gd name="T0" fmla="*/ 0 w 256"/>
                <a:gd name="T1" fmla="*/ 0 h 356"/>
                <a:gd name="T2" fmla="*/ 0 w 256"/>
                <a:gd name="T3" fmla="*/ 0 h 356"/>
                <a:gd name="T4" fmla="*/ 0 w 256"/>
                <a:gd name="T5" fmla="*/ 0 h 356"/>
                <a:gd name="T6" fmla="*/ 0 w 256"/>
                <a:gd name="T7" fmla="*/ 0 h 356"/>
                <a:gd name="T8" fmla="*/ 0 w 256"/>
                <a:gd name="T9" fmla="*/ 0 h 356"/>
                <a:gd name="T10" fmla="*/ 0 w 256"/>
                <a:gd name="T11" fmla="*/ 0 h 356"/>
                <a:gd name="T12" fmla="*/ 0 w 256"/>
                <a:gd name="T13" fmla="*/ 0 h 356"/>
                <a:gd name="T14" fmla="*/ 0 w 256"/>
                <a:gd name="T15" fmla="*/ 0 h 356"/>
                <a:gd name="T16" fmla="*/ 0 w 256"/>
                <a:gd name="T17" fmla="*/ 0 h 356"/>
                <a:gd name="T18" fmla="*/ 0 w 256"/>
                <a:gd name="T19" fmla="*/ 0 h 356"/>
                <a:gd name="T20" fmla="*/ 0 w 256"/>
                <a:gd name="T21" fmla="*/ 0 h 356"/>
                <a:gd name="T22" fmla="*/ 0 w 256"/>
                <a:gd name="T23" fmla="*/ 0 h 356"/>
                <a:gd name="T24" fmla="*/ 0 w 256"/>
                <a:gd name="T25" fmla="*/ 0 h 356"/>
                <a:gd name="T26" fmla="*/ 0 w 256"/>
                <a:gd name="T27" fmla="*/ 0 h 356"/>
                <a:gd name="T28" fmla="*/ 0 w 256"/>
                <a:gd name="T29" fmla="*/ 0 h 356"/>
                <a:gd name="T30" fmla="*/ 0 w 256"/>
                <a:gd name="T31" fmla="*/ 0 h 356"/>
                <a:gd name="T32" fmla="*/ 0 w 256"/>
                <a:gd name="T33" fmla="*/ 0 h 356"/>
                <a:gd name="T34" fmla="*/ 0 w 256"/>
                <a:gd name="T35" fmla="*/ 0 h 356"/>
                <a:gd name="T36" fmla="*/ 0 w 256"/>
                <a:gd name="T37" fmla="*/ 0 h 356"/>
                <a:gd name="T38" fmla="*/ 0 w 256"/>
                <a:gd name="T39" fmla="*/ 0 h 356"/>
                <a:gd name="T40" fmla="*/ 0 w 256"/>
                <a:gd name="T41" fmla="*/ 0 h 356"/>
                <a:gd name="T42" fmla="*/ 0 w 256"/>
                <a:gd name="T43" fmla="*/ 0 h 356"/>
                <a:gd name="T44" fmla="*/ 0 w 256"/>
                <a:gd name="T45" fmla="*/ 0 h 356"/>
                <a:gd name="T46" fmla="*/ 0 w 256"/>
                <a:gd name="T47" fmla="*/ 0 h 356"/>
                <a:gd name="T48" fmla="*/ 0 w 256"/>
                <a:gd name="T49" fmla="*/ 0 h 356"/>
                <a:gd name="T50" fmla="*/ 0 w 256"/>
                <a:gd name="T51" fmla="*/ 0 h 356"/>
                <a:gd name="T52" fmla="*/ 0 w 256"/>
                <a:gd name="T53" fmla="*/ 0 h 356"/>
                <a:gd name="T54" fmla="*/ 0 w 256"/>
                <a:gd name="T55" fmla="*/ 0 h 356"/>
                <a:gd name="T56" fmla="*/ 0 w 256"/>
                <a:gd name="T57" fmla="*/ 0 h 356"/>
                <a:gd name="T58" fmla="*/ 0 w 256"/>
                <a:gd name="T59" fmla="*/ 0 h 356"/>
                <a:gd name="T60" fmla="*/ 0 w 256"/>
                <a:gd name="T61" fmla="*/ 0 h 356"/>
                <a:gd name="T62" fmla="*/ 0 w 256"/>
                <a:gd name="T63" fmla="*/ 0 h 356"/>
                <a:gd name="T64" fmla="*/ 0 w 256"/>
                <a:gd name="T65" fmla="*/ 0 h 356"/>
                <a:gd name="T66" fmla="*/ 0 w 256"/>
                <a:gd name="T67" fmla="*/ 0 h 356"/>
                <a:gd name="T68" fmla="*/ 0 w 256"/>
                <a:gd name="T69" fmla="*/ 0 h 356"/>
                <a:gd name="T70" fmla="*/ 0 w 256"/>
                <a:gd name="T71" fmla="*/ 0 h 356"/>
                <a:gd name="T72" fmla="*/ 0 w 256"/>
                <a:gd name="T73" fmla="*/ 0 h 356"/>
                <a:gd name="T74" fmla="*/ 0 w 256"/>
                <a:gd name="T75" fmla="*/ 0 h 356"/>
                <a:gd name="T76" fmla="*/ 0 w 256"/>
                <a:gd name="T77" fmla="*/ 0 h 356"/>
                <a:gd name="T78" fmla="*/ 0 w 256"/>
                <a:gd name="T79" fmla="*/ 0 h 356"/>
                <a:gd name="T80" fmla="*/ 0 w 256"/>
                <a:gd name="T81" fmla="*/ 0 h 356"/>
                <a:gd name="T82" fmla="*/ 0 w 256"/>
                <a:gd name="T83" fmla="*/ 0 h 356"/>
                <a:gd name="T84" fmla="*/ 0 w 256"/>
                <a:gd name="T85" fmla="*/ 0 h 356"/>
                <a:gd name="T86" fmla="*/ 0 w 256"/>
                <a:gd name="T87" fmla="*/ 0 h 356"/>
                <a:gd name="T88" fmla="*/ 0 w 256"/>
                <a:gd name="T89" fmla="*/ 0 h 356"/>
                <a:gd name="T90" fmla="*/ 0 w 256"/>
                <a:gd name="T91" fmla="*/ 0 h 356"/>
                <a:gd name="T92" fmla="*/ 0 w 256"/>
                <a:gd name="T93" fmla="*/ 0 h 356"/>
                <a:gd name="T94" fmla="*/ 0 w 256"/>
                <a:gd name="T95" fmla="*/ 0 h 35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256" h="356">
                  <a:moveTo>
                    <a:pt x="3" y="130"/>
                  </a:moveTo>
                  <a:lnTo>
                    <a:pt x="11" y="155"/>
                  </a:lnTo>
                  <a:lnTo>
                    <a:pt x="26" y="167"/>
                  </a:lnTo>
                  <a:lnTo>
                    <a:pt x="35" y="187"/>
                  </a:lnTo>
                  <a:lnTo>
                    <a:pt x="45" y="203"/>
                  </a:lnTo>
                  <a:lnTo>
                    <a:pt x="61" y="218"/>
                  </a:lnTo>
                  <a:lnTo>
                    <a:pt x="73" y="227"/>
                  </a:lnTo>
                  <a:lnTo>
                    <a:pt x="93" y="238"/>
                  </a:lnTo>
                  <a:lnTo>
                    <a:pt x="96" y="252"/>
                  </a:lnTo>
                  <a:lnTo>
                    <a:pt x="96" y="270"/>
                  </a:lnTo>
                  <a:lnTo>
                    <a:pt x="91" y="315"/>
                  </a:lnTo>
                  <a:lnTo>
                    <a:pt x="127" y="341"/>
                  </a:lnTo>
                  <a:lnTo>
                    <a:pt x="157" y="354"/>
                  </a:lnTo>
                  <a:lnTo>
                    <a:pt x="182" y="356"/>
                  </a:lnTo>
                  <a:lnTo>
                    <a:pt x="207" y="354"/>
                  </a:lnTo>
                  <a:lnTo>
                    <a:pt x="216" y="325"/>
                  </a:lnTo>
                  <a:lnTo>
                    <a:pt x="222" y="260"/>
                  </a:lnTo>
                  <a:lnTo>
                    <a:pt x="237" y="237"/>
                  </a:lnTo>
                  <a:lnTo>
                    <a:pt x="248" y="204"/>
                  </a:lnTo>
                  <a:lnTo>
                    <a:pt x="250" y="173"/>
                  </a:lnTo>
                  <a:lnTo>
                    <a:pt x="255" y="131"/>
                  </a:lnTo>
                  <a:lnTo>
                    <a:pt x="256" y="107"/>
                  </a:lnTo>
                  <a:lnTo>
                    <a:pt x="255" y="92"/>
                  </a:lnTo>
                  <a:lnTo>
                    <a:pt x="248" y="66"/>
                  </a:lnTo>
                  <a:lnTo>
                    <a:pt x="234" y="52"/>
                  </a:lnTo>
                  <a:lnTo>
                    <a:pt x="215" y="48"/>
                  </a:lnTo>
                  <a:lnTo>
                    <a:pt x="208" y="33"/>
                  </a:lnTo>
                  <a:lnTo>
                    <a:pt x="191" y="23"/>
                  </a:lnTo>
                  <a:lnTo>
                    <a:pt x="173" y="33"/>
                  </a:lnTo>
                  <a:lnTo>
                    <a:pt x="160" y="12"/>
                  </a:lnTo>
                  <a:lnTo>
                    <a:pt x="140" y="5"/>
                  </a:lnTo>
                  <a:lnTo>
                    <a:pt x="118" y="24"/>
                  </a:lnTo>
                  <a:lnTo>
                    <a:pt x="108" y="0"/>
                  </a:lnTo>
                  <a:lnTo>
                    <a:pt x="78" y="3"/>
                  </a:lnTo>
                  <a:lnTo>
                    <a:pt x="63" y="42"/>
                  </a:lnTo>
                  <a:lnTo>
                    <a:pt x="60" y="64"/>
                  </a:lnTo>
                  <a:lnTo>
                    <a:pt x="57" y="93"/>
                  </a:lnTo>
                  <a:lnTo>
                    <a:pt x="51" y="131"/>
                  </a:lnTo>
                  <a:lnTo>
                    <a:pt x="43" y="116"/>
                  </a:lnTo>
                  <a:lnTo>
                    <a:pt x="39" y="89"/>
                  </a:lnTo>
                  <a:lnTo>
                    <a:pt x="34" y="70"/>
                  </a:lnTo>
                  <a:lnTo>
                    <a:pt x="27" y="61"/>
                  </a:lnTo>
                  <a:lnTo>
                    <a:pt x="12" y="54"/>
                  </a:lnTo>
                  <a:lnTo>
                    <a:pt x="4" y="57"/>
                  </a:lnTo>
                  <a:lnTo>
                    <a:pt x="0" y="66"/>
                  </a:lnTo>
                  <a:lnTo>
                    <a:pt x="5" y="80"/>
                  </a:lnTo>
                  <a:lnTo>
                    <a:pt x="7" y="107"/>
                  </a:lnTo>
                  <a:lnTo>
                    <a:pt x="3" y="13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7" name="Freeform 110"/>
            <p:cNvSpPr>
              <a:spLocks/>
            </p:cNvSpPr>
            <p:nvPr/>
          </p:nvSpPr>
          <p:spPr bwMode="auto">
            <a:xfrm>
              <a:off x="320" y="1820"/>
              <a:ext cx="26" cy="27"/>
            </a:xfrm>
            <a:custGeom>
              <a:avLst/>
              <a:gdLst>
                <a:gd name="T0" fmla="*/ 0 w 129"/>
                <a:gd name="T1" fmla="*/ 0 h 134"/>
                <a:gd name="T2" fmla="*/ 0 w 129"/>
                <a:gd name="T3" fmla="*/ 0 h 134"/>
                <a:gd name="T4" fmla="*/ 0 w 129"/>
                <a:gd name="T5" fmla="*/ 0 h 134"/>
                <a:gd name="T6" fmla="*/ 0 w 129"/>
                <a:gd name="T7" fmla="*/ 0 h 134"/>
                <a:gd name="T8" fmla="*/ 0 w 129"/>
                <a:gd name="T9" fmla="*/ 0 h 134"/>
                <a:gd name="T10" fmla="*/ 0 w 129"/>
                <a:gd name="T11" fmla="*/ 0 h 134"/>
                <a:gd name="T12" fmla="*/ 0 w 129"/>
                <a:gd name="T13" fmla="*/ 0 h 134"/>
                <a:gd name="T14" fmla="*/ 0 w 129"/>
                <a:gd name="T15" fmla="*/ 0 h 134"/>
                <a:gd name="T16" fmla="*/ 0 w 129"/>
                <a:gd name="T17" fmla="*/ 0 h 134"/>
                <a:gd name="T18" fmla="*/ 0 w 129"/>
                <a:gd name="T19" fmla="*/ 0 h 134"/>
                <a:gd name="T20" fmla="*/ 0 w 129"/>
                <a:gd name="T21" fmla="*/ 0 h 134"/>
                <a:gd name="T22" fmla="*/ 0 w 129"/>
                <a:gd name="T23" fmla="*/ 0 h 134"/>
                <a:gd name="T24" fmla="*/ 0 w 129"/>
                <a:gd name="T25" fmla="*/ 0 h 134"/>
                <a:gd name="T26" fmla="*/ 0 w 129"/>
                <a:gd name="T27" fmla="*/ 0 h 134"/>
                <a:gd name="T28" fmla="*/ 0 w 129"/>
                <a:gd name="T29" fmla="*/ 0 h 134"/>
                <a:gd name="T30" fmla="*/ 0 w 129"/>
                <a:gd name="T31" fmla="*/ 0 h 134"/>
                <a:gd name="T32" fmla="*/ 0 w 129"/>
                <a:gd name="T33" fmla="*/ 0 h 134"/>
                <a:gd name="T34" fmla="*/ 0 w 129"/>
                <a:gd name="T35" fmla="*/ 0 h 134"/>
                <a:gd name="T36" fmla="*/ 0 w 129"/>
                <a:gd name="T37" fmla="*/ 0 h 134"/>
                <a:gd name="T38" fmla="*/ 0 w 129"/>
                <a:gd name="T39" fmla="*/ 0 h 134"/>
                <a:gd name="T40" fmla="*/ 0 w 129"/>
                <a:gd name="T41" fmla="*/ 0 h 134"/>
                <a:gd name="T42" fmla="*/ 0 w 129"/>
                <a:gd name="T43" fmla="*/ 0 h 134"/>
                <a:gd name="T44" fmla="*/ 0 w 129"/>
                <a:gd name="T45" fmla="*/ 0 h 134"/>
                <a:gd name="T46" fmla="*/ 0 w 129"/>
                <a:gd name="T47" fmla="*/ 0 h 134"/>
                <a:gd name="T48" fmla="*/ 0 w 129"/>
                <a:gd name="T49" fmla="*/ 0 h 134"/>
                <a:gd name="T50" fmla="*/ 0 w 129"/>
                <a:gd name="T51" fmla="*/ 0 h 134"/>
                <a:gd name="T52" fmla="*/ 0 w 129"/>
                <a:gd name="T53" fmla="*/ 0 h 134"/>
                <a:gd name="T54" fmla="*/ 0 w 129"/>
                <a:gd name="T55" fmla="*/ 0 h 134"/>
                <a:gd name="T56" fmla="*/ 0 w 129"/>
                <a:gd name="T57" fmla="*/ 0 h 134"/>
                <a:gd name="T58" fmla="*/ 0 w 129"/>
                <a:gd name="T59" fmla="*/ 0 h 134"/>
                <a:gd name="T60" fmla="*/ 0 w 129"/>
                <a:gd name="T61" fmla="*/ 0 h 134"/>
                <a:gd name="T62" fmla="*/ 0 w 129"/>
                <a:gd name="T63" fmla="*/ 0 h 134"/>
                <a:gd name="T64" fmla="*/ 0 w 129"/>
                <a:gd name="T65" fmla="*/ 0 h 134"/>
                <a:gd name="T66" fmla="*/ 0 w 129"/>
                <a:gd name="T67" fmla="*/ 0 h 134"/>
                <a:gd name="T68" fmla="*/ 0 w 129"/>
                <a:gd name="T69" fmla="*/ 0 h 134"/>
                <a:gd name="T70" fmla="*/ 0 w 129"/>
                <a:gd name="T71" fmla="*/ 0 h 134"/>
                <a:gd name="T72" fmla="*/ 0 w 129"/>
                <a:gd name="T73" fmla="*/ 0 h 134"/>
                <a:gd name="T74" fmla="*/ 0 w 129"/>
                <a:gd name="T75" fmla="*/ 0 h 134"/>
                <a:gd name="T76" fmla="*/ 0 w 129"/>
                <a:gd name="T77" fmla="*/ 0 h 134"/>
                <a:gd name="T78" fmla="*/ 0 w 129"/>
                <a:gd name="T79" fmla="*/ 0 h 134"/>
                <a:gd name="T80" fmla="*/ 0 w 129"/>
                <a:gd name="T81" fmla="*/ 0 h 134"/>
                <a:gd name="T82" fmla="*/ 0 w 129"/>
                <a:gd name="T83" fmla="*/ 0 h 134"/>
                <a:gd name="T84" fmla="*/ 0 w 129"/>
                <a:gd name="T85" fmla="*/ 0 h 134"/>
                <a:gd name="T86" fmla="*/ 0 w 129"/>
                <a:gd name="T87" fmla="*/ 0 h 134"/>
                <a:gd name="T88" fmla="*/ 0 w 129"/>
                <a:gd name="T89" fmla="*/ 0 h 134"/>
                <a:gd name="T90" fmla="*/ 0 w 129"/>
                <a:gd name="T91" fmla="*/ 0 h 134"/>
                <a:gd name="T92" fmla="*/ 0 w 129"/>
                <a:gd name="T93" fmla="*/ 0 h 134"/>
                <a:gd name="T94" fmla="*/ 0 w 129"/>
                <a:gd name="T95" fmla="*/ 0 h 134"/>
                <a:gd name="T96" fmla="*/ 0 w 129"/>
                <a:gd name="T97" fmla="*/ 0 h 134"/>
                <a:gd name="T98" fmla="*/ 0 w 129"/>
                <a:gd name="T99" fmla="*/ 0 h 134"/>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129" h="134">
                  <a:moveTo>
                    <a:pt x="6" y="2"/>
                  </a:moveTo>
                  <a:lnTo>
                    <a:pt x="13" y="30"/>
                  </a:lnTo>
                  <a:lnTo>
                    <a:pt x="22" y="49"/>
                  </a:lnTo>
                  <a:lnTo>
                    <a:pt x="11" y="91"/>
                  </a:lnTo>
                  <a:lnTo>
                    <a:pt x="18" y="100"/>
                  </a:lnTo>
                  <a:lnTo>
                    <a:pt x="28" y="104"/>
                  </a:lnTo>
                  <a:lnTo>
                    <a:pt x="41" y="102"/>
                  </a:lnTo>
                  <a:lnTo>
                    <a:pt x="51" y="79"/>
                  </a:lnTo>
                  <a:lnTo>
                    <a:pt x="60" y="61"/>
                  </a:lnTo>
                  <a:lnTo>
                    <a:pt x="55" y="36"/>
                  </a:lnTo>
                  <a:lnTo>
                    <a:pt x="53" y="9"/>
                  </a:lnTo>
                  <a:lnTo>
                    <a:pt x="60" y="12"/>
                  </a:lnTo>
                  <a:lnTo>
                    <a:pt x="62" y="37"/>
                  </a:lnTo>
                  <a:lnTo>
                    <a:pt x="65" y="54"/>
                  </a:lnTo>
                  <a:lnTo>
                    <a:pt x="65" y="68"/>
                  </a:lnTo>
                  <a:lnTo>
                    <a:pt x="56" y="83"/>
                  </a:lnTo>
                  <a:lnTo>
                    <a:pt x="47" y="100"/>
                  </a:lnTo>
                  <a:lnTo>
                    <a:pt x="46" y="116"/>
                  </a:lnTo>
                  <a:lnTo>
                    <a:pt x="56" y="123"/>
                  </a:lnTo>
                  <a:lnTo>
                    <a:pt x="75" y="120"/>
                  </a:lnTo>
                  <a:lnTo>
                    <a:pt x="86" y="106"/>
                  </a:lnTo>
                  <a:lnTo>
                    <a:pt x="104" y="84"/>
                  </a:lnTo>
                  <a:lnTo>
                    <a:pt x="103" y="70"/>
                  </a:lnTo>
                  <a:lnTo>
                    <a:pt x="101" y="45"/>
                  </a:lnTo>
                  <a:lnTo>
                    <a:pt x="107" y="65"/>
                  </a:lnTo>
                  <a:lnTo>
                    <a:pt x="108" y="84"/>
                  </a:lnTo>
                  <a:lnTo>
                    <a:pt x="94" y="103"/>
                  </a:lnTo>
                  <a:lnTo>
                    <a:pt x="93" y="117"/>
                  </a:lnTo>
                  <a:lnTo>
                    <a:pt x="96" y="128"/>
                  </a:lnTo>
                  <a:lnTo>
                    <a:pt x="104" y="131"/>
                  </a:lnTo>
                  <a:lnTo>
                    <a:pt x="113" y="125"/>
                  </a:lnTo>
                  <a:lnTo>
                    <a:pt x="129" y="109"/>
                  </a:lnTo>
                  <a:lnTo>
                    <a:pt x="116" y="127"/>
                  </a:lnTo>
                  <a:lnTo>
                    <a:pt x="111" y="134"/>
                  </a:lnTo>
                  <a:lnTo>
                    <a:pt x="97" y="134"/>
                  </a:lnTo>
                  <a:lnTo>
                    <a:pt x="91" y="126"/>
                  </a:lnTo>
                  <a:lnTo>
                    <a:pt x="87" y="114"/>
                  </a:lnTo>
                  <a:lnTo>
                    <a:pt x="79" y="125"/>
                  </a:lnTo>
                  <a:lnTo>
                    <a:pt x="63" y="127"/>
                  </a:lnTo>
                  <a:lnTo>
                    <a:pt x="49" y="127"/>
                  </a:lnTo>
                  <a:lnTo>
                    <a:pt x="43" y="116"/>
                  </a:lnTo>
                  <a:lnTo>
                    <a:pt x="41" y="106"/>
                  </a:lnTo>
                  <a:lnTo>
                    <a:pt x="35" y="109"/>
                  </a:lnTo>
                  <a:lnTo>
                    <a:pt x="24" y="109"/>
                  </a:lnTo>
                  <a:lnTo>
                    <a:pt x="11" y="101"/>
                  </a:lnTo>
                  <a:lnTo>
                    <a:pt x="8" y="86"/>
                  </a:lnTo>
                  <a:lnTo>
                    <a:pt x="18" y="51"/>
                  </a:lnTo>
                  <a:lnTo>
                    <a:pt x="7" y="29"/>
                  </a:lnTo>
                  <a:lnTo>
                    <a:pt x="0" y="0"/>
                  </a:lnTo>
                  <a:lnTo>
                    <a:pt x="6"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8" name="Freeform 111"/>
            <p:cNvSpPr>
              <a:spLocks/>
            </p:cNvSpPr>
            <p:nvPr/>
          </p:nvSpPr>
          <p:spPr bwMode="auto">
            <a:xfrm>
              <a:off x="325" y="1834"/>
              <a:ext cx="4" cy="1"/>
            </a:xfrm>
            <a:custGeom>
              <a:avLst/>
              <a:gdLst>
                <a:gd name="T0" fmla="*/ 0 w 20"/>
                <a:gd name="T1" fmla="*/ 0 h 5"/>
                <a:gd name="T2" fmla="*/ 0 w 20"/>
                <a:gd name="T3" fmla="*/ 0 h 5"/>
                <a:gd name="T4" fmla="*/ 0 w 20"/>
                <a:gd name="T5" fmla="*/ 0 h 5"/>
                <a:gd name="T6" fmla="*/ 0 w 20"/>
                <a:gd name="T7" fmla="*/ 0 h 5"/>
                <a:gd name="T8" fmla="*/ 0 w 20"/>
                <a:gd name="T9" fmla="*/ 0 h 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 h="5">
                  <a:moveTo>
                    <a:pt x="0" y="5"/>
                  </a:moveTo>
                  <a:lnTo>
                    <a:pt x="6" y="4"/>
                  </a:lnTo>
                  <a:lnTo>
                    <a:pt x="20" y="4"/>
                  </a:lnTo>
                  <a:lnTo>
                    <a:pt x="5" y="0"/>
                  </a:lnTo>
                  <a:lnTo>
                    <a:pt x="0"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9" name="Freeform 112"/>
            <p:cNvSpPr>
              <a:spLocks/>
            </p:cNvSpPr>
            <p:nvPr/>
          </p:nvSpPr>
          <p:spPr bwMode="auto">
            <a:xfrm>
              <a:off x="330" y="1838"/>
              <a:ext cx="6" cy="2"/>
            </a:xfrm>
            <a:custGeom>
              <a:avLst/>
              <a:gdLst>
                <a:gd name="T0" fmla="*/ 0 w 27"/>
                <a:gd name="T1" fmla="*/ 0 h 9"/>
                <a:gd name="T2" fmla="*/ 0 w 27"/>
                <a:gd name="T3" fmla="*/ 0 h 9"/>
                <a:gd name="T4" fmla="*/ 0 w 27"/>
                <a:gd name="T5" fmla="*/ 0 h 9"/>
                <a:gd name="T6" fmla="*/ 0 w 27"/>
                <a:gd name="T7" fmla="*/ 0 h 9"/>
                <a:gd name="T8" fmla="*/ 0 w 27"/>
                <a:gd name="T9" fmla="*/ 0 h 9"/>
                <a:gd name="T10" fmla="*/ 0 w 27"/>
                <a:gd name="T11" fmla="*/ 0 h 9"/>
                <a:gd name="T12" fmla="*/ 0 w 27"/>
                <a:gd name="T13" fmla="*/ 0 h 9"/>
                <a:gd name="T14" fmla="*/ 0 w 27"/>
                <a:gd name="T15" fmla="*/ 0 h 9"/>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7" h="9">
                  <a:moveTo>
                    <a:pt x="27" y="7"/>
                  </a:moveTo>
                  <a:lnTo>
                    <a:pt x="23" y="3"/>
                  </a:lnTo>
                  <a:lnTo>
                    <a:pt x="17" y="1"/>
                  </a:lnTo>
                  <a:lnTo>
                    <a:pt x="6" y="0"/>
                  </a:lnTo>
                  <a:lnTo>
                    <a:pt x="0" y="9"/>
                  </a:lnTo>
                  <a:lnTo>
                    <a:pt x="8" y="3"/>
                  </a:lnTo>
                  <a:lnTo>
                    <a:pt x="15" y="2"/>
                  </a:lnTo>
                  <a:lnTo>
                    <a:pt x="27" y="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0" name="Freeform 113"/>
            <p:cNvSpPr>
              <a:spLocks/>
            </p:cNvSpPr>
            <p:nvPr/>
          </p:nvSpPr>
          <p:spPr bwMode="auto">
            <a:xfrm>
              <a:off x="340" y="1841"/>
              <a:ext cx="4" cy="1"/>
            </a:xfrm>
            <a:custGeom>
              <a:avLst/>
              <a:gdLst>
                <a:gd name="T0" fmla="*/ 0 w 20"/>
                <a:gd name="T1" fmla="*/ 0 h 4"/>
                <a:gd name="T2" fmla="*/ 0 w 20"/>
                <a:gd name="T3" fmla="*/ 0 h 4"/>
                <a:gd name="T4" fmla="*/ 0 w 20"/>
                <a:gd name="T5" fmla="*/ 0 h 4"/>
                <a:gd name="T6" fmla="*/ 0 w 20"/>
                <a:gd name="T7" fmla="*/ 0 h 4"/>
                <a:gd name="T8" fmla="*/ 0 w 20"/>
                <a:gd name="T9" fmla="*/ 0 h 4"/>
                <a:gd name="T10" fmla="*/ 0 w 20"/>
                <a:gd name="T11" fmla="*/ 0 h 4"/>
                <a:gd name="T12" fmla="*/ 0 w 20"/>
                <a:gd name="T13" fmla="*/ 0 h 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4">
                  <a:moveTo>
                    <a:pt x="0" y="2"/>
                  </a:moveTo>
                  <a:lnTo>
                    <a:pt x="4" y="0"/>
                  </a:lnTo>
                  <a:lnTo>
                    <a:pt x="11" y="0"/>
                  </a:lnTo>
                  <a:lnTo>
                    <a:pt x="20" y="4"/>
                  </a:lnTo>
                  <a:lnTo>
                    <a:pt x="15" y="3"/>
                  </a:lnTo>
                  <a:lnTo>
                    <a:pt x="11" y="1"/>
                  </a:lnTo>
                  <a:lnTo>
                    <a:pt x="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1" name="Freeform 114"/>
            <p:cNvSpPr>
              <a:spLocks/>
            </p:cNvSpPr>
            <p:nvPr/>
          </p:nvSpPr>
          <p:spPr bwMode="auto">
            <a:xfrm>
              <a:off x="323" y="1845"/>
              <a:ext cx="6" cy="15"/>
            </a:xfrm>
            <a:custGeom>
              <a:avLst/>
              <a:gdLst>
                <a:gd name="T0" fmla="*/ 0 w 31"/>
                <a:gd name="T1" fmla="*/ 0 h 74"/>
                <a:gd name="T2" fmla="*/ 0 w 31"/>
                <a:gd name="T3" fmla="*/ 0 h 74"/>
                <a:gd name="T4" fmla="*/ 0 w 31"/>
                <a:gd name="T5" fmla="*/ 0 h 74"/>
                <a:gd name="T6" fmla="*/ 0 w 31"/>
                <a:gd name="T7" fmla="*/ 0 h 74"/>
                <a:gd name="T8" fmla="*/ 0 w 31"/>
                <a:gd name="T9" fmla="*/ 0 h 74"/>
                <a:gd name="T10" fmla="*/ 0 w 31"/>
                <a:gd name="T11" fmla="*/ 0 h 74"/>
                <a:gd name="T12" fmla="*/ 0 w 31"/>
                <a:gd name="T13" fmla="*/ 0 h 74"/>
                <a:gd name="T14" fmla="*/ 0 w 31"/>
                <a:gd name="T15" fmla="*/ 0 h 7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1" h="74">
                  <a:moveTo>
                    <a:pt x="0" y="0"/>
                  </a:moveTo>
                  <a:lnTo>
                    <a:pt x="17" y="19"/>
                  </a:lnTo>
                  <a:lnTo>
                    <a:pt x="25" y="42"/>
                  </a:lnTo>
                  <a:lnTo>
                    <a:pt x="26" y="74"/>
                  </a:lnTo>
                  <a:lnTo>
                    <a:pt x="31" y="49"/>
                  </a:lnTo>
                  <a:lnTo>
                    <a:pt x="29" y="29"/>
                  </a:lnTo>
                  <a:lnTo>
                    <a:pt x="24" y="2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2" name="Freeform 115"/>
            <p:cNvSpPr>
              <a:spLocks/>
            </p:cNvSpPr>
            <p:nvPr/>
          </p:nvSpPr>
          <p:spPr bwMode="auto">
            <a:xfrm>
              <a:off x="308" y="1839"/>
              <a:ext cx="10" cy="5"/>
            </a:xfrm>
            <a:custGeom>
              <a:avLst/>
              <a:gdLst>
                <a:gd name="T0" fmla="*/ 0 w 50"/>
                <a:gd name="T1" fmla="*/ 0 h 25"/>
                <a:gd name="T2" fmla="*/ 0 w 50"/>
                <a:gd name="T3" fmla="*/ 0 h 25"/>
                <a:gd name="T4" fmla="*/ 0 w 50"/>
                <a:gd name="T5" fmla="*/ 0 h 25"/>
                <a:gd name="T6" fmla="*/ 0 w 50"/>
                <a:gd name="T7" fmla="*/ 0 h 25"/>
                <a:gd name="T8" fmla="*/ 0 w 50"/>
                <a:gd name="T9" fmla="*/ 0 h 25"/>
                <a:gd name="T10" fmla="*/ 0 w 50"/>
                <a:gd name="T11" fmla="*/ 0 h 25"/>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0" h="25">
                  <a:moveTo>
                    <a:pt x="0" y="11"/>
                  </a:moveTo>
                  <a:lnTo>
                    <a:pt x="19" y="13"/>
                  </a:lnTo>
                  <a:lnTo>
                    <a:pt x="50" y="25"/>
                  </a:lnTo>
                  <a:lnTo>
                    <a:pt x="28" y="9"/>
                  </a:lnTo>
                  <a:lnTo>
                    <a:pt x="1" y="0"/>
                  </a:lnTo>
                  <a:lnTo>
                    <a:pt x="0" y="1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3" name="Freeform 116"/>
            <p:cNvSpPr>
              <a:spLocks/>
            </p:cNvSpPr>
            <p:nvPr/>
          </p:nvSpPr>
          <p:spPr bwMode="auto">
            <a:xfrm>
              <a:off x="321" y="1862"/>
              <a:ext cx="7" cy="7"/>
            </a:xfrm>
            <a:custGeom>
              <a:avLst/>
              <a:gdLst>
                <a:gd name="T0" fmla="*/ 0 w 39"/>
                <a:gd name="T1" fmla="*/ 0 h 33"/>
                <a:gd name="T2" fmla="*/ 0 w 39"/>
                <a:gd name="T3" fmla="*/ 0 h 33"/>
                <a:gd name="T4" fmla="*/ 0 w 39"/>
                <a:gd name="T5" fmla="*/ 0 h 33"/>
                <a:gd name="T6" fmla="*/ 0 w 39"/>
                <a:gd name="T7" fmla="*/ 0 h 33"/>
                <a:gd name="T8" fmla="*/ 0 w 39"/>
                <a:gd name="T9" fmla="*/ 0 h 3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9" h="33">
                  <a:moveTo>
                    <a:pt x="39" y="0"/>
                  </a:moveTo>
                  <a:lnTo>
                    <a:pt x="20" y="21"/>
                  </a:lnTo>
                  <a:lnTo>
                    <a:pt x="0" y="33"/>
                  </a:lnTo>
                  <a:lnTo>
                    <a:pt x="26" y="25"/>
                  </a:lnTo>
                  <a:lnTo>
                    <a:pt x="3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4" name="Freeform 117"/>
            <p:cNvSpPr>
              <a:spLocks/>
            </p:cNvSpPr>
            <p:nvPr/>
          </p:nvSpPr>
          <p:spPr bwMode="auto">
            <a:xfrm>
              <a:off x="332" y="1858"/>
              <a:ext cx="7" cy="7"/>
            </a:xfrm>
            <a:custGeom>
              <a:avLst/>
              <a:gdLst>
                <a:gd name="T0" fmla="*/ 0 w 38"/>
                <a:gd name="T1" fmla="*/ 0 h 35"/>
                <a:gd name="T2" fmla="*/ 0 w 38"/>
                <a:gd name="T3" fmla="*/ 0 h 35"/>
                <a:gd name="T4" fmla="*/ 0 w 38"/>
                <a:gd name="T5" fmla="*/ 0 h 35"/>
                <a:gd name="T6" fmla="*/ 0 w 38"/>
                <a:gd name="T7" fmla="*/ 0 h 35"/>
                <a:gd name="T8" fmla="*/ 0 w 38"/>
                <a:gd name="T9" fmla="*/ 0 h 35"/>
                <a:gd name="T10" fmla="*/ 0 w 38"/>
                <a:gd name="T11" fmla="*/ 0 h 35"/>
                <a:gd name="T12" fmla="*/ 0 w 38"/>
                <a:gd name="T13" fmla="*/ 0 h 35"/>
                <a:gd name="T14" fmla="*/ 0 w 38"/>
                <a:gd name="T15" fmla="*/ 0 h 3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8" h="35">
                  <a:moveTo>
                    <a:pt x="0" y="0"/>
                  </a:moveTo>
                  <a:lnTo>
                    <a:pt x="3" y="13"/>
                  </a:lnTo>
                  <a:lnTo>
                    <a:pt x="22" y="29"/>
                  </a:lnTo>
                  <a:lnTo>
                    <a:pt x="38" y="35"/>
                  </a:lnTo>
                  <a:lnTo>
                    <a:pt x="12" y="32"/>
                  </a:lnTo>
                  <a:lnTo>
                    <a:pt x="3" y="21"/>
                  </a:lnTo>
                  <a:lnTo>
                    <a:pt x="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5" name="Freeform 118"/>
            <p:cNvSpPr>
              <a:spLocks/>
            </p:cNvSpPr>
            <p:nvPr/>
          </p:nvSpPr>
          <p:spPr bwMode="auto">
            <a:xfrm>
              <a:off x="278" y="1810"/>
              <a:ext cx="41" cy="31"/>
            </a:xfrm>
            <a:custGeom>
              <a:avLst/>
              <a:gdLst>
                <a:gd name="T0" fmla="*/ 0 w 201"/>
                <a:gd name="T1" fmla="*/ 0 h 158"/>
                <a:gd name="T2" fmla="*/ 0 w 201"/>
                <a:gd name="T3" fmla="*/ 0 h 158"/>
                <a:gd name="T4" fmla="*/ 0 w 201"/>
                <a:gd name="T5" fmla="*/ 0 h 158"/>
                <a:gd name="T6" fmla="*/ 0 w 201"/>
                <a:gd name="T7" fmla="*/ 0 h 158"/>
                <a:gd name="T8" fmla="*/ 0 w 201"/>
                <a:gd name="T9" fmla="*/ 0 h 158"/>
                <a:gd name="T10" fmla="*/ 0 w 201"/>
                <a:gd name="T11" fmla="*/ 0 h 158"/>
                <a:gd name="T12" fmla="*/ 0 w 201"/>
                <a:gd name="T13" fmla="*/ 0 h 1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1" h="158">
                  <a:moveTo>
                    <a:pt x="165" y="158"/>
                  </a:moveTo>
                  <a:lnTo>
                    <a:pt x="201" y="76"/>
                  </a:lnTo>
                  <a:lnTo>
                    <a:pt x="132" y="31"/>
                  </a:lnTo>
                  <a:lnTo>
                    <a:pt x="29" y="0"/>
                  </a:lnTo>
                  <a:lnTo>
                    <a:pt x="0" y="87"/>
                  </a:lnTo>
                  <a:lnTo>
                    <a:pt x="94" y="114"/>
                  </a:lnTo>
                  <a:lnTo>
                    <a:pt x="165" y="158"/>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6" name="Oval 119"/>
            <p:cNvSpPr>
              <a:spLocks noChangeArrowheads="1"/>
            </p:cNvSpPr>
            <p:nvPr/>
          </p:nvSpPr>
          <p:spPr bwMode="auto">
            <a:xfrm>
              <a:off x="304" y="1824"/>
              <a:ext cx="7" cy="9"/>
            </a:xfrm>
            <a:prstGeom prst="ellipse">
              <a:avLst/>
            </a:prstGeom>
            <a:solidFill>
              <a:srgbClr val="FFFFFF"/>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27" name="Freeform 120"/>
            <p:cNvSpPr>
              <a:spLocks/>
            </p:cNvSpPr>
            <p:nvPr/>
          </p:nvSpPr>
          <p:spPr bwMode="auto">
            <a:xfrm>
              <a:off x="297" y="1826"/>
              <a:ext cx="10" cy="22"/>
            </a:xfrm>
            <a:custGeom>
              <a:avLst/>
              <a:gdLst>
                <a:gd name="T0" fmla="*/ 0 w 52"/>
                <a:gd name="T1" fmla="*/ 0 h 111"/>
                <a:gd name="T2" fmla="*/ 0 w 52"/>
                <a:gd name="T3" fmla="*/ 0 h 111"/>
                <a:gd name="T4" fmla="*/ 0 w 52"/>
                <a:gd name="T5" fmla="*/ 0 h 111"/>
                <a:gd name="T6" fmla="*/ 0 w 52"/>
                <a:gd name="T7" fmla="*/ 0 h 111"/>
                <a:gd name="T8" fmla="*/ 0 w 52"/>
                <a:gd name="T9" fmla="*/ 0 h 111"/>
                <a:gd name="T10" fmla="*/ 0 w 52"/>
                <a:gd name="T11" fmla="*/ 0 h 111"/>
                <a:gd name="T12" fmla="*/ 0 w 52"/>
                <a:gd name="T13" fmla="*/ 0 h 111"/>
                <a:gd name="T14" fmla="*/ 0 w 52"/>
                <a:gd name="T15" fmla="*/ 0 h 111"/>
                <a:gd name="T16" fmla="*/ 0 w 52"/>
                <a:gd name="T17" fmla="*/ 0 h 111"/>
                <a:gd name="T18" fmla="*/ 0 w 52"/>
                <a:gd name="T19" fmla="*/ 0 h 111"/>
                <a:gd name="T20" fmla="*/ 0 w 52"/>
                <a:gd name="T21" fmla="*/ 0 h 111"/>
                <a:gd name="T22" fmla="*/ 0 w 52"/>
                <a:gd name="T23" fmla="*/ 0 h 111"/>
                <a:gd name="T24" fmla="*/ 0 w 52"/>
                <a:gd name="T25" fmla="*/ 0 h 111"/>
                <a:gd name="T26" fmla="*/ 0 w 52"/>
                <a:gd name="T27" fmla="*/ 0 h 111"/>
                <a:gd name="T28" fmla="*/ 0 w 52"/>
                <a:gd name="T29" fmla="*/ 0 h 111"/>
                <a:gd name="T30" fmla="*/ 0 w 52"/>
                <a:gd name="T31" fmla="*/ 0 h 11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52" h="111">
                  <a:moveTo>
                    <a:pt x="4" y="74"/>
                  </a:moveTo>
                  <a:lnTo>
                    <a:pt x="7" y="55"/>
                  </a:lnTo>
                  <a:lnTo>
                    <a:pt x="5" y="36"/>
                  </a:lnTo>
                  <a:lnTo>
                    <a:pt x="4" y="23"/>
                  </a:lnTo>
                  <a:lnTo>
                    <a:pt x="0" y="13"/>
                  </a:lnTo>
                  <a:lnTo>
                    <a:pt x="4" y="4"/>
                  </a:lnTo>
                  <a:lnTo>
                    <a:pt x="11" y="0"/>
                  </a:lnTo>
                  <a:lnTo>
                    <a:pt x="27" y="6"/>
                  </a:lnTo>
                  <a:lnTo>
                    <a:pt x="33" y="16"/>
                  </a:lnTo>
                  <a:lnTo>
                    <a:pt x="37" y="27"/>
                  </a:lnTo>
                  <a:lnTo>
                    <a:pt x="39" y="39"/>
                  </a:lnTo>
                  <a:lnTo>
                    <a:pt x="40" y="59"/>
                  </a:lnTo>
                  <a:lnTo>
                    <a:pt x="52" y="79"/>
                  </a:lnTo>
                  <a:lnTo>
                    <a:pt x="23" y="111"/>
                  </a:lnTo>
                  <a:lnTo>
                    <a:pt x="11" y="103"/>
                  </a:lnTo>
                  <a:lnTo>
                    <a:pt x="4" y="74"/>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8" name="Freeform 121"/>
            <p:cNvSpPr>
              <a:spLocks/>
            </p:cNvSpPr>
            <p:nvPr/>
          </p:nvSpPr>
          <p:spPr bwMode="auto">
            <a:xfrm>
              <a:off x="301" y="1841"/>
              <a:ext cx="7" cy="7"/>
            </a:xfrm>
            <a:custGeom>
              <a:avLst/>
              <a:gdLst>
                <a:gd name="T0" fmla="*/ 0 w 35"/>
                <a:gd name="T1" fmla="*/ 0 h 34"/>
                <a:gd name="T2" fmla="*/ 0 w 35"/>
                <a:gd name="T3" fmla="*/ 0 h 34"/>
                <a:gd name="T4" fmla="*/ 0 w 35"/>
                <a:gd name="T5" fmla="*/ 0 h 34"/>
                <a:gd name="T6" fmla="*/ 0 w 35"/>
                <a:gd name="T7" fmla="*/ 0 h 34"/>
                <a:gd name="T8" fmla="*/ 0 w 35"/>
                <a:gd name="T9" fmla="*/ 0 h 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34">
                  <a:moveTo>
                    <a:pt x="24" y="0"/>
                  </a:moveTo>
                  <a:lnTo>
                    <a:pt x="35" y="4"/>
                  </a:lnTo>
                  <a:lnTo>
                    <a:pt x="9" y="34"/>
                  </a:lnTo>
                  <a:lnTo>
                    <a:pt x="0" y="26"/>
                  </a:lnTo>
                  <a:lnTo>
                    <a:pt x="24" y="0"/>
                  </a:lnTo>
                  <a:close/>
                </a:path>
              </a:pathLst>
            </a:custGeom>
            <a:solidFill>
              <a:srgbClr val="FFC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9" name="Freeform 122"/>
            <p:cNvSpPr>
              <a:spLocks/>
            </p:cNvSpPr>
            <p:nvPr/>
          </p:nvSpPr>
          <p:spPr bwMode="auto">
            <a:xfrm>
              <a:off x="312" y="1815"/>
              <a:ext cx="9" cy="20"/>
            </a:xfrm>
            <a:custGeom>
              <a:avLst/>
              <a:gdLst>
                <a:gd name="T0" fmla="*/ 0 w 48"/>
                <a:gd name="T1" fmla="*/ 0 h 97"/>
                <a:gd name="T2" fmla="*/ 0 w 48"/>
                <a:gd name="T3" fmla="*/ 0 h 97"/>
                <a:gd name="T4" fmla="*/ 0 w 48"/>
                <a:gd name="T5" fmla="*/ 0 h 97"/>
                <a:gd name="T6" fmla="*/ 0 w 48"/>
                <a:gd name="T7" fmla="*/ 0 h 97"/>
                <a:gd name="T8" fmla="*/ 0 w 48"/>
                <a:gd name="T9" fmla="*/ 0 h 97"/>
                <a:gd name="T10" fmla="*/ 0 w 48"/>
                <a:gd name="T11" fmla="*/ 0 h 97"/>
                <a:gd name="T12" fmla="*/ 0 w 48"/>
                <a:gd name="T13" fmla="*/ 0 h 97"/>
                <a:gd name="T14" fmla="*/ 0 w 48"/>
                <a:gd name="T15" fmla="*/ 0 h 97"/>
                <a:gd name="T16" fmla="*/ 0 w 48"/>
                <a:gd name="T17" fmla="*/ 0 h 97"/>
                <a:gd name="T18" fmla="*/ 0 w 48"/>
                <a:gd name="T19" fmla="*/ 0 h 97"/>
                <a:gd name="T20" fmla="*/ 0 w 48"/>
                <a:gd name="T21" fmla="*/ 0 h 97"/>
                <a:gd name="T22" fmla="*/ 0 w 48"/>
                <a:gd name="T23" fmla="*/ 0 h 97"/>
                <a:gd name="T24" fmla="*/ 0 w 48"/>
                <a:gd name="T25" fmla="*/ 0 h 97"/>
                <a:gd name="T26" fmla="*/ 0 w 48"/>
                <a:gd name="T27" fmla="*/ 0 h 97"/>
                <a:gd name="T28" fmla="*/ 0 w 48"/>
                <a:gd name="T29" fmla="*/ 0 h 97"/>
                <a:gd name="T30" fmla="*/ 0 w 48"/>
                <a:gd name="T31" fmla="*/ 0 h 97"/>
                <a:gd name="T32" fmla="*/ 0 w 48"/>
                <a:gd name="T33" fmla="*/ 0 h 97"/>
                <a:gd name="T34" fmla="*/ 0 w 48"/>
                <a:gd name="T35" fmla="*/ 0 h 97"/>
                <a:gd name="T36" fmla="*/ 0 w 48"/>
                <a:gd name="T37" fmla="*/ 0 h 9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8" h="97">
                  <a:moveTo>
                    <a:pt x="0" y="23"/>
                  </a:moveTo>
                  <a:lnTo>
                    <a:pt x="4" y="43"/>
                  </a:lnTo>
                  <a:lnTo>
                    <a:pt x="6" y="51"/>
                  </a:lnTo>
                  <a:lnTo>
                    <a:pt x="7" y="64"/>
                  </a:lnTo>
                  <a:lnTo>
                    <a:pt x="5" y="73"/>
                  </a:lnTo>
                  <a:lnTo>
                    <a:pt x="7" y="84"/>
                  </a:lnTo>
                  <a:lnTo>
                    <a:pt x="14" y="95"/>
                  </a:lnTo>
                  <a:lnTo>
                    <a:pt x="21" y="96"/>
                  </a:lnTo>
                  <a:lnTo>
                    <a:pt x="34" y="97"/>
                  </a:lnTo>
                  <a:lnTo>
                    <a:pt x="43" y="91"/>
                  </a:lnTo>
                  <a:lnTo>
                    <a:pt x="46" y="88"/>
                  </a:lnTo>
                  <a:lnTo>
                    <a:pt x="48" y="77"/>
                  </a:lnTo>
                  <a:lnTo>
                    <a:pt x="48" y="59"/>
                  </a:lnTo>
                  <a:lnTo>
                    <a:pt x="48" y="48"/>
                  </a:lnTo>
                  <a:lnTo>
                    <a:pt x="46" y="32"/>
                  </a:lnTo>
                  <a:lnTo>
                    <a:pt x="44" y="22"/>
                  </a:lnTo>
                  <a:lnTo>
                    <a:pt x="36" y="0"/>
                  </a:lnTo>
                  <a:lnTo>
                    <a:pt x="7" y="1"/>
                  </a:lnTo>
                  <a:lnTo>
                    <a:pt x="0" y="23"/>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0" name="Freeform 123"/>
            <p:cNvSpPr>
              <a:spLocks/>
            </p:cNvSpPr>
            <p:nvPr/>
          </p:nvSpPr>
          <p:spPr bwMode="auto">
            <a:xfrm>
              <a:off x="315" y="1828"/>
              <a:ext cx="5" cy="4"/>
            </a:xfrm>
            <a:custGeom>
              <a:avLst/>
              <a:gdLst>
                <a:gd name="T0" fmla="*/ 0 w 24"/>
                <a:gd name="T1" fmla="*/ 0 h 20"/>
                <a:gd name="T2" fmla="*/ 0 w 24"/>
                <a:gd name="T3" fmla="*/ 0 h 20"/>
                <a:gd name="T4" fmla="*/ 0 w 24"/>
                <a:gd name="T5" fmla="*/ 0 h 20"/>
                <a:gd name="T6" fmla="*/ 0 w 24"/>
                <a:gd name="T7" fmla="*/ 0 h 20"/>
                <a:gd name="T8" fmla="*/ 0 w 24"/>
                <a:gd name="T9" fmla="*/ 0 h 20"/>
                <a:gd name="T10" fmla="*/ 0 w 24"/>
                <a:gd name="T11" fmla="*/ 0 h 20"/>
                <a:gd name="T12" fmla="*/ 0 w 24"/>
                <a:gd name="T13" fmla="*/ 0 h 20"/>
                <a:gd name="T14" fmla="*/ 0 w 24"/>
                <a:gd name="T15" fmla="*/ 0 h 2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 h="20">
                  <a:moveTo>
                    <a:pt x="24" y="5"/>
                  </a:moveTo>
                  <a:lnTo>
                    <a:pt x="12" y="0"/>
                  </a:lnTo>
                  <a:lnTo>
                    <a:pt x="3" y="1"/>
                  </a:lnTo>
                  <a:lnTo>
                    <a:pt x="0" y="5"/>
                  </a:lnTo>
                  <a:lnTo>
                    <a:pt x="1" y="20"/>
                  </a:lnTo>
                  <a:lnTo>
                    <a:pt x="3" y="8"/>
                  </a:lnTo>
                  <a:lnTo>
                    <a:pt x="5" y="4"/>
                  </a:lnTo>
                  <a:lnTo>
                    <a:pt x="24"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1" name="Group 124"/>
          <p:cNvGrpSpPr>
            <a:grpSpLocks/>
          </p:cNvGrpSpPr>
          <p:nvPr/>
        </p:nvGrpSpPr>
        <p:grpSpPr bwMode="auto">
          <a:xfrm>
            <a:off x="2029950" y="3663410"/>
            <a:ext cx="139921" cy="65972"/>
            <a:chOff x="375" y="2315"/>
            <a:chExt cx="139" cy="71"/>
          </a:xfrm>
        </p:grpSpPr>
        <p:sp>
          <p:nvSpPr>
            <p:cNvPr id="132" name="Freeform 125"/>
            <p:cNvSpPr>
              <a:spLocks/>
            </p:cNvSpPr>
            <p:nvPr/>
          </p:nvSpPr>
          <p:spPr bwMode="auto">
            <a:xfrm>
              <a:off x="375" y="2315"/>
              <a:ext cx="139" cy="71"/>
            </a:xfrm>
            <a:custGeom>
              <a:avLst/>
              <a:gdLst>
                <a:gd name="T0" fmla="*/ 0 w 691"/>
                <a:gd name="T1" fmla="*/ 0 h 355"/>
                <a:gd name="T2" fmla="*/ 0 w 691"/>
                <a:gd name="T3" fmla="*/ 0 h 355"/>
                <a:gd name="T4" fmla="*/ 0 w 691"/>
                <a:gd name="T5" fmla="*/ 0 h 355"/>
                <a:gd name="T6" fmla="*/ 0 w 691"/>
                <a:gd name="T7" fmla="*/ 0 h 355"/>
                <a:gd name="T8" fmla="*/ 0 w 691"/>
                <a:gd name="T9" fmla="*/ 0 h 355"/>
                <a:gd name="T10" fmla="*/ 0 w 691"/>
                <a:gd name="T11" fmla="*/ 0 h 355"/>
                <a:gd name="T12" fmla="*/ 0 w 691"/>
                <a:gd name="T13" fmla="*/ 0 h 355"/>
                <a:gd name="T14" fmla="*/ 0 w 691"/>
                <a:gd name="T15" fmla="*/ 0 h 355"/>
                <a:gd name="T16" fmla="*/ 0 w 691"/>
                <a:gd name="T17" fmla="*/ 0 h 355"/>
                <a:gd name="T18" fmla="*/ 0 w 691"/>
                <a:gd name="T19" fmla="*/ 0 h 355"/>
                <a:gd name="T20" fmla="*/ 0 w 691"/>
                <a:gd name="T21" fmla="*/ 0 h 355"/>
                <a:gd name="T22" fmla="*/ 0 w 691"/>
                <a:gd name="T23" fmla="*/ 0 h 355"/>
                <a:gd name="T24" fmla="*/ 0 w 691"/>
                <a:gd name="T25" fmla="*/ 0 h 355"/>
                <a:gd name="T26" fmla="*/ 0 w 691"/>
                <a:gd name="T27" fmla="*/ 0 h 355"/>
                <a:gd name="T28" fmla="*/ 0 w 691"/>
                <a:gd name="T29" fmla="*/ 0 h 355"/>
                <a:gd name="T30" fmla="*/ 0 w 691"/>
                <a:gd name="T31" fmla="*/ 0 h 355"/>
                <a:gd name="T32" fmla="*/ 0 w 691"/>
                <a:gd name="T33" fmla="*/ 0 h 355"/>
                <a:gd name="T34" fmla="*/ 0 w 691"/>
                <a:gd name="T35" fmla="*/ 0 h 355"/>
                <a:gd name="T36" fmla="*/ 0 w 691"/>
                <a:gd name="T37" fmla="*/ 0 h 355"/>
                <a:gd name="T38" fmla="*/ 0 w 691"/>
                <a:gd name="T39" fmla="*/ 0 h 355"/>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91" h="355">
                  <a:moveTo>
                    <a:pt x="279" y="11"/>
                  </a:moveTo>
                  <a:lnTo>
                    <a:pt x="274" y="104"/>
                  </a:lnTo>
                  <a:lnTo>
                    <a:pt x="455" y="189"/>
                  </a:lnTo>
                  <a:lnTo>
                    <a:pt x="607" y="226"/>
                  </a:lnTo>
                  <a:lnTo>
                    <a:pt x="691" y="263"/>
                  </a:lnTo>
                  <a:lnTo>
                    <a:pt x="687" y="313"/>
                  </a:lnTo>
                  <a:lnTo>
                    <a:pt x="577" y="343"/>
                  </a:lnTo>
                  <a:lnTo>
                    <a:pt x="413" y="355"/>
                  </a:lnTo>
                  <a:lnTo>
                    <a:pt x="274" y="331"/>
                  </a:lnTo>
                  <a:lnTo>
                    <a:pt x="188" y="307"/>
                  </a:lnTo>
                  <a:lnTo>
                    <a:pt x="183" y="334"/>
                  </a:lnTo>
                  <a:lnTo>
                    <a:pt x="74" y="331"/>
                  </a:lnTo>
                  <a:lnTo>
                    <a:pt x="7" y="318"/>
                  </a:lnTo>
                  <a:lnTo>
                    <a:pt x="7" y="270"/>
                  </a:lnTo>
                  <a:lnTo>
                    <a:pt x="0" y="242"/>
                  </a:lnTo>
                  <a:lnTo>
                    <a:pt x="0" y="173"/>
                  </a:lnTo>
                  <a:lnTo>
                    <a:pt x="18" y="135"/>
                  </a:lnTo>
                  <a:lnTo>
                    <a:pt x="53" y="91"/>
                  </a:lnTo>
                  <a:lnTo>
                    <a:pt x="60" y="0"/>
                  </a:lnTo>
                  <a:lnTo>
                    <a:pt x="279" y="11"/>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3" name="Freeform 126"/>
            <p:cNvSpPr>
              <a:spLocks/>
            </p:cNvSpPr>
            <p:nvPr/>
          </p:nvSpPr>
          <p:spPr bwMode="auto">
            <a:xfrm>
              <a:off x="421" y="2341"/>
              <a:ext cx="42" cy="22"/>
            </a:xfrm>
            <a:custGeom>
              <a:avLst/>
              <a:gdLst>
                <a:gd name="T0" fmla="*/ 0 w 208"/>
                <a:gd name="T1" fmla="*/ 0 h 110"/>
                <a:gd name="T2" fmla="*/ 0 w 208"/>
                <a:gd name="T3" fmla="*/ 0 h 110"/>
                <a:gd name="T4" fmla="*/ 0 w 208"/>
                <a:gd name="T5" fmla="*/ 0 h 110"/>
                <a:gd name="T6" fmla="*/ 0 w 208"/>
                <a:gd name="T7" fmla="*/ 0 h 110"/>
                <a:gd name="T8" fmla="*/ 0 w 208"/>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8" h="110">
                  <a:moveTo>
                    <a:pt x="53" y="0"/>
                  </a:moveTo>
                  <a:lnTo>
                    <a:pt x="0" y="58"/>
                  </a:lnTo>
                  <a:lnTo>
                    <a:pt x="186" y="110"/>
                  </a:lnTo>
                  <a:lnTo>
                    <a:pt x="208" y="70"/>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4" name="Freeform 127"/>
            <p:cNvSpPr>
              <a:spLocks/>
            </p:cNvSpPr>
            <p:nvPr/>
          </p:nvSpPr>
          <p:spPr bwMode="auto">
            <a:xfrm>
              <a:off x="463" y="2356"/>
              <a:ext cx="46" cy="13"/>
            </a:xfrm>
            <a:custGeom>
              <a:avLst/>
              <a:gdLst>
                <a:gd name="T0" fmla="*/ 0 w 233"/>
                <a:gd name="T1" fmla="*/ 0 h 67"/>
                <a:gd name="T2" fmla="*/ 0 w 233"/>
                <a:gd name="T3" fmla="*/ 0 h 67"/>
                <a:gd name="T4" fmla="*/ 0 w 233"/>
                <a:gd name="T5" fmla="*/ 0 h 67"/>
                <a:gd name="T6" fmla="*/ 0 w 233"/>
                <a:gd name="T7" fmla="*/ 0 h 67"/>
                <a:gd name="T8" fmla="*/ 0 w 233"/>
                <a:gd name="T9" fmla="*/ 0 h 67"/>
                <a:gd name="T10" fmla="*/ 0 w 233"/>
                <a:gd name="T11" fmla="*/ 0 h 67"/>
                <a:gd name="T12" fmla="*/ 0 w 233"/>
                <a:gd name="T13" fmla="*/ 0 h 6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3" h="67">
                  <a:moveTo>
                    <a:pt x="27" y="0"/>
                  </a:moveTo>
                  <a:lnTo>
                    <a:pt x="0" y="32"/>
                  </a:lnTo>
                  <a:lnTo>
                    <a:pt x="115" y="62"/>
                  </a:lnTo>
                  <a:lnTo>
                    <a:pt x="168" y="67"/>
                  </a:lnTo>
                  <a:lnTo>
                    <a:pt x="233" y="64"/>
                  </a:lnTo>
                  <a:lnTo>
                    <a:pt x="165" y="30"/>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5" name="Freeform 128"/>
            <p:cNvSpPr>
              <a:spLocks/>
            </p:cNvSpPr>
            <p:nvPr/>
          </p:nvSpPr>
          <p:spPr bwMode="auto">
            <a:xfrm>
              <a:off x="376" y="2341"/>
              <a:ext cx="134" cy="41"/>
            </a:xfrm>
            <a:custGeom>
              <a:avLst/>
              <a:gdLst>
                <a:gd name="T0" fmla="*/ 0 w 670"/>
                <a:gd name="T1" fmla="*/ 0 h 209"/>
                <a:gd name="T2" fmla="*/ 0 w 670"/>
                <a:gd name="T3" fmla="*/ 0 h 209"/>
                <a:gd name="T4" fmla="*/ 0 w 670"/>
                <a:gd name="T5" fmla="*/ 0 h 209"/>
                <a:gd name="T6" fmla="*/ 0 w 670"/>
                <a:gd name="T7" fmla="*/ 0 h 209"/>
                <a:gd name="T8" fmla="*/ 0 w 670"/>
                <a:gd name="T9" fmla="*/ 0 h 209"/>
                <a:gd name="T10" fmla="*/ 0 w 670"/>
                <a:gd name="T11" fmla="*/ 0 h 209"/>
                <a:gd name="T12" fmla="*/ 0 w 670"/>
                <a:gd name="T13" fmla="*/ 0 h 209"/>
                <a:gd name="T14" fmla="*/ 0 w 670"/>
                <a:gd name="T15" fmla="*/ 0 h 209"/>
                <a:gd name="T16" fmla="*/ 0 w 670"/>
                <a:gd name="T17" fmla="*/ 0 h 209"/>
                <a:gd name="T18" fmla="*/ 0 w 670"/>
                <a:gd name="T19" fmla="*/ 0 h 209"/>
                <a:gd name="T20" fmla="*/ 0 w 670"/>
                <a:gd name="T21" fmla="*/ 0 h 209"/>
                <a:gd name="T22" fmla="*/ 0 w 670"/>
                <a:gd name="T23" fmla="*/ 0 h 209"/>
                <a:gd name="T24" fmla="*/ 0 w 670"/>
                <a:gd name="T25" fmla="*/ 0 h 209"/>
                <a:gd name="T26" fmla="*/ 0 w 670"/>
                <a:gd name="T27" fmla="*/ 0 h 209"/>
                <a:gd name="T28" fmla="*/ 0 w 670"/>
                <a:gd name="T29" fmla="*/ 0 h 209"/>
                <a:gd name="T30" fmla="*/ 0 w 670"/>
                <a:gd name="T31" fmla="*/ 0 h 209"/>
                <a:gd name="T32" fmla="*/ 0 w 670"/>
                <a:gd name="T33" fmla="*/ 0 h 209"/>
                <a:gd name="T34" fmla="*/ 0 w 670"/>
                <a:gd name="T35" fmla="*/ 0 h 209"/>
                <a:gd name="T36" fmla="*/ 0 w 670"/>
                <a:gd name="T37" fmla="*/ 0 h 20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0" h="209">
                  <a:moveTo>
                    <a:pt x="670" y="178"/>
                  </a:moveTo>
                  <a:lnTo>
                    <a:pt x="670" y="146"/>
                  </a:lnTo>
                  <a:lnTo>
                    <a:pt x="582" y="155"/>
                  </a:lnTo>
                  <a:lnTo>
                    <a:pt x="442" y="134"/>
                  </a:lnTo>
                  <a:lnTo>
                    <a:pt x="361" y="116"/>
                  </a:lnTo>
                  <a:lnTo>
                    <a:pt x="206" y="66"/>
                  </a:lnTo>
                  <a:lnTo>
                    <a:pt x="140" y="58"/>
                  </a:lnTo>
                  <a:lnTo>
                    <a:pt x="73" y="34"/>
                  </a:lnTo>
                  <a:lnTo>
                    <a:pt x="40" y="0"/>
                  </a:lnTo>
                  <a:lnTo>
                    <a:pt x="0" y="43"/>
                  </a:lnTo>
                  <a:lnTo>
                    <a:pt x="0" y="132"/>
                  </a:lnTo>
                  <a:lnTo>
                    <a:pt x="49" y="146"/>
                  </a:lnTo>
                  <a:lnTo>
                    <a:pt x="170" y="162"/>
                  </a:lnTo>
                  <a:lnTo>
                    <a:pt x="218" y="167"/>
                  </a:lnTo>
                  <a:lnTo>
                    <a:pt x="298" y="196"/>
                  </a:lnTo>
                  <a:lnTo>
                    <a:pt x="388" y="209"/>
                  </a:lnTo>
                  <a:lnTo>
                    <a:pt x="452" y="209"/>
                  </a:lnTo>
                  <a:lnTo>
                    <a:pt x="553" y="209"/>
                  </a:lnTo>
                  <a:lnTo>
                    <a:pt x="670"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6" name="Freeform 129"/>
            <p:cNvSpPr>
              <a:spLocks/>
            </p:cNvSpPr>
            <p:nvPr/>
          </p:nvSpPr>
          <p:spPr bwMode="auto">
            <a:xfrm>
              <a:off x="386" y="2317"/>
              <a:ext cx="44" cy="34"/>
            </a:xfrm>
            <a:custGeom>
              <a:avLst/>
              <a:gdLst>
                <a:gd name="T0" fmla="*/ 0 w 219"/>
                <a:gd name="T1" fmla="*/ 0 h 171"/>
                <a:gd name="T2" fmla="*/ 0 w 219"/>
                <a:gd name="T3" fmla="*/ 0 h 171"/>
                <a:gd name="T4" fmla="*/ 0 w 219"/>
                <a:gd name="T5" fmla="*/ 0 h 171"/>
                <a:gd name="T6" fmla="*/ 0 w 219"/>
                <a:gd name="T7" fmla="*/ 0 h 171"/>
                <a:gd name="T8" fmla="*/ 0 w 219"/>
                <a:gd name="T9" fmla="*/ 0 h 171"/>
                <a:gd name="T10" fmla="*/ 0 w 219"/>
                <a:gd name="T11" fmla="*/ 0 h 171"/>
                <a:gd name="T12" fmla="*/ 0 w 219"/>
                <a:gd name="T13" fmla="*/ 0 h 171"/>
                <a:gd name="T14" fmla="*/ 0 w 219"/>
                <a:gd name="T15" fmla="*/ 0 h 171"/>
                <a:gd name="T16" fmla="*/ 0 w 219"/>
                <a:gd name="T17" fmla="*/ 0 h 171"/>
                <a:gd name="T18" fmla="*/ 0 w 219"/>
                <a:gd name="T19" fmla="*/ 0 h 17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171">
                  <a:moveTo>
                    <a:pt x="214" y="11"/>
                  </a:moveTo>
                  <a:lnTo>
                    <a:pt x="207" y="96"/>
                  </a:lnTo>
                  <a:lnTo>
                    <a:pt x="219" y="114"/>
                  </a:lnTo>
                  <a:lnTo>
                    <a:pt x="170" y="171"/>
                  </a:lnTo>
                  <a:lnTo>
                    <a:pt x="103" y="171"/>
                  </a:lnTo>
                  <a:lnTo>
                    <a:pt x="26" y="146"/>
                  </a:lnTo>
                  <a:lnTo>
                    <a:pt x="0" y="112"/>
                  </a:lnTo>
                  <a:lnTo>
                    <a:pt x="15" y="89"/>
                  </a:lnTo>
                  <a:lnTo>
                    <a:pt x="20" y="0"/>
                  </a:lnTo>
                  <a:lnTo>
                    <a:pt x="214"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7" name="Group 130"/>
          <p:cNvGrpSpPr>
            <a:grpSpLocks/>
          </p:cNvGrpSpPr>
          <p:nvPr/>
        </p:nvGrpSpPr>
        <p:grpSpPr bwMode="auto">
          <a:xfrm>
            <a:off x="2032970" y="3548191"/>
            <a:ext cx="58384" cy="131945"/>
            <a:chOff x="378" y="2191"/>
            <a:chExt cx="58" cy="142"/>
          </a:xfrm>
        </p:grpSpPr>
        <p:sp>
          <p:nvSpPr>
            <p:cNvPr id="138" name="Freeform 131"/>
            <p:cNvSpPr>
              <a:spLocks/>
            </p:cNvSpPr>
            <p:nvPr/>
          </p:nvSpPr>
          <p:spPr bwMode="auto">
            <a:xfrm>
              <a:off x="378" y="2191"/>
              <a:ext cx="58" cy="142"/>
            </a:xfrm>
            <a:custGeom>
              <a:avLst/>
              <a:gdLst>
                <a:gd name="T0" fmla="*/ 0 w 292"/>
                <a:gd name="T1" fmla="*/ 0 h 710"/>
                <a:gd name="T2" fmla="*/ 0 w 292"/>
                <a:gd name="T3" fmla="*/ 0 h 710"/>
                <a:gd name="T4" fmla="*/ 0 w 292"/>
                <a:gd name="T5" fmla="*/ 0 h 710"/>
                <a:gd name="T6" fmla="*/ 0 w 292"/>
                <a:gd name="T7" fmla="*/ 0 h 710"/>
                <a:gd name="T8" fmla="*/ 0 w 292"/>
                <a:gd name="T9" fmla="*/ 0 h 710"/>
                <a:gd name="T10" fmla="*/ 0 w 292"/>
                <a:gd name="T11" fmla="*/ 0 h 710"/>
                <a:gd name="T12" fmla="*/ 0 w 292"/>
                <a:gd name="T13" fmla="*/ 0 h 710"/>
                <a:gd name="T14" fmla="*/ 0 w 292"/>
                <a:gd name="T15" fmla="*/ 0 h 71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92" h="710">
                  <a:moveTo>
                    <a:pt x="24" y="15"/>
                  </a:moveTo>
                  <a:lnTo>
                    <a:pt x="6" y="256"/>
                  </a:lnTo>
                  <a:lnTo>
                    <a:pt x="10" y="454"/>
                  </a:lnTo>
                  <a:lnTo>
                    <a:pt x="0" y="678"/>
                  </a:lnTo>
                  <a:lnTo>
                    <a:pt x="144" y="710"/>
                  </a:lnTo>
                  <a:lnTo>
                    <a:pt x="283" y="710"/>
                  </a:lnTo>
                  <a:lnTo>
                    <a:pt x="292" y="0"/>
                  </a:lnTo>
                  <a:lnTo>
                    <a:pt x="24" y="15"/>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9" name="Freeform 132"/>
            <p:cNvSpPr>
              <a:spLocks/>
            </p:cNvSpPr>
            <p:nvPr/>
          </p:nvSpPr>
          <p:spPr bwMode="auto">
            <a:xfrm>
              <a:off x="383" y="2193"/>
              <a:ext cx="50" cy="136"/>
            </a:xfrm>
            <a:custGeom>
              <a:avLst/>
              <a:gdLst>
                <a:gd name="T0" fmla="*/ 0 w 252"/>
                <a:gd name="T1" fmla="*/ 0 h 681"/>
                <a:gd name="T2" fmla="*/ 0 w 252"/>
                <a:gd name="T3" fmla="*/ 0 h 681"/>
                <a:gd name="T4" fmla="*/ 0 w 252"/>
                <a:gd name="T5" fmla="*/ 0 h 681"/>
                <a:gd name="T6" fmla="*/ 0 w 252"/>
                <a:gd name="T7" fmla="*/ 0 h 681"/>
                <a:gd name="T8" fmla="*/ 0 w 252"/>
                <a:gd name="T9" fmla="*/ 0 h 681"/>
                <a:gd name="T10" fmla="*/ 0 w 252"/>
                <a:gd name="T11" fmla="*/ 0 h 681"/>
                <a:gd name="T12" fmla="*/ 0 w 252"/>
                <a:gd name="T13" fmla="*/ 0 h 681"/>
                <a:gd name="T14" fmla="*/ 0 w 252"/>
                <a:gd name="T15" fmla="*/ 0 h 68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52" h="681">
                  <a:moveTo>
                    <a:pt x="23" y="21"/>
                  </a:moveTo>
                  <a:lnTo>
                    <a:pt x="0" y="223"/>
                  </a:lnTo>
                  <a:lnTo>
                    <a:pt x="5" y="385"/>
                  </a:lnTo>
                  <a:lnTo>
                    <a:pt x="5" y="633"/>
                  </a:lnTo>
                  <a:lnTo>
                    <a:pt x="128" y="681"/>
                  </a:lnTo>
                  <a:lnTo>
                    <a:pt x="238" y="681"/>
                  </a:lnTo>
                  <a:lnTo>
                    <a:pt x="252" y="0"/>
                  </a:lnTo>
                  <a:lnTo>
                    <a:pt x="23" y="2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40" name="Group 133"/>
          <p:cNvGrpSpPr>
            <a:grpSpLocks/>
          </p:cNvGrpSpPr>
          <p:nvPr/>
        </p:nvGrpSpPr>
        <p:grpSpPr bwMode="auto">
          <a:xfrm>
            <a:off x="2063168" y="3681994"/>
            <a:ext cx="141934" cy="65972"/>
            <a:chOff x="408" y="2335"/>
            <a:chExt cx="141" cy="71"/>
          </a:xfrm>
        </p:grpSpPr>
        <p:sp>
          <p:nvSpPr>
            <p:cNvPr id="141" name="Freeform 134"/>
            <p:cNvSpPr>
              <a:spLocks/>
            </p:cNvSpPr>
            <p:nvPr/>
          </p:nvSpPr>
          <p:spPr bwMode="auto">
            <a:xfrm>
              <a:off x="408" y="2335"/>
              <a:ext cx="141" cy="71"/>
            </a:xfrm>
            <a:custGeom>
              <a:avLst/>
              <a:gdLst>
                <a:gd name="T0" fmla="*/ 0 w 703"/>
                <a:gd name="T1" fmla="*/ 0 h 356"/>
                <a:gd name="T2" fmla="*/ 0 w 703"/>
                <a:gd name="T3" fmla="*/ 0 h 356"/>
                <a:gd name="T4" fmla="*/ 0 w 703"/>
                <a:gd name="T5" fmla="*/ 0 h 356"/>
                <a:gd name="T6" fmla="*/ 0 w 703"/>
                <a:gd name="T7" fmla="*/ 0 h 356"/>
                <a:gd name="T8" fmla="*/ 0 w 703"/>
                <a:gd name="T9" fmla="*/ 0 h 356"/>
                <a:gd name="T10" fmla="*/ 0 w 703"/>
                <a:gd name="T11" fmla="*/ 0 h 356"/>
                <a:gd name="T12" fmla="*/ 0 w 703"/>
                <a:gd name="T13" fmla="*/ 0 h 356"/>
                <a:gd name="T14" fmla="*/ 0 w 703"/>
                <a:gd name="T15" fmla="*/ 0 h 356"/>
                <a:gd name="T16" fmla="*/ 0 w 703"/>
                <a:gd name="T17" fmla="*/ 0 h 356"/>
                <a:gd name="T18" fmla="*/ 0 w 703"/>
                <a:gd name="T19" fmla="*/ 0 h 356"/>
                <a:gd name="T20" fmla="*/ 0 w 703"/>
                <a:gd name="T21" fmla="*/ 0 h 356"/>
                <a:gd name="T22" fmla="*/ 0 w 703"/>
                <a:gd name="T23" fmla="*/ 0 h 356"/>
                <a:gd name="T24" fmla="*/ 0 w 703"/>
                <a:gd name="T25" fmla="*/ 0 h 356"/>
                <a:gd name="T26" fmla="*/ 0 w 703"/>
                <a:gd name="T27" fmla="*/ 0 h 356"/>
                <a:gd name="T28" fmla="*/ 0 w 703"/>
                <a:gd name="T29" fmla="*/ 0 h 356"/>
                <a:gd name="T30" fmla="*/ 0 w 703"/>
                <a:gd name="T31" fmla="*/ 0 h 356"/>
                <a:gd name="T32" fmla="*/ 0 w 703"/>
                <a:gd name="T33" fmla="*/ 0 h 356"/>
                <a:gd name="T34" fmla="*/ 0 w 703"/>
                <a:gd name="T35" fmla="*/ 0 h 356"/>
                <a:gd name="T36" fmla="*/ 0 w 703"/>
                <a:gd name="T37" fmla="*/ 0 h 356"/>
                <a:gd name="T38" fmla="*/ 0 w 703"/>
                <a:gd name="T39" fmla="*/ 0 h 35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703" h="356">
                  <a:moveTo>
                    <a:pt x="285" y="13"/>
                  </a:moveTo>
                  <a:lnTo>
                    <a:pt x="280" y="104"/>
                  </a:lnTo>
                  <a:lnTo>
                    <a:pt x="463" y="191"/>
                  </a:lnTo>
                  <a:lnTo>
                    <a:pt x="617" y="227"/>
                  </a:lnTo>
                  <a:lnTo>
                    <a:pt x="703" y="264"/>
                  </a:lnTo>
                  <a:lnTo>
                    <a:pt x="698" y="314"/>
                  </a:lnTo>
                  <a:lnTo>
                    <a:pt x="588" y="345"/>
                  </a:lnTo>
                  <a:lnTo>
                    <a:pt x="420" y="356"/>
                  </a:lnTo>
                  <a:lnTo>
                    <a:pt x="280" y="332"/>
                  </a:lnTo>
                  <a:lnTo>
                    <a:pt x="194" y="307"/>
                  </a:lnTo>
                  <a:lnTo>
                    <a:pt x="188" y="335"/>
                  </a:lnTo>
                  <a:lnTo>
                    <a:pt x="76" y="332"/>
                  </a:lnTo>
                  <a:lnTo>
                    <a:pt x="8" y="320"/>
                  </a:lnTo>
                  <a:lnTo>
                    <a:pt x="8" y="271"/>
                  </a:lnTo>
                  <a:lnTo>
                    <a:pt x="0" y="243"/>
                  </a:lnTo>
                  <a:lnTo>
                    <a:pt x="0" y="174"/>
                  </a:lnTo>
                  <a:lnTo>
                    <a:pt x="22" y="136"/>
                  </a:lnTo>
                  <a:lnTo>
                    <a:pt x="56" y="94"/>
                  </a:lnTo>
                  <a:lnTo>
                    <a:pt x="64" y="0"/>
                  </a:lnTo>
                  <a:lnTo>
                    <a:pt x="285" y="13"/>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2" name="Freeform 135"/>
            <p:cNvSpPr>
              <a:spLocks/>
            </p:cNvSpPr>
            <p:nvPr/>
          </p:nvSpPr>
          <p:spPr bwMode="auto">
            <a:xfrm>
              <a:off x="455" y="2361"/>
              <a:ext cx="42" cy="22"/>
            </a:xfrm>
            <a:custGeom>
              <a:avLst/>
              <a:gdLst>
                <a:gd name="T0" fmla="*/ 0 w 210"/>
                <a:gd name="T1" fmla="*/ 0 h 111"/>
                <a:gd name="T2" fmla="*/ 0 w 210"/>
                <a:gd name="T3" fmla="*/ 0 h 111"/>
                <a:gd name="T4" fmla="*/ 0 w 210"/>
                <a:gd name="T5" fmla="*/ 0 h 111"/>
                <a:gd name="T6" fmla="*/ 0 w 210"/>
                <a:gd name="T7" fmla="*/ 0 h 111"/>
                <a:gd name="T8" fmla="*/ 0 w 210"/>
                <a:gd name="T9" fmla="*/ 0 h 11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10" h="111">
                  <a:moveTo>
                    <a:pt x="53" y="0"/>
                  </a:moveTo>
                  <a:lnTo>
                    <a:pt x="0" y="60"/>
                  </a:lnTo>
                  <a:lnTo>
                    <a:pt x="187" y="111"/>
                  </a:lnTo>
                  <a:lnTo>
                    <a:pt x="210" y="71"/>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3" name="Freeform 136"/>
            <p:cNvSpPr>
              <a:spLocks/>
            </p:cNvSpPr>
            <p:nvPr/>
          </p:nvSpPr>
          <p:spPr bwMode="auto">
            <a:xfrm>
              <a:off x="497" y="2377"/>
              <a:ext cx="47" cy="13"/>
            </a:xfrm>
            <a:custGeom>
              <a:avLst/>
              <a:gdLst>
                <a:gd name="T0" fmla="*/ 0 w 237"/>
                <a:gd name="T1" fmla="*/ 0 h 66"/>
                <a:gd name="T2" fmla="*/ 0 w 237"/>
                <a:gd name="T3" fmla="*/ 0 h 66"/>
                <a:gd name="T4" fmla="*/ 0 w 237"/>
                <a:gd name="T5" fmla="*/ 0 h 66"/>
                <a:gd name="T6" fmla="*/ 0 w 237"/>
                <a:gd name="T7" fmla="*/ 0 h 66"/>
                <a:gd name="T8" fmla="*/ 0 w 237"/>
                <a:gd name="T9" fmla="*/ 0 h 66"/>
                <a:gd name="T10" fmla="*/ 0 w 237"/>
                <a:gd name="T11" fmla="*/ 0 h 66"/>
                <a:gd name="T12" fmla="*/ 0 w 237"/>
                <a:gd name="T13" fmla="*/ 0 h 6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7" h="66">
                  <a:moveTo>
                    <a:pt x="27" y="0"/>
                  </a:moveTo>
                  <a:lnTo>
                    <a:pt x="0" y="31"/>
                  </a:lnTo>
                  <a:lnTo>
                    <a:pt x="116" y="59"/>
                  </a:lnTo>
                  <a:lnTo>
                    <a:pt x="171" y="66"/>
                  </a:lnTo>
                  <a:lnTo>
                    <a:pt x="237" y="61"/>
                  </a:lnTo>
                  <a:lnTo>
                    <a:pt x="168" y="28"/>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4" name="Freeform 137"/>
            <p:cNvSpPr>
              <a:spLocks/>
            </p:cNvSpPr>
            <p:nvPr/>
          </p:nvSpPr>
          <p:spPr bwMode="auto">
            <a:xfrm>
              <a:off x="410" y="2361"/>
              <a:ext cx="135" cy="42"/>
            </a:xfrm>
            <a:custGeom>
              <a:avLst/>
              <a:gdLst>
                <a:gd name="T0" fmla="*/ 0 w 678"/>
                <a:gd name="T1" fmla="*/ 0 h 211"/>
                <a:gd name="T2" fmla="*/ 0 w 678"/>
                <a:gd name="T3" fmla="*/ 0 h 211"/>
                <a:gd name="T4" fmla="*/ 0 w 678"/>
                <a:gd name="T5" fmla="*/ 0 h 211"/>
                <a:gd name="T6" fmla="*/ 0 w 678"/>
                <a:gd name="T7" fmla="*/ 0 h 211"/>
                <a:gd name="T8" fmla="*/ 0 w 678"/>
                <a:gd name="T9" fmla="*/ 0 h 211"/>
                <a:gd name="T10" fmla="*/ 0 w 678"/>
                <a:gd name="T11" fmla="*/ 0 h 211"/>
                <a:gd name="T12" fmla="*/ 0 w 678"/>
                <a:gd name="T13" fmla="*/ 0 h 211"/>
                <a:gd name="T14" fmla="*/ 0 w 678"/>
                <a:gd name="T15" fmla="*/ 0 h 211"/>
                <a:gd name="T16" fmla="*/ 0 w 678"/>
                <a:gd name="T17" fmla="*/ 0 h 211"/>
                <a:gd name="T18" fmla="*/ 0 w 678"/>
                <a:gd name="T19" fmla="*/ 0 h 211"/>
                <a:gd name="T20" fmla="*/ 0 w 678"/>
                <a:gd name="T21" fmla="*/ 0 h 211"/>
                <a:gd name="T22" fmla="*/ 0 w 678"/>
                <a:gd name="T23" fmla="*/ 0 h 211"/>
                <a:gd name="T24" fmla="*/ 0 w 678"/>
                <a:gd name="T25" fmla="*/ 0 h 211"/>
                <a:gd name="T26" fmla="*/ 0 w 678"/>
                <a:gd name="T27" fmla="*/ 0 h 211"/>
                <a:gd name="T28" fmla="*/ 0 w 678"/>
                <a:gd name="T29" fmla="*/ 0 h 211"/>
                <a:gd name="T30" fmla="*/ 0 w 678"/>
                <a:gd name="T31" fmla="*/ 0 h 211"/>
                <a:gd name="T32" fmla="*/ 0 w 678"/>
                <a:gd name="T33" fmla="*/ 0 h 211"/>
                <a:gd name="T34" fmla="*/ 0 w 678"/>
                <a:gd name="T35" fmla="*/ 0 h 211"/>
                <a:gd name="T36" fmla="*/ 0 w 678"/>
                <a:gd name="T37" fmla="*/ 0 h 21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8" h="211">
                  <a:moveTo>
                    <a:pt x="678" y="178"/>
                  </a:moveTo>
                  <a:lnTo>
                    <a:pt x="678" y="147"/>
                  </a:lnTo>
                  <a:lnTo>
                    <a:pt x="590" y="156"/>
                  </a:lnTo>
                  <a:lnTo>
                    <a:pt x="446" y="136"/>
                  </a:lnTo>
                  <a:lnTo>
                    <a:pt x="365" y="117"/>
                  </a:lnTo>
                  <a:lnTo>
                    <a:pt x="209" y="66"/>
                  </a:lnTo>
                  <a:lnTo>
                    <a:pt x="140" y="60"/>
                  </a:lnTo>
                  <a:lnTo>
                    <a:pt x="74" y="35"/>
                  </a:lnTo>
                  <a:lnTo>
                    <a:pt x="39" y="0"/>
                  </a:lnTo>
                  <a:lnTo>
                    <a:pt x="0" y="44"/>
                  </a:lnTo>
                  <a:lnTo>
                    <a:pt x="0" y="133"/>
                  </a:lnTo>
                  <a:lnTo>
                    <a:pt x="50" y="147"/>
                  </a:lnTo>
                  <a:lnTo>
                    <a:pt x="171" y="162"/>
                  </a:lnTo>
                  <a:lnTo>
                    <a:pt x="220" y="170"/>
                  </a:lnTo>
                  <a:lnTo>
                    <a:pt x="300" y="197"/>
                  </a:lnTo>
                  <a:lnTo>
                    <a:pt x="392" y="211"/>
                  </a:lnTo>
                  <a:lnTo>
                    <a:pt x="458" y="211"/>
                  </a:lnTo>
                  <a:lnTo>
                    <a:pt x="560" y="211"/>
                  </a:lnTo>
                  <a:lnTo>
                    <a:pt x="678"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5" name="Freeform 138"/>
            <p:cNvSpPr>
              <a:spLocks/>
            </p:cNvSpPr>
            <p:nvPr/>
          </p:nvSpPr>
          <p:spPr bwMode="auto">
            <a:xfrm>
              <a:off x="419" y="2337"/>
              <a:ext cx="45" cy="34"/>
            </a:xfrm>
            <a:custGeom>
              <a:avLst/>
              <a:gdLst>
                <a:gd name="T0" fmla="*/ 0 w 224"/>
                <a:gd name="T1" fmla="*/ 0 h 170"/>
                <a:gd name="T2" fmla="*/ 0 w 224"/>
                <a:gd name="T3" fmla="*/ 0 h 170"/>
                <a:gd name="T4" fmla="*/ 0 w 224"/>
                <a:gd name="T5" fmla="*/ 0 h 170"/>
                <a:gd name="T6" fmla="*/ 0 w 224"/>
                <a:gd name="T7" fmla="*/ 0 h 170"/>
                <a:gd name="T8" fmla="*/ 0 w 224"/>
                <a:gd name="T9" fmla="*/ 0 h 170"/>
                <a:gd name="T10" fmla="*/ 0 w 224"/>
                <a:gd name="T11" fmla="*/ 0 h 170"/>
                <a:gd name="T12" fmla="*/ 0 w 224"/>
                <a:gd name="T13" fmla="*/ 0 h 170"/>
                <a:gd name="T14" fmla="*/ 0 w 224"/>
                <a:gd name="T15" fmla="*/ 0 h 170"/>
                <a:gd name="T16" fmla="*/ 0 w 224"/>
                <a:gd name="T17" fmla="*/ 0 h 170"/>
                <a:gd name="T18" fmla="*/ 0 w 224"/>
                <a:gd name="T19" fmla="*/ 0 h 17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24" h="170">
                  <a:moveTo>
                    <a:pt x="216" y="12"/>
                  </a:moveTo>
                  <a:lnTo>
                    <a:pt x="210" y="95"/>
                  </a:lnTo>
                  <a:lnTo>
                    <a:pt x="224" y="114"/>
                  </a:lnTo>
                  <a:lnTo>
                    <a:pt x="173" y="170"/>
                  </a:lnTo>
                  <a:lnTo>
                    <a:pt x="105" y="170"/>
                  </a:lnTo>
                  <a:lnTo>
                    <a:pt x="28" y="145"/>
                  </a:lnTo>
                  <a:lnTo>
                    <a:pt x="0" y="112"/>
                  </a:lnTo>
                  <a:lnTo>
                    <a:pt x="16" y="89"/>
                  </a:lnTo>
                  <a:lnTo>
                    <a:pt x="20" y="0"/>
                  </a:lnTo>
                  <a:lnTo>
                    <a:pt x="216" y="12"/>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46" name="Oval 139"/>
          <p:cNvSpPr>
            <a:spLocks noChangeArrowheads="1"/>
          </p:cNvSpPr>
          <p:nvPr/>
        </p:nvSpPr>
        <p:spPr bwMode="auto">
          <a:xfrm>
            <a:off x="1851777" y="3682923"/>
            <a:ext cx="168107" cy="60398"/>
          </a:xfrm>
          <a:prstGeom prst="ellipse">
            <a:avLst/>
          </a:prstGeom>
          <a:solidFill>
            <a:srgbClr val="606060"/>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47" name="Rectangle 140"/>
          <p:cNvSpPr>
            <a:spLocks noChangeArrowheads="1"/>
          </p:cNvSpPr>
          <p:nvPr/>
        </p:nvSpPr>
        <p:spPr bwMode="auto">
          <a:xfrm>
            <a:off x="1913181" y="3563058"/>
            <a:ext cx="44292" cy="137520"/>
          </a:xfrm>
          <a:prstGeom prst="rect">
            <a:avLst/>
          </a:prstGeom>
          <a:solidFill>
            <a:srgbClr val="606060"/>
          </a:solidFill>
          <a:ln w="3175">
            <a:solidFill>
              <a:srgbClr val="000000"/>
            </a:solidFill>
            <a:miter lim="800000"/>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48" name="Group 141"/>
          <p:cNvGrpSpPr>
            <a:grpSpLocks/>
          </p:cNvGrpSpPr>
          <p:nvPr/>
        </p:nvGrpSpPr>
        <p:grpSpPr bwMode="auto">
          <a:xfrm>
            <a:off x="1835671" y="3511024"/>
            <a:ext cx="222464" cy="71547"/>
            <a:chOff x="182" y="2151"/>
            <a:chExt cx="221" cy="77"/>
          </a:xfrm>
        </p:grpSpPr>
        <p:sp>
          <p:nvSpPr>
            <p:cNvPr id="149" name="Freeform 142"/>
            <p:cNvSpPr>
              <a:spLocks/>
            </p:cNvSpPr>
            <p:nvPr/>
          </p:nvSpPr>
          <p:spPr bwMode="auto">
            <a:xfrm>
              <a:off x="182" y="2151"/>
              <a:ext cx="221" cy="77"/>
            </a:xfrm>
            <a:custGeom>
              <a:avLst/>
              <a:gdLst>
                <a:gd name="T0" fmla="*/ 0 w 1106"/>
                <a:gd name="T1" fmla="*/ 0 h 386"/>
                <a:gd name="T2" fmla="*/ 0 w 1106"/>
                <a:gd name="T3" fmla="*/ 0 h 386"/>
                <a:gd name="T4" fmla="*/ 0 w 1106"/>
                <a:gd name="T5" fmla="*/ 0 h 386"/>
                <a:gd name="T6" fmla="*/ 0 w 1106"/>
                <a:gd name="T7" fmla="*/ 0 h 386"/>
                <a:gd name="T8" fmla="*/ 0 w 1106"/>
                <a:gd name="T9" fmla="*/ 0 h 386"/>
                <a:gd name="T10" fmla="*/ 0 w 1106"/>
                <a:gd name="T11" fmla="*/ 0 h 386"/>
                <a:gd name="T12" fmla="*/ 0 w 1106"/>
                <a:gd name="T13" fmla="*/ 0 h 386"/>
                <a:gd name="T14" fmla="*/ 0 w 1106"/>
                <a:gd name="T15" fmla="*/ 0 h 38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106" h="386">
                  <a:moveTo>
                    <a:pt x="1106" y="202"/>
                  </a:moveTo>
                  <a:lnTo>
                    <a:pt x="1099" y="321"/>
                  </a:lnTo>
                  <a:lnTo>
                    <a:pt x="735" y="386"/>
                  </a:lnTo>
                  <a:lnTo>
                    <a:pt x="334" y="386"/>
                  </a:lnTo>
                  <a:lnTo>
                    <a:pt x="19" y="288"/>
                  </a:lnTo>
                  <a:lnTo>
                    <a:pt x="0" y="10"/>
                  </a:lnTo>
                  <a:lnTo>
                    <a:pt x="625" y="0"/>
                  </a:lnTo>
                  <a:lnTo>
                    <a:pt x="1106" y="202"/>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0" name="Freeform 143"/>
            <p:cNvSpPr>
              <a:spLocks/>
            </p:cNvSpPr>
            <p:nvPr/>
          </p:nvSpPr>
          <p:spPr bwMode="auto">
            <a:xfrm>
              <a:off x="187" y="2180"/>
              <a:ext cx="211" cy="45"/>
            </a:xfrm>
            <a:custGeom>
              <a:avLst/>
              <a:gdLst>
                <a:gd name="T0" fmla="*/ 0 w 1055"/>
                <a:gd name="T1" fmla="*/ 0 h 221"/>
                <a:gd name="T2" fmla="*/ 0 w 1055"/>
                <a:gd name="T3" fmla="*/ 0 h 221"/>
                <a:gd name="T4" fmla="*/ 0 w 1055"/>
                <a:gd name="T5" fmla="*/ 0 h 221"/>
                <a:gd name="T6" fmla="*/ 0 w 1055"/>
                <a:gd name="T7" fmla="*/ 0 h 221"/>
                <a:gd name="T8" fmla="*/ 0 w 1055"/>
                <a:gd name="T9" fmla="*/ 0 h 221"/>
                <a:gd name="T10" fmla="*/ 0 w 1055"/>
                <a:gd name="T11" fmla="*/ 0 h 221"/>
                <a:gd name="T12" fmla="*/ 0 w 1055"/>
                <a:gd name="T13" fmla="*/ 0 h 221"/>
                <a:gd name="T14" fmla="*/ 0 w 1055"/>
                <a:gd name="T15" fmla="*/ 0 h 221"/>
                <a:gd name="T16" fmla="*/ 0 w 1055"/>
                <a:gd name="T17" fmla="*/ 0 h 22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 h="221">
                  <a:moveTo>
                    <a:pt x="1055" y="75"/>
                  </a:moveTo>
                  <a:lnTo>
                    <a:pt x="1049" y="162"/>
                  </a:lnTo>
                  <a:lnTo>
                    <a:pt x="721" y="221"/>
                  </a:lnTo>
                  <a:lnTo>
                    <a:pt x="296" y="221"/>
                  </a:lnTo>
                  <a:lnTo>
                    <a:pt x="0" y="119"/>
                  </a:lnTo>
                  <a:lnTo>
                    <a:pt x="0" y="0"/>
                  </a:lnTo>
                  <a:lnTo>
                    <a:pt x="283" y="119"/>
                  </a:lnTo>
                  <a:lnTo>
                    <a:pt x="716" y="124"/>
                  </a:lnTo>
                  <a:lnTo>
                    <a:pt x="1055" y="7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51" name="Freeform 144"/>
          <p:cNvSpPr>
            <a:spLocks/>
          </p:cNvSpPr>
          <p:nvPr/>
        </p:nvSpPr>
        <p:spPr bwMode="auto">
          <a:xfrm>
            <a:off x="1828626" y="3435758"/>
            <a:ext cx="304000" cy="260174"/>
          </a:xfrm>
          <a:custGeom>
            <a:avLst/>
            <a:gdLst>
              <a:gd name="T0" fmla="*/ 2147483646 w 1507"/>
              <a:gd name="T1" fmla="*/ 2147483646 h 1401"/>
              <a:gd name="T2" fmla="*/ 2147483646 w 1507"/>
              <a:gd name="T3" fmla="*/ 2147483646 h 1401"/>
              <a:gd name="T4" fmla="*/ 2147483646 w 1507"/>
              <a:gd name="T5" fmla="*/ 2147483646 h 1401"/>
              <a:gd name="T6" fmla="*/ 2147483646 w 1507"/>
              <a:gd name="T7" fmla="*/ 2147483646 h 1401"/>
              <a:gd name="T8" fmla="*/ 2147483646 w 1507"/>
              <a:gd name="T9" fmla="*/ 2147483646 h 1401"/>
              <a:gd name="T10" fmla="*/ 2147483646 w 1507"/>
              <a:gd name="T11" fmla="*/ 2147483646 h 1401"/>
              <a:gd name="T12" fmla="*/ 2147483646 w 1507"/>
              <a:gd name="T13" fmla="*/ 2147483646 h 1401"/>
              <a:gd name="T14" fmla="*/ 2147483646 w 1507"/>
              <a:gd name="T15" fmla="*/ 2147483646 h 1401"/>
              <a:gd name="T16" fmla="*/ 2147483646 w 1507"/>
              <a:gd name="T17" fmla="*/ 2147483646 h 1401"/>
              <a:gd name="T18" fmla="*/ 2147483646 w 1507"/>
              <a:gd name="T19" fmla="*/ 2147483646 h 1401"/>
              <a:gd name="T20" fmla="*/ 2147483646 w 1507"/>
              <a:gd name="T21" fmla="*/ 2147483646 h 1401"/>
              <a:gd name="T22" fmla="*/ 2147483646 w 1507"/>
              <a:gd name="T23" fmla="*/ 2147483646 h 1401"/>
              <a:gd name="T24" fmla="*/ 2147483646 w 1507"/>
              <a:gd name="T25" fmla="*/ 2147483646 h 1401"/>
              <a:gd name="T26" fmla="*/ 2147483646 w 1507"/>
              <a:gd name="T27" fmla="*/ 2147483646 h 1401"/>
              <a:gd name="T28" fmla="*/ 2147483646 w 1507"/>
              <a:gd name="T29" fmla="*/ 2147483646 h 1401"/>
              <a:gd name="T30" fmla="*/ 2147483646 w 1507"/>
              <a:gd name="T31" fmla="*/ 2147483646 h 1401"/>
              <a:gd name="T32" fmla="*/ 2147483646 w 1507"/>
              <a:gd name="T33" fmla="*/ 2147483646 h 1401"/>
              <a:gd name="T34" fmla="*/ 2147483646 w 1507"/>
              <a:gd name="T35" fmla="*/ 2147483646 h 1401"/>
              <a:gd name="T36" fmla="*/ 2147483646 w 1507"/>
              <a:gd name="T37" fmla="*/ 2147483646 h 1401"/>
              <a:gd name="T38" fmla="*/ 2147483646 w 1507"/>
              <a:gd name="T39" fmla="*/ 0 h 1401"/>
              <a:gd name="T40" fmla="*/ 2147483646 w 1507"/>
              <a:gd name="T41" fmla="*/ 2147483646 h 1401"/>
              <a:gd name="T42" fmla="*/ 2147483646 w 1507"/>
              <a:gd name="T43" fmla="*/ 2147483646 h 1401"/>
              <a:gd name="T44" fmla="*/ 2147483646 w 1507"/>
              <a:gd name="T45" fmla="*/ 2147483646 h 1401"/>
              <a:gd name="T46" fmla="*/ 2147483646 w 1507"/>
              <a:gd name="T47" fmla="*/ 2147483646 h 1401"/>
              <a:gd name="T48" fmla="*/ 2147483646 w 1507"/>
              <a:gd name="T49" fmla="*/ 2147483646 h 1401"/>
              <a:gd name="T50" fmla="*/ 0 w 1507"/>
              <a:gd name="T51" fmla="*/ 2147483646 h 1401"/>
              <a:gd name="T52" fmla="*/ 2147483646 w 1507"/>
              <a:gd name="T53" fmla="*/ 2147483646 h 1401"/>
              <a:gd name="T54" fmla="*/ 2147483646 w 1507"/>
              <a:gd name="T55" fmla="*/ 2147483646 h 1401"/>
              <a:gd name="T56" fmla="*/ 2147483646 w 1507"/>
              <a:gd name="T57" fmla="*/ 2147483646 h 1401"/>
              <a:gd name="T58" fmla="*/ 2147483646 w 1507"/>
              <a:gd name="T59" fmla="*/ 2147483646 h 1401"/>
              <a:gd name="T60" fmla="*/ 2147483646 w 1507"/>
              <a:gd name="T61" fmla="*/ 2147483646 h 1401"/>
              <a:gd name="T62" fmla="*/ 2147483646 w 1507"/>
              <a:gd name="T63" fmla="*/ 2147483646 h 1401"/>
              <a:gd name="T64" fmla="*/ 2147483646 w 1507"/>
              <a:gd name="T65" fmla="*/ 2147483646 h 1401"/>
              <a:gd name="T66" fmla="*/ 2147483646 w 1507"/>
              <a:gd name="T67" fmla="*/ 2147483646 h 1401"/>
              <a:gd name="T68" fmla="*/ 2147483646 w 1507"/>
              <a:gd name="T69" fmla="*/ 2147483646 h 1401"/>
              <a:gd name="T70" fmla="*/ 2147483646 w 1507"/>
              <a:gd name="T71" fmla="*/ 2147483646 h 1401"/>
              <a:gd name="T72" fmla="*/ 2147483646 w 1507"/>
              <a:gd name="T73" fmla="*/ 2147483646 h 1401"/>
              <a:gd name="T74" fmla="*/ 2147483646 w 1507"/>
              <a:gd name="T75" fmla="*/ 2147483646 h 1401"/>
              <a:gd name="T76" fmla="*/ 2147483646 w 1507"/>
              <a:gd name="T77" fmla="*/ 2147483646 h 1401"/>
              <a:gd name="T78" fmla="*/ 2147483646 w 1507"/>
              <a:gd name="T79" fmla="*/ 2147483646 h 1401"/>
              <a:gd name="T80" fmla="*/ 2147483646 w 1507"/>
              <a:gd name="T81" fmla="*/ 2147483646 h 1401"/>
              <a:gd name="T82" fmla="*/ 2147483646 w 1507"/>
              <a:gd name="T83" fmla="*/ 2147483646 h 1401"/>
              <a:gd name="T84" fmla="*/ 2147483646 w 1507"/>
              <a:gd name="T85" fmla="*/ 2147483646 h 1401"/>
              <a:gd name="T86" fmla="*/ 2147483646 w 1507"/>
              <a:gd name="T87" fmla="*/ 2147483646 h 1401"/>
              <a:gd name="T88" fmla="*/ 2147483646 w 1507"/>
              <a:gd name="T89" fmla="*/ 2147483646 h 1401"/>
              <a:gd name="T90" fmla="*/ 2147483646 w 1507"/>
              <a:gd name="T91" fmla="*/ 2147483646 h 1401"/>
              <a:gd name="T92" fmla="*/ 2147483646 w 1507"/>
              <a:gd name="T93" fmla="*/ 2147483646 h 1401"/>
              <a:gd name="T94" fmla="*/ 2147483646 w 1507"/>
              <a:gd name="T95" fmla="*/ 2147483646 h 1401"/>
              <a:gd name="T96" fmla="*/ 2147483646 w 1507"/>
              <a:gd name="T97" fmla="*/ 2147483646 h 1401"/>
              <a:gd name="T98" fmla="*/ 2147483646 w 1507"/>
              <a:gd name="T99" fmla="*/ 2147483646 h 1401"/>
              <a:gd name="T100" fmla="*/ 2147483646 w 1507"/>
              <a:gd name="T101" fmla="*/ 2147483646 h 1401"/>
              <a:gd name="T102" fmla="*/ 2147483646 w 1507"/>
              <a:gd name="T103" fmla="*/ 2147483646 h 1401"/>
              <a:gd name="T104" fmla="*/ 2147483646 w 1507"/>
              <a:gd name="T105" fmla="*/ 2147483646 h 1401"/>
              <a:gd name="T106" fmla="*/ 2147483646 w 1507"/>
              <a:gd name="T107" fmla="*/ 2147483646 h 1401"/>
              <a:gd name="T108" fmla="*/ 2147483646 w 1507"/>
              <a:gd name="T109" fmla="*/ 2147483646 h 1401"/>
              <a:gd name="T110" fmla="*/ 2147483646 w 1507"/>
              <a:gd name="T111" fmla="*/ 2147483646 h 1401"/>
              <a:gd name="T112" fmla="*/ 2147483646 w 1507"/>
              <a:gd name="T113" fmla="*/ 2147483646 h 1401"/>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1507" h="1401">
                <a:moveTo>
                  <a:pt x="1501" y="789"/>
                </a:moveTo>
                <a:lnTo>
                  <a:pt x="1493" y="649"/>
                </a:lnTo>
                <a:lnTo>
                  <a:pt x="1495" y="499"/>
                </a:lnTo>
                <a:lnTo>
                  <a:pt x="1489" y="385"/>
                </a:lnTo>
                <a:lnTo>
                  <a:pt x="1424" y="317"/>
                </a:lnTo>
                <a:lnTo>
                  <a:pt x="1345" y="278"/>
                </a:lnTo>
                <a:lnTo>
                  <a:pt x="1166" y="213"/>
                </a:lnTo>
                <a:lnTo>
                  <a:pt x="903" y="149"/>
                </a:lnTo>
                <a:lnTo>
                  <a:pt x="852" y="144"/>
                </a:lnTo>
                <a:lnTo>
                  <a:pt x="817" y="149"/>
                </a:lnTo>
                <a:lnTo>
                  <a:pt x="809" y="135"/>
                </a:lnTo>
                <a:lnTo>
                  <a:pt x="794" y="122"/>
                </a:lnTo>
                <a:lnTo>
                  <a:pt x="777" y="125"/>
                </a:lnTo>
                <a:lnTo>
                  <a:pt x="754" y="126"/>
                </a:lnTo>
                <a:lnTo>
                  <a:pt x="745" y="100"/>
                </a:lnTo>
                <a:lnTo>
                  <a:pt x="726" y="85"/>
                </a:lnTo>
                <a:lnTo>
                  <a:pt x="704" y="82"/>
                </a:lnTo>
                <a:lnTo>
                  <a:pt x="678" y="82"/>
                </a:lnTo>
                <a:lnTo>
                  <a:pt x="681" y="59"/>
                </a:lnTo>
                <a:lnTo>
                  <a:pt x="651" y="0"/>
                </a:lnTo>
                <a:lnTo>
                  <a:pt x="37" y="16"/>
                </a:lnTo>
                <a:lnTo>
                  <a:pt x="39" y="79"/>
                </a:lnTo>
                <a:lnTo>
                  <a:pt x="28" y="135"/>
                </a:lnTo>
                <a:lnTo>
                  <a:pt x="18" y="175"/>
                </a:lnTo>
                <a:lnTo>
                  <a:pt x="8" y="225"/>
                </a:lnTo>
                <a:lnTo>
                  <a:pt x="0" y="306"/>
                </a:lnTo>
                <a:lnTo>
                  <a:pt x="9" y="354"/>
                </a:lnTo>
                <a:lnTo>
                  <a:pt x="28" y="399"/>
                </a:lnTo>
                <a:lnTo>
                  <a:pt x="49" y="438"/>
                </a:lnTo>
                <a:lnTo>
                  <a:pt x="78" y="451"/>
                </a:lnTo>
                <a:lnTo>
                  <a:pt x="122" y="464"/>
                </a:lnTo>
                <a:lnTo>
                  <a:pt x="180" y="483"/>
                </a:lnTo>
                <a:lnTo>
                  <a:pt x="208" y="514"/>
                </a:lnTo>
                <a:lnTo>
                  <a:pt x="240" y="541"/>
                </a:lnTo>
                <a:lnTo>
                  <a:pt x="289" y="564"/>
                </a:lnTo>
                <a:lnTo>
                  <a:pt x="348" y="582"/>
                </a:lnTo>
                <a:lnTo>
                  <a:pt x="441" y="594"/>
                </a:lnTo>
                <a:lnTo>
                  <a:pt x="520" y="594"/>
                </a:lnTo>
                <a:lnTo>
                  <a:pt x="581" y="587"/>
                </a:lnTo>
                <a:lnTo>
                  <a:pt x="637" y="582"/>
                </a:lnTo>
                <a:lnTo>
                  <a:pt x="678" y="604"/>
                </a:lnTo>
                <a:lnTo>
                  <a:pt x="758" y="600"/>
                </a:lnTo>
                <a:lnTo>
                  <a:pt x="1078" y="645"/>
                </a:lnTo>
                <a:lnTo>
                  <a:pt x="1165" y="655"/>
                </a:lnTo>
                <a:lnTo>
                  <a:pt x="1133" y="845"/>
                </a:lnTo>
                <a:lnTo>
                  <a:pt x="1130" y="942"/>
                </a:lnTo>
                <a:lnTo>
                  <a:pt x="1149" y="1066"/>
                </a:lnTo>
                <a:lnTo>
                  <a:pt x="1169" y="1212"/>
                </a:lnTo>
                <a:lnTo>
                  <a:pt x="1169" y="1363"/>
                </a:lnTo>
                <a:lnTo>
                  <a:pt x="1244" y="1385"/>
                </a:lnTo>
                <a:lnTo>
                  <a:pt x="1339" y="1395"/>
                </a:lnTo>
                <a:lnTo>
                  <a:pt x="1420" y="1401"/>
                </a:lnTo>
                <a:lnTo>
                  <a:pt x="1507" y="1391"/>
                </a:lnTo>
                <a:lnTo>
                  <a:pt x="1501" y="1252"/>
                </a:lnTo>
                <a:lnTo>
                  <a:pt x="1501" y="1024"/>
                </a:lnTo>
                <a:lnTo>
                  <a:pt x="1501" y="824"/>
                </a:lnTo>
                <a:lnTo>
                  <a:pt x="1501" y="789"/>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2" name="Freeform 145"/>
          <p:cNvSpPr>
            <a:spLocks/>
          </p:cNvSpPr>
          <p:nvPr/>
        </p:nvSpPr>
        <p:spPr bwMode="auto">
          <a:xfrm>
            <a:off x="1832652" y="3445980"/>
            <a:ext cx="296954" cy="246235"/>
          </a:xfrm>
          <a:custGeom>
            <a:avLst/>
            <a:gdLst>
              <a:gd name="T0" fmla="*/ 2147483646 w 1473"/>
              <a:gd name="T1" fmla="*/ 2147483646 h 1324"/>
              <a:gd name="T2" fmla="*/ 2147483646 w 1473"/>
              <a:gd name="T3" fmla="*/ 2147483646 h 1324"/>
              <a:gd name="T4" fmla="*/ 2147483646 w 1473"/>
              <a:gd name="T5" fmla="*/ 2147483646 h 1324"/>
              <a:gd name="T6" fmla="*/ 2147483646 w 1473"/>
              <a:gd name="T7" fmla="*/ 2147483646 h 1324"/>
              <a:gd name="T8" fmla="*/ 2147483646 w 1473"/>
              <a:gd name="T9" fmla="*/ 2147483646 h 1324"/>
              <a:gd name="T10" fmla="*/ 2147483646 w 1473"/>
              <a:gd name="T11" fmla="*/ 2147483646 h 1324"/>
              <a:gd name="T12" fmla="*/ 2147483646 w 1473"/>
              <a:gd name="T13" fmla="*/ 2147483646 h 1324"/>
              <a:gd name="T14" fmla="*/ 2147483646 w 1473"/>
              <a:gd name="T15" fmla="*/ 2147483646 h 1324"/>
              <a:gd name="T16" fmla="*/ 2147483646 w 1473"/>
              <a:gd name="T17" fmla="*/ 2147483646 h 1324"/>
              <a:gd name="T18" fmla="*/ 2147483646 w 1473"/>
              <a:gd name="T19" fmla="*/ 2147483646 h 1324"/>
              <a:gd name="T20" fmla="*/ 2147483646 w 1473"/>
              <a:gd name="T21" fmla="*/ 2147483646 h 1324"/>
              <a:gd name="T22" fmla="*/ 2147483646 w 1473"/>
              <a:gd name="T23" fmla="*/ 2147483646 h 1324"/>
              <a:gd name="T24" fmla="*/ 2147483646 w 1473"/>
              <a:gd name="T25" fmla="*/ 2147483646 h 1324"/>
              <a:gd name="T26" fmla="*/ 2147483646 w 1473"/>
              <a:gd name="T27" fmla="*/ 2147483646 h 1324"/>
              <a:gd name="T28" fmla="*/ 2147483646 w 1473"/>
              <a:gd name="T29" fmla="*/ 2147483646 h 1324"/>
              <a:gd name="T30" fmla="*/ 2147483646 w 1473"/>
              <a:gd name="T31" fmla="*/ 2147483646 h 1324"/>
              <a:gd name="T32" fmla="*/ 2147483646 w 1473"/>
              <a:gd name="T33" fmla="*/ 2147483646 h 1324"/>
              <a:gd name="T34" fmla="*/ 2147483646 w 1473"/>
              <a:gd name="T35" fmla="*/ 2147483646 h 1324"/>
              <a:gd name="T36" fmla="*/ 2147483646 w 1473"/>
              <a:gd name="T37" fmla="*/ 2147483646 h 1324"/>
              <a:gd name="T38" fmla="*/ 2147483646 w 1473"/>
              <a:gd name="T39" fmla="*/ 2147483646 h 1324"/>
              <a:gd name="T40" fmla="*/ 2147483646 w 1473"/>
              <a:gd name="T41" fmla="*/ 2147483646 h 1324"/>
              <a:gd name="T42" fmla="*/ 2147483646 w 1473"/>
              <a:gd name="T43" fmla="*/ 2147483646 h 1324"/>
              <a:gd name="T44" fmla="*/ 2147483646 w 1473"/>
              <a:gd name="T45" fmla="*/ 2147483646 h 1324"/>
              <a:gd name="T46" fmla="*/ 2147483646 w 1473"/>
              <a:gd name="T47" fmla="*/ 2147483646 h 1324"/>
              <a:gd name="T48" fmla="*/ 2147483646 w 1473"/>
              <a:gd name="T49" fmla="*/ 2147483646 h 1324"/>
              <a:gd name="T50" fmla="*/ 2147483646 w 1473"/>
              <a:gd name="T51" fmla="*/ 2147483646 h 1324"/>
              <a:gd name="T52" fmla="*/ 2147483646 w 1473"/>
              <a:gd name="T53" fmla="*/ 2147483646 h 1324"/>
              <a:gd name="T54" fmla="*/ 2147483646 w 1473"/>
              <a:gd name="T55" fmla="*/ 2147483646 h 1324"/>
              <a:gd name="T56" fmla="*/ 2147483646 w 1473"/>
              <a:gd name="T57" fmla="*/ 2147483646 h 1324"/>
              <a:gd name="T58" fmla="*/ 2147483646 w 1473"/>
              <a:gd name="T59" fmla="*/ 2147483646 h 1324"/>
              <a:gd name="T60" fmla="*/ 2147483646 w 1473"/>
              <a:gd name="T61" fmla="*/ 2147483646 h 1324"/>
              <a:gd name="T62" fmla="*/ 2147483646 w 1473"/>
              <a:gd name="T63" fmla="*/ 2147483646 h 1324"/>
              <a:gd name="T64" fmla="*/ 2147483646 w 1473"/>
              <a:gd name="T65" fmla="*/ 2147483646 h 1324"/>
              <a:gd name="T66" fmla="*/ 2147483646 w 1473"/>
              <a:gd name="T67" fmla="*/ 2147483646 h 1324"/>
              <a:gd name="T68" fmla="*/ 2147483646 w 1473"/>
              <a:gd name="T69" fmla="*/ 2147483646 h 1324"/>
              <a:gd name="T70" fmla="*/ 2147483646 w 1473"/>
              <a:gd name="T71" fmla="*/ 2147483646 h 1324"/>
              <a:gd name="T72" fmla="*/ 2147483646 w 1473"/>
              <a:gd name="T73" fmla="*/ 2147483646 h 1324"/>
              <a:gd name="T74" fmla="*/ 2147483646 w 1473"/>
              <a:gd name="T75" fmla="*/ 2147483646 h 1324"/>
              <a:gd name="T76" fmla="*/ 2147483646 w 1473"/>
              <a:gd name="T77" fmla="*/ 2147483646 h 1324"/>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473" h="1324">
                <a:moveTo>
                  <a:pt x="49" y="23"/>
                </a:moveTo>
                <a:lnTo>
                  <a:pt x="46" y="66"/>
                </a:lnTo>
                <a:lnTo>
                  <a:pt x="29" y="49"/>
                </a:lnTo>
                <a:lnTo>
                  <a:pt x="10" y="144"/>
                </a:lnTo>
                <a:lnTo>
                  <a:pt x="0" y="254"/>
                </a:lnTo>
                <a:lnTo>
                  <a:pt x="39" y="367"/>
                </a:lnTo>
                <a:lnTo>
                  <a:pt x="130" y="393"/>
                </a:lnTo>
                <a:lnTo>
                  <a:pt x="120" y="367"/>
                </a:lnTo>
                <a:lnTo>
                  <a:pt x="169" y="406"/>
                </a:lnTo>
                <a:lnTo>
                  <a:pt x="211" y="449"/>
                </a:lnTo>
                <a:lnTo>
                  <a:pt x="306" y="494"/>
                </a:lnTo>
                <a:lnTo>
                  <a:pt x="421" y="504"/>
                </a:lnTo>
                <a:lnTo>
                  <a:pt x="562" y="511"/>
                </a:lnTo>
                <a:lnTo>
                  <a:pt x="620" y="504"/>
                </a:lnTo>
                <a:lnTo>
                  <a:pt x="569" y="481"/>
                </a:lnTo>
                <a:lnTo>
                  <a:pt x="546" y="423"/>
                </a:lnTo>
                <a:lnTo>
                  <a:pt x="588" y="471"/>
                </a:lnTo>
                <a:lnTo>
                  <a:pt x="641" y="501"/>
                </a:lnTo>
                <a:lnTo>
                  <a:pt x="688" y="527"/>
                </a:lnTo>
                <a:lnTo>
                  <a:pt x="737" y="520"/>
                </a:lnTo>
                <a:lnTo>
                  <a:pt x="706" y="497"/>
                </a:lnTo>
                <a:lnTo>
                  <a:pt x="672" y="469"/>
                </a:lnTo>
                <a:lnTo>
                  <a:pt x="725" y="488"/>
                </a:lnTo>
                <a:lnTo>
                  <a:pt x="776" y="527"/>
                </a:lnTo>
                <a:lnTo>
                  <a:pt x="946" y="546"/>
                </a:lnTo>
                <a:lnTo>
                  <a:pt x="1114" y="572"/>
                </a:lnTo>
                <a:lnTo>
                  <a:pt x="1165" y="585"/>
                </a:lnTo>
                <a:lnTo>
                  <a:pt x="1122" y="833"/>
                </a:lnTo>
                <a:lnTo>
                  <a:pt x="1155" y="1063"/>
                </a:lnTo>
                <a:lnTo>
                  <a:pt x="1159" y="1288"/>
                </a:lnTo>
                <a:lnTo>
                  <a:pt x="1266" y="1310"/>
                </a:lnTo>
                <a:lnTo>
                  <a:pt x="1360" y="1324"/>
                </a:lnTo>
                <a:lnTo>
                  <a:pt x="1473" y="1321"/>
                </a:lnTo>
                <a:lnTo>
                  <a:pt x="1468" y="998"/>
                </a:lnTo>
                <a:lnTo>
                  <a:pt x="1468" y="729"/>
                </a:lnTo>
                <a:lnTo>
                  <a:pt x="1451" y="579"/>
                </a:lnTo>
                <a:lnTo>
                  <a:pt x="1465" y="485"/>
                </a:lnTo>
                <a:lnTo>
                  <a:pt x="1455" y="381"/>
                </a:lnTo>
                <a:lnTo>
                  <a:pt x="1436" y="314"/>
                </a:lnTo>
                <a:lnTo>
                  <a:pt x="1355" y="261"/>
                </a:lnTo>
                <a:lnTo>
                  <a:pt x="1253" y="215"/>
                </a:lnTo>
                <a:lnTo>
                  <a:pt x="1057" y="150"/>
                </a:lnTo>
                <a:lnTo>
                  <a:pt x="897" y="105"/>
                </a:lnTo>
                <a:lnTo>
                  <a:pt x="809" y="98"/>
                </a:lnTo>
                <a:lnTo>
                  <a:pt x="773" y="150"/>
                </a:lnTo>
                <a:lnTo>
                  <a:pt x="662" y="205"/>
                </a:lnTo>
                <a:lnTo>
                  <a:pt x="722" y="157"/>
                </a:lnTo>
                <a:lnTo>
                  <a:pt x="767" y="131"/>
                </a:lnTo>
                <a:lnTo>
                  <a:pt x="783" y="95"/>
                </a:lnTo>
                <a:lnTo>
                  <a:pt x="776" y="79"/>
                </a:lnTo>
                <a:lnTo>
                  <a:pt x="744" y="79"/>
                </a:lnTo>
                <a:lnTo>
                  <a:pt x="725" y="98"/>
                </a:lnTo>
                <a:lnTo>
                  <a:pt x="706" y="117"/>
                </a:lnTo>
                <a:lnTo>
                  <a:pt x="656" y="137"/>
                </a:lnTo>
                <a:lnTo>
                  <a:pt x="702" y="98"/>
                </a:lnTo>
                <a:lnTo>
                  <a:pt x="722" y="68"/>
                </a:lnTo>
                <a:lnTo>
                  <a:pt x="708" y="49"/>
                </a:lnTo>
                <a:lnTo>
                  <a:pt x="669" y="36"/>
                </a:lnTo>
                <a:lnTo>
                  <a:pt x="618" y="82"/>
                </a:lnTo>
                <a:lnTo>
                  <a:pt x="569" y="112"/>
                </a:lnTo>
                <a:lnTo>
                  <a:pt x="627" y="45"/>
                </a:lnTo>
                <a:lnTo>
                  <a:pt x="646" y="20"/>
                </a:lnTo>
                <a:lnTo>
                  <a:pt x="646" y="0"/>
                </a:lnTo>
                <a:lnTo>
                  <a:pt x="597" y="7"/>
                </a:lnTo>
                <a:lnTo>
                  <a:pt x="553" y="40"/>
                </a:lnTo>
                <a:lnTo>
                  <a:pt x="523" y="63"/>
                </a:lnTo>
                <a:lnTo>
                  <a:pt x="383" y="75"/>
                </a:lnTo>
                <a:lnTo>
                  <a:pt x="386" y="40"/>
                </a:lnTo>
                <a:lnTo>
                  <a:pt x="345" y="26"/>
                </a:lnTo>
                <a:lnTo>
                  <a:pt x="345" y="72"/>
                </a:lnTo>
                <a:lnTo>
                  <a:pt x="303" y="82"/>
                </a:lnTo>
                <a:lnTo>
                  <a:pt x="211" y="95"/>
                </a:lnTo>
                <a:lnTo>
                  <a:pt x="218" y="45"/>
                </a:lnTo>
                <a:lnTo>
                  <a:pt x="185" y="45"/>
                </a:lnTo>
                <a:lnTo>
                  <a:pt x="182" y="95"/>
                </a:lnTo>
                <a:lnTo>
                  <a:pt x="130" y="91"/>
                </a:lnTo>
                <a:lnTo>
                  <a:pt x="75" y="79"/>
                </a:lnTo>
                <a:lnTo>
                  <a:pt x="72" y="40"/>
                </a:lnTo>
                <a:lnTo>
                  <a:pt x="49" y="23"/>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3" name="Freeform 146"/>
          <p:cNvSpPr>
            <a:spLocks/>
          </p:cNvSpPr>
          <p:nvPr/>
        </p:nvSpPr>
        <p:spPr bwMode="auto">
          <a:xfrm>
            <a:off x="1873923" y="3486864"/>
            <a:ext cx="40265" cy="6504"/>
          </a:xfrm>
          <a:custGeom>
            <a:avLst/>
            <a:gdLst>
              <a:gd name="T0" fmla="*/ 0 w 199"/>
              <a:gd name="T1" fmla="*/ 0 h 33"/>
              <a:gd name="T2" fmla="*/ 2147483646 w 199"/>
              <a:gd name="T3" fmla="*/ 2147483646 h 33"/>
              <a:gd name="T4" fmla="*/ 2147483646 w 199"/>
              <a:gd name="T5" fmla="*/ 2147483646 h 33"/>
              <a:gd name="T6" fmla="*/ 0 w 199"/>
              <a:gd name="T7" fmla="*/ 0 h 3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9" h="33">
                <a:moveTo>
                  <a:pt x="0" y="0"/>
                </a:moveTo>
                <a:lnTo>
                  <a:pt x="93" y="33"/>
                </a:lnTo>
                <a:lnTo>
                  <a:pt x="199" y="2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4" name="Freeform 147"/>
          <p:cNvSpPr>
            <a:spLocks/>
          </p:cNvSpPr>
          <p:nvPr/>
        </p:nvSpPr>
        <p:spPr bwMode="auto">
          <a:xfrm>
            <a:off x="1833658" y="3476643"/>
            <a:ext cx="25166" cy="7434"/>
          </a:xfrm>
          <a:custGeom>
            <a:avLst/>
            <a:gdLst>
              <a:gd name="T0" fmla="*/ 0 w 122"/>
              <a:gd name="T1" fmla="*/ 0 h 40"/>
              <a:gd name="T2" fmla="*/ 2147483646 w 122"/>
              <a:gd name="T3" fmla="*/ 2147483646 h 40"/>
              <a:gd name="T4" fmla="*/ 2147483646 w 122"/>
              <a:gd name="T5" fmla="*/ 2147483646 h 40"/>
              <a:gd name="T6" fmla="*/ 2147483646 w 122"/>
              <a:gd name="T7" fmla="*/ 2147483646 h 40"/>
              <a:gd name="T8" fmla="*/ 0 w 122"/>
              <a:gd name="T9" fmla="*/ 0 h 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22" h="40">
                <a:moveTo>
                  <a:pt x="0" y="0"/>
                </a:moveTo>
                <a:lnTo>
                  <a:pt x="32" y="25"/>
                </a:lnTo>
                <a:lnTo>
                  <a:pt x="122" y="38"/>
                </a:lnTo>
                <a:lnTo>
                  <a:pt x="30" y="40"/>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5" name="Freeform 148"/>
          <p:cNvSpPr>
            <a:spLocks/>
          </p:cNvSpPr>
          <p:nvPr/>
        </p:nvSpPr>
        <p:spPr bwMode="auto">
          <a:xfrm>
            <a:off x="1936334" y="3471068"/>
            <a:ext cx="38252" cy="18584"/>
          </a:xfrm>
          <a:custGeom>
            <a:avLst/>
            <a:gdLst>
              <a:gd name="T0" fmla="*/ 0 w 187"/>
              <a:gd name="T1" fmla="*/ 0 h 102"/>
              <a:gd name="T2" fmla="*/ 2147483646 w 187"/>
              <a:gd name="T3" fmla="*/ 2147483646 h 102"/>
              <a:gd name="T4" fmla="*/ 2147483646 w 187"/>
              <a:gd name="T5" fmla="*/ 2147483646 h 102"/>
              <a:gd name="T6" fmla="*/ 2147483646 w 187"/>
              <a:gd name="T7" fmla="*/ 2147483646 h 102"/>
              <a:gd name="T8" fmla="*/ 2147483646 w 187"/>
              <a:gd name="T9" fmla="*/ 2147483646 h 102"/>
              <a:gd name="T10" fmla="*/ 2147483646 w 187"/>
              <a:gd name="T11" fmla="*/ 2147483646 h 102"/>
              <a:gd name="T12" fmla="*/ 2147483646 w 187"/>
              <a:gd name="T13" fmla="*/ 2147483646 h 102"/>
              <a:gd name="T14" fmla="*/ 2147483646 w 187"/>
              <a:gd name="T15" fmla="*/ 2147483646 h 102"/>
              <a:gd name="T16" fmla="*/ 0 w 187"/>
              <a:gd name="T17" fmla="*/ 0 h 10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87" h="102">
                <a:moveTo>
                  <a:pt x="0" y="0"/>
                </a:moveTo>
                <a:lnTo>
                  <a:pt x="84" y="9"/>
                </a:lnTo>
                <a:lnTo>
                  <a:pt x="101" y="23"/>
                </a:lnTo>
                <a:lnTo>
                  <a:pt x="101" y="54"/>
                </a:lnTo>
                <a:lnTo>
                  <a:pt x="106" y="89"/>
                </a:lnTo>
                <a:lnTo>
                  <a:pt x="187" y="102"/>
                </a:lnTo>
                <a:lnTo>
                  <a:pt x="90" y="98"/>
                </a:lnTo>
                <a:lnTo>
                  <a:pt x="7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6" name="Freeform 149"/>
          <p:cNvSpPr>
            <a:spLocks/>
          </p:cNvSpPr>
          <p:nvPr/>
        </p:nvSpPr>
        <p:spPr bwMode="auto">
          <a:xfrm>
            <a:off x="1974586" y="3513811"/>
            <a:ext cx="122808" cy="27876"/>
          </a:xfrm>
          <a:custGeom>
            <a:avLst/>
            <a:gdLst>
              <a:gd name="T0" fmla="*/ 0 w 609"/>
              <a:gd name="T1" fmla="*/ 0 h 150"/>
              <a:gd name="T2" fmla="*/ 2147483646 w 609"/>
              <a:gd name="T3" fmla="*/ 2147483646 h 150"/>
              <a:gd name="T4" fmla="*/ 2147483646 w 609"/>
              <a:gd name="T5" fmla="*/ 2147483646 h 150"/>
              <a:gd name="T6" fmla="*/ 2147483646 w 609"/>
              <a:gd name="T7" fmla="*/ 2147483646 h 150"/>
              <a:gd name="T8" fmla="*/ 2147483646 w 609"/>
              <a:gd name="T9" fmla="*/ 2147483646 h 150"/>
              <a:gd name="T10" fmla="*/ 2147483646 w 609"/>
              <a:gd name="T11" fmla="*/ 2147483646 h 150"/>
              <a:gd name="T12" fmla="*/ 2147483646 w 609"/>
              <a:gd name="T13" fmla="*/ 2147483646 h 150"/>
              <a:gd name="T14" fmla="*/ 2147483646 w 609"/>
              <a:gd name="T15" fmla="*/ 2147483646 h 150"/>
              <a:gd name="T16" fmla="*/ 2147483646 w 609"/>
              <a:gd name="T17" fmla="*/ 2147483646 h 150"/>
              <a:gd name="T18" fmla="*/ 2147483646 w 609"/>
              <a:gd name="T19" fmla="*/ 2147483646 h 150"/>
              <a:gd name="T20" fmla="*/ 2147483646 w 609"/>
              <a:gd name="T21" fmla="*/ 2147483646 h 150"/>
              <a:gd name="T22" fmla="*/ 2147483646 w 609"/>
              <a:gd name="T23" fmla="*/ 2147483646 h 150"/>
              <a:gd name="T24" fmla="*/ 2147483646 w 609"/>
              <a:gd name="T25" fmla="*/ 2147483646 h 150"/>
              <a:gd name="T26" fmla="*/ 0 w 609"/>
              <a:gd name="T27" fmla="*/ 0 h 15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609" h="150">
                <a:moveTo>
                  <a:pt x="0" y="0"/>
                </a:moveTo>
                <a:lnTo>
                  <a:pt x="154" y="7"/>
                </a:lnTo>
                <a:lnTo>
                  <a:pt x="313" y="44"/>
                </a:lnTo>
                <a:lnTo>
                  <a:pt x="431" y="51"/>
                </a:lnTo>
                <a:lnTo>
                  <a:pt x="527" y="71"/>
                </a:lnTo>
                <a:lnTo>
                  <a:pt x="563" y="122"/>
                </a:lnTo>
                <a:lnTo>
                  <a:pt x="609" y="150"/>
                </a:lnTo>
                <a:lnTo>
                  <a:pt x="563" y="141"/>
                </a:lnTo>
                <a:lnTo>
                  <a:pt x="521" y="84"/>
                </a:lnTo>
                <a:lnTo>
                  <a:pt x="392" y="58"/>
                </a:lnTo>
                <a:lnTo>
                  <a:pt x="313" y="58"/>
                </a:lnTo>
                <a:lnTo>
                  <a:pt x="252" y="44"/>
                </a:lnTo>
                <a:lnTo>
                  <a:pt x="146" y="17"/>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7" name="Freeform 150"/>
          <p:cNvSpPr>
            <a:spLocks/>
          </p:cNvSpPr>
          <p:nvPr/>
        </p:nvSpPr>
        <p:spPr bwMode="auto">
          <a:xfrm>
            <a:off x="1851777" y="3132842"/>
            <a:ext cx="106702" cy="107786"/>
          </a:xfrm>
          <a:custGeom>
            <a:avLst/>
            <a:gdLst>
              <a:gd name="T0" fmla="*/ 2147483646 w 529"/>
              <a:gd name="T1" fmla="*/ 2147483646 h 580"/>
              <a:gd name="T2" fmla="*/ 2147483646 w 529"/>
              <a:gd name="T3" fmla="*/ 2147483646 h 580"/>
              <a:gd name="T4" fmla="*/ 2147483646 w 529"/>
              <a:gd name="T5" fmla="*/ 2147483646 h 580"/>
              <a:gd name="T6" fmla="*/ 2147483646 w 529"/>
              <a:gd name="T7" fmla="*/ 2147483646 h 580"/>
              <a:gd name="T8" fmla="*/ 2147483646 w 529"/>
              <a:gd name="T9" fmla="*/ 2147483646 h 580"/>
              <a:gd name="T10" fmla="*/ 2147483646 w 529"/>
              <a:gd name="T11" fmla="*/ 2147483646 h 580"/>
              <a:gd name="T12" fmla="*/ 2147483646 w 529"/>
              <a:gd name="T13" fmla="*/ 2147483646 h 580"/>
              <a:gd name="T14" fmla="*/ 2147483646 w 529"/>
              <a:gd name="T15" fmla="*/ 2147483646 h 580"/>
              <a:gd name="T16" fmla="*/ 2147483646 w 529"/>
              <a:gd name="T17" fmla="*/ 2147483646 h 580"/>
              <a:gd name="T18" fmla="*/ 2147483646 w 529"/>
              <a:gd name="T19" fmla="*/ 2147483646 h 580"/>
              <a:gd name="T20" fmla="*/ 2147483646 w 529"/>
              <a:gd name="T21" fmla="*/ 2147483646 h 580"/>
              <a:gd name="T22" fmla="*/ 2147483646 w 529"/>
              <a:gd name="T23" fmla="*/ 2147483646 h 580"/>
              <a:gd name="T24" fmla="*/ 2147483646 w 529"/>
              <a:gd name="T25" fmla="*/ 2147483646 h 580"/>
              <a:gd name="T26" fmla="*/ 2147483646 w 529"/>
              <a:gd name="T27" fmla="*/ 2147483646 h 580"/>
              <a:gd name="T28" fmla="*/ 2147483646 w 529"/>
              <a:gd name="T29" fmla="*/ 2147483646 h 580"/>
              <a:gd name="T30" fmla="*/ 2147483646 w 529"/>
              <a:gd name="T31" fmla="*/ 2147483646 h 580"/>
              <a:gd name="T32" fmla="*/ 2147483646 w 529"/>
              <a:gd name="T33" fmla="*/ 2147483646 h 580"/>
              <a:gd name="T34" fmla="*/ 2147483646 w 529"/>
              <a:gd name="T35" fmla="*/ 2147483646 h 580"/>
              <a:gd name="T36" fmla="*/ 2147483646 w 529"/>
              <a:gd name="T37" fmla="*/ 2147483646 h 580"/>
              <a:gd name="T38" fmla="*/ 2147483646 w 529"/>
              <a:gd name="T39" fmla="*/ 2147483646 h 580"/>
              <a:gd name="T40" fmla="*/ 2147483646 w 529"/>
              <a:gd name="T41" fmla="*/ 2147483646 h 580"/>
              <a:gd name="T42" fmla="*/ 2147483646 w 529"/>
              <a:gd name="T43" fmla="*/ 2147483646 h 580"/>
              <a:gd name="T44" fmla="*/ 2147483646 w 529"/>
              <a:gd name="T45" fmla="*/ 2147483646 h 580"/>
              <a:gd name="T46" fmla="*/ 2147483646 w 529"/>
              <a:gd name="T47" fmla="*/ 2147483646 h 580"/>
              <a:gd name="T48" fmla="*/ 2147483646 w 529"/>
              <a:gd name="T49" fmla="*/ 2147483646 h 580"/>
              <a:gd name="T50" fmla="*/ 2147483646 w 529"/>
              <a:gd name="T51" fmla="*/ 2147483646 h 580"/>
              <a:gd name="T52" fmla="*/ 2147483646 w 529"/>
              <a:gd name="T53" fmla="*/ 2147483646 h 580"/>
              <a:gd name="T54" fmla="*/ 2147483646 w 529"/>
              <a:gd name="T55" fmla="*/ 2147483646 h 580"/>
              <a:gd name="T56" fmla="*/ 2147483646 w 529"/>
              <a:gd name="T57" fmla="*/ 2147483646 h 580"/>
              <a:gd name="T58" fmla="*/ 0 w 529"/>
              <a:gd name="T59" fmla="*/ 2147483646 h 580"/>
              <a:gd name="T60" fmla="*/ 0 w 529"/>
              <a:gd name="T61" fmla="*/ 2147483646 h 580"/>
              <a:gd name="T62" fmla="*/ 2147483646 w 529"/>
              <a:gd name="T63" fmla="*/ 2147483646 h 580"/>
              <a:gd name="T64" fmla="*/ 2147483646 w 529"/>
              <a:gd name="T65" fmla="*/ 2147483646 h 580"/>
              <a:gd name="T66" fmla="*/ 2147483646 w 529"/>
              <a:gd name="T67" fmla="*/ 0 h 580"/>
              <a:gd name="T68" fmla="*/ 2147483646 w 529"/>
              <a:gd name="T69" fmla="*/ 2147483646 h 580"/>
              <a:gd name="T70" fmla="*/ 2147483646 w 529"/>
              <a:gd name="T71" fmla="*/ 2147483646 h 580"/>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529" h="580">
                <a:moveTo>
                  <a:pt x="357" y="20"/>
                </a:moveTo>
                <a:lnTo>
                  <a:pt x="403" y="53"/>
                </a:lnTo>
                <a:lnTo>
                  <a:pt x="428" y="94"/>
                </a:lnTo>
                <a:lnTo>
                  <a:pt x="451" y="138"/>
                </a:lnTo>
                <a:lnTo>
                  <a:pt x="464" y="161"/>
                </a:lnTo>
                <a:lnTo>
                  <a:pt x="464" y="186"/>
                </a:lnTo>
                <a:lnTo>
                  <a:pt x="453" y="216"/>
                </a:lnTo>
                <a:lnTo>
                  <a:pt x="476" y="239"/>
                </a:lnTo>
                <a:lnTo>
                  <a:pt x="511" y="301"/>
                </a:lnTo>
                <a:lnTo>
                  <a:pt x="529" y="334"/>
                </a:lnTo>
                <a:lnTo>
                  <a:pt x="529" y="346"/>
                </a:lnTo>
                <a:lnTo>
                  <a:pt x="526" y="357"/>
                </a:lnTo>
                <a:lnTo>
                  <a:pt x="510" y="361"/>
                </a:lnTo>
                <a:lnTo>
                  <a:pt x="487" y="362"/>
                </a:lnTo>
                <a:lnTo>
                  <a:pt x="475" y="366"/>
                </a:lnTo>
                <a:lnTo>
                  <a:pt x="476" y="391"/>
                </a:lnTo>
                <a:lnTo>
                  <a:pt x="483" y="421"/>
                </a:lnTo>
                <a:lnTo>
                  <a:pt x="469" y="437"/>
                </a:lnTo>
                <a:lnTo>
                  <a:pt x="473" y="459"/>
                </a:lnTo>
                <a:lnTo>
                  <a:pt x="462" y="472"/>
                </a:lnTo>
                <a:lnTo>
                  <a:pt x="452" y="511"/>
                </a:lnTo>
                <a:lnTo>
                  <a:pt x="436" y="523"/>
                </a:lnTo>
                <a:lnTo>
                  <a:pt x="411" y="523"/>
                </a:lnTo>
                <a:lnTo>
                  <a:pt x="375" y="517"/>
                </a:lnTo>
                <a:lnTo>
                  <a:pt x="339" y="511"/>
                </a:lnTo>
                <a:lnTo>
                  <a:pt x="342" y="580"/>
                </a:lnTo>
                <a:lnTo>
                  <a:pt x="60" y="488"/>
                </a:lnTo>
                <a:lnTo>
                  <a:pt x="83" y="435"/>
                </a:lnTo>
                <a:lnTo>
                  <a:pt x="78" y="394"/>
                </a:lnTo>
                <a:lnTo>
                  <a:pt x="0" y="316"/>
                </a:lnTo>
                <a:lnTo>
                  <a:pt x="0" y="111"/>
                </a:lnTo>
                <a:lnTo>
                  <a:pt x="52" y="55"/>
                </a:lnTo>
                <a:lnTo>
                  <a:pt x="117" y="25"/>
                </a:lnTo>
                <a:lnTo>
                  <a:pt x="186" y="0"/>
                </a:lnTo>
                <a:lnTo>
                  <a:pt x="276" y="13"/>
                </a:lnTo>
                <a:lnTo>
                  <a:pt x="357" y="2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8" name="Freeform 151"/>
          <p:cNvSpPr>
            <a:spLocks/>
          </p:cNvSpPr>
          <p:nvPr/>
        </p:nvSpPr>
        <p:spPr bwMode="auto">
          <a:xfrm>
            <a:off x="1946400" y="3197885"/>
            <a:ext cx="6040" cy="929"/>
          </a:xfrm>
          <a:custGeom>
            <a:avLst/>
            <a:gdLst>
              <a:gd name="T0" fmla="*/ 2147483646 w 30"/>
              <a:gd name="T1" fmla="*/ 2147483646 h 6"/>
              <a:gd name="T2" fmla="*/ 2147483646 w 30"/>
              <a:gd name="T3" fmla="*/ 2147483646 h 6"/>
              <a:gd name="T4" fmla="*/ 2147483646 w 30"/>
              <a:gd name="T5" fmla="*/ 2147483646 h 6"/>
              <a:gd name="T6" fmla="*/ 2147483646 w 30"/>
              <a:gd name="T7" fmla="*/ 2147483646 h 6"/>
              <a:gd name="T8" fmla="*/ 0 w 30"/>
              <a:gd name="T9" fmla="*/ 2147483646 h 6"/>
              <a:gd name="T10" fmla="*/ 2147483646 w 30"/>
              <a:gd name="T11" fmla="*/ 0 h 6"/>
              <a:gd name="T12" fmla="*/ 2147483646 w 30"/>
              <a:gd name="T13" fmla="*/ 2147483646 h 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30" h="6">
                <a:moveTo>
                  <a:pt x="30" y="2"/>
                </a:moveTo>
                <a:lnTo>
                  <a:pt x="23" y="6"/>
                </a:lnTo>
                <a:lnTo>
                  <a:pt x="8" y="5"/>
                </a:lnTo>
                <a:lnTo>
                  <a:pt x="2" y="6"/>
                </a:lnTo>
                <a:lnTo>
                  <a:pt x="0" y="1"/>
                </a:lnTo>
                <a:lnTo>
                  <a:pt x="9" y="0"/>
                </a:lnTo>
                <a:lnTo>
                  <a:pt x="3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9" name="Freeform 152"/>
          <p:cNvSpPr>
            <a:spLocks/>
          </p:cNvSpPr>
          <p:nvPr/>
        </p:nvSpPr>
        <p:spPr bwMode="auto">
          <a:xfrm>
            <a:off x="1944387" y="3194169"/>
            <a:ext cx="2013" cy="3717"/>
          </a:xfrm>
          <a:custGeom>
            <a:avLst/>
            <a:gdLst>
              <a:gd name="T0" fmla="*/ 2147483646 w 11"/>
              <a:gd name="T1" fmla="*/ 0 h 22"/>
              <a:gd name="T2" fmla="*/ 2147483646 w 11"/>
              <a:gd name="T3" fmla="*/ 2147483646 h 22"/>
              <a:gd name="T4" fmla="*/ 2147483646 w 11"/>
              <a:gd name="T5" fmla="*/ 2147483646 h 22"/>
              <a:gd name="T6" fmla="*/ 2147483646 w 11"/>
              <a:gd name="T7" fmla="*/ 2147483646 h 22"/>
              <a:gd name="T8" fmla="*/ 0 w 11"/>
              <a:gd name="T9" fmla="*/ 2147483646 h 22"/>
              <a:gd name="T10" fmla="*/ 0 w 11"/>
              <a:gd name="T11" fmla="*/ 2147483646 h 22"/>
              <a:gd name="T12" fmla="*/ 2147483646 w 11"/>
              <a:gd name="T13" fmla="*/ 0 h 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1" h="22">
                <a:moveTo>
                  <a:pt x="11" y="0"/>
                </a:moveTo>
                <a:lnTo>
                  <a:pt x="3" y="6"/>
                </a:lnTo>
                <a:lnTo>
                  <a:pt x="3" y="12"/>
                </a:lnTo>
                <a:lnTo>
                  <a:pt x="2" y="22"/>
                </a:lnTo>
                <a:lnTo>
                  <a:pt x="0" y="8"/>
                </a:lnTo>
                <a:lnTo>
                  <a:pt x="0" y="1"/>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0" name="Freeform 153"/>
          <p:cNvSpPr>
            <a:spLocks/>
          </p:cNvSpPr>
          <p:nvPr/>
        </p:nvSpPr>
        <p:spPr bwMode="auto">
          <a:xfrm>
            <a:off x="1939354" y="3181160"/>
            <a:ext cx="3020" cy="7434"/>
          </a:xfrm>
          <a:custGeom>
            <a:avLst/>
            <a:gdLst>
              <a:gd name="T0" fmla="*/ 0 w 13"/>
              <a:gd name="T1" fmla="*/ 0 h 42"/>
              <a:gd name="T2" fmla="*/ 2147483646 w 13"/>
              <a:gd name="T3" fmla="*/ 2147483646 h 42"/>
              <a:gd name="T4" fmla="*/ 2147483646 w 13"/>
              <a:gd name="T5" fmla="*/ 2147483646 h 42"/>
              <a:gd name="T6" fmla="*/ 2147483646 w 13"/>
              <a:gd name="T7" fmla="*/ 2147483646 h 42"/>
              <a:gd name="T8" fmla="*/ 0 w 13"/>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42">
                <a:moveTo>
                  <a:pt x="0" y="0"/>
                </a:moveTo>
                <a:lnTo>
                  <a:pt x="9" y="24"/>
                </a:lnTo>
                <a:lnTo>
                  <a:pt x="13" y="42"/>
                </a:lnTo>
                <a:lnTo>
                  <a:pt x="6" y="3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1" name="Freeform 154"/>
          <p:cNvSpPr>
            <a:spLocks/>
          </p:cNvSpPr>
          <p:nvPr/>
        </p:nvSpPr>
        <p:spPr bwMode="auto">
          <a:xfrm>
            <a:off x="1928281" y="3172797"/>
            <a:ext cx="12080" cy="6504"/>
          </a:xfrm>
          <a:custGeom>
            <a:avLst/>
            <a:gdLst>
              <a:gd name="T0" fmla="*/ 2147483646 w 56"/>
              <a:gd name="T1" fmla="*/ 0 h 36"/>
              <a:gd name="T2" fmla="*/ 2147483646 w 56"/>
              <a:gd name="T3" fmla="*/ 2147483646 h 36"/>
              <a:gd name="T4" fmla="*/ 2147483646 w 56"/>
              <a:gd name="T5" fmla="*/ 2147483646 h 36"/>
              <a:gd name="T6" fmla="*/ 2147483646 w 56"/>
              <a:gd name="T7" fmla="*/ 2147483646 h 36"/>
              <a:gd name="T8" fmla="*/ 2147483646 w 56"/>
              <a:gd name="T9" fmla="*/ 2147483646 h 36"/>
              <a:gd name="T10" fmla="*/ 2147483646 w 56"/>
              <a:gd name="T11" fmla="*/ 2147483646 h 36"/>
              <a:gd name="T12" fmla="*/ 2147483646 w 56"/>
              <a:gd name="T13" fmla="*/ 2147483646 h 36"/>
              <a:gd name="T14" fmla="*/ 2147483646 w 56"/>
              <a:gd name="T15" fmla="*/ 2147483646 h 36"/>
              <a:gd name="T16" fmla="*/ 0 w 56"/>
              <a:gd name="T17" fmla="*/ 2147483646 h 36"/>
              <a:gd name="T18" fmla="*/ 2147483646 w 56"/>
              <a:gd name="T19" fmla="*/ 2147483646 h 36"/>
              <a:gd name="T20" fmla="*/ 2147483646 w 56"/>
              <a:gd name="T21" fmla="*/ 0 h 36"/>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56" h="36">
                <a:moveTo>
                  <a:pt x="56" y="0"/>
                </a:moveTo>
                <a:lnTo>
                  <a:pt x="45" y="20"/>
                </a:lnTo>
                <a:lnTo>
                  <a:pt x="47" y="26"/>
                </a:lnTo>
                <a:lnTo>
                  <a:pt x="47" y="29"/>
                </a:lnTo>
                <a:lnTo>
                  <a:pt x="51" y="36"/>
                </a:lnTo>
                <a:lnTo>
                  <a:pt x="43" y="24"/>
                </a:lnTo>
                <a:lnTo>
                  <a:pt x="32" y="24"/>
                </a:lnTo>
                <a:lnTo>
                  <a:pt x="20" y="20"/>
                </a:lnTo>
                <a:lnTo>
                  <a:pt x="0" y="19"/>
                </a:lnTo>
                <a:lnTo>
                  <a:pt x="20" y="7"/>
                </a:lnTo>
                <a:lnTo>
                  <a:pt x="56"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2" name="Freeform 155"/>
          <p:cNvSpPr>
            <a:spLocks/>
          </p:cNvSpPr>
          <p:nvPr/>
        </p:nvSpPr>
        <p:spPr bwMode="auto">
          <a:xfrm>
            <a:off x="1923247" y="3162577"/>
            <a:ext cx="20133" cy="6505"/>
          </a:xfrm>
          <a:custGeom>
            <a:avLst/>
            <a:gdLst>
              <a:gd name="T0" fmla="*/ 2147483646 w 96"/>
              <a:gd name="T1" fmla="*/ 2147483646 h 34"/>
              <a:gd name="T2" fmla="*/ 2147483646 w 96"/>
              <a:gd name="T3" fmla="*/ 2147483646 h 34"/>
              <a:gd name="T4" fmla="*/ 2147483646 w 96"/>
              <a:gd name="T5" fmla="*/ 2147483646 h 34"/>
              <a:gd name="T6" fmla="*/ 2147483646 w 96"/>
              <a:gd name="T7" fmla="*/ 2147483646 h 34"/>
              <a:gd name="T8" fmla="*/ 2147483646 w 96"/>
              <a:gd name="T9" fmla="*/ 2147483646 h 34"/>
              <a:gd name="T10" fmla="*/ 2147483646 w 96"/>
              <a:gd name="T11" fmla="*/ 2147483646 h 34"/>
              <a:gd name="T12" fmla="*/ 0 w 96"/>
              <a:gd name="T13" fmla="*/ 2147483646 h 34"/>
              <a:gd name="T14" fmla="*/ 2147483646 w 96"/>
              <a:gd name="T15" fmla="*/ 2147483646 h 34"/>
              <a:gd name="T16" fmla="*/ 2147483646 w 96"/>
              <a:gd name="T17" fmla="*/ 2147483646 h 34"/>
              <a:gd name="T18" fmla="*/ 2147483646 w 96"/>
              <a:gd name="T19" fmla="*/ 0 h 34"/>
              <a:gd name="T20" fmla="*/ 2147483646 w 96"/>
              <a:gd name="T21" fmla="*/ 2147483646 h 34"/>
              <a:gd name="T22" fmla="*/ 2147483646 w 96"/>
              <a:gd name="T23" fmla="*/ 2147483646 h 34"/>
              <a:gd name="T24" fmla="*/ 2147483646 w 96"/>
              <a:gd name="T25" fmla="*/ 2147483646 h 34"/>
              <a:gd name="T26" fmla="*/ 2147483646 w 96"/>
              <a:gd name="T27" fmla="*/ 2147483646 h 34"/>
              <a:gd name="T28" fmla="*/ 2147483646 w 96"/>
              <a:gd name="T29" fmla="*/ 2147483646 h 3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96" h="34">
                <a:moveTo>
                  <a:pt x="96" y="17"/>
                </a:moveTo>
                <a:lnTo>
                  <a:pt x="92" y="29"/>
                </a:lnTo>
                <a:lnTo>
                  <a:pt x="81" y="34"/>
                </a:lnTo>
                <a:lnTo>
                  <a:pt x="66" y="24"/>
                </a:lnTo>
                <a:lnTo>
                  <a:pt x="47" y="17"/>
                </a:lnTo>
                <a:lnTo>
                  <a:pt x="15" y="17"/>
                </a:lnTo>
                <a:lnTo>
                  <a:pt x="0" y="18"/>
                </a:lnTo>
                <a:lnTo>
                  <a:pt x="24" y="9"/>
                </a:lnTo>
                <a:lnTo>
                  <a:pt x="41" y="4"/>
                </a:lnTo>
                <a:lnTo>
                  <a:pt x="39" y="0"/>
                </a:lnTo>
                <a:lnTo>
                  <a:pt x="56" y="7"/>
                </a:lnTo>
                <a:lnTo>
                  <a:pt x="54" y="2"/>
                </a:lnTo>
                <a:lnTo>
                  <a:pt x="68" y="9"/>
                </a:lnTo>
                <a:lnTo>
                  <a:pt x="79" y="9"/>
                </a:lnTo>
                <a:lnTo>
                  <a:pt x="96" y="1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3" name="Freeform 156"/>
          <p:cNvSpPr>
            <a:spLocks/>
          </p:cNvSpPr>
          <p:nvPr/>
        </p:nvSpPr>
        <p:spPr bwMode="auto">
          <a:xfrm>
            <a:off x="1888016" y="3171869"/>
            <a:ext cx="11073" cy="20442"/>
          </a:xfrm>
          <a:custGeom>
            <a:avLst/>
            <a:gdLst>
              <a:gd name="T0" fmla="*/ 2147483646 w 56"/>
              <a:gd name="T1" fmla="*/ 2147483646 h 113"/>
              <a:gd name="T2" fmla="*/ 2147483646 w 56"/>
              <a:gd name="T3" fmla="*/ 2147483646 h 113"/>
              <a:gd name="T4" fmla="*/ 2147483646 w 56"/>
              <a:gd name="T5" fmla="*/ 2147483646 h 113"/>
              <a:gd name="T6" fmla="*/ 2147483646 w 56"/>
              <a:gd name="T7" fmla="*/ 2147483646 h 113"/>
              <a:gd name="T8" fmla="*/ 2147483646 w 56"/>
              <a:gd name="T9" fmla="*/ 2147483646 h 113"/>
              <a:gd name="T10" fmla="*/ 2147483646 w 56"/>
              <a:gd name="T11" fmla="*/ 2147483646 h 113"/>
              <a:gd name="T12" fmla="*/ 2147483646 w 56"/>
              <a:gd name="T13" fmla="*/ 2147483646 h 113"/>
              <a:gd name="T14" fmla="*/ 2147483646 w 56"/>
              <a:gd name="T15" fmla="*/ 2147483646 h 113"/>
              <a:gd name="T16" fmla="*/ 2147483646 w 56"/>
              <a:gd name="T17" fmla="*/ 2147483646 h 113"/>
              <a:gd name="T18" fmla="*/ 2147483646 w 56"/>
              <a:gd name="T19" fmla="*/ 2147483646 h 113"/>
              <a:gd name="T20" fmla="*/ 2147483646 w 56"/>
              <a:gd name="T21" fmla="*/ 2147483646 h 113"/>
              <a:gd name="T22" fmla="*/ 2147483646 w 56"/>
              <a:gd name="T23" fmla="*/ 2147483646 h 113"/>
              <a:gd name="T24" fmla="*/ 2147483646 w 56"/>
              <a:gd name="T25" fmla="*/ 2147483646 h 113"/>
              <a:gd name="T26" fmla="*/ 2147483646 w 56"/>
              <a:gd name="T27" fmla="*/ 2147483646 h 113"/>
              <a:gd name="T28" fmla="*/ 2147483646 w 56"/>
              <a:gd name="T29" fmla="*/ 2147483646 h 113"/>
              <a:gd name="T30" fmla="*/ 2147483646 w 56"/>
              <a:gd name="T31" fmla="*/ 2147483646 h 113"/>
              <a:gd name="T32" fmla="*/ 2147483646 w 56"/>
              <a:gd name="T33" fmla="*/ 2147483646 h 113"/>
              <a:gd name="T34" fmla="*/ 0 w 56"/>
              <a:gd name="T35" fmla="*/ 2147483646 h 113"/>
              <a:gd name="T36" fmla="*/ 2147483646 w 56"/>
              <a:gd name="T37" fmla="*/ 2147483646 h 113"/>
              <a:gd name="T38" fmla="*/ 2147483646 w 56"/>
              <a:gd name="T39" fmla="*/ 2147483646 h 113"/>
              <a:gd name="T40" fmla="*/ 2147483646 w 56"/>
              <a:gd name="T41" fmla="*/ 0 h 113"/>
              <a:gd name="T42" fmla="*/ 2147483646 w 56"/>
              <a:gd name="T43" fmla="*/ 2147483646 h 113"/>
              <a:gd name="T44" fmla="*/ 2147483646 w 56"/>
              <a:gd name="T45" fmla="*/ 2147483646 h 11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56" h="113">
                <a:moveTo>
                  <a:pt x="56" y="21"/>
                </a:moveTo>
                <a:lnTo>
                  <a:pt x="39" y="8"/>
                </a:lnTo>
                <a:lnTo>
                  <a:pt x="19" y="11"/>
                </a:lnTo>
                <a:lnTo>
                  <a:pt x="8" y="29"/>
                </a:lnTo>
                <a:lnTo>
                  <a:pt x="6" y="55"/>
                </a:lnTo>
                <a:lnTo>
                  <a:pt x="8" y="75"/>
                </a:lnTo>
                <a:lnTo>
                  <a:pt x="15" y="91"/>
                </a:lnTo>
                <a:lnTo>
                  <a:pt x="24" y="66"/>
                </a:lnTo>
                <a:lnTo>
                  <a:pt x="35" y="52"/>
                </a:lnTo>
                <a:lnTo>
                  <a:pt x="53" y="42"/>
                </a:lnTo>
                <a:lnTo>
                  <a:pt x="38" y="62"/>
                </a:lnTo>
                <a:lnTo>
                  <a:pt x="22" y="79"/>
                </a:lnTo>
                <a:lnTo>
                  <a:pt x="21" y="95"/>
                </a:lnTo>
                <a:lnTo>
                  <a:pt x="28" y="110"/>
                </a:lnTo>
                <a:lnTo>
                  <a:pt x="37" y="113"/>
                </a:lnTo>
                <a:lnTo>
                  <a:pt x="14" y="107"/>
                </a:lnTo>
                <a:lnTo>
                  <a:pt x="2" y="83"/>
                </a:lnTo>
                <a:lnTo>
                  <a:pt x="0" y="52"/>
                </a:lnTo>
                <a:lnTo>
                  <a:pt x="2" y="24"/>
                </a:lnTo>
                <a:lnTo>
                  <a:pt x="15" y="5"/>
                </a:lnTo>
                <a:lnTo>
                  <a:pt x="32" y="0"/>
                </a:lnTo>
                <a:lnTo>
                  <a:pt x="48" y="3"/>
                </a:lnTo>
                <a:lnTo>
                  <a:pt x="56" y="2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4" name="Freeform 157"/>
          <p:cNvSpPr>
            <a:spLocks/>
          </p:cNvSpPr>
          <p:nvPr/>
        </p:nvSpPr>
        <p:spPr bwMode="auto">
          <a:xfrm>
            <a:off x="1883990" y="3168152"/>
            <a:ext cx="18119" cy="28805"/>
          </a:xfrm>
          <a:custGeom>
            <a:avLst/>
            <a:gdLst>
              <a:gd name="T0" fmla="*/ 2147483646 w 91"/>
              <a:gd name="T1" fmla="*/ 2147483646 h 153"/>
              <a:gd name="T2" fmla="*/ 2147483646 w 91"/>
              <a:gd name="T3" fmla="*/ 2147483646 h 153"/>
              <a:gd name="T4" fmla="*/ 2147483646 w 91"/>
              <a:gd name="T5" fmla="*/ 2147483646 h 153"/>
              <a:gd name="T6" fmla="*/ 2147483646 w 91"/>
              <a:gd name="T7" fmla="*/ 2147483646 h 153"/>
              <a:gd name="T8" fmla="*/ 2147483646 w 91"/>
              <a:gd name="T9" fmla="*/ 2147483646 h 153"/>
              <a:gd name="T10" fmla="*/ 2147483646 w 91"/>
              <a:gd name="T11" fmla="*/ 2147483646 h 153"/>
              <a:gd name="T12" fmla="*/ 2147483646 w 91"/>
              <a:gd name="T13" fmla="*/ 2147483646 h 153"/>
              <a:gd name="T14" fmla="*/ 2147483646 w 91"/>
              <a:gd name="T15" fmla="*/ 2147483646 h 153"/>
              <a:gd name="T16" fmla="*/ 2147483646 w 91"/>
              <a:gd name="T17" fmla="*/ 2147483646 h 153"/>
              <a:gd name="T18" fmla="*/ 2147483646 w 91"/>
              <a:gd name="T19" fmla="*/ 2147483646 h 153"/>
              <a:gd name="T20" fmla="*/ 2147483646 w 91"/>
              <a:gd name="T21" fmla="*/ 2147483646 h 153"/>
              <a:gd name="T22" fmla="*/ 2147483646 w 91"/>
              <a:gd name="T23" fmla="*/ 2147483646 h 153"/>
              <a:gd name="T24" fmla="*/ 2147483646 w 91"/>
              <a:gd name="T25" fmla="*/ 2147483646 h 153"/>
              <a:gd name="T26" fmla="*/ 2147483646 w 91"/>
              <a:gd name="T27" fmla="*/ 2147483646 h 153"/>
              <a:gd name="T28" fmla="*/ 2147483646 w 91"/>
              <a:gd name="T29" fmla="*/ 2147483646 h 153"/>
              <a:gd name="T30" fmla="*/ 2147483646 w 91"/>
              <a:gd name="T31" fmla="*/ 2147483646 h 153"/>
              <a:gd name="T32" fmla="*/ 2147483646 w 91"/>
              <a:gd name="T33" fmla="*/ 2147483646 h 153"/>
              <a:gd name="T34" fmla="*/ 2147483646 w 91"/>
              <a:gd name="T35" fmla="*/ 2147483646 h 153"/>
              <a:gd name="T36" fmla="*/ 2147483646 w 91"/>
              <a:gd name="T37" fmla="*/ 2147483646 h 153"/>
              <a:gd name="T38" fmla="*/ 0 w 91"/>
              <a:gd name="T39" fmla="*/ 2147483646 h 153"/>
              <a:gd name="T40" fmla="*/ 0 w 91"/>
              <a:gd name="T41" fmla="*/ 2147483646 h 153"/>
              <a:gd name="T42" fmla="*/ 2147483646 w 91"/>
              <a:gd name="T43" fmla="*/ 2147483646 h 153"/>
              <a:gd name="T44" fmla="*/ 2147483646 w 91"/>
              <a:gd name="T45" fmla="*/ 2147483646 h 153"/>
              <a:gd name="T46" fmla="*/ 2147483646 w 91"/>
              <a:gd name="T47" fmla="*/ 0 h 153"/>
              <a:gd name="T48" fmla="*/ 2147483646 w 91"/>
              <a:gd name="T49" fmla="*/ 2147483646 h 153"/>
              <a:gd name="T50" fmla="*/ 2147483646 w 91"/>
              <a:gd name="T51" fmla="*/ 2147483646 h 153"/>
              <a:gd name="T52" fmla="*/ 2147483646 w 91"/>
              <a:gd name="T53" fmla="*/ 2147483646 h 153"/>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91" h="153">
                <a:moveTo>
                  <a:pt x="91" y="38"/>
                </a:moveTo>
                <a:lnTo>
                  <a:pt x="76" y="13"/>
                </a:lnTo>
                <a:lnTo>
                  <a:pt x="54" y="7"/>
                </a:lnTo>
                <a:lnTo>
                  <a:pt x="24" y="12"/>
                </a:lnTo>
                <a:lnTo>
                  <a:pt x="14" y="25"/>
                </a:lnTo>
                <a:lnTo>
                  <a:pt x="7" y="48"/>
                </a:lnTo>
                <a:lnTo>
                  <a:pt x="7" y="66"/>
                </a:lnTo>
                <a:lnTo>
                  <a:pt x="11" y="79"/>
                </a:lnTo>
                <a:lnTo>
                  <a:pt x="11" y="98"/>
                </a:lnTo>
                <a:lnTo>
                  <a:pt x="15" y="120"/>
                </a:lnTo>
                <a:lnTo>
                  <a:pt x="34" y="142"/>
                </a:lnTo>
                <a:lnTo>
                  <a:pt x="47" y="142"/>
                </a:lnTo>
                <a:lnTo>
                  <a:pt x="63" y="142"/>
                </a:lnTo>
                <a:lnTo>
                  <a:pt x="63" y="144"/>
                </a:lnTo>
                <a:lnTo>
                  <a:pt x="51" y="153"/>
                </a:lnTo>
                <a:lnTo>
                  <a:pt x="36" y="151"/>
                </a:lnTo>
                <a:lnTo>
                  <a:pt x="19" y="144"/>
                </a:lnTo>
                <a:lnTo>
                  <a:pt x="6" y="121"/>
                </a:lnTo>
                <a:lnTo>
                  <a:pt x="5" y="86"/>
                </a:lnTo>
                <a:lnTo>
                  <a:pt x="0" y="62"/>
                </a:lnTo>
                <a:lnTo>
                  <a:pt x="0" y="41"/>
                </a:lnTo>
                <a:lnTo>
                  <a:pt x="9" y="23"/>
                </a:lnTo>
                <a:lnTo>
                  <a:pt x="18" y="7"/>
                </a:lnTo>
                <a:lnTo>
                  <a:pt x="42" y="0"/>
                </a:lnTo>
                <a:lnTo>
                  <a:pt x="76" y="5"/>
                </a:lnTo>
                <a:lnTo>
                  <a:pt x="89" y="13"/>
                </a:lnTo>
                <a:lnTo>
                  <a:pt x="91" y="3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5" name="Freeform 158"/>
          <p:cNvSpPr>
            <a:spLocks/>
          </p:cNvSpPr>
          <p:nvPr/>
        </p:nvSpPr>
        <p:spPr bwMode="auto">
          <a:xfrm>
            <a:off x="1895063" y="3198815"/>
            <a:ext cx="17112" cy="24159"/>
          </a:xfrm>
          <a:custGeom>
            <a:avLst/>
            <a:gdLst>
              <a:gd name="T0" fmla="*/ 0 w 83"/>
              <a:gd name="T1" fmla="*/ 0 h 127"/>
              <a:gd name="T2" fmla="*/ 2147483646 w 83"/>
              <a:gd name="T3" fmla="*/ 2147483646 h 127"/>
              <a:gd name="T4" fmla="*/ 2147483646 w 83"/>
              <a:gd name="T5" fmla="*/ 2147483646 h 127"/>
              <a:gd name="T6" fmla="*/ 2147483646 w 83"/>
              <a:gd name="T7" fmla="*/ 2147483646 h 127"/>
              <a:gd name="T8" fmla="*/ 2147483646 w 83"/>
              <a:gd name="T9" fmla="*/ 2147483646 h 127"/>
              <a:gd name="T10" fmla="*/ 2147483646 w 83"/>
              <a:gd name="T11" fmla="*/ 2147483646 h 127"/>
              <a:gd name="T12" fmla="*/ 2147483646 w 83"/>
              <a:gd name="T13" fmla="*/ 2147483646 h 127"/>
              <a:gd name="T14" fmla="*/ 2147483646 w 83"/>
              <a:gd name="T15" fmla="*/ 2147483646 h 127"/>
              <a:gd name="T16" fmla="*/ 2147483646 w 83"/>
              <a:gd name="T17" fmla="*/ 2147483646 h 127"/>
              <a:gd name="T18" fmla="*/ 0 w 83"/>
              <a:gd name="T19" fmla="*/ 0 h 12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83" h="127">
                <a:moveTo>
                  <a:pt x="0" y="0"/>
                </a:moveTo>
                <a:lnTo>
                  <a:pt x="10" y="27"/>
                </a:lnTo>
                <a:lnTo>
                  <a:pt x="27" y="57"/>
                </a:lnTo>
                <a:lnTo>
                  <a:pt x="45" y="83"/>
                </a:lnTo>
                <a:lnTo>
                  <a:pt x="70" y="116"/>
                </a:lnTo>
                <a:lnTo>
                  <a:pt x="83" y="127"/>
                </a:lnTo>
                <a:lnTo>
                  <a:pt x="55" y="113"/>
                </a:lnTo>
                <a:lnTo>
                  <a:pt x="33" y="82"/>
                </a:lnTo>
                <a:lnTo>
                  <a:pt x="12" y="46"/>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6" name="Freeform 159"/>
          <p:cNvSpPr>
            <a:spLocks/>
          </p:cNvSpPr>
          <p:nvPr/>
        </p:nvSpPr>
        <p:spPr bwMode="auto">
          <a:xfrm>
            <a:off x="1843725" y="3117975"/>
            <a:ext cx="95630" cy="89202"/>
          </a:xfrm>
          <a:custGeom>
            <a:avLst/>
            <a:gdLst>
              <a:gd name="T0" fmla="*/ 2147483646 w 478"/>
              <a:gd name="T1" fmla="*/ 2147483646 h 480"/>
              <a:gd name="T2" fmla="*/ 2147483646 w 478"/>
              <a:gd name="T3" fmla="*/ 2147483646 h 480"/>
              <a:gd name="T4" fmla="*/ 2147483646 w 478"/>
              <a:gd name="T5" fmla="*/ 2147483646 h 480"/>
              <a:gd name="T6" fmla="*/ 2147483646 w 478"/>
              <a:gd name="T7" fmla="*/ 2147483646 h 480"/>
              <a:gd name="T8" fmla="*/ 2147483646 w 478"/>
              <a:gd name="T9" fmla="*/ 2147483646 h 480"/>
              <a:gd name="T10" fmla="*/ 2147483646 w 478"/>
              <a:gd name="T11" fmla="*/ 2147483646 h 480"/>
              <a:gd name="T12" fmla="*/ 2147483646 w 478"/>
              <a:gd name="T13" fmla="*/ 2147483646 h 480"/>
              <a:gd name="T14" fmla="*/ 2147483646 w 478"/>
              <a:gd name="T15" fmla="*/ 2147483646 h 480"/>
              <a:gd name="T16" fmla="*/ 2147483646 w 478"/>
              <a:gd name="T17" fmla="*/ 2147483646 h 480"/>
              <a:gd name="T18" fmla="*/ 2147483646 w 478"/>
              <a:gd name="T19" fmla="*/ 2147483646 h 480"/>
              <a:gd name="T20" fmla="*/ 2147483646 w 478"/>
              <a:gd name="T21" fmla="*/ 2147483646 h 480"/>
              <a:gd name="T22" fmla="*/ 2147483646 w 478"/>
              <a:gd name="T23" fmla="*/ 2147483646 h 480"/>
              <a:gd name="T24" fmla="*/ 2147483646 w 478"/>
              <a:gd name="T25" fmla="*/ 2147483646 h 480"/>
              <a:gd name="T26" fmla="*/ 2147483646 w 478"/>
              <a:gd name="T27" fmla="*/ 2147483646 h 480"/>
              <a:gd name="T28" fmla="*/ 2147483646 w 478"/>
              <a:gd name="T29" fmla="*/ 2147483646 h 480"/>
              <a:gd name="T30" fmla="*/ 2147483646 w 478"/>
              <a:gd name="T31" fmla="*/ 2147483646 h 480"/>
              <a:gd name="T32" fmla="*/ 2147483646 w 478"/>
              <a:gd name="T33" fmla="*/ 2147483646 h 480"/>
              <a:gd name="T34" fmla="*/ 2147483646 w 478"/>
              <a:gd name="T35" fmla="*/ 2147483646 h 480"/>
              <a:gd name="T36" fmla="*/ 2147483646 w 478"/>
              <a:gd name="T37" fmla="*/ 2147483646 h 480"/>
              <a:gd name="T38" fmla="*/ 2147483646 w 478"/>
              <a:gd name="T39" fmla="*/ 2147483646 h 480"/>
              <a:gd name="T40" fmla="*/ 2147483646 w 478"/>
              <a:gd name="T41" fmla="*/ 2147483646 h 480"/>
              <a:gd name="T42" fmla="*/ 2147483646 w 478"/>
              <a:gd name="T43" fmla="*/ 2147483646 h 480"/>
              <a:gd name="T44" fmla="*/ 2147483646 w 478"/>
              <a:gd name="T45" fmla="*/ 2147483646 h 480"/>
              <a:gd name="T46" fmla="*/ 2147483646 w 478"/>
              <a:gd name="T47" fmla="*/ 2147483646 h 480"/>
              <a:gd name="T48" fmla="*/ 2147483646 w 478"/>
              <a:gd name="T49" fmla="*/ 2147483646 h 480"/>
              <a:gd name="T50" fmla="*/ 0 w 478"/>
              <a:gd name="T51" fmla="*/ 2147483646 h 480"/>
              <a:gd name="T52" fmla="*/ 2147483646 w 478"/>
              <a:gd name="T53" fmla="*/ 2147483646 h 480"/>
              <a:gd name="T54" fmla="*/ 2147483646 w 478"/>
              <a:gd name="T55" fmla="*/ 2147483646 h 480"/>
              <a:gd name="T56" fmla="*/ 2147483646 w 478"/>
              <a:gd name="T57" fmla="*/ 2147483646 h 480"/>
              <a:gd name="T58" fmla="*/ 2147483646 w 478"/>
              <a:gd name="T59" fmla="*/ 2147483646 h 480"/>
              <a:gd name="T60" fmla="*/ 2147483646 w 478"/>
              <a:gd name="T61" fmla="*/ 0 h 480"/>
              <a:gd name="T62" fmla="*/ 2147483646 w 478"/>
              <a:gd name="T63" fmla="*/ 2147483646 h 480"/>
              <a:gd name="T64" fmla="*/ 2147483646 w 478"/>
              <a:gd name="T65" fmla="*/ 2147483646 h 480"/>
              <a:gd name="T66" fmla="*/ 2147483646 w 478"/>
              <a:gd name="T67" fmla="*/ 2147483646 h 480"/>
              <a:gd name="T68" fmla="*/ 2147483646 w 478"/>
              <a:gd name="T69" fmla="*/ 2147483646 h 480"/>
              <a:gd name="T70" fmla="*/ 2147483646 w 478"/>
              <a:gd name="T71" fmla="*/ 2147483646 h 480"/>
              <a:gd name="T72" fmla="*/ 2147483646 w 478"/>
              <a:gd name="T73" fmla="*/ 2147483646 h 480"/>
              <a:gd name="T74" fmla="*/ 2147483646 w 478"/>
              <a:gd name="T75" fmla="*/ 2147483646 h 48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478" h="480">
                <a:moveTo>
                  <a:pt x="440" y="138"/>
                </a:moveTo>
                <a:lnTo>
                  <a:pt x="367" y="127"/>
                </a:lnTo>
                <a:lnTo>
                  <a:pt x="320" y="133"/>
                </a:lnTo>
                <a:lnTo>
                  <a:pt x="290" y="168"/>
                </a:lnTo>
                <a:lnTo>
                  <a:pt x="308" y="209"/>
                </a:lnTo>
                <a:lnTo>
                  <a:pt x="331" y="224"/>
                </a:lnTo>
                <a:lnTo>
                  <a:pt x="338" y="262"/>
                </a:lnTo>
                <a:lnTo>
                  <a:pt x="324" y="287"/>
                </a:lnTo>
                <a:lnTo>
                  <a:pt x="335" y="325"/>
                </a:lnTo>
                <a:lnTo>
                  <a:pt x="306" y="325"/>
                </a:lnTo>
                <a:lnTo>
                  <a:pt x="298" y="282"/>
                </a:lnTo>
                <a:lnTo>
                  <a:pt x="280" y="262"/>
                </a:lnTo>
                <a:lnTo>
                  <a:pt x="243" y="262"/>
                </a:lnTo>
                <a:lnTo>
                  <a:pt x="209" y="271"/>
                </a:lnTo>
                <a:lnTo>
                  <a:pt x="197" y="301"/>
                </a:lnTo>
                <a:lnTo>
                  <a:pt x="193" y="341"/>
                </a:lnTo>
                <a:lnTo>
                  <a:pt x="197" y="370"/>
                </a:lnTo>
                <a:lnTo>
                  <a:pt x="197" y="391"/>
                </a:lnTo>
                <a:lnTo>
                  <a:pt x="195" y="416"/>
                </a:lnTo>
                <a:lnTo>
                  <a:pt x="172" y="439"/>
                </a:lnTo>
                <a:lnTo>
                  <a:pt x="156" y="453"/>
                </a:lnTo>
                <a:lnTo>
                  <a:pt x="115" y="480"/>
                </a:lnTo>
                <a:lnTo>
                  <a:pt x="37" y="399"/>
                </a:lnTo>
                <a:lnTo>
                  <a:pt x="14" y="334"/>
                </a:lnTo>
                <a:lnTo>
                  <a:pt x="5" y="229"/>
                </a:lnTo>
                <a:lnTo>
                  <a:pt x="0" y="154"/>
                </a:lnTo>
                <a:lnTo>
                  <a:pt x="9" y="82"/>
                </a:lnTo>
                <a:lnTo>
                  <a:pt x="30" y="42"/>
                </a:lnTo>
                <a:lnTo>
                  <a:pt x="78" y="15"/>
                </a:lnTo>
                <a:lnTo>
                  <a:pt x="121" y="7"/>
                </a:lnTo>
                <a:lnTo>
                  <a:pt x="204" y="0"/>
                </a:lnTo>
                <a:lnTo>
                  <a:pt x="285" y="5"/>
                </a:lnTo>
                <a:lnTo>
                  <a:pt x="387" y="22"/>
                </a:lnTo>
                <a:lnTo>
                  <a:pt x="432" y="44"/>
                </a:lnTo>
                <a:lnTo>
                  <a:pt x="455" y="67"/>
                </a:lnTo>
                <a:lnTo>
                  <a:pt x="478" y="102"/>
                </a:lnTo>
                <a:lnTo>
                  <a:pt x="475" y="120"/>
                </a:lnTo>
                <a:lnTo>
                  <a:pt x="440" y="138"/>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7" name="Freeform 160"/>
          <p:cNvSpPr>
            <a:spLocks/>
          </p:cNvSpPr>
          <p:nvPr/>
        </p:nvSpPr>
        <p:spPr bwMode="auto">
          <a:xfrm>
            <a:off x="1845737" y="3118904"/>
            <a:ext cx="91603" cy="85486"/>
          </a:xfrm>
          <a:custGeom>
            <a:avLst/>
            <a:gdLst>
              <a:gd name="T0" fmla="*/ 2147483646 w 455"/>
              <a:gd name="T1" fmla="*/ 2147483646 h 460"/>
              <a:gd name="T2" fmla="*/ 2147483646 w 455"/>
              <a:gd name="T3" fmla="*/ 2147483646 h 460"/>
              <a:gd name="T4" fmla="*/ 2147483646 w 455"/>
              <a:gd name="T5" fmla="*/ 2147483646 h 460"/>
              <a:gd name="T6" fmla="*/ 2147483646 w 455"/>
              <a:gd name="T7" fmla="*/ 2147483646 h 460"/>
              <a:gd name="T8" fmla="*/ 2147483646 w 455"/>
              <a:gd name="T9" fmla="*/ 2147483646 h 460"/>
              <a:gd name="T10" fmla="*/ 2147483646 w 455"/>
              <a:gd name="T11" fmla="*/ 2147483646 h 460"/>
              <a:gd name="T12" fmla="*/ 2147483646 w 455"/>
              <a:gd name="T13" fmla="*/ 2147483646 h 460"/>
              <a:gd name="T14" fmla="*/ 2147483646 w 455"/>
              <a:gd name="T15" fmla="*/ 2147483646 h 460"/>
              <a:gd name="T16" fmla="*/ 2147483646 w 455"/>
              <a:gd name="T17" fmla="*/ 2147483646 h 460"/>
              <a:gd name="T18" fmla="*/ 2147483646 w 455"/>
              <a:gd name="T19" fmla="*/ 2147483646 h 460"/>
              <a:gd name="T20" fmla="*/ 2147483646 w 455"/>
              <a:gd name="T21" fmla="*/ 2147483646 h 460"/>
              <a:gd name="T22" fmla="*/ 2147483646 w 455"/>
              <a:gd name="T23" fmla="*/ 2147483646 h 460"/>
              <a:gd name="T24" fmla="*/ 2147483646 w 455"/>
              <a:gd name="T25" fmla="*/ 2147483646 h 460"/>
              <a:gd name="T26" fmla="*/ 2147483646 w 455"/>
              <a:gd name="T27" fmla="*/ 2147483646 h 460"/>
              <a:gd name="T28" fmla="*/ 2147483646 w 455"/>
              <a:gd name="T29" fmla="*/ 2147483646 h 460"/>
              <a:gd name="T30" fmla="*/ 2147483646 w 455"/>
              <a:gd name="T31" fmla="*/ 2147483646 h 460"/>
              <a:gd name="T32" fmla="*/ 2147483646 w 455"/>
              <a:gd name="T33" fmla="*/ 2147483646 h 460"/>
              <a:gd name="T34" fmla="*/ 2147483646 w 455"/>
              <a:gd name="T35" fmla="*/ 2147483646 h 460"/>
              <a:gd name="T36" fmla="*/ 2147483646 w 455"/>
              <a:gd name="T37" fmla="*/ 2147483646 h 460"/>
              <a:gd name="T38" fmla="*/ 2147483646 w 455"/>
              <a:gd name="T39" fmla="*/ 2147483646 h 460"/>
              <a:gd name="T40" fmla="*/ 2147483646 w 455"/>
              <a:gd name="T41" fmla="*/ 2147483646 h 460"/>
              <a:gd name="T42" fmla="*/ 2147483646 w 455"/>
              <a:gd name="T43" fmla="*/ 2147483646 h 460"/>
              <a:gd name="T44" fmla="*/ 2147483646 w 455"/>
              <a:gd name="T45" fmla="*/ 2147483646 h 460"/>
              <a:gd name="T46" fmla="*/ 2147483646 w 455"/>
              <a:gd name="T47" fmla="*/ 2147483646 h 460"/>
              <a:gd name="T48" fmla="*/ 2147483646 w 455"/>
              <a:gd name="T49" fmla="*/ 2147483646 h 460"/>
              <a:gd name="T50" fmla="*/ 2147483646 w 455"/>
              <a:gd name="T51" fmla="*/ 2147483646 h 460"/>
              <a:gd name="T52" fmla="*/ 2147483646 w 455"/>
              <a:gd name="T53" fmla="*/ 2147483646 h 460"/>
              <a:gd name="T54" fmla="*/ 2147483646 w 455"/>
              <a:gd name="T55" fmla="*/ 2147483646 h 460"/>
              <a:gd name="T56" fmla="*/ 2147483646 w 455"/>
              <a:gd name="T57" fmla="*/ 2147483646 h 460"/>
              <a:gd name="T58" fmla="*/ 2147483646 w 455"/>
              <a:gd name="T59" fmla="*/ 2147483646 h 460"/>
              <a:gd name="T60" fmla="*/ 2147483646 w 455"/>
              <a:gd name="T61" fmla="*/ 2147483646 h 460"/>
              <a:gd name="T62" fmla="*/ 2147483646 w 455"/>
              <a:gd name="T63" fmla="*/ 2147483646 h 460"/>
              <a:gd name="T64" fmla="*/ 2147483646 w 455"/>
              <a:gd name="T65" fmla="*/ 2147483646 h 460"/>
              <a:gd name="T66" fmla="*/ 2147483646 w 455"/>
              <a:gd name="T67" fmla="*/ 2147483646 h 460"/>
              <a:gd name="T68" fmla="*/ 2147483646 w 455"/>
              <a:gd name="T69" fmla="*/ 2147483646 h 460"/>
              <a:gd name="T70" fmla="*/ 2147483646 w 455"/>
              <a:gd name="T71" fmla="*/ 2147483646 h 460"/>
              <a:gd name="T72" fmla="*/ 2147483646 w 455"/>
              <a:gd name="T73" fmla="*/ 2147483646 h 460"/>
              <a:gd name="T74" fmla="*/ 2147483646 w 455"/>
              <a:gd name="T75" fmla="*/ 2147483646 h 460"/>
              <a:gd name="T76" fmla="*/ 2147483646 w 455"/>
              <a:gd name="T77" fmla="*/ 2147483646 h 460"/>
              <a:gd name="T78" fmla="*/ 2147483646 w 455"/>
              <a:gd name="T79" fmla="*/ 2147483646 h 460"/>
              <a:gd name="T80" fmla="*/ 2147483646 w 455"/>
              <a:gd name="T81" fmla="*/ 2147483646 h 460"/>
              <a:gd name="T82" fmla="*/ 2147483646 w 455"/>
              <a:gd name="T83" fmla="*/ 2147483646 h 460"/>
              <a:gd name="T84" fmla="*/ 2147483646 w 455"/>
              <a:gd name="T85" fmla="*/ 2147483646 h 460"/>
              <a:gd name="T86" fmla="*/ 2147483646 w 455"/>
              <a:gd name="T87" fmla="*/ 2147483646 h 460"/>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455" h="460">
                <a:moveTo>
                  <a:pt x="379" y="28"/>
                </a:moveTo>
                <a:lnTo>
                  <a:pt x="418" y="44"/>
                </a:lnTo>
                <a:lnTo>
                  <a:pt x="436" y="69"/>
                </a:lnTo>
                <a:lnTo>
                  <a:pt x="447" y="85"/>
                </a:lnTo>
                <a:lnTo>
                  <a:pt x="455" y="98"/>
                </a:lnTo>
                <a:lnTo>
                  <a:pt x="444" y="108"/>
                </a:lnTo>
                <a:lnTo>
                  <a:pt x="425" y="120"/>
                </a:lnTo>
                <a:lnTo>
                  <a:pt x="376" y="113"/>
                </a:lnTo>
                <a:lnTo>
                  <a:pt x="339" y="113"/>
                </a:lnTo>
                <a:lnTo>
                  <a:pt x="315" y="100"/>
                </a:lnTo>
                <a:lnTo>
                  <a:pt x="279" y="92"/>
                </a:lnTo>
                <a:lnTo>
                  <a:pt x="247" y="90"/>
                </a:lnTo>
                <a:lnTo>
                  <a:pt x="209" y="92"/>
                </a:lnTo>
                <a:lnTo>
                  <a:pt x="264" y="98"/>
                </a:lnTo>
                <a:lnTo>
                  <a:pt x="291" y="105"/>
                </a:lnTo>
                <a:lnTo>
                  <a:pt x="311" y="113"/>
                </a:lnTo>
                <a:lnTo>
                  <a:pt x="315" y="115"/>
                </a:lnTo>
                <a:lnTo>
                  <a:pt x="302" y="120"/>
                </a:lnTo>
                <a:lnTo>
                  <a:pt x="291" y="131"/>
                </a:lnTo>
                <a:lnTo>
                  <a:pt x="272" y="120"/>
                </a:lnTo>
                <a:lnTo>
                  <a:pt x="256" y="116"/>
                </a:lnTo>
                <a:lnTo>
                  <a:pt x="223" y="110"/>
                </a:lnTo>
                <a:lnTo>
                  <a:pt x="212" y="110"/>
                </a:lnTo>
                <a:lnTo>
                  <a:pt x="246" y="122"/>
                </a:lnTo>
                <a:lnTo>
                  <a:pt x="270" y="133"/>
                </a:lnTo>
                <a:lnTo>
                  <a:pt x="283" y="142"/>
                </a:lnTo>
                <a:lnTo>
                  <a:pt x="272" y="154"/>
                </a:lnTo>
                <a:lnTo>
                  <a:pt x="246" y="145"/>
                </a:lnTo>
                <a:lnTo>
                  <a:pt x="223" y="140"/>
                </a:lnTo>
                <a:lnTo>
                  <a:pt x="264" y="161"/>
                </a:lnTo>
                <a:lnTo>
                  <a:pt x="277" y="170"/>
                </a:lnTo>
                <a:lnTo>
                  <a:pt x="281" y="189"/>
                </a:lnTo>
                <a:lnTo>
                  <a:pt x="289" y="199"/>
                </a:lnTo>
                <a:lnTo>
                  <a:pt x="264" y="187"/>
                </a:lnTo>
                <a:lnTo>
                  <a:pt x="241" y="183"/>
                </a:lnTo>
                <a:lnTo>
                  <a:pt x="205" y="181"/>
                </a:lnTo>
                <a:lnTo>
                  <a:pt x="259" y="197"/>
                </a:lnTo>
                <a:lnTo>
                  <a:pt x="293" y="210"/>
                </a:lnTo>
                <a:lnTo>
                  <a:pt x="315" y="222"/>
                </a:lnTo>
                <a:lnTo>
                  <a:pt x="318" y="239"/>
                </a:lnTo>
                <a:lnTo>
                  <a:pt x="291" y="227"/>
                </a:lnTo>
                <a:lnTo>
                  <a:pt x="254" y="214"/>
                </a:lnTo>
                <a:lnTo>
                  <a:pt x="237" y="214"/>
                </a:lnTo>
                <a:lnTo>
                  <a:pt x="277" y="228"/>
                </a:lnTo>
                <a:lnTo>
                  <a:pt x="309" y="242"/>
                </a:lnTo>
                <a:lnTo>
                  <a:pt x="320" y="253"/>
                </a:lnTo>
                <a:lnTo>
                  <a:pt x="315" y="264"/>
                </a:lnTo>
                <a:lnTo>
                  <a:pt x="291" y="255"/>
                </a:lnTo>
                <a:lnTo>
                  <a:pt x="269" y="246"/>
                </a:lnTo>
                <a:lnTo>
                  <a:pt x="221" y="244"/>
                </a:lnTo>
                <a:lnTo>
                  <a:pt x="202" y="246"/>
                </a:lnTo>
                <a:lnTo>
                  <a:pt x="158" y="249"/>
                </a:lnTo>
                <a:lnTo>
                  <a:pt x="107" y="242"/>
                </a:lnTo>
                <a:lnTo>
                  <a:pt x="137" y="253"/>
                </a:lnTo>
                <a:lnTo>
                  <a:pt x="191" y="262"/>
                </a:lnTo>
                <a:lnTo>
                  <a:pt x="181" y="280"/>
                </a:lnTo>
                <a:lnTo>
                  <a:pt x="141" y="271"/>
                </a:lnTo>
                <a:lnTo>
                  <a:pt x="104" y="258"/>
                </a:lnTo>
                <a:lnTo>
                  <a:pt x="79" y="246"/>
                </a:lnTo>
                <a:lnTo>
                  <a:pt x="126" y="280"/>
                </a:lnTo>
                <a:lnTo>
                  <a:pt x="156" y="290"/>
                </a:lnTo>
                <a:lnTo>
                  <a:pt x="181" y="298"/>
                </a:lnTo>
                <a:lnTo>
                  <a:pt x="178" y="317"/>
                </a:lnTo>
                <a:lnTo>
                  <a:pt x="141" y="310"/>
                </a:lnTo>
                <a:lnTo>
                  <a:pt x="113" y="302"/>
                </a:lnTo>
                <a:lnTo>
                  <a:pt x="131" y="315"/>
                </a:lnTo>
                <a:lnTo>
                  <a:pt x="161" y="323"/>
                </a:lnTo>
                <a:lnTo>
                  <a:pt x="178" y="325"/>
                </a:lnTo>
                <a:lnTo>
                  <a:pt x="178" y="365"/>
                </a:lnTo>
                <a:lnTo>
                  <a:pt x="143" y="351"/>
                </a:lnTo>
                <a:lnTo>
                  <a:pt x="116" y="341"/>
                </a:lnTo>
                <a:lnTo>
                  <a:pt x="145" y="363"/>
                </a:lnTo>
                <a:lnTo>
                  <a:pt x="182" y="379"/>
                </a:lnTo>
                <a:lnTo>
                  <a:pt x="181" y="397"/>
                </a:lnTo>
                <a:lnTo>
                  <a:pt x="159" y="418"/>
                </a:lnTo>
                <a:lnTo>
                  <a:pt x="141" y="395"/>
                </a:lnTo>
                <a:lnTo>
                  <a:pt x="116" y="365"/>
                </a:lnTo>
                <a:lnTo>
                  <a:pt x="100" y="337"/>
                </a:lnTo>
                <a:lnTo>
                  <a:pt x="116" y="381"/>
                </a:lnTo>
                <a:lnTo>
                  <a:pt x="131" y="397"/>
                </a:lnTo>
                <a:lnTo>
                  <a:pt x="156" y="429"/>
                </a:lnTo>
                <a:lnTo>
                  <a:pt x="137" y="449"/>
                </a:lnTo>
                <a:lnTo>
                  <a:pt x="109" y="424"/>
                </a:lnTo>
                <a:lnTo>
                  <a:pt x="88" y="395"/>
                </a:lnTo>
                <a:lnTo>
                  <a:pt x="69" y="363"/>
                </a:lnTo>
                <a:lnTo>
                  <a:pt x="86" y="409"/>
                </a:lnTo>
                <a:lnTo>
                  <a:pt x="104" y="430"/>
                </a:lnTo>
                <a:lnTo>
                  <a:pt x="121" y="452"/>
                </a:lnTo>
                <a:lnTo>
                  <a:pt x="107" y="460"/>
                </a:lnTo>
                <a:lnTo>
                  <a:pt x="69" y="429"/>
                </a:lnTo>
                <a:lnTo>
                  <a:pt x="34" y="379"/>
                </a:lnTo>
                <a:lnTo>
                  <a:pt x="21" y="341"/>
                </a:lnTo>
                <a:lnTo>
                  <a:pt x="12" y="275"/>
                </a:lnTo>
                <a:lnTo>
                  <a:pt x="7" y="227"/>
                </a:lnTo>
                <a:lnTo>
                  <a:pt x="0" y="170"/>
                </a:lnTo>
                <a:lnTo>
                  <a:pt x="39" y="181"/>
                </a:lnTo>
                <a:lnTo>
                  <a:pt x="81" y="197"/>
                </a:lnTo>
                <a:lnTo>
                  <a:pt x="145" y="212"/>
                </a:lnTo>
                <a:lnTo>
                  <a:pt x="88" y="189"/>
                </a:lnTo>
                <a:lnTo>
                  <a:pt x="67" y="177"/>
                </a:lnTo>
                <a:lnTo>
                  <a:pt x="26" y="162"/>
                </a:lnTo>
                <a:lnTo>
                  <a:pt x="5" y="158"/>
                </a:lnTo>
                <a:lnTo>
                  <a:pt x="5" y="129"/>
                </a:lnTo>
                <a:lnTo>
                  <a:pt x="10" y="92"/>
                </a:lnTo>
                <a:lnTo>
                  <a:pt x="61" y="100"/>
                </a:lnTo>
                <a:lnTo>
                  <a:pt x="94" y="110"/>
                </a:lnTo>
                <a:lnTo>
                  <a:pt x="135" y="129"/>
                </a:lnTo>
                <a:lnTo>
                  <a:pt x="97" y="100"/>
                </a:lnTo>
                <a:lnTo>
                  <a:pt x="54" y="88"/>
                </a:lnTo>
                <a:lnTo>
                  <a:pt x="12" y="77"/>
                </a:lnTo>
                <a:lnTo>
                  <a:pt x="21" y="49"/>
                </a:lnTo>
                <a:lnTo>
                  <a:pt x="34" y="31"/>
                </a:lnTo>
                <a:lnTo>
                  <a:pt x="73" y="19"/>
                </a:lnTo>
                <a:lnTo>
                  <a:pt x="111" y="28"/>
                </a:lnTo>
                <a:lnTo>
                  <a:pt x="145" y="53"/>
                </a:lnTo>
                <a:lnTo>
                  <a:pt x="121" y="25"/>
                </a:lnTo>
                <a:lnTo>
                  <a:pt x="86" y="10"/>
                </a:lnTo>
                <a:lnTo>
                  <a:pt x="126" y="4"/>
                </a:lnTo>
                <a:lnTo>
                  <a:pt x="156" y="2"/>
                </a:lnTo>
                <a:lnTo>
                  <a:pt x="198" y="8"/>
                </a:lnTo>
                <a:lnTo>
                  <a:pt x="226" y="27"/>
                </a:lnTo>
                <a:lnTo>
                  <a:pt x="272" y="35"/>
                </a:lnTo>
                <a:lnTo>
                  <a:pt x="241" y="23"/>
                </a:lnTo>
                <a:lnTo>
                  <a:pt x="218" y="8"/>
                </a:lnTo>
                <a:lnTo>
                  <a:pt x="205" y="0"/>
                </a:lnTo>
                <a:lnTo>
                  <a:pt x="249" y="2"/>
                </a:lnTo>
                <a:lnTo>
                  <a:pt x="289" y="4"/>
                </a:lnTo>
                <a:lnTo>
                  <a:pt x="313" y="15"/>
                </a:lnTo>
                <a:lnTo>
                  <a:pt x="337" y="37"/>
                </a:lnTo>
                <a:lnTo>
                  <a:pt x="356" y="67"/>
                </a:lnTo>
                <a:lnTo>
                  <a:pt x="346" y="33"/>
                </a:lnTo>
                <a:lnTo>
                  <a:pt x="322" y="10"/>
                </a:lnTo>
                <a:lnTo>
                  <a:pt x="379" y="28"/>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68" name="Group 161"/>
          <p:cNvGrpSpPr>
            <a:grpSpLocks/>
          </p:cNvGrpSpPr>
          <p:nvPr/>
        </p:nvGrpSpPr>
        <p:grpSpPr bwMode="auto">
          <a:xfrm>
            <a:off x="2031963" y="3335406"/>
            <a:ext cx="99655" cy="56681"/>
            <a:chOff x="377" y="1962"/>
            <a:chExt cx="99" cy="61"/>
          </a:xfrm>
        </p:grpSpPr>
        <p:sp>
          <p:nvSpPr>
            <p:cNvPr id="169" name="Freeform 162"/>
            <p:cNvSpPr>
              <a:spLocks/>
            </p:cNvSpPr>
            <p:nvPr/>
          </p:nvSpPr>
          <p:spPr bwMode="auto">
            <a:xfrm>
              <a:off x="377" y="1962"/>
              <a:ext cx="99" cy="61"/>
            </a:xfrm>
            <a:custGeom>
              <a:avLst/>
              <a:gdLst>
                <a:gd name="T0" fmla="*/ 0 w 497"/>
                <a:gd name="T1" fmla="*/ 0 h 305"/>
                <a:gd name="T2" fmla="*/ 0 w 497"/>
                <a:gd name="T3" fmla="*/ 0 h 305"/>
                <a:gd name="T4" fmla="*/ 0 w 497"/>
                <a:gd name="T5" fmla="*/ 0 h 305"/>
                <a:gd name="T6" fmla="*/ 0 w 497"/>
                <a:gd name="T7" fmla="*/ 0 h 305"/>
                <a:gd name="T8" fmla="*/ 0 w 497"/>
                <a:gd name="T9" fmla="*/ 0 h 305"/>
                <a:gd name="T10" fmla="*/ 0 w 497"/>
                <a:gd name="T11" fmla="*/ 0 h 305"/>
                <a:gd name="T12" fmla="*/ 0 w 497"/>
                <a:gd name="T13" fmla="*/ 0 h 305"/>
                <a:gd name="T14" fmla="*/ 0 w 497"/>
                <a:gd name="T15" fmla="*/ 0 h 305"/>
                <a:gd name="T16" fmla="*/ 0 w 497"/>
                <a:gd name="T17" fmla="*/ 0 h 305"/>
                <a:gd name="T18" fmla="*/ 0 w 497"/>
                <a:gd name="T19" fmla="*/ 0 h 305"/>
                <a:gd name="T20" fmla="*/ 0 w 497"/>
                <a:gd name="T21" fmla="*/ 0 h 305"/>
                <a:gd name="T22" fmla="*/ 0 w 497"/>
                <a:gd name="T23" fmla="*/ 0 h 305"/>
                <a:gd name="T24" fmla="*/ 0 w 497"/>
                <a:gd name="T25" fmla="*/ 0 h 305"/>
                <a:gd name="T26" fmla="*/ 0 w 497"/>
                <a:gd name="T27" fmla="*/ 0 h 305"/>
                <a:gd name="T28" fmla="*/ 0 w 497"/>
                <a:gd name="T29" fmla="*/ 0 h 305"/>
                <a:gd name="T30" fmla="*/ 0 w 497"/>
                <a:gd name="T31" fmla="*/ 0 h 305"/>
                <a:gd name="T32" fmla="*/ 0 w 497"/>
                <a:gd name="T33" fmla="*/ 0 h 305"/>
                <a:gd name="T34" fmla="*/ 0 w 497"/>
                <a:gd name="T35" fmla="*/ 0 h 305"/>
                <a:gd name="T36" fmla="*/ 0 w 497"/>
                <a:gd name="T37" fmla="*/ 0 h 305"/>
                <a:gd name="T38" fmla="*/ 0 w 497"/>
                <a:gd name="T39" fmla="*/ 0 h 305"/>
                <a:gd name="T40" fmla="*/ 0 w 497"/>
                <a:gd name="T41" fmla="*/ 0 h 305"/>
                <a:gd name="T42" fmla="*/ 0 w 497"/>
                <a:gd name="T43" fmla="*/ 0 h 305"/>
                <a:gd name="T44" fmla="*/ 0 w 497"/>
                <a:gd name="T45" fmla="*/ 0 h 305"/>
                <a:gd name="T46" fmla="*/ 0 w 497"/>
                <a:gd name="T47" fmla="*/ 0 h 305"/>
                <a:gd name="T48" fmla="*/ 0 w 497"/>
                <a:gd name="T49" fmla="*/ 0 h 305"/>
                <a:gd name="T50" fmla="*/ 0 w 497"/>
                <a:gd name="T51" fmla="*/ 0 h 305"/>
                <a:gd name="T52" fmla="*/ 0 w 497"/>
                <a:gd name="T53" fmla="*/ 0 h 305"/>
                <a:gd name="T54" fmla="*/ 0 w 497"/>
                <a:gd name="T55" fmla="*/ 0 h 305"/>
                <a:gd name="T56" fmla="*/ 0 w 497"/>
                <a:gd name="T57" fmla="*/ 0 h 305"/>
                <a:gd name="T58" fmla="*/ 0 w 497"/>
                <a:gd name="T59" fmla="*/ 0 h 305"/>
                <a:gd name="T60" fmla="*/ 0 w 497"/>
                <a:gd name="T61" fmla="*/ 0 h 305"/>
                <a:gd name="T62" fmla="*/ 0 w 497"/>
                <a:gd name="T63" fmla="*/ 0 h 305"/>
                <a:gd name="T64" fmla="*/ 0 w 497"/>
                <a:gd name="T65" fmla="*/ 0 h 305"/>
                <a:gd name="T66" fmla="*/ 0 w 497"/>
                <a:gd name="T67" fmla="*/ 0 h 305"/>
                <a:gd name="T68" fmla="*/ 0 w 497"/>
                <a:gd name="T69" fmla="*/ 0 h 305"/>
                <a:gd name="T70" fmla="*/ 0 w 497"/>
                <a:gd name="T71" fmla="*/ 0 h 305"/>
                <a:gd name="T72" fmla="*/ 0 w 497"/>
                <a:gd name="T73" fmla="*/ 0 h 305"/>
                <a:gd name="T74" fmla="*/ 0 w 497"/>
                <a:gd name="T75" fmla="*/ 0 h 305"/>
                <a:gd name="T76" fmla="*/ 0 w 497"/>
                <a:gd name="T77" fmla="*/ 0 h 305"/>
                <a:gd name="T78" fmla="*/ 0 w 497"/>
                <a:gd name="T79" fmla="*/ 0 h 305"/>
                <a:gd name="T80" fmla="*/ 0 w 497"/>
                <a:gd name="T81" fmla="*/ 0 h 305"/>
                <a:gd name="T82" fmla="*/ 0 w 497"/>
                <a:gd name="T83" fmla="*/ 0 h 305"/>
                <a:gd name="T84" fmla="*/ 0 w 497"/>
                <a:gd name="T85" fmla="*/ 0 h 305"/>
                <a:gd name="T86" fmla="*/ 0 w 497"/>
                <a:gd name="T87" fmla="*/ 0 h 305"/>
                <a:gd name="T88" fmla="*/ 0 w 497"/>
                <a:gd name="T89" fmla="*/ 0 h 305"/>
                <a:gd name="T90" fmla="*/ 0 w 497"/>
                <a:gd name="T91" fmla="*/ 0 h 305"/>
                <a:gd name="T92" fmla="*/ 0 w 497"/>
                <a:gd name="T93" fmla="*/ 0 h 305"/>
                <a:gd name="T94" fmla="*/ 0 w 497"/>
                <a:gd name="T95" fmla="*/ 0 h 305"/>
                <a:gd name="T96" fmla="*/ 0 w 497"/>
                <a:gd name="T97" fmla="*/ 0 h 305"/>
                <a:gd name="T98" fmla="*/ 0 w 497"/>
                <a:gd name="T99" fmla="*/ 0 h 30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497" h="305">
                  <a:moveTo>
                    <a:pt x="0" y="182"/>
                  </a:moveTo>
                  <a:lnTo>
                    <a:pt x="61" y="168"/>
                  </a:lnTo>
                  <a:lnTo>
                    <a:pt x="84" y="163"/>
                  </a:lnTo>
                  <a:lnTo>
                    <a:pt x="98" y="150"/>
                  </a:lnTo>
                  <a:lnTo>
                    <a:pt x="112" y="130"/>
                  </a:lnTo>
                  <a:lnTo>
                    <a:pt x="142" y="102"/>
                  </a:lnTo>
                  <a:lnTo>
                    <a:pt x="197" y="56"/>
                  </a:lnTo>
                  <a:lnTo>
                    <a:pt x="206" y="41"/>
                  </a:lnTo>
                  <a:lnTo>
                    <a:pt x="221" y="28"/>
                  </a:lnTo>
                  <a:lnTo>
                    <a:pt x="249" y="23"/>
                  </a:lnTo>
                  <a:lnTo>
                    <a:pt x="336" y="8"/>
                  </a:lnTo>
                  <a:lnTo>
                    <a:pt x="360" y="0"/>
                  </a:lnTo>
                  <a:lnTo>
                    <a:pt x="382" y="11"/>
                  </a:lnTo>
                  <a:lnTo>
                    <a:pt x="393" y="20"/>
                  </a:lnTo>
                  <a:lnTo>
                    <a:pt x="443" y="37"/>
                  </a:lnTo>
                  <a:lnTo>
                    <a:pt x="464" y="45"/>
                  </a:lnTo>
                  <a:lnTo>
                    <a:pt x="471" y="53"/>
                  </a:lnTo>
                  <a:lnTo>
                    <a:pt x="481" y="81"/>
                  </a:lnTo>
                  <a:lnTo>
                    <a:pt x="486" y="96"/>
                  </a:lnTo>
                  <a:lnTo>
                    <a:pt x="490" y="104"/>
                  </a:lnTo>
                  <a:lnTo>
                    <a:pt x="497" y="119"/>
                  </a:lnTo>
                  <a:lnTo>
                    <a:pt x="497" y="129"/>
                  </a:lnTo>
                  <a:lnTo>
                    <a:pt x="487" y="137"/>
                  </a:lnTo>
                  <a:lnTo>
                    <a:pt x="466" y="136"/>
                  </a:lnTo>
                  <a:lnTo>
                    <a:pt x="434" y="121"/>
                  </a:lnTo>
                  <a:lnTo>
                    <a:pt x="393" y="113"/>
                  </a:lnTo>
                  <a:lnTo>
                    <a:pt x="356" y="119"/>
                  </a:lnTo>
                  <a:lnTo>
                    <a:pt x="395" y="128"/>
                  </a:lnTo>
                  <a:lnTo>
                    <a:pt x="422" y="137"/>
                  </a:lnTo>
                  <a:lnTo>
                    <a:pt x="454" y="150"/>
                  </a:lnTo>
                  <a:lnTo>
                    <a:pt x="462" y="161"/>
                  </a:lnTo>
                  <a:lnTo>
                    <a:pt x="462" y="173"/>
                  </a:lnTo>
                  <a:lnTo>
                    <a:pt x="449" y="182"/>
                  </a:lnTo>
                  <a:lnTo>
                    <a:pt x="435" y="179"/>
                  </a:lnTo>
                  <a:lnTo>
                    <a:pt x="391" y="168"/>
                  </a:lnTo>
                  <a:lnTo>
                    <a:pt x="351" y="166"/>
                  </a:lnTo>
                  <a:lnTo>
                    <a:pt x="320" y="168"/>
                  </a:lnTo>
                  <a:lnTo>
                    <a:pt x="303" y="179"/>
                  </a:lnTo>
                  <a:lnTo>
                    <a:pt x="282" y="200"/>
                  </a:lnTo>
                  <a:lnTo>
                    <a:pt x="267" y="223"/>
                  </a:lnTo>
                  <a:lnTo>
                    <a:pt x="251" y="246"/>
                  </a:lnTo>
                  <a:lnTo>
                    <a:pt x="237" y="263"/>
                  </a:lnTo>
                  <a:lnTo>
                    <a:pt x="213" y="280"/>
                  </a:lnTo>
                  <a:lnTo>
                    <a:pt x="190" y="284"/>
                  </a:lnTo>
                  <a:lnTo>
                    <a:pt x="165" y="287"/>
                  </a:lnTo>
                  <a:lnTo>
                    <a:pt x="135" y="284"/>
                  </a:lnTo>
                  <a:lnTo>
                    <a:pt x="112" y="282"/>
                  </a:lnTo>
                  <a:lnTo>
                    <a:pt x="82" y="290"/>
                  </a:lnTo>
                  <a:lnTo>
                    <a:pt x="0" y="305"/>
                  </a:lnTo>
                  <a:lnTo>
                    <a:pt x="0" y="182"/>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0" name="Freeform 163"/>
            <p:cNvSpPr>
              <a:spLocks/>
            </p:cNvSpPr>
            <p:nvPr/>
          </p:nvSpPr>
          <p:spPr bwMode="auto">
            <a:xfrm>
              <a:off x="439" y="1973"/>
              <a:ext cx="32" cy="7"/>
            </a:xfrm>
            <a:custGeom>
              <a:avLst/>
              <a:gdLst>
                <a:gd name="T0" fmla="*/ 0 w 159"/>
                <a:gd name="T1" fmla="*/ 0 h 37"/>
                <a:gd name="T2" fmla="*/ 0 w 159"/>
                <a:gd name="T3" fmla="*/ 0 h 37"/>
                <a:gd name="T4" fmla="*/ 0 w 159"/>
                <a:gd name="T5" fmla="*/ 0 h 37"/>
                <a:gd name="T6" fmla="*/ 0 w 159"/>
                <a:gd name="T7" fmla="*/ 0 h 37"/>
                <a:gd name="T8" fmla="*/ 0 w 159"/>
                <a:gd name="T9" fmla="*/ 0 h 37"/>
                <a:gd name="T10" fmla="*/ 0 w 159"/>
                <a:gd name="T11" fmla="*/ 0 h 37"/>
                <a:gd name="T12" fmla="*/ 0 w 159"/>
                <a:gd name="T13" fmla="*/ 0 h 37"/>
                <a:gd name="T14" fmla="*/ 0 w 159"/>
                <a:gd name="T15" fmla="*/ 0 h 37"/>
                <a:gd name="T16" fmla="*/ 0 w 159"/>
                <a:gd name="T17" fmla="*/ 0 h 37"/>
                <a:gd name="T18" fmla="*/ 0 w 159"/>
                <a:gd name="T19" fmla="*/ 0 h 37"/>
                <a:gd name="T20" fmla="*/ 0 w 159"/>
                <a:gd name="T21" fmla="*/ 0 h 37"/>
                <a:gd name="T22" fmla="*/ 0 w 159"/>
                <a:gd name="T23" fmla="*/ 0 h 37"/>
                <a:gd name="T24" fmla="*/ 0 w 159"/>
                <a:gd name="T25" fmla="*/ 0 h 37"/>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59" h="37">
                  <a:moveTo>
                    <a:pt x="159" y="37"/>
                  </a:moveTo>
                  <a:lnTo>
                    <a:pt x="132" y="24"/>
                  </a:lnTo>
                  <a:lnTo>
                    <a:pt x="110" y="21"/>
                  </a:lnTo>
                  <a:lnTo>
                    <a:pt x="84" y="13"/>
                  </a:lnTo>
                  <a:lnTo>
                    <a:pt x="61" y="7"/>
                  </a:lnTo>
                  <a:lnTo>
                    <a:pt x="25" y="10"/>
                  </a:lnTo>
                  <a:lnTo>
                    <a:pt x="0" y="13"/>
                  </a:lnTo>
                  <a:lnTo>
                    <a:pt x="38" y="5"/>
                  </a:lnTo>
                  <a:lnTo>
                    <a:pt x="69" y="0"/>
                  </a:lnTo>
                  <a:lnTo>
                    <a:pt x="110" y="17"/>
                  </a:lnTo>
                  <a:lnTo>
                    <a:pt x="132" y="19"/>
                  </a:lnTo>
                  <a:lnTo>
                    <a:pt x="157" y="31"/>
                  </a:lnTo>
                  <a:lnTo>
                    <a:pt x="159" y="3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1" name="Freeform 164"/>
            <p:cNvSpPr>
              <a:spLocks/>
            </p:cNvSpPr>
            <p:nvPr/>
          </p:nvSpPr>
          <p:spPr bwMode="auto">
            <a:xfrm>
              <a:off x="427" y="1965"/>
              <a:ext cx="27" cy="5"/>
            </a:xfrm>
            <a:custGeom>
              <a:avLst/>
              <a:gdLst>
                <a:gd name="T0" fmla="*/ 0 w 133"/>
                <a:gd name="T1" fmla="*/ 0 h 25"/>
                <a:gd name="T2" fmla="*/ 0 w 133"/>
                <a:gd name="T3" fmla="*/ 0 h 25"/>
                <a:gd name="T4" fmla="*/ 0 w 133"/>
                <a:gd name="T5" fmla="*/ 0 h 25"/>
                <a:gd name="T6" fmla="*/ 0 w 133"/>
                <a:gd name="T7" fmla="*/ 0 h 25"/>
                <a:gd name="T8" fmla="*/ 0 w 133"/>
                <a:gd name="T9" fmla="*/ 0 h 25"/>
                <a:gd name="T10" fmla="*/ 0 w 133"/>
                <a:gd name="T11" fmla="*/ 0 h 25"/>
                <a:gd name="T12" fmla="*/ 0 w 133"/>
                <a:gd name="T13" fmla="*/ 0 h 25"/>
                <a:gd name="T14" fmla="*/ 0 w 133"/>
                <a:gd name="T15" fmla="*/ 0 h 25"/>
                <a:gd name="T16" fmla="*/ 0 w 133"/>
                <a:gd name="T17" fmla="*/ 0 h 25"/>
                <a:gd name="T18" fmla="*/ 0 w 133"/>
                <a:gd name="T19" fmla="*/ 0 h 25"/>
                <a:gd name="T20" fmla="*/ 0 w 133"/>
                <a:gd name="T21" fmla="*/ 0 h 25"/>
                <a:gd name="T22" fmla="*/ 0 w 133"/>
                <a:gd name="T23" fmla="*/ 0 h 2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3" h="25">
                  <a:moveTo>
                    <a:pt x="97" y="0"/>
                  </a:moveTo>
                  <a:lnTo>
                    <a:pt x="113" y="1"/>
                  </a:lnTo>
                  <a:lnTo>
                    <a:pt x="133" y="8"/>
                  </a:lnTo>
                  <a:lnTo>
                    <a:pt x="120" y="7"/>
                  </a:lnTo>
                  <a:lnTo>
                    <a:pt x="99" y="3"/>
                  </a:lnTo>
                  <a:lnTo>
                    <a:pt x="56" y="15"/>
                  </a:lnTo>
                  <a:lnTo>
                    <a:pt x="32" y="21"/>
                  </a:lnTo>
                  <a:lnTo>
                    <a:pt x="4" y="25"/>
                  </a:lnTo>
                  <a:lnTo>
                    <a:pt x="0" y="21"/>
                  </a:lnTo>
                  <a:lnTo>
                    <a:pt x="29" y="16"/>
                  </a:lnTo>
                  <a:lnTo>
                    <a:pt x="64" y="8"/>
                  </a:lnTo>
                  <a:lnTo>
                    <a:pt x="9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2" name="Freeform 165"/>
            <p:cNvSpPr>
              <a:spLocks/>
            </p:cNvSpPr>
            <p:nvPr/>
          </p:nvSpPr>
          <p:spPr bwMode="auto">
            <a:xfrm>
              <a:off x="438" y="1984"/>
              <a:ext cx="11" cy="2"/>
            </a:xfrm>
            <a:custGeom>
              <a:avLst/>
              <a:gdLst>
                <a:gd name="T0" fmla="*/ 0 w 53"/>
                <a:gd name="T1" fmla="*/ 0 h 12"/>
                <a:gd name="T2" fmla="*/ 0 w 53"/>
                <a:gd name="T3" fmla="*/ 0 h 12"/>
                <a:gd name="T4" fmla="*/ 0 w 53"/>
                <a:gd name="T5" fmla="*/ 0 h 12"/>
                <a:gd name="T6" fmla="*/ 0 w 53"/>
                <a:gd name="T7" fmla="*/ 0 h 12"/>
                <a:gd name="T8" fmla="*/ 0 w 53"/>
                <a:gd name="T9" fmla="*/ 0 h 12"/>
                <a:gd name="T10" fmla="*/ 0 w 53"/>
                <a:gd name="T11" fmla="*/ 0 h 12"/>
                <a:gd name="T12" fmla="*/ 0 w 53"/>
                <a:gd name="T13" fmla="*/ 0 h 1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53" h="12">
                  <a:moveTo>
                    <a:pt x="53" y="5"/>
                  </a:moveTo>
                  <a:lnTo>
                    <a:pt x="46" y="12"/>
                  </a:lnTo>
                  <a:lnTo>
                    <a:pt x="27" y="9"/>
                  </a:lnTo>
                  <a:lnTo>
                    <a:pt x="5" y="9"/>
                  </a:lnTo>
                  <a:lnTo>
                    <a:pt x="0" y="0"/>
                  </a:lnTo>
                  <a:lnTo>
                    <a:pt x="14" y="3"/>
                  </a:lnTo>
                  <a:lnTo>
                    <a:pt x="53"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3" name="Freeform 166"/>
            <p:cNvSpPr>
              <a:spLocks/>
            </p:cNvSpPr>
            <p:nvPr/>
          </p:nvSpPr>
          <p:spPr bwMode="auto">
            <a:xfrm>
              <a:off x="469" y="1982"/>
              <a:ext cx="3" cy="4"/>
            </a:xfrm>
            <a:custGeom>
              <a:avLst/>
              <a:gdLst>
                <a:gd name="T0" fmla="*/ 0 w 11"/>
                <a:gd name="T1" fmla="*/ 0 h 23"/>
                <a:gd name="T2" fmla="*/ 0 w 11"/>
                <a:gd name="T3" fmla="*/ 0 h 23"/>
                <a:gd name="T4" fmla="*/ 0 w 11"/>
                <a:gd name="T5" fmla="*/ 0 h 23"/>
                <a:gd name="T6" fmla="*/ 0 w 11"/>
                <a:gd name="T7" fmla="*/ 0 h 23"/>
                <a:gd name="T8" fmla="*/ 0 w 11"/>
                <a:gd name="T9" fmla="*/ 0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 h="23">
                  <a:moveTo>
                    <a:pt x="0" y="0"/>
                  </a:moveTo>
                  <a:lnTo>
                    <a:pt x="0" y="6"/>
                  </a:lnTo>
                  <a:lnTo>
                    <a:pt x="2" y="18"/>
                  </a:lnTo>
                  <a:lnTo>
                    <a:pt x="11" y="2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4" name="Freeform 167"/>
            <p:cNvSpPr>
              <a:spLocks/>
            </p:cNvSpPr>
            <p:nvPr/>
          </p:nvSpPr>
          <p:spPr bwMode="auto">
            <a:xfrm>
              <a:off x="462" y="1993"/>
              <a:ext cx="2" cy="2"/>
            </a:xfrm>
            <a:custGeom>
              <a:avLst/>
              <a:gdLst>
                <a:gd name="T0" fmla="*/ 0 w 11"/>
                <a:gd name="T1" fmla="*/ 0 h 13"/>
                <a:gd name="T2" fmla="*/ 0 w 11"/>
                <a:gd name="T3" fmla="*/ 0 h 13"/>
                <a:gd name="T4" fmla="*/ 0 w 11"/>
                <a:gd name="T5" fmla="*/ 0 h 13"/>
                <a:gd name="T6" fmla="*/ 0 w 11"/>
                <a:gd name="T7" fmla="*/ 0 h 1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 h="13">
                  <a:moveTo>
                    <a:pt x="0" y="0"/>
                  </a:moveTo>
                  <a:lnTo>
                    <a:pt x="3" y="7"/>
                  </a:lnTo>
                  <a:lnTo>
                    <a:pt x="11" y="1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5" name="Freeform 168"/>
            <p:cNvSpPr>
              <a:spLocks/>
            </p:cNvSpPr>
            <p:nvPr/>
          </p:nvSpPr>
          <p:spPr bwMode="auto">
            <a:xfrm>
              <a:off x="423" y="1977"/>
              <a:ext cx="5" cy="6"/>
            </a:xfrm>
            <a:custGeom>
              <a:avLst/>
              <a:gdLst>
                <a:gd name="T0" fmla="*/ 0 w 25"/>
                <a:gd name="T1" fmla="*/ 0 h 29"/>
                <a:gd name="T2" fmla="*/ 0 w 25"/>
                <a:gd name="T3" fmla="*/ 0 h 29"/>
                <a:gd name="T4" fmla="*/ 0 w 25"/>
                <a:gd name="T5" fmla="*/ 0 h 29"/>
                <a:gd name="T6" fmla="*/ 0 w 25"/>
                <a:gd name="T7" fmla="*/ 0 h 29"/>
                <a:gd name="T8" fmla="*/ 0 w 25"/>
                <a:gd name="T9" fmla="*/ 0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29">
                  <a:moveTo>
                    <a:pt x="25" y="0"/>
                  </a:moveTo>
                  <a:lnTo>
                    <a:pt x="21" y="9"/>
                  </a:lnTo>
                  <a:lnTo>
                    <a:pt x="21" y="17"/>
                  </a:lnTo>
                  <a:lnTo>
                    <a:pt x="0" y="29"/>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6" name="Freeform 169"/>
            <p:cNvSpPr>
              <a:spLocks/>
            </p:cNvSpPr>
            <p:nvPr/>
          </p:nvSpPr>
          <p:spPr bwMode="auto">
            <a:xfrm>
              <a:off x="403" y="1977"/>
              <a:ext cx="16" cy="16"/>
            </a:xfrm>
            <a:custGeom>
              <a:avLst/>
              <a:gdLst>
                <a:gd name="T0" fmla="*/ 0 w 80"/>
                <a:gd name="T1" fmla="*/ 0 h 81"/>
                <a:gd name="T2" fmla="*/ 0 w 80"/>
                <a:gd name="T3" fmla="*/ 0 h 81"/>
                <a:gd name="T4" fmla="*/ 0 w 80"/>
                <a:gd name="T5" fmla="*/ 0 h 81"/>
                <a:gd name="T6" fmla="*/ 0 w 80"/>
                <a:gd name="T7" fmla="*/ 0 h 81"/>
                <a:gd name="T8" fmla="*/ 0 w 80"/>
                <a:gd name="T9" fmla="*/ 0 h 81"/>
                <a:gd name="T10" fmla="*/ 0 w 80"/>
                <a:gd name="T11" fmla="*/ 0 h 8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80" h="81">
                  <a:moveTo>
                    <a:pt x="80" y="0"/>
                  </a:moveTo>
                  <a:lnTo>
                    <a:pt x="66" y="26"/>
                  </a:lnTo>
                  <a:lnTo>
                    <a:pt x="50" y="46"/>
                  </a:lnTo>
                  <a:lnTo>
                    <a:pt x="0" y="81"/>
                  </a:lnTo>
                  <a:lnTo>
                    <a:pt x="47" y="38"/>
                  </a:lnTo>
                  <a:lnTo>
                    <a:pt x="8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7" name="Freeform 170"/>
            <p:cNvSpPr>
              <a:spLocks/>
            </p:cNvSpPr>
            <p:nvPr/>
          </p:nvSpPr>
          <p:spPr bwMode="auto">
            <a:xfrm>
              <a:off x="395" y="2000"/>
              <a:ext cx="4" cy="12"/>
            </a:xfrm>
            <a:custGeom>
              <a:avLst/>
              <a:gdLst>
                <a:gd name="T0" fmla="*/ 0 w 18"/>
                <a:gd name="T1" fmla="*/ 0 h 58"/>
                <a:gd name="T2" fmla="*/ 0 w 18"/>
                <a:gd name="T3" fmla="*/ 0 h 58"/>
                <a:gd name="T4" fmla="*/ 0 w 18"/>
                <a:gd name="T5" fmla="*/ 0 h 58"/>
                <a:gd name="T6" fmla="*/ 0 w 18"/>
                <a:gd name="T7" fmla="*/ 0 h 58"/>
                <a:gd name="T8" fmla="*/ 0 w 18"/>
                <a:gd name="T9" fmla="*/ 0 h 58"/>
                <a:gd name="T10" fmla="*/ 0 w 18"/>
                <a:gd name="T11" fmla="*/ 0 h 58"/>
                <a:gd name="T12" fmla="*/ 0 w 18"/>
                <a:gd name="T13" fmla="*/ 0 h 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8" h="58">
                  <a:moveTo>
                    <a:pt x="0" y="0"/>
                  </a:moveTo>
                  <a:lnTo>
                    <a:pt x="11" y="20"/>
                  </a:lnTo>
                  <a:lnTo>
                    <a:pt x="15" y="41"/>
                  </a:lnTo>
                  <a:lnTo>
                    <a:pt x="16" y="58"/>
                  </a:lnTo>
                  <a:lnTo>
                    <a:pt x="18" y="33"/>
                  </a:lnTo>
                  <a:lnTo>
                    <a:pt x="16" y="1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8" name="Freeform 171"/>
            <p:cNvSpPr>
              <a:spLocks/>
            </p:cNvSpPr>
            <p:nvPr/>
          </p:nvSpPr>
          <p:spPr bwMode="auto">
            <a:xfrm>
              <a:off x="432" y="1988"/>
              <a:ext cx="2" cy="4"/>
            </a:xfrm>
            <a:custGeom>
              <a:avLst/>
              <a:gdLst>
                <a:gd name="T0" fmla="*/ 0 w 9"/>
                <a:gd name="T1" fmla="*/ 0 h 21"/>
                <a:gd name="T2" fmla="*/ 0 w 9"/>
                <a:gd name="T3" fmla="*/ 0 h 21"/>
                <a:gd name="T4" fmla="*/ 0 w 9"/>
                <a:gd name="T5" fmla="*/ 0 h 21"/>
                <a:gd name="T6" fmla="*/ 0 w 9"/>
                <a:gd name="T7" fmla="*/ 0 h 2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21">
                  <a:moveTo>
                    <a:pt x="2" y="0"/>
                  </a:moveTo>
                  <a:lnTo>
                    <a:pt x="0" y="9"/>
                  </a:lnTo>
                  <a:lnTo>
                    <a:pt x="9" y="21"/>
                  </a:lnTo>
                  <a:lnTo>
                    <a:pt x="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79" name="Group 172"/>
          <p:cNvGrpSpPr>
            <a:grpSpLocks/>
          </p:cNvGrpSpPr>
          <p:nvPr/>
        </p:nvGrpSpPr>
        <p:grpSpPr bwMode="auto">
          <a:xfrm>
            <a:off x="1815539" y="3210895"/>
            <a:ext cx="230517" cy="243448"/>
            <a:chOff x="162" y="1828"/>
            <a:chExt cx="229" cy="262"/>
          </a:xfrm>
        </p:grpSpPr>
        <p:sp>
          <p:nvSpPr>
            <p:cNvPr id="180" name="Freeform 173"/>
            <p:cNvSpPr>
              <a:spLocks/>
            </p:cNvSpPr>
            <p:nvPr/>
          </p:nvSpPr>
          <p:spPr bwMode="auto">
            <a:xfrm>
              <a:off x="286" y="1828"/>
              <a:ext cx="7" cy="5"/>
            </a:xfrm>
            <a:custGeom>
              <a:avLst/>
              <a:gdLst>
                <a:gd name="T0" fmla="*/ 0 w 37"/>
                <a:gd name="T1" fmla="*/ 0 h 25"/>
                <a:gd name="T2" fmla="*/ 0 w 37"/>
                <a:gd name="T3" fmla="*/ 0 h 25"/>
                <a:gd name="T4" fmla="*/ 0 w 37"/>
                <a:gd name="T5" fmla="*/ 0 h 25"/>
                <a:gd name="T6" fmla="*/ 0 w 37"/>
                <a:gd name="T7" fmla="*/ 0 h 25"/>
                <a:gd name="T8" fmla="*/ 0 w 37"/>
                <a:gd name="T9" fmla="*/ 0 h 25"/>
                <a:gd name="T10" fmla="*/ 0 w 37"/>
                <a:gd name="T11" fmla="*/ 0 h 25"/>
                <a:gd name="T12" fmla="*/ 0 w 37"/>
                <a:gd name="T13" fmla="*/ 0 h 25"/>
                <a:gd name="T14" fmla="*/ 0 w 37"/>
                <a:gd name="T15" fmla="*/ 0 h 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7" h="25">
                  <a:moveTo>
                    <a:pt x="37" y="0"/>
                  </a:moveTo>
                  <a:lnTo>
                    <a:pt x="26" y="7"/>
                  </a:lnTo>
                  <a:lnTo>
                    <a:pt x="16" y="10"/>
                  </a:lnTo>
                  <a:lnTo>
                    <a:pt x="6" y="16"/>
                  </a:lnTo>
                  <a:lnTo>
                    <a:pt x="0" y="25"/>
                  </a:lnTo>
                  <a:lnTo>
                    <a:pt x="9" y="22"/>
                  </a:lnTo>
                  <a:lnTo>
                    <a:pt x="26" y="17"/>
                  </a:lnTo>
                  <a:lnTo>
                    <a:pt x="3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1" name="Freeform 174"/>
            <p:cNvSpPr>
              <a:spLocks/>
            </p:cNvSpPr>
            <p:nvPr/>
          </p:nvSpPr>
          <p:spPr bwMode="auto">
            <a:xfrm>
              <a:off x="289" y="1837"/>
              <a:ext cx="2" cy="3"/>
            </a:xfrm>
            <a:custGeom>
              <a:avLst/>
              <a:gdLst>
                <a:gd name="T0" fmla="*/ 0 w 9"/>
                <a:gd name="T1" fmla="*/ 0 h 16"/>
                <a:gd name="T2" fmla="*/ 0 w 9"/>
                <a:gd name="T3" fmla="*/ 0 h 16"/>
                <a:gd name="T4" fmla="*/ 0 w 9"/>
                <a:gd name="T5" fmla="*/ 0 h 16"/>
                <a:gd name="T6" fmla="*/ 0 w 9"/>
                <a:gd name="T7" fmla="*/ 0 h 1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16">
                  <a:moveTo>
                    <a:pt x="9" y="0"/>
                  </a:moveTo>
                  <a:lnTo>
                    <a:pt x="0" y="0"/>
                  </a:lnTo>
                  <a:lnTo>
                    <a:pt x="0" y="16"/>
                  </a:lnTo>
                  <a:lnTo>
                    <a:pt x="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2" name="Freeform 175"/>
            <p:cNvSpPr>
              <a:spLocks/>
            </p:cNvSpPr>
            <p:nvPr/>
          </p:nvSpPr>
          <p:spPr bwMode="auto">
            <a:xfrm>
              <a:off x="260" y="1863"/>
              <a:ext cx="62" cy="154"/>
            </a:xfrm>
            <a:custGeom>
              <a:avLst/>
              <a:gdLst>
                <a:gd name="T0" fmla="*/ 0 w 309"/>
                <a:gd name="T1" fmla="*/ 0 h 772"/>
                <a:gd name="T2" fmla="*/ 0 w 309"/>
                <a:gd name="T3" fmla="*/ 0 h 772"/>
                <a:gd name="T4" fmla="*/ 0 w 309"/>
                <a:gd name="T5" fmla="*/ 0 h 772"/>
                <a:gd name="T6" fmla="*/ 0 w 309"/>
                <a:gd name="T7" fmla="*/ 0 h 772"/>
                <a:gd name="T8" fmla="*/ 0 w 309"/>
                <a:gd name="T9" fmla="*/ 0 h 772"/>
                <a:gd name="T10" fmla="*/ 0 w 309"/>
                <a:gd name="T11" fmla="*/ 0 h 772"/>
                <a:gd name="T12" fmla="*/ 0 w 309"/>
                <a:gd name="T13" fmla="*/ 0 h 772"/>
                <a:gd name="T14" fmla="*/ 0 w 309"/>
                <a:gd name="T15" fmla="*/ 0 h 772"/>
                <a:gd name="T16" fmla="*/ 0 w 309"/>
                <a:gd name="T17" fmla="*/ 0 h 772"/>
                <a:gd name="T18" fmla="*/ 0 w 309"/>
                <a:gd name="T19" fmla="*/ 0 h 772"/>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309" h="772">
                  <a:moveTo>
                    <a:pt x="46" y="0"/>
                  </a:moveTo>
                  <a:lnTo>
                    <a:pt x="75" y="32"/>
                  </a:lnTo>
                  <a:lnTo>
                    <a:pt x="84" y="78"/>
                  </a:lnTo>
                  <a:lnTo>
                    <a:pt x="127" y="122"/>
                  </a:lnTo>
                  <a:lnTo>
                    <a:pt x="218" y="330"/>
                  </a:lnTo>
                  <a:lnTo>
                    <a:pt x="269" y="519"/>
                  </a:lnTo>
                  <a:lnTo>
                    <a:pt x="309" y="772"/>
                  </a:lnTo>
                  <a:lnTo>
                    <a:pt x="182" y="659"/>
                  </a:lnTo>
                  <a:lnTo>
                    <a:pt x="0" y="100"/>
                  </a:lnTo>
                  <a:lnTo>
                    <a:pt x="46" y="0"/>
                  </a:lnTo>
                  <a:close/>
                </a:path>
              </a:pathLst>
            </a:custGeom>
            <a:solidFill>
              <a:srgbClr val="40000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3" name="Freeform 176"/>
            <p:cNvSpPr>
              <a:spLocks/>
            </p:cNvSpPr>
            <p:nvPr/>
          </p:nvSpPr>
          <p:spPr bwMode="auto">
            <a:xfrm>
              <a:off x="162" y="1833"/>
              <a:ext cx="229" cy="257"/>
            </a:xfrm>
            <a:custGeom>
              <a:avLst/>
              <a:gdLst>
                <a:gd name="T0" fmla="*/ 0 w 1147"/>
                <a:gd name="T1" fmla="*/ 0 h 1285"/>
                <a:gd name="T2" fmla="*/ 0 w 1147"/>
                <a:gd name="T3" fmla="*/ 0 h 1285"/>
                <a:gd name="T4" fmla="*/ 0 w 1147"/>
                <a:gd name="T5" fmla="*/ 0 h 1285"/>
                <a:gd name="T6" fmla="*/ 0 w 1147"/>
                <a:gd name="T7" fmla="*/ 0 h 1285"/>
                <a:gd name="T8" fmla="*/ 0 w 1147"/>
                <a:gd name="T9" fmla="*/ 0 h 1285"/>
                <a:gd name="T10" fmla="*/ 0 w 1147"/>
                <a:gd name="T11" fmla="*/ 0 h 1285"/>
                <a:gd name="T12" fmla="*/ 0 w 1147"/>
                <a:gd name="T13" fmla="*/ 0 h 1285"/>
                <a:gd name="T14" fmla="*/ 0 w 1147"/>
                <a:gd name="T15" fmla="*/ 0 h 1285"/>
                <a:gd name="T16" fmla="*/ 0 w 1147"/>
                <a:gd name="T17" fmla="*/ 0 h 1285"/>
                <a:gd name="T18" fmla="*/ 0 w 1147"/>
                <a:gd name="T19" fmla="*/ 0 h 1285"/>
                <a:gd name="T20" fmla="*/ 0 w 1147"/>
                <a:gd name="T21" fmla="*/ 0 h 1285"/>
                <a:gd name="T22" fmla="*/ 0 w 1147"/>
                <a:gd name="T23" fmla="*/ 0 h 1285"/>
                <a:gd name="T24" fmla="*/ 0 w 1147"/>
                <a:gd name="T25" fmla="*/ 0 h 1285"/>
                <a:gd name="T26" fmla="*/ 0 w 1147"/>
                <a:gd name="T27" fmla="*/ 0 h 1285"/>
                <a:gd name="T28" fmla="*/ 0 w 1147"/>
                <a:gd name="T29" fmla="*/ 0 h 1285"/>
                <a:gd name="T30" fmla="*/ 0 w 1147"/>
                <a:gd name="T31" fmla="*/ 0 h 1285"/>
                <a:gd name="T32" fmla="*/ 0 w 1147"/>
                <a:gd name="T33" fmla="*/ 0 h 1285"/>
                <a:gd name="T34" fmla="*/ 0 w 1147"/>
                <a:gd name="T35" fmla="*/ 0 h 1285"/>
                <a:gd name="T36" fmla="*/ 0 w 1147"/>
                <a:gd name="T37" fmla="*/ 0 h 1285"/>
                <a:gd name="T38" fmla="*/ 0 w 1147"/>
                <a:gd name="T39" fmla="*/ 0 h 1285"/>
                <a:gd name="T40" fmla="*/ 0 w 1147"/>
                <a:gd name="T41" fmla="*/ 0 h 1285"/>
                <a:gd name="T42" fmla="*/ 0 w 1147"/>
                <a:gd name="T43" fmla="*/ 0 h 1285"/>
                <a:gd name="T44" fmla="*/ 0 w 1147"/>
                <a:gd name="T45" fmla="*/ 0 h 1285"/>
                <a:gd name="T46" fmla="*/ 0 w 1147"/>
                <a:gd name="T47" fmla="*/ 0 h 1285"/>
                <a:gd name="T48" fmla="*/ 0 w 1147"/>
                <a:gd name="T49" fmla="*/ 0 h 1285"/>
                <a:gd name="T50" fmla="*/ 0 w 1147"/>
                <a:gd name="T51" fmla="*/ 0 h 1285"/>
                <a:gd name="T52" fmla="*/ 0 w 1147"/>
                <a:gd name="T53" fmla="*/ 0 h 1285"/>
                <a:gd name="T54" fmla="*/ 0 w 1147"/>
                <a:gd name="T55" fmla="*/ 0 h 1285"/>
                <a:gd name="T56" fmla="*/ 0 w 1147"/>
                <a:gd name="T57" fmla="*/ 0 h 1285"/>
                <a:gd name="T58" fmla="*/ 0 w 1147"/>
                <a:gd name="T59" fmla="*/ 0 h 1285"/>
                <a:gd name="T60" fmla="*/ 0 w 1147"/>
                <a:gd name="T61" fmla="*/ 0 h 1285"/>
                <a:gd name="T62" fmla="*/ 0 w 1147"/>
                <a:gd name="T63" fmla="*/ 0 h 1285"/>
                <a:gd name="T64" fmla="*/ 0 w 1147"/>
                <a:gd name="T65" fmla="*/ 0 h 1285"/>
                <a:gd name="T66" fmla="*/ 0 w 1147"/>
                <a:gd name="T67" fmla="*/ 0 h 1285"/>
                <a:gd name="T68" fmla="*/ 0 w 1147"/>
                <a:gd name="T69" fmla="*/ 0 h 1285"/>
                <a:gd name="T70" fmla="*/ 0 w 1147"/>
                <a:gd name="T71" fmla="*/ 0 h 1285"/>
                <a:gd name="T72" fmla="*/ 0 w 1147"/>
                <a:gd name="T73" fmla="*/ 0 h 1285"/>
                <a:gd name="T74" fmla="*/ 0 w 1147"/>
                <a:gd name="T75" fmla="*/ 0 h 1285"/>
                <a:gd name="T76" fmla="*/ 0 w 1147"/>
                <a:gd name="T77" fmla="*/ 0 h 1285"/>
                <a:gd name="T78" fmla="*/ 0 w 1147"/>
                <a:gd name="T79" fmla="*/ 0 h 1285"/>
                <a:gd name="T80" fmla="*/ 0 w 1147"/>
                <a:gd name="T81" fmla="*/ 0 h 1285"/>
                <a:gd name="T82" fmla="*/ 0 w 1147"/>
                <a:gd name="T83" fmla="*/ 0 h 1285"/>
                <a:gd name="T84" fmla="*/ 0 w 1147"/>
                <a:gd name="T85" fmla="*/ 0 h 1285"/>
                <a:gd name="T86" fmla="*/ 0 w 1147"/>
                <a:gd name="T87" fmla="*/ 0 h 1285"/>
                <a:gd name="T88" fmla="*/ 0 w 1147"/>
                <a:gd name="T89" fmla="*/ 0 h 1285"/>
                <a:gd name="T90" fmla="*/ 0 w 1147"/>
                <a:gd name="T91" fmla="*/ 0 h 1285"/>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147" h="1285">
                  <a:moveTo>
                    <a:pt x="212" y="67"/>
                  </a:moveTo>
                  <a:lnTo>
                    <a:pt x="247" y="0"/>
                  </a:lnTo>
                  <a:lnTo>
                    <a:pt x="528" y="116"/>
                  </a:lnTo>
                  <a:lnTo>
                    <a:pt x="541" y="206"/>
                  </a:lnTo>
                  <a:lnTo>
                    <a:pt x="563" y="238"/>
                  </a:lnTo>
                  <a:lnTo>
                    <a:pt x="595" y="274"/>
                  </a:lnTo>
                  <a:lnTo>
                    <a:pt x="614" y="339"/>
                  </a:lnTo>
                  <a:lnTo>
                    <a:pt x="676" y="487"/>
                  </a:lnTo>
                  <a:lnTo>
                    <a:pt x="727" y="663"/>
                  </a:lnTo>
                  <a:lnTo>
                    <a:pt x="748" y="780"/>
                  </a:lnTo>
                  <a:lnTo>
                    <a:pt x="974" y="785"/>
                  </a:lnTo>
                  <a:lnTo>
                    <a:pt x="1011" y="807"/>
                  </a:lnTo>
                  <a:lnTo>
                    <a:pt x="1115" y="807"/>
                  </a:lnTo>
                  <a:lnTo>
                    <a:pt x="1143" y="853"/>
                  </a:lnTo>
                  <a:lnTo>
                    <a:pt x="1147" y="907"/>
                  </a:lnTo>
                  <a:lnTo>
                    <a:pt x="1137" y="956"/>
                  </a:lnTo>
                  <a:lnTo>
                    <a:pt x="1042" y="974"/>
                  </a:lnTo>
                  <a:lnTo>
                    <a:pt x="997" y="1041"/>
                  </a:lnTo>
                  <a:lnTo>
                    <a:pt x="907" y="1064"/>
                  </a:lnTo>
                  <a:lnTo>
                    <a:pt x="840" y="1064"/>
                  </a:lnTo>
                  <a:lnTo>
                    <a:pt x="763" y="1079"/>
                  </a:lnTo>
                  <a:lnTo>
                    <a:pt x="759" y="1110"/>
                  </a:lnTo>
                  <a:lnTo>
                    <a:pt x="763" y="1177"/>
                  </a:lnTo>
                  <a:lnTo>
                    <a:pt x="754" y="1223"/>
                  </a:lnTo>
                  <a:lnTo>
                    <a:pt x="713" y="1227"/>
                  </a:lnTo>
                  <a:lnTo>
                    <a:pt x="663" y="1236"/>
                  </a:lnTo>
                  <a:lnTo>
                    <a:pt x="614" y="1282"/>
                  </a:lnTo>
                  <a:lnTo>
                    <a:pt x="554" y="1282"/>
                  </a:lnTo>
                  <a:lnTo>
                    <a:pt x="501" y="1276"/>
                  </a:lnTo>
                  <a:lnTo>
                    <a:pt x="420" y="1250"/>
                  </a:lnTo>
                  <a:lnTo>
                    <a:pt x="330" y="1259"/>
                  </a:lnTo>
                  <a:lnTo>
                    <a:pt x="238" y="1285"/>
                  </a:lnTo>
                  <a:lnTo>
                    <a:pt x="153" y="1267"/>
                  </a:lnTo>
                  <a:lnTo>
                    <a:pt x="95" y="1200"/>
                  </a:lnTo>
                  <a:lnTo>
                    <a:pt x="99" y="1128"/>
                  </a:lnTo>
                  <a:lnTo>
                    <a:pt x="76" y="1038"/>
                  </a:lnTo>
                  <a:lnTo>
                    <a:pt x="64" y="920"/>
                  </a:lnTo>
                  <a:lnTo>
                    <a:pt x="36" y="812"/>
                  </a:lnTo>
                  <a:lnTo>
                    <a:pt x="0" y="650"/>
                  </a:lnTo>
                  <a:lnTo>
                    <a:pt x="4" y="487"/>
                  </a:lnTo>
                  <a:lnTo>
                    <a:pt x="4" y="342"/>
                  </a:lnTo>
                  <a:lnTo>
                    <a:pt x="14" y="243"/>
                  </a:lnTo>
                  <a:lnTo>
                    <a:pt x="36" y="198"/>
                  </a:lnTo>
                  <a:lnTo>
                    <a:pt x="87" y="162"/>
                  </a:lnTo>
                  <a:lnTo>
                    <a:pt x="145" y="102"/>
                  </a:lnTo>
                  <a:lnTo>
                    <a:pt x="212" y="67"/>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4" name="Freeform 177"/>
            <p:cNvSpPr>
              <a:spLocks/>
            </p:cNvSpPr>
            <p:nvPr/>
          </p:nvSpPr>
          <p:spPr bwMode="auto">
            <a:xfrm>
              <a:off x="166" y="1848"/>
              <a:ext cx="145" cy="240"/>
            </a:xfrm>
            <a:custGeom>
              <a:avLst/>
              <a:gdLst>
                <a:gd name="T0" fmla="*/ 0 w 725"/>
                <a:gd name="T1" fmla="*/ 0 h 1198"/>
                <a:gd name="T2" fmla="*/ 0 w 725"/>
                <a:gd name="T3" fmla="*/ 0 h 1198"/>
                <a:gd name="T4" fmla="*/ 0 w 725"/>
                <a:gd name="T5" fmla="*/ 0 h 1198"/>
                <a:gd name="T6" fmla="*/ 0 w 725"/>
                <a:gd name="T7" fmla="*/ 0 h 1198"/>
                <a:gd name="T8" fmla="*/ 0 w 725"/>
                <a:gd name="T9" fmla="*/ 0 h 1198"/>
                <a:gd name="T10" fmla="*/ 0 w 725"/>
                <a:gd name="T11" fmla="*/ 0 h 1198"/>
                <a:gd name="T12" fmla="*/ 0 w 725"/>
                <a:gd name="T13" fmla="*/ 0 h 1198"/>
                <a:gd name="T14" fmla="*/ 0 w 725"/>
                <a:gd name="T15" fmla="*/ 0 h 1198"/>
                <a:gd name="T16" fmla="*/ 0 w 725"/>
                <a:gd name="T17" fmla="*/ 0 h 1198"/>
                <a:gd name="T18" fmla="*/ 0 w 725"/>
                <a:gd name="T19" fmla="*/ 0 h 1198"/>
                <a:gd name="T20" fmla="*/ 0 w 725"/>
                <a:gd name="T21" fmla="*/ 0 h 1198"/>
                <a:gd name="T22" fmla="*/ 0 w 725"/>
                <a:gd name="T23" fmla="*/ 0 h 1198"/>
                <a:gd name="T24" fmla="*/ 0 w 725"/>
                <a:gd name="T25" fmla="*/ 0 h 1198"/>
                <a:gd name="T26" fmla="*/ 0 w 725"/>
                <a:gd name="T27" fmla="*/ 0 h 1198"/>
                <a:gd name="T28" fmla="*/ 0 w 725"/>
                <a:gd name="T29" fmla="*/ 0 h 1198"/>
                <a:gd name="T30" fmla="*/ 0 w 725"/>
                <a:gd name="T31" fmla="*/ 0 h 1198"/>
                <a:gd name="T32" fmla="*/ 0 w 725"/>
                <a:gd name="T33" fmla="*/ 0 h 1198"/>
                <a:gd name="T34" fmla="*/ 0 w 725"/>
                <a:gd name="T35" fmla="*/ 0 h 1198"/>
                <a:gd name="T36" fmla="*/ 0 w 725"/>
                <a:gd name="T37" fmla="*/ 0 h 1198"/>
                <a:gd name="T38" fmla="*/ 0 w 725"/>
                <a:gd name="T39" fmla="*/ 0 h 1198"/>
                <a:gd name="T40" fmla="*/ 0 w 725"/>
                <a:gd name="T41" fmla="*/ 0 h 1198"/>
                <a:gd name="T42" fmla="*/ 0 w 725"/>
                <a:gd name="T43" fmla="*/ 0 h 1198"/>
                <a:gd name="T44" fmla="*/ 0 w 725"/>
                <a:gd name="T45" fmla="*/ 0 h 1198"/>
                <a:gd name="T46" fmla="*/ 0 w 725"/>
                <a:gd name="T47" fmla="*/ 0 h 1198"/>
                <a:gd name="T48" fmla="*/ 0 w 725"/>
                <a:gd name="T49" fmla="*/ 0 h 1198"/>
                <a:gd name="T50" fmla="*/ 0 w 725"/>
                <a:gd name="T51" fmla="*/ 0 h 1198"/>
                <a:gd name="T52" fmla="*/ 0 w 725"/>
                <a:gd name="T53" fmla="*/ 0 h 1198"/>
                <a:gd name="T54" fmla="*/ 0 w 725"/>
                <a:gd name="T55" fmla="*/ 0 h 1198"/>
                <a:gd name="T56" fmla="*/ 0 w 725"/>
                <a:gd name="T57" fmla="*/ 0 h 1198"/>
                <a:gd name="T58" fmla="*/ 0 w 725"/>
                <a:gd name="T59" fmla="*/ 0 h 1198"/>
                <a:gd name="T60" fmla="*/ 0 w 725"/>
                <a:gd name="T61" fmla="*/ 0 h 1198"/>
                <a:gd name="T62" fmla="*/ 0 w 725"/>
                <a:gd name="T63" fmla="*/ 0 h 1198"/>
                <a:gd name="T64" fmla="*/ 0 w 725"/>
                <a:gd name="T65" fmla="*/ 0 h 1198"/>
                <a:gd name="T66" fmla="*/ 0 w 725"/>
                <a:gd name="T67" fmla="*/ 0 h 1198"/>
                <a:gd name="T68" fmla="*/ 0 w 725"/>
                <a:gd name="T69" fmla="*/ 0 h 1198"/>
                <a:gd name="T70" fmla="*/ 0 w 725"/>
                <a:gd name="T71" fmla="*/ 0 h 1198"/>
                <a:gd name="T72" fmla="*/ 0 w 725"/>
                <a:gd name="T73" fmla="*/ 0 h 1198"/>
                <a:gd name="T74" fmla="*/ 0 w 725"/>
                <a:gd name="T75" fmla="*/ 0 h 1198"/>
                <a:gd name="T76" fmla="*/ 0 w 725"/>
                <a:gd name="T77" fmla="*/ 0 h 119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725" h="1198">
                  <a:moveTo>
                    <a:pt x="725" y="1005"/>
                  </a:moveTo>
                  <a:lnTo>
                    <a:pt x="630" y="990"/>
                  </a:lnTo>
                  <a:lnTo>
                    <a:pt x="549" y="986"/>
                  </a:lnTo>
                  <a:lnTo>
                    <a:pt x="460" y="978"/>
                  </a:lnTo>
                  <a:lnTo>
                    <a:pt x="359" y="963"/>
                  </a:lnTo>
                  <a:lnTo>
                    <a:pt x="314" y="932"/>
                  </a:lnTo>
                  <a:lnTo>
                    <a:pt x="193" y="780"/>
                  </a:lnTo>
                  <a:lnTo>
                    <a:pt x="256" y="825"/>
                  </a:lnTo>
                  <a:lnTo>
                    <a:pt x="297" y="861"/>
                  </a:lnTo>
                  <a:lnTo>
                    <a:pt x="274" y="753"/>
                  </a:lnTo>
                  <a:lnTo>
                    <a:pt x="228" y="712"/>
                  </a:lnTo>
                  <a:lnTo>
                    <a:pt x="162" y="600"/>
                  </a:lnTo>
                  <a:lnTo>
                    <a:pt x="225" y="653"/>
                  </a:lnTo>
                  <a:lnTo>
                    <a:pt x="266" y="668"/>
                  </a:lnTo>
                  <a:lnTo>
                    <a:pt x="256" y="590"/>
                  </a:lnTo>
                  <a:lnTo>
                    <a:pt x="211" y="532"/>
                  </a:lnTo>
                  <a:lnTo>
                    <a:pt x="167" y="487"/>
                  </a:lnTo>
                  <a:lnTo>
                    <a:pt x="121" y="355"/>
                  </a:lnTo>
                  <a:lnTo>
                    <a:pt x="207" y="464"/>
                  </a:lnTo>
                  <a:lnTo>
                    <a:pt x="256" y="504"/>
                  </a:lnTo>
                  <a:lnTo>
                    <a:pt x="261" y="337"/>
                  </a:lnTo>
                  <a:lnTo>
                    <a:pt x="274" y="271"/>
                  </a:lnTo>
                  <a:lnTo>
                    <a:pt x="301" y="240"/>
                  </a:lnTo>
                  <a:lnTo>
                    <a:pt x="341" y="190"/>
                  </a:lnTo>
                  <a:lnTo>
                    <a:pt x="405" y="167"/>
                  </a:lnTo>
                  <a:lnTo>
                    <a:pt x="437" y="153"/>
                  </a:lnTo>
                  <a:lnTo>
                    <a:pt x="347" y="68"/>
                  </a:lnTo>
                  <a:lnTo>
                    <a:pt x="251" y="90"/>
                  </a:lnTo>
                  <a:lnTo>
                    <a:pt x="188" y="127"/>
                  </a:lnTo>
                  <a:lnTo>
                    <a:pt x="167" y="162"/>
                  </a:lnTo>
                  <a:lnTo>
                    <a:pt x="184" y="107"/>
                  </a:lnTo>
                  <a:lnTo>
                    <a:pt x="220" y="90"/>
                  </a:lnTo>
                  <a:lnTo>
                    <a:pt x="278" y="68"/>
                  </a:lnTo>
                  <a:lnTo>
                    <a:pt x="324" y="60"/>
                  </a:lnTo>
                  <a:lnTo>
                    <a:pt x="297" y="45"/>
                  </a:lnTo>
                  <a:lnTo>
                    <a:pt x="251" y="32"/>
                  </a:lnTo>
                  <a:lnTo>
                    <a:pt x="211" y="17"/>
                  </a:lnTo>
                  <a:lnTo>
                    <a:pt x="188" y="0"/>
                  </a:lnTo>
                  <a:lnTo>
                    <a:pt x="136" y="37"/>
                  </a:lnTo>
                  <a:lnTo>
                    <a:pt x="104" y="68"/>
                  </a:lnTo>
                  <a:lnTo>
                    <a:pt x="73" y="107"/>
                  </a:lnTo>
                  <a:lnTo>
                    <a:pt x="27" y="130"/>
                  </a:lnTo>
                  <a:lnTo>
                    <a:pt x="18" y="172"/>
                  </a:lnTo>
                  <a:lnTo>
                    <a:pt x="0" y="240"/>
                  </a:lnTo>
                  <a:lnTo>
                    <a:pt x="0" y="342"/>
                  </a:lnTo>
                  <a:lnTo>
                    <a:pt x="5" y="450"/>
                  </a:lnTo>
                  <a:lnTo>
                    <a:pt x="8" y="573"/>
                  </a:lnTo>
                  <a:lnTo>
                    <a:pt x="31" y="698"/>
                  </a:lnTo>
                  <a:lnTo>
                    <a:pt x="58" y="830"/>
                  </a:lnTo>
                  <a:lnTo>
                    <a:pt x="73" y="941"/>
                  </a:lnTo>
                  <a:lnTo>
                    <a:pt x="95" y="1022"/>
                  </a:lnTo>
                  <a:lnTo>
                    <a:pt x="90" y="1095"/>
                  </a:lnTo>
                  <a:lnTo>
                    <a:pt x="99" y="1135"/>
                  </a:lnTo>
                  <a:lnTo>
                    <a:pt x="131" y="1166"/>
                  </a:lnTo>
                  <a:lnTo>
                    <a:pt x="171" y="1193"/>
                  </a:lnTo>
                  <a:lnTo>
                    <a:pt x="225" y="1198"/>
                  </a:lnTo>
                  <a:lnTo>
                    <a:pt x="251" y="1185"/>
                  </a:lnTo>
                  <a:lnTo>
                    <a:pt x="288" y="1181"/>
                  </a:lnTo>
                  <a:lnTo>
                    <a:pt x="374" y="1163"/>
                  </a:lnTo>
                  <a:lnTo>
                    <a:pt x="337" y="1118"/>
                  </a:lnTo>
                  <a:lnTo>
                    <a:pt x="297" y="1053"/>
                  </a:lnTo>
                  <a:lnTo>
                    <a:pt x="356" y="1099"/>
                  </a:lnTo>
                  <a:lnTo>
                    <a:pt x="401" y="1140"/>
                  </a:lnTo>
                  <a:lnTo>
                    <a:pt x="433" y="1163"/>
                  </a:lnTo>
                  <a:lnTo>
                    <a:pt x="477" y="1185"/>
                  </a:lnTo>
                  <a:lnTo>
                    <a:pt x="527" y="1185"/>
                  </a:lnTo>
                  <a:lnTo>
                    <a:pt x="575" y="1185"/>
                  </a:lnTo>
                  <a:lnTo>
                    <a:pt x="603" y="1172"/>
                  </a:lnTo>
                  <a:lnTo>
                    <a:pt x="616" y="1158"/>
                  </a:lnTo>
                  <a:lnTo>
                    <a:pt x="553" y="1122"/>
                  </a:lnTo>
                  <a:lnTo>
                    <a:pt x="491" y="1063"/>
                  </a:lnTo>
                  <a:lnTo>
                    <a:pt x="472" y="1036"/>
                  </a:lnTo>
                  <a:lnTo>
                    <a:pt x="523" y="1050"/>
                  </a:lnTo>
                  <a:lnTo>
                    <a:pt x="598" y="1108"/>
                  </a:lnTo>
                  <a:lnTo>
                    <a:pt x="630" y="1135"/>
                  </a:lnTo>
                  <a:lnTo>
                    <a:pt x="702" y="1140"/>
                  </a:lnTo>
                  <a:lnTo>
                    <a:pt x="725" y="1126"/>
                  </a:lnTo>
                  <a:lnTo>
                    <a:pt x="725" y="1095"/>
                  </a:lnTo>
                  <a:lnTo>
                    <a:pt x="725" y="1005"/>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5" name="Freeform 178"/>
            <p:cNvSpPr>
              <a:spLocks/>
            </p:cNvSpPr>
            <p:nvPr/>
          </p:nvSpPr>
          <p:spPr bwMode="auto">
            <a:xfrm>
              <a:off x="176" y="1968"/>
              <a:ext cx="43" cy="110"/>
            </a:xfrm>
            <a:custGeom>
              <a:avLst/>
              <a:gdLst>
                <a:gd name="T0" fmla="*/ 0 w 211"/>
                <a:gd name="T1" fmla="*/ 0 h 553"/>
                <a:gd name="T2" fmla="*/ 0 w 211"/>
                <a:gd name="T3" fmla="*/ 0 h 553"/>
                <a:gd name="T4" fmla="*/ 0 w 211"/>
                <a:gd name="T5" fmla="*/ 0 h 553"/>
                <a:gd name="T6" fmla="*/ 0 w 211"/>
                <a:gd name="T7" fmla="*/ 0 h 553"/>
                <a:gd name="T8" fmla="*/ 0 w 211"/>
                <a:gd name="T9" fmla="*/ 0 h 553"/>
                <a:gd name="T10" fmla="*/ 0 w 211"/>
                <a:gd name="T11" fmla="*/ 0 h 553"/>
                <a:gd name="T12" fmla="*/ 0 w 211"/>
                <a:gd name="T13" fmla="*/ 0 h 553"/>
                <a:gd name="T14" fmla="*/ 0 w 211"/>
                <a:gd name="T15" fmla="*/ 0 h 553"/>
                <a:gd name="T16" fmla="*/ 0 w 211"/>
                <a:gd name="T17" fmla="*/ 0 h 553"/>
                <a:gd name="T18" fmla="*/ 0 w 211"/>
                <a:gd name="T19" fmla="*/ 0 h 553"/>
                <a:gd name="T20" fmla="*/ 0 w 211"/>
                <a:gd name="T21" fmla="*/ 0 h 553"/>
                <a:gd name="T22" fmla="*/ 0 w 211"/>
                <a:gd name="T23" fmla="*/ 0 h 553"/>
                <a:gd name="T24" fmla="*/ 0 w 211"/>
                <a:gd name="T25" fmla="*/ 0 h 553"/>
                <a:gd name="T26" fmla="*/ 0 w 211"/>
                <a:gd name="T27" fmla="*/ 0 h 5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11" h="553">
                  <a:moveTo>
                    <a:pt x="211" y="553"/>
                  </a:moveTo>
                  <a:lnTo>
                    <a:pt x="173" y="535"/>
                  </a:lnTo>
                  <a:lnTo>
                    <a:pt x="134" y="490"/>
                  </a:lnTo>
                  <a:lnTo>
                    <a:pt x="99" y="410"/>
                  </a:lnTo>
                  <a:lnTo>
                    <a:pt x="81" y="342"/>
                  </a:lnTo>
                  <a:lnTo>
                    <a:pt x="53" y="265"/>
                  </a:lnTo>
                  <a:lnTo>
                    <a:pt x="41" y="192"/>
                  </a:lnTo>
                  <a:lnTo>
                    <a:pt x="19" y="81"/>
                  </a:lnTo>
                  <a:lnTo>
                    <a:pt x="0" y="0"/>
                  </a:lnTo>
                  <a:lnTo>
                    <a:pt x="45" y="162"/>
                  </a:lnTo>
                  <a:lnTo>
                    <a:pt x="81" y="287"/>
                  </a:lnTo>
                  <a:lnTo>
                    <a:pt x="121" y="373"/>
                  </a:lnTo>
                  <a:lnTo>
                    <a:pt x="183" y="463"/>
                  </a:lnTo>
                  <a:lnTo>
                    <a:pt x="211" y="55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6" name="Freeform 179"/>
            <p:cNvSpPr>
              <a:spLocks/>
            </p:cNvSpPr>
            <p:nvPr/>
          </p:nvSpPr>
          <p:spPr bwMode="auto">
            <a:xfrm>
              <a:off x="220" y="1878"/>
              <a:ext cx="167" cy="167"/>
            </a:xfrm>
            <a:custGeom>
              <a:avLst/>
              <a:gdLst>
                <a:gd name="T0" fmla="*/ 0 w 838"/>
                <a:gd name="T1" fmla="*/ 0 h 832"/>
                <a:gd name="T2" fmla="*/ 0 w 838"/>
                <a:gd name="T3" fmla="*/ 0 h 832"/>
                <a:gd name="T4" fmla="*/ 0 w 838"/>
                <a:gd name="T5" fmla="*/ 0 h 832"/>
                <a:gd name="T6" fmla="*/ 0 w 838"/>
                <a:gd name="T7" fmla="*/ 0 h 832"/>
                <a:gd name="T8" fmla="*/ 0 w 838"/>
                <a:gd name="T9" fmla="*/ 0 h 832"/>
                <a:gd name="T10" fmla="*/ 0 w 838"/>
                <a:gd name="T11" fmla="*/ 0 h 832"/>
                <a:gd name="T12" fmla="*/ 0 w 838"/>
                <a:gd name="T13" fmla="*/ 0 h 832"/>
                <a:gd name="T14" fmla="*/ 0 w 838"/>
                <a:gd name="T15" fmla="*/ 0 h 832"/>
                <a:gd name="T16" fmla="*/ 0 w 838"/>
                <a:gd name="T17" fmla="*/ 0 h 832"/>
                <a:gd name="T18" fmla="*/ 0 w 838"/>
                <a:gd name="T19" fmla="*/ 0 h 832"/>
                <a:gd name="T20" fmla="*/ 0 w 838"/>
                <a:gd name="T21" fmla="*/ 0 h 832"/>
                <a:gd name="T22" fmla="*/ 0 w 838"/>
                <a:gd name="T23" fmla="*/ 0 h 832"/>
                <a:gd name="T24" fmla="*/ 0 w 838"/>
                <a:gd name="T25" fmla="*/ 0 h 832"/>
                <a:gd name="T26" fmla="*/ 0 w 838"/>
                <a:gd name="T27" fmla="*/ 0 h 832"/>
                <a:gd name="T28" fmla="*/ 0 w 838"/>
                <a:gd name="T29" fmla="*/ 0 h 832"/>
                <a:gd name="T30" fmla="*/ 0 w 838"/>
                <a:gd name="T31" fmla="*/ 0 h 832"/>
                <a:gd name="T32" fmla="*/ 0 w 838"/>
                <a:gd name="T33" fmla="*/ 0 h 832"/>
                <a:gd name="T34" fmla="*/ 0 w 838"/>
                <a:gd name="T35" fmla="*/ 0 h 832"/>
                <a:gd name="T36" fmla="*/ 0 w 838"/>
                <a:gd name="T37" fmla="*/ 0 h 832"/>
                <a:gd name="T38" fmla="*/ 0 w 838"/>
                <a:gd name="T39" fmla="*/ 0 h 832"/>
                <a:gd name="T40" fmla="*/ 0 w 838"/>
                <a:gd name="T41" fmla="*/ 0 h 832"/>
                <a:gd name="T42" fmla="*/ 0 w 838"/>
                <a:gd name="T43" fmla="*/ 0 h 832"/>
                <a:gd name="T44" fmla="*/ 0 w 838"/>
                <a:gd name="T45" fmla="*/ 0 h 832"/>
                <a:gd name="T46" fmla="*/ 0 w 838"/>
                <a:gd name="T47" fmla="*/ 0 h 832"/>
                <a:gd name="T48" fmla="*/ 0 w 838"/>
                <a:gd name="T49" fmla="*/ 0 h 832"/>
                <a:gd name="T50" fmla="*/ 0 w 838"/>
                <a:gd name="T51" fmla="*/ 0 h 832"/>
                <a:gd name="T52" fmla="*/ 0 w 838"/>
                <a:gd name="T53" fmla="*/ 0 h 832"/>
                <a:gd name="T54" fmla="*/ 0 w 838"/>
                <a:gd name="T55" fmla="*/ 0 h 832"/>
                <a:gd name="T56" fmla="*/ 0 w 838"/>
                <a:gd name="T57" fmla="*/ 0 h 832"/>
                <a:gd name="T58" fmla="*/ 0 w 838"/>
                <a:gd name="T59" fmla="*/ 0 h 832"/>
                <a:gd name="T60" fmla="*/ 0 w 838"/>
                <a:gd name="T61" fmla="*/ 0 h 832"/>
                <a:gd name="T62" fmla="*/ 0 w 838"/>
                <a:gd name="T63" fmla="*/ 0 h 832"/>
                <a:gd name="T64" fmla="*/ 0 w 838"/>
                <a:gd name="T65" fmla="*/ 0 h 832"/>
                <a:gd name="T66" fmla="*/ 0 w 838"/>
                <a:gd name="T67" fmla="*/ 0 h 832"/>
                <a:gd name="T68" fmla="*/ 0 w 838"/>
                <a:gd name="T69" fmla="*/ 0 h 832"/>
                <a:gd name="T70" fmla="*/ 0 w 838"/>
                <a:gd name="T71" fmla="*/ 0 h 832"/>
                <a:gd name="T72" fmla="*/ 0 w 838"/>
                <a:gd name="T73" fmla="*/ 0 h 832"/>
                <a:gd name="T74" fmla="*/ 0 w 838"/>
                <a:gd name="T75" fmla="*/ 0 h 832"/>
                <a:gd name="T76" fmla="*/ 0 w 838"/>
                <a:gd name="T77" fmla="*/ 0 h 832"/>
                <a:gd name="T78" fmla="*/ 0 w 838"/>
                <a:gd name="T79" fmla="*/ 0 h 832"/>
                <a:gd name="T80" fmla="*/ 0 w 838"/>
                <a:gd name="T81" fmla="*/ 0 h 832"/>
                <a:gd name="T82" fmla="*/ 0 w 838"/>
                <a:gd name="T83" fmla="*/ 0 h 832"/>
                <a:gd name="T84" fmla="*/ 0 w 838"/>
                <a:gd name="T85" fmla="*/ 0 h 832"/>
                <a:gd name="T86" fmla="*/ 0 w 838"/>
                <a:gd name="T87" fmla="*/ 0 h 832"/>
                <a:gd name="T88" fmla="*/ 0 w 838"/>
                <a:gd name="T89" fmla="*/ 0 h 832"/>
                <a:gd name="T90" fmla="*/ 0 w 838"/>
                <a:gd name="T91" fmla="*/ 0 h 832"/>
                <a:gd name="T92" fmla="*/ 0 w 838"/>
                <a:gd name="T93" fmla="*/ 0 h 832"/>
                <a:gd name="T94" fmla="*/ 0 w 838"/>
                <a:gd name="T95" fmla="*/ 0 h 832"/>
                <a:gd name="T96" fmla="*/ 0 w 838"/>
                <a:gd name="T97" fmla="*/ 0 h 832"/>
                <a:gd name="T98" fmla="*/ 0 w 838"/>
                <a:gd name="T99" fmla="*/ 0 h 832"/>
                <a:gd name="T100" fmla="*/ 0 w 838"/>
                <a:gd name="T101" fmla="*/ 0 h 832"/>
                <a:gd name="T102" fmla="*/ 0 w 838"/>
                <a:gd name="T103" fmla="*/ 0 h 832"/>
                <a:gd name="T104" fmla="*/ 0 w 838"/>
                <a:gd name="T105" fmla="*/ 0 h 832"/>
                <a:gd name="T106" fmla="*/ 0 w 838"/>
                <a:gd name="T107" fmla="*/ 0 h 832"/>
                <a:gd name="T108" fmla="*/ 0 w 838"/>
                <a:gd name="T109" fmla="*/ 0 h 832"/>
                <a:gd name="T110" fmla="*/ 0 w 838"/>
                <a:gd name="T111" fmla="*/ 0 h 83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838" h="832">
                  <a:moveTo>
                    <a:pt x="155" y="0"/>
                  </a:moveTo>
                  <a:lnTo>
                    <a:pt x="253" y="30"/>
                  </a:lnTo>
                  <a:lnTo>
                    <a:pt x="298" y="70"/>
                  </a:lnTo>
                  <a:lnTo>
                    <a:pt x="326" y="153"/>
                  </a:lnTo>
                  <a:lnTo>
                    <a:pt x="326" y="228"/>
                  </a:lnTo>
                  <a:lnTo>
                    <a:pt x="311" y="272"/>
                  </a:lnTo>
                  <a:lnTo>
                    <a:pt x="320" y="350"/>
                  </a:lnTo>
                  <a:lnTo>
                    <a:pt x="320" y="408"/>
                  </a:lnTo>
                  <a:lnTo>
                    <a:pt x="306" y="423"/>
                  </a:lnTo>
                  <a:lnTo>
                    <a:pt x="320" y="445"/>
                  </a:lnTo>
                  <a:lnTo>
                    <a:pt x="329" y="467"/>
                  </a:lnTo>
                  <a:lnTo>
                    <a:pt x="311" y="490"/>
                  </a:lnTo>
                  <a:lnTo>
                    <a:pt x="311" y="513"/>
                  </a:lnTo>
                  <a:lnTo>
                    <a:pt x="347" y="521"/>
                  </a:lnTo>
                  <a:lnTo>
                    <a:pt x="343" y="544"/>
                  </a:lnTo>
                  <a:lnTo>
                    <a:pt x="378" y="557"/>
                  </a:lnTo>
                  <a:lnTo>
                    <a:pt x="411" y="548"/>
                  </a:lnTo>
                  <a:lnTo>
                    <a:pt x="433" y="557"/>
                  </a:lnTo>
                  <a:lnTo>
                    <a:pt x="532" y="571"/>
                  </a:lnTo>
                  <a:lnTo>
                    <a:pt x="622" y="567"/>
                  </a:lnTo>
                  <a:lnTo>
                    <a:pt x="679" y="571"/>
                  </a:lnTo>
                  <a:lnTo>
                    <a:pt x="717" y="594"/>
                  </a:lnTo>
                  <a:lnTo>
                    <a:pt x="807" y="594"/>
                  </a:lnTo>
                  <a:lnTo>
                    <a:pt x="838" y="625"/>
                  </a:lnTo>
                  <a:lnTo>
                    <a:pt x="838" y="660"/>
                  </a:lnTo>
                  <a:lnTo>
                    <a:pt x="833" y="719"/>
                  </a:lnTo>
                  <a:lnTo>
                    <a:pt x="762" y="738"/>
                  </a:lnTo>
                  <a:lnTo>
                    <a:pt x="762" y="700"/>
                  </a:lnTo>
                  <a:lnTo>
                    <a:pt x="757" y="669"/>
                  </a:lnTo>
                  <a:lnTo>
                    <a:pt x="743" y="656"/>
                  </a:lnTo>
                  <a:lnTo>
                    <a:pt x="739" y="692"/>
                  </a:lnTo>
                  <a:lnTo>
                    <a:pt x="734" y="738"/>
                  </a:lnTo>
                  <a:lnTo>
                    <a:pt x="717" y="765"/>
                  </a:lnTo>
                  <a:lnTo>
                    <a:pt x="685" y="800"/>
                  </a:lnTo>
                  <a:lnTo>
                    <a:pt x="610" y="818"/>
                  </a:lnTo>
                  <a:lnTo>
                    <a:pt x="550" y="828"/>
                  </a:lnTo>
                  <a:lnTo>
                    <a:pt x="482" y="832"/>
                  </a:lnTo>
                  <a:lnTo>
                    <a:pt x="569" y="782"/>
                  </a:lnTo>
                  <a:lnTo>
                    <a:pt x="627" y="738"/>
                  </a:lnTo>
                  <a:lnTo>
                    <a:pt x="639" y="700"/>
                  </a:lnTo>
                  <a:lnTo>
                    <a:pt x="631" y="669"/>
                  </a:lnTo>
                  <a:lnTo>
                    <a:pt x="582" y="665"/>
                  </a:lnTo>
                  <a:lnTo>
                    <a:pt x="564" y="700"/>
                  </a:lnTo>
                  <a:lnTo>
                    <a:pt x="550" y="742"/>
                  </a:lnTo>
                  <a:lnTo>
                    <a:pt x="505" y="787"/>
                  </a:lnTo>
                  <a:lnTo>
                    <a:pt x="456" y="823"/>
                  </a:lnTo>
                  <a:lnTo>
                    <a:pt x="406" y="828"/>
                  </a:lnTo>
                  <a:lnTo>
                    <a:pt x="329" y="823"/>
                  </a:lnTo>
                  <a:lnTo>
                    <a:pt x="411" y="759"/>
                  </a:lnTo>
                  <a:lnTo>
                    <a:pt x="469" y="727"/>
                  </a:lnTo>
                  <a:lnTo>
                    <a:pt x="514" y="692"/>
                  </a:lnTo>
                  <a:lnTo>
                    <a:pt x="528" y="665"/>
                  </a:lnTo>
                  <a:lnTo>
                    <a:pt x="524" y="637"/>
                  </a:lnTo>
                  <a:lnTo>
                    <a:pt x="497" y="633"/>
                  </a:lnTo>
                  <a:lnTo>
                    <a:pt x="465" y="660"/>
                  </a:lnTo>
                  <a:lnTo>
                    <a:pt x="447" y="697"/>
                  </a:lnTo>
                  <a:lnTo>
                    <a:pt x="406" y="742"/>
                  </a:lnTo>
                  <a:lnTo>
                    <a:pt x="356" y="765"/>
                  </a:lnTo>
                  <a:lnTo>
                    <a:pt x="320" y="787"/>
                  </a:lnTo>
                  <a:lnTo>
                    <a:pt x="280" y="805"/>
                  </a:lnTo>
                  <a:lnTo>
                    <a:pt x="234" y="813"/>
                  </a:lnTo>
                  <a:lnTo>
                    <a:pt x="181" y="813"/>
                  </a:lnTo>
                  <a:lnTo>
                    <a:pt x="129" y="804"/>
                  </a:lnTo>
                  <a:lnTo>
                    <a:pt x="244" y="765"/>
                  </a:lnTo>
                  <a:lnTo>
                    <a:pt x="288" y="742"/>
                  </a:lnTo>
                  <a:lnTo>
                    <a:pt x="320" y="700"/>
                  </a:lnTo>
                  <a:lnTo>
                    <a:pt x="326" y="665"/>
                  </a:lnTo>
                  <a:lnTo>
                    <a:pt x="298" y="665"/>
                  </a:lnTo>
                  <a:lnTo>
                    <a:pt x="285" y="697"/>
                  </a:lnTo>
                  <a:lnTo>
                    <a:pt x="262" y="723"/>
                  </a:lnTo>
                  <a:lnTo>
                    <a:pt x="225" y="751"/>
                  </a:lnTo>
                  <a:lnTo>
                    <a:pt x="185" y="779"/>
                  </a:lnTo>
                  <a:lnTo>
                    <a:pt x="132" y="802"/>
                  </a:lnTo>
                  <a:lnTo>
                    <a:pt x="91" y="787"/>
                  </a:lnTo>
                  <a:lnTo>
                    <a:pt x="72" y="765"/>
                  </a:lnTo>
                  <a:lnTo>
                    <a:pt x="42" y="709"/>
                  </a:lnTo>
                  <a:lnTo>
                    <a:pt x="100" y="697"/>
                  </a:lnTo>
                  <a:lnTo>
                    <a:pt x="212" y="683"/>
                  </a:lnTo>
                  <a:lnTo>
                    <a:pt x="280" y="652"/>
                  </a:lnTo>
                  <a:lnTo>
                    <a:pt x="315" y="621"/>
                  </a:lnTo>
                  <a:lnTo>
                    <a:pt x="329" y="585"/>
                  </a:lnTo>
                  <a:lnTo>
                    <a:pt x="334" y="567"/>
                  </a:lnTo>
                  <a:lnTo>
                    <a:pt x="315" y="567"/>
                  </a:lnTo>
                  <a:lnTo>
                    <a:pt x="293" y="594"/>
                  </a:lnTo>
                  <a:lnTo>
                    <a:pt x="257" y="642"/>
                  </a:lnTo>
                  <a:lnTo>
                    <a:pt x="176" y="669"/>
                  </a:lnTo>
                  <a:lnTo>
                    <a:pt x="100" y="693"/>
                  </a:lnTo>
                  <a:lnTo>
                    <a:pt x="42" y="709"/>
                  </a:lnTo>
                  <a:lnTo>
                    <a:pt x="19" y="616"/>
                  </a:lnTo>
                  <a:lnTo>
                    <a:pt x="14" y="548"/>
                  </a:lnTo>
                  <a:lnTo>
                    <a:pt x="14" y="489"/>
                  </a:lnTo>
                  <a:lnTo>
                    <a:pt x="91" y="530"/>
                  </a:lnTo>
                  <a:lnTo>
                    <a:pt x="181" y="548"/>
                  </a:lnTo>
                  <a:lnTo>
                    <a:pt x="253" y="544"/>
                  </a:lnTo>
                  <a:lnTo>
                    <a:pt x="271" y="536"/>
                  </a:lnTo>
                  <a:lnTo>
                    <a:pt x="280" y="513"/>
                  </a:lnTo>
                  <a:lnTo>
                    <a:pt x="239" y="513"/>
                  </a:lnTo>
                  <a:lnTo>
                    <a:pt x="196" y="526"/>
                  </a:lnTo>
                  <a:lnTo>
                    <a:pt x="88" y="530"/>
                  </a:lnTo>
                  <a:lnTo>
                    <a:pt x="14" y="490"/>
                  </a:lnTo>
                  <a:lnTo>
                    <a:pt x="10" y="405"/>
                  </a:lnTo>
                  <a:lnTo>
                    <a:pt x="5" y="345"/>
                  </a:lnTo>
                  <a:lnTo>
                    <a:pt x="0" y="287"/>
                  </a:lnTo>
                  <a:lnTo>
                    <a:pt x="10" y="188"/>
                  </a:lnTo>
                  <a:lnTo>
                    <a:pt x="32" y="153"/>
                  </a:lnTo>
                  <a:lnTo>
                    <a:pt x="100" y="108"/>
                  </a:lnTo>
                  <a:lnTo>
                    <a:pt x="78" y="113"/>
                  </a:lnTo>
                  <a:lnTo>
                    <a:pt x="10" y="143"/>
                  </a:lnTo>
                  <a:lnTo>
                    <a:pt x="37" y="81"/>
                  </a:lnTo>
                  <a:lnTo>
                    <a:pt x="60" y="48"/>
                  </a:lnTo>
                  <a:lnTo>
                    <a:pt x="78" y="26"/>
                  </a:lnTo>
                  <a:lnTo>
                    <a:pt x="155"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7" name="Freeform 180"/>
            <p:cNvSpPr>
              <a:spLocks/>
            </p:cNvSpPr>
            <p:nvPr/>
          </p:nvSpPr>
          <p:spPr bwMode="auto">
            <a:xfrm>
              <a:off x="231" y="1940"/>
              <a:ext cx="42" cy="38"/>
            </a:xfrm>
            <a:custGeom>
              <a:avLst/>
              <a:gdLst>
                <a:gd name="T0" fmla="*/ 0 w 209"/>
                <a:gd name="T1" fmla="*/ 0 h 187"/>
                <a:gd name="T2" fmla="*/ 0 w 209"/>
                <a:gd name="T3" fmla="*/ 0 h 187"/>
                <a:gd name="T4" fmla="*/ 0 w 209"/>
                <a:gd name="T5" fmla="*/ 0 h 187"/>
                <a:gd name="T6" fmla="*/ 0 w 209"/>
                <a:gd name="T7" fmla="*/ 0 h 187"/>
                <a:gd name="T8" fmla="*/ 0 w 209"/>
                <a:gd name="T9" fmla="*/ 0 h 187"/>
                <a:gd name="T10" fmla="*/ 0 w 209"/>
                <a:gd name="T11" fmla="*/ 0 h 187"/>
                <a:gd name="T12" fmla="*/ 0 w 209"/>
                <a:gd name="T13" fmla="*/ 0 h 187"/>
                <a:gd name="T14" fmla="*/ 0 w 209"/>
                <a:gd name="T15" fmla="*/ 0 h 187"/>
                <a:gd name="T16" fmla="*/ 0 w 209"/>
                <a:gd name="T17" fmla="*/ 0 h 187"/>
                <a:gd name="T18" fmla="*/ 0 w 209"/>
                <a:gd name="T19" fmla="*/ 0 h 187"/>
                <a:gd name="T20" fmla="*/ 0 w 209"/>
                <a:gd name="T21" fmla="*/ 0 h 187"/>
                <a:gd name="T22" fmla="*/ 0 w 209"/>
                <a:gd name="T23" fmla="*/ 0 h 187"/>
                <a:gd name="T24" fmla="*/ 0 w 209"/>
                <a:gd name="T25" fmla="*/ 0 h 187"/>
                <a:gd name="T26" fmla="*/ 0 w 209"/>
                <a:gd name="T27" fmla="*/ 0 h 187"/>
                <a:gd name="T28" fmla="*/ 0 w 209"/>
                <a:gd name="T29" fmla="*/ 0 h 187"/>
                <a:gd name="T30" fmla="*/ 0 w 209"/>
                <a:gd name="T31" fmla="*/ 0 h 187"/>
                <a:gd name="T32" fmla="*/ 0 w 209"/>
                <a:gd name="T33" fmla="*/ 0 h 187"/>
                <a:gd name="T34" fmla="*/ 0 w 209"/>
                <a:gd name="T35" fmla="*/ 0 h 187"/>
                <a:gd name="T36" fmla="*/ 0 w 209"/>
                <a:gd name="T37" fmla="*/ 0 h 187"/>
                <a:gd name="T38" fmla="*/ 0 w 209"/>
                <a:gd name="T39" fmla="*/ 0 h 187"/>
                <a:gd name="T40" fmla="*/ 0 w 209"/>
                <a:gd name="T41" fmla="*/ 0 h 187"/>
                <a:gd name="T42" fmla="*/ 0 w 209"/>
                <a:gd name="T43" fmla="*/ 0 h 187"/>
                <a:gd name="T44" fmla="*/ 0 w 209"/>
                <a:gd name="T45" fmla="*/ 0 h 187"/>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09" h="187">
                  <a:moveTo>
                    <a:pt x="209" y="0"/>
                  </a:moveTo>
                  <a:lnTo>
                    <a:pt x="209" y="15"/>
                  </a:lnTo>
                  <a:lnTo>
                    <a:pt x="182" y="51"/>
                  </a:lnTo>
                  <a:lnTo>
                    <a:pt x="157" y="71"/>
                  </a:lnTo>
                  <a:lnTo>
                    <a:pt x="100" y="113"/>
                  </a:lnTo>
                  <a:lnTo>
                    <a:pt x="77" y="130"/>
                  </a:lnTo>
                  <a:lnTo>
                    <a:pt x="25" y="170"/>
                  </a:lnTo>
                  <a:lnTo>
                    <a:pt x="82" y="152"/>
                  </a:lnTo>
                  <a:lnTo>
                    <a:pt x="140" y="135"/>
                  </a:lnTo>
                  <a:lnTo>
                    <a:pt x="198" y="130"/>
                  </a:lnTo>
                  <a:lnTo>
                    <a:pt x="194" y="147"/>
                  </a:lnTo>
                  <a:lnTo>
                    <a:pt x="100" y="164"/>
                  </a:lnTo>
                  <a:lnTo>
                    <a:pt x="52" y="184"/>
                  </a:lnTo>
                  <a:lnTo>
                    <a:pt x="25" y="187"/>
                  </a:lnTo>
                  <a:lnTo>
                    <a:pt x="2" y="180"/>
                  </a:lnTo>
                  <a:lnTo>
                    <a:pt x="0" y="158"/>
                  </a:lnTo>
                  <a:lnTo>
                    <a:pt x="18" y="141"/>
                  </a:lnTo>
                  <a:lnTo>
                    <a:pt x="44" y="116"/>
                  </a:lnTo>
                  <a:lnTo>
                    <a:pt x="75" y="80"/>
                  </a:lnTo>
                  <a:lnTo>
                    <a:pt x="107" y="40"/>
                  </a:lnTo>
                  <a:lnTo>
                    <a:pt x="144" y="12"/>
                  </a:lnTo>
                  <a:lnTo>
                    <a:pt x="184" y="2"/>
                  </a:lnTo>
                  <a:lnTo>
                    <a:pt x="209"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8" name="Freeform 181"/>
            <p:cNvSpPr>
              <a:spLocks/>
            </p:cNvSpPr>
            <p:nvPr/>
          </p:nvSpPr>
          <p:spPr bwMode="auto">
            <a:xfrm>
              <a:off x="232" y="1909"/>
              <a:ext cx="39" cy="49"/>
            </a:xfrm>
            <a:custGeom>
              <a:avLst/>
              <a:gdLst>
                <a:gd name="T0" fmla="*/ 0 w 192"/>
                <a:gd name="T1" fmla="*/ 0 h 246"/>
                <a:gd name="T2" fmla="*/ 0 w 192"/>
                <a:gd name="T3" fmla="*/ 0 h 246"/>
                <a:gd name="T4" fmla="*/ 0 w 192"/>
                <a:gd name="T5" fmla="*/ 0 h 246"/>
                <a:gd name="T6" fmla="*/ 0 w 192"/>
                <a:gd name="T7" fmla="*/ 0 h 246"/>
                <a:gd name="T8" fmla="*/ 0 w 192"/>
                <a:gd name="T9" fmla="*/ 0 h 246"/>
                <a:gd name="T10" fmla="*/ 0 w 192"/>
                <a:gd name="T11" fmla="*/ 0 h 246"/>
                <a:gd name="T12" fmla="*/ 0 w 192"/>
                <a:gd name="T13" fmla="*/ 0 h 246"/>
                <a:gd name="T14" fmla="*/ 0 w 192"/>
                <a:gd name="T15" fmla="*/ 0 h 246"/>
                <a:gd name="T16" fmla="*/ 0 w 192"/>
                <a:gd name="T17" fmla="*/ 0 h 246"/>
                <a:gd name="T18" fmla="*/ 0 w 192"/>
                <a:gd name="T19" fmla="*/ 0 h 246"/>
                <a:gd name="T20" fmla="*/ 0 w 192"/>
                <a:gd name="T21" fmla="*/ 0 h 246"/>
                <a:gd name="T22" fmla="*/ 0 w 192"/>
                <a:gd name="T23" fmla="*/ 0 h 246"/>
                <a:gd name="T24" fmla="*/ 0 w 192"/>
                <a:gd name="T25" fmla="*/ 0 h 246"/>
                <a:gd name="T26" fmla="*/ 0 w 192"/>
                <a:gd name="T27" fmla="*/ 0 h 246"/>
                <a:gd name="T28" fmla="*/ 0 w 192"/>
                <a:gd name="T29" fmla="*/ 0 h 246"/>
                <a:gd name="T30" fmla="*/ 0 w 192"/>
                <a:gd name="T31" fmla="*/ 0 h 246"/>
                <a:gd name="T32" fmla="*/ 0 w 192"/>
                <a:gd name="T33" fmla="*/ 0 h 24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92" h="246">
                  <a:moveTo>
                    <a:pt x="156" y="0"/>
                  </a:moveTo>
                  <a:lnTo>
                    <a:pt x="183" y="4"/>
                  </a:lnTo>
                  <a:lnTo>
                    <a:pt x="192" y="27"/>
                  </a:lnTo>
                  <a:lnTo>
                    <a:pt x="190" y="46"/>
                  </a:lnTo>
                  <a:lnTo>
                    <a:pt x="174" y="71"/>
                  </a:lnTo>
                  <a:lnTo>
                    <a:pt x="152" y="78"/>
                  </a:lnTo>
                  <a:lnTo>
                    <a:pt x="110" y="106"/>
                  </a:lnTo>
                  <a:lnTo>
                    <a:pt x="69" y="140"/>
                  </a:lnTo>
                  <a:lnTo>
                    <a:pt x="41" y="184"/>
                  </a:lnTo>
                  <a:lnTo>
                    <a:pt x="8" y="231"/>
                  </a:lnTo>
                  <a:lnTo>
                    <a:pt x="0" y="246"/>
                  </a:lnTo>
                  <a:lnTo>
                    <a:pt x="8" y="190"/>
                  </a:lnTo>
                  <a:lnTo>
                    <a:pt x="16" y="141"/>
                  </a:lnTo>
                  <a:lnTo>
                    <a:pt x="31" y="99"/>
                  </a:lnTo>
                  <a:lnTo>
                    <a:pt x="57" y="60"/>
                  </a:lnTo>
                  <a:lnTo>
                    <a:pt x="128" y="6"/>
                  </a:lnTo>
                  <a:lnTo>
                    <a:pt x="156"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9" name="Freeform 182"/>
            <p:cNvSpPr>
              <a:spLocks/>
            </p:cNvSpPr>
            <p:nvPr/>
          </p:nvSpPr>
          <p:spPr bwMode="auto">
            <a:xfrm>
              <a:off x="237" y="1860"/>
              <a:ext cx="41" cy="29"/>
            </a:xfrm>
            <a:custGeom>
              <a:avLst/>
              <a:gdLst>
                <a:gd name="T0" fmla="*/ 0 w 204"/>
                <a:gd name="T1" fmla="*/ 0 h 141"/>
                <a:gd name="T2" fmla="*/ 0 w 204"/>
                <a:gd name="T3" fmla="*/ 0 h 141"/>
                <a:gd name="T4" fmla="*/ 0 w 204"/>
                <a:gd name="T5" fmla="*/ 0 h 141"/>
                <a:gd name="T6" fmla="*/ 0 w 204"/>
                <a:gd name="T7" fmla="*/ 0 h 141"/>
                <a:gd name="T8" fmla="*/ 0 w 204"/>
                <a:gd name="T9" fmla="*/ 0 h 141"/>
                <a:gd name="T10" fmla="*/ 0 w 204"/>
                <a:gd name="T11" fmla="*/ 0 h 141"/>
                <a:gd name="T12" fmla="*/ 0 w 204"/>
                <a:gd name="T13" fmla="*/ 0 h 141"/>
                <a:gd name="T14" fmla="*/ 0 w 204"/>
                <a:gd name="T15" fmla="*/ 0 h 141"/>
                <a:gd name="T16" fmla="*/ 0 w 204"/>
                <a:gd name="T17" fmla="*/ 0 h 141"/>
                <a:gd name="T18" fmla="*/ 0 w 204"/>
                <a:gd name="T19" fmla="*/ 0 h 14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04" h="141">
                  <a:moveTo>
                    <a:pt x="204" y="141"/>
                  </a:moveTo>
                  <a:lnTo>
                    <a:pt x="169" y="110"/>
                  </a:lnTo>
                  <a:lnTo>
                    <a:pt x="111" y="89"/>
                  </a:lnTo>
                  <a:lnTo>
                    <a:pt x="71" y="78"/>
                  </a:lnTo>
                  <a:lnTo>
                    <a:pt x="0" y="0"/>
                  </a:lnTo>
                  <a:lnTo>
                    <a:pt x="53" y="30"/>
                  </a:lnTo>
                  <a:lnTo>
                    <a:pt x="103" y="51"/>
                  </a:lnTo>
                  <a:lnTo>
                    <a:pt x="138" y="69"/>
                  </a:lnTo>
                  <a:lnTo>
                    <a:pt x="155" y="89"/>
                  </a:lnTo>
                  <a:lnTo>
                    <a:pt x="204" y="14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0" name="Freeform 183"/>
            <p:cNvSpPr>
              <a:spLocks/>
            </p:cNvSpPr>
            <p:nvPr/>
          </p:nvSpPr>
          <p:spPr bwMode="auto">
            <a:xfrm>
              <a:off x="286" y="1913"/>
              <a:ext cx="23" cy="73"/>
            </a:xfrm>
            <a:custGeom>
              <a:avLst/>
              <a:gdLst>
                <a:gd name="T0" fmla="*/ 0 w 115"/>
                <a:gd name="T1" fmla="*/ 0 h 368"/>
                <a:gd name="T2" fmla="*/ 0 w 115"/>
                <a:gd name="T3" fmla="*/ 0 h 368"/>
                <a:gd name="T4" fmla="*/ 0 w 115"/>
                <a:gd name="T5" fmla="*/ 0 h 368"/>
                <a:gd name="T6" fmla="*/ 0 w 115"/>
                <a:gd name="T7" fmla="*/ 0 h 368"/>
                <a:gd name="T8" fmla="*/ 0 w 115"/>
                <a:gd name="T9" fmla="*/ 0 h 368"/>
                <a:gd name="T10" fmla="*/ 0 w 115"/>
                <a:gd name="T11" fmla="*/ 0 h 368"/>
                <a:gd name="T12" fmla="*/ 0 w 115"/>
                <a:gd name="T13" fmla="*/ 0 h 368"/>
                <a:gd name="T14" fmla="*/ 0 w 115"/>
                <a:gd name="T15" fmla="*/ 0 h 368"/>
                <a:gd name="T16" fmla="*/ 0 w 115"/>
                <a:gd name="T17" fmla="*/ 0 h 368"/>
                <a:gd name="T18" fmla="*/ 0 w 115"/>
                <a:gd name="T19" fmla="*/ 0 h 368"/>
                <a:gd name="T20" fmla="*/ 0 w 115"/>
                <a:gd name="T21" fmla="*/ 0 h 368"/>
                <a:gd name="T22" fmla="*/ 0 w 115"/>
                <a:gd name="T23" fmla="*/ 0 h 368"/>
                <a:gd name="T24" fmla="*/ 0 w 115"/>
                <a:gd name="T25" fmla="*/ 0 h 368"/>
                <a:gd name="T26" fmla="*/ 0 w 115"/>
                <a:gd name="T27" fmla="*/ 0 h 368"/>
                <a:gd name="T28" fmla="*/ 0 w 115"/>
                <a:gd name="T29" fmla="*/ 0 h 368"/>
                <a:gd name="T30" fmla="*/ 0 w 115"/>
                <a:gd name="T31" fmla="*/ 0 h 368"/>
                <a:gd name="T32" fmla="*/ 0 w 115"/>
                <a:gd name="T33" fmla="*/ 0 h 368"/>
                <a:gd name="T34" fmla="*/ 0 w 115"/>
                <a:gd name="T35" fmla="*/ 0 h 368"/>
                <a:gd name="T36" fmla="*/ 0 w 115"/>
                <a:gd name="T37" fmla="*/ 0 h 36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5" h="368">
                  <a:moveTo>
                    <a:pt x="115" y="368"/>
                  </a:moveTo>
                  <a:lnTo>
                    <a:pt x="58" y="368"/>
                  </a:lnTo>
                  <a:lnTo>
                    <a:pt x="40" y="364"/>
                  </a:lnTo>
                  <a:lnTo>
                    <a:pt x="40" y="349"/>
                  </a:lnTo>
                  <a:lnTo>
                    <a:pt x="28" y="336"/>
                  </a:lnTo>
                  <a:lnTo>
                    <a:pt x="9" y="323"/>
                  </a:lnTo>
                  <a:lnTo>
                    <a:pt x="19" y="309"/>
                  </a:lnTo>
                  <a:lnTo>
                    <a:pt x="19" y="291"/>
                  </a:lnTo>
                  <a:lnTo>
                    <a:pt x="5" y="269"/>
                  </a:lnTo>
                  <a:lnTo>
                    <a:pt x="5" y="246"/>
                  </a:lnTo>
                  <a:lnTo>
                    <a:pt x="14" y="219"/>
                  </a:lnTo>
                  <a:lnTo>
                    <a:pt x="14" y="161"/>
                  </a:lnTo>
                  <a:lnTo>
                    <a:pt x="0" y="107"/>
                  </a:lnTo>
                  <a:lnTo>
                    <a:pt x="5" y="67"/>
                  </a:lnTo>
                  <a:lnTo>
                    <a:pt x="5" y="0"/>
                  </a:lnTo>
                  <a:lnTo>
                    <a:pt x="40" y="101"/>
                  </a:lnTo>
                  <a:lnTo>
                    <a:pt x="71" y="197"/>
                  </a:lnTo>
                  <a:lnTo>
                    <a:pt x="93" y="300"/>
                  </a:lnTo>
                  <a:lnTo>
                    <a:pt x="115" y="368"/>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1" name="Freeform 184"/>
            <p:cNvSpPr>
              <a:spLocks/>
            </p:cNvSpPr>
            <p:nvPr/>
          </p:nvSpPr>
          <p:spPr bwMode="auto">
            <a:xfrm>
              <a:off x="233" y="1992"/>
              <a:ext cx="41" cy="14"/>
            </a:xfrm>
            <a:custGeom>
              <a:avLst/>
              <a:gdLst>
                <a:gd name="T0" fmla="*/ 0 w 206"/>
                <a:gd name="T1" fmla="*/ 0 h 69"/>
                <a:gd name="T2" fmla="*/ 0 w 206"/>
                <a:gd name="T3" fmla="*/ 0 h 69"/>
                <a:gd name="T4" fmla="*/ 0 w 206"/>
                <a:gd name="T5" fmla="*/ 0 h 69"/>
                <a:gd name="T6" fmla="*/ 0 w 206"/>
                <a:gd name="T7" fmla="*/ 0 h 69"/>
                <a:gd name="T8" fmla="*/ 0 w 206"/>
                <a:gd name="T9" fmla="*/ 0 h 69"/>
                <a:gd name="T10" fmla="*/ 0 w 206"/>
                <a:gd name="T11" fmla="*/ 0 h 69"/>
                <a:gd name="T12" fmla="*/ 0 w 206"/>
                <a:gd name="T13" fmla="*/ 0 h 69"/>
                <a:gd name="T14" fmla="*/ 0 w 206"/>
                <a:gd name="T15" fmla="*/ 0 h 69"/>
                <a:gd name="T16" fmla="*/ 0 w 206"/>
                <a:gd name="T17" fmla="*/ 0 h 69"/>
                <a:gd name="T18" fmla="*/ 0 w 206"/>
                <a:gd name="T19" fmla="*/ 0 h 69"/>
                <a:gd name="T20" fmla="*/ 0 w 206"/>
                <a:gd name="T21" fmla="*/ 0 h 69"/>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06" h="69">
                  <a:moveTo>
                    <a:pt x="42" y="34"/>
                  </a:moveTo>
                  <a:lnTo>
                    <a:pt x="87" y="15"/>
                  </a:lnTo>
                  <a:lnTo>
                    <a:pt x="129" y="3"/>
                  </a:lnTo>
                  <a:lnTo>
                    <a:pt x="184" y="0"/>
                  </a:lnTo>
                  <a:lnTo>
                    <a:pt x="206" y="4"/>
                  </a:lnTo>
                  <a:lnTo>
                    <a:pt x="196" y="26"/>
                  </a:lnTo>
                  <a:lnTo>
                    <a:pt x="174" y="43"/>
                  </a:lnTo>
                  <a:lnTo>
                    <a:pt x="126" y="57"/>
                  </a:lnTo>
                  <a:lnTo>
                    <a:pt x="50" y="69"/>
                  </a:lnTo>
                  <a:lnTo>
                    <a:pt x="0" y="65"/>
                  </a:lnTo>
                  <a:lnTo>
                    <a:pt x="42" y="3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2" name="Freeform 185"/>
            <p:cNvSpPr>
              <a:spLocks/>
            </p:cNvSpPr>
            <p:nvPr/>
          </p:nvSpPr>
          <p:spPr bwMode="auto">
            <a:xfrm>
              <a:off x="284" y="1999"/>
              <a:ext cx="25" cy="31"/>
            </a:xfrm>
            <a:custGeom>
              <a:avLst/>
              <a:gdLst>
                <a:gd name="T0" fmla="*/ 0 w 124"/>
                <a:gd name="T1" fmla="*/ 0 h 154"/>
                <a:gd name="T2" fmla="*/ 0 w 124"/>
                <a:gd name="T3" fmla="*/ 0 h 154"/>
                <a:gd name="T4" fmla="*/ 0 w 124"/>
                <a:gd name="T5" fmla="*/ 0 h 154"/>
                <a:gd name="T6" fmla="*/ 0 w 124"/>
                <a:gd name="T7" fmla="*/ 0 h 154"/>
                <a:gd name="T8" fmla="*/ 0 w 124"/>
                <a:gd name="T9" fmla="*/ 0 h 154"/>
                <a:gd name="T10" fmla="*/ 0 w 124"/>
                <a:gd name="T11" fmla="*/ 0 h 154"/>
                <a:gd name="T12" fmla="*/ 0 w 124"/>
                <a:gd name="T13" fmla="*/ 0 h 154"/>
                <a:gd name="T14" fmla="*/ 0 w 124"/>
                <a:gd name="T15" fmla="*/ 0 h 154"/>
                <a:gd name="T16" fmla="*/ 0 w 124"/>
                <a:gd name="T17" fmla="*/ 0 h 154"/>
                <a:gd name="T18" fmla="*/ 0 w 124"/>
                <a:gd name="T19" fmla="*/ 0 h 154"/>
                <a:gd name="T20" fmla="*/ 0 w 124"/>
                <a:gd name="T21" fmla="*/ 0 h 154"/>
                <a:gd name="T22" fmla="*/ 0 w 124"/>
                <a:gd name="T23" fmla="*/ 0 h 154"/>
                <a:gd name="T24" fmla="*/ 0 w 124"/>
                <a:gd name="T25" fmla="*/ 0 h 15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24" h="154">
                  <a:moveTo>
                    <a:pt x="67" y="43"/>
                  </a:moveTo>
                  <a:lnTo>
                    <a:pt x="82" y="9"/>
                  </a:lnTo>
                  <a:lnTo>
                    <a:pt x="106" y="0"/>
                  </a:lnTo>
                  <a:lnTo>
                    <a:pt x="122" y="7"/>
                  </a:lnTo>
                  <a:lnTo>
                    <a:pt x="124" y="25"/>
                  </a:lnTo>
                  <a:lnTo>
                    <a:pt x="114" y="55"/>
                  </a:lnTo>
                  <a:lnTo>
                    <a:pt x="95" y="82"/>
                  </a:lnTo>
                  <a:lnTo>
                    <a:pt x="73" y="108"/>
                  </a:lnTo>
                  <a:lnTo>
                    <a:pt x="45" y="133"/>
                  </a:lnTo>
                  <a:lnTo>
                    <a:pt x="0" y="154"/>
                  </a:lnTo>
                  <a:lnTo>
                    <a:pt x="40" y="110"/>
                  </a:lnTo>
                  <a:lnTo>
                    <a:pt x="53" y="78"/>
                  </a:lnTo>
                  <a:lnTo>
                    <a:pt x="67" y="4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3" name="Freeform 186"/>
            <p:cNvSpPr>
              <a:spLocks/>
            </p:cNvSpPr>
            <p:nvPr/>
          </p:nvSpPr>
          <p:spPr bwMode="auto">
            <a:xfrm>
              <a:off x="208" y="1836"/>
              <a:ext cx="60" cy="37"/>
            </a:xfrm>
            <a:custGeom>
              <a:avLst/>
              <a:gdLst>
                <a:gd name="T0" fmla="*/ 0 w 298"/>
                <a:gd name="T1" fmla="*/ 0 h 186"/>
                <a:gd name="T2" fmla="*/ 0 w 298"/>
                <a:gd name="T3" fmla="*/ 0 h 186"/>
                <a:gd name="T4" fmla="*/ 0 w 298"/>
                <a:gd name="T5" fmla="*/ 0 h 186"/>
                <a:gd name="T6" fmla="*/ 0 w 298"/>
                <a:gd name="T7" fmla="*/ 0 h 186"/>
                <a:gd name="T8" fmla="*/ 0 w 298"/>
                <a:gd name="T9" fmla="*/ 0 h 186"/>
                <a:gd name="T10" fmla="*/ 0 w 298"/>
                <a:gd name="T11" fmla="*/ 0 h 186"/>
                <a:gd name="T12" fmla="*/ 0 w 298"/>
                <a:gd name="T13" fmla="*/ 0 h 186"/>
                <a:gd name="T14" fmla="*/ 0 w 298"/>
                <a:gd name="T15" fmla="*/ 0 h 186"/>
                <a:gd name="T16" fmla="*/ 0 w 298"/>
                <a:gd name="T17" fmla="*/ 0 h 186"/>
                <a:gd name="T18" fmla="*/ 0 w 298"/>
                <a:gd name="T19" fmla="*/ 0 h 186"/>
                <a:gd name="T20" fmla="*/ 0 w 298"/>
                <a:gd name="T21" fmla="*/ 0 h 186"/>
                <a:gd name="T22" fmla="*/ 0 w 298"/>
                <a:gd name="T23" fmla="*/ 0 h 18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98" h="186">
                  <a:moveTo>
                    <a:pt x="298" y="186"/>
                  </a:moveTo>
                  <a:lnTo>
                    <a:pt x="289" y="109"/>
                  </a:lnTo>
                  <a:lnTo>
                    <a:pt x="226" y="82"/>
                  </a:lnTo>
                  <a:lnTo>
                    <a:pt x="142" y="49"/>
                  </a:lnTo>
                  <a:lnTo>
                    <a:pt x="80" y="25"/>
                  </a:lnTo>
                  <a:lnTo>
                    <a:pt x="23" y="0"/>
                  </a:lnTo>
                  <a:lnTo>
                    <a:pt x="0" y="53"/>
                  </a:lnTo>
                  <a:lnTo>
                    <a:pt x="55" y="84"/>
                  </a:lnTo>
                  <a:lnTo>
                    <a:pt x="119" y="107"/>
                  </a:lnTo>
                  <a:lnTo>
                    <a:pt x="168" y="122"/>
                  </a:lnTo>
                  <a:lnTo>
                    <a:pt x="229" y="154"/>
                  </a:lnTo>
                  <a:lnTo>
                    <a:pt x="298" y="186"/>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94" name="Group 187"/>
          <p:cNvGrpSpPr>
            <a:grpSpLocks/>
          </p:cNvGrpSpPr>
          <p:nvPr/>
        </p:nvGrpSpPr>
        <p:grpSpPr bwMode="auto">
          <a:xfrm>
            <a:off x="1794400" y="3380007"/>
            <a:ext cx="123814" cy="155175"/>
            <a:chOff x="141" y="2010"/>
            <a:chExt cx="123" cy="167"/>
          </a:xfrm>
        </p:grpSpPr>
        <p:sp>
          <p:nvSpPr>
            <p:cNvPr id="195" name="Freeform 188"/>
            <p:cNvSpPr>
              <a:spLocks/>
            </p:cNvSpPr>
            <p:nvPr/>
          </p:nvSpPr>
          <p:spPr bwMode="auto">
            <a:xfrm>
              <a:off x="141" y="2010"/>
              <a:ext cx="123" cy="167"/>
            </a:xfrm>
            <a:custGeom>
              <a:avLst/>
              <a:gdLst>
                <a:gd name="T0" fmla="*/ 0 w 617"/>
                <a:gd name="T1" fmla="*/ 0 h 835"/>
                <a:gd name="T2" fmla="*/ 0 w 617"/>
                <a:gd name="T3" fmla="*/ 0 h 835"/>
                <a:gd name="T4" fmla="*/ 0 w 617"/>
                <a:gd name="T5" fmla="*/ 0 h 835"/>
                <a:gd name="T6" fmla="*/ 0 w 617"/>
                <a:gd name="T7" fmla="*/ 0 h 835"/>
                <a:gd name="T8" fmla="*/ 0 w 617"/>
                <a:gd name="T9" fmla="*/ 0 h 835"/>
                <a:gd name="T10" fmla="*/ 0 w 617"/>
                <a:gd name="T11" fmla="*/ 0 h 835"/>
                <a:gd name="T12" fmla="*/ 0 w 617"/>
                <a:gd name="T13" fmla="*/ 0 h 835"/>
                <a:gd name="T14" fmla="*/ 0 w 617"/>
                <a:gd name="T15" fmla="*/ 0 h 835"/>
                <a:gd name="T16" fmla="*/ 0 w 617"/>
                <a:gd name="T17" fmla="*/ 0 h 835"/>
                <a:gd name="T18" fmla="*/ 0 w 617"/>
                <a:gd name="T19" fmla="*/ 0 h 835"/>
                <a:gd name="T20" fmla="*/ 0 w 617"/>
                <a:gd name="T21" fmla="*/ 0 h 835"/>
                <a:gd name="T22" fmla="*/ 0 w 617"/>
                <a:gd name="T23" fmla="*/ 0 h 835"/>
                <a:gd name="T24" fmla="*/ 0 w 617"/>
                <a:gd name="T25" fmla="*/ 0 h 835"/>
                <a:gd name="T26" fmla="*/ 0 w 617"/>
                <a:gd name="T27" fmla="*/ 0 h 835"/>
                <a:gd name="T28" fmla="*/ 0 w 617"/>
                <a:gd name="T29" fmla="*/ 0 h 835"/>
                <a:gd name="T30" fmla="*/ 0 w 617"/>
                <a:gd name="T31" fmla="*/ 0 h 835"/>
                <a:gd name="T32" fmla="*/ 0 w 617"/>
                <a:gd name="T33" fmla="*/ 0 h 835"/>
                <a:gd name="T34" fmla="*/ 0 w 617"/>
                <a:gd name="T35" fmla="*/ 0 h 835"/>
                <a:gd name="T36" fmla="*/ 0 w 617"/>
                <a:gd name="T37" fmla="*/ 0 h 835"/>
                <a:gd name="T38" fmla="*/ 0 w 617"/>
                <a:gd name="T39" fmla="*/ 0 h 835"/>
                <a:gd name="T40" fmla="*/ 0 w 617"/>
                <a:gd name="T41" fmla="*/ 0 h 835"/>
                <a:gd name="T42" fmla="*/ 0 w 617"/>
                <a:gd name="T43" fmla="*/ 0 h 835"/>
                <a:gd name="T44" fmla="*/ 0 w 617"/>
                <a:gd name="T45" fmla="*/ 0 h 835"/>
                <a:gd name="T46" fmla="*/ 0 w 617"/>
                <a:gd name="T47" fmla="*/ 0 h 835"/>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617" h="835">
                  <a:moveTo>
                    <a:pt x="342" y="123"/>
                  </a:moveTo>
                  <a:lnTo>
                    <a:pt x="229" y="113"/>
                  </a:lnTo>
                  <a:lnTo>
                    <a:pt x="160" y="96"/>
                  </a:lnTo>
                  <a:lnTo>
                    <a:pt x="139" y="64"/>
                  </a:lnTo>
                  <a:lnTo>
                    <a:pt x="139" y="38"/>
                  </a:lnTo>
                  <a:lnTo>
                    <a:pt x="121" y="15"/>
                  </a:lnTo>
                  <a:lnTo>
                    <a:pt x="58" y="0"/>
                  </a:lnTo>
                  <a:lnTo>
                    <a:pt x="0" y="5"/>
                  </a:lnTo>
                  <a:lnTo>
                    <a:pt x="70" y="650"/>
                  </a:lnTo>
                  <a:lnTo>
                    <a:pt x="121" y="710"/>
                  </a:lnTo>
                  <a:lnTo>
                    <a:pt x="183" y="768"/>
                  </a:lnTo>
                  <a:lnTo>
                    <a:pt x="273" y="813"/>
                  </a:lnTo>
                  <a:lnTo>
                    <a:pt x="377" y="827"/>
                  </a:lnTo>
                  <a:lnTo>
                    <a:pt x="518" y="835"/>
                  </a:lnTo>
                  <a:lnTo>
                    <a:pt x="599" y="823"/>
                  </a:lnTo>
                  <a:lnTo>
                    <a:pt x="617" y="777"/>
                  </a:lnTo>
                  <a:lnTo>
                    <a:pt x="608" y="718"/>
                  </a:lnTo>
                  <a:lnTo>
                    <a:pt x="550" y="537"/>
                  </a:lnTo>
                  <a:lnTo>
                    <a:pt x="500" y="357"/>
                  </a:lnTo>
                  <a:lnTo>
                    <a:pt x="478" y="221"/>
                  </a:lnTo>
                  <a:lnTo>
                    <a:pt x="478" y="186"/>
                  </a:lnTo>
                  <a:lnTo>
                    <a:pt x="446" y="136"/>
                  </a:lnTo>
                  <a:lnTo>
                    <a:pt x="409" y="123"/>
                  </a:lnTo>
                  <a:lnTo>
                    <a:pt x="342" y="12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6" name="Freeform 189"/>
            <p:cNvSpPr>
              <a:spLocks/>
            </p:cNvSpPr>
            <p:nvPr/>
          </p:nvSpPr>
          <p:spPr bwMode="auto">
            <a:xfrm>
              <a:off x="143" y="2019"/>
              <a:ext cx="106" cy="153"/>
            </a:xfrm>
            <a:custGeom>
              <a:avLst/>
              <a:gdLst>
                <a:gd name="T0" fmla="*/ 0 w 531"/>
                <a:gd name="T1" fmla="*/ 0 h 766"/>
                <a:gd name="T2" fmla="*/ 0 w 531"/>
                <a:gd name="T3" fmla="*/ 0 h 766"/>
                <a:gd name="T4" fmla="*/ 0 w 531"/>
                <a:gd name="T5" fmla="*/ 0 h 766"/>
                <a:gd name="T6" fmla="*/ 0 w 531"/>
                <a:gd name="T7" fmla="*/ 0 h 766"/>
                <a:gd name="T8" fmla="*/ 0 w 531"/>
                <a:gd name="T9" fmla="*/ 0 h 766"/>
                <a:gd name="T10" fmla="*/ 0 w 531"/>
                <a:gd name="T11" fmla="*/ 0 h 766"/>
                <a:gd name="T12" fmla="*/ 0 w 531"/>
                <a:gd name="T13" fmla="*/ 0 h 766"/>
                <a:gd name="T14" fmla="*/ 0 w 531"/>
                <a:gd name="T15" fmla="*/ 0 h 766"/>
                <a:gd name="T16" fmla="*/ 0 w 531"/>
                <a:gd name="T17" fmla="*/ 0 h 766"/>
                <a:gd name="T18" fmla="*/ 0 w 531"/>
                <a:gd name="T19" fmla="*/ 0 h 766"/>
                <a:gd name="T20" fmla="*/ 0 w 531"/>
                <a:gd name="T21" fmla="*/ 0 h 766"/>
                <a:gd name="T22" fmla="*/ 0 w 531"/>
                <a:gd name="T23" fmla="*/ 0 h 766"/>
                <a:gd name="T24" fmla="*/ 0 w 531"/>
                <a:gd name="T25" fmla="*/ 0 h 766"/>
                <a:gd name="T26" fmla="*/ 0 w 531"/>
                <a:gd name="T27" fmla="*/ 0 h 766"/>
                <a:gd name="T28" fmla="*/ 0 w 531"/>
                <a:gd name="T29" fmla="*/ 0 h 766"/>
                <a:gd name="T30" fmla="*/ 0 w 531"/>
                <a:gd name="T31" fmla="*/ 0 h 766"/>
                <a:gd name="T32" fmla="*/ 0 w 531"/>
                <a:gd name="T33" fmla="*/ 0 h 766"/>
                <a:gd name="T34" fmla="*/ 0 w 531"/>
                <a:gd name="T35" fmla="*/ 0 h 766"/>
                <a:gd name="T36" fmla="*/ 0 w 531"/>
                <a:gd name="T37" fmla="*/ 0 h 766"/>
                <a:gd name="T38" fmla="*/ 0 w 531"/>
                <a:gd name="T39" fmla="*/ 0 h 766"/>
                <a:gd name="T40" fmla="*/ 0 w 531"/>
                <a:gd name="T41" fmla="*/ 0 h 76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531" h="766">
                  <a:moveTo>
                    <a:pt x="347" y="154"/>
                  </a:moveTo>
                  <a:lnTo>
                    <a:pt x="248" y="150"/>
                  </a:lnTo>
                  <a:lnTo>
                    <a:pt x="143" y="131"/>
                  </a:lnTo>
                  <a:lnTo>
                    <a:pt x="81" y="99"/>
                  </a:lnTo>
                  <a:lnTo>
                    <a:pt x="46" y="72"/>
                  </a:lnTo>
                  <a:lnTo>
                    <a:pt x="0" y="0"/>
                  </a:lnTo>
                  <a:lnTo>
                    <a:pt x="67" y="589"/>
                  </a:lnTo>
                  <a:lnTo>
                    <a:pt x="113" y="643"/>
                  </a:lnTo>
                  <a:lnTo>
                    <a:pt x="162" y="694"/>
                  </a:lnTo>
                  <a:lnTo>
                    <a:pt x="225" y="729"/>
                  </a:lnTo>
                  <a:lnTo>
                    <a:pt x="279" y="747"/>
                  </a:lnTo>
                  <a:lnTo>
                    <a:pt x="347" y="756"/>
                  </a:lnTo>
                  <a:lnTo>
                    <a:pt x="409" y="766"/>
                  </a:lnTo>
                  <a:lnTo>
                    <a:pt x="480" y="766"/>
                  </a:lnTo>
                  <a:lnTo>
                    <a:pt x="512" y="756"/>
                  </a:lnTo>
                  <a:lnTo>
                    <a:pt x="531" y="729"/>
                  </a:lnTo>
                  <a:lnTo>
                    <a:pt x="522" y="685"/>
                  </a:lnTo>
                  <a:lnTo>
                    <a:pt x="476" y="581"/>
                  </a:lnTo>
                  <a:lnTo>
                    <a:pt x="399" y="229"/>
                  </a:lnTo>
                  <a:lnTo>
                    <a:pt x="387" y="180"/>
                  </a:lnTo>
                  <a:lnTo>
                    <a:pt x="347" y="15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97" name="Freeform 190"/>
          <p:cNvSpPr>
            <a:spLocks/>
          </p:cNvSpPr>
          <p:nvPr/>
        </p:nvSpPr>
        <p:spPr bwMode="auto">
          <a:xfrm>
            <a:off x="2098400" y="3556553"/>
            <a:ext cx="9060" cy="131016"/>
          </a:xfrm>
          <a:custGeom>
            <a:avLst/>
            <a:gdLst>
              <a:gd name="T0" fmla="*/ 2147483646 w 43"/>
              <a:gd name="T1" fmla="*/ 0 h 703"/>
              <a:gd name="T2" fmla="*/ 2147483646 w 43"/>
              <a:gd name="T3" fmla="*/ 2147483646 h 703"/>
              <a:gd name="T4" fmla="*/ 2147483646 w 43"/>
              <a:gd name="T5" fmla="*/ 2147483646 h 703"/>
              <a:gd name="T6" fmla="*/ 2147483646 w 43"/>
              <a:gd name="T7" fmla="*/ 2147483646 h 703"/>
              <a:gd name="T8" fmla="*/ 2147483646 w 43"/>
              <a:gd name="T9" fmla="*/ 2147483646 h 703"/>
              <a:gd name="T10" fmla="*/ 2147483646 w 43"/>
              <a:gd name="T11" fmla="*/ 2147483646 h 703"/>
              <a:gd name="T12" fmla="*/ 2147483646 w 43"/>
              <a:gd name="T13" fmla="*/ 2147483646 h 703"/>
              <a:gd name="T14" fmla="*/ 0 w 43"/>
              <a:gd name="T15" fmla="*/ 2147483646 h 703"/>
              <a:gd name="T16" fmla="*/ 2147483646 w 43"/>
              <a:gd name="T17" fmla="*/ 2147483646 h 703"/>
              <a:gd name="T18" fmla="*/ 2147483646 w 43"/>
              <a:gd name="T19" fmla="*/ 2147483646 h 703"/>
              <a:gd name="T20" fmla="*/ 2147483646 w 43"/>
              <a:gd name="T21" fmla="*/ 2147483646 h 703"/>
              <a:gd name="T22" fmla="*/ 2147483646 w 43"/>
              <a:gd name="T23" fmla="*/ 2147483646 h 703"/>
              <a:gd name="T24" fmla="*/ 2147483646 w 43"/>
              <a:gd name="T25" fmla="*/ 2147483646 h 703"/>
              <a:gd name="T26" fmla="*/ 2147483646 w 43"/>
              <a:gd name="T27" fmla="*/ 2147483646 h 703"/>
              <a:gd name="T28" fmla="*/ 2147483646 w 43"/>
              <a:gd name="T29" fmla="*/ 0 h 70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43" h="703">
                <a:moveTo>
                  <a:pt x="29" y="0"/>
                </a:moveTo>
                <a:lnTo>
                  <a:pt x="43" y="36"/>
                </a:lnTo>
                <a:lnTo>
                  <a:pt x="27" y="63"/>
                </a:lnTo>
                <a:lnTo>
                  <a:pt x="14" y="122"/>
                </a:lnTo>
                <a:lnTo>
                  <a:pt x="32" y="176"/>
                </a:lnTo>
                <a:lnTo>
                  <a:pt x="21" y="491"/>
                </a:lnTo>
                <a:lnTo>
                  <a:pt x="21" y="693"/>
                </a:lnTo>
                <a:lnTo>
                  <a:pt x="0" y="703"/>
                </a:lnTo>
                <a:lnTo>
                  <a:pt x="2" y="284"/>
                </a:lnTo>
                <a:lnTo>
                  <a:pt x="21" y="184"/>
                </a:lnTo>
                <a:lnTo>
                  <a:pt x="10" y="137"/>
                </a:lnTo>
                <a:lnTo>
                  <a:pt x="4" y="120"/>
                </a:lnTo>
                <a:lnTo>
                  <a:pt x="12" y="69"/>
                </a:lnTo>
                <a:lnTo>
                  <a:pt x="27" y="40"/>
                </a:lnTo>
                <a:lnTo>
                  <a:pt x="29"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8" name="Freeform 191"/>
          <p:cNvSpPr>
            <a:spLocks/>
          </p:cNvSpPr>
          <p:nvPr/>
        </p:nvSpPr>
        <p:spPr bwMode="auto">
          <a:xfrm>
            <a:off x="2062162" y="3558412"/>
            <a:ext cx="22145" cy="6505"/>
          </a:xfrm>
          <a:custGeom>
            <a:avLst/>
            <a:gdLst>
              <a:gd name="T0" fmla="*/ 2147483646 w 112"/>
              <a:gd name="T1" fmla="*/ 0 h 36"/>
              <a:gd name="T2" fmla="*/ 2147483646 w 112"/>
              <a:gd name="T3" fmla="*/ 2147483646 h 36"/>
              <a:gd name="T4" fmla="*/ 2147483646 w 112"/>
              <a:gd name="T5" fmla="*/ 2147483646 h 36"/>
              <a:gd name="T6" fmla="*/ 0 w 112"/>
              <a:gd name="T7" fmla="*/ 2147483646 h 36"/>
              <a:gd name="T8" fmla="*/ 2147483646 w 112"/>
              <a:gd name="T9" fmla="*/ 2147483646 h 36"/>
              <a:gd name="T10" fmla="*/ 2147483646 w 112"/>
              <a:gd name="T11" fmla="*/ 0 h 36"/>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2" h="36">
                <a:moveTo>
                  <a:pt x="112" y="0"/>
                </a:moveTo>
                <a:lnTo>
                  <a:pt x="57" y="26"/>
                </a:lnTo>
                <a:lnTo>
                  <a:pt x="9" y="36"/>
                </a:lnTo>
                <a:lnTo>
                  <a:pt x="0" y="36"/>
                </a:lnTo>
                <a:lnTo>
                  <a:pt x="29" y="11"/>
                </a:lnTo>
                <a:lnTo>
                  <a:pt x="112"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9" name="Freeform 192"/>
          <p:cNvSpPr>
            <a:spLocks/>
          </p:cNvSpPr>
          <p:nvPr/>
        </p:nvSpPr>
        <p:spPr bwMode="auto">
          <a:xfrm>
            <a:off x="1968546" y="3218328"/>
            <a:ext cx="30199" cy="75265"/>
          </a:xfrm>
          <a:custGeom>
            <a:avLst/>
            <a:gdLst>
              <a:gd name="T0" fmla="*/ 0 w 150"/>
              <a:gd name="T1" fmla="*/ 0 h 407"/>
              <a:gd name="T2" fmla="*/ 2147483646 w 150"/>
              <a:gd name="T3" fmla="*/ 2147483646 h 407"/>
              <a:gd name="T4" fmla="*/ 2147483646 w 150"/>
              <a:gd name="T5" fmla="*/ 2147483646 h 407"/>
              <a:gd name="T6" fmla="*/ 2147483646 w 150"/>
              <a:gd name="T7" fmla="*/ 2147483646 h 407"/>
              <a:gd name="T8" fmla="*/ 2147483646 w 150"/>
              <a:gd name="T9" fmla="*/ 2147483646 h 407"/>
              <a:gd name="T10" fmla="*/ 2147483646 w 150"/>
              <a:gd name="T11" fmla="*/ 2147483646 h 407"/>
              <a:gd name="T12" fmla="*/ 2147483646 w 150"/>
              <a:gd name="T13" fmla="*/ 2147483646 h 407"/>
              <a:gd name="T14" fmla="*/ 2147483646 w 150"/>
              <a:gd name="T15" fmla="*/ 2147483646 h 407"/>
              <a:gd name="T16" fmla="*/ 2147483646 w 150"/>
              <a:gd name="T17" fmla="*/ 2147483646 h 407"/>
              <a:gd name="T18" fmla="*/ 2147483646 w 150"/>
              <a:gd name="T19" fmla="*/ 2147483646 h 407"/>
              <a:gd name="T20" fmla="*/ 2147483646 w 150"/>
              <a:gd name="T21" fmla="*/ 2147483646 h 407"/>
              <a:gd name="T22" fmla="*/ 2147483646 w 150"/>
              <a:gd name="T23" fmla="*/ 2147483646 h 407"/>
              <a:gd name="T24" fmla="*/ 2147483646 w 150"/>
              <a:gd name="T25" fmla="*/ 2147483646 h 407"/>
              <a:gd name="T26" fmla="*/ 2147483646 w 150"/>
              <a:gd name="T27" fmla="*/ 2147483646 h 407"/>
              <a:gd name="T28" fmla="*/ 2147483646 w 150"/>
              <a:gd name="T29" fmla="*/ 2147483646 h 407"/>
              <a:gd name="T30" fmla="*/ 2147483646 w 150"/>
              <a:gd name="T31" fmla="*/ 2147483646 h 407"/>
              <a:gd name="T32" fmla="*/ 2147483646 w 150"/>
              <a:gd name="T33" fmla="*/ 2147483646 h 407"/>
              <a:gd name="T34" fmla="*/ 2147483646 w 150"/>
              <a:gd name="T35" fmla="*/ 2147483646 h 407"/>
              <a:gd name="T36" fmla="*/ 2147483646 w 150"/>
              <a:gd name="T37" fmla="*/ 2147483646 h 407"/>
              <a:gd name="T38" fmla="*/ 2147483646 w 150"/>
              <a:gd name="T39" fmla="*/ 2147483646 h 407"/>
              <a:gd name="T40" fmla="*/ 2147483646 w 150"/>
              <a:gd name="T41" fmla="*/ 2147483646 h 407"/>
              <a:gd name="T42" fmla="*/ 2147483646 w 150"/>
              <a:gd name="T43" fmla="*/ 2147483646 h 407"/>
              <a:gd name="T44" fmla="*/ 2147483646 w 150"/>
              <a:gd name="T45" fmla="*/ 2147483646 h 407"/>
              <a:gd name="T46" fmla="*/ 2147483646 w 150"/>
              <a:gd name="T47" fmla="*/ 2147483646 h 407"/>
              <a:gd name="T48" fmla="*/ 2147483646 w 150"/>
              <a:gd name="T49" fmla="*/ 2147483646 h 407"/>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150" h="407">
                <a:moveTo>
                  <a:pt x="0" y="0"/>
                </a:moveTo>
                <a:lnTo>
                  <a:pt x="20" y="10"/>
                </a:lnTo>
                <a:lnTo>
                  <a:pt x="17" y="34"/>
                </a:lnTo>
                <a:lnTo>
                  <a:pt x="36" y="22"/>
                </a:lnTo>
                <a:lnTo>
                  <a:pt x="33" y="50"/>
                </a:lnTo>
                <a:lnTo>
                  <a:pt x="58" y="46"/>
                </a:lnTo>
                <a:lnTo>
                  <a:pt x="39" y="69"/>
                </a:lnTo>
                <a:lnTo>
                  <a:pt x="91" y="73"/>
                </a:lnTo>
                <a:lnTo>
                  <a:pt x="61" y="101"/>
                </a:lnTo>
                <a:lnTo>
                  <a:pt x="105" y="101"/>
                </a:lnTo>
                <a:lnTo>
                  <a:pt x="75" y="130"/>
                </a:lnTo>
                <a:lnTo>
                  <a:pt x="121" y="127"/>
                </a:lnTo>
                <a:lnTo>
                  <a:pt x="92" y="167"/>
                </a:lnTo>
                <a:lnTo>
                  <a:pt x="133" y="164"/>
                </a:lnTo>
                <a:lnTo>
                  <a:pt x="98" y="199"/>
                </a:lnTo>
                <a:lnTo>
                  <a:pt x="150" y="205"/>
                </a:lnTo>
                <a:lnTo>
                  <a:pt x="105" y="237"/>
                </a:lnTo>
                <a:lnTo>
                  <a:pt x="150" y="250"/>
                </a:lnTo>
                <a:lnTo>
                  <a:pt x="101" y="266"/>
                </a:lnTo>
                <a:lnTo>
                  <a:pt x="146" y="293"/>
                </a:lnTo>
                <a:lnTo>
                  <a:pt x="98" y="312"/>
                </a:lnTo>
                <a:lnTo>
                  <a:pt x="140" y="343"/>
                </a:lnTo>
                <a:lnTo>
                  <a:pt x="98" y="355"/>
                </a:lnTo>
                <a:lnTo>
                  <a:pt x="121" y="382"/>
                </a:lnTo>
                <a:lnTo>
                  <a:pt x="88" y="407"/>
                </a:lnTo>
              </a:path>
            </a:pathLst>
          </a:custGeom>
          <a:noFill/>
          <a:ln w="3175">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0" name="Text Box 193"/>
          <p:cNvSpPr txBox="1">
            <a:spLocks noChangeArrowheads="1"/>
          </p:cNvSpPr>
          <p:nvPr/>
        </p:nvSpPr>
        <p:spPr bwMode="auto">
          <a:xfrm>
            <a:off x="6632191" y="3918638"/>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201" name="Oval 194"/>
          <p:cNvSpPr>
            <a:spLocks noChangeArrowheads="1"/>
          </p:cNvSpPr>
          <p:nvPr/>
        </p:nvSpPr>
        <p:spPr bwMode="auto">
          <a:xfrm>
            <a:off x="2135645" y="3280584"/>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202" name="Group 195"/>
          <p:cNvGrpSpPr>
            <a:grpSpLocks/>
          </p:cNvGrpSpPr>
          <p:nvPr/>
        </p:nvGrpSpPr>
        <p:grpSpPr bwMode="auto">
          <a:xfrm>
            <a:off x="6678537" y="3067799"/>
            <a:ext cx="449960" cy="289908"/>
            <a:chOff x="4993" y="1674"/>
            <a:chExt cx="447" cy="312"/>
          </a:xfrm>
        </p:grpSpPr>
        <p:grpSp>
          <p:nvGrpSpPr>
            <p:cNvPr id="203" name="Group 196"/>
            <p:cNvGrpSpPr>
              <a:grpSpLocks/>
            </p:cNvGrpSpPr>
            <p:nvPr/>
          </p:nvGrpSpPr>
          <p:grpSpPr bwMode="auto">
            <a:xfrm>
              <a:off x="4993" y="1674"/>
              <a:ext cx="345" cy="282"/>
              <a:chOff x="4993" y="1674"/>
              <a:chExt cx="345" cy="282"/>
            </a:xfrm>
          </p:grpSpPr>
          <p:grpSp>
            <p:nvGrpSpPr>
              <p:cNvPr id="236" name="Group 197"/>
              <p:cNvGrpSpPr>
                <a:grpSpLocks/>
              </p:cNvGrpSpPr>
              <p:nvPr/>
            </p:nvGrpSpPr>
            <p:grpSpPr bwMode="auto">
              <a:xfrm>
                <a:off x="4993" y="1674"/>
                <a:ext cx="345" cy="282"/>
                <a:chOff x="4993" y="1674"/>
                <a:chExt cx="345" cy="282"/>
              </a:xfrm>
            </p:grpSpPr>
            <p:grpSp>
              <p:nvGrpSpPr>
                <p:cNvPr id="245" name="Group 198"/>
                <p:cNvGrpSpPr>
                  <a:grpSpLocks/>
                </p:cNvGrpSpPr>
                <p:nvPr/>
              </p:nvGrpSpPr>
              <p:grpSpPr bwMode="auto">
                <a:xfrm>
                  <a:off x="4993" y="1833"/>
                  <a:ext cx="345" cy="123"/>
                  <a:chOff x="4993" y="1833"/>
                  <a:chExt cx="345" cy="123"/>
                </a:xfrm>
              </p:grpSpPr>
              <p:sp>
                <p:nvSpPr>
                  <p:cNvPr id="251" name="Freeform 199"/>
                  <p:cNvSpPr>
                    <a:spLocks/>
                  </p:cNvSpPr>
                  <p:nvPr/>
                </p:nvSpPr>
                <p:spPr bwMode="auto">
                  <a:xfrm>
                    <a:off x="5140" y="1833"/>
                    <a:ext cx="198" cy="123"/>
                  </a:xfrm>
                  <a:custGeom>
                    <a:avLst/>
                    <a:gdLst>
                      <a:gd name="T0" fmla="*/ 0 w 1188"/>
                      <a:gd name="T1" fmla="*/ 0 h 738"/>
                      <a:gd name="T2" fmla="*/ 0 w 1188"/>
                      <a:gd name="T3" fmla="*/ 0 h 738"/>
                      <a:gd name="T4" fmla="*/ 0 w 1188"/>
                      <a:gd name="T5" fmla="*/ 0 h 738"/>
                      <a:gd name="T6" fmla="*/ 0 w 1188"/>
                      <a:gd name="T7" fmla="*/ 0 h 738"/>
                      <a:gd name="T8" fmla="*/ 0 w 1188"/>
                      <a:gd name="T9" fmla="*/ 0 h 73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88" h="738">
                        <a:moveTo>
                          <a:pt x="0" y="225"/>
                        </a:moveTo>
                        <a:lnTo>
                          <a:pt x="0" y="738"/>
                        </a:lnTo>
                        <a:lnTo>
                          <a:pt x="1188" y="360"/>
                        </a:lnTo>
                        <a:lnTo>
                          <a:pt x="1188" y="0"/>
                        </a:lnTo>
                        <a:lnTo>
                          <a:pt x="0" y="225"/>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2" name="Freeform 200"/>
                  <p:cNvSpPr>
                    <a:spLocks/>
                  </p:cNvSpPr>
                  <p:nvPr/>
                </p:nvSpPr>
                <p:spPr bwMode="auto">
                  <a:xfrm>
                    <a:off x="4993" y="1862"/>
                    <a:ext cx="147" cy="94"/>
                  </a:xfrm>
                  <a:custGeom>
                    <a:avLst/>
                    <a:gdLst>
                      <a:gd name="T0" fmla="*/ 0 w 882"/>
                      <a:gd name="T1" fmla="*/ 0 h 563"/>
                      <a:gd name="T2" fmla="*/ 0 w 882"/>
                      <a:gd name="T3" fmla="*/ 0 h 563"/>
                      <a:gd name="T4" fmla="*/ 0 w 882"/>
                      <a:gd name="T5" fmla="*/ 0 h 563"/>
                      <a:gd name="T6" fmla="*/ 0 w 882"/>
                      <a:gd name="T7" fmla="*/ 0 h 563"/>
                      <a:gd name="T8" fmla="*/ 0 w 882"/>
                      <a:gd name="T9" fmla="*/ 0 h 5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82" h="563">
                        <a:moveTo>
                          <a:pt x="882" y="50"/>
                        </a:moveTo>
                        <a:lnTo>
                          <a:pt x="882" y="563"/>
                        </a:lnTo>
                        <a:lnTo>
                          <a:pt x="0" y="436"/>
                        </a:lnTo>
                        <a:lnTo>
                          <a:pt x="0" y="0"/>
                        </a:lnTo>
                        <a:lnTo>
                          <a:pt x="882" y="5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3" name="Freeform 201"/>
                  <p:cNvSpPr>
                    <a:spLocks/>
                  </p:cNvSpPr>
                  <p:nvPr/>
                </p:nvSpPr>
                <p:spPr bwMode="auto">
                  <a:xfrm>
                    <a:off x="4993" y="1833"/>
                    <a:ext cx="345" cy="38"/>
                  </a:xfrm>
                  <a:custGeom>
                    <a:avLst/>
                    <a:gdLst>
                      <a:gd name="T0" fmla="*/ 0 w 2070"/>
                      <a:gd name="T1" fmla="*/ 0 h 225"/>
                      <a:gd name="T2" fmla="*/ 0 w 2070"/>
                      <a:gd name="T3" fmla="*/ 0 h 225"/>
                      <a:gd name="T4" fmla="*/ 0 w 2070"/>
                      <a:gd name="T5" fmla="*/ 0 h 225"/>
                      <a:gd name="T6" fmla="*/ 0 w 2070"/>
                      <a:gd name="T7" fmla="*/ 0 h 225"/>
                      <a:gd name="T8" fmla="*/ 0 w 2070"/>
                      <a:gd name="T9" fmla="*/ 0 h 2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70" h="225">
                        <a:moveTo>
                          <a:pt x="0" y="175"/>
                        </a:moveTo>
                        <a:lnTo>
                          <a:pt x="892" y="225"/>
                        </a:lnTo>
                        <a:lnTo>
                          <a:pt x="2070" y="0"/>
                        </a:lnTo>
                        <a:lnTo>
                          <a:pt x="1202" y="0"/>
                        </a:lnTo>
                        <a:lnTo>
                          <a:pt x="0" y="175"/>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246" name="Freeform 202"/>
                <p:cNvSpPr>
                  <a:spLocks/>
                </p:cNvSpPr>
                <p:nvPr/>
              </p:nvSpPr>
              <p:spPr bwMode="auto">
                <a:xfrm>
                  <a:off x="5105" y="1823"/>
                  <a:ext cx="126" cy="35"/>
                </a:xfrm>
                <a:custGeom>
                  <a:avLst/>
                  <a:gdLst>
                    <a:gd name="T0" fmla="*/ 0 w 751"/>
                    <a:gd name="T1" fmla="*/ 0 h 210"/>
                    <a:gd name="T2" fmla="*/ 0 w 751"/>
                    <a:gd name="T3" fmla="*/ 0 h 210"/>
                    <a:gd name="T4" fmla="*/ 0 w 751"/>
                    <a:gd name="T5" fmla="*/ 0 h 210"/>
                    <a:gd name="T6" fmla="*/ 0 w 751"/>
                    <a:gd name="T7" fmla="*/ 0 h 210"/>
                    <a:gd name="T8" fmla="*/ 0 w 751"/>
                    <a:gd name="T9" fmla="*/ 0 h 210"/>
                    <a:gd name="T10" fmla="*/ 0 w 751"/>
                    <a:gd name="T11" fmla="*/ 0 h 21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51" h="210">
                      <a:moveTo>
                        <a:pt x="0" y="120"/>
                      </a:moveTo>
                      <a:lnTo>
                        <a:pt x="0" y="188"/>
                      </a:lnTo>
                      <a:lnTo>
                        <a:pt x="351" y="210"/>
                      </a:lnTo>
                      <a:lnTo>
                        <a:pt x="751" y="135"/>
                      </a:lnTo>
                      <a:lnTo>
                        <a:pt x="751" y="0"/>
                      </a:lnTo>
                      <a:lnTo>
                        <a:pt x="0" y="12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47" name="Group 203"/>
                <p:cNvGrpSpPr>
                  <a:grpSpLocks/>
                </p:cNvGrpSpPr>
                <p:nvPr/>
              </p:nvGrpSpPr>
              <p:grpSpPr bwMode="auto">
                <a:xfrm>
                  <a:off x="5020" y="1674"/>
                  <a:ext cx="279" cy="176"/>
                  <a:chOff x="5020" y="1674"/>
                  <a:chExt cx="279" cy="176"/>
                </a:xfrm>
              </p:grpSpPr>
              <p:sp>
                <p:nvSpPr>
                  <p:cNvPr id="248" name="Freeform 204"/>
                  <p:cNvSpPr>
                    <a:spLocks/>
                  </p:cNvSpPr>
                  <p:nvPr/>
                </p:nvSpPr>
                <p:spPr bwMode="auto">
                  <a:xfrm>
                    <a:off x="5139" y="1674"/>
                    <a:ext cx="160" cy="172"/>
                  </a:xfrm>
                  <a:custGeom>
                    <a:avLst/>
                    <a:gdLst>
                      <a:gd name="T0" fmla="*/ 0 w 960"/>
                      <a:gd name="T1" fmla="*/ 0 h 1031"/>
                      <a:gd name="T2" fmla="*/ 0 w 960"/>
                      <a:gd name="T3" fmla="*/ 0 h 1031"/>
                      <a:gd name="T4" fmla="*/ 0 w 960"/>
                      <a:gd name="T5" fmla="*/ 0 h 1031"/>
                      <a:gd name="T6" fmla="*/ 0 w 960"/>
                      <a:gd name="T7" fmla="*/ 0 h 1031"/>
                      <a:gd name="T8" fmla="*/ 0 w 960"/>
                      <a:gd name="T9" fmla="*/ 0 h 103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60" h="1031">
                        <a:moveTo>
                          <a:pt x="135" y="1031"/>
                        </a:moveTo>
                        <a:lnTo>
                          <a:pt x="0" y="33"/>
                        </a:lnTo>
                        <a:lnTo>
                          <a:pt x="827" y="0"/>
                        </a:lnTo>
                        <a:lnTo>
                          <a:pt x="960" y="889"/>
                        </a:lnTo>
                        <a:lnTo>
                          <a:pt x="135" y="1031"/>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9" name="Freeform 205"/>
                  <p:cNvSpPr>
                    <a:spLocks/>
                  </p:cNvSpPr>
                  <p:nvPr/>
                </p:nvSpPr>
                <p:spPr bwMode="auto">
                  <a:xfrm>
                    <a:off x="5020" y="1679"/>
                    <a:ext cx="141" cy="171"/>
                  </a:xfrm>
                  <a:custGeom>
                    <a:avLst/>
                    <a:gdLst>
                      <a:gd name="T0" fmla="*/ 0 w 850"/>
                      <a:gd name="T1" fmla="*/ 0 h 1026"/>
                      <a:gd name="T2" fmla="*/ 0 w 850"/>
                      <a:gd name="T3" fmla="*/ 0 h 1026"/>
                      <a:gd name="T4" fmla="*/ 0 w 850"/>
                      <a:gd name="T5" fmla="*/ 0 h 1026"/>
                      <a:gd name="T6" fmla="*/ 0 w 850"/>
                      <a:gd name="T7" fmla="*/ 0 h 1026"/>
                      <a:gd name="T8" fmla="*/ 0 w 850"/>
                      <a:gd name="T9" fmla="*/ 0 h 10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50" h="1026">
                        <a:moveTo>
                          <a:pt x="715" y="0"/>
                        </a:moveTo>
                        <a:lnTo>
                          <a:pt x="0" y="228"/>
                        </a:lnTo>
                        <a:lnTo>
                          <a:pt x="102" y="1026"/>
                        </a:lnTo>
                        <a:lnTo>
                          <a:pt x="850" y="1000"/>
                        </a:lnTo>
                        <a:lnTo>
                          <a:pt x="715" y="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0" name="Freeform 206"/>
                  <p:cNvSpPr>
                    <a:spLocks/>
                  </p:cNvSpPr>
                  <p:nvPr/>
                </p:nvSpPr>
                <p:spPr bwMode="auto">
                  <a:xfrm>
                    <a:off x="5166" y="1691"/>
                    <a:ext cx="115" cy="129"/>
                  </a:xfrm>
                  <a:custGeom>
                    <a:avLst/>
                    <a:gdLst>
                      <a:gd name="T0" fmla="*/ 0 w 689"/>
                      <a:gd name="T1" fmla="*/ 0 h 778"/>
                      <a:gd name="T2" fmla="*/ 0 w 689"/>
                      <a:gd name="T3" fmla="*/ 0 h 778"/>
                      <a:gd name="T4" fmla="*/ 0 w 689"/>
                      <a:gd name="T5" fmla="*/ 0 h 778"/>
                      <a:gd name="T6" fmla="*/ 0 w 689"/>
                      <a:gd name="T7" fmla="*/ 0 h 778"/>
                      <a:gd name="T8" fmla="*/ 0 w 689"/>
                      <a:gd name="T9" fmla="*/ 0 h 77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9" h="778">
                        <a:moveTo>
                          <a:pt x="0" y="36"/>
                        </a:moveTo>
                        <a:lnTo>
                          <a:pt x="98" y="778"/>
                        </a:lnTo>
                        <a:lnTo>
                          <a:pt x="689" y="689"/>
                        </a:lnTo>
                        <a:lnTo>
                          <a:pt x="587" y="0"/>
                        </a:lnTo>
                        <a:lnTo>
                          <a:pt x="0" y="36"/>
                        </a:lnTo>
                        <a:close/>
                      </a:path>
                    </a:pathLst>
                  </a:custGeom>
                  <a:solidFill>
                    <a:srgbClr val="0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37" name="Group 207"/>
              <p:cNvGrpSpPr>
                <a:grpSpLocks/>
              </p:cNvGrpSpPr>
              <p:nvPr/>
            </p:nvGrpSpPr>
            <p:grpSpPr bwMode="auto">
              <a:xfrm>
                <a:off x="5212" y="1846"/>
                <a:ext cx="113" cy="80"/>
                <a:chOff x="5212" y="1846"/>
                <a:chExt cx="113" cy="80"/>
              </a:xfrm>
            </p:grpSpPr>
            <p:sp>
              <p:nvSpPr>
                <p:cNvPr id="238" name="Freeform 208"/>
                <p:cNvSpPr>
                  <a:spLocks/>
                </p:cNvSpPr>
                <p:nvPr/>
              </p:nvSpPr>
              <p:spPr bwMode="auto">
                <a:xfrm>
                  <a:off x="5212" y="1846"/>
                  <a:ext cx="112" cy="80"/>
                </a:xfrm>
                <a:custGeom>
                  <a:avLst/>
                  <a:gdLst>
                    <a:gd name="T0" fmla="*/ 0 w 674"/>
                    <a:gd name="T1" fmla="*/ 0 h 482"/>
                    <a:gd name="T2" fmla="*/ 0 w 674"/>
                    <a:gd name="T3" fmla="*/ 0 h 482"/>
                    <a:gd name="T4" fmla="*/ 0 w 674"/>
                    <a:gd name="T5" fmla="*/ 0 h 482"/>
                    <a:gd name="T6" fmla="*/ 0 w 674"/>
                    <a:gd name="T7" fmla="*/ 0 h 482"/>
                    <a:gd name="T8" fmla="*/ 0 w 674"/>
                    <a:gd name="T9" fmla="*/ 0 h 48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74" h="482">
                      <a:moveTo>
                        <a:pt x="674" y="0"/>
                      </a:moveTo>
                      <a:lnTo>
                        <a:pt x="0" y="143"/>
                      </a:lnTo>
                      <a:lnTo>
                        <a:pt x="0" y="482"/>
                      </a:lnTo>
                      <a:lnTo>
                        <a:pt x="674" y="271"/>
                      </a:lnTo>
                      <a:lnTo>
                        <a:pt x="674" y="0"/>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9" name="Line 209"/>
                <p:cNvSpPr>
                  <a:spLocks noChangeShapeType="1"/>
                </p:cNvSpPr>
                <p:nvPr/>
              </p:nvSpPr>
              <p:spPr bwMode="auto">
                <a:xfrm flipV="1">
                  <a:off x="5286" y="1866"/>
                  <a:ext cx="30" cy="7"/>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0" name="Line 210"/>
                <p:cNvSpPr>
                  <a:spLocks noChangeShapeType="1"/>
                </p:cNvSpPr>
                <p:nvPr/>
              </p:nvSpPr>
              <p:spPr bwMode="auto">
                <a:xfrm flipH="1">
                  <a:off x="5231" y="1876"/>
                  <a:ext cx="39" cy="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1" name="Line 211"/>
                <p:cNvSpPr>
                  <a:spLocks noChangeShapeType="1"/>
                </p:cNvSpPr>
                <p:nvPr/>
              </p:nvSpPr>
              <p:spPr bwMode="auto">
                <a:xfrm>
                  <a:off x="5277" y="1856"/>
                  <a:ext cx="1" cy="52"/>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2" name="Line 212"/>
                <p:cNvSpPr>
                  <a:spLocks noChangeShapeType="1"/>
                </p:cNvSpPr>
                <p:nvPr/>
              </p:nvSpPr>
              <p:spPr bwMode="auto">
                <a:xfrm>
                  <a:off x="5223" y="1868"/>
                  <a:ext cx="1" cy="57"/>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3" name="Line 213"/>
                <p:cNvSpPr>
                  <a:spLocks noChangeShapeType="1"/>
                </p:cNvSpPr>
                <p:nvPr/>
              </p:nvSpPr>
              <p:spPr bwMode="auto">
                <a:xfrm flipH="1">
                  <a:off x="5223" y="1867"/>
                  <a:ext cx="102" cy="26"/>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4" name="Line 214"/>
                <p:cNvSpPr>
                  <a:spLocks noChangeShapeType="1"/>
                </p:cNvSpPr>
                <p:nvPr/>
              </p:nvSpPr>
              <p:spPr bwMode="auto">
                <a:xfrm flipV="1">
                  <a:off x="5223" y="1860"/>
                  <a:ext cx="102" cy="23"/>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04" name="Group 215"/>
            <p:cNvGrpSpPr>
              <a:grpSpLocks/>
            </p:cNvGrpSpPr>
            <p:nvPr/>
          </p:nvGrpSpPr>
          <p:grpSpPr bwMode="auto">
            <a:xfrm>
              <a:off x="5170" y="1848"/>
              <a:ext cx="270" cy="138"/>
              <a:chOff x="5170" y="1848"/>
              <a:chExt cx="270" cy="138"/>
            </a:xfrm>
          </p:grpSpPr>
          <p:grpSp>
            <p:nvGrpSpPr>
              <p:cNvPr id="205" name="Group 216"/>
              <p:cNvGrpSpPr>
                <a:grpSpLocks/>
              </p:cNvGrpSpPr>
              <p:nvPr/>
            </p:nvGrpSpPr>
            <p:grpSpPr bwMode="auto">
              <a:xfrm>
                <a:off x="5188" y="1923"/>
                <a:ext cx="43" cy="32"/>
                <a:chOff x="5188" y="1923"/>
                <a:chExt cx="43" cy="32"/>
              </a:xfrm>
            </p:grpSpPr>
            <p:sp>
              <p:nvSpPr>
                <p:cNvPr id="234" name="Freeform 217"/>
                <p:cNvSpPr>
                  <a:spLocks/>
                </p:cNvSpPr>
                <p:nvPr/>
              </p:nvSpPr>
              <p:spPr bwMode="auto">
                <a:xfrm>
                  <a:off x="5188" y="1923"/>
                  <a:ext cx="12" cy="32"/>
                </a:xfrm>
                <a:custGeom>
                  <a:avLst/>
                  <a:gdLst>
                    <a:gd name="T0" fmla="*/ 0 w 75"/>
                    <a:gd name="T1" fmla="*/ 0 h 194"/>
                    <a:gd name="T2" fmla="*/ 0 w 75"/>
                    <a:gd name="T3" fmla="*/ 0 h 194"/>
                    <a:gd name="T4" fmla="*/ 0 w 75"/>
                    <a:gd name="T5" fmla="*/ 0 h 194"/>
                    <a:gd name="T6" fmla="*/ 0 w 75"/>
                    <a:gd name="T7" fmla="*/ 0 h 194"/>
                    <a:gd name="T8" fmla="*/ 0 w 75"/>
                    <a:gd name="T9" fmla="*/ 0 h 19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5" h="194">
                      <a:moveTo>
                        <a:pt x="23" y="0"/>
                      </a:moveTo>
                      <a:lnTo>
                        <a:pt x="0" y="183"/>
                      </a:lnTo>
                      <a:lnTo>
                        <a:pt x="55" y="194"/>
                      </a:lnTo>
                      <a:lnTo>
                        <a:pt x="75" y="8"/>
                      </a:lnTo>
                      <a:lnTo>
                        <a:pt x="23"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5" name="Freeform 218"/>
                <p:cNvSpPr>
                  <a:spLocks/>
                </p:cNvSpPr>
                <p:nvPr/>
              </p:nvSpPr>
              <p:spPr bwMode="auto">
                <a:xfrm>
                  <a:off x="5197" y="1927"/>
                  <a:ext cx="34" cy="28"/>
                </a:xfrm>
                <a:custGeom>
                  <a:avLst/>
                  <a:gdLst>
                    <a:gd name="T0" fmla="*/ 0 w 206"/>
                    <a:gd name="T1" fmla="*/ 0 h 168"/>
                    <a:gd name="T2" fmla="*/ 0 w 206"/>
                    <a:gd name="T3" fmla="*/ 0 h 168"/>
                    <a:gd name="T4" fmla="*/ 0 w 206"/>
                    <a:gd name="T5" fmla="*/ 0 h 168"/>
                    <a:gd name="T6" fmla="*/ 0 w 206"/>
                    <a:gd name="T7" fmla="*/ 0 h 168"/>
                    <a:gd name="T8" fmla="*/ 0 w 206"/>
                    <a:gd name="T9" fmla="*/ 0 h 168"/>
                    <a:gd name="T10" fmla="*/ 0 w 206"/>
                    <a:gd name="T11" fmla="*/ 0 h 168"/>
                    <a:gd name="T12" fmla="*/ 0 w 206"/>
                    <a:gd name="T13" fmla="*/ 0 h 16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6" h="168">
                      <a:moveTo>
                        <a:pt x="17" y="5"/>
                      </a:moveTo>
                      <a:lnTo>
                        <a:pt x="0" y="168"/>
                      </a:lnTo>
                      <a:lnTo>
                        <a:pt x="206" y="84"/>
                      </a:lnTo>
                      <a:lnTo>
                        <a:pt x="126" y="58"/>
                      </a:lnTo>
                      <a:lnTo>
                        <a:pt x="52" y="97"/>
                      </a:lnTo>
                      <a:lnTo>
                        <a:pt x="75" y="0"/>
                      </a:lnTo>
                      <a:lnTo>
                        <a:pt x="17" y="5"/>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06" name="Group 219"/>
              <p:cNvGrpSpPr>
                <a:grpSpLocks/>
              </p:cNvGrpSpPr>
              <p:nvPr/>
            </p:nvGrpSpPr>
            <p:grpSpPr bwMode="auto">
              <a:xfrm>
                <a:off x="5170" y="1848"/>
                <a:ext cx="270" cy="138"/>
                <a:chOff x="5170" y="1848"/>
                <a:chExt cx="270" cy="138"/>
              </a:xfrm>
            </p:grpSpPr>
            <p:sp>
              <p:nvSpPr>
                <p:cNvPr id="207" name="Freeform 220"/>
                <p:cNvSpPr>
                  <a:spLocks/>
                </p:cNvSpPr>
                <p:nvPr/>
              </p:nvSpPr>
              <p:spPr bwMode="auto">
                <a:xfrm>
                  <a:off x="5175" y="1848"/>
                  <a:ext cx="264" cy="122"/>
                </a:xfrm>
                <a:custGeom>
                  <a:avLst/>
                  <a:gdLst>
                    <a:gd name="T0" fmla="*/ 0 w 1583"/>
                    <a:gd name="T1" fmla="*/ 0 h 729"/>
                    <a:gd name="T2" fmla="*/ 0 w 1583"/>
                    <a:gd name="T3" fmla="*/ 0 h 729"/>
                    <a:gd name="T4" fmla="*/ 0 w 1583"/>
                    <a:gd name="T5" fmla="*/ 0 h 729"/>
                    <a:gd name="T6" fmla="*/ 0 w 1583"/>
                    <a:gd name="T7" fmla="*/ 0 h 729"/>
                    <a:gd name="T8" fmla="*/ 0 w 1583"/>
                    <a:gd name="T9" fmla="*/ 0 h 7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583" h="729">
                      <a:moveTo>
                        <a:pt x="0" y="309"/>
                      </a:moveTo>
                      <a:lnTo>
                        <a:pt x="759" y="729"/>
                      </a:lnTo>
                      <a:lnTo>
                        <a:pt x="1583" y="318"/>
                      </a:lnTo>
                      <a:lnTo>
                        <a:pt x="951" y="0"/>
                      </a:lnTo>
                      <a:lnTo>
                        <a:pt x="0" y="309"/>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8" name="Freeform 221"/>
                <p:cNvSpPr>
                  <a:spLocks/>
                </p:cNvSpPr>
                <p:nvPr/>
              </p:nvSpPr>
              <p:spPr bwMode="auto">
                <a:xfrm>
                  <a:off x="5170" y="1899"/>
                  <a:ext cx="133" cy="86"/>
                </a:xfrm>
                <a:custGeom>
                  <a:avLst/>
                  <a:gdLst>
                    <a:gd name="T0" fmla="*/ 0 w 792"/>
                    <a:gd name="T1" fmla="*/ 0 h 516"/>
                    <a:gd name="T2" fmla="*/ 0 w 792"/>
                    <a:gd name="T3" fmla="*/ 0 h 516"/>
                    <a:gd name="T4" fmla="*/ 0 w 792"/>
                    <a:gd name="T5" fmla="*/ 0 h 516"/>
                    <a:gd name="T6" fmla="*/ 0 w 792"/>
                    <a:gd name="T7" fmla="*/ 0 h 516"/>
                    <a:gd name="T8" fmla="*/ 0 w 792"/>
                    <a:gd name="T9" fmla="*/ 0 h 51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92" h="516">
                      <a:moveTo>
                        <a:pt x="28" y="0"/>
                      </a:moveTo>
                      <a:lnTo>
                        <a:pt x="792" y="426"/>
                      </a:lnTo>
                      <a:lnTo>
                        <a:pt x="770" y="516"/>
                      </a:lnTo>
                      <a:lnTo>
                        <a:pt x="0" y="82"/>
                      </a:lnTo>
                      <a:lnTo>
                        <a:pt x="28"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9" name="Freeform 222"/>
                <p:cNvSpPr>
                  <a:spLocks/>
                </p:cNvSpPr>
                <p:nvPr/>
              </p:nvSpPr>
              <p:spPr bwMode="auto">
                <a:xfrm>
                  <a:off x="5299" y="1901"/>
                  <a:ext cx="141" cy="85"/>
                </a:xfrm>
                <a:custGeom>
                  <a:avLst/>
                  <a:gdLst>
                    <a:gd name="T0" fmla="*/ 0 w 846"/>
                    <a:gd name="T1" fmla="*/ 0 h 507"/>
                    <a:gd name="T2" fmla="*/ 0 w 846"/>
                    <a:gd name="T3" fmla="*/ 0 h 507"/>
                    <a:gd name="T4" fmla="*/ 0 w 846"/>
                    <a:gd name="T5" fmla="*/ 0 h 507"/>
                    <a:gd name="T6" fmla="*/ 0 w 846"/>
                    <a:gd name="T7" fmla="*/ 0 h 507"/>
                    <a:gd name="T8" fmla="*/ 0 w 846"/>
                    <a:gd name="T9" fmla="*/ 0 h 50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6" h="507">
                      <a:moveTo>
                        <a:pt x="0" y="507"/>
                      </a:moveTo>
                      <a:lnTo>
                        <a:pt x="25" y="411"/>
                      </a:lnTo>
                      <a:lnTo>
                        <a:pt x="846" y="0"/>
                      </a:lnTo>
                      <a:lnTo>
                        <a:pt x="817" y="76"/>
                      </a:lnTo>
                      <a:lnTo>
                        <a:pt x="0" y="507"/>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0" name="Freeform 223"/>
                <p:cNvSpPr>
                  <a:spLocks/>
                </p:cNvSpPr>
                <p:nvPr/>
              </p:nvSpPr>
              <p:spPr bwMode="auto">
                <a:xfrm>
                  <a:off x="5227" y="1905"/>
                  <a:ext cx="106" cy="54"/>
                </a:xfrm>
                <a:custGeom>
                  <a:avLst/>
                  <a:gdLst>
                    <a:gd name="T0" fmla="*/ 0 w 637"/>
                    <a:gd name="T1" fmla="*/ 0 h 321"/>
                    <a:gd name="T2" fmla="*/ 0 w 637"/>
                    <a:gd name="T3" fmla="*/ 0 h 321"/>
                    <a:gd name="T4" fmla="*/ 0 w 637"/>
                    <a:gd name="T5" fmla="*/ 0 h 321"/>
                    <a:gd name="T6" fmla="*/ 0 w 637"/>
                    <a:gd name="T7" fmla="*/ 0 h 321"/>
                    <a:gd name="T8" fmla="*/ 0 w 637"/>
                    <a:gd name="T9" fmla="*/ 0 h 32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7" h="321">
                      <a:moveTo>
                        <a:pt x="0" y="83"/>
                      </a:moveTo>
                      <a:lnTo>
                        <a:pt x="220" y="0"/>
                      </a:lnTo>
                      <a:lnTo>
                        <a:pt x="637" y="224"/>
                      </a:lnTo>
                      <a:lnTo>
                        <a:pt x="425" y="321"/>
                      </a:lnTo>
                      <a:lnTo>
                        <a:pt x="0" y="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1" name="Freeform 224"/>
                <p:cNvSpPr>
                  <a:spLocks/>
                </p:cNvSpPr>
                <p:nvPr/>
              </p:nvSpPr>
              <p:spPr bwMode="auto">
                <a:xfrm>
                  <a:off x="5270" y="1868"/>
                  <a:ext cx="156" cy="72"/>
                </a:xfrm>
                <a:custGeom>
                  <a:avLst/>
                  <a:gdLst>
                    <a:gd name="T0" fmla="*/ 0 w 938"/>
                    <a:gd name="T1" fmla="*/ 0 h 434"/>
                    <a:gd name="T2" fmla="*/ 0 w 938"/>
                    <a:gd name="T3" fmla="*/ 0 h 434"/>
                    <a:gd name="T4" fmla="*/ 0 w 938"/>
                    <a:gd name="T5" fmla="*/ 0 h 434"/>
                    <a:gd name="T6" fmla="*/ 0 w 938"/>
                    <a:gd name="T7" fmla="*/ 0 h 434"/>
                    <a:gd name="T8" fmla="*/ 0 w 938"/>
                    <a:gd name="T9" fmla="*/ 0 h 4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38" h="434">
                      <a:moveTo>
                        <a:pt x="0" y="210"/>
                      </a:moveTo>
                      <a:lnTo>
                        <a:pt x="410" y="434"/>
                      </a:lnTo>
                      <a:lnTo>
                        <a:pt x="938" y="186"/>
                      </a:lnTo>
                      <a:lnTo>
                        <a:pt x="554" y="0"/>
                      </a:lnTo>
                      <a:lnTo>
                        <a:pt x="0" y="21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2" name="Freeform 225"/>
                <p:cNvSpPr>
                  <a:spLocks/>
                </p:cNvSpPr>
                <p:nvPr/>
              </p:nvSpPr>
              <p:spPr bwMode="auto">
                <a:xfrm>
                  <a:off x="5188" y="1852"/>
                  <a:ext cx="172" cy="66"/>
                </a:xfrm>
                <a:custGeom>
                  <a:avLst/>
                  <a:gdLst>
                    <a:gd name="T0" fmla="*/ 0 w 1034"/>
                    <a:gd name="T1" fmla="*/ 0 h 395"/>
                    <a:gd name="T2" fmla="*/ 0 w 1034"/>
                    <a:gd name="T3" fmla="*/ 0 h 395"/>
                    <a:gd name="T4" fmla="*/ 0 w 1034"/>
                    <a:gd name="T5" fmla="*/ 0 h 395"/>
                    <a:gd name="T6" fmla="*/ 0 w 1034"/>
                    <a:gd name="T7" fmla="*/ 0 h 395"/>
                    <a:gd name="T8" fmla="*/ 0 w 1034"/>
                    <a:gd name="T9" fmla="*/ 0 h 39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4" h="395">
                      <a:moveTo>
                        <a:pt x="216" y="395"/>
                      </a:moveTo>
                      <a:lnTo>
                        <a:pt x="0" y="285"/>
                      </a:lnTo>
                      <a:lnTo>
                        <a:pt x="867" y="0"/>
                      </a:lnTo>
                      <a:lnTo>
                        <a:pt x="1034" y="82"/>
                      </a:lnTo>
                      <a:lnTo>
                        <a:pt x="216" y="395"/>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3" name="Line 226"/>
                <p:cNvSpPr>
                  <a:spLocks noChangeShapeType="1"/>
                </p:cNvSpPr>
                <p:nvPr/>
              </p:nvSpPr>
              <p:spPr bwMode="auto">
                <a:xfrm flipV="1">
                  <a:off x="5193" y="1855"/>
                  <a:ext cx="148" cy="51"/>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4" name="Line 227"/>
                <p:cNvSpPr>
                  <a:spLocks noChangeShapeType="1"/>
                </p:cNvSpPr>
                <p:nvPr/>
              </p:nvSpPr>
              <p:spPr bwMode="auto">
                <a:xfrm flipV="1">
                  <a:off x="5205" y="1858"/>
                  <a:ext cx="14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5" name="Line 228"/>
                <p:cNvSpPr>
                  <a:spLocks noChangeShapeType="1"/>
                </p:cNvSpPr>
                <p:nvPr/>
              </p:nvSpPr>
              <p:spPr bwMode="auto">
                <a:xfrm flipV="1">
                  <a:off x="5214" y="1862"/>
                  <a:ext cx="141" cy="5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6" name="Line 229"/>
                <p:cNvSpPr>
                  <a:spLocks noChangeShapeType="1"/>
                </p:cNvSpPr>
                <p:nvPr/>
              </p:nvSpPr>
              <p:spPr bwMode="auto">
                <a:xfrm flipV="1">
                  <a:off x="5235" y="1871"/>
                  <a:ext cx="138" cy="5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7" name="Line 230"/>
                <p:cNvSpPr>
                  <a:spLocks noChangeShapeType="1"/>
                </p:cNvSpPr>
                <p:nvPr/>
              </p:nvSpPr>
              <p:spPr bwMode="auto">
                <a:xfrm flipV="1">
                  <a:off x="5246" y="1877"/>
                  <a:ext cx="137" cy="5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8" name="Line 231"/>
                <p:cNvSpPr>
                  <a:spLocks noChangeShapeType="1"/>
                </p:cNvSpPr>
                <p:nvPr/>
              </p:nvSpPr>
              <p:spPr bwMode="auto">
                <a:xfrm flipV="1">
                  <a:off x="5261" y="1885"/>
                  <a:ext cx="124"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9" name="Line 232"/>
                <p:cNvSpPr>
                  <a:spLocks noChangeShapeType="1"/>
                </p:cNvSpPr>
                <p:nvPr/>
              </p:nvSpPr>
              <p:spPr bwMode="auto">
                <a:xfrm flipV="1">
                  <a:off x="5274" y="1890"/>
                  <a:ext cx="119"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0" name="Line 233"/>
                <p:cNvSpPr>
                  <a:spLocks noChangeShapeType="1"/>
                </p:cNvSpPr>
                <p:nvPr/>
              </p:nvSpPr>
              <p:spPr bwMode="auto">
                <a:xfrm flipV="1">
                  <a:off x="5291" y="1897"/>
                  <a:ext cx="11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1" name="Line 234"/>
                <p:cNvSpPr>
                  <a:spLocks noChangeShapeType="1"/>
                </p:cNvSpPr>
                <p:nvPr/>
              </p:nvSpPr>
              <p:spPr bwMode="auto">
                <a:xfrm>
                  <a:off x="5239" y="1915"/>
                  <a:ext cx="71" cy="40"/>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2" name="Line 235"/>
                <p:cNvSpPr>
                  <a:spLocks noChangeShapeType="1"/>
                </p:cNvSpPr>
                <p:nvPr/>
              </p:nvSpPr>
              <p:spPr bwMode="auto">
                <a:xfrm>
                  <a:off x="5255" y="1910"/>
                  <a:ext cx="69" cy="3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3" name="Line 236"/>
                <p:cNvSpPr>
                  <a:spLocks noChangeShapeType="1"/>
                </p:cNvSpPr>
                <p:nvPr/>
              </p:nvSpPr>
              <p:spPr bwMode="auto">
                <a:xfrm>
                  <a:off x="5285" y="1897"/>
                  <a:ext cx="68" cy="3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4" name="Line 237"/>
                <p:cNvSpPr>
                  <a:spLocks noChangeShapeType="1"/>
                </p:cNvSpPr>
                <p:nvPr/>
              </p:nvSpPr>
              <p:spPr bwMode="auto">
                <a:xfrm>
                  <a:off x="5301" y="1891"/>
                  <a:ext cx="67"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5" name="Line 238"/>
                <p:cNvSpPr>
                  <a:spLocks noChangeShapeType="1"/>
                </p:cNvSpPr>
                <p:nvPr/>
              </p:nvSpPr>
              <p:spPr bwMode="auto">
                <a:xfrm>
                  <a:off x="5318" y="1886"/>
                  <a:ext cx="65"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6" name="Line 239"/>
                <p:cNvSpPr>
                  <a:spLocks noChangeShapeType="1"/>
                </p:cNvSpPr>
                <p:nvPr/>
              </p:nvSpPr>
              <p:spPr bwMode="auto">
                <a:xfrm>
                  <a:off x="5332" y="1880"/>
                  <a:ext cx="64" cy="3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7" name="Line 240"/>
                <p:cNvSpPr>
                  <a:spLocks noChangeShapeType="1"/>
                </p:cNvSpPr>
                <p:nvPr/>
              </p:nvSpPr>
              <p:spPr bwMode="auto">
                <a:xfrm>
                  <a:off x="5346" y="1874"/>
                  <a:ext cx="64" cy="3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8" name="Line 241"/>
                <p:cNvSpPr>
                  <a:spLocks noChangeShapeType="1"/>
                </p:cNvSpPr>
                <p:nvPr/>
              </p:nvSpPr>
              <p:spPr bwMode="auto">
                <a:xfrm>
                  <a:off x="5209" y="1892"/>
                  <a:ext cx="35" cy="1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9" name="Line 242"/>
                <p:cNvSpPr>
                  <a:spLocks noChangeShapeType="1"/>
                </p:cNvSpPr>
                <p:nvPr/>
              </p:nvSpPr>
              <p:spPr bwMode="auto">
                <a:xfrm>
                  <a:off x="5232" y="1885"/>
                  <a:ext cx="32"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0" name="Line 243"/>
                <p:cNvSpPr>
                  <a:spLocks noChangeShapeType="1"/>
                </p:cNvSpPr>
                <p:nvPr/>
              </p:nvSpPr>
              <p:spPr bwMode="auto">
                <a:xfrm>
                  <a:off x="5252" y="1879"/>
                  <a:ext cx="33"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1" name="Line 244"/>
                <p:cNvSpPr>
                  <a:spLocks noChangeShapeType="1"/>
                </p:cNvSpPr>
                <p:nvPr/>
              </p:nvSpPr>
              <p:spPr bwMode="auto">
                <a:xfrm>
                  <a:off x="5272" y="1872"/>
                  <a:ext cx="32"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2" name="Line 245"/>
                <p:cNvSpPr>
                  <a:spLocks noChangeShapeType="1"/>
                </p:cNvSpPr>
                <p:nvPr/>
              </p:nvSpPr>
              <p:spPr bwMode="auto">
                <a:xfrm>
                  <a:off x="5292" y="1865"/>
                  <a:ext cx="31" cy="1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3" name="Line 246"/>
                <p:cNvSpPr>
                  <a:spLocks noChangeShapeType="1"/>
                </p:cNvSpPr>
                <p:nvPr/>
              </p:nvSpPr>
              <p:spPr bwMode="auto">
                <a:xfrm>
                  <a:off x="5315" y="1858"/>
                  <a:ext cx="29"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261" name="Group 254"/>
          <p:cNvGrpSpPr>
            <a:grpSpLocks/>
          </p:cNvGrpSpPr>
          <p:nvPr/>
        </p:nvGrpSpPr>
        <p:grpSpPr bwMode="auto">
          <a:xfrm>
            <a:off x="7012736" y="3240629"/>
            <a:ext cx="144954" cy="73406"/>
            <a:chOff x="5325" y="1860"/>
            <a:chExt cx="144" cy="79"/>
          </a:xfrm>
        </p:grpSpPr>
        <p:grpSp>
          <p:nvGrpSpPr>
            <p:cNvPr id="262" name="Group 255"/>
            <p:cNvGrpSpPr>
              <a:grpSpLocks/>
            </p:cNvGrpSpPr>
            <p:nvPr/>
          </p:nvGrpSpPr>
          <p:grpSpPr bwMode="auto">
            <a:xfrm>
              <a:off x="5325" y="1860"/>
              <a:ext cx="125" cy="63"/>
              <a:chOff x="5325" y="1860"/>
              <a:chExt cx="125" cy="63"/>
            </a:xfrm>
          </p:grpSpPr>
          <p:sp>
            <p:nvSpPr>
              <p:cNvPr id="266" name="Freeform 256"/>
              <p:cNvSpPr>
                <a:spLocks/>
              </p:cNvSpPr>
              <p:nvPr/>
            </p:nvSpPr>
            <p:spPr bwMode="auto">
              <a:xfrm>
                <a:off x="5325" y="1860"/>
                <a:ext cx="125" cy="63"/>
              </a:xfrm>
              <a:custGeom>
                <a:avLst/>
                <a:gdLst>
                  <a:gd name="T0" fmla="*/ 0 w 751"/>
                  <a:gd name="T1" fmla="*/ 0 h 379"/>
                  <a:gd name="T2" fmla="*/ 0 w 751"/>
                  <a:gd name="T3" fmla="*/ 0 h 379"/>
                  <a:gd name="T4" fmla="*/ 0 w 751"/>
                  <a:gd name="T5" fmla="*/ 0 h 379"/>
                  <a:gd name="T6" fmla="*/ 0 w 751"/>
                  <a:gd name="T7" fmla="*/ 0 h 379"/>
                  <a:gd name="T8" fmla="*/ 0 w 751"/>
                  <a:gd name="T9" fmla="*/ 0 h 379"/>
                  <a:gd name="T10" fmla="*/ 0 w 751"/>
                  <a:gd name="T11" fmla="*/ 0 h 379"/>
                  <a:gd name="T12" fmla="*/ 0 w 751"/>
                  <a:gd name="T13" fmla="*/ 0 h 379"/>
                  <a:gd name="T14" fmla="*/ 0 w 751"/>
                  <a:gd name="T15" fmla="*/ 0 h 379"/>
                  <a:gd name="T16" fmla="*/ 0 w 751"/>
                  <a:gd name="T17" fmla="*/ 0 h 379"/>
                  <a:gd name="T18" fmla="*/ 0 w 751"/>
                  <a:gd name="T19" fmla="*/ 0 h 379"/>
                  <a:gd name="T20" fmla="*/ 0 w 751"/>
                  <a:gd name="T21" fmla="*/ 0 h 379"/>
                  <a:gd name="T22" fmla="*/ 0 w 751"/>
                  <a:gd name="T23" fmla="*/ 0 h 379"/>
                  <a:gd name="T24" fmla="*/ 0 w 751"/>
                  <a:gd name="T25" fmla="*/ 0 h 379"/>
                  <a:gd name="T26" fmla="*/ 0 w 751"/>
                  <a:gd name="T27" fmla="*/ 0 h 379"/>
                  <a:gd name="T28" fmla="*/ 0 w 751"/>
                  <a:gd name="T29" fmla="*/ 0 h 379"/>
                  <a:gd name="T30" fmla="*/ 0 w 751"/>
                  <a:gd name="T31" fmla="*/ 0 h 379"/>
                  <a:gd name="T32" fmla="*/ 0 w 751"/>
                  <a:gd name="T33" fmla="*/ 0 h 379"/>
                  <a:gd name="T34" fmla="*/ 0 w 751"/>
                  <a:gd name="T35" fmla="*/ 0 h 379"/>
                  <a:gd name="T36" fmla="*/ 0 w 751"/>
                  <a:gd name="T37" fmla="*/ 0 h 379"/>
                  <a:gd name="T38" fmla="*/ 0 w 751"/>
                  <a:gd name="T39" fmla="*/ 0 h 379"/>
                  <a:gd name="T40" fmla="*/ 0 w 751"/>
                  <a:gd name="T41" fmla="*/ 0 h 379"/>
                  <a:gd name="T42" fmla="*/ 0 w 751"/>
                  <a:gd name="T43" fmla="*/ 0 h 379"/>
                  <a:gd name="T44" fmla="*/ 0 w 751"/>
                  <a:gd name="T45" fmla="*/ 0 h 379"/>
                  <a:gd name="T46" fmla="*/ 0 w 751"/>
                  <a:gd name="T47" fmla="*/ 0 h 379"/>
                  <a:gd name="T48" fmla="*/ 0 w 751"/>
                  <a:gd name="T49" fmla="*/ 0 h 379"/>
                  <a:gd name="T50" fmla="*/ 0 w 751"/>
                  <a:gd name="T51" fmla="*/ 0 h 379"/>
                  <a:gd name="T52" fmla="*/ 0 w 751"/>
                  <a:gd name="T53" fmla="*/ 0 h 379"/>
                  <a:gd name="T54" fmla="*/ 0 w 751"/>
                  <a:gd name="T55" fmla="*/ 0 h 379"/>
                  <a:gd name="T56" fmla="*/ 0 w 751"/>
                  <a:gd name="T57" fmla="*/ 0 h 379"/>
                  <a:gd name="T58" fmla="*/ 0 w 751"/>
                  <a:gd name="T59" fmla="*/ 0 h 379"/>
                  <a:gd name="T60" fmla="*/ 0 w 751"/>
                  <a:gd name="T61" fmla="*/ 0 h 379"/>
                  <a:gd name="T62" fmla="*/ 0 w 751"/>
                  <a:gd name="T63" fmla="*/ 0 h 379"/>
                  <a:gd name="T64" fmla="*/ 0 w 751"/>
                  <a:gd name="T65" fmla="*/ 0 h 379"/>
                  <a:gd name="T66" fmla="*/ 0 w 751"/>
                  <a:gd name="T67" fmla="*/ 0 h 379"/>
                  <a:gd name="T68" fmla="*/ 0 w 751"/>
                  <a:gd name="T69" fmla="*/ 0 h 379"/>
                  <a:gd name="T70" fmla="*/ 0 w 751"/>
                  <a:gd name="T71" fmla="*/ 0 h 379"/>
                  <a:gd name="T72" fmla="*/ 0 w 751"/>
                  <a:gd name="T73" fmla="*/ 0 h 379"/>
                  <a:gd name="T74" fmla="*/ 0 w 751"/>
                  <a:gd name="T75" fmla="*/ 0 h 379"/>
                  <a:gd name="T76" fmla="*/ 0 w 751"/>
                  <a:gd name="T77" fmla="*/ 0 h 379"/>
                  <a:gd name="T78" fmla="*/ 0 w 751"/>
                  <a:gd name="T79" fmla="*/ 0 h 379"/>
                  <a:gd name="T80" fmla="*/ 0 w 751"/>
                  <a:gd name="T81" fmla="*/ 0 h 379"/>
                  <a:gd name="T82" fmla="*/ 0 w 751"/>
                  <a:gd name="T83" fmla="*/ 0 h 379"/>
                  <a:gd name="T84" fmla="*/ 0 w 751"/>
                  <a:gd name="T85" fmla="*/ 0 h 379"/>
                  <a:gd name="T86" fmla="*/ 0 w 751"/>
                  <a:gd name="T87" fmla="*/ 0 h 379"/>
                  <a:gd name="T88" fmla="*/ 0 w 751"/>
                  <a:gd name="T89" fmla="*/ 0 h 379"/>
                  <a:gd name="T90" fmla="*/ 0 w 751"/>
                  <a:gd name="T91" fmla="*/ 0 h 379"/>
                  <a:gd name="T92" fmla="*/ 0 w 751"/>
                  <a:gd name="T93" fmla="*/ 0 h 379"/>
                  <a:gd name="T94" fmla="*/ 0 w 751"/>
                  <a:gd name="T95" fmla="*/ 0 h 379"/>
                  <a:gd name="T96" fmla="*/ 0 w 751"/>
                  <a:gd name="T97" fmla="*/ 0 h 379"/>
                  <a:gd name="T98" fmla="*/ 0 w 751"/>
                  <a:gd name="T99" fmla="*/ 0 h 379"/>
                  <a:gd name="T100" fmla="*/ 0 w 751"/>
                  <a:gd name="T101" fmla="*/ 0 h 379"/>
                  <a:gd name="T102" fmla="*/ 0 w 751"/>
                  <a:gd name="T103" fmla="*/ 0 h 379"/>
                  <a:gd name="T104" fmla="*/ 0 w 751"/>
                  <a:gd name="T105" fmla="*/ 0 h 379"/>
                  <a:gd name="T106" fmla="*/ 0 w 751"/>
                  <a:gd name="T107" fmla="*/ 0 h 379"/>
                  <a:gd name="T108" fmla="*/ 0 w 751"/>
                  <a:gd name="T109" fmla="*/ 0 h 379"/>
                  <a:gd name="T110" fmla="*/ 0 w 751"/>
                  <a:gd name="T111" fmla="*/ 0 h 379"/>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751" h="379">
                    <a:moveTo>
                      <a:pt x="679" y="379"/>
                    </a:moveTo>
                    <a:lnTo>
                      <a:pt x="639" y="370"/>
                    </a:lnTo>
                    <a:lnTo>
                      <a:pt x="600" y="352"/>
                    </a:lnTo>
                    <a:lnTo>
                      <a:pt x="564" y="344"/>
                    </a:lnTo>
                    <a:lnTo>
                      <a:pt x="502" y="353"/>
                    </a:lnTo>
                    <a:lnTo>
                      <a:pt x="457" y="352"/>
                    </a:lnTo>
                    <a:lnTo>
                      <a:pt x="425" y="341"/>
                    </a:lnTo>
                    <a:lnTo>
                      <a:pt x="399" y="332"/>
                    </a:lnTo>
                    <a:lnTo>
                      <a:pt x="373" y="320"/>
                    </a:lnTo>
                    <a:lnTo>
                      <a:pt x="346" y="295"/>
                    </a:lnTo>
                    <a:lnTo>
                      <a:pt x="324" y="273"/>
                    </a:lnTo>
                    <a:lnTo>
                      <a:pt x="288" y="246"/>
                    </a:lnTo>
                    <a:lnTo>
                      <a:pt x="238" y="254"/>
                    </a:lnTo>
                    <a:lnTo>
                      <a:pt x="208" y="256"/>
                    </a:lnTo>
                    <a:lnTo>
                      <a:pt x="190" y="251"/>
                    </a:lnTo>
                    <a:lnTo>
                      <a:pt x="182" y="243"/>
                    </a:lnTo>
                    <a:lnTo>
                      <a:pt x="176" y="228"/>
                    </a:lnTo>
                    <a:lnTo>
                      <a:pt x="180" y="215"/>
                    </a:lnTo>
                    <a:lnTo>
                      <a:pt x="190" y="200"/>
                    </a:lnTo>
                    <a:lnTo>
                      <a:pt x="208" y="193"/>
                    </a:lnTo>
                    <a:lnTo>
                      <a:pt x="248" y="188"/>
                    </a:lnTo>
                    <a:lnTo>
                      <a:pt x="296" y="171"/>
                    </a:lnTo>
                    <a:lnTo>
                      <a:pt x="256" y="140"/>
                    </a:lnTo>
                    <a:lnTo>
                      <a:pt x="209" y="121"/>
                    </a:lnTo>
                    <a:lnTo>
                      <a:pt x="168" y="124"/>
                    </a:lnTo>
                    <a:lnTo>
                      <a:pt x="121" y="121"/>
                    </a:lnTo>
                    <a:lnTo>
                      <a:pt x="93" y="131"/>
                    </a:lnTo>
                    <a:lnTo>
                      <a:pt x="54" y="132"/>
                    </a:lnTo>
                    <a:lnTo>
                      <a:pt x="42" y="121"/>
                    </a:lnTo>
                    <a:lnTo>
                      <a:pt x="39" y="105"/>
                    </a:lnTo>
                    <a:lnTo>
                      <a:pt x="18" y="106"/>
                    </a:lnTo>
                    <a:lnTo>
                      <a:pt x="6" y="103"/>
                    </a:lnTo>
                    <a:lnTo>
                      <a:pt x="0" y="87"/>
                    </a:lnTo>
                    <a:lnTo>
                      <a:pt x="4" y="74"/>
                    </a:lnTo>
                    <a:lnTo>
                      <a:pt x="15" y="68"/>
                    </a:lnTo>
                    <a:lnTo>
                      <a:pt x="36" y="56"/>
                    </a:lnTo>
                    <a:lnTo>
                      <a:pt x="52" y="44"/>
                    </a:lnTo>
                    <a:lnTo>
                      <a:pt x="71" y="34"/>
                    </a:lnTo>
                    <a:lnTo>
                      <a:pt x="93" y="27"/>
                    </a:lnTo>
                    <a:lnTo>
                      <a:pt x="112" y="27"/>
                    </a:lnTo>
                    <a:lnTo>
                      <a:pt x="203" y="9"/>
                    </a:lnTo>
                    <a:lnTo>
                      <a:pt x="222" y="4"/>
                    </a:lnTo>
                    <a:lnTo>
                      <a:pt x="244" y="0"/>
                    </a:lnTo>
                    <a:lnTo>
                      <a:pt x="267" y="4"/>
                    </a:lnTo>
                    <a:lnTo>
                      <a:pt x="295" y="13"/>
                    </a:lnTo>
                    <a:lnTo>
                      <a:pt x="373" y="56"/>
                    </a:lnTo>
                    <a:lnTo>
                      <a:pt x="410" y="64"/>
                    </a:lnTo>
                    <a:lnTo>
                      <a:pt x="443" y="71"/>
                    </a:lnTo>
                    <a:lnTo>
                      <a:pt x="469" y="87"/>
                    </a:lnTo>
                    <a:lnTo>
                      <a:pt x="484" y="108"/>
                    </a:lnTo>
                    <a:lnTo>
                      <a:pt x="549" y="153"/>
                    </a:lnTo>
                    <a:lnTo>
                      <a:pt x="578" y="174"/>
                    </a:lnTo>
                    <a:lnTo>
                      <a:pt x="617" y="215"/>
                    </a:lnTo>
                    <a:lnTo>
                      <a:pt x="641" y="227"/>
                    </a:lnTo>
                    <a:lnTo>
                      <a:pt x="751" y="232"/>
                    </a:lnTo>
                    <a:lnTo>
                      <a:pt x="679" y="379"/>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7" name="Freeform 257"/>
              <p:cNvSpPr>
                <a:spLocks/>
              </p:cNvSpPr>
              <p:nvPr/>
            </p:nvSpPr>
            <p:spPr bwMode="auto">
              <a:xfrm>
                <a:off x="5374" y="1888"/>
                <a:ext cx="29" cy="7"/>
              </a:xfrm>
              <a:custGeom>
                <a:avLst/>
                <a:gdLst>
                  <a:gd name="T0" fmla="*/ 0 w 179"/>
                  <a:gd name="T1" fmla="*/ 0 h 43"/>
                  <a:gd name="T2" fmla="*/ 0 w 179"/>
                  <a:gd name="T3" fmla="*/ 0 h 43"/>
                  <a:gd name="T4" fmla="*/ 0 w 179"/>
                  <a:gd name="T5" fmla="*/ 0 h 43"/>
                  <a:gd name="T6" fmla="*/ 0 w 179"/>
                  <a:gd name="T7" fmla="*/ 0 h 43"/>
                  <a:gd name="T8" fmla="*/ 0 w 179"/>
                  <a:gd name="T9" fmla="*/ 0 h 43"/>
                  <a:gd name="T10" fmla="*/ 0 w 179"/>
                  <a:gd name="T11" fmla="*/ 0 h 43"/>
                  <a:gd name="T12" fmla="*/ 0 w 179"/>
                  <a:gd name="T13" fmla="*/ 0 h 43"/>
                  <a:gd name="T14" fmla="*/ 0 w 179"/>
                  <a:gd name="T15" fmla="*/ 0 h 43"/>
                  <a:gd name="T16" fmla="*/ 0 w 179"/>
                  <a:gd name="T17" fmla="*/ 0 h 43"/>
                  <a:gd name="T18" fmla="*/ 0 w 179"/>
                  <a:gd name="T19" fmla="*/ 0 h 43"/>
                  <a:gd name="T20" fmla="*/ 0 w 179"/>
                  <a:gd name="T21" fmla="*/ 0 h 43"/>
                  <a:gd name="T22" fmla="*/ 0 w 179"/>
                  <a:gd name="T23" fmla="*/ 0 h 43"/>
                  <a:gd name="T24" fmla="*/ 0 w 179"/>
                  <a:gd name="T25" fmla="*/ 0 h 43"/>
                  <a:gd name="T26" fmla="*/ 0 w 179"/>
                  <a:gd name="T27" fmla="*/ 0 h 43"/>
                  <a:gd name="T28" fmla="*/ 0 w 179"/>
                  <a:gd name="T29" fmla="*/ 0 h 4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79" h="43">
                    <a:moveTo>
                      <a:pt x="0" y="0"/>
                    </a:moveTo>
                    <a:lnTo>
                      <a:pt x="6" y="11"/>
                    </a:lnTo>
                    <a:lnTo>
                      <a:pt x="38" y="10"/>
                    </a:lnTo>
                    <a:lnTo>
                      <a:pt x="50" y="16"/>
                    </a:lnTo>
                    <a:lnTo>
                      <a:pt x="76" y="29"/>
                    </a:lnTo>
                    <a:lnTo>
                      <a:pt x="112" y="37"/>
                    </a:lnTo>
                    <a:lnTo>
                      <a:pt x="150" y="38"/>
                    </a:lnTo>
                    <a:lnTo>
                      <a:pt x="179" y="43"/>
                    </a:lnTo>
                    <a:lnTo>
                      <a:pt x="155" y="34"/>
                    </a:lnTo>
                    <a:lnTo>
                      <a:pt x="125" y="29"/>
                    </a:lnTo>
                    <a:lnTo>
                      <a:pt x="105" y="29"/>
                    </a:lnTo>
                    <a:lnTo>
                      <a:pt x="76" y="21"/>
                    </a:lnTo>
                    <a:lnTo>
                      <a:pt x="53" y="8"/>
                    </a:lnTo>
                    <a:lnTo>
                      <a:pt x="43" y="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8" name="Freeform 258"/>
              <p:cNvSpPr>
                <a:spLocks/>
              </p:cNvSpPr>
              <p:nvPr/>
            </p:nvSpPr>
            <p:spPr bwMode="auto">
              <a:xfrm>
                <a:off x="5362" y="1894"/>
                <a:ext cx="4" cy="4"/>
              </a:xfrm>
              <a:custGeom>
                <a:avLst/>
                <a:gdLst>
                  <a:gd name="T0" fmla="*/ 0 w 20"/>
                  <a:gd name="T1" fmla="*/ 0 h 24"/>
                  <a:gd name="T2" fmla="*/ 0 w 20"/>
                  <a:gd name="T3" fmla="*/ 0 h 24"/>
                  <a:gd name="T4" fmla="*/ 0 w 20"/>
                  <a:gd name="T5" fmla="*/ 0 h 24"/>
                  <a:gd name="T6" fmla="*/ 0 w 20"/>
                  <a:gd name="T7" fmla="*/ 0 h 24"/>
                  <a:gd name="T8" fmla="*/ 0 w 20"/>
                  <a:gd name="T9" fmla="*/ 0 h 24"/>
                  <a:gd name="T10" fmla="*/ 0 w 20"/>
                  <a:gd name="T11" fmla="*/ 0 h 24"/>
                  <a:gd name="T12" fmla="*/ 0 w 20"/>
                  <a:gd name="T13" fmla="*/ 0 h 2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24">
                    <a:moveTo>
                      <a:pt x="4" y="0"/>
                    </a:moveTo>
                    <a:lnTo>
                      <a:pt x="12" y="6"/>
                    </a:lnTo>
                    <a:lnTo>
                      <a:pt x="9" y="15"/>
                    </a:lnTo>
                    <a:lnTo>
                      <a:pt x="0" y="24"/>
                    </a:lnTo>
                    <a:lnTo>
                      <a:pt x="17" y="18"/>
                    </a:lnTo>
                    <a:lnTo>
                      <a:pt x="20" y="8"/>
                    </a:lnTo>
                    <a:lnTo>
                      <a:pt x="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9" name="Freeform 259"/>
              <p:cNvSpPr>
                <a:spLocks/>
              </p:cNvSpPr>
              <p:nvPr/>
            </p:nvSpPr>
            <p:spPr bwMode="auto">
              <a:xfrm>
                <a:off x="5331" y="1869"/>
                <a:ext cx="17" cy="8"/>
              </a:xfrm>
              <a:custGeom>
                <a:avLst/>
                <a:gdLst>
                  <a:gd name="T0" fmla="*/ 0 w 104"/>
                  <a:gd name="T1" fmla="*/ 0 h 48"/>
                  <a:gd name="T2" fmla="*/ 0 w 104"/>
                  <a:gd name="T3" fmla="*/ 0 h 48"/>
                  <a:gd name="T4" fmla="*/ 0 w 104"/>
                  <a:gd name="T5" fmla="*/ 0 h 48"/>
                  <a:gd name="T6" fmla="*/ 0 w 104"/>
                  <a:gd name="T7" fmla="*/ 0 h 48"/>
                  <a:gd name="T8" fmla="*/ 0 w 104"/>
                  <a:gd name="T9" fmla="*/ 0 h 48"/>
                  <a:gd name="T10" fmla="*/ 0 w 104"/>
                  <a:gd name="T11" fmla="*/ 0 h 48"/>
                  <a:gd name="T12" fmla="*/ 0 w 104"/>
                  <a:gd name="T13" fmla="*/ 0 h 48"/>
                  <a:gd name="T14" fmla="*/ 0 w 104"/>
                  <a:gd name="T15" fmla="*/ 0 h 48"/>
                  <a:gd name="T16" fmla="*/ 0 w 104"/>
                  <a:gd name="T17" fmla="*/ 0 h 48"/>
                  <a:gd name="T18" fmla="*/ 0 w 104"/>
                  <a:gd name="T19" fmla="*/ 0 h 48"/>
                  <a:gd name="T20" fmla="*/ 0 w 104"/>
                  <a:gd name="T21" fmla="*/ 0 h 48"/>
                  <a:gd name="T22" fmla="*/ 0 w 104"/>
                  <a:gd name="T23" fmla="*/ 0 h 48"/>
                  <a:gd name="T24" fmla="*/ 0 w 104"/>
                  <a:gd name="T25" fmla="*/ 0 h 48"/>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4" h="48">
                    <a:moveTo>
                      <a:pt x="0" y="45"/>
                    </a:moveTo>
                    <a:lnTo>
                      <a:pt x="11" y="48"/>
                    </a:lnTo>
                    <a:lnTo>
                      <a:pt x="25" y="33"/>
                    </a:lnTo>
                    <a:lnTo>
                      <a:pt x="46" y="25"/>
                    </a:lnTo>
                    <a:lnTo>
                      <a:pt x="56" y="14"/>
                    </a:lnTo>
                    <a:lnTo>
                      <a:pt x="66" y="9"/>
                    </a:lnTo>
                    <a:lnTo>
                      <a:pt x="89" y="4"/>
                    </a:lnTo>
                    <a:lnTo>
                      <a:pt x="104" y="1"/>
                    </a:lnTo>
                    <a:lnTo>
                      <a:pt x="84" y="0"/>
                    </a:lnTo>
                    <a:lnTo>
                      <a:pt x="58" y="4"/>
                    </a:lnTo>
                    <a:lnTo>
                      <a:pt x="49" y="12"/>
                    </a:lnTo>
                    <a:lnTo>
                      <a:pt x="37" y="20"/>
                    </a:lnTo>
                    <a:lnTo>
                      <a:pt x="0" y="4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0" name="Freeform 260"/>
              <p:cNvSpPr>
                <a:spLocks/>
              </p:cNvSpPr>
              <p:nvPr/>
            </p:nvSpPr>
            <p:spPr bwMode="auto">
              <a:xfrm>
                <a:off x="5357" y="1866"/>
                <a:ext cx="27" cy="7"/>
              </a:xfrm>
              <a:custGeom>
                <a:avLst/>
                <a:gdLst>
                  <a:gd name="T0" fmla="*/ 0 w 166"/>
                  <a:gd name="T1" fmla="*/ 0 h 42"/>
                  <a:gd name="T2" fmla="*/ 0 w 166"/>
                  <a:gd name="T3" fmla="*/ 0 h 42"/>
                  <a:gd name="T4" fmla="*/ 0 w 166"/>
                  <a:gd name="T5" fmla="*/ 0 h 42"/>
                  <a:gd name="T6" fmla="*/ 0 w 166"/>
                  <a:gd name="T7" fmla="*/ 0 h 42"/>
                  <a:gd name="T8" fmla="*/ 0 w 166"/>
                  <a:gd name="T9" fmla="*/ 0 h 42"/>
                  <a:gd name="T10" fmla="*/ 0 w 166"/>
                  <a:gd name="T11" fmla="*/ 0 h 42"/>
                  <a:gd name="T12" fmla="*/ 0 w 166"/>
                  <a:gd name="T13" fmla="*/ 0 h 42"/>
                  <a:gd name="T14" fmla="*/ 0 w 166"/>
                  <a:gd name="T15" fmla="*/ 0 h 42"/>
                  <a:gd name="T16" fmla="*/ 0 w 166"/>
                  <a:gd name="T17" fmla="*/ 0 h 42"/>
                  <a:gd name="T18" fmla="*/ 0 w 166"/>
                  <a:gd name="T19" fmla="*/ 0 h 42"/>
                  <a:gd name="T20" fmla="*/ 0 w 166"/>
                  <a:gd name="T21" fmla="*/ 0 h 42"/>
                  <a:gd name="T22" fmla="*/ 0 w 166"/>
                  <a:gd name="T23" fmla="*/ 0 h 42"/>
                  <a:gd name="T24" fmla="*/ 0 w 166"/>
                  <a:gd name="T25" fmla="*/ 0 h 42"/>
                  <a:gd name="T26" fmla="*/ 0 w 166"/>
                  <a:gd name="T27" fmla="*/ 0 h 42"/>
                  <a:gd name="T28" fmla="*/ 0 w 166"/>
                  <a:gd name="T29" fmla="*/ 0 h 42"/>
                  <a:gd name="T30" fmla="*/ 0 w 166"/>
                  <a:gd name="T31" fmla="*/ 0 h 4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66" h="42">
                    <a:moveTo>
                      <a:pt x="0" y="10"/>
                    </a:moveTo>
                    <a:lnTo>
                      <a:pt x="35" y="6"/>
                    </a:lnTo>
                    <a:lnTo>
                      <a:pt x="55" y="0"/>
                    </a:lnTo>
                    <a:lnTo>
                      <a:pt x="63" y="0"/>
                    </a:lnTo>
                    <a:lnTo>
                      <a:pt x="85" y="5"/>
                    </a:lnTo>
                    <a:lnTo>
                      <a:pt x="94" y="14"/>
                    </a:lnTo>
                    <a:lnTo>
                      <a:pt x="111" y="23"/>
                    </a:lnTo>
                    <a:lnTo>
                      <a:pt x="143" y="36"/>
                    </a:lnTo>
                    <a:lnTo>
                      <a:pt x="166" y="36"/>
                    </a:lnTo>
                    <a:lnTo>
                      <a:pt x="142" y="42"/>
                    </a:lnTo>
                    <a:lnTo>
                      <a:pt x="126" y="39"/>
                    </a:lnTo>
                    <a:lnTo>
                      <a:pt x="91" y="22"/>
                    </a:lnTo>
                    <a:lnTo>
                      <a:pt x="79" y="10"/>
                    </a:lnTo>
                    <a:lnTo>
                      <a:pt x="55" y="8"/>
                    </a:lnTo>
                    <a:lnTo>
                      <a:pt x="35" y="10"/>
                    </a:lnTo>
                    <a:lnTo>
                      <a:pt x="0" y="1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1" name="Freeform 261"/>
              <p:cNvSpPr>
                <a:spLocks/>
              </p:cNvSpPr>
              <p:nvPr/>
            </p:nvSpPr>
            <p:spPr bwMode="auto">
              <a:xfrm>
                <a:off x="5335" y="1874"/>
                <a:ext cx="6" cy="5"/>
              </a:xfrm>
              <a:custGeom>
                <a:avLst/>
                <a:gdLst>
                  <a:gd name="T0" fmla="*/ 0 w 33"/>
                  <a:gd name="T1" fmla="*/ 0 h 30"/>
                  <a:gd name="T2" fmla="*/ 0 w 33"/>
                  <a:gd name="T3" fmla="*/ 0 h 30"/>
                  <a:gd name="T4" fmla="*/ 0 w 33"/>
                  <a:gd name="T5" fmla="*/ 0 h 30"/>
                  <a:gd name="T6" fmla="*/ 0 w 33"/>
                  <a:gd name="T7" fmla="*/ 0 h 30"/>
                  <a:gd name="T8" fmla="*/ 0 w 33"/>
                  <a:gd name="T9" fmla="*/ 0 h 30"/>
                  <a:gd name="T10" fmla="*/ 0 w 33"/>
                  <a:gd name="T11" fmla="*/ 0 h 3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30">
                    <a:moveTo>
                      <a:pt x="25" y="0"/>
                    </a:moveTo>
                    <a:lnTo>
                      <a:pt x="33" y="11"/>
                    </a:lnTo>
                    <a:lnTo>
                      <a:pt x="23" y="24"/>
                    </a:lnTo>
                    <a:lnTo>
                      <a:pt x="0" y="30"/>
                    </a:lnTo>
                    <a:lnTo>
                      <a:pt x="25" y="15"/>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2" name="Freeform 262"/>
              <p:cNvSpPr>
                <a:spLocks/>
              </p:cNvSpPr>
              <p:nvPr/>
            </p:nvSpPr>
            <p:spPr bwMode="auto">
              <a:xfrm>
                <a:off x="5329" y="1870"/>
                <a:ext cx="6" cy="4"/>
              </a:xfrm>
              <a:custGeom>
                <a:avLst/>
                <a:gdLst>
                  <a:gd name="T0" fmla="*/ 0 w 33"/>
                  <a:gd name="T1" fmla="*/ 0 h 28"/>
                  <a:gd name="T2" fmla="*/ 0 w 33"/>
                  <a:gd name="T3" fmla="*/ 0 h 28"/>
                  <a:gd name="T4" fmla="*/ 0 w 33"/>
                  <a:gd name="T5" fmla="*/ 0 h 28"/>
                  <a:gd name="T6" fmla="*/ 0 w 33"/>
                  <a:gd name="T7" fmla="*/ 0 h 28"/>
                  <a:gd name="T8" fmla="*/ 0 w 33"/>
                  <a:gd name="T9" fmla="*/ 0 h 28"/>
                  <a:gd name="T10" fmla="*/ 0 w 33"/>
                  <a:gd name="T11" fmla="*/ 0 h 2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28">
                    <a:moveTo>
                      <a:pt x="33" y="16"/>
                    </a:moveTo>
                    <a:lnTo>
                      <a:pt x="25" y="0"/>
                    </a:lnTo>
                    <a:lnTo>
                      <a:pt x="24" y="13"/>
                    </a:lnTo>
                    <a:lnTo>
                      <a:pt x="0" y="26"/>
                    </a:lnTo>
                    <a:lnTo>
                      <a:pt x="3" y="28"/>
                    </a:lnTo>
                    <a:lnTo>
                      <a:pt x="33" y="1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3" name="Freeform 263"/>
              <p:cNvSpPr>
                <a:spLocks/>
              </p:cNvSpPr>
              <p:nvPr/>
            </p:nvSpPr>
            <p:spPr bwMode="auto">
              <a:xfrm>
                <a:off x="5399" y="1876"/>
                <a:ext cx="6" cy="7"/>
              </a:xfrm>
              <a:custGeom>
                <a:avLst/>
                <a:gdLst>
                  <a:gd name="T0" fmla="*/ 0 w 37"/>
                  <a:gd name="T1" fmla="*/ 0 h 42"/>
                  <a:gd name="T2" fmla="*/ 0 w 37"/>
                  <a:gd name="T3" fmla="*/ 0 h 42"/>
                  <a:gd name="T4" fmla="*/ 0 w 37"/>
                  <a:gd name="T5" fmla="*/ 0 h 42"/>
                  <a:gd name="T6" fmla="*/ 0 w 37"/>
                  <a:gd name="T7" fmla="*/ 0 h 42"/>
                  <a:gd name="T8" fmla="*/ 0 w 37"/>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7" h="42">
                    <a:moveTo>
                      <a:pt x="0" y="0"/>
                    </a:moveTo>
                    <a:lnTo>
                      <a:pt x="8" y="21"/>
                    </a:lnTo>
                    <a:lnTo>
                      <a:pt x="23" y="39"/>
                    </a:lnTo>
                    <a:lnTo>
                      <a:pt x="37" y="4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4" name="Freeform 264"/>
              <p:cNvSpPr>
                <a:spLocks/>
              </p:cNvSpPr>
              <p:nvPr/>
            </p:nvSpPr>
            <p:spPr bwMode="auto">
              <a:xfrm>
                <a:off x="5420" y="1907"/>
                <a:ext cx="9" cy="6"/>
              </a:xfrm>
              <a:custGeom>
                <a:avLst/>
                <a:gdLst>
                  <a:gd name="T0" fmla="*/ 0 w 50"/>
                  <a:gd name="T1" fmla="*/ 0 h 39"/>
                  <a:gd name="T2" fmla="*/ 0 w 50"/>
                  <a:gd name="T3" fmla="*/ 0 h 39"/>
                  <a:gd name="T4" fmla="*/ 0 w 50"/>
                  <a:gd name="T5" fmla="*/ 0 h 39"/>
                  <a:gd name="T6" fmla="*/ 0 w 50"/>
                  <a:gd name="T7" fmla="*/ 0 h 3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50" h="39">
                    <a:moveTo>
                      <a:pt x="50" y="0"/>
                    </a:moveTo>
                    <a:lnTo>
                      <a:pt x="17" y="14"/>
                    </a:lnTo>
                    <a:lnTo>
                      <a:pt x="0" y="39"/>
                    </a:lnTo>
                    <a:lnTo>
                      <a:pt x="5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63" name="Group 265"/>
            <p:cNvGrpSpPr>
              <a:grpSpLocks/>
            </p:cNvGrpSpPr>
            <p:nvPr/>
          </p:nvGrpSpPr>
          <p:grpSpPr bwMode="auto">
            <a:xfrm>
              <a:off x="5432" y="1894"/>
              <a:ext cx="37" cy="45"/>
              <a:chOff x="5432" y="1894"/>
              <a:chExt cx="37" cy="45"/>
            </a:xfrm>
          </p:grpSpPr>
          <p:sp>
            <p:nvSpPr>
              <p:cNvPr id="264" name="Freeform 266"/>
              <p:cNvSpPr>
                <a:spLocks/>
              </p:cNvSpPr>
              <p:nvPr/>
            </p:nvSpPr>
            <p:spPr bwMode="auto">
              <a:xfrm>
                <a:off x="5432" y="1894"/>
                <a:ext cx="37" cy="45"/>
              </a:xfrm>
              <a:custGeom>
                <a:avLst/>
                <a:gdLst>
                  <a:gd name="T0" fmla="*/ 0 w 219"/>
                  <a:gd name="T1" fmla="*/ 0 h 267"/>
                  <a:gd name="T2" fmla="*/ 0 w 219"/>
                  <a:gd name="T3" fmla="*/ 0 h 267"/>
                  <a:gd name="T4" fmla="*/ 0 w 219"/>
                  <a:gd name="T5" fmla="*/ 0 h 267"/>
                  <a:gd name="T6" fmla="*/ 0 w 219"/>
                  <a:gd name="T7" fmla="*/ 0 h 267"/>
                  <a:gd name="T8" fmla="*/ 0 w 219"/>
                  <a:gd name="T9" fmla="*/ 0 h 267"/>
                  <a:gd name="T10" fmla="*/ 0 w 219"/>
                  <a:gd name="T11" fmla="*/ 0 h 267"/>
                  <a:gd name="T12" fmla="*/ 0 w 219"/>
                  <a:gd name="T13" fmla="*/ 0 h 267"/>
                  <a:gd name="T14" fmla="*/ 0 w 219"/>
                  <a:gd name="T15" fmla="*/ 0 h 267"/>
                  <a:gd name="T16" fmla="*/ 0 w 219"/>
                  <a:gd name="T17" fmla="*/ 0 h 267"/>
                  <a:gd name="T18" fmla="*/ 0 w 219"/>
                  <a:gd name="T19" fmla="*/ 0 h 26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267">
                    <a:moveTo>
                      <a:pt x="77" y="17"/>
                    </a:moveTo>
                    <a:lnTo>
                      <a:pt x="42" y="55"/>
                    </a:lnTo>
                    <a:lnTo>
                      <a:pt x="26" y="87"/>
                    </a:lnTo>
                    <a:lnTo>
                      <a:pt x="11" y="138"/>
                    </a:lnTo>
                    <a:lnTo>
                      <a:pt x="11" y="167"/>
                    </a:lnTo>
                    <a:lnTo>
                      <a:pt x="0" y="210"/>
                    </a:lnTo>
                    <a:lnTo>
                      <a:pt x="178" y="267"/>
                    </a:lnTo>
                    <a:lnTo>
                      <a:pt x="219" y="0"/>
                    </a:lnTo>
                    <a:lnTo>
                      <a:pt x="146" y="17"/>
                    </a:lnTo>
                    <a:lnTo>
                      <a:pt x="77" y="17"/>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5" name="Freeform 267"/>
              <p:cNvSpPr>
                <a:spLocks/>
              </p:cNvSpPr>
              <p:nvPr/>
            </p:nvSpPr>
            <p:spPr bwMode="auto">
              <a:xfrm>
                <a:off x="5436" y="1898"/>
                <a:ext cx="29" cy="37"/>
              </a:xfrm>
              <a:custGeom>
                <a:avLst/>
                <a:gdLst>
                  <a:gd name="T0" fmla="*/ 0 w 175"/>
                  <a:gd name="T1" fmla="*/ 0 h 220"/>
                  <a:gd name="T2" fmla="*/ 0 w 175"/>
                  <a:gd name="T3" fmla="*/ 0 h 220"/>
                  <a:gd name="T4" fmla="*/ 0 w 175"/>
                  <a:gd name="T5" fmla="*/ 0 h 220"/>
                  <a:gd name="T6" fmla="*/ 0 w 175"/>
                  <a:gd name="T7" fmla="*/ 0 h 220"/>
                  <a:gd name="T8" fmla="*/ 0 w 175"/>
                  <a:gd name="T9" fmla="*/ 0 h 220"/>
                  <a:gd name="T10" fmla="*/ 0 w 175"/>
                  <a:gd name="T11" fmla="*/ 0 h 220"/>
                  <a:gd name="T12" fmla="*/ 0 w 175"/>
                  <a:gd name="T13" fmla="*/ 0 h 220"/>
                  <a:gd name="T14" fmla="*/ 0 w 175"/>
                  <a:gd name="T15" fmla="*/ 0 h 220"/>
                  <a:gd name="T16" fmla="*/ 0 w 175"/>
                  <a:gd name="T17" fmla="*/ 0 h 22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75" h="220">
                    <a:moveTo>
                      <a:pt x="69" y="7"/>
                    </a:moveTo>
                    <a:lnTo>
                      <a:pt x="38" y="42"/>
                    </a:lnTo>
                    <a:lnTo>
                      <a:pt x="12" y="92"/>
                    </a:lnTo>
                    <a:lnTo>
                      <a:pt x="6" y="128"/>
                    </a:lnTo>
                    <a:lnTo>
                      <a:pt x="0" y="171"/>
                    </a:lnTo>
                    <a:lnTo>
                      <a:pt x="140" y="220"/>
                    </a:lnTo>
                    <a:lnTo>
                      <a:pt x="175" y="0"/>
                    </a:lnTo>
                    <a:lnTo>
                      <a:pt x="122" y="10"/>
                    </a:lnTo>
                    <a:lnTo>
                      <a:pt x="69" y="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sp>
        <p:nvSpPr>
          <p:cNvPr id="275" name="Freeform 268"/>
          <p:cNvSpPr>
            <a:spLocks/>
          </p:cNvSpPr>
          <p:nvPr/>
        </p:nvSpPr>
        <p:spPr bwMode="auto">
          <a:xfrm>
            <a:off x="7153663" y="3046428"/>
            <a:ext cx="123814" cy="124512"/>
          </a:xfrm>
          <a:custGeom>
            <a:avLst/>
            <a:gdLst>
              <a:gd name="T0" fmla="*/ 2147483646 w 741"/>
              <a:gd name="T1" fmla="*/ 2147483646 h 807"/>
              <a:gd name="T2" fmla="*/ 2147483646 w 741"/>
              <a:gd name="T3" fmla="*/ 2147483646 h 807"/>
              <a:gd name="T4" fmla="*/ 2147483646 w 741"/>
              <a:gd name="T5" fmla="*/ 2147483646 h 807"/>
              <a:gd name="T6" fmla="*/ 2147483646 w 741"/>
              <a:gd name="T7" fmla="*/ 2147483646 h 807"/>
              <a:gd name="T8" fmla="*/ 2147483646 w 741"/>
              <a:gd name="T9" fmla="*/ 2147483646 h 807"/>
              <a:gd name="T10" fmla="*/ 2147483646 w 741"/>
              <a:gd name="T11" fmla="*/ 2147483646 h 807"/>
              <a:gd name="T12" fmla="*/ 2147483646 w 741"/>
              <a:gd name="T13" fmla="*/ 2147483646 h 807"/>
              <a:gd name="T14" fmla="*/ 2147483646 w 741"/>
              <a:gd name="T15" fmla="*/ 2147483646 h 807"/>
              <a:gd name="T16" fmla="*/ 2147483646 w 741"/>
              <a:gd name="T17" fmla="*/ 2147483646 h 807"/>
              <a:gd name="T18" fmla="*/ 0 w 741"/>
              <a:gd name="T19" fmla="*/ 2147483646 h 807"/>
              <a:gd name="T20" fmla="*/ 0 w 741"/>
              <a:gd name="T21" fmla="*/ 2147483646 h 807"/>
              <a:gd name="T22" fmla="*/ 2147483646 w 741"/>
              <a:gd name="T23" fmla="*/ 2147483646 h 807"/>
              <a:gd name="T24" fmla="*/ 2147483646 w 741"/>
              <a:gd name="T25" fmla="*/ 2147483646 h 807"/>
              <a:gd name="T26" fmla="*/ 2147483646 w 741"/>
              <a:gd name="T27" fmla="*/ 2147483646 h 807"/>
              <a:gd name="T28" fmla="*/ 2147483646 w 741"/>
              <a:gd name="T29" fmla="*/ 2147483646 h 807"/>
              <a:gd name="T30" fmla="*/ 2147483646 w 741"/>
              <a:gd name="T31" fmla="*/ 2147483646 h 807"/>
              <a:gd name="T32" fmla="*/ 2147483646 w 741"/>
              <a:gd name="T33" fmla="*/ 2147483646 h 807"/>
              <a:gd name="T34" fmla="*/ 2147483646 w 741"/>
              <a:gd name="T35" fmla="*/ 2147483646 h 807"/>
              <a:gd name="T36" fmla="*/ 2147483646 w 741"/>
              <a:gd name="T37" fmla="*/ 2147483646 h 807"/>
              <a:gd name="T38" fmla="*/ 2147483646 w 741"/>
              <a:gd name="T39" fmla="*/ 2147483646 h 807"/>
              <a:gd name="T40" fmla="*/ 2147483646 w 741"/>
              <a:gd name="T41" fmla="*/ 2147483646 h 807"/>
              <a:gd name="T42" fmla="*/ 2147483646 w 741"/>
              <a:gd name="T43" fmla="*/ 2147483646 h 807"/>
              <a:gd name="T44" fmla="*/ 2147483646 w 741"/>
              <a:gd name="T45" fmla="*/ 2147483646 h 807"/>
              <a:gd name="T46" fmla="*/ 2147483646 w 741"/>
              <a:gd name="T47" fmla="*/ 2147483646 h 807"/>
              <a:gd name="T48" fmla="*/ 2147483646 w 741"/>
              <a:gd name="T49" fmla="*/ 2147483646 h 807"/>
              <a:gd name="T50" fmla="*/ 2147483646 w 741"/>
              <a:gd name="T51" fmla="*/ 2147483646 h 807"/>
              <a:gd name="T52" fmla="*/ 2147483646 w 741"/>
              <a:gd name="T53" fmla="*/ 2147483646 h 807"/>
              <a:gd name="T54" fmla="*/ 2147483646 w 741"/>
              <a:gd name="T55" fmla="*/ 2147483646 h 807"/>
              <a:gd name="T56" fmla="*/ 2147483646 w 741"/>
              <a:gd name="T57" fmla="*/ 2147483646 h 807"/>
              <a:gd name="T58" fmla="*/ 2147483646 w 741"/>
              <a:gd name="T59" fmla="*/ 2147483646 h 807"/>
              <a:gd name="T60" fmla="*/ 2147483646 w 741"/>
              <a:gd name="T61" fmla="*/ 2147483646 h 807"/>
              <a:gd name="T62" fmla="*/ 2147483646 w 741"/>
              <a:gd name="T63" fmla="*/ 2147483646 h 807"/>
              <a:gd name="T64" fmla="*/ 2147483646 w 741"/>
              <a:gd name="T65" fmla="*/ 2147483646 h 807"/>
              <a:gd name="T66" fmla="*/ 2147483646 w 741"/>
              <a:gd name="T67" fmla="*/ 0 h 807"/>
              <a:gd name="T68" fmla="*/ 2147483646 w 741"/>
              <a:gd name="T69" fmla="*/ 2147483646 h 807"/>
              <a:gd name="T70" fmla="*/ 2147483646 w 741"/>
              <a:gd name="T71" fmla="*/ 2147483646 h 807"/>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741" h="807">
                <a:moveTo>
                  <a:pt x="243" y="26"/>
                </a:moveTo>
                <a:lnTo>
                  <a:pt x="179" y="74"/>
                </a:lnTo>
                <a:lnTo>
                  <a:pt x="144" y="131"/>
                </a:lnTo>
                <a:lnTo>
                  <a:pt x="112" y="192"/>
                </a:lnTo>
                <a:lnTo>
                  <a:pt x="92" y="224"/>
                </a:lnTo>
                <a:lnTo>
                  <a:pt x="92" y="259"/>
                </a:lnTo>
                <a:lnTo>
                  <a:pt x="109" y="300"/>
                </a:lnTo>
                <a:lnTo>
                  <a:pt x="77" y="332"/>
                </a:lnTo>
                <a:lnTo>
                  <a:pt x="26" y="420"/>
                </a:lnTo>
                <a:lnTo>
                  <a:pt x="0" y="467"/>
                </a:lnTo>
                <a:lnTo>
                  <a:pt x="0" y="482"/>
                </a:lnTo>
                <a:lnTo>
                  <a:pt x="6" y="498"/>
                </a:lnTo>
                <a:lnTo>
                  <a:pt x="28" y="503"/>
                </a:lnTo>
                <a:lnTo>
                  <a:pt x="60" y="504"/>
                </a:lnTo>
                <a:lnTo>
                  <a:pt x="79" y="511"/>
                </a:lnTo>
                <a:lnTo>
                  <a:pt x="77" y="546"/>
                </a:lnTo>
                <a:lnTo>
                  <a:pt x="67" y="587"/>
                </a:lnTo>
                <a:lnTo>
                  <a:pt x="86" y="609"/>
                </a:lnTo>
                <a:lnTo>
                  <a:pt x="80" y="639"/>
                </a:lnTo>
                <a:lnTo>
                  <a:pt x="95" y="659"/>
                </a:lnTo>
                <a:lnTo>
                  <a:pt x="110" y="713"/>
                </a:lnTo>
                <a:lnTo>
                  <a:pt x="133" y="728"/>
                </a:lnTo>
                <a:lnTo>
                  <a:pt x="167" y="728"/>
                </a:lnTo>
                <a:lnTo>
                  <a:pt x="217" y="721"/>
                </a:lnTo>
                <a:lnTo>
                  <a:pt x="269" y="713"/>
                </a:lnTo>
                <a:lnTo>
                  <a:pt x="263" y="807"/>
                </a:lnTo>
                <a:lnTo>
                  <a:pt x="658" y="681"/>
                </a:lnTo>
                <a:lnTo>
                  <a:pt x="626" y="606"/>
                </a:lnTo>
                <a:lnTo>
                  <a:pt x="634" y="549"/>
                </a:lnTo>
                <a:lnTo>
                  <a:pt x="741" y="441"/>
                </a:lnTo>
                <a:lnTo>
                  <a:pt x="741" y="155"/>
                </a:lnTo>
                <a:lnTo>
                  <a:pt x="668" y="77"/>
                </a:lnTo>
                <a:lnTo>
                  <a:pt x="577" y="35"/>
                </a:lnTo>
                <a:lnTo>
                  <a:pt x="481" y="0"/>
                </a:lnTo>
                <a:lnTo>
                  <a:pt x="355" y="18"/>
                </a:lnTo>
                <a:lnTo>
                  <a:pt x="243" y="26"/>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6" name="Freeform 269"/>
          <p:cNvSpPr>
            <a:spLocks/>
          </p:cNvSpPr>
          <p:nvPr/>
        </p:nvSpPr>
        <p:spPr bwMode="auto">
          <a:xfrm>
            <a:off x="7159703" y="3121692"/>
            <a:ext cx="7046" cy="1858"/>
          </a:xfrm>
          <a:custGeom>
            <a:avLst/>
            <a:gdLst>
              <a:gd name="T0" fmla="*/ 0 w 42"/>
              <a:gd name="T1" fmla="*/ 2147483646 h 9"/>
              <a:gd name="T2" fmla="*/ 2147483646 w 42"/>
              <a:gd name="T3" fmla="*/ 2147483646 h 9"/>
              <a:gd name="T4" fmla="*/ 2147483646 w 42"/>
              <a:gd name="T5" fmla="*/ 2147483646 h 9"/>
              <a:gd name="T6" fmla="*/ 2147483646 w 42"/>
              <a:gd name="T7" fmla="*/ 2147483646 h 9"/>
              <a:gd name="T8" fmla="*/ 2147483646 w 42"/>
              <a:gd name="T9" fmla="*/ 2147483646 h 9"/>
              <a:gd name="T10" fmla="*/ 2147483646 w 42"/>
              <a:gd name="T11" fmla="*/ 0 h 9"/>
              <a:gd name="T12" fmla="*/ 0 w 42"/>
              <a:gd name="T13" fmla="*/ 2147483646 h 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2" h="9">
                <a:moveTo>
                  <a:pt x="0" y="3"/>
                </a:moveTo>
                <a:lnTo>
                  <a:pt x="9" y="8"/>
                </a:lnTo>
                <a:lnTo>
                  <a:pt x="30" y="6"/>
                </a:lnTo>
                <a:lnTo>
                  <a:pt x="39" y="9"/>
                </a:lnTo>
                <a:lnTo>
                  <a:pt x="42" y="2"/>
                </a:lnTo>
                <a:lnTo>
                  <a:pt x="29" y="0"/>
                </a:lnTo>
                <a:lnTo>
                  <a:pt x="0" y="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7" name="Freeform 270"/>
          <p:cNvSpPr>
            <a:spLocks/>
          </p:cNvSpPr>
          <p:nvPr/>
        </p:nvSpPr>
        <p:spPr bwMode="auto">
          <a:xfrm>
            <a:off x="7166749" y="3117047"/>
            <a:ext cx="3020" cy="4646"/>
          </a:xfrm>
          <a:custGeom>
            <a:avLst/>
            <a:gdLst>
              <a:gd name="T0" fmla="*/ 0 w 17"/>
              <a:gd name="T1" fmla="*/ 0 h 31"/>
              <a:gd name="T2" fmla="*/ 2147483646 w 17"/>
              <a:gd name="T3" fmla="*/ 2147483646 h 31"/>
              <a:gd name="T4" fmla="*/ 2147483646 w 17"/>
              <a:gd name="T5" fmla="*/ 2147483646 h 31"/>
              <a:gd name="T6" fmla="*/ 2147483646 w 17"/>
              <a:gd name="T7" fmla="*/ 2147483646 h 31"/>
              <a:gd name="T8" fmla="*/ 2147483646 w 17"/>
              <a:gd name="T9" fmla="*/ 2147483646 h 31"/>
              <a:gd name="T10" fmla="*/ 2147483646 w 17"/>
              <a:gd name="T11" fmla="*/ 2147483646 h 31"/>
              <a:gd name="T12" fmla="*/ 0 w 17"/>
              <a:gd name="T13" fmla="*/ 0 h 3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7" h="31">
                <a:moveTo>
                  <a:pt x="0" y="0"/>
                </a:moveTo>
                <a:lnTo>
                  <a:pt x="11" y="7"/>
                </a:lnTo>
                <a:lnTo>
                  <a:pt x="11" y="16"/>
                </a:lnTo>
                <a:lnTo>
                  <a:pt x="13" y="31"/>
                </a:lnTo>
                <a:lnTo>
                  <a:pt x="17" y="12"/>
                </a:lnTo>
                <a:lnTo>
                  <a:pt x="17" y="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8" name="Freeform 271"/>
          <p:cNvSpPr>
            <a:spLocks/>
          </p:cNvSpPr>
          <p:nvPr/>
        </p:nvSpPr>
        <p:spPr bwMode="auto">
          <a:xfrm>
            <a:off x="7171782" y="3101250"/>
            <a:ext cx="3020" cy="9292"/>
          </a:xfrm>
          <a:custGeom>
            <a:avLst/>
            <a:gdLst>
              <a:gd name="T0" fmla="*/ 2147483646 w 19"/>
              <a:gd name="T1" fmla="*/ 0 h 60"/>
              <a:gd name="T2" fmla="*/ 2147483646 w 19"/>
              <a:gd name="T3" fmla="*/ 2147483646 h 60"/>
              <a:gd name="T4" fmla="*/ 0 w 19"/>
              <a:gd name="T5" fmla="*/ 2147483646 h 60"/>
              <a:gd name="T6" fmla="*/ 2147483646 w 19"/>
              <a:gd name="T7" fmla="*/ 2147483646 h 60"/>
              <a:gd name="T8" fmla="*/ 2147483646 w 19"/>
              <a:gd name="T9" fmla="*/ 0 h 6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60">
                <a:moveTo>
                  <a:pt x="19" y="0"/>
                </a:moveTo>
                <a:lnTo>
                  <a:pt x="5" y="34"/>
                </a:lnTo>
                <a:lnTo>
                  <a:pt x="0" y="60"/>
                </a:lnTo>
                <a:lnTo>
                  <a:pt x="9" y="43"/>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9" name="Freeform 272"/>
          <p:cNvSpPr>
            <a:spLocks/>
          </p:cNvSpPr>
          <p:nvPr/>
        </p:nvSpPr>
        <p:spPr bwMode="auto">
          <a:xfrm>
            <a:off x="7173796" y="3091958"/>
            <a:ext cx="13086" cy="8363"/>
          </a:xfrm>
          <a:custGeom>
            <a:avLst/>
            <a:gdLst>
              <a:gd name="T0" fmla="*/ 0 w 80"/>
              <a:gd name="T1" fmla="*/ 0 h 51"/>
              <a:gd name="T2" fmla="*/ 2147483646 w 80"/>
              <a:gd name="T3" fmla="*/ 2147483646 h 51"/>
              <a:gd name="T4" fmla="*/ 2147483646 w 80"/>
              <a:gd name="T5" fmla="*/ 2147483646 h 51"/>
              <a:gd name="T6" fmla="*/ 2147483646 w 80"/>
              <a:gd name="T7" fmla="*/ 2147483646 h 51"/>
              <a:gd name="T8" fmla="*/ 2147483646 w 80"/>
              <a:gd name="T9" fmla="*/ 2147483646 h 51"/>
              <a:gd name="T10" fmla="*/ 2147483646 w 80"/>
              <a:gd name="T11" fmla="*/ 2147483646 h 51"/>
              <a:gd name="T12" fmla="*/ 2147483646 w 80"/>
              <a:gd name="T13" fmla="*/ 2147483646 h 51"/>
              <a:gd name="T14" fmla="*/ 2147483646 w 80"/>
              <a:gd name="T15" fmla="*/ 2147483646 h 51"/>
              <a:gd name="T16" fmla="*/ 2147483646 w 80"/>
              <a:gd name="T17" fmla="*/ 2147483646 h 51"/>
              <a:gd name="T18" fmla="*/ 2147483646 w 80"/>
              <a:gd name="T19" fmla="*/ 2147483646 h 51"/>
              <a:gd name="T20" fmla="*/ 0 w 80"/>
              <a:gd name="T21" fmla="*/ 0 h 51"/>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80" h="51">
                <a:moveTo>
                  <a:pt x="0" y="0"/>
                </a:moveTo>
                <a:lnTo>
                  <a:pt x="17" y="28"/>
                </a:lnTo>
                <a:lnTo>
                  <a:pt x="13" y="35"/>
                </a:lnTo>
                <a:lnTo>
                  <a:pt x="13" y="40"/>
                </a:lnTo>
                <a:lnTo>
                  <a:pt x="9" y="51"/>
                </a:lnTo>
                <a:lnTo>
                  <a:pt x="20" y="34"/>
                </a:lnTo>
                <a:lnTo>
                  <a:pt x="35" y="34"/>
                </a:lnTo>
                <a:lnTo>
                  <a:pt x="52" y="28"/>
                </a:lnTo>
                <a:lnTo>
                  <a:pt x="80" y="26"/>
                </a:lnTo>
                <a:lnTo>
                  <a:pt x="5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0" name="Freeform 273"/>
          <p:cNvSpPr>
            <a:spLocks/>
          </p:cNvSpPr>
          <p:nvPr/>
        </p:nvSpPr>
        <p:spPr bwMode="auto">
          <a:xfrm>
            <a:off x="7170776" y="3080807"/>
            <a:ext cx="22145" cy="7434"/>
          </a:xfrm>
          <a:custGeom>
            <a:avLst/>
            <a:gdLst>
              <a:gd name="T0" fmla="*/ 0 w 135"/>
              <a:gd name="T1" fmla="*/ 2147483646 h 48"/>
              <a:gd name="T2" fmla="*/ 2147483646 w 135"/>
              <a:gd name="T3" fmla="*/ 2147483646 h 48"/>
              <a:gd name="T4" fmla="*/ 2147483646 w 135"/>
              <a:gd name="T5" fmla="*/ 2147483646 h 48"/>
              <a:gd name="T6" fmla="*/ 2147483646 w 135"/>
              <a:gd name="T7" fmla="*/ 2147483646 h 48"/>
              <a:gd name="T8" fmla="*/ 2147483646 w 135"/>
              <a:gd name="T9" fmla="*/ 2147483646 h 48"/>
              <a:gd name="T10" fmla="*/ 2147483646 w 135"/>
              <a:gd name="T11" fmla="*/ 2147483646 h 48"/>
              <a:gd name="T12" fmla="*/ 2147483646 w 135"/>
              <a:gd name="T13" fmla="*/ 2147483646 h 48"/>
              <a:gd name="T14" fmla="*/ 2147483646 w 135"/>
              <a:gd name="T15" fmla="*/ 2147483646 h 48"/>
              <a:gd name="T16" fmla="*/ 2147483646 w 135"/>
              <a:gd name="T17" fmla="*/ 2147483646 h 48"/>
              <a:gd name="T18" fmla="*/ 2147483646 w 135"/>
              <a:gd name="T19" fmla="*/ 0 h 48"/>
              <a:gd name="T20" fmla="*/ 2147483646 w 135"/>
              <a:gd name="T21" fmla="*/ 2147483646 h 48"/>
              <a:gd name="T22" fmla="*/ 2147483646 w 135"/>
              <a:gd name="T23" fmla="*/ 2147483646 h 48"/>
              <a:gd name="T24" fmla="*/ 2147483646 w 135"/>
              <a:gd name="T25" fmla="*/ 2147483646 h 48"/>
              <a:gd name="T26" fmla="*/ 2147483646 w 135"/>
              <a:gd name="T27" fmla="*/ 2147483646 h 48"/>
              <a:gd name="T28" fmla="*/ 0 w 135"/>
              <a:gd name="T29" fmla="*/ 2147483646 h 4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35" h="48">
                <a:moveTo>
                  <a:pt x="0" y="25"/>
                </a:moveTo>
                <a:lnTo>
                  <a:pt x="6" y="42"/>
                </a:lnTo>
                <a:lnTo>
                  <a:pt x="20" y="48"/>
                </a:lnTo>
                <a:lnTo>
                  <a:pt x="42" y="34"/>
                </a:lnTo>
                <a:lnTo>
                  <a:pt x="69" y="25"/>
                </a:lnTo>
                <a:lnTo>
                  <a:pt x="113" y="24"/>
                </a:lnTo>
                <a:lnTo>
                  <a:pt x="135" y="27"/>
                </a:lnTo>
                <a:lnTo>
                  <a:pt x="101" y="12"/>
                </a:lnTo>
                <a:lnTo>
                  <a:pt x="77" y="6"/>
                </a:lnTo>
                <a:lnTo>
                  <a:pt x="80" y="0"/>
                </a:lnTo>
                <a:lnTo>
                  <a:pt x="57" y="9"/>
                </a:lnTo>
                <a:lnTo>
                  <a:pt x="59" y="3"/>
                </a:lnTo>
                <a:lnTo>
                  <a:pt x="40" y="12"/>
                </a:lnTo>
                <a:lnTo>
                  <a:pt x="23" y="12"/>
                </a:lnTo>
                <a:lnTo>
                  <a:pt x="0" y="2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1" name="Freeform 274"/>
          <p:cNvSpPr>
            <a:spLocks/>
          </p:cNvSpPr>
          <p:nvPr/>
        </p:nvSpPr>
        <p:spPr bwMode="auto">
          <a:xfrm>
            <a:off x="7221106" y="3091029"/>
            <a:ext cx="13087" cy="24159"/>
          </a:xfrm>
          <a:custGeom>
            <a:avLst/>
            <a:gdLst>
              <a:gd name="T0" fmla="*/ 0 w 78"/>
              <a:gd name="T1" fmla="*/ 2147483646 h 159"/>
              <a:gd name="T2" fmla="*/ 2147483646 w 78"/>
              <a:gd name="T3" fmla="*/ 2147483646 h 159"/>
              <a:gd name="T4" fmla="*/ 2147483646 w 78"/>
              <a:gd name="T5" fmla="*/ 2147483646 h 159"/>
              <a:gd name="T6" fmla="*/ 2147483646 w 78"/>
              <a:gd name="T7" fmla="*/ 2147483646 h 159"/>
              <a:gd name="T8" fmla="*/ 2147483646 w 78"/>
              <a:gd name="T9" fmla="*/ 2147483646 h 159"/>
              <a:gd name="T10" fmla="*/ 2147483646 w 78"/>
              <a:gd name="T11" fmla="*/ 2147483646 h 159"/>
              <a:gd name="T12" fmla="*/ 2147483646 w 78"/>
              <a:gd name="T13" fmla="*/ 2147483646 h 159"/>
              <a:gd name="T14" fmla="*/ 2147483646 w 78"/>
              <a:gd name="T15" fmla="*/ 2147483646 h 159"/>
              <a:gd name="T16" fmla="*/ 2147483646 w 78"/>
              <a:gd name="T17" fmla="*/ 2147483646 h 159"/>
              <a:gd name="T18" fmla="*/ 2147483646 w 78"/>
              <a:gd name="T19" fmla="*/ 2147483646 h 159"/>
              <a:gd name="T20" fmla="*/ 2147483646 w 78"/>
              <a:gd name="T21" fmla="*/ 2147483646 h 159"/>
              <a:gd name="T22" fmla="*/ 2147483646 w 78"/>
              <a:gd name="T23" fmla="*/ 2147483646 h 159"/>
              <a:gd name="T24" fmla="*/ 2147483646 w 78"/>
              <a:gd name="T25" fmla="*/ 2147483646 h 159"/>
              <a:gd name="T26" fmla="*/ 2147483646 w 78"/>
              <a:gd name="T27" fmla="*/ 2147483646 h 159"/>
              <a:gd name="T28" fmla="*/ 2147483646 w 78"/>
              <a:gd name="T29" fmla="*/ 2147483646 h 159"/>
              <a:gd name="T30" fmla="*/ 2147483646 w 78"/>
              <a:gd name="T31" fmla="*/ 2147483646 h 159"/>
              <a:gd name="T32" fmla="*/ 2147483646 w 78"/>
              <a:gd name="T33" fmla="*/ 2147483646 h 159"/>
              <a:gd name="T34" fmla="*/ 2147483646 w 78"/>
              <a:gd name="T35" fmla="*/ 2147483646 h 159"/>
              <a:gd name="T36" fmla="*/ 2147483646 w 78"/>
              <a:gd name="T37" fmla="*/ 2147483646 h 159"/>
              <a:gd name="T38" fmla="*/ 2147483646 w 78"/>
              <a:gd name="T39" fmla="*/ 2147483646 h 159"/>
              <a:gd name="T40" fmla="*/ 2147483646 w 78"/>
              <a:gd name="T41" fmla="*/ 0 h 159"/>
              <a:gd name="T42" fmla="*/ 2147483646 w 78"/>
              <a:gd name="T43" fmla="*/ 2147483646 h 159"/>
              <a:gd name="T44" fmla="*/ 0 w 78"/>
              <a:gd name="T45" fmla="*/ 2147483646 h 159"/>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78" h="159">
                <a:moveTo>
                  <a:pt x="0" y="30"/>
                </a:moveTo>
                <a:lnTo>
                  <a:pt x="24" y="10"/>
                </a:lnTo>
                <a:lnTo>
                  <a:pt x="52" y="15"/>
                </a:lnTo>
                <a:lnTo>
                  <a:pt x="68" y="41"/>
                </a:lnTo>
                <a:lnTo>
                  <a:pt x="71" y="77"/>
                </a:lnTo>
                <a:lnTo>
                  <a:pt x="68" y="105"/>
                </a:lnTo>
                <a:lnTo>
                  <a:pt x="59" y="128"/>
                </a:lnTo>
                <a:lnTo>
                  <a:pt x="44" y="93"/>
                </a:lnTo>
                <a:lnTo>
                  <a:pt x="31" y="73"/>
                </a:lnTo>
                <a:lnTo>
                  <a:pt x="5" y="60"/>
                </a:lnTo>
                <a:lnTo>
                  <a:pt x="25" y="89"/>
                </a:lnTo>
                <a:lnTo>
                  <a:pt x="47" y="111"/>
                </a:lnTo>
                <a:lnTo>
                  <a:pt x="49" y="134"/>
                </a:lnTo>
                <a:lnTo>
                  <a:pt x="40" y="156"/>
                </a:lnTo>
                <a:lnTo>
                  <a:pt x="28" y="159"/>
                </a:lnTo>
                <a:lnTo>
                  <a:pt x="61" y="151"/>
                </a:lnTo>
                <a:lnTo>
                  <a:pt x="77" y="117"/>
                </a:lnTo>
                <a:lnTo>
                  <a:pt x="78" y="73"/>
                </a:lnTo>
                <a:lnTo>
                  <a:pt x="77" y="33"/>
                </a:lnTo>
                <a:lnTo>
                  <a:pt x="59" y="7"/>
                </a:lnTo>
                <a:lnTo>
                  <a:pt x="34" y="0"/>
                </a:lnTo>
                <a:lnTo>
                  <a:pt x="10" y="4"/>
                </a:lnTo>
                <a:lnTo>
                  <a:pt x="0" y="3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2" name="Freeform 275"/>
          <p:cNvSpPr>
            <a:spLocks/>
          </p:cNvSpPr>
          <p:nvPr/>
        </p:nvSpPr>
        <p:spPr bwMode="auto">
          <a:xfrm>
            <a:off x="7218087" y="3087312"/>
            <a:ext cx="21139" cy="32521"/>
          </a:xfrm>
          <a:custGeom>
            <a:avLst/>
            <a:gdLst>
              <a:gd name="T0" fmla="*/ 0 w 129"/>
              <a:gd name="T1" fmla="*/ 2147483646 h 215"/>
              <a:gd name="T2" fmla="*/ 2147483646 w 129"/>
              <a:gd name="T3" fmla="*/ 2147483646 h 215"/>
              <a:gd name="T4" fmla="*/ 2147483646 w 129"/>
              <a:gd name="T5" fmla="*/ 2147483646 h 215"/>
              <a:gd name="T6" fmla="*/ 2147483646 w 129"/>
              <a:gd name="T7" fmla="*/ 2147483646 h 215"/>
              <a:gd name="T8" fmla="*/ 2147483646 w 129"/>
              <a:gd name="T9" fmla="*/ 2147483646 h 215"/>
              <a:gd name="T10" fmla="*/ 2147483646 w 129"/>
              <a:gd name="T11" fmla="*/ 2147483646 h 215"/>
              <a:gd name="T12" fmla="*/ 2147483646 w 129"/>
              <a:gd name="T13" fmla="*/ 2147483646 h 215"/>
              <a:gd name="T14" fmla="*/ 2147483646 w 129"/>
              <a:gd name="T15" fmla="*/ 2147483646 h 215"/>
              <a:gd name="T16" fmla="*/ 2147483646 w 129"/>
              <a:gd name="T17" fmla="*/ 2147483646 h 215"/>
              <a:gd name="T18" fmla="*/ 2147483646 w 129"/>
              <a:gd name="T19" fmla="*/ 2147483646 h 215"/>
              <a:gd name="T20" fmla="*/ 2147483646 w 129"/>
              <a:gd name="T21" fmla="*/ 2147483646 h 215"/>
              <a:gd name="T22" fmla="*/ 2147483646 w 129"/>
              <a:gd name="T23" fmla="*/ 2147483646 h 215"/>
              <a:gd name="T24" fmla="*/ 2147483646 w 129"/>
              <a:gd name="T25" fmla="*/ 2147483646 h 215"/>
              <a:gd name="T26" fmla="*/ 2147483646 w 129"/>
              <a:gd name="T27" fmla="*/ 2147483646 h 215"/>
              <a:gd name="T28" fmla="*/ 2147483646 w 129"/>
              <a:gd name="T29" fmla="*/ 2147483646 h 215"/>
              <a:gd name="T30" fmla="*/ 2147483646 w 129"/>
              <a:gd name="T31" fmla="*/ 2147483646 h 215"/>
              <a:gd name="T32" fmla="*/ 2147483646 w 129"/>
              <a:gd name="T33" fmla="*/ 2147483646 h 215"/>
              <a:gd name="T34" fmla="*/ 2147483646 w 129"/>
              <a:gd name="T35" fmla="*/ 2147483646 h 215"/>
              <a:gd name="T36" fmla="*/ 2147483646 w 129"/>
              <a:gd name="T37" fmla="*/ 2147483646 h 215"/>
              <a:gd name="T38" fmla="*/ 2147483646 w 129"/>
              <a:gd name="T39" fmla="*/ 2147483646 h 215"/>
              <a:gd name="T40" fmla="*/ 2147483646 w 129"/>
              <a:gd name="T41" fmla="*/ 2147483646 h 215"/>
              <a:gd name="T42" fmla="*/ 2147483646 w 129"/>
              <a:gd name="T43" fmla="*/ 2147483646 h 215"/>
              <a:gd name="T44" fmla="*/ 2147483646 w 129"/>
              <a:gd name="T45" fmla="*/ 2147483646 h 215"/>
              <a:gd name="T46" fmla="*/ 2147483646 w 129"/>
              <a:gd name="T47" fmla="*/ 0 h 215"/>
              <a:gd name="T48" fmla="*/ 2147483646 w 129"/>
              <a:gd name="T49" fmla="*/ 2147483646 h 215"/>
              <a:gd name="T50" fmla="*/ 2147483646 w 129"/>
              <a:gd name="T51" fmla="*/ 2147483646 h 215"/>
              <a:gd name="T52" fmla="*/ 0 w 129"/>
              <a:gd name="T53" fmla="*/ 2147483646 h 215"/>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129" h="215">
                <a:moveTo>
                  <a:pt x="0" y="53"/>
                </a:moveTo>
                <a:lnTo>
                  <a:pt x="20" y="19"/>
                </a:lnTo>
                <a:lnTo>
                  <a:pt x="54" y="9"/>
                </a:lnTo>
                <a:lnTo>
                  <a:pt x="95" y="16"/>
                </a:lnTo>
                <a:lnTo>
                  <a:pt x="109" y="35"/>
                </a:lnTo>
                <a:lnTo>
                  <a:pt x="120" y="67"/>
                </a:lnTo>
                <a:lnTo>
                  <a:pt x="120" y="93"/>
                </a:lnTo>
                <a:lnTo>
                  <a:pt x="114" y="111"/>
                </a:lnTo>
                <a:lnTo>
                  <a:pt x="114" y="137"/>
                </a:lnTo>
                <a:lnTo>
                  <a:pt x="107" y="168"/>
                </a:lnTo>
                <a:lnTo>
                  <a:pt x="80" y="198"/>
                </a:lnTo>
                <a:lnTo>
                  <a:pt x="63" y="198"/>
                </a:lnTo>
                <a:lnTo>
                  <a:pt x="40" y="198"/>
                </a:lnTo>
                <a:lnTo>
                  <a:pt x="40" y="203"/>
                </a:lnTo>
                <a:lnTo>
                  <a:pt x="57" y="215"/>
                </a:lnTo>
                <a:lnTo>
                  <a:pt x="76" y="211"/>
                </a:lnTo>
                <a:lnTo>
                  <a:pt x="101" y="201"/>
                </a:lnTo>
                <a:lnTo>
                  <a:pt x="121" y="171"/>
                </a:lnTo>
                <a:lnTo>
                  <a:pt x="123" y="121"/>
                </a:lnTo>
                <a:lnTo>
                  <a:pt x="129" y="87"/>
                </a:lnTo>
                <a:lnTo>
                  <a:pt x="129" y="58"/>
                </a:lnTo>
                <a:lnTo>
                  <a:pt x="117" y="32"/>
                </a:lnTo>
                <a:lnTo>
                  <a:pt x="103" y="9"/>
                </a:lnTo>
                <a:lnTo>
                  <a:pt x="69" y="0"/>
                </a:lnTo>
                <a:lnTo>
                  <a:pt x="20" y="6"/>
                </a:lnTo>
                <a:lnTo>
                  <a:pt x="3" y="19"/>
                </a:lnTo>
                <a:lnTo>
                  <a:pt x="0" y="5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3" name="Freeform 276"/>
          <p:cNvSpPr>
            <a:spLocks/>
          </p:cNvSpPr>
          <p:nvPr/>
        </p:nvSpPr>
        <p:spPr bwMode="auto">
          <a:xfrm>
            <a:off x="7207014" y="3122622"/>
            <a:ext cx="19126" cy="27876"/>
          </a:xfrm>
          <a:custGeom>
            <a:avLst/>
            <a:gdLst>
              <a:gd name="T0" fmla="*/ 2147483646 w 118"/>
              <a:gd name="T1" fmla="*/ 0 h 179"/>
              <a:gd name="T2" fmla="*/ 2147483646 w 118"/>
              <a:gd name="T3" fmla="*/ 2147483646 h 179"/>
              <a:gd name="T4" fmla="*/ 2147483646 w 118"/>
              <a:gd name="T5" fmla="*/ 2147483646 h 179"/>
              <a:gd name="T6" fmla="*/ 2147483646 w 118"/>
              <a:gd name="T7" fmla="*/ 2147483646 h 179"/>
              <a:gd name="T8" fmla="*/ 2147483646 w 118"/>
              <a:gd name="T9" fmla="*/ 2147483646 h 179"/>
              <a:gd name="T10" fmla="*/ 0 w 118"/>
              <a:gd name="T11" fmla="*/ 2147483646 h 179"/>
              <a:gd name="T12" fmla="*/ 2147483646 w 118"/>
              <a:gd name="T13" fmla="*/ 2147483646 h 179"/>
              <a:gd name="T14" fmla="*/ 2147483646 w 118"/>
              <a:gd name="T15" fmla="*/ 2147483646 h 179"/>
              <a:gd name="T16" fmla="*/ 2147483646 w 118"/>
              <a:gd name="T17" fmla="*/ 2147483646 h 179"/>
              <a:gd name="T18" fmla="*/ 2147483646 w 118"/>
              <a:gd name="T19" fmla="*/ 0 h 17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18" h="179">
                <a:moveTo>
                  <a:pt x="118" y="0"/>
                </a:moveTo>
                <a:lnTo>
                  <a:pt x="102" y="39"/>
                </a:lnTo>
                <a:lnTo>
                  <a:pt x="77" y="80"/>
                </a:lnTo>
                <a:lnTo>
                  <a:pt x="52" y="116"/>
                </a:lnTo>
                <a:lnTo>
                  <a:pt x="17" y="164"/>
                </a:lnTo>
                <a:lnTo>
                  <a:pt x="0" y="179"/>
                </a:lnTo>
                <a:lnTo>
                  <a:pt x="39" y="159"/>
                </a:lnTo>
                <a:lnTo>
                  <a:pt x="70" y="115"/>
                </a:lnTo>
                <a:lnTo>
                  <a:pt x="99" y="67"/>
                </a:lnTo>
                <a:lnTo>
                  <a:pt x="118"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4" name="Freeform 277"/>
          <p:cNvSpPr>
            <a:spLocks/>
          </p:cNvSpPr>
          <p:nvPr/>
        </p:nvSpPr>
        <p:spPr bwMode="auto">
          <a:xfrm>
            <a:off x="7173796" y="3028773"/>
            <a:ext cx="112742" cy="103141"/>
          </a:xfrm>
          <a:custGeom>
            <a:avLst/>
            <a:gdLst>
              <a:gd name="T0" fmla="*/ 2147483646 w 671"/>
              <a:gd name="T1" fmla="*/ 2147483646 h 670"/>
              <a:gd name="T2" fmla="*/ 2147483646 w 671"/>
              <a:gd name="T3" fmla="*/ 2147483646 h 670"/>
              <a:gd name="T4" fmla="*/ 2147483646 w 671"/>
              <a:gd name="T5" fmla="*/ 2147483646 h 670"/>
              <a:gd name="T6" fmla="*/ 2147483646 w 671"/>
              <a:gd name="T7" fmla="*/ 2147483646 h 670"/>
              <a:gd name="T8" fmla="*/ 2147483646 w 671"/>
              <a:gd name="T9" fmla="*/ 2147483646 h 670"/>
              <a:gd name="T10" fmla="*/ 2147483646 w 671"/>
              <a:gd name="T11" fmla="*/ 2147483646 h 670"/>
              <a:gd name="T12" fmla="*/ 2147483646 w 671"/>
              <a:gd name="T13" fmla="*/ 2147483646 h 670"/>
              <a:gd name="T14" fmla="*/ 2147483646 w 671"/>
              <a:gd name="T15" fmla="*/ 2147483646 h 670"/>
              <a:gd name="T16" fmla="*/ 2147483646 w 671"/>
              <a:gd name="T17" fmla="*/ 2147483646 h 670"/>
              <a:gd name="T18" fmla="*/ 2147483646 w 671"/>
              <a:gd name="T19" fmla="*/ 2147483646 h 670"/>
              <a:gd name="T20" fmla="*/ 2147483646 w 671"/>
              <a:gd name="T21" fmla="*/ 2147483646 h 670"/>
              <a:gd name="T22" fmla="*/ 2147483646 w 671"/>
              <a:gd name="T23" fmla="*/ 2147483646 h 670"/>
              <a:gd name="T24" fmla="*/ 2147483646 w 671"/>
              <a:gd name="T25" fmla="*/ 2147483646 h 670"/>
              <a:gd name="T26" fmla="*/ 2147483646 w 671"/>
              <a:gd name="T27" fmla="*/ 2147483646 h 670"/>
              <a:gd name="T28" fmla="*/ 2147483646 w 671"/>
              <a:gd name="T29" fmla="*/ 2147483646 h 670"/>
              <a:gd name="T30" fmla="*/ 2147483646 w 671"/>
              <a:gd name="T31" fmla="*/ 2147483646 h 670"/>
              <a:gd name="T32" fmla="*/ 2147483646 w 671"/>
              <a:gd name="T33" fmla="*/ 2147483646 h 670"/>
              <a:gd name="T34" fmla="*/ 2147483646 w 671"/>
              <a:gd name="T35" fmla="*/ 2147483646 h 670"/>
              <a:gd name="T36" fmla="*/ 2147483646 w 671"/>
              <a:gd name="T37" fmla="*/ 2147483646 h 670"/>
              <a:gd name="T38" fmla="*/ 2147483646 w 671"/>
              <a:gd name="T39" fmla="*/ 2147483646 h 670"/>
              <a:gd name="T40" fmla="*/ 2147483646 w 671"/>
              <a:gd name="T41" fmla="*/ 2147483646 h 670"/>
              <a:gd name="T42" fmla="*/ 2147483646 w 671"/>
              <a:gd name="T43" fmla="*/ 2147483646 h 670"/>
              <a:gd name="T44" fmla="*/ 2147483646 w 671"/>
              <a:gd name="T45" fmla="*/ 2147483646 h 670"/>
              <a:gd name="T46" fmla="*/ 2147483646 w 671"/>
              <a:gd name="T47" fmla="*/ 2147483646 h 670"/>
              <a:gd name="T48" fmla="*/ 2147483646 w 671"/>
              <a:gd name="T49" fmla="*/ 2147483646 h 670"/>
              <a:gd name="T50" fmla="*/ 2147483646 w 671"/>
              <a:gd name="T51" fmla="*/ 2147483646 h 670"/>
              <a:gd name="T52" fmla="*/ 2147483646 w 671"/>
              <a:gd name="T53" fmla="*/ 2147483646 h 670"/>
              <a:gd name="T54" fmla="*/ 2147483646 w 671"/>
              <a:gd name="T55" fmla="*/ 2147483646 h 670"/>
              <a:gd name="T56" fmla="*/ 2147483646 w 671"/>
              <a:gd name="T57" fmla="*/ 2147483646 h 670"/>
              <a:gd name="T58" fmla="*/ 2147483646 w 671"/>
              <a:gd name="T59" fmla="*/ 2147483646 h 670"/>
              <a:gd name="T60" fmla="*/ 2147483646 w 671"/>
              <a:gd name="T61" fmla="*/ 0 h 670"/>
              <a:gd name="T62" fmla="*/ 2147483646 w 671"/>
              <a:gd name="T63" fmla="*/ 2147483646 h 670"/>
              <a:gd name="T64" fmla="*/ 2147483646 w 671"/>
              <a:gd name="T65" fmla="*/ 2147483646 h 670"/>
              <a:gd name="T66" fmla="*/ 2147483646 w 671"/>
              <a:gd name="T67" fmla="*/ 2147483646 h 670"/>
              <a:gd name="T68" fmla="*/ 2147483646 w 671"/>
              <a:gd name="T69" fmla="*/ 2147483646 h 670"/>
              <a:gd name="T70" fmla="*/ 0 w 671"/>
              <a:gd name="T71" fmla="*/ 2147483646 h 670"/>
              <a:gd name="T72" fmla="*/ 2147483646 w 671"/>
              <a:gd name="T73" fmla="*/ 2147483646 h 670"/>
              <a:gd name="T74" fmla="*/ 2147483646 w 671"/>
              <a:gd name="T75" fmla="*/ 2147483646 h 67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671" h="670">
                <a:moveTo>
                  <a:pt x="54" y="193"/>
                </a:moveTo>
                <a:lnTo>
                  <a:pt x="155" y="177"/>
                </a:lnTo>
                <a:lnTo>
                  <a:pt x="223" y="187"/>
                </a:lnTo>
                <a:lnTo>
                  <a:pt x="264" y="234"/>
                </a:lnTo>
                <a:lnTo>
                  <a:pt x="238" y="290"/>
                </a:lnTo>
                <a:lnTo>
                  <a:pt x="206" y="311"/>
                </a:lnTo>
                <a:lnTo>
                  <a:pt x="197" y="366"/>
                </a:lnTo>
                <a:lnTo>
                  <a:pt x="217" y="401"/>
                </a:lnTo>
                <a:lnTo>
                  <a:pt x="200" y="453"/>
                </a:lnTo>
                <a:lnTo>
                  <a:pt x="242" y="453"/>
                </a:lnTo>
                <a:lnTo>
                  <a:pt x="254" y="394"/>
                </a:lnTo>
                <a:lnTo>
                  <a:pt x="280" y="366"/>
                </a:lnTo>
                <a:lnTo>
                  <a:pt x="329" y="366"/>
                </a:lnTo>
                <a:lnTo>
                  <a:pt x="378" y="378"/>
                </a:lnTo>
                <a:lnTo>
                  <a:pt x="393" y="419"/>
                </a:lnTo>
                <a:lnTo>
                  <a:pt x="399" y="475"/>
                </a:lnTo>
                <a:lnTo>
                  <a:pt x="393" y="516"/>
                </a:lnTo>
                <a:lnTo>
                  <a:pt x="393" y="547"/>
                </a:lnTo>
                <a:lnTo>
                  <a:pt x="396" y="581"/>
                </a:lnTo>
                <a:lnTo>
                  <a:pt x="428" y="613"/>
                </a:lnTo>
                <a:lnTo>
                  <a:pt x="451" y="632"/>
                </a:lnTo>
                <a:lnTo>
                  <a:pt x="510" y="670"/>
                </a:lnTo>
                <a:lnTo>
                  <a:pt x="620" y="558"/>
                </a:lnTo>
                <a:lnTo>
                  <a:pt x="652" y="466"/>
                </a:lnTo>
                <a:lnTo>
                  <a:pt x="665" y="318"/>
                </a:lnTo>
                <a:lnTo>
                  <a:pt x="671" y="215"/>
                </a:lnTo>
                <a:lnTo>
                  <a:pt x="658" y="114"/>
                </a:lnTo>
                <a:lnTo>
                  <a:pt x="629" y="59"/>
                </a:lnTo>
                <a:lnTo>
                  <a:pt x="562" y="21"/>
                </a:lnTo>
                <a:lnTo>
                  <a:pt x="502" y="8"/>
                </a:lnTo>
                <a:lnTo>
                  <a:pt x="384" y="0"/>
                </a:lnTo>
                <a:lnTo>
                  <a:pt x="270" y="5"/>
                </a:lnTo>
                <a:lnTo>
                  <a:pt x="129" y="30"/>
                </a:lnTo>
                <a:lnTo>
                  <a:pt x="64" y="62"/>
                </a:lnTo>
                <a:lnTo>
                  <a:pt x="32" y="94"/>
                </a:lnTo>
                <a:lnTo>
                  <a:pt x="0" y="140"/>
                </a:lnTo>
                <a:lnTo>
                  <a:pt x="6" y="166"/>
                </a:lnTo>
                <a:lnTo>
                  <a:pt x="54" y="193"/>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5" name="Freeform 278"/>
          <p:cNvSpPr>
            <a:spLocks/>
          </p:cNvSpPr>
          <p:nvPr/>
        </p:nvSpPr>
        <p:spPr bwMode="auto">
          <a:xfrm>
            <a:off x="7176815" y="3029702"/>
            <a:ext cx="107709" cy="99423"/>
          </a:xfrm>
          <a:custGeom>
            <a:avLst/>
            <a:gdLst>
              <a:gd name="T0" fmla="*/ 2147483646 w 636"/>
              <a:gd name="T1" fmla="*/ 2147483646 h 643"/>
              <a:gd name="T2" fmla="*/ 2147483646 w 636"/>
              <a:gd name="T3" fmla="*/ 2147483646 h 643"/>
              <a:gd name="T4" fmla="*/ 2147483646 w 636"/>
              <a:gd name="T5" fmla="*/ 2147483646 h 643"/>
              <a:gd name="T6" fmla="*/ 2147483646 w 636"/>
              <a:gd name="T7" fmla="*/ 2147483646 h 643"/>
              <a:gd name="T8" fmla="*/ 2147483646 w 636"/>
              <a:gd name="T9" fmla="*/ 2147483646 h 643"/>
              <a:gd name="T10" fmla="*/ 2147483646 w 636"/>
              <a:gd name="T11" fmla="*/ 2147483646 h 643"/>
              <a:gd name="T12" fmla="*/ 2147483646 w 636"/>
              <a:gd name="T13" fmla="*/ 2147483646 h 643"/>
              <a:gd name="T14" fmla="*/ 2147483646 w 636"/>
              <a:gd name="T15" fmla="*/ 2147483646 h 643"/>
              <a:gd name="T16" fmla="*/ 2147483646 w 636"/>
              <a:gd name="T17" fmla="*/ 2147483646 h 643"/>
              <a:gd name="T18" fmla="*/ 2147483646 w 636"/>
              <a:gd name="T19" fmla="*/ 2147483646 h 643"/>
              <a:gd name="T20" fmla="*/ 2147483646 w 636"/>
              <a:gd name="T21" fmla="*/ 2147483646 h 643"/>
              <a:gd name="T22" fmla="*/ 2147483646 w 636"/>
              <a:gd name="T23" fmla="*/ 2147483646 h 643"/>
              <a:gd name="T24" fmla="*/ 2147483646 w 636"/>
              <a:gd name="T25" fmla="*/ 2147483646 h 643"/>
              <a:gd name="T26" fmla="*/ 2147483646 w 636"/>
              <a:gd name="T27" fmla="*/ 2147483646 h 643"/>
              <a:gd name="T28" fmla="*/ 2147483646 w 636"/>
              <a:gd name="T29" fmla="*/ 2147483646 h 643"/>
              <a:gd name="T30" fmla="*/ 2147483646 w 636"/>
              <a:gd name="T31" fmla="*/ 2147483646 h 643"/>
              <a:gd name="T32" fmla="*/ 2147483646 w 636"/>
              <a:gd name="T33" fmla="*/ 2147483646 h 643"/>
              <a:gd name="T34" fmla="*/ 2147483646 w 636"/>
              <a:gd name="T35" fmla="*/ 2147483646 h 643"/>
              <a:gd name="T36" fmla="*/ 2147483646 w 636"/>
              <a:gd name="T37" fmla="*/ 2147483646 h 643"/>
              <a:gd name="T38" fmla="*/ 2147483646 w 636"/>
              <a:gd name="T39" fmla="*/ 2147483646 h 643"/>
              <a:gd name="T40" fmla="*/ 2147483646 w 636"/>
              <a:gd name="T41" fmla="*/ 2147483646 h 643"/>
              <a:gd name="T42" fmla="*/ 2147483646 w 636"/>
              <a:gd name="T43" fmla="*/ 2147483646 h 643"/>
              <a:gd name="T44" fmla="*/ 2147483646 w 636"/>
              <a:gd name="T45" fmla="*/ 2147483646 h 643"/>
              <a:gd name="T46" fmla="*/ 2147483646 w 636"/>
              <a:gd name="T47" fmla="*/ 2147483646 h 643"/>
              <a:gd name="T48" fmla="*/ 2147483646 w 636"/>
              <a:gd name="T49" fmla="*/ 2147483646 h 643"/>
              <a:gd name="T50" fmla="*/ 2147483646 w 636"/>
              <a:gd name="T51" fmla="*/ 2147483646 h 643"/>
              <a:gd name="T52" fmla="*/ 2147483646 w 636"/>
              <a:gd name="T53" fmla="*/ 2147483646 h 643"/>
              <a:gd name="T54" fmla="*/ 2147483646 w 636"/>
              <a:gd name="T55" fmla="*/ 2147483646 h 643"/>
              <a:gd name="T56" fmla="*/ 2147483646 w 636"/>
              <a:gd name="T57" fmla="*/ 2147483646 h 643"/>
              <a:gd name="T58" fmla="*/ 2147483646 w 636"/>
              <a:gd name="T59" fmla="*/ 2147483646 h 643"/>
              <a:gd name="T60" fmla="*/ 2147483646 w 636"/>
              <a:gd name="T61" fmla="*/ 2147483646 h 643"/>
              <a:gd name="T62" fmla="*/ 2147483646 w 636"/>
              <a:gd name="T63" fmla="*/ 2147483646 h 643"/>
              <a:gd name="T64" fmla="*/ 2147483646 w 636"/>
              <a:gd name="T65" fmla="*/ 2147483646 h 643"/>
              <a:gd name="T66" fmla="*/ 2147483646 w 636"/>
              <a:gd name="T67" fmla="*/ 2147483646 h 643"/>
              <a:gd name="T68" fmla="*/ 2147483646 w 636"/>
              <a:gd name="T69" fmla="*/ 2147483646 h 643"/>
              <a:gd name="T70" fmla="*/ 2147483646 w 636"/>
              <a:gd name="T71" fmla="*/ 2147483646 h 643"/>
              <a:gd name="T72" fmla="*/ 2147483646 w 636"/>
              <a:gd name="T73" fmla="*/ 2147483646 h 643"/>
              <a:gd name="T74" fmla="*/ 2147483646 w 636"/>
              <a:gd name="T75" fmla="*/ 2147483646 h 643"/>
              <a:gd name="T76" fmla="*/ 2147483646 w 636"/>
              <a:gd name="T77" fmla="*/ 2147483646 h 643"/>
              <a:gd name="T78" fmla="*/ 2147483646 w 636"/>
              <a:gd name="T79" fmla="*/ 2147483646 h 643"/>
              <a:gd name="T80" fmla="*/ 2147483646 w 636"/>
              <a:gd name="T81" fmla="*/ 2147483646 h 643"/>
              <a:gd name="T82" fmla="*/ 2147483646 w 636"/>
              <a:gd name="T83" fmla="*/ 2147483646 h 643"/>
              <a:gd name="T84" fmla="*/ 2147483646 w 636"/>
              <a:gd name="T85" fmla="*/ 2147483646 h 643"/>
              <a:gd name="T86" fmla="*/ 2147483646 w 636"/>
              <a:gd name="T87" fmla="*/ 2147483646 h 643"/>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636" h="643">
                <a:moveTo>
                  <a:pt x="104" y="41"/>
                </a:moveTo>
                <a:lnTo>
                  <a:pt x="51" y="63"/>
                </a:lnTo>
                <a:lnTo>
                  <a:pt x="25" y="98"/>
                </a:lnTo>
                <a:lnTo>
                  <a:pt x="10" y="121"/>
                </a:lnTo>
                <a:lnTo>
                  <a:pt x="0" y="138"/>
                </a:lnTo>
                <a:lnTo>
                  <a:pt x="13" y="152"/>
                </a:lnTo>
                <a:lnTo>
                  <a:pt x="41" y="169"/>
                </a:lnTo>
                <a:lnTo>
                  <a:pt x="110" y="158"/>
                </a:lnTo>
                <a:lnTo>
                  <a:pt x="160" y="158"/>
                </a:lnTo>
                <a:lnTo>
                  <a:pt x="194" y="141"/>
                </a:lnTo>
                <a:lnTo>
                  <a:pt x="245" y="129"/>
                </a:lnTo>
                <a:lnTo>
                  <a:pt x="290" y="126"/>
                </a:lnTo>
                <a:lnTo>
                  <a:pt x="342" y="129"/>
                </a:lnTo>
                <a:lnTo>
                  <a:pt x="267" y="138"/>
                </a:lnTo>
                <a:lnTo>
                  <a:pt x="229" y="148"/>
                </a:lnTo>
                <a:lnTo>
                  <a:pt x="201" y="158"/>
                </a:lnTo>
                <a:lnTo>
                  <a:pt x="194" y="161"/>
                </a:lnTo>
                <a:lnTo>
                  <a:pt x="213" y="169"/>
                </a:lnTo>
                <a:lnTo>
                  <a:pt x="229" y="185"/>
                </a:lnTo>
                <a:lnTo>
                  <a:pt x="255" y="169"/>
                </a:lnTo>
                <a:lnTo>
                  <a:pt x="277" y="163"/>
                </a:lnTo>
                <a:lnTo>
                  <a:pt x="325" y="155"/>
                </a:lnTo>
                <a:lnTo>
                  <a:pt x="339" y="155"/>
                </a:lnTo>
                <a:lnTo>
                  <a:pt x="293" y="172"/>
                </a:lnTo>
                <a:lnTo>
                  <a:pt x="258" y="188"/>
                </a:lnTo>
                <a:lnTo>
                  <a:pt x="239" y="201"/>
                </a:lnTo>
                <a:lnTo>
                  <a:pt x="255" y="217"/>
                </a:lnTo>
                <a:lnTo>
                  <a:pt x="293" y="204"/>
                </a:lnTo>
                <a:lnTo>
                  <a:pt x="325" y="198"/>
                </a:lnTo>
                <a:lnTo>
                  <a:pt x="267" y="226"/>
                </a:lnTo>
                <a:lnTo>
                  <a:pt x="248" y="239"/>
                </a:lnTo>
                <a:lnTo>
                  <a:pt x="242" y="266"/>
                </a:lnTo>
                <a:lnTo>
                  <a:pt x="232" y="280"/>
                </a:lnTo>
                <a:lnTo>
                  <a:pt x="267" y="263"/>
                </a:lnTo>
                <a:lnTo>
                  <a:pt x="298" y="257"/>
                </a:lnTo>
                <a:lnTo>
                  <a:pt x="348" y="255"/>
                </a:lnTo>
                <a:lnTo>
                  <a:pt x="272" y="276"/>
                </a:lnTo>
                <a:lnTo>
                  <a:pt x="226" y="294"/>
                </a:lnTo>
                <a:lnTo>
                  <a:pt x="194" y="310"/>
                </a:lnTo>
                <a:lnTo>
                  <a:pt x="191" y="335"/>
                </a:lnTo>
                <a:lnTo>
                  <a:pt x="229" y="317"/>
                </a:lnTo>
                <a:lnTo>
                  <a:pt x="280" y="300"/>
                </a:lnTo>
                <a:lnTo>
                  <a:pt x="304" y="300"/>
                </a:lnTo>
                <a:lnTo>
                  <a:pt x="248" y="320"/>
                </a:lnTo>
                <a:lnTo>
                  <a:pt x="204" y="338"/>
                </a:lnTo>
                <a:lnTo>
                  <a:pt x="187" y="355"/>
                </a:lnTo>
                <a:lnTo>
                  <a:pt x="194" y="370"/>
                </a:lnTo>
                <a:lnTo>
                  <a:pt x="229" y="358"/>
                </a:lnTo>
                <a:lnTo>
                  <a:pt x="261" y="344"/>
                </a:lnTo>
                <a:lnTo>
                  <a:pt x="327" y="341"/>
                </a:lnTo>
                <a:lnTo>
                  <a:pt x="354" y="344"/>
                </a:lnTo>
                <a:lnTo>
                  <a:pt x="415" y="348"/>
                </a:lnTo>
                <a:lnTo>
                  <a:pt x="488" y="338"/>
                </a:lnTo>
                <a:lnTo>
                  <a:pt x="444" y="355"/>
                </a:lnTo>
                <a:lnTo>
                  <a:pt x="368" y="367"/>
                </a:lnTo>
                <a:lnTo>
                  <a:pt x="384" y="393"/>
                </a:lnTo>
                <a:lnTo>
                  <a:pt x="438" y="379"/>
                </a:lnTo>
                <a:lnTo>
                  <a:pt x="491" y="361"/>
                </a:lnTo>
                <a:lnTo>
                  <a:pt x="525" y="344"/>
                </a:lnTo>
                <a:lnTo>
                  <a:pt x="460" y="393"/>
                </a:lnTo>
                <a:lnTo>
                  <a:pt x="419" y="405"/>
                </a:lnTo>
                <a:lnTo>
                  <a:pt x="384" y="417"/>
                </a:lnTo>
                <a:lnTo>
                  <a:pt x="387" y="442"/>
                </a:lnTo>
                <a:lnTo>
                  <a:pt x="438" y="434"/>
                </a:lnTo>
                <a:lnTo>
                  <a:pt x="478" y="423"/>
                </a:lnTo>
                <a:lnTo>
                  <a:pt x="454" y="440"/>
                </a:lnTo>
                <a:lnTo>
                  <a:pt x="409" y="452"/>
                </a:lnTo>
                <a:lnTo>
                  <a:pt x="387" y="455"/>
                </a:lnTo>
                <a:lnTo>
                  <a:pt x="387" y="511"/>
                </a:lnTo>
                <a:lnTo>
                  <a:pt x="435" y="492"/>
                </a:lnTo>
                <a:lnTo>
                  <a:pt x="473" y="477"/>
                </a:lnTo>
                <a:lnTo>
                  <a:pt x="432" y="508"/>
                </a:lnTo>
                <a:lnTo>
                  <a:pt x="380" y="530"/>
                </a:lnTo>
                <a:lnTo>
                  <a:pt x="384" y="556"/>
                </a:lnTo>
                <a:lnTo>
                  <a:pt x="412" y="586"/>
                </a:lnTo>
                <a:lnTo>
                  <a:pt x="438" y="553"/>
                </a:lnTo>
                <a:lnTo>
                  <a:pt x="473" y="511"/>
                </a:lnTo>
                <a:lnTo>
                  <a:pt x="496" y="471"/>
                </a:lnTo>
                <a:lnTo>
                  <a:pt x="473" y="533"/>
                </a:lnTo>
                <a:lnTo>
                  <a:pt x="454" y="556"/>
                </a:lnTo>
                <a:lnTo>
                  <a:pt x="419" y="599"/>
                </a:lnTo>
                <a:lnTo>
                  <a:pt x="444" y="628"/>
                </a:lnTo>
                <a:lnTo>
                  <a:pt x="485" y="594"/>
                </a:lnTo>
                <a:lnTo>
                  <a:pt x="514" y="553"/>
                </a:lnTo>
                <a:lnTo>
                  <a:pt x="540" y="508"/>
                </a:lnTo>
                <a:lnTo>
                  <a:pt x="517" y="573"/>
                </a:lnTo>
                <a:lnTo>
                  <a:pt x="491" y="602"/>
                </a:lnTo>
                <a:lnTo>
                  <a:pt x="465" y="631"/>
                </a:lnTo>
                <a:lnTo>
                  <a:pt x="488" y="643"/>
                </a:lnTo>
                <a:lnTo>
                  <a:pt x="540" y="599"/>
                </a:lnTo>
                <a:lnTo>
                  <a:pt x="589" y="530"/>
                </a:lnTo>
                <a:lnTo>
                  <a:pt x="607" y="477"/>
                </a:lnTo>
                <a:lnTo>
                  <a:pt x="620" y="386"/>
                </a:lnTo>
                <a:lnTo>
                  <a:pt x="627" y="317"/>
                </a:lnTo>
                <a:lnTo>
                  <a:pt x="636" y="239"/>
                </a:lnTo>
                <a:lnTo>
                  <a:pt x="582" y="255"/>
                </a:lnTo>
                <a:lnTo>
                  <a:pt x="522" y="276"/>
                </a:lnTo>
                <a:lnTo>
                  <a:pt x="432" y="297"/>
                </a:lnTo>
                <a:lnTo>
                  <a:pt x="514" y="266"/>
                </a:lnTo>
                <a:lnTo>
                  <a:pt x="543" y="249"/>
                </a:lnTo>
                <a:lnTo>
                  <a:pt x="601" y="229"/>
                </a:lnTo>
                <a:lnTo>
                  <a:pt x="630" y="223"/>
                </a:lnTo>
                <a:lnTo>
                  <a:pt x="630" y="182"/>
                </a:lnTo>
                <a:lnTo>
                  <a:pt x="623" y="129"/>
                </a:lnTo>
                <a:lnTo>
                  <a:pt x="551" y="141"/>
                </a:lnTo>
                <a:lnTo>
                  <a:pt x="505" y="155"/>
                </a:lnTo>
                <a:lnTo>
                  <a:pt x="447" y="182"/>
                </a:lnTo>
                <a:lnTo>
                  <a:pt x="499" y="141"/>
                </a:lnTo>
                <a:lnTo>
                  <a:pt x="560" y="124"/>
                </a:lnTo>
                <a:lnTo>
                  <a:pt x="620" y="109"/>
                </a:lnTo>
                <a:lnTo>
                  <a:pt x="607" y="69"/>
                </a:lnTo>
                <a:lnTo>
                  <a:pt x="589" y="45"/>
                </a:lnTo>
                <a:lnTo>
                  <a:pt x="534" y="28"/>
                </a:lnTo>
                <a:lnTo>
                  <a:pt x="482" y="41"/>
                </a:lnTo>
                <a:lnTo>
                  <a:pt x="432" y="76"/>
                </a:lnTo>
                <a:lnTo>
                  <a:pt x="465" y="35"/>
                </a:lnTo>
                <a:lnTo>
                  <a:pt x="517" y="16"/>
                </a:lnTo>
                <a:lnTo>
                  <a:pt x="460" y="6"/>
                </a:lnTo>
                <a:lnTo>
                  <a:pt x="419" y="3"/>
                </a:lnTo>
                <a:lnTo>
                  <a:pt x="359" y="13"/>
                </a:lnTo>
                <a:lnTo>
                  <a:pt x="318" y="38"/>
                </a:lnTo>
                <a:lnTo>
                  <a:pt x="255" y="51"/>
                </a:lnTo>
                <a:lnTo>
                  <a:pt x="298" y="32"/>
                </a:lnTo>
                <a:lnTo>
                  <a:pt x="330" y="13"/>
                </a:lnTo>
                <a:lnTo>
                  <a:pt x="348" y="0"/>
                </a:lnTo>
                <a:lnTo>
                  <a:pt x="287" y="3"/>
                </a:lnTo>
                <a:lnTo>
                  <a:pt x="232" y="6"/>
                </a:lnTo>
                <a:lnTo>
                  <a:pt x="198" y="22"/>
                </a:lnTo>
                <a:lnTo>
                  <a:pt x="163" y="54"/>
                </a:lnTo>
                <a:lnTo>
                  <a:pt x="136" y="95"/>
                </a:lnTo>
                <a:lnTo>
                  <a:pt x="151" y="48"/>
                </a:lnTo>
                <a:lnTo>
                  <a:pt x="184" y="16"/>
                </a:lnTo>
                <a:lnTo>
                  <a:pt x="104" y="41"/>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86" name="Group 279"/>
          <p:cNvGrpSpPr>
            <a:grpSpLocks/>
          </p:cNvGrpSpPr>
          <p:nvPr/>
        </p:nvGrpSpPr>
        <p:grpSpPr bwMode="auto">
          <a:xfrm>
            <a:off x="6951331" y="3281513"/>
            <a:ext cx="116768" cy="65973"/>
            <a:chOff x="5264" y="1904"/>
            <a:chExt cx="116" cy="71"/>
          </a:xfrm>
        </p:grpSpPr>
        <p:sp>
          <p:nvSpPr>
            <p:cNvPr id="287" name="Freeform 280"/>
            <p:cNvSpPr>
              <a:spLocks/>
            </p:cNvSpPr>
            <p:nvPr/>
          </p:nvSpPr>
          <p:spPr bwMode="auto">
            <a:xfrm>
              <a:off x="5264" y="1904"/>
              <a:ext cx="116" cy="71"/>
            </a:xfrm>
            <a:custGeom>
              <a:avLst/>
              <a:gdLst>
                <a:gd name="T0" fmla="*/ 0 w 698"/>
                <a:gd name="T1" fmla="*/ 0 h 425"/>
                <a:gd name="T2" fmla="*/ 0 w 698"/>
                <a:gd name="T3" fmla="*/ 0 h 425"/>
                <a:gd name="T4" fmla="*/ 0 w 698"/>
                <a:gd name="T5" fmla="*/ 0 h 425"/>
                <a:gd name="T6" fmla="*/ 0 w 698"/>
                <a:gd name="T7" fmla="*/ 0 h 425"/>
                <a:gd name="T8" fmla="*/ 0 w 698"/>
                <a:gd name="T9" fmla="*/ 0 h 425"/>
                <a:gd name="T10" fmla="*/ 0 w 698"/>
                <a:gd name="T11" fmla="*/ 0 h 425"/>
                <a:gd name="T12" fmla="*/ 0 w 698"/>
                <a:gd name="T13" fmla="*/ 0 h 425"/>
                <a:gd name="T14" fmla="*/ 0 w 698"/>
                <a:gd name="T15" fmla="*/ 0 h 425"/>
                <a:gd name="T16" fmla="*/ 0 w 698"/>
                <a:gd name="T17" fmla="*/ 0 h 425"/>
                <a:gd name="T18" fmla="*/ 0 w 698"/>
                <a:gd name="T19" fmla="*/ 0 h 425"/>
                <a:gd name="T20" fmla="*/ 0 w 698"/>
                <a:gd name="T21" fmla="*/ 0 h 425"/>
                <a:gd name="T22" fmla="*/ 0 w 698"/>
                <a:gd name="T23" fmla="*/ 0 h 425"/>
                <a:gd name="T24" fmla="*/ 0 w 698"/>
                <a:gd name="T25" fmla="*/ 0 h 425"/>
                <a:gd name="T26" fmla="*/ 0 w 698"/>
                <a:gd name="T27" fmla="*/ 0 h 425"/>
                <a:gd name="T28" fmla="*/ 0 w 698"/>
                <a:gd name="T29" fmla="*/ 0 h 425"/>
                <a:gd name="T30" fmla="*/ 0 w 698"/>
                <a:gd name="T31" fmla="*/ 0 h 425"/>
                <a:gd name="T32" fmla="*/ 0 w 698"/>
                <a:gd name="T33" fmla="*/ 0 h 425"/>
                <a:gd name="T34" fmla="*/ 0 w 698"/>
                <a:gd name="T35" fmla="*/ 0 h 425"/>
                <a:gd name="T36" fmla="*/ 0 w 698"/>
                <a:gd name="T37" fmla="*/ 0 h 425"/>
                <a:gd name="T38" fmla="*/ 0 w 698"/>
                <a:gd name="T39" fmla="*/ 0 h 425"/>
                <a:gd name="T40" fmla="*/ 0 w 698"/>
                <a:gd name="T41" fmla="*/ 0 h 425"/>
                <a:gd name="T42" fmla="*/ 0 w 698"/>
                <a:gd name="T43" fmla="*/ 0 h 425"/>
                <a:gd name="T44" fmla="*/ 0 w 698"/>
                <a:gd name="T45" fmla="*/ 0 h 425"/>
                <a:gd name="T46" fmla="*/ 0 w 698"/>
                <a:gd name="T47" fmla="*/ 0 h 425"/>
                <a:gd name="T48" fmla="*/ 0 w 698"/>
                <a:gd name="T49" fmla="*/ 0 h 425"/>
                <a:gd name="T50" fmla="*/ 0 w 698"/>
                <a:gd name="T51" fmla="*/ 0 h 425"/>
                <a:gd name="T52" fmla="*/ 0 w 698"/>
                <a:gd name="T53" fmla="*/ 0 h 425"/>
                <a:gd name="T54" fmla="*/ 0 w 698"/>
                <a:gd name="T55" fmla="*/ 0 h 425"/>
                <a:gd name="T56" fmla="*/ 0 w 698"/>
                <a:gd name="T57" fmla="*/ 0 h 425"/>
                <a:gd name="T58" fmla="*/ 0 w 698"/>
                <a:gd name="T59" fmla="*/ 0 h 425"/>
                <a:gd name="T60" fmla="*/ 0 w 698"/>
                <a:gd name="T61" fmla="*/ 0 h 425"/>
                <a:gd name="T62" fmla="*/ 0 w 698"/>
                <a:gd name="T63" fmla="*/ 0 h 425"/>
                <a:gd name="T64" fmla="*/ 0 w 698"/>
                <a:gd name="T65" fmla="*/ 0 h 425"/>
                <a:gd name="T66" fmla="*/ 0 w 698"/>
                <a:gd name="T67" fmla="*/ 0 h 425"/>
                <a:gd name="T68" fmla="*/ 0 w 698"/>
                <a:gd name="T69" fmla="*/ 0 h 425"/>
                <a:gd name="T70" fmla="*/ 0 w 698"/>
                <a:gd name="T71" fmla="*/ 0 h 425"/>
                <a:gd name="T72" fmla="*/ 0 w 698"/>
                <a:gd name="T73" fmla="*/ 0 h 425"/>
                <a:gd name="T74" fmla="*/ 0 w 698"/>
                <a:gd name="T75" fmla="*/ 0 h 425"/>
                <a:gd name="T76" fmla="*/ 0 w 698"/>
                <a:gd name="T77" fmla="*/ 0 h 425"/>
                <a:gd name="T78" fmla="*/ 0 w 698"/>
                <a:gd name="T79" fmla="*/ 0 h 425"/>
                <a:gd name="T80" fmla="*/ 0 w 698"/>
                <a:gd name="T81" fmla="*/ 0 h 425"/>
                <a:gd name="T82" fmla="*/ 0 w 698"/>
                <a:gd name="T83" fmla="*/ 0 h 425"/>
                <a:gd name="T84" fmla="*/ 0 w 698"/>
                <a:gd name="T85" fmla="*/ 0 h 425"/>
                <a:gd name="T86" fmla="*/ 0 w 698"/>
                <a:gd name="T87" fmla="*/ 0 h 425"/>
                <a:gd name="T88" fmla="*/ 0 w 698"/>
                <a:gd name="T89" fmla="*/ 0 h 425"/>
                <a:gd name="T90" fmla="*/ 0 w 698"/>
                <a:gd name="T91" fmla="*/ 0 h 425"/>
                <a:gd name="T92" fmla="*/ 0 w 698"/>
                <a:gd name="T93" fmla="*/ 0 h 425"/>
                <a:gd name="T94" fmla="*/ 0 w 698"/>
                <a:gd name="T95" fmla="*/ 0 h 425"/>
                <a:gd name="T96" fmla="*/ 0 w 698"/>
                <a:gd name="T97" fmla="*/ 0 h 425"/>
                <a:gd name="T98" fmla="*/ 0 w 698"/>
                <a:gd name="T99" fmla="*/ 0 h 42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698" h="425">
                  <a:moveTo>
                    <a:pt x="698" y="253"/>
                  </a:moveTo>
                  <a:lnTo>
                    <a:pt x="611" y="233"/>
                  </a:lnTo>
                  <a:lnTo>
                    <a:pt x="579" y="227"/>
                  </a:lnTo>
                  <a:lnTo>
                    <a:pt x="558" y="210"/>
                  </a:lnTo>
                  <a:lnTo>
                    <a:pt x="538" y="182"/>
                  </a:lnTo>
                  <a:lnTo>
                    <a:pt x="496" y="143"/>
                  </a:lnTo>
                  <a:lnTo>
                    <a:pt x="420" y="79"/>
                  </a:lnTo>
                  <a:lnTo>
                    <a:pt x="407" y="58"/>
                  </a:lnTo>
                  <a:lnTo>
                    <a:pt x="387" y="38"/>
                  </a:lnTo>
                  <a:lnTo>
                    <a:pt x="347" y="32"/>
                  </a:lnTo>
                  <a:lnTo>
                    <a:pt x="225" y="11"/>
                  </a:lnTo>
                  <a:lnTo>
                    <a:pt x="192" y="0"/>
                  </a:lnTo>
                  <a:lnTo>
                    <a:pt x="162" y="14"/>
                  </a:lnTo>
                  <a:lnTo>
                    <a:pt x="147" y="27"/>
                  </a:lnTo>
                  <a:lnTo>
                    <a:pt x="75" y="52"/>
                  </a:lnTo>
                  <a:lnTo>
                    <a:pt x="48" y="62"/>
                  </a:lnTo>
                  <a:lnTo>
                    <a:pt x="37" y="73"/>
                  </a:lnTo>
                  <a:lnTo>
                    <a:pt x="24" y="114"/>
                  </a:lnTo>
                  <a:lnTo>
                    <a:pt x="16" y="133"/>
                  </a:lnTo>
                  <a:lnTo>
                    <a:pt x="9" y="146"/>
                  </a:lnTo>
                  <a:lnTo>
                    <a:pt x="0" y="165"/>
                  </a:lnTo>
                  <a:lnTo>
                    <a:pt x="0" y="181"/>
                  </a:lnTo>
                  <a:lnTo>
                    <a:pt x="15" y="191"/>
                  </a:lnTo>
                  <a:lnTo>
                    <a:pt x="43" y="190"/>
                  </a:lnTo>
                  <a:lnTo>
                    <a:pt x="89" y="168"/>
                  </a:lnTo>
                  <a:lnTo>
                    <a:pt x="147" y="158"/>
                  </a:lnTo>
                  <a:lnTo>
                    <a:pt x="198" y="165"/>
                  </a:lnTo>
                  <a:lnTo>
                    <a:pt x="144" y="179"/>
                  </a:lnTo>
                  <a:lnTo>
                    <a:pt x="105" y="191"/>
                  </a:lnTo>
                  <a:lnTo>
                    <a:pt x="61" y="210"/>
                  </a:lnTo>
                  <a:lnTo>
                    <a:pt x="51" y="224"/>
                  </a:lnTo>
                  <a:lnTo>
                    <a:pt x="51" y="242"/>
                  </a:lnTo>
                  <a:lnTo>
                    <a:pt x="67" y="253"/>
                  </a:lnTo>
                  <a:lnTo>
                    <a:pt x="87" y="250"/>
                  </a:lnTo>
                  <a:lnTo>
                    <a:pt x="150" y="233"/>
                  </a:lnTo>
                  <a:lnTo>
                    <a:pt x="205" y="230"/>
                  </a:lnTo>
                  <a:lnTo>
                    <a:pt x="249" y="233"/>
                  </a:lnTo>
                  <a:lnTo>
                    <a:pt x="273" y="250"/>
                  </a:lnTo>
                  <a:lnTo>
                    <a:pt x="301" y="279"/>
                  </a:lnTo>
                  <a:lnTo>
                    <a:pt x="323" y="310"/>
                  </a:lnTo>
                  <a:lnTo>
                    <a:pt x="346" y="342"/>
                  </a:lnTo>
                  <a:lnTo>
                    <a:pt x="364" y="366"/>
                  </a:lnTo>
                  <a:lnTo>
                    <a:pt x="397" y="389"/>
                  </a:lnTo>
                  <a:lnTo>
                    <a:pt x="429" y="396"/>
                  </a:lnTo>
                  <a:lnTo>
                    <a:pt x="464" y="399"/>
                  </a:lnTo>
                  <a:lnTo>
                    <a:pt x="507" y="396"/>
                  </a:lnTo>
                  <a:lnTo>
                    <a:pt x="539" y="393"/>
                  </a:lnTo>
                  <a:lnTo>
                    <a:pt x="582" y="404"/>
                  </a:lnTo>
                  <a:lnTo>
                    <a:pt x="698" y="425"/>
                  </a:lnTo>
                  <a:lnTo>
                    <a:pt x="698" y="253"/>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8" name="Freeform 281"/>
            <p:cNvSpPr>
              <a:spLocks/>
            </p:cNvSpPr>
            <p:nvPr/>
          </p:nvSpPr>
          <p:spPr bwMode="auto">
            <a:xfrm>
              <a:off x="5269" y="1916"/>
              <a:ext cx="37" cy="9"/>
            </a:xfrm>
            <a:custGeom>
              <a:avLst/>
              <a:gdLst>
                <a:gd name="T0" fmla="*/ 0 w 223"/>
                <a:gd name="T1" fmla="*/ 0 h 52"/>
                <a:gd name="T2" fmla="*/ 0 w 223"/>
                <a:gd name="T3" fmla="*/ 0 h 52"/>
                <a:gd name="T4" fmla="*/ 0 w 223"/>
                <a:gd name="T5" fmla="*/ 0 h 52"/>
                <a:gd name="T6" fmla="*/ 0 w 223"/>
                <a:gd name="T7" fmla="*/ 0 h 52"/>
                <a:gd name="T8" fmla="*/ 0 w 223"/>
                <a:gd name="T9" fmla="*/ 0 h 52"/>
                <a:gd name="T10" fmla="*/ 0 w 223"/>
                <a:gd name="T11" fmla="*/ 0 h 52"/>
                <a:gd name="T12" fmla="*/ 0 w 223"/>
                <a:gd name="T13" fmla="*/ 0 h 52"/>
                <a:gd name="T14" fmla="*/ 0 w 223"/>
                <a:gd name="T15" fmla="*/ 0 h 52"/>
                <a:gd name="T16" fmla="*/ 0 w 223"/>
                <a:gd name="T17" fmla="*/ 0 h 52"/>
                <a:gd name="T18" fmla="*/ 0 w 223"/>
                <a:gd name="T19" fmla="*/ 0 h 52"/>
                <a:gd name="T20" fmla="*/ 0 w 223"/>
                <a:gd name="T21" fmla="*/ 0 h 52"/>
                <a:gd name="T22" fmla="*/ 0 w 223"/>
                <a:gd name="T23" fmla="*/ 0 h 52"/>
                <a:gd name="T24" fmla="*/ 0 w 223"/>
                <a:gd name="T25" fmla="*/ 0 h 52"/>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223" h="52">
                  <a:moveTo>
                    <a:pt x="0" y="52"/>
                  </a:moveTo>
                  <a:lnTo>
                    <a:pt x="38" y="36"/>
                  </a:lnTo>
                  <a:lnTo>
                    <a:pt x="69" y="30"/>
                  </a:lnTo>
                  <a:lnTo>
                    <a:pt x="107" y="18"/>
                  </a:lnTo>
                  <a:lnTo>
                    <a:pt x="139" y="11"/>
                  </a:lnTo>
                  <a:lnTo>
                    <a:pt x="189" y="15"/>
                  </a:lnTo>
                  <a:lnTo>
                    <a:pt x="223" y="18"/>
                  </a:lnTo>
                  <a:lnTo>
                    <a:pt x="171" y="8"/>
                  </a:lnTo>
                  <a:lnTo>
                    <a:pt x="127" y="0"/>
                  </a:lnTo>
                  <a:lnTo>
                    <a:pt x="69" y="24"/>
                  </a:lnTo>
                  <a:lnTo>
                    <a:pt x="38" y="28"/>
                  </a:lnTo>
                  <a:lnTo>
                    <a:pt x="3" y="45"/>
                  </a:lnTo>
                  <a:lnTo>
                    <a:pt x="0" y="5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9" name="Freeform 282"/>
            <p:cNvSpPr>
              <a:spLocks/>
            </p:cNvSpPr>
            <p:nvPr/>
          </p:nvSpPr>
          <p:spPr bwMode="auto">
            <a:xfrm>
              <a:off x="5289" y="1907"/>
              <a:ext cx="31" cy="6"/>
            </a:xfrm>
            <a:custGeom>
              <a:avLst/>
              <a:gdLst>
                <a:gd name="T0" fmla="*/ 0 w 188"/>
                <a:gd name="T1" fmla="*/ 0 h 36"/>
                <a:gd name="T2" fmla="*/ 0 w 188"/>
                <a:gd name="T3" fmla="*/ 0 h 36"/>
                <a:gd name="T4" fmla="*/ 0 w 188"/>
                <a:gd name="T5" fmla="*/ 0 h 36"/>
                <a:gd name="T6" fmla="*/ 0 w 188"/>
                <a:gd name="T7" fmla="*/ 0 h 36"/>
                <a:gd name="T8" fmla="*/ 0 w 188"/>
                <a:gd name="T9" fmla="*/ 0 h 36"/>
                <a:gd name="T10" fmla="*/ 0 w 188"/>
                <a:gd name="T11" fmla="*/ 0 h 36"/>
                <a:gd name="T12" fmla="*/ 0 w 188"/>
                <a:gd name="T13" fmla="*/ 0 h 36"/>
                <a:gd name="T14" fmla="*/ 0 w 188"/>
                <a:gd name="T15" fmla="*/ 0 h 36"/>
                <a:gd name="T16" fmla="*/ 0 w 188"/>
                <a:gd name="T17" fmla="*/ 0 h 36"/>
                <a:gd name="T18" fmla="*/ 0 w 188"/>
                <a:gd name="T19" fmla="*/ 0 h 36"/>
                <a:gd name="T20" fmla="*/ 0 w 188"/>
                <a:gd name="T21" fmla="*/ 0 h 36"/>
                <a:gd name="T22" fmla="*/ 0 w 188"/>
                <a:gd name="T23" fmla="*/ 0 h 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88" h="36">
                  <a:moveTo>
                    <a:pt x="51" y="0"/>
                  </a:moveTo>
                  <a:lnTo>
                    <a:pt x="29" y="1"/>
                  </a:lnTo>
                  <a:lnTo>
                    <a:pt x="0" y="11"/>
                  </a:lnTo>
                  <a:lnTo>
                    <a:pt x="19" y="9"/>
                  </a:lnTo>
                  <a:lnTo>
                    <a:pt x="48" y="4"/>
                  </a:lnTo>
                  <a:lnTo>
                    <a:pt x="109" y="20"/>
                  </a:lnTo>
                  <a:lnTo>
                    <a:pt x="143" y="30"/>
                  </a:lnTo>
                  <a:lnTo>
                    <a:pt x="181" y="36"/>
                  </a:lnTo>
                  <a:lnTo>
                    <a:pt x="188" y="30"/>
                  </a:lnTo>
                  <a:lnTo>
                    <a:pt x="146" y="22"/>
                  </a:lnTo>
                  <a:lnTo>
                    <a:pt x="97" y="11"/>
                  </a:lnTo>
                  <a:lnTo>
                    <a:pt x="5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0" name="Freeform 283"/>
            <p:cNvSpPr>
              <a:spLocks/>
            </p:cNvSpPr>
            <p:nvPr/>
          </p:nvSpPr>
          <p:spPr bwMode="auto">
            <a:xfrm>
              <a:off x="5295" y="1929"/>
              <a:ext cx="13" cy="3"/>
            </a:xfrm>
            <a:custGeom>
              <a:avLst/>
              <a:gdLst>
                <a:gd name="T0" fmla="*/ 0 w 76"/>
                <a:gd name="T1" fmla="*/ 0 h 17"/>
                <a:gd name="T2" fmla="*/ 0 w 76"/>
                <a:gd name="T3" fmla="*/ 0 h 17"/>
                <a:gd name="T4" fmla="*/ 0 w 76"/>
                <a:gd name="T5" fmla="*/ 0 h 17"/>
                <a:gd name="T6" fmla="*/ 0 w 76"/>
                <a:gd name="T7" fmla="*/ 0 h 17"/>
                <a:gd name="T8" fmla="*/ 0 w 76"/>
                <a:gd name="T9" fmla="*/ 0 h 17"/>
                <a:gd name="T10" fmla="*/ 0 w 76"/>
                <a:gd name="T11" fmla="*/ 0 h 17"/>
                <a:gd name="T12" fmla="*/ 0 w 76"/>
                <a:gd name="T13" fmla="*/ 0 h 1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6" h="17">
                  <a:moveTo>
                    <a:pt x="0" y="8"/>
                  </a:moveTo>
                  <a:lnTo>
                    <a:pt x="8" y="17"/>
                  </a:lnTo>
                  <a:lnTo>
                    <a:pt x="36" y="12"/>
                  </a:lnTo>
                  <a:lnTo>
                    <a:pt x="67" y="12"/>
                  </a:lnTo>
                  <a:lnTo>
                    <a:pt x="76" y="0"/>
                  </a:lnTo>
                  <a:lnTo>
                    <a:pt x="55" y="4"/>
                  </a:lnTo>
                  <a:lnTo>
                    <a:pt x="0" y="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1" name="Freeform 284"/>
            <p:cNvSpPr>
              <a:spLocks/>
            </p:cNvSpPr>
            <p:nvPr/>
          </p:nvSpPr>
          <p:spPr bwMode="auto">
            <a:xfrm>
              <a:off x="5268" y="1926"/>
              <a:ext cx="3" cy="6"/>
            </a:xfrm>
            <a:custGeom>
              <a:avLst/>
              <a:gdLst>
                <a:gd name="T0" fmla="*/ 0 w 19"/>
                <a:gd name="T1" fmla="*/ 0 h 32"/>
                <a:gd name="T2" fmla="*/ 0 w 19"/>
                <a:gd name="T3" fmla="*/ 0 h 32"/>
                <a:gd name="T4" fmla="*/ 0 w 19"/>
                <a:gd name="T5" fmla="*/ 0 h 32"/>
                <a:gd name="T6" fmla="*/ 0 w 19"/>
                <a:gd name="T7" fmla="*/ 0 h 32"/>
                <a:gd name="T8" fmla="*/ 0 w 19"/>
                <a:gd name="T9" fmla="*/ 0 h 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32">
                  <a:moveTo>
                    <a:pt x="19" y="0"/>
                  </a:moveTo>
                  <a:lnTo>
                    <a:pt x="19" y="9"/>
                  </a:lnTo>
                  <a:lnTo>
                    <a:pt x="14" y="24"/>
                  </a:lnTo>
                  <a:lnTo>
                    <a:pt x="0" y="32"/>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2" name="Freeform 285"/>
            <p:cNvSpPr>
              <a:spLocks/>
            </p:cNvSpPr>
            <p:nvPr/>
          </p:nvSpPr>
          <p:spPr bwMode="auto">
            <a:xfrm>
              <a:off x="5277" y="1940"/>
              <a:ext cx="3" cy="3"/>
            </a:xfrm>
            <a:custGeom>
              <a:avLst/>
              <a:gdLst>
                <a:gd name="T0" fmla="*/ 0 w 14"/>
                <a:gd name="T1" fmla="*/ 0 h 18"/>
                <a:gd name="T2" fmla="*/ 0 w 14"/>
                <a:gd name="T3" fmla="*/ 0 h 18"/>
                <a:gd name="T4" fmla="*/ 0 w 14"/>
                <a:gd name="T5" fmla="*/ 0 h 18"/>
                <a:gd name="T6" fmla="*/ 0 w 14"/>
                <a:gd name="T7" fmla="*/ 0 h 1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18">
                  <a:moveTo>
                    <a:pt x="14" y="0"/>
                  </a:moveTo>
                  <a:lnTo>
                    <a:pt x="11" y="9"/>
                  </a:lnTo>
                  <a:lnTo>
                    <a:pt x="0" y="18"/>
                  </a:lnTo>
                  <a:lnTo>
                    <a:pt x="1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3" name="Freeform 286"/>
            <p:cNvSpPr>
              <a:spLocks/>
            </p:cNvSpPr>
            <p:nvPr/>
          </p:nvSpPr>
          <p:spPr bwMode="auto">
            <a:xfrm>
              <a:off x="5319" y="1921"/>
              <a:ext cx="6" cy="7"/>
            </a:xfrm>
            <a:custGeom>
              <a:avLst/>
              <a:gdLst>
                <a:gd name="T0" fmla="*/ 0 w 35"/>
                <a:gd name="T1" fmla="*/ 0 h 43"/>
                <a:gd name="T2" fmla="*/ 0 w 35"/>
                <a:gd name="T3" fmla="*/ 0 h 43"/>
                <a:gd name="T4" fmla="*/ 0 w 35"/>
                <a:gd name="T5" fmla="*/ 0 h 43"/>
                <a:gd name="T6" fmla="*/ 0 w 35"/>
                <a:gd name="T7" fmla="*/ 0 h 43"/>
                <a:gd name="T8" fmla="*/ 0 w 35"/>
                <a:gd name="T9" fmla="*/ 0 h 4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43">
                  <a:moveTo>
                    <a:pt x="0" y="0"/>
                  </a:moveTo>
                  <a:lnTo>
                    <a:pt x="7" y="14"/>
                  </a:lnTo>
                  <a:lnTo>
                    <a:pt x="7" y="24"/>
                  </a:lnTo>
                  <a:lnTo>
                    <a:pt x="35" y="4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4" name="Freeform 287"/>
            <p:cNvSpPr>
              <a:spLocks/>
            </p:cNvSpPr>
            <p:nvPr/>
          </p:nvSpPr>
          <p:spPr bwMode="auto">
            <a:xfrm>
              <a:off x="5330" y="1921"/>
              <a:ext cx="19" cy="19"/>
            </a:xfrm>
            <a:custGeom>
              <a:avLst/>
              <a:gdLst>
                <a:gd name="T0" fmla="*/ 0 w 114"/>
                <a:gd name="T1" fmla="*/ 0 h 114"/>
                <a:gd name="T2" fmla="*/ 0 w 114"/>
                <a:gd name="T3" fmla="*/ 0 h 114"/>
                <a:gd name="T4" fmla="*/ 0 w 114"/>
                <a:gd name="T5" fmla="*/ 0 h 114"/>
                <a:gd name="T6" fmla="*/ 0 w 114"/>
                <a:gd name="T7" fmla="*/ 0 h 114"/>
                <a:gd name="T8" fmla="*/ 0 w 114"/>
                <a:gd name="T9" fmla="*/ 0 h 114"/>
                <a:gd name="T10" fmla="*/ 0 w 114"/>
                <a:gd name="T11" fmla="*/ 0 h 114"/>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4" h="114">
                  <a:moveTo>
                    <a:pt x="0" y="0"/>
                  </a:moveTo>
                  <a:lnTo>
                    <a:pt x="21" y="35"/>
                  </a:lnTo>
                  <a:lnTo>
                    <a:pt x="43" y="63"/>
                  </a:lnTo>
                  <a:lnTo>
                    <a:pt x="114" y="114"/>
                  </a:lnTo>
                  <a:lnTo>
                    <a:pt x="47" y="5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5" name="Freeform 288"/>
            <p:cNvSpPr>
              <a:spLocks/>
            </p:cNvSpPr>
            <p:nvPr/>
          </p:nvSpPr>
          <p:spPr bwMode="auto">
            <a:xfrm>
              <a:off x="5354" y="1948"/>
              <a:ext cx="4" cy="13"/>
            </a:xfrm>
            <a:custGeom>
              <a:avLst/>
              <a:gdLst>
                <a:gd name="T0" fmla="*/ 0 w 27"/>
                <a:gd name="T1" fmla="*/ 0 h 82"/>
                <a:gd name="T2" fmla="*/ 0 w 27"/>
                <a:gd name="T3" fmla="*/ 0 h 82"/>
                <a:gd name="T4" fmla="*/ 0 w 27"/>
                <a:gd name="T5" fmla="*/ 0 h 82"/>
                <a:gd name="T6" fmla="*/ 0 w 27"/>
                <a:gd name="T7" fmla="*/ 0 h 82"/>
                <a:gd name="T8" fmla="*/ 0 w 27"/>
                <a:gd name="T9" fmla="*/ 0 h 82"/>
                <a:gd name="T10" fmla="*/ 0 w 27"/>
                <a:gd name="T11" fmla="*/ 0 h 82"/>
                <a:gd name="T12" fmla="*/ 0 w 27"/>
                <a:gd name="T13" fmla="*/ 0 h 8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7" h="82">
                  <a:moveTo>
                    <a:pt x="27" y="0"/>
                  </a:moveTo>
                  <a:lnTo>
                    <a:pt x="9" y="29"/>
                  </a:lnTo>
                  <a:lnTo>
                    <a:pt x="4" y="57"/>
                  </a:lnTo>
                  <a:lnTo>
                    <a:pt x="3" y="82"/>
                  </a:lnTo>
                  <a:lnTo>
                    <a:pt x="0" y="47"/>
                  </a:lnTo>
                  <a:lnTo>
                    <a:pt x="3" y="21"/>
                  </a:lnTo>
                  <a:lnTo>
                    <a:pt x="2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6" name="Freeform 289"/>
            <p:cNvSpPr>
              <a:spLocks/>
            </p:cNvSpPr>
            <p:nvPr/>
          </p:nvSpPr>
          <p:spPr bwMode="auto">
            <a:xfrm>
              <a:off x="5312" y="1934"/>
              <a:ext cx="2" cy="5"/>
            </a:xfrm>
            <a:custGeom>
              <a:avLst/>
              <a:gdLst>
                <a:gd name="T0" fmla="*/ 0 w 15"/>
                <a:gd name="T1" fmla="*/ 0 h 30"/>
                <a:gd name="T2" fmla="*/ 0 w 15"/>
                <a:gd name="T3" fmla="*/ 0 h 30"/>
                <a:gd name="T4" fmla="*/ 0 w 15"/>
                <a:gd name="T5" fmla="*/ 0 h 30"/>
                <a:gd name="T6" fmla="*/ 0 w 15"/>
                <a:gd name="T7" fmla="*/ 0 h 3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5" h="30">
                  <a:moveTo>
                    <a:pt x="11" y="0"/>
                  </a:moveTo>
                  <a:lnTo>
                    <a:pt x="15" y="12"/>
                  </a:lnTo>
                  <a:lnTo>
                    <a:pt x="0" y="30"/>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97" name="Group 290"/>
          <p:cNvGrpSpPr>
            <a:grpSpLocks/>
          </p:cNvGrpSpPr>
          <p:nvPr/>
        </p:nvGrpSpPr>
        <p:grpSpPr bwMode="auto">
          <a:xfrm>
            <a:off x="7049981" y="3136559"/>
            <a:ext cx="269775" cy="283404"/>
            <a:chOff x="5362" y="1748"/>
            <a:chExt cx="268" cy="305"/>
          </a:xfrm>
        </p:grpSpPr>
        <p:sp>
          <p:nvSpPr>
            <p:cNvPr id="298" name="Freeform 291"/>
            <p:cNvSpPr>
              <a:spLocks/>
            </p:cNvSpPr>
            <p:nvPr/>
          </p:nvSpPr>
          <p:spPr bwMode="auto">
            <a:xfrm>
              <a:off x="5477" y="1748"/>
              <a:ext cx="8" cy="6"/>
            </a:xfrm>
            <a:custGeom>
              <a:avLst/>
              <a:gdLst>
                <a:gd name="T0" fmla="*/ 0 w 51"/>
                <a:gd name="T1" fmla="*/ 0 h 36"/>
                <a:gd name="T2" fmla="*/ 0 w 51"/>
                <a:gd name="T3" fmla="*/ 0 h 36"/>
                <a:gd name="T4" fmla="*/ 0 w 51"/>
                <a:gd name="T5" fmla="*/ 0 h 36"/>
                <a:gd name="T6" fmla="*/ 0 w 51"/>
                <a:gd name="T7" fmla="*/ 0 h 36"/>
                <a:gd name="T8" fmla="*/ 0 w 51"/>
                <a:gd name="T9" fmla="*/ 0 h 36"/>
                <a:gd name="T10" fmla="*/ 0 w 51"/>
                <a:gd name="T11" fmla="*/ 0 h 36"/>
                <a:gd name="T12" fmla="*/ 0 w 51"/>
                <a:gd name="T13" fmla="*/ 0 h 36"/>
                <a:gd name="T14" fmla="*/ 0 w 51"/>
                <a:gd name="T15" fmla="*/ 0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51" h="36">
                  <a:moveTo>
                    <a:pt x="0" y="0"/>
                  </a:moveTo>
                  <a:lnTo>
                    <a:pt x="14" y="10"/>
                  </a:lnTo>
                  <a:lnTo>
                    <a:pt x="29" y="15"/>
                  </a:lnTo>
                  <a:lnTo>
                    <a:pt x="43" y="23"/>
                  </a:lnTo>
                  <a:lnTo>
                    <a:pt x="51" y="36"/>
                  </a:lnTo>
                  <a:lnTo>
                    <a:pt x="39" y="32"/>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9" name="Freeform 292"/>
            <p:cNvSpPr>
              <a:spLocks/>
            </p:cNvSpPr>
            <p:nvPr/>
          </p:nvSpPr>
          <p:spPr bwMode="auto">
            <a:xfrm>
              <a:off x="5479" y="1758"/>
              <a:ext cx="2" cy="4"/>
            </a:xfrm>
            <a:custGeom>
              <a:avLst/>
              <a:gdLst>
                <a:gd name="T0" fmla="*/ 0 w 14"/>
                <a:gd name="T1" fmla="*/ 0 h 24"/>
                <a:gd name="T2" fmla="*/ 0 w 14"/>
                <a:gd name="T3" fmla="*/ 0 h 24"/>
                <a:gd name="T4" fmla="*/ 0 w 14"/>
                <a:gd name="T5" fmla="*/ 0 h 24"/>
                <a:gd name="T6" fmla="*/ 0 w 14"/>
                <a:gd name="T7" fmla="*/ 0 h 2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24">
                  <a:moveTo>
                    <a:pt x="0" y="0"/>
                  </a:moveTo>
                  <a:lnTo>
                    <a:pt x="14" y="0"/>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0" name="Freeform 293"/>
            <p:cNvSpPr>
              <a:spLocks/>
            </p:cNvSpPr>
            <p:nvPr/>
          </p:nvSpPr>
          <p:spPr bwMode="auto">
            <a:xfrm>
              <a:off x="5444" y="1788"/>
              <a:ext cx="71" cy="180"/>
            </a:xfrm>
            <a:custGeom>
              <a:avLst/>
              <a:gdLst>
                <a:gd name="T0" fmla="*/ 0 w 431"/>
                <a:gd name="T1" fmla="*/ 0 h 1076"/>
                <a:gd name="T2" fmla="*/ 0 w 431"/>
                <a:gd name="T3" fmla="*/ 0 h 1076"/>
                <a:gd name="T4" fmla="*/ 0 w 431"/>
                <a:gd name="T5" fmla="*/ 0 h 1076"/>
                <a:gd name="T6" fmla="*/ 0 w 431"/>
                <a:gd name="T7" fmla="*/ 0 h 1076"/>
                <a:gd name="T8" fmla="*/ 0 w 431"/>
                <a:gd name="T9" fmla="*/ 0 h 1076"/>
                <a:gd name="T10" fmla="*/ 0 w 431"/>
                <a:gd name="T11" fmla="*/ 0 h 1076"/>
                <a:gd name="T12" fmla="*/ 0 w 431"/>
                <a:gd name="T13" fmla="*/ 0 h 1076"/>
                <a:gd name="T14" fmla="*/ 0 w 431"/>
                <a:gd name="T15" fmla="*/ 0 h 1076"/>
                <a:gd name="T16" fmla="*/ 0 w 431"/>
                <a:gd name="T17" fmla="*/ 0 h 1076"/>
                <a:gd name="T18" fmla="*/ 0 w 431"/>
                <a:gd name="T19" fmla="*/ 0 h 1076"/>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431" h="1076">
                  <a:moveTo>
                    <a:pt x="369" y="0"/>
                  </a:moveTo>
                  <a:lnTo>
                    <a:pt x="328" y="44"/>
                  </a:lnTo>
                  <a:lnTo>
                    <a:pt x="317" y="108"/>
                  </a:lnTo>
                  <a:lnTo>
                    <a:pt x="254" y="170"/>
                  </a:lnTo>
                  <a:lnTo>
                    <a:pt x="126" y="461"/>
                  </a:lnTo>
                  <a:lnTo>
                    <a:pt x="57" y="724"/>
                  </a:lnTo>
                  <a:lnTo>
                    <a:pt x="0" y="1076"/>
                  </a:lnTo>
                  <a:lnTo>
                    <a:pt x="178" y="919"/>
                  </a:lnTo>
                  <a:lnTo>
                    <a:pt x="431" y="140"/>
                  </a:lnTo>
                  <a:lnTo>
                    <a:pt x="369" y="0"/>
                  </a:lnTo>
                  <a:close/>
                </a:path>
              </a:pathLst>
            </a:custGeom>
            <a:solidFill>
              <a:srgbClr val="40000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1" name="Freeform 294"/>
            <p:cNvSpPr>
              <a:spLocks/>
            </p:cNvSpPr>
            <p:nvPr/>
          </p:nvSpPr>
          <p:spPr bwMode="auto">
            <a:xfrm>
              <a:off x="5362" y="1754"/>
              <a:ext cx="268" cy="299"/>
            </a:xfrm>
            <a:custGeom>
              <a:avLst/>
              <a:gdLst>
                <a:gd name="T0" fmla="*/ 0 w 1606"/>
                <a:gd name="T1" fmla="*/ 0 h 1792"/>
                <a:gd name="T2" fmla="*/ 0 w 1606"/>
                <a:gd name="T3" fmla="*/ 0 h 1792"/>
                <a:gd name="T4" fmla="*/ 0 w 1606"/>
                <a:gd name="T5" fmla="*/ 0 h 1792"/>
                <a:gd name="T6" fmla="*/ 0 w 1606"/>
                <a:gd name="T7" fmla="*/ 0 h 1792"/>
                <a:gd name="T8" fmla="*/ 0 w 1606"/>
                <a:gd name="T9" fmla="*/ 0 h 1792"/>
                <a:gd name="T10" fmla="*/ 0 w 1606"/>
                <a:gd name="T11" fmla="*/ 0 h 1792"/>
                <a:gd name="T12" fmla="*/ 0 w 1606"/>
                <a:gd name="T13" fmla="*/ 0 h 1792"/>
                <a:gd name="T14" fmla="*/ 0 w 1606"/>
                <a:gd name="T15" fmla="*/ 0 h 1792"/>
                <a:gd name="T16" fmla="*/ 0 w 1606"/>
                <a:gd name="T17" fmla="*/ 0 h 1792"/>
                <a:gd name="T18" fmla="*/ 0 w 1606"/>
                <a:gd name="T19" fmla="*/ 0 h 1792"/>
                <a:gd name="T20" fmla="*/ 0 w 1606"/>
                <a:gd name="T21" fmla="*/ 0 h 1792"/>
                <a:gd name="T22" fmla="*/ 0 w 1606"/>
                <a:gd name="T23" fmla="*/ 0 h 1792"/>
                <a:gd name="T24" fmla="*/ 0 w 1606"/>
                <a:gd name="T25" fmla="*/ 0 h 1792"/>
                <a:gd name="T26" fmla="*/ 0 w 1606"/>
                <a:gd name="T27" fmla="*/ 0 h 1792"/>
                <a:gd name="T28" fmla="*/ 0 w 1606"/>
                <a:gd name="T29" fmla="*/ 0 h 1792"/>
                <a:gd name="T30" fmla="*/ 0 w 1606"/>
                <a:gd name="T31" fmla="*/ 0 h 1792"/>
                <a:gd name="T32" fmla="*/ 0 w 1606"/>
                <a:gd name="T33" fmla="*/ 0 h 1792"/>
                <a:gd name="T34" fmla="*/ 0 w 1606"/>
                <a:gd name="T35" fmla="*/ 0 h 1792"/>
                <a:gd name="T36" fmla="*/ 0 w 1606"/>
                <a:gd name="T37" fmla="*/ 0 h 1792"/>
                <a:gd name="T38" fmla="*/ 0 w 1606"/>
                <a:gd name="T39" fmla="*/ 0 h 1792"/>
                <a:gd name="T40" fmla="*/ 0 w 1606"/>
                <a:gd name="T41" fmla="*/ 0 h 1792"/>
                <a:gd name="T42" fmla="*/ 0 w 1606"/>
                <a:gd name="T43" fmla="*/ 0 h 1792"/>
                <a:gd name="T44" fmla="*/ 0 w 1606"/>
                <a:gd name="T45" fmla="*/ 0 h 1792"/>
                <a:gd name="T46" fmla="*/ 0 w 1606"/>
                <a:gd name="T47" fmla="*/ 0 h 1792"/>
                <a:gd name="T48" fmla="*/ 0 w 1606"/>
                <a:gd name="T49" fmla="*/ 0 h 1792"/>
                <a:gd name="T50" fmla="*/ 0 w 1606"/>
                <a:gd name="T51" fmla="*/ 0 h 1792"/>
                <a:gd name="T52" fmla="*/ 0 w 1606"/>
                <a:gd name="T53" fmla="*/ 0 h 1792"/>
                <a:gd name="T54" fmla="*/ 0 w 1606"/>
                <a:gd name="T55" fmla="*/ 0 h 1792"/>
                <a:gd name="T56" fmla="*/ 0 w 1606"/>
                <a:gd name="T57" fmla="*/ 0 h 1792"/>
                <a:gd name="T58" fmla="*/ 0 w 1606"/>
                <a:gd name="T59" fmla="*/ 0 h 1792"/>
                <a:gd name="T60" fmla="*/ 0 w 1606"/>
                <a:gd name="T61" fmla="*/ 0 h 1792"/>
                <a:gd name="T62" fmla="*/ 0 w 1606"/>
                <a:gd name="T63" fmla="*/ 0 h 1792"/>
                <a:gd name="T64" fmla="*/ 0 w 1606"/>
                <a:gd name="T65" fmla="*/ 0 h 1792"/>
                <a:gd name="T66" fmla="*/ 0 w 1606"/>
                <a:gd name="T67" fmla="*/ 0 h 1792"/>
                <a:gd name="T68" fmla="*/ 0 w 1606"/>
                <a:gd name="T69" fmla="*/ 0 h 1792"/>
                <a:gd name="T70" fmla="*/ 0 w 1606"/>
                <a:gd name="T71" fmla="*/ 0 h 1792"/>
                <a:gd name="T72" fmla="*/ 0 w 1606"/>
                <a:gd name="T73" fmla="*/ 0 h 1792"/>
                <a:gd name="T74" fmla="*/ 0 w 1606"/>
                <a:gd name="T75" fmla="*/ 0 h 1792"/>
                <a:gd name="T76" fmla="*/ 0 w 1606"/>
                <a:gd name="T77" fmla="*/ 0 h 1792"/>
                <a:gd name="T78" fmla="*/ 0 w 1606"/>
                <a:gd name="T79" fmla="*/ 0 h 1792"/>
                <a:gd name="T80" fmla="*/ 0 w 1606"/>
                <a:gd name="T81" fmla="*/ 0 h 1792"/>
                <a:gd name="T82" fmla="*/ 0 w 1606"/>
                <a:gd name="T83" fmla="*/ 0 h 1792"/>
                <a:gd name="T84" fmla="*/ 0 w 1606"/>
                <a:gd name="T85" fmla="*/ 0 h 1792"/>
                <a:gd name="T86" fmla="*/ 0 w 1606"/>
                <a:gd name="T87" fmla="*/ 0 h 1792"/>
                <a:gd name="T88" fmla="*/ 0 w 1606"/>
                <a:gd name="T89" fmla="*/ 0 h 1792"/>
                <a:gd name="T90" fmla="*/ 0 w 1606"/>
                <a:gd name="T91" fmla="*/ 0 h 179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606" h="1792">
                  <a:moveTo>
                    <a:pt x="1309" y="94"/>
                  </a:moveTo>
                  <a:lnTo>
                    <a:pt x="1258" y="0"/>
                  </a:lnTo>
                  <a:lnTo>
                    <a:pt x="867" y="163"/>
                  </a:lnTo>
                  <a:lnTo>
                    <a:pt x="850" y="288"/>
                  </a:lnTo>
                  <a:lnTo>
                    <a:pt x="818" y="332"/>
                  </a:lnTo>
                  <a:lnTo>
                    <a:pt x="773" y="382"/>
                  </a:lnTo>
                  <a:lnTo>
                    <a:pt x="747" y="472"/>
                  </a:lnTo>
                  <a:lnTo>
                    <a:pt x="660" y="678"/>
                  </a:lnTo>
                  <a:lnTo>
                    <a:pt x="590" y="924"/>
                  </a:lnTo>
                  <a:lnTo>
                    <a:pt x="558" y="1088"/>
                  </a:lnTo>
                  <a:lnTo>
                    <a:pt x="243" y="1094"/>
                  </a:lnTo>
                  <a:lnTo>
                    <a:pt x="192" y="1125"/>
                  </a:lnTo>
                  <a:lnTo>
                    <a:pt x="47" y="1125"/>
                  </a:lnTo>
                  <a:lnTo>
                    <a:pt x="7" y="1189"/>
                  </a:lnTo>
                  <a:lnTo>
                    <a:pt x="0" y="1264"/>
                  </a:lnTo>
                  <a:lnTo>
                    <a:pt x="15" y="1332"/>
                  </a:lnTo>
                  <a:lnTo>
                    <a:pt x="148" y="1358"/>
                  </a:lnTo>
                  <a:lnTo>
                    <a:pt x="211" y="1452"/>
                  </a:lnTo>
                  <a:lnTo>
                    <a:pt x="337" y="1484"/>
                  </a:lnTo>
                  <a:lnTo>
                    <a:pt x="430" y="1484"/>
                  </a:lnTo>
                  <a:lnTo>
                    <a:pt x="538" y="1503"/>
                  </a:lnTo>
                  <a:lnTo>
                    <a:pt x="544" y="1548"/>
                  </a:lnTo>
                  <a:lnTo>
                    <a:pt x="538" y="1642"/>
                  </a:lnTo>
                  <a:lnTo>
                    <a:pt x="550" y="1705"/>
                  </a:lnTo>
                  <a:lnTo>
                    <a:pt x="608" y="1712"/>
                  </a:lnTo>
                  <a:lnTo>
                    <a:pt x="677" y="1724"/>
                  </a:lnTo>
                  <a:lnTo>
                    <a:pt x="747" y="1786"/>
                  </a:lnTo>
                  <a:lnTo>
                    <a:pt x="830" y="1786"/>
                  </a:lnTo>
                  <a:lnTo>
                    <a:pt x="905" y="1779"/>
                  </a:lnTo>
                  <a:lnTo>
                    <a:pt x="1019" y="1744"/>
                  </a:lnTo>
                  <a:lnTo>
                    <a:pt x="1145" y="1756"/>
                  </a:lnTo>
                  <a:lnTo>
                    <a:pt x="1273" y="1792"/>
                  </a:lnTo>
                  <a:lnTo>
                    <a:pt x="1392" y="1766"/>
                  </a:lnTo>
                  <a:lnTo>
                    <a:pt x="1473" y="1674"/>
                  </a:lnTo>
                  <a:lnTo>
                    <a:pt x="1467" y="1571"/>
                  </a:lnTo>
                  <a:lnTo>
                    <a:pt x="1497" y="1446"/>
                  </a:lnTo>
                  <a:lnTo>
                    <a:pt x="1516" y="1282"/>
                  </a:lnTo>
                  <a:lnTo>
                    <a:pt x="1554" y="1131"/>
                  </a:lnTo>
                  <a:lnTo>
                    <a:pt x="1606" y="906"/>
                  </a:lnTo>
                  <a:lnTo>
                    <a:pt x="1598" y="678"/>
                  </a:lnTo>
                  <a:lnTo>
                    <a:pt x="1598" y="478"/>
                  </a:lnTo>
                  <a:lnTo>
                    <a:pt x="1586" y="338"/>
                  </a:lnTo>
                  <a:lnTo>
                    <a:pt x="1554" y="276"/>
                  </a:lnTo>
                  <a:lnTo>
                    <a:pt x="1484" y="225"/>
                  </a:lnTo>
                  <a:lnTo>
                    <a:pt x="1403" y="142"/>
                  </a:lnTo>
                  <a:lnTo>
                    <a:pt x="1309" y="94"/>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2" name="Freeform 295"/>
            <p:cNvSpPr>
              <a:spLocks/>
            </p:cNvSpPr>
            <p:nvPr/>
          </p:nvSpPr>
          <p:spPr bwMode="auto">
            <a:xfrm>
              <a:off x="5456" y="1772"/>
              <a:ext cx="169" cy="278"/>
            </a:xfrm>
            <a:custGeom>
              <a:avLst/>
              <a:gdLst>
                <a:gd name="T0" fmla="*/ 0 w 1014"/>
                <a:gd name="T1" fmla="*/ 0 h 1671"/>
                <a:gd name="T2" fmla="*/ 0 w 1014"/>
                <a:gd name="T3" fmla="*/ 0 h 1671"/>
                <a:gd name="T4" fmla="*/ 0 w 1014"/>
                <a:gd name="T5" fmla="*/ 0 h 1671"/>
                <a:gd name="T6" fmla="*/ 0 w 1014"/>
                <a:gd name="T7" fmla="*/ 0 h 1671"/>
                <a:gd name="T8" fmla="*/ 0 w 1014"/>
                <a:gd name="T9" fmla="*/ 0 h 1671"/>
                <a:gd name="T10" fmla="*/ 0 w 1014"/>
                <a:gd name="T11" fmla="*/ 0 h 1671"/>
                <a:gd name="T12" fmla="*/ 0 w 1014"/>
                <a:gd name="T13" fmla="*/ 0 h 1671"/>
                <a:gd name="T14" fmla="*/ 0 w 1014"/>
                <a:gd name="T15" fmla="*/ 0 h 1671"/>
                <a:gd name="T16" fmla="*/ 0 w 1014"/>
                <a:gd name="T17" fmla="*/ 0 h 1671"/>
                <a:gd name="T18" fmla="*/ 0 w 1014"/>
                <a:gd name="T19" fmla="*/ 0 h 1671"/>
                <a:gd name="T20" fmla="*/ 0 w 1014"/>
                <a:gd name="T21" fmla="*/ 0 h 1671"/>
                <a:gd name="T22" fmla="*/ 0 w 1014"/>
                <a:gd name="T23" fmla="*/ 0 h 1671"/>
                <a:gd name="T24" fmla="*/ 0 w 1014"/>
                <a:gd name="T25" fmla="*/ 0 h 1671"/>
                <a:gd name="T26" fmla="*/ 0 w 1014"/>
                <a:gd name="T27" fmla="*/ 0 h 1671"/>
                <a:gd name="T28" fmla="*/ 0 w 1014"/>
                <a:gd name="T29" fmla="*/ 0 h 1671"/>
                <a:gd name="T30" fmla="*/ 0 w 1014"/>
                <a:gd name="T31" fmla="*/ 0 h 1671"/>
                <a:gd name="T32" fmla="*/ 0 w 1014"/>
                <a:gd name="T33" fmla="*/ 0 h 1671"/>
                <a:gd name="T34" fmla="*/ 0 w 1014"/>
                <a:gd name="T35" fmla="*/ 0 h 1671"/>
                <a:gd name="T36" fmla="*/ 0 w 1014"/>
                <a:gd name="T37" fmla="*/ 0 h 1671"/>
                <a:gd name="T38" fmla="*/ 0 w 1014"/>
                <a:gd name="T39" fmla="*/ 0 h 1671"/>
                <a:gd name="T40" fmla="*/ 0 w 1014"/>
                <a:gd name="T41" fmla="*/ 0 h 1671"/>
                <a:gd name="T42" fmla="*/ 0 w 1014"/>
                <a:gd name="T43" fmla="*/ 0 h 1671"/>
                <a:gd name="T44" fmla="*/ 0 w 1014"/>
                <a:gd name="T45" fmla="*/ 0 h 1671"/>
                <a:gd name="T46" fmla="*/ 0 w 1014"/>
                <a:gd name="T47" fmla="*/ 0 h 1671"/>
                <a:gd name="T48" fmla="*/ 0 w 1014"/>
                <a:gd name="T49" fmla="*/ 0 h 1671"/>
                <a:gd name="T50" fmla="*/ 0 w 1014"/>
                <a:gd name="T51" fmla="*/ 0 h 1671"/>
                <a:gd name="T52" fmla="*/ 0 w 1014"/>
                <a:gd name="T53" fmla="*/ 0 h 1671"/>
                <a:gd name="T54" fmla="*/ 0 w 1014"/>
                <a:gd name="T55" fmla="*/ 0 h 1671"/>
                <a:gd name="T56" fmla="*/ 0 w 1014"/>
                <a:gd name="T57" fmla="*/ 0 h 1671"/>
                <a:gd name="T58" fmla="*/ 0 w 1014"/>
                <a:gd name="T59" fmla="*/ 0 h 1671"/>
                <a:gd name="T60" fmla="*/ 0 w 1014"/>
                <a:gd name="T61" fmla="*/ 0 h 1671"/>
                <a:gd name="T62" fmla="*/ 0 w 1014"/>
                <a:gd name="T63" fmla="*/ 0 h 1671"/>
                <a:gd name="T64" fmla="*/ 0 w 1014"/>
                <a:gd name="T65" fmla="*/ 0 h 1671"/>
                <a:gd name="T66" fmla="*/ 0 w 1014"/>
                <a:gd name="T67" fmla="*/ 0 h 1671"/>
                <a:gd name="T68" fmla="*/ 0 w 1014"/>
                <a:gd name="T69" fmla="*/ 0 h 1671"/>
                <a:gd name="T70" fmla="*/ 0 w 1014"/>
                <a:gd name="T71" fmla="*/ 0 h 1671"/>
                <a:gd name="T72" fmla="*/ 0 w 1014"/>
                <a:gd name="T73" fmla="*/ 0 h 1671"/>
                <a:gd name="T74" fmla="*/ 0 w 1014"/>
                <a:gd name="T75" fmla="*/ 0 h 1671"/>
                <a:gd name="T76" fmla="*/ 0 w 1014"/>
                <a:gd name="T77" fmla="*/ 0 h 1671"/>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014" h="1671">
                  <a:moveTo>
                    <a:pt x="0" y="1402"/>
                  </a:moveTo>
                  <a:lnTo>
                    <a:pt x="132" y="1382"/>
                  </a:lnTo>
                  <a:lnTo>
                    <a:pt x="245" y="1376"/>
                  </a:lnTo>
                  <a:lnTo>
                    <a:pt x="370" y="1363"/>
                  </a:lnTo>
                  <a:lnTo>
                    <a:pt x="509" y="1344"/>
                  </a:lnTo>
                  <a:lnTo>
                    <a:pt x="573" y="1301"/>
                  </a:lnTo>
                  <a:lnTo>
                    <a:pt x="744" y="1088"/>
                  </a:lnTo>
                  <a:lnTo>
                    <a:pt x="656" y="1149"/>
                  </a:lnTo>
                  <a:lnTo>
                    <a:pt x="598" y="1201"/>
                  </a:lnTo>
                  <a:lnTo>
                    <a:pt x="630" y="1050"/>
                  </a:lnTo>
                  <a:lnTo>
                    <a:pt x="693" y="992"/>
                  </a:lnTo>
                  <a:lnTo>
                    <a:pt x="787" y="837"/>
                  </a:lnTo>
                  <a:lnTo>
                    <a:pt x="699" y="911"/>
                  </a:lnTo>
                  <a:lnTo>
                    <a:pt x="642" y="931"/>
                  </a:lnTo>
                  <a:lnTo>
                    <a:pt x="656" y="823"/>
                  </a:lnTo>
                  <a:lnTo>
                    <a:pt x="718" y="741"/>
                  </a:lnTo>
                  <a:lnTo>
                    <a:pt x="781" y="679"/>
                  </a:lnTo>
                  <a:lnTo>
                    <a:pt x="845" y="497"/>
                  </a:lnTo>
                  <a:lnTo>
                    <a:pt x="724" y="647"/>
                  </a:lnTo>
                  <a:lnTo>
                    <a:pt x="656" y="703"/>
                  </a:lnTo>
                  <a:lnTo>
                    <a:pt x="648" y="471"/>
                  </a:lnTo>
                  <a:lnTo>
                    <a:pt x="630" y="378"/>
                  </a:lnTo>
                  <a:lnTo>
                    <a:pt x="592" y="334"/>
                  </a:lnTo>
                  <a:lnTo>
                    <a:pt x="535" y="264"/>
                  </a:lnTo>
                  <a:lnTo>
                    <a:pt x="445" y="232"/>
                  </a:lnTo>
                  <a:lnTo>
                    <a:pt x="402" y="214"/>
                  </a:lnTo>
                  <a:lnTo>
                    <a:pt x="528" y="94"/>
                  </a:lnTo>
                  <a:lnTo>
                    <a:pt x="661" y="126"/>
                  </a:lnTo>
                  <a:lnTo>
                    <a:pt x="750" y="176"/>
                  </a:lnTo>
                  <a:lnTo>
                    <a:pt x="781" y="226"/>
                  </a:lnTo>
                  <a:lnTo>
                    <a:pt x="756" y="150"/>
                  </a:lnTo>
                  <a:lnTo>
                    <a:pt x="705" y="126"/>
                  </a:lnTo>
                  <a:lnTo>
                    <a:pt x="624" y="94"/>
                  </a:lnTo>
                  <a:lnTo>
                    <a:pt x="560" y="82"/>
                  </a:lnTo>
                  <a:lnTo>
                    <a:pt x="598" y="62"/>
                  </a:lnTo>
                  <a:lnTo>
                    <a:pt x="661" y="44"/>
                  </a:lnTo>
                  <a:lnTo>
                    <a:pt x="718" y="25"/>
                  </a:lnTo>
                  <a:lnTo>
                    <a:pt x="750" y="0"/>
                  </a:lnTo>
                  <a:lnTo>
                    <a:pt x="825" y="50"/>
                  </a:lnTo>
                  <a:lnTo>
                    <a:pt x="868" y="94"/>
                  </a:lnTo>
                  <a:lnTo>
                    <a:pt x="913" y="150"/>
                  </a:lnTo>
                  <a:lnTo>
                    <a:pt x="976" y="182"/>
                  </a:lnTo>
                  <a:lnTo>
                    <a:pt x="988" y="240"/>
                  </a:lnTo>
                  <a:lnTo>
                    <a:pt x="1014" y="334"/>
                  </a:lnTo>
                  <a:lnTo>
                    <a:pt x="1014" y="478"/>
                  </a:lnTo>
                  <a:lnTo>
                    <a:pt x="1008" y="628"/>
                  </a:lnTo>
                  <a:lnTo>
                    <a:pt x="1002" y="799"/>
                  </a:lnTo>
                  <a:lnTo>
                    <a:pt x="970" y="975"/>
                  </a:lnTo>
                  <a:lnTo>
                    <a:pt x="931" y="1157"/>
                  </a:lnTo>
                  <a:lnTo>
                    <a:pt x="913" y="1314"/>
                  </a:lnTo>
                  <a:lnTo>
                    <a:pt x="882" y="1426"/>
                  </a:lnTo>
                  <a:lnTo>
                    <a:pt x="888" y="1527"/>
                  </a:lnTo>
                  <a:lnTo>
                    <a:pt x="875" y="1584"/>
                  </a:lnTo>
                  <a:lnTo>
                    <a:pt x="830" y="1627"/>
                  </a:lnTo>
                  <a:lnTo>
                    <a:pt x="775" y="1664"/>
                  </a:lnTo>
                  <a:lnTo>
                    <a:pt x="699" y="1671"/>
                  </a:lnTo>
                  <a:lnTo>
                    <a:pt x="661" y="1652"/>
                  </a:lnTo>
                  <a:lnTo>
                    <a:pt x="612" y="1648"/>
                  </a:lnTo>
                  <a:lnTo>
                    <a:pt x="490" y="1622"/>
                  </a:lnTo>
                  <a:lnTo>
                    <a:pt x="541" y="1559"/>
                  </a:lnTo>
                  <a:lnTo>
                    <a:pt x="598" y="1470"/>
                  </a:lnTo>
                  <a:lnTo>
                    <a:pt x="516" y="1534"/>
                  </a:lnTo>
                  <a:lnTo>
                    <a:pt x="452" y="1590"/>
                  </a:lnTo>
                  <a:lnTo>
                    <a:pt x="407" y="1622"/>
                  </a:lnTo>
                  <a:lnTo>
                    <a:pt x="345" y="1652"/>
                  </a:lnTo>
                  <a:lnTo>
                    <a:pt x="276" y="1652"/>
                  </a:lnTo>
                  <a:lnTo>
                    <a:pt x="208" y="1652"/>
                  </a:lnTo>
                  <a:lnTo>
                    <a:pt x="170" y="1636"/>
                  </a:lnTo>
                  <a:lnTo>
                    <a:pt x="151" y="1616"/>
                  </a:lnTo>
                  <a:lnTo>
                    <a:pt x="240" y="1565"/>
                  </a:lnTo>
                  <a:lnTo>
                    <a:pt x="327" y="1484"/>
                  </a:lnTo>
                  <a:lnTo>
                    <a:pt x="352" y="1446"/>
                  </a:lnTo>
                  <a:lnTo>
                    <a:pt x="282" y="1463"/>
                  </a:lnTo>
                  <a:lnTo>
                    <a:pt x="176" y="1546"/>
                  </a:lnTo>
                  <a:lnTo>
                    <a:pt x="132" y="1584"/>
                  </a:lnTo>
                  <a:lnTo>
                    <a:pt x="32" y="1590"/>
                  </a:lnTo>
                  <a:lnTo>
                    <a:pt x="0" y="1572"/>
                  </a:lnTo>
                  <a:lnTo>
                    <a:pt x="0" y="1527"/>
                  </a:lnTo>
                  <a:lnTo>
                    <a:pt x="0" y="1402"/>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3" name="Freeform 296"/>
            <p:cNvSpPr>
              <a:spLocks/>
            </p:cNvSpPr>
            <p:nvPr/>
          </p:nvSpPr>
          <p:spPr bwMode="auto">
            <a:xfrm>
              <a:off x="5563" y="1910"/>
              <a:ext cx="50" cy="129"/>
            </a:xfrm>
            <a:custGeom>
              <a:avLst/>
              <a:gdLst>
                <a:gd name="T0" fmla="*/ 0 w 295"/>
                <a:gd name="T1" fmla="*/ 0 h 774"/>
                <a:gd name="T2" fmla="*/ 0 w 295"/>
                <a:gd name="T3" fmla="*/ 0 h 774"/>
                <a:gd name="T4" fmla="*/ 0 w 295"/>
                <a:gd name="T5" fmla="*/ 0 h 774"/>
                <a:gd name="T6" fmla="*/ 0 w 295"/>
                <a:gd name="T7" fmla="*/ 0 h 774"/>
                <a:gd name="T8" fmla="*/ 0 w 295"/>
                <a:gd name="T9" fmla="*/ 0 h 774"/>
                <a:gd name="T10" fmla="*/ 0 w 295"/>
                <a:gd name="T11" fmla="*/ 0 h 774"/>
                <a:gd name="T12" fmla="*/ 0 w 295"/>
                <a:gd name="T13" fmla="*/ 0 h 774"/>
                <a:gd name="T14" fmla="*/ 0 w 295"/>
                <a:gd name="T15" fmla="*/ 0 h 774"/>
                <a:gd name="T16" fmla="*/ 0 w 295"/>
                <a:gd name="T17" fmla="*/ 0 h 774"/>
                <a:gd name="T18" fmla="*/ 0 w 295"/>
                <a:gd name="T19" fmla="*/ 0 h 774"/>
                <a:gd name="T20" fmla="*/ 0 w 295"/>
                <a:gd name="T21" fmla="*/ 0 h 774"/>
                <a:gd name="T22" fmla="*/ 0 w 295"/>
                <a:gd name="T23" fmla="*/ 0 h 774"/>
                <a:gd name="T24" fmla="*/ 0 w 295"/>
                <a:gd name="T25" fmla="*/ 0 h 774"/>
                <a:gd name="T26" fmla="*/ 0 w 295"/>
                <a:gd name="T27" fmla="*/ 0 h 77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95" h="774">
                  <a:moveTo>
                    <a:pt x="0" y="774"/>
                  </a:moveTo>
                  <a:lnTo>
                    <a:pt x="51" y="748"/>
                  </a:lnTo>
                  <a:lnTo>
                    <a:pt x="107" y="686"/>
                  </a:lnTo>
                  <a:lnTo>
                    <a:pt x="156" y="573"/>
                  </a:lnTo>
                  <a:lnTo>
                    <a:pt x="183" y="477"/>
                  </a:lnTo>
                  <a:lnTo>
                    <a:pt x="220" y="371"/>
                  </a:lnTo>
                  <a:lnTo>
                    <a:pt x="239" y="270"/>
                  </a:lnTo>
                  <a:lnTo>
                    <a:pt x="270" y="114"/>
                  </a:lnTo>
                  <a:lnTo>
                    <a:pt x="295" y="0"/>
                  </a:lnTo>
                  <a:lnTo>
                    <a:pt x="232" y="226"/>
                  </a:lnTo>
                  <a:lnTo>
                    <a:pt x="183" y="402"/>
                  </a:lnTo>
                  <a:lnTo>
                    <a:pt x="126" y="521"/>
                  </a:lnTo>
                  <a:lnTo>
                    <a:pt x="38" y="648"/>
                  </a:lnTo>
                  <a:lnTo>
                    <a:pt x="0" y="77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4" name="Freeform 297"/>
            <p:cNvSpPr>
              <a:spLocks/>
            </p:cNvSpPr>
            <p:nvPr/>
          </p:nvSpPr>
          <p:spPr bwMode="auto">
            <a:xfrm>
              <a:off x="5367" y="1806"/>
              <a:ext cx="195" cy="194"/>
            </a:xfrm>
            <a:custGeom>
              <a:avLst/>
              <a:gdLst>
                <a:gd name="T0" fmla="*/ 0 w 1172"/>
                <a:gd name="T1" fmla="*/ 0 h 1162"/>
                <a:gd name="T2" fmla="*/ 0 w 1172"/>
                <a:gd name="T3" fmla="*/ 0 h 1162"/>
                <a:gd name="T4" fmla="*/ 0 w 1172"/>
                <a:gd name="T5" fmla="*/ 0 h 1162"/>
                <a:gd name="T6" fmla="*/ 0 w 1172"/>
                <a:gd name="T7" fmla="*/ 0 h 1162"/>
                <a:gd name="T8" fmla="*/ 0 w 1172"/>
                <a:gd name="T9" fmla="*/ 0 h 1162"/>
                <a:gd name="T10" fmla="*/ 0 w 1172"/>
                <a:gd name="T11" fmla="*/ 0 h 1162"/>
                <a:gd name="T12" fmla="*/ 0 w 1172"/>
                <a:gd name="T13" fmla="*/ 0 h 1162"/>
                <a:gd name="T14" fmla="*/ 0 w 1172"/>
                <a:gd name="T15" fmla="*/ 0 h 1162"/>
                <a:gd name="T16" fmla="*/ 0 w 1172"/>
                <a:gd name="T17" fmla="*/ 0 h 1162"/>
                <a:gd name="T18" fmla="*/ 0 w 1172"/>
                <a:gd name="T19" fmla="*/ 0 h 1162"/>
                <a:gd name="T20" fmla="*/ 0 w 1172"/>
                <a:gd name="T21" fmla="*/ 0 h 1162"/>
                <a:gd name="T22" fmla="*/ 0 w 1172"/>
                <a:gd name="T23" fmla="*/ 0 h 1162"/>
                <a:gd name="T24" fmla="*/ 0 w 1172"/>
                <a:gd name="T25" fmla="*/ 0 h 1162"/>
                <a:gd name="T26" fmla="*/ 0 w 1172"/>
                <a:gd name="T27" fmla="*/ 0 h 1162"/>
                <a:gd name="T28" fmla="*/ 0 w 1172"/>
                <a:gd name="T29" fmla="*/ 0 h 1162"/>
                <a:gd name="T30" fmla="*/ 0 w 1172"/>
                <a:gd name="T31" fmla="*/ 0 h 1162"/>
                <a:gd name="T32" fmla="*/ 0 w 1172"/>
                <a:gd name="T33" fmla="*/ 0 h 1162"/>
                <a:gd name="T34" fmla="*/ 0 w 1172"/>
                <a:gd name="T35" fmla="*/ 0 h 1162"/>
                <a:gd name="T36" fmla="*/ 0 w 1172"/>
                <a:gd name="T37" fmla="*/ 0 h 1162"/>
                <a:gd name="T38" fmla="*/ 0 w 1172"/>
                <a:gd name="T39" fmla="*/ 0 h 1162"/>
                <a:gd name="T40" fmla="*/ 0 w 1172"/>
                <a:gd name="T41" fmla="*/ 0 h 1162"/>
                <a:gd name="T42" fmla="*/ 0 w 1172"/>
                <a:gd name="T43" fmla="*/ 0 h 1162"/>
                <a:gd name="T44" fmla="*/ 0 w 1172"/>
                <a:gd name="T45" fmla="*/ 0 h 1162"/>
                <a:gd name="T46" fmla="*/ 0 w 1172"/>
                <a:gd name="T47" fmla="*/ 0 h 1162"/>
                <a:gd name="T48" fmla="*/ 0 w 1172"/>
                <a:gd name="T49" fmla="*/ 0 h 1162"/>
                <a:gd name="T50" fmla="*/ 0 w 1172"/>
                <a:gd name="T51" fmla="*/ 0 h 1162"/>
                <a:gd name="T52" fmla="*/ 0 w 1172"/>
                <a:gd name="T53" fmla="*/ 0 h 1162"/>
                <a:gd name="T54" fmla="*/ 0 w 1172"/>
                <a:gd name="T55" fmla="*/ 0 h 1162"/>
                <a:gd name="T56" fmla="*/ 0 w 1172"/>
                <a:gd name="T57" fmla="*/ 0 h 1162"/>
                <a:gd name="T58" fmla="*/ 0 w 1172"/>
                <a:gd name="T59" fmla="*/ 0 h 1162"/>
                <a:gd name="T60" fmla="*/ 0 w 1172"/>
                <a:gd name="T61" fmla="*/ 0 h 1162"/>
                <a:gd name="T62" fmla="*/ 0 w 1172"/>
                <a:gd name="T63" fmla="*/ 0 h 1162"/>
                <a:gd name="T64" fmla="*/ 0 w 1172"/>
                <a:gd name="T65" fmla="*/ 0 h 1162"/>
                <a:gd name="T66" fmla="*/ 0 w 1172"/>
                <a:gd name="T67" fmla="*/ 0 h 1162"/>
                <a:gd name="T68" fmla="*/ 0 w 1172"/>
                <a:gd name="T69" fmla="*/ 0 h 1162"/>
                <a:gd name="T70" fmla="*/ 0 w 1172"/>
                <a:gd name="T71" fmla="*/ 0 h 1162"/>
                <a:gd name="T72" fmla="*/ 0 w 1172"/>
                <a:gd name="T73" fmla="*/ 0 h 1162"/>
                <a:gd name="T74" fmla="*/ 0 w 1172"/>
                <a:gd name="T75" fmla="*/ 0 h 1162"/>
                <a:gd name="T76" fmla="*/ 0 w 1172"/>
                <a:gd name="T77" fmla="*/ 0 h 1162"/>
                <a:gd name="T78" fmla="*/ 0 w 1172"/>
                <a:gd name="T79" fmla="*/ 0 h 1162"/>
                <a:gd name="T80" fmla="*/ 0 w 1172"/>
                <a:gd name="T81" fmla="*/ 0 h 1162"/>
                <a:gd name="T82" fmla="*/ 0 w 1172"/>
                <a:gd name="T83" fmla="*/ 0 h 1162"/>
                <a:gd name="T84" fmla="*/ 0 w 1172"/>
                <a:gd name="T85" fmla="*/ 0 h 1162"/>
                <a:gd name="T86" fmla="*/ 0 w 1172"/>
                <a:gd name="T87" fmla="*/ 0 h 1162"/>
                <a:gd name="T88" fmla="*/ 0 w 1172"/>
                <a:gd name="T89" fmla="*/ 0 h 1162"/>
                <a:gd name="T90" fmla="*/ 0 w 1172"/>
                <a:gd name="T91" fmla="*/ 0 h 1162"/>
                <a:gd name="T92" fmla="*/ 0 w 1172"/>
                <a:gd name="T93" fmla="*/ 0 h 1162"/>
                <a:gd name="T94" fmla="*/ 0 w 1172"/>
                <a:gd name="T95" fmla="*/ 0 h 1162"/>
                <a:gd name="T96" fmla="*/ 0 w 1172"/>
                <a:gd name="T97" fmla="*/ 0 h 1162"/>
                <a:gd name="T98" fmla="*/ 0 w 1172"/>
                <a:gd name="T99" fmla="*/ 0 h 1162"/>
                <a:gd name="T100" fmla="*/ 0 w 1172"/>
                <a:gd name="T101" fmla="*/ 0 h 1162"/>
                <a:gd name="T102" fmla="*/ 0 w 1172"/>
                <a:gd name="T103" fmla="*/ 0 h 1162"/>
                <a:gd name="T104" fmla="*/ 0 w 1172"/>
                <a:gd name="T105" fmla="*/ 0 h 1162"/>
                <a:gd name="T106" fmla="*/ 0 w 1172"/>
                <a:gd name="T107" fmla="*/ 0 h 1162"/>
                <a:gd name="T108" fmla="*/ 0 w 1172"/>
                <a:gd name="T109" fmla="*/ 0 h 1162"/>
                <a:gd name="T110" fmla="*/ 0 w 1172"/>
                <a:gd name="T111" fmla="*/ 0 h 11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1172" h="1162">
                  <a:moveTo>
                    <a:pt x="959" y="0"/>
                  </a:moveTo>
                  <a:lnTo>
                    <a:pt x="820" y="43"/>
                  </a:lnTo>
                  <a:lnTo>
                    <a:pt x="756" y="100"/>
                  </a:lnTo>
                  <a:lnTo>
                    <a:pt x="719" y="213"/>
                  </a:lnTo>
                  <a:lnTo>
                    <a:pt x="719" y="321"/>
                  </a:lnTo>
                  <a:lnTo>
                    <a:pt x="739" y="381"/>
                  </a:lnTo>
                  <a:lnTo>
                    <a:pt x="727" y="489"/>
                  </a:lnTo>
                  <a:lnTo>
                    <a:pt x="727" y="571"/>
                  </a:lnTo>
                  <a:lnTo>
                    <a:pt x="745" y="591"/>
                  </a:lnTo>
                  <a:lnTo>
                    <a:pt x="727" y="621"/>
                  </a:lnTo>
                  <a:lnTo>
                    <a:pt x="713" y="652"/>
                  </a:lnTo>
                  <a:lnTo>
                    <a:pt x="739" y="684"/>
                  </a:lnTo>
                  <a:lnTo>
                    <a:pt x="739" y="716"/>
                  </a:lnTo>
                  <a:lnTo>
                    <a:pt x="688" y="729"/>
                  </a:lnTo>
                  <a:lnTo>
                    <a:pt x="695" y="761"/>
                  </a:lnTo>
                  <a:lnTo>
                    <a:pt x="644" y="779"/>
                  </a:lnTo>
                  <a:lnTo>
                    <a:pt x="599" y="767"/>
                  </a:lnTo>
                  <a:lnTo>
                    <a:pt x="569" y="779"/>
                  </a:lnTo>
                  <a:lnTo>
                    <a:pt x="428" y="799"/>
                  </a:lnTo>
                  <a:lnTo>
                    <a:pt x="304" y="793"/>
                  </a:lnTo>
                  <a:lnTo>
                    <a:pt x="222" y="799"/>
                  </a:lnTo>
                  <a:lnTo>
                    <a:pt x="170" y="831"/>
                  </a:lnTo>
                  <a:lnTo>
                    <a:pt x="45" y="831"/>
                  </a:lnTo>
                  <a:lnTo>
                    <a:pt x="0" y="873"/>
                  </a:lnTo>
                  <a:lnTo>
                    <a:pt x="0" y="923"/>
                  </a:lnTo>
                  <a:lnTo>
                    <a:pt x="6" y="1004"/>
                  </a:lnTo>
                  <a:lnTo>
                    <a:pt x="109" y="1030"/>
                  </a:lnTo>
                  <a:lnTo>
                    <a:pt x="109" y="978"/>
                  </a:lnTo>
                  <a:lnTo>
                    <a:pt x="115" y="935"/>
                  </a:lnTo>
                  <a:lnTo>
                    <a:pt x="133" y="916"/>
                  </a:lnTo>
                  <a:lnTo>
                    <a:pt x="141" y="966"/>
                  </a:lnTo>
                  <a:lnTo>
                    <a:pt x="147" y="1030"/>
                  </a:lnTo>
                  <a:lnTo>
                    <a:pt x="170" y="1068"/>
                  </a:lnTo>
                  <a:lnTo>
                    <a:pt x="215" y="1118"/>
                  </a:lnTo>
                  <a:lnTo>
                    <a:pt x="321" y="1142"/>
                  </a:lnTo>
                  <a:lnTo>
                    <a:pt x="403" y="1155"/>
                  </a:lnTo>
                  <a:lnTo>
                    <a:pt x="499" y="1162"/>
                  </a:lnTo>
                  <a:lnTo>
                    <a:pt x="379" y="1093"/>
                  </a:lnTo>
                  <a:lnTo>
                    <a:pt x="297" y="1030"/>
                  </a:lnTo>
                  <a:lnTo>
                    <a:pt x="279" y="978"/>
                  </a:lnTo>
                  <a:lnTo>
                    <a:pt x="291" y="935"/>
                  </a:lnTo>
                  <a:lnTo>
                    <a:pt x="358" y="929"/>
                  </a:lnTo>
                  <a:lnTo>
                    <a:pt x="385" y="978"/>
                  </a:lnTo>
                  <a:lnTo>
                    <a:pt x="403" y="1036"/>
                  </a:lnTo>
                  <a:lnTo>
                    <a:pt x="467" y="1098"/>
                  </a:lnTo>
                  <a:lnTo>
                    <a:pt x="537" y="1149"/>
                  </a:lnTo>
                  <a:lnTo>
                    <a:pt x="607" y="1155"/>
                  </a:lnTo>
                  <a:lnTo>
                    <a:pt x="713" y="1149"/>
                  </a:lnTo>
                  <a:lnTo>
                    <a:pt x="599" y="1061"/>
                  </a:lnTo>
                  <a:lnTo>
                    <a:pt x="517" y="1016"/>
                  </a:lnTo>
                  <a:lnTo>
                    <a:pt x="454" y="966"/>
                  </a:lnTo>
                  <a:lnTo>
                    <a:pt x="435" y="929"/>
                  </a:lnTo>
                  <a:lnTo>
                    <a:pt x="441" y="891"/>
                  </a:lnTo>
                  <a:lnTo>
                    <a:pt x="479" y="885"/>
                  </a:lnTo>
                  <a:lnTo>
                    <a:pt x="523" y="923"/>
                  </a:lnTo>
                  <a:lnTo>
                    <a:pt x="549" y="972"/>
                  </a:lnTo>
                  <a:lnTo>
                    <a:pt x="607" y="1036"/>
                  </a:lnTo>
                  <a:lnTo>
                    <a:pt x="675" y="1068"/>
                  </a:lnTo>
                  <a:lnTo>
                    <a:pt x="727" y="1098"/>
                  </a:lnTo>
                  <a:lnTo>
                    <a:pt x="782" y="1123"/>
                  </a:lnTo>
                  <a:lnTo>
                    <a:pt x="846" y="1136"/>
                  </a:lnTo>
                  <a:lnTo>
                    <a:pt x="921" y="1136"/>
                  </a:lnTo>
                  <a:lnTo>
                    <a:pt x="994" y="1122"/>
                  </a:lnTo>
                  <a:lnTo>
                    <a:pt x="833" y="1068"/>
                  </a:lnTo>
                  <a:lnTo>
                    <a:pt x="771" y="1036"/>
                  </a:lnTo>
                  <a:lnTo>
                    <a:pt x="727" y="978"/>
                  </a:lnTo>
                  <a:lnTo>
                    <a:pt x="719" y="929"/>
                  </a:lnTo>
                  <a:lnTo>
                    <a:pt x="756" y="929"/>
                  </a:lnTo>
                  <a:lnTo>
                    <a:pt x="777" y="972"/>
                  </a:lnTo>
                  <a:lnTo>
                    <a:pt x="808" y="1010"/>
                  </a:lnTo>
                  <a:lnTo>
                    <a:pt x="859" y="1049"/>
                  </a:lnTo>
                  <a:lnTo>
                    <a:pt x="914" y="1087"/>
                  </a:lnTo>
                  <a:lnTo>
                    <a:pt x="989" y="1119"/>
                  </a:lnTo>
                  <a:lnTo>
                    <a:pt x="1046" y="1098"/>
                  </a:lnTo>
                  <a:lnTo>
                    <a:pt x="1072" y="1068"/>
                  </a:lnTo>
                  <a:lnTo>
                    <a:pt x="1117" y="991"/>
                  </a:lnTo>
                  <a:lnTo>
                    <a:pt x="1034" y="972"/>
                  </a:lnTo>
                  <a:lnTo>
                    <a:pt x="878" y="954"/>
                  </a:lnTo>
                  <a:lnTo>
                    <a:pt x="782" y="910"/>
                  </a:lnTo>
                  <a:lnTo>
                    <a:pt x="733" y="868"/>
                  </a:lnTo>
                  <a:lnTo>
                    <a:pt x="713" y="816"/>
                  </a:lnTo>
                  <a:lnTo>
                    <a:pt x="707" y="793"/>
                  </a:lnTo>
                  <a:lnTo>
                    <a:pt x="733" y="793"/>
                  </a:lnTo>
                  <a:lnTo>
                    <a:pt x="765" y="831"/>
                  </a:lnTo>
                  <a:lnTo>
                    <a:pt x="814" y="897"/>
                  </a:lnTo>
                  <a:lnTo>
                    <a:pt x="927" y="935"/>
                  </a:lnTo>
                  <a:lnTo>
                    <a:pt x="1034" y="968"/>
                  </a:lnTo>
                  <a:lnTo>
                    <a:pt x="1117" y="991"/>
                  </a:lnTo>
                  <a:lnTo>
                    <a:pt x="1149" y="861"/>
                  </a:lnTo>
                  <a:lnTo>
                    <a:pt x="1155" y="767"/>
                  </a:lnTo>
                  <a:lnTo>
                    <a:pt x="1155" y="683"/>
                  </a:lnTo>
                  <a:lnTo>
                    <a:pt x="1046" y="741"/>
                  </a:lnTo>
                  <a:lnTo>
                    <a:pt x="921" y="767"/>
                  </a:lnTo>
                  <a:lnTo>
                    <a:pt x="820" y="761"/>
                  </a:lnTo>
                  <a:lnTo>
                    <a:pt x="795" y="748"/>
                  </a:lnTo>
                  <a:lnTo>
                    <a:pt x="782" y="716"/>
                  </a:lnTo>
                  <a:lnTo>
                    <a:pt x="840" y="716"/>
                  </a:lnTo>
                  <a:lnTo>
                    <a:pt x="901" y="735"/>
                  </a:lnTo>
                  <a:lnTo>
                    <a:pt x="1049" y="741"/>
                  </a:lnTo>
                  <a:lnTo>
                    <a:pt x="1155" y="684"/>
                  </a:lnTo>
                  <a:lnTo>
                    <a:pt x="1161" y="565"/>
                  </a:lnTo>
                  <a:lnTo>
                    <a:pt x="1167" y="483"/>
                  </a:lnTo>
                  <a:lnTo>
                    <a:pt x="1172" y="401"/>
                  </a:lnTo>
                  <a:lnTo>
                    <a:pt x="1161" y="264"/>
                  </a:lnTo>
                  <a:lnTo>
                    <a:pt x="1129" y="213"/>
                  </a:lnTo>
                  <a:lnTo>
                    <a:pt x="1034" y="152"/>
                  </a:lnTo>
                  <a:lnTo>
                    <a:pt x="1065" y="158"/>
                  </a:lnTo>
                  <a:lnTo>
                    <a:pt x="1161" y="201"/>
                  </a:lnTo>
                  <a:lnTo>
                    <a:pt x="1123" y="113"/>
                  </a:lnTo>
                  <a:lnTo>
                    <a:pt x="1091" y="68"/>
                  </a:lnTo>
                  <a:lnTo>
                    <a:pt x="1065" y="38"/>
                  </a:lnTo>
                  <a:lnTo>
                    <a:pt x="959"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5" name="Freeform 298"/>
            <p:cNvSpPr>
              <a:spLocks/>
            </p:cNvSpPr>
            <p:nvPr/>
          </p:nvSpPr>
          <p:spPr bwMode="auto">
            <a:xfrm>
              <a:off x="5500" y="1878"/>
              <a:ext cx="49" cy="44"/>
            </a:xfrm>
            <a:custGeom>
              <a:avLst/>
              <a:gdLst>
                <a:gd name="T0" fmla="*/ 0 w 295"/>
                <a:gd name="T1" fmla="*/ 0 h 263"/>
                <a:gd name="T2" fmla="*/ 0 w 295"/>
                <a:gd name="T3" fmla="*/ 0 h 263"/>
                <a:gd name="T4" fmla="*/ 0 w 295"/>
                <a:gd name="T5" fmla="*/ 0 h 263"/>
                <a:gd name="T6" fmla="*/ 0 w 295"/>
                <a:gd name="T7" fmla="*/ 0 h 263"/>
                <a:gd name="T8" fmla="*/ 0 w 295"/>
                <a:gd name="T9" fmla="*/ 0 h 263"/>
                <a:gd name="T10" fmla="*/ 0 w 295"/>
                <a:gd name="T11" fmla="*/ 0 h 263"/>
                <a:gd name="T12" fmla="*/ 0 w 295"/>
                <a:gd name="T13" fmla="*/ 0 h 263"/>
                <a:gd name="T14" fmla="*/ 0 w 295"/>
                <a:gd name="T15" fmla="*/ 0 h 263"/>
                <a:gd name="T16" fmla="*/ 0 w 295"/>
                <a:gd name="T17" fmla="*/ 0 h 263"/>
                <a:gd name="T18" fmla="*/ 0 w 295"/>
                <a:gd name="T19" fmla="*/ 0 h 263"/>
                <a:gd name="T20" fmla="*/ 0 w 295"/>
                <a:gd name="T21" fmla="*/ 0 h 263"/>
                <a:gd name="T22" fmla="*/ 0 w 295"/>
                <a:gd name="T23" fmla="*/ 0 h 263"/>
                <a:gd name="T24" fmla="*/ 0 w 295"/>
                <a:gd name="T25" fmla="*/ 0 h 263"/>
                <a:gd name="T26" fmla="*/ 0 w 295"/>
                <a:gd name="T27" fmla="*/ 0 h 263"/>
                <a:gd name="T28" fmla="*/ 0 w 295"/>
                <a:gd name="T29" fmla="*/ 0 h 263"/>
                <a:gd name="T30" fmla="*/ 0 w 295"/>
                <a:gd name="T31" fmla="*/ 0 h 263"/>
                <a:gd name="T32" fmla="*/ 0 w 295"/>
                <a:gd name="T33" fmla="*/ 0 h 263"/>
                <a:gd name="T34" fmla="*/ 0 w 295"/>
                <a:gd name="T35" fmla="*/ 0 h 263"/>
                <a:gd name="T36" fmla="*/ 0 w 295"/>
                <a:gd name="T37" fmla="*/ 0 h 263"/>
                <a:gd name="T38" fmla="*/ 0 w 295"/>
                <a:gd name="T39" fmla="*/ 0 h 263"/>
                <a:gd name="T40" fmla="*/ 0 w 295"/>
                <a:gd name="T41" fmla="*/ 0 h 263"/>
                <a:gd name="T42" fmla="*/ 0 w 295"/>
                <a:gd name="T43" fmla="*/ 0 h 263"/>
                <a:gd name="T44" fmla="*/ 0 w 295"/>
                <a:gd name="T45" fmla="*/ 0 h 26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95" h="263">
                  <a:moveTo>
                    <a:pt x="0" y="0"/>
                  </a:moveTo>
                  <a:lnTo>
                    <a:pt x="0" y="21"/>
                  </a:lnTo>
                  <a:lnTo>
                    <a:pt x="38" y="71"/>
                  </a:lnTo>
                  <a:lnTo>
                    <a:pt x="75" y="99"/>
                  </a:lnTo>
                  <a:lnTo>
                    <a:pt x="152" y="158"/>
                  </a:lnTo>
                  <a:lnTo>
                    <a:pt x="184" y="182"/>
                  </a:lnTo>
                  <a:lnTo>
                    <a:pt x="260" y="239"/>
                  </a:lnTo>
                  <a:lnTo>
                    <a:pt x="178" y="213"/>
                  </a:lnTo>
                  <a:lnTo>
                    <a:pt x="97" y="188"/>
                  </a:lnTo>
                  <a:lnTo>
                    <a:pt x="16" y="182"/>
                  </a:lnTo>
                  <a:lnTo>
                    <a:pt x="22" y="207"/>
                  </a:lnTo>
                  <a:lnTo>
                    <a:pt x="152" y="231"/>
                  </a:lnTo>
                  <a:lnTo>
                    <a:pt x="222" y="257"/>
                  </a:lnTo>
                  <a:lnTo>
                    <a:pt x="260" y="263"/>
                  </a:lnTo>
                  <a:lnTo>
                    <a:pt x="292" y="252"/>
                  </a:lnTo>
                  <a:lnTo>
                    <a:pt x="295" y="222"/>
                  </a:lnTo>
                  <a:lnTo>
                    <a:pt x="269" y="199"/>
                  </a:lnTo>
                  <a:lnTo>
                    <a:pt x="232" y="162"/>
                  </a:lnTo>
                  <a:lnTo>
                    <a:pt x="188" y="112"/>
                  </a:lnTo>
                  <a:lnTo>
                    <a:pt x="144" y="56"/>
                  </a:lnTo>
                  <a:lnTo>
                    <a:pt x="91" y="17"/>
                  </a:lnTo>
                  <a:lnTo>
                    <a:pt x="35" y="3"/>
                  </a:lnTo>
                  <a:lnTo>
                    <a:pt x="0"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6" name="Freeform 299"/>
            <p:cNvSpPr>
              <a:spLocks/>
            </p:cNvSpPr>
            <p:nvPr/>
          </p:nvSpPr>
          <p:spPr bwMode="auto">
            <a:xfrm>
              <a:off x="5503" y="1842"/>
              <a:ext cx="44" cy="57"/>
            </a:xfrm>
            <a:custGeom>
              <a:avLst/>
              <a:gdLst>
                <a:gd name="T0" fmla="*/ 0 w 270"/>
                <a:gd name="T1" fmla="*/ 0 h 345"/>
                <a:gd name="T2" fmla="*/ 0 w 270"/>
                <a:gd name="T3" fmla="*/ 0 h 345"/>
                <a:gd name="T4" fmla="*/ 0 w 270"/>
                <a:gd name="T5" fmla="*/ 0 h 345"/>
                <a:gd name="T6" fmla="*/ 0 w 270"/>
                <a:gd name="T7" fmla="*/ 0 h 345"/>
                <a:gd name="T8" fmla="*/ 0 w 270"/>
                <a:gd name="T9" fmla="*/ 0 h 345"/>
                <a:gd name="T10" fmla="*/ 0 w 270"/>
                <a:gd name="T11" fmla="*/ 0 h 345"/>
                <a:gd name="T12" fmla="*/ 0 w 270"/>
                <a:gd name="T13" fmla="*/ 0 h 345"/>
                <a:gd name="T14" fmla="*/ 0 w 270"/>
                <a:gd name="T15" fmla="*/ 0 h 345"/>
                <a:gd name="T16" fmla="*/ 0 w 270"/>
                <a:gd name="T17" fmla="*/ 0 h 345"/>
                <a:gd name="T18" fmla="*/ 0 w 270"/>
                <a:gd name="T19" fmla="*/ 0 h 345"/>
                <a:gd name="T20" fmla="*/ 0 w 270"/>
                <a:gd name="T21" fmla="*/ 0 h 345"/>
                <a:gd name="T22" fmla="*/ 0 w 270"/>
                <a:gd name="T23" fmla="*/ 0 h 345"/>
                <a:gd name="T24" fmla="*/ 0 w 270"/>
                <a:gd name="T25" fmla="*/ 0 h 345"/>
                <a:gd name="T26" fmla="*/ 0 w 270"/>
                <a:gd name="T27" fmla="*/ 0 h 345"/>
                <a:gd name="T28" fmla="*/ 0 w 270"/>
                <a:gd name="T29" fmla="*/ 0 h 345"/>
                <a:gd name="T30" fmla="*/ 0 w 270"/>
                <a:gd name="T31" fmla="*/ 0 h 345"/>
                <a:gd name="T32" fmla="*/ 0 w 270"/>
                <a:gd name="T33" fmla="*/ 0 h 34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270" h="345">
                  <a:moveTo>
                    <a:pt x="51" y="0"/>
                  </a:moveTo>
                  <a:lnTo>
                    <a:pt x="13" y="7"/>
                  </a:lnTo>
                  <a:lnTo>
                    <a:pt x="0" y="39"/>
                  </a:lnTo>
                  <a:lnTo>
                    <a:pt x="3" y="65"/>
                  </a:lnTo>
                  <a:lnTo>
                    <a:pt x="26" y="101"/>
                  </a:lnTo>
                  <a:lnTo>
                    <a:pt x="57" y="112"/>
                  </a:lnTo>
                  <a:lnTo>
                    <a:pt x="116" y="149"/>
                  </a:lnTo>
                  <a:lnTo>
                    <a:pt x="172" y="195"/>
                  </a:lnTo>
                  <a:lnTo>
                    <a:pt x="212" y="259"/>
                  </a:lnTo>
                  <a:lnTo>
                    <a:pt x="257" y="325"/>
                  </a:lnTo>
                  <a:lnTo>
                    <a:pt x="270" y="345"/>
                  </a:lnTo>
                  <a:lnTo>
                    <a:pt x="257" y="267"/>
                  </a:lnTo>
                  <a:lnTo>
                    <a:pt x="247" y="198"/>
                  </a:lnTo>
                  <a:lnTo>
                    <a:pt x="225" y="140"/>
                  </a:lnTo>
                  <a:lnTo>
                    <a:pt x="188" y="86"/>
                  </a:lnTo>
                  <a:lnTo>
                    <a:pt x="90" y="10"/>
                  </a:lnTo>
                  <a:lnTo>
                    <a:pt x="51"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7" name="Freeform 300"/>
            <p:cNvSpPr>
              <a:spLocks/>
            </p:cNvSpPr>
            <p:nvPr/>
          </p:nvSpPr>
          <p:spPr bwMode="auto">
            <a:xfrm>
              <a:off x="5494" y="1785"/>
              <a:ext cx="48" cy="34"/>
            </a:xfrm>
            <a:custGeom>
              <a:avLst/>
              <a:gdLst>
                <a:gd name="T0" fmla="*/ 0 w 287"/>
                <a:gd name="T1" fmla="*/ 0 h 199"/>
                <a:gd name="T2" fmla="*/ 0 w 287"/>
                <a:gd name="T3" fmla="*/ 0 h 199"/>
                <a:gd name="T4" fmla="*/ 0 w 287"/>
                <a:gd name="T5" fmla="*/ 0 h 199"/>
                <a:gd name="T6" fmla="*/ 0 w 287"/>
                <a:gd name="T7" fmla="*/ 0 h 199"/>
                <a:gd name="T8" fmla="*/ 0 w 287"/>
                <a:gd name="T9" fmla="*/ 0 h 199"/>
                <a:gd name="T10" fmla="*/ 0 w 287"/>
                <a:gd name="T11" fmla="*/ 0 h 199"/>
                <a:gd name="T12" fmla="*/ 0 w 287"/>
                <a:gd name="T13" fmla="*/ 0 h 199"/>
                <a:gd name="T14" fmla="*/ 0 w 287"/>
                <a:gd name="T15" fmla="*/ 0 h 199"/>
                <a:gd name="T16" fmla="*/ 0 w 287"/>
                <a:gd name="T17" fmla="*/ 0 h 199"/>
                <a:gd name="T18" fmla="*/ 0 w 287"/>
                <a:gd name="T19" fmla="*/ 0 h 19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87" h="199">
                  <a:moveTo>
                    <a:pt x="0" y="199"/>
                  </a:moveTo>
                  <a:lnTo>
                    <a:pt x="49" y="156"/>
                  </a:lnTo>
                  <a:lnTo>
                    <a:pt x="130" y="125"/>
                  </a:lnTo>
                  <a:lnTo>
                    <a:pt x="185" y="111"/>
                  </a:lnTo>
                  <a:lnTo>
                    <a:pt x="287" y="0"/>
                  </a:lnTo>
                  <a:lnTo>
                    <a:pt x="211" y="44"/>
                  </a:lnTo>
                  <a:lnTo>
                    <a:pt x="142" y="74"/>
                  </a:lnTo>
                  <a:lnTo>
                    <a:pt x="93" y="99"/>
                  </a:lnTo>
                  <a:lnTo>
                    <a:pt x="68" y="125"/>
                  </a:lnTo>
                  <a:lnTo>
                    <a:pt x="0" y="199"/>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8" name="Freeform 301"/>
            <p:cNvSpPr>
              <a:spLocks/>
            </p:cNvSpPr>
            <p:nvPr/>
          </p:nvSpPr>
          <p:spPr bwMode="auto">
            <a:xfrm>
              <a:off x="5458" y="1846"/>
              <a:ext cx="27" cy="86"/>
            </a:xfrm>
            <a:custGeom>
              <a:avLst/>
              <a:gdLst>
                <a:gd name="T0" fmla="*/ 0 w 162"/>
                <a:gd name="T1" fmla="*/ 0 h 514"/>
                <a:gd name="T2" fmla="*/ 0 w 162"/>
                <a:gd name="T3" fmla="*/ 0 h 514"/>
                <a:gd name="T4" fmla="*/ 0 w 162"/>
                <a:gd name="T5" fmla="*/ 0 h 514"/>
                <a:gd name="T6" fmla="*/ 0 w 162"/>
                <a:gd name="T7" fmla="*/ 0 h 514"/>
                <a:gd name="T8" fmla="*/ 0 w 162"/>
                <a:gd name="T9" fmla="*/ 0 h 514"/>
                <a:gd name="T10" fmla="*/ 0 w 162"/>
                <a:gd name="T11" fmla="*/ 0 h 514"/>
                <a:gd name="T12" fmla="*/ 0 w 162"/>
                <a:gd name="T13" fmla="*/ 0 h 514"/>
                <a:gd name="T14" fmla="*/ 0 w 162"/>
                <a:gd name="T15" fmla="*/ 0 h 514"/>
                <a:gd name="T16" fmla="*/ 0 w 162"/>
                <a:gd name="T17" fmla="*/ 0 h 514"/>
                <a:gd name="T18" fmla="*/ 0 w 162"/>
                <a:gd name="T19" fmla="*/ 0 h 514"/>
                <a:gd name="T20" fmla="*/ 0 w 162"/>
                <a:gd name="T21" fmla="*/ 0 h 514"/>
                <a:gd name="T22" fmla="*/ 0 w 162"/>
                <a:gd name="T23" fmla="*/ 0 h 514"/>
                <a:gd name="T24" fmla="*/ 0 w 162"/>
                <a:gd name="T25" fmla="*/ 0 h 514"/>
                <a:gd name="T26" fmla="*/ 0 w 162"/>
                <a:gd name="T27" fmla="*/ 0 h 514"/>
                <a:gd name="T28" fmla="*/ 0 w 162"/>
                <a:gd name="T29" fmla="*/ 0 h 514"/>
                <a:gd name="T30" fmla="*/ 0 w 162"/>
                <a:gd name="T31" fmla="*/ 0 h 514"/>
                <a:gd name="T32" fmla="*/ 0 w 162"/>
                <a:gd name="T33" fmla="*/ 0 h 514"/>
                <a:gd name="T34" fmla="*/ 0 w 162"/>
                <a:gd name="T35" fmla="*/ 0 h 514"/>
                <a:gd name="T36" fmla="*/ 0 w 162"/>
                <a:gd name="T37" fmla="*/ 0 h 514"/>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62" h="514">
                  <a:moveTo>
                    <a:pt x="0" y="514"/>
                  </a:moveTo>
                  <a:lnTo>
                    <a:pt x="81" y="514"/>
                  </a:lnTo>
                  <a:lnTo>
                    <a:pt x="106" y="508"/>
                  </a:lnTo>
                  <a:lnTo>
                    <a:pt x="106" y="489"/>
                  </a:lnTo>
                  <a:lnTo>
                    <a:pt x="124" y="470"/>
                  </a:lnTo>
                  <a:lnTo>
                    <a:pt x="150" y="451"/>
                  </a:lnTo>
                  <a:lnTo>
                    <a:pt x="137" y="433"/>
                  </a:lnTo>
                  <a:lnTo>
                    <a:pt x="137" y="407"/>
                  </a:lnTo>
                  <a:lnTo>
                    <a:pt x="156" y="376"/>
                  </a:lnTo>
                  <a:lnTo>
                    <a:pt x="156" y="344"/>
                  </a:lnTo>
                  <a:lnTo>
                    <a:pt x="144" y="306"/>
                  </a:lnTo>
                  <a:lnTo>
                    <a:pt x="144" y="224"/>
                  </a:lnTo>
                  <a:lnTo>
                    <a:pt x="162" y="150"/>
                  </a:lnTo>
                  <a:lnTo>
                    <a:pt x="156" y="94"/>
                  </a:lnTo>
                  <a:lnTo>
                    <a:pt x="156" y="0"/>
                  </a:lnTo>
                  <a:lnTo>
                    <a:pt x="106" y="142"/>
                  </a:lnTo>
                  <a:lnTo>
                    <a:pt x="62" y="275"/>
                  </a:lnTo>
                  <a:lnTo>
                    <a:pt x="32" y="419"/>
                  </a:lnTo>
                  <a:lnTo>
                    <a:pt x="0" y="514"/>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9" name="Freeform 302"/>
            <p:cNvSpPr>
              <a:spLocks/>
            </p:cNvSpPr>
            <p:nvPr/>
          </p:nvSpPr>
          <p:spPr bwMode="auto">
            <a:xfrm>
              <a:off x="5498" y="1939"/>
              <a:ext cx="48" cy="16"/>
            </a:xfrm>
            <a:custGeom>
              <a:avLst/>
              <a:gdLst>
                <a:gd name="T0" fmla="*/ 0 w 289"/>
                <a:gd name="T1" fmla="*/ 0 h 97"/>
                <a:gd name="T2" fmla="*/ 0 w 289"/>
                <a:gd name="T3" fmla="*/ 0 h 97"/>
                <a:gd name="T4" fmla="*/ 0 w 289"/>
                <a:gd name="T5" fmla="*/ 0 h 97"/>
                <a:gd name="T6" fmla="*/ 0 w 289"/>
                <a:gd name="T7" fmla="*/ 0 h 97"/>
                <a:gd name="T8" fmla="*/ 0 w 289"/>
                <a:gd name="T9" fmla="*/ 0 h 97"/>
                <a:gd name="T10" fmla="*/ 0 w 289"/>
                <a:gd name="T11" fmla="*/ 0 h 97"/>
                <a:gd name="T12" fmla="*/ 0 w 289"/>
                <a:gd name="T13" fmla="*/ 0 h 97"/>
                <a:gd name="T14" fmla="*/ 0 w 289"/>
                <a:gd name="T15" fmla="*/ 0 h 97"/>
                <a:gd name="T16" fmla="*/ 0 w 289"/>
                <a:gd name="T17" fmla="*/ 0 h 97"/>
                <a:gd name="T18" fmla="*/ 0 w 289"/>
                <a:gd name="T19" fmla="*/ 0 h 97"/>
                <a:gd name="T20" fmla="*/ 0 w 289"/>
                <a:gd name="T21" fmla="*/ 0 h 9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89" h="97">
                  <a:moveTo>
                    <a:pt x="232" y="47"/>
                  </a:moveTo>
                  <a:lnTo>
                    <a:pt x="168" y="19"/>
                  </a:lnTo>
                  <a:lnTo>
                    <a:pt x="110" y="4"/>
                  </a:lnTo>
                  <a:lnTo>
                    <a:pt x="32" y="0"/>
                  </a:lnTo>
                  <a:lnTo>
                    <a:pt x="0" y="6"/>
                  </a:lnTo>
                  <a:lnTo>
                    <a:pt x="15" y="37"/>
                  </a:lnTo>
                  <a:lnTo>
                    <a:pt x="45" y="61"/>
                  </a:lnTo>
                  <a:lnTo>
                    <a:pt x="113" y="79"/>
                  </a:lnTo>
                  <a:lnTo>
                    <a:pt x="219" y="97"/>
                  </a:lnTo>
                  <a:lnTo>
                    <a:pt x="289" y="91"/>
                  </a:lnTo>
                  <a:lnTo>
                    <a:pt x="232" y="4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0" name="Freeform 303"/>
            <p:cNvSpPr>
              <a:spLocks/>
            </p:cNvSpPr>
            <p:nvPr/>
          </p:nvSpPr>
          <p:spPr bwMode="auto">
            <a:xfrm>
              <a:off x="5458" y="1947"/>
              <a:ext cx="30" cy="36"/>
            </a:xfrm>
            <a:custGeom>
              <a:avLst/>
              <a:gdLst>
                <a:gd name="T0" fmla="*/ 0 w 176"/>
                <a:gd name="T1" fmla="*/ 0 h 216"/>
                <a:gd name="T2" fmla="*/ 0 w 176"/>
                <a:gd name="T3" fmla="*/ 0 h 216"/>
                <a:gd name="T4" fmla="*/ 0 w 176"/>
                <a:gd name="T5" fmla="*/ 0 h 216"/>
                <a:gd name="T6" fmla="*/ 0 w 176"/>
                <a:gd name="T7" fmla="*/ 0 h 216"/>
                <a:gd name="T8" fmla="*/ 0 w 176"/>
                <a:gd name="T9" fmla="*/ 0 h 216"/>
                <a:gd name="T10" fmla="*/ 0 w 176"/>
                <a:gd name="T11" fmla="*/ 0 h 216"/>
                <a:gd name="T12" fmla="*/ 0 w 176"/>
                <a:gd name="T13" fmla="*/ 0 h 216"/>
                <a:gd name="T14" fmla="*/ 0 w 176"/>
                <a:gd name="T15" fmla="*/ 0 h 216"/>
                <a:gd name="T16" fmla="*/ 0 w 176"/>
                <a:gd name="T17" fmla="*/ 0 h 216"/>
                <a:gd name="T18" fmla="*/ 0 w 176"/>
                <a:gd name="T19" fmla="*/ 0 h 216"/>
                <a:gd name="T20" fmla="*/ 0 w 176"/>
                <a:gd name="T21" fmla="*/ 0 h 216"/>
                <a:gd name="T22" fmla="*/ 0 w 176"/>
                <a:gd name="T23" fmla="*/ 0 h 216"/>
                <a:gd name="T24" fmla="*/ 0 w 176"/>
                <a:gd name="T25" fmla="*/ 0 h 21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6" h="216">
                  <a:moveTo>
                    <a:pt x="81" y="59"/>
                  </a:moveTo>
                  <a:lnTo>
                    <a:pt x="59" y="14"/>
                  </a:lnTo>
                  <a:lnTo>
                    <a:pt x="26" y="0"/>
                  </a:lnTo>
                  <a:lnTo>
                    <a:pt x="3" y="11"/>
                  </a:lnTo>
                  <a:lnTo>
                    <a:pt x="0" y="35"/>
                  </a:lnTo>
                  <a:lnTo>
                    <a:pt x="15" y="76"/>
                  </a:lnTo>
                  <a:lnTo>
                    <a:pt x="40" y="115"/>
                  </a:lnTo>
                  <a:lnTo>
                    <a:pt x="71" y="150"/>
                  </a:lnTo>
                  <a:lnTo>
                    <a:pt x="113" y="185"/>
                  </a:lnTo>
                  <a:lnTo>
                    <a:pt x="176" y="216"/>
                  </a:lnTo>
                  <a:lnTo>
                    <a:pt x="119" y="153"/>
                  </a:lnTo>
                  <a:lnTo>
                    <a:pt x="100" y="108"/>
                  </a:lnTo>
                  <a:lnTo>
                    <a:pt x="81" y="59"/>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1" name="Freeform 304"/>
            <p:cNvSpPr>
              <a:spLocks/>
            </p:cNvSpPr>
            <p:nvPr/>
          </p:nvSpPr>
          <p:spPr bwMode="auto">
            <a:xfrm>
              <a:off x="5506" y="1757"/>
              <a:ext cx="70" cy="44"/>
            </a:xfrm>
            <a:custGeom>
              <a:avLst/>
              <a:gdLst>
                <a:gd name="T0" fmla="*/ 0 w 418"/>
                <a:gd name="T1" fmla="*/ 0 h 260"/>
                <a:gd name="T2" fmla="*/ 0 w 418"/>
                <a:gd name="T3" fmla="*/ 0 h 260"/>
                <a:gd name="T4" fmla="*/ 0 w 418"/>
                <a:gd name="T5" fmla="*/ 0 h 260"/>
                <a:gd name="T6" fmla="*/ 0 w 418"/>
                <a:gd name="T7" fmla="*/ 0 h 260"/>
                <a:gd name="T8" fmla="*/ 0 w 418"/>
                <a:gd name="T9" fmla="*/ 0 h 260"/>
                <a:gd name="T10" fmla="*/ 0 w 418"/>
                <a:gd name="T11" fmla="*/ 0 h 260"/>
                <a:gd name="T12" fmla="*/ 0 w 418"/>
                <a:gd name="T13" fmla="*/ 0 h 260"/>
                <a:gd name="T14" fmla="*/ 0 w 418"/>
                <a:gd name="T15" fmla="*/ 0 h 260"/>
                <a:gd name="T16" fmla="*/ 0 w 418"/>
                <a:gd name="T17" fmla="*/ 0 h 260"/>
                <a:gd name="T18" fmla="*/ 0 w 418"/>
                <a:gd name="T19" fmla="*/ 0 h 260"/>
                <a:gd name="T20" fmla="*/ 0 w 418"/>
                <a:gd name="T21" fmla="*/ 0 h 260"/>
                <a:gd name="T22" fmla="*/ 0 w 418"/>
                <a:gd name="T23" fmla="*/ 0 h 26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418" h="260">
                  <a:moveTo>
                    <a:pt x="0" y="260"/>
                  </a:moveTo>
                  <a:lnTo>
                    <a:pt x="13" y="153"/>
                  </a:lnTo>
                  <a:lnTo>
                    <a:pt x="101" y="116"/>
                  </a:lnTo>
                  <a:lnTo>
                    <a:pt x="220" y="69"/>
                  </a:lnTo>
                  <a:lnTo>
                    <a:pt x="304" y="35"/>
                  </a:lnTo>
                  <a:lnTo>
                    <a:pt x="386" y="0"/>
                  </a:lnTo>
                  <a:lnTo>
                    <a:pt x="418" y="76"/>
                  </a:lnTo>
                  <a:lnTo>
                    <a:pt x="341" y="119"/>
                  </a:lnTo>
                  <a:lnTo>
                    <a:pt x="252" y="150"/>
                  </a:lnTo>
                  <a:lnTo>
                    <a:pt x="182" y="170"/>
                  </a:lnTo>
                  <a:lnTo>
                    <a:pt x="98" y="216"/>
                  </a:lnTo>
                  <a:lnTo>
                    <a:pt x="0" y="26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12" name="Group 305"/>
          <p:cNvGrpSpPr>
            <a:grpSpLocks/>
          </p:cNvGrpSpPr>
          <p:nvPr/>
        </p:nvGrpSpPr>
        <p:grpSpPr bwMode="auto">
          <a:xfrm>
            <a:off x="7199967" y="3333548"/>
            <a:ext cx="144954" cy="180263"/>
            <a:chOff x="5511" y="1960"/>
            <a:chExt cx="144" cy="194"/>
          </a:xfrm>
        </p:grpSpPr>
        <p:sp>
          <p:nvSpPr>
            <p:cNvPr id="313" name="Freeform 306"/>
            <p:cNvSpPr>
              <a:spLocks/>
            </p:cNvSpPr>
            <p:nvPr/>
          </p:nvSpPr>
          <p:spPr bwMode="auto">
            <a:xfrm>
              <a:off x="5511" y="1960"/>
              <a:ext cx="144" cy="194"/>
            </a:xfrm>
            <a:custGeom>
              <a:avLst/>
              <a:gdLst>
                <a:gd name="T0" fmla="*/ 0 w 863"/>
                <a:gd name="T1" fmla="*/ 0 h 1164"/>
                <a:gd name="T2" fmla="*/ 0 w 863"/>
                <a:gd name="T3" fmla="*/ 0 h 1164"/>
                <a:gd name="T4" fmla="*/ 0 w 863"/>
                <a:gd name="T5" fmla="*/ 0 h 1164"/>
                <a:gd name="T6" fmla="*/ 0 w 863"/>
                <a:gd name="T7" fmla="*/ 0 h 1164"/>
                <a:gd name="T8" fmla="*/ 0 w 863"/>
                <a:gd name="T9" fmla="*/ 0 h 1164"/>
                <a:gd name="T10" fmla="*/ 0 w 863"/>
                <a:gd name="T11" fmla="*/ 0 h 1164"/>
                <a:gd name="T12" fmla="*/ 0 w 863"/>
                <a:gd name="T13" fmla="*/ 0 h 1164"/>
                <a:gd name="T14" fmla="*/ 0 w 863"/>
                <a:gd name="T15" fmla="*/ 0 h 1164"/>
                <a:gd name="T16" fmla="*/ 0 w 863"/>
                <a:gd name="T17" fmla="*/ 0 h 1164"/>
                <a:gd name="T18" fmla="*/ 0 w 863"/>
                <a:gd name="T19" fmla="*/ 0 h 1164"/>
                <a:gd name="T20" fmla="*/ 0 w 863"/>
                <a:gd name="T21" fmla="*/ 0 h 1164"/>
                <a:gd name="T22" fmla="*/ 0 w 863"/>
                <a:gd name="T23" fmla="*/ 0 h 1164"/>
                <a:gd name="T24" fmla="*/ 0 w 863"/>
                <a:gd name="T25" fmla="*/ 0 h 1164"/>
                <a:gd name="T26" fmla="*/ 0 w 863"/>
                <a:gd name="T27" fmla="*/ 0 h 1164"/>
                <a:gd name="T28" fmla="*/ 0 w 863"/>
                <a:gd name="T29" fmla="*/ 0 h 1164"/>
                <a:gd name="T30" fmla="*/ 0 w 863"/>
                <a:gd name="T31" fmla="*/ 0 h 1164"/>
                <a:gd name="T32" fmla="*/ 0 w 863"/>
                <a:gd name="T33" fmla="*/ 0 h 1164"/>
                <a:gd name="T34" fmla="*/ 0 w 863"/>
                <a:gd name="T35" fmla="*/ 0 h 1164"/>
                <a:gd name="T36" fmla="*/ 0 w 863"/>
                <a:gd name="T37" fmla="*/ 0 h 1164"/>
                <a:gd name="T38" fmla="*/ 0 w 863"/>
                <a:gd name="T39" fmla="*/ 0 h 1164"/>
                <a:gd name="T40" fmla="*/ 0 w 863"/>
                <a:gd name="T41" fmla="*/ 0 h 1164"/>
                <a:gd name="T42" fmla="*/ 0 w 863"/>
                <a:gd name="T43" fmla="*/ 0 h 1164"/>
                <a:gd name="T44" fmla="*/ 0 w 863"/>
                <a:gd name="T45" fmla="*/ 0 h 1164"/>
                <a:gd name="T46" fmla="*/ 0 w 863"/>
                <a:gd name="T47" fmla="*/ 0 h 1164"/>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863" h="1164">
                  <a:moveTo>
                    <a:pt x="385" y="172"/>
                  </a:moveTo>
                  <a:lnTo>
                    <a:pt x="543" y="158"/>
                  </a:lnTo>
                  <a:lnTo>
                    <a:pt x="637" y="133"/>
                  </a:lnTo>
                  <a:lnTo>
                    <a:pt x="667" y="90"/>
                  </a:lnTo>
                  <a:lnTo>
                    <a:pt x="667" y="52"/>
                  </a:lnTo>
                  <a:lnTo>
                    <a:pt x="694" y="20"/>
                  </a:lnTo>
                  <a:lnTo>
                    <a:pt x="782" y="0"/>
                  </a:lnTo>
                  <a:lnTo>
                    <a:pt x="863" y="7"/>
                  </a:lnTo>
                  <a:lnTo>
                    <a:pt x="763" y="907"/>
                  </a:lnTo>
                  <a:lnTo>
                    <a:pt x="694" y="990"/>
                  </a:lnTo>
                  <a:lnTo>
                    <a:pt x="605" y="1071"/>
                  </a:lnTo>
                  <a:lnTo>
                    <a:pt x="481" y="1134"/>
                  </a:lnTo>
                  <a:lnTo>
                    <a:pt x="334" y="1153"/>
                  </a:lnTo>
                  <a:lnTo>
                    <a:pt x="138" y="1164"/>
                  </a:lnTo>
                  <a:lnTo>
                    <a:pt x="25" y="1147"/>
                  </a:lnTo>
                  <a:lnTo>
                    <a:pt x="0" y="1083"/>
                  </a:lnTo>
                  <a:lnTo>
                    <a:pt x="13" y="1001"/>
                  </a:lnTo>
                  <a:lnTo>
                    <a:pt x="95" y="750"/>
                  </a:lnTo>
                  <a:lnTo>
                    <a:pt x="163" y="499"/>
                  </a:lnTo>
                  <a:lnTo>
                    <a:pt x="195" y="310"/>
                  </a:lnTo>
                  <a:lnTo>
                    <a:pt x="195" y="259"/>
                  </a:lnTo>
                  <a:lnTo>
                    <a:pt x="239" y="190"/>
                  </a:lnTo>
                  <a:lnTo>
                    <a:pt x="291" y="172"/>
                  </a:lnTo>
                  <a:lnTo>
                    <a:pt x="385" y="172"/>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4" name="Freeform 307"/>
            <p:cNvSpPr>
              <a:spLocks/>
            </p:cNvSpPr>
            <p:nvPr/>
          </p:nvSpPr>
          <p:spPr bwMode="auto">
            <a:xfrm>
              <a:off x="5528" y="1970"/>
              <a:ext cx="124" cy="177"/>
            </a:xfrm>
            <a:custGeom>
              <a:avLst/>
              <a:gdLst>
                <a:gd name="T0" fmla="*/ 0 w 743"/>
                <a:gd name="T1" fmla="*/ 0 h 1068"/>
                <a:gd name="T2" fmla="*/ 0 w 743"/>
                <a:gd name="T3" fmla="*/ 0 h 1068"/>
                <a:gd name="T4" fmla="*/ 0 w 743"/>
                <a:gd name="T5" fmla="*/ 0 h 1068"/>
                <a:gd name="T6" fmla="*/ 0 w 743"/>
                <a:gd name="T7" fmla="*/ 0 h 1068"/>
                <a:gd name="T8" fmla="*/ 0 w 743"/>
                <a:gd name="T9" fmla="*/ 0 h 1068"/>
                <a:gd name="T10" fmla="*/ 0 w 743"/>
                <a:gd name="T11" fmla="*/ 0 h 1068"/>
                <a:gd name="T12" fmla="*/ 0 w 743"/>
                <a:gd name="T13" fmla="*/ 0 h 1068"/>
                <a:gd name="T14" fmla="*/ 0 w 743"/>
                <a:gd name="T15" fmla="*/ 0 h 1068"/>
                <a:gd name="T16" fmla="*/ 0 w 743"/>
                <a:gd name="T17" fmla="*/ 0 h 1068"/>
                <a:gd name="T18" fmla="*/ 0 w 743"/>
                <a:gd name="T19" fmla="*/ 0 h 1068"/>
                <a:gd name="T20" fmla="*/ 0 w 743"/>
                <a:gd name="T21" fmla="*/ 0 h 1068"/>
                <a:gd name="T22" fmla="*/ 0 w 743"/>
                <a:gd name="T23" fmla="*/ 0 h 1068"/>
                <a:gd name="T24" fmla="*/ 0 w 743"/>
                <a:gd name="T25" fmla="*/ 0 h 1068"/>
                <a:gd name="T26" fmla="*/ 0 w 743"/>
                <a:gd name="T27" fmla="*/ 0 h 1068"/>
                <a:gd name="T28" fmla="*/ 0 w 743"/>
                <a:gd name="T29" fmla="*/ 0 h 1068"/>
                <a:gd name="T30" fmla="*/ 0 w 743"/>
                <a:gd name="T31" fmla="*/ 0 h 1068"/>
                <a:gd name="T32" fmla="*/ 0 w 743"/>
                <a:gd name="T33" fmla="*/ 0 h 1068"/>
                <a:gd name="T34" fmla="*/ 0 w 743"/>
                <a:gd name="T35" fmla="*/ 0 h 1068"/>
                <a:gd name="T36" fmla="*/ 0 w 743"/>
                <a:gd name="T37" fmla="*/ 0 h 1068"/>
                <a:gd name="T38" fmla="*/ 0 w 743"/>
                <a:gd name="T39" fmla="*/ 0 h 1068"/>
                <a:gd name="T40" fmla="*/ 0 w 743"/>
                <a:gd name="T41" fmla="*/ 0 h 1068"/>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743" h="1068">
                  <a:moveTo>
                    <a:pt x="257" y="214"/>
                  </a:moveTo>
                  <a:lnTo>
                    <a:pt x="397" y="207"/>
                  </a:lnTo>
                  <a:lnTo>
                    <a:pt x="542" y="182"/>
                  </a:lnTo>
                  <a:lnTo>
                    <a:pt x="628" y="138"/>
                  </a:lnTo>
                  <a:lnTo>
                    <a:pt x="679" y="100"/>
                  </a:lnTo>
                  <a:lnTo>
                    <a:pt x="743" y="0"/>
                  </a:lnTo>
                  <a:lnTo>
                    <a:pt x="648" y="822"/>
                  </a:lnTo>
                  <a:lnTo>
                    <a:pt x="585" y="898"/>
                  </a:lnTo>
                  <a:lnTo>
                    <a:pt x="516" y="967"/>
                  </a:lnTo>
                  <a:lnTo>
                    <a:pt x="428" y="1016"/>
                  </a:lnTo>
                  <a:lnTo>
                    <a:pt x="353" y="1042"/>
                  </a:lnTo>
                  <a:lnTo>
                    <a:pt x="257" y="1055"/>
                  </a:lnTo>
                  <a:lnTo>
                    <a:pt x="170" y="1068"/>
                  </a:lnTo>
                  <a:lnTo>
                    <a:pt x="69" y="1068"/>
                  </a:lnTo>
                  <a:lnTo>
                    <a:pt x="24" y="1055"/>
                  </a:lnTo>
                  <a:lnTo>
                    <a:pt x="0" y="1016"/>
                  </a:lnTo>
                  <a:lnTo>
                    <a:pt x="11" y="956"/>
                  </a:lnTo>
                  <a:lnTo>
                    <a:pt x="75" y="809"/>
                  </a:lnTo>
                  <a:lnTo>
                    <a:pt x="184" y="321"/>
                  </a:lnTo>
                  <a:lnTo>
                    <a:pt x="201" y="252"/>
                  </a:lnTo>
                  <a:lnTo>
                    <a:pt x="257" y="21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15" name="Oval 308"/>
          <p:cNvSpPr>
            <a:spLocks noChangeArrowheads="1"/>
          </p:cNvSpPr>
          <p:nvPr/>
        </p:nvSpPr>
        <p:spPr bwMode="auto">
          <a:xfrm>
            <a:off x="6729874" y="3187665"/>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6" name="Oval 309"/>
          <p:cNvSpPr>
            <a:spLocks noChangeArrowheads="1"/>
          </p:cNvSpPr>
          <p:nvPr/>
        </p:nvSpPr>
        <p:spPr bwMode="auto">
          <a:xfrm>
            <a:off x="2763778" y="3028773"/>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317" name="Group 310"/>
          <p:cNvGrpSpPr>
            <a:grpSpLocks/>
          </p:cNvGrpSpPr>
          <p:nvPr/>
        </p:nvGrpSpPr>
        <p:grpSpPr bwMode="auto">
          <a:xfrm>
            <a:off x="3006374" y="3092887"/>
            <a:ext cx="289908" cy="267607"/>
            <a:chOff x="2351" y="2975"/>
            <a:chExt cx="481" cy="433"/>
          </a:xfrm>
          <a:effectLst/>
        </p:grpSpPr>
        <p:sp>
          <p:nvSpPr>
            <p:cNvPr id="318" name="Rectangle 311"/>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9" name="Line 312"/>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0" name="Line 313"/>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1" name="Line 314"/>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2" name="Line 315"/>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3" name="Line 316"/>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4" name="Line 317"/>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5" name="Line 318"/>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6" name="Line 319"/>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7" name="Group 320"/>
          <p:cNvGrpSpPr>
            <a:grpSpLocks/>
          </p:cNvGrpSpPr>
          <p:nvPr/>
        </p:nvGrpSpPr>
        <p:grpSpPr bwMode="auto">
          <a:xfrm>
            <a:off x="2939937" y="3416246"/>
            <a:ext cx="463047" cy="267607"/>
            <a:chOff x="1296" y="768"/>
            <a:chExt cx="556" cy="336"/>
          </a:xfrm>
          <a:effectLst/>
        </p:grpSpPr>
        <p:sp>
          <p:nvSpPr>
            <p:cNvPr id="328" name="Rectangle 321"/>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29" name="Group 322"/>
            <p:cNvGrpSpPr>
              <a:grpSpLocks/>
            </p:cNvGrpSpPr>
            <p:nvPr/>
          </p:nvGrpSpPr>
          <p:grpSpPr bwMode="auto">
            <a:xfrm>
              <a:off x="1367" y="829"/>
              <a:ext cx="393" cy="214"/>
              <a:chOff x="2928" y="3744"/>
              <a:chExt cx="528" cy="336"/>
            </a:xfrm>
          </p:grpSpPr>
          <p:grpSp>
            <p:nvGrpSpPr>
              <p:cNvPr id="330" name="Group 323"/>
              <p:cNvGrpSpPr>
                <a:grpSpLocks/>
              </p:cNvGrpSpPr>
              <p:nvPr/>
            </p:nvGrpSpPr>
            <p:grpSpPr bwMode="auto">
              <a:xfrm>
                <a:off x="3024" y="3744"/>
                <a:ext cx="432" cy="240"/>
                <a:chOff x="2736" y="3648"/>
                <a:chExt cx="432" cy="240"/>
              </a:xfrm>
            </p:grpSpPr>
            <p:grpSp>
              <p:nvGrpSpPr>
                <p:cNvPr id="345" name="Group 324"/>
                <p:cNvGrpSpPr>
                  <a:grpSpLocks/>
                </p:cNvGrpSpPr>
                <p:nvPr/>
              </p:nvGrpSpPr>
              <p:grpSpPr bwMode="auto">
                <a:xfrm>
                  <a:off x="2736" y="3648"/>
                  <a:ext cx="432" cy="240"/>
                  <a:chOff x="2592" y="3504"/>
                  <a:chExt cx="576" cy="384"/>
                </a:xfrm>
              </p:grpSpPr>
              <p:sp>
                <p:nvSpPr>
                  <p:cNvPr id="347" name="Rectangle 325"/>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8" name="Freeform 326"/>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9" name="Line 327"/>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0" name="Line 328"/>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6" name="Line 329"/>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1" name="Group 330"/>
              <p:cNvGrpSpPr>
                <a:grpSpLocks/>
              </p:cNvGrpSpPr>
              <p:nvPr/>
            </p:nvGrpSpPr>
            <p:grpSpPr bwMode="auto">
              <a:xfrm>
                <a:off x="2976" y="3792"/>
                <a:ext cx="432" cy="240"/>
                <a:chOff x="2736" y="3648"/>
                <a:chExt cx="432" cy="240"/>
              </a:xfrm>
            </p:grpSpPr>
            <p:grpSp>
              <p:nvGrpSpPr>
                <p:cNvPr id="339" name="Group 331"/>
                <p:cNvGrpSpPr>
                  <a:grpSpLocks/>
                </p:cNvGrpSpPr>
                <p:nvPr/>
              </p:nvGrpSpPr>
              <p:grpSpPr bwMode="auto">
                <a:xfrm>
                  <a:off x="2736" y="3648"/>
                  <a:ext cx="432" cy="240"/>
                  <a:chOff x="2592" y="3504"/>
                  <a:chExt cx="576" cy="384"/>
                </a:xfrm>
              </p:grpSpPr>
              <p:sp>
                <p:nvSpPr>
                  <p:cNvPr id="341" name="Rectangle 332"/>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2" name="Freeform 333"/>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3" name="Line 334"/>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4" name="Line 335"/>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0" name="Line 336"/>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2" name="Group 337"/>
              <p:cNvGrpSpPr>
                <a:grpSpLocks/>
              </p:cNvGrpSpPr>
              <p:nvPr/>
            </p:nvGrpSpPr>
            <p:grpSpPr bwMode="auto">
              <a:xfrm>
                <a:off x="2928" y="3840"/>
                <a:ext cx="432" cy="240"/>
                <a:chOff x="2736" y="3648"/>
                <a:chExt cx="432" cy="240"/>
              </a:xfrm>
            </p:grpSpPr>
            <p:grpSp>
              <p:nvGrpSpPr>
                <p:cNvPr id="333" name="Group 338"/>
                <p:cNvGrpSpPr>
                  <a:grpSpLocks/>
                </p:cNvGrpSpPr>
                <p:nvPr/>
              </p:nvGrpSpPr>
              <p:grpSpPr bwMode="auto">
                <a:xfrm>
                  <a:off x="2736" y="3648"/>
                  <a:ext cx="432" cy="240"/>
                  <a:chOff x="2592" y="3504"/>
                  <a:chExt cx="576" cy="384"/>
                </a:xfrm>
              </p:grpSpPr>
              <p:sp>
                <p:nvSpPr>
                  <p:cNvPr id="335" name="Rectangle 339"/>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36" name="Freeform 340"/>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7" name="Line 341"/>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8" name="Line 342"/>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34" name="Line 343"/>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sp>
        <p:nvSpPr>
          <p:cNvPr id="351" name="Freeform 344"/>
          <p:cNvSpPr>
            <a:spLocks/>
          </p:cNvSpPr>
          <p:nvPr/>
        </p:nvSpPr>
        <p:spPr bwMode="auto">
          <a:xfrm>
            <a:off x="2220201" y="3228550"/>
            <a:ext cx="785167" cy="290837"/>
          </a:xfrm>
          <a:custGeom>
            <a:avLst/>
            <a:gdLst>
              <a:gd name="T0" fmla="*/ 0 w 780"/>
              <a:gd name="T1" fmla="*/ 2147483646 h 313"/>
              <a:gd name="T2" fmla="*/ 2147483646 w 780"/>
              <a:gd name="T3" fmla="*/ 2147483646 h 313"/>
              <a:gd name="T4" fmla="*/ 2147483646 w 780"/>
              <a:gd name="T5" fmla="*/ 2147483646 h 313"/>
              <a:gd name="T6" fmla="*/ 2147483646 w 780"/>
              <a:gd name="T7" fmla="*/ 2147483646 h 313"/>
              <a:gd name="T8" fmla="*/ 2147483646 w 780"/>
              <a:gd name="T9" fmla="*/ 2147483646 h 313"/>
              <a:gd name="T10" fmla="*/ 2147483646 w 780"/>
              <a:gd name="T11" fmla="*/ 2147483646 h 313"/>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80" h="313">
                <a:moveTo>
                  <a:pt x="0" y="99"/>
                </a:moveTo>
                <a:cubicBezTo>
                  <a:pt x="38" y="85"/>
                  <a:pt x="154" y="26"/>
                  <a:pt x="228" y="13"/>
                </a:cubicBezTo>
                <a:cubicBezTo>
                  <a:pt x="302" y="0"/>
                  <a:pt x="385" y="10"/>
                  <a:pt x="444" y="19"/>
                </a:cubicBezTo>
                <a:cubicBezTo>
                  <a:pt x="503" y="28"/>
                  <a:pt x="534" y="34"/>
                  <a:pt x="582" y="67"/>
                </a:cubicBezTo>
                <a:cubicBezTo>
                  <a:pt x="630" y="100"/>
                  <a:pt x="699" y="176"/>
                  <a:pt x="732" y="217"/>
                </a:cubicBezTo>
                <a:cubicBezTo>
                  <a:pt x="765" y="258"/>
                  <a:pt x="768" y="289"/>
                  <a:pt x="780" y="313"/>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2" name="Freeform 345"/>
          <p:cNvSpPr>
            <a:spLocks/>
          </p:cNvSpPr>
          <p:nvPr/>
        </p:nvSpPr>
        <p:spPr bwMode="auto">
          <a:xfrm>
            <a:off x="3198639" y="2876385"/>
            <a:ext cx="2829619" cy="598399"/>
          </a:xfrm>
          <a:custGeom>
            <a:avLst/>
            <a:gdLst>
              <a:gd name="T0" fmla="*/ 0 w 2811"/>
              <a:gd name="T1" fmla="*/ 2147483646 h 644"/>
              <a:gd name="T2" fmla="*/ 2147483646 w 2811"/>
              <a:gd name="T3" fmla="*/ 2147483646 h 644"/>
              <a:gd name="T4" fmla="*/ 2147483646 w 2811"/>
              <a:gd name="T5" fmla="*/ 2147483646 h 644"/>
              <a:gd name="T6" fmla="*/ 2147483646 w 2811"/>
              <a:gd name="T7" fmla="*/ 2147483646 h 644"/>
              <a:gd name="T8" fmla="*/ 2147483646 w 2811"/>
              <a:gd name="T9" fmla="*/ 2147483646 h 644"/>
              <a:gd name="T10" fmla="*/ 2147483646 w 2811"/>
              <a:gd name="T11" fmla="*/ 2147483646 h 644"/>
              <a:gd name="T12" fmla="*/ 2147483646 w 2811"/>
              <a:gd name="T13" fmla="*/ 2147483646 h 64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811" h="644">
                <a:moveTo>
                  <a:pt x="0" y="644"/>
                </a:moveTo>
                <a:cubicBezTo>
                  <a:pt x="81" y="585"/>
                  <a:pt x="354" y="376"/>
                  <a:pt x="488" y="292"/>
                </a:cubicBezTo>
                <a:cubicBezTo>
                  <a:pt x="622" y="208"/>
                  <a:pt x="688" y="181"/>
                  <a:pt x="807" y="137"/>
                </a:cubicBezTo>
                <a:cubicBezTo>
                  <a:pt x="926" y="93"/>
                  <a:pt x="1051" y="49"/>
                  <a:pt x="1200" y="28"/>
                </a:cubicBezTo>
                <a:cubicBezTo>
                  <a:pt x="1349" y="7"/>
                  <a:pt x="1533" y="0"/>
                  <a:pt x="1704" y="12"/>
                </a:cubicBezTo>
                <a:cubicBezTo>
                  <a:pt x="1875" y="24"/>
                  <a:pt x="2042" y="45"/>
                  <a:pt x="2226" y="98"/>
                </a:cubicBezTo>
                <a:cubicBezTo>
                  <a:pt x="2410" y="151"/>
                  <a:pt x="2689" y="281"/>
                  <a:pt x="2811" y="32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3" name="Freeform 346"/>
          <p:cNvSpPr>
            <a:spLocks/>
          </p:cNvSpPr>
          <p:nvPr/>
        </p:nvSpPr>
        <p:spPr bwMode="auto">
          <a:xfrm>
            <a:off x="6090669" y="3048286"/>
            <a:ext cx="731815" cy="203493"/>
          </a:xfrm>
          <a:custGeom>
            <a:avLst/>
            <a:gdLst>
              <a:gd name="T0" fmla="*/ 0 w 727"/>
              <a:gd name="T1" fmla="*/ 2147483646 h 219"/>
              <a:gd name="T2" fmla="*/ 2147483646 w 727"/>
              <a:gd name="T3" fmla="*/ 2147483646 h 219"/>
              <a:gd name="T4" fmla="*/ 2147483646 w 727"/>
              <a:gd name="T5" fmla="*/ 2147483646 h 219"/>
              <a:gd name="T6" fmla="*/ 2147483646 w 727"/>
              <a:gd name="T7" fmla="*/ 2147483646 h 219"/>
              <a:gd name="T8" fmla="*/ 2147483646 w 727"/>
              <a:gd name="T9" fmla="*/ 2147483646 h 219"/>
              <a:gd name="T10" fmla="*/ 2147483646 w 727"/>
              <a:gd name="T11" fmla="*/ 2147483646 h 219"/>
              <a:gd name="T12" fmla="*/ 2147483646 w 727"/>
              <a:gd name="T13" fmla="*/ 2147483646 h 21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27" h="219">
                <a:moveTo>
                  <a:pt x="0" y="129"/>
                </a:moveTo>
                <a:cubicBezTo>
                  <a:pt x="24" y="114"/>
                  <a:pt x="107" y="58"/>
                  <a:pt x="145" y="38"/>
                </a:cubicBezTo>
                <a:cubicBezTo>
                  <a:pt x="183" y="18"/>
                  <a:pt x="202" y="15"/>
                  <a:pt x="229" y="9"/>
                </a:cubicBezTo>
                <a:cubicBezTo>
                  <a:pt x="256" y="3"/>
                  <a:pt x="282" y="3"/>
                  <a:pt x="307" y="3"/>
                </a:cubicBezTo>
                <a:cubicBezTo>
                  <a:pt x="332" y="3"/>
                  <a:pt x="353" y="0"/>
                  <a:pt x="382" y="6"/>
                </a:cubicBezTo>
                <a:cubicBezTo>
                  <a:pt x="411" y="12"/>
                  <a:pt x="423" y="3"/>
                  <a:pt x="481" y="39"/>
                </a:cubicBezTo>
                <a:cubicBezTo>
                  <a:pt x="539" y="75"/>
                  <a:pt x="676" y="182"/>
                  <a:pt x="727" y="21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4" name="Text Box 347"/>
          <p:cNvSpPr txBox="1">
            <a:spLocks noChangeArrowheads="1"/>
          </p:cNvSpPr>
          <p:nvPr/>
        </p:nvSpPr>
        <p:spPr bwMode="auto">
          <a:xfrm>
            <a:off x="4452133" y="268868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5" name="Text Box 348"/>
          <p:cNvSpPr txBox="1">
            <a:spLocks noChangeArrowheads="1"/>
          </p:cNvSpPr>
          <p:nvPr/>
        </p:nvSpPr>
        <p:spPr bwMode="auto">
          <a:xfrm>
            <a:off x="2363458" y="302133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6" name="Text Box 349"/>
          <p:cNvSpPr txBox="1">
            <a:spLocks noChangeArrowheads="1"/>
          </p:cNvSpPr>
          <p:nvPr/>
        </p:nvSpPr>
        <p:spPr bwMode="auto">
          <a:xfrm>
            <a:off x="6208592" y="281936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POP3</a:t>
            </a:r>
          </a:p>
        </p:txBody>
      </p:sp>
      <p:sp>
        <p:nvSpPr>
          <p:cNvPr id="357" name="Text Box 350"/>
          <p:cNvSpPr txBox="1">
            <a:spLocks noChangeArrowheads="1"/>
          </p:cNvSpPr>
          <p:nvPr/>
        </p:nvSpPr>
        <p:spPr bwMode="auto">
          <a:xfrm>
            <a:off x="3246958"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358" name="Line 351"/>
          <p:cNvSpPr>
            <a:spLocks noChangeShapeType="1"/>
          </p:cNvSpPr>
          <p:nvPr/>
        </p:nvSpPr>
        <p:spPr bwMode="auto">
          <a:xfrm flipH="1" flipV="1">
            <a:off x="6849663" y="3219256"/>
            <a:ext cx="85563" cy="67645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9" name="Line 352"/>
          <p:cNvSpPr>
            <a:spLocks noChangeShapeType="1"/>
          </p:cNvSpPr>
          <p:nvPr/>
        </p:nvSpPr>
        <p:spPr bwMode="auto">
          <a:xfrm flipV="1">
            <a:off x="2715460" y="3608588"/>
            <a:ext cx="386543" cy="356809"/>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0" name="Line 353"/>
          <p:cNvSpPr>
            <a:spLocks noChangeShapeType="1"/>
          </p:cNvSpPr>
          <p:nvPr/>
        </p:nvSpPr>
        <p:spPr bwMode="auto">
          <a:xfrm flipV="1">
            <a:off x="2119539" y="3330760"/>
            <a:ext cx="109722" cy="51291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1" name="Text Box 354"/>
          <p:cNvSpPr txBox="1">
            <a:spLocks noChangeArrowheads="1"/>
          </p:cNvSpPr>
          <p:nvPr/>
        </p:nvSpPr>
        <p:spPr bwMode="auto">
          <a:xfrm>
            <a:off x="1797420" y="3839482"/>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362" name="Text Box 355"/>
          <p:cNvSpPr txBox="1">
            <a:spLocks noChangeArrowheads="1"/>
          </p:cNvSpPr>
          <p:nvPr/>
        </p:nvSpPr>
        <p:spPr bwMode="auto">
          <a:xfrm>
            <a:off x="5421264" y="2611566"/>
            <a:ext cx="646331" cy="23083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用户邮箱</a:t>
            </a:r>
          </a:p>
        </p:txBody>
      </p:sp>
      <p:sp>
        <p:nvSpPr>
          <p:cNvPr id="363" name="Line 356"/>
          <p:cNvSpPr>
            <a:spLocks noChangeShapeType="1"/>
          </p:cNvSpPr>
          <p:nvPr/>
        </p:nvSpPr>
        <p:spPr bwMode="auto">
          <a:xfrm rot="10800000" flipH="1" flipV="1">
            <a:off x="5759489" y="2805767"/>
            <a:ext cx="278835" cy="26017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4" name="Text Box 357"/>
          <p:cNvSpPr txBox="1">
            <a:spLocks noChangeArrowheads="1"/>
          </p:cNvSpPr>
          <p:nvPr/>
        </p:nvSpPr>
        <p:spPr bwMode="auto">
          <a:xfrm>
            <a:off x="6898987" y="2789971"/>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p:txBody>
      </p:sp>
      <p:sp>
        <p:nvSpPr>
          <p:cNvPr id="365" name="Line 358"/>
          <p:cNvSpPr>
            <a:spLocks noChangeShapeType="1"/>
          </p:cNvSpPr>
          <p:nvPr/>
        </p:nvSpPr>
        <p:spPr bwMode="auto">
          <a:xfrm flipV="1">
            <a:off x="5517900" y="3761905"/>
            <a:ext cx="377484" cy="23601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6" name="Line 359"/>
          <p:cNvSpPr>
            <a:spLocks noChangeShapeType="1"/>
          </p:cNvSpPr>
          <p:nvPr/>
        </p:nvSpPr>
        <p:spPr bwMode="auto">
          <a:xfrm flipH="1" flipV="1">
            <a:off x="3295275" y="3786993"/>
            <a:ext cx="277828" cy="21743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7" name="Text Box 375"/>
          <p:cNvSpPr txBox="1">
            <a:spLocks noChangeArrowheads="1"/>
          </p:cNvSpPr>
          <p:nvPr/>
        </p:nvSpPr>
        <p:spPr bwMode="auto">
          <a:xfrm>
            <a:off x="2238321" y="2864306"/>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68" name="Text Box 376"/>
          <p:cNvSpPr txBox="1">
            <a:spLocks noChangeArrowheads="1"/>
          </p:cNvSpPr>
          <p:nvPr/>
        </p:nvSpPr>
        <p:spPr bwMode="auto">
          <a:xfrm>
            <a:off x="4248816" y="2525725"/>
            <a:ext cx="877163"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p>
        </p:txBody>
      </p:sp>
      <p:sp>
        <p:nvSpPr>
          <p:cNvPr id="369" name="Text Box 379"/>
          <p:cNvSpPr txBox="1">
            <a:spLocks noChangeArrowheads="1"/>
          </p:cNvSpPr>
          <p:nvPr/>
        </p:nvSpPr>
        <p:spPr bwMode="auto">
          <a:xfrm>
            <a:off x="6083622" y="2674751"/>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读取邮件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70" name="Text Box 384"/>
          <p:cNvSpPr txBox="1">
            <a:spLocks noChangeArrowheads="1"/>
          </p:cNvSpPr>
          <p:nvPr/>
        </p:nvSpPr>
        <p:spPr bwMode="auto">
          <a:xfrm>
            <a:off x="4364242" y="3331097"/>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互联网</a:t>
            </a:r>
          </a:p>
        </p:txBody>
      </p:sp>
      <p:sp>
        <p:nvSpPr>
          <p:cNvPr id="371" name="Rectangle 385"/>
          <p:cNvSpPr>
            <a:spLocks noChangeArrowheads="1"/>
          </p:cNvSpPr>
          <p:nvPr/>
        </p:nvSpPr>
        <p:spPr bwMode="auto">
          <a:xfrm>
            <a:off x="6814430" y="1445137"/>
            <a:ext cx="547603" cy="1011889"/>
          </a:xfrm>
          <a:prstGeom prst="rect">
            <a:avLst/>
          </a:prstGeom>
          <a:solidFill>
            <a:srgbClr val="00FFCC"/>
          </a:solidFill>
          <a:ln w="9525"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2" name="Rectangle 386"/>
          <p:cNvSpPr>
            <a:spLocks noChangeArrowheads="1"/>
          </p:cNvSpPr>
          <p:nvPr/>
        </p:nvSpPr>
        <p:spPr bwMode="auto">
          <a:xfrm>
            <a:off x="2842294" y="1438632"/>
            <a:ext cx="547603" cy="1018393"/>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3" name="Rectangle 387"/>
          <p:cNvSpPr>
            <a:spLocks noChangeArrowheads="1"/>
          </p:cNvSpPr>
          <p:nvPr/>
        </p:nvSpPr>
        <p:spPr bwMode="auto">
          <a:xfrm>
            <a:off x="1746082" y="1438632"/>
            <a:ext cx="547603" cy="1018393"/>
          </a:xfrm>
          <a:prstGeom prst="rect">
            <a:avLst/>
          </a:prstGeom>
          <a:solidFill>
            <a:srgbClr val="00FFCC"/>
          </a:solidFill>
          <a:ln w="9525">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4" name="Line 388"/>
          <p:cNvSpPr>
            <a:spLocks noChangeShapeType="1"/>
          </p:cNvSpPr>
          <p:nvPr/>
        </p:nvSpPr>
        <p:spPr bwMode="auto">
          <a:xfrm>
            <a:off x="2129605" y="1697876"/>
            <a:ext cx="757988"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75" name="Text Box 389"/>
          <p:cNvSpPr txBox="1">
            <a:spLocks noChangeArrowheads="1"/>
          </p:cNvSpPr>
          <p:nvPr/>
        </p:nvSpPr>
        <p:spPr bwMode="auto">
          <a:xfrm>
            <a:off x="2303061" y="1471491"/>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SMTP</a:t>
            </a:r>
          </a:p>
        </p:txBody>
      </p:sp>
      <p:sp>
        <p:nvSpPr>
          <p:cNvPr id="376" name="Text Box 390"/>
          <p:cNvSpPr txBox="1">
            <a:spLocks noChangeArrowheads="1"/>
          </p:cNvSpPr>
          <p:nvPr/>
        </p:nvSpPr>
        <p:spPr bwMode="auto">
          <a:xfrm>
            <a:off x="6268517" y="147069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POP3</a:t>
            </a:r>
          </a:p>
        </p:txBody>
      </p:sp>
      <p:sp>
        <p:nvSpPr>
          <p:cNvPr id="377" name="Text Box 391"/>
          <p:cNvSpPr txBox="1">
            <a:spLocks noChangeArrowheads="1"/>
          </p:cNvSpPr>
          <p:nvPr/>
        </p:nvSpPr>
        <p:spPr bwMode="auto">
          <a:xfrm>
            <a:off x="2319473" y="1178330"/>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78" name="Text Box 392"/>
          <p:cNvSpPr txBox="1">
            <a:spLocks noChangeArrowheads="1"/>
          </p:cNvSpPr>
          <p:nvPr/>
        </p:nvSpPr>
        <p:spPr bwMode="auto">
          <a:xfrm>
            <a:off x="3916093" y="1896419"/>
            <a:ext cx="1241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发送邮件 </a:t>
            </a:r>
            <a:r>
              <a:rPr kumimoji="1" lang="en-US" altLang="zh-CN" sz="1200" b="1" dirty="0">
                <a:solidFill>
                  <a:srgbClr val="C00000"/>
                </a:solidFill>
                <a:latin typeface="微软雅黑 Light" panose="020B0502040204020203" pitchFamily="34" charset="-122"/>
                <a:ea typeface="微软雅黑 Light" panose="020B0502040204020203" pitchFamily="34" charset="-122"/>
              </a:rPr>
              <a:t>SMTP</a:t>
            </a:r>
          </a:p>
        </p:txBody>
      </p:sp>
      <p:sp>
        <p:nvSpPr>
          <p:cNvPr id="379" name="Text Box 393"/>
          <p:cNvSpPr txBox="1">
            <a:spLocks noChangeArrowheads="1"/>
          </p:cNvSpPr>
          <p:nvPr/>
        </p:nvSpPr>
        <p:spPr bwMode="auto">
          <a:xfrm>
            <a:off x="6284273" y="119239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读取</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80" name="Text Box 394"/>
          <p:cNvSpPr txBox="1">
            <a:spLocks noChangeArrowheads="1"/>
          </p:cNvSpPr>
          <p:nvPr/>
        </p:nvSpPr>
        <p:spPr bwMode="auto">
          <a:xfrm>
            <a:off x="2330846" y="1717775"/>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1" name="Text Box 395"/>
          <p:cNvSpPr txBox="1">
            <a:spLocks noChangeArrowheads="1"/>
          </p:cNvSpPr>
          <p:nvPr/>
        </p:nvSpPr>
        <p:spPr bwMode="auto">
          <a:xfrm>
            <a:off x="6297159" y="170125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2" name="Text Box 396"/>
          <p:cNvSpPr txBox="1">
            <a:spLocks noChangeArrowheads="1"/>
          </p:cNvSpPr>
          <p:nvPr/>
        </p:nvSpPr>
        <p:spPr bwMode="auto">
          <a:xfrm>
            <a:off x="2736115"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3" name="Oval 397"/>
          <p:cNvSpPr>
            <a:spLocks noChangeArrowheads="1"/>
          </p:cNvSpPr>
          <p:nvPr/>
        </p:nvSpPr>
        <p:spPr bwMode="auto">
          <a:xfrm>
            <a:off x="1791380" y="1486950"/>
            <a:ext cx="456001"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4" name="Oval 398"/>
          <p:cNvSpPr>
            <a:spLocks noChangeArrowheads="1"/>
          </p:cNvSpPr>
          <p:nvPr/>
        </p:nvSpPr>
        <p:spPr bwMode="auto">
          <a:xfrm>
            <a:off x="6859729" y="1486950"/>
            <a:ext cx="456000"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5" name="Text Box 399"/>
          <p:cNvSpPr txBox="1">
            <a:spLocks noChangeArrowheads="1"/>
          </p:cNvSpPr>
          <p:nvPr/>
        </p:nvSpPr>
        <p:spPr bwMode="auto">
          <a:xfrm>
            <a:off x="1695592"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86" name="Text Box 400"/>
          <p:cNvSpPr txBox="1">
            <a:spLocks noChangeArrowheads="1"/>
          </p:cNvSpPr>
          <p:nvPr/>
        </p:nvSpPr>
        <p:spPr bwMode="auto">
          <a:xfrm>
            <a:off x="5621097"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7" name="Rectangle 401"/>
          <p:cNvSpPr>
            <a:spLocks noChangeArrowheads="1"/>
          </p:cNvSpPr>
          <p:nvPr/>
        </p:nvSpPr>
        <p:spPr bwMode="auto">
          <a:xfrm>
            <a:off x="5719224" y="1445137"/>
            <a:ext cx="547603" cy="101188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8" name="Oval 402"/>
          <p:cNvSpPr>
            <a:spLocks noChangeArrowheads="1"/>
          </p:cNvSpPr>
          <p:nvPr/>
        </p:nvSpPr>
        <p:spPr bwMode="auto">
          <a:xfrm>
            <a:off x="5764523" y="1950617"/>
            <a:ext cx="456000" cy="420923"/>
          </a:xfrm>
          <a:prstGeom prst="ellipse">
            <a:avLst/>
          </a:prstGeom>
          <a:solidFill>
            <a:schemeClr val="bg1"/>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89" name="Oval 403"/>
          <p:cNvSpPr>
            <a:spLocks noChangeArrowheads="1"/>
          </p:cNvSpPr>
          <p:nvPr/>
        </p:nvSpPr>
        <p:spPr bwMode="auto">
          <a:xfrm>
            <a:off x="5764523" y="1486950"/>
            <a:ext cx="456000" cy="420924"/>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0" name="Line 404"/>
          <p:cNvSpPr>
            <a:spLocks noChangeShapeType="1"/>
          </p:cNvSpPr>
          <p:nvPr/>
        </p:nvSpPr>
        <p:spPr bwMode="auto">
          <a:xfrm flipV="1">
            <a:off x="3298295" y="2161543"/>
            <a:ext cx="2465220"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1" name="Oval 405"/>
          <p:cNvSpPr>
            <a:spLocks noChangeArrowheads="1"/>
          </p:cNvSpPr>
          <p:nvPr/>
        </p:nvSpPr>
        <p:spPr bwMode="auto">
          <a:xfrm>
            <a:off x="2888599" y="1486950"/>
            <a:ext cx="456001" cy="420924"/>
          </a:xfrm>
          <a:prstGeom prst="ellipse">
            <a:avLst/>
          </a:prstGeom>
          <a:solidFill>
            <a:schemeClr val="bg1"/>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2" name="Oval 406"/>
          <p:cNvSpPr>
            <a:spLocks noChangeArrowheads="1"/>
          </p:cNvSpPr>
          <p:nvPr/>
        </p:nvSpPr>
        <p:spPr bwMode="auto">
          <a:xfrm>
            <a:off x="2888599" y="1950617"/>
            <a:ext cx="456001" cy="420923"/>
          </a:xfrm>
          <a:prstGeom prst="ellipse">
            <a:avLst/>
          </a:prstGeom>
          <a:solidFill>
            <a:srgbClr val="FFFF00"/>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93" name="Text Box 407"/>
          <p:cNvSpPr txBox="1">
            <a:spLocks noChangeArrowheads="1"/>
          </p:cNvSpPr>
          <p:nvPr/>
        </p:nvSpPr>
        <p:spPr bwMode="auto">
          <a:xfrm>
            <a:off x="6770220"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94" name="Line 408"/>
          <p:cNvSpPr>
            <a:spLocks noChangeShapeType="1"/>
          </p:cNvSpPr>
          <p:nvPr/>
        </p:nvSpPr>
        <p:spPr bwMode="auto">
          <a:xfrm flipV="1">
            <a:off x="6220523" y="1697876"/>
            <a:ext cx="639206"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5" name="Text Box 409"/>
          <p:cNvSpPr txBox="1">
            <a:spLocks noChangeArrowheads="1"/>
          </p:cNvSpPr>
          <p:nvPr/>
        </p:nvSpPr>
        <p:spPr bwMode="auto">
          <a:xfrm>
            <a:off x="4130961" y="2121283"/>
            <a:ext cx="83426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TCP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连接</a:t>
            </a:r>
          </a:p>
        </p:txBody>
      </p:sp>
      <p:sp>
        <p:nvSpPr>
          <p:cNvPr id="396" name="Text Box 399"/>
          <p:cNvSpPr txBox="1">
            <a:spLocks noChangeArrowheads="1"/>
          </p:cNvSpPr>
          <p:nvPr/>
        </p:nvSpPr>
        <p:spPr bwMode="auto">
          <a:xfrm>
            <a:off x="1096459" y="1081823"/>
            <a:ext cx="53091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发件人</a:t>
            </a:r>
          </a:p>
        </p:txBody>
      </p:sp>
      <p:grpSp>
        <p:nvGrpSpPr>
          <p:cNvPr id="254" name="Group 247"/>
          <p:cNvGrpSpPr>
            <a:grpSpLocks/>
          </p:cNvGrpSpPr>
          <p:nvPr/>
        </p:nvGrpSpPr>
        <p:grpSpPr bwMode="auto">
          <a:xfrm>
            <a:off x="6953345" y="3397662"/>
            <a:ext cx="350305" cy="144024"/>
            <a:chOff x="5266" y="2029"/>
            <a:chExt cx="348" cy="155"/>
          </a:xfrm>
        </p:grpSpPr>
        <p:sp>
          <p:nvSpPr>
            <p:cNvPr id="255" name="Freeform 248"/>
            <p:cNvSpPr>
              <a:spLocks/>
            </p:cNvSpPr>
            <p:nvPr/>
          </p:nvSpPr>
          <p:spPr bwMode="auto">
            <a:xfrm>
              <a:off x="5266" y="2029"/>
              <a:ext cx="348" cy="155"/>
            </a:xfrm>
            <a:custGeom>
              <a:avLst/>
              <a:gdLst>
                <a:gd name="T0" fmla="*/ 0 w 2091"/>
                <a:gd name="T1" fmla="*/ 0 h 931"/>
                <a:gd name="T2" fmla="*/ 0 w 2091"/>
                <a:gd name="T3" fmla="*/ 0 h 931"/>
                <a:gd name="T4" fmla="*/ 0 w 2091"/>
                <a:gd name="T5" fmla="*/ 0 h 931"/>
                <a:gd name="T6" fmla="*/ 0 w 2091"/>
                <a:gd name="T7" fmla="*/ 0 h 931"/>
                <a:gd name="T8" fmla="*/ 0 w 2091"/>
                <a:gd name="T9" fmla="*/ 0 h 931"/>
                <a:gd name="T10" fmla="*/ 0 w 2091"/>
                <a:gd name="T11" fmla="*/ 0 h 931"/>
                <a:gd name="T12" fmla="*/ 0 w 2091"/>
                <a:gd name="T13" fmla="*/ 0 h 931"/>
                <a:gd name="T14" fmla="*/ 0 w 2091"/>
                <a:gd name="T15" fmla="*/ 0 h 931"/>
                <a:gd name="T16" fmla="*/ 0 w 2091"/>
                <a:gd name="T17" fmla="*/ 0 h 931"/>
                <a:gd name="T18" fmla="*/ 0 w 2091"/>
                <a:gd name="T19" fmla="*/ 0 h 931"/>
                <a:gd name="T20" fmla="*/ 0 w 2091"/>
                <a:gd name="T21" fmla="*/ 0 h 931"/>
                <a:gd name="T22" fmla="*/ 0 w 2091"/>
                <a:gd name="T23" fmla="*/ 0 h 931"/>
                <a:gd name="T24" fmla="*/ 0 w 2091"/>
                <a:gd name="T25" fmla="*/ 0 h 931"/>
                <a:gd name="T26" fmla="*/ 0 w 2091"/>
                <a:gd name="T27" fmla="*/ 0 h 931"/>
                <a:gd name="T28" fmla="*/ 0 w 2091"/>
                <a:gd name="T29" fmla="*/ 0 h 931"/>
                <a:gd name="T30" fmla="*/ 0 w 2091"/>
                <a:gd name="T31" fmla="*/ 0 h 931"/>
                <a:gd name="T32" fmla="*/ 0 w 2091"/>
                <a:gd name="T33" fmla="*/ 0 h 931"/>
                <a:gd name="T34" fmla="*/ 0 w 2091"/>
                <a:gd name="T35" fmla="*/ 0 h 931"/>
                <a:gd name="T36" fmla="*/ 0 w 2091"/>
                <a:gd name="T37" fmla="*/ 0 h 931"/>
                <a:gd name="T38" fmla="*/ 0 w 2091"/>
                <a:gd name="T39" fmla="*/ 0 h 931"/>
                <a:gd name="T40" fmla="*/ 0 w 2091"/>
                <a:gd name="T41" fmla="*/ 0 h 931"/>
                <a:gd name="T42" fmla="*/ 0 w 2091"/>
                <a:gd name="T43" fmla="*/ 0 h 931"/>
                <a:gd name="T44" fmla="*/ 0 w 2091"/>
                <a:gd name="T45" fmla="*/ 0 h 931"/>
                <a:gd name="T46" fmla="*/ 0 w 2091"/>
                <a:gd name="T47" fmla="*/ 0 h 931"/>
                <a:gd name="T48" fmla="*/ 0 w 2091"/>
                <a:gd name="T49" fmla="*/ 0 h 931"/>
                <a:gd name="T50" fmla="*/ 0 w 2091"/>
                <a:gd name="T51" fmla="*/ 0 h 931"/>
                <a:gd name="T52" fmla="*/ 0 w 2091"/>
                <a:gd name="T53" fmla="*/ 0 h 931"/>
                <a:gd name="T54" fmla="*/ 0 w 2091"/>
                <a:gd name="T55" fmla="*/ 0 h 931"/>
                <a:gd name="T56" fmla="*/ 0 w 2091"/>
                <a:gd name="T57" fmla="*/ 0 h 931"/>
                <a:gd name="T58" fmla="*/ 0 w 2091"/>
                <a:gd name="T59" fmla="*/ 0 h 931"/>
                <a:gd name="T60" fmla="*/ 0 w 2091"/>
                <a:gd name="T61" fmla="*/ 0 h 931"/>
                <a:gd name="T62" fmla="*/ 0 w 2091"/>
                <a:gd name="T63" fmla="*/ 0 h 931"/>
                <a:gd name="T64" fmla="*/ 0 w 2091"/>
                <a:gd name="T65" fmla="*/ 0 h 931"/>
                <a:gd name="T66" fmla="*/ 0 w 2091"/>
                <a:gd name="T67" fmla="*/ 0 h 931"/>
                <a:gd name="T68" fmla="*/ 0 w 2091"/>
                <a:gd name="T69" fmla="*/ 0 h 931"/>
                <a:gd name="T70" fmla="*/ 0 w 2091"/>
                <a:gd name="T71" fmla="*/ 0 h 931"/>
                <a:gd name="T72" fmla="*/ 0 w 2091"/>
                <a:gd name="T73" fmla="*/ 0 h 931"/>
                <a:gd name="T74" fmla="*/ 0 w 2091"/>
                <a:gd name="T75" fmla="*/ 0 h 931"/>
                <a:gd name="T76" fmla="*/ 0 w 2091"/>
                <a:gd name="T77" fmla="*/ 0 h 931"/>
                <a:gd name="T78" fmla="*/ 0 w 2091"/>
                <a:gd name="T79" fmla="*/ 0 h 931"/>
                <a:gd name="T80" fmla="*/ 0 w 2091"/>
                <a:gd name="T81" fmla="*/ 0 h 931"/>
                <a:gd name="T82" fmla="*/ 0 w 2091"/>
                <a:gd name="T83" fmla="*/ 0 h 931"/>
                <a:gd name="T84" fmla="*/ 0 w 2091"/>
                <a:gd name="T85" fmla="*/ 0 h 931"/>
                <a:gd name="T86" fmla="*/ 0 w 2091"/>
                <a:gd name="T87" fmla="*/ 0 h 931"/>
                <a:gd name="T88" fmla="*/ 0 w 2091"/>
                <a:gd name="T89" fmla="*/ 0 h 931"/>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0" t="0" r="r" b="b"/>
              <a:pathLst>
                <a:path w="2091" h="931">
                  <a:moveTo>
                    <a:pt x="182" y="927"/>
                  </a:moveTo>
                  <a:lnTo>
                    <a:pt x="5" y="905"/>
                  </a:lnTo>
                  <a:lnTo>
                    <a:pt x="0" y="695"/>
                  </a:lnTo>
                  <a:lnTo>
                    <a:pt x="9" y="537"/>
                  </a:lnTo>
                  <a:lnTo>
                    <a:pt x="100" y="442"/>
                  </a:lnTo>
                  <a:lnTo>
                    <a:pt x="210" y="387"/>
                  </a:lnTo>
                  <a:lnTo>
                    <a:pt x="460" y="296"/>
                  </a:lnTo>
                  <a:lnTo>
                    <a:pt x="828" y="207"/>
                  </a:lnTo>
                  <a:lnTo>
                    <a:pt x="900" y="201"/>
                  </a:lnTo>
                  <a:lnTo>
                    <a:pt x="948" y="207"/>
                  </a:lnTo>
                  <a:lnTo>
                    <a:pt x="960" y="188"/>
                  </a:lnTo>
                  <a:lnTo>
                    <a:pt x="980" y="169"/>
                  </a:lnTo>
                  <a:lnTo>
                    <a:pt x="1003" y="173"/>
                  </a:lnTo>
                  <a:lnTo>
                    <a:pt x="1035" y="176"/>
                  </a:lnTo>
                  <a:lnTo>
                    <a:pt x="1049" y="138"/>
                  </a:lnTo>
                  <a:lnTo>
                    <a:pt x="1077" y="118"/>
                  </a:lnTo>
                  <a:lnTo>
                    <a:pt x="1106" y="112"/>
                  </a:lnTo>
                  <a:lnTo>
                    <a:pt x="1144" y="112"/>
                  </a:lnTo>
                  <a:lnTo>
                    <a:pt x="1138" y="82"/>
                  </a:lnTo>
                  <a:lnTo>
                    <a:pt x="1182" y="0"/>
                  </a:lnTo>
                  <a:lnTo>
                    <a:pt x="2040" y="22"/>
                  </a:lnTo>
                  <a:lnTo>
                    <a:pt x="2037" y="110"/>
                  </a:lnTo>
                  <a:lnTo>
                    <a:pt x="2053" y="188"/>
                  </a:lnTo>
                  <a:lnTo>
                    <a:pt x="2065" y="244"/>
                  </a:lnTo>
                  <a:lnTo>
                    <a:pt x="2080" y="314"/>
                  </a:lnTo>
                  <a:lnTo>
                    <a:pt x="2091" y="427"/>
                  </a:lnTo>
                  <a:lnTo>
                    <a:pt x="2077" y="494"/>
                  </a:lnTo>
                  <a:lnTo>
                    <a:pt x="2053" y="557"/>
                  </a:lnTo>
                  <a:lnTo>
                    <a:pt x="2023" y="610"/>
                  </a:lnTo>
                  <a:lnTo>
                    <a:pt x="1983" y="629"/>
                  </a:lnTo>
                  <a:lnTo>
                    <a:pt x="1921" y="648"/>
                  </a:lnTo>
                  <a:lnTo>
                    <a:pt x="1838" y="673"/>
                  </a:lnTo>
                  <a:lnTo>
                    <a:pt x="1801" y="717"/>
                  </a:lnTo>
                  <a:lnTo>
                    <a:pt x="1757" y="754"/>
                  </a:lnTo>
                  <a:lnTo>
                    <a:pt x="1686" y="786"/>
                  </a:lnTo>
                  <a:lnTo>
                    <a:pt x="1605" y="812"/>
                  </a:lnTo>
                  <a:lnTo>
                    <a:pt x="1475" y="827"/>
                  </a:lnTo>
                  <a:lnTo>
                    <a:pt x="1364" y="827"/>
                  </a:lnTo>
                  <a:lnTo>
                    <a:pt x="1279" y="818"/>
                  </a:lnTo>
                  <a:lnTo>
                    <a:pt x="1202" y="812"/>
                  </a:lnTo>
                  <a:lnTo>
                    <a:pt x="1144" y="843"/>
                  </a:lnTo>
                  <a:lnTo>
                    <a:pt x="1031" y="837"/>
                  </a:lnTo>
                  <a:lnTo>
                    <a:pt x="582" y="901"/>
                  </a:lnTo>
                  <a:lnTo>
                    <a:pt x="386" y="931"/>
                  </a:lnTo>
                  <a:lnTo>
                    <a:pt x="182" y="927"/>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6" name="Freeform 249"/>
            <p:cNvSpPr>
              <a:spLocks/>
            </p:cNvSpPr>
            <p:nvPr/>
          </p:nvSpPr>
          <p:spPr bwMode="auto">
            <a:xfrm>
              <a:off x="5268" y="2043"/>
              <a:ext cx="342" cy="138"/>
            </a:xfrm>
            <a:custGeom>
              <a:avLst/>
              <a:gdLst>
                <a:gd name="T0" fmla="*/ 0 w 2049"/>
                <a:gd name="T1" fmla="*/ 0 h 829"/>
                <a:gd name="T2" fmla="*/ 0 w 2049"/>
                <a:gd name="T3" fmla="*/ 0 h 829"/>
                <a:gd name="T4" fmla="*/ 0 w 2049"/>
                <a:gd name="T5" fmla="*/ 0 h 829"/>
                <a:gd name="T6" fmla="*/ 0 w 2049"/>
                <a:gd name="T7" fmla="*/ 0 h 829"/>
                <a:gd name="T8" fmla="*/ 0 w 2049"/>
                <a:gd name="T9" fmla="*/ 0 h 829"/>
                <a:gd name="T10" fmla="*/ 0 w 2049"/>
                <a:gd name="T11" fmla="*/ 0 h 829"/>
                <a:gd name="T12" fmla="*/ 0 w 2049"/>
                <a:gd name="T13" fmla="*/ 0 h 829"/>
                <a:gd name="T14" fmla="*/ 0 w 2049"/>
                <a:gd name="T15" fmla="*/ 0 h 829"/>
                <a:gd name="T16" fmla="*/ 0 w 2049"/>
                <a:gd name="T17" fmla="*/ 0 h 829"/>
                <a:gd name="T18" fmla="*/ 0 w 2049"/>
                <a:gd name="T19" fmla="*/ 0 h 829"/>
                <a:gd name="T20" fmla="*/ 0 w 2049"/>
                <a:gd name="T21" fmla="*/ 0 h 829"/>
                <a:gd name="T22" fmla="*/ 0 w 2049"/>
                <a:gd name="T23" fmla="*/ 0 h 829"/>
                <a:gd name="T24" fmla="*/ 0 w 2049"/>
                <a:gd name="T25" fmla="*/ 0 h 829"/>
                <a:gd name="T26" fmla="*/ 0 w 2049"/>
                <a:gd name="T27" fmla="*/ 0 h 829"/>
                <a:gd name="T28" fmla="*/ 0 w 2049"/>
                <a:gd name="T29" fmla="*/ 0 h 829"/>
                <a:gd name="T30" fmla="*/ 0 w 2049"/>
                <a:gd name="T31" fmla="*/ 0 h 829"/>
                <a:gd name="T32" fmla="*/ 0 w 2049"/>
                <a:gd name="T33" fmla="*/ 0 h 829"/>
                <a:gd name="T34" fmla="*/ 0 w 2049"/>
                <a:gd name="T35" fmla="*/ 0 h 829"/>
                <a:gd name="T36" fmla="*/ 0 w 2049"/>
                <a:gd name="T37" fmla="*/ 0 h 829"/>
                <a:gd name="T38" fmla="*/ 0 w 2049"/>
                <a:gd name="T39" fmla="*/ 0 h 829"/>
                <a:gd name="T40" fmla="*/ 0 w 2049"/>
                <a:gd name="T41" fmla="*/ 0 h 829"/>
                <a:gd name="T42" fmla="*/ 0 w 2049"/>
                <a:gd name="T43" fmla="*/ 0 h 829"/>
                <a:gd name="T44" fmla="*/ 0 w 2049"/>
                <a:gd name="T45" fmla="*/ 0 h 829"/>
                <a:gd name="T46" fmla="*/ 0 w 2049"/>
                <a:gd name="T47" fmla="*/ 0 h 829"/>
                <a:gd name="T48" fmla="*/ 0 w 2049"/>
                <a:gd name="T49" fmla="*/ 0 h 829"/>
                <a:gd name="T50" fmla="*/ 0 w 2049"/>
                <a:gd name="T51" fmla="*/ 0 h 829"/>
                <a:gd name="T52" fmla="*/ 0 w 2049"/>
                <a:gd name="T53" fmla="*/ 0 h 829"/>
                <a:gd name="T54" fmla="*/ 0 w 2049"/>
                <a:gd name="T55" fmla="*/ 0 h 829"/>
                <a:gd name="T56" fmla="*/ 0 w 2049"/>
                <a:gd name="T57" fmla="*/ 0 h 829"/>
                <a:gd name="T58" fmla="*/ 0 w 2049"/>
                <a:gd name="T59" fmla="*/ 0 h 829"/>
                <a:gd name="T60" fmla="*/ 0 w 2049"/>
                <a:gd name="T61" fmla="*/ 0 h 829"/>
                <a:gd name="T62" fmla="*/ 0 w 2049"/>
                <a:gd name="T63" fmla="*/ 0 h 829"/>
                <a:gd name="T64" fmla="*/ 0 w 2049"/>
                <a:gd name="T65" fmla="*/ 0 h 829"/>
                <a:gd name="T66" fmla="*/ 0 w 2049"/>
                <a:gd name="T67" fmla="*/ 0 h 829"/>
                <a:gd name="T68" fmla="*/ 0 w 2049"/>
                <a:gd name="T69" fmla="*/ 0 h 829"/>
                <a:gd name="T70" fmla="*/ 0 w 2049"/>
                <a:gd name="T71" fmla="*/ 0 h 829"/>
                <a:gd name="T72" fmla="*/ 0 w 2049"/>
                <a:gd name="T73" fmla="*/ 0 h 829"/>
                <a:gd name="T74" fmla="*/ 0 w 2049"/>
                <a:gd name="T75" fmla="*/ 0 h 829"/>
                <a:gd name="T76" fmla="*/ 0 w 2049"/>
                <a:gd name="T77" fmla="*/ 0 h 829"/>
                <a:gd name="T78" fmla="*/ 0 w 2049"/>
                <a:gd name="T79" fmla="*/ 0 h 829"/>
                <a:gd name="T80" fmla="*/ 0 w 2049"/>
                <a:gd name="T81" fmla="*/ 0 h 829"/>
                <a:gd name="T82" fmla="*/ 0 w 2049"/>
                <a:gd name="T83" fmla="*/ 0 h 829"/>
                <a:gd name="T84" fmla="*/ 0 w 2049"/>
                <a:gd name="T85" fmla="*/ 0 h 829"/>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0" t="0" r="r" b="b"/>
              <a:pathLst>
                <a:path w="2049" h="829">
                  <a:moveTo>
                    <a:pt x="1982" y="31"/>
                  </a:moveTo>
                  <a:lnTo>
                    <a:pt x="1986" y="90"/>
                  </a:lnTo>
                  <a:lnTo>
                    <a:pt x="2010" y="67"/>
                  </a:lnTo>
                  <a:lnTo>
                    <a:pt x="2037" y="199"/>
                  </a:lnTo>
                  <a:lnTo>
                    <a:pt x="2049" y="353"/>
                  </a:lnTo>
                  <a:lnTo>
                    <a:pt x="1995" y="512"/>
                  </a:lnTo>
                  <a:lnTo>
                    <a:pt x="1868" y="549"/>
                  </a:lnTo>
                  <a:lnTo>
                    <a:pt x="1882" y="512"/>
                  </a:lnTo>
                  <a:lnTo>
                    <a:pt x="1814" y="567"/>
                  </a:lnTo>
                  <a:lnTo>
                    <a:pt x="1754" y="624"/>
                  </a:lnTo>
                  <a:lnTo>
                    <a:pt x="1622" y="688"/>
                  </a:lnTo>
                  <a:lnTo>
                    <a:pt x="1460" y="701"/>
                  </a:lnTo>
                  <a:lnTo>
                    <a:pt x="1264" y="710"/>
                  </a:lnTo>
                  <a:lnTo>
                    <a:pt x="1181" y="701"/>
                  </a:lnTo>
                  <a:lnTo>
                    <a:pt x="1255" y="669"/>
                  </a:lnTo>
                  <a:lnTo>
                    <a:pt x="1287" y="589"/>
                  </a:lnTo>
                  <a:lnTo>
                    <a:pt x="1228" y="656"/>
                  </a:lnTo>
                  <a:lnTo>
                    <a:pt x="1155" y="697"/>
                  </a:lnTo>
                  <a:lnTo>
                    <a:pt x="1086" y="733"/>
                  </a:lnTo>
                  <a:lnTo>
                    <a:pt x="1017" y="724"/>
                  </a:lnTo>
                  <a:lnTo>
                    <a:pt x="1063" y="692"/>
                  </a:lnTo>
                  <a:lnTo>
                    <a:pt x="1109" y="652"/>
                  </a:lnTo>
                  <a:lnTo>
                    <a:pt x="1036" y="678"/>
                  </a:lnTo>
                  <a:lnTo>
                    <a:pt x="963" y="733"/>
                  </a:lnTo>
                  <a:lnTo>
                    <a:pt x="726" y="761"/>
                  </a:lnTo>
                  <a:lnTo>
                    <a:pt x="491" y="797"/>
                  </a:lnTo>
                  <a:lnTo>
                    <a:pt x="409" y="793"/>
                  </a:lnTo>
                  <a:lnTo>
                    <a:pt x="495" y="742"/>
                  </a:lnTo>
                  <a:lnTo>
                    <a:pt x="581" y="724"/>
                  </a:lnTo>
                  <a:lnTo>
                    <a:pt x="486" y="720"/>
                  </a:lnTo>
                  <a:lnTo>
                    <a:pt x="414" y="752"/>
                  </a:lnTo>
                  <a:lnTo>
                    <a:pt x="319" y="815"/>
                  </a:lnTo>
                  <a:lnTo>
                    <a:pt x="386" y="720"/>
                  </a:lnTo>
                  <a:lnTo>
                    <a:pt x="473" y="669"/>
                  </a:lnTo>
                  <a:lnTo>
                    <a:pt x="359" y="692"/>
                  </a:lnTo>
                  <a:lnTo>
                    <a:pt x="300" y="765"/>
                  </a:lnTo>
                  <a:lnTo>
                    <a:pt x="287" y="829"/>
                  </a:lnTo>
                  <a:lnTo>
                    <a:pt x="214" y="742"/>
                  </a:lnTo>
                  <a:lnTo>
                    <a:pt x="140" y="701"/>
                  </a:lnTo>
                  <a:lnTo>
                    <a:pt x="182" y="746"/>
                  </a:lnTo>
                  <a:lnTo>
                    <a:pt x="241" y="829"/>
                  </a:lnTo>
                  <a:lnTo>
                    <a:pt x="59" y="793"/>
                  </a:lnTo>
                  <a:lnTo>
                    <a:pt x="23" y="778"/>
                  </a:lnTo>
                  <a:lnTo>
                    <a:pt x="0" y="674"/>
                  </a:lnTo>
                  <a:lnTo>
                    <a:pt x="13" y="530"/>
                  </a:lnTo>
                  <a:lnTo>
                    <a:pt x="40" y="435"/>
                  </a:lnTo>
                  <a:lnTo>
                    <a:pt x="155" y="362"/>
                  </a:lnTo>
                  <a:lnTo>
                    <a:pt x="296" y="298"/>
                  </a:lnTo>
                  <a:lnTo>
                    <a:pt x="572" y="207"/>
                  </a:lnTo>
                  <a:lnTo>
                    <a:pt x="795" y="145"/>
                  </a:lnTo>
                  <a:lnTo>
                    <a:pt x="917" y="135"/>
                  </a:lnTo>
                  <a:lnTo>
                    <a:pt x="968" y="207"/>
                  </a:lnTo>
                  <a:lnTo>
                    <a:pt x="1123" y="285"/>
                  </a:lnTo>
                  <a:lnTo>
                    <a:pt x="1040" y="217"/>
                  </a:lnTo>
                  <a:lnTo>
                    <a:pt x="977" y="182"/>
                  </a:lnTo>
                  <a:lnTo>
                    <a:pt x="953" y="131"/>
                  </a:lnTo>
                  <a:lnTo>
                    <a:pt x="963" y="108"/>
                  </a:lnTo>
                  <a:lnTo>
                    <a:pt x="1008" y="108"/>
                  </a:lnTo>
                  <a:lnTo>
                    <a:pt x="1036" y="135"/>
                  </a:lnTo>
                  <a:lnTo>
                    <a:pt x="1063" y="163"/>
                  </a:lnTo>
                  <a:lnTo>
                    <a:pt x="1132" y="190"/>
                  </a:lnTo>
                  <a:lnTo>
                    <a:pt x="1068" y="135"/>
                  </a:lnTo>
                  <a:lnTo>
                    <a:pt x="1040" y="95"/>
                  </a:lnTo>
                  <a:lnTo>
                    <a:pt x="1059" y="67"/>
                  </a:lnTo>
                  <a:lnTo>
                    <a:pt x="1113" y="50"/>
                  </a:lnTo>
                  <a:lnTo>
                    <a:pt x="1186" y="113"/>
                  </a:lnTo>
                  <a:lnTo>
                    <a:pt x="1255" y="154"/>
                  </a:lnTo>
                  <a:lnTo>
                    <a:pt x="1173" y="63"/>
                  </a:lnTo>
                  <a:lnTo>
                    <a:pt x="1145" y="27"/>
                  </a:lnTo>
                  <a:lnTo>
                    <a:pt x="1145" y="0"/>
                  </a:lnTo>
                  <a:lnTo>
                    <a:pt x="1213" y="10"/>
                  </a:lnTo>
                  <a:lnTo>
                    <a:pt x="1277" y="54"/>
                  </a:lnTo>
                  <a:lnTo>
                    <a:pt x="1319" y="86"/>
                  </a:lnTo>
                  <a:lnTo>
                    <a:pt x="1514" y="104"/>
                  </a:lnTo>
                  <a:lnTo>
                    <a:pt x="1508" y="54"/>
                  </a:lnTo>
                  <a:lnTo>
                    <a:pt x="1567" y="35"/>
                  </a:lnTo>
                  <a:lnTo>
                    <a:pt x="1567" y="99"/>
                  </a:lnTo>
                  <a:lnTo>
                    <a:pt x="1626" y="113"/>
                  </a:lnTo>
                  <a:lnTo>
                    <a:pt x="1754" y="131"/>
                  </a:lnTo>
                  <a:lnTo>
                    <a:pt x="1745" y="63"/>
                  </a:lnTo>
                  <a:lnTo>
                    <a:pt x="1790" y="63"/>
                  </a:lnTo>
                  <a:lnTo>
                    <a:pt x="1795" y="131"/>
                  </a:lnTo>
                  <a:lnTo>
                    <a:pt x="1868" y="127"/>
                  </a:lnTo>
                  <a:lnTo>
                    <a:pt x="1946" y="108"/>
                  </a:lnTo>
                  <a:lnTo>
                    <a:pt x="1950" y="54"/>
                  </a:lnTo>
                  <a:lnTo>
                    <a:pt x="1982"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7" name="Freeform 250"/>
            <p:cNvSpPr>
              <a:spLocks/>
            </p:cNvSpPr>
            <p:nvPr/>
          </p:nvSpPr>
          <p:spPr bwMode="auto">
            <a:xfrm>
              <a:off x="5515" y="2093"/>
              <a:ext cx="47" cy="8"/>
            </a:xfrm>
            <a:custGeom>
              <a:avLst/>
              <a:gdLst>
                <a:gd name="T0" fmla="*/ 0 w 280"/>
                <a:gd name="T1" fmla="*/ 0 h 48"/>
                <a:gd name="T2" fmla="*/ 0 w 280"/>
                <a:gd name="T3" fmla="*/ 0 h 48"/>
                <a:gd name="T4" fmla="*/ 0 w 280"/>
                <a:gd name="T5" fmla="*/ 0 h 48"/>
                <a:gd name="T6" fmla="*/ 0 w 280"/>
                <a:gd name="T7" fmla="*/ 0 h 4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80" h="48">
                  <a:moveTo>
                    <a:pt x="280" y="0"/>
                  </a:moveTo>
                  <a:lnTo>
                    <a:pt x="149" y="48"/>
                  </a:lnTo>
                  <a:lnTo>
                    <a:pt x="0" y="35"/>
                  </a:lnTo>
                  <a:lnTo>
                    <a:pt x="28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8" name="Freeform 251"/>
            <p:cNvSpPr>
              <a:spLocks/>
            </p:cNvSpPr>
            <p:nvPr/>
          </p:nvSpPr>
          <p:spPr bwMode="auto">
            <a:xfrm>
              <a:off x="5580" y="2080"/>
              <a:ext cx="28" cy="10"/>
            </a:xfrm>
            <a:custGeom>
              <a:avLst/>
              <a:gdLst>
                <a:gd name="T0" fmla="*/ 0 w 170"/>
                <a:gd name="T1" fmla="*/ 0 h 57"/>
                <a:gd name="T2" fmla="*/ 0 w 170"/>
                <a:gd name="T3" fmla="*/ 0 h 57"/>
                <a:gd name="T4" fmla="*/ 0 w 170"/>
                <a:gd name="T5" fmla="*/ 0 h 57"/>
                <a:gd name="T6" fmla="*/ 0 w 170"/>
                <a:gd name="T7" fmla="*/ 0 h 57"/>
                <a:gd name="T8" fmla="*/ 0 w 170"/>
                <a:gd name="T9" fmla="*/ 0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0" h="57">
                  <a:moveTo>
                    <a:pt x="170" y="0"/>
                  </a:moveTo>
                  <a:lnTo>
                    <a:pt x="125" y="35"/>
                  </a:lnTo>
                  <a:lnTo>
                    <a:pt x="0" y="53"/>
                  </a:lnTo>
                  <a:lnTo>
                    <a:pt x="130" y="57"/>
                  </a:lnTo>
                  <a:lnTo>
                    <a:pt x="17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9" name="Freeform 252"/>
            <p:cNvSpPr>
              <a:spLocks/>
            </p:cNvSpPr>
            <p:nvPr/>
          </p:nvSpPr>
          <p:spPr bwMode="auto">
            <a:xfrm>
              <a:off x="5445" y="2073"/>
              <a:ext cx="44" cy="24"/>
            </a:xfrm>
            <a:custGeom>
              <a:avLst/>
              <a:gdLst>
                <a:gd name="T0" fmla="*/ 0 w 263"/>
                <a:gd name="T1" fmla="*/ 0 h 143"/>
                <a:gd name="T2" fmla="*/ 0 w 263"/>
                <a:gd name="T3" fmla="*/ 0 h 143"/>
                <a:gd name="T4" fmla="*/ 0 w 263"/>
                <a:gd name="T5" fmla="*/ 0 h 143"/>
                <a:gd name="T6" fmla="*/ 0 w 263"/>
                <a:gd name="T7" fmla="*/ 0 h 143"/>
                <a:gd name="T8" fmla="*/ 0 w 263"/>
                <a:gd name="T9" fmla="*/ 0 h 143"/>
                <a:gd name="T10" fmla="*/ 0 w 263"/>
                <a:gd name="T11" fmla="*/ 0 h 143"/>
                <a:gd name="T12" fmla="*/ 0 w 263"/>
                <a:gd name="T13" fmla="*/ 0 h 143"/>
                <a:gd name="T14" fmla="*/ 0 w 263"/>
                <a:gd name="T15" fmla="*/ 0 h 143"/>
                <a:gd name="T16" fmla="*/ 0 w 263"/>
                <a:gd name="T17" fmla="*/ 0 h 143"/>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263" h="143">
                  <a:moveTo>
                    <a:pt x="263" y="0"/>
                  </a:moveTo>
                  <a:lnTo>
                    <a:pt x="145" y="13"/>
                  </a:lnTo>
                  <a:lnTo>
                    <a:pt x="122" y="31"/>
                  </a:lnTo>
                  <a:lnTo>
                    <a:pt x="122" y="76"/>
                  </a:lnTo>
                  <a:lnTo>
                    <a:pt x="113" y="124"/>
                  </a:lnTo>
                  <a:lnTo>
                    <a:pt x="0" y="143"/>
                  </a:lnTo>
                  <a:lnTo>
                    <a:pt x="136" y="138"/>
                  </a:lnTo>
                  <a:lnTo>
                    <a:pt x="159" y="48"/>
                  </a:lnTo>
                  <a:lnTo>
                    <a:pt x="26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0" name="Freeform 253"/>
            <p:cNvSpPr>
              <a:spLocks/>
            </p:cNvSpPr>
            <p:nvPr/>
          </p:nvSpPr>
          <p:spPr bwMode="auto">
            <a:xfrm>
              <a:off x="5303" y="2127"/>
              <a:ext cx="142" cy="35"/>
            </a:xfrm>
            <a:custGeom>
              <a:avLst/>
              <a:gdLst>
                <a:gd name="T0" fmla="*/ 0 w 853"/>
                <a:gd name="T1" fmla="*/ 0 h 212"/>
                <a:gd name="T2" fmla="*/ 0 w 853"/>
                <a:gd name="T3" fmla="*/ 0 h 212"/>
                <a:gd name="T4" fmla="*/ 0 w 853"/>
                <a:gd name="T5" fmla="*/ 0 h 212"/>
                <a:gd name="T6" fmla="*/ 0 w 853"/>
                <a:gd name="T7" fmla="*/ 0 h 212"/>
                <a:gd name="T8" fmla="*/ 0 w 853"/>
                <a:gd name="T9" fmla="*/ 0 h 212"/>
                <a:gd name="T10" fmla="*/ 0 w 853"/>
                <a:gd name="T11" fmla="*/ 0 h 212"/>
                <a:gd name="T12" fmla="*/ 0 w 853"/>
                <a:gd name="T13" fmla="*/ 0 h 212"/>
                <a:gd name="T14" fmla="*/ 0 w 853"/>
                <a:gd name="T15" fmla="*/ 0 h 212"/>
                <a:gd name="T16" fmla="*/ 0 w 853"/>
                <a:gd name="T17" fmla="*/ 0 h 212"/>
                <a:gd name="T18" fmla="*/ 0 w 853"/>
                <a:gd name="T19" fmla="*/ 0 h 212"/>
                <a:gd name="T20" fmla="*/ 0 w 853"/>
                <a:gd name="T21" fmla="*/ 0 h 212"/>
                <a:gd name="T22" fmla="*/ 0 w 853"/>
                <a:gd name="T23" fmla="*/ 0 h 212"/>
                <a:gd name="T24" fmla="*/ 0 w 853"/>
                <a:gd name="T25" fmla="*/ 0 h 212"/>
                <a:gd name="T26" fmla="*/ 0 w 853"/>
                <a:gd name="T27" fmla="*/ 0 h 212"/>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853" h="212">
                  <a:moveTo>
                    <a:pt x="853" y="0"/>
                  </a:moveTo>
                  <a:lnTo>
                    <a:pt x="636" y="10"/>
                  </a:lnTo>
                  <a:lnTo>
                    <a:pt x="413" y="63"/>
                  </a:lnTo>
                  <a:lnTo>
                    <a:pt x="249" y="71"/>
                  </a:lnTo>
                  <a:lnTo>
                    <a:pt x="114" y="99"/>
                  </a:lnTo>
                  <a:lnTo>
                    <a:pt x="64" y="170"/>
                  </a:lnTo>
                  <a:lnTo>
                    <a:pt x="0" y="212"/>
                  </a:lnTo>
                  <a:lnTo>
                    <a:pt x="64" y="198"/>
                  </a:lnTo>
                  <a:lnTo>
                    <a:pt x="123" y="117"/>
                  </a:lnTo>
                  <a:lnTo>
                    <a:pt x="304" y="81"/>
                  </a:lnTo>
                  <a:lnTo>
                    <a:pt x="413" y="81"/>
                  </a:lnTo>
                  <a:lnTo>
                    <a:pt x="500" y="63"/>
                  </a:lnTo>
                  <a:lnTo>
                    <a:pt x="649" y="23"/>
                  </a:lnTo>
                  <a:lnTo>
                    <a:pt x="85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aphicFrame>
        <p:nvGraphicFramePr>
          <p:cNvPr id="412" name="对象 411"/>
          <p:cNvGraphicFramePr>
            <a:graphicFrameLocks noChangeAspect="1"/>
          </p:cNvGraphicFramePr>
          <p:nvPr>
            <p:extLst>
              <p:ext uri="{D42A27DB-BD31-4B8C-83A1-F6EECF244321}">
                <p14:modId xmlns:p14="http://schemas.microsoft.com/office/powerpoint/2010/main" val="1094640158"/>
              </p:ext>
            </p:extLst>
          </p:nvPr>
        </p:nvGraphicFramePr>
        <p:xfrm>
          <a:off x="1234937" y="1468874"/>
          <a:ext cx="440021" cy="504000"/>
        </p:xfrm>
        <a:graphic>
          <a:graphicData uri="http://schemas.openxmlformats.org/presentationml/2006/ole">
            <mc:AlternateContent xmlns:mc="http://schemas.openxmlformats.org/markup-compatibility/2006">
              <mc:Choice xmlns:v="urn:schemas-microsoft-com:vml" Requires="v">
                <p:oleObj name="Visio" r:id="rId6" imgW="3561172" imgH="4347469" progId="">
                  <p:embed/>
                </p:oleObj>
              </mc:Choice>
              <mc:Fallback>
                <p:oleObj name="Visio" r:id="rId6" imgW="3561172" imgH="4347469" progId="">
                  <p:embed/>
                  <p:pic>
                    <p:nvPicPr>
                      <p:cNvPr id="0" name="Picture 304"/>
                      <p:cNvPicPr>
                        <a:picLocks noChangeAspect="1" noChangeArrowheads="1"/>
                      </p:cNvPicPr>
                      <p:nvPr/>
                    </p:nvPicPr>
                    <p:blipFill>
                      <a:blip r:embed="rId7">
                        <a:extLst>
                          <a:ext uri="{28A0092B-C50C-407E-A947-70E740481C1C}">
                            <a14:useLocalDpi xmlns:a14="http://schemas.microsoft.com/office/drawing/2010/main" val="0"/>
                          </a:ext>
                        </a:extLst>
                      </a:blip>
                      <a:srcRect l="5348" t="4167" r="4546" b="11185"/>
                      <a:stretch>
                        <a:fillRect/>
                      </a:stretch>
                    </p:blipFill>
                    <p:spPr bwMode="auto">
                      <a:xfrm>
                        <a:off x="1234937" y="1468874"/>
                        <a:ext cx="440021"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14" name="对象 413"/>
          <p:cNvGraphicFramePr>
            <a:graphicFrameLocks noChangeAspect="1"/>
          </p:cNvGraphicFramePr>
          <p:nvPr>
            <p:extLst>
              <p:ext uri="{D42A27DB-BD31-4B8C-83A1-F6EECF244321}">
                <p14:modId xmlns:p14="http://schemas.microsoft.com/office/powerpoint/2010/main" val="4159887229"/>
              </p:ext>
            </p:extLst>
          </p:nvPr>
        </p:nvGraphicFramePr>
        <p:xfrm>
          <a:off x="7436052" y="1468874"/>
          <a:ext cx="443938" cy="504000"/>
        </p:xfrm>
        <a:graphic>
          <a:graphicData uri="http://schemas.openxmlformats.org/presentationml/2006/ole">
            <mc:AlternateContent xmlns:mc="http://schemas.openxmlformats.org/markup-compatibility/2006">
              <mc:Choice xmlns:v="urn:schemas-microsoft-com:vml" Requires="v">
                <p:oleObj name="Visio" r:id="rId8" imgW="3561172" imgH="4347469" progId="">
                  <p:embed/>
                </p:oleObj>
              </mc:Choice>
              <mc:Fallback>
                <p:oleObj name="Visio" r:id="rId8" imgW="3561172" imgH="4347469" progId="">
                  <p:embed/>
                  <p:pic>
                    <p:nvPicPr>
                      <p:cNvPr id="0" name="Picture 305"/>
                      <p:cNvPicPr>
                        <a:picLocks noChangeAspect="1" noChangeArrowheads="1"/>
                      </p:cNvPicPr>
                      <p:nvPr/>
                    </p:nvPicPr>
                    <p:blipFill>
                      <a:blip r:embed="rId9">
                        <a:extLst>
                          <a:ext uri="{28A0092B-C50C-407E-A947-70E740481C1C}">
                            <a14:useLocalDpi xmlns:a14="http://schemas.microsoft.com/office/drawing/2010/main" val="0"/>
                          </a:ext>
                        </a:extLst>
                      </a:blip>
                      <a:srcRect l="4546" t="3947" r="4546" b="11403"/>
                      <a:stretch>
                        <a:fillRect/>
                      </a:stretch>
                    </p:blipFill>
                    <p:spPr bwMode="auto">
                      <a:xfrm>
                        <a:off x="7436052" y="1468874"/>
                        <a:ext cx="443938"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22" name="Text Box 399"/>
          <p:cNvSpPr txBox="1">
            <a:spLocks noChangeArrowheads="1"/>
          </p:cNvSpPr>
          <p:nvPr/>
        </p:nvSpPr>
        <p:spPr bwMode="auto">
          <a:xfrm>
            <a:off x="7471795" y="1081823"/>
            <a:ext cx="5309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收件人</a:t>
            </a:r>
          </a:p>
        </p:txBody>
      </p:sp>
      <p:sp>
        <p:nvSpPr>
          <p:cNvPr id="2" name="标题 1">
            <a:extLst>
              <a:ext uri="{FF2B5EF4-FFF2-40B4-BE49-F238E27FC236}">
                <a16:creationId xmlns:a16="http://schemas.microsoft.com/office/drawing/2014/main" id="{4F08B12A-1C96-21B7-FD76-E3EB8914456F}"/>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发送和接收</a:t>
            </a:r>
          </a:p>
        </p:txBody>
      </p:sp>
      <p:sp>
        <p:nvSpPr>
          <p:cNvPr id="5" name="内容占位符 4">
            <a:extLst>
              <a:ext uri="{FF2B5EF4-FFF2-40B4-BE49-F238E27FC236}">
                <a16:creationId xmlns:a16="http://schemas.microsoft.com/office/drawing/2014/main" id="{A95DA27F-1BAF-3092-11C0-B39B82A2391F}"/>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9747660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repeatCount="3000" fill="hold" grpId="0" nodeType="withEffect">
                                  <p:stCondLst>
                                    <p:cond delay="0"/>
                                  </p:stCondLst>
                                  <p:childTnLst>
                                    <p:set>
                                      <p:cBhvr>
                                        <p:cTn id="6" dur="1" fill="hold">
                                          <p:stCondLst>
                                            <p:cond delay="0"/>
                                          </p:stCondLst>
                                        </p:cTn>
                                        <p:tgtEl>
                                          <p:spTgt spid="351"/>
                                        </p:tgtEl>
                                        <p:attrNameLst>
                                          <p:attrName>style.visibility</p:attrName>
                                        </p:attrNameLst>
                                      </p:cBhvr>
                                      <p:to>
                                        <p:strVal val="visible"/>
                                      </p:to>
                                    </p:set>
                                    <p:animEffect transition="in" filter="wipe(left)">
                                      <p:cBhvr>
                                        <p:cTn id="7" dur="1000"/>
                                        <p:tgtEl>
                                          <p:spTgt spid="3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1" grpId="0" animBg="1"/>
    </p:bld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Object 383"/>
          <p:cNvGraphicFramePr>
            <a:graphicFrameLocks noChangeAspect="1"/>
          </p:cNvGraphicFramePr>
          <p:nvPr>
            <p:extLst>
              <p:ext uri="{D42A27DB-BD31-4B8C-83A1-F6EECF244321}">
                <p14:modId xmlns:p14="http://schemas.microsoft.com/office/powerpoint/2010/main" val="1418956408"/>
              </p:ext>
            </p:extLst>
          </p:nvPr>
        </p:nvGraphicFramePr>
        <p:xfrm>
          <a:off x="3846905" y="3043640"/>
          <a:ext cx="1597512"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46905" y="3043640"/>
                        <a:ext cx="1597512" cy="84277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9" name="Object 383"/>
          <p:cNvGraphicFramePr>
            <a:graphicFrameLocks noChangeAspect="1"/>
          </p:cNvGraphicFramePr>
          <p:nvPr>
            <p:extLst>
              <p:ext uri="{D42A27DB-BD31-4B8C-83A1-F6EECF244321}">
                <p14:modId xmlns:p14="http://schemas.microsoft.com/office/powerpoint/2010/main" val="1292360898"/>
              </p:ext>
            </p:extLst>
          </p:nvPr>
        </p:nvGraphicFramePr>
        <p:xfrm>
          <a:off x="5780655" y="2980580"/>
          <a:ext cx="1597279"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80655" y="2980580"/>
                        <a:ext cx="1597279" cy="842777"/>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 name="Line 3"/>
          <p:cNvSpPr>
            <a:spLocks noChangeShapeType="1"/>
          </p:cNvSpPr>
          <p:nvPr/>
        </p:nvSpPr>
        <p:spPr bwMode="auto">
          <a:xfrm flipH="1" flipV="1">
            <a:off x="2328917" y="3340981"/>
            <a:ext cx="483179" cy="44601"/>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 name="Freeform 4"/>
          <p:cNvSpPr>
            <a:spLocks/>
          </p:cNvSpPr>
          <p:nvPr/>
        </p:nvSpPr>
        <p:spPr bwMode="auto">
          <a:xfrm>
            <a:off x="6375543" y="3302885"/>
            <a:ext cx="483179" cy="83627"/>
          </a:xfrm>
          <a:custGeom>
            <a:avLst/>
            <a:gdLst>
              <a:gd name="T0" fmla="*/ 2147483646 w 480"/>
              <a:gd name="T1" fmla="*/ 0 h 90"/>
              <a:gd name="T2" fmla="*/ 0 w 480"/>
              <a:gd name="T3" fmla="*/ 2147483646 h 90"/>
              <a:gd name="T4" fmla="*/ 0 60000 65536"/>
              <a:gd name="T5" fmla="*/ 0 60000 65536"/>
            </a:gdLst>
            <a:ahLst/>
            <a:cxnLst>
              <a:cxn ang="T4">
                <a:pos x="T0" y="T1"/>
              </a:cxn>
              <a:cxn ang="T5">
                <a:pos x="T2" y="T3"/>
              </a:cxn>
            </a:cxnLst>
            <a:rect l="0" t="0" r="r" b="b"/>
            <a:pathLst>
              <a:path w="480" h="90">
                <a:moveTo>
                  <a:pt x="480" y="0"/>
                </a:moveTo>
                <a:lnTo>
                  <a:pt x="0" y="90"/>
                </a:lnTo>
              </a:path>
            </a:pathLst>
          </a:custGeom>
          <a:noFill/>
          <a:ln w="38100" cmpd="sng">
            <a:solidFill>
              <a:srgbClr val="0000FF"/>
            </a:solidFill>
            <a:round/>
            <a:headEnd type="none" w="med" len="med"/>
            <a:tailEnd type="non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 name="Line 5"/>
          <p:cNvSpPr>
            <a:spLocks noChangeShapeType="1"/>
          </p:cNvSpPr>
          <p:nvPr/>
        </p:nvSpPr>
        <p:spPr bwMode="auto">
          <a:xfrm flipH="1" flipV="1">
            <a:off x="5360866" y="3430183"/>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 name="Line 6"/>
          <p:cNvSpPr>
            <a:spLocks noChangeShapeType="1"/>
          </p:cNvSpPr>
          <p:nvPr/>
        </p:nvSpPr>
        <p:spPr bwMode="auto">
          <a:xfrm flipH="1" flipV="1">
            <a:off x="3440229" y="3422750"/>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 name="Text Box 7"/>
          <p:cNvSpPr txBox="1">
            <a:spLocks noChangeArrowheads="1"/>
          </p:cNvSpPr>
          <p:nvPr/>
        </p:nvSpPr>
        <p:spPr bwMode="auto">
          <a:xfrm>
            <a:off x="1700784" y="2860589"/>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p:txBody>
      </p:sp>
      <p:sp>
        <p:nvSpPr>
          <p:cNvPr id="15" name="Text Box 8"/>
          <p:cNvSpPr txBox="1">
            <a:spLocks noChangeArrowheads="1"/>
          </p:cNvSpPr>
          <p:nvPr/>
        </p:nvSpPr>
        <p:spPr bwMode="auto">
          <a:xfrm>
            <a:off x="2324891" y="3949601"/>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邮件缓存</a:t>
            </a:r>
          </a:p>
        </p:txBody>
      </p:sp>
      <p:sp>
        <p:nvSpPr>
          <p:cNvPr id="16" name="Text Box 9"/>
          <p:cNvSpPr txBox="1">
            <a:spLocks noChangeArrowheads="1"/>
          </p:cNvSpPr>
          <p:nvPr/>
        </p:nvSpPr>
        <p:spPr bwMode="auto">
          <a:xfrm>
            <a:off x="5131356"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17" name="Oval 10"/>
          <p:cNvSpPr>
            <a:spLocks noChangeArrowheads="1"/>
          </p:cNvSpPr>
          <p:nvPr/>
        </p:nvSpPr>
        <p:spPr bwMode="auto">
          <a:xfrm>
            <a:off x="5662853" y="3027844"/>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8" name="Group 11"/>
          <p:cNvGrpSpPr>
            <a:grpSpLocks/>
          </p:cNvGrpSpPr>
          <p:nvPr/>
        </p:nvGrpSpPr>
        <p:grpSpPr bwMode="auto">
          <a:xfrm>
            <a:off x="5905450" y="3091958"/>
            <a:ext cx="289908" cy="267607"/>
            <a:chOff x="2351" y="2975"/>
            <a:chExt cx="481" cy="433"/>
          </a:xfrm>
          <a:effectLst/>
        </p:grpSpPr>
        <p:sp>
          <p:nvSpPr>
            <p:cNvPr id="19" name="Rectangle 12"/>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20" name="Line 13"/>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 name="Line 14"/>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 name="Line 15"/>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 name="Line 16"/>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 name="Line 17"/>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 name="Line 18"/>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 name="Line 19"/>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 name="Line 20"/>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8" name="Group 21"/>
          <p:cNvGrpSpPr>
            <a:grpSpLocks/>
          </p:cNvGrpSpPr>
          <p:nvPr/>
        </p:nvGrpSpPr>
        <p:grpSpPr bwMode="auto">
          <a:xfrm>
            <a:off x="5839013" y="3415316"/>
            <a:ext cx="463047" cy="267607"/>
            <a:chOff x="1296" y="768"/>
            <a:chExt cx="556" cy="336"/>
          </a:xfrm>
          <a:effectLst/>
        </p:grpSpPr>
        <p:sp>
          <p:nvSpPr>
            <p:cNvPr id="29" name="Rectangle 22"/>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0" name="Group 23"/>
            <p:cNvGrpSpPr>
              <a:grpSpLocks/>
            </p:cNvGrpSpPr>
            <p:nvPr/>
          </p:nvGrpSpPr>
          <p:grpSpPr bwMode="auto">
            <a:xfrm>
              <a:off x="1367" y="829"/>
              <a:ext cx="393" cy="214"/>
              <a:chOff x="2928" y="3744"/>
              <a:chExt cx="528" cy="336"/>
            </a:xfrm>
          </p:grpSpPr>
          <p:grpSp>
            <p:nvGrpSpPr>
              <p:cNvPr id="31" name="Group 24"/>
              <p:cNvGrpSpPr>
                <a:grpSpLocks/>
              </p:cNvGrpSpPr>
              <p:nvPr/>
            </p:nvGrpSpPr>
            <p:grpSpPr bwMode="auto">
              <a:xfrm>
                <a:off x="3024" y="3744"/>
                <a:ext cx="432" cy="240"/>
                <a:chOff x="2736" y="3648"/>
                <a:chExt cx="432" cy="240"/>
              </a:xfrm>
            </p:grpSpPr>
            <p:grpSp>
              <p:nvGrpSpPr>
                <p:cNvPr id="46" name="Group 25"/>
                <p:cNvGrpSpPr>
                  <a:grpSpLocks/>
                </p:cNvGrpSpPr>
                <p:nvPr/>
              </p:nvGrpSpPr>
              <p:grpSpPr bwMode="auto">
                <a:xfrm>
                  <a:off x="2736" y="3648"/>
                  <a:ext cx="432" cy="240"/>
                  <a:chOff x="2592" y="3504"/>
                  <a:chExt cx="576" cy="384"/>
                </a:xfrm>
              </p:grpSpPr>
              <p:sp>
                <p:nvSpPr>
                  <p:cNvPr id="48" name="Rectangle 26"/>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9" name="Freeform 27"/>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0" name="Line 28"/>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1" name="Line 29"/>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7" name="Line 30"/>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 name="Group 31"/>
              <p:cNvGrpSpPr>
                <a:grpSpLocks/>
              </p:cNvGrpSpPr>
              <p:nvPr/>
            </p:nvGrpSpPr>
            <p:grpSpPr bwMode="auto">
              <a:xfrm>
                <a:off x="2976" y="3792"/>
                <a:ext cx="432" cy="240"/>
                <a:chOff x="2736" y="3648"/>
                <a:chExt cx="432" cy="240"/>
              </a:xfrm>
            </p:grpSpPr>
            <p:grpSp>
              <p:nvGrpSpPr>
                <p:cNvPr id="40" name="Group 32"/>
                <p:cNvGrpSpPr>
                  <a:grpSpLocks/>
                </p:cNvGrpSpPr>
                <p:nvPr/>
              </p:nvGrpSpPr>
              <p:grpSpPr bwMode="auto">
                <a:xfrm>
                  <a:off x="2736" y="3648"/>
                  <a:ext cx="432" cy="240"/>
                  <a:chOff x="2592" y="3504"/>
                  <a:chExt cx="576" cy="384"/>
                </a:xfrm>
              </p:grpSpPr>
              <p:sp>
                <p:nvSpPr>
                  <p:cNvPr id="42" name="Rectangle 33"/>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3" name="Freeform 34"/>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4" name="Line 35"/>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5" name="Line 36"/>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1" name="Line 37"/>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 name="Group 38"/>
              <p:cNvGrpSpPr>
                <a:grpSpLocks/>
              </p:cNvGrpSpPr>
              <p:nvPr/>
            </p:nvGrpSpPr>
            <p:grpSpPr bwMode="auto">
              <a:xfrm>
                <a:off x="2928" y="3840"/>
                <a:ext cx="432" cy="240"/>
                <a:chOff x="2736" y="3648"/>
                <a:chExt cx="432" cy="240"/>
              </a:xfrm>
            </p:grpSpPr>
            <p:grpSp>
              <p:nvGrpSpPr>
                <p:cNvPr id="34" name="Group 39"/>
                <p:cNvGrpSpPr>
                  <a:grpSpLocks/>
                </p:cNvGrpSpPr>
                <p:nvPr/>
              </p:nvGrpSpPr>
              <p:grpSpPr bwMode="auto">
                <a:xfrm>
                  <a:off x="2736" y="3648"/>
                  <a:ext cx="432" cy="240"/>
                  <a:chOff x="2592" y="3504"/>
                  <a:chExt cx="576" cy="384"/>
                </a:xfrm>
              </p:grpSpPr>
              <p:sp>
                <p:nvSpPr>
                  <p:cNvPr id="36" name="Rectangle 40"/>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 name="Freeform 41"/>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8" name="Line 42"/>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 name="Line 43"/>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5" name="Line 44"/>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52" name="Group 45"/>
          <p:cNvGrpSpPr>
            <a:grpSpLocks/>
          </p:cNvGrpSpPr>
          <p:nvPr/>
        </p:nvGrpSpPr>
        <p:grpSpPr bwMode="auto">
          <a:xfrm>
            <a:off x="1900095" y="3154214"/>
            <a:ext cx="560690" cy="593753"/>
            <a:chOff x="246" y="1767"/>
            <a:chExt cx="557" cy="639"/>
          </a:xfrm>
        </p:grpSpPr>
        <p:grpSp>
          <p:nvGrpSpPr>
            <p:cNvPr id="53" name="Group 46"/>
            <p:cNvGrpSpPr>
              <a:grpSpLocks/>
            </p:cNvGrpSpPr>
            <p:nvPr/>
          </p:nvGrpSpPr>
          <p:grpSpPr bwMode="auto">
            <a:xfrm>
              <a:off x="246" y="1943"/>
              <a:ext cx="557" cy="463"/>
              <a:chOff x="246" y="1943"/>
              <a:chExt cx="557" cy="463"/>
            </a:xfrm>
          </p:grpSpPr>
          <p:sp>
            <p:nvSpPr>
              <p:cNvPr id="106" name="Freeform 47"/>
              <p:cNvSpPr>
                <a:spLocks/>
              </p:cNvSpPr>
              <p:nvPr/>
            </p:nvSpPr>
            <p:spPr bwMode="auto">
              <a:xfrm>
                <a:off x="373" y="2005"/>
                <a:ext cx="196" cy="295"/>
              </a:xfrm>
              <a:custGeom>
                <a:avLst/>
                <a:gdLst>
                  <a:gd name="T0" fmla="*/ 0 w 982"/>
                  <a:gd name="T1" fmla="*/ 0 h 1477"/>
                  <a:gd name="T2" fmla="*/ 0 w 982"/>
                  <a:gd name="T3" fmla="*/ 0 h 1477"/>
                  <a:gd name="T4" fmla="*/ 0 w 982"/>
                  <a:gd name="T5" fmla="*/ 0 h 1477"/>
                  <a:gd name="T6" fmla="*/ 0 w 982"/>
                  <a:gd name="T7" fmla="*/ 0 h 147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82" h="1477">
                    <a:moveTo>
                      <a:pt x="652" y="26"/>
                    </a:moveTo>
                    <a:lnTo>
                      <a:pt x="982" y="1347"/>
                    </a:lnTo>
                    <a:lnTo>
                      <a:pt x="0" y="1477"/>
                    </a:lnTo>
                    <a:lnTo>
                      <a:pt x="252" y="0"/>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07" name="Group 48"/>
              <p:cNvGrpSpPr>
                <a:grpSpLocks/>
              </p:cNvGrpSpPr>
              <p:nvPr/>
            </p:nvGrpSpPr>
            <p:grpSpPr bwMode="auto">
              <a:xfrm>
                <a:off x="246" y="1943"/>
                <a:ext cx="551" cy="121"/>
                <a:chOff x="246" y="1943"/>
                <a:chExt cx="551" cy="121"/>
              </a:xfrm>
            </p:grpSpPr>
            <p:sp>
              <p:nvSpPr>
                <p:cNvPr id="109" name="Freeform 49"/>
                <p:cNvSpPr>
                  <a:spLocks/>
                </p:cNvSpPr>
                <p:nvPr/>
              </p:nvSpPr>
              <p:spPr bwMode="auto">
                <a:xfrm>
                  <a:off x="246" y="1943"/>
                  <a:ext cx="551" cy="104"/>
                </a:xfrm>
                <a:custGeom>
                  <a:avLst/>
                  <a:gdLst>
                    <a:gd name="T0" fmla="*/ 0 w 2751"/>
                    <a:gd name="T1" fmla="*/ 0 h 522"/>
                    <a:gd name="T2" fmla="*/ 0 w 2751"/>
                    <a:gd name="T3" fmla="*/ 0 h 522"/>
                    <a:gd name="T4" fmla="*/ 0 w 2751"/>
                    <a:gd name="T5" fmla="*/ 0 h 522"/>
                    <a:gd name="T6" fmla="*/ 0 w 2751"/>
                    <a:gd name="T7" fmla="*/ 0 h 522"/>
                    <a:gd name="T8" fmla="*/ 0 w 2751"/>
                    <a:gd name="T9" fmla="*/ 0 h 5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751" h="522">
                      <a:moveTo>
                        <a:pt x="2751" y="270"/>
                      </a:moveTo>
                      <a:lnTo>
                        <a:pt x="1016" y="522"/>
                      </a:lnTo>
                      <a:lnTo>
                        <a:pt x="0" y="132"/>
                      </a:lnTo>
                      <a:lnTo>
                        <a:pt x="1302" y="0"/>
                      </a:lnTo>
                      <a:lnTo>
                        <a:pt x="2751" y="270"/>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0" name="Freeform 50"/>
                <p:cNvSpPr>
                  <a:spLocks/>
                </p:cNvSpPr>
                <p:nvPr/>
              </p:nvSpPr>
              <p:spPr bwMode="auto">
                <a:xfrm>
                  <a:off x="450" y="1997"/>
                  <a:ext cx="345" cy="67"/>
                </a:xfrm>
                <a:custGeom>
                  <a:avLst/>
                  <a:gdLst>
                    <a:gd name="T0" fmla="*/ 0 w 1728"/>
                    <a:gd name="T1" fmla="*/ 0 h 337"/>
                    <a:gd name="T2" fmla="*/ 0 w 1728"/>
                    <a:gd name="T3" fmla="*/ 0 h 337"/>
                    <a:gd name="T4" fmla="*/ 0 w 1728"/>
                    <a:gd name="T5" fmla="*/ 0 h 337"/>
                    <a:gd name="T6" fmla="*/ 0 w 1728"/>
                    <a:gd name="T7" fmla="*/ 0 h 337"/>
                    <a:gd name="T8" fmla="*/ 0 w 1728"/>
                    <a:gd name="T9" fmla="*/ 0 h 33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28" h="337">
                      <a:moveTo>
                        <a:pt x="1728" y="0"/>
                      </a:moveTo>
                      <a:lnTo>
                        <a:pt x="0" y="251"/>
                      </a:lnTo>
                      <a:lnTo>
                        <a:pt x="0" y="337"/>
                      </a:lnTo>
                      <a:lnTo>
                        <a:pt x="1728" y="88"/>
                      </a:lnTo>
                      <a:lnTo>
                        <a:pt x="1728" y="0"/>
                      </a:lnTo>
                      <a:close/>
                    </a:path>
                  </a:pathLst>
                </a:custGeom>
                <a:solidFill>
                  <a:srgbClr val="E0E0E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1" name="Freeform 51"/>
                <p:cNvSpPr>
                  <a:spLocks/>
                </p:cNvSpPr>
                <p:nvPr/>
              </p:nvSpPr>
              <p:spPr bwMode="auto">
                <a:xfrm>
                  <a:off x="246" y="1969"/>
                  <a:ext cx="204" cy="95"/>
                </a:xfrm>
                <a:custGeom>
                  <a:avLst/>
                  <a:gdLst>
                    <a:gd name="T0" fmla="*/ 0 w 1016"/>
                    <a:gd name="T1" fmla="*/ 0 h 476"/>
                    <a:gd name="T2" fmla="*/ 0 w 1016"/>
                    <a:gd name="T3" fmla="*/ 0 h 476"/>
                    <a:gd name="T4" fmla="*/ 0 w 1016"/>
                    <a:gd name="T5" fmla="*/ 0 h 476"/>
                    <a:gd name="T6" fmla="*/ 0 w 1016"/>
                    <a:gd name="T7" fmla="*/ 0 h 476"/>
                    <a:gd name="T8" fmla="*/ 0 w 1016"/>
                    <a:gd name="T9" fmla="*/ 0 h 47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16" h="476">
                      <a:moveTo>
                        <a:pt x="1016" y="476"/>
                      </a:moveTo>
                      <a:lnTo>
                        <a:pt x="1016" y="390"/>
                      </a:lnTo>
                      <a:lnTo>
                        <a:pt x="0" y="0"/>
                      </a:lnTo>
                      <a:lnTo>
                        <a:pt x="0" y="60"/>
                      </a:lnTo>
                      <a:lnTo>
                        <a:pt x="1016" y="47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08" name="Freeform 52"/>
              <p:cNvSpPr>
                <a:spLocks/>
              </p:cNvSpPr>
              <p:nvPr/>
            </p:nvSpPr>
            <p:spPr bwMode="auto">
              <a:xfrm>
                <a:off x="564" y="2028"/>
                <a:ext cx="239" cy="378"/>
              </a:xfrm>
              <a:custGeom>
                <a:avLst/>
                <a:gdLst>
                  <a:gd name="T0" fmla="*/ 0 w 1195"/>
                  <a:gd name="T1" fmla="*/ 0 h 1893"/>
                  <a:gd name="T2" fmla="*/ 0 w 1195"/>
                  <a:gd name="T3" fmla="*/ 0 h 1893"/>
                  <a:gd name="T4" fmla="*/ 0 w 1195"/>
                  <a:gd name="T5" fmla="*/ 0 h 1893"/>
                  <a:gd name="T6" fmla="*/ 0 w 1195"/>
                  <a:gd name="T7" fmla="*/ 0 h 18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95" h="1893">
                    <a:moveTo>
                      <a:pt x="660" y="0"/>
                    </a:moveTo>
                    <a:lnTo>
                      <a:pt x="1195" y="1747"/>
                    </a:lnTo>
                    <a:lnTo>
                      <a:pt x="0" y="1893"/>
                    </a:lnTo>
                    <a:lnTo>
                      <a:pt x="191" y="35"/>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4" name="Group 53"/>
            <p:cNvGrpSpPr>
              <a:grpSpLocks/>
            </p:cNvGrpSpPr>
            <p:nvPr/>
          </p:nvGrpSpPr>
          <p:grpSpPr bwMode="auto">
            <a:xfrm>
              <a:off x="325" y="1767"/>
              <a:ext cx="383" cy="268"/>
              <a:chOff x="325" y="1767"/>
              <a:chExt cx="383" cy="268"/>
            </a:xfrm>
          </p:grpSpPr>
          <p:grpSp>
            <p:nvGrpSpPr>
              <p:cNvPr id="55" name="Group 54"/>
              <p:cNvGrpSpPr>
                <a:grpSpLocks/>
              </p:cNvGrpSpPr>
              <p:nvPr/>
            </p:nvGrpSpPr>
            <p:grpSpPr bwMode="auto">
              <a:xfrm>
                <a:off x="412" y="1767"/>
                <a:ext cx="296" cy="243"/>
                <a:chOff x="412" y="1767"/>
                <a:chExt cx="296" cy="243"/>
              </a:xfrm>
            </p:grpSpPr>
            <p:grpSp>
              <p:nvGrpSpPr>
                <p:cNvPr id="88" name="Group 55"/>
                <p:cNvGrpSpPr>
                  <a:grpSpLocks/>
                </p:cNvGrpSpPr>
                <p:nvPr/>
              </p:nvGrpSpPr>
              <p:grpSpPr bwMode="auto">
                <a:xfrm>
                  <a:off x="412" y="1767"/>
                  <a:ext cx="296" cy="243"/>
                  <a:chOff x="412" y="1767"/>
                  <a:chExt cx="296" cy="243"/>
                </a:xfrm>
              </p:grpSpPr>
              <p:grpSp>
                <p:nvGrpSpPr>
                  <p:cNvPr id="97" name="Group 56"/>
                  <p:cNvGrpSpPr>
                    <a:grpSpLocks/>
                  </p:cNvGrpSpPr>
                  <p:nvPr/>
                </p:nvGrpSpPr>
                <p:grpSpPr bwMode="auto">
                  <a:xfrm>
                    <a:off x="412" y="1904"/>
                    <a:ext cx="296" cy="106"/>
                    <a:chOff x="412" y="1904"/>
                    <a:chExt cx="296" cy="106"/>
                  </a:xfrm>
                </p:grpSpPr>
                <p:sp>
                  <p:nvSpPr>
                    <p:cNvPr id="103" name="Freeform 57"/>
                    <p:cNvSpPr>
                      <a:spLocks/>
                    </p:cNvSpPr>
                    <p:nvPr/>
                  </p:nvSpPr>
                  <p:spPr bwMode="auto">
                    <a:xfrm>
                      <a:off x="412" y="1904"/>
                      <a:ext cx="170" cy="106"/>
                    </a:xfrm>
                    <a:custGeom>
                      <a:avLst/>
                      <a:gdLst>
                        <a:gd name="T0" fmla="*/ 0 w 848"/>
                        <a:gd name="T1" fmla="*/ 0 h 530"/>
                        <a:gd name="T2" fmla="*/ 0 w 848"/>
                        <a:gd name="T3" fmla="*/ 0 h 530"/>
                        <a:gd name="T4" fmla="*/ 0 w 848"/>
                        <a:gd name="T5" fmla="*/ 0 h 530"/>
                        <a:gd name="T6" fmla="*/ 0 w 848"/>
                        <a:gd name="T7" fmla="*/ 0 h 530"/>
                        <a:gd name="T8" fmla="*/ 0 w 848"/>
                        <a:gd name="T9" fmla="*/ 0 h 5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8" h="530">
                          <a:moveTo>
                            <a:pt x="848" y="162"/>
                          </a:moveTo>
                          <a:lnTo>
                            <a:pt x="848" y="530"/>
                          </a:lnTo>
                          <a:lnTo>
                            <a:pt x="0" y="258"/>
                          </a:lnTo>
                          <a:lnTo>
                            <a:pt x="0" y="0"/>
                          </a:lnTo>
                          <a:lnTo>
                            <a:pt x="848" y="162"/>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4" name="Freeform 58"/>
                    <p:cNvSpPr>
                      <a:spLocks/>
                    </p:cNvSpPr>
                    <p:nvPr/>
                  </p:nvSpPr>
                  <p:spPr bwMode="auto">
                    <a:xfrm>
                      <a:off x="582" y="1929"/>
                      <a:ext cx="126" cy="81"/>
                    </a:xfrm>
                    <a:custGeom>
                      <a:avLst/>
                      <a:gdLst>
                        <a:gd name="T0" fmla="*/ 0 w 631"/>
                        <a:gd name="T1" fmla="*/ 0 h 404"/>
                        <a:gd name="T2" fmla="*/ 0 w 631"/>
                        <a:gd name="T3" fmla="*/ 0 h 404"/>
                        <a:gd name="T4" fmla="*/ 0 w 631"/>
                        <a:gd name="T5" fmla="*/ 0 h 404"/>
                        <a:gd name="T6" fmla="*/ 0 w 631"/>
                        <a:gd name="T7" fmla="*/ 0 h 404"/>
                        <a:gd name="T8" fmla="*/ 0 w 631"/>
                        <a:gd name="T9" fmla="*/ 0 h 40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1" h="404">
                          <a:moveTo>
                            <a:pt x="0" y="36"/>
                          </a:moveTo>
                          <a:lnTo>
                            <a:pt x="0" y="404"/>
                          </a:lnTo>
                          <a:lnTo>
                            <a:pt x="631" y="312"/>
                          </a:lnTo>
                          <a:lnTo>
                            <a:pt x="631" y="0"/>
                          </a:lnTo>
                          <a:lnTo>
                            <a:pt x="0" y="36"/>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5" name="Freeform 59"/>
                    <p:cNvSpPr>
                      <a:spLocks/>
                    </p:cNvSpPr>
                    <p:nvPr/>
                  </p:nvSpPr>
                  <p:spPr bwMode="auto">
                    <a:xfrm>
                      <a:off x="412" y="1904"/>
                      <a:ext cx="296" cy="32"/>
                    </a:xfrm>
                    <a:custGeom>
                      <a:avLst/>
                      <a:gdLst>
                        <a:gd name="T0" fmla="*/ 0 w 1479"/>
                        <a:gd name="T1" fmla="*/ 0 h 162"/>
                        <a:gd name="T2" fmla="*/ 0 w 1479"/>
                        <a:gd name="T3" fmla="*/ 0 h 162"/>
                        <a:gd name="T4" fmla="*/ 0 w 1479"/>
                        <a:gd name="T5" fmla="*/ 0 h 162"/>
                        <a:gd name="T6" fmla="*/ 0 w 1479"/>
                        <a:gd name="T7" fmla="*/ 0 h 162"/>
                        <a:gd name="T8" fmla="*/ 0 w 1479"/>
                        <a:gd name="T9" fmla="*/ 0 h 16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479" h="162">
                          <a:moveTo>
                            <a:pt x="1479" y="126"/>
                          </a:moveTo>
                          <a:lnTo>
                            <a:pt x="842" y="162"/>
                          </a:lnTo>
                          <a:lnTo>
                            <a:pt x="0" y="0"/>
                          </a:lnTo>
                          <a:lnTo>
                            <a:pt x="619" y="0"/>
                          </a:lnTo>
                          <a:lnTo>
                            <a:pt x="1479" y="12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98" name="Freeform 60"/>
                  <p:cNvSpPr>
                    <a:spLocks/>
                  </p:cNvSpPr>
                  <p:nvPr/>
                </p:nvSpPr>
                <p:spPr bwMode="auto">
                  <a:xfrm>
                    <a:off x="504" y="1895"/>
                    <a:ext cx="108" cy="30"/>
                  </a:xfrm>
                  <a:custGeom>
                    <a:avLst/>
                    <a:gdLst>
                      <a:gd name="T0" fmla="*/ 0 w 538"/>
                      <a:gd name="T1" fmla="*/ 0 h 151"/>
                      <a:gd name="T2" fmla="*/ 0 w 538"/>
                      <a:gd name="T3" fmla="*/ 0 h 151"/>
                      <a:gd name="T4" fmla="*/ 0 w 538"/>
                      <a:gd name="T5" fmla="*/ 0 h 151"/>
                      <a:gd name="T6" fmla="*/ 0 w 538"/>
                      <a:gd name="T7" fmla="*/ 0 h 151"/>
                      <a:gd name="T8" fmla="*/ 0 w 538"/>
                      <a:gd name="T9" fmla="*/ 0 h 151"/>
                      <a:gd name="T10" fmla="*/ 0 w 538"/>
                      <a:gd name="T11" fmla="*/ 0 h 15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38" h="151">
                        <a:moveTo>
                          <a:pt x="538" y="86"/>
                        </a:moveTo>
                        <a:lnTo>
                          <a:pt x="538" y="135"/>
                        </a:lnTo>
                        <a:lnTo>
                          <a:pt x="287" y="151"/>
                        </a:lnTo>
                        <a:lnTo>
                          <a:pt x="0" y="97"/>
                        </a:lnTo>
                        <a:lnTo>
                          <a:pt x="0" y="0"/>
                        </a:lnTo>
                        <a:lnTo>
                          <a:pt x="538" y="86"/>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99" name="Group 61"/>
                  <p:cNvGrpSpPr>
                    <a:grpSpLocks/>
                  </p:cNvGrpSpPr>
                  <p:nvPr/>
                </p:nvGrpSpPr>
                <p:grpSpPr bwMode="auto">
                  <a:xfrm>
                    <a:off x="446" y="1767"/>
                    <a:ext cx="239" cy="151"/>
                    <a:chOff x="446" y="1767"/>
                    <a:chExt cx="239" cy="151"/>
                  </a:xfrm>
                </p:grpSpPr>
                <p:sp>
                  <p:nvSpPr>
                    <p:cNvPr id="100" name="Freeform 62"/>
                    <p:cNvSpPr>
                      <a:spLocks/>
                    </p:cNvSpPr>
                    <p:nvPr/>
                  </p:nvSpPr>
                  <p:spPr bwMode="auto">
                    <a:xfrm>
                      <a:off x="446" y="1767"/>
                      <a:ext cx="137" cy="148"/>
                    </a:xfrm>
                    <a:custGeom>
                      <a:avLst/>
                      <a:gdLst>
                        <a:gd name="T0" fmla="*/ 0 w 686"/>
                        <a:gd name="T1" fmla="*/ 0 h 740"/>
                        <a:gd name="T2" fmla="*/ 0 w 686"/>
                        <a:gd name="T3" fmla="*/ 0 h 740"/>
                        <a:gd name="T4" fmla="*/ 0 w 686"/>
                        <a:gd name="T5" fmla="*/ 0 h 740"/>
                        <a:gd name="T6" fmla="*/ 0 w 686"/>
                        <a:gd name="T7" fmla="*/ 0 h 740"/>
                        <a:gd name="T8" fmla="*/ 0 w 686"/>
                        <a:gd name="T9" fmla="*/ 0 h 7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6" h="740">
                          <a:moveTo>
                            <a:pt x="589" y="740"/>
                          </a:moveTo>
                          <a:lnTo>
                            <a:pt x="686" y="24"/>
                          </a:lnTo>
                          <a:lnTo>
                            <a:pt x="95" y="0"/>
                          </a:lnTo>
                          <a:lnTo>
                            <a:pt x="0" y="638"/>
                          </a:lnTo>
                          <a:lnTo>
                            <a:pt x="589" y="740"/>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1" name="Freeform 63"/>
                    <p:cNvSpPr>
                      <a:spLocks/>
                    </p:cNvSpPr>
                    <p:nvPr/>
                  </p:nvSpPr>
                  <p:spPr bwMode="auto">
                    <a:xfrm>
                      <a:off x="564" y="1771"/>
                      <a:ext cx="121" cy="147"/>
                    </a:xfrm>
                    <a:custGeom>
                      <a:avLst/>
                      <a:gdLst>
                        <a:gd name="T0" fmla="*/ 0 w 608"/>
                        <a:gd name="T1" fmla="*/ 0 h 735"/>
                        <a:gd name="T2" fmla="*/ 0 w 608"/>
                        <a:gd name="T3" fmla="*/ 0 h 735"/>
                        <a:gd name="T4" fmla="*/ 0 w 608"/>
                        <a:gd name="T5" fmla="*/ 0 h 735"/>
                        <a:gd name="T6" fmla="*/ 0 w 608"/>
                        <a:gd name="T7" fmla="*/ 0 h 735"/>
                        <a:gd name="T8" fmla="*/ 0 w 608"/>
                        <a:gd name="T9" fmla="*/ 0 h 7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8" h="735">
                          <a:moveTo>
                            <a:pt x="97" y="0"/>
                          </a:moveTo>
                          <a:lnTo>
                            <a:pt x="608" y="163"/>
                          </a:lnTo>
                          <a:lnTo>
                            <a:pt x="536" y="735"/>
                          </a:lnTo>
                          <a:lnTo>
                            <a:pt x="0" y="717"/>
                          </a:lnTo>
                          <a:lnTo>
                            <a:pt x="97" y="0"/>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2" name="Freeform 64"/>
                    <p:cNvSpPr>
                      <a:spLocks/>
                    </p:cNvSpPr>
                    <p:nvPr/>
                  </p:nvSpPr>
                  <p:spPr bwMode="auto">
                    <a:xfrm>
                      <a:off x="462" y="1781"/>
                      <a:ext cx="98" cy="112"/>
                    </a:xfrm>
                    <a:custGeom>
                      <a:avLst/>
                      <a:gdLst>
                        <a:gd name="T0" fmla="*/ 0 w 493"/>
                        <a:gd name="T1" fmla="*/ 0 h 557"/>
                        <a:gd name="T2" fmla="*/ 0 w 493"/>
                        <a:gd name="T3" fmla="*/ 0 h 557"/>
                        <a:gd name="T4" fmla="*/ 0 w 493"/>
                        <a:gd name="T5" fmla="*/ 0 h 557"/>
                        <a:gd name="T6" fmla="*/ 0 w 493"/>
                        <a:gd name="T7" fmla="*/ 0 h 557"/>
                        <a:gd name="T8" fmla="*/ 0 w 493"/>
                        <a:gd name="T9" fmla="*/ 0 h 5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93" h="557">
                          <a:moveTo>
                            <a:pt x="493" y="25"/>
                          </a:moveTo>
                          <a:lnTo>
                            <a:pt x="423" y="557"/>
                          </a:lnTo>
                          <a:lnTo>
                            <a:pt x="0" y="494"/>
                          </a:lnTo>
                          <a:lnTo>
                            <a:pt x="73" y="0"/>
                          </a:lnTo>
                          <a:lnTo>
                            <a:pt x="493" y="25"/>
                          </a:lnTo>
                          <a:close/>
                        </a:path>
                      </a:pathLst>
                    </a:custGeom>
                    <a:solidFill>
                      <a:srgbClr val="0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89" name="Group 65"/>
                <p:cNvGrpSpPr>
                  <a:grpSpLocks/>
                </p:cNvGrpSpPr>
                <p:nvPr/>
              </p:nvGrpSpPr>
              <p:grpSpPr bwMode="auto">
                <a:xfrm>
                  <a:off x="424" y="1915"/>
                  <a:ext cx="97" cy="69"/>
                  <a:chOff x="424" y="1915"/>
                  <a:chExt cx="97" cy="69"/>
                </a:xfrm>
              </p:grpSpPr>
              <p:sp>
                <p:nvSpPr>
                  <p:cNvPr id="90" name="Freeform 66"/>
                  <p:cNvSpPr>
                    <a:spLocks/>
                  </p:cNvSpPr>
                  <p:nvPr/>
                </p:nvSpPr>
                <p:spPr bwMode="auto">
                  <a:xfrm>
                    <a:off x="424" y="1915"/>
                    <a:ext cx="97" cy="69"/>
                  </a:xfrm>
                  <a:custGeom>
                    <a:avLst/>
                    <a:gdLst>
                      <a:gd name="T0" fmla="*/ 0 w 483"/>
                      <a:gd name="T1" fmla="*/ 0 h 346"/>
                      <a:gd name="T2" fmla="*/ 0 w 483"/>
                      <a:gd name="T3" fmla="*/ 0 h 346"/>
                      <a:gd name="T4" fmla="*/ 0 w 483"/>
                      <a:gd name="T5" fmla="*/ 0 h 346"/>
                      <a:gd name="T6" fmla="*/ 0 w 483"/>
                      <a:gd name="T7" fmla="*/ 0 h 346"/>
                      <a:gd name="T8" fmla="*/ 0 w 483"/>
                      <a:gd name="T9" fmla="*/ 0 h 34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3" h="346">
                        <a:moveTo>
                          <a:pt x="0" y="0"/>
                        </a:moveTo>
                        <a:lnTo>
                          <a:pt x="483" y="104"/>
                        </a:lnTo>
                        <a:lnTo>
                          <a:pt x="483" y="346"/>
                        </a:lnTo>
                        <a:lnTo>
                          <a:pt x="0" y="195"/>
                        </a:lnTo>
                        <a:lnTo>
                          <a:pt x="0" y="0"/>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1" name="Line 67"/>
                  <p:cNvSpPr>
                    <a:spLocks noChangeShapeType="1"/>
                  </p:cNvSpPr>
                  <p:nvPr/>
                </p:nvSpPr>
                <p:spPr bwMode="auto">
                  <a:xfrm flipH="1" flipV="1">
                    <a:off x="433" y="1933"/>
                    <a:ext cx="26" cy="6"/>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2" name="Line 68"/>
                  <p:cNvSpPr>
                    <a:spLocks noChangeShapeType="1"/>
                  </p:cNvSpPr>
                  <p:nvPr/>
                </p:nvSpPr>
                <p:spPr bwMode="auto">
                  <a:xfrm>
                    <a:off x="472" y="1941"/>
                    <a:ext cx="34" cy="7"/>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3" name="Line 69"/>
                  <p:cNvSpPr>
                    <a:spLocks noChangeShapeType="1"/>
                  </p:cNvSpPr>
                  <p:nvPr/>
                </p:nvSpPr>
                <p:spPr bwMode="auto">
                  <a:xfrm>
                    <a:off x="465" y="1924"/>
                    <a:ext cx="1" cy="45"/>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4" name="Line 70"/>
                  <p:cNvSpPr>
                    <a:spLocks noChangeShapeType="1"/>
                  </p:cNvSpPr>
                  <p:nvPr/>
                </p:nvSpPr>
                <p:spPr bwMode="auto">
                  <a:xfrm>
                    <a:off x="511" y="1934"/>
                    <a:ext cx="1" cy="49"/>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5" name="Line 71"/>
                  <p:cNvSpPr>
                    <a:spLocks noChangeShapeType="1"/>
                  </p:cNvSpPr>
                  <p:nvPr/>
                </p:nvSpPr>
                <p:spPr bwMode="auto">
                  <a:xfrm>
                    <a:off x="425" y="1933"/>
                    <a:ext cx="88" cy="22"/>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6" name="Line 72"/>
                  <p:cNvSpPr>
                    <a:spLocks noChangeShapeType="1"/>
                  </p:cNvSpPr>
                  <p:nvPr/>
                </p:nvSpPr>
                <p:spPr bwMode="auto">
                  <a:xfrm flipH="1" flipV="1">
                    <a:off x="424" y="1926"/>
                    <a:ext cx="89" cy="21"/>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56" name="Group 73"/>
              <p:cNvGrpSpPr>
                <a:grpSpLocks/>
              </p:cNvGrpSpPr>
              <p:nvPr/>
            </p:nvGrpSpPr>
            <p:grpSpPr bwMode="auto">
              <a:xfrm>
                <a:off x="325" y="1917"/>
                <a:ext cx="231" cy="118"/>
                <a:chOff x="325" y="1917"/>
                <a:chExt cx="231" cy="118"/>
              </a:xfrm>
            </p:grpSpPr>
            <p:grpSp>
              <p:nvGrpSpPr>
                <p:cNvPr id="57" name="Group 74"/>
                <p:cNvGrpSpPr>
                  <a:grpSpLocks/>
                </p:cNvGrpSpPr>
                <p:nvPr/>
              </p:nvGrpSpPr>
              <p:grpSpPr bwMode="auto">
                <a:xfrm>
                  <a:off x="504" y="1981"/>
                  <a:ext cx="37" cy="28"/>
                  <a:chOff x="504" y="1981"/>
                  <a:chExt cx="37" cy="28"/>
                </a:xfrm>
              </p:grpSpPr>
              <p:sp>
                <p:nvSpPr>
                  <p:cNvPr id="86" name="Freeform 75"/>
                  <p:cNvSpPr>
                    <a:spLocks/>
                  </p:cNvSpPr>
                  <p:nvPr/>
                </p:nvSpPr>
                <p:spPr bwMode="auto">
                  <a:xfrm>
                    <a:off x="531" y="1981"/>
                    <a:ext cx="10" cy="28"/>
                  </a:xfrm>
                  <a:custGeom>
                    <a:avLst/>
                    <a:gdLst>
                      <a:gd name="T0" fmla="*/ 0 w 53"/>
                      <a:gd name="T1" fmla="*/ 0 h 140"/>
                      <a:gd name="T2" fmla="*/ 0 w 53"/>
                      <a:gd name="T3" fmla="*/ 0 h 140"/>
                      <a:gd name="T4" fmla="*/ 0 w 53"/>
                      <a:gd name="T5" fmla="*/ 0 h 140"/>
                      <a:gd name="T6" fmla="*/ 0 w 53"/>
                      <a:gd name="T7" fmla="*/ 0 h 140"/>
                      <a:gd name="T8" fmla="*/ 0 w 53"/>
                      <a:gd name="T9" fmla="*/ 0 h 1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3" h="140">
                        <a:moveTo>
                          <a:pt x="37" y="0"/>
                        </a:moveTo>
                        <a:lnTo>
                          <a:pt x="53" y="131"/>
                        </a:lnTo>
                        <a:lnTo>
                          <a:pt x="14" y="140"/>
                        </a:lnTo>
                        <a:lnTo>
                          <a:pt x="0" y="6"/>
                        </a:lnTo>
                        <a:lnTo>
                          <a:pt x="3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7" name="Freeform 76"/>
                  <p:cNvSpPr>
                    <a:spLocks/>
                  </p:cNvSpPr>
                  <p:nvPr/>
                </p:nvSpPr>
                <p:spPr bwMode="auto">
                  <a:xfrm>
                    <a:off x="504" y="1985"/>
                    <a:ext cx="29" cy="24"/>
                  </a:xfrm>
                  <a:custGeom>
                    <a:avLst/>
                    <a:gdLst>
                      <a:gd name="T0" fmla="*/ 0 w 148"/>
                      <a:gd name="T1" fmla="*/ 0 h 122"/>
                      <a:gd name="T2" fmla="*/ 0 w 148"/>
                      <a:gd name="T3" fmla="*/ 0 h 122"/>
                      <a:gd name="T4" fmla="*/ 0 w 148"/>
                      <a:gd name="T5" fmla="*/ 0 h 122"/>
                      <a:gd name="T6" fmla="*/ 0 w 148"/>
                      <a:gd name="T7" fmla="*/ 0 h 122"/>
                      <a:gd name="T8" fmla="*/ 0 w 148"/>
                      <a:gd name="T9" fmla="*/ 0 h 122"/>
                      <a:gd name="T10" fmla="*/ 0 w 148"/>
                      <a:gd name="T11" fmla="*/ 0 h 122"/>
                      <a:gd name="T12" fmla="*/ 0 w 148"/>
                      <a:gd name="T13" fmla="*/ 0 h 1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48" h="122">
                        <a:moveTo>
                          <a:pt x="136" y="5"/>
                        </a:moveTo>
                        <a:lnTo>
                          <a:pt x="148" y="122"/>
                        </a:lnTo>
                        <a:lnTo>
                          <a:pt x="0" y="61"/>
                        </a:lnTo>
                        <a:lnTo>
                          <a:pt x="58" y="43"/>
                        </a:lnTo>
                        <a:lnTo>
                          <a:pt x="111" y="70"/>
                        </a:lnTo>
                        <a:lnTo>
                          <a:pt x="94" y="0"/>
                        </a:lnTo>
                        <a:lnTo>
                          <a:pt x="136" y="5"/>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8" name="Group 77"/>
                <p:cNvGrpSpPr>
                  <a:grpSpLocks/>
                </p:cNvGrpSpPr>
                <p:nvPr/>
              </p:nvGrpSpPr>
              <p:grpSpPr bwMode="auto">
                <a:xfrm>
                  <a:off x="325" y="1917"/>
                  <a:ext cx="231" cy="118"/>
                  <a:chOff x="325" y="1917"/>
                  <a:chExt cx="231" cy="118"/>
                </a:xfrm>
              </p:grpSpPr>
              <p:sp>
                <p:nvSpPr>
                  <p:cNvPr id="59" name="Freeform 78"/>
                  <p:cNvSpPr>
                    <a:spLocks/>
                  </p:cNvSpPr>
                  <p:nvPr/>
                </p:nvSpPr>
                <p:spPr bwMode="auto">
                  <a:xfrm>
                    <a:off x="326" y="1917"/>
                    <a:ext cx="226" cy="105"/>
                  </a:xfrm>
                  <a:custGeom>
                    <a:avLst/>
                    <a:gdLst>
                      <a:gd name="T0" fmla="*/ 0 w 1132"/>
                      <a:gd name="T1" fmla="*/ 0 h 525"/>
                      <a:gd name="T2" fmla="*/ 0 w 1132"/>
                      <a:gd name="T3" fmla="*/ 0 h 525"/>
                      <a:gd name="T4" fmla="*/ 0 w 1132"/>
                      <a:gd name="T5" fmla="*/ 0 h 525"/>
                      <a:gd name="T6" fmla="*/ 0 w 1132"/>
                      <a:gd name="T7" fmla="*/ 0 h 525"/>
                      <a:gd name="T8" fmla="*/ 0 w 1132"/>
                      <a:gd name="T9" fmla="*/ 0 h 5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32" h="525">
                        <a:moveTo>
                          <a:pt x="1132" y="223"/>
                        </a:moveTo>
                        <a:lnTo>
                          <a:pt x="589" y="525"/>
                        </a:lnTo>
                        <a:lnTo>
                          <a:pt x="0" y="230"/>
                        </a:lnTo>
                        <a:lnTo>
                          <a:pt x="452" y="0"/>
                        </a:lnTo>
                        <a:lnTo>
                          <a:pt x="1132" y="223"/>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0" name="Freeform 79"/>
                  <p:cNvSpPr>
                    <a:spLocks/>
                  </p:cNvSpPr>
                  <p:nvPr/>
                </p:nvSpPr>
                <p:spPr bwMode="auto">
                  <a:xfrm>
                    <a:off x="443" y="1961"/>
                    <a:ext cx="113" cy="74"/>
                  </a:xfrm>
                  <a:custGeom>
                    <a:avLst/>
                    <a:gdLst>
                      <a:gd name="T0" fmla="*/ 0 w 566"/>
                      <a:gd name="T1" fmla="*/ 0 h 371"/>
                      <a:gd name="T2" fmla="*/ 0 w 566"/>
                      <a:gd name="T3" fmla="*/ 0 h 371"/>
                      <a:gd name="T4" fmla="*/ 0 w 566"/>
                      <a:gd name="T5" fmla="*/ 0 h 371"/>
                      <a:gd name="T6" fmla="*/ 0 w 566"/>
                      <a:gd name="T7" fmla="*/ 0 h 371"/>
                      <a:gd name="T8" fmla="*/ 0 w 566"/>
                      <a:gd name="T9" fmla="*/ 0 h 3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6" h="371">
                        <a:moveTo>
                          <a:pt x="547" y="0"/>
                        </a:moveTo>
                        <a:lnTo>
                          <a:pt x="0" y="307"/>
                        </a:lnTo>
                        <a:lnTo>
                          <a:pt x="16" y="371"/>
                        </a:lnTo>
                        <a:lnTo>
                          <a:pt x="566" y="60"/>
                        </a:lnTo>
                        <a:lnTo>
                          <a:pt x="54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1" name="Freeform 80"/>
                  <p:cNvSpPr>
                    <a:spLocks/>
                  </p:cNvSpPr>
                  <p:nvPr/>
                </p:nvSpPr>
                <p:spPr bwMode="auto">
                  <a:xfrm>
                    <a:off x="325" y="1963"/>
                    <a:ext cx="121" cy="72"/>
                  </a:xfrm>
                  <a:custGeom>
                    <a:avLst/>
                    <a:gdLst>
                      <a:gd name="T0" fmla="*/ 0 w 605"/>
                      <a:gd name="T1" fmla="*/ 0 h 363"/>
                      <a:gd name="T2" fmla="*/ 0 w 605"/>
                      <a:gd name="T3" fmla="*/ 0 h 363"/>
                      <a:gd name="T4" fmla="*/ 0 w 605"/>
                      <a:gd name="T5" fmla="*/ 0 h 363"/>
                      <a:gd name="T6" fmla="*/ 0 w 605"/>
                      <a:gd name="T7" fmla="*/ 0 h 363"/>
                      <a:gd name="T8" fmla="*/ 0 w 605"/>
                      <a:gd name="T9" fmla="*/ 0 h 3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5" h="363">
                        <a:moveTo>
                          <a:pt x="605" y="363"/>
                        </a:moveTo>
                        <a:lnTo>
                          <a:pt x="587" y="295"/>
                        </a:lnTo>
                        <a:lnTo>
                          <a:pt x="0" y="0"/>
                        </a:lnTo>
                        <a:lnTo>
                          <a:pt x="21" y="53"/>
                        </a:lnTo>
                        <a:lnTo>
                          <a:pt x="605" y="36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2" name="Freeform 81"/>
                  <p:cNvSpPr>
                    <a:spLocks/>
                  </p:cNvSpPr>
                  <p:nvPr/>
                </p:nvSpPr>
                <p:spPr bwMode="auto">
                  <a:xfrm>
                    <a:off x="417" y="1966"/>
                    <a:ext cx="90" cy="46"/>
                  </a:xfrm>
                  <a:custGeom>
                    <a:avLst/>
                    <a:gdLst>
                      <a:gd name="T0" fmla="*/ 0 w 454"/>
                      <a:gd name="T1" fmla="*/ 0 h 230"/>
                      <a:gd name="T2" fmla="*/ 0 w 454"/>
                      <a:gd name="T3" fmla="*/ 0 h 230"/>
                      <a:gd name="T4" fmla="*/ 0 w 454"/>
                      <a:gd name="T5" fmla="*/ 0 h 230"/>
                      <a:gd name="T6" fmla="*/ 0 w 454"/>
                      <a:gd name="T7" fmla="*/ 0 h 230"/>
                      <a:gd name="T8" fmla="*/ 0 w 454"/>
                      <a:gd name="T9" fmla="*/ 0 h 2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54" h="230">
                        <a:moveTo>
                          <a:pt x="454" y="59"/>
                        </a:moveTo>
                        <a:lnTo>
                          <a:pt x="297" y="0"/>
                        </a:lnTo>
                        <a:lnTo>
                          <a:pt x="0" y="161"/>
                        </a:lnTo>
                        <a:lnTo>
                          <a:pt x="151" y="230"/>
                        </a:lnTo>
                        <a:lnTo>
                          <a:pt x="454" y="5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3" name="Freeform 82"/>
                  <p:cNvSpPr>
                    <a:spLocks/>
                  </p:cNvSpPr>
                  <p:nvPr/>
                </p:nvSpPr>
                <p:spPr bwMode="auto">
                  <a:xfrm>
                    <a:off x="336" y="1934"/>
                    <a:ext cx="134" cy="61"/>
                  </a:xfrm>
                  <a:custGeom>
                    <a:avLst/>
                    <a:gdLst>
                      <a:gd name="T0" fmla="*/ 0 w 669"/>
                      <a:gd name="T1" fmla="*/ 0 h 309"/>
                      <a:gd name="T2" fmla="*/ 0 w 669"/>
                      <a:gd name="T3" fmla="*/ 0 h 309"/>
                      <a:gd name="T4" fmla="*/ 0 w 669"/>
                      <a:gd name="T5" fmla="*/ 0 h 309"/>
                      <a:gd name="T6" fmla="*/ 0 w 669"/>
                      <a:gd name="T7" fmla="*/ 0 h 309"/>
                      <a:gd name="T8" fmla="*/ 0 w 669"/>
                      <a:gd name="T9" fmla="*/ 0 h 30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69" h="309">
                        <a:moveTo>
                          <a:pt x="669" y="150"/>
                        </a:moveTo>
                        <a:lnTo>
                          <a:pt x="377" y="309"/>
                        </a:lnTo>
                        <a:lnTo>
                          <a:pt x="0" y="132"/>
                        </a:lnTo>
                        <a:lnTo>
                          <a:pt x="273" y="0"/>
                        </a:lnTo>
                        <a:lnTo>
                          <a:pt x="669" y="15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4" name="Freeform 83"/>
                  <p:cNvSpPr>
                    <a:spLocks/>
                  </p:cNvSpPr>
                  <p:nvPr/>
                </p:nvSpPr>
                <p:spPr bwMode="auto">
                  <a:xfrm>
                    <a:off x="393" y="1920"/>
                    <a:ext cx="148" cy="57"/>
                  </a:xfrm>
                  <a:custGeom>
                    <a:avLst/>
                    <a:gdLst>
                      <a:gd name="T0" fmla="*/ 0 w 738"/>
                      <a:gd name="T1" fmla="*/ 0 h 283"/>
                      <a:gd name="T2" fmla="*/ 0 w 738"/>
                      <a:gd name="T3" fmla="*/ 0 h 283"/>
                      <a:gd name="T4" fmla="*/ 0 w 738"/>
                      <a:gd name="T5" fmla="*/ 0 h 283"/>
                      <a:gd name="T6" fmla="*/ 0 w 738"/>
                      <a:gd name="T7" fmla="*/ 0 h 283"/>
                      <a:gd name="T8" fmla="*/ 0 w 738"/>
                      <a:gd name="T9" fmla="*/ 0 h 28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38" h="283">
                        <a:moveTo>
                          <a:pt x="584" y="283"/>
                        </a:moveTo>
                        <a:lnTo>
                          <a:pt x="738" y="205"/>
                        </a:lnTo>
                        <a:lnTo>
                          <a:pt x="118" y="0"/>
                        </a:lnTo>
                        <a:lnTo>
                          <a:pt x="0" y="60"/>
                        </a:lnTo>
                        <a:lnTo>
                          <a:pt x="584" y="2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5" name="Line 84"/>
                  <p:cNvSpPr>
                    <a:spLocks noChangeShapeType="1"/>
                  </p:cNvSpPr>
                  <p:nvPr/>
                </p:nvSpPr>
                <p:spPr bwMode="auto">
                  <a:xfrm flipH="1" flipV="1">
                    <a:off x="411" y="1923"/>
                    <a:ext cx="128" cy="4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6" name="Line 85"/>
                  <p:cNvSpPr>
                    <a:spLocks noChangeShapeType="1"/>
                  </p:cNvSpPr>
                  <p:nvPr/>
                </p:nvSpPr>
                <p:spPr bwMode="auto">
                  <a:xfrm flipH="1" flipV="1">
                    <a:off x="404" y="1925"/>
                    <a:ext cx="124" cy="45"/>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7" name="Line 86"/>
                  <p:cNvSpPr>
                    <a:spLocks noChangeShapeType="1"/>
                  </p:cNvSpPr>
                  <p:nvPr/>
                </p:nvSpPr>
                <p:spPr bwMode="auto">
                  <a:xfrm flipH="1" flipV="1">
                    <a:off x="399" y="1930"/>
                    <a:ext cx="121" cy="46"/>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8" name="Line 87"/>
                  <p:cNvSpPr>
                    <a:spLocks noChangeShapeType="1"/>
                  </p:cNvSpPr>
                  <p:nvPr/>
                </p:nvSpPr>
                <p:spPr bwMode="auto">
                  <a:xfrm flipH="1" flipV="1">
                    <a:off x="384" y="1937"/>
                    <a:ext cx="119"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9" name="Line 88"/>
                  <p:cNvSpPr>
                    <a:spLocks noChangeShapeType="1"/>
                  </p:cNvSpPr>
                  <p:nvPr/>
                </p:nvSpPr>
                <p:spPr bwMode="auto">
                  <a:xfrm flipH="1" flipV="1">
                    <a:off x="375" y="1942"/>
                    <a:ext cx="118"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0" name="Line 89"/>
                  <p:cNvSpPr>
                    <a:spLocks noChangeShapeType="1"/>
                  </p:cNvSpPr>
                  <p:nvPr/>
                </p:nvSpPr>
                <p:spPr bwMode="auto">
                  <a:xfrm flipH="1" flipV="1">
                    <a:off x="365" y="1946"/>
                    <a:ext cx="119"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1" name="Line 90"/>
                  <p:cNvSpPr>
                    <a:spLocks noChangeShapeType="1"/>
                  </p:cNvSpPr>
                  <p:nvPr/>
                </p:nvSpPr>
                <p:spPr bwMode="auto">
                  <a:xfrm flipH="1" flipV="1">
                    <a:off x="358" y="1951"/>
                    <a:ext cx="114" cy="50"/>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2" name="Line 91"/>
                  <p:cNvSpPr>
                    <a:spLocks noChangeShapeType="1"/>
                  </p:cNvSpPr>
                  <p:nvPr/>
                </p:nvSpPr>
                <p:spPr bwMode="auto">
                  <a:xfrm flipH="1" flipV="1">
                    <a:off x="347" y="1956"/>
                    <a:ext cx="114"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3" name="Line 92"/>
                  <p:cNvSpPr>
                    <a:spLocks noChangeShapeType="1"/>
                  </p:cNvSpPr>
                  <p:nvPr/>
                </p:nvSpPr>
                <p:spPr bwMode="auto">
                  <a:xfrm flipH="1">
                    <a:off x="437" y="1974"/>
                    <a:ext cx="61" cy="3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4" name="Line 93"/>
                  <p:cNvSpPr>
                    <a:spLocks noChangeShapeType="1"/>
                  </p:cNvSpPr>
                  <p:nvPr/>
                </p:nvSpPr>
                <p:spPr bwMode="auto">
                  <a:xfrm flipH="1">
                    <a:off x="426" y="1970"/>
                    <a:ext cx="58" cy="32"/>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5" name="Line 94"/>
                  <p:cNvSpPr>
                    <a:spLocks noChangeShapeType="1"/>
                  </p:cNvSpPr>
                  <p:nvPr/>
                </p:nvSpPr>
                <p:spPr bwMode="auto">
                  <a:xfrm flipH="1">
                    <a:off x="401" y="1959"/>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6" name="Line 95"/>
                  <p:cNvSpPr>
                    <a:spLocks noChangeShapeType="1"/>
                  </p:cNvSpPr>
                  <p:nvPr/>
                </p:nvSpPr>
                <p:spPr bwMode="auto">
                  <a:xfrm flipH="1">
                    <a:off x="387" y="1954"/>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7" name="Line 96"/>
                  <p:cNvSpPr>
                    <a:spLocks noChangeShapeType="1"/>
                  </p:cNvSpPr>
                  <p:nvPr/>
                </p:nvSpPr>
                <p:spPr bwMode="auto">
                  <a:xfrm flipH="1">
                    <a:off x="375" y="1949"/>
                    <a:ext cx="56"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8" name="Line 97"/>
                  <p:cNvSpPr>
                    <a:spLocks noChangeShapeType="1"/>
                  </p:cNvSpPr>
                  <p:nvPr/>
                </p:nvSpPr>
                <p:spPr bwMode="auto">
                  <a:xfrm flipH="1">
                    <a:off x="364" y="1944"/>
                    <a:ext cx="53"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9" name="Line 98"/>
                  <p:cNvSpPr>
                    <a:spLocks noChangeShapeType="1"/>
                  </p:cNvSpPr>
                  <p:nvPr/>
                </p:nvSpPr>
                <p:spPr bwMode="auto">
                  <a:xfrm flipH="1">
                    <a:off x="352" y="1939"/>
                    <a:ext cx="55"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0" name="Line 99"/>
                  <p:cNvSpPr>
                    <a:spLocks noChangeShapeType="1"/>
                  </p:cNvSpPr>
                  <p:nvPr/>
                </p:nvSpPr>
                <p:spPr bwMode="auto">
                  <a:xfrm flipH="1">
                    <a:off x="494" y="1955"/>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1" name="Line 100"/>
                  <p:cNvSpPr>
                    <a:spLocks noChangeShapeType="1"/>
                  </p:cNvSpPr>
                  <p:nvPr/>
                </p:nvSpPr>
                <p:spPr bwMode="auto">
                  <a:xfrm flipH="1">
                    <a:off x="477" y="1949"/>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2" name="Line 101"/>
                  <p:cNvSpPr>
                    <a:spLocks noChangeShapeType="1"/>
                  </p:cNvSpPr>
                  <p:nvPr/>
                </p:nvSpPr>
                <p:spPr bwMode="auto">
                  <a:xfrm flipH="1">
                    <a:off x="460" y="1943"/>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3" name="Line 102"/>
                  <p:cNvSpPr>
                    <a:spLocks noChangeShapeType="1"/>
                  </p:cNvSpPr>
                  <p:nvPr/>
                </p:nvSpPr>
                <p:spPr bwMode="auto">
                  <a:xfrm flipH="1">
                    <a:off x="443" y="1937"/>
                    <a:ext cx="27"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4" name="Line 103"/>
                  <p:cNvSpPr>
                    <a:spLocks noChangeShapeType="1"/>
                  </p:cNvSpPr>
                  <p:nvPr/>
                </p:nvSpPr>
                <p:spPr bwMode="auto">
                  <a:xfrm flipH="1">
                    <a:off x="427" y="1931"/>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5" name="Line 104"/>
                  <p:cNvSpPr>
                    <a:spLocks noChangeShapeType="1"/>
                  </p:cNvSpPr>
                  <p:nvPr/>
                </p:nvSpPr>
                <p:spPr bwMode="auto">
                  <a:xfrm flipH="1">
                    <a:off x="408" y="1925"/>
                    <a:ext cx="24"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grpSp>
        <p:nvGrpSpPr>
          <p:cNvPr id="112" name="Group 105"/>
          <p:cNvGrpSpPr>
            <a:grpSpLocks/>
          </p:cNvGrpSpPr>
          <p:nvPr/>
        </p:nvGrpSpPr>
        <p:grpSpPr bwMode="auto">
          <a:xfrm>
            <a:off x="1941367" y="3251778"/>
            <a:ext cx="55364" cy="100353"/>
            <a:chOff x="287" y="1872"/>
            <a:chExt cx="55" cy="108"/>
          </a:xfrm>
        </p:grpSpPr>
        <p:sp>
          <p:nvSpPr>
            <p:cNvPr id="113" name="Freeform 106"/>
            <p:cNvSpPr>
              <a:spLocks/>
            </p:cNvSpPr>
            <p:nvPr/>
          </p:nvSpPr>
          <p:spPr bwMode="auto">
            <a:xfrm>
              <a:off x="287" y="1872"/>
              <a:ext cx="55" cy="108"/>
            </a:xfrm>
            <a:custGeom>
              <a:avLst/>
              <a:gdLst>
                <a:gd name="T0" fmla="*/ 0 w 276"/>
                <a:gd name="T1" fmla="*/ 0 h 540"/>
                <a:gd name="T2" fmla="*/ 0 w 276"/>
                <a:gd name="T3" fmla="*/ 0 h 540"/>
                <a:gd name="T4" fmla="*/ 0 w 276"/>
                <a:gd name="T5" fmla="*/ 0 h 540"/>
                <a:gd name="T6" fmla="*/ 0 w 276"/>
                <a:gd name="T7" fmla="*/ 0 h 540"/>
                <a:gd name="T8" fmla="*/ 0 w 276"/>
                <a:gd name="T9" fmla="*/ 0 h 540"/>
                <a:gd name="T10" fmla="*/ 0 w 276"/>
                <a:gd name="T11" fmla="*/ 0 h 540"/>
                <a:gd name="T12" fmla="*/ 0 w 276"/>
                <a:gd name="T13" fmla="*/ 0 h 540"/>
                <a:gd name="T14" fmla="*/ 0 w 276"/>
                <a:gd name="T15" fmla="*/ 0 h 540"/>
                <a:gd name="T16" fmla="*/ 0 w 276"/>
                <a:gd name="T17" fmla="*/ 0 h 540"/>
                <a:gd name="T18" fmla="*/ 0 w 276"/>
                <a:gd name="T19" fmla="*/ 0 h 540"/>
                <a:gd name="T20" fmla="*/ 0 w 276"/>
                <a:gd name="T21" fmla="*/ 0 h 540"/>
                <a:gd name="T22" fmla="*/ 0 w 276"/>
                <a:gd name="T23" fmla="*/ 0 h 54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76" h="540">
                  <a:moveTo>
                    <a:pt x="0" y="192"/>
                  </a:moveTo>
                  <a:lnTo>
                    <a:pt x="53" y="121"/>
                  </a:lnTo>
                  <a:lnTo>
                    <a:pt x="104" y="84"/>
                  </a:lnTo>
                  <a:lnTo>
                    <a:pt x="125" y="30"/>
                  </a:lnTo>
                  <a:lnTo>
                    <a:pt x="137" y="6"/>
                  </a:lnTo>
                  <a:lnTo>
                    <a:pt x="195" y="0"/>
                  </a:lnTo>
                  <a:lnTo>
                    <a:pt x="276" y="45"/>
                  </a:lnTo>
                  <a:lnTo>
                    <a:pt x="255" y="143"/>
                  </a:lnTo>
                  <a:lnTo>
                    <a:pt x="232" y="198"/>
                  </a:lnTo>
                  <a:lnTo>
                    <a:pt x="179" y="365"/>
                  </a:lnTo>
                  <a:lnTo>
                    <a:pt x="92" y="540"/>
                  </a:lnTo>
                  <a:lnTo>
                    <a:pt x="0" y="192"/>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4" name="Freeform 107"/>
            <p:cNvSpPr>
              <a:spLocks/>
            </p:cNvSpPr>
            <p:nvPr/>
          </p:nvSpPr>
          <p:spPr bwMode="auto">
            <a:xfrm>
              <a:off x="296" y="1880"/>
              <a:ext cx="43" cy="77"/>
            </a:xfrm>
            <a:custGeom>
              <a:avLst/>
              <a:gdLst>
                <a:gd name="T0" fmla="*/ 0 w 216"/>
                <a:gd name="T1" fmla="*/ 0 h 385"/>
                <a:gd name="T2" fmla="*/ 0 w 216"/>
                <a:gd name="T3" fmla="*/ 0 h 385"/>
                <a:gd name="T4" fmla="*/ 0 w 216"/>
                <a:gd name="T5" fmla="*/ 0 h 385"/>
                <a:gd name="T6" fmla="*/ 0 w 216"/>
                <a:gd name="T7" fmla="*/ 0 h 385"/>
                <a:gd name="T8" fmla="*/ 0 w 216"/>
                <a:gd name="T9" fmla="*/ 0 h 385"/>
                <a:gd name="T10" fmla="*/ 0 w 216"/>
                <a:gd name="T11" fmla="*/ 0 h 385"/>
                <a:gd name="T12" fmla="*/ 0 w 216"/>
                <a:gd name="T13" fmla="*/ 0 h 385"/>
                <a:gd name="T14" fmla="*/ 0 w 216"/>
                <a:gd name="T15" fmla="*/ 0 h 385"/>
                <a:gd name="T16" fmla="*/ 0 w 216"/>
                <a:gd name="T17" fmla="*/ 0 h 385"/>
                <a:gd name="T18" fmla="*/ 0 w 216"/>
                <a:gd name="T19" fmla="*/ 0 h 385"/>
                <a:gd name="T20" fmla="*/ 0 w 216"/>
                <a:gd name="T21" fmla="*/ 0 h 385"/>
                <a:gd name="T22" fmla="*/ 0 w 216"/>
                <a:gd name="T23" fmla="*/ 0 h 385"/>
                <a:gd name="T24" fmla="*/ 0 w 216"/>
                <a:gd name="T25" fmla="*/ 0 h 385"/>
                <a:gd name="T26" fmla="*/ 0 w 216"/>
                <a:gd name="T27" fmla="*/ 0 h 385"/>
                <a:gd name="T28" fmla="*/ 0 w 216"/>
                <a:gd name="T29" fmla="*/ 0 h 385"/>
                <a:gd name="T30" fmla="*/ 0 w 216"/>
                <a:gd name="T31" fmla="*/ 0 h 385"/>
                <a:gd name="T32" fmla="*/ 0 w 216"/>
                <a:gd name="T33" fmla="*/ 0 h 385"/>
                <a:gd name="T34" fmla="*/ 0 w 216"/>
                <a:gd name="T35" fmla="*/ 0 h 385"/>
                <a:gd name="T36" fmla="*/ 0 w 216"/>
                <a:gd name="T37" fmla="*/ 0 h 385"/>
                <a:gd name="T38" fmla="*/ 0 w 216"/>
                <a:gd name="T39" fmla="*/ 0 h 385"/>
                <a:gd name="T40" fmla="*/ 0 w 216"/>
                <a:gd name="T41" fmla="*/ 0 h 385"/>
                <a:gd name="T42" fmla="*/ 0 w 216"/>
                <a:gd name="T43" fmla="*/ 0 h 385"/>
                <a:gd name="T44" fmla="*/ 0 w 216"/>
                <a:gd name="T45" fmla="*/ 0 h 385"/>
                <a:gd name="T46" fmla="*/ 0 w 216"/>
                <a:gd name="T47" fmla="*/ 0 h 385"/>
                <a:gd name="T48" fmla="*/ 0 w 216"/>
                <a:gd name="T49" fmla="*/ 0 h 385"/>
                <a:gd name="T50" fmla="*/ 0 w 216"/>
                <a:gd name="T51" fmla="*/ 0 h 385"/>
                <a:gd name="T52" fmla="*/ 0 w 216"/>
                <a:gd name="T53" fmla="*/ 0 h 385"/>
                <a:gd name="T54" fmla="*/ 0 w 216"/>
                <a:gd name="T55" fmla="*/ 0 h 385"/>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216" h="385">
                  <a:moveTo>
                    <a:pt x="91" y="0"/>
                  </a:moveTo>
                  <a:lnTo>
                    <a:pt x="115" y="25"/>
                  </a:lnTo>
                  <a:lnTo>
                    <a:pt x="165" y="46"/>
                  </a:lnTo>
                  <a:lnTo>
                    <a:pt x="216" y="44"/>
                  </a:lnTo>
                  <a:lnTo>
                    <a:pt x="185" y="132"/>
                  </a:lnTo>
                  <a:lnTo>
                    <a:pt x="147" y="128"/>
                  </a:lnTo>
                  <a:lnTo>
                    <a:pt x="118" y="112"/>
                  </a:lnTo>
                  <a:lnTo>
                    <a:pt x="134" y="138"/>
                  </a:lnTo>
                  <a:lnTo>
                    <a:pt x="177" y="146"/>
                  </a:lnTo>
                  <a:lnTo>
                    <a:pt x="145" y="242"/>
                  </a:lnTo>
                  <a:lnTo>
                    <a:pt x="124" y="312"/>
                  </a:lnTo>
                  <a:lnTo>
                    <a:pt x="115" y="271"/>
                  </a:lnTo>
                  <a:lnTo>
                    <a:pt x="103" y="197"/>
                  </a:lnTo>
                  <a:lnTo>
                    <a:pt x="102" y="155"/>
                  </a:lnTo>
                  <a:lnTo>
                    <a:pt x="94" y="173"/>
                  </a:lnTo>
                  <a:lnTo>
                    <a:pt x="94" y="222"/>
                  </a:lnTo>
                  <a:lnTo>
                    <a:pt x="103" y="290"/>
                  </a:lnTo>
                  <a:lnTo>
                    <a:pt x="110" y="333"/>
                  </a:lnTo>
                  <a:lnTo>
                    <a:pt x="91" y="385"/>
                  </a:lnTo>
                  <a:lnTo>
                    <a:pt x="55" y="250"/>
                  </a:lnTo>
                  <a:lnTo>
                    <a:pt x="39" y="204"/>
                  </a:lnTo>
                  <a:lnTo>
                    <a:pt x="12" y="135"/>
                  </a:lnTo>
                  <a:lnTo>
                    <a:pt x="0" y="115"/>
                  </a:lnTo>
                  <a:lnTo>
                    <a:pt x="16" y="88"/>
                  </a:lnTo>
                  <a:lnTo>
                    <a:pt x="64" y="64"/>
                  </a:lnTo>
                  <a:lnTo>
                    <a:pt x="81" y="87"/>
                  </a:lnTo>
                  <a:lnTo>
                    <a:pt x="71" y="46"/>
                  </a:lnTo>
                  <a:lnTo>
                    <a:pt x="9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15" name="Group 108"/>
          <p:cNvGrpSpPr>
            <a:grpSpLocks/>
          </p:cNvGrpSpPr>
          <p:nvPr/>
        </p:nvGrpSpPr>
        <p:grpSpPr bwMode="auto">
          <a:xfrm>
            <a:off x="1932308" y="3194169"/>
            <a:ext cx="70463" cy="70619"/>
            <a:chOff x="278" y="1810"/>
            <a:chExt cx="70" cy="76"/>
          </a:xfrm>
        </p:grpSpPr>
        <p:sp>
          <p:nvSpPr>
            <p:cNvPr id="116" name="Freeform 109"/>
            <p:cNvSpPr>
              <a:spLocks/>
            </p:cNvSpPr>
            <p:nvPr/>
          </p:nvSpPr>
          <p:spPr bwMode="auto">
            <a:xfrm>
              <a:off x="297" y="1815"/>
              <a:ext cx="51" cy="71"/>
            </a:xfrm>
            <a:custGeom>
              <a:avLst/>
              <a:gdLst>
                <a:gd name="T0" fmla="*/ 0 w 256"/>
                <a:gd name="T1" fmla="*/ 0 h 356"/>
                <a:gd name="T2" fmla="*/ 0 w 256"/>
                <a:gd name="T3" fmla="*/ 0 h 356"/>
                <a:gd name="T4" fmla="*/ 0 w 256"/>
                <a:gd name="T5" fmla="*/ 0 h 356"/>
                <a:gd name="T6" fmla="*/ 0 w 256"/>
                <a:gd name="T7" fmla="*/ 0 h 356"/>
                <a:gd name="T8" fmla="*/ 0 w 256"/>
                <a:gd name="T9" fmla="*/ 0 h 356"/>
                <a:gd name="T10" fmla="*/ 0 w 256"/>
                <a:gd name="T11" fmla="*/ 0 h 356"/>
                <a:gd name="T12" fmla="*/ 0 w 256"/>
                <a:gd name="T13" fmla="*/ 0 h 356"/>
                <a:gd name="T14" fmla="*/ 0 w 256"/>
                <a:gd name="T15" fmla="*/ 0 h 356"/>
                <a:gd name="T16" fmla="*/ 0 w 256"/>
                <a:gd name="T17" fmla="*/ 0 h 356"/>
                <a:gd name="T18" fmla="*/ 0 w 256"/>
                <a:gd name="T19" fmla="*/ 0 h 356"/>
                <a:gd name="T20" fmla="*/ 0 w 256"/>
                <a:gd name="T21" fmla="*/ 0 h 356"/>
                <a:gd name="T22" fmla="*/ 0 w 256"/>
                <a:gd name="T23" fmla="*/ 0 h 356"/>
                <a:gd name="T24" fmla="*/ 0 w 256"/>
                <a:gd name="T25" fmla="*/ 0 h 356"/>
                <a:gd name="T26" fmla="*/ 0 w 256"/>
                <a:gd name="T27" fmla="*/ 0 h 356"/>
                <a:gd name="T28" fmla="*/ 0 w 256"/>
                <a:gd name="T29" fmla="*/ 0 h 356"/>
                <a:gd name="T30" fmla="*/ 0 w 256"/>
                <a:gd name="T31" fmla="*/ 0 h 356"/>
                <a:gd name="T32" fmla="*/ 0 w 256"/>
                <a:gd name="T33" fmla="*/ 0 h 356"/>
                <a:gd name="T34" fmla="*/ 0 w 256"/>
                <a:gd name="T35" fmla="*/ 0 h 356"/>
                <a:gd name="T36" fmla="*/ 0 w 256"/>
                <a:gd name="T37" fmla="*/ 0 h 356"/>
                <a:gd name="T38" fmla="*/ 0 w 256"/>
                <a:gd name="T39" fmla="*/ 0 h 356"/>
                <a:gd name="T40" fmla="*/ 0 w 256"/>
                <a:gd name="T41" fmla="*/ 0 h 356"/>
                <a:gd name="T42" fmla="*/ 0 w 256"/>
                <a:gd name="T43" fmla="*/ 0 h 356"/>
                <a:gd name="T44" fmla="*/ 0 w 256"/>
                <a:gd name="T45" fmla="*/ 0 h 356"/>
                <a:gd name="T46" fmla="*/ 0 w 256"/>
                <a:gd name="T47" fmla="*/ 0 h 356"/>
                <a:gd name="T48" fmla="*/ 0 w 256"/>
                <a:gd name="T49" fmla="*/ 0 h 356"/>
                <a:gd name="T50" fmla="*/ 0 w 256"/>
                <a:gd name="T51" fmla="*/ 0 h 356"/>
                <a:gd name="T52" fmla="*/ 0 w 256"/>
                <a:gd name="T53" fmla="*/ 0 h 356"/>
                <a:gd name="T54" fmla="*/ 0 w 256"/>
                <a:gd name="T55" fmla="*/ 0 h 356"/>
                <a:gd name="T56" fmla="*/ 0 w 256"/>
                <a:gd name="T57" fmla="*/ 0 h 356"/>
                <a:gd name="T58" fmla="*/ 0 w 256"/>
                <a:gd name="T59" fmla="*/ 0 h 356"/>
                <a:gd name="T60" fmla="*/ 0 w 256"/>
                <a:gd name="T61" fmla="*/ 0 h 356"/>
                <a:gd name="T62" fmla="*/ 0 w 256"/>
                <a:gd name="T63" fmla="*/ 0 h 356"/>
                <a:gd name="T64" fmla="*/ 0 w 256"/>
                <a:gd name="T65" fmla="*/ 0 h 356"/>
                <a:gd name="T66" fmla="*/ 0 w 256"/>
                <a:gd name="T67" fmla="*/ 0 h 356"/>
                <a:gd name="T68" fmla="*/ 0 w 256"/>
                <a:gd name="T69" fmla="*/ 0 h 356"/>
                <a:gd name="T70" fmla="*/ 0 w 256"/>
                <a:gd name="T71" fmla="*/ 0 h 356"/>
                <a:gd name="T72" fmla="*/ 0 w 256"/>
                <a:gd name="T73" fmla="*/ 0 h 356"/>
                <a:gd name="T74" fmla="*/ 0 w 256"/>
                <a:gd name="T75" fmla="*/ 0 h 356"/>
                <a:gd name="T76" fmla="*/ 0 w 256"/>
                <a:gd name="T77" fmla="*/ 0 h 356"/>
                <a:gd name="T78" fmla="*/ 0 w 256"/>
                <a:gd name="T79" fmla="*/ 0 h 356"/>
                <a:gd name="T80" fmla="*/ 0 w 256"/>
                <a:gd name="T81" fmla="*/ 0 h 356"/>
                <a:gd name="T82" fmla="*/ 0 w 256"/>
                <a:gd name="T83" fmla="*/ 0 h 356"/>
                <a:gd name="T84" fmla="*/ 0 w 256"/>
                <a:gd name="T85" fmla="*/ 0 h 356"/>
                <a:gd name="T86" fmla="*/ 0 w 256"/>
                <a:gd name="T87" fmla="*/ 0 h 356"/>
                <a:gd name="T88" fmla="*/ 0 w 256"/>
                <a:gd name="T89" fmla="*/ 0 h 356"/>
                <a:gd name="T90" fmla="*/ 0 w 256"/>
                <a:gd name="T91" fmla="*/ 0 h 356"/>
                <a:gd name="T92" fmla="*/ 0 w 256"/>
                <a:gd name="T93" fmla="*/ 0 h 356"/>
                <a:gd name="T94" fmla="*/ 0 w 256"/>
                <a:gd name="T95" fmla="*/ 0 h 35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256" h="356">
                  <a:moveTo>
                    <a:pt x="3" y="130"/>
                  </a:moveTo>
                  <a:lnTo>
                    <a:pt x="11" y="155"/>
                  </a:lnTo>
                  <a:lnTo>
                    <a:pt x="26" y="167"/>
                  </a:lnTo>
                  <a:lnTo>
                    <a:pt x="35" y="187"/>
                  </a:lnTo>
                  <a:lnTo>
                    <a:pt x="45" y="203"/>
                  </a:lnTo>
                  <a:lnTo>
                    <a:pt x="61" y="218"/>
                  </a:lnTo>
                  <a:lnTo>
                    <a:pt x="73" y="227"/>
                  </a:lnTo>
                  <a:lnTo>
                    <a:pt x="93" y="238"/>
                  </a:lnTo>
                  <a:lnTo>
                    <a:pt x="96" y="252"/>
                  </a:lnTo>
                  <a:lnTo>
                    <a:pt x="96" y="270"/>
                  </a:lnTo>
                  <a:lnTo>
                    <a:pt x="91" y="315"/>
                  </a:lnTo>
                  <a:lnTo>
                    <a:pt x="127" y="341"/>
                  </a:lnTo>
                  <a:lnTo>
                    <a:pt x="157" y="354"/>
                  </a:lnTo>
                  <a:lnTo>
                    <a:pt x="182" y="356"/>
                  </a:lnTo>
                  <a:lnTo>
                    <a:pt x="207" y="354"/>
                  </a:lnTo>
                  <a:lnTo>
                    <a:pt x="216" y="325"/>
                  </a:lnTo>
                  <a:lnTo>
                    <a:pt x="222" y="260"/>
                  </a:lnTo>
                  <a:lnTo>
                    <a:pt x="237" y="237"/>
                  </a:lnTo>
                  <a:lnTo>
                    <a:pt x="248" y="204"/>
                  </a:lnTo>
                  <a:lnTo>
                    <a:pt x="250" y="173"/>
                  </a:lnTo>
                  <a:lnTo>
                    <a:pt x="255" y="131"/>
                  </a:lnTo>
                  <a:lnTo>
                    <a:pt x="256" y="107"/>
                  </a:lnTo>
                  <a:lnTo>
                    <a:pt x="255" y="92"/>
                  </a:lnTo>
                  <a:lnTo>
                    <a:pt x="248" y="66"/>
                  </a:lnTo>
                  <a:lnTo>
                    <a:pt x="234" y="52"/>
                  </a:lnTo>
                  <a:lnTo>
                    <a:pt x="215" y="48"/>
                  </a:lnTo>
                  <a:lnTo>
                    <a:pt x="208" y="33"/>
                  </a:lnTo>
                  <a:lnTo>
                    <a:pt x="191" y="23"/>
                  </a:lnTo>
                  <a:lnTo>
                    <a:pt x="173" y="33"/>
                  </a:lnTo>
                  <a:lnTo>
                    <a:pt x="160" y="12"/>
                  </a:lnTo>
                  <a:lnTo>
                    <a:pt x="140" y="5"/>
                  </a:lnTo>
                  <a:lnTo>
                    <a:pt x="118" y="24"/>
                  </a:lnTo>
                  <a:lnTo>
                    <a:pt x="108" y="0"/>
                  </a:lnTo>
                  <a:lnTo>
                    <a:pt x="78" y="3"/>
                  </a:lnTo>
                  <a:lnTo>
                    <a:pt x="63" y="42"/>
                  </a:lnTo>
                  <a:lnTo>
                    <a:pt x="60" y="64"/>
                  </a:lnTo>
                  <a:lnTo>
                    <a:pt x="57" y="93"/>
                  </a:lnTo>
                  <a:lnTo>
                    <a:pt x="51" y="131"/>
                  </a:lnTo>
                  <a:lnTo>
                    <a:pt x="43" y="116"/>
                  </a:lnTo>
                  <a:lnTo>
                    <a:pt x="39" y="89"/>
                  </a:lnTo>
                  <a:lnTo>
                    <a:pt x="34" y="70"/>
                  </a:lnTo>
                  <a:lnTo>
                    <a:pt x="27" y="61"/>
                  </a:lnTo>
                  <a:lnTo>
                    <a:pt x="12" y="54"/>
                  </a:lnTo>
                  <a:lnTo>
                    <a:pt x="4" y="57"/>
                  </a:lnTo>
                  <a:lnTo>
                    <a:pt x="0" y="66"/>
                  </a:lnTo>
                  <a:lnTo>
                    <a:pt x="5" y="80"/>
                  </a:lnTo>
                  <a:lnTo>
                    <a:pt x="7" y="107"/>
                  </a:lnTo>
                  <a:lnTo>
                    <a:pt x="3" y="13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7" name="Freeform 110"/>
            <p:cNvSpPr>
              <a:spLocks/>
            </p:cNvSpPr>
            <p:nvPr/>
          </p:nvSpPr>
          <p:spPr bwMode="auto">
            <a:xfrm>
              <a:off x="320" y="1820"/>
              <a:ext cx="26" cy="27"/>
            </a:xfrm>
            <a:custGeom>
              <a:avLst/>
              <a:gdLst>
                <a:gd name="T0" fmla="*/ 0 w 129"/>
                <a:gd name="T1" fmla="*/ 0 h 134"/>
                <a:gd name="T2" fmla="*/ 0 w 129"/>
                <a:gd name="T3" fmla="*/ 0 h 134"/>
                <a:gd name="T4" fmla="*/ 0 w 129"/>
                <a:gd name="T5" fmla="*/ 0 h 134"/>
                <a:gd name="T6" fmla="*/ 0 w 129"/>
                <a:gd name="T7" fmla="*/ 0 h 134"/>
                <a:gd name="T8" fmla="*/ 0 w 129"/>
                <a:gd name="T9" fmla="*/ 0 h 134"/>
                <a:gd name="T10" fmla="*/ 0 w 129"/>
                <a:gd name="T11" fmla="*/ 0 h 134"/>
                <a:gd name="T12" fmla="*/ 0 w 129"/>
                <a:gd name="T13" fmla="*/ 0 h 134"/>
                <a:gd name="T14" fmla="*/ 0 w 129"/>
                <a:gd name="T15" fmla="*/ 0 h 134"/>
                <a:gd name="T16" fmla="*/ 0 w 129"/>
                <a:gd name="T17" fmla="*/ 0 h 134"/>
                <a:gd name="T18" fmla="*/ 0 w 129"/>
                <a:gd name="T19" fmla="*/ 0 h 134"/>
                <a:gd name="T20" fmla="*/ 0 w 129"/>
                <a:gd name="T21" fmla="*/ 0 h 134"/>
                <a:gd name="T22" fmla="*/ 0 w 129"/>
                <a:gd name="T23" fmla="*/ 0 h 134"/>
                <a:gd name="T24" fmla="*/ 0 w 129"/>
                <a:gd name="T25" fmla="*/ 0 h 134"/>
                <a:gd name="T26" fmla="*/ 0 w 129"/>
                <a:gd name="T27" fmla="*/ 0 h 134"/>
                <a:gd name="T28" fmla="*/ 0 w 129"/>
                <a:gd name="T29" fmla="*/ 0 h 134"/>
                <a:gd name="T30" fmla="*/ 0 w 129"/>
                <a:gd name="T31" fmla="*/ 0 h 134"/>
                <a:gd name="T32" fmla="*/ 0 w 129"/>
                <a:gd name="T33" fmla="*/ 0 h 134"/>
                <a:gd name="T34" fmla="*/ 0 w 129"/>
                <a:gd name="T35" fmla="*/ 0 h 134"/>
                <a:gd name="T36" fmla="*/ 0 w 129"/>
                <a:gd name="T37" fmla="*/ 0 h 134"/>
                <a:gd name="T38" fmla="*/ 0 w 129"/>
                <a:gd name="T39" fmla="*/ 0 h 134"/>
                <a:gd name="T40" fmla="*/ 0 w 129"/>
                <a:gd name="T41" fmla="*/ 0 h 134"/>
                <a:gd name="T42" fmla="*/ 0 w 129"/>
                <a:gd name="T43" fmla="*/ 0 h 134"/>
                <a:gd name="T44" fmla="*/ 0 w 129"/>
                <a:gd name="T45" fmla="*/ 0 h 134"/>
                <a:gd name="T46" fmla="*/ 0 w 129"/>
                <a:gd name="T47" fmla="*/ 0 h 134"/>
                <a:gd name="T48" fmla="*/ 0 w 129"/>
                <a:gd name="T49" fmla="*/ 0 h 134"/>
                <a:gd name="T50" fmla="*/ 0 w 129"/>
                <a:gd name="T51" fmla="*/ 0 h 134"/>
                <a:gd name="T52" fmla="*/ 0 w 129"/>
                <a:gd name="T53" fmla="*/ 0 h 134"/>
                <a:gd name="T54" fmla="*/ 0 w 129"/>
                <a:gd name="T55" fmla="*/ 0 h 134"/>
                <a:gd name="T56" fmla="*/ 0 w 129"/>
                <a:gd name="T57" fmla="*/ 0 h 134"/>
                <a:gd name="T58" fmla="*/ 0 w 129"/>
                <a:gd name="T59" fmla="*/ 0 h 134"/>
                <a:gd name="T60" fmla="*/ 0 w 129"/>
                <a:gd name="T61" fmla="*/ 0 h 134"/>
                <a:gd name="T62" fmla="*/ 0 w 129"/>
                <a:gd name="T63" fmla="*/ 0 h 134"/>
                <a:gd name="T64" fmla="*/ 0 w 129"/>
                <a:gd name="T65" fmla="*/ 0 h 134"/>
                <a:gd name="T66" fmla="*/ 0 w 129"/>
                <a:gd name="T67" fmla="*/ 0 h 134"/>
                <a:gd name="T68" fmla="*/ 0 w 129"/>
                <a:gd name="T69" fmla="*/ 0 h 134"/>
                <a:gd name="T70" fmla="*/ 0 w 129"/>
                <a:gd name="T71" fmla="*/ 0 h 134"/>
                <a:gd name="T72" fmla="*/ 0 w 129"/>
                <a:gd name="T73" fmla="*/ 0 h 134"/>
                <a:gd name="T74" fmla="*/ 0 w 129"/>
                <a:gd name="T75" fmla="*/ 0 h 134"/>
                <a:gd name="T76" fmla="*/ 0 w 129"/>
                <a:gd name="T77" fmla="*/ 0 h 134"/>
                <a:gd name="T78" fmla="*/ 0 w 129"/>
                <a:gd name="T79" fmla="*/ 0 h 134"/>
                <a:gd name="T80" fmla="*/ 0 w 129"/>
                <a:gd name="T81" fmla="*/ 0 h 134"/>
                <a:gd name="T82" fmla="*/ 0 w 129"/>
                <a:gd name="T83" fmla="*/ 0 h 134"/>
                <a:gd name="T84" fmla="*/ 0 w 129"/>
                <a:gd name="T85" fmla="*/ 0 h 134"/>
                <a:gd name="T86" fmla="*/ 0 w 129"/>
                <a:gd name="T87" fmla="*/ 0 h 134"/>
                <a:gd name="T88" fmla="*/ 0 w 129"/>
                <a:gd name="T89" fmla="*/ 0 h 134"/>
                <a:gd name="T90" fmla="*/ 0 w 129"/>
                <a:gd name="T91" fmla="*/ 0 h 134"/>
                <a:gd name="T92" fmla="*/ 0 w 129"/>
                <a:gd name="T93" fmla="*/ 0 h 134"/>
                <a:gd name="T94" fmla="*/ 0 w 129"/>
                <a:gd name="T95" fmla="*/ 0 h 134"/>
                <a:gd name="T96" fmla="*/ 0 w 129"/>
                <a:gd name="T97" fmla="*/ 0 h 134"/>
                <a:gd name="T98" fmla="*/ 0 w 129"/>
                <a:gd name="T99" fmla="*/ 0 h 134"/>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129" h="134">
                  <a:moveTo>
                    <a:pt x="6" y="2"/>
                  </a:moveTo>
                  <a:lnTo>
                    <a:pt x="13" y="30"/>
                  </a:lnTo>
                  <a:lnTo>
                    <a:pt x="22" y="49"/>
                  </a:lnTo>
                  <a:lnTo>
                    <a:pt x="11" y="91"/>
                  </a:lnTo>
                  <a:lnTo>
                    <a:pt x="18" y="100"/>
                  </a:lnTo>
                  <a:lnTo>
                    <a:pt x="28" y="104"/>
                  </a:lnTo>
                  <a:lnTo>
                    <a:pt x="41" y="102"/>
                  </a:lnTo>
                  <a:lnTo>
                    <a:pt x="51" y="79"/>
                  </a:lnTo>
                  <a:lnTo>
                    <a:pt x="60" y="61"/>
                  </a:lnTo>
                  <a:lnTo>
                    <a:pt x="55" y="36"/>
                  </a:lnTo>
                  <a:lnTo>
                    <a:pt x="53" y="9"/>
                  </a:lnTo>
                  <a:lnTo>
                    <a:pt x="60" y="12"/>
                  </a:lnTo>
                  <a:lnTo>
                    <a:pt x="62" y="37"/>
                  </a:lnTo>
                  <a:lnTo>
                    <a:pt x="65" y="54"/>
                  </a:lnTo>
                  <a:lnTo>
                    <a:pt x="65" y="68"/>
                  </a:lnTo>
                  <a:lnTo>
                    <a:pt x="56" y="83"/>
                  </a:lnTo>
                  <a:lnTo>
                    <a:pt x="47" y="100"/>
                  </a:lnTo>
                  <a:lnTo>
                    <a:pt x="46" y="116"/>
                  </a:lnTo>
                  <a:lnTo>
                    <a:pt x="56" y="123"/>
                  </a:lnTo>
                  <a:lnTo>
                    <a:pt x="75" y="120"/>
                  </a:lnTo>
                  <a:lnTo>
                    <a:pt x="86" y="106"/>
                  </a:lnTo>
                  <a:lnTo>
                    <a:pt x="104" y="84"/>
                  </a:lnTo>
                  <a:lnTo>
                    <a:pt x="103" y="70"/>
                  </a:lnTo>
                  <a:lnTo>
                    <a:pt x="101" y="45"/>
                  </a:lnTo>
                  <a:lnTo>
                    <a:pt x="107" y="65"/>
                  </a:lnTo>
                  <a:lnTo>
                    <a:pt x="108" y="84"/>
                  </a:lnTo>
                  <a:lnTo>
                    <a:pt x="94" y="103"/>
                  </a:lnTo>
                  <a:lnTo>
                    <a:pt x="93" y="117"/>
                  </a:lnTo>
                  <a:lnTo>
                    <a:pt x="96" y="128"/>
                  </a:lnTo>
                  <a:lnTo>
                    <a:pt x="104" y="131"/>
                  </a:lnTo>
                  <a:lnTo>
                    <a:pt x="113" y="125"/>
                  </a:lnTo>
                  <a:lnTo>
                    <a:pt x="129" y="109"/>
                  </a:lnTo>
                  <a:lnTo>
                    <a:pt x="116" y="127"/>
                  </a:lnTo>
                  <a:lnTo>
                    <a:pt x="111" y="134"/>
                  </a:lnTo>
                  <a:lnTo>
                    <a:pt x="97" y="134"/>
                  </a:lnTo>
                  <a:lnTo>
                    <a:pt x="91" y="126"/>
                  </a:lnTo>
                  <a:lnTo>
                    <a:pt x="87" y="114"/>
                  </a:lnTo>
                  <a:lnTo>
                    <a:pt x="79" y="125"/>
                  </a:lnTo>
                  <a:lnTo>
                    <a:pt x="63" y="127"/>
                  </a:lnTo>
                  <a:lnTo>
                    <a:pt x="49" y="127"/>
                  </a:lnTo>
                  <a:lnTo>
                    <a:pt x="43" y="116"/>
                  </a:lnTo>
                  <a:lnTo>
                    <a:pt x="41" y="106"/>
                  </a:lnTo>
                  <a:lnTo>
                    <a:pt x="35" y="109"/>
                  </a:lnTo>
                  <a:lnTo>
                    <a:pt x="24" y="109"/>
                  </a:lnTo>
                  <a:lnTo>
                    <a:pt x="11" y="101"/>
                  </a:lnTo>
                  <a:lnTo>
                    <a:pt x="8" y="86"/>
                  </a:lnTo>
                  <a:lnTo>
                    <a:pt x="18" y="51"/>
                  </a:lnTo>
                  <a:lnTo>
                    <a:pt x="7" y="29"/>
                  </a:lnTo>
                  <a:lnTo>
                    <a:pt x="0" y="0"/>
                  </a:lnTo>
                  <a:lnTo>
                    <a:pt x="6"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8" name="Freeform 111"/>
            <p:cNvSpPr>
              <a:spLocks/>
            </p:cNvSpPr>
            <p:nvPr/>
          </p:nvSpPr>
          <p:spPr bwMode="auto">
            <a:xfrm>
              <a:off x="325" y="1834"/>
              <a:ext cx="4" cy="1"/>
            </a:xfrm>
            <a:custGeom>
              <a:avLst/>
              <a:gdLst>
                <a:gd name="T0" fmla="*/ 0 w 20"/>
                <a:gd name="T1" fmla="*/ 0 h 5"/>
                <a:gd name="T2" fmla="*/ 0 w 20"/>
                <a:gd name="T3" fmla="*/ 0 h 5"/>
                <a:gd name="T4" fmla="*/ 0 w 20"/>
                <a:gd name="T5" fmla="*/ 0 h 5"/>
                <a:gd name="T6" fmla="*/ 0 w 20"/>
                <a:gd name="T7" fmla="*/ 0 h 5"/>
                <a:gd name="T8" fmla="*/ 0 w 20"/>
                <a:gd name="T9" fmla="*/ 0 h 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 h="5">
                  <a:moveTo>
                    <a:pt x="0" y="5"/>
                  </a:moveTo>
                  <a:lnTo>
                    <a:pt x="6" y="4"/>
                  </a:lnTo>
                  <a:lnTo>
                    <a:pt x="20" y="4"/>
                  </a:lnTo>
                  <a:lnTo>
                    <a:pt x="5" y="0"/>
                  </a:lnTo>
                  <a:lnTo>
                    <a:pt x="0"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9" name="Freeform 112"/>
            <p:cNvSpPr>
              <a:spLocks/>
            </p:cNvSpPr>
            <p:nvPr/>
          </p:nvSpPr>
          <p:spPr bwMode="auto">
            <a:xfrm>
              <a:off x="330" y="1838"/>
              <a:ext cx="6" cy="2"/>
            </a:xfrm>
            <a:custGeom>
              <a:avLst/>
              <a:gdLst>
                <a:gd name="T0" fmla="*/ 0 w 27"/>
                <a:gd name="T1" fmla="*/ 0 h 9"/>
                <a:gd name="T2" fmla="*/ 0 w 27"/>
                <a:gd name="T3" fmla="*/ 0 h 9"/>
                <a:gd name="T4" fmla="*/ 0 w 27"/>
                <a:gd name="T5" fmla="*/ 0 h 9"/>
                <a:gd name="T6" fmla="*/ 0 w 27"/>
                <a:gd name="T7" fmla="*/ 0 h 9"/>
                <a:gd name="T8" fmla="*/ 0 w 27"/>
                <a:gd name="T9" fmla="*/ 0 h 9"/>
                <a:gd name="T10" fmla="*/ 0 w 27"/>
                <a:gd name="T11" fmla="*/ 0 h 9"/>
                <a:gd name="T12" fmla="*/ 0 w 27"/>
                <a:gd name="T13" fmla="*/ 0 h 9"/>
                <a:gd name="T14" fmla="*/ 0 w 27"/>
                <a:gd name="T15" fmla="*/ 0 h 9"/>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7" h="9">
                  <a:moveTo>
                    <a:pt x="27" y="7"/>
                  </a:moveTo>
                  <a:lnTo>
                    <a:pt x="23" y="3"/>
                  </a:lnTo>
                  <a:lnTo>
                    <a:pt x="17" y="1"/>
                  </a:lnTo>
                  <a:lnTo>
                    <a:pt x="6" y="0"/>
                  </a:lnTo>
                  <a:lnTo>
                    <a:pt x="0" y="9"/>
                  </a:lnTo>
                  <a:lnTo>
                    <a:pt x="8" y="3"/>
                  </a:lnTo>
                  <a:lnTo>
                    <a:pt x="15" y="2"/>
                  </a:lnTo>
                  <a:lnTo>
                    <a:pt x="27" y="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0" name="Freeform 113"/>
            <p:cNvSpPr>
              <a:spLocks/>
            </p:cNvSpPr>
            <p:nvPr/>
          </p:nvSpPr>
          <p:spPr bwMode="auto">
            <a:xfrm>
              <a:off x="340" y="1841"/>
              <a:ext cx="4" cy="1"/>
            </a:xfrm>
            <a:custGeom>
              <a:avLst/>
              <a:gdLst>
                <a:gd name="T0" fmla="*/ 0 w 20"/>
                <a:gd name="T1" fmla="*/ 0 h 4"/>
                <a:gd name="T2" fmla="*/ 0 w 20"/>
                <a:gd name="T3" fmla="*/ 0 h 4"/>
                <a:gd name="T4" fmla="*/ 0 w 20"/>
                <a:gd name="T5" fmla="*/ 0 h 4"/>
                <a:gd name="T6" fmla="*/ 0 w 20"/>
                <a:gd name="T7" fmla="*/ 0 h 4"/>
                <a:gd name="T8" fmla="*/ 0 w 20"/>
                <a:gd name="T9" fmla="*/ 0 h 4"/>
                <a:gd name="T10" fmla="*/ 0 w 20"/>
                <a:gd name="T11" fmla="*/ 0 h 4"/>
                <a:gd name="T12" fmla="*/ 0 w 20"/>
                <a:gd name="T13" fmla="*/ 0 h 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4">
                  <a:moveTo>
                    <a:pt x="0" y="2"/>
                  </a:moveTo>
                  <a:lnTo>
                    <a:pt x="4" y="0"/>
                  </a:lnTo>
                  <a:lnTo>
                    <a:pt x="11" y="0"/>
                  </a:lnTo>
                  <a:lnTo>
                    <a:pt x="20" y="4"/>
                  </a:lnTo>
                  <a:lnTo>
                    <a:pt x="15" y="3"/>
                  </a:lnTo>
                  <a:lnTo>
                    <a:pt x="11" y="1"/>
                  </a:lnTo>
                  <a:lnTo>
                    <a:pt x="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1" name="Freeform 114"/>
            <p:cNvSpPr>
              <a:spLocks/>
            </p:cNvSpPr>
            <p:nvPr/>
          </p:nvSpPr>
          <p:spPr bwMode="auto">
            <a:xfrm>
              <a:off x="323" y="1845"/>
              <a:ext cx="6" cy="15"/>
            </a:xfrm>
            <a:custGeom>
              <a:avLst/>
              <a:gdLst>
                <a:gd name="T0" fmla="*/ 0 w 31"/>
                <a:gd name="T1" fmla="*/ 0 h 74"/>
                <a:gd name="T2" fmla="*/ 0 w 31"/>
                <a:gd name="T3" fmla="*/ 0 h 74"/>
                <a:gd name="T4" fmla="*/ 0 w 31"/>
                <a:gd name="T5" fmla="*/ 0 h 74"/>
                <a:gd name="T6" fmla="*/ 0 w 31"/>
                <a:gd name="T7" fmla="*/ 0 h 74"/>
                <a:gd name="T8" fmla="*/ 0 w 31"/>
                <a:gd name="T9" fmla="*/ 0 h 74"/>
                <a:gd name="T10" fmla="*/ 0 w 31"/>
                <a:gd name="T11" fmla="*/ 0 h 74"/>
                <a:gd name="T12" fmla="*/ 0 w 31"/>
                <a:gd name="T13" fmla="*/ 0 h 74"/>
                <a:gd name="T14" fmla="*/ 0 w 31"/>
                <a:gd name="T15" fmla="*/ 0 h 7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1" h="74">
                  <a:moveTo>
                    <a:pt x="0" y="0"/>
                  </a:moveTo>
                  <a:lnTo>
                    <a:pt x="17" y="19"/>
                  </a:lnTo>
                  <a:lnTo>
                    <a:pt x="25" y="42"/>
                  </a:lnTo>
                  <a:lnTo>
                    <a:pt x="26" y="74"/>
                  </a:lnTo>
                  <a:lnTo>
                    <a:pt x="31" y="49"/>
                  </a:lnTo>
                  <a:lnTo>
                    <a:pt x="29" y="29"/>
                  </a:lnTo>
                  <a:lnTo>
                    <a:pt x="24" y="2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2" name="Freeform 115"/>
            <p:cNvSpPr>
              <a:spLocks/>
            </p:cNvSpPr>
            <p:nvPr/>
          </p:nvSpPr>
          <p:spPr bwMode="auto">
            <a:xfrm>
              <a:off x="308" y="1839"/>
              <a:ext cx="10" cy="5"/>
            </a:xfrm>
            <a:custGeom>
              <a:avLst/>
              <a:gdLst>
                <a:gd name="T0" fmla="*/ 0 w 50"/>
                <a:gd name="T1" fmla="*/ 0 h 25"/>
                <a:gd name="T2" fmla="*/ 0 w 50"/>
                <a:gd name="T3" fmla="*/ 0 h 25"/>
                <a:gd name="T4" fmla="*/ 0 w 50"/>
                <a:gd name="T5" fmla="*/ 0 h 25"/>
                <a:gd name="T6" fmla="*/ 0 w 50"/>
                <a:gd name="T7" fmla="*/ 0 h 25"/>
                <a:gd name="T8" fmla="*/ 0 w 50"/>
                <a:gd name="T9" fmla="*/ 0 h 25"/>
                <a:gd name="T10" fmla="*/ 0 w 50"/>
                <a:gd name="T11" fmla="*/ 0 h 25"/>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0" h="25">
                  <a:moveTo>
                    <a:pt x="0" y="11"/>
                  </a:moveTo>
                  <a:lnTo>
                    <a:pt x="19" y="13"/>
                  </a:lnTo>
                  <a:lnTo>
                    <a:pt x="50" y="25"/>
                  </a:lnTo>
                  <a:lnTo>
                    <a:pt x="28" y="9"/>
                  </a:lnTo>
                  <a:lnTo>
                    <a:pt x="1" y="0"/>
                  </a:lnTo>
                  <a:lnTo>
                    <a:pt x="0" y="1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3" name="Freeform 116"/>
            <p:cNvSpPr>
              <a:spLocks/>
            </p:cNvSpPr>
            <p:nvPr/>
          </p:nvSpPr>
          <p:spPr bwMode="auto">
            <a:xfrm>
              <a:off x="321" y="1862"/>
              <a:ext cx="7" cy="7"/>
            </a:xfrm>
            <a:custGeom>
              <a:avLst/>
              <a:gdLst>
                <a:gd name="T0" fmla="*/ 0 w 39"/>
                <a:gd name="T1" fmla="*/ 0 h 33"/>
                <a:gd name="T2" fmla="*/ 0 w 39"/>
                <a:gd name="T3" fmla="*/ 0 h 33"/>
                <a:gd name="T4" fmla="*/ 0 w 39"/>
                <a:gd name="T5" fmla="*/ 0 h 33"/>
                <a:gd name="T6" fmla="*/ 0 w 39"/>
                <a:gd name="T7" fmla="*/ 0 h 33"/>
                <a:gd name="T8" fmla="*/ 0 w 39"/>
                <a:gd name="T9" fmla="*/ 0 h 3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9" h="33">
                  <a:moveTo>
                    <a:pt x="39" y="0"/>
                  </a:moveTo>
                  <a:lnTo>
                    <a:pt x="20" y="21"/>
                  </a:lnTo>
                  <a:lnTo>
                    <a:pt x="0" y="33"/>
                  </a:lnTo>
                  <a:lnTo>
                    <a:pt x="26" y="25"/>
                  </a:lnTo>
                  <a:lnTo>
                    <a:pt x="3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4" name="Freeform 117"/>
            <p:cNvSpPr>
              <a:spLocks/>
            </p:cNvSpPr>
            <p:nvPr/>
          </p:nvSpPr>
          <p:spPr bwMode="auto">
            <a:xfrm>
              <a:off x="332" y="1858"/>
              <a:ext cx="7" cy="7"/>
            </a:xfrm>
            <a:custGeom>
              <a:avLst/>
              <a:gdLst>
                <a:gd name="T0" fmla="*/ 0 w 38"/>
                <a:gd name="T1" fmla="*/ 0 h 35"/>
                <a:gd name="T2" fmla="*/ 0 w 38"/>
                <a:gd name="T3" fmla="*/ 0 h 35"/>
                <a:gd name="T4" fmla="*/ 0 w 38"/>
                <a:gd name="T5" fmla="*/ 0 h 35"/>
                <a:gd name="T6" fmla="*/ 0 w 38"/>
                <a:gd name="T7" fmla="*/ 0 h 35"/>
                <a:gd name="T8" fmla="*/ 0 w 38"/>
                <a:gd name="T9" fmla="*/ 0 h 35"/>
                <a:gd name="T10" fmla="*/ 0 w 38"/>
                <a:gd name="T11" fmla="*/ 0 h 35"/>
                <a:gd name="T12" fmla="*/ 0 w 38"/>
                <a:gd name="T13" fmla="*/ 0 h 35"/>
                <a:gd name="T14" fmla="*/ 0 w 38"/>
                <a:gd name="T15" fmla="*/ 0 h 3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8" h="35">
                  <a:moveTo>
                    <a:pt x="0" y="0"/>
                  </a:moveTo>
                  <a:lnTo>
                    <a:pt x="3" y="13"/>
                  </a:lnTo>
                  <a:lnTo>
                    <a:pt x="22" y="29"/>
                  </a:lnTo>
                  <a:lnTo>
                    <a:pt x="38" y="35"/>
                  </a:lnTo>
                  <a:lnTo>
                    <a:pt x="12" y="32"/>
                  </a:lnTo>
                  <a:lnTo>
                    <a:pt x="3" y="21"/>
                  </a:lnTo>
                  <a:lnTo>
                    <a:pt x="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5" name="Freeform 118"/>
            <p:cNvSpPr>
              <a:spLocks/>
            </p:cNvSpPr>
            <p:nvPr/>
          </p:nvSpPr>
          <p:spPr bwMode="auto">
            <a:xfrm>
              <a:off x="278" y="1810"/>
              <a:ext cx="41" cy="31"/>
            </a:xfrm>
            <a:custGeom>
              <a:avLst/>
              <a:gdLst>
                <a:gd name="T0" fmla="*/ 0 w 201"/>
                <a:gd name="T1" fmla="*/ 0 h 158"/>
                <a:gd name="T2" fmla="*/ 0 w 201"/>
                <a:gd name="T3" fmla="*/ 0 h 158"/>
                <a:gd name="T4" fmla="*/ 0 w 201"/>
                <a:gd name="T5" fmla="*/ 0 h 158"/>
                <a:gd name="T6" fmla="*/ 0 w 201"/>
                <a:gd name="T7" fmla="*/ 0 h 158"/>
                <a:gd name="T8" fmla="*/ 0 w 201"/>
                <a:gd name="T9" fmla="*/ 0 h 158"/>
                <a:gd name="T10" fmla="*/ 0 w 201"/>
                <a:gd name="T11" fmla="*/ 0 h 158"/>
                <a:gd name="T12" fmla="*/ 0 w 201"/>
                <a:gd name="T13" fmla="*/ 0 h 1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1" h="158">
                  <a:moveTo>
                    <a:pt x="165" y="158"/>
                  </a:moveTo>
                  <a:lnTo>
                    <a:pt x="201" y="76"/>
                  </a:lnTo>
                  <a:lnTo>
                    <a:pt x="132" y="31"/>
                  </a:lnTo>
                  <a:lnTo>
                    <a:pt x="29" y="0"/>
                  </a:lnTo>
                  <a:lnTo>
                    <a:pt x="0" y="87"/>
                  </a:lnTo>
                  <a:lnTo>
                    <a:pt x="94" y="114"/>
                  </a:lnTo>
                  <a:lnTo>
                    <a:pt x="165" y="158"/>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6" name="Oval 119"/>
            <p:cNvSpPr>
              <a:spLocks noChangeArrowheads="1"/>
            </p:cNvSpPr>
            <p:nvPr/>
          </p:nvSpPr>
          <p:spPr bwMode="auto">
            <a:xfrm>
              <a:off x="304" y="1824"/>
              <a:ext cx="7" cy="9"/>
            </a:xfrm>
            <a:prstGeom prst="ellipse">
              <a:avLst/>
            </a:prstGeom>
            <a:solidFill>
              <a:srgbClr val="FFFFFF"/>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27" name="Freeform 120"/>
            <p:cNvSpPr>
              <a:spLocks/>
            </p:cNvSpPr>
            <p:nvPr/>
          </p:nvSpPr>
          <p:spPr bwMode="auto">
            <a:xfrm>
              <a:off x="297" y="1826"/>
              <a:ext cx="10" cy="22"/>
            </a:xfrm>
            <a:custGeom>
              <a:avLst/>
              <a:gdLst>
                <a:gd name="T0" fmla="*/ 0 w 52"/>
                <a:gd name="T1" fmla="*/ 0 h 111"/>
                <a:gd name="T2" fmla="*/ 0 w 52"/>
                <a:gd name="T3" fmla="*/ 0 h 111"/>
                <a:gd name="T4" fmla="*/ 0 w 52"/>
                <a:gd name="T5" fmla="*/ 0 h 111"/>
                <a:gd name="T6" fmla="*/ 0 w 52"/>
                <a:gd name="T7" fmla="*/ 0 h 111"/>
                <a:gd name="T8" fmla="*/ 0 w 52"/>
                <a:gd name="T9" fmla="*/ 0 h 111"/>
                <a:gd name="T10" fmla="*/ 0 w 52"/>
                <a:gd name="T11" fmla="*/ 0 h 111"/>
                <a:gd name="T12" fmla="*/ 0 w 52"/>
                <a:gd name="T13" fmla="*/ 0 h 111"/>
                <a:gd name="T14" fmla="*/ 0 w 52"/>
                <a:gd name="T15" fmla="*/ 0 h 111"/>
                <a:gd name="T16" fmla="*/ 0 w 52"/>
                <a:gd name="T17" fmla="*/ 0 h 111"/>
                <a:gd name="T18" fmla="*/ 0 w 52"/>
                <a:gd name="T19" fmla="*/ 0 h 111"/>
                <a:gd name="T20" fmla="*/ 0 w 52"/>
                <a:gd name="T21" fmla="*/ 0 h 111"/>
                <a:gd name="T22" fmla="*/ 0 w 52"/>
                <a:gd name="T23" fmla="*/ 0 h 111"/>
                <a:gd name="T24" fmla="*/ 0 w 52"/>
                <a:gd name="T25" fmla="*/ 0 h 111"/>
                <a:gd name="T26" fmla="*/ 0 w 52"/>
                <a:gd name="T27" fmla="*/ 0 h 111"/>
                <a:gd name="T28" fmla="*/ 0 w 52"/>
                <a:gd name="T29" fmla="*/ 0 h 111"/>
                <a:gd name="T30" fmla="*/ 0 w 52"/>
                <a:gd name="T31" fmla="*/ 0 h 11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52" h="111">
                  <a:moveTo>
                    <a:pt x="4" y="74"/>
                  </a:moveTo>
                  <a:lnTo>
                    <a:pt x="7" y="55"/>
                  </a:lnTo>
                  <a:lnTo>
                    <a:pt x="5" y="36"/>
                  </a:lnTo>
                  <a:lnTo>
                    <a:pt x="4" y="23"/>
                  </a:lnTo>
                  <a:lnTo>
                    <a:pt x="0" y="13"/>
                  </a:lnTo>
                  <a:lnTo>
                    <a:pt x="4" y="4"/>
                  </a:lnTo>
                  <a:lnTo>
                    <a:pt x="11" y="0"/>
                  </a:lnTo>
                  <a:lnTo>
                    <a:pt x="27" y="6"/>
                  </a:lnTo>
                  <a:lnTo>
                    <a:pt x="33" y="16"/>
                  </a:lnTo>
                  <a:lnTo>
                    <a:pt x="37" y="27"/>
                  </a:lnTo>
                  <a:lnTo>
                    <a:pt x="39" y="39"/>
                  </a:lnTo>
                  <a:lnTo>
                    <a:pt x="40" y="59"/>
                  </a:lnTo>
                  <a:lnTo>
                    <a:pt x="52" y="79"/>
                  </a:lnTo>
                  <a:lnTo>
                    <a:pt x="23" y="111"/>
                  </a:lnTo>
                  <a:lnTo>
                    <a:pt x="11" y="103"/>
                  </a:lnTo>
                  <a:lnTo>
                    <a:pt x="4" y="74"/>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8" name="Freeform 121"/>
            <p:cNvSpPr>
              <a:spLocks/>
            </p:cNvSpPr>
            <p:nvPr/>
          </p:nvSpPr>
          <p:spPr bwMode="auto">
            <a:xfrm>
              <a:off x="301" y="1841"/>
              <a:ext cx="7" cy="7"/>
            </a:xfrm>
            <a:custGeom>
              <a:avLst/>
              <a:gdLst>
                <a:gd name="T0" fmla="*/ 0 w 35"/>
                <a:gd name="T1" fmla="*/ 0 h 34"/>
                <a:gd name="T2" fmla="*/ 0 w 35"/>
                <a:gd name="T3" fmla="*/ 0 h 34"/>
                <a:gd name="T4" fmla="*/ 0 w 35"/>
                <a:gd name="T5" fmla="*/ 0 h 34"/>
                <a:gd name="T6" fmla="*/ 0 w 35"/>
                <a:gd name="T7" fmla="*/ 0 h 34"/>
                <a:gd name="T8" fmla="*/ 0 w 35"/>
                <a:gd name="T9" fmla="*/ 0 h 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34">
                  <a:moveTo>
                    <a:pt x="24" y="0"/>
                  </a:moveTo>
                  <a:lnTo>
                    <a:pt x="35" y="4"/>
                  </a:lnTo>
                  <a:lnTo>
                    <a:pt x="9" y="34"/>
                  </a:lnTo>
                  <a:lnTo>
                    <a:pt x="0" y="26"/>
                  </a:lnTo>
                  <a:lnTo>
                    <a:pt x="24" y="0"/>
                  </a:lnTo>
                  <a:close/>
                </a:path>
              </a:pathLst>
            </a:custGeom>
            <a:solidFill>
              <a:srgbClr val="FFC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9" name="Freeform 122"/>
            <p:cNvSpPr>
              <a:spLocks/>
            </p:cNvSpPr>
            <p:nvPr/>
          </p:nvSpPr>
          <p:spPr bwMode="auto">
            <a:xfrm>
              <a:off x="312" y="1815"/>
              <a:ext cx="9" cy="20"/>
            </a:xfrm>
            <a:custGeom>
              <a:avLst/>
              <a:gdLst>
                <a:gd name="T0" fmla="*/ 0 w 48"/>
                <a:gd name="T1" fmla="*/ 0 h 97"/>
                <a:gd name="T2" fmla="*/ 0 w 48"/>
                <a:gd name="T3" fmla="*/ 0 h 97"/>
                <a:gd name="T4" fmla="*/ 0 w 48"/>
                <a:gd name="T5" fmla="*/ 0 h 97"/>
                <a:gd name="T6" fmla="*/ 0 w 48"/>
                <a:gd name="T7" fmla="*/ 0 h 97"/>
                <a:gd name="T8" fmla="*/ 0 w 48"/>
                <a:gd name="T9" fmla="*/ 0 h 97"/>
                <a:gd name="T10" fmla="*/ 0 w 48"/>
                <a:gd name="T11" fmla="*/ 0 h 97"/>
                <a:gd name="T12" fmla="*/ 0 w 48"/>
                <a:gd name="T13" fmla="*/ 0 h 97"/>
                <a:gd name="T14" fmla="*/ 0 w 48"/>
                <a:gd name="T15" fmla="*/ 0 h 97"/>
                <a:gd name="T16" fmla="*/ 0 w 48"/>
                <a:gd name="T17" fmla="*/ 0 h 97"/>
                <a:gd name="T18" fmla="*/ 0 w 48"/>
                <a:gd name="T19" fmla="*/ 0 h 97"/>
                <a:gd name="T20" fmla="*/ 0 w 48"/>
                <a:gd name="T21" fmla="*/ 0 h 97"/>
                <a:gd name="T22" fmla="*/ 0 w 48"/>
                <a:gd name="T23" fmla="*/ 0 h 97"/>
                <a:gd name="T24" fmla="*/ 0 w 48"/>
                <a:gd name="T25" fmla="*/ 0 h 97"/>
                <a:gd name="T26" fmla="*/ 0 w 48"/>
                <a:gd name="T27" fmla="*/ 0 h 97"/>
                <a:gd name="T28" fmla="*/ 0 w 48"/>
                <a:gd name="T29" fmla="*/ 0 h 97"/>
                <a:gd name="T30" fmla="*/ 0 w 48"/>
                <a:gd name="T31" fmla="*/ 0 h 97"/>
                <a:gd name="T32" fmla="*/ 0 w 48"/>
                <a:gd name="T33" fmla="*/ 0 h 97"/>
                <a:gd name="T34" fmla="*/ 0 w 48"/>
                <a:gd name="T35" fmla="*/ 0 h 97"/>
                <a:gd name="T36" fmla="*/ 0 w 48"/>
                <a:gd name="T37" fmla="*/ 0 h 9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8" h="97">
                  <a:moveTo>
                    <a:pt x="0" y="23"/>
                  </a:moveTo>
                  <a:lnTo>
                    <a:pt x="4" y="43"/>
                  </a:lnTo>
                  <a:lnTo>
                    <a:pt x="6" y="51"/>
                  </a:lnTo>
                  <a:lnTo>
                    <a:pt x="7" y="64"/>
                  </a:lnTo>
                  <a:lnTo>
                    <a:pt x="5" y="73"/>
                  </a:lnTo>
                  <a:lnTo>
                    <a:pt x="7" y="84"/>
                  </a:lnTo>
                  <a:lnTo>
                    <a:pt x="14" y="95"/>
                  </a:lnTo>
                  <a:lnTo>
                    <a:pt x="21" y="96"/>
                  </a:lnTo>
                  <a:lnTo>
                    <a:pt x="34" y="97"/>
                  </a:lnTo>
                  <a:lnTo>
                    <a:pt x="43" y="91"/>
                  </a:lnTo>
                  <a:lnTo>
                    <a:pt x="46" y="88"/>
                  </a:lnTo>
                  <a:lnTo>
                    <a:pt x="48" y="77"/>
                  </a:lnTo>
                  <a:lnTo>
                    <a:pt x="48" y="59"/>
                  </a:lnTo>
                  <a:lnTo>
                    <a:pt x="48" y="48"/>
                  </a:lnTo>
                  <a:lnTo>
                    <a:pt x="46" y="32"/>
                  </a:lnTo>
                  <a:lnTo>
                    <a:pt x="44" y="22"/>
                  </a:lnTo>
                  <a:lnTo>
                    <a:pt x="36" y="0"/>
                  </a:lnTo>
                  <a:lnTo>
                    <a:pt x="7" y="1"/>
                  </a:lnTo>
                  <a:lnTo>
                    <a:pt x="0" y="23"/>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0" name="Freeform 123"/>
            <p:cNvSpPr>
              <a:spLocks/>
            </p:cNvSpPr>
            <p:nvPr/>
          </p:nvSpPr>
          <p:spPr bwMode="auto">
            <a:xfrm>
              <a:off x="315" y="1828"/>
              <a:ext cx="5" cy="4"/>
            </a:xfrm>
            <a:custGeom>
              <a:avLst/>
              <a:gdLst>
                <a:gd name="T0" fmla="*/ 0 w 24"/>
                <a:gd name="T1" fmla="*/ 0 h 20"/>
                <a:gd name="T2" fmla="*/ 0 w 24"/>
                <a:gd name="T3" fmla="*/ 0 h 20"/>
                <a:gd name="T4" fmla="*/ 0 w 24"/>
                <a:gd name="T5" fmla="*/ 0 h 20"/>
                <a:gd name="T6" fmla="*/ 0 w 24"/>
                <a:gd name="T7" fmla="*/ 0 h 20"/>
                <a:gd name="T8" fmla="*/ 0 w 24"/>
                <a:gd name="T9" fmla="*/ 0 h 20"/>
                <a:gd name="T10" fmla="*/ 0 w 24"/>
                <a:gd name="T11" fmla="*/ 0 h 20"/>
                <a:gd name="T12" fmla="*/ 0 w 24"/>
                <a:gd name="T13" fmla="*/ 0 h 20"/>
                <a:gd name="T14" fmla="*/ 0 w 24"/>
                <a:gd name="T15" fmla="*/ 0 h 2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 h="20">
                  <a:moveTo>
                    <a:pt x="24" y="5"/>
                  </a:moveTo>
                  <a:lnTo>
                    <a:pt x="12" y="0"/>
                  </a:lnTo>
                  <a:lnTo>
                    <a:pt x="3" y="1"/>
                  </a:lnTo>
                  <a:lnTo>
                    <a:pt x="0" y="5"/>
                  </a:lnTo>
                  <a:lnTo>
                    <a:pt x="1" y="20"/>
                  </a:lnTo>
                  <a:lnTo>
                    <a:pt x="3" y="8"/>
                  </a:lnTo>
                  <a:lnTo>
                    <a:pt x="5" y="4"/>
                  </a:lnTo>
                  <a:lnTo>
                    <a:pt x="24"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1" name="Group 124"/>
          <p:cNvGrpSpPr>
            <a:grpSpLocks/>
          </p:cNvGrpSpPr>
          <p:nvPr/>
        </p:nvGrpSpPr>
        <p:grpSpPr bwMode="auto">
          <a:xfrm>
            <a:off x="2029950" y="3663410"/>
            <a:ext cx="139921" cy="65972"/>
            <a:chOff x="375" y="2315"/>
            <a:chExt cx="139" cy="71"/>
          </a:xfrm>
        </p:grpSpPr>
        <p:sp>
          <p:nvSpPr>
            <p:cNvPr id="132" name="Freeform 125"/>
            <p:cNvSpPr>
              <a:spLocks/>
            </p:cNvSpPr>
            <p:nvPr/>
          </p:nvSpPr>
          <p:spPr bwMode="auto">
            <a:xfrm>
              <a:off x="375" y="2315"/>
              <a:ext cx="139" cy="71"/>
            </a:xfrm>
            <a:custGeom>
              <a:avLst/>
              <a:gdLst>
                <a:gd name="T0" fmla="*/ 0 w 691"/>
                <a:gd name="T1" fmla="*/ 0 h 355"/>
                <a:gd name="T2" fmla="*/ 0 w 691"/>
                <a:gd name="T3" fmla="*/ 0 h 355"/>
                <a:gd name="T4" fmla="*/ 0 w 691"/>
                <a:gd name="T5" fmla="*/ 0 h 355"/>
                <a:gd name="T6" fmla="*/ 0 w 691"/>
                <a:gd name="T7" fmla="*/ 0 h 355"/>
                <a:gd name="T8" fmla="*/ 0 w 691"/>
                <a:gd name="T9" fmla="*/ 0 h 355"/>
                <a:gd name="T10" fmla="*/ 0 w 691"/>
                <a:gd name="T11" fmla="*/ 0 h 355"/>
                <a:gd name="T12" fmla="*/ 0 w 691"/>
                <a:gd name="T13" fmla="*/ 0 h 355"/>
                <a:gd name="T14" fmla="*/ 0 w 691"/>
                <a:gd name="T15" fmla="*/ 0 h 355"/>
                <a:gd name="T16" fmla="*/ 0 w 691"/>
                <a:gd name="T17" fmla="*/ 0 h 355"/>
                <a:gd name="T18" fmla="*/ 0 w 691"/>
                <a:gd name="T19" fmla="*/ 0 h 355"/>
                <a:gd name="T20" fmla="*/ 0 w 691"/>
                <a:gd name="T21" fmla="*/ 0 h 355"/>
                <a:gd name="T22" fmla="*/ 0 w 691"/>
                <a:gd name="T23" fmla="*/ 0 h 355"/>
                <a:gd name="T24" fmla="*/ 0 w 691"/>
                <a:gd name="T25" fmla="*/ 0 h 355"/>
                <a:gd name="T26" fmla="*/ 0 w 691"/>
                <a:gd name="T27" fmla="*/ 0 h 355"/>
                <a:gd name="T28" fmla="*/ 0 w 691"/>
                <a:gd name="T29" fmla="*/ 0 h 355"/>
                <a:gd name="T30" fmla="*/ 0 w 691"/>
                <a:gd name="T31" fmla="*/ 0 h 355"/>
                <a:gd name="T32" fmla="*/ 0 w 691"/>
                <a:gd name="T33" fmla="*/ 0 h 355"/>
                <a:gd name="T34" fmla="*/ 0 w 691"/>
                <a:gd name="T35" fmla="*/ 0 h 355"/>
                <a:gd name="T36" fmla="*/ 0 w 691"/>
                <a:gd name="T37" fmla="*/ 0 h 355"/>
                <a:gd name="T38" fmla="*/ 0 w 691"/>
                <a:gd name="T39" fmla="*/ 0 h 355"/>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91" h="355">
                  <a:moveTo>
                    <a:pt x="279" y="11"/>
                  </a:moveTo>
                  <a:lnTo>
                    <a:pt x="274" y="104"/>
                  </a:lnTo>
                  <a:lnTo>
                    <a:pt x="455" y="189"/>
                  </a:lnTo>
                  <a:lnTo>
                    <a:pt x="607" y="226"/>
                  </a:lnTo>
                  <a:lnTo>
                    <a:pt x="691" y="263"/>
                  </a:lnTo>
                  <a:lnTo>
                    <a:pt x="687" y="313"/>
                  </a:lnTo>
                  <a:lnTo>
                    <a:pt x="577" y="343"/>
                  </a:lnTo>
                  <a:lnTo>
                    <a:pt x="413" y="355"/>
                  </a:lnTo>
                  <a:lnTo>
                    <a:pt x="274" y="331"/>
                  </a:lnTo>
                  <a:lnTo>
                    <a:pt x="188" y="307"/>
                  </a:lnTo>
                  <a:lnTo>
                    <a:pt x="183" y="334"/>
                  </a:lnTo>
                  <a:lnTo>
                    <a:pt x="74" y="331"/>
                  </a:lnTo>
                  <a:lnTo>
                    <a:pt x="7" y="318"/>
                  </a:lnTo>
                  <a:lnTo>
                    <a:pt x="7" y="270"/>
                  </a:lnTo>
                  <a:lnTo>
                    <a:pt x="0" y="242"/>
                  </a:lnTo>
                  <a:lnTo>
                    <a:pt x="0" y="173"/>
                  </a:lnTo>
                  <a:lnTo>
                    <a:pt x="18" y="135"/>
                  </a:lnTo>
                  <a:lnTo>
                    <a:pt x="53" y="91"/>
                  </a:lnTo>
                  <a:lnTo>
                    <a:pt x="60" y="0"/>
                  </a:lnTo>
                  <a:lnTo>
                    <a:pt x="279" y="11"/>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3" name="Freeform 126"/>
            <p:cNvSpPr>
              <a:spLocks/>
            </p:cNvSpPr>
            <p:nvPr/>
          </p:nvSpPr>
          <p:spPr bwMode="auto">
            <a:xfrm>
              <a:off x="421" y="2341"/>
              <a:ext cx="42" cy="22"/>
            </a:xfrm>
            <a:custGeom>
              <a:avLst/>
              <a:gdLst>
                <a:gd name="T0" fmla="*/ 0 w 208"/>
                <a:gd name="T1" fmla="*/ 0 h 110"/>
                <a:gd name="T2" fmla="*/ 0 w 208"/>
                <a:gd name="T3" fmla="*/ 0 h 110"/>
                <a:gd name="T4" fmla="*/ 0 w 208"/>
                <a:gd name="T5" fmla="*/ 0 h 110"/>
                <a:gd name="T6" fmla="*/ 0 w 208"/>
                <a:gd name="T7" fmla="*/ 0 h 110"/>
                <a:gd name="T8" fmla="*/ 0 w 208"/>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8" h="110">
                  <a:moveTo>
                    <a:pt x="53" y="0"/>
                  </a:moveTo>
                  <a:lnTo>
                    <a:pt x="0" y="58"/>
                  </a:lnTo>
                  <a:lnTo>
                    <a:pt x="186" y="110"/>
                  </a:lnTo>
                  <a:lnTo>
                    <a:pt x="208" y="70"/>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4" name="Freeform 127"/>
            <p:cNvSpPr>
              <a:spLocks/>
            </p:cNvSpPr>
            <p:nvPr/>
          </p:nvSpPr>
          <p:spPr bwMode="auto">
            <a:xfrm>
              <a:off x="463" y="2356"/>
              <a:ext cx="46" cy="13"/>
            </a:xfrm>
            <a:custGeom>
              <a:avLst/>
              <a:gdLst>
                <a:gd name="T0" fmla="*/ 0 w 233"/>
                <a:gd name="T1" fmla="*/ 0 h 67"/>
                <a:gd name="T2" fmla="*/ 0 w 233"/>
                <a:gd name="T3" fmla="*/ 0 h 67"/>
                <a:gd name="T4" fmla="*/ 0 w 233"/>
                <a:gd name="T5" fmla="*/ 0 h 67"/>
                <a:gd name="T6" fmla="*/ 0 w 233"/>
                <a:gd name="T7" fmla="*/ 0 h 67"/>
                <a:gd name="T8" fmla="*/ 0 w 233"/>
                <a:gd name="T9" fmla="*/ 0 h 67"/>
                <a:gd name="T10" fmla="*/ 0 w 233"/>
                <a:gd name="T11" fmla="*/ 0 h 67"/>
                <a:gd name="T12" fmla="*/ 0 w 233"/>
                <a:gd name="T13" fmla="*/ 0 h 6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3" h="67">
                  <a:moveTo>
                    <a:pt x="27" y="0"/>
                  </a:moveTo>
                  <a:lnTo>
                    <a:pt x="0" y="32"/>
                  </a:lnTo>
                  <a:lnTo>
                    <a:pt x="115" y="62"/>
                  </a:lnTo>
                  <a:lnTo>
                    <a:pt x="168" y="67"/>
                  </a:lnTo>
                  <a:lnTo>
                    <a:pt x="233" y="64"/>
                  </a:lnTo>
                  <a:lnTo>
                    <a:pt x="165" y="30"/>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5" name="Freeform 128"/>
            <p:cNvSpPr>
              <a:spLocks/>
            </p:cNvSpPr>
            <p:nvPr/>
          </p:nvSpPr>
          <p:spPr bwMode="auto">
            <a:xfrm>
              <a:off x="376" y="2341"/>
              <a:ext cx="134" cy="41"/>
            </a:xfrm>
            <a:custGeom>
              <a:avLst/>
              <a:gdLst>
                <a:gd name="T0" fmla="*/ 0 w 670"/>
                <a:gd name="T1" fmla="*/ 0 h 209"/>
                <a:gd name="T2" fmla="*/ 0 w 670"/>
                <a:gd name="T3" fmla="*/ 0 h 209"/>
                <a:gd name="T4" fmla="*/ 0 w 670"/>
                <a:gd name="T5" fmla="*/ 0 h 209"/>
                <a:gd name="T6" fmla="*/ 0 w 670"/>
                <a:gd name="T7" fmla="*/ 0 h 209"/>
                <a:gd name="T8" fmla="*/ 0 w 670"/>
                <a:gd name="T9" fmla="*/ 0 h 209"/>
                <a:gd name="T10" fmla="*/ 0 w 670"/>
                <a:gd name="T11" fmla="*/ 0 h 209"/>
                <a:gd name="T12" fmla="*/ 0 w 670"/>
                <a:gd name="T13" fmla="*/ 0 h 209"/>
                <a:gd name="T14" fmla="*/ 0 w 670"/>
                <a:gd name="T15" fmla="*/ 0 h 209"/>
                <a:gd name="T16" fmla="*/ 0 w 670"/>
                <a:gd name="T17" fmla="*/ 0 h 209"/>
                <a:gd name="T18" fmla="*/ 0 w 670"/>
                <a:gd name="T19" fmla="*/ 0 h 209"/>
                <a:gd name="T20" fmla="*/ 0 w 670"/>
                <a:gd name="T21" fmla="*/ 0 h 209"/>
                <a:gd name="T22" fmla="*/ 0 w 670"/>
                <a:gd name="T23" fmla="*/ 0 h 209"/>
                <a:gd name="T24" fmla="*/ 0 w 670"/>
                <a:gd name="T25" fmla="*/ 0 h 209"/>
                <a:gd name="T26" fmla="*/ 0 w 670"/>
                <a:gd name="T27" fmla="*/ 0 h 209"/>
                <a:gd name="T28" fmla="*/ 0 w 670"/>
                <a:gd name="T29" fmla="*/ 0 h 209"/>
                <a:gd name="T30" fmla="*/ 0 w 670"/>
                <a:gd name="T31" fmla="*/ 0 h 209"/>
                <a:gd name="T32" fmla="*/ 0 w 670"/>
                <a:gd name="T33" fmla="*/ 0 h 209"/>
                <a:gd name="T34" fmla="*/ 0 w 670"/>
                <a:gd name="T35" fmla="*/ 0 h 209"/>
                <a:gd name="T36" fmla="*/ 0 w 670"/>
                <a:gd name="T37" fmla="*/ 0 h 20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0" h="209">
                  <a:moveTo>
                    <a:pt x="670" y="178"/>
                  </a:moveTo>
                  <a:lnTo>
                    <a:pt x="670" y="146"/>
                  </a:lnTo>
                  <a:lnTo>
                    <a:pt x="582" y="155"/>
                  </a:lnTo>
                  <a:lnTo>
                    <a:pt x="442" y="134"/>
                  </a:lnTo>
                  <a:lnTo>
                    <a:pt x="361" y="116"/>
                  </a:lnTo>
                  <a:lnTo>
                    <a:pt x="206" y="66"/>
                  </a:lnTo>
                  <a:lnTo>
                    <a:pt x="140" y="58"/>
                  </a:lnTo>
                  <a:lnTo>
                    <a:pt x="73" y="34"/>
                  </a:lnTo>
                  <a:lnTo>
                    <a:pt x="40" y="0"/>
                  </a:lnTo>
                  <a:lnTo>
                    <a:pt x="0" y="43"/>
                  </a:lnTo>
                  <a:lnTo>
                    <a:pt x="0" y="132"/>
                  </a:lnTo>
                  <a:lnTo>
                    <a:pt x="49" y="146"/>
                  </a:lnTo>
                  <a:lnTo>
                    <a:pt x="170" y="162"/>
                  </a:lnTo>
                  <a:lnTo>
                    <a:pt x="218" y="167"/>
                  </a:lnTo>
                  <a:lnTo>
                    <a:pt x="298" y="196"/>
                  </a:lnTo>
                  <a:lnTo>
                    <a:pt x="388" y="209"/>
                  </a:lnTo>
                  <a:lnTo>
                    <a:pt x="452" y="209"/>
                  </a:lnTo>
                  <a:lnTo>
                    <a:pt x="553" y="209"/>
                  </a:lnTo>
                  <a:lnTo>
                    <a:pt x="670"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6" name="Freeform 129"/>
            <p:cNvSpPr>
              <a:spLocks/>
            </p:cNvSpPr>
            <p:nvPr/>
          </p:nvSpPr>
          <p:spPr bwMode="auto">
            <a:xfrm>
              <a:off x="386" y="2317"/>
              <a:ext cx="44" cy="34"/>
            </a:xfrm>
            <a:custGeom>
              <a:avLst/>
              <a:gdLst>
                <a:gd name="T0" fmla="*/ 0 w 219"/>
                <a:gd name="T1" fmla="*/ 0 h 171"/>
                <a:gd name="T2" fmla="*/ 0 w 219"/>
                <a:gd name="T3" fmla="*/ 0 h 171"/>
                <a:gd name="T4" fmla="*/ 0 w 219"/>
                <a:gd name="T5" fmla="*/ 0 h 171"/>
                <a:gd name="T6" fmla="*/ 0 w 219"/>
                <a:gd name="T7" fmla="*/ 0 h 171"/>
                <a:gd name="T8" fmla="*/ 0 w 219"/>
                <a:gd name="T9" fmla="*/ 0 h 171"/>
                <a:gd name="T10" fmla="*/ 0 w 219"/>
                <a:gd name="T11" fmla="*/ 0 h 171"/>
                <a:gd name="T12" fmla="*/ 0 w 219"/>
                <a:gd name="T13" fmla="*/ 0 h 171"/>
                <a:gd name="T14" fmla="*/ 0 w 219"/>
                <a:gd name="T15" fmla="*/ 0 h 171"/>
                <a:gd name="T16" fmla="*/ 0 w 219"/>
                <a:gd name="T17" fmla="*/ 0 h 171"/>
                <a:gd name="T18" fmla="*/ 0 w 219"/>
                <a:gd name="T19" fmla="*/ 0 h 17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171">
                  <a:moveTo>
                    <a:pt x="214" y="11"/>
                  </a:moveTo>
                  <a:lnTo>
                    <a:pt x="207" y="96"/>
                  </a:lnTo>
                  <a:lnTo>
                    <a:pt x="219" y="114"/>
                  </a:lnTo>
                  <a:lnTo>
                    <a:pt x="170" y="171"/>
                  </a:lnTo>
                  <a:lnTo>
                    <a:pt x="103" y="171"/>
                  </a:lnTo>
                  <a:lnTo>
                    <a:pt x="26" y="146"/>
                  </a:lnTo>
                  <a:lnTo>
                    <a:pt x="0" y="112"/>
                  </a:lnTo>
                  <a:lnTo>
                    <a:pt x="15" y="89"/>
                  </a:lnTo>
                  <a:lnTo>
                    <a:pt x="20" y="0"/>
                  </a:lnTo>
                  <a:lnTo>
                    <a:pt x="214"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7" name="Group 130"/>
          <p:cNvGrpSpPr>
            <a:grpSpLocks/>
          </p:cNvGrpSpPr>
          <p:nvPr/>
        </p:nvGrpSpPr>
        <p:grpSpPr bwMode="auto">
          <a:xfrm>
            <a:off x="2032970" y="3548191"/>
            <a:ext cx="58384" cy="131945"/>
            <a:chOff x="378" y="2191"/>
            <a:chExt cx="58" cy="142"/>
          </a:xfrm>
        </p:grpSpPr>
        <p:sp>
          <p:nvSpPr>
            <p:cNvPr id="138" name="Freeform 131"/>
            <p:cNvSpPr>
              <a:spLocks/>
            </p:cNvSpPr>
            <p:nvPr/>
          </p:nvSpPr>
          <p:spPr bwMode="auto">
            <a:xfrm>
              <a:off x="378" y="2191"/>
              <a:ext cx="58" cy="142"/>
            </a:xfrm>
            <a:custGeom>
              <a:avLst/>
              <a:gdLst>
                <a:gd name="T0" fmla="*/ 0 w 292"/>
                <a:gd name="T1" fmla="*/ 0 h 710"/>
                <a:gd name="T2" fmla="*/ 0 w 292"/>
                <a:gd name="T3" fmla="*/ 0 h 710"/>
                <a:gd name="T4" fmla="*/ 0 w 292"/>
                <a:gd name="T5" fmla="*/ 0 h 710"/>
                <a:gd name="T6" fmla="*/ 0 w 292"/>
                <a:gd name="T7" fmla="*/ 0 h 710"/>
                <a:gd name="T8" fmla="*/ 0 w 292"/>
                <a:gd name="T9" fmla="*/ 0 h 710"/>
                <a:gd name="T10" fmla="*/ 0 w 292"/>
                <a:gd name="T11" fmla="*/ 0 h 710"/>
                <a:gd name="T12" fmla="*/ 0 w 292"/>
                <a:gd name="T13" fmla="*/ 0 h 710"/>
                <a:gd name="T14" fmla="*/ 0 w 292"/>
                <a:gd name="T15" fmla="*/ 0 h 71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92" h="710">
                  <a:moveTo>
                    <a:pt x="24" y="15"/>
                  </a:moveTo>
                  <a:lnTo>
                    <a:pt x="6" y="256"/>
                  </a:lnTo>
                  <a:lnTo>
                    <a:pt x="10" y="454"/>
                  </a:lnTo>
                  <a:lnTo>
                    <a:pt x="0" y="678"/>
                  </a:lnTo>
                  <a:lnTo>
                    <a:pt x="144" y="710"/>
                  </a:lnTo>
                  <a:lnTo>
                    <a:pt x="283" y="710"/>
                  </a:lnTo>
                  <a:lnTo>
                    <a:pt x="292" y="0"/>
                  </a:lnTo>
                  <a:lnTo>
                    <a:pt x="24" y="15"/>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9" name="Freeform 132"/>
            <p:cNvSpPr>
              <a:spLocks/>
            </p:cNvSpPr>
            <p:nvPr/>
          </p:nvSpPr>
          <p:spPr bwMode="auto">
            <a:xfrm>
              <a:off x="383" y="2193"/>
              <a:ext cx="50" cy="136"/>
            </a:xfrm>
            <a:custGeom>
              <a:avLst/>
              <a:gdLst>
                <a:gd name="T0" fmla="*/ 0 w 252"/>
                <a:gd name="T1" fmla="*/ 0 h 681"/>
                <a:gd name="T2" fmla="*/ 0 w 252"/>
                <a:gd name="T3" fmla="*/ 0 h 681"/>
                <a:gd name="T4" fmla="*/ 0 w 252"/>
                <a:gd name="T5" fmla="*/ 0 h 681"/>
                <a:gd name="T6" fmla="*/ 0 w 252"/>
                <a:gd name="T7" fmla="*/ 0 h 681"/>
                <a:gd name="T8" fmla="*/ 0 w 252"/>
                <a:gd name="T9" fmla="*/ 0 h 681"/>
                <a:gd name="T10" fmla="*/ 0 w 252"/>
                <a:gd name="T11" fmla="*/ 0 h 681"/>
                <a:gd name="T12" fmla="*/ 0 w 252"/>
                <a:gd name="T13" fmla="*/ 0 h 681"/>
                <a:gd name="T14" fmla="*/ 0 w 252"/>
                <a:gd name="T15" fmla="*/ 0 h 68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52" h="681">
                  <a:moveTo>
                    <a:pt x="23" y="21"/>
                  </a:moveTo>
                  <a:lnTo>
                    <a:pt x="0" y="223"/>
                  </a:lnTo>
                  <a:lnTo>
                    <a:pt x="5" y="385"/>
                  </a:lnTo>
                  <a:lnTo>
                    <a:pt x="5" y="633"/>
                  </a:lnTo>
                  <a:lnTo>
                    <a:pt x="128" y="681"/>
                  </a:lnTo>
                  <a:lnTo>
                    <a:pt x="238" y="681"/>
                  </a:lnTo>
                  <a:lnTo>
                    <a:pt x="252" y="0"/>
                  </a:lnTo>
                  <a:lnTo>
                    <a:pt x="23" y="2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40" name="Group 133"/>
          <p:cNvGrpSpPr>
            <a:grpSpLocks/>
          </p:cNvGrpSpPr>
          <p:nvPr/>
        </p:nvGrpSpPr>
        <p:grpSpPr bwMode="auto">
          <a:xfrm>
            <a:off x="2063168" y="3681994"/>
            <a:ext cx="141934" cy="65972"/>
            <a:chOff x="408" y="2335"/>
            <a:chExt cx="141" cy="71"/>
          </a:xfrm>
        </p:grpSpPr>
        <p:sp>
          <p:nvSpPr>
            <p:cNvPr id="141" name="Freeform 134"/>
            <p:cNvSpPr>
              <a:spLocks/>
            </p:cNvSpPr>
            <p:nvPr/>
          </p:nvSpPr>
          <p:spPr bwMode="auto">
            <a:xfrm>
              <a:off x="408" y="2335"/>
              <a:ext cx="141" cy="71"/>
            </a:xfrm>
            <a:custGeom>
              <a:avLst/>
              <a:gdLst>
                <a:gd name="T0" fmla="*/ 0 w 703"/>
                <a:gd name="T1" fmla="*/ 0 h 356"/>
                <a:gd name="T2" fmla="*/ 0 w 703"/>
                <a:gd name="T3" fmla="*/ 0 h 356"/>
                <a:gd name="T4" fmla="*/ 0 w 703"/>
                <a:gd name="T5" fmla="*/ 0 h 356"/>
                <a:gd name="T6" fmla="*/ 0 w 703"/>
                <a:gd name="T7" fmla="*/ 0 h 356"/>
                <a:gd name="T8" fmla="*/ 0 w 703"/>
                <a:gd name="T9" fmla="*/ 0 h 356"/>
                <a:gd name="T10" fmla="*/ 0 w 703"/>
                <a:gd name="T11" fmla="*/ 0 h 356"/>
                <a:gd name="T12" fmla="*/ 0 w 703"/>
                <a:gd name="T13" fmla="*/ 0 h 356"/>
                <a:gd name="T14" fmla="*/ 0 w 703"/>
                <a:gd name="T15" fmla="*/ 0 h 356"/>
                <a:gd name="T16" fmla="*/ 0 w 703"/>
                <a:gd name="T17" fmla="*/ 0 h 356"/>
                <a:gd name="T18" fmla="*/ 0 w 703"/>
                <a:gd name="T19" fmla="*/ 0 h 356"/>
                <a:gd name="T20" fmla="*/ 0 w 703"/>
                <a:gd name="T21" fmla="*/ 0 h 356"/>
                <a:gd name="T22" fmla="*/ 0 w 703"/>
                <a:gd name="T23" fmla="*/ 0 h 356"/>
                <a:gd name="T24" fmla="*/ 0 w 703"/>
                <a:gd name="T25" fmla="*/ 0 h 356"/>
                <a:gd name="T26" fmla="*/ 0 w 703"/>
                <a:gd name="T27" fmla="*/ 0 h 356"/>
                <a:gd name="T28" fmla="*/ 0 w 703"/>
                <a:gd name="T29" fmla="*/ 0 h 356"/>
                <a:gd name="T30" fmla="*/ 0 w 703"/>
                <a:gd name="T31" fmla="*/ 0 h 356"/>
                <a:gd name="T32" fmla="*/ 0 w 703"/>
                <a:gd name="T33" fmla="*/ 0 h 356"/>
                <a:gd name="T34" fmla="*/ 0 w 703"/>
                <a:gd name="T35" fmla="*/ 0 h 356"/>
                <a:gd name="T36" fmla="*/ 0 w 703"/>
                <a:gd name="T37" fmla="*/ 0 h 356"/>
                <a:gd name="T38" fmla="*/ 0 w 703"/>
                <a:gd name="T39" fmla="*/ 0 h 35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703" h="356">
                  <a:moveTo>
                    <a:pt x="285" y="13"/>
                  </a:moveTo>
                  <a:lnTo>
                    <a:pt x="280" y="104"/>
                  </a:lnTo>
                  <a:lnTo>
                    <a:pt x="463" y="191"/>
                  </a:lnTo>
                  <a:lnTo>
                    <a:pt x="617" y="227"/>
                  </a:lnTo>
                  <a:lnTo>
                    <a:pt x="703" y="264"/>
                  </a:lnTo>
                  <a:lnTo>
                    <a:pt x="698" y="314"/>
                  </a:lnTo>
                  <a:lnTo>
                    <a:pt x="588" y="345"/>
                  </a:lnTo>
                  <a:lnTo>
                    <a:pt x="420" y="356"/>
                  </a:lnTo>
                  <a:lnTo>
                    <a:pt x="280" y="332"/>
                  </a:lnTo>
                  <a:lnTo>
                    <a:pt x="194" y="307"/>
                  </a:lnTo>
                  <a:lnTo>
                    <a:pt x="188" y="335"/>
                  </a:lnTo>
                  <a:lnTo>
                    <a:pt x="76" y="332"/>
                  </a:lnTo>
                  <a:lnTo>
                    <a:pt x="8" y="320"/>
                  </a:lnTo>
                  <a:lnTo>
                    <a:pt x="8" y="271"/>
                  </a:lnTo>
                  <a:lnTo>
                    <a:pt x="0" y="243"/>
                  </a:lnTo>
                  <a:lnTo>
                    <a:pt x="0" y="174"/>
                  </a:lnTo>
                  <a:lnTo>
                    <a:pt x="22" y="136"/>
                  </a:lnTo>
                  <a:lnTo>
                    <a:pt x="56" y="94"/>
                  </a:lnTo>
                  <a:lnTo>
                    <a:pt x="64" y="0"/>
                  </a:lnTo>
                  <a:lnTo>
                    <a:pt x="285" y="13"/>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2" name="Freeform 135"/>
            <p:cNvSpPr>
              <a:spLocks/>
            </p:cNvSpPr>
            <p:nvPr/>
          </p:nvSpPr>
          <p:spPr bwMode="auto">
            <a:xfrm>
              <a:off x="455" y="2361"/>
              <a:ext cx="42" cy="22"/>
            </a:xfrm>
            <a:custGeom>
              <a:avLst/>
              <a:gdLst>
                <a:gd name="T0" fmla="*/ 0 w 210"/>
                <a:gd name="T1" fmla="*/ 0 h 111"/>
                <a:gd name="T2" fmla="*/ 0 w 210"/>
                <a:gd name="T3" fmla="*/ 0 h 111"/>
                <a:gd name="T4" fmla="*/ 0 w 210"/>
                <a:gd name="T5" fmla="*/ 0 h 111"/>
                <a:gd name="T6" fmla="*/ 0 w 210"/>
                <a:gd name="T7" fmla="*/ 0 h 111"/>
                <a:gd name="T8" fmla="*/ 0 w 210"/>
                <a:gd name="T9" fmla="*/ 0 h 11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10" h="111">
                  <a:moveTo>
                    <a:pt x="53" y="0"/>
                  </a:moveTo>
                  <a:lnTo>
                    <a:pt x="0" y="60"/>
                  </a:lnTo>
                  <a:lnTo>
                    <a:pt x="187" y="111"/>
                  </a:lnTo>
                  <a:lnTo>
                    <a:pt x="210" y="71"/>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3" name="Freeform 136"/>
            <p:cNvSpPr>
              <a:spLocks/>
            </p:cNvSpPr>
            <p:nvPr/>
          </p:nvSpPr>
          <p:spPr bwMode="auto">
            <a:xfrm>
              <a:off x="497" y="2377"/>
              <a:ext cx="47" cy="13"/>
            </a:xfrm>
            <a:custGeom>
              <a:avLst/>
              <a:gdLst>
                <a:gd name="T0" fmla="*/ 0 w 237"/>
                <a:gd name="T1" fmla="*/ 0 h 66"/>
                <a:gd name="T2" fmla="*/ 0 w 237"/>
                <a:gd name="T3" fmla="*/ 0 h 66"/>
                <a:gd name="T4" fmla="*/ 0 w 237"/>
                <a:gd name="T5" fmla="*/ 0 h 66"/>
                <a:gd name="T6" fmla="*/ 0 w 237"/>
                <a:gd name="T7" fmla="*/ 0 h 66"/>
                <a:gd name="T8" fmla="*/ 0 w 237"/>
                <a:gd name="T9" fmla="*/ 0 h 66"/>
                <a:gd name="T10" fmla="*/ 0 w 237"/>
                <a:gd name="T11" fmla="*/ 0 h 66"/>
                <a:gd name="T12" fmla="*/ 0 w 237"/>
                <a:gd name="T13" fmla="*/ 0 h 6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7" h="66">
                  <a:moveTo>
                    <a:pt x="27" y="0"/>
                  </a:moveTo>
                  <a:lnTo>
                    <a:pt x="0" y="31"/>
                  </a:lnTo>
                  <a:lnTo>
                    <a:pt x="116" y="59"/>
                  </a:lnTo>
                  <a:lnTo>
                    <a:pt x="171" y="66"/>
                  </a:lnTo>
                  <a:lnTo>
                    <a:pt x="237" y="61"/>
                  </a:lnTo>
                  <a:lnTo>
                    <a:pt x="168" y="28"/>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4" name="Freeform 137"/>
            <p:cNvSpPr>
              <a:spLocks/>
            </p:cNvSpPr>
            <p:nvPr/>
          </p:nvSpPr>
          <p:spPr bwMode="auto">
            <a:xfrm>
              <a:off x="410" y="2361"/>
              <a:ext cx="135" cy="42"/>
            </a:xfrm>
            <a:custGeom>
              <a:avLst/>
              <a:gdLst>
                <a:gd name="T0" fmla="*/ 0 w 678"/>
                <a:gd name="T1" fmla="*/ 0 h 211"/>
                <a:gd name="T2" fmla="*/ 0 w 678"/>
                <a:gd name="T3" fmla="*/ 0 h 211"/>
                <a:gd name="T4" fmla="*/ 0 w 678"/>
                <a:gd name="T5" fmla="*/ 0 h 211"/>
                <a:gd name="T6" fmla="*/ 0 w 678"/>
                <a:gd name="T7" fmla="*/ 0 h 211"/>
                <a:gd name="T8" fmla="*/ 0 w 678"/>
                <a:gd name="T9" fmla="*/ 0 h 211"/>
                <a:gd name="T10" fmla="*/ 0 w 678"/>
                <a:gd name="T11" fmla="*/ 0 h 211"/>
                <a:gd name="T12" fmla="*/ 0 w 678"/>
                <a:gd name="T13" fmla="*/ 0 h 211"/>
                <a:gd name="T14" fmla="*/ 0 w 678"/>
                <a:gd name="T15" fmla="*/ 0 h 211"/>
                <a:gd name="T16" fmla="*/ 0 w 678"/>
                <a:gd name="T17" fmla="*/ 0 h 211"/>
                <a:gd name="T18" fmla="*/ 0 w 678"/>
                <a:gd name="T19" fmla="*/ 0 h 211"/>
                <a:gd name="T20" fmla="*/ 0 w 678"/>
                <a:gd name="T21" fmla="*/ 0 h 211"/>
                <a:gd name="T22" fmla="*/ 0 w 678"/>
                <a:gd name="T23" fmla="*/ 0 h 211"/>
                <a:gd name="T24" fmla="*/ 0 w 678"/>
                <a:gd name="T25" fmla="*/ 0 h 211"/>
                <a:gd name="T26" fmla="*/ 0 w 678"/>
                <a:gd name="T27" fmla="*/ 0 h 211"/>
                <a:gd name="T28" fmla="*/ 0 w 678"/>
                <a:gd name="T29" fmla="*/ 0 h 211"/>
                <a:gd name="T30" fmla="*/ 0 w 678"/>
                <a:gd name="T31" fmla="*/ 0 h 211"/>
                <a:gd name="T32" fmla="*/ 0 w 678"/>
                <a:gd name="T33" fmla="*/ 0 h 211"/>
                <a:gd name="T34" fmla="*/ 0 w 678"/>
                <a:gd name="T35" fmla="*/ 0 h 211"/>
                <a:gd name="T36" fmla="*/ 0 w 678"/>
                <a:gd name="T37" fmla="*/ 0 h 21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8" h="211">
                  <a:moveTo>
                    <a:pt x="678" y="178"/>
                  </a:moveTo>
                  <a:lnTo>
                    <a:pt x="678" y="147"/>
                  </a:lnTo>
                  <a:lnTo>
                    <a:pt x="590" y="156"/>
                  </a:lnTo>
                  <a:lnTo>
                    <a:pt x="446" y="136"/>
                  </a:lnTo>
                  <a:lnTo>
                    <a:pt x="365" y="117"/>
                  </a:lnTo>
                  <a:lnTo>
                    <a:pt x="209" y="66"/>
                  </a:lnTo>
                  <a:lnTo>
                    <a:pt x="140" y="60"/>
                  </a:lnTo>
                  <a:lnTo>
                    <a:pt x="74" y="35"/>
                  </a:lnTo>
                  <a:lnTo>
                    <a:pt x="39" y="0"/>
                  </a:lnTo>
                  <a:lnTo>
                    <a:pt x="0" y="44"/>
                  </a:lnTo>
                  <a:lnTo>
                    <a:pt x="0" y="133"/>
                  </a:lnTo>
                  <a:lnTo>
                    <a:pt x="50" y="147"/>
                  </a:lnTo>
                  <a:lnTo>
                    <a:pt x="171" y="162"/>
                  </a:lnTo>
                  <a:lnTo>
                    <a:pt x="220" y="170"/>
                  </a:lnTo>
                  <a:lnTo>
                    <a:pt x="300" y="197"/>
                  </a:lnTo>
                  <a:lnTo>
                    <a:pt x="392" y="211"/>
                  </a:lnTo>
                  <a:lnTo>
                    <a:pt x="458" y="211"/>
                  </a:lnTo>
                  <a:lnTo>
                    <a:pt x="560" y="211"/>
                  </a:lnTo>
                  <a:lnTo>
                    <a:pt x="678"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5" name="Freeform 138"/>
            <p:cNvSpPr>
              <a:spLocks/>
            </p:cNvSpPr>
            <p:nvPr/>
          </p:nvSpPr>
          <p:spPr bwMode="auto">
            <a:xfrm>
              <a:off x="419" y="2337"/>
              <a:ext cx="45" cy="34"/>
            </a:xfrm>
            <a:custGeom>
              <a:avLst/>
              <a:gdLst>
                <a:gd name="T0" fmla="*/ 0 w 224"/>
                <a:gd name="T1" fmla="*/ 0 h 170"/>
                <a:gd name="T2" fmla="*/ 0 w 224"/>
                <a:gd name="T3" fmla="*/ 0 h 170"/>
                <a:gd name="T4" fmla="*/ 0 w 224"/>
                <a:gd name="T5" fmla="*/ 0 h 170"/>
                <a:gd name="T6" fmla="*/ 0 w 224"/>
                <a:gd name="T7" fmla="*/ 0 h 170"/>
                <a:gd name="T8" fmla="*/ 0 w 224"/>
                <a:gd name="T9" fmla="*/ 0 h 170"/>
                <a:gd name="T10" fmla="*/ 0 w 224"/>
                <a:gd name="T11" fmla="*/ 0 h 170"/>
                <a:gd name="T12" fmla="*/ 0 w 224"/>
                <a:gd name="T13" fmla="*/ 0 h 170"/>
                <a:gd name="T14" fmla="*/ 0 w 224"/>
                <a:gd name="T15" fmla="*/ 0 h 170"/>
                <a:gd name="T16" fmla="*/ 0 w 224"/>
                <a:gd name="T17" fmla="*/ 0 h 170"/>
                <a:gd name="T18" fmla="*/ 0 w 224"/>
                <a:gd name="T19" fmla="*/ 0 h 17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24" h="170">
                  <a:moveTo>
                    <a:pt x="216" y="12"/>
                  </a:moveTo>
                  <a:lnTo>
                    <a:pt x="210" y="95"/>
                  </a:lnTo>
                  <a:lnTo>
                    <a:pt x="224" y="114"/>
                  </a:lnTo>
                  <a:lnTo>
                    <a:pt x="173" y="170"/>
                  </a:lnTo>
                  <a:lnTo>
                    <a:pt x="105" y="170"/>
                  </a:lnTo>
                  <a:lnTo>
                    <a:pt x="28" y="145"/>
                  </a:lnTo>
                  <a:lnTo>
                    <a:pt x="0" y="112"/>
                  </a:lnTo>
                  <a:lnTo>
                    <a:pt x="16" y="89"/>
                  </a:lnTo>
                  <a:lnTo>
                    <a:pt x="20" y="0"/>
                  </a:lnTo>
                  <a:lnTo>
                    <a:pt x="216" y="12"/>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46" name="Oval 139"/>
          <p:cNvSpPr>
            <a:spLocks noChangeArrowheads="1"/>
          </p:cNvSpPr>
          <p:nvPr/>
        </p:nvSpPr>
        <p:spPr bwMode="auto">
          <a:xfrm>
            <a:off x="1851777" y="3682923"/>
            <a:ext cx="168107" cy="60398"/>
          </a:xfrm>
          <a:prstGeom prst="ellipse">
            <a:avLst/>
          </a:prstGeom>
          <a:solidFill>
            <a:srgbClr val="606060"/>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47" name="Rectangle 140"/>
          <p:cNvSpPr>
            <a:spLocks noChangeArrowheads="1"/>
          </p:cNvSpPr>
          <p:nvPr/>
        </p:nvSpPr>
        <p:spPr bwMode="auto">
          <a:xfrm>
            <a:off x="1913181" y="3563058"/>
            <a:ext cx="44292" cy="137520"/>
          </a:xfrm>
          <a:prstGeom prst="rect">
            <a:avLst/>
          </a:prstGeom>
          <a:solidFill>
            <a:srgbClr val="606060"/>
          </a:solidFill>
          <a:ln w="3175">
            <a:solidFill>
              <a:srgbClr val="000000"/>
            </a:solidFill>
            <a:miter lim="800000"/>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48" name="Group 141"/>
          <p:cNvGrpSpPr>
            <a:grpSpLocks/>
          </p:cNvGrpSpPr>
          <p:nvPr/>
        </p:nvGrpSpPr>
        <p:grpSpPr bwMode="auto">
          <a:xfrm>
            <a:off x="1835671" y="3511024"/>
            <a:ext cx="222464" cy="71547"/>
            <a:chOff x="182" y="2151"/>
            <a:chExt cx="221" cy="77"/>
          </a:xfrm>
        </p:grpSpPr>
        <p:sp>
          <p:nvSpPr>
            <p:cNvPr id="149" name="Freeform 142"/>
            <p:cNvSpPr>
              <a:spLocks/>
            </p:cNvSpPr>
            <p:nvPr/>
          </p:nvSpPr>
          <p:spPr bwMode="auto">
            <a:xfrm>
              <a:off x="182" y="2151"/>
              <a:ext cx="221" cy="77"/>
            </a:xfrm>
            <a:custGeom>
              <a:avLst/>
              <a:gdLst>
                <a:gd name="T0" fmla="*/ 0 w 1106"/>
                <a:gd name="T1" fmla="*/ 0 h 386"/>
                <a:gd name="T2" fmla="*/ 0 w 1106"/>
                <a:gd name="T3" fmla="*/ 0 h 386"/>
                <a:gd name="T4" fmla="*/ 0 w 1106"/>
                <a:gd name="T5" fmla="*/ 0 h 386"/>
                <a:gd name="T6" fmla="*/ 0 w 1106"/>
                <a:gd name="T7" fmla="*/ 0 h 386"/>
                <a:gd name="T8" fmla="*/ 0 w 1106"/>
                <a:gd name="T9" fmla="*/ 0 h 386"/>
                <a:gd name="T10" fmla="*/ 0 w 1106"/>
                <a:gd name="T11" fmla="*/ 0 h 386"/>
                <a:gd name="T12" fmla="*/ 0 w 1106"/>
                <a:gd name="T13" fmla="*/ 0 h 386"/>
                <a:gd name="T14" fmla="*/ 0 w 1106"/>
                <a:gd name="T15" fmla="*/ 0 h 38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106" h="386">
                  <a:moveTo>
                    <a:pt x="1106" y="202"/>
                  </a:moveTo>
                  <a:lnTo>
                    <a:pt x="1099" y="321"/>
                  </a:lnTo>
                  <a:lnTo>
                    <a:pt x="735" y="386"/>
                  </a:lnTo>
                  <a:lnTo>
                    <a:pt x="334" y="386"/>
                  </a:lnTo>
                  <a:lnTo>
                    <a:pt x="19" y="288"/>
                  </a:lnTo>
                  <a:lnTo>
                    <a:pt x="0" y="10"/>
                  </a:lnTo>
                  <a:lnTo>
                    <a:pt x="625" y="0"/>
                  </a:lnTo>
                  <a:lnTo>
                    <a:pt x="1106" y="202"/>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0" name="Freeform 143"/>
            <p:cNvSpPr>
              <a:spLocks/>
            </p:cNvSpPr>
            <p:nvPr/>
          </p:nvSpPr>
          <p:spPr bwMode="auto">
            <a:xfrm>
              <a:off x="187" y="2180"/>
              <a:ext cx="211" cy="45"/>
            </a:xfrm>
            <a:custGeom>
              <a:avLst/>
              <a:gdLst>
                <a:gd name="T0" fmla="*/ 0 w 1055"/>
                <a:gd name="T1" fmla="*/ 0 h 221"/>
                <a:gd name="T2" fmla="*/ 0 w 1055"/>
                <a:gd name="T3" fmla="*/ 0 h 221"/>
                <a:gd name="T4" fmla="*/ 0 w 1055"/>
                <a:gd name="T5" fmla="*/ 0 h 221"/>
                <a:gd name="T6" fmla="*/ 0 w 1055"/>
                <a:gd name="T7" fmla="*/ 0 h 221"/>
                <a:gd name="T8" fmla="*/ 0 w 1055"/>
                <a:gd name="T9" fmla="*/ 0 h 221"/>
                <a:gd name="T10" fmla="*/ 0 w 1055"/>
                <a:gd name="T11" fmla="*/ 0 h 221"/>
                <a:gd name="T12" fmla="*/ 0 w 1055"/>
                <a:gd name="T13" fmla="*/ 0 h 221"/>
                <a:gd name="T14" fmla="*/ 0 w 1055"/>
                <a:gd name="T15" fmla="*/ 0 h 221"/>
                <a:gd name="T16" fmla="*/ 0 w 1055"/>
                <a:gd name="T17" fmla="*/ 0 h 22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 h="221">
                  <a:moveTo>
                    <a:pt x="1055" y="75"/>
                  </a:moveTo>
                  <a:lnTo>
                    <a:pt x="1049" y="162"/>
                  </a:lnTo>
                  <a:lnTo>
                    <a:pt x="721" y="221"/>
                  </a:lnTo>
                  <a:lnTo>
                    <a:pt x="296" y="221"/>
                  </a:lnTo>
                  <a:lnTo>
                    <a:pt x="0" y="119"/>
                  </a:lnTo>
                  <a:lnTo>
                    <a:pt x="0" y="0"/>
                  </a:lnTo>
                  <a:lnTo>
                    <a:pt x="283" y="119"/>
                  </a:lnTo>
                  <a:lnTo>
                    <a:pt x="716" y="124"/>
                  </a:lnTo>
                  <a:lnTo>
                    <a:pt x="1055" y="7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51" name="Freeform 144"/>
          <p:cNvSpPr>
            <a:spLocks/>
          </p:cNvSpPr>
          <p:nvPr/>
        </p:nvSpPr>
        <p:spPr bwMode="auto">
          <a:xfrm>
            <a:off x="1828626" y="3435758"/>
            <a:ext cx="304000" cy="260174"/>
          </a:xfrm>
          <a:custGeom>
            <a:avLst/>
            <a:gdLst>
              <a:gd name="T0" fmla="*/ 2147483646 w 1507"/>
              <a:gd name="T1" fmla="*/ 2147483646 h 1401"/>
              <a:gd name="T2" fmla="*/ 2147483646 w 1507"/>
              <a:gd name="T3" fmla="*/ 2147483646 h 1401"/>
              <a:gd name="T4" fmla="*/ 2147483646 w 1507"/>
              <a:gd name="T5" fmla="*/ 2147483646 h 1401"/>
              <a:gd name="T6" fmla="*/ 2147483646 w 1507"/>
              <a:gd name="T7" fmla="*/ 2147483646 h 1401"/>
              <a:gd name="T8" fmla="*/ 2147483646 w 1507"/>
              <a:gd name="T9" fmla="*/ 2147483646 h 1401"/>
              <a:gd name="T10" fmla="*/ 2147483646 w 1507"/>
              <a:gd name="T11" fmla="*/ 2147483646 h 1401"/>
              <a:gd name="T12" fmla="*/ 2147483646 w 1507"/>
              <a:gd name="T13" fmla="*/ 2147483646 h 1401"/>
              <a:gd name="T14" fmla="*/ 2147483646 w 1507"/>
              <a:gd name="T15" fmla="*/ 2147483646 h 1401"/>
              <a:gd name="T16" fmla="*/ 2147483646 w 1507"/>
              <a:gd name="T17" fmla="*/ 2147483646 h 1401"/>
              <a:gd name="T18" fmla="*/ 2147483646 w 1507"/>
              <a:gd name="T19" fmla="*/ 2147483646 h 1401"/>
              <a:gd name="T20" fmla="*/ 2147483646 w 1507"/>
              <a:gd name="T21" fmla="*/ 2147483646 h 1401"/>
              <a:gd name="T22" fmla="*/ 2147483646 w 1507"/>
              <a:gd name="T23" fmla="*/ 2147483646 h 1401"/>
              <a:gd name="T24" fmla="*/ 2147483646 w 1507"/>
              <a:gd name="T25" fmla="*/ 2147483646 h 1401"/>
              <a:gd name="T26" fmla="*/ 2147483646 w 1507"/>
              <a:gd name="T27" fmla="*/ 2147483646 h 1401"/>
              <a:gd name="T28" fmla="*/ 2147483646 w 1507"/>
              <a:gd name="T29" fmla="*/ 2147483646 h 1401"/>
              <a:gd name="T30" fmla="*/ 2147483646 w 1507"/>
              <a:gd name="T31" fmla="*/ 2147483646 h 1401"/>
              <a:gd name="T32" fmla="*/ 2147483646 w 1507"/>
              <a:gd name="T33" fmla="*/ 2147483646 h 1401"/>
              <a:gd name="T34" fmla="*/ 2147483646 w 1507"/>
              <a:gd name="T35" fmla="*/ 2147483646 h 1401"/>
              <a:gd name="T36" fmla="*/ 2147483646 w 1507"/>
              <a:gd name="T37" fmla="*/ 2147483646 h 1401"/>
              <a:gd name="T38" fmla="*/ 2147483646 w 1507"/>
              <a:gd name="T39" fmla="*/ 0 h 1401"/>
              <a:gd name="T40" fmla="*/ 2147483646 w 1507"/>
              <a:gd name="T41" fmla="*/ 2147483646 h 1401"/>
              <a:gd name="T42" fmla="*/ 2147483646 w 1507"/>
              <a:gd name="T43" fmla="*/ 2147483646 h 1401"/>
              <a:gd name="T44" fmla="*/ 2147483646 w 1507"/>
              <a:gd name="T45" fmla="*/ 2147483646 h 1401"/>
              <a:gd name="T46" fmla="*/ 2147483646 w 1507"/>
              <a:gd name="T47" fmla="*/ 2147483646 h 1401"/>
              <a:gd name="T48" fmla="*/ 2147483646 w 1507"/>
              <a:gd name="T49" fmla="*/ 2147483646 h 1401"/>
              <a:gd name="T50" fmla="*/ 0 w 1507"/>
              <a:gd name="T51" fmla="*/ 2147483646 h 1401"/>
              <a:gd name="T52" fmla="*/ 2147483646 w 1507"/>
              <a:gd name="T53" fmla="*/ 2147483646 h 1401"/>
              <a:gd name="T54" fmla="*/ 2147483646 w 1507"/>
              <a:gd name="T55" fmla="*/ 2147483646 h 1401"/>
              <a:gd name="T56" fmla="*/ 2147483646 w 1507"/>
              <a:gd name="T57" fmla="*/ 2147483646 h 1401"/>
              <a:gd name="T58" fmla="*/ 2147483646 w 1507"/>
              <a:gd name="T59" fmla="*/ 2147483646 h 1401"/>
              <a:gd name="T60" fmla="*/ 2147483646 w 1507"/>
              <a:gd name="T61" fmla="*/ 2147483646 h 1401"/>
              <a:gd name="T62" fmla="*/ 2147483646 w 1507"/>
              <a:gd name="T63" fmla="*/ 2147483646 h 1401"/>
              <a:gd name="T64" fmla="*/ 2147483646 w 1507"/>
              <a:gd name="T65" fmla="*/ 2147483646 h 1401"/>
              <a:gd name="T66" fmla="*/ 2147483646 w 1507"/>
              <a:gd name="T67" fmla="*/ 2147483646 h 1401"/>
              <a:gd name="T68" fmla="*/ 2147483646 w 1507"/>
              <a:gd name="T69" fmla="*/ 2147483646 h 1401"/>
              <a:gd name="T70" fmla="*/ 2147483646 w 1507"/>
              <a:gd name="T71" fmla="*/ 2147483646 h 1401"/>
              <a:gd name="T72" fmla="*/ 2147483646 w 1507"/>
              <a:gd name="T73" fmla="*/ 2147483646 h 1401"/>
              <a:gd name="T74" fmla="*/ 2147483646 w 1507"/>
              <a:gd name="T75" fmla="*/ 2147483646 h 1401"/>
              <a:gd name="T76" fmla="*/ 2147483646 w 1507"/>
              <a:gd name="T77" fmla="*/ 2147483646 h 1401"/>
              <a:gd name="T78" fmla="*/ 2147483646 w 1507"/>
              <a:gd name="T79" fmla="*/ 2147483646 h 1401"/>
              <a:gd name="T80" fmla="*/ 2147483646 w 1507"/>
              <a:gd name="T81" fmla="*/ 2147483646 h 1401"/>
              <a:gd name="T82" fmla="*/ 2147483646 w 1507"/>
              <a:gd name="T83" fmla="*/ 2147483646 h 1401"/>
              <a:gd name="T84" fmla="*/ 2147483646 w 1507"/>
              <a:gd name="T85" fmla="*/ 2147483646 h 1401"/>
              <a:gd name="T86" fmla="*/ 2147483646 w 1507"/>
              <a:gd name="T87" fmla="*/ 2147483646 h 1401"/>
              <a:gd name="T88" fmla="*/ 2147483646 w 1507"/>
              <a:gd name="T89" fmla="*/ 2147483646 h 1401"/>
              <a:gd name="T90" fmla="*/ 2147483646 w 1507"/>
              <a:gd name="T91" fmla="*/ 2147483646 h 1401"/>
              <a:gd name="T92" fmla="*/ 2147483646 w 1507"/>
              <a:gd name="T93" fmla="*/ 2147483646 h 1401"/>
              <a:gd name="T94" fmla="*/ 2147483646 w 1507"/>
              <a:gd name="T95" fmla="*/ 2147483646 h 1401"/>
              <a:gd name="T96" fmla="*/ 2147483646 w 1507"/>
              <a:gd name="T97" fmla="*/ 2147483646 h 1401"/>
              <a:gd name="T98" fmla="*/ 2147483646 w 1507"/>
              <a:gd name="T99" fmla="*/ 2147483646 h 1401"/>
              <a:gd name="T100" fmla="*/ 2147483646 w 1507"/>
              <a:gd name="T101" fmla="*/ 2147483646 h 1401"/>
              <a:gd name="T102" fmla="*/ 2147483646 w 1507"/>
              <a:gd name="T103" fmla="*/ 2147483646 h 1401"/>
              <a:gd name="T104" fmla="*/ 2147483646 w 1507"/>
              <a:gd name="T105" fmla="*/ 2147483646 h 1401"/>
              <a:gd name="T106" fmla="*/ 2147483646 w 1507"/>
              <a:gd name="T107" fmla="*/ 2147483646 h 1401"/>
              <a:gd name="T108" fmla="*/ 2147483646 w 1507"/>
              <a:gd name="T109" fmla="*/ 2147483646 h 1401"/>
              <a:gd name="T110" fmla="*/ 2147483646 w 1507"/>
              <a:gd name="T111" fmla="*/ 2147483646 h 1401"/>
              <a:gd name="T112" fmla="*/ 2147483646 w 1507"/>
              <a:gd name="T113" fmla="*/ 2147483646 h 1401"/>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1507" h="1401">
                <a:moveTo>
                  <a:pt x="1501" y="789"/>
                </a:moveTo>
                <a:lnTo>
                  <a:pt x="1493" y="649"/>
                </a:lnTo>
                <a:lnTo>
                  <a:pt x="1495" y="499"/>
                </a:lnTo>
                <a:lnTo>
                  <a:pt x="1489" y="385"/>
                </a:lnTo>
                <a:lnTo>
                  <a:pt x="1424" y="317"/>
                </a:lnTo>
                <a:lnTo>
                  <a:pt x="1345" y="278"/>
                </a:lnTo>
                <a:lnTo>
                  <a:pt x="1166" y="213"/>
                </a:lnTo>
                <a:lnTo>
                  <a:pt x="903" y="149"/>
                </a:lnTo>
                <a:lnTo>
                  <a:pt x="852" y="144"/>
                </a:lnTo>
                <a:lnTo>
                  <a:pt x="817" y="149"/>
                </a:lnTo>
                <a:lnTo>
                  <a:pt x="809" y="135"/>
                </a:lnTo>
                <a:lnTo>
                  <a:pt x="794" y="122"/>
                </a:lnTo>
                <a:lnTo>
                  <a:pt x="777" y="125"/>
                </a:lnTo>
                <a:lnTo>
                  <a:pt x="754" y="126"/>
                </a:lnTo>
                <a:lnTo>
                  <a:pt x="745" y="100"/>
                </a:lnTo>
                <a:lnTo>
                  <a:pt x="726" y="85"/>
                </a:lnTo>
                <a:lnTo>
                  <a:pt x="704" y="82"/>
                </a:lnTo>
                <a:lnTo>
                  <a:pt x="678" y="82"/>
                </a:lnTo>
                <a:lnTo>
                  <a:pt x="681" y="59"/>
                </a:lnTo>
                <a:lnTo>
                  <a:pt x="651" y="0"/>
                </a:lnTo>
                <a:lnTo>
                  <a:pt x="37" y="16"/>
                </a:lnTo>
                <a:lnTo>
                  <a:pt x="39" y="79"/>
                </a:lnTo>
                <a:lnTo>
                  <a:pt x="28" y="135"/>
                </a:lnTo>
                <a:lnTo>
                  <a:pt x="18" y="175"/>
                </a:lnTo>
                <a:lnTo>
                  <a:pt x="8" y="225"/>
                </a:lnTo>
                <a:lnTo>
                  <a:pt x="0" y="306"/>
                </a:lnTo>
                <a:lnTo>
                  <a:pt x="9" y="354"/>
                </a:lnTo>
                <a:lnTo>
                  <a:pt x="28" y="399"/>
                </a:lnTo>
                <a:lnTo>
                  <a:pt x="49" y="438"/>
                </a:lnTo>
                <a:lnTo>
                  <a:pt x="78" y="451"/>
                </a:lnTo>
                <a:lnTo>
                  <a:pt x="122" y="464"/>
                </a:lnTo>
                <a:lnTo>
                  <a:pt x="180" y="483"/>
                </a:lnTo>
                <a:lnTo>
                  <a:pt x="208" y="514"/>
                </a:lnTo>
                <a:lnTo>
                  <a:pt x="240" y="541"/>
                </a:lnTo>
                <a:lnTo>
                  <a:pt x="289" y="564"/>
                </a:lnTo>
                <a:lnTo>
                  <a:pt x="348" y="582"/>
                </a:lnTo>
                <a:lnTo>
                  <a:pt x="441" y="594"/>
                </a:lnTo>
                <a:lnTo>
                  <a:pt x="520" y="594"/>
                </a:lnTo>
                <a:lnTo>
                  <a:pt x="581" y="587"/>
                </a:lnTo>
                <a:lnTo>
                  <a:pt x="637" y="582"/>
                </a:lnTo>
                <a:lnTo>
                  <a:pt x="678" y="604"/>
                </a:lnTo>
                <a:lnTo>
                  <a:pt x="758" y="600"/>
                </a:lnTo>
                <a:lnTo>
                  <a:pt x="1078" y="645"/>
                </a:lnTo>
                <a:lnTo>
                  <a:pt x="1165" y="655"/>
                </a:lnTo>
                <a:lnTo>
                  <a:pt x="1133" y="845"/>
                </a:lnTo>
                <a:lnTo>
                  <a:pt x="1130" y="942"/>
                </a:lnTo>
                <a:lnTo>
                  <a:pt x="1149" y="1066"/>
                </a:lnTo>
                <a:lnTo>
                  <a:pt x="1169" y="1212"/>
                </a:lnTo>
                <a:lnTo>
                  <a:pt x="1169" y="1363"/>
                </a:lnTo>
                <a:lnTo>
                  <a:pt x="1244" y="1385"/>
                </a:lnTo>
                <a:lnTo>
                  <a:pt x="1339" y="1395"/>
                </a:lnTo>
                <a:lnTo>
                  <a:pt x="1420" y="1401"/>
                </a:lnTo>
                <a:lnTo>
                  <a:pt x="1507" y="1391"/>
                </a:lnTo>
                <a:lnTo>
                  <a:pt x="1501" y="1252"/>
                </a:lnTo>
                <a:lnTo>
                  <a:pt x="1501" y="1024"/>
                </a:lnTo>
                <a:lnTo>
                  <a:pt x="1501" y="824"/>
                </a:lnTo>
                <a:lnTo>
                  <a:pt x="1501" y="789"/>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2" name="Freeform 145"/>
          <p:cNvSpPr>
            <a:spLocks/>
          </p:cNvSpPr>
          <p:nvPr/>
        </p:nvSpPr>
        <p:spPr bwMode="auto">
          <a:xfrm>
            <a:off x="1832652" y="3445980"/>
            <a:ext cx="296954" cy="246235"/>
          </a:xfrm>
          <a:custGeom>
            <a:avLst/>
            <a:gdLst>
              <a:gd name="T0" fmla="*/ 2147483646 w 1473"/>
              <a:gd name="T1" fmla="*/ 2147483646 h 1324"/>
              <a:gd name="T2" fmla="*/ 2147483646 w 1473"/>
              <a:gd name="T3" fmla="*/ 2147483646 h 1324"/>
              <a:gd name="T4" fmla="*/ 2147483646 w 1473"/>
              <a:gd name="T5" fmla="*/ 2147483646 h 1324"/>
              <a:gd name="T6" fmla="*/ 2147483646 w 1473"/>
              <a:gd name="T7" fmla="*/ 2147483646 h 1324"/>
              <a:gd name="T8" fmla="*/ 2147483646 w 1473"/>
              <a:gd name="T9" fmla="*/ 2147483646 h 1324"/>
              <a:gd name="T10" fmla="*/ 2147483646 w 1473"/>
              <a:gd name="T11" fmla="*/ 2147483646 h 1324"/>
              <a:gd name="T12" fmla="*/ 2147483646 w 1473"/>
              <a:gd name="T13" fmla="*/ 2147483646 h 1324"/>
              <a:gd name="T14" fmla="*/ 2147483646 w 1473"/>
              <a:gd name="T15" fmla="*/ 2147483646 h 1324"/>
              <a:gd name="T16" fmla="*/ 2147483646 w 1473"/>
              <a:gd name="T17" fmla="*/ 2147483646 h 1324"/>
              <a:gd name="T18" fmla="*/ 2147483646 w 1473"/>
              <a:gd name="T19" fmla="*/ 2147483646 h 1324"/>
              <a:gd name="T20" fmla="*/ 2147483646 w 1473"/>
              <a:gd name="T21" fmla="*/ 2147483646 h 1324"/>
              <a:gd name="T22" fmla="*/ 2147483646 w 1473"/>
              <a:gd name="T23" fmla="*/ 2147483646 h 1324"/>
              <a:gd name="T24" fmla="*/ 2147483646 w 1473"/>
              <a:gd name="T25" fmla="*/ 2147483646 h 1324"/>
              <a:gd name="T26" fmla="*/ 2147483646 w 1473"/>
              <a:gd name="T27" fmla="*/ 2147483646 h 1324"/>
              <a:gd name="T28" fmla="*/ 2147483646 w 1473"/>
              <a:gd name="T29" fmla="*/ 2147483646 h 1324"/>
              <a:gd name="T30" fmla="*/ 2147483646 w 1473"/>
              <a:gd name="T31" fmla="*/ 2147483646 h 1324"/>
              <a:gd name="T32" fmla="*/ 2147483646 w 1473"/>
              <a:gd name="T33" fmla="*/ 2147483646 h 1324"/>
              <a:gd name="T34" fmla="*/ 2147483646 w 1473"/>
              <a:gd name="T35" fmla="*/ 2147483646 h 1324"/>
              <a:gd name="T36" fmla="*/ 2147483646 w 1473"/>
              <a:gd name="T37" fmla="*/ 2147483646 h 1324"/>
              <a:gd name="T38" fmla="*/ 2147483646 w 1473"/>
              <a:gd name="T39" fmla="*/ 2147483646 h 1324"/>
              <a:gd name="T40" fmla="*/ 2147483646 w 1473"/>
              <a:gd name="T41" fmla="*/ 2147483646 h 1324"/>
              <a:gd name="T42" fmla="*/ 2147483646 w 1473"/>
              <a:gd name="T43" fmla="*/ 2147483646 h 1324"/>
              <a:gd name="T44" fmla="*/ 2147483646 w 1473"/>
              <a:gd name="T45" fmla="*/ 2147483646 h 1324"/>
              <a:gd name="T46" fmla="*/ 2147483646 w 1473"/>
              <a:gd name="T47" fmla="*/ 2147483646 h 1324"/>
              <a:gd name="T48" fmla="*/ 2147483646 w 1473"/>
              <a:gd name="T49" fmla="*/ 2147483646 h 1324"/>
              <a:gd name="T50" fmla="*/ 2147483646 w 1473"/>
              <a:gd name="T51" fmla="*/ 2147483646 h 1324"/>
              <a:gd name="T52" fmla="*/ 2147483646 w 1473"/>
              <a:gd name="T53" fmla="*/ 2147483646 h 1324"/>
              <a:gd name="T54" fmla="*/ 2147483646 w 1473"/>
              <a:gd name="T55" fmla="*/ 2147483646 h 1324"/>
              <a:gd name="T56" fmla="*/ 2147483646 w 1473"/>
              <a:gd name="T57" fmla="*/ 2147483646 h 1324"/>
              <a:gd name="T58" fmla="*/ 2147483646 w 1473"/>
              <a:gd name="T59" fmla="*/ 2147483646 h 1324"/>
              <a:gd name="T60" fmla="*/ 2147483646 w 1473"/>
              <a:gd name="T61" fmla="*/ 2147483646 h 1324"/>
              <a:gd name="T62" fmla="*/ 2147483646 w 1473"/>
              <a:gd name="T63" fmla="*/ 2147483646 h 1324"/>
              <a:gd name="T64" fmla="*/ 2147483646 w 1473"/>
              <a:gd name="T65" fmla="*/ 2147483646 h 1324"/>
              <a:gd name="T66" fmla="*/ 2147483646 w 1473"/>
              <a:gd name="T67" fmla="*/ 2147483646 h 1324"/>
              <a:gd name="T68" fmla="*/ 2147483646 w 1473"/>
              <a:gd name="T69" fmla="*/ 2147483646 h 1324"/>
              <a:gd name="T70" fmla="*/ 2147483646 w 1473"/>
              <a:gd name="T71" fmla="*/ 2147483646 h 1324"/>
              <a:gd name="T72" fmla="*/ 2147483646 w 1473"/>
              <a:gd name="T73" fmla="*/ 2147483646 h 1324"/>
              <a:gd name="T74" fmla="*/ 2147483646 w 1473"/>
              <a:gd name="T75" fmla="*/ 2147483646 h 1324"/>
              <a:gd name="T76" fmla="*/ 2147483646 w 1473"/>
              <a:gd name="T77" fmla="*/ 2147483646 h 1324"/>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473" h="1324">
                <a:moveTo>
                  <a:pt x="49" y="23"/>
                </a:moveTo>
                <a:lnTo>
                  <a:pt x="46" y="66"/>
                </a:lnTo>
                <a:lnTo>
                  <a:pt x="29" y="49"/>
                </a:lnTo>
                <a:lnTo>
                  <a:pt x="10" y="144"/>
                </a:lnTo>
                <a:lnTo>
                  <a:pt x="0" y="254"/>
                </a:lnTo>
                <a:lnTo>
                  <a:pt x="39" y="367"/>
                </a:lnTo>
                <a:lnTo>
                  <a:pt x="130" y="393"/>
                </a:lnTo>
                <a:lnTo>
                  <a:pt x="120" y="367"/>
                </a:lnTo>
                <a:lnTo>
                  <a:pt x="169" y="406"/>
                </a:lnTo>
                <a:lnTo>
                  <a:pt x="211" y="449"/>
                </a:lnTo>
                <a:lnTo>
                  <a:pt x="306" y="494"/>
                </a:lnTo>
                <a:lnTo>
                  <a:pt x="421" y="504"/>
                </a:lnTo>
                <a:lnTo>
                  <a:pt x="562" y="511"/>
                </a:lnTo>
                <a:lnTo>
                  <a:pt x="620" y="504"/>
                </a:lnTo>
                <a:lnTo>
                  <a:pt x="569" y="481"/>
                </a:lnTo>
                <a:lnTo>
                  <a:pt x="546" y="423"/>
                </a:lnTo>
                <a:lnTo>
                  <a:pt x="588" y="471"/>
                </a:lnTo>
                <a:lnTo>
                  <a:pt x="641" y="501"/>
                </a:lnTo>
                <a:lnTo>
                  <a:pt x="688" y="527"/>
                </a:lnTo>
                <a:lnTo>
                  <a:pt x="737" y="520"/>
                </a:lnTo>
                <a:lnTo>
                  <a:pt x="706" y="497"/>
                </a:lnTo>
                <a:lnTo>
                  <a:pt x="672" y="469"/>
                </a:lnTo>
                <a:lnTo>
                  <a:pt x="725" y="488"/>
                </a:lnTo>
                <a:lnTo>
                  <a:pt x="776" y="527"/>
                </a:lnTo>
                <a:lnTo>
                  <a:pt x="946" y="546"/>
                </a:lnTo>
                <a:lnTo>
                  <a:pt x="1114" y="572"/>
                </a:lnTo>
                <a:lnTo>
                  <a:pt x="1165" y="585"/>
                </a:lnTo>
                <a:lnTo>
                  <a:pt x="1122" y="833"/>
                </a:lnTo>
                <a:lnTo>
                  <a:pt x="1155" y="1063"/>
                </a:lnTo>
                <a:lnTo>
                  <a:pt x="1159" y="1288"/>
                </a:lnTo>
                <a:lnTo>
                  <a:pt x="1266" y="1310"/>
                </a:lnTo>
                <a:lnTo>
                  <a:pt x="1360" y="1324"/>
                </a:lnTo>
                <a:lnTo>
                  <a:pt x="1473" y="1321"/>
                </a:lnTo>
                <a:lnTo>
                  <a:pt x="1468" y="998"/>
                </a:lnTo>
                <a:lnTo>
                  <a:pt x="1468" y="729"/>
                </a:lnTo>
                <a:lnTo>
                  <a:pt x="1451" y="579"/>
                </a:lnTo>
                <a:lnTo>
                  <a:pt x="1465" y="485"/>
                </a:lnTo>
                <a:lnTo>
                  <a:pt x="1455" y="381"/>
                </a:lnTo>
                <a:lnTo>
                  <a:pt x="1436" y="314"/>
                </a:lnTo>
                <a:lnTo>
                  <a:pt x="1355" y="261"/>
                </a:lnTo>
                <a:lnTo>
                  <a:pt x="1253" y="215"/>
                </a:lnTo>
                <a:lnTo>
                  <a:pt x="1057" y="150"/>
                </a:lnTo>
                <a:lnTo>
                  <a:pt x="897" y="105"/>
                </a:lnTo>
                <a:lnTo>
                  <a:pt x="809" y="98"/>
                </a:lnTo>
                <a:lnTo>
                  <a:pt x="773" y="150"/>
                </a:lnTo>
                <a:lnTo>
                  <a:pt x="662" y="205"/>
                </a:lnTo>
                <a:lnTo>
                  <a:pt x="722" y="157"/>
                </a:lnTo>
                <a:lnTo>
                  <a:pt x="767" y="131"/>
                </a:lnTo>
                <a:lnTo>
                  <a:pt x="783" y="95"/>
                </a:lnTo>
                <a:lnTo>
                  <a:pt x="776" y="79"/>
                </a:lnTo>
                <a:lnTo>
                  <a:pt x="744" y="79"/>
                </a:lnTo>
                <a:lnTo>
                  <a:pt x="725" y="98"/>
                </a:lnTo>
                <a:lnTo>
                  <a:pt x="706" y="117"/>
                </a:lnTo>
                <a:lnTo>
                  <a:pt x="656" y="137"/>
                </a:lnTo>
                <a:lnTo>
                  <a:pt x="702" y="98"/>
                </a:lnTo>
                <a:lnTo>
                  <a:pt x="722" y="68"/>
                </a:lnTo>
                <a:lnTo>
                  <a:pt x="708" y="49"/>
                </a:lnTo>
                <a:lnTo>
                  <a:pt x="669" y="36"/>
                </a:lnTo>
                <a:lnTo>
                  <a:pt x="618" y="82"/>
                </a:lnTo>
                <a:lnTo>
                  <a:pt x="569" y="112"/>
                </a:lnTo>
                <a:lnTo>
                  <a:pt x="627" y="45"/>
                </a:lnTo>
                <a:lnTo>
                  <a:pt x="646" y="20"/>
                </a:lnTo>
                <a:lnTo>
                  <a:pt x="646" y="0"/>
                </a:lnTo>
                <a:lnTo>
                  <a:pt x="597" y="7"/>
                </a:lnTo>
                <a:lnTo>
                  <a:pt x="553" y="40"/>
                </a:lnTo>
                <a:lnTo>
                  <a:pt x="523" y="63"/>
                </a:lnTo>
                <a:lnTo>
                  <a:pt x="383" y="75"/>
                </a:lnTo>
                <a:lnTo>
                  <a:pt x="386" y="40"/>
                </a:lnTo>
                <a:lnTo>
                  <a:pt x="345" y="26"/>
                </a:lnTo>
                <a:lnTo>
                  <a:pt x="345" y="72"/>
                </a:lnTo>
                <a:lnTo>
                  <a:pt x="303" y="82"/>
                </a:lnTo>
                <a:lnTo>
                  <a:pt x="211" y="95"/>
                </a:lnTo>
                <a:lnTo>
                  <a:pt x="218" y="45"/>
                </a:lnTo>
                <a:lnTo>
                  <a:pt x="185" y="45"/>
                </a:lnTo>
                <a:lnTo>
                  <a:pt x="182" y="95"/>
                </a:lnTo>
                <a:lnTo>
                  <a:pt x="130" y="91"/>
                </a:lnTo>
                <a:lnTo>
                  <a:pt x="75" y="79"/>
                </a:lnTo>
                <a:lnTo>
                  <a:pt x="72" y="40"/>
                </a:lnTo>
                <a:lnTo>
                  <a:pt x="49" y="23"/>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3" name="Freeform 146"/>
          <p:cNvSpPr>
            <a:spLocks/>
          </p:cNvSpPr>
          <p:nvPr/>
        </p:nvSpPr>
        <p:spPr bwMode="auto">
          <a:xfrm>
            <a:off x="1873923" y="3486864"/>
            <a:ext cx="40265" cy="6504"/>
          </a:xfrm>
          <a:custGeom>
            <a:avLst/>
            <a:gdLst>
              <a:gd name="T0" fmla="*/ 0 w 199"/>
              <a:gd name="T1" fmla="*/ 0 h 33"/>
              <a:gd name="T2" fmla="*/ 2147483646 w 199"/>
              <a:gd name="T3" fmla="*/ 2147483646 h 33"/>
              <a:gd name="T4" fmla="*/ 2147483646 w 199"/>
              <a:gd name="T5" fmla="*/ 2147483646 h 33"/>
              <a:gd name="T6" fmla="*/ 0 w 199"/>
              <a:gd name="T7" fmla="*/ 0 h 3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9" h="33">
                <a:moveTo>
                  <a:pt x="0" y="0"/>
                </a:moveTo>
                <a:lnTo>
                  <a:pt x="93" y="33"/>
                </a:lnTo>
                <a:lnTo>
                  <a:pt x="199" y="2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4" name="Freeform 147"/>
          <p:cNvSpPr>
            <a:spLocks/>
          </p:cNvSpPr>
          <p:nvPr/>
        </p:nvSpPr>
        <p:spPr bwMode="auto">
          <a:xfrm>
            <a:off x="1833658" y="3476643"/>
            <a:ext cx="25166" cy="7434"/>
          </a:xfrm>
          <a:custGeom>
            <a:avLst/>
            <a:gdLst>
              <a:gd name="T0" fmla="*/ 0 w 122"/>
              <a:gd name="T1" fmla="*/ 0 h 40"/>
              <a:gd name="T2" fmla="*/ 2147483646 w 122"/>
              <a:gd name="T3" fmla="*/ 2147483646 h 40"/>
              <a:gd name="T4" fmla="*/ 2147483646 w 122"/>
              <a:gd name="T5" fmla="*/ 2147483646 h 40"/>
              <a:gd name="T6" fmla="*/ 2147483646 w 122"/>
              <a:gd name="T7" fmla="*/ 2147483646 h 40"/>
              <a:gd name="T8" fmla="*/ 0 w 122"/>
              <a:gd name="T9" fmla="*/ 0 h 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22" h="40">
                <a:moveTo>
                  <a:pt x="0" y="0"/>
                </a:moveTo>
                <a:lnTo>
                  <a:pt x="32" y="25"/>
                </a:lnTo>
                <a:lnTo>
                  <a:pt x="122" y="38"/>
                </a:lnTo>
                <a:lnTo>
                  <a:pt x="30" y="40"/>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5" name="Freeform 148"/>
          <p:cNvSpPr>
            <a:spLocks/>
          </p:cNvSpPr>
          <p:nvPr/>
        </p:nvSpPr>
        <p:spPr bwMode="auto">
          <a:xfrm>
            <a:off x="1936334" y="3471068"/>
            <a:ext cx="38252" cy="18584"/>
          </a:xfrm>
          <a:custGeom>
            <a:avLst/>
            <a:gdLst>
              <a:gd name="T0" fmla="*/ 0 w 187"/>
              <a:gd name="T1" fmla="*/ 0 h 102"/>
              <a:gd name="T2" fmla="*/ 2147483646 w 187"/>
              <a:gd name="T3" fmla="*/ 2147483646 h 102"/>
              <a:gd name="T4" fmla="*/ 2147483646 w 187"/>
              <a:gd name="T5" fmla="*/ 2147483646 h 102"/>
              <a:gd name="T6" fmla="*/ 2147483646 w 187"/>
              <a:gd name="T7" fmla="*/ 2147483646 h 102"/>
              <a:gd name="T8" fmla="*/ 2147483646 w 187"/>
              <a:gd name="T9" fmla="*/ 2147483646 h 102"/>
              <a:gd name="T10" fmla="*/ 2147483646 w 187"/>
              <a:gd name="T11" fmla="*/ 2147483646 h 102"/>
              <a:gd name="T12" fmla="*/ 2147483646 w 187"/>
              <a:gd name="T13" fmla="*/ 2147483646 h 102"/>
              <a:gd name="T14" fmla="*/ 2147483646 w 187"/>
              <a:gd name="T15" fmla="*/ 2147483646 h 102"/>
              <a:gd name="T16" fmla="*/ 0 w 187"/>
              <a:gd name="T17" fmla="*/ 0 h 10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87" h="102">
                <a:moveTo>
                  <a:pt x="0" y="0"/>
                </a:moveTo>
                <a:lnTo>
                  <a:pt x="84" y="9"/>
                </a:lnTo>
                <a:lnTo>
                  <a:pt x="101" y="23"/>
                </a:lnTo>
                <a:lnTo>
                  <a:pt x="101" y="54"/>
                </a:lnTo>
                <a:lnTo>
                  <a:pt x="106" y="89"/>
                </a:lnTo>
                <a:lnTo>
                  <a:pt x="187" y="102"/>
                </a:lnTo>
                <a:lnTo>
                  <a:pt x="90" y="98"/>
                </a:lnTo>
                <a:lnTo>
                  <a:pt x="7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6" name="Freeform 149"/>
          <p:cNvSpPr>
            <a:spLocks/>
          </p:cNvSpPr>
          <p:nvPr/>
        </p:nvSpPr>
        <p:spPr bwMode="auto">
          <a:xfrm>
            <a:off x="1974586" y="3513811"/>
            <a:ext cx="122808" cy="27876"/>
          </a:xfrm>
          <a:custGeom>
            <a:avLst/>
            <a:gdLst>
              <a:gd name="T0" fmla="*/ 0 w 609"/>
              <a:gd name="T1" fmla="*/ 0 h 150"/>
              <a:gd name="T2" fmla="*/ 2147483646 w 609"/>
              <a:gd name="T3" fmla="*/ 2147483646 h 150"/>
              <a:gd name="T4" fmla="*/ 2147483646 w 609"/>
              <a:gd name="T5" fmla="*/ 2147483646 h 150"/>
              <a:gd name="T6" fmla="*/ 2147483646 w 609"/>
              <a:gd name="T7" fmla="*/ 2147483646 h 150"/>
              <a:gd name="T8" fmla="*/ 2147483646 w 609"/>
              <a:gd name="T9" fmla="*/ 2147483646 h 150"/>
              <a:gd name="T10" fmla="*/ 2147483646 w 609"/>
              <a:gd name="T11" fmla="*/ 2147483646 h 150"/>
              <a:gd name="T12" fmla="*/ 2147483646 w 609"/>
              <a:gd name="T13" fmla="*/ 2147483646 h 150"/>
              <a:gd name="T14" fmla="*/ 2147483646 w 609"/>
              <a:gd name="T15" fmla="*/ 2147483646 h 150"/>
              <a:gd name="T16" fmla="*/ 2147483646 w 609"/>
              <a:gd name="T17" fmla="*/ 2147483646 h 150"/>
              <a:gd name="T18" fmla="*/ 2147483646 w 609"/>
              <a:gd name="T19" fmla="*/ 2147483646 h 150"/>
              <a:gd name="T20" fmla="*/ 2147483646 w 609"/>
              <a:gd name="T21" fmla="*/ 2147483646 h 150"/>
              <a:gd name="T22" fmla="*/ 2147483646 w 609"/>
              <a:gd name="T23" fmla="*/ 2147483646 h 150"/>
              <a:gd name="T24" fmla="*/ 2147483646 w 609"/>
              <a:gd name="T25" fmla="*/ 2147483646 h 150"/>
              <a:gd name="T26" fmla="*/ 0 w 609"/>
              <a:gd name="T27" fmla="*/ 0 h 15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609" h="150">
                <a:moveTo>
                  <a:pt x="0" y="0"/>
                </a:moveTo>
                <a:lnTo>
                  <a:pt x="154" y="7"/>
                </a:lnTo>
                <a:lnTo>
                  <a:pt x="313" y="44"/>
                </a:lnTo>
                <a:lnTo>
                  <a:pt x="431" y="51"/>
                </a:lnTo>
                <a:lnTo>
                  <a:pt x="527" y="71"/>
                </a:lnTo>
                <a:lnTo>
                  <a:pt x="563" y="122"/>
                </a:lnTo>
                <a:lnTo>
                  <a:pt x="609" y="150"/>
                </a:lnTo>
                <a:lnTo>
                  <a:pt x="563" y="141"/>
                </a:lnTo>
                <a:lnTo>
                  <a:pt x="521" y="84"/>
                </a:lnTo>
                <a:lnTo>
                  <a:pt x="392" y="58"/>
                </a:lnTo>
                <a:lnTo>
                  <a:pt x="313" y="58"/>
                </a:lnTo>
                <a:lnTo>
                  <a:pt x="252" y="44"/>
                </a:lnTo>
                <a:lnTo>
                  <a:pt x="146" y="17"/>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7" name="Freeform 150"/>
          <p:cNvSpPr>
            <a:spLocks/>
          </p:cNvSpPr>
          <p:nvPr/>
        </p:nvSpPr>
        <p:spPr bwMode="auto">
          <a:xfrm>
            <a:off x="1851777" y="3132842"/>
            <a:ext cx="106702" cy="107786"/>
          </a:xfrm>
          <a:custGeom>
            <a:avLst/>
            <a:gdLst>
              <a:gd name="T0" fmla="*/ 2147483646 w 529"/>
              <a:gd name="T1" fmla="*/ 2147483646 h 580"/>
              <a:gd name="T2" fmla="*/ 2147483646 w 529"/>
              <a:gd name="T3" fmla="*/ 2147483646 h 580"/>
              <a:gd name="T4" fmla="*/ 2147483646 w 529"/>
              <a:gd name="T5" fmla="*/ 2147483646 h 580"/>
              <a:gd name="T6" fmla="*/ 2147483646 w 529"/>
              <a:gd name="T7" fmla="*/ 2147483646 h 580"/>
              <a:gd name="T8" fmla="*/ 2147483646 w 529"/>
              <a:gd name="T9" fmla="*/ 2147483646 h 580"/>
              <a:gd name="T10" fmla="*/ 2147483646 w 529"/>
              <a:gd name="T11" fmla="*/ 2147483646 h 580"/>
              <a:gd name="T12" fmla="*/ 2147483646 w 529"/>
              <a:gd name="T13" fmla="*/ 2147483646 h 580"/>
              <a:gd name="T14" fmla="*/ 2147483646 w 529"/>
              <a:gd name="T15" fmla="*/ 2147483646 h 580"/>
              <a:gd name="T16" fmla="*/ 2147483646 w 529"/>
              <a:gd name="T17" fmla="*/ 2147483646 h 580"/>
              <a:gd name="T18" fmla="*/ 2147483646 w 529"/>
              <a:gd name="T19" fmla="*/ 2147483646 h 580"/>
              <a:gd name="T20" fmla="*/ 2147483646 w 529"/>
              <a:gd name="T21" fmla="*/ 2147483646 h 580"/>
              <a:gd name="T22" fmla="*/ 2147483646 w 529"/>
              <a:gd name="T23" fmla="*/ 2147483646 h 580"/>
              <a:gd name="T24" fmla="*/ 2147483646 w 529"/>
              <a:gd name="T25" fmla="*/ 2147483646 h 580"/>
              <a:gd name="T26" fmla="*/ 2147483646 w 529"/>
              <a:gd name="T27" fmla="*/ 2147483646 h 580"/>
              <a:gd name="T28" fmla="*/ 2147483646 w 529"/>
              <a:gd name="T29" fmla="*/ 2147483646 h 580"/>
              <a:gd name="T30" fmla="*/ 2147483646 w 529"/>
              <a:gd name="T31" fmla="*/ 2147483646 h 580"/>
              <a:gd name="T32" fmla="*/ 2147483646 w 529"/>
              <a:gd name="T33" fmla="*/ 2147483646 h 580"/>
              <a:gd name="T34" fmla="*/ 2147483646 w 529"/>
              <a:gd name="T35" fmla="*/ 2147483646 h 580"/>
              <a:gd name="T36" fmla="*/ 2147483646 w 529"/>
              <a:gd name="T37" fmla="*/ 2147483646 h 580"/>
              <a:gd name="T38" fmla="*/ 2147483646 w 529"/>
              <a:gd name="T39" fmla="*/ 2147483646 h 580"/>
              <a:gd name="T40" fmla="*/ 2147483646 w 529"/>
              <a:gd name="T41" fmla="*/ 2147483646 h 580"/>
              <a:gd name="T42" fmla="*/ 2147483646 w 529"/>
              <a:gd name="T43" fmla="*/ 2147483646 h 580"/>
              <a:gd name="T44" fmla="*/ 2147483646 w 529"/>
              <a:gd name="T45" fmla="*/ 2147483646 h 580"/>
              <a:gd name="T46" fmla="*/ 2147483646 w 529"/>
              <a:gd name="T47" fmla="*/ 2147483646 h 580"/>
              <a:gd name="T48" fmla="*/ 2147483646 w 529"/>
              <a:gd name="T49" fmla="*/ 2147483646 h 580"/>
              <a:gd name="T50" fmla="*/ 2147483646 w 529"/>
              <a:gd name="T51" fmla="*/ 2147483646 h 580"/>
              <a:gd name="T52" fmla="*/ 2147483646 w 529"/>
              <a:gd name="T53" fmla="*/ 2147483646 h 580"/>
              <a:gd name="T54" fmla="*/ 2147483646 w 529"/>
              <a:gd name="T55" fmla="*/ 2147483646 h 580"/>
              <a:gd name="T56" fmla="*/ 2147483646 w 529"/>
              <a:gd name="T57" fmla="*/ 2147483646 h 580"/>
              <a:gd name="T58" fmla="*/ 0 w 529"/>
              <a:gd name="T59" fmla="*/ 2147483646 h 580"/>
              <a:gd name="T60" fmla="*/ 0 w 529"/>
              <a:gd name="T61" fmla="*/ 2147483646 h 580"/>
              <a:gd name="T62" fmla="*/ 2147483646 w 529"/>
              <a:gd name="T63" fmla="*/ 2147483646 h 580"/>
              <a:gd name="T64" fmla="*/ 2147483646 w 529"/>
              <a:gd name="T65" fmla="*/ 2147483646 h 580"/>
              <a:gd name="T66" fmla="*/ 2147483646 w 529"/>
              <a:gd name="T67" fmla="*/ 0 h 580"/>
              <a:gd name="T68" fmla="*/ 2147483646 w 529"/>
              <a:gd name="T69" fmla="*/ 2147483646 h 580"/>
              <a:gd name="T70" fmla="*/ 2147483646 w 529"/>
              <a:gd name="T71" fmla="*/ 2147483646 h 580"/>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529" h="580">
                <a:moveTo>
                  <a:pt x="357" y="20"/>
                </a:moveTo>
                <a:lnTo>
                  <a:pt x="403" y="53"/>
                </a:lnTo>
                <a:lnTo>
                  <a:pt x="428" y="94"/>
                </a:lnTo>
                <a:lnTo>
                  <a:pt x="451" y="138"/>
                </a:lnTo>
                <a:lnTo>
                  <a:pt x="464" y="161"/>
                </a:lnTo>
                <a:lnTo>
                  <a:pt x="464" y="186"/>
                </a:lnTo>
                <a:lnTo>
                  <a:pt x="453" y="216"/>
                </a:lnTo>
                <a:lnTo>
                  <a:pt x="476" y="239"/>
                </a:lnTo>
                <a:lnTo>
                  <a:pt x="511" y="301"/>
                </a:lnTo>
                <a:lnTo>
                  <a:pt x="529" y="334"/>
                </a:lnTo>
                <a:lnTo>
                  <a:pt x="529" y="346"/>
                </a:lnTo>
                <a:lnTo>
                  <a:pt x="526" y="357"/>
                </a:lnTo>
                <a:lnTo>
                  <a:pt x="510" y="361"/>
                </a:lnTo>
                <a:lnTo>
                  <a:pt x="487" y="362"/>
                </a:lnTo>
                <a:lnTo>
                  <a:pt x="475" y="366"/>
                </a:lnTo>
                <a:lnTo>
                  <a:pt x="476" y="391"/>
                </a:lnTo>
                <a:lnTo>
                  <a:pt x="483" y="421"/>
                </a:lnTo>
                <a:lnTo>
                  <a:pt x="469" y="437"/>
                </a:lnTo>
                <a:lnTo>
                  <a:pt x="473" y="459"/>
                </a:lnTo>
                <a:lnTo>
                  <a:pt x="462" y="472"/>
                </a:lnTo>
                <a:lnTo>
                  <a:pt x="452" y="511"/>
                </a:lnTo>
                <a:lnTo>
                  <a:pt x="436" y="523"/>
                </a:lnTo>
                <a:lnTo>
                  <a:pt x="411" y="523"/>
                </a:lnTo>
                <a:lnTo>
                  <a:pt x="375" y="517"/>
                </a:lnTo>
                <a:lnTo>
                  <a:pt x="339" y="511"/>
                </a:lnTo>
                <a:lnTo>
                  <a:pt x="342" y="580"/>
                </a:lnTo>
                <a:lnTo>
                  <a:pt x="60" y="488"/>
                </a:lnTo>
                <a:lnTo>
                  <a:pt x="83" y="435"/>
                </a:lnTo>
                <a:lnTo>
                  <a:pt x="78" y="394"/>
                </a:lnTo>
                <a:lnTo>
                  <a:pt x="0" y="316"/>
                </a:lnTo>
                <a:lnTo>
                  <a:pt x="0" y="111"/>
                </a:lnTo>
                <a:lnTo>
                  <a:pt x="52" y="55"/>
                </a:lnTo>
                <a:lnTo>
                  <a:pt x="117" y="25"/>
                </a:lnTo>
                <a:lnTo>
                  <a:pt x="186" y="0"/>
                </a:lnTo>
                <a:lnTo>
                  <a:pt x="276" y="13"/>
                </a:lnTo>
                <a:lnTo>
                  <a:pt x="357" y="2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8" name="Freeform 151"/>
          <p:cNvSpPr>
            <a:spLocks/>
          </p:cNvSpPr>
          <p:nvPr/>
        </p:nvSpPr>
        <p:spPr bwMode="auto">
          <a:xfrm>
            <a:off x="1946400" y="3197885"/>
            <a:ext cx="6040" cy="929"/>
          </a:xfrm>
          <a:custGeom>
            <a:avLst/>
            <a:gdLst>
              <a:gd name="T0" fmla="*/ 2147483646 w 30"/>
              <a:gd name="T1" fmla="*/ 2147483646 h 6"/>
              <a:gd name="T2" fmla="*/ 2147483646 w 30"/>
              <a:gd name="T3" fmla="*/ 2147483646 h 6"/>
              <a:gd name="T4" fmla="*/ 2147483646 w 30"/>
              <a:gd name="T5" fmla="*/ 2147483646 h 6"/>
              <a:gd name="T6" fmla="*/ 2147483646 w 30"/>
              <a:gd name="T7" fmla="*/ 2147483646 h 6"/>
              <a:gd name="T8" fmla="*/ 0 w 30"/>
              <a:gd name="T9" fmla="*/ 2147483646 h 6"/>
              <a:gd name="T10" fmla="*/ 2147483646 w 30"/>
              <a:gd name="T11" fmla="*/ 0 h 6"/>
              <a:gd name="T12" fmla="*/ 2147483646 w 30"/>
              <a:gd name="T13" fmla="*/ 2147483646 h 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30" h="6">
                <a:moveTo>
                  <a:pt x="30" y="2"/>
                </a:moveTo>
                <a:lnTo>
                  <a:pt x="23" y="6"/>
                </a:lnTo>
                <a:lnTo>
                  <a:pt x="8" y="5"/>
                </a:lnTo>
                <a:lnTo>
                  <a:pt x="2" y="6"/>
                </a:lnTo>
                <a:lnTo>
                  <a:pt x="0" y="1"/>
                </a:lnTo>
                <a:lnTo>
                  <a:pt x="9" y="0"/>
                </a:lnTo>
                <a:lnTo>
                  <a:pt x="3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9" name="Freeform 152"/>
          <p:cNvSpPr>
            <a:spLocks/>
          </p:cNvSpPr>
          <p:nvPr/>
        </p:nvSpPr>
        <p:spPr bwMode="auto">
          <a:xfrm>
            <a:off x="1944387" y="3194169"/>
            <a:ext cx="2013" cy="3717"/>
          </a:xfrm>
          <a:custGeom>
            <a:avLst/>
            <a:gdLst>
              <a:gd name="T0" fmla="*/ 2147483646 w 11"/>
              <a:gd name="T1" fmla="*/ 0 h 22"/>
              <a:gd name="T2" fmla="*/ 2147483646 w 11"/>
              <a:gd name="T3" fmla="*/ 2147483646 h 22"/>
              <a:gd name="T4" fmla="*/ 2147483646 w 11"/>
              <a:gd name="T5" fmla="*/ 2147483646 h 22"/>
              <a:gd name="T6" fmla="*/ 2147483646 w 11"/>
              <a:gd name="T7" fmla="*/ 2147483646 h 22"/>
              <a:gd name="T8" fmla="*/ 0 w 11"/>
              <a:gd name="T9" fmla="*/ 2147483646 h 22"/>
              <a:gd name="T10" fmla="*/ 0 w 11"/>
              <a:gd name="T11" fmla="*/ 2147483646 h 22"/>
              <a:gd name="T12" fmla="*/ 2147483646 w 11"/>
              <a:gd name="T13" fmla="*/ 0 h 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1" h="22">
                <a:moveTo>
                  <a:pt x="11" y="0"/>
                </a:moveTo>
                <a:lnTo>
                  <a:pt x="3" y="6"/>
                </a:lnTo>
                <a:lnTo>
                  <a:pt x="3" y="12"/>
                </a:lnTo>
                <a:lnTo>
                  <a:pt x="2" y="22"/>
                </a:lnTo>
                <a:lnTo>
                  <a:pt x="0" y="8"/>
                </a:lnTo>
                <a:lnTo>
                  <a:pt x="0" y="1"/>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0" name="Freeform 153"/>
          <p:cNvSpPr>
            <a:spLocks/>
          </p:cNvSpPr>
          <p:nvPr/>
        </p:nvSpPr>
        <p:spPr bwMode="auto">
          <a:xfrm>
            <a:off x="1939354" y="3181160"/>
            <a:ext cx="3020" cy="7434"/>
          </a:xfrm>
          <a:custGeom>
            <a:avLst/>
            <a:gdLst>
              <a:gd name="T0" fmla="*/ 0 w 13"/>
              <a:gd name="T1" fmla="*/ 0 h 42"/>
              <a:gd name="T2" fmla="*/ 2147483646 w 13"/>
              <a:gd name="T3" fmla="*/ 2147483646 h 42"/>
              <a:gd name="T4" fmla="*/ 2147483646 w 13"/>
              <a:gd name="T5" fmla="*/ 2147483646 h 42"/>
              <a:gd name="T6" fmla="*/ 2147483646 w 13"/>
              <a:gd name="T7" fmla="*/ 2147483646 h 42"/>
              <a:gd name="T8" fmla="*/ 0 w 13"/>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42">
                <a:moveTo>
                  <a:pt x="0" y="0"/>
                </a:moveTo>
                <a:lnTo>
                  <a:pt x="9" y="24"/>
                </a:lnTo>
                <a:lnTo>
                  <a:pt x="13" y="42"/>
                </a:lnTo>
                <a:lnTo>
                  <a:pt x="6" y="3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1" name="Freeform 154"/>
          <p:cNvSpPr>
            <a:spLocks/>
          </p:cNvSpPr>
          <p:nvPr/>
        </p:nvSpPr>
        <p:spPr bwMode="auto">
          <a:xfrm>
            <a:off x="1928281" y="3172797"/>
            <a:ext cx="12080" cy="6504"/>
          </a:xfrm>
          <a:custGeom>
            <a:avLst/>
            <a:gdLst>
              <a:gd name="T0" fmla="*/ 2147483646 w 56"/>
              <a:gd name="T1" fmla="*/ 0 h 36"/>
              <a:gd name="T2" fmla="*/ 2147483646 w 56"/>
              <a:gd name="T3" fmla="*/ 2147483646 h 36"/>
              <a:gd name="T4" fmla="*/ 2147483646 w 56"/>
              <a:gd name="T5" fmla="*/ 2147483646 h 36"/>
              <a:gd name="T6" fmla="*/ 2147483646 w 56"/>
              <a:gd name="T7" fmla="*/ 2147483646 h 36"/>
              <a:gd name="T8" fmla="*/ 2147483646 w 56"/>
              <a:gd name="T9" fmla="*/ 2147483646 h 36"/>
              <a:gd name="T10" fmla="*/ 2147483646 w 56"/>
              <a:gd name="T11" fmla="*/ 2147483646 h 36"/>
              <a:gd name="T12" fmla="*/ 2147483646 w 56"/>
              <a:gd name="T13" fmla="*/ 2147483646 h 36"/>
              <a:gd name="T14" fmla="*/ 2147483646 w 56"/>
              <a:gd name="T15" fmla="*/ 2147483646 h 36"/>
              <a:gd name="T16" fmla="*/ 0 w 56"/>
              <a:gd name="T17" fmla="*/ 2147483646 h 36"/>
              <a:gd name="T18" fmla="*/ 2147483646 w 56"/>
              <a:gd name="T19" fmla="*/ 2147483646 h 36"/>
              <a:gd name="T20" fmla="*/ 2147483646 w 56"/>
              <a:gd name="T21" fmla="*/ 0 h 36"/>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56" h="36">
                <a:moveTo>
                  <a:pt x="56" y="0"/>
                </a:moveTo>
                <a:lnTo>
                  <a:pt x="45" y="20"/>
                </a:lnTo>
                <a:lnTo>
                  <a:pt x="47" y="26"/>
                </a:lnTo>
                <a:lnTo>
                  <a:pt x="47" y="29"/>
                </a:lnTo>
                <a:lnTo>
                  <a:pt x="51" y="36"/>
                </a:lnTo>
                <a:lnTo>
                  <a:pt x="43" y="24"/>
                </a:lnTo>
                <a:lnTo>
                  <a:pt x="32" y="24"/>
                </a:lnTo>
                <a:lnTo>
                  <a:pt x="20" y="20"/>
                </a:lnTo>
                <a:lnTo>
                  <a:pt x="0" y="19"/>
                </a:lnTo>
                <a:lnTo>
                  <a:pt x="20" y="7"/>
                </a:lnTo>
                <a:lnTo>
                  <a:pt x="56"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2" name="Freeform 155"/>
          <p:cNvSpPr>
            <a:spLocks/>
          </p:cNvSpPr>
          <p:nvPr/>
        </p:nvSpPr>
        <p:spPr bwMode="auto">
          <a:xfrm>
            <a:off x="1923247" y="3162577"/>
            <a:ext cx="20133" cy="6505"/>
          </a:xfrm>
          <a:custGeom>
            <a:avLst/>
            <a:gdLst>
              <a:gd name="T0" fmla="*/ 2147483646 w 96"/>
              <a:gd name="T1" fmla="*/ 2147483646 h 34"/>
              <a:gd name="T2" fmla="*/ 2147483646 w 96"/>
              <a:gd name="T3" fmla="*/ 2147483646 h 34"/>
              <a:gd name="T4" fmla="*/ 2147483646 w 96"/>
              <a:gd name="T5" fmla="*/ 2147483646 h 34"/>
              <a:gd name="T6" fmla="*/ 2147483646 w 96"/>
              <a:gd name="T7" fmla="*/ 2147483646 h 34"/>
              <a:gd name="T8" fmla="*/ 2147483646 w 96"/>
              <a:gd name="T9" fmla="*/ 2147483646 h 34"/>
              <a:gd name="T10" fmla="*/ 2147483646 w 96"/>
              <a:gd name="T11" fmla="*/ 2147483646 h 34"/>
              <a:gd name="T12" fmla="*/ 0 w 96"/>
              <a:gd name="T13" fmla="*/ 2147483646 h 34"/>
              <a:gd name="T14" fmla="*/ 2147483646 w 96"/>
              <a:gd name="T15" fmla="*/ 2147483646 h 34"/>
              <a:gd name="T16" fmla="*/ 2147483646 w 96"/>
              <a:gd name="T17" fmla="*/ 2147483646 h 34"/>
              <a:gd name="T18" fmla="*/ 2147483646 w 96"/>
              <a:gd name="T19" fmla="*/ 0 h 34"/>
              <a:gd name="T20" fmla="*/ 2147483646 w 96"/>
              <a:gd name="T21" fmla="*/ 2147483646 h 34"/>
              <a:gd name="T22" fmla="*/ 2147483646 w 96"/>
              <a:gd name="T23" fmla="*/ 2147483646 h 34"/>
              <a:gd name="T24" fmla="*/ 2147483646 w 96"/>
              <a:gd name="T25" fmla="*/ 2147483646 h 34"/>
              <a:gd name="T26" fmla="*/ 2147483646 w 96"/>
              <a:gd name="T27" fmla="*/ 2147483646 h 34"/>
              <a:gd name="T28" fmla="*/ 2147483646 w 96"/>
              <a:gd name="T29" fmla="*/ 2147483646 h 3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96" h="34">
                <a:moveTo>
                  <a:pt x="96" y="17"/>
                </a:moveTo>
                <a:lnTo>
                  <a:pt x="92" y="29"/>
                </a:lnTo>
                <a:lnTo>
                  <a:pt x="81" y="34"/>
                </a:lnTo>
                <a:lnTo>
                  <a:pt x="66" y="24"/>
                </a:lnTo>
                <a:lnTo>
                  <a:pt x="47" y="17"/>
                </a:lnTo>
                <a:lnTo>
                  <a:pt x="15" y="17"/>
                </a:lnTo>
                <a:lnTo>
                  <a:pt x="0" y="18"/>
                </a:lnTo>
                <a:lnTo>
                  <a:pt x="24" y="9"/>
                </a:lnTo>
                <a:lnTo>
                  <a:pt x="41" y="4"/>
                </a:lnTo>
                <a:lnTo>
                  <a:pt x="39" y="0"/>
                </a:lnTo>
                <a:lnTo>
                  <a:pt x="56" y="7"/>
                </a:lnTo>
                <a:lnTo>
                  <a:pt x="54" y="2"/>
                </a:lnTo>
                <a:lnTo>
                  <a:pt x="68" y="9"/>
                </a:lnTo>
                <a:lnTo>
                  <a:pt x="79" y="9"/>
                </a:lnTo>
                <a:lnTo>
                  <a:pt x="96" y="1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3" name="Freeform 156"/>
          <p:cNvSpPr>
            <a:spLocks/>
          </p:cNvSpPr>
          <p:nvPr/>
        </p:nvSpPr>
        <p:spPr bwMode="auto">
          <a:xfrm>
            <a:off x="1888016" y="3171869"/>
            <a:ext cx="11073" cy="20442"/>
          </a:xfrm>
          <a:custGeom>
            <a:avLst/>
            <a:gdLst>
              <a:gd name="T0" fmla="*/ 2147483646 w 56"/>
              <a:gd name="T1" fmla="*/ 2147483646 h 113"/>
              <a:gd name="T2" fmla="*/ 2147483646 w 56"/>
              <a:gd name="T3" fmla="*/ 2147483646 h 113"/>
              <a:gd name="T4" fmla="*/ 2147483646 w 56"/>
              <a:gd name="T5" fmla="*/ 2147483646 h 113"/>
              <a:gd name="T6" fmla="*/ 2147483646 w 56"/>
              <a:gd name="T7" fmla="*/ 2147483646 h 113"/>
              <a:gd name="T8" fmla="*/ 2147483646 w 56"/>
              <a:gd name="T9" fmla="*/ 2147483646 h 113"/>
              <a:gd name="T10" fmla="*/ 2147483646 w 56"/>
              <a:gd name="T11" fmla="*/ 2147483646 h 113"/>
              <a:gd name="T12" fmla="*/ 2147483646 w 56"/>
              <a:gd name="T13" fmla="*/ 2147483646 h 113"/>
              <a:gd name="T14" fmla="*/ 2147483646 w 56"/>
              <a:gd name="T15" fmla="*/ 2147483646 h 113"/>
              <a:gd name="T16" fmla="*/ 2147483646 w 56"/>
              <a:gd name="T17" fmla="*/ 2147483646 h 113"/>
              <a:gd name="T18" fmla="*/ 2147483646 w 56"/>
              <a:gd name="T19" fmla="*/ 2147483646 h 113"/>
              <a:gd name="T20" fmla="*/ 2147483646 w 56"/>
              <a:gd name="T21" fmla="*/ 2147483646 h 113"/>
              <a:gd name="T22" fmla="*/ 2147483646 w 56"/>
              <a:gd name="T23" fmla="*/ 2147483646 h 113"/>
              <a:gd name="T24" fmla="*/ 2147483646 w 56"/>
              <a:gd name="T25" fmla="*/ 2147483646 h 113"/>
              <a:gd name="T26" fmla="*/ 2147483646 w 56"/>
              <a:gd name="T27" fmla="*/ 2147483646 h 113"/>
              <a:gd name="T28" fmla="*/ 2147483646 w 56"/>
              <a:gd name="T29" fmla="*/ 2147483646 h 113"/>
              <a:gd name="T30" fmla="*/ 2147483646 w 56"/>
              <a:gd name="T31" fmla="*/ 2147483646 h 113"/>
              <a:gd name="T32" fmla="*/ 2147483646 w 56"/>
              <a:gd name="T33" fmla="*/ 2147483646 h 113"/>
              <a:gd name="T34" fmla="*/ 0 w 56"/>
              <a:gd name="T35" fmla="*/ 2147483646 h 113"/>
              <a:gd name="T36" fmla="*/ 2147483646 w 56"/>
              <a:gd name="T37" fmla="*/ 2147483646 h 113"/>
              <a:gd name="T38" fmla="*/ 2147483646 w 56"/>
              <a:gd name="T39" fmla="*/ 2147483646 h 113"/>
              <a:gd name="T40" fmla="*/ 2147483646 w 56"/>
              <a:gd name="T41" fmla="*/ 0 h 113"/>
              <a:gd name="T42" fmla="*/ 2147483646 w 56"/>
              <a:gd name="T43" fmla="*/ 2147483646 h 113"/>
              <a:gd name="T44" fmla="*/ 2147483646 w 56"/>
              <a:gd name="T45" fmla="*/ 2147483646 h 11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56" h="113">
                <a:moveTo>
                  <a:pt x="56" y="21"/>
                </a:moveTo>
                <a:lnTo>
                  <a:pt x="39" y="8"/>
                </a:lnTo>
                <a:lnTo>
                  <a:pt x="19" y="11"/>
                </a:lnTo>
                <a:lnTo>
                  <a:pt x="8" y="29"/>
                </a:lnTo>
                <a:lnTo>
                  <a:pt x="6" y="55"/>
                </a:lnTo>
                <a:lnTo>
                  <a:pt x="8" y="75"/>
                </a:lnTo>
                <a:lnTo>
                  <a:pt x="15" y="91"/>
                </a:lnTo>
                <a:lnTo>
                  <a:pt x="24" y="66"/>
                </a:lnTo>
                <a:lnTo>
                  <a:pt x="35" y="52"/>
                </a:lnTo>
                <a:lnTo>
                  <a:pt x="53" y="42"/>
                </a:lnTo>
                <a:lnTo>
                  <a:pt x="38" y="62"/>
                </a:lnTo>
                <a:lnTo>
                  <a:pt x="22" y="79"/>
                </a:lnTo>
                <a:lnTo>
                  <a:pt x="21" y="95"/>
                </a:lnTo>
                <a:lnTo>
                  <a:pt x="28" y="110"/>
                </a:lnTo>
                <a:lnTo>
                  <a:pt x="37" y="113"/>
                </a:lnTo>
                <a:lnTo>
                  <a:pt x="14" y="107"/>
                </a:lnTo>
                <a:lnTo>
                  <a:pt x="2" y="83"/>
                </a:lnTo>
                <a:lnTo>
                  <a:pt x="0" y="52"/>
                </a:lnTo>
                <a:lnTo>
                  <a:pt x="2" y="24"/>
                </a:lnTo>
                <a:lnTo>
                  <a:pt x="15" y="5"/>
                </a:lnTo>
                <a:lnTo>
                  <a:pt x="32" y="0"/>
                </a:lnTo>
                <a:lnTo>
                  <a:pt x="48" y="3"/>
                </a:lnTo>
                <a:lnTo>
                  <a:pt x="56" y="2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4" name="Freeform 157"/>
          <p:cNvSpPr>
            <a:spLocks/>
          </p:cNvSpPr>
          <p:nvPr/>
        </p:nvSpPr>
        <p:spPr bwMode="auto">
          <a:xfrm>
            <a:off x="1883990" y="3168152"/>
            <a:ext cx="18119" cy="28805"/>
          </a:xfrm>
          <a:custGeom>
            <a:avLst/>
            <a:gdLst>
              <a:gd name="T0" fmla="*/ 2147483646 w 91"/>
              <a:gd name="T1" fmla="*/ 2147483646 h 153"/>
              <a:gd name="T2" fmla="*/ 2147483646 w 91"/>
              <a:gd name="T3" fmla="*/ 2147483646 h 153"/>
              <a:gd name="T4" fmla="*/ 2147483646 w 91"/>
              <a:gd name="T5" fmla="*/ 2147483646 h 153"/>
              <a:gd name="T6" fmla="*/ 2147483646 w 91"/>
              <a:gd name="T7" fmla="*/ 2147483646 h 153"/>
              <a:gd name="T8" fmla="*/ 2147483646 w 91"/>
              <a:gd name="T9" fmla="*/ 2147483646 h 153"/>
              <a:gd name="T10" fmla="*/ 2147483646 w 91"/>
              <a:gd name="T11" fmla="*/ 2147483646 h 153"/>
              <a:gd name="T12" fmla="*/ 2147483646 w 91"/>
              <a:gd name="T13" fmla="*/ 2147483646 h 153"/>
              <a:gd name="T14" fmla="*/ 2147483646 w 91"/>
              <a:gd name="T15" fmla="*/ 2147483646 h 153"/>
              <a:gd name="T16" fmla="*/ 2147483646 w 91"/>
              <a:gd name="T17" fmla="*/ 2147483646 h 153"/>
              <a:gd name="T18" fmla="*/ 2147483646 w 91"/>
              <a:gd name="T19" fmla="*/ 2147483646 h 153"/>
              <a:gd name="T20" fmla="*/ 2147483646 w 91"/>
              <a:gd name="T21" fmla="*/ 2147483646 h 153"/>
              <a:gd name="T22" fmla="*/ 2147483646 w 91"/>
              <a:gd name="T23" fmla="*/ 2147483646 h 153"/>
              <a:gd name="T24" fmla="*/ 2147483646 w 91"/>
              <a:gd name="T25" fmla="*/ 2147483646 h 153"/>
              <a:gd name="T26" fmla="*/ 2147483646 w 91"/>
              <a:gd name="T27" fmla="*/ 2147483646 h 153"/>
              <a:gd name="T28" fmla="*/ 2147483646 w 91"/>
              <a:gd name="T29" fmla="*/ 2147483646 h 153"/>
              <a:gd name="T30" fmla="*/ 2147483646 w 91"/>
              <a:gd name="T31" fmla="*/ 2147483646 h 153"/>
              <a:gd name="T32" fmla="*/ 2147483646 w 91"/>
              <a:gd name="T33" fmla="*/ 2147483646 h 153"/>
              <a:gd name="T34" fmla="*/ 2147483646 w 91"/>
              <a:gd name="T35" fmla="*/ 2147483646 h 153"/>
              <a:gd name="T36" fmla="*/ 2147483646 w 91"/>
              <a:gd name="T37" fmla="*/ 2147483646 h 153"/>
              <a:gd name="T38" fmla="*/ 0 w 91"/>
              <a:gd name="T39" fmla="*/ 2147483646 h 153"/>
              <a:gd name="T40" fmla="*/ 0 w 91"/>
              <a:gd name="T41" fmla="*/ 2147483646 h 153"/>
              <a:gd name="T42" fmla="*/ 2147483646 w 91"/>
              <a:gd name="T43" fmla="*/ 2147483646 h 153"/>
              <a:gd name="T44" fmla="*/ 2147483646 w 91"/>
              <a:gd name="T45" fmla="*/ 2147483646 h 153"/>
              <a:gd name="T46" fmla="*/ 2147483646 w 91"/>
              <a:gd name="T47" fmla="*/ 0 h 153"/>
              <a:gd name="T48" fmla="*/ 2147483646 w 91"/>
              <a:gd name="T49" fmla="*/ 2147483646 h 153"/>
              <a:gd name="T50" fmla="*/ 2147483646 w 91"/>
              <a:gd name="T51" fmla="*/ 2147483646 h 153"/>
              <a:gd name="T52" fmla="*/ 2147483646 w 91"/>
              <a:gd name="T53" fmla="*/ 2147483646 h 153"/>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91" h="153">
                <a:moveTo>
                  <a:pt x="91" y="38"/>
                </a:moveTo>
                <a:lnTo>
                  <a:pt x="76" y="13"/>
                </a:lnTo>
                <a:lnTo>
                  <a:pt x="54" y="7"/>
                </a:lnTo>
                <a:lnTo>
                  <a:pt x="24" y="12"/>
                </a:lnTo>
                <a:lnTo>
                  <a:pt x="14" y="25"/>
                </a:lnTo>
                <a:lnTo>
                  <a:pt x="7" y="48"/>
                </a:lnTo>
                <a:lnTo>
                  <a:pt x="7" y="66"/>
                </a:lnTo>
                <a:lnTo>
                  <a:pt x="11" y="79"/>
                </a:lnTo>
                <a:lnTo>
                  <a:pt x="11" y="98"/>
                </a:lnTo>
                <a:lnTo>
                  <a:pt x="15" y="120"/>
                </a:lnTo>
                <a:lnTo>
                  <a:pt x="34" y="142"/>
                </a:lnTo>
                <a:lnTo>
                  <a:pt x="47" y="142"/>
                </a:lnTo>
                <a:lnTo>
                  <a:pt x="63" y="142"/>
                </a:lnTo>
                <a:lnTo>
                  <a:pt x="63" y="144"/>
                </a:lnTo>
                <a:lnTo>
                  <a:pt x="51" y="153"/>
                </a:lnTo>
                <a:lnTo>
                  <a:pt x="36" y="151"/>
                </a:lnTo>
                <a:lnTo>
                  <a:pt x="19" y="144"/>
                </a:lnTo>
                <a:lnTo>
                  <a:pt x="6" y="121"/>
                </a:lnTo>
                <a:lnTo>
                  <a:pt x="5" y="86"/>
                </a:lnTo>
                <a:lnTo>
                  <a:pt x="0" y="62"/>
                </a:lnTo>
                <a:lnTo>
                  <a:pt x="0" y="41"/>
                </a:lnTo>
                <a:lnTo>
                  <a:pt x="9" y="23"/>
                </a:lnTo>
                <a:lnTo>
                  <a:pt x="18" y="7"/>
                </a:lnTo>
                <a:lnTo>
                  <a:pt x="42" y="0"/>
                </a:lnTo>
                <a:lnTo>
                  <a:pt x="76" y="5"/>
                </a:lnTo>
                <a:lnTo>
                  <a:pt x="89" y="13"/>
                </a:lnTo>
                <a:lnTo>
                  <a:pt x="91" y="3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5" name="Freeform 158"/>
          <p:cNvSpPr>
            <a:spLocks/>
          </p:cNvSpPr>
          <p:nvPr/>
        </p:nvSpPr>
        <p:spPr bwMode="auto">
          <a:xfrm>
            <a:off x="1895063" y="3198815"/>
            <a:ext cx="17112" cy="24159"/>
          </a:xfrm>
          <a:custGeom>
            <a:avLst/>
            <a:gdLst>
              <a:gd name="T0" fmla="*/ 0 w 83"/>
              <a:gd name="T1" fmla="*/ 0 h 127"/>
              <a:gd name="T2" fmla="*/ 2147483646 w 83"/>
              <a:gd name="T3" fmla="*/ 2147483646 h 127"/>
              <a:gd name="T4" fmla="*/ 2147483646 w 83"/>
              <a:gd name="T5" fmla="*/ 2147483646 h 127"/>
              <a:gd name="T6" fmla="*/ 2147483646 w 83"/>
              <a:gd name="T7" fmla="*/ 2147483646 h 127"/>
              <a:gd name="T8" fmla="*/ 2147483646 w 83"/>
              <a:gd name="T9" fmla="*/ 2147483646 h 127"/>
              <a:gd name="T10" fmla="*/ 2147483646 w 83"/>
              <a:gd name="T11" fmla="*/ 2147483646 h 127"/>
              <a:gd name="T12" fmla="*/ 2147483646 w 83"/>
              <a:gd name="T13" fmla="*/ 2147483646 h 127"/>
              <a:gd name="T14" fmla="*/ 2147483646 w 83"/>
              <a:gd name="T15" fmla="*/ 2147483646 h 127"/>
              <a:gd name="T16" fmla="*/ 2147483646 w 83"/>
              <a:gd name="T17" fmla="*/ 2147483646 h 127"/>
              <a:gd name="T18" fmla="*/ 0 w 83"/>
              <a:gd name="T19" fmla="*/ 0 h 12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83" h="127">
                <a:moveTo>
                  <a:pt x="0" y="0"/>
                </a:moveTo>
                <a:lnTo>
                  <a:pt x="10" y="27"/>
                </a:lnTo>
                <a:lnTo>
                  <a:pt x="27" y="57"/>
                </a:lnTo>
                <a:lnTo>
                  <a:pt x="45" y="83"/>
                </a:lnTo>
                <a:lnTo>
                  <a:pt x="70" y="116"/>
                </a:lnTo>
                <a:lnTo>
                  <a:pt x="83" y="127"/>
                </a:lnTo>
                <a:lnTo>
                  <a:pt x="55" y="113"/>
                </a:lnTo>
                <a:lnTo>
                  <a:pt x="33" y="82"/>
                </a:lnTo>
                <a:lnTo>
                  <a:pt x="12" y="46"/>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6" name="Freeform 159"/>
          <p:cNvSpPr>
            <a:spLocks/>
          </p:cNvSpPr>
          <p:nvPr/>
        </p:nvSpPr>
        <p:spPr bwMode="auto">
          <a:xfrm>
            <a:off x="1843725" y="3117975"/>
            <a:ext cx="95630" cy="89202"/>
          </a:xfrm>
          <a:custGeom>
            <a:avLst/>
            <a:gdLst>
              <a:gd name="T0" fmla="*/ 2147483646 w 478"/>
              <a:gd name="T1" fmla="*/ 2147483646 h 480"/>
              <a:gd name="T2" fmla="*/ 2147483646 w 478"/>
              <a:gd name="T3" fmla="*/ 2147483646 h 480"/>
              <a:gd name="T4" fmla="*/ 2147483646 w 478"/>
              <a:gd name="T5" fmla="*/ 2147483646 h 480"/>
              <a:gd name="T6" fmla="*/ 2147483646 w 478"/>
              <a:gd name="T7" fmla="*/ 2147483646 h 480"/>
              <a:gd name="T8" fmla="*/ 2147483646 w 478"/>
              <a:gd name="T9" fmla="*/ 2147483646 h 480"/>
              <a:gd name="T10" fmla="*/ 2147483646 w 478"/>
              <a:gd name="T11" fmla="*/ 2147483646 h 480"/>
              <a:gd name="T12" fmla="*/ 2147483646 w 478"/>
              <a:gd name="T13" fmla="*/ 2147483646 h 480"/>
              <a:gd name="T14" fmla="*/ 2147483646 w 478"/>
              <a:gd name="T15" fmla="*/ 2147483646 h 480"/>
              <a:gd name="T16" fmla="*/ 2147483646 w 478"/>
              <a:gd name="T17" fmla="*/ 2147483646 h 480"/>
              <a:gd name="T18" fmla="*/ 2147483646 w 478"/>
              <a:gd name="T19" fmla="*/ 2147483646 h 480"/>
              <a:gd name="T20" fmla="*/ 2147483646 w 478"/>
              <a:gd name="T21" fmla="*/ 2147483646 h 480"/>
              <a:gd name="T22" fmla="*/ 2147483646 w 478"/>
              <a:gd name="T23" fmla="*/ 2147483646 h 480"/>
              <a:gd name="T24" fmla="*/ 2147483646 w 478"/>
              <a:gd name="T25" fmla="*/ 2147483646 h 480"/>
              <a:gd name="T26" fmla="*/ 2147483646 w 478"/>
              <a:gd name="T27" fmla="*/ 2147483646 h 480"/>
              <a:gd name="T28" fmla="*/ 2147483646 w 478"/>
              <a:gd name="T29" fmla="*/ 2147483646 h 480"/>
              <a:gd name="T30" fmla="*/ 2147483646 w 478"/>
              <a:gd name="T31" fmla="*/ 2147483646 h 480"/>
              <a:gd name="T32" fmla="*/ 2147483646 w 478"/>
              <a:gd name="T33" fmla="*/ 2147483646 h 480"/>
              <a:gd name="T34" fmla="*/ 2147483646 w 478"/>
              <a:gd name="T35" fmla="*/ 2147483646 h 480"/>
              <a:gd name="T36" fmla="*/ 2147483646 w 478"/>
              <a:gd name="T37" fmla="*/ 2147483646 h 480"/>
              <a:gd name="T38" fmla="*/ 2147483646 w 478"/>
              <a:gd name="T39" fmla="*/ 2147483646 h 480"/>
              <a:gd name="T40" fmla="*/ 2147483646 w 478"/>
              <a:gd name="T41" fmla="*/ 2147483646 h 480"/>
              <a:gd name="T42" fmla="*/ 2147483646 w 478"/>
              <a:gd name="T43" fmla="*/ 2147483646 h 480"/>
              <a:gd name="T44" fmla="*/ 2147483646 w 478"/>
              <a:gd name="T45" fmla="*/ 2147483646 h 480"/>
              <a:gd name="T46" fmla="*/ 2147483646 w 478"/>
              <a:gd name="T47" fmla="*/ 2147483646 h 480"/>
              <a:gd name="T48" fmla="*/ 2147483646 w 478"/>
              <a:gd name="T49" fmla="*/ 2147483646 h 480"/>
              <a:gd name="T50" fmla="*/ 0 w 478"/>
              <a:gd name="T51" fmla="*/ 2147483646 h 480"/>
              <a:gd name="T52" fmla="*/ 2147483646 w 478"/>
              <a:gd name="T53" fmla="*/ 2147483646 h 480"/>
              <a:gd name="T54" fmla="*/ 2147483646 w 478"/>
              <a:gd name="T55" fmla="*/ 2147483646 h 480"/>
              <a:gd name="T56" fmla="*/ 2147483646 w 478"/>
              <a:gd name="T57" fmla="*/ 2147483646 h 480"/>
              <a:gd name="T58" fmla="*/ 2147483646 w 478"/>
              <a:gd name="T59" fmla="*/ 2147483646 h 480"/>
              <a:gd name="T60" fmla="*/ 2147483646 w 478"/>
              <a:gd name="T61" fmla="*/ 0 h 480"/>
              <a:gd name="T62" fmla="*/ 2147483646 w 478"/>
              <a:gd name="T63" fmla="*/ 2147483646 h 480"/>
              <a:gd name="T64" fmla="*/ 2147483646 w 478"/>
              <a:gd name="T65" fmla="*/ 2147483646 h 480"/>
              <a:gd name="T66" fmla="*/ 2147483646 w 478"/>
              <a:gd name="T67" fmla="*/ 2147483646 h 480"/>
              <a:gd name="T68" fmla="*/ 2147483646 w 478"/>
              <a:gd name="T69" fmla="*/ 2147483646 h 480"/>
              <a:gd name="T70" fmla="*/ 2147483646 w 478"/>
              <a:gd name="T71" fmla="*/ 2147483646 h 480"/>
              <a:gd name="T72" fmla="*/ 2147483646 w 478"/>
              <a:gd name="T73" fmla="*/ 2147483646 h 480"/>
              <a:gd name="T74" fmla="*/ 2147483646 w 478"/>
              <a:gd name="T75" fmla="*/ 2147483646 h 48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478" h="480">
                <a:moveTo>
                  <a:pt x="440" y="138"/>
                </a:moveTo>
                <a:lnTo>
                  <a:pt x="367" y="127"/>
                </a:lnTo>
                <a:lnTo>
                  <a:pt x="320" y="133"/>
                </a:lnTo>
                <a:lnTo>
                  <a:pt x="290" y="168"/>
                </a:lnTo>
                <a:lnTo>
                  <a:pt x="308" y="209"/>
                </a:lnTo>
                <a:lnTo>
                  <a:pt x="331" y="224"/>
                </a:lnTo>
                <a:lnTo>
                  <a:pt x="338" y="262"/>
                </a:lnTo>
                <a:lnTo>
                  <a:pt x="324" y="287"/>
                </a:lnTo>
                <a:lnTo>
                  <a:pt x="335" y="325"/>
                </a:lnTo>
                <a:lnTo>
                  <a:pt x="306" y="325"/>
                </a:lnTo>
                <a:lnTo>
                  <a:pt x="298" y="282"/>
                </a:lnTo>
                <a:lnTo>
                  <a:pt x="280" y="262"/>
                </a:lnTo>
                <a:lnTo>
                  <a:pt x="243" y="262"/>
                </a:lnTo>
                <a:lnTo>
                  <a:pt x="209" y="271"/>
                </a:lnTo>
                <a:lnTo>
                  <a:pt x="197" y="301"/>
                </a:lnTo>
                <a:lnTo>
                  <a:pt x="193" y="341"/>
                </a:lnTo>
                <a:lnTo>
                  <a:pt x="197" y="370"/>
                </a:lnTo>
                <a:lnTo>
                  <a:pt x="197" y="391"/>
                </a:lnTo>
                <a:lnTo>
                  <a:pt x="195" y="416"/>
                </a:lnTo>
                <a:lnTo>
                  <a:pt x="172" y="439"/>
                </a:lnTo>
                <a:lnTo>
                  <a:pt x="156" y="453"/>
                </a:lnTo>
                <a:lnTo>
                  <a:pt x="115" y="480"/>
                </a:lnTo>
                <a:lnTo>
                  <a:pt x="37" y="399"/>
                </a:lnTo>
                <a:lnTo>
                  <a:pt x="14" y="334"/>
                </a:lnTo>
                <a:lnTo>
                  <a:pt x="5" y="229"/>
                </a:lnTo>
                <a:lnTo>
                  <a:pt x="0" y="154"/>
                </a:lnTo>
                <a:lnTo>
                  <a:pt x="9" y="82"/>
                </a:lnTo>
                <a:lnTo>
                  <a:pt x="30" y="42"/>
                </a:lnTo>
                <a:lnTo>
                  <a:pt x="78" y="15"/>
                </a:lnTo>
                <a:lnTo>
                  <a:pt x="121" y="7"/>
                </a:lnTo>
                <a:lnTo>
                  <a:pt x="204" y="0"/>
                </a:lnTo>
                <a:lnTo>
                  <a:pt x="285" y="5"/>
                </a:lnTo>
                <a:lnTo>
                  <a:pt x="387" y="22"/>
                </a:lnTo>
                <a:lnTo>
                  <a:pt x="432" y="44"/>
                </a:lnTo>
                <a:lnTo>
                  <a:pt x="455" y="67"/>
                </a:lnTo>
                <a:lnTo>
                  <a:pt x="478" y="102"/>
                </a:lnTo>
                <a:lnTo>
                  <a:pt x="475" y="120"/>
                </a:lnTo>
                <a:lnTo>
                  <a:pt x="440" y="138"/>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7" name="Freeform 160"/>
          <p:cNvSpPr>
            <a:spLocks/>
          </p:cNvSpPr>
          <p:nvPr/>
        </p:nvSpPr>
        <p:spPr bwMode="auto">
          <a:xfrm>
            <a:off x="1845737" y="3118904"/>
            <a:ext cx="91603" cy="85486"/>
          </a:xfrm>
          <a:custGeom>
            <a:avLst/>
            <a:gdLst>
              <a:gd name="T0" fmla="*/ 2147483646 w 455"/>
              <a:gd name="T1" fmla="*/ 2147483646 h 460"/>
              <a:gd name="T2" fmla="*/ 2147483646 w 455"/>
              <a:gd name="T3" fmla="*/ 2147483646 h 460"/>
              <a:gd name="T4" fmla="*/ 2147483646 w 455"/>
              <a:gd name="T5" fmla="*/ 2147483646 h 460"/>
              <a:gd name="T6" fmla="*/ 2147483646 w 455"/>
              <a:gd name="T7" fmla="*/ 2147483646 h 460"/>
              <a:gd name="T8" fmla="*/ 2147483646 w 455"/>
              <a:gd name="T9" fmla="*/ 2147483646 h 460"/>
              <a:gd name="T10" fmla="*/ 2147483646 w 455"/>
              <a:gd name="T11" fmla="*/ 2147483646 h 460"/>
              <a:gd name="T12" fmla="*/ 2147483646 w 455"/>
              <a:gd name="T13" fmla="*/ 2147483646 h 460"/>
              <a:gd name="T14" fmla="*/ 2147483646 w 455"/>
              <a:gd name="T15" fmla="*/ 2147483646 h 460"/>
              <a:gd name="T16" fmla="*/ 2147483646 w 455"/>
              <a:gd name="T17" fmla="*/ 2147483646 h 460"/>
              <a:gd name="T18" fmla="*/ 2147483646 w 455"/>
              <a:gd name="T19" fmla="*/ 2147483646 h 460"/>
              <a:gd name="T20" fmla="*/ 2147483646 w 455"/>
              <a:gd name="T21" fmla="*/ 2147483646 h 460"/>
              <a:gd name="T22" fmla="*/ 2147483646 w 455"/>
              <a:gd name="T23" fmla="*/ 2147483646 h 460"/>
              <a:gd name="T24" fmla="*/ 2147483646 w 455"/>
              <a:gd name="T25" fmla="*/ 2147483646 h 460"/>
              <a:gd name="T26" fmla="*/ 2147483646 w 455"/>
              <a:gd name="T27" fmla="*/ 2147483646 h 460"/>
              <a:gd name="T28" fmla="*/ 2147483646 w 455"/>
              <a:gd name="T29" fmla="*/ 2147483646 h 460"/>
              <a:gd name="T30" fmla="*/ 2147483646 w 455"/>
              <a:gd name="T31" fmla="*/ 2147483646 h 460"/>
              <a:gd name="T32" fmla="*/ 2147483646 w 455"/>
              <a:gd name="T33" fmla="*/ 2147483646 h 460"/>
              <a:gd name="T34" fmla="*/ 2147483646 w 455"/>
              <a:gd name="T35" fmla="*/ 2147483646 h 460"/>
              <a:gd name="T36" fmla="*/ 2147483646 w 455"/>
              <a:gd name="T37" fmla="*/ 2147483646 h 460"/>
              <a:gd name="T38" fmla="*/ 2147483646 w 455"/>
              <a:gd name="T39" fmla="*/ 2147483646 h 460"/>
              <a:gd name="T40" fmla="*/ 2147483646 w 455"/>
              <a:gd name="T41" fmla="*/ 2147483646 h 460"/>
              <a:gd name="T42" fmla="*/ 2147483646 w 455"/>
              <a:gd name="T43" fmla="*/ 2147483646 h 460"/>
              <a:gd name="T44" fmla="*/ 2147483646 w 455"/>
              <a:gd name="T45" fmla="*/ 2147483646 h 460"/>
              <a:gd name="T46" fmla="*/ 2147483646 w 455"/>
              <a:gd name="T47" fmla="*/ 2147483646 h 460"/>
              <a:gd name="T48" fmla="*/ 2147483646 w 455"/>
              <a:gd name="T49" fmla="*/ 2147483646 h 460"/>
              <a:gd name="T50" fmla="*/ 2147483646 w 455"/>
              <a:gd name="T51" fmla="*/ 2147483646 h 460"/>
              <a:gd name="T52" fmla="*/ 2147483646 w 455"/>
              <a:gd name="T53" fmla="*/ 2147483646 h 460"/>
              <a:gd name="T54" fmla="*/ 2147483646 w 455"/>
              <a:gd name="T55" fmla="*/ 2147483646 h 460"/>
              <a:gd name="T56" fmla="*/ 2147483646 w 455"/>
              <a:gd name="T57" fmla="*/ 2147483646 h 460"/>
              <a:gd name="T58" fmla="*/ 2147483646 w 455"/>
              <a:gd name="T59" fmla="*/ 2147483646 h 460"/>
              <a:gd name="T60" fmla="*/ 2147483646 w 455"/>
              <a:gd name="T61" fmla="*/ 2147483646 h 460"/>
              <a:gd name="T62" fmla="*/ 2147483646 w 455"/>
              <a:gd name="T63" fmla="*/ 2147483646 h 460"/>
              <a:gd name="T64" fmla="*/ 2147483646 w 455"/>
              <a:gd name="T65" fmla="*/ 2147483646 h 460"/>
              <a:gd name="T66" fmla="*/ 2147483646 w 455"/>
              <a:gd name="T67" fmla="*/ 2147483646 h 460"/>
              <a:gd name="T68" fmla="*/ 2147483646 w 455"/>
              <a:gd name="T69" fmla="*/ 2147483646 h 460"/>
              <a:gd name="T70" fmla="*/ 2147483646 w 455"/>
              <a:gd name="T71" fmla="*/ 2147483646 h 460"/>
              <a:gd name="T72" fmla="*/ 2147483646 w 455"/>
              <a:gd name="T73" fmla="*/ 2147483646 h 460"/>
              <a:gd name="T74" fmla="*/ 2147483646 w 455"/>
              <a:gd name="T75" fmla="*/ 2147483646 h 460"/>
              <a:gd name="T76" fmla="*/ 2147483646 w 455"/>
              <a:gd name="T77" fmla="*/ 2147483646 h 460"/>
              <a:gd name="T78" fmla="*/ 2147483646 w 455"/>
              <a:gd name="T79" fmla="*/ 2147483646 h 460"/>
              <a:gd name="T80" fmla="*/ 2147483646 w 455"/>
              <a:gd name="T81" fmla="*/ 2147483646 h 460"/>
              <a:gd name="T82" fmla="*/ 2147483646 w 455"/>
              <a:gd name="T83" fmla="*/ 2147483646 h 460"/>
              <a:gd name="T84" fmla="*/ 2147483646 w 455"/>
              <a:gd name="T85" fmla="*/ 2147483646 h 460"/>
              <a:gd name="T86" fmla="*/ 2147483646 w 455"/>
              <a:gd name="T87" fmla="*/ 2147483646 h 460"/>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455" h="460">
                <a:moveTo>
                  <a:pt x="379" y="28"/>
                </a:moveTo>
                <a:lnTo>
                  <a:pt x="418" y="44"/>
                </a:lnTo>
                <a:lnTo>
                  <a:pt x="436" y="69"/>
                </a:lnTo>
                <a:lnTo>
                  <a:pt x="447" y="85"/>
                </a:lnTo>
                <a:lnTo>
                  <a:pt x="455" y="98"/>
                </a:lnTo>
                <a:lnTo>
                  <a:pt x="444" y="108"/>
                </a:lnTo>
                <a:lnTo>
                  <a:pt x="425" y="120"/>
                </a:lnTo>
                <a:lnTo>
                  <a:pt x="376" y="113"/>
                </a:lnTo>
                <a:lnTo>
                  <a:pt x="339" y="113"/>
                </a:lnTo>
                <a:lnTo>
                  <a:pt x="315" y="100"/>
                </a:lnTo>
                <a:lnTo>
                  <a:pt x="279" y="92"/>
                </a:lnTo>
                <a:lnTo>
                  <a:pt x="247" y="90"/>
                </a:lnTo>
                <a:lnTo>
                  <a:pt x="209" y="92"/>
                </a:lnTo>
                <a:lnTo>
                  <a:pt x="264" y="98"/>
                </a:lnTo>
                <a:lnTo>
                  <a:pt x="291" y="105"/>
                </a:lnTo>
                <a:lnTo>
                  <a:pt x="311" y="113"/>
                </a:lnTo>
                <a:lnTo>
                  <a:pt x="315" y="115"/>
                </a:lnTo>
                <a:lnTo>
                  <a:pt x="302" y="120"/>
                </a:lnTo>
                <a:lnTo>
                  <a:pt x="291" y="131"/>
                </a:lnTo>
                <a:lnTo>
                  <a:pt x="272" y="120"/>
                </a:lnTo>
                <a:lnTo>
                  <a:pt x="256" y="116"/>
                </a:lnTo>
                <a:lnTo>
                  <a:pt x="223" y="110"/>
                </a:lnTo>
                <a:lnTo>
                  <a:pt x="212" y="110"/>
                </a:lnTo>
                <a:lnTo>
                  <a:pt x="246" y="122"/>
                </a:lnTo>
                <a:lnTo>
                  <a:pt x="270" y="133"/>
                </a:lnTo>
                <a:lnTo>
                  <a:pt x="283" y="142"/>
                </a:lnTo>
                <a:lnTo>
                  <a:pt x="272" y="154"/>
                </a:lnTo>
                <a:lnTo>
                  <a:pt x="246" y="145"/>
                </a:lnTo>
                <a:lnTo>
                  <a:pt x="223" y="140"/>
                </a:lnTo>
                <a:lnTo>
                  <a:pt x="264" y="161"/>
                </a:lnTo>
                <a:lnTo>
                  <a:pt x="277" y="170"/>
                </a:lnTo>
                <a:lnTo>
                  <a:pt x="281" y="189"/>
                </a:lnTo>
                <a:lnTo>
                  <a:pt x="289" y="199"/>
                </a:lnTo>
                <a:lnTo>
                  <a:pt x="264" y="187"/>
                </a:lnTo>
                <a:lnTo>
                  <a:pt x="241" y="183"/>
                </a:lnTo>
                <a:lnTo>
                  <a:pt x="205" y="181"/>
                </a:lnTo>
                <a:lnTo>
                  <a:pt x="259" y="197"/>
                </a:lnTo>
                <a:lnTo>
                  <a:pt x="293" y="210"/>
                </a:lnTo>
                <a:lnTo>
                  <a:pt x="315" y="222"/>
                </a:lnTo>
                <a:lnTo>
                  <a:pt x="318" y="239"/>
                </a:lnTo>
                <a:lnTo>
                  <a:pt x="291" y="227"/>
                </a:lnTo>
                <a:lnTo>
                  <a:pt x="254" y="214"/>
                </a:lnTo>
                <a:lnTo>
                  <a:pt x="237" y="214"/>
                </a:lnTo>
                <a:lnTo>
                  <a:pt x="277" y="228"/>
                </a:lnTo>
                <a:lnTo>
                  <a:pt x="309" y="242"/>
                </a:lnTo>
                <a:lnTo>
                  <a:pt x="320" y="253"/>
                </a:lnTo>
                <a:lnTo>
                  <a:pt x="315" y="264"/>
                </a:lnTo>
                <a:lnTo>
                  <a:pt x="291" y="255"/>
                </a:lnTo>
                <a:lnTo>
                  <a:pt x="269" y="246"/>
                </a:lnTo>
                <a:lnTo>
                  <a:pt x="221" y="244"/>
                </a:lnTo>
                <a:lnTo>
                  <a:pt x="202" y="246"/>
                </a:lnTo>
                <a:lnTo>
                  <a:pt x="158" y="249"/>
                </a:lnTo>
                <a:lnTo>
                  <a:pt x="107" y="242"/>
                </a:lnTo>
                <a:lnTo>
                  <a:pt x="137" y="253"/>
                </a:lnTo>
                <a:lnTo>
                  <a:pt x="191" y="262"/>
                </a:lnTo>
                <a:lnTo>
                  <a:pt x="181" y="280"/>
                </a:lnTo>
                <a:lnTo>
                  <a:pt x="141" y="271"/>
                </a:lnTo>
                <a:lnTo>
                  <a:pt x="104" y="258"/>
                </a:lnTo>
                <a:lnTo>
                  <a:pt x="79" y="246"/>
                </a:lnTo>
                <a:lnTo>
                  <a:pt x="126" y="280"/>
                </a:lnTo>
                <a:lnTo>
                  <a:pt x="156" y="290"/>
                </a:lnTo>
                <a:lnTo>
                  <a:pt x="181" y="298"/>
                </a:lnTo>
                <a:lnTo>
                  <a:pt x="178" y="317"/>
                </a:lnTo>
                <a:lnTo>
                  <a:pt x="141" y="310"/>
                </a:lnTo>
                <a:lnTo>
                  <a:pt x="113" y="302"/>
                </a:lnTo>
                <a:lnTo>
                  <a:pt x="131" y="315"/>
                </a:lnTo>
                <a:lnTo>
                  <a:pt x="161" y="323"/>
                </a:lnTo>
                <a:lnTo>
                  <a:pt x="178" y="325"/>
                </a:lnTo>
                <a:lnTo>
                  <a:pt x="178" y="365"/>
                </a:lnTo>
                <a:lnTo>
                  <a:pt x="143" y="351"/>
                </a:lnTo>
                <a:lnTo>
                  <a:pt x="116" y="341"/>
                </a:lnTo>
                <a:lnTo>
                  <a:pt x="145" y="363"/>
                </a:lnTo>
                <a:lnTo>
                  <a:pt x="182" y="379"/>
                </a:lnTo>
                <a:lnTo>
                  <a:pt x="181" y="397"/>
                </a:lnTo>
                <a:lnTo>
                  <a:pt x="159" y="418"/>
                </a:lnTo>
                <a:lnTo>
                  <a:pt x="141" y="395"/>
                </a:lnTo>
                <a:lnTo>
                  <a:pt x="116" y="365"/>
                </a:lnTo>
                <a:lnTo>
                  <a:pt x="100" y="337"/>
                </a:lnTo>
                <a:lnTo>
                  <a:pt x="116" y="381"/>
                </a:lnTo>
                <a:lnTo>
                  <a:pt x="131" y="397"/>
                </a:lnTo>
                <a:lnTo>
                  <a:pt x="156" y="429"/>
                </a:lnTo>
                <a:lnTo>
                  <a:pt x="137" y="449"/>
                </a:lnTo>
                <a:lnTo>
                  <a:pt x="109" y="424"/>
                </a:lnTo>
                <a:lnTo>
                  <a:pt x="88" y="395"/>
                </a:lnTo>
                <a:lnTo>
                  <a:pt x="69" y="363"/>
                </a:lnTo>
                <a:lnTo>
                  <a:pt x="86" y="409"/>
                </a:lnTo>
                <a:lnTo>
                  <a:pt x="104" y="430"/>
                </a:lnTo>
                <a:lnTo>
                  <a:pt x="121" y="452"/>
                </a:lnTo>
                <a:lnTo>
                  <a:pt x="107" y="460"/>
                </a:lnTo>
                <a:lnTo>
                  <a:pt x="69" y="429"/>
                </a:lnTo>
                <a:lnTo>
                  <a:pt x="34" y="379"/>
                </a:lnTo>
                <a:lnTo>
                  <a:pt x="21" y="341"/>
                </a:lnTo>
                <a:lnTo>
                  <a:pt x="12" y="275"/>
                </a:lnTo>
                <a:lnTo>
                  <a:pt x="7" y="227"/>
                </a:lnTo>
                <a:lnTo>
                  <a:pt x="0" y="170"/>
                </a:lnTo>
                <a:lnTo>
                  <a:pt x="39" y="181"/>
                </a:lnTo>
                <a:lnTo>
                  <a:pt x="81" y="197"/>
                </a:lnTo>
                <a:lnTo>
                  <a:pt x="145" y="212"/>
                </a:lnTo>
                <a:lnTo>
                  <a:pt x="88" y="189"/>
                </a:lnTo>
                <a:lnTo>
                  <a:pt x="67" y="177"/>
                </a:lnTo>
                <a:lnTo>
                  <a:pt x="26" y="162"/>
                </a:lnTo>
                <a:lnTo>
                  <a:pt x="5" y="158"/>
                </a:lnTo>
                <a:lnTo>
                  <a:pt x="5" y="129"/>
                </a:lnTo>
                <a:lnTo>
                  <a:pt x="10" y="92"/>
                </a:lnTo>
                <a:lnTo>
                  <a:pt x="61" y="100"/>
                </a:lnTo>
                <a:lnTo>
                  <a:pt x="94" y="110"/>
                </a:lnTo>
                <a:lnTo>
                  <a:pt x="135" y="129"/>
                </a:lnTo>
                <a:lnTo>
                  <a:pt x="97" y="100"/>
                </a:lnTo>
                <a:lnTo>
                  <a:pt x="54" y="88"/>
                </a:lnTo>
                <a:lnTo>
                  <a:pt x="12" y="77"/>
                </a:lnTo>
                <a:lnTo>
                  <a:pt x="21" y="49"/>
                </a:lnTo>
                <a:lnTo>
                  <a:pt x="34" y="31"/>
                </a:lnTo>
                <a:lnTo>
                  <a:pt x="73" y="19"/>
                </a:lnTo>
                <a:lnTo>
                  <a:pt x="111" y="28"/>
                </a:lnTo>
                <a:lnTo>
                  <a:pt x="145" y="53"/>
                </a:lnTo>
                <a:lnTo>
                  <a:pt x="121" y="25"/>
                </a:lnTo>
                <a:lnTo>
                  <a:pt x="86" y="10"/>
                </a:lnTo>
                <a:lnTo>
                  <a:pt x="126" y="4"/>
                </a:lnTo>
                <a:lnTo>
                  <a:pt x="156" y="2"/>
                </a:lnTo>
                <a:lnTo>
                  <a:pt x="198" y="8"/>
                </a:lnTo>
                <a:lnTo>
                  <a:pt x="226" y="27"/>
                </a:lnTo>
                <a:lnTo>
                  <a:pt x="272" y="35"/>
                </a:lnTo>
                <a:lnTo>
                  <a:pt x="241" y="23"/>
                </a:lnTo>
                <a:lnTo>
                  <a:pt x="218" y="8"/>
                </a:lnTo>
                <a:lnTo>
                  <a:pt x="205" y="0"/>
                </a:lnTo>
                <a:lnTo>
                  <a:pt x="249" y="2"/>
                </a:lnTo>
                <a:lnTo>
                  <a:pt x="289" y="4"/>
                </a:lnTo>
                <a:lnTo>
                  <a:pt x="313" y="15"/>
                </a:lnTo>
                <a:lnTo>
                  <a:pt x="337" y="37"/>
                </a:lnTo>
                <a:lnTo>
                  <a:pt x="356" y="67"/>
                </a:lnTo>
                <a:lnTo>
                  <a:pt x="346" y="33"/>
                </a:lnTo>
                <a:lnTo>
                  <a:pt x="322" y="10"/>
                </a:lnTo>
                <a:lnTo>
                  <a:pt x="379" y="28"/>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68" name="Group 161"/>
          <p:cNvGrpSpPr>
            <a:grpSpLocks/>
          </p:cNvGrpSpPr>
          <p:nvPr/>
        </p:nvGrpSpPr>
        <p:grpSpPr bwMode="auto">
          <a:xfrm>
            <a:off x="2031963" y="3335406"/>
            <a:ext cx="99655" cy="56681"/>
            <a:chOff x="377" y="1962"/>
            <a:chExt cx="99" cy="61"/>
          </a:xfrm>
        </p:grpSpPr>
        <p:sp>
          <p:nvSpPr>
            <p:cNvPr id="169" name="Freeform 162"/>
            <p:cNvSpPr>
              <a:spLocks/>
            </p:cNvSpPr>
            <p:nvPr/>
          </p:nvSpPr>
          <p:spPr bwMode="auto">
            <a:xfrm>
              <a:off x="377" y="1962"/>
              <a:ext cx="99" cy="61"/>
            </a:xfrm>
            <a:custGeom>
              <a:avLst/>
              <a:gdLst>
                <a:gd name="T0" fmla="*/ 0 w 497"/>
                <a:gd name="T1" fmla="*/ 0 h 305"/>
                <a:gd name="T2" fmla="*/ 0 w 497"/>
                <a:gd name="T3" fmla="*/ 0 h 305"/>
                <a:gd name="T4" fmla="*/ 0 w 497"/>
                <a:gd name="T5" fmla="*/ 0 h 305"/>
                <a:gd name="T6" fmla="*/ 0 w 497"/>
                <a:gd name="T7" fmla="*/ 0 h 305"/>
                <a:gd name="T8" fmla="*/ 0 w 497"/>
                <a:gd name="T9" fmla="*/ 0 h 305"/>
                <a:gd name="T10" fmla="*/ 0 w 497"/>
                <a:gd name="T11" fmla="*/ 0 h 305"/>
                <a:gd name="T12" fmla="*/ 0 w 497"/>
                <a:gd name="T13" fmla="*/ 0 h 305"/>
                <a:gd name="T14" fmla="*/ 0 w 497"/>
                <a:gd name="T15" fmla="*/ 0 h 305"/>
                <a:gd name="T16" fmla="*/ 0 w 497"/>
                <a:gd name="T17" fmla="*/ 0 h 305"/>
                <a:gd name="T18" fmla="*/ 0 w 497"/>
                <a:gd name="T19" fmla="*/ 0 h 305"/>
                <a:gd name="T20" fmla="*/ 0 w 497"/>
                <a:gd name="T21" fmla="*/ 0 h 305"/>
                <a:gd name="T22" fmla="*/ 0 w 497"/>
                <a:gd name="T23" fmla="*/ 0 h 305"/>
                <a:gd name="T24" fmla="*/ 0 w 497"/>
                <a:gd name="T25" fmla="*/ 0 h 305"/>
                <a:gd name="T26" fmla="*/ 0 w 497"/>
                <a:gd name="T27" fmla="*/ 0 h 305"/>
                <a:gd name="T28" fmla="*/ 0 w 497"/>
                <a:gd name="T29" fmla="*/ 0 h 305"/>
                <a:gd name="T30" fmla="*/ 0 w 497"/>
                <a:gd name="T31" fmla="*/ 0 h 305"/>
                <a:gd name="T32" fmla="*/ 0 w 497"/>
                <a:gd name="T33" fmla="*/ 0 h 305"/>
                <a:gd name="T34" fmla="*/ 0 w 497"/>
                <a:gd name="T35" fmla="*/ 0 h 305"/>
                <a:gd name="T36" fmla="*/ 0 w 497"/>
                <a:gd name="T37" fmla="*/ 0 h 305"/>
                <a:gd name="T38" fmla="*/ 0 w 497"/>
                <a:gd name="T39" fmla="*/ 0 h 305"/>
                <a:gd name="T40" fmla="*/ 0 w 497"/>
                <a:gd name="T41" fmla="*/ 0 h 305"/>
                <a:gd name="T42" fmla="*/ 0 w 497"/>
                <a:gd name="T43" fmla="*/ 0 h 305"/>
                <a:gd name="T44" fmla="*/ 0 w 497"/>
                <a:gd name="T45" fmla="*/ 0 h 305"/>
                <a:gd name="T46" fmla="*/ 0 w 497"/>
                <a:gd name="T47" fmla="*/ 0 h 305"/>
                <a:gd name="T48" fmla="*/ 0 w 497"/>
                <a:gd name="T49" fmla="*/ 0 h 305"/>
                <a:gd name="T50" fmla="*/ 0 w 497"/>
                <a:gd name="T51" fmla="*/ 0 h 305"/>
                <a:gd name="T52" fmla="*/ 0 w 497"/>
                <a:gd name="T53" fmla="*/ 0 h 305"/>
                <a:gd name="T54" fmla="*/ 0 w 497"/>
                <a:gd name="T55" fmla="*/ 0 h 305"/>
                <a:gd name="T56" fmla="*/ 0 w 497"/>
                <a:gd name="T57" fmla="*/ 0 h 305"/>
                <a:gd name="T58" fmla="*/ 0 w 497"/>
                <a:gd name="T59" fmla="*/ 0 h 305"/>
                <a:gd name="T60" fmla="*/ 0 w 497"/>
                <a:gd name="T61" fmla="*/ 0 h 305"/>
                <a:gd name="T62" fmla="*/ 0 w 497"/>
                <a:gd name="T63" fmla="*/ 0 h 305"/>
                <a:gd name="T64" fmla="*/ 0 w 497"/>
                <a:gd name="T65" fmla="*/ 0 h 305"/>
                <a:gd name="T66" fmla="*/ 0 w 497"/>
                <a:gd name="T67" fmla="*/ 0 h 305"/>
                <a:gd name="T68" fmla="*/ 0 w 497"/>
                <a:gd name="T69" fmla="*/ 0 h 305"/>
                <a:gd name="T70" fmla="*/ 0 w 497"/>
                <a:gd name="T71" fmla="*/ 0 h 305"/>
                <a:gd name="T72" fmla="*/ 0 w 497"/>
                <a:gd name="T73" fmla="*/ 0 h 305"/>
                <a:gd name="T74" fmla="*/ 0 w 497"/>
                <a:gd name="T75" fmla="*/ 0 h 305"/>
                <a:gd name="T76" fmla="*/ 0 w 497"/>
                <a:gd name="T77" fmla="*/ 0 h 305"/>
                <a:gd name="T78" fmla="*/ 0 w 497"/>
                <a:gd name="T79" fmla="*/ 0 h 305"/>
                <a:gd name="T80" fmla="*/ 0 w 497"/>
                <a:gd name="T81" fmla="*/ 0 h 305"/>
                <a:gd name="T82" fmla="*/ 0 w 497"/>
                <a:gd name="T83" fmla="*/ 0 h 305"/>
                <a:gd name="T84" fmla="*/ 0 w 497"/>
                <a:gd name="T85" fmla="*/ 0 h 305"/>
                <a:gd name="T86" fmla="*/ 0 w 497"/>
                <a:gd name="T87" fmla="*/ 0 h 305"/>
                <a:gd name="T88" fmla="*/ 0 w 497"/>
                <a:gd name="T89" fmla="*/ 0 h 305"/>
                <a:gd name="T90" fmla="*/ 0 w 497"/>
                <a:gd name="T91" fmla="*/ 0 h 305"/>
                <a:gd name="T92" fmla="*/ 0 w 497"/>
                <a:gd name="T93" fmla="*/ 0 h 305"/>
                <a:gd name="T94" fmla="*/ 0 w 497"/>
                <a:gd name="T95" fmla="*/ 0 h 305"/>
                <a:gd name="T96" fmla="*/ 0 w 497"/>
                <a:gd name="T97" fmla="*/ 0 h 305"/>
                <a:gd name="T98" fmla="*/ 0 w 497"/>
                <a:gd name="T99" fmla="*/ 0 h 30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497" h="305">
                  <a:moveTo>
                    <a:pt x="0" y="182"/>
                  </a:moveTo>
                  <a:lnTo>
                    <a:pt x="61" y="168"/>
                  </a:lnTo>
                  <a:lnTo>
                    <a:pt x="84" y="163"/>
                  </a:lnTo>
                  <a:lnTo>
                    <a:pt x="98" y="150"/>
                  </a:lnTo>
                  <a:lnTo>
                    <a:pt x="112" y="130"/>
                  </a:lnTo>
                  <a:lnTo>
                    <a:pt x="142" y="102"/>
                  </a:lnTo>
                  <a:lnTo>
                    <a:pt x="197" y="56"/>
                  </a:lnTo>
                  <a:lnTo>
                    <a:pt x="206" y="41"/>
                  </a:lnTo>
                  <a:lnTo>
                    <a:pt x="221" y="28"/>
                  </a:lnTo>
                  <a:lnTo>
                    <a:pt x="249" y="23"/>
                  </a:lnTo>
                  <a:lnTo>
                    <a:pt x="336" y="8"/>
                  </a:lnTo>
                  <a:lnTo>
                    <a:pt x="360" y="0"/>
                  </a:lnTo>
                  <a:lnTo>
                    <a:pt x="382" y="11"/>
                  </a:lnTo>
                  <a:lnTo>
                    <a:pt x="393" y="20"/>
                  </a:lnTo>
                  <a:lnTo>
                    <a:pt x="443" y="37"/>
                  </a:lnTo>
                  <a:lnTo>
                    <a:pt x="464" y="45"/>
                  </a:lnTo>
                  <a:lnTo>
                    <a:pt x="471" y="53"/>
                  </a:lnTo>
                  <a:lnTo>
                    <a:pt x="481" y="81"/>
                  </a:lnTo>
                  <a:lnTo>
                    <a:pt x="486" y="96"/>
                  </a:lnTo>
                  <a:lnTo>
                    <a:pt x="490" y="104"/>
                  </a:lnTo>
                  <a:lnTo>
                    <a:pt x="497" y="119"/>
                  </a:lnTo>
                  <a:lnTo>
                    <a:pt x="497" y="129"/>
                  </a:lnTo>
                  <a:lnTo>
                    <a:pt x="487" y="137"/>
                  </a:lnTo>
                  <a:lnTo>
                    <a:pt x="466" y="136"/>
                  </a:lnTo>
                  <a:lnTo>
                    <a:pt x="434" y="121"/>
                  </a:lnTo>
                  <a:lnTo>
                    <a:pt x="393" y="113"/>
                  </a:lnTo>
                  <a:lnTo>
                    <a:pt x="356" y="119"/>
                  </a:lnTo>
                  <a:lnTo>
                    <a:pt x="395" y="128"/>
                  </a:lnTo>
                  <a:lnTo>
                    <a:pt x="422" y="137"/>
                  </a:lnTo>
                  <a:lnTo>
                    <a:pt x="454" y="150"/>
                  </a:lnTo>
                  <a:lnTo>
                    <a:pt x="462" y="161"/>
                  </a:lnTo>
                  <a:lnTo>
                    <a:pt x="462" y="173"/>
                  </a:lnTo>
                  <a:lnTo>
                    <a:pt x="449" y="182"/>
                  </a:lnTo>
                  <a:lnTo>
                    <a:pt x="435" y="179"/>
                  </a:lnTo>
                  <a:lnTo>
                    <a:pt x="391" y="168"/>
                  </a:lnTo>
                  <a:lnTo>
                    <a:pt x="351" y="166"/>
                  </a:lnTo>
                  <a:lnTo>
                    <a:pt x="320" y="168"/>
                  </a:lnTo>
                  <a:lnTo>
                    <a:pt x="303" y="179"/>
                  </a:lnTo>
                  <a:lnTo>
                    <a:pt x="282" y="200"/>
                  </a:lnTo>
                  <a:lnTo>
                    <a:pt x="267" y="223"/>
                  </a:lnTo>
                  <a:lnTo>
                    <a:pt x="251" y="246"/>
                  </a:lnTo>
                  <a:lnTo>
                    <a:pt x="237" y="263"/>
                  </a:lnTo>
                  <a:lnTo>
                    <a:pt x="213" y="280"/>
                  </a:lnTo>
                  <a:lnTo>
                    <a:pt x="190" y="284"/>
                  </a:lnTo>
                  <a:lnTo>
                    <a:pt x="165" y="287"/>
                  </a:lnTo>
                  <a:lnTo>
                    <a:pt x="135" y="284"/>
                  </a:lnTo>
                  <a:lnTo>
                    <a:pt x="112" y="282"/>
                  </a:lnTo>
                  <a:lnTo>
                    <a:pt x="82" y="290"/>
                  </a:lnTo>
                  <a:lnTo>
                    <a:pt x="0" y="305"/>
                  </a:lnTo>
                  <a:lnTo>
                    <a:pt x="0" y="182"/>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0" name="Freeform 163"/>
            <p:cNvSpPr>
              <a:spLocks/>
            </p:cNvSpPr>
            <p:nvPr/>
          </p:nvSpPr>
          <p:spPr bwMode="auto">
            <a:xfrm>
              <a:off x="439" y="1973"/>
              <a:ext cx="32" cy="7"/>
            </a:xfrm>
            <a:custGeom>
              <a:avLst/>
              <a:gdLst>
                <a:gd name="T0" fmla="*/ 0 w 159"/>
                <a:gd name="T1" fmla="*/ 0 h 37"/>
                <a:gd name="T2" fmla="*/ 0 w 159"/>
                <a:gd name="T3" fmla="*/ 0 h 37"/>
                <a:gd name="T4" fmla="*/ 0 w 159"/>
                <a:gd name="T5" fmla="*/ 0 h 37"/>
                <a:gd name="T6" fmla="*/ 0 w 159"/>
                <a:gd name="T7" fmla="*/ 0 h 37"/>
                <a:gd name="T8" fmla="*/ 0 w 159"/>
                <a:gd name="T9" fmla="*/ 0 h 37"/>
                <a:gd name="T10" fmla="*/ 0 w 159"/>
                <a:gd name="T11" fmla="*/ 0 h 37"/>
                <a:gd name="T12" fmla="*/ 0 w 159"/>
                <a:gd name="T13" fmla="*/ 0 h 37"/>
                <a:gd name="T14" fmla="*/ 0 w 159"/>
                <a:gd name="T15" fmla="*/ 0 h 37"/>
                <a:gd name="T16" fmla="*/ 0 w 159"/>
                <a:gd name="T17" fmla="*/ 0 h 37"/>
                <a:gd name="T18" fmla="*/ 0 w 159"/>
                <a:gd name="T19" fmla="*/ 0 h 37"/>
                <a:gd name="T20" fmla="*/ 0 w 159"/>
                <a:gd name="T21" fmla="*/ 0 h 37"/>
                <a:gd name="T22" fmla="*/ 0 w 159"/>
                <a:gd name="T23" fmla="*/ 0 h 37"/>
                <a:gd name="T24" fmla="*/ 0 w 159"/>
                <a:gd name="T25" fmla="*/ 0 h 37"/>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59" h="37">
                  <a:moveTo>
                    <a:pt x="159" y="37"/>
                  </a:moveTo>
                  <a:lnTo>
                    <a:pt x="132" y="24"/>
                  </a:lnTo>
                  <a:lnTo>
                    <a:pt x="110" y="21"/>
                  </a:lnTo>
                  <a:lnTo>
                    <a:pt x="84" y="13"/>
                  </a:lnTo>
                  <a:lnTo>
                    <a:pt x="61" y="7"/>
                  </a:lnTo>
                  <a:lnTo>
                    <a:pt x="25" y="10"/>
                  </a:lnTo>
                  <a:lnTo>
                    <a:pt x="0" y="13"/>
                  </a:lnTo>
                  <a:lnTo>
                    <a:pt x="38" y="5"/>
                  </a:lnTo>
                  <a:lnTo>
                    <a:pt x="69" y="0"/>
                  </a:lnTo>
                  <a:lnTo>
                    <a:pt x="110" y="17"/>
                  </a:lnTo>
                  <a:lnTo>
                    <a:pt x="132" y="19"/>
                  </a:lnTo>
                  <a:lnTo>
                    <a:pt x="157" y="31"/>
                  </a:lnTo>
                  <a:lnTo>
                    <a:pt x="159" y="3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1" name="Freeform 164"/>
            <p:cNvSpPr>
              <a:spLocks/>
            </p:cNvSpPr>
            <p:nvPr/>
          </p:nvSpPr>
          <p:spPr bwMode="auto">
            <a:xfrm>
              <a:off x="427" y="1965"/>
              <a:ext cx="27" cy="5"/>
            </a:xfrm>
            <a:custGeom>
              <a:avLst/>
              <a:gdLst>
                <a:gd name="T0" fmla="*/ 0 w 133"/>
                <a:gd name="T1" fmla="*/ 0 h 25"/>
                <a:gd name="T2" fmla="*/ 0 w 133"/>
                <a:gd name="T3" fmla="*/ 0 h 25"/>
                <a:gd name="T4" fmla="*/ 0 w 133"/>
                <a:gd name="T5" fmla="*/ 0 h 25"/>
                <a:gd name="T6" fmla="*/ 0 w 133"/>
                <a:gd name="T7" fmla="*/ 0 h 25"/>
                <a:gd name="T8" fmla="*/ 0 w 133"/>
                <a:gd name="T9" fmla="*/ 0 h 25"/>
                <a:gd name="T10" fmla="*/ 0 w 133"/>
                <a:gd name="T11" fmla="*/ 0 h 25"/>
                <a:gd name="T12" fmla="*/ 0 w 133"/>
                <a:gd name="T13" fmla="*/ 0 h 25"/>
                <a:gd name="T14" fmla="*/ 0 w 133"/>
                <a:gd name="T15" fmla="*/ 0 h 25"/>
                <a:gd name="T16" fmla="*/ 0 w 133"/>
                <a:gd name="T17" fmla="*/ 0 h 25"/>
                <a:gd name="T18" fmla="*/ 0 w 133"/>
                <a:gd name="T19" fmla="*/ 0 h 25"/>
                <a:gd name="T20" fmla="*/ 0 w 133"/>
                <a:gd name="T21" fmla="*/ 0 h 25"/>
                <a:gd name="T22" fmla="*/ 0 w 133"/>
                <a:gd name="T23" fmla="*/ 0 h 2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3" h="25">
                  <a:moveTo>
                    <a:pt x="97" y="0"/>
                  </a:moveTo>
                  <a:lnTo>
                    <a:pt x="113" y="1"/>
                  </a:lnTo>
                  <a:lnTo>
                    <a:pt x="133" y="8"/>
                  </a:lnTo>
                  <a:lnTo>
                    <a:pt x="120" y="7"/>
                  </a:lnTo>
                  <a:lnTo>
                    <a:pt x="99" y="3"/>
                  </a:lnTo>
                  <a:lnTo>
                    <a:pt x="56" y="15"/>
                  </a:lnTo>
                  <a:lnTo>
                    <a:pt x="32" y="21"/>
                  </a:lnTo>
                  <a:lnTo>
                    <a:pt x="4" y="25"/>
                  </a:lnTo>
                  <a:lnTo>
                    <a:pt x="0" y="21"/>
                  </a:lnTo>
                  <a:lnTo>
                    <a:pt x="29" y="16"/>
                  </a:lnTo>
                  <a:lnTo>
                    <a:pt x="64" y="8"/>
                  </a:lnTo>
                  <a:lnTo>
                    <a:pt x="9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2" name="Freeform 165"/>
            <p:cNvSpPr>
              <a:spLocks/>
            </p:cNvSpPr>
            <p:nvPr/>
          </p:nvSpPr>
          <p:spPr bwMode="auto">
            <a:xfrm>
              <a:off x="438" y="1984"/>
              <a:ext cx="11" cy="2"/>
            </a:xfrm>
            <a:custGeom>
              <a:avLst/>
              <a:gdLst>
                <a:gd name="T0" fmla="*/ 0 w 53"/>
                <a:gd name="T1" fmla="*/ 0 h 12"/>
                <a:gd name="T2" fmla="*/ 0 w 53"/>
                <a:gd name="T3" fmla="*/ 0 h 12"/>
                <a:gd name="T4" fmla="*/ 0 w 53"/>
                <a:gd name="T5" fmla="*/ 0 h 12"/>
                <a:gd name="T6" fmla="*/ 0 w 53"/>
                <a:gd name="T7" fmla="*/ 0 h 12"/>
                <a:gd name="T8" fmla="*/ 0 w 53"/>
                <a:gd name="T9" fmla="*/ 0 h 12"/>
                <a:gd name="T10" fmla="*/ 0 w 53"/>
                <a:gd name="T11" fmla="*/ 0 h 12"/>
                <a:gd name="T12" fmla="*/ 0 w 53"/>
                <a:gd name="T13" fmla="*/ 0 h 1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53" h="12">
                  <a:moveTo>
                    <a:pt x="53" y="5"/>
                  </a:moveTo>
                  <a:lnTo>
                    <a:pt x="46" y="12"/>
                  </a:lnTo>
                  <a:lnTo>
                    <a:pt x="27" y="9"/>
                  </a:lnTo>
                  <a:lnTo>
                    <a:pt x="5" y="9"/>
                  </a:lnTo>
                  <a:lnTo>
                    <a:pt x="0" y="0"/>
                  </a:lnTo>
                  <a:lnTo>
                    <a:pt x="14" y="3"/>
                  </a:lnTo>
                  <a:lnTo>
                    <a:pt x="53"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3" name="Freeform 166"/>
            <p:cNvSpPr>
              <a:spLocks/>
            </p:cNvSpPr>
            <p:nvPr/>
          </p:nvSpPr>
          <p:spPr bwMode="auto">
            <a:xfrm>
              <a:off x="469" y="1982"/>
              <a:ext cx="3" cy="4"/>
            </a:xfrm>
            <a:custGeom>
              <a:avLst/>
              <a:gdLst>
                <a:gd name="T0" fmla="*/ 0 w 11"/>
                <a:gd name="T1" fmla="*/ 0 h 23"/>
                <a:gd name="T2" fmla="*/ 0 w 11"/>
                <a:gd name="T3" fmla="*/ 0 h 23"/>
                <a:gd name="T4" fmla="*/ 0 w 11"/>
                <a:gd name="T5" fmla="*/ 0 h 23"/>
                <a:gd name="T6" fmla="*/ 0 w 11"/>
                <a:gd name="T7" fmla="*/ 0 h 23"/>
                <a:gd name="T8" fmla="*/ 0 w 11"/>
                <a:gd name="T9" fmla="*/ 0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 h="23">
                  <a:moveTo>
                    <a:pt x="0" y="0"/>
                  </a:moveTo>
                  <a:lnTo>
                    <a:pt x="0" y="6"/>
                  </a:lnTo>
                  <a:lnTo>
                    <a:pt x="2" y="18"/>
                  </a:lnTo>
                  <a:lnTo>
                    <a:pt x="11" y="2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4" name="Freeform 167"/>
            <p:cNvSpPr>
              <a:spLocks/>
            </p:cNvSpPr>
            <p:nvPr/>
          </p:nvSpPr>
          <p:spPr bwMode="auto">
            <a:xfrm>
              <a:off x="462" y="1993"/>
              <a:ext cx="2" cy="2"/>
            </a:xfrm>
            <a:custGeom>
              <a:avLst/>
              <a:gdLst>
                <a:gd name="T0" fmla="*/ 0 w 11"/>
                <a:gd name="T1" fmla="*/ 0 h 13"/>
                <a:gd name="T2" fmla="*/ 0 w 11"/>
                <a:gd name="T3" fmla="*/ 0 h 13"/>
                <a:gd name="T4" fmla="*/ 0 w 11"/>
                <a:gd name="T5" fmla="*/ 0 h 13"/>
                <a:gd name="T6" fmla="*/ 0 w 11"/>
                <a:gd name="T7" fmla="*/ 0 h 1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 h="13">
                  <a:moveTo>
                    <a:pt x="0" y="0"/>
                  </a:moveTo>
                  <a:lnTo>
                    <a:pt x="3" y="7"/>
                  </a:lnTo>
                  <a:lnTo>
                    <a:pt x="11" y="1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5" name="Freeform 168"/>
            <p:cNvSpPr>
              <a:spLocks/>
            </p:cNvSpPr>
            <p:nvPr/>
          </p:nvSpPr>
          <p:spPr bwMode="auto">
            <a:xfrm>
              <a:off x="423" y="1977"/>
              <a:ext cx="5" cy="6"/>
            </a:xfrm>
            <a:custGeom>
              <a:avLst/>
              <a:gdLst>
                <a:gd name="T0" fmla="*/ 0 w 25"/>
                <a:gd name="T1" fmla="*/ 0 h 29"/>
                <a:gd name="T2" fmla="*/ 0 w 25"/>
                <a:gd name="T3" fmla="*/ 0 h 29"/>
                <a:gd name="T4" fmla="*/ 0 w 25"/>
                <a:gd name="T5" fmla="*/ 0 h 29"/>
                <a:gd name="T6" fmla="*/ 0 w 25"/>
                <a:gd name="T7" fmla="*/ 0 h 29"/>
                <a:gd name="T8" fmla="*/ 0 w 25"/>
                <a:gd name="T9" fmla="*/ 0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29">
                  <a:moveTo>
                    <a:pt x="25" y="0"/>
                  </a:moveTo>
                  <a:lnTo>
                    <a:pt x="21" y="9"/>
                  </a:lnTo>
                  <a:lnTo>
                    <a:pt x="21" y="17"/>
                  </a:lnTo>
                  <a:lnTo>
                    <a:pt x="0" y="29"/>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6" name="Freeform 169"/>
            <p:cNvSpPr>
              <a:spLocks/>
            </p:cNvSpPr>
            <p:nvPr/>
          </p:nvSpPr>
          <p:spPr bwMode="auto">
            <a:xfrm>
              <a:off x="403" y="1977"/>
              <a:ext cx="16" cy="16"/>
            </a:xfrm>
            <a:custGeom>
              <a:avLst/>
              <a:gdLst>
                <a:gd name="T0" fmla="*/ 0 w 80"/>
                <a:gd name="T1" fmla="*/ 0 h 81"/>
                <a:gd name="T2" fmla="*/ 0 w 80"/>
                <a:gd name="T3" fmla="*/ 0 h 81"/>
                <a:gd name="T4" fmla="*/ 0 w 80"/>
                <a:gd name="T5" fmla="*/ 0 h 81"/>
                <a:gd name="T6" fmla="*/ 0 w 80"/>
                <a:gd name="T7" fmla="*/ 0 h 81"/>
                <a:gd name="T8" fmla="*/ 0 w 80"/>
                <a:gd name="T9" fmla="*/ 0 h 81"/>
                <a:gd name="T10" fmla="*/ 0 w 80"/>
                <a:gd name="T11" fmla="*/ 0 h 8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80" h="81">
                  <a:moveTo>
                    <a:pt x="80" y="0"/>
                  </a:moveTo>
                  <a:lnTo>
                    <a:pt x="66" y="26"/>
                  </a:lnTo>
                  <a:lnTo>
                    <a:pt x="50" y="46"/>
                  </a:lnTo>
                  <a:lnTo>
                    <a:pt x="0" y="81"/>
                  </a:lnTo>
                  <a:lnTo>
                    <a:pt x="47" y="38"/>
                  </a:lnTo>
                  <a:lnTo>
                    <a:pt x="8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7" name="Freeform 170"/>
            <p:cNvSpPr>
              <a:spLocks/>
            </p:cNvSpPr>
            <p:nvPr/>
          </p:nvSpPr>
          <p:spPr bwMode="auto">
            <a:xfrm>
              <a:off x="395" y="2000"/>
              <a:ext cx="4" cy="12"/>
            </a:xfrm>
            <a:custGeom>
              <a:avLst/>
              <a:gdLst>
                <a:gd name="T0" fmla="*/ 0 w 18"/>
                <a:gd name="T1" fmla="*/ 0 h 58"/>
                <a:gd name="T2" fmla="*/ 0 w 18"/>
                <a:gd name="T3" fmla="*/ 0 h 58"/>
                <a:gd name="T4" fmla="*/ 0 w 18"/>
                <a:gd name="T5" fmla="*/ 0 h 58"/>
                <a:gd name="T6" fmla="*/ 0 w 18"/>
                <a:gd name="T7" fmla="*/ 0 h 58"/>
                <a:gd name="T8" fmla="*/ 0 w 18"/>
                <a:gd name="T9" fmla="*/ 0 h 58"/>
                <a:gd name="T10" fmla="*/ 0 w 18"/>
                <a:gd name="T11" fmla="*/ 0 h 58"/>
                <a:gd name="T12" fmla="*/ 0 w 18"/>
                <a:gd name="T13" fmla="*/ 0 h 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8" h="58">
                  <a:moveTo>
                    <a:pt x="0" y="0"/>
                  </a:moveTo>
                  <a:lnTo>
                    <a:pt x="11" y="20"/>
                  </a:lnTo>
                  <a:lnTo>
                    <a:pt x="15" y="41"/>
                  </a:lnTo>
                  <a:lnTo>
                    <a:pt x="16" y="58"/>
                  </a:lnTo>
                  <a:lnTo>
                    <a:pt x="18" y="33"/>
                  </a:lnTo>
                  <a:lnTo>
                    <a:pt x="16" y="1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8" name="Freeform 171"/>
            <p:cNvSpPr>
              <a:spLocks/>
            </p:cNvSpPr>
            <p:nvPr/>
          </p:nvSpPr>
          <p:spPr bwMode="auto">
            <a:xfrm>
              <a:off x="432" y="1988"/>
              <a:ext cx="2" cy="4"/>
            </a:xfrm>
            <a:custGeom>
              <a:avLst/>
              <a:gdLst>
                <a:gd name="T0" fmla="*/ 0 w 9"/>
                <a:gd name="T1" fmla="*/ 0 h 21"/>
                <a:gd name="T2" fmla="*/ 0 w 9"/>
                <a:gd name="T3" fmla="*/ 0 h 21"/>
                <a:gd name="T4" fmla="*/ 0 w 9"/>
                <a:gd name="T5" fmla="*/ 0 h 21"/>
                <a:gd name="T6" fmla="*/ 0 w 9"/>
                <a:gd name="T7" fmla="*/ 0 h 2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21">
                  <a:moveTo>
                    <a:pt x="2" y="0"/>
                  </a:moveTo>
                  <a:lnTo>
                    <a:pt x="0" y="9"/>
                  </a:lnTo>
                  <a:lnTo>
                    <a:pt x="9" y="21"/>
                  </a:lnTo>
                  <a:lnTo>
                    <a:pt x="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79" name="Group 172"/>
          <p:cNvGrpSpPr>
            <a:grpSpLocks/>
          </p:cNvGrpSpPr>
          <p:nvPr/>
        </p:nvGrpSpPr>
        <p:grpSpPr bwMode="auto">
          <a:xfrm>
            <a:off x="1815539" y="3210895"/>
            <a:ext cx="230517" cy="243448"/>
            <a:chOff x="162" y="1828"/>
            <a:chExt cx="229" cy="262"/>
          </a:xfrm>
        </p:grpSpPr>
        <p:sp>
          <p:nvSpPr>
            <p:cNvPr id="180" name="Freeform 173"/>
            <p:cNvSpPr>
              <a:spLocks/>
            </p:cNvSpPr>
            <p:nvPr/>
          </p:nvSpPr>
          <p:spPr bwMode="auto">
            <a:xfrm>
              <a:off x="286" y="1828"/>
              <a:ext cx="7" cy="5"/>
            </a:xfrm>
            <a:custGeom>
              <a:avLst/>
              <a:gdLst>
                <a:gd name="T0" fmla="*/ 0 w 37"/>
                <a:gd name="T1" fmla="*/ 0 h 25"/>
                <a:gd name="T2" fmla="*/ 0 w 37"/>
                <a:gd name="T3" fmla="*/ 0 h 25"/>
                <a:gd name="T4" fmla="*/ 0 w 37"/>
                <a:gd name="T5" fmla="*/ 0 h 25"/>
                <a:gd name="T6" fmla="*/ 0 w 37"/>
                <a:gd name="T7" fmla="*/ 0 h 25"/>
                <a:gd name="T8" fmla="*/ 0 w 37"/>
                <a:gd name="T9" fmla="*/ 0 h 25"/>
                <a:gd name="T10" fmla="*/ 0 w 37"/>
                <a:gd name="T11" fmla="*/ 0 h 25"/>
                <a:gd name="T12" fmla="*/ 0 w 37"/>
                <a:gd name="T13" fmla="*/ 0 h 25"/>
                <a:gd name="T14" fmla="*/ 0 w 37"/>
                <a:gd name="T15" fmla="*/ 0 h 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7" h="25">
                  <a:moveTo>
                    <a:pt x="37" y="0"/>
                  </a:moveTo>
                  <a:lnTo>
                    <a:pt x="26" y="7"/>
                  </a:lnTo>
                  <a:lnTo>
                    <a:pt x="16" y="10"/>
                  </a:lnTo>
                  <a:lnTo>
                    <a:pt x="6" y="16"/>
                  </a:lnTo>
                  <a:lnTo>
                    <a:pt x="0" y="25"/>
                  </a:lnTo>
                  <a:lnTo>
                    <a:pt x="9" y="22"/>
                  </a:lnTo>
                  <a:lnTo>
                    <a:pt x="26" y="17"/>
                  </a:lnTo>
                  <a:lnTo>
                    <a:pt x="3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1" name="Freeform 174"/>
            <p:cNvSpPr>
              <a:spLocks/>
            </p:cNvSpPr>
            <p:nvPr/>
          </p:nvSpPr>
          <p:spPr bwMode="auto">
            <a:xfrm>
              <a:off x="289" y="1837"/>
              <a:ext cx="2" cy="3"/>
            </a:xfrm>
            <a:custGeom>
              <a:avLst/>
              <a:gdLst>
                <a:gd name="T0" fmla="*/ 0 w 9"/>
                <a:gd name="T1" fmla="*/ 0 h 16"/>
                <a:gd name="T2" fmla="*/ 0 w 9"/>
                <a:gd name="T3" fmla="*/ 0 h 16"/>
                <a:gd name="T4" fmla="*/ 0 w 9"/>
                <a:gd name="T5" fmla="*/ 0 h 16"/>
                <a:gd name="T6" fmla="*/ 0 w 9"/>
                <a:gd name="T7" fmla="*/ 0 h 1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16">
                  <a:moveTo>
                    <a:pt x="9" y="0"/>
                  </a:moveTo>
                  <a:lnTo>
                    <a:pt x="0" y="0"/>
                  </a:lnTo>
                  <a:lnTo>
                    <a:pt x="0" y="16"/>
                  </a:lnTo>
                  <a:lnTo>
                    <a:pt x="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2" name="Freeform 175"/>
            <p:cNvSpPr>
              <a:spLocks/>
            </p:cNvSpPr>
            <p:nvPr/>
          </p:nvSpPr>
          <p:spPr bwMode="auto">
            <a:xfrm>
              <a:off x="260" y="1863"/>
              <a:ext cx="62" cy="154"/>
            </a:xfrm>
            <a:custGeom>
              <a:avLst/>
              <a:gdLst>
                <a:gd name="T0" fmla="*/ 0 w 309"/>
                <a:gd name="T1" fmla="*/ 0 h 772"/>
                <a:gd name="T2" fmla="*/ 0 w 309"/>
                <a:gd name="T3" fmla="*/ 0 h 772"/>
                <a:gd name="T4" fmla="*/ 0 w 309"/>
                <a:gd name="T5" fmla="*/ 0 h 772"/>
                <a:gd name="T6" fmla="*/ 0 w 309"/>
                <a:gd name="T7" fmla="*/ 0 h 772"/>
                <a:gd name="T8" fmla="*/ 0 w 309"/>
                <a:gd name="T9" fmla="*/ 0 h 772"/>
                <a:gd name="T10" fmla="*/ 0 w 309"/>
                <a:gd name="T11" fmla="*/ 0 h 772"/>
                <a:gd name="T12" fmla="*/ 0 w 309"/>
                <a:gd name="T13" fmla="*/ 0 h 772"/>
                <a:gd name="T14" fmla="*/ 0 w 309"/>
                <a:gd name="T15" fmla="*/ 0 h 772"/>
                <a:gd name="T16" fmla="*/ 0 w 309"/>
                <a:gd name="T17" fmla="*/ 0 h 772"/>
                <a:gd name="T18" fmla="*/ 0 w 309"/>
                <a:gd name="T19" fmla="*/ 0 h 772"/>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309" h="772">
                  <a:moveTo>
                    <a:pt x="46" y="0"/>
                  </a:moveTo>
                  <a:lnTo>
                    <a:pt x="75" y="32"/>
                  </a:lnTo>
                  <a:lnTo>
                    <a:pt x="84" y="78"/>
                  </a:lnTo>
                  <a:lnTo>
                    <a:pt x="127" y="122"/>
                  </a:lnTo>
                  <a:lnTo>
                    <a:pt x="218" y="330"/>
                  </a:lnTo>
                  <a:lnTo>
                    <a:pt x="269" y="519"/>
                  </a:lnTo>
                  <a:lnTo>
                    <a:pt x="309" y="772"/>
                  </a:lnTo>
                  <a:lnTo>
                    <a:pt x="182" y="659"/>
                  </a:lnTo>
                  <a:lnTo>
                    <a:pt x="0" y="100"/>
                  </a:lnTo>
                  <a:lnTo>
                    <a:pt x="46" y="0"/>
                  </a:lnTo>
                  <a:close/>
                </a:path>
              </a:pathLst>
            </a:custGeom>
            <a:solidFill>
              <a:srgbClr val="40000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3" name="Freeform 176"/>
            <p:cNvSpPr>
              <a:spLocks/>
            </p:cNvSpPr>
            <p:nvPr/>
          </p:nvSpPr>
          <p:spPr bwMode="auto">
            <a:xfrm>
              <a:off x="162" y="1833"/>
              <a:ext cx="229" cy="257"/>
            </a:xfrm>
            <a:custGeom>
              <a:avLst/>
              <a:gdLst>
                <a:gd name="T0" fmla="*/ 0 w 1147"/>
                <a:gd name="T1" fmla="*/ 0 h 1285"/>
                <a:gd name="T2" fmla="*/ 0 w 1147"/>
                <a:gd name="T3" fmla="*/ 0 h 1285"/>
                <a:gd name="T4" fmla="*/ 0 w 1147"/>
                <a:gd name="T5" fmla="*/ 0 h 1285"/>
                <a:gd name="T6" fmla="*/ 0 w 1147"/>
                <a:gd name="T7" fmla="*/ 0 h 1285"/>
                <a:gd name="T8" fmla="*/ 0 w 1147"/>
                <a:gd name="T9" fmla="*/ 0 h 1285"/>
                <a:gd name="T10" fmla="*/ 0 w 1147"/>
                <a:gd name="T11" fmla="*/ 0 h 1285"/>
                <a:gd name="T12" fmla="*/ 0 w 1147"/>
                <a:gd name="T13" fmla="*/ 0 h 1285"/>
                <a:gd name="T14" fmla="*/ 0 w 1147"/>
                <a:gd name="T15" fmla="*/ 0 h 1285"/>
                <a:gd name="T16" fmla="*/ 0 w 1147"/>
                <a:gd name="T17" fmla="*/ 0 h 1285"/>
                <a:gd name="T18" fmla="*/ 0 w 1147"/>
                <a:gd name="T19" fmla="*/ 0 h 1285"/>
                <a:gd name="T20" fmla="*/ 0 w 1147"/>
                <a:gd name="T21" fmla="*/ 0 h 1285"/>
                <a:gd name="T22" fmla="*/ 0 w 1147"/>
                <a:gd name="T23" fmla="*/ 0 h 1285"/>
                <a:gd name="T24" fmla="*/ 0 w 1147"/>
                <a:gd name="T25" fmla="*/ 0 h 1285"/>
                <a:gd name="T26" fmla="*/ 0 w 1147"/>
                <a:gd name="T27" fmla="*/ 0 h 1285"/>
                <a:gd name="T28" fmla="*/ 0 w 1147"/>
                <a:gd name="T29" fmla="*/ 0 h 1285"/>
                <a:gd name="T30" fmla="*/ 0 w 1147"/>
                <a:gd name="T31" fmla="*/ 0 h 1285"/>
                <a:gd name="T32" fmla="*/ 0 w 1147"/>
                <a:gd name="T33" fmla="*/ 0 h 1285"/>
                <a:gd name="T34" fmla="*/ 0 w 1147"/>
                <a:gd name="T35" fmla="*/ 0 h 1285"/>
                <a:gd name="T36" fmla="*/ 0 w 1147"/>
                <a:gd name="T37" fmla="*/ 0 h 1285"/>
                <a:gd name="T38" fmla="*/ 0 w 1147"/>
                <a:gd name="T39" fmla="*/ 0 h 1285"/>
                <a:gd name="T40" fmla="*/ 0 w 1147"/>
                <a:gd name="T41" fmla="*/ 0 h 1285"/>
                <a:gd name="T42" fmla="*/ 0 w 1147"/>
                <a:gd name="T43" fmla="*/ 0 h 1285"/>
                <a:gd name="T44" fmla="*/ 0 w 1147"/>
                <a:gd name="T45" fmla="*/ 0 h 1285"/>
                <a:gd name="T46" fmla="*/ 0 w 1147"/>
                <a:gd name="T47" fmla="*/ 0 h 1285"/>
                <a:gd name="T48" fmla="*/ 0 w 1147"/>
                <a:gd name="T49" fmla="*/ 0 h 1285"/>
                <a:gd name="T50" fmla="*/ 0 w 1147"/>
                <a:gd name="T51" fmla="*/ 0 h 1285"/>
                <a:gd name="T52" fmla="*/ 0 w 1147"/>
                <a:gd name="T53" fmla="*/ 0 h 1285"/>
                <a:gd name="T54" fmla="*/ 0 w 1147"/>
                <a:gd name="T55" fmla="*/ 0 h 1285"/>
                <a:gd name="T56" fmla="*/ 0 w 1147"/>
                <a:gd name="T57" fmla="*/ 0 h 1285"/>
                <a:gd name="T58" fmla="*/ 0 w 1147"/>
                <a:gd name="T59" fmla="*/ 0 h 1285"/>
                <a:gd name="T60" fmla="*/ 0 w 1147"/>
                <a:gd name="T61" fmla="*/ 0 h 1285"/>
                <a:gd name="T62" fmla="*/ 0 w 1147"/>
                <a:gd name="T63" fmla="*/ 0 h 1285"/>
                <a:gd name="T64" fmla="*/ 0 w 1147"/>
                <a:gd name="T65" fmla="*/ 0 h 1285"/>
                <a:gd name="T66" fmla="*/ 0 w 1147"/>
                <a:gd name="T67" fmla="*/ 0 h 1285"/>
                <a:gd name="T68" fmla="*/ 0 w 1147"/>
                <a:gd name="T69" fmla="*/ 0 h 1285"/>
                <a:gd name="T70" fmla="*/ 0 w 1147"/>
                <a:gd name="T71" fmla="*/ 0 h 1285"/>
                <a:gd name="T72" fmla="*/ 0 w 1147"/>
                <a:gd name="T73" fmla="*/ 0 h 1285"/>
                <a:gd name="T74" fmla="*/ 0 w 1147"/>
                <a:gd name="T75" fmla="*/ 0 h 1285"/>
                <a:gd name="T76" fmla="*/ 0 w 1147"/>
                <a:gd name="T77" fmla="*/ 0 h 1285"/>
                <a:gd name="T78" fmla="*/ 0 w 1147"/>
                <a:gd name="T79" fmla="*/ 0 h 1285"/>
                <a:gd name="T80" fmla="*/ 0 w 1147"/>
                <a:gd name="T81" fmla="*/ 0 h 1285"/>
                <a:gd name="T82" fmla="*/ 0 w 1147"/>
                <a:gd name="T83" fmla="*/ 0 h 1285"/>
                <a:gd name="T84" fmla="*/ 0 w 1147"/>
                <a:gd name="T85" fmla="*/ 0 h 1285"/>
                <a:gd name="T86" fmla="*/ 0 w 1147"/>
                <a:gd name="T87" fmla="*/ 0 h 1285"/>
                <a:gd name="T88" fmla="*/ 0 w 1147"/>
                <a:gd name="T89" fmla="*/ 0 h 1285"/>
                <a:gd name="T90" fmla="*/ 0 w 1147"/>
                <a:gd name="T91" fmla="*/ 0 h 1285"/>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147" h="1285">
                  <a:moveTo>
                    <a:pt x="212" y="67"/>
                  </a:moveTo>
                  <a:lnTo>
                    <a:pt x="247" y="0"/>
                  </a:lnTo>
                  <a:lnTo>
                    <a:pt x="528" y="116"/>
                  </a:lnTo>
                  <a:lnTo>
                    <a:pt x="541" y="206"/>
                  </a:lnTo>
                  <a:lnTo>
                    <a:pt x="563" y="238"/>
                  </a:lnTo>
                  <a:lnTo>
                    <a:pt x="595" y="274"/>
                  </a:lnTo>
                  <a:lnTo>
                    <a:pt x="614" y="339"/>
                  </a:lnTo>
                  <a:lnTo>
                    <a:pt x="676" y="487"/>
                  </a:lnTo>
                  <a:lnTo>
                    <a:pt x="727" y="663"/>
                  </a:lnTo>
                  <a:lnTo>
                    <a:pt x="748" y="780"/>
                  </a:lnTo>
                  <a:lnTo>
                    <a:pt x="974" y="785"/>
                  </a:lnTo>
                  <a:lnTo>
                    <a:pt x="1011" y="807"/>
                  </a:lnTo>
                  <a:lnTo>
                    <a:pt x="1115" y="807"/>
                  </a:lnTo>
                  <a:lnTo>
                    <a:pt x="1143" y="853"/>
                  </a:lnTo>
                  <a:lnTo>
                    <a:pt x="1147" y="907"/>
                  </a:lnTo>
                  <a:lnTo>
                    <a:pt x="1137" y="956"/>
                  </a:lnTo>
                  <a:lnTo>
                    <a:pt x="1042" y="974"/>
                  </a:lnTo>
                  <a:lnTo>
                    <a:pt x="997" y="1041"/>
                  </a:lnTo>
                  <a:lnTo>
                    <a:pt x="907" y="1064"/>
                  </a:lnTo>
                  <a:lnTo>
                    <a:pt x="840" y="1064"/>
                  </a:lnTo>
                  <a:lnTo>
                    <a:pt x="763" y="1079"/>
                  </a:lnTo>
                  <a:lnTo>
                    <a:pt x="759" y="1110"/>
                  </a:lnTo>
                  <a:lnTo>
                    <a:pt x="763" y="1177"/>
                  </a:lnTo>
                  <a:lnTo>
                    <a:pt x="754" y="1223"/>
                  </a:lnTo>
                  <a:lnTo>
                    <a:pt x="713" y="1227"/>
                  </a:lnTo>
                  <a:lnTo>
                    <a:pt x="663" y="1236"/>
                  </a:lnTo>
                  <a:lnTo>
                    <a:pt x="614" y="1282"/>
                  </a:lnTo>
                  <a:lnTo>
                    <a:pt x="554" y="1282"/>
                  </a:lnTo>
                  <a:lnTo>
                    <a:pt x="501" y="1276"/>
                  </a:lnTo>
                  <a:lnTo>
                    <a:pt x="420" y="1250"/>
                  </a:lnTo>
                  <a:lnTo>
                    <a:pt x="330" y="1259"/>
                  </a:lnTo>
                  <a:lnTo>
                    <a:pt x="238" y="1285"/>
                  </a:lnTo>
                  <a:lnTo>
                    <a:pt x="153" y="1267"/>
                  </a:lnTo>
                  <a:lnTo>
                    <a:pt x="95" y="1200"/>
                  </a:lnTo>
                  <a:lnTo>
                    <a:pt x="99" y="1128"/>
                  </a:lnTo>
                  <a:lnTo>
                    <a:pt x="76" y="1038"/>
                  </a:lnTo>
                  <a:lnTo>
                    <a:pt x="64" y="920"/>
                  </a:lnTo>
                  <a:lnTo>
                    <a:pt x="36" y="812"/>
                  </a:lnTo>
                  <a:lnTo>
                    <a:pt x="0" y="650"/>
                  </a:lnTo>
                  <a:lnTo>
                    <a:pt x="4" y="487"/>
                  </a:lnTo>
                  <a:lnTo>
                    <a:pt x="4" y="342"/>
                  </a:lnTo>
                  <a:lnTo>
                    <a:pt x="14" y="243"/>
                  </a:lnTo>
                  <a:lnTo>
                    <a:pt x="36" y="198"/>
                  </a:lnTo>
                  <a:lnTo>
                    <a:pt x="87" y="162"/>
                  </a:lnTo>
                  <a:lnTo>
                    <a:pt x="145" y="102"/>
                  </a:lnTo>
                  <a:lnTo>
                    <a:pt x="212" y="67"/>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4" name="Freeform 177"/>
            <p:cNvSpPr>
              <a:spLocks/>
            </p:cNvSpPr>
            <p:nvPr/>
          </p:nvSpPr>
          <p:spPr bwMode="auto">
            <a:xfrm>
              <a:off x="166" y="1848"/>
              <a:ext cx="145" cy="240"/>
            </a:xfrm>
            <a:custGeom>
              <a:avLst/>
              <a:gdLst>
                <a:gd name="T0" fmla="*/ 0 w 725"/>
                <a:gd name="T1" fmla="*/ 0 h 1198"/>
                <a:gd name="T2" fmla="*/ 0 w 725"/>
                <a:gd name="T3" fmla="*/ 0 h 1198"/>
                <a:gd name="T4" fmla="*/ 0 w 725"/>
                <a:gd name="T5" fmla="*/ 0 h 1198"/>
                <a:gd name="T6" fmla="*/ 0 w 725"/>
                <a:gd name="T7" fmla="*/ 0 h 1198"/>
                <a:gd name="T8" fmla="*/ 0 w 725"/>
                <a:gd name="T9" fmla="*/ 0 h 1198"/>
                <a:gd name="T10" fmla="*/ 0 w 725"/>
                <a:gd name="T11" fmla="*/ 0 h 1198"/>
                <a:gd name="T12" fmla="*/ 0 w 725"/>
                <a:gd name="T13" fmla="*/ 0 h 1198"/>
                <a:gd name="T14" fmla="*/ 0 w 725"/>
                <a:gd name="T15" fmla="*/ 0 h 1198"/>
                <a:gd name="T16" fmla="*/ 0 w 725"/>
                <a:gd name="T17" fmla="*/ 0 h 1198"/>
                <a:gd name="T18" fmla="*/ 0 w 725"/>
                <a:gd name="T19" fmla="*/ 0 h 1198"/>
                <a:gd name="T20" fmla="*/ 0 w 725"/>
                <a:gd name="T21" fmla="*/ 0 h 1198"/>
                <a:gd name="T22" fmla="*/ 0 w 725"/>
                <a:gd name="T23" fmla="*/ 0 h 1198"/>
                <a:gd name="T24" fmla="*/ 0 w 725"/>
                <a:gd name="T25" fmla="*/ 0 h 1198"/>
                <a:gd name="T26" fmla="*/ 0 w 725"/>
                <a:gd name="T27" fmla="*/ 0 h 1198"/>
                <a:gd name="T28" fmla="*/ 0 w 725"/>
                <a:gd name="T29" fmla="*/ 0 h 1198"/>
                <a:gd name="T30" fmla="*/ 0 w 725"/>
                <a:gd name="T31" fmla="*/ 0 h 1198"/>
                <a:gd name="T32" fmla="*/ 0 w 725"/>
                <a:gd name="T33" fmla="*/ 0 h 1198"/>
                <a:gd name="T34" fmla="*/ 0 w 725"/>
                <a:gd name="T35" fmla="*/ 0 h 1198"/>
                <a:gd name="T36" fmla="*/ 0 w 725"/>
                <a:gd name="T37" fmla="*/ 0 h 1198"/>
                <a:gd name="T38" fmla="*/ 0 w 725"/>
                <a:gd name="T39" fmla="*/ 0 h 1198"/>
                <a:gd name="T40" fmla="*/ 0 w 725"/>
                <a:gd name="T41" fmla="*/ 0 h 1198"/>
                <a:gd name="T42" fmla="*/ 0 w 725"/>
                <a:gd name="T43" fmla="*/ 0 h 1198"/>
                <a:gd name="T44" fmla="*/ 0 w 725"/>
                <a:gd name="T45" fmla="*/ 0 h 1198"/>
                <a:gd name="T46" fmla="*/ 0 w 725"/>
                <a:gd name="T47" fmla="*/ 0 h 1198"/>
                <a:gd name="T48" fmla="*/ 0 w 725"/>
                <a:gd name="T49" fmla="*/ 0 h 1198"/>
                <a:gd name="T50" fmla="*/ 0 w 725"/>
                <a:gd name="T51" fmla="*/ 0 h 1198"/>
                <a:gd name="T52" fmla="*/ 0 w 725"/>
                <a:gd name="T53" fmla="*/ 0 h 1198"/>
                <a:gd name="T54" fmla="*/ 0 w 725"/>
                <a:gd name="T55" fmla="*/ 0 h 1198"/>
                <a:gd name="T56" fmla="*/ 0 w 725"/>
                <a:gd name="T57" fmla="*/ 0 h 1198"/>
                <a:gd name="T58" fmla="*/ 0 w 725"/>
                <a:gd name="T59" fmla="*/ 0 h 1198"/>
                <a:gd name="T60" fmla="*/ 0 w 725"/>
                <a:gd name="T61" fmla="*/ 0 h 1198"/>
                <a:gd name="T62" fmla="*/ 0 w 725"/>
                <a:gd name="T63" fmla="*/ 0 h 1198"/>
                <a:gd name="T64" fmla="*/ 0 w 725"/>
                <a:gd name="T65" fmla="*/ 0 h 1198"/>
                <a:gd name="T66" fmla="*/ 0 w 725"/>
                <a:gd name="T67" fmla="*/ 0 h 1198"/>
                <a:gd name="T68" fmla="*/ 0 w 725"/>
                <a:gd name="T69" fmla="*/ 0 h 1198"/>
                <a:gd name="T70" fmla="*/ 0 w 725"/>
                <a:gd name="T71" fmla="*/ 0 h 1198"/>
                <a:gd name="T72" fmla="*/ 0 w 725"/>
                <a:gd name="T73" fmla="*/ 0 h 1198"/>
                <a:gd name="T74" fmla="*/ 0 w 725"/>
                <a:gd name="T75" fmla="*/ 0 h 1198"/>
                <a:gd name="T76" fmla="*/ 0 w 725"/>
                <a:gd name="T77" fmla="*/ 0 h 119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725" h="1198">
                  <a:moveTo>
                    <a:pt x="725" y="1005"/>
                  </a:moveTo>
                  <a:lnTo>
                    <a:pt x="630" y="990"/>
                  </a:lnTo>
                  <a:lnTo>
                    <a:pt x="549" y="986"/>
                  </a:lnTo>
                  <a:lnTo>
                    <a:pt x="460" y="978"/>
                  </a:lnTo>
                  <a:lnTo>
                    <a:pt x="359" y="963"/>
                  </a:lnTo>
                  <a:lnTo>
                    <a:pt x="314" y="932"/>
                  </a:lnTo>
                  <a:lnTo>
                    <a:pt x="193" y="780"/>
                  </a:lnTo>
                  <a:lnTo>
                    <a:pt x="256" y="825"/>
                  </a:lnTo>
                  <a:lnTo>
                    <a:pt x="297" y="861"/>
                  </a:lnTo>
                  <a:lnTo>
                    <a:pt x="274" y="753"/>
                  </a:lnTo>
                  <a:lnTo>
                    <a:pt x="228" y="712"/>
                  </a:lnTo>
                  <a:lnTo>
                    <a:pt x="162" y="600"/>
                  </a:lnTo>
                  <a:lnTo>
                    <a:pt x="225" y="653"/>
                  </a:lnTo>
                  <a:lnTo>
                    <a:pt x="266" y="668"/>
                  </a:lnTo>
                  <a:lnTo>
                    <a:pt x="256" y="590"/>
                  </a:lnTo>
                  <a:lnTo>
                    <a:pt x="211" y="532"/>
                  </a:lnTo>
                  <a:lnTo>
                    <a:pt x="167" y="487"/>
                  </a:lnTo>
                  <a:lnTo>
                    <a:pt x="121" y="355"/>
                  </a:lnTo>
                  <a:lnTo>
                    <a:pt x="207" y="464"/>
                  </a:lnTo>
                  <a:lnTo>
                    <a:pt x="256" y="504"/>
                  </a:lnTo>
                  <a:lnTo>
                    <a:pt x="261" y="337"/>
                  </a:lnTo>
                  <a:lnTo>
                    <a:pt x="274" y="271"/>
                  </a:lnTo>
                  <a:lnTo>
                    <a:pt x="301" y="240"/>
                  </a:lnTo>
                  <a:lnTo>
                    <a:pt x="341" y="190"/>
                  </a:lnTo>
                  <a:lnTo>
                    <a:pt x="405" y="167"/>
                  </a:lnTo>
                  <a:lnTo>
                    <a:pt x="437" y="153"/>
                  </a:lnTo>
                  <a:lnTo>
                    <a:pt x="347" y="68"/>
                  </a:lnTo>
                  <a:lnTo>
                    <a:pt x="251" y="90"/>
                  </a:lnTo>
                  <a:lnTo>
                    <a:pt x="188" y="127"/>
                  </a:lnTo>
                  <a:lnTo>
                    <a:pt x="167" y="162"/>
                  </a:lnTo>
                  <a:lnTo>
                    <a:pt x="184" y="107"/>
                  </a:lnTo>
                  <a:lnTo>
                    <a:pt x="220" y="90"/>
                  </a:lnTo>
                  <a:lnTo>
                    <a:pt x="278" y="68"/>
                  </a:lnTo>
                  <a:lnTo>
                    <a:pt x="324" y="60"/>
                  </a:lnTo>
                  <a:lnTo>
                    <a:pt x="297" y="45"/>
                  </a:lnTo>
                  <a:lnTo>
                    <a:pt x="251" y="32"/>
                  </a:lnTo>
                  <a:lnTo>
                    <a:pt x="211" y="17"/>
                  </a:lnTo>
                  <a:lnTo>
                    <a:pt x="188" y="0"/>
                  </a:lnTo>
                  <a:lnTo>
                    <a:pt x="136" y="37"/>
                  </a:lnTo>
                  <a:lnTo>
                    <a:pt x="104" y="68"/>
                  </a:lnTo>
                  <a:lnTo>
                    <a:pt x="73" y="107"/>
                  </a:lnTo>
                  <a:lnTo>
                    <a:pt x="27" y="130"/>
                  </a:lnTo>
                  <a:lnTo>
                    <a:pt x="18" y="172"/>
                  </a:lnTo>
                  <a:lnTo>
                    <a:pt x="0" y="240"/>
                  </a:lnTo>
                  <a:lnTo>
                    <a:pt x="0" y="342"/>
                  </a:lnTo>
                  <a:lnTo>
                    <a:pt x="5" y="450"/>
                  </a:lnTo>
                  <a:lnTo>
                    <a:pt x="8" y="573"/>
                  </a:lnTo>
                  <a:lnTo>
                    <a:pt x="31" y="698"/>
                  </a:lnTo>
                  <a:lnTo>
                    <a:pt x="58" y="830"/>
                  </a:lnTo>
                  <a:lnTo>
                    <a:pt x="73" y="941"/>
                  </a:lnTo>
                  <a:lnTo>
                    <a:pt x="95" y="1022"/>
                  </a:lnTo>
                  <a:lnTo>
                    <a:pt x="90" y="1095"/>
                  </a:lnTo>
                  <a:lnTo>
                    <a:pt x="99" y="1135"/>
                  </a:lnTo>
                  <a:lnTo>
                    <a:pt x="131" y="1166"/>
                  </a:lnTo>
                  <a:lnTo>
                    <a:pt x="171" y="1193"/>
                  </a:lnTo>
                  <a:lnTo>
                    <a:pt x="225" y="1198"/>
                  </a:lnTo>
                  <a:lnTo>
                    <a:pt x="251" y="1185"/>
                  </a:lnTo>
                  <a:lnTo>
                    <a:pt x="288" y="1181"/>
                  </a:lnTo>
                  <a:lnTo>
                    <a:pt x="374" y="1163"/>
                  </a:lnTo>
                  <a:lnTo>
                    <a:pt x="337" y="1118"/>
                  </a:lnTo>
                  <a:lnTo>
                    <a:pt x="297" y="1053"/>
                  </a:lnTo>
                  <a:lnTo>
                    <a:pt x="356" y="1099"/>
                  </a:lnTo>
                  <a:lnTo>
                    <a:pt x="401" y="1140"/>
                  </a:lnTo>
                  <a:lnTo>
                    <a:pt x="433" y="1163"/>
                  </a:lnTo>
                  <a:lnTo>
                    <a:pt x="477" y="1185"/>
                  </a:lnTo>
                  <a:lnTo>
                    <a:pt x="527" y="1185"/>
                  </a:lnTo>
                  <a:lnTo>
                    <a:pt x="575" y="1185"/>
                  </a:lnTo>
                  <a:lnTo>
                    <a:pt x="603" y="1172"/>
                  </a:lnTo>
                  <a:lnTo>
                    <a:pt x="616" y="1158"/>
                  </a:lnTo>
                  <a:lnTo>
                    <a:pt x="553" y="1122"/>
                  </a:lnTo>
                  <a:lnTo>
                    <a:pt x="491" y="1063"/>
                  </a:lnTo>
                  <a:lnTo>
                    <a:pt x="472" y="1036"/>
                  </a:lnTo>
                  <a:lnTo>
                    <a:pt x="523" y="1050"/>
                  </a:lnTo>
                  <a:lnTo>
                    <a:pt x="598" y="1108"/>
                  </a:lnTo>
                  <a:lnTo>
                    <a:pt x="630" y="1135"/>
                  </a:lnTo>
                  <a:lnTo>
                    <a:pt x="702" y="1140"/>
                  </a:lnTo>
                  <a:lnTo>
                    <a:pt x="725" y="1126"/>
                  </a:lnTo>
                  <a:lnTo>
                    <a:pt x="725" y="1095"/>
                  </a:lnTo>
                  <a:lnTo>
                    <a:pt x="725" y="1005"/>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5" name="Freeform 178"/>
            <p:cNvSpPr>
              <a:spLocks/>
            </p:cNvSpPr>
            <p:nvPr/>
          </p:nvSpPr>
          <p:spPr bwMode="auto">
            <a:xfrm>
              <a:off x="176" y="1968"/>
              <a:ext cx="43" cy="110"/>
            </a:xfrm>
            <a:custGeom>
              <a:avLst/>
              <a:gdLst>
                <a:gd name="T0" fmla="*/ 0 w 211"/>
                <a:gd name="T1" fmla="*/ 0 h 553"/>
                <a:gd name="T2" fmla="*/ 0 w 211"/>
                <a:gd name="T3" fmla="*/ 0 h 553"/>
                <a:gd name="T4" fmla="*/ 0 w 211"/>
                <a:gd name="T5" fmla="*/ 0 h 553"/>
                <a:gd name="T6" fmla="*/ 0 w 211"/>
                <a:gd name="T7" fmla="*/ 0 h 553"/>
                <a:gd name="T8" fmla="*/ 0 w 211"/>
                <a:gd name="T9" fmla="*/ 0 h 553"/>
                <a:gd name="T10" fmla="*/ 0 w 211"/>
                <a:gd name="T11" fmla="*/ 0 h 553"/>
                <a:gd name="T12" fmla="*/ 0 w 211"/>
                <a:gd name="T13" fmla="*/ 0 h 553"/>
                <a:gd name="T14" fmla="*/ 0 w 211"/>
                <a:gd name="T15" fmla="*/ 0 h 553"/>
                <a:gd name="T16" fmla="*/ 0 w 211"/>
                <a:gd name="T17" fmla="*/ 0 h 553"/>
                <a:gd name="T18" fmla="*/ 0 w 211"/>
                <a:gd name="T19" fmla="*/ 0 h 553"/>
                <a:gd name="T20" fmla="*/ 0 w 211"/>
                <a:gd name="T21" fmla="*/ 0 h 553"/>
                <a:gd name="T22" fmla="*/ 0 w 211"/>
                <a:gd name="T23" fmla="*/ 0 h 553"/>
                <a:gd name="T24" fmla="*/ 0 w 211"/>
                <a:gd name="T25" fmla="*/ 0 h 553"/>
                <a:gd name="T26" fmla="*/ 0 w 211"/>
                <a:gd name="T27" fmla="*/ 0 h 5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11" h="553">
                  <a:moveTo>
                    <a:pt x="211" y="553"/>
                  </a:moveTo>
                  <a:lnTo>
                    <a:pt x="173" y="535"/>
                  </a:lnTo>
                  <a:lnTo>
                    <a:pt x="134" y="490"/>
                  </a:lnTo>
                  <a:lnTo>
                    <a:pt x="99" y="410"/>
                  </a:lnTo>
                  <a:lnTo>
                    <a:pt x="81" y="342"/>
                  </a:lnTo>
                  <a:lnTo>
                    <a:pt x="53" y="265"/>
                  </a:lnTo>
                  <a:lnTo>
                    <a:pt x="41" y="192"/>
                  </a:lnTo>
                  <a:lnTo>
                    <a:pt x="19" y="81"/>
                  </a:lnTo>
                  <a:lnTo>
                    <a:pt x="0" y="0"/>
                  </a:lnTo>
                  <a:lnTo>
                    <a:pt x="45" y="162"/>
                  </a:lnTo>
                  <a:lnTo>
                    <a:pt x="81" y="287"/>
                  </a:lnTo>
                  <a:lnTo>
                    <a:pt x="121" y="373"/>
                  </a:lnTo>
                  <a:lnTo>
                    <a:pt x="183" y="463"/>
                  </a:lnTo>
                  <a:lnTo>
                    <a:pt x="211" y="55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6" name="Freeform 179"/>
            <p:cNvSpPr>
              <a:spLocks/>
            </p:cNvSpPr>
            <p:nvPr/>
          </p:nvSpPr>
          <p:spPr bwMode="auto">
            <a:xfrm>
              <a:off x="220" y="1878"/>
              <a:ext cx="167" cy="167"/>
            </a:xfrm>
            <a:custGeom>
              <a:avLst/>
              <a:gdLst>
                <a:gd name="T0" fmla="*/ 0 w 838"/>
                <a:gd name="T1" fmla="*/ 0 h 832"/>
                <a:gd name="T2" fmla="*/ 0 w 838"/>
                <a:gd name="T3" fmla="*/ 0 h 832"/>
                <a:gd name="T4" fmla="*/ 0 w 838"/>
                <a:gd name="T5" fmla="*/ 0 h 832"/>
                <a:gd name="T6" fmla="*/ 0 w 838"/>
                <a:gd name="T7" fmla="*/ 0 h 832"/>
                <a:gd name="T8" fmla="*/ 0 w 838"/>
                <a:gd name="T9" fmla="*/ 0 h 832"/>
                <a:gd name="T10" fmla="*/ 0 w 838"/>
                <a:gd name="T11" fmla="*/ 0 h 832"/>
                <a:gd name="T12" fmla="*/ 0 w 838"/>
                <a:gd name="T13" fmla="*/ 0 h 832"/>
                <a:gd name="T14" fmla="*/ 0 w 838"/>
                <a:gd name="T15" fmla="*/ 0 h 832"/>
                <a:gd name="T16" fmla="*/ 0 w 838"/>
                <a:gd name="T17" fmla="*/ 0 h 832"/>
                <a:gd name="T18" fmla="*/ 0 w 838"/>
                <a:gd name="T19" fmla="*/ 0 h 832"/>
                <a:gd name="T20" fmla="*/ 0 w 838"/>
                <a:gd name="T21" fmla="*/ 0 h 832"/>
                <a:gd name="T22" fmla="*/ 0 w 838"/>
                <a:gd name="T23" fmla="*/ 0 h 832"/>
                <a:gd name="T24" fmla="*/ 0 w 838"/>
                <a:gd name="T25" fmla="*/ 0 h 832"/>
                <a:gd name="T26" fmla="*/ 0 w 838"/>
                <a:gd name="T27" fmla="*/ 0 h 832"/>
                <a:gd name="T28" fmla="*/ 0 w 838"/>
                <a:gd name="T29" fmla="*/ 0 h 832"/>
                <a:gd name="T30" fmla="*/ 0 w 838"/>
                <a:gd name="T31" fmla="*/ 0 h 832"/>
                <a:gd name="T32" fmla="*/ 0 w 838"/>
                <a:gd name="T33" fmla="*/ 0 h 832"/>
                <a:gd name="T34" fmla="*/ 0 w 838"/>
                <a:gd name="T35" fmla="*/ 0 h 832"/>
                <a:gd name="T36" fmla="*/ 0 w 838"/>
                <a:gd name="T37" fmla="*/ 0 h 832"/>
                <a:gd name="T38" fmla="*/ 0 w 838"/>
                <a:gd name="T39" fmla="*/ 0 h 832"/>
                <a:gd name="T40" fmla="*/ 0 w 838"/>
                <a:gd name="T41" fmla="*/ 0 h 832"/>
                <a:gd name="T42" fmla="*/ 0 w 838"/>
                <a:gd name="T43" fmla="*/ 0 h 832"/>
                <a:gd name="T44" fmla="*/ 0 w 838"/>
                <a:gd name="T45" fmla="*/ 0 h 832"/>
                <a:gd name="T46" fmla="*/ 0 w 838"/>
                <a:gd name="T47" fmla="*/ 0 h 832"/>
                <a:gd name="T48" fmla="*/ 0 w 838"/>
                <a:gd name="T49" fmla="*/ 0 h 832"/>
                <a:gd name="T50" fmla="*/ 0 w 838"/>
                <a:gd name="T51" fmla="*/ 0 h 832"/>
                <a:gd name="T52" fmla="*/ 0 w 838"/>
                <a:gd name="T53" fmla="*/ 0 h 832"/>
                <a:gd name="T54" fmla="*/ 0 w 838"/>
                <a:gd name="T55" fmla="*/ 0 h 832"/>
                <a:gd name="T56" fmla="*/ 0 w 838"/>
                <a:gd name="T57" fmla="*/ 0 h 832"/>
                <a:gd name="T58" fmla="*/ 0 w 838"/>
                <a:gd name="T59" fmla="*/ 0 h 832"/>
                <a:gd name="T60" fmla="*/ 0 w 838"/>
                <a:gd name="T61" fmla="*/ 0 h 832"/>
                <a:gd name="T62" fmla="*/ 0 w 838"/>
                <a:gd name="T63" fmla="*/ 0 h 832"/>
                <a:gd name="T64" fmla="*/ 0 w 838"/>
                <a:gd name="T65" fmla="*/ 0 h 832"/>
                <a:gd name="T66" fmla="*/ 0 w 838"/>
                <a:gd name="T67" fmla="*/ 0 h 832"/>
                <a:gd name="T68" fmla="*/ 0 w 838"/>
                <a:gd name="T69" fmla="*/ 0 h 832"/>
                <a:gd name="T70" fmla="*/ 0 w 838"/>
                <a:gd name="T71" fmla="*/ 0 h 832"/>
                <a:gd name="T72" fmla="*/ 0 w 838"/>
                <a:gd name="T73" fmla="*/ 0 h 832"/>
                <a:gd name="T74" fmla="*/ 0 w 838"/>
                <a:gd name="T75" fmla="*/ 0 h 832"/>
                <a:gd name="T76" fmla="*/ 0 w 838"/>
                <a:gd name="T77" fmla="*/ 0 h 832"/>
                <a:gd name="T78" fmla="*/ 0 w 838"/>
                <a:gd name="T79" fmla="*/ 0 h 832"/>
                <a:gd name="T80" fmla="*/ 0 w 838"/>
                <a:gd name="T81" fmla="*/ 0 h 832"/>
                <a:gd name="T82" fmla="*/ 0 w 838"/>
                <a:gd name="T83" fmla="*/ 0 h 832"/>
                <a:gd name="T84" fmla="*/ 0 w 838"/>
                <a:gd name="T85" fmla="*/ 0 h 832"/>
                <a:gd name="T86" fmla="*/ 0 w 838"/>
                <a:gd name="T87" fmla="*/ 0 h 832"/>
                <a:gd name="T88" fmla="*/ 0 w 838"/>
                <a:gd name="T89" fmla="*/ 0 h 832"/>
                <a:gd name="T90" fmla="*/ 0 w 838"/>
                <a:gd name="T91" fmla="*/ 0 h 832"/>
                <a:gd name="T92" fmla="*/ 0 w 838"/>
                <a:gd name="T93" fmla="*/ 0 h 832"/>
                <a:gd name="T94" fmla="*/ 0 w 838"/>
                <a:gd name="T95" fmla="*/ 0 h 832"/>
                <a:gd name="T96" fmla="*/ 0 w 838"/>
                <a:gd name="T97" fmla="*/ 0 h 832"/>
                <a:gd name="T98" fmla="*/ 0 w 838"/>
                <a:gd name="T99" fmla="*/ 0 h 832"/>
                <a:gd name="T100" fmla="*/ 0 w 838"/>
                <a:gd name="T101" fmla="*/ 0 h 832"/>
                <a:gd name="T102" fmla="*/ 0 w 838"/>
                <a:gd name="T103" fmla="*/ 0 h 832"/>
                <a:gd name="T104" fmla="*/ 0 w 838"/>
                <a:gd name="T105" fmla="*/ 0 h 832"/>
                <a:gd name="T106" fmla="*/ 0 w 838"/>
                <a:gd name="T107" fmla="*/ 0 h 832"/>
                <a:gd name="T108" fmla="*/ 0 w 838"/>
                <a:gd name="T109" fmla="*/ 0 h 832"/>
                <a:gd name="T110" fmla="*/ 0 w 838"/>
                <a:gd name="T111" fmla="*/ 0 h 83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838" h="832">
                  <a:moveTo>
                    <a:pt x="155" y="0"/>
                  </a:moveTo>
                  <a:lnTo>
                    <a:pt x="253" y="30"/>
                  </a:lnTo>
                  <a:lnTo>
                    <a:pt x="298" y="70"/>
                  </a:lnTo>
                  <a:lnTo>
                    <a:pt x="326" y="153"/>
                  </a:lnTo>
                  <a:lnTo>
                    <a:pt x="326" y="228"/>
                  </a:lnTo>
                  <a:lnTo>
                    <a:pt x="311" y="272"/>
                  </a:lnTo>
                  <a:lnTo>
                    <a:pt x="320" y="350"/>
                  </a:lnTo>
                  <a:lnTo>
                    <a:pt x="320" y="408"/>
                  </a:lnTo>
                  <a:lnTo>
                    <a:pt x="306" y="423"/>
                  </a:lnTo>
                  <a:lnTo>
                    <a:pt x="320" y="445"/>
                  </a:lnTo>
                  <a:lnTo>
                    <a:pt x="329" y="467"/>
                  </a:lnTo>
                  <a:lnTo>
                    <a:pt x="311" y="490"/>
                  </a:lnTo>
                  <a:lnTo>
                    <a:pt x="311" y="513"/>
                  </a:lnTo>
                  <a:lnTo>
                    <a:pt x="347" y="521"/>
                  </a:lnTo>
                  <a:lnTo>
                    <a:pt x="343" y="544"/>
                  </a:lnTo>
                  <a:lnTo>
                    <a:pt x="378" y="557"/>
                  </a:lnTo>
                  <a:lnTo>
                    <a:pt x="411" y="548"/>
                  </a:lnTo>
                  <a:lnTo>
                    <a:pt x="433" y="557"/>
                  </a:lnTo>
                  <a:lnTo>
                    <a:pt x="532" y="571"/>
                  </a:lnTo>
                  <a:lnTo>
                    <a:pt x="622" y="567"/>
                  </a:lnTo>
                  <a:lnTo>
                    <a:pt x="679" y="571"/>
                  </a:lnTo>
                  <a:lnTo>
                    <a:pt x="717" y="594"/>
                  </a:lnTo>
                  <a:lnTo>
                    <a:pt x="807" y="594"/>
                  </a:lnTo>
                  <a:lnTo>
                    <a:pt x="838" y="625"/>
                  </a:lnTo>
                  <a:lnTo>
                    <a:pt x="838" y="660"/>
                  </a:lnTo>
                  <a:lnTo>
                    <a:pt x="833" y="719"/>
                  </a:lnTo>
                  <a:lnTo>
                    <a:pt x="762" y="738"/>
                  </a:lnTo>
                  <a:lnTo>
                    <a:pt x="762" y="700"/>
                  </a:lnTo>
                  <a:lnTo>
                    <a:pt x="757" y="669"/>
                  </a:lnTo>
                  <a:lnTo>
                    <a:pt x="743" y="656"/>
                  </a:lnTo>
                  <a:lnTo>
                    <a:pt x="739" y="692"/>
                  </a:lnTo>
                  <a:lnTo>
                    <a:pt x="734" y="738"/>
                  </a:lnTo>
                  <a:lnTo>
                    <a:pt x="717" y="765"/>
                  </a:lnTo>
                  <a:lnTo>
                    <a:pt x="685" y="800"/>
                  </a:lnTo>
                  <a:lnTo>
                    <a:pt x="610" y="818"/>
                  </a:lnTo>
                  <a:lnTo>
                    <a:pt x="550" y="828"/>
                  </a:lnTo>
                  <a:lnTo>
                    <a:pt x="482" y="832"/>
                  </a:lnTo>
                  <a:lnTo>
                    <a:pt x="569" y="782"/>
                  </a:lnTo>
                  <a:lnTo>
                    <a:pt x="627" y="738"/>
                  </a:lnTo>
                  <a:lnTo>
                    <a:pt x="639" y="700"/>
                  </a:lnTo>
                  <a:lnTo>
                    <a:pt x="631" y="669"/>
                  </a:lnTo>
                  <a:lnTo>
                    <a:pt x="582" y="665"/>
                  </a:lnTo>
                  <a:lnTo>
                    <a:pt x="564" y="700"/>
                  </a:lnTo>
                  <a:lnTo>
                    <a:pt x="550" y="742"/>
                  </a:lnTo>
                  <a:lnTo>
                    <a:pt x="505" y="787"/>
                  </a:lnTo>
                  <a:lnTo>
                    <a:pt x="456" y="823"/>
                  </a:lnTo>
                  <a:lnTo>
                    <a:pt x="406" y="828"/>
                  </a:lnTo>
                  <a:lnTo>
                    <a:pt x="329" y="823"/>
                  </a:lnTo>
                  <a:lnTo>
                    <a:pt x="411" y="759"/>
                  </a:lnTo>
                  <a:lnTo>
                    <a:pt x="469" y="727"/>
                  </a:lnTo>
                  <a:lnTo>
                    <a:pt x="514" y="692"/>
                  </a:lnTo>
                  <a:lnTo>
                    <a:pt x="528" y="665"/>
                  </a:lnTo>
                  <a:lnTo>
                    <a:pt x="524" y="637"/>
                  </a:lnTo>
                  <a:lnTo>
                    <a:pt x="497" y="633"/>
                  </a:lnTo>
                  <a:lnTo>
                    <a:pt x="465" y="660"/>
                  </a:lnTo>
                  <a:lnTo>
                    <a:pt x="447" y="697"/>
                  </a:lnTo>
                  <a:lnTo>
                    <a:pt x="406" y="742"/>
                  </a:lnTo>
                  <a:lnTo>
                    <a:pt x="356" y="765"/>
                  </a:lnTo>
                  <a:lnTo>
                    <a:pt x="320" y="787"/>
                  </a:lnTo>
                  <a:lnTo>
                    <a:pt x="280" y="805"/>
                  </a:lnTo>
                  <a:lnTo>
                    <a:pt x="234" y="813"/>
                  </a:lnTo>
                  <a:lnTo>
                    <a:pt x="181" y="813"/>
                  </a:lnTo>
                  <a:lnTo>
                    <a:pt x="129" y="804"/>
                  </a:lnTo>
                  <a:lnTo>
                    <a:pt x="244" y="765"/>
                  </a:lnTo>
                  <a:lnTo>
                    <a:pt x="288" y="742"/>
                  </a:lnTo>
                  <a:lnTo>
                    <a:pt x="320" y="700"/>
                  </a:lnTo>
                  <a:lnTo>
                    <a:pt x="326" y="665"/>
                  </a:lnTo>
                  <a:lnTo>
                    <a:pt x="298" y="665"/>
                  </a:lnTo>
                  <a:lnTo>
                    <a:pt x="285" y="697"/>
                  </a:lnTo>
                  <a:lnTo>
                    <a:pt x="262" y="723"/>
                  </a:lnTo>
                  <a:lnTo>
                    <a:pt x="225" y="751"/>
                  </a:lnTo>
                  <a:lnTo>
                    <a:pt x="185" y="779"/>
                  </a:lnTo>
                  <a:lnTo>
                    <a:pt x="132" y="802"/>
                  </a:lnTo>
                  <a:lnTo>
                    <a:pt x="91" y="787"/>
                  </a:lnTo>
                  <a:lnTo>
                    <a:pt x="72" y="765"/>
                  </a:lnTo>
                  <a:lnTo>
                    <a:pt x="42" y="709"/>
                  </a:lnTo>
                  <a:lnTo>
                    <a:pt x="100" y="697"/>
                  </a:lnTo>
                  <a:lnTo>
                    <a:pt x="212" y="683"/>
                  </a:lnTo>
                  <a:lnTo>
                    <a:pt x="280" y="652"/>
                  </a:lnTo>
                  <a:lnTo>
                    <a:pt x="315" y="621"/>
                  </a:lnTo>
                  <a:lnTo>
                    <a:pt x="329" y="585"/>
                  </a:lnTo>
                  <a:lnTo>
                    <a:pt x="334" y="567"/>
                  </a:lnTo>
                  <a:lnTo>
                    <a:pt x="315" y="567"/>
                  </a:lnTo>
                  <a:lnTo>
                    <a:pt x="293" y="594"/>
                  </a:lnTo>
                  <a:lnTo>
                    <a:pt x="257" y="642"/>
                  </a:lnTo>
                  <a:lnTo>
                    <a:pt x="176" y="669"/>
                  </a:lnTo>
                  <a:lnTo>
                    <a:pt x="100" y="693"/>
                  </a:lnTo>
                  <a:lnTo>
                    <a:pt x="42" y="709"/>
                  </a:lnTo>
                  <a:lnTo>
                    <a:pt x="19" y="616"/>
                  </a:lnTo>
                  <a:lnTo>
                    <a:pt x="14" y="548"/>
                  </a:lnTo>
                  <a:lnTo>
                    <a:pt x="14" y="489"/>
                  </a:lnTo>
                  <a:lnTo>
                    <a:pt x="91" y="530"/>
                  </a:lnTo>
                  <a:lnTo>
                    <a:pt x="181" y="548"/>
                  </a:lnTo>
                  <a:lnTo>
                    <a:pt x="253" y="544"/>
                  </a:lnTo>
                  <a:lnTo>
                    <a:pt x="271" y="536"/>
                  </a:lnTo>
                  <a:lnTo>
                    <a:pt x="280" y="513"/>
                  </a:lnTo>
                  <a:lnTo>
                    <a:pt x="239" y="513"/>
                  </a:lnTo>
                  <a:lnTo>
                    <a:pt x="196" y="526"/>
                  </a:lnTo>
                  <a:lnTo>
                    <a:pt x="88" y="530"/>
                  </a:lnTo>
                  <a:lnTo>
                    <a:pt x="14" y="490"/>
                  </a:lnTo>
                  <a:lnTo>
                    <a:pt x="10" y="405"/>
                  </a:lnTo>
                  <a:lnTo>
                    <a:pt x="5" y="345"/>
                  </a:lnTo>
                  <a:lnTo>
                    <a:pt x="0" y="287"/>
                  </a:lnTo>
                  <a:lnTo>
                    <a:pt x="10" y="188"/>
                  </a:lnTo>
                  <a:lnTo>
                    <a:pt x="32" y="153"/>
                  </a:lnTo>
                  <a:lnTo>
                    <a:pt x="100" y="108"/>
                  </a:lnTo>
                  <a:lnTo>
                    <a:pt x="78" y="113"/>
                  </a:lnTo>
                  <a:lnTo>
                    <a:pt x="10" y="143"/>
                  </a:lnTo>
                  <a:lnTo>
                    <a:pt x="37" y="81"/>
                  </a:lnTo>
                  <a:lnTo>
                    <a:pt x="60" y="48"/>
                  </a:lnTo>
                  <a:lnTo>
                    <a:pt x="78" y="26"/>
                  </a:lnTo>
                  <a:lnTo>
                    <a:pt x="155"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7" name="Freeform 180"/>
            <p:cNvSpPr>
              <a:spLocks/>
            </p:cNvSpPr>
            <p:nvPr/>
          </p:nvSpPr>
          <p:spPr bwMode="auto">
            <a:xfrm>
              <a:off x="231" y="1940"/>
              <a:ext cx="42" cy="38"/>
            </a:xfrm>
            <a:custGeom>
              <a:avLst/>
              <a:gdLst>
                <a:gd name="T0" fmla="*/ 0 w 209"/>
                <a:gd name="T1" fmla="*/ 0 h 187"/>
                <a:gd name="T2" fmla="*/ 0 w 209"/>
                <a:gd name="T3" fmla="*/ 0 h 187"/>
                <a:gd name="T4" fmla="*/ 0 w 209"/>
                <a:gd name="T5" fmla="*/ 0 h 187"/>
                <a:gd name="T6" fmla="*/ 0 w 209"/>
                <a:gd name="T7" fmla="*/ 0 h 187"/>
                <a:gd name="T8" fmla="*/ 0 w 209"/>
                <a:gd name="T9" fmla="*/ 0 h 187"/>
                <a:gd name="T10" fmla="*/ 0 w 209"/>
                <a:gd name="T11" fmla="*/ 0 h 187"/>
                <a:gd name="T12" fmla="*/ 0 w 209"/>
                <a:gd name="T13" fmla="*/ 0 h 187"/>
                <a:gd name="T14" fmla="*/ 0 w 209"/>
                <a:gd name="T15" fmla="*/ 0 h 187"/>
                <a:gd name="T16" fmla="*/ 0 w 209"/>
                <a:gd name="T17" fmla="*/ 0 h 187"/>
                <a:gd name="T18" fmla="*/ 0 w 209"/>
                <a:gd name="T19" fmla="*/ 0 h 187"/>
                <a:gd name="T20" fmla="*/ 0 w 209"/>
                <a:gd name="T21" fmla="*/ 0 h 187"/>
                <a:gd name="T22" fmla="*/ 0 w 209"/>
                <a:gd name="T23" fmla="*/ 0 h 187"/>
                <a:gd name="T24" fmla="*/ 0 w 209"/>
                <a:gd name="T25" fmla="*/ 0 h 187"/>
                <a:gd name="T26" fmla="*/ 0 w 209"/>
                <a:gd name="T27" fmla="*/ 0 h 187"/>
                <a:gd name="T28" fmla="*/ 0 w 209"/>
                <a:gd name="T29" fmla="*/ 0 h 187"/>
                <a:gd name="T30" fmla="*/ 0 w 209"/>
                <a:gd name="T31" fmla="*/ 0 h 187"/>
                <a:gd name="T32" fmla="*/ 0 w 209"/>
                <a:gd name="T33" fmla="*/ 0 h 187"/>
                <a:gd name="T34" fmla="*/ 0 w 209"/>
                <a:gd name="T35" fmla="*/ 0 h 187"/>
                <a:gd name="T36" fmla="*/ 0 w 209"/>
                <a:gd name="T37" fmla="*/ 0 h 187"/>
                <a:gd name="T38" fmla="*/ 0 w 209"/>
                <a:gd name="T39" fmla="*/ 0 h 187"/>
                <a:gd name="T40" fmla="*/ 0 w 209"/>
                <a:gd name="T41" fmla="*/ 0 h 187"/>
                <a:gd name="T42" fmla="*/ 0 w 209"/>
                <a:gd name="T43" fmla="*/ 0 h 187"/>
                <a:gd name="T44" fmla="*/ 0 w 209"/>
                <a:gd name="T45" fmla="*/ 0 h 187"/>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09" h="187">
                  <a:moveTo>
                    <a:pt x="209" y="0"/>
                  </a:moveTo>
                  <a:lnTo>
                    <a:pt x="209" y="15"/>
                  </a:lnTo>
                  <a:lnTo>
                    <a:pt x="182" y="51"/>
                  </a:lnTo>
                  <a:lnTo>
                    <a:pt x="157" y="71"/>
                  </a:lnTo>
                  <a:lnTo>
                    <a:pt x="100" y="113"/>
                  </a:lnTo>
                  <a:lnTo>
                    <a:pt x="77" y="130"/>
                  </a:lnTo>
                  <a:lnTo>
                    <a:pt x="25" y="170"/>
                  </a:lnTo>
                  <a:lnTo>
                    <a:pt x="82" y="152"/>
                  </a:lnTo>
                  <a:lnTo>
                    <a:pt x="140" y="135"/>
                  </a:lnTo>
                  <a:lnTo>
                    <a:pt x="198" y="130"/>
                  </a:lnTo>
                  <a:lnTo>
                    <a:pt x="194" y="147"/>
                  </a:lnTo>
                  <a:lnTo>
                    <a:pt x="100" y="164"/>
                  </a:lnTo>
                  <a:lnTo>
                    <a:pt x="52" y="184"/>
                  </a:lnTo>
                  <a:lnTo>
                    <a:pt x="25" y="187"/>
                  </a:lnTo>
                  <a:lnTo>
                    <a:pt x="2" y="180"/>
                  </a:lnTo>
                  <a:lnTo>
                    <a:pt x="0" y="158"/>
                  </a:lnTo>
                  <a:lnTo>
                    <a:pt x="18" y="141"/>
                  </a:lnTo>
                  <a:lnTo>
                    <a:pt x="44" y="116"/>
                  </a:lnTo>
                  <a:lnTo>
                    <a:pt x="75" y="80"/>
                  </a:lnTo>
                  <a:lnTo>
                    <a:pt x="107" y="40"/>
                  </a:lnTo>
                  <a:lnTo>
                    <a:pt x="144" y="12"/>
                  </a:lnTo>
                  <a:lnTo>
                    <a:pt x="184" y="2"/>
                  </a:lnTo>
                  <a:lnTo>
                    <a:pt x="209"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8" name="Freeform 181"/>
            <p:cNvSpPr>
              <a:spLocks/>
            </p:cNvSpPr>
            <p:nvPr/>
          </p:nvSpPr>
          <p:spPr bwMode="auto">
            <a:xfrm>
              <a:off x="232" y="1909"/>
              <a:ext cx="39" cy="49"/>
            </a:xfrm>
            <a:custGeom>
              <a:avLst/>
              <a:gdLst>
                <a:gd name="T0" fmla="*/ 0 w 192"/>
                <a:gd name="T1" fmla="*/ 0 h 246"/>
                <a:gd name="T2" fmla="*/ 0 w 192"/>
                <a:gd name="T3" fmla="*/ 0 h 246"/>
                <a:gd name="T4" fmla="*/ 0 w 192"/>
                <a:gd name="T5" fmla="*/ 0 h 246"/>
                <a:gd name="T6" fmla="*/ 0 w 192"/>
                <a:gd name="T7" fmla="*/ 0 h 246"/>
                <a:gd name="T8" fmla="*/ 0 w 192"/>
                <a:gd name="T9" fmla="*/ 0 h 246"/>
                <a:gd name="T10" fmla="*/ 0 w 192"/>
                <a:gd name="T11" fmla="*/ 0 h 246"/>
                <a:gd name="T12" fmla="*/ 0 w 192"/>
                <a:gd name="T13" fmla="*/ 0 h 246"/>
                <a:gd name="T14" fmla="*/ 0 w 192"/>
                <a:gd name="T15" fmla="*/ 0 h 246"/>
                <a:gd name="T16" fmla="*/ 0 w 192"/>
                <a:gd name="T17" fmla="*/ 0 h 246"/>
                <a:gd name="T18" fmla="*/ 0 w 192"/>
                <a:gd name="T19" fmla="*/ 0 h 246"/>
                <a:gd name="T20" fmla="*/ 0 w 192"/>
                <a:gd name="T21" fmla="*/ 0 h 246"/>
                <a:gd name="T22" fmla="*/ 0 w 192"/>
                <a:gd name="T23" fmla="*/ 0 h 246"/>
                <a:gd name="T24" fmla="*/ 0 w 192"/>
                <a:gd name="T25" fmla="*/ 0 h 246"/>
                <a:gd name="T26" fmla="*/ 0 w 192"/>
                <a:gd name="T27" fmla="*/ 0 h 246"/>
                <a:gd name="T28" fmla="*/ 0 w 192"/>
                <a:gd name="T29" fmla="*/ 0 h 246"/>
                <a:gd name="T30" fmla="*/ 0 w 192"/>
                <a:gd name="T31" fmla="*/ 0 h 246"/>
                <a:gd name="T32" fmla="*/ 0 w 192"/>
                <a:gd name="T33" fmla="*/ 0 h 24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92" h="246">
                  <a:moveTo>
                    <a:pt x="156" y="0"/>
                  </a:moveTo>
                  <a:lnTo>
                    <a:pt x="183" y="4"/>
                  </a:lnTo>
                  <a:lnTo>
                    <a:pt x="192" y="27"/>
                  </a:lnTo>
                  <a:lnTo>
                    <a:pt x="190" y="46"/>
                  </a:lnTo>
                  <a:lnTo>
                    <a:pt x="174" y="71"/>
                  </a:lnTo>
                  <a:lnTo>
                    <a:pt x="152" y="78"/>
                  </a:lnTo>
                  <a:lnTo>
                    <a:pt x="110" y="106"/>
                  </a:lnTo>
                  <a:lnTo>
                    <a:pt x="69" y="140"/>
                  </a:lnTo>
                  <a:lnTo>
                    <a:pt x="41" y="184"/>
                  </a:lnTo>
                  <a:lnTo>
                    <a:pt x="8" y="231"/>
                  </a:lnTo>
                  <a:lnTo>
                    <a:pt x="0" y="246"/>
                  </a:lnTo>
                  <a:lnTo>
                    <a:pt x="8" y="190"/>
                  </a:lnTo>
                  <a:lnTo>
                    <a:pt x="16" y="141"/>
                  </a:lnTo>
                  <a:lnTo>
                    <a:pt x="31" y="99"/>
                  </a:lnTo>
                  <a:lnTo>
                    <a:pt x="57" y="60"/>
                  </a:lnTo>
                  <a:lnTo>
                    <a:pt x="128" y="6"/>
                  </a:lnTo>
                  <a:lnTo>
                    <a:pt x="156"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9" name="Freeform 182"/>
            <p:cNvSpPr>
              <a:spLocks/>
            </p:cNvSpPr>
            <p:nvPr/>
          </p:nvSpPr>
          <p:spPr bwMode="auto">
            <a:xfrm>
              <a:off x="237" y="1860"/>
              <a:ext cx="41" cy="29"/>
            </a:xfrm>
            <a:custGeom>
              <a:avLst/>
              <a:gdLst>
                <a:gd name="T0" fmla="*/ 0 w 204"/>
                <a:gd name="T1" fmla="*/ 0 h 141"/>
                <a:gd name="T2" fmla="*/ 0 w 204"/>
                <a:gd name="T3" fmla="*/ 0 h 141"/>
                <a:gd name="T4" fmla="*/ 0 w 204"/>
                <a:gd name="T5" fmla="*/ 0 h 141"/>
                <a:gd name="T6" fmla="*/ 0 w 204"/>
                <a:gd name="T7" fmla="*/ 0 h 141"/>
                <a:gd name="T8" fmla="*/ 0 w 204"/>
                <a:gd name="T9" fmla="*/ 0 h 141"/>
                <a:gd name="T10" fmla="*/ 0 w 204"/>
                <a:gd name="T11" fmla="*/ 0 h 141"/>
                <a:gd name="T12" fmla="*/ 0 w 204"/>
                <a:gd name="T13" fmla="*/ 0 h 141"/>
                <a:gd name="T14" fmla="*/ 0 w 204"/>
                <a:gd name="T15" fmla="*/ 0 h 141"/>
                <a:gd name="T16" fmla="*/ 0 w 204"/>
                <a:gd name="T17" fmla="*/ 0 h 141"/>
                <a:gd name="T18" fmla="*/ 0 w 204"/>
                <a:gd name="T19" fmla="*/ 0 h 14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04" h="141">
                  <a:moveTo>
                    <a:pt x="204" y="141"/>
                  </a:moveTo>
                  <a:lnTo>
                    <a:pt x="169" y="110"/>
                  </a:lnTo>
                  <a:lnTo>
                    <a:pt x="111" y="89"/>
                  </a:lnTo>
                  <a:lnTo>
                    <a:pt x="71" y="78"/>
                  </a:lnTo>
                  <a:lnTo>
                    <a:pt x="0" y="0"/>
                  </a:lnTo>
                  <a:lnTo>
                    <a:pt x="53" y="30"/>
                  </a:lnTo>
                  <a:lnTo>
                    <a:pt x="103" y="51"/>
                  </a:lnTo>
                  <a:lnTo>
                    <a:pt x="138" y="69"/>
                  </a:lnTo>
                  <a:lnTo>
                    <a:pt x="155" y="89"/>
                  </a:lnTo>
                  <a:lnTo>
                    <a:pt x="204" y="14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0" name="Freeform 183"/>
            <p:cNvSpPr>
              <a:spLocks/>
            </p:cNvSpPr>
            <p:nvPr/>
          </p:nvSpPr>
          <p:spPr bwMode="auto">
            <a:xfrm>
              <a:off x="286" y="1913"/>
              <a:ext cx="23" cy="73"/>
            </a:xfrm>
            <a:custGeom>
              <a:avLst/>
              <a:gdLst>
                <a:gd name="T0" fmla="*/ 0 w 115"/>
                <a:gd name="T1" fmla="*/ 0 h 368"/>
                <a:gd name="T2" fmla="*/ 0 w 115"/>
                <a:gd name="T3" fmla="*/ 0 h 368"/>
                <a:gd name="T4" fmla="*/ 0 w 115"/>
                <a:gd name="T5" fmla="*/ 0 h 368"/>
                <a:gd name="T6" fmla="*/ 0 w 115"/>
                <a:gd name="T7" fmla="*/ 0 h 368"/>
                <a:gd name="T8" fmla="*/ 0 w 115"/>
                <a:gd name="T9" fmla="*/ 0 h 368"/>
                <a:gd name="T10" fmla="*/ 0 w 115"/>
                <a:gd name="T11" fmla="*/ 0 h 368"/>
                <a:gd name="T12" fmla="*/ 0 w 115"/>
                <a:gd name="T13" fmla="*/ 0 h 368"/>
                <a:gd name="T14" fmla="*/ 0 w 115"/>
                <a:gd name="T15" fmla="*/ 0 h 368"/>
                <a:gd name="T16" fmla="*/ 0 w 115"/>
                <a:gd name="T17" fmla="*/ 0 h 368"/>
                <a:gd name="T18" fmla="*/ 0 w 115"/>
                <a:gd name="T19" fmla="*/ 0 h 368"/>
                <a:gd name="T20" fmla="*/ 0 w 115"/>
                <a:gd name="T21" fmla="*/ 0 h 368"/>
                <a:gd name="T22" fmla="*/ 0 w 115"/>
                <a:gd name="T23" fmla="*/ 0 h 368"/>
                <a:gd name="T24" fmla="*/ 0 w 115"/>
                <a:gd name="T25" fmla="*/ 0 h 368"/>
                <a:gd name="T26" fmla="*/ 0 w 115"/>
                <a:gd name="T27" fmla="*/ 0 h 368"/>
                <a:gd name="T28" fmla="*/ 0 w 115"/>
                <a:gd name="T29" fmla="*/ 0 h 368"/>
                <a:gd name="T30" fmla="*/ 0 w 115"/>
                <a:gd name="T31" fmla="*/ 0 h 368"/>
                <a:gd name="T32" fmla="*/ 0 w 115"/>
                <a:gd name="T33" fmla="*/ 0 h 368"/>
                <a:gd name="T34" fmla="*/ 0 w 115"/>
                <a:gd name="T35" fmla="*/ 0 h 368"/>
                <a:gd name="T36" fmla="*/ 0 w 115"/>
                <a:gd name="T37" fmla="*/ 0 h 36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5" h="368">
                  <a:moveTo>
                    <a:pt x="115" y="368"/>
                  </a:moveTo>
                  <a:lnTo>
                    <a:pt x="58" y="368"/>
                  </a:lnTo>
                  <a:lnTo>
                    <a:pt x="40" y="364"/>
                  </a:lnTo>
                  <a:lnTo>
                    <a:pt x="40" y="349"/>
                  </a:lnTo>
                  <a:lnTo>
                    <a:pt x="28" y="336"/>
                  </a:lnTo>
                  <a:lnTo>
                    <a:pt x="9" y="323"/>
                  </a:lnTo>
                  <a:lnTo>
                    <a:pt x="19" y="309"/>
                  </a:lnTo>
                  <a:lnTo>
                    <a:pt x="19" y="291"/>
                  </a:lnTo>
                  <a:lnTo>
                    <a:pt x="5" y="269"/>
                  </a:lnTo>
                  <a:lnTo>
                    <a:pt x="5" y="246"/>
                  </a:lnTo>
                  <a:lnTo>
                    <a:pt x="14" y="219"/>
                  </a:lnTo>
                  <a:lnTo>
                    <a:pt x="14" y="161"/>
                  </a:lnTo>
                  <a:lnTo>
                    <a:pt x="0" y="107"/>
                  </a:lnTo>
                  <a:lnTo>
                    <a:pt x="5" y="67"/>
                  </a:lnTo>
                  <a:lnTo>
                    <a:pt x="5" y="0"/>
                  </a:lnTo>
                  <a:lnTo>
                    <a:pt x="40" y="101"/>
                  </a:lnTo>
                  <a:lnTo>
                    <a:pt x="71" y="197"/>
                  </a:lnTo>
                  <a:lnTo>
                    <a:pt x="93" y="300"/>
                  </a:lnTo>
                  <a:lnTo>
                    <a:pt x="115" y="368"/>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1" name="Freeform 184"/>
            <p:cNvSpPr>
              <a:spLocks/>
            </p:cNvSpPr>
            <p:nvPr/>
          </p:nvSpPr>
          <p:spPr bwMode="auto">
            <a:xfrm>
              <a:off x="233" y="1992"/>
              <a:ext cx="41" cy="14"/>
            </a:xfrm>
            <a:custGeom>
              <a:avLst/>
              <a:gdLst>
                <a:gd name="T0" fmla="*/ 0 w 206"/>
                <a:gd name="T1" fmla="*/ 0 h 69"/>
                <a:gd name="T2" fmla="*/ 0 w 206"/>
                <a:gd name="T3" fmla="*/ 0 h 69"/>
                <a:gd name="T4" fmla="*/ 0 w 206"/>
                <a:gd name="T5" fmla="*/ 0 h 69"/>
                <a:gd name="T6" fmla="*/ 0 w 206"/>
                <a:gd name="T7" fmla="*/ 0 h 69"/>
                <a:gd name="T8" fmla="*/ 0 w 206"/>
                <a:gd name="T9" fmla="*/ 0 h 69"/>
                <a:gd name="T10" fmla="*/ 0 w 206"/>
                <a:gd name="T11" fmla="*/ 0 h 69"/>
                <a:gd name="T12" fmla="*/ 0 w 206"/>
                <a:gd name="T13" fmla="*/ 0 h 69"/>
                <a:gd name="T14" fmla="*/ 0 w 206"/>
                <a:gd name="T15" fmla="*/ 0 h 69"/>
                <a:gd name="T16" fmla="*/ 0 w 206"/>
                <a:gd name="T17" fmla="*/ 0 h 69"/>
                <a:gd name="T18" fmla="*/ 0 w 206"/>
                <a:gd name="T19" fmla="*/ 0 h 69"/>
                <a:gd name="T20" fmla="*/ 0 w 206"/>
                <a:gd name="T21" fmla="*/ 0 h 69"/>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06" h="69">
                  <a:moveTo>
                    <a:pt x="42" y="34"/>
                  </a:moveTo>
                  <a:lnTo>
                    <a:pt x="87" y="15"/>
                  </a:lnTo>
                  <a:lnTo>
                    <a:pt x="129" y="3"/>
                  </a:lnTo>
                  <a:lnTo>
                    <a:pt x="184" y="0"/>
                  </a:lnTo>
                  <a:lnTo>
                    <a:pt x="206" y="4"/>
                  </a:lnTo>
                  <a:lnTo>
                    <a:pt x="196" y="26"/>
                  </a:lnTo>
                  <a:lnTo>
                    <a:pt x="174" y="43"/>
                  </a:lnTo>
                  <a:lnTo>
                    <a:pt x="126" y="57"/>
                  </a:lnTo>
                  <a:lnTo>
                    <a:pt x="50" y="69"/>
                  </a:lnTo>
                  <a:lnTo>
                    <a:pt x="0" y="65"/>
                  </a:lnTo>
                  <a:lnTo>
                    <a:pt x="42" y="3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2" name="Freeform 185"/>
            <p:cNvSpPr>
              <a:spLocks/>
            </p:cNvSpPr>
            <p:nvPr/>
          </p:nvSpPr>
          <p:spPr bwMode="auto">
            <a:xfrm>
              <a:off x="284" y="1999"/>
              <a:ext cx="25" cy="31"/>
            </a:xfrm>
            <a:custGeom>
              <a:avLst/>
              <a:gdLst>
                <a:gd name="T0" fmla="*/ 0 w 124"/>
                <a:gd name="T1" fmla="*/ 0 h 154"/>
                <a:gd name="T2" fmla="*/ 0 w 124"/>
                <a:gd name="T3" fmla="*/ 0 h 154"/>
                <a:gd name="T4" fmla="*/ 0 w 124"/>
                <a:gd name="T5" fmla="*/ 0 h 154"/>
                <a:gd name="T6" fmla="*/ 0 w 124"/>
                <a:gd name="T7" fmla="*/ 0 h 154"/>
                <a:gd name="T8" fmla="*/ 0 w 124"/>
                <a:gd name="T9" fmla="*/ 0 h 154"/>
                <a:gd name="T10" fmla="*/ 0 w 124"/>
                <a:gd name="T11" fmla="*/ 0 h 154"/>
                <a:gd name="T12" fmla="*/ 0 w 124"/>
                <a:gd name="T13" fmla="*/ 0 h 154"/>
                <a:gd name="T14" fmla="*/ 0 w 124"/>
                <a:gd name="T15" fmla="*/ 0 h 154"/>
                <a:gd name="T16" fmla="*/ 0 w 124"/>
                <a:gd name="T17" fmla="*/ 0 h 154"/>
                <a:gd name="T18" fmla="*/ 0 w 124"/>
                <a:gd name="T19" fmla="*/ 0 h 154"/>
                <a:gd name="T20" fmla="*/ 0 w 124"/>
                <a:gd name="T21" fmla="*/ 0 h 154"/>
                <a:gd name="T22" fmla="*/ 0 w 124"/>
                <a:gd name="T23" fmla="*/ 0 h 154"/>
                <a:gd name="T24" fmla="*/ 0 w 124"/>
                <a:gd name="T25" fmla="*/ 0 h 15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24" h="154">
                  <a:moveTo>
                    <a:pt x="67" y="43"/>
                  </a:moveTo>
                  <a:lnTo>
                    <a:pt x="82" y="9"/>
                  </a:lnTo>
                  <a:lnTo>
                    <a:pt x="106" y="0"/>
                  </a:lnTo>
                  <a:lnTo>
                    <a:pt x="122" y="7"/>
                  </a:lnTo>
                  <a:lnTo>
                    <a:pt x="124" y="25"/>
                  </a:lnTo>
                  <a:lnTo>
                    <a:pt x="114" y="55"/>
                  </a:lnTo>
                  <a:lnTo>
                    <a:pt x="95" y="82"/>
                  </a:lnTo>
                  <a:lnTo>
                    <a:pt x="73" y="108"/>
                  </a:lnTo>
                  <a:lnTo>
                    <a:pt x="45" y="133"/>
                  </a:lnTo>
                  <a:lnTo>
                    <a:pt x="0" y="154"/>
                  </a:lnTo>
                  <a:lnTo>
                    <a:pt x="40" y="110"/>
                  </a:lnTo>
                  <a:lnTo>
                    <a:pt x="53" y="78"/>
                  </a:lnTo>
                  <a:lnTo>
                    <a:pt x="67" y="4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3" name="Freeform 186"/>
            <p:cNvSpPr>
              <a:spLocks/>
            </p:cNvSpPr>
            <p:nvPr/>
          </p:nvSpPr>
          <p:spPr bwMode="auto">
            <a:xfrm>
              <a:off x="208" y="1836"/>
              <a:ext cx="60" cy="37"/>
            </a:xfrm>
            <a:custGeom>
              <a:avLst/>
              <a:gdLst>
                <a:gd name="T0" fmla="*/ 0 w 298"/>
                <a:gd name="T1" fmla="*/ 0 h 186"/>
                <a:gd name="T2" fmla="*/ 0 w 298"/>
                <a:gd name="T3" fmla="*/ 0 h 186"/>
                <a:gd name="T4" fmla="*/ 0 w 298"/>
                <a:gd name="T5" fmla="*/ 0 h 186"/>
                <a:gd name="T6" fmla="*/ 0 w 298"/>
                <a:gd name="T7" fmla="*/ 0 h 186"/>
                <a:gd name="T8" fmla="*/ 0 w 298"/>
                <a:gd name="T9" fmla="*/ 0 h 186"/>
                <a:gd name="T10" fmla="*/ 0 w 298"/>
                <a:gd name="T11" fmla="*/ 0 h 186"/>
                <a:gd name="T12" fmla="*/ 0 w 298"/>
                <a:gd name="T13" fmla="*/ 0 h 186"/>
                <a:gd name="T14" fmla="*/ 0 w 298"/>
                <a:gd name="T15" fmla="*/ 0 h 186"/>
                <a:gd name="T16" fmla="*/ 0 w 298"/>
                <a:gd name="T17" fmla="*/ 0 h 186"/>
                <a:gd name="T18" fmla="*/ 0 w 298"/>
                <a:gd name="T19" fmla="*/ 0 h 186"/>
                <a:gd name="T20" fmla="*/ 0 w 298"/>
                <a:gd name="T21" fmla="*/ 0 h 186"/>
                <a:gd name="T22" fmla="*/ 0 w 298"/>
                <a:gd name="T23" fmla="*/ 0 h 18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98" h="186">
                  <a:moveTo>
                    <a:pt x="298" y="186"/>
                  </a:moveTo>
                  <a:lnTo>
                    <a:pt x="289" y="109"/>
                  </a:lnTo>
                  <a:lnTo>
                    <a:pt x="226" y="82"/>
                  </a:lnTo>
                  <a:lnTo>
                    <a:pt x="142" y="49"/>
                  </a:lnTo>
                  <a:lnTo>
                    <a:pt x="80" y="25"/>
                  </a:lnTo>
                  <a:lnTo>
                    <a:pt x="23" y="0"/>
                  </a:lnTo>
                  <a:lnTo>
                    <a:pt x="0" y="53"/>
                  </a:lnTo>
                  <a:lnTo>
                    <a:pt x="55" y="84"/>
                  </a:lnTo>
                  <a:lnTo>
                    <a:pt x="119" y="107"/>
                  </a:lnTo>
                  <a:lnTo>
                    <a:pt x="168" y="122"/>
                  </a:lnTo>
                  <a:lnTo>
                    <a:pt x="229" y="154"/>
                  </a:lnTo>
                  <a:lnTo>
                    <a:pt x="298" y="186"/>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94" name="Group 187"/>
          <p:cNvGrpSpPr>
            <a:grpSpLocks/>
          </p:cNvGrpSpPr>
          <p:nvPr/>
        </p:nvGrpSpPr>
        <p:grpSpPr bwMode="auto">
          <a:xfrm>
            <a:off x="1794400" y="3380007"/>
            <a:ext cx="123814" cy="155175"/>
            <a:chOff x="141" y="2010"/>
            <a:chExt cx="123" cy="167"/>
          </a:xfrm>
        </p:grpSpPr>
        <p:sp>
          <p:nvSpPr>
            <p:cNvPr id="195" name="Freeform 188"/>
            <p:cNvSpPr>
              <a:spLocks/>
            </p:cNvSpPr>
            <p:nvPr/>
          </p:nvSpPr>
          <p:spPr bwMode="auto">
            <a:xfrm>
              <a:off x="141" y="2010"/>
              <a:ext cx="123" cy="167"/>
            </a:xfrm>
            <a:custGeom>
              <a:avLst/>
              <a:gdLst>
                <a:gd name="T0" fmla="*/ 0 w 617"/>
                <a:gd name="T1" fmla="*/ 0 h 835"/>
                <a:gd name="T2" fmla="*/ 0 w 617"/>
                <a:gd name="T3" fmla="*/ 0 h 835"/>
                <a:gd name="T4" fmla="*/ 0 w 617"/>
                <a:gd name="T5" fmla="*/ 0 h 835"/>
                <a:gd name="T6" fmla="*/ 0 w 617"/>
                <a:gd name="T7" fmla="*/ 0 h 835"/>
                <a:gd name="T8" fmla="*/ 0 w 617"/>
                <a:gd name="T9" fmla="*/ 0 h 835"/>
                <a:gd name="T10" fmla="*/ 0 w 617"/>
                <a:gd name="T11" fmla="*/ 0 h 835"/>
                <a:gd name="T12" fmla="*/ 0 w 617"/>
                <a:gd name="T13" fmla="*/ 0 h 835"/>
                <a:gd name="T14" fmla="*/ 0 w 617"/>
                <a:gd name="T15" fmla="*/ 0 h 835"/>
                <a:gd name="T16" fmla="*/ 0 w 617"/>
                <a:gd name="T17" fmla="*/ 0 h 835"/>
                <a:gd name="T18" fmla="*/ 0 w 617"/>
                <a:gd name="T19" fmla="*/ 0 h 835"/>
                <a:gd name="T20" fmla="*/ 0 w 617"/>
                <a:gd name="T21" fmla="*/ 0 h 835"/>
                <a:gd name="T22" fmla="*/ 0 w 617"/>
                <a:gd name="T23" fmla="*/ 0 h 835"/>
                <a:gd name="T24" fmla="*/ 0 w 617"/>
                <a:gd name="T25" fmla="*/ 0 h 835"/>
                <a:gd name="T26" fmla="*/ 0 w 617"/>
                <a:gd name="T27" fmla="*/ 0 h 835"/>
                <a:gd name="T28" fmla="*/ 0 w 617"/>
                <a:gd name="T29" fmla="*/ 0 h 835"/>
                <a:gd name="T30" fmla="*/ 0 w 617"/>
                <a:gd name="T31" fmla="*/ 0 h 835"/>
                <a:gd name="T32" fmla="*/ 0 w 617"/>
                <a:gd name="T33" fmla="*/ 0 h 835"/>
                <a:gd name="T34" fmla="*/ 0 w 617"/>
                <a:gd name="T35" fmla="*/ 0 h 835"/>
                <a:gd name="T36" fmla="*/ 0 w 617"/>
                <a:gd name="T37" fmla="*/ 0 h 835"/>
                <a:gd name="T38" fmla="*/ 0 w 617"/>
                <a:gd name="T39" fmla="*/ 0 h 835"/>
                <a:gd name="T40" fmla="*/ 0 w 617"/>
                <a:gd name="T41" fmla="*/ 0 h 835"/>
                <a:gd name="T42" fmla="*/ 0 w 617"/>
                <a:gd name="T43" fmla="*/ 0 h 835"/>
                <a:gd name="T44" fmla="*/ 0 w 617"/>
                <a:gd name="T45" fmla="*/ 0 h 835"/>
                <a:gd name="T46" fmla="*/ 0 w 617"/>
                <a:gd name="T47" fmla="*/ 0 h 835"/>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617" h="835">
                  <a:moveTo>
                    <a:pt x="342" y="123"/>
                  </a:moveTo>
                  <a:lnTo>
                    <a:pt x="229" y="113"/>
                  </a:lnTo>
                  <a:lnTo>
                    <a:pt x="160" y="96"/>
                  </a:lnTo>
                  <a:lnTo>
                    <a:pt x="139" y="64"/>
                  </a:lnTo>
                  <a:lnTo>
                    <a:pt x="139" y="38"/>
                  </a:lnTo>
                  <a:lnTo>
                    <a:pt x="121" y="15"/>
                  </a:lnTo>
                  <a:lnTo>
                    <a:pt x="58" y="0"/>
                  </a:lnTo>
                  <a:lnTo>
                    <a:pt x="0" y="5"/>
                  </a:lnTo>
                  <a:lnTo>
                    <a:pt x="70" y="650"/>
                  </a:lnTo>
                  <a:lnTo>
                    <a:pt x="121" y="710"/>
                  </a:lnTo>
                  <a:lnTo>
                    <a:pt x="183" y="768"/>
                  </a:lnTo>
                  <a:lnTo>
                    <a:pt x="273" y="813"/>
                  </a:lnTo>
                  <a:lnTo>
                    <a:pt x="377" y="827"/>
                  </a:lnTo>
                  <a:lnTo>
                    <a:pt x="518" y="835"/>
                  </a:lnTo>
                  <a:lnTo>
                    <a:pt x="599" y="823"/>
                  </a:lnTo>
                  <a:lnTo>
                    <a:pt x="617" y="777"/>
                  </a:lnTo>
                  <a:lnTo>
                    <a:pt x="608" y="718"/>
                  </a:lnTo>
                  <a:lnTo>
                    <a:pt x="550" y="537"/>
                  </a:lnTo>
                  <a:lnTo>
                    <a:pt x="500" y="357"/>
                  </a:lnTo>
                  <a:lnTo>
                    <a:pt x="478" y="221"/>
                  </a:lnTo>
                  <a:lnTo>
                    <a:pt x="478" y="186"/>
                  </a:lnTo>
                  <a:lnTo>
                    <a:pt x="446" y="136"/>
                  </a:lnTo>
                  <a:lnTo>
                    <a:pt x="409" y="123"/>
                  </a:lnTo>
                  <a:lnTo>
                    <a:pt x="342" y="12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6" name="Freeform 189"/>
            <p:cNvSpPr>
              <a:spLocks/>
            </p:cNvSpPr>
            <p:nvPr/>
          </p:nvSpPr>
          <p:spPr bwMode="auto">
            <a:xfrm>
              <a:off x="143" y="2019"/>
              <a:ext cx="106" cy="153"/>
            </a:xfrm>
            <a:custGeom>
              <a:avLst/>
              <a:gdLst>
                <a:gd name="T0" fmla="*/ 0 w 531"/>
                <a:gd name="T1" fmla="*/ 0 h 766"/>
                <a:gd name="T2" fmla="*/ 0 w 531"/>
                <a:gd name="T3" fmla="*/ 0 h 766"/>
                <a:gd name="T4" fmla="*/ 0 w 531"/>
                <a:gd name="T5" fmla="*/ 0 h 766"/>
                <a:gd name="T6" fmla="*/ 0 w 531"/>
                <a:gd name="T7" fmla="*/ 0 h 766"/>
                <a:gd name="T8" fmla="*/ 0 w 531"/>
                <a:gd name="T9" fmla="*/ 0 h 766"/>
                <a:gd name="T10" fmla="*/ 0 w 531"/>
                <a:gd name="T11" fmla="*/ 0 h 766"/>
                <a:gd name="T12" fmla="*/ 0 w 531"/>
                <a:gd name="T13" fmla="*/ 0 h 766"/>
                <a:gd name="T14" fmla="*/ 0 w 531"/>
                <a:gd name="T15" fmla="*/ 0 h 766"/>
                <a:gd name="T16" fmla="*/ 0 w 531"/>
                <a:gd name="T17" fmla="*/ 0 h 766"/>
                <a:gd name="T18" fmla="*/ 0 w 531"/>
                <a:gd name="T19" fmla="*/ 0 h 766"/>
                <a:gd name="T20" fmla="*/ 0 w 531"/>
                <a:gd name="T21" fmla="*/ 0 h 766"/>
                <a:gd name="T22" fmla="*/ 0 w 531"/>
                <a:gd name="T23" fmla="*/ 0 h 766"/>
                <a:gd name="T24" fmla="*/ 0 w 531"/>
                <a:gd name="T25" fmla="*/ 0 h 766"/>
                <a:gd name="T26" fmla="*/ 0 w 531"/>
                <a:gd name="T27" fmla="*/ 0 h 766"/>
                <a:gd name="T28" fmla="*/ 0 w 531"/>
                <a:gd name="T29" fmla="*/ 0 h 766"/>
                <a:gd name="T30" fmla="*/ 0 w 531"/>
                <a:gd name="T31" fmla="*/ 0 h 766"/>
                <a:gd name="T32" fmla="*/ 0 w 531"/>
                <a:gd name="T33" fmla="*/ 0 h 766"/>
                <a:gd name="T34" fmla="*/ 0 w 531"/>
                <a:gd name="T35" fmla="*/ 0 h 766"/>
                <a:gd name="T36" fmla="*/ 0 w 531"/>
                <a:gd name="T37" fmla="*/ 0 h 766"/>
                <a:gd name="T38" fmla="*/ 0 w 531"/>
                <a:gd name="T39" fmla="*/ 0 h 766"/>
                <a:gd name="T40" fmla="*/ 0 w 531"/>
                <a:gd name="T41" fmla="*/ 0 h 76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531" h="766">
                  <a:moveTo>
                    <a:pt x="347" y="154"/>
                  </a:moveTo>
                  <a:lnTo>
                    <a:pt x="248" y="150"/>
                  </a:lnTo>
                  <a:lnTo>
                    <a:pt x="143" y="131"/>
                  </a:lnTo>
                  <a:lnTo>
                    <a:pt x="81" y="99"/>
                  </a:lnTo>
                  <a:lnTo>
                    <a:pt x="46" y="72"/>
                  </a:lnTo>
                  <a:lnTo>
                    <a:pt x="0" y="0"/>
                  </a:lnTo>
                  <a:lnTo>
                    <a:pt x="67" y="589"/>
                  </a:lnTo>
                  <a:lnTo>
                    <a:pt x="113" y="643"/>
                  </a:lnTo>
                  <a:lnTo>
                    <a:pt x="162" y="694"/>
                  </a:lnTo>
                  <a:lnTo>
                    <a:pt x="225" y="729"/>
                  </a:lnTo>
                  <a:lnTo>
                    <a:pt x="279" y="747"/>
                  </a:lnTo>
                  <a:lnTo>
                    <a:pt x="347" y="756"/>
                  </a:lnTo>
                  <a:lnTo>
                    <a:pt x="409" y="766"/>
                  </a:lnTo>
                  <a:lnTo>
                    <a:pt x="480" y="766"/>
                  </a:lnTo>
                  <a:lnTo>
                    <a:pt x="512" y="756"/>
                  </a:lnTo>
                  <a:lnTo>
                    <a:pt x="531" y="729"/>
                  </a:lnTo>
                  <a:lnTo>
                    <a:pt x="522" y="685"/>
                  </a:lnTo>
                  <a:lnTo>
                    <a:pt x="476" y="581"/>
                  </a:lnTo>
                  <a:lnTo>
                    <a:pt x="399" y="229"/>
                  </a:lnTo>
                  <a:lnTo>
                    <a:pt x="387" y="180"/>
                  </a:lnTo>
                  <a:lnTo>
                    <a:pt x="347" y="15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97" name="Freeform 190"/>
          <p:cNvSpPr>
            <a:spLocks/>
          </p:cNvSpPr>
          <p:nvPr/>
        </p:nvSpPr>
        <p:spPr bwMode="auto">
          <a:xfrm>
            <a:off x="2098400" y="3556553"/>
            <a:ext cx="9060" cy="131016"/>
          </a:xfrm>
          <a:custGeom>
            <a:avLst/>
            <a:gdLst>
              <a:gd name="T0" fmla="*/ 2147483646 w 43"/>
              <a:gd name="T1" fmla="*/ 0 h 703"/>
              <a:gd name="T2" fmla="*/ 2147483646 w 43"/>
              <a:gd name="T3" fmla="*/ 2147483646 h 703"/>
              <a:gd name="T4" fmla="*/ 2147483646 w 43"/>
              <a:gd name="T5" fmla="*/ 2147483646 h 703"/>
              <a:gd name="T6" fmla="*/ 2147483646 w 43"/>
              <a:gd name="T7" fmla="*/ 2147483646 h 703"/>
              <a:gd name="T8" fmla="*/ 2147483646 w 43"/>
              <a:gd name="T9" fmla="*/ 2147483646 h 703"/>
              <a:gd name="T10" fmla="*/ 2147483646 w 43"/>
              <a:gd name="T11" fmla="*/ 2147483646 h 703"/>
              <a:gd name="T12" fmla="*/ 2147483646 w 43"/>
              <a:gd name="T13" fmla="*/ 2147483646 h 703"/>
              <a:gd name="T14" fmla="*/ 0 w 43"/>
              <a:gd name="T15" fmla="*/ 2147483646 h 703"/>
              <a:gd name="T16" fmla="*/ 2147483646 w 43"/>
              <a:gd name="T17" fmla="*/ 2147483646 h 703"/>
              <a:gd name="T18" fmla="*/ 2147483646 w 43"/>
              <a:gd name="T19" fmla="*/ 2147483646 h 703"/>
              <a:gd name="T20" fmla="*/ 2147483646 w 43"/>
              <a:gd name="T21" fmla="*/ 2147483646 h 703"/>
              <a:gd name="T22" fmla="*/ 2147483646 w 43"/>
              <a:gd name="T23" fmla="*/ 2147483646 h 703"/>
              <a:gd name="T24" fmla="*/ 2147483646 w 43"/>
              <a:gd name="T25" fmla="*/ 2147483646 h 703"/>
              <a:gd name="T26" fmla="*/ 2147483646 w 43"/>
              <a:gd name="T27" fmla="*/ 2147483646 h 703"/>
              <a:gd name="T28" fmla="*/ 2147483646 w 43"/>
              <a:gd name="T29" fmla="*/ 0 h 70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43" h="703">
                <a:moveTo>
                  <a:pt x="29" y="0"/>
                </a:moveTo>
                <a:lnTo>
                  <a:pt x="43" y="36"/>
                </a:lnTo>
                <a:lnTo>
                  <a:pt x="27" y="63"/>
                </a:lnTo>
                <a:lnTo>
                  <a:pt x="14" y="122"/>
                </a:lnTo>
                <a:lnTo>
                  <a:pt x="32" y="176"/>
                </a:lnTo>
                <a:lnTo>
                  <a:pt x="21" y="491"/>
                </a:lnTo>
                <a:lnTo>
                  <a:pt x="21" y="693"/>
                </a:lnTo>
                <a:lnTo>
                  <a:pt x="0" y="703"/>
                </a:lnTo>
                <a:lnTo>
                  <a:pt x="2" y="284"/>
                </a:lnTo>
                <a:lnTo>
                  <a:pt x="21" y="184"/>
                </a:lnTo>
                <a:lnTo>
                  <a:pt x="10" y="137"/>
                </a:lnTo>
                <a:lnTo>
                  <a:pt x="4" y="120"/>
                </a:lnTo>
                <a:lnTo>
                  <a:pt x="12" y="69"/>
                </a:lnTo>
                <a:lnTo>
                  <a:pt x="27" y="40"/>
                </a:lnTo>
                <a:lnTo>
                  <a:pt x="29"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8" name="Freeform 191"/>
          <p:cNvSpPr>
            <a:spLocks/>
          </p:cNvSpPr>
          <p:nvPr/>
        </p:nvSpPr>
        <p:spPr bwMode="auto">
          <a:xfrm>
            <a:off x="2062162" y="3558412"/>
            <a:ext cx="22145" cy="6505"/>
          </a:xfrm>
          <a:custGeom>
            <a:avLst/>
            <a:gdLst>
              <a:gd name="T0" fmla="*/ 2147483646 w 112"/>
              <a:gd name="T1" fmla="*/ 0 h 36"/>
              <a:gd name="T2" fmla="*/ 2147483646 w 112"/>
              <a:gd name="T3" fmla="*/ 2147483646 h 36"/>
              <a:gd name="T4" fmla="*/ 2147483646 w 112"/>
              <a:gd name="T5" fmla="*/ 2147483646 h 36"/>
              <a:gd name="T6" fmla="*/ 0 w 112"/>
              <a:gd name="T7" fmla="*/ 2147483646 h 36"/>
              <a:gd name="T8" fmla="*/ 2147483646 w 112"/>
              <a:gd name="T9" fmla="*/ 2147483646 h 36"/>
              <a:gd name="T10" fmla="*/ 2147483646 w 112"/>
              <a:gd name="T11" fmla="*/ 0 h 36"/>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2" h="36">
                <a:moveTo>
                  <a:pt x="112" y="0"/>
                </a:moveTo>
                <a:lnTo>
                  <a:pt x="57" y="26"/>
                </a:lnTo>
                <a:lnTo>
                  <a:pt x="9" y="36"/>
                </a:lnTo>
                <a:lnTo>
                  <a:pt x="0" y="36"/>
                </a:lnTo>
                <a:lnTo>
                  <a:pt x="29" y="11"/>
                </a:lnTo>
                <a:lnTo>
                  <a:pt x="112"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9" name="Freeform 192"/>
          <p:cNvSpPr>
            <a:spLocks/>
          </p:cNvSpPr>
          <p:nvPr/>
        </p:nvSpPr>
        <p:spPr bwMode="auto">
          <a:xfrm>
            <a:off x="1968546" y="3218328"/>
            <a:ext cx="30199" cy="75265"/>
          </a:xfrm>
          <a:custGeom>
            <a:avLst/>
            <a:gdLst>
              <a:gd name="T0" fmla="*/ 0 w 150"/>
              <a:gd name="T1" fmla="*/ 0 h 407"/>
              <a:gd name="T2" fmla="*/ 2147483646 w 150"/>
              <a:gd name="T3" fmla="*/ 2147483646 h 407"/>
              <a:gd name="T4" fmla="*/ 2147483646 w 150"/>
              <a:gd name="T5" fmla="*/ 2147483646 h 407"/>
              <a:gd name="T6" fmla="*/ 2147483646 w 150"/>
              <a:gd name="T7" fmla="*/ 2147483646 h 407"/>
              <a:gd name="T8" fmla="*/ 2147483646 w 150"/>
              <a:gd name="T9" fmla="*/ 2147483646 h 407"/>
              <a:gd name="T10" fmla="*/ 2147483646 w 150"/>
              <a:gd name="T11" fmla="*/ 2147483646 h 407"/>
              <a:gd name="T12" fmla="*/ 2147483646 w 150"/>
              <a:gd name="T13" fmla="*/ 2147483646 h 407"/>
              <a:gd name="T14" fmla="*/ 2147483646 w 150"/>
              <a:gd name="T15" fmla="*/ 2147483646 h 407"/>
              <a:gd name="T16" fmla="*/ 2147483646 w 150"/>
              <a:gd name="T17" fmla="*/ 2147483646 h 407"/>
              <a:gd name="T18" fmla="*/ 2147483646 w 150"/>
              <a:gd name="T19" fmla="*/ 2147483646 h 407"/>
              <a:gd name="T20" fmla="*/ 2147483646 w 150"/>
              <a:gd name="T21" fmla="*/ 2147483646 h 407"/>
              <a:gd name="T22" fmla="*/ 2147483646 w 150"/>
              <a:gd name="T23" fmla="*/ 2147483646 h 407"/>
              <a:gd name="T24" fmla="*/ 2147483646 w 150"/>
              <a:gd name="T25" fmla="*/ 2147483646 h 407"/>
              <a:gd name="T26" fmla="*/ 2147483646 w 150"/>
              <a:gd name="T27" fmla="*/ 2147483646 h 407"/>
              <a:gd name="T28" fmla="*/ 2147483646 w 150"/>
              <a:gd name="T29" fmla="*/ 2147483646 h 407"/>
              <a:gd name="T30" fmla="*/ 2147483646 w 150"/>
              <a:gd name="T31" fmla="*/ 2147483646 h 407"/>
              <a:gd name="T32" fmla="*/ 2147483646 w 150"/>
              <a:gd name="T33" fmla="*/ 2147483646 h 407"/>
              <a:gd name="T34" fmla="*/ 2147483646 w 150"/>
              <a:gd name="T35" fmla="*/ 2147483646 h 407"/>
              <a:gd name="T36" fmla="*/ 2147483646 w 150"/>
              <a:gd name="T37" fmla="*/ 2147483646 h 407"/>
              <a:gd name="T38" fmla="*/ 2147483646 w 150"/>
              <a:gd name="T39" fmla="*/ 2147483646 h 407"/>
              <a:gd name="T40" fmla="*/ 2147483646 w 150"/>
              <a:gd name="T41" fmla="*/ 2147483646 h 407"/>
              <a:gd name="T42" fmla="*/ 2147483646 w 150"/>
              <a:gd name="T43" fmla="*/ 2147483646 h 407"/>
              <a:gd name="T44" fmla="*/ 2147483646 w 150"/>
              <a:gd name="T45" fmla="*/ 2147483646 h 407"/>
              <a:gd name="T46" fmla="*/ 2147483646 w 150"/>
              <a:gd name="T47" fmla="*/ 2147483646 h 407"/>
              <a:gd name="T48" fmla="*/ 2147483646 w 150"/>
              <a:gd name="T49" fmla="*/ 2147483646 h 407"/>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150" h="407">
                <a:moveTo>
                  <a:pt x="0" y="0"/>
                </a:moveTo>
                <a:lnTo>
                  <a:pt x="20" y="10"/>
                </a:lnTo>
                <a:lnTo>
                  <a:pt x="17" y="34"/>
                </a:lnTo>
                <a:lnTo>
                  <a:pt x="36" y="22"/>
                </a:lnTo>
                <a:lnTo>
                  <a:pt x="33" y="50"/>
                </a:lnTo>
                <a:lnTo>
                  <a:pt x="58" y="46"/>
                </a:lnTo>
                <a:lnTo>
                  <a:pt x="39" y="69"/>
                </a:lnTo>
                <a:lnTo>
                  <a:pt x="91" y="73"/>
                </a:lnTo>
                <a:lnTo>
                  <a:pt x="61" y="101"/>
                </a:lnTo>
                <a:lnTo>
                  <a:pt x="105" y="101"/>
                </a:lnTo>
                <a:lnTo>
                  <a:pt x="75" y="130"/>
                </a:lnTo>
                <a:lnTo>
                  <a:pt x="121" y="127"/>
                </a:lnTo>
                <a:lnTo>
                  <a:pt x="92" y="167"/>
                </a:lnTo>
                <a:lnTo>
                  <a:pt x="133" y="164"/>
                </a:lnTo>
                <a:lnTo>
                  <a:pt x="98" y="199"/>
                </a:lnTo>
                <a:lnTo>
                  <a:pt x="150" y="205"/>
                </a:lnTo>
                <a:lnTo>
                  <a:pt x="105" y="237"/>
                </a:lnTo>
                <a:lnTo>
                  <a:pt x="150" y="250"/>
                </a:lnTo>
                <a:lnTo>
                  <a:pt x="101" y="266"/>
                </a:lnTo>
                <a:lnTo>
                  <a:pt x="146" y="293"/>
                </a:lnTo>
                <a:lnTo>
                  <a:pt x="98" y="312"/>
                </a:lnTo>
                <a:lnTo>
                  <a:pt x="140" y="343"/>
                </a:lnTo>
                <a:lnTo>
                  <a:pt x="98" y="355"/>
                </a:lnTo>
                <a:lnTo>
                  <a:pt x="121" y="382"/>
                </a:lnTo>
                <a:lnTo>
                  <a:pt x="88" y="407"/>
                </a:lnTo>
              </a:path>
            </a:pathLst>
          </a:custGeom>
          <a:noFill/>
          <a:ln w="3175">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0" name="Text Box 193"/>
          <p:cNvSpPr txBox="1">
            <a:spLocks noChangeArrowheads="1"/>
          </p:cNvSpPr>
          <p:nvPr/>
        </p:nvSpPr>
        <p:spPr bwMode="auto">
          <a:xfrm>
            <a:off x="6632191" y="3918638"/>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201" name="Oval 194"/>
          <p:cNvSpPr>
            <a:spLocks noChangeArrowheads="1"/>
          </p:cNvSpPr>
          <p:nvPr/>
        </p:nvSpPr>
        <p:spPr bwMode="auto">
          <a:xfrm>
            <a:off x="2135645" y="3280584"/>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202" name="Group 195"/>
          <p:cNvGrpSpPr>
            <a:grpSpLocks/>
          </p:cNvGrpSpPr>
          <p:nvPr/>
        </p:nvGrpSpPr>
        <p:grpSpPr bwMode="auto">
          <a:xfrm>
            <a:off x="6678537" y="3067799"/>
            <a:ext cx="449960" cy="289908"/>
            <a:chOff x="4993" y="1674"/>
            <a:chExt cx="447" cy="312"/>
          </a:xfrm>
        </p:grpSpPr>
        <p:grpSp>
          <p:nvGrpSpPr>
            <p:cNvPr id="203" name="Group 196"/>
            <p:cNvGrpSpPr>
              <a:grpSpLocks/>
            </p:cNvGrpSpPr>
            <p:nvPr/>
          </p:nvGrpSpPr>
          <p:grpSpPr bwMode="auto">
            <a:xfrm>
              <a:off x="4993" y="1674"/>
              <a:ext cx="345" cy="282"/>
              <a:chOff x="4993" y="1674"/>
              <a:chExt cx="345" cy="282"/>
            </a:xfrm>
          </p:grpSpPr>
          <p:grpSp>
            <p:nvGrpSpPr>
              <p:cNvPr id="236" name="Group 197"/>
              <p:cNvGrpSpPr>
                <a:grpSpLocks/>
              </p:cNvGrpSpPr>
              <p:nvPr/>
            </p:nvGrpSpPr>
            <p:grpSpPr bwMode="auto">
              <a:xfrm>
                <a:off x="4993" y="1674"/>
                <a:ext cx="345" cy="282"/>
                <a:chOff x="4993" y="1674"/>
                <a:chExt cx="345" cy="282"/>
              </a:xfrm>
            </p:grpSpPr>
            <p:grpSp>
              <p:nvGrpSpPr>
                <p:cNvPr id="245" name="Group 198"/>
                <p:cNvGrpSpPr>
                  <a:grpSpLocks/>
                </p:cNvGrpSpPr>
                <p:nvPr/>
              </p:nvGrpSpPr>
              <p:grpSpPr bwMode="auto">
                <a:xfrm>
                  <a:off x="4993" y="1833"/>
                  <a:ext cx="345" cy="123"/>
                  <a:chOff x="4993" y="1833"/>
                  <a:chExt cx="345" cy="123"/>
                </a:xfrm>
              </p:grpSpPr>
              <p:sp>
                <p:nvSpPr>
                  <p:cNvPr id="251" name="Freeform 199"/>
                  <p:cNvSpPr>
                    <a:spLocks/>
                  </p:cNvSpPr>
                  <p:nvPr/>
                </p:nvSpPr>
                <p:spPr bwMode="auto">
                  <a:xfrm>
                    <a:off x="5140" y="1833"/>
                    <a:ext cx="198" cy="123"/>
                  </a:xfrm>
                  <a:custGeom>
                    <a:avLst/>
                    <a:gdLst>
                      <a:gd name="T0" fmla="*/ 0 w 1188"/>
                      <a:gd name="T1" fmla="*/ 0 h 738"/>
                      <a:gd name="T2" fmla="*/ 0 w 1188"/>
                      <a:gd name="T3" fmla="*/ 0 h 738"/>
                      <a:gd name="T4" fmla="*/ 0 w 1188"/>
                      <a:gd name="T5" fmla="*/ 0 h 738"/>
                      <a:gd name="T6" fmla="*/ 0 w 1188"/>
                      <a:gd name="T7" fmla="*/ 0 h 738"/>
                      <a:gd name="T8" fmla="*/ 0 w 1188"/>
                      <a:gd name="T9" fmla="*/ 0 h 73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88" h="738">
                        <a:moveTo>
                          <a:pt x="0" y="225"/>
                        </a:moveTo>
                        <a:lnTo>
                          <a:pt x="0" y="738"/>
                        </a:lnTo>
                        <a:lnTo>
                          <a:pt x="1188" y="360"/>
                        </a:lnTo>
                        <a:lnTo>
                          <a:pt x="1188" y="0"/>
                        </a:lnTo>
                        <a:lnTo>
                          <a:pt x="0" y="225"/>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2" name="Freeform 200"/>
                  <p:cNvSpPr>
                    <a:spLocks/>
                  </p:cNvSpPr>
                  <p:nvPr/>
                </p:nvSpPr>
                <p:spPr bwMode="auto">
                  <a:xfrm>
                    <a:off x="4993" y="1862"/>
                    <a:ext cx="147" cy="94"/>
                  </a:xfrm>
                  <a:custGeom>
                    <a:avLst/>
                    <a:gdLst>
                      <a:gd name="T0" fmla="*/ 0 w 882"/>
                      <a:gd name="T1" fmla="*/ 0 h 563"/>
                      <a:gd name="T2" fmla="*/ 0 w 882"/>
                      <a:gd name="T3" fmla="*/ 0 h 563"/>
                      <a:gd name="T4" fmla="*/ 0 w 882"/>
                      <a:gd name="T5" fmla="*/ 0 h 563"/>
                      <a:gd name="T6" fmla="*/ 0 w 882"/>
                      <a:gd name="T7" fmla="*/ 0 h 563"/>
                      <a:gd name="T8" fmla="*/ 0 w 882"/>
                      <a:gd name="T9" fmla="*/ 0 h 5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82" h="563">
                        <a:moveTo>
                          <a:pt x="882" y="50"/>
                        </a:moveTo>
                        <a:lnTo>
                          <a:pt x="882" y="563"/>
                        </a:lnTo>
                        <a:lnTo>
                          <a:pt x="0" y="436"/>
                        </a:lnTo>
                        <a:lnTo>
                          <a:pt x="0" y="0"/>
                        </a:lnTo>
                        <a:lnTo>
                          <a:pt x="882" y="5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3" name="Freeform 201"/>
                  <p:cNvSpPr>
                    <a:spLocks/>
                  </p:cNvSpPr>
                  <p:nvPr/>
                </p:nvSpPr>
                <p:spPr bwMode="auto">
                  <a:xfrm>
                    <a:off x="4993" y="1833"/>
                    <a:ext cx="345" cy="38"/>
                  </a:xfrm>
                  <a:custGeom>
                    <a:avLst/>
                    <a:gdLst>
                      <a:gd name="T0" fmla="*/ 0 w 2070"/>
                      <a:gd name="T1" fmla="*/ 0 h 225"/>
                      <a:gd name="T2" fmla="*/ 0 w 2070"/>
                      <a:gd name="T3" fmla="*/ 0 h 225"/>
                      <a:gd name="T4" fmla="*/ 0 w 2070"/>
                      <a:gd name="T5" fmla="*/ 0 h 225"/>
                      <a:gd name="T6" fmla="*/ 0 w 2070"/>
                      <a:gd name="T7" fmla="*/ 0 h 225"/>
                      <a:gd name="T8" fmla="*/ 0 w 2070"/>
                      <a:gd name="T9" fmla="*/ 0 h 2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70" h="225">
                        <a:moveTo>
                          <a:pt x="0" y="175"/>
                        </a:moveTo>
                        <a:lnTo>
                          <a:pt x="892" y="225"/>
                        </a:lnTo>
                        <a:lnTo>
                          <a:pt x="2070" y="0"/>
                        </a:lnTo>
                        <a:lnTo>
                          <a:pt x="1202" y="0"/>
                        </a:lnTo>
                        <a:lnTo>
                          <a:pt x="0" y="175"/>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246" name="Freeform 202"/>
                <p:cNvSpPr>
                  <a:spLocks/>
                </p:cNvSpPr>
                <p:nvPr/>
              </p:nvSpPr>
              <p:spPr bwMode="auto">
                <a:xfrm>
                  <a:off x="5105" y="1823"/>
                  <a:ext cx="126" cy="35"/>
                </a:xfrm>
                <a:custGeom>
                  <a:avLst/>
                  <a:gdLst>
                    <a:gd name="T0" fmla="*/ 0 w 751"/>
                    <a:gd name="T1" fmla="*/ 0 h 210"/>
                    <a:gd name="T2" fmla="*/ 0 w 751"/>
                    <a:gd name="T3" fmla="*/ 0 h 210"/>
                    <a:gd name="T4" fmla="*/ 0 w 751"/>
                    <a:gd name="T5" fmla="*/ 0 h 210"/>
                    <a:gd name="T6" fmla="*/ 0 w 751"/>
                    <a:gd name="T7" fmla="*/ 0 h 210"/>
                    <a:gd name="T8" fmla="*/ 0 w 751"/>
                    <a:gd name="T9" fmla="*/ 0 h 210"/>
                    <a:gd name="T10" fmla="*/ 0 w 751"/>
                    <a:gd name="T11" fmla="*/ 0 h 21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51" h="210">
                      <a:moveTo>
                        <a:pt x="0" y="120"/>
                      </a:moveTo>
                      <a:lnTo>
                        <a:pt x="0" y="188"/>
                      </a:lnTo>
                      <a:lnTo>
                        <a:pt x="351" y="210"/>
                      </a:lnTo>
                      <a:lnTo>
                        <a:pt x="751" y="135"/>
                      </a:lnTo>
                      <a:lnTo>
                        <a:pt x="751" y="0"/>
                      </a:lnTo>
                      <a:lnTo>
                        <a:pt x="0" y="12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47" name="Group 203"/>
                <p:cNvGrpSpPr>
                  <a:grpSpLocks/>
                </p:cNvGrpSpPr>
                <p:nvPr/>
              </p:nvGrpSpPr>
              <p:grpSpPr bwMode="auto">
                <a:xfrm>
                  <a:off x="5020" y="1674"/>
                  <a:ext cx="279" cy="176"/>
                  <a:chOff x="5020" y="1674"/>
                  <a:chExt cx="279" cy="176"/>
                </a:xfrm>
              </p:grpSpPr>
              <p:sp>
                <p:nvSpPr>
                  <p:cNvPr id="248" name="Freeform 204"/>
                  <p:cNvSpPr>
                    <a:spLocks/>
                  </p:cNvSpPr>
                  <p:nvPr/>
                </p:nvSpPr>
                <p:spPr bwMode="auto">
                  <a:xfrm>
                    <a:off x="5139" y="1674"/>
                    <a:ext cx="160" cy="172"/>
                  </a:xfrm>
                  <a:custGeom>
                    <a:avLst/>
                    <a:gdLst>
                      <a:gd name="T0" fmla="*/ 0 w 960"/>
                      <a:gd name="T1" fmla="*/ 0 h 1031"/>
                      <a:gd name="T2" fmla="*/ 0 w 960"/>
                      <a:gd name="T3" fmla="*/ 0 h 1031"/>
                      <a:gd name="T4" fmla="*/ 0 w 960"/>
                      <a:gd name="T5" fmla="*/ 0 h 1031"/>
                      <a:gd name="T6" fmla="*/ 0 w 960"/>
                      <a:gd name="T7" fmla="*/ 0 h 1031"/>
                      <a:gd name="T8" fmla="*/ 0 w 960"/>
                      <a:gd name="T9" fmla="*/ 0 h 103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60" h="1031">
                        <a:moveTo>
                          <a:pt x="135" y="1031"/>
                        </a:moveTo>
                        <a:lnTo>
                          <a:pt x="0" y="33"/>
                        </a:lnTo>
                        <a:lnTo>
                          <a:pt x="827" y="0"/>
                        </a:lnTo>
                        <a:lnTo>
                          <a:pt x="960" y="889"/>
                        </a:lnTo>
                        <a:lnTo>
                          <a:pt x="135" y="1031"/>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9" name="Freeform 205"/>
                  <p:cNvSpPr>
                    <a:spLocks/>
                  </p:cNvSpPr>
                  <p:nvPr/>
                </p:nvSpPr>
                <p:spPr bwMode="auto">
                  <a:xfrm>
                    <a:off x="5020" y="1679"/>
                    <a:ext cx="141" cy="171"/>
                  </a:xfrm>
                  <a:custGeom>
                    <a:avLst/>
                    <a:gdLst>
                      <a:gd name="T0" fmla="*/ 0 w 850"/>
                      <a:gd name="T1" fmla="*/ 0 h 1026"/>
                      <a:gd name="T2" fmla="*/ 0 w 850"/>
                      <a:gd name="T3" fmla="*/ 0 h 1026"/>
                      <a:gd name="T4" fmla="*/ 0 w 850"/>
                      <a:gd name="T5" fmla="*/ 0 h 1026"/>
                      <a:gd name="T6" fmla="*/ 0 w 850"/>
                      <a:gd name="T7" fmla="*/ 0 h 1026"/>
                      <a:gd name="T8" fmla="*/ 0 w 850"/>
                      <a:gd name="T9" fmla="*/ 0 h 10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50" h="1026">
                        <a:moveTo>
                          <a:pt x="715" y="0"/>
                        </a:moveTo>
                        <a:lnTo>
                          <a:pt x="0" y="228"/>
                        </a:lnTo>
                        <a:lnTo>
                          <a:pt x="102" y="1026"/>
                        </a:lnTo>
                        <a:lnTo>
                          <a:pt x="850" y="1000"/>
                        </a:lnTo>
                        <a:lnTo>
                          <a:pt x="715" y="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0" name="Freeform 206"/>
                  <p:cNvSpPr>
                    <a:spLocks/>
                  </p:cNvSpPr>
                  <p:nvPr/>
                </p:nvSpPr>
                <p:spPr bwMode="auto">
                  <a:xfrm>
                    <a:off x="5166" y="1691"/>
                    <a:ext cx="115" cy="129"/>
                  </a:xfrm>
                  <a:custGeom>
                    <a:avLst/>
                    <a:gdLst>
                      <a:gd name="T0" fmla="*/ 0 w 689"/>
                      <a:gd name="T1" fmla="*/ 0 h 778"/>
                      <a:gd name="T2" fmla="*/ 0 w 689"/>
                      <a:gd name="T3" fmla="*/ 0 h 778"/>
                      <a:gd name="T4" fmla="*/ 0 w 689"/>
                      <a:gd name="T5" fmla="*/ 0 h 778"/>
                      <a:gd name="T6" fmla="*/ 0 w 689"/>
                      <a:gd name="T7" fmla="*/ 0 h 778"/>
                      <a:gd name="T8" fmla="*/ 0 w 689"/>
                      <a:gd name="T9" fmla="*/ 0 h 77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9" h="778">
                        <a:moveTo>
                          <a:pt x="0" y="36"/>
                        </a:moveTo>
                        <a:lnTo>
                          <a:pt x="98" y="778"/>
                        </a:lnTo>
                        <a:lnTo>
                          <a:pt x="689" y="689"/>
                        </a:lnTo>
                        <a:lnTo>
                          <a:pt x="587" y="0"/>
                        </a:lnTo>
                        <a:lnTo>
                          <a:pt x="0" y="36"/>
                        </a:lnTo>
                        <a:close/>
                      </a:path>
                    </a:pathLst>
                  </a:custGeom>
                  <a:solidFill>
                    <a:srgbClr val="0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37" name="Group 207"/>
              <p:cNvGrpSpPr>
                <a:grpSpLocks/>
              </p:cNvGrpSpPr>
              <p:nvPr/>
            </p:nvGrpSpPr>
            <p:grpSpPr bwMode="auto">
              <a:xfrm>
                <a:off x="5212" y="1846"/>
                <a:ext cx="113" cy="80"/>
                <a:chOff x="5212" y="1846"/>
                <a:chExt cx="113" cy="80"/>
              </a:xfrm>
            </p:grpSpPr>
            <p:sp>
              <p:nvSpPr>
                <p:cNvPr id="238" name="Freeform 208"/>
                <p:cNvSpPr>
                  <a:spLocks/>
                </p:cNvSpPr>
                <p:nvPr/>
              </p:nvSpPr>
              <p:spPr bwMode="auto">
                <a:xfrm>
                  <a:off x="5212" y="1846"/>
                  <a:ext cx="112" cy="80"/>
                </a:xfrm>
                <a:custGeom>
                  <a:avLst/>
                  <a:gdLst>
                    <a:gd name="T0" fmla="*/ 0 w 674"/>
                    <a:gd name="T1" fmla="*/ 0 h 482"/>
                    <a:gd name="T2" fmla="*/ 0 w 674"/>
                    <a:gd name="T3" fmla="*/ 0 h 482"/>
                    <a:gd name="T4" fmla="*/ 0 w 674"/>
                    <a:gd name="T5" fmla="*/ 0 h 482"/>
                    <a:gd name="T6" fmla="*/ 0 w 674"/>
                    <a:gd name="T7" fmla="*/ 0 h 482"/>
                    <a:gd name="T8" fmla="*/ 0 w 674"/>
                    <a:gd name="T9" fmla="*/ 0 h 48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74" h="482">
                      <a:moveTo>
                        <a:pt x="674" y="0"/>
                      </a:moveTo>
                      <a:lnTo>
                        <a:pt x="0" y="143"/>
                      </a:lnTo>
                      <a:lnTo>
                        <a:pt x="0" y="482"/>
                      </a:lnTo>
                      <a:lnTo>
                        <a:pt x="674" y="271"/>
                      </a:lnTo>
                      <a:lnTo>
                        <a:pt x="674" y="0"/>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9" name="Line 209"/>
                <p:cNvSpPr>
                  <a:spLocks noChangeShapeType="1"/>
                </p:cNvSpPr>
                <p:nvPr/>
              </p:nvSpPr>
              <p:spPr bwMode="auto">
                <a:xfrm flipV="1">
                  <a:off x="5286" y="1866"/>
                  <a:ext cx="30" cy="7"/>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0" name="Line 210"/>
                <p:cNvSpPr>
                  <a:spLocks noChangeShapeType="1"/>
                </p:cNvSpPr>
                <p:nvPr/>
              </p:nvSpPr>
              <p:spPr bwMode="auto">
                <a:xfrm flipH="1">
                  <a:off x="5231" y="1876"/>
                  <a:ext cx="39" cy="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1" name="Line 211"/>
                <p:cNvSpPr>
                  <a:spLocks noChangeShapeType="1"/>
                </p:cNvSpPr>
                <p:nvPr/>
              </p:nvSpPr>
              <p:spPr bwMode="auto">
                <a:xfrm>
                  <a:off x="5277" y="1856"/>
                  <a:ext cx="1" cy="52"/>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2" name="Line 212"/>
                <p:cNvSpPr>
                  <a:spLocks noChangeShapeType="1"/>
                </p:cNvSpPr>
                <p:nvPr/>
              </p:nvSpPr>
              <p:spPr bwMode="auto">
                <a:xfrm>
                  <a:off x="5223" y="1868"/>
                  <a:ext cx="1" cy="57"/>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3" name="Line 213"/>
                <p:cNvSpPr>
                  <a:spLocks noChangeShapeType="1"/>
                </p:cNvSpPr>
                <p:nvPr/>
              </p:nvSpPr>
              <p:spPr bwMode="auto">
                <a:xfrm flipH="1">
                  <a:off x="5223" y="1867"/>
                  <a:ext cx="102" cy="26"/>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4" name="Line 214"/>
                <p:cNvSpPr>
                  <a:spLocks noChangeShapeType="1"/>
                </p:cNvSpPr>
                <p:nvPr/>
              </p:nvSpPr>
              <p:spPr bwMode="auto">
                <a:xfrm flipV="1">
                  <a:off x="5223" y="1860"/>
                  <a:ext cx="102" cy="23"/>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04" name="Group 215"/>
            <p:cNvGrpSpPr>
              <a:grpSpLocks/>
            </p:cNvGrpSpPr>
            <p:nvPr/>
          </p:nvGrpSpPr>
          <p:grpSpPr bwMode="auto">
            <a:xfrm>
              <a:off x="5170" y="1848"/>
              <a:ext cx="270" cy="138"/>
              <a:chOff x="5170" y="1848"/>
              <a:chExt cx="270" cy="138"/>
            </a:xfrm>
          </p:grpSpPr>
          <p:grpSp>
            <p:nvGrpSpPr>
              <p:cNvPr id="205" name="Group 216"/>
              <p:cNvGrpSpPr>
                <a:grpSpLocks/>
              </p:cNvGrpSpPr>
              <p:nvPr/>
            </p:nvGrpSpPr>
            <p:grpSpPr bwMode="auto">
              <a:xfrm>
                <a:off x="5188" y="1923"/>
                <a:ext cx="43" cy="32"/>
                <a:chOff x="5188" y="1923"/>
                <a:chExt cx="43" cy="32"/>
              </a:xfrm>
            </p:grpSpPr>
            <p:sp>
              <p:nvSpPr>
                <p:cNvPr id="234" name="Freeform 217"/>
                <p:cNvSpPr>
                  <a:spLocks/>
                </p:cNvSpPr>
                <p:nvPr/>
              </p:nvSpPr>
              <p:spPr bwMode="auto">
                <a:xfrm>
                  <a:off x="5188" y="1923"/>
                  <a:ext cx="12" cy="32"/>
                </a:xfrm>
                <a:custGeom>
                  <a:avLst/>
                  <a:gdLst>
                    <a:gd name="T0" fmla="*/ 0 w 75"/>
                    <a:gd name="T1" fmla="*/ 0 h 194"/>
                    <a:gd name="T2" fmla="*/ 0 w 75"/>
                    <a:gd name="T3" fmla="*/ 0 h 194"/>
                    <a:gd name="T4" fmla="*/ 0 w 75"/>
                    <a:gd name="T5" fmla="*/ 0 h 194"/>
                    <a:gd name="T6" fmla="*/ 0 w 75"/>
                    <a:gd name="T7" fmla="*/ 0 h 194"/>
                    <a:gd name="T8" fmla="*/ 0 w 75"/>
                    <a:gd name="T9" fmla="*/ 0 h 19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5" h="194">
                      <a:moveTo>
                        <a:pt x="23" y="0"/>
                      </a:moveTo>
                      <a:lnTo>
                        <a:pt x="0" y="183"/>
                      </a:lnTo>
                      <a:lnTo>
                        <a:pt x="55" y="194"/>
                      </a:lnTo>
                      <a:lnTo>
                        <a:pt x="75" y="8"/>
                      </a:lnTo>
                      <a:lnTo>
                        <a:pt x="23"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5" name="Freeform 218"/>
                <p:cNvSpPr>
                  <a:spLocks/>
                </p:cNvSpPr>
                <p:nvPr/>
              </p:nvSpPr>
              <p:spPr bwMode="auto">
                <a:xfrm>
                  <a:off x="5197" y="1927"/>
                  <a:ext cx="34" cy="28"/>
                </a:xfrm>
                <a:custGeom>
                  <a:avLst/>
                  <a:gdLst>
                    <a:gd name="T0" fmla="*/ 0 w 206"/>
                    <a:gd name="T1" fmla="*/ 0 h 168"/>
                    <a:gd name="T2" fmla="*/ 0 w 206"/>
                    <a:gd name="T3" fmla="*/ 0 h 168"/>
                    <a:gd name="T4" fmla="*/ 0 w 206"/>
                    <a:gd name="T5" fmla="*/ 0 h 168"/>
                    <a:gd name="T6" fmla="*/ 0 w 206"/>
                    <a:gd name="T7" fmla="*/ 0 h 168"/>
                    <a:gd name="T8" fmla="*/ 0 w 206"/>
                    <a:gd name="T9" fmla="*/ 0 h 168"/>
                    <a:gd name="T10" fmla="*/ 0 w 206"/>
                    <a:gd name="T11" fmla="*/ 0 h 168"/>
                    <a:gd name="T12" fmla="*/ 0 w 206"/>
                    <a:gd name="T13" fmla="*/ 0 h 16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6" h="168">
                      <a:moveTo>
                        <a:pt x="17" y="5"/>
                      </a:moveTo>
                      <a:lnTo>
                        <a:pt x="0" y="168"/>
                      </a:lnTo>
                      <a:lnTo>
                        <a:pt x="206" y="84"/>
                      </a:lnTo>
                      <a:lnTo>
                        <a:pt x="126" y="58"/>
                      </a:lnTo>
                      <a:lnTo>
                        <a:pt x="52" y="97"/>
                      </a:lnTo>
                      <a:lnTo>
                        <a:pt x="75" y="0"/>
                      </a:lnTo>
                      <a:lnTo>
                        <a:pt x="17" y="5"/>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06" name="Group 219"/>
              <p:cNvGrpSpPr>
                <a:grpSpLocks/>
              </p:cNvGrpSpPr>
              <p:nvPr/>
            </p:nvGrpSpPr>
            <p:grpSpPr bwMode="auto">
              <a:xfrm>
                <a:off x="5170" y="1848"/>
                <a:ext cx="270" cy="138"/>
                <a:chOff x="5170" y="1848"/>
                <a:chExt cx="270" cy="138"/>
              </a:xfrm>
            </p:grpSpPr>
            <p:sp>
              <p:nvSpPr>
                <p:cNvPr id="207" name="Freeform 220"/>
                <p:cNvSpPr>
                  <a:spLocks/>
                </p:cNvSpPr>
                <p:nvPr/>
              </p:nvSpPr>
              <p:spPr bwMode="auto">
                <a:xfrm>
                  <a:off x="5175" y="1848"/>
                  <a:ext cx="264" cy="122"/>
                </a:xfrm>
                <a:custGeom>
                  <a:avLst/>
                  <a:gdLst>
                    <a:gd name="T0" fmla="*/ 0 w 1583"/>
                    <a:gd name="T1" fmla="*/ 0 h 729"/>
                    <a:gd name="T2" fmla="*/ 0 w 1583"/>
                    <a:gd name="T3" fmla="*/ 0 h 729"/>
                    <a:gd name="T4" fmla="*/ 0 w 1583"/>
                    <a:gd name="T5" fmla="*/ 0 h 729"/>
                    <a:gd name="T6" fmla="*/ 0 w 1583"/>
                    <a:gd name="T7" fmla="*/ 0 h 729"/>
                    <a:gd name="T8" fmla="*/ 0 w 1583"/>
                    <a:gd name="T9" fmla="*/ 0 h 7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583" h="729">
                      <a:moveTo>
                        <a:pt x="0" y="309"/>
                      </a:moveTo>
                      <a:lnTo>
                        <a:pt x="759" y="729"/>
                      </a:lnTo>
                      <a:lnTo>
                        <a:pt x="1583" y="318"/>
                      </a:lnTo>
                      <a:lnTo>
                        <a:pt x="951" y="0"/>
                      </a:lnTo>
                      <a:lnTo>
                        <a:pt x="0" y="309"/>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8" name="Freeform 221"/>
                <p:cNvSpPr>
                  <a:spLocks/>
                </p:cNvSpPr>
                <p:nvPr/>
              </p:nvSpPr>
              <p:spPr bwMode="auto">
                <a:xfrm>
                  <a:off x="5170" y="1899"/>
                  <a:ext cx="133" cy="86"/>
                </a:xfrm>
                <a:custGeom>
                  <a:avLst/>
                  <a:gdLst>
                    <a:gd name="T0" fmla="*/ 0 w 792"/>
                    <a:gd name="T1" fmla="*/ 0 h 516"/>
                    <a:gd name="T2" fmla="*/ 0 w 792"/>
                    <a:gd name="T3" fmla="*/ 0 h 516"/>
                    <a:gd name="T4" fmla="*/ 0 w 792"/>
                    <a:gd name="T5" fmla="*/ 0 h 516"/>
                    <a:gd name="T6" fmla="*/ 0 w 792"/>
                    <a:gd name="T7" fmla="*/ 0 h 516"/>
                    <a:gd name="T8" fmla="*/ 0 w 792"/>
                    <a:gd name="T9" fmla="*/ 0 h 51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92" h="516">
                      <a:moveTo>
                        <a:pt x="28" y="0"/>
                      </a:moveTo>
                      <a:lnTo>
                        <a:pt x="792" y="426"/>
                      </a:lnTo>
                      <a:lnTo>
                        <a:pt x="770" y="516"/>
                      </a:lnTo>
                      <a:lnTo>
                        <a:pt x="0" y="82"/>
                      </a:lnTo>
                      <a:lnTo>
                        <a:pt x="28"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9" name="Freeform 222"/>
                <p:cNvSpPr>
                  <a:spLocks/>
                </p:cNvSpPr>
                <p:nvPr/>
              </p:nvSpPr>
              <p:spPr bwMode="auto">
                <a:xfrm>
                  <a:off x="5299" y="1901"/>
                  <a:ext cx="141" cy="85"/>
                </a:xfrm>
                <a:custGeom>
                  <a:avLst/>
                  <a:gdLst>
                    <a:gd name="T0" fmla="*/ 0 w 846"/>
                    <a:gd name="T1" fmla="*/ 0 h 507"/>
                    <a:gd name="T2" fmla="*/ 0 w 846"/>
                    <a:gd name="T3" fmla="*/ 0 h 507"/>
                    <a:gd name="T4" fmla="*/ 0 w 846"/>
                    <a:gd name="T5" fmla="*/ 0 h 507"/>
                    <a:gd name="T6" fmla="*/ 0 w 846"/>
                    <a:gd name="T7" fmla="*/ 0 h 507"/>
                    <a:gd name="T8" fmla="*/ 0 w 846"/>
                    <a:gd name="T9" fmla="*/ 0 h 50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6" h="507">
                      <a:moveTo>
                        <a:pt x="0" y="507"/>
                      </a:moveTo>
                      <a:lnTo>
                        <a:pt x="25" y="411"/>
                      </a:lnTo>
                      <a:lnTo>
                        <a:pt x="846" y="0"/>
                      </a:lnTo>
                      <a:lnTo>
                        <a:pt x="817" y="76"/>
                      </a:lnTo>
                      <a:lnTo>
                        <a:pt x="0" y="507"/>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0" name="Freeform 223"/>
                <p:cNvSpPr>
                  <a:spLocks/>
                </p:cNvSpPr>
                <p:nvPr/>
              </p:nvSpPr>
              <p:spPr bwMode="auto">
                <a:xfrm>
                  <a:off x="5227" y="1905"/>
                  <a:ext cx="106" cy="54"/>
                </a:xfrm>
                <a:custGeom>
                  <a:avLst/>
                  <a:gdLst>
                    <a:gd name="T0" fmla="*/ 0 w 637"/>
                    <a:gd name="T1" fmla="*/ 0 h 321"/>
                    <a:gd name="T2" fmla="*/ 0 w 637"/>
                    <a:gd name="T3" fmla="*/ 0 h 321"/>
                    <a:gd name="T4" fmla="*/ 0 w 637"/>
                    <a:gd name="T5" fmla="*/ 0 h 321"/>
                    <a:gd name="T6" fmla="*/ 0 w 637"/>
                    <a:gd name="T7" fmla="*/ 0 h 321"/>
                    <a:gd name="T8" fmla="*/ 0 w 637"/>
                    <a:gd name="T9" fmla="*/ 0 h 32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7" h="321">
                      <a:moveTo>
                        <a:pt x="0" y="83"/>
                      </a:moveTo>
                      <a:lnTo>
                        <a:pt x="220" y="0"/>
                      </a:lnTo>
                      <a:lnTo>
                        <a:pt x="637" y="224"/>
                      </a:lnTo>
                      <a:lnTo>
                        <a:pt x="425" y="321"/>
                      </a:lnTo>
                      <a:lnTo>
                        <a:pt x="0" y="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1" name="Freeform 224"/>
                <p:cNvSpPr>
                  <a:spLocks/>
                </p:cNvSpPr>
                <p:nvPr/>
              </p:nvSpPr>
              <p:spPr bwMode="auto">
                <a:xfrm>
                  <a:off x="5270" y="1868"/>
                  <a:ext cx="156" cy="72"/>
                </a:xfrm>
                <a:custGeom>
                  <a:avLst/>
                  <a:gdLst>
                    <a:gd name="T0" fmla="*/ 0 w 938"/>
                    <a:gd name="T1" fmla="*/ 0 h 434"/>
                    <a:gd name="T2" fmla="*/ 0 w 938"/>
                    <a:gd name="T3" fmla="*/ 0 h 434"/>
                    <a:gd name="T4" fmla="*/ 0 w 938"/>
                    <a:gd name="T5" fmla="*/ 0 h 434"/>
                    <a:gd name="T6" fmla="*/ 0 w 938"/>
                    <a:gd name="T7" fmla="*/ 0 h 434"/>
                    <a:gd name="T8" fmla="*/ 0 w 938"/>
                    <a:gd name="T9" fmla="*/ 0 h 4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38" h="434">
                      <a:moveTo>
                        <a:pt x="0" y="210"/>
                      </a:moveTo>
                      <a:lnTo>
                        <a:pt x="410" y="434"/>
                      </a:lnTo>
                      <a:lnTo>
                        <a:pt x="938" y="186"/>
                      </a:lnTo>
                      <a:lnTo>
                        <a:pt x="554" y="0"/>
                      </a:lnTo>
                      <a:lnTo>
                        <a:pt x="0" y="21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2" name="Freeform 225"/>
                <p:cNvSpPr>
                  <a:spLocks/>
                </p:cNvSpPr>
                <p:nvPr/>
              </p:nvSpPr>
              <p:spPr bwMode="auto">
                <a:xfrm>
                  <a:off x="5188" y="1852"/>
                  <a:ext cx="172" cy="66"/>
                </a:xfrm>
                <a:custGeom>
                  <a:avLst/>
                  <a:gdLst>
                    <a:gd name="T0" fmla="*/ 0 w 1034"/>
                    <a:gd name="T1" fmla="*/ 0 h 395"/>
                    <a:gd name="T2" fmla="*/ 0 w 1034"/>
                    <a:gd name="T3" fmla="*/ 0 h 395"/>
                    <a:gd name="T4" fmla="*/ 0 w 1034"/>
                    <a:gd name="T5" fmla="*/ 0 h 395"/>
                    <a:gd name="T6" fmla="*/ 0 w 1034"/>
                    <a:gd name="T7" fmla="*/ 0 h 395"/>
                    <a:gd name="T8" fmla="*/ 0 w 1034"/>
                    <a:gd name="T9" fmla="*/ 0 h 39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4" h="395">
                      <a:moveTo>
                        <a:pt x="216" y="395"/>
                      </a:moveTo>
                      <a:lnTo>
                        <a:pt x="0" y="285"/>
                      </a:lnTo>
                      <a:lnTo>
                        <a:pt x="867" y="0"/>
                      </a:lnTo>
                      <a:lnTo>
                        <a:pt x="1034" y="82"/>
                      </a:lnTo>
                      <a:lnTo>
                        <a:pt x="216" y="395"/>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3" name="Line 226"/>
                <p:cNvSpPr>
                  <a:spLocks noChangeShapeType="1"/>
                </p:cNvSpPr>
                <p:nvPr/>
              </p:nvSpPr>
              <p:spPr bwMode="auto">
                <a:xfrm flipV="1">
                  <a:off x="5193" y="1855"/>
                  <a:ext cx="148" cy="51"/>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4" name="Line 227"/>
                <p:cNvSpPr>
                  <a:spLocks noChangeShapeType="1"/>
                </p:cNvSpPr>
                <p:nvPr/>
              </p:nvSpPr>
              <p:spPr bwMode="auto">
                <a:xfrm flipV="1">
                  <a:off x="5205" y="1858"/>
                  <a:ext cx="14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5" name="Line 228"/>
                <p:cNvSpPr>
                  <a:spLocks noChangeShapeType="1"/>
                </p:cNvSpPr>
                <p:nvPr/>
              </p:nvSpPr>
              <p:spPr bwMode="auto">
                <a:xfrm flipV="1">
                  <a:off x="5214" y="1862"/>
                  <a:ext cx="141" cy="5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6" name="Line 229"/>
                <p:cNvSpPr>
                  <a:spLocks noChangeShapeType="1"/>
                </p:cNvSpPr>
                <p:nvPr/>
              </p:nvSpPr>
              <p:spPr bwMode="auto">
                <a:xfrm flipV="1">
                  <a:off x="5235" y="1871"/>
                  <a:ext cx="138" cy="5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7" name="Line 230"/>
                <p:cNvSpPr>
                  <a:spLocks noChangeShapeType="1"/>
                </p:cNvSpPr>
                <p:nvPr/>
              </p:nvSpPr>
              <p:spPr bwMode="auto">
                <a:xfrm flipV="1">
                  <a:off x="5246" y="1877"/>
                  <a:ext cx="137" cy="5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8" name="Line 231"/>
                <p:cNvSpPr>
                  <a:spLocks noChangeShapeType="1"/>
                </p:cNvSpPr>
                <p:nvPr/>
              </p:nvSpPr>
              <p:spPr bwMode="auto">
                <a:xfrm flipV="1">
                  <a:off x="5261" y="1885"/>
                  <a:ext cx="124"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9" name="Line 232"/>
                <p:cNvSpPr>
                  <a:spLocks noChangeShapeType="1"/>
                </p:cNvSpPr>
                <p:nvPr/>
              </p:nvSpPr>
              <p:spPr bwMode="auto">
                <a:xfrm flipV="1">
                  <a:off x="5274" y="1890"/>
                  <a:ext cx="119"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0" name="Line 233"/>
                <p:cNvSpPr>
                  <a:spLocks noChangeShapeType="1"/>
                </p:cNvSpPr>
                <p:nvPr/>
              </p:nvSpPr>
              <p:spPr bwMode="auto">
                <a:xfrm flipV="1">
                  <a:off x="5291" y="1897"/>
                  <a:ext cx="11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1" name="Line 234"/>
                <p:cNvSpPr>
                  <a:spLocks noChangeShapeType="1"/>
                </p:cNvSpPr>
                <p:nvPr/>
              </p:nvSpPr>
              <p:spPr bwMode="auto">
                <a:xfrm>
                  <a:off x="5239" y="1915"/>
                  <a:ext cx="71" cy="40"/>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2" name="Line 235"/>
                <p:cNvSpPr>
                  <a:spLocks noChangeShapeType="1"/>
                </p:cNvSpPr>
                <p:nvPr/>
              </p:nvSpPr>
              <p:spPr bwMode="auto">
                <a:xfrm>
                  <a:off x="5255" y="1910"/>
                  <a:ext cx="69" cy="3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3" name="Line 236"/>
                <p:cNvSpPr>
                  <a:spLocks noChangeShapeType="1"/>
                </p:cNvSpPr>
                <p:nvPr/>
              </p:nvSpPr>
              <p:spPr bwMode="auto">
                <a:xfrm>
                  <a:off x="5285" y="1897"/>
                  <a:ext cx="68" cy="3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4" name="Line 237"/>
                <p:cNvSpPr>
                  <a:spLocks noChangeShapeType="1"/>
                </p:cNvSpPr>
                <p:nvPr/>
              </p:nvSpPr>
              <p:spPr bwMode="auto">
                <a:xfrm>
                  <a:off x="5301" y="1891"/>
                  <a:ext cx="67"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5" name="Line 238"/>
                <p:cNvSpPr>
                  <a:spLocks noChangeShapeType="1"/>
                </p:cNvSpPr>
                <p:nvPr/>
              </p:nvSpPr>
              <p:spPr bwMode="auto">
                <a:xfrm>
                  <a:off x="5318" y="1886"/>
                  <a:ext cx="65"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6" name="Line 239"/>
                <p:cNvSpPr>
                  <a:spLocks noChangeShapeType="1"/>
                </p:cNvSpPr>
                <p:nvPr/>
              </p:nvSpPr>
              <p:spPr bwMode="auto">
                <a:xfrm>
                  <a:off x="5332" y="1880"/>
                  <a:ext cx="64" cy="3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7" name="Line 240"/>
                <p:cNvSpPr>
                  <a:spLocks noChangeShapeType="1"/>
                </p:cNvSpPr>
                <p:nvPr/>
              </p:nvSpPr>
              <p:spPr bwMode="auto">
                <a:xfrm>
                  <a:off x="5346" y="1874"/>
                  <a:ext cx="64" cy="3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8" name="Line 241"/>
                <p:cNvSpPr>
                  <a:spLocks noChangeShapeType="1"/>
                </p:cNvSpPr>
                <p:nvPr/>
              </p:nvSpPr>
              <p:spPr bwMode="auto">
                <a:xfrm>
                  <a:off x="5209" y="1892"/>
                  <a:ext cx="35" cy="1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9" name="Line 242"/>
                <p:cNvSpPr>
                  <a:spLocks noChangeShapeType="1"/>
                </p:cNvSpPr>
                <p:nvPr/>
              </p:nvSpPr>
              <p:spPr bwMode="auto">
                <a:xfrm>
                  <a:off x="5232" y="1885"/>
                  <a:ext cx="32"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0" name="Line 243"/>
                <p:cNvSpPr>
                  <a:spLocks noChangeShapeType="1"/>
                </p:cNvSpPr>
                <p:nvPr/>
              </p:nvSpPr>
              <p:spPr bwMode="auto">
                <a:xfrm>
                  <a:off x="5252" y="1879"/>
                  <a:ext cx="33"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1" name="Line 244"/>
                <p:cNvSpPr>
                  <a:spLocks noChangeShapeType="1"/>
                </p:cNvSpPr>
                <p:nvPr/>
              </p:nvSpPr>
              <p:spPr bwMode="auto">
                <a:xfrm>
                  <a:off x="5272" y="1872"/>
                  <a:ext cx="32"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2" name="Line 245"/>
                <p:cNvSpPr>
                  <a:spLocks noChangeShapeType="1"/>
                </p:cNvSpPr>
                <p:nvPr/>
              </p:nvSpPr>
              <p:spPr bwMode="auto">
                <a:xfrm>
                  <a:off x="5292" y="1865"/>
                  <a:ext cx="31" cy="1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3" name="Line 246"/>
                <p:cNvSpPr>
                  <a:spLocks noChangeShapeType="1"/>
                </p:cNvSpPr>
                <p:nvPr/>
              </p:nvSpPr>
              <p:spPr bwMode="auto">
                <a:xfrm>
                  <a:off x="5315" y="1858"/>
                  <a:ext cx="29"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261" name="Group 254"/>
          <p:cNvGrpSpPr>
            <a:grpSpLocks/>
          </p:cNvGrpSpPr>
          <p:nvPr/>
        </p:nvGrpSpPr>
        <p:grpSpPr bwMode="auto">
          <a:xfrm>
            <a:off x="7012736" y="3240629"/>
            <a:ext cx="144954" cy="73406"/>
            <a:chOff x="5325" y="1860"/>
            <a:chExt cx="144" cy="79"/>
          </a:xfrm>
        </p:grpSpPr>
        <p:grpSp>
          <p:nvGrpSpPr>
            <p:cNvPr id="262" name="Group 255"/>
            <p:cNvGrpSpPr>
              <a:grpSpLocks/>
            </p:cNvGrpSpPr>
            <p:nvPr/>
          </p:nvGrpSpPr>
          <p:grpSpPr bwMode="auto">
            <a:xfrm>
              <a:off x="5325" y="1860"/>
              <a:ext cx="125" cy="63"/>
              <a:chOff x="5325" y="1860"/>
              <a:chExt cx="125" cy="63"/>
            </a:xfrm>
          </p:grpSpPr>
          <p:sp>
            <p:nvSpPr>
              <p:cNvPr id="266" name="Freeform 256"/>
              <p:cNvSpPr>
                <a:spLocks/>
              </p:cNvSpPr>
              <p:nvPr/>
            </p:nvSpPr>
            <p:spPr bwMode="auto">
              <a:xfrm>
                <a:off x="5325" y="1860"/>
                <a:ext cx="125" cy="63"/>
              </a:xfrm>
              <a:custGeom>
                <a:avLst/>
                <a:gdLst>
                  <a:gd name="T0" fmla="*/ 0 w 751"/>
                  <a:gd name="T1" fmla="*/ 0 h 379"/>
                  <a:gd name="T2" fmla="*/ 0 w 751"/>
                  <a:gd name="T3" fmla="*/ 0 h 379"/>
                  <a:gd name="T4" fmla="*/ 0 w 751"/>
                  <a:gd name="T5" fmla="*/ 0 h 379"/>
                  <a:gd name="T6" fmla="*/ 0 w 751"/>
                  <a:gd name="T7" fmla="*/ 0 h 379"/>
                  <a:gd name="T8" fmla="*/ 0 w 751"/>
                  <a:gd name="T9" fmla="*/ 0 h 379"/>
                  <a:gd name="T10" fmla="*/ 0 w 751"/>
                  <a:gd name="T11" fmla="*/ 0 h 379"/>
                  <a:gd name="T12" fmla="*/ 0 w 751"/>
                  <a:gd name="T13" fmla="*/ 0 h 379"/>
                  <a:gd name="T14" fmla="*/ 0 w 751"/>
                  <a:gd name="T15" fmla="*/ 0 h 379"/>
                  <a:gd name="T16" fmla="*/ 0 w 751"/>
                  <a:gd name="T17" fmla="*/ 0 h 379"/>
                  <a:gd name="T18" fmla="*/ 0 w 751"/>
                  <a:gd name="T19" fmla="*/ 0 h 379"/>
                  <a:gd name="T20" fmla="*/ 0 w 751"/>
                  <a:gd name="T21" fmla="*/ 0 h 379"/>
                  <a:gd name="T22" fmla="*/ 0 w 751"/>
                  <a:gd name="T23" fmla="*/ 0 h 379"/>
                  <a:gd name="T24" fmla="*/ 0 w 751"/>
                  <a:gd name="T25" fmla="*/ 0 h 379"/>
                  <a:gd name="T26" fmla="*/ 0 w 751"/>
                  <a:gd name="T27" fmla="*/ 0 h 379"/>
                  <a:gd name="T28" fmla="*/ 0 w 751"/>
                  <a:gd name="T29" fmla="*/ 0 h 379"/>
                  <a:gd name="T30" fmla="*/ 0 w 751"/>
                  <a:gd name="T31" fmla="*/ 0 h 379"/>
                  <a:gd name="T32" fmla="*/ 0 w 751"/>
                  <a:gd name="T33" fmla="*/ 0 h 379"/>
                  <a:gd name="T34" fmla="*/ 0 w 751"/>
                  <a:gd name="T35" fmla="*/ 0 h 379"/>
                  <a:gd name="T36" fmla="*/ 0 w 751"/>
                  <a:gd name="T37" fmla="*/ 0 h 379"/>
                  <a:gd name="T38" fmla="*/ 0 w 751"/>
                  <a:gd name="T39" fmla="*/ 0 h 379"/>
                  <a:gd name="T40" fmla="*/ 0 w 751"/>
                  <a:gd name="T41" fmla="*/ 0 h 379"/>
                  <a:gd name="T42" fmla="*/ 0 w 751"/>
                  <a:gd name="T43" fmla="*/ 0 h 379"/>
                  <a:gd name="T44" fmla="*/ 0 w 751"/>
                  <a:gd name="T45" fmla="*/ 0 h 379"/>
                  <a:gd name="T46" fmla="*/ 0 w 751"/>
                  <a:gd name="T47" fmla="*/ 0 h 379"/>
                  <a:gd name="T48" fmla="*/ 0 w 751"/>
                  <a:gd name="T49" fmla="*/ 0 h 379"/>
                  <a:gd name="T50" fmla="*/ 0 w 751"/>
                  <a:gd name="T51" fmla="*/ 0 h 379"/>
                  <a:gd name="T52" fmla="*/ 0 w 751"/>
                  <a:gd name="T53" fmla="*/ 0 h 379"/>
                  <a:gd name="T54" fmla="*/ 0 w 751"/>
                  <a:gd name="T55" fmla="*/ 0 h 379"/>
                  <a:gd name="T56" fmla="*/ 0 w 751"/>
                  <a:gd name="T57" fmla="*/ 0 h 379"/>
                  <a:gd name="T58" fmla="*/ 0 w 751"/>
                  <a:gd name="T59" fmla="*/ 0 h 379"/>
                  <a:gd name="T60" fmla="*/ 0 w 751"/>
                  <a:gd name="T61" fmla="*/ 0 h 379"/>
                  <a:gd name="T62" fmla="*/ 0 w 751"/>
                  <a:gd name="T63" fmla="*/ 0 h 379"/>
                  <a:gd name="T64" fmla="*/ 0 w 751"/>
                  <a:gd name="T65" fmla="*/ 0 h 379"/>
                  <a:gd name="T66" fmla="*/ 0 w 751"/>
                  <a:gd name="T67" fmla="*/ 0 h 379"/>
                  <a:gd name="T68" fmla="*/ 0 w 751"/>
                  <a:gd name="T69" fmla="*/ 0 h 379"/>
                  <a:gd name="T70" fmla="*/ 0 w 751"/>
                  <a:gd name="T71" fmla="*/ 0 h 379"/>
                  <a:gd name="T72" fmla="*/ 0 w 751"/>
                  <a:gd name="T73" fmla="*/ 0 h 379"/>
                  <a:gd name="T74" fmla="*/ 0 w 751"/>
                  <a:gd name="T75" fmla="*/ 0 h 379"/>
                  <a:gd name="T76" fmla="*/ 0 w 751"/>
                  <a:gd name="T77" fmla="*/ 0 h 379"/>
                  <a:gd name="T78" fmla="*/ 0 w 751"/>
                  <a:gd name="T79" fmla="*/ 0 h 379"/>
                  <a:gd name="T80" fmla="*/ 0 w 751"/>
                  <a:gd name="T81" fmla="*/ 0 h 379"/>
                  <a:gd name="T82" fmla="*/ 0 w 751"/>
                  <a:gd name="T83" fmla="*/ 0 h 379"/>
                  <a:gd name="T84" fmla="*/ 0 w 751"/>
                  <a:gd name="T85" fmla="*/ 0 h 379"/>
                  <a:gd name="T86" fmla="*/ 0 w 751"/>
                  <a:gd name="T87" fmla="*/ 0 h 379"/>
                  <a:gd name="T88" fmla="*/ 0 w 751"/>
                  <a:gd name="T89" fmla="*/ 0 h 379"/>
                  <a:gd name="T90" fmla="*/ 0 w 751"/>
                  <a:gd name="T91" fmla="*/ 0 h 379"/>
                  <a:gd name="T92" fmla="*/ 0 w 751"/>
                  <a:gd name="T93" fmla="*/ 0 h 379"/>
                  <a:gd name="T94" fmla="*/ 0 w 751"/>
                  <a:gd name="T95" fmla="*/ 0 h 379"/>
                  <a:gd name="T96" fmla="*/ 0 w 751"/>
                  <a:gd name="T97" fmla="*/ 0 h 379"/>
                  <a:gd name="T98" fmla="*/ 0 w 751"/>
                  <a:gd name="T99" fmla="*/ 0 h 379"/>
                  <a:gd name="T100" fmla="*/ 0 w 751"/>
                  <a:gd name="T101" fmla="*/ 0 h 379"/>
                  <a:gd name="T102" fmla="*/ 0 w 751"/>
                  <a:gd name="T103" fmla="*/ 0 h 379"/>
                  <a:gd name="T104" fmla="*/ 0 w 751"/>
                  <a:gd name="T105" fmla="*/ 0 h 379"/>
                  <a:gd name="T106" fmla="*/ 0 w 751"/>
                  <a:gd name="T107" fmla="*/ 0 h 379"/>
                  <a:gd name="T108" fmla="*/ 0 w 751"/>
                  <a:gd name="T109" fmla="*/ 0 h 379"/>
                  <a:gd name="T110" fmla="*/ 0 w 751"/>
                  <a:gd name="T111" fmla="*/ 0 h 379"/>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751" h="379">
                    <a:moveTo>
                      <a:pt x="679" y="379"/>
                    </a:moveTo>
                    <a:lnTo>
                      <a:pt x="639" y="370"/>
                    </a:lnTo>
                    <a:lnTo>
                      <a:pt x="600" y="352"/>
                    </a:lnTo>
                    <a:lnTo>
                      <a:pt x="564" y="344"/>
                    </a:lnTo>
                    <a:lnTo>
                      <a:pt x="502" y="353"/>
                    </a:lnTo>
                    <a:lnTo>
                      <a:pt x="457" y="352"/>
                    </a:lnTo>
                    <a:lnTo>
                      <a:pt x="425" y="341"/>
                    </a:lnTo>
                    <a:lnTo>
                      <a:pt x="399" y="332"/>
                    </a:lnTo>
                    <a:lnTo>
                      <a:pt x="373" y="320"/>
                    </a:lnTo>
                    <a:lnTo>
                      <a:pt x="346" y="295"/>
                    </a:lnTo>
                    <a:lnTo>
                      <a:pt x="324" y="273"/>
                    </a:lnTo>
                    <a:lnTo>
                      <a:pt x="288" y="246"/>
                    </a:lnTo>
                    <a:lnTo>
                      <a:pt x="238" y="254"/>
                    </a:lnTo>
                    <a:lnTo>
                      <a:pt x="208" y="256"/>
                    </a:lnTo>
                    <a:lnTo>
                      <a:pt x="190" y="251"/>
                    </a:lnTo>
                    <a:lnTo>
                      <a:pt x="182" y="243"/>
                    </a:lnTo>
                    <a:lnTo>
                      <a:pt x="176" y="228"/>
                    </a:lnTo>
                    <a:lnTo>
                      <a:pt x="180" y="215"/>
                    </a:lnTo>
                    <a:lnTo>
                      <a:pt x="190" y="200"/>
                    </a:lnTo>
                    <a:lnTo>
                      <a:pt x="208" y="193"/>
                    </a:lnTo>
                    <a:lnTo>
                      <a:pt x="248" y="188"/>
                    </a:lnTo>
                    <a:lnTo>
                      <a:pt x="296" y="171"/>
                    </a:lnTo>
                    <a:lnTo>
                      <a:pt x="256" y="140"/>
                    </a:lnTo>
                    <a:lnTo>
                      <a:pt x="209" y="121"/>
                    </a:lnTo>
                    <a:lnTo>
                      <a:pt x="168" y="124"/>
                    </a:lnTo>
                    <a:lnTo>
                      <a:pt x="121" y="121"/>
                    </a:lnTo>
                    <a:lnTo>
                      <a:pt x="93" y="131"/>
                    </a:lnTo>
                    <a:lnTo>
                      <a:pt x="54" y="132"/>
                    </a:lnTo>
                    <a:lnTo>
                      <a:pt x="42" y="121"/>
                    </a:lnTo>
                    <a:lnTo>
                      <a:pt x="39" y="105"/>
                    </a:lnTo>
                    <a:lnTo>
                      <a:pt x="18" y="106"/>
                    </a:lnTo>
                    <a:lnTo>
                      <a:pt x="6" y="103"/>
                    </a:lnTo>
                    <a:lnTo>
                      <a:pt x="0" y="87"/>
                    </a:lnTo>
                    <a:lnTo>
                      <a:pt x="4" y="74"/>
                    </a:lnTo>
                    <a:lnTo>
                      <a:pt x="15" y="68"/>
                    </a:lnTo>
                    <a:lnTo>
                      <a:pt x="36" y="56"/>
                    </a:lnTo>
                    <a:lnTo>
                      <a:pt x="52" y="44"/>
                    </a:lnTo>
                    <a:lnTo>
                      <a:pt x="71" y="34"/>
                    </a:lnTo>
                    <a:lnTo>
                      <a:pt x="93" y="27"/>
                    </a:lnTo>
                    <a:lnTo>
                      <a:pt x="112" y="27"/>
                    </a:lnTo>
                    <a:lnTo>
                      <a:pt x="203" y="9"/>
                    </a:lnTo>
                    <a:lnTo>
                      <a:pt x="222" y="4"/>
                    </a:lnTo>
                    <a:lnTo>
                      <a:pt x="244" y="0"/>
                    </a:lnTo>
                    <a:lnTo>
                      <a:pt x="267" y="4"/>
                    </a:lnTo>
                    <a:lnTo>
                      <a:pt x="295" y="13"/>
                    </a:lnTo>
                    <a:lnTo>
                      <a:pt x="373" y="56"/>
                    </a:lnTo>
                    <a:lnTo>
                      <a:pt x="410" y="64"/>
                    </a:lnTo>
                    <a:lnTo>
                      <a:pt x="443" y="71"/>
                    </a:lnTo>
                    <a:lnTo>
                      <a:pt x="469" y="87"/>
                    </a:lnTo>
                    <a:lnTo>
                      <a:pt x="484" y="108"/>
                    </a:lnTo>
                    <a:lnTo>
                      <a:pt x="549" y="153"/>
                    </a:lnTo>
                    <a:lnTo>
                      <a:pt x="578" y="174"/>
                    </a:lnTo>
                    <a:lnTo>
                      <a:pt x="617" y="215"/>
                    </a:lnTo>
                    <a:lnTo>
                      <a:pt x="641" y="227"/>
                    </a:lnTo>
                    <a:lnTo>
                      <a:pt x="751" y="232"/>
                    </a:lnTo>
                    <a:lnTo>
                      <a:pt x="679" y="379"/>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7" name="Freeform 257"/>
              <p:cNvSpPr>
                <a:spLocks/>
              </p:cNvSpPr>
              <p:nvPr/>
            </p:nvSpPr>
            <p:spPr bwMode="auto">
              <a:xfrm>
                <a:off x="5374" y="1888"/>
                <a:ext cx="29" cy="7"/>
              </a:xfrm>
              <a:custGeom>
                <a:avLst/>
                <a:gdLst>
                  <a:gd name="T0" fmla="*/ 0 w 179"/>
                  <a:gd name="T1" fmla="*/ 0 h 43"/>
                  <a:gd name="T2" fmla="*/ 0 w 179"/>
                  <a:gd name="T3" fmla="*/ 0 h 43"/>
                  <a:gd name="T4" fmla="*/ 0 w 179"/>
                  <a:gd name="T5" fmla="*/ 0 h 43"/>
                  <a:gd name="T6" fmla="*/ 0 w 179"/>
                  <a:gd name="T7" fmla="*/ 0 h 43"/>
                  <a:gd name="T8" fmla="*/ 0 w 179"/>
                  <a:gd name="T9" fmla="*/ 0 h 43"/>
                  <a:gd name="T10" fmla="*/ 0 w 179"/>
                  <a:gd name="T11" fmla="*/ 0 h 43"/>
                  <a:gd name="T12" fmla="*/ 0 w 179"/>
                  <a:gd name="T13" fmla="*/ 0 h 43"/>
                  <a:gd name="T14" fmla="*/ 0 w 179"/>
                  <a:gd name="T15" fmla="*/ 0 h 43"/>
                  <a:gd name="T16" fmla="*/ 0 w 179"/>
                  <a:gd name="T17" fmla="*/ 0 h 43"/>
                  <a:gd name="T18" fmla="*/ 0 w 179"/>
                  <a:gd name="T19" fmla="*/ 0 h 43"/>
                  <a:gd name="T20" fmla="*/ 0 w 179"/>
                  <a:gd name="T21" fmla="*/ 0 h 43"/>
                  <a:gd name="T22" fmla="*/ 0 w 179"/>
                  <a:gd name="T23" fmla="*/ 0 h 43"/>
                  <a:gd name="T24" fmla="*/ 0 w 179"/>
                  <a:gd name="T25" fmla="*/ 0 h 43"/>
                  <a:gd name="T26" fmla="*/ 0 w 179"/>
                  <a:gd name="T27" fmla="*/ 0 h 43"/>
                  <a:gd name="T28" fmla="*/ 0 w 179"/>
                  <a:gd name="T29" fmla="*/ 0 h 4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79" h="43">
                    <a:moveTo>
                      <a:pt x="0" y="0"/>
                    </a:moveTo>
                    <a:lnTo>
                      <a:pt x="6" y="11"/>
                    </a:lnTo>
                    <a:lnTo>
                      <a:pt x="38" y="10"/>
                    </a:lnTo>
                    <a:lnTo>
                      <a:pt x="50" y="16"/>
                    </a:lnTo>
                    <a:lnTo>
                      <a:pt x="76" y="29"/>
                    </a:lnTo>
                    <a:lnTo>
                      <a:pt x="112" y="37"/>
                    </a:lnTo>
                    <a:lnTo>
                      <a:pt x="150" y="38"/>
                    </a:lnTo>
                    <a:lnTo>
                      <a:pt x="179" y="43"/>
                    </a:lnTo>
                    <a:lnTo>
                      <a:pt x="155" y="34"/>
                    </a:lnTo>
                    <a:lnTo>
                      <a:pt x="125" y="29"/>
                    </a:lnTo>
                    <a:lnTo>
                      <a:pt x="105" y="29"/>
                    </a:lnTo>
                    <a:lnTo>
                      <a:pt x="76" y="21"/>
                    </a:lnTo>
                    <a:lnTo>
                      <a:pt x="53" y="8"/>
                    </a:lnTo>
                    <a:lnTo>
                      <a:pt x="43" y="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8" name="Freeform 258"/>
              <p:cNvSpPr>
                <a:spLocks/>
              </p:cNvSpPr>
              <p:nvPr/>
            </p:nvSpPr>
            <p:spPr bwMode="auto">
              <a:xfrm>
                <a:off x="5362" y="1894"/>
                <a:ext cx="4" cy="4"/>
              </a:xfrm>
              <a:custGeom>
                <a:avLst/>
                <a:gdLst>
                  <a:gd name="T0" fmla="*/ 0 w 20"/>
                  <a:gd name="T1" fmla="*/ 0 h 24"/>
                  <a:gd name="T2" fmla="*/ 0 w 20"/>
                  <a:gd name="T3" fmla="*/ 0 h 24"/>
                  <a:gd name="T4" fmla="*/ 0 w 20"/>
                  <a:gd name="T5" fmla="*/ 0 h 24"/>
                  <a:gd name="T6" fmla="*/ 0 w 20"/>
                  <a:gd name="T7" fmla="*/ 0 h 24"/>
                  <a:gd name="T8" fmla="*/ 0 w 20"/>
                  <a:gd name="T9" fmla="*/ 0 h 24"/>
                  <a:gd name="T10" fmla="*/ 0 w 20"/>
                  <a:gd name="T11" fmla="*/ 0 h 24"/>
                  <a:gd name="T12" fmla="*/ 0 w 20"/>
                  <a:gd name="T13" fmla="*/ 0 h 2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24">
                    <a:moveTo>
                      <a:pt x="4" y="0"/>
                    </a:moveTo>
                    <a:lnTo>
                      <a:pt x="12" y="6"/>
                    </a:lnTo>
                    <a:lnTo>
                      <a:pt x="9" y="15"/>
                    </a:lnTo>
                    <a:lnTo>
                      <a:pt x="0" y="24"/>
                    </a:lnTo>
                    <a:lnTo>
                      <a:pt x="17" y="18"/>
                    </a:lnTo>
                    <a:lnTo>
                      <a:pt x="20" y="8"/>
                    </a:lnTo>
                    <a:lnTo>
                      <a:pt x="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9" name="Freeform 259"/>
              <p:cNvSpPr>
                <a:spLocks/>
              </p:cNvSpPr>
              <p:nvPr/>
            </p:nvSpPr>
            <p:spPr bwMode="auto">
              <a:xfrm>
                <a:off x="5331" y="1869"/>
                <a:ext cx="17" cy="8"/>
              </a:xfrm>
              <a:custGeom>
                <a:avLst/>
                <a:gdLst>
                  <a:gd name="T0" fmla="*/ 0 w 104"/>
                  <a:gd name="T1" fmla="*/ 0 h 48"/>
                  <a:gd name="T2" fmla="*/ 0 w 104"/>
                  <a:gd name="T3" fmla="*/ 0 h 48"/>
                  <a:gd name="T4" fmla="*/ 0 w 104"/>
                  <a:gd name="T5" fmla="*/ 0 h 48"/>
                  <a:gd name="T6" fmla="*/ 0 w 104"/>
                  <a:gd name="T7" fmla="*/ 0 h 48"/>
                  <a:gd name="T8" fmla="*/ 0 w 104"/>
                  <a:gd name="T9" fmla="*/ 0 h 48"/>
                  <a:gd name="T10" fmla="*/ 0 w 104"/>
                  <a:gd name="T11" fmla="*/ 0 h 48"/>
                  <a:gd name="T12" fmla="*/ 0 w 104"/>
                  <a:gd name="T13" fmla="*/ 0 h 48"/>
                  <a:gd name="T14" fmla="*/ 0 w 104"/>
                  <a:gd name="T15" fmla="*/ 0 h 48"/>
                  <a:gd name="T16" fmla="*/ 0 w 104"/>
                  <a:gd name="T17" fmla="*/ 0 h 48"/>
                  <a:gd name="T18" fmla="*/ 0 w 104"/>
                  <a:gd name="T19" fmla="*/ 0 h 48"/>
                  <a:gd name="T20" fmla="*/ 0 w 104"/>
                  <a:gd name="T21" fmla="*/ 0 h 48"/>
                  <a:gd name="T22" fmla="*/ 0 w 104"/>
                  <a:gd name="T23" fmla="*/ 0 h 48"/>
                  <a:gd name="T24" fmla="*/ 0 w 104"/>
                  <a:gd name="T25" fmla="*/ 0 h 48"/>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4" h="48">
                    <a:moveTo>
                      <a:pt x="0" y="45"/>
                    </a:moveTo>
                    <a:lnTo>
                      <a:pt x="11" y="48"/>
                    </a:lnTo>
                    <a:lnTo>
                      <a:pt x="25" y="33"/>
                    </a:lnTo>
                    <a:lnTo>
                      <a:pt x="46" y="25"/>
                    </a:lnTo>
                    <a:lnTo>
                      <a:pt x="56" y="14"/>
                    </a:lnTo>
                    <a:lnTo>
                      <a:pt x="66" y="9"/>
                    </a:lnTo>
                    <a:lnTo>
                      <a:pt x="89" y="4"/>
                    </a:lnTo>
                    <a:lnTo>
                      <a:pt x="104" y="1"/>
                    </a:lnTo>
                    <a:lnTo>
                      <a:pt x="84" y="0"/>
                    </a:lnTo>
                    <a:lnTo>
                      <a:pt x="58" y="4"/>
                    </a:lnTo>
                    <a:lnTo>
                      <a:pt x="49" y="12"/>
                    </a:lnTo>
                    <a:lnTo>
                      <a:pt x="37" y="20"/>
                    </a:lnTo>
                    <a:lnTo>
                      <a:pt x="0" y="4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0" name="Freeform 260"/>
              <p:cNvSpPr>
                <a:spLocks/>
              </p:cNvSpPr>
              <p:nvPr/>
            </p:nvSpPr>
            <p:spPr bwMode="auto">
              <a:xfrm>
                <a:off x="5357" y="1866"/>
                <a:ext cx="27" cy="7"/>
              </a:xfrm>
              <a:custGeom>
                <a:avLst/>
                <a:gdLst>
                  <a:gd name="T0" fmla="*/ 0 w 166"/>
                  <a:gd name="T1" fmla="*/ 0 h 42"/>
                  <a:gd name="T2" fmla="*/ 0 w 166"/>
                  <a:gd name="T3" fmla="*/ 0 h 42"/>
                  <a:gd name="T4" fmla="*/ 0 w 166"/>
                  <a:gd name="T5" fmla="*/ 0 h 42"/>
                  <a:gd name="T6" fmla="*/ 0 w 166"/>
                  <a:gd name="T7" fmla="*/ 0 h 42"/>
                  <a:gd name="T8" fmla="*/ 0 w 166"/>
                  <a:gd name="T9" fmla="*/ 0 h 42"/>
                  <a:gd name="T10" fmla="*/ 0 w 166"/>
                  <a:gd name="T11" fmla="*/ 0 h 42"/>
                  <a:gd name="T12" fmla="*/ 0 w 166"/>
                  <a:gd name="T13" fmla="*/ 0 h 42"/>
                  <a:gd name="T14" fmla="*/ 0 w 166"/>
                  <a:gd name="T15" fmla="*/ 0 h 42"/>
                  <a:gd name="T16" fmla="*/ 0 w 166"/>
                  <a:gd name="T17" fmla="*/ 0 h 42"/>
                  <a:gd name="T18" fmla="*/ 0 w 166"/>
                  <a:gd name="T19" fmla="*/ 0 h 42"/>
                  <a:gd name="T20" fmla="*/ 0 w 166"/>
                  <a:gd name="T21" fmla="*/ 0 h 42"/>
                  <a:gd name="T22" fmla="*/ 0 w 166"/>
                  <a:gd name="T23" fmla="*/ 0 h 42"/>
                  <a:gd name="T24" fmla="*/ 0 w 166"/>
                  <a:gd name="T25" fmla="*/ 0 h 42"/>
                  <a:gd name="T26" fmla="*/ 0 w 166"/>
                  <a:gd name="T27" fmla="*/ 0 h 42"/>
                  <a:gd name="T28" fmla="*/ 0 w 166"/>
                  <a:gd name="T29" fmla="*/ 0 h 42"/>
                  <a:gd name="T30" fmla="*/ 0 w 166"/>
                  <a:gd name="T31" fmla="*/ 0 h 4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66" h="42">
                    <a:moveTo>
                      <a:pt x="0" y="10"/>
                    </a:moveTo>
                    <a:lnTo>
                      <a:pt x="35" y="6"/>
                    </a:lnTo>
                    <a:lnTo>
                      <a:pt x="55" y="0"/>
                    </a:lnTo>
                    <a:lnTo>
                      <a:pt x="63" y="0"/>
                    </a:lnTo>
                    <a:lnTo>
                      <a:pt x="85" y="5"/>
                    </a:lnTo>
                    <a:lnTo>
                      <a:pt x="94" y="14"/>
                    </a:lnTo>
                    <a:lnTo>
                      <a:pt x="111" y="23"/>
                    </a:lnTo>
                    <a:lnTo>
                      <a:pt x="143" y="36"/>
                    </a:lnTo>
                    <a:lnTo>
                      <a:pt x="166" y="36"/>
                    </a:lnTo>
                    <a:lnTo>
                      <a:pt x="142" y="42"/>
                    </a:lnTo>
                    <a:lnTo>
                      <a:pt x="126" y="39"/>
                    </a:lnTo>
                    <a:lnTo>
                      <a:pt x="91" y="22"/>
                    </a:lnTo>
                    <a:lnTo>
                      <a:pt x="79" y="10"/>
                    </a:lnTo>
                    <a:lnTo>
                      <a:pt x="55" y="8"/>
                    </a:lnTo>
                    <a:lnTo>
                      <a:pt x="35" y="10"/>
                    </a:lnTo>
                    <a:lnTo>
                      <a:pt x="0" y="1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1" name="Freeform 261"/>
              <p:cNvSpPr>
                <a:spLocks/>
              </p:cNvSpPr>
              <p:nvPr/>
            </p:nvSpPr>
            <p:spPr bwMode="auto">
              <a:xfrm>
                <a:off x="5335" y="1874"/>
                <a:ext cx="6" cy="5"/>
              </a:xfrm>
              <a:custGeom>
                <a:avLst/>
                <a:gdLst>
                  <a:gd name="T0" fmla="*/ 0 w 33"/>
                  <a:gd name="T1" fmla="*/ 0 h 30"/>
                  <a:gd name="T2" fmla="*/ 0 w 33"/>
                  <a:gd name="T3" fmla="*/ 0 h 30"/>
                  <a:gd name="T4" fmla="*/ 0 w 33"/>
                  <a:gd name="T5" fmla="*/ 0 h 30"/>
                  <a:gd name="T6" fmla="*/ 0 w 33"/>
                  <a:gd name="T7" fmla="*/ 0 h 30"/>
                  <a:gd name="T8" fmla="*/ 0 w 33"/>
                  <a:gd name="T9" fmla="*/ 0 h 30"/>
                  <a:gd name="T10" fmla="*/ 0 w 33"/>
                  <a:gd name="T11" fmla="*/ 0 h 3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30">
                    <a:moveTo>
                      <a:pt x="25" y="0"/>
                    </a:moveTo>
                    <a:lnTo>
                      <a:pt x="33" y="11"/>
                    </a:lnTo>
                    <a:lnTo>
                      <a:pt x="23" y="24"/>
                    </a:lnTo>
                    <a:lnTo>
                      <a:pt x="0" y="30"/>
                    </a:lnTo>
                    <a:lnTo>
                      <a:pt x="25" y="15"/>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2" name="Freeform 262"/>
              <p:cNvSpPr>
                <a:spLocks/>
              </p:cNvSpPr>
              <p:nvPr/>
            </p:nvSpPr>
            <p:spPr bwMode="auto">
              <a:xfrm>
                <a:off x="5329" y="1870"/>
                <a:ext cx="6" cy="4"/>
              </a:xfrm>
              <a:custGeom>
                <a:avLst/>
                <a:gdLst>
                  <a:gd name="T0" fmla="*/ 0 w 33"/>
                  <a:gd name="T1" fmla="*/ 0 h 28"/>
                  <a:gd name="T2" fmla="*/ 0 w 33"/>
                  <a:gd name="T3" fmla="*/ 0 h 28"/>
                  <a:gd name="T4" fmla="*/ 0 w 33"/>
                  <a:gd name="T5" fmla="*/ 0 h 28"/>
                  <a:gd name="T6" fmla="*/ 0 w 33"/>
                  <a:gd name="T7" fmla="*/ 0 h 28"/>
                  <a:gd name="T8" fmla="*/ 0 w 33"/>
                  <a:gd name="T9" fmla="*/ 0 h 28"/>
                  <a:gd name="T10" fmla="*/ 0 w 33"/>
                  <a:gd name="T11" fmla="*/ 0 h 2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28">
                    <a:moveTo>
                      <a:pt x="33" y="16"/>
                    </a:moveTo>
                    <a:lnTo>
                      <a:pt x="25" y="0"/>
                    </a:lnTo>
                    <a:lnTo>
                      <a:pt x="24" y="13"/>
                    </a:lnTo>
                    <a:lnTo>
                      <a:pt x="0" y="26"/>
                    </a:lnTo>
                    <a:lnTo>
                      <a:pt x="3" y="28"/>
                    </a:lnTo>
                    <a:lnTo>
                      <a:pt x="33" y="1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3" name="Freeform 263"/>
              <p:cNvSpPr>
                <a:spLocks/>
              </p:cNvSpPr>
              <p:nvPr/>
            </p:nvSpPr>
            <p:spPr bwMode="auto">
              <a:xfrm>
                <a:off x="5399" y="1876"/>
                <a:ext cx="6" cy="7"/>
              </a:xfrm>
              <a:custGeom>
                <a:avLst/>
                <a:gdLst>
                  <a:gd name="T0" fmla="*/ 0 w 37"/>
                  <a:gd name="T1" fmla="*/ 0 h 42"/>
                  <a:gd name="T2" fmla="*/ 0 w 37"/>
                  <a:gd name="T3" fmla="*/ 0 h 42"/>
                  <a:gd name="T4" fmla="*/ 0 w 37"/>
                  <a:gd name="T5" fmla="*/ 0 h 42"/>
                  <a:gd name="T6" fmla="*/ 0 w 37"/>
                  <a:gd name="T7" fmla="*/ 0 h 42"/>
                  <a:gd name="T8" fmla="*/ 0 w 37"/>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7" h="42">
                    <a:moveTo>
                      <a:pt x="0" y="0"/>
                    </a:moveTo>
                    <a:lnTo>
                      <a:pt x="8" y="21"/>
                    </a:lnTo>
                    <a:lnTo>
                      <a:pt x="23" y="39"/>
                    </a:lnTo>
                    <a:lnTo>
                      <a:pt x="37" y="4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4" name="Freeform 264"/>
              <p:cNvSpPr>
                <a:spLocks/>
              </p:cNvSpPr>
              <p:nvPr/>
            </p:nvSpPr>
            <p:spPr bwMode="auto">
              <a:xfrm>
                <a:off x="5420" y="1907"/>
                <a:ext cx="9" cy="6"/>
              </a:xfrm>
              <a:custGeom>
                <a:avLst/>
                <a:gdLst>
                  <a:gd name="T0" fmla="*/ 0 w 50"/>
                  <a:gd name="T1" fmla="*/ 0 h 39"/>
                  <a:gd name="T2" fmla="*/ 0 w 50"/>
                  <a:gd name="T3" fmla="*/ 0 h 39"/>
                  <a:gd name="T4" fmla="*/ 0 w 50"/>
                  <a:gd name="T5" fmla="*/ 0 h 39"/>
                  <a:gd name="T6" fmla="*/ 0 w 50"/>
                  <a:gd name="T7" fmla="*/ 0 h 3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50" h="39">
                    <a:moveTo>
                      <a:pt x="50" y="0"/>
                    </a:moveTo>
                    <a:lnTo>
                      <a:pt x="17" y="14"/>
                    </a:lnTo>
                    <a:lnTo>
                      <a:pt x="0" y="39"/>
                    </a:lnTo>
                    <a:lnTo>
                      <a:pt x="5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63" name="Group 265"/>
            <p:cNvGrpSpPr>
              <a:grpSpLocks/>
            </p:cNvGrpSpPr>
            <p:nvPr/>
          </p:nvGrpSpPr>
          <p:grpSpPr bwMode="auto">
            <a:xfrm>
              <a:off x="5432" y="1894"/>
              <a:ext cx="37" cy="45"/>
              <a:chOff x="5432" y="1894"/>
              <a:chExt cx="37" cy="45"/>
            </a:xfrm>
          </p:grpSpPr>
          <p:sp>
            <p:nvSpPr>
              <p:cNvPr id="264" name="Freeform 266"/>
              <p:cNvSpPr>
                <a:spLocks/>
              </p:cNvSpPr>
              <p:nvPr/>
            </p:nvSpPr>
            <p:spPr bwMode="auto">
              <a:xfrm>
                <a:off x="5432" y="1894"/>
                <a:ext cx="37" cy="45"/>
              </a:xfrm>
              <a:custGeom>
                <a:avLst/>
                <a:gdLst>
                  <a:gd name="T0" fmla="*/ 0 w 219"/>
                  <a:gd name="T1" fmla="*/ 0 h 267"/>
                  <a:gd name="T2" fmla="*/ 0 w 219"/>
                  <a:gd name="T3" fmla="*/ 0 h 267"/>
                  <a:gd name="T4" fmla="*/ 0 w 219"/>
                  <a:gd name="T5" fmla="*/ 0 h 267"/>
                  <a:gd name="T6" fmla="*/ 0 w 219"/>
                  <a:gd name="T7" fmla="*/ 0 h 267"/>
                  <a:gd name="T8" fmla="*/ 0 w 219"/>
                  <a:gd name="T9" fmla="*/ 0 h 267"/>
                  <a:gd name="T10" fmla="*/ 0 w 219"/>
                  <a:gd name="T11" fmla="*/ 0 h 267"/>
                  <a:gd name="T12" fmla="*/ 0 w 219"/>
                  <a:gd name="T13" fmla="*/ 0 h 267"/>
                  <a:gd name="T14" fmla="*/ 0 w 219"/>
                  <a:gd name="T15" fmla="*/ 0 h 267"/>
                  <a:gd name="T16" fmla="*/ 0 w 219"/>
                  <a:gd name="T17" fmla="*/ 0 h 267"/>
                  <a:gd name="T18" fmla="*/ 0 w 219"/>
                  <a:gd name="T19" fmla="*/ 0 h 26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267">
                    <a:moveTo>
                      <a:pt x="77" y="17"/>
                    </a:moveTo>
                    <a:lnTo>
                      <a:pt x="42" y="55"/>
                    </a:lnTo>
                    <a:lnTo>
                      <a:pt x="26" y="87"/>
                    </a:lnTo>
                    <a:lnTo>
                      <a:pt x="11" y="138"/>
                    </a:lnTo>
                    <a:lnTo>
                      <a:pt x="11" y="167"/>
                    </a:lnTo>
                    <a:lnTo>
                      <a:pt x="0" y="210"/>
                    </a:lnTo>
                    <a:lnTo>
                      <a:pt x="178" y="267"/>
                    </a:lnTo>
                    <a:lnTo>
                      <a:pt x="219" y="0"/>
                    </a:lnTo>
                    <a:lnTo>
                      <a:pt x="146" y="17"/>
                    </a:lnTo>
                    <a:lnTo>
                      <a:pt x="77" y="17"/>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5" name="Freeform 267"/>
              <p:cNvSpPr>
                <a:spLocks/>
              </p:cNvSpPr>
              <p:nvPr/>
            </p:nvSpPr>
            <p:spPr bwMode="auto">
              <a:xfrm>
                <a:off x="5436" y="1898"/>
                <a:ext cx="29" cy="37"/>
              </a:xfrm>
              <a:custGeom>
                <a:avLst/>
                <a:gdLst>
                  <a:gd name="T0" fmla="*/ 0 w 175"/>
                  <a:gd name="T1" fmla="*/ 0 h 220"/>
                  <a:gd name="T2" fmla="*/ 0 w 175"/>
                  <a:gd name="T3" fmla="*/ 0 h 220"/>
                  <a:gd name="T4" fmla="*/ 0 w 175"/>
                  <a:gd name="T5" fmla="*/ 0 h 220"/>
                  <a:gd name="T6" fmla="*/ 0 w 175"/>
                  <a:gd name="T7" fmla="*/ 0 h 220"/>
                  <a:gd name="T8" fmla="*/ 0 w 175"/>
                  <a:gd name="T9" fmla="*/ 0 h 220"/>
                  <a:gd name="T10" fmla="*/ 0 w 175"/>
                  <a:gd name="T11" fmla="*/ 0 h 220"/>
                  <a:gd name="T12" fmla="*/ 0 w 175"/>
                  <a:gd name="T13" fmla="*/ 0 h 220"/>
                  <a:gd name="T14" fmla="*/ 0 w 175"/>
                  <a:gd name="T15" fmla="*/ 0 h 220"/>
                  <a:gd name="T16" fmla="*/ 0 w 175"/>
                  <a:gd name="T17" fmla="*/ 0 h 22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75" h="220">
                    <a:moveTo>
                      <a:pt x="69" y="7"/>
                    </a:moveTo>
                    <a:lnTo>
                      <a:pt x="38" y="42"/>
                    </a:lnTo>
                    <a:lnTo>
                      <a:pt x="12" y="92"/>
                    </a:lnTo>
                    <a:lnTo>
                      <a:pt x="6" y="128"/>
                    </a:lnTo>
                    <a:lnTo>
                      <a:pt x="0" y="171"/>
                    </a:lnTo>
                    <a:lnTo>
                      <a:pt x="140" y="220"/>
                    </a:lnTo>
                    <a:lnTo>
                      <a:pt x="175" y="0"/>
                    </a:lnTo>
                    <a:lnTo>
                      <a:pt x="122" y="10"/>
                    </a:lnTo>
                    <a:lnTo>
                      <a:pt x="69" y="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sp>
        <p:nvSpPr>
          <p:cNvPr id="275" name="Freeform 268"/>
          <p:cNvSpPr>
            <a:spLocks/>
          </p:cNvSpPr>
          <p:nvPr/>
        </p:nvSpPr>
        <p:spPr bwMode="auto">
          <a:xfrm>
            <a:off x="7153663" y="3046428"/>
            <a:ext cx="123814" cy="124512"/>
          </a:xfrm>
          <a:custGeom>
            <a:avLst/>
            <a:gdLst>
              <a:gd name="T0" fmla="*/ 2147483646 w 741"/>
              <a:gd name="T1" fmla="*/ 2147483646 h 807"/>
              <a:gd name="T2" fmla="*/ 2147483646 w 741"/>
              <a:gd name="T3" fmla="*/ 2147483646 h 807"/>
              <a:gd name="T4" fmla="*/ 2147483646 w 741"/>
              <a:gd name="T5" fmla="*/ 2147483646 h 807"/>
              <a:gd name="T6" fmla="*/ 2147483646 w 741"/>
              <a:gd name="T7" fmla="*/ 2147483646 h 807"/>
              <a:gd name="T8" fmla="*/ 2147483646 w 741"/>
              <a:gd name="T9" fmla="*/ 2147483646 h 807"/>
              <a:gd name="T10" fmla="*/ 2147483646 w 741"/>
              <a:gd name="T11" fmla="*/ 2147483646 h 807"/>
              <a:gd name="T12" fmla="*/ 2147483646 w 741"/>
              <a:gd name="T13" fmla="*/ 2147483646 h 807"/>
              <a:gd name="T14" fmla="*/ 2147483646 w 741"/>
              <a:gd name="T15" fmla="*/ 2147483646 h 807"/>
              <a:gd name="T16" fmla="*/ 2147483646 w 741"/>
              <a:gd name="T17" fmla="*/ 2147483646 h 807"/>
              <a:gd name="T18" fmla="*/ 0 w 741"/>
              <a:gd name="T19" fmla="*/ 2147483646 h 807"/>
              <a:gd name="T20" fmla="*/ 0 w 741"/>
              <a:gd name="T21" fmla="*/ 2147483646 h 807"/>
              <a:gd name="T22" fmla="*/ 2147483646 w 741"/>
              <a:gd name="T23" fmla="*/ 2147483646 h 807"/>
              <a:gd name="T24" fmla="*/ 2147483646 w 741"/>
              <a:gd name="T25" fmla="*/ 2147483646 h 807"/>
              <a:gd name="T26" fmla="*/ 2147483646 w 741"/>
              <a:gd name="T27" fmla="*/ 2147483646 h 807"/>
              <a:gd name="T28" fmla="*/ 2147483646 w 741"/>
              <a:gd name="T29" fmla="*/ 2147483646 h 807"/>
              <a:gd name="T30" fmla="*/ 2147483646 w 741"/>
              <a:gd name="T31" fmla="*/ 2147483646 h 807"/>
              <a:gd name="T32" fmla="*/ 2147483646 w 741"/>
              <a:gd name="T33" fmla="*/ 2147483646 h 807"/>
              <a:gd name="T34" fmla="*/ 2147483646 w 741"/>
              <a:gd name="T35" fmla="*/ 2147483646 h 807"/>
              <a:gd name="T36" fmla="*/ 2147483646 w 741"/>
              <a:gd name="T37" fmla="*/ 2147483646 h 807"/>
              <a:gd name="T38" fmla="*/ 2147483646 w 741"/>
              <a:gd name="T39" fmla="*/ 2147483646 h 807"/>
              <a:gd name="T40" fmla="*/ 2147483646 w 741"/>
              <a:gd name="T41" fmla="*/ 2147483646 h 807"/>
              <a:gd name="T42" fmla="*/ 2147483646 w 741"/>
              <a:gd name="T43" fmla="*/ 2147483646 h 807"/>
              <a:gd name="T44" fmla="*/ 2147483646 w 741"/>
              <a:gd name="T45" fmla="*/ 2147483646 h 807"/>
              <a:gd name="T46" fmla="*/ 2147483646 w 741"/>
              <a:gd name="T47" fmla="*/ 2147483646 h 807"/>
              <a:gd name="T48" fmla="*/ 2147483646 w 741"/>
              <a:gd name="T49" fmla="*/ 2147483646 h 807"/>
              <a:gd name="T50" fmla="*/ 2147483646 w 741"/>
              <a:gd name="T51" fmla="*/ 2147483646 h 807"/>
              <a:gd name="T52" fmla="*/ 2147483646 w 741"/>
              <a:gd name="T53" fmla="*/ 2147483646 h 807"/>
              <a:gd name="T54" fmla="*/ 2147483646 w 741"/>
              <a:gd name="T55" fmla="*/ 2147483646 h 807"/>
              <a:gd name="T56" fmla="*/ 2147483646 w 741"/>
              <a:gd name="T57" fmla="*/ 2147483646 h 807"/>
              <a:gd name="T58" fmla="*/ 2147483646 w 741"/>
              <a:gd name="T59" fmla="*/ 2147483646 h 807"/>
              <a:gd name="T60" fmla="*/ 2147483646 w 741"/>
              <a:gd name="T61" fmla="*/ 2147483646 h 807"/>
              <a:gd name="T62" fmla="*/ 2147483646 w 741"/>
              <a:gd name="T63" fmla="*/ 2147483646 h 807"/>
              <a:gd name="T64" fmla="*/ 2147483646 w 741"/>
              <a:gd name="T65" fmla="*/ 2147483646 h 807"/>
              <a:gd name="T66" fmla="*/ 2147483646 w 741"/>
              <a:gd name="T67" fmla="*/ 0 h 807"/>
              <a:gd name="T68" fmla="*/ 2147483646 w 741"/>
              <a:gd name="T69" fmla="*/ 2147483646 h 807"/>
              <a:gd name="T70" fmla="*/ 2147483646 w 741"/>
              <a:gd name="T71" fmla="*/ 2147483646 h 807"/>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741" h="807">
                <a:moveTo>
                  <a:pt x="243" y="26"/>
                </a:moveTo>
                <a:lnTo>
                  <a:pt x="179" y="74"/>
                </a:lnTo>
                <a:lnTo>
                  <a:pt x="144" y="131"/>
                </a:lnTo>
                <a:lnTo>
                  <a:pt x="112" y="192"/>
                </a:lnTo>
                <a:lnTo>
                  <a:pt x="92" y="224"/>
                </a:lnTo>
                <a:lnTo>
                  <a:pt x="92" y="259"/>
                </a:lnTo>
                <a:lnTo>
                  <a:pt x="109" y="300"/>
                </a:lnTo>
                <a:lnTo>
                  <a:pt x="77" y="332"/>
                </a:lnTo>
                <a:lnTo>
                  <a:pt x="26" y="420"/>
                </a:lnTo>
                <a:lnTo>
                  <a:pt x="0" y="467"/>
                </a:lnTo>
                <a:lnTo>
                  <a:pt x="0" y="482"/>
                </a:lnTo>
                <a:lnTo>
                  <a:pt x="6" y="498"/>
                </a:lnTo>
                <a:lnTo>
                  <a:pt x="28" y="503"/>
                </a:lnTo>
                <a:lnTo>
                  <a:pt x="60" y="504"/>
                </a:lnTo>
                <a:lnTo>
                  <a:pt x="79" y="511"/>
                </a:lnTo>
                <a:lnTo>
                  <a:pt x="77" y="546"/>
                </a:lnTo>
                <a:lnTo>
                  <a:pt x="67" y="587"/>
                </a:lnTo>
                <a:lnTo>
                  <a:pt x="86" y="609"/>
                </a:lnTo>
                <a:lnTo>
                  <a:pt x="80" y="639"/>
                </a:lnTo>
                <a:lnTo>
                  <a:pt x="95" y="659"/>
                </a:lnTo>
                <a:lnTo>
                  <a:pt x="110" y="713"/>
                </a:lnTo>
                <a:lnTo>
                  <a:pt x="133" y="728"/>
                </a:lnTo>
                <a:lnTo>
                  <a:pt x="167" y="728"/>
                </a:lnTo>
                <a:lnTo>
                  <a:pt x="217" y="721"/>
                </a:lnTo>
                <a:lnTo>
                  <a:pt x="269" y="713"/>
                </a:lnTo>
                <a:lnTo>
                  <a:pt x="263" y="807"/>
                </a:lnTo>
                <a:lnTo>
                  <a:pt x="658" y="681"/>
                </a:lnTo>
                <a:lnTo>
                  <a:pt x="626" y="606"/>
                </a:lnTo>
                <a:lnTo>
                  <a:pt x="634" y="549"/>
                </a:lnTo>
                <a:lnTo>
                  <a:pt x="741" y="441"/>
                </a:lnTo>
                <a:lnTo>
                  <a:pt x="741" y="155"/>
                </a:lnTo>
                <a:lnTo>
                  <a:pt x="668" y="77"/>
                </a:lnTo>
                <a:lnTo>
                  <a:pt x="577" y="35"/>
                </a:lnTo>
                <a:lnTo>
                  <a:pt x="481" y="0"/>
                </a:lnTo>
                <a:lnTo>
                  <a:pt x="355" y="18"/>
                </a:lnTo>
                <a:lnTo>
                  <a:pt x="243" y="26"/>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6" name="Freeform 269"/>
          <p:cNvSpPr>
            <a:spLocks/>
          </p:cNvSpPr>
          <p:nvPr/>
        </p:nvSpPr>
        <p:spPr bwMode="auto">
          <a:xfrm>
            <a:off x="7159703" y="3121692"/>
            <a:ext cx="7046" cy="1858"/>
          </a:xfrm>
          <a:custGeom>
            <a:avLst/>
            <a:gdLst>
              <a:gd name="T0" fmla="*/ 0 w 42"/>
              <a:gd name="T1" fmla="*/ 2147483646 h 9"/>
              <a:gd name="T2" fmla="*/ 2147483646 w 42"/>
              <a:gd name="T3" fmla="*/ 2147483646 h 9"/>
              <a:gd name="T4" fmla="*/ 2147483646 w 42"/>
              <a:gd name="T5" fmla="*/ 2147483646 h 9"/>
              <a:gd name="T6" fmla="*/ 2147483646 w 42"/>
              <a:gd name="T7" fmla="*/ 2147483646 h 9"/>
              <a:gd name="T8" fmla="*/ 2147483646 w 42"/>
              <a:gd name="T9" fmla="*/ 2147483646 h 9"/>
              <a:gd name="T10" fmla="*/ 2147483646 w 42"/>
              <a:gd name="T11" fmla="*/ 0 h 9"/>
              <a:gd name="T12" fmla="*/ 0 w 42"/>
              <a:gd name="T13" fmla="*/ 2147483646 h 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2" h="9">
                <a:moveTo>
                  <a:pt x="0" y="3"/>
                </a:moveTo>
                <a:lnTo>
                  <a:pt x="9" y="8"/>
                </a:lnTo>
                <a:lnTo>
                  <a:pt x="30" y="6"/>
                </a:lnTo>
                <a:lnTo>
                  <a:pt x="39" y="9"/>
                </a:lnTo>
                <a:lnTo>
                  <a:pt x="42" y="2"/>
                </a:lnTo>
                <a:lnTo>
                  <a:pt x="29" y="0"/>
                </a:lnTo>
                <a:lnTo>
                  <a:pt x="0" y="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7" name="Freeform 270"/>
          <p:cNvSpPr>
            <a:spLocks/>
          </p:cNvSpPr>
          <p:nvPr/>
        </p:nvSpPr>
        <p:spPr bwMode="auto">
          <a:xfrm>
            <a:off x="7166749" y="3117047"/>
            <a:ext cx="3020" cy="4646"/>
          </a:xfrm>
          <a:custGeom>
            <a:avLst/>
            <a:gdLst>
              <a:gd name="T0" fmla="*/ 0 w 17"/>
              <a:gd name="T1" fmla="*/ 0 h 31"/>
              <a:gd name="T2" fmla="*/ 2147483646 w 17"/>
              <a:gd name="T3" fmla="*/ 2147483646 h 31"/>
              <a:gd name="T4" fmla="*/ 2147483646 w 17"/>
              <a:gd name="T5" fmla="*/ 2147483646 h 31"/>
              <a:gd name="T6" fmla="*/ 2147483646 w 17"/>
              <a:gd name="T7" fmla="*/ 2147483646 h 31"/>
              <a:gd name="T8" fmla="*/ 2147483646 w 17"/>
              <a:gd name="T9" fmla="*/ 2147483646 h 31"/>
              <a:gd name="T10" fmla="*/ 2147483646 w 17"/>
              <a:gd name="T11" fmla="*/ 2147483646 h 31"/>
              <a:gd name="T12" fmla="*/ 0 w 17"/>
              <a:gd name="T13" fmla="*/ 0 h 3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7" h="31">
                <a:moveTo>
                  <a:pt x="0" y="0"/>
                </a:moveTo>
                <a:lnTo>
                  <a:pt x="11" y="7"/>
                </a:lnTo>
                <a:lnTo>
                  <a:pt x="11" y="16"/>
                </a:lnTo>
                <a:lnTo>
                  <a:pt x="13" y="31"/>
                </a:lnTo>
                <a:lnTo>
                  <a:pt x="17" y="12"/>
                </a:lnTo>
                <a:lnTo>
                  <a:pt x="17" y="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8" name="Freeform 271"/>
          <p:cNvSpPr>
            <a:spLocks/>
          </p:cNvSpPr>
          <p:nvPr/>
        </p:nvSpPr>
        <p:spPr bwMode="auto">
          <a:xfrm>
            <a:off x="7171782" y="3101250"/>
            <a:ext cx="3020" cy="9292"/>
          </a:xfrm>
          <a:custGeom>
            <a:avLst/>
            <a:gdLst>
              <a:gd name="T0" fmla="*/ 2147483646 w 19"/>
              <a:gd name="T1" fmla="*/ 0 h 60"/>
              <a:gd name="T2" fmla="*/ 2147483646 w 19"/>
              <a:gd name="T3" fmla="*/ 2147483646 h 60"/>
              <a:gd name="T4" fmla="*/ 0 w 19"/>
              <a:gd name="T5" fmla="*/ 2147483646 h 60"/>
              <a:gd name="T6" fmla="*/ 2147483646 w 19"/>
              <a:gd name="T7" fmla="*/ 2147483646 h 60"/>
              <a:gd name="T8" fmla="*/ 2147483646 w 19"/>
              <a:gd name="T9" fmla="*/ 0 h 6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60">
                <a:moveTo>
                  <a:pt x="19" y="0"/>
                </a:moveTo>
                <a:lnTo>
                  <a:pt x="5" y="34"/>
                </a:lnTo>
                <a:lnTo>
                  <a:pt x="0" y="60"/>
                </a:lnTo>
                <a:lnTo>
                  <a:pt x="9" y="43"/>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9" name="Freeform 272"/>
          <p:cNvSpPr>
            <a:spLocks/>
          </p:cNvSpPr>
          <p:nvPr/>
        </p:nvSpPr>
        <p:spPr bwMode="auto">
          <a:xfrm>
            <a:off x="7173796" y="3091958"/>
            <a:ext cx="13086" cy="8363"/>
          </a:xfrm>
          <a:custGeom>
            <a:avLst/>
            <a:gdLst>
              <a:gd name="T0" fmla="*/ 0 w 80"/>
              <a:gd name="T1" fmla="*/ 0 h 51"/>
              <a:gd name="T2" fmla="*/ 2147483646 w 80"/>
              <a:gd name="T3" fmla="*/ 2147483646 h 51"/>
              <a:gd name="T4" fmla="*/ 2147483646 w 80"/>
              <a:gd name="T5" fmla="*/ 2147483646 h 51"/>
              <a:gd name="T6" fmla="*/ 2147483646 w 80"/>
              <a:gd name="T7" fmla="*/ 2147483646 h 51"/>
              <a:gd name="T8" fmla="*/ 2147483646 w 80"/>
              <a:gd name="T9" fmla="*/ 2147483646 h 51"/>
              <a:gd name="T10" fmla="*/ 2147483646 w 80"/>
              <a:gd name="T11" fmla="*/ 2147483646 h 51"/>
              <a:gd name="T12" fmla="*/ 2147483646 w 80"/>
              <a:gd name="T13" fmla="*/ 2147483646 h 51"/>
              <a:gd name="T14" fmla="*/ 2147483646 w 80"/>
              <a:gd name="T15" fmla="*/ 2147483646 h 51"/>
              <a:gd name="T16" fmla="*/ 2147483646 w 80"/>
              <a:gd name="T17" fmla="*/ 2147483646 h 51"/>
              <a:gd name="T18" fmla="*/ 2147483646 w 80"/>
              <a:gd name="T19" fmla="*/ 2147483646 h 51"/>
              <a:gd name="T20" fmla="*/ 0 w 80"/>
              <a:gd name="T21" fmla="*/ 0 h 51"/>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80" h="51">
                <a:moveTo>
                  <a:pt x="0" y="0"/>
                </a:moveTo>
                <a:lnTo>
                  <a:pt x="17" y="28"/>
                </a:lnTo>
                <a:lnTo>
                  <a:pt x="13" y="35"/>
                </a:lnTo>
                <a:lnTo>
                  <a:pt x="13" y="40"/>
                </a:lnTo>
                <a:lnTo>
                  <a:pt x="9" y="51"/>
                </a:lnTo>
                <a:lnTo>
                  <a:pt x="20" y="34"/>
                </a:lnTo>
                <a:lnTo>
                  <a:pt x="35" y="34"/>
                </a:lnTo>
                <a:lnTo>
                  <a:pt x="52" y="28"/>
                </a:lnTo>
                <a:lnTo>
                  <a:pt x="80" y="26"/>
                </a:lnTo>
                <a:lnTo>
                  <a:pt x="5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0" name="Freeform 273"/>
          <p:cNvSpPr>
            <a:spLocks/>
          </p:cNvSpPr>
          <p:nvPr/>
        </p:nvSpPr>
        <p:spPr bwMode="auto">
          <a:xfrm>
            <a:off x="7170776" y="3080807"/>
            <a:ext cx="22145" cy="7434"/>
          </a:xfrm>
          <a:custGeom>
            <a:avLst/>
            <a:gdLst>
              <a:gd name="T0" fmla="*/ 0 w 135"/>
              <a:gd name="T1" fmla="*/ 2147483646 h 48"/>
              <a:gd name="T2" fmla="*/ 2147483646 w 135"/>
              <a:gd name="T3" fmla="*/ 2147483646 h 48"/>
              <a:gd name="T4" fmla="*/ 2147483646 w 135"/>
              <a:gd name="T5" fmla="*/ 2147483646 h 48"/>
              <a:gd name="T6" fmla="*/ 2147483646 w 135"/>
              <a:gd name="T7" fmla="*/ 2147483646 h 48"/>
              <a:gd name="T8" fmla="*/ 2147483646 w 135"/>
              <a:gd name="T9" fmla="*/ 2147483646 h 48"/>
              <a:gd name="T10" fmla="*/ 2147483646 w 135"/>
              <a:gd name="T11" fmla="*/ 2147483646 h 48"/>
              <a:gd name="T12" fmla="*/ 2147483646 w 135"/>
              <a:gd name="T13" fmla="*/ 2147483646 h 48"/>
              <a:gd name="T14" fmla="*/ 2147483646 w 135"/>
              <a:gd name="T15" fmla="*/ 2147483646 h 48"/>
              <a:gd name="T16" fmla="*/ 2147483646 w 135"/>
              <a:gd name="T17" fmla="*/ 2147483646 h 48"/>
              <a:gd name="T18" fmla="*/ 2147483646 w 135"/>
              <a:gd name="T19" fmla="*/ 0 h 48"/>
              <a:gd name="T20" fmla="*/ 2147483646 w 135"/>
              <a:gd name="T21" fmla="*/ 2147483646 h 48"/>
              <a:gd name="T22" fmla="*/ 2147483646 w 135"/>
              <a:gd name="T23" fmla="*/ 2147483646 h 48"/>
              <a:gd name="T24" fmla="*/ 2147483646 w 135"/>
              <a:gd name="T25" fmla="*/ 2147483646 h 48"/>
              <a:gd name="T26" fmla="*/ 2147483646 w 135"/>
              <a:gd name="T27" fmla="*/ 2147483646 h 48"/>
              <a:gd name="T28" fmla="*/ 0 w 135"/>
              <a:gd name="T29" fmla="*/ 2147483646 h 4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35" h="48">
                <a:moveTo>
                  <a:pt x="0" y="25"/>
                </a:moveTo>
                <a:lnTo>
                  <a:pt x="6" y="42"/>
                </a:lnTo>
                <a:lnTo>
                  <a:pt x="20" y="48"/>
                </a:lnTo>
                <a:lnTo>
                  <a:pt x="42" y="34"/>
                </a:lnTo>
                <a:lnTo>
                  <a:pt x="69" y="25"/>
                </a:lnTo>
                <a:lnTo>
                  <a:pt x="113" y="24"/>
                </a:lnTo>
                <a:lnTo>
                  <a:pt x="135" y="27"/>
                </a:lnTo>
                <a:lnTo>
                  <a:pt x="101" y="12"/>
                </a:lnTo>
                <a:lnTo>
                  <a:pt x="77" y="6"/>
                </a:lnTo>
                <a:lnTo>
                  <a:pt x="80" y="0"/>
                </a:lnTo>
                <a:lnTo>
                  <a:pt x="57" y="9"/>
                </a:lnTo>
                <a:lnTo>
                  <a:pt x="59" y="3"/>
                </a:lnTo>
                <a:lnTo>
                  <a:pt x="40" y="12"/>
                </a:lnTo>
                <a:lnTo>
                  <a:pt x="23" y="12"/>
                </a:lnTo>
                <a:lnTo>
                  <a:pt x="0" y="2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1" name="Freeform 274"/>
          <p:cNvSpPr>
            <a:spLocks/>
          </p:cNvSpPr>
          <p:nvPr/>
        </p:nvSpPr>
        <p:spPr bwMode="auto">
          <a:xfrm>
            <a:off x="7221106" y="3091029"/>
            <a:ext cx="13087" cy="24159"/>
          </a:xfrm>
          <a:custGeom>
            <a:avLst/>
            <a:gdLst>
              <a:gd name="T0" fmla="*/ 0 w 78"/>
              <a:gd name="T1" fmla="*/ 2147483646 h 159"/>
              <a:gd name="T2" fmla="*/ 2147483646 w 78"/>
              <a:gd name="T3" fmla="*/ 2147483646 h 159"/>
              <a:gd name="T4" fmla="*/ 2147483646 w 78"/>
              <a:gd name="T5" fmla="*/ 2147483646 h 159"/>
              <a:gd name="T6" fmla="*/ 2147483646 w 78"/>
              <a:gd name="T7" fmla="*/ 2147483646 h 159"/>
              <a:gd name="T8" fmla="*/ 2147483646 w 78"/>
              <a:gd name="T9" fmla="*/ 2147483646 h 159"/>
              <a:gd name="T10" fmla="*/ 2147483646 w 78"/>
              <a:gd name="T11" fmla="*/ 2147483646 h 159"/>
              <a:gd name="T12" fmla="*/ 2147483646 w 78"/>
              <a:gd name="T13" fmla="*/ 2147483646 h 159"/>
              <a:gd name="T14" fmla="*/ 2147483646 w 78"/>
              <a:gd name="T15" fmla="*/ 2147483646 h 159"/>
              <a:gd name="T16" fmla="*/ 2147483646 w 78"/>
              <a:gd name="T17" fmla="*/ 2147483646 h 159"/>
              <a:gd name="T18" fmla="*/ 2147483646 w 78"/>
              <a:gd name="T19" fmla="*/ 2147483646 h 159"/>
              <a:gd name="T20" fmla="*/ 2147483646 w 78"/>
              <a:gd name="T21" fmla="*/ 2147483646 h 159"/>
              <a:gd name="T22" fmla="*/ 2147483646 w 78"/>
              <a:gd name="T23" fmla="*/ 2147483646 h 159"/>
              <a:gd name="T24" fmla="*/ 2147483646 w 78"/>
              <a:gd name="T25" fmla="*/ 2147483646 h 159"/>
              <a:gd name="T26" fmla="*/ 2147483646 w 78"/>
              <a:gd name="T27" fmla="*/ 2147483646 h 159"/>
              <a:gd name="T28" fmla="*/ 2147483646 w 78"/>
              <a:gd name="T29" fmla="*/ 2147483646 h 159"/>
              <a:gd name="T30" fmla="*/ 2147483646 w 78"/>
              <a:gd name="T31" fmla="*/ 2147483646 h 159"/>
              <a:gd name="T32" fmla="*/ 2147483646 w 78"/>
              <a:gd name="T33" fmla="*/ 2147483646 h 159"/>
              <a:gd name="T34" fmla="*/ 2147483646 w 78"/>
              <a:gd name="T35" fmla="*/ 2147483646 h 159"/>
              <a:gd name="T36" fmla="*/ 2147483646 w 78"/>
              <a:gd name="T37" fmla="*/ 2147483646 h 159"/>
              <a:gd name="T38" fmla="*/ 2147483646 w 78"/>
              <a:gd name="T39" fmla="*/ 2147483646 h 159"/>
              <a:gd name="T40" fmla="*/ 2147483646 w 78"/>
              <a:gd name="T41" fmla="*/ 0 h 159"/>
              <a:gd name="T42" fmla="*/ 2147483646 w 78"/>
              <a:gd name="T43" fmla="*/ 2147483646 h 159"/>
              <a:gd name="T44" fmla="*/ 0 w 78"/>
              <a:gd name="T45" fmla="*/ 2147483646 h 159"/>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78" h="159">
                <a:moveTo>
                  <a:pt x="0" y="30"/>
                </a:moveTo>
                <a:lnTo>
                  <a:pt x="24" y="10"/>
                </a:lnTo>
                <a:lnTo>
                  <a:pt x="52" y="15"/>
                </a:lnTo>
                <a:lnTo>
                  <a:pt x="68" y="41"/>
                </a:lnTo>
                <a:lnTo>
                  <a:pt x="71" y="77"/>
                </a:lnTo>
                <a:lnTo>
                  <a:pt x="68" y="105"/>
                </a:lnTo>
                <a:lnTo>
                  <a:pt x="59" y="128"/>
                </a:lnTo>
                <a:lnTo>
                  <a:pt x="44" y="93"/>
                </a:lnTo>
                <a:lnTo>
                  <a:pt x="31" y="73"/>
                </a:lnTo>
                <a:lnTo>
                  <a:pt x="5" y="60"/>
                </a:lnTo>
                <a:lnTo>
                  <a:pt x="25" y="89"/>
                </a:lnTo>
                <a:lnTo>
                  <a:pt x="47" y="111"/>
                </a:lnTo>
                <a:lnTo>
                  <a:pt x="49" y="134"/>
                </a:lnTo>
                <a:lnTo>
                  <a:pt x="40" y="156"/>
                </a:lnTo>
                <a:lnTo>
                  <a:pt x="28" y="159"/>
                </a:lnTo>
                <a:lnTo>
                  <a:pt x="61" y="151"/>
                </a:lnTo>
                <a:lnTo>
                  <a:pt x="77" y="117"/>
                </a:lnTo>
                <a:lnTo>
                  <a:pt x="78" y="73"/>
                </a:lnTo>
                <a:lnTo>
                  <a:pt x="77" y="33"/>
                </a:lnTo>
                <a:lnTo>
                  <a:pt x="59" y="7"/>
                </a:lnTo>
                <a:lnTo>
                  <a:pt x="34" y="0"/>
                </a:lnTo>
                <a:lnTo>
                  <a:pt x="10" y="4"/>
                </a:lnTo>
                <a:lnTo>
                  <a:pt x="0" y="3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2" name="Freeform 275"/>
          <p:cNvSpPr>
            <a:spLocks/>
          </p:cNvSpPr>
          <p:nvPr/>
        </p:nvSpPr>
        <p:spPr bwMode="auto">
          <a:xfrm>
            <a:off x="7218087" y="3087312"/>
            <a:ext cx="21139" cy="32521"/>
          </a:xfrm>
          <a:custGeom>
            <a:avLst/>
            <a:gdLst>
              <a:gd name="T0" fmla="*/ 0 w 129"/>
              <a:gd name="T1" fmla="*/ 2147483646 h 215"/>
              <a:gd name="T2" fmla="*/ 2147483646 w 129"/>
              <a:gd name="T3" fmla="*/ 2147483646 h 215"/>
              <a:gd name="T4" fmla="*/ 2147483646 w 129"/>
              <a:gd name="T5" fmla="*/ 2147483646 h 215"/>
              <a:gd name="T6" fmla="*/ 2147483646 w 129"/>
              <a:gd name="T7" fmla="*/ 2147483646 h 215"/>
              <a:gd name="T8" fmla="*/ 2147483646 w 129"/>
              <a:gd name="T9" fmla="*/ 2147483646 h 215"/>
              <a:gd name="T10" fmla="*/ 2147483646 w 129"/>
              <a:gd name="T11" fmla="*/ 2147483646 h 215"/>
              <a:gd name="T12" fmla="*/ 2147483646 w 129"/>
              <a:gd name="T13" fmla="*/ 2147483646 h 215"/>
              <a:gd name="T14" fmla="*/ 2147483646 w 129"/>
              <a:gd name="T15" fmla="*/ 2147483646 h 215"/>
              <a:gd name="T16" fmla="*/ 2147483646 w 129"/>
              <a:gd name="T17" fmla="*/ 2147483646 h 215"/>
              <a:gd name="T18" fmla="*/ 2147483646 w 129"/>
              <a:gd name="T19" fmla="*/ 2147483646 h 215"/>
              <a:gd name="T20" fmla="*/ 2147483646 w 129"/>
              <a:gd name="T21" fmla="*/ 2147483646 h 215"/>
              <a:gd name="T22" fmla="*/ 2147483646 w 129"/>
              <a:gd name="T23" fmla="*/ 2147483646 h 215"/>
              <a:gd name="T24" fmla="*/ 2147483646 w 129"/>
              <a:gd name="T25" fmla="*/ 2147483646 h 215"/>
              <a:gd name="T26" fmla="*/ 2147483646 w 129"/>
              <a:gd name="T27" fmla="*/ 2147483646 h 215"/>
              <a:gd name="T28" fmla="*/ 2147483646 w 129"/>
              <a:gd name="T29" fmla="*/ 2147483646 h 215"/>
              <a:gd name="T30" fmla="*/ 2147483646 w 129"/>
              <a:gd name="T31" fmla="*/ 2147483646 h 215"/>
              <a:gd name="T32" fmla="*/ 2147483646 w 129"/>
              <a:gd name="T33" fmla="*/ 2147483646 h 215"/>
              <a:gd name="T34" fmla="*/ 2147483646 w 129"/>
              <a:gd name="T35" fmla="*/ 2147483646 h 215"/>
              <a:gd name="T36" fmla="*/ 2147483646 w 129"/>
              <a:gd name="T37" fmla="*/ 2147483646 h 215"/>
              <a:gd name="T38" fmla="*/ 2147483646 w 129"/>
              <a:gd name="T39" fmla="*/ 2147483646 h 215"/>
              <a:gd name="T40" fmla="*/ 2147483646 w 129"/>
              <a:gd name="T41" fmla="*/ 2147483646 h 215"/>
              <a:gd name="T42" fmla="*/ 2147483646 w 129"/>
              <a:gd name="T43" fmla="*/ 2147483646 h 215"/>
              <a:gd name="T44" fmla="*/ 2147483646 w 129"/>
              <a:gd name="T45" fmla="*/ 2147483646 h 215"/>
              <a:gd name="T46" fmla="*/ 2147483646 w 129"/>
              <a:gd name="T47" fmla="*/ 0 h 215"/>
              <a:gd name="T48" fmla="*/ 2147483646 w 129"/>
              <a:gd name="T49" fmla="*/ 2147483646 h 215"/>
              <a:gd name="T50" fmla="*/ 2147483646 w 129"/>
              <a:gd name="T51" fmla="*/ 2147483646 h 215"/>
              <a:gd name="T52" fmla="*/ 0 w 129"/>
              <a:gd name="T53" fmla="*/ 2147483646 h 215"/>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129" h="215">
                <a:moveTo>
                  <a:pt x="0" y="53"/>
                </a:moveTo>
                <a:lnTo>
                  <a:pt x="20" y="19"/>
                </a:lnTo>
                <a:lnTo>
                  <a:pt x="54" y="9"/>
                </a:lnTo>
                <a:lnTo>
                  <a:pt x="95" y="16"/>
                </a:lnTo>
                <a:lnTo>
                  <a:pt x="109" y="35"/>
                </a:lnTo>
                <a:lnTo>
                  <a:pt x="120" y="67"/>
                </a:lnTo>
                <a:lnTo>
                  <a:pt x="120" y="93"/>
                </a:lnTo>
                <a:lnTo>
                  <a:pt x="114" y="111"/>
                </a:lnTo>
                <a:lnTo>
                  <a:pt x="114" y="137"/>
                </a:lnTo>
                <a:lnTo>
                  <a:pt x="107" y="168"/>
                </a:lnTo>
                <a:lnTo>
                  <a:pt x="80" y="198"/>
                </a:lnTo>
                <a:lnTo>
                  <a:pt x="63" y="198"/>
                </a:lnTo>
                <a:lnTo>
                  <a:pt x="40" y="198"/>
                </a:lnTo>
                <a:lnTo>
                  <a:pt x="40" y="203"/>
                </a:lnTo>
                <a:lnTo>
                  <a:pt x="57" y="215"/>
                </a:lnTo>
                <a:lnTo>
                  <a:pt x="76" y="211"/>
                </a:lnTo>
                <a:lnTo>
                  <a:pt x="101" y="201"/>
                </a:lnTo>
                <a:lnTo>
                  <a:pt x="121" y="171"/>
                </a:lnTo>
                <a:lnTo>
                  <a:pt x="123" y="121"/>
                </a:lnTo>
                <a:lnTo>
                  <a:pt x="129" y="87"/>
                </a:lnTo>
                <a:lnTo>
                  <a:pt x="129" y="58"/>
                </a:lnTo>
                <a:lnTo>
                  <a:pt x="117" y="32"/>
                </a:lnTo>
                <a:lnTo>
                  <a:pt x="103" y="9"/>
                </a:lnTo>
                <a:lnTo>
                  <a:pt x="69" y="0"/>
                </a:lnTo>
                <a:lnTo>
                  <a:pt x="20" y="6"/>
                </a:lnTo>
                <a:lnTo>
                  <a:pt x="3" y="19"/>
                </a:lnTo>
                <a:lnTo>
                  <a:pt x="0" y="5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3" name="Freeform 276"/>
          <p:cNvSpPr>
            <a:spLocks/>
          </p:cNvSpPr>
          <p:nvPr/>
        </p:nvSpPr>
        <p:spPr bwMode="auto">
          <a:xfrm>
            <a:off x="7207014" y="3122622"/>
            <a:ext cx="19126" cy="27876"/>
          </a:xfrm>
          <a:custGeom>
            <a:avLst/>
            <a:gdLst>
              <a:gd name="T0" fmla="*/ 2147483646 w 118"/>
              <a:gd name="T1" fmla="*/ 0 h 179"/>
              <a:gd name="T2" fmla="*/ 2147483646 w 118"/>
              <a:gd name="T3" fmla="*/ 2147483646 h 179"/>
              <a:gd name="T4" fmla="*/ 2147483646 w 118"/>
              <a:gd name="T5" fmla="*/ 2147483646 h 179"/>
              <a:gd name="T6" fmla="*/ 2147483646 w 118"/>
              <a:gd name="T7" fmla="*/ 2147483646 h 179"/>
              <a:gd name="T8" fmla="*/ 2147483646 w 118"/>
              <a:gd name="T9" fmla="*/ 2147483646 h 179"/>
              <a:gd name="T10" fmla="*/ 0 w 118"/>
              <a:gd name="T11" fmla="*/ 2147483646 h 179"/>
              <a:gd name="T12" fmla="*/ 2147483646 w 118"/>
              <a:gd name="T13" fmla="*/ 2147483646 h 179"/>
              <a:gd name="T14" fmla="*/ 2147483646 w 118"/>
              <a:gd name="T15" fmla="*/ 2147483646 h 179"/>
              <a:gd name="T16" fmla="*/ 2147483646 w 118"/>
              <a:gd name="T17" fmla="*/ 2147483646 h 179"/>
              <a:gd name="T18" fmla="*/ 2147483646 w 118"/>
              <a:gd name="T19" fmla="*/ 0 h 17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18" h="179">
                <a:moveTo>
                  <a:pt x="118" y="0"/>
                </a:moveTo>
                <a:lnTo>
                  <a:pt x="102" y="39"/>
                </a:lnTo>
                <a:lnTo>
                  <a:pt x="77" y="80"/>
                </a:lnTo>
                <a:lnTo>
                  <a:pt x="52" y="116"/>
                </a:lnTo>
                <a:lnTo>
                  <a:pt x="17" y="164"/>
                </a:lnTo>
                <a:lnTo>
                  <a:pt x="0" y="179"/>
                </a:lnTo>
                <a:lnTo>
                  <a:pt x="39" y="159"/>
                </a:lnTo>
                <a:lnTo>
                  <a:pt x="70" y="115"/>
                </a:lnTo>
                <a:lnTo>
                  <a:pt x="99" y="67"/>
                </a:lnTo>
                <a:lnTo>
                  <a:pt x="118"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4" name="Freeform 277"/>
          <p:cNvSpPr>
            <a:spLocks/>
          </p:cNvSpPr>
          <p:nvPr/>
        </p:nvSpPr>
        <p:spPr bwMode="auto">
          <a:xfrm>
            <a:off x="7173796" y="3028773"/>
            <a:ext cx="112742" cy="103141"/>
          </a:xfrm>
          <a:custGeom>
            <a:avLst/>
            <a:gdLst>
              <a:gd name="T0" fmla="*/ 2147483646 w 671"/>
              <a:gd name="T1" fmla="*/ 2147483646 h 670"/>
              <a:gd name="T2" fmla="*/ 2147483646 w 671"/>
              <a:gd name="T3" fmla="*/ 2147483646 h 670"/>
              <a:gd name="T4" fmla="*/ 2147483646 w 671"/>
              <a:gd name="T5" fmla="*/ 2147483646 h 670"/>
              <a:gd name="T6" fmla="*/ 2147483646 w 671"/>
              <a:gd name="T7" fmla="*/ 2147483646 h 670"/>
              <a:gd name="T8" fmla="*/ 2147483646 w 671"/>
              <a:gd name="T9" fmla="*/ 2147483646 h 670"/>
              <a:gd name="T10" fmla="*/ 2147483646 w 671"/>
              <a:gd name="T11" fmla="*/ 2147483646 h 670"/>
              <a:gd name="T12" fmla="*/ 2147483646 w 671"/>
              <a:gd name="T13" fmla="*/ 2147483646 h 670"/>
              <a:gd name="T14" fmla="*/ 2147483646 w 671"/>
              <a:gd name="T15" fmla="*/ 2147483646 h 670"/>
              <a:gd name="T16" fmla="*/ 2147483646 w 671"/>
              <a:gd name="T17" fmla="*/ 2147483646 h 670"/>
              <a:gd name="T18" fmla="*/ 2147483646 w 671"/>
              <a:gd name="T19" fmla="*/ 2147483646 h 670"/>
              <a:gd name="T20" fmla="*/ 2147483646 w 671"/>
              <a:gd name="T21" fmla="*/ 2147483646 h 670"/>
              <a:gd name="T22" fmla="*/ 2147483646 w 671"/>
              <a:gd name="T23" fmla="*/ 2147483646 h 670"/>
              <a:gd name="T24" fmla="*/ 2147483646 w 671"/>
              <a:gd name="T25" fmla="*/ 2147483646 h 670"/>
              <a:gd name="T26" fmla="*/ 2147483646 w 671"/>
              <a:gd name="T27" fmla="*/ 2147483646 h 670"/>
              <a:gd name="T28" fmla="*/ 2147483646 w 671"/>
              <a:gd name="T29" fmla="*/ 2147483646 h 670"/>
              <a:gd name="T30" fmla="*/ 2147483646 w 671"/>
              <a:gd name="T31" fmla="*/ 2147483646 h 670"/>
              <a:gd name="T32" fmla="*/ 2147483646 w 671"/>
              <a:gd name="T33" fmla="*/ 2147483646 h 670"/>
              <a:gd name="T34" fmla="*/ 2147483646 w 671"/>
              <a:gd name="T35" fmla="*/ 2147483646 h 670"/>
              <a:gd name="T36" fmla="*/ 2147483646 w 671"/>
              <a:gd name="T37" fmla="*/ 2147483646 h 670"/>
              <a:gd name="T38" fmla="*/ 2147483646 w 671"/>
              <a:gd name="T39" fmla="*/ 2147483646 h 670"/>
              <a:gd name="T40" fmla="*/ 2147483646 w 671"/>
              <a:gd name="T41" fmla="*/ 2147483646 h 670"/>
              <a:gd name="T42" fmla="*/ 2147483646 w 671"/>
              <a:gd name="T43" fmla="*/ 2147483646 h 670"/>
              <a:gd name="T44" fmla="*/ 2147483646 w 671"/>
              <a:gd name="T45" fmla="*/ 2147483646 h 670"/>
              <a:gd name="T46" fmla="*/ 2147483646 w 671"/>
              <a:gd name="T47" fmla="*/ 2147483646 h 670"/>
              <a:gd name="T48" fmla="*/ 2147483646 w 671"/>
              <a:gd name="T49" fmla="*/ 2147483646 h 670"/>
              <a:gd name="T50" fmla="*/ 2147483646 w 671"/>
              <a:gd name="T51" fmla="*/ 2147483646 h 670"/>
              <a:gd name="T52" fmla="*/ 2147483646 w 671"/>
              <a:gd name="T53" fmla="*/ 2147483646 h 670"/>
              <a:gd name="T54" fmla="*/ 2147483646 w 671"/>
              <a:gd name="T55" fmla="*/ 2147483646 h 670"/>
              <a:gd name="T56" fmla="*/ 2147483646 w 671"/>
              <a:gd name="T57" fmla="*/ 2147483646 h 670"/>
              <a:gd name="T58" fmla="*/ 2147483646 w 671"/>
              <a:gd name="T59" fmla="*/ 2147483646 h 670"/>
              <a:gd name="T60" fmla="*/ 2147483646 w 671"/>
              <a:gd name="T61" fmla="*/ 0 h 670"/>
              <a:gd name="T62" fmla="*/ 2147483646 w 671"/>
              <a:gd name="T63" fmla="*/ 2147483646 h 670"/>
              <a:gd name="T64" fmla="*/ 2147483646 w 671"/>
              <a:gd name="T65" fmla="*/ 2147483646 h 670"/>
              <a:gd name="T66" fmla="*/ 2147483646 w 671"/>
              <a:gd name="T67" fmla="*/ 2147483646 h 670"/>
              <a:gd name="T68" fmla="*/ 2147483646 w 671"/>
              <a:gd name="T69" fmla="*/ 2147483646 h 670"/>
              <a:gd name="T70" fmla="*/ 0 w 671"/>
              <a:gd name="T71" fmla="*/ 2147483646 h 670"/>
              <a:gd name="T72" fmla="*/ 2147483646 w 671"/>
              <a:gd name="T73" fmla="*/ 2147483646 h 670"/>
              <a:gd name="T74" fmla="*/ 2147483646 w 671"/>
              <a:gd name="T75" fmla="*/ 2147483646 h 67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671" h="670">
                <a:moveTo>
                  <a:pt x="54" y="193"/>
                </a:moveTo>
                <a:lnTo>
                  <a:pt x="155" y="177"/>
                </a:lnTo>
                <a:lnTo>
                  <a:pt x="223" y="187"/>
                </a:lnTo>
                <a:lnTo>
                  <a:pt x="264" y="234"/>
                </a:lnTo>
                <a:lnTo>
                  <a:pt x="238" y="290"/>
                </a:lnTo>
                <a:lnTo>
                  <a:pt x="206" y="311"/>
                </a:lnTo>
                <a:lnTo>
                  <a:pt x="197" y="366"/>
                </a:lnTo>
                <a:lnTo>
                  <a:pt x="217" y="401"/>
                </a:lnTo>
                <a:lnTo>
                  <a:pt x="200" y="453"/>
                </a:lnTo>
                <a:lnTo>
                  <a:pt x="242" y="453"/>
                </a:lnTo>
                <a:lnTo>
                  <a:pt x="254" y="394"/>
                </a:lnTo>
                <a:lnTo>
                  <a:pt x="280" y="366"/>
                </a:lnTo>
                <a:lnTo>
                  <a:pt x="329" y="366"/>
                </a:lnTo>
                <a:lnTo>
                  <a:pt x="378" y="378"/>
                </a:lnTo>
                <a:lnTo>
                  <a:pt x="393" y="419"/>
                </a:lnTo>
                <a:lnTo>
                  <a:pt x="399" y="475"/>
                </a:lnTo>
                <a:lnTo>
                  <a:pt x="393" y="516"/>
                </a:lnTo>
                <a:lnTo>
                  <a:pt x="393" y="547"/>
                </a:lnTo>
                <a:lnTo>
                  <a:pt x="396" y="581"/>
                </a:lnTo>
                <a:lnTo>
                  <a:pt x="428" y="613"/>
                </a:lnTo>
                <a:lnTo>
                  <a:pt x="451" y="632"/>
                </a:lnTo>
                <a:lnTo>
                  <a:pt x="510" y="670"/>
                </a:lnTo>
                <a:lnTo>
                  <a:pt x="620" y="558"/>
                </a:lnTo>
                <a:lnTo>
                  <a:pt x="652" y="466"/>
                </a:lnTo>
                <a:lnTo>
                  <a:pt x="665" y="318"/>
                </a:lnTo>
                <a:lnTo>
                  <a:pt x="671" y="215"/>
                </a:lnTo>
                <a:lnTo>
                  <a:pt x="658" y="114"/>
                </a:lnTo>
                <a:lnTo>
                  <a:pt x="629" y="59"/>
                </a:lnTo>
                <a:lnTo>
                  <a:pt x="562" y="21"/>
                </a:lnTo>
                <a:lnTo>
                  <a:pt x="502" y="8"/>
                </a:lnTo>
                <a:lnTo>
                  <a:pt x="384" y="0"/>
                </a:lnTo>
                <a:lnTo>
                  <a:pt x="270" y="5"/>
                </a:lnTo>
                <a:lnTo>
                  <a:pt x="129" y="30"/>
                </a:lnTo>
                <a:lnTo>
                  <a:pt x="64" y="62"/>
                </a:lnTo>
                <a:lnTo>
                  <a:pt x="32" y="94"/>
                </a:lnTo>
                <a:lnTo>
                  <a:pt x="0" y="140"/>
                </a:lnTo>
                <a:lnTo>
                  <a:pt x="6" y="166"/>
                </a:lnTo>
                <a:lnTo>
                  <a:pt x="54" y="193"/>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5" name="Freeform 278"/>
          <p:cNvSpPr>
            <a:spLocks/>
          </p:cNvSpPr>
          <p:nvPr/>
        </p:nvSpPr>
        <p:spPr bwMode="auto">
          <a:xfrm>
            <a:off x="7176815" y="3029702"/>
            <a:ext cx="107709" cy="99423"/>
          </a:xfrm>
          <a:custGeom>
            <a:avLst/>
            <a:gdLst>
              <a:gd name="T0" fmla="*/ 2147483646 w 636"/>
              <a:gd name="T1" fmla="*/ 2147483646 h 643"/>
              <a:gd name="T2" fmla="*/ 2147483646 w 636"/>
              <a:gd name="T3" fmla="*/ 2147483646 h 643"/>
              <a:gd name="T4" fmla="*/ 2147483646 w 636"/>
              <a:gd name="T5" fmla="*/ 2147483646 h 643"/>
              <a:gd name="T6" fmla="*/ 2147483646 w 636"/>
              <a:gd name="T7" fmla="*/ 2147483646 h 643"/>
              <a:gd name="T8" fmla="*/ 2147483646 w 636"/>
              <a:gd name="T9" fmla="*/ 2147483646 h 643"/>
              <a:gd name="T10" fmla="*/ 2147483646 w 636"/>
              <a:gd name="T11" fmla="*/ 2147483646 h 643"/>
              <a:gd name="T12" fmla="*/ 2147483646 w 636"/>
              <a:gd name="T13" fmla="*/ 2147483646 h 643"/>
              <a:gd name="T14" fmla="*/ 2147483646 w 636"/>
              <a:gd name="T15" fmla="*/ 2147483646 h 643"/>
              <a:gd name="T16" fmla="*/ 2147483646 w 636"/>
              <a:gd name="T17" fmla="*/ 2147483646 h 643"/>
              <a:gd name="T18" fmla="*/ 2147483646 w 636"/>
              <a:gd name="T19" fmla="*/ 2147483646 h 643"/>
              <a:gd name="T20" fmla="*/ 2147483646 w 636"/>
              <a:gd name="T21" fmla="*/ 2147483646 h 643"/>
              <a:gd name="T22" fmla="*/ 2147483646 w 636"/>
              <a:gd name="T23" fmla="*/ 2147483646 h 643"/>
              <a:gd name="T24" fmla="*/ 2147483646 w 636"/>
              <a:gd name="T25" fmla="*/ 2147483646 h 643"/>
              <a:gd name="T26" fmla="*/ 2147483646 w 636"/>
              <a:gd name="T27" fmla="*/ 2147483646 h 643"/>
              <a:gd name="T28" fmla="*/ 2147483646 w 636"/>
              <a:gd name="T29" fmla="*/ 2147483646 h 643"/>
              <a:gd name="T30" fmla="*/ 2147483646 w 636"/>
              <a:gd name="T31" fmla="*/ 2147483646 h 643"/>
              <a:gd name="T32" fmla="*/ 2147483646 w 636"/>
              <a:gd name="T33" fmla="*/ 2147483646 h 643"/>
              <a:gd name="T34" fmla="*/ 2147483646 w 636"/>
              <a:gd name="T35" fmla="*/ 2147483646 h 643"/>
              <a:gd name="T36" fmla="*/ 2147483646 w 636"/>
              <a:gd name="T37" fmla="*/ 2147483646 h 643"/>
              <a:gd name="T38" fmla="*/ 2147483646 w 636"/>
              <a:gd name="T39" fmla="*/ 2147483646 h 643"/>
              <a:gd name="T40" fmla="*/ 2147483646 w 636"/>
              <a:gd name="T41" fmla="*/ 2147483646 h 643"/>
              <a:gd name="T42" fmla="*/ 2147483646 w 636"/>
              <a:gd name="T43" fmla="*/ 2147483646 h 643"/>
              <a:gd name="T44" fmla="*/ 2147483646 w 636"/>
              <a:gd name="T45" fmla="*/ 2147483646 h 643"/>
              <a:gd name="T46" fmla="*/ 2147483646 w 636"/>
              <a:gd name="T47" fmla="*/ 2147483646 h 643"/>
              <a:gd name="T48" fmla="*/ 2147483646 w 636"/>
              <a:gd name="T49" fmla="*/ 2147483646 h 643"/>
              <a:gd name="T50" fmla="*/ 2147483646 w 636"/>
              <a:gd name="T51" fmla="*/ 2147483646 h 643"/>
              <a:gd name="T52" fmla="*/ 2147483646 w 636"/>
              <a:gd name="T53" fmla="*/ 2147483646 h 643"/>
              <a:gd name="T54" fmla="*/ 2147483646 w 636"/>
              <a:gd name="T55" fmla="*/ 2147483646 h 643"/>
              <a:gd name="T56" fmla="*/ 2147483646 w 636"/>
              <a:gd name="T57" fmla="*/ 2147483646 h 643"/>
              <a:gd name="T58" fmla="*/ 2147483646 w 636"/>
              <a:gd name="T59" fmla="*/ 2147483646 h 643"/>
              <a:gd name="T60" fmla="*/ 2147483646 w 636"/>
              <a:gd name="T61" fmla="*/ 2147483646 h 643"/>
              <a:gd name="T62" fmla="*/ 2147483646 w 636"/>
              <a:gd name="T63" fmla="*/ 2147483646 h 643"/>
              <a:gd name="T64" fmla="*/ 2147483646 w 636"/>
              <a:gd name="T65" fmla="*/ 2147483646 h 643"/>
              <a:gd name="T66" fmla="*/ 2147483646 w 636"/>
              <a:gd name="T67" fmla="*/ 2147483646 h 643"/>
              <a:gd name="T68" fmla="*/ 2147483646 w 636"/>
              <a:gd name="T69" fmla="*/ 2147483646 h 643"/>
              <a:gd name="T70" fmla="*/ 2147483646 w 636"/>
              <a:gd name="T71" fmla="*/ 2147483646 h 643"/>
              <a:gd name="T72" fmla="*/ 2147483646 w 636"/>
              <a:gd name="T73" fmla="*/ 2147483646 h 643"/>
              <a:gd name="T74" fmla="*/ 2147483646 w 636"/>
              <a:gd name="T75" fmla="*/ 2147483646 h 643"/>
              <a:gd name="T76" fmla="*/ 2147483646 w 636"/>
              <a:gd name="T77" fmla="*/ 2147483646 h 643"/>
              <a:gd name="T78" fmla="*/ 2147483646 w 636"/>
              <a:gd name="T79" fmla="*/ 2147483646 h 643"/>
              <a:gd name="T80" fmla="*/ 2147483646 w 636"/>
              <a:gd name="T81" fmla="*/ 2147483646 h 643"/>
              <a:gd name="T82" fmla="*/ 2147483646 w 636"/>
              <a:gd name="T83" fmla="*/ 2147483646 h 643"/>
              <a:gd name="T84" fmla="*/ 2147483646 w 636"/>
              <a:gd name="T85" fmla="*/ 2147483646 h 643"/>
              <a:gd name="T86" fmla="*/ 2147483646 w 636"/>
              <a:gd name="T87" fmla="*/ 2147483646 h 643"/>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636" h="643">
                <a:moveTo>
                  <a:pt x="104" y="41"/>
                </a:moveTo>
                <a:lnTo>
                  <a:pt x="51" y="63"/>
                </a:lnTo>
                <a:lnTo>
                  <a:pt x="25" y="98"/>
                </a:lnTo>
                <a:lnTo>
                  <a:pt x="10" y="121"/>
                </a:lnTo>
                <a:lnTo>
                  <a:pt x="0" y="138"/>
                </a:lnTo>
                <a:lnTo>
                  <a:pt x="13" y="152"/>
                </a:lnTo>
                <a:lnTo>
                  <a:pt x="41" y="169"/>
                </a:lnTo>
                <a:lnTo>
                  <a:pt x="110" y="158"/>
                </a:lnTo>
                <a:lnTo>
                  <a:pt x="160" y="158"/>
                </a:lnTo>
                <a:lnTo>
                  <a:pt x="194" y="141"/>
                </a:lnTo>
                <a:lnTo>
                  <a:pt x="245" y="129"/>
                </a:lnTo>
                <a:lnTo>
                  <a:pt x="290" y="126"/>
                </a:lnTo>
                <a:lnTo>
                  <a:pt x="342" y="129"/>
                </a:lnTo>
                <a:lnTo>
                  <a:pt x="267" y="138"/>
                </a:lnTo>
                <a:lnTo>
                  <a:pt x="229" y="148"/>
                </a:lnTo>
                <a:lnTo>
                  <a:pt x="201" y="158"/>
                </a:lnTo>
                <a:lnTo>
                  <a:pt x="194" y="161"/>
                </a:lnTo>
                <a:lnTo>
                  <a:pt x="213" y="169"/>
                </a:lnTo>
                <a:lnTo>
                  <a:pt x="229" y="185"/>
                </a:lnTo>
                <a:lnTo>
                  <a:pt x="255" y="169"/>
                </a:lnTo>
                <a:lnTo>
                  <a:pt x="277" y="163"/>
                </a:lnTo>
                <a:lnTo>
                  <a:pt x="325" y="155"/>
                </a:lnTo>
                <a:lnTo>
                  <a:pt x="339" y="155"/>
                </a:lnTo>
                <a:lnTo>
                  <a:pt x="293" y="172"/>
                </a:lnTo>
                <a:lnTo>
                  <a:pt x="258" y="188"/>
                </a:lnTo>
                <a:lnTo>
                  <a:pt x="239" y="201"/>
                </a:lnTo>
                <a:lnTo>
                  <a:pt x="255" y="217"/>
                </a:lnTo>
                <a:lnTo>
                  <a:pt x="293" y="204"/>
                </a:lnTo>
                <a:lnTo>
                  <a:pt x="325" y="198"/>
                </a:lnTo>
                <a:lnTo>
                  <a:pt x="267" y="226"/>
                </a:lnTo>
                <a:lnTo>
                  <a:pt x="248" y="239"/>
                </a:lnTo>
                <a:lnTo>
                  <a:pt x="242" y="266"/>
                </a:lnTo>
                <a:lnTo>
                  <a:pt x="232" y="280"/>
                </a:lnTo>
                <a:lnTo>
                  <a:pt x="267" y="263"/>
                </a:lnTo>
                <a:lnTo>
                  <a:pt x="298" y="257"/>
                </a:lnTo>
                <a:lnTo>
                  <a:pt x="348" y="255"/>
                </a:lnTo>
                <a:lnTo>
                  <a:pt x="272" y="276"/>
                </a:lnTo>
                <a:lnTo>
                  <a:pt x="226" y="294"/>
                </a:lnTo>
                <a:lnTo>
                  <a:pt x="194" y="310"/>
                </a:lnTo>
                <a:lnTo>
                  <a:pt x="191" y="335"/>
                </a:lnTo>
                <a:lnTo>
                  <a:pt x="229" y="317"/>
                </a:lnTo>
                <a:lnTo>
                  <a:pt x="280" y="300"/>
                </a:lnTo>
                <a:lnTo>
                  <a:pt x="304" y="300"/>
                </a:lnTo>
                <a:lnTo>
                  <a:pt x="248" y="320"/>
                </a:lnTo>
                <a:lnTo>
                  <a:pt x="204" y="338"/>
                </a:lnTo>
                <a:lnTo>
                  <a:pt x="187" y="355"/>
                </a:lnTo>
                <a:lnTo>
                  <a:pt x="194" y="370"/>
                </a:lnTo>
                <a:lnTo>
                  <a:pt x="229" y="358"/>
                </a:lnTo>
                <a:lnTo>
                  <a:pt x="261" y="344"/>
                </a:lnTo>
                <a:lnTo>
                  <a:pt x="327" y="341"/>
                </a:lnTo>
                <a:lnTo>
                  <a:pt x="354" y="344"/>
                </a:lnTo>
                <a:lnTo>
                  <a:pt x="415" y="348"/>
                </a:lnTo>
                <a:lnTo>
                  <a:pt x="488" y="338"/>
                </a:lnTo>
                <a:lnTo>
                  <a:pt x="444" y="355"/>
                </a:lnTo>
                <a:lnTo>
                  <a:pt x="368" y="367"/>
                </a:lnTo>
                <a:lnTo>
                  <a:pt x="384" y="393"/>
                </a:lnTo>
                <a:lnTo>
                  <a:pt x="438" y="379"/>
                </a:lnTo>
                <a:lnTo>
                  <a:pt x="491" y="361"/>
                </a:lnTo>
                <a:lnTo>
                  <a:pt x="525" y="344"/>
                </a:lnTo>
                <a:lnTo>
                  <a:pt x="460" y="393"/>
                </a:lnTo>
                <a:lnTo>
                  <a:pt x="419" y="405"/>
                </a:lnTo>
                <a:lnTo>
                  <a:pt x="384" y="417"/>
                </a:lnTo>
                <a:lnTo>
                  <a:pt x="387" y="442"/>
                </a:lnTo>
                <a:lnTo>
                  <a:pt x="438" y="434"/>
                </a:lnTo>
                <a:lnTo>
                  <a:pt x="478" y="423"/>
                </a:lnTo>
                <a:lnTo>
                  <a:pt x="454" y="440"/>
                </a:lnTo>
                <a:lnTo>
                  <a:pt x="409" y="452"/>
                </a:lnTo>
                <a:lnTo>
                  <a:pt x="387" y="455"/>
                </a:lnTo>
                <a:lnTo>
                  <a:pt x="387" y="511"/>
                </a:lnTo>
                <a:lnTo>
                  <a:pt x="435" y="492"/>
                </a:lnTo>
                <a:lnTo>
                  <a:pt x="473" y="477"/>
                </a:lnTo>
                <a:lnTo>
                  <a:pt x="432" y="508"/>
                </a:lnTo>
                <a:lnTo>
                  <a:pt x="380" y="530"/>
                </a:lnTo>
                <a:lnTo>
                  <a:pt x="384" y="556"/>
                </a:lnTo>
                <a:lnTo>
                  <a:pt x="412" y="586"/>
                </a:lnTo>
                <a:lnTo>
                  <a:pt x="438" y="553"/>
                </a:lnTo>
                <a:lnTo>
                  <a:pt x="473" y="511"/>
                </a:lnTo>
                <a:lnTo>
                  <a:pt x="496" y="471"/>
                </a:lnTo>
                <a:lnTo>
                  <a:pt x="473" y="533"/>
                </a:lnTo>
                <a:lnTo>
                  <a:pt x="454" y="556"/>
                </a:lnTo>
                <a:lnTo>
                  <a:pt x="419" y="599"/>
                </a:lnTo>
                <a:lnTo>
                  <a:pt x="444" y="628"/>
                </a:lnTo>
                <a:lnTo>
                  <a:pt x="485" y="594"/>
                </a:lnTo>
                <a:lnTo>
                  <a:pt x="514" y="553"/>
                </a:lnTo>
                <a:lnTo>
                  <a:pt x="540" y="508"/>
                </a:lnTo>
                <a:lnTo>
                  <a:pt x="517" y="573"/>
                </a:lnTo>
                <a:lnTo>
                  <a:pt x="491" y="602"/>
                </a:lnTo>
                <a:lnTo>
                  <a:pt x="465" y="631"/>
                </a:lnTo>
                <a:lnTo>
                  <a:pt x="488" y="643"/>
                </a:lnTo>
                <a:lnTo>
                  <a:pt x="540" y="599"/>
                </a:lnTo>
                <a:lnTo>
                  <a:pt x="589" y="530"/>
                </a:lnTo>
                <a:lnTo>
                  <a:pt x="607" y="477"/>
                </a:lnTo>
                <a:lnTo>
                  <a:pt x="620" y="386"/>
                </a:lnTo>
                <a:lnTo>
                  <a:pt x="627" y="317"/>
                </a:lnTo>
                <a:lnTo>
                  <a:pt x="636" y="239"/>
                </a:lnTo>
                <a:lnTo>
                  <a:pt x="582" y="255"/>
                </a:lnTo>
                <a:lnTo>
                  <a:pt x="522" y="276"/>
                </a:lnTo>
                <a:lnTo>
                  <a:pt x="432" y="297"/>
                </a:lnTo>
                <a:lnTo>
                  <a:pt x="514" y="266"/>
                </a:lnTo>
                <a:lnTo>
                  <a:pt x="543" y="249"/>
                </a:lnTo>
                <a:lnTo>
                  <a:pt x="601" y="229"/>
                </a:lnTo>
                <a:lnTo>
                  <a:pt x="630" y="223"/>
                </a:lnTo>
                <a:lnTo>
                  <a:pt x="630" y="182"/>
                </a:lnTo>
                <a:lnTo>
                  <a:pt x="623" y="129"/>
                </a:lnTo>
                <a:lnTo>
                  <a:pt x="551" y="141"/>
                </a:lnTo>
                <a:lnTo>
                  <a:pt x="505" y="155"/>
                </a:lnTo>
                <a:lnTo>
                  <a:pt x="447" y="182"/>
                </a:lnTo>
                <a:lnTo>
                  <a:pt x="499" y="141"/>
                </a:lnTo>
                <a:lnTo>
                  <a:pt x="560" y="124"/>
                </a:lnTo>
                <a:lnTo>
                  <a:pt x="620" y="109"/>
                </a:lnTo>
                <a:lnTo>
                  <a:pt x="607" y="69"/>
                </a:lnTo>
                <a:lnTo>
                  <a:pt x="589" y="45"/>
                </a:lnTo>
                <a:lnTo>
                  <a:pt x="534" y="28"/>
                </a:lnTo>
                <a:lnTo>
                  <a:pt x="482" y="41"/>
                </a:lnTo>
                <a:lnTo>
                  <a:pt x="432" y="76"/>
                </a:lnTo>
                <a:lnTo>
                  <a:pt x="465" y="35"/>
                </a:lnTo>
                <a:lnTo>
                  <a:pt x="517" y="16"/>
                </a:lnTo>
                <a:lnTo>
                  <a:pt x="460" y="6"/>
                </a:lnTo>
                <a:lnTo>
                  <a:pt x="419" y="3"/>
                </a:lnTo>
                <a:lnTo>
                  <a:pt x="359" y="13"/>
                </a:lnTo>
                <a:lnTo>
                  <a:pt x="318" y="38"/>
                </a:lnTo>
                <a:lnTo>
                  <a:pt x="255" y="51"/>
                </a:lnTo>
                <a:lnTo>
                  <a:pt x="298" y="32"/>
                </a:lnTo>
                <a:lnTo>
                  <a:pt x="330" y="13"/>
                </a:lnTo>
                <a:lnTo>
                  <a:pt x="348" y="0"/>
                </a:lnTo>
                <a:lnTo>
                  <a:pt x="287" y="3"/>
                </a:lnTo>
                <a:lnTo>
                  <a:pt x="232" y="6"/>
                </a:lnTo>
                <a:lnTo>
                  <a:pt x="198" y="22"/>
                </a:lnTo>
                <a:lnTo>
                  <a:pt x="163" y="54"/>
                </a:lnTo>
                <a:lnTo>
                  <a:pt x="136" y="95"/>
                </a:lnTo>
                <a:lnTo>
                  <a:pt x="151" y="48"/>
                </a:lnTo>
                <a:lnTo>
                  <a:pt x="184" y="16"/>
                </a:lnTo>
                <a:lnTo>
                  <a:pt x="104" y="41"/>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86" name="Group 279"/>
          <p:cNvGrpSpPr>
            <a:grpSpLocks/>
          </p:cNvGrpSpPr>
          <p:nvPr/>
        </p:nvGrpSpPr>
        <p:grpSpPr bwMode="auto">
          <a:xfrm>
            <a:off x="6951331" y="3281513"/>
            <a:ext cx="116768" cy="65973"/>
            <a:chOff x="5264" y="1904"/>
            <a:chExt cx="116" cy="71"/>
          </a:xfrm>
        </p:grpSpPr>
        <p:sp>
          <p:nvSpPr>
            <p:cNvPr id="287" name="Freeform 280"/>
            <p:cNvSpPr>
              <a:spLocks/>
            </p:cNvSpPr>
            <p:nvPr/>
          </p:nvSpPr>
          <p:spPr bwMode="auto">
            <a:xfrm>
              <a:off x="5264" y="1904"/>
              <a:ext cx="116" cy="71"/>
            </a:xfrm>
            <a:custGeom>
              <a:avLst/>
              <a:gdLst>
                <a:gd name="T0" fmla="*/ 0 w 698"/>
                <a:gd name="T1" fmla="*/ 0 h 425"/>
                <a:gd name="T2" fmla="*/ 0 w 698"/>
                <a:gd name="T3" fmla="*/ 0 h 425"/>
                <a:gd name="T4" fmla="*/ 0 w 698"/>
                <a:gd name="T5" fmla="*/ 0 h 425"/>
                <a:gd name="T6" fmla="*/ 0 w 698"/>
                <a:gd name="T7" fmla="*/ 0 h 425"/>
                <a:gd name="T8" fmla="*/ 0 w 698"/>
                <a:gd name="T9" fmla="*/ 0 h 425"/>
                <a:gd name="T10" fmla="*/ 0 w 698"/>
                <a:gd name="T11" fmla="*/ 0 h 425"/>
                <a:gd name="T12" fmla="*/ 0 w 698"/>
                <a:gd name="T13" fmla="*/ 0 h 425"/>
                <a:gd name="T14" fmla="*/ 0 w 698"/>
                <a:gd name="T15" fmla="*/ 0 h 425"/>
                <a:gd name="T16" fmla="*/ 0 w 698"/>
                <a:gd name="T17" fmla="*/ 0 h 425"/>
                <a:gd name="T18" fmla="*/ 0 w 698"/>
                <a:gd name="T19" fmla="*/ 0 h 425"/>
                <a:gd name="T20" fmla="*/ 0 w 698"/>
                <a:gd name="T21" fmla="*/ 0 h 425"/>
                <a:gd name="T22" fmla="*/ 0 w 698"/>
                <a:gd name="T23" fmla="*/ 0 h 425"/>
                <a:gd name="T24" fmla="*/ 0 w 698"/>
                <a:gd name="T25" fmla="*/ 0 h 425"/>
                <a:gd name="T26" fmla="*/ 0 w 698"/>
                <a:gd name="T27" fmla="*/ 0 h 425"/>
                <a:gd name="T28" fmla="*/ 0 w 698"/>
                <a:gd name="T29" fmla="*/ 0 h 425"/>
                <a:gd name="T30" fmla="*/ 0 w 698"/>
                <a:gd name="T31" fmla="*/ 0 h 425"/>
                <a:gd name="T32" fmla="*/ 0 w 698"/>
                <a:gd name="T33" fmla="*/ 0 h 425"/>
                <a:gd name="T34" fmla="*/ 0 w 698"/>
                <a:gd name="T35" fmla="*/ 0 h 425"/>
                <a:gd name="T36" fmla="*/ 0 w 698"/>
                <a:gd name="T37" fmla="*/ 0 h 425"/>
                <a:gd name="T38" fmla="*/ 0 w 698"/>
                <a:gd name="T39" fmla="*/ 0 h 425"/>
                <a:gd name="T40" fmla="*/ 0 w 698"/>
                <a:gd name="T41" fmla="*/ 0 h 425"/>
                <a:gd name="T42" fmla="*/ 0 w 698"/>
                <a:gd name="T43" fmla="*/ 0 h 425"/>
                <a:gd name="T44" fmla="*/ 0 w 698"/>
                <a:gd name="T45" fmla="*/ 0 h 425"/>
                <a:gd name="T46" fmla="*/ 0 w 698"/>
                <a:gd name="T47" fmla="*/ 0 h 425"/>
                <a:gd name="T48" fmla="*/ 0 w 698"/>
                <a:gd name="T49" fmla="*/ 0 h 425"/>
                <a:gd name="T50" fmla="*/ 0 w 698"/>
                <a:gd name="T51" fmla="*/ 0 h 425"/>
                <a:gd name="T52" fmla="*/ 0 w 698"/>
                <a:gd name="T53" fmla="*/ 0 h 425"/>
                <a:gd name="T54" fmla="*/ 0 w 698"/>
                <a:gd name="T55" fmla="*/ 0 h 425"/>
                <a:gd name="T56" fmla="*/ 0 w 698"/>
                <a:gd name="T57" fmla="*/ 0 h 425"/>
                <a:gd name="T58" fmla="*/ 0 w 698"/>
                <a:gd name="T59" fmla="*/ 0 h 425"/>
                <a:gd name="T60" fmla="*/ 0 w 698"/>
                <a:gd name="T61" fmla="*/ 0 h 425"/>
                <a:gd name="T62" fmla="*/ 0 w 698"/>
                <a:gd name="T63" fmla="*/ 0 h 425"/>
                <a:gd name="T64" fmla="*/ 0 w 698"/>
                <a:gd name="T65" fmla="*/ 0 h 425"/>
                <a:gd name="T66" fmla="*/ 0 w 698"/>
                <a:gd name="T67" fmla="*/ 0 h 425"/>
                <a:gd name="T68" fmla="*/ 0 w 698"/>
                <a:gd name="T69" fmla="*/ 0 h 425"/>
                <a:gd name="T70" fmla="*/ 0 w 698"/>
                <a:gd name="T71" fmla="*/ 0 h 425"/>
                <a:gd name="T72" fmla="*/ 0 w 698"/>
                <a:gd name="T73" fmla="*/ 0 h 425"/>
                <a:gd name="T74" fmla="*/ 0 w 698"/>
                <a:gd name="T75" fmla="*/ 0 h 425"/>
                <a:gd name="T76" fmla="*/ 0 w 698"/>
                <a:gd name="T77" fmla="*/ 0 h 425"/>
                <a:gd name="T78" fmla="*/ 0 w 698"/>
                <a:gd name="T79" fmla="*/ 0 h 425"/>
                <a:gd name="T80" fmla="*/ 0 w 698"/>
                <a:gd name="T81" fmla="*/ 0 h 425"/>
                <a:gd name="T82" fmla="*/ 0 w 698"/>
                <a:gd name="T83" fmla="*/ 0 h 425"/>
                <a:gd name="T84" fmla="*/ 0 w 698"/>
                <a:gd name="T85" fmla="*/ 0 h 425"/>
                <a:gd name="T86" fmla="*/ 0 w 698"/>
                <a:gd name="T87" fmla="*/ 0 h 425"/>
                <a:gd name="T88" fmla="*/ 0 w 698"/>
                <a:gd name="T89" fmla="*/ 0 h 425"/>
                <a:gd name="T90" fmla="*/ 0 w 698"/>
                <a:gd name="T91" fmla="*/ 0 h 425"/>
                <a:gd name="T92" fmla="*/ 0 w 698"/>
                <a:gd name="T93" fmla="*/ 0 h 425"/>
                <a:gd name="T94" fmla="*/ 0 w 698"/>
                <a:gd name="T95" fmla="*/ 0 h 425"/>
                <a:gd name="T96" fmla="*/ 0 w 698"/>
                <a:gd name="T97" fmla="*/ 0 h 425"/>
                <a:gd name="T98" fmla="*/ 0 w 698"/>
                <a:gd name="T99" fmla="*/ 0 h 42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698" h="425">
                  <a:moveTo>
                    <a:pt x="698" y="253"/>
                  </a:moveTo>
                  <a:lnTo>
                    <a:pt x="611" y="233"/>
                  </a:lnTo>
                  <a:lnTo>
                    <a:pt x="579" y="227"/>
                  </a:lnTo>
                  <a:lnTo>
                    <a:pt x="558" y="210"/>
                  </a:lnTo>
                  <a:lnTo>
                    <a:pt x="538" y="182"/>
                  </a:lnTo>
                  <a:lnTo>
                    <a:pt x="496" y="143"/>
                  </a:lnTo>
                  <a:lnTo>
                    <a:pt x="420" y="79"/>
                  </a:lnTo>
                  <a:lnTo>
                    <a:pt x="407" y="58"/>
                  </a:lnTo>
                  <a:lnTo>
                    <a:pt x="387" y="38"/>
                  </a:lnTo>
                  <a:lnTo>
                    <a:pt x="347" y="32"/>
                  </a:lnTo>
                  <a:lnTo>
                    <a:pt x="225" y="11"/>
                  </a:lnTo>
                  <a:lnTo>
                    <a:pt x="192" y="0"/>
                  </a:lnTo>
                  <a:lnTo>
                    <a:pt x="162" y="14"/>
                  </a:lnTo>
                  <a:lnTo>
                    <a:pt x="147" y="27"/>
                  </a:lnTo>
                  <a:lnTo>
                    <a:pt x="75" y="52"/>
                  </a:lnTo>
                  <a:lnTo>
                    <a:pt x="48" y="62"/>
                  </a:lnTo>
                  <a:lnTo>
                    <a:pt x="37" y="73"/>
                  </a:lnTo>
                  <a:lnTo>
                    <a:pt x="24" y="114"/>
                  </a:lnTo>
                  <a:lnTo>
                    <a:pt x="16" y="133"/>
                  </a:lnTo>
                  <a:lnTo>
                    <a:pt x="9" y="146"/>
                  </a:lnTo>
                  <a:lnTo>
                    <a:pt x="0" y="165"/>
                  </a:lnTo>
                  <a:lnTo>
                    <a:pt x="0" y="181"/>
                  </a:lnTo>
                  <a:lnTo>
                    <a:pt x="15" y="191"/>
                  </a:lnTo>
                  <a:lnTo>
                    <a:pt x="43" y="190"/>
                  </a:lnTo>
                  <a:lnTo>
                    <a:pt x="89" y="168"/>
                  </a:lnTo>
                  <a:lnTo>
                    <a:pt x="147" y="158"/>
                  </a:lnTo>
                  <a:lnTo>
                    <a:pt x="198" y="165"/>
                  </a:lnTo>
                  <a:lnTo>
                    <a:pt x="144" y="179"/>
                  </a:lnTo>
                  <a:lnTo>
                    <a:pt x="105" y="191"/>
                  </a:lnTo>
                  <a:lnTo>
                    <a:pt x="61" y="210"/>
                  </a:lnTo>
                  <a:lnTo>
                    <a:pt x="51" y="224"/>
                  </a:lnTo>
                  <a:lnTo>
                    <a:pt x="51" y="242"/>
                  </a:lnTo>
                  <a:lnTo>
                    <a:pt x="67" y="253"/>
                  </a:lnTo>
                  <a:lnTo>
                    <a:pt x="87" y="250"/>
                  </a:lnTo>
                  <a:lnTo>
                    <a:pt x="150" y="233"/>
                  </a:lnTo>
                  <a:lnTo>
                    <a:pt x="205" y="230"/>
                  </a:lnTo>
                  <a:lnTo>
                    <a:pt x="249" y="233"/>
                  </a:lnTo>
                  <a:lnTo>
                    <a:pt x="273" y="250"/>
                  </a:lnTo>
                  <a:lnTo>
                    <a:pt x="301" y="279"/>
                  </a:lnTo>
                  <a:lnTo>
                    <a:pt x="323" y="310"/>
                  </a:lnTo>
                  <a:lnTo>
                    <a:pt x="346" y="342"/>
                  </a:lnTo>
                  <a:lnTo>
                    <a:pt x="364" y="366"/>
                  </a:lnTo>
                  <a:lnTo>
                    <a:pt x="397" y="389"/>
                  </a:lnTo>
                  <a:lnTo>
                    <a:pt x="429" y="396"/>
                  </a:lnTo>
                  <a:lnTo>
                    <a:pt x="464" y="399"/>
                  </a:lnTo>
                  <a:lnTo>
                    <a:pt x="507" y="396"/>
                  </a:lnTo>
                  <a:lnTo>
                    <a:pt x="539" y="393"/>
                  </a:lnTo>
                  <a:lnTo>
                    <a:pt x="582" y="404"/>
                  </a:lnTo>
                  <a:lnTo>
                    <a:pt x="698" y="425"/>
                  </a:lnTo>
                  <a:lnTo>
                    <a:pt x="698" y="253"/>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8" name="Freeform 281"/>
            <p:cNvSpPr>
              <a:spLocks/>
            </p:cNvSpPr>
            <p:nvPr/>
          </p:nvSpPr>
          <p:spPr bwMode="auto">
            <a:xfrm>
              <a:off x="5269" y="1916"/>
              <a:ext cx="37" cy="9"/>
            </a:xfrm>
            <a:custGeom>
              <a:avLst/>
              <a:gdLst>
                <a:gd name="T0" fmla="*/ 0 w 223"/>
                <a:gd name="T1" fmla="*/ 0 h 52"/>
                <a:gd name="T2" fmla="*/ 0 w 223"/>
                <a:gd name="T3" fmla="*/ 0 h 52"/>
                <a:gd name="T4" fmla="*/ 0 w 223"/>
                <a:gd name="T5" fmla="*/ 0 h 52"/>
                <a:gd name="T6" fmla="*/ 0 w 223"/>
                <a:gd name="T7" fmla="*/ 0 h 52"/>
                <a:gd name="T8" fmla="*/ 0 w 223"/>
                <a:gd name="T9" fmla="*/ 0 h 52"/>
                <a:gd name="T10" fmla="*/ 0 w 223"/>
                <a:gd name="T11" fmla="*/ 0 h 52"/>
                <a:gd name="T12" fmla="*/ 0 w 223"/>
                <a:gd name="T13" fmla="*/ 0 h 52"/>
                <a:gd name="T14" fmla="*/ 0 w 223"/>
                <a:gd name="T15" fmla="*/ 0 h 52"/>
                <a:gd name="T16" fmla="*/ 0 w 223"/>
                <a:gd name="T17" fmla="*/ 0 h 52"/>
                <a:gd name="T18" fmla="*/ 0 w 223"/>
                <a:gd name="T19" fmla="*/ 0 h 52"/>
                <a:gd name="T20" fmla="*/ 0 w 223"/>
                <a:gd name="T21" fmla="*/ 0 h 52"/>
                <a:gd name="T22" fmla="*/ 0 w 223"/>
                <a:gd name="T23" fmla="*/ 0 h 52"/>
                <a:gd name="T24" fmla="*/ 0 w 223"/>
                <a:gd name="T25" fmla="*/ 0 h 52"/>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223" h="52">
                  <a:moveTo>
                    <a:pt x="0" y="52"/>
                  </a:moveTo>
                  <a:lnTo>
                    <a:pt x="38" y="36"/>
                  </a:lnTo>
                  <a:lnTo>
                    <a:pt x="69" y="30"/>
                  </a:lnTo>
                  <a:lnTo>
                    <a:pt x="107" y="18"/>
                  </a:lnTo>
                  <a:lnTo>
                    <a:pt x="139" y="11"/>
                  </a:lnTo>
                  <a:lnTo>
                    <a:pt x="189" y="15"/>
                  </a:lnTo>
                  <a:lnTo>
                    <a:pt x="223" y="18"/>
                  </a:lnTo>
                  <a:lnTo>
                    <a:pt x="171" y="8"/>
                  </a:lnTo>
                  <a:lnTo>
                    <a:pt x="127" y="0"/>
                  </a:lnTo>
                  <a:lnTo>
                    <a:pt x="69" y="24"/>
                  </a:lnTo>
                  <a:lnTo>
                    <a:pt x="38" y="28"/>
                  </a:lnTo>
                  <a:lnTo>
                    <a:pt x="3" y="45"/>
                  </a:lnTo>
                  <a:lnTo>
                    <a:pt x="0" y="5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9" name="Freeform 282"/>
            <p:cNvSpPr>
              <a:spLocks/>
            </p:cNvSpPr>
            <p:nvPr/>
          </p:nvSpPr>
          <p:spPr bwMode="auto">
            <a:xfrm>
              <a:off x="5289" y="1907"/>
              <a:ext cx="31" cy="6"/>
            </a:xfrm>
            <a:custGeom>
              <a:avLst/>
              <a:gdLst>
                <a:gd name="T0" fmla="*/ 0 w 188"/>
                <a:gd name="T1" fmla="*/ 0 h 36"/>
                <a:gd name="T2" fmla="*/ 0 w 188"/>
                <a:gd name="T3" fmla="*/ 0 h 36"/>
                <a:gd name="T4" fmla="*/ 0 w 188"/>
                <a:gd name="T5" fmla="*/ 0 h 36"/>
                <a:gd name="T6" fmla="*/ 0 w 188"/>
                <a:gd name="T7" fmla="*/ 0 h 36"/>
                <a:gd name="T8" fmla="*/ 0 w 188"/>
                <a:gd name="T9" fmla="*/ 0 h 36"/>
                <a:gd name="T10" fmla="*/ 0 w 188"/>
                <a:gd name="T11" fmla="*/ 0 h 36"/>
                <a:gd name="T12" fmla="*/ 0 w 188"/>
                <a:gd name="T13" fmla="*/ 0 h 36"/>
                <a:gd name="T14" fmla="*/ 0 w 188"/>
                <a:gd name="T15" fmla="*/ 0 h 36"/>
                <a:gd name="T16" fmla="*/ 0 w 188"/>
                <a:gd name="T17" fmla="*/ 0 h 36"/>
                <a:gd name="T18" fmla="*/ 0 w 188"/>
                <a:gd name="T19" fmla="*/ 0 h 36"/>
                <a:gd name="T20" fmla="*/ 0 w 188"/>
                <a:gd name="T21" fmla="*/ 0 h 36"/>
                <a:gd name="T22" fmla="*/ 0 w 188"/>
                <a:gd name="T23" fmla="*/ 0 h 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88" h="36">
                  <a:moveTo>
                    <a:pt x="51" y="0"/>
                  </a:moveTo>
                  <a:lnTo>
                    <a:pt x="29" y="1"/>
                  </a:lnTo>
                  <a:lnTo>
                    <a:pt x="0" y="11"/>
                  </a:lnTo>
                  <a:lnTo>
                    <a:pt x="19" y="9"/>
                  </a:lnTo>
                  <a:lnTo>
                    <a:pt x="48" y="4"/>
                  </a:lnTo>
                  <a:lnTo>
                    <a:pt x="109" y="20"/>
                  </a:lnTo>
                  <a:lnTo>
                    <a:pt x="143" y="30"/>
                  </a:lnTo>
                  <a:lnTo>
                    <a:pt x="181" y="36"/>
                  </a:lnTo>
                  <a:lnTo>
                    <a:pt x="188" y="30"/>
                  </a:lnTo>
                  <a:lnTo>
                    <a:pt x="146" y="22"/>
                  </a:lnTo>
                  <a:lnTo>
                    <a:pt x="97" y="11"/>
                  </a:lnTo>
                  <a:lnTo>
                    <a:pt x="5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0" name="Freeform 283"/>
            <p:cNvSpPr>
              <a:spLocks/>
            </p:cNvSpPr>
            <p:nvPr/>
          </p:nvSpPr>
          <p:spPr bwMode="auto">
            <a:xfrm>
              <a:off x="5295" y="1929"/>
              <a:ext cx="13" cy="3"/>
            </a:xfrm>
            <a:custGeom>
              <a:avLst/>
              <a:gdLst>
                <a:gd name="T0" fmla="*/ 0 w 76"/>
                <a:gd name="T1" fmla="*/ 0 h 17"/>
                <a:gd name="T2" fmla="*/ 0 w 76"/>
                <a:gd name="T3" fmla="*/ 0 h 17"/>
                <a:gd name="T4" fmla="*/ 0 w 76"/>
                <a:gd name="T5" fmla="*/ 0 h 17"/>
                <a:gd name="T6" fmla="*/ 0 w 76"/>
                <a:gd name="T7" fmla="*/ 0 h 17"/>
                <a:gd name="T8" fmla="*/ 0 w 76"/>
                <a:gd name="T9" fmla="*/ 0 h 17"/>
                <a:gd name="T10" fmla="*/ 0 w 76"/>
                <a:gd name="T11" fmla="*/ 0 h 17"/>
                <a:gd name="T12" fmla="*/ 0 w 76"/>
                <a:gd name="T13" fmla="*/ 0 h 1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6" h="17">
                  <a:moveTo>
                    <a:pt x="0" y="8"/>
                  </a:moveTo>
                  <a:lnTo>
                    <a:pt x="8" y="17"/>
                  </a:lnTo>
                  <a:lnTo>
                    <a:pt x="36" y="12"/>
                  </a:lnTo>
                  <a:lnTo>
                    <a:pt x="67" y="12"/>
                  </a:lnTo>
                  <a:lnTo>
                    <a:pt x="76" y="0"/>
                  </a:lnTo>
                  <a:lnTo>
                    <a:pt x="55" y="4"/>
                  </a:lnTo>
                  <a:lnTo>
                    <a:pt x="0" y="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1" name="Freeform 284"/>
            <p:cNvSpPr>
              <a:spLocks/>
            </p:cNvSpPr>
            <p:nvPr/>
          </p:nvSpPr>
          <p:spPr bwMode="auto">
            <a:xfrm>
              <a:off x="5268" y="1926"/>
              <a:ext cx="3" cy="6"/>
            </a:xfrm>
            <a:custGeom>
              <a:avLst/>
              <a:gdLst>
                <a:gd name="T0" fmla="*/ 0 w 19"/>
                <a:gd name="T1" fmla="*/ 0 h 32"/>
                <a:gd name="T2" fmla="*/ 0 w 19"/>
                <a:gd name="T3" fmla="*/ 0 h 32"/>
                <a:gd name="T4" fmla="*/ 0 w 19"/>
                <a:gd name="T5" fmla="*/ 0 h 32"/>
                <a:gd name="T6" fmla="*/ 0 w 19"/>
                <a:gd name="T7" fmla="*/ 0 h 32"/>
                <a:gd name="T8" fmla="*/ 0 w 19"/>
                <a:gd name="T9" fmla="*/ 0 h 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32">
                  <a:moveTo>
                    <a:pt x="19" y="0"/>
                  </a:moveTo>
                  <a:lnTo>
                    <a:pt x="19" y="9"/>
                  </a:lnTo>
                  <a:lnTo>
                    <a:pt x="14" y="24"/>
                  </a:lnTo>
                  <a:lnTo>
                    <a:pt x="0" y="32"/>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2" name="Freeform 285"/>
            <p:cNvSpPr>
              <a:spLocks/>
            </p:cNvSpPr>
            <p:nvPr/>
          </p:nvSpPr>
          <p:spPr bwMode="auto">
            <a:xfrm>
              <a:off x="5277" y="1940"/>
              <a:ext cx="3" cy="3"/>
            </a:xfrm>
            <a:custGeom>
              <a:avLst/>
              <a:gdLst>
                <a:gd name="T0" fmla="*/ 0 w 14"/>
                <a:gd name="T1" fmla="*/ 0 h 18"/>
                <a:gd name="T2" fmla="*/ 0 w 14"/>
                <a:gd name="T3" fmla="*/ 0 h 18"/>
                <a:gd name="T4" fmla="*/ 0 w 14"/>
                <a:gd name="T5" fmla="*/ 0 h 18"/>
                <a:gd name="T6" fmla="*/ 0 w 14"/>
                <a:gd name="T7" fmla="*/ 0 h 1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18">
                  <a:moveTo>
                    <a:pt x="14" y="0"/>
                  </a:moveTo>
                  <a:lnTo>
                    <a:pt x="11" y="9"/>
                  </a:lnTo>
                  <a:lnTo>
                    <a:pt x="0" y="18"/>
                  </a:lnTo>
                  <a:lnTo>
                    <a:pt x="1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3" name="Freeform 286"/>
            <p:cNvSpPr>
              <a:spLocks/>
            </p:cNvSpPr>
            <p:nvPr/>
          </p:nvSpPr>
          <p:spPr bwMode="auto">
            <a:xfrm>
              <a:off x="5319" y="1921"/>
              <a:ext cx="6" cy="7"/>
            </a:xfrm>
            <a:custGeom>
              <a:avLst/>
              <a:gdLst>
                <a:gd name="T0" fmla="*/ 0 w 35"/>
                <a:gd name="T1" fmla="*/ 0 h 43"/>
                <a:gd name="T2" fmla="*/ 0 w 35"/>
                <a:gd name="T3" fmla="*/ 0 h 43"/>
                <a:gd name="T4" fmla="*/ 0 w 35"/>
                <a:gd name="T5" fmla="*/ 0 h 43"/>
                <a:gd name="T6" fmla="*/ 0 w 35"/>
                <a:gd name="T7" fmla="*/ 0 h 43"/>
                <a:gd name="T8" fmla="*/ 0 w 35"/>
                <a:gd name="T9" fmla="*/ 0 h 4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43">
                  <a:moveTo>
                    <a:pt x="0" y="0"/>
                  </a:moveTo>
                  <a:lnTo>
                    <a:pt x="7" y="14"/>
                  </a:lnTo>
                  <a:lnTo>
                    <a:pt x="7" y="24"/>
                  </a:lnTo>
                  <a:lnTo>
                    <a:pt x="35" y="4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4" name="Freeform 287"/>
            <p:cNvSpPr>
              <a:spLocks/>
            </p:cNvSpPr>
            <p:nvPr/>
          </p:nvSpPr>
          <p:spPr bwMode="auto">
            <a:xfrm>
              <a:off x="5330" y="1921"/>
              <a:ext cx="19" cy="19"/>
            </a:xfrm>
            <a:custGeom>
              <a:avLst/>
              <a:gdLst>
                <a:gd name="T0" fmla="*/ 0 w 114"/>
                <a:gd name="T1" fmla="*/ 0 h 114"/>
                <a:gd name="T2" fmla="*/ 0 w 114"/>
                <a:gd name="T3" fmla="*/ 0 h 114"/>
                <a:gd name="T4" fmla="*/ 0 w 114"/>
                <a:gd name="T5" fmla="*/ 0 h 114"/>
                <a:gd name="T6" fmla="*/ 0 w 114"/>
                <a:gd name="T7" fmla="*/ 0 h 114"/>
                <a:gd name="T8" fmla="*/ 0 w 114"/>
                <a:gd name="T9" fmla="*/ 0 h 114"/>
                <a:gd name="T10" fmla="*/ 0 w 114"/>
                <a:gd name="T11" fmla="*/ 0 h 114"/>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4" h="114">
                  <a:moveTo>
                    <a:pt x="0" y="0"/>
                  </a:moveTo>
                  <a:lnTo>
                    <a:pt x="21" y="35"/>
                  </a:lnTo>
                  <a:lnTo>
                    <a:pt x="43" y="63"/>
                  </a:lnTo>
                  <a:lnTo>
                    <a:pt x="114" y="114"/>
                  </a:lnTo>
                  <a:lnTo>
                    <a:pt x="47" y="5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5" name="Freeform 288"/>
            <p:cNvSpPr>
              <a:spLocks/>
            </p:cNvSpPr>
            <p:nvPr/>
          </p:nvSpPr>
          <p:spPr bwMode="auto">
            <a:xfrm>
              <a:off x="5354" y="1948"/>
              <a:ext cx="4" cy="13"/>
            </a:xfrm>
            <a:custGeom>
              <a:avLst/>
              <a:gdLst>
                <a:gd name="T0" fmla="*/ 0 w 27"/>
                <a:gd name="T1" fmla="*/ 0 h 82"/>
                <a:gd name="T2" fmla="*/ 0 w 27"/>
                <a:gd name="T3" fmla="*/ 0 h 82"/>
                <a:gd name="T4" fmla="*/ 0 w 27"/>
                <a:gd name="T5" fmla="*/ 0 h 82"/>
                <a:gd name="T6" fmla="*/ 0 w 27"/>
                <a:gd name="T7" fmla="*/ 0 h 82"/>
                <a:gd name="T8" fmla="*/ 0 w 27"/>
                <a:gd name="T9" fmla="*/ 0 h 82"/>
                <a:gd name="T10" fmla="*/ 0 w 27"/>
                <a:gd name="T11" fmla="*/ 0 h 82"/>
                <a:gd name="T12" fmla="*/ 0 w 27"/>
                <a:gd name="T13" fmla="*/ 0 h 8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7" h="82">
                  <a:moveTo>
                    <a:pt x="27" y="0"/>
                  </a:moveTo>
                  <a:lnTo>
                    <a:pt x="9" y="29"/>
                  </a:lnTo>
                  <a:lnTo>
                    <a:pt x="4" y="57"/>
                  </a:lnTo>
                  <a:lnTo>
                    <a:pt x="3" y="82"/>
                  </a:lnTo>
                  <a:lnTo>
                    <a:pt x="0" y="47"/>
                  </a:lnTo>
                  <a:lnTo>
                    <a:pt x="3" y="21"/>
                  </a:lnTo>
                  <a:lnTo>
                    <a:pt x="2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6" name="Freeform 289"/>
            <p:cNvSpPr>
              <a:spLocks/>
            </p:cNvSpPr>
            <p:nvPr/>
          </p:nvSpPr>
          <p:spPr bwMode="auto">
            <a:xfrm>
              <a:off x="5312" y="1934"/>
              <a:ext cx="2" cy="5"/>
            </a:xfrm>
            <a:custGeom>
              <a:avLst/>
              <a:gdLst>
                <a:gd name="T0" fmla="*/ 0 w 15"/>
                <a:gd name="T1" fmla="*/ 0 h 30"/>
                <a:gd name="T2" fmla="*/ 0 w 15"/>
                <a:gd name="T3" fmla="*/ 0 h 30"/>
                <a:gd name="T4" fmla="*/ 0 w 15"/>
                <a:gd name="T5" fmla="*/ 0 h 30"/>
                <a:gd name="T6" fmla="*/ 0 w 15"/>
                <a:gd name="T7" fmla="*/ 0 h 3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5" h="30">
                  <a:moveTo>
                    <a:pt x="11" y="0"/>
                  </a:moveTo>
                  <a:lnTo>
                    <a:pt x="15" y="12"/>
                  </a:lnTo>
                  <a:lnTo>
                    <a:pt x="0" y="30"/>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97" name="Group 290"/>
          <p:cNvGrpSpPr>
            <a:grpSpLocks/>
          </p:cNvGrpSpPr>
          <p:nvPr/>
        </p:nvGrpSpPr>
        <p:grpSpPr bwMode="auto">
          <a:xfrm>
            <a:off x="7049981" y="3136559"/>
            <a:ext cx="269775" cy="283404"/>
            <a:chOff x="5362" y="1748"/>
            <a:chExt cx="268" cy="305"/>
          </a:xfrm>
        </p:grpSpPr>
        <p:sp>
          <p:nvSpPr>
            <p:cNvPr id="298" name="Freeform 291"/>
            <p:cNvSpPr>
              <a:spLocks/>
            </p:cNvSpPr>
            <p:nvPr/>
          </p:nvSpPr>
          <p:spPr bwMode="auto">
            <a:xfrm>
              <a:off x="5477" y="1748"/>
              <a:ext cx="8" cy="6"/>
            </a:xfrm>
            <a:custGeom>
              <a:avLst/>
              <a:gdLst>
                <a:gd name="T0" fmla="*/ 0 w 51"/>
                <a:gd name="T1" fmla="*/ 0 h 36"/>
                <a:gd name="T2" fmla="*/ 0 w 51"/>
                <a:gd name="T3" fmla="*/ 0 h 36"/>
                <a:gd name="T4" fmla="*/ 0 w 51"/>
                <a:gd name="T5" fmla="*/ 0 h 36"/>
                <a:gd name="T6" fmla="*/ 0 w 51"/>
                <a:gd name="T7" fmla="*/ 0 h 36"/>
                <a:gd name="T8" fmla="*/ 0 w 51"/>
                <a:gd name="T9" fmla="*/ 0 h 36"/>
                <a:gd name="T10" fmla="*/ 0 w 51"/>
                <a:gd name="T11" fmla="*/ 0 h 36"/>
                <a:gd name="T12" fmla="*/ 0 w 51"/>
                <a:gd name="T13" fmla="*/ 0 h 36"/>
                <a:gd name="T14" fmla="*/ 0 w 51"/>
                <a:gd name="T15" fmla="*/ 0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51" h="36">
                  <a:moveTo>
                    <a:pt x="0" y="0"/>
                  </a:moveTo>
                  <a:lnTo>
                    <a:pt x="14" y="10"/>
                  </a:lnTo>
                  <a:lnTo>
                    <a:pt x="29" y="15"/>
                  </a:lnTo>
                  <a:lnTo>
                    <a:pt x="43" y="23"/>
                  </a:lnTo>
                  <a:lnTo>
                    <a:pt x="51" y="36"/>
                  </a:lnTo>
                  <a:lnTo>
                    <a:pt x="39" y="32"/>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9" name="Freeform 292"/>
            <p:cNvSpPr>
              <a:spLocks/>
            </p:cNvSpPr>
            <p:nvPr/>
          </p:nvSpPr>
          <p:spPr bwMode="auto">
            <a:xfrm>
              <a:off x="5479" y="1758"/>
              <a:ext cx="2" cy="4"/>
            </a:xfrm>
            <a:custGeom>
              <a:avLst/>
              <a:gdLst>
                <a:gd name="T0" fmla="*/ 0 w 14"/>
                <a:gd name="T1" fmla="*/ 0 h 24"/>
                <a:gd name="T2" fmla="*/ 0 w 14"/>
                <a:gd name="T3" fmla="*/ 0 h 24"/>
                <a:gd name="T4" fmla="*/ 0 w 14"/>
                <a:gd name="T5" fmla="*/ 0 h 24"/>
                <a:gd name="T6" fmla="*/ 0 w 14"/>
                <a:gd name="T7" fmla="*/ 0 h 2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24">
                  <a:moveTo>
                    <a:pt x="0" y="0"/>
                  </a:moveTo>
                  <a:lnTo>
                    <a:pt x="14" y="0"/>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0" name="Freeform 293"/>
            <p:cNvSpPr>
              <a:spLocks/>
            </p:cNvSpPr>
            <p:nvPr/>
          </p:nvSpPr>
          <p:spPr bwMode="auto">
            <a:xfrm>
              <a:off x="5444" y="1788"/>
              <a:ext cx="71" cy="180"/>
            </a:xfrm>
            <a:custGeom>
              <a:avLst/>
              <a:gdLst>
                <a:gd name="T0" fmla="*/ 0 w 431"/>
                <a:gd name="T1" fmla="*/ 0 h 1076"/>
                <a:gd name="T2" fmla="*/ 0 w 431"/>
                <a:gd name="T3" fmla="*/ 0 h 1076"/>
                <a:gd name="T4" fmla="*/ 0 w 431"/>
                <a:gd name="T5" fmla="*/ 0 h 1076"/>
                <a:gd name="T6" fmla="*/ 0 w 431"/>
                <a:gd name="T7" fmla="*/ 0 h 1076"/>
                <a:gd name="T8" fmla="*/ 0 w 431"/>
                <a:gd name="T9" fmla="*/ 0 h 1076"/>
                <a:gd name="T10" fmla="*/ 0 w 431"/>
                <a:gd name="T11" fmla="*/ 0 h 1076"/>
                <a:gd name="T12" fmla="*/ 0 w 431"/>
                <a:gd name="T13" fmla="*/ 0 h 1076"/>
                <a:gd name="T14" fmla="*/ 0 w 431"/>
                <a:gd name="T15" fmla="*/ 0 h 1076"/>
                <a:gd name="T16" fmla="*/ 0 w 431"/>
                <a:gd name="T17" fmla="*/ 0 h 1076"/>
                <a:gd name="T18" fmla="*/ 0 w 431"/>
                <a:gd name="T19" fmla="*/ 0 h 1076"/>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431" h="1076">
                  <a:moveTo>
                    <a:pt x="369" y="0"/>
                  </a:moveTo>
                  <a:lnTo>
                    <a:pt x="328" y="44"/>
                  </a:lnTo>
                  <a:lnTo>
                    <a:pt x="317" y="108"/>
                  </a:lnTo>
                  <a:lnTo>
                    <a:pt x="254" y="170"/>
                  </a:lnTo>
                  <a:lnTo>
                    <a:pt x="126" y="461"/>
                  </a:lnTo>
                  <a:lnTo>
                    <a:pt x="57" y="724"/>
                  </a:lnTo>
                  <a:lnTo>
                    <a:pt x="0" y="1076"/>
                  </a:lnTo>
                  <a:lnTo>
                    <a:pt x="178" y="919"/>
                  </a:lnTo>
                  <a:lnTo>
                    <a:pt x="431" y="140"/>
                  </a:lnTo>
                  <a:lnTo>
                    <a:pt x="369" y="0"/>
                  </a:lnTo>
                  <a:close/>
                </a:path>
              </a:pathLst>
            </a:custGeom>
            <a:solidFill>
              <a:srgbClr val="40000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1" name="Freeform 294"/>
            <p:cNvSpPr>
              <a:spLocks/>
            </p:cNvSpPr>
            <p:nvPr/>
          </p:nvSpPr>
          <p:spPr bwMode="auto">
            <a:xfrm>
              <a:off x="5362" y="1754"/>
              <a:ext cx="268" cy="299"/>
            </a:xfrm>
            <a:custGeom>
              <a:avLst/>
              <a:gdLst>
                <a:gd name="T0" fmla="*/ 0 w 1606"/>
                <a:gd name="T1" fmla="*/ 0 h 1792"/>
                <a:gd name="T2" fmla="*/ 0 w 1606"/>
                <a:gd name="T3" fmla="*/ 0 h 1792"/>
                <a:gd name="T4" fmla="*/ 0 w 1606"/>
                <a:gd name="T5" fmla="*/ 0 h 1792"/>
                <a:gd name="T6" fmla="*/ 0 w 1606"/>
                <a:gd name="T7" fmla="*/ 0 h 1792"/>
                <a:gd name="T8" fmla="*/ 0 w 1606"/>
                <a:gd name="T9" fmla="*/ 0 h 1792"/>
                <a:gd name="T10" fmla="*/ 0 w 1606"/>
                <a:gd name="T11" fmla="*/ 0 h 1792"/>
                <a:gd name="T12" fmla="*/ 0 w 1606"/>
                <a:gd name="T13" fmla="*/ 0 h 1792"/>
                <a:gd name="T14" fmla="*/ 0 w 1606"/>
                <a:gd name="T15" fmla="*/ 0 h 1792"/>
                <a:gd name="T16" fmla="*/ 0 w 1606"/>
                <a:gd name="T17" fmla="*/ 0 h 1792"/>
                <a:gd name="T18" fmla="*/ 0 w 1606"/>
                <a:gd name="T19" fmla="*/ 0 h 1792"/>
                <a:gd name="T20" fmla="*/ 0 w 1606"/>
                <a:gd name="T21" fmla="*/ 0 h 1792"/>
                <a:gd name="T22" fmla="*/ 0 w 1606"/>
                <a:gd name="T23" fmla="*/ 0 h 1792"/>
                <a:gd name="T24" fmla="*/ 0 w 1606"/>
                <a:gd name="T25" fmla="*/ 0 h 1792"/>
                <a:gd name="T26" fmla="*/ 0 w 1606"/>
                <a:gd name="T27" fmla="*/ 0 h 1792"/>
                <a:gd name="T28" fmla="*/ 0 w 1606"/>
                <a:gd name="T29" fmla="*/ 0 h 1792"/>
                <a:gd name="T30" fmla="*/ 0 w 1606"/>
                <a:gd name="T31" fmla="*/ 0 h 1792"/>
                <a:gd name="T32" fmla="*/ 0 w 1606"/>
                <a:gd name="T33" fmla="*/ 0 h 1792"/>
                <a:gd name="T34" fmla="*/ 0 w 1606"/>
                <a:gd name="T35" fmla="*/ 0 h 1792"/>
                <a:gd name="T36" fmla="*/ 0 w 1606"/>
                <a:gd name="T37" fmla="*/ 0 h 1792"/>
                <a:gd name="T38" fmla="*/ 0 w 1606"/>
                <a:gd name="T39" fmla="*/ 0 h 1792"/>
                <a:gd name="T40" fmla="*/ 0 w 1606"/>
                <a:gd name="T41" fmla="*/ 0 h 1792"/>
                <a:gd name="T42" fmla="*/ 0 w 1606"/>
                <a:gd name="T43" fmla="*/ 0 h 1792"/>
                <a:gd name="T44" fmla="*/ 0 w 1606"/>
                <a:gd name="T45" fmla="*/ 0 h 1792"/>
                <a:gd name="T46" fmla="*/ 0 w 1606"/>
                <a:gd name="T47" fmla="*/ 0 h 1792"/>
                <a:gd name="T48" fmla="*/ 0 w 1606"/>
                <a:gd name="T49" fmla="*/ 0 h 1792"/>
                <a:gd name="T50" fmla="*/ 0 w 1606"/>
                <a:gd name="T51" fmla="*/ 0 h 1792"/>
                <a:gd name="T52" fmla="*/ 0 w 1606"/>
                <a:gd name="T53" fmla="*/ 0 h 1792"/>
                <a:gd name="T54" fmla="*/ 0 w 1606"/>
                <a:gd name="T55" fmla="*/ 0 h 1792"/>
                <a:gd name="T56" fmla="*/ 0 w 1606"/>
                <a:gd name="T57" fmla="*/ 0 h 1792"/>
                <a:gd name="T58" fmla="*/ 0 w 1606"/>
                <a:gd name="T59" fmla="*/ 0 h 1792"/>
                <a:gd name="T60" fmla="*/ 0 w 1606"/>
                <a:gd name="T61" fmla="*/ 0 h 1792"/>
                <a:gd name="T62" fmla="*/ 0 w 1606"/>
                <a:gd name="T63" fmla="*/ 0 h 1792"/>
                <a:gd name="T64" fmla="*/ 0 w 1606"/>
                <a:gd name="T65" fmla="*/ 0 h 1792"/>
                <a:gd name="T66" fmla="*/ 0 w 1606"/>
                <a:gd name="T67" fmla="*/ 0 h 1792"/>
                <a:gd name="T68" fmla="*/ 0 w 1606"/>
                <a:gd name="T69" fmla="*/ 0 h 1792"/>
                <a:gd name="T70" fmla="*/ 0 w 1606"/>
                <a:gd name="T71" fmla="*/ 0 h 1792"/>
                <a:gd name="T72" fmla="*/ 0 w 1606"/>
                <a:gd name="T73" fmla="*/ 0 h 1792"/>
                <a:gd name="T74" fmla="*/ 0 w 1606"/>
                <a:gd name="T75" fmla="*/ 0 h 1792"/>
                <a:gd name="T76" fmla="*/ 0 w 1606"/>
                <a:gd name="T77" fmla="*/ 0 h 1792"/>
                <a:gd name="T78" fmla="*/ 0 w 1606"/>
                <a:gd name="T79" fmla="*/ 0 h 1792"/>
                <a:gd name="T80" fmla="*/ 0 w 1606"/>
                <a:gd name="T81" fmla="*/ 0 h 1792"/>
                <a:gd name="T82" fmla="*/ 0 w 1606"/>
                <a:gd name="T83" fmla="*/ 0 h 1792"/>
                <a:gd name="T84" fmla="*/ 0 w 1606"/>
                <a:gd name="T85" fmla="*/ 0 h 1792"/>
                <a:gd name="T86" fmla="*/ 0 w 1606"/>
                <a:gd name="T87" fmla="*/ 0 h 1792"/>
                <a:gd name="T88" fmla="*/ 0 w 1606"/>
                <a:gd name="T89" fmla="*/ 0 h 1792"/>
                <a:gd name="T90" fmla="*/ 0 w 1606"/>
                <a:gd name="T91" fmla="*/ 0 h 179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606" h="1792">
                  <a:moveTo>
                    <a:pt x="1309" y="94"/>
                  </a:moveTo>
                  <a:lnTo>
                    <a:pt x="1258" y="0"/>
                  </a:lnTo>
                  <a:lnTo>
                    <a:pt x="867" y="163"/>
                  </a:lnTo>
                  <a:lnTo>
                    <a:pt x="850" y="288"/>
                  </a:lnTo>
                  <a:lnTo>
                    <a:pt x="818" y="332"/>
                  </a:lnTo>
                  <a:lnTo>
                    <a:pt x="773" y="382"/>
                  </a:lnTo>
                  <a:lnTo>
                    <a:pt x="747" y="472"/>
                  </a:lnTo>
                  <a:lnTo>
                    <a:pt x="660" y="678"/>
                  </a:lnTo>
                  <a:lnTo>
                    <a:pt x="590" y="924"/>
                  </a:lnTo>
                  <a:lnTo>
                    <a:pt x="558" y="1088"/>
                  </a:lnTo>
                  <a:lnTo>
                    <a:pt x="243" y="1094"/>
                  </a:lnTo>
                  <a:lnTo>
                    <a:pt x="192" y="1125"/>
                  </a:lnTo>
                  <a:lnTo>
                    <a:pt x="47" y="1125"/>
                  </a:lnTo>
                  <a:lnTo>
                    <a:pt x="7" y="1189"/>
                  </a:lnTo>
                  <a:lnTo>
                    <a:pt x="0" y="1264"/>
                  </a:lnTo>
                  <a:lnTo>
                    <a:pt x="15" y="1332"/>
                  </a:lnTo>
                  <a:lnTo>
                    <a:pt x="148" y="1358"/>
                  </a:lnTo>
                  <a:lnTo>
                    <a:pt x="211" y="1452"/>
                  </a:lnTo>
                  <a:lnTo>
                    <a:pt x="337" y="1484"/>
                  </a:lnTo>
                  <a:lnTo>
                    <a:pt x="430" y="1484"/>
                  </a:lnTo>
                  <a:lnTo>
                    <a:pt x="538" y="1503"/>
                  </a:lnTo>
                  <a:lnTo>
                    <a:pt x="544" y="1548"/>
                  </a:lnTo>
                  <a:lnTo>
                    <a:pt x="538" y="1642"/>
                  </a:lnTo>
                  <a:lnTo>
                    <a:pt x="550" y="1705"/>
                  </a:lnTo>
                  <a:lnTo>
                    <a:pt x="608" y="1712"/>
                  </a:lnTo>
                  <a:lnTo>
                    <a:pt x="677" y="1724"/>
                  </a:lnTo>
                  <a:lnTo>
                    <a:pt x="747" y="1786"/>
                  </a:lnTo>
                  <a:lnTo>
                    <a:pt x="830" y="1786"/>
                  </a:lnTo>
                  <a:lnTo>
                    <a:pt x="905" y="1779"/>
                  </a:lnTo>
                  <a:lnTo>
                    <a:pt x="1019" y="1744"/>
                  </a:lnTo>
                  <a:lnTo>
                    <a:pt x="1145" y="1756"/>
                  </a:lnTo>
                  <a:lnTo>
                    <a:pt x="1273" y="1792"/>
                  </a:lnTo>
                  <a:lnTo>
                    <a:pt x="1392" y="1766"/>
                  </a:lnTo>
                  <a:lnTo>
                    <a:pt x="1473" y="1674"/>
                  </a:lnTo>
                  <a:lnTo>
                    <a:pt x="1467" y="1571"/>
                  </a:lnTo>
                  <a:lnTo>
                    <a:pt x="1497" y="1446"/>
                  </a:lnTo>
                  <a:lnTo>
                    <a:pt x="1516" y="1282"/>
                  </a:lnTo>
                  <a:lnTo>
                    <a:pt x="1554" y="1131"/>
                  </a:lnTo>
                  <a:lnTo>
                    <a:pt x="1606" y="906"/>
                  </a:lnTo>
                  <a:lnTo>
                    <a:pt x="1598" y="678"/>
                  </a:lnTo>
                  <a:lnTo>
                    <a:pt x="1598" y="478"/>
                  </a:lnTo>
                  <a:lnTo>
                    <a:pt x="1586" y="338"/>
                  </a:lnTo>
                  <a:lnTo>
                    <a:pt x="1554" y="276"/>
                  </a:lnTo>
                  <a:lnTo>
                    <a:pt x="1484" y="225"/>
                  </a:lnTo>
                  <a:lnTo>
                    <a:pt x="1403" y="142"/>
                  </a:lnTo>
                  <a:lnTo>
                    <a:pt x="1309" y="94"/>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2" name="Freeform 295"/>
            <p:cNvSpPr>
              <a:spLocks/>
            </p:cNvSpPr>
            <p:nvPr/>
          </p:nvSpPr>
          <p:spPr bwMode="auto">
            <a:xfrm>
              <a:off x="5456" y="1772"/>
              <a:ext cx="169" cy="278"/>
            </a:xfrm>
            <a:custGeom>
              <a:avLst/>
              <a:gdLst>
                <a:gd name="T0" fmla="*/ 0 w 1014"/>
                <a:gd name="T1" fmla="*/ 0 h 1671"/>
                <a:gd name="T2" fmla="*/ 0 w 1014"/>
                <a:gd name="T3" fmla="*/ 0 h 1671"/>
                <a:gd name="T4" fmla="*/ 0 w 1014"/>
                <a:gd name="T5" fmla="*/ 0 h 1671"/>
                <a:gd name="T6" fmla="*/ 0 w 1014"/>
                <a:gd name="T7" fmla="*/ 0 h 1671"/>
                <a:gd name="T8" fmla="*/ 0 w 1014"/>
                <a:gd name="T9" fmla="*/ 0 h 1671"/>
                <a:gd name="T10" fmla="*/ 0 w 1014"/>
                <a:gd name="T11" fmla="*/ 0 h 1671"/>
                <a:gd name="T12" fmla="*/ 0 w 1014"/>
                <a:gd name="T13" fmla="*/ 0 h 1671"/>
                <a:gd name="T14" fmla="*/ 0 w 1014"/>
                <a:gd name="T15" fmla="*/ 0 h 1671"/>
                <a:gd name="T16" fmla="*/ 0 w 1014"/>
                <a:gd name="T17" fmla="*/ 0 h 1671"/>
                <a:gd name="T18" fmla="*/ 0 w 1014"/>
                <a:gd name="T19" fmla="*/ 0 h 1671"/>
                <a:gd name="T20" fmla="*/ 0 w 1014"/>
                <a:gd name="T21" fmla="*/ 0 h 1671"/>
                <a:gd name="T22" fmla="*/ 0 w 1014"/>
                <a:gd name="T23" fmla="*/ 0 h 1671"/>
                <a:gd name="T24" fmla="*/ 0 w 1014"/>
                <a:gd name="T25" fmla="*/ 0 h 1671"/>
                <a:gd name="T26" fmla="*/ 0 w 1014"/>
                <a:gd name="T27" fmla="*/ 0 h 1671"/>
                <a:gd name="T28" fmla="*/ 0 w 1014"/>
                <a:gd name="T29" fmla="*/ 0 h 1671"/>
                <a:gd name="T30" fmla="*/ 0 w 1014"/>
                <a:gd name="T31" fmla="*/ 0 h 1671"/>
                <a:gd name="T32" fmla="*/ 0 w 1014"/>
                <a:gd name="T33" fmla="*/ 0 h 1671"/>
                <a:gd name="T34" fmla="*/ 0 w 1014"/>
                <a:gd name="T35" fmla="*/ 0 h 1671"/>
                <a:gd name="T36" fmla="*/ 0 w 1014"/>
                <a:gd name="T37" fmla="*/ 0 h 1671"/>
                <a:gd name="T38" fmla="*/ 0 w 1014"/>
                <a:gd name="T39" fmla="*/ 0 h 1671"/>
                <a:gd name="T40" fmla="*/ 0 w 1014"/>
                <a:gd name="T41" fmla="*/ 0 h 1671"/>
                <a:gd name="T42" fmla="*/ 0 w 1014"/>
                <a:gd name="T43" fmla="*/ 0 h 1671"/>
                <a:gd name="T44" fmla="*/ 0 w 1014"/>
                <a:gd name="T45" fmla="*/ 0 h 1671"/>
                <a:gd name="T46" fmla="*/ 0 w 1014"/>
                <a:gd name="T47" fmla="*/ 0 h 1671"/>
                <a:gd name="T48" fmla="*/ 0 w 1014"/>
                <a:gd name="T49" fmla="*/ 0 h 1671"/>
                <a:gd name="T50" fmla="*/ 0 w 1014"/>
                <a:gd name="T51" fmla="*/ 0 h 1671"/>
                <a:gd name="T52" fmla="*/ 0 w 1014"/>
                <a:gd name="T53" fmla="*/ 0 h 1671"/>
                <a:gd name="T54" fmla="*/ 0 w 1014"/>
                <a:gd name="T55" fmla="*/ 0 h 1671"/>
                <a:gd name="T56" fmla="*/ 0 w 1014"/>
                <a:gd name="T57" fmla="*/ 0 h 1671"/>
                <a:gd name="T58" fmla="*/ 0 w 1014"/>
                <a:gd name="T59" fmla="*/ 0 h 1671"/>
                <a:gd name="T60" fmla="*/ 0 w 1014"/>
                <a:gd name="T61" fmla="*/ 0 h 1671"/>
                <a:gd name="T62" fmla="*/ 0 w 1014"/>
                <a:gd name="T63" fmla="*/ 0 h 1671"/>
                <a:gd name="T64" fmla="*/ 0 w 1014"/>
                <a:gd name="T65" fmla="*/ 0 h 1671"/>
                <a:gd name="T66" fmla="*/ 0 w 1014"/>
                <a:gd name="T67" fmla="*/ 0 h 1671"/>
                <a:gd name="T68" fmla="*/ 0 w 1014"/>
                <a:gd name="T69" fmla="*/ 0 h 1671"/>
                <a:gd name="T70" fmla="*/ 0 w 1014"/>
                <a:gd name="T71" fmla="*/ 0 h 1671"/>
                <a:gd name="T72" fmla="*/ 0 w 1014"/>
                <a:gd name="T73" fmla="*/ 0 h 1671"/>
                <a:gd name="T74" fmla="*/ 0 w 1014"/>
                <a:gd name="T75" fmla="*/ 0 h 1671"/>
                <a:gd name="T76" fmla="*/ 0 w 1014"/>
                <a:gd name="T77" fmla="*/ 0 h 1671"/>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014" h="1671">
                  <a:moveTo>
                    <a:pt x="0" y="1402"/>
                  </a:moveTo>
                  <a:lnTo>
                    <a:pt x="132" y="1382"/>
                  </a:lnTo>
                  <a:lnTo>
                    <a:pt x="245" y="1376"/>
                  </a:lnTo>
                  <a:lnTo>
                    <a:pt x="370" y="1363"/>
                  </a:lnTo>
                  <a:lnTo>
                    <a:pt x="509" y="1344"/>
                  </a:lnTo>
                  <a:lnTo>
                    <a:pt x="573" y="1301"/>
                  </a:lnTo>
                  <a:lnTo>
                    <a:pt x="744" y="1088"/>
                  </a:lnTo>
                  <a:lnTo>
                    <a:pt x="656" y="1149"/>
                  </a:lnTo>
                  <a:lnTo>
                    <a:pt x="598" y="1201"/>
                  </a:lnTo>
                  <a:lnTo>
                    <a:pt x="630" y="1050"/>
                  </a:lnTo>
                  <a:lnTo>
                    <a:pt x="693" y="992"/>
                  </a:lnTo>
                  <a:lnTo>
                    <a:pt x="787" y="837"/>
                  </a:lnTo>
                  <a:lnTo>
                    <a:pt x="699" y="911"/>
                  </a:lnTo>
                  <a:lnTo>
                    <a:pt x="642" y="931"/>
                  </a:lnTo>
                  <a:lnTo>
                    <a:pt x="656" y="823"/>
                  </a:lnTo>
                  <a:lnTo>
                    <a:pt x="718" y="741"/>
                  </a:lnTo>
                  <a:lnTo>
                    <a:pt x="781" y="679"/>
                  </a:lnTo>
                  <a:lnTo>
                    <a:pt x="845" y="497"/>
                  </a:lnTo>
                  <a:lnTo>
                    <a:pt x="724" y="647"/>
                  </a:lnTo>
                  <a:lnTo>
                    <a:pt x="656" y="703"/>
                  </a:lnTo>
                  <a:lnTo>
                    <a:pt x="648" y="471"/>
                  </a:lnTo>
                  <a:lnTo>
                    <a:pt x="630" y="378"/>
                  </a:lnTo>
                  <a:lnTo>
                    <a:pt x="592" y="334"/>
                  </a:lnTo>
                  <a:lnTo>
                    <a:pt x="535" y="264"/>
                  </a:lnTo>
                  <a:lnTo>
                    <a:pt x="445" y="232"/>
                  </a:lnTo>
                  <a:lnTo>
                    <a:pt x="402" y="214"/>
                  </a:lnTo>
                  <a:lnTo>
                    <a:pt x="528" y="94"/>
                  </a:lnTo>
                  <a:lnTo>
                    <a:pt x="661" y="126"/>
                  </a:lnTo>
                  <a:lnTo>
                    <a:pt x="750" y="176"/>
                  </a:lnTo>
                  <a:lnTo>
                    <a:pt x="781" y="226"/>
                  </a:lnTo>
                  <a:lnTo>
                    <a:pt x="756" y="150"/>
                  </a:lnTo>
                  <a:lnTo>
                    <a:pt x="705" y="126"/>
                  </a:lnTo>
                  <a:lnTo>
                    <a:pt x="624" y="94"/>
                  </a:lnTo>
                  <a:lnTo>
                    <a:pt x="560" y="82"/>
                  </a:lnTo>
                  <a:lnTo>
                    <a:pt x="598" y="62"/>
                  </a:lnTo>
                  <a:lnTo>
                    <a:pt x="661" y="44"/>
                  </a:lnTo>
                  <a:lnTo>
                    <a:pt x="718" y="25"/>
                  </a:lnTo>
                  <a:lnTo>
                    <a:pt x="750" y="0"/>
                  </a:lnTo>
                  <a:lnTo>
                    <a:pt x="825" y="50"/>
                  </a:lnTo>
                  <a:lnTo>
                    <a:pt x="868" y="94"/>
                  </a:lnTo>
                  <a:lnTo>
                    <a:pt x="913" y="150"/>
                  </a:lnTo>
                  <a:lnTo>
                    <a:pt x="976" y="182"/>
                  </a:lnTo>
                  <a:lnTo>
                    <a:pt x="988" y="240"/>
                  </a:lnTo>
                  <a:lnTo>
                    <a:pt x="1014" y="334"/>
                  </a:lnTo>
                  <a:lnTo>
                    <a:pt x="1014" y="478"/>
                  </a:lnTo>
                  <a:lnTo>
                    <a:pt x="1008" y="628"/>
                  </a:lnTo>
                  <a:lnTo>
                    <a:pt x="1002" y="799"/>
                  </a:lnTo>
                  <a:lnTo>
                    <a:pt x="970" y="975"/>
                  </a:lnTo>
                  <a:lnTo>
                    <a:pt x="931" y="1157"/>
                  </a:lnTo>
                  <a:lnTo>
                    <a:pt x="913" y="1314"/>
                  </a:lnTo>
                  <a:lnTo>
                    <a:pt x="882" y="1426"/>
                  </a:lnTo>
                  <a:lnTo>
                    <a:pt x="888" y="1527"/>
                  </a:lnTo>
                  <a:lnTo>
                    <a:pt x="875" y="1584"/>
                  </a:lnTo>
                  <a:lnTo>
                    <a:pt x="830" y="1627"/>
                  </a:lnTo>
                  <a:lnTo>
                    <a:pt x="775" y="1664"/>
                  </a:lnTo>
                  <a:lnTo>
                    <a:pt x="699" y="1671"/>
                  </a:lnTo>
                  <a:lnTo>
                    <a:pt x="661" y="1652"/>
                  </a:lnTo>
                  <a:lnTo>
                    <a:pt x="612" y="1648"/>
                  </a:lnTo>
                  <a:lnTo>
                    <a:pt x="490" y="1622"/>
                  </a:lnTo>
                  <a:lnTo>
                    <a:pt x="541" y="1559"/>
                  </a:lnTo>
                  <a:lnTo>
                    <a:pt x="598" y="1470"/>
                  </a:lnTo>
                  <a:lnTo>
                    <a:pt x="516" y="1534"/>
                  </a:lnTo>
                  <a:lnTo>
                    <a:pt x="452" y="1590"/>
                  </a:lnTo>
                  <a:lnTo>
                    <a:pt x="407" y="1622"/>
                  </a:lnTo>
                  <a:lnTo>
                    <a:pt x="345" y="1652"/>
                  </a:lnTo>
                  <a:lnTo>
                    <a:pt x="276" y="1652"/>
                  </a:lnTo>
                  <a:lnTo>
                    <a:pt x="208" y="1652"/>
                  </a:lnTo>
                  <a:lnTo>
                    <a:pt x="170" y="1636"/>
                  </a:lnTo>
                  <a:lnTo>
                    <a:pt x="151" y="1616"/>
                  </a:lnTo>
                  <a:lnTo>
                    <a:pt x="240" y="1565"/>
                  </a:lnTo>
                  <a:lnTo>
                    <a:pt x="327" y="1484"/>
                  </a:lnTo>
                  <a:lnTo>
                    <a:pt x="352" y="1446"/>
                  </a:lnTo>
                  <a:lnTo>
                    <a:pt x="282" y="1463"/>
                  </a:lnTo>
                  <a:lnTo>
                    <a:pt x="176" y="1546"/>
                  </a:lnTo>
                  <a:lnTo>
                    <a:pt x="132" y="1584"/>
                  </a:lnTo>
                  <a:lnTo>
                    <a:pt x="32" y="1590"/>
                  </a:lnTo>
                  <a:lnTo>
                    <a:pt x="0" y="1572"/>
                  </a:lnTo>
                  <a:lnTo>
                    <a:pt x="0" y="1527"/>
                  </a:lnTo>
                  <a:lnTo>
                    <a:pt x="0" y="1402"/>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3" name="Freeform 296"/>
            <p:cNvSpPr>
              <a:spLocks/>
            </p:cNvSpPr>
            <p:nvPr/>
          </p:nvSpPr>
          <p:spPr bwMode="auto">
            <a:xfrm>
              <a:off x="5563" y="1910"/>
              <a:ext cx="50" cy="129"/>
            </a:xfrm>
            <a:custGeom>
              <a:avLst/>
              <a:gdLst>
                <a:gd name="T0" fmla="*/ 0 w 295"/>
                <a:gd name="T1" fmla="*/ 0 h 774"/>
                <a:gd name="T2" fmla="*/ 0 w 295"/>
                <a:gd name="T3" fmla="*/ 0 h 774"/>
                <a:gd name="T4" fmla="*/ 0 w 295"/>
                <a:gd name="T5" fmla="*/ 0 h 774"/>
                <a:gd name="T6" fmla="*/ 0 w 295"/>
                <a:gd name="T7" fmla="*/ 0 h 774"/>
                <a:gd name="T8" fmla="*/ 0 w 295"/>
                <a:gd name="T9" fmla="*/ 0 h 774"/>
                <a:gd name="T10" fmla="*/ 0 w 295"/>
                <a:gd name="T11" fmla="*/ 0 h 774"/>
                <a:gd name="T12" fmla="*/ 0 w 295"/>
                <a:gd name="T13" fmla="*/ 0 h 774"/>
                <a:gd name="T14" fmla="*/ 0 w 295"/>
                <a:gd name="T15" fmla="*/ 0 h 774"/>
                <a:gd name="T16" fmla="*/ 0 w 295"/>
                <a:gd name="T17" fmla="*/ 0 h 774"/>
                <a:gd name="T18" fmla="*/ 0 w 295"/>
                <a:gd name="T19" fmla="*/ 0 h 774"/>
                <a:gd name="T20" fmla="*/ 0 w 295"/>
                <a:gd name="T21" fmla="*/ 0 h 774"/>
                <a:gd name="T22" fmla="*/ 0 w 295"/>
                <a:gd name="T23" fmla="*/ 0 h 774"/>
                <a:gd name="T24" fmla="*/ 0 w 295"/>
                <a:gd name="T25" fmla="*/ 0 h 774"/>
                <a:gd name="T26" fmla="*/ 0 w 295"/>
                <a:gd name="T27" fmla="*/ 0 h 77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95" h="774">
                  <a:moveTo>
                    <a:pt x="0" y="774"/>
                  </a:moveTo>
                  <a:lnTo>
                    <a:pt x="51" y="748"/>
                  </a:lnTo>
                  <a:lnTo>
                    <a:pt x="107" y="686"/>
                  </a:lnTo>
                  <a:lnTo>
                    <a:pt x="156" y="573"/>
                  </a:lnTo>
                  <a:lnTo>
                    <a:pt x="183" y="477"/>
                  </a:lnTo>
                  <a:lnTo>
                    <a:pt x="220" y="371"/>
                  </a:lnTo>
                  <a:lnTo>
                    <a:pt x="239" y="270"/>
                  </a:lnTo>
                  <a:lnTo>
                    <a:pt x="270" y="114"/>
                  </a:lnTo>
                  <a:lnTo>
                    <a:pt x="295" y="0"/>
                  </a:lnTo>
                  <a:lnTo>
                    <a:pt x="232" y="226"/>
                  </a:lnTo>
                  <a:lnTo>
                    <a:pt x="183" y="402"/>
                  </a:lnTo>
                  <a:lnTo>
                    <a:pt x="126" y="521"/>
                  </a:lnTo>
                  <a:lnTo>
                    <a:pt x="38" y="648"/>
                  </a:lnTo>
                  <a:lnTo>
                    <a:pt x="0" y="77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4" name="Freeform 297"/>
            <p:cNvSpPr>
              <a:spLocks/>
            </p:cNvSpPr>
            <p:nvPr/>
          </p:nvSpPr>
          <p:spPr bwMode="auto">
            <a:xfrm>
              <a:off x="5367" y="1806"/>
              <a:ext cx="195" cy="194"/>
            </a:xfrm>
            <a:custGeom>
              <a:avLst/>
              <a:gdLst>
                <a:gd name="T0" fmla="*/ 0 w 1172"/>
                <a:gd name="T1" fmla="*/ 0 h 1162"/>
                <a:gd name="T2" fmla="*/ 0 w 1172"/>
                <a:gd name="T3" fmla="*/ 0 h 1162"/>
                <a:gd name="T4" fmla="*/ 0 w 1172"/>
                <a:gd name="T5" fmla="*/ 0 h 1162"/>
                <a:gd name="T6" fmla="*/ 0 w 1172"/>
                <a:gd name="T7" fmla="*/ 0 h 1162"/>
                <a:gd name="T8" fmla="*/ 0 w 1172"/>
                <a:gd name="T9" fmla="*/ 0 h 1162"/>
                <a:gd name="T10" fmla="*/ 0 w 1172"/>
                <a:gd name="T11" fmla="*/ 0 h 1162"/>
                <a:gd name="T12" fmla="*/ 0 w 1172"/>
                <a:gd name="T13" fmla="*/ 0 h 1162"/>
                <a:gd name="T14" fmla="*/ 0 w 1172"/>
                <a:gd name="T15" fmla="*/ 0 h 1162"/>
                <a:gd name="T16" fmla="*/ 0 w 1172"/>
                <a:gd name="T17" fmla="*/ 0 h 1162"/>
                <a:gd name="T18" fmla="*/ 0 w 1172"/>
                <a:gd name="T19" fmla="*/ 0 h 1162"/>
                <a:gd name="T20" fmla="*/ 0 w 1172"/>
                <a:gd name="T21" fmla="*/ 0 h 1162"/>
                <a:gd name="T22" fmla="*/ 0 w 1172"/>
                <a:gd name="T23" fmla="*/ 0 h 1162"/>
                <a:gd name="T24" fmla="*/ 0 w 1172"/>
                <a:gd name="T25" fmla="*/ 0 h 1162"/>
                <a:gd name="T26" fmla="*/ 0 w 1172"/>
                <a:gd name="T27" fmla="*/ 0 h 1162"/>
                <a:gd name="T28" fmla="*/ 0 w 1172"/>
                <a:gd name="T29" fmla="*/ 0 h 1162"/>
                <a:gd name="T30" fmla="*/ 0 w 1172"/>
                <a:gd name="T31" fmla="*/ 0 h 1162"/>
                <a:gd name="T32" fmla="*/ 0 w 1172"/>
                <a:gd name="T33" fmla="*/ 0 h 1162"/>
                <a:gd name="T34" fmla="*/ 0 w 1172"/>
                <a:gd name="T35" fmla="*/ 0 h 1162"/>
                <a:gd name="T36" fmla="*/ 0 w 1172"/>
                <a:gd name="T37" fmla="*/ 0 h 1162"/>
                <a:gd name="T38" fmla="*/ 0 w 1172"/>
                <a:gd name="T39" fmla="*/ 0 h 1162"/>
                <a:gd name="T40" fmla="*/ 0 w 1172"/>
                <a:gd name="T41" fmla="*/ 0 h 1162"/>
                <a:gd name="T42" fmla="*/ 0 w 1172"/>
                <a:gd name="T43" fmla="*/ 0 h 1162"/>
                <a:gd name="T44" fmla="*/ 0 w 1172"/>
                <a:gd name="T45" fmla="*/ 0 h 1162"/>
                <a:gd name="T46" fmla="*/ 0 w 1172"/>
                <a:gd name="T47" fmla="*/ 0 h 1162"/>
                <a:gd name="T48" fmla="*/ 0 w 1172"/>
                <a:gd name="T49" fmla="*/ 0 h 1162"/>
                <a:gd name="T50" fmla="*/ 0 w 1172"/>
                <a:gd name="T51" fmla="*/ 0 h 1162"/>
                <a:gd name="T52" fmla="*/ 0 w 1172"/>
                <a:gd name="T53" fmla="*/ 0 h 1162"/>
                <a:gd name="T54" fmla="*/ 0 w 1172"/>
                <a:gd name="T55" fmla="*/ 0 h 1162"/>
                <a:gd name="T56" fmla="*/ 0 w 1172"/>
                <a:gd name="T57" fmla="*/ 0 h 1162"/>
                <a:gd name="T58" fmla="*/ 0 w 1172"/>
                <a:gd name="T59" fmla="*/ 0 h 1162"/>
                <a:gd name="T60" fmla="*/ 0 w 1172"/>
                <a:gd name="T61" fmla="*/ 0 h 1162"/>
                <a:gd name="T62" fmla="*/ 0 w 1172"/>
                <a:gd name="T63" fmla="*/ 0 h 1162"/>
                <a:gd name="T64" fmla="*/ 0 w 1172"/>
                <a:gd name="T65" fmla="*/ 0 h 1162"/>
                <a:gd name="T66" fmla="*/ 0 w 1172"/>
                <a:gd name="T67" fmla="*/ 0 h 1162"/>
                <a:gd name="T68" fmla="*/ 0 w 1172"/>
                <a:gd name="T69" fmla="*/ 0 h 1162"/>
                <a:gd name="T70" fmla="*/ 0 w 1172"/>
                <a:gd name="T71" fmla="*/ 0 h 1162"/>
                <a:gd name="T72" fmla="*/ 0 w 1172"/>
                <a:gd name="T73" fmla="*/ 0 h 1162"/>
                <a:gd name="T74" fmla="*/ 0 w 1172"/>
                <a:gd name="T75" fmla="*/ 0 h 1162"/>
                <a:gd name="T76" fmla="*/ 0 w 1172"/>
                <a:gd name="T77" fmla="*/ 0 h 1162"/>
                <a:gd name="T78" fmla="*/ 0 w 1172"/>
                <a:gd name="T79" fmla="*/ 0 h 1162"/>
                <a:gd name="T80" fmla="*/ 0 w 1172"/>
                <a:gd name="T81" fmla="*/ 0 h 1162"/>
                <a:gd name="T82" fmla="*/ 0 w 1172"/>
                <a:gd name="T83" fmla="*/ 0 h 1162"/>
                <a:gd name="T84" fmla="*/ 0 w 1172"/>
                <a:gd name="T85" fmla="*/ 0 h 1162"/>
                <a:gd name="T86" fmla="*/ 0 w 1172"/>
                <a:gd name="T87" fmla="*/ 0 h 1162"/>
                <a:gd name="T88" fmla="*/ 0 w 1172"/>
                <a:gd name="T89" fmla="*/ 0 h 1162"/>
                <a:gd name="T90" fmla="*/ 0 w 1172"/>
                <a:gd name="T91" fmla="*/ 0 h 1162"/>
                <a:gd name="T92" fmla="*/ 0 w 1172"/>
                <a:gd name="T93" fmla="*/ 0 h 1162"/>
                <a:gd name="T94" fmla="*/ 0 w 1172"/>
                <a:gd name="T95" fmla="*/ 0 h 1162"/>
                <a:gd name="T96" fmla="*/ 0 w 1172"/>
                <a:gd name="T97" fmla="*/ 0 h 1162"/>
                <a:gd name="T98" fmla="*/ 0 w 1172"/>
                <a:gd name="T99" fmla="*/ 0 h 1162"/>
                <a:gd name="T100" fmla="*/ 0 w 1172"/>
                <a:gd name="T101" fmla="*/ 0 h 1162"/>
                <a:gd name="T102" fmla="*/ 0 w 1172"/>
                <a:gd name="T103" fmla="*/ 0 h 1162"/>
                <a:gd name="T104" fmla="*/ 0 w 1172"/>
                <a:gd name="T105" fmla="*/ 0 h 1162"/>
                <a:gd name="T106" fmla="*/ 0 w 1172"/>
                <a:gd name="T107" fmla="*/ 0 h 1162"/>
                <a:gd name="T108" fmla="*/ 0 w 1172"/>
                <a:gd name="T109" fmla="*/ 0 h 1162"/>
                <a:gd name="T110" fmla="*/ 0 w 1172"/>
                <a:gd name="T111" fmla="*/ 0 h 11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1172" h="1162">
                  <a:moveTo>
                    <a:pt x="959" y="0"/>
                  </a:moveTo>
                  <a:lnTo>
                    <a:pt x="820" y="43"/>
                  </a:lnTo>
                  <a:lnTo>
                    <a:pt x="756" y="100"/>
                  </a:lnTo>
                  <a:lnTo>
                    <a:pt x="719" y="213"/>
                  </a:lnTo>
                  <a:lnTo>
                    <a:pt x="719" y="321"/>
                  </a:lnTo>
                  <a:lnTo>
                    <a:pt x="739" y="381"/>
                  </a:lnTo>
                  <a:lnTo>
                    <a:pt x="727" y="489"/>
                  </a:lnTo>
                  <a:lnTo>
                    <a:pt x="727" y="571"/>
                  </a:lnTo>
                  <a:lnTo>
                    <a:pt x="745" y="591"/>
                  </a:lnTo>
                  <a:lnTo>
                    <a:pt x="727" y="621"/>
                  </a:lnTo>
                  <a:lnTo>
                    <a:pt x="713" y="652"/>
                  </a:lnTo>
                  <a:lnTo>
                    <a:pt x="739" y="684"/>
                  </a:lnTo>
                  <a:lnTo>
                    <a:pt x="739" y="716"/>
                  </a:lnTo>
                  <a:lnTo>
                    <a:pt x="688" y="729"/>
                  </a:lnTo>
                  <a:lnTo>
                    <a:pt x="695" y="761"/>
                  </a:lnTo>
                  <a:lnTo>
                    <a:pt x="644" y="779"/>
                  </a:lnTo>
                  <a:lnTo>
                    <a:pt x="599" y="767"/>
                  </a:lnTo>
                  <a:lnTo>
                    <a:pt x="569" y="779"/>
                  </a:lnTo>
                  <a:lnTo>
                    <a:pt x="428" y="799"/>
                  </a:lnTo>
                  <a:lnTo>
                    <a:pt x="304" y="793"/>
                  </a:lnTo>
                  <a:lnTo>
                    <a:pt x="222" y="799"/>
                  </a:lnTo>
                  <a:lnTo>
                    <a:pt x="170" y="831"/>
                  </a:lnTo>
                  <a:lnTo>
                    <a:pt x="45" y="831"/>
                  </a:lnTo>
                  <a:lnTo>
                    <a:pt x="0" y="873"/>
                  </a:lnTo>
                  <a:lnTo>
                    <a:pt x="0" y="923"/>
                  </a:lnTo>
                  <a:lnTo>
                    <a:pt x="6" y="1004"/>
                  </a:lnTo>
                  <a:lnTo>
                    <a:pt x="109" y="1030"/>
                  </a:lnTo>
                  <a:lnTo>
                    <a:pt x="109" y="978"/>
                  </a:lnTo>
                  <a:lnTo>
                    <a:pt x="115" y="935"/>
                  </a:lnTo>
                  <a:lnTo>
                    <a:pt x="133" y="916"/>
                  </a:lnTo>
                  <a:lnTo>
                    <a:pt x="141" y="966"/>
                  </a:lnTo>
                  <a:lnTo>
                    <a:pt x="147" y="1030"/>
                  </a:lnTo>
                  <a:lnTo>
                    <a:pt x="170" y="1068"/>
                  </a:lnTo>
                  <a:lnTo>
                    <a:pt x="215" y="1118"/>
                  </a:lnTo>
                  <a:lnTo>
                    <a:pt x="321" y="1142"/>
                  </a:lnTo>
                  <a:lnTo>
                    <a:pt x="403" y="1155"/>
                  </a:lnTo>
                  <a:lnTo>
                    <a:pt x="499" y="1162"/>
                  </a:lnTo>
                  <a:lnTo>
                    <a:pt x="379" y="1093"/>
                  </a:lnTo>
                  <a:lnTo>
                    <a:pt x="297" y="1030"/>
                  </a:lnTo>
                  <a:lnTo>
                    <a:pt x="279" y="978"/>
                  </a:lnTo>
                  <a:lnTo>
                    <a:pt x="291" y="935"/>
                  </a:lnTo>
                  <a:lnTo>
                    <a:pt x="358" y="929"/>
                  </a:lnTo>
                  <a:lnTo>
                    <a:pt x="385" y="978"/>
                  </a:lnTo>
                  <a:lnTo>
                    <a:pt x="403" y="1036"/>
                  </a:lnTo>
                  <a:lnTo>
                    <a:pt x="467" y="1098"/>
                  </a:lnTo>
                  <a:lnTo>
                    <a:pt x="537" y="1149"/>
                  </a:lnTo>
                  <a:lnTo>
                    <a:pt x="607" y="1155"/>
                  </a:lnTo>
                  <a:lnTo>
                    <a:pt x="713" y="1149"/>
                  </a:lnTo>
                  <a:lnTo>
                    <a:pt x="599" y="1061"/>
                  </a:lnTo>
                  <a:lnTo>
                    <a:pt x="517" y="1016"/>
                  </a:lnTo>
                  <a:lnTo>
                    <a:pt x="454" y="966"/>
                  </a:lnTo>
                  <a:lnTo>
                    <a:pt x="435" y="929"/>
                  </a:lnTo>
                  <a:lnTo>
                    <a:pt x="441" y="891"/>
                  </a:lnTo>
                  <a:lnTo>
                    <a:pt x="479" y="885"/>
                  </a:lnTo>
                  <a:lnTo>
                    <a:pt x="523" y="923"/>
                  </a:lnTo>
                  <a:lnTo>
                    <a:pt x="549" y="972"/>
                  </a:lnTo>
                  <a:lnTo>
                    <a:pt x="607" y="1036"/>
                  </a:lnTo>
                  <a:lnTo>
                    <a:pt x="675" y="1068"/>
                  </a:lnTo>
                  <a:lnTo>
                    <a:pt x="727" y="1098"/>
                  </a:lnTo>
                  <a:lnTo>
                    <a:pt x="782" y="1123"/>
                  </a:lnTo>
                  <a:lnTo>
                    <a:pt x="846" y="1136"/>
                  </a:lnTo>
                  <a:lnTo>
                    <a:pt x="921" y="1136"/>
                  </a:lnTo>
                  <a:lnTo>
                    <a:pt x="994" y="1122"/>
                  </a:lnTo>
                  <a:lnTo>
                    <a:pt x="833" y="1068"/>
                  </a:lnTo>
                  <a:lnTo>
                    <a:pt x="771" y="1036"/>
                  </a:lnTo>
                  <a:lnTo>
                    <a:pt x="727" y="978"/>
                  </a:lnTo>
                  <a:lnTo>
                    <a:pt x="719" y="929"/>
                  </a:lnTo>
                  <a:lnTo>
                    <a:pt x="756" y="929"/>
                  </a:lnTo>
                  <a:lnTo>
                    <a:pt x="777" y="972"/>
                  </a:lnTo>
                  <a:lnTo>
                    <a:pt x="808" y="1010"/>
                  </a:lnTo>
                  <a:lnTo>
                    <a:pt x="859" y="1049"/>
                  </a:lnTo>
                  <a:lnTo>
                    <a:pt x="914" y="1087"/>
                  </a:lnTo>
                  <a:lnTo>
                    <a:pt x="989" y="1119"/>
                  </a:lnTo>
                  <a:lnTo>
                    <a:pt x="1046" y="1098"/>
                  </a:lnTo>
                  <a:lnTo>
                    <a:pt x="1072" y="1068"/>
                  </a:lnTo>
                  <a:lnTo>
                    <a:pt x="1117" y="991"/>
                  </a:lnTo>
                  <a:lnTo>
                    <a:pt x="1034" y="972"/>
                  </a:lnTo>
                  <a:lnTo>
                    <a:pt x="878" y="954"/>
                  </a:lnTo>
                  <a:lnTo>
                    <a:pt x="782" y="910"/>
                  </a:lnTo>
                  <a:lnTo>
                    <a:pt x="733" y="868"/>
                  </a:lnTo>
                  <a:lnTo>
                    <a:pt x="713" y="816"/>
                  </a:lnTo>
                  <a:lnTo>
                    <a:pt x="707" y="793"/>
                  </a:lnTo>
                  <a:lnTo>
                    <a:pt x="733" y="793"/>
                  </a:lnTo>
                  <a:lnTo>
                    <a:pt x="765" y="831"/>
                  </a:lnTo>
                  <a:lnTo>
                    <a:pt x="814" y="897"/>
                  </a:lnTo>
                  <a:lnTo>
                    <a:pt x="927" y="935"/>
                  </a:lnTo>
                  <a:lnTo>
                    <a:pt x="1034" y="968"/>
                  </a:lnTo>
                  <a:lnTo>
                    <a:pt x="1117" y="991"/>
                  </a:lnTo>
                  <a:lnTo>
                    <a:pt x="1149" y="861"/>
                  </a:lnTo>
                  <a:lnTo>
                    <a:pt x="1155" y="767"/>
                  </a:lnTo>
                  <a:lnTo>
                    <a:pt x="1155" y="683"/>
                  </a:lnTo>
                  <a:lnTo>
                    <a:pt x="1046" y="741"/>
                  </a:lnTo>
                  <a:lnTo>
                    <a:pt x="921" y="767"/>
                  </a:lnTo>
                  <a:lnTo>
                    <a:pt x="820" y="761"/>
                  </a:lnTo>
                  <a:lnTo>
                    <a:pt x="795" y="748"/>
                  </a:lnTo>
                  <a:lnTo>
                    <a:pt x="782" y="716"/>
                  </a:lnTo>
                  <a:lnTo>
                    <a:pt x="840" y="716"/>
                  </a:lnTo>
                  <a:lnTo>
                    <a:pt x="901" y="735"/>
                  </a:lnTo>
                  <a:lnTo>
                    <a:pt x="1049" y="741"/>
                  </a:lnTo>
                  <a:lnTo>
                    <a:pt x="1155" y="684"/>
                  </a:lnTo>
                  <a:lnTo>
                    <a:pt x="1161" y="565"/>
                  </a:lnTo>
                  <a:lnTo>
                    <a:pt x="1167" y="483"/>
                  </a:lnTo>
                  <a:lnTo>
                    <a:pt x="1172" y="401"/>
                  </a:lnTo>
                  <a:lnTo>
                    <a:pt x="1161" y="264"/>
                  </a:lnTo>
                  <a:lnTo>
                    <a:pt x="1129" y="213"/>
                  </a:lnTo>
                  <a:lnTo>
                    <a:pt x="1034" y="152"/>
                  </a:lnTo>
                  <a:lnTo>
                    <a:pt x="1065" y="158"/>
                  </a:lnTo>
                  <a:lnTo>
                    <a:pt x="1161" y="201"/>
                  </a:lnTo>
                  <a:lnTo>
                    <a:pt x="1123" y="113"/>
                  </a:lnTo>
                  <a:lnTo>
                    <a:pt x="1091" y="68"/>
                  </a:lnTo>
                  <a:lnTo>
                    <a:pt x="1065" y="38"/>
                  </a:lnTo>
                  <a:lnTo>
                    <a:pt x="959"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5" name="Freeform 298"/>
            <p:cNvSpPr>
              <a:spLocks/>
            </p:cNvSpPr>
            <p:nvPr/>
          </p:nvSpPr>
          <p:spPr bwMode="auto">
            <a:xfrm>
              <a:off x="5500" y="1878"/>
              <a:ext cx="49" cy="44"/>
            </a:xfrm>
            <a:custGeom>
              <a:avLst/>
              <a:gdLst>
                <a:gd name="T0" fmla="*/ 0 w 295"/>
                <a:gd name="T1" fmla="*/ 0 h 263"/>
                <a:gd name="T2" fmla="*/ 0 w 295"/>
                <a:gd name="T3" fmla="*/ 0 h 263"/>
                <a:gd name="T4" fmla="*/ 0 w 295"/>
                <a:gd name="T5" fmla="*/ 0 h 263"/>
                <a:gd name="T6" fmla="*/ 0 w 295"/>
                <a:gd name="T7" fmla="*/ 0 h 263"/>
                <a:gd name="T8" fmla="*/ 0 w 295"/>
                <a:gd name="T9" fmla="*/ 0 h 263"/>
                <a:gd name="T10" fmla="*/ 0 w 295"/>
                <a:gd name="T11" fmla="*/ 0 h 263"/>
                <a:gd name="T12" fmla="*/ 0 w 295"/>
                <a:gd name="T13" fmla="*/ 0 h 263"/>
                <a:gd name="T14" fmla="*/ 0 w 295"/>
                <a:gd name="T15" fmla="*/ 0 h 263"/>
                <a:gd name="T16" fmla="*/ 0 w 295"/>
                <a:gd name="T17" fmla="*/ 0 h 263"/>
                <a:gd name="T18" fmla="*/ 0 w 295"/>
                <a:gd name="T19" fmla="*/ 0 h 263"/>
                <a:gd name="T20" fmla="*/ 0 w 295"/>
                <a:gd name="T21" fmla="*/ 0 h 263"/>
                <a:gd name="T22" fmla="*/ 0 w 295"/>
                <a:gd name="T23" fmla="*/ 0 h 263"/>
                <a:gd name="T24" fmla="*/ 0 w 295"/>
                <a:gd name="T25" fmla="*/ 0 h 263"/>
                <a:gd name="T26" fmla="*/ 0 w 295"/>
                <a:gd name="T27" fmla="*/ 0 h 263"/>
                <a:gd name="T28" fmla="*/ 0 w 295"/>
                <a:gd name="T29" fmla="*/ 0 h 263"/>
                <a:gd name="T30" fmla="*/ 0 w 295"/>
                <a:gd name="T31" fmla="*/ 0 h 263"/>
                <a:gd name="T32" fmla="*/ 0 w 295"/>
                <a:gd name="T33" fmla="*/ 0 h 263"/>
                <a:gd name="T34" fmla="*/ 0 w 295"/>
                <a:gd name="T35" fmla="*/ 0 h 263"/>
                <a:gd name="T36" fmla="*/ 0 w 295"/>
                <a:gd name="T37" fmla="*/ 0 h 263"/>
                <a:gd name="T38" fmla="*/ 0 w 295"/>
                <a:gd name="T39" fmla="*/ 0 h 263"/>
                <a:gd name="T40" fmla="*/ 0 w 295"/>
                <a:gd name="T41" fmla="*/ 0 h 263"/>
                <a:gd name="T42" fmla="*/ 0 w 295"/>
                <a:gd name="T43" fmla="*/ 0 h 263"/>
                <a:gd name="T44" fmla="*/ 0 w 295"/>
                <a:gd name="T45" fmla="*/ 0 h 26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95" h="263">
                  <a:moveTo>
                    <a:pt x="0" y="0"/>
                  </a:moveTo>
                  <a:lnTo>
                    <a:pt x="0" y="21"/>
                  </a:lnTo>
                  <a:lnTo>
                    <a:pt x="38" y="71"/>
                  </a:lnTo>
                  <a:lnTo>
                    <a:pt x="75" y="99"/>
                  </a:lnTo>
                  <a:lnTo>
                    <a:pt x="152" y="158"/>
                  </a:lnTo>
                  <a:lnTo>
                    <a:pt x="184" y="182"/>
                  </a:lnTo>
                  <a:lnTo>
                    <a:pt x="260" y="239"/>
                  </a:lnTo>
                  <a:lnTo>
                    <a:pt x="178" y="213"/>
                  </a:lnTo>
                  <a:lnTo>
                    <a:pt x="97" y="188"/>
                  </a:lnTo>
                  <a:lnTo>
                    <a:pt x="16" y="182"/>
                  </a:lnTo>
                  <a:lnTo>
                    <a:pt x="22" y="207"/>
                  </a:lnTo>
                  <a:lnTo>
                    <a:pt x="152" y="231"/>
                  </a:lnTo>
                  <a:lnTo>
                    <a:pt x="222" y="257"/>
                  </a:lnTo>
                  <a:lnTo>
                    <a:pt x="260" y="263"/>
                  </a:lnTo>
                  <a:lnTo>
                    <a:pt x="292" y="252"/>
                  </a:lnTo>
                  <a:lnTo>
                    <a:pt x="295" y="222"/>
                  </a:lnTo>
                  <a:lnTo>
                    <a:pt x="269" y="199"/>
                  </a:lnTo>
                  <a:lnTo>
                    <a:pt x="232" y="162"/>
                  </a:lnTo>
                  <a:lnTo>
                    <a:pt x="188" y="112"/>
                  </a:lnTo>
                  <a:lnTo>
                    <a:pt x="144" y="56"/>
                  </a:lnTo>
                  <a:lnTo>
                    <a:pt x="91" y="17"/>
                  </a:lnTo>
                  <a:lnTo>
                    <a:pt x="35" y="3"/>
                  </a:lnTo>
                  <a:lnTo>
                    <a:pt x="0"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6" name="Freeform 299"/>
            <p:cNvSpPr>
              <a:spLocks/>
            </p:cNvSpPr>
            <p:nvPr/>
          </p:nvSpPr>
          <p:spPr bwMode="auto">
            <a:xfrm>
              <a:off x="5503" y="1842"/>
              <a:ext cx="44" cy="57"/>
            </a:xfrm>
            <a:custGeom>
              <a:avLst/>
              <a:gdLst>
                <a:gd name="T0" fmla="*/ 0 w 270"/>
                <a:gd name="T1" fmla="*/ 0 h 345"/>
                <a:gd name="T2" fmla="*/ 0 w 270"/>
                <a:gd name="T3" fmla="*/ 0 h 345"/>
                <a:gd name="T4" fmla="*/ 0 w 270"/>
                <a:gd name="T5" fmla="*/ 0 h 345"/>
                <a:gd name="T6" fmla="*/ 0 w 270"/>
                <a:gd name="T7" fmla="*/ 0 h 345"/>
                <a:gd name="T8" fmla="*/ 0 w 270"/>
                <a:gd name="T9" fmla="*/ 0 h 345"/>
                <a:gd name="T10" fmla="*/ 0 w 270"/>
                <a:gd name="T11" fmla="*/ 0 h 345"/>
                <a:gd name="T12" fmla="*/ 0 w 270"/>
                <a:gd name="T13" fmla="*/ 0 h 345"/>
                <a:gd name="T14" fmla="*/ 0 w 270"/>
                <a:gd name="T15" fmla="*/ 0 h 345"/>
                <a:gd name="T16" fmla="*/ 0 w 270"/>
                <a:gd name="T17" fmla="*/ 0 h 345"/>
                <a:gd name="T18" fmla="*/ 0 w 270"/>
                <a:gd name="T19" fmla="*/ 0 h 345"/>
                <a:gd name="T20" fmla="*/ 0 w 270"/>
                <a:gd name="T21" fmla="*/ 0 h 345"/>
                <a:gd name="T22" fmla="*/ 0 w 270"/>
                <a:gd name="T23" fmla="*/ 0 h 345"/>
                <a:gd name="T24" fmla="*/ 0 w 270"/>
                <a:gd name="T25" fmla="*/ 0 h 345"/>
                <a:gd name="T26" fmla="*/ 0 w 270"/>
                <a:gd name="T27" fmla="*/ 0 h 345"/>
                <a:gd name="T28" fmla="*/ 0 w 270"/>
                <a:gd name="T29" fmla="*/ 0 h 345"/>
                <a:gd name="T30" fmla="*/ 0 w 270"/>
                <a:gd name="T31" fmla="*/ 0 h 345"/>
                <a:gd name="T32" fmla="*/ 0 w 270"/>
                <a:gd name="T33" fmla="*/ 0 h 34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270" h="345">
                  <a:moveTo>
                    <a:pt x="51" y="0"/>
                  </a:moveTo>
                  <a:lnTo>
                    <a:pt x="13" y="7"/>
                  </a:lnTo>
                  <a:lnTo>
                    <a:pt x="0" y="39"/>
                  </a:lnTo>
                  <a:lnTo>
                    <a:pt x="3" y="65"/>
                  </a:lnTo>
                  <a:lnTo>
                    <a:pt x="26" y="101"/>
                  </a:lnTo>
                  <a:lnTo>
                    <a:pt x="57" y="112"/>
                  </a:lnTo>
                  <a:lnTo>
                    <a:pt x="116" y="149"/>
                  </a:lnTo>
                  <a:lnTo>
                    <a:pt x="172" y="195"/>
                  </a:lnTo>
                  <a:lnTo>
                    <a:pt x="212" y="259"/>
                  </a:lnTo>
                  <a:lnTo>
                    <a:pt x="257" y="325"/>
                  </a:lnTo>
                  <a:lnTo>
                    <a:pt x="270" y="345"/>
                  </a:lnTo>
                  <a:lnTo>
                    <a:pt x="257" y="267"/>
                  </a:lnTo>
                  <a:lnTo>
                    <a:pt x="247" y="198"/>
                  </a:lnTo>
                  <a:lnTo>
                    <a:pt x="225" y="140"/>
                  </a:lnTo>
                  <a:lnTo>
                    <a:pt x="188" y="86"/>
                  </a:lnTo>
                  <a:lnTo>
                    <a:pt x="90" y="10"/>
                  </a:lnTo>
                  <a:lnTo>
                    <a:pt x="51"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7" name="Freeform 300"/>
            <p:cNvSpPr>
              <a:spLocks/>
            </p:cNvSpPr>
            <p:nvPr/>
          </p:nvSpPr>
          <p:spPr bwMode="auto">
            <a:xfrm>
              <a:off x="5494" y="1785"/>
              <a:ext cx="48" cy="34"/>
            </a:xfrm>
            <a:custGeom>
              <a:avLst/>
              <a:gdLst>
                <a:gd name="T0" fmla="*/ 0 w 287"/>
                <a:gd name="T1" fmla="*/ 0 h 199"/>
                <a:gd name="T2" fmla="*/ 0 w 287"/>
                <a:gd name="T3" fmla="*/ 0 h 199"/>
                <a:gd name="T4" fmla="*/ 0 w 287"/>
                <a:gd name="T5" fmla="*/ 0 h 199"/>
                <a:gd name="T6" fmla="*/ 0 w 287"/>
                <a:gd name="T7" fmla="*/ 0 h 199"/>
                <a:gd name="T8" fmla="*/ 0 w 287"/>
                <a:gd name="T9" fmla="*/ 0 h 199"/>
                <a:gd name="T10" fmla="*/ 0 w 287"/>
                <a:gd name="T11" fmla="*/ 0 h 199"/>
                <a:gd name="T12" fmla="*/ 0 w 287"/>
                <a:gd name="T13" fmla="*/ 0 h 199"/>
                <a:gd name="T14" fmla="*/ 0 w 287"/>
                <a:gd name="T15" fmla="*/ 0 h 199"/>
                <a:gd name="T16" fmla="*/ 0 w 287"/>
                <a:gd name="T17" fmla="*/ 0 h 199"/>
                <a:gd name="T18" fmla="*/ 0 w 287"/>
                <a:gd name="T19" fmla="*/ 0 h 19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87" h="199">
                  <a:moveTo>
                    <a:pt x="0" y="199"/>
                  </a:moveTo>
                  <a:lnTo>
                    <a:pt x="49" y="156"/>
                  </a:lnTo>
                  <a:lnTo>
                    <a:pt x="130" y="125"/>
                  </a:lnTo>
                  <a:lnTo>
                    <a:pt x="185" y="111"/>
                  </a:lnTo>
                  <a:lnTo>
                    <a:pt x="287" y="0"/>
                  </a:lnTo>
                  <a:lnTo>
                    <a:pt x="211" y="44"/>
                  </a:lnTo>
                  <a:lnTo>
                    <a:pt x="142" y="74"/>
                  </a:lnTo>
                  <a:lnTo>
                    <a:pt x="93" y="99"/>
                  </a:lnTo>
                  <a:lnTo>
                    <a:pt x="68" y="125"/>
                  </a:lnTo>
                  <a:lnTo>
                    <a:pt x="0" y="199"/>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8" name="Freeform 301"/>
            <p:cNvSpPr>
              <a:spLocks/>
            </p:cNvSpPr>
            <p:nvPr/>
          </p:nvSpPr>
          <p:spPr bwMode="auto">
            <a:xfrm>
              <a:off x="5458" y="1846"/>
              <a:ext cx="27" cy="86"/>
            </a:xfrm>
            <a:custGeom>
              <a:avLst/>
              <a:gdLst>
                <a:gd name="T0" fmla="*/ 0 w 162"/>
                <a:gd name="T1" fmla="*/ 0 h 514"/>
                <a:gd name="T2" fmla="*/ 0 w 162"/>
                <a:gd name="T3" fmla="*/ 0 h 514"/>
                <a:gd name="T4" fmla="*/ 0 w 162"/>
                <a:gd name="T5" fmla="*/ 0 h 514"/>
                <a:gd name="T6" fmla="*/ 0 w 162"/>
                <a:gd name="T7" fmla="*/ 0 h 514"/>
                <a:gd name="T8" fmla="*/ 0 w 162"/>
                <a:gd name="T9" fmla="*/ 0 h 514"/>
                <a:gd name="T10" fmla="*/ 0 w 162"/>
                <a:gd name="T11" fmla="*/ 0 h 514"/>
                <a:gd name="T12" fmla="*/ 0 w 162"/>
                <a:gd name="T13" fmla="*/ 0 h 514"/>
                <a:gd name="T14" fmla="*/ 0 w 162"/>
                <a:gd name="T15" fmla="*/ 0 h 514"/>
                <a:gd name="T16" fmla="*/ 0 w 162"/>
                <a:gd name="T17" fmla="*/ 0 h 514"/>
                <a:gd name="T18" fmla="*/ 0 w 162"/>
                <a:gd name="T19" fmla="*/ 0 h 514"/>
                <a:gd name="T20" fmla="*/ 0 w 162"/>
                <a:gd name="T21" fmla="*/ 0 h 514"/>
                <a:gd name="T22" fmla="*/ 0 w 162"/>
                <a:gd name="T23" fmla="*/ 0 h 514"/>
                <a:gd name="T24" fmla="*/ 0 w 162"/>
                <a:gd name="T25" fmla="*/ 0 h 514"/>
                <a:gd name="T26" fmla="*/ 0 w 162"/>
                <a:gd name="T27" fmla="*/ 0 h 514"/>
                <a:gd name="T28" fmla="*/ 0 w 162"/>
                <a:gd name="T29" fmla="*/ 0 h 514"/>
                <a:gd name="T30" fmla="*/ 0 w 162"/>
                <a:gd name="T31" fmla="*/ 0 h 514"/>
                <a:gd name="T32" fmla="*/ 0 w 162"/>
                <a:gd name="T33" fmla="*/ 0 h 514"/>
                <a:gd name="T34" fmla="*/ 0 w 162"/>
                <a:gd name="T35" fmla="*/ 0 h 514"/>
                <a:gd name="T36" fmla="*/ 0 w 162"/>
                <a:gd name="T37" fmla="*/ 0 h 514"/>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62" h="514">
                  <a:moveTo>
                    <a:pt x="0" y="514"/>
                  </a:moveTo>
                  <a:lnTo>
                    <a:pt x="81" y="514"/>
                  </a:lnTo>
                  <a:lnTo>
                    <a:pt x="106" y="508"/>
                  </a:lnTo>
                  <a:lnTo>
                    <a:pt x="106" y="489"/>
                  </a:lnTo>
                  <a:lnTo>
                    <a:pt x="124" y="470"/>
                  </a:lnTo>
                  <a:lnTo>
                    <a:pt x="150" y="451"/>
                  </a:lnTo>
                  <a:lnTo>
                    <a:pt x="137" y="433"/>
                  </a:lnTo>
                  <a:lnTo>
                    <a:pt x="137" y="407"/>
                  </a:lnTo>
                  <a:lnTo>
                    <a:pt x="156" y="376"/>
                  </a:lnTo>
                  <a:lnTo>
                    <a:pt x="156" y="344"/>
                  </a:lnTo>
                  <a:lnTo>
                    <a:pt x="144" y="306"/>
                  </a:lnTo>
                  <a:lnTo>
                    <a:pt x="144" y="224"/>
                  </a:lnTo>
                  <a:lnTo>
                    <a:pt x="162" y="150"/>
                  </a:lnTo>
                  <a:lnTo>
                    <a:pt x="156" y="94"/>
                  </a:lnTo>
                  <a:lnTo>
                    <a:pt x="156" y="0"/>
                  </a:lnTo>
                  <a:lnTo>
                    <a:pt x="106" y="142"/>
                  </a:lnTo>
                  <a:lnTo>
                    <a:pt x="62" y="275"/>
                  </a:lnTo>
                  <a:lnTo>
                    <a:pt x="32" y="419"/>
                  </a:lnTo>
                  <a:lnTo>
                    <a:pt x="0" y="514"/>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9" name="Freeform 302"/>
            <p:cNvSpPr>
              <a:spLocks/>
            </p:cNvSpPr>
            <p:nvPr/>
          </p:nvSpPr>
          <p:spPr bwMode="auto">
            <a:xfrm>
              <a:off x="5498" y="1939"/>
              <a:ext cx="48" cy="16"/>
            </a:xfrm>
            <a:custGeom>
              <a:avLst/>
              <a:gdLst>
                <a:gd name="T0" fmla="*/ 0 w 289"/>
                <a:gd name="T1" fmla="*/ 0 h 97"/>
                <a:gd name="T2" fmla="*/ 0 w 289"/>
                <a:gd name="T3" fmla="*/ 0 h 97"/>
                <a:gd name="T4" fmla="*/ 0 w 289"/>
                <a:gd name="T5" fmla="*/ 0 h 97"/>
                <a:gd name="T6" fmla="*/ 0 w 289"/>
                <a:gd name="T7" fmla="*/ 0 h 97"/>
                <a:gd name="T8" fmla="*/ 0 w 289"/>
                <a:gd name="T9" fmla="*/ 0 h 97"/>
                <a:gd name="T10" fmla="*/ 0 w 289"/>
                <a:gd name="T11" fmla="*/ 0 h 97"/>
                <a:gd name="T12" fmla="*/ 0 w 289"/>
                <a:gd name="T13" fmla="*/ 0 h 97"/>
                <a:gd name="T14" fmla="*/ 0 w 289"/>
                <a:gd name="T15" fmla="*/ 0 h 97"/>
                <a:gd name="T16" fmla="*/ 0 w 289"/>
                <a:gd name="T17" fmla="*/ 0 h 97"/>
                <a:gd name="T18" fmla="*/ 0 w 289"/>
                <a:gd name="T19" fmla="*/ 0 h 97"/>
                <a:gd name="T20" fmla="*/ 0 w 289"/>
                <a:gd name="T21" fmla="*/ 0 h 9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89" h="97">
                  <a:moveTo>
                    <a:pt x="232" y="47"/>
                  </a:moveTo>
                  <a:lnTo>
                    <a:pt x="168" y="19"/>
                  </a:lnTo>
                  <a:lnTo>
                    <a:pt x="110" y="4"/>
                  </a:lnTo>
                  <a:lnTo>
                    <a:pt x="32" y="0"/>
                  </a:lnTo>
                  <a:lnTo>
                    <a:pt x="0" y="6"/>
                  </a:lnTo>
                  <a:lnTo>
                    <a:pt x="15" y="37"/>
                  </a:lnTo>
                  <a:lnTo>
                    <a:pt x="45" y="61"/>
                  </a:lnTo>
                  <a:lnTo>
                    <a:pt x="113" y="79"/>
                  </a:lnTo>
                  <a:lnTo>
                    <a:pt x="219" y="97"/>
                  </a:lnTo>
                  <a:lnTo>
                    <a:pt x="289" y="91"/>
                  </a:lnTo>
                  <a:lnTo>
                    <a:pt x="232" y="4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0" name="Freeform 303"/>
            <p:cNvSpPr>
              <a:spLocks/>
            </p:cNvSpPr>
            <p:nvPr/>
          </p:nvSpPr>
          <p:spPr bwMode="auto">
            <a:xfrm>
              <a:off x="5458" y="1947"/>
              <a:ext cx="30" cy="36"/>
            </a:xfrm>
            <a:custGeom>
              <a:avLst/>
              <a:gdLst>
                <a:gd name="T0" fmla="*/ 0 w 176"/>
                <a:gd name="T1" fmla="*/ 0 h 216"/>
                <a:gd name="T2" fmla="*/ 0 w 176"/>
                <a:gd name="T3" fmla="*/ 0 h 216"/>
                <a:gd name="T4" fmla="*/ 0 w 176"/>
                <a:gd name="T5" fmla="*/ 0 h 216"/>
                <a:gd name="T6" fmla="*/ 0 w 176"/>
                <a:gd name="T7" fmla="*/ 0 h 216"/>
                <a:gd name="T8" fmla="*/ 0 w 176"/>
                <a:gd name="T9" fmla="*/ 0 h 216"/>
                <a:gd name="T10" fmla="*/ 0 w 176"/>
                <a:gd name="T11" fmla="*/ 0 h 216"/>
                <a:gd name="T12" fmla="*/ 0 w 176"/>
                <a:gd name="T13" fmla="*/ 0 h 216"/>
                <a:gd name="T14" fmla="*/ 0 w 176"/>
                <a:gd name="T15" fmla="*/ 0 h 216"/>
                <a:gd name="T16" fmla="*/ 0 w 176"/>
                <a:gd name="T17" fmla="*/ 0 h 216"/>
                <a:gd name="T18" fmla="*/ 0 w 176"/>
                <a:gd name="T19" fmla="*/ 0 h 216"/>
                <a:gd name="T20" fmla="*/ 0 w 176"/>
                <a:gd name="T21" fmla="*/ 0 h 216"/>
                <a:gd name="T22" fmla="*/ 0 w 176"/>
                <a:gd name="T23" fmla="*/ 0 h 216"/>
                <a:gd name="T24" fmla="*/ 0 w 176"/>
                <a:gd name="T25" fmla="*/ 0 h 21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6" h="216">
                  <a:moveTo>
                    <a:pt x="81" y="59"/>
                  </a:moveTo>
                  <a:lnTo>
                    <a:pt x="59" y="14"/>
                  </a:lnTo>
                  <a:lnTo>
                    <a:pt x="26" y="0"/>
                  </a:lnTo>
                  <a:lnTo>
                    <a:pt x="3" y="11"/>
                  </a:lnTo>
                  <a:lnTo>
                    <a:pt x="0" y="35"/>
                  </a:lnTo>
                  <a:lnTo>
                    <a:pt x="15" y="76"/>
                  </a:lnTo>
                  <a:lnTo>
                    <a:pt x="40" y="115"/>
                  </a:lnTo>
                  <a:lnTo>
                    <a:pt x="71" y="150"/>
                  </a:lnTo>
                  <a:lnTo>
                    <a:pt x="113" y="185"/>
                  </a:lnTo>
                  <a:lnTo>
                    <a:pt x="176" y="216"/>
                  </a:lnTo>
                  <a:lnTo>
                    <a:pt x="119" y="153"/>
                  </a:lnTo>
                  <a:lnTo>
                    <a:pt x="100" y="108"/>
                  </a:lnTo>
                  <a:lnTo>
                    <a:pt x="81" y="59"/>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1" name="Freeform 304"/>
            <p:cNvSpPr>
              <a:spLocks/>
            </p:cNvSpPr>
            <p:nvPr/>
          </p:nvSpPr>
          <p:spPr bwMode="auto">
            <a:xfrm>
              <a:off x="5506" y="1757"/>
              <a:ext cx="70" cy="44"/>
            </a:xfrm>
            <a:custGeom>
              <a:avLst/>
              <a:gdLst>
                <a:gd name="T0" fmla="*/ 0 w 418"/>
                <a:gd name="T1" fmla="*/ 0 h 260"/>
                <a:gd name="T2" fmla="*/ 0 w 418"/>
                <a:gd name="T3" fmla="*/ 0 h 260"/>
                <a:gd name="T4" fmla="*/ 0 w 418"/>
                <a:gd name="T5" fmla="*/ 0 h 260"/>
                <a:gd name="T6" fmla="*/ 0 w 418"/>
                <a:gd name="T7" fmla="*/ 0 h 260"/>
                <a:gd name="T8" fmla="*/ 0 w 418"/>
                <a:gd name="T9" fmla="*/ 0 h 260"/>
                <a:gd name="T10" fmla="*/ 0 w 418"/>
                <a:gd name="T11" fmla="*/ 0 h 260"/>
                <a:gd name="T12" fmla="*/ 0 w 418"/>
                <a:gd name="T13" fmla="*/ 0 h 260"/>
                <a:gd name="T14" fmla="*/ 0 w 418"/>
                <a:gd name="T15" fmla="*/ 0 h 260"/>
                <a:gd name="T16" fmla="*/ 0 w 418"/>
                <a:gd name="T17" fmla="*/ 0 h 260"/>
                <a:gd name="T18" fmla="*/ 0 w 418"/>
                <a:gd name="T19" fmla="*/ 0 h 260"/>
                <a:gd name="T20" fmla="*/ 0 w 418"/>
                <a:gd name="T21" fmla="*/ 0 h 260"/>
                <a:gd name="T22" fmla="*/ 0 w 418"/>
                <a:gd name="T23" fmla="*/ 0 h 26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418" h="260">
                  <a:moveTo>
                    <a:pt x="0" y="260"/>
                  </a:moveTo>
                  <a:lnTo>
                    <a:pt x="13" y="153"/>
                  </a:lnTo>
                  <a:lnTo>
                    <a:pt x="101" y="116"/>
                  </a:lnTo>
                  <a:lnTo>
                    <a:pt x="220" y="69"/>
                  </a:lnTo>
                  <a:lnTo>
                    <a:pt x="304" y="35"/>
                  </a:lnTo>
                  <a:lnTo>
                    <a:pt x="386" y="0"/>
                  </a:lnTo>
                  <a:lnTo>
                    <a:pt x="418" y="76"/>
                  </a:lnTo>
                  <a:lnTo>
                    <a:pt x="341" y="119"/>
                  </a:lnTo>
                  <a:lnTo>
                    <a:pt x="252" y="150"/>
                  </a:lnTo>
                  <a:lnTo>
                    <a:pt x="182" y="170"/>
                  </a:lnTo>
                  <a:lnTo>
                    <a:pt x="98" y="216"/>
                  </a:lnTo>
                  <a:lnTo>
                    <a:pt x="0" y="26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12" name="Group 305"/>
          <p:cNvGrpSpPr>
            <a:grpSpLocks/>
          </p:cNvGrpSpPr>
          <p:nvPr/>
        </p:nvGrpSpPr>
        <p:grpSpPr bwMode="auto">
          <a:xfrm>
            <a:off x="7199967" y="3333548"/>
            <a:ext cx="144954" cy="180263"/>
            <a:chOff x="5511" y="1960"/>
            <a:chExt cx="144" cy="194"/>
          </a:xfrm>
        </p:grpSpPr>
        <p:sp>
          <p:nvSpPr>
            <p:cNvPr id="313" name="Freeform 306"/>
            <p:cNvSpPr>
              <a:spLocks/>
            </p:cNvSpPr>
            <p:nvPr/>
          </p:nvSpPr>
          <p:spPr bwMode="auto">
            <a:xfrm>
              <a:off x="5511" y="1960"/>
              <a:ext cx="144" cy="194"/>
            </a:xfrm>
            <a:custGeom>
              <a:avLst/>
              <a:gdLst>
                <a:gd name="T0" fmla="*/ 0 w 863"/>
                <a:gd name="T1" fmla="*/ 0 h 1164"/>
                <a:gd name="T2" fmla="*/ 0 w 863"/>
                <a:gd name="T3" fmla="*/ 0 h 1164"/>
                <a:gd name="T4" fmla="*/ 0 w 863"/>
                <a:gd name="T5" fmla="*/ 0 h 1164"/>
                <a:gd name="T6" fmla="*/ 0 w 863"/>
                <a:gd name="T7" fmla="*/ 0 h 1164"/>
                <a:gd name="T8" fmla="*/ 0 w 863"/>
                <a:gd name="T9" fmla="*/ 0 h 1164"/>
                <a:gd name="T10" fmla="*/ 0 w 863"/>
                <a:gd name="T11" fmla="*/ 0 h 1164"/>
                <a:gd name="T12" fmla="*/ 0 w 863"/>
                <a:gd name="T13" fmla="*/ 0 h 1164"/>
                <a:gd name="T14" fmla="*/ 0 w 863"/>
                <a:gd name="T15" fmla="*/ 0 h 1164"/>
                <a:gd name="T16" fmla="*/ 0 w 863"/>
                <a:gd name="T17" fmla="*/ 0 h 1164"/>
                <a:gd name="T18" fmla="*/ 0 w 863"/>
                <a:gd name="T19" fmla="*/ 0 h 1164"/>
                <a:gd name="T20" fmla="*/ 0 w 863"/>
                <a:gd name="T21" fmla="*/ 0 h 1164"/>
                <a:gd name="T22" fmla="*/ 0 w 863"/>
                <a:gd name="T23" fmla="*/ 0 h 1164"/>
                <a:gd name="T24" fmla="*/ 0 w 863"/>
                <a:gd name="T25" fmla="*/ 0 h 1164"/>
                <a:gd name="T26" fmla="*/ 0 w 863"/>
                <a:gd name="T27" fmla="*/ 0 h 1164"/>
                <a:gd name="T28" fmla="*/ 0 w 863"/>
                <a:gd name="T29" fmla="*/ 0 h 1164"/>
                <a:gd name="T30" fmla="*/ 0 w 863"/>
                <a:gd name="T31" fmla="*/ 0 h 1164"/>
                <a:gd name="T32" fmla="*/ 0 w 863"/>
                <a:gd name="T33" fmla="*/ 0 h 1164"/>
                <a:gd name="T34" fmla="*/ 0 w 863"/>
                <a:gd name="T35" fmla="*/ 0 h 1164"/>
                <a:gd name="T36" fmla="*/ 0 w 863"/>
                <a:gd name="T37" fmla="*/ 0 h 1164"/>
                <a:gd name="T38" fmla="*/ 0 w 863"/>
                <a:gd name="T39" fmla="*/ 0 h 1164"/>
                <a:gd name="T40" fmla="*/ 0 w 863"/>
                <a:gd name="T41" fmla="*/ 0 h 1164"/>
                <a:gd name="T42" fmla="*/ 0 w 863"/>
                <a:gd name="T43" fmla="*/ 0 h 1164"/>
                <a:gd name="T44" fmla="*/ 0 w 863"/>
                <a:gd name="T45" fmla="*/ 0 h 1164"/>
                <a:gd name="T46" fmla="*/ 0 w 863"/>
                <a:gd name="T47" fmla="*/ 0 h 1164"/>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863" h="1164">
                  <a:moveTo>
                    <a:pt x="385" y="172"/>
                  </a:moveTo>
                  <a:lnTo>
                    <a:pt x="543" y="158"/>
                  </a:lnTo>
                  <a:lnTo>
                    <a:pt x="637" y="133"/>
                  </a:lnTo>
                  <a:lnTo>
                    <a:pt x="667" y="90"/>
                  </a:lnTo>
                  <a:lnTo>
                    <a:pt x="667" y="52"/>
                  </a:lnTo>
                  <a:lnTo>
                    <a:pt x="694" y="20"/>
                  </a:lnTo>
                  <a:lnTo>
                    <a:pt x="782" y="0"/>
                  </a:lnTo>
                  <a:lnTo>
                    <a:pt x="863" y="7"/>
                  </a:lnTo>
                  <a:lnTo>
                    <a:pt x="763" y="907"/>
                  </a:lnTo>
                  <a:lnTo>
                    <a:pt x="694" y="990"/>
                  </a:lnTo>
                  <a:lnTo>
                    <a:pt x="605" y="1071"/>
                  </a:lnTo>
                  <a:lnTo>
                    <a:pt x="481" y="1134"/>
                  </a:lnTo>
                  <a:lnTo>
                    <a:pt x="334" y="1153"/>
                  </a:lnTo>
                  <a:lnTo>
                    <a:pt x="138" y="1164"/>
                  </a:lnTo>
                  <a:lnTo>
                    <a:pt x="25" y="1147"/>
                  </a:lnTo>
                  <a:lnTo>
                    <a:pt x="0" y="1083"/>
                  </a:lnTo>
                  <a:lnTo>
                    <a:pt x="13" y="1001"/>
                  </a:lnTo>
                  <a:lnTo>
                    <a:pt x="95" y="750"/>
                  </a:lnTo>
                  <a:lnTo>
                    <a:pt x="163" y="499"/>
                  </a:lnTo>
                  <a:lnTo>
                    <a:pt x="195" y="310"/>
                  </a:lnTo>
                  <a:lnTo>
                    <a:pt x="195" y="259"/>
                  </a:lnTo>
                  <a:lnTo>
                    <a:pt x="239" y="190"/>
                  </a:lnTo>
                  <a:lnTo>
                    <a:pt x="291" y="172"/>
                  </a:lnTo>
                  <a:lnTo>
                    <a:pt x="385" y="172"/>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4" name="Freeform 307"/>
            <p:cNvSpPr>
              <a:spLocks/>
            </p:cNvSpPr>
            <p:nvPr/>
          </p:nvSpPr>
          <p:spPr bwMode="auto">
            <a:xfrm>
              <a:off x="5528" y="1970"/>
              <a:ext cx="124" cy="177"/>
            </a:xfrm>
            <a:custGeom>
              <a:avLst/>
              <a:gdLst>
                <a:gd name="T0" fmla="*/ 0 w 743"/>
                <a:gd name="T1" fmla="*/ 0 h 1068"/>
                <a:gd name="T2" fmla="*/ 0 w 743"/>
                <a:gd name="T3" fmla="*/ 0 h 1068"/>
                <a:gd name="T4" fmla="*/ 0 w 743"/>
                <a:gd name="T5" fmla="*/ 0 h 1068"/>
                <a:gd name="T6" fmla="*/ 0 w 743"/>
                <a:gd name="T7" fmla="*/ 0 h 1068"/>
                <a:gd name="T8" fmla="*/ 0 w 743"/>
                <a:gd name="T9" fmla="*/ 0 h 1068"/>
                <a:gd name="T10" fmla="*/ 0 w 743"/>
                <a:gd name="T11" fmla="*/ 0 h 1068"/>
                <a:gd name="T12" fmla="*/ 0 w 743"/>
                <a:gd name="T13" fmla="*/ 0 h 1068"/>
                <a:gd name="T14" fmla="*/ 0 w 743"/>
                <a:gd name="T15" fmla="*/ 0 h 1068"/>
                <a:gd name="T16" fmla="*/ 0 w 743"/>
                <a:gd name="T17" fmla="*/ 0 h 1068"/>
                <a:gd name="T18" fmla="*/ 0 w 743"/>
                <a:gd name="T19" fmla="*/ 0 h 1068"/>
                <a:gd name="T20" fmla="*/ 0 w 743"/>
                <a:gd name="T21" fmla="*/ 0 h 1068"/>
                <a:gd name="T22" fmla="*/ 0 w 743"/>
                <a:gd name="T23" fmla="*/ 0 h 1068"/>
                <a:gd name="T24" fmla="*/ 0 w 743"/>
                <a:gd name="T25" fmla="*/ 0 h 1068"/>
                <a:gd name="T26" fmla="*/ 0 w 743"/>
                <a:gd name="T27" fmla="*/ 0 h 1068"/>
                <a:gd name="T28" fmla="*/ 0 w 743"/>
                <a:gd name="T29" fmla="*/ 0 h 1068"/>
                <a:gd name="T30" fmla="*/ 0 w 743"/>
                <a:gd name="T31" fmla="*/ 0 h 1068"/>
                <a:gd name="T32" fmla="*/ 0 w 743"/>
                <a:gd name="T33" fmla="*/ 0 h 1068"/>
                <a:gd name="T34" fmla="*/ 0 w 743"/>
                <a:gd name="T35" fmla="*/ 0 h 1068"/>
                <a:gd name="T36" fmla="*/ 0 w 743"/>
                <a:gd name="T37" fmla="*/ 0 h 1068"/>
                <a:gd name="T38" fmla="*/ 0 w 743"/>
                <a:gd name="T39" fmla="*/ 0 h 1068"/>
                <a:gd name="T40" fmla="*/ 0 w 743"/>
                <a:gd name="T41" fmla="*/ 0 h 1068"/>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743" h="1068">
                  <a:moveTo>
                    <a:pt x="257" y="214"/>
                  </a:moveTo>
                  <a:lnTo>
                    <a:pt x="397" y="207"/>
                  </a:lnTo>
                  <a:lnTo>
                    <a:pt x="542" y="182"/>
                  </a:lnTo>
                  <a:lnTo>
                    <a:pt x="628" y="138"/>
                  </a:lnTo>
                  <a:lnTo>
                    <a:pt x="679" y="100"/>
                  </a:lnTo>
                  <a:lnTo>
                    <a:pt x="743" y="0"/>
                  </a:lnTo>
                  <a:lnTo>
                    <a:pt x="648" y="822"/>
                  </a:lnTo>
                  <a:lnTo>
                    <a:pt x="585" y="898"/>
                  </a:lnTo>
                  <a:lnTo>
                    <a:pt x="516" y="967"/>
                  </a:lnTo>
                  <a:lnTo>
                    <a:pt x="428" y="1016"/>
                  </a:lnTo>
                  <a:lnTo>
                    <a:pt x="353" y="1042"/>
                  </a:lnTo>
                  <a:lnTo>
                    <a:pt x="257" y="1055"/>
                  </a:lnTo>
                  <a:lnTo>
                    <a:pt x="170" y="1068"/>
                  </a:lnTo>
                  <a:lnTo>
                    <a:pt x="69" y="1068"/>
                  </a:lnTo>
                  <a:lnTo>
                    <a:pt x="24" y="1055"/>
                  </a:lnTo>
                  <a:lnTo>
                    <a:pt x="0" y="1016"/>
                  </a:lnTo>
                  <a:lnTo>
                    <a:pt x="11" y="956"/>
                  </a:lnTo>
                  <a:lnTo>
                    <a:pt x="75" y="809"/>
                  </a:lnTo>
                  <a:lnTo>
                    <a:pt x="184" y="321"/>
                  </a:lnTo>
                  <a:lnTo>
                    <a:pt x="201" y="252"/>
                  </a:lnTo>
                  <a:lnTo>
                    <a:pt x="257" y="21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15" name="Oval 308"/>
          <p:cNvSpPr>
            <a:spLocks noChangeArrowheads="1"/>
          </p:cNvSpPr>
          <p:nvPr/>
        </p:nvSpPr>
        <p:spPr bwMode="auto">
          <a:xfrm>
            <a:off x="6729874" y="3187665"/>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6" name="Oval 309"/>
          <p:cNvSpPr>
            <a:spLocks noChangeArrowheads="1"/>
          </p:cNvSpPr>
          <p:nvPr/>
        </p:nvSpPr>
        <p:spPr bwMode="auto">
          <a:xfrm>
            <a:off x="2763778" y="3028773"/>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317" name="Group 310"/>
          <p:cNvGrpSpPr>
            <a:grpSpLocks/>
          </p:cNvGrpSpPr>
          <p:nvPr/>
        </p:nvGrpSpPr>
        <p:grpSpPr bwMode="auto">
          <a:xfrm>
            <a:off x="3006374" y="3092887"/>
            <a:ext cx="289908" cy="267607"/>
            <a:chOff x="2351" y="2975"/>
            <a:chExt cx="481" cy="433"/>
          </a:xfrm>
          <a:effectLst/>
        </p:grpSpPr>
        <p:sp>
          <p:nvSpPr>
            <p:cNvPr id="318" name="Rectangle 311"/>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9" name="Line 312"/>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0" name="Line 313"/>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1" name="Line 314"/>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2" name="Line 315"/>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3" name="Line 316"/>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4" name="Line 317"/>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5" name="Line 318"/>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6" name="Line 319"/>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7" name="Group 320"/>
          <p:cNvGrpSpPr>
            <a:grpSpLocks/>
          </p:cNvGrpSpPr>
          <p:nvPr/>
        </p:nvGrpSpPr>
        <p:grpSpPr bwMode="auto">
          <a:xfrm>
            <a:off x="2939937" y="3416246"/>
            <a:ext cx="463047" cy="267607"/>
            <a:chOff x="1296" y="768"/>
            <a:chExt cx="556" cy="336"/>
          </a:xfrm>
          <a:effectLst/>
        </p:grpSpPr>
        <p:sp>
          <p:nvSpPr>
            <p:cNvPr id="328" name="Rectangle 321"/>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29" name="Group 322"/>
            <p:cNvGrpSpPr>
              <a:grpSpLocks/>
            </p:cNvGrpSpPr>
            <p:nvPr/>
          </p:nvGrpSpPr>
          <p:grpSpPr bwMode="auto">
            <a:xfrm>
              <a:off x="1367" y="829"/>
              <a:ext cx="393" cy="214"/>
              <a:chOff x="2928" y="3744"/>
              <a:chExt cx="528" cy="336"/>
            </a:xfrm>
          </p:grpSpPr>
          <p:grpSp>
            <p:nvGrpSpPr>
              <p:cNvPr id="330" name="Group 323"/>
              <p:cNvGrpSpPr>
                <a:grpSpLocks/>
              </p:cNvGrpSpPr>
              <p:nvPr/>
            </p:nvGrpSpPr>
            <p:grpSpPr bwMode="auto">
              <a:xfrm>
                <a:off x="3024" y="3744"/>
                <a:ext cx="432" cy="240"/>
                <a:chOff x="2736" y="3648"/>
                <a:chExt cx="432" cy="240"/>
              </a:xfrm>
            </p:grpSpPr>
            <p:grpSp>
              <p:nvGrpSpPr>
                <p:cNvPr id="345" name="Group 324"/>
                <p:cNvGrpSpPr>
                  <a:grpSpLocks/>
                </p:cNvGrpSpPr>
                <p:nvPr/>
              </p:nvGrpSpPr>
              <p:grpSpPr bwMode="auto">
                <a:xfrm>
                  <a:off x="2736" y="3648"/>
                  <a:ext cx="432" cy="240"/>
                  <a:chOff x="2592" y="3504"/>
                  <a:chExt cx="576" cy="384"/>
                </a:xfrm>
              </p:grpSpPr>
              <p:sp>
                <p:nvSpPr>
                  <p:cNvPr id="347" name="Rectangle 325"/>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8" name="Freeform 326"/>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9" name="Line 327"/>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0" name="Line 328"/>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6" name="Line 329"/>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1" name="Group 330"/>
              <p:cNvGrpSpPr>
                <a:grpSpLocks/>
              </p:cNvGrpSpPr>
              <p:nvPr/>
            </p:nvGrpSpPr>
            <p:grpSpPr bwMode="auto">
              <a:xfrm>
                <a:off x="2976" y="3792"/>
                <a:ext cx="432" cy="240"/>
                <a:chOff x="2736" y="3648"/>
                <a:chExt cx="432" cy="240"/>
              </a:xfrm>
            </p:grpSpPr>
            <p:grpSp>
              <p:nvGrpSpPr>
                <p:cNvPr id="339" name="Group 331"/>
                <p:cNvGrpSpPr>
                  <a:grpSpLocks/>
                </p:cNvGrpSpPr>
                <p:nvPr/>
              </p:nvGrpSpPr>
              <p:grpSpPr bwMode="auto">
                <a:xfrm>
                  <a:off x="2736" y="3648"/>
                  <a:ext cx="432" cy="240"/>
                  <a:chOff x="2592" y="3504"/>
                  <a:chExt cx="576" cy="384"/>
                </a:xfrm>
              </p:grpSpPr>
              <p:sp>
                <p:nvSpPr>
                  <p:cNvPr id="341" name="Rectangle 332"/>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2" name="Freeform 333"/>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3" name="Line 334"/>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4" name="Line 335"/>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0" name="Line 336"/>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2" name="Group 337"/>
              <p:cNvGrpSpPr>
                <a:grpSpLocks/>
              </p:cNvGrpSpPr>
              <p:nvPr/>
            </p:nvGrpSpPr>
            <p:grpSpPr bwMode="auto">
              <a:xfrm>
                <a:off x="2928" y="3840"/>
                <a:ext cx="432" cy="240"/>
                <a:chOff x="2736" y="3648"/>
                <a:chExt cx="432" cy="240"/>
              </a:xfrm>
            </p:grpSpPr>
            <p:grpSp>
              <p:nvGrpSpPr>
                <p:cNvPr id="333" name="Group 338"/>
                <p:cNvGrpSpPr>
                  <a:grpSpLocks/>
                </p:cNvGrpSpPr>
                <p:nvPr/>
              </p:nvGrpSpPr>
              <p:grpSpPr bwMode="auto">
                <a:xfrm>
                  <a:off x="2736" y="3648"/>
                  <a:ext cx="432" cy="240"/>
                  <a:chOff x="2592" y="3504"/>
                  <a:chExt cx="576" cy="384"/>
                </a:xfrm>
              </p:grpSpPr>
              <p:sp>
                <p:nvSpPr>
                  <p:cNvPr id="335" name="Rectangle 339"/>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36" name="Freeform 340"/>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7" name="Line 341"/>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8" name="Line 342"/>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34" name="Line 343"/>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sp>
        <p:nvSpPr>
          <p:cNvPr id="351" name="Freeform 344"/>
          <p:cNvSpPr>
            <a:spLocks/>
          </p:cNvSpPr>
          <p:nvPr/>
        </p:nvSpPr>
        <p:spPr bwMode="auto">
          <a:xfrm>
            <a:off x="2220201" y="3228550"/>
            <a:ext cx="785167" cy="290837"/>
          </a:xfrm>
          <a:custGeom>
            <a:avLst/>
            <a:gdLst>
              <a:gd name="T0" fmla="*/ 0 w 780"/>
              <a:gd name="T1" fmla="*/ 2147483646 h 313"/>
              <a:gd name="T2" fmla="*/ 2147483646 w 780"/>
              <a:gd name="T3" fmla="*/ 2147483646 h 313"/>
              <a:gd name="T4" fmla="*/ 2147483646 w 780"/>
              <a:gd name="T5" fmla="*/ 2147483646 h 313"/>
              <a:gd name="T6" fmla="*/ 2147483646 w 780"/>
              <a:gd name="T7" fmla="*/ 2147483646 h 313"/>
              <a:gd name="T8" fmla="*/ 2147483646 w 780"/>
              <a:gd name="T9" fmla="*/ 2147483646 h 313"/>
              <a:gd name="T10" fmla="*/ 2147483646 w 780"/>
              <a:gd name="T11" fmla="*/ 2147483646 h 313"/>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80" h="313">
                <a:moveTo>
                  <a:pt x="0" y="99"/>
                </a:moveTo>
                <a:cubicBezTo>
                  <a:pt x="38" y="85"/>
                  <a:pt x="154" y="26"/>
                  <a:pt x="228" y="13"/>
                </a:cubicBezTo>
                <a:cubicBezTo>
                  <a:pt x="302" y="0"/>
                  <a:pt x="385" y="10"/>
                  <a:pt x="444" y="19"/>
                </a:cubicBezTo>
                <a:cubicBezTo>
                  <a:pt x="503" y="28"/>
                  <a:pt x="534" y="34"/>
                  <a:pt x="582" y="67"/>
                </a:cubicBezTo>
                <a:cubicBezTo>
                  <a:pt x="630" y="100"/>
                  <a:pt x="699" y="176"/>
                  <a:pt x="732" y="217"/>
                </a:cubicBezTo>
                <a:cubicBezTo>
                  <a:pt x="765" y="258"/>
                  <a:pt x="768" y="289"/>
                  <a:pt x="780" y="313"/>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2" name="Freeform 345"/>
          <p:cNvSpPr>
            <a:spLocks/>
          </p:cNvSpPr>
          <p:nvPr/>
        </p:nvSpPr>
        <p:spPr bwMode="auto">
          <a:xfrm>
            <a:off x="3198639" y="2876385"/>
            <a:ext cx="2829619" cy="598399"/>
          </a:xfrm>
          <a:custGeom>
            <a:avLst/>
            <a:gdLst>
              <a:gd name="T0" fmla="*/ 0 w 2811"/>
              <a:gd name="T1" fmla="*/ 2147483646 h 644"/>
              <a:gd name="T2" fmla="*/ 2147483646 w 2811"/>
              <a:gd name="T3" fmla="*/ 2147483646 h 644"/>
              <a:gd name="T4" fmla="*/ 2147483646 w 2811"/>
              <a:gd name="T5" fmla="*/ 2147483646 h 644"/>
              <a:gd name="T6" fmla="*/ 2147483646 w 2811"/>
              <a:gd name="T7" fmla="*/ 2147483646 h 644"/>
              <a:gd name="T8" fmla="*/ 2147483646 w 2811"/>
              <a:gd name="T9" fmla="*/ 2147483646 h 644"/>
              <a:gd name="T10" fmla="*/ 2147483646 w 2811"/>
              <a:gd name="T11" fmla="*/ 2147483646 h 644"/>
              <a:gd name="T12" fmla="*/ 2147483646 w 2811"/>
              <a:gd name="T13" fmla="*/ 2147483646 h 64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811" h="644">
                <a:moveTo>
                  <a:pt x="0" y="644"/>
                </a:moveTo>
                <a:cubicBezTo>
                  <a:pt x="81" y="585"/>
                  <a:pt x="354" y="376"/>
                  <a:pt x="488" y="292"/>
                </a:cubicBezTo>
                <a:cubicBezTo>
                  <a:pt x="622" y="208"/>
                  <a:pt x="688" y="181"/>
                  <a:pt x="807" y="137"/>
                </a:cubicBezTo>
                <a:cubicBezTo>
                  <a:pt x="926" y="93"/>
                  <a:pt x="1051" y="49"/>
                  <a:pt x="1200" y="28"/>
                </a:cubicBezTo>
                <a:cubicBezTo>
                  <a:pt x="1349" y="7"/>
                  <a:pt x="1533" y="0"/>
                  <a:pt x="1704" y="12"/>
                </a:cubicBezTo>
                <a:cubicBezTo>
                  <a:pt x="1875" y="24"/>
                  <a:pt x="2042" y="45"/>
                  <a:pt x="2226" y="98"/>
                </a:cubicBezTo>
                <a:cubicBezTo>
                  <a:pt x="2410" y="151"/>
                  <a:pt x="2689" y="281"/>
                  <a:pt x="2811" y="32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3" name="Freeform 346"/>
          <p:cNvSpPr>
            <a:spLocks/>
          </p:cNvSpPr>
          <p:nvPr/>
        </p:nvSpPr>
        <p:spPr bwMode="auto">
          <a:xfrm>
            <a:off x="6090669" y="3048286"/>
            <a:ext cx="731815" cy="203493"/>
          </a:xfrm>
          <a:custGeom>
            <a:avLst/>
            <a:gdLst>
              <a:gd name="T0" fmla="*/ 0 w 727"/>
              <a:gd name="T1" fmla="*/ 2147483646 h 219"/>
              <a:gd name="T2" fmla="*/ 2147483646 w 727"/>
              <a:gd name="T3" fmla="*/ 2147483646 h 219"/>
              <a:gd name="T4" fmla="*/ 2147483646 w 727"/>
              <a:gd name="T5" fmla="*/ 2147483646 h 219"/>
              <a:gd name="T6" fmla="*/ 2147483646 w 727"/>
              <a:gd name="T7" fmla="*/ 2147483646 h 219"/>
              <a:gd name="T8" fmla="*/ 2147483646 w 727"/>
              <a:gd name="T9" fmla="*/ 2147483646 h 219"/>
              <a:gd name="T10" fmla="*/ 2147483646 w 727"/>
              <a:gd name="T11" fmla="*/ 2147483646 h 219"/>
              <a:gd name="T12" fmla="*/ 2147483646 w 727"/>
              <a:gd name="T13" fmla="*/ 2147483646 h 21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27" h="219">
                <a:moveTo>
                  <a:pt x="0" y="129"/>
                </a:moveTo>
                <a:cubicBezTo>
                  <a:pt x="24" y="114"/>
                  <a:pt x="107" y="58"/>
                  <a:pt x="145" y="38"/>
                </a:cubicBezTo>
                <a:cubicBezTo>
                  <a:pt x="183" y="18"/>
                  <a:pt x="202" y="15"/>
                  <a:pt x="229" y="9"/>
                </a:cubicBezTo>
                <a:cubicBezTo>
                  <a:pt x="256" y="3"/>
                  <a:pt x="282" y="3"/>
                  <a:pt x="307" y="3"/>
                </a:cubicBezTo>
                <a:cubicBezTo>
                  <a:pt x="332" y="3"/>
                  <a:pt x="353" y="0"/>
                  <a:pt x="382" y="6"/>
                </a:cubicBezTo>
                <a:cubicBezTo>
                  <a:pt x="411" y="12"/>
                  <a:pt x="423" y="3"/>
                  <a:pt x="481" y="39"/>
                </a:cubicBezTo>
                <a:cubicBezTo>
                  <a:pt x="539" y="75"/>
                  <a:pt x="676" y="182"/>
                  <a:pt x="727" y="21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4" name="Text Box 347"/>
          <p:cNvSpPr txBox="1">
            <a:spLocks noChangeArrowheads="1"/>
          </p:cNvSpPr>
          <p:nvPr/>
        </p:nvSpPr>
        <p:spPr bwMode="auto">
          <a:xfrm>
            <a:off x="4452133" y="268868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5" name="Text Box 348"/>
          <p:cNvSpPr txBox="1">
            <a:spLocks noChangeArrowheads="1"/>
          </p:cNvSpPr>
          <p:nvPr/>
        </p:nvSpPr>
        <p:spPr bwMode="auto">
          <a:xfrm>
            <a:off x="2363458" y="302133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6" name="Text Box 349"/>
          <p:cNvSpPr txBox="1">
            <a:spLocks noChangeArrowheads="1"/>
          </p:cNvSpPr>
          <p:nvPr/>
        </p:nvSpPr>
        <p:spPr bwMode="auto">
          <a:xfrm>
            <a:off x="6208592" y="281936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POP3</a:t>
            </a:r>
          </a:p>
        </p:txBody>
      </p:sp>
      <p:sp>
        <p:nvSpPr>
          <p:cNvPr id="357" name="Text Box 350"/>
          <p:cNvSpPr txBox="1">
            <a:spLocks noChangeArrowheads="1"/>
          </p:cNvSpPr>
          <p:nvPr/>
        </p:nvSpPr>
        <p:spPr bwMode="auto">
          <a:xfrm>
            <a:off x="3246958"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358" name="Line 351"/>
          <p:cNvSpPr>
            <a:spLocks noChangeShapeType="1"/>
          </p:cNvSpPr>
          <p:nvPr/>
        </p:nvSpPr>
        <p:spPr bwMode="auto">
          <a:xfrm flipH="1" flipV="1">
            <a:off x="6849663" y="3219256"/>
            <a:ext cx="85563" cy="67645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9" name="Line 352"/>
          <p:cNvSpPr>
            <a:spLocks noChangeShapeType="1"/>
          </p:cNvSpPr>
          <p:nvPr/>
        </p:nvSpPr>
        <p:spPr bwMode="auto">
          <a:xfrm flipV="1">
            <a:off x="2715460" y="3608588"/>
            <a:ext cx="386543" cy="356809"/>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0" name="Line 353"/>
          <p:cNvSpPr>
            <a:spLocks noChangeShapeType="1"/>
          </p:cNvSpPr>
          <p:nvPr/>
        </p:nvSpPr>
        <p:spPr bwMode="auto">
          <a:xfrm flipV="1">
            <a:off x="2119539" y="3330760"/>
            <a:ext cx="109722" cy="51291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1" name="Text Box 354"/>
          <p:cNvSpPr txBox="1">
            <a:spLocks noChangeArrowheads="1"/>
          </p:cNvSpPr>
          <p:nvPr/>
        </p:nvSpPr>
        <p:spPr bwMode="auto">
          <a:xfrm>
            <a:off x="1797420" y="3839482"/>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362" name="Text Box 355"/>
          <p:cNvSpPr txBox="1">
            <a:spLocks noChangeArrowheads="1"/>
          </p:cNvSpPr>
          <p:nvPr/>
        </p:nvSpPr>
        <p:spPr bwMode="auto">
          <a:xfrm>
            <a:off x="5421264" y="2611566"/>
            <a:ext cx="646331" cy="23083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用户邮箱</a:t>
            </a:r>
          </a:p>
        </p:txBody>
      </p:sp>
      <p:sp>
        <p:nvSpPr>
          <p:cNvPr id="363" name="Line 356"/>
          <p:cNvSpPr>
            <a:spLocks noChangeShapeType="1"/>
          </p:cNvSpPr>
          <p:nvPr/>
        </p:nvSpPr>
        <p:spPr bwMode="auto">
          <a:xfrm rot="10800000" flipH="1" flipV="1">
            <a:off x="5759489" y="2805767"/>
            <a:ext cx="278835" cy="26017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4" name="Text Box 357"/>
          <p:cNvSpPr txBox="1">
            <a:spLocks noChangeArrowheads="1"/>
          </p:cNvSpPr>
          <p:nvPr/>
        </p:nvSpPr>
        <p:spPr bwMode="auto">
          <a:xfrm>
            <a:off x="6898987" y="2789971"/>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p:txBody>
      </p:sp>
      <p:sp>
        <p:nvSpPr>
          <p:cNvPr id="365" name="Line 358"/>
          <p:cNvSpPr>
            <a:spLocks noChangeShapeType="1"/>
          </p:cNvSpPr>
          <p:nvPr/>
        </p:nvSpPr>
        <p:spPr bwMode="auto">
          <a:xfrm flipV="1">
            <a:off x="5517900" y="3761905"/>
            <a:ext cx="377484" cy="23601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6" name="Line 359"/>
          <p:cNvSpPr>
            <a:spLocks noChangeShapeType="1"/>
          </p:cNvSpPr>
          <p:nvPr/>
        </p:nvSpPr>
        <p:spPr bwMode="auto">
          <a:xfrm flipH="1" flipV="1">
            <a:off x="3295275" y="3786993"/>
            <a:ext cx="277828" cy="21743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7" name="Text Box 375"/>
          <p:cNvSpPr txBox="1">
            <a:spLocks noChangeArrowheads="1"/>
          </p:cNvSpPr>
          <p:nvPr/>
        </p:nvSpPr>
        <p:spPr bwMode="auto">
          <a:xfrm>
            <a:off x="2238321" y="2864306"/>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68" name="Text Box 376"/>
          <p:cNvSpPr txBox="1">
            <a:spLocks noChangeArrowheads="1"/>
          </p:cNvSpPr>
          <p:nvPr/>
        </p:nvSpPr>
        <p:spPr bwMode="auto">
          <a:xfrm>
            <a:off x="4248816" y="2525725"/>
            <a:ext cx="877163"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p>
        </p:txBody>
      </p:sp>
      <p:sp>
        <p:nvSpPr>
          <p:cNvPr id="369" name="Text Box 379"/>
          <p:cNvSpPr txBox="1">
            <a:spLocks noChangeArrowheads="1"/>
          </p:cNvSpPr>
          <p:nvPr/>
        </p:nvSpPr>
        <p:spPr bwMode="auto">
          <a:xfrm>
            <a:off x="6083622" y="2674751"/>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读取邮件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70" name="Text Box 384"/>
          <p:cNvSpPr txBox="1">
            <a:spLocks noChangeArrowheads="1"/>
          </p:cNvSpPr>
          <p:nvPr/>
        </p:nvSpPr>
        <p:spPr bwMode="auto">
          <a:xfrm>
            <a:off x="4364242" y="3331097"/>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互联网</a:t>
            </a:r>
          </a:p>
        </p:txBody>
      </p:sp>
      <p:sp>
        <p:nvSpPr>
          <p:cNvPr id="371" name="Rectangle 385"/>
          <p:cNvSpPr>
            <a:spLocks noChangeArrowheads="1"/>
          </p:cNvSpPr>
          <p:nvPr/>
        </p:nvSpPr>
        <p:spPr bwMode="auto">
          <a:xfrm>
            <a:off x="6814430" y="1445137"/>
            <a:ext cx="547603" cy="1011889"/>
          </a:xfrm>
          <a:prstGeom prst="rect">
            <a:avLst/>
          </a:prstGeom>
          <a:solidFill>
            <a:srgbClr val="00FFCC"/>
          </a:solidFill>
          <a:ln w="9525"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2" name="Rectangle 386"/>
          <p:cNvSpPr>
            <a:spLocks noChangeArrowheads="1"/>
          </p:cNvSpPr>
          <p:nvPr/>
        </p:nvSpPr>
        <p:spPr bwMode="auto">
          <a:xfrm>
            <a:off x="2842294" y="1438632"/>
            <a:ext cx="547603" cy="1018393"/>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3" name="Rectangle 387"/>
          <p:cNvSpPr>
            <a:spLocks noChangeArrowheads="1"/>
          </p:cNvSpPr>
          <p:nvPr/>
        </p:nvSpPr>
        <p:spPr bwMode="auto">
          <a:xfrm>
            <a:off x="1746082" y="1438632"/>
            <a:ext cx="547603" cy="1018393"/>
          </a:xfrm>
          <a:prstGeom prst="rect">
            <a:avLst/>
          </a:prstGeom>
          <a:solidFill>
            <a:srgbClr val="00FFCC"/>
          </a:solidFill>
          <a:ln w="9525">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4" name="Line 388"/>
          <p:cNvSpPr>
            <a:spLocks noChangeShapeType="1"/>
          </p:cNvSpPr>
          <p:nvPr/>
        </p:nvSpPr>
        <p:spPr bwMode="auto">
          <a:xfrm>
            <a:off x="2129605" y="1697876"/>
            <a:ext cx="757988"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75" name="Text Box 389"/>
          <p:cNvSpPr txBox="1">
            <a:spLocks noChangeArrowheads="1"/>
          </p:cNvSpPr>
          <p:nvPr/>
        </p:nvSpPr>
        <p:spPr bwMode="auto">
          <a:xfrm>
            <a:off x="2303061" y="1471491"/>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SMTP</a:t>
            </a:r>
          </a:p>
        </p:txBody>
      </p:sp>
      <p:sp>
        <p:nvSpPr>
          <p:cNvPr id="376" name="Text Box 390"/>
          <p:cNvSpPr txBox="1">
            <a:spLocks noChangeArrowheads="1"/>
          </p:cNvSpPr>
          <p:nvPr/>
        </p:nvSpPr>
        <p:spPr bwMode="auto">
          <a:xfrm>
            <a:off x="6268517" y="147069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POP3</a:t>
            </a:r>
          </a:p>
        </p:txBody>
      </p:sp>
      <p:sp>
        <p:nvSpPr>
          <p:cNvPr id="377" name="Text Box 391"/>
          <p:cNvSpPr txBox="1">
            <a:spLocks noChangeArrowheads="1"/>
          </p:cNvSpPr>
          <p:nvPr/>
        </p:nvSpPr>
        <p:spPr bwMode="auto">
          <a:xfrm>
            <a:off x="2319473" y="1178330"/>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78" name="Text Box 392"/>
          <p:cNvSpPr txBox="1">
            <a:spLocks noChangeArrowheads="1"/>
          </p:cNvSpPr>
          <p:nvPr/>
        </p:nvSpPr>
        <p:spPr bwMode="auto">
          <a:xfrm>
            <a:off x="3916093" y="1896419"/>
            <a:ext cx="1241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发送邮件 </a:t>
            </a:r>
            <a:r>
              <a:rPr kumimoji="1" lang="en-US" altLang="zh-CN" sz="1200" b="1" dirty="0">
                <a:solidFill>
                  <a:srgbClr val="C00000"/>
                </a:solidFill>
                <a:latin typeface="微软雅黑 Light" panose="020B0502040204020203" pitchFamily="34" charset="-122"/>
                <a:ea typeface="微软雅黑 Light" panose="020B0502040204020203" pitchFamily="34" charset="-122"/>
              </a:rPr>
              <a:t>SMTP</a:t>
            </a:r>
          </a:p>
        </p:txBody>
      </p:sp>
      <p:sp>
        <p:nvSpPr>
          <p:cNvPr id="379" name="Text Box 393"/>
          <p:cNvSpPr txBox="1">
            <a:spLocks noChangeArrowheads="1"/>
          </p:cNvSpPr>
          <p:nvPr/>
        </p:nvSpPr>
        <p:spPr bwMode="auto">
          <a:xfrm>
            <a:off x="6284273" y="119239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读取</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80" name="Text Box 394"/>
          <p:cNvSpPr txBox="1">
            <a:spLocks noChangeArrowheads="1"/>
          </p:cNvSpPr>
          <p:nvPr/>
        </p:nvSpPr>
        <p:spPr bwMode="auto">
          <a:xfrm>
            <a:off x="2330846" y="1717775"/>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1" name="Text Box 395"/>
          <p:cNvSpPr txBox="1">
            <a:spLocks noChangeArrowheads="1"/>
          </p:cNvSpPr>
          <p:nvPr/>
        </p:nvSpPr>
        <p:spPr bwMode="auto">
          <a:xfrm>
            <a:off x="6297159" y="170125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2" name="Text Box 396"/>
          <p:cNvSpPr txBox="1">
            <a:spLocks noChangeArrowheads="1"/>
          </p:cNvSpPr>
          <p:nvPr/>
        </p:nvSpPr>
        <p:spPr bwMode="auto">
          <a:xfrm>
            <a:off x="2736115"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3" name="Oval 397"/>
          <p:cNvSpPr>
            <a:spLocks noChangeArrowheads="1"/>
          </p:cNvSpPr>
          <p:nvPr/>
        </p:nvSpPr>
        <p:spPr bwMode="auto">
          <a:xfrm>
            <a:off x="1791380" y="1486950"/>
            <a:ext cx="456001"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4" name="Oval 398"/>
          <p:cNvSpPr>
            <a:spLocks noChangeArrowheads="1"/>
          </p:cNvSpPr>
          <p:nvPr/>
        </p:nvSpPr>
        <p:spPr bwMode="auto">
          <a:xfrm>
            <a:off x="6859729" y="1486950"/>
            <a:ext cx="456000"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5" name="Text Box 399"/>
          <p:cNvSpPr txBox="1">
            <a:spLocks noChangeArrowheads="1"/>
          </p:cNvSpPr>
          <p:nvPr/>
        </p:nvSpPr>
        <p:spPr bwMode="auto">
          <a:xfrm>
            <a:off x="1695592"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86" name="Text Box 400"/>
          <p:cNvSpPr txBox="1">
            <a:spLocks noChangeArrowheads="1"/>
          </p:cNvSpPr>
          <p:nvPr/>
        </p:nvSpPr>
        <p:spPr bwMode="auto">
          <a:xfrm>
            <a:off x="5621097"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7" name="Rectangle 401"/>
          <p:cNvSpPr>
            <a:spLocks noChangeArrowheads="1"/>
          </p:cNvSpPr>
          <p:nvPr/>
        </p:nvSpPr>
        <p:spPr bwMode="auto">
          <a:xfrm>
            <a:off x="5719224" y="1445137"/>
            <a:ext cx="547603" cy="101188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8" name="Oval 402"/>
          <p:cNvSpPr>
            <a:spLocks noChangeArrowheads="1"/>
          </p:cNvSpPr>
          <p:nvPr/>
        </p:nvSpPr>
        <p:spPr bwMode="auto">
          <a:xfrm>
            <a:off x="5764523" y="1950617"/>
            <a:ext cx="456000" cy="420923"/>
          </a:xfrm>
          <a:prstGeom prst="ellipse">
            <a:avLst/>
          </a:prstGeom>
          <a:solidFill>
            <a:schemeClr val="bg1"/>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89" name="Oval 403"/>
          <p:cNvSpPr>
            <a:spLocks noChangeArrowheads="1"/>
          </p:cNvSpPr>
          <p:nvPr/>
        </p:nvSpPr>
        <p:spPr bwMode="auto">
          <a:xfrm>
            <a:off x="5764523" y="1486950"/>
            <a:ext cx="456000" cy="420924"/>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0" name="Line 404"/>
          <p:cNvSpPr>
            <a:spLocks noChangeShapeType="1"/>
          </p:cNvSpPr>
          <p:nvPr/>
        </p:nvSpPr>
        <p:spPr bwMode="auto">
          <a:xfrm flipV="1">
            <a:off x="3298295" y="2161543"/>
            <a:ext cx="2465220"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1" name="Oval 405"/>
          <p:cNvSpPr>
            <a:spLocks noChangeArrowheads="1"/>
          </p:cNvSpPr>
          <p:nvPr/>
        </p:nvSpPr>
        <p:spPr bwMode="auto">
          <a:xfrm>
            <a:off x="2888599" y="1486950"/>
            <a:ext cx="456001" cy="420924"/>
          </a:xfrm>
          <a:prstGeom prst="ellipse">
            <a:avLst/>
          </a:prstGeom>
          <a:solidFill>
            <a:schemeClr val="bg1"/>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2" name="Oval 406"/>
          <p:cNvSpPr>
            <a:spLocks noChangeArrowheads="1"/>
          </p:cNvSpPr>
          <p:nvPr/>
        </p:nvSpPr>
        <p:spPr bwMode="auto">
          <a:xfrm>
            <a:off x="2888599" y="1950617"/>
            <a:ext cx="456001" cy="420923"/>
          </a:xfrm>
          <a:prstGeom prst="ellipse">
            <a:avLst/>
          </a:prstGeom>
          <a:solidFill>
            <a:srgbClr val="FFFF00"/>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93" name="Text Box 407"/>
          <p:cNvSpPr txBox="1">
            <a:spLocks noChangeArrowheads="1"/>
          </p:cNvSpPr>
          <p:nvPr/>
        </p:nvSpPr>
        <p:spPr bwMode="auto">
          <a:xfrm>
            <a:off x="6770220"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94" name="Line 408"/>
          <p:cNvSpPr>
            <a:spLocks noChangeShapeType="1"/>
          </p:cNvSpPr>
          <p:nvPr/>
        </p:nvSpPr>
        <p:spPr bwMode="auto">
          <a:xfrm flipV="1">
            <a:off x="6220523" y="1697876"/>
            <a:ext cx="639206"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5" name="Text Box 409"/>
          <p:cNvSpPr txBox="1">
            <a:spLocks noChangeArrowheads="1"/>
          </p:cNvSpPr>
          <p:nvPr/>
        </p:nvSpPr>
        <p:spPr bwMode="auto">
          <a:xfrm>
            <a:off x="4130961" y="2121283"/>
            <a:ext cx="83426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TCP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连接</a:t>
            </a:r>
          </a:p>
        </p:txBody>
      </p:sp>
      <p:sp>
        <p:nvSpPr>
          <p:cNvPr id="396" name="Text Box 399"/>
          <p:cNvSpPr txBox="1">
            <a:spLocks noChangeArrowheads="1"/>
          </p:cNvSpPr>
          <p:nvPr/>
        </p:nvSpPr>
        <p:spPr bwMode="auto">
          <a:xfrm>
            <a:off x="1096459" y="1081823"/>
            <a:ext cx="53091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发件人</a:t>
            </a:r>
          </a:p>
        </p:txBody>
      </p:sp>
      <p:grpSp>
        <p:nvGrpSpPr>
          <p:cNvPr id="254" name="Group 247"/>
          <p:cNvGrpSpPr>
            <a:grpSpLocks/>
          </p:cNvGrpSpPr>
          <p:nvPr/>
        </p:nvGrpSpPr>
        <p:grpSpPr bwMode="auto">
          <a:xfrm>
            <a:off x="6953345" y="3397662"/>
            <a:ext cx="350305" cy="144024"/>
            <a:chOff x="5266" y="2029"/>
            <a:chExt cx="348" cy="155"/>
          </a:xfrm>
        </p:grpSpPr>
        <p:sp>
          <p:nvSpPr>
            <p:cNvPr id="255" name="Freeform 248"/>
            <p:cNvSpPr>
              <a:spLocks/>
            </p:cNvSpPr>
            <p:nvPr/>
          </p:nvSpPr>
          <p:spPr bwMode="auto">
            <a:xfrm>
              <a:off x="5266" y="2029"/>
              <a:ext cx="348" cy="155"/>
            </a:xfrm>
            <a:custGeom>
              <a:avLst/>
              <a:gdLst>
                <a:gd name="T0" fmla="*/ 0 w 2091"/>
                <a:gd name="T1" fmla="*/ 0 h 931"/>
                <a:gd name="T2" fmla="*/ 0 w 2091"/>
                <a:gd name="T3" fmla="*/ 0 h 931"/>
                <a:gd name="T4" fmla="*/ 0 w 2091"/>
                <a:gd name="T5" fmla="*/ 0 h 931"/>
                <a:gd name="T6" fmla="*/ 0 w 2091"/>
                <a:gd name="T7" fmla="*/ 0 h 931"/>
                <a:gd name="T8" fmla="*/ 0 w 2091"/>
                <a:gd name="T9" fmla="*/ 0 h 931"/>
                <a:gd name="T10" fmla="*/ 0 w 2091"/>
                <a:gd name="T11" fmla="*/ 0 h 931"/>
                <a:gd name="T12" fmla="*/ 0 w 2091"/>
                <a:gd name="T13" fmla="*/ 0 h 931"/>
                <a:gd name="T14" fmla="*/ 0 w 2091"/>
                <a:gd name="T15" fmla="*/ 0 h 931"/>
                <a:gd name="T16" fmla="*/ 0 w 2091"/>
                <a:gd name="T17" fmla="*/ 0 h 931"/>
                <a:gd name="T18" fmla="*/ 0 w 2091"/>
                <a:gd name="T19" fmla="*/ 0 h 931"/>
                <a:gd name="T20" fmla="*/ 0 w 2091"/>
                <a:gd name="T21" fmla="*/ 0 h 931"/>
                <a:gd name="T22" fmla="*/ 0 w 2091"/>
                <a:gd name="T23" fmla="*/ 0 h 931"/>
                <a:gd name="T24" fmla="*/ 0 w 2091"/>
                <a:gd name="T25" fmla="*/ 0 h 931"/>
                <a:gd name="T26" fmla="*/ 0 w 2091"/>
                <a:gd name="T27" fmla="*/ 0 h 931"/>
                <a:gd name="T28" fmla="*/ 0 w 2091"/>
                <a:gd name="T29" fmla="*/ 0 h 931"/>
                <a:gd name="T30" fmla="*/ 0 w 2091"/>
                <a:gd name="T31" fmla="*/ 0 h 931"/>
                <a:gd name="T32" fmla="*/ 0 w 2091"/>
                <a:gd name="T33" fmla="*/ 0 h 931"/>
                <a:gd name="T34" fmla="*/ 0 w 2091"/>
                <a:gd name="T35" fmla="*/ 0 h 931"/>
                <a:gd name="T36" fmla="*/ 0 w 2091"/>
                <a:gd name="T37" fmla="*/ 0 h 931"/>
                <a:gd name="T38" fmla="*/ 0 w 2091"/>
                <a:gd name="T39" fmla="*/ 0 h 931"/>
                <a:gd name="T40" fmla="*/ 0 w 2091"/>
                <a:gd name="T41" fmla="*/ 0 h 931"/>
                <a:gd name="T42" fmla="*/ 0 w 2091"/>
                <a:gd name="T43" fmla="*/ 0 h 931"/>
                <a:gd name="T44" fmla="*/ 0 w 2091"/>
                <a:gd name="T45" fmla="*/ 0 h 931"/>
                <a:gd name="T46" fmla="*/ 0 w 2091"/>
                <a:gd name="T47" fmla="*/ 0 h 931"/>
                <a:gd name="T48" fmla="*/ 0 w 2091"/>
                <a:gd name="T49" fmla="*/ 0 h 931"/>
                <a:gd name="T50" fmla="*/ 0 w 2091"/>
                <a:gd name="T51" fmla="*/ 0 h 931"/>
                <a:gd name="T52" fmla="*/ 0 w 2091"/>
                <a:gd name="T53" fmla="*/ 0 h 931"/>
                <a:gd name="T54" fmla="*/ 0 w 2091"/>
                <a:gd name="T55" fmla="*/ 0 h 931"/>
                <a:gd name="T56" fmla="*/ 0 w 2091"/>
                <a:gd name="T57" fmla="*/ 0 h 931"/>
                <a:gd name="T58" fmla="*/ 0 w 2091"/>
                <a:gd name="T59" fmla="*/ 0 h 931"/>
                <a:gd name="T60" fmla="*/ 0 w 2091"/>
                <a:gd name="T61" fmla="*/ 0 h 931"/>
                <a:gd name="T62" fmla="*/ 0 w 2091"/>
                <a:gd name="T63" fmla="*/ 0 h 931"/>
                <a:gd name="T64" fmla="*/ 0 w 2091"/>
                <a:gd name="T65" fmla="*/ 0 h 931"/>
                <a:gd name="T66" fmla="*/ 0 w 2091"/>
                <a:gd name="T67" fmla="*/ 0 h 931"/>
                <a:gd name="T68" fmla="*/ 0 w 2091"/>
                <a:gd name="T69" fmla="*/ 0 h 931"/>
                <a:gd name="T70" fmla="*/ 0 w 2091"/>
                <a:gd name="T71" fmla="*/ 0 h 931"/>
                <a:gd name="T72" fmla="*/ 0 w 2091"/>
                <a:gd name="T73" fmla="*/ 0 h 931"/>
                <a:gd name="T74" fmla="*/ 0 w 2091"/>
                <a:gd name="T75" fmla="*/ 0 h 931"/>
                <a:gd name="T76" fmla="*/ 0 w 2091"/>
                <a:gd name="T77" fmla="*/ 0 h 931"/>
                <a:gd name="T78" fmla="*/ 0 w 2091"/>
                <a:gd name="T79" fmla="*/ 0 h 931"/>
                <a:gd name="T80" fmla="*/ 0 w 2091"/>
                <a:gd name="T81" fmla="*/ 0 h 931"/>
                <a:gd name="T82" fmla="*/ 0 w 2091"/>
                <a:gd name="T83" fmla="*/ 0 h 931"/>
                <a:gd name="T84" fmla="*/ 0 w 2091"/>
                <a:gd name="T85" fmla="*/ 0 h 931"/>
                <a:gd name="T86" fmla="*/ 0 w 2091"/>
                <a:gd name="T87" fmla="*/ 0 h 931"/>
                <a:gd name="T88" fmla="*/ 0 w 2091"/>
                <a:gd name="T89" fmla="*/ 0 h 931"/>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0" t="0" r="r" b="b"/>
              <a:pathLst>
                <a:path w="2091" h="931">
                  <a:moveTo>
                    <a:pt x="182" y="927"/>
                  </a:moveTo>
                  <a:lnTo>
                    <a:pt x="5" y="905"/>
                  </a:lnTo>
                  <a:lnTo>
                    <a:pt x="0" y="695"/>
                  </a:lnTo>
                  <a:lnTo>
                    <a:pt x="9" y="537"/>
                  </a:lnTo>
                  <a:lnTo>
                    <a:pt x="100" y="442"/>
                  </a:lnTo>
                  <a:lnTo>
                    <a:pt x="210" y="387"/>
                  </a:lnTo>
                  <a:lnTo>
                    <a:pt x="460" y="296"/>
                  </a:lnTo>
                  <a:lnTo>
                    <a:pt x="828" y="207"/>
                  </a:lnTo>
                  <a:lnTo>
                    <a:pt x="900" y="201"/>
                  </a:lnTo>
                  <a:lnTo>
                    <a:pt x="948" y="207"/>
                  </a:lnTo>
                  <a:lnTo>
                    <a:pt x="960" y="188"/>
                  </a:lnTo>
                  <a:lnTo>
                    <a:pt x="980" y="169"/>
                  </a:lnTo>
                  <a:lnTo>
                    <a:pt x="1003" y="173"/>
                  </a:lnTo>
                  <a:lnTo>
                    <a:pt x="1035" y="176"/>
                  </a:lnTo>
                  <a:lnTo>
                    <a:pt x="1049" y="138"/>
                  </a:lnTo>
                  <a:lnTo>
                    <a:pt x="1077" y="118"/>
                  </a:lnTo>
                  <a:lnTo>
                    <a:pt x="1106" y="112"/>
                  </a:lnTo>
                  <a:lnTo>
                    <a:pt x="1144" y="112"/>
                  </a:lnTo>
                  <a:lnTo>
                    <a:pt x="1138" y="82"/>
                  </a:lnTo>
                  <a:lnTo>
                    <a:pt x="1182" y="0"/>
                  </a:lnTo>
                  <a:lnTo>
                    <a:pt x="2040" y="22"/>
                  </a:lnTo>
                  <a:lnTo>
                    <a:pt x="2037" y="110"/>
                  </a:lnTo>
                  <a:lnTo>
                    <a:pt x="2053" y="188"/>
                  </a:lnTo>
                  <a:lnTo>
                    <a:pt x="2065" y="244"/>
                  </a:lnTo>
                  <a:lnTo>
                    <a:pt x="2080" y="314"/>
                  </a:lnTo>
                  <a:lnTo>
                    <a:pt x="2091" y="427"/>
                  </a:lnTo>
                  <a:lnTo>
                    <a:pt x="2077" y="494"/>
                  </a:lnTo>
                  <a:lnTo>
                    <a:pt x="2053" y="557"/>
                  </a:lnTo>
                  <a:lnTo>
                    <a:pt x="2023" y="610"/>
                  </a:lnTo>
                  <a:lnTo>
                    <a:pt x="1983" y="629"/>
                  </a:lnTo>
                  <a:lnTo>
                    <a:pt x="1921" y="648"/>
                  </a:lnTo>
                  <a:lnTo>
                    <a:pt x="1838" y="673"/>
                  </a:lnTo>
                  <a:lnTo>
                    <a:pt x="1801" y="717"/>
                  </a:lnTo>
                  <a:lnTo>
                    <a:pt x="1757" y="754"/>
                  </a:lnTo>
                  <a:lnTo>
                    <a:pt x="1686" y="786"/>
                  </a:lnTo>
                  <a:lnTo>
                    <a:pt x="1605" y="812"/>
                  </a:lnTo>
                  <a:lnTo>
                    <a:pt x="1475" y="827"/>
                  </a:lnTo>
                  <a:lnTo>
                    <a:pt x="1364" y="827"/>
                  </a:lnTo>
                  <a:lnTo>
                    <a:pt x="1279" y="818"/>
                  </a:lnTo>
                  <a:lnTo>
                    <a:pt x="1202" y="812"/>
                  </a:lnTo>
                  <a:lnTo>
                    <a:pt x="1144" y="843"/>
                  </a:lnTo>
                  <a:lnTo>
                    <a:pt x="1031" y="837"/>
                  </a:lnTo>
                  <a:lnTo>
                    <a:pt x="582" y="901"/>
                  </a:lnTo>
                  <a:lnTo>
                    <a:pt x="386" y="931"/>
                  </a:lnTo>
                  <a:lnTo>
                    <a:pt x="182" y="927"/>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6" name="Freeform 249"/>
            <p:cNvSpPr>
              <a:spLocks/>
            </p:cNvSpPr>
            <p:nvPr/>
          </p:nvSpPr>
          <p:spPr bwMode="auto">
            <a:xfrm>
              <a:off x="5268" y="2043"/>
              <a:ext cx="342" cy="138"/>
            </a:xfrm>
            <a:custGeom>
              <a:avLst/>
              <a:gdLst>
                <a:gd name="T0" fmla="*/ 0 w 2049"/>
                <a:gd name="T1" fmla="*/ 0 h 829"/>
                <a:gd name="T2" fmla="*/ 0 w 2049"/>
                <a:gd name="T3" fmla="*/ 0 h 829"/>
                <a:gd name="T4" fmla="*/ 0 w 2049"/>
                <a:gd name="T5" fmla="*/ 0 h 829"/>
                <a:gd name="T6" fmla="*/ 0 w 2049"/>
                <a:gd name="T7" fmla="*/ 0 h 829"/>
                <a:gd name="T8" fmla="*/ 0 w 2049"/>
                <a:gd name="T9" fmla="*/ 0 h 829"/>
                <a:gd name="T10" fmla="*/ 0 w 2049"/>
                <a:gd name="T11" fmla="*/ 0 h 829"/>
                <a:gd name="T12" fmla="*/ 0 w 2049"/>
                <a:gd name="T13" fmla="*/ 0 h 829"/>
                <a:gd name="T14" fmla="*/ 0 w 2049"/>
                <a:gd name="T15" fmla="*/ 0 h 829"/>
                <a:gd name="T16" fmla="*/ 0 w 2049"/>
                <a:gd name="T17" fmla="*/ 0 h 829"/>
                <a:gd name="T18" fmla="*/ 0 w 2049"/>
                <a:gd name="T19" fmla="*/ 0 h 829"/>
                <a:gd name="T20" fmla="*/ 0 w 2049"/>
                <a:gd name="T21" fmla="*/ 0 h 829"/>
                <a:gd name="T22" fmla="*/ 0 w 2049"/>
                <a:gd name="T23" fmla="*/ 0 h 829"/>
                <a:gd name="T24" fmla="*/ 0 w 2049"/>
                <a:gd name="T25" fmla="*/ 0 h 829"/>
                <a:gd name="T26" fmla="*/ 0 w 2049"/>
                <a:gd name="T27" fmla="*/ 0 h 829"/>
                <a:gd name="T28" fmla="*/ 0 w 2049"/>
                <a:gd name="T29" fmla="*/ 0 h 829"/>
                <a:gd name="T30" fmla="*/ 0 w 2049"/>
                <a:gd name="T31" fmla="*/ 0 h 829"/>
                <a:gd name="T32" fmla="*/ 0 w 2049"/>
                <a:gd name="T33" fmla="*/ 0 h 829"/>
                <a:gd name="T34" fmla="*/ 0 w 2049"/>
                <a:gd name="T35" fmla="*/ 0 h 829"/>
                <a:gd name="T36" fmla="*/ 0 w 2049"/>
                <a:gd name="T37" fmla="*/ 0 h 829"/>
                <a:gd name="T38" fmla="*/ 0 w 2049"/>
                <a:gd name="T39" fmla="*/ 0 h 829"/>
                <a:gd name="T40" fmla="*/ 0 w 2049"/>
                <a:gd name="T41" fmla="*/ 0 h 829"/>
                <a:gd name="T42" fmla="*/ 0 w 2049"/>
                <a:gd name="T43" fmla="*/ 0 h 829"/>
                <a:gd name="T44" fmla="*/ 0 w 2049"/>
                <a:gd name="T45" fmla="*/ 0 h 829"/>
                <a:gd name="T46" fmla="*/ 0 w 2049"/>
                <a:gd name="T47" fmla="*/ 0 h 829"/>
                <a:gd name="T48" fmla="*/ 0 w 2049"/>
                <a:gd name="T49" fmla="*/ 0 h 829"/>
                <a:gd name="T50" fmla="*/ 0 w 2049"/>
                <a:gd name="T51" fmla="*/ 0 h 829"/>
                <a:gd name="T52" fmla="*/ 0 w 2049"/>
                <a:gd name="T53" fmla="*/ 0 h 829"/>
                <a:gd name="T54" fmla="*/ 0 w 2049"/>
                <a:gd name="T55" fmla="*/ 0 h 829"/>
                <a:gd name="T56" fmla="*/ 0 w 2049"/>
                <a:gd name="T57" fmla="*/ 0 h 829"/>
                <a:gd name="T58" fmla="*/ 0 w 2049"/>
                <a:gd name="T59" fmla="*/ 0 h 829"/>
                <a:gd name="T60" fmla="*/ 0 w 2049"/>
                <a:gd name="T61" fmla="*/ 0 h 829"/>
                <a:gd name="T62" fmla="*/ 0 w 2049"/>
                <a:gd name="T63" fmla="*/ 0 h 829"/>
                <a:gd name="T64" fmla="*/ 0 w 2049"/>
                <a:gd name="T65" fmla="*/ 0 h 829"/>
                <a:gd name="T66" fmla="*/ 0 w 2049"/>
                <a:gd name="T67" fmla="*/ 0 h 829"/>
                <a:gd name="T68" fmla="*/ 0 w 2049"/>
                <a:gd name="T69" fmla="*/ 0 h 829"/>
                <a:gd name="T70" fmla="*/ 0 w 2049"/>
                <a:gd name="T71" fmla="*/ 0 h 829"/>
                <a:gd name="T72" fmla="*/ 0 w 2049"/>
                <a:gd name="T73" fmla="*/ 0 h 829"/>
                <a:gd name="T74" fmla="*/ 0 w 2049"/>
                <a:gd name="T75" fmla="*/ 0 h 829"/>
                <a:gd name="T76" fmla="*/ 0 w 2049"/>
                <a:gd name="T77" fmla="*/ 0 h 829"/>
                <a:gd name="T78" fmla="*/ 0 w 2049"/>
                <a:gd name="T79" fmla="*/ 0 h 829"/>
                <a:gd name="T80" fmla="*/ 0 w 2049"/>
                <a:gd name="T81" fmla="*/ 0 h 829"/>
                <a:gd name="T82" fmla="*/ 0 w 2049"/>
                <a:gd name="T83" fmla="*/ 0 h 829"/>
                <a:gd name="T84" fmla="*/ 0 w 2049"/>
                <a:gd name="T85" fmla="*/ 0 h 829"/>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0" t="0" r="r" b="b"/>
              <a:pathLst>
                <a:path w="2049" h="829">
                  <a:moveTo>
                    <a:pt x="1982" y="31"/>
                  </a:moveTo>
                  <a:lnTo>
                    <a:pt x="1986" y="90"/>
                  </a:lnTo>
                  <a:lnTo>
                    <a:pt x="2010" y="67"/>
                  </a:lnTo>
                  <a:lnTo>
                    <a:pt x="2037" y="199"/>
                  </a:lnTo>
                  <a:lnTo>
                    <a:pt x="2049" y="353"/>
                  </a:lnTo>
                  <a:lnTo>
                    <a:pt x="1995" y="512"/>
                  </a:lnTo>
                  <a:lnTo>
                    <a:pt x="1868" y="549"/>
                  </a:lnTo>
                  <a:lnTo>
                    <a:pt x="1882" y="512"/>
                  </a:lnTo>
                  <a:lnTo>
                    <a:pt x="1814" y="567"/>
                  </a:lnTo>
                  <a:lnTo>
                    <a:pt x="1754" y="624"/>
                  </a:lnTo>
                  <a:lnTo>
                    <a:pt x="1622" y="688"/>
                  </a:lnTo>
                  <a:lnTo>
                    <a:pt x="1460" y="701"/>
                  </a:lnTo>
                  <a:lnTo>
                    <a:pt x="1264" y="710"/>
                  </a:lnTo>
                  <a:lnTo>
                    <a:pt x="1181" y="701"/>
                  </a:lnTo>
                  <a:lnTo>
                    <a:pt x="1255" y="669"/>
                  </a:lnTo>
                  <a:lnTo>
                    <a:pt x="1287" y="589"/>
                  </a:lnTo>
                  <a:lnTo>
                    <a:pt x="1228" y="656"/>
                  </a:lnTo>
                  <a:lnTo>
                    <a:pt x="1155" y="697"/>
                  </a:lnTo>
                  <a:lnTo>
                    <a:pt x="1086" y="733"/>
                  </a:lnTo>
                  <a:lnTo>
                    <a:pt x="1017" y="724"/>
                  </a:lnTo>
                  <a:lnTo>
                    <a:pt x="1063" y="692"/>
                  </a:lnTo>
                  <a:lnTo>
                    <a:pt x="1109" y="652"/>
                  </a:lnTo>
                  <a:lnTo>
                    <a:pt x="1036" y="678"/>
                  </a:lnTo>
                  <a:lnTo>
                    <a:pt x="963" y="733"/>
                  </a:lnTo>
                  <a:lnTo>
                    <a:pt x="726" y="761"/>
                  </a:lnTo>
                  <a:lnTo>
                    <a:pt x="491" y="797"/>
                  </a:lnTo>
                  <a:lnTo>
                    <a:pt x="409" y="793"/>
                  </a:lnTo>
                  <a:lnTo>
                    <a:pt x="495" y="742"/>
                  </a:lnTo>
                  <a:lnTo>
                    <a:pt x="581" y="724"/>
                  </a:lnTo>
                  <a:lnTo>
                    <a:pt x="486" y="720"/>
                  </a:lnTo>
                  <a:lnTo>
                    <a:pt x="414" y="752"/>
                  </a:lnTo>
                  <a:lnTo>
                    <a:pt x="319" y="815"/>
                  </a:lnTo>
                  <a:lnTo>
                    <a:pt x="386" y="720"/>
                  </a:lnTo>
                  <a:lnTo>
                    <a:pt x="473" y="669"/>
                  </a:lnTo>
                  <a:lnTo>
                    <a:pt x="359" y="692"/>
                  </a:lnTo>
                  <a:lnTo>
                    <a:pt x="300" y="765"/>
                  </a:lnTo>
                  <a:lnTo>
                    <a:pt x="287" y="829"/>
                  </a:lnTo>
                  <a:lnTo>
                    <a:pt x="214" y="742"/>
                  </a:lnTo>
                  <a:lnTo>
                    <a:pt x="140" y="701"/>
                  </a:lnTo>
                  <a:lnTo>
                    <a:pt x="182" y="746"/>
                  </a:lnTo>
                  <a:lnTo>
                    <a:pt x="241" y="829"/>
                  </a:lnTo>
                  <a:lnTo>
                    <a:pt x="59" y="793"/>
                  </a:lnTo>
                  <a:lnTo>
                    <a:pt x="23" y="778"/>
                  </a:lnTo>
                  <a:lnTo>
                    <a:pt x="0" y="674"/>
                  </a:lnTo>
                  <a:lnTo>
                    <a:pt x="13" y="530"/>
                  </a:lnTo>
                  <a:lnTo>
                    <a:pt x="40" y="435"/>
                  </a:lnTo>
                  <a:lnTo>
                    <a:pt x="155" y="362"/>
                  </a:lnTo>
                  <a:lnTo>
                    <a:pt x="296" y="298"/>
                  </a:lnTo>
                  <a:lnTo>
                    <a:pt x="572" y="207"/>
                  </a:lnTo>
                  <a:lnTo>
                    <a:pt x="795" y="145"/>
                  </a:lnTo>
                  <a:lnTo>
                    <a:pt x="917" y="135"/>
                  </a:lnTo>
                  <a:lnTo>
                    <a:pt x="968" y="207"/>
                  </a:lnTo>
                  <a:lnTo>
                    <a:pt x="1123" y="285"/>
                  </a:lnTo>
                  <a:lnTo>
                    <a:pt x="1040" y="217"/>
                  </a:lnTo>
                  <a:lnTo>
                    <a:pt x="977" y="182"/>
                  </a:lnTo>
                  <a:lnTo>
                    <a:pt x="953" y="131"/>
                  </a:lnTo>
                  <a:lnTo>
                    <a:pt x="963" y="108"/>
                  </a:lnTo>
                  <a:lnTo>
                    <a:pt x="1008" y="108"/>
                  </a:lnTo>
                  <a:lnTo>
                    <a:pt x="1036" y="135"/>
                  </a:lnTo>
                  <a:lnTo>
                    <a:pt x="1063" y="163"/>
                  </a:lnTo>
                  <a:lnTo>
                    <a:pt x="1132" y="190"/>
                  </a:lnTo>
                  <a:lnTo>
                    <a:pt x="1068" y="135"/>
                  </a:lnTo>
                  <a:lnTo>
                    <a:pt x="1040" y="95"/>
                  </a:lnTo>
                  <a:lnTo>
                    <a:pt x="1059" y="67"/>
                  </a:lnTo>
                  <a:lnTo>
                    <a:pt x="1113" y="50"/>
                  </a:lnTo>
                  <a:lnTo>
                    <a:pt x="1186" y="113"/>
                  </a:lnTo>
                  <a:lnTo>
                    <a:pt x="1255" y="154"/>
                  </a:lnTo>
                  <a:lnTo>
                    <a:pt x="1173" y="63"/>
                  </a:lnTo>
                  <a:lnTo>
                    <a:pt x="1145" y="27"/>
                  </a:lnTo>
                  <a:lnTo>
                    <a:pt x="1145" y="0"/>
                  </a:lnTo>
                  <a:lnTo>
                    <a:pt x="1213" y="10"/>
                  </a:lnTo>
                  <a:lnTo>
                    <a:pt x="1277" y="54"/>
                  </a:lnTo>
                  <a:lnTo>
                    <a:pt x="1319" y="86"/>
                  </a:lnTo>
                  <a:lnTo>
                    <a:pt x="1514" y="104"/>
                  </a:lnTo>
                  <a:lnTo>
                    <a:pt x="1508" y="54"/>
                  </a:lnTo>
                  <a:lnTo>
                    <a:pt x="1567" y="35"/>
                  </a:lnTo>
                  <a:lnTo>
                    <a:pt x="1567" y="99"/>
                  </a:lnTo>
                  <a:lnTo>
                    <a:pt x="1626" y="113"/>
                  </a:lnTo>
                  <a:lnTo>
                    <a:pt x="1754" y="131"/>
                  </a:lnTo>
                  <a:lnTo>
                    <a:pt x="1745" y="63"/>
                  </a:lnTo>
                  <a:lnTo>
                    <a:pt x="1790" y="63"/>
                  </a:lnTo>
                  <a:lnTo>
                    <a:pt x="1795" y="131"/>
                  </a:lnTo>
                  <a:lnTo>
                    <a:pt x="1868" y="127"/>
                  </a:lnTo>
                  <a:lnTo>
                    <a:pt x="1946" y="108"/>
                  </a:lnTo>
                  <a:lnTo>
                    <a:pt x="1950" y="54"/>
                  </a:lnTo>
                  <a:lnTo>
                    <a:pt x="1982"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7" name="Freeform 250"/>
            <p:cNvSpPr>
              <a:spLocks/>
            </p:cNvSpPr>
            <p:nvPr/>
          </p:nvSpPr>
          <p:spPr bwMode="auto">
            <a:xfrm>
              <a:off x="5515" y="2093"/>
              <a:ext cx="47" cy="8"/>
            </a:xfrm>
            <a:custGeom>
              <a:avLst/>
              <a:gdLst>
                <a:gd name="T0" fmla="*/ 0 w 280"/>
                <a:gd name="T1" fmla="*/ 0 h 48"/>
                <a:gd name="T2" fmla="*/ 0 w 280"/>
                <a:gd name="T3" fmla="*/ 0 h 48"/>
                <a:gd name="T4" fmla="*/ 0 w 280"/>
                <a:gd name="T5" fmla="*/ 0 h 48"/>
                <a:gd name="T6" fmla="*/ 0 w 280"/>
                <a:gd name="T7" fmla="*/ 0 h 4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80" h="48">
                  <a:moveTo>
                    <a:pt x="280" y="0"/>
                  </a:moveTo>
                  <a:lnTo>
                    <a:pt x="149" y="48"/>
                  </a:lnTo>
                  <a:lnTo>
                    <a:pt x="0" y="35"/>
                  </a:lnTo>
                  <a:lnTo>
                    <a:pt x="28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8" name="Freeform 251"/>
            <p:cNvSpPr>
              <a:spLocks/>
            </p:cNvSpPr>
            <p:nvPr/>
          </p:nvSpPr>
          <p:spPr bwMode="auto">
            <a:xfrm>
              <a:off x="5580" y="2080"/>
              <a:ext cx="28" cy="10"/>
            </a:xfrm>
            <a:custGeom>
              <a:avLst/>
              <a:gdLst>
                <a:gd name="T0" fmla="*/ 0 w 170"/>
                <a:gd name="T1" fmla="*/ 0 h 57"/>
                <a:gd name="T2" fmla="*/ 0 w 170"/>
                <a:gd name="T3" fmla="*/ 0 h 57"/>
                <a:gd name="T4" fmla="*/ 0 w 170"/>
                <a:gd name="T5" fmla="*/ 0 h 57"/>
                <a:gd name="T6" fmla="*/ 0 w 170"/>
                <a:gd name="T7" fmla="*/ 0 h 57"/>
                <a:gd name="T8" fmla="*/ 0 w 170"/>
                <a:gd name="T9" fmla="*/ 0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0" h="57">
                  <a:moveTo>
                    <a:pt x="170" y="0"/>
                  </a:moveTo>
                  <a:lnTo>
                    <a:pt x="125" y="35"/>
                  </a:lnTo>
                  <a:lnTo>
                    <a:pt x="0" y="53"/>
                  </a:lnTo>
                  <a:lnTo>
                    <a:pt x="130" y="57"/>
                  </a:lnTo>
                  <a:lnTo>
                    <a:pt x="17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9" name="Freeform 252"/>
            <p:cNvSpPr>
              <a:spLocks/>
            </p:cNvSpPr>
            <p:nvPr/>
          </p:nvSpPr>
          <p:spPr bwMode="auto">
            <a:xfrm>
              <a:off x="5445" y="2073"/>
              <a:ext cx="44" cy="24"/>
            </a:xfrm>
            <a:custGeom>
              <a:avLst/>
              <a:gdLst>
                <a:gd name="T0" fmla="*/ 0 w 263"/>
                <a:gd name="T1" fmla="*/ 0 h 143"/>
                <a:gd name="T2" fmla="*/ 0 w 263"/>
                <a:gd name="T3" fmla="*/ 0 h 143"/>
                <a:gd name="T4" fmla="*/ 0 w 263"/>
                <a:gd name="T5" fmla="*/ 0 h 143"/>
                <a:gd name="T6" fmla="*/ 0 w 263"/>
                <a:gd name="T7" fmla="*/ 0 h 143"/>
                <a:gd name="T8" fmla="*/ 0 w 263"/>
                <a:gd name="T9" fmla="*/ 0 h 143"/>
                <a:gd name="T10" fmla="*/ 0 w 263"/>
                <a:gd name="T11" fmla="*/ 0 h 143"/>
                <a:gd name="T12" fmla="*/ 0 w 263"/>
                <a:gd name="T13" fmla="*/ 0 h 143"/>
                <a:gd name="T14" fmla="*/ 0 w 263"/>
                <a:gd name="T15" fmla="*/ 0 h 143"/>
                <a:gd name="T16" fmla="*/ 0 w 263"/>
                <a:gd name="T17" fmla="*/ 0 h 143"/>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263" h="143">
                  <a:moveTo>
                    <a:pt x="263" y="0"/>
                  </a:moveTo>
                  <a:lnTo>
                    <a:pt x="145" y="13"/>
                  </a:lnTo>
                  <a:lnTo>
                    <a:pt x="122" y="31"/>
                  </a:lnTo>
                  <a:lnTo>
                    <a:pt x="122" y="76"/>
                  </a:lnTo>
                  <a:lnTo>
                    <a:pt x="113" y="124"/>
                  </a:lnTo>
                  <a:lnTo>
                    <a:pt x="0" y="143"/>
                  </a:lnTo>
                  <a:lnTo>
                    <a:pt x="136" y="138"/>
                  </a:lnTo>
                  <a:lnTo>
                    <a:pt x="159" y="48"/>
                  </a:lnTo>
                  <a:lnTo>
                    <a:pt x="26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0" name="Freeform 253"/>
            <p:cNvSpPr>
              <a:spLocks/>
            </p:cNvSpPr>
            <p:nvPr/>
          </p:nvSpPr>
          <p:spPr bwMode="auto">
            <a:xfrm>
              <a:off x="5303" y="2127"/>
              <a:ext cx="142" cy="35"/>
            </a:xfrm>
            <a:custGeom>
              <a:avLst/>
              <a:gdLst>
                <a:gd name="T0" fmla="*/ 0 w 853"/>
                <a:gd name="T1" fmla="*/ 0 h 212"/>
                <a:gd name="T2" fmla="*/ 0 w 853"/>
                <a:gd name="T3" fmla="*/ 0 h 212"/>
                <a:gd name="T4" fmla="*/ 0 w 853"/>
                <a:gd name="T5" fmla="*/ 0 h 212"/>
                <a:gd name="T6" fmla="*/ 0 w 853"/>
                <a:gd name="T7" fmla="*/ 0 h 212"/>
                <a:gd name="T8" fmla="*/ 0 w 853"/>
                <a:gd name="T9" fmla="*/ 0 h 212"/>
                <a:gd name="T10" fmla="*/ 0 w 853"/>
                <a:gd name="T11" fmla="*/ 0 h 212"/>
                <a:gd name="T12" fmla="*/ 0 w 853"/>
                <a:gd name="T13" fmla="*/ 0 h 212"/>
                <a:gd name="T14" fmla="*/ 0 w 853"/>
                <a:gd name="T15" fmla="*/ 0 h 212"/>
                <a:gd name="T16" fmla="*/ 0 w 853"/>
                <a:gd name="T17" fmla="*/ 0 h 212"/>
                <a:gd name="T18" fmla="*/ 0 w 853"/>
                <a:gd name="T19" fmla="*/ 0 h 212"/>
                <a:gd name="T20" fmla="*/ 0 w 853"/>
                <a:gd name="T21" fmla="*/ 0 h 212"/>
                <a:gd name="T22" fmla="*/ 0 w 853"/>
                <a:gd name="T23" fmla="*/ 0 h 212"/>
                <a:gd name="T24" fmla="*/ 0 w 853"/>
                <a:gd name="T25" fmla="*/ 0 h 212"/>
                <a:gd name="T26" fmla="*/ 0 w 853"/>
                <a:gd name="T27" fmla="*/ 0 h 212"/>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853" h="212">
                  <a:moveTo>
                    <a:pt x="853" y="0"/>
                  </a:moveTo>
                  <a:lnTo>
                    <a:pt x="636" y="10"/>
                  </a:lnTo>
                  <a:lnTo>
                    <a:pt x="413" y="63"/>
                  </a:lnTo>
                  <a:lnTo>
                    <a:pt x="249" y="71"/>
                  </a:lnTo>
                  <a:lnTo>
                    <a:pt x="114" y="99"/>
                  </a:lnTo>
                  <a:lnTo>
                    <a:pt x="64" y="170"/>
                  </a:lnTo>
                  <a:lnTo>
                    <a:pt x="0" y="212"/>
                  </a:lnTo>
                  <a:lnTo>
                    <a:pt x="64" y="198"/>
                  </a:lnTo>
                  <a:lnTo>
                    <a:pt x="123" y="117"/>
                  </a:lnTo>
                  <a:lnTo>
                    <a:pt x="304" y="81"/>
                  </a:lnTo>
                  <a:lnTo>
                    <a:pt x="413" y="81"/>
                  </a:lnTo>
                  <a:lnTo>
                    <a:pt x="500" y="63"/>
                  </a:lnTo>
                  <a:lnTo>
                    <a:pt x="649" y="23"/>
                  </a:lnTo>
                  <a:lnTo>
                    <a:pt x="85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aphicFrame>
        <p:nvGraphicFramePr>
          <p:cNvPr id="412" name="对象 411"/>
          <p:cNvGraphicFramePr>
            <a:graphicFrameLocks noChangeAspect="1"/>
          </p:cNvGraphicFramePr>
          <p:nvPr>
            <p:extLst>
              <p:ext uri="{D42A27DB-BD31-4B8C-83A1-F6EECF244321}">
                <p14:modId xmlns:p14="http://schemas.microsoft.com/office/powerpoint/2010/main" val="1782133990"/>
              </p:ext>
            </p:extLst>
          </p:nvPr>
        </p:nvGraphicFramePr>
        <p:xfrm>
          <a:off x="1234937" y="1468874"/>
          <a:ext cx="440021" cy="504000"/>
        </p:xfrm>
        <a:graphic>
          <a:graphicData uri="http://schemas.openxmlformats.org/presentationml/2006/ole">
            <mc:AlternateContent xmlns:mc="http://schemas.openxmlformats.org/markup-compatibility/2006">
              <mc:Choice xmlns:v="urn:schemas-microsoft-com:vml" Requires="v">
                <p:oleObj name="Visio" r:id="rId5" imgW="3561172" imgH="4347469" progId="">
                  <p:embed/>
                </p:oleObj>
              </mc:Choice>
              <mc:Fallback>
                <p:oleObj name="Visio" r:id="rId5" imgW="3561172" imgH="4347469" progId="">
                  <p:embed/>
                  <p:pic>
                    <p:nvPicPr>
                      <p:cNvPr id="0" name="Picture 304"/>
                      <p:cNvPicPr>
                        <a:picLocks noChangeAspect="1" noChangeArrowheads="1"/>
                      </p:cNvPicPr>
                      <p:nvPr/>
                    </p:nvPicPr>
                    <p:blipFill>
                      <a:blip r:embed="rId6">
                        <a:extLst>
                          <a:ext uri="{28A0092B-C50C-407E-A947-70E740481C1C}">
                            <a14:useLocalDpi xmlns:a14="http://schemas.microsoft.com/office/drawing/2010/main" val="0"/>
                          </a:ext>
                        </a:extLst>
                      </a:blip>
                      <a:srcRect l="5348" t="4167" r="4546" b="11185"/>
                      <a:stretch>
                        <a:fillRect/>
                      </a:stretch>
                    </p:blipFill>
                    <p:spPr bwMode="auto">
                      <a:xfrm>
                        <a:off x="1234937" y="1468874"/>
                        <a:ext cx="440021"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14" name="对象 413"/>
          <p:cNvGraphicFramePr>
            <a:graphicFrameLocks noChangeAspect="1"/>
          </p:cNvGraphicFramePr>
          <p:nvPr>
            <p:extLst>
              <p:ext uri="{D42A27DB-BD31-4B8C-83A1-F6EECF244321}">
                <p14:modId xmlns:p14="http://schemas.microsoft.com/office/powerpoint/2010/main" val="1618396809"/>
              </p:ext>
            </p:extLst>
          </p:nvPr>
        </p:nvGraphicFramePr>
        <p:xfrm>
          <a:off x="7436052" y="1468874"/>
          <a:ext cx="443938" cy="504000"/>
        </p:xfrm>
        <a:graphic>
          <a:graphicData uri="http://schemas.openxmlformats.org/presentationml/2006/ole">
            <mc:AlternateContent xmlns:mc="http://schemas.openxmlformats.org/markup-compatibility/2006">
              <mc:Choice xmlns:v="urn:schemas-microsoft-com:vml" Requires="v">
                <p:oleObj name="Visio" r:id="rId7" imgW="3561172" imgH="4347469" progId="">
                  <p:embed/>
                </p:oleObj>
              </mc:Choice>
              <mc:Fallback>
                <p:oleObj name="Visio" r:id="rId7" imgW="3561172" imgH="4347469" progId="">
                  <p:embed/>
                  <p:pic>
                    <p:nvPicPr>
                      <p:cNvPr id="0" name="Picture 305"/>
                      <p:cNvPicPr>
                        <a:picLocks noChangeAspect="1" noChangeArrowheads="1"/>
                      </p:cNvPicPr>
                      <p:nvPr/>
                    </p:nvPicPr>
                    <p:blipFill>
                      <a:blip r:embed="rId8">
                        <a:extLst>
                          <a:ext uri="{28A0092B-C50C-407E-A947-70E740481C1C}">
                            <a14:useLocalDpi xmlns:a14="http://schemas.microsoft.com/office/drawing/2010/main" val="0"/>
                          </a:ext>
                        </a:extLst>
                      </a:blip>
                      <a:srcRect l="4546" t="3947" r="4546" b="11403"/>
                      <a:stretch>
                        <a:fillRect/>
                      </a:stretch>
                    </p:blipFill>
                    <p:spPr bwMode="auto">
                      <a:xfrm>
                        <a:off x="7436052" y="1468874"/>
                        <a:ext cx="443938"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22" name="Text Box 399"/>
          <p:cNvSpPr txBox="1">
            <a:spLocks noChangeArrowheads="1"/>
          </p:cNvSpPr>
          <p:nvPr/>
        </p:nvSpPr>
        <p:spPr bwMode="auto">
          <a:xfrm>
            <a:off x="7471795" y="1081823"/>
            <a:ext cx="5309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收件人</a:t>
            </a:r>
          </a:p>
        </p:txBody>
      </p:sp>
      <p:sp>
        <p:nvSpPr>
          <p:cNvPr id="2" name="标题 1">
            <a:extLst>
              <a:ext uri="{FF2B5EF4-FFF2-40B4-BE49-F238E27FC236}">
                <a16:creationId xmlns:a16="http://schemas.microsoft.com/office/drawing/2014/main" id="{D9D5F3AB-34A3-3B35-66A1-5CC813BD5471}"/>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发送和接收</a:t>
            </a:r>
          </a:p>
        </p:txBody>
      </p:sp>
      <p:sp>
        <p:nvSpPr>
          <p:cNvPr id="5" name="内容占位符 4">
            <a:extLst>
              <a:ext uri="{FF2B5EF4-FFF2-40B4-BE49-F238E27FC236}">
                <a16:creationId xmlns:a16="http://schemas.microsoft.com/office/drawing/2014/main" id="{76D24BEB-BCAB-2885-2E2C-D20844A31D46}"/>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39843132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repeatCount="3000" fill="hold" grpId="0" nodeType="withEffect">
                                  <p:stCondLst>
                                    <p:cond delay="0"/>
                                  </p:stCondLst>
                                  <p:childTnLst>
                                    <p:set>
                                      <p:cBhvr>
                                        <p:cTn id="6" dur="1" fill="hold">
                                          <p:stCondLst>
                                            <p:cond delay="0"/>
                                          </p:stCondLst>
                                        </p:cTn>
                                        <p:tgtEl>
                                          <p:spTgt spid="352"/>
                                        </p:tgtEl>
                                        <p:attrNameLst>
                                          <p:attrName>style.visibility</p:attrName>
                                        </p:attrNameLst>
                                      </p:cBhvr>
                                      <p:to>
                                        <p:strVal val="visible"/>
                                      </p:to>
                                    </p:set>
                                    <p:animEffect transition="in" filter="wipe(left)">
                                      <p:cBhvr>
                                        <p:cTn id="7" dur="1000"/>
                                        <p:tgtEl>
                                          <p:spTgt spid="3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2" grpId="0" animBg="1"/>
    </p:bld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Object 383"/>
          <p:cNvGraphicFramePr>
            <a:graphicFrameLocks noChangeAspect="1"/>
          </p:cNvGraphicFramePr>
          <p:nvPr>
            <p:extLst>
              <p:ext uri="{D42A27DB-BD31-4B8C-83A1-F6EECF244321}">
                <p14:modId xmlns:p14="http://schemas.microsoft.com/office/powerpoint/2010/main" val="1676268534"/>
              </p:ext>
            </p:extLst>
          </p:nvPr>
        </p:nvGraphicFramePr>
        <p:xfrm>
          <a:off x="3846905" y="3043640"/>
          <a:ext cx="1597512"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46905" y="3043640"/>
                        <a:ext cx="1597512" cy="84277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9" name="Object 383"/>
          <p:cNvGraphicFramePr>
            <a:graphicFrameLocks noChangeAspect="1"/>
          </p:cNvGraphicFramePr>
          <p:nvPr>
            <p:extLst>
              <p:ext uri="{D42A27DB-BD31-4B8C-83A1-F6EECF244321}">
                <p14:modId xmlns:p14="http://schemas.microsoft.com/office/powerpoint/2010/main" val="3049604450"/>
              </p:ext>
            </p:extLst>
          </p:nvPr>
        </p:nvGraphicFramePr>
        <p:xfrm>
          <a:off x="5780655" y="2980580"/>
          <a:ext cx="1597279" cy="842777"/>
        </p:xfrm>
        <a:graphic>
          <a:graphicData uri="http://schemas.openxmlformats.org/presentationml/2006/ole">
            <mc:AlternateContent xmlns:mc="http://schemas.openxmlformats.org/markup-compatibility/2006">
              <mc:Choice xmlns:v="urn:schemas-microsoft-com:vml" Requires="v">
                <p:oleObj name="VISIO" r:id="rId5" imgW="1687068" imgH="964692" progId="">
                  <p:embed/>
                </p:oleObj>
              </mc:Choice>
              <mc:Fallback>
                <p:oleObj name="VISIO" r:id="rId5" imgW="1687068" imgH="964692" progId="">
                  <p:embed/>
                  <p:pic>
                    <p:nvPicPr>
                      <p:cNvPr id="0" name="Picture 30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80655" y="2980580"/>
                        <a:ext cx="1597279" cy="842777"/>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 name="Line 3"/>
          <p:cNvSpPr>
            <a:spLocks noChangeShapeType="1"/>
          </p:cNvSpPr>
          <p:nvPr/>
        </p:nvSpPr>
        <p:spPr bwMode="auto">
          <a:xfrm flipH="1" flipV="1">
            <a:off x="2328917" y="3340981"/>
            <a:ext cx="483179" cy="44601"/>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 name="Freeform 4"/>
          <p:cNvSpPr>
            <a:spLocks/>
          </p:cNvSpPr>
          <p:nvPr/>
        </p:nvSpPr>
        <p:spPr bwMode="auto">
          <a:xfrm>
            <a:off x="6375543" y="3302885"/>
            <a:ext cx="483179" cy="83627"/>
          </a:xfrm>
          <a:custGeom>
            <a:avLst/>
            <a:gdLst>
              <a:gd name="T0" fmla="*/ 2147483646 w 480"/>
              <a:gd name="T1" fmla="*/ 0 h 90"/>
              <a:gd name="T2" fmla="*/ 0 w 480"/>
              <a:gd name="T3" fmla="*/ 2147483646 h 90"/>
              <a:gd name="T4" fmla="*/ 0 60000 65536"/>
              <a:gd name="T5" fmla="*/ 0 60000 65536"/>
            </a:gdLst>
            <a:ahLst/>
            <a:cxnLst>
              <a:cxn ang="T4">
                <a:pos x="T0" y="T1"/>
              </a:cxn>
              <a:cxn ang="T5">
                <a:pos x="T2" y="T3"/>
              </a:cxn>
            </a:cxnLst>
            <a:rect l="0" t="0" r="r" b="b"/>
            <a:pathLst>
              <a:path w="480" h="90">
                <a:moveTo>
                  <a:pt x="480" y="0"/>
                </a:moveTo>
                <a:lnTo>
                  <a:pt x="0" y="90"/>
                </a:lnTo>
              </a:path>
            </a:pathLst>
          </a:custGeom>
          <a:noFill/>
          <a:ln w="38100" cmpd="sng">
            <a:solidFill>
              <a:srgbClr val="0000FF"/>
            </a:solidFill>
            <a:round/>
            <a:headEnd type="none" w="med" len="med"/>
            <a:tailEnd type="non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 name="Line 5"/>
          <p:cNvSpPr>
            <a:spLocks noChangeShapeType="1"/>
          </p:cNvSpPr>
          <p:nvPr/>
        </p:nvSpPr>
        <p:spPr bwMode="auto">
          <a:xfrm flipH="1" flipV="1">
            <a:off x="5360866" y="3430183"/>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 name="Line 6"/>
          <p:cNvSpPr>
            <a:spLocks noChangeShapeType="1"/>
          </p:cNvSpPr>
          <p:nvPr/>
        </p:nvSpPr>
        <p:spPr bwMode="auto">
          <a:xfrm flipH="1" flipV="1">
            <a:off x="3440229" y="3422750"/>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 name="Text Box 7"/>
          <p:cNvSpPr txBox="1">
            <a:spLocks noChangeArrowheads="1"/>
          </p:cNvSpPr>
          <p:nvPr/>
        </p:nvSpPr>
        <p:spPr bwMode="auto">
          <a:xfrm>
            <a:off x="1700784" y="2860589"/>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p:txBody>
      </p:sp>
      <p:sp>
        <p:nvSpPr>
          <p:cNvPr id="15" name="Text Box 8"/>
          <p:cNvSpPr txBox="1">
            <a:spLocks noChangeArrowheads="1"/>
          </p:cNvSpPr>
          <p:nvPr/>
        </p:nvSpPr>
        <p:spPr bwMode="auto">
          <a:xfrm>
            <a:off x="2324891" y="3949601"/>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邮件缓存</a:t>
            </a:r>
          </a:p>
        </p:txBody>
      </p:sp>
      <p:sp>
        <p:nvSpPr>
          <p:cNvPr id="16" name="Text Box 9"/>
          <p:cNvSpPr txBox="1">
            <a:spLocks noChangeArrowheads="1"/>
          </p:cNvSpPr>
          <p:nvPr/>
        </p:nvSpPr>
        <p:spPr bwMode="auto">
          <a:xfrm>
            <a:off x="5131356"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17" name="Oval 10"/>
          <p:cNvSpPr>
            <a:spLocks noChangeArrowheads="1"/>
          </p:cNvSpPr>
          <p:nvPr/>
        </p:nvSpPr>
        <p:spPr bwMode="auto">
          <a:xfrm>
            <a:off x="5662853" y="3027844"/>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8" name="Group 11"/>
          <p:cNvGrpSpPr>
            <a:grpSpLocks/>
          </p:cNvGrpSpPr>
          <p:nvPr/>
        </p:nvGrpSpPr>
        <p:grpSpPr bwMode="auto">
          <a:xfrm>
            <a:off x="5905450" y="3091958"/>
            <a:ext cx="289908" cy="267607"/>
            <a:chOff x="2351" y="2975"/>
            <a:chExt cx="481" cy="433"/>
          </a:xfrm>
          <a:effectLst/>
        </p:grpSpPr>
        <p:sp>
          <p:nvSpPr>
            <p:cNvPr id="19" name="Rectangle 12"/>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20" name="Line 13"/>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 name="Line 14"/>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 name="Line 15"/>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 name="Line 16"/>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 name="Line 17"/>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 name="Line 18"/>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 name="Line 19"/>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 name="Line 20"/>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8" name="Group 21"/>
          <p:cNvGrpSpPr>
            <a:grpSpLocks/>
          </p:cNvGrpSpPr>
          <p:nvPr/>
        </p:nvGrpSpPr>
        <p:grpSpPr bwMode="auto">
          <a:xfrm>
            <a:off x="5839013" y="3415316"/>
            <a:ext cx="463047" cy="267607"/>
            <a:chOff x="1296" y="768"/>
            <a:chExt cx="556" cy="336"/>
          </a:xfrm>
          <a:effectLst/>
        </p:grpSpPr>
        <p:sp>
          <p:nvSpPr>
            <p:cNvPr id="29" name="Rectangle 22"/>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0" name="Group 23"/>
            <p:cNvGrpSpPr>
              <a:grpSpLocks/>
            </p:cNvGrpSpPr>
            <p:nvPr/>
          </p:nvGrpSpPr>
          <p:grpSpPr bwMode="auto">
            <a:xfrm>
              <a:off x="1367" y="829"/>
              <a:ext cx="393" cy="214"/>
              <a:chOff x="2928" y="3744"/>
              <a:chExt cx="528" cy="336"/>
            </a:xfrm>
          </p:grpSpPr>
          <p:grpSp>
            <p:nvGrpSpPr>
              <p:cNvPr id="31" name="Group 24"/>
              <p:cNvGrpSpPr>
                <a:grpSpLocks/>
              </p:cNvGrpSpPr>
              <p:nvPr/>
            </p:nvGrpSpPr>
            <p:grpSpPr bwMode="auto">
              <a:xfrm>
                <a:off x="3024" y="3744"/>
                <a:ext cx="432" cy="240"/>
                <a:chOff x="2736" y="3648"/>
                <a:chExt cx="432" cy="240"/>
              </a:xfrm>
            </p:grpSpPr>
            <p:grpSp>
              <p:nvGrpSpPr>
                <p:cNvPr id="46" name="Group 25"/>
                <p:cNvGrpSpPr>
                  <a:grpSpLocks/>
                </p:cNvGrpSpPr>
                <p:nvPr/>
              </p:nvGrpSpPr>
              <p:grpSpPr bwMode="auto">
                <a:xfrm>
                  <a:off x="2736" y="3648"/>
                  <a:ext cx="432" cy="240"/>
                  <a:chOff x="2592" y="3504"/>
                  <a:chExt cx="576" cy="384"/>
                </a:xfrm>
              </p:grpSpPr>
              <p:sp>
                <p:nvSpPr>
                  <p:cNvPr id="48" name="Rectangle 26"/>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9" name="Freeform 27"/>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0" name="Line 28"/>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1" name="Line 29"/>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7" name="Line 30"/>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 name="Group 31"/>
              <p:cNvGrpSpPr>
                <a:grpSpLocks/>
              </p:cNvGrpSpPr>
              <p:nvPr/>
            </p:nvGrpSpPr>
            <p:grpSpPr bwMode="auto">
              <a:xfrm>
                <a:off x="2976" y="3792"/>
                <a:ext cx="432" cy="240"/>
                <a:chOff x="2736" y="3648"/>
                <a:chExt cx="432" cy="240"/>
              </a:xfrm>
            </p:grpSpPr>
            <p:grpSp>
              <p:nvGrpSpPr>
                <p:cNvPr id="40" name="Group 32"/>
                <p:cNvGrpSpPr>
                  <a:grpSpLocks/>
                </p:cNvGrpSpPr>
                <p:nvPr/>
              </p:nvGrpSpPr>
              <p:grpSpPr bwMode="auto">
                <a:xfrm>
                  <a:off x="2736" y="3648"/>
                  <a:ext cx="432" cy="240"/>
                  <a:chOff x="2592" y="3504"/>
                  <a:chExt cx="576" cy="384"/>
                </a:xfrm>
              </p:grpSpPr>
              <p:sp>
                <p:nvSpPr>
                  <p:cNvPr id="42" name="Rectangle 33"/>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3" name="Freeform 34"/>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4" name="Line 35"/>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5" name="Line 36"/>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1" name="Line 37"/>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 name="Group 38"/>
              <p:cNvGrpSpPr>
                <a:grpSpLocks/>
              </p:cNvGrpSpPr>
              <p:nvPr/>
            </p:nvGrpSpPr>
            <p:grpSpPr bwMode="auto">
              <a:xfrm>
                <a:off x="2928" y="3840"/>
                <a:ext cx="432" cy="240"/>
                <a:chOff x="2736" y="3648"/>
                <a:chExt cx="432" cy="240"/>
              </a:xfrm>
            </p:grpSpPr>
            <p:grpSp>
              <p:nvGrpSpPr>
                <p:cNvPr id="34" name="Group 39"/>
                <p:cNvGrpSpPr>
                  <a:grpSpLocks/>
                </p:cNvGrpSpPr>
                <p:nvPr/>
              </p:nvGrpSpPr>
              <p:grpSpPr bwMode="auto">
                <a:xfrm>
                  <a:off x="2736" y="3648"/>
                  <a:ext cx="432" cy="240"/>
                  <a:chOff x="2592" y="3504"/>
                  <a:chExt cx="576" cy="384"/>
                </a:xfrm>
              </p:grpSpPr>
              <p:sp>
                <p:nvSpPr>
                  <p:cNvPr id="36" name="Rectangle 40"/>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 name="Freeform 41"/>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8" name="Line 42"/>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 name="Line 43"/>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5" name="Line 44"/>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52" name="Group 45"/>
          <p:cNvGrpSpPr>
            <a:grpSpLocks/>
          </p:cNvGrpSpPr>
          <p:nvPr/>
        </p:nvGrpSpPr>
        <p:grpSpPr bwMode="auto">
          <a:xfrm>
            <a:off x="1900095" y="3154214"/>
            <a:ext cx="560690" cy="593753"/>
            <a:chOff x="246" y="1767"/>
            <a:chExt cx="557" cy="639"/>
          </a:xfrm>
        </p:grpSpPr>
        <p:grpSp>
          <p:nvGrpSpPr>
            <p:cNvPr id="53" name="Group 46"/>
            <p:cNvGrpSpPr>
              <a:grpSpLocks/>
            </p:cNvGrpSpPr>
            <p:nvPr/>
          </p:nvGrpSpPr>
          <p:grpSpPr bwMode="auto">
            <a:xfrm>
              <a:off x="246" y="1943"/>
              <a:ext cx="557" cy="463"/>
              <a:chOff x="246" y="1943"/>
              <a:chExt cx="557" cy="463"/>
            </a:xfrm>
          </p:grpSpPr>
          <p:sp>
            <p:nvSpPr>
              <p:cNvPr id="106" name="Freeform 47"/>
              <p:cNvSpPr>
                <a:spLocks/>
              </p:cNvSpPr>
              <p:nvPr/>
            </p:nvSpPr>
            <p:spPr bwMode="auto">
              <a:xfrm>
                <a:off x="373" y="2005"/>
                <a:ext cx="196" cy="295"/>
              </a:xfrm>
              <a:custGeom>
                <a:avLst/>
                <a:gdLst>
                  <a:gd name="T0" fmla="*/ 0 w 982"/>
                  <a:gd name="T1" fmla="*/ 0 h 1477"/>
                  <a:gd name="T2" fmla="*/ 0 w 982"/>
                  <a:gd name="T3" fmla="*/ 0 h 1477"/>
                  <a:gd name="T4" fmla="*/ 0 w 982"/>
                  <a:gd name="T5" fmla="*/ 0 h 1477"/>
                  <a:gd name="T6" fmla="*/ 0 w 982"/>
                  <a:gd name="T7" fmla="*/ 0 h 147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82" h="1477">
                    <a:moveTo>
                      <a:pt x="652" y="26"/>
                    </a:moveTo>
                    <a:lnTo>
                      <a:pt x="982" y="1347"/>
                    </a:lnTo>
                    <a:lnTo>
                      <a:pt x="0" y="1477"/>
                    </a:lnTo>
                    <a:lnTo>
                      <a:pt x="252" y="0"/>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07" name="Group 48"/>
              <p:cNvGrpSpPr>
                <a:grpSpLocks/>
              </p:cNvGrpSpPr>
              <p:nvPr/>
            </p:nvGrpSpPr>
            <p:grpSpPr bwMode="auto">
              <a:xfrm>
                <a:off x="246" y="1943"/>
                <a:ext cx="551" cy="121"/>
                <a:chOff x="246" y="1943"/>
                <a:chExt cx="551" cy="121"/>
              </a:xfrm>
            </p:grpSpPr>
            <p:sp>
              <p:nvSpPr>
                <p:cNvPr id="109" name="Freeform 49"/>
                <p:cNvSpPr>
                  <a:spLocks/>
                </p:cNvSpPr>
                <p:nvPr/>
              </p:nvSpPr>
              <p:spPr bwMode="auto">
                <a:xfrm>
                  <a:off x="246" y="1943"/>
                  <a:ext cx="551" cy="104"/>
                </a:xfrm>
                <a:custGeom>
                  <a:avLst/>
                  <a:gdLst>
                    <a:gd name="T0" fmla="*/ 0 w 2751"/>
                    <a:gd name="T1" fmla="*/ 0 h 522"/>
                    <a:gd name="T2" fmla="*/ 0 w 2751"/>
                    <a:gd name="T3" fmla="*/ 0 h 522"/>
                    <a:gd name="T4" fmla="*/ 0 w 2751"/>
                    <a:gd name="T5" fmla="*/ 0 h 522"/>
                    <a:gd name="T6" fmla="*/ 0 w 2751"/>
                    <a:gd name="T7" fmla="*/ 0 h 522"/>
                    <a:gd name="T8" fmla="*/ 0 w 2751"/>
                    <a:gd name="T9" fmla="*/ 0 h 5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751" h="522">
                      <a:moveTo>
                        <a:pt x="2751" y="270"/>
                      </a:moveTo>
                      <a:lnTo>
                        <a:pt x="1016" y="522"/>
                      </a:lnTo>
                      <a:lnTo>
                        <a:pt x="0" y="132"/>
                      </a:lnTo>
                      <a:lnTo>
                        <a:pt x="1302" y="0"/>
                      </a:lnTo>
                      <a:lnTo>
                        <a:pt x="2751" y="270"/>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0" name="Freeform 50"/>
                <p:cNvSpPr>
                  <a:spLocks/>
                </p:cNvSpPr>
                <p:nvPr/>
              </p:nvSpPr>
              <p:spPr bwMode="auto">
                <a:xfrm>
                  <a:off x="450" y="1997"/>
                  <a:ext cx="345" cy="67"/>
                </a:xfrm>
                <a:custGeom>
                  <a:avLst/>
                  <a:gdLst>
                    <a:gd name="T0" fmla="*/ 0 w 1728"/>
                    <a:gd name="T1" fmla="*/ 0 h 337"/>
                    <a:gd name="T2" fmla="*/ 0 w 1728"/>
                    <a:gd name="T3" fmla="*/ 0 h 337"/>
                    <a:gd name="T4" fmla="*/ 0 w 1728"/>
                    <a:gd name="T5" fmla="*/ 0 h 337"/>
                    <a:gd name="T6" fmla="*/ 0 w 1728"/>
                    <a:gd name="T7" fmla="*/ 0 h 337"/>
                    <a:gd name="T8" fmla="*/ 0 w 1728"/>
                    <a:gd name="T9" fmla="*/ 0 h 33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28" h="337">
                      <a:moveTo>
                        <a:pt x="1728" y="0"/>
                      </a:moveTo>
                      <a:lnTo>
                        <a:pt x="0" y="251"/>
                      </a:lnTo>
                      <a:lnTo>
                        <a:pt x="0" y="337"/>
                      </a:lnTo>
                      <a:lnTo>
                        <a:pt x="1728" y="88"/>
                      </a:lnTo>
                      <a:lnTo>
                        <a:pt x="1728" y="0"/>
                      </a:lnTo>
                      <a:close/>
                    </a:path>
                  </a:pathLst>
                </a:custGeom>
                <a:solidFill>
                  <a:srgbClr val="E0E0E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1" name="Freeform 51"/>
                <p:cNvSpPr>
                  <a:spLocks/>
                </p:cNvSpPr>
                <p:nvPr/>
              </p:nvSpPr>
              <p:spPr bwMode="auto">
                <a:xfrm>
                  <a:off x="246" y="1969"/>
                  <a:ext cx="204" cy="95"/>
                </a:xfrm>
                <a:custGeom>
                  <a:avLst/>
                  <a:gdLst>
                    <a:gd name="T0" fmla="*/ 0 w 1016"/>
                    <a:gd name="T1" fmla="*/ 0 h 476"/>
                    <a:gd name="T2" fmla="*/ 0 w 1016"/>
                    <a:gd name="T3" fmla="*/ 0 h 476"/>
                    <a:gd name="T4" fmla="*/ 0 w 1016"/>
                    <a:gd name="T5" fmla="*/ 0 h 476"/>
                    <a:gd name="T6" fmla="*/ 0 w 1016"/>
                    <a:gd name="T7" fmla="*/ 0 h 476"/>
                    <a:gd name="T8" fmla="*/ 0 w 1016"/>
                    <a:gd name="T9" fmla="*/ 0 h 47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16" h="476">
                      <a:moveTo>
                        <a:pt x="1016" y="476"/>
                      </a:moveTo>
                      <a:lnTo>
                        <a:pt x="1016" y="390"/>
                      </a:lnTo>
                      <a:lnTo>
                        <a:pt x="0" y="0"/>
                      </a:lnTo>
                      <a:lnTo>
                        <a:pt x="0" y="60"/>
                      </a:lnTo>
                      <a:lnTo>
                        <a:pt x="1016" y="47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08" name="Freeform 52"/>
              <p:cNvSpPr>
                <a:spLocks/>
              </p:cNvSpPr>
              <p:nvPr/>
            </p:nvSpPr>
            <p:spPr bwMode="auto">
              <a:xfrm>
                <a:off x="564" y="2028"/>
                <a:ext cx="239" cy="378"/>
              </a:xfrm>
              <a:custGeom>
                <a:avLst/>
                <a:gdLst>
                  <a:gd name="T0" fmla="*/ 0 w 1195"/>
                  <a:gd name="T1" fmla="*/ 0 h 1893"/>
                  <a:gd name="T2" fmla="*/ 0 w 1195"/>
                  <a:gd name="T3" fmla="*/ 0 h 1893"/>
                  <a:gd name="T4" fmla="*/ 0 w 1195"/>
                  <a:gd name="T5" fmla="*/ 0 h 1893"/>
                  <a:gd name="T6" fmla="*/ 0 w 1195"/>
                  <a:gd name="T7" fmla="*/ 0 h 18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95" h="1893">
                    <a:moveTo>
                      <a:pt x="660" y="0"/>
                    </a:moveTo>
                    <a:lnTo>
                      <a:pt x="1195" y="1747"/>
                    </a:lnTo>
                    <a:lnTo>
                      <a:pt x="0" y="1893"/>
                    </a:lnTo>
                    <a:lnTo>
                      <a:pt x="191" y="35"/>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4" name="Group 53"/>
            <p:cNvGrpSpPr>
              <a:grpSpLocks/>
            </p:cNvGrpSpPr>
            <p:nvPr/>
          </p:nvGrpSpPr>
          <p:grpSpPr bwMode="auto">
            <a:xfrm>
              <a:off x="325" y="1767"/>
              <a:ext cx="383" cy="268"/>
              <a:chOff x="325" y="1767"/>
              <a:chExt cx="383" cy="268"/>
            </a:xfrm>
          </p:grpSpPr>
          <p:grpSp>
            <p:nvGrpSpPr>
              <p:cNvPr id="55" name="Group 54"/>
              <p:cNvGrpSpPr>
                <a:grpSpLocks/>
              </p:cNvGrpSpPr>
              <p:nvPr/>
            </p:nvGrpSpPr>
            <p:grpSpPr bwMode="auto">
              <a:xfrm>
                <a:off x="412" y="1767"/>
                <a:ext cx="296" cy="243"/>
                <a:chOff x="412" y="1767"/>
                <a:chExt cx="296" cy="243"/>
              </a:xfrm>
            </p:grpSpPr>
            <p:grpSp>
              <p:nvGrpSpPr>
                <p:cNvPr id="88" name="Group 55"/>
                <p:cNvGrpSpPr>
                  <a:grpSpLocks/>
                </p:cNvGrpSpPr>
                <p:nvPr/>
              </p:nvGrpSpPr>
              <p:grpSpPr bwMode="auto">
                <a:xfrm>
                  <a:off x="412" y="1767"/>
                  <a:ext cx="296" cy="243"/>
                  <a:chOff x="412" y="1767"/>
                  <a:chExt cx="296" cy="243"/>
                </a:xfrm>
              </p:grpSpPr>
              <p:grpSp>
                <p:nvGrpSpPr>
                  <p:cNvPr id="97" name="Group 56"/>
                  <p:cNvGrpSpPr>
                    <a:grpSpLocks/>
                  </p:cNvGrpSpPr>
                  <p:nvPr/>
                </p:nvGrpSpPr>
                <p:grpSpPr bwMode="auto">
                  <a:xfrm>
                    <a:off x="412" y="1904"/>
                    <a:ext cx="296" cy="106"/>
                    <a:chOff x="412" y="1904"/>
                    <a:chExt cx="296" cy="106"/>
                  </a:xfrm>
                </p:grpSpPr>
                <p:sp>
                  <p:nvSpPr>
                    <p:cNvPr id="103" name="Freeform 57"/>
                    <p:cNvSpPr>
                      <a:spLocks/>
                    </p:cNvSpPr>
                    <p:nvPr/>
                  </p:nvSpPr>
                  <p:spPr bwMode="auto">
                    <a:xfrm>
                      <a:off x="412" y="1904"/>
                      <a:ext cx="170" cy="106"/>
                    </a:xfrm>
                    <a:custGeom>
                      <a:avLst/>
                      <a:gdLst>
                        <a:gd name="T0" fmla="*/ 0 w 848"/>
                        <a:gd name="T1" fmla="*/ 0 h 530"/>
                        <a:gd name="T2" fmla="*/ 0 w 848"/>
                        <a:gd name="T3" fmla="*/ 0 h 530"/>
                        <a:gd name="T4" fmla="*/ 0 w 848"/>
                        <a:gd name="T5" fmla="*/ 0 h 530"/>
                        <a:gd name="T6" fmla="*/ 0 w 848"/>
                        <a:gd name="T7" fmla="*/ 0 h 530"/>
                        <a:gd name="T8" fmla="*/ 0 w 848"/>
                        <a:gd name="T9" fmla="*/ 0 h 5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8" h="530">
                          <a:moveTo>
                            <a:pt x="848" y="162"/>
                          </a:moveTo>
                          <a:lnTo>
                            <a:pt x="848" y="530"/>
                          </a:lnTo>
                          <a:lnTo>
                            <a:pt x="0" y="258"/>
                          </a:lnTo>
                          <a:lnTo>
                            <a:pt x="0" y="0"/>
                          </a:lnTo>
                          <a:lnTo>
                            <a:pt x="848" y="162"/>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4" name="Freeform 58"/>
                    <p:cNvSpPr>
                      <a:spLocks/>
                    </p:cNvSpPr>
                    <p:nvPr/>
                  </p:nvSpPr>
                  <p:spPr bwMode="auto">
                    <a:xfrm>
                      <a:off x="582" y="1929"/>
                      <a:ext cx="126" cy="81"/>
                    </a:xfrm>
                    <a:custGeom>
                      <a:avLst/>
                      <a:gdLst>
                        <a:gd name="T0" fmla="*/ 0 w 631"/>
                        <a:gd name="T1" fmla="*/ 0 h 404"/>
                        <a:gd name="T2" fmla="*/ 0 w 631"/>
                        <a:gd name="T3" fmla="*/ 0 h 404"/>
                        <a:gd name="T4" fmla="*/ 0 w 631"/>
                        <a:gd name="T5" fmla="*/ 0 h 404"/>
                        <a:gd name="T6" fmla="*/ 0 w 631"/>
                        <a:gd name="T7" fmla="*/ 0 h 404"/>
                        <a:gd name="T8" fmla="*/ 0 w 631"/>
                        <a:gd name="T9" fmla="*/ 0 h 40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1" h="404">
                          <a:moveTo>
                            <a:pt x="0" y="36"/>
                          </a:moveTo>
                          <a:lnTo>
                            <a:pt x="0" y="404"/>
                          </a:lnTo>
                          <a:lnTo>
                            <a:pt x="631" y="312"/>
                          </a:lnTo>
                          <a:lnTo>
                            <a:pt x="631" y="0"/>
                          </a:lnTo>
                          <a:lnTo>
                            <a:pt x="0" y="36"/>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5" name="Freeform 59"/>
                    <p:cNvSpPr>
                      <a:spLocks/>
                    </p:cNvSpPr>
                    <p:nvPr/>
                  </p:nvSpPr>
                  <p:spPr bwMode="auto">
                    <a:xfrm>
                      <a:off x="412" y="1904"/>
                      <a:ext cx="296" cy="32"/>
                    </a:xfrm>
                    <a:custGeom>
                      <a:avLst/>
                      <a:gdLst>
                        <a:gd name="T0" fmla="*/ 0 w 1479"/>
                        <a:gd name="T1" fmla="*/ 0 h 162"/>
                        <a:gd name="T2" fmla="*/ 0 w 1479"/>
                        <a:gd name="T3" fmla="*/ 0 h 162"/>
                        <a:gd name="T4" fmla="*/ 0 w 1479"/>
                        <a:gd name="T5" fmla="*/ 0 h 162"/>
                        <a:gd name="T6" fmla="*/ 0 w 1479"/>
                        <a:gd name="T7" fmla="*/ 0 h 162"/>
                        <a:gd name="T8" fmla="*/ 0 w 1479"/>
                        <a:gd name="T9" fmla="*/ 0 h 16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479" h="162">
                          <a:moveTo>
                            <a:pt x="1479" y="126"/>
                          </a:moveTo>
                          <a:lnTo>
                            <a:pt x="842" y="162"/>
                          </a:lnTo>
                          <a:lnTo>
                            <a:pt x="0" y="0"/>
                          </a:lnTo>
                          <a:lnTo>
                            <a:pt x="619" y="0"/>
                          </a:lnTo>
                          <a:lnTo>
                            <a:pt x="1479" y="12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98" name="Freeform 60"/>
                  <p:cNvSpPr>
                    <a:spLocks/>
                  </p:cNvSpPr>
                  <p:nvPr/>
                </p:nvSpPr>
                <p:spPr bwMode="auto">
                  <a:xfrm>
                    <a:off x="504" y="1895"/>
                    <a:ext cx="108" cy="30"/>
                  </a:xfrm>
                  <a:custGeom>
                    <a:avLst/>
                    <a:gdLst>
                      <a:gd name="T0" fmla="*/ 0 w 538"/>
                      <a:gd name="T1" fmla="*/ 0 h 151"/>
                      <a:gd name="T2" fmla="*/ 0 w 538"/>
                      <a:gd name="T3" fmla="*/ 0 h 151"/>
                      <a:gd name="T4" fmla="*/ 0 w 538"/>
                      <a:gd name="T5" fmla="*/ 0 h 151"/>
                      <a:gd name="T6" fmla="*/ 0 w 538"/>
                      <a:gd name="T7" fmla="*/ 0 h 151"/>
                      <a:gd name="T8" fmla="*/ 0 w 538"/>
                      <a:gd name="T9" fmla="*/ 0 h 151"/>
                      <a:gd name="T10" fmla="*/ 0 w 538"/>
                      <a:gd name="T11" fmla="*/ 0 h 15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38" h="151">
                        <a:moveTo>
                          <a:pt x="538" y="86"/>
                        </a:moveTo>
                        <a:lnTo>
                          <a:pt x="538" y="135"/>
                        </a:lnTo>
                        <a:lnTo>
                          <a:pt x="287" y="151"/>
                        </a:lnTo>
                        <a:lnTo>
                          <a:pt x="0" y="97"/>
                        </a:lnTo>
                        <a:lnTo>
                          <a:pt x="0" y="0"/>
                        </a:lnTo>
                        <a:lnTo>
                          <a:pt x="538" y="86"/>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99" name="Group 61"/>
                  <p:cNvGrpSpPr>
                    <a:grpSpLocks/>
                  </p:cNvGrpSpPr>
                  <p:nvPr/>
                </p:nvGrpSpPr>
                <p:grpSpPr bwMode="auto">
                  <a:xfrm>
                    <a:off x="446" y="1767"/>
                    <a:ext cx="239" cy="151"/>
                    <a:chOff x="446" y="1767"/>
                    <a:chExt cx="239" cy="151"/>
                  </a:xfrm>
                </p:grpSpPr>
                <p:sp>
                  <p:nvSpPr>
                    <p:cNvPr id="100" name="Freeform 62"/>
                    <p:cNvSpPr>
                      <a:spLocks/>
                    </p:cNvSpPr>
                    <p:nvPr/>
                  </p:nvSpPr>
                  <p:spPr bwMode="auto">
                    <a:xfrm>
                      <a:off x="446" y="1767"/>
                      <a:ext cx="137" cy="148"/>
                    </a:xfrm>
                    <a:custGeom>
                      <a:avLst/>
                      <a:gdLst>
                        <a:gd name="T0" fmla="*/ 0 w 686"/>
                        <a:gd name="T1" fmla="*/ 0 h 740"/>
                        <a:gd name="T2" fmla="*/ 0 w 686"/>
                        <a:gd name="T3" fmla="*/ 0 h 740"/>
                        <a:gd name="T4" fmla="*/ 0 w 686"/>
                        <a:gd name="T5" fmla="*/ 0 h 740"/>
                        <a:gd name="T6" fmla="*/ 0 w 686"/>
                        <a:gd name="T7" fmla="*/ 0 h 740"/>
                        <a:gd name="T8" fmla="*/ 0 w 686"/>
                        <a:gd name="T9" fmla="*/ 0 h 7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6" h="740">
                          <a:moveTo>
                            <a:pt x="589" y="740"/>
                          </a:moveTo>
                          <a:lnTo>
                            <a:pt x="686" y="24"/>
                          </a:lnTo>
                          <a:lnTo>
                            <a:pt x="95" y="0"/>
                          </a:lnTo>
                          <a:lnTo>
                            <a:pt x="0" y="638"/>
                          </a:lnTo>
                          <a:lnTo>
                            <a:pt x="589" y="740"/>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1" name="Freeform 63"/>
                    <p:cNvSpPr>
                      <a:spLocks/>
                    </p:cNvSpPr>
                    <p:nvPr/>
                  </p:nvSpPr>
                  <p:spPr bwMode="auto">
                    <a:xfrm>
                      <a:off x="564" y="1771"/>
                      <a:ext cx="121" cy="147"/>
                    </a:xfrm>
                    <a:custGeom>
                      <a:avLst/>
                      <a:gdLst>
                        <a:gd name="T0" fmla="*/ 0 w 608"/>
                        <a:gd name="T1" fmla="*/ 0 h 735"/>
                        <a:gd name="T2" fmla="*/ 0 w 608"/>
                        <a:gd name="T3" fmla="*/ 0 h 735"/>
                        <a:gd name="T4" fmla="*/ 0 w 608"/>
                        <a:gd name="T5" fmla="*/ 0 h 735"/>
                        <a:gd name="T6" fmla="*/ 0 w 608"/>
                        <a:gd name="T7" fmla="*/ 0 h 735"/>
                        <a:gd name="T8" fmla="*/ 0 w 608"/>
                        <a:gd name="T9" fmla="*/ 0 h 7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8" h="735">
                          <a:moveTo>
                            <a:pt x="97" y="0"/>
                          </a:moveTo>
                          <a:lnTo>
                            <a:pt x="608" y="163"/>
                          </a:lnTo>
                          <a:lnTo>
                            <a:pt x="536" y="735"/>
                          </a:lnTo>
                          <a:lnTo>
                            <a:pt x="0" y="717"/>
                          </a:lnTo>
                          <a:lnTo>
                            <a:pt x="97" y="0"/>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2" name="Freeform 64"/>
                    <p:cNvSpPr>
                      <a:spLocks/>
                    </p:cNvSpPr>
                    <p:nvPr/>
                  </p:nvSpPr>
                  <p:spPr bwMode="auto">
                    <a:xfrm>
                      <a:off x="462" y="1781"/>
                      <a:ext cx="98" cy="112"/>
                    </a:xfrm>
                    <a:custGeom>
                      <a:avLst/>
                      <a:gdLst>
                        <a:gd name="T0" fmla="*/ 0 w 493"/>
                        <a:gd name="T1" fmla="*/ 0 h 557"/>
                        <a:gd name="T2" fmla="*/ 0 w 493"/>
                        <a:gd name="T3" fmla="*/ 0 h 557"/>
                        <a:gd name="T4" fmla="*/ 0 w 493"/>
                        <a:gd name="T5" fmla="*/ 0 h 557"/>
                        <a:gd name="T6" fmla="*/ 0 w 493"/>
                        <a:gd name="T7" fmla="*/ 0 h 557"/>
                        <a:gd name="T8" fmla="*/ 0 w 493"/>
                        <a:gd name="T9" fmla="*/ 0 h 5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93" h="557">
                          <a:moveTo>
                            <a:pt x="493" y="25"/>
                          </a:moveTo>
                          <a:lnTo>
                            <a:pt x="423" y="557"/>
                          </a:lnTo>
                          <a:lnTo>
                            <a:pt x="0" y="494"/>
                          </a:lnTo>
                          <a:lnTo>
                            <a:pt x="73" y="0"/>
                          </a:lnTo>
                          <a:lnTo>
                            <a:pt x="493" y="25"/>
                          </a:lnTo>
                          <a:close/>
                        </a:path>
                      </a:pathLst>
                    </a:custGeom>
                    <a:solidFill>
                      <a:srgbClr val="0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89" name="Group 65"/>
                <p:cNvGrpSpPr>
                  <a:grpSpLocks/>
                </p:cNvGrpSpPr>
                <p:nvPr/>
              </p:nvGrpSpPr>
              <p:grpSpPr bwMode="auto">
                <a:xfrm>
                  <a:off x="424" y="1915"/>
                  <a:ext cx="97" cy="69"/>
                  <a:chOff x="424" y="1915"/>
                  <a:chExt cx="97" cy="69"/>
                </a:xfrm>
              </p:grpSpPr>
              <p:sp>
                <p:nvSpPr>
                  <p:cNvPr id="90" name="Freeform 66"/>
                  <p:cNvSpPr>
                    <a:spLocks/>
                  </p:cNvSpPr>
                  <p:nvPr/>
                </p:nvSpPr>
                <p:spPr bwMode="auto">
                  <a:xfrm>
                    <a:off x="424" y="1915"/>
                    <a:ext cx="97" cy="69"/>
                  </a:xfrm>
                  <a:custGeom>
                    <a:avLst/>
                    <a:gdLst>
                      <a:gd name="T0" fmla="*/ 0 w 483"/>
                      <a:gd name="T1" fmla="*/ 0 h 346"/>
                      <a:gd name="T2" fmla="*/ 0 w 483"/>
                      <a:gd name="T3" fmla="*/ 0 h 346"/>
                      <a:gd name="T4" fmla="*/ 0 w 483"/>
                      <a:gd name="T5" fmla="*/ 0 h 346"/>
                      <a:gd name="T6" fmla="*/ 0 w 483"/>
                      <a:gd name="T7" fmla="*/ 0 h 346"/>
                      <a:gd name="T8" fmla="*/ 0 w 483"/>
                      <a:gd name="T9" fmla="*/ 0 h 34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3" h="346">
                        <a:moveTo>
                          <a:pt x="0" y="0"/>
                        </a:moveTo>
                        <a:lnTo>
                          <a:pt x="483" y="104"/>
                        </a:lnTo>
                        <a:lnTo>
                          <a:pt x="483" y="346"/>
                        </a:lnTo>
                        <a:lnTo>
                          <a:pt x="0" y="195"/>
                        </a:lnTo>
                        <a:lnTo>
                          <a:pt x="0" y="0"/>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1" name="Line 67"/>
                  <p:cNvSpPr>
                    <a:spLocks noChangeShapeType="1"/>
                  </p:cNvSpPr>
                  <p:nvPr/>
                </p:nvSpPr>
                <p:spPr bwMode="auto">
                  <a:xfrm flipH="1" flipV="1">
                    <a:off x="433" y="1933"/>
                    <a:ext cx="26" cy="6"/>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2" name="Line 68"/>
                  <p:cNvSpPr>
                    <a:spLocks noChangeShapeType="1"/>
                  </p:cNvSpPr>
                  <p:nvPr/>
                </p:nvSpPr>
                <p:spPr bwMode="auto">
                  <a:xfrm>
                    <a:off x="472" y="1941"/>
                    <a:ext cx="34" cy="7"/>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3" name="Line 69"/>
                  <p:cNvSpPr>
                    <a:spLocks noChangeShapeType="1"/>
                  </p:cNvSpPr>
                  <p:nvPr/>
                </p:nvSpPr>
                <p:spPr bwMode="auto">
                  <a:xfrm>
                    <a:off x="465" y="1924"/>
                    <a:ext cx="1" cy="45"/>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4" name="Line 70"/>
                  <p:cNvSpPr>
                    <a:spLocks noChangeShapeType="1"/>
                  </p:cNvSpPr>
                  <p:nvPr/>
                </p:nvSpPr>
                <p:spPr bwMode="auto">
                  <a:xfrm>
                    <a:off x="511" y="1934"/>
                    <a:ext cx="1" cy="49"/>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5" name="Line 71"/>
                  <p:cNvSpPr>
                    <a:spLocks noChangeShapeType="1"/>
                  </p:cNvSpPr>
                  <p:nvPr/>
                </p:nvSpPr>
                <p:spPr bwMode="auto">
                  <a:xfrm>
                    <a:off x="425" y="1933"/>
                    <a:ext cx="88" cy="22"/>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6" name="Line 72"/>
                  <p:cNvSpPr>
                    <a:spLocks noChangeShapeType="1"/>
                  </p:cNvSpPr>
                  <p:nvPr/>
                </p:nvSpPr>
                <p:spPr bwMode="auto">
                  <a:xfrm flipH="1" flipV="1">
                    <a:off x="424" y="1926"/>
                    <a:ext cx="89" cy="21"/>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56" name="Group 73"/>
              <p:cNvGrpSpPr>
                <a:grpSpLocks/>
              </p:cNvGrpSpPr>
              <p:nvPr/>
            </p:nvGrpSpPr>
            <p:grpSpPr bwMode="auto">
              <a:xfrm>
                <a:off x="325" y="1917"/>
                <a:ext cx="231" cy="118"/>
                <a:chOff x="325" y="1917"/>
                <a:chExt cx="231" cy="118"/>
              </a:xfrm>
            </p:grpSpPr>
            <p:grpSp>
              <p:nvGrpSpPr>
                <p:cNvPr id="57" name="Group 74"/>
                <p:cNvGrpSpPr>
                  <a:grpSpLocks/>
                </p:cNvGrpSpPr>
                <p:nvPr/>
              </p:nvGrpSpPr>
              <p:grpSpPr bwMode="auto">
                <a:xfrm>
                  <a:off x="504" y="1981"/>
                  <a:ext cx="37" cy="28"/>
                  <a:chOff x="504" y="1981"/>
                  <a:chExt cx="37" cy="28"/>
                </a:xfrm>
              </p:grpSpPr>
              <p:sp>
                <p:nvSpPr>
                  <p:cNvPr id="86" name="Freeform 75"/>
                  <p:cNvSpPr>
                    <a:spLocks/>
                  </p:cNvSpPr>
                  <p:nvPr/>
                </p:nvSpPr>
                <p:spPr bwMode="auto">
                  <a:xfrm>
                    <a:off x="531" y="1981"/>
                    <a:ext cx="10" cy="28"/>
                  </a:xfrm>
                  <a:custGeom>
                    <a:avLst/>
                    <a:gdLst>
                      <a:gd name="T0" fmla="*/ 0 w 53"/>
                      <a:gd name="T1" fmla="*/ 0 h 140"/>
                      <a:gd name="T2" fmla="*/ 0 w 53"/>
                      <a:gd name="T3" fmla="*/ 0 h 140"/>
                      <a:gd name="T4" fmla="*/ 0 w 53"/>
                      <a:gd name="T5" fmla="*/ 0 h 140"/>
                      <a:gd name="T6" fmla="*/ 0 w 53"/>
                      <a:gd name="T7" fmla="*/ 0 h 140"/>
                      <a:gd name="T8" fmla="*/ 0 w 53"/>
                      <a:gd name="T9" fmla="*/ 0 h 1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3" h="140">
                        <a:moveTo>
                          <a:pt x="37" y="0"/>
                        </a:moveTo>
                        <a:lnTo>
                          <a:pt x="53" y="131"/>
                        </a:lnTo>
                        <a:lnTo>
                          <a:pt x="14" y="140"/>
                        </a:lnTo>
                        <a:lnTo>
                          <a:pt x="0" y="6"/>
                        </a:lnTo>
                        <a:lnTo>
                          <a:pt x="3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7" name="Freeform 76"/>
                  <p:cNvSpPr>
                    <a:spLocks/>
                  </p:cNvSpPr>
                  <p:nvPr/>
                </p:nvSpPr>
                <p:spPr bwMode="auto">
                  <a:xfrm>
                    <a:off x="504" y="1985"/>
                    <a:ext cx="29" cy="24"/>
                  </a:xfrm>
                  <a:custGeom>
                    <a:avLst/>
                    <a:gdLst>
                      <a:gd name="T0" fmla="*/ 0 w 148"/>
                      <a:gd name="T1" fmla="*/ 0 h 122"/>
                      <a:gd name="T2" fmla="*/ 0 w 148"/>
                      <a:gd name="T3" fmla="*/ 0 h 122"/>
                      <a:gd name="T4" fmla="*/ 0 w 148"/>
                      <a:gd name="T5" fmla="*/ 0 h 122"/>
                      <a:gd name="T6" fmla="*/ 0 w 148"/>
                      <a:gd name="T7" fmla="*/ 0 h 122"/>
                      <a:gd name="T8" fmla="*/ 0 w 148"/>
                      <a:gd name="T9" fmla="*/ 0 h 122"/>
                      <a:gd name="T10" fmla="*/ 0 w 148"/>
                      <a:gd name="T11" fmla="*/ 0 h 122"/>
                      <a:gd name="T12" fmla="*/ 0 w 148"/>
                      <a:gd name="T13" fmla="*/ 0 h 1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48" h="122">
                        <a:moveTo>
                          <a:pt x="136" y="5"/>
                        </a:moveTo>
                        <a:lnTo>
                          <a:pt x="148" y="122"/>
                        </a:lnTo>
                        <a:lnTo>
                          <a:pt x="0" y="61"/>
                        </a:lnTo>
                        <a:lnTo>
                          <a:pt x="58" y="43"/>
                        </a:lnTo>
                        <a:lnTo>
                          <a:pt x="111" y="70"/>
                        </a:lnTo>
                        <a:lnTo>
                          <a:pt x="94" y="0"/>
                        </a:lnTo>
                        <a:lnTo>
                          <a:pt x="136" y="5"/>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8" name="Group 77"/>
                <p:cNvGrpSpPr>
                  <a:grpSpLocks/>
                </p:cNvGrpSpPr>
                <p:nvPr/>
              </p:nvGrpSpPr>
              <p:grpSpPr bwMode="auto">
                <a:xfrm>
                  <a:off x="325" y="1917"/>
                  <a:ext cx="231" cy="118"/>
                  <a:chOff x="325" y="1917"/>
                  <a:chExt cx="231" cy="118"/>
                </a:xfrm>
              </p:grpSpPr>
              <p:sp>
                <p:nvSpPr>
                  <p:cNvPr id="59" name="Freeform 78"/>
                  <p:cNvSpPr>
                    <a:spLocks/>
                  </p:cNvSpPr>
                  <p:nvPr/>
                </p:nvSpPr>
                <p:spPr bwMode="auto">
                  <a:xfrm>
                    <a:off x="326" y="1917"/>
                    <a:ext cx="226" cy="105"/>
                  </a:xfrm>
                  <a:custGeom>
                    <a:avLst/>
                    <a:gdLst>
                      <a:gd name="T0" fmla="*/ 0 w 1132"/>
                      <a:gd name="T1" fmla="*/ 0 h 525"/>
                      <a:gd name="T2" fmla="*/ 0 w 1132"/>
                      <a:gd name="T3" fmla="*/ 0 h 525"/>
                      <a:gd name="T4" fmla="*/ 0 w 1132"/>
                      <a:gd name="T5" fmla="*/ 0 h 525"/>
                      <a:gd name="T6" fmla="*/ 0 w 1132"/>
                      <a:gd name="T7" fmla="*/ 0 h 525"/>
                      <a:gd name="T8" fmla="*/ 0 w 1132"/>
                      <a:gd name="T9" fmla="*/ 0 h 5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32" h="525">
                        <a:moveTo>
                          <a:pt x="1132" y="223"/>
                        </a:moveTo>
                        <a:lnTo>
                          <a:pt x="589" y="525"/>
                        </a:lnTo>
                        <a:lnTo>
                          <a:pt x="0" y="230"/>
                        </a:lnTo>
                        <a:lnTo>
                          <a:pt x="452" y="0"/>
                        </a:lnTo>
                        <a:lnTo>
                          <a:pt x="1132" y="223"/>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0" name="Freeform 79"/>
                  <p:cNvSpPr>
                    <a:spLocks/>
                  </p:cNvSpPr>
                  <p:nvPr/>
                </p:nvSpPr>
                <p:spPr bwMode="auto">
                  <a:xfrm>
                    <a:off x="443" y="1961"/>
                    <a:ext cx="113" cy="74"/>
                  </a:xfrm>
                  <a:custGeom>
                    <a:avLst/>
                    <a:gdLst>
                      <a:gd name="T0" fmla="*/ 0 w 566"/>
                      <a:gd name="T1" fmla="*/ 0 h 371"/>
                      <a:gd name="T2" fmla="*/ 0 w 566"/>
                      <a:gd name="T3" fmla="*/ 0 h 371"/>
                      <a:gd name="T4" fmla="*/ 0 w 566"/>
                      <a:gd name="T5" fmla="*/ 0 h 371"/>
                      <a:gd name="T6" fmla="*/ 0 w 566"/>
                      <a:gd name="T7" fmla="*/ 0 h 371"/>
                      <a:gd name="T8" fmla="*/ 0 w 566"/>
                      <a:gd name="T9" fmla="*/ 0 h 3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6" h="371">
                        <a:moveTo>
                          <a:pt x="547" y="0"/>
                        </a:moveTo>
                        <a:lnTo>
                          <a:pt x="0" y="307"/>
                        </a:lnTo>
                        <a:lnTo>
                          <a:pt x="16" y="371"/>
                        </a:lnTo>
                        <a:lnTo>
                          <a:pt x="566" y="60"/>
                        </a:lnTo>
                        <a:lnTo>
                          <a:pt x="54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1" name="Freeform 80"/>
                  <p:cNvSpPr>
                    <a:spLocks/>
                  </p:cNvSpPr>
                  <p:nvPr/>
                </p:nvSpPr>
                <p:spPr bwMode="auto">
                  <a:xfrm>
                    <a:off x="325" y="1963"/>
                    <a:ext cx="121" cy="72"/>
                  </a:xfrm>
                  <a:custGeom>
                    <a:avLst/>
                    <a:gdLst>
                      <a:gd name="T0" fmla="*/ 0 w 605"/>
                      <a:gd name="T1" fmla="*/ 0 h 363"/>
                      <a:gd name="T2" fmla="*/ 0 w 605"/>
                      <a:gd name="T3" fmla="*/ 0 h 363"/>
                      <a:gd name="T4" fmla="*/ 0 w 605"/>
                      <a:gd name="T5" fmla="*/ 0 h 363"/>
                      <a:gd name="T6" fmla="*/ 0 w 605"/>
                      <a:gd name="T7" fmla="*/ 0 h 363"/>
                      <a:gd name="T8" fmla="*/ 0 w 605"/>
                      <a:gd name="T9" fmla="*/ 0 h 3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5" h="363">
                        <a:moveTo>
                          <a:pt x="605" y="363"/>
                        </a:moveTo>
                        <a:lnTo>
                          <a:pt x="587" y="295"/>
                        </a:lnTo>
                        <a:lnTo>
                          <a:pt x="0" y="0"/>
                        </a:lnTo>
                        <a:lnTo>
                          <a:pt x="21" y="53"/>
                        </a:lnTo>
                        <a:lnTo>
                          <a:pt x="605" y="36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2" name="Freeform 81"/>
                  <p:cNvSpPr>
                    <a:spLocks/>
                  </p:cNvSpPr>
                  <p:nvPr/>
                </p:nvSpPr>
                <p:spPr bwMode="auto">
                  <a:xfrm>
                    <a:off x="417" y="1966"/>
                    <a:ext cx="90" cy="46"/>
                  </a:xfrm>
                  <a:custGeom>
                    <a:avLst/>
                    <a:gdLst>
                      <a:gd name="T0" fmla="*/ 0 w 454"/>
                      <a:gd name="T1" fmla="*/ 0 h 230"/>
                      <a:gd name="T2" fmla="*/ 0 w 454"/>
                      <a:gd name="T3" fmla="*/ 0 h 230"/>
                      <a:gd name="T4" fmla="*/ 0 w 454"/>
                      <a:gd name="T5" fmla="*/ 0 h 230"/>
                      <a:gd name="T6" fmla="*/ 0 w 454"/>
                      <a:gd name="T7" fmla="*/ 0 h 230"/>
                      <a:gd name="T8" fmla="*/ 0 w 454"/>
                      <a:gd name="T9" fmla="*/ 0 h 2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54" h="230">
                        <a:moveTo>
                          <a:pt x="454" y="59"/>
                        </a:moveTo>
                        <a:lnTo>
                          <a:pt x="297" y="0"/>
                        </a:lnTo>
                        <a:lnTo>
                          <a:pt x="0" y="161"/>
                        </a:lnTo>
                        <a:lnTo>
                          <a:pt x="151" y="230"/>
                        </a:lnTo>
                        <a:lnTo>
                          <a:pt x="454" y="5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3" name="Freeform 82"/>
                  <p:cNvSpPr>
                    <a:spLocks/>
                  </p:cNvSpPr>
                  <p:nvPr/>
                </p:nvSpPr>
                <p:spPr bwMode="auto">
                  <a:xfrm>
                    <a:off x="336" y="1934"/>
                    <a:ext cx="134" cy="61"/>
                  </a:xfrm>
                  <a:custGeom>
                    <a:avLst/>
                    <a:gdLst>
                      <a:gd name="T0" fmla="*/ 0 w 669"/>
                      <a:gd name="T1" fmla="*/ 0 h 309"/>
                      <a:gd name="T2" fmla="*/ 0 w 669"/>
                      <a:gd name="T3" fmla="*/ 0 h 309"/>
                      <a:gd name="T4" fmla="*/ 0 w 669"/>
                      <a:gd name="T5" fmla="*/ 0 h 309"/>
                      <a:gd name="T6" fmla="*/ 0 w 669"/>
                      <a:gd name="T7" fmla="*/ 0 h 309"/>
                      <a:gd name="T8" fmla="*/ 0 w 669"/>
                      <a:gd name="T9" fmla="*/ 0 h 30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69" h="309">
                        <a:moveTo>
                          <a:pt x="669" y="150"/>
                        </a:moveTo>
                        <a:lnTo>
                          <a:pt x="377" y="309"/>
                        </a:lnTo>
                        <a:lnTo>
                          <a:pt x="0" y="132"/>
                        </a:lnTo>
                        <a:lnTo>
                          <a:pt x="273" y="0"/>
                        </a:lnTo>
                        <a:lnTo>
                          <a:pt x="669" y="15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4" name="Freeform 83"/>
                  <p:cNvSpPr>
                    <a:spLocks/>
                  </p:cNvSpPr>
                  <p:nvPr/>
                </p:nvSpPr>
                <p:spPr bwMode="auto">
                  <a:xfrm>
                    <a:off x="393" y="1920"/>
                    <a:ext cx="148" cy="57"/>
                  </a:xfrm>
                  <a:custGeom>
                    <a:avLst/>
                    <a:gdLst>
                      <a:gd name="T0" fmla="*/ 0 w 738"/>
                      <a:gd name="T1" fmla="*/ 0 h 283"/>
                      <a:gd name="T2" fmla="*/ 0 w 738"/>
                      <a:gd name="T3" fmla="*/ 0 h 283"/>
                      <a:gd name="T4" fmla="*/ 0 w 738"/>
                      <a:gd name="T5" fmla="*/ 0 h 283"/>
                      <a:gd name="T6" fmla="*/ 0 w 738"/>
                      <a:gd name="T7" fmla="*/ 0 h 283"/>
                      <a:gd name="T8" fmla="*/ 0 w 738"/>
                      <a:gd name="T9" fmla="*/ 0 h 28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38" h="283">
                        <a:moveTo>
                          <a:pt x="584" y="283"/>
                        </a:moveTo>
                        <a:lnTo>
                          <a:pt x="738" y="205"/>
                        </a:lnTo>
                        <a:lnTo>
                          <a:pt x="118" y="0"/>
                        </a:lnTo>
                        <a:lnTo>
                          <a:pt x="0" y="60"/>
                        </a:lnTo>
                        <a:lnTo>
                          <a:pt x="584" y="2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5" name="Line 84"/>
                  <p:cNvSpPr>
                    <a:spLocks noChangeShapeType="1"/>
                  </p:cNvSpPr>
                  <p:nvPr/>
                </p:nvSpPr>
                <p:spPr bwMode="auto">
                  <a:xfrm flipH="1" flipV="1">
                    <a:off x="411" y="1923"/>
                    <a:ext cx="128" cy="4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6" name="Line 85"/>
                  <p:cNvSpPr>
                    <a:spLocks noChangeShapeType="1"/>
                  </p:cNvSpPr>
                  <p:nvPr/>
                </p:nvSpPr>
                <p:spPr bwMode="auto">
                  <a:xfrm flipH="1" flipV="1">
                    <a:off x="404" y="1925"/>
                    <a:ext cx="124" cy="45"/>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7" name="Line 86"/>
                  <p:cNvSpPr>
                    <a:spLocks noChangeShapeType="1"/>
                  </p:cNvSpPr>
                  <p:nvPr/>
                </p:nvSpPr>
                <p:spPr bwMode="auto">
                  <a:xfrm flipH="1" flipV="1">
                    <a:off x="399" y="1930"/>
                    <a:ext cx="121" cy="46"/>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8" name="Line 87"/>
                  <p:cNvSpPr>
                    <a:spLocks noChangeShapeType="1"/>
                  </p:cNvSpPr>
                  <p:nvPr/>
                </p:nvSpPr>
                <p:spPr bwMode="auto">
                  <a:xfrm flipH="1" flipV="1">
                    <a:off x="384" y="1937"/>
                    <a:ext cx="119"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9" name="Line 88"/>
                  <p:cNvSpPr>
                    <a:spLocks noChangeShapeType="1"/>
                  </p:cNvSpPr>
                  <p:nvPr/>
                </p:nvSpPr>
                <p:spPr bwMode="auto">
                  <a:xfrm flipH="1" flipV="1">
                    <a:off x="375" y="1942"/>
                    <a:ext cx="118"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0" name="Line 89"/>
                  <p:cNvSpPr>
                    <a:spLocks noChangeShapeType="1"/>
                  </p:cNvSpPr>
                  <p:nvPr/>
                </p:nvSpPr>
                <p:spPr bwMode="auto">
                  <a:xfrm flipH="1" flipV="1">
                    <a:off x="365" y="1946"/>
                    <a:ext cx="119"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1" name="Line 90"/>
                  <p:cNvSpPr>
                    <a:spLocks noChangeShapeType="1"/>
                  </p:cNvSpPr>
                  <p:nvPr/>
                </p:nvSpPr>
                <p:spPr bwMode="auto">
                  <a:xfrm flipH="1" flipV="1">
                    <a:off x="358" y="1951"/>
                    <a:ext cx="114" cy="50"/>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2" name="Line 91"/>
                  <p:cNvSpPr>
                    <a:spLocks noChangeShapeType="1"/>
                  </p:cNvSpPr>
                  <p:nvPr/>
                </p:nvSpPr>
                <p:spPr bwMode="auto">
                  <a:xfrm flipH="1" flipV="1">
                    <a:off x="347" y="1956"/>
                    <a:ext cx="114"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3" name="Line 92"/>
                  <p:cNvSpPr>
                    <a:spLocks noChangeShapeType="1"/>
                  </p:cNvSpPr>
                  <p:nvPr/>
                </p:nvSpPr>
                <p:spPr bwMode="auto">
                  <a:xfrm flipH="1">
                    <a:off x="437" y="1974"/>
                    <a:ext cx="61" cy="3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4" name="Line 93"/>
                  <p:cNvSpPr>
                    <a:spLocks noChangeShapeType="1"/>
                  </p:cNvSpPr>
                  <p:nvPr/>
                </p:nvSpPr>
                <p:spPr bwMode="auto">
                  <a:xfrm flipH="1">
                    <a:off x="426" y="1970"/>
                    <a:ext cx="58" cy="32"/>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5" name="Line 94"/>
                  <p:cNvSpPr>
                    <a:spLocks noChangeShapeType="1"/>
                  </p:cNvSpPr>
                  <p:nvPr/>
                </p:nvSpPr>
                <p:spPr bwMode="auto">
                  <a:xfrm flipH="1">
                    <a:off x="401" y="1959"/>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6" name="Line 95"/>
                  <p:cNvSpPr>
                    <a:spLocks noChangeShapeType="1"/>
                  </p:cNvSpPr>
                  <p:nvPr/>
                </p:nvSpPr>
                <p:spPr bwMode="auto">
                  <a:xfrm flipH="1">
                    <a:off x="387" y="1954"/>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7" name="Line 96"/>
                  <p:cNvSpPr>
                    <a:spLocks noChangeShapeType="1"/>
                  </p:cNvSpPr>
                  <p:nvPr/>
                </p:nvSpPr>
                <p:spPr bwMode="auto">
                  <a:xfrm flipH="1">
                    <a:off x="375" y="1949"/>
                    <a:ext cx="56"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8" name="Line 97"/>
                  <p:cNvSpPr>
                    <a:spLocks noChangeShapeType="1"/>
                  </p:cNvSpPr>
                  <p:nvPr/>
                </p:nvSpPr>
                <p:spPr bwMode="auto">
                  <a:xfrm flipH="1">
                    <a:off x="364" y="1944"/>
                    <a:ext cx="53"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9" name="Line 98"/>
                  <p:cNvSpPr>
                    <a:spLocks noChangeShapeType="1"/>
                  </p:cNvSpPr>
                  <p:nvPr/>
                </p:nvSpPr>
                <p:spPr bwMode="auto">
                  <a:xfrm flipH="1">
                    <a:off x="352" y="1939"/>
                    <a:ext cx="55"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0" name="Line 99"/>
                  <p:cNvSpPr>
                    <a:spLocks noChangeShapeType="1"/>
                  </p:cNvSpPr>
                  <p:nvPr/>
                </p:nvSpPr>
                <p:spPr bwMode="auto">
                  <a:xfrm flipH="1">
                    <a:off x="494" y="1955"/>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1" name="Line 100"/>
                  <p:cNvSpPr>
                    <a:spLocks noChangeShapeType="1"/>
                  </p:cNvSpPr>
                  <p:nvPr/>
                </p:nvSpPr>
                <p:spPr bwMode="auto">
                  <a:xfrm flipH="1">
                    <a:off x="477" y="1949"/>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2" name="Line 101"/>
                  <p:cNvSpPr>
                    <a:spLocks noChangeShapeType="1"/>
                  </p:cNvSpPr>
                  <p:nvPr/>
                </p:nvSpPr>
                <p:spPr bwMode="auto">
                  <a:xfrm flipH="1">
                    <a:off x="460" y="1943"/>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3" name="Line 102"/>
                  <p:cNvSpPr>
                    <a:spLocks noChangeShapeType="1"/>
                  </p:cNvSpPr>
                  <p:nvPr/>
                </p:nvSpPr>
                <p:spPr bwMode="auto">
                  <a:xfrm flipH="1">
                    <a:off x="443" y="1937"/>
                    <a:ext cx="27"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4" name="Line 103"/>
                  <p:cNvSpPr>
                    <a:spLocks noChangeShapeType="1"/>
                  </p:cNvSpPr>
                  <p:nvPr/>
                </p:nvSpPr>
                <p:spPr bwMode="auto">
                  <a:xfrm flipH="1">
                    <a:off x="427" y="1931"/>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5" name="Line 104"/>
                  <p:cNvSpPr>
                    <a:spLocks noChangeShapeType="1"/>
                  </p:cNvSpPr>
                  <p:nvPr/>
                </p:nvSpPr>
                <p:spPr bwMode="auto">
                  <a:xfrm flipH="1">
                    <a:off x="408" y="1925"/>
                    <a:ext cx="24"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grpSp>
        <p:nvGrpSpPr>
          <p:cNvPr id="112" name="Group 105"/>
          <p:cNvGrpSpPr>
            <a:grpSpLocks/>
          </p:cNvGrpSpPr>
          <p:nvPr/>
        </p:nvGrpSpPr>
        <p:grpSpPr bwMode="auto">
          <a:xfrm>
            <a:off x="1941367" y="3251778"/>
            <a:ext cx="55364" cy="100353"/>
            <a:chOff x="287" y="1872"/>
            <a:chExt cx="55" cy="108"/>
          </a:xfrm>
        </p:grpSpPr>
        <p:sp>
          <p:nvSpPr>
            <p:cNvPr id="113" name="Freeform 106"/>
            <p:cNvSpPr>
              <a:spLocks/>
            </p:cNvSpPr>
            <p:nvPr/>
          </p:nvSpPr>
          <p:spPr bwMode="auto">
            <a:xfrm>
              <a:off x="287" y="1872"/>
              <a:ext cx="55" cy="108"/>
            </a:xfrm>
            <a:custGeom>
              <a:avLst/>
              <a:gdLst>
                <a:gd name="T0" fmla="*/ 0 w 276"/>
                <a:gd name="T1" fmla="*/ 0 h 540"/>
                <a:gd name="T2" fmla="*/ 0 w 276"/>
                <a:gd name="T3" fmla="*/ 0 h 540"/>
                <a:gd name="T4" fmla="*/ 0 w 276"/>
                <a:gd name="T5" fmla="*/ 0 h 540"/>
                <a:gd name="T6" fmla="*/ 0 w 276"/>
                <a:gd name="T7" fmla="*/ 0 h 540"/>
                <a:gd name="T8" fmla="*/ 0 w 276"/>
                <a:gd name="T9" fmla="*/ 0 h 540"/>
                <a:gd name="T10" fmla="*/ 0 w 276"/>
                <a:gd name="T11" fmla="*/ 0 h 540"/>
                <a:gd name="T12" fmla="*/ 0 w 276"/>
                <a:gd name="T13" fmla="*/ 0 h 540"/>
                <a:gd name="T14" fmla="*/ 0 w 276"/>
                <a:gd name="T15" fmla="*/ 0 h 540"/>
                <a:gd name="T16" fmla="*/ 0 w 276"/>
                <a:gd name="T17" fmla="*/ 0 h 540"/>
                <a:gd name="T18" fmla="*/ 0 w 276"/>
                <a:gd name="T19" fmla="*/ 0 h 540"/>
                <a:gd name="T20" fmla="*/ 0 w 276"/>
                <a:gd name="T21" fmla="*/ 0 h 540"/>
                <a:gd name="T22" fmla="*/ 0 w 276"/>
                <a:gd name="T23" fmla="*/ 0 h 54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76" h="540">
                  <a:moveTo>
                    <a:pt x="0" y="192"/>
                  </a:moveTo>
                  <a:lnTo>
                    <a:pt x="53" y="121"/>
                  </a:lnTo>
                  <a:lnTo>
                    <a:pt x="104" y="84"/>
                  </a:lnTo>
                  <a:lnTo>
                    <a:pt x="125" y="30"/>
                  </a:lnTo>
                  <a:lnTo>
                    <a:pt x="137" y="6"/>
                  </a:lnTo>
                  <a:lnTo>
                    <a:pt x="195" y="0"/>
                  </a:lnTo>
                  <a:lnTo>
                    <a:pt x="276" y="45"/>
                  </a:lnTo>
                  <a:lnTo>
                    <a:pt x="255" y="143"/>
                  </a:lnTo>
                  <a:lnTo>
                    <a:pt x="232" y="198"/>
                  </a:lnTo>
                  <a:lnTo>
                    <a:pt x="179" y="365"/>
                  </a:lnTo>
                  <a:lnTo>
                    <a:pt x="92" y="540"/>
                  </a:lnTo>
                  <a:lnTo>
                    <a:pt x="0" y="192"/>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4" name="Freeform 107"/>
            <p:cNvSpPr>
              <a:spLocks/>
            </p:cNvSpPr>
            <p:nvPr/>
          </p:nvSpPr>
          <p:spPr bwMode="auto">
            <a:xfrm>
              <a:off x="296" y="1880"/>
              <a:ext cx="43" cy="77"/>
            </a:xfrm>
            <a:custGeom>
              <a:avLst/>
              <a:gdLst>
                <a:gd name="T0" fmla="*/ 0 w 216"/>
                <a:gd name="T1" fmla="*/ 0 h 385"/>
                <a:gd name="T2" fmla="*/ 0 w 216"/>
                <a:gd name="T3" fmla="*/ 0 h 385"/>
                <a:gd name="T4" fmla="*/ 0 w 216"/>
                <a:gd name="T5" fmla="*/ 0 h 385"/>
                <a:gd name="T6" fmla="*/ 0 w 216"/>
                <a:gd name="T7" fmla="*/ 0 h 385"/>
                <a:gd name="T8" fmla="*/ 0 w 216"/>
                <a:gd name="T9" fmla="*/ 0 h 385"/>
                <a:gd name="T10" fmla="*/ 0 w 216"/>
                <a:gd name="T11" fmla="*/ 0 h 385"/>
                <a:gd name="T12" fmla="*/ 0 w 216"/>
                <a:gd name="T13" fmla="*/ 0 h 385"/>
                <a:gd name="T14" fmla="*/ 0 w 216"/>
                <a:gd name="T15" fmla="*/ 0 h 385"/>
                <a:gd name="T16" fmla="*/ 0 w 216"/>
                <a:gd name="T17" fmla="*/ 0 h 385"/>
                <a:gd name="T18" fmla="*/ 0 w 216"/>
                <a:gd name="T19" fmla="*/ 0 h 385"/>
                <a:gd name="T20" fmla="*/ 0 w 216"/>
                <a:gd name="T21" fmla="*/ 0 h 385"/>
                <a:gd name="T22" fmla="*/ 0 w 216"/>
                <a:gd name="T23" fmla="*/ 0 h 385"/>
                <a:gd name="T24" fmla="*/ 0 w 216"/>
                <a:gd name="T25" fmla="*/ 0 h 385"/>
                <a:gd name="T26" fmla="*/ 0 w 216"/>
                <a:gd name="T27" fmla="*/ 0 h 385"/>
                <a:gd name="T28" fmla="*/ 0 w 216"/>
                <a:gd name="T29" fmla="*/ 0 h 385"/>
                <a:gd name="T30" fmla="*/ 0 w 216"/>
                <a:gd name="T31" fmla="*/ 0 h 385"/>
                <a:gd name="T32" fmla="*/ 0 w 216"/>
                <a:gd name="T33" fmla="*/ 0 h 385"/>
                <a:gd name="T34" fmla="*/ 0 w 216"/>
                <a:gd name="T35" fmla="*/ 0 h 385"/>
                <a:gd name="T36" fmla="*/ 0 w 216"/>
                <a:gd name="T37" fmla="*/ 0 h 385"/>
                <a:gd name="T38" fmla="*/ 0 w 216"/>
                <a:gd name="T39" fmla="*/ 0 h 385"/>
                <a:gd name="T40" fmla="*/ 0 w 216"/>
                <a:gd name="T41" fmla="*/ 0 h 385"/>
                <a:gd name="T42" fmla="*/ 0 w 216"/>
                <a:gd name="T43" fmla="*/ 0 h 385"/>
                <a:gd name="T44" fmla="*/ 0 w 216"/>
                <a:gd name="T45" fmla="*/ 0 h 385"/>
                <a:gd name="T46" fmla="*/ 0 w 216"/>
                <a:gd name="T47" fmla="*/ 0 h 385"/>
                <a:gd name="T48" fmla="*/ 0 w 216"/>
                <a:gd name="T49" fmla="*/ 0 h 385"/>
                <a:gd name="T50" fmla="*/ 0 w 216"/>
                <a:gd name="T51" fmla="*/ 0 h 385"/>
                <a:gd name="T52" fmla="*/ 0 w 216"/>
                <a:gd name="T53" fmla="*/ 0 h 385"/>
                <a:gd name="T54" fmla="*/ 0 w 216"/>
                <a:gd name="T55" fmla="*/ 0 h 385"/>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216" h="385">
                  <a:moveTo>
                    <a:pt x="91" y="0"/>
                  </a:moveTo>
                  <a:lnTo>
                    <a:pt x="115" y="25"/>
                  </a:lnTo>
                  <a:lnTo>
                    <a:pt x="165" y="46"/>
                  </a:lnTo>
                  <a:lnTo>
                    <a:pt x="216" y="44"/>
                  </a:lnTo>
                  <a:lnTo>
                    <a:pt x="185" y="132"/>
                  </a:lnTo>
                  <a:lnTo>
                    <a:pt x="147" y="128"/>
                  </a:lnTo>
                  <a:lnTo>
                    <a:pt x="118" y="112"/>
                  </a:lnTo>
                  <a:lnTo>
                    <a:pt x="134" y="138"/>
                  </a:lnTo>
                  <a:lnTo>
                    <a:pt x="177" y="146"/>
                  </a:lnTo>
                  <a:lnTo>
                    <a:pt x="145" y="242"/>
                  </a:lnTo>
                  <a:lnTo>
                    <a:pt x="124" y="312"/>
                  </a:lnTo>
                  <a:lnTo>
                    <a:pt x="115" y="271"/>
                  </a:lnTo>
                  <a:lnTo>
                    <a:pt x="103" y="197"/>
                  </a:lnTo>
                  <a:lnTo>
                    <a:pt x="102" y="155"/>
                  </a:lnTo>
                  <a:lnTo>
                    <a:pt x="94" y="173"/>
                  </a:lnTo>
                  <a:lnTo>
                    <a:pt x="94" y="222"/>
                  </a:lnTo>
                  <a:lnTo>
                    <a:pt x="103" y="290"/>
                  </a:lnTo>
                  <a:lnTo>
                    <a:pt x="110" y="333"/>
                  </a:lnTo>
                  <a:lnTo>
                    <a:pt x="91" y="385"/>
                  </a:lnTo>
                  <a:lnTo>
                    <a:pt x="55" y="250"/>
                  </a:lnTo>
                  <a:lnTo>
                    <a:pt x="39" y="204"/>
                  </a:lnTo>
                  <a:lnTo>
                    <a:pt x="12" y="135"/>
                  </a:lnTo>
                  <a:lnTo>
                    <a:pt x="0" y="115"/>
                  </a:lnTo>
                  <a:lnTo>
                    <a:pt x="16" y="88"/>
                  </a:lnTo>
                  <a:lnTo>
                    <a:pt x="64" y="64"/>
                  </a:lnTo>
                  <a:lnTo>
                    <a:pt x="81" y="87"/>
                  </a:lnTo>
                  <a:lnTo>
                    <a:pt x="71" y="46"/>
                  </a:lnTo>
                  <a:lnTo>
                    <a:pt x="9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15" name="Group 108"/>
          <p:cNvGrpSpPr>
            <a:grpSpLocks/>
          </p:cNvGrpSpPr>
          <p:nvPr/>
        </p:nvGrpSpPr>
        <p:grpSpPr bwMode="auto">
          <a:xfrm>
            <a:off x="1932308" y="3194169"/>
            <a:ext cx="70463" cy="70619"/>
            <a:chOff x="278" y="1810"/>
            <a:chExt cx="70" cy="76"/>
          </a:xfrm>
        </p:grpSpPr>
        <p:sp>
          <p:nvSpPr>
            <p:cNvPr id="116" name="Freeform 109"/>
            <p:cNvSpPr>
              <a:spLocks/>
            </p:cNvSpPr>
            <p:nvPr/>
          </p:nvSpPr>
          <p:spPr bwMode="auto">
            <a:xfrm>
              <a:off x="297" y="1815"/>
              <a:ext cx="51" cy="71"/>
            </a:xfrm>
            <a:custGeom>
              <a:avLst/>
              <a:gdLst>
                <a:gd name="T0" fmla="*/ 0 w 256"/>
                <a:gd name="T1" fmla="*/ 0 h 356"/>
                <a:gd name="T2" fmla="*/ 0 w 256"/>
                <a:gd name="T3" fmla="*/ 0 h 356"/>
                <a:gd name="T4" fmla="*/ 0 w 256"/>
                <a:gd name="T5" fmla="*/ 0 h 356"/>
                <a:gd name="T6" fmla="*/ 0 w 256"/>
                <a:gd name="T7" fmla="*/ 0 h 356"/>
                <a:gd name="T8" fmla="*/ 0 w 256"/>
                <a:gd name="T9" fmla="*/ 0 h 356"/>
                <a:gd name="T10" fmla="*/ 0 w 256"/>
                <a:gd name="T11" fmla="*/ 0 h 356"/>
                <a:gd name="T12" fmla="*/ 0 w 256"/>
                <a:gd name="T13" fmla="*/ 0 h 356"/>
                <a:gd name="T14" fmla="*/ 0 w 256"/>
                <a:gd name="T15" fmla="*/ 0 h 356"/>
                <a:gd name="T16" fmla="*/ 0 w 256"/>
                <a:gd name="T17" fmla="*/ 0 h 356"/>
                <a:gd name="T18" fmla="*/ 0 w 256"/>
                <a:gd name="T19" fmla="*/ 0 h 356"/>
                <a:gd name="T20" fmla="*/ 0 w 256"/>
                <a:gd name="T21" fmla="*/ 0 h 356"/>
                <a:gd name="T22" fmla="*/ 0 w 256"/>
                <a:gd name="T23" fmla="*/ 0 h 356"/>
                <a:gd name="T24" fmla="*/ 0 w 256"/>
                <a:gd name="T25" fmla="*/ 0 h 356"/>
                <a:gd name="T26" fmla="*/ 0 w 256"/>
                <a:gd name="T27" fmla="*/ 0 h 356"/>
                <a:gd name="T28" fmla="*/ 0 w 256"/>
                <a:gd name="T29" fmla="*/ 0 h 356"/>
                <a:gd name="T30" fmla="*/ 0 w 256"/>
                <a:gd name="T31" fmla="*/ 0 h 356"/>
                <a:gd name="T32" fmla="*/ 0 w 256"/>
                <a:gd name="T33" fmla="*/ 0 h 356"/>
                <a:gd name="T34" fmla="*/ 0 w 256"/>
                <a:gd name="T35" fmla="*/ 0 h 356"/>
                <a:gd name="T36" fmla="*/ 0 w 256"/>
                <a:gd name="T37" fmla="*/ 0 h 356"/>
                <a:gd name="T38" fmla="*/ 0 w 256"/>
                <a:gd name="T39" fmla="*/ 0 h 356"/>
                <a:gd name="T40" fmla="*/ 0 w 256"/>
                <a:gd name="T41" fmla="*/ 0 h 356"/>
                <a:gd name="T42" fmla="*/ 0 w 256"/>
                <a:gd name="T43" fmla="*/ 0 h 356"/>
                <a:gd name="T44" fmla="*/ 0 w 256"/>
                <a:gd name="T45" fmla="*/ 0 h 356"/>
                <a:gd name="T46" fmla="*/ 0 w 256"/>
                <a:gd name="T47" fmla="*/ 0 h 356"/>
                <a:gd name="T48" fmla="*/ 0 w 256"/>
                <a:gd name="T49" fmla="*/ 0 h 356"/>
                <a:gd name="T50" fmla="*/ 0 w 256"/>
                <a:gd name="T51" fmla="*/ 0 h 356"/>
                <a:gd name="T52" fmla="*/ 0 w 256"/>
                <a:gd name="T53" fmla="*/ 0 h 356"/>
                <a:gd name="T54" fmla="*/ 0 w 256"/>
                <a:gd name="T55" fmla="*/ 0 h 356"/>
                <a:gd name="T56" fmla="*/ 0 w 256"/>
                <a:gd name="T57" fmla="*/ 0 h 356"/>
                <a:gd name="T58" fmla="*/ 0 w 256"/>
                <a:gd name="T59" fmla="*/ 0 h 356"/>
                <a:gd name="T60" fmla="*/ 0 w 256"/>
                <a:gd name="T61" fmla="*/ 0 h 356"/>
                <a:gd name="T62" fmla="*/ 0 w 256"/>
                <a:gd name="T63" fmla="*/ 0 h 356"/>
                <a:gd name="T64" fmla="*/ 0 w 256"/>
                <a:gd name="T65" fmla="*/ 0 h 356"/>
                <a:gd name="T66" fmla="*/ 0 w 256"/>
                <a:gd name="T67" fmla="*/ 0 h 356"/>
                <a:gd name="T68" fmla="*/ 0 w 256"/>
                <a:gd name="T69" fmla="*/ 0 h 356"/>
                <a:gd name="T70" fmla="*/ 0 w 256"/>
                <a:gd name="T71" fmla="*/ 0 h 356"/>
                <a:gd name="T72" fmla="*/ 0 w 256"/>
                <a:gd name="T73" fmla="*/ 0 h 356"/>
                <a:gd name="T74" fmla="*/ 0 w 256"/>
                <a:gd name="T75" fmla="*/ 0 h 356"/>
                <a:gd name="T76" fmla="*/ 0 w 256"/>
                <a:gd name="T77" fmla="*/ 0 h 356"/>
                <a:gd name="T78" fmla="*/ 0 w 256"/>
                <a:gd name="T79" fmla="*/ 0 h 356"/>
                <a:gd name="T80" fmla="*/ 0 w 256"/>
                <a:gd name="T81" fmla="*/ 0 h 356"/>
                <a:gd name="T82" fmla="*/ 0 w 256"/>
                <a:gd name="T83" fmla="*/ 0 h 356"/>
                <a:gd name="T84" fmla="*/ 0 w 256"/>
                <a:gd name="T85" fmla="*/ 0 h 356"/>
                <a:gd name="T86" fmla="*/ 0 w 256"/>
                <a:gd name="T87" fmla="*/ 0 h 356"/>
                <a:gd name="T88" fmla="*/ 0 w 256"/>
                <a:gd name="T89" fmla="*/ 0 h 356"/>
                <a:gd name="T90" fmla="*/ 0 w 256"/>
                <a:gd name="T91" fmla="*/ 0 h 356"/>
                <a:gd name="T92" fmla="*/ 0 w 256"/>
                <a:gd name="T93" fmla="*/ 0 h 356"/>
                <a:gd name="T94" fmla="*/ 0 w 256"/>
                <a:gd name="T95" fmla="*/ 0 h 35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256" h="356">
                  <a:moveTo>
                    <a:pt x="3" y="130"/>
                  </a:moveTo>
                  <a:lnTo>
                    <a:pt x="11" y="155"/>
                  </a:lnTo>
                  <a:lnTo>
                    <a:pt x="26" y="167"/>
                  </a:lnTo>
                  <a:lnTo>
                    <a:pt x="35" y="187"/>
                  </a:lnTo>
                  <a:lnTo>
                    <a:pt x="45" y="203"/>
                  </a:lnTo>
                  <a:lnTo>
                    <a:pt x="61" y="218"/>
                  </a:lnTo>
                  <a:lnTo>
                    <a:pt x="73" y="227"/>
                  </a:lnTo>
                  <a:lnTo>
                    <a:pt x="93" y="238"/>
                  </a:lnTo>
                  <a:lnTo>
                    <a:pt x="96" y="252"/>
                  </a:lnTo>
                  <a:lnTo>
                    <a:pt x="96" y="270"/>
                  </a:lnTo>
                  <a:lnTo>
                    <a:pt x="91" y="315"/>
                  </a:lnTo>
                  <a:lnTo>
                    <a:pt x="127" y="341"/>
                  </a:lnTo>
                  <a:lnTo>
                    <a:pt x="157" y="354"/>
                  </a:lnTo>
                  <a:lnTo>
                    <a:pt x="182" y="356"/>
                  </a:lnTo>
                  <a:lnTo>
                    <a:pt x="207" y="354"/>
                  </a:lnTo>
                  <a:lnTo>
                    <a:pt x="216" y="325"/>
                  </a:lnTo>
                  <a:lnTo>
                    <a:pt x="222" y="260"/>
                  </a:lnTo>
                  <a:lnTo>
                    <a:pt x="237" y="237"/>
                  </a:lnTo>
                  <a:lnTo>
                    <a:pt x="248" y="204"/>
                  </a:lnTo>
                  <a:lnTo>
                    <a:pt x="250" y="173"/>
                  </a:lnTo>
                  <a:lnTo>
                    <a:pt x="255" y="131"/>
                  </a:lnTo>
                  <a:lnTo>
                    <a:pt x="256" y="107"/>
                  </a:lnTo>
                  <a:lnTo>
                    <a:pt x="255" y="92"/>
                  </a:lnTo>
                  <a:lnTo>
                    <a:pt x="248" y="66"/>
                  </a:lnTo>
                  <a:lnTo>
                    <a:pt x="234" y="52"/>
                  </a:lnTo>
                  <a:lnTo>
                    <a:pt x="215" y="48"/>
                  </a:lnTo>
                  <a:lnTo>
                    <a:pt x="208" y="33"/>
                  </a:lnTo>
                  <a:lnTo>
                    <a:pt x="191" y="23"/>
                  </a:lnTo>
                  <a:lnTo>
                    <a:pt x="173" y="33"/>
                  </a:lnTo>
                  <a:lnTo>
                    <a:pt x="160" y="12"/>
                  </a:lnTo>
                  <a:lnTo>
                    <a:pt x="140" y="5"/>
                  </a:lnTo>
                  <a:lnTo>
                    <a:pt x="118" y="24"/>
                  </a:lnTo>
                  <a:lnTo>
                    <a:pt x="108" y="0"/>
                  </a:lnTo>
                  <a:lnTo>
                    <a:pt x="78" y="3"/>
                  </a:lnTo>
                  <a:lnTo>
                    <a:pt x="63" y="42"/>
                  </a:lnTo>
                  <a:lnTo>
                    <a:pt x="60" y="64"/>
                  </a:lnTo>
                  <a:lnTo>
                    <a:pt x="57" y="93"/>
                  </a:lnTo>
                  <a:lnTo>
                    <a:pt x="51" y="131"/>
                  </a:lnTo>
                  <a:lnTo>
                    <a:pt x="43" y="116"/>
                  </a:lnTo>
                  <a:lnTo>
                    <a:pt x="39" y="89"/>
                  </a:lnTo>
                  <a:lnTo>
                    <a:pt x="34" y="70"/>
                  </a:lnTo>
                  <a:lnTo>
                    <a:pt x="27" y="61"/>
                  </a:lnTo>
                  <a:lnTo>
                    <a:pt x="12" y="54"/>
                  </a:lnTo>
                  <a:lnTo>
                    <a:pt x="4" y="57"/>
                  </a:lnTo>
                  <a:lnTo>
                    <a:pt x="0" y="66"/>
                  </a:lnTo>
                  <a:lnTo>
                    <a:pt x="5" y="80"/>
                  </a:lnTo>
                  <a:lnTo>
                    <a:pt x="7" y="107"/>
                  </a:lnTo>
                  <a:lnTo>
                    <a:pt x="3" y="13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7" name="Freeform 110"/>
            <p:cNvSpPr>
              <a:spLocks/>
            </p:cNvSpPr>
            <p:nvPr/>
          </p:nvSpPr>
          <p:spPr bwMode="auto">
            <a:xfrm>
              <a:off x="320" y="1820"/>
              <a:ext cx="26" cy="27"/>
            </a:xfrm>
            <a:custGeom>
              <a:avLst/>
              <a:gdLst>
                <a:gd name="T0" fmla="*/ 0 w 129"/>
                <a:gd name="T1" fmla="*/ 0 h 134"/>
                <a:gd name="T2" fmla="*/ 0 w 129"/>
                <a:gd name="T3" fmla="*/ 0 h 134"/>
                <a:gd name="T4" fmla="*/ 0 w 129"/>
                <a:gd name="T5" fmla="*/ 0 h 134"/>
                <a:gd name="T6" fmla="*/ 0 w 129"/>
                <a:gd name="T7" fmla="*/ 0 h 134"/>
                <a:gd name="T8" fmla="*/ 0 w 129"/>
                <a:gd name="T9" fmla="*/ 0 h 134"/>
                <a:gd name="T10" fmla="*/ 0 w 129"/>
                <a:gd name="T11" fmla="*/ 0 h 134"/>
                <a:gd name="T12" fmla="*/ 0 w 129"/>
                <a:gd name="T13" fmla="*/ 0 h 134"/>
                <a:gd name="T14" fmla="*/ 0 w 129"/>
                <a:gd name="T15" fmla="*/ 0 h 134"/>
                <a:gd name="T16" fmla="*/ 0 w 129"/>
                <a:gd name="T17" fmla="*/ 0 h 134"/>
                <a:gd name="T18" fmla="*/ 0 w 129"/>
                <a:gd name="T19" fmla="*/ 0 h 134"/>
                <a:gd name="T20" fmla="*/ 0 w 129"/>
                <a:gd name="T21" fmla="*/ 0 h 134"/>
                <a:gd name="T22" fmla="*/ 0 w 129"/>
                <a:gd name="T23" fmla="*/ 0 h 134"/>
                <a:gd name="T24" fmla="*/ 0 w 129"/>
                <a:gd name="T25" fmla="*/ 0 h 134"/>
                <a:gd name="T26" fmla="*/ 0 w 129"/>
                <a:gd name="T27" fmla="*/ 0 h 134"/>
                <a:gd name="T28" fmla="*/ 0 w 129"/>
                <a:gd name="T29" fmla="*/ 0 h 134"/>
                <a:gd name="T30" fmla="*/ 0 w 129"/>
                <a:gd name="T31" fmla="*/ 0 h 134"/>
                <a:gd name="T32" fmla="*/ 0 w 129"/>
                <a:gd name="T33" fmla="*/ 0 h 134"/>
                <a:gd name="T34" fmla="*/ 0 w 129"/>
                <a:gd name="T35" fmla="*/ 0 h 134"/>
                <a:gd name="T36" fmla="*/ 0 w 129"/>
                <a:gd name="T37" fmla="*/ 0 h 134"/>
                <a:gd name="T38" fmla="*/ 0 w 129"/>
                <a:gd name="T39" fmla="*/ 0 h 134"/>
                <a:gd name="T40" fmla="*/ 0 w 129"/>
                <a:gd name="T41" fmla="*/ 0 h 134"/>
                <a:gd name="T42" fmla="*/ 0 w 129"/>
                <a:gd name="T43" fmla="*/ 0 h 134"/>
                <a:gd name="T44" fmla="*/ 0 w 129"/>
                <a:gd name="T45" fmla="*/ 0 h 134"/>
                <a:gd name="T46" fmla="*/ 0 w 129"/>
                <a:gd name="T47" fmla="*/ 0 h 134"/>
                <a:gd name="T48" fmla="*/ 0 w 129"/>
                <a:gd name="T49" fmla="*/ 0 h 134"/>
                <a:gd name="T50" fmla="*/ 0 w 129"/>
                <a:gd name="T51" fmla="*/ 0 h 134"/>
                <a:gd name="T52" fmla="*/ 0 w 129"/>
                <a:gd name="T53" fmla="*/ 0 h 134"/>
                <a:gd name="T54" fmla="*/ 0 w 129"/>
                <a:gd name="T55" fmla="*/ 0 h 134"/>
                <a:gd name="T56" fmla="*/ 0 w 129"/>
                <a:gd name="T57" fmla="*/ 0 h 134"/>
                <a:gd name="T58" fmla="*/ 0 w 129"/>
                <a:gd name="T59" fmla="*/ 0 h 134"/>
                <a:gd name="T60" fmla="*/ 0 w 129"/>
                <a:gd name="T61" fmla="*/ 0 h 134"/>
                <a:gd name="T62" fmla="*/ 0 w 129"/>
                <a:gd name="T63" fmla="*/ 0 h 134"/>
                <a:gd name="T64" fmla="*/ 0 w 129"/>
                <a:gd name="T65" fmla="*/ 0 h 134"/>
                <a:gd name="T66" fmla="*/ 0 w 129"/>
                <a:gd name="T67" fmla="*/ 0 h 134"/>
                <a:gd name="T68" fmla="*/ 0 w 129"/>
                <a:gd name="T69" fmla="*/ 0 h 134"/>
                <a:gd name="T70" fmla="*/ 0 w 129"/>
                <a:gd name="T71" fmla="*/ 0 h 134"/>
                <a:gd name="T72" fmla="*/ 0 w 129"/>
                <a:gd name="T73" fmla="*/ 0 h 134"/>
                <a:gd name="T74" fmla="*/ 0 w 129"/>
                <a:gd name="T75" fmla="*/ 0 h 134"/>
                <a:gd name="T76" fmla="*/ 0 w 129"/>
                <a:gd name="T77" fmla="*/ 0 h 134"/>
                <a:gd name="T78" fmla="*/ 0 w 129"/>
                <a:gd name="T79" fmla="*/ 0 h 134"/>
                <a:gd name="T80" fmla="*/ 0 w 129"/>
                <a:gd name="T81" fmla="*/ 0 h 134"/>
                <a:gd name="T82" fmla="*/ 0 w 129"/>
                <a:gd name="T83" fmla="*/ 0 h 134"/>
                <a:gd name="T84" fmla="*/ 0 w 129"/>
                <a:gd name="T85" fmla="*/ 0 h 134"/>
                <a:gd name="T86" fmla="*/ 0 w 129"/>
                <a:gd name="T87" fmla="*/ 0 h 134"/>
                <a:gd name="T88" fmla="*/ 0 w 129"/>
                <a:gd name="T89" fmla="*/ 0 h 134"/>
                <a:gd name="T90" fmla="*/ 0 w 129"/>
                <a:gd name="T91" fmla="*/ 0 h 134"/>
                <a:gd name="T92" fmla="*/ 0 w 129"/>
                <a:gd name="T93" fmla="*/ 0 h 134"/>
                <a:gd name="T94" fmla="*/ 0 w 129"/>
                <a:gd name="T95" fmla="*/ 0 h 134"/>
                <a:gd name="T96" fmla="*/ 0 w 129"/>
                <a:gd name="T97" fmla="*/ 0 h 134"/>
                <a:gd name="T98" fmla="*/ 0 w 129"/>
                <a:gd name="T99" fmla="*/ 0 h 134"/>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129" h="134">
                  <a:moveTo>
                    <a:pt x="6" y="2"/>
                  </a:moveTo>
                  <a:lnTo>
                    <a:pt x="13" y="30"/>
                  </a:lnTo>
                  <a:lnTo>
                    <a:pt x="22" y="49"/>
                  </a:lnTo>
                  <a:lnTo>
                    <a:pt x="11" y="91"/>
                  </a:lnTo>
                  <a:lnTo>
                    <a:pt x="18" y="100"/>
                  </a:lnTo>
                  <a:lnTo>
                    <a:pt x="28" y="104"/>
                  </a:lnTo>
                  <a:lnTo>
                    <a:pt x="41" y="102"/>
                  </a:lnTo>
                  <a:lnTo>
                    <a:pt x="51" y="79"/>
                  </a:lnTo>
                  <a:lnTo>
                    <a:pt x="60" y="61"/>
                  </a:lnTo>
                  <a:lnTo>
                    <a:pt x="55" y="36"/>
                  </a:lnTo>
                  <a:lnTo>
                    <a:pt x="53" y="9"/>
                  </a:lnTo>
                  <a:lnTo>
                    <a:pt x="60" y="12"/>
                  </a:lnTo>
                  <a:lnTo>
                    <a:pt x="62" y="37"/>
                  </a:lnTo>
                  <a:lnTo>
                    <a:pt x="65" y="54"/>
                  </a:lnTo>
                  <a:lnTo>
                    <a:pt x="65" y="68"/>
                  </a:lnTo>
                  <a:lnTo>
                    <a:pt x="56" y="83"/>
                  </a:lnTo>
                  <a:lnTo>
                    <a:pt x="47" y="100"/>
                  </a:lnTo>
                  <a:lnTo>
                    <a:pt x="46" y="116"/>
                  </a:lnTo>
                  <a:lnTo>
                    <a:pt x="56" y="123"/>
                  </a:lnTo>
                  <a:lnTo>
                    <a:pt x="75" y="120"/>
                  </a:lnTo>
                  <a:lnTo>
                    <a:pt x="86" y="106"/>
                  </a:lnTo>
                  <a:lnTo>
                    <a:pt x="104" y="84"/>
                  </a:lnTo>
                  <a:lnTo>
                    <a:pt x="103" y="70"/>
                  </a:lnTo>
                  <a:lnTo>
                    <a:pt x="101" y="45"/>
                  </a:lnTo>
                  <a:lnTo>
                    <a:pt x="107" y="65"/>
                  </a:lnTo>
                  <a:lnTo>
                    <a:pt x="108" y="84"/>
                  </a:lnTo>
                  <a:lnTo>
                    <a:pt x="94" y="103"/>
                  </a:lnTo>
                  <a:lnTo>
                    <a:pt x="93" y="117"/>
                  </a:lnTo>
                  <a:lnTo>
                    <a:pt x="96" y="128"/>
                  </a:lnTo>
                  <a:lnTo>
                    <a:pt x="104" y="131"/>
                  </a:lnTo>
                  <a:lnTo>
                    <a:pt x="113" y="125"/>
                  </a:lnTo>
                  <a:lnTo>
                    <a:pt x="129" y="109"/>
                  </a:lnTo>
                  <a:lnTo>
                    <a:pt x="116" y="127"/>
                  </a:lnTo>
                  <a:lnTo>
                    <a:pt x="111" y="134"/>
                  </a:lnTo>
                  <a:lnTo>
                    <a:pt x="97" y="134"/>
                  </a:lnTo>
                  <a:lnTo>
                    <a:pt x="91" y="126"/>
                  </a:lnTo>
                  <a:lnTo>
                    <a:pt x="87" y="114"/>
                  </a:lnTo>
                  <a:lnTo>
                    <a:pt x="79" y="125"/>
                  </a:lnTo>
                  <a:lnTo>
                    <a:pt x="63" y="127"/>
                  </a:lnTo>
                  <a:lnTo>
                    <a:pt x="49" y="127"/>
                  </a:lnTo>
                  <a:lnTo>
                    <a:pt x="43" y="116"/>
                  </a:lnTo>
                  <a:lnTo>
                    <a:pt x="41" y="106"/>
                  </a:lnTo>
                  <a:lnTo>
                    <a:pt x="35" y="109"/>
                  </a:lnTo>
                  <a:lnTo>
                    <a:pt x="24" y="109"/>
                  </a:lnTo>
                  <a:lnTo>
                    <a:pt x="11" y="101"/>
                  </a:lnTo>
                  <a:lnTo>
                    <a:pt x="8" y="86"/>
                  </a:lnTo>
                  <a:lnTo>
                    <a:pt x="18" y="51"/>
                  </a:lnTo>
                  <a:lnTo>
                    <a:pt x="7" y="29"/>
                  </a:lnTo>
                  <a:lnTo>
                    <a:pt x="0" y="0"/>
                  </a:lnTo>
                  <a:lnTo>
                    <a:pt x="6"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8" name="Freeform 111"/>
            <p:cNvSpPr>
              <a:spLocks/>
            </p:cNvSpPr>
            <p:nvPr/>
          </p:nvSpPr>
          <p:spPr bwMode="auto">
            <a:xfrm>
              <a:off x="325" y="1834"/>
              <a:ext cx="4" cy="1"/>
            </a:xfrm>
            <a:custGeom>
              <a:avLst/>
              <a:gdLst>
                <a:gd name="T0" fmla="*/ 0 w 20"/>
                <a:gd name="T1" fmla="*/ 0 h 5"/>
                <a:gd name="T2" fmla="*/ 0 w 20"/>
                <a:gd name="T3" fmla="*/ 0 h 5"/>
                <a:gd name="T4" fmla="*/ 0 w 20"/>
                <a:gd name="T5" fmla="*/ 0 h 5"/>
                <a:gd name="T6" fmla="*/ 0 w 20"/>
                <a:gd name="T7" fmla="*/ 0 h 5"/>
                <a:gd name="T8" fmla="*/ 0 w 20"/>
                <a:gd name="T9" fmla="*/ 0 h 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 h="5">
                  <a:moveTo>
                    <a:pt x="0" y="5"/>
                  </a:moveTo>
                  <a:lnTo>
                    <a:pt x="6" y="4"/>
                  </a:lnTo>
                  <a:lnTo>
                    <a:pt x="20" y="4"/>
                  </a:lnTo>
                  <a:lnTo>
                    <a:pt x="5" y="0"/>
                  </a:lnTo>
                  <a:lnTo>
                    <a:pt x="0"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9" name="Freeform 112"/>
            <p:cNvSpPr>
              <a:spLocks/>
            </p:cNvSpPr>
            <p:nvPr/>
          </p:nvSpPr>
          <p:spPr bwMode="auto">
            <a:xfrm>
              <a:off x="330" y="1838"/>
              <a:ext cx="6" cy="2"/>
            </a:xfrm>
            <a:custGeom>
              <a:avLst/>
              <a:gdLst>
                <a:gd name="T0" fmla="*/ 0 w 27"/>
                <a:gd name="T1" fmla="*/ 0 h 9"/>
                <a:gd name="T2" fmla="*/ 0 w 27"/>
                <a:gd name="T3" fmla="*/ 0 h 9"/>
                <a:gd name="T4" fmla="*/ 0 w 27"/>
                <a:gd name="T5" fmla="*/ 0 h 9"/>
                <a:gd name="T6" fmla="*/ 0 w 27"/>
                <a:gd name="T7" fmla="*/ 0 h 9"/>
                <a:gd name="T8" fmla="*/ 0 w 27"/>
                <a:gd name="T9" fmla="*/ 0 h 9"/>
                <a:gd name="T10" fmla="*/ 0 w 27"/>
                <a:gd name="T11" fmla="*/ 0 h 9"/>
                <a:gd name="T12" fmla="*/ 0 w 27"/>
                <a:gd name="T13" fmla="*/ 0 h 9"/>
                <a:gd name="T14" fmla="*/ 0 w 27"/>
                <a:gd name="T15" fmla="*/ 0 h 9"/>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7" h="9">
                  <a:moveTo>
                    <a:pt x="27" y="7"/>
                  </a:moveTo>
                  <a:lnTo>
                    <a:pt x="23" y="3"/>
                  </a:lnTo>
                  <a:lnTo>
                    <a:pt x="17" y="1"/>
                  </a:lnTo>
                  <a:lnTo>
                    <a:pt x="6" y="0"/>
                  </a:lnTo>
                  <a:lnTo>
                    <a:pt x="0" y="9"/>
                  </a:lnTo>
                  <a:lnTo>
                    <a:pt x="8" y="3"/>
                  </a:lnTo>
                  <a:lnTo>
                    <a:pt x="15" y="2"/>
                  </a:lnTo>
                  <a:lnTo>
                    <a:pt x="27" y="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0" name="Freeform 113"/>
            <p:cNvSpPr>
              <a:spLocks/>
            </p:cNvSpPr>
            <p:nvPr/>
          </p:nvSpPr>
          <p:spPr bwMode="auto">
            <a:xfrm>
              <a:off x="340" y="1841"/>
              <a:ext cx="4" cy="1"/>
            </a:xfrm>
            <a:custGeom>
              <a:avLst/>
              <a:gdLst>
                <a:gd name="T0" fmla="*/ 0 w 20"/>
                <a:gd name="T1" fmla="*/ 0 h 4"/>
                <a:gd name="T2" fmla="*/ 0 w 20"/>
                <a:gd name="T3" fmla="*/ 0 h 4"/>
                <a:gd name="T4" fmla="*/ 0 w 20"/>
                <a:gd name="T5" fmla="*/ 0 h 4"/>
                <a:gd name="T6" fmla="*/ 0 w 20"/>
                <a:gd name="T7" fmla="*/ 0 h 4"/>
                <a:gd name="T8" fmla="*/ 0 w 20"/>
                <a:gd name="T9" fmla="*/ 0 h 4"/>
                <a:gd name="T10" fmla="*/ 0 w 20"/>
                <a:gd name="T11" fmla="*/ 0 h 4"/>
                <a:gd name="T12" fmla="*/ 0 w 20"/>
                <a:gd name="T13" fmla="*/ 0 h 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4">
                  <a:moveTo>
                    <a:pt x="0" y="2"/>
                  </a:moveTo>
                  <a:lnTo>
                    <a:pt x="4" y="0"/>
                  </a:lnTo>
                  <a:lnTo>
                    <a:pt x="11" y="0"/>
                  </a:lnTo>
                  <a:lnTo>
                    <a:pt x="20" y="4"/>
                  </a:lnTo>
                  <a:lnTo>
                    <a:pt x="15" y="3"/>
                  </a:lnTo>
                  <a:lnTo>
                    <a:pt x="11" y="1"/>
                  </a:lnTo>
                  <a:lnTo>
                    <a:pt x="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1" name="Freeform 114"/>
            <p:cNvSpPr>
              <a:spLocks/>
            </p:cNvSpPr>
            <p:nvPr/>
          </p:nvSpPr>
          <p:spPr bwMode="auto">
            <a:xfrm>
              <a:off x="323" y="1845"/>
              <a:ext cx="6" cy="15"/>
            </a:xfrm>
            <a:custGeom>
              <a:avLst/>
              <a:gdLst>
                <a:gd name="T0" fmla="*/ 0 w 31"/>
                <a:gd name="T1" fmla="*/ 0 h 74"/>
                <a:gd name="T2" fmla="*/ 0 w 31"/>
                <a:gd name="T3" fmla="*/ 0 h 74"/>
                <a:gd name="T4" fmla="*/ 0 w 31"/>
                <a:gd name="T5" fmla="*/ 0 h 74"/>
                <a:gd name="T6" fmla="*/ 0 w 31"/>
                <a:gd name="T7" fmla="*/ 0 h 74"/>
                <a:gd name="T8" fmla="*/ 0 w 31"/>
                <a:gd name="T9" fmla="*/ 0 h 74"/>
                <a:gd name="T10" fmla="*/ 0 w 31"/>
                <a:gd name="T11" fmla="*/ 0 h 74"/>
                <a:gd name="T12" fmla="*/ 0 w 31"/>
                <a:gd name="T13" fmla="*/ 0 h 74"/>
                <a:gd name="T14" fmla="*/ 0 w 31"/>
                <a:gd name="T15" fmla="*/ 0 h 7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1" h="74">
                  <a:moveTo>
                    <a:pt x="0" y="0"/>
                  </a:moveTo>
                  <a:lnTo>
                    <a:pt x="17" y="19"/>
                  </a:lnTo>
                  <a:lnTo>
                    <a:pt x="25" y="42"/>
                  </a:lnTo>
                  <a:lnTo>
                    <a:pt x="26" y="74"/>
                  </a:lnTo>
                  <a:lnTo>
                    <a:pt x="31" y="49"/>
                  </a:lnTo>
                  <a:lnTo>
                    <a:pt x="29" y="29"/>
                  </a:lnTo>
                  <a:lnTo>
                    <a:pt x="24" y="2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2" name="Freeform 115"/>
            <p:cNvSpPr>
              <a:spLocks/>
            </p:cNvSpPr>
            <p:nvPr/>
          </p:nvSpPr>
          <p:spPr bwMode="auto">
            <a:xfrm>
              <a:off x="308" y="1839"/>
              <a:ext cx="10" cy="5"/>
            </a:xfrm>
            <a:custGeom>
              <a:avLst/>
              <a:gdLst>
                <a:gd name="T0" fmla="*/ 0 w 50"/>
                <a:gd name="T1" fmla="*/ 0 h 25"/>
                <a:gd name="T2" fmla="*/ 0 w 50"/>
                <a:gd name="T3" fmla="*/ 0 h 25"/>
                <a:gd name="T4" fmla="*/ 0 w 50"/>
                <a:gd name="T5" fmla="*/ 0 h 25"/>
                <a:gd name="T6" fmla="*/ 0 w 50"/>
                <a:gd name="T7" fmla="*/ 0 h 25"/>
                <a:gd name="T8" fmla="*/ 0 w 50"/>
                <a:gd name="T9" fmla="*/ 0 h 25"/>
                <a:gd name="T10" fmla="*/ 0 w 50"/>
                <a:gd name="T11" fmla="*/ 0 h 25"/>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0" h="25">
                  <a:moveTo>
                    <a:pt x="0" y="11"/>
                  </a:moveTo>
                  <a:lnTo>
                    <a:pt x="19" y="13"/>
                  </a:lnTo>
                  <a:lnTo>
                    <a:pt x="50" y="25"/>
                  </a:lnTo>
                  <a:lnTo>
                    <a:pt x="28" y="9"/>
                  </a:lnTo>
                  <a:lnTo>
                    <a:pt x="1" y="0"/>
                  </a:lnTo>
                  <a:lnTo>
                    <a:pt x="0" y="1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3" name="Freeform 116"/>
            <p:cNvSpPr>
              <a:spLocks/>
            </p:cNvSpPr>
            <p:nvPr/>
          </p:nvSpPr>
          <p:spPr bwMode="auto">
            <a:xfrm>
              <a:off x="321" y="1862"/>
              <a:ext cx="7" cy="7"/>
            </a:xfrm>
            <a:custGeom>
              <a:avLst/>
              <a:gdLst>
                <a:gd name="T0" fmla="*/ 0 w 39"/>
                <a:gd name="T1" fmla="*/ 0 h 33"/>
                <a:gd name="T2" fmla="*/ 0 w 39"/>
                <a:gd name="T3" fmla="*/ 0 h 33"/>
                <a:gd name="T4" fmla="*/ 0 w 39"/>
                <a:gd name="T5" fmla="*/ 0 h 33"/>
                <a:gd name="T6" fmla="*/ 0 w 39"/>
                <a:gd name="T7" fmla="*/ 0 h 33"/>
                <a:gd name="T8" fmla="*/ 0 w 39"/>
                <a:gd name="T9" fmla="*/ 0 h 3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9" h="33">
                  <a:moveTo>
                    <a:pt x="39" y="0"/>
                  </a:moveTo>
                  <a:lnTo>
                    <a:pt x="20" y="21"/>
                  </a:lnTo>
                  <a:lnTo>
                    <a:pt x="0" y="33"/>
                  </a:lnTo>
                  <a:lnTo>
                    <a:pt x="26" y="25"/>
                  </a:lnTo>
                  <a:lnTo>
                    <a:pt x="3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4" name="Freeform 117"/>
            <p:cNvSpPr>
              <a:spLocks/>
            </p:cNvSpPr>
            <p:nvPr/>
          </p:nvSpPr>
          <p:spPr bwMode="auto">
            <a:xfrm>
              <a:off x="332" y="1858"/>
              <a:ext cx="7" cy="7"/>
            </a:xfrm>
            <a:custGeom>
              <a:avLst/>
              <a:gdLst>
                <a:gd name="T0" fmla="*/ 0 w 38"/>
                <a:gd name="T1" fmla="*/ 0 h 35"/>
                <a:gd name="T2" fmla="*/ 0 w 38"/>
                <a:gd name="T3" fmla="*/ 0 h 35"/>
                <a:gd name="T4" fmla="*/ 0 w 38"/>
                <a:gd name="T5" fmla="*/ 0 h 35"/>
                <a:gd name="T6" fmla="*/ 0 w 38"/>
                <a:gd name="T7" fmla="*/ 0 h 35"/>
                <a:gd name="T8" fmla="*/ 0 w 38"/>
                <a:gd name="T9" fmla="*/ 0 h 35"/>
                <a:gd name="T10" fmla="*/ 0 w 38"/>
                <a:gd name="T11" fmla="*/ 0 h 35"/>
                <a:gd name="T12" fmla="*/ 0 w 38"/>
                <a:gd name="T13" fmla="*/ 0 h 35"/>
                <a:gd name="T14" fmla="*/ 0 w 38"/>
                <a:gd name="T15" fmla="*/ 0 h 3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8" h="35">
                  <a:moveTo>
                    <a:pt x="0" y="0"/>
                  </a:moveTo>
                  <a:lnTo>
                    <a:pt x="3" y="13"/>
                  </a:lnTo>
                  <a:lnTo>
                    <a:pt x="22" y="29"/>
                  </a:lnTo>
                  <a:lnTo>
                    <a:pt x="38" y="35"/>
                  </a:lnTo>
                  <a:lnTo>
                    <a:pt x="12" y="32"/>
                  </a:lnTo>
                  <a:lnTo>
                    <a:pt x="3" y="21"/>
                  </a:lnTo>
                  <a:lnTo>
                    <a:pt x="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5" name="Freeform 118"/>
            <p:cNvSpPr>
              <a:spLocks/>
            </p:cNvSpPr>
            <p:nvPr/>
          </p:nvSpPr>
          <p:spPr bwMode="auto">
            <a:xfrm>
              <a:off x="278" y="1810"/>
              <a:ext cx="41" cy="31"/>
            </a:xfrm>
            <a:custGeom>
              <a:avLst/>
              <a:gdLst>
                <a:gd name="T0" fmla="*/ 0 w 201"/>
                <a:gd name="T1" fmla="*/ 0 h 158"/>
                <a:gd name="T2" fmla="*/ 0 w 201"/>
                <a:gd name="T3" fmla="*/ 0 h 158"/>
                <a:gd name="T4" fmla="*/ 0 w 201"/>
                <a:gd name="T5" fmla="*/ 0 h 158"/>
                <a:gd name="T6" fmla="*/ 0 w 201"/>
                <a:gd name="T7" fmla="*/ 0 h 158"/>
                <a:gd name="T8" fmla="*/ 0 w 201"/>
                <a:gd name="T9" fmla="*/ 0 h 158"/>
                <a:gd name="T10" fmla="*/ 0 w 201"/>
                <a:gd name="T11" fmla="*/ 0 h 158"/>
                <a:gd name="T12" fmla="*/ 0 w 201"/>
                <a:gd name="T13" fmla="*/ 0 h 1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1" h="158">
                  <a:moveTo>
                    <a:pt x="165" y="158"/>
                  </a:moveTo>
                  <a:lnTo>
                    <a:pt x="201" y="76"/>
                  </a:lnTo>
                  <a:lnTo>
                    <a:pt x="132" y="31"/>
                  </a:lnTo>
                  <a:lnTo>
                    <a:pt x="29" y="0"/>
                  </a:lnTo>
                  <a:lnTo>
                    <a:pt x="0" y="87"/>
                  </a:lnTo>
                  <a:lnTo>
                    <a:pt x="94" y="114"/>
                  </a:lnTo>
                  <a:lnTo>
                    <a:pt x="165" y="158"/>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6" name="Oval 119"/>
            <p:cNvSpPr>
              <a:spLocks noChangeArrowheads="1"/>
            </p:cNvSpPr>
            <p:nvPr/>
          </p:nvSpPr>
          <p:spPr bwMode="auto">
            <a:xfrm>
              <a:off x="304" y="1824"/>
              <a:ext cx="7" cy="9"/>
            </a:xfrm>
            <a:prstGeom prst="ellipse">
              <a:avLst/>
            </a:prstGeom>
            <a:solidFill>
              <a:srgbClr val="FFFFFF"/>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27" name="Freeform 120"/>
            <p:cNvSpPr>
              <a:spLocks/>
            </p:cNvSpPr>
            <p:nvPr/>
          </p:nvSpPr>
          <p:spPr bwMode="auto">
            <a:xfrm>
              <a:off x="297" y="1826"/>
              <a:ext cx="10" cy="22"/>
            </a:xfrm>
            <a:custGeom>
              <a:avLst/>
              <a:gdLst>
                <a:gd name="T0" fmla="*/ 0 w 52"/>
                <a:gd name="T1" fmla="*/ 0 h 111"/>
                <a:gd name="T2" fmla="*/ 0 w 52"/>
                <a:gd name="T3" fmla="*/ 0 h 111"/>
                <a:gd name="T4" fmla="*/ 0 w 52"/>
                <a:gd name="T5" fmla="*/ 0 h 111"/>
                <a:gd name="T6" fmla="*/ 0 w 52"/>
                <a:gd name="T7" fmla="*/ 0 h 111"/>
                <a:gd name="T8" fmla="*/ 0 w 52"/>
                <a:gd name="T9" fmla="*/ 0 h 111"/>
                <a:gd name="T10" fmla="*/ 0 w 52"/>
                <a:gd name="T11" fmla="*/ 0 h 111"/>
                <a:gd name="T12" fmla="*/ 0 w 52"/>
                <a:gd name="T13" fmla="*/ 0 h 111"/>
                <a:gd name="T14" fmla="*/ 0 w 52"/>
                <a:gd name="T15" fmla="*/ 0 h 111"/>
                <a:gd name="T16" fmla="*/ 0 w 52"/>
                <a:gd name="T17" fmla="*/ 0 h 111"/>
                <a:gd name="T18" fmla="*/ 0 w 52"/>
                <a:gd name="T19" fmla="*/ 0 h 111"/>
                <a:gd name="T20" fmla="*/ 0 w 52"/>
                <a:gd name="T21" fmla="*/ 0 h 111"/>
                <a:gd name="T22" fmla="*/ 0 w 52"/>
                <a:gd name="T23" fmla="*/ 0 h 111"/>
                <a:gd name="T24" fmla="*/ 0 w 52"/>
                <a:gd name="T25" fmla="*/ 0 h 111"/>
                <a:gd name="T26" fmla="*/ 0 w 52"/>
                <a:gd name="T27" fmla="*/ 0 h 111"/>
                <a:gd name="T28" fmla="*/ 0 w 52"/>
                <a:gd name="T29" fmla="*/ 0 h 111"/>
                <a:gd name="T30" fmla="*/ 0 w 52"/>
                <a:gd name="T31" fmla="*/ 0 h 11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52" h="111">
                  <a:moveTo>
                    <a:pt x="4" y="74"/>
                  </a:moveTo>
                  <a:lnTo>
                    <a:pt x="7" y="55"/>
                  </a:lnTo>
                  <a:lnTo>
                    <a:pt x="5" y="36"/>
                  </a:lnTo>
                  <a:lnTo>
                    <a:pt x="4" y="23"/>
                  </a:lnTo>
                  <a:lnTo>
                    <a:pt x="0" y="13"/>
                  </a:lnTo>
                  <a:lnTo>
                    <a:pt x="4" y="4"/>
                  </a:lnTo>
                  <a:lnTo>
                    <a:pt x="11" y="0"/>
                  </a:lnTo>
                  <a:lnTo>
                    <a:pt x="27" y="6"/>
                  </a:lnTo>
                  <a:lnTo>
                    <a:pt x="33" y="16"/>
                  </a:lnTo>
                  <a:lnTo>
                    <a:pt x="37" y="27"/>
                  </a:lnTo>
                  <a:lnTo>
                    <a:pt x="39" y="39"/>
                  </a:lnTo>
                  <a:lnTo>
                    <a:pt x="40" y="59"/>
                  </a:lnTo>
                  <a:lnTo>
                    <a:pt x="52" y="79"/>
                  </a:lnTo>
                  <a:lnTo>
                    <a:pt x="23" y="111"/>
                  </a:lnTo>
                  <a:lnTo>
                    <a:pt x="11" y="103"/>
                  </a:lnTo>
                  <a:lnTo>
                    <a:pt x="4" y="74"/>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8" name="Freeform 121"/>
            <p:cNvSpPr>
              <a:spLocks/>
            </p:cNvSpPr>
            <p:nvPr/>
          </p:nvSpPr>
          <p:spPr bwMode="auto">
            <a:xfrm>
              <a:off x="301" y="1841"/>
              <a:ext cx="7" cy="7"/>
            </a:xfrm>
            <a:custGeom>
              <a:avLst/>
              <a:gdLst>
                <a:gd name="T0" fmla="*/ 0 w 35"/>
                <a:gd name="T1" fmla="*/ 0 h 34"/>
                <a:gd name="T2" fmla="*/ 0 w 35"/>
                <a:gd name="T3" fmla="*/ 0 h 34"/>
                <a:gd name="T4" fmla="*/ 0 w 35"/>
                <a:gd name="T5" fmla="*/ 0 h 34"/>
                <a:gd name="T6" fmla="*/ 0 w 35"/>
                <a:gd name="T7" fmla="*/ 0 h 34"/>
                <a:gd name="T8" fmla="*/ 0 w 35"/>
                <a:gd name="T9" fmla="*/ 0 h 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34">
                  <a:moveTo>
                    <a:pt x="24" y="0"/>
                  </a:moveTo>
                  <a:lnTo>
                    <a:pt x="35" y="4"/>
                  </a:lnTo>
                  <a:lnTo>
                    <a:pt x="9" y="34"/>
                  </a:lnTo>
                  <a:lnTo>
                    <a:pt x="0" y="26"/>
                  </a:lnTo>
                  <a:lnTo>
                    <a:pt x="24" y="0"/>
                  </a:lnTo>
                  <a:close/>
                </a:path>
              </a:pathLst>
            </a:custGeom>
            <a:solidFill>
              <a:srgbClr val="FFC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9" name="Freeform 122"/>
            <p:cNvSpPr>
              <a:spLocks/>
            </p:cNvSpPr>
            <p:nvPr/>
          </p:nvSpPr>
          <p:spPr bwMode="auto">
            <a:xfrm>
              <a:off x="312" y="1815"/>
              <a:ext cx="9" cy="20"/>
            </a:xfrm>
            <a:custGeom>
              <a:avLst/>
              <a:gdLst>
                <a:gd name="T0" fmla="*/ 0 w 48"/>
                <a:gd name="T1" fmla="*/ 0 h 97"/>
                <a:gd name="T2" fmla="*/ 0 w 48"/>
                <a:gd name="T3" fmla="*/ 0 h 97"/>
                <a:gd name="T4" fmla="*/ 0 w 48"/>
                <a:gd name="T5" fmla="*/ 0 h 97"/>
                <a:gd name="T6" fmla="*/ 0 w 48"/>
                <a:gd name="T7" fmla="*/ 0 h 97"/>
                <a:gd name="T8" fmla="*/ 0 w 48"/>
                <a:gd name="T9" fmla="*/ 0 h 97"/>
                <a:gd name="T10" fmla="*/ 0 w 48"/>
                <a:gd name="T11" fmla="*/ 0 h 97"/>
                <a:gd name="T12" fmla="*/ 0 w 48"/>
                <a:gd name="T13" fmla="*/ 0 h 97"/>
                <a:gd name="T14" fmla="*/ 0 w 48"/>
                <a:gd name="T15" fmla="*/ 0 h 97"/>
                <a:gd name="T16" fmla="*/ 0 w 48"/>
                <a:gd name="T17" fmla="*/ 0 h 97"/>
                <a:gd name="T18" fmla="*/ 0 w 48"/>
                <a:gd name="T19" fmla="*/ 0 h 97"/>
                <a:gd name="T20" fmla="*/ 0 w 48"/>
                <a:gd name="T21" fmla="*/ 0 h 97"/>
                <a:gd name="T22" fmla="*/ 0 w 48"/>
                <a:gd name="T23" fmla="*/ 0 h 97"/>
                <a:gd name="T24" fmla="*/ 0 w 48"/>
                <a:gd name="T25" fmla="*/ 0 h 97"/>
                <a:gd name="T26" fmla="*/ 0 w 48"/>
                <a:gd name="T27" fmla="*/ 0 h 97"/>
                <a:gd name="T28" fmla="*/ 0 w 48"/>
                <a:gd name="T29" fmla="*/ 0 h 97"/>
                <a:gd name="T30" fmla="*/ 0 w 48"/>
                <a:gd name="T31" fmla="*/ 0 h 97"/>
                <a:gd name="T32" fmla="*/ 0 w 48"/>
                <a:gd name="T33" fmla="*/ 0 h 97"/>
                <a:gd name="T34" fmla="*/ 0 w 48"/>
                <a:gd name="T35" fmla="*/ 0 h 97"/>
                <a:gd name="T36" fmla="*/ 0 w 48"/>
                <a:gd name="T37" fmla="*/ 0 h 9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8" h="97">
                  <a:moveTo>
                    <a:pt x="0" y="23"/>
                  </a:moveTo>
                  <a:lnTo>
                    <a:pt x="4" y="43"/>
                  </a:lnTo>
                  <a:lnTo>
                    <a:pt x="6" y="51"/>
                  </a:lnTo>
                  <a:lnTo>
                    <a:pt x="7" y="64"/>
                  </a:lnTo>
                  <a:lnTo>
                    <a:pt x="5" y="73"/>
                  </a:lnTo>
                  <a:lnTo>
                    <a:pt x="7" y="84"/>
                  </a:lnTo>
                  <a:lnTo>
                    <a:pt x="14" y="95"/>
                  </a:lnTo>
                  <a:lnTo>
                    <a:pt x="21" y="96"/>
                  </a:lnTo>
                  <a:lnTo>
                    <a:pt x="34" y="97"/>
                  </a:lnTo>
                  <a:lnTo>
                    <a:pt x="43" y="91"/>
                  </a:lnTo>
                  <a:lnTo>
                    <a:pt x="46" y="88"/>
                  </a:lnTo>
                  <a:lnTo>
                    <a:pt x="48" y="77"/>
                  </a:lnTo>
                  <a:lnTo>
                    <a:pt x="48" y="59"/>
                  </a:lnTo>
                  <a:lnTo>
                    <a:pt x="48" y="48"/>
                  </a:lnTo>
                  <a:lnTo>
                    <a:pt x="46" y="32"/>
                  </a:lnTo>
                  <a:lnTo>
                    <a:pt x="44" y="22"/>
                  </a:lnTo>
                  <a:lnTo>
                    <a:pt x="36" y="0"/>
                  </a:lnTo>
                  <a:lnTo>
                    <a:pt x="7" y="1"/>
                  </a:lnTo>
                  <a:lnTo>
                    <a:pt x="0" y="23"/>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0" name="Freeform 123"/>
            <p:cNvSpPr>
              <a:spLocks/>
            </p:cNvSpPr>
            <p:nvPr/>
          </p:nvSpPr>
          <p:spPr bwMode="auto">
            <a:xfrm>
              <a:off x="315" y="1828"/>
              <a:ext cx="5" cy="4"/>
            </a:xfrm>
            <a:custGeom>
              <a:avLst/>
              <a:gdLst>
                <a:gd name="T0" fmla="*/ 0 w 24"/>
                <a:gd name="T1" fmla="*/ 0 h 20"/>
                <a:gd name="T2" fmla="*/ 0 w 24"/>
                <a:gd name="T3" fmla="*/ 0 h 20"/>
                <a:gd name="T4" fmla="*/ 0 w 24"/>
                <a:gd name="T5" fmla="*/ 0 h 20"/>
                <a:gd name="T6" fmla="*/ 0 w 24"/>
                <a:gd name="T7" fmla="*/ 0 h 20"/>
                <a:gd name="T8" fmla="*/ 0 w 24"/>
                <a:gd name="T9" fmla="*/ 0 h 20"/>
                <a:gd name="T10" fmla="*/ 0 w 24"/>
                <a:gd name="T11" fmla="*/ 0 h 20"/>
                <a:gd name="T12" fmla="*/ 0 w 24"/>
                <a:gd name="T13" fmla="*/ 0 h 20"/>
                <a:gd name="T14" fmla="*/ 0 w 24"/>
                <a:gd name="T15" fmla="*/ 0 h 2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 h="20">
                  <a:moveTo>
                    <a:pt x="24" y="5"/>
                  </a:moveTo>
                  <a:lnTo>
                    <a:pt x="12" y="0"/>
                  </a:lnTo>
                  <a:lnTo>
                    <a:pt x="3" y="1"/>
                  </a:lnTo>
                  <a:lnTo>
                    <a:pt x="0" y="5"/>
                  </a:lnTo>
                  <a:lnTo>
                    <a:pt x="1" y="20"/>
                  </a:lnTo>
                  <a:lnTo>
                    <a:pt x="3" y="8"/>
                  </a:lnTo>
                  <a:lnTo>
                    <a:pt x="5" y="4"/>
                  </a:lnTo>
                  <a:lnTo>
                    <a:pt x="24"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1" name="Group 124"/>
          <p:cNvGrpSpPr>
            <a:grpSpLocks/>
          </p:cNvGrpSpPr>
          <p:nvPr/>
        </p:nvGrpSpPr>
        <p:grpSpPr bwMode="auto">
          <a:xfrm>
            <a:off x="2029950" y="3663410"/>
            <a:ext cx="139921" cy="65972"/>
            <a:chOff x="375" y="2315"/>
            <a:chExt cx="139" cy="71"/>
          </a:xfrm>
        </p:grpSpPr>
        <p:sp>
          <p:nvSpPr>
            <p:cNvPr id="132" name="Freeform 125"/>
            <p:cNvSpPr>
              <a:spLocks/>
            </p:cNvSpPr>
            <p:nvPr/>
          </p:nvSpPr>
          <p:spPr bwMode="auto">
            <a:xfrm>
              <a:off x="375" y="2315"/>
              <a:ext cx="139" cy="71"/>
            </a:xfrm>
            <a:custGeom>
              <a:avLst/>
              <a:gdLst>
                <a:gd name="T0" fmla="*/ 0 w 691"/>
                <a:gd name="T1" fmla="*/ 0 h 355"/>
                <a:gd name="T2" fmla="*/ 0 w 691"/>
                <a:gd name="T3" fmla="*/ 0 h 355"/>
                <a:gd name="T4" fmla="*/ 0 w 691"/>
                <a:gd name="T5" fmla="*/ 0 h 355"/>
                <a:gd name="T6" fmla="*/ 0 w 691"/>
                <a:gd name="T7" fmla="*/ 0 h 355"/>
                <a:gd name="T8" fmla="*/ 0 w 691"/>
                <a:gd name="T9" fmla="*/ 0 h 355"/>
                <a:gd name="T10" fmla="*/ 0 w 691"/>
                <a:gd name="T11" fmla="*/ 0 h 355"/>
                <a:gd name="T12" fmla="*/ 0 w 691"/>
                <a:gd name="T13" fmla="*/ 0 h 355"/>
                <a:gd name="T14" fmla="*/ 0 w 691"/>
                <a:gd name="T15" fmla="*/ 0 h 355"/>
                <a:gd name="T16" fmla="*/ 0 w 691"/>
                <a:gd name="T17" fmla="*/ 0 h 355"/>
                <a:gd name="T18" fmla="*/ 0 w 691"/>
                <a:gd name="T19" fmla="*/ 0 h 355"/>
                <a:gd name="T20" fmla="*/ 0 w 691"/>
                <a:gd name="T21" fmla="*/ 0 h 355"/>
                <a:gd name="T22" fmla="*/ 0 w 691"/>
                <a:gd name="T23" fmla="*/ 0 h 355"/>
                <a:gd name="T24" fmla="*/ 0 w 691"/>
                <a:gd name="T25" fmla="*/ 0 h 355"/>
                <a:gd name="T26" fmla="*/ 0 w 691"/>
                <a:gd name="T27" fmla="*/ 0 h 355"/>
                <a:gd name="T28" fmla="*/ 0 w 691"/>
                <a:gd name="T29" fmla="*/ 0 h 355"/>
                <a:gd name="T30" fmla="*/ 0 w 691"/>
                <a:gd name="T31" fmla="*/ 0 h 355"/>
                <a:gd name="T32" fmla="*/ 0 w 691"/>
                <a:gd name="T33" fmla="*/ 0 h 355"/>
                <a:gd name="T34" fmla="*/ 0 w 691"/>
                <a:gd name="T35" fmla="*/ 0 h 355"/>
                <a:gd name="T36" fmla="*/ 0 w 691"/>
                <a:gd name="T37" fmla="*/ 0 h 355"/>
                <a:gd name="T38" fmla="*/ 0 w 691"/>
                <a:gd name="T39" fmla="*/ 0 h 355"/>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91" h="355">
                  <a:moveTo>
                    <a:pt x="279" y="11"/>
                  </a:moveTo>
                  <a:lnTo>
                    <a:pt x="274" y="104"/>
                  </a:lnTo>
                  <a:lnTo>
                    <a:pt x="455" y="189"/>
                  </a:lnTo>
                  <a:lnTo>
                    <a:pt x="607" y="226"/>
                  </a:lnTo>
                  <a:lnTo>
                    <a:pt x="691" y="263"/>
                  </a:lnTo>
                  <a:lnTo>
                    <a:pt x="687" y="313"/>
                  </a:lnTo>
                  <a:lnTo>
                    <a:pt x="577" y="343"/>
                  </a:lnTo>
                  <a:lnTo>
                    <a:pt x="413" y="355"/>
                  </a:lnTo>
                  <a:lnTo>
                    <a:pt x="274" y="331"/>
                  </a:lnTo>
                  <a:lnTo>
                    <a:pt x="188" y="307"/>
                  </a:lnTo>
                  <a:lnTo>
                    <a:pt x="183" y="334"/>
                  </a:lnTo>
                  <a:lnTo>
                    <a:pt x="74" y="331"/>
                  </a:lnTo>
                  <a:lnTo>
                    <a:pt x="7" y="318"/>
                  </a:lnTo>
                  <a:lnTo>
                    <a:pt x="7" y="270"/>
                  </a:lnTo>
                  <a:lnTo>
                    <a:pt x="0" y="242"/>
                  </a:lnTo>
                  <a:lnTo>
                    <a:pt x="0" y="173"/>
                  </a:lnTo>
                  <a:lnTo>
                    <a:pt x="18" y="135"/>
                  </a:lnTo>
                  <a:lnTo>
                    <a:pt x="53" y="91"/>
                  </a:lnTo>
                  <a:lnTo>
                    <a:pt x="60" y="0"/>
                  </a:lnTo>
                  <a:lnTo>
                    <a:pt x="279" y="11"/>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3" name="Freeform 126"/>
            <p:cNvSpPr>
              <a:spLocks/>
            </p:cNvSpPr>
            <p:nvPr/>
          </p:nvSpPr>
          <p:spPr bwMode="auto">
            <a:xfrm>
              <a:off x="421" y="2341"/>
              <a:ext cx="42" cy="22"/>
            </a:xfrm>
            <a:custGeom>
              <a:avLst/>
              <a:gdLst>
                <a:gd name="T0" fmla="*/ 0 w 208"/>
                <a:gd name="T1" fmla="*/ 0 h 110"/>
                <a:gd name="T2" fmla="*/ 0 w 208"/>
                <a:gd name="T3" fmla="*/ 0 h 110"/>
                <a:gd name="T4" fmla="*/ 0 w 208"/>
                <a:gd name="T5" fmla="*/ 0 h 110"/>
                <a:gd name="T6" fmla="*/ 0 w 208"/>
                <a:gd name="T7" fmla="*/ 0 h 110"/>
                <a:gd name="T8" fmla="*/ 0 w 208"/>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8" h="110">
                  <a:moveTo>
                    <a:pt x="53" y="0"/>
                  </a:moveTo>
                  <a:lnTo>
                    <a:pt x="0" y="58"/>
                  </a:lnTo>
                  <a:lnTo>
                    <a:pt x="186" y="110"/>
                  </a:lnTo>
                  <a:lnTo>
                    <a:pt x="208" y="70"/>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4" name="Freeform 127"/>
            <p:cNvSpPr>
              <a:spLocks/>
            </p:cNvSpPr>
            <p:nvPr/>
          </p:nvSpPr>
          <p:spPr bwMode="auto">
            <a:xfrm>
              <a:off x="463" y="2356"/>
              <a:ext cx="46" cy="13"/>
            </a:xfrm>
            <a:custGeom>
              <a:avLst/>
              <a:gdLst>
                <a:gd name="T0" fmla="*/ 0 w 233"/>
                <a:gd name="T1" fmla="*/ 0 h 67"/>
                <a:gd name="T2" fmla="*/ 0 w 233"/>
                <a:gd name="T3" fmla="*/ 0 h 67"/>
                <a:gd name="T4" fmla="*/ 0 w 233"/>
                <a:gd name="T5" fmla="*/ 0 h 67"/>
                <a:gd name="T6" fmla="*/ 0 w 233"/>
                <a:gd name="T7" fmla="*/ 0 h 67"/>
                <a:gd name="T8" fmla="*/ 0 w 233"/>
                <a:gd name="T9" fmla="*/ 0 h 67"/>
                <a:gd name="T10" fmla="*/ 0 w 233"/>
                <a:gd name="T11" fmla="*/ 0 h 67"/>
                <a:gd name="T12" fmla="*/ 0 w 233"/>
                <a:gd name="T13" fmla="*/ 0 h 6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3" h="67">
                  <a:moveTo>
                    <a:pt x="27" y="0"/>
                  </a:moveTo>
                  <a:lnTo>
                    <a:pt x="0" y="32"/>
                  </a:lnTo>
                  <a:lnTo>
                    <a:pt x="115" y="62"/>
                  </a:lnTo>
                  <a:lnTo>
                    <a:pt x="168" y="67"/>
                  </a:lnTo>
                  <a:lnTo>
                    <a:pt x="233" y="64"/>
                  </a:lnTo>
                  <a:lnTo>
                    <a:pt x="165" y="30"/>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5" name="Freeform 128"/>
            <p:cNvSpPr>
              <a:spLocks/>
            </p:cNvSpPr>
            <p:nvPr/>
          </p:nvSpPr>
          <p:spPr bwMode="auto">
            <a:xfrm>
              <a:off x="376" y="2341"/>
              <a:ext cx="134" cy="41"/>
            </a:xfrm>
            <a:custGeom>
              <a:avLst/>
              <a:gdLst>
                <a:gd name="T0" fmla="*/ 0 w 670"/>
                <a:gd name="T1" fmla="*/ 0 h 209"/>
                <a:gd name="T2" fmla="*/ 0 w 670"/>
                <a:gd name="T3" fmla="*/ 0 h 209"/>
                <a:gd name="T4" fmla="*/ 0 w 670"/>
                <a:gd name="T5" fmla="*/ 0 h 209"/>
                <a:gd name="T6" fmla="*/ 0 w 670"/>
                <a:gd name="T7" fmla="*/ 0 h 209"/>
                <a:gd name="T8" fmla="*/ 0 w 670"/>
                <a:gd name="T9" fmla="*/ 0 h 209"/>
                <a:gd name="T10" fmla="*/ 0 w 670"/>
                <a:gd name="T11" fmla="*/ 0 h 209"/>
                <a:gd name="T12" fmla="*/ 0 w 670"/>
                <a:gd name="T13" fmla="*/ 0 h 209"/>
                <a:gd name="T14" fmla="*/ 0 w 670"/>
                <a:gd name="T15" fmla="*/ 0 h 209"/>
                <a:gd name="T16" fmla="*/ 0 w 670"/>
                <a:gd name="T17" fmla="*/ 0 h 209"/>
                <a:gd name="T18" fmla="*/ 0 w 670"/>
                <a:gd name="T19" fmla="*/ 0 h 209"/>
                <a:gd name="T20" fmla="*/ 0 w 670"/>
                <a:gd name="T21" fmla="*/ 0 h 209"/>
                <a:gd name="T22" fmla="*/ 0 w 670"/>
                <a:gd name="T23" fmla="*/ 0 h 209"/>
                <a:gd name="T24" fmla="*/ 0 w 670"/>
                <a:gd name="T25" fmla="*/ 0 h 209"/>
                <a:gd name="T26" fmla="*/ 0 w 670"/>
                <a:gd name="T27" fmla="*/ 0 h 209"/>
                <a:gd name="T28" fmla="*/ 0 w 670"/>
                <a:gd name="T29" fmla="*/ 0 h 209"/>
                <a:gd name="T30" fmla="*/ 0 w 670"/>
                <a:gd name="T31" fmla="*/ 0 h 209"/>
                <a:gd name="T32" fmla="*/ 0 w 670"/>
                <a:gd name="T33" fmla="*/ 0 h 209"/>
                <a:gd name="T34" fmla="*/ 0 w 670"/>
                <a:gd name="T35" fmla="*/ 0 h 209"/>
                <a:gd name="T36" fmla="*/ 0 w 670"/>
                <a:gd name="T37" fmla="*/ 0 h 20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0" h="209">
                  <a:moveTo>
                    <a:pt x="670" y="178"/>
                  </a:moveTo>
                  <a:lnTo>
                    <a:pt x="670" y="146"/>
                  </a:lnTo>
                  <a:lnTo>
                    <a:pt x="582" y="155"/>
                  </a:lnTo>
                  <a:lnTo>
                    <a:pt x="442" y="134"/>
                  </a:lnTo>
                  <a:lnTo>
                    <a:pt x="361" y="116"/>
                  </a:lnTo>
                  <a:lnTo>
                    <a:pt x="206" y="66"/>
                  </a:lnTo>
                  <a:lnTo>
                    <a:pt x="140" y="58"/>
                  </a:lnTo>
                  <a:lnTo>
                    <a:pt x="73" y="34"/>
                  </a:lnTo>
                  <a:lnTo>
                    <a:pt x="40" y="0"/>
                  </a:lnTo>
                  <a:lnTo>
                    <a:pt x="0" y="43"/>
                  </a:lnTo>
                  <a:lnTo>
                    <a:pt x="0" y="132"/>
                  </a:lnTo>
                  <a:lnTo>
                    <a:pt x="49" y="146"/>
                  </a:lnTo>
                  <a:lnTo>
                    <a:pt x="170" y="162"/>
                  </a:lnTo>
                  <a:lnTo>
                    <a:pt x="218" y="167"/>
                  </a:lnTo>
                  <a:lnTo>
                    <a:pt x="298" y="196"/>
                  </a:lnTo>
                  <a:lnTo>
                    <a:pt x="388" y="209"/>
                  </a:lnTo>
                  <a:lnTo>
                    <a:pt x="452" y="209"/>
                  </a:lnTo>
                  <a:lnTo>
                    <a:pt x="553" y="209"/>
                  </a:lnTo>
                  <a:lnTo>
                    <a:pt x="670"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6" name="Freeform 129"/>
            <p:cNvSpPr>
              <a:spLocks/>
            </p:cNvSpPr>
            <p:nvPr/>
          </p:nvSpPr>
          <p:spPr bwMode="auto">
            <a:xfrm>
              <a:off x="386" y="2317"/>
              <a:ext cx="44" cy="34"/>
            </a:xfrm>
            <a:custGeom>
              <a:avLst/>
              <a:gdLst>
                <a:gd name="T0" fmla="*/ 0 w 219"/>
                <a:gd name="T1" fmla="*/ 0 h 171"/>
                <a:gd name="T2" fmla="*/ 0 w 219"/>
                <a:gd name="T3" fmla="*/ 0 h 171"/>
                <a:gd name="T4" fmla="*/ 0 w 219"/>
                <a:gd name="T5" fmla="*/ 0 h 171"/>
                <a:gd name="T6" fmla="*/ 0 w 219"/>
                <a:gd name="T7" fmla="*/ 0 h 171"/>
                <a:gd name="T8" fmla="*/ 0 w 219"/>
                <a:gd name="T9" fmla="*/ 0 h 171"/>
                <a:gd name="T10" fmla="*/ 0 w 219"/>
                <a:gd name="T11" fmla="*/ 0 h 171"/>
                <a:gd name="T12" fmla="*/ 0 w 219"/>
                <a:gd name="T13" fmla="*/ 0 h 171"/>
                <a:gd name="T14" fmla="*/ 0 w 219"/>
                <a:gd name="T15" fmla="*/ 0 h 171"/>
                <a:gd name="T16" fmla="*/ 0 w 219"/>
                <a:gd name="T17" fmla="*/ 0 h 171"/>
                <a:gd name="T18" fmla="*/ 0 w 219"/>
                <a:gd name="T19" fmla="*/ 0 h 17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171">
                  <a:moveTo>
                    <a:pt x="214" y="11"/>
                  </a:moveTo>
                  <a:lnTo>
                    <a:pt x="207" y="96"/>
                  </a:lnTo>
                  <a:lnTo>
                    <a:pt x="219" y="114"/>
                  </a:lnTo>
                  <a:lnTo>
                    <a:pt x="170" y="171"/>
                  </a:lnTo>
                  <a:lnTo>
                    <a:pt x="103" y="171"/>
                  </a:lnTo>
                  <a:lnTo>
                    <a:pt x="26" y="146"/>
                  </a:lnTo>
                  <a:lnTo>
                    <a:pt x="0" y="112"/>
                  </a:lnTo>
                  <a:lnTo>
                    <a:pt x="15" y="89"/>
                  </a:lnTo>
                  <a:lnTo>
                    <a:pt x="20" y="0"/>
                  </a:lnTo>
                  <a:lnTo>
                    <a:pt x="214"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7" name="Group 130"/>
          <p:cNvGrpSpPr>
            <a:grpSpLocks/>
          </p:cNvGrpSpPr>
          <p:nvPr/>
        </p:nvGrpSpPr>
        <p:grpSpPr bwMode="auto">
          <a:xfrm>
            <a:off x="2032970" y="3548191"/>
            <a:ext cx="58384" cy="131945"/>
            <a:chOff x="378" y="2191"/>
            <a:chExt cx="58" cy="142"/>
          </a:xfrm>
        </p:grpSpPr>
        <p:sp>
          <p:nvSpPr>
            <p:cNvPr id="138" name="Freeform 131"/>
            <p:cNvSpPr>
              <a:spLocks/>
            </p:cNvSpPr>
            <p:nvPr/>
          </p:nvSpPr>
          <p:spPr bwMode="auto">
            <a:xfrm>
              <a:off x="378" y="2191"/>
              <a:ext cx="58" cy="142"/>
            </a:xfrm>
            <a:custGeom>
              <a:avLst/>
              <a:gdLst>
                <a:gd name="T0" fmla="*/ 0 w 292"/>
                <a:gd name="T1" fmla="*/ 0 h 710"/>
                <a:gd name="T2" fmla="*/ 0 w 292"/>
                <a:gd name="T3" fmla="*/ 0 h 710"/>
                <a:gd name="T4" fmla="*/ 0 w 292"/>
                <a:gd name="T5" fmla="*/ 0 h 710"/>
                <a:gd name="T6" fmla="*/ 0 w 292"/>
                <a:gd name="T7" fmla="*/ 0 h 710"/>
                <a:gd name="T8" fmla="*/ 0 w 292"/>
                <a:gd name="T9" fmla="*/ 0 h 710"/>
                <a:gd name="T10" fmla="*/ 0 w 292"/>
                <a:gd name="T11" fmla="*/ 0 h 710"/>
                <a:gd name="T12" fmla="*/ 0 w 292"/>
                <a:gd name="T13" fmla="*/ 0 h 710"/>
                <a:gd name="T14" fmla="*/ 0 w 292"/>
                <a:gd name="T15" fmla="*/ 0 h 71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92" h="710">
                  <a:moveTo>
                    <a:pt x="24" y="15"/>
                  </a:moveTo>
                  <a:lnTo>
                    <a:pt x="6" y="256"/>
                  </a:lnTo>
                  <a:lnTo>
                    <a:pt x="10" y="454"/>
                  </a:lnTo>
                  <a:lnTo>
                    <a:pt x="0" y="678"/>
                  </a:lnTo>
                  <a:lnTo>
                    <a:pt x="144" y="710"/>
                  </a:lnTo>
                  <a:lnTo>
                    <a:pt x="283" y="710"/>
                  </a:lnTo>
                  <a:lnTo>
                    <a:pt x="292" y="0"/>
                  </a:lnTo>
                  <a:lnTo>
                    <a:pt x="24" y="15"/>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9" name="Freeform 132"/>
            <p:cNvSpPr>
              <a:spLocks/>
            </p:cNvSpPr>
            <p:nvPr/>
          </p:nvSpPr>
          <p:spPr bwMode="auto">
            <a:xfrm>
              <a:off x="383" y="2193"/>
              <a:ext cx="50" cy="136"/>
            </a:xfrm>
            <a:custGeom>
              <a:avLst/>
              <a:gdLst>
                <a:gd name="T0" fmla="*/ 0 w 252"/>
                <a:gd name="T1" fmla="*/ 0 h 681"/>
                <a:gd name="T2" fmla="*/ 0 w 252"/>
                <a:gd name="T3" fmla="*/ 0 h 681"/>
                <a:gd name="T4" fmla="*/ 0 w 252"/>
                <a:gd name="T5" fmla="*/ 0 h 681"/>
                <a:gd name="T6" fmla="*/ 0 w 252"/>
                <a:gd name="T7" fmla="*/ 0 h 681"/>
                <a:gd name="T8" fmla="*/ 0 w 252"/>
                <a:gd name="T9" fmla="*/ 0 h 681"/>
                <a:gd name="T10" fmla="*/ 0 w 252"/>
                <a:gd name="T11" fmla="*/ 0 h 681"/>
                <a:gd name="T12" fmla="*/ 0 w 252"/>
                <a:gd name="T13" fmla="*/ 0 h 681"/>
                <a:gd name="T14" fmla="*/ 0 w 252"/>
                <a:gd name="T15" fmla="*/ 0 h 68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52" h="681">
                  <a:moveTo>
                    <a:pt x="23" y="21"/>
                  </a:moveTo>
                  <a:lnTo>
                    <a:pt x="0" y="223"/>
                  </a:lnTo>
                  <a:lnTo>
                    <a:pt x="5" y="385"/>
                  </a:lnTo>
                  <a:lnTo>
                    <a:pt x="5" y="633"/>
                  </a:lnTo>
                  <a:lnTo>
                    <a:pt x="128" y="681"/>
                  </a:lnTo>
                  <a:lnTo>
                    <a:pt x="238" y="681"/>
                  </a:lnTo>
                  <a:lnTo>
                    <a:pt x="252" y="0"/>
                  </a:lnTo>
                  <a:lnTo>
                    <a:pt x="23" y="2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40" name="Group 133"/>
          <p:cNvGrpSpPr>
            <a:grpSpLocks/>
          </p:cNvGrpSpPr>
          <p:nvPr/>
        </p:nvGrpSpPr>
        <p:grpSpPr bwMode="auto">
          <a:xfrm>
            <a:off x="2063168" y="3681994"/>
            <a:ext cx="141934" cy="65972"/>
            <a:chOff x="408" y="2335"/>
            <a:chExt cx="141" cy="71"/>
          </a:xfrm>
        </p:grpSpPr>
        <p:sp>
          <p:nvSpPr>
            <p:cNvPr id="141" name="Freeform 134"/>
            <p:cNvSpPr>
              <a:spLocks/>
            </p:cNvSpPr>
            <p:nvPr/>
          </p:nvSpPr>
          <p:spPr bwMode="auto">
            <a:xfrm>
              <a:off x="408" y="2335"/>
              <a:ext cx="141" cy="71"/>
            </a:xfrm>
            <a:custGeom>
              <a:avLst/>
              <a:gdLst>
                <a:gd name="T0" fmla="*/ 0 w 703"/>
                <a:gd name="T1" fmla="*/ 0 h 356"/>
                <a:gd name="T2" fmla="*/ 0 w 703"/>
                <a:gd name="T3" fmla="*/ 0 h 356"/>
                <a:gd name="T4" fmla="*/ 0 w 703"/>
                <a:gd name="T5" fmla="*/ 0 h 356"/>
                <a:gd name="T6" fmla="*/ 0 w 703"/>
                <a:gd name="T7" fmla="*/ 0 h 356"/>
                <a:gd name="T8" fmla="*/ 0 w 703"/>
                <a:gd name="T9" fmla="*/ 0 h 356"/>
                <a:gd name="T10" fmla="*/ 0 w 703"/>
                <a:gd name="T11" fmla="*/ 0 h 356"/>
                <a:gd name="T12" fmla="*/ 0 w 703"/>
                <a:gd name="T13" fmla="*/ 0 h 356"/>
                <a:gd name="T14" fmla="*/ 0 w 703"/>
                <a:gd name="T15" fmla="*/ 0 h 356"/>
                <a:gd name="T16" fmla="*/ 0 w 703"/>
                <a:gd name="T17" fmla="*/ 0 h 356"/>
                <a:gd name="T18" fmla="*/ 0 w 703"/>
                <a:gd name="T19" fmla="*/ 0 h 356"/>
                <a:gd name="T20" fmla="*/ 0 w 703"/>
                <a:gd name="T21" fmla="*/ 0 h 356"/>
                <a:gd name="T22" fmla="*/ 0 w 703"/>
                <a:gd name="T23" fmla="*/ 0 h 356"/>
                <a:gd name="T24" fmla="*/ 0 w 703"/>
                <a:gd name="T25" fmla="*/ 0 h 356"/>
                <a:gd name="T26" fmla="*/ 0 w 703"/>
                <a:gd name="T27" fmla="*/ 0 h 356"/>
                <a:gd name="T28" fmla="*/ 0 w 703"/>
                <a:gd name="T29" fmla="*/ 0 h 356"/>
                <a:gd name="T30" fmla="*/ 0 w 703"/>
                <a:gd name="T31" fmla="*/ 0 h 356"/>
                <a:gd name="T32" fmla="*/ 0 w 703"/>
                <a:gd name="T33" fmla="*/ 0 h 356"/>
                <a:gd name="T34" fmla="*/ 0 w 703"/>
                <a:gd name="T35" fmla="*/ 0 h 356"/>
                <a:gd name="T36" fmla="*/ 0 w 703"/>
                <a:gd name="T37" fmla="*/ 0 h 356"/>
                <a:gd name="T38" fmla="*/ 0 w 703"/>
                <a:gd name="T39" fmla="*/ 0 h 35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703" h="356">
                  <a:moveTo>
                    <a:pt x="285" y="13"/>
                  </a:moveTo>
                  <a:lnTo>
                    <a:pt x="280" y="104"/>
                  </a:lnTo>
                  <a:lnTo>
                    <a:pt x="463" y="191"/>
                  </a:lnTo>
                  <a:lnTo>
                    <a:pt x="617" y="227"/>
                  </a:lnTo>
                  <a:lnTo>
                    <a:pt x="703" y="264"/>
                  </a:lnTo>
                  <a:lnTo>
                    <a:pt x="698" y="314"/>
                  </a:lnTo>
                  <a:lnTo>
                    <a:pt x="588" y="345"/>
                  </a:lnTo>
                  <a:lnTo>
                    <a:pt x="420" y="356"/>
                  </a:lnTo>
                  <a:lnTo>
                    <a:pt x="280" y="332"/>
                  </a:lnTo>
                  <a:lnTo>
                    <a:pt x="194" y="307"/>
                  </a:lnTo>
                  <a:lnTo>
                    <a:pt x="188" y="335"/>
                  </a:lnTo>
                  <a:lnTo>
                    <a:pt x="76" y="332"/>
                  </a:lnTo>
                  <a:lnTo>
                    <a:pt x="8" y="320"/>
                  </a:lnTo>
                  <a:lnTo>
                    <a:pt x="8" y="271"/>
                  </a:lnTo>
                  <a:lnTo>
                    <a:pt x="0" y="243"/>
                  </a:lnTo>
                  <a:lnTo>
                    <a:pt x="0" y="174"/>
                  </a:lnTo>
                  <a:lnTo>
                    <a:pt x="22" y="136"/>
                  </a:lnTo>
                  <a:lnTo>
                    <a:pt x="56" y="94"/>
                  </a:lnTo>
                  <a:lnTo>
                    <a:pt x="64" y="0"/>
                  </a:lnTo>
                  <a:lnTo>
                    <a:pt x="285" y="13"/>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2" name="Freeform 135"/>
            <p:cNvSpPr>
              <a:spLocks/>
            </p:cNvSpPr>
            <p:nvPr/>
          </p:nvSpPr>
          <p:spPr bwMode="auto">
            <a:xfrm>
              <a:off x="455" y="2361"/>
              <a:ext cx="42" cy="22"/>
            </a:xfrm>
            <a:custGeom>
              <a:avLst/>
              <a:gdLst>
                <a:gd name="T0" fmla="*/ 0 w 210"/>
                <a:gd name="T1" fmla="*/ 0 h 111"/>
                <a:gd name="T2" fmla="*/ 0 w 210"/>
                <a:gd name="T3" fmla="*/ 0 h 111"/>
                <a:gd name="T4" fmla="*/ 0 w 210"/>
                <a:gd name="T5" fmla="*/ 0 h 111"/>
                <a:gd name="T6" fmla="*/ 0 w 210"/>
                <a:gd name="T7" fmla="*/ 0 h 111"/>
                <a:gd name="T8" fmla="*/ 0 w 210"/>
                <a:gd name="T9" fmla="*/ 0 h 11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10" h="111">
                  <a:moveTo>
                    <a:pt x="53" y="0"/>
                  </a:moveTo>
                  <a:lnTo>
                    <a:pt x="0" y="60"/>
                  </a:lnTo>
                  <a:lnTo>
                    <a:pt x="187" y="111"/>
                  </a:lnTo>
                  <a:lnTo>
                    <a:pt x="210" y="71"/>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3" name="Freeform 136"/>
            <p:cNvSpPr>
              <a:spLocks/>
            </p:cNvSpPr>
            <p:nvPr/>
          </p:nvSpPr>
          <p:spPr bwMode="auto">
            <a:xfrm>
              <a:off x="497" y="2377"/>
              <a:ext cx="47" cy="13"/>
            </a:xfrm>
            <a:custGeom>
              <a:avLst/>
              <a:gdLst>
                <a:gd name="T0" fmla="*/ 0 w 237"/>
                <a:gd name="T1" fmla="*/ 0 h 66"/>
                <a:gd name="T2" fmla="*/ 0 w 237"/>
                <a:gd name="T3" fmla="*/ 0 h 66"/>
                <a:gd name="T4" fmla="*/ 0 w 237"/>
                <a:gd name="T5" fmla="*/ 0 h 66"/>
                <a:gd name="T6" fmla="*/ 0 w 237"/>
                <a:gd name="T7" fmla="*/ 0 h 66"/>
                <a:gd name="T8" fmla="*/ 0 w 237"/>
                <a:gd name="T9" fmla="*/ 0 h 66"/>
                <a:gd name="T10" fmla="*/ 0 w 237"/>
                <a:gd name="T11" fmla="*/ 0 h 66"/>
                <a:gd name="T12" fmla="*/ 0 w 237"/>
                <a:gd name="T13" fmla="*/ 0 h 6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7" h="66">
                  <a:moveTo>
                    <a:pt x="27" y="0"/>
                  </a:moveTo>
                  <a:lnTo>
                    <a:pt x="0" y="31"/>
                  </a:lnTo>
                  <a:lnTo>
                    <a:pt x="116" y="59"/>
                  </a:lnTo>
                  <a:lnTo>
                    <a:pt x="171" y="66"/>
                  </a:lnTo>
                  <a:lnTo>
                    <a:pt x="237" y="61"/>
                  </a:lnTo>
                  <a:lnTo>
                    <a:pt x="168" y="28"/>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4" name="Freeform 137"/>
            <p:cNvSpPr>
              <a:spLocks/>
            </p:cNvSpPr>
            <p:nvPr/>
          </p:nvSpPr>
          <p:spPr bwMode="auto">
            <a:xfrm>
              <a:off x="410" y="2361"/>
              <a:ext cx="135" cy="42"/>
            </a:xfrm>
            <a:custGeom>
              <a:avLst/>
              <a:gdLst>
                <a:gd name="T0" fmla="*/ 0 w 678"/>
                <a:gd name="T1" fmla="*/ 0 h 211"/>
                <a:gd name="T2" fmla="*/ 0 w 678"/>
                <a:gd name="T3" fmla="*/ 0 h 211"/>
                <a:gd name="T4" fmla="*/ 0 w 678"/>
                <a:gd name="T5" fmla="*/ 0 h 211"/>
                <a:gd name="T6" fmla="*/ 0 w 678"/>
                <a:gd name="T7" fmla="*/ 0 h 211"/>
                <a:gd name="T8" fmla="*/ 0 w 678"/>
                <a:gd name="T9" fmla="*/ 0 h 211"/>
                <a:gd name="T10" fmla="*/ 0 w 678"/>
                <a:gd name="T11" fmla="*/ 0 h 211"/>
                <a:gd name="T12" fmla="*/ 0 w 678"/>
                <a:gd name="T13" fmla="*/ 0 h 211"/>
                <a:gd name="T14" fmla="*/ 0 w 678"/>
                <a:gd name="T15" fmla="*/ 0 h 211"/>
                <a:gd name="T16" fmla="*/ 0 w 678"/>
                <a:gd name="T17" fmla="*/ 0 h 211"/>
                <a:gd name="T18" fmla="*/ 0 w 678"/>
                <a:gd name="T19" fmla="*/ 0 h 211"/>
                <a:gd name="T20" fmla="*/ 0 w 678"/>
                <a:gd name="T21" fmla="*/ 0 h 211"/>
                <a:gd name="T22" fmla="*/ 0 w 678"/>
                <a:gd name="T23" fmla="*/ 0 h 211"/>
                <a:gd name="T24" fmla="*/ 0 w 678"/>
                <a:gd name="T25" fmla="*/ 0 h 211"/>
                <a:gd name="T26" fmla="*/ 0 w 678"/>
                <a:gd name="T27" fmla="*/ 0 h 211"/>
                <a:gd name="T28" fmla="*/ 0 w 678"/>
                <a:gd name="T29" fmla="*/ 0 h 211"/>
                <a:gd name="T30" fmla="*/ 0 w 678"/>
                <a:gd name="T31" fmla="*/ 0 h 211"/>
                <a:gd name="T32" fmla="*/ 0 w 678"/>
                <a:gd name="T33" fmla="*/ 0 h 211"/>
                <a:gd name="T34" fmla="*/ 0 w 678"/>
                <a:gd name="T35" fmla="*/ 0 h 211"/>
                <a:gd name="T36" fmla="*/ 0 w 678"/>
                <a:gd name="T37" fmla="*/ 0 h 21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8" h="211">
                  <a:moveTo>
                    <a:pt x="678" y="178"/>
                  </a:moveTo>
                  <a:lnTo>
                    <a:pt x="678" y="147"/>
                  </a:lnTo>
                  <a:lnTo>
                    <a:pt x="590" y="156"/>
                  </a:lnTo>
                  <a:lnTo>
                    <a:pt x="446" y="136"/>
                  </a:lnTo>
                  <a:lnTo>
                    <a:pt x="365" y="117"/>
                  </a:lnTo>
                  <a:lnTo>
                    <a:pt x="209" y="66"/>
                  </a:lnTo>
                  <a:lnTo>
                    <a:pt x="140" y="60"/>
                  </a:lnTo>
                  <a:lnTo>
                    <a:pt x="74" y="35"/>
                  </a:lnTo>
                  <a:lnTo>
                    <a:pt x="39" y="0"/>
                  </a:lnTo>
                  <a:lnTo>
                    <a:pt x="0" y="44"/>
                  </a:lnTo>
                  <a:lnTo>
                    <a:pt x="0" y="133"/>
                  </a:lnTo>
                  <a:lnTo>
                    <a:pt x="50" y="147"/>
                  </a:lnTo>
                  <a:lnTo>
                    <a:pt x="171" y="162"/>
                  </a:lnTo>
                  <a:lnTo>
                    <a:pt x="220" y="170"/>
                  </a:lnTo>
                  <a:lnTo>
                    <a:pt x="300" y="197"/>
                  </a:lnTo>
                  <a:lnTo>
                    <a:pt x="392" y="211"/>
                  </a:lnTo>
                  <a:lnTo>
                    <a:pt x="458" y="211"/>
                  </a:lnTo>
                  <a:lnTo>
                    <a:pt x="560" y="211"/>
                  </a:lnTo>
                  <a:lnTo>
                    <a:pt x="678"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5" name="Freeform 138"/>
            <p:cNvSpPr>
              <a:spLocks/>
            </p:cNvSpPr>
            <p:nvPr/>
          </p:nvSpPr>
          <p:spPr bwMode="auto">
            <a:xfrm>
              <a:off x="419" y="2337"/>
              <a:ext cx="45" cy="34"/>
            </a:xfrm>
            <a:custGeom>
              <a:avLst/>
              <a:gdLst>
                <a:gd name="T0" fmla="*/ 0 w 224"/>
                <a:gd name="T1" fmla="*/ 0 h 170"/>
                <a:gd name="T2" fmla="*/ 0 w 224"/>
                <a:gd name="T3" fmla="*/ 0 h 170"/>
                <a:gd name="T4" fmla="*/ 0 w 224"/>
                <a:gd name="T5" fmla="*/ 0 h 170"/>
                <a:gd name="T6" fmla="*/ 0 w 224"/>
                <a:gd name="T7" fmla="*/ 0 h 170"/>
                <a:gd name="T8" fmla="*/ 0 w 224"/>
                <a:gd name="T9" fmla="*/ 0 h 170"/>
                <a:gd name="T10" fmla="*/ 0 w 224"/>
                <a:gd name="T11" fmla="*/ 0 h 170"/>
                <a:gd name="T12" fmla="*/ 0 w 224"/>
                <a:gd name="T13" fmla="*/ 0 h 170"/>
                <a:gd name="T14" fmla="*/ 0 w 224"/>
                <a:gd name="T15" fmla="*/ 0 h 170"/>
                <a:gd name="T16" fmla="*/ 0 w 224"/>
                <a:gd name="T17" fmla="*/ 0 h 170"/>
                <a:gd name="T18" fmla="*/ 0 w 224"/>
                <a:gd name="T19" fmla="*/ 0 h 17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24" h="170">
                  <a:moveTo>
                    <a:pt x="216" y="12"/>
                  </a:moveTo>
                  <a:lnTo>
                    <a:pt x="210" y="95"/>
                  </a:lnTo>
                  <a:lnTo>
                    <a:pt x="224" y="114"/>
                  </a:lnTo>
                  <a:lnTo>
                    <a:pt x="173" y="170"/>
                  </a:lnTo>
                  <a:lnTo>
                    <a:pt x="105" y="170"/>
                  </a:lnTo>
                  <a:lnTo>
                    <a:pt x="28" y="145"/>
                  </a:lnTo>
                  <a:lnTo>
                    <a:pt x="0" y="112"/>
                  </a:lnTo>
                  <a:lnTo>
                    <a:pt x="16" y="89"/>
                  </a:lnTo>
                  <a:lnTo>
                    <a:pt x="20" y="0"/>
                  </a:lnTo>
                  <a:lnTo>
                    <a:pt x="216" y="12"/>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46" name="Oval 139"/>
          <p:cNvSpPr>
            <a:spLocks noChangeArrowheads="1"/>
          </p:cNvSpPr>
          <p:nvPr/>
        </p:nvSpPr>
        <p:spPr bwMode="auto">
          <a:xfrm>
            <a:off x="1851777" y="3682923"/>
            <a:ext cx="168107" cy="60398"/>
          </a:xfrm>
          <a:prstGeom prst="ellipse">
            <a:avLst/>
          </a:prstGeom>
          <a:solidFill>
            <a:srgbClr val="606060"/>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47" name="Rectangle 140"/>
          <p:cNvSpPr>
            <a:spLocks noChangeArrowheads="1"/>
          </p:cNvSpPr>
          <p:nvPr/>
        </p:nvSpPr>
        <p:spPr bwMode="auto">
          <a:xfrm>
            <a:off x="1913181" y="3563058"/>
            <a:ext cx="44292" cy="137520"/>
          </a:xfrm>
          <a:prstGeom prst="rect">
            <a:avLst/>
          </a:prstGeom>
          <a:solidFill>
            <a:srgbClr val="606060"/>
          </a:solidFill>
          <a:ln w="3175">
            <a:solidFill>
              <a:srgbClr val="000000"/>
            </a:solidFill>
            <a:miter lim="800000"/>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48" name="Group 141"/>
          <p:cNvGrpSpPr>
            <a:grpSpLocks/>
          </p:cNvGrpSpPr>
          <p:nvPr/>
        </p:nvGrpSpPr>
        <p:grpSpPr bwMode="auto">
          <a:xfrm>
            <a:off x="1835671" y="3511024"/>
            <a:ext cx="222464" cy="71547"/>
            <a:chOff x="182" y="2151"/>
            <a:chExt cx="221" cy="77"/>
          </a:xfrm>
        </p:grpSpPr>
        <p:sp>
          <p:nvSpPr>
            <p:cNvPr id="149" name="Freeform 142"/>
            <p:cNvSpPr>
              <a:spLocks/>
            </p:cNvSpPr>
            <p:nvPr/>
          </p:nvSpPr>
          <p:spPr bwMode="auto">
            <a:xfrm>
              <a:off x="182" y="2151"/>
              <a:ext cx="221" cy="77"/>
            </a:xfrm>
            <a:custGeom>
              <a:avLst/>
              <a:gdLst>
                <a:gd name="T0" fmla="*/ 0 w 1106"/>
                <a:gd name="T1" fmla="*/ 0 h 386"/>
                <a:gd name="T2" fmla="*/ 0 w 1106"/>
                <a:gd name="T3" fmla="*/ 0 h 386"/>
                <a:gd name="T4" fmla="*/ 0 w 1106"/>
                <a:gd name="T5" fmla="*/ 0 h 386"/>
                <a:gd name="T6" fmla="*/ 0 w 1106"/>
                <a:gd name="T7" fmla="*/ 0 h 386"/>
                <a:gd name="T8" fmla="*/ 0 w 1106"/>
                <a:gd name="T9" fmla="*/ 0 h 386"/>
                <a:gd name="T10" fmla="*/ 0 w 1106"/>
                <a:gd name="T11" fmla="*/ 0 h 386"/>
                <a:gd name="T12" fmla="*/ 0 w 1106"/>
                <a:gd name="T13" fmla="*/ 0 h 386"/>
                <a:gd name="T14" fmla="*/ 0 w 1106"/>
                <a:gd name="T15" fmla="*/ 0 h 38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106" h="386">
                  <a:moveTo>
                    <a:pt x="1106" y="202"/>
                  </a:moveTo>
                  <a:lnTo>
                    <a:pt x="1099" y="321"/>
                  </a:lnTo>
                  <a:lnTo>
                    <a:pt x="735" y="386"/>
                  </a:lnTo>
                  <a:lnTo>
                    <a:pt x="334" y="386"/>
                  </a:lnTo>
                  <a:lnTo>
                    <a:pt x="19" y="288"/>
                  </a:lnTo>
                  <a:lnTo>
                    <a:pt x="0" y="10"/>
                  </a:lnTo>
                  <a:lnTo>
                    <a:pt x="625" y="0"/>
                  </a:lnTo>
                  <a:lnTo>
                    <a:pt x="1106" y="202"/>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0" name="Freeform 143"/>
            <p:cNvSpPr>
              <a:spLocks/>
            </p:cNvSpPr>
            <p:nvPr/>
          </p:nvSpPr>
          <p:spPr bwMode="auto">
            <a:xfrm>
              <a:off x="187" y="2180"/>
              <a:ext cx="211" cy="45"/>
            </a:xfrm>
            <a:custGeom>
              <a:avLst/>
              <a:gdLst>
                <a:gd name="T0" fmla="*/ 0 w 1055"/>
                <a:gd name="T1" fmla="*/ 0 h 221"/>
                <a:gd name="T2" fmla="*/ 0 w 1055"/>
                <a:gd name="T3" fmla="*/ 0 h 221"/>
                <a:gd name="T4" fmla="*/ 0 w 1055"/>
                <a:gd name="T5" fmla="*/ 0 h 221"/>
                <a:gd name="T6" fmla="*/ 0 w 1055"/>
                <a:gd name="T7" fmla="*/ 0 h 221"/>
                <a:gd name="T8" fmla="*/ 0 w 1055"/>
                <a:gd name="T9" fmla="*/ 0 h 221"/>
                <a:gd name="T10" fmla="*/ 0 w 1055"/>
                <a:gd name="T11" fmla="*/ 0 h 221"/>
                <a:gd name="T12" fmla="*/ 0 w 1055"/>
                <a:gd name="T13" fmla="*/ 0 h 221"/>
                <a:gd name="T14" fmla="*/ 0 w 1055"/>
                <a:gd name="T15" fmla="*/ 0 h 221"/>
                <a:gd name="T16" fmla="*/ 0 w 1055"/>
                <a:gd name="T17" fmla="*/ 0 h 22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 h="221">
                  <a:moveTo>
                    <a:pt x="1055" y="75"/>
                  </a:moveTo>
                  <a:lnTo>
                    <a:pt x="1049" y="162"/>
                  </a:lnTo>
                  <a:lnTo>
                    <a:pt x="721" y="221"/>
                  </a:lnTo>
                  <a:lnTo>
                    <a:pt x="296" y="221"/>
                  </a:lnTo>
                  <a:lnTo>
                    <a:pt x="0" y="119"/>
                  </a:lnTo>
                  <a:lnTo>
                    <a:pt x="0" y="0"/>
                  </a:lnTo>
                  <a:lnTo>
                    <a:pt x="283" y="119"/>
                  </a:lnTo>
                  <a:lnTo>
                    <a:pt x="716" y="124"/>
                  </a:lnTo>
                  <a:lnTo>
                    <a:pt x="1055" y="7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51" name="Freeform 144"/>
          <p:cNvSpPr>
            <a:spLocks/>
          </p:cNvSpPr>
          <p:nvPr/>
        </p:nvSpPr>
        <p:spPr bwMode="auto">
          <a:xfrm>
            <a:off x="1828626" y="3435758"/>
            <a:ext cx="304000" cy="260174"/>
          </a:xfrm>
          <a:custGeom>
            <a:avLst/>
            <a:gdLst>
              <a:gd name="T0" fmla="*/ 2147483646 w 1507"/>
              <a:gd name="T1" fmla="*/ 2147483646 h 1401"/>
              <a:gd name="T2" fmla="*/ 2147483646 w 1507"/>
              <a:gd name="T3" fmla="*/ 2147483646 h 1401"/>
              <a:gd name="T4" fmla="*/ 2147483646 w 1507"/>
              <a:gd name="T5" fmla="*/ 2147483646 h 1401"/>
              <a:gd name="T6" fmla="*/ 2147483646 w 1507"/>
              <a:gd name="T7" fmla="*/ 2147483646 h 1401"/>
              <a:gd name="T8" fmla="*/ 2147483646 w 1507"/>
              <a:gd name="T9" fmla="*/ 2147483646 h 1401"/>
              <a:gd name="T10" fmla="*/ 2147483646 w 1507"/>
              <a:gd name="T11" fmla="*/ 2147483646 h 1401"/>
              <a:gd name="T12" fmla="*/ 2147483646 w 1507"/>
              <a:gd name="T13" fmla="*/ 2147483646 h 1401"/>
              <a:gd name="T14" fmla="*/ 2147483646 w 1507"/>
              <a:gd name="T15" fmla="*/ 2147483646 h 1401"/>
              <a:gd name="T16" fmla="*/ 2147483646 w 1507"/>
              <a:gd name="T17" fmla="*/ 2147483646 h 1401"/>
              <a:gd name="T18" fmla="*/ 2147483646 w 1507"/>
              <a:gd name="T19" fmla="*/ 2147483646 h 1401"/>
              <a:gd name="T20" fmla="*/ 2147483646 w 1507"/>
              <a:gd name="T21" fmla="*/ 2147483646 h 1401"/>
              <a:gd name="T22" fmla="*/ 2147483646 w 1507"/>
              <a:gd name="T23" fmla="*/ 2147483646 h 1401"/>
              <a:gd name="T24" fmla="*/ 2147483646 w 1507"/>
              <a:gd name="T25" fmla="*/ 2147483646 h 1401"/>
              <a:gd name="T26" fmla="*/ 2147483646 w 1507"/>
              <a:gd name="T27" fmla="*/ 2147483646 h 1401"/>
              <a:gd name="T28" fmla="*/ 2147483646 w 1507"/>
              <a:gd name="T29" fmla="*/ 2147483646 h 1401"/>
              <a:gd name="T30" fmla="*/ 2147483646 w 1507"/>
              <a:gd name="T31" fmla="*/ 2147483646 h 1401"/>
              <a:gd name="T32" fmla="*/ 2147483646 w 1507"/>
              <a:gd name="T33" fmla="*/ 2147483646 h 1401"/>
              <a:gd name="T34" fmla="*/ 2147483646 w 1507"/>
              <a:gd name="T35" fmla="*/ 2147483646 h 1401"/>
              <a:gd name="T36" fmla="*/ 2147483646 w 1507"/>
              <a:gd name="T37" fmla="*/ 2147483646 h 1401"/>
              <a:gd name="T38" fmla="*/ 2147483646 w 1507"/>
              <a:gd name="T39" fmla="*/ 0 h 1401"/>
              <a:gd name="T40" fmla="*/ 2147483646 w 1507"/>
              <a:gd name="T41" fmla="*/ 2147483646 h 1401"/>
              <a:gd name="T42" fmla="*/ 2147483646 w 1507"/>
              <a:gd name="T43" fmla="*/ 2147483646 h 1401"/>
              <a:gd name="T44" fmla="*/ 2147483646 w 1507"/>
              <a:gd name="T45" fmla="*/ 2147483646 h 1401"/>
              <a:gd name="T46" fmla="*/ 2147483646 w 1507"/>
              <a:gd name="T47" fmla="*/ 2147483646 h 1401"/>
              <a:gd name="T48" fmla="*/ 2147483646 w 1507"/>
              <a:gd name="T49" fmla="*/ 2147483646 h 1401"/>
              <a:gd name="T50" fmla="*/ 0 w 1507"/>
              <a:gd name="T51" fmla="*/ 2147483646 h 1401"/>
              <a:gd name="T52" fmla="*/ 2147483646 w 1507"/>
              <a:gd name="T53" fmla="*/ 2147483646 h 1401"/>
              <a:gd name="T54" fmla="*/ 2147483646 w 1507"/>
              <a:gd name="T55" fmla="*/ 2147483646 h 1401"/>
              <a:gd name="T56" fmla="*/ 2147483646 w 1507"/>
              <a:gd name="T57" fmla="*/ 2147483646 h 1401"/>
              <a:gd name="T58" fmla="*/ 2147483646 w 1507"/>
              <a:gd name="T59" fmla="*/ 2147483646 h 1401"/>
              <a:gd name="T60" fmla="*/ 2147483646 w 1507"/>
              <a:gd name="T61" fmla="*/ 2147483646 h 1401"/>
              <a:gd name="T62" fmla="*/ 2147483646 w 1507"/>
              <a:gd name="T63" fmla="*/ 2147483646 h 1401"/>
              <a:gd name="T64" fmla="*/ 2147483646 w 1507"/>
              <a:gd name="T65" fmla="*/ 2147483646 h 1401"/>
              <a:gd name="T66" fmla="*/ 2147483646 w 1507"/>
              <a:gd name="T67" fmla="*/ 2147483646 h 1401"/>
              <a:gd name="T68" fmla="*/ 2147483646 w 1507"/>
              <a:gd name="T69" fmla="*/ 2147483646 h 1401"/>
              <a:gd name="T70" fmla="*/ 2147483646 w 1507"/>
              <a:gd name="T71" fmla="*/ 2147483646 h 1401"/>
              <a:gd name="T72" fmla="*/ 2147483646 w 1507"/>
              <a:gd name="T73" fmla="*/ 2147483646 h 1401"/>
              <a:gd name="T74" fmla="*/ 2147483646 w 1507"/>
              <a:gd name="T75" fmla="*/ 2147483646 h 1401"/>
              <a:gd name="T76" fmla="*/ 2147483646 w 1507"/>
              <a:gd name="T77" fmla="*/ 2147483646 h 1401"/>
              <a:gd name="T78" fmla="*/ 2147483646 w 1507"/>
              <a:gd name="T79" fmla="*/ 2147483646 h 1401"/>
              <a:gd name="T80" fmla="*/ 2147483646 w 1507"/>
              <a:gd name="T81" fmla="*/ 2147483646 h 1401"/>
              <a:gd name="T82" fmla="*/ 2147483646 w 1507"/>
              <a:gd name="T83" fmla="*/ 2147483646 h 1401"/>
              <a:gd name="T84" fmla="*/ 2147483646 w 1507"/>
              <a:gd name="T85" fmla="*/ 2147483646 h 1401"/>
              <a:gd name="T86" fmla="*/ 2147483646 w 1507"/>
              <a:gd name="T87" fmla="*/ 2147483646 h 1401"/>
              <a:gd name="T88" fmla="*/ 2147483646 w 1507"/>
              <a:gd name="T89" fmla="*/ 2147483646 h 1401"/>
              <a:gd name="T90" fmla="*/ 2147483646 w 1507"/>
              <a:gd name="T91" fmla="*/ 2147483646 h 1401"/>
              <a:gd name="T92" fmla="*/ 2147483646 w 1507"/>
              <a:gd name="T93" fmla="*/ 2147483646 h 1401"/>
              <a:gd name="T94" fmla="*/ 2147483646 w 1507"/>
              <a:gd name="T95" fmla="*/ 2147483646 h 1401"/>
              <a:gd name="T96" fmla="*/ 2147483646 w 1507"/>
              <a:gd name="T97" fmla="*/ 2147483646 h 1401"/>
              <a:gd name="T98" fmla="*/ 2147483646 w 1507"/>
              <a:gd name="T99" fmla="*/ 2147483646 h 1401"/>
              <a:gd name="T100" fmla="*/ 2147483646 w 1507"/>
              <a:gd name="T101" fmla="*/ 2147483646 h 1401"/>
              <a:gd name="T102" fmla="*/ 2147483646 w 1507"/>
              <a:gd name="T103" fmla="*/ 2147483646 h 1401"/>
              <a:gd name="T104" fmla="*/ 2147483646 w 1507"/>
              <a:gd name="T105" fmla="*/ 2147483646 h 1401"/>
              <a:gd name="T106" fmla="*/ 2147483646 w 1507"/>
              <a:gd name="T107" fmla="*/ 2147483646 h 1401"/>
              <a:gd name="T108" fmla="*/ 2147483646 w 1507"/>
              <a:gd name="T109" fmla="*/ 2147483646 h 1401"/>
              <a:gd name="T110" fmla="*/ 2147483646 w 1507"/>
              <a:gd name="T111" fmla="*/ 2147483646 h 1401"/>
              <a:gd name="T112" fmla="*/ 2147483646 w 1507"/>
              <a:gd name="T113" fmla="*/ 2147483646 h 1401"/>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1507" h="1401">
                <a:moveTo>
                  <a:pt x="1501" y="789"/>
                </a:moveTo>
                <a:lnTo>
                  <a:pt x="1493" y="649"/>
                </a:lnTo>
                <a:lnTo>
                  <a:pt x="1495" y="499"/>
                </a:lnTo>
                <a:lnTo>
                  <a:pt x="1489" y="385"/>
                </a:lnTo>
                <a:lnTo>
                  <a:pt x="1424" y="317"/>
                </a:lnTo>
                <a:lnTo>
                  <a:pt x="1345" y="278"/>
                </a:lnTo>
                <a:lnTo>
                  <a:pt x="1166" y="213"/>
                </a:lnTo>
                <a:lnTo>
                  <a:pt x="903" y="149"/>
                </a:lnTo>
                <a:lnTo>
                  <a:pt x="852" y="144"/>
                </a:lnTo>
                <a:lnTo>
                  <a:pt x="817" y="149"/>
                </a:lnTo>
                <a:lnTo>
                  <a:pt x="809" y="135"/>
                </a:lnTo>
                <a:lnTo>
                  <a:pt x="794" y="122"/>
                </a:lnTo>
                <a:lnTo>
                  <a:pt x="777" y="125"/>
                </a:lnTo>
                <a:lnTo>
                  <a:pt x="754" y="126"/>
                </a:lnTo>
                <a:lnTo>
                  <a:pt x="745" y="100"/>
                </a:lnTo>
                <a:lnTo>
                  <a:pt x="726" y="85"/>
                </a:lnTo>
                <a:lnTo>
                  <a:pt x="704" y="82"/>
                </a:lnTo>
                <a:lnTo>
                  <a:pt x="678" y="82"/>
                </a:lnTo>
                <a:lnTo>
                  <a:pt x="681" y="59"/>
                </a:lnTo>
                <a:lnTo>
                  <a:pt x="651" y="0"/>
                </a:lnTo>
                <a:lnTo>
                  <a:pt x="37" y="16"/>
                </a:lnTo>
                <a:lnTo>
                  <a:pt x="39" y="79"/>
                </a:lnTo>
                <a:lnTo>
                  <a:pt x="28" y="135"/>
                </a:lnTo>
                <a:lnTo>
                  <a:pt x="18" y="175"/>
                </a:lnTo>
                <a:lnTo>
                  <a:pt x="8" y="225"/>
                </a:lnTo>
                <a:lnTo>
                  <a:pt x="0" y="306"/>
                </a:lnTo>
                <a:lnTo>
                  <a:pt x="9" y="354"/>
                </a:lnTo>
                <a:lnTo>
                  <a:pt x="28" y="399"/>
                </a:lnTo>
                <a:lnTo>
                  <a:pt x="49" y="438"/>
                </a:lnTo>
                <a:lnTo>
                  <a:pt x="78" y="451"/>
                </a:lnTo>
                <a:lnTo>
                  <a:pt x="122" y="464"/>
                </a:lnTo>
                <a:lnTo>
                  <a:pt x="180" y="483"/>
                </a:lnTo>
                <a:lnTo>
                  <a:pt x="208" y="514"/>
                </a:lnTo>
                <a:lnTo>
                  <a:pt x="240" y="541"/>
                </a:lnTo>
                <a:lnTo>
                  <a:pt x="289" y="564"/>
                </a:lnTo>
                <a:lnTo>
                  <a:pt x="348" y="582"/>
                </a:lnTo>
                <a:lnTo>
                  <a:pt x="441" y="594"/>
                </a:lnTo>
                <a:lnTo>
                  <a:pt x="520" y="594"/>
                </a:lnTo>
                <a:lnTo>
                  <a:pt x="581" y="587"/>
                </a:lnTo>
                <a:lnTo>
                  <a:pt x="637" y="582"/>
                </a:lnTo>
                <a:lnTo>
                  <a:pt x="678" y="604"/>
                </a:lnTo>
                <a:lnTo>
                  <a:pt x="758" y="600"/>
                </a:lnTo>
                <a:lnTo>
                  <a:pt x="1078" y="645"/>
                </a:lnTo>
                <a:lnTo>
                  <a:pt x="1165" y="655"/>
                </a:lnTo>
                <a:lnTo>
                  <a:pt x="1133" y="845"/>
                </a:lnTo>
                <a:lnTo>
                  <a:pt x="1130" y="942"/>
                </a:lnTo>
                <a:lnTo>
                  <a:pt x="1149" y="1066"/>
                </a:lnTo>
                <a:lnTo>
                  <a:pt x="1169" y="1212"/>
                </a:lnTo>
                <a:lnTo>
                  <a:pt x="1169" y="1363"/>
                </a:lnTo>
                <a:lnTo>
                  <a:pt x="1244" y="1385"/>
                </a:lnTo>
                <a:lnTo>
                  <a:pt x="1339" y="1395"/>
                </a:lnTo>
                <a:lnTo>
                  <a:pt x="1420" y="1401"/>
                </a:lnTo>
                <a:lnTo>
                  <a:pt x="1507" y="1391"/>
                </a:lnTo>
                <a:lnTo>
                  <a:pt x="1501" y="1252"/>
                </a:lnTo>
                <a:lnTo>
                  <a:pt x="1501" y="1024"/>
                </a:lnTo>
                <a:lnTo>
                  <a:pt x="1501" y="824"/>
                </a:lnTo>
                <a:lnTo>
                  <a:pt x="1501" y="789"/>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2" name="Freeform 145"/>
          <p:cNvSpPr>
            <a:spLocks/>
          </p:cNvSpPr>
          <p:nvPr/>
        </p:nvSpPr>
        <p:spPr bwMode="auto">
          <a:xfrm>
            <a:off x="1832652" y="3445980"/>
            <a:ext cx="296954" cy="246235"/>
          </a:xfrm>
          <a:custGeom>
            <a:avLst/>
            <a:gdLst>
              <a:gd name="T0" fmla="*/ 2147483646 w 1473"/>
              <a:gd name="T1" fmla="*/ 2147483646 h 1324"/>
              <a:gd name="T2" fmla="*/ 2147483646 w 1473"/>
              <a:gd name="T3" fmla="*/ 2147483646 h 1324"/>
              <a:gd name="T4" fmla="*/ 2147483646 w 1473"/>
              <a:gd name="T5" fmla="*/ 2147483646 h 1324"/>
              <a:gd name="T6" fmla="*/ 2147483646 w 1473"/>
              <a:gd name="T7" fmla="*/ 2147483646 h 1324"/>
              <a:gd name="T8" fmla="*/ 2147483646 w 1473"/>
              <a:gd name="T9" fmla="*/ 2147483646 h 1324"/>
              <a:gd name="T10" fmla="*/ 2147483646 w 1473"/>
              <a:gd name="T11" fmla="*/ 2147483646 h 1324"/>
              <a:gd name="T12" fmla="*/ 2147483646 w 1473"/>
              <a:gd name="T13" fmla="*/ 2147483646 h 1324"/>
              <a:gd name="T14" fmla="*/ 2147483646 w 1473"/>
              <a:gd name="T15" fmla="*/ 2147483646 h 1324"/>
              <a:gd name="T16" fmla="*/ 2147483646 w 1473"/>
              <a:gd name="T17" fmla="*/ 2147483646 h 1324"/>
              <a:gd name="T18" fmla="*/ 2147483646 w 1473"/>
              <a:gd name="T19" fmla="*/ 2147483646 h 1324"/>
              <a:gd name="T20" fmla="*/ 2147483646 w 1473"/>
              <a:gd name="T21" fmla="*/ 2147483646 h 1324"/>
              <a:gd name="T22" fmla="*/ 2147483646 w 1473"/>
              <a:gd name="T23" fmla="*/ 2147483646 h 1324"/>
              <a:gd name="T24" fmla="*/ 2147483646 w 1473"/>
              <a:gd name="T25" fmla="*/ 2147483646 h 1324"/>
              <a:gd name="T26" fmla="*/ 2147483646 w 1473"/>
              <a:gd name="T27" fmla="*/ 2147483646 h 1324"/>
              <a:gd name="T28" fmla="*/ 2147483646 w 1473"/>
              <a:gd name="T29" fmla="*/ 2147483646 h 1324"/>
              <a:gd name="T30" fmla="*/ 2147483646 w 1473"/>
              <a:gd name="T31" fmla="*/ 2147483646 h 1324"/>
              <a:gd name="T32" fmla="*/ 2147483646 w 1473"/>
              <a:gd name="T33" fmla="*/ 2147483646 h 1324"/>
              <a:gd name="T34" fmla="*/ 2147483646 w 1473"/>
              <a:gd name="T35" fmla="*/ 2147483646 h 1324"/>
              <a:gd name="T36" fmla="*/ 2147483646 w 1473"/>
              <a:gd name="T37" fmla="*/ 2147483646 h 1324"/>
              <a:gd name="T38" fmla="*/ 2147483646 w 1473"/>
              <a:gd name="T39" fmla="*/ 2147483646 h 1324"/>
              <a:gd name="T40" fmla="*/ 2147483646 w 1473"/>
              <a:gd name="T41" fmla="*/ 2147483646 h 1324"/>
              <a:gd name="T42" fmla="*/ 2147483646 w 1473"/>
              <a:gd name="T43" fmla="*/ 2147483646 h 1324"/>
              <a:gd name="T44" fmla="*/ 2147483646 w 1473"/>
              <a:gd name="T45" fmla="*/ 2147483646 h 1324"/>
              <a:gd name="T46" fmla="*/ 2147483646 w 1473"/>
              <a:gd name="T47" fmla="*/ 2147483646 h 1324"/>
              <a:gd name="T48" fmla="*/ 2147483646 w 1473"/>
              <a:gd name="T49" fmla="*/ 2147483646 h 1324"/>
              <a:gd name="T50" fmla="*/ 2147483646 w 1473"/>
              <a:gd name="T51" fmla="*/ 2147483646 h 1324"/>
              <a:gd name="T52" fmla="*/ 2147483646 w 1473"/>
              <a:gd name="T53" fmla="*/ 2147483646 h 1324"/>
              <a:gd name="T54" fmla="*/ 2147483646 w 1473"/>
              <a:gd name="T55" fmla="*/ 2147483646 h 1324"/>
              <a:gd name="T56" fmla="*/ 2147483646 w 1473"/>
              <a:gd name="T57" fmla="*/ 2147483646 h 1324"/>
              <a:gd name="T58" fmla="*/ 2147483646 w 1473"/>
              <a:gd name="T59" fmla="*/ 2147483646 h 1324"/>
              <a:gd name="T60" fmla="*/ 2147483646 w 1473"/>
              <a:gd name="T61" fmla="*/ 2147483646 h 1324"/>
              <a:gd name="T62" fmla="*/ 2147483646 w 1473"/>
              <a:gd name="T63" fmla="*/ 2147483646 h 1324"/>
              <a:gd name="T64" fmla="*/ 2147483646 w 1473"/>
              <a:gd name="T65" fmla="*/ 2147483646 h 1324"/>
              <a:gd name="T66" fmla="*/ 2147483646 w 1473"/>
              <a:gd name="T67" fmla="*/ 2147483646 h 1324"/>
              <a:gd name="T68" fmla="*/ 2147483646 w 1473"/>
              <a:gd name="T69" fmla="*/ 2147483646 h 1324"/>
              <a:gd name="T70" fmla="*/ 2147483646 w 1473"/>
              <a:gd name="T71" fmla="*/ 2147483646 h 1324"/>
              <a:gd name="T72" fmla="*/ 2147483646 w 1473"/>
              <a:gd name="T73" fmla="*/ 2147483646 h 1324"/>
              <a:gd name="T74" fmla="*/ 2147483646 w 1473"/>
              <a:gd name="T75" fmla="*/ 2147483646 h 1324"/>
              <a:gd name="T76" fmla="*/ 2147483646 w 1473"/>
              <a:gd name="T77" fmla="*/ 2147483646 h 1324"/>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473" h="1324">
                <a:moveTo>
                  <a:pt x="49" y="23"/>
                </a:moveTo>
                <a:lnTo>
                  <a:pt x="46" y="66"/>
                </a:lnTo>
                <a:lnTo>
                  <a:pt x="29" y="49"/>
                </a:lnTo>
                <a:lnTo>
                  <a:pt x="10" y="144"/>
                </a:lnTo>
                <a:lnTo>
                  <a:pt x="0" y="254"/>
                </a:lnTo>
                <a:lnTo>
                  <a:pt x="39" y="367"/>
                </a:lnTo>
                <a:lnTo>
                  <a:pt x="130" y="393"/>
                </a:lnTo>
                <a:lnTo>
                  <a:pt x="120" y="367"/>
                </a:lnTo>
                <a:lnTo>
                  <a:pt x="169" y="406"/>
                </a:lnTo>
                <a:lnTo>
                  <a:pt x="211" y="449"/>
                </a:lnTo>
                <a:lnTo>
                  <a:pt x="306" y="494"/>
                </a:lnTo>
                <a:lnTo>
                  <a:pt x="421" y="504"/>
                </a:lnTo>
                <a:lnTo>
                  <a:pt x="562" y="511"/>
                </a:lnTo>
                <a:lnTo>
                  <a:pt x="620" y="504"/>
                </a:lnTo>
                <a:lnTo>
                  <a:pt x="569" y="481"/>
                </a:lnTo>
                <a:lnTo>
                  <a:pt x="546" y="423"/>
                </a:lnTo>
                <a:lnTo>
                  <a:pt x="588" y="471"/>
                </a:lnTo>
                <a:lnTo>
                  <a:pt x="641" y="501"/>
                </a:lnTo>
                <a:lnTo>
                  <a:pt x="688" y="527"/>
                </a:lnTo>
                <a:lnTo>
                  <a:pt x="737" y="520"/>
                </a:lnTo>
                <a:lnTo>
                  <a:pt x="706" y="497"/>
                </a:lnTo>
                <a:lnTo>
                  <a:pt x="672" y="469"/>
                </a:lnTo>
                <a:lnTo>
                  <a:pt x="725" y="488"/>
                </a:lnTo>
                <a:lnTo>
                  <a:pt x="776" y="527"/>
                </a:lnTo>
                <a:lnTo>
                  <a:pt x="946" y="546"/>
                </a:lnTo>
                <a:lnTo>
                  <a:pt x="1114" y="572"/>
                </a:lnTo>
                <a:lnTo>
                  <a:pt x="1165" y="585"/>
                </a:lnTo>
                <a:lnTo>
                  <a:pt x="1122" y="833"/>
                </a:lnTo>
                <a:lnTo>
                  <a:pt x="1155" y="1063"/>
                </a:lnTo>
                <a:lnTo>
                  <a:pt x="1159" y="1288"/>
                </a:lnTo>
                <a:lnTo>
                  <a:pt x="1266" y="1310"/>
                </a:lnTo>
                <a:lnTo>
                  <a:pt x="1360" y="1324"/>
                </a:lnTo>
                <a:lnTo>
                  <a:pt x="1473" y="1321"/>
                </a:lnTo>
                <a:lnTo>
                  <a:pt x="1468" y="998"/>
                </a:lnTo>
                <a:lnTo>
                  <a:pt x="1468" y="729"/>
                </a:lnTo>
                <a:lnTo>
                  <a:pt x="1451" y="579"/>
                </a:lnTo>
                <a:lnTo>
                  <a:pt x="1465" y="485"/>
                </a:lnTo>
                <a:lnTo>
                  <a:pt x="1455" y="381"/>
                </a:lnTo>
                <a:lnTo>
                  <a:pt x="1436" y="314"/>
                </a:lnTo>
                <a:lnTo>
                  <a:pt x="1355" y="261"/>
                </a:lnTo>
                <a:lnTo>
                  <a:pt x="1253" y="215"/>
                </a:lnTo>
                <a:lnTo>
                  <a:pt x="1057" y="150"/>
                </a:lnTo>
                <a:lnTo>
                  <a:pt x="897" y="105"/>
                </a:lnTo>
                <a:lnTo>
                  <a:pt x="809" y="98"/>
                </a:lnTo>
                <a:lnTo>
                  <a:pt x="773" y="150"/>
                </a:lnTo>
                <a:lnTo>
                  <a:pt x="662" y="205"/>
                </a:lnTo>
                <a:lnTo>
                  <a:pt x="722" y="157"/>
                </a:lnTo>
                <a:lnTo>
                  <a:pt x="767" y="131"/>
                </a:lnTo>
                <a:lnTo>
                  <a:pt x="783" y="95"/>
                </a:lnTo>
                <a:lnTo>
                  <a:pt x="776" y="79"/>
                </a:lnTo>
                <a:lnTo>
                  <a:pt x="744" y="79"/>
                </a:lnTo>
                <a:lnTo>
                  <a:pt x="725" y="98"/>
                </a:lnTo>
                <a:lnTo>
                  <a:pt x="706" y="117"/>
                </a:lnTo>
                <a:lnTo>
                  <a:pt x="656" y="137"/>
                </a:lnTo>
                <a:lnTo>
                  <a:pt x="702" y="98"/>
                </a:lnTo>
                <a:lnTo>
                  <a:pt x="722" y="68"/>
                </a:lnTo>
                <a:lnTo>
                  <a:pt x="708" y="49"/>
                </a:lnTo>
                <a:lnTo>
                  <a:pt x="669" y="36"/>
                </a:lnTo>
                <a:lnTo>
                  <a:pt x="618" y="82"/>
                </a:lnTo>
                <a:lnTo>
                  <a:pt x="569" y="112"/>
                </a:lnTo>
                <a:lnTo>
                  <a:pt x="627" y="45"/>
                </a:lnTo>
                <a:lnTo>
                  <a:pt x="646" y="20"/>
                </a:lnTo>
                <a:lnTo>
                  <a:pt x="646" y="0"/>
                </a:lnTo>
                <a:lnTo>
                  <a:pt x="597" y="7"/>
                </a:lnTo>
                <a:lnTo>
                  <a:pt x="553" y="40"/>
                </a:lnTo>
                <a:lnTo>
                  <a:pt x="523" y="63"/>
                </a:lnTo>
                <a:lnTo>
                  <a:pt x="383" y="75"/>
                </a:lnTo>
                <a:lnTo>
                  <a:pt x="386" y="40"/>
                </a:lnTo>
                <a:lnTo>
                  <a:pt x="345" y="26"/>
                </a:lnTo>
                <a:lnTo>
                  <a:pt x="345" y="72"/>
                </a:lnTo>
                <a:lnTo>
                  <a:pt x="303" y="82"/>
                </a:lnTo>
                <a:lnTo>
                  <a:pt x="211" y="95"/>
                </a:lnTo>
                <a:lnTo>
                  <a:pt x="218" y="45"/>
                </a:lnTo>
                <a:lnTo>
                  <a:pt x="185" y="45"/>
                </a:lnTo>
                <a:lnTo>
                  <a:pt x="182" y="95"/>
                </a:lnTo>
                <a:lnTo>
                  <a:pt x="130" y="91"/>
                </a:lnTo>
                <a:lnTo>
                  <a:pt x="75" y="79"/>
                </a:lnTo>
                <a:lnTo>
                  <a:pt x="72" y="40"/>
                </a:lnTo>
                <a:lnTo>
                  <a:pt x="49" y="23"/>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3" name="Freeform 146"/>
          <p:cNvSpPr>
            <a:spLocks/>
          </p:cNvSpPr>
          <p:nvPr/>
        </p:nvSpPr>
        <p:spPr bwMode="auto">
          <a:xfrm>
            <a:off x="1873923" y="3486864"/>
            <a:ext cx="40265" cy="6504"/>
          </a:xfrm>
          <a:custGeom>
            <a:avLst/>
            <a:gdLst>
              <a:gd name="T0" fmla="*/ 0 w 199"/>
              <a:gd name="T1" fmla="*/ 0 h 33"/>
              <a:gd name="T2" fmla="*/ 2147483646 w 199"/>
              <a:gd name="T3" fmla="*/ 2147483646 h 33"/>
              <a:gd name="T4" fmla="*/ 2147483646 w 199"/>
              <a:gd name="T5" fmla="*/ 2147483646 h 33"/>
              <a:gd name="T6" fmla="*/ 0 w 199"/>
              <a:gd name="T7" fmla="*/ 0 h 3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9" h="33">
                <a:moveTo>
                  <a:pt x="0" y="0"/>
                </a:moveTo>
                <a:lnTo>
                  <a:pt x="93" y="33"/>
                </a:lnTo>
                <a:lnTo>
                  <a:pt x="199" y="2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4" name="Freeform 147"/>
          <p:cNvSpPr>
            <a:spLocks/>
          </p:cNvSpPr>
          <p:nvPr/>
        </p:nvSpPr>
        <p:spPr bwMode="auto">
          <a:xfrm>
            <a:off x="1833658" y="3476643"/>
            <a:ext cx="25166" cy="7434"/>
          </a:xfrm>
          <a:custGeom>
            <a:avLst/>
            <a:gdLst>
              <a:gd name="T0" fmla="*/ 0 w 122"/>
              <a:gd name="T1" fmla="*/ 0 h 40"/>
              <a:gd name="T2" fmla="*/ 2147483646 w 122"/>
              <a:gd name="T3" fmla="*/ 2147483646 h 40"/>
              <a:gd name="T4" fmla="*/ 2147483646 w 122"/>
              <a:gd name="T5" fmla="*/ 2147483646 h 40"/>
              <a:gd name="T6" fmla="*/ 2147483646 w 122"/>
              <a:gd name="T7" fmla="*/ 2147483646 h 40"/>
              <a:gd name="T8" fmla="*/ 0 w 122"/>
              <a:gd name="T9" fmla="*/ 0 h 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22" h="40">
                <a:moveTo>
                  <a:pt x="0" y="0"/>
                </a:moveTo>
                <a:lnTo>
                  <a:pt x="32" y="25"/>
                </a:lnTo>
                <a:lnTo>
                  <a:pt x="122" y="38"/>
                </a:lnTo>
                <a:lnTo>
                  <a:pt x="30" y="40"/>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5" name="Freeform 148"/>
          <p:cNvSpPr>
            <a:spLocks/>
          </p:cNvSpPr>
          <p:nvPr/>
        </p:nvSpPr>
        <p:spPr bwMode="auto">
          <a:xfrm>
            <a:off x="1936334" y="3471068"/>
            <a:ext cx="38252" cy="18584"/>
          </a:xfrm>
          <a:custGeom>
            <a:avLst/>
            <a:gdLst>
              <a:gd name="T0" fmla="*/ 0 w 187"/>
              <a:gd name="T1" fmla="*/ 0 h 102"/>
              <a:gd name="T2" fmla="*/ 2147483646 w 187"/>
              <a:gd name="T3" fmla="*/ 2147483646 h 102"/>
              <a:gd name="T4" fmla="*/ 2147483646 w 187"/>
              <a:gd name="T5" fmla="*/ 2147483646 h 102"/>
              <a:gd name="T6" fmla="*/ 2147483646 w 187"/>
              <a:gd name="T7" fmla="*/ 2147483646 h 102"/>
              <a:gd name="T8" fmla="*/ 2147483646 w 187"/>
              <a:gd name="T9" fmla="*/ 2147483646 h 102"/>
              <a:gd name="T10" fmla="*/ 2147483646 w 187"/>
              <a:gd name="T11" fmla="*/ 2147483646 h 102"/>
              <a:gd name="T12" fmla="*/ 2147483646 w 187"/>
              <a:gd name="T13" fmla="*/ 2147483646 h 102"/>
              <a:gd name="T14" fmla="*/ 2147483646 w 187"/>
              <a:gd name="T15" fmla="*/ 2147483646 h 102"/>
              <a:gd name="T16" fmla="*/ 0 w 187"/>
              <a:gd name="T17" fmla="*/ 0 h 10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87" h="102">
                <a:moveTo>
                  <a:pt x="0" y="0"/>
                </a:moveTo>
                <a:lnTo>
                  <a:pt x="84" y="9"/>
                </a:lnTo>
                <a:lnTo>
                  <a:pt x="101" y="23"/>
                </a:lnTo>
                <a:lnTo>
                  <a:pt x="101" y="54"/>
                </a:lnTo>
                <a:lnTo>
                  <a:pt x="106" y="89"/>
                </a:lnTo>
                <a:lnTo>
                  <a:pt x="187" y="102"/>
                </a:lnTo>
                <a:lnTo>
                  <a:pt x="90" y="98"/>
                </a:lnTo>
                <a:lnTo>
                  <a:pt x="7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6" name="Freeform 149"/>
          <p:cNvSpPr>
            <a:spLocks/>
          </p:cNvSpPr>
          <p:nvPr/>
        </p:nvSpPr>
        <p:spPr bwMode="auto">
          <a:xfrm>
            <a:off x="1974586" y="3513811"/>
            <a:ext cx="122808" cy="27876"/>
          </a:xfrm>
          <a:custGeom>
            <a:avLst/>
            <a:gdLst>
              <a:gd name="T0" fmla="*/ 0 w 609"/>
              <a:gd name="T1" fmla="*/ 0 h 150"/>
              <a:gd name="T2" fmla="*/ 2147483646 w 609"/>
              <a:gd name="T3" fmla="*/ 2147483646 h 150"/>
              <a:gd name="T4" fmla="*/ 2147483646 w 609"/>
              <a:gd name="T5" fmla="*/ 2147483646 h 150"/>
              <a:gd name="T6" fmla="*/ 2147483646 w 609"/>
              <a:gd name="T7" fmla="*/ 2147483646 h 150"/>
              <a:gd name="T8" fmla="*/ 2147483646 w 609"/>
              <a:gd name="T9" fmla="*/ 2147483646 h 150"/>
              <a:gd name="T10" fmla="*/ 2147483646 w 609"/>
              <a:gd name="T11" fmla="*/ 2147483646 h 150"/>
              <a:gd name="T12" fmla="*/ 2147483646 w 609"/>
              <a:gd name="T13" fmla="*/ 2147483646 h 150"/>
              <a:gd name="T14" fmla="*/ 2147483646 w 609"/>
              <a:gd name="T15" fmla="*/ 2147483646 h 150"/>
              <a:gd name="T16" fmla="*/ 2147483646 w 609"/>
              <a:gd name="T17" fmla="*/ 2147483646 h 150"/>
              <a:gd name="T18" fmla="*/ 2147483646 w 609"/>
              <a:gd name="T19" fmla="*/ 2147483646 h 150"/>
              <a:gd name="T20" fmla="*/ 2147483646 w 609"/>
              <a:gd name="T21" fmla="*/ 2147483646 h 150"/>
              <a:gd name="T22" fmla="*/ 2147483646 w 609"/>
              <a:gd name="T23" fmla="*/ 2147483646 h 150"/>
              <a:gd name="T24" fmla="*/ 2147483646 w 609"/>
              <a:gd name="T25" fmla="*/ 2147483646 h 150"/>
              <a:gd name="T26" fmla="*/ 0 w 609"/>
              <a:gd name="T27" fmla="*/ 0 h 15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609" h="150">
                <a:moveTo>
                  <a:pt x="0" y="0"/>
                </a:moveTo>
                <a:lnTo>
                  <a:pt x="154" y="7"/>
                </a:lnTo>
                <a:lnTo>
                  <a:pt x="313" y="44"/>
                </a:lnTo>
                <a:lnTo>
                  <a:pt x="431" y="51"/>
                </a:lnTo>
                <a:lnTo>
                  <a:pt x="527" y="71"/>
                </a:lnTo>
                <a:lnTo>
                  <a:pt x="563" y="122"/>
                </a:lnTo>
                <a:lnTo>
                  <a:pt x="609" y="150"/>
                </a:lnTo>
                <a:lnTo>
                  <a:pt x="563" y="141"/>
                </a:lnTo>
                <a:lnTo>
                  <a:pt x="521" y="84"/>
                </a:lnTo>
                <a:lnTo>
                  <a:pt x="392" y="58"/>
                </a:lnTo>
                <a:lnTo>
                  <a:pt x="313" y="58"/>
                </a:lnTo>
                <a:lnTo>
                  <a:pt x="252" y="44"/>
                </a:lnTo>
                <a:lnTo>
                  <a:pt x="146" y="17"/>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7" name="Freeform 150"/>
          <p:cNvSpPr>
            <a:spLocks/>
          </p:cNvSpPr>
          <p:nvPr/>
        </p:nvSpPr>
        <p:spPr bwMode="auto">
          <a:xfrm>
            <a:off x="1851777" y="3132842"/>
            <a:ext cx="106702" cy="107786"/>
          </a:xfrm>
          <a:custGeom>
            <a:avLst/>
            <a:gdLst>
              <a:gd name="T0" fmla="*/ 2147483646 w 529"/>
              <a:gd name="T1" fmla="*/ 2147483646 h 580"/>
              <a:gd name="T2" fmla="*/ 2147483646 w 529"/>
              <a:gd name="T3" fmla="*/ 2147483646 h 580"/>
              <a:gd name="T4" fmla="*/ 2147483646 w 529"/>
              <a:gd name="T5" fmla="*/ 2147483646 h 580"/>
              <a:gd name="T6" fmla="*/ 2147483646 w 529"/>
              <a:gd name="T7" fmla="*/ 2147483646 h 580"/>
              <a:gd name="T8" fmla="*/ 2147483646 w 529"/>
              <a:gd name="T9" fmla="*/ 2147483646 h 580"/>
              <a:gd name="T10" fmla="*/ 2147483646 w 529"/>
              <a:gd name="T11" fmla="*/ 2147483646 h 580"/>
              <a:gd name="T12" fmla="*/ 2147483646 w 529"/>
              <a:gd name="T13" fmla="*/ 2147483646 h 580"/>
              <a:gd name="T14" fmla="*/ 2147483646 w 529"/>
              <a:gd name="T15" fmla="*/ 2147483646 h 580"/>
              <a:gd name="T16" fmla="*/ 2147483646 w 529"/>
              <a:gd name="T17" fmla="*/ 2147483646 h 580"/>
              <a:gd name="T18" fmla="*/ 2147483646 w 529"/>
              <a:gd name="T19" fmla="*/ 2147483646 h 580"/>
              <a:gd name="T20" fmla="*/ 2147483646 w 529"/>
              <a:gd name="T21" fmla="*/ 2147483646 h 580"/>
              <a:gd name="T22" fmla="*/ 2147483646 w 529"/>
              <a:gd name="T23" fmla="*/ 2147483646 h 580"/>
              <a:gd name="T24" fmla="*/ 2147483646 w 529"/>
              <a:gd name="T25" fmla="*/ 2147483646 h 580"/>
              <a:gd name="T26" fmla="*/ 2147483646 w 529"/>
              <a:gd name="T27" fmla="*/ 2147483646 h 580"/>
              <a:gd name="T28" fmla="*/ 2147483646 w 529"/>
              <a:gd name="T29" fmla="*/ 2147483646 h 580"/>
              <a:gd name="T30" fmla="*/ 2147483646 w 529"/>
              <a:gd name="T31" fmla="*/ 2147483646 h 580"/>
              <a:gd name="T32" fmla="*/ 2147483646 w 529"/>
              <a:gd name="T33" fmla="*/ 2147483646 h 580"/>
              <a:gd name="T34" fmla="*/ 2147483646 w 529"/>
              <a:gd name="T35" fmla="*/ 2147483646 h 580"/>
              <a:gd name="T36" fmla="*/ 2147483646 w 529"/>
              <a:gd name="T37" fmla="*/ 2147483646 h 580"/>
              <a:gd name="T38" fmla="*/ 2147483646 w 529"/>
              <a:gd name="T39" fmla="*/ 2147483646 h 580"/>
              <a:gd name="T40" fmla="*/ 2147483646 w 529"/>
              <a:gd name="T41" fmla="*/ 2147483646 h 580"/>
              <a:gd name="T42" fmla="*/ 2147483646 w 529"/>
              <a:gd name="T43" fmla="*/ 2147483646 h 580"/>
              <a:gd name="T44" fmla="*/ 2147483646 w 529"/>
              <a:gd name="T45" fmla="*/ 2147483646 h 580"/>
              <a:gd name="T46" fmla="*/ 2147483646 w 529"/>
              <a:gd name="T47" fmla="*/ 2147483646 h 580"/>
              <a:gd name="T48" fmla="*/ 2147483646 w 529"/>
              <a:gd name="T49" fmla="*/ 2147483646 h 580"/>
              <a:gd name="T50" fmla="*/ 2147483646 w 529"/>
              <a:gd name="T51" fmla="*/ 2147483646 h 580"/>
              <a:gd name="T52" fmla="*/ 2147483646 w 529"/>
              <a:gd name="T53" fmla="*/ 2147483646 h 580"/>
              <a:gd name="T54" fmla="*/ 2147483646 w 529"/>
              <a:gd name="T55" fmla="*/ 2147483646 h 580"/>
              <a:gd name="T56" fmla="*/ 2147483646 w 529"/>
              <a:gd name="T57" fmla="*/ 2147483646 h 580"/>
              <a:gd name="T58" fmla="*/ 0 w 529"/>
              <a:gd name="T59" fmla="*/ 2147483646 h 580"/>
              <a:gd name="T60" fmla="*/ 0 w 529"/>
              <a:gd name="T61" fmla="*/ 2147483646 h 580"/>
              <a:gd name="T62" fmla="*/ 2147483646 w 529"/>
              <a:gd name="T63" fmla="*/ 2147483646 h 580"/>
              <a:gd name="T64" fmla="*/ 2147483646 w 529"/>
              <a:gd name="T65" fmla="*/ 2147483646 h 580"/>
              <a:gd name="T66" fmla="*/ 2147483646 w 529"/>
              <a:gd name="T67" fmla="*/ 0 h 580"/>
              <a:gd name="T68" fmla="*/ 2147483646 w 529"/>
              <a:gd name="T69" fmla="*/ 2147483646 h 580"/>
              <a:gd name="T70" fmla="*/ 2147483646 w 529"/>
              <a:gd name="T71" fmla="*/ 2147483646 h 580"/>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529" h="580">
                <a:moveTo>
                  <a:pt x="357" y="20"/>
                </a:moveTo>
                <a:lnTo>
                  <a:pt x="403" y="53"/>
                </a:lnTo>
                <a:lnTo>
                  <a:pt x="428" y="94"/>
                </a:lnTo>
                <a:lnTo>
                  <a:pt x="451" y="138"/>
                </a:lnTo>
                <a:lnTo>
                  <a:pt x="464" y="161"/>
                </a:lnTo>
                <a:lnTo>
                  <a:pt x="464" y="186"/>
                </a:lnTo>
                <a:lnTo>
                  <a:pt x="453" y="216"/>
                </a:lnTo>
                <a:lnTo>
                  <a:pt x="476" y="239"/>
                </a:lnTo>
                <a:lnTo>
                  <a:pt x="511" y="301"/>
                </a:lnTo>
                <a:lnTo>
                  <a:pt x="529" y="334"/>
                </a:lnTo>
                <a:lnTo>
                  <a:pt x="529" y="346"/>
                </a:lnTo>
                <a:lnTo>
                  <a:pt x="526" y="357"/>
                </a:lnTo>
                <a:lnTo>
                  <a:pt x="510" y="361"/>
                </a:lnTo>
                <a:lnTo>
                  <a:pt x="487" y="362"/>
                </a:lnTo>
                <a:lnTo>
                  <a:pt x="475" y="366"/>
                </a:lnTo>
                <a:lnTo>
                  <a:pt x="476" y="391"/>
                </a:lnTo>
                <a:lnTo>
                  <a:pt x="483" y="421"/>
                </a:lnTo>
                <a:lnTo>
                  <a:pt x="469" y="437"/>
                </a:lnTo>
                <a:lnTo>
                  <a:pt x="473" y="459"/>
                </a:lnTo>
                <a:lnTo>
                  <a:pt x="462" y="472"/>
                </a:lnTo>
                <a:lnTo>
                  <a:pt x="452" y="511"/>
                </a:lnTo>
                <a:lnTo>
                  <a:pt x="436" y="523"/>
                </a:lnTo>
                <a:lnTo>
                  <a:pt x="411" y="523"/>
                </a:lnTo>
                <a:lnTo>
                  <a:pt x="375" y="517"/>
                </a:lnTo>
                <a:lnTo>
                  <a:pt x="339" y="511"/>
                </a:lnTo>
                <a:lnTo>
                  <a:pt x="342" y="580"/>
                </a:lnTo>
                <a:lnTo>
                  <a:pt x="60" y="488"/>
                </a:lnTo>
                <a:lnTo>
                  <a:pt x="83" y="435"/>
                </a:lnTo>
                <a:lnTo>
                  <a:pt x="78" y="394"/>
                </a:lnTo>
                <a:lnTo>
                  <a:pt x="0" y="316"/>
                </a:lnTo>
                <a:lnTo>
                  <a:pt x="0" y="111"/>
                </a:lnTo>
                <a:lnTo>
                  <a:pt x="52" y="55"/>
                </a:lnTo>
                <a:lnTo>
                  <a:pt x="117" y="25"/>
                </a:lnTo>
                <a:lnTo>
                  <a:pt x="186" y="0"/>
                </a:lnTo>
                <a:lnTo>
                  <a:pt x="276" y="13"/>
                </a:lnTo>
                <a:lnTo>
                  <a:pt x="357" y="2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8" name="Freeform 151"/>
          <p:cNvSpPr>
            <a:spLocks/>
          </p:cNvSpPr>
          <p:nvPr/>
        </p:nvSpPr>
        <p:spPr bwMode="auto">
          <a:xfrm>
            <a:off x="1946400" y="3197885"/>
            <a:ext cx="6040" cy="929"/>
          </a:xfrm>
          <a:custGeom>
            <a:avLst/>
            <a:gdLst>
              <a:gd name="T0" fmla="*/ 2147483646 w 30"/>
              <a:gd name="T1" fmla="*/ 2147483646 h 6"/>
              <a:gd name="T2" fmla="*/ 2147483646 w 30"/>
              <a:gd name="T3" fmla="*/ 2147483646 h 6"/>
              <a:gd name="T4" fmla="*/ 2147483646 w 30"/>
              <a:gd name="T5" fmla="*/ 2147483646 h 6"/>
              <a:gd name="T6" fmla="*/ 2147483646 w 30"/>
              <a:gd name="T7" fmla="*/ 2147483646 h 6"/>
              <a:gd name="T8" fmla="*/ 0 w 30"/>
              <a:gd name="T9" fmla="*/ 2147483646 h 6"/>
              <a:gd name="T10" fmla="*/ 2147483646 w 30"/>
              <a:gd name="T11" fmla="*/ 0 h 6"/>
              <a:gd name="T12" fmla="*/ 2147483646 w 30"/>
              <a:gd name="T13" fmla="*/ 2147483646 h 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30" h="6">
                <a:moveTo>
                  <a:pt x="30" y="2"/>
                </a:moveTo>
                <a:lnTo>
                  <a:pt x="23" y="6"/>
                </a:lnTo>
                <a:lnTo>
                  <a:pt x="8" y="5"/>
                </a:lnTo>
                <a:lnTo>
                  <a:pt x="2" y="6"/>
                </a:lnTo>
                <a:lnTo>
                  <a:pt x="0" y="1"/>
                </a:lnTo>
                <a:lnTo>
                  <a:pt x="9" y="0"/>
                </a:lnTo>
                <a:lnTo>
                  <a:pt x="3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9" name="Freeform 152"/>
          <p:cNvSpPr>
            <a:spLocks/>
          </p:cNvSpPr>
          <p:nvPr/>
        </p:nvSpPr>
        <p:spPr bwMode="auto">
          <a:xfrm>
            <a:off x="1944387" y="3194169"/>
            <a:ext cx="2013" cy="3717"/>
          </a:xfrm>
          <a:custGeom>
            <a:avLst/>
            <a:gdLst>
              <a:gd name="T0" fmla="*/ 2147483646 w 11"/>
              <a:gd name="T1" fmla="*/ 0 h 22"/>
              <a:gd name="T2" fmla="*/ 2147483646 w 11"/>
              <a:gd name="T3" fmla="*/ 2147483646 h 22"/>
              <a:gd name="T4" fmla="*/ 2147483646 w 11"/>
              <a:gd name="T5" fmla="*/ 2147483646 h 22"/>
              <a:gd name="T6" fmla="*/ 2147483646 w 11"/>
              <a:gd name="T7" fmla="*/ 2147483646 h 22"/>
              <a:gd name="T8" fmla="*/ 0 w 11"/>
              <a:gd name="T9" fmla="*/ 2147483646 h 22"/>
              <a:gd name="T10" fmla="*/ 0 w 11"/>
              <a:gd name="T11" fmla="*/ 2147483646 h 22"/>
              <a:gd name="T12" fmla="*/ 2147483646 w 11"/>
              <a:gd name="T13" fmla="*/ 0 h 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1" h="22">
                <a:moveTo>
                  <a:pt x="11" y="0"/>
                </a:moveTo>
                <a:lnTo>
                  <a:pt x="3" y="6"/>
                </a:lnTo>
                <a:lnTo>
                  <a:pt x="3" y="12"/>
                </a:lnTo>
                <a:lnTo>
                  <a:pt x="2" y="22"/>
                </a:lnTo>
                <a:lnTo>
                  <a:pt x="0" y="8"/>
                </a:lnTo>
                <a:lnTo>
                  <a:pt x="0" y="1"/>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0" name="Freeform 153"/>
          <p:cNvSpPr>
            <a:spLocks/>
          </p:cNvSpPr>
          <p:nvPr/>
        </p:nvSpPr>
        <p:spPr bwMode="auto">
          <a:xfrm>
            <a:off x="1939354" y="3181160"/>
            <a:ext cx="3020" cy="7434"/>
          </a:xfrm>
          <a:custGeom>
            <a:avLst/>
            <a:gdLst>
              <a:gd name="T0" fmla="*/ 0 w 13"/>
              <a:gd name="T1" fmla="*/ 0 h 42"/>
              <a:gd name="T2" fmla="*/ 2147483646 w 13"/>
              <a:gd name="T3" fmla="*/ 2147483646 h 42"/>
              <a:gd name="T4" fmla="*/ 2147483646 w 13"/>
              <a:gd name="T5" fmla="*/ 2147483646 h 42"/>
              <a:gd name="T6" fmla="*/ 2147483646 w 13"/>
              <a:gd name="T7" fmla="*/ 2147483646 h 42"/>
              <a:gd name="T8" fmla="*/ 0 w 13"/>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42">
                <a:moveTo>
                  <a:pt x="0" y="0"/>
                </a:moveTo>
                <a:lnTo>
                  <a:pt x="9" y="24"/>
                </a:lnTo>
                <a:lnTo>
                  <a:pt x="13" y="42"/>
                </a:lnTo>
                <a:lnTo>
                  <a:pt x="6" y="3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1" name="Freeform 154"/>
          <p:cNvSpPr>
            <a:spLocks/>
          </p:cNvSpPr>
          <p:nvPr/>
        </p:nvSpPr>
        <p:spPr bwMode="auto">
          <a:xfrm>
            <a:off x="1928281" y="3172797"/>
            <a:ext cx="12080" cy="6504"/>
          </a:xfrm>
          <a:custGeom>
            <a:avLst/>
            <a:gdLst>
              <a:gd name="T0" fmla="*/ 2147483646 w 56"/>
              <a:gd name="T1" fmla="*/ 0 h 36"/>
              <a:gd name="T2" fmla="*/ 2147483646 w 56"/>
              <a:gd name="T3" fmla="*/ 2147483646 h 36"/>
              <a:gd name="T4" fmla="*/ 2147483646 w 56"/>
              <a:gd name="T5" fmla="*/ 2147483646 h 36"/>
              <a:gd name="T6" fmla="*/ 2147483646 w 56"/>
              <a:gd name="T7" fmla="*/ 2147483646 h 36"/>
              <a:gd name="T8" fmla="*/ 2147483646 w 56"/>
              <a:gd name="T9" fmla="*/ 2147483646 h 36"/>
              <a:gd name="T10" fmla="*/ 2147483646 w 56"/>
              <a:gd name="T11" fmla="*/ 2147483646 h 36"/>
              <a:gd name="T12" fmla="*/ 2147483646 w 56"/>
              <a:gd name="T13" fmla="*/ 2147483646 h 36"/>
              <a:gd name="T14" fmla="*/ 2147483646 w 56"/>
              <a:gd name="T15" fmla="*/ 2147483646 h 36"/>
              <a:gd name="T16" fmla="*/ 0 w 56"/>
              <a:gd name="T17" fmla="*/ 2147483646 h 36"/>
              <a:gd name="T18" fmla="*/ 2147483646 w 56"/>
              <a:gd name="T19" fmla="*/ 2147483646 h 36"/>
              <a:gd name="T20" fmla="*/ 2147483646 w 56"/>
              <a:gd name="T21" fmla="*/ 0 h 36"/>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56" h="36">
                <a:moveTo>
                  <a:pt x="56" y="0"/>
                </a:moveTo>
                <a:lnTo>
                  <a:pt x="45" y="20"/>
                </a:lnTo>
                <a:lnTo>
                  <a:pt x="47" y="26"/>
                </a:lnTo>
                <a:lnTo>
                  <a:pt x="47" y="29"/>
                </a:lnTo>
                <a:lnTo>
                  <a:pt x="51" y="36"/>
                </a:lnTo>
                <a:lnTo>
                  <a:pt x="43" y="24"/>
                </a:lnTo>
                <a:lnTo>
                  <a:pt x="32" y="24"/>
                </a:lnTo>
                <a:lnTo>
                  <a:pt x="20" y="20"/>
                </a:lnTo>
                <a:lnTo>
                  <a:pt x="0" y="19"/>
                </a:lnTo>
                <a:lnTo>
                  <a:pt x="20" y="7"/>
                </a:lnTo>
                <a:lnTo>
                  <a:pt x="56"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2" name="Freeform 155"/>
          <p:cNvSpPr>
            <a:spLocks/>
          </p:cNvSpPr>
          <p:nvPr/>
        </p:nvSpPr>
        <p:spPr bwMode="auto">
          <a:xfrm>
            <a:off x="1923247" y="3162577"/>
            <a:ext cx="20133" cy="6505"/>
          </a:xfrm>
          <a:custGeom>
            <a:avLst/>
            <a:gdLst>
              <a:gd name="T0" fmla="*/ 2147483646 w 96"/>
              <a:gd name="T1" fmla="*/ 2147483646 h 34"/>
              <a:gd name="T2" fmla="*/ 2147483646 w 96"/>
              <a:gd name="T3" fmla="*/ 2147483646 h 34"/>
              <a:gd name="T4" fmla="*/ 2147483646 w 96"/>
              <a:gd name="T5" fmla="*/ 2147483646 h 34"/>
              <a:gd name="T6" fmla="*/ 2147483646 w 96"/>
              <a:gd name="T7" fmla="*/ 2147483646 h 34"/>
              <a:gd name="T8" fmla="*/ 2147483646 w 96"/>
              <a:gd name="T9" fmla="*/ 2147483646 h 34"/>
              <a:gd name="T10" fmla="*/ 2147483646 w 96"/>
              <a:gd name="T11" fmla="*/ 2147483646 h 34"/>
              <a:gd name="T12" fmla="*/ 0 w 96"/>
              <a:gd name="T13" fmla="*/ 2147483646 h 34"/>
              <a:gd name="T14" fmla="*/ 2147483646 w 96"/>
              <a:gd name="T15" fmla="*/ 2147483646 h 34"/>
              <a:gd name="T16" fmla="*/ 2147483646 w 96"/>
              <a:gd name="T17" fmla="*/ 2147483646 h 34"/>
              <a:gd name="T18" fmla="*/ 2147483646 w 96"/>
              <a:gd name="T19" fmla="*/ 0 h 34"/>
              <a:gd name="T20" fmla="*/ 2147483646 w 96"/>
              <a:gd name="T21" fmla="*/ 2147483646 h 34"/>
              <a:gd name="T22" fmla="*/ 2147483646 w 96"/>
              <a:gd name="T23" fmla="*/ 2147483646 h 34"/>
              <a:gd name="T24" fmla="*/ 2147483646 w 96"/>
              <a:gd name="T25" fmla="*/ 2147483646 h 34"/>
              <a:gd name="T26" fmla="*/ 2147483646 w 96"/>
              <a:gd name="T27" fmla="*/ 2147483646 h 34"/>
              <a:gd name="T28" fmla="*/ 2147483646 w 96"/>
              <a:gd name="T29" fmla="*/ 2147483646 h 3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96" h="34">
                <a:moveTo>
                  <a:pt x="96" y="17"/>
                </a:moveTo>
                <a:lnTo>
                  <a:pt x="92" y="29"/>
                </a:lnTo>
                <a:lnTo>
                  <a:pt x="81" y="34"/>
                </a:lnTo>
                <a:lnTo>
                  <a:pt x="66" y="24"/>
                </a:lnTo>
                <a:lnTo>
                  <a:pt x="47" y="17"/>
                </a:lnTo>
                <a:lnTo>
                  <a:pt x="15" y="17"/>
                </a:lnTo>
                <a:lnTo>
                  <a:pt x="0" y="18"/>
                </a:lnTo>
                <a:lnTo>
                  <a:pt x="24" y="9"/>
                </a:lnTo>
                <a:lnTo>
                  <a:pt x="41" y="4"/>
                </a:lnTo>
                <a:lnTo>
                  <a:pt x="39" y="0"/>
                </a:lnTo>
                <a:lnTo>
                  <a:pt x="56" y="7"/>
                </a:lnTo>
                <a:lnTo>
                  <a:pt x="54" y="2"/>
                </a:lnTo>
                <a:lnTo>
                  <a:pt x="68" y="9"/>
                </a:lnTo>
                <a:lnTo>
                  <a:pt x="79" y="9"/>
                </a:lnTo>
                <a:lnTo>
                  <a:pt x="96" y="1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3" name="Freeform 156"/>
          <p:cNvSpPr>
            <a:spLocks/>
          </p:cNvSpPr>
          <p:nvPr/>
        </p:nvSpPr>
        <p:spPr bwMode="auto">
          <a:xfrm>
            <a:off x="1888016" y="3171869"/>
            <a:ext cx="11073" cy="20442"/>
          </a:xfrm>
          <a:custGeom>
            <a:avLst/>
            <a:gdLst>
              <a:gd name="T0" fmla="*/ 2147483646 w 56"/>
              <a:gd name="T1" fmla="*/ 2147483646 h 113"/>
              <a:gd name="T2" fmla="*/ 2147483646 w 56"/>
              <a:gd name="T3" fmla="*/ 2147483646 h 113"/>
              <a:gd name="T4" fmla="*/ 2147483646 w 56"/>
              <a:gd name="T5" fmla="*/ 2147483646 h 113"/>
              <a:gd name="T6" fmla="*/ 2147483646 w 56"/>
              <a:gd name="T7" fmla="*/ 2147483646 h 113"/>
              <a:gd name="T8" fmla="*/ 2147483646 w 56"/>
              <a:gd name="T9" fmla="*/ 2147483646 h 113"/>
              <a:gd name="T10" fmla="*/ 2147483646 w 56"/>
              <a:gd name="T11" fmla="*/ 2147483646 h 113"/>
              <a:gd name="T12" fmla="*/ 2147483646 w 56"/>
              <a:gd name="T13" fmla="*/ 2147483646 h 113"/>
              <a:gd name="T14" fmla="*/ 2147483646 w 56"/>
              <a:gd name="T15" fmla="*/ 2147483646 h 113"/>
              <a:gd name="T16" fmla="*/ 2147483646 w 56"/>
              <a:gd name="T17" fmla="*/ 2147483646 h 113"/>
              <a:gd name="T18" fmla="*/ 2147483646 w 56"/>
              <a:gd name="T19" fmla="*/ 2147483646 h 113"/>
              <a:gd name="T20" fmla="*/ 2147483646 w 56"/>
              <a:gd name="T21" fmla="*/ 2147483646 h 113"/>
              <a:gd name="T22" fmla="*/ 2147483646 w 56"/>
              <a:gd name="T23" fmla="*/ 2147483646 h 113"/>
              <a:gd name="T24" fmla="*/ 2147483646 w 56"/>
              <a:gd name="T25" fmla="*/ 2147483646 h 113"/>
              <a:gd name="T26" fmla="*/ 2147483646 w 56"/>
              <a:gd name="T27" fmla="*/ 2147483646 h 113"/>
              <a:gd name="T28" fmla="*/ 2147483646 w 56"/>
              <a:gd name="T29" fmla="*/ 2147483646 h 113"/>
              <a:gd name="T30" fmla="*/ 2147483646 w 56"/>
              <a:gd name="T31" fmla="*/ 2147483646 h 113"/>
              <a:gd name="T32" fmla="*/ 2147483646 w 56"/>
              <a:gd name="T33" fmla="*/ 2147483646 h 113"/>
              <a:gd name="T34" fmla="*/ 0 w 56"/>
              <a:gd name="T35" fmla="*/ 2147483646 h 113"/>
              <a:gd name="T36" fmla="*/ 2147483646 w 56"/>
              <a:gd name="T37" fmla="*/ 2147483646 h 113"/>
              <a:gd name="T38" fmla="*/ 2147483646 w 56"/>
              <a:gd name="T39" fmla="*/ 2147483646 h 113"/>
              <a:gd name="T40" fmla="*/ 2147483646 w 56"/>
              <a:gd name="T41" fmla="*/ 0 h 113"/>
              <a:gd name="T42" fmla="*/ 2147483646 w 56"/>
              <a:gd name="T43" fmla="*/ 2147483646 h 113"/>
              <a:gd name="T44" fmla="*/ 2147483646 w 56"/>
              <a:gd name="T45" fmla="*/ 2147483646 h 11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56" h="113">
                <a:moveTo>
                  <a:pt x="56" y="21"/>
                </a:moveTo>
                <a:lnTo>
                  <a:pt x="39" y="8"/>
                </a:lnTo>
                <a:lnTo>
                  <a:pt x="19" y="11"/>
                </a:lnTo>
                <a:lnTo>
                  <a:pt x="8" y="29"/>
                </a:lnTo>
                <a:lnTo>
                  <a:pt x="6" y="55"/>
                </a:lnTo>
                <a:lnTo>
                  <a:pt x="8" y="75"/>
                </a:lnTo>
                <a:lnTo>
                  <a:pt x="15" y="91"/>
                </a:lnTo>
                <a:lnTo>
                  <a:pt x="24" y="66"/>
                </a:lnTo>
                <a:lnTo>
                  <a:pt x="35" y="52"/>
                </a:lnTo>
                <a:lnTo>
                  <a:pt x="53" y="42"/>
                </a:lnTo>
                <a:lnTo>
                  <a:pt x="38" y="62"/>
                </a:lnTo>
                <a:lnTo>
                  <a:pt x="22" y="79"/>
                </a:lnTo>
                <a:lnTo>
                  <a:pt x="21" y="95"/>
                </a:lnTo>
                <a:lnTo>
                  <a:pt x="28" y="110"/>
                </a:lnTo>
                <a:lnTo>
                  <a:pt x="37" y="113"/>
                </a:lnTo>
                <a:lnTo>
                  <a:pt x="14" y="107"/>
                </a:lnTo>
                <a:lnTo>
                  <a:pt x="2" y="83"/>
                </a:lnTo>
                <a:lnTo>
                  <a:pt x="0" y="52"/>
                </a:lnTo>
                <a:lnTo>
                  <a:pt x="2" y="24"/>
                </a:lnTo>
                <a:lnTo>
                  <a:pt x="15" y="5"/>
                </a:lnTo>
                <a:lnTo>
                  <a:pt x="32" y="0"/>
                </a:lnTo>
                <a:lnTo>
                  <a:pt x="48" y="3"/>
                </a:lnTo>
                <a:lnTo>
                  <a:pt x="56" y="2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4" name="Freeform 157"/>
          <p:cNvSpPr>
            <a:spLocks/>
          </p:cNvSpPr>
          <p:nvPr/>
        </p:nvSpPr>
        <p:spPr bwMode="auto">
          <a:xfrm>
            <a:off x="1883990" y="3168152"/>
            <a:ext cx="18119" cy="28805"/>
          </a:xfrm>
          <a:custGeom>
            <a:avLst/>
            <a:gdLst>
              <a:gd name="T0" fmla="*/ 2147483646 w 91"/>
              <a:gd name="T1" fmla="*/ 2147483646 h 153"/>
              <a:gd name="T2" fmla="*/ 2147483646 w 91"/>
              <a:gd name="T3" fmla="*/ 2147483646 h 153"/>
              <a:gd name="T4" fmla="*/ 2147483646 w 91"/>
              <a:gd name="T5" fmla="*/ 2147483646 h 153"/>
              <a:gd name="T6" fmla="*/ 2147483646 w 91"/>
              <a:gd name="T7" fmla="*/ 2147483646 h 153"/>
              <a:gd name="T8" fmla="*/ 2147483646 w 91"/>
              <a:gd name="T9" fmla="*/ 2147483646 h 153"/>
              <a:gd name="T10" fmla="*/ 2147483646 w 91"/>
              <a:gd name="T11" fmla="*/ 2147483646 h 153"/>
              <a:gd name="T12" fmla="*/ 2147483646 w 91"/>
              <a:gd name="T13" fmla="*/ 2147483646 h 153"/>
              <a:gd name="T14" fmla="*/ 2147483646 w 91"/>
              <a:gd name="T15" fmla="*/ 2147483646 h 153"/>
              <a:gd name="T16" fmla="*/ 2147483646 w 91"/>
              <a:gd name="T17" fmla="*/ 2147483646 h 153"/>
              <a:gd name="T18" fmla="*/ 2147483646 w 91"/>
              <a:gd name="T19" fmla="*/ 2147483646 h 153"/>
              <a:gd name="T20" fmla="*/ 2147483646 w 91"/>
              <a:gd name="T21" fmla="*/ 2147483646 h 153"/>
              <a:gd name="T22" fmla="*/ 2147483646 w 91"/>
              <a:gd name="T23" fmla="*/ 2147483646 h 153"/>
              <a:gd name="T24" fmla="*/ 2147483646 w 91"/>
              <a:gd name="T25" fmla="*/ 2147483646 h 153"/>
              <a:gd name="T26" fmla="*/ 2147483646 w 91"/>
              <a:gd name="T27" fmla="*/ 2147483646 h 153"/>
              <a:gd name="T28" fmla="*/ 2147483646 w 91"/>
              <a:gd name="T29" fmla="*/ 2147483646 h 153"/>
              <a:gd name="T30" fmla="*/ 2147483646 w 91"/>
              <a:gd name="T31" fmla="*/ 2147483646 h 153"/>
              <a:gd name="T32" fmla="*/ 2147483646 w 91"/>
              <a:gd name="T33" fmla="*/ 2147483646 h 153"/>
              <a:gd name="T34" fmla="*/ 2147483646 w 91"/>
              <a:gd name="T35" fmla="*/ 2147483646 h 153"/>
              <a:gd name="T36" fmla="*/ 2147483646 w 91"/>
              <a:gd name="T37" fmla="*/ 2147483646 h 153"/>
              <a:gd name="T38" fmla="*/ 0 w 91"/>
              <a:gd name="T39" fmla="*/ 2147483646 h 153"/>
              <a:gd name="T40" fmla="*/ 0 w 91"/>
              <a:gd name="T41" fmla="*/ 2147483646 h 153"/>
              <a:gd name="T42" fmla="*/ 2147483646 w 91"/>
              <a:gd name="T43" fmla="*/ 2147483646 h 153"/>
              <a:gd name="T44" fmla="*/ 2147483646 w 91"/>
              <a:gd name="T45" fmla="*/ 2147483646 h 153"/>
              <a:gd name="T46" fmla="*/ 2147483646 w 91"/>
              <a:gd name="T47" fmla="*/ 0 h 153"/>
              <a:gd name="T48" fmla="*/ 2147483646 w 91"/>
              <a:gd name="T49" fmla="*/ 2147483646 h 153"/>
              <a:gd name="T50" fmla="*/ 2147483646 w 91"/>
              <a:gd name="T51" fmla="*/ 2147483646 h 153"/>
              <a:gd name="T52" fmla="*/ 2147483646 w 91"/>
              <a:gd name="T53" fmla="*/ 2147483646 h 153"/>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91" h="153">
                <a:moveTo>
                  <a:pt x="91" y="38"/>
                </a:moveTo>
                <a:lnTo>
                  <a:pt x="76" y="13"/>
                </a:lnTo>
                <a:lnTo>
                  <a:pt x="54" y="7"/>
                </a:lnTo>
                <a:lnTo>
                  <a:pt x="24" y="12"/>
                </a:lnTo>
                <a:lnTo>
                  <a:pt x="14" y="25"/>
                </a:lnTo>
                <a:lnTo>
                  <a:pt x="7" y="48"/>
                </a:lnTo>
                <a:lnTo>
                  <a:pt x="7" y="66"/>
                </a:lnTo>
                <a:lnTo>
                  <a:pt x="11" y="79"/>
                </a:lnTo>
                <a:lnTo>
                  <a:pt x="11" y="98"/>
                </a:lnTo>
                <a:lnTo>
                  <a:pt x="15" y="120"/>
                </a:lnTo>
                <a:lnTo>
                  <a:pt x="34" y="142"/>
                </a:lnTo>
                <a:lnTo>
                  <a:pt x="47" y="142"/>
                </a:lnTo>
                <a:lnTo>
                  <a:pt x="63" y="142"/>
                </a:lnTo>
                <a:lnTo>
                  <a:pt x="63" y="144"/>
                </a:lnTo>
                <a:lnTo>
                  <a:pt x="51" y="153"/>
                </a:lnTo>
                <a:lnTo>
                  <a:pt x="36" y="151"/>
                </a:lnTo>
                <a:lnTo>
                  <a:pt x="19" y="144"/>
                </a:lnTo>
                <a:lnTo>
                  <a:pt x="6" y="121"/>
                </a:lnTo>
                <a:lnTo>
                  <a:pt x="5" y="86"/>
                </a:lnTo>
                <a:lnTo>
                  <a:pt x="0" y="62"/>
                </a:lnTo>
                <a:lnTo>
                  <a:pt x="0" y="41"/>
                </a:lnTo>
                <a:lnTo>
                  <a:pt x="9" y="23"/>
                </a:lnTo>
                <a:lnTo>
                  <a:pt x="18" y="7"/>
                </a:lnTo>
                <a:lnTo>
                  <a:pt x="42" y="0"/>
                </a:lnTo>
                <a:lnTo>
                  <a:pt x="76" y="5"/>
                </a:lnTo>
                <a:lnTo>
                  <a:pt x="89" y="13"/>
                </a:lnTo>
                <a:lnTo>
                  <a:pt x="91" y="3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5" name="Freeform 158"/>
          <p:cNvSpPr>
            <a:spLocks/>
          </p:cNvSpPr>
          <p:nvPr/>
        </p:nvSpPr>
        <p:spPr bwMode="auto">
          <a:xfrm>
            <a:off x="1895063" y="3198815"/>
            <a:ext cx="17112" cy="24159"/>
          </a:xfrm>
          <a:custGeom>
            <a:avLst/>
            <a:gdLst>
              <a:gd name="T0" fmla="*/ 0 w 83"/>
              <a:gd name="T1" fmla="*/ 0 h 127"/>
              <a:gd name="T2" fmla="*/ 2147483646 w 83"/>
              <a:gd name="T3" fmla="*/ 2147483646 h 127"/>
              <a:gd name="T4" fmla="*/ 2147483646 w 83"/>
              <a:gd name="T5" fmla="*/ 2147483646 h 127"/>
              <a:gd name="T6" fmla="*/ 2147483646 w 83"/>
              <a:gd name="T7" fmla="*/ 2147483646 h 127"/>
              <a:gd name="T8" fmla="*/ 2147483646 w 83"/>
              <a:gd name="T9" fmla="*/ 2147483646 h 127"/>
              <a:gd name="T10" fmla="*/ 2147483646 w 83"/>
              <a:gd name="T11" fmla="*/ 2147483646 h 127"/>
              <a:gd name="T12" fmla="*/ 2147483646 w 83"/>
              <a:gd name="T13" fmla="*/ 2147483646 h 127"/>
              <a:gd name="T14" fmla="*/ 2147483646 w 83"/>
              <a:gd name="T15" fmla="*/ 2147483646 h 127"/>
              <a:gd name="T16" fmla="*/ 2147483646 w 83"/>
              <a:gd name="T17" fmla="*/ 2147483646 h 127"/>
              <a:gd name="T18" fmla="*/ 0 w 83"/>
              <a:gd name="T19" fmla="*/ 0 h 12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83" h="127">
                <a:moveTo>
                  <a:pt x="0" y="0"/>
                </a:moveTo>
                <a:lnTo>
                  <a:pt x="10" y="27"/>
                </a:lnTo>
                <a:lnTo>
                  <a:pt x="27" y="57"/>
                </a:lnTo>
                <a:lnTo>
                  <a:pt x="45" y="83"/>
                </a:lnTo>
                <a:lnTo>
                  <a:pt x="70" y="116"/>
                </a:lnTo>
                <a:lnTo>
                  <a:pt x="83" y="127"/>
                </a:lnTo>
                <a:lnTo>
                  <a:pt x="55" y="113"/>
                </a:lnTo>
                <a:lnTo>
                  <a:pt x="33" y="82"/>
                </a:lnTo>
                <a:lnTo>
                  <a:pt x="12" y="46"/>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6" name="Freeform 159"/>
          <p:cNvSpPr>
            <a:spLocks/>
          </p:cNvSpPr>
          <p:nvPr/>
        </p:nvSpPr>
        <p:spPr bwMode="auto">
          <a:xfrm>
            <a:off x="1843725" y="3117975"/>
            <a:ext cx="95630" cy="89202"/>
          </a:xfrm>
          <a:custGeom>
            <a:avLst/>
            <a:gdLst>
              <a:gd name="T0" fmla="*/ 2147483646 w 478"/>
              <a:gd name="T1" fmla="*/ 2147483646 h 480"/>
              <a:gd name="T2" fmla="*/ 2147483646 w 478"/>
              <a:gd name="T3" fmla="*/ 2147483646 h 480"/>
              <a:gd name="T4" fmla="*/ 2147483646 w 478"/>
              <a:gd name="T5" fmla="*/ 2147483646 h 480"/>
              <a:gd name="T6" fmla="*/ 2147483646 w 478"/>
              <a:gd name="T7" fmla="*/ 2147483646 h 480"/>
              <a:gd name="T8" fmla="*/ 2147483646 w 478"/>
              <a:gd name="T9" fmla="*/ 2147483646 h 480"/>
              <a:gd name="T10" fmla="*/ 2147483646 w 478"/>
              <a:gd name="T11" fmla="*/ 2147483646 h 480"/>
              <a:gd name="T12" fmla="*/ 2147483646 w 478"/>
              <a:gd name="T13" fmla="*/ 2147483646 h 480"/>
              <a:gd name="T14" fmla="*/ 2147483646 w 478"/>
              <a:gd name="T15" fmla="*/ 2147483646 h 480"/>
              <a:gd name="T16" fmla="*/ 2147483646 w 478"/>
              <a:gd name="T17" fmla="*/ 2147483646 h 480"/>
              <a:gd name="T18" fmla="*/ 2147483646 w 478"/>
              <a:gd name="T19" fmla="*/ 2147483646 h 480"/>
              <a:gd name="T20" fmla="*/ 2147483646 w 478"/>
              <a:gd name="T21" fmla="*/ 2147483646 h 480"/>
              <a:gd name="T22" fmla="*/ 2147483646 w 478"/>
              <a:gd name="T23" fmla="*/ 2147483646 h 480"/>
              <a:gd name="T24" fmla="*/ 2147483646 w 478"/>
              <a:gd name="T25" fmla="*/ 2147483646 h 480"/>
              <a:gd name="T26" fmla="*/ 2147483646 w 478"/>
              <a:gd name="T27" fmla="*/ 2147483646 h 480"/>
              <a:gd name="T28" fmla="*/ 2147483646 w 478"/>
              <a:gd name="T29" fmla="*/ 2147483646 h 480"/>
              <a:gd name="T30" fmla="*/ 2147483646 w 478"/>
              <a:gd name="T31" fmla="*/ 2147483646 h 480"/>
              <a:gd name="T32" fmla="*/ 2147483646 w 478"/>
              <a:gd name="T33" fmla="*/ 2147483646 h 480"/>
              <a:gd name="T34" fmla="*/ 2147483646 w 478"/>
              <a:gd name="T35" fmla="*/ 2147483646 h 480"/>
              <a:gd name="T36" fmla="*/ 2147483646 w 478"/>
              <a:gd name="T37" fmla="*/ 2147483646 h 480"/>
              <a:gd name="T38" fmla="*/ 2147483646 w 478"/>
              <a:gd name="T39" fmla="*/ 2147483646 h 480"/>
              <a:gd name="T40" fmla="*/ 2147483646 w 478"/>
              <a:gd name="T41" fmla="*/ 2147483646 h 480"/>
              <a:gd name="T42" fmla="*/ 2147483646 w 478"/>
              <a:gd name="T43" fmla="*/ 2147483646 h 480"/>
              <a:gd name="T44" fmla="*/ 2147483646 w 478"/>
              <a:gd name="T45" fmla="*/ 2147483646 h 480"/>
              <a:gd name="T46" fmla="*/ 2147483646 w 478"/>
              <a:gd name="T47" fmla="*/ 2147483646 h 480"/>
              <a:gd name="T48" fmla="*/ 2147483646 w 478"/>
              <a:gd name="T49" fmla="*/ 2147483646 h 480"/>
              <a:gd name="T50" fmla="*/ 0 w 478"/>
              <a:gd name="T51" fmla="*/ 2147483646 h 480"/>
              <a:gd name="T52" fmla="*/ 2147483646 w 478"/>
              <a:gd name="T53" fmla="*/ 2147483646 h 480"/>
              <a:gd name="T54" fmla="*/ 2147483646 w 478"/>
              <a:gd name="T55" fmla="*/ 2147483646 h 480"/>
              <a:gd name="T56" fmla="*/ 2147483646 w 478"/>
              <a:gd name="T57" fmla="*/ 2147483646 h 480"/>
              <a:gd name="T58" fmla="*/ 2147483646 w 478"/>
              <a:gd name="T59" fmla="*/ 2147483646 h 480"/>
              <a:gd name="T60" fmla="*/ 2147483646 w 478"/>
              <a:gd name="T61" fmla="*/ 0 h 480"/>
              <a:gd name="T62" fmla="*/ 2147483646 w 478"/>
              <a:gd name="T63" fmla="*/ 2147483646 h 480"/>
              <a:gd name="T64" fmla="*/ 2147483646 w 478"/>
              <a:gd name="T65" fmla="*/ 2147483646 h 480"/>
              <a:gd name="T66" fmla="*/ 2147483646 w 478"/>
              <a:gd name="T67" fmla="*/ 2147483646 h 480"/>
              <a:gd name="T68" fmla="*/ 2147483646 w 478"/>
              <a:gd name="T69" fmla="*/ 2147483646 h 480"/>
              <a:gd name="T70" fmla="*/ 2147483646 w 478"/>
              <a:gd name="T71" fmla="*/ 2147483646 h 480"/>
              <a:gd name="T72" fmla="*/ 2147483646 w 478"/>
              <a:gd name="T73" fmla="*/ 2147483646 h 480"/>
              <a:gd name="T74" fmla="*/ 2147483646 w 478"/>
              <a:gd name="T75" fmla="*/ 2147483646 h 48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478" h="480">
                <a:moveTo>
                  <a:pt x="440" y="138"/>
                </a:moveTo>
                <a:lnTo>
                  <a:pt x="367" y="127"/>
                </a:lnTo>
                <a:lnTo>
                  <a:pt x="320" y="133"/>
                </a:lnTo>
                <a:lnTo>
                  <a:pt x="290" y="168"/>
                </a:lnTo>
                <a:lnTo>
                  <a:pt x="308" y="209"/>
                </a:lnTo>
                <a:lnTo>
                  <a:pt x="331" y="224"/>
                </a:lnTo>
                <a:lnTo>
                  <a:pt x="338" y="262"/>
                </a:lnTo>
                <a:lnTo>
                  <a:pt x="324" y="287"/>
                </a:lnTo>
                <a:lnTo>
                  <a:pt x="335" y="325"/>
                </a:lnTo>
                <a:lnTo>
                  <a:pt x="306" y="325"/>
                </a:lnTo>
                <a:lnTo>
                  <a:pt x="298" y="282"/>
                </a:lnTo>
                <a:lnTo>
                  <a:pt x="280" y="262"/>
                </a:lnTo>
                <a:lnTo>
                  <a:pt x="243" y="262"/>
                </a:lnTo>
                <a:lnTo>
                  <a:pt x="209" y="271"/>
                </a:lnTo>
                <a:lnTo>
                  <a:pt x="197" y="301"/>
                </a:lnTo>
                <a:lnTo>
                  <a:pt x="193" y="341"/>
                </a:lnTo>
                <a:lnTo>
                  <a:pt x="197" y="370"/>
                </a:lnTo>
                <a:lnTo>
                  <a:pt x="197" y="391"/>
                </a:lnTo>
                <a:lnTo>
                  <a:pt x="195" y="416"/>
                </a:lnTo>
                <a:lnTo>
                  <a:pt x="172" y="439"/>
                </a:lnTo>
                <a:lnTo>
                  <a:pt x="156" y="453"/>
                </a:lnTo>
                <a:lnTo>
                  <a:pt x="115" y="480"/>
                </a:lnTo>
                <a:lnTo>
                  <a:pt x="37" y="399"/>
                </a:lnTo>
                <a:lnTo>
                  <a:pt x="14" y="334"/>
                </a:lnTo>
                <a:lnTo>
                  <a:pt x="5" y="229"/>
                </a:lnTo>
                <a:lnTo>
                  <a:pt x="0" y="154"/>
                </a:lnTo>
                <a:lnTo>
                  <a:pt x="9" y="82"/>
                </a:lnTo>
                <a:lnTo>
                  <a:pt x="30" y="42"/>
                </a:lnTo>
                <a:lnTo>
                  <a:pt x="78" y="15"/>
                </a:lnTo>
                <a:lnTo>
                  <a:pt x="121" y="7"/>
                </a:lnTo>
                <a:lnTo>
                  <a:pt x="204" y="0"/>
                </a:lnTo>
                <a:lnTo>
                  <a:pt x="285" y="5"/>
                </a:lnTo>
                <a:lnTo>
                  <a:pt x="387" y="22"/>
                </a:lnTo>
                <a:lnTo>
                  <a:pt x="432" y="44"/>
                </a:lnTo>
                <a:lnTo>
                  <a:pt x="455" y="67"/>
                </a:lnTo>
                <a:lnTo>
                  <a:pt x="478" y="102"/>
                </a:lnTo>
                <a:lnTo>
                  <a:pt x="475" y="120"/>
                </a:lnTo>
                <a:lnTo>
                  <a:pt x="440" y="138"/>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7" name="Freeform 160"/>
          <p:cNvSpPr>
            <a:spLocks/>
          </p:cNvSpPr>
          <p:nvPr/>
        </p:nvSpPr>
        <p:spPr bwMode="auto">
          <a:xfrm>
            <a:off x="1845737" y="3118904"/>
            <a:ext cx="91603" cy="85486"/>
          </a:xfrm>
          <a:custGeom>
            <a:avLst/>
            <a:gdLst>
              <a:gd name="T0" fmla="*/ 2147483646 w 455"/>
              <a:gd name="T1" fmla="*/ 2147483646 h 460"/>
              <a:gd name="T2" fmla="*/ 2147483646 w 455"/>
              <a:gd name="T3" fmla="*/ 2147483646 h 460"/>
              <a:gd name="T4" fmla="*/ 2147483646 w 455"/>
              <a:gd name="T5" fmla="*/ 2147483646 h 460"/>
              <a:gd name="T6" fmla="*/ 2147483646 w 455"/>
              <a:gd name="T7" fmla="*/ 2147483646 h 460"/>
              <a:gd name="T8" fmla="*/ 2147483646 w 455"/>
              <a:gd name="T9" fmla="*/ 2147483646 h 460"/>
              <a:gd name="T10" fmla="*/ 2147483646 w 455"/>
              <a:gd name="T11" fmla="*/ 2147483646 h 460"/>
              <a:gd name="T12" fmla="*/ 2147483646 w 455"/>
              <a:gd name="T13" fmla="*/ 2147483646 h 460"/>
              <a:gd name="T14" fmla="*/ 2147483646 w 455"/>
              <a:gd name="T15" fmla="*/ 2147483646 h 460"/>
              <a:gd name="T16" fmla="*/ 2147483646 w 455"/>
              <a:gd name="T17" fmla="*/ 2147483646 h 460"/>
              <a:gd name="T18" fmla="*/ 2147483646 w 455"/>
              <a:gd name="T19" fmla="*/ 2147483646 h 460"/>
              <a:gd name="T20" fmla="*/ 2147483646 w 455"/>
              <a:gd name="T21" fmla="*/ 2147483646 h 460"/>
              <a:gd name="T22" fmla="*/ 2147483646 w 455"/>
              <a:gd name="T23" fmla="*/ 2147483646 h 460"/>
              <a:gd name="T24" fmla="*/ 2147483646 w 455"/>
              <a:gd name="T25" fmla="*/ 2147483646 h 460"/>
              <a:gd name="T26" fmla="*/ 2147483646 w 455"/>
              <a:gd name="T27" fmla="*/ 2147483646 h 460"/>
              <a:gd name="T28" fmla="*/ 2147483646 w 455"/>
              <a:gd name="T29" fmla="*/ 2147483646 h 460"/>
              <a:gd name="T30" fmla="*/ 2147483646 w 455"/>
              <a:gd name="T31" fmla="*/ 2147483646 h 460"/>
              <a:gd name="T32" fmla="*/ 2147483646 w 455"/>
              <a:gd name="T33" fmla="*/ 2147483646 h 460"/>
              <a:gd name="T34" fmla="*/ 2147483646 w 455"/>
              <a:gd name="T35" fmla="*/ 2147483646 h 460"/>
              <a:gd name="T36" fmla="*/ 2147483646 w 455"/>
              <a:gd name="T37" fmla="*/ 2147483646 h 460"/>
              <a:gd name="T38" fmla="*/ 2147483646 w 455"/>
              <a:gd name="T39" fmla="*/ 2147483646 h 460"/>
              <a:gd name="T40" fmla="*/ 2147483646 w 455"/>
              <a:gd name="T41" fmla="*/ 2147483646 h 460"/>
              <a:gd name="T42" fmla="*/ 2147483646 w 455"/>
              <a:gd name="T43" fmla="*/ 2147483646 h 460"/>
              <a:gd name="T44" fmla="*/ 2147483646 w 455"/>
              <a:gd name="T45" fmla="*/ 2147483646 h 460"/>
              <a:gd name="T46" fmla="*/ 2147483646 w 455"/>
              <a:gd name="T47" fmla="*/ 2147483646 h 460"/>
              <a:gd name="T48" fmla="*/ 2147483646 w 455"/>
              <a:gd name="T49" fmla="*/ 2147483646 h 460"/>
              <a:gd name="T50" fmla="*/ 2147483646 w 455"/>
              <a:gd name="T51" fmla="*/ 2147483646 h 460"/>
              <a:gd name="T52" fmla="*/ 2147483646 w 455"/>
              <a:gd name="T53" fmla="*/ 2147483646 h 460"/>
              <a:gd name="T54" fmla="*/ 2147483646 w 455"/>
              <a:gd name="T55" fmla="*/ 2147483646 h 460"/>
              <a:gd name="T56" fmla="*/ 2147483646 w 455"/>
              <a:gd name="T57" fmla="*/ 2147483646 h 460"/>
              <a:gd name="T58" fmla="*/ 2147483646 w 455"/>
              <a:gd name="T59" fmla="*/ 2147483646 h 460"/>
              <a:gd name="T60" fmla="*/ 2147483646 w 455"/>
              <a:gd name="T61" fmla="*/ 2147483646 h 460"/>
              <a:gd name="T62" fmla="*/ 2147483646 w 455"/>
              <a:gd name="T63" fmla="*/ 2147483646 h 460"/>
              <a:gd name="T64" fmla="*/ 2147483646 w 455"/>
              <a:gd name="T65" fmla="*/ 2147483646 h 460"/>
              <a:gd name="T66" fmla="*/ 2147483646 w 455"/>
              <a:gd name="T67" fmla="*/ 2147483646 h 460"/>
              <a:gd name="T68" fmla="*/ 2147483646 w 455"/>
              <a:gd name="T69" fmla="*/ 2147483646 h 460"/>
              <a:gd name="T70" fmla="*/ 2147483646 w 455"/>
              <a:gd name="T71" fmla="*/ 2147483646 h 460"/>
              <a:gd name="T72" fmla="*/ 2147483646 w 455"/>
              <a:gd name="T73" fmla="*/ 2147483646 h 460"/>
              <a:gd name="T74" fmla="*/ 2147483646 w 455"/>
              <a:gd name="T75" fmla="*/ 2147483646 h 460"/>
              <a:gd name="T76" fmla="*/ 2147483646 w 455"/>
              <a:gd name="T77" fmla="*/ 2147483646 h 460"/>
              <a:gd name="T78" fmla="*/ 2147483646 w 455"/>
              <a:gd name="T79" fmla="*/ 2147483646 h 460"/>
              <a:gd name="T80" fmla="*/ 2147483646 w 455"/>
              <a:gd name="T81" fmla="*/ 2147483646 h 460"/>
              <a:gd name="T82" fmla="*/ 2147483646 w 455"/>
              <a:gd name="T83" fmla="*/ 2147483646 h 460"/>
              <a:gd name="T84" fmla="*/ 2147483646 w 455"/>
              <a:gd name="T85" fmla="*/ 2147483646 h 460"/>
              <a:gd name="T86" fmla="*/ 2147483646 w 455"/>
              <a:gd name="T87" fmla="*/ 2147483646 h 460"/>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455" h="460">
                <a:moveTo>
                  <a:pt x="379" y="28"/>
                </a:moveTo>
                <a:lnTo>
                  <a:pt x="418" y="44"/>
                </a:lnTo>
                <a:lnTo>
                  <a:pt x="436" y="69"/>
                </a:lnTo>
                <a:lnTo>
                  <a:pt x="447" y="85"/>
                </a:lnTo>
                <a:lnTo>
                  <a:pt x="455" y="98"/>
                </a:lnTo>
                <a:lnTo>
                  <a:pt x="444" y="108"/>
                </a:lnTo>
                <a:lnTo>
                  <a:pt x="425" y="120"/>
                </a:lnTo>
                <a:lnTo>
                  <a:pt x="376" y="113"/>
                </a:lnTo>
                <a:lnTo>
                  <a:pt x="339" y="113"/>
                </a:lnTo>
                <a:lnTo>
                  <a:pt x="315" y="100"/>
                </a:lnTo>
                <a:lnTo>
                  <a:pt x="279" y="92"/>
                </a:lnTo>
                <a:lnTo>
                  <a:pt x="247" y="90"/>
                </a:lnTo>
                <a:lnTo>
                  <a:pt x="209" y="92"/>
                </a:lnTo>
                <a:lnTo>
                  <a:pt x="264" y="98"/>
                </a:lnTo>
                <a:lnTo>
                  <a:pt x="291" y="105"/>
                </a:lnTo>
                <a:lnTo>
                  <a:pt x="311" y="113"/>
                </a:lnTo>
                <a:lnTo>
                  <a:pt x="315" y="115"/>
                </a:lnTo>
                <a:lnTo>
                  <a:pt x="302" y="120"/>
                </a:lnTo>
                <a:lnTo>
                  <a:pt x="291" y="131"/>
                </a:lnTo>
                <a:lnTo>
                  <a:pt x="272" y="120"/>
                </a:lnTo>
                <a:lnTo>
                  <a:pt x="256" y="116"/>
                </a:lnTo>
                <a:lnTo>
                  <a:pt x="223" y="110"/>
                </a:lnTo>
                <a:lnTo>
                  <a:pt x="212" y="110"/>
                </a:lnTo>
                <a:lnTo>
                  <a:pt x="246" y="122"/>
                </a:lnTo>
                <a:lnTo>
                  <a:pt x="270" y="133"/>
                </a:lnTo>
                <a:lnTo>
                  <a:pt x="283" y="142"/>
                </a:lnTo>
                <a:lnTo>
                  <a:pt x="272" y="154"/>
                </a:lnTo>
                <a:lnTo>
                  <a:pt x="246" y="145"/>
                </a:lnTo>
                <a:lnTo>
                  <a:pt x="223" y="140"/>
                </a:lnTo>
                <a:lnTo>
                  <a:pt x="264" y="161"/>
                </a:lnTo>
                <a:lnTo>
                  <a:pt x="277" y="170"/>
                </a:lnTo>
                <a:lnTo>
                  <a:pt x="281" y="189"/>
                </a:lnTo>
                <a:lnTo>
                  <a:pt x="289" y="199"/>
                </a:lnTo>
                <a:lnTo>
                  <a:pt x="264" y="187"/>
                </a:lnTo>
                <a:lnTo>
                  <a:pt x="241" y="183"/>
                </a:lnTo>
                <a:lnTo>
                  <a:pt x="205" y="181"/>
                </a:lnTo>
                <a:lnTo>
                  <a:pt x="259" y="197"/>
                </a:lnTo>
                <a:lnTo>
                  <a:pt x="293" y="210"/>
                </a:lnTo>
                <a:lnTo>
                  <a:pt x="315" y="222"/>
                </a:lnTo>
                <a:lnTo>
                  <a:pt x="318" y="239"/>
                </a:lnTo>
                <a:lnTo>
                  <a:pt x="291" y="227"/>
                </a:lnTo>
                <a:lnTo>
                  <a:pt x="254" y="214"/>
                </a:lnTo>
                <a:lnTo>
                  <a:pt x="237" y="214"/>
                </a:lnTo>
                <a:lnTo>
                  <a:pt x="277" y="228"/>
                </a:lnTo>
                <a:lnTo>
                  <a:pt x="309" y="242"/>
                </a:lnTo>
                <a:lnTo>
                  <a:pt x="320" y="253"/>
                </a:lnTo>
                <a:lnTo>
                  <a:pt x="315" y="264"/>
                </a:lnTo>
                <a:lnTo>
                  <a:pt x="291" y="255"/>
                </a:lnTo>
                <a:lnTo>
                  <a:pt x="269" y="246"/>
                </a:lnTo>
                <a:lnTo>
                  <a:pt x="221" y="244"/>
                </a:lnTo>
                <a:lnTo>
                  <a:pt x="202" y="246"/>
                </a:lnTo>
                <a:lnTo>
                  <a:pt x="158" y="249"/>
                </a:lnTo>
                <a:lnTo>
                  <a:pt x="107" y="242"/>
                </a:lnTo>
                <a:lnTo>
                  <a:pt x="137" y="253"/>
                </a:lnTo>
                <a:lnTo>
                  <a:pt x="191" y="262"/>
                </a:lnTo>
                <a:lnTo>
                  <a:pt x="181" y="280"/>
                </a:lnTo>
                <a:lnTo>
                  <a:pt x="141" y="271"/>
                </a:lnTo>
                <a:lnTo>
                  <a:pt x="104" y="258"/>
                </a:lnTo>
                <a:lnTo>
                  <a:pt x="79" y="246"/>
                </a:lnTo>
                <a:lnTo>
                  <a:pt x="126" y="280"/>
                </a:lnTo>
                <a:lnTo>
                  <a:pt x="156" y="290"/>
                </a:lnTo>
                <a:lnTo>
                  <a:pt x="181" y="298"/>
                </a:lnTo>
                <a:lnTo>
                  <a:pt x="178" y="317"/>
                </a:lnTo>
                <a:lnTo>
                  <a:pt x="141" y="310"/>
                </a:lnTo>
                <a:lnTo>
                  <a:pt x="113" y="302"/>
                </a:lnTo>
                <a:lnTo>
                  <a:pt x="131" y="315"/>
                </a:lnTo>
                <a:lnTo>
                  <a:pt x="161" y="323"/>
                </a:lnTo>
                <a:lnTo>
                  <a:pt x="178" y="325"/>
                </a:lnTo>
                <a:lnTo>
                  <a:pt x="178" y="365"/>
                </a:lnTo>
                <a:lnTo>
                  <a:pt x="143" y="351"/>
                </a:lnTo>
                <a:lnTo>
                  <a:pt x="116" y="341"/>
                </a:lnTo>
                <a:lnTo>
                  <a:pt x="145" y="363"/>
                </a:lnTo>
                <a:lnTo>
                  <a:pt x="182" y="379"/>
                </a:lnTo>
                <a:lnTo>
                  <a:pt x="181" y="397"/>
                </a:lnTo>
                <a:lnTo>
                  <a:pt x="159" y="418"/>
                </a:lnTo>
                <a:lnTo>
                  <a:pt x="141" y="395"/>
                </a:lnTo>
                <a:lnTo>
                  <a:pt x="116" y="365"/>
                </a:lnTo>
                <a:lnTo>
                  <a:pt x="100" y="337"/>
                </a:lnTo>
                <a:lnTo>
                  <a:pt x="116" y="381"/>
                </a:lnTo>
                <a:lnTo>
                  <a:pt x="131" y="397"/>
                </a:lnTo>
                <a:lnTo>
                  <a:pt x="156" y="429"/>
                </a:lnTo>
                <a:lnTo>
                  <a:pt x="137" y="449"/>
                </a:lnTo>
                <a:lnTo>
                  <a:pt x="109" y="424"/>
                </a:lnTo>
                <a:lnTo>
                  <a:pt x="88" y="395"/>
                </a:lnTo>
                <a:lnTo>
                  <a:pt x="69" y="363"/>
                </a:lnTo>
                <a:lnTo>
                  <a:pt x="86" y="409"/>
                </a:lnTo>
                <a:lnTo>
                  <a:pt x="104" y="430"/>
                </a:lnTo>
                <a:lnTo>
                  <a:pt x="121" y="452"/>
                </a:lnTo>
                <a:lnTo>
                  <a:pt x="107" y="460"/>
                </a:lnTo>
                <a:lnTo>
                  <a:pt x="69" y="429"/>
                </a:lnTo>
                <a:lnTo>
                  <a:pt x="34" y="379"/>
                </a:lnTo>
                <a:lnTo>
                  <a:pt x="21" y="341"/>
                </a:lnTo>
                <a:lnTo>
                  <a:pt x="12" y="275"/>
                </a:lnTo>
                <a:lnTo>
                  <a:pt x="7" y="227"/>
                </a:lnTo>
                <a:lnTo>
                  <a:pt x="0" y="170"/>
                </a:lnTo>
                <a:lnTo>
                  <a:pt x="39" y="181"/>
                </a:lnTo>
                <a:lnTo>
                  <a:pt x="81" y="197"/>
                </a:lnTo>
                <a:lnTo>
                  <a:pt x="145" y="212"/>
                </a:lnTo>
                <a:lnTo>
                  <a:pt x="88" y="189"/>
                </a:lnTo>
                <a:lnTo>
                  <a:pt x="67" y="177"/>
                </a:lnTo>
                <a:lnTo>
                  <a:pt x="26" y="162"/>
                </a:lnTo>
                <a:lnTo>
                  <a:pt x="5" y="158"/>
                </a:lnTo>
                <a:lnTo>
                  <a:pt x="5" y="129"/>
                </a:lnTo>
                <a:lnTo>
                  <a:pt x="10" y="92"/>
                </a:lnTo>
                <a:lnTo>
                  <a:pt x="61" y="100"/>
                </a:lnTo>
                <a:lnTo>
                  <a:pt x="94" y="110"/>
                </a:lnTo>
                <a:lnTo>
                  <a:pt x="135" y="129"/>
                </a:lnTo>
                <a:lnTo>
                  <a:pt x="97" y="100"/>
                </a:lnTo>
                <a:lnTo>
                  <a:pt x="54" y="88"/>
                </a:lnTo>
                <a:lnTo>
                  <a:pt x="12" y="77"/>
                </a:lnTo>
                <a:lnTo>
                  <a:pt x="21" y="49"/>
                </a:lnTo>
                <a:lnTo>
                  <a:pt x="34" y="31"/>
                </a:lnTo>
                <a:lnTo>
                  <a:pt x="73" y="19"/>
                </a:lnTo>
                <a:lnTo>
                  <a:pt x="111" y="28"/>
                </a:lnTo>
                <a:lnTo>
                  <a:pt x="145" y="53"/>
                </a:lnTo>
                <a:lnTo>
                  <a:pt x="121" y="25"/>
                </a:lnTo>
                <a:lnTo>
                  <a:pt x="86" y="10"/>
                </a:lnTo>
                <a:lnTo>
                  <a:pt x="126" y="4"/>
                </a:lnTo>
                <a:lnTo>
                  <a:pt x="156" y="2"/>
                </a:lnTo>
                <a:lnTo>
                  <a:pt x="198" y="8"/>
                </a:lnTo>
                <a:lnTo>
                  <a:pt x="226" y="27"/>
                </a:lnTo>
                <a:lnTo>
                  <a:pt x="272" y="35"/>
                </a:lnTo>
                <a:lnTo>
                  <a:pt x="241" y="23"/>
                </a:lnTo>
                <a:lnTo>
                  <a:pt x="218" y="8"/>
                </a:lnTo>
                <a:lnTo>
                  <a:pt x="205" y="0"/>
                </a:lnTo>
                <a:lnTo>
                  <a:pt x="249" y="2"/>
                </a:lnTo>
                <a:lnTo>
                  <a:pt x="289" y="4"/>
                </a:lnTo>
                <a:lnTo>
                  <a:pt x="313" y="15"/>
                </a:lnTo>
                <a:lnTo>
                  <a:pt x="337" y="37"/>
                </a:lnTo>
                <a:lnTo>
                  <a:pt x="356" y="67"/>
                </a:lnTo>
                <a:lnTo>
                  <a:pt x="346" y="33"/>
                </a:lnTo>
                <a:lnTo>
                  <a:pt x="322" y="10"/>
                </a:lnTo>
                <a:lnTo>
                  <a:pt x="379" y="28"/>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68" name="Group 161"/>
          <p:cNvGrpSpPr>
            <a:grpSpLocks/>
          </p:cNvGrpSpPr>
          <p:nvPr/>
        </p:nvGrpSpPr>
        <p:grpSpPr bwMode="auto">
          <a:xfrm>
            <a:off x="2031963" y="3335406"/>
            <a:ext cx="99655" cy="56681"/>
            <a:chOff x="377" y="1962"/>
            <a:chExt cx="99" cy="61"/>
          </a:xfrm>
        </p:grpSpPr>
        <p:sp>
          <p:nvSpPr>
            <p:cNvPr id="169" name="Freeform 162"/>
            <p:cNvSpPr>
              <a:spLocks/>
            </p:cNvSpPr>
            <p:nvPr/>
          </p:nvSpPr>
          <p:spPr bwMode="auto">
            <a:xfrm>
              <a:off x="377" y="1962"/>
              <a:ext cx="99" cy="61"/>
            </a:xfrm>
            <a:custGeom>
              <a:avLst/>
              <a:gdLst>
                <a:gd name="T0" fmla="*/ 0 w 497"/>
                <a:gd name="T1" fmla="*/ 0 h 305"/>
                <a:gd name="T2" fmla="*/ 0 w 497"/>
                <a:gd name="T3" fmla="*/ 0 h 305"/>
                <a:gd name="T4" fmla="*/ 0 w 497"/>
                <a:gd name="T5" fmla="*/ 0 h 305"/>
                <a:gd name="T6" fmla="*/ 0 w 497"/>
                <a:gd name="T7" fmla="*/ 0 h 305"/>
                <a:gd name="T8" fmla="*/ 0 w 497"/>
                <a:gd name="T9" fmla="*/ 0 h 305"/>
                <a:gd name="T10" fmla="*/ 0 w 497"/>
                <a:gd name="T11" fmla="*/ 0 h 305"/>
                <a:gd name="T12" fmla="*/ 0 w 497"/>
                <a:gd name="T13" fmla="*/ 0 h 305"/>
                <a:gd name="T14" fmla="*/ 0 w 497"/>
                <a:gd name="T15" fmla="*/ 0 h 305"/>
                <a:gd name="T16" fmla="*/ 0 w 497"/>
                <a:gd name="T17" fmla="*/ 0 h 305"/>
                <a:gd name="T18" fmla="*/ 0 w 497"/>
                <a:gd name="T19" fmla="*/ 0 h 305"/>
                <a:gd name="T20" fmla="*/ 0 w 497"/>
                <a:gd name="T21" fmla="*/ 0 h 305"/>
                <a:gd name="T22" fmla="*/ 0 w 497"/>
                <a:gd name="T23" fmla="*/ 0 h 305"/>
                <a:gd name="T24" fmla="*/ 0 w 497"/>
                <a:gd name="T25" fmla="*/ 0 h 305"/>
                <a:gd name="T26" fmla="*/ 0 w 497"/>
                <a:gd name="T27" fmla="*/ 0 h 305"/>
                <a:gd name="T28" fmla="*/ 0 w 497"/>
                <a:gd name="T29" fmla="*/ 0 h 305"/>
                <a:gd name="T30" fmla="*/ 0 w 497"/>
                <a:gd name="T31" fmla="*/ 0 h 305"/>
                <a:gd name="T32" fmla="*/ 0 w 497"/>
                <a:gd name="T33" fmla="*/ 0 h 305"/>
                <a:gd name="T34" fmla="*/ 0 w 497"/>
                <a:gd name="T35" fmla="*/ 0 h 305"/>
                <a:gd name="T36" fmla="*/ 0 w 497"/>
                <a:gd name="T37" fmla="*/ 0 h 305"/>
                <a:gd name="T38" fmla="*/ 0 w 497"/>
                <a:gd name="T39" fmla="*/ 0 h 305"/>
                <a:gd name="T40" fmla="*/ 0 w 497"/>
                <a:gd name="T41" fmla="*/ 0 h 305"/>
                <a:gd name="T42" fmla="*/ 0 w 497"/>
                <a:gd name="T43" fmla="*/ 0 h 305"/>
                <a:gd name="T44" fmla="*/ 0 w 497"/>
                <a:gd name="T45" fmla="*/ 0 h 305"/>
                <a:gd name="T46" fmla="*/ 0 w 497"/>
                <a:gd name="T47" fmla="*/ 0 h 305"/>
                <a:gd name="T48" fmla="*/ 0 w 497"/>
                <a:gd name="T49" fmla="*/ 0 h 305"/>
                <a:gd name="T50" fmla="*/ 0 w 497"/>
                <a:gd name="T51" fmla="*/ 0 h 305"/>
                <a:gd name="T52" fmla="*/ 0 w 497"/>
                <a:gd name="T53" fmla="*/ 0 h 305"/>
                <a:gd name="T54" fmla="*/ 0 w 497"/>
                <a:gd name="T55" fmla="*/ 0 h 305"/>
                <a:gd name="T56" fmla="*/ 0 w 497"/>
                <a:gd name="T57" fmla="*/ 0 h 305"/>
                <a:gd name="T58" fmla="*/ 0 w 497"/>
                <a:gd name="T59" fmla="*/ 0 h 305"/>
                <a:gd name="T60" fmla="*/ 0 w 497"/>
                <a:gd name="T61" fmla="*/ 0 h 305"/>
                <a:gd name="T62" fmla="*/ 0 w 497"/>
                <a:gd name="T63" fmla="*/ 0 h 305"/>
                <a:gd name="T64" fmla="*/ 0 w 497"/>
                <a:gd name="T65" fmla="*/ 0 h 305"/>
                <a:gd name="T66" fmla="*/ 0 w 497"/>
                <a:gd name="T67" fmla="*/ 0 h 305"/>
                <a:gd name="T68" fmla="*/ 0 w 497"/>
                <a:gd name="T69" fmla="*/ 0 h 305"/>
                <a:gd name="T70" fmla="*/ 0 w 497"/>
                <a:gd name="T71" fmla="*/ 0 h 305"/>
                <a:gd name="T72" fmla="*/ 0 w 497"/>
                <a:gd name="T73" fmla="*/ 0 h 305"/>
                <a:gd name="T74" fmla="*/ 0 w 497"/>
                <a:gd name="T75" fmla="*/ 0 h 305"/>
                <a:gd name="T76" fmla="*/ 0 w 497"/>
                <a:gd name="T77" fmla="*/ 0 h 305"/>
                <a:gd name="T78" fmla="*/ 0 w 497"/>
                <a:gd name="T79" fmla="*/ 0 h 305"/>
                <a:gd name="T80" fmla="*/ 0 w 497"/>
                <a:gd name="T81" fmla="*/ 0 h 305"/>
                <a:gd name="T82" fmla="*/ 0 w 497"/>
                <a:gd name="T83" fmla="*/ 0 h 305"/>
                <a:gd name="T84" fmla="*/ 0 w 497"/>
                <a:gd name="T85" fmla="*/ 0 h 305"/>
                <a:gd name="T86" fmla="*/ 0 w 497"/>
                <a:gd name="T87" fmla="*/ 0 h 305"/>
                <a:gd name="T88" fmla="*/ 0 w 497"/>
                <a:gd name="T89" fmla="*/ 0 h 305"/>
                <a:gd name="T90" fmla="*/ 0 w 497"/>
                <a:gd name="T91" fmla="*/ 0 h 305"/>
                <a:gd name="T92" fmla="*/ 0 w 497"/>
                <a:gd name="T93" fmla="*/ 0 h 305"/>
                <a:gd name="T94" fmla="*/ 0 w 497"/>
                <a:gd name="T95" fmla="*/ 0 h 305"/>
                <a:gd name="T96" fmla="*/ 0 w 497"/>
                <a:gd name="T97" fmla="*/ 0 h 305"/>
                <a:gd name="T98" fmla="*/ 0 w 497"/>
                <a:gd name="T99" fmla="*/ 0 h 30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497" h="305">
                  <a:moveTo>
                    <a:pt x="0" y="182"/>
                  </a:moveTo>
                  <a:lnTo>
                    <a:pt x="61" y="168"/>
                  </a:lnTo>
                  <a:lnTo>
                    <a:pt x="84" y="163"/>
                  </a:lnTo>
                  <a:lnTo>
                    <a:pt x="98" y="150"/>
                  </a:lnTo>
                  <a:lnTo>
                    <a:pt x="112" y="130"/>
                  </a:lnTo>
                  <a:lnTo>
                    <a:pt x="142" y="102"/>
                  </a:lnTo>
                  <a:lnTo>
                    <a:pt x="197" y="56"/>
                  </a:lnTo>
                  <a:lnTo>
                    <a:pt x="206" y="41"/>
                  </a:lnTo>
                  <a:lnTo>
                    <a:pt x="221" y="28"/>
                  </a:lnTo>
                  <a:lnTo>
                    <a:pt x="249" y="23"/>
                  </a:lnTo>
                  <a:lnTo>
                    <a:pt x="336" y="8"/>
                  </a:lnTo>
                  <a:lnTo>
                    <a:pt x="360" y="0"/>
                  </a:lnTo>
                  <a:lnTo>
                    <a:pt x="382" y="11"/>
                  </a:lnTo>
                  <a:lnTo>
                    <a:pt x="393" y="20"/>
                  </a:lnTo>
                  <a:lnTo>
                    <a:pt x="443" y="37"/>
                  </a:lnTo>
                  <a:lnTo>
                    <a:pt x="464" y="45"/>
                  </a:lnTo>
                  <a:lnTo>
                    <a:pt x="471" y="53"/>
                  </a:lnTo>
                  <a:lnTo>
                    <a:pt x="481" y="81"/>
                  </a:lnTo>
                  <a:lnTo>
                    <a:pt x="486" y="96"/>
                  </a:lnTo>
                  <a:lnTo>
                    <a:pt x="490" y="104"/>
                  </a:lnTo>
                  <a:lnTo>
                    <a:pt x="497" y="119"/>
                  </a:lnTo>
                  <a:lnTo>
                    <a:pt x="497" y="129"/>
                  </a:lnTo>
                  <a:lnTo>
                    <a:pt x="487" y="137"/>
                  </a:lnTo>
                  <a:lnTo>
                    <a:pt x="466" y="136"/>
                  </a:lnTo>
                  <a:lnTo>
                    <a:pt x="434" y="121"/>
                  </a:lnTo>
                  <a:lnTo>
                    <a:pt x="393" y="113"/>
                  </a:lnTo>
                  <a:lnTo>
                    <a:pt x="356" y="119"/>
                  </a:lnTo>
                  <a:lnTo>
                    <a:pt x="395" y="128"/>
                  </a:lnTo>
                  <a:lnTo>
                    <a:pt x="422" y="137"/>
                  </a:lnTo>
                  <a:lnTo>
                    <a:pt x="454" y="150"/>
                  </a:lnTo>
                  <a:lnTo>
                    <a:pt x="462" y="161"/>
                  </a:lnTo>
                  <a:lnTo>
                    <a:pt x="462" y="173"/>
                  </a:lnTo>
                  <a:lnTo>
                    <a:pt x="449" y="182"/>
                  </a:lnTo>
                  <a:lnTo>
                    <a:pt x="435" y="179"/>
                  </a:lnTo>
                  <a:lnTo>
                    <a:pt x="391" y="168"/>
                  </a:lnTo>
                  <a:lnTo>
                    <a:pt x="351" y="166"/>
                  </a:lnTo>
                  <a:lnTo>
                    <a:pt x="320" y="168"/>
                  </a:lnTo>
                  <a:lnTo>
                    <a:pt x="303" y="179"/>
                  </a:lnTo>
                  <a:lnTo>
                    <a:pt x="282" y="200"/>
                  </a:lnTo>
                  <a:lnTo>
                    <a:pt x="267" y="223"/>
                  </a:lnTo>
                  <a:lnTo>
                    <a:pt x="251" y="246"/>
                  </a:lnTo>
                  <a:lnTo>
                    <a:pt x="237" y="263"/>
                  </a:lnTo>
                  <a:lnTo>
                    <a:pt x="213" y="280"/>
                  </a:lnTo>
                  <a:lnTo>
                    <a:pt x="190" y="284"/>
                  </a:lnTo>
                  <a:lnTo>
                    <a:pt x="165" y="287"/>
                  </a:lnTo>
                  <a:lnTo>
                    <a:pt x="135" y="284"/>
                  </a:lnTo>
                  <a:lnTo>
                    <a:pt x="112" y="282"/>
                  </a:lnTo>
                  <a:lnTo>
                    <a:pt x="82" y="290"/>
                  </a:lnTo>
                  <a:lnTo>
                    <a:pt x="0" y="305"/>
                  </a:lnTo>
                  <a:lnTo>
                    <a:pt x="0" y="182"/>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0" name="Freeform 163"/>
            <p:cNvSpPr>
              <a:spLocks/>
            </p:cNvSpPr>
            <p:nvPr/>
          </p:nvSpPr>
          <p:spPr bwMode="auto">
            <a:xfrm>
              <a:off x="439" y="1973"/>
              <a:ext cx="32" cy="7"/>
            </a:xfrm>
            <a:custGeom>
              <a:avLst/>
              <a:gdLst>
                <a:gd name="T0" fmla="*/ 0 w 159"/>
                <a:gd name="T1" fmla="*/ 0 h 37"/>
                <a:gd name="T2" fmla="*/ 0 w 159"/>
                <a:gd name="T3" fmla="*/ 0 h 37"/>
                <a:gd name="T4" fmla="*/ 0 w 159"/>
                <a:gd name="T5" fmla="*/ 0 h 37"/>
                <a:gd name="T6" fmla="*/ 0 w 159"/>
                <a:gd name="T7" fmla="*/ 0 h 37"/>
                <a:gd name="T8" fmla="*/ 0 w 159"/>
                <a:gd name="T9" fmla="*/ 0 h 37"/>
                <a:gd name="T10" fmla="*/ 0 w 159"/>
                <a:gd name="T11" fmla="*/ 0 h 37"/>
                <a:gd name="T12" fmla="*/ 0 w 159"/>
                <a:gd name="T13" fmla="*/ 0 h 37"/>
                <a:gd name="T14" fmla="*/ 0 w 159"/>
                <a:gd name="T15" fmla="*/ 0 h 37"/>
                <a:gd name="T16" fmla="*/ 0 w 159"/>
                <a:gd name="T17" fmla="*/ 0 h 37"/>
                <a:gd name="T18" fmla="*/ 0 w 159"/>
                <a:gd name="T19" fmla="*/ 0 h 37"/>
                <a:gd name="T20" fmla="*/ 0 w 159"/>
                <a:gd name="T21" fmla="*/ 0 h 37"/>
                <a:gd name="T22" fmla="*/ 0 w 159"/>
                <a:gd name="T23" fmla="*/ 0 h 37"/>
                <a:gd name="T24" fmla="*/ 0 w 159"/>
                <a:gd name="T25" fmla="*/ 0 h 37"/>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59" h="37">
                  <a:moveTo>
                    <a:pt x="159" y="37"/>
                  </a:moveTo>
                  <a:lnTo>
                    <a:pt x="132" y="24"/>
                  </a:lnTo>
                  <a:lnTo>
                    <a:pt x="110" y="21"/>
                  </a:lnTo>
                  <a:lnTo>
                    <a:pt x="84" y="13"/>
                  </a:lnTo>
                  <a:lnTo>
                    <a:pt x="61" y="7"/>
                  </a:lnTo>
                  <a:lnTo>
                    <a:pt x="25" y="10"/>
                  </a:lnTo>
                  <a:lnTo>
                    <a:pt x="0" y="13"/>
                  </a:lnTo>
                  <a:lnTo>
                    <a:pt x="38" y="5"/>
                  </a:lnTo>
                  <a:lnTo>
                    <a:pt x="69" y="0"/>
                  </a:lnTo>
                  <a:lnTo>
                    <a:pt x="110" y="17"/>
                  </a:lnTo>
                  <a:lnTo>
                    <a:pt x="132" y="19"/>
                  </a:lnTo>
                  <a:lnTo>
                    <a:pt x="157" y="31"/>
                  </a:lnTo>
                  <a:lnTo>
                    <a:pt x="159" y="3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1" name="Freeform 164"/>
            <p:cNvSpPr>
              <a:spLocks/>
            </p:cNvSpPr>
            <p:nvPr/>
          </p:nvSpPr>
          <p:spPr bwMode="auto">
            <a:xfrm>
              <a:off x="427" y="1965"/>
              <a:ext cx="27" cy="5"/>
            </a:xfrm>
            <a:custGeom>
              <a:avLst/>
              <a:gdLst>
                <a:gd name="T0" fmla="*/ 0 w 133"/>
                <a:gd name="T1" fmla="*/ 0 h 25"/>
                <a:gd name="T2" fmla="*/ 0 w 133"/>
                <a:gd name="T3" fmla="*/ 0 h 25"/>
                <a:gd name="T4" fmla="*/ 0 w 133"/>
                <a:gd name="T5" fmla="*/ 0 h 25"/>
                <a:gd name="T6" fmla="*/ 0 w 133"/>
                <a:gd name="T7" fmla="*/ 0 h 25"/>
                <a:gd name="T8" fmla="*/ 0 w 133"/>
                <a:gd name="T9" fmla="*/ 0 h 25"/>
                <a:gd name="T10" fmla="*/ 0 w 133"/>
                <a:gd name="T11" fmla="*/ 0 h 25"/>
                <a:gd name="T12" fmla="*/ 0 w 133"/>
                <a:gd name="T13" fmla="*/ 0 h 25"/>
                <a:gd name="T14" fmla="*/ 0 w 133"/>
                <a:gd name="T15" fmla="*/ 0 h 25"/>
                <a:gd name="T16" fmla="*/ 0 w 133"/>
                <a:gd name="T17" fmla="*/ 0 h 25"/>
                <a:gd name="T18" fmla="*/ 0 w 133"/>
                <a:gd name="T19" fmla="*/ 0 h 25"/>
                <a:gd name="T20" fmla="*/ 0 w 133"/>
                <a:gd name="T21" fmla="*/ 0 h 25"/>
                <a:gd name="T22" fmla="*/ 0 w 133"/>
                <a:gd name="T23" fmla="*/ 0 h 2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3" h="25">
                  <a:moveTo>
                    <a:pt x="97" y="0"/>
                  </a:moveTo>
                  <a:lnTo>
                    <a:pt x="113" y="1"/>
                  </a:lnTo>
                  <a:lnTo>
                    <a:pt x="133" y="8"/>
                  </a:lnTo>
                  <a:lnTo>
                    <a:pt x="120" y="7"/>
                  </a:lnTo>
                  <a:lnTo>
                    <a:pt x="99" y="3"/>
                  </a:lnTo>
                  <a:lnTo>
                    <a:pt x="56" y="15"/>
                  </a:lnTo>
                  <a:lnTo>
                    <a:pt x="32" y="21"/>
                  </a:lnTo>
                  <a:lnTo>
                    <a:pt x="4" y="25"/>
                  </a:lnTo>
                  <a:lnTo>
                    <a:pt x="0" y="21"/>
                  </a:lnTo>
                  <a:lnTo>
                    <a:pt x="29" y="16"/>
                  </a:lnTo>
                  <a:lnTo>
                    <a:pt x="64" y="8"/>
                  </a:lnTo>
                  <a:lnTo>
                    <a:pt x="9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2" name="Freeform 165"/>
            <p:cNvSpPr>
              <a:spLocks/>
            </p:cNvSpPr>
            <p:nvPr/>
          </p:nvSpPr>
          <p:spPr bwMode="auto">
            <a:xfrm>
              <a:off x="438" y="1984"/>
              <a:ext cx="11" cy="2"/>
            </a:xfrm>
            <a:custGeom>
              <a:avLst/>
              <a:gdLst>
                <a:gd name="T0" fmla="*/ 0 w 53"/>
                <a:gd name="T1" fmla="*/ 0 h 12"/>
                <a:gd name="T2" fmla="*/ 0 w 53"/>
                <a:gd name="T3" fmla="*/ 0 h 12"/>
                <a:gd name="T4" fmla="*/ 0 w 53"/>
                <a:gd name="T5" fmla="*/ 0 h 12"/>
                <a:gd name="T6" fmla="*/ 0 w 53"/>
                <a:gd name="T7" fmla="*/ 0 h 12"/>
                <a:gd name="T8" fmla="*/ 0 w 53"/>
                <a:gd name="T9" fmla="*/ 0 h 12"/>
                <a:gd name="T10" fmla="*/ 0 w 53"/>
                <a:gd name="T11" fmla="*/ 0 h 12"/>
                <a:gd name="T12" fmla="*/ 0 w 53"/>
                <a:gd name="T13" fmla="*/ 0 h 1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53" h="12">
                  <a:moveTo>
                    <a:pt x="53" y="5"/>
                  </a:moveTo>
                  <a:lnTo>
                    <a:pt x="46" y="12"/>
                  </a:lnTo>
                  <a:lnTo>
                    <a:pt x="27" y="9"/>
                  </a:lnTo>
                  <a:lnTo>
                    <a:pt x="5" y="9"/>
                  </a:lnTo>
                  <a:lnTo>
                    <a:pt x="0" y="0"/>
                  </a:lnTo>
                  <a:lnTo>
                    <a:pt x="14" y="3"/>
                  </a:lnTo>
                  <a:lnTo>
                    <a:pt x="53"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3" name="Freeform 166"/>
            <p:cNvSpPr>
              <a:spLocks/>
            </p:cNvSpPr>
            <p:nvPr/>
          </p:nvSpPr>
          <p:spPr bwMode="auto">
            <a:xfrm>
              <a:off x="469" y="1982"/>
              <a:ext cx="3" cy="4"/>
            </a:xfrm>
            <a:custGeom>
              <a:avLst/>
              <a:gdLst>
                <a:gd name="T0" fmla="*/ 0 w 11"/>
                <a:gd name="T1" fmla="*/ 0 h 23"/>
                <a:gd name="T2" fmla="*/ 0 w 11"/>
                <a:gd name="T3" fmla="*/ 0 h 23"/>
                <a:gd name="T4" fmla="*/ 0 w 11"/>
                <a:gd name="T5" fmla="*/ 0 h 23"/>
                <a:gd name="T6" fmla="*/ 0 w 11"/>
                <a:gd name="T7" fmla="*/ 0 h 23"/>
                <a:gd name="T8" fmla="*/ 0 w 11"/>
                <a:gd name="T9" fmla="*/ 0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 h="23">
                  <a:moveTo>
                    <a:pt x="0" y="0"/>
                  </a:moveTo>
                  <a:lnTo>
                    <a:pt x="0" y="6"/>
                  </a:lnTo>
                  <a:lnTo>
                    <a:pt x="2" y="18"/>
                  </a:lnTo>
                  <a:lnTo>
                    <a:pt x="11" y="2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4" name="Freeform 167"/>
            <p:cNvSpPr>
              <a:spLocks/>
            </p:cNvSpPr>
            <p:nvPr/>
          </p:nvSpPr>
          <p:spPr bwMode="auto">
            <a:xfrm>
              <a:off x="462" y="1993"/>
              <a:ext cx="2" cy="2"/>
            </a:xfrm>
            <a:custGeom>
              <a:avLst/>
              <a:gdLst>
                <a:gd name="T0" fmla="*/ 0 w 11"/>
                <a:gd name="T1" fmla="*/ 0 h 13"/>
                <a:gd name="T2" fmla="*/ 0 w 11"/>
                <a:gd name="T3" fmla="*/ 0 h 13"/>
                <a:gd name="T4" fmla="*/ 0 w 11"/>
                <a:gd name="T5" fmla="*/ 0 h 13"/>
                <a:gd name="T6" fmla="*/ 0 w 11"/>
                <a:gd name="T7" fmla="*/ 0 h 1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 h="13">
                  <a:moveTo>
                    <a:pt x="0" y="0"/>
                  </a:moveTo>
                  <a:lnTo>
                    <a:pt x="3" y="7"/>
                  </a:lnTo>
                  <a:lnTo>
                    <a:pt x="11" y="1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5" name="Freeform 168"/>
            <p:cNvSpPr>
              <a:spLocks/>
            </p:cNvSpPr>
            <p:nvPr/>
          </p:nvSpPr>
          <p:spPr bwMode="auto">
            <a:xfrm>
              <a:off x="423" y="1977"/>
              <a:ext cx="5" cy="6"/>
            </a:xfrm>
            <a:custGeom>
              <a:avLst/>
              <a:gdLst>
                <a:gd name="T0" fmla="*/ 0 w 25"/>
                <a:gd name="T1" fmla="*/ 0 h 29"/>
                <a:gd name="T2" fmla="*/ 0 w 25"/>
                <a:gd name="T3" fmla="*/ 0 h 29"/>
                <a:gd name="T4" fmla="*/ 0 w 25"/>
                <a:gd name="T5" fmla="*/ 0 h 29"/>
                <a:gd name="T6" fmla="*/ 0 w 25"/>
                <a:gd name="T7" fmla="*/ 0 h 29"/>
                <a:gd name="T8" fmla="*/ 0 w 25"/>
                <a:gd name="T9" fmla="*/ 0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29">
                  <a:moveTo>
                    <a:pt x="25" y="0"/>
                  </a:moveTo>
                  <a:lnTo>
                    <a:pt x="21" y="9"/>
                  </a:lnTo>
                  <a:lnTo>
                    <a:pt x="21" y="17"/>
                  </a:lnTo>
                  <a:lnTo>
                    <a:pt x="0" y="29"/>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6" name="Freeform 169"/>
            <p:cNvSpPr>
              <a:spLocks/>
            </p:cNvSpPr>
            <p:nvPr/>
          </p:nvSpPr>
          <p:spPr bwMode="auto">
            <a:xfrm>
              <a:off x="403" y="1977"/>
              <a:ext cx="16" cy="16"/>
            </a:xfrm>
            <a:custGeom>
              <a:avLst/>
              <a:gdLst>
                <a:gd name="T0" fmla="*/ 0 w 80"/>
                <a:gd name="T1" fmla="*/ 0 h 81"/>
                <a:gd name="T2" fmla="*/ 0 w 80"/>
                <a:gd name="T3" fmla="*/ 0 h 81"/>
                <a:gd name="T4" fmla="*/ 0 w 80"/>
                <a:gd name="T5" fmla="*/ 0 h 81"/>
                <a:gd name="T6" fmla="*/ 0 w 80"/>
                <a:gd name="T7" fmla="*/ 0 h 81"/>
                <a:gd name="T8" fmla="*/ 0 w 80"/>
                <a:gd name="T9" fmla="*/ 0 h 81"/>
                <a:gd name="T10" fmla="*/ 0 w 80"/>
                <a:gd name="T11" fmla="*/ 0 h 8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80" h="81">
                  <a:moveTo>
                    <a:pt x="80" y="0"/>
                  </a:moveTo>
                  <a:lnTo>
                    <a:pt x="66" y="26"/>
                  </a:lnTo>
                  <a:lnTo>
                    <a:pt x="50" y="46"/>
                  </a:lnTo>
                  <a:lnTo>
                    <a:pt x="0" y="81"/>
                  </a:lnTo>
                  <a:lnTo>
                    <a:pt x="47" y="38"/>
                  </a:lnTo>
                  <a:lnTo>
                    <a:pt x="8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7" name="Freeform 170"/>
            <p:cNvSpPr>
              <a:spLocks/>
            </p:cNvSpPr>
            <p:nvPr/>
          </p:nvSpPr>
          <p:spPr bwMode="auto">
            <a:xfrm>
              <a:off x="395" y="2000"/>
              <a:ext cx="4" cy="12"/>
            </a:xfrm>
            <a:custGeom>
              <a:avLst/>
              <a:gdLst>
                <a:gd name="T0" fmla="*/ 0 w 18"/>
                <a:gd name="T1" fmla="*/ 0 h 58"/>
                <a:gd name="T2" fmla="*/ 0 w 18"/>
                <a:gd name="T3" fmla="*/ 0 h 58"/>
                <a:gd name="T4" fmla="*/ 0 w 18"/>
                <a:gd name="T5" fmla="*/ 0 h 58"/>
                <a:gd name="T6" fmla="*/ 0 w 18"/>
                <a:gd name="T7" fmla="*/ 0 h 58"/>
                <a:gd name="T8" fmla="*/ 0 w 18"/>
                <a:gd name="T9" fmla="*/ 0 h 58"/>
                <a:gd name="T10" fmla="*/ 0 w 18"/>
                <a:gd name="T11" fmla="*/ 0 h 58"/>
                <a:gd name="T12" fmla="*/ 0 w 18"/>
                <a:gd name="T13" fmla="*/ 0 h 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8" h="58">
                  <a:moveTo>
                    <a:pt x="0" y="0"/>
                  </a:moveTo>
                  <a:lnTo>
                    <a:pt x="11" y="20"/>
                  </a:lnTo>
                  <a:lnTo>
                    <a:pt x="15" y="41"/>
                  </a:lnTo>
                  <a:lnTo>
                    <a:pt x="16" y="58"/>
                  </a:lnTo>
                  <a:lnTo>
                    <a:pt x="18" y="33"/>
                  </a:lnTo>
                  <a:lnTo>
                    <a:pt x="16" y="1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8" name="Freeform 171"/>
            <p:cNvSpPr>
              <a:spLocks/>
            </p:cNvSpPr>
            <p:nvPr/>
          </p:nvSpPr>
          <p:spPr bwMode="auto">
            <a:xfrm>
              <a:off x="432" y="1988"/>
              <a:ext cx="2" cy="4"/>
            </a:xfrm>
            <a:custGeom>
              <a:avLst/>
              <a:gdLst>
                <a:gd name="T0" fmla="*/ 0 w 9"/>
                <a:gd name="T1" fmla="*/ 0 h 21"/>
                <a:gd name="T2" fmla="*/ 0 w 9"/>
                <a:gd name="T3" fmla="*/ 0 h 21"/>
                <a:gd name="T4" fmla="*/ 0 w 9"/>
                <a:gd name="T5" fmla="*/ 0 h 21"/>
                <a:gd name="T6" fmla="*/ 0 w 9"/>
                <a:gd name="T7" fmla="*/ 0 h 2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21">
                  <a:moveTo>
                    <a:pt x="2" y="0"/>
                  </a:moveTo>
                  <a:lnTo>
                    <a:pt x="0" y="9"/>
                  </a:lnTo>
                  <a:lnTo>
                    <a:pt x="9" y="21"/>
                  </a:lnTo>
                  <a:lnTo>
                    <a:pt x="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79" name="Group 172"/>
          <p:cNvGrpSpPr>
            <a:grpSpLocks/>
          </p:cNvGrpSpPr>
          <p:nvPr/>
        </p:nvGrpSpPr>
        <p:grpSpPr bwMode="auto">
          <a:xfrm>
            <a:off x="1815539" y="3210895"/>
            <a:ext cx="230517" cy="243448"/>
            <a:chOff x="162" y="1828"/>
            <a:chExt cx="229" cy="262"/>
          </a:xfrm>
        </p:grpSpPr>
        <p:sp>
          <p:nvSpPr>
            <p:cNvPr id="180" name="Freeform 173"/>
            <p:cNvSpPr>
              <a:spLocks/>
            </p:cNvSpPr>
            <p:nvPr/>
          </p:nvSpPr>
          <p:spPr bwMode="auto">
            <a:xfrm>
              <a:off x="286" y="1828"/>
              <a:ext cx="7" cy="5"/>
            </a:xfrm>
            <a:custGeom>
              <a:avLst/>
              <a:gdLst>
                <a:gd name="T0" fmla="*/ 0 w 37"/>
                <a:gd name="T1" fmla="*/ 0 h 25"/>
                <a:gd name="T2" fmla="*/ 0 w 37"/>
                <a:gd name="T3" fmla="*/ 0 h 25"/>
                <a:gd name="T4" fmla="*/ 0 w 37"/>
                <a:gd name="T5" fmla="*/ 0 h 25"/>
                <a:gd name="T6" fmla="*/ 0 w 37"/>
                <a:gd name="T7" fmla="*/ 0 h 25"/>
                <a:gd name="T8" fmla="*/ 0 w 37"/>
                <a:gd name="T9" fmla="*/ 0 h 25"/>
                <a:gd name="T10" fmla="*/ 0 w 37"/>
                <a:gd name="T11" fmla="*/ 0 h 25"/>
                <a:gd name="T12" fmla="*/ 0 w 37"/>
                <a:gd name="T13" fmla="*/ 0 h 25"/>
                <a:gd name="T14" fmla="*/ 0 w 37"/>
                <a:gd name="T15" fmla="*/ 0 h 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7" h="25">
                  <a:moveTo>
                    <a:pt x="37" y="0"/>
                  </a:moveTo>
                  <a:lnTo>
                    <a:pt x="26" y="7"/>
                  </a:lnTo>
                  <a:lnTo>
                    <a:pt x="16" y="10"/>
                  </a:lnTo>
                  <a:lnTo>
                    <a:pt x="6" y="16"/>
                  </a:lnTo>
                  <a:lnTo>
                    <a:pt x="0" y="25"/>
                  </a:lnTo>
                  <a:lnTo>
                    <a:pt x="9" y="22"/>
                  </a:lnTo>
                  <a:lnTo>
                    <a:pt x="26" y="17"/>
                  </a:lnTo>
                  <a:lnTo>
                    <a:pt x="3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1" name="Freeform 174"/>
            <p:cNvSpPr>
              <a:spLocks/>
            </p:cNvSpPr>
            <p:nvPr/>
          </p:nvSpPr>
          <p:spPr bwMode="auto">
            <a:xfrm>
              <a:off x="289" y="1837"/>
              <a:ext cx="2" cy="3"/>
            </a:xfrm>
            <a:custGeom>
              <a:avLst/>
              <a:gdLst>
                <a:gd name="T0" fmla="*/ 0 w 9"/>
                <a:gd name="T1" fmla="*/ 0 h 16"/>
                <a:gd name="T2" fmla="*/ 0 w 9"/>
                <a:gd name="T3" fmla="*/ 0 h 16"/>
                <a:gd name="T4" fmla="*/ 0 w 9"/>
                <a:gd name="T5" fmla="*/ 0 h 16"/>
                <a:gd name="T6" fmla="*/ 0 w 9"/>
                <a:gd name="T7" fmla="*/ 0 h 1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16">
                  <a:moveTo>
                    <a:pt x="9" y="0"/>
                  </a:moveTo>
                  <a:lnTo>
                    <a:pt x="0" y="0"/>
                  </a:lnTo>
                  <a:lnTo>
                    <a:pt x="0" y="16"/>
                  </a:lnTo>
                  <a:lnTo>
                    <a:pt x="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2" name="Freeform 175"/>
            <p:cNvSpPr>
              <a:spLocks/>
            </p:cNvSpPr>
            <p:nvPr/>
          </p:nvSpPr>
          <p:spPr bwMode="auto">
            <a:xfrm>
              <a:off x="260" y="1863"/>
              <a:ext cx="62" cy="154"/>
            </a:xfrm>
            <a:custGeom>
              <a:avLst/>
              <a:gdLst>
                <a:gd name="T0" fmla="*/ 0 w 309"/>
                <a:gd name="T1" fmla="*/ 0 h 772"/>
                <a:gd name="T2" fmla="*/ 0 w 309"/>
                <a:gd name="T3" fmla="*/ 0 h 772"/>
                <a:gd name="T4" fmla="*/ 0 w 309"/>
                <a:gd name="T5" fmla="*/ 0 h 772"/>
                <a:gd name="T6" fmla="*/ 0 w 309"/>
                <a:gd name="T7" fmla="*/ 0 h 772"/>
                <a:gd name="T8" fmla="*/ 0 w 309"/>
                <a:gd name="T9" fmla="*/ 0 h 772"/>
                <a:gd name="T10" fmla="*/ 0 w 309"/>
                <a:gd name="T11" fmla="*/ 0 h 772"/>
                <a:gd name="T12" fmla="*/ 0 w 309"/>
                <a:gd name="T13" fmla="*/ 0 h 772"/>
                <a:gd name="T14" fmla="*/ 0 w 309"/>
                <a:gd name="T15" fmla="*/ 0 h 772"/>
                <a:gd name="T16" fmla="*/ 0 w 309"/>
                <a:gd name="T17" fmla="*/ 0 h 772"/>
                <a:gd name="T18" fmla="*/ 0 w 309"/>
                <a:gd name="T19" fmla="*/ 0 h 772"/>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309" h="772">
                  <a:moveTo>
                    <a:pt x="46" y="0"/>
                  </a:moveTo>
                  <a:lnTo>
                    <a:pt x="75" y="32"/>
                  </a:lnTo>
                  <a:lnTo>
                    <a:pt x="84" y="78"/>
                  </a:lnTo>
                  <a:lnTo>
                    <a:pt x="127" y="122"/>
                  </a:lnTo>
                  <a:lnTo>
                    <a:pt x="218" y="330"/>
                  </a:lnTo>
                  <a:lnTo>
                    <a:pt x="269" y="519"/>
                  </a:lnTo>
                  <a:lnTo>
                    <a:pt x="309" y="772"/>
                  </a:lnTo>
                  <a:lnTo>
                    <a:pt x="182" y="659"/>
                  </a:lnTo>
                  <a:lnTo>
                    <a:pt x="0" y="100"/>
                  </a:lnTo>
                  <a:lnTo>
                    <a:pt x="46" y="0"/>
                  </a:lnTo>
                  <a:close/>
                </a:path>
              </a:pathLst>
            </a:custGeom>
            <a:solidFill>
              <a:srgbClr val="40000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3" name="Freeform 176"/>
            <p:cNvSpPr>
              <a:spLocks/>
            </p:cNvSpPr>
            <p:nvPr/>
          </p:nvSpPr>
          <p:spPr bwMode="auto">
            <a:xfrm>
              <a:off x="162" y="1833"/>
              <a:ext cx="229" cy="257"/>
            </a:xfrm>
            <a:custGeom>
              <a:avLst/>
              <a:gdLst>
                <a:gd name="T0" fmla="*/ 0 w 1147"/>
                <a:gd name="T1" fmla="*/ 0 h 1285"/>
                <a:gd name="T2" fmla="*/ 0 w 1147"/>
                <a:gd name="T3" fmla="*/ 0 h 1285"/>
                <a:gd name="T4" fmla="*/ 0 w 1147"/>
                <a:gd name="T5" fmla="*/ 0 h 1285"/>
                <a:gd name="T6" fmla="*/ 0 w 1147"/>
                <a:gd name="T7" fmla="*/ 0 h 1285"/>
                <a:gd name="T8" fmla="*/ 0 w 1147"/>
                <a:gd name="T9" fmla="*/ 0 h 1285"/>
                <a:gd name="T10" fmla="*/ 0 w 1147"/>
                <a:gd name="T11" fmla="*/ 0 h 1285"/>
                <a:gd name="T12" fmla="*/ 0 w 1147"/>
                <a:gd name="T13" fmla="*/ 0 h 1285"/>
                <a:gd name="T14" fmla="*/ 0 w 1147"/>
                <a:gd name="T15" fmla="*/ 0 h 1285"/>
                <a:gd name="T16" fmla="*/ 0 w 1147"/>
                <a:gd name="T17" fmla="*/ 0 h 1285"/>
                <a:gd name="T18" fmla="*/ 0 w 1147"/>
                <a:gd name="T19" fmla="*/ 0 h 1285"/>
                <a:gd name="T20" fmla="*/ 0 w 1147"/>
                <a:gd name="T21" fmla="*/ 0 h 1285"/>
                <a:gd name="T22" fmla="*/ 0 w 1147"/>
                <a:gd name="T23" fmla="*/ 0 h 1285"/>
                <a:gd name="T24" fmla="*/ 0 w 1147"/>
                <a:gd name="T25" fmla="*/ 0 h 1285"/>
                <a:gd name="T26" fmla="*/ 0 w 1147"/>
                <a:gd name="T27" fmla="*/ 0 h 1285"/>
                <a:gd name="T28" fmla="*/ 0 w 1147"/>
                <a:gd name="T29" fmla="*/ 0 h 1285"/>
                <a:gd name="T30" fmla="*/ 0 w 1147"/>
                <a:gd name="T31" fmla="*/ 0 h 1285"/>
                <a:gd name="T32" fmla="*/ 0 w 1147"/>
                <a:gd name="T33" fmla="*/ 0 h 1285"/>
                <a:gd name="T34" fmla="*/ 0 w 1147"/>
                <a:gd name="T35" fmla="*/ 0 h 1285"/>
                <a:gd name="T36" fmla="*/ 0 w 1147"/>
                <a:gd name="T37" fmla="*/ 0 h 1285"/>
                <a:gd name="T38" fmla="*/ 0 w 1147"/>
                <a:gd name="T39" fmla="*/ 0 h 1285"/>
                <a:gd name="T40" fmla="*/ 0 w 1147"/>
                <a:gd name="T41" fmla="*/ 0 h 1285"/>
                <a:gd name="T42" fmla="*/ 0 w 1147"/>
                <a:gd name="T43" fmla="*/ 0 h 1285"/>
                <a:gd name="T44" fmla="*/ 0 w 1147"/>
                <a:gd name="T45" fmla="*/ 0 h 1285"/>
                <a:gd name="T46" fmla="*/ 0 w 1147"/>
                <a:gd name="T47" fmla="*/ 0 h 1285"/>
                <a:gd name="T48" fmla="*/ 0 w 1147"/>
                <a:gd name="T49" fmla="*/ 0 h 1285"/>
                <a:gd name="T50" fmla="*/ 0 w 1147"/>
                <a:gd name="T51" fmla="*/ 0 h 1285"/>
                <a:gd name="T52" fmla="*/ 0 w 1147"/>
                <a:gd name="T53" fmla="*/ 0 h 1285"/>
                <a:gd name="T54" fmla="*/ 0 w 1147"/>
                <a:gd name="T55" fmla="*/ 0 h 1285"/>
                <a:gd name="T56" fmla="*/ 0 w 1147"/>
                <a:gd name="T57" fmla="*/ 0 h 1285"/>
                <a:gd name="T58" fmla="*/ 0 w 1147"/>
                <a:gd name="T59" fmla="*/ 0 h 1285"/>
                <a:gd name="T60" fmla="*/ 0 w 1147"/>
                <a:gd name="T61" fmla="*/ 0 h 1285"/>
                <a:gd name="T62" fmla="*/ 0 w 1147"/>
                <a:gd name="T63" fmla="*/ 0 h 1285"/>
                <a:gd name="T64" fmla="*/ 0 w 1147"/>
                <a:gd name="T65" fmla="*/ 0 h 1285"/>
                <a:gd name="T66" fmla="*/ 0 w 1147"/>
                <a:gd name="T67" fmla="*/ 0 h 1285"/>
                <a:gd name="T68" fmla="*/ 0 w 1147"/>
                <a:gd name="T69" fmla="*/ 0 h 1285"/>
                <a:gd name="T70" fmla="*/ 0 w 1147"/>
                <a:gd name="T71" fmla="*/ 0 h 1285"/>
                <a:gd name="T72" fmla="*/ 0 w 1147"/>
                <a:gd name="T73" fmla="*/ 0 h 1285"/>
                <a:gd name="T74" fmla="*/ 0 w 1147"/>
                <a:gd name="T75" fmla="*/ 0 h 1285"/>
                <a:gd name="T76" fmla="*/ 0 w 1147"/>
                <a:gd name="T77" fmla="*/ 0 h 1285"/>
                <a:gd name="T78" fmla="*/ 0 w 1147"/>
                <a:gd name="T79" fmla="*/ 0 h 1285"/>
                <a:gd name="T80" fmla="*/ 0 w 1147"/>
                <a:gd name="T81" fmla="*/ 0 h 1285"/>
                <a:gd name="T82" fmla="*/ 0 w 1147"/>
                <a:gd name="T83" fmla="*/ 0 h 1285"/>
                <a:gd name="T84" fmla="*/ 0 w 1147"/>
                <a:gd name="T85" fmla="*/ 0 h 1285"/>
                <a:gd name="T86" fmla="*/ 0 w 1147"/>
                <a:gd name="T87" fmla="*/ 0 h 1285"/>
                <a:gd name="T88" fmla="*/ 0 w 1147"/>
                <a:gd name="T89" fmla="*/ 0 h 1285"/>
                <a:gd name="T90" fmla="*/ 0 w 1147"/>
                <a:gd name="T91" fmla="*/ 0 h 1285"/>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147" h="1285">
                  <a:moveTo>
                    <a:pt x="212" y="67"/>
                  </a:moveTo>
                  <a:lnTo>
                    <a:pt x="247" y="0"/>
                  </a:lnTo>
                  <a:lnTo>
                    <a:pt x="528" y="116"/>
                  </a:lnTo>
                  <a:lnTo>
                    <a:pt x="541" y="206"/>
                  </a:lnTo>
                  <a:lnTo>
                    <a:pt x="563" y="238"/>
                  </a:lnTo>
                  <a:lnTo>
                    <a:pt x="595" y="274"/>
                  </a:lnTo>
                  <a:lnTo>
                    <a:pt x="614" y="339"/>
                  </a:lnTo>
                  <a:lnTo>
                    <a:pt x="676" y="487"/>
                  </a:lnTo>
                  <a:lnTo>
                    <a:pt x="727" y="663"/>
                  </a:lnTo>
                  <a:lnTo>
                    <a:pt x="748" y="780"/>
                  </a:lnTo>
                  <a:lnTo>
                    <a:pt x="974" y="785"/>
                  </a:lnTo>
                  <a:lnTo>
                    <a:pt x="1011" y="807"/>
                  </a:lnTo>
                  <a:lnTo>
                    <a:pt x="1115" y="807"/>
                  </a:lnTo>
                  <a:lnTo>
                    <a:pt x="1143" y="853"/>
                  </a:lnTo>
                  <a:lnTo>
                    <a:pt x="1147" y="907"/>
                  </a:lnTo>
                  <a:lnTo>
                    <a:pt x="1137" y="956"/>
                  </a:lnTo>
                  <a:lnTo>
                    <a:pt x="1042" y="974"/>
                  </a:lnTo>
                  <a:lnTo>
                    <a:pt x="997" y="1041"/>
                  </a:lnTo>
                  <a:lnTo>
                    <a:pt x="907" y="1064"/>
                  </a:lnTo>
                  <a:lnTo>
                    <a:pt x="840" y="1064"/>
                  </a:lnTo>
                  <a:lnTo>
                    <a:pt x="763" y="1079"/>
                  </a:lnTo>
                  <a:lnTo>
                    <a:pt x="759" y="1110"/>
                  </a:lnTo>
                  <a:lnTo>
                    <a:pt x="763" y="1177"/>
                  </a:lnTo>
                  <a:lnTo>
                    <a:pt x="754" y="1223"/>
                  </a:lnTo>
                  <a:lnTo>
                    <a:pt x="713" y="1227"/>
                  </a:lnTo>
                  <a:lnTo>
                    <a:pt x="663" y="1236"/>
                  </a:lnTo>
                  <a:lnTo>
                    <a:pt x="614" y="1282"/>
                  </a:lnTo>
                  <a:lnTo>
                    <a:pt x="554" y="1282"/>
                  </a:lnTo>
                  <a:lnTo>
                    <a:pt x="501" y="1276"/>
                  </a:lnTo>
                  <a:lnTo>
                    <a:pt x="420" y="1250"/>
                  </a:lnTo>
                  <a:lnTo>
                    <a:pt x="330" y="1259"/>
                  </a:lnTo>
                  <a:lnTo>
                    <a:pt x="238" y="1285"/>
                  </a:lnTo>
                  <a:lnTo>
                    <a:pt x="153" y="1267"/>
                  </a:lnTo>
                  <a:lnTo>
                    <a:pt x="95" y="1200"/>
                  </a:lnTo>
                  <a:lnTo>
                    <a:pt x="99" y="1128"/>
                  </a:lnTo>
                  <a:lnTo>
                    <a:pt x="76" y="1038"/>
                  </a:lnTo>
                  <a:lnTo>
                    <a:pt x="64" y="920"/>
                  </a:lnTo>
                  <a:lnTo>
                    <a:pt x="36" y="812"/>
                  </a:lnTo>
                  <a:lnTo>
                    <a:pt x="0" y="650"/>
                  </a:lnTo>
                  <a:lnTo>
                    <a:pt x="4" y="487"/>
                  </a:lnTo>
                  <a:lnTo>
                    <a:pt x="4" y="342"/>
                  </a:lnTo>
                  <a:lnTo>
                    <a:pt x="14" y="243"/>
                  </a:lnTo>
                  <a:lnTo>
                    <a:pt x="36" y="198"/>
                  </a:lnTo>
                  <a:lnTo>
                    <a:pt x="87" y="162"/>
                  </a:lnTo>
                  <a:lnTo>
                    <a:pt x="145" y="102"/>
                  </a:lnTo>
                  <a:lnTo>
                    <a:pt x="212" y="67"/>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4" name="Freeform 177"/>
            <p:cNvSpPr>
              <a:spLocks/>
            </p:cNvSpPr>
            <p:nvPr/>
          </p:nvSpPr>
          <p:spPr bwMode="auto">
            <a:xfrm>
              <a:off x="166" y="1848"/>
              <a:ext cx="145" cy="240"/>
            </a:xfrm>
            <a:custGeom>
              <a:avLst/>
              <a:gdLst>
                <a:gd name="T0" fmla="*/ 0 w 725"/>
                <a:gd name="T1" fmla="*/ 0 h 1198"/>
                <a:gd name="T2" fmla="*/ 0 w 725"/>
                <a:gd name="T3" fmla="*/ 0 h 1198"/>
                <a:gd name="T4" fmla="*/ 0 w 725"/>
                <a:gd name="T5" fmla="*/ 0 h 1198"/>
                <a:gd name="T6" fmla="*/ 0 w 725"/>
                <a:gd name="T7" fmla="*/ 0 h 1198"/>
                <a:gd name="T8" fmla="*/ 0 w 725"/>
                <a:gd name="T9" fmla="*/ 0 h 1198"/>
                <a:gd name="T10" fmla="*/ 0 w 725"/>
                <a:gd name="T11" fmla="*/ 0 h 1198"/>
                <a:gd name="T12" fmla="*/ 0 w 725"/>
                <a:gd name="T13" fmla="*/ 0 h 1198"/>
                <a:gd name="T14" fmla="*/ 0 w 725"/>
                <a:gd name="T15" fmla="*/ 0 h 1198"/>
                <a:gd name="T16" fmla="*/ 0 w 725"/>
                <a:gd name="T17" fmla="*/ 0 h 1198"/>
                <a:gd name="T18" fmla="*/ 0 w 725"/>
                <a:gd name="T19" fmla="*/ 0 h 1198"/>
                <a:gd name="T20" fmla="*/ 0 w 725"/>
                <a:gd name="T21" fmla="*/ 0 h 1198"/>
                <a:gd name="T22" fmla="*/ 0 w 725"/>
                <a:gd name="T23" fmla="*/ 0 h 1198"/>
                <a:gd name="T24" fmla="*/ 0 w 725"/>
                <a:gd name="T25" fmla="*/ 0 h 1198"/>
                <a:gd name="T26" fmla="*/ 0 w 725"/>
                <a:gd name="T27" fmla="*/ 0 h 1198"/>
                <a:gd name="T28" fmla="*/ 0 w 725"/>
                <a:gd name="T29" fmla="*/ 0 h 1198"/>
                <a:gd name="T30" fmla="*/ 0 w 725"/>
                <a:gd name="T31" fmla="*/ 0 h 1198"/>
                <a:gd name="T32" fmla="*/ 0 w 725"/>
                <a:gd name="T33" fmla="*/ 0 h 1198"/>
                <a:gd name="T34" fmla="*/ 0 w 725"/>
                <a:gd name="T35" fmla="*/ 0 h 1198"/>
                <a:gd name="T36" fmla="*/ 0 w 725"/>
                <a:gd name="T37" fmla="*/ 0 h 1198"/>
                <a:gd name="T38" fmla="*/ 0 w 725"/>
                <a:gd name="T39" fmla="*/ 0 h 1198"/>
                <a:gd name="T40" fmla="*/ 0 w 725"/>
                <a:gd name="T41" fmla="*/ 0 h 1198"/>
                <a:gd name="T42" fmla="*/ 0 w 725"/>
                <a:gd name="T43" fmla="*/ 0 h 1198"/>
                <a:gd name="T44" fmla="*/ 0 w 725"/>
                <a:gd name="T45" fmla="*/ 0 h 1198"/>
                <a:gd name="T46" fmla="*/ 0 w 725"/>
                <a:gd name="T47" fmla="*/ 0 h 1198"/>
                <a:gd name="T48" fmla="*/ 0 w 725"/>
                <a:gd name="T49" fmla="*/ 0 h 1198"/>
                <a:gd name="T50" fmla="*/ 0 w 725"/>
                <a:gd name="T51" fmla="*/ 0 h 1198"/>
                <a:gd name="T52" fmla="*/ 0 w 725"/>
                <a:gd name="T53" fmla="*/ 0 h 1198"/>
                <a:gd name="T54" fmla="*/ 0 w 725"/>
                <a:gd name="T55" fmla="*/ 0 h 1198"/>
                <a:gd name="T56" fmla="*/ 0 w 725"/>
                <a:gd name="T57" fmla="*/ 0 h 1198"/>
                <a:gd name="T58" fmla="*/ 0 w 725"/>
                <a:gd name="T59" fmla="*/ 0 h 1198"/>
                <a:gd name="T60" fmla="*/ 0 w 725"/>
                <a:gd name="T61" fmla="*/ 0 h 1198"/>
                <a:gd name="T62" fmla="*/ 0 w 725"/>
                <a:gd name="T63" fmla="*/ 0 h 1198"/>
                <a:gd name="T64" fmla="*/ 0 w 725"/>
                <a:gd name="T65" fmla="*/ 0 h 1198"/>
                <a:gd name="T66" fmla="*/ 0 w 725"/>
                <a:gd name="T67" fmla="*/ 0 h 1198"/>
                <a:gd name="T68" fmla="*/ 0 w 725"/>
                <a:gd name="T69" fmla="*/ 0 h 1198"/>
                <a:gd name="T70" fmla="*/ 0 w 725"/>
                <a:gd name="T71" fmla="*/ 0 h 1198"/>
                <a:gd name="T72" fmla="*/ 0 w 725"/>
                <a:gd name="T73" fmla="*/ 0 h 1198"/>
                <a:gd name="T74" fmla="*/ 0 w 725"/>
                <a:gd name="T75" fmla="*/ 0 h 1198"/>
                <a:gd name="T76" fmla="*/ 0 w 725"/>
                <a:gd name="T77" fmla="*/ 0 h 119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725" h="1198">
                  <a:moveTo>
                    <a:pt x="725" y="1005"/>
                  </a:moveTo>
                  <a:lnTo>
                    <a:pt x="630" y="990"/>
                  </a:lnTo>
                  <a:lnTo>
                    <a:pt x="549" y="986"/>
                  </a:lnTo>
                  <a:lnTo>
                    <a:pt x="460" y="978"/>
                  </a:lnTo>
                  <a:lnTo>
                    <a:pt x="359" y="963"/>
                  </a:lnTo>
                  <a:lnTo>
                    <a:pt x="314" y="932"/>
                  </a:lnTo>
                  <a:lnTo>
                    <a:pt x="193" y="780"/>
                  </a:lnTo>
                  <a:lnTo>
                    <a:pt x="256" y="825"/>
                  </a:lnTo>
                  <a:lnTo>
                    <a:pt x="297" y="861"/>
                  </a:lnTo>
                  <a:lnTo>
                    <a:pt x="274" y="753"/>
                  </a:lnTo>
                  <a:lnTo>
                    <a:pt x="228" y="712"/>
                  </a:lnTo>
                  <a:lnTo>
                    <a:pt x="162" y="600"/>
                  </a:lnTo>
                  <a:lnTo>
                    <a:pt x="225" y="653"/>
                  </a:lnTo>
                  <a:lnTo>
                    <a:pt x="266" y="668"/>
                  </a:lnTo>
                  <a:lnTo>
                    <a:pt x="256" y="590"/>
                  </a:lnTo>
                  <a:lnTo>
                    <a:pt x="211" y="532"/>
                  </a:lnTo>
                  <a:lnTo>
                    <a:pt x="167" y="487"/>
                  </a:lnTo>
                  <a:lnTo>
                    <a:pt x="121" y="355"/>
                  </a:lnTo>
                  <a:lnTo>
                    <a:pt x="207" y="464"/>
                  </a:lnTo>
                  <a:lnTo>
                    <a:pt x="256" y="504"/>
                  </a:lnTo>
                  <a:lnTo>
                    <a:pt x="261" y="337"/>
                  </a:lnTo>
                  <a:lnTo>
                    <a:pt x="274" y="271"/>
                  </a:lnTo>
                  <a:lnTo>
                    <a:pt x="301" y="240"/>
                  </a:lnTo>
                  <a:lnTo>
                    <a:pt x="341" y="190"/>
                  </a:lnTo>
                  <a:lnTo>
                    <a:pt x="405" y="167"/>
                  </a:lnTo>
                  <a:lnTo>
                    <a:pt x="437" y="153"/>
                  </a:lnTo>
                  <a:lnTo>
                    <a:pt x="347" y="68"/>
                  </a:lnTo>
                  <a:lnTo>
                    <a:pt x="251" y="90"/>
                  </a:lnTo>
                  <a:lnTo>
                    <a:pt x="188" y="127"/>
                  </a:lnTo>
                  <a:lnTo>
                    <a:pt x="167" y="162"/>
                  </a:lnTo>
                  <a:lnTo>
                    <a:pt x="184" y="107"/>
                  </a:lnTo>
                  <a:lnTo>
                    <a:pt x="220" y="90"/>
                  </a:lnTo>
                  <a:lnTo>
                    <a:pt x="278" y="68"/>
                  </a:lnTo>
                  <a:lnTo>
                    <a:pt x="324" y="60"/>
                  </a:lnTo>
                  <a:lnTo>
                    <a:pt x="297" y="45"/>
                  </a:lnTo>
                  <a:lnTo>
                    <a:pt x="251" y="32"/>
                  </a:lnTo>
                  <a:lnTo>
                    <a:pt x="211" y="17"/>
                  </a:lnTo>
                  <a:lnTo>
                    <a:pt x="188" y="0"/>
                  </a:lnTo>
                  <a:lnTo>
                    <a:pt x="136" y="37"/>
                  </a:lnTo>
                  <a:lnTo>
                    <a:pt x="104" y="68"/>
                  </a:lnTo>
                  <a:lnTo>
                    <a:pt x="73" y="107"/>
                  </a:lnTo>
                  <a:lnTo>
                    <a:pt x="27" y="130"/>
                  </a:lnTo>
                  <a:lnTo>
                    <a:pt x="18" y="172"/>
                  </a:lnTo>
                  <a:lnTo>
                    <a:pt x="0" y="240"/>
                  </a:lnTo>
                  <a:lnTo>
                    <a:pt x="0" y="342"/>
                  </a:lnTo>
                  <a:lnTo>
                    <a:pt x="5" y="450"/>
                  </a:lnTo>
                  <a:lnTo>
                    <a:pt x="8" y="573"/>
                  </a:lnTo>
                  <a:lnTo>
                    <a:pt x="31" y="698"/>
                  </a:lnTo>
                  <a:lnTo>
                    <a:pt x="58" y="830"/>
                  </a:lnTo>
                  <a:lnTo>
                    <a:pt x="73" y="941"/>
                  </a:lnTo>
                  <a:lnTo>
                    <a:pt x="95" y="1022"/>
                  </a:lnTo>
                  <a:lnTo>
                    <a:pt x="90" y="1095"/>
                  </a:lnTo>
                  <a:lnTo>
                    <a:pt x="99" y="1135"/>
                  </a:lnTo>
                  <a:lnTo>
                    <a:pt x="131" y="1166"/>
                  </a:lnTo>
                  <a:lnTo>
                    <a:pt x="171" y="1193"/>
                  </a:lnTo>
                  <a:lnTo>
                    <a:pt x="225" y="1198"/>
                  </a:lnTo>
                  <a:lnTo>
                    <a:pt x="251" y="1185"/>
                  </a:lnTo>
                  <a:lnTo>
                    <a:pt x="288" y="1181"/>
                  </a:lnTo>
                  <a:lnTo>
                    <a:pt x="374" y="1163"/>
                  </a:lnTo>
                  <a:lnTo>
                    <a:pt x="337" y="1118"/>
                  </a:lnTo>
                  <a:lnTo>
                    <a:pt x="297" y="1053"/>
                  </a:lnTo>
                  <a:lnTo>
                    <a:pt x="356" y="1099"/>
                  </a:lnTo>
                  <a:lnTo>
                    <a:pt x="401" y="1140"/>
                  </a:lnTo>
                  <a:lnTo>
                    <a:pt x="433" y="1163"/>
                  </a:lnTo>
                  <a:lnTo>
                    <a:pt x="477" y="1185"/>
                  </a:lnTo>
                  <a:lnTo>
                    <a:pt x="527" y="1185"/>
                  </a:lnTo>
                  <a:lnTo>
                    <a:pt x="575" y="1185"/>
                  </a:lnTo>
                  <a:lnTo>
                    <a:pt x="603" y="1172"/>
                  </a:lnTo>
                  <a:lnTo>
                    <a:pt x="616" y="1158"/>
                  </a:lnTo>
                  <a:lnTo>
                    <a:pt x="553" y="1122"/>
                  </a:lnTo>
                  <a:lnTo>
                    <a:pt x="491" y="1063"/>
                  </a:lnTo>
                  <a:lnTo>
                    <a:pt x="472" y="1036"/>
                  </a:lnTo>
                  <a:lnTo>
                    <a:pt x="523" y="1050"/>
                  </a:lnTo>
                  <a:lnTo>
                    <a:pt x="598" y="1108"/>
                  </a:lnTo>
                  <a:lnTo>
                    <a:pt x="630" y="1135"/>
                  </a:lnTo>
                  <a:lnTo>
                    <a:pt x="702" y="1140"/>
                  </a:lnTo>
                  <a:lnTo>
                    <a:pt x="725" y="1126"/>
                  </a:lnTo>
                  <a:lnTo>
                    <a:pt x="725" y="1095"/>
                  </a:lnTo>
                  <a:lnTo>
                    <a:pt x="725" y="1005"/>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5" name="Freeform 178"/>
            <p:cNvSpPr>
              <a:spLocks/>
            </p:cNvSpPr>
            <p:nvPr/>
          </p:nvSpPr>
          <p:spPr bwMode="auto">
            <a:xfrm>
              <a:off x="176" y="1968"/>
              <a:ext cx="43" cy="110"/>
            </a:xfrm>
            <a:custGeom>
              <a:avLst/>
              <a:gdLst>
                <a:gd name="T0" fmla="*/ 0 w 211"/>
                <a:gd name="T1" fmla="*/ 0 h 553"/>
                <a:gd name="T2" fmla="*/ 0 w 211"/>
                <a:gd name="T3" fmla="*/ 0 h 553"/>
                <a:gd name="T4" fmla="*/ 0 w 211"/>
                <a:gd name="T5" fmla="*/ 0 h 553"/>
                <a:gd name="T6" fmla="*/ 0 w 211"/>
                <a:gd name="T7" fmla="*/ 0 h 553"/>
                <a:gd name="T8" fmla="*/ 0 w 211"/>
                <a:gd name="T9" fmla="*/ 0 h 553"/>
                <a:gd name="T10" fmla="*/ 0 w 211"/>
                <a:gd name="T11" fmla="*/ 0 h 553"/>
                <a:gd name="T12" fmla="*/ 0 w 211"/>
                <a:gd name="T13" fmla="*/ 0 h 553"/>
                <a:gd name="T14" fmla="*/ 0 w 211"/>
                <a:gd name="T15" fmla="*/ 0 h 553"/>
                <a:gd name="T16" fmla="*/ 0 w 211"/>
                <a:gd name="T17" fmla="*/ 0 h 553"/>
                <a:gd name="T18" fmla="*/ 0 w 211"/>
                <a:gd name="T19" fmla="*/ 0 h 553"/>
                <a:gd name="T20" fmla="*/ 0 w 211"/>
                <a:gd name="T21" fmla="*/ 0 h 553"/>
                <a:gd name="T22" fmla="*/ 0 w 211"/>
                <a:gd name="T23" fmla="*/ 0 h 553"/>
                <a:gd name="T24" fmla="*/ 0 w 211"/>
                <a:gd name="T25" fmla="*/ 0 h 553"/>
                <a:gd name="T26" fmla="*/ 0 w 211"/>
                <a:gd name="T27" fmla="*/ 0 h 5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11" h="553">
                  <a:moveTo>
                    <a:pt x="211" y="553"/>
                  </a:moveTo>
                  <a:lnTo>
                    <a:pt x="173" y="535"/>
                  </a:lnTo>
                  <a:lnTo>
                    <a:pt x="134" y="490"/>
                  </a:lnTo>
                  <a:lnTo>
                    <a:pt x="99" y="410"/>
                  </a:lnTo>
                  <a:lnTo>
                    <a:pt x="81" y="342"/>
                  </a:lnTo>
                  <a:lnTo>
                    <a:pt x="53" y="265"/>
                  </a:lnTo>
                  <a:lnTo>
                    <a:pt x="41" y="192"/>
                  </a:lnTo>
                  <a:lnTo>
                    <a:pt x="19" y="81"/>
                  </a:lnTo>
                  <a:lnTo>
                    <a:pt x="0" y="0"/>
                  </a:lnTo>
                  <a:lnTo>
                    <a:pt x="45" y="162"/>
                  </a:lnTo>
                  <a:lnTo>
                    <a:pt x="81" y="287"/>
                  </a:lnTo>
                  <a:lnTo>
                    <a:pt x="121" y="373"/>
                  </a:lnTo>
                  <a:lnTo>
                    <a:pt x="183" y="463"/>
                  </a:lnTo>
                  <a:lnTo>
                    <a:pt x="211" y="55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6" name="Freeform 179"/>
            <p:cNvSpPr>
              <a:spLocks/>
            </p:cNvSpPr>
            <p:nvPr/>
          </p:nvSpPr>
          <p:spPr bwMode="auto">
            <a:xfrm>
              <a:off x="220" y="1878"/>
              <a:ext cx="167" cy="167"/>
            </a:xfrm>
            <a:custGeom>
              <a:avLst/>
              <a:gdLst>
                <a:gd name="T0" fmla="*/ 0 w 838"/>
                <a:gd name="T1" fmla="*/ 0 h 832"/>
                <a:gd name="T2" fmla="*/ 0 w 838"/>
                <a:gd name="T3" fmla="*/ 0 h 832"/>
                <a:gd name="T4" fmla="*/ 0 w 838"/>
                <a:gd name="T5" fmla="*/ 0 h 832"/>
                <a:gd name="T6" fmla="*/ 0 w 838"/>
                <a:gd name="T7" fmla="*/ 0 h 832"/>
                <a:gd name="T8" fmla="*/ 0 w 838"/>
                <a:gd name="T9" fmla="*/ 0 h 832"/>
                <a:gd name="T10" fmla="*/ 0 w 838"/>
                <a:gd name="T11" fmla="*/ 0 h 832"/>
                <a:gd name="T12" fmla="*/ 0 w 838"/>
                <a:gd name="T13" fmla="*/ 0 h 832"/>
                <a:gd name="T14" fmla="*/ 0 w 838"/>
                <a:gd name="T15" fmla="*/ 0 h 832"/>
                <a:gd name="T16" fmla="*/ 0 w 838"/>
                <a:gd name="T17" fmla="*/ 0 h 832"/>
                <a:gd name="T18" fmla="*/ 0 w 838"/>
                <a:gd name="T19" fmla="*/ 0 h 832"/>
                <a:gd name="T20" fmla="*/ 0 w 838"/>
                <a:gd name="T21" fmla="*/ 0 h 832"/>
                <a:gd name="T22" fmla="*/ 0 w 838"/>
                <a:gd name="T23" fmla="*/ 0 h 832"/>
                <a:gd name="T24" fmla="*/ 0 w 838"/>
                <a:gd name="T25" fmla="*/ 0 h 832"/>
                <a:gd name="T26" fmla="*/ 0 w 838"/>
                <a:gd name="T27" fmla="*/ 0 h 832"/>
                <a:gd name="T28" fmla="*/ 0 w 838"/>
                <a:gd name="T29" fmla="*/ 0 h 832"/>
                <a:gd name="T30" fmla="*/ 0 w 838"/>
                <a:gd name="T31" fmla="*/ 0 h 832"/>
                <a:gd name="T32" fmla="*/ 0 w 838"/>
                <a:gd name="T33" fmla="*/ 0 h 832"/>
                <a:gd name="T34" fmla="*/ 0 w 838"/>
                <a:gd name="T35" fmla="*/ 0 h 832"/>
                <a:gd name="T36" fmla="*/ 0 w 838"/>
                <a:gd name="T37" fmla="*/ 0 h 832"/>
                <a:gd name="T38" fmla="*/ 0 w 838"/>
                <a:gd name="T39" fmla="*/ 0 h 832"/>
                <a:gd name="T40" fmla="*/ 0 w 838"/>
                <a:gd name="T41" fmla="*/ 0 h 832"/>
                <a:gd name="T42" fmla="*/ 0 w 838"/>
                <a:gd name="T43" fmla="*/ 0 h 832"/>
                <a:gd name="T44" fmla="*/ 0 w 838"/>
                <a:gd name="T45" fmla="*/ 0 h 832"/>
                <a:gd name="T46" fmla="*/ 0 w 838"/>
                <a:gd name="T47" fmla="*/ 0 h 832"/>
                <a:gd name="T48" fmla="*/ 0 w 838"/>
                <a:gd name="T49" fmla="*/ 0 h 832"/>
                <a:gd name="T50" fmla="*/ 0 w 838"/>
                <a:gd name="T51" fmla="*/ 0 h 832"/>
                <a:gd name="T52" fmla="*/ 0 w 838"/>
                <a:gd name="T53" fmla="*/ 0 h 832"/>
                <a:gd name="T54" fmla="*/ 0 w 838"/>
                <a:gd name="T55" fmla="*/ 0 h 832"/>
                <a:gd name="T56" fmla="*/ 0 w 838"/>
                <a:gd name="T57" fmla="*/ 0 h 832"/>
                <a:gd name="T58" fmla="*/ 0 w 838"/>
                <a:gd name="T59" fmla="*/ 0 h 832"/>
                <a:gd name="T60" fmla="*/ 0 w 838"/>
                <a:gd name="T61" fmla="*/ 0 h 832"/>
                <a:gd name="T62" fmla="*/ 0 w 838"/>
                <a:gd name="T63" fmla="*/ 0 h 832"/>
                <a:gd name="T64" fmla="*/ 0 w 838"/>
                <a:gd name="T65" fmla="*/ 0 h 832"/>
                <a:gd name="T66" fmla="*/ 0 w 838"/>
                <a:gd name="T67" fmla="*/ 0 h 832"/>
                <a:gd name="T68" fmla="*/ 0 w 838"/>
                <a:gd name="T69" fmla="*/ 0 h 832"/>
                <a:gd name="T70" fmla="*/ 0 w 838"/>
                <a:gd name="T71" fmla="*/ 0 h 832"/>
                <a:gd name="T72" fmla="*/ 0 w 838"/>
                <a:gd name="T73" fmla="*/ 0 h 832"/>
                <a:gd name="T74" fmla="*/ 0 w 838"/>
                <a:gd name="T75" fmla="*/ 0 h 832"/>
                <a:gd name="T76" fmla="*/ 0 w 838"/>
                <a:gd name="T77" fmla="*/ 0 h 832"/>
                <a:gd name="T78" fmla="*/ 0 w 838"/>
                <a:gd name="T79" fmla="*/ 0 h 832"/>
                <a:gd name="T80" fmla="*/ 0 w 838"/>
                <a:gd name="T81" fmla="*/ 0 h 832"/>
                <a:gd name="T82" fmla="*/ 0 w 838"/>
                <a:gd name="T83" fmla="*/ 0 h 832"/>
                <a:gd name="T84" fmla="*/ 0 w 838"/>
                <a:gd name="T85" fmla="*/ 0 h 832"/>
                <a:gd name="T86" fmla="*/ 0 w 838"/>
                <a:gd name="T87" fmla="*/ 0 h 832"/>
                <a:gd name="T88" fmla="*/ 0 w 838"/>
                <a:gd name="T89" fmla="*/ 0 h 832"/>
                <a:gd name="T90" fmla="*/ 0 w 838"/>
                <a:gd name="T91" fmla="*/ 0 h 832"/>
                <a:gd name="T92" fmla="*/ 0 w 838"/>
                <a:gd name="T93" fmla="*/ 0 h 832"/>
                <a:gd name="T94" fmla="*/ 0 w 838"/>
                <a:gd name="T95" fmla="*/ 0 h 832"/>
                <a:gd name="T96" fmla="*/ 0 w 838"/>
                <a:gd name="T97" fmla="*/ 0 h 832"/>
                <a:gd name="T98" fmla="*/ 0 w 838"/>
                <a:gd name="T99" fmla="*/ 0 h 832"/>
                <a:gd name="T100" fmla="*/ 0 w 838"/>
                <a:gd name="T101" fmla="*/ 0 h 832"/>
                <a:gd name="T102" fmla="*/ 0 w 838"/>
                <a:gd name="T103" fmla="*/ 0 h 832"/>
                <a:gd name="T104" fmla="*/ 0 w 838"/>
                <a:gd name="T105" fmla="*/ 0 h 832"/>
                <a:gd name="T106" fmla="*/ 0 w 838"/>
                <a:gd name="T107" fmla="*/ 0 h 832"/>
                <a:gd name="T108" fmla="*/ 0 w 838"/>
                <a:gd name="T109" fmla="*/ 0 h 832"/>
                <a:gd name="T110" fmla="*/ 0 w 838"/>
                <a:gd name="T111" fmla="*/ 0 h 83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838" h="832">
                  <a:moveTo>
                    <a:pt x="155" y="0"/>
                  </a:moveTo>
                  <a:lnTo>
                    <a:pt x="253" y="30"/>
                  </a:lnTo>
                  <a:lnTo>
                    <a:pt x="298" y="70"/>
                  </a:lnTo>
                  <a:lnTo>
                    <a:pt x="326" y="153"/>
                  </a:lnTo>
                  <a:lnTo>
                    <a:pt x="326" y="228"/>
                  </a:lnTo>
                  <a:lnTo>
                    <a:pt x="311" y="272"/>
                  </a:lnTo>
                  <a:lnTo>
                    <a:pt x="320" y="350"/>
                  </a:lnTo>
                  <a:lnTo>
                    <a:pt x="320" y="408"/>
                  </a:lnTo>
                  <a:lnTo>
                    <a:pt x="306" y="423"/>
                  </a:lnTo>
                  <a:lnTo>
                    <a:pt x="320" y="445"/>
                  </a:lnTo>
                  <a:lnTo>
                    <a:pt x="329" y="467"/>
                  </a:lnTo>
                  <a:lnTo>
                    <a:pt x="311" y="490"/>
                  </a:lnTo>
                  <a:lnTo>
                    <a:pt x="311" y="513"/>
                  </a:lnTo>
                  <a:lnTo>
                    <a:pt x="347" y="521"/>
                  </a:lnTo>
                  <a:lnTo>
                    <a:pt x="343" y="544"/>
                  </a:lnTo>
                  <a:lnTo>
                    <a:pt x="378" y="557"/>
                  </a:lnTo>
                  <a:lnTo>
                    <a:pt x="411" y="548"/>
                  </a:lnTo>
                  <a:lnTo>
                    <a:pt x="433" y="557"/>
                  </a:lnTo>
                  <a:lnTo>
                    <a:pt x="532" y="571"/>
                  </a:lnTo>
                  <a:lnTo>
                    <a:pt x="622" y="567"/>
                  </a:lnTo>
                  <a:lnTo>
                    <a:pt x="679" y="571"/>
                  </a:lnTo>
                  <a:lnTo>
                    <a:pt x="717" y="594"/>
                  </a:lnTo>
                  <a:lnTo>
                    <a:pt x="807" y="594"/>
                  </a:lnTo>
                  <a:lnTo>
                    <a:pt x="838" y="625"/>
                  </a:lnTo>
                  <a:lnTo>
                    <a:pt x="838" y="660"/>
                  </a:lnTo>
                  <a:lnTo>
                    <a:pt x="833" y="719"/>
                  </a:lnTo>
                  <a:lnTo>
                    <a:pt x="762" y="738"/>
                  </a:lnTo>
                  <a:lnTo>
                    <a:pt x="762" y="700"/>
                  </a:lnTo>
                  <a:lnTo>
                    <a:pt x="757" y="669"/>
                  </a:lnTo>
                  <a:lnTo>
                    <a:pt x="743" y="656"/>
                  </a:lnTo>
                  <a:lnTo>
                    <a:pt x="739" y="692"/>
                  </a:lnTo>
                  <a:lnTo>
                    <a:pt x="734" y="738"/>
                  </a:lnTo>
                  <a:lnTo>
                    <a:pt x="717" y="765"/>
                  </a:lnTo>
                  <a:lnTo>
                    <a:pt x="685" y="800"/>
                  </a:lnTo>
                  <a:lnTo>
                    <a:pt x="610" y="818"/>
                  </a:lnTo>
                  <a:lnTo>
                    <a:pt x="550" y="828"/>
                  </a:lnTo>
                  <a:lnTo>
                    <a:pt x="482" y="832"/>
                  </a:lnTo>
                  <a:lnTo>
                    <a:pt x="569" y="782"/>
                  </a:lnTo>
                  <a:lnTo>
                    <a:pt x="627" y="738"/>
                  </a:lnTo>
                  <a:lnTo>
                    <a:pt x="639" y="700"/>
                  </a:lnTo>
                  <a:lnTo>
                    <a:pt x="631" y="669"/>
                  </a:lnTo>
                  <a:lnTo>
                    <a:pt x="582" y="665"/>
                  </a:lnTo>
                  <a:lnTo>
                    <a:pt x="564" y="700"/>
                  </a:lnTo>
                  <a:lnTo>
                    <a:pt x="550" y="742"/>
                  </a:lnTo>
                  <a:lnTo>
                    <a:pt x="505" y="787"/>
                  </a:lnTo>
                  <a:lnTo>
                    <a:pt x="456" y="823"/>
                  </a:lnTo>
                  <a:lnTo>
                    <a:pt x="406" y="828"/>
                  </a:lnTo>
                  <a:lnTo>
                    <a:pt x="329" y="823"/>
                  </a:lnTo>
                  <a:lnTo>
                    <a:pt x="411" y="759"/>
                  </a:lnTo>
                  <a:lnTo>
                    <a:pt x="469" y="727"/>
                  </a:lnTo>
                  <a:lnTo>
                    <a:pt x="514" y="692"/>
                  </a:lnTo>
                  <a:lnTo>
                    <a:pt x="528" y="665"/>
                  </a:lnTo>
                  <a:lnTo>
                    <a:pt x="524" y="637"/>
                  </a:lnTo>
                  <a:lnTo>
                    <a:pt x="497" y="633"/>
                  </a:lnTo>
                  <a:lnTo>
                    <a:pt x="465" y="660"/>
                  </a:lnTo>
                  <a:lnTo>
                    <a:pt x="447" y="697"/>
                  </a:lnTo>
                  <a:lnTo>
                    <a:pt x="406" y="742"/>
                  </a:lnTo>
                  <a:lnTo>
                    <a:pt x="356" y="765"/>
                  </a:lnTo>
                  <a:lnTo>
                    <a:pt x="320" y="787"/>
                  </a:lnTo>
                  <a:lnTo>
                    <a:pt x="280" y="805"/>
                  </a:lnTo>
                  <a:lnTo>
                    <a:pt x="234" y="813"/>
                  </a:lnTo>
                  <a:lnTo>
                    <a:pt x="181" y="813"/>
                  </a:lnTo>
                  <a:lnTo>
                    <a:pt x="129" y="804"/>
                  </a:lnTo>
                  <a:lnTo>
                    <a:pt x="244" y="765"/>
                  </a:lnTo>
                  <a:lnTo>
                    <a:pt x="288" y="742"/>
                  </a:lnTo>
                  <a:lnTo>
                    <a:pt x="320" y="700"/>
                  </a:lnTo>
                  <a:lnTo>
                    <a:pt x="326" y="665"/>
                  </a:lnTo>
                  <a:lnTo>
                    <a:pt x="298" y="665"/>
                  </a:lnTo>
                  <a:lnTo>
                    <a:pt x="285" y="697"/>
                  </a:lnTo>
                  <a:lnTo>
                    <a:pt x="262" y="723"/>
                  </a:lnTo>
                  <a:lnTo>
                    <a:pt x="225" y="751"/>
                  </a:lnTo>
                  <a:lnTo>
                    <a:pt x="185" y="779"/>
                  </a:lnTo>
                  <a:lnTo>
                    <a:pt x="132" y="802"/>
                  </a:lnTo>
                  <a:lnTo>
                    <a:pt x="91" y="787"/>
                  </a:lnTo>
                  <a:lnTo>
                    <a:pt x="72" y="765"/>
                  </a:lnTo>
                  <a:lnTo>
                    <a:pt x="42" y="709"/>
                  </a:lnTo>
                  <a:lnTo>
                    <a:pt x="100" y="697"/>
                  </a:lnTo>
                  <a:lnTo>
                    <a:pt x="212" y="683"/>
                  </a:lnTo>
                  <a:lnTo>
                    <a:pt x="280" y="652"/>
                  </a:lnTo>
                  <a:lnTo>
                    <a:pt x="315" y="621"/>
                  </a:lnTo>
                  <a:lnTo>
                    <a:pt x="329" y="585"/>
                  </a:lnTo>
                  <a:lnTo>
                    <a:pt x="334" y="567"/>
                  </a:lnTo>
                  <a:lnTo>
                    <a:pt x="315" y="567"/>
                  </a:lnTo>
                  <a:lnTo>
                    <a:pt x="293" y="594"/>
                  </a:lnTo>
                  <a:lnTo>
                    <a:pt x="257" y="642"/>
                  </a:lnTo>
                  <a:lnTo>
                    <a:pt x="176" y="669"/>
                  </a:lnTo>
                  <a:lnTo>
                    <a:pt x="100" y="693"/>
                  </a:lnTo>
                  <a:lnTo>
                    <a:pt x="42" y="709"/>
                  </a:lnTo>
                  <a:lnTo>
                    <a:pt x="19" y="616"/>
                  </a:lnTo>
                  <a:lnTo>
                    <a:pt x="14" y="548"/>
                  </a:lnTo>
                  <a:lnTo>
                    <a:pt x="14" y="489"/>
                  </a:lnTo>
                  <a:lnTo>
                    <a:pt x="91" y="530"/>
                  </a:lnTo>
                  <a:lnTo>
                    <a:pt x="181" y="548"/>
                  </a:lnTo>
                  <a:lnTo>
                    <a:pt x="253" y="544"/>
                  </a:lnTo>
                  <a:lnTo>
                    <a:pt x="271" y="536"/>
                  </a:lnTo>
                  <a:lnTo>
                    <a:pt x="280" y="513"/>
                  </a:lnTo>
                  <a:lnTo>
                    <a:pt x="239" y="513"/>
                  </a:lnTo>
                  <a:lnTo>
                    <a:pt x="196" y="526"/>
                  </a:lnTo>
                  <a:lnTo>
                    <a:pt x="88" y="530"/>
                  </a:lnTo>
                  <a:lnTo>
                    <a:pt x="14" y="490"/>
                  </a:lnTo>
                  <a:lnTo>
                    <a:pt x="10" y="405"/>
                  </a:lnTo>
                  <a:lnTo>
                    <a:pt x="5" y="345"/>
                  </a:lnTo>
                  <a:lnTo>
                    <a:pt x="0" y="287"/>
                  </a:lnTo>
                  <a:lnTo>
                    <a:pt x="10" y="188"/>
                  </a:lnTo>
                  <a:lnTo>
                    <a:pt x="32" y="153"/>
                  </a:lnTo>
                  <a:lnTo>
                    <a:pt x="100" y="108"/>
                  </a:lnTo>
                  <a:lnTo>
                    <a:pt x="78" y="113"/>
                  </a:lnTo>
                  <a:lnTo>
                    <a:pt x="10" y="143"/>
                  </a:lnTo>
                  <a:lnTo>
                    <a:pt x="37" y="81"/>
                  </a:lnTo>
                  <a:lnTo>
                    <a:pt x="60" y="48"/>
                  </a:lnTo>
                  <a:lnTo>
                    <a:pt x="78" y="26"/>
                  </a:lnTo>
                  <a:lnTo>
                    <a:pt x="155"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7" name="Freeform 180"/>
            <p:cNvSpPr>
              <a:spLocks/>
            </p:cNvSpPr>
            <p:nvPr/>
          </p:nvSpPr>
          <p:spPr bwMode="auto">
            <a:xfrm>
              <a:off x="231" y="1940"/>
              <a:ext cx="42" cy="38"/>
            </a:xfrm>
            <a:custGeom>
              <a:avLst/>
              <a:gdLst>
                <a:gd name="T0" fmla="*/ 0 w 209"/>
                <a:gd name="T1" fmla="*/ 0 h 187"/>
                <a:gd name="T2" fmla="*/ 0 w 209"/>
                <a:gd name="T3" fmla="*/ 0 h 187"/>
                <a:gd name="T4" fmla="*/ 0 w 209"/>
                <a:gd name="T5" fmla="*/ 0 h 187"/>
                <a:gd name="T6" fmla="*/ 0 w 209"/>
                <a:gd name="T7" fmla="*/ 0 h 187"/>
                <a:gd name="T8" fmla="*/ 0 w 209"/>
                <a:gd name="T9" fmla="*/ 0 h 187"/>
                <a:gd name="T10" fmla="*/ 0 w 209"/>
                <a:gd name="T11" fmla="*/ 0 h 187"/>
                <a:gd name="T12" fmla="*/ 0 w 209"/>
                <a:gd name="T13" fmla="*/ 0 h 187"/>
                <a:gd name="T14" fmla="*/ 0 w 209"/>
                <a:gd name="T15" fmla="*/ 0 h 187"/>
                <a:gd name="T16" fmla="*/ 0 w 209"/>
                <a:gd name="T17" fmla="*/ 0 h 187"/>
                <a:gd name="T18" fmla="*/ 0 w 209"/>
                <a:gd name="T19" fmla="*/ 0 h 187"/>
                <a:gd name="T20" fmla="*/ 0 w 209"/>
                <a:gd name="T21" fmla="*/ 0 h 187"/>
                <a:gd name="T22" fmla="*/ 0 w 209"/>
                <a:gd name="T23" fmla="*/ 0 h 187"/>
                <a:gd name="T24" fmla="*/ 0 w 209"/>
                <a:gd name="T25" fmla="*/ 0 h 187"/>
                <a:gd name="T26" fmla="*/ 0 w 209"/>
                <a:gd name="T27" fmla="*/ 0 h 187"/>
                <a:gd name="T28" fmla="*/ 0 w 209"/>
                <a:gd name="T29" fmla="*/ 0 h 187"/>
                <a:gd name="T30" fmla="*/ 0 w 209"/>
                <a:gd name="T31" fmla="*/ 0 h 187"/>
                <a:gd name="T32" fmla="*/ 0 w 209"/>
                <a:gd name="T33" fmla="*/ 0 h 187"/>
                <a:gd name="T34" fmla="*/ 0 w 209"/>
                <a:gd name="T35" fmla="*/ 0 h 187"/>
                <a:gd name="T36" fmla="*/ 0 w 209"/>
                <a:gd name="T37" fmla="*/ 0 h 187"/>
                <a:gd name="T38" fmla="*/ 0 w 209"/>
                <a:gd name="T39" fmla="*/ 0 h 187"/>
                <a:gd name="T40" fmla="*/ 0 w 209"/>
                <a:gd name="T41" fmla="*/ 0 h 187"/>
                <a:gd name="T42" fmla="*/ 0 w 209"/>
                <a:gd name="T43" fmla="*/ 0 h 187"/>
                <a:gd name="T44" fmla="*/ 0 w 209"/>
                <a:gd name="T45" fmla="*/ 0 h 187"/>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09" h="187">
                  <a:moveTo>
                    <a:pt x="209" y="0"/>
                  </a:moveTo>
                  <a:lnTo>
                    <a:pt x="209" y="15"/>
                  </a:lnTo>
                  <a:lnTo>
                    <a:pt x="182" y="51"/>
                  </a:lnTo>
                  <a:lnTo>
                    <a:pt x="157" y="71"/>
                  </a:lnTo>
                  <a:lnTo>
                    <a:pt x="100" y="113"/>
                  </a:lnTo>
                  <a:lnTo>
                    <a:pt x="77" y="130"/>
                  </a:lnTo>
                  <a:lnTo>
                    <a:pt x="25" y="170"/>
                  </a:lnTo>
                  <a:lnTo>
                    <a:pt x="82" y="152"/>
                  </a:lnTo>
                  <a:lnTo>
                    <a:pt x="140" y="135"/>
                  </a:lnTo>
                  <a:lnTo>
                    <a:pt x="198" y="130"/>
                  </a:lnTo>
                  <a:lnTo>
                    <a:pt x="194" y="147"/>
                  </a:lnTo>
                  <a:lnTo>
                    <a:pt x="100" y="164"/>
                  </a:lnTo>
                  <a:lnTo>
                    <a:pt x="52" y="184"/>
                  </a:lnTo>
                  <a:lnTo>
                    <a:pt x="25" y="187"/>
                  </a:lnTo>
                  <a:lnTo>
                    <a:pt x="2" y="180"/>
                  </a:lnTo>
                  <a:lnTo>
                    <a:pt x="0" y="158"/>
                  </a:lnTo>
                  <a:lnTo>
                    <a:pt x="18" y="141"/>
                  </a:lnTo>
                  <a:lnTo>
                    <a:pt x="44" y="116"/>
                  </a:lnTo>
                  <a:lnTo>
                    <a:pt x="75" y="80"/>
                  </a:lnTo>
                  <a:lnTo>
                    <a:pt x="107" y="40"/>
                  </a:lnTo>
                  <a:lnTo>
                    <a:pt x="144" y="12"/>
                  </a:lnTo>
                  <a:lnTo>
                    <a:pt x="184" y="2"/>
                  </a:lnTo>
                  <a:lnTo>
                    <a:pt x="209"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8" name="Freeform 181"/>
            <p:cNvSpPr>
              <a:spLocks/>
            </p:cNvSpPr>
            <p:nvPr/>
          </p:nvSpPr>
          <p:spPr bwMode="auto">
            <a:xfrm>
              <a:off x="232" y="1909"/>
              <a:ext cx="39" cy="49"/>
            </a:xfrm>
            <a:custGeom>
              <a:avLst/>
              <a:gdLst>
                <a:gd name="T0" fmla="*/ 0 w 192"/>
                <a:gd name="T1" fmla="*/ 0 h 246"/>
                <a:gd name="T2" fmla="*/ 0 w 192"/>
                <a:gd name="T3" fmla="*/ 0 h 246"/>
                <a:gd name="T4" fmla="*/ 0 w 192"/>
                <a:gd name="T5" fmla="*/ 0 h 246"/>
                <a:gd name="T6" fmla="*/ 0 w 192"/>
                <a:gd name="T7" fmla="*/ 0 h 246"/>
                <a:gd name="T8" fmla="*/ 0 w 192"/>
                <a:gd name="T9" fmla="*/ 0 h 246"/>
                <a:gd name="T10" fmla="*/ 0 w 192"/>
                <a:gd name="T11" fmla="*/ 0 h 246"/>
                <a:gd name="T12" fmla="*/ 0 w 192"/>
                <a:gd name="T13" fmla="*/ 0 h 246"/>
                <a:gd name="T14" fmla="*/ 0 w 192"/>
                <a:gd name="T15" fmla="*/ 0 h 246"/>
                <a:gd name="T16" fmla="*/ 0 w 192"/>
                <a:gd name="T17" fmla="*/ 0 h 246"/>
                <a:gd name="T18" fmla="*/ 0 w 192"/>
                <a:gd name="T19" fmla="*/ 0 h 246"/>
                <a:gd name="T20" fmla="*/ 0 w 192"/>
                <a:gd name="T21" fmla="*/ 0 h 246"/>
                <a:gd name="T22" fmla="*/ 0 w 192"/>
                <a:gd name="T23" fmla="*/ 0 h 246"/>
                <a:gd name="T24" fmla="*/ 0 w 192"/>
                <a:gd name="T25" fmla="*/ 0 h 246"/>
                <a:gd name="T26" fmla="*/ 0 w 192"/>
                <a:gd name="T27" fmla="*/ 0 h 246"/>
                <a:gd name="T28" fmla="*/ 0 w 192"/>
                <a:gd name="T29" fmla="*/ 0 h 246"/>
                <a:gd name="T30" fmla="*/ 0 w 192"/>
                <a:gd name="T31" fmla="*/ 0 h 246"/>
                <a:gd name="T32" fmla="*/ 0 w 192"/>
                <a:gd name="T33" fmla="*/ 0 h 24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92" h="246">
                  <a:moveTo>
                    <a:pt x="156" y="0"/>
                  </a:moveTo>
                  <a:lnTo>
                    <a:pt x="183" y="4"/>
                  </a:lnTo>
                  <a:lnTo>
                    <a:pt x="192" y="27"/>
                  </a:lnTo>
                  <a:lnTo>
                    <a:pt x="190" y="46"/>
                  </a:lnTo>
                  <a:lnTo>
                    <a:pt x="174" y="71"/>
                  </a:lnTo>
                  <a:lnTo>
                    <a:pt x="152" y="78"/>
                  </a:lnTo>
                  <a:lnTo>
                    <a:pt x="110" y="106"/>
                  </a:lnTo>
                  <a:lnTo>
                    <a:pt x="69" y="140"/>
                  </a:lnTo>
                  <a:lnTo>
                    <a:pt x="41" y="184"/>
                  </a:lnTo>
                  <a:lnTo>
                    <a:pt x="8" y="231"/>
                  </a:lnTo>
                  <a:lnTo>
                    <a:pt x="0" y="246"/>
                  </a:lnTo>
                  <a:lnTo>
                    <a:pt x="8" y="190"/>
                  </a:lnTo>
                  <a:lnTo>
                    <a:pt x="16" y="141"/>
                  </a:lnTo>
                  <a:lnTo>
                    <a:pt x="31" y="99"/>
                  </a:lnTo>
                  <a:lnTo>
                    <a:pt x="57" y="60"/>
                  </a:lnTo>
                  <a:lnTo>
                    <a:pt x="128" y="6"/>
                  </a:lnTo>
                  <a:lnTo>
                    <a:pt x="156"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9" name="Freeform 182"/>
            <p:cNvSpPr>
              <a:spLocks/>
            </p:cNvSpPr>
            <p:nvPr/>
          </p:nvSpPr>
          <p:spPr bwMode="auto">
            <a:xfrm>
              <a:off x="237" y="1860"/>
              <a:ext cx="41" cy="29"/>
            </a:xfrm>
            <a:custGeom>
              <a:avLst/>
              <a:gdLst>
                <a:gd name="T0" fmla="*/ 0 w 204"/>
                <a:gd name="T1" fmla="*/ 0 h 141"/>
                <a:gd name="T2" fmla="*/ 0 w 204"/>
                <a:gd name="T3" fmla="*/ 0 h 141"/>
                <a:gd name="T4" fmla="*/ 0 w 204"/>
                <a:gd name="T5" fmla="*/ 0 h 141"/>
                <a:gd name="T6" fmla="*/ 0 w 204"/>
                <a:gd name="T7" fmla="*/ 0 h 141"/>
                <a:gd name="T8" fmla="*/ 0 w 204"/>
                <a:gd name="T9" fmla="*/ 0 h 141"/>
                <a:gd name="T10" fmla="*/ 0 w 204"/>
                <a:gd name="T11" fmla="*/ 0 h 141"/>
                <a:gd name="T12" fmla="*/ 0 w 204"/>
                <a:gd name="T13" fmla="*/ 0 h 141"/>
                <a:gd name="T14" fmla="*/ 0 w 204"/>
                <a:gd name="T15" fmla="*/ 0 h 141"/>
                <a:gd name="T16" fmla="*/ 0 w 204"/>
                <a:gd name="T17" fmla="*/ 0 h 141"/>
                <a:gd name="T18" fmla="*/ 0 w 204"/>
                <a:gd name="T19" fmla="*/ 0 h 14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04" h="141">
                  <a:moveTo>
                    <a:pt x="204" y="141"/>
                  </a:moveTo>
                  <a:lnTo>
                    <a:pt x="169" y="110"/>
                  </a:lnTo>
                  <a:lnTo>
                    <a:pt x="111" y="89"/>
                  </a:lnTo>
                  <a:lnTo>
                    <a:pt x="71" y="78"/>
                  </a:lnTo>
                  <a:lnTo>
                    <a:pt x="0" y="0"/>
                  </a:lnTo>
                  <a:lnTo>
                    <a:pt x="53" y="30"/>
                  </a:lnTo>
                  <a:lnTo>
                    <a:pt x="103" y="51"/>
                  </a:lnTo>
                  <a:lnTo>
                    <a:pt x="138" y="69"/>
                  </a:lnTo>
                  <a:lnTo>
                    <a:pt x="155" y="89"/>
                  </a:lnTo>
                  <a:lnTo>
                    <a:pt x="204" y="14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0" name="Freeform 183"/>
            <p:cNvSpPr>
              <a:spLocks/>
            </p:cNvSpPr>
            <p:nvPr/>
          </p:nvSpPr>
          <p:spPr bwMode="auto">
            <a:xfrm>
              <a:off x="286" y="1913"/>
              <a:ext cx="23" cy="73"/>
            </a:xfrm>
            <a:custGeom>
              <a:avLst/>
              <a:gdLst>
                <a:gd name="T0" fmla="*/ 0 w 115"/>
                <a:gd name="T1" fmla="*/ 0 h 368"/>
                <a:gd name="T2" fmla="*/ 0 w 115"/>
                <a:gd name="T3" fmla="*/ 0 h 368"/>
                <a:gd name="T4" fmla="*/ 0 w 115"/>
                <a:gd name="T5" fmla="*/ 0 h 368"/>
                <a:gd name="T6" fmla="*/ 0 w 115"/>
                <a:gd name="T7" fmla="*/ 0 h 368"/>
                <a:gd name="T8" fmla="*/ 0 w 115"/>
                <a:gd name="T9" fmla="*/ 0 h 368"/>
                <a:gd name="T10" fmla="*/ 0 w 115"/>
                <a:gd name="T11" fmla="*/ 0 h 368"/>
                <a:gd name="T12" fmla="*/ 0 w 115"/>
                <a:gd name="T13" fmla="*/ 0 h 368"/>
                <a:gd name="T14" fmla="*/ 0 w 115"/>
                <a:gd name="T15" fmla="*/ 0 h 368"/>
                <a:gd name="T16" fmla="*/ 0 w 115"/>
                <a:gd name="T17" fmla="*/ 0 h 368"/>
                <a:gd name="T18" fmla="*/ 0 w 115"/>
                <a:gd name="T19" fmla="*/ 0 h 368"/>
                <a:gd name="T20" fmla="*/ 0 w 115"/>
                <a:gd name="T21" fmla="*/ 0 h 368"/>
                <a:gd name="T22" fmla="*/ 0 w 115"/>
                <a:gd name="T23" fmla="*/ 0 h 368"/>
                <a:gd name="T24" fmla="*/ 0 w 115"/>
                <a:gd name="T25" fmla="*/ 0 h 368"/>
                <a:gd name="T26" fmla="*/ 0 w 115"/>
                <a:gd name="T27" fmla="*/ 0 h 368"/>
                <a:gd name="T28" fmla="*/ 0 w 115"/>
                <a:gd name="T29" fmla="*/ 0 h 368"/>
                <a:gd name="T30" fmla="*/ 0 w 115"/>
                <a:gd name="T31" fmla="*/ 0 h 368"/>
                <a:gd name="T32" fmla="*/ 0 w 115"/>
                <a:gd name="T33" fmla="*/ 0 h 368"/>
                <a:gd name="T34" fmla="*/ 0 w 115"/>
                <a:gd name="T35" fmla="*/ 0 h 368"/>
                <a:gd name="T36" fmla="*/ 0 w 115"/>
                <a:gd name="T37" fmla="*/ 0 h 36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5" h="368">
                  <a:moveTo>
                    <a:pt x="115" y="368"/>
                  </a:moveTo>
                  <a:lnTo>
                    <a:pt x="58" y="368"/>
                  </a:lnTo>
                  <a:lnTo>
                    <a:pt x="40" y="364"/>
                  </a:lnTo>
                  <a:lnTo>
                    <a:pt x="40" y="349"/>
                  </a:lnTo>
                  <a:lnTo>
                    <a:pt x="28" y="336"/>
                  </a:lnTo>
                  <a:lnTo>
                    <a:pt x="9" y="323"/>
                  </a:lnTo>
                  <a:lnTo>
                    <a:pt x="19" y="309"/>
                  </a:lnTo>
                  <a:lnTo>
                    <a:pt x="19" y="291"/>
                  </a:lnTo>
                  <a:lnTo>
                    <a:pt x="5" y="269"/>
                  </a:lnTo>
                  <a:lnTo>
                    <a:pt x="5" y="246"/>
                  </a:lnTo>
                  <a:lnTo>
                    <a:pt x="14" y="219"/>
                  </a:lnTo>
                  <a:lnTo>
                    <a:pt x="14" y="161"/>
                  </a:lnTo>
                  <a:lnTo>
                    <a:pt x="0" y="107"/>
                  </a:lnTo>
                  <a:lnTo>
                    <a:pt x="5" y="67"/>
                  </a:lnTo>
                  <a:lnTo>
                    <a:pt x="5" y="0"/>
                  </a:lnTo>
                  <a:lnTo>
                    <a:pt x="40" y="101"/>
                  </a:lnTo>
                  <a:lnTo>
                    <a:pt x="71" y="197"/>
                  </a:lnTo>
                  <a:lnTo>
                    <a:pt x="93" y="300"/>
                  </a:lnTo>
                  <a:lnTo>
                    <a:pt x="115" y="368"/>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1" name="Freeform 184"/>
            <p:cNvSpPr>
              <a:spLocks/>
            </p:cNvSpPr>
            <p:nvPr/>
          </p:nvSpPr>
          <p:spPr bwMode="auto">
            <a:xfrm>
              <a:off x="233" y="1992"/>
              <a:ext cx="41" cy="14"/>
            </a:xfrm>
            <a:custGeom>
              <a:avLst/>
              <a:gdLst>
                <a:gd name="T0" fmla="*/ 0 w 206"/>
                <a:gd name="T1" fmla="*/ 0 h 69"/>
                <a:gd name="T2" fmla="*/ 0 w 206"/>
                <a:gd name="T3" fmla="*/ 0 h 69"/>
                <a:gd name="T4" fmla="*/ 0 w 206"/>
                <a:gd name="T5" fmla="*/ 0 h 69"/>
                <a:gd name="T6" fmla="*/ 0 w 206"/>
                <a:gd name="T7" fmla="*/ 0 h 69"/>
                <a:gd name="T8" fmla="*/ 0 w 206"/>
                <a:gd name="T9" fmla="*/ 0 h 69"/>
                <a:gd name="T10" fmla="*/ 0 w 206"/>
                <a:gd name="T11" fmla="*/ 0 h 69"/>
                <a:gd name="T12" fmla="*/ 0 w 206"/>
                <a:gd name="T13" fmla="*/ 0 h 69"/>
                <a:gd name="T14" fmla="*/ 0 w 206"/>
                <a:gd name="T15" fmla="*/ 0 h 69"/>
                <a:gd name="T16" fmla="*/ 0 w 206"/>
                <a:gd name="T17" fmla="*/ 0 h 69"/>
                <a:gd name="T18" fmla="*/ 0 w 206"/>
                <a:gd name="T19" fmla="*/ 0 h 69"/>
                <a:gd name="T20" fmla="*/ 0 w 206"/>
                <a:gd name="T21" fmla="*/ 0 h 69"/>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06" h="69">
                  <a:moveTo>
                    <a:pt x="42" y="34"/>
                  </a:moveTo>
                  <a:lnTo>
                    <a:pt x="87" y="15"/>
                  </a:lnTo>
                  <a:lnTo>
                    <a:pt x="129" y="3"/>
                  </a:lnTo>
                  <a:lnTo>
                    <a:pt x="184" y="0"/>
                  </a:lnTo>
                  <a:lnTo>
                    <a:pt x="206" y="4"/>
                  </a:lnTo>
                  <a:lnTo>
                    <a:pt x="196" y="26"/>
                  </a:lnTo>
                  <a:lnTo>
                    <a:pt x="174" y="43"/>
                  </a:lnTo>
                  <a:lnTo>
                    <a:pt x="126" y="57"/>
                  </a:lnTo>
                  <a:lnTo>
                    <a:pt x="50" y="69"/>
                  </a:lnTo>
                  <a:lnTo>
                    <a:pt x="0" y="65"/>
                  </a:lnTo>
                  <a:lnTo>
                    <a:pt x="42" y="3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2" name="Freeform 185"/>
            <p:cNvSpPr>
              <a:spLocks/>
            </p:cNvSpPr>
            <p:nvPr/>
          </p:nvSpPr>
          <p:spPr bwMode="auto">
            <a:xfrm>
              <a:off x="284" y="1999"/>
              <a:ext cx="25" cy="31"/>
            </a:xfrm>
            <a:custGeom>
              <a:avLst/>
              <a:gdLst>
                <a:gd name="T0" fmla="*/ 0 w 124"/>
                <a:gd name="T1" fmla="*/ 0 h 154"/>
                <a:gd name="T2" fmla="*/ 0 w 124"/>
                <a:gd name="T3" fmla="*/ 0 h 154"/>
                <a:gd name="T4" fmla="*/ 0 w 124"/>
                <a:gd name="T5" fmla="*/ 0 h 154"/>
                <a:gd name="T6" fmla="*/ 0 w 124"/>
                <a:gd name="T7" fmla="*/ 0 h 154"/>
                <a:gd name="T8" fmla="*/ 0 w 124"/>
                <a:gd name="T9" fmla="*/ 0 h 154"/>
                <a:gd name="T10" fmla="*/ 0 w 124"/>
                <a:gd name="T11" fmla="*/ 0 h 154"/>
                <a:gd name="T12" fmla="*/ 0 w 124"/>
                <a:gd name="T13" fmla="*/ 0 h 154"/>
                <a:gd name="T14" fmla="*/ 0 w 124"/>
                <a:gd name="T15" fmla="*/ 0 h 154"/>
                <a:gd name="T16" fmla="*/ 0 w 124"/>
                <a:gd name="T17" fmla="*/ 0 h 154"/>
                <a:gd name="T18" fmla="*/ 0 w 124"/>
                <a:gd name="T19" fmla="*/ 0 h 154"/>
                <a:gd name="T20" fmla="*/ 0 w 124"/>
                <a:gd name="T21" fmla="*/ 0 h 154"/>
                <a:gd name="T22" fmla="*/ 0 w 124"/>
                <a:gd name="T23" fmla="*/ 0 h 154"/>
                <a:gd name="T24" fmla="*/ 0 w 124"/>
                <a:gd name="T25" fmla="*/ 0 h 15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24" h="154">
                  <a:moveTo>
                    <a:pt x="67" y="43"/>
                  </a:moveTo>
                  <a:lnTo>
                    <a:pt x="82" y="9"/>
                  </a:lnTo>
                  <a:lnTo>
                    <a:pt x="106" y="0"/>
                  </a:lnTo>
                  <a:lnTo>
                    <a:pt x="122" y="7"/>
                  </a:lnTo>
                  <a:lnTo>
                    <a:pt x="124" y="25"/>
                  </a:lnTo>
                  <a:lnTo>
                    <a:pt x="114" y="55"/>
                  </a:lnTo>
                  <a:lnTo>
                    <a:pt x="95" y="82"/>
                  </a:lnTo>
                  <a:lnTo>
                    <a:pt x="73" y="108"/>
                  </a:lnTo>
                  <a:lnTo>
                    <a:pt x="45" y="133"/>
                  </a:lnTo>
                  <a:lnTo>
                    <a:pt x="0" y="154"/>
                  </a:lnTo>
                  <a:lnTo>
                    <a:pt x="40" y="110"/>
                  </a:lnTo>
                  <a:lnTo>
                    <a:pt x="53" y="78"/>
                  </a:lnTo>
                  <a:lnTo>
                    <a:pt x="67" y="4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3" name="Freeform 186"/>
            <p:cNvSpPr>
              <a:spLocks/>
            </p:cNvSpPr>
            <p:nvPr/>
          </p:nvSpPr>
          <p:spPr bwMode="auto">
            <a:xfrm>
              <a:off x="208" y="1836"/>
              <a:ext cx="60" cy="37"/>
            </a:xfrm>
            <a:custGeom>
              <a:avLst/>
              <a:gdLst>
                <a:gd name="T0" fmla="*/ 0 w 298"/>
                <a:gd name="T1" fmla="*/ 0 h 186"/>
                <a:gd name="T2" fmla="*/ 0 w 298"/>
                <a:gd name="T3" fmla="*/ 0 h 186"/>
                <a:gd name="T4" fmla="*/ 0 w 298"/>
                <a:gd name="T5" fmla="*/ 0 h 186"/>
                <a:gd name="T6" fmla="*/ 0 w 298"/>
                <a:gd name="T7" fmla="*/ 0 h 186"/>
                <a:gd name="T8" fmla="*/ 0 w 298"/>
                <a:gd name="T9" fmla="*/ 0 h 186"/>
                <a:gd name="T10" fmla="*/ 0 w 298"/>
                <a:gd name="T11" fmla="*/ 0 h 186"/>
                <a:gd name="T12" fmla="*/ 0 w 298"/>
                <a:gd name="T13" fmla="*/ 0 h 186"/>
                <a:gd name="T14" fmla="*/ 0 w 298"/>
                <a:gd name="T15" fmla="*/ 0 h 186"/>
                <a:gd name="T16" fmla="*/ 0 w 298"/>
                <a:gd name="T17" fmla="*/ 0 h 186"/>
                <a:gd name="T18" fmla="*/ 0 w 298"/>
                <a:gd name="T19" fmla="*/ 0 h 186"/>
                <a:gd name="T20" fmla="*/ 0 w 298"/>
                <a:gd name="T21" fmla="*/ 0 h 186"/>
                <a:gd name="T22" fmla="*/ 0 w 298"/>
                <a:gd name="T23" fmla="*/ 0 h 18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98" h="186">
                  <a:moveTo>
                    <a:pt x="298" y="186"/>
                  </a:moveTo>
                  <a:lnTo>
                    <a:pt x="289" y="109"/>
                  </a:lnTo>
                  <a:lnTo>
                    <a:pt x="226" y="82"/>
                  </a:lnTo>
                  <a:lnTo>
                    <a:pt x="142" y="49"/>
                  </a:lnTo>
                  <a:lnTo>
                    <a:pt x="80" y="25"/>
                  </a:lnTo>
                  <a:lnTo>
                    <a:pt x="23" y="0"/>
                  </a:lnTo>
                  <a:lnTo>
                    <a:pt x="0" y="53"/>
                  </a:lnTo>
                  <a:lnTo>
                    <a:pt x="55" y="84"/>
                  </a:lnTo>
                  <a:lnTo>
                    <a:pt x="119" y="107"/>
                  </a:lnTo>
                  <a:lnTo>
                    <a:pt x="168" y="122"/>
                  </a:lnTo>
                  <a:lnTo>
                    <a:pt x="229" y="154"/>
                  </a:lnTo>
                  <a:lnTo>
                    <a:pt x="298" y="186"/>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94" name="Group 187"/>
          <p:cNvGrpSpPr>
            <a:grpSpLocks/>
          </p:cNvGrpSpPr>
          <p:nvPr/>
        </p:nvGrpSpPr>
        <p:grpSpPr bwMode="auto">
          <a:xfrm>
            <a:off x="1794400" y="3380007"/>
            <a:ext cx="123814" cy="155175"/>
            <a:chOff x="141" y="2010"/>
            <a:chExt cx="123" cy="167"/>
          </a:xfrm>
        </p:grpSpPr>
        <p:sp>
          <p:nvSpPr>
            <p:cNvPr id="195" name="Freeform 188"/>
            <p:cNvSpPr>
              <a:spLocks/>
            </p:cNvSpPr>
            <p:nvPr/>
          </p:nvSpPr>
          <p:spPr bwMode="auto">
            <a:xfrm>
              <a:off x="141" y="2010"/>
              <a:ext cx="123" cy="167"/>
            </a:xfrm>
            <a:custGeom>
              <a:avLst/>
              <a:gdLst>
                <a:gd name="T0" fmla="*/ 0 w 617"/>
                <a:gd name="T1" fmla="*/ 0 h 835"/>
                <a:gd name="T2" fmla="*/ 0 w 617"/>
                <a:gd name="T3" fmla="*/ 0 h 835"/>
                <a:gd name="T4" fmla="*/ 0 w 617"/>
                <a:gd name="T5" fmla="*/ 0 h 835"/>
                <a:gd name="T6" fmla="*/ 0 w 617"/>
                <a:gd name="T7" fmla="*/ 0 h 835"/>
                <a:gd name="T8" fmla="*/ 0 w 617"/>
                <a:gd name="T9" fmla="*/ 0 h 835"/>
                <a:gd name="T10" fmla="*/ 0 w 617"/>
                <a:gd name="T11" fmla="*/ 0 h 835"/>
                <a:gd name="T12" fmla="*/ 0 w 617"/>
                <a:gd name="T13" fmla="*/ 0 h 835"/>
                <a:gd name="T14" fmla="*/ 0 w 617"/>
                <a:gd name="T15" fmla="*/ 0 h 835"/>
                <a:gd name="T16" fmla="*/ 0 w 617"/>
                <a:gd name="T17" fmla="*/ 0 h 835"/>
                <a:gd name="T18" fmla="*/ 0 w 617"/>
                <a:gd name="T19" fmla="*/ 0 h 835"/>
                <a:gd name="T20" fmla="*/ 0 w 617"/>
                <a:gd name="T21" fmla="*/ 0 h 835"/>
                <a:gd name="T22" fmla="*/ 0 w 617"/>
                <a:gd name="T23" fmla="*/ 0 h 835"/>
                <a:gd name="T24" fmla="*/ 0 w 617"/>
                <a:gd name="T25" fmla="*/ 0 h 835"/>
                <a:gd name="T26" fmla="*/ 0 w 617"/>
                <a:gd name="T27" fmla="*/ 0 h 835"/>
                <a:gd name="T28" fmla="*/ 0 w 617"/>
                <a:gd name="T29" fmla="*/ 0 h 835"/>
                <a:gd name="T30" fmla="*/ 0 w 617"/>
                <a:gd name="T31" fmla="*/ 0 h 835"/>
                <a:gd name="T32" fmla="*/ 0 w 617"/>
                <a:gd name="T33" fmla="*/ 0 h 835"/>
                <a:gd name="T34" fmla="*/ 0 w 617"/>
                <a:gd name="T35" fmla="*/ 0 h 835"/>
                <a:gd name="T36" fmla="*/ 0 w 617"/>
                <a:gd name="T37" fmla="*/ 0 h 835"/>
                <a:gd name="T38" fmla="*/ 0 w 617"/>
                <a:gd name="T39" fmla="*/ 0 h 835"/>
                <a:gd name="T40" fmla="*/ 0 w 617"/>
                <a:gd name="T41" fmla="*/ 0 h 835"/>
                <a:gd name="T42" fmla="*/ 0 w 617"/>
                <a:gd name="T43" fmla="*/ 0 h 835"/>
                <a:gd name="T44" fmla="*/ 0 w 617"/>
                <a:gd name="T45" fmla="*/ 0 h 835"/>
                <a:gd name="T46" fmla="*/ 0 w 617"/>
                <a:gd name="T47" fmla="*/ 0 h 835"/>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617" h="835">
                  <a:moveTo>
                    <a:pt x="342" y="123"/>
                  </a:moveTo>
                  <a:lnTo>
                    <a:pt x="229" y="113"/>
                  </a:lnTo>
                  <a:lnTo>
                    <a:pt x="160" y="96"/>
                  </a:lnTo>
                  <a:lnTo>
                    <a:pt x="139" y="64"/>
                  </a:lnTo>
                  <a:lnTo>
                    <a:pt x="139" y="38"/>
                  </a:lnTo>
                  <a:lnTo>
                    <a:pt x="121" y="15"/>
                  </a:lnTo>
                  <a:lnTo>
                    <a:pt x="58" y="0"/>
                  </a:lnTo>
                  <a:lnTo>
                    <a:pt x="0" y="5"/>
                  </a:lnTo>
                  <a:lnTo>
                    <a:pt x="70" y="650"/>
                  </a:lnTo>
                  <a:lnTo>
                    <a:pt x="121" y="710"/>
                  </a:lnTo>
                  <a:lnTo>
                    <a:pt x="183" y="768"/>
                  </a:lnTo>
                  <a:lnTo>
                    <a:pt x="273" y="813"/>
                  </a:lnTo>
                  <a:lnTo>
                    <a:pt x="377" y="827"/>
                  </a:lnTo>
                  <a:lnTo>
                    <a:pt x="518" y="835"/>
                  </a:lnTo>
                  <a:lnTo>
                    <a:pt x="599" y="823"/>
                  </a:lnTo>
                  <a:lnTo>
                    <a:pt x="617" y="777"/>
                  </a:lnTo>
                  <a:lnTo>
                    <a:pt x="608" y="718"/>
                  </a:lnTo>
                  <a:lnTo>
                    <a:pt x="550" y="537"/>
                  </a:lnTo>
                  <a:lnTo>
                    <a:pt x="500" y="357"/>
                  </a:lnTo>
                  <a:lnTo>
                    <a:pt x="478" y="221"/>
                  </a:lnTo>
                  <a:lnTo>
                    <a:pt x="478" y="186"/>
                  </a:lnTo>
                  <a:lnTo>
                    <a:pt x="446" y="136"/>
                  </a:lnTo>
                  <a:lnTo>
                    <a:pt x="409" y="123"/>
                  </a:lnTo>
                  <a:lnTo>
                    <a:pt x="342" y="12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6" name="Freeform 189"/>
            <p:cNvSpPr>
              <a:spLocks/>
            </p:cNvSpPr>
            <p:nvPr/>
          </p:nvSpPr>
          <p:spPr bwMode="auto">
            <a:xfrm>
              <a:off x="143" y="2019"/>
              <a:ext cx="106" cy="153"/>
            </a:xfrm>
            <a:custGeom>
              <a:avLst/>
              <a:gdLst>
                <a:gd name="T0" fmla="*/ 0 w 531"/>
                <a:gd name="T1" fmla="*/ 0 h 766"/>
                <a:gd name="T2" fmla="*/ 0 w 531"/>
                <a:gd name="T3" fmla="*/ 0 h 766"/>
                <a:gd name="T4" fmla="*/ 0 w 531"/>
                <a:gd name="T5" fmla="*/ 0 h 766"/>
                <a:gd name="T6" fmla="*/ 0 w 531"/>
                <a:gd name="T7" fmla="*/ 0 h 766"/>
                <a:gd name="T8" fmla="*/ 0 w 531"/>
                <a:gd name="T9" fmla="*/ 0 h 766"/>
                <a:gd name="T10" fmla="*/ 0 w 531"/>
                <a:gd name="T11" fmla="*/ 0 h 766"/>
                <a:gd name="T12" fmla="*/ 0 w 531"/>
                <a:gd name="T13" fmla="*/ 0 h 766"/>
                <a:gd name="T14" fmla="*/ 0 w 531"/>
                <a:gd name="T15" fmla="*/ 0 h 766"/>
                <a:gd name="T16" fmla="*/ 0 w 531"/>
                <a:gd name="T17" fmla="*/ 0 h 766"/>
                <a:gd name="T18" fmla="*/ 0 w 531"/>
                <a:gd name="T19" fmla="*/ 0 h 766"/>
                <a:gd name="T20" fmla="*/ 0 w 531"/>
                <a:gd name="T21" fmla="*/ 0 h 766"/>
                <a:gd name="T22" fmla="*/ 0 w 531"/>
                <a:gd name="T23" fmla="*/ 0 h 766"/>
                <a:gd name="T24" fmla="*/ 0 w 531"/>
                <a:gd name="T25" fmla="*/ 0 h 766"/>
                <a:gd name="T26" fmla="*/ 0 w 531"/>
                <a:gd name="T27" fmla="*/ 0 h 766"/>
                <a:gd name="T28" fmla="*/ 0 w 531"/>
                <a:gd name="T29" fmla="*/ 0 h 766"/>
                <a:gd name="T30" fmla="*/ 0 w 531"/>
                <a:gd name="T31" fmla="*/ 0 h 766"/>
                <a:gd name="T32" fmla="*/ 0 w 531"/>
                <a:gd name="T33" fmla="*/ 0 h 766"/>
                <a:gd name="T34" fmla="*/ 0 w 531"/>
                <a:gd name="T35" fmla="*/ 0 h 766"/>
                <a:gd name="T36" fmla="*/ 0 w 531"/>
                <a:gd name="T37" fmla="*/ 0 h 766"/>
                <a:gd name="T38" fmla="*/ 0 w 531"/>
                <a:gd name="T39" fmla="*/ 0 h 766"/>
                <a:gd name="T40" fmla="*/ 0 w 531"/>
                <a:gd name="T41" fmla="*/ 0 h 76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531" h="766">
                  <a:moveTo>
                    <a:pt x="347" y="154"/>
                  </a:moveTo>
                  <a:lnTo>
                    <a:pt x="248" y="150"/>
                  </a:lnTo>
                  <a:lnTo>
                    <a:pt x="143" y="131"/>
                  </a:lnTo>
                  <a:lnTo>
                    <a:pt x="81" y="99"/>
                  </a:lnTo>
                  <a:lnTo>
                    <a:pt x="46" y="72"/>
                  </a:lnTo>
                  <a:lnTo>
                    <a:pt x="0" y="0"/>
                  </a:lnTo>
                  <a:lnTo>
                    <a:pt x="67" y="589"/>
                  </a:lnTo>
                  <a:lnTo>
                    <a:pt x="113" y="643"/>
                  </a:lnTo>
                  <a:lnTo>
                    <a:pt x="162" y="694"/>
                  </a:lnTo>
                  <a:lnTo>
                    <a:pt x="225" y="729"/>
                  </a:lnTo>
                  <a:lnTo>
                    <a:pt x="279" y="747"/>
                  </a:lnTo>
                  <a:lnTo>
                    <a:pt x="347" y="756"/>
                  </a:lnTo>
                  <a:lnTo>
                    <a:pt x="409" y="766"/>
                  </a:lnTo>
                  <a:lnTo>
                    <a:pt x="480" y="766"/>
                  </a:lnTo>
                  <a:lnTo>
                    <a:pt x="512" y="756"/>
                  </a:lnTo>
                  <a:lnTo>
                    <a:pt x="531" y="729"/>
                  </a:lnTo>
                  <a:lnTo>
                    <a:pt x="522" y="685"/>
                  </a:lnTo>
                  <a:lnTo>
                    <a:pt x="476" y="581"/>
                  </a:lnTo>
                  <a:lnTo>
                    <a:pt x="399" y="229"/>
                  </a:lnTo>
                  <a:lnTo>
                    <a:pt x="387" y="180"/>
                  </a:lnTo>
                  <a:lnTo>
                    <a:pt x="347" y="15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97" name="Freeform 190"/>
          <p:cNvSpPr>
            <a:spLocks/>
          </p:cNvSpPr>
          <p:nvPr/>
        </p:nvSpPr>
        <p:spPr bwMode="auto">
          <a:xfrm>
            <a:off x="2098400" y="3556553"/>
            <a:ext cx="9060" cy="131016"/>
          </a:xfrm>
          <a:custGeom>
            <a:avLst/>
            <a:gdLst>
              <a:gd name="T0" fmla="*/ 2147483646 w 43"/>
              <a:gd name="T1" fmla="*/ 0 h 703"/>
              <a:gd name="T2" fmla="*/ 2147483646 w 43"/>
              <a:gd name="T3" fmla="*/ 2147483646 h 703"/>
              <a:gd name="T4" fmla="*/ 2147483646 w 43"/>
              <a:gd name="T5" fmla="*/ 2147483646 h 703"/>
              <a:gd name="T6" fmla="*/ 2147483646 w 43"/>
              <a:gd name="T7" fmla="*/ 2147483646 h 703"/>
              <a:gd name="T8" fmla="*/ 2147483646 w 43"/>
              <a:gd name="T9" fmla="*/ 2147483646 h 703"/>
              <a:gd name="T10" fmla="*/ 2147483646 w 43"/>
              <a:gd name="T11" fmla="*/ 2147483646 h 703"/>
              <a:gd name="T12" fmla="*/ 2147483646 w 43"/>
              <a:gd name="T13" fmla="*/ 2147483646 h 703"/>
              <a:gd name="T14" fmla="*/ 0 w 43"/>
              <a:gd name="T15" fmla="*/ 2147483646 h 703"/>
              <a:gd name="T16" fmla="*/ 2147483646 w 43"/>
              <a:gd name="T17" fmla="*/ 2147483646 h 703"/>
              <a:gd name="T18" fmla="*/ 2147483646 w 43"/>
              <a:gd name="T19" fmla="*/ 2147483646 h 703"/>
              <a:gd name="T20" fmla="*/ 2147483646 w 43"/>
              <a:gd name="T21" fmla="*/ 2147483646 h 703"/>
              <a:gd name="T22" fmla="*/ 2147483646 w 43"/>
              <a:gd name="T23" fmla="*/ 2147483646 h 703"/>
              <a:gd name="T24" fmla="*/ 2147483646 w 43"/>
              <a:gd name="T25" fmla="*/ 2147483646 h 703"/>
              <a:gd name="T26" fmla="*/ 2147483646 w 43"/>
              <a:gd name="T27" fmla="*/ 2147483646 h 703"/>
              <a:gd name="T28" fmla="*/ 2147483646 w 43"/>
              <a:gd name="T29" fmla="*/ 0 h 70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43" h="703">
                <a:moveTo>
                  <a:pt x="29" y="0"/>
                </a:moveTo>
                <a:lnTo>
                  <a:pt x="43" y="36"/>
                </a:lnTo>
                <a:lnTo>
                  <a:pt x="27" y="63"/>
                </a:lnTo>
                <a:lnTo>
                  <a:pt x="14" y="122"/>
                </a:lnTo>
                <a:lnTo>
                  <a:pt x="32" y="176"/>
                </a:lnTo>
                <a:lnTo>
                  <a:pt x="21" y="491"/>
                </a:lnTo>
                <a:lnTo>
                  <a:pt x="21" y="693"/>
                </a:lnTo>
                <a:lnTo>
                  <a:pt x="0" y="703"/>
                </a:lnTo>
                <a:lnTo>
                  <a:pt x="2" y="284"/>
                </a:lnTo>
                <a:lnTo>
                  <a:pt x="21" y="184"/>
                </a:lnTo>
                <a:lnTo>
                  <a:pt x="10" y="137"/>
                </a:lnTo>
                <a:lnTo>
                  <a:pt x="4" y="120"/>
                </a:lnTo>
                <a:lnTo>
                  <a:pt x="12" y="69"/>
                </a:lnTo>
                <a:lnTo>
                  <a:pt x="27" y="40"/>
                </a:lnTo>
                <a:lnTo>
                  <a:pt x="29"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8" name="Freeform 191"/>
          <p:cNvSpPr>
            <a:spLocks/>
          </p:cNvSpPr>
          <p:nvPr/>
        </p:nvSpPr>
        <p:spPr bwMode="auto">
          <a:xfrm>
            <a:off x="2062162" y="3558412"/>
            <a:ext cx="22145" cy="6505"/>
          </a:xfrm>
          <a:custGeom>
            <a:avLst/>
            <a:gdLst>
              <a:gd name="T0" fmla="*/ 2147483646 w 112"/>
              <a:gd name="T1" fmla="*/ 0 h 36"/>
              <a:gd name="T2" fmla="*/ 2147483646 w 112"/>
              <a:gd name="T3" fmla="*/ 2147483646 h 36"/>
              <a:gd name="T4" fmla="*/ 2147483646 w 112"/>
              <a:gd name="T5" fmla="*/ 2147483646 h 36"/>
              <a:gd name="T6" fmla="*/ 0 w 112"/>
              <a:gd name="T7" fmla="*/ 2147483646 h 36"/>
              <a:gd name="T8" fmla="*/ 2147483646 w 112"/>
              <a:gd name="T9" fmla="*/ 2147483646 h 36"/>
              <a:gd name="T10" fmla="*/ 2147483646 w 112"/>
              <a:gd name="T11" fmla="*/ 0 h 36"/>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2" h="36">
                <a:moveTo>
                  <a:pt x="112" y="0"/>
                </a:moveTo>
                <a:lnTo>
                  <a:pt x="57" y="26"/>
                </a:lnTo>
                <a:lnTo>
                  <a:pt x="9" y="36"/>
                </a:lnTo>
                <a:lnTo>
                  <a:pt x="0" y="36"/>
                </a:lnTo>
                <a:lnTo>
                  <a:pt x="29" y="11"/>
                </a:lnTo>
                <a:lnTo>
                  <a:pt x="112"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9" name="Freeform 192"/>
          <p:cNvSpPr>
            <a:spLocks/>
          </p:cNvSpPr>
          <p:nvPr/>
        </p:nvSpPr>
        <p:spPr bwMode="auto">
          <a:xfrm>
            <a:off x="1968546" y="3218328"/>
            <a:ext cx="30199" cy="75265"/>
          </a:xfrm>
          <a:custGeom>
            <a:avLst/>
            <a:gdLst>
              <a:gd name="T0" fmla="*/ 0 w 150"/>
              <a:gd name="T1" fmla="*/ 0 h 407"/>
              <a:gd name="T2" fmla="*/ 2147483646 w 150"/>
              <a:gd name="T3" fmla="*/ 2147483646 h 407"/>
              <a:gd name="T4" fmla="*/ 2147483646 w 150"/>
              <a:gd name="T5" fmla="*/ 2147483646 h 407"/>
              <a:gd name="T6" fmla="*/ 2147483646 w 150"/>
              <a:gd name="T7" fmla="*/ 2147483646 h 407"/>
              <a:gd name="T8" fmla="*/ 2147483646 w 150"/>
              <a:gd name="T9" fmla="*/ 2147483646 h 407"/>
              <a:gd name="T10" fmla="*/ 2147483646 w 150"/>
              <a:gd name="T11" fmla="*/ 2147483646 h 407"/>
              <a:gd name="T12" fmla="*/ 2147483646 w 150"/>
              <a:gd name="T13" fmla="*/ 2147483646 h 407"/>
              <a:gd name="T14" fmla="*/ 2147483646 w 150"/>
              <a:gd name="T15" fmla="*/ 2147483646 h 407"/>
              <a:gd name="T16" fmla="*/ 2147483646 w 150"/>
              <a:gd name="T17" fmla="*/ 2147483646 h 407"/>
              <a:gd name="T18" fmla="*/ 2147483646 w 150"/>
              <a:gd name="T19" fmla="*/ 2147483646 h 407"/>
              <a:gd name="T20" fmla="*/ 2147483646 w 150"/>
              <a:gd name="T21" fmla="*/ 2147483646 h 407"/>
              <a:gd name="T22" fmla="*/ 2147483646 w 150"/>
              <a:gd name="T23" fmla="*/ 2147483646 h 407"/>
              <a:gd name="T24" fmla="*/ 2147483646 w 150"/>
              <a:gd name="T25" fmla="*/ 2147483646 h 407"/>
              <a:gd name="T26" fmla="*/ 2147483646 w 150"/>
              <a:gd name="T27" fmla="*/ 2147483646 h 407"/>
              <a:gd name="T28" fmla="*/ 2147483646 w 150"/>
              <a:gd name="T29" fmla="*/ 2147483646 h 407"/>
              <a:gd name="T30" fmla="*/ 2147483646 w 150"/>
              <a:gd name="T31" fmla="*/ 2147483646 h 407"/>
              <a:gd name="T32" fmla="*/ 2147483646 w 150"/>
              <a:gd name="T33" fmla="*/ 2147483646 h 407"/>
              <a:gd name="T34" fmla="*/ 2147483646 w 150"/>
              <a:gd name="T35" fmla="*/ 2147483646 h 407"/>
              <a:gd name="T36" fmla="*/ 2147483646 w 150"/>
              <a:gd name="T37" fmla="*/ 2147483646 h 407"/>
              <a:gd name="T38" fmla="*/ 2147483646 w 150"/>
              <a:gd name="T39" fmla="*/ 2147483646 h 407"/>
              <a:gd name="T40" fmla="*/ 2147483646 w 150"/>
              <a:gd name="T41" fmla="*/ 2147483646 h 407"/>
              <a:gd name="T42" fmla="*/ 2147483646 w 150"/>
              <a:gd name="T43" fmla="*/ 2147483646 h 407"/>
              <a:gd name="T44" fmla="*/ 2147483646 w 150"/>
              <a:gd name="T45" fmla="*/ 2147483646 h 407"/>
              <a:gd name="T46" fmla="*/ 2147483646 w 150"/>
              <a:gd name="T47" fmla="*/ 2147483646 h 407"/>
              <a:gd name="T48" fmla="*/ 2147483646 w 150"/>
              <a:gd name="T49" fmla="*/ 2147483646 h 407"/>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150" h="407">
                <a:moveTo>
                  <a:pt x="0" y="0"/>
                </a:moveTo>
                <a:lnTo>
                  <a:pt x="20" y="10"/>
                </a:lnTo>
                <a:lnTo>
                  <a:pt x="17" y="34"/>
                </a:lnTo>
                <a:lnTo>
                  <a:pt x="36" y="22"/>
                </a:lnTo>
                <a:lnTo>
                  <a:pt x="33" y="50"/>
                </a:lnTo>
                <a:lnTo>
                  <a:pt x="58" y="46"/>
                </a:lnTo>
                <a:lnTo>
                  <a:pt x="39" y="69"/>
                </a:lnTo>
                <a:lnTo>
                  <a:pt x="91" y="73"/>
                </a:lnTo>
                <a:lnTo>
                  <a:pt x="61" y="101"/>
                </a:lnTo>
                <a:lnTo>
                  <a:pt x="105" y="101"/>
                </a:lnTo>
                <a:lnTo>
                  <a:pt x="75" y="130"/>
                </a:lnTo>
                <a:lnTo>
                  <a:pt x="121" y="127"/>
                </a:lnTo>
                <a:lnTo>
                  <a:pt x="92" y="167"/>
                </a:lnTo>
                <a:lnTo>
                  <a:pt x="133" y="164"/>
                </a:lnTo>
                <a:lnTo>
                  <a:pt x="98" y="199"/>
                </a:lnTo>
                <a:lnTo>
                  <a:pt x="150" y="205"/>
                </a:lnTo>
                <a:lnTo>
                  <a:pt x="105" y="237"/>
                </a:lnTo>
                <a:lnTo>
                  <a:pt x="150" y="250"/>
                </a:lnTo>
                <a:lnTo>
                  <a:pt x="101" y="266"/>
                </a:lnTo>
                <a:lnTo>
                  <a:pt x="146" y="293"/>
                </a:lnTo>
                <a:lnTo>
                  <a:pt x="98" y="312"/>
                </a:lnTo>
                <a:lnTo>
                  <a:pt x="140" y="343"/>
                </a:lnTo>
                <a:lnTo>
                  <a:pt x="98" y="355"/>
                </a:lnTo>
                <a:lnTo>
                  <a:pt x="121" y="382"/>
                </a:lnTo>
                <a:lnTo>
                  <a:pt x="88" y="407"/>
                </a:lnTo>
              </a:path>
            </a:pathLst>
          </a:custGeom>
          <a:noFill/>
          <a:ln w="3175">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0" name="Text Box 193"/>
          <p:cNvSpPr txBox="1">
            <a:spLocks noChangeArrowheads="1"/>
          </p:cNvSpPr>
          <p:nvPr/>
        </p:nvSpPr>
        <p:spPr bwMode="auto">
          <a:xfrm>
            <a:off x="6632191" y="3918638"/>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201" name="Oval 194"/>
          <p:cNvSpPr>
            <a:spLocks noChangeArrowheads="1"/>
          </p:cNvSpPr>
          <p:nvPr/>
        </p:nvSpPr>
        <p:spPr bwMode="auto">
          <a:xfrm>
            <a:off x="2135645" y="3280584"/>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202" name="Group 195"/>
          <p:cNvGrpSpPr>
            <a:grpSpLocks/>
          </p:cNvGrpSpPr>
          <p:nvPr/>
        </p:nvGrpSpPr>
        <p:grpSpPr bwMode="auto">
          <a:xfrm>
            <a:off x="6678537" y="3067799"/>
            <a:ext cx="449960" cy="289908"/>
            <a:chOff x="4993" y="1674"/>
            <a:chExt cx="447" cy="312"/>
          </a:xfrm>
        </p:grpSpPr>
        <p:grpSp>
          <p:nvGrpSpPr>
            <p:cNvPr id="203" name="Group 196"/>
            <p:cNvGrpSpPr>
              <a:grpSpLocks/>
            </p:cNvGrpSpPr>
            <p:nvPr/>
          </p:nvGrpSpPr>
          <p:grpSpPr bwMode="auto">
            <a:xfrm>
              <a:off x="4993" y="1674"/>
              <a:ext cx="345" cy="282"/>
              <a:chOff x="4993" y="1674"/>
              <a:chExt cx="345" cy="282"/>
            </a:xfrm>
          </p:grpSpPr>
          <p:grpSp>
            <p:nvGrpSpPr>
              <p:cNvPr id="236" name="Group 197"/>
              <p:cNvGrpSpPr>
                <a:grpSpLocks/>
              </p:cNvGrpSpPr>
              <p:nvPr/>
            </p:nvGrpSpPr>
            <p:grpSpPr bwMode="auto">
              <a:xfrm>
                <a:off x="4993" y="1674"/>
                <a:ext cx="345" cy="282"/>
                <a:chOff x="4993" y="1674"/>
                <a:chExt cx="345" cy="282"/>
              </a:xfrm>
            </p:grpSpPr>
            <p:grpSp>
              <p:nvGrpSpPr>
                <p:cNvPr id="245" name="Group 198"/>
                <p:cNvGrpSpPr>
                  <a:grpSpLocks/>
                </p:cNvGrpSpPr>
                <p:nvPr/>
              </p:nvGrpSpPr>
              <p:grpSpPr bwMode="auto">
                <a:xfrm>
                  <a:off x="4993" y="1833"/>
                  <a:ext cx="345" cy="123"/>
                  <a:chOff x="4993" y="1833"/>
                  <a:chExt cx="345" cy="123"/>
                </a:xfrm>
              </p:grpSpPr>
              <p:sp>
                <p:nvSpPr>
                  <p:cNvPr id="251" name="Freeform 199"/>
                  <p:cNvSpPr>
                    <a:spLocks/>
                  </p:cNvSpPr>
                  <p:nvPr/>
                </p:nvSpPr>
                <p:spPr bwMode="auto">
                  <a:xfrm>
                    <a:off x="5140" y="1833"/>
                    <a:ext cx="198" cy="123"/>
                  </a:xfrm>
                  <a:custGeom>
                    <a:avLst/>
                    <a:gdLst>
                      <a:gd name="T0" fmla="*/ 0 w 1188"/>
                      <a:gd name="T1" fmla="*/ 0 h 738"/>
                      <a:gd name="T2" fmla="*/ 0 w 1188"/>
                      <a:gd name="T3" fmla="*/ 0 h 738"/>
                      <a:gd name="T4" fmla="*/ 0 w 1188"/>
                      <a:gd name="T5" fmla="*/ 0 h 738"/>
                      <a:gd name="T6" fmla="*/ 0 w 1188"/>
                      <a:gd name="T7" fmla="*/ 0 h 738"/>
                      <a:gd name="T8" fmla="*/ 0 w 1188"/>
                      <a:gd name="T9" fmla="*/ 0 h 73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88" h="738">
                        <a:moveTo>
                          <a:pt x="0" y="225"/>
                        </a:moveTo>
                        <a:lnTo>
                          <a:pt x="0" y="738"/>
                        </a:lnTo>
                        <a:lnTo>
                          <a:pt x="1188" y="360"/>
                        </a:lnTo>
                        <a:lnTo>
                          <a:pt x="1188" y="0"/>
                        </a:lnTo>
                        <a:lnTo>
                          <a:pt x="0" y="225"/>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2" name="Freeform 200"/>
                  <p:cNvSpPr>
                    <a:spLocks/>
                  </p:cNvSpPr>
                  <p:nvPr/>
                </p:nvSpPr>
                <p:spPr bwMode="auto">
                  <a:xfrm>
                    <a:off x="4993" y="1862"/>
                    <a:ext cx="147" cy="94"/>
                  </a:xfrm>
                  <a:custGeom>
                    <a:avLst/>
                    <a:gdLst>
                      <a:gd name="T0" fmla="*/ 0 w 882"/>
                      <a:gd name="T1" fmla="*/ 0 h 563"/>
                      <a:gd name="T2" fmla="*/ 0 w 882"/>
                      <a:gd name="T3" fmla="*/ 0 h 563"/>
                      <a:gd name="T4" fmla="*/ 0 w 882"/>
                      <a:gd name="T5" fmla="*/ 0 h 563"/>
                      <a:gd name="T6" fmla="*/ 0 w 882"/>
                      <a:gd name="T7" fmla="*/ 0 h 563"/>
                      <a:gd name="T8" fmla="*/ 0 w 882"/>
                      <a:gd name="T9" fmla="*/ 0 h 5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82" h="563">
                        <a:moveTo>
                          <a:pt x="882" y="50"/>
                        </a:moveTo>
                        <a:lnTo>
                          <a:pt x="882" y="563"/>
                        </a:lnTo>
                        <a:lnTo>
                          <a:pt x="0" y="436"/>
                        </a:lnTo>
                        <a:lnTo>
                          <a:pt x="0" y="0"/>
                        </a:lnTo>
                        <a:lnTo>
                          <a:pt x="882" y="5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3" name="Freeform 201"/>
                  <p:cNvSpPr>
                    <a:spLocks/>
                  </p:cNvSpPr>
                  <p:nvPr/>
                </p:nvSpPr>
                <p:spPr bwMode="auto">
                  <a:xfrm>
                    <a:off x="4993" y="1833"/>
                    <a:ext cx="345" cy="38"/>
                  </a:xfrm>
                  <a:custGeom>
                    <a:avLst/>
                    <a:gdLst>
                      <a:gd name="T0" fmla="*/ 0 w 2070"/>
                      <a:gd name="T1" fmla="*/ 0 h 225"/>
                      <a:gd name="T2" fmla="*/ 0 w 2070"/>
                      <a:gd name="T3" fmla="*/ 0 h 225"/>
                      <a:gd name="T4" fmla="*/ 0 w 2070"/>
                      <a:gd name="T5" fmla="*/ 0 h 225"/>
                      <a:gd name="T6" fmla="*/ 0 w 2070"/>
                      <a:gd name="T7" fmla="*/ 0 h 225"/>
                      <a:gd name="T8" fmla="*/ 0 w 2070"/>
                      <a:gd name="T9" fmla="*/ 0 h 2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70" h="225">
                        <a:moveTo>
                          <a:pt x="0" y="175"/>
                        </a:moveTo>
                        <a:lnTo>
                          <a:pt x="892" y="225"/>
                        </a:lnTo>
                        <a:lnTo>
                          <a:pt x="2070" y="0"/>
                        </a:lnTo>
                        <a:lnTo>
                          <a:pt x="1202" y="0"/>
                        </a:lnTo>
                        <a:lnTo>
                          <a:pt x="0" y="175"/>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246" name="Freeform 202"/>
                <p:cNvSpPr>
                  <a:spLocks/>
                </p:cNvSpPr>
                <p:nvPr/>
              </p:nvSpPr>
              <p:spPr bwMode="auto">
                <a:xfrm>
                  <a:off x="5105" y="1823"/>
                  <a:ext cx="126" cy="35"/>
                </a:xfrm>
                <a:custGeom>
                  <a:avLst/>
                  <a:gdLst>
                    <a:gd name="T0" fmla="*/ 0 w 751"/>
                    <a:gd name="T1" fmla="*/ 0 h 210"/>
                    <a:gd name="T2" fmla="*/ 0 w 751"/>
                    <a:gd name="T3" fmla="*/ 0 h 210"/>
                    <a:gd name="T4" fmla="*/ 0 w 751"/>
                    <a:gd name="T5" fmla="*/ 0 h 210"/>
                    <a:gd name="T6" fmla="*/ 0 w 751"/>
                    <a:gd name="T7" fmla="*/ 0 h 210"/>
                    <a:gd name="T8" fmla="*/ 0 w 751"/>
                    <a:gd name="T9" fmla="*/ 0 h 210"/>
                    <a:gd name="T10" fmla="*/ 0 w 751"/>
                    <a:gd name="T11" fmla="*/ 0 h 21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51" h="210">
                      <a:moveTo>
                        <a:pt x="0" y="120"/>
                      </a:moveTo>
                      <a:lnTo>
                        <a:pt x="0" y="188"/>
                      </a:lnTo>
                      <a:lnTo>
                        <a:pt x="351" y="210"/>
                      </a:lnTo>
                      <a:lnTo>
                        <a:pt x="751" y="135"/>
                      </a:lnTo>
                      <a:lnTo>
                        <a:pt x="751" y="0"/>
                      </a:lnTo>
                      <a:lnTo>
                        <a:pt x="0" y="12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47" name="Group 203"/>
                <p:cNvGrpSpPr>
                  <a:grpSpLocks/>
                </p:cNvGrpSpPr>
                <p:nvPr/>
              </p:nvGrpSpPr>
              <p:grpSpPr bwMode="auto">
                <a:xfrm>
                  <a:off x="5020" y="1674"/>
                  <a:ext cx="279" cy="176"/>
                  <a:chOff x="5020" y="1674"/>
                  <a:chExt cx="279" cy="176"/>
                </a:xfrm>
              </p:grpSpPr>
              <p:sp>
                <p:nvSpPr>
                  <p:cNvPr id="248" name="Freeform 204"/>
                  <p:cNvSpPr>
                    <a:spLocks/>
                  </p:cNvSpPr>
                  <p:nvPr/>
                </p:nvSpPr>
                <p:spPr bwMode="auto">
                  <a:xfrm>
                    <a:off x="5139" y="1674"/>
                    <a:ext cx="160" cy="172"/>
                  </a:xfrm>
                  <a:custGeom>
                    <a:avLst/>
                    <a:gdLst>
                      <a:gd name="T0" fmla="*/ 0 w 960"/>
                      <a:gd name="T1" fmla="*/ 0 h 1031"/>
                      <a:gd name="T2" fmla="*/ 0 w 960"/>
                      <a:gd name="T3" fmla="*/ 0 h 1031"/>
                      <a:gd name="T4" fmla="*/ 0 w 960"/>
                      <a:gd name="T5" fmla="*/ 0 h 1031"/>
                      <a:gd name="T6" fmla="*/ 0 w 960"/>
                      <a:gd name="T7" fmla="*/ 0 h 1031"/>
                      <a:gd name="T8" fmla="*/ 0 w 960"/>
                      <a:gd name="T9" fmla="*/ 0 h 103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60" h="1031">
                        <a:moveTo>
                          <a:pt x="135" y="1031"/>
                        </a:moveTo>
                        <a:lnTo>
                          <a:pt x="0" y="33"/>
                        </a:lnTo>
                        <a:lnTo>
                          <a:pt x="827" y="0"/>
                        </a:lnTo>
                        <a:lnTo>
                          <a:pt x="960" y="889"/>
                        </a:lnTo>
                        <a:lnTo>
                          <a:pt x="135" y="1031"/>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9" name="Freeform 205"/>
                  <p:cNvSpPr>
                    <a:spLocks/>
                  </p:cNvSpPr>
                  <p:nvPr/>
                </p:nvSpPr>
                <p:spPr bwMode="auto">
                  <a:xfrm>
                    <a:off x="5020" y="1679"/>
                    <a:ext cx="141" cy="171"/>
                  </a:xfrm>
                  <a:custGeom>
                    <a:avLst/>
                    <a:gdLst>
                      <a:gd name="T0" fmla="*/ 0 w 850"/>
                      <a:gd name="T1" fmla="*/ 0 h 1026"/>
                      <a:gd name="T2" fmla="*/ 0 w 850"/>
                      <a:gd name="T3" fmla="*/ 0 h 1026"/>
                      <a:gd name="T4" fmla="*/ 0 w 850"/>
                      <a:gd name="T5" fmla="*/ 0 h 1026"/>
                      <a:gd name="T6" fmla="*/ 0 w 850"/>
                      <a:gd name="T7" fmla="*/ 0 h 1026"/>
                      <a:gd name="T8" fmla="*/ 0 w 850"/>
                      <a:gd name="T9" fmla="*/ 0 h 10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50" h="1026">
                        <a:moveTo>
                          <a:pt x="715" y="0"/>
                        </a:moveTo>
                        <a:lnTo>
                          <a:pt x="0" y="228"/>
                        </a:lnTo>
                        <a:lnTo>
                          <a:pt x="102" y="1026"/>
                        </a:lnTo>
                        <a:lnTo>
                          <a:pt x="850" y="1000"/>
                        </a:lnTo>
                        <a:lnTo>
                          <a:pt x="715" y="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0" name="Freeform 206"/>
                  <p:cNvSpPr>
                    <a:spLocks/>
                  </p:cNvSpPr>
                  <p:nvPr/>
                </p:nvSpPr>
                <p:spPr bwMode="auto">
                  <a:xfrm>
                    <a:off x="5166" y="1691"/>
                    <a:ext cx="115" cy="129"/>
                  </a:xfrm>
                  <a:custGeom>
                    <a:avLst/>
                    <a:gdLst>
                      <a:gd name="T0" fmla="*/ 0 w 689"/>
                      <a:gd name="T1" fmla="*/ 0 h 778"/>
                      <a:gd name="T2" fmla="*/ 0 w 689"/>
                      <a:gd name="T3" fmla="*/ 0 h 778"/>
                      <a:gd name="T4" fmla="*/ 0 w 689"/>
                      <a:gd name="T5" fmla="*/ 0 h 778"/>
                      <a:gd name="T6" fmla="*/ 0 w 689"/>
                      <a:gd name="T7" fmla="*/ 0 h 778"/>
                      <a:gd name="T8" fmla="*/ 0 w 689"/>
                      <a:gd name="T9" fmla="*/ 0 h 77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9" h="778">
                        <a:moveTo>
                          <a:pt x="0" y="36"/>
                        </a:moveTo>
                        <a:lnTo>
                          <a:pt x="98" y="778"/>
                        </a:lnTo>
                        <a:lnTo>
                          <a:pt x="689" y="689"/>
                        </a:lnTo>
                        <a:lnTo>
                          <a:pt x="587" y="0"/>
                        </a:lnTo>
                        <a:lnTo>
                          <a:pt x="0" y="36"/>
                        </a:lnTo>
                        <a:close/>
                      </a:path>
                    </a:pathLst>
                  </a:custGeom>
                  <a:solidFill>
                    <a:srgbClr val="0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37" name="Group 207"/>
              <p:cNvGrpSpPr>
                <a:grpSpLocks/>
              </p:cNvGrpSpPr>
              <p:nvPr/>
            </p:nvGrpSpPr>
            <p:grpSpPr bwMode="auto">
              <a:xfrm>
                <a:off x="5212" y="1846"/>
                <a:ext cx="113" cy="80"/>
                <a:chOff x="5212" y="1846"/>
                <a:chExt cx="113" cy="80"/>
              </a:xfrm>
            </p:grpSpPr>
            <p:sp>
              <p:nvSpPr>
                <p:cNvPr id="238" name="Freeform 208"/>
                <p:cNvSpPr>
                  <a:spLocks/>
                </p:cNvSpPr>
                <p:nvPr/>
              </p:nvSpPr>
              <p:spPr bwMode="auto">
                <a:xfrm>
                  <a:off x="5212" y="1846"/>
                  <a:ext cx="112" cy="80"/>
                </a:xfrm>
                <a:custGeom>
                  <a:avLst/>
                  <a:gdLst>
                    <a:gd name="T0" fmla="*/ 0 w 674"/>
                    <a:gd name="T1" fmla="*/ 0 h 482"/>
                    <a:gd name="T2" fmla="*/ 0 w 674"/>
                    <a:gd name="T3" fmla="*/ 0 h 482"/>
                    <a:gd name="T4" fmla="*/ 0 w 674"/>
                    <a:gd name="T5" fmla="*/ 0 h 482"/>
                    <a:gd name="T6" fmla="*/ 0 w 674"/>
                    <a:gd name="T7" fmla="*/ 0 h 482"/>
                    <a:gd name="T8" fmla="*/ 0 w 674"/>
                    <a:gd name="T9" fmla="*/ 0 h 48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74" h="482">
                      <a:moveTo>
                        <a:pt x="674" y="0"/>
                      </a:moveTo>
                      <a:lnTo>
                        <a:pt x="0" y="143"/>
                      </a:lnTo>
                      <a:lnTo>
                        <a:pt x="0" y="482"/>
                      </a:lnTo>
                      <a:lnTo>
                        <a:pt x="674" y="271"/>
                      </a:lnTo>
                      <a:lnTo>
                        <a:pt x="674" y="0"/>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9" name="Line 209"/>
                <p:cNvSpPr>
                  <a:spLocks noChangeShapeType="1"/>
                </p:cNvSpPr>
                <p:nvPr/>
              </p:nvSpPr>
              <p:spPr bwMode="auto">
                <a:xfrm flipV="1">
                  <a:off x="5286" y="1866"/>
                  <a:ext cx="30" cy="7"/>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0" name="Line 210"/>
                <p:cNvSpPr>
                  <a:spLocks noChangeShapeType="1"/>
                </p:cNvSpPr>
                <p:nvPr/>
              </p:nvSpPr>
              <p:spPr bwMode="auto">
                <a:xfrm flipH="1">
                  <a:off x="5231" y="1876"/>
                  <a:ext cx="39" cy="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1" name="Line 211"/>
                <p:cNvSpPr>
                  <a:spLocks noChangeShapeType="1"/>
                </p:cNvSpPr>
                <p:nvPr/>
              </p:nvSpPr>
              <p:spPr bwMode="auto">
                <a:xfrm>
                  <a:off x="5277" y="1856"/>
                  <a:ext cx="1" cy="52"/>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2" name="Line 212"/>
                <p:cNvSpPr>
                  <a:spLocks noChangeShapeType="1"/>
                </p:cNvSpPr>
                <p:nvPr/>
              </p:nvSpPr>
              <p:spPr bwMode="auto">
                <a:xfrm>
                  <a:off x="5223" y="1868"/>
                  <a:ext cx="1" cy="57"/>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3" name="Line 213"/>
                <p:cNvSpPr>
                  <a:spLocks noChangeShapeType="1"/>
                </p:cNvSpPr>
                <p:nvPr/>
              </p:nvSpPr>
              <p:spPr bwMode="auto">
                <a:xfrm flipH="1">
                  <a:off x="5223" y="1867"/>
                  <a:ext cx="102" cy="26"/>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4" name="Line 214"/>
                <p:cNvSpPr>
                  <a:spLocks noChangeShapeType="1"/>
                </p:cNvSpPr>
                <p:nvPr/>
              </p:nvSpPr>
              <p:spPr bwMode="auto">
                <a:xfrm flipV="1">
                  <a:off x="5223" y="1860"/>
                  <a:ext cx="102" cy="23"/>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04" name="Group 215"/>
            <p:cNvGrpSpPr>
              <a:grpSpLocks/>
            </p:cNvGrpSpPr>
            <p:nvPr/>
          </p:nvGrpSpPr>
          <p:grpSpPr bwMode="auto">
            <a:xfrm>
              <a:off x="5170" y="1848"/>
              <a:ext cx="270" cy="138"/>
              <a:chOff x="5170" y="1848"/>
              <a:chExt cx="270" cy="138"/>
            </a:xfrm>
          </p:grpSpPr>
          <p:grpSp>
            <p:nvGrpSpPr>
              <p:cNvPr id="205" name="Group 216"/>
              <p:cNvGrpSpPr>
                <a:grpSpLocks/>
              </p:cNvGrpSpPr>
              <p:nvPr/>
            </p:nvGrpSpPr>
            <p:grpSpPr bwMode="auto">
              <a:xfrm>
                <a:off x="5188" y="1923"/>
                <a:ext cx="43" cy="32"/>
                <a:chOff x="5188" y="1923"/>
                <a:chExt cx="43" cy="32"/>
              </a:xfrm>
            </p:grpSpPr>
            <p:sp>
              <p:nvSpPr>
                <p:cNvPr id="234" name="Freeform 217"/>
                <p:cNvSpPr>
                  <a:spLocks/>
                </p:cNvSpPr>
                <p:nvPr/>
              </p:nvSpPr>
              <p:spPr bwMode="auto">
                <a:xfrm>
                  <a:off x="5188" y="1923"/>
                  <a:ext cx="12" cy="32"/>
                </a:xfrm>
                <a:custGeom>
                  <a:avLst/>
                  <a:gdLst>
                    <a:gd name="T0" fmla="*/ 0 w 75"/>
                    <a:gd name="T1" fmla="*/ 0 h 194"/>
                    <a:gd name="T2" fmla="*/ 0 w 75"/>
                    <a:gd name="T3" fmla="*/ 0 h 194"/>
                    <a:gd name="T4" fmla="*/ 0 w 75"/>
                    <a:gd name="T5" fmla="*/ 0 h 194"/>
                    <a:gd name="T6" fmla="*/ 0 w 75"/>
                    <a:gd name="T7" fmla="*/ 0 h 194"/>
                    <a:gd name="T8" fmla="*/ 0 w 75"/>
                    <a:gd name="T9" fmla="*/ 0 h 19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5" h="194">
                      <a:moveTo>
                        <a:pt x="23" y="0"/>
                      </a:moveTo>
                      <a:lnTo>
                        <a:pt x="0" y="183"/>
                      </a:lnTo>
                      <a:lnTo>
                        <a:pt x="55" y="194"/>
                      </a:lnTo>
                      <a:lnTo>
                        <a:pt x="75" y="8"/>
                      </a:lnTo>
                      <a:lnTo>
                        <a:pt x="23"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5" name="Freeform 218"/>
                <p:cNvSpPr>
                  <a:spLocks/>
                </p:cNvSpPr>
                <p:nvPr/>
              </p:nvSpPr>
              <p:spPr bwMode="auto">
                <a:xfrm>
                  <a:off x="5197" y="1927"/>
                  <a:ext cx="34" cy="28"/>
                </a:xfrm>
                <a:custGeom>
                  <a:avLst/>
                  <a:gdLst>
                    <a:gd name="T0" fmla="*/ 0 w 206"/>
                    <a:gd name="T1" fmla="*/ 0 h 168"/>
                    <a:gd name="T2" fmla="*/ 0 w 206"/>
                    <a:gd name="T3" fmla="*/ 0 h 168"/>
                    <a:gd name="T4" fmla="*/ 0 w 206"/>
                    <a:gd name="T5" fmla="*/ 0 h 168"/>
                    <a:gd name="T6" fmla="*/ 0 w 206"/>
                    <a:gd name="T7" fmla="*/ 0 h 168"/>
                    <a:gd name="T8" fmla="*/ 0 w 206"/>
                    <a:gd name="T9" fmla="*/ 0 h 168"/>
                    <a:gd name="T10" fmla="*/ 0 w 206"/>
                    <a:gd name="T11" fmla="*/ 0 h 168"/>
                    <a:gd name="T12" fmla="*/ 0 w 206"/>
                    <a:gd name="T13" fmla="*/ 0 h 16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6" h="168">
                      <a:moveTo>
                        <a:pt x="17" y="5"/>
                      </a:moveTo>
                      <a:lnTo>
                        <a:pt x="0" y="168"/>
                      </a:lnTo>
                      <a:lnTo>
                        <a:pt x="206" y="84"/>
                      </a:lnTo>
                      <a:lnTo>
                        <a:pt x="126" y="58"/>
                      </a:lnTo>
                      <a:lnTo>
                        <a:pt x="52" y="97"/>
                      </a:lnTo>
                      <a:lnTo>
                        <a:pt x="75" y="0"/>
                      </a:lnTo>
                      <a:lnTo>
                        <a:pt x="17" y="5"/>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06" name="Group 219"/>
              <p:cNvGrpSpPr>
                <a:grpSpLocks/>
              </p:cNvGrpSpPr>
              <p:nvPr/>
            </p:nvGrpSpPr>
            <p:grpSpPr bwMode="auto">
              <a:xfrm>
                <a:off x="5170" y="1848"/>
                <a:ext cx="270" cy="138"/>
                <a:chOff x="5170" y="1848"/>
                <a:chExt cx="270" cy="138"/>
              </a:xfrm>
            </p:grpSpPr>
            <p:sp>
              <p:nvSpPr>
                <p:cNvPr id="207" name="Freeform 220"/>
                <p:cNvSpPr>
                  <a:spLocks/>
                </p:cNvSpPr>
                <p:nvPr/>
              </p:nvSpPr>
              <p:spPr bwMode="auto">
                <a:xfrm>
                  <a:off x="5175" y="1848"/>
                  <a:ext cx="264" cy="122"/>
                </a:xfrm>
                <a:custGeom>
                  <a:avLst/>
                  <a:gdLst>
                    <a:gd name="T0" fmla="*/ 0 w 1583"/>
                    <a:gd name="T1" fmla="*/ 0 h 729"/>
                    <a:gd name="T2" fmla="*/ 0 w 1583"/>
                    <a:gd name="T3" fmla="*/ 0 h 729"/>
                    <a:gd name="T4" fmla="*/ 0 w 1583"/>
                    <a:gd name="T5" fmla="*/ 0 h 729"/>
                    <a:gd name="T6" fmla="*/ 0 w 1583"/>
                    <a:gd name="T7" fmla="*/ 0 h 729"/>
                    <a:gd name="T8" fmla="*/ 0 w 1583"/>
                    <a:gd name="T9" fmla="*/ 0 h 7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583" h="729">
                      <a:moveTo>
                        <a:pt x="0" y="309"/>
                      </a:moveTo>
                      <a:lnTo>
                        <a:pt x="759" y="729"/>
                      </a:lnTo>
                      <a:lnTo>
                        <a:pt x="1583" y="318"/>
                      </a:lnTo>
                      <a:lnTo>
                        <a:pt x="951" y="0"/>
                      </a:lnTo>
                      <a:lnTo>
                        <a:pt x="0" y="309"/>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8" name="Freeform 221"/>
                <p:cNvSpPr>
                  <a:spLocks/>
                </p:cNvSpPr>
                <p:nvPr/>
              </p:nvSpPr>
              <p:spPr bwMode="auto">
                <a:xfrm>
                  <a:off x="5170" y="1899"/>
                  <a:ext cx="133" cy="86"/>
                </a:xfrm>
                <a:custGeom>
                  <a:avLst/>
                  <a:gdLst>
                    <a:gd name="T0" fmla="*/ 0 w 792"/>
                    <a:gd name="T1" fmla="*/ 0 h 516"/>
                    <a:gd name="T2" fmla="*/ 0 w 792"/>
                    <a:gd name="T3" fmla="*/ 0 h 516"/>
                    <a:gd name="T4" fmla="*/ 0 w 792"/>
                    <a:gd name="T5" fmla="*/ 0 h 516"/>
                    <a:gd name="T6" fmla="*/ 0 w 792"/>
                    <a:gd name="T7" fmla="*/ 0 h 516"/>
                    <a:gd name="T8" fmla="*/ 0 w 792"/>
                    <a:gd name="T9" fmla="*/ 0 h 51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92" h="516">
                      <a:moveTo>
                        <a:pt x="28" y="0"/>
                      </a:moveTo>
                      <a:lnTo>
                        <a:pt x="792" y="426"/>
                      </a:lnTo>
                      <a:lnTo>
                        <a:pt x="770" y="516"/>
                      </a:lnTo>
                      <a:lnTo>
                        <a:pt x="0" y="82"/>
                      </a:lnTo>
                      <a:lnTo>
                        <a:pt x="28"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9" name="Freeform 222"/>
                <p:cNvSpPr>
                  <a:spLocks/>
                </p:cNvSpPr>
                <p:nvPr/>
              </p:nvSpPr>
              <p:spPr bwMode="auto">
                <a:xfrm>
                  <a:off x="5299" y="1901"/>
                  <a:ext cx="141" cy="85"/>
                </a:xfrm>
                <a:custGeom>
                  <a:avLst/>
                  <a:gdLst>
                    <a:gd name="T0" fmla="*/ 0 w 846"/>
                    <a:gd name="T1" fmla="*/ 0 h 507"/>
                    <a:gd name="T2" fmla="*/ 0 w 846"/>
                    <a:gd name="T3" fmla="*/ 0 h 507"/>
                    <a:gd name="T4" fmla="*/ 0 w 846"/>
                    <a:gd name="T5" fmla="*/ 0 h 507"/>
                    <a:gd name="T6" fmla="*/ 0 w 846"/>
                    <a:gd name="T7" fmla="*/ 0 h 507"/>
                    <a:gd name="T8" fmla="*/ 0 w 846"/>
                    <a:gd name="T9" fmla="*/ 0 h 50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6" h="507">
                      <a:moveTo>
                        <a:pt x="0" y="507"/>
                      </a:moveTo>
                      <a:lnTo>
                        <a:pt x="25" y="411"/>
                      </a:lnTo>
                      <a:lnTo>
                        <a:pt x="846" y="0"/>
                      </a:lnTo>
                      <a:lnTo>
                        <a:pt x="817" y="76"/>
                      </a:lnTo>
                      <a:lnTo>
                        <a:pt x="0" y="507"/>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0" name="Freeform 223"/>
                <p:cNvSpPr>
                  <a:spLocks/>
                </p:cNvSpPr>
                <p:nvPr/>
              </p:nvSpPr>
              <p:spPr bwMode="auto">
                <a:xfrm>
                  <a:off x="5227" y="1905"/>
                  <a:ext cx="106" cy="54"/>
                </a:xfrm>
                <a:custGeom>
                  <a:avLst/>
                  <a:gdLst>
                    <a:gd name="T0" fmla="*/ 0 w 637"/>
                    <a:gd name="T1" fmla="*/ 0 h 321"/>
                    <a:gd name="T2" fmla="*/ 0 w 637"/>
                    <a:gd name="T3" fmla="*/ 0 h 321"/>
                    <a:gd name="T4" fmla="*/ 0 w 637"/>
                    <a:gd name="T5" fmla="*/ 0 h 321"/>
                    <a:gd name="T6" fmla="*/ 0 w 637"/>
                    <a:gd name="T7" fmla="*/ 0 h 321"/>
                    <a:gd name="T8" fmla="*/ 0 w 637"/>
                    <a:gd name="T9" fmla="*/ 0 h 32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7" h="321">
                      <a:moveTo>
                        <a:pt x="0" y="83"/>
                      </a:moveTo>
                      <a:lnTo>
                        <a:pt x="220" y="0"/>
                      </a:lnTo>
                      <a:lnTo>
                        <a:pt x="637" y="224"/>
                      </a:lnTo>
                      <a:lnTo>
                        <a:pt x="425" y="321"/>
                      </a:lnTo>
                      <a:lnTo>
                        <a:pt x="0" y="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1" name="Freeform 224"/>
                <p:cNvSpPr>
                  <a:spLocks/>
                </p:cNvSpPr>
                <p:nvPr/>
              </p:nvSpPr>
              <p:spPr bwMode="auto">
                <a:xfrm>
                  <a:off x="5270" y="1868"/>
                  <a:ext cx="156" cy="72"/>
                </a:xfrm>
                <a:custGeom>
                  <a:avLst/>
                  <a:gdLst>
                    <a:gd name="T0" fmla="*/ 0 w 938"/>
                    <a:gd name="T1" fmla="*/ 0 h 434"/>
                    <a:gd name="T2" fmla="*/ 0 w 938"/>
                    <a:gd name="T3" fmla="*/ 0 h 434"/>
                    <a:gd name="T4" fmla="*/ 0 w 938"/>
                    <a:gd name="T5" fmla="*/ 0 h 434"/>
                    <a:gd name="T6" fmla="*/ 0 w 938"/>
                    <a:gd name="T7" fmla="*/ 0 h 434"/>
                    <a:gd name="T8" fmla="*/ 0 w 938"/>
                    <a:gd name="T9" fmla="*/ 0 h 4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38" h="434">
                      <a:moveTo>
                        <a:pt x="0" y="210"/>
                      </a:moveTo>
                      <a:lnTo>
                        <a:pt x="410" y="434"/>
                      </a:lnTo>
                      <a:lnTo>
                        <a:pt x="938" y="186"/>
                      </a:lnTo>
                      <a:lnTo>
                        <a:pt x="554" y="0"/>
                      </a:lnTo>
                      <a:lnTo>
                        <a:pt x="0" y="21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2" name="Freeform 225"/>
                <p:cNvSpPr>
                  <a:spLocks/>
                </p:cNvSpPr>
                <p:nvPr/>
              </p:nvSpPr>
              <p:spPr bwMode="auto">
                <a:xfrm>
                  <a:off x="5188" y="1852"/>
                  <a:ext cx="172" cy="66"/>
                </a:xfrm>
                <a:custGeom>
                  <a:avLst/>
                  <a:gdLst>
                    <a:gd name="T0" fmla="*/ 0 w 1034"/>
                    <a:gd name="T1" fmla="*/ 0 h 395"/>
                    <a:gd name="T2" fmla="*/ 0 w 1034"/>
                    <a:gd name="T3" fmla="*/ 0 h 395"/>
                    <a:gd name="T4" fmla="*/ 0 w 1034"/>
                    <a:gd name="T5" fmla="*/ 0 h 395"/>
                    <a:gd name="T6" fmla="*/ 0 w 1034"/>
                    <a:gd name="T7" fmla="*/ 0 h 395"/>
                    <a:gd name="T8" fmla="*/ 0 w 1034"/>
                    <a:gd name="T9" fmla="*/ 0 h 39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4" h="395">
                      <a:moveTo>
                        <a:pt x="216" y="395"/>
                      </a:moveTo>
                      <a:lnTo>
                        <a:pt x="0" y="285"/>
                      </a:lnTo>
                      <a:lnTo>
                        <a:pt x="867" y="0"/>
                      </a:lnTo>
                      <a:lnTo>
                        <a:pt x="1034" y="82"/>
                      </a:lnTo>
                      <a:lnTo>
                        <a:pt x="216" y="395"/>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3" name="Line 226"/>
                <p:cNvSpPr>
                  <a:spLocks noChangeShapeType="1"/>
                </p:cNvSpPr>
                <p:nvPr/>
              </p:nvSpPr>
              <p:spPr bwMode="auto">
                <a:xfrm flipV="1">
                  <a:off x="5193" y="1855"/>
                  <a:ext cx="148" cy="51"/>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4" name="Line 227"/>
                <p:cNvSpPr>
                  <a:spLocks noChangeShapeType="1"/>
                </p:cNvSpPr>
                <p:nvPr/>
              </p:nvSpPr>
              <p:spPr bwMode="auto">
                <a:xfrm flipV="1">
                  <a:off x="5205" y="1858"/>
                  <a:ext cx="14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5" name="Line 228"/>
                <p:cNvSpPr>
                  <a:spLocks noChangeShapeType="1"/>
                </p:cNvSpPr>
                <p:nvPr/>
              </p:nvSpPr>
              <p:spPr bwMode="auto">
                <a:xfrm flipV="1">
                  <a:off x="5214" y="1862"/>
                  <a:ext cx="141" cy="5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6" name="Line 229"/>
                <p:cNvSpPr>
                  <a:spLocks noChangeShapeType="1"/>
                </p:cNvSpPr>
                <p:nvPr/>
              </p:nvSpPr>
              <p:spPr bwMode="auto">
                <a:xfrm flipV="1">
                  <a:off x="5235" y="1871"/>
                  <a:ext cx="138" cy="5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7" name="Line 230"/>
                <p:cNvSpPr>
                  <a:spLocks noChangeShapeType="1"/>
                </p:cNvSpPr>
                <p:nvPr/>
              </p:nvSpPr>
              <p:spPr bwMode="auto">
                <a:xfrm flipV="1">
                  <a:off x="5246" y="1877"/>
                  <a:ext cx="137" cy="5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8" name="Line 231"/>
                <p:cNvSpPr>
                  <a:spLocks noChangeShapeType="1"/>
                </p:cNvSpPr>
                <p:nvPr/>
              </p:nvSpPr>
              <p:spPr bwMode="auto">
                <a:xfrm flipV="1">
                  <a:off x="5261" y="1885"/>
                  <a:ext cx="124"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9" name="Line 232"/>
                <p:cNvSpPr>
                  <a:spLocks noChangeShapeType="1"/>
                </p:cNvSpPr>
                <p:nvPr/>
              </p:nvSpPr>
              <p:spPr bwMode="auto">
                <a:xfrm flipV="1">
                  <a:off x="5274" y="1890"/>
                  <a:ext cx="119"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0" name="Line 233"/>
                <p:cNvSpPr>
                  <a:spLocks noChangeShapeType="1"/>
                </p:cNvSpPr>
                <p:nvPr/>
              </p:nvSpPr>
              <p:spPr bwMode="auto">
                <a:xfrm flipV="1">
                  <a:off x="5291" y="1897"/>
                  <a:ext cx="11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1" name="Line 234"/>
                <p:cNvSpPr>
                  <a:spLocks noChangeShapeType="1"/>
                </p:cNvSpPr>
                <p:nvPr/>
              </p:nvSpPr>
              <p:spPr bwMode="auto">
                <a:xfrm>
                  <a:off x="5239" y="1915"/>
                  <a:ext cx="71" cy="40"/>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2" name="Line 235"/>
                <p:cNvSpPr>
                  <a:spLocks noChangeShapeType="1"/>
                </p:cNvSpPr>
                <p:nvPr/>
              </p:nvSpPr>
              <p:spPr bwMode="auto">
                <a:xfrm>
                  <a:off x="5255" y="1910"/>
                  <a:ext cx="69" cy="3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3" name="Line 236"/>
                <p:cNvSpPr>
                  <a:spLocks noChangeShapeType="1"/>
                </p:cNvSpPr>
                <p:nvPr/>
              </p:nvSpPr>
              <p:spPr bwMode="auto">
                <a:xfrm>
                  <a:off x="5285" y="1897"/>
                  <a:ext cx="68" cy="3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4" name="Line 237"/>
                <p:cNvSpPr>
                  <a:spLocks noChangeShapeType="1"/>
                </p:cNvSpPr>
                <p:nvPr/>
              </p:nvSpPr>
              <p:spPr bwMode="auto">
                <a:xfrm>
                  <a:off x="5301" y="1891"/>
                  <a:ext cx="67"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5" name="Line 238"/>
                <p:cNvSpPr>
                  <a:spLocks noChangeShapeType="1"/>
                </p:cNvSpPr>
                <p:nvPr/>
              </p:nvSpPr>
              <p:spPr bwMode="auto">
                <a:xfrm>
                  <a:off x="5318" y="1886"/>
                  <a:ext cx="65"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6" name="Line 239"/>
                <p:cNvSpPr>
                  <a:spLocks noChangeShapeType="1"/>
                </p:cNvSpPr>
                <p:nvPr/>
              </p:nvSpPr>
              <p:spPr bwMode="auto">
                <a:xfrm>
                  <a:off x="5332" y="1880"/>
                  <a:ext cx="64" cy="3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7" name="Line 240"/>
                <p:cNvSpPr>
                  <a:spLocks noChangeShapeType="1"/>
                </p:cNvSpPr>
                <p:nvPr/>
              </p:nvSpPr>
              <p:spPr bwMode="auto">
                <a:xfrm>
                  <a:off x="5346" y="1874"/>
                  <a:ext cx="64" cy="3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8" name="Line 241"/>
                <p:cNvSpPr>
                  <a:spLocks noChangeShapeType="1"/>
                </p:cNvSpPr>
                <p:nvPr/>
              </p:nvSpPr>
              <p:spPr bwMode="auto">
                <a:xfrm>
                  <a:off x="5209" y="1892"/>
                  <a:ext cx="35" cy="1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9" name="Line 242"/>
                <p:cNvSpPr>
                  <a:spLocks noChangeShapeType="1"/>
                </p:cNvSpPr>
                <p:nvPr/>
              </p:nvSpPr>
              <p:spPr bwMode="auto">
                <a:xfrm>
                  <a:off x="5232" y="1885"/>
                  <a:ext cx="32"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0" name="Line 243"/>
                <p:cNvSpPr>
                  <a:spLocks noChangeShapeType="1"/>
                </p:cNvSpPr>
                <p:nvPr/>
              </p:nvSpPr>
              <p:spPr bwMode="auto">
                <a:xfrm>
                  <a:off x="5252" y="1879"/>
                  <a:ext cx="33"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1" name="Line 244"/>
                <p:cNvSpPr>
                  <a:spLocks noChangeShapeType="1"/>
                </p:cNvSpPr>
                <p:nvPr/>
              </p:nvSpPr>
              <p:spPr bwMode="auto">
                <a:xfrm>
                  <a:off x="5272" y="1872"/>
                  <a:ext cx="32"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2" name="Line 245"/>
                <p:cNvSpPr>
                  <a:spLocks noChangeShapeType="1"/>
                </p:cNvSpPr>
                <p:nvPr/>
              </p:nvSpPr>
              <p:spPr bwMode="auto">
                <a:xfrm>
                  <a:off x="5292" y="1865"/>
                  <a:ext cx="31" cy="1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3" name="Line 246"/>
                <p:cNvSpPr>
                  <a:spLocks noChangeShapeType="1"/>
                </p:cNvSpPr>
                <p:nvPr/>
              </p:nvSpPr>
              <p:spPr bwMode="auto">
                <a:xfrm>
                  <a:off x="5315" y="1858"/>
                  <a:ext cx="29"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261" name="Group 254"/>
          <p:cNvGrpSpPr>
            <a:grpSpLocks/>
          </p:cNvGrpSpPr>
          <p:nvPr/>
        </p:nvGrpSpPr>
        <p:grpSpPr bwMode="auto">
          <a:xfrm>
            <a:off x="7012736" y="3240629"/>
            <a:ext cx="144954" cy="73406"/>
            <a:chOff x="5325" y="1860"/>
            <a:chExt cx="144" cy="79"/>
          </a:xfrm>
        </p:grpSpPr>
        <p:grpSp>
          <p:nvGrpSpPr>
            <p:cNvPr id="262" name="Group 255"/>
            <p:cNvGrpSpPr>
              <a:grpSpLocks/>
            </p:cNvGrpSpPr>
            <p:nvPr/>
          </p:nvGrpSpPr>
          <p:grpSpPr bwMode="auto">
            <a:xfrm>
              <a:off x="5325" y="1860"/>
              <a:ext cx="125" cy="63"/>
              <a:chOff x="5325" y="1860"/>
              <a:chExt cx="125" cy="63"/>
            </a:xfrm>
          </p:grpSpPr>
          <p:sp>
            <p:nvSpPr>
              <p:cNvPr id="266" name="Freeform 256"/>
              <p:cNvSpPr>
                <a:spLocks/>
              </p:cNvSpPr>
              <p:nvPr/>
            </p:nvSpPr>
            <p:spPr bwMode="auto">
              <a:xfrm>
                <a:off x="5325" y="1860"/>
                <a:ext cx="125" cy="63"/>
              </a:xfrm>
              <a:custGeom>
                <a:avLst/>
                <a:gdLst>
                  <a:gd name="T0" fmla="*/ 0 w 751"/>
                  <a:gd name="T1" fmla="*/ 0 h 379"/>
                  <a:gd name="T2" fmla="*/ 0 w 751"/>
                  <a:gd name="T3" fmla="*/ 0 h 379"/>
                  <a:gd name="T4" fmla="*/ 0 w 751"/>
                  <a:gd name="T5" fmla="*/ 0 h 379"/>
                  <a:gd name="T6" fmla="*/ 0 w 751"/>
                  <a:gd name="T7" fmla="*/ 0 h 379"/>
                  <a:gd name="T8" fmla="*/ 0 w 751"/>
                  <a:gd name="T9" fmla="*/ 0 h 379"/>
                  <a:gd name="T10" fmla="*/ 0 w 751"/>
                  <a:gd name="T11" fmla="*/ 0 h 379"/>
                  <a:gd name="T12" fmla="*/ 0 w 751"/>
                  <a:gd name="T13" fmla="*/ 0 h 379"/>
                  <a:gd name="T14" fmla="*/ 0 w 751"/>
                  <a:gd name="T15" fmla="*/ 0 h 379"/>
                  <a:gd name="T16" fmla="*/ 0 w 751"/>
                  <a:gd name="T17" fmla="*/ 0 h 379"/>
                  <a:gd name="T18" fmla="*/ 0 w 751"/>
                  <a:gd name="T19" fmla="*/ 0 h 379"/>
                  <a:gd name="T20" fmla="*/ 0 w 751"/>
                  <a:gd name="T21" fmla="*/ 0 h 379"/>
                  <a:gd name="T22" fmla="*/ 0 w 751"/>
                  <a:gd name="T23" fmla="*/ 0 h 379"/>
                  <a:gd name="T24" fmla="*/ 0 w 751"/>
                  <a:gd name="T25" fmla="*/ 0 h 379"/>
                  <a:gd name="T26" fmla="*/ 0 w 751"/>
                  <a:gd name="T27" fmla="*/ 0 h 379"/>
                  <a:gd name="T28" fmla="*/ 0 w 751"/>
                  <a:gd name="T29" fmla="*/ 0 h 379"/>
                  <a:gd name="T30" fmla="*/ 0 w 751"/>
                  <a:gd name="T31" fmla="*/ 0 h 379"/>
                  <a:gd name="T32" fmla="*/ 0 w 751"/>
                  <a:gd name="T33" fmla="*/ 0 h 379"/>
                  <a:gd name="T34" fmla="*/ 0 w 751"/>
                  <a:gd name="T35" fmla="*/ 0 h 379"/>
                  <a:gd name="T36" fmla="*/ 0 w 751"/>
                  <a:gd name="T37" fmla="*/ 0 h 379"/>
                  <a:gd name="T38" fmla="*/ 0 w 751"/>
                  <a:gd name="T39" fmla="*/ 0 h 379"/>
                  <a:gd name="T40" fmla="*/ 0 w 751"/>
                  <a:gd name="T41" fmla="*/ 0 h 379"/>
                  <a:gd name="T42" fmla="*/ 0 w 751"/>
                  <a:gd name="T43" fmla="*/ 0 h 379"/>
                  <a:gd name="T44" fmla="*/ 0 w 751"/>
                  <a:gd name="T45" fmla="*/ 0 h 379"/>
                  <a:gd name="T46" fmla="*/ 0 w 751"/>
                  <a:gd name="T47" fmla="*/ 0 h 379"/>
                  <a:gd name="T48" fmla="*/ 0 w 751"/>
                  <a:gd name="T49" fmla="*/ 0 h 379"/>
                  <a:gd name="T50" fmla="*/ 0 w 751"/>
                  <a:gd name="T51" fmla="*/ 0 h 379"/>
                  <a:gd name="T52" fmla="*/ 0 w 751"/>
                  <a:gd name="T53" fmla="*/ 0 h 379"/>
                  <a:gd name="T54" fmla="*/ 0 w 751"/>
                  <a:gd name="T55" fmla="*/ 0 h 379"/>
                  <a:gd name="T56" fmla="*/ 0 w 751"/>
                  <a:gd name="T57" fmla="*/ 0 h 379"/>
                  <a:gd name="T58" fmla="*/ 0 w 751"/>
                  <a:gd name="T59" fmla="*/ 0 h 379"/>
                  <a:gd name="T60" fmla="*/ 0 w 751"/>
                  <a:gd name="T61" fmla="*/ 0 h 379"/>
                  <a:gd name="T62" fmla="*/ 0 w 751"/>
                  <a:gd name="T63" fmla="*/ 0 h 379"/>
                  <a:gd name="T64" fmla="*/ 0 w 751"/>
                  <a:gd name="T65" fmla="*/ 0 h 379"/>
                  <a:gd name="T66" fmla="*/ 0 w 751"/>
                  <a:gd name="T67" fmla="*/ 0 h 379"/>
                  <a:gd name="T68" fmla="*/ 0 w 751"/>
                  <a:gd name="T69" fmla="*/ 0 h 379"/>
                  <a:gd name="T70" fmla="*/ 0 w 751"/>
                  <a:gd name="T71" fmla="*/ 0 h 379"/>
                  <a:gd name="T72" fmla="*/ 0 w 751"/>
                  <a:gd name="T73" fmla="*/ 0 h 379"/>
                  <a:gd name="T74" fmla="*/ 0 w 751"/>
                  <a:gd name="T75" fmla="*/ 0 h 379"/>
                  <a:gd name="T76" fmla="*/ 0 w 751"/>
                  <a:gd name="T77" fmla="*/ 0 h 379"/>
                  <a:gd name="T78" fmla="*/ 0 w 751"/>
                  <a:gd name="T79" fmla="*/ 0 h 379"/>
                  <a:gd name="T80" fmla="*/ 0 w 751"/>
                  <a:gd name="T81" fmla="*/ 0 h 379"/>
                  <a:gd name="T82" fmla="*/ 0 w 751"/>
                  <a:gd name="T83" fmla="*/ 0 h 379"/>
                  <a:gd name="T84" fmla="*/ 0 w 751"/>
                  <a:gd name="T85" fmla="*/ 0 h 379"/>
                  <a:gd name="T86" fmla="*/ 0 w 751"/>
                  <a:gd name="T87" fmla="*/ 0 h 379"/>
                  <a:gd name="T88" fmla="*/ 0 w 751"/>
                  <a:gd name="T89" fmla="*/ 0 h 379"/>
                  <a:gd name="T90" fmla="*/ 0 w 751"/>
                  <a:gd name="T91" fmla="*/ 0 h 379"/>
                  <a:gd name="T92" fmla="*/ 0 w 751"/>
                  <a:gd name="T93" fmla="*/ 0 h 379"/>
                  <a:gd name="T94" fmla="*/ 0 w 751"/>
                  <a:gd name="T95" fmla="*/ 0 h 379"/>
                  <a:gd name="T96" fmla="*/ 0 w 751"/>
                  <a:gd name="T97" fmla="*/ 0 h 379"/>
                  <a:gd name="T98" fmla="*/ 0 w 751"/>
                  <a:gd name="T99" fmla="*/ 0 h 379"/>
                  <a:gd name="T100" fmla="*/ 0 w 751"/>
                  <a:gd name="T101" fmla="*/ 0 h 379"/>
                  <a:gd name="T102" fmla="*/ 0 w 751"/>
                  <a:gd name="T103" fmla="*/ 0 h 379"/>
                  <a:gd name="T104" fmla="*/ 0 w 751"/>
                  <a:gd name="T105" fmla="*/ 0 h 379"/>
                  <a:gd name="T106" fmla="*/ 0 w 751"/>
                  <a:gd name="T107" fmla="*/ 0 h 379"/>
                  <a:gd name="T108" fmla="*/ 0 w 751"/>
                  <a:gd name="T109" fmla="*/ 0 h 379"/>
                  <a:gd name="T110" fmla="*/ 0 w 751"/>
                  <a:gd name="T111" fmla="*/ 0 h 379"/>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751" h="379">
                    <a:moveTo>
                      <a:pt x="679" y="379"/>
                    </a:moveTo>
                    <a:lnTo>
                      <a:pt x="639" y="370"/>
                    </a:lnTo>
                    <a:lnTo>
                      <a:pt x="600" y="352"/>
                    </a:lnTo>
                    <a:lnTo>
                      <a:pt x="564" y="344"/>
                    </a:lnTo>
                    <a:lnTo>
                      <a:pt x="502" y="353"/>
                    </a:lnTo>
                    <a:lnTo>
                      <a:pt x="457" y="352"/>
                    </a:lnTo>
                    <a:lnTo>
                      <a:pt x="425" y="341"/>
                    </a:lnTo>
                    <a:lnTo>
                      <a:pt x="399" y="332"/>
                    </a:lnTo>
                    <a:lnTo>
                      <a:pt x="373" y="320"/>
                    </a:lnTo>
                    <a:lnTo>
                      <a:pt x="346" y="295"/>
                    </a:lnTo>
                    <a:lnTo>
                      <a:pt x="324" y="273"/>
                    </a:lnTo>
                    <a:lnTo>
                      <a:pt x="288" y="246"/>
                    </a:lnTo>
                    <a:lnTo>
                      <a:pt x="238" y="254"/>
                    </a:lnTo>
                    <a:lnTo>
                      <a:pt x="208" y="256"/>
                    </a:lnTo>
                    <a:lnTo>
                      <a:pt x="190" y="251"/>
                    </a:lnTo>
                    <a:lnTo>
                      <a:pt x="182" y="243"/>
                    </a:lnTo>
                    <a:lnTo>
                      <a:pt x="176" y="228"/>
                    </a:lnTo>
                    <a:lnTo>
                      <a:pt x="180" y="215"/>
                    </a:lnTo>
                    <a:lnTo>
                      <a:pt x="190" y="200"/>
                    </a:lnTo>
                    <a:lnTo>
                      <a:pt x="208" y="193"/>
                    </a:lnTo>
                    <a:lnTo>
                      <a:pt x="248" y="188"/>
                    </a:lnTo>
                    <a:lnTo>
                      <a:pt x="296" y="171"/>
                    </a:lnTo>
                    <a:lnTo>
                      <a:pt x="256" y="140"/>
                    </a:lnTo>
                    <a:lnTo>
                      <a:pt x="209" y="121"/>
                    </a:lnTo>
                    <a:lnTo>
                      <a:pt x="168" y="124"/>
                    </a:lnTo>
                    <a:lnTo>
                      <a:pt x="121" y="121"/>
                    </a:lnTo>
                    <a:lnTo>
                      <a:pt x="93" y="131"/>
                    </a:lnTo>
                    <a:lnTo>
                      <a:pt x="54" y="132"/>
                    </a:lnTo>
                    <a:lnTo>
                      <a:pt x="42" y="121"/>
                    </a:lnTo>
                    <a:lnTo>
                      <a:pt x="39" y="105"/>
                    </a:lnTo>
                    <a:lnTo>
                      <a:pt x="18" y="106"/>
                    </a:lnTo>
                    <a:lnTo>
                      <a:pt x="6" y="103"/>
                    </a:lnTo>
                    <a:lnTo>
                      <a:pt x="0" y="87"/>
                    </a:lnTo>
                    <a:lnTo>
                      <a:pt x="4" y="74"/>
                    </a:lnTo>
                    <a:lnTo>
                      <a:pt x="15" y="68"/>
                    </a:lnTo>
                    <a:lnTo>
                      <a:pt x="36" y="56"/>
                    </a:lnTo>
                    <a:lnTo>
                      <a:pt x="52" y="44"/>
                    </a:lnTo>
                    <a:lnTo>
                      <a:pt x="71" y="34"/>
                    </a:lnTo>
                    <a:lnTo>
                      <a:pt x="93" y="27"/>
                    </a:lnTo>
                    <a:lnTo>
                      <a:pt x="112" y="27"/>
                    </a:lnTo>
                    <a:lnTo>
                      <a:pt x="203" y="9"/>
                    </a:lnTo>
                    <a:lnTo>
                      <a:pt x="222" y="4"/>
                    </a:lnTo>
                    <a:lnTo>
                      <a:pt x="244" y="0"/>
                    </a:lnTo>
                    <a:lnTo>
                      <a:pt x="267" y="4"/>
                    </a:lnTo>
                    <a:lnTo>
                      <a:pt x="295" y="13"/>
                    </a:lnTo>
                    <a:lnTo>
                      <a:pt x="373" y="56"/>
                    </a:lnTo>
                    <a:lnTo>
                      <a:pt x="410" y="64"/>
                    </a:lnTo>
                    <a:lnTo>
                      <a:pt x="443" y="71"/>
                    </a:lnTo>
                    <a:lnTo>
                      <a:pt x="469" y="87"/>
                    </a:lnTo>
                    <a:lnTo>
                      <a:pt x="484" y="108"/>
                    </a:lnTo>
                    <a:lnTo>
                      <a:pt x="549" y="153"/>
                    </a:lnTo>
                    <a:lnTo>
                      <a:pt x="578" y="174"/>
                    </a:lnTo>
                    <a:lnTo>
                      <a:pt x="617" y="215"/>
                    </a:lnTo>
                    <a:lnTo>
                      <a:pt x="641" y="227"/>
                    </a:lnTo>
                    <a:lnTo>
                      <a:pt x="751" y="232"/>
                    </a:lnTo>
                    <a:lnTo>
                      <a:pt x="679" y="379"/>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7" name="Freeform 257"/>
              <p:cNvSpPr>
                <a:spLocks/>
              </p:cNvSpPr>
              <p:nvPr/>
            </p:nvSpPr>
            <p:spPr bwMode="auto">
              <a:xfrm>
                <a:off x="5374" y="1888"/>
                <a:ext cx="29" cy="7"/>
              </a:xfrm>
              <a:custGeom>
                <a:avLst/>
                <a:gdLst>
                  <a:gd name="T0" fmla="*/ 0 w 179"/>
                  <a:gd name="T1" fmla="*/ 0 h 43"/>
                  <a:gd name="T2" fmla="*/ 0 w 179"/>
                  <a:gd name="T3" fmla="*/ 0 h 43"/>
                  <a:gd name="T4" fmla="*/ 0 w 179"/>
                  <a:gd name="T5" fmla="*/ 0 h 43"/>
                  <a:gd name="T6" fmla="*/ 0 w 179"/>
                  <a:gd name="T7" fmla="*/ 0 h 43"/>
                  <a:gd name="T8" fmla="*/ 0 w 179"/>
                  <a:gd name="T9" fmla="*/ 0 h 43"/>
                  <a:gd name="T10" fmla="*/ 0 w 179"/>
                  <a:gd name="T11" fmla="*/ 0 h 43"/>
                  <a:gd name="T12" fmla="*/ 0 w 179"/>
                  <a:gd name="T13" fmla="*/ 0 h 43"/>
                  <a:gd name="T14" fmla="*/ 0 w 179"/>
                  <a:gd name="T15" fmla="*/ 0 h 43"/>
                  <a:gd name="T16" fmla="*/ 0 w 179"/>
                  <a:gd name="T17" fmla="*/ 0 h 43"/>
                  <a:gd name="T18" fmla="*/ 0 w 179"/>
                  <a:gd name="T19" fmla="*/ 0 h 43"/>
                  <a:gd name="T20" fmla="*/ 0 w 179"/>
                  <a:gd name="T21" fmla="*/ 0 h 43"/>
                  <a:gd name="T22" fmla="*/ 0 w 179"/>
                  <a:gd name="T23" fmla="*/ 0 h 43"/>
                  <a:gd name="T24" fmla="*/ 0 w 179"/>
                  <a:gd name="T25" fmla="*/ 0 h 43"/>
                  <a:gd name="T26" fmla="*/ 0 w 179"/>
                  <a:gd name="T27" fmla="*/ 0 h 43"/>
                  <a:gd name="T28" fmla="*/ 0 w 179"/>
                  <a:gd name="T29" fmla="*/ 0 h 4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79" h="43">
                    <a:moveTo>
                      <a:pt x="0" y="0"/>
                    </a:moveTo>
                    <a:lnTo>
                      <a:pt x="6" y="11"/>
                    </a:lnTo>
                    <a:lnTo>
                      <a:pt x="38" y="10"/>
                    </a:lnTo>
                    <a:lnTo>
                      <a:pt x="50" y="16"/>
                    </a:lnTo>
                    <a:lnTo>
                      <a:pt x="76" y="29"/>
                    </a:lnTo>
                    <a:lnTo>
                      <a:pt x="112" y="37"/>
                    </a:lnTo>
                    <a:lnTo>
                      <a:pt x="150" y="38"/>
                    </a:lnTo>
                    <a:lnTo>
                      <a:pt x="179" y="43"/>
                    </a:lnTo>
                    <a:lnTo>
                      <a:pt x="155" y="34"/>
                    </a:lnTo>
                    <a:lnTo>
                      <a:pt x="125" y="29"/>
                    </a:lnTo>
                    <a:lnTo>
                      <a:pt x="105" y="29"/>
                    </a:lnTo>
                    <a:lnTo>
                      <a:pt x="76" y="21"/>
                    </a:lnTo>
                    <a:lnTo>
                      <a:pt x="53" y="8"/>
                    </a:lnTo>
                    <a:lnTo>
                      <a:pt x="43" y="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8" name="Freeform 258"/>
              <p:cNvSpPr>
                <a:spLocks/>
              </p:cNvSpPr>
              <p:nvPr/>
            </p:nvSpPr>
            <p:spPr bwMode="auto">
              <a:xfrm>
                <a:off x="5362" y="1894"/>
                <a:ext cx="4" cy="4"/>
              </a:xfrm>
              <a:custGeom>
                <a:avLst/>
                <a:gdLst>
                  <a:gd name="T0" fmla="*/ 0 w 20"/>
                  <a:gd name="T1" fmla="*/ 0 h 24"/>
                  <a:gd name="T2" fmla="*/ 0 w 20"/>
                  <a:gd name="T3" fmla="*/ 0 h 24"/>
                  <a:gd name="T4" fmla="*/ 0 w 20"/>
                  <a:gd name="T5" fmla="*/ 0 h 24"/>
                  <a:gd name="T6" fmla="*/ 0 w 20"/>
                  <a:gd name="T7" fmla="*/ 0 h 24"/>
                  <a:gd name="T8" fmla="*/ 0 w 20"/>
                  <a:gd name="T9" fmla="*/ 0 h 24"/>
                  <a:gd name="T10" fmla="*/ 0 w 20"/>
                  <a:gd name="T11" fmla="*/ 0 h 24"/>
                  <a:gd name="T12" fmla="*/ 0 w 20"/>
                  <a:gd name="T13" fmla="*/ 0 h 2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24">
                    <a:moveTo>
                      <a:pt x="4" y="0"/>
                    </a:moveTo>
                    <a:lnTo>
                      <a:pt x="12" y="6"/>
                    </a:lnTo>
                    <a:lnTo>
                      <a:pt x="9" y="15"/>
                    </a:lnTo>
                    <a:lnTo>
                      <a:pt x="0" y="24"/>
                    </a:lnTo>
                    <a:lnTo>
                      <a:pt x="17" y="18"/>
                    </a:lnTo>
                    <a:lnTo>
                      <a:pt x="20" y="8"/>
                    </a:lnTo>
                    <a:lnTo>
                      <a:pt x="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9" name="Freeform 259"/>
              <p:cNvSpPr>
                <a:spLocks/>
              </p:cNvSpPr>
              <p:nvPr/>
            </p:nvSpPr>
            <p:spPr bwMode="auto">
              <a:xfrm>
                <a:off x="5331" y="1869"/>
                <a:ext cx="17" cy="8"/>
              </a:xfrm>
              <a:custGeom>
                <a:avLst/>
                <a:gdLst>
                  <a:gd name="T0" fmla="*/ 0 w 104"/>
                  <a:gd name="T1" fmla="*/ 0 h 48"/>
                  <a:gd name="T2" fmla="*/ 0 w 104"/>
                  <a:gd name="T3" fmla="*/ 0 h 48"/>
                  <a:gd name="T4" fmla="*/ 0 w 104"/>
                  <a:gd name="T5" fmla="*/ 0 h 48"/>
                  <a:gd name="T6" fmla="*/ 0 w 104"/>
                  <a:gd name="T7" fmla="*/ 0 h 48"/>
                  <a:gd name="T8" fmla="*/ 0 w 104"/>
                  <a:gd name="T9" fmla="*/ 0 h 48"/>
                  <a:gd name="T10" fmla="*/ 0 w 104"/>
                  <a:gd name="T11" fmla="*/ 0 h 48"/>
                  <a:gd name="T12" fmla="*/ 0 w 104"/>
                  <a:gd name="T13" fmla="*/ 0 h 48"/>
                  <a:gd name="T14" fmla="*/ 0 w 104"/>
                  <a:gd name="T15" fmla="*/ 0 h 48"/>
                  <a:gd name="T16" fmla="*/ 0 w 104"/>
                  <a:gd name="T17" fmla="*/ 0 h 48"/>
                  <a:gd name="T18" fmla="*/ 0 w 104"/>
                  <a:gd name="T19" fmla="*/ 0 h 48"/>
                  <a:gd name="T20" fmla="*/ 0 w 104"/>
                  <a:gd name="T21" fmla="*/ 0 h 48"/>
                  <a:gd name="T22" fmla="*/ 0 w 104"/>
                  <a:gd name="T23" fmla="*/ 0 h 48"/>
                  <a:gd name="T24" fmla="*/ 0 w 104"/>
                  <a:gd name="T25" fmla="*/ 0 h 48"/>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4" h="48">
                    <a:moveTo>
                      <a:pt x="0" y="45"/>
                    </a:moveTo>
                    <a:lnTo>
                      <a:pt x="11" y="48"/>
                    </a:lnTo>
                    <a:lnTo>
                      <a:pt x="25" y="33"/>
                    </a:lnTo>
                    <a:lnTo>
                      <a:pt x="46" y="25"/>
                    </a:lnTo>
                    <a:lnTo>
                      <a:pt x="56" y="14"/>
                    </a:lnTo>
                    <a:lnTo>
                      <a:pt x="66" y="9"/>
                    </a:lnTo>
                    <a:lnTo>
                      <a:pt x="89" y="4"/>
                    </a:lnTo>
                    <a:lnTo>
                      <a:pt x="104" y="1"/>
                    </a:lnTo>
                    <a:lnTo>
                      <a:pt x="84" y="0"/>
                    </a:lnTo>
                    <a:lnTo>
                      <a:pt x="58" y="4"/>
                    </a:lnTo>
                    <a:lnTo>
                      <a:pt x="49" y="12"/>
                    </a:lnTo>
                    <a:lnTo>
                      <a:pt x="37" y="20"/>
                    </a:lnTo>
                    <a:lnTo>
                      <a:pt x="0" y="4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0" name="Freeform 260"/>
              <p:cNvSpPr>
                <a:spLocks/>
              </p:cNvSpPr>
              <p:nvPr/>
            </p:nvSpPr>
            <p:spPr bwMode="auto">
              <a:xfrm>
                <a:off x="5357" y="1866"/>
                <a:ext cx="27" cy="7"/>
              </a:xfrm>
              <a:custGeom>
                <a:avLst/>
                <a:gdLst>
                  <a:gd name="T0" fmla="*/ 0 w 166"/>
                  <a:gd name="T1" fmla="*/ 0 h 42"/>
                  <a:gd name="T2" fmla="*/ 0 w 166"/>
                  <a:gd name="T3" fmla="*/ 0 h 42"/>
                  <a:gd name="T4" fmla="*/ 0 w 166"/>
                  <a:gd name="T5" fmla="*/ 0 h 42"/>
                  <a:gd name="T6" fmla="*/ 0 w 166"/>
                  <a:gd name="T7" fmla="*/ 0 h 42"/>
                  <a:gd name="T8" fmla="*/ 0 w 166"/>
                  <a:gd name="T9" fmla="*/ 0 h 42"/>
                  <a:gd name="T10" fmla="*/ 0 w 166"/>
                  <a:gd name="T11" fmla="*/ 0 h 42"/>
                  <a:gd name="T12" fmla="*/ 0 w 166"/>
                  <a:gd name="T13" fmla="*/ 0 h 42"/>
                  <a:gd name="T14" fmla="*/ 0 w 166"/>
                  <a:gd name="T15" fmla="*/ 0 h 42"/>
                  <a:gd name="T16" fmla="*/ 0 w 166"/>
                  <a:gd name="T17" fmla="*/ 0 h 42"/>
                  <a:gd name="T18" fmla="*/ 0 w 166"/>
                  <a:gd name="T19" fmla="*/ 0 h 42"/>
                  <a:gd name="T20" fmla="*/ 0 w 166"/>
                  <a:gd name="T21" fmla="*/ 0 h 42"/>
                  <a:gd name="T22" fmla="*/ 0 w 166"/>
                  <a:gd name="T23" fmla="*/ 0 h 42"/>
                  <a:gd name="T24" fmla="*/ 0 w 166"/>
                  <a:gd name="T25" fmla="*/ 0 h 42"/>
                  <a:gd name="T26" fmla="*/ 0 w 166"/>
                  <a:gd name="T27" fmla="*/ 0 h 42"/>
                  <a:gd name="T28" fmla="*/ 0 w 166"/>
                  <a:gd name="T29" fmla="*/ 0 h 42"/>
                  <a:gd name="T30" fmla="*/ 0 w 166"/>
                  <a:gd name="T31" fmla="*/ 0 h 4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66" h="42">
                    <a:moveTo>
                      <a:pt x="0" y="10"/>
                    </a:moveTo>
                    <a:lnTo>
                      <a:pt x="35" y="6"/>
                    </a:lnTo>
                    <a:lnTo>
                      <a:pt x="55" y="0"/>
                    </a:lnTo>
                    <a:lnTo>
                      <a:pt x="63" y="0"/>
                    </a:lnTo>
                    <a:lnTo>
                      <a:pt x="85" y="5"/>
                    </a:lnTo>
                    <a:lnTo>
                      <a:pt x="94" y="14"/>
                    </a:lnTo>
                    <a:lnTo>
                      <a:pt x="111" y="23"/>
                    </a:lnTo>
                    <a:lnTo>
                      <a:pt x="143" y="36"/>
                    </a:lnTo>
                    <a:lnTo>
                      <a:pt x="166" y="36"/>
                    </a:lnTo>
                    <a:lnTo>
                      <a:pt x="142" y="42"/>
                    </a:lnTo>
                    <a:lnTo>
                      <a:pt x="126" y="39"/>
                    </a:lnTo>
                    <a:lnTo>
                      <a:pt x="91" y="22"/>
                    </a:lnTo>
                    <a:lnTo>
                      <a:pt x="79" y="10"/>
                    </a:lnTo>
                    <a:lnTo>
                      <a:pt x="55" y="8"/>
                    </a:lnTo>
                    <a:lnTo>
                      <a:pt x="35" y="10"/>
                    </a:lnTo>
                    <a:lnTo>
                      <a:pt x="0" y="1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1" name="Freeform 261"/>
              <p:cNvSpPr>
                <a:spLocks/>
              </p:cNvSpPr>
              <p:nvPr/>
            </p:nvSpPr>
            <p:spPr bwMode="auto">
              <a:xfrm>
                <a:off x="5335" y="1874"/>
                <a:ext cx="6" cy="5"/>
              </a:xfrm>
              <a:custGeom>
                <a:avLst/>
                <a:gdLst>
                  <a:gd name="T0" fmla="*/ 0 w 33"/>
                  <a:gd name="T1" fmla="*/ 0 h 30"/>
                  <a:gd name="T2" fmla="*/ 0 w 33"/>
                  <a:gd name="T3" fmla="*/ 0 h 30"/>
                  <a:gd name="T4" fmla="*/ 0 w 33"/>
                  <a:gd name="T5" fmla="*/ 0 h 30"/>
                  <a:gd name="T6" fmla="*/ 0 w 33"/>
                  <a:gd name="T7" fmla="*/ 0 h 30"/>
                  <a:gd name="T8" fmla="*/ 0 w 33"/>
                  <a:gd name="T9" fmla="*/ 0 h 30"/>
                  <a:gd name="T10" fmla="*/ 0 w 33"/>
                  <a:gd name="T11" fmla="*/ 0 h 3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30">
                    <a:moveTo>
                      <a:pt x="25" y="0"/>
                    </a:moveTo>
                    <a:lnTo>
                      <a:pt x="33" y="11"/>
                    </a:lnTo>
                    <a:lnTo>
                      <a:pt x="23" y="24"/>
                    </a:lnTo>
                    <a:lnTo>
                      <a:pt x="0" y="30"/>
                    </a:lnTo>
                    <a:lnTo>
                      <a:pt x="25" y="15"/>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2" name="Freeform 262"/>
              <p:cNvSpPr>
                <a:spLocks/>
              </p:cNvSpPr>
              <p:nvPr/>
            </p:nvSpPr>
            <p:spPr bwMode="auto">
              <a:xfrm>
                <a:off x="5329" y="1870"/>
                <a:ext cx="6" cy="4"/>
              </a:xfrm>
              <a:custGeom>
                <a:avLst/>
                <a:gdLst>
                  <a:gd name="T0" fmla="*/ 0 w 33"/>
                  <a:gd name="T1" fmla="*/ 0 h 28"/>
                  <a:gd name="T2" fmla="*/ 0 w 33"/>
                  <a:gd name="T3" fmla="*/ 0 h 28"/>
                  <a:gd name="T4" fmla="*/ 0 w 33"/>
                  <a:gd name="T5" fmla="*/ 0 h 28"/>
                  <a:gd name="T6" fmla="*/ 0 w 33"/>
                  <a:gd name="T7" fmla="*/ 0 h 28"/>
                  <a:gd name="T8" fmla="*/ 0 w 33"/>
                  <a:gd name="T9" fmla="*/ 0 h 28"/>
                  <a:gd name="T10" fmla="*/ 0 w 33"/>
                  <a:gd name="T11" fmla="*/ 0 h 2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28">
                    <a:moveTo>
                      <a:pt x="33" y="16"/>
                    </a:moveTo>
                    <a:lnTo>
                      <a:pt x="25" y="0"/>
                    </a:lnTo>
                    <a:lnTo>
                      <a:pt x="24" y="13"/>
                    </a:lnTo>
                    <a:lnTo>
                      <a:pt x="0" y="26"/>
                    </a:lnTo>
                    <a:lnTo>
                      <a:pt x="3" y="28"/>
                    </a:lnTo>
                    <a:lnTo>
                      <a:pt x="33" y="1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3" name="Freeform 263"/>
              <p:cNvSpPr>
                <a:spLocks/>
              </p:cNvSpPr>
              <p:nvPr/>
            </p:nvSpPr>
            <p:spPr bwMode="auto">
              <a:xfrm>
                <a:off x="5399" y="1876"/>
                <a:ext cx="6" cy="7"/>
              </a:xfrm>
              <a:custGeom>
                <a:avLst/>
                <a:gdLst>
                  <a:gd name="T0" fmla="*/ 0 w 37"/>
                  <a:gd name="T1" fmla="*/ 0 h 42"/>
                  <a:gd name="T2" fmla="*/ 0 w 37"/>
                  <a:gd name="T3" fmla="*/ 0 h 42"/>
                  <a:gd name="T4" fmla="*/ 0 w 37"/>
                  <a:gd name="T5" fmla="*/ 0 h 42"/>
                  <a:gd name="T6" fmla="*/ 0 w 37"/>
                  <a:gd name="T7" fmla="*/ 0 h 42"/>
                  <a:gd name="T8" fmla="*/ 0 w 37"/>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7" h="42">
                    <a:moveTo>
                      <a:pt x="0" y="0"/>
                    </a:moveTo>
                    <a:lnTo>
                      <a:pt x="8" y="21"/>
                    </a:lnTo>
                    <a:lnTo>
                      <a:pt x="23" y="39"/>
                    </a:lnTo>
                    <a:lnTo>
                      <a:pt x="37" y="4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4" name="Freeform 264"/>
              <p:cNvSpPr>
                <a:spLocks/>
              </p:cNvSpPr>
              <p:nvPr/>
            </p:nvSpPr>
            <p:spPr bwMode="auto">
              <a:xfrm>
                <a:off x="5420" y="1907"/>
                <a:ext cx="9" cy="6"/>
              </a:xfrm>
              <a:custGeom>
                <a:avLst/>
                <a:gdLst>
                  <a:gd name="T0" fmla="*/ 0 w 50"/>
                  <a:gd name="T1" fmla="*/ 0 h 39"/>
                  <a:gd name="T2" fmla="*/ 0 w 50"/>
                  <a:gd name="T3" fmla="*/ 0 h 39"/>
                  <a:gd name="T4" fmla="*/ 0 w 50"/>
                  <a:gd name="T5" fmla="*/ 0 h 39"/>
                  <a:gd name="T6" fmla="*/ 0 w 50"/>
                  <a:gd name="T7" fmla="*/ 0 h 3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50" h="39">
                    <a:moveTo>
                      <a:pt x="50" y="0"/>
                    </a:moveTo>
                    <a:lnTo>
                      <a:pt x="17" y="14"/>
                    </a:lnTo>
                    <a:lnTo>
                      <a:pt x="0" y="39"/>
                    </a:lnTo>
                    <a:lnTo>
                      <a:pt x="5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63" name="Group 265"/>
            <p:cNvGrpSpPr>
              <a:grpSpLocks/>
            </p:cNvGrpSpPr>
            <p:nvPr/>
          </p:nvGrpSpPr>
          <p:grpSpPr bwMode="auto">
            <a:xfrm>
              <a:off x="5432" y="1894"/>
              <a:ext cx="37" cy="45"/>
              <a:chOff x="5432" y="1894"/>
              <a:chExt cx="37" cy="45"/>
            </a:xfrm>
          </p:grpSpPr>
          <p:sp>
            <p:nvSpPr>
              <p:cNvPr id="264" name="Freeform 266"/>
              <p:cNvSpPr>
                <a:spLocks/>
              </p:cNvSpPr>
              <p:nvPr/>
            </p:nvSpPr>
            <p:spPr bwMode="auto">
              <a:xfrm>
                <a:off x="5432" y="1894"/>
                <a:ext cx="37" cy="45"/>
              </a:xfrm>
              <a:custGeom>
                <a:avLst/>
                <a:gdLst>
                  <a:gd name="T0" fmla="*/ 0 w 219"/>
                  <a:gd name="T1" fmla="*/ 0 h 267"/>
                  <a:gd name="T2" fmla="*/ 0 w 219"/>
                  <a:gd name="T3" fmla="*/ 0 h 267"/>
                  <a:gd name="T4" fmla="*/ 0 w 219"/>
                  <a:gd name="T5" fmla="*/ 0 h 267"/>
                  <a:gd name="T6" fmla="*/ 0 w 219"/>
                  <a:gd name="T7" fmla="*/ 0 h 267"/>
                  <a:gd name="T8" fmla="*/ 0 w 219"/>
                  <a:gd name="T9" fmla="*/ 0 h 267"/>
                  <a:gd name="T10" fmla="*/ 0 w 219"/>
                  <a:gd name="T11" fmla="*/ 0 h 267"/>
                  <a:gd name="T12" fmla="*/ 0 w 219"/>
                  <a:gd name="T13" fmla="*/ 0 h 267"/>
                  <a:gd name="T14" fmla="*/ 0 w 219"/>
                  <a:gd name="T15" fmla="*/ 0 h 267"/>
                  <a:gd name="T16" fmla="*/ 0 w 219"/>
                  <a:gd name="T17" fmla="*/ 0 h 267"/>
                  <a:gd name="T18" fmla="*/ 0 w 219"/>
                  <a:gd name="T19" fmla="*/ 0 h 26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267">
                    <a:moveTo>
                      <a:pt x="77" y="17"/>
                    </a:moveTo>
                    <a:lnTo>
                      <a:pt x="42" y="55"/>
                    </a:lnTo>
                    <a:lnTo>
                      <a:pt x="26" y="87"/>
                    </a:lnTo>
                    <a:lnTo>
                      <a:pt x="11" y="138"/>
                    </a:lnTo>
                    <a:lnTo>
                      <a:pt x="11" y="167"/>
                    </a:lnTo>
                    <a:lnTo>
                      <a:pt x="0" y="210"/>
                    </a:lnTo>
                    <a:lnTo>
                      <a:pt x="178" y="267"/>
                    </a:lnTo>
                    <a:lnTo>
                      <a:pt x="219" y="0"/>
                    </a:lnTo>
                    <a:lnTo>
                      <a:pt x="146" y="17"/>
                    </a:lnTo>
                    <a:lnTo>
                      <a:pt x="77" y="17"/>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5" name="Freeform 267"/>
              <p:cNvSpPr>
                <a:spLocks/>
              </p:cNvSpPr>
              <p:nvPr/>
            </p:nvSpPr>
            <p:spPr bwMode="auto">
              <a:xfrm>
                <a:off x="5436" y="1898"/>
                <a:ext cx="29" cy="37"/>
              </a:xfrm>
              <a:custGeom>
                <a:avLst/>
                <a:gdLst>
                  <a:gd name="T0" fmla="*/ 0 w 175"/>
                  <a:gd name="T1" fmla="*/ 0 h 220"/>
                  <a:gd name="T2" fmla="*/ 0 w 175"/>
                  <a:gd name="T3" fmla="*/ 0 h 220"/>
                  <a:gd name="T4" fmla="*/ 0 w 175"/>
                  <a:gd name="T5" fmla="*/ 0 h 220"/>
                  <a:gd name="T6" fmla="*/ 0 w 175"/>
                  <a:gd name="T7" fmla="*/ 0 h 220"/>
                  <a:gd name="T8" fmla="*/ 0 w 175"/>
                  <a:gd name="T9" fmla="*/ 0 h 220"/>
                  <a:gd name="T10" fmla="*/ 0 w 175"/>
                  <a:gd name="T11" fmla="*/ 0 h 220"/>
                  <a:gd name="T12" fmla="*/ 0 w 175"/>
                  <a:gd name="T13" fmla="*/ 0 h 220"/>
                  <a:gd name="T14" fmla="*/ 0 w 175"/>
                  <a:gd name="T15" fmla="*/ 0 h 220"/>
                  <a:gd name="T16" fmla="*/ 0 w 175"/>
                  <a:gd name="T17" fmla="*/ 0 h 22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75" h="220">
                    <a:moveTo>
                      <a:pt x="69" y="7"/>
                    </a:moveTo>
                    <a:lnTo>
                      <a:pt x="38" y="42"/>
                    </a:lnTo>
                    <a:lnTo>
                      <a:pt x="12" y="92"/>
                    </a:lnTo>
                    <a:lnTo>
                      <a:pt x="6" y="128"/>
                    </a:lnTo>
                    <a:lnTo>
                      <a:pt x="0" y="171"/>
                    </a:lnTo>
                    <a:lnTo>
                      <a:pt x="140" y="220"/>
                    </a:lnTo>
                    <a:lnTo>
                      <a:pt x="175" y="0"/>
                    </a:lnTo>
                    <a:lnTo>
                      <a:pt x="122" y="10"/>
                    </a:lnTo>
                    <a:lnTo>
                      <a:pt x="69" y="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sp>
        <p:nvSpPr>
          <p:cNvPr id="275" name="Freeform 268"/>
          <p:cNvSpPr>
            <a:spLocks/>
          </p:cNvSpPr>
          <p:nvPr/>
        </p:nvSpPr>
        <p:spPr bwMode="auto">
          <a:xfrm>
            <a:off x="7153663" y="3046428"/>
            <a:ext cx="123814" cy="124512"/>
          </a:xfrm>
          <a:custGeom>
            <a:avLst/>
            <a:gdLst>
              <a:gd name="T0" fmla="*/ 2147483646 w 741"/>
              <a:gd name="T1" fmla="*/ 2147483646 h 807"/>
              <a:gd name="T2" fmla="*/ 2147483646 w 741"/>
              <a:gd name="T3" fmla="*/ 2147483646 h 807"/>
              <a:gd name="T4" fmla="*/ 2147483646 w 741"/>
              <a:gd name="T5" fmla="*/ 2147483646 h 807"/>
              <a:gd name="T6" fmla="*/ 2147483646 w 741"/>
              <a:gd name="T7" fmla="*/ 2147483646 h 807"/>
              <a:gd name="T8" fmla="*/ 2147483646 w 741"/>
              <a:gd name="T9" fmla="*/ 2147483646 h 807"/>
              <a:gd name="T10" fmla="*/ 2147483646 w 741"/>
              <a:gd name="T11" fmla="*/ 2147483646 h 807"/>
              <a:gd name="T12" fmla="*/ 2147483646 w 741"/>
              <a:gd name="T13" fmla="*/ 2147483646 h 807"/>
              <a:gd name="T14" fmla="*/ 2147483646 w 741"/>
              <a:gd name="T15" fmla="*/ 2147483646 h 807"/>
              <a:gd name="T16" fmla="*/ 2147483646 w 741"/>
              <a:gd name="T17" fmla="*/ 2147483646 h 807"/>
              <a:gd name="T18" fmla="*/ 0 w 741"/>
              <a:gd name="T19" fmla="*/ 2147483646 h 807"/>
              <a:gd name="T20" fmla="*/ 0 w 741"/>
              <a:gd name="T21" fmla="*/ 2147483646 h 807"/>
              <a:gd name="T22" fmla="*/ 2147483646 w 741"/>
              <a:gd name="T23" fmla="*/ 2147483646 h 807"/>
              <a:gd name="T24" fmla="*/ 2147483646 w 741"/>
              <a:gd name="T25" fmla="*/ 2147483646 h 807"/>
              <a:gd name="T26" fmla="*/ 2147483646 w 741"/>
              <a:gd name="T27" fmla="*/ 2147483646 h 807"/>
              <a:gd name="T28" fmla="*/ 2147483646 w 741"/>
              <a:gd name="T29" fmla="*/ 2147483646 h 807"/>
              <a:gd name="T30" fmla="*/ 2147483646 w 741"/>
              <a:gd name="T31" fmla="*/ 2147483646 h 807"/>
              <a:gd name="T32" fmla="*/ 2147483646 w 741"/>
              <a:gd name="T33" fmla="*/ 2147483646 h 807"/>
              <a:gd name="T34" fmla="*/ 2147483646 w 741"/>
              <a:gd name="T35" fmla="*/ 2147483646 h 807"/>
              <a:gd name="T36" fmla="*/ 2147483646 w 741"/>
              <a:gd name="T37" fmla="*/ 2147483646 h 807"/>
              <a:gd name="T38" fmla="*/ 2147483646 w 741"/>
              <a:gd name="T39" fmla="*/ 2147483646 h 807"/>
              <a:gd name="T40" fmla="*/ 2147483646 w 741"/>
              <a:gd name="T41" fmla="*/ 2147483646 h 807"/>
              <a:gd name="T42" fmla="*/ 2147483646 w 741"/>
              <a:gd name="T43" fmla="*/ 2147483646 h 807"/>
              <a:gd name="T44" fmla="*/ 2147483646 w 741"/>
              <a:gd name="T45" fmla="*/ 2147483646 h 807"/>
              <a:gd name="T46" fmla="*/ 2147483646 w 741"/>
              <a:gd name="T47" fmla="*/ 2147483646 h 807"/>
              <a:gd name="T48" fmla="*/ 2147483646 w 741"/>
              <a:gd name="T49" fmla="*/ 2147483646 h 807"/>
              <a:gd name="T50" fmla="*/ 2147483646 w 741"/>
              <a:gd name="T51" fmla="*/ 2147483646 h 807"/>
              <a:gd name="T52" fmla="*/ 2147483646 w 741"/>
              <a:gd name="T53" fmla="*/ 2147483646 h 807"/>
              <a:gd name="T54" fmla="*/ 2147483646 w 741"/>
              <a:gd name="T55" fmla="*/ 2147483646 h 807"/>
              <a:gd name="T56" fmla="*/ 2147483646 w 741"/>
              <a:gd name="T57" fmla="*/ 2147483646 h 807"/>
              <a:gd name="T58" fmla="*/ 2147483646 w 741"/>
              <a:gd name="T59" fmla="*/ 2147483646 h 807"/>
              <a:gd name="T60" fmla="*/ 2147483646 w 741"/>
              <a:gd name="T61" fmla="*/ 2147483646 h 807"/>
              <a:gd name="T62" fmla="*/ 2147483646 w 741"/>
              <a:gd name="T63" fmla="*/ 2147483646 h 807"/>
              <a:gd name="T64" fmla="*/ 2147483646 w 741"/>
              <a:gd name="T65" fmla="*/ 2147483646 h 807"/>
              <a:gd name="T66" fmla="*/ 2147483646 w 741"/>
              <a:gd name="T67" fmla="*/ 0 h 807"/>
              <a:gd name="T68" fmla="*/ 2147483646 w 741"/>
              <a:gd name="T69" fmla="*/ 2147483646 h 807"/>
              <a:gd name="T70" fmla="*/ 2147483646 w 741"/>
              <a:gd name="T71" fmla="*/ 2147483646 h 807"/>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741" h="807">
                <a:moveTo>
                  <a:pt x="243" y="26"/>
                </a:moveTo>
                <a:lnTo>
                  <a:pt x="179" y="74"/>
                </a:lnTo>
                <a:lnTo>
                  <a:pt x="144" y="131"/>
                </a:lnTo>
                <a:lnTo>
                  <a:pt x="112" y="192"/>
                </a:lnTo>
                <a:lnTo>
                  <a:pt x="92" y="224"/>
                </a:lnTo>
                <a:lnTo>
                  <a:pt x="92" y="259"/>
                </a:lnTo>
                <a:lnTo>
                  <a:pt x="109" y="300"/>
                </a:lnTo>
                <a:lnTo>
                  <a:pt x="77" y="332"/>
                </a:lnTo>
                <a:lnTo>
                  <a:pt x="26" y="420"/>
                </a:lnTo>
                <a:lnTo>
                  <a:pt x="0" y="467"/>
                </a:lnTo>
                <a:lnTo>
                  <a:pt x="0" y="482"/>
                </a:lnTo>
                <a:lnTo>
                  <a:pt x="6" y="498"/>
                </a:lnTo>
                <a:lnTo>
                  <a:pt x="28" y="503"/>
                </a:lnTo>
                <a:lnTo>
                  <a:pt x="60" y="504"/>
                </a:lnTo>
                <a:lnTo>
                  <a:pt x="79" y="511"/>
                </a:lnTo>
                <a:lnTo>
                  <a:pt x="77" y="546"/>
                </a:lnTo>
                <a:lnTo>
                  <a:pt x="67" y="587"/>
                </a:lnTo>
                <a:lnTo>
                  <a:pt x="86" y="609"/>
                </a:lnTo>
                <a:lnTo>
                  <a:pt x="80" y="639"/>
                </a:lnTo>
                <a:lnTo>
                  <a:pt x="95" y="659"/>
                </a:lnTo>
                <a:lnTo>
                  <a:pt x="110" y="713"/>
                </a:lnTo>
                <a:lnTo>
                  <a:pt x="133" y="728"/>
                </a:lnTo>
                <a:lnTo>
                  <a:pt x="167" y="728"/>
                </a:lnTo>
                <a:lnTo>
                  <a:pt x="217" y="721"/>
                </a:lnTo>
                <a:lnTo>
                  <a:pt x="269" y="713"/>
                </a:lnTo>
                <a:lnTo>
                  <a:pt x="263" y="807"/>
                </a:lnTo>
                <a:lnTo>
                  <a:pt x="658" y="681"/>
                </a:lnTo>
                <a:lnTo>
                  <a:pt x="626" y="606"/>
                </a:lnTo>
                <a:lnTo>
                  <a:pt x="634" y="549"/>
                </a:lnTo>
                <a:lnTo>
                  <a:pt x="741" y="441"/>
                </a:lnTo>
                <a:lnTo>
                  <a:pt x="741" y="155"/>
                </a:lnTo>
                <a:lnTo>
                  <a:pt x="668" y="77"/>
                </a:lnTo>
                <a:lnTo>
                  <a:pt x="577" y="35"/>
                </a:lnTo>
                <a:lnTo>
                  <a:pt x="481" y="0"/>
                </a:lnTo>
                <a:lnTo>
                  <a:pt x="355" y="18"/>
                </a:lnTo>
                <a:lnTo>
                  <a:pt x="243" y="26"/>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6" name="Freeform 269"/>
          <p:cNvSpPr>
            <a:spLocks/>
          </p:cNvSpPr>
          <p:nvPr/>
        </p:nvSpPr>
        <p:spPr bwMode="auto">
          <a:xfrm>
            <a:off x="7159703" y="3121692"/>
            <a:ext cx="7046" cy="1858"/>
          </a:xfrm>
          <a:custGeom>
            <a:avLst/>
            <a:gdLst>
              <a:gd name="T0" fmla="*/ 0 w 42"/>
              <a:gd name="T1" fmla="*/ 2147483646 h 9"/>
              <a:gd name="T2" fmla="*/ 2147483646 w 42"/>
              <a:gd name="T3" fmla="*/ 2147483646 h 9"/>
              <a:gd name="T4" fmla="*/ 2147483646 w 42"/>
              <a:gd name="T5" fmla="*/ 2147483646 h 9"/>
              <a:gd name="T6" fmla="*/ 2147483646 w 42"/>
              <a:gd name="T7" fmla="*/ 2147483646 h 9"/>
              <a:gd name="T8" fmla="*/ 2147483646 w 42"/>
              <a:gd name="T9" fmla="*/ 2147483646 h 9"/>
              <a:gd name="T10" fmla="*/ 2147483646 w 42"/>
              <a:gd name="T11" fmla="*/ 0 h 9"/>
              <a:gd name="T12" fmla="*/ 0 w 42"/>
              <a:gd name="T13" fmla="*/ 2147483646 h 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2" h="9">
                <a:moveTo>
                  <a:pt x="0" y="3"/>
                </a:moveTo>
                <a:lnTo>
                  <a:pt x="9" y="8"/>
                </a:lnTo>
                <a:lnTo>
                  <a:pt x="30" y="6"/>
                </a:lnTo>
                <a:lnTo>
                  <a:pt x="39" y="9"/>
                </a:lnTo>
                <a:lnTo>
                  <a:pt x="42" y="2"/>
                </a:lnTo>
                <a:lnTo>
                  <a:pt x="29" y="0"/>
                </a:lnTo>
                <a:lnTo>
                  <a:pt x="0" y="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7" name="Freeform 270"/>
          <p:cNvSpPr>
            <a:spLocks/>
          </p:cNvSpPr>
          <p:nvPr/>
        </p:nvSpPr>
        <p:spPr bwMode="auto">
          <a:xfrm>
            <a:off x="7166749" y="3117047"/>
            <a:ext cx="3020" cy="4646"/>
          </a:xfrm>
          <a:custGeom>
            <a:avLst/>
            <a:gdLst>
              <a:gd name="T0" fmla="*/ 0 w 17"/>
              <a:gd name="T1" fmla="*/ 0 h 31"/>
              <a:gd name="T2" fmla="*/ 2147483646 w 17"/>
              <a:gd name="T3" fmla="*/ 2147483646 h 31"/>
              <a:gd name="T4" fmla="*/ 2147483646 w 17"/>
              <a:gd name="T5" fmla="*/ 2147483646 h 31"/>
              <a:gd name="T6" fmla="*/ 2147483646 w 17"/>
              <a:gd name="T7" fmla="*/ 2147483646 h 31"/>
              <a:gd name="T8" fmla="*/ 2147483646 w 17"/>
              <a:gd name="T9" fmla="*/ 2147483646 h 31"/>
              <a:gd name="T10" fmla="*/ 2147483646 w 17"/>
              <a:gd name="T11" fmla="*/ 2147483646 h 31"/>
              <a:gd name="T12" fmla="*/ 0 w 17"/>
              <a:gd name="T13" fmla="*/ 0 h 3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7" h="31">
                <a:moveTo>
                  <a:pt x="0" y="0"/>
                </a:moveTo>
                <a:lnTo>
                  <a:pt x="11" y="7"/>
                </a:lnTo>
                <a:lnTo>
                  <a:pt x="11" y="16"/>
                </a:lnTo>
                <a:lnTo>
                  <a:pt x="13" y="31"/>
                </a:lnTo>
                <a:lnTo>
                  <a:pt x="17" y="12"/>
                </a:lnTo>
                <a:lnTo>
                  <a:pt x="17" y="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8" name="Freeform 271"/>
          <p:cNvSpPr>
            <a:spLocks/>
          </p:cNvSpPr>
          <p:nvPr/>
        </p:nvSpPr>
        <p:spPr bwMode="auto">
          <a:xfrm>
            <a:off x="7171782" y="3101250"/>
            <a:ext cx="3020" cy="9292"/>
          </a:xfrm>
          <a:custGeom>
            <a:avLst/>
            <a:gdLst>
              <a:gd name="T0" fmla="*/ 2147483646 w 19"/>
              <a:gd name="T1" fmla="*/ 0 h 60"/>
              <a:gd name="T2" fmla="*/ 2147483646 w 19"/>
              <a:gd name="T3" fmla="*/ 2147483646 h 60"/>
              <a:gd name="T4" fmla="*/ 0 w 19"/>
              <a:gd name="T5" fmla="*/ 2147483646 h 60"/>
              <a:gd name="T6" fmla="*/ 2147483646 w 19"/>
              <a:gd name="T7" fmla="*/ 2147483646 h 60"/>
              <a:gd name="T8" fmla="*/ 2147483646 w 19"/>
              <a:gd name="T9" fmla="*/ 0 h 6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60">
                <a:moveTo>
                  <a:pt x="19" y="0"/>
                </a:moveTo>
                <a:lnTo>
                  <a:pt x="5" y="34"/>
                </a:lnTo>
                <a:lnTo>
                  <a:pt x="0" y="60"/>
                </a:lnTo>
                <a:lnTo>
                  <a:pt x="9" y="43"/>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9" name="Freeform 272"/>
          <p:cNvSpPr>
            <a:spLocks/>
          </p:cNvSpPr>
          <p:nvPr/>
        </p:nvSpPr>
        <p:spPr bwMode="auto">
          <a:xfrm>
            <a:off x="7173796" y="3091958"/>
            <a:ext cx="13086" cy="8363"/>
          </a:xfrm>
          <a:custGeom>
            <a:avLst/>
            <a:gdLst>
              <a:gd name="T0" fmla="*/ 0 w 80"/>
              <a:gd name="T1" fmla="*/ 0 h 51"/>
              <a:gd name="T2" fmla="*/ 2147483646 w 80"/>
              <a:gd name="T3" fmla="*/ 2147483646 h 51"/>
              <a:gd name="T4" fmla="*/ 2147483646 w 80"/>
              <a:gd name="T5" fmla="*/ 2147483646 h 51"/>
              <a:gd name="T6" fmla="*/ 2147483646 w 80"/>
              <a:gd name="T7" fmla="*/ 2147483646 h 51"/>
              <a:gd name="T8" fmla="*/ 2147483646 w 80"/>
              <a:gd name="T9" fmla="*/ 2147483646 h 51"/>
              <a:gd name="T10" fmla="*/ 2147483646 w 80"/>
              <a:gd name="T11" fmla="*/ 2147483646 h 51"/>
              <a:gd name="T12" fmla="*/ 2147483646 w 80"/>
              <a:gd name="T13" fmla="*/ 2147483646 h 51"/>
              <a:gd name="T14" fmla="*/ 2147483646 w 80"/>
              <a:gd name="T15" fmla="*/ 2147483646 h 51"/>
              <a:gd name="T16" fmla="*/ 2147483646 w 80"/>
              <a:gd name="T17" fmla="*/ 2147483646 h 51"/>
              <a:gd name="T18" fmla="*/ 2147483646 w 80"/>
              <a:gd name="T19" fmla="*/ 2147483646 h 51"/>
              <a:gd name="T20" fmla="*/ 0 w 80"/>
              <a:gd name="T21" fmla="*/ 0 h 51"/>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80" h="51">
                <a:moveTo>
                  <a:pt x="0" y="0"/>
                </a:moveTo>
                <a:lnTo>
                  <a:pt x="17" y="28"/>
                </a:lnTo>
                <a:lnTo>
                  <a:pt x="13" y="35"/>
                </a:lnTo>
                <a:lnTo>
                  <a:pt x="13" y="40"/>
                </a:lnTo>
                <a:lnTo>
                  <a:pt x="9" y="51"/>
                </a:lnTo>
                <a:lnTo>
                  <a:pt x="20" y="34"/>
                </a:lnTo>
                <a:lnTo>
                  <a:pt x="35" y="34"/>
                </a:lnTo>
                <a:lnTo>
                  <a:pt x="52" y="28"/>
                </a:lnTo>
                <a:lnTo>
                  <a:pt x="80" y="26"/>
                </a:lnTo>
                <a:lnTo>
                  <a:pt x="5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0" name="Freeform 273"/>
          <p:cNvSpPr>
            <a:spLocks/>
          </p:cNvSpPr>
          <p:nvPr/>
        </p:nvSpPr>
        <p:spPr bwMode="auto">
          <a:xfrm>
            <a:off x="7170776" y="3080807"/>
            <a:ext cx="22145" cy="7434"/>
          </a:xfrm>
          <a:custGeom>
            <a:avLst/>
            <a:gdLst>
              <a:gd name="T0" fmla="*/ 0 w 135"/>
              <a:gd name="T1" fmla="*/ 2147483646 h 48"/>
              <a:gd name="T2" fmla="*/ 2147483646 w 135"/>
              <a:gd name="T3" fmla="*/ 2147483646 h 48"/>
              <a:gd name="T4" fmla="*/ 2147483646 w 135"/>
              <a:gd name="T5" fmla="*/ 2147483646 h 48"/>
              <a:gd name="T6" fmla="*/ 2147483646 w 135"/>
              <a:gd name="T7" fmla="*/ 2147483646 h 48"/>
              <a:gd name="T8" fmla="*/ 2147483646 w 135"/>
              <a:gd name="T9" fmla="*/ 2147483646 h 48"/>
              <a:gd name="T10" fmla="*/ 2147483646 w 135"/>
              <a:gd name="T11" fmla="*/ 2147483646 h 48"/>
              <a:gd name="T12" fmla="*/ 2147483646 w 135"/>
              <a:gd name="T13" fmla="*/ 2147483646 h 48"/>
              <a:gd name="T14" fmla="*/ 2147483646 w 135"/>
              <a:gd name="T15" fmla="*/ 2147483646 h 48"/>
              <a:gd name="T16" fmla="*/ 2147483646 w 135"/>
              <a:gd name="T17" fmla="*/ 2147483646 h 48"/>
              <a:gd name="T18" fmla="*/ 2147483646 w 135"/>
              <a:gd name="T19" fmla="*/ 0 h 48"/>
              <a:gd name="T20" fmla="*/ 2147483646 w 135"/>
              <a:gd name="T21" fmla="*/ 2147483646 h 48"/>
              <a:gd name="T22" fmla="*/ 2147483646 w 135"/>
              <a:gd name="T23" fmla="*/ 2147483646 h 48"/>
              <a:gd name="T24" fmla="*/ 2147483646 w 135"/>
              <a:gd name="T25" fmla="*/ 2147483646 h 48"/>
              <a:gd name="T26" fmla="*/ 2147483646 w 135"/>
              <a:gd name="T27" fmla="*/ 2147483646 h 48"/>
              <a:gd name="T28" fmla="*/ 0 w 135"/>
              <a:gd name="T29" fmla="*/ 2147483646 h 4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35" h="48">
                <a:moveTo>
                  <a:pt x="0" y="25"/>
                </a:moveTo>
                <a:lnTo>
                  <a:pt x="6" y="42"/>
                </a:lnTo>
                <a:lnTo>
                  <a:pt x="20" y="48"/>
                </a:lnTo>
                <a:lnTo>
                  <a:pt x="42" y="34"/>
                </a:lnTo>
                <a:lnTo>
                  <a:pt x="69" y="25"/>
                </a:lnTo>
                <a:lnTo>
                  <a:pt x="113" y="24"/>
                </a:lnTo>
                <a:lnTo>
                  <a:pt x="135" y="27"/>
                </a:lnTo>
                <a:lnTo>
                  <a:pt x="101" y="12"/>
                </a:lnTo>
                <a:lnTo>
                  <a:pt x="77" y="6"/>
                </a:lnTo>
                <a:lnTo>
                  <a:pt x="80" y="0"/>
                </a:lnTo>
                <a:lnTo>
                  <a:pt x="57" y="9"/>
                </a:lnTo>
                <a:lnTo>
                  <a:pt x="59" y="3"/>
                </a:lnTo>
                <a:lnTo>
                  <a:pt x="40" y="12"/>
                </a:lnTo>
                <a:lnTo>
                  <a:pt x="23" y="12"/>
                </a:lnTo>
                <a:lnTo>
                  <a:pt x="0" y="2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1" name="Freeform 274"/>
          <p:cNvSpPr>
            <a:spLocks/>
          </p:cNvSpPr>
          <p:nvPr/>
        </p:nvSpPr>
        <p:spPr bwMode="auto">
          <a:xfrm>
            <a:off x="7221106" y="3091029"/>
            <a:ext cx="13087" cy="24159"/>
          </a:xfrm>
          <a:custGeom>
            <a:avLst/>
            <a:gdLst>
              <a:gd name="T0" fmla="*/ 0 w 78"/>
              <a:gd name="T1" fmla="*/ 2147483646 h 159"/>
              <a:gd name="T2" fmla="*/ 2147483646 w 78"/>
              <a:gd name="T3" fmla="*/ 2147483646 h 159"/>
              <a:gd name="T4" fmla="*/ 2147483646 w 78"/>
              <a:gd name="T5" fmla="*/ 2147483646 h 159"/>
              <a:gd name="T6" fmla="*/ 2147483646 w 78"/>
              <a:gd name="T7" fmla="*/ 2147483646 h 159"/>
              <a:gd name="T8" fmla="*/ 2147483646 w 78"/>
              <a:gd name="T9" fmla="*/ 2147483646 h 159"/>
              <a:gd name="T10" fmla="*/ 2147483646 w 78"/>
              <a:gd name="T11" fmla="*/ 2147483646 h 159"/>
              <a:gd name="T12" fmla="*/ 2147483646 w 78"/>
              <a:gd name="T13" fmla="*/ 2147483646 h 159"/>
              <a:gd name="T14" fmla="*/ 2147483646 w 78"/>
              <a:gd name="T15" fmla="*/ 2147483646 h 159"/>
              <a:gd name="T16" fmla="*/ 2147483646 w 78"/>
              <a:gd name="T17" fmla="*/ 2147483646 h 159"/>
              <a:gd name="T18" fmla="*/ 2147483646 w 78"/>
              <a:gd name="T19" fmla="*/ 2147483646 h 159"/>
              <a:gd name="T20" fmla="*/ 2147483646 w 78"/>
              <a:gd name="T21" fmla="*/ 2147483646 h 159"/>
              <a:gd name="T22" fmla="*/ 2147483646 w 78"/>
              <a:gd name="T23" fmla="*/ 2147483646 h 159"/>
              <a:gd name="T24" fmla="*/ 2147483646 w 78"/>
              <a:gd name="T25" fmla="*/ 2147483646 h 159"/>
              <a:gd name="T26" fmla="*/ 2147483646 w 78"/>
              <a:gd name="T27" fmla="*/ 2147483646 h 159"/>
              <a:gd name="T28" fmla="*/ 2147483646 w 78"/>
              <a:gd name="T29" fmla="*/ 2147483646 h 159"/>
              <a:gd name="T30" fmla="*/ 2147483646 w 78"/>
              <a:gd name="T31" fmla="*/ 2147483646 h 159"/>
              <a:gd name="T32" fmla="*/ 2147483646 w 78"/>
              <a:gd name="T33" fmla="*/ 2147483646 h 159"/>
              <a:gd name="T34" fmla="*/ 2147483646 w 78"/>
              <a:gd name="T35" fmla="*/ 2147483646 h 159"/>
              <a:gd name="T36" fmla="*/ 2147483646 w 78"/>
              <a:gd name="T37" fmla="*/ 2147483646 h 159"/>
              <a:gd name="T38" fmla="*/ 2147483646 w 78"/>
              <a:gd name="T39" fmla="*/ 2147483646 h 159"/>
              <a:gd name="T40" fmla="*/ 2147483646 w 78"/>
              <a:gd name="T41" fmla="*/ 0 h 159"/>
              <a:gd name="T42" fmla="*/ 2147483646 w 78"/>
              <a:gd name="T43" fmla="*/ 2147483646 h 159"/>
              <a:gd name="T44" fmla="*/ 0 w 78"/>
              <a:gd name="T45" fmla="*/ 2147483646 h 159"/>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78" h="159">
                <a:moveTo>
                  <a:pt x="0" y="30"/>
                </a:moveTo>
                <a:lnTo>
                  <a:pt x="24" y="10"/>
                </a:lnTo>
                <a:lnTo>
                  <a:pt x="52" y="15"/>
                </a:lnTo>
                <a:lnTo>
                  <a:pt x="68" y="41"/>
                </a:lnTo>
                <a:lnTo>
                  <a:pt x="71" y="77"/>
                </a:lnTo>
                <a:lnTo>
                  <a:pt x="68" y="105"/>
                </a:lnTo>
                <a:lnTo>
                  <a:pt x="59" y="128"/>
                </a:lnTo>
                <a:lnTo>
                  <a:pt x="44" y="93"/>
                </a:lnTo>
                <a:lnTo>
                  <a:pt x="31" y="73"/>
                </a:lnTo>
                <a:lnTo>
                  <a:pt x="5" y="60"/>
                </a:lnTo>
                <a:lnTo>
                  <a:pt x="25" y="89"/>
                </a:lnTo>
                <a:lnTo>
                  <a:pt x="47" y="111"/>
                </a:lnTo>
                <a:lnTo>
                  <a:pt x="49" y="134"/>
                </a:lnTo>
                <a:lnTo>
                  <a:pt x="40" y="156"/>
                </a:lnTo>
                <a:lnTo>
                  <a:pt x="28" y="159"/>
                </a:lnTo>
                <a:lnTo>
                  <a:pt x="61" y="151"/>
                </a:lnTo>
                <a:lnTo>
                  <a:pt x="77" y="117"/>
                </a:lnTo>
                <a:lnTo>
                  <a:pt x="78" y="73"/>
                </a:lnTo>
                <a:lnTo>
                  <a:pt x="77" y="33"/>
                </a:lnTo>
                <a:lnTo>
                  <a:pt x="59" y="7"/>
                </a:lnTo>
                <a:lnTo>
                  <a:pt x="34" y="0"/>
                </a:lnTo>
                <a:lnTo>
                  <a:pt x="10" y="4"/>
                </a:lnTo>
                <a:lnTo>
                  <a:pt x="0" y="3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2" name="Freeform 275"/>
          <p:cNvSpPr>
            <a:spLocks/>
          </p:cNvSpPr>
          <p:nvPr/>
        </p:nvSpPr>
        <p:spPr bwMode="auto">
          <a:xfrm>
            <a:off x="7218087" y="3087312"/>
            <a:ext cx="21139" cy="32521"/>
          </a:xfrm>
          <a:custGeom>
            <a:avLst/>
            <a:gdLst>
              <a:gd name="T0" fmla="*/ 0 w 129"/>
              <a:gd name="T1" fmla="*/ 2147483646 h 215"/>
              <a:gd name="T2" fmla="*/ 2147483646 w 129"/>
              <a:gd name="T3" fmla="*/ 2147483646 h 215"/>
              <a:gd name="T4" fmla="*/ 2147483646 w 129"/>
              <a:gd name="T5" fmla="*/ 2147483646 h 215"/>
              <a:gd name="T6" fmla="*/ 2147483646 w 129"/>
              <a:gd name="T7" fmla="*/ 2147483646 h 215"/>
              <a:gd name="T8" fmla="*/ 2147483646 w 129"/>
              <a:gd name="T9" fmla="*/ 2147483646 h 215"/>
              <a:gd name="T10" fmla="*/ 2147483646 w 129"/>
              <a:gd name="T11" fmla="*/ 2147483646 h 215"/>
              <a:gd name="T12" fmla="*/ 2147483646 w 129"/>
              <a:gd name="T13" fmla="*/ 2147483646 h 215"/>
              <a:gd name="T14" fmla="*/ 2147483646 w 129"/>
              <a:gd name="T15" fmla="*/ 2147483646 h 215"/>
              <a:gd name="T16" fmla="*/ 2147483646 w 129"/>
              <a:gd name="T17" fmla="*/ 2147483646 h 215"/>
              <a:gd name="T18" fmla="*/ 2147483646 w 129"/>
              <a:gd name="T19" fmla="*/ 2147483646 h 215"/>
              <a:gd name="T20" fmla="*/ 2147483646 w 129"/>
              <a:gd name="T21" fmla="*/ 2147483646 h 215"/>
              <a:gd name="T22" fmla="*/ 2147483646 w 129"/>
              <a:gd name="T23" fmla="*/ 2147483646 h 215"/>
              <a:gd name="T24" fmla="*/ 2147483646 w 129"/>
              <a:gd name="T25" fmla="*/ 2147483646 h 215"/>
              <a:gd name="T26" fmla="*/ 2147483646 w 129"/>
              <a:gd name="T27" fmla="*/ 2147483646 h 215"/>
              <a:gd name="T28" fmla="*/ 2147483646 w 129"/>
              <a:gd name="T29" fmla="*/ 2147483646 h 215"/>
              <a:gd name="T30" fmla="*/ 2147483646 w 129"/>
              <a:gd name="T31" fmla="*/ 2147483646 h 215"/>
              <a:gd name="T32" fmla="*/ 2147483646 w 129"/>
              <a:gd name="T33" fmla="*/ 2147483646 h 215"/>
              <a:gd name="T34" fmla="*/ 2147483646 w 129"/>
              <a:gd name="T35" fmla="*/ 2147483646 h 215"/>
              <a:gd name="T36" fmla="*/ 2147483646 w 129"/>
              <a:gd name="T37" fmla="*/ 2147483646 h 215"/>
              <a:gd name="T38" fmla="*/ 2147483646 w 129"/>
              <a:gd name="T39" fmla="*/ 2147483646 h 215"/>
              <a:gd name="T40" fmla="*/ 2147483646 w 129"/>
              <a:gd name="T41" fmla="*/ 2147483646 h 215"/>
              <a:gd name="T42" fmla="*/ 2147483646 w 129"/>
              <a:gd name="T43" fmla="*/ 2147483646 h 215"/>
              <a:gd name="T44" fmla="*/ 2147483646 w 129"/>
              <a:gd name="T45" fmla="*/ 2147483646 h 215"/>
              <a:gd name="T46" fmla="*/ 2147483646 w 129"/>
              <a:gd name="T47" fmla="*/ 0 h 215"/>
              <a:gd name="T48" fmla="*/ 2147483646 w 129"/>
              <a:gd name="T49" fmla="*/ 2147483646 h 215"/>
              <a:gd name="T50" fmla="*/ 2147483646 w 129"/>
              <a:gd name="T51" fmla="*/ 2147483646 h 215"/>
              <a:gd name="T52" fmla="*/ 0 w 129"/>
              <a:gd name="T53" fmla="*/ 2147483646 h 215"/>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129" h="215">
                <a:moveTo>
                  <a:pt x="0" y="53"/>
                </a:moveTo>
                <a:lnTo>
                  <a:pt x="20" y="19"/>
                </a:lnTo>
                <a:lnTo>
                  <a:pt x="54" y="9"/>
                </a:lnTo>
                <a:lnTo>
                  <a:pt x="95" y="16"/>
                </a:lnTo>
                <a:lnTo>
                  <a:pt x="109" y="35"/>
                </a:lnTo>
                <a:lnTo>
                  <a:pt x="120" y="67"/>
                </a:lnTo>
                <a:lnTo>
                  <a:pt x="120" y="93"/>
                </a:lnTo>
                <a:lnTo>
                  <a:pt x="114" y="111"/>
                </a:lnTo>
                <a:lnTo>
                  <a:pt x="114" y="137"/>
                </a:lnTo>
                <a:lnTo>
                  <a:pt x="107" y="168"/>
                </a:lnTo>
                <a:lnTo>
                  <a:pt x="80" y="198"/>
                </a:lnTo>
                <a:lnTo>
                  <a:pt x="63" y="198"/>
                </a:lnTo>
                <a:lnTo>
                  <a:pt x="40" y="198"/>
                </a:lnTo>
                <a:lnTo>
                  <a:pt x="40" y="203"/>
                </a:lnTo>
                <a:lnTo>
                  <a:pt x="57" y="215"/>
                </a:lnTo>
                <a:lnTo>
                  <a:pt x="76" y="211"/>
                </a:lnTo>
                <a:lnTo>
                  <a:pt x="101" y="201"/>
                </a:lnTo>
                <a:lnTo>
                  <a:pt x="121" y="171"/>
                </a:lnTo>
                <a:lnTo>
                  <a:pt x="123" y="121"/>
                </a:lnTo>
                <a:lnTo>
                  <a:pt x="129" y="87"/>
                </a:lnTo>
                <a:lnTo>
                  <a:pt x="129" y="58"/>
                </a:lnTo>
                <a:lnTo>
                  <a:pt x="117" y="32"/>
                </a:lnTo>
                <a:lnTo>
                  <a:pt x="103" y="9"/>
                </a:lnTo>
                <a:lnTo>
                  <a:pt x="69" y="0"/>
                </a:lnTo>
                <a:lnTo>
                  <a:pt x="20" y="6"/>
                </a:lnTo>
                <a:lnTo>
                  <a:pt x="3" y="19"/>
                </a:lnTo>
                <a:lnTo>
                  <a:pt x="0" y="5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3" name="Freeform 276"/>
          <p:cNvSpPr>
            <a:spLocks/>
          </p:cNvSpPr>
          <p:nvPr/>
        </p:nvSpPr>
        <p:spPr bwMode="auto">
          <a:xfrm>
            <a:off x="7207014" y="3122622"/>
            <a:ext cx="19126" cy="27876"/>
          </a:xfrm>
          <a:custGeom>
            <a:avLst/>
            <a:gdLst>
              <a:gd name="T0" fmla="*/ 2147483646 w 118"/>
              <a:gd name="T1" fmla="*/ 0 h 179"/>
              <a:gd name="T2" fmla="*/ 2147483646 w 118"/>
              <a:gd name="T3" fmla="*/ 2147483646 h 179"/>
              <a:gd name="T4" fmla="*/ 2147483646 w 118"/>
              <a:gd name="T5" fmla="*/ 2147483646 h 179"/>
              <a:gd name="T6" fmla="*/ 2147483646 w 118"/>
              <a:gd name="T7" fmla="*/ 2147483646 h 179"/>
              <a:gd name="T8" fmla="*/ 2147483646 w 118"/>
              <a:gd name="T9" fmla="*/ 2147483646 h 179"/>
              <a:gd name="T10" fmla="*/ 0 w 118"/>
              <a:gd name="T11" fmla="*/ 2147483646 h 179"/>
              <a:gd name="T12" fmla="*/ 2147483646 w 118"/>
              <a:gd name="T13" fmla="*/ 2147483646 h 179"/>
              <a:gd name="T14" fmla="*/ 2147483646 w 118"/>
              <a:gd name="T15" fmla="*/ 2147483646 h 179"/>
              <a:gd name="T16" fmla="*/ 2147483646 w 118"/>
              <a:gd name="T17" fmla="*/ 2147483646 h 179"/>
              <a:gd name="T18" fmla="*/ 2147483646 w 118"/>
              <a:gd name="T19" fmla="*/ 0 h 17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18" h="179">
                <a:moveTo>
                  <a:pt x="118" y="0"/>
                </a:moveTo>
                <a:lnTo>
                  <a:pt x="102" y="39"/>
                </a:lnTo>
                <a:lnTo>
                  <a:pt x="77" y="80"/>
                </a:lnTo>
                <a:lnTo>
                  <a:pt x="52" y="116"/>
                </a:lnTo>
                <a:lnTo>
                  <a:pt x="17" y="164"/>
                </a:lnTo>
                <a:lnTo>
                  <a:pt x="0" y="179"/>
                </a:lnTo>
                <a:lnTo>
                  <a:pt x="39" y="159"/>
                </a:lnTo>
                <a:lnTo>
                  <a:pt x="70" y="115"/>
                </a:lnTo>
                <a:lnTo>
                  <a:pt x="99" y="67"/>
                </a:lnTo>
                <a:lnTo>
                  <a:pt x="118"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4" name="Freeform 277"/>
          <p:cNvSpPr>
            <a:spLocks/>
          </p:cNvSpPr>
          <p:nvPr/>
        </p:nvSpPr>
        <p:spPr bwMode="auto">
          <a:xfrm>
            <a:off x="7173796" y="3028773"/>
            <a:ext cx="112742" cy="103141"/>
          </a:xfrm>
          <a:custGeom>
            <a:avLst/>
            <a:gdLst>
              <a:gd name="T0" fmla="*/ 2147483646 w 671"/>
              <a:gd name="T1" fmla="*/ 2147483646 h 670"/>
              <a:gd name="T2" fmla="*/ 2147483646 w 671"/>
              <a:gd name="T3" fmla="*/ 2147483646 h 670"/>
              <a:gd name="T4" fmla="*/ 2147483646 w 671"/>
              <a:gd name="T5" fmla="*/ 2147483646 h 670"/>
              <a:gd name="T6" fmla="*/ 2147483646 w 671"/>
              <a:gd name="T7" fmla="*/ 2147483646 h 670"/>
              <a:gd name="T8" fmla="*/ 2147483646 w 671"/>
              <a:gd name="T9" fmla="*/ 2147483646 h 670"/>
              <a:gd name="T10" fmla="*/ 2147483646 w 671"/>
              <a:gd name="T11" fmla="*/ 2147483646 h 670"/>
              <a:gd name="T12" fmla="*/ 2147483646 w 671"/>
              <a:gd name="T13" fmla="*/ 2147483646 h 670"/>
              <a:gd name="T14" fmla="*/ 2147483646 w 671"/>
              <a:gd name="T15" fmla="*/ 2147483646 h 670"/>
              <a:gd name="T16" fmla="*/ 2147483646 w 671"/>
              <a:gd name="T17" fmla="*/ 2147483646 h 670"/>
              <a:gd name="T18" fmla="*/ 2147483646 w 671"/>
              <a:gd name="T19" fmla="*/ 2147483646 h 670"/>
              <a:gd name="T20" fmla="*/ 2147483646 w 671"/>
              <a:gd name="T21" fmla="*/ 2147483646 h 670"/>
              <a:gd name="T22" fmla="*/ 2147483646 w 671"/>
              <a:gd name="T23" fmla="*/ 2147483646 h 670"/>
              <a:gd name="T24" fmla="*/ 2147483646 w 671"/>
              <a:gd name="T25" fmla="*/ 2147483646 h 670"/>
              <a:gd name="T26" fmla="*/ 2147483646 w 671"/>
              <a:gd name="T27" fmla="*/ 2147483646 h 670"/>
              <a:gd name="T28" fmla="*/ 2147483646 w 671"/>
              <a:gd name="T29" fmla="*/ 2147483646 h 670"/>
              <a:gd name="T30" fmla="*/ 2147483646 w 671"/>
              <a:gd name="T31" fmla="*/ 2147483646 h 670"/>
              <a:gd name="T32" fmla="*/ 2147483646 w 671"/>
              <a:gd name="T33" fmla="*/ 2147483646 h 670"/>
              <a:gd name="T34" fmla="*/ 2147483646 w 671"/>
              <a:gd name="T35" fmla="*/ 2147483646 h 670"/>
              <a:gd name="T36" fmla="*/ 2147483646 w 671"/>
              <a:gd name="T37" fmla="*/ 2147483646 h 670"/>
              <a:gd name="T38" fmla="*/ 2147483646 w 671"/>
              <a:gd name="T39" fmla="*/ 2147483646 h 670"/>
              <a:gd name="T40" fmla="*/ 2147483646 w 671"/>
              <a:gd name="T41" fmla="*/ 2147483646 h 670"/>
              <a:gd name="T42" fmla="*/ 2147483646 w 671"/>
              <a:gd name="T43" fmla="*/ 2147483646 h 670"/>
              <a:gd name="T44" fmla="*/ 2147483646 w 671"/>
              <a:gd name="T45" fmla="*/ 2147483646 h 670"/>
              <a:gd name="T46" fmla="*/ 2147483646 w 671"/>
              <a:gd name="T47" fmla="*/ 2147483646 h 670"/>
              <a:gd name="T48" fmla="*/ 2147483646 w 671"/>
              <a:gd name="T49" fmla="*/ 2147483646 h 670"/>
              <a:gd name="T50" fmla="*/ 2147483646 w 671"/>
              <a:gd name="T51" fmla="*/ 2147483646 h 670"/>
              <a:gd name="T52" fmla="*/ 2147483646 w 671"/>
              <a:gd name="T53" fmla="*/ 2147483646 h 670"/>
              <a:gd name="T54" fmla="*/ 2147483646 w 671"/>
              <a:gd name="T55" fmla="*/ 2147483646 h 670"/>
              <a:gd name="T56" fmla="*/ 2147483646 w 671"/>
              <a:gd name="T57" fmla="*/ 2147483646 h 670"/>
              <a:gd name="T58" fmla="*/ 2147483646 w 671"/>
              <a:gd name="T59" fmla="*/ 2147483646 h 670"/>
              <a:gd name="T60" fmla="*/ 2147483646 w 671"/>
              <a:gd name="T61" fmla="*/ 0 h 670"/>
              <a:gd name="T62" fmla="*/ 2147483646 w 671"/>
              <a:gd name="T63" fmla="*/ 2147483646 h 670"/>
              <a:gd name="T64" fmla="*/ 2147483646 w 671"/>
              <a:gd name="T65" fmla="*/ 2147483646 h 670"/>
              <a:gd name="T66" fmla="*/ 2147483646 w 671"/>
              <a:gd name="T67" fmla="*/ 2147483646 h 670"/>
              <a:gd name="T68" fmla="*/ 2147483646 w 671"/>
              <a:gd name="T69" fmla="*/ 2147483646 h 670"/>
              <a:gd name="T70" fmla="*/ 0 w 671"/>
              <a:gd name="T71" fmla="*/ 2147483646 h 670"/>
              <a:gd name="T72" fmla="*/ 2147483646 w 671"/>
              <a:gd name="T73" fmla="*/ 2147483646 h 670"/>
              <a:gd name="T74" fmla="*/ 2147483646 w 671"/>
              <a:gd name="T75" fmla="*/ 2147483646 h 67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671" h="670">
                <a:moveTo>
                  <a:pt x="54" y="193"/>
                </a:moveTo>
                <a:lnTo>
                  <a:pt x="155" y="177"/>
                </a:lnTo>
                <a:lnTo>
                  <a:pt x="223" y="187"/>
                </a:lnTo>
                <a:lnTo>
                  <a:pt x="264" y="234"/>
                </a:lnTo>
                <a:lnTo>
                  <a:pt x="238" y="290"/>
                </a:lnTo>
                <a:lnTo>
                  <a:pt x="206" y="311"/>
                </a:lnTo>
                <a:lnTo>
                  <a:pt x="197" y="366"/>
                </a:lnTo>
                <a:lnTo>
                  <a:pt x="217" y="401"/>
                </a:lnTo>
                <a:lnTo>
                  <a:pt x="200" y="453"/>
                </a:lnTo>
                <a:lnTo>
                  <a:pt x="242" y="453"/>
                </a:lnTo>
                <a:lnTo>
                  <a:pt x="254" y="394"/>
                </a:lnTo>
                <a:lnTo>
                  <a:pt x="280" y="366"/>
                </a:lnTo>
                <a:lnTo>
                  <a:pt x="329" y="366"/>
                </a:lnTo>
                <a:lnTo>
                  <a:pt x="378" y="378"/>
                </a:lnTo>
                <a:lnTo>
                  <a:pt x="393" y="419"/>
                </a:lnTo>
                <a:lnTo>
                  <a:pt x="399" y="475"/>
                </a:lnTo>
                <a:lnTo>
                  <a:pt x="393" y="516"/>
                </a:lnTo>
                <a:lnTo>
                  <a:pt x="393" y="547"/>
                </a:lnTo>
                <a:lnTo>
                  <a:pt x="396" y="581"/>
                </a:lnTo>
                <a:lnTo>
                  <a:pt x="428" y="613"/>
                </a:lnTo>
                <a:lnTo>
                  <a:pt x="451" y="632"/>
                </a:lnTo>
                <a:lnTo>
                  <a:pt x="510" y="670"/>
                </a:lnTo>
                <a:lnTo>
                  <a:pt x="620" y="558"/>
                </a:lnTo>
                <a:lnTo>
                  <a:pt x="652" y="466"/>
                </a:lnTo>
                <a:lnTo>
                  <a:pt x="665" y="318"/>
                </a:lnTo>
                <a:lnTo>
                  <a:pt x="671" y="215"/>
                </a:lnTo>
                <a:lnTo>
                  <a:pt x="658" y="114"/>
                </a:lnTo>
                <a:lnTo>
                  <a:pt x="629" y="59"/>
                </a:lnTo>
                <a:lnTo>
                  <a:pt x="562" y="21"/>
                </a:lnTo>
                <a:lnTo>
                  <a:pt x="502" y="8"/>
                </a:lnTo>
                <a:lnTo>
                  <a:pt x="384" y="0"/>
                </a:lnTo>
                <a:lnTo>
                  <a:pt x="270" y="5"/>
                </a:lnTo>
                <a:lnTo>
                  <a:pt x="129" y="30"/>
                </a:lnTo>
                <a:lnTo>
                  <a:pt x="64" y="62"/>
                </a:lnTo>
                <a:lnTo>
                  <a:pt x="32" y="94"/>
                </a:lnTo>
                <a:lnTo>
                  <a:pt x="0" y="140"/>
                </a:lnTo>
                <a:lnTo>
                  <a:pt x="6" y="166"/>
                </a:lnTo>
                <a:lnTo>
                  <a:pt x="54" y="193"/>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5" name="Freeform 278"/>
          <p:cNvSpPr>
            <a:spLocks/>
          </p:cNvSpPr>
          <p:nvPr/>
        </p:nvSpPr>
        <p:spPr bwMode="auto">
          <a:xfrm>
            <a:off x="7176815" y="3029702"/>
            <a:ext cx="107709" cy="99423"/>
          </a:xfrm>
          <a:custGeom>
            <a:avLst/>
            <a:gdLst>
              <a:gd name="T0" fmla="*/ 2147483646 w 636"/>
              <a:gd name="T1" fmla="*/ 2147483646 h 643"/>
              <a:gd name="T2" fmla="*/ 2147483646 w 636"/>
              <a:gd name="T3" fmla="*/ 2147483646 h 643"/>
              <a:gd name="T4" fmla="*/ 2147483646 w 636"/>
              <a:gd name="T5" fmla="*/ 2147483646 h 643"/>
              <a:gd name="T6" fmla="*/ 2147483646 w 636"/>
              <a:gd name="T7" fmla="*/ 2147483646 h 643"/>
              <a:gd name="T8" fmla="*/ 2147483646 w 636"/>
              <a:gd name="T9" fmla="*/ 2147483646 h 643"/>
              <a:gd name="T10" fmla="*/ 2147483646 w 636"/>
              <a:gd name="T11" fmla="*/ 2147483646 h 643"/>
              <a:gd name="T12" fmla="*/ 2147483646 w 636"/>
              <a:gd name="T13" fmla="*/ 2147483646 h 643"/>
              <a:gd name="T14" fmla="*/ 2147483646 w 636"/>
              <a:gd name="T15" fmla="*/ 2147483646 h 643"/>
              <a:gd name="T16" fmla="*/ 2147483646 w 636"/>
              <a:gd name="T17" fmla="*/ 2147483646 h 643"/>
              <a:gd name="T18" fmla="*/ 2147483646 w 636"/>
              <a:gd name="T19" fmla="*/ 2147483646 h 643"/>
              <a:gd name="T20" fmla="*/ 2147483646 w 636"/>
              <a:gd name="T21" fmla="*/ 2147483646 h 643"/>
              <a:gd name="T22" fmla="*/ 2147483646 w 636"/>
              <a:gd name="T23" fmla="*/ 2147483646 h 643"/>
              <a:gd name="T24" fmla="*/ 2147483646 w 636"/>
              <a:gd name="T25" fmla="*/ 2147483646 h 643"/>
              <a:gd name="T26" fmla="*/ 2147483646 w 636"/>
              <a:gd name="T27" fmla="*/ 2147483646 h 643"/>
              <a:gd name="T28" fmla="*/ 2147483646 w 636"/>
              <a:gd name="T29" fmla="*/ 2147483646 h 643"/>
              <a:gd name="T30" fmla="*/ 2147483646 w 636"/>
              <a:gd name="T31" fmla="*/ 2147483646 h 643"/>
              <a:gd name="T32" fmla="*/ 2147483646 w 636"/>
              <a:gd name="T33" fmla="*/ 2147483646 h 643"/>
              <a:gd name="T34" fmla="*/ 2147483646 w 636"/>
              <a:gd name="T35" fmla="*/ 2147483646 h 643"/>
              <a:gd name="T36" fmla="*/ 2147483646 w 636"/>
              <a:gd name="T37" fmla="*/ 2147483646 h 643"/>
              <a:gd name="T38" fmla="*/ 2147483646 w 636"/>
              <a:gd name="T39" fmla="*/ 2147483646 h 643"/>
              <a:gd name="T40" fmla="*/ 2147483646 w 636"/>
              <a:gd name="T41" fmla="*/ 2147483646 h 643"/>
              <a:gd name="T42" fmla="*/ 2147483646 w 636"/>
              <a:gd name="T43" fmla="*/ 2147483646 h 643"/>
              <a:gd name="T44" fmla="*/ 2147483646 w 636"/>
              <a:gd name="T45" fmla="*/ 2147483646 h 643"/>
              <a:gd name="T46" fmla="*/ 2147483646 w 636"/>
              <a:gd name="T47" fmla="*/ 2147483646 h 643"/>
              <a:gd name="T48" fmla="*/ 2147483646 w 636"/>
              <a:gd name="T49" fmla="*/ 2147483646 h 643"/>
              <a:gd name="T50" fmla="*/ 2147483646 w 636"/>
              <a:gd name="T51" fmla="*/ 2147483646 h 643"/>
              <a:gd name="T52" fmla="*/ 2147483646 w 636"/>
              <a:gd name="T53" fmla="*/ 2147483646 h 643"/>
              <a:gd name="T54" fmla="*/ 2147483646 w 636"/>
              <a:gd name="T55" fmla="*/ 2147483646 h 643"/>
              <a:gd name="T56" fmla="*/ 2147483646 w 636"/>
              <a:gd name="T57" fmla="*/ 2147483646 h 643"/>
              <a:gd name="T58" fmla="*/ 2147483646 w 636"/>
              <a:gd name="T59" fmla="*/ 2147483646 h 643"/>
              <a:gd name="T60" fmla="*/ 2147483646 w 636"/>
              <a:gd name="T61" fmla="*/ 2147483646 h 643"/>
              <a:gd name="T62" fmla="*/ 2147483646 w 636"/>
              <a:gd name="T63" fmla="*/ 2147483646 h 643"/>
              <a:gd name="T64" fmla="*/ 2147483646 w 636"/>
              <a:gd name="T65" fmla="*/ 2147483646 h 643"/>
              <a:gd name="T66" fmla="*/ 2147483646 w 636"/>
              <a:gd name="T67" fmla="*/ 2147483646 h 643"/>
              <a:gd name="T68" fmla="*/ 2147483646 w 636"/>
              <a:gd name="T69" fmla="*/ 2147483646 h 643"/>
              <a:gd name="T70" fmla="*/ 2147483646 w 636"/>
              <a:gd name="T71" fmla="*/ 2147483646 h 643"/>
              <a:gd name="T72" fmla="*/ 2147483646 w 636"/>
              <a:gd name="T73" fmla="*/ 2147483646 h 643"/>
              <a:gd name="T74" fmla="*/ 2147483646 w 636"/>
              <a:gd name="T75" fmla="*/ 2147483646 h 643"/>
              <a:gd name="T76" fmla="*/ 2147483646 w 636"/>
              <a:gd name="T77" fmla="*/ 2147483646 h 643"/>
              <a:gd name="T78" fmla="*/ 2147483646 w 636"/>
              <a:gd name="T79" fmla="*/ 2147483646 h 643"/>
              <a:gd name="T80" fmla="*/ 2147483646 w 636"/>
              <a:gd name="T81" fmla="*/ 2147483646 h 643"/>
              <a:gd name="T82" fmla="*/ 2147483646 w 636"/>
              <a:gd name="T83" fmla="*/ 2147483646 h 643"/>
              <a:gd name="T84" fmla="*/ 2147483646 w 636"/>
              <a:gd name="T85" fmla="*/ 2147483646 h 643"/>
              <a:gd name="T86" fmla="*/ 2147483646 w 636"/>
              <a:gd name="T87" fmla="*/ 2147483646 h 643"/>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636" h="643">
                <a:moveTo>
                  <a:pt x="104" y="41"/>
                </a:moveTo>
                <a:lnTo>
                  <a:pt x="51" y="63"/>
                </a:lnTo>
                <a:lnTo>
                  <a:pt x="25" y="98"/>
                </a:lnTo>
                <a:lnTo>
                  <a:pt x="10" y="121"/>
                </a:lnTo>
                <a:lnTo>
                  <a:pt x="0" y="138"/>
                </a:lnTo>
                <a:lnTo>
                  <a:pt x="13" y="152"/>
                </a:lnTo>
                <a:lnTo>
                  <a:pt x="41" y="169"/>
                </a:lnTo>
                <a:lnTo>
                  <a:pt x="110" y="158"/>
                </a:lnTo>
                <a:lnTo>
                  <a:pt x="160" y="158"/>
                </a:lnTo>
                <a:lnTo>
                  <a:pt x="194" y="141"/>
                </a:lnTo>
                <a:lnTo>
                  <a:pt x="245" y="129"/>
                </a:lnTo>
                <a:lnTo>
                  <a:pt x="290" y="126"/>
                </a:lnTo>
                <a:lnTo>
                  <a:pt x="342" y="129"/>
                </a:lnTo>
                <a:lnTo>
                  <a:pt x="267" y="138"/>
                </a:lnTo>
                <a:lnTo>
                  <a:pt x="229" y="148"/>
                </a:lnTo>
                <a:lnTo>
                  <a:pt x="201" y="158"/>
                </a:lnTo>
                <a:lnTo>
                  <a:pt x="194" y="161"/>
                </a:lnTo>
                <a:lnTo>
                  <a:pt x="213" y="169"/>
                </a:lnTo>
                <a:lnTo>
                  <a:pt x="229" y="185"/>
                </a:lnTo>
                <a:lnTo>
                  <a:pt x="255" y="169"/>
                </a:lnTo>
                <a:lnTo>
                  <a:pt x="277" y="163"/>
                </a:lnTo>
                <a:lnTo>
                  <a:pt x="325" y="155"/>
                </a:lnTo>
                <a:lnTo>
                  <a:pt x="339" y="155"/>
                </a:lnTo>
                <a:lnTo>
                  <a:pt x="293" y="172"/>
                </a:lnTo>
                <a:lnTo>
                  <a:pt x="258" y="188"/>
                </a:lnTo>
                <a:lnTo>
                  <a:pt x="239" y="201"/>
                </a:lnTo>
                <a:lnTo>
                  <a:pt x="255" y="217"/>
                </a:lnTo>
                <a:lnTo>
                  <a:pt x="293" y="204"/>
                </a:lnTo>
                <a:lnTo>
                  <a:pt x="325" y="198"/>
                </a:lnTo>
                <a:lnTo>
                  <a:pt x="267" y="226"/>
                </a:lnTo>
                <a:lnTo>
                  <a:pt x="248" y="239"/>
                </a:lnTo>
                <a:lnTo>
                  <a:pt x="242" y="266"/>
                </a:lnTo>
                <a:lnTo>
                  <a:pt x="232" y="280"/>
                </a:lnTo>
                <a:lnTo>
                  <a:pt x="267" y="263"/>
                </a:lnTo>
                <a:lnTo>
                  <a:pt x="298" y="257"/>
                </a:lnTo>
                <a:lnTo>
                  <a:pt x="348" y="255"/>
                </a:lnTo>
                <a:lnTo>
                  <a:pt x="272" y="276"/>
                </a:lnTo>
                <a:lnTo>
                  <a:pt x="226" y="294"/>
                </a:lnTo>
                <a:lnTo>
                  <a:pt x="194" y="310"/>
                </a:lnTo>
                <a:lnTo>
                  <a:pt x="191" y="335"/>
                </a:lnTo>
                <a:lnTo>
                  <a:pt x="229" y="317"/>
                </a:lnTo>
                <a:lnTo>
                  <a:pt x="280" y="300"/>
                </a:lnTo>
                <a:lnTo>
                  <a:pt x="304" y="300"/>
                </a:lnTo>
                <a:lnTo>
                  <a:pt x="248" y="320"/>
                </a:lnTo>
                <a:lnTo>
                  <a:pt x="204" y="338"/>
                </a:lnTo>
                <a:lnTo>
                  <a:pt x="187" y="355"/>
                </a:lnTo>
                <a:lnTo>
                  <a:pt x="194" y="370"/>
                </a:lnTo>
                <a:lnTo>
                  <a:pt x="229" y="358"/>
                </a:lnTo>
                <a:lnTo>
                  <a:pt x="261" y="344"/>
                </a:lnTo>
                <a:lnTo>
                  <a:pt x="327" y="341"/>
                </a:lnTo>
                <a:lnTo>
                  <a:pt x="354" y="344"/>
                </a:lnTo>
                <a:lnTo>
                  <a:pt x="415" y="348"/>
                </a:lnTo>
                <a:lnTo>
                  <a:pt x="488" y="338"/>
                </a:lnTo>
                <a:lnTo>
                  <a:pt x="444" y="355"/>
                </a:lnTo>
                <a:lnTo>
                  <a:pt x="368" y="367"/>
                </a:lnTo>
                <a:lnTo>
                  <a:pt x="384" y="393"/>
                </a:lnTo>
                <a:lnTo>
                  <a:pt x="438" y="379"/>
                </a:lnTo>
                <a:lnTo>
                  <a:pt x="491" y="361"/>
                </a:lnTo>
                <a:lnTo>
                  <a:pt x="525" y="344"/>
                </a:lnTo>
                <a:lnTo>
                  <a:pt x="460" y="393"/>
                </a:lnTo>
                <a:lnTo>
                  <a:pt x="419" y="405"/>
                </a:lnTo>
                <a:lnTo>
                  <a:pt x="384" y="417"/>
                </a:lnTo>
                <a:lnTo>
                  <a:pt x="387" y="442"/>
                </a:lnTo>
                <a:lnTo>
                  <a:pt x="438" y="434"/>
                </a:lnTo>
                <a:lnTo>
                  <a:pt x="478" y="423"/>
                </a:lnTo>
                <a:lnTo>
                  <a:pt x="454" y="440"/>
                </a:lnTo>
                <a:lnTo>
                  <a:pt x="409" y="452"/>
                </a:lnTo>
                <a:lnTo>
                  <a:pt x="387" y="455"/>
                </a:lnTo>
                <a:lnTo>
                  <a:pt x="387" y="511"/>
                </a:lnTo>
                <a:lnTo>
                  <a:pt x="435" y="492"/>
                </a:lnTo>
                <a:lnTo>
                  <a:pt x="473" y="477"/>
                </a:lnTo>
                <a:lnTo>
                  <a:pt x="432" y="508"/>
                </a:lnTo>
                <a:lnTo>
                  <a:pt x="380" y="530"/>
                </a:lnTo>
                <a:lnTo>
                  <a:pt x="384" y="556"/>
                </a:lnTo>
                <a:lnTo>
                  <a:pt x="412" y="586"/>
                </a:lnTo>
                <a:lnTo>
                  <a:pt x="438" y="553"/>
                </a:lnTo>
                <a:lnTo>
                  <a:pt x="473" y="511"/>
                </a:lnTo>
                <a:lnTo>
                  <a:pt x="496" y="471"/>
                </a:lnTo>
                <a:lnTo>
                  <a:pt x="473" y="533"/>
                </a:lnTo>
                <a:lnTo>
                  <a:pt x="454" y="556"/>
                </a:lnTo>
                <a:lnTo>
                  <a:pt x="419" y="599"/>
                </a:lnTo>
                <a:lnTo>
                  <a:pt x="444" y="628"/>
                </a:lnTo>
                <a:lnTo>
                  <a:pt x="485" y="594"/>
                </a:lnTo>
                <a:lnTo>
                  <a:pt x="514" y="553"/>
                </a:lnTo>
                <a:lnTo>
                  <a:pt x="540" y="508"/>
                </a:lnTo>
                <a:lnTo>
                  <a:pt x="517" y="573"/>
                </a:lnTo>
                <a:lnTo>
                  <a:pt x="491" y="602"/>
                </a:lnTo>
                <a:lnTo>
                  <a:pt x="465" y="631"/>
                </a:lnTo>
                <a:lnTo>
                  <a:pt x="488" y="643"/>
                </a:lnTo>
                <a:lnTo>
                  <a:pt x="540" y="599"/>
                </a:lnTo>
                <a:lnTo>
                  <a:pt x="589" y="530"/>
                </a:lnTo>
                <a:lnTo>
                  <a:pt x="607" y="477"/>
                </a:lnTo>
                <a:lnTo>
                  <a:pt x="620" y="386"/>
                </a:lnTo>
                <a:lnTo>
                  <a:pt x="627" y="317"/>
                </a:lnTo>
                <a:lnTo>
                  <a:pt x="636" y="239"/>
                </a:lnTo>
                <a:lnTo>
                  <a:pt x="582" y="255"/>
                </a:lnTo>
                <a:lnTo>
                  <a:pt x="522" y="276"/>
                </a:lnTo>
                <a:lnTo>
                  <a:pt x="432" y="297"/>
                </a:lnTo>
                <a:lnTo>
                  <a:pt x="514" y="266"/>
                </a:lnTo>
                <a:lnTo>
                  <a:pt x="543" y="249"/>
                </a:lnTo>
                <a:lnTo>
                  <a:pt x="601" y="229"/>
                </a:lnTo>
                <a:lnTo>
                  <a:pt x="630" y="223"/>
                </a:lnTo>
                <a:lnTo>
                  <a:pt x="630" y="182"/>
                </a:lnTo>
                <a:lnTo>
                  <a:pt x="623" y="129"/>
                </a:lnTo>
                <a:lnTo>
                  <a:pt x="551" y="141"/>
                </a:lnTo>
                <a:lnTo>
                  <a:pt x="505" y="155"/>
                </a:lnTo>
                <a:lnTo>
                  <a:pt x="447" y="182"/>
                </a:lnTo>
                <a:lnTo>
                  <a:pt x="499" y="141"/>
                </a:lnTo>
                <a:lnTo>
                  <a:pt x="560" y="124"/>
                </a:lnTo>
                <a:lnTo>
                  <a:pt x="620" y="109"/>
                </a:lnTo>
                <a:lnTo>
                  <a:pt x="607" y="69"/>
                </a:lnTo>
                <a:lnTo>
                  <a:pt x="589" y="45"/>
                </a:lnTo>
                <a:lnTo>
                  <a:pt x="534" y="28"/>
                </a:lnTo>
                <a:lnTo>
                  <a:pt x="482" y="41"/>
                </a:lnTo>
                <a:lnTo>
                  <a:pt x="432" y="76"/>
                </a:lnTo>
                <a:lnTo>
                  <a:pt x="465" y="35"/>
                </a:lnTo>
                <a:lnTo>
                  <a:pt x="517" y="16"/>
                </a:lnTo>
                <a:lnTo>
                  <a:pt x="460" y="6"/>
                </a:lnTo>
                <a:lnTo>
                  <a:pt x="419" y="3"/>
                </a:lnTo>
                <a:lnTo>
                  <a:pt x="359" y="13"/>
                </a:lnTo>
                <a:lnTo>
                  <a:pt x="318" y="38"/>
                </a:lnTo>
                <a:lnTo>
                  <a:pt x="255" y="51"/>
                </a:lnTo>
                <a:lnTo>
                  <a:pt x="298" y="32"/>
                </a:lnTo>
                <a:lnTo>
                  <a:pt x="330" y="13"/>
                </a:lnTo>
                <a:lnTo>
                  <a:pt x="348" y="0"/>
                </a:lnTo>
                <a:lnTo>
                  <a:pt x="287" y="3"/>
                </a:lnTo>
                <a:lnTo>
                  <a:pt x="232" y="6"/>
                </a:lnTo>
                <a:lnTo>
                  <a:pt x="198" y="22"/>
                </a:lnTo>
                <a:lnTo>
                  <a:pt x="163" y="54"/>
                </a:lnTo>
                <a:lnTo>
                  <a:pt x="136" y="95"/>
                </a:lnTo>
                <a:lnTo>
                  <a:pt x="151" y="48"/>
                </a:lnTo>
                <a:lnTo>
                  <a:pt x="184" y="16"/>
                </a:lnTo>
                <a:lnTo>
                  <a:pt x="104" y="41"/>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86" name="Group 279"/>
          <p:cNvGrpSpPr>
            <a:grpSpLocks/>
          </p:cNvGrpSpPr>
          <p:nvPr/>
        </p:nvGrpSpPr>
        <p:grpSpPr bwMode="auto">
          <a:xfrm>
            <a:off x="6951331" y="3281513"/>
            <a:ext cx="116768" cy="65973"/>
            <a:chOff x="5264" y="1904"/>
            <a:chExt cx="116" cy="71"/>
          </a:xfrm>
        </p:grpSpPr>
        <p:sp>
          <p:nvSpPr>
            <p:cNvPr id="287" name="Freeform 280"/>
            <p:cNvSpPr>
              <a:spLocks/>
            </p:cNvSpPr>
            <p:nvPr/>
          </p:nvSpPr>
          <p:spPr bwMode="auto">
            <a:xfrm>
              <a:off x="5264" y="1904"/>
              <a:ext cx="116" cy="71"/>
            </a:xfrm>
            <a:custGeom>
              <a:avLst/>
              <a:gdLst>
                <a:gd name="T0" fmla="*/ 0 w 698"/>
                <a:gd name="T1" fmla="*/ 0 h 425"/>
                <a:gd name="T2" fmla="*/ 0 w 698"/>
                <a:gd name="T3" fmla="*/ 0 h 425"/>
                <a:gd name="T4" fmla="*/ 0 w 698"/>
                <a:gd name="T5" fmla="*/ 0 h 425"/>
                <a:gd name="T6" fmla="*/ 0 w 698"/>
                <a:gd name="T7" fmla="*/ 0 h 425"/>
                <a:gd name="T8" fmla="*/ 0 w 698"/>
                <a:gd name="T9" fmla="*/ 0 h 425"/>
                <a:gd name="T10" fmla="*/ 0 w 698"/>
                <a:gd name="T11" fmla="*/ 0 h 425"/>
                <a:gd name="T12" fmla="*/ 0 w 698"/>
                <a:gd name="T13" fmla="*/ 0 h 425"/>
                <a:gd name="T14" fmla="*/ 0 w 698"/>
                <a:gd name="T15" fmla="*/ 0 h 425"/>
                <a:gd name="T16" fmla="*/ 0 w 698"/>
                <a:gd name="T17" fmla="*/ 0 h 425"/>
                <a:gd name="T18" fmla="*/ 0 w 698"/>
                <a:gd name="T19" fmla="*/ 0 h 425"/>
                <a:gd name="T20" fmla="*/ 0 w 698"/>
                <a:gd name="T21" fmla="*/ 0 h 425"/>
                <a:gd name="T22" fmla="*/ 0 w 698"/>
                <a:gd name="T23" fmla="*/ 0 h 425"/>
                <a:gd name="T24" fmla="*/ 0 w 698"/>
                <a:gd name="T25" fmla="*/ 0 h 425"/>
                <a:gd name="T26" fmla="*/ 0 w 698"/>
                <a:gd name="T27" fmla="*/ 0 h 425"/>
                <a:gd name="T28" fmla="*/ 0 w 698"/>
                <a:gd name="T29" fmla="*/ 0 h 425"/>
                <a:gd name="T30" fmla="*/ 0 w 698"/>
                <a:gd name="T31" fmla="*/ 0 h 425"/>
                <a:gd name="T32" fmla="*/ 0 w 698"/>
                <a:gd name="T33" fmla="*/ 0 h 425"/>
                <a:gd name="T34" fmla="*/ 0 w 698"/>
                <a:gd name="T35" fmla="*/ 0 h 425"/>
                <a:gd name="T36" fmla="*/ 0 w 698"/>
                <a:gd name="T37" fmla="*/ 0 h 425"/>
                <a:gd name="T38" fmla="*/ 0 w 698"/>
                <a:gd name="T39" fmla="*/ 0 h 425"/>
                <a:gd name="T40" fmla="*/ 0 w 698"/>
                <a:gd name="T41" fmla="*/ 0 h 425"/>
                <a:gd name="T42" fmla="*/ 0 w 698"/>
                <a:gd name="T43" fmla="*/ 0 h 425"/>
                <a:gd name="T44" fmla="*/ 0 w 698"/>
                <a:gd name="T45" fmla="*/ 0 h 425"/>
                <a:gd name="T46" fmla="*/ 0 w 698"/>
                <a:gd name="T47" fmla="*/ 0 h 425"/>
                <a:gd name="T48" fmla="*/ 0 w 698"/>
                <a:gd name="T49" fmla="*/ 0 h 425"/>
                <a:gd name="T50" fmla="*/ 0 w 698"/>
                <a:gd name="T51" fmla="*/ 0 h 425"/>
                <a:gd name="T52" fmla="*/ 0 w 698"/>
                <a:gd name="T53" fmla="*/ 0 h 425"/>
                <a:gd name="T54" fmla="*/ 0 w 698"/>
                <a:gd name="T55" fmla="*/ 0 h 425"/>
                <a:gd name="T56" fmla="*/ 0 w 698"/>
                <a:gd name="T57" fmla="*/ 0 h 425"/>
                <a:gd name="T58" fmla="*/ 0 w 698"/>
                <a:gd name="T59" fmla="*/ 0 h 425"/>
                <a:gd name="T60" fmla="*/ 0 w 698"/>
                <a:gd name="T61" fmla="*/ 0 h 425"/>
                <a:gd name="T62" fmla="*/ 0 w 698"/>
                <a:gd name="T63" fmla="*/ 0 h 425"/>
                <a:gd name="T64" fmla="*/ 0 w 698"/>
                <a:gd name="T65" fmla="*/ 0 h 425"/>
                <a:gd name="T66" fmla="*/ 0 w 698"/>
                <a:gd name="T67" fmla="*/ 0 h 425"/>
                <a:gd name="T68" fmla="*/ 0 w 698"/>
                <a:gd name="T69" fmla="*/ 0 h 425"/>
                <a:gd name="T70" fmla="*/ 0 w 698"/>
                <a:gd name="T71" fmla="*/ 0 h 425"/>
                <a:gd name="T72" fmla="*/ 0 w 698"/>
                <a:gd name="T73" fmla="*/ 0 h 425"/>
                <a:gd name="T74" fmla="*/ 0 w 698"/>
                <a:gd name="T75" fmla="*/ 0 h 425"/>
                <a:gd name="T76" fmla="*/ 0 w 698"/>
                <a:gd name="T77" fmla="*/ 0 h 425"/>
                <a:gd name="T78" fmla="*/ 0 w 698"/>
                <a:gd name="T79" fmla="*/ 0 h 425"/>
                <a:gd name="T80" fmla="*/ 0 w 698"/>
                <a:gd name="T81" fmla="*/ 0 h 425"/>
                <a:gd name="T82" fmla="*/ 0 w 698"/>
                <a:gd name="T83" fmla="*/ 0 h 425"/>
                <a:gd name="T84" fmla="*/ 0 w 698"/>
                <a:gd name="T85" fmla="*/ 0 h 425"/>
                <a:gd name="T86" fmla="*/ 0 w 698"/>
                <a:gd name="T87" fmla="*/ 0 h 425"/>
                <a:gd name="T88" fmla="*/ 0 w 698"/>
                <a:gd name="T89" fmla="*/ 0 h 425"/>
                <a:gd name="T90" fmla="*/ 0 w 698"/>
                <a:gd name="T91" fmla="*/ 0 h 425"/>
                <a:gd name="T92" fmla="*/ 0 w 698"/>
                <a:gd name="T93" fmla="*/ 0 h 425"/>
                <a:gd name="T94" fmla="*/ 0 w 698"/>
                <a:gd name="T95" fmla="*/ 0 h 425"/>
                <a:gd name="T96" fmla="*/ 0 w 698"/>
                <a:gd name="T97" fmla="*/ 0 h 425"/>
                <a:gd name="T98" fmla="*/ 0 w 698"/>
                <a:gd name="T99" fmla="*/ 0 h 42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698" h="425">
                  <a:moveTo>
                    <a:pt x="698" y="253"/>
                  </a:moveTo>
                  <a:lnTo>
                    <a:pt x="611" y="233"/>
                  </a:lnTo>
                  <a:lnTo>
                    <a:pt x="579" y="227"/>
                  </a:lnTo>
                  <a:lnTo>
                    <a:pt x="558" y="210"/>
                  </a:lnTo>
                  <a:lnTo>
                    <a:pt x="538" y="182"/>
                  </a:lnTo>
                  <a:lnTo>
                    <a:pt x="496" y="143"/>
                  </a:lnTo>
                  <a:lnTo>
                    <a:pt x="420" y="79"/>
                  </a:lnTo>
                  <a:lnTo>
                    <a:pt x="407" y="58"/>
                  </a:lnTo>
                  <a:lnTo>
                    <a:pt x="387" y="38"/>
                  </a:lnTo>
                  <a:lnTo>
                    <a:pt x="347" y="32"/>
                  </a:lnTo>
                  <a:lnTo>
                    <a:pt x="225" y="11"/>
                  </a:lnTo>
                  <a:lnTo>
                    <a:pt x="192" y="0"/>
                  </a:lnTo>
                  <a:lnTo>
                    <a:pt x="162" y="14"/>
                  </a:lnTo>
                  <a:lnTo>
                    <a:pt x="147" y="27"/>
                  </a:lnTo>
                  <a:lnTo>
                    <a:pt x="75" y="52"/>
                  </a:lnTo>
                  <a:lnTo>
                    <a:pt x="48" y="62"/>
                  </a:lnTo>
                  <a:lnTo>
                    <a:pt x="37" y="73"/>
                  </a:lnTo>
                  <a:lnTo>
                    <a:pt x="24" y="114"/>
                  </a:lnTo>
                  <a:lnTo>
                    <a:pt x="16" y="133"/>
                  </a:lnTo>
                  <a:lnTo>
                    <a:pt x="9" y="146"/>
                  </a:lnTo>
                  <a:lnTo>
                    <a:pt x="0" y="165"/>
                  </a:lnTo>
                  <a:lnTo>
                    <a:pt x="0" y="181"/>
                  </a:lnTo>
                  <a:lnTo>
                    <a:pt x="15" y="191"/>
                  </a:lnTo>
                  <a:lnTo>
                    <a:pt x="43" y="190"/>
                  </a:lnTo>
                  <a:lnTo>
                    <a:pt x="89" y="168"/>
                  </a:lnTo>
                  <a:lnTo>
                    <a:pt x="147" y="158"/>
                  </a:lnTo>
                  <a:lnTo>
                    <a:pt x="198" y="165"/>
                  </a:lnTo>
                  <a:lnTo>
                    <a:pt x="144" y="179"/>
                  </a:lnTo>
                  <a:lnTo>
                    <a:pt x="105" y="191"/>
                  </a:lnTo>
                  <a:lnTo>
                    <a:pt x="61" y="210"/>
                  </a:lnTo>
                  <a:lnTo>
                    <a:pt x="51" y="224"/>
                  </a:lnTo>
                  <a:lnTo>
                    <a:pt x="51" y="242"/>
                  </a:lnTo>
                  <a:lnTo>
                    <a:pt x="67" y="253"/>
                  </a:lnTo>
                  <a:lnTo>
                    <a:pt x="87" y="250"/>
                  </a:lnTo>
                  <a:lnTo>
                    <a:pt x="150" y="233"/>
                  </a:lnTo>
                  <a:lnTo>
                    <a:pt x="205" y="230"/>
                  </a:lnTo>
                  <a:lnTo>
                    <a:pt x="249" y="233"/>
                  </a:lnTo>
                  <a:lnTo>
                    <a:pt x="273" y="250"/>
                  </a:lnTo>
                  <a:lnTo>
                    <a:pt x="301" y="279"/>
                  </a:lnTo>
                  <a:lnTo>
                    <a:pt x="323" y="310"/>
                  </a:lnTo>
                  <a:lnTo>
                    <a:pt x="346" y="342"/>
                  </a:lnTo>
                  <a:lnTo>
                    <a:pt x="364" y="366"/>
                  </a:lnTo>
                  <a:lnTo>
                    <a:pt x="397" y="389"/>
                  </a:lnTo>
                  <a:lnTo>
                    <a:pt x="429" y="396"/>
                  </a:lnTo>
                  <a:lnTo>
                    <a:pt x="464" y="399"/>
                  </a:lnTo>
                  <a:lnTo>
                    <a:pt x="507" y="396"/>
                  </a:lnTo>
                  <a:lnTo>
                    <a:pt x="539" y="393"/>
                  </a:lnTo>
                  <a:lnTo>
                    <a:pt x="582" y="404"/>
                  </a:lnTo>
                  <a:lnTo>
                    <a:pt x="698" y="425"/>
                  </a:lnTo>
                  <a:lnTo>
                    <a:pt x="698" y="253"/>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8" name="Freeform 281"/>
            <p:cNvSpPr>
              <a:spLocks/>
            </p:cNvSpPr>
            <p:nvPr/>
          </p:nvSpPr>
          <p:spPr bwMode="auto">
            <a:xfrm>
              <a:off x="5269" y="1916"/>
              <a:ext cx="37" cy="9"/>
            </a:xfrm>
            <a:custGeom>
              <a:avLst/>
              <a:gdLst>
                <a:gd name="T0" fmla="*/ 0 w 223"/>
                <a:gd name="T1" fmla="*/ 0 h 52"/>
                <a:gd name="T2" fmla="*/ 0 w 223"/>
                <a:gd name="T3" fmla="*/ 0 h 52"/>
                <a:gd name="T4" fmla="*/ 0 w 223"/>
                <a:gd name="T5" fmla="*/ 0 h 52"/>
                <a:gd name="T6" fmla="*/ 0 w 223"/>
                <a:gd name="T7" fmla="*/ 0 h 52"/>
                <a:gd name="T8" fmla="*/ 0 w 223"/>
                <a:gd name="T9" fmla="*/ 0 h 52"/>
                <a:gd name="T10" fmla="*/ 0 w 223"/>
                <a:gd name="T11" fmla="*/ 0 h 52"/>
                <a:gd name="T12" fmla="*/ 0 w 223"/>
                <a:gd name="T13" fmla="*/ 0 h 52"/>
                <a:gd name="T14" fmla="*/ 0 w 223"/>
                <a:gd name="T15" fmla="*/ 0 h 52"/>
                <a:gd name="T16" fmla="*/ 0 w 223"/>
                <a:gd name="T17" fmla="*/ 0 h 52"/>
                <a:gd name="T18" fmla="*/ 0 w 223"/>
                <a:gd name="T19" fmla="*/ 0 h 52"/>
                <a:gd name="T20" fmla="*/ 0 w 223"/>
                <a:gd name="T21" fmla="*/ 0 h 52"/>
                <a:gd name="T22" fmla="*/ 0 w 223"/>
                <a:gd name="T23" fmla="*/ 0 h 52"/>
                <a:gd name="T24" fmla="*/ 0 w 223"/>
                <a:gd name="T25" fmla="*/ 0 h 52"/>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223" h="52">
                  <a:moveTo>
                    <a:pt x="0" y="52"/>
                  </a:moveTo>
                  <a:lnTo>
                    <a:pt x="38" y="36"/>
                  </a:lnTo>
                  <a:lnTo>
                    <a:pt x="69" y="30"/>
                  </a:lnTo>
                  <a:lnTo>
                    <a:pt x="107" y="18"/>
                  </a:lnTo>
                  <a:lnTo>
                    <a:pt x="139" y="11"/>
                  </a:lnTo>
                  <a:lnTo>
                    <a:pt x="189" y="15"/>
                  </a:lnTo>
                  <a:lnTo>
                    <a:pt x="223" y="18"/>
                  </a:lnTo>
                  <a:lnTo>
                    <a:pt x="171" y="8"/>
                  </a:lnTo>
                  <a:lnTo>
                    <a:pt x="127" y="0"/>
                  </a:lnTo>
                  <a:lnTo>
                    <a:pt x="69" y="24"/>
                  </a:lnTo>
                  <a:lnTo>
                    <a:pt x="38" y="28"/>
                  </a:lnTo>
                  <a:lnTo>
                    <a:pt x="3" y="45"/>
                  </a:lnTo>
                  <a:lnTo>
                    <a:pt x="0" y="5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9" name="Freeform 282"/>
            <p:cNvSpPr>
              <a:spLocks/>
            </p:cNvSpPr>
            <p:nvPr/>
          </p:nvSpPr>
          <p:spPr bwMode="auto">
            <a:xfrm>
              <a:off x="5289" y="1907"/>
              <a:ext cx="31" cy="6"/>
            </a:xfrm>
            <a:custGeom>
              <a:avLst/>
              <a:gdLst>
                <a:gd name="T0" fmla="*/ 0 w 188"/>
                <a:gd name="T1" fmla="*/ 0 h 36"/>
                <a:gd name="T2" fmla="*/ 0 w 188"/>
                <a:gd name="T3" fmla="*/ 0 h 36"/>
                <a:gd name="T4" fmla="*/ 0 w 188"/>
                <a:gd name="T5" fmla="*/ 0 h 36"/>
                <a:gd name="T6" fmla="*/ 0 w 188"/>
                <a:gd name="T7" fmla="*/ 0 h 36"/>
                <a:gd name="T8" fmla="*/ 0 w 188"/>
                <a:gd name="T9" fmla="*/ 0 h 36"/>
                <a:gd name="T10" fmla="*/ 0 w 188"/>
                <a:gd name="T11" fmla="*/ 0 h 36"/>
                <a:gd name="T12" fmla="*/ 0 w 188"/>
                <a:gd name="T13" fmla="*/ 0 h 36"/>
                <a:gd name="T14" fmla="*/ 0 w 188"/>
                <a:gd name="T15" fmla="*/ 0 h 36"/>
                <a:gd name="T16" fmla="*/ 0 w 188"/>
                <a:gd name="T17" fmla="*/ 0 h 36"/>
                <a:gd name="T18" fmla="*/ 0 w 188"/>
                <a:gd name="T19" fmla="*/ 0 h 36"/>
                <a:gd name="T20" fmla="*/ 0 w 188"/>
                <a:gd name="T21" fmla="*/ 0 h 36"/>
                <a:gd name="T22" fmla="*/ 0 w 188"/>
                <a:gd name="T23" fmla="*/ 0 h 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88" h="36">
                  <a:moveTo>
                    <a:pt x="51" y="0"/>
                  </a:moveTo>
                  <a:lnTo>
                    <a:pt x="29" y="1"/>
                  </a:lnTo>
                  <a:lnTo>
                    <a:pt x="0" y="11"/>
                  </a:lnTo>
                  <a:lnTo>
                    <a:pt x="19" y="9"/>
                  </a:lnTo>
                  <a:lnTo>
                    <a:pt x="48" y="4"/>
                  </a:lnTo>
                  <a:lnTo>
                    <a:pt x="109" y="20"/>
                  </a:lnTo>
                  <a:lnTo>
                    <a:pt x="143" y="30"/>
                  </a:lnTo>
                  <a:lnTo>
                    <a:pt x="181" y="36"/>
                  </a:lnTo>
                  <a:lnTo>
                    <a:pt x="188" y="30"/>
                  </a:lnTo>
                  <a:lnTo>
                    <a:pt x="146" y="22"/>
                  </a:lnTo>
                  <a:lnTo>
                    <a:pt x="97" y="11"/>
                  </a:lnTo>
                  <a:lnTo>
                    <a:pt x="5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0" name="Freeform 283"/>
            <p:cNvSpPr>
              <a:spLocks/>
            </p:cNvSpPr>
            <p:nvPr/>
          </p:nvSpPr>
          <p:spPr bwMode="auto">
            <a:xfrm>
              <a:off x="5295" y="1929"/>
              <a:ext cx="13" cy="3"/>
            </a:xfrm>
            <a:custGeom>
              <a:avLst/>
              <a:gdLst>
                <a:gd name="T0" fmla="*/ 0 w 76"/>
                <a:gd name="T1" fmla="*/ 0 h 17"/>
                <a:gd name="T2" fmla="*/ 0 w 76"/>
                <a:gd name="T3" fmla="*/ 0 h 17"/>
                <a:gd name="T4" fmla="*/ 0 w 76"/>
                <a:gd name="T5" fmla="*/ 0 h 17"/>
                <a:gd name="T6" fmla="*/ 0 w 76"/>
                <a:gd name="T7" fmla="*/ 0 h 17"/>
                <a:gd name="T8" fmla="*/ 0 w 76"/>
                <a:gd name="T9" fmla="*/ 0 h 17"/>
                <a:gd name="T10" fmla="*/ 0 w 76"/>
                <a:gd name="T11" fmla="*/ 0 h 17"/>
                <a:gd name="T12" fmla="*/ 0 w 76"/>
                <a:gd name="T13" fmla="*/ 0 h 1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6" h="17">
                  <a:moveTo>
                    <a:pt x="0" y="8"/>
                  </a:moveTo>
                  <a:lnTo>
                    <a:pt x="8" y="17"/>
                  </a:lnTo>
                  <a:lnTo>
                    <a:pt x="36" y="12"/>
                  </a:lnTo>
                  <a:lnTo>
                    <a:pt x="67" y="12"/>
                  </a:lnTo>
                  <a:lnTo>
                    <a:pt x="76" y="0"/>
                  </a:lnTo>
                  <a:lnTo>
                    <a:pt x="55" y="4"/>
                  </a:lnTo>
                  <a:lnTo>
                    <a:pt x="0" y="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1" name="Freeform 284"/>
            <p:cNvSpPr>
              <a:spLocks/>
            </p:cNvSpPr>
            <p:nvPr/>
          </p:nvSpPr>
          <p:spPr bwMode="auto">
            <a:xfrm>
              <a:off x="5268" y="1926"/>
              <a:ext cx="3" cy="6"/>
            </a:xfrm>
            <a:custGeom>
              <a:avLst/>
              <a:gdLst>
                <a:gd name="T0" fmla="*/ 0 w 19"/>
                <a:gd name="T1" fmla="*/ 0 h 32"/>
                <a:gd name="T2" fmla="*/ 0 w 19"/>
                <a:gd name="T3" fmla="*/ 0 h 32"/>
                <a:gd name="T4" fmla="*/ 0 w 19"/>
                <a:gd name="T5" fmla="*/ 0 h 32"/>
                <a:gd name="T6" fmla="*/ 0 w 19"/>
                <a:gd name="T7" fmla="*/ 0 h 32"/>
                <a:gd name="T8" fmla="*/ 0 w 19"/>
                <a:gd name="T9" fmla="*/ 0 h 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32">
                  <a:moveTo>
                    <a:pt x="19" y="0"/>
                  </a:moveTo>
                  <a:lnTo>
                    <a:pt x="19" y="9"/>
                  </a:lnTo>
                  <a:lnTo>
                    <a:pt x="14" y="24"/>
                  </a:lnTo>
                  <a:lnTo>
                    <a:pt x="0" y="32"/>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2" name="Freeform 285"/>
            <p:cNvSpPr>
              <a:spLocks/>
            </p:cNvSpPr>
            <p:nvPr/>
          </p:nvSpPr>
          <p:spPr bwMode="auto">
            <a:xfrm>
              <a:off x="5277" y="1940"/>
              <a:ext cx="3" cy="3"/>
            </a:xfrm>
            <a:custGeom>
              <a:avLst/>
              <a:gdLst>
                <a:gd name="T0" fmla="*/ 0 w 14"/>
                <a:gd name="T1" fmla="*/ 0 h 18"/>
                <a:gd name="T2" fmla="*/ 0 w 14"/>
                <a:gd name="T3" fmla="*/ 0 h 18"/>
                <a:gd name="T4" fmla="*/ 0 w 14"/>
                <a:gd name="T5" fmla="*/ 0 h 18"/>
                <a:gd name="T6" fmla="*/ 0 w 14"/>
                <a:gd name="T7" fmla="*/ 0 h 1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18">
                  <a:moveTo>
                    <a:pt x="14" y="0"/>
                  </a:moveTo>
                  <a:lnTo>
                    <a:pt x="11" y="9"/>
                  </a:lnTo>
                  <a:lnTo>
                    <a:pt x="0" y="18"/>
                  </a:lnTo>
                  <a:lnTo>
                    <a:pt x="1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3" name="Freeform 286"/>
            <p:cNvSpPr>
              <a:spLocks/>
            </p:cNvSpPr>
            <p:nvPr/>
          </p:nvSpPr>
          <p:spPr bwMode="auto">
            <a:xfrm>
              <a:off x="5319" y="1921"/>
              <a:ext cx="6" cy="7"/>
            </a:xfrm>
            <a:custGeom>
              <a:avLst/>
              <a:gdLst>
                <a:gd name="T0" fmla="*/ 0 w 35"/>
                <a:gd name="T1" fmla="*/ 0 h 43"/>
                <a:gd name="T2" fmla="*/ 0 w 35"/>
                <a:gd name="T3" fmla="*/ 0 h 43"/>
                <a:gd name="T4" fmla="*/ 0 w 35"/>
                <a:gd name="T5" fmla="*/ 0 h 43"/>
                <a:gd name="T6" fmla="*/ 0 w 35"/>
                <a:gd name="T7" fmla="*/ 0 h 43"/>
                <a:gd name="T8" fmla="*/ 0 w 35"/>
                <a:gd name="T9" fmla="*/ 0 h 4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43">
                  <a:moveTo>
                    <a:pt x="0" y="0"/>
                  </a:moveTo>
                  <a:lnTo>
                    <a:pt x="7" y="14"/>
                  </a:lnTo>
                  <a:lnTo>
                    <a:pt x="7" y="24"/>
                  </a:lnTo>
                  <a:lnTo>
                    <a:pt x="35" y="4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4" name="Freeform 287"/>
            <p:cNvSpPr>
              <a:spLocks/>
            </p:cNvSpPr>
            <p:nvPr/>
          </p:nvSpPr>
          <p:spPr bwMode="auto">
            <a:xfrm>
              <a:off x="5330" y="1921"/>
              <a:ext cx="19" cy="19"/>
            </a:xfrm>
            <a:custGeom>
              <a:avLst/>
              <a:gdLst>
                <a:gd name="T0" fmla="*/ 0 w 114"/>
                <a:gd name="T1" fmla="*/ 0 h 114"/>
                <a:gd name="T2" fmla="*/ 0 w 114"/>
                <a:gd name="T3" fmla="*/ 0 h 114"/>
                <a:gd name="T4" fmla="*/ 0 w 114"/>
                <a:gd name="T5" fmla="*/ 0 h 114"/>
                <a:gd name="T6" fmla="*/ 0 w 114"/>
                <a:gd name="T7" fmla="*/ 0 h 114"/>
                <a:gd name="T8" fmla="*/ 0 w 114"/>
                <a:gd name="T9" fmla="*/ 0 h 114"/>
                <a:gd name="T10" fmla="*/ 0 w 114"/>
                <a:gd name="T11" fmla="*/ 0 h 114"/>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4" h="114">
                  <a:moveTo>
                    <a:pt x="0" y="0"/>
                  </a:moveTo>
                  <a:lnTo>
                    <a:pt x="21" y="35"/>
                  </a:lnTo>
                  <a:lnTo>
                    <a:pt x="43" y="63"/>
                  </a:lnTo>
                  <a:lnTo>
                    <a:pt x="114" y="114"/>
                  </a:lnTo>
                  <a:lnTo>
                    <a:pt x="47" y="5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5" name="Freeform 288"/>
            <p:cNvSpPr>
              <a:spLocks/>
            </p:cNvSpPr>
            <p:nvPr/>
          </p:nvSpPr>
          <p:spPr bwMode="auto">
            <a:xfrm>
              <a:off x="5354" y="1948"/>
              <a:ext cx="4" cy="13"/>
            </a:xfrm>
            <a:custGeom>
              <a:avLst/>
              <a:gdLst>
                <a:gd name="T0" fmla="*/ 0 w 27"/>
                <a:gd name="T1" fmla="*/ 0 h 82"/>
                <a:gd name="T2" fmla="*/ 0 w 27"/>
                <a:gd name="T3" fmla="*/ 0 h 82"/>
                <a:gd name="T4" fmla="*/ 0 w 27"/>
                <a:gd name="T5" fmla="*/ 0 h 82"/>
                <a:gd name="T6" fmla="*/ 0 w 27"/>
                <a:gd name="T7" fmla="*/ 0 h 82"/>
                <a:gd name="T8" fmla="*/ 0 w 27"/>
                <a:gd name="T9" fmla="*/ 0 h 82"/>
                <a:gd name="T10" fmla="*/ 0 w 27"/>
                <a:gd name="T11" fmla="*/ 0 h 82"/>
                <a:gd name="T12" fmla="*/ 0 w 27"/>
                <a:gd name="T13" fmla="*/ 0 h 8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7" h="82">
                  <a:moveTo>
                    <a:pt x="27" y="0"/>
                  </a:moveTo>
                  <a:lnTo>
                    <a:pt x="9" y="29"/>
                  </a:lnTo>
                  <a:lnTo>
                    <a:pt x="4" y="57"/>
                  </a:lnTo>
                  <a:lnTo>
                    <a:pt x="3" y="82"/>
                  </a:lnTo>
                  <a:lnTo>
                    <a:pt x="0" y="47"/>
                  </a:lnTo>
                  <a:lnTo>
                    <a:pt x="3" y="21"/>
                  </a:lnTo>
                  <a:lnTo>
                    <a:pt x="2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6" name="Freeform 289"/>
            <p:cNvSpPr>
              <a:spLocks/>
            </p:cNvSpPr>
            <p:nvPr/>
          </p:nvSpPr>
          <p:spPr bwMode="auto">
            <a:xfrm>
              <a:off x="5312" y="1934"/>
              <a:ext cx="2" cy="5"/>
            </a:xfrm>
            <a:custGeom>
              <a:avLst/>
              <a:gdLst>
                <a:gd name="T0" fmla="*/ 0 w 15"/>
                <a:gd name="T1" fmla="*/ 0 h 30"/>
                <a:gd name="T2" fmla="*/ 0 w 15"/>
                <a:gd name="T3" fmla="*/ 0 h 30"/>
                <a:gd name="T4" fmla="*/ 0 w 15"/>
                <a:gd name="T5" fmla="*/ 0 h 30"/>
                <a:gd name="T6" fmla="*/ 0 w 15"/>
                <a:gd name="T7" fmla="*/ 0 h 3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5" h="30">
                  <a:moveTo>
                    <a:pt x="11" y="0"/>
                  </a:moveTo>
                  <a:lnTo>
                    <a:pt x="15" y="12"/>
                  </a:lnTo>
                  <a:lnTo>
                    <a:pt x="0" y="30"/>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97" name="Group 290"/>
          <p:cNvGrpSpPr>
            <a:grpSpLocks/>
          </p:cNvGrpSpPr>
          <p:nvPr/>
        </p:nvGrpSpPr>
        <p:grpSpPr bwMode="auto">
          <a:xfrm>
            <a:off x="7049981" y="3136559"/>
            <a:ext cx="269775" cy="283404"/>
            <a:chOff x="5362" y="1748"/>
            <a:chExt cx="268" cy="305"/>
          </a:xfrm>
        </p:grpSpPr>
        <p:sp>
          <p:nvSpPr>
            <p:cNvPr id="298" name="Freeform 291"/>
            <p:cNvSpPr>
              <a:spLocks/>
            </p:cNvSpPr>
            <p:nvPr/>
          </p:nvSpPr>
          <p:spPr bwMode="auto">
            <a:xfrm>
              <a:off x="5477" y="1748"/>
              <a:ext cx="8" cy="6"/>
            </a:xfrm>
            <a:custGeom>
              <a:avLst/>
              <a:gdLst>
                <a:gd name="T0" fmla="*/ 0 w 51"/>
                <a:gd name="T1" fmla="*/ 0 h 36"/>
                <a:gd name="T2" fmla="*/ 0 w 51"/>
                <a:gd name="T3" fmla="*/ 0 h 36"/>
                <a:gd name="T4" fmla="*/ 0 w 51"/>
                <a:gd name="T5" fmla="*/ 0 h 36"/>
                <a:gd name="T6" fmla="*/ 0 w 51"/>
                <a:gd name="T7" fmla="*/ 0 h 36"/>
                <a:gd name="T8" fmla="*/ 0 w 51"/>
                <a:gd name="T9" fmla="*/ 0 h 36"/>
                <a:gd name="T10" fmla="*/ 0 w 51"/>
                <a:gd name="T11" fmla="*/ 0 h 36"/>
                <a:gd name="T12" fmla="*/ 0 w 51"/>
                <a:gd name="T13" fmla="*/ 0 h 36"/>
                <a:gd name="T14" fmla="*/ 0 w 51"/>
                <a:gd name="T15" fmla="*/ 0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51" h="36">
                  <a:moveTo>
                    <a:pt x="0" y="0"/>
                  </a:moveTo>
                  <a:lnTo>
                    <a:pt x="14" y="10"/>
                  </a:lnTo>
                  <a:lnTo>
                    <a:pt x="29" y="15"/>
                  </a:lnTo>
                  <a:lnTo>
                    <a:pt x="43" y="23"/>
                  </a:lnTo>
                  <a:lnTo>
                    <a:pt x="51" y="36"/>
                  </a:lnTo>
                  <a:lnTo>
                    <a:pt x="39" y="32"/>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9" name="Freeform 292"/>
            <p:cNvSpPr>
              <a:spLocks/>
            </p:cNvSpPr>
            <p:nvPr/>
          </p:nvSpPr>
          <p:spPr bwMode="auto">
            <a:xfrm>
              <a:off x="5479" y="1758"/>
              <a:ext cx="2" cy="4"/>
            </a:xfrm>
            <a:custGeom>
              <a:avLst/>
              <a:gdLst>
                <a:gd name="T0" fmla="*/ 0 w 14"/>
                <a:gd name="T1" fmla="*/ 0 h 24"/>
                <a:gd name="T2" fmla="*/ 0 w 14"/>
                <a:gd name="T3" fmla="*/ 0 h 24"/>
                <a:gd name="T4" fmla="*/ 0 w 14"/>
                <a:gd name="T5" fmla="*/ 0 h 24"/>
                <a:gd name="T6" fmla="*/ 0 w 14"/>
                <a:gd name="T7" fmla="*/ 0 h 2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24">
                  <a:moveTo>
                    <a:pt x="0" y="0"/>
                  </a:moveTo>
                  <a:lnTo>
                    <a:pt x="14" y="0"/>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0" name="Freeform 293"/>
            <p:cNvSpPr>
              <a:spLocks/>
            </p:cNvSpPr>
            <p:nvPr/>
          </p:nvSpPr>
          <p:spPr bwMode="auto">
            <a:xfrm>
              <a:off x="5444" y="1788"/>
              <a:ext cx="71" cy="180"/>
            </a:xfrm>
            <a:custGeom>
              <a:avLst/>
              <a:gdLst>
                <a:gd name="T0" fmla="*/ 0 w 431"/>
                <a:gd name="T1" fmla="*/ 0 h 1076"/>
                <a:gd name="T2" fmla="*/ 0 w 431"/>
                <a:gd name="T3" fmla="*/ 0 h 1076"/>
                <a:gd name="T4" fmla="*/ 0 w 431"/>
                <a:gd name="T5" fmla="*/ 0 h 1076"/>
                <a:gd name="T6" fmla="*/ 0 w 431"/>
                <a:gd name="T7" fmla="*/ 0 h 1076"/>
                <a:gd name="T8" fmla="*/ 0 w 431"/>
                <a:gd name="T9" fmla="*/ 0 h 1076"/>
                <a:gd name="T10" fmla="*/ 0 w 431"/>
                <a:gd name="T11" fmla="*/ 0 h 1076"/>
                <a:gd name="T12" fmla="*/ 0 w 431"/>
                <a:gd name="T13" fmla="*/ 0 h 1076"/>
                <a:gd name="T14" fmla="*/ 0 w 431"/>
                <a:gd name="T15" fmla="*/ 0 h 1076"/>
                <a:gd name="T16" fmla="*/ 0 w 431"/>
                <a:gd name="T17" fmla="*/ 0 h 1076"/>
                <a:gd name="T18" fmla="*/ 0 w 431"/>
                <a:gd name="T19" fmla="*/ 0 h 1076"/>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431" h="1076">
                  <a:moveTo>
                    <a:pt x="369" y="0"/>
                  </a:moveTo>
                  <a:lnTo>
                    <a:pt x="328" y="44"/>
                  </a:lnTo>
                  <a:lnTo>
                    <a:pt x="317" y="108"/>
                  </a:lnTo>
                  <a:lnTo>
                    <a:pt x="254" y="170"/>
                  </a:lnTo>
                  <a:lnTo>
                    <a:pt x="126" y="461"/>
                  </a:lnTo>
                  <a:lnTo>
                    <a:pt x="57" y="724"/>
                  </a:lnTo>
                  <a:lnTo>
                    <a:pt x="0" y="1076"/>
                  </a:lnTo>
                  <a:lnTo>
                    <a:pt x="178" y="919"/>
                  </a:lnTo>
                  <a:lnTo>
                    <a:pt x="431" y="140"/>
                  </a:lnTo>
                  <a:lnTo>
                    <a:pt x="369" y="0"/>
                  </a:lnTo>
                  <a:close/>
                </a:path>
              </a:pathLst>
            </a:custGeom>
            <a:solidFill>
              <a:srgbClr val="40000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1" name="Freeform 294"/>
            <p:cNvSpPr>
              <a:spLocks/>
            </p:cNvSpPr>
            <p:nvPr/>
          </p:nvSpPr>
          <p:spPr bwMode="auto">
            <a:xfrm>
              <a:off x="5362" y="1754"/>
              <a:ext cx="268" cy="299"/>
            </a:xfrm>
            <a:custGeom>
              <a:avLst/>
              <a:gdLst>
                <a:gd name="T0" fmla="*/ 0 w 1606"/>
                <a:gd name="T1" fmla="*/ 0 h 1792"/>
                <a:gd name="T2" fmla="*/ 0 w 1606"/>
                <a:gd name="T3" fmla="*/ 0 h 1792"/>
                <a:gd name="T4" fmla="*/ 0 w 1606"/>
                <a:gd name="T5" fmla="*/ 0 h 1792"/>
                <a:gd name="T6" fmla="*/ 0 w 1606"/>
                <a:gd name="T7" fmla="*/ 0 h 1792"/>
                <a:gd name="T8" fmla="*/ 0 w 1606"/>
                <a:gd name="T9" fmla="*/ 0 h 1792"/>
                <a:gd name="T10" fmla="*/ 0 w 1606"/>
                <a:gd name="T11" fmla="*/ 0 h 1792"/>
                <a:gd name="T12" fmla="*/ 0 w 1606"/>
                <a:gd name="T13" fmla="*/ 0 h 1792"/>
                <a:gd name="T14" fmla="*/ 0 w 1606"/>
                <a:gd name="T15" fmla="*/ 0 h 1792"/>
                <a:gd name="T16" fmla="*/ 0 w 1606"/>
                <a:gd name="T17" fmla="*/ 0 h 1792"/>
                <a:gd name="T18" fmla="*/ 0 w 1606"/>
                <a:gd name="T19" fmla="*/ 0 h 1792"/>
                <a:gd name="T20" fmla="*/ 0 w 1606"/>
                <a:gd name="T21" fmla="*/ 0 h 1792"/>
                <a:gd name="T22" fmla="*/ 0 w 1606"/>
                <a:gd name="T23" fmla="*/ 0 h 1792"/>
                <a:gd name="T24" fmla="*/ 0 w 1606"/>
                <a:gd name="T25" fmla="*/ 0 h 1792"/>
                <a:gd name="T26" fmla="*/ 0 w 1606"/>
                <a:gd name="T27" fmla="*/ 0 h 1792"/>
                <a:gd name="T28" fmla="*/ 0 w 1606"/>
                <a:gd name="T29" fmla="*/ 0 h 1792"/>
                <a:gd name="T30" fmla="*/ 0 w 1606"/>
                <a:gd name="T31" fmla="*/ 0 h 1792"/>
                <a:gd name="T32" fmla="*/ 0 w 1606"/>
                <a:gd name="T33" fmla="*/ 0 h 1792"/>
                <a:gd name="T34" fmla="*/ 0 w 1606"/>
                <a:gd name="T35" fmla="*/ 0 h 1792"/>
                <a:gd name="T36" fmla="*/ 0 w 1606"/>
                <a:gd name="T37" fmla="*/ 0 h 1792"/>
                <a:gd name="T38" fmla="*/ 0 w 1606"/>
                <a:gd name="T39" fmla="*/ 0 h 1792"/>
                <a:gd name="T40" fmla="*/ 0 w 1606"/>
                <a:gd name="T41" fmla="*/ 0 h 1792"/>
                <a:gd name="T42" fmla="*/ 0 w 1606"/>
                <a:gd name="T43" fmla="*/ 0 h 1792"/>
                <a:gd name="T44" fmla="*/ 0 w 1606"/>
                <a:gd name="T45" fmla="*/ 0 h 1792"/>
                <a:gd name="T46" fmla="*/ 0 w 1606"/>
                <a:gd name="T47" fmla="*/ 0 h 1792"/>
                <a:gd name="T48" fmla="*/ 0 w 1606"/>
                <a:gd name="T49" fmla="*/ 0 h 1792"/>
                <a:gd name="T50" fmla="*/ 0 w 1606"/>
                <a:gd name="T51" fmla="*/ 0 h 1792"/>
                <a:gd name="T52" fmla="*/ 0 w 1606"/>
                <a:gd name="T53" fmla="*/ 0 h 1792"/>
                <a:gd name="T54" fmla="*/ 0 w 1606"/>
                <a:gd name="T55" fmla="*/ 0 h 1792"/>
                <a:gd name="T56" fmla="*/ 0 w 1606"/>
                <a:gd name="T57" fmla="*/ 0 h 1792"/>
                <a:gd name="T58" fmla="*/ 0 w 1606"/>
                <a:gd name="T59" fmla="*/ 0 h 1792"/>
                <a:gd name="T60" fmla="*/ 0 w 1606"/>
                <a:gd name="T61" fmla="*/ 0 h 1792"/>
                <a:gd name="T62" fmla="*/ 0 w 1606"/>
                <a:gd name="T63" fmla="*/ 0 h 1792"/>
                <a:gd name="T64" fmla="*/ 0 w 1606"/>
                <a:gd name="T65" fmla="*/ 0 h 1792"/>
                <a:gd name="T66" fmla="*/ 0 w 1606"/>
                <a:gd name="T67" fmla="*/ 0 h 1792"/>
                <a:gd name="T68" fmla="*/ 0 w 1606"/>
                <a:gd name="T69" fmla="*/ 0 h 1792"/>
                <a:gd name="T70" fmla="*/ 0 w 1606"/>
                <a:gd name="T71" fmla="*/ 0 h 1792"/>
                <a:gd name="T72" fmla="*/ 0 w 1606"/>
                <a:gd name="T73" fmla="*/ 0 h 1792"/>
                <a:gd name="T74" fmla="*/ 0 w 1606"/>
                <a:gd name="T75" fmla="*/ 0 h 1792"/>
                <a:gd name="T76" fmla="*/ 0 w 1606"/>
                <a:gd name="T77" fmla="*/ 0 h 1792"/>
                <a:gd name="T78" fmla="*/ 0 w 1606"/>
                <a:gd name="T79" fmla="*/ 0 h 1792"/>
                <a:gd name="T80" fmla="*/ 0 w 1606"/>
                <a:gd name="T81" fmla="*/ 0 h 1792"/>
                <a:gd name="T82" fmla="*/ 0 w 1606"/>
                <a:gd name="T83" fmla="*/ 0 h 1792"/>
                <a:gd name="T84" fmla="*/ 0 w 1606"/>
                <a:gd name="T85" fmla="*/ 0 h 1792"/>
                <a:gd name="T86" fmla="*/ 0 w 1606"/>
                <a:gd name="T87" fmla="*/ 0 h 1792"/>
                <a:gd name="T88" fmla="*/ 0 w 1606"/>
                <a:gd name="T89" fmla="*/ 0 h 1792"/>
                <a:gd name="T90" fmla="*/ 0 w 1606"/>
                <a:gd name="T91" fmla="*/ 0 h 179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606" h="1792">
                  <a:moveTo>
                    <a:pt x="1309" y="94"/>
                  </a:moveTo>
                  <a:lnTo>
                    <a:pt x="1258" y="0"/>
                  </a:lnTo>
                  <a:lnTo>
                    <a:pt x="867" y="163"/>
                  </a:lnTo>
                  <a:lnTo>
                    <a:pt x="850" y="288"/>
                  </a:lnTo>
                  <a:lnTo>
                    <a:pt x="818" y="332"/>
                  </a:lnTo>
                  <a:lnTo>
                    <a:pt x="773" y="382"/>
                  </a:lnTo>
                  <a:lnTo>
                    <a:pt x="747" y="472"/>
                  </a:lnTo>
                  <a:lnTo>
                    <a:pt x="660" y="678"/>
                  </a:lnTo>
                  <a:lnTo>
                    <a:pt x="590" y="924"/>
                  </a:lnTo>
                  <a:lnTo>
                    <a:pt x="558" y="1088"/>
                  </a:lnTo>
                  <a:lnTo>
                    <a:pt x="243" y="1094"/>
                  </a:lnTo>
                  <a:lnTo>
                    <a:pt x="192" y="1125"/>
                  </a:lnTo>
                  <a:lnTo>
                    <a:pt x="47" y="1125"/>
                  </a:lnTo>
                  <a:lnTo>
                    <a:pt x="7" y="1189"/>
                  </a:lnTo>
                  <a:lnTo>
                    <a:pt x="0" y="1264"/>
                  </a:lnTo>
                  <a:lnTo>
                    <a:pt x="15" y="1332"/>
                  </a:lnTo>
                  <a:lnTo>
                    <a:pt x="148" y="1358"/>
                  </a:lnTo>
                  <a:lnTo>
                    <a:pt x="211" y="1452"/>
                  </a:lnTo>
                  <a:lnTo>
                    <a:pt x="337" y="1484"/>
                  </a:lnTo>
                  <a:lnTo>
                    <a:pt x="430" y="1484"/>
                  </a:lnTo>
                  <a:lnTo>
                    <a:pt x="538" y="1503"/>
                  </a:lnTo>
                  <a:lnTo>
                    <a:pt x="544" y="1548"/>
                  </a:lnTo>
                  <a:lnTo>
                    <a:pt x="538" y="1642"/>
                  </a:lnTo>
                  <a:lnTo>
                    <a:pt x="550" y="1705"/>
                  </a:lnTo>
                  <a:lnTo>
                    <a:pt x="608" y="1712"/>
                  </a:lnTo>
                  <a:lnTo>
                    <a:pt x="677" y="1724"/>
                  </a:lnTo>
                  <a:lnTo>
                    <a:pt x="747" y="1786"/>
                  </a:lnTo>
                  <a:lnTo>
                    <a:pt x="830" y="1786"/>
                  </a:lnTo>
                  <a:lnTo>
                    <a:pt x="905" y="1779"/>
                  </a:lnTo>
                  <a:lnTo>
                    <a:pt x="1019" y="1744"/>
                  </a:lnTo>
                  <a:lnTo>
                    <a:pt x="1145" y="1756"/>
                  </a:lnTo>
                  <a:lnTo>
                    <a:pt x="1273" y="1792"/>
                  </a:lnTo>
                  <a:lnTo>
                    <a:pt x="1392" y="1766"/>
                  </a:lnTo>
                  <a:lnTo>
                    <a:pt x="1473" y="1674"/>
                  </a:lnTo>
                  <a:lnTo>
                    <a:pt x="1467" y="1571"/>
                  </a:lnTo>
                  <a:lnTo>
                    <a:pt x="1497" y="1446"/>
                  </a:lnTo>
                  <a:lnTo>
                    <a:pt x="1516" y="1282"/>
                  </a:lnTo>
                  <a:lnTo>
                    <a:pt x="1554" y="1131"/>
                  </a:lnTo>
                  <a:lnTo>
                    <a:pt x="1606" y="906"/>
                  </a:lnTo>
                  <a:lnTo>
                    <a:pt x="1598" y="678"/>
                  </a:lnTo>
                  <a:lnTo>
                    <a:pt x="1598" y="478"/>
                  </a:lnTo>
                  <a:lnTo>
                    <a:pt x="1586" y="338"/>
                  </a:lnTo>
                  <a:lnTo>
                    <a:pt x="1554" y="276"/>
                  </a:lnTo>
                  <a:lnTo>
                    <a:pt x="1484" y="225"/>
                  </a:lnTo>
                  <a:lnTo>
                    <a:pt x="1403" y="142"/>
                  </a:lnTo>
                  <a:lnTo>
                    <a:pt x="1309" y="94"/>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2" name="Freeform 295"/>
            <p:cNvSpPr>
              <a:spLocks/>
            </p:cNvSpPr>
            <p:nvPr/>
          </p:nvSpPr>
          <p:spPr bwMode="auto">
            <a:xfrm>
              <a:off x="5456" y="1772"/>
              <a:ext cx="169" cy="278"/>
            </a:xfrm>
            <a:custGeom>
              <a:avLst/>
              <a:gdLst>
                <a:gd name="T0" fmla="*/ 0 w 1014"/>
                <a:gd name="T1" fmla="*/ 0 h 1671"/>
                <a:gd name="T2" fmla="*/ 0 w 1014"/>
                <a:gd name="T3" fmla="*/ 0 h 1671"/>
                <a:gd name="T4" fmla="*/ 0 w 1014"/>
                <a:gd name="T5" fmla="*/ 0 h 1671"/>
                <a:gd name="T6" fmla="*/ 0 w 1014"/>
                <a:gd name="T7" fmla="*/ 0 h 1671"/>
                <a:gd name="T8" fmla="*/ 0 w 1014"/>
                <a:gd name="T9" fmla="*/ 0 h 1671"/>
                <a:gd name="T10" fmla="*/ 0 w 1014"/>
                <a:gd name="T11" fmla="*/ 0 h 1671"/>
                <a:gd name="T12" fmla="*/ 0 w 1014"/>
                <a:gd name="T13" fmla="*/ 0 h 1671"/>
                <a:gd name="T14" fmla="*/ 0 w 1014"/>
                <a:gd name="T15" fmla="*/ 0 h 1671"/>
                <a:gd name="T16" fmla="*/ 0 w 1014"/>
                <a:gd name="T17" fmla="*/ 0 h 1671"/>
                <a:gd name="T18" fmla="*/ 0 w 1014"/>
                <a:gd name="T19" fmla="*/ 0 h 1671"/>
                <a:gd name="T20" fmla="*/ 0 w 1014"/>
                <a:gd name="T21" fmla="*/ 0 h 1671"/>
                <a:gd name="T22" fmla="*/ 0 w 1014"/>
                <a:gd name="T23" fmla="*/ 0 h 1671"/>
                <a:gd name="T24" fmla="*/ 0 w 1014"/>
                <a:gd name="T25" fmla="*/ 0 h 1671"/>
                <a:gd name="T26" fmla="*/ 0 w 1014"/>
                <a:gd name="T27" fmla="*/ 0 h 1671"/>
                <a:gd name="T28" fmla="*/ 0 w 1014"/>
                <a:gd name="T29" fmla="*/ 0 h 1671"/>
                <a:gd name="T30" fmla="*/ 0 w 1014"/>
                <a:gd name="T31" fmla="*/ 0 h 1671"/>
                <a:gd name="T32" fmla="*/ 0 w 1014"/>
                <a:gd name="T33" fmla="*/ 0 h 1671"/>
                <a:gd name="T34" fmla="*/ 0 w 1014"/>
                <a:gd name="T35" fmla="*/ 0 h 1671"/>
                <a:gd name="T36" fmla="*/ 0 w 1014"/>
                <a:gd name="T37" fmla="*/ 0 h 1671"/>
                <a:gd name="T38" fmla="*/ 0 w 1014"/>
                <a:gd name="T39" fmla="*/ 0 h 1671"/>
                <a:gd name="T40" fmla="*/ 0 w 1014"/>
                <a:gd name="T41" fmla="*/ 0 h 1671"/>
                <a:gd name="T42" fmla="*/ 0 w 1014"/>
                <a:gd name="T43" fmla="*/ 0 h 1671"/>
                <a:gd name="T44" fmla="*/ 0 w 1014"/>
                <a:gd name="T45" fmla="*/ 0 h 1671"/>
                <a:gd name="T46" fmla="*/ 0 w 1014"/>
                <a:gd name="T47" fmla="*/ 0 h 1671"/>
                <a:gd name="T48" fmla="*/ 0 w 1014"/>
                <a:gd name="T49" fmla="*/ 0 h 1671"/>
                <a:gd name="T50" fmla="*/ 0 w 1014"/>
                <a:gd name="T51" fmla="*/ 0 h 1671"/>
                <a:gd name="T52" fmla="*/ 0 w 1014"/>
                <a:gd name="T53" fmla="*/ 0 h 1671"/>
                <a:gd name="T54" fmla="*/ 0 w 1014"/>
                <a:gd name="T55" fmla="*/ 0 h 1671"/>
                <a:gd name="T56" fmla="*/ 0 w 1014"/>
                <a:gd name="T57" fmla="*/ 0 h 1671"/>
                <a:gd name="T58" fmla="*/ 0 w 1014"/>
                <a:gd name="T59" fmla="*/ 0 h 1671"/>
                <a:gd name="T60" fmla="*/ 0 w 1014"/>
                <a:gd name="T61" fmla="*/ 0 h 1671"/>
                <a:gd name="T62" fmla="*/ 0 w 1014"/>
                <a:gd name="T63" fmla="*/ 0 h 1671"/>
                <a:gd name="T64" fmla="*/ 0 w 1014"/>
                <a:gd name="T65" fmla="*/ 0 h 1671"/>
                <a:gd name="T66" fmla="*/ 0 w 1014"/>
                <a:gd name="T67" fmla="*/ 0 h 1671"/>
                <a:gd name="T68" fmla="*/ 0 w 1014"/>
                <a:gd name="T69" fmla="*/ 0 h 1671"/>
                <a:gd name="T70" fmla="*/ 0 w 1014"/>
                <a:gd name="T71" fmla="*/ 0 h 1671"/>
                <a:gd name="T72" fmla="*/ 0 w 1014"/>
                <a:gd name="T73" fmla="*/ 0 h 1671"/>
                <a:gd name="T74" fmla="*/ 0 w 1014"/>
                <a:gd name="T75" fmla="*/ 0 h 1671"/>
                <a:gd name="T76" fmla="*/ 0 w 1014"/>
                <a:gd name="T77" fmla="*/ 0 h 1671"/>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014" h="1671">
                  <a:moveTo>
                    <a:pt x="0" y="1402"/>
                  </a:moveTo>
                  <a:lnTo>
                    <a:pt x="132" y="1382"/>
                  </a:lnTo>
                  <a:lnTo>
                    <a:pt x="245" y="1376"/>
                  </a:lnTo>
                  <a:lnTo>
                    <a:pt x="370" y="1363"/>
                  </a:lnTo>
                  <a:lnTo>
                    <a:pt x="509" y="1344"/>
                  </a:lnTo>
                  <a:lnTo>
                    <a:pt x="573" y="1301"/>
                  </a:lnTo>
                  <a:lnTo>
                    <a:pt x="744" y="1088"/>
                  </a:lnTo>
                  <a:lnTo>
                    <a:pt x="656" y="1149"/>
                  </a:lnTo>
                  <a:lnTo>
                    <a:pt x="598" y="1201"/>
                  </a:lnTo>
                  <a:lnTo>
                    <a:pt x="630" y="1050"/>
                  </a:lnTo>
                  <a:lnTo>
                    <a:pt x="693" y="992"/>
                  </a:lnTo>
                  <a:lnTo>
                    <a:pt x="787" y="837"/>
                  </a:lnTo>
                  <a:lnTo>
                    <a:pt x="699" y="911"/>
                  </a:lnTo>
                  <a:lnTo>
                    <a:pt x="642" y="931"/>
                  </a:lnTo>
                  <a:lnTo>
                    <a:pt x="656" y="823"/>
                  </a:lnTo>
                  <a:lnTo>
                    <a:pt x="718" y="741"/>
                  </a:lnTo>
                  <a:lnTo>
                    <a:pt x="781" y="679"/>
                  </a:lnTo>
                  <a:lnTo>
                    <a:pt x="845" y="497"/>
                  </a:lnTo>
                  <a:lnTo>
                    <a:pt x="724" y="647"/>
                  </a:lnTo>
                  <a:lnTo>
                    <a:pt x="656" y="703"/>
                  </a:lnTo>
                  <a:lnTo>
                    <a:pt x="648" y="471"/>
                  </a:lnTo>
                  <a:lnTo>
                    <a:pt x="630" y="378"/>
                  </a:lnTo>
                  <a:lnTo>
                    <a:pt x="592" y="334"/>
                  </a:lnTo>
                  <a:lnTo>
                    <a:pt x="535" y="264"/>
                  </a:lnTo>
                  <a:lnTo>
                    <a:pt x="445" y="232"/>
                  </a:lnTo>
                  <a:lnTo>
                    <a:pt x="402" y="214"/>
                  </a:lnTo>
                  <a:lnTo>
                    <a:pt x="528" y="94"/>
                  </a:lnTo>
                  <a:lnTo>
                    <a:pt x="661" y="126"/>
                  </a:lnTo>
                  <a:lnTo>
                    <a:pt x="750" y="176"/>
                  </a:lnTo>
                  <a:lnTo>
                    <a:pt x="781" y="226"/>
                  </a:lnTo>
                  <a:lnTo>
                    <a:pt x="756" y="150"/>
                  </a:lnTo>
                  <a:lnTo>
                    <a:pt x="705" y="126"/>
                  </a:lnTo>
                  <a:lnTo>
                    <a:pt x="624" y="94"/>
                  </a:lnTo>
                  <a:lnTo>
                    <a:pt x="560" y="82"/>
                  </a:lnTo>
                  <a:lnTo>
                    <a:pt x="598" y="62"/>
                  </a:lnTo>
                  <a:lnTo>
                    <a:pt x="661" y="44"/>
                  </a:lnTo>
                  <a:lnTo>
                    <a:pt x="718" y="25"/>
                  </a:lnTo>
                  <a:lnTo>
                    <a:pt x="750" y="0"/>
                  </a:lnTo>
                  <a:lnTo>
                    <a:pt x="825" y="50"/>
                  </a:lnTo>
                  <a:lnTo>
                    <a:pt x="868" y="94"/>
                  </a:lnTo>
                  <a:lnTo>
                    <a:pt x="913" y="150"/>
                  </a:lnTo>
                  <a:lnTo>
                    <a:pt x="976" y="182"/>
                  </a:lnTo>
                  <a:lnTo>
                    <a:pt x="988" y="240"/>
                  </a:lnTo>
                  <a:lnTo>
                    <a:pt x="1014" y="334"/>
                  </a:lnTo>
                  <a:lnTo>
                    <a:pt x="1014" y="478"/>
                  </a:lnTo>
                  <a:lnTo>
                    <a:pt x="1008" y="628"/>
                  </a:lnTo>
                  <a:lnTo>
                    <a:pt x="1002" y="799"/>
                  </a:lnTo>
                  <a:lnTo>
                    <a:pt x="970" y="975"/>
                  </a:lnTo>
                  <a:lnTo>
                    <a:pt x="931" y="1157"/>
                  </a:lnTo>
                  <a:lnTo>
                    <a:pt x="913" y="1314"/>
                  </a:lnTo>
                  <a:lnTo>
                    <a:pt x="882" y="1426"/>
                  </a:lnTo>
                  <a:lnTo>
                    <a:pt x="888" y="1527"/>
                  </a:lnTo>
                  <a:lnTo>
                    <a:pt x="875" y="1584"/>
                  </a:lnTo>
                  <a:lnTo>
                    <a:pt x="830" y="1627"/>
                  </a:lnTo>
                  <a:lnTo>
                    <a:pt x="775" y="1664"/>
                  </a:lnTo>
                  <a:lnTo>
                    <a:pt x="699" y="1671"/>
                  </a:lnTo>
                  <a:lnTo>
                    <a:pt x="661" y="1652"/>
                  </a:lnTo>
                  <a:lnTo>
                    <a:pt x="612" y="1648"/>
                  </a:lnTo>
                  <a:lnTo>
                    <a:pt x="490" y="1622"/>
                  </a:lnTo>
                  <a:lnTo>
                    <a:pt x="541" y="1559"/>
                  </a:lnTo>
                  <a:lnTo>
                    <a:pt x="598" y="1470"/>
                  </a:lnTo>
                  <a:lnTo>
                    <a:pt x="516" y="1534"/>
                  </a:lnTo>
                  <a:lnTo>
                    <a:pt x="452" y="1590"/>
                  </a:lnTo>
                  <a:lnTo>
                    <a:pt x="407" y="1622"/>
                  </a:lnTo>
                  <a:lnTo>
                    <a:pt x="345" y="1652"/>
                  </a:lnTo>
                  <a:lnTo>
                    <a:pt x="276" y="1652"/>
                  </a:lnTo>
                  <a:lnTo>
                    <a:pt x="208" y="1652"/>
                  </a:lnTo>
                  <a:lnTo>
                    <a:pt x="170" y="1636"/>
                  </a:lnTo>
                  <a:lnTo>
                    <a:pt x="151" y="1616"/>
                  </a:lnTo>
                  <a:lnTo>
                    <a:pt x="240" y="1565"/>
                  </a:lnTo>
                  <a:lnTo>
                    <a:pt x="327" y="1484"/>
                  </a:lnTo>
                  <a:lnTo>
                    <a:pt x="352" y="1446"/>
                  </a:lnTo>
                  <a:lnTo>
                    <a:pt x="282" y="1463"/>
                  </a:lnTo>
                  <a:lnTo>
                    <a:pt x="176" y="1546"/>
                  </a:lnTo>
                  <a:lnTo>
                    <a:pt x="132" y="1584"/>
                  </a:lnTo>
                  <a:lnTo>
                    <a:pt x="32" y="1590"/>
                  </a:lnTo>
                  <a:lnTo>
                    <a:pt x="0" y="1572"/>
                  </a:lnTo>
                  <a:lnTo>
                    <a:pt x="0" y="1527"/>
                  </a:lnTo>
                  <a:lnTo>
                    <a:pt x="0" y="1402"/>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3" name="Freeform 296"/>
            <p:cNvSpPr>
              <a:spLocks/>
            </p:cNvSpPr>
            <p:nvPr/>
          </p:nvSpPr>
          <p:spPr bwMode="auto">
            <a:xfrm>
              <a:off x="5563" y="1910"/>
              <a:ext cx="50" cy="129"/>
            </a:xfrm>
            <a:custGeom>
              <a:avLst/>
              <a:gdLst>
                <a:gd name="T0" fmla="*/ 0 w 295"/>
                <a:gd name="T1" fmla="*/ 0 h 774"/>
                <a:gd name="T2" fmla="*/ 0 w 295"/>
                <a:gd name="T3" fmla="*/ 0 h 774"/>
                <a:gd name="T4" fmla="*/ 0 w 295"/>
                <a:gd name="T5" fmla="*/ 0 h 774"/>
                <a:gd name="T6" fmla="*/ 0 w 295"/>
                <a:gd name="T7" fmla="*/ 0 h 774"/>
                <a:gd name="T8" fmla="*/ 0 w 295"/>
                <a:gd name="T9" fmla="*/ 0 h 774"/>
                <a:gd name="T10" fmla="*/ 0 w 295"/>
                <a:gd name="T11" fmla="*/ 0 h 774"/>
                <a:gd name="T12" fmla="*/ 0 w 295"/>
                <a:gd name="T13" fmla="*/ 0 h 774"/>
                <a:gd name="T14" fmla="*/ 0 w 295"/>
                <a:gd name="T15" fmla="*/ 0 h 774"/>
                <a:gd name="T16" fmla="*/ 0 w 295"/>
                <a:gd name="T17" fmla="*/ 0 h 774"/>
                <a:gd name="T18" fmla="*/ 0 w 295"/>
                <a:gd name="T19" fmla="*/ 0 h 774"/>
                <a:gd name="T20" fmla="*/ 0 w 295"/>
                <a:gd name="T21" fmla="*/ 0 h 774"/>
                <a:gd name="T22" fmla="*/ 0 w 295"/>
                <a:gd name="T23" fmla="*/ 0 h 774"/>
                <a:gd name="T24" fmla="*/ 0 w 295"/>
                <a:gd name="T25" fmla="*/ 0 h 774"/>
                <a:gd name="T26" fmla="*/ 0 w 295"/>
                <a:gd name="T27" fmla="*/ 0 h 77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95" h="774">
                  <a:moveTo>
                    <a:pt x="0" y="774"/>
                  </a:moveTo>
                  <a:lnTo>
                    <a:pt x="51" y="748"/>
                  </a:lnTo>
                  <a:lnTo>
                    <a:pt x="107" y="686"/>
                  </a:lnTo>
                  <a:lnTo>
                    <a:pt x="156" y="573"/>
                  </a:lnTo>
                  <a:lnTo>
                    <a:pt x="183" y="477"/>
                  </a:lnTo>
                  <a:lnTo>
                    <a:pt x="220" y="371"/>
                  </a:lnTo>
                  <a:lnTo>
                    <a:pt x="239" y="270"/>
                  </a:lnTo>
                  <a:lnTo>
                    <a:pt x="270" y="114"/>
                  </a:lnTo>
                  <a:lnTo>
                    <a:pt x="295" y="0"/>
                  </a:lnTo>
                  <a:lnTo>
                    <a:pt x="232" y="226"/>
                  </a:lnTo>
                  <a:lnTo>
                    <a:pt x="183" y="402"/>
                  </a:lnTo>
                  <a:lnTo>
                    <a:pt x="126" y="521"/>
                  </a:lnTo>
                  <a:lnTo>
                    <a:pt x="38" y="648"/>
                  </a:lnTo>
                  <a:lnTo>
                    <a:pt x="0" y="77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4" name="Freeform 297"/>
            <p:cNvSpPr>
              <a:spLocks/>
            </p:cNvSpPr>
            <p:nvPr/>
          </p:nvSpPr>
          <p:spPr bwMode="auto">
            <a:xfrm>
              <a:off x="5367" y="1806"/>
              <a:ext cx="195" cy="194"/>
            </a:xfrm>
            <a:custGeom>
              <a:avLst/>
              <a:gdLst>
                <a:gd name="T0" fmla="*/ 0 w 1172"/>
                <a:gd name="T1" fmla="*/ 0 h 1162"/>
                <a:gd name="T2" fmla="*/ 0 w 1172"/>
                <a:gd name="T3" fmla="*/ 0 h 1162"/>
                <a:gd name="T4" fmla="*/ 0 w 1172"/>
                <a:gd name="T5" fmla="*/ 0 h 1162"/>
                <a:gd name="T6" fmla="*/ 0 w 1172"/>
                <a:gd name="T7" fmla="*/ 0 h 1162"/>
                <a:gd name="T8" fmla="*/ 0 w 1172"/>
                <a:gd name="T9" fmla="*/ 0 h 1162"/>
                <a:gd name="T10" fmla="*/ 0 w 1172"/>
                <a:gd name="T11" fmla="*/ 0 h 1162"/>
                <a:gd name="T12" fmla="*/ 0 w 1172"/>
                <a:gd name="T13" fmla="*/ 0 h 1162"/>
                <a:gd name="T14" fmla="*/ 0 w 1172"/>
                <a:gd name="T15" fmla="*/ 0 h 1162"/>
                <a:gd name="T16" fmla="*/ 0 w 1172"/>
                <a:gd name="T17" fmla="*/ 0 h 1162"/>
                <a:gd name="T18" fmla="*/ 0 w 1172"/>
                <a:gd name="T19" fmla="*/ 0 h 1162"/>
                <a:gd name="T20" fmla="*/ 0 w 1172"/>
                <a:gd name="T21" fmla="*/ 0 h 1162"/>
                <a:gd name="T22" fmla="*/ 0 w 1172"/>
                <a:gd name="T23" fmla="*/ 0 h 1162"/>
                <a:gd name="T24" fmla="*/ 0 w 1172"/>
                <a:gd name="T25" fmla="*/ 0 h 1162"/>
                <a:gd name="T26" fmla="*/ 0 w 1172"/>
                <a:gd name="T27" fmla="*/ 0 h 1162"/>
                <a:gd name="T28" fmla="*/ 0 w 1172"/>
                <a:gd name="T29" fmla="*/ 0 h 1162"/>
                <a:gd name="T30" fmla="*/ 0 w 1172"/>
                <a:gd name="T31" fmla="*/ 0 h 1162"/>
                <a:gd name="T32" fmla="*/ 0 w 1172"/>
                <a:gd name="T33" fmla="*/ 0 h 1162"/>
                <a:gd name="T34" fmla="*/ 0 w 1172"/>
                <a:gd name="T35" fmla="*/ 0 h 1162"/>
                <a:gd name="T36" fmla="*/ 0 w 1172"/>
                <a:gd name="T37" fmla="*/ 0 h 1162"/>
                <a:gd name="T38" fmla="*/ 0 w 1172"/>
                <a:gd name="T39" fmla="*/ 0 h 1162"/>
                <a:gd name="T40" fmla="*/ 0 w 1172"/>
                <a:gd name="T41" fmla="*/ 0 h 1162"/>
                <a:gd name="T42" fmla="*/ 0 w 1172"/>
                <a:gd name="T43" fmla="*/ 0 h 1162"/>
                <a:gd name="T44" fmla="*/ 0 w 1172"/>
                <a:gd name="T45" fmla="*/ 0 h 1162"/>
                <a:gd name="T46" fmla="*/ 0 w 1172"/>
                <a:gd name="T47" fmla="*/ 0 h 1162"/>
                <a:gd name="T48" fmla="*/ 0 w 1172"/>
                <a:gd name="T49" fmla="*/ 0 h 1162"/>
                <a:gd name="T50" fmla="*/ 0 w 1172"/>
                <a:gd name="T51" fmla="*/ 0 h 1162"/>
                <a:gd name="T52" fmla="*/ 0 w 1172"/>
                <a:gd name="T53" fmla="*/ 0 h 1162"/>
                <a:gd name="T54" fmla="*/ 0 w 1172"/>
                <a:gd name="T55" fmla="*/ 0 h 1162"/>
                <a:gd name="T56" fmla="*/ 0 w 1172"/>
                <a:gd name="T57" fmla="*/ 0 h 1162"/>
                <a:gd name="T58" fmla="*/ 0 w 1172"/>
                <a:gd name="T59" fmla="*/ 0 h 1162"/>
                <a:gd name="T60" fmla="*/ 0 w 1172"/>
                <a:gd name="T61" fmla="*/ 0 h 1162"/>
                <a:gd name="T62" fmla="*/ 0 w 1172"/>
                <a:gd name="T63" fmla="*/ 0 h 1162"/>
                <a:gd name="T64" fmla="*/ 0 w 1172"/>
                <a:gd name="T65" fmla="*/ 0 h 1162"/>
                <a:gd name="T66" fmla="*/ 0 w 1172"/>
                <a:gd name="T67" fmla="*/ 0 h 1162"/>
                <a:gd name="T68" fmla="*/ 0 w 1172"/>
                <a:gd name="T69" fmla="*/ 0 h 1162"/>
                <a:gd name="T70" fmla="*/ 0 w 1172"/>
                <a:gd name="T71" fmla="*/ 0 h 1162"/>
                <a:gd name="T72" fmla="*/ 0 w 1172"/>
                <a:gd name="T73" fmla="*/ 0 h 1162"/>
                <a:gd name="T74" fmla="*/ 0 w 1172"/>
                <a:gd name="T75" fmla="*/ 0 h 1162"/>
                <a:gd name="T76" fmla="*/ 0 w 1172"/>
                <a:gd name="T77" fmla="*/ 0 h 1162"/>
                <a:gd name="T78" fmla="*/ 0 w 1172"/>
                <a:gd name="T79" fmla="*/ 0 h 1162"/>
                <a:gd name="T80" fmla="*/ 0 w 1172"/>
                <a:gd name="T81" fmla="*/ 0 h 1162"/>
                <a:gd name="T82" fmla="*/ 0 w 1172"/>
                <a:gd name="T83" fmla="*/ 0 h 1162"/>
                <a:gd name="T84" fmla="*/ 0 w 1172"/>
                <a:gd name="T85" fmla="*/ 0 h 1162"/>
                <a:gd name="T86" fmla="*/ 0 w 1172"/>
                <a:gd name="T87" fmla="*/ 0 h 1162"/>
                <a:gd name="T88" fmla="*/ 0 w 1172"/>
                <a:gd name="T89" fmla="*/ 0 h 1162"/>
                <a:gd name="T90" fmla="*/ 0 w 1172"/>
                <a:gd name="T91" fmla="*/ 0 h 1162"/>
                <a:gd name="T92" fmla="*/ 0 w 1172"/>
                <a:gd name="T93" fmla="*/ 0 h 1162"/>
                <a:gd name="T94" fmla="*/ 0 w 1172"/>
                <a:gd name="T95" fmla="*/ 0 h 1162"/>
                <a:gd name="T96" fmla="*/ 0 w 1172"/>
                <a:gd name="T97" fmla="*/ 0 h 1162"/>
                <a:gd name="T98" fmla="*/ 0 w 1172"/>
                <a:gd name="T99" fmla="*/ 0 h 1162"/>
                <a:gd name="T100" fmla="*/ 0 w 1172"/>
                <a:gd name="T101" fmla="*/ 0 h 1162"/>
                <a:gd name="T102" fmla="*/ 0 w 1172"/>
                <a:gd name="T103" fmla="*/ 0 h 1162"/>
                <a:gd name="T104" fmla="*/ 0 w 1172"/>
                <a:gd name="T105" fmla="*/ 0 h 1162"/>
                <a:gd name="T106" fmla="*/ 0 w 1172"/>
                <a:gd name="T107" fmla="*/ 0 h 1162"/>
                <a:gd name="T108" fmla="*/ 0 w 1172"/>
                <a:gd name="T109" fmla="*/ 0 h 1162"/>
                <a:gd name="T110" fmla="*/ 0 w 1172"/>
                <a:gd name="T111" fmla="*/ 0 h 11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1172" h="1162">
                  <a:moveTo>
                    <a:pt x="959" y="0"/>
                  </a:moveTo>
                  <a:lnTo>
                    <a:pt x="820" y="43"/>
                  </a:lnTo>
                  <a:lnTo>
                    <a:pt x="756" y="100"/>
                  </a:lnTo>
                  <a:lnTo>
                    <a:pt x="719" y="213"/>
                  </a:lnTo>
                  <a:lnTo>
                    <a:pt x="719" y="321"/>
                  </a:lnTo>
                  <a:lnTo>
                    <a:pt x="739" y="381"/>
                  </a:lnTo>
                  <a:lnTo>
                    <a:pt x="727" y="489"/>
                  </a:lnTo>
                  <a:lnTo>
                    <a:pt x="727" y="571"/>
                  </a:lnTo>
                  <a:lnTo>
                    <a:pt x="745" y="591"/>
                  </a:lnTo>
                  <a:lnTo>
                    <a:pt x="727" y="621"/>
                  </a:lnTo>
                  <a:lnTo>
                    <a:pt x="713" y="652"/>
                  </a:lnTo>
                  <a:lnTo>
                    <a:pt x="739" y="684"/>
                  </a:lnTo>
                  <a:lnTo>
                    <a:pt x="739" y="716"/>
                  </a:lnTo>
                  <a:lnTo>
                    <a:pt x="688" y="729"/>
                  </a:lnTo>
                  <a:lnTo>
                    <a:pt x="695" y="761"/>
                  </a:lnTo>
                  <a:lnTo>
                    <a:pt x="644" y="779"/>
                  </a:lnTo>
                  <a:lnTo>
                    <a:pt x="599" y="767"/>
                  </a:lnTo>
                  <a:lnTo>
                    <a:pt x="569" y="779"/>
                  </a:lnTo>
                  <a:lnTo>
                    <a:pt x="428" y="799"/>
                  </a:lnTo>
                  <a:lnTo>
                    <a:pt x="304" y="793"/>
                  </a:lnTo>
                  <a:lnTo>
                    <a:pt x="222" y="799"/>
                  </a:lnTo>
                  <a:lnTo>
                    <a:pt x="170" y="831"/>
                  </a:lnTo>
                  <a:lnTo>
                    <a:pt x="45" y="831"/>
                  </a:lnTo>
                  <a:lnTo>
                    <a:pt x="0" y="873"/>
                  </a:lnTo>
                  <a:lnTo>
                    <a:pt x="0" y="923"/>
                  </a:lnTo>
                  <a:lnTo>
                    <a:pt x="6" y="1004"/>
                  </a:lnTo>
                  <a:lnTo>
                    <a:pt x="109" y="1030"/>
                  </a:lnTo>
                  <a:lnTo>
                    <a:pt x="109" y="978"/>
                  </a:lnTo>
                  <a:lnTo>
                    <a:pt x="115" y="935"/>
                  </a:lnTo>
                  <a:lnTo>
                    <a:pt x="133" y="916"/>
                  </a:lnTo>
                  <a:lnTo>
                    <a:pt x="141" y="966"/>
                  </a:lnTo>
                  <a:lnTo>
                    <a:pt x="147" y="1030"/>
                  </a:lnTo>
                  <a:lnTo>
                    <a:pt x="170" y="1068"/>
                  </a:lnTo>
                  <a:lnTo>
                    <a:pt x="215" y="1118"/>
                  </a:lnTo>
                  <a:lnTo>
                    <a:pt x="321" y="1142"/>
                  </a:lnTo>
                  <a:lnTo>
                    <a:pt x="403" y="1155"/>
                  </a:lnTo>
                  <a:lnTo>
                    <a:pt x="499" y="1162"/>
                  </a:lnTo>
                  <a:lnTo>
                    <a:pt x="379" y="1093"/>
                  </a:lnTo>
                  <a:lnTo>
                    <a:pt x="297" y="1030"/>
                  </a:lnTo>
                  <a:lnTo>
                    <a:pt x="279" y="978"/>
                  </a:lnTo>
                  <a:lnTo>
                    <a:pt x="291" y="935"/>
                  </a:lnTo>
                  <a:lnTo>
                    <a:pt x="358" y="929"/>
                  </a:lnTo>
                  <a:lnTo>
                    <a:pt x="385" y="978"/>
                  </a:lnTo>
                  <a:lnTo>
                    <a:pt x="403" y="1036"/>
                  </a:lnTo>
                  <a:lnTo>
                    <a:pt x="467" y="1098"/>
                  </a:lnTo>
                  <a:lnTo>
                    <a:pt x="537" y="1149"/>
                  </a:lnTo>
                  <a:lnTo>
                    <a:pt x="607" y="1155"/>
                  </a:lnTo>
                  <a:lnTo>
                    <a:pt x="713" y="1149"/>
                  </a:lnTo>
                  <a:lnTo>
                    <a:pt x="599" y="1061"/>
                  </a:lnTo>
                  <a:lnTo>
                    <a:pt x="517" y="1016"/>
                  </a:lnTo>
                  <a:lnTo>
                    <a:pt x="454" y="966"/>
                  </a:lnTo>
                  <a:lnTo>
                    <a:pt x="435" y="929"/>
                  </a:lnTo>
                  <a:lnTo>
                    <a:pt x="441" y="891"/>
                  </a:lnTo>
                  <a:lnTo>
                    <a:pt x="479" y="885"/>
                  </a:lnTo>
                  <a:lnTo>
                    <a:pt x="523" y="923"/>
                  </a:lnTo>
                  <a:lnTo>
                    <a:pt x="549" y="972"/>
                  </a:lnTo>
                  <a:lnTo>
                    <a:pt x="607" y="1036"/>
                  </a:lnTo>
                  <a:lnTo>
                    <a:pt x="675" y="1068"/>
                  </a:lnTo>
                  <a:lnTo>
                    <a:pt x="727" y="1098"/>
                  </a:lnTo>
                  <a:lnTo>
                    <a:pt x="782" y="1123"/>
                  </a:lnTo>
                  <a:lnTo>
                    <a:pt x="846" y="1136"/>
                  </a:lnTo>
                  <a:lnTo>
                    <a:pt x="921" y="1136"/>
                  </a:lnTo>
                  <a:lnTo>
                    <a:pt x="994" y="1122"/>
                  </a:lnTo>
                  <a:lnTo>
                    <a:pt x="833" y="1068"/>
                  </a:lnTo>
                  <a:lnTo>
                    <a:pt x="771" y="1036"/>
                  </a:lnTo>
                  <a:lnTo>
                    <a:pt x="727" y="978"/>
                  </a:lnTo>
                  <a:lnTo>
                    <a:pt x="719" y="929"/>
                  </a:lnTo>
                  <a:lnTo>
                    <a:pt x="756" y="929"/>
                  </a:lnTo>
                  <a:lnTo>
                    <a:pt x="777" y="972"/>
                  </a:lnTo>
                  <a:lnTo>
                    <a:pt x="808" y="1010"/>
                  </a:lnTo>
                  <a:lnTo>
                    <a:pt x="859" y="1049"/>
                  </a:lnTo>
                  <a:lnTo>
                    <a:pt x="914" y="1087"/>
                  </a:lnTo>
                  <a:lnTo>
                    <a:pt x="989" y="1119"/>
                  </a:lnTo>
                  <a:lnTo>
                    <a:pt x="1046" y="1098"/>
                  </a:lnTo>
                  <a:lnTo>
                    <a:pt x="1072" y="1068"/>
                  </a:lnTo>
                  <a:lnTo>
                    <a:pt x="1117" y="991"/>
                  </a:lnTo>
                  <a:lnTo>
                    <a:pt x="1034" y="972"/>
                  </a:lnTo>
                  <a:lnTo>
                    <a:pt x="878" y="954"/>
                  </a:lnTo>
                  <a:lnTo>
                    <a:pt x="782" y="910"/>
                  </a:lnTo>
                  <a:lnTo>
                    <a:pt x="733" y="868"/>
                  </a:lnTo>
                  <a:lnTo>
                    <a:pt x="713" y="816"/>
                  </a:lnTo>
                  <a:lnTo>
                    <a:pt x="707" y="793"/>
                  </a:lnTo>
                  <a:lnTo>
                    <a:pt x="733" y="793"/>
                  </a:lnTo>
                  <a:lnTo>
                    <a:pt x="765" y="831"/>
                  </a:lnTo>
                  <a:lnTo>
                    <a:pt x="814" y="897"/>
                  </a:lnTo>
                  <a:lnTo>
                    <a:pt x="927" y="935"/>
                  </a:lnTo>
                  <a:lnTo>
                    <a:pt x="1034" y="968"/>
                  </a:lnTo>
                  <a:lnTo>
                    <a:pt x="1117" y="991"/>
                  </a:lnTo>
                  <a:lnTo>
                    <a:pt x="1149" y="861"/>
                  </a:lnTo>
                  <a:lnTo>
                    <a:pt x="1155" y="767"/>
                  </a:lnTo>
                  <a:lnTo>
                    <a:pt x="1155" y="683"/>
                  </a:lnTo>
                  <a:lnTo>
                    <a:pt x="1046" y="741"/>
                  </a:lnTo>
                  <a:lnTo>
                    <a:pt x="921" y="767"/>
                  </a:lnTo>
                  <a:lnTo>
                    <a:pt x="820" y="761"/>
                  </a:lnTo>
                  <a:lnTo>
                    <a:pt x="795" y="748"/>
                  </a:lnTo>
                  <a:lnTo>
                    <a:pt x="782" y="716"/>
                  </a:lnTo>
                  <a:lnTo>
                    <a:pt x="840" y="716"/>
                  </a:lnTo>
                  <a:lnTo>
                    <a:pt x="901" y="735"/>
                  </a:lnTo>
                  <a:lnTo>
                    <a:pt x="1049" y="741"/>
                  </a:lnTo>
                  <a:lnTo>
                    <a:pt x="1155" y="684"/>
                  </a:lnTo>
                  <a:lnTo>
                    <a:pt x="1161" y="565"/>
                  </a:lnTo>
                  <a:lnTo>
                    <a:pt x="1167" y="483"/>
                  </a:lnTo>
                  <a:lnTo>
                    <a:pt x="1172" y="401"/>
                  </a:lnTo>
                  <a:lnTo>
                    <a:pt x="1161" y="264"/>
                  </a:lnTo>
                  <a:lnTo>
                    <a:pt x="1129" y="213"/>
                  </a:lnTo>
                  <a:lnTo>
                    <a:pt x="1034" y="152"/>
                  </a:lnTo>
                  <a:lnTo>
                    <a:pt x="1065" y="158"/>
                  </a:lnTo>
                  <a:lnTo>
                    <a:pt x="1161" y="201"/>
                  </a:lnTo>
                  <a:lnTo>
                    <a:pt x="1123" y="113"/>
                  </a:lnTo>
                  <a:lnTo>
                    <a:pt x="1091" y="68"/>
                  </a:lnTo>
                  <a:lnTo>
                    <a:pt x="1065" y="38"/>
                  </a:lnTo>
                  <a:lnTo>
                    <a:pt x="959"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5" name="Freeform 298"/>
            <p:cNvSpPr>
              <a:spLocks/>
            </p:cNvSpPr>
            <p:nvPr/>
          </p:nvSpPr>
          <p:spPr bwMode="auto">
            <a:xfrm>
              <a:off x="5500" y="1878"/>
              <a:ext cx="49" cy="44"/>
            </a:xfrm>
            <a:custGeom>
              <a:avLst/>
              <a:gdLst>
                <a:gd name="T0" fmla="*/ 0 w 295"/>
                <a:gd name="T1" fmla="*/ 0 h 263"/>
                <a:gd name="T2" fmla="*/ 0 w 295"/>
                <a:gd name="T3" fmla="*/ 0 h 263"/>
                <a:gd name="T4" fmla="*/ 0 w 295"/>
                <a:gd name="T5" fmla="*/ 0 h 263"/>
                <a:gd name="T6" fmla="*/ 0 w 295"/>
                <a:gd name="T7" fmla="*/ 0 h 263"/>
                <a:gd name="T8" fmla="*/ 0 w 295"/>
                <a:gd name="T9" fmla="*/ 0 h 263"/>
                <a:gd name="T10" fmla="*/ 0 w 295"/>
                <a:gd name="T11" fmla="*/ 0 h 263"/>
                <a:gd name="T12" fmla="*/ 0 w 295"/>
                <a:gd name="T13" fmla="*/ 0 h 263"/>
                <a:gd name="T14" fmla="*/ 0 w 295"/>
                <a:gd name="T15" fmla="*/ 0 h 263"/>
                <a:gd name="T16" fmla="*/ 0 w 295"/>
                <a:gd name="T17" fmla="*/ 0 h 263"/>
                <a:gd name="T18" fmla="*/ 0 w 295"/>
                <a:gd name="T19" fmla="*/ 0 h 263"/>
                <a:gd name="T20" fmla="*/ 0 w 295"/>
                <a:gd name="T21" fmla="*/ 0 h 263"/>
                <a:gd name="T22" fmla="*/ 0 w 295"/>
                <a:gd name="T23" fmla="*/ 0 h 263"/>
                <a:gd name="T24" fmla="*/ 0 w 295"/>
                <a:gd name="T25" fmla="*/ 0 h 263"/>
                <a:gd name="T26" fmla="*/ 0 w 295"/>
                <a:gd name="T27" fmla="*/ 0 h 263"/>
                <a:gd name="T28" fmla="*/ 0 w 295"/>
                <a:gd name="T29" fmla="*/ 0 h 263"/>
                <a:gd name="T30" fmla="*/ 0 w 295"/>
                <a:gd name="T31" fmla="*/ 0 h 263"/>
                <a:gd name="T32" fmla="*/ 0 w 295"/>
                <a:gd name="T33" fmla="*/ 0 h 263"/>
                <a:gd name="T34" fmla="*/ 0 w 295"/>
                <a:gd name="T35" fmla="*/ 0 h 263"/>
                <a:gd name="T36" fmla="*/ 0 w 295"/>
                <a:gd name="T37" fmla="*/ 0 h 263"/>
                <a:gd name="T38" fmla="*/ 0 w 295"/>
                <a:gd name="T39" fmla="*/ 0 h 263"/>
                <a:gd name="T40" fmla="*/ 0 w 295"/>
                <a:gd name="T41" fmla="*/ 0 h 263"/>
                <a:gd name="T42" fmla="*/ 0 w 295"/>
                <a:gd name="T43" fmla="*/ 0 h 263"/>
                <a:gd name="T44" fmla="*/ 0 w 295"/>
                <a:gd name="T45" fmla="*/ 0 h 26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95" h="263">
                  <a:moveTo>
                    <a:pt x="0" y="0"/>
                  </a:moveTo>
                  <a:lnTo>
                    <a:pt x="0" y="21"/>
                  </a:lnTo>
                  <a:lnTo>
                    <a:pt x="38" y="71"/>
                  </a:lnTo>
                  <a:lnTo>
                    <a:pt x="75" y="99"/>
                  </a:lnTo>
                  <a:lnTo>
                    <a:pt x="152" y="158"/>
                  </a:lnTo>
                  <a:lnTo>
                    <a:pt x="184" y="182"/>
                  </a:lnTo>
                  <a:lnTo>
                    <a:pt x="260" y="239"/>
                  </a:lnTo>
                  <a:lnTo>
                    <a:pt x="178" y="213"/>
                  </a:lnTo>
                  <a:lnTo>
                    <a:pt x="97" y="188"/>
                  </a:lnTo>
                  <a:lnTo>
                    <a:pt x="16" y="182"/>
                  </a:lnTo>
                  <a:lnTo>
                    <a:pt x="22" y="207"/>
                  </a:lnTo>
                  <a:lnTo>
                    <a:pt x="152" y="231"/>
                  </a:lnTo>
                  <a:lnTo>
                    <a:pt x="222" y="257"/>
                  </a:lnTo>
                  <a:lnTo>
                    <a:pt x="260" y="263"/>
                  </a:lnTo>
                  <a:lnTo>
                    <a:pt x="292" y="252"/>
                  </a:lnTo>
                  <a:lnTo>
                    <a:pt x="295" y="222"/>
                  </a:lnTo>
                  <a:lnTo>
                    <a:pt x="269" y="199"/>
                  </a:lnTo>
                  <a:lnTo>
                    <a:pt x="232" y="162"/>
                  </a:lnTo>
                  <a:lnTo>
                    <a:pt x="188" y="112"/>
                  </a:lnTo>
                  <a:lnTo>
                    <a:pt x="144" y="56"/>
                  </a:lnTo>
                  <a:lnTo>
                    <a:pt x="91" y="17"/>
                  </a:lnTo>
                  <a:lnTo>
                    <a:pt x="35" y="3"/>
                  </a:lnTo>
                  <a:lnTo>
                    <a:pt x="0"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6" name="Freeform 299"/>
            <p:cNvSpPr>
              <a:spLocks/>
            </p:cNvSpPr>
            <p:nvPr/>
          </p:nvSpPr>
          <p:spPr bwMode="auto">
            <a:xfrm>
              <a:off x="5503" y="1842"/>
              <a:ext cx="44" cy="57"/>
            </a:xfrm>
            <a:custGeom>
              <a:avLst/>
              <a:gdLst>
                <a:gd name="T0" fmla="*/ 0 w 270"/>
                <a:gd name="T1" fmla="*/ 0 h 345"/>
                <a:gd name="T2" fmla="*/ 0 w 270"/>
                <a:gd name="T3" fmla="*/ 0 h 345"/>
                <a:gd name="T4" fmla="*/ 0 w 270"/>
                <a:gd name="T5" fmla="*/ 0 h 345"/>
                <a:gd name="T6" fmla="*/ 0 w 270"/>
                <a:gd name="T7" fmla="*/ 0 h 345"/>
                <a:gd name="T8" fmla="*/ 0 w 270"/>
                <a:gd name="T9" fmla="*/ 0 h 345"/>
                <a:gd name="T10" fmla="*/ 0 w 270"/>
                <a:gd name="T11" fmla="*/ 0 h 345"/>
                <a:gd name="T12" fmla="*/ 0 w 270"/>
                <a:gd name="T13" fmla="*/ 0 h 345"/>
                <a:gd name="T14" fmla="*/ 0 w 270"/>
                <a:gd name="T15" fmla="*/ 0 h 345"/>
                <a:gd name="T16" fmla="*/ 0 w 270"/>
                <a:gd name="T17" fmla="*/ 0 h 345"/>
                <a:gd name="T18" fmla="*/ 0 w 270"/>
                <a:gd name="T19" fmla="*/ 0 h 345"/>
                <a:gd name="T20" fmla="*/ 0 w 270"/>
                <a:gd name="T21" fmla="*/ 0 h 345"/>
                <a:gd name="T22" fmla="*/ 0 w 270"/>
                <a:gd name="T23" fmla="*/ 0 h 345"/>
                <a:gd name="T24" fmla="*/ 0 w 270"/>
                <a:gd name="T25" fmla="*/ 0 h 345"/>
                <a:gd name="T26" fmla="*/ 0 w 270"/>
                <a:gd name="T27" fmla="*/ 0 h 345"/>
                <a:gd name="T28" fmla="*/ 0 w 270"/>
                <a:gd name="T29" fmla="*/ 0 h 345"/>
                <a:gd name="T30" fmla="*/ 0 w 270"/>
                <a:gd name="T31" fmla="*/ 0 h 345"/>
                <a:gd name="T32" fmla="*/ 0 w 270"/>
                <a:gd name="T33" fmla="*/ 0 h 34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270" h="345">
                  <a:moveTo>
                    <a:pt x="51" y="0"/>
                  </a:moveTo>
                  <a:lnTo>
                    <a:pt x="13" y="7"/>
                  </a:lnTo>
                  <a:lnTo>
                    <a:pt x="0" y="39"/>
                  </a:lnTo>
                  <a:lnTo>
                    <a:pt x="3" y="65"/>
                  </a:lnTo>
                  <a:lnTo>
                    <a:pt x="26" y="101"/>
                  </a:lnTo>
                  <a:lnTo>
                    <a:pt x="57" y="112"/>
                  </a:lnTo>
                  <a:lnTo>
                    <a:pt x="116" y="149"/>
                  </a:lnTo>
                  <a:lnTo>
                    <a:pt x="172" y="195"/>
                  </a:lnTo>
                  <a:lnTo>
                    <a:pt x="212" y="259"/>
                  </a:lnTo>
                  <a:lnTo>
                    <a:pt x="257" y="325"/>
                  </a:lnTo>
                  <a:lnTo>
                    <a:pt x="270" y="345"/>
                  </a:lnTo>
                  <a:lnTo>
                    <a:pt x="257" y="267"/>
                  </a:lnTo>
                  <a:lnTo>
                    <a:pt x="247" y="198"/>
                  </a:lnTo>
                  <a:lnTo>
                    <a:pt x="225" y="140"/>
                  </a:lnTo>
                  <a:lnTo>
                    <a:pt x="188" y="86"/>
                  </a:lnTo>
                  <a:lnTo>
                    <a:pt x="90" y="10"/>
                  </a:lnTo>
                  <a:lnTo>
                    <a:pt x="51"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7" name="Freeform 300"/>
            <p:cNvSpPr>
              <a:spLocks/>
            </p:cNvSpPr>
            <p:nvPr/>
          </p:nvSpPr>
          <p:spPr bwMode="auto">
            <a:xfrm>
              <a:off x="5494" y="1785"/>
              <a:ext cx="48" cy="34"/>
            </a:xfrm>
            <a:custGeom>
              <a:avLst/>
              <a:gdLst>
                <a:gd name="T0" fmla="*/ 0 w 287"/>
                <a:gd name="T1" fmla="*/ 0 h 199"/>
                <a:gd name="T2" fmla="*/ 0 w 287"/>
                <a:gd name="T3" fmla="*/ 0 h 199"/>
                <a:gd name="T4" fmla="*/ 0 w 287"/>
                <a:gd name="T5" fmla="*/ 0 h 199"/>
                <a:gd name="T6" fmla="*/ 0 w 287"/>
                <a:gd name="T7" fmla="*/ 0 h 199"/>
                <a:gd name="T8" fmla="*/ 0 w 287"/>
                <a:gd name="T9" fmla="*/ 0 h 199"/>
                <a:gd name="T10" fmla="*/ 0 w 287"/>
                <a:gd name="T11" fmla="*/ 0 h 199"/>
                <a:gd name="T12" fmla="*/ 0 w 287"/>
                <a:gd name="T13" fmla="*/ 0 h 199"/>
                <a:gd name="T14" fmla="*/ 0 w 287"/>
                <a:gd name="T15" fmla="*/ 0 h 199"/>
                <a:gd name="T16" fmla="*/ 0 w 287"/>
                <a:gd name="T17" fmla="*/ 0 h 199"/>
                <a:gd name="T18" fmla="*/ 0 w 287"/>
                <a:gd name="T19" fmla="*/ 0 h 19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87" h="199">
                  <a:moveTo>
                    <a:pt x="0" y="199"/>
                  </a:moveTo>
                  <a:lnTo>
                    <a:pt x="49" y="156"/>
                  </a:lnTo>
                  <a:lnTo>
                    <a:pt x="130" y="125"/>
                  </a:lnTo>
                  <a:lnTo>
                    <a:pt x="185" y="111"/>
                  </a:lnTo>
                  <a:lnTo>
                    <a:pt x="287" y="0"/>
                  </a:lnTo>
                  <a:lnTo>
                    <a:pt x="211" y="44"/>
                  </a:lnTo>
                  <a:lnTo>
                    <a:pt x="142" y="74"/>
                  </a:lnTo>
                  <a:lnTo>
                    <a:pt x="93" y="99"/>
                  </a:lnTo>
                  <a:lnTo>
                    <a:pt x="68" y="125"/>
                  </a:lnTo>
                  <a:lnTo>
                    <a:pt x="0" y="199"/>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8" name="Freeform 301"/>
            <p:cNvSpPr>
              <a:spLocks/>
            </p:cNvSpPr>
            <p:nvPr/>
          </p:nvSpPr>
          <p:spPr bwMode="auto">
            <a:xfrm>
              <a:off x="5458" y="1846"/>
              <a:ext cx="27" cy="86"/>
            </a:xfrm>
            <a:custGeom>
              <a:avLst/>
              <a:gdLst>
                <a:gd name="T0" fmla="*/ 0 w 162"/>
                <a:gd name="T1" fmla="*/ 0 h 514"/>
                <a:gd name="T2" fmla="*/ 0 w 162"/>
                <a:gd name="T3" fmla="*/ 0 h 514"/>
                <a:gd name="T4" fmla="*/ 0 w 162"/>
                <a:gd name="T5" fmla="*/ 0 h 514"/>
                <a:gd name="T6" fmla="*/ 0 w 162"/>
                <a:gd name="T7" fmla="*/ 0 h 514"/>
                <a:gd name="T8" fmla="*/ 0 w 162"/>
                <a:gd name="T9" fmla="*/ 0 h 514"/>
                <a:gd name="T10" fmla="*/ 0 w 162"/>
                <a:gd name="T11" fmla="*/ 0 h 514"/>
                <a:gd name="T12" fmla="*/ 0 w 162"/>
                <a:gd name="T13" fmla="*/ 0 h 514"/>
                <a:gd name="T14" fmla="*/ 0 w 162"/>
                <a:gd name="T15" fmla="*/ 0 h 514"/>
                <a:gd name="T16" fmla="*/ 0 w 162"/>
                <a:gd name="T17" fmla="*/ 0 h 514"/>
                <a:gd name="T18" fmla="*/ 0 w 162"/>
                <a:gd name="T19" fmla="*/ 0 h 514"/>
                <a:gd name="T20" fmla="*/ 0 w 162"/>
                <a:gd name="T21" fmla="*/ 0 h 514"/>
                <a:gd name="T22" fmla="*/ 0 w 162"/>
                <a:gd name="T23" fmla="*/ 0 h 514"/>
                <a:gd name="T24" fmla="*/ 0 w 162"/>
                <a:gd name="T25" fmla="*/ 0 h 514"/>
                <a:gd name="T26" fmla="*/ 0 w 162"/>
                <a:gd name="T27" fmla="*/ 0 h 514"/>
                <a:gd name="T28" fmla="*/ 0 w 162"/>
                <a:gd name="T29" fmla="*/ 0 h 514"/>
                <a:gd name="T30" fmla="*/ 0 w 162"/>
                <a:gd name="T31" fmla="*/ 0 h 514"/>
                <a:gd name="T32" fmla="*/ 0 w 162"/>
                <a:gd name="T33" fmla="*/ 0 h 514"/>
                <a:gd name="T34" fmla="*/ 0 w 162"/>
                <a:gd name="T35" fmla="*/ 0 h 514"/>
                <a:gd name="T36" fmla="*/ 0 w 162"/>
                <a:gd name="T37" fmla="*/ 0 h 514"/>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62" h="514">
                  <a:moveTo>
                    <a:pt x="0" y="514"/>
                  </a:moveTo>
                  <a:lnTo>
                    <a:pt x="81" y="514"/>
                  </a:lnTo>
                  <a:lnTo>
                    <a:pt x="106" y="508"/>
                  </a:lnTo>
                  <a:lnTo>
                    <a:pt x="106" y="489"/>
                  </a:lnTo>
                  <a:lnTo>
                    <a:pt x="124" y="470"/>
                  </a:lnTo>
                  <a:lnTo>
                    <a:pt x="150" y="451"/>
                  </a:lnTo>
                  <a:lnTo>
                    <a:pt x="137" y="433"/>
                  </a:lnTo>
                  <a:lnTo>
                    <a:pt x="137" y="407"/>
                  </a:lnTo>
                  <a:lnTo>
                    <a:pt x="156" y="376"/>
                  </a:lnTo>
                  <a:lnTo>
                    <a:pt x="156" y="344"/>
                  </a:lnTo>
                  <a:lnTo>
                    <a:pt x="144" y="306"/>
                  </a:lnTo>
                  <a:lnTo>
                    <a:pt x="144" y="224"/>
                  </a:lnTo>
                  <a:lnTo>
                    <a:pt x="162" y="150"/>
                  </a:lnTo>
                  <a:lnTo>
                    <a:pt x="156" y="94"/>
                  </a:lnTo>
                  <a:lnTo>
                    <a:pt x="156" y="0"/>
                  </a:lnTo>
                  <a:lnTo>
                    <a:pt x="106" y="142"/>
                  </a:lnTo>
                  <a:lnTo>
                    <a:pt x="62" y="275"/>
                  </a:lnTo>
                  <a:lnTo>
                    <a:pt x="32" y="419"/>
                  </a:lnTo>
                  <a:lnTo>
                    <a:pt x="0" y="514"/>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9" name="Freeform 302"/>
            <p:cNvSpPr>
              <a:spLocks/>
            </p:cNvSpPr>
            <p:nvPr/>
          </p:nvSpPr>
          <p:spPr bwMode="auto">
            <a:xfrm>
              <a:off x="5498" y="1939"/>
              <a:ext cx="48" cy="16"/>
            </a:xfrm>
            <a:custGeom>
              <a:avLst/>
              <a:gdLst>
                <a:gd name="T0" fmla="*/ 0 w 289"/>
                <a:gd name="T1" fmla="*/ 0 h 97"/>
                <a:gd name="T2" fmla="*/ 0 w 289"/>
                <a:gd name="T3" fmla="*/ 0 h 97"/>
                <a:gd name="T4" fmla="*/ 0 w 289"/>
                <a:gd name="T5" fmla="*/ 0 h 97"/>
                <a:gd name="T6" fmla="*/ 0 w 289"/>
                <a:gd name="T7" fmla="*/ 0 h 97"/>
                <a:gd name="T8" fmla="*/ 0 w 289"/>
                <a:gd name="T9" fmla="*/ 0 h 97"/>
                <a:gd name="T10" fmla="*/ 0 w 289"/>
                <a:gd name="T11" fmla="*/ 0 h 97"/>
                <a:gd name="T12" fmla="*/ 0 w 289"/>
                <a:gd name="T13" fmla="*/ 0 h 97"/>
                <a:gd name="T14" fmla="*/ 0 w 289"/>
                <a:gd name="T15" fmla="*/ 0 h 97"/>
                <a:gd name="T16" fmla="*/ 0 w 289"/>
                <a:gd name="T17" fmla="*/ 0 h 97"/>
                <a:gd name="T18" fmla="*/ 0 w 289"/>
                <a:gd name="T19" fmla="*/ 0 h 97"/>
                <a:gd name="T20" fmla="*/ 0 w 289"/>
                <a:gd name="T21" fmla="*/ 0 h 9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89" h="97">
                  <a:moveTo>
                    <a:pt x="232" y="47"/>
                  </a:moveTo>
                  <a:lnTo>
                    <a:pt x="168" y="19"/>
                  </a:lnTo>
                  <a:lnTo>
                    <a:pt x="110" y="4"/>
                  </a:lnTo>
                  <a:lnTo>
                    <a:pt x="32" y="0"/>
                  </a:lnTo>
                  <a:lnTo>
                    <a:pt x="0" y="6"/>
                  </a:lnTo>
                  <a:lnTo>
                    <a:pt x="15" y="37"/>
                  </a:lnTo>
                  <a:lnTo>
                    <a:pt x="45" y="61"/>
                  </a:lnTo>
                  <a:lnTo>
                    <a:pt x="113" y="79"/>
                  </a:lnTo>
                  <a:lnTo>
                    <a:pt x="219" y="97"/>
                  </a:lnTo>
                  <a:lnTo>
                    <a:pt x="289" y="91"/>
                  </a:lnTo>
                  <a:lnTo>
                    <a:pt x="232" y="4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0" name="Freeform 303"/>
            <p:cNvSpPr>
              <a:spLocks/>
            </p:cNvSpPr>
            <p:nvPr/>
          </p:nvSpPr>
          <p:spPr bwMode="auto">
            <a:xfrm>
              <a:off x="5458" y="1947"/>
              <a:ext cx="30" cy="36"/>
            </a:xfrm>
            <a:custGeom>
              <a:avLst/>
              <a:gdLst>
                <a:gd name="T0" fmla="*/ 0 w 176"/>
                <a:gd name="T1" fmla="*/ 0 h 216"/>
                <a:gd name="T2" fmla="*/ 0 w 176"/>
                <a:gd name="T3" fmla="*/ 0 h 216"/>
                <a:gd name="T4" fmla="*/ 0 w 176"/>
                <a:gd name="T5" fmla="*/ 0 h 216"/>
                <a:gd name="T6" fmla="*/ 0 w 176"/>
                <a:gd name="T7" fmla="*/ 0 h 216"/>
                <a:gd name="T8" fmla="*/ 0 w 176"/>
                <a:gd name="T9" fmla="*/ 0 h 216"/>
                <a:gd name="T10" fmla="*/ 0 w 176"/>
                <a:gd name="T11" fmla="*/ 0 h 216"/>
                <a:gd name="T12" fmla="*/ 0 w 176"/>
                <a:gd name="T13" fmla="*/ 0 h 216"/>
                <a:gd name="T14" fmla="*/ 0 w 176"/>
                <a:gd name="T15" fmla="*/ 0 h 216"/>
                <a:gd name="T16" fmla="*/ 0 w 176"/>
                <a:gd name="T17" fmla="*/ 0 h 216"/>
                <a:gd name="T18" fmla="*/ 0 w 176"/>
                <a:gd name="T19" fmla="*/ 0 h 216"/>
                <a:gd name="T20" fmla="*/ 0 w 176"/>
                <a:gd name="T21" fmla="*/ 0 h 216"/>
                <a:gd name="T22" fmla="*/ 0 w 176"/>
                <a:gd name="T23" fmla="*/ 0 h 216"/>
                <a:gd name="T24" fmla="*/ 0 w 176"/>
                <a:gd name="T25" fmla="*/ 0 h 21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6" h="216">
                  <a:moveTo>
                    <a:pt x="81" y="59"/>
                  </a:moveTo>
                  <a:lnTo>
                    <a:pt x="59" y="14"/>
                  </a:lnTo>
                  <a:lnTo>
                    <a:pt x="26" y="0"/>
                  </a:lnTo>
                  <a:lnTo>
                    <a:pt x="3" y="11"/>
                  </a:lnTo>
                  <a:lnTo>
                    <a:pt x="0" y="35"/>
                  </a:lnTo>
                  <a:lnTo>
                    <a:pt x="15" y="76"/>
                  </a:lnTo>
                  <a:lnTo>
                    <a:pt x="40" y="115"/>
                  </a:lnTo>
                  <a:lnTo>
                    <a:pt x="71" y="150"/>
                  </a:lnTo>
                  <a:lnTo>
                    <a:pt x="113" y="185"/>
                  </a:lnTo>
                  <a:lnTo>
                    <a:pt x="176" y="216"/>
                  </a:lnTo>
                  <a:lnTo>
                    <a:pt x="119" y="153"/>
                  </a:lnTo>
                  <a:lnTo>
                    <a:pt x="100" y="108"/>
                  </a:lnTo>
                  <a:lnTo>
                    <a:pt x="81" y="59"/>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1" name="Freeform 304"/>
            <p:cNvSpPr>
              <a:spLocks/>
            </p:cNvSpPr>
            <p:nvPr/>
          </p:nvSpPr>
          <p:spPr bwMode="auto">
            <a:xfrm>
              <a:off x="5506" y="1757"/>
              <a:ext cx="70" cy="44"/>
            </a:xfrm>
            <a:custGeom>
              <a:avLst/>
              <a:gdLst>
                <a:gd name="T0" fmla="*/ 0 w 418"/>
                <a:gd name="T1" fmla="*/ 0 h 260"/>
                <a:gd name="T2" fmla="*/ 0 w 418"/>
                <a:gd name="T3" fmla="*/ 0 h 260"/>
                <a:gd name="T4" fmla="*/ 0 w 418"/>
                <a:gd name="T5" fmla="*/ 0 h 260"/>
                <a:gd name="T6" fmla="*/ 0 w 418"/>
                <a:gd name="T7" fmla="*/ 0 h 260"/>
                <a:gd name="T8" fmla="*/ 0 w 418"/>
                <a:gd name="T9" fmla="*/ 0 h 260"/>
                <a:gd name="T10" fmla="*/ 0 w 418"/>
                <a:gd name="T11" fmla="*/ 0 h 260"/>
                <a:gd name="T12" fmla="*/ 0 w 418"/>
                <a:gd name="T13" fmla="*/ 0 h 260"/>
                <a:gd name="T14" fmla="*/ 0 w 418"/>
                <a:gd name="T15" fmla="*/ 0 h 260"/>
                <a:gd name="T16" fmla="*/ 0 w 418"/>
                <a:gd name="T17" fmla="*/ 0 h 260"/>
                <a:gd name="T18" fmla="*/ 0 w 418"/>
                <a:gd name="T19" fmla="*/ 0 h 260"/>
                <a:gd name="T20" fmla="*/ 0 w 418"/>
                <a:gd name="T21" fmla="*/ 0 h 260"/>
                <a:gd name="T22" fmla="*/ 0 w 418"/>
                <a:gd name="T23" fmla="*/ 0 h 26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418" h="260">
                  <a:moveTo>
                    <a:pt x="0" y="260"/>
                  </a:moveTo>
                  <a:lnTo>
                    <a:pt x="13" y="153"/>
                  </a:lnTo>
                  <a:lnTo>
                    <a:pt x="101" y="116"/>
                  </a:lnTo>
                  <a:lnTo>
                    <a:pt x="220" y="69"/>
                  </a:lnTo>
                  <a:lnTo>
                    <a:pt x="304" y="35"/>
                  </a:lnTo>
                  <a:lnTo>
                    <a:pt x="386" y="0"/>
                  </a:lnTo>
                  <a:lnTo>
                    <a:pt x="418" y="76"/>
                  </a:lnTo>
                  <a:lnTo>
                    <a:pt x="341" y="119"/>
                  </a:lnTo>
                  <a:lnTo>
                    <a:pt x="252" y="150"/>
                  </a:lnTo>
                  <a:lnTo>
                    <a:pt x="182" y="170"/>
                  </a:lnTo>
                  <a:lnTo>
                    <a:pt x="98" y="216"/>
                  </a:lnTo>
                  <a:lnTo>
                    <a:pt x="0" y="26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12" name="Group 305"/>
          <p:cNvGrpSpPr>
            <a:grpSpLocks/>
          </p:cNvGrpSpPr>
          <p:nvPr/>
        </p:nvGrpSpPr>
        <p:grpSpPr bwMode="auto">
          <a:xfrm>
            <a:off x="7199967" y="3333548"/>
            <a:ext cx="144954" cy="180263"/>
            <a:chOff x="5511" y="1960"/>
            <a:chExt cx="144" cy="194"/>
          </a:xfrm>
        </p:grpSpPr>
        <p:sp>
          <p:nvSpPr>
            <p:cNvPr id="313" name="Freeform 306"/>
            <p:cNvSpPr>
              <a:spLocks/>
            </p:cNvSpPr>
            <p:nvPr/>
          </p:nvSpPr>
          <p:spPr bwMode="auto">
            <a:xfrm>
              <a:off x="5511" y="1960"/>
              <a:ext cx="144" cy="194"/>
            </a:xfrm>
            <a:custGeom>
              <a:avLst/>
              <a:gdLst>
                <a:gd name="T0" fmla="*/ 0 w 863"/>
                <a:gd name="T1" fmla="*/ 0 h 1164"/>
                <a:gd name="T2" fmla="*/ 0 w 863"/>
                <a:gd name="T3" fmla="*/ 0 h 1164"/>
                <a:gd name="T4" fmla="*/ 0 w 863"/>
                <a:gd name="T5" fmla="*/ 0 h 1164"/>
                <a:gd name="T6" fmla="*/ 0 w 863"/>
                <a:gd name="T7" fmla="*/ 0 h 1164"/>
                <a:gd name="T8" fmla="*/ 0 w 863"/>
                <a:gd name="T9" fmla="*/ 0 h 1164"/>
                <a:gd name="T10" fmla="*/ 0 w 863"/>
                <a:gd name="T11" fmla="*/ 0 h 1164"/>
                <a:gd name="T12" fmla="*/ 0 w 863"/>
                <a:gd name="T13" fmla="*/ 0 h 1164"/>
                <a:gd name="T14" fmla="*/ 0 w 863"/>
                <a:gd name="T15" fmla="*/ 0 h 1164"/>
                <a:gd name="T16" fmla="*/ 0 w 863"/>
                <a:gd name="T17" fmla="*/ 0 h 1164"/>
                <a:gd name="T18" fmla="*/ 0 w 863"/>
                <a:gd name="T19" fmla="*/ 0 h 1164"/>
                <a:gd name="T20" fmla="*/ 0 w 863"/>
                <a:gd name="T21" fmla="*/ 0 h 1164"/>
                <a:gd name="T22" fmla="*/ 0 w 863"/>
                <a:gd name="T23" fmla="*/ 0 h 1164"/>
                <a:gd name="T24" fmla="*/ 0 w 863"/>
                <a:gd name="T25" fmla="*/ 0 h 1164"/>
                <a:gd name="T26" fmla="*/ 0 w 863"/>
                <a:gd name="T27" fmla="*/ 0 h 1164"/>
                <a:gd name="T28" fmla="*/ 0 w 863"/>
                <a:gd name="T29" fmla="*/ 0 h 1164"/>
                <a:gd name="T30" fmla="*/ 0 w 863"/>
                <a:gd name="T31" fmla="*/ 0 h 1164"/>
                <a:gd name="T32" fmla="*/ 0 w 863"/>
                <a:gd name="T33" fmla="*/ 0 h 1164"/>
                <a:gd name="T34" fmla="*/ 0 w 863"/>
                <a:gd name="T35" fmla="*/ 0 h 1164"/>
                <a:gd name="T36" fmla="*/ 0 w 863"/>
                <a:gd name="T37" fmla="*/ 0 h 1164"/>
                <a:gd name="T38" fmla="*/ 0 w 863"/>
                <a:gd name="T39" fmla="*/ 0 h 1164"/>
                <a:gd name="T40" fmla="*/ 0 w 863"/>
                <a:gd name="T41" fmla="*/ 0 h 1164"/>
                <a:gd name="T42" fmla="*/ 0 w 863"/>
                <a:gd name="T43" fmla="*/ 0 h 1164"/>
                <a:gd name="T44" fmla="*/ 0 w 863"/>
                <a:gd name="T45" fmla="*/ 0 h 1164"/>
                <a:gd name="T46" fmla="*/ 0 w 863"/>
                <a:gd name="T47" fmla="*/ 0 h 1164"/>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863" h="1164">
                  <a:moveTo>
                    <a:pt x="385" y="172"/>
                  </a:moveTo>
                  <a:lnTo>
                    <a:pt x="543" y="158"/>
                  </a:lnTo>
                  <a:lnTo>
                    <a:pt x="637" y="133"/>
                  </a:lnTo>
                  <a:lnTo>
                    <a:pt x="667" y="90"/>
                  </a:lnTo>
                  <a:lnTo>
                    <a:pt x="667" y="52"/>
                  </a:lnTo>
                  <a:lnTo>
                    <a:pt x="694" y="20"/>
                  </a:lnTo>
                  <a:lnTo>
                    <a:pt x="782" y="0"/>
                  </a:lnTo>
                  <a:lnTo>
                    <a:pt x="863" y="7"/>
                  </a:lnTo>
                  <a:lnTo>
                    <a:pt x="763" y="907"/>
                  </a:lnTo>
                  <a:lnTo>
                    <a:pt x="694" y="990"/>
                  </a:lnTo>
                  <a:lnTo>
                    <a:pt x="605" y="1071"/>
                  </a:lnTo>
                  <a:lnTo>
                    <a:pt x="481" y="1134"/>
                  </a:lnTo>
                  <a:lnTo>
                    <a:pt x="334" y="1153"/>
                  </a:lnTo>
                  <a:lnTo>
                    <a:pt x="138" y="1164"/>
                  </a:lnTo>
                  <a:lnTo>
                    <a:pt x="25" y="1147"/>
                  </a:lnTo>
                  <a:lnTo>
                    <a:pt x="0" y="1083"/>
                  </a:lnTo>
                  <a:lnTo>
                    <a:pt x="13" y="1001"/>
                  </a:lnTo>
                  <a:lnTo>
                    <a:pt x="95" y="750"/>
                  </a:lnTo>
                  <a:lnTo>
                    <a:pt x="163" y="499"/>
                  </a:lnTo>
                  <a:lnTo>
                    <a:pt x="195" y="310"/>
                  </a:lnTo>
                  <a:lnTo>
                    <a:pt x="195" y="259"/>
                  </a:lnTo>
                  <a:lnTo>
                    <a:pt x="239" y="190"/>
                  </a:lnTo>
                  <a:lnTo>
                    <a:pt x="291" y="172"/>
                  </a:lnTo>
                  <a:lnTo>
                    <a:pt x="385" y="172"/>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4" name="Freeform 307"/>
            <p:cNvSpPr>
              <a:spLocks/>
            </p:cNvSpPr>
            <p:nvPr/>
          </p:nvSpPr>
          <p:spPr bwMode="auto">
            <a:xfrm>
              <a:off x="5528" y="1970"/>
              <a:ext cx="124" cy="177"/>
            </a:xfrm>
            <a:custGeom>
              <a:avLst/>
              <a:gdLst>
                <a:gd name="T0" fmla="*/ 0 w 743"/>
                <a:gd name="T1" fmla="*/ 0 h 1068"/>
                <a:gd name="T2" fmla="*/ 0 w 743"/>
                <a:gd name="T3" fmla="*/ 0 h 1068"/>
                <a:gd name="T4" fmla="*/ 0 w 743"/>
                <a:gd name="T5" fmla="*/ 0 h 1068"/>
                <a:gd name="T6" fmla="*/ 0 w 743"/>
                <a:gd name="T7" fmla="*/ 0 h 1068"/>
                <a:gd name="T8" fmla="*/ 0 w 743"/>
                <a:gd name="T9" fmla="*/ 0 h 1068"/>
                <a:gd name="T10" fmla="*/ 0 w 743"/>
                <a:gd name="T11" fmla="*/ 0 h 1068"/>
                <a:gd name="T12" fmla="*/ 0 w 743"/>
                <a:gd name="T13" fmla="*/ 0 h 1068"/>
                <a:gd name="T14" fmla="*/ 0 w 743"/>
                <a:gd name="T15" fmla="*/ 0 h 1068"/>
                <a:gd name="T16" fmla="*/ 0 w 743"/>
                <a:gd name="T17" fmla="*/ 0 h 1068"/>
                <a:gd name="T18" fmla="*/ 0 w 743"/>
                <a:gd name="T19" fmla="*/ 0 h 1068"/>
                <a:gd name="T20" fmla="*/ 0 w 743"/>
                <a:gd name="T21" fmla="*/ 0 h 1068"/>
                <a:gd name="T22" fmla="*/ 0 w 743"/>
                <a:gd name="T23" fmla="*/ 0 h 1068"/>
                <a:gd name="T24" fmla="*/ 0 w 743"/>
                <a:gd name="T25" fmla="*/ 0 h 1068"/>
                <a:gd name="T26" fmla="*/ 0 w 743"/>
                <a:gd name="T27" fmla="*/ 0 h 1068"/>
                <a:gd name="T28" fmla="*/ 0 w 743"/>
                <a:gd name="T29" fmla="*/ 0 h 1068"/>
                <a:gd name="T30" fmla="*/ 0 w 743"/>
                <a:gd name="T31" fmla="*/ 0 h 1068"/>
                <a:gd name="T32" fmla="*/ 0 w 743"/>
                <a:gd name="T33" fmla="*/ 0 h 1068"/>
                <a:gd name="T34" fmla="*/ 0 w 743"/>
                <a:gd name="T35" fmla="*/ 0 h 1068"/>
                <a:gd name="T36" fmla="*/ 0 w 743"/>
                <a:gd name="T37" fmla="*/ 0 h 1068"/>
                <a:gd name="T38" fmla="*/ 0 w 743"/>
                <a:gd name="T39" fmla="*/ 0 h 1068"/>
                <a:gd name="T40" fmla="*/ 0 w 743"/>
                <a:gd name="T41" fmla="*/ 0 h 1068"/>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743" h="1068">
                  <a:moveTo>
                    <a:pt x="257" y="214"/>
                  </a:moveTo>
                  <a:lnTo>
                    <a:pt x="397" y="207"/>
                  </a:lnTo>
                  <a:lnTo>
                    <a:pt x="542" y="182"/>
                  </a:lnTo>
                  <a:lnTo>
                    <a:pt x="628" y="138"/>
                  </a:lnTo>
                  <a:lnTo>
                    <a:pt x="679" y="100"/>
                  </a:lnTo>
                  <a:lnTo>
                    <a:pt x="743" y="0"/>
                  </a:lnTo>
                  <a:lnTo>
                    <a:pt x="648" y="822"/>
                  </a:lnTo>
                  <a:lnTo>
                    <a:pt x="585" y="898"/>
                  </a:lnTo>
                  <a:lnTo>
                    <a:pt x="516" y="967"/>
                  </a:lnTo>
                  <a:lnTo>
                    <a:pt x="428" y="1016"/>
                  </a:lnTo>
                  <a:lnTo>
                    <a:pt x="353" y="1042"/>
                  </a:lnTo>
                  <a:lnTo>
                    <a:pt x="257" y="1055"/>
                  </a:lnTo>
                  <a:lnTo>
                    <a:pt x="170" y="1068"/>
                  </a:lnTo>
                  <a:lnTo>
                    <a:pt x="69" y="1068"/>
                  </a:lnTo>
                  <a:lnTo>
                    <a:pt x="24" y="1055"/>
                  </a:lnTo>
                  <a:lnTo>
                    <a:pt x="0" y="1016"/>
                  </a:lnTo>
                  <a:lnTo>
                    <a:pt x="11" y="956"/>
                  </a:lnTo>
                  <a:lnTo>
                    <a:pt x="75" y="809"/>
                  </a:lnTo>
                  <a:lnTo>
                    <a:pt x="184" y="321"/>
                  </a:lnTo>
                  <a:lnTo>
                    <a:pt x="201" y="252"/>
                  </a:lnTo>
                  <a:lnTo>
                    <a:pt x="257" y="21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15" name="Oval 308"/>
          <p:cNvSpPr>
            <a:spLocks noChangeArrowheads="1"/>
          </p:cNvSpPr>
          <p:nvPr/>
        </p:nvSpPr>
        <p:spPr bwMode="auto">
          <a:xfrm>
            <a:off x="6729874" y="3187665"/>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6" name="Oval 309"/>
          <p:cNvSpPr>
            <a:spLocks noChangeArrowheads="1"/>
          </p:cNvSpPr>
          <p:nvPr/>
        </p:nvSpPr>
        <p:spPr bwMode="auto">
          <a:xfrm>
            <a:off x="2763778" y="3028773"/>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317" name="Group 310"/>
          <p:cNvGrpSpPr>
            <a:grpSpLocks/>
          </p:cNvGrpSpPr>
          <p:nvPr/>
        </p:nvGrpSpPr>
        <p:grpSpPr bwMode="auto">
          <a:xfrm>
            <a:off x="3006374" y="3092887"/>
            <a:ext cx="289908" cy="267607"/>
            <a:chOff x="2351" y="2975"/>
            <a:chExt cx="481" cy="433"/>
          </a:xfrm>
          <a:effectLst/>
        </p:grpSpPr>
        <p:sp>
          <p:nvSpPr>
            <p:cNvPr id="318" name="Rectangle 311"/>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9" name="Line 312"/>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0" name="Line 313"/>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1" name="Line 314"/>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2" name="Line 315"/>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3" name="Line 316"/>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4" name="Line 317"/>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5" name="Line 318"/>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6" name="Line 319"/>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7" name="Group 320"/>
          <p:cNvGrpSpPr>
            <a:grpSpLocks/>
          </p:cNvGrpSpPr>
          <p:nvPr/>
        </p:nvGrpSpPr>
        <p:grpSpPr bwMode="auto">
          <a:xfrm>
            <a:off x="2939937" y="3416246"/>
            <a:ext cx="463047" cy="267607"/>
            <a:chOff x="1296" y="768"/>
            <a:chExt cx="556" cy="336"/>
          </a:xfrm>
          <a:effectLst/>
        </p:grpSpPr>
        <p:sp>
          <p:nvSpPr>
            <p:cNvPr id="328" name="Rectangle 321"/>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29" name="Group 322"/>
            <p:cNvGrpSpPr>
              <a:grpSpLocks/>
            </p:cNvGrpSpPr>
            <p:nvPr/>
          </p:nvGrpSpPr>
          <p:grpSpPr bwMode="auto">
            <a:xfrm>
              <a:off x="1367" y="829"/>
              <a:ext cx="393" cy="214"/>
              <a:chOff x="2928" y="3744"/>
              <a:chExt cx="528" cy="336"/>
            </a:xfrm>
          </p:grpSpPr>
          <p:grpSp>
            <p:nvGrpSpPr>
              <p:cNvPr id="330" name="Group 323"/>
              <p:cNvGrpSpPr>
                <a:grpSpLocks/>
              </p:cNvGrpSpPr>
              <p:nvPr/>
            </p:nvGrpSpPr>
            <p:grpSpPr bwMode="auto">
              <a:xfrm>
                <a:off x="3024" y="3744"/>
                <a:ext cx="432" cy="240"/>
                <a:chOff x="2736" y="3648"/>
                <a:chExt cx="432" cy="240"/>
              </a:xfrm>
            </p:grpSpPr>
            <p:grpSp>
              <p:nvGrpSpPr>
                <p:cNvPr id="345" name="Group 324"/>
                <p:cNvGrpSpPr>
                  <a:grpSpLocks/>
                </p:cNvGrpSpPr>
                <p:nvPr/>
              </p:nvGrpSpPr>
              <p:grpSpPr bwMode="auto">
                <a:xfrm>
                  <a:off x="2736" y="3648"/>
                  <a:ext cx="432" cy="240"/>
                  <a:chOff x="2592" y="3504"/>
                  <a:chExt cx="576" cy="384"/>
                </a:xfrm>
              </p:grpSpPr>
              <p:sp>
                <p:nvSpPr>
                  <p:cNvPr id="347" name="Rectangle 325"/>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8" name="Freeform 326"/>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9" name="Line 327"/>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0" name="Line 328"/>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6" name="Line 329"/>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1" name="Group 330"/>
              <p:cNvGrpSpPr>
                <a:grpSpLocks/>
              </p:cNvGrpSpPr>
              <p:nvPr/>
            </p:nvGrpSpPr>
            <p:grpSpPr bwMode="auto">
              <a:xfrm>
                <a:off x="2976" y="3792"/>
                <a:ext cx="432" cy="240"/>
                <a:chOff x="2736" y="3648"/>
                <a:chExt cx="432" cy="240"/>
              </a:xfrm>
            </p:grpSpPr>
            <p:grpSp>
              <p:nvGrpSpPr>
                <p:cNvPr id="339" name="Group 331"/>
                <p:cNvGrpSpPr>
                  <a:grpSpLocks/>
                </p:cNvGrpSpPr>
                <p:nvPr/>
              </p:nvGrpSpPr>
              <p:grpSpPr bwMode="auto">
                <a:xfrm>
                  <a:off x="2736" y="3648"/>
                  <a:ext cx="432" cy="240"/>
                  <a:chOff x="2592" y="3504"/>
                  <a:chExt cx="576" cy="384"/>
                </a:xfrm>
              </p:grpSpPr>
              <p:sp>
                <p:nvSpPr>
                  <p:cNvPr id="341" name="Rectangle 332"/>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2" name="Freeform 333"/>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3" name="Line 334"/>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4" name="Line 335"/>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0" name="Line 336"/>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2" name="Group 337"/>
              <p:cNvGrpSpPr>
                <a:grpSpLocks/>
              </p:cNvGrpSpPr>
              <p:nvPr/>
            </p:nvGrpSpPr>
            <p:grpSpPr bwMode="auto">
              <a:xfrm>
                <a:off x="2928" y="3840"/>
                <a:ext cx="432" cy="240"/>
                <a:chOff x="2736" y="3648"/>
                <a:chExt cx="432" cy="240"/>
              </a:xfrm>
            </p:grpSpPr>
            <p:grpSp>
              <p:nvGrpSpPr>
                <p:cNvPr id="333" name="Group 338"/>
                <p:cNvGrpSpPr>
                  <a:grpSpLocks/>
                </p:cNvGrpSpPr>
                <p:nvPr/>
              </p:nvGrpSpPr>
              <p:grpSpPr bwMode="auto">
                <a:xfrm>
                  <a:off x="2736" y="3648"/>
                  <a:ext cx="432" cy="240"/>
                  <a:chOff x="2592" y="3504"/>
                  <a:chExt cx="576" cy="384"/>
                </a:xfrm>
              </p:grpSpPr>
              <p:sp>
                <p:nvSpPr>
                  <p:cNvPr id="335" name="Rectangle 339"/>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36" name="Freeform 340"/>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7" name="Line 341"/>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8" name="Line 342"/>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34" name="Line 343"/>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sp>
        <p:nvSpPr>
          <p:cNvPr id="351" name="Freeform 344"/>
          <p:cNvSpPr>
            <a:spLocks/>
          </p:cNvSpPr>
          <p:nvPr/>
        </p:nvSpPr>
        <p:spPr bwMode="auto">
          <a:xfrm>
            <a:off x="2220201" y="3228550"/>
            <a:ext cx="785167" cy="290837"/>
          </a:xfrm>
          <a:custGeom>
            <a:avLst/>
            <a:gdLst>
              <a:gd name="T0" fmla="*/ 0 w 780"/>
              <a:gd name="T1" fmla="*/ 2147483646 h 313"/>
              <a:gd name="T2" fmla="*/ 2147483646 w 780"/>
              <a:gd name="T3" fmla="*/ 2147483646 h 313"/>
              <a:gd name="T4" fmla="*/ 2147483646 w 780"/>
              <a:gd name="T5" fmla="*/ 2147483646 h 313"/>
              <a:gd name="T6" fmla="*/ 2147483646 w 780"/>
              <a:gd name="T7" fmla="*/ 2147483646 h 313"/>
              <a:gd name="T8" fmla="*/ 2147483646 w 780"/>
              <a:gd name="T9" fmla="*/ 2147483646 h 313"/>
              <a:gd name="T10" fmla="*/ 2147483646 w 780"/>
              <a:gd name="T11" fmla="*/ 2147483646 h 313"/>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80" h="313">
                <a:moveTo>
                  <a:pt x="0" y="99"/>
                </a:moveTo>
                <a:cubicBezTo>
                  <a:pt x="38" y="85"/>
                  <a:pt x="154" y="26"/>
                  <a:pt x="228" y="13"/>
                </a:cubicBezTo>
                <a:cubicBezTo>
                  <a:pt x="302" y="0"/>
                  <a:pt x="385" y="10"/>
                  <a:pt x="444" y="19"/>
                </a:cubicBezTo>
                <a:cubicBezTo>
                  <a:pt x="503" y="28"/>
                  <a:pt x="534" y="34"/>
                  <a:pt x="582" y="67"/>
                </a:cubicBezTo>
                <a:cubicBezTo>
                  <a:pt x="630" y="100"/>
                  <a:pt x="699" y="176"/>
                  <a:pt x="732" y="217"/>
                </a:cubicBezTo>
                <a:cubicBezTo>
                  <a:pt x="765" y="258"/>
                  <a:pt x="768" y="289"/>
                  <a:pt x="780" y="313"/>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2" name="Freeform 345"/>
          <p:cNvSpPr>
            <a:spLocks/>
          </p:cNvSpPr>
          <p:nvPr/>
        </p:nvSpPr>
        <p:spPr bwMode="auto">
          <a:xfrm>
            <a:off x="3198639" y="2876385"/>
            <a:ext cx="2829619" cy="598399"/>
          </a:xfrm>
          <a:custGeom>
            <a:avLst/>
            <a:gdLst>
              <a:gd name="T0" fmla="*/ 0 w 2811"/>
              <a:gd name="T1" fmla="*/ 2147483646 h 644"/>
              <a:gd name="T2" fmla="*/ 2147483646 w 2811"/>
              <a:gd name="T3" fmla="*/ 2147483646 h 644"/>
              <a:gd name="T4" fmla="*/ 2147483646 w 2811"/>
              <a:gd name="T5" fmla="*/ 2147483646 h 644"/>
              <a:gd name="T6" fmla="*/ 2147483646 w 2811"/>
              <a:gd name="T7" fmla="*/ 2147483646 h 644"/>
              <a:gd name="T8" fmla="*/ 2147483646 w 2811"/>
              <a:gd name="T9" fmla="*/ 2147483646 h 644"/>
              <a:gd name="T10" fmla="*/ 2147483646 w 2811"/>
              <a:gd name="T11" fmla="*/ 2147483646 h 644"/>
              <a:gd name="T12" fmla="*/ 2147483646 w 2811"/>
              <a:gd name="T13" fmla="*/ 2147483646 h 64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811" h="644">
                <a:moveTo>
                  <a:pt x="0" y="644"/>
                </a:moveTo>
                <a:cubicBezTo>
                  <a:pt x="81" y="585"/>
                  <a:pt x="354" y="376"/>
                  <a:pt x="488" y="292"/>
                </a:cubicBezTo>
                <a:cubicBezTo>
                  <a:pt x="622" y="208"/>
                  <a:pt x="688" y="181"/>
                  <a:pt x="807" y="137"/>
                </a:cubicBezTo>
                <a:cubicBezTo>
                  <a:pt x="926" y="93"/>
                  <a:pt x="1051" y="49"/>
                  <a:pt x="1200" y="28"/>
                </a:cubicBezTo>
                <a:cubicBezTo>
                  <a:pt x="1349" y="7"/>
                  <a:pt x="1533" y="0"/>
                  <a:pt x="1704" y="12"/>
                </a:cubicBezTo>
                <a:cubicBezTo>
                  <a:pt x="1875" y="24"/>
                  <a:pt x="2042" y="45"/>
                  <a:pt x="2226" y="98"/>
                </a:cubicBezTo>
                <a:cubicBezTo>
                  <a:pt x="2410" y="151"/>
                  <a:pt x="2689" y="281"/>
                  <a:pt x="2811" y="32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3" name="Freeform 346"/>
          <p:cNvSpPr>
            <a:spLocks/>
          </p:cNvSpPr>
          <p:nvPr/>
        </p:nvSpPr>
        <p:spPr bwMode="auto">
          <a:xfrm>
            <a:off x="6090669" y="3048286"/>
            <a:ext cx="731815" cy="203493"/>
          </a:xfrm>
          <a:custGeom>
            <a:avLst/>
            <a:gdLst>
              <a:gd name="T0" fmla="*/ 0 w 727"/>
              <a:gd name="T1" fmla="*/ 2147483646 h 219"/>
              <a:gd name="T2" fmla="*/ 2147483646 w 727"/>
              <a:gd name="T3" fmla="*/ 2147483646 h 219"/>
              <a:gd name="T4" fmla="*/ 2147483646 w 727"/>
              <a:gd name="T5" fmla="*/ 2147483646 h 219"/>
              <a:gd name="T6" fmla="*/ 2147483646 w 727"/>
              <a:gd name="T7" fmla="*/ 2147483646 h 219"/>
              <a:gd name="T8" fmla="*/ 2147483646 w 727"/>
              <a:gd name="T9" fmla="*/ 2147483646 h 219"/>
              <a:gd name="T10" fmla="*/ 2147483646 w 727"/>
              <a:gd name="T11" fmla="*/ 2147483646 h 219"/>
              <a:gd name="T12" fmla="*/ 2147483646 w 727"/>
              <a:gd name="T13" fmla="*/ 2147483646 h 21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27" h="219">
                <a:moveTo>
                  <a:pt x="0" y="129"/>
                </a:moveTo>
                <a:cubicBezTo>
                  <a:pt x="24" y="114"/>
                  <a:pt x="107" y="58"/>
                  <a:pt x="145" y="38"/>
                </a:cubicBezTo>
                <a:cubicBezTo>
                  <a:pt x="183" y="18"/>
                  <a:pt x="202" y="15"/>
                  <a:pt x="229" y="9"/>
                </a:cubicBezTo>
                <a:cubicBezTo>
                  <a:pt x="256" y="3"/>
                  <a:pt x="282" y="3"/>
                  <a:pt x="307" y="3"/>
                </a:cubicBezTo>
                <a:cubicBezTo>
                  <a:pt x="332" y="3"/>
                  <a:pt x="353" y="0"/>
                  <a:pt x="382" y="6"/>
                </a:cubicBezTo>
                <a:cubicBezTo>
                  <a:pt x="411" y="12"/>
                  <a:pt x="423" y="3"/>
                  <a:pt x="481" y="39"/>
                </a:cubicBezTo>
                <a:cubicBezTo>
                  <a:pt x="539" y="75"/>
                  <a:pt x="676" y="182"/>
                  <a:pt x="727" y="21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4" name="Text Box 347"/>
          <p:cNvSpPr txBox="1">
            <a:spLocks noChangeArrowheads="1"/>
          </p:cNvSpPr>
          <p:nvPr/>
        </p:nvSpPr>
        <p:spPr bwMode="auto">
          <a:xfrm>
            <a:off x="4452133" y="268868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5" name="Text Box 348"/>
          <p:cNvSpPr txBox="1">
            <a:spLocks noChangeArrowheads="1"/>
          </p:cNvSpPr>
          <p:nvPr/>
        </p:nvSpPr>
        <p:spPr bwMode="auto">
          <a:xfrm>
            <a:off x="2363458" y="302133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6" name="Text Box 349"/>
          <p:cNvSpPr txBox="1">
            <a:spLocks noChangeArrowheads="1"/>
          </p:cNvSpPr>
          <p:nvPr/>
        </p:nvSpPr>
        <p:spPr bwMode="auto">
          <a:xfrm>
            <a:off x="6208592" y="281936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POP3</a:t>
            </a:r>
          </a:p>
        </p:txBody>
      </p:sp>
      <p:sp>
        <p:nvSpPr>
          <p:cNvPr id="357" name="Text Box 350"/>
          <p:cNvSpPr txBox="1">
            <a:spLocks noChangeArrowheads="1"/>
          </p:cNvSpPr>
          <p:nvPr/>
        </p:nvSpPr>
        <p:spPr bwMode="auto">
          <a:xfrm>
            <a:off x="3246958"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358" name="Line 351"/>
          <p:cNvSpPr>
            <a:spLocks noChangeShapeType="1"/>
          </p:cNvSpPr>
          <p:nvPr/>
        </p:nvSpPr>
        <p:spPr bwMode="auto">
          <a:xfrm flipH="1" flipV="1">
            <a:off x="6849663" y="3219256"/>
            <a:ext cx="85563" cy="67645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9" name="Line 352"/>
          <p:cNvSpPr>
            <a:spLocks noChangeShapeType="1"/>
          </p:cNvSpPr>
          <p:nvPr/>
        </p:nvSpPr>
        <p:spPr bwMode="auto">
          <a:xfrm flipV="1">
            <a:off x="2715460" y="3608588"/>
            <a:ext cx="386543" cy="356809"/>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0" name="Line 353"/>
          <p:cNvSpPr>
            <a:spLocks noChangeShapeType="1"/>
          </p:cNvSpPr>
          <p:nvPr/>
        </p:nvSpPr>
        <p:spPr bwMode="auto">
          <a:xfrm flipV="1">
            <a:off x="2119539" y="3330760"/>
            <a:ext cx="109722" cy="51291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1" name="Text Box 354"/>
          <p:cNvSpPr txBox="1">
            <a:spLocks noChangeArrowheads="1"/>
          </p:cNvSpPr>
          <p:nvPr/>
        </p:nvSpPr>
        <p:spPr bwMode="auto">
          <a:xfrm>
            <a:off x="1797420" y="3839482"/>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362" name="Text Box 355"/>
          <p:cNvSpPr txBox="1">
            <a:spLocks noChangeArrowheads="1"/>
          </p:cNvSpPr>
          <p:nvPr/>
        </p:nvSpPr>
        <p:spPr bwMode="auto">
          <a:xfrm>
            <a:off x="5421264" y="2611566"/>
            <a:ext cx="646331" cy="23083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用户邮箱</a:t>
            </a:r>
          </a:p>
        </p:txBody>
      </p:sp>
      <p:sp>
        <p:nvSpPr>
          <p:cNvPr id="363" name="Line 356"/>
          <p:cNvSpPr>
            <a:spLocks noChangeShapeType="1"/>
          </p:cNvSpPr>
          <p:nvPr/>
        </p:nvSpPr>
        <p:spPr bwMode="auto">
          <a:xfrm rot="10800000" flipH="1" flipV="1">
            <a:off x="5759489" y="2805767"/>
            <a:ext cx="278835" cy="26017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4" name="Text Box 357"/>
          <p:cNvSpPr txBox="1">
            <a:spLocks noChangeArrowheads="1"/>
          </p:cNvSpPr>
          <p:nvPr/>
        </p:nvSpPr>
        <p:spPr bwMode="auto">
          <a:xfrm>
            <a:off x="6898987" y="2789971"/>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p:txBody>
      </p:sp>
      <p:sp>
        <p:nvSpPr>
          <p:cNvPr id="365" name="Line 358"/>
          <p:cNvSpPr>
            <a:spLocks noChangeShapeType="1"/>
          </p:cNvSpPr>
          <p:nvPr/>
        </p:nvSpPr>
        <p:spPr bwMode="auto">
          <a:xfrm flipV="1">
            <a:off x="5517900" y="3761905"/>
            <a:ext cx="377484" cy="23601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6" name="Line 359"/>
          <p:cNvSpPr>
            <a:spLocks noChangeShapeType="1"/>
          </p:cNvSpPr>
          <p:nvPr/>
        </p:nvSpPr>
        <p:spPr bwMode="auto">
          <a:xfrm flipH="1" flipV="1">
            <a:off x="3295275" y="3786993"/>
            <a:ext cx="277828" cy="21743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7" name="Text Box 375"/>
          <p:cNvSpPr txBox="1">
            <a:spLocks noChangeArrowheads="1"/>
          </p:cNvSpPr>
          <p:nvPr/>
        </p:nvSpPr>
        <p:spPr bwMode="auto">
          <a:xfrm>
            <a:off x="2238321" y="2864306"/>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68" name="Text Box 376"/>
          <p:cNvSpPr txBox="1">
            <a:spLocks noChangeArrowheads="1"/>
          </p:cNvSpPr>
          <p:nvPr/>
        </p:nvSpPr>
        <p:spPr bwMode="auto">
          <a:xfrm>
            <a:off x="4248816" y="2525725"/>
            <a:ext cx="877163"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p>
        </p:txBody>
      </p:sp>
      <p:sp>
        <p:nvSpPr>
          <p:cNvPr id="369" name="Text Box 379"/>
          <p:cNvSpPr txBox="1">
            <a:spLocks noChangeArrowheads="1"/>
          </p:cNvSpPr>
          <p:nvPr/>
        </p:nvSpPr>
        <p:spPr bwMode="auto">
          <a:xfrm>
            <a:off x="6083622" y="2674751"/>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读取邮件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70" name="Text Box 384"/>
          <p:cNvSpPr txBox="1">
            <a:spLocks noChangeArrowheads="1"/>
          </p:cNvSpPr>
          <p:nvPr/>
        </p:nvSpPr>
        <p:spPr bwMode="auto">
          <a:xfrm>
            <a:off x="4364242" y="3331097"/>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互联网</a:t>
            </a:r>
          </a:p>
        </p:txBody>
      </p:sp>
      <p:sp>
        <p:nvSpPr>
          <p:cNvPr id="371" name="Rectangle 385"/>
          <p:cNvSpPr>
            <a:spLocks noChangeArrowheads="1"/>
          </p:cNvSpPr>
          <p:nvPr/>
        </p:nvSpPr>
        <p:spPr bwMode="auto">
          <a:xfrm>
            <a:off x="6814430" y="1445137"/>
            <a:ext cx="547603" cy="1011889"/>
          </a:xfrm>
          <a:prstGeom prst="rect">
            <a:avLst/>
          </a:prstGeom>
          <a:solidFill>
            <a:srgbClr val="00FFCC"/>
          </a:solidFill>
          <a:ln w="9525"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2" name="Rectangle 386"/>
          <p:cNvSpPr>
            <a:spLocks noChangeArrowheads="1"/>
          </p:cNvSpPr>
          <p:nvPr/>
        </p:nvSpPr>
        <p:spPr bwMode="auto">
          <a:xfrm>
            <a:off x="2842294" y="1438632"/>
            <a:ext cx="547603" cy="1018393"/>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3" name="Rectangle 387"/>
          <p:cNvSpPr>
            <a:spLocks noChangeArrowheads="1"/>
          </p:cNvSpPr>
          <p:nvPr/>
        </p:nvSpPr>
        <p:spPr bwMode="auto">
          <a:xfrm>
            <a:off x="1746082" y="1438632"/>
            <a:ext cx="547603" cy="1018393"/>
          </a:xfrm>
          <a:prstGeom prst="rect">
            <a:avLst/>
          </a:prstGeom>
          <a:solidFill>
            <a:srgbClr val="00FFCC"/>
          </a:solidFill>
          <a:ln w="9525">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4" name="Line 388"/>
          <p:cNvSpPr>
            <a:spLocks noChangeShapeType="1"/>
          </p:cNvSpPr>
          <p:nvPr/>
        </p:nvSpPr>
        <p:spPr bwMode="auto">
          <a:xfrm>
            <a:off x="2129605" y="1697876"/>
            <a:ext cx="757988"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75" name="Text Box 389"/>
          <p:cNvSpPr txBox="1">
            <a:spLocks noChangeArrowheads="1"/>
          </p:cNvSpPr>
          <p:nvPr/>
        </p:nvSpPr>
        <p:spPr bwMode="auto">
          <a:xfrm>
            <a:off x="2303061" y="1471491"/>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SMTP</a:t>
            </a:r>
          </a:p>
        </p:txBody>
      </p:sp>
      <p:sp>
        <p:nvSpPr>
          <p:cNvPr id="376" name="Text Box 390"/>
          <p:cNvSpPr txBox="1">
            <a:spLocks noChangeArrowheads="1"/>
          </p:cNvSpPr>
          <p:nvPr/>
        </p:nvSpPr>
        <p:spPr bwMode="auto">
          <a:xfrm>
            <a:off x="6268517" y="147069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POP3</a:t>
            </a:r>
          </a:p>
        </p:txBody>
      </p:sp>
      <p:sp>
        <p:nvSpPr>
          <p:cNvPr id="377" name="Text Box 391"/>
          <p:cNvSpPr txBox="1">
            <a:spLocks noChangeArrowheads="1"/>
          </p:cNvSpPr>
          <p:nvPr/>
        </p:nvSpPr>
        <p:spPr bwMode="auto">
          <a:xfrm>
            <a:off x="2319473" y="1178330"/>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78" name="Text Box 392"/>
          <p:cNvSpPr txBox="1">
            <a:spLocks noChangeArrowheads="1"/>
          </p:cNvSpPr>
          <p:nvPr/>
        </p:nvSpPr>
        <p:spPr bwMode="auto">
          <a:xfrm>
            <a:off x="3916093" y="1896419"/>
            <a:ext cx="1241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发送邮件 </a:t>
            </a:r>
            <a:r>
              <a:rPr kumimoji="1" lang="en-US" altLang="zh-CN" sz="1200" b="1" dirty="0">
                <a:solidFill>
                  <a:srgbClr val="C00000"/>
                </a:solidFill>
                <a:latin typeface="微软雅黑 Light" panose="020B0502040204020203" pitchFamily="34" charset="-122"/>
                <a:ea typeface="微软雅黑 Light" panose="020B0502040204020203" pitchFamily="34" charset="-122"/>
              </a:rPr>
              <a:t>SMTP</a:t>
            </a:r>
          </a:p>
        </p:txBody>
      </p:sp>
      <p:sp>
        <p:nvSpPr>
          <p:cNvPr id="379" name="Text Box 393"/>
          <p:cNvSpPr txBox="1">
            <a:spLocks noChangeArrowheads="1"/>
          </p:cNvSpPr>
          <p:nvPr/>
        </p:nvSpPr>
        <p:spPr bwMode="auto">
          <a:xfrm>
            <a:off x="6284273" y="119239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读取</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80" name="Text Box 394"/>
          <p:cNvSpPr txBox="1">
            <a:spLocks noChangeArrowheads="1"/>
          </p:cNvSpPr>
          <p:nvPr/>
        </p:nvSpPr>
        <p:spPr bwMode="auto">
          <a:xfrm>
            <a:off x="2330846" y="1717775"/>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1" name="Text Box 395"/>
          <p:cNvSpPr txBox="1">
            <a:spLocks noChangeArrowheads="1"/>
          </p:cNvSpPr>
          <p:nvPr/>
        </p:nvSpPr>
        <p:spPr bwMode="auto">
          <a:xfrm>
            <a:off x="6297159" y="170125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2" name="Text Box 396"/>
          <p:cNvSpPr txBox="1">
            <a:spLocks noChangeArrowheads="1"/>
          </p:cNvSpPr>
          <p:nvPr/>
        </p:nvSpPr>
        <p:spPr bwMode="auto">
          <a:xfrm>
            <a:off x="2736115"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3" name="Oval 397"/>
          <p:cNvSpPr>
            <a:spLocks noChangeArrowheads="1"/>
          </p:cNvSpPr>
          <p:nvPr/>
        </p:nvSpPr>
        <p:spPr bwMode="auto">
          <a:xfrm>
            <a:off x="1791380" y="1486950"/>
            <a:ext cx="456001"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4" name="Oval 398"/>
          <p:cNvSpPr>
            <a:spLocks noChangeArrowheads="1"/>
          </p:cNvSpPr>
          <p:nvPr/>
        </p:nvSpPr>
        <p:spPr bwMode="auto">
          <a:xfrm>
            <a:off x="6859729" y="1486950"/>
            <a:ext cx="456000"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5" name="Text Box 399"/>
          <p:cNvSpPr txBox="1">
            <a:spLocks noChangeArrowheads="1"/>
          </p:cNvSpPr>
          <p:nvPr/>
        </p:nvSpPr>
        <p:spPr bwMode="auto">
          <a:xfrm>
            <a:off x="1695592"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86" name="Text Box 400"/>
          <p:cNvSpPr txBox="1">
            <a:spLocks noChangeArrowheads="1"/>
          </p:cNvSpPr>
          <p:nvPr/>
        </p:nvSpPr>
        <p:spPr bwMode="auto">
          <a:xfrm>
            <a:off x="5621097"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7" name="Rectangle 401"/>
          <p:cNvSpPr>
            <a:spLocks noChangeArrowheads="1"/>
          </p:cNvSpPr>
          <p:nvPr/>
        </p:nvSpPr>
        <p:spPr bwMode="auto">
          <a:xfrm>
            <a:off x="5719224" y="1445137"/>
            <a:ext cx="547603" cy="101188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8" name="Oval 402"/>
          <p:cNvSpPr>
            <a:spLocks noChangeArrowheads="1"/>
          </p:cNvSpPr>
          <p:nvPr/>
        </p:nvSpPr>
        <p:spPr bwMode="auto">
          <a:xfrm>
            <a:off x="5764523" y="1950617"/>
            <a:ext cx="456000" cy="420923"/>
          </a:xfrm>
          <a:prstGeom prst="ellipse">
            <a:avLst/>
          </a:prstGeom>
          <a:solidFill>
            <a:schemeClr val="bg1"/>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89" name="Oval 403"/>
          <p:cNvSpPr>
            <a:spLocks noChangeArrowheads="1"/>
          </p:cNvSpPr>
          <p:nvPr/>
        </p:nvSpPr>
        <p:spPr bwMode="auto">
          <a:xfrm>
            <a:off x="5764523" y="1486950"/>
            <a:ext cx="456000" cy="420924"/>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0" name="Line 404"/>
          <p:cNvSpPr>
            <a:spLocks noChangeShapeType="1"/>
          </p:cNvSpPr>
          <p:nvPr/>
        </p:nvSpPr>
        <p:spPr bwMode="auto">
          <a:xfrm flipV="1">
            <a:off x="3298295" y="2161543"/>
            <a:ext cx="2465220"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1" name="Oval 405"/>
          <p:cNvSpPr>
            <a:spLocks noChangeArrowheads="1"/>
          </p:cNvSpPr>
          <p:nvPr/>
        </p:nvSpPr>
        <p:spPr bwMode="auto">
          <a:xfrm>
            <a:off x="2888599" y="1486950"/>
            <a:ext cx="456001" cy="420924"/>
          </a:xfrm>
          <a:prstGeom prst="ellipse">
            <a:avLst/>
          </a:prstGeom>
          <a:solidFill>
            <a:schemeClr val="bg1"/>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2" name="Oval 406"/>
          <p:cNvSpPr>
            <a:spLocks noChangeArrowheads="1"/>
          </p:cNvSpPr>
          <p:nvPr/>
        </p:nvSpPr>
        <p:spPr bwMode="auto">
          <a:xfrm>
            <a:off x="2888599" y="1950617"/>
            <a:ext cx="456001" cy="420923"/>
          </a:xfrm>
          <a:prstGeom prst="ellipse">
            <a:avLst/>
          </a:prstGeom>
          <a:solidFill>
            <a:srgbClr val="FFFF00"/>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93" name="Text Box 407"/>
          <p:cNvSpPr txBox="1">
            <a:spLocks noChangeArrowheads="1"/>
          </p:cNvSpPr>
          <p:nvPr/>
        </p:nvSpPr>
        <p:spPr bwMode="auto">
          <a:xfrm>
            <a:off x="6770220"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94" name="Line 408"/>
          <p:cNvSpPr>
            <a:spLocks noChangeShapeType="1"/>
          </p:cNvSpPr>
          <p:nvPr/>
        </p:nvSpPr>
        <p:spPr bwMode="auto">
          <a:xfrm flipV="1">
            <a:off x="6220523" y="1697876"/>
            <a:ext cx="639206"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5" name="Text Box 409"/>
          <p:cNvSpPr txBox="1">
            <a:spLocks noChangeArrowheads="1"/>
          </p:cNvSpPr>
          <p:nvPr/>
        </p:nvSpPr>
        <p:spPr bwMode="auto">
          <a:xfrm>
            <a:off x="4130961" y="2121283"/>
            <a:ext cx="83426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TCP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连接</a:t>
            </a:r>
          </a:p>
        </p:txBody>
      </p:sp>
      <p:sp>
        <p:nvSpPr>
          <p:cNvPr id="396" name="Text Box 399"/>
          <p:cNvSpPr txBox="1">
            <a:spLocks noChangeArrowheads="1"/>
          </p:cNvSpPr>
          <p:nvPr/>
        </p:nvSpPr>
        <p:spPr bwMode="auto">
          <a:xfrm>
            <a:off x="1096459" y="1081823"/>
            <a:ext cx="53091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发件人</a:t>
            </a:r>
          </a:p>
        </p:txBody>
      </p:sp>
      <p:grpSp>
        <p:nvGrpSpPr>
          <p:cNvPr id="254" name="Group 247"/>
          <p:cNvGrpSpPr>
            <a:grpSpLocks/>
          </p:cNvGrpSpPr>
          <p:nvPr/>
        </p:nvGrpSpPr>
        <p:grpSpPr bwMode="auto">
          <a:xfrm>
            <a:off x="6953345" y="3397662"/>
            <a:ext cx="350305" cy="144024"/>
            <a:chOff x="5266" y="2029"/>
            <a:chExt cx="348" cy="155"/>
          </a:xfrm>
        </p:grpSpPr>
        <p:sp>
          <p:nvSpPr>
            <p:cNvPr id="255" name="Freeform 248"/>
            <p:cNvSpPr>
              <a:spLocks/>
            </p:cNvSpPr>
            <p:nvPr/>
          </p:nvSpPr>
          <p:spPr bwMode="auto">
            <a:xfrm>
              <a:off x="5266" y="2029"/>
              <a:ext cx="348" cy="155"/>
            </a:xfrm>
            <a:custGeom>
              <a:avLst/>
              <a:gdLst>
                <a:gd name="T0" fmla="*/ 0 w 2091"/>
                <a:gd name="T1" fmla="*/ 0 h 931"/>
                <a:gd name="T2" fmla="*/ 0 w 2091"/>
                <a:gd name="T3" fmla="*/ 0 h 931"/>
                <a:gd name="T4" fmla="*/ 0 w 2091"/>
                <a:gd name="T5" fmla="*/ 0 h 931"/>
                <a:gd name="T6" fmla="*/ 0 w 2091"/>
                <a:gd name="T7" fmla="*/ 0 h 931"/>
                <a:gd name="T8" fmla="*/ 0 w 2091"/>
                <a:gd name="T9" fmla="*/ 0 h 931"/>
                <a:gd name="T10" fmla="*/ 0 w 2091"/>
                <a:gd name="T11" fmla="*/ 0 h 931"/>
                <a:gd name="T12" fmla="*/ 0 w 2091"/>
                <a:gd name="T13" fmla="*/ 0 h 931"/>
                <a:gd name="T14" fmla="*/ 0 w 2091"/>
                <a:gd name="T15" fmla="*/ 0 h 931"/>
                <a:gd name="T16" fmla="*/ 0 w 2091"/>
                <a:gd name="T17" fmla="*/ 0 h 931"/>
                <a:gd name="T18" fmla="*/ 0 w 2091"/>
                <a:gd name="T19" fmla="*/ 0 h 931"/>
                <a:gd name="T20" fmla="*/ 0 w 2091"/>
                <a:gd name="T21" fmla="*/ 0 h 931"/>
                <a:gd name="T22" fmla="*/ 0 w 2091"/>
                <a:gd name="T23" fmla="*/ 0 h 931"/>
                <a:gd name="T24" fmla="*/ 0 w 2091"/>
                <a:gd name="T25" fmla="*/ 0 h 931"/>
                <a:gd name="T26" fmla="*/ 0 w 2091"/>
                <a:gd name="T27" fmla="*/ 0 h 931"/>
                <a:gd name="T28" fmla="*/ 0 w 2091"/>
                <a:gd name="T29" fmla="*/ 0 h 931"/>
                <a:gd name="T30" fmla="*/ 0 w 2091"/>
                <a:gd name="T31" fmla="*/ 0 h 931"/>
                <a:gd name="T32" fmla="*/ 0 w 2091"/>
                <a:gd name="T33" fmla="*/ 0 h 931"/>
                <a:gd name="T34" fmla="*/ 0 w 2091"/>
                <a:gd name="T35" fmla="*/ 0 h 931"/>
                <a:gd name="T36" fmla="*/ 0 w 2091"/>
                <a:gd name="T37" fmla="*/ 0 h 931"/>
                <a:gd name="T38" fmla="*/ 0 w 2091"/>
                <a:gd name="T39" fmla="*/ 0 h 931"/>
                <a:gd name="T40" fmla="*/ 0 w 2091"/>
                <a:gd name="T41" fmla="*/ 0 h 931"/>
                <a:gd name="T42" fmla="*/ 0 w 2091"/>
                <a:gd name="T43" fmla="*/ 0 h 931"/>
                <a:gd name="T44" fmla="*/ 0 w 2091"/>
                <a:gd name="T45" fmla="*/ 0 h 931"/>
                <a:gd name="T46" fmla="*/ 0 w 2091"/>
                <a:gd name="T47" fmla="*/ 0 h 931"/>
                <a:gd name="T48" fmla="*/ 0 w 2091"/>
                <a:gd name="T49" fmla="*/ 0 h 931"/>
                <a:gd name="T50" fmla="*/ 0 w 2091"/>
                <a:gd name="T51" fmla="*/ 0 h 931"/>
                <a:gd name="T52" fmla="*/ 0 w 2091"/>
                <a:gd name="T53" fmla="*/ 0 h 931"/>
                <a:gd name="T54" fmla="*/ 0 w 2091"/>
                <a:gd name="T55" fmla="*/ 0 h 931"/>
                <a:gd name="T56" fmla="*/ 0 w 2091"/>
                <a:gd name="T57" fmla="*/ 0 h 931"/>
                <a:gd name="T58" fmla="*/ 0 w 2091"/>
                <a:gd name="T59" fmla="*/ 0 h 931"/>
                <a:gd name="T60" fmla="*/ 0 w 2091"/>
                <a:gd name="T61" fmla="*/ 0 h 931"/>
                <a:gd name="T62" fmla="*/ 0 w 2091"/>
                <a:gd name="T63" fmla="*/ 0 h 931"/>
                <a:gd name="T64" fmla="*/ 0 w 2091"/>
                <a:gd name="T65" fmla="*/ 0 h 931"/>
                <a:gd name="T66" fmla="*/ 0 w 2091"/>
                <a:gd name="T67" fmla="*/ 0 h 931"/>
                <a:gd name="T68" fmla="*/ 0 w 2091"/>
                <a:gd name="T69" fmla="*/ 0 h 931"/>
                <a:gd name="T70" fmla="*/ 0 w 2091"/>
                <a:gd name="T71" fmla="*/ 0 h 931"/>
                <a:gd name="T72" fmla="*/ 0 w 2091"/>
                <a:gd name="T73" fmla="*/ 0 h 931"/>
                <a:gd name="T74" fmla="*/ 0 w 2091"/>
                <a:gd name="T75" fmla="*/ 0 h 931"/>
                <a:gd name="T76" fmla="*/ 0 w 2091"/>
                <a:gd name="T77" fmla="*/ 0 h 931"/>
                <a:gd name="T78" fmla="*/ 0 w 2091"/>
                <a:gd name="T79" fmla="*/ 0 h 931"/>
                <a:gd name="T80" fmla="*/ 0 w 2091"/>
                <a:gd name="T81" fmla="*/ 0 h 931"/>
                <a:gd name="T82" fmla="*/ 0 w 2091"/>
                <a:gd name="T83" fmla="*/ 0 h 931"/>
                <a:gd name="T84" fmla="*/ 0 w 2091"/>
                <a:gd name="T85" fmla="*/ 0 h 931"/>
                <a:gd name="T86" fmla="*/ 0 w 2091"/>
                <a:gd name="T87" fmla="*/ 0 h 931"/>
                <a:gd name="T88" fmla="*/ 0 w 2091"/>
                <a:gd name="T89" fmla="*/ 0 h 931"/>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0" t="0" r="r" b="b"/>
              <a:pathLst>
                <a:path w="2091" h="931">
                  <a:moveTo>
                    <a:pt x="182" y="927"/>
                  </a:moveTo>
                  <a:lnTo>
                    <a:pt x="5" y="905"/>
                  </a:lnTo>
                  <a:lnTo>
                    <a:pt x="0" y="695"/>
                  </a:lnTo>
                  <a:lnTo>
                    <a:pt x="9" y="537"/>
                  </a:lnTo>
                  <a:lnTo>
                    <a:pt x="100" y="442"/>
                  </a:lnTo>
                  <a:lnTo>
                    <a:pt x="210" y="387"/>
                  </a:lnTo>
                  <a:lnTo>
                    <a:pt x="460" y="296"/>
                  </a:lnTo>
                  <a:lnTo>
                    <a:pt x="828" y="207"/>
                  </a:lnTo>
                  <a:lnTo>
                    <a:pt x="900" y="201"/>
                  </a:lnTo>
                  <a:lnTo>
                    <a:pt x="948" y="207"/>
                  </a:lnTo>
                  <a:lnTo>
                    <a:pt x="960" y="188"/>
                  </a:lnTo>
                  <a:lnTo>
                    <a:pt x="980" y="169"/>
                  </a:lnTo>
                  <a:lnTo>
                    <a:pt x="1003" y="173"/>
                  </a:lnTo>
                  <a:lnTo>
                    <a:pt x="1035" y="176"/>
                  </a:lnTo>
                  <a:lnTo>
                    <a:pt x="1049" y="138"/>
                  </a:lnTo>
                  <a:lnTo>
                    <a:pt x="1077" y="118"/>
                  </a:lnTo>
                  <a:lnTo>
                    <a:pt x="1106" y="112"/>
                  </a:lnTo>
                  <a:lnTo>
                    <a:pt x="1144" y="112"/>
                  </a:lnTo>
                  <a:lnTo>
                    <a:pt x="1138" y="82"/>
                  </a:lnTo>
                  <a:lnTo>
                    <a:pt x="1182" y="0"/>
                  </a:lnTo>
                  <a:lnTo>
                    <a:pt x="2040" y="22"/>
                  </a:lnTo>
                  <a:lnTo>
                    <a:pt x="2037" y="110"/>
                  </a:lnTo>
                  <a:lnTo>
                    <a:pt x="2053" y="188"/>
                  </a:lnTo>
                  <a:lnTo>
                    <a:pt x="2065" y="244"/>
                  </a:lnTo>
                  <a:lnTo>
                    <a:pt x="2080" y="314"/>
                  </a:lnTo>
                  <a:lnTo>
                    <a:pt x="2091" y="427"/>
                  </a:lnTo>
                  <a:lnTo>
                    <a:pt x="2077" y="494"/>
                  </a:lnTo>
                  <a:lnTo>
                    <a:pt x="2053" y="557"/>
                  </a:lnTo>
                  <a:lnTo>
                    <a:pt x="2023" y="610"/>
                  </a:lnTo>
                  <a:lnTo>
                    <a:pt x="1983" y="629"/>
                  </a:lnTo>
                  <a:lnTo>
                    <a:pt x="1921" y="648"/>
                  </a:lnTo>
                  <a:lnTo>
                    <a:pt x="1838" y="673"/>
                  </a:lnTo>
                  <a:lnTo>
                    <a:pt x="1801" y="717"/>
                  </a:lnTo>
                  <a:lnTo>
                    <a:pt x="1757" y="754"/>
                  </a:lnTo>
                  <a:lnTo>
                    <a:pt x="1686" y="786"/>
                  </a:lnTo>
                  <a:lnTo>
                    <a:pt x="1605" y="812"/>
                  </a:lnTo>
                  <a:lnTo>
                    <a:pt x="1475" y="827"/>
                  </a:lnTo>
                  <a:lnTo>
                    <a:pt x="1364" y="827"/>
                  </a:lnTo>
                  <a:lnTo>
                    <a:pt x="1279" y="818"/>
                  </a:lnTo>
                  <a:lnTo>
                    <a:pt x="1202" y="812"/>
                  </a:lnTo>
                  <a:lnTo>
                    <a:pt x="1144" y="843"/>
                  </a:lnTo>
                  <a:lnTo>
                    <a:pt x="1031" y="837"/>
                  </a:lnTo>
                  <a:lnTo>
                    <a:pt x="582" y="901"/>
                  </a:lnTo>
                  <a:lnTo>
                    <a:pt x="386" y="931"/>
                  </a:lnTo>
                  <a:lnTo>
                    <a:pt x="182" y="927"/>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6" name="Freeform 249"/>
            <p:cNvSpPr>
              <a:spLocks/>
            </p:cNvSpPr>
            <p:nvPr/>
          </p:nvSpPr>
          <p:spPr bwMode="auto">
            <a:xfrm>
              <a:off x="5268" y="2043"/>
              <a:ext cx="342" cy="138"/>
            </a:xfrm>
            <a:custGeom>
              <a:avLst/>
              <a:gdLst>
                <a:gd name="T0" fmla="*/ 0 w 2049"/>
                <a:gd name="T1" fmla="*/ 0 h 829"/>
                <a:gd name="T2" fmla="*/ 0 w 2049"/>
                <a:gd name="T3" fmla="*/ 0 h 829"/>
                <a:gd name="T4" fmla="*/ 0 w 2049"/>
                <a:gd name="T5" fmla="*/ 0 h 829"/>
                <a:gd name="T6" fmla="*/ 0 w 2049"/>
                <a:gd name="T7" fmla="*/ 0 h 829"/>
                <a:gd name="T8" fmla="*/ 0 w 2049"/>
                <a:gd name="T9" fmla="*/ 0 h 829"/>
                <a:gd name="T10" fmla="*/ 0 w 2049"/>
                <a:gd name="T11" fmla="*/ 0 h 829"/>
                <a:gd name="T12" fmla="*/ 0 w 2049"/>
                <a:gd name="T13" fmla="*/ 0 h 829"/>
                <a:gd name="T14" fmla="*/ 0 w 2049"/>
                <a:gd name="T15" fmla="*/ 0 h 829"/>
                <a:gd name="T16" fmla="*/ 0 w 2049"/>
                <a:gd name="T17" fmla="*/ 0 h 829"/>
                <a:gd name="T18" fmla="*/ 0 w 2049"/>
                <a:gd name="T19" fmla="*/ 0 h 829"/>
                <a:gd name="T20" fmla="*/ 0 w 2049"/>
                <a:gd name="T21" fmla="*/ 0 h 829"/>
                <a:gd name="T22" fmla="*/ 0 w 2049"/>
                <a:gd name="T23" fmla="*/ 0 h 829"/>
                <a:gd name="T24" fmla="*/ 0 w 2049"/>
                <a:gd name="T25" fmla="*/ 0 h 829"/>
                <a:gd name="T26" fmla="*/ 0 w 2049"/>
                <a:gd name="T27" fmla="*/ 0 h 829"/>
                <a:gd name="T28" fmla="*/ 0 w 2049"/>
                <a:gd name="T29" fmla="*/ 0 h 829"/>
                <a:gd name="T30" fmla="*/ 0 w 2049"/>
                <a:gd name="T31" fmla="*/ 0 h 829"/>
                <a:gd name="T32" fmla="*/ 0 w 2049"/>
                <a:gd name="T33" fmla="*/ 0 h 829"/>
                <a:gd name="T34" fmla="*/ 0 w 2049"/>
                <a:gd name="T35" fmla="*/ 0 h 829"/>
                <a:gd name="T36" fmla="*/ 0 w 2049"/>
                <a:gd name="T37" fmla="*/ 0 h 829"/>
                <a:gd name="T38" fmla="*/ 0 w 2049"/>
                <a:gd name="T39" fmla="*/ 0 h 829"/>
                <a:gd name="T40" fmla="*/ 0 w 2049"/>
                <a:gd name="T41" fmla="*/ 0 h 829"/>
                <a:gd name="T42" fmla="*/ 0 w 2049"/>
                <a:gd name="T43" fmla="*/ 0 h 829"/>
                <a:gd name="T44" fmla="*/ 0 w 2049"/>
                <a:gd name="T45" fmla="*/ 0 h 829"/>
                <a:gd name="T46" fmla="*/ 0 w 2049"/>
                <a:gd name="T47" fmla="*/ 0 h 829"/>
                <a:gd name="T48" fmla="*/ 0 w 2049"/>
                <a:gd name="T49" fmla="*/ 0 h 829"/>
                <a:gd name="T50" fmla="*/ 0 w 2049"/>
                <a:gd name="T51" fmla="*/ 0 h 829"/>
                <a:gd name="T52" fmla="*/ 0 w 2049"/>
                <a:gd name="T53" fmla="*/ 0 h 829"/>
                <a:gd name="T54" fmla="*/ 0 w 2049"/>
                <a:gd name="T55" fmla="*/ 0 h 829"/>
                <a:gd name="T56" fmla="*/ 0 w 2049"/>
                <a:gd name="T57" fmla="*/ 0 h 829"/>
                <a:gd name="T58" fmla="*/ 0 w 2049"/>
                <a:gd name="T59" fmla="*/ 0 h 829"/>
                <a:gd name="T60" fmla="*/ 0 w 2049"/>
                <a:gd name="T61" fmla="*/ 0 h 829"/>
                <a:gd name="T62" fmla="*/ 0 w 2049"/>
                <a:gd name="T63" fmla="*/ 0 h 829"/>
                <a:gd name="T64" fmla="*/ 0 w 2049"/>
                <a:gd name="T65" fmla="*/ 0 h 829"/>
                <a:gd name="T66" fmla="*/ 0 w 2049"/>
                <a:gd name="T67" fmla="*/ 0 h 829"/>
                <a:gd name="T68" fmla="*/ 0 w 2049"/>
                <a:gd name="T69" fmla="*/ 0 h 829"/>
                <a:gd name="T70" fmla="*/ 0 w 2049"/>
                <a:gd name="T71" fmla="*/ 0 h 829"/>
                <a:gd name="T72" fmla="*/ 0 w 2049"/>
                <a:gd name="T73" fmla="*/ 0 h 829"/>
                <a:gd name="T74" fmla="*/ 0 w 2049"/>
                <a:gd name="T75" fmla="*/ 0 h 829"/>
                <a:gd name="T76" fmla="*/ 0 w 2049"/>
                <a:gd name="T77" fmla="*/ 0 h 829"/>
                <a:gd name="T78" fmla="*/ 0 w 2049"/>
                <a:gd name="T79" fmla="*/ 0 h 829"/>
                <a:gd name="T80" fmla="*/ 0 w 2049"/>
                <a:gd name="T81" fmla="*/ 0 h 829"/>
                <a:gd name="T82" fmla="*/ 0 w 2049"/>
                <a:gd name="T83" fmla="*/ 0 h 829"/>
                <a:gd name="T84" fmla="*/ 0 w 2049"/>
                <a:gd name="T85" fmla="*/ 0 h 829"/>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0" t="0" r="r" b="b"/>
              <a:pathLst>
                <a:path w="2049" h="829">
                  <a:moveTo>
                    <a:pt x="1982" y="31"/>
                  </a:moveTo>
                  <a:lnTo>
                    <a:pt x="1986" y="90"/>
                  </a:lnTo>
                  <a:lnTo>
                    <a:pt x="2010" y="67"/>
                  </a:lnTo>
                  <a:lnTo>
                    <a:pt x="2037" y="199"/>
                  </a:lnTo>
                  <a:lnTo>
                    <a:pt x="2049" y="353"/>
                  </a:lnTo>
                  <a:lnTo>
                    <a:pt x="1995" y="512"/>
                  </a:lnTo>
                  <a:lnTo>
                    <a:pt x="1868" y="549"/>
                  </a:lnTo>
                  <a:lnTo>
                    <a:pt x="1882" y="512"/>
                  </a:lnTo>
                  <a:lnTo>
                    <a:pt x="1814" y="567"/>
                  </a:lnTo>
                  <a:lnTo>
                    <a:pt x="1754" y="624"/>
                  </a:lnTo>
                  <a:lnTo>
                    <a:pt x="1622" y="688"/>
                  </a:lnTo>
                  <a:lnTo>
                    <a:pt x="1460" y="701"/>
                  </a:lnTo>
                  <a:lnTo>
                    <a:pt x="1264" y="710"/>
                  </a:lnTo>
                  <a:lnTo>
                    <a:pt x="1181" y="701"/>
                  </a:lnTo>
                  <a:lnTo>
                    <a:pt x="1255" y="669"/>
                  </a:lnTo>
                  <a:lnTo>
                    <a:pt x="1287" y="589"/>
                  </a:lnTo>
                  <a:lnTo>
                    <a:pt x="1228" y="656"/>
                  </a:lnTo>
                  <a:lnTo>
                    <a:pt x="1155" y="697"/>
                  </a:lnTo>
                  <a:lnTo>
                    <a:pt x="1086" y="733"/>
                  </a:lnTo>
                  <a:lnTo>
                    <a:pt x="1017" y="724"/>
                  </a:lnTo>
                  <a:lnTo>
                    <a:pt x="1063" y="692"/>
                  </a:lnTo>
                  <a:lnTo>
                    <a:pt x="1109" y="652"/>
                  </a:lnTo>
                  <a:lnTo>
                    <a:pt x="1036" y="678"/>
                  </a:lnTo>
                  <a:lnTo>
                    <a:pt x="963" y="733"/>
                  </a:lnTo>
                  <a:lnTo>
                    <a:pt x="726" y="761"/>
                  </a:lnTo>
                  <a:lnTo>
                    <a:pt x="491" y="797"/>
                  </a:lnTo>
                  <a:lnTo>
                    <a:pt x="409" y="793"/>
                  </a:lnTo>
                  <a:lnTo>
                    <a:pt x="495" y="742"/>
                  </a:lnTo>
                  <a:lnTo>
                    <a:pt x="581" y="724"/>
                  </a:lnTo>
                  <a:lnTo>
                    <a:pt x="486" y="720"/>
                  </a:lnTo>
                  <a:lnTo>
                    <a:pt x="414" y="752"/>
                  </a:lnTo>
                  <a:lnTo>
                    <a:pt x="319" y="815"/>
                  </a:lnTo>
                  <a:lnTo>
                    <a:pt x="386" y="720"/>
                  </a:lnTo>
                  <a:lnTo>
                    <a:pt x="473" y="669"/>
                  </a:lnTo>
                  <a:lnTo>
                    <a:pt x="359" y="692"/>
                  </a:lnTo>
                  <a:lnTo>
                    <a:pt x="300" y="765"/>
                  </a:lnTo>
                  <a:lnTo>
                    <a:pt x="287" y="829"/>
                  </a:lnTo>
                  <a:lnTo>
                    <a:pt x="214" y="742"/>
                  </a:lnTo>
                  <a:lnTo>
                    <a:pt x="140" y="701"/>
                  </a:lnTo>
                  <a:lnTo>
                    <a:pt x="182" y="746"/>
                  </a:lnTo>
                  <a:lnTo>
                    <a:pt x="241" y="829"/>
                  </a:lnTo>
                  <a:lnTo>
                    <a:pt x="59" y="793"/>
                  </a:lnTo>
                  <a:lnTo>
                    <a:pt x="23" y="778"/>
                  </a:lnTo>
                  <a:lnTo>
                    <a:pt x="0" y="674"/>
                  </a:lnTo>
                  <a:lnTo>
                    <a:pt x="13" y="530"/>
                  </a:lnTo>
                  <a:lnTo>
                    <a:pt x="40" y="435"/>
                  </a:lnTo>
                  <a:lnTo>
                    <a:pt x="155" y="362"/>
                  </a:lnTo>
                  <a:lnTo>
                    <a:pt x="296" y="298"/>
                  </a:lnTo>
                  <a:lnTo>
                    <a:pt x="572" y="207"/>
                  </a:lnTo>
                  <a:lnTo>
                    <a:pt x="795" y="145"/>
                  </a:lnTo>
                  <a:lnTo>
                    <a:pt x="917" y="135"/>
                  </a:lnTo>
                  <a:lnTo>
                    <a:pt x="968" y="207"/>
                  </a:lnTo>
                  <a:lnTo>
                    <a:pt x="1123" y="285"/>
                  </a:lnTo>
                  <a:lnTo>
                    <a:pt x="1040" y="217"/>
                  </a:lnTo>
                  <a:lnTo>
                    <a:pt x="977" y="182"/>
                  </a:lnTo>
                  <a:lnTo>
                    <a:pt x="953" y="131"/>
                  </a:lnTo>
                  <a:lnTo>
                    <a:pt x="963" y="108"/>
                  </a:lnTo>
                  <a:lnTo>
                    <a:pt x="1008" y="108"/>
                  </a:lnTo>
                  <a:lnTo>
                    <a:pt x="1036" y="135"/>
                  </a:lnTo>
                  <a:lnTo>
                    <a:pt x="1063" y="163"/>
                  </a:lnTo>
                  <a:lnTo>
                    <a:pt x="1132" y="190"/>
                  </a:lnTo>
                  <a:lnTo>
                    <a:pt x="1068" y="135"/>
                  </a:lnTo>
                  <a:lnTo>
                    <a:pt x="1040" y="95"/>
                  </a:lnTo>
                  <a:lnTo>
                    <a:pt x="1059" y="67"/>
                  </a:lnTo>
                  <a:lnTo>
                    <a:pt x="1113" y="50"/>
                  </a:lnTo>
                  <a:lnTo>
                    <a:pt x="1186" y="113"/>
                  </a:lnTo>
                  <a:lnTo>
                    <a:pt x="1255" y="154"/>
                  </a:lnTo>
                  <a:lnTo>
                    <a:pt x="1173" y="63"/>
                  </a:lnTo>
                  <a:lnTo>
                    <a:pt x="1145" y="27"/>
                  </a:lnTo>
                  <a:lnTo>
                    <a:pt x="1145" y="0"/>
                  </a:lnTo>
                  <a:lnTo>
                    <a:pt x="1213" y="10"/>
                  </a:lnTo>
                  <a:lnTo>
                    <a:pt x="1277" y="54"/>
                  </a:lnTo>
                  <a:lnTo>
                    <a:pt x="1319" y="86"/>
                  </a:lnTo>
                  <a:lnTo>
                    <a:pt x="1514" y="104"/>
                  </a:lnTo>
                  <a:lnTo>
                    <a:pt x="1508" y="54"/>
                  </a:lnTo>
                  <a:lnTo>
                    <a:pt x="1567" y="35"/>
                  </a:lnTo>
                  <a:lnTo>
                    <a:pt x="1567" y="99"/>
                  </a:lnTo>
                  <a:lnTo>
                    <a:pt x="1626" y="113"/>
                  </a:lnTo>
                  <a:lnTo>
                    <a:pt x="1754" y="131"/>
                  </a:lnTo>
                  <a:lnTo>
                    <a:pt x="1745" y="63"/>
                  </a:lnTo>
                  <a:lnTo>
                    <a:pt x="1790" y="63"/>
                  </a:lnTo>
                  <a:lnTo>
                    <a:pt x="1795" y="131"/>
                  </a:lnTo>
                  <a:lnTo>
                    <a:pt x="1868" y="127"/>
                  </a:lnTo>
                  <a:lnTo>
                    <a:pt x="1946" y="108"/>
                  </a:lnTo>
                  <a:lnTo>
                    <a:pt x="1950" y="54"/>
                  </a:lnTo>
                  <a:lnTo>
                    <a:pt x="1982"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7" name="Freeform 250"/>
            <p:cNvSpPr>
              <a:spLocks/>
            </p:cNvSpPr>
            <p:nvPr/>
          </p:nvSpPr>
          <p:spPr bwMode="auto">
            <a:xfrm>
              <a:off x="5515" y="2093"/>
              <a:ext cx="47" cy="8"/>
            </a:xfrm>
            <a:custGeom>
              <a:avLst/>
              <a:gdLst>
                <a:gd name="T0" fmla="*/ 0 w 280"/>
                <a:gd name="T1" fmla="*/ 0 h 48"/>
                <a:gd name="T2" fmla="*/ 0 w 280"/>
                <a:gd name="T3" fmla="*/ 0 h 48"/>
                <a:gd name="T4" fmla="*/ 0 w 280"/>
                <a:gd name="T5" fmla="*/ 0 h 48"/>
                <a:gd name="T6" fmla="*/ 0 w 280"/>
                <a:gd name="T7" fmla="*/ 0 h 4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80" h="48">
                  <a:moveTo>
                    <a:pt x="280" y="0"/>
                  </a:moveTo>
                  <a:lnTo>
                    <a:pt x="149" y="48"/>
                  </a:lnTo>
                  <a:lnTo>
                    <a:pt x="0" y="35"/>
                  </a:lnTo>
                  <a:lnTo>
                    <a:pt x="28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8" name="Freeform 251"/>
            <p:cNvSpPr>
              <a:spLocks/>
            </p:cNvSpPr>
            <p:nvPr/>
          </p:nvSpPr>
          <p:spPr bwMode="auto">
            <a:xfrm>
              <a:off x="5580" y="2080"/>
              <a:ext cx="28" cy="10"/>
            </a:xfrm>
            <a:custGeom>
              <a:avLst/>
              <a:gdLst>
                <a:gd name="T0" fmla="*/ 0 w 170"/>
                <a:gd name="T1" fmla="*/ 0 h 57"/>
                <a:gd name="T2" fmla="*/ 0 w 170"/>
                <a:gd name="T3" fmla="*/ 0 h 57"/>
                <a:gd name="T4" fmla="*/ 0 w 170"/>
                <a:gd name="T5" fmla="*/ 0 h 57"/>
                <a:gd name="T6" fmla="*/ 0 w 170"/>
                <a:gd name="T7" fmla="*/ 0 h 57"/>
                <a:gd name="T8" fmla="*/ 0 w 170"/>
                <a:gd name="T9" fmla="*/ 0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0" h="57">
                  <a:moveTo>
                    <a:pt x="170" y="0"/>
                  </a:moveTo>
                  <a:lnTo>
                    <a:pt x="125" y="35"/>
                  </a:lnTo>
                  <a:lnTo>
                    <a:pt x="0" y="53"/>
                  </a:lnTo>
                  <a:lnTo>
                    <a:pt x="130" y="57"/>
                  </a:lnTo>
                  <a:lnTo>
                    <a:pt x="17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9" name="Freeform 252"/>
            <p:cNvSpPr>
              <a:spLocks/>
            </p:cNvSpPr>
            <p:nvPr/>
          </p:nvSpPr>
          <p:spPr bwMode="auto">
            <a:xfrm>
              <a:off x="5445" y="2073"/>
              <a:ext cx="44" cy="24"/>
            </a:xfrm>
            <a:custGeom>
              <a:avLst/>
              <a:gdLst>
                <a:gd name="T0" fmla="*/ 0 w 263"/>
                <a:gd name="T1" fmla="*/ 0 h 143"/>
                <a:gd name="T2" fmla="*/ 0 w 263"/>
                <a:gd name="T3" fmla="*/ 0 h 143"/>
                <a:gd name="T4" fmla="*/ 0 w 263"/>
                <a:gd name="T5" fmla="*/ 0 h 143"/>
                <a:gd name="T6" fmla="*/ 0 w 263"/>
                <a:gd name="T7" fmla="*/ 0 h 143"/>
                <a:gd name="T8" fmla="*/ 0 w 263"/>
                <a:gd name="T9" fmla="*/ 0 h 143"/>
                <a:gd name="T10" fmla="*/ 0 w 263"/>
                <a:gd name="T11" fmla="*/ 0 h 143"/>
                <a:gd name="T12" fmla="*/ 0 w 263"/>
                <a:gd name="T13" fmla="*/ 0 h 143"/>
                <a:gd name="T14" fmla="*/ 0 w 263"/>
                <a:gd name="T15" fmla="*/ 0 h 143"/>
                <a:gd name="T16" fmla="*/ 0 w 263"/>
                <a:gd name="T17" fmla="*/ 0 h 143"/>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263" h="143">
                  <a:moveTo>
                    <a:pt x="263" y="0"/>
                  </a:moveTo>
                  <a:lnTo>
                    <a:pt x="145" y="13"/>
                  </a:lnTo>
                  <a:lnTo>
                    <a:pt x="122" y="31"/>
                  </a:lnTo>
                  <a:lnTo>
                    <a:pt x="122" y="76"/>
                  </a:lnTo>
                  <a:lnTo>
                    <a:pt x="113" y="124"/>
                  </a:lnTo>
                  <a:lnTo>
                    <a:pt x="0" y="143"/>
                  </a:lnTo>
                  <a:lnTo>
                    <a:pt x="136" y="138"/>
                  </a:lnTo>
                  <a:lnTo>
                    <a:pt x="159" y="48"/>
                  </a:lnTo>
                  <a:lnTo>
                    <a:pt x="26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0" name="Freeform 253"/>
            <p:cNvSpPr>
              <a:spLocks/>
            </p:cNvSpPr>
            <p:nvPr/>
          </p:nvSpPr>
          <p:spPr bwMode="auto">
            <a:xfrm>
              <a:off x="5303" y="2127"/>
              <a:ext cx="142" cy="35"/>
            </a:xfrm>
            <a:custGeom>
              <a:avLst/>
              <a:gdLst>
                <a:gd name="T0" fmla="*/ 0 w 853"/>
                <a:gd name="T1" fmla="*/ 0 h 212"/>
                <a:gd name="T2" fmla="*/ 0 w 853"/>
                <a:gd name="T3" fmla="*/ 0 h 212"/>
                <a:gd name="T4" fmla="*/ 0 w 853"/>
                <a:gd name="T5" fmla="*/ 0 h 212"/>
                <a:gd name="T6" fmla="*/ 0 w 853"/>
                <a:gd name="T7" fmla="*/ 0 h 212"/>
                <a:gd name="T8" fmla="*/ 0 w 853"/>
                <a:gd name="T9" fmla="*/ 0 h 212"/>
                <a:gd name="T10" fmla="*/ 0 w 853"/>
                <a:gd name="T11" fmla="*/ 0 h 212"/>
                <a:gd name="T12" fmla="*/ 0 w 853"/>
                <a:gd name="T13" fmla="*/ 0 h 212"/>
                <a:gd name="T14" fmla="*/ 0 w 853"/>
                <a:gd name="T15" fmla="*/ 0 h 212"/>
                <a:gd name="T16" fmla="*/ 0 w 853"/>
                <a:gd name="T17" fmla="*/ 0 h 212"/>
                <a:gd name="T18" fmla="*/ 0 w 853"/>
                <a:gd name="T19" fmla="*/ 0 h 212"/>
                <a:gd name="T20" fmla="*/ 0 w 853"/>
                <a:gd name="T21" fmla="*/ 0 h 212"/>
                <a:gd name="T22" fmla="*/ 0 w 853"/>
                <a:gd name="T23" fmla="*/ 0 h 212"/>
                <a:gd name="T24" fmla="*/ 0 w 853"/>
                <a:gd name="T25" fmla="*/ 0 h 212"/>
                <a:gd name="T26" fmla="*/ 0 w 853"/>
                <a:gd name="T27" fmla="*/ 0 h 212"/>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853" h="212">
                  <a:moveTo>
                    <a:pt x="853" y="0"/>
                  </a:moveTo>
                  <a:lnTo>
                    <a:pt x="636" y="10"/>
                  </a:lnTo>
                  <a:lnTo>
                    <a:pt x="413" y="63"/>
                  </a:lnTo>
                  <a:lnTo>
                    <a:pt x="249" y="71"/>
                  </a:lnTo>
                  <a:lnTo>
                    <a:pt x="114" y="99"/>
                  </a:lnTo>
                  <a:lnTo>
                    <a:pt x="64" y="170"/>
                  </a:lnTo>
                  <a:lnTo>
                    <a:pt x="0" y="212"/>
                  </a:lnTo>
                  <a:lnTo>
                    <a:pt x="64" y="198"/>
                  </a:lnTo>
                  <a:lnTo>
                    <a:pt x="123" y="117"/>
                  </a:lnTo>
                  <a:lnTo>
                    <a:pt x="304" y="81"/>
                  </a:lnTo>
                  <a:lnTo>
                    <a:pt x="413" y="81"/>
                  </a:lnTo>
                  <a:lnTo>
                    <a:pt x="500" y="63"/>
                  </a:lnTo>
                  <a:lnTo>
                    <a:pt x="649" y="23"/>
                  </a:lnTo>
                  <a:lnTo>
                    <a:pt x="85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aphicFrame>
        <p:nvGraphicFramePr>
          <p:cNvPr id="412" name="对象 411"/>
          <p:cNvGraphicFramePr>
            <a:graphicFrameLocks noChangeAspect="1"/>
          </p:cNvGraphicFramePr>
          <p:nvPr>
            <p:extLst>
              <p:ext uri="{D42A27DB-BD31-4B8C-83A1-F6EECF244321}">
                <p14:modId xmlns:p14="http://schemas.microsoft.com/office/powerpoint/2010/main" val="3456766184"/>
              </p:ext>
            </p:extLst>
          </p:nvPr>
        </p:nvGraphicFramePr>
        <p:xfrm>
          <a:off x="1234937" y="1468874"/>
          <a:ext cx="440021" cy="504000"/>
        </p:xfrm>
        <a:graphic>
          <a:graphicData uri="http://schemas.openxmlformats.org/presentationml/2006/ole">
            <mc:AlternateContent xmlns:mc="http://schemas.openxmlformats.org/markup-compatibility/2006">
              <mc:Choice xmlns:v="urn:schemas-microsoft-com:vml" Requires="v">
                <p:oleObj name="Visio" r:id="rId6" imgW="3561172" imgH="4347469" progId="">
                  <p:embed/>
                </p:oleObj>
              </mc:Choice>
              <mc:Fallback>
                <p:oleObj name="Visio" r:id="rId6" imgW="3561172" imgH="4347469" progId="">
                  <p:embed/>
                  <p:pic>
                    <p:nvPicPr>
                      <p:cNvPr id="0" name="Picture 304"/>
                      <p:cNvPicPr>
                        <a:picLocks noChangeAspect="1" noChangeArrowheads="1"/>
                      </p:cNvPicPr>
                      <p:nvPr/>
                    </p:nvPicPr>
                    <p:blipFill>
                      <a:blip r:embed="rId7">
                        <a:extLst>
                          <a:ext uri="{28A0092B-C50C-407E-A947-70E740481C1C}">
                            <a14:useLocalDpi xmlns:a14="http://schemas.microsoft.com/office/drawing/2010/main" val="0"/>
                          </a:ext>
                        </a:extLst>
                      </a:blip>
                      <a:srcRect l="5348" t="4167" r="4546" b="11185"/>
                      <a:stretch>
                        <a:fillRect/>
                      </a:stretch>
                    </p:blipFill>
                    <p:spPr bwMode="auto">
                      <a:xfrm>
                        <a:off x="1234937" y="1468874"/>
                        <a:ext cx="440021"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14" name="对象 413"/>
          <p:cNvGraphicFramePr>
            <a:graphicFrameLocks noChangeAspect="1"/>
          </p:cNvGraphicFramePr>
          <p:nvPr>
            <p:extLst>
              <p:ext uri="{D42A27DB-BD31-4B8C-83A1-F6EECF244321}">
                <p14:modId xmlns:p14="http://schemas.microsoft.com/office/powerpoint/2010/main" val="3318777676"/>
              </p:ext>
            </p:extLst>
          </p:nvPr>
        </p:nvGraphicFramePr>
        <p:xfrm>
          <a:off x="7436052" y="1468874"/>
          <a:ext cx="443938" cy="504000"/>
        </p:xfrm>
        <a:graphic>
          <a:graphicData uri="http://schemas.openxmlformats.org/presentationml/2006/ole">
            <mc:AlternateContent xmlns:mc="http://schemas.openxmlformats.org/markup-compatibility/2006">
              <mc:Choice xmlns:v="urn:schemas-microsoft-com:vml" Requires="v">
                <p:oleObj name="Visio" r:id="rId8" imgW="3561172" imgH="4347469" progId="">
                  <p:embed/>
                </p:oleObj>
              </mc:Choice>
              <mc:Fallback>
                <p:oleObj name="Visio" r:id="rId8" imgW="3561172" imgH="4347469" progId="">
                  <p:embed/>
                  <p:pic>
                    <p:nvPicPr>
                      <p:cNvPr id="0" name="Picture 305"/>
                      <p:cNvPicPr>
                        <a:picLocks noChangeAspect="1" noChangeArrowheads="1"/>
                      </p:cNvPicPr>
                      <p:nvPr/>
                    </p:nvPicPr>
                    <p:blipFill>
                      <a:blip r:embed="rId9">
                        <a:extLst>
                          <a:ext uri="{28A0092B-C50C-407E-A947-70E740481C1C}">
                            <a14:useLocalDpi xmlns:a14="http://schemas.microsoft.com/office/drawing/2010/main" val="0"/>
                          </a:ext>
                        </a:extLst>
                      </a:blip>
                      <a:srcRect l="4546" t="3947" r="4546" b="11403"/>
                      <a:stretch>
                        <a:fillRect/>
                      </a:stretch>
                    </p:blipFill>
                    <p:spPr bwMode="auto">
                      <a:xfrm>
                        <a:off x="7436052" y="1468874"/>
                        <a:ext cx="443938"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22" name="Text Box 399"/>
          <p:cNvSpPr txBox="1">
            <a:spLocks noChangeArrowheads="1"/>
          </p:cNvSpPr>
          <p:nvPr/>
        </p:nvSpPr>
        <p:spPr bwMode="auto">
          <a:xfrm>
            <a:off x="7471795" y="1081823"/>
            <a:ext cx="5309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收件人</a:t>
            </a:r>
          </a:p>
        </p:txBody>
      </p:sp>
      <p:sp>
        <p:nvSpPr>
          <p:cNvPr id="3" name="矩形 2"/>
          <p:cNvSpPr/>
          <p:nvPr/>
        </p:nvSpPr>
        <p:spPr>
          <a:xfrm>
            <a:off x="7554133" y="2754331"/>
            <a:ext cx="874666" cy="1323439"/>
          </a:xfrm>
          <a:prstGeom prst="rect">
            <a:avLst/>
          </a:prstGeom>
          <a:solidFill>
            <a:srgbClr val="FFFF99"/>
          </a:solidFill>
        </p:spPr>
        <p:txBody>
          <a:bodyPr wrap="square">
            <a:spAutoFit/>
          </a:bodyPr>
          <a:lstStyle/>
          <a:p>
            <a:pPr>
              <a:lnSpc>
                <a:spcPts val="1600"/>
              </a:lnSpc>
            </a:pPr>
            <a:r>
              <a:rPr lang="zh-CN" altLang="en-US" sz="1200" b="1" dirty="0">
                <a:solidFill>
                  <a:srgbClr val="C00000"/>
                </a:solidFill>
                <a:latin typeface="微软雅黑 Light" panose="020B0502040204020203" pitchFamily="34" charset="-122"/>
                <a:ea typeface="微软雅黑 Light" panose="020B0502040204020203" pitchFamily="34" charset="-122"/>
              </a:rPr>
              <a:t>注意：</a:t>
            </a:r>
            <a:r>
              <a:rPr lang="zh-CN" altLang="en-US" sz="1200" b="1" dirty="0">
                <a:latin typeface="微软雅黑 Light" panose="020B0502040204020203" pitchFamily="34" charset="-122"/>
                <a:ea typeface="微软雅黑 Light" panose="020B0502040204020203" pitchFamily="34" charset="-122"/>
              </a:rPr>
              <a:t>邮件不会在互联网中的某个中间邮件服务器落地。</a:t>
            </a:r>
          </a:p>
        </p:txBody>
      </p:sp>
      <p:sp>
        <p:nvSpPr>
          <p:cNvPr id="2" name="标题 1">
            <a:extLst>
              <a:ext uri="{FF2B5EF4-FFF2-40B4-BE49-F238E27FC236}">
                <a16:creationId xmlns:a16="http://schemas.microsoft.com/office/drawing/2014/main" id="{92D287C2-9856-FAD6-39BF-07A0919BF271}"/>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发送和接收</a:t>
            </a:r>
          </a:p>
        </p:txBody>
      </p:sp>
      <p:sp>
        <p:nvSpPr>
          <p:cNvPr id="397" name="内容占位符 396">
            <a:extLst>
              <a:ext uri="{FF2B5EF4-FFF2-40B4-BE49-F238E27FC236}">
                <a16:creationId xmlns:a16="http://schemas.microsoft.com/office/drawing/2014/main" id="{9DB5BE38-6F9E-3E8E-B07A-8105B1400D59}"/>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20469115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1000"/>
                                        <p:tgtEl>
                                          <p:spTgt spid="3"/>
                                        </p:tgtEl>
                                      </p:cBhvr>
                                    </p:animEffect>
                                  </p:childTnLst>
                                </p:cTn>
                              </p:par>
                            </p:childTnLst>
                          </p:cTn>
                        </p:par>
                        <p:par>
                          <p:cTn id="8" fill="hold">
                            <p:stCondLst>
                              <p:cond delay="1000"/>
                            </p:stCondLst>
                            <p:childTnLst>
                              <p:par>
                                <p:cTn id="9" presetID="35" presetClass="emph" presetSubtype="0" repeatCount="3000" fill="hold" grpId="1" nodeType="afterEffect">
                                  <p:stCondLst>
                                    <p:cond delay="0"/>
                                  </p:stCondLst>
                                  <p:childTnLst>
                                    <p:anim calcmode="discrete" valueType="str">
                                      <p:cBhvr>
                                        <p:cTn id="10" dur="1000" fill="hold"/>
                                        <p:tgtEl>
                                          <p:spTgt spid="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Object 383"/>
          <p:cNvGraphicFramePr>
            <a:graphicFrameLocks noChangeAspect="1"/>
          </p:cNvGraphicFramePr>
          <p:nvPr>
            <p:extLst>
              <p:ext uri="{D42A27DB-BD31-4B8C-83A1-F6EECF244321}">
                <p14:modId xmlns:p14="http://schemas.microsoft.com/office/powerpoint/2010/main" val="970004572"/>
              </p:ext>
            </p:extLst>
          </p:nvPr>
        </p:nvGraphicFramePr>
        <p:xfrm>
          <a:off x="3846905" y="3043640"/>
          <a:ext cx="1597512"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46905" y="3043640"/>
                        <a:ext cx="1597512" cy="84277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9" name="Object 383"/>
          <p:cNvGraphicFramePr>
            <a:graphicFrameLocks noChangeAspect="1"/>
          </p:cNvGraphicFramePr>
          <p:nvPr>
            <p:extLst>
              <p:ext uri="{D42A27DB-BD31-4B8C-83A1-F6EECF244321}">
                <p14:modId xmlns:p14="http://schemas.microsoft.com/office/powerpoint/2010/main" val="1901863615"/>
              </p:ext>
            </p:extLst>
          </p:nvPr>
        </p:nvGraphicFramePr>
        <p:xfrm>
          <a:off x="5780655" y="2980580"/>
          <a:ext cx="1597279"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80655" y="2980580"/>
                        <a:ext cx="1597279" cy="842777"/>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 name="Line 3"/>
          <p:cNvSpPr>
            <a:spLocks noChangeShapeType="1"/>
          </p:cNvSpPr>
          <p:nvPr/>
        </p:nvSpPr>
        <p:spPr bwMode="auto">
          <a:xfrm flipH="1" flipV="1">
            <a:off x="2328917" y="3340981"/>
            <a:ext cx="483179" cy="44601"/>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 name="Freeform 4"/>
          <p:cNvSpPr>
            <a:spLocks/>
          </p:cNvSpPr>
          <p:nvPr/>
        </p:nvSpPr>
        <p:spPr bwMode="auto">
          <a:xfrm>
            <a:off x="6375543" y="3302885"/>
            <a:ext cx="483179" cy="83627"/>
          </a:xfrm>
          <a:custGeom>
            <a:avLst/>
            <a:gdLst>
              <a:gd name="T0" fmla="*/ 2147483646 w 480"/>
              <a:gd name="T1" fmla="*/ 0 h 90"/>
              <a:gd name="T2" fmla="*/ 0 w 480"/>
              <a:gd name="T3" fmla="*/ 2147483646 h 90"/>
              <a:gd name="T4" fmla="*/ 0 60000 65536"/>
              <a:gd name="T5" fmla="*/ 0 60000 65536"/>
            </a:gdLst>
            <a:ahLst/>
            <a:cxnLst>
              <a:cxn ang="T4">
                <a:pos x="T0" y="T1"/>
              </a:cxn>
              <a:cxn ang="T5">
                <a:pos x="T2" y="T3"/>
              </a:cxn>
            </a:cxnLst>
            <a:rect l="0" t="0" r="r" b="b"/>
            <a:pathLst>
              <a:path w="480" h="90">
                <a:moveTo>
                  <a:pt x="480" y="0"/>
                </a:moveTo>
                <a:lnTo>
                  <a:pt x="0" y="90"/>
                </a:lnTo>
              </a:path>
            </a:pathLst>
          </a:custGeom>
          <a:noFill/>
          <a:ln w="38100" cmpd="sng">
            <a:solidFill>
              <a:srgbClr val="0000FF"/>
            </a:solidFill>
            <a:round/>
            <a:headEnd type="none" w="med" len="med"/>
            <a:tailEnd type="non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 name="Line 5"/>
          <p:cNvSpPr>
            <a:spLocks noChangeShapeType="1"/>
          </p:cNvSpPr>
          <p:nvPr/>
        </p:nvSpPr>
        <p:spPr bwMode="auto">
          <a:xfrm flipH="1" flipV="1">
            <a:off x="5360866" y="3430183"/>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 name="Line 6"/>
          <p:cNvSpPr>
            <a:spLocks noChangeShapeType="1"/>
          </p:cNvSpPr>
          <p:nvPr/>
        </p:nvSpPr>
        <p:spPr bwMode="auto">
          <a:xfrm flipH="1" flipV="1">
            <a:off x="3440229" y="3422750"/>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 name="Text Box 7"/>
          <p:cNvSpPr txBox="1">
            <a:spLocks noChangeArrowheads="1"/>
          </p:cNvSpPr>
          <p:nvPr/>
        </p:nvSpPr>
        <p:spPr bwMode="auto">
          <a:xfrm>
            <a:off x="1700784" y="2860589"/>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p:txBody>
      </p:sp>
      <p:sp>
        <p:nvSpPr>
          <p:cNvPr id="15" name="Text Box 8"/>
          <p:cNvSpPr txBox="1">
            <a:spLocks noChangeArrowheads="1"/>
          </p:cNvSpPr>
          <p:nvPr/>
        </p:nvSpPr>
        <p:spPr bwMode="auto">
          <a:xfrm>
            <a:off x="2324891" y="3949601"/>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邮件缓存</a:t>
            </a:r>
          </a:p>
        </p:txBody>
      </p:sp>
      <p:sp>
        <p:nvSpPr>
          <p:cNvPr id="16" name="Text Box 9"/>
          <p:cNvSpPr txBox="1">
            <a:spLocks noChangeArrowheads="1"/>
          </p:cNvSpPr>
          <p:nvPr/>
        </p:nvSpPr>
        <p:spPr bwMode="auto">
          <a:xfrm>
            <a:off x="5131356"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17" name="Oval 10"/>
          <p:cNvSpPr>
            <a:spLocks noChangeArrowheads="1"/>
          </p:cNvSpPr>
          <p:nvPr/>
        </p:nvSpPr>
        <p:spPr bwMode="auto">
          <a:xfrm>
            <a:off x="5662853" y="3027844"/>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8" name="Group 11"/>
          <p:cNvGrpSpPr>
            <a:grpSpLocks/>
          </p:cNvGrpSpPr>
          <p:nvPr/>
        </p:nvGrpSpPr>
        <p:grpSpPr bwMode="auto">
          <a:xfrm>
            <a:off x="5905450" y="3091958"/>
            <a:ext cx="289908" cy="267607"/>
            <a:chOff x="2351" y="2975"/>
            <a:chExt cx="481" cy="433"/>
          </a:xfrm>
          <a:effectLst/>
        </p:grpSpPr>
        <p:sp>
          <p:nvSpPr>
            <p:cNvPr id="19" name="Rectangle 12"/>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20" name="Line 13"/>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 name="Line 14"/>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 name="Line 15"/>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 name="Line 16"/>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 name="Line 17"/>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 name="Line 18"/>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 name="Line 19"/>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 name="Line 20"/>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8" name="Group 21"/>
          <p:cNvGrpSpPr>
            <a:grpSpLocks/>
          </p:cNvGrpSpPr>
          <p:nvPr/>
        </p:nvGrpSpPr>
        <p:grpSpPr bwMode="auto">
          <a:xfrm>
            <a:off x="5839013" y="3415316"/>
            <a:ext cx="463047" cy="267607"/>
            <a:chOff x="1296" y="768"/>
            <a:chExt cx="556" cy="336"/>
          </a:xfrm>
          <a:effectLst/>
        </p:grpSpPr>
        <p:sp>
          <p:nvSpPr>
            <p:cNvPr id="29" name="Rectangle 22"/>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0" name="Group 23"/>
            <p:cNvGrpSpPr>
              <a:grpSpLocks/>
            </p:cNvGrpSpPr>
            <p:nvPr/>
          </p:nvGrpSpPr>
          <p:grpSpPr bwMode="auto">
            <a:xfrm>
              <a:off x="1367" y="829"/>
              <a:ext cx="393" cy="214"/>
              <a:chOff x="2928" y="3744"/>
              <a:chExt cx="528" cy="336"/>
            </a:xfrm>
          </p:grpSpPr>
          <p:grpSp>
            <p:nvGrpSpPr>
              <p:cNvPr id="31" name="Group 24"/>
              <p:cNvGrpSpPr>
                <a:grpSpLocks/>
              </p:cNvGrpSpPr>
              <p:nvPr/>
            </p:nvGrpSpPr>
            <p:grpSpPr bwMode="auto">
              <a:xfrm>
                <a:off x="3024" y="3744"/>
                <a:ext cx="432" cy="240"/>
                <a:chOff x="2736" y="3648"/>
                <a:chExt cx="432" cy="240"/>
              </a:xfrm>
            </p:grpSpPr>
            <p:grpSp>
              <p:nvGrpSpPr>
                <p:cNvPr id="46" name="Group 25"/>
                <p:cNvGrpSpPr>
                  <a:grpSpLocks/>
                </p:cNvGrpSpPr>
                <p:nvPr/>
              </p:nvGrpSpPr>
              <p:grpSpPr bwMode="auto">
                <a:xfrm>
                  <a:off x="2736" y="3648"/>
                  <a:ext cx="432" cy="240"/>
                  <a:chOff x="2592" y="3504"/>
                  <a:chExt cx="576" cy="384"/>
                </a:xfrm>
              </p:grpSpPr>
              <p:sp>
                <p:nvSpPr>
                  <p:cNvPr id="48" name="Rectangle 26"/>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9" name="Freeform 27"/>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0" name="Line 28"/>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1" name="Line 29"/>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7" name="Line 30"/>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 name="Group 31"/>
              <p:cNvGrpSpPr>
                <a:grpSpLocks/>
              </p:cNvGrpSpPr>
              <p:nvPr/>
            </p:nvGrpSpPr>
            <p:grpSpPr bwMode="auto">
              <a:xfrm>
                <a:off x="2976" y="3792"/>
                <a:ext cx="432" cy="240"/>
                <a:chOff x="2736" y="3648"/>
                <a:chExt cx="432" cy="240"/>
              </a:xfrm>
            </p:grpSpPr>
            <p:grpSp>
              <p:nvGrpSpPr>
                <p:cNvPr id="40" name="Group 32"/>
                <p:cNvGrpSpPr>
                  <a:grpSpLocks/>
                </p:cNvGrpSpPr>
                <p:nvPr/>
              </p:nvGrpSpPr>
              <p:grpSpPr bwMode="auto">
                <a:xfrm>
                  <a:off x="2736" y="3648"/>
                  <a:ext cx="432" cy="240"/>
                  <a:chOff x="2592" y="3504"/>
                  <a:chExt cx="576" cy="384"/>
                </a:xfrm>
              </p:grpSpPr>
              <p:sp>
                <p:nvSpPr>
                  <p:cNvPr id="42" name="Rectangle 33"/>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3" name="Freeform 34"/>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4" name="Line 35"/>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5" name="Line 36"/>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1" name="Line 37"/>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 name="Group 38"/>
              <p:cNvGrpSpPr>
                <a:grpSpLocks/>
              </p:cNvGrpSpPr>
              <p:nvPr/>
            </p:nvGrpSpPr>
            <p:grpSpPr bwMode="auto">
              <a:xfrm>
                <a:off x="2928" y="3840"/>
                <a:ext cx="432" cy="240"/>
                <a:chOff x="2736" y="3648"/>
                <a:chExt cx="432" cy="240"/>
              </a:xfrm>
            </p:grpSpPr>
            <p:grpSp>
              <p:nvGrpSpPr>
                <p:cNvPr id="34" name="Group 39"/>
                <p:cNvGrpSpPr>
                  <a:grpSpLocks/>
                </p:cNvGrpSpPr>
                <p:nvPr/>
              </p:nvGrpSpPr>
              <p:grpSpPr bwMode="auto">
                <a:xfrm>
                  <a:off x="2736" y="3648"/>
                  <a:ext cx="432" cy="240"/>
                  <a:chOff x="2592" y="3504"/>
                  <a:chExt cx="576" cy="384"/>
                </a:xfrm>
              </p:grpSpPr>
              <p:sp>
                <p:nvSpPr>
                  <p:cNvPr id="36" name="Rectangle 40"/>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 name="Freeform 41"/>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8" name="Line 42"/>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 name="Line 43"/>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5" name="Line 44"/>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52" name="Group 45"/>
          <p:cNvGrpSpPr>
            <a:grpSpLocks/>
          </p:cNvGrpSpPr>
          <p:nvPr/>
        </p:nvGrpSpPr>
        <p:grpSpPr bwMode="auto">
          <a:xfrm>
            <a:off x="1900095" y="3154214"/>
            <a:ext cx="560690" cy="593753"/>
            <a:chOff x="246" y="1767"/>
            <a:chExt cx="557" cy="639"/>
          </a:xfrm>
        </p:grpSpPr>
        <p:grpSp>
          <p:nvGrpSpPr>
            <p:cNvPr id="53" name="Group 46"/>
            <p:cNvGrpSpPr>
              <a:grpSpLocks/>
            </p:cNvGrpSpPr>
            <p:nvPr/>
          </p:nvGrpSpPr>
          <p:grpSpPr bwMode="auto">
            <a:xfrm>
              <a:off x="246" y="1943"/>
              <a:ext cx="557" cy="463"/>
              <a:chOff x="246" y="1943"/>
              <a:chExt cx="557" cy="463"/>
            </a:xfrm>
          </p:grpSpPr>
          <p:sp>
            <p:nvSpPr>
              <p:cNvPr id="106" name="Freeform 47"/>
              <p:cNvSpPr>
                <a:spLocks/>
              </p:cNvSpPr>
              <p:nvPr/>
            </p:nvSpPr>
            <p:spPr bwMode="auto">
              <a:xfrm>
                <a:off x="373" y="2005"/>
                <a:ext cx="196" cy="295"/>
              </a:xfrm>
              <a:custGeom>
                <a:avLst/>
                <a:gdLst>
                  <a:gd name="T0" fmla="*/ 0 w 982"/>
                  <a:gd name="T1" fmla="*/ 0 h 1477"/>
                  <a:gd name="T2" fmla="*/ 0 w 982"/>
                  <a:gd name="T3" fmla="*/ 0 h 1477"/>
                  <a:gd name="T4" fmla="*/ 0 w 982"/>
                  <a:gd name="T5" fmla="*/ 0 h 1477"/>
                  <a:gd name="T6" fmla="*/ 0 w 982"/>
                  <a:gd name="T7" fmla="*/ 0 h 147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82" h="1477">
                    <a:moveTo>
                      <a:pt x="652" y="26"/>
                    </a:moveTo>
                    <a:lnTo>
                      <a:pt x="982" y="1347"/>
                    </a:lnTo>
                    <a:lnTo>
                      <a:pt x="0" y="1477"/>
                    </a:lnTo>
                    <a:lnTo>
                      <a:pt x="252" y="0"/>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07" name="Group 48"/>
              <p:cNvGrpSpPr>
                <a:grpSpLocks/>
              </p:cNvGrpSpPr>
              <p:nvPr/>
            </p:nvGrpSpPr>
            <p:grpSpPr bwMode="auto">
              <a:xfrm>
                <a:off x="246" y="1943"/>
                <a:ext cx="551" cy="121"/>
                <a:chOff x="246" y="1943"/>
                <a:chExt cx="551" cy="121"/>
              </a:xfrm>
            </p:grpSpPr>
            <p:sp>
              <p:nvSpPr>
                <p:cNvPr id="109" name="Freeform 49"/>
                <p:cNvSpPr>
                  <a:spLocks/>
                </p:cNvSpPr>
                <p:nvPr/>
              </p:nvSpPr>
              <p:spPr bwMode="auto">
                <a:xfrm>
                  <a:off x="246" y="1943"/>
                  <a:ext cx="551" cy="104"/>
                </a:xfrm>
                <a:custGeom>
                  <a:avLst/>
                  <a:gdLst>
                    <a:gd name="T0" fmla="*/ 0 w 2751"/>
                    <a:gd name="T1" fmla="*/ 0 h 522"/>
                    <a:gd name="T2" fmla="*/ 0 w 2751"/>
                    <a:gd name="T3" fmla="*/ 0 h 522"/>
                    <a:gd name="T4" fmla="*/ 0 w 2751"/>
                    <a:gd name="T5" fmla="*/ 0 h 522"/>
                    <a:gd name="T6" fmla="*/ 0 w 2751"/>
                    <a:gd name="T7" fmla="*/ 0 h 522"/>
                    <a:gd name="T8" fmla="*/ 0 w 2751"/>
                    <a:gd name="T9" fmla="*/ 0 h 5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751" h="522">
                      <a:moveTo>
                        <a:pt x="2751" y="270"/>
                      </a:moveTo>
                      <a:lnTo>
                        <a:pt x="1016" y="522"/>
                      </a:lnTo>
                      <a:lnTo>
                        <a:pt x="0" y="132"/>
                      </a:lnTo>
                      <a:lnTo>
                        <a:pt x="1302" y="0"/>
                      </a:lnTo>
                      <a:lnTo>
                        <a:pt x="2751" y="270"/>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0" name="Freeform 50"/>
                <p:cNvSpPr>
                  <a:spLocks/>
                </p:cNvSpPr>
                <p:nvPr/>
              </p:nvSpPr>
              <p:spPr bwMode="auto">
                <a:xfrm>
                  <a:off x="450" y="1997"/>
                  <a:ext cx="345" cy="67"/>
                </a:xfrm>
                <a:custGeom>
                  <a:avLst/>
                  <a:gdLst>
                    <a:gd name="T0" fmla="*/ 0 w 1728"/>
                    <a:gd name="T1" fmla="*/ 0 h 337"/>
                    <a:gd name="T2" fmla="*/ 0 w 1728"/>
                    <a:gd name="T3" fmla="*/ 0 h 337"/>
                    <a:gd name="T4" fmla="*/ 0 w 1728"/>
                    <a:gd name="T5" fmla="*/ 0 h 337"/>
                    <a:gd name="T6" fmla="*/ 0 w 1728"/>
                    <a:gd name="T7" fmla="*/ 0 h 337"/>
                    <a:gd name="T8" fmla="*/ 0 w 1728"/>
                    <a:gd name="T9" fmla="*/ 0 h 33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28" h="337">
                      <a:moveTo>
                        <a:pt x="1728" y="0"/>
                      </a:moveTo>
                      <a:lnTo>
                        <a:pt x="0" y="251"/>
                      </a:lnTo>
                      <a:lnTo>
                        <a:pt x="0" y="337"/>
                      </a:lnTo>
                      <a:lnTo>
                        <a:pt x="1728" y="88"/>
                      </a:lnTo>
                      <a:lnTo>
                        <a:pt x="1728" y="0"/>
                      </a:lnTo>
                      <a:close/>
                    </a:path>
                  </a:pathLst>
                </a:custGeom>
                <a:solidFill>
                  <a:srgbClr val="E0E0E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1" name="Freeform 51"/>
                <p:cNvSpPr>
                  <a:spLocks/>
                </p:cNvSpPr>
                <p:nvPr/>
              </p:nvSpPr>
              <p:spPr bwMode="auto">
                <a:xfrm>
                  <a:off x="246" y="1969"/>
                  <a:ext cx="204" cy="95"/>
                </a:xfrm>
                <a:custGeom>
                  <a:avLst/>
                  <a:gdLst>
                    <a:gd name="T0" fmla="*/ 0 w 1016"/>
                    <a:gd name="T1" fmla="*/ 0 h 476"/>
                    <a:gd name="T2" fmla="*/ 0 w 1016"/>
                    <a:gd name="T3" fmla="*/ 0 h 476"/>
                    <a:gd name="T4" fmla="*/ 0 w 1016"/>
                    <a:gd name="T5" fmla="*/ 0 h 476"/>
                    <a:gd name="T6" fmla="*/ 0 w 1016"/>
                    <a:gd name="T7" fmla="*/ 0 h 476"/>
                    <a:gd name="T8" fmla="*/ 0 w 1016"/>
                    <a:gd name="T9" fmla="*/ 0 h 47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16" h="476">
                      <a:moveTo>
                        <a:pt x="1016" y="476"/>
                      </a:moveTo>
                      <a:lnTo>
                        <a:pt x="1016" y="390"/>
                      </a:lnTo>
                      <a:lnTo>
                        <a:pt x="0" y="0"/>
                      </a:lnTo>
                      <a:lnTo>
                        <a:pt x="0" y="60"/>
                      </a:lnTo>
                      <a:lnTo>
                        <a:pt x="1016" y="47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08" name="Freeform 52"/>
              <p:cNvSpPr>
                <a:spLocks/>
              </p:cNvSpPr>
              <p:nvPr/>
            </p:nvSpPr>
            <p:spPr bwMode="auto">
              <a:xfrm>
                <a:off x="564" y="2028"/>
                <a:ext cx="239" cy="378"/>
              </a:xfrm>
              <a:custGeom>
                <a:avLst/>
                <a:gdLst>
                  <a:gd name="T0" fmla="*/ 0 w 1195"/>
                  <a:gd name="T1" fmla="*/ 0 h 1893"/>
                  <a:gd name="T2" fmla="*/ 0 w 1195"/>
                  <a:gd name="T3" fmla="*/ 0 h 1893"/>
                  <a:gd name="T4" fmla="*/ 0 w 1195"/>
                  <a:gd name="T5" fmla="*/ 0 h 1893"/>
                  <a:gd name="T6" fmla="*/ 0 w 1195"/>
                  <a:gd name="T7" fmla="*/ 0 h 18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95" h="1893">
                    <a:moveTo>
                      <a:pt x="660" y="0"/>
                    </a:moveTo>
                    <a:lnTo>
                      <a:pt x="1195" y="1747"/>
                    </a:lnTo>
                    <a:lnTo>
                      <a:pt x="0" y="1893"/>
                    </a:lnTo>
                    <a:lnTo>
                      <a:pt x="191" y="35"/>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4" name="Group 53"/>
            <p:cNvGrpSpPr>
              <a:grpSpLocks/>
            </p:cNvGrpSpPr>
            <p:nvPr/>
          </p:nvGrpSpPr>
          <p:grpSpPr bwMode="auto">
            <a:xfrm>
              <a:off x="325" y="1767"/>
              <a:ext cx="383" cy="268"/>
              <a:chOff x="325" y="1767"/>
              <a:chExt cx="383" cy="268"/>
            </a:xfrm>
          </p:grpSpPr>
          <p:grpSp>
            <p:nvGrpSpPr>
              <p:cNvPr id="55" name="Group 54"/>
              <p:cNvGrpSpPr>
                <a:grpSpLocks/>
              </p:cNvGrpSpPr>
              <p:nvPr/>
            </p:nvGrpSpPr>
            <p:grpSpPr bwMode="auto">
              <a:xfrm>
                <a:off x="412" y="1767"/>
                <a:ext cx="296" cy="243"/>
                <a:chOff x="412" y="1767"/>
                <a:chExt cx="296" cy="243"/>
              </a:xfrm>
            </p:grpSpPr>
            <p:grpSp>
              <p:nvGrpSpPr>
                <p:cNvPr id="88" name="Group 55"/>
                <p:cNvGrpSpPr>
                  <a:grpSpLocks/>
                </p:cNvGrpSpPr>
                <p:nvPr/>
              </p:nvGrpSpPr>
              <p:grpSpPr bwMode="auto">
                <a:xfrm>
                  <a:off x="412" y="1767"/>
                  <a:ext cx="296" cy="243"/>
                  <a:chOff x="412" y="1767"/>
                  <a:chExt cx="296" cy="243"/>
                </a:xfrm>
              </p:grpSpPr>
              <p:grpSp>
                <p:nvGrpSpPr>
                  <p:cNvPr id="97" name="Group 56"/>
                  <p:cNvGrpSpPr>
                    <a:grpSpLocks/>
                  </p:cNvGrpSpPr>
                  <p:nvPr/>
                </p:nvGrpSpPr>
                <p:grpSpPr bwMode="auto">
                  <a:xfrm>
                    <a:off x="412" y="1904"/>
                    <a:ext cx="296" cy="106"/>
                    <a:chOff x="412" y="1904"/>
                    <a:chExt cx="296" cy="106"/>
                  </a:xfrm>
                </p:grpSpPr>
                <p:sp>
                  <p:nvSpPr>
                    <p:cNvPr id="103" name="Freeform 57"/>
                    <p:cNvSpPr>
                      <a:spLocks/>
                    </p:cNvSpPr>
                    <p:nvPr/>
                  </p:nvSpPr>
                  <p:spPr bwMode="auto">
                    <a:xfrm>
                      <a:off x="412" y="1904"/>
                      <a:ext cx="170" cy="106"/>
                    </a:xfrm>
                    <a:custGeom>
                      <a:avLst/>
                      <a:gdLst>
                        <a:gd name="T0" fmla="*/ 0 w 848"/>
                        <a:gd name="T1" fmla="*/ 0 h 530"/>
                        <a:gd name="T2" fmla="*/ 0 w 848"/>
                        <a:gd name="T3" fmla="*/ 0 h 530"/>
                        <a:gd name="T4" fmla="*/ 0 w 848"/>
                        <a:gd name="T5" fmla="*/ 0 h 530"/>
                        <a:gd name="T6" fmla="*/ 0 w 848"/>
                        <a:gd name="T7" fmla="*/ 0 h 530"/>
                        <a:gd name="T8" fmla="*/ 0 w 848"/>
                        <a:gd name="T9" fmla="*/ 0 h 5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8" h="530">
                          <a:moveTo>
                            <a:pt x="848" y="162"/>
                          </a:moveTo>
                          <a:lnTo>
                            <a:pt x="848" y="530"/>
                          </a:lnTo>
                          <a:lnTo>
                            <a:pt x="0" y="258"/>
                          </a:lnTo>
                          <a:lnTo>
                            <a:pt x="0" y="0"/>
                          </a:lnTo>
                          <a:lnTo>
                            <a:pt x="848" y="162"/>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4" name="Freeform 58"/>
                    <p:cNvSpPr>
                      <a:spLocks/>
                    </p:cNvSpPr>
                    <p:nvPr/>
                  </p:nvSpPr>
                  <p:spPr bwMode="auto">
                    <a:xfrm>
                      <a:off x="582" y="1929"/>
                      <a:ext cx="126" cy="81"/>
                    </a:xfrm>
                    <a:custGeom>
                      <a:avLst/>
                      <a:gdLst>
                        <a:gd name="T0" fmla="*/ 0 w 631"/>
                        <a:gd name="T1" fmla="*/ 0 h 404"/>
                        <a:gd name="T2" fmla="*/ 0 w 631"/>
                        <a:gd name="T3" fmla="*/ 0 h 404"/>
                        <a:gd name="T4" fmla="*/ 0 w 631"/>
                        <a:gd name="T5" fmla="*/ 0 h 404"/>
                        <a:gd name="T6" fmla="*/ 0 w 631"/>
                        <a:gd name="T7" fmla="*/ 0 h 404"/>
                        <a:gd name="T8" fmla="*/ 0 w 631"/>
                        <a:gd name="T9" fmla="*/ 0 h 40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1" h="404">
                          <a:moveTo>
                            <a:pt x="0" y="36"/>
                          </a:moveTo>
                          <a:lnTo>
                            <a:pt x="0" y="404"/>
                          </a:lnTo>
                          <a:lnTo>
                            <a:pt x="631" y="312"/>
                          </a:lnTo>
                          <a:lnTo>
                            <a:pt x="631" y="0"/>
                          </a:lnTo>
                          <a:lnTo>
                            <a:pt x="0" y="36"/>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5" name="Freeform 59"/>
                    <p:cNvSpPr>
                      <a:spLocks/>
                    </p:cNvSpPr>
                    <p:nvPr/>
                  </p:nvSpPr>
                  <p:spPr bwMode="auto">
                    <a:xfrm>
                      <a:off x="412" y="1904"/>
                      <a:ext cx="296" cy="32"/>
                    </a:xfrm>
                    <a:custGeom>
                      <a:avLst/>
                      <a:gdLst>
                        <a:gd name="T0" fmla="*/ 0 w 1479"/>
                        <a:gd name="T1" fmla="*/ 0 h 162"/>
                        <a:gd name="T2" fmla="*/ 0 w 1479"/>
                        <a:gd name="T3" fmla="*/ 0 h 162"/>
                        <a:gd name="T4" fmla="*/ 0 w 1479"/>
                        <a:gd name="T5" fmla="*/ 0 h 162"/>
                        <a:gd name="T6" fmla="*/ 0 w 1479"/>
                        <a:gd name="T7" fmla="*/ 0 h 162"/>
                        <a:gd name="T8" fmla="*/ 0 w 1479"/>
                        <a:gd name="T9" fmla="*/ 0 h 16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479" h="162">
                          <a:moveTo>
                            <a:pt x="1479" y="126"/>
                          </a:moveTo>
                          <a:lnTo>
                            <a:pt x="842" y="162"/>
                          </a:lnTo>
                          <a:lnTo>
                            <a:pt x="0" y="0"/>
                          </a:lnTo>
                          <a:lnTo>
                            <a:pt x="619" y="0"/>
                          </a:lnTo>
                          <a:lnTo>
                            <a:pt x="1479" y="12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98" name="Freeform 60"/>
                  <p:cNvSpPr>
                    <a:spLocks/>
                  </p:cNvSpPr>
                  <p:nvPr/>
                </p:nvSpPr>
                <p:spPr bwMode="auto">
                  <a:xfrm>
                    <a:off x="504" y="1895"/>
                    <a:ext cx="108" cy="30"/>
                  </a:xfrm>
                  <a:custGeom>
                    <a:avLst/>
                    <a:gdLst>
                      <a:gd name="T0" fmla="*/ 0 w 538"/>
                      <a:gd name="T1" fmla="*/ 0 h 151"/>
                      <a:gd name="T2" fmla="*/ 0 w 538"/>
                      <a:gd name="T3" fmla="*/ 0 h 151"/>
                      <a:gd name="T4" fmla="*/ 0 w 538"/>
                      <a:gd name="T5" fmla="*/ 0 h 151"/>
                      <a:gd name="T6" fmla="*/ 0 w 538"/>
                      <a:gd name="T7" fmla="*/ 0 h 151"/>
                      <a:gd name="T8" fmla="*/ 0 w 538"/>
                      <a:gd name="T9" fmla="*/ 0 h 151"/>
                      <a:gd name="T10" fmla="*/ 0 w 538"/>
                      <a:gd name="T11" fmla="*/ 0 h 15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38" h="151">
                        <a:moveTo>
                          <a:pt x="538" y="86"/>
                        </a:moveTo>
                        <a:lnTo>
                          <a:pt x="538" y="135"/>
                        </a:lnTo>
                        <a:lnTo>
                          <a:pt x="287" y="151"/>
                        </a:lnTo>
                        <a:lnTo>
                          <a:pt x="0" y="97"/>
                        </a:lnTo>
                        <a:lnTo>
                          <a:pt x="0" y="0"/>
                        </a:lnTo>
                        <a:lnTo>
                          <a:pt x="538" y="86"/>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99" name="Group 61"/>
                  <p:cNvGrpSpPr>
                    <a:grpSpLocks/>
                  </p:cNvGrpSpPr>
                  <p:nvPr/>
                </p:nvGrpSpPr>
                <p:grpSpPr bwMode="auto">
                  <a:xfrm>
                    <a:off x="446" y="1767"/>
                    <a:ext cx="239" cy="151"/>
                    <a:chOff x="446" y="1767"/>
                    <a:chExt cx="239" cy="151"/>
                  </a:xfrm>
                </p:grpSpPr>
                <p:sp>
                  <p:nvSpPr>
                    <p:cNvPr id="100" name="Freeform 62"/>
                    <p:cNvSpPr>
                      <a:spLocks/>
                    </p:cNvSpPr>
                    <p:nvPr/>
                  </p:nvSpPr>
                  <p:spPr bwMode="auto">
                    <a:xfrm>
                      <a:off x="446" y="1767"/>
                      <a:ext cx="137" cy="148"/>
                    </a:xfrm>
                    <a:custGeom>
                      <a:avLst/>
                      <a:gdLst>
                        <a:gd name="T0" fmla="*/ 0 w 686"/>
                        <a:gd name="T1" fmla="*/ 0 h 740"/>
                        <a:gd name="T2" fmla="*/ 0 w 686"/>
                        <a:gd name="T3" fmla="*/ 0 h 740"/>
                        <a:gd name="T4" fmla="*/ 0 w 686"/>
                        <a:gd name="T5" fmla="*/ 0 h 740"/>
                        <a:gd name="T6" fmla="*/ 0 w 686"/>
                        <a:gd name="T7" fmla="*/ 0 h 740"/>
                        <a:gd name="T8" fmla="*/ 0 w 686"/>
                        <a:gd name="T9" fmla="*/ 0 h 7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6" h="740">
                          <a:moveTo>
                            <a:pt x="589" y="740"/>
                          </a:moveTo>
                          <a:lnTo>
                            <a:pt x="686" y="24"/>
                          </a:lnTo>
                          <a:lnTo>
                            <a:pt x="95" y="0"/>
                          </a:lnTo>
                          <a:lnTo>
                            <a:pt x="0" y="638"/>
                          </a:lnTo>
                          <a:lnTo>
                            <a:pt x="589" y="740"/>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1" name="Freeform 63"/>
                    <p:cNvSpPr>
                      <a:spLocks/>
                    </p:cNvSpPr>
                    <p:nvPr/>
                  </p:nvSpPr>
                  <p:spPr bwMode="auto">
                    <a:xfrm>
                      <a:off x="564" y="1771"/>
                      <a:ext cx="121" cy="147"/>
                    </a:xfrm>
                    <a:custGeom>
                      <a:avLst/>
                      <a:gdLst>
                        <a:gd name="T0" fmla="*/ 0 w 608"/>
                        <a:gd name="T1" fmla="*/ 0 h 735"/>
                        <a:gd name="T2" fmla="*/ 0 w 608"/>
                        <a:gd name="T3" fmla="*/ 0 h 735"/>
                        <a:gd name="T4" fmla="*/ 0 w 608"/>
                        <a:gd name="T5" fmla="*/ 0 h 735"/>
                        <a:gd name="T6" fmla="*/ 0 w 608"/>
                        <a:gd name="T7" fmla="*/ 0 h 735"/>
                        <a:gd name="T8" fmla="*/ 0 w 608"/>
                        <a:gd name="T9" fmla="*/ 0 h 7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8" h="735">
                          <a:moveTo>
                            <a:pt x="97" y="0"/>
                          </a:moveTo>
                          <a:lnTo>
                            <a:pt x="608" y="163"/>
                          </a:lnTo>
                          <a:lnTo>
                            <a:pt x="536" y="735"/>
                          </a:lnTo>
                          <a:lnTo>
                            <a:pt x="0" y="717"/>
                          </a:lnTo>
                          <a:lnTo>
                            <a:pt x="97" y="0"/>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2" name="Freeform 64"/>
                    <p:cNvSpPr>
                      <a:spLocks/>
                    </p:cNvSpPr>
                    <p:nvPr/>
                  </p:nvSpPr>
                  <p:spPr bwMode="auto">
                    <a:xfrm>
                      <a:off x="462" y="1781"/>
                      <a:ext cx="98" cy="112"/>
                    </a:xfrm>
                    <a:custGeom>
                      <a:avLst/>
                      <a:gdLst>
                        <a:gd name="T0" fmla="*/ 0 w 493"/>
                        <a:gd name="T1" fmla="*/ 0 h 557"/>
                        <a:gd name="T2" fmla="*/ 0 w 493"/>
                        <a:gd name="T3" fmla="*/ 0 h 557"/>
                        <a:gd name="T4" fmla="*/ 0 w 493"/>
                        <a:gd name="T5" fmla="*/ 0 h 557"/>
                        <a:gd name="T6" fmla="*/ 0 w 493"/>
                        <a:gd name="T7" fmla="*/ 0 h 557"/>
                        <a:gd name="T8" fmla="*/ 0 w 493"/>
                        <a:gd name="T9" fmla="*/ 0 h 5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93" h="557">
                          <a:moveTo>
                            <a:pt x="493" y="25"/>
                          </a:moveTo>
                          <a:lnTo>
                            <a:pt x="423" y="557"/>
                          </a:lnTo>
                          <a:lnTo>
                            <a:pt x="0" y="494"/>
                          </a:lnTo>
                          <a:lnTo>
                            <a:pt x="73" y="0"/>
                          </a:lnTo>
                          <a:lnTo>
                            <a:pt x="493" y="25"/>
                          </a:lnTo>
                          <a:close/>
                        </a:path>
                      </a:pathLst>
                    </a:custGeom>
                    <a:solidFill>
                      <a:srgbClr val="0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89" name="Group 65"/>
                <p:cNvGrpSpPr>
                  <a:grpSpLocks/>
                </p:cNvGrpSpPr>
                <p:nvPr/>
              </p:nvGrpSpPr>
              <p:grpSpPr bwMode="auto">
                <a:xfrm>
                  <a:off x="424" y="1915"/>
                  <a:ext cx="97" cy="69"/>
                  <a:chOff x="424" y="1915"/>
                  <a:chExt cx="97" cy="69"/>
                </a:xfrm>
              </p:grpSpPr>
              <p:sp>
                <p:nvSpPr>
                  <p:cNvPr id="90" name="Freeform 66"/>
                  <p:cNvSpPr>
                    <a:spLocks/>
                  </p:cNvSpPr>
                  <p:nvPr/>
                </p:nvSpPr>
                <p:spPr bwMode="auto">
                  <a:xfrm>
                    <a:off x="424" y="1915"/>
                    <a:ext cx="97" cy="69"/>
                  </a:xfrm>
                  <a:custGeom>
                    <a:avLst/>
                    <a:gdLst>
                      <a:gd name="T0" fmla="*/ 0 w 483"/>
                      <a:gd name="T1" fmla="*/ 0 h 346"/>
                      <a:gd name="T2" fmla="*/ 0 w 483"/>
                      <a:gd name="T3" fmla="*/ 0 h 346"/>
                      <a:gd name="T4" fmla="*/ 0 w 483"/>
                      <a:gd name="T5" fmla="*/ 0 h 346"/>
                      <a:gd name="T6" fmla="*/ 0 w 483"/>
                      <a:gd name="T7" fmla="*/ 0 h 346"/>
                      <a:gd name="T8" fmla="*/ 0 w 483"/>
                      <a:gd name="T9" fmla="*/ 0 h 34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3" h="346">
                        <a:moveTo>
                          <a:pt x="0" y="0"/>
                        </a:moveTo>
                        <a:lnTo>
                          <a:pt x="483" y="104"/>
                        </a:lnTo>
                        <a:lnTo>
                          <a:pt x="483" y="346"/>
                        </a:lnTo>
                        <a:lnTo>
                          <a:pt x="0" y="195"/>
                        </a:lnTo>
                        <a:lnTo>
                          <a:pt x="0" y="0"/>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1" name="Line 67"/>
                  <p:cNvSpPr>
                    <a:spLocks noChangeShapeType="1"/>
                  </p:cNvSpPr>
                  <p:nvPr/>
                </p:nvSpPr>
                <p:spPr bwMode="auto">
                  <a:xfrm flipH="1" flipV="1">
                    <a:off x="433" y="1933"/>
                    <a:ext cx="26" cy="6"/>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2" name="Line 68"/>
                  <p:cNvSpPr>
                    <a:spLocks noChangeShapeType="1"/>
                  </p:cNvSpPr>
                  <p:nvPr/>
                </p:nvSpPr>
                <p:spPr bwMode="auto">
                  <a:xfrm>
                    <a:off x="472" y="1941"/>
                    <a:ext cx="34" cy="7"/>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3" name="Line 69"/>
                  <p:cNvSpPr>
                    <a:spLocks noChangeShapeType="1"/>
                  </p:cNvSpPr>
                  <p:nvPr/>
                </p:nvSpPr>
                <p:spPr bwMode="auto">
                  <a:xfrm>
                    <a:off x="465" y="1924"/>
                    <a:ext cx="1" cy="45"/>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4" name="Line 70"/>
                  <p:cNvSpPr>
                    <a:spLocks noChangeShapeType="1"/>
                  </p:cNvSpPr>
                  <p:nvPr/>
                </p:nvSpPr>
                <p:spPr bwMode="auto">
                  <a:xfrm>
                    <a:off x="511" y="1934"/>
                    <a:ext cx="1" cy="49"/>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5" name="Line 71"/>
                  <p:cNvSpPr>
                    <a:spLocks noChangeShapeType="1"/>
                  </p:cNvSpPr>
                  <p:nvPr/>
                </p:nvSpPr>
                <p:spPr bwMode="auto">
                  <a:xfrm>
                    <a:off x="425" y="1933"/>
                    <a:ext cx="88" cy="22"/>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6" name="Line 72"/>
                  <p:cNvSpPr>
                    <a:spLocks noChangeShapeType="1"/>
                  </p:cNvSpPr>
                  <p:nvPr/>
                </p:nvSpPr>
                <p:spPr bwMode="auto">
                  <a:xfrm flipH="1" flipV="1">
                    <a:off x="424" y="1926"/>
                    <a:ext cx="89" cy="21"/>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56" name="Group 73"/>
              <p:cNvGrpSpPr>
                <a:grpSpLocks/>
              </p:cNvGrpSpPr>
              <p:nvPr/>
            </p:nvGrpSpPr>
            <p:grpSpPr bwMode="auto">
              <a:xfrm>
                <a:off x="325" y="1917"/>
                <a:ext cx="231" cy="118"/>
                <a:chOff x="325" y="1917"/>
                <a:chExt cx="231" cy="118"/>
              </a:xfrm>
            </p:grpSpPr>
            <p:grpSp>
              <p:nvGrpSpPr>
                <p:cNvPr id="57" name="Group 74"/>
                <p:cNvGrpSpPr>
                  <a:grpSpLocks/>
                </p:cNvGrpSpPr>
                <p:nvPr/>
              </p:nvGrpSpPr>
              <p:grpSpPr bwMode="auto">
                <a:xfrm>
                  <a:off x="504" y="1981"/>
                  <a:ext cx="37" cy="28"/>
                  <a:chOff x="504" y="1981"/>
                  <a:chExt cx="37" cy="28"/>
                </a:xfrm>
              </p:grpSpPr>
              <p:sp>
                <p:nvSpPr>
                  <p:cNvPr id="86" name="Freeform 75"/>
                  <p:cNvSpPr>
                    <a:spLocks/>
                  </p:cNvSpPr>
                  <p:nvPr/>
                </p:nvSpPr>
                <p:spPr bwMode="auto">
                  <a:xfrm>
                    <a:off x="531" y="1981"/>
                    <a:ext cx="10" cy="28"/>
                  </a:xfrm>
                  <a:custGeom>
                    <a:avLst/>
                    <a:gdLst>
                      <a:gd name="T0" fmla="*/ 0 w 53"/>
                      <a:gd name="T1" fmla="*/ 0 h 140"/>
                      <a:gd name="T2" fmla="*/ 0 w 53"/>
                      <a:gd name="T3" fmla="*/ 0 h 140"/>
                      <a:gd name="T4" fmla="*/ 0 w 53"/>
                      <a:gd name="T5" fmla="*/ 0 h 140"/>
                      <a:gd name="T6" fmla="*/ 0 w 53"/>
                      <a:gd name="T7" fmla="*/ 0 h 140"/>
                      <a:gd name="T8" fmla="*/ 0 w 53"/>
                      <a:gd name="T9" fmla="*/ 0 h 1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3" h="140">
                        <a:moveTo>
                          <a:pt x="37" y="0"/>
                        </a:moveTo>
                        <a:lnTo>
                          <a:pt x="53" y="131"/>
                        </a:lnTo>
                        <a:lnTo>
                          <a:pt x="14" y="140"/>
                        </a:lnTo>
                        <a:lnTo>
                          <a:pt x="0" y="6"/>
                        </a:lnTo>
                        <a:lnTo>
                          <a:pt x="3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7" name="Freeform 76"/>
                  <p:cNvSpPr>
                    <a:spLocks/>
                  </p:cNvSpPr>
                  <p:nvPr/>
                </p:nvSpPr>
                <p:spPr bwMode="auto">
                  <a:xfrm>
                    <a:off x="504" y="1985"/>
                    <a:ext cx="29" cy="24"/>
                  </a:xfrm>
                  <a:custGeom>
                    <a:avLst/>
                    <a:gdLst>
                      <a:gd name="T0" fmla="*/ 0 w 148"/>
                      <a:gd name="T1" fmla="*/ 0 h 122"/>
                      <a:gd name="T2" fmla="*/ 0 w 148"/>
                      <a:gd name="T3" fmla="*/ 0 h 122"/>
                      <a:gd name="T4" fmla="*/ 0 w 148"/>
                      <a:gd name="T5" fmla="*/ 0 h 122"/>
                      <a:gd name="T6" fmla="*/ 0 w 148"/>
                      <a:gd name="T7" fmla="*/ 0 h 122"/>
                      <a:gd name="T8" fmla="*/ 0 w 148"/>
                      <a:gd name="T9" fmla="*/ 0 h 122"/>
                      <a:gd name="T10" fmla="*/ 0 w 148"/>
                      <a:gd name="T11" fmla="*/ 0 h 122"/>
                      <a:gd name="T12" fmla="*/ 0 w 148"/>
                      <a:gd name="T13" fmla="*/ 0 h 1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48" h="122">
                        <a:moveTo>
                          <a:pt x="136" y="5"/>
                        </a:moveTo>
                        <a:lnTo>
                          <a:pt x="148" y="122"/>
                        </a:lnTo>
                        <a:lnTo>
                          <a:pt x="0" y="61"/>
                        </a:lnTo>
                        <a:lnTo>
                          <a:pt x="58" y="43"/>
                        </a:lnTo>
                        <a:lnTo>
                          <a:pt x="111" y="70"/>
                        </a:lnTo>
                        <a:lnTo>
                          <a:pt x="94" y="0"/>
                        </a:lnTo>
                        <a:lnTo>
                          <a:pt x="136" y="5"/>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8" name="Group 77"/>
                <p:cNvGrpSpPr>
                  <a:grpSpLocks/>
                </p:cNvGrpSpPr>
                <p:nvPr/>
              </p:nvGrpSpPr>
              <p:grpSpPr bwMode="auto">
                <a:xfrm>
                  <a:off x="325" y="1917"/>
                  <a:ext cx="231" cy="118"/>
                  <a:chOff x="325" y="1917"/>
                  <a:chExt cx="231" cy="118"/>
                </a:xfrm>
              </p:grpSpPr>
              <p:sp>
                <p:nvSpPr>
                  <p:cNvPr id="59" name="Freeform 78"/>
                  <p:cNvSpPr>
                    <a:spLocks/>
                  </p:cNvSpPr>
                  <p:nvPr/>
                </p:nvSpPr>
                <p:spPr bwMode="auto">
                  <a:xfrm>
                    <a:off x="326" y="1917"/>
                    <a:ext cx="226" cy="105"/>
                  </a:xfrm>
                  <a:custGeom>
                    <a:avLst/>
                    <a:gdLst>
                      <a:gd name="T0" fmla="*/ 0 w 1132"/>
                      <a:gd name="T1" fmla="*/ 0 h 525"/>
                      <a:gd name="T2" fmla="*/ 0 w 1132"/>
                      <a:gd name="T3" fmla="*/ 0 h 525"/>
                      <a:gd name="T4" fmla="*/ 0 w 1132"/>
                      <a:gd name="T5" fmla="*/ 0 h 525"/>
                      <a:gd name="T6" fmla="*/ 0 w 1132"/>
                      <a:gd name="T7" fmla="*/ 0 h 525"/>
                      <a:gd name="T8" fmla="*/ 0 w 1132"/>
                      <a:gd name="T9" fmla="*/ 0 h 5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32" h="525">
                        <a:moveTo>
                          <a:pt x="1132" y="223"/>
                        </a:moveTo>
                        <a:lnTo>
                          <a:pt x="589" y="525"/>
                        </a:lnTo>
                        <a:lnTo>
                          <a:pt x="0" y="230"/>
                        </a:lnTo>
                        <a:lnTo>
                          <a:pt x="452" y="0"/>
                        </a:lnTo>
                        <a:lnTo>
                          <a:pt x="1132" y="223"/>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0" name="Freeform 79"/>
                  <p:cNvSpPr>
                    <a:spLocks/>
                  </p:cNvSpPr>
                  <p:nvPr/>
                </p:nvSpPr>
                <p:spPr bwMode="auto">
                  <a:xfrm>
                    <a:off x="443" y="1961"/>
                    <a:ext cx="113" cy="74"/>
                  </a:xfrm>
                  <a:custGeom>
                    <a:avLst/>
                    <a:gdLst>
                      <a:gd name="T0" fmla="*/ 0 w 566"/>
                      <a:gd name="T1" fmla="*/ 0 h 371"/>
                      <a:gd name="T2" fmla="*/ 0 w 566"/>
                      <a:gd name="T3" fmla="*/ 0 h 371"/>
                      <a:gd name="T4" fmla="*/ 0 w 566"/>
                      <a:gd name="T5" fmla="*/ 0 h 371"/>
                      <a:gd name="T6" fmla="*/ 0 w 566"/>
                      <a:gd name="T7" fmla="*/ 0 h 371"/>
                      <a:gd name="T8" fmla="*/ 0 w 566"/>
                      <a:gd name="T9" fmla="*/ 0 h 3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6" h="371">
                        <a:moveTo>
                          <a:pt x="547" y="0"/>
                        </a:moveTo>
                        <a:lnTo>
                          <a:pt x="0" y="307"/>
                        </a:lnTo>
                        <a:lnTo>
                          <a:pt x="16" y="371"/>
                        </a:lnTo>
                        <a:lnTo>
                          <a:pt x="566" y="60"/>
                        </a:lnTo>
                        <a:lnTo>
                          <a:pt x="54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1" name="Freeform 80"/>
                  <p:cNvSpPr>
                    <a:spLocks/>
                  </p:cNvSpPr>
                  <p:nvPr/>
                </p:nvSpPr>
                <p:spPr bwMode="auto">
                  <a:xfrm>
                    <a:off x="325" y="1963"/>
                    <a:ext cx="121" cy="72"/>
                  </a:xfrm>
                  <a:custGeom>
                    <a:avLst/>
                    <a:gdLst>
                      <a:gd name="T0" fmla="*/ 0 w 605"/>
                      <a:gd name="T1" fmla="*/ 0 h 363"/>
                      <a:gd name="T2" fmla="*/ 0 w 605"/>
                      <a:gd name="T3" fmla="*/ 0 h 363"/>
                      <a:gd name="T4" fmla="*/ 0 w 605"/>
                      <a:gd name="T5" fmla="*/ 0 h 363"/>
                      <a:gd name="T6" fmla="*/ 0 w 605"/>
                      <a:gd name="T7" fmla="*/ 0 h 363"/>
                      <a:gd name="T8" fmla="*/ 0 w 605"/>
                      <a:gd name="T9" fmla="*/ 0 h 3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5" h="363">
                        <a:moveTo>
                          <a:pt x="605" y="363"/>
                        </a:moveTo>
                        <a:lnTo>
                          <a:pt x="587" y="295"/>
                        </a:lnTo>
                        <a:lnTo>
                          <a:pt x="0" y="0"/>
                        </a:lnTo>
                        <a:lnTo>
                          <a:pt x="21" y="53"/>
                        </a:lnTo>
                        <a:lnTo>
                          <a:pt x="605" y="36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2" name="Freeform 81"/>
                  <p:cNvSpPr>
                    <a:spLocks/>
                  </p:cNvSpPr>
                  <p:nvPr/>
                </p:nvSpPr>
                <p:spPr bwMode="auto">
                  <a:xfrm>
                    <a:off x="417" y="1966"/>
                    <a:ext cx="90" cy="46"/>
                  </a:xfrm>
                  <a:custGeom>
                    <a:avLst/>
                    <a:gdLst>
                      <a:gd name="T0" fmla="*/ 0 w 454"/>
                      <a:gd name="T1" fmla="*/ 0 h 230"/>
                      <a:gd name="T2" fmla="*/ 0 w 454"/>
                      <a:gd name="T3" fmla="*/ 0 h 230"/>
                      <a:gd name="T4" fmla="*/ 0 w 454"/>
                      <a:gd name="T5" fmla="*/ 0 h 230"/>
                      <a:gd name="T6" fmla="*/ 0 w 454"/>
                      <a:gd name="T7" fmla="*/ 0 h 230"/>
                      <a:gd name="T8" fmla="*/ 0 w 454"/>
                      <a:gd name="T9" fmla="*/ 0 h 2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54" h="230">
                        <a:moveTo>
                          <a:pt x="454" y="59"/>
                        </a:moveTo>
                        <a:lnTo>
                          <a:pt x="297" y="0"/>
                        </a:lnTo>
                        <a:lnTo>
                          <a:pt x="0" y="161"/>
                        </a:lnTo>
                        <a:lnTo>
                          <a:pt x="151" y="230"/>
                        </a:lnTo>
                        <a:lnTo>
                          <a:pt x="454" y="5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3" name="Freeform 82"/>
                  <p:cNvSpPr>
                    <a:spLocks/>
                  </p:cNvSpPr>
                  <p:nvPr/>
                </p:nvSpPr>
                <p:spPr bwMode="auto">
                  <a:xfrm>
                    <a:off x="336" y="1934"/>
                    <a:ext cx="134" cy="61"/>
                  </a:xfrm>
                  <a:custGeom>
                    <a:avLst/>
                    <a:gdLst>
                      <a:gd name="T0" fmla="*/ 0 w 669"/>
                      <a:gd name="T1" fmla="*/ 0 h 309"/>
                      <a:gd name="T2" fmla="*/ 0 w 669"/>
                      <a:gd name="T3" fmla="*/ 0 h 309"/>
                      <a:gd name="T4" fmla="*/ 0 w 669"/>
                      <a:gd name="T5" fmla="*/ 0 h 309"/>
                      <a:gd name="T6" fmla="*/ 0 w 669"/>
                      <a:gd name="T7" fmla="*/ 0 h 309"/>
                      <a:gd name="T8" fmla="*/ 0 w 669"/>
                      <a:gd name="T9" fmla="*/ 0 h 30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69" h="309">
                        <a:moveTo>
                          <a:pt x="669" y="150"/>
                        </a:moveTo>
                        <a:lnTo>
                          <a:pt x="377" y="309"/>
                        </a:lnTo>
                        <a:lnTo>
                          <a:pt x="0" y="132"/>
                        </a:lnTo>
                        <a:lnTo>
                          <a:pt x="273" y="0"/>
                        </a:lnTo>
                        <a:lnTo>
                          <a:pt x="669" y="15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4" name="Freeform 83"/>
                  <p:cNvSpPr>
                    <a:spLocks/>
                  </p:cNvSpPr>
                  <p:nvPr/>
                </p:nvSpPr>
                <p:spPr bwMode="auto">
                  <a:xfrm>
                    <a:off x="393" y="1920"/>
                    <a:ext cx="148" cy="57"/>
                  </a:xfrm>
                  <a:custGeom>
                    <a:avLst/>
                    <a:gdLst>
                      <a:gd name="T0" fmla="*/ 0 w 738"/>
                      <a:gd name="T1" fmla="*/ 0 h 283"/>
                      <a:gd name="T2" fmla="*/ 0 w 738"/>
                      <a:gd name="T3" fmla="*/ 0 h 283"/>
                      <a:gd name="T4" fmla="*/ 0 w 738"/>
                      <a:gd name="T5" fmla="*/ 0 h 283"/>
                      <a:gd name="T6" fmla="*/ 0 w 738"/>
                      <a:gd name="T7" fmla="*/ 0 h 283"/>
                      <a:gd name="T8" fmla="*/ 0 w 738"/>
                      <a:gd name="T9" fmla="*/ 0 h 28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38" h="283">
                        <a:moveTo>
                          <a:pt x="584" y="283"/>
                        </a:moveTo>
                        <a:lnTo>
                          <a:pt x="738" y="205"/>
                        </a:lnTo>
                        <a:lnTo>
                          <a:pt x="118" y="0"/>
                        </a:lnTo>
                        <a:lnTo>
                          <a:pt x="0" y="60"/>
                        </a:lnTo>
                        <a:lnTo>
                          <a:pt x="584" y="2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5" name="Line 84"/>
                  <p:cNvSpPr>
                    <a:spLocks noChangeShapeType="1"/>
                  </p:cNvSpPr>
                  <p:nvPr/>
                </p:nvSpPr>
                <p:spPr bwMode="auto">
                  <a:xfrm flipH="1" flipV="1">
                    <a:off x="411" y="1923"/>
                    <a:ext cx="128" cy="4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6" name="Line 85"/>
                  <p:cNvSpPr>
                    <a:spLocks noChangeShapeType="1"/>
                  </p:cNvSpPr>
                  <p:nvPr/>
                </p:nvSpPr>
                <p:spPr bwMode="auto">
                  <a:xfrm flipH="1" flipV="1">
                    <a:off x="404" y="1925"/>
                    <a:ext cx="124" cy="45"/>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7" name="Line 86"/>
                  <p:cNvSpPr>
                    <a:spLocks noChangeShapeType="1"/>
                  </p:cNvSpPr>
                  <p:nvPr/>
                </p:nvSpPr>
                <p:spPr bwMode="auto">
                  <a:xfrm flipH="1" flipV="1">
                    <a:off x="399" y="1930"/>
                    <a:ext cx="121" cy="46"/>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8" name="Line 87"/>
                  <p:cNvSpPr>
                    <a:spLocks noChangeShapeType="1"/>
                  </p:cNvSpPr>
                  <p:nvPr/>
                </p:nvSpPr>
                <p:spPr bwMode="auto">
                  <a:xfrm flipH="1" flipV="1">
                    <a:off x="384" y="1937"/>
                    <a:ext cx="119"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9" name="Line 88"/>
                  <p:cNvSpPr>
                    <a:spLocks noChangeShapeType="1"/>
                  </p:cNvSpPr>
                  <p:nvPr/>
                </p:nvSpPr>
                <p:spPr bwMode="auto">
                  <a:xfrm flipH="1" flipV="1">
                    <a:off x="375" y="1942"/>
                    <a:ext cx="118"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0" name="Line 89"/>
                  <p:cNvSpPr>
                    <a:spLocks noChangeShapeType="1"/>
                  </p:cNvSpPr>
                  <p:nvPr/>
                </p:nvSpPr>
                <p:spPr bwMode="auto">
                  <a:xfrm flipH="1" flipV="1">
                    <a:off x="365" y="1946"/>
                    <a:ext cx="119"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1" name="Line 90"/>
                  <p:cNvSpPr>
                    <a:spLocks noChangeShapeType="1"/>
                  </p:cNvSpPr>
                  <p:nvPr/>
                </p:nvSpPr>
                <p:spPr bwMode="auto">
                  <a:xfrm flipH="1" flipV="1">
                    <a:off x="358" y="1951"/>
                    <a:ext cx="114" cy="50"/>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2" name="Line 91"/>
                  <p:cNvSpPr>
                    <a:spLocks noChangeShapeType="1"/>
                  </p:cNvSpPr>
                  <p:nvPr/>
                </p:nvSpPr>
                <p:spPr bwMode="auto">
                  <a:xfrm flipH="1" flipV="1">
                    <a:off x="347" y="1956"/>
                    <a:ext cx="114"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3" name="Line 92"/>
                  <p:cNvSpPr>
                    <a:spLocks noChangeShapeType="1"/>
                  </p:cNvSpPr>
                  <p:nvPr/>
                </p:nvSpPr>
                <p:spPr bwMode="auto">
                  <a:xfrm flipH="1">
                    <a:off x="437" y="1974"/>
                    <a:ext cx="61" cy="3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4" name="Line 93"/>
                  <p:cNvSpPr>
                    <a:spLocks noChangeShapeType="1"/>
                  </p:cNvSpPr>
                  <p:nvPr/>
                </p:nvSpPr>
                <p:spPr bwMode="auto">
                  <a:xfrm flipH="1">
                    <a:off x="426" y="1970"/>
                    <a:ext cx="58" cy="32"/>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5" name="Line 94"/>
                  <p:cNvSpPr>
                    <a:spLocks noChangeShapeType="1"/>
                  </p:cNvSpPr>
                  <p:nvPr/>
                </p:nvSpPr>
                <p:spPr bwMode="auto">
                  <a:xfrm flipH="1">
                    <a:off x="401" y="1959"/>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6" name="Line 95"/>
                  <p:cNvSpPr>
                    <a:spLocks noChangeShapeType="1"/>
                  </p:cNvSpPr>
                  <p:nvPr/>
                </p:nvSpPr>
                <p:spPr bwMode="auto">
                  <a:xfrm flipH="1">
                    <a:off x="387" y="1954"/>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7" name="Line 96"/>
                  <p:cNvSpPr>
                    <a:spLocks noChangeShapeType="1"/>
                  </p:cNvSpPr>
                  <p:nvPr/>
                </p:nvSpPr>
                <p:spPr bwMode="auto">
                  <a:xfrm flipH="1">
                    <a:off x="375" y="1949"/>
                    <a:ext cx="56"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8" name="Line 97"/>
                  <p:cNvSpPr>
                    <a:spLocks noChangeShapeType="1"/>
                  </p:cNvSpPr>
                  <p:nvPr/>
                </p:nvSpPr>
                <p:spPr bwMode="auto">
                  <a:xfrm flipH="1">
                    <a:off x="364" y="1944"/>
                    <a:ext cx="53"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9" name="Line 98"/>
                  <p:cNvSpPr>
                    <a:spLocks noChangeShapeType="1"/>
                  </p:cNvSpPr>
                  <p:nvPr/>
                </p:nvSpPr>
                <p:spPr bwMode="auto">
                  <a:xfrm flipH="1">
                    <a:off x="352" y="1939"/>
                    <a:ext cx="55"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0" name="Line 99"/>
                  <p:cNvSpPr>
                    <a:spLocks noChangeShapeType="1"/>
                  </p:cNvSpPr>
                  <p:nvPr/>
                </p:nvSpPr>
                <p:spPr bwMode="auto">
                  <a:xfrm flipH="1">
                    <a:off x="494" y="1955"/>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1" name="Line 100"/>
                  <p:cNvSpPr>
                    <a:spLocks noChangeShapeType="1"/>
                  </p:cNvSpPr>
                  <p:nvPr/>
                </p:nvSpPr>
                <p:spPr bwMode="auto">
                  <a:xfrm flipH="1">
                    <a:off x="477" y="1949"/>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2" name="Line 101"/>
                  <p:cNvSpPr>
                    <a:spLocks noChangeShapeType="1"/>
                  </p:cNvSpPr>
                  <p:nvPr/>
                </p:nvSpPr>
                <p:spPr bwMode="auto">
                  <a:xfrm flipH="1">
                    <a:off x="460" y="1943"/>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3" name="Line 102"/>
                  <p:cNvSpPr>
                    <a:spLocks noChangeShapeType="1"/>
                  </p:cNvSpPr>
                  <p:nvPr/>
                </p:nvSpPr>
                <p:spPr bwMode="auto">
                  <a:xfrm flipH="1">
                    <a:off x="443" y="1937"/>
                    <a:ext cx="27"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4" name="Line 103"/>
                  <p:cNvSpPr>
                    <a:spLocks noChangeShapeType="1"/>
                  </p:cNvSpPr>
                  <p:nvPr/>
                </p:nvSpPr>
                <p:spPr bwMode="auto">
                  <a:xfrm flipH="1">
                    <a:off x="427" y="1931"/>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5" name="Line 104"/>
                  <p:cNvSpPr>
                    <a:spLocks noChangeShapeType="1"/>
                  </p:cNvSpPr>
                  <p:nvPr/>
                </p:nvSpPr>
                <p:spPr bwMode="auto">
                  <a:xfrm flipH="1">
                    <a:off x="408" y="1925"/>
                    <a:ext cx="24"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grpSp>
        <p:nvGrpSpPr>
          <p:cNvPr id="112" name="Group 105"/>
          <p:cNvGrpSpPr>
            <a:grpSpLocks/>
          </p:cNvGrpSpPr>
          <p:nvPr/>
        </p:nvGrpSpPr>
        <p:grpSpPr bwMode="auto">
          <a:xfrm>
            <a:off x="1941367" y="3251778"/>
            <a:ext cx="55364" cy="100353"/>
            <a:chOff x="287" y="1872"/>
            <a:chExt cx="55" cy="108"/>
          </a:xfrm>
        </p:grpSpPr>
        <p:sp>
          <p:nvSpPr>
            <p:cNvPr id="113" name="Freeform 106"/>
            <p:cNvSpPr>
              <a:spLocks/>
            </p:cNvSpPr>
            <p:nvPr/>
          </p:nvSpPr>
          <p:spPr bwMode="auto">
            <a:xfrm>
              <a:off x="287" y="1872"/>
              <a:ext cx="55" cy="108"/>
            </a:xfrm>
            <a:custGeom>
              <a:avLst/>
              <a:gdLst>
                <a:gd name="T0" fmla="*/ 0 w 276"/>
                <a:gd name="T1" fmla="*/ 0 h 540"/>
                <a:gd name="T2" fmla="*/ 0 w 276"/>
                <a:gd name="T3" fmla="*/ 0 h 540"/>
                <a:gd name="T4" fmla="*/ 0 w 276"/>
                <a:gd name="T5" fmla="*/ 0 h 540"/>
                <a:gd name="T6" fmla="*/ 0 w 276"/>
                <a:gd name="T7" fmla="*/ 0 h 540"/>
                <a:gd name="T8" fmla="*/ 0 w 276"/>
                <a:gd name="T9" fmla="*/ 0 h 540"/>
                <a:gd name="T10" fmla="*/ 0 w 276"/>
                <a:gd name="T11" fmla="*/ 0 h 540"/>
                <a:gd name="T12" fmla="*/ 0 w 276"/>
                <a:gd name="T13" fmla="*/ 0 h 540"/>
                <a:gd name="T14" fmla="*/ 0 w 276"/>
                <a:gd name="T15" fmla="*/ 0 h 540"/>
                <a:gd name="T16" fmla="*/ 0 w 276"/>
                <a:gd name="T17" fmla="*/ 0 h 540"/>
                <a:gd name="T18" fmla="*/ 0 w 276"/>
                <a:gd name="T19" fmla="*/ 0 h 540"/>
                <a:gd name="T20" fmla="*/ 0 w 276"/>
                <a:gd name="T21" fmla="*/ 0 h 540"/>
                <a:gd name="T22" fmla="*/ 0 w 276"/>
                <a:gd name="T23" fmla="*/ 0 h 54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76" h="540">
                  <a:moveTo>
                    <a:pt x="0" y="192"/>
                  </a:moveTo>
                  <a:lnTo>
                    <a:pt x="53" y="121"/>
                  </a:lnTo>
                  <a:lnTo>
                    <a:pt x="104" y="84"/>
                  </a:lnTo>
                  <a:lnTo>
                    <a:pt x="125" y="30"/>
                  </a:lnTo>
                  <a:lnTo>
                    <a:pt x="137" y="6"/>
                  </a:lnTo>
                  <a:lnTo>
                    <a:pt x="195" y="0"/>
                  </a:lnTo>
                  <a:lnTo>
                    <a:pt x="276" y="45"/>
                  </a:lnTo>
                  <a:lnTo>
                    <a:pt x="255" y="143"/>
                  </a:lnTo>
                  <a:lnTo>
                    <a:pt x="232" y="198"/>
                  </a:lnTo>
                  <a:lnTo>
                    <a:pt x="179" y="365"/>
                  </a:lnTo>
                  <a:lnTo>
                    <a:pt x="92" y="540"/>
                  </a:lnTo>
                  <a:lnTo>
                    <a:pt x="0" y="192"/>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4" name="Freeform 107"/>
            <p:cNvSpPr>
              <a:spLocks/>
            </p:cNvSpPr>
            <p:nvPr/>
          </p:nvSpPr>
          <p:spPr bwMode="auto">
            <a:xfrm>
              <a:off x="296" y="1880"/>
              <a:ext cx="43" cy="77"/>
            </a:xfrm>
            <a:custGeom>
              <a:avLst/>
              <a:gdLst>
                <a:gd name="T0" fmla="*/ 0 w 216"/>
                <a:gd name="T1" fmla="*/ 0 h 385"/>
                <a:gd name="T2" fmla="*/ 0 w 216"/>
                <a:gd name="T3" fmla="*/ 0 h 385"/>
                <a:gd name="T4" fmla="*/ 0 w 216"/>
                <a:gd name="T5" fmla="*/ 0 h 385"/>
                <a:gd name="T6" fmla="*/ 0 w 216"/>
                <a:gd name="T7" fmla="*/ 0 h 385"/>
                <a:gd name="T8" fmla="*/ 0 w 216"/>
                <a:gd name="T9" fmla="*/ 0 h 385"/>
                <a:gd name="T10" fmla="*/ 0 w 216"/>
                <a:gd name="T11" fmla="*/ 0 h 385"/>
                <a:gd name="T12" fmla="*/ 0 w 216"/>
                <a:gd name="T13" fmla="*/ 0 h 385"/>
                <a:gd name="T14" fmla="*/ 0 w 216"/>
                <a:gd name="T15" fmla="*/ 0 h 385"/>
                <a:gd name="T16" fmla="*/ 0 w 216"/>
                <a:gd name="T17" fmla="*/ 0 h 385"/>
                <a:gd name="T18" fmla="*/ 0 w 216"/>
                <a:gd name="T19" fmla="*/ 0 h 385"/>
                <a:gd name="T20" fmla="*/ 0 w 216"/>
                <a:gd name="T21" fmla="*/ 0 h 385"/>
                <a:gd name="T22" fmla="*/ 0 w 216"/>
                <a:gd name="T23" fmla="*/ 0 h 385"/>
                <a:gd name="T24" fmla="*/ 0 w 216"/>
                <a:gd name="T25" fmla="*/ 0 h 385"/>
                <a:gd name="T26" fmla="*/ 0 w 216"/>
                <a:gd name="T27" fmla="*/ 0 h 385"/>
                <a:gd name="T28" fmla="*/ 0 w 216"/>
                <a:gd name="T29" fmla="*/ 0 h 385"/>
                <a:gd name="T30" fmla="*/ 0 w 216"/>
                <a:gd name="T31" fmla="*/ 0 h 385"/>
                <a:gd name="T32" fmla="*/ 0 w 216"/>
                <a:gd name="T33" fmla="*/ 0 h 385"/>
                <a:gd name="T34" fmla="*/ 0 w 216"/>
                <a:gd name="T35" fmla="*/ 0 h 385"/>
                <a:gd name="T36" fmla="*/ 0 w 216"/>
                <a:gd name="T37" fmla="*/ 0 h 385"/>
                <a:gd name="T38" fmla="*/ 0 w 216"/>
                <a:gd name="T39" fmla="*/ 0 h 385"/>
                <a:gd name="T40" fmla="*/ 0 w 216"/>
                <a:gd name="T41" fmla="*/ 0 h 385"/>
                <a:gd name="T42" fmla="*/ 0 w 216"/>
                <a:gd name="T43" fmla="*/ 0 h 385"/>
                <a:gd name="T44" fmla="*/ 0 w 216"/>
                <a:gd name="T45" fmla="*/ 0 h 385"/>
                <a:gd name="T46" fmla="*/ 0 w 216"/>
                <a:gd name="T47" fmla="*/ 0 h 385"/>
                <a:gd name="T48" fmla="*/ 0 w 216"/>
                <a:gd name="T49" fmla="*/ 0 h 385"/>
                <a:gd name="T50" fmla="*/ 0 w 216"/>
                <a:gd name="T51" fmla="*/ 0 h 385"/>
                <a:gd name="T52" fmla="*/ 0 w 216"/>
                <a:gd name="T53" fmla="*/ 0 h 385"/>
                <a:gd name="T54" fmla="*/ 0 w 216"/>
                <a:gd name="T55" fmla="*/ 0 h 385"/>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216" h="385">
                  <a:moveTo>
                    <a:pt x="91" y="0"/>
                  </a:moveTo>
                  <a:lnTo>
                    <a:pt x="115" y="25"/>
                  </a:lnTo>
                  <a:lnTo>
                    <a:pt x="165" y="46"/>
                  </a:lnTo>
                  <a:lnTo>
                    <a:pt x="216" y="44"/>
                  </a:lnTo>
                  <a:lnTo>
                    <a:pt x="185" y="132"/>
                  </a:lnTo>
                  <a:lnTo>
                    <a:pt x="147" y="128"/>
                  </a:lnTo>
                  <a:lnTo>
                    <a:pt x="118" y="112"/>
                  </a:lnTo>
                  <a:lnTo>
                    <a:pt x="134" y="138"/>
                  </a:lnTo>
                  <a:lnTo>
                    <a:pt x="177" y="146"/>
                  </a:lnTo>
                  <a:lnTo>
                    <a:pt x="145" y="242"/>
                  </a:lnTo>
                  <a:lnTo>
                    <a:pt x="124" y="312"/>
                  </a:lnTo>
                  <a:lnTo>
                    <a:pt x="115" y="271"/>
                  </a:lnTo>
                  <a:lnTo>
                    <a:pt x="103" y="197"/>
                  </a:lnTo>
                  <a:lnTo>
                    <a:pt x="102" y="155"/>
                  </a:lnTo>
                  <a:lnTo>
                    <a:pt x="94" y="173"/>
                  </a:lnTo>
                  <a:lnTo>
                    <a:pt x="94" y="222"/>
                  </a:lnTo>
                  <a:lnTo>
                    <a:pt x="103" y="290"/>
                  </a:lnTo>
                  <a:lnTo>
                    <a:pt x="110" y="333"/>
                  </a:lnTo>
                  <a:lnTo>
                    <a:pt x="91" y="385"/>
                  </a:lnTo>
                  <a:lnTo>
                    <a:pt x="55" y="250"/>
                  </a:lnTo>
                  <a:lnTo>
                    <a:pt x="39" y="204"/>
                  </a:lnTo>
                  <a:lnTo>
                    <a:pt x="12" y="135"/>
                  </a:lnTo>
                  <a:lnTo>
                    <a:pt x="0" y="115"/>
                  </a:lnTo>
                  <a:lnTo>
                    <a:pt x="16" y="88"/>
                  </a:lnTo>
                  <a:lnTo>
                    <a:pt x="64" y="64"/>
                  </a:lnTo>
                  <a:lnTo>
                    <a:pt x="81" y="87"/>
                  </a:lnTo>
                  <a:lnTo>
                    <a:pt x="71" y="46"/>
                  </a:lnTo>
                  <a:lnTo>
                    <a:pt x="9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15" name="Group 108"/>
          <p:cNvGrpSpPr>
            <a:grpSpLocks/>
          </p:cNvGrpSpPr>
          <p:nvPr/>
        </p:nvGrpSpPr>
        <p:grpSpPr bwMode="auto">
          <a:xfrm>
            <a:off x="1932308" y="3194169"/>
            <a:ext cx="70463" cy="70619"/>
            <a:chOff x="278" y="1810"/>
            <a:chExt cx="70" cy="76"/>
          </a:xfrm>
        </p:grpSpPr>
        <p:sp>
          <p:nvSpPr>
            <p:cNvPr id="116" name="Freeform 109"/>
            <p:cNvSpPr>
              <a:spLocks/>
            </p:cNvSpPr>
            <p:nvPr/>
          </p:nvSpPr>
          <p:spPr bwMode="auto">
            <a:xfrm>
              <a:off x="297" y="1815"/>
              <a:ext cx="51" cy="71"/>
            </a:xfrm>
            <a:custGeom>
              <a:avLst/>
              <a:gdLst>
                <a:gd name="T0" fmla="*/ 0 w 256"/>
                <a:gd name="T1" fmla="*/ 0 h 356"/>
                <a:gd name="T2" fmla="*/ 0 w 256"/>
                <a:gd name="T3" fmla="*/ 0 h 356"/>
                <a:gd name="T4" fmla="*/ 0 w 256"/>
                <a:gd name="T5" fmla="*/ 0 h 356"/>
                <a:gd name="T6" fmla="*/ 0 w 256"/>
                <a:gd name="T7" fmla="*/ 0 h 356"/>
                <a:gd name="T8" fmla="*/ 0 w 256"/>
                <a:gd name="T9" fmla="*/ 0 h 356"/>
                <a:gd name="T10" fmla="*/ 0 w 256"/>
                <a:gd name="T11" fmla="*/ 0 h 356"/>
                <a:gd name="T12" fmla="*/ 0 w 256"/>
                <a:gd name="T13" fmla="*/ 0 h 356"/>
                <a:gd name="T14" fmla="*/ 0 w 256"/>
                <a:gd name="T15" fmla="*/ 0 h 356"/>
                <a:gd name="T16" fmla="*/ 0 w 256"/>
                <a:gd name="T17" fmla="*/ 0 h 356"/>
                <a:gd name="T18" fmla="*/ 0 w 256"/>
                <a:gd name="T19" fmla="*/ 0 h 356"/>
                <a:gd name="T20" fmla="*/ 0 w 256"/>
                <a:gd name="T21" fmla="*/ 0 h 356"/>
                <a:gd name="T22" fmla="*/ 0 w 256"/>
                <a:gd name="T23" fmla="*/ 0 h 356"/>
                <a:gd name="T24" fmla="*/ 0 w 256"/>
                <a:gd name="T25" fmla="*/ 0 h 356"/>
                <a:gd name="T26" fmla="*/ 0 w 256"/>
                <a:gd name="T27" fmla="*/ 0 h 356"/>
                <a:gd name="T28" fmla="*/ 0 w 256"/>
                <a:gd name="T29" fmla="*/ 0 h 356"/>
                <a:gd name="T30" fmla="*/ 0 w 256"/>
                <a:gd name="T31" fmla="*/ 0 h 356"/>
                <a:gd name="T32" fmla="*/ 0 w 256"/>
                <a:gd name="T33" fmla="*/ 0 h 356"/>
                <a:gd name="T34" fmla="*/ 0 w 256"/>
                <a:gd name="T35" fmla="*/ 0 h 356"/>
                <a:gd name="T36" fmla="*/ 0 w 256"/>
                <a:gd name="T37" fmla="*/ 0 h 356"/>
                <a:gd name="T38" fmla="*/ 0 w 256"/>
                <a:gd name="T39" fmla="*/ 0 h 356"/>
                <a:gd name="T40" fmla="*/ 0 w 256"/>
                <a:gd name="T41" fmla="*/ 0 h 356"/>
                <a:gd name="T42" fmla="*/ 0 w 256"/>
                <a:gd name="T43" fmla="*/ 0 h 356"/>
                <a:gd name="T44" fmla="*/ 0 w 256"/>
                <a:gd name="T45" fmla="*/ 0 h 356"/>
                <a:gd name="T46" fmla="*/ 0 w 256"/>
                <a:gd name="T47" fmla="*/ 0 h 356"/>
                <a:gd name="T48" fmla="*/ 0 w 256"/>
                <a:gd name="T49" fmla="*/ 0 h 356"/>
                <a:gd name="T50" fmla="*/ 0 w 256"/>
                <a:gd name="T51" fmla="*/ 0 h 356"/>
                <a:gd name="T52" fmla="*/ 0 w 256"/>
                <a:gd name="T53" fmla="*/ 0 h 356"/>
                <a:gd name="T54" fmla="*/ 0 w 256"/>
                <a:gd name="T55" fmla="*/ 0 h 356"/>
                <a:gd name="T56" fmla="*/ 0 w 256"/>
                <a:gd name="T57" fmla="*/ 0 h 356"/>
                <a:gd name="T58" fmla="*/ 0 w 256"/>
                <a:gd name="T59" fmla="*/ 0 h 356"/>
                <a:gd name="T60" fmla="*/ 0 w 256"/>
                <a:gd name="T61" fmla="*/ 0 h 356"/>
                <a:gd name="T62" fmla="*/ 0 w 256"/>
                <a:gd name="T63" fmla="*/ 0 h 356"/>
                <a:gd name="T64" fmla="*/ 0 w 256"/>
                <a:gd name="T65" fmla="*/ 0 h 356"/>
                <a:gd name="T66" fmla="*/ 0 w 256"/>
                <a:gd name="T67" fmla="*/ 0 h 356"/>
                <a:gd name="T68" fmla="*/ 0 w 256"/>
                <a:gd name="T69" fmla="*/ 0 h 356"/>
                <a:gd name="T70" fmla="*/ 0 w 256"/>
                <a:gd name="T71" fmla="*/ 0 h 356"/>
                <a:gd name="T72" fmla="*/ 0 w 256"/>
                <a:gd name="T73" fmla="*/ 0 h 356"/>
                <a:gd name="T74" fmla="*/ 0 w 256"/>
                <a:gd name="T75" fmla="*/ 0 h 356"/>
                <a:gd name="T76" fmla="*/ 0 w 256"/>
                <a:gd name="T77" fmla="*/ 0 h 356"/>
                <a:gd name="T78" fmla="*/ 0 w 256"/>
                <a:gd name="T79" fmla="*/ 0 h 356"/>
                <a:gd name="T80" fmla="*/ 0 w 256"/>
                <a:gd name="T81" fmla="*/ 0 h 356"/>
                <a:gd name="T82" fmla="*/ 0 w 256"/>
                <a:gd name="T83" fmla="*/ 0 h 356"/>
                <a:gd name="T84" fmla="*/ 0 w 256"/>
                <a:gd name="T85" fmla="*/ 0 h 356"/>
                <a:gd name="T86" fmla="*/ 0 w 256"/>
                <a:gd name="T87" fmla="*/ 0 h 356"/>
                <a:gd name="T88" fmla="*/ 0 w 256"/>
                <a:gd name="T89" fmla="*/ 0 h 356"/>
                <a:gd name="T90" fmla="*/ 0 w 256"/>
                <a:gd name="T91" fmla="*/ 0 h 356"/>
                <a:gd name="T92" fmla="*/ 0 w 256"/>
                <a:gd name="T93" fmla="*/ 0 h 356"/>
                <a:gd name="T94" fmla="*/ 0 w 256"/>
                <a:gd name="T95" fmla="*/ 0 h 35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256" h="356">
                  <a:moveTo>
                    <a:pt x="3" y="130"/>
                  </a:moveTo>
                  <a:lnTo>
                    <a:pt x="11" y="155"/>
                  </a:lnTo>
                  <a:lnTo>
                    <a:pt x="26" y="167"/>
                  </a:lnTo>
                  <a:lnTo>
                    <a:pt x="35" y="187"/>
                  </a:lnTo>
                  <a:lnTo>
                    <a:pt x="45" y="203"/>
                  </a:lnTo>
                  <a:lnTo>
                    <a:pt x="61" y="218"/>
                  </a:lnTo>
                  <a:lnTo>
                    <a:pt x="73" y="227"/>
                  </a:lnTo>
                  <a:lnTo>
                    <a:pt x="93" y="238"/>
                  </a:lnTo>
                  <a:lnTo>
                    <a:pt x="96" y="252"/>
                  </a:lnTo>
                  <a:lnTo>
                    <a:pt x="96" y="270"/>
                  </a:lnTo>
                  <a:lnTo>
                    <a:pt x="91" y="315"/>
                  </a:lnTo>
                  <a:lnTo>
                    <a:pt x="127" y="341"/>
                  </a:lnTo>
                  <a:lnTo>
                    <a:pt x="157" y="354"/>
                  </a:lnTo>
                  <a:lnTo>
                    <a:pt x="182" y="356"/>
                  </a:lnTo>
                  <a:lnTo>
                    <a:pt x="207" y="354"/>
                  </a:lnTo>
                  <a:lnTo>
                    <a:pt x="216" y="325"/>
                  </a:lnTo>
                  <a:lnTo>
                    <a:pt x="222" y="260"/>
                  </a:lnTo>
                  <a:lnTo>
                    <a:pt x="237" y="237"/>
                  </a:lnTo>
                  <a:lnTo>
                    <a:pt x="248" y="204"/>
                  </a:lnTo>
                  <a:lnTo>
                    <a:pt x="250" y="173"/>
                  </a:lnTo>
                  <a:lnTo>
                    <a:pt x="255" y="131"/>
                  </a:lnTo>
                  <a:lnTo>
                    <a:pt x="256" y="107"/>
                  </a:lnTo>
                  <a:lnTo>
                    <a:pt x="255" y="92"/>
                  </a:lnTo>
                  <a:lnTo>
                    <a:pt x="248" y="66"/>
                  </a:lnTo>
                  <a:lnTo>
                    <a:pt x="234" y="52"/>
                  </a:lnTo>
                  <a:lnTo>
                    <a:pt x="215" y="48"/>
                  </a:lnTo>
                  <a:lnTo>
                    <a:pt x="208" y="33"/>
                  </a:lnTo>
                  <a:lnTo>
                    <a:pt x="191" y="23"/>
                  </a:lnTo>
                  <a:lnTo>
                    <a:pt x="173" y="33"/>
                  </a:lnTo>
                  <a:lnTo>
                    <a:pt x="160" y="12"/>
                  </a:lnTo>
                  <a:lnTo>
                    <a:pt x="140" y="5"/>
                  </a:lnTo>
                  <a:lnTo>
                    <a:pt x="118" y="24"/>
                  </a:lnTo>
                  <a:lnTo>
                    <a:pt x="108" y="0"/>
                  </a:lnTo>
                  <a:lnTo>
                    <a:pt x="78" y="3"/>
                  </a:lnTo>
                  <a:lnTo>
                    <a:pt x="63" y="42"/>
                  </a:lnTo>
                  <a:lnTo>
                    <a:pt x="60" y="64"/>
                  </a:lnTo>
                  <a:lnTo>
                    <a:pt x="57" y="93"/>
                  </a:lnTo>
                  <a:lnTo>
                    <a:pt x="51" y="131"/>
                  </a:lnTo>
                  <a:lnTo>
                    <a:pt x="43" y="116"/>
                  </a:lnTo>
                  <a:lnTo>
                    <a:pt x="39" y="89"/>
                  </a:lnTo>
                  <a:lnTo>
                    <a:pt x="34" y="70"/>
                  </a:lnTo>
                  <a:lnTo>
                    <a:pt x="27" y="61"/>
                  </a:lnTo>
                  <a:lnTo>
                    <a:pt x="12" y="54"/>
                  </a:lnTo>
                  <a:lnTo>
                    <a:pt x="4" y="57"/>
                  </a:lnTo>
                  <a:lnTo>
                    <a:pt x="0" y="66"/>
                  </a:lnTo>
                  <a:lnTo>
                    <a:pt x="5" y="80"/>
                  </a:lnTo>
                  <a:lnTo>
                    <a:pt x="7" y="107"/>
                  </a:lnTo>
                  <a:lnTo>
                    <a:pt x="3" y="13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7" name="Freeform 110"/>
            <p:cNvSpPr>
              <a:spLocks/>
            </p:cNvSpPr>
            <p:nvPr/>
          </p:nvSpPr>
          <p:spPr bwMode="auto">
            <a:xfrm>
              <a:off x="320" y="1820"/>
              <a:ext cx="26" cy="27"/>
            </a:xfrm>
            <a:custGeom>
              <a:avLst/>
              <a:gdLst>
                <a:gd name="T0" fmla="*/ 0 w 129"/>
                <a:gd name="T1" fmla="*/ 0 h 134"/>
                <a:gd name="T2" fmla="*/ 0 w 129"/>
                <a:gd name="T3" fmla="*/ 0 h 134"/>
                <a:gd name="T4" fmla="*/ 0 w 129"/>
                <a:gd name="T5" fmla="*/ 0 h 134"/>
                <a:gd name="T6" fmla="*/ 0 w 129"/>
                <a:gd name="T7" fmla="*/ 0 h 134"/>
                <a:gd name="T8" fmla="*/ 0 w 129"/>
                <a:gd name="T9" fmla="*/ 0 h 134"/>
                <a:gd name="T10" fmla="*/ 0 w 129"/>
                <a:gd name="T11" fmla="*/ 0 h 134"/>
                <a:gd name="T12" fmla="*/ 0 w 129"/>
                <a:gd name="T13" fmla="*/ 0 h 134"/>
                <a:gd name="T14" fmla="*/ 0 w 129"/>
                <a:gd name="T15" fmla="*/ 0 h 134"/>
                <a:gd name="T16" fmla="*/ 0 w 129"/>
                <a:gd name="T17" fmla="*/ 0 h 134"/>
                <a:gd name="T18" fmla="*/ 0 w 129"/>
                <a:gd name="T19" fmla="*/ 0 h 134"/>
                <a:gd name="T20" fmla="*/ 0 w 129"/>
                <a:gd name="T21" fmla="*/ 0 h 134"/>
                <a:gd name="T22" fmla="*/ 0 w 129"/>
                <a:gd name="T23" fmla="*/ 0 h 134"/>
                <a:gd name="T24" fmla="*/ 0 w 129"/>
                <a:gd name="T25" fmla="*/ 0 h 134"/>
                <a:gd name="T26" fmla="*/ 0 w 129"/>
                <a:gd name="T27" fmla="*/ 0 h 134"/>
                <a:gd name="T28" fmla="*/ 0 w 129"/>
                <a:gd name="T29" fmla="*/ 0 h 134"/>
                <a:gd name="T30" fmla="*/ 0 w 129"/>
                <a:gd name="T31" fmla="*/ 0 h 134"/>
                <a:gd name="T32" fmla="*/ 0 w 129"/>
                <a:gd name="T33" fmla="*/ 0 h 134"/>
                <a:gd name="T34" fmla="*/ 0 w 129"/>
                <a:gd name="T35" fmla="*/ 0 h 134"/>
                <a:gd name="T36" fmla="*/ 0 w 129"/>
                <a:gd name="T37" fmla="*/ 0 h 134"/>
                <a:gd name="T38" fmla="*/ 0 w 129"/>
                <a:gd name="T39" fmla="*/ 0 h 134"/>
                <a:gd name="T40" fmla="*/ 0 w 129"/>
                <a:gd name="T41" fmla="*/ 0 h 134"/>
                <a:gd name="T42" fmla="*/ 0 w 129"/>
                <a:gd name="T43" fmla="*/ 0 h 134"/>
                <a:gd name="T44" fmla="*/ 0 w 129"/>
                <a:gd name="T45" fmla="*/ 0 h 134"/>
                <a:gd name="T46" fmla="*/ 0 w 129"/>
                <a:gd name="T47" fmla="*/ 0 h 134"/>
                <a:gd name="T48" fmla="*/ 0 w 129"/>
                <a:gd name="T49" fmla="*/ 0 h 134"/>
                <a:gd name="T50" fmla="*/ 0 w 129"/>
                <a:gd name="T51" fmla="*/ 0 h 134"/>
                <a:gd name="T52" fmla="*/ 0 w 129"/>
                <a:gd name="T53" fmla="*/ 0 h 134"/>
                <a:gd name="T54" fmla="*/ 0 w 129"/>
                <a:gd name="T55" fmla="*/ 0 h 134"/>
                <a:gd name="T56" fmla="*/ 0 w 129"/>
                <a:gd name="T57" fmla="*/ 0 h 134"/>
                <a:gd name="T58" fmla="*/ 0 w 129"/>
                <a:gd name="T59" fmla="*/ 0 h 134"/>
                <a:gd name="T60" fmla="*/ 0 w 129"/>
                <a:gd name="T61" fmla="*/ 0 h 134"/>
                <a:gd name="T62" fmla="*/ 0 w 129"/>
                <a:gd name="T63" fmla="*/ 0 h 134"/>
                <a:gd name="T64" fmla="*/ 0 w 129"/>
                <a:gd name="T65" fmla="*/ 0 h 134"/>
                <a:gd name="T66" fmla="*/ 0 w 129"/>
                <a:gd name="T67" fmla="*/ 0 h 134"/>
                <a:gd name="T68" fmla="*/ 0 w 129"/>
                <a:gd name="T69" fmla="*/ 0 h 134"/>
                <a:gd name="T70" fmla="*/ 0 w 129"/>
                <a:gd name="T71" fmla="*/ 0 h 134"/>
                <a:gd name="T72" fmla="*/ 0 w 129"/>
                <a:gd name="T73" fmla="*/ 0 h 134"/>
                <a:gd name="T74" fmla="*/ 0 w 129"/>
                <a:gd name="T75" fmla="*/ 0 h 134"/>
                <a:gd name="T76" fmla="*/ 0 w 129"/>
                <a:gd name="T77" fmla="*/ 0 h 134"/>
                <a:gd name="T78" fmla="*/ 0 w 129"/>
                <a:gd name="T79" fmla="*/ 0 h 134"/>
                <a:gd name="T80" fmla="*/ 0 w 129"/>
                <a:gd name="T81" fmla="*/ 0 h 134"/>
                <a:gd name="T82" fmla="*/ 0 w 129"/>
                <a:gd name="T83" fmla="*/ 0 h 134"/>
                <a:gd name="T84" fmla="*/ 0 w 129"/>
                <a:gd name="T85" fmla="*/ 0 h 134"/>
                <a:gd name="T86" fmla="*/ 0 w 129"/>
                <a:gd name="T87" fmla="*/ 0 h 134"/>
                <a:gd name="T88" fmla="*/ 0 w 129"/>
                <a:gd name="T89" fmla="*/ 0 h 134"/>
                <a:gd name="T90" fmla="*/ 0 w 129"/>
                <a:gd name="T91" fmla="*/ 0 h 134"/>
                <a:gd name="T92" fmla="*/ 0 w 129"/>
                <a:gd name="T93" fmla="*/ 0 h 134"/>
                <a:gd name="T94" fmla="*/ 0 w 129"/>
                <a:gd name="T95" fmla="*/ 0 h 134"/>
                <a:gd name="T96" fmla="*/ 0 w 129"/>
                <a:gd name="T97" fmla="*/ 0 h 134"/>
                <a:gd name="T98" fmla="*/ 0 w 129"/>
                <a:gd name="T99" fmla="*/ 0 h 134"/>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129" h="134">
                  <a:moveTo>
                    <a:pt x="6" y="2"/>
                  </a:moveTo>
                  <a:lnTo>
                    <a:pt x="13" y="30"/>
                  </a:lnTo>
                  <a:lnTo>
                    <a:pt x="22" y="49"/>
                  </a:lnTo>
                  <a:lnTo>
                    <a:pt x="11" y="91"/>
                  </a:lnTo>
                  <a:lnTo>
                    <a:pt x="18" y="100"/>
                  </a:lnTo>
                  <a:lnTo>
                    <a:pt x="28" y="104"/>
                  </a:lnTo>
                  <a:lnTo>
                    <a:pt x="41" y="102"/>
                  </a:lnTo>
                  <a:lnTo>
                    <a:pt x="51" y="79"/>
                  </a:lnTo>
                  <a:lnTo>
                    <a:pt x="60" y="61"/>
                  </a:lnTo>
                  <a:lnTo>
                    <a:pt x="55" y="36"/>
                  </a:lnTo>
                  <a:lnTo>
                    <a:pt x="53" y="9"/>
                  </a:lnTo>
                  <a:lnTo>
                    <a:pt x="60" y="12"/>
                  </a:lnTo>
                  <a:lnTo>
                    <a:pt x="62" y="37"/>
                  </a:lnTo>
                  <a:lnTo>
                    <a:pt x="65" y="54"/>
                  </a:lnTo>
                  <a:lnTo>
                    <a:pt x="65" y="68"/>
                  </a:lnTo>
                  <a:lnTo>
                    <a:pt x="56" y="83"/>
                  </a:lnTo>
                  <a:lnTo>
                    <a:pt x="47" y="100"/>
                  </a:lnTo>
                  <a:lnTo>
                    <a:pt x="46" y="116"/>
                  </a:lnTo>
                  <a:lnTo>
                    <a:pt x="56" y="123"/>
                  </a:lnTo>
                  <a:lnTo>
                    <a:pt x="75" y="120"/>
                  </a:lnTo>
                  <a:lnTo>
                    <a:pt x="86" y="106"/>
                  </a:lnTo>
                  <a:lnTo>
                    <a:pt x="104" y="84"/>
                  </a:lnTo>
                  <a:lnTo>
                    <a:pt x="103" y="70"/>
                  </a:lnTo>
                  <a:lnTo>
                    <a:pt x="101" y="45"/>
                  </a:lnTo>
                  <a:lnTo>
                    <a:pt x="107" y="65"/>
                  </a:lnTo>
                  <a:lnTo>
                    <a:pt x="108" y="84"/>
                  </a:lnTo>
                  <a:lnTo>
                    <a:pt x="94" y="103"/>
                  </a:lnTo>
                  <a:lnTo>
                    <a:pt x="93" y="117"/>
                  </a:lnTo>
                  <a:lnTo>
                    <a:pt x="96" y="128"/>
                  </a:lnTo>
                  <a:lnTo>
                    <a:pt x="104" y="131"/>
                  </a:lnTo>
                  <a:lnTo>
                    <a:pt x="113" y="125"/>
                  </a:lnTo>
                  <a:lnTo>
                    <a:pt x="129" y="109"/>
                  </a:lnTo>
                  <a:lnTo>
                    <a:pt x="116" y="127"/>
                  </a:lnTo>
                  <a:lnTo>
                    <a:pt x="111" y="134"/>
                  </a:lnTo>
                  <a:lnTo>
                    <a:pt x="97" y="134"/>
                  </a:lnTo>
                  <a:lnTo>
                    <a:pt x="91" y="126"/>
                  </a:lnTo>
                  <a:lnTo>
                    <a:pt x="87" y="114"/>
                  </a:lnTo>
                  <a:lnTo>
                    <a:pt x="79" y="125"/>
                  </a:lnTo>
                  <a:lnTo>
                    <a:pt x="63" y="127"/>
                  </a:lnTo>
                  <a:lnTo>
                    <a:pt x="49" y="127"/>
                  </a:lnTo>
                  <a:lnTo>
                    <a:pt x="43" y="116"/>
                  </a:lnTo>
                  <a:lnTo>
                    <a:pt x="41" y="106"/>
                  </a:lnTo>
                  <a:lnTo>
                    <a:pt x="35" y="109"/>
                  </a:lnTo>
                  <a:lnTo>
                    <a:pt x="24" y="109"/>
                  </a:lnTo>
                  <a:lnTo>
                    <a:pt x="11" y="101"/>
                  </a:lnTo>
                  <a:lnTo>
                    <a:pt x="8" y="86"/>
                  </a:lnTo>
                  <a:lnTo>
                    <a:pt x="18" y="51"/>
                  </a:lnTo>
                  <a:lnTo>
                    <a:pt x="7" y="29"/>
                  </a:lnTo>
                  <a:lnTo>
                    <a:pt x="0" y="0"/>
                  </a:lnTo>
                  <a:lnTo>
                    <a:pt x="6"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8" name="Freeform 111"/>
            <p:cNvSpPr>
              <a:spLocks/>
            </p:cNvSpPr>
            <p:nvPr/>
          </p:nvSpPr>
          <p:spPr bwMode="auto">
            <a:xfrm>
              <a:off x="325" y="1834"/>
              <a:ext cx="4" cy="1"/>
            </a:xfrm>
            <a:custGeom>
              <a:avLst/>
              <a:gdLst>
                <a:gd name="T0" fmla="*/ 0 w 20"/>
                <a:gd name="T1" fmla="*/ 0 h 5"/>
                <a:gd name="T2" fmla="*/ 0 w 20"/>
                <a:gd name="T3" fmla="*/ 0 h 5"/>
                <a:gd name="T4" fmla="*/ 0 w 20"/>
                <a:gd name="T5" fmla="*/ 0 h 5"/>
                <a:gd name="T6" fmla="*/ 0 w 20"/>
                <a:gd name="T7" fmla="*/ 0 h 5"/>
                <a:gd name="T8" fmla="*/ 0 w 20"/>
                <a:gd name="T9" fmla="*/ 0 h 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 h="5">
                  <a:moveTo>
                    <a:pt x="0" y="5"/>
                  </a:moveTo>
                  <a:lnTo>
                    <a:pt x="6" y="4"/>
                  </a:lnTo>
                  <a:lnTo>
                    <a:pt x="20" y="4"/>
                  </a:lnTo>
                  <a:lnTo>
                    <a:pt x="5" y="0"/>
                  </a:lnTo>
                  <a:lnTo>
                    <a:pt x="0"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9" name="Freeform 112"/>
            <p:cNvSpPr>
              <a:spLocks/>
            </p:cNvSpPr>
            <p:nvPr/>
          </p:nvSpPr>
          <p:spPr bwMode="auto">
            <a:xfrm>
              <a:off x="330" y="1838"/>
              <a:ext cx="6" cy="2"/>
            </a:xfrm>
            <a:custGeom>
              <a:avLst/>
              <a:gdLst>
                <a:gd name="T0" fmla="*/ 0 w 27"/>
                <a:gd name="T1" fmla="*/ 0 h 9"/>
                <a:gd name="T2" fmla="*/ 0 w 27"/>
                <a:gd name="T3" fmla="*/ 0 h 9"/>
                <a:gd name="T4" fmla="*/ 0 w 27"/>
                <a:gd name="T5" fmla="*/ 0 h 9"/>
                <a:gd name="T6" fmla="*/ 0 w 27"/>
                <a:gd name="T7" fmla="*/ 0 h 9"/>
                <a:gd name="T8" fmla="*/ 0 w 27"/>
                <a:gd name="T9" fmla="*/ 0 h 9"/>
                <a:gd name="T10" fmla="*/ 0 w 27"/>
                <a:gd name="T11" fmla="*/ 0 h 9"/>
                <a:gd name="T12" fmla="*/ 0 w 27"/>
                <a:gd name="T13" fmla="*/ 0 h 9"/>
                <a:gd name="T14" fmla="*/ 0 w 27"/>
                <a:gd name="T15" fmla="*/ 0 h 9"/>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7" h="9">
                  <a:moveTo>
                    <a:pt x="27" y="7"/>
                  </a:moveTo>
                  <a:lnTo>
                    <a:pt x="23" y="3"/>
                  </a:lnTo>
                  <a:lnTo>
                    <a:pt x="17" y="1"/>
                  </a:lnTo>
                  <a:lnTo>
                    <a:pt x="6" y="0"/>
                  </a:lnTo>
                  <a:lnTo>
                    <a:pt x="0" y="9"/>
                  </a:lnTo>
                  <a:lnTo>
                    <a:pt x="8" y="3"/>
                  </a:lnTo>
                  <a:lnTo>
                    <a:pt x="15" y="2"/>
                  </a:lnTo>
                  <a:lnTo>
                    <a:pt x="27" y="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0" name="Freeform 113"/>
            <p:cNvSpPr>
              <a:spLocks/>
            </p:cNvSpPr>
            <p:nvPr/>
          </p:nvSpPr>
          <p:spPr bwMode="auto">
            <a:xfrm>
              <a:off x="340" y="1841"/>
              <a:ext cx="4" cy="1"/>
            </a:xfrm>
            <a:custGeom>
              <a:avLst/>
              <a:gdLst>
                <a:gd name="T0" fmla="*/ 0 w 20"/>
                <a:gd name="T1" fmla="*/ 0 h 4"/>
                <a:gd name="T2" fmla="*/ 0 w 20"/>
                <a:gd name="T3" fmla="*/ 0 h 4"/>
                <a:gd name="T4" fmla="*/ 0 w 20"/>
                <a:gd name="T5" fmla="*/ 0 h 4"/>
                <a:gd name="T6" fmla="*/ 0 w 20"/>
                <a:gd name="T7" fmla="*/ 0 h 4"/>
                <a:gd name="T8" fmla="*/ 0 w 20"/>
                <a:gd name="T9" fmla="*/ 0 h 4"/>
                <a:gd name="T10" fmla="*/ 0 w 20"/>
                <a:gd name="T11" fmla="*/ 0 h 4"/>
                <a:gd name="T12" fmla="*/ 0 w 20"/>
                <a:gd name="T13" fmla="*/ 0 h 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4">
                  <a:moveTo>
                    <a:pt x="0" y="2"/>
                  </a:moveTo>
                  <a:lnTo>
                    <a:pt x="4" y="0"/>
                  </a:lnTo>
                  <a:lnTo>
                    <a:pt x="11" y="0"/>
                  </a:lnTo>
                  <a:lnTo>
                    <a:pt x="20" y="4"/>
                  </a:lnTo>
                  <a:lnTo>
                    <a:pt x="15" y="3"/>
                  </a:lnTo>
                  <a:lnTo>
                    <a:pt x="11" y="1"/>
                  </a:lnTo>
                  <a:lnTo>
                    <a:pt x="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1" name="Freeform 114"/>
            <p:cNvSpPr>
              <a:spLocks/>
            </p:cNvSpPr>
            <p:nvPr/>
          </p:nvSpPr>
          <p:spPr bwMode="auto">
            <a:xfrm>
              <a:off x="323" y="1845"/>
              <a:ext cx="6" cy="15"/>
            </a:xfrm>
            <a:custGeom>
              <a:avLst/>
              <a:gdLst>
                <a:gd name="T0" fmla="*/ 0 w 31"/>
                <a:gd name="T1" fmla="*/ 0 h 74"/>
                <a:gd name="T2" fmla="*/ 0 w 31"/>
                <a:gd name="T3" fmla="*/ 0 h 74"/>
                <a:gd name="T4" fmla="*/ 0 w 31"/>
                <a:gd name="T5" fmla="*/ 0 h 74"/>
                <a:gd name="T6" fmla="*/ 0 w 31"/>
                <a:gd name="T7" fmla="*/ 0 h 74"/>
                <a:gd name="T8" fmla="*/ 0 w 31"/>
                <a:gd name="T9" fmla="*/ 0 h 74"/>
                <a:gd name="T10" fmla="*/ 0 w 31"/>
                <a:gd name="T11" fmla="*/ 0 h 74"/>
                <a:gd name="T12" fmla="*/ 0 w 31"/>
                <a:gd name="T13" fmla="*/ 0 h 74"/>
                <a:gd name="T14" fmla="*/ 0 w 31"/>
                <a:gd name="T15" fmla="*/ 0 h 7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1" h="74">
                  <a:moveTo>
                    <a:pt x="0" y="0"/>
                  </a:moveTo>
                  <a:lnTo>
                    <a:pt x="17" y="19"/>
                  </a:lnTo>
                  <a:lnTo>
                    <a:pt x="25" y="42"/>
                  </a:lnTo>
                  <a:lnTo>
                    <a:pt x="26" y="74"/>
                  </a:lnTo>
                  <a:lnTo>
                    <a:pt x="31" y="49"/>
                  </a:lnTo>
                  <a:lnTo>
                    <a:pt x="29" y="29"/>
                  </a:lnTo>
                  <a:lnTo>
                    <a:pt x="24" y="2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2" name="Freeform 115"/>
            <p:cNvSpPr>
              <a:spLocks/>
            </p:cNvSpPr>
            <p:nvPr/>
          </p:nvSpPr>
          <p:spPr bwMode="auto">
            <a:xfrm>
              <a:off x="308" y="1839"/>
              <a:ext cx="10" cy="5"/>
            </a:xfrm>
            <a:custGeom>
              <a:avLst/>
              <a:gdLst>
                <a:gd name="T0" fmla="*/ 0 w 50"/>
                <a:gd name="T1" fmla="*/ 0 h 25"/>
                <a:gd name="T2" fmla="*/ 0 w 50"/>
                <a:gd name="T3" fmla="*/ 0 h 25"/>
                <a:gd name="T4" fmla="*/ 0 w 50"/>
                <a:gd name="T5" fmla="*/ 0 h 25"/>
                <a:gd name="T6" fmla="*/ 0 w 50"/>
                <a:gd name="T7" fmla="*/ 0 h 25"/>
                <a:gd name="T8" fmla="*/ 0 w 50"/>
                <a:gd name="T9" fmla="*/ 0 h 25"/>
                <a:gd name="T10" fmla="*/ 0 w 50"/>
                <a:gd name="T11" fmla="*/ 0 h 25"/>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0" h="25">
                  <a:moveTo>
                    <a:pt x="0" y="11"/>
                  </a:moveTo>
                  <a:lnTo>
                    <a:pt x="19" y="13"/>
                  </a:lnTo>
                  <a:lnTo>
                    <a:pt x="50" y="25"/>
                  </a:lnTo>
                  <a:lnTo>
                    <a:pt x="28" y="9"/>
                  </a:lnTo>
                  <a:lnTo>
                    <a:pt x="1" y="0"/>
                  </a:lnTo>
                  <a:lnTo>
                    <a:pt x="0" y="1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3" name="Freeform 116"/>
            <p:cNvSpPr>
              <a:spLocks/>
            </p:cNvSpPr>
            <p:nvPr/>
          </p:nvSpPr>
          <p:spPr bwMode="auto">
            <a:xfrm>
              <a:off x="321" y="1862"/>
              <a:ext cx="7" cy="7"/>
            </a:xfrm>
            <a:custGeom>
              <a:avLst/>
              <a:gdLst>
                <a:gd name="T0" fmla="*/ 0 w 39"/>
                <a:gd name="T1" fmla="*/ 0 h 33"/>
                <a:gd name="T2" fmla="*/ 0 w 39"/>
                <a:gd name="T3" fmla="*/ 0 h 33"/>
                <a:gd name="T4" fmla="*/ 0 w 39"/>
                <a:gd name="T5" fmla="*/ 0 h 33"/>
                <a:gd name="T6" fmla="*/ 0 w 39"/>
                <a:gd name="T7" fmla="*/ 0 h 33"/>
                <a:gd name="T8" fmla="*/ 0 w 39"/>
                <a:gd name="T9" fmla="*/ 0 h 3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9" h="33">
                  <a:moveTo>
                    <a:pt x="39" y="0"/>
                  </a:moveTo>
                  <a:lnTo>
                    <a:pt x="20" y="21"/>
                  </a:lnTo>
                  <a:lnTo>
                    <a:pt x="0" y="33"/>
                  </a:lnTo>
                  <a:lnTo>
                    <a:pt x="26" y="25"/>
                  </a:lnTo>
                  <a:lnTo>
                    <a:pt x="3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4" name="Freeform 117"/>
            <p:cNvSpPr>
              <a:spLocks/>
            </p:cNvSpPr>
            <p:nvPr/>
          </p:nvSpPr>
          <p:spPr bwMode="auto">
            <a:xfrm>
              <a:off x="332" y="1858"/>
              <a:ext cx="7" cy="7"/>
            </a:xfrm>
            <a:custGeom>
              <a:avLst/>
              <a:gdLst>
                <a:gd name="T0" fmla="*/ 0 w 38"/>
                <a:gd name="T1" fmla="*/ 0 h 35"/>
                <a:gd name="T2" fmla="*/ 0 w 38"/>
                <a:gd name="T3" fmla="*/ 0 h 35"/>
                <a:gd name="T4" fmla="*/ 0 w 38"/>
                <a:gd name="T5" fmla="*/ 0 h 35"/>
                <a:gd name="T6" fmla="*/ 0 w 38"/>
                <a:gd name="T7" fmla="*/ 0 h 35"/>
                <a:gd name="T8" fmla="*/ 0 w 38"/>
                <a:gd name="T9" fmla="*/ 0 h 35"/>
                <a:gd name="T10" fmla="*/ 0 w 38"/>
                <a:gd name="T11" fmla="*/ 0 h 35"/>
                <a:gd name="T12" fmla="*/ 0 w 38"/>
                <a:gd name="T13" fmla="*/ 0 h 35"/>
                <a:gd name="T14" fmla="*/ 0 w 38"/>
                <a:gd name="T15" fmla="*/ 0 h 3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8" h="35">
                  <a:moveTo>
                    <a:pt x="0" y="0"/>
                  </a:moveTo>
                  <a:lnTo>
                    <a:pt x="3" y="13"/>
                  </a:lnTo>
                  <a:lnTo>
                    <a:pt x="22" y="29"/>
                  </a:lnTo>
                  <a:lnTo>
                    <a:pt x="38" y="35"/>
                  </a:lnTo>
                  <a:lnTo>
                    <a:pt x="12" y="32"/>
                  </a:lnTo>
                  <a:lnTo>
                    <a:pt x="3" y="21"/>
                  </a:lnTo>
                  <a:lnTo>
                    <a:pt x="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5" name="Freeform 118"/>
            <p:cNvSpPr>
              <a:spLocks/>
            </p:cNvSpPr>
            <p:nvPr/>
          </p:nvSpPr>
          <p:spPr bwMode="auto">
            <a:xfrm>
              <a:off x="278" y="1810"/>
              <a:ext cx="41" cy="31"/>
            </a:xfrm>
            <a:custGeom>
              <a:avLst/>
              <a:gdLst>
                <a:gd name="T0" fmla="*/ 0 w 201"/>
                <a:gd name="T1" fmla="*/ 0 h 158"/>
                <a:gd name="T2" fmla="*/ 0 w 201"/>
                <a:gd name="T3" fmla="*/ 0 h 158"/>
                <a:gd name="T4" fmla="*/ 0 w 201"/>
                <a:gd name="T5" fmla="*/ 0 h 158"/>
                <a:gd name="T6" fmla="*/ 0 w 201"/>
                <a:gd name="T7" fmla="*/ 0 h 158"/>
                <a:gd name="T8" fmla="*/ 0 w 201"/>
                <a:gd name="T9" fmla="*/ 0 h 158"/>
                <a:gd name="T10" fmla="*/ 0 w 201"/>
                <a:gd name="T11" fmla="*/ 0 h 158"/>
                <a:gd name="T12" fmla="*/ 0 w 201"/>
                <a:gd name="T13" fmla="*/ 0 h 1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1" h="158">
                  <a:moveTo>
                    <a:pt x="165" y="158"/>
                  </a:moveTo>
                  <a:lnTo>
                    <a:pt x="201" y="76"/>
                  </a:lnTo>
                  <a:lnTo>
                    <a:pt x="132" y="31"/>
                  </a:lnTo>
                  <a:lnTo>
                    <a:pt x="29" y="0"/>
                  </a:lnTo>
                  <a:lnTo>
                    <a:pt x="0" y="87"/>
                  </a:lnTo>
                  <a:lnTo>
                    <a:pt x="94" y="114"/>
                  </a:lnTo>
                  <a:lnTo>
                    <a:pt x="165" y="158"/>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6" name="Oval 119"/>
            <p:cNvSpPr>
              <a:spLocks noChangeArrowheads="1"/>
            </p:cNvSpPr>
            <p:nvPr/>
          </p:nvSpPr>
          <p:spPr bwMode="auto">
            <a:xfrm>
              <a:off x="304" y="1824"/>
              <a:ext cx="7" cy="9"/>
            </a:xfrm>
            <a:prstGeom prst="ellipse">
              <a:avLst/>
            </a:prstGeom>
            <a:solidFill>
              <a:srgbClr val="FFFFFF"/>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27" name="Freeform 120"/>
            <p:cNvSpPr>
              <a:spLocks/>
            </p:cNvSpPr>
            <p:nvPr/>
          </p:nvSpPr>
          <p:spPr bwMode="auto">
            <a:xfrm>
              <a:off x="297" y="1826"/>
              <a:ext cx="10" cy="22"/>
            </a:xfrm>
            <a:custGeom>
              <a:avLst/>
              <a:gdLst>
                <a:gd name="T0" fmla="*/ 0 w 52"/>
                <a:gd name="T1" fmla="*/ 0 h 111"/>
                <a:gd name="T2" fmla="*/ 0 w 52"/>
                <a:gd name="T3" fmla="*/ 0 h 111"/>
                <a:gd name="T4" fmla="*/ 0 w 52"/>
                <a:gd name="T5" fmla="*/ 0 h 111"/>
                <a:gd name="T6" fmla="*/ 0 w 52"/>
                <a:gd name="T7" fmla="*/ 0 h 111"/>
                <a:gd name="T8" fmla="*/ 0 w 52"/>
                <a:gd name="T9" fmla="*/ 0 h 111"/>
                <a:gd name="T10" fmla="*/ 0 w 52"/>
                <a:gd name="T11" fmla="*/ 0 h 111"/>
                <a:gd name="T12" fmla="*/ 0 w 52"/>
                <a:gd name="T13" fmla="*/ 0 h 111"/>
                <a:gd name="T14" fmla="*/ 0 w 52"/>
                <a:gd name="T15" fmla="*/ 0 h 111"/>
                <a:gd name="T16" fmla="*/ 0 w 52"/>
                <a:gd name="T17" fmla="*/ 0 h 111"/>
                <a:gd name="T18" fmla="*/ 0 w 52"/>
                <a:gd name="T19" fmla="*/ 0 h 111"/>
                <a:gd name="T20" fmla="*/ 0 w 52"/>
                <a:gd name="T21" fmla="*/ 0 h 111"/>
                <a:gd name="T22" fmla="*/ 0 w 52"/>
                <a:gd name="T23" fmla="*/ 0 h 111"/>
                <a:gd name="T24" fmla="*/ 0 w 52"/>
                <a:gd name="T25" fmla="*/ 0 h 111"/>
                <a:gd name="T26" fmla="*/ 0 w 52"/>
                <a:gd name="T27" fmla="*/ 0 h 111"/>
                <a:gd name="T28" fmla="*/ 0 w 52"/>
                <a:gd name="T29" fmla="*/ 0 h 111"/>
                <a:gd name="T30" fmla="*/ 0 w 52"/>
                <a:gd name="T31" fmla="*/ 0 h 11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52" h="111">
                  <a:moveTo>
                    <a:pt x="4" y="74"/>
                  </a:moveTo>
                  <a:lnTo>
                    <a:pt x="7" y="55"/>
                  </a:lnTo>
                  <a:lnTo>
                    <a:pt x="5" y="36"/>
                  </a:lnTo>
                  <a:lnTo>
                    <a:pt x="4" y="23"/>
                  </a:lnTo>
                  <a:lnTo>
                    <a:pt x="0" y="13"/>
                  </a:lnTo>
                  <a:lnTo>
                    <a:pt x="4" y="4"/>
                  </a:lnTo>
                  <a:lnTo>
                    <a:pt x="11" y="0"/>
                  </a:lnTo>
                  <a:lnTo>
                    <a:pt x="27" y="6"/>
                  </a:lnTo>
                  <a:lnTo>
                    <a:pt x="33" y="16"/>
                  </a:lnTo>
                  <a:lnTo>
                    <a:pt x="37" y="27"/>
                  </a:lnTo>
                  <a:lnTo>
                    <a:pt x="39" y="39"/>
                  </a:lnTo>
                  <a:lnTo>
                    <a:pt x="40" y="59"/>
                  </a:lnTo>
                  <a:lnTo>
                    <a:pt x="52" y="79"/>
                  </a:lnTo>
                  <a:lnTo>
                    <a:pt x="23" y="111"/>
                  </a:lnTo>
                  <a:lnTo>
                    <a:pt x="11" y="103"/>
                  </a:lnTo>
                  <a:lnTo>
                    <a:pt x="4" y="74"/>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8" name="Freeform 121"/>
            <p:cNvSpPr>
              <a:spLocks/>
            </p:cNvSpPr>
            <p:nvPr/>
          </p:nvSpPr>
          <p:spPr bwMode="auto">
            <a:xfrm>
              <a:off x="301" y="1841"/>
              <a:ext cx="7" cy="7"/>
            </a:xfrm>
            <a:custGeom>
              <a:avLst/>
              <a:gdLst>
                <a:gd name="T0" fmla="*/ 0 w 35"/>
                <a:gd name="T1" fmla="*/ 0 h 34"/>
                <a:gd name="T2" fmla="*/ 0 w 35"/>
                <a:gd name="T3" fmla="*/ 0 h 34"/>
                <a:gd name="T4" fmla="*/ 0 w 35"/>
                <a:gd name="T5" fmla="*/ 0 h 34"/>
                <a:gd name="T6" fmla="*/ 0 w 35"/>
                <a:gd name="T7" fmla="*/ 0 h 34"/>
                <a:gd name="T8" fmla="*/ 0 w 35"/>
                <a:gd name="T9" fmla="*/ 0 h 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34">
                  <a:moveTo>
                    <a:pt x="24" y="0"/>
                  </a:moveTo>
                  <a:lnTo>
                    <a:pt x="35" y="4"/>
                  </a:lnTo>
                  <a:lnTo>
                    <a:pt x="9" y="34"/>
                  </a:lnTo>
                  <a:lnTo>
                    <a:pt x="0" y="26"/>
                  </a:lnTo>
                  <a:lnTo>
                    <a:pt x="24" y="0"/>
                  </a:lnTo>
                  <a:close/>
                </a:path>
              </a:pathLst>
            </a:custGeom>
            <a:solidFill>
              <a:srgbClr val="FFC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9" name="Freeform 122"/>
            <p:cNvSpPr>
              <a:spLocks/>
            </p:cNvSpPr>
            <p:nvPr/>
          </p:nvSpPr>
          <p:spPr bwMode="auto">
            <a:xfrm>
              <a:off x="312" y="1815"/>
              <a:ext cx="9" cy="20"/>
            </a:xfrm>
            <a:custGeom>
              <a:avLst/>
              <a:gdLst>
                <a:gd name="T0" fmla="*/ 0 w 48"/>
                <a:gd name="T1" fmla="*/ 0 h 97"/>
                <a:gd name="T2" fmla="*/ 0 w 48"/>
                <a:gd name="T3" fmla="*/ 0 h 97"/>
                <a:gd name="T4" fmla="*/ 0 w 48"/>
                <a:gd name="T5" fmla="*/ 0 h 97"/>
                <a:gd name="T6" fmla="*/ 0 w 48"/>
                <a:gd name="T7" fmla="*/ 0 h 97"/>
                <a:gd name="T8" fmla="*/ 0 w 48"/>
                <a:gd name="T9" fmla="*/ 0 h 97"/>
                <a:gd name="T10" fmla="*/ 0 w 48"/>
                <a:gd name="T11" fmla="*/ 0 h 97"/>
                <a:gd name="T12" fmla="*/ 0 w 48"/>
                <a:gd name="T13" fmla="*/ 0 h 97"/>
                <a:gd name="T14" fmla="*/ 0 w 48"/>
                <a:gd name="T15" fmla="*/ 0 h 97"/>
                <a:gd name="T16" fmla="*/ 0 w 48"/>
                <a:gd name="T17" fmla="*/ 0 h 97"/>
                <a:gd name="T18" fmla="*/ 0 w 48"/>
                <a:gd name="T19" fmla="*/ 0 h 97"/>
                <a:gd name="T20" fmla="*/ 0 w 48"/>
                <a:gd name="T21" fmla="*/ 0 h 97"/>
                <a:gd name="T22" fmla="*/ 0 w 48"/>
                <a:gd name="T23" fmla="*/ 0 h 97"/>
                <a:gd name="T24" fmla="*/ 0 w 48"/>
                <a:gd name="T25" fmla="*/ 0 h 97"/>
                <a:gd name="T26" fmla="*/ 0 w 48"/>
                <a:gd name="T27" fmla="*/ 0 h 97"/>
                <a:gd name="T28" fmla="*/ 0 w 48"/>
                <a:gd name="T29" fmla="*/ 0 h 97"/>
                <a:gd name="T30" fmla="*/ 0 w 48"/>
                <a:gd name="T31" fmla="*/ 0 h 97"/>
                <a:gd name="T32" fmla="*/ 0 w 48"/>
                <a:gd name="T33" fmla="*/ 0 h 97"/>
                <a:gd name="T34" fmla="*/ 0 w 48"/>
                <a:gd name="T35" fmla="*/ 0 h 97"/>
                <a:gd name="T36" fmla="*/ 0 w 48"/>
                <a:gd name="T37" fmla="*/ 0 h 9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8" h="97">
                  <a:moveTo>
                    <a:pt x="0" y="23"/>
                  </a:moveTo>
                  <a:lnTo>
                    <a:pt x="4" y="43"/>
                  </a:lnTo>
                  <a:lnTo>
                    <a:pt x="6" y="51"/>
                  </a:lnTo>
                  <a:lnTo>
                    <a:pt x="7" y="64"/>
                  </a:lnTo>
                  <a:lnTo>
                    <a:pt x="5" y="73"/>
                  </a:lnTo>
                  <a:lnTo>
                    <a:pt x="7" y="84"/>
                  </a:lnTo>
                  <a:lnTo>
                    <a:pt x="14" y="95"/>
                  </a:lnTo>
                  <a:lnTo>
                    <a:pt x="21" y="96"/>
                  </a:lnTo>
                  <a:lnTo>
                    <a:pt x="34" y="97"/>
                  </a:lnTo>
                  <a:lnTo>
                    <a:pt x="43" y="91"/>
                  </a:lnTo>
                  <a:lnTo>
                    <a:pt x="46" y="88"/>
                  </a:lnTo>
                  <a:lnTo>
                    <a:pt x="48" y="77"/>
                  </a:lnTo>
                  <a:lnTo>
                    <a:pt x="48" y="59"/>
                  </a:lnTo>
                  <a:lnTo>
                    <a:pt x="48" y="48"/>
                  </a:lnTo>
                  <a:lnTo>
                    <a:pt x="46" y="32"/>
                  </a:lnTo>
                  <a:lnTo>
                    <a:pt x="44" y="22"/>
                  </a:lnTo>
                  <a:lnTo>
                    <a:pt x="36" y="0"/>
                  </a:lnTo>
                  <a:lnTo>
                    <a:pt x="7" y="1"/>
                  </a:lnTo>
                  <a:lnTo>
                    <a:pt x="0" y="23"/>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0" name="Freeform 123"/>
            <p:cNvSpPr>
              <a:spLocks/>
            </p:cNvSpPr>
            <p:nvPr/>
          </p:nvSpPr>
          <p:spPr bwMode="auto">
            <a:xfrm>
              <a:off x="315" y="1828"/>
              <a:ext cx="5" cy="4"/>
            </a:xfrm>
            <a:custGeom>
              <a:avLst/>
              <a:gdLst>
                <a:gd name="T0" fmla="*/ 0 w 24"/>
                <a:gd name="T1" fmla="*/ 0 h 20"/>
                <a:gd name="T2" fmla="*/ 0 w 24"/>
                <a:gd name="T3" fmla="*/ 0 h 20"/>
                <a:gd name="T4" fmla="*/ 0 w 24"/>
                <a:gd name="T5" fmla="*/ 0 h 20"/>
                <a:gd name="T6" fmla="*/ 0 w 24"/>
                <a:gd name="T7" fmla="*/ 0 h 20"/>
                <a:gd name="T8" fmla="*/ 0 w 24"/>
                <a:gd name="T9" fmla="*/ 0 h 20"/>
                <a:gd name="T10" fmla="*/ 0 w 24"/>
                <a:gd name="T11" fmla="*/ 0 h 20"/>
                <a:gd name="T12" fmla="*/ 0 w 24"/>
                <a:gd name="T13" fmla="*/ 0 h 20"/>
                <a:gd name="T14" fmla="*/ 0 w 24"/>
                <a:gd name="T15" fmla="*/ 0 h 2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 h="20">
                  <a:moveTo>
                    <a:pt x="24" y="5"/>
                  </a:moveTo>
                  <a:lnTo>
                    <a:pt x="12" y="0"/>
                  </a:lnTo>
                  <a:lnTo>
                    <a:pt x="3" y="1"/>
                  </a:lnTo>
                  <a:lnTo>
                    <a:pt x="0" y="5"/>
                  </a:lnTo>
                  <a:lnTo>
                    <a:pt x="1" y="20"/>
                  </a:lnTo>
                  <a:lnTo>
                    <a:pt x="3" y="8"/>
                  </a:lnTo>
                  <a:lnTo>
                    <a:pt x="5" y="4"/>
                  </a:lnTo>
                  <a:lnTo>
                    <a:pt x="24"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1" name="Group 124"/>
          <p:cNvGrpSpPr>
            <a:grpSpLocks/>
          </p:cNvGrpSpPr>
          <p:nvPr/>
        </p:nvGrpSpPr>
        <p:grpSpPr bwMode="auto">
          <a:xfrm>
            <a:off x="2029950" y="3663410"/>
            <a:ext cx="139921" cy="65972"/>
            <a:chOff x="375" y="2315"/>
            <a:chExt cx="139" cy="71"/>
          </a:xfrm>
        </p:grpSpPr>
        <p:sp>
          <p:nvSpPr>
            <p:cNvPr id="132" name="Freeform 125"/>
            <p:cNvSpPr>
              <a:spLocks/>
            </p:cNvSpPr>
            <p:nvPr/>
          </p:nvSpPr>
          <p:spPr bwMode="auto">
            <a:xfrm>
              <a:off x="375" y="2315"/>
              <a:ext cx="139" cy="71"/>
            </a:xfrm>
            <a:custGeom>
              <a:avLst/>
              <a:gdLst>
                <a:gd name="T0" fmla="*/ 0 w 691"/>
                <a:gd name="T1" fmla="*/ 0 h 355"/>
                <a:gd name="T2" fmla="*/ 0 w 691"/>
                <a:gd name="T3" fmla="*/ 0 h 355"/>
                <a:gd name="T4" fmla="*/ 0 w 691"/>
                <a:gd name="T5" fmla="*/ 0 h 355"/>
                <a:gd name="T6" fmla="*/ 0 w 691"/>
                <a:gd name="T7" fmla="*/ 0 h 355"/>
                <a:gd name="T8" fmla="*/ 0 w 691"/>
                <a:gd name="T9" fmla="*/ 0 h 355"/>
                <a:gd name="T10" fmla="*/ 0 w 691"/>
                <a:gd name="T11" fmla="*/ 0 h 355"/>
                <a:gd name="T12" fmla="*/ 0 w 691"/>
                <a:gd name="T13" fmla="*/ 0 h 355"/>
                <a:gd name="T14" fmla="*/ 0 w 691"/>
                <a:gd name="T15" fmla="*/ 0 h 355"/>
                <a:gd name="T16" fmla="*/ 0 w 691"/>
                <a:gd name="T17" fmla="*/ 0 h 355"/>
                <a:gd name="T18" fmla="*/ 0 w 691"/>
                <a:gd name="T19" fmla="*/ 0 h 355"/>
                <a:gd name="T20" fmla="*/ 0 w 691"/>
                <a:gd name="T21" fmla="*/ 0 h 355"/>
                <a:gd name="T22" fmla="*/ 0 w 691"/>
                <a:gd name="T23" fmla="*/ 0 h 355"/>
                <a:gd name="T24" fmla="*/ 0 w 691"/>
                <a:gd name="T25" fmla="*/ 0 h 355"/>
                <a:gd name="T26" fmla="*/ 0 w 691"/>
                <a:gd name="T27" fmla="*/ 0 h 355"/>
                <a:gd name="T28" fmla="*/ 0 w 691"/>
                <a:gd name="T29" fmla="*/ 0 h 355"/>
                <a:gd name="T30" fmla="*/ 0 w 691"/>
                <a:gd name="T31" fmla="*/ 0 h 355"/>
                <a:gd name="T32" fmla="*/ 0 w 691"/>
                <a:gd name="T33" fmla="*/ 0 h 355"/>
                <a:gd name="T34" fmla="*/ 0 w 691"/>
                <a:gd name="T35" fmla="*/ 0 h 355"/>
                <a:gd name="T36" fmla="*/ 0 w 691"/>
                <a:gd name="T37" fmla="*/ 0 h 355"/>
                <a:gd name="T38" fmla="*/ 0 w 691"/>
                <a:gd name="T39" fmla="*/ 0 h 355"/>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91" h="355">
                  <a:moveTo>
                    <a:pt x="279" y="11"/>
                  </a:moveTo>
                  <a:lnTo>
                    <a:pt x="274" y="104"/>
                  </a:lnTo>
                  <a:lnTo>
                    <a:pt x="455" y="189"/>
                  </a:lnTo>
                  <a:lnTo>
                    <a:pt x="607" y="226"/>
                  </a:lnTo>
                  <a:lnTo>
                    <a:pt x="691" y="263"/>
                  </a:lnTo>
                  <a:lnTo>
                    <a:pt x="687" y="313"/>
                  </a:lnTo>
                  <a:lnTo>
                    <a:pt x="577" y="343"/>
                  </a:lnTo>
                  <a:lnTo>
                    <a:pt x="413" y="355"/>
                  </a:lnTo>
                  <a:lnTo>
                    <a:pt x="274" y="331"/>
                  </a:lnTo>
                  <a:lnTo>
                    <a:pt x="188" y="307"/>
                  </a:lnTo>
                  <a:lnTo>
                    <a:pt x="183" y="334"/>
                  </a:lnTo>
                  <a:lnTo>
                    <a:pt x="74" y="331"/>
                  </a:lnTo>
                  <a:lnTo>
                    <a:pt x="7" y="318"/>
                  </a:lnTo>
                  <a:lnTo>
                    <a:pt x="7" y="270"/>
                  </a:lnTo>
                  <a:lnTo>
                    <a:pt x="0" y="242"/>
                  </a:lnTo>
                  <a:lnTo>
                    <a:pt x="0" y="173"/>
                  </a:lnTo>
                  <a:lnTo>
                    <a:pt x="18" y="135"/>
                  </a:lnTo>
                  <a:lnTo>
                    <a:pt x="53" y="91"/>
                  </a:lnTo>
                  <a:lnTo>
                    <a:pt x="60" y="0"/>
                  </a:lnTo>
                  <a:lnTo>
                    <a:pt x="279" y="11"/>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3" name="Freeform 126"/>
            <p:cNvSpPr>
              <a:spLocks/>
            </p:cNvSpPr>
            <p:nvPr/>
          </p:nvSpPr>
          <p:spPr bwMode="auto">
            <a:xfrm>
              <a:off x="421" y="2341"/>
              <a:ext cx="42" cy="22"/>
            </a:xfrm>
            <a:custGeom>
              <a:avLst/>
              <a:gdLst>
                <a:gd name="T0" fmla="*/ 0 w 208"/>
                <a:gd name="T1" fmla="*/ 0 h 110"/>
                <a:gd name="T2" fmla="*/ 0 w 208"/>
                <a:gd name="T3" fmla="*/ 0 h 110"/>
                <a:gd name="T4" fmla="*/ 0 w 208"/>
                <a:gd name="T5" fmla="*/ 0 h 110"/>
                <a:gd name="T6" fmla="*/ 0 w 208"/>
                <a:gd name="T7" fmla="*/ 0 h 110"/>
                <a:gd name="T8" fmla="*/ 0 w 208"/>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8" h="110">
                  <a:moveTo>
                    <a:pt x="53" y="0"/>
                  </a:moveTo>
                  <a:lnTo>
                    <a:pt x="0" y="58"/>
                  </a:lnTo>
                  <a:lnTo>
                    <a:pt x="186" y="110"/>
                  </a:lnTo>
                  <a:lnTo>
                    <a:pt x="208" y="70"/>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4" name="Freeform 127"/>
            <p:cNvSpPr>
              <a:spLocks/>
            </p:cNvSpPr>
            <p:nvPr/>
          </p:nvSpPr>
          <p:spPr bwMode="auto">
            <a:xfrm>
              <a:off x="463" y="2356"/>
              <a:ext cx="46" cy="13"/>
            </a:xfrm>
            <a:custGeom>
              <a:avLst/>
              <a:gdLst>
                <a:gd name="T0" fmla="*/ 0 w 233"/>
                <a:gd name="T1" fmla="*/ 0 h 67"/>
                <a:gd name="T2" fmla="*/ 0 w 233"/>
                <a:gd name="T3" fmla="*/ 0 h 67"/>
                <a:gd name="T4" fmla="*/ 0 w 233"/>
                <a:gd name="T5" fmla="*/ 0 h 67"/>
                <a:gd name="T6" fmla="*/ 0 w 233"/>
                <a:gd name="T7" fmla="*/ 0 h 67"/>
                <a:gd name="T8" fmla="*/ 0 w 233"/>
                <a:gd name="T9" fmla="*/ 0 h 67"/>
                <a:gd name="T10" fmla="*/ 0 w 233"/>
                <a:gd name="T11" fmla="*/ 0 h 67"/>
                <a:gd name="T12" fmla="*/ 0 w 233"/>
                <a:gd name="T13" fmla="*/ 0 h 6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3" h="67">
                  <a:moveTo>
                    <a:pt x="27" y="0"/>
                  </a:moveTo>
                  <a:lnTo>
                    <a:pt x="0" y="32"/>
                  </a:lnTo>
                  <a:lnTo>
                    <a:pt x="115" y="62"/>
                  </a:lnTo>
                  <a:lnTo>
                    <a:pt x="168" y="67"/>
                  </a:lnTo>
                  <a:lnTo>
                    <a:pt x="233" y="64"/>
                  </a:lnTo>
                  <a:lnTo>
                    <a:pt x="165" y="30"/>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5" name="Freeform 128"/>
            <p:cNvSpPr>
              <a:spLocks/>
            </p:cNvSpPr>
            <p:nvPr/>
          </p:nvSpPr>
          <p:spPr bwMode="auto">
            <a:xfrm>
              <a:off x="376" y="2341"/>
              <a:ext cx="134" cy="41"/>
            </a:xfrm>
            <a:custGeom>
              <a:avLst/>
              <a:gdLst>
                <a:gd name="T0" fmla="*/ 0 w 670"/>
                <a:gd name="T1" fmla="*/ 0 h 209"/>
                <a:gd name="T2" fmla="*/ 0 w 670"/>
                <a:gd name="T3" fmla="*/ 0 h 209"/>
                <a:gd name="T4" fmla="*/ 0 w 670"/>
                <a:gd name="T5" fmla="*/ 0 h 209"/>
                <a:gd name="T6" fmla="*/ 0 w 670"/>
                <a:gd name="T7" fmla="*/ 0 h 209"/>
                <a:gd name="T8" fmla="*/ 0 w 670"/>
                <a:gd name="T9" fmla="*/ 0 h 209"/>
                <a:gd name="T10" fmla="*/ 0 w 670"/>
                <a:gd name="T11" fmla="*/ 0 h 209"/>
                <a:gd name="T12" fmla="*/ 0 w 670"/>
                <a:gd name="T13" fmla="*/ 0 h 209"/>
                <a:gd name="T14" fmla="*/ 0 w 670"/>
                <a:gd name="T15" fmla="*/ 0 h 209"/>
                <a:gd name="T16" fmla="*/ 0 w 670"/>
                <a:gd name="T17" fmla="*/ 0 h 209"/>
                <a:gd name="T18" fmla="*/ 0 w 670"/>
                <a:gd name="T19" fmla="*/ 0 h 209"/>
                <a:gd name="T20" fmla="*/ 0 w 670"/>
                <a:gd name="T21" fmla="*/ 0 h 209"/>
                <a:gd name="T22" fmla="*/ 0 w 670"/>
                <a:gd name="T23" fmla="*/ 0 h 209"/>
                <a:gd name="T24" fmla="*/ 0 w 670"/>
                <a:gd name="T25" fmla="*/ 0 h 209"/>
                <a:gd name="T26" fmla="*/ 0 w 670"/>
                <a:gd name="T27" fmla="*/ 0 h 209"/>
                <a:gd name="T28" fmla="*/ 0 w 670"/>
                <a:gd name="T29" fmla="*/ 0 h 209"/>
                <a:gd name="T30" fmla="*/ 0 w 670"/>
                <a:gd name="T31" fmla="*/ 0 h 209"/>
                <a:gd name="T32" fmla="*/ 0 w 670"/>
                <a:gd name="T33" fmla="*/ 0 h 209"/>
                <a:gd name="T34" fmla="*/ 0 w 670"/>
                <a:gd name="T35" fmla="*/ 0 h 209"/>
                <a:gd name="T36" fmla="*/ 0 w 670"/>
                <a:gd name="T37" fmla="*/ 0 h 20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0" h="209">
                  <a:moveTo>
                    <a:pt x="670" y="178"/>
                  </a:moveTo>
                  <a:lnTo>
                    <a:pt x="670" y="146"/>
                  </a:lnTo>
                  <a:lnTo>
                    <a:pt x="582" y="155"/>
                  </a:lnTo>
                  <a:lnTo>
                    <a:pt x="442" y="134"/>
                  </a:lnTo>
                  <a:lnTo>
                    <a:pt x="361" y="116"/>
                  </a:lnTo>
                  <a:lnTo>
                    <a:pt x="206" y="66"/>
                  </a:lnTo>
                  <a:lnTo>
                    <a:pt x="140" y="58"/>
                  </a:lnTo>
                  <a:lnTo>
                    <a:pt x="73" y="34"/>
                  </a:lnTo>
                  <a:lnTo>
                    <a:pt x="40" y="0"/>
                  </a:lnTo>
                  <a:lnTo>
                    <a:pt x="0" y="43"/>
                  </a:lnTo>
                  <a:lnTo>
                    <a:pt x="0" y="132"/>
                  </a:lnTo>
                  <a:lnTo>
                    <a:pt x="49" y="146"/>
                  </a:lnTo>
                  <a:lnTo>
                    <a:pt x="170" y="162"/>
                  </a:lnTo>
                  <a:lnTo>
                    <a:pt x="218" y="167"/>
                  </a:lnTo>
                  <a:lnTo>
                    <a:pt x="298" y="196"/>
                  </a:lnTo>
                  <a:lnTo>
                    <a:pt x="388" y="209"/>
                  </a:lnTo>
                  <a:lnTo>
                    <a:pt x="452" y="209"/>
                  </a:lnTo>
                  <a:lnTo>
                    <a:pt x="553" y="209"/>
                  </a:lnTo>
                  <a:lnTo>
                    <a:pt x="670"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6" name="Freeform 129"/>
            <p:cNvSpPr>
              <a:spLocks/>
            </p:cNvSpPr>
            <p:nvPr/>
          </p:nvSpPr>
          <p:spPr bwMode="auto">
            <a:xfrm>
              <a:off x="386" y="2317"/>
              <a:ext cx="44" cy="34"/>
            </a:xfrm>
            <a:custGeom>
              <a:avLst/>
              <a:gdLst>
                <a:gd name="T0" fmla="*/ 0 w 219"/>
                <a:gd name="T1" fmla="*/ 0 h 171"/>
                <a:gd name="T2" fmla="*/ 0 w 219"/>
                <a:gd name="T3" fmla="*/ 0 h 171"/>
                <a:gd name="T4" fmla="*/ 0 w 219"/>
                <a:gd name="T5" fmla="*/ 0 h 171"/>
                <a:gd name="T6" fmla="*/ 0 w 219"/>
                <a:gd name="T7" fmla="*/ 0 h 171"/>
                <a:gd name="T8" fmla="*/ 0 w 219"/>
                <a:gd name="T9" fmla="*/ 0 h 171"/>
                <a:gd name="T10" fmla="*/ 0 w 219"/>
                <a:gd name="T11" fmla="*/ 0 h 171"/>
                <a:gd name="T12" fmla="*/ 0 w 219"/>
                <a:gd name="T13" fmla="*/ 0 h 171"/>
                <a:gd name="T14" fmla="*/ 0 w 219"/>
                <a:gd name="T15" fmla="*/ 0 h 171"/>
                <a:gd name="T16" fmla="*/ 0 w 219"/>
                <a:gd name="T17" fmla="*/ 0 h 171"/>
                <a:gd name="T18" fmla="*/ 0 w 219"/>
                <a:gd name="T19" fmla="*/ 0 h 17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171">
                  <a:moveTo>
                    <a:pt x="214" y="11"/>
                  </a:moveTo>
                  <a:lnTo>
                    <a:pt x="207" y="96"/>
                  </a:lnTo>
                  <a:lnTo>
                    <a:pt x="219" y="114"/>
                  </a:lnTo>
                  <a:lnTo>
                    <a:pt x="170" y="171"/>
                  </a:lnTo>
                  <a:lnTo>
                    <a:pt x="103" y="171"/>
                  </a:lnTo>
                  <a:lnTo>
                    <a:pt x="26" y="146"/>
                  </a:lnTo>
                  <a:lnTo>
                    <a:pt x="0" y="112"/>
                  </a:lnTo>
                  <a:lnTo>
                    <a:pt x="15" y="89"/>
                  </a:lnTo>
                  <a:lnTo>
                    <a:pt x="20" y="0"/>
                  </a:lnTo>
                  <a:lnTo>
                    <a:pt x="214"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7" name="Group 130"/>
          <p:cNvGrpSpPr>
            <a:grpSpLocks/>
          </p:cNvGrpSpPr>
          <p:nvPr/>
        </p:nvGrpSpPr>
        <p:grpSpPr bwMode="auto">
          <a:xfrm>
            <a:off x="2032970" y="3548191"/>
            <a:ext cx="58384" cy="131945"/>
            <a:chOff x="378" y="2191"/>
            <a:chExt cx="58" cy="142"/>
          </a:xfrm>
        </p:grpSpPr>
        <p:sp>
          <p:nvSpPr>
            <p:cNvPr id="138" name="Freeform 131"/>
            <p:cNvSpPr>
              <a:spLocks/>
            </p:cNvSpPr>
            <p:nvPr/>
          </p:nvSpPr>
          <p:spPr bwMode="auto">
            <a:xfrm>
              <a:off x="378" y="2191"/>
              <a:ext cx="58" cy="142"/>
            </a:xfrm>
            <a:custGeom>
              <a:avLst/>
              <a:gdLst>
                <a:gd name="T0" fmla="*/ 0 w 292"/>
                <a:gd name="T1" fmla="*/ 0 h 710"/>
                <a:gd name="T2" fmla="*/ 0 w 292"/>
                <a:gd name="T3" fmla="*/ 0 h 710"/>
                <a:gd name="T4" fmla="*/ 0 w 292"/>
                <a:gd name="T5" fmla="*/ 0 h 710"/>
                <a:gd name="T6" fmla="*/ 0 w 292"/>
                <a:gd name="T7" fmla="*/ 0 h 710"/>
                <a:gd name="T8" fmla="*/ 0 w 292"/>
                <a:gd name="T9" fmla="*/ 0 h 710"/>
                <a:gd name="T10" fmla="*/ 0 w 292"/>
                <a:gd name="T11" fmla="*/ 0 h 710"/>
                <a:gd name="T12" fmla="*/ 0 w 292"/>
                <a:gd name="T13" fmla="*/ 0 h 710"/>
                <a:gd name="T14" fmla="*/ 0 w 292"/>
                <a:gd name="T15" fmla="*/ 0 h 71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92" h="710">
                  <a:moveTo>
                    <a:pt x="24" y="15"/>
                  </a:moveTo>
                  <a:lnTo>
                    <a:pt x="6" y="256"/>
                  </a:lnTo>
                  <a:lnTo>
                    <a:pt x="10" y="454"/>
                  </a:lnTo>
                  <a:lnTo>
                    <a:pt x="0" y="678"/>
                  </a:lnTo>
                  <a:lnTo>
                    <a:pt x="144" y="710"/>
                  </a:lnTo>
                  <a:lnTo>
                    <a:pt x="283" y="710"/>
                  </a:lnTo>
                  <a:lnTo>
                    <a:pt x="292" y="0"/>
                  </a:lnTo>
                  <a:lnTo>
                    <a:pt x="24" y="15"/>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9" name="Freeform 132"/>
            <p:cNvSpPr>
              <a:spLocks/>
            </p:cNvSpPr>
            <p:nvPr/>
          </p:nvSpPr>
          <p:spPr bwMode="auto">
            <a:xfrm>
              <a:off x="383" y="2193"/>
              <a:ext cx="50" cy="136"/>
            </a:xfrm>
            <a:custGeom>
              <a:avLst/>
              <a:gdLst>
                <a:gd name="T0" fmla="*/ 0 w 252"/>
                <a:gd name="T1" fmla="*/ 0 h 681"/>
                <a:gd name="T2" fmla="*/ 0 w 252"/>
                <a:gd name="T3" fmla="*/ 0 h 681"/>
                <a:gd name="T4" fmla="*/ 0 w 252"/>
                <a:gd name="T5" fmla="*/ 0 h 681"/>
                <a:gd name="T6" fmla="*/ 0 w 252"/>
                <a:gd name="T7" fmla="*/ 0 h 681"/>
                <a:gd name="T8" fmla="*/ 0 w 252"/>
                <a:gd name="T9" fmla="*/ 0 h 681"/>
                <a:gd name="T10" fmla="*/ 0 w 252"/>
                <a:gd name="T11" fmla="*/ 0 h 681"/>
                <a:gd name="T12" fmla="*/ 0 w 252"/>
                <a:gd name="T13" fmla="*/ 0 h 681"/>
                <a:gd name="T14" fmla="*/ 0 w 252"/>
                <a:gd name="T15" fmla="*/ 0 h 68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52" h="681">
                  <a:moveTo>
                    <a:pt x="23" y="21"/>
                  </a:moveTo>
                  <a:lnTo>
                    <a:pt x="0" y="223"/>
                  </a:lnTo>
                  <a:lnTo>
                    <a:pt x="5" y="385"/>
                  </a:lnTo>
                  <a:lnTo>
                    <a:pt x="5" y="633"/>
                  </a:lnTo>
                  <a:lnTo>
                    <a:pt x="128" y="681"/>
                  </a:lnTo>
                  <a:lnTo>
                    <a:pt x="238" y="681"/>
                  </a:lnTo>
                  <a:lnTo>
                    <a:pt x="252" y="0"/>
                  </a:lnTo>
                  <a:lnTo>
                    <a:pt x="23" y="2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40" name="Group 133"/>
          <p:cNvGrpSpPr>
            <a:grpSpLocks/>
          </p:cNvGrpSpPr>
          <p:nvPr/>
        </p:nvGrpSpPr>
        <p:grpSpPr bwMode="auto">
          <a:xfrm>
            <a:off x="2063168" y="3681994"/>
            <a:ext cx="141934" cy="65972"/>
            <a:chOff x="408" y="2335"/>
            <a:chExt cx="141" cy="71"/>
          </a:xfrm>
        </p:grpSpPr>
        <p:sp>
          <p:nvSpPr>
            <p:cNvPr id="141" name="Freeform 134"/>
            <p:cNvSpPr>
              <a:spLocks/>
            </p:cNvSpPr>
            <p:nvPr/>
          </p:nvSpPr>
          <p:spPr bwMode="auto">
            <a:xfrm>
              <a:off x="408" y="2335"/>
              <a:ext cx="141" cy="71"/>
            </a:xfrm>
            <a:custGeom>
              <a:avLst/>
              <a:gdLst>
                <a:gd name="T0" fmla="*/ 0 w 703"/>
                <a:gd name="T1" fmla="*/ 0 h 356"/>
                <a:gd name="T2" fmla="*/ 0 w 703"/>
                <a:gd name="T3" fmla="*/ 0 h 356"/>
                <a:gd name="T4" fmla="*/ 0 w 703"/>
                <a:gd name="T5" fmla="*/ 0 h 356"/>
                <a:gd name="T6" fmla="*/ 0 w 703"/>
                <a:gd name="T7" fmla="*/ 0 h 356"/>
                <a:gd name="T8" fmla="*/ 0 w 703"/>
                <a:gd name="T9" fmla="*/ 0 h 356"/>
                <a:gd name="T10" fmla="*/ 0 w 703"/>
                <a:gd name="T11" fmla="*/ 0 h 356"/>
                <a:gd name="T12" fmla="*/ 0 w 703"/>
                <a:gd name="T13" fmla="*/ 0 h 356"/>
                <a:gd name="T14" fmla="*/ 0 w 703"/>
                <a:gd name="T15" fmla="*/ 0 h 356"/>
                <a:gd name="T16" fmla="*/ 0 w 703"/>
                <a:gd name="T17" fmla="*/ 0 h 356"/>
                <a:gd name="T18" fmla="*/ 0 w 703"/>
                <a:gd name="T19" fmla="*/ 0 h 356"/>
                <a:gd name="T20" fmla="*/ 0 w 703"/>
                <a:gd name="T21" fmla="*/ 0 h 356"/>
                <a:gd name="T22" fmla="*/ 0 w 703"/>
                <a:gd name="T23" fmla="*/ 0 h 356"/>
                <a:gd name="T24" fmla="*/ 0 w 703"/>
                <a:gd name="T25" fmla="*/ 0 h 356"/>
                <a:gd name="T26" fmla="*/ 0 w 703"/>
                <a:gd name="T27" fmla="*/ 0 h 356"/>
                <a:gd name="T28" fmla="*/ 0 w 703"/>
                <a:gd name="T29" fmla="*/ 0 h 356"/>
                <a:gd name="T30" fmla="*/ 0 w 703"/>
                <a:gd name="T31" fmla="*/ 0 h 356"/>
                <a:gd name="T32" fmla="*/ 0 w 703"/>
                <a:gd name="T33" fmla="*/ 0 h 356"/>
                <a:gd name="T34" fmla="*/ 0 w 703"/>
                <a:gd name="T35" fmla="*/ 0 h 356"/>
                <a:gd name="T36" fmla="*/ 0 w 703"/>
                <a:gd name="T37" fmla="*/ 0 h 356"/>
                <a:gd name="T38" fmla="*/ 0 w 703"/>
                <a:gd name="T39" fmla="*/ 0 h 35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703" h="356">
                  <a:moveTo>
                    <a:pt x="285" y="13"/>
                  </a:moveTo>
                  <a:lnTo>
                    <a:pt x="280" y="104"/>
                  </a:lnTo>
                  <a:lnTo>
                    <a:pt x="463" y="191"/>
                  </a:lnTo>
                  <a:lnTo>
                    <a:pt x="617" y="227"/>
                  </a:lnTo>
                  <a:lnTo>
                    <a:pt x="703" y="264"/>
                  </a:lnTo>
                  <a:lnTo>
                    <a:pt x="698" y="314"/>
                  </a:lnTo>
                  <a:lnTo>
                    <a:pt x="588" y="345"/>
                  </a:lnTo>
                  <a:lnTo>
                    <a:pt x="420" y="356"/>
                  </a:lnTo>
                  <a:lnTo>
                    <a:pt x="280" y="332"/>
                  </a:lnTo>
                  <a:lnTo>
                    <a:pt x="194" y="307"/>
                  </a:lnTo>
                  <a:lnTo>
                    <a:pt x="188" y="335"/>
                  </a:lnTo>
                  <a:lnTo>
                    <a:pt x="76" y="332"/>
                  </a:lnTo>
                  <a:lnTo>
                    <a:pt x="8" y="320"/>
                  </a:lnTo>
                  <a:lnTo>
                    <a:pt x="8" y="271"/>
                  </a:lnTo>
                  <a:lnTo>
                    <a:pt x="0" y="243"/>
                  </a:lnTo>
                  <a:lnTo>
                    <a:pt x="0" y="174"/>
                  </a:lnTo>
                  <a:lnTo>
                    <a:pt x="22" y="136"/>
                  </a:lnTo>
                  <a:lnTo>
                    <a:pt x="56" y="94"/>
                  </a:lnTo>
                  <a:lnTo>
                    <a:pt x="64" y="0"/>
                  </a:lnTo>
                  <a:lnTo>
                    <a:pt x="285" y="13"/>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2" name="Freeform 135"/>
            <p:cNvSpPr>
              <a:spLocks/>
            </p:cNvSpPr>
            <p:nvPr/>
          </p:nvSpPr>
          <p:spPr bwMode="auto">
            <a:xfrm>
              <a:off x="455" y="2361"/>
              <a:ext cx="42" cy="22"/>
            </a:xfrm>
            <a:custGeom>
              <a:avLst/>
              <a:gdLst>
                <a:gd name="T0" fmla="*/ 0 w 210"/>
                <a:gd name="T1" fmla="*/ 0 h 111"/>
                <a:gd name="T2" fmla="*/ 0 w 210"/>
                <a:gd name="T3" fmla="*/ 0 h 111"/>
                <a:gd name="T4" fmla="*/ 0 w 210"/>
                <a:gd name="T5" fmla="*/ 0 h 111"/>
                <a:gd name="T6" fmla="*/ 0 w 210"/>
                <a:gd name="T7" fmla="*/ 0 h 111"/>
                <a:gd name="T8" fmla="*/ 0 w 210"/>
                <a:gd name="T9" fmla="*/ 0 h 11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10" h="111">
                  <a:moveTo>
                    <a:pt x="53" y="0"/>
                  </a:moveTo>
                  <a:lnTo>
                    <a:pt x="0" y="60"/>
                  </a:lnTo>
                  <a:lnTo>
                    <a:pt x="187" y="111"/>
                  </a:lnTo>
                  <a:lnTo>
                    <a:pt x="210" y="71"/>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3" name="Freeform 136"/>
            <p:cNvSpPr>
              <a:spLocks/>
            </p:cNvSpPr>
            <p:nvPr/>
          </p:nvSpPr>
          <p:spPr bwMode="auto">
            <a:xfrm>
              <a:off x="497" y="2377"/>
              <a:ext cx="47" cy="13"/>
            </a:xfrm>
            <a:custGeom>
              <a:avLst/>
              <a:gdLst>
                <a:gd name="T0" fmla="*/ 0 w 237"/>
                <a:gd name="T1" fmla="*/ 0 h 66"/>
                <a:gd name="T2" fmla="*/ 0 w 237"/>
                <a:gd name="T3" fmla="*/ 0 h 66"/>
                <a:gd name="T4" fmla="*/ 0 w 237"/>
                <a:gd name="T5" fmla="*/ 0 h 66"/>
                <a:gd name="T6" fmla="*/ 0 w 237"/>
                <a:gd name="T7" fmla="*/ 0 h 66"/>
                <a:gd name="T8" fmla="*/ 0 w 237"/>
                <a:gd name="T9" fmla="*/ 0 h 66"/>
                <a:gd name="T10" fmla="*/ 0 w 237"/>
                <a:gd name="T11" fmla="*/ 0 h 66"/>
                <a:gd name="T12" fmla="*/ 0 w 237"/>
                <a:gd name="T13" fmla="*/ 0 h 6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7" h="66">
                  <a:moveTo>
                    <a:pt x="27" y="0"/>
                  </a:moveTo>
                  <a:lnTo>
                    <a:pt x="0" y="31"/>
                  </a:lnTo>
                  <a:lnTo>
                    <a:pt x="116" y="59"/>
                  </a:lnTo>
                  <a:lnTo>
                    <a:pt x="171" y="66"/>
                  </a:lnTo>
                  <a:lnTo>
                    <a:pt x="237" y="61"/>
                  </a:lnTo>
                  <a:lnTo>
                    <a:pt x="168" y="28"/>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4" name="Freeform 137"/>
            <p:cNvSpPr>
              <a:spLocks/>
            </p:cNvSpPr>
            <p:nvPr/>
          </p:nvSpPr>
          <p:spPr bwMode="auto">
            <a:xfrm>
              <a:off x="410" y="2361"/>
              <a:ext cx="135" cy="42"/>
            </a:xfrm>
            <a:custGeom>
              <a:avLst/>
              <a:gdLst>
                <a:gd name="T0" fmla="*/ 0 w 678"/>
                <a:gd name="T1" fmla="*/ 0 h 211"/>
                <a:gd name="T2" fmla="*/ 0 w 678"/>
                <a:gd name="T3" fmla="*/ 0 h 211"/>
                <a:gd name="T4" fmla="*/ 0 w 678"/>
                <a:gd name="T5" fmla="*/ 0 h 211"/>
                <a:gd name="T6" fmla="*/ 0 w 678"/>
                <a:gd name="T7" fmla="*/ 0 h 211"/>
                <a:gd name="T8" fmla="*/ 0 w 678"/>
                <a:gd name="T9" fmla="*/ 0 h 211"/>
                <a:gd name="T10" fmla="*/ 0 w 678"/>
                <a:gd name="T11" fmla="*/ 0 h 211"/>
                <a:gd name="T12" fmla="*/ 0 w 678"/>
                <a:gd name="T13" fmla="*/ 0 h 211"/>
                <a:gd name="T14" fmla="*/ 0 w 678"/>
                <a:gd name="T15" fmla="*/ 0 h 211"/>
                <a:gd name="T16" fmla="*/ 0 w 678"/>
                <a:gd name="T17" fmla="*/ 0 h 211"/>
                <a:gd name="T18" fmla="*/ 0 w 678"/>
                <a:gd name="T19" fmla="*/ 0 h 211"/>
                <a:gd name="T20" fmla="*/ 0 w 678"/>
                <a:gd name="T21" fmla="*/ 0 h 211"/>
                <a:gd name="T22" fmla="*/ 0 w 678"/>
                <a:gd name="T23" fmla="*/ 0 h 211"/>
                <a:gd name="T24" fmla="*/ 0 w 678"/>
                <a:gd name="T25" fmla="*/ 0 h 211"/>
                <a:gd name="T26" fmla="*/ 0 w 678"/>
                <a:gd name="T27" fmla="*/ 0 h 211"/>
                <a:gd name="T28" fmla="*/ 0 w 678"/>
                <a:gd name="T29" fmla="*/ 0 h 211"/>
                <a:gd name="T30" fmla="*/ 0 w 678"/>
                <a:gd name="T31" fmla="*/ 0 h 211"/>
                <a:gd name="T32" fmla="*/ 0 w 678"/>
                <a:gd name="T33" fmla="*/ 0 h 211"/>
                <a:gd name="T34" fmla="*/ 0 w 678"/>
                <a:gd name="T35" fmla="*/ 0 h 211"/>
                <a:gd name="T36" fmla="*/ 0 w 678"/>
                <a:gd name="T37" fmla="*/ 0 h 21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8" h="211">
                  <a:moveTo>
                    <a:pt x="678" y="178"/>
                  </a:moveTo>
                  <a:lnTo>
                    <a:pt x="678" y="147"/>
                  </a:lnTo>
                  <a:lnTo>
                    <a:pt x="590" y="156"/>
                  </a:lnTo>
                  <a:lnTo>
                    <a:pt x="446" y="136"/>
                  </a:lnTo>
                  <a:lnTo>
                    <a:pt x="365" y="117"/>
                  </a:lnTo>
                  <a:lnTo>
                    <a:pt x="209" y="66"/>
                  </a:lnTo>
                  <a:lnTo>
                    <a:pt x="140" y="60"/>
                  </a:lnTo>
                  <a:lnTo>
                    <a:pt x="74" y="35"/>
                  </a:lnTo>
                  <a:lnTo>
                    <a:pt x="39" y="0"/>
                  </a:lnTo>
                  <a:lnTo>
                    <a:pt x="0" y="44"/>
                  </a:lnTo>
                  <a:lnTo>
                    <a:pt x="0" y="133"/>
                  </a:lnTo>
                  <a:lnTo>
                    <a:pt x="50" y="147"/>
                  </a:lnTo>
                  <a:lnTo>
                    <a:pt x="171" y="162"/>
                  </a:lnTo>
                  <a:lnTo>
                    <a:pt x="220" y="170"/>
                  </a:lnTo>
                  <a:lnTo>
                    <a:pt x="300" y="197"/>
                  </a:lnTo>
                  <a:lnTo>
                    <a:pt x="392" y="211"/>
                  </a:lnTo>
                  <a:lnTo>
                    <a:pt x="458" y="211"/>
                  </a:lnTo>
                  <a:lnTo>
                    <a:pt x="560" y="211"/>
                  </a:lnTo>
                  <a:lnTo>
                    <a:pt x="678"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5" name="Freeform 138"/>
            <p:cNvSpPr>
              <a:spLocks/>
            </p:cNvSpPr>
            <p:nvPr/>
          </p:nvSpPr>
          <p:spPr bwMode="auto">
            <a:xfrm>
              <a:off x="419" y="2337"/>
              <a:ext cx="45" cy="34"/>
            </a:xfrm>
            <a:custGeom>
              <a:avLst/>
              <a:gdLst>
                <a:gd name="T0" fmla="*/ 0 w 224"/>
                <a:gd name="T1" fmla="*/ 0 h 170"/>
                <a:gd name="T2" fmla="*/ 0 w 224"/>
                <a:gd name="T3" fmla="*/ 0 h 170"/>
                <a:gd name="T4" fmla="*/ 0 w 224"/>
                <a:gd name="T5" fmla="*/ 0 h 170"/>
                <a:gd name="T6" fmla="*/ 0 w 224"/>
                <a:gd name="T7" fmla="*/ 0 h 170"/>
                <a:gd name="T8" fmla="*/ 0 w 224"/>
                <a:gd name="T9" fmla="*/ 0 h 170"/>
                <a:gd name="T10" fmla="*/ 0 w 224"/>
                <a:gd name="T11" fmla="*/ 0 h 170"/>
                <a:gd name="T12" fmla="*/ 0 w 224"/>
                <a:gd name="T13" fmla="*/ 0 h 170"/>
                <a:gd name="T14" fmla="*/ 0 w 224"/>
                <a:gd name="T15" fmla="*/ 0 h 170"/>
                <a:gd name="T16" fmla="*/ 0 w 224"/>
                <a:gd name="T17" fmla="*/ 0 h 170"/>
                <a:gd name="T18" fmla="*/ 0 w 224"/>
                <a:gd name="T19" fmla="*/ 0 h 17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24" h="170">
                  <a:moveTo>
                    <a:pt x="216" y="12"/>
                  </a:moveTo>
                  <a:lnTo>
                    <a:pt x="210" y="95"/>
                  </a:lnTo>
                  <a:lnTo>
                    <a:pt x="224" y="114"/>
                  </a:lnTo>
                  <a:lnTo>
                    <a:pt x="173" y="170"/>
                  </a:lnTo>
                  <a:lnTo>
                    <a:pt x="105" y="170"/>
                  </a:lnTo>
                  <a:lnTo>
                    <a:pt x="28" y="145"/>
                  </a:lnTo>
                  <a:lnTo>
                    <a:pt x="0" y="112"/>
                  </a:lnTo>
                  <a:lnTo>
                    <a:pt x="16" y="89"/>
                  </a:lnTo>
                  <a:lnTo>
                    <a:pt x="20" y="0"/>
                  </a:lnTo>
                  <a:lnTo>
                    <a:pt x="216" y="12"/>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46" name="Oval 139"/>
          <p:cNvSpPr>
            <a:spLocks noChangeArrowheads="1"/>
          </p:cNvSpPr>
          <p:nvPr/>
        </p:nvSpPr>
        <p:spPr bwMode="auto">
          <a:xfrm>
            <a:off x="1851777" y="3682923"/>
            <a:ext cx="168107" cy="60398"/>
          </a:xfrm>
          <a:prstGeom prst="ellipse">
            <a:avLst/>
          </a:prstGeom>
          <a:solidFill>
            <a:srgbClr val="606060"/>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47" name="Rectangle 140"/>
          <p:cNvSpPr>
            <a:spLocks noChangeArrowheads="1"/>
          </p:cNvSpPr>
          <p:nvPr/>
        </p:nvSpPr>
        <p:spPr bwMode="auto">
          <a:xfrm>
            <a:off x="1913181" y="3563058"/>
            <a:ext cx="44292" cy="137520"/>
          </a:xfrm>
          <a:prstGeom prst="rect">
            <a:avLst/>
          </a:prstGeom>
          <a:solidFill>
            <a:srgbClr val="606060"/>
          </a:solidFill>
          <a:ln w="3175">
            <a:solidFill>
              <a:srgbClr val="000000"/>
            </a:solidFill>
            <a:miter lim="800000"/>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48" name="Group 141"/>
          <p:cNvGrpSpPr>
            <a:grpSpLocks/>
          </p:cNvGrpSpPr>
          <p:nvPr/>
        </p:nvGrpSpPr>
        <p:grpSpPr bwMode="auto">
          <a:xfrm>
            <a:off x="1835671" y="3511024"/>
            <a:ext cx="222464" cy="71547"/>
            <a:chOff x="182" y="2151"/>
            <a:chExt cx="221" cy="77"/>
          </a:xfrm>
        </p:grpSpPr>
        <p:sp>
          <p:nvSpPr>
            <p:cNvPr id="149" name="Freeform 142"/>
            <p:cNvSpPr>
              <a:spLocks/>
            </p:cNvSpPr>
            <p:nvPr/>
          </p:nvSpPr>
          <p:spPr bwMode="auto">
            <a:xfrm>
              <a:off x="182" y="2151"/>
              <a:ext cx="221" cy="77"/>
            </a:xfrm>
            <a:custGeom>
              <a:avLst/>
              <a:gdLst>
                <a:gd name="T0" fmla="*/ 0 w 1106"/>
                <a:gd name="T1" fmla="*/ 0 h 386"/>
                <a:gd name="T2" fmla="*/ 0 w 1106"/>
                <a:gd name="T3" fmla="*/ 0 h 386"/>
                <a:gd name="T4" fmla="*/ 0 w 1106"/>
                <a:gd name="T5" fmla="*/ 0 h 386"/>
                <a:gd name="T6" fmla="*/ 0 w 1106"/>
                <a:gd name="T7" fmla="*/ 0 h 386"/>
                <a:gd name="T8" fmla="*/ 0 w 1106"/>
                <a:gd name="T9" fmla="*/ 0 h 386"/>
                <a:gd name="T10" fmla="*/ 0 w 1106"/>
                <a:gd name="T11" fmla="*/ 0 h 386"/>
                <a:gd name="T12" fmla="*/ 0 w 1106"/>
                <a:gd name="T13" fmla="*/ 0 h 386"/>
                <a:gd name="T14" fmla="*/ 0 w 1106"/>
                <a:gd name="T15" fmla="*/ 0 h 38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106" h="386">
                  <a:moveTo>
                    <a:pt x="1106" y="202"/>
                  </a:moveTo>
                  <a:lnTo>
                    <a:pt x="1099" y="321"/>
                  </a:lnTo>
                  <a:lnTo>
                    <a:pt x="735" y="386"/>
                  </a:lnTo>
                  <a:lnTo>
                    <a:pt x="334" y="386"/>
                  </a:lnTo>
                  <a:lnTo>
                    <a:pt x="19" y="288"/>
                  </a:lnTo>
                  <a:lnTo>
                    <a:pt x="0" y="10"/>
                  </a:lnTo>
                  <a:lnTo>
                    <a:pt x="625" y="0"/>
                  </a:lnTo>
                  <a:lnTo>
                    <a:pt x="1106" y="202"/>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0" name="Freeform 143"/>
            <p:cNvSpPr>
              <a:spLocks/>
            </p:cNvSpPr>
            <p:nvPr/>
          </p:nvSpPr>
          <p:spPr bwMode="auto">
            <a:xfrm>
              <a:off x="187" y="2180"/>
              <a:ext cx="211" cy="45"/>
            </a:xfrm>
            <a:custGeom>
              <a:avLst/>
              <a:gdLst>
                <a:gd name="T0" fmla="*/ 0 w 1055"/>
                <a:gd name="T1" fmla="*/ 0 h 221"/>
                <a:gd name="T2" fmla="*/ 0 w 1055"/>
                <a:gd name="T3" fmla="*/ 0 h 221"/>
                <a:gd name="T4" fmla="*/ 0 w 1055"/>
                <a:gd name="T5" fmla="*/ 0 h 221"/>
                <a:gd name="T6" fmla="*/ 0 w 1055"/>
                <a:gd name="T7" fmla="*/ 0 h 221"/>
                <a:gd name="T8" fmla="*/ 0 w 1055"/>
                <a:gd name="T9" fmla="*/ 0 h 221"/>
                <a:gd name="T10" fmla="*/ 0 w 1055"/>
                <a:gd name="T11" fmla="*/ 0 h 221"/>
                <a:gd name="T12" fmla="*/ 0 w 1055"/>
                <a:gd name="T13" fmla="*/ 0 h 221"/>
                <a:gd name="T14" fmla="*/ 0 w 1055"/>
                <a:gd name="T15" fmla="*/ 0 h 221"/>
                <a:gd name="T16" fmla="*/ 0 w 1055"/>
                <a:gd name="T17" fmla="*/ 0 h 22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 h="221">
                  <a:moveTo>
                    <a:pt x="1055" y="75"/>
                  </a:moveTo>
                  <a:lnTo>
                    <a:pt x="1049" y="162"/>
                  </a:lnTo>
                  <a:lnTo>
                    <a:pt x="721" y="221"/>
                  </a:lnTo>
                  <a:lnTo>
                    <a:pt x="296" y="221"/>
                  </a:lnTo>
                  <a:lnTo>
                    <a:pt x="0" y="119"/>
                  </a:lnTo>
                  <a:lnTo>
                    <a:pt x="0" y="0"/>
                  </a:lnTo>
                  <a:lnTo>
                    <a:pt x="283" y="119"/>
                  </a:lnTo>
                  <a:lnTo>
                    <a:pt x="716" y="124"/>
                  </a:lnTo>
                  <a:lnTo>
                    <a:pt x="1055" y="7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51" name="Freeform 144"/>
          <p:cNvSpPr>
            <a:spLocks/>
          </p:cNvSpPr>
          <p:nvPr/>
        </p:nvSpPr>
        <p:spPr bwMode="auto">
          <a:xfrm>
            <a:off x="1828626" y="3435758"/>
            <a:ext cx="304000" cy="260174"/>
          </a:xfrm>
          <a:custGeom>
            <a:avLst/>
            <a:gdLst>
              <a:gd name="T0" fmla="*/ 2147483646 w 1507"/>
              <a:gd name="T1" fmla="*/ 2147483646 h 1401"/>
              <a:gd name="T2" fmla="*/ 2147483646 w 1507"/>
              <a:gd name="T3" fmla="*/ 2147483646 h 1401"/>
              <a:gd name="T4" fmla="*/ 2147483646 w 1507"/>
              <a:gd name="T5" fmla="*/ 2147483646 h 1401"/>
              <a:gd name="T6" fmla="*/ 2147483646 w 1507"/>
              <a:gd name="T7" fmla="*/ 2147483646 h 1401"/>
              <a:gd name="T8" fmla="*/ 2147483646 w 1507"/>
              <a:gd name="T9" fmla="*/ 2147483646 h 1401"/>
              <a:gd name="T10" fmla="*/ 2147483646 w 1507"/>
              <a:gd name="T11" fmla="*/ 2147483646 h 1401"/>
              <a:gd name="T12" fmla="*/ 2147483646 w 1507"/>
              <a:gd name="T13" fmla="*/ 2147483646 h 1401"/>
              <a:gd name="T14" fmla="*/ 2147483646 w 1507"/>
              <a:gd name="T15" fmla="*/ 2147483646 h 1401"/>
              <a:gd name="T16" fmla="*/ 2147483646 w 1507"/>
              <a:gd name="T17" fmla="*/ 2147483646 h 1401"/>
              <a:gd name="T18" fmla="*/ 2147483646 w 1507"/>
              <a:gd name="T19" fmla="*/ 2147483646 h 1401"/>
              <a:gd name="T20" fmla="*/ 2147483646 w 1507"/>
              <a:gd name="T21" fmla="*/ 2147483646 h 1401"/>
              <a:gd name="T22" fmla="*/ 2147483646 w 1507"/>
              <a:gd name="T23" fmla="*/ 2147483646 h 1401"/>
              <a:gd name="T24" fmla="*/ 2147483646 w 1507"/>
              <a:gd name="T25" fmla="*/ 2147483646 h 1401"/>
              <a:gd name="T26" fmla="*/ 2147483646 w 1507"/>
              <a:gd name="T27" fmla="*/ 2147483646 h 1401"/>
              <a:gd name="T28" fmla="*/ 2147483646 w 1507"/>
              <a:gd name="T29" fmla="*/ 2147483646 h 1401"/>
              <a:gd name="T30" fmla="*/ 2147483646 w 1507"/>
              <a:gd name="T31" fmla="*/ 2147483646 h 1401"/>
              <a:gd name="T32" fmla="*/ 2147483646 w 1507"/>
              <a:gd name="T33" fmla="*/ 2147483646 h 1401"/>
              <a:gd name="T34" fmla="*/ 2147483646 w 1507"/>
              <a:gd name="T35" fmla="*/ 2147483646 h 1401"/>
              <a:gd name="T36" fmla="*/ 2147483646 w 1507"/>
              <a:gd name="T37" fmla="*/ 2147483646 h 1401"/>
              <a:gd name="T38" fmla="*/ 2147483646 w 1507"/>
              <a:gd name="T39" fmla="*/ 0 h 1401"/>
              <a:gd name="T40" fmla="*/ 2147483646 w 1507"/>
              <a:gd name="T41" fmla="*/ 2147483646 h 1401"/>
              <a:gd name="T42" fmla="*/ 2147483646 w 1507"/>
              <a:gd name="T43" fmla="*/ 2147483646 h 1401"/>
              <a:gd name="T44" fmla="*/ 2147483646 w 1507"/>
              <a:gd name="T45" fmla="*/ 2147483646 h 1401"/>
              <a:gd name="T46" fmla="*/ 2147483646 w 1507"/>
              <a:gd name="T47" fmla="*/ 2147483646 h 1401"/>
              <a:gd name="T48" fmla="*/ 2147483646 w 1507"/>
              <a:gd name="T49" fmla="*/ 2147483646 h 1401"/>
              <a:gd name="T50" fmla="*/ 0 w 1507"/>
              <a:gd name="T51" fmla="*/ 2147483646 h 1401"/>
              <a:gd name="T52" fmla="*/ 2147483646 w 1507"/>
              <a:gd name="T53" fmla="*/ 2147483646 h 1401"/>
              <a:gd name="T54" fmla="*/ 2147483646 w 1507"/>
              <a:gd name="T55" fmla="*/ 2147483646 h 1401"/>
              <a:gd name="T56" fmla="*/ 2147483646 w 1507"/>
              <a:gd name="T57" fmla="*/ 2147483646 h 1401"/>
              <a:gd name="T58" fmla="*/ 2147483646 w 1507"/>
              <a:gd name="T59" fmla="*/ 2147483646 h 1401"/>
              <a:gd name="T60" fmla="*/ 2147483646 w 1507"/>
              <a:gd name="T61" fmla="*/ 2147483646 h 1401"/>
              <a:gd name="T62" fmla="*/ 2147483646 w 1507"/>
              <a:gd name="T63" fmla="*/ 2147483646 h 1401"/>
              <a:gd name="T64" fmla="*/ 2147483646 w 1507"/>
              <a:gd name="T65" fmla="*/ 2147483646 h 1401"/>
              <a:gd name="T66" fmla="*/ 2147483646 w 1507"/>
              <a:gd name="T67" fmla="*/ 2147483646 h 1401"/>
              <a:gd name="T68" fmla="*/ 2147483646 w 1507"/>
              <a:gd name="T69" fmla="*/ 2147483646 h 1401"/>
              <a:gd name="T70" fmla="*/ 2147483646 w 1507"/>
              <a:gd name="T71" fmla="*/ 2147483646 h 1401"/>
              <a:gd name="T72" fmla="*/ 2147483646 w 1507"/>
              <a:gd name="T73" fmla="*/ 2147483646 h 1401"/>
              <a:gd name="T74" fmla="*/ 2147483646 w 1507"/>
              <a:gd name="T75" fmla="*/ 2147483646 h 1401"/>
              <a:gd name="T76" fmla="*/ 2147483646 w 1507"/>
              <a:gd name="T77" fmla="*/ 2147483646 h 1401"/>
              <a:gd name="T78" fmla="*/ 2147483646 w 1507"/>
              <a:gd name="T79" fmla="*/ 2147483646 h 1401"/>
              <a:gd name="T80" fmla="*/ 2147483646 w 1507"/>
              <a:gd name="T81" fmla="*/ 2147483646 h 1401"/>
              <a:gd name="T82" fmla="*/ 2147483646 w 1507"/>
              <a:gd name="T83" fmla="*/ 2147483646 h 1401"/>
              <a:gd name="T84" fmla="*/ 2147483646 w 1507"/>
              <a:gd name="T85" fmla="*/ 2147483646 h 1401"/>
              <a:gd name="T86" fmla="*/ 2147483646 w 1507"/>
              <a:gd name="T87" fmla="*/ 2147483646 h 1401"/>
              <a:gd name="T88" fmla="*/ 2147483646 w 1507"/>
              <a:gd name="T89" fmla="*/ 2147483646 h 1401"/>
              <a:gd name="T90" fmla="*/ 2147483646 w 1507"/>
              <a:gd name="T91" fmla="*/ 2147483646 h 1401"/>
              <a:gd name="T92" fmla="*/ 2147483646 w 1507"/>
              <a:gd name="T93" fmla="*/ 2147483646 h 1401"/>
              <a:gd name="T94" fmla="*/ 2147483646 w 1507"/>
              <a:gd name="T95" fmla="*/ 2147483646 h 1401"/>
              <a:gd name="T96" fmla="*/ 2147483646 w 1507"/>
              <a:gd name="T97" fmla="*/ 2147483646 h 1401"/>
              <a:gd name="T98" fmla="*/ 2147483646 w 1507"/>
              <a:gd name="T99" fmla="*/ 2147483646 h 1401"/>
              <a:gd name="T100" fmla="*/ 2147483646 w 1507"/>
              <a:gd name="T101" fmla="*/ 2147483646 h 1401"/>
              <a:gd name="T102" fmla="*/ 2147483646 w 1507"/>
              <a:gd name="T103" fmla="*/ 2147483646 h 1401"/>
              <a:gd name="T104" fmla="*/ 2147483646 w 1507"/>
              <a:gd name="T105" fmla="*/ 2147483646 h 1401"/>
              <a:gd name="T106" fmla="*/ 2147483646 w 1507"/>
              <a:gd name="T107" fmla="*/ 2147483646 h 1401"/>
              <a:gd name="T108" fmla="*/ 2147483646 w 1507"/>
              <a:gd name="T109" fmla="*/ 2147483646 h 1401"/>
              <a:gd name="T110" fmla="*/ 2147483646 w 1507"/>
              <a:gd name="T111" fmla="*/ 2147483646 h 1401"/>
              <a:gd name="T112" fmla="*/ 2147483646 w 1507"/>
              <a:gd name="T113" fmla="*/ 2147483646 h 1401"/>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1507" h="1401">
                <a:moveTo>
                  <a:pt x="1501" y="789"/>
                </a:moveTo>
                <a:lnTo>
                  <a:pt x="1493" y="649"/>
                </a:lnTo>
                <a:lnTo>
                  <a:pt x="1495" y="499"/>
                </a:lnTo>
                <a:lnTo>
                  <a:pt x="1489" y="385"/>
                </a:lnTo>
                <a:lnTo>
                  <a:pt x="1424" y="317"/>
                </a:lnTo>
                <a:lnTo>
                  <a:pt x="1345" y="278"/>
                </a:lnTo>
                <a:lnTo>
                  <a:pt x="1166" y="213"/>
                </a:lnTo>
                <a:lnTo>
                  <a:pt x="903" y="149"/>
                </a:lnTo>
                <a:lnTo>
                  <a:pt x="852" y="144"/>
                </a:lnTo>
                <a:lnTo>
                  <a:pt x="817" y="149"/>
                </a:lnTo>
                <a:lnTo>
                  <a:pt x="809" y="135"/>
                </a:lnTo>
                <a:lnTo>
                  <a:pt x="794" y="122"/>
                </a:lnTo>
                <a:lnTo>
                  <a:pt x="777" y="125"/>
                </a:lnTo>
                <a:lnTo>
                  <a:pt x="754" y="126"/>
                </a:lnTo>
                <a:lnTo>
                  <a:pt x="745" y="100"/>
                </a:lnTo>
                <a:lnTo>
                  <a:pt x="726" y="85"/>
                </a:lnTo>
                <a:lnTo>
                  <a:pt x="704" y="82"/>
                </a:lnTo>
                <a:lnTo>
                  <a:pt x="678" y="82"/>
                </a:lnTo>
                <a:lnTo>
                  <a:pt x="681" y="59"/>
                </a:lnTo>
                <a:lnTo>
                  <a:pt x="651" y="0"/>
                </a:lnTo>
                <a:lnTo>
                  <a:pt x="37" y="16"/>
                </a:lnTo>
                <a:lnTo>
                  <a:pt x="39" y="79"/>
                </a:lnTo>
                <a:lnTo>
                  <a:pt x="28" y="135"/>
                </a:lnTo>
                <a:lnTo>
                  <a:pt x="18" y="175"/>
                </a:lnTo>
                <a:lnTo>
                  <a:pt x="8" y="225"/>
                </a:lnTo>
                <a:lnTo>
                  <a:pt x="0" y="306"/>
                </a:lnTo>
                <a:lnTo>
                  <a:pt x="9" y="354"/>
                </a:lnTo>
                <a:lnTo>
                  <a:pt x="28" y="399"/>
                </a:lnTo>
                <a:lnTo>
                  <a:pt x="49" y="438"/>
                </a:lnTo>
                <a:lnTo>
                  <a:pt x="78" y="451"/>
                </a:lnTo>
                <a:lnTo>
                  <a:pt x="122" y="464"/>
                </a:lnTo>
                <a:lnTo>
                  <a:pt x="180" y="483"/>
                </a:lnTo>
                <a:lnTo>
                  <a:pt x="208" y="514"/>
                </a:lnTo>
                <a:lnTo>
                  <a:pt x="240" y="541"/>
                </a:lnTo>
                <a:lnTo>
                  <a:pt x="289" y="564"/>
                </a:lnTo>
                <a:lnTo>
                  <a:pt x="348" y="582"/>
                </a:lnTo>
                <a:lnTo>
                  <a:pt x="441" y="594"/>
                </a:lnTo>
                <a:lnTo>
                  <a:pt x="520" y="594"/>
                </a:lnTo>
                <a:lnTo>
                  <a:pt x="581" y="587"/>
                </a:lnTo>
                <a:lnTo>
                  <a:pt x="637" y="582"/>
                </a:lnTo>
                <a:lnTo>
                  <a:pt x="678" y="604"/>
                </a:lnTo>
                <a:lnTo>
                  <a:pt x="758" y="600"/>
                </a:lnTo>
                <a:lnTo>
                  <a:pt x="1078" y="645"/>
                </a:lnTo>
                <a:lnTo>
                  <a:pt x="1165" y="655"/>
                </a:lnTo>
                <a:lnTo>
                  <a:pt x="1133" y="845"/>
                </a:lnTo>
                <a:lnTo>
                  <a:pt x="1130" y="942"/>
                </a:lnTo>
                <a:lnTo>
                  <a:pt x="1149" y="1066"/>
                </a:lnTo>
                <a:lnTo>
                  <a:pt x="1169" y="1212"/>
                </a:lnTo>
                <a:lnTo>
                  <a:pt x="1169" y="1363"/>
                </a:lnTo>
                <a:lnTo>
                  <a:pt x="1244" y="1385"/>
                </a:lnTo>
                <a:lnTo>
                  <a:pt x="1339" y="1395"/>
                </a:lnTo>
                <a:lnTo>
                  <a:pt x="1420" y="1401"/>
                </a:lnTo>
                <a:lnTo>
                  <a:pt x="1507" y="1391"/>
                </a:lnTo>
                <a:lnTo>
                  <a:pt x="1501" y="1252"/>
                </a:lnTo>
                <a:lnTo>
                  <a:pt x="1501" y="1024"/>
                </a:lnTo>
                <a:lnTo>
                  <a:pt x="1501" y="824"/>
                </a:lnTo>
                <a:lnTo>
                  <a:pt x="1501" y="789"/>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2" name="Freeform 145"/>
          <p:cNvSpPr>
            <a:spLocks/>
          </p:cNvSpPr>
          <p:nvPr/>
        </p:nvSpPr>
        <p:spPr bwMode="auto">
          <a:xfrm>
            <a:off x="1832652" y="3445980"/>
            <a:ext cx="296954" cy="246235"/>
          </a:xfrm>
          <a:custGeom>
            <a:avLst/>
            <a:gdLst>
              <a:gd name="T0" fmla="*/ 2147483646 w 1473"/>
              <a:gd name="T1" fmla="*/ 2147483646 h 1324"/>
              <a:gd name="T2" fmla="*/ 2147483646 w 1473"/>
              <a:gd name="T3" fmla="*/ 2147483646 h 1324"/>
              <a:gd name="T4" fmla="*/ 2147483646 w 1473"/>
              <a:gd name="T5" fmla="*/ 2147483646 h 1324"/>
              <a:gd name="T6" fmla="*/ 2147483646 w 1473"/>
              <a:gd name="T7" fmla="*/ 2147483646 h 1324"/>
              <a:gd name="T8" fmla="*/ 2147483646 w 1473"/>
              <a:gd name="T9" fmla="*/ 2147483646 h 1324"/>
              <a:gd name="T10" fmla="*/ 2147483646 w 1473"/>
              <a:gd name="T11" fmla="*/ 2147483646 h 1324"/>
              <a:gd name="T12" fmla="*/ 2147483646 w 1473"/>
              <a:gd name="T13" fmla="*/ 2147483646 h 1324"/>
              <a:gd name="T14" fmla="*/ 2147483646 w 1473"/>
              <a:gd name="T15" fmla="*/ 2147483646 h 1324"/>
              <a:gd name="T16" fmla="*/ 2147483646 w 1473"/>
              <a:gd name="T17" fmla="*/ 2147483646 h 1324"/>
              <a:gd name="T18" fmla="*/ 2147483646 w 1473"/>
              <a:gd name="T19" fmla="*/ 2147483646 h 1324"/>
              <a:gd name="T20" fmla="*/ 2147483646 w 1473"/>
              <a:gd name="T21" fmla="*/ 2147483646 h 1324"/>
              <a:gd name="T22" fmla="*/ 2147483646 w 1473"/>
              <a:gd name="T23" fmla="*/ 2147483646 h 1324"/>
              <a:gd name="T24" fmla="*/ 2147483646 w 1473"/>
              <a:gd name="T25" fmla="*/ 2147483646 h 1324"/>
              <a:gd name="T26" fmla="*/ 2147483646 w 1473"/>
              <a:gd name="T27" fmla="*/ 2147483646 h 1324"/>
              <a:gd name="T28" fmla="*/ 2147483646 w 1473"/>
              <a:gd name="T29" fmla="*/ 2147483646 h 1324"/>
              <a:gd name="T30" fmla="*/ 2147483646 w 1473"/>
              <a:gd name="T31" fmla="*/ 2147483646 h 1324"/>
              <a:gd name="T32" fmla="*/ 2147483646 w 1473"/>
              <a:gd name="T33" fmla="*/ 2147483646 h 1324"/>
              <a:gd name="T34" fmla="*/ 2147483646 w 1473"/>
              <a:gd name="T35" fmla="*/ 2147483646 h 1324"/>
              <a:gd name="T36" fmla="*/ 2147483646 w 1473"/>
              <a:gd name="T37" fmla="*/ 2147483646 h 1324"/>
              <a:gd name="T38" fmla="*/ 2147483646 w 1473"/>
              <a:gd name="T39" fmla="*/ 2147483646 h 1324"/>
              <a:gd name="T40" fmla="*/ 2147483646 w 1473"/>
              <a:gd name="T41" fmla="*/ 2147483646 h 1324"/>
              <a:gd name="T42" fmla="*/ 2147483646 w 1473"/>
              <a:gd name="T43" fmla="*/ 2147483646 h 1324"/>
              <a:gd name="T44" fmla="*/ 2147483646 w 1473"/>
              <a:gd name="T45" fmla="*/ 2147483646 h 1324"/>
              <a:gd name="T46" fmla="*/ 2147483646 w 1473"/>
              <a:gd name="T47" fmla="*/ 2147483646 h 1324"/>
              <a:gd name="T48" fmla="*/ 2147483646 w 1473"/>
              <a:gd name="T49" fmla="*/ 2147483646 h 1324"/>
              <a:gd name="T50" fmla="*/ 2147483646 w 1473"/>
              <a:gd name="T51" fmla="*/ 2147483646 h 1324"/>
              <a:gd name="T52" fmla="*/ 2147483646 w 1473"/>
              <a:gd name="T53" fmla="*/ 2147483646 h 1324"/>
              <a:gd name="T54" fmla="*/ 2147483646 w 1473"/>
              <a:gd name="T55" fmla="*/ 2147483646 h 1324"/>
              <a:gd name="T56" fmla="*/ 2147483646 w 1473"/>
              <a:gd name="T57" fmla="*/ 2147483646 h 1324"/>
              <a:gd name="T58" fmla="*/ 2147483646 w 1473"/>
              <a:gd name="T59" fmla="*/ 2147483646 h 1324"/>
              <a:gd name="T60" fmla="*/ 2147483646 w 1473"/>
              <a:gd name="T61" fmla="*/ 2147483646 h 1324"/>
              <a:gd name="T62" fmla="*/ 2147483646 w 1473"/>
              <a:gd name="T63" fmla="*/ 2147483646 h 1324"/>
              <a:gd name="T64" fmla="*/ 2147483646 w 1473"/>
              <a:gd name="T65" fmla="*/ 2147483646 h 1324"/>
              <a:gd name="T66" fmla="*/ 2147483646 w 1473"/>
              <a:gd name="T67" fmla="*/ 2147483646 h 1324"/>
              <a:gd name="T68" fmla="*/ 2147483646 w 1473"/>
              <a:gd name="T69" fmla="*/ 2147483646 h 1324"/>
              <a:gd name="T70" fmla="*/ 2147483646 w 1473"/>
              <a:gd name="T71" fmla="*/ 2147483646 h 1324"/>
              <a:gd name="T72" fmla="*/ 2147483646 w 1473"/>
              <a:gd name="T73" fmla="*/ 2147483646 h 1324"/>
              <a:gd name="T74" fmla="*/ 2147483646 w 1473"/>
              <a:gd name="T75" fmla="*/ 2147483646 h 1324"/>
              <a:gd name="T76" fmla="*/ 2147483646 w 1473"/>
              <a:gd name="T77" fmla="*/ 2147483646 h 1324"/>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473" h="1324">
                <a:moveTo>
                  <a:pt x="49" y="23"/>
                </a:moveTo>
                <a:lnTo>
                  <a:pt x="46" y="66"/>
                </a:lnTo>
                <a:lnTo>
                  <a:pt x="29" y="49"/>
                </a:lnTo>
                <a:lnTo>
                  <a:pt x="10" y="144"/>
                </a:lnTo>
                <a:lnTo>
                  <a:pt x="0" y="254"/>
                </a:lnTo>
                <a:lnTo>
                  <a:pt x="39" y="367"/>
                </a:lnTo>
                <a:lnTo>
                  <a:pt x="130" y="393"/>
                </a:lnTo>
                <a:lnTo>
                  <a:pt x="120" y="367"/>
                </a:lnTo>
                <a:lnTo>
                  <a:pt x="169" y="406"/>
                </a:lnTo>
                <a:lnTo>
                  <a:pt x="211" y="449"/>
                </a:lnTo>
                <a:lnTo>
                  <a:pt x="306" y="494"/>
                </a:lnTo>
                <a:lnTo>
                  <a:pt x="421" y="504"/>
                </a:lnTo>
                <a:lnTo>
                  <a:pt x="562" y="511"/>
                </a:lnTo>
                <a:lnTo>
                  <a:pt x="620" y="504"/>
                </a:lnTo>
                <a:lnTo>
                  <a:pt x="569" y="481"/>
                </a:lnTo>
                <a:lnTo>
                  <a:pt x="546" y="423"/>
                </a:lnTo>
                <a:lnTo>
                  <a:pt x="588" y="471"/>
                </a:lnTo>
                <a:lnTo>
                  <a:pt x="641" y="501"/>
                </a:lnTo>
                <a:lnTo>
                  <a:pt x="688" y="527"/>
                </a:lnTo>
                <a:lnTo>
                  <a:pt x="737" y="520"/>
                </a:lnTo>
                <a:lnTo>
                  <a:pt x="706" y="497"/>
                </a:lnTo>
                <a:lnTo>
                  <a:pt x="672" y="469"/>
                </a:lnTo>
                <a:lnTo>
                  <a:pt x="725" y="488"/>
                </a:lnTo>
                <a:lnTo>
                  <a:pt x="776" y="527"/>
                </a:lnTo>
                <a:lnTo>
                  <a:pt x="946" y="546"/>
                </a:lnTo>
                <a:lnTo>
                  <a:pt x="1114" y="572"/>
                </a:lnTo>
                <a:lnTo>
                  <a:pt x="1165" y="585"/>
                </a:lnTo>
                <a:lnTo>
                  <a:pt x="1122" y="833"/>
                </a:lnTo>
                <a:lnTo>
                  <a:pt x="1155" y="1063"/>
                </a:lnTo>
                <a:lnTo>
                  <a:pt x="1159" y="1288"/>
                </a:lnTo>
                <a:lnTo>
                  <a:pt x="1266" y="1310"/>
                </a:lnTo>
                <a:lnTo>
                  <a:pt x="1360" y="1324"/>
                </a:lnTo>
                <a:lnTo>
                  <a:pt x="1473" y="1321"/>
                </a:lnTo>
                <a:lnTo>
                  <a:pt x="1468" y="998"/>
                </a:lnTo>
                <a:lnTo>
                  <a:pt x="1468" y="729"/>
                </a:lnTo>
                <a:lnTo>
                  <a:pt x="1451" y="579"/>
                </a:lnTo>
                <a:lnTo>
                  <a:pt x="1465" y="485"/>
                </a:lnTo>
                <a:lnTo>
                  <a:pt x="1455" y="381"/>
                </a:lnTo>
                <a:lnTo>
                  <a:pt x="1436" y="314"/>
                </a:lnTo>
                <a:lnTo>
                  <a:pt x="1355" y="261"/>
                </a:lnTo>
                <a:lnTo>
                  <a:pt x="1253" y="215"/>
                </a:lnTo>
                <a:lnTo>
                  <a:pt x="1057" y="150"/>
                </a:lnTo>
                <a:lnTo>
                  <a:pt x="897" y="105"/>
                </a:lnTo>
                <a:lnTo>
                  <a:pt x="809" y="98"/>
                </a:lnTo>
                <a:lnTo>
                  <a:pt x="773" y="150"/>
                </a:lnTo>
                <a:lnTo>
                  <a:pt x="662" y="205"/>
                </a:lnTo>
                <a:lnTo>
                  <a:pt x="722" y="157"/>
                </a:lnTo>
                <a:lnTo>
                  <a:pt x="767" y="131"/>
                </a:lnTo>
                <a:lnTo>
                  <a:pt x="783" y="95"/>
                </a:lnTo>
                <a:lnTo>
                  <a:pt x="776" y="79"/>
                </a:lnTo>
                <a:lnTo>
                  <a:pt x="744" y="79"/>
                </a:lnTo>
                <a:lnTo>
                  <a:pt x="725" y="98"/>
                </a:lnTo>
                <a:lnTo>
                  <a:pt x="706" y="117"/>
                </a:lnTo>
                <a:lnTo>
                  <a:pt x="656" y="137"/>
                </a:lnTo>
                <a:lnTo>
                  <a:pt x="702" y="98"/>
                </a:lnTo>
                <a:lnTo>
                  <a:pt x="722" y="68"/>
                </a:lnTo>
                <a:lnTo>
                  <a:pt x="708" y="49"/>
                </a:lnTo>
                <a:lnTo>
                  <a:pt x="669" y="36"/>
                </a:lnTo>
                <a:lnTo>
                  <a:pt x="618" y="82"/>
                </a:lnTo>
                <a:lnTo>
                  <a:pt x="569" y="112"/>
                </a:lnTo>
                <a:lnTo>
                  <a:pt x="627" y="45"/>
                </a:lnTo>
                <a:lnTo>
                  <a:pt x="646" y="20"/>
                </a:lnTo>
                <a:lnTo>
                  <a:pt x="646" y="0"/>
                </a:lnTo>
                <a:lnTo>
                  <a:pt x="597" y="7"/>
                </a:lnTo>
                <a:lnTo>
                  <a:pt x="553" y="40"/>
                </a:lnTo>
                <a:lnTo>
                  <a:pt x="523" y="63"/>
                </a:lnTo>
                <a:lnTo>
                  <a:pt x="383" y="75"/>
                </a:lnTo>
                <a:lnTo>
                  <a:pt x="386" y="40"/>
                </a:lnTo>
                <a:lnTo>
                  <a:pt x="345" y="26"/>
                </a:lnTo>
                <a:lnTo>
                  <a:pt x="345" y="72"/>
                </a:lnTo>
                <a:lnTo>
                  <a:pt x="303" y="82"/>
                </a:lnTo>
                <a:lnTo>
                  <a:pt x="211" y="95"/>
                </a:lnTo>
                <a:lnTo>
                  <a:pt x="218" y="45"/>
                </a:lnTo>
                <a:lnTo>
                  <a:pt x="185" y="45"/>
                </a:lnTo>
                <a:lnTo>
                  <a:pt x="182" y="95"/>
                </a:lnTo>
                <a:lnTo>
                  <a:pt x="130" y="91"/>
                </a:lnTo>
                <a:lnTo>
                  <a:pt x="75" y="79"/>
                </a:lnTo>
                <a:lnTo>
                  <a:pt x="72" y="40"/>
                </a:lnTo>
                <a:lnTo>
                  <a:pt x="49" y="23"/>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3" name="Freeform 146"/>
          <p:cNvSpPr>
            <a:spLocks/>
          </p:cNvSpPr>
          <p:nvPr/>
        </p:nvSpPr>
        <p:spPr bwMode="auto">
          <a:xfrm>
            <a:off x="1873923" y="3486864"/>
            <a:ext cx="40265" cy="6504"/>
          </a:xfrm>
          <a:custGeom>
            <a:avLst/>
            <a:gdLst>
              <a:gd name="T0" fmla="*/ 0 w 199"/>
              <a:gd name="T1" fmla="*/ 0 h 33"/>
              <a:gd name="T2" fmla="*/ 2147483646 w 199"/>
              <a:gd name="T3" fmla="*/ 2147483646 h 33"/>
              <a:gd name="T4" fmla="*/ 2147483646 w 199"/>
              <a:gd name="T5" fmla="*/ 2147483646 h 33"/>
              <a:gd name="T6" fmla="*/ 0 w 199"/>
              <a:gd name="T7" fmla="*/ 0 h 3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9" h="33">
                <a:moveTo>
                  <a:pt x="0" y="0"/>
                </a:moveTo>
                <a:lnTo>
                  <a:pt x="93" y="33"/>
                </a:lnTo>
                <a:lnTo>
                  <a:pt x="199" y="2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4" name="Freeform 147"/>
          <p:cNvSpPr>
            <a:spLocks/>
          </p:cNvSpPr>
          <p:nvPr/>
        </p:nvSpPr>
        <p:spPr bwMode="auto">
          <a:xfrm>
            <a:off x="1833658" y="3476643"/>
            <a:ext cx="25166" cy="7434"/>
          </a:xfrm>
          <a:custGeom>
            <a:avLst/>
            <a:gdLst>
              <a:gd name="T0" fmla="*/ 0 w 122"/>
              <a:gd name="T1" fmla="*/ 0 h 40"/>
              <a:gd name="T2" fmla="*/ 2147483646 w 122"/>
              <a:gd name="T3" fmla="*/ 2147483646 h 40"/>
              <a:gd name="T4" fmla="*/ 2147483646 w 122"/>
              <a:gd name="T5" fmla="*/ 2147483646 h 40"/>
              <a:gd name="T6" fmla="*/ 2147483646 w 122"/>
              <a:gd name="T7" fmla="*/ 2147483646 h 40"/>
              <a:gd name="T8" fmla="*/ 0 w 122"/>
              <a:gd name="T9" fmla="*/ 0 h 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22" h="40">
                <a:moveTo>
                  <a:pt x="0" y="0"/>
                </a:moveTo>
                <a:lnTo>
                  <a:pt x="32" y="25"/>
                </a:lnTo>
                <a:lnTo>
                  <a:pt x="122" y="38"/>
                </a:lnTo>
                <a:lnTo>
                  <a:pt x="30" y="40"/>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5" name="Freeform 148"/>
          <p:cNvSpPr>
            <a:spLocks/>
          </p:cNvSpPr>
          <p:nvPr/>
        </p:nvSpPr>
        <p:spPr bwMode="auto">
          <a:xfrm>
            <a:off x="1936334" y="3471068"/>
            <a:ext cx="38252" cy="18584"/>
          </a:xfrm>
          <a:custGeom>
            <a:avLst/>
            <a:gdLst>
              <a:gd name="T0" fmla="*/ 0 w 187"/>
              <a:gd name="T1" fmla="*/ 0 h 102"/>
              <a:gd name="T2" fmla="*/ 2147483646 w 187"/>
              <a:gd name="T3" fmla="*/ 2147483646 h 102"/>
              <a:gd name="T4" fmla="*/ 2147483646 w 187"/>
              <a:gd name="T5" fmla="*/ 2147483646 h 102"/>
              <a:gd name="T6" fmla="*/ 2147483646 w 187"/>
              <a:gd name="T7" fmla="*/ 2147483646 h 102"/>
              <a:gd name="T8" fmla="*/ 2147483646 w 187"/>
              <a:gd name="T9" fmla="*/ 2147483646 h 102"/>
              <a:gd name="T10" fmla="*/ 2147483646 w 187"/>
              <a:gd name="T11" fmla="*/ 2147483646 h 102"/>
              <a:gd name="T12" fmla="*/ 2147483646 w 187"/>
              <a:gd name="T13" fmla="*/ 2147483646 h 102"/>
              <a:gd name="T14" fmla="*/ 2147483646 w 187"/>
              <a:gd name="T15" fmla="*/ 2147483646 h 102"/>
              <a:gd name="T16" fmla="*/ 0 w 187"/>
              <a:gd name="T17" fmla="*/ 0 h 10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87" h="102">
                <a:moveTo>
                  <a:pt x="0" y="0"/>
                </a:moveTo>
                <a:lnTo>
                  <a:pt x="84" y="9"/>
                </a:lnTo>
                <a:lnTo>
                  <a:pt x="101" y="23"/>
                </a:lnTo>
                <a:lnTo>
                  <a:pt x="101" y="54"/>
                </a:lnTo>
                <a:lnTo>
                  <a:pt x="106" y="89"/>
                </a:lnTo>
                <a:lnTo>
                  <a:pt x="187" y="102"/>
                </a:lnTo>
                <a:lnTo>
                  <a:pt x="90" y="98"/>
                </a:lnTo>
                <a:lnTo>
                  <a:pt x="7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6" name="Freeform 149"/>
          <p:cNvSpPr>
            <a:spLocks/>
          </p:cNvSpPr>
          <p:nvPr/>
        </p:nvSpPr>
        <p:spPr bwMode="auto">
          <a:xfrm>
            <a:off x="1974586" y="3513811"/>
            <a:ext cx="122808" cy="27876"/>
          </a:xfrm>
          <a:custGeom>
            <a:avLst/>
            <a:gdLst>
              <a:gd name="T0" fmla="*/ 0 w 609"/>
              <a:gd name="T1" fmla="*/ 0 h 150"/>
              <a:gd name="T2" fmla="*/ 2147483646 w 609"/>
              <a:gd name="T3" fmla="*/ 2147483646 h 150"/>
              <a:gd name="T4" fmla="*/ 2147483646 w 609"/>
              <a:gd name="T5" fmla="*/ 2147483646 h 150"/>
              <a:gd name="T6" fmla="*/ 2147483646 w 609"/>
              <a:gd name="T7" fmla="*/ 2147483646 h 150"/>
              <a:gd name="T8" fmla="*/ 2147483646 w 609"/>
              <a:gd name="T9" fmla="*/ 2147483646 h 150"/>
              <a:gd name="T10" fmla="*/ 2147483646 w 609"/>
              <a:gd name="T11" fmla="*/ 2147483646 h 150"/>
              <a:gd name="T12" fmla="*/ 2147483646 w 609"/>
              <a:gd name="T13" fmla="*/ 2147483646 h 150"/>
              <a:gd name="T14" fmla="*/ 2147483646 w 609"/>
              <a:gd name="T15" fmla="*/ 2147483646 h 150"/>
              <a:gd name="T16" fmla="*/ 2147483646 w 609"/>
              <a:gd name="T17" fmla="*/ 2147483646 h 150"/>
              <a:gd name="T18" fmla="*/ 2147483646 w 609"/>
              <a:gd name="T19" fmla="*/ 2147483646 h 150"/>
              <a:gd name="T20" fmla="*/ 2147483646 w 609"/>
              <a:gd name="T21" fmla="*/ 2147483646 h 150"/>
              <a:gd name="T22" fmla="*/ 2147483646 w 609"/>
              <a:gd name="T23" fmla="*/ 2147483646 h 150"/>
              <a:gd name="T24" fmla="*/ 2147483646 w 609"/>
              <a:gd name="T25" fmla="*/ 2147483646 h 150"/>
              <a:gd name="T26" fmla="*/ 0 w 609"/>
              <a:gd name="T27" fmla="*/ 0 h 15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609" h="150">
                <a:moveTo>
                  <a:pt x="0" y="0"/>
                </a:moveTo>
                <a:lnTo>
                  <a:pt x="154" y="7"/>
                </a:lnTo>
                <a:lnTo>
                  <a:pt x="313" y="44"/>
                </a:lnTo>
                <a:lnTo>
                  <a:pt x="431" y="51"/>
                </a:lnTo>
                <a:lnTo>
                  <a:pt x="527" y="71"/>
                </a:lnTo>
                <a:lnTo>
                  <a:pt x="563" y="122"/>
                </a:lnTo>
                <a:lnTo>
                  <a:pt x="609" y="150"/>
                </a:lnTo>
                <a:lnTo>
                  <a:pt x="563" y="141"/>
                </a:lnTo>
                <a:lnTo>
                  <a:pt x="521" y="84"/>
                </a:lnTo>
                <a:lnTo>
                  <a:pt x="392" y="58"/>
                </a:lnTo>
                <a:lnTo>
                  <a:pt x="313" y="58"/>
                </a:lnTo>
                <a:lnTo>
                  <a:pt x="252" y="44"/>
                </a:lnTo>
                <a:lnTo>
                  <a:pt x="146" y="17"/>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7" name="Freeform 150"/>
          <p:cNvSpPr>
            <a:spLocks/>
          </p:cNvSpPr>
          <p:nvPr/>
        </p:nvSpPr>
        <p:spPr bwMode="auto">
          <a:xfrm>
            <a:off x="1851777" y="3132842"/>
            <a:ext cx="106702" cy="107786"/>
          </a:xfrm>
          <a:custGeom>
            <a:avLst/>
            <a:gdLst>
              <a:gd name="T0" fmla="*/ 2147483646 w 529"/>
              <a:gd name="T1" fmla="*/ 2147483646 h 580"/>
              <a:gd name="T2" fmla="*/ 2147483646 w 529"/>
              <a:gd name="T3" fmla="*/ 2147483646 h 580"/>
              <a:gd name="T4" fmla="*/ 2147483646 w 529"/>
              <a:gd name="T5" fmla="*/ 2147483646 h 580"/>
              <a:gd name="T6" fmla="*/ 2147483646 w 529"/>
              <a:gd name="T7" fmla="*/ 2147483646 h 580"/>
              <a:gd name="T8" fmla="*/ 2147483646 w 529"/>
              <a:gd name="T9" fmla="*/ 2147483646 h 580"/>
              <a:gd name="T10" fmla="*/ 2147483646 w 529"/>
              <a:gd name="T11" fmla="*/ 2147483646 h 580"/>
              <a:gd name="T12" fmla="*/ 2147483646 w 529"/>
              <a:gd name="T13" fmla="*/ 2147483646 h 580"/>
              <a:gd name="T14" fmla="*/ 2147483646 w 529"/>
              <a:gd name="T15" fmla="*/ 2147483646 h 580"/>
              <a:gd name="T16" fmla="*/ 2147483646 w 529"/>
              <a:gd name="T17" fmla="*/ 2147483646 h 580"/>
              <a:gd name="T18" fmla="*/ 2147483646 w 529"/>
              <a:gd name="T19" fmla="*/ 2147483646 h 580"/>
              <a:gd name="T20" fmla="*/ 2147483646 w 529"/>
              <a:gd name="T21" fmla="*/ 2147483646 h 580"/>
              <a:gd name="T22" fmla="*/ 2147483646 w 529"/>
              <a:gd name="T23" fmla="*/ 2147483646 h 580"/>
              <a:gd name="T24" fmla="*/ 2147483646 w 529"/>
              <a:gd name="T25" fmla="*/ 2147483646 h 580"/>
              <a:gd name="T26" fmla="*/ 2147483646 w 529"/>
              <a:gd name="T27" fmla="*/ 2147483646 h 580"/>
              <a:gd name="T28" fmla="*/ 2147483646 w 529"/>
              <a:gd name="T29" fmla="*/ 2147483646 h 580"/>
              <a:gd name="T30" fmla="*/ 2147483646 w 529"/>
              <a:gd name="T31" fmla="*/ 2147483646 h 580"/>
              <a:gd name="T32" fmla="*/ 2147483646 w 529"/>
              <a:gd name="T33" fmla="*/ 2147483646 h 580"/>
              <a:gd name="T34" fmla="*/ 2147483646 w 529"/>
              <a:gd name="T35" fmla="*/ 2147483646 h 580"/>
              <a:gd name="T36" fmla="*/ 2147483646 w 529"/>
              <a:gd name="T37" fmla="*/ 2147483646 h 580"/>
              <a:gd name="T38" fmla="*/ 2147483646 w 529"/>
              <a:gd name="T39" fmla="*/ 2147483646 h 580"/>
              <a:gd name="T40" fmla="*/ 2147483646 w 529"/>
              <a:gd name="T41" fmla="*/ 2147483646 h 580"/>
              <a:gd name="T42" fmla="*/ 2147483646 w 529"/>
              <a:gd name="T43" fmla="*/ 2147483646 h 580"/>
              <a:gd name="T44" fmla="*/ 2147483646 w 529"/>
              <a:gd name="T45" fmla="*/ 2147483646 h 580"/>
              <a:gd name="T46" fmla="*/ 2147483646 w 529"/>
              <a:gd name="T47" fmla="*/ 2147483646 h 580"/>
              <a:gd name="T48" fmla="*/ 2147483646 w 529"/>
              <a:gd name="T49" fmla="*/ 2147483646 h 580"/>
              <a:gd name="T50" fmla="*/ 2147483646 w 529"/>
              <a:gd name="T51" fmla="*/ 2147483646 h 580"/>
              <a:gd name="T52" fmla="*/ 2147483646 w 529"/>
              <a:gd name="T53" fmla="*/ 2147483646 h 580"/>
              <a:gd name="T54" fmla="*/ 2147483646 w 529"/>
              <a:gd name="T55" fmla="*/ 2147483646 h 580"/>
              <a:gd name="T56" fmla="*/ 2147483646 w 529"/>
              <a:gd name="T57" fmla="*/ 2147483646 h 580"/>
              <a:gd name="T58" fmla="*/ 0 w 529"/>
              <a:gd name="T59" fmla="*/ 2147483646 h 580"/>
              <a:gd name="T60" fmla="*/ 0 w 529"/>
              <a:gd name="T61" fmla="*/ 2147483646 h 580"/>
              <a:gd name="T62" fmla="*/ 2147483646 w 529"/>
              <a:gd name="T63" fmla="*/ 2147483646 h 580"/>
              <a:gd name="T64" fmla="*/ 2147483646 w 529"/>
              <a:gd name="T65" fmla="*/ 2147483646 h 580"/>
              <a:gd name="T66" fmla="*/ 2147483646 w 529"/>
              <a:gd name="T67" fmla="*/ 0 h 580"/>
              <a:gd name="T68" fmla="*/ 2147483646 w 529"/>
              <a:gd name="T69" fmla="*/ 2147483646 h 580"/>
              <a:gd name="T70" fmla="*/ 2147483646 w 529"/>
              <a:gd name="T71" fmla="*/ 2147483646 h 580"/>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529" h="580">
                <a:moveTo>
                  <a:pt x="357" y="20"/>
                </a:moveTo>
                <a:lnTo>
                  <a:pt x="403" y="53"/>
                </a:lnTo>
                <a:lnTo>
                  <a:pt x="428" y="94"/>
                </a:lnTo>
                <a:lnTo>
                  <a:pt x="451" y="138"/>
                </a:lnTo>
                <a:lnTo>
                  <a:pt x="464" y="161"/>
                </a:lnTo>
                <a:lnTo>
                  <a:pt x="464" y="186"/>
                </a:lnTo>
                <a:lnTo>
                  <a:pt x="453" y="216"/>
                </a:lnTo>
                <a:lnTo>
                  <a:pt x="476" y="239"/>
                </a:lnTo>
                <a:lnTo>
                  <a:pt x="511" y="301"/>
                </a:lnTo>
                <a:lnTo>
                  <a:pt x="529" y="334"/>
                </a:lnTo>
                <a:lnTo>
                  <a:pt x="529" y="346"/>
                </a:lnTo>
                <a:lnTo>
                  <a:pt x="526" y="357"/>
                </a:lnTo>
                <a:lnTo>
                  <a:pt x="510" y="361"/>
                </a:lnTo>
                <a:lnTo>
                  <a:pt x="487" y="362"/>
                </a:lnTo>
                <a:lnTo>
                  <a:pt x="475" y="366"/>
                </a:lnTo>
                <a:lnTo>
                  <a:pt x="476" y="391"/>
                </a:lnTo>
                <a:lnTo>
                  <a:pt x="483" y="421"/>
                </a:lnTo>
                <a:lnTo>
                  <a:pt x="469" y="437"/>
                </a:lnTo>
                <a:lnTo>
                  <a:pt x="473" y="459"/>
                </a:lnTo>
                <a:lnTo>
                  <a:pt x="462" y="472"/>
                </a:lnTo>
                <a:lnTo>
                  <a:pt x="452" y="511"/>
                </a:lnTo>
                <a:lnTo>
                  <a:pt x="436" y="523"/>
                </a:lnTo>
                <a:lnTo>
                  <a:pt x="411" y="523"/>
                </a:lnTo>
                <a:lnTo>
                  <a:pt x="375" y="517"/>
                </a:lnTo>
                <a:lnTo>
                  <a:pt x="339" y="511"/>
                </a:lnTo>
                <a:lnTo>
                  <a:pt x="342" y="580"/>
                </a:lnTo>
                <a:lnTo>
                  <a:pt x="60" y="488"/>
                </a:lnTo>
                <a:lnTo>
                  <a:pt x="83" y="435"/>
                </a:lnTo>
                <a:lnTo>
                  <a:pt x="78" y="394"/>
                </a:lnTo>
                <a:lnTo>
                  <a:pt x="0" y="316"/>
                </a:lnTo>
                <a:lnTo>
                  <a:pt x="0" y="111"/>
                </a:lnTo>
                <a:lnTo>
                  <a:pt x="52" y="55"/>
                </a:lnTo>
                <a:lnTo>
                  <a:pt x="117" y="25"/>
                </a:lnTo>
                <a:lnTo>
                  <a:pt x="186" y="0"/>
                </a:lnTo>
                <a:lnTo>
                  <a:pt x="276" y="13"/>
                </a:lnTo>
                <a:lnTo>
                  <a:pt x="357" y="2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8" name="Freeform 151"/>
          <p:cNvSpPr>
            <a:spLocks/>
          </p:cNvSpPr>
          <p:nvPr/>
        </p:nvSpPr>
        <p:spPr bwMode="auto">
          <a:xfrm>
            <a:off x="1946400" y="3197885"/>
            <a:ext cx="6040" cy="929"/>
          </a:xfrm>
          <a:custGeom>
            <a:avLst/>
            <a:gdLst>
              <a:gd name="T0" fmla="*/ 2147483646 w 30"/>
              <a:gd name="T1" fmla="*/ 2147483646 h 6"/>
              <a:gd name="T2" fmla="*/ 2147483646 w 30"/>
              <a:gd name="T3" fmla="*/ 2147483646 h 6"/>
              <a:gd name="T4" fmla="*/ 2147483646 w 30"/>
              <a:gd name="T5" fmla="*/ 2147483646 h 6"/>
              <a:gd name="T6" fmla="*/ 2147483646 w 30"/>
              <a:gd name="T7" fmla="*/ 2147483646 h 6"/>
              <a:gd name="T8" fmla="*/ 0 w 30"/>
              <a:gd name="T9" fmla="*/ 2147483646 h 6"/>
              <a:gd name="T10" fmla="*/ 2147483646 w 30"/>
              <a:gd name="T11" fmla="*/ 0 h 6"/>
              <a:gd name="T12" fmla="*/ 2147483646 w 30"/>
              <a:gd name="T13" fmla="*/ 2147483646 h 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30" h="6">
                <a:moveTo>
                  <a:pt x="30" y="2"/>
                </a:moveTo>
                <a:lnTo>
                  <a:pt x="23" y="6"/>
                </a:lnTo>
                <a:lnTo>
                  <a:pt x="8" y="5"/>
                </a:lnTo>
                <a:lnTo>
                  <a:pt x="2" y="6"/>
                </a:lnTo>
                <a:lnTo>
                  <a:pt x="0" y="1"/>
                </a:lnTo>
                <a:lnTo>
                  <a:pt x="9" y="0"/>
                </a:lnTo>
                <a:lnTo>
                  <a:pt x="3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9" name="Freeform 152"/>
          <p:cNvSpPr>
            <a:spLocks/>
          </p:cNvSpPr>
          <p:nvPr/>
        </p:nvSpPr>
        <p:spPr bwMode="auto">
          <a:xfrm>
            <a:off x="1944387" y="3194169"/>
            <a:ext cx="2013" cy="3717"/>
          </a:xfrm>
          <a:custGeom>
            <a:avLst/>
            <a:gdLst>
              <a:gd name="T0" fmla="*/ 2147483646 w 11"/>
              <a:gd name="T1" fmla="*/ 0 h 22"/>
              <a:gd name="T2" fmla="*/ 2147483646 w 11"/>
              <a:gd name="T3" fmla="*/ 2147483646 h 22"/>
              <a:gd name="T4" fmla="*/ 2147483646 w 11"/>
              <a:gd name="T5" fmla="*/ 2147483646 h 22"/>
              <a:gd name="T6" fmla="*/ 2147483646 w 11"/>
              <a:gd name="T7" fmla="*/ 2147483646 h 22"/>
              <a:gd name="T8" fmla="*/ 0 w 11"/>
              <a:gd name="T9" fmla="*/ 2147483646 h 22"/>
              <a:gd name="T10" fmla="*/ 0 w 11"/>
              <a:gd name="T11" fmla="*/ 2147483646 h 22"/>
              <a:gd name="T12" fmla="*/ 2147483646 w 11"/>
              <a:gd name="T13" fmla="*/ 0 h 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1" h="22">
                <a:moveTo>
                  <a:pt x="11" y="0"/>
                </a:moveTo>
                <a:lnTo>
                  <a:pt x="3" y="6"/>
                </a:lnTo>
                <a:lnTo>
                  <a:pt x="3" y="12"/>
                </a:lnTo>
                <a:lnTo>
                  <a:pt x="2" y="22"/>
                </a:lnTo>
                <a:lnTo>
                  <a:pt x="0" y="8"/>
                </a:lnTo>
                <a:lnTo>
                  <a:pt x="0" y="1"/>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0" name="Freeform 153"/>
          <p:cNvSpPr>
            <a:spLocks/>
          </p:cNvSpPr>
          <p:nvPr/>
        </p:nvSpPr>
        <p:spPr bwMode="auto">
          <a:xfrm>
            <a:off x="1939354" y="3181160"/>
            <a:ext cx="3020" cy="7434"/>
          </a:xfrm>
          <a:custGeom>
            <a:avLst/>
            <a:gdLst>
              <a:gd name="T0" fmla="*/ 0 w 13"/>
              <a:gd name="T1" fmla="*/ 0 h 42"/>
              <a:gd name="T2" fmla="*/ 2147483646 w 13"/>
              <a:gd name="T3" fmla="*/ 2147483646 h 42"/>
              <a:gd name="T4" fmla="*/ 2147483646 w 13"/>
              <a:gd name="T5" fmla="*/ 2147483646 h 42"/>
              <a:gd name="T6" fmla="*/ 2147483646 w 13"/>
              <a:gd name="T7" fmla="*/ 2147483646 h 42"/>
              <a:gd name="T8" fmla="*/ 0 w 13"/>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42">
                <a:moveTo>
                  <a:pt x="0" y="0"/>
                </a:moveTo>
                <a:lnTo>
                  <a:pt x="9" y="24"/>
                </a:lnTo>
                <a:lnTo>
                  <a:pt x="13" y="42"/>
                </a:lnTo>
                <a:lnTo>
                  <a:pt x="6" y="3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1" name="Freeform 154"/>
          <p:cNvSpPr>
            <a:spLocks/>
          </p:cNvSpPr>
          <p:nvPr/>
        </p:nvSpPr>
        <p:spPr bwMode="auto">
          <a:xfrm>
            <a:off x="1928281" y="3172797"/>
            <a:ext cx="12080" cy="6504"/>
          </a:xfrm>
          <a:custGeom>
            <a:avLst/>
            <a:gdLst>
              <a:gd name="T0" fmla="*/ 2147483646 w 56"/>
              <a:gd name="T1" fmla="*/ 0 h 36"/>
              <a:gd name="T2" fmla="*/ 2147483646 w 56"/>
              <a:gd name="T3" fmla="*/ 2147483646 h 36"/>
              <a:gd name="T4" fmla="*/ 2147483646 w 56"/>
              <a:gd name="T5" fmla="*/ 2147483646 h 36"/>
              <a:gd name="T6" fmla="*/ 2147483646 w 56"/>
              <a:gd name="T7" fmla="*/ 2147483646 h 36"/>
              <a:gd name="T8" fmla="*/ 2147483646 w 56"/>
              <a:gd name="T9" fmla="*/ 2147483646 h 36"/>
              <a:gd name="T10" fmla="*/ 2147483646 w 56"/>
              <a:gd name="T11" fmla="*/ 2147483646 h 36"/>
              <a:gd name="T12" fmla="*/ 2147483646 w 56"/>
              <a:gd name="T13" fmla="*/ 2147483646 h 36"/>
              <a:gd name="T14" fmla="*/ 2147483646 w 56"/>
              <a:gd name="T15" fmla="*/ 2147483646 h 36"/>
              <a:gd name="T16" fmla="*/ 0 w 56"/>
              <a:gd name="T17" fmla="*/ 2147483646 h 36"/>
              <a:gd name="T18" fmla="*/ 2147483646 w 56"/>
              <a:gd name="T19" fmla="*/ 2147483646 h 36"/>
              <a:gd name="T20" fmla="*/ 2147483646 w 56"/>
              <a:gd name="T21" fmla="*/ 0 h 36"/>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56" h="36">
                <a:moveTo>
                  <a:pt x="56" y="0"/>
                </a:moveTo>
                <a:lnTo>
                  <a:pt x="45" y="20"/>
                </a:lnTo>
                <a:lnTo>
                  <a:pt x="47" y="26"/>
                </a:lnTo>
                <a:lnTo>
                  <a:pt x="47" y="29"/>
                </a:lnTo>
                <a:lnTo>
                  <a:pt x="51" y="36"/>
                </a:lnTo>
                <a:lnTo>
                  <a:pt x="43" y="24"/>
                </a:lnTo>
                <a:lnTo>
                  <a:pt x="32" y="24"/>
                </a:lnTo>
                <a:lnTo>
                  <a:pt x="20" y="20"/>
                </a:lnTo>
                <a:lnTo>
                  <a:pt x="0" y="19"/>
                </a:lnTo>
                <a:lnTo>
                  <a:pt x="20" y="7"/>
                </a:lnTo>
                <a:lnTo>
                  <a:pt x="56"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2" name="Freeform 155"/>
          <p:cNvSpPr>
            <a:spLocks/>
          </p:cNvSpPr>
          <p:nvPr/>
        </p:nvSpPr>
        <p:spPr bwMode="auto">
          <a:xfrm>
            <a:off x="1923247" y="3162577"/>
            <a:ext cx="20133" cy="6505"/>
          </a:xfrm>
          <a:custGeom>
            <a:avLst/>
            <a:gdLst>
              <a:gd name="T0" fmla="*/ 2147483646 w 96"/>
              <a:gd name="T1" fmla="*/ 2147483646 h 34"/>
              <a:gd name="T2" fmla="*/ 2147483646 w 96"/>
              <a:gd name="T3" fmla="*/ 2147483646 h 34"/>
              <a:gd name="T4" fmla="*/ 2147483646 w 96"/>
              <a:gd name="T5" fmla="*/ 2147483646 h 34"/>
              <a:gd name="T6" fmla="*/ 2147483646 w 96"/>
              <a:gd name="T7" fmla="*/ 2147483646 h 34"/>
              <a:gd name="T8" fmla="*/ 2147483646 w 96"/>
              <a:gd name="T9" fmla="*/ 2147483646 h 34"/>
              <a:gd name="T10" fmla="*/ 2147483646 w 96"/>
              <a:gd name="T11" fmla="*/ 2147483646 h 34"/>
              <a:gd name="T12" fmla="*/ 0 w 96"/>
              <a:gd name="T13" fmla="*/ 2147483646 h 34"/>
              <a:gd name="T14" fmla="*/ 2147483646 w 96"/>
              <a:gd name="T15" fmla="*/ 2147483646 h 34"/>
              <a:gd name="T16" fmla="*/ 2147483646 w 96"/>
              <a:gd name="T17" fmla="*/ 2147483646 h 34"/>
              <a:gd name="T18" fmla="*/ 2147483646 w 96"/>
              <a:gd name="T19" fmla="*/ 0 h 34"/>
              <a:gd name="T20" fmla="*/ 2147483646 w 96"/>
              <a:gd name="T21" fmla="*/ 2147483646 h 34"/>
              <a:gd name="T22" fmla="*/ 2147483646 w 96"/>
              <a:gd name="T23" fmla="*/ 2147483646 h 34"/>
              <a:gd name="T24" fmla="*/ 2147483646 w 96"/>
              <a:gd name="T25" fmla="*/ 2147483646 h 34"/>
              <a:gd name="T26" fmla="*/ 2147483646 w 96"/>
              <a:gd name="T27" fmla="*/ 2147483646 h 34"/>
              <a:gd name="T28" fmla="*/ 2147483646 w 96"/>
              <a:gd name="T29" fmla="*/ 2147483646 h 3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96" h="34">
                <a:moveTo>
                  <a:pt x="96" y="17"/>
                </a:moveTo>
                <a:lnTo>
                  <a:pt x="92" y="29"/>
                </a:lnTo>
                <a:lnTo>
                  <a:pt x="81" y="34"/>
                </a:lnTo>
                <a:lnTo>
                  <a:pt x="66" y="24"/>
                </a:lnTo>
                <a:lnTo>
                  <a:pt x="47" y="17"/>
                </a:lnTo>
                <a:lnTo>
                  <a:pt x="15" y="17"/>
                </a:lnTo>
                <a:lnTo>
                  <a:pt x="0" y="18"/>
                </a:lnTo>
                <a:lnTo>
                  <a:pt x="24" y="9"/>
                </a:lnTo>
                <a:lnTo>
                  <a:pt x="41" y="4"/>
                </a:lnTo>
                <a:lnTo>
                  <a:pt x="39" y="0"/>
                </a:lnTo>
                <a:lnTo>
                  <a:pt x="56" y="7"/>
                </a:lnTo>
                <a:lnTo>
                  <a:pt x="54" y="2"/>
                </a:lnTo>
                <a:lnTo>
                  <a:pt x="68" y="9"/>
                </a:lnTo>
                <a:lnTo>
                  <a:pt x="79" y="9"/>
                </a:lnTo>
                <a:lnTo>
                  <a:pt x="96" y="1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3" name="Freeform 156"/>
          <p:cNvSpPr>
            <a:spLocks/>
          </p:cNvSpPr>
          <p:nvPr/>
        </p:nvSpPr>
        <p:spPr bwMode="auto">
          <a:xfrm>
            <a:off x="1888016" y="3171869"/>
            <a:ext cx="11073" cy="20442"/>
          </a:xfrm>
          <a:custGeom>
            <a:avLst/>
            <a:gdLst>
              <a:gd name="T0" fmla="*/ 2147483646 w 56"/>
              <a:gd name="T1" fmla="*/ 2147483646 h 113"/>
              <a:gd name="T2" fmla="*/ 2147483646 w 56"/>
              <a:gd name="T3" fmla="*/ 2147483646 h 113"/>
              <a:gd name="T4" fmla="*/ 2147483646 w 56"/>
              <a:gd name="T5" fmla="*/ 2147483646 h 113"/>
              <a:gd name="T6" fmla="*/ 2147483646 w 56"/>
              <a:gd name="T7" fmla="*/ 2147483646 h 113"/>
              <a:gd name="T8" fmla="*/ 2147483646 w 56"/>
              <a:gd name="T9" fmla="*/ 2147483646 h 113"/>
              <a:gd name="T10" fmla="*/ 2147483646 w 56"/>
              <a:gd name="T11" fmla="*/ 2147483646 h 113"/>
              <a:gd name="T12" fmla="*/ 2147483646 w 56"/>
              <a:gd name="T13" fmla="*/ 2147483646 h 113"/>
              <a:gd name="T14" fmla="*/ 2147483646 w 56"/>
              <a:gd name="T15" fmla="*/ 2147483646 h 113"/>
              <a:gd name="T16" fmla="*/ 2147483646 w 56"/>
              <a:gd name="T17" fmla="*/ 2147483646 h 113"/>
              <a:gd name="T18" fmla="*/ 2147483646 w 56"/>
              <a:gd name="T19" fmla="*/ 2147483646 h 113"/>
              <a:gd name="T20" fmla="*/ 2147483646 w 56"/>
              <a:gd name="T21" fmla="*/ 2147483646 h 113"/>
              <a:gd name="T22" fmla="*/ 2147483646 w 56"/>
              <a:gd name="T23" fmla="*/ 2147483646 h 113"/>
              <a:gd name="T24" fmla="*/ 2147483646 w 56"/>
              <a:gd name="T25" fmla="*/ 2147483646 h 113"/>
              <a:gd name="T26" fmla="*/ 2147483646 w 56"/>
              <a:gd name="T27" fmla="*/ 2147483646 h 113"/>
              <a:gd name="T28" fmla="*/ 2147483646 w 56"/>
              <a:gd name="T29" fmla="*/ 2147483646 h 113"/>
              <a:gd name="T30" fmla="*/ 2147483646 w 56"/>
              <a:gd name="T31" fmla="*/ 2147483646 h 113"/>
              <a:gd name="T32" fmla="*/ 2147483646 w 56"/>
              <a:gd name="T33" fmla="*/ 2147483646 h 113"/>
              <a:gd name="T34" fmla="*/ 0 w 56"/>
              <a:gd name="T35" fmla="*/ 2147483646 h 113"/>
              <a:gd name="T36" fmla="*/ 2147483646 w 56"/>
              <a:gd name="T37" fmla="*/ 2147483646 h 113"/>
              <a:gd name="T38" fmla="*/ 2147483646 w 56"/>
              <a:gd name="T39" fmla="*/ 2147483646 h 113"/>
              <a:gd name="T40" fmla="*/ 2147483646 w 56"/>
              <a:gd name="T41" fmla="*/ 0 h 113"/>
              <a:gd name="T42" fmla="*/ 2147483646 w 56"/>
              <a:gd name="T43" fmla="*/ 2147483646 h 113"/>
              <a:gd name="T44" fmla="*/ 2147483646 w 56"/>
              <a:gd name="T45" fmla="*/ 2147483646 h 11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56" h="113">
                <a:moveTo>
                  <a:pt x="56" y="21"/>
                </a:moveTo>
                <a:lnTo>
                  <a:pt x="39" y="8"/>
                </a:lnTo>
                <a:lnTo>
                  <a:pt x="19" y="11"/>
                </a:lnTo>
                <a:lnTo>
                  <a:pt x="8" y="29"/>
                </a:lnTo>
                <a:lnTo>
                  <a:pt x="6" y="55"/>
                </a:lnTo>
                <a:lnTo>
                  <a:pt x="8" y="75"/>
                </a:lnTo>
                <a:lnTo>
                  <a:pt x="15" y="91"/>
                </a:lnTo>
                <a:lnTo>
                  <a:pt x="24" y="66"/>
                </a:lnTo>
                <a:lnTo>
                  <a:pt x="35" y="52"/>
                </a:lnTo>
                <a:lnTo>
                  <a:pt x="53" y="42"/>
                </a:lnTo>
                <a:lnTo>
                  <a:pt x="38" y="62"/>
                </a:lnTo>
                <a:lnTo>
                  <a:pt x="22" y="79"/>
                </a:lnTo>
                <a:lnTo>
                  <a:pt x="21" y="95"/>
                </a:lnTo>
                <a:lnTo>
                  <a:pt x="28" y="110"/>
                </a:lnTo>
                <a:lnTo>
                  <a:pt x="37" y="113"/>
                </a:lnTo>
                <a:lnTo>
                  <a:pt x="14" y="107"/>
                </a:lnTo>
                <a:lnTo>
                  <a:pt x="2" y="83"/>
                </a:lnTo>
                <a:lnTo>
                  <a:pt x="0" y="52"/>
                </a:lnTo>
                <a:lnTo>
                  <a:pt x="2" y="24"/>
                </a:lnTo>
                <a:lnTo>
                  <a:pt x="15" y="5"/>
                </a:lnTo>
                <a:lnTo>
                  <a:pt x="32" y="0"/>
                </a:lnTo>
                <a:lnTo>
                  <a:pt x="48" y="3"/>
                </a:lnTo>
                <a:lnTo>
                  <a:pt x="56" y="2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4" name="Freeform 157"/>
          <p:cNvSpPr>
            <a:spLocks/>
          </p:cNvSpPr>
          <p:nvPr/>
        </p:nvSpPr>
        <p:spPr bwMode="auto">
          <a:xfrm>
            <a:off x="1883990" y="3168152"/>
            <a:ext cx="18119" cy="28805"/>
          </a:xfrm>
          <a:custGeom>
            <a:avLst/>
            <a:gdLst>
              <a:gd name="T0" fmla="*/ 2147483646 w 91"/>
              <a:gd name="T1" fmla="*/ 2147483646 h 153"/>
              <a:gd name="T2" fmla="*/ 2147483646 w 91"/>
              <a:gd name="T3" fmla="*/ 2147483646 h 153"/>
              <a:gd name="T4" fmla="*/ 2147483646 w 91"/>
              <a:gd name="T5" fmla="*/ 2147483646 h 153"/>
              <a:gd name="T6" fmla="*/ 2147483646 w 91"/>
              <a:gd name="T7" fmla="*/ 2147483646 h 153"/>
              <a:gd name="T8" fmla="*/ 2147483646 w 91"/>
              <a:gd name="T9" fmla="*/ 2147483646 h 153"/>
              <a:gd name="T10" fmla="*/ 2147483646 w 91"/>
              <a:gd name="T11" fmla="*/ 2147483646 h 153"/>
              <a:gd name="T12" fmla="*/ 2147483646 w 91"/>
              <a:gd name="T13" fmla="*/ 2147483646 h 153"/>
              <a:gd name="T14" fmla="*/ 2147483646 w 91"/>
              <a:gd name="T15" fmla="*/ 2147483646 h 153"/>
              <a:gd name="T16" fmla="*/ 2147483646 w 91"/>
              <a:gd name="T17" fmla="*/ 2147483646 h 153"/>
              <a:gd name="T18" fmla="*/ 2147483646 w 91"/>
              <a:gd name="T19" fmla="*/ 2147483646 h 153"/>
              <a:gd name="T20" fmla="*/ 2147483646 w 91"/>
              <a:gd name="T21" fmla="*/ 2147483646 h 153"/>
              <a:gd name="T22" fmla="*/ 2147483646 w 91"/>
              <a:gd name="T23" fmla="*/ 2147483646 h 153"/>
              <a:gd name="T24" fmla="*/ 2147483646 w 91"/>
              <a:gd name="T25" fmla="*/ 2147483646 h 153"/>
              <a:gd name="T26" fmla="*/ 2147483646 w 91"/>
              <a:gd name="T27" fmla="*/ 2147483646 h 153"/>
              <a:gd name="T28" fmla="*/ 2147483646 w 91"/>
              <a:gd name="T29" fmla="*/ 2147483646 h 153"/>
              <a:gd name="T30" fmla="*/ 2147483646 w 91"/>
              <a:gd name="T31" fmla="*/ 2147483646 h 153"/>
              <a:gd name="T32" fmla="*/ 2147483646 w 91"/>
              <a:gd name="T33" fmla="*/ 2147483646 h 153"/>
              <a:gd name="T34" fmla="*/ 2147483646 w 91"/>
              <a:gd name="T35" fmla="*/ 2147483646 h 153"/>
              <a:gd name="T36" fmla="*/ 2147483646 w 91"/>
              <a:gd name="T37" fmla="*/ 2147483646 h 153"/>
              <a:gd name="T38" fmla="*/ 0 w 91"/>
              <a:gd name="T39" fmla="*/ 2147483646 h 153"/>
              <a:gd name="T40" fmla="*/ 0 w 91"/>
              <a:gd name="T41" fmla="*/ 2147483646 h 153"/>
              <a:gd name="T42" fmla="*/ 2147483646 w 91"/>
              <a:gd name="T43" fmla="*/ 2147483646 h 153"/>
              <a:gd name="T44" fmla="*/ 2147483646 w 91"/>
              <a:gd name="T45" fmla="*/ 2147483646 h 153"/>
              <a:gd name="T46" fmla="*/ 2147483646 w 91"/>
              <a:gd name="T47" fmla="*/ 0 h 153"/>
              <a:gd name="T48" fmla="*/ 2147483646 w 91"/>
              <a:gd name="T49" fmla="*/ 2147483646 h 153"/>
              <a:gd name="T50" fmla="*/ 2147483646 w 91"/>
              <a:gd name="T51" fmla="*/ 2147483646 h 153"/>
              <a:gd name="T52" fmla="*/ 2147483646 w 91"/>
              <a:gd name="T53" fmla="*/ 2147483646 h 153"/>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91" h="153">
                <a:moveTo>
                  <a:pt x="91" y="38"/>
                </a:moveTo>
                <a:lnTo>
                  <a:pt x="76" y="13"/>
                </a:lnTo>
                <a:lnTo>
                  <a:pt x="54" y="7"/>
                </a:lnTo>
                <a:lnTo>
                  <a:pt x="24" y="12"/>
                </a:lnTo>
                <a:lnTo>
                  <a:pt x="14" y="25"/>
                </a:lnTo>
                <a:lnTo>
                  <a:pt x="7" y="48"/>
                </a:lnTo>
                <a:lnTo>
                  <a:pt x="7" y="66"/>
                </a:lnTo>
                <a:lnTo>
                  <a:pt x="11" y="79"/>
                </a:lnTo>
                <a:lnTo>
                  <a:pt x="11" y="98"/>
                </a:lnTo>
                <a:lnTo>
                  <a:pt x="15" y="120"/>
                </a:lnTo>
                <a:lnTo>
                  <a:pt x="34" y="142"/>
                </a:lnTo>
                <a:lnTo>
                  <a:pt x="47" y="142"/>
                </a:lnTo>
                <a:lnTo>
                  <a:pt x="63" y="142"/>
                </a:lnTo>
                <a:lnTo>
                  <a:pt x="63" y="144"/>
                </a:lnTo>
                <a:lnTo>
                  <a:pt x="51" y="153"/>
                </a:lnTo>
                <a:lnTo>
                  <a:pt x="36" y="151"/>
                </a:lnTo>
                <a:lnTo>
                  <a:pt x="19" y="144"/>
                </a:lnTo>
                <a:lnTo>
                  <a:pt x="6" y="121"/>
                </a:lnTo>
                <a:lnTo>
                  <a:pt x="5" y="86"/>
                </a:lnTo>
                <a:lnTo>
                  <a:pt x="0" y="62"/>
                </a:lnTo>
                <a:lnTo>
                  <a:pt x="0" y="41"/>
                </a:lnTo>
                <a:lnTo>
                  <a:pt x="9" y="23"/>
                </a:lnTo>
                <a:lnTo>
                  <a:pt x="18" y="7"/>
                </a:lnTo>
                <a:lnTo>
                  <a:pt x="42" y="0"/>
                </a:lnTo>
                <a:lnTo>
                  <a:pt x="76" y="5"/>
                </a:lnTo>
                <a:lnTo>
                  <a:pt x="89" y="13"/>
                </a:lnTo>
                <a:lnTo>
                  <a:pt x="91" y="3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5" name="Freeform 158"/>
          <p:cNvSpPr>
            <a:spLocks/>
          </p:cNvSpPr>
          <p:nvPr/>
        </p:nvSpPr>
        <p:spPr bwMode="auto">
          <a:xfrm>
            <a:off x="1895063" y="3198815"/>
            <a:ext cx="17112" cy="24159"/>
          </a:xfrm>
          <a:custGeom>
            <a:avLst/>
            <a:gdLst>
              <a:gd name="T0" fmla="*/ 0 w 83"/>
              <a:gd name="T1" fmla="*/ 0 h 127"/>
              <a:gd name="T2" fmla="*/ 2147483646 w 83"/>
              <a:gd name="T3" fmla="*/ 2147483646 h 127"/>
              <a:gd name="T4" fmla="*/ 2147483646 w 83"/>
              <a:gd name="T5" fmla="*/ 2147483646 h 127"/>
              <a:gd name="T6" fmla="*/ 2147483646 w 83"/>
              <a:gd name="T7" fmla="*/ 2147483646 h 127"/>
              <a:gd name="T8" fmla="*/ 2147483646 w 83"/>
              <a:gd name="T9" fmla="*/ 2147483646 h 127"/>
              <a:gd name="T10" fmla="*/ 2147483646 w 83"/>
              <a:gd name="T11" fmla="*/ 2147483646 h 127"/>
              <a:gd name="T12" fmla="*/ 2147483646 w 83"/>
              <a:gd name="T13" fmla="*/ 2147483646 h 127"/>
              <a:gd name="T14" fmla="*/ 2147483646 w 83"/>
              <a:gd name="T15" fmla="*/ 2147483646 h 127"/>
              <a:gd name="T16" fmla="*/ 2147483646 w 83"/>
              <a:gd name="T17" fmla="*/ 2147483646 h 127"/>
              <a:gd name="T18" fmla="*/ 0 w 83"/>
              <a:gd name="T19" fmla="*/ 0 h 12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83" h="127">
                <a:moveTo>
                  <a:pt x="0" y="0"/>
                </a:moveTo>
                <a:lnTo>
                  <a:pt x="10" y="27"/>
                </a:lnTo>
                <a:lnTo>
                  <a:pt x="27" y="57"/>
                </a:lnTo>
                <a:lnTo>
                  <a:pt x="45" y="83"/>
                </a:lnTo>
                <a:lnTo>
                  <a:pt x="70" y="116"/>
                </a:lnTo>
                <a:lnTo>
                  <a:pt x="83" y="127"/>
                </a:lnTo>
                <a:lnTo>
                  <a:pt x="55" y="113"/>
                </a:lnTo>
                <a:lnTo>
                  <a:pt x="33" y="82"/>
                </a:lnTo>
                <a:lnTo>
                  <a:pt x="12" y="46"/>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6" name="Freeform 159"/>
          <p:cNvSpPr>
            <a:spLocks/>
          </p:cNvSpPr>
          <p:nvPr/>
        </p:nvSpPr>
        <p:spPr bwMode="auto">
          <a:xfrm>
            <a:off x="1843725" y="3117975"/>
            <a:ext cx="95630" cy="89202"/>
          </a:xfrm>
          <a:custGeom>
            <a:avLst/>
            <a:gdLst>
              <a:gd name="T0" fmla="*/ 2147483646 w 478"/>
              <a:gd name="T1" fmla="*/ 2147483646 h 480"/>
              <a:gd name="T2" fmla="*/ 2147483646 w 478"/>
              <a:gd name="T3" fmla="*/ 2147483646 h 480"/>
              <a:gd name="T4" fmla="*/ 2147483646 w 478"/>
              <a:gd name="T5" fmla="*/ 2147483646 h 480"/>
              <a:gd name="T6" fmla="*/ 2147483646 w 478"/>
              <a:gd name="T7" fmla="*/ 2147483646 h 480"/>
              <a:gd name="T8" fmla="*/ 2147483646 w 478"/>
              <a:gd name="T9" fmla="*/ 2147483646 h 480"/>
              <a:gd name="T10" fmla="*/ 2147483646 w 478"/>
              <a:gd name="T11" fmla="*/ 2147483646 h 480"/>
              <a:gd name="T12" fmla="*/ 2147483646 w 478"/>
              <a:gd name="T13" fmla="*/ 2147483646 h 480"/>
              <a:gd name="T14" fmla="*/ 2147483646 w 478"/>
              <a:gd name="T15" fmla="*/ 2147483646 h 480"/>
              <a:gd name="T16" fmla="*/ 2147483646 w 478"/>
              <a:gd name="T17" fmla="*/ 2147483646 h 480"/>
              <a:gd name="T18" fmla="*/ 2147483646 w 478"/>
              <a:gd name="T19" fmla="*/ 2147483646 h 480"/>
              <a:gd name="T20" fmla="*/ 2147483646 w 478"/>
              <a:gd name="T21" fmla="*/ 2147483646 h 480"/>
              <a:gd name="T22" fmla="*/ 2147483646 w 478"/>
              <a:gd name="T23" fmla="*/ 2147483646 h 480"/>
              <a:gd name="T24" fmla="*/ 2147483646 w 478"/>
              <a:gd name="T25" fmla="*/ 2147483646 h 480"/>
              <a:gd name="T26" fmla="*/ 2147483646 w 478"/>
              <a:gd name="T27" fmla="*/ 2147483646 h 480"/>
              <a:gd name="T28" fmla="*/ 2147483646 w 478"/>
              <a:gd name="T29" fmla="*/ 2147483646 h 480"/>
              <a:gd name="T30" fmla="*/ 2147483646 w 478"/>
              <a:gd name="T31" fmla="*/ 2147483646 h 480"/>
              <a:gd name="T32" fmla="*/ 2147483646 w 478"/>
              <a:gd name="T33" fmla="*/ 2147483646 h 480"/>
              <a:gd name="T34" fmla="*/ 2147483646 w 478"/>
              <a:gd name="T35" fmla="*/ 2147483646 h 480"/>
              <a:gd name="T36" fmla="*/ 2147483646 w 478"/>
              <a:gd name="T37" fmla="*/ 2147483646 h 480"/>
              <a:gd name="T38" fmla="*/ 2147483646 w 478"/>
              <a:gd name="T39" fmla="*/ 2147483646 h 480"/>
              <a:gd name="T40" fmla="*/ 2147483646 w 478"/>
              <a:gd name="T41" fmla="*/ 2147483646 h 480"/>
              <a:gd name="T42" fmla="*/ 2147483646 w 478"/>
              <a:gd name="T43" fmla="*/ 2147483646 h 480"/>
              <a:gd name="T44" fmla="*/ 2147483646 w 478"/>
              <a:gd name="T45" fmla="*/ 2147483646 h 480"/>
              <a:gd name="T46" fmla="*/ 2147483646 w 478"/>
              <a:gd name="T47" fmla="*/ 2147483646 h 480"/>
              <a:gd name="T48" fmla="*/ 2147483646 w 478"/>
              <a:gd name="T49" fmla="*/ 2147483646 h 480"/>
              <a:gd name="T50" fmla="*/ 0 w 478"/>
              <a:gd name="T51" fmla="*/ 2147483646 h 480"/>
              <a:gd name="T52" fmla="*/ 2147483646 w 478"/>
              <a:gd name="T53" fmla="*/ 2147483646 h 480"/>
              <a:gd name="T54" fmla="*/ 2147483646 w 478"/>
              <a:gd name="T55" fmla="*/ 2147483646 h 480"/>
              <a:gd name="T56" fmla="*/ 2147483646 w 478"/>
              <a:gd name="T57" fmla="*/ 2147483646 h 480"/>
              <a:gd name="T58" fmla="*/ 2147483646 w 478"/>
              <a:gd name="T59" fmla="*/ 2147483646 h 480"/>
              <a:gd name="T60" fmla="*/ 2147483646 w 478"/>
              <a:gd name="T61" fmla="*/ 0 h 480"/>
              <a:gd name="T62" fmla="*/ 2147483646 w 478"/>
              <a:gd name="T63" fmla="*/ 2147483646 h 480"/>
              <a:gd name="T64" fmla="*/ 2147483646 w 478"/>
              <a:gd name="T65" fmla="*/ 2147483646 h 480"/>
              <a:gd name="T66" fmla="*/ 2147483646 w 478"/>
              <a:gd name="T67" fmla="*/ 2147483646 h 480"/>
              <a:gd name="T68" fmla="*/ 2147483646 w 478"/>
              <a:gd name="T69" fmla="*/ 2147483646 h 480"/>
              <a:gd name="T70" fmla="*/ 2147483646 w 478"/>
              <a:gd name="T71" fmla="*/ 2147483646 h 480"/>
              <a:gd name="T72" fmla="*/ 2147483646 w 478"/>
              <a:gd name="T73" fmla="*/ 2147483646 h 480"/>
              <a:gd name="T74" fmla="*/ 2147483646 w 478"/>
              <a:gd name="T75" fmla="*/ 2147483646 h 48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478" h="480">
                <a:moveTo>
                  <a:pt x="440" y="138"/>
                </a:moveTo>
                <a:lnTo>
                  <a:pt x="367" y="127"/>
                </a:lnTo>
                <a:lnTo>
                  <a:pt x="320" y="133"/>
                </a:lnTo>
                <a:lnTo>
                  <a:pt x="290" y="168"/>
                </a:lnTo>
                <a:lnTo>
                  <a:pt x="308" y="209"/>
                </a:lnTo>
                <a:lnTo>
                  <a:pt x="331" y="224"/>
                </a:lnTo>
                <a:lnTo>
                  <a:pt x="338" y="262"/>
                </a:lnTo>
                <a:lnTo>
                  <a:pt x="324" y="287"/>
                </a:lnTo>
                <a:lnTo>
                  <a:pt x="335" y="325"/>
                </a:lnTo>
                <a:lnTo>
                  <a:pt x="306" y="325"/>
                </a:lnTo>
                <a:lnTo>
                  <a:pt x="298" y="282"/>
                </a:lnTo>
                <a:lnTo>
                  <a:pt x="280" y="262"/>
                </a:lnTo>
                <a:lnTo>
                  <a:pt x="243" y="262"/>
                </a:lnTo>
                <a:lnTo>
                  <a:pt x="209" y="271"/>
                </a:lnTo>
                <a:lnTo>
                  <a:pt x="197" y="301"/>
                </a:lnTo>
                <a:lnTo>
                  <a:pt x="193" y="341"/>
                </a:lnTo>
                <a:lnTo>
                  <a:pt x="197" y="370"/>
                </a:lnTo>
                <a:lnTo>
                  <a:pt x="197" y="391"/>
                </a:lnTo>
                <a:lnTo>
                  <a:pt x="195" y="416"/>
                </a:lnTo>
                <a:lnTo>
                  <a:pt x="172" y="439"/>
                </a:lnTo>
                <a:lnTo>
                  <a:pt x="156" y="453"/>
                </a:lnTo>
                <a:lnTo>
                  <a:pt x="115" y="480"/>
                </a:lnTo>
                <a:lnTo>
                  <a:pt x="37" y="399"/>
                </a:lnTo>
                <a:lnTo>
                  <a:pt x="14" y="334"/>
                </a:lnTo>
                <a:lnTo>
                  <a:pt x="5" y="229"/>
                </a:lnTo>
                <a:lnTo>
                  <a:pt x="0" y="154"/>
                </a:lnTo>
                <a:lnTo>
                  <a:pt x="9" y="82"/>
                </a:lnTo>
                <a:lnTo>
                  <a:pt x="30" y="42"/>
                </a:lnTo>
                <a:lnTo>
                  <a:pt x="78" y="15"/>
                </a:lnTo>
                <a:lnTo>
                  <a:pt x="121" y="7"/>
                </a:lnTo>
                <a:lnTo>
                  <a:pt x="204" y="0"/>
                </a:lnTo>
                <a:lnTo>
                  <a:pt x="285" y="5"/>
                </a:lnTo>
                <a:lnTo>
                  <a:pt x="387" y="22"/>
                </a:lnTo>
                <a:lnTo>
                  <a:pt x="432" y="44"/>
                </a:lnTo>
                <a:lnTo>
                  <a:pt x="455" y="67"/>
                </a:lnTo>
                <a:lnTo>
                  <a:pt x="478" y="102"/>
                </a:lnTo>
                <a:lnTo>
                  <a:pt x="475" y="120"/>
                </a:lnTo>
                <a:lnTo>
                  <a:pt x="440" y="138"/>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7" name="Freeform 160"/>
          <p:cNvSpPr>
            <a:spLocks/>
          </p:cNvSpPr>
          <p:nvPr/>
        </p:nvSpPr>
        <p:spPr bwMode="auto">
          <a:xfrm>
            <a:off x="1845737" y="3118904"/>
            <a:ext cx="91603" cy="85486"/>
          </a:xfrm>
          <a:custGeom>
            <a:avLst/>
            <a:gdLst>
              <a:gd name="T0" fmla="*/ 2147483646 w 455"/>
              <a:gd name="T1" fmla="*/ 2147483646 h 460"/>
              <a:gd name="T2" fmla="*/ 2147483646 w 455"/>
              <a:gd name="T3" fmla="*/ 2147483646 h 460"/>
              <a:gd name="T4" fmla="*/ 2147483646 w 455"/>
              <a:gd name="T5" fmla="*/ 2147483646 h 460"/>
              <a:gd name="T6" fmla="*/ 2147483646 w 455"/>
              <a:gd name="T7" fmla="*/ 2147483646 h 460"/>
              <a:gd name="T8" fmla="*/ 2147483646 w 455"/>
              <a:gd name="T9" fmla="*/ 2147483646 h 460"/>
              <a:gd name="T10" fmla="*/ 2147483646 w 455"/>
              <a:gd name="T11" fmla="*/ 2147483646 h 460"/>
              <a:gd name="T12" fmla="*/ 2147483646 w 455"/>
              <a:gd name="T13" fmla="*/ 2147483646 h 460"/>
              <a:gd name="T14" fmla="*/ 2147483646 w 455"/>
              <a:gd name="T15" fmla="*/ 2147483646 h 460"/>
              <a:gd name="T16" fmla="*/ 2147483646 w 455"/>
              <a:gd name="T17" fmla="*/ 2147483646 h 460"/>
              <a:gd name="T18" fmla="*/ 2147483646 w 455"/>
              <a:gd name="T19" fmla="*/ 2147483646 h 460"/>
              <a:gd name="T20" fmla="*/ 2147483646 w 455"/>
              <a:gd name="T21" fmla="*/ 2147483646 h 460"/>
              <a:gd name="T22" fmla="*/ 2147483646 w 455"/>
              <a:gd name="T23" fmla="*/ 2147483646 h 460"/>
              <a:gd name="T24" fmla="*/ 2147483646 w 455"/>
              <a:gd name="T25" fmla="*/ 2147483646 h 460"/>
              <a:gd name="T26" fmla="*/ 2147483646 w 455"/>
              <a:gd name="T27" fmla="*/ 2147483646 h 460"/>
              <a:gd name="T28" fmla="*/ 2147483646 w 455"/>
              <a:gd name="T29" fmla="*/ 2147483646 h 460"/>
              <a:gd name="T30" fmla="*/ 2147483646 w 455"/>
              <a:gd name="T31" fmla="*/ 2147483646 h 460"/>
              <a:gd name="T32" fmla="*/ 2147483646 w 455"/>
              <a:gd name="T33" fmla="*/ 2147483646 h 460"/>
              <a:gd name="T34" fmla="*/ 2147483646 w 455"/>
              <a:gd name="T35" fmla="*/ 2147483646 h 460"/>
              <a:gd name="T36" fmla="*/ 2147483646 w 455"/>
              <a:gd name="T37" fmla="*/ 2147483646 h 460"/>
              <a:gd name="T38" fmla="*/ 2147483646 w 455"/>
              <a:gd name="T39" fmla="*/ 2147483646 h 460"/>
              <a:gd name="T40" fmla="*/ 2147483646 w 455"/>
              <a:gd name="T41" fmla="*/ 2147483646 h 460"/>
              <a:gd name="T42" fmla="*/ 2147483646 w 455"/>
              <a:gd name="T43" fmla="*/ 2147483646 h 460"/>
              <a:gd name="T44" fmla="*/ 2147483646 w 455"/>
              <a:gd name="T45" fmla="*/ 2147483646 h 460"/>
              <a:gd name="T46" fmla="*/ 2147483646 w 455"/>
              <a:gd name="T47" fmla="*/ 2147483646 h 460"/>
              <a:gd name="T48" fmla="*/ 2147483646 w 455"/>
              <a:gd name="T49" fmla="*/ 2147483646 h 460"/>
              <a:gd name="T50" fmla="*/ 2147483646 w 455"/>
              <a:gd name="T51" fmla="*/ 2147483646 h 460"/>
              <a:gd name="T52" fmla="*/ 2147483646 w 455"/>
              <a:gd name="T53" fmla="*/ 2147483646 h 460"/>
              <a:gd name="T54" fmla="*/ 2147483646 w 455"/>
              <a:gd name="T55" fmla="*/ 2147483646 h 460"/>
              <a:gd name="T56" fmla="*/ 2147483646 w 455"/>
              <a:gd name="T57" fmla="*/ 2147483646 h 460"/>
              <a:gd name="T58" fmla="*/ 2147483646 w 455"/>
              <a:gd name="T59" fmla="*/ 2147483646 h 460"/>
              <a:gd name="T60" fmla="*/ 2147483646 w 455"/>
              <a:gd name="T61" fmla="*/ 2147483646 h 460"/>
              <a:gd name="T62" fmla="*/ 2147483646 w 455"/>
              <a:gd name="T63" fmla="*/ 2147483646 h 460"/>
              <a:gd name="T64" fmla="*/ 2147483646 w 455"/>
              <a:gd name="T65" fmla="*/ 2147483646 h 460"/>
              <a:gd name="T66" fmla="*/ 2147483646 w 455"/>
              <a:gd name="T67" fmla="*/ 2147483646 h 460"/>
              <a:gd name="T68" fmla="*/ 2147483646 w 455"/>
              <a:gd name="T69" fmla="*/ 2147483646 h 460"/>
              <a:gd name="T70" fmla="*/ 2147483646 w 455"/>
              <a:gd name="T71" fmla="*/ 2147483646 h 460"/>
              <a:gd name="T72" fmla="*/ 2147483646 w 455"/>
              <a:gd name="T73" fmla="*/ 2147483646 h 460"/>
              <a:gd name="T74" fmla="*/ 2147483646 w 455"/>
              <a:gd name="T75" fmla="*/ 2147483646 h 460"/>
              <a:gd name="T76" fmla="*/ 2147483646 w 455"/>
              <a:gd name="T77" fmla="*/ 2147483646 h 460"/>
              <a:gd name="T78" fmla="*/ 2147483646 w 455"/>
              <a:gd name="T79" fmla="*/ 2147483646 h 460"/>
              <a:gd name="T80" fmla="*/ 2147483646 w 455"/>
              <a:gd name="T81" fmla="*/ 2147483646 h 460"/>
              <a:gd name="T82" fmla="*/ 2147483646 w 455"/>
              <a:gd name="T83" fmla="*/ 2147483646 h 460"/>
              <a:gd name="T84" fmla="*/ 2147483646 w 455"/>
              <a:gd name="T85" fmla="*/ 2147483646 h 460"/>
              <a:gd name="T86" fmla="*/ 2147483646 w 455"/>
              <a:gd name="T87" fmla="*/ 2147483646 h 460"/>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455" h="460">
                <a:moveTo>
                  <a:pt x="379" y="28"/>
                </a:moveTo>
                <a:lnTo>
                  <a:pt x="418" y="44"/>
                </a:lnTo>
                <a:lnTo>
                  <a:pt x="436" y="69"/>
                </a:lnTo>
                <a:lnTo>
                  <a:pt x="447" y="85"/>
                </a:lnTo>
                <a:lnTo>
                  <a:pt x="455" y="98"/>
                </a:lnTo>
                <a:lnTo>
                  <a:pt x="444" y="108"/>
                </a:lnTo>
                <a:lnTo>
                  <a:pt x="425" y="120"/>
                </a:lnTo>
                <a:lnTo>
                  <a:pt x="376" y="113"/>
                </a:lnTo>
                <a:lnTo>
                  <a:pt x="339" y="113"/>
                </a:lnTo>
                <a:lnTo>
                  <a:pt x="315" y="100"/>
                </a:lnTo>
                <a:lnTo>
                  <a:pt x="279" y="92"/>
                </a:lnTo>
                <a:lnTo>
                  <a:pt x="247" y="90"/>
                </a:lnTo>
                <a:lnTo>
                  <a:pt x="209" y="92"/>
                </a:lnTo>
                <a:lnTo>
                  <a:pt x="264" y="98"/>
                </a:lnTo>
                <a:lnTo>
                  <a:pt x="291" y="105"/>
                </a:lnTo>
                <a:lnTo>
                  <a:pt x="311" y="113"/>
                </a:lnTo>
                <a:lnTo>
                  <a:pt x="315" y="115"/>
                </a:lnTo>
                <a:lnTo>
                  <a:pt x="302" y="120"/>
                </a:lnTo>
                <a:lnTo>
                  <a:pt x="291" y="131"/>
                </a:lnTo>
                <a:lnTo>
                  <a:pt x="272" y="120"/>
                </a:lnTo>
                <a:lnTo>
                  <a:pt x="256" y="116"/>
                </a:lnTo>
                <a:lnTo>
                  <a:pt x="223" y="110"/>
                </a:lnTo>
                <a:lnTo>
                  <a:pt x="212" y="110"/>
                </a:lnTo>
                <a:lnTo>
                  <a:pt x="246" y="122"/>
                </a:lnTo>
                <a:lnTo>
                  <a:pt x="270" y="133"/>
                </a:lnTo>
                <a:lnTo>
                  <a:pt x="283" y="142"/>
                </a:lnTo>
                <a:lnTo>
                  <a:pt x="272" y="154"/>
                </a:lnTo>
                <a:lnTo>
                  <a:pt x="246" y="145"/>
                </a:lnTo>
                <a:lnTo>
                  <a:pt x="223" y="140"/>
                </a:lnTo>
                <a:lnTo>
                  <a:pt x="264" y="161"/>
                </a:lnTo>
                <a:lnTo>
                  <a:pt x="277" y="170"/>
                </a:lnTo>
                <a:lnTo>
                  <a:pt x="281" y="189"/>
                </a:lnTo>
                <a:lnTo>
                  <a:pt x="289" y="199"/>
                </a:lnTo>
                <a:lnTo>
                  <a:pt x="264" y="187"/>
                </a:lnTo>
                <a:lnTo>
                  <a:pt x="241" y="183"/>
                </a:lnTo>
                <a:lnTo>
                  <a:pt x="205" y="181"/>
                </a:lnTo>
                <a:lnTo>
                  <a:pt x="259" y="197"/>
                </a:lnTo>
                <a:lnTo>
                  <a:pt x="293" y="210"/>
                </a:lnTo>
                <a:lnTo>
                  <a:pt x="315" y="222"/>
                </a:lnTo>
                <a:lnTo>
                  <a:pt x="318" y="239"/>
                </a:lnTo>
                <a:lnTo>
                  <a:pt x="291" y="227"/>
                </a:lnTo>
                <a:lnTo>
                  <a:pt x="254" y="214"/>
                </a:lnTo>
                <a:lnTo>
                  <a:pt x="237" y="214"/>
                </a:lnTo>
                <a:lnTo>
                  <a:pt x="277" y="228"/>
                </a:lnTo>
                <a:lnTo>
                  <a:pt x="309" y="242"/>
                </a:lnTo>
                <a:lnTo>
                  <a:pt x="320" y="253"/>
                </a:lnTo>
                <a:lnTo>
                  <a:pt x="315" y="264"/>
                </a:lnTo>
                <a:lnTo>
                  <a:pt x="291" y="255"/>
                </a:lnTo>
                <a:lnTo>
                  <a:pt x="269" y="246"/>
                </a:lnTo>
                <a:lnTo>
                  <a:pt x="221" y="244"/>
                </a:lnTo>
                <a:lnTo>
                  <a:pt x="202" y="246"/>
                </a:lnTo>
                <a:lnTo>
                  <a:pt x="158" y="249"/>
                </a:lnTo>
                <a:lnTo>
                  <a:pt x="107" y="242"/>
                </a:lnTo>
                <a:lnTo>
                  <a:pt x="137" y="253"/>
                </a:lnTo>
                <a:lnTo>
                  <a:pt x="191" y="262"/>
                </a:lnTo>
                <a:lnTo>
                  <a:pt x="181" y="280"/>
                </a:lnTo>
                <a:lnTo>
                  <a:pt x="141" y="271"/>
                </a:lnTo>
                <a:lnTo>
                  <a:pt x="104" y="258"/>
                </a:lnTo>
                <a:lnTo>
                  <a:pt x="79" y="246"/>
                </a:lnTo>
                <a:lnTo>
                  <a:pt x="126" y="280"/>
                </a:lnTo>
                <a:lnTo>
                  <a:pt x="156" y="290"/>
                </a:lnTo>
                <a:lnTo>
                  <a:pt x="181" y="298"/>
                </a:lnTo>
                <a:lnTo>
                  <a:pt x="178" y="317"/>
                </a:lnTo>
                <a:lnTo>
                  <a:pt x="141" y="310"/>
                </a:lnTo>
                <a:lnTo>
                  <a:pt x="113" y="302"/>
                </a:lnTo>
                <a:lnTo>
                  <a:pt x="131" y="315"/>
                </a:lnTo>
                <a:lnTo>
                  <a:pt x="161" y="323"/>
                </a:lnTo>
                <a:lnTo>
                  <a:pt x="178" y="325"/>
                </a:lnTo>
                <a:lnTo>
                  <a:pt x="178" y="365"/>
                </a:lnTo>
                <a:lnTo>
                  <a:pt x="143" y="351"/>
                </a:lnTo>
                <a:lnTo>
                  <a:pt x="116" y="341"/>
                </a:lnTo>
                <a:lnTo>
                  <a:pt x="145" y="363"/>
                </a:lnTo>
                <a:lnTo>
                  <a:pt x="182" y="379"/>
                </a:lnTo>
                <a:lnTo>
                  <a:pt x="181" y="397"/>
                </a:lnTo>
                <a:lnTo>
                  <a:pt x="159" y="418"/>
                </a:lnTo>
                <a:lnTo>
                  <a:pt x="141" y="395"/>
                </a:lnTo>
                <a:lnTo>
                  <a:pt x="116" y="365"/>
                </a:lnTo>
                <a:lnTo>
                  <a:pt x="100" y="337"/>
                </a:lnTo>
                <a:lnTo>
                  <a:pt x="116" y="381"/>
                </a:lnTo>
                <a:lnTo>
                  <a:pt x="131" y="397"/>
                </a:lnTo>
                <a:lnTo>
                  <a:pt x="156" y="429"/>
                </a:lnTo>
                <a:lnTo>
                  <a:pt x="137" y="449"/>
                </a:lnTo>
                <a:lnTo>
                  <a:pt x="109" y="424"/>
                </a:lnTo>
                <a:lnTo>
                  <a:pt x="88" y="395"/>
                </a:lnTo>
                <a:lnTo>
                  <a:pt x="69" y="363"/>
                </a:lnTo>
                <a:lnTo>
                  <a:pt x="86" y="409"/>
                </a:lnTo>
                <a:lnTo>
                  <a:pt x="104" y="430"/>
                </a:lnTo>
                <a:lnTo>
                  <a:pt x="121" y="452"/>
                </a:lnTo>
                <a:lnTo>
                  <a:pt x="107" y="460"/>
                </a:lnTo>
                <a:lnTo>
                  <a:pt x="69" y="429"/>
                </a:lnTo>
                <a:lnTo>
                  <a:pt x="34" y="379"/>
                </a:lnTo>
                <a:lnTo>
                  <a:pt x="21" y="341"/>
                </a:lnTo>
                <a:lnTo>
                  <a:pt x="12" y="275"/>
                </a:lnTo>
                <a:lnTo>
                  <a:pt x="7" y="227"/>
                </a:lnTo>
                <a:lnTo>
                  <a:pt x="0" y="170"/>
                </a:lnTo>
                <a:lnTo>
                  <a:pt x="39" y="181"/>
                </a:lnTo>
                <a:lnTo>
                  <a:pt x="81" y="197"/>
                </a:lnTo>
                <a:lnTo>
                  <a:pt x="145" y="212"/>
                </a:lnTo>
                <a:lnTo>
                  <a:pt x="88" y="189"/>
                </a:lnTo>
                <a:lnTo>
                  <a:pt x="67" y="177"/>
                </a:lnTo>
                <a:lnTo>
                  <a:pt x="26" y="162"/>
                </a:lnTo>
                <a:lnTo>
                  <a:pt x="5" y="158"/>
                </a:lnTo>
                <a:lnTo>
                  <a:pt x="5" y="129"/>
                </a:lnTo>
                <a:lnTo>
                  <a:pt x="10" y="92"/>
                </a:lnTo>
                <a:lnTo>
                  <a:pt x="61" y="100"/>
                </a:lnTo>
                <a:lnTo>
                  <a:pt x="94" y="110"/>
                </a:lnTo>
                <a:lnTo>
                  <a:pt x="135" y="129"/>
                </a:lnTo>
                <a:lnTo>
                  <a:pt x="97" y="100"/>
                </a:lnTo>
                <a:lnTo>
                  <a:pt x="54" y="88"/>
                </a:lnTo>
                <a:lnTo>
                  <a:pt x="12" y="77"/>
                </a:lnTo>
                <a:lnTo>
                  <a:pt x="21" y="49"/>
                </a:lnTo>
                <a:lnTo>
                  <a:pt x="34" y="31"/>
                </a:lnTo>
                <a:lnTo>
                  <a:pt x="73" y="19"/>
                </a:lnTo>
                <a:lnTo>
                  <a:pt x="111" y="28"/>
                </a:lnTo>
                <a:lnTo>
                  <a:pt x="145" y="53"/>
                </a:lnTo>
                <a:lnTo>
                  <a:pt x="121" y="25"/>
                </a:lnTo>
                <a:lnTo>
                  <a:pt x="86" y="10"/>
                </a:lnTo>
                <a:lnTo>
                  <a:pt x="126" y="4"/>
                </a:lnTo>
                <a:lnTo>
                  <a:pt x="156" y="2"/>
                </a:lnTo>
                <a:lnTo>
                  <a:pt x="198" y="8"/>
                </a:lnTo>
                <a:lnTo>
                  <a:pt x="226" y="27"/>
                </a:lnTo>
                <a:lnTo>
                  <a:pt x="272" y="35"/>
                </a:lnTo>
                <a:lnTo>
                  <a:pt x="241" y="23"/>
                </a:lnTo>
                <a:lnTo>
                  <a:pt x="218" y="8"/>
                </a:lnTo>
                <a:lnTo>
                  <a:pt x="205" y="0"/>
                </a:lnTo>
                <a:lnTo>
                  <a:pt x="249" y="2"/>
                </a:lnTo>
                <a:lnTo>
                  <a:pt x="289" y="4"/>
                </a:lnTo>
                <a:lnTo>
                  <a:pt x="313" y="15"/>
                </a:lnTo>
                <a:lnTo>
                  <a:pt x="337" y="37"/>
                </a:lnTo>
                <a:lnTo>
                  <a:pt x="356" y="67"/>
                </a:lnTo>
                <a:lnTo>
                  <a:pt x="346" y="33"/>
                </a:lnTo>
                <a:lnTo>
                  <a:pt x="322" y="10"/>
                </a:lnTo>
                <a:lnTo>
                  <a:pt x="379" y="28"/>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68" name="Group 161"/>
          <p:cNvGrpSpPr>
            <a:grpSpLocks/>
          </p:cNvGrpSpPr>
          <p:nvPr/>
        </p:nvGrpSpPr>
        <p:grpSpPr bwMode="auto">
          <a:xfrm>
            <a:off x="2031963" y="3335406"/>
            <a:ext cx="99655" cy="56681"/>
            <a:chOff x="377" y="1962"/>
            <a:chExt cx="99" cy="61"/>
          </a:xfrm>
        </p:grpSpPr>
        <p:sp>
          <p:nvSpPr>
            <p:cNvPr id="169" name="Freeform 162"/>
            <p:cNvSpPr>
              <a:spLocks/>
            </p:cNvSpPr>
            <p:nvPr/>
          </p:nvSpPr>
          <p:spPr bwMode="auto">
            <a:xfrm>
              <a:off x="377" y="1962"/>
              <a:ext cx="99" cy="61"/>
            </a:xfrm>
            <a:custGeom>
              <a:avLst/>
              <a:gdLst>
                <a:gd name="T0" fmla="*/ 0 w 497"/>
                <a:gd name="T1" fmla="*/ 0 h 305"/>
                <a:gd name="T2" fmla="*/ 0 w 497"/>
                <a:gd name="T3" fmla="*/ 0 h 305"/>
                <a:gd name="T4" fmla="*/ 0 w 497"/>
                <a:gd name="T5" fmla="*/ 0 h 305"/>
                <a:gd name="T6" fmla="*/ 0 w 497"/>
                <a:gd name="T7" fmla="*/ 0 h 305"/>
                <a:gd name="T8" fmla="*/ 0 w 497"/>
                <a:gd name="T9" fmla="*/ 0 h 305"/>
                <a:gd name="T10" fmla="*/ 0 w 497"/>
                <a:gd name="T11" fmla="*/ 0 h 305"/>
                <a:gd name="T12" fmla="*/ 0 w 497"/>
                <a:gd name="T13" fmla="*/ 0 h 305"/>
                <a:gd name="T14" fmla="*/ 0 w 497"/>
                <a:gd name="T15" fmla="*/ 0 h 305"/>
                <a:gd name="T16" fmla="*/ 0 w 497"/>
                <a:gd name="T17" fmla="*/ 0 h 305"/>
                <a:gd name="T18" fmla="*/ 0 w 497"/>
                <a:gd name="T19" fmla="*/ 0 h 305"/>
                <a:gd name="T20" fmla="*/ 0 w 497"/>
                <a:gd name="T21" fmla="*/ 0 h 305"/>
                <a:gd name="T22" fmla="*/ 0 w 497"/>
                <a:gd name="T23" fmla="*/ 0 h 305"/>
                <a:gd name="T24" fmla="*/ 0 w 497"/>
                <a:gd name="T25" fmla="*/ 0 h 305"/>
                <a:gd name="T26" fmla="*/ 0 w 497"/>
                <a:gd name="T27" fmla="*/ 0 h 305"/>
                <a:gd name="T28" fmla="*/ 0 w 497"/>
                <a:gd name="T29" fmla="*/ 0 h 305"/>
                <a:gd name="T30" fmla="*/ 0 w 497"/>
                <a:gd name="T31" fmla="*/ 0 h 305"/>
                <a:gd name="T32" fmla="*/ 0 w 497"/>
                <a:gd name="T33" fmla="*/ 0 h 305"/>
                <a:gd name="T34" fmla="*/ 0 w 497"/>
                <a:gd name="T35" fmla="*/ 0 h 305"/>
                <a:gd name="T36" fmla="*/ 0 w 497"/>
                <a:gd name="T37" fmla="*/ 0 h 305"/>
                <a:gd name="T38" fmla="*/ 0 w 497"/>
                <a:gd name="T39" fmla="*/ 0 h 305"/>
                <a:gd name="T40" fmla="*/ 0 w 497"/>
                <a:gd name="T41" fmla="*/ 0 h 305"/>
                <a:gd name="T42" fmla="*/ 0 w 497"/>
                <a:gd name="T43" fmla="*/ 0 h 305"/>
                <a:gd name="T44" fmla="*/ 0 w 497"/>
                <a:gd name="T45" fmla="*/ 0 h 305"/>
                <a:gd name="T46" fmla="*/ 0 w 497"/>
                <a:gd name="T47" fmla="*/ 0 h 305"/>
                <a:gd name="T48" fmla="*/ 0 w 497"/>
                <a:gd name="T49" fmla="*/ 0 h 305"/>
                <a:gd name="T50" fmla="*/ 0 w 497"/>
                <a:gd name="T51" fmla="*/ 0 h 305"/>
                <a:gd name="T52" fmla="*/ 0 w 497"/>
                <a:gd name="T53" fmla="*/ 0 h 305"/>
                <a:gd name="T54" fmla="*/ 0 w 497"/>
                <a:gd name="T55" fmla="*/ 0 h 305"/>
                <a:gd name="T56" fmla="*/ 0 w 497"/>
                <a:gd name="T57" fmla="*/ 0 h 305"/>
                <a:gd name="T58" fmla="*/ 0 w 497"/>
                <a:gd name="T59" fmla="*/ 0 h 305"/>
                <a:gd name="T60" fmla="*/ 0 w 497"/>
                <a:gd name="T61" fmla="*/ 0 h 305"/>
                <a:gd name="T62" fmla="*/ 0 w 497"/>
                <a:gd name="T63" fmla="*/ 0 h 305"/>
                <a:gd name="T64" fmla="*/ 0 w 497"/>
                <a:gd name="T65" fmla="*/ 0 h 305"/>
                <a:gd name="T66" fmla="*/ 0 w 497"/>
                <a:gd name="T67" fmla="*/ 0 h 305"/>
                <a:gd name="T68" fmla="*/ 0 w 497"/>
                <a:gd name="T69" fmla="*/ 0 h 305"/>
                <a:gd name="T70" fmla="*/ 0 w 497"/>
                <a:gd name="T71" fmla="*/ 0 h 305"/>
                <a:gd name="T72" fmla="*/ 0 w 497"/>
                <a:gd name="T73" fmla="*/ 0 h 305"/>
                <a:gd name="T74" fmla="*/ 0 w 497"/>
                <a:gd name="T75" fmla="*/ 0 h 305"/>
                <a:gd name="T76" fmla="*/ 0 w 497"/>
                <a:gd name="T77" fmla="*/ 0 h 305"/>
                <a:gd name="T78" fmla="*/ 0 w 497"/>
                <a:gd name="T79" fmla="*/ 0 h 305"/>
                <a:gd name="T80" fmla="*/ 0 w 497"/>
                <a:gd name="T81" fmla="*/ 0 h 305"/>
                <a:gd name="T82" fmla="*/ 0 w 497"/>
                <a:gd name="T83" fmla="*/ 0 h 305"/>
                <a:gd name="T84" fmla="*/ 0 w 497"/>
                <a:gd name="T85" fmla="*/ 0 h 305"/>
                <a:gd name="T86" fmla="*/ 0 w 497"/>
                <a:gd name="T87" fmla="*/ 0 h 305"/>
                <a:gd name="T88" fmla="*/ 0 w 497"/>
                <a:gd name="T89" fmla="*/ 0 h 305"/>
                <a:gd name="T90" fmla="*/ 0 w 497"/>
                <a:gd name="T91" fmla="*/ 0 h 305"/>
                <a:gd name="T92" fmla="*/ 0 w 497"/>
                <a:gd name="T93" fmla="*/ 0 h 305"/>
                <a:gd name="T94" fmla="*/ 0 w 497"/>
                <a:gd name="T95" fmla="*/ 0 h 305"/>
                <a:gd name="T96" fmla="*/ 0 w 497"/>
                <a:gd name="T97" fmla="*/ 0 h 305"/>
                <a:gd name="T98" fmla="*/ 0 w 497"/>
                <a:gd name="T99" fmla="*/ 0 h 30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497" h="305">
                  <a:moveTo>
                    <a:pt x="0" y="182"/>
                  </a:moveTo>
                  <a:lnTo>
                    <a:pt x="61" y="168"/>
                  </a:lnTo>
                  <a:lnTo>
                    <a:pt x="84" y="163"/>
                  </a:lnTo>
                  <a:lnTo>
                    <a:pt x="98" y="150"/>
                  </a:lnTo>
                  <a:lnTo>
                    <a:pt x="112" y="130"/>
                  </a:lnTo>
                  <a:lnTo>
                    <a:pt x="142" y="102"/>
                  </a:lnTo>
                  <a:lnTo>
                    <a:pt x="197" y="56"/>
                  </a:lnTo>
                  <a:lnTo>
                    <a:pt x="206" y="41"/>
                  </a:lnTo>
                  <a:lnTo>
                    <a:pt x="221" y="28"/>
                  </a:lnTo>
                  <a:lnTo>
                    <a:pt x="249" y="23"/>
                  </a:lnTo>
                  <a:lnTo>
                    <a:pt x="336" y="8"/>
                  </a:lnTo>
                  <a:lnTo>
                    <a:pt x="360" y="0"/>
                  </a:lnTo>
                  <a:lnTo>
                    <a:pt x="382" y="11"/>
                  </a:lnTo>
                  <a:lnTo>
                    <a:pt x="393" y="20"/>
                  </a:lnTo>
                  <a:lnTo>
                    <a:pt x="443" y="37"/>
                  </a:lnTo>
                  <a:lnTo>
                    <a:pt x="464" y="45"/>
                  </a:lnTo>
                  <a:lnTo>
                    <a:pt x="471" y="53"/>
                  </a:lnTo>
                  <a:lnTo>
                    <a:pt x="481" y="81"/>
                  </a:lnTo>
                  <a:lnTo>
                    <a:pt x="486" y="96"/>
                  </a:lnTo>
                  <a:lnTo>
                    <a:pt x="490" y="104"/>
                  </a:lnTo>
                  <a:lnTo>
                    <a:pt x="497" y="119"/>
                  </a:lnTo>
                  <a:lnTo>
                    <a:pt x="497" y="129"/>
                  </a:lnTo>
                  <a:lnTo>
                    <a:pt x="487" y="137"/>
                  </a:lnTo>
                  <a:lnTo>
                    <a:pt x="466" y="136"/>
                  </a:lnTo>
                  <a:lnTo>
                    <a:pt x="434" y="121"/>
                  </a:lnTo>
                  <a:lnTo>
                    <a:pt x="393" y="113"/>
                  </a:lnTo>
                  <a:lnTo>
                    <a:pt x="356" y="119"/>
                  </a:lnTo>
                  <a:lnTo>
                    <a:pt x="395" y="128"/>
                  </a:lnTo>
                  <a:lnTo>
                    <a:pt x="422" y="137"/>
                  </a:lnTo>
                  <a:lnTo>
                    <a:pt x="454" y="150"/>
                  </a:lnTo>
                  <a:lnTo>
                    <a:pt x="462" y="161"/>
                  </a:lnTo>
                  <a:lnTo>
                    <a:pt x="462" y="173"/>
                  </a:lnTo>
                  <a:lnTo>
                    <a:pt x="449" y="182"/>
                  </a:lnTo>
                  <a:lnTo>
                    <a:pt x="435" y="179"/>
                  </a:lnTo>
                  <a:lnTo>
                    <a:pt x="391" y="168"/>
                  </a:lnTo>
                  <a:lnTo>
                    <a:pt x="351" y="166"/>
                  </a:lnTo>
                  <a:lnTo>
                    <a:pt x="320" y="168"/>
                  </a:lnTo>
                  <a:lnTo>
                    <a:pt x="303" y="179"/>
                  </a:lnTo>
                  <a:lnTo>
                    <a:pt x="282" y="200"/>
                  </a:lnTo>
                  <a:lnTo>
                    <a:pt x="267" y="223"/>
                  </a:lnTo>
                  <a:lnTo>
                    <a:pt x="251" y="246"/>
                  </a:lnTo>
                  <a:lnTo>
                    <a:pt x="237" y="263"/>
                  </a:lnTo>
                  <a:lnTo>
                    <a:pt x="213" y="280"/>
                  </a:lnTo>
                  <a:lnTo>
                    <a:pt x="190" y="284"/>
                  </a:lnTo>
                  <a:lnTo>
                    <a:pt x="165" y="287"/>
                  </a:lnTo>
                  <a:lnTo>
                    <a:pt x="135" y="284"/>
                  </a:lnTo>
                  <a:lnTo>
                    <a:pt x="112" y="282"/>
                  </a:lnTo>
                  <a:lnTo>
                    <a:pt x="82" y="290"/>
                  </a:lnTo>
                  <a:lnTo>
                    <a:pt x="0" y="305"/>
                  </a:lnTo>
                  <a:lnTo>
                    <a:pt x="0" y="182"/>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0" name="Freeform 163"/>
            <p:cNvSpPr>
              <a:spLocks/>
            </p:cNvSpPr>
            <p:nvPr/>
          </p:nvSpPr>
          <p:spPr bwMode="auto">
            <a:xfrm>
              <a:off x="439" y="1973"/>
              <a:ext cx="32" cy="7"/>
            </a:xfrm>
            <a:custGeom>
              <a:avLst/>
              <a:gdLst>
                <a:gd name="T0" fmla="*/ 0 w 159"/>
                <a:gd name="T1" fmla="*/ 0 h 37"/>
                <a:gd name="T2" fmla="*/ 0 w 159"/>
                <a:gd name="T3" fmla="*/ 0 h 37"/>
                <a:gd name="T4" fmla="*/ 0 w 159"/>
                <a:gd name="T5" fmla="*/ 0 h 37"/>
                <a:gd name="T6" fmla="*/ 0 w 159"/>
                <a:gd name="T7" fmla="*/ 0 h 37"/>
                <a:gd name="T8" fmla="*/ 0 w 159"/>
                <a:gd name="T9" fmla="*/ 0 h 37"/>
                <a:gd name="T10" fmla="*/ 0 w 159"/>
                <a:gd name="T11" fmla="*/ 0 h 37"/>
                <a:gd name="T12" fmla="*/ 0 w 159"/>
                <a:gd name="T13" fmla="*/ 0 h 37"/>
                <a:gd name="T14" fmla="*/ 0 w 159"/>
                <a:gd name="T15" fmla="*/ 0 h 37"/>
                <a:gd name="T16" fmla="*/ 0 w 159"/>
                <a:gd name="T17" fmla="*/ 0 h 37"/>
                <a:gd name="T18" fmla="*/ 0 w 159"/>
                <a:gd name="T19" fmla="*/ 0 h 37"/>
                <a:gd name="T20" fmla="*/ 0 w 159"/>
                <a:gd name="T21" fmla="*/ 0 h 37"/>
                <a:gd name="T22" fmla="*/ 0 w 159"/>
                <a:gd name="T23" fmla="*/ 0 h 37"/>
                <a:gd name="T24" fmla="*/ 0 w 159"/>
                <a:gd name="T25" fmla="*/ 0 h 37"/>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59" h="37">
                  <a:moveTo>
                    <a:pt x="159" y="37"/>
                  </a:moveTo>
                  <a:lnTo>
                    <a:pt x="132" y="24"/>
                  </a:lnTo>
                  <a:lnTo>
                    <a:pt x="110" y="21"/>
                  </a:lnTo>
                  <a:lnTo>
                    <a:pt x="84" y="13"/>
                  </a:lnTo>
                  <a:lnTo>
                    <a:pt x="61" y="7"/>
                  </a:lnTo>
                  <a:lnTo>
                    <a:pt x="25" y="10"/>
                  </a:lnTo>
                  <a:lnTo>
                    <a:pt x="0" y="13"/>
                  </a:lnTo>
                  <a:lnTo>
                    <a:pt x="38" y="5"/>
                  </a:lnTo>
                  <a:lnTo>
                    <a:pt x="69" y="0"/>
                  </a:lnTo>
                  <a:lnTo>
                    <a:pt x="110" y="17"/>
                  </a:lnTo>
                  <a:lnTo>
                    <a:pt x="132" y="19"/>
                  </a:lnTo>
                  <a:lnTo>
                    <a:pt x="157" y="31"/>
                  </a:lnTo>
                  <a:lnTo>
                    <a:pt x="159" y="3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1" name="Freeform 164"/>
            <p:cNvSpPr>
              <a:spLocks/>
            </p:cNvSpPr>
            <p:nvPr/>
          </p:nvSpPr>
          <p:spPr bwMode="auto">
            <a:xfrm>
              <a:off x="427" y="1965"/>
              <a:ext cx="27" cy="5"/>
            </a:xfrm>
            <a:custGeom>
              <a:avLst/>
              <a:gdLst>
                <a:gd name="T0" fmla="*/ 0 w 133"/>
                <a:gd name="T1" fmla="*/ 0 h 25"/>
                <a:gd name="T2" fmla="*/ 0 w 133"/>
                <a:gd name="T3" fmla="*/ 0 h 25"/>
                <a:gd name="T4" fmla="*/ 0 w 133"/>
                <a:gd name="T5" fmla="*/ 0 h 25"/>
                <a:gd name="T6" fmla="*/ 0 w 133"/>
                <a:gd name="T7" fmla="*/ 0 h 25"/>
                <a:gd name="T8" fmla="*/ 0 w 133"/>
                <a:gd name="T9" fmla="*/ 0 h 25"/>
                <a:gd name="T10" fmla="*/ 0 w 133"/>
                <a:gd name="T11" fmla="*/ 0 h 25"/>
                <a:gd name="T12" fmla="*/ 0 w 133"/>
                <a:gd name="T13" fmla="*/ 0 h 25"/>
                <a:gd name="T14" fmla="*/ 0 w 133"/>
                <a:gd name="T15" fmla="*/ 0 h 25"/>
                <a:gd name="T16" fmla="*/ 0 w 133"/>
                <a:gd name="T17" fmla="*/ 0 h 25"/>
                <a:gd name="T18" fmla="*/ 0 w 133"/>
                <a:gd name="T19" fmla="*/ 0 h 25"/>
                <a:gd name="T20" fmla="*/ 0 w 133"/>
                <a:gd name="T21" fmla="*/ 0 h 25"/>
                <a:gd name="T22" fmla="*/ 0 w 133"/>
                <a:gd name="T23" fmla="*/ 0 h 2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3" h="25">
                  <a:moveTo>
                    <a:pt x="97" y="0"/>
                  </a:moveTo>
                  <a:lnTo>
                    <a:pt x="113" y="1"/>
                  </a:lnTo>
                  <a:lnTo>
                    <a:pt x="133" y="8"/>
                  </a:lnTo>
                  <a:lnTo>
                    <a:pt x="120" y="7"/>
                  </a:lnTo>
                  <a:lnTo>
                    <a:pt x="99" y="3"/>
                  </a:lnTo>
                  <a:lnTo>
                    <a:pt x="56" y="15"/>
                  </a:lnTo>
                  <a:lnTo>
                    <a:pt x="32" y="21"/>
                  </a:lnTo>
                  <a:lnTo>
                    <a:pt x="4" y="25"/>
                  </a:lnTo>
                  <a:lnTo>
                    <a:pt x="0" y="21"/>
                  </a:lnTo>
                  <a:lnTo>
                    <a:pt x="29" y="16"/>
                  </a:lnTo>
                  <a:lnTo>
                    <a:pt x="64" y="8"/>
                  </a:lnTo>
                  <a:lnTo>
                    <a:pt x="9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2" name="Freeform 165"/>
            <p:cNvSpPr>
              <a:spLocks/>
            </p:cNvSpPr>
            <p:nvPr/>
          </p:nvSpPr>
          <p:spPr bwMode="auto">
            <a:xfrm>
              <a:off x="438" y="1984"/>
              <a:ext cx="11" cy="2"/>
            </a:xfrm>
            <a:custGeom>
              <a:avLst/>
              <a:gdLst>
                <a:gd name="T0" fmla="*/ 0 w 53"/>
                <a:gd name="T1" fmla="*/ 0 h 12"/>
                <a:gd name="T2" fmla="*/ 0 w 53"/>
                <a:gd name="T3" fmla="*/ 0 h 12"/>
                <a:gd name="T4" fmla="*/ 0 w 53"/>
                <a:gd name="T5" fmla="*/ 0 h 12"/>
                <a:gd name="T6" fmla="*/ 0 w 53"/>
                <a:gd name="T7" fmla="*/ 0 h 12"/>
                <a:gd name="T8" fmla="*/ 0 w 53"/>
                <a:gd name="T9" fmla="*/ 0 h 12"/>
                <a:gd name="T10" fmla="*/ 0 w 53"/>
                <a:gd name="T11" fmla="*/ 0 h 12"/>
                <a:gd name="T12" fmla="*/ 0 w 53"/>
                <a:gd name="T13" fmla="*/ 0 h 1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53" h="12">
                  <a:moveTo>
                    <a:pt x="53" y="5"/>
                  </a:moveTo>
                  <a:lnTo>
                    <a:pt x="46" y="12"/>
                  </a:lnTo>
                  <a:lnTo>
                    <a:pt x="27" y="9"/>
                  </a:lnTo>
                  <a:lnTo>
                    <a:pt x="5" y="9"/>
                  </a:lnTo>
                  <a:lnTo>
                    <a:pt x="0" y="0"/>
                  </a:lnTo>
                  <a:lnTo>
                    <a:pt x="14" y="3"/>
                  </a:lnTo>
                  <a:lnTo>
                    <a:pt x="53"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3" name="Freeform 166"/>
            <p:cNvSpPr>
              <a:spLocks/>
            </p:cNvSpPr>
            <p:nvPr/>
          </p:nvSpPr>
          <p:spPr bwMode="auto">
            <a:xfrm>
              <a:off x="469" y="1982"/>
              <a:ext cx="3" cy="4"/>
            </a:xfrm>
            <a:custGeom>
              <a:avLst/>
              <a:gdLst>
                <a:gd name="T0" fmla="*/ 0 w 11"/>
                <a:gd name="T1" fmla="*/ 0 h 23"/>
                <a:gd name="T2" fmla="*/ 0 w 11"/>
                <a:gd name="T3" fmla="*/ 0 h 23"/>
                <a:gd name="T4" fmla="*/ 0 w 11"/>
                <a:gd name="T5" fmla="*/ 0 h 23"/>
                <a:gd name="T6" fmla="*/ 0 w 11"/>
                <a:gd name="T7" fmla="*/ 0 h 23"/>
                <a:gd name="T8" fmla="*/ 0 w 11"/>
                <a:gd name="T9" fmla="*/ 0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 h="23">
                  <a:moveTo>
                    <a:pt x="0" y="0"/>
                  </a:moveTo>
                  <a:lnTo>
                    <a:pt x="0" y="6"/>
                  </a:lnTo>
                  <a:lnTo>
                    <a:pt x="2" y="18"/>
                  </a:lnTo>
                  <a:lnTo>
                    <a:pt x="11" y="2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4" name="Freeform 167"/>
            <p:cNvSpPr>
              <a:spLocks/>
            </p:cNvSpPr>
            <p:nvPr/>
          </p:nvSpPr>
          <p:spPr bwMode="auto">
            <a:xfrm>
              <a:off x="462" y="1993"/>
              <a:ext cx="2" cy="2"/>
            </a:xfrm>
            <a:custGeom>
              <a:avLst/>
              <a:gdLst>
                <a:gd name="T0" fmla="*/ 0 w 11"/>
                <a:gd name="T1" fmla="*/ 0 h 13"/>
                <a:gd name="T2" fmla="*/ 0 w 11"/>
                <a:gd name="T3" fmla="*/ 0 h 13"/>
                <a:gd name="T4" fmla="*/ 0 w 11"/>
                <a:gd name="T5" fmla="*/ 0 h 13"/>
                <a:gd name="T6" fmla="*/ 0 w 11"/>
                <a:gd name="T7" fmla="*/ 0 h 1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 h="13">
                  <a:moveTo>
                    <a:pt x="0" y="0"/>
                  </a:moveTo>
                  <a:lnTo>
                    <a:pt x="3" y="7"/>
                  </a:lnTo>
                  <a:lnTo>
                    <a:pt x="11" y="1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5" name="Freeform 168"/>
            <p:cNvSpPr>
              <a:spLocks/>
            </p:cNvSpPr>
            <p:nvPr/>
          </p:nvSpPr>
          <p:spPr bwMode="auto">
            <a:xfrm>
              <a:off x="423" y="1977"/>
              <a:ext cx="5" cy="6"/>
            </a:xfrm>
            <a:custGeom>
              <a:avLst/>
              <a:gdLst>
                <a:gd name="T0" fmla="*/ 0 w 25"/>
                <a:gd name="T1" fmla="*/ 0 h 29"/>
                <a:gd name="T2" fmla="*/ 0 w 25"/>
                <a:gd name="T3" fmla="*/ 0 h 29"/>
                <a:gd name="T4" fmla="*/ 0 w 25"/>
                <a:gd name="T5" fmla="*/ 0 h 29"/>
                <a:gd name="T6" fmla="*/ 0 w 25"/>
                <a:gd name="T7" fmla="*/ 0 h 29"/>
                <a:gd name="T8" fmla="*/ 0 w 25"/>
                <a:gd name="T9" fmla="*/ 0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29">
                  <a:moveTo>
                    <a:pt x="25" y="0"/>
                  </a:moveTo>
                  <a:lnTo>
                    <a:pt x="21" y="9"/>
                  </a:lnTo>
                  <a:lnTo>
                    <a:pt x="21" y="17"/>
                  </a:lnTo>
                  <a:lnTo>
                    <a:pt x="0" y="29"/>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6" name="Freeform 169"/>
            <p:cNvSpPr>
              <a:spLocks/>
            </p:cNvSpPr>
            <p:nvPr/>
          </p:nvSpPr>
          <p:spPr bwMode="auto">
            <a:xfrm>
              <a:off x="403" y="1977"/>
              <a:ext cx="16" cy="16"/>
            </a:xfrm>
            <a:custGeom>
              <a:avLst/>
              <a:gdLst>
                <a:gd name="T0" fmla="*/ 0 w 80"/>
                <a:gd name="T1" fmla="*/ 0 h 81"/>
                <a:gd name="T2" fmla="*/ 0 w 80"/>
                <a:gd name="T3" fmla="*/ 0 h 81"/>
                <a:gd name="T4" fmla="*/ 0 w 80"/>
                <a:gd name="T5" fmla="*/ 0 h 81"/>
                <a:gd name="T6" fmla="*/ 0 w 80"/>
                <a:gd name="T7" fmla="*/ 0 h 81"/>
                <a:gd name="T8" fmla="*/ 0 w 80"/>
                <a:gd name="T9" fmla="*/ 0 h 81"/>
                <a:gd name="T10" fmla="*/ 0 w 80"/>
                <a:gd name="T11" fmla="*/ 0 h 8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80" h="81">
                  <a:moveTo>
                    <a:pt x="80" y="0"/>
                  </a:moveTo>
                  <a:lnTo>
                    <a:pt x="66" y="26"/>
                  </a:lnTo>
                  <a:lnTo>
                    <a:pt x="50" y="46"/>
                  </a:lnTo>
                  <a:lnTo>
                    <a:pt x="0" y="81"/>
                  </a:lnTo>
                  <a:lnTo>
                    <a:pt x="47" y="38"/>
                  </a:lnTo>
                  <a:lnTo>
                    <a:pt x="8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7" name="Freeform 170"/>
            <p:cNvSpPr>
              <a:spLocks/>
            </p:cNvSpPr>
            <p:nvPr/>
          </p:nvSpPr>
          <p:spPr bwMode="auto">
            <a:xfrm>
              <a:off x="395" y="2000"/>
              <a:ext cx="4" cy="12"/>
            </a:xfrm>
            <a:custGeom>
              <a:avLst/>
              <a:gdLst>
                <a:gd name="T0" fmla="*/ 0 w 18"/>
                <a:gd name="T1" fmla="*/ 0 h 58"/>
                <a:gd name="T2" fmla="*/ 0 w 18"/>
                <a:gd name="T3" fmla="*/ 0 h 58"/>
                <a:gd name="T4" fmla="*/ 0 w 18"/>
                <a:gd name="T5" fmla="*/ 0 h 58"/>
                <a:gd name="T6" fmla="*/ 0 w 18"/>
                <a:gd name="T7" fmla="*/ 0 h 58"/>
                <a:gd name="T8" fmla="*/ 0 w 18"/>
                <a:gd name="T9" fmla="*/ 0 h 58"/>
                <a:gd name="T10" fmla="*/ 0 w 18"/>
                <a:gd name="T11" fmla="*/ 0 h 58"/>
                <a:gd name="T12" fmla="*/ 0 w 18"/>
                <a:gd name="T13" fmla="*/ 0 h 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8" h="58">
                  <a:moveTo>
                    <a:pt x="0" y="0"/>
                  </a:moveTo>
                  <a:lnTo>
                    <a:pt x="11" y="20"/>
                  </a:lnTo>
                  <a:lnTo>
                    <a:pt x="15" y="41"/>
                  </a:lnTo>
                  <a:lnTo>
                    <a:pt x="16" y="58"/>
                  </a:lnTo>
                  <a:lnTo>
                    <a:pt x="18" y="33"/>
                  </a:lnTo>
                  <a:lnTo>
                    <a:pt x="16" y="1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8" name="Freeform 171"/>
            <p:cNvSpPr>
              <a:spLocks/>
            </p:cNvSpPr>
            <p:nvPr/>
          </p:nvSpPr>
          <p:spPr bwMode="auto">
            <a:xfrm>
              <a:off x="432" y="1988"/>
              <a:ext cx="2" cy="4"/>
            </a:xfrm>
            <a:custGeom>
              <a:avLst/>
              <a:gdLst>
                <a:gd name="T0" fmla="*/ 0 w 9"/>
                <a:gd name="T1" fmla="*/ 0 h 21"/>
                <a:gd name="T2" fmla="*/ 0 w 9"/>
                <a:gd name="T3" fmla="*/ 0 h 21"/>
                <a:gd name="T4" fmla="*/ 0 w 9"/>
                <a:gd name="T5" fmla="*/ 0 h 21"/>
                <a:gd name="T6" fmla="*/ 0 w 9"/>
                <a:gd name="T7" fmla="*/ 0 h 2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21">
                  <a:moveTo>
                    <a:pt x="2" y="0"/>
                  </a:moveTo>
                  <a:lnTo>
                    <a:pt x="0" y="9"/>
                  </a:lnTo>
                  <a:lnTo>
                    <a:pt x="9" y="21"/>
                  </a:lnTo>
                  <a:lnTo>
                    <a:pt x="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79" name="Group 172"/>
          <p:cNvGrpSpPr>
            <a:grpSpLocks/>
          </p:cNvGrpSpPr>
          <p:nvPr/>
        </p:nvGrpSpPr>
        <p:grpSpPr bwMode="auto">
          <a:xfrm>
            <a:off x="1815539" y="3210895"/>
            <a:ext cx="230517" cy="243448"/>
            <a:chOff x="162" y="1828"/>
            <a:chExt cx="229" cy="262"/>
          </a:xfrm>
        </p:grpSpPr>
        <p:sp>
          <p:nvSpPr>
            <p:cNvPr id="180" name="Freeform 173"/>
            <p:cNvSpPr>
              <a:spLocks/>
            </p:cNvSpPr>
            <p:nvPr/>
          </p:nvSpPr>
          <p:spPr bwMode="auto">
            <a:xfrm>
              <a:off x="286" y="1828"/>
              <a:ext cx="7" cy="5"/>
            </a:xfrm>
            <a:custGeom>
              <a:avLst/>
              <a:gdLst>
                <a:gd name="T0" fmla="*/ 0 w 37"/>
                <a:gd name="T1" fmla="*/ 0 h 25"/>
                <a:gd name="T2" fmla="*/ 0 w 37"/>
                <a:gd name="T3" fmla="*/ 0 h 25"/>
                <a:gd name="T4" fmla="*/ 0 w 37"/>
                <a:gd name="T5" fmla="*/ 0 h 25"/>
                <a:gd name="T6" fmla="*/ 0 w 37"/>
                <a:gd name="T7" fmla="*/ 0 h 25"/>
                <a:gd name="T8" fmla="*/ 0 w 37"/>
                <a:gd name="T9" fmla="*/ 0 h 25"/>
                <a:gd name="T10" fmla="*/ 0 w 37"/>
                <a:gd name="T11" fmla="*/ 0 h 25"/>
                <a:gd name="T12" fmla="*/ 0 w 37"/>
                <a:gd name="T13" fmla="*/ 0 h 25"/>
                <a:gd name="T14" fmla="*/ 0 w 37"/>
                <a:gd name="T15" fmla="*/ 0 h 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7" h="25">
                  <a:moveTo>
                    <a:pt x="37" y="0"/>
                  </a:moveTo>
                  <a:lnTo>
                    <a:pt x="26" y="7"/>
                  </a:lnTo>
                  <a:lnTo>
                    <a:pt x="16" y="10"/>
                  </a:lnTo>
                  <a:lnTo>
                    <a:pt x="6" y="16"/>
                  </a:lnTo>
                  <a:lnTo>
                    <a:pt x="0" y="25"/>
                  </a:lnTo>
                  <a:lnTo>
                    <a:pt x="9" y="22"/>
                  </a:lnTo>
                  <a:lnTo>
                    <a:pt x="26" y="17"/>
                  </a:lnTo>
                  <a:lnTo>
                    <a:pt x="3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1" name="Freeform 174"/>
            <p:cNvSpPr>
              <a:spLocks/>
            </p:cNvSpPr>
            <p:nvPr/>
          </p:nvSpPr>
          <p:spPr bwMode="auto">
            <a:xfrm>
              <a:off x="289" y="1837"/>
              <a:ext cx="2" cy="3"/>
            </a:xfrm>
            <a:custGeom>
              <a:avLst/>
              <a:gdLst>
                <a:gd name="T0" fmla="*/ 0 w 9"/>
                <a:gd name="T1" fmla="*/ 0 h 16"/>
                <a:gd name="T2" fmla="*/ 0 w 9"/>
                <a:gd name="T3" fmla="*/ 0 h 16"/>
                <a:gd name="T4" fmla="*/ 0 w 9"/>
                <a:gd name="T5" fmla="*/ 0 h 16"/>
                <a:gd name="T6" fmla="*/ 0 w 9"/>
                <a:gd name="T7" fmla="*/ 0 h 1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16">
                  <a:moveTo>
                    <a:pt x="9" y="0"/>
                  </a:moveTo>
                  <a:lnTo>
                    <a:pt x="0" y="0"/>
                  </a:lnTo>
                  <a:lnTo>
                    <a:pt x="0" y="16"/>
                  </a:lnTo>
                  <a:lnTo>
                    <a:pt x="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2" name="Freeform 175"/>
            <p:cNvSpPr>
              <a:spLocks/>
            </p:cNvSpPr>
            <p:nvPr/>
          </p:nvSpPr>
          <p:spPr bwMode="auto">
            <a:xfrm>
              <a:off x="260" y="1863"/>
              <a:ext cx="62" cy="154"/>
            </a:xfrm>
            <a:custGeom>
              <a:avLst/>
              <a:gdLst>
                <a:gd name="T0" fmla="*/ 0 w 309"/>
                <a:gd name="T1" fmla="*/ 0 h 772"/>
                <a:gd name="T2" fmla="*/ 0 w 309"/>
                <a:gd name="T3" fmla="*/ 0 h 772"/>
                <a:gd name="T4" fmla="*/ 0 w 309"/>
                <a:gd name="T5" fmla="*/ 0 h 772"/>
                <a:gd name="T6" fmla="*/ 0 w 309"/>
                <a:gd name="T7" fmla="*/ 0 h 772"/>
                <a:gd name="T8" fmla="*/ 0 w 309"/>
                <a:gd name="T9" fmla="*/ 0 h 772"/>
                <a:gd name="T10" fmla="*/ 0 w 309"/>
                <a:gd name="T11" fmla="*/ 0 h 772"/>
                <a:gd name="T12" fmla="*/ 0 w 309"/>
                <a:gd name="T13" fmla="*/ 0 h 772"/>
                <a:gd name="T14" fmla="*/ 0 w 309"/>
                <a:gd name="T15" fmla="*/ 0 h 772"/>
                <a:gd name="T16" fmla="*/ 0 w 309"/>
                <a:gd name="T17" fmla="*/ 0 h 772"/>
                <a:gd name="T18" fmla="*/ 0 w 309"/>
                <a:gd name="T19" fmla="*/ 0 h 772"/>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309" h="772">
                  <a:moveTo>
                    <a:pt x="46" y="0"/>
                  </a:moveTo>
                  <a:lnTo>
                    <a:pt x="75" y="32"/>
                  </a:lnTo>
                  <a:lnTo>
                    <a:pt x="84" y="78"/>
                  </a:lnTo>
                  <a:lnTo>
                    <a:pt x="127" y="122"/>
                  </a:lnTo>
                  <a:lnTo>
                    <a:pt x="218" y="330"/>
                  </a:lnTo>
                  <a:lnTo>
                    <a:pt x="269" y="519"/>
                  </a:lnTo>
                  <a:lnTo>
                    <a:pt x="309" y="772"/>
                  </a:lnTo>
                  <a:lnTo>
                    <a:pt x="182" y="659"/>
                  </a:lnTo>
                  <a:lnTo>
                    <a:pt x="0" y="100"/>
                  </a:lnTo>
                  <a:lnTo>
                    <a:pt x="46" y="0"/>
                  </a:lnTo>
                  <a:close/>
                </a:path>
              </a:pathLst>
            </a:custGeom>
            <a:solidFill>
              <a:srgbClr val="40000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3" name="Freeform 176"/>
            <p:cNvSpPr>
              <a:spLocks/>
            </p:cNvSpPr>
            <p:nvPr/>
          </p:nvSpPr>
          <p:spPr bwMode="auto">
            <a:xfrm>
              <a:off x="162" y="1833"/>
              <a:ext cx="229" cy="257"/>
            </a:xfrm>
            <a:custGeom>
              <a:avLst/>
              <a:gdLst>
                <a:gd name="T0" fmla="*/ 0 w 1147"/>
                <a:gd name="T1" fmla="*/ 0 h 1285"/>
                <a:gd name="T2" fmla="*/ 0 w 1147"/>
                <a:gd name="T3" fmla="*/ 0 h 1285"/>
                <a:gd name="T4" fmla="*/ 0 w 1147"/>
                <a:gd name="T5" fmla="*/ 0 h 1285"/>
                <a:gd name="T6" fmla="*/ 0 w 1147"/>
                <a:gd name="T7" fmla="*/ 0 h 1285"/>
                <a:gd name="T8" fmla="*/ 0 w 1147"/>
                <a:gd name="T9" fmla="*/ 0 h 1285"/>
                <a:gd name="T10" fmla="*/ 0 w 1147"/>
                <a:gd name="T11" fmla="*/ 0 h 1285"/>
                <a:gd name="T12" fmla="*/ 0 w 1147"/>
                <a:gd name="T13" fmla="*/ 0 h 1285"/>
                <a:gd name="T14" fmla="*/ 0 w 1147"/>
                <a:gd name="T15" fmla="*/ 0 h 1285"/>
                <a:gd name="T16" fmla="*/ 0 w 1147"/>
                <a:gd name="T17" fmla="*/ 0 h 1285"/>
                <a:gd name="T18" fmla="*/ 0 w 1147"/>
                <a:gd name="T19" fmla="*/ 0 h 1285"/>
                <a:gd name="T20" fmla="*/ 0 w 1147"/>
                <a:gd name="T21" fmla="*/ 0 h 1285"/>
                <a:gd name="T22" fmla="*/ 0 w 1147"/>
                <a:gd name="T23" fmla="*/ 0 h 1285"/>
                <a:gd name="T24" fmla="*/ 0 w 1147"/>
                <a:gd name="T25" fmla="*/ 0 h 1285"/>
                <a:gd name="T26" fmla="*/ 0 w 1147"/>
                <a:gd name="T27" fmla="*/ 0 h 1285"/>
                <a:gd name="T28" fmla="*/ 0 w 1147"/>
                <a:gd name="T29" fmla="*/ 0 h 1285"/>
                <a:gd name="T30" fmla="*/ 0 w 1147"/>
                <a:gd name="T31" fmla="*/ 0 h 1285"/>
                <a:gd name="T32" fmla="*/ 0 w 1147"/>
                <a:gd name="T33" fmla="*/ 0 h 1285"/>
                <a:gd name="T34" fmla="*/ 0 w 1147"/>
                <a:gd name="T35" fmla="*/ 0 h 1285"/>
                <a:gd name="T36" fmla="*/ 0 w 1147"/>
                <a:gd name="T37" fmla="*/ 0 h 1285"/>
                <a:gd name="T38" fmla="*/ 0 w 1147"/>
                <a:gd name="T39" fmla="*/ 0 h 1285"/>
                <a:gd name="T40" fmla="*/ 0 w 1147"/>
                <a:gd name="T41" fmla="*/ 0 h 1285"/>
                <a:gd name="T42" fmla="*/ 0 w 1147"/>
                <a:gd name="T43" fmla="*/ 0 h 1285"/>
                <a:gd name="T44" fmla="*/ 0 w 1147"/>
                <a:gd name="T45" fmla="*/ 0 h 1285"/>
                <a:gd name="T46" fmla="*/ 0 w 1147"/>
                <a:gd name="T47" fmla="*/ 0 h 1285"/>
                <a:gd name="T48" fmla="*/ 0 w 1147"/>
                <a:gd name="T49" fmla="*/ 0 h 1285"/>
                <a:gd name="T50" fmla="*/ 0 w 1147"/>
                <a:gd name="T51" fmla="*/ 0 h 1285"/>
                <a:gd name="T52" fmla="*/ 0 w 1147"/>
                <a:gd name="T53" fmla="*/ 0 h 1285"/>
                <a:gd name="T54" fmla="*/ 0 w 1147"/>
                <a:gd name="T55" fmla="*/ 0 h 1285"/>
                <a:gd name="T56" fmla="*/ 0 w 1147"/>
                <a:gd name="T57" fmla="*/ 0 h 1285"/>
                <a:gd name="T58" fmla="*/ 0 w 1147"/>
                <a:gd name="T59" fmla="*/ 0 h 1285"/>
                <a:gd name="T60" fmla="*/ 0 w 1147"/>
                <a:gd name="T61" fmla="*/ 0 h 1285"/>
                <a:gd name="T62" fmla="*/ 0 w 1147"/>
                <a:gd name="T63" fmla="*/ 0 h 1285"/>
                <a:gd name="T64" fmla="*/ 0 w 1147"/>
                <a:gd name="T65" fmla="*/ 0 h 1285"/>
                <a:gd name="T66" fmla="*/ 0 w 1147"/>
                <a:gd name="T67" fmla="*/ 0 h 1285"/>
                <a:gd name="T68" fmla="*/ 0 w 1147"/>
                <a:gd name="T69" fmla="*/ 0 h 1285"/>
                <a:gd name="T70" fmla="*/ 0 w 1147"/>
                <a:gd name="T71" fmla="*/ 0 h 1285"/>
                <a:gd name="T72" fmla="*/ 0 w 1147"/>
                <a:gd name="T73" fmla="*/ 0 h 1285"/>
                <a:gd name="T74" fmla="*/ 0 w 1147"/>
                <a:gd name="T75" fmla="*/ 0 h 1285"/>
                <a:gd name="T76" fmla="*/ 0 w 1147"/>
                <a:gd name="T77" fmla="*/ 0 h 1285"/>
                <a:gd name="T78" fmla="*/ 0 w 1147"/>
                <a:gd name="T79" fmla="*/ 0 h 1285"/>
                <a:gd name="T80" fmla="*/ 0 w 1147"/>
                <a:gd name="T81" fmla="*/ 0 h 1285"/>
                <a:gd name="T82" fmla="*/ 0 w 1147"/>
                <a:gd name="T83" fmla="*/ 0 h 1285"/>
                <a:gd name="T84" fmla="*/ 0 w 1147"/>
                <a:gd name="T85" fmla="*/ 0 h 1285"/>
                <a:gd name="T86" fmla="*/ 0 w 1147"/>
                <a:gd name="T87" fmla="*/ 0 h 1285"/>
                <a:gd name="T88" fmla="*/ 0 w 1147"/>
                <a:gd name="T89" fmla="*/ 0 h 1285"/>
                <a:gd name="T90" fmla="*/ 0 w 1147"/>
                <a:gd name="T91" fmla="*/ 0 h 1285"/>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147" h="1285">
                  <a:moveTo>
                    <a:pt x="212" y="67"/>
                  </a:moveTo>
                  <a:lnTo>
                    <a:pt x="247" y="0"/>
                  </a:lnTo>
                  <a:lnTo>
                    <a:pt x="528" y="116"/>
                  </a:lnTo>
                  <a:lnTo>
                    <a:pt x="541" y="206"/>
                  </a:lnTo>
                  <a:lnTo>
                    <a:pt x="563" y="238"/>
                  </a:lnTo>
                  <a:lnTo>
                    <a:pt x="595" y="274"/>
                  </a:lnTo>
                  <a:lnTo>
                    <a:pt x="614" y="339"/>
                  </a:lnTo>
                  <a:lnTo>
                    <a:pt x="676" y="487"/>
                  </a:lnTo>
                  <a:lnTo>
                    <a:pt x="727" y="663"/>
                  </a:lnTo>
                  <a:lnTo>
                    <a:pt x="748" y="780"/>
                  </a:lnTo>
                  <a:lnTo>
                    <a:pt x="974" y="785"/>
                  </a:lnTo>
                  <a:lnTo>
                    <a:pt x="1011" y="807"/>
                  </a:lnTo>
                  <a:lnTo>
                    <a:pt x="1115" y="807"/>
                  </a:lnTo>
                  <a:lnTo>
                    <a:pt x="1143" y="853"/>
                  </a:lnTo>
                  <a:lnTo>
                    <a:pt x="1147" y="907"/>
                  </a:lnTo>
                  <a:lnTo>
                    <a:pt x="1137" y="956"/>
                  </a:lnTo>
                  <a:lnTo>
                    <a:pt x="1042" y="974"/>
                  </a:lnTo>
                  <a:lnTo>
                    <a:pt x="997" y="1041"/>
                  </a:lnTo>
                  <a:lnTo>
                    <a:pt x="907" y="1064"/>
                  </a:lnTo>
                  <a:lnTo>
                    <a:pt x="840" y="1064"/>
                  </a:lnTo>
                  <a:lnTo>
                    <a:pt x="763" y="1079"/>
                  </a:lnTo>
                  <a:lnTo>
                    <a:pt x="759" y="1110"/>
                  </a:lnTo>
                  <a:lnTo>
                    <a:pt x="763" y="1177"/>
                  </a:lnTo>
                  <a:lnTo>
                    <a:pt x="754" y="1223"/>
                  </a:lnTo>
                  <a:lnTo>
                    <a:pt x="713" y="1227"/>
                  </a:lnTo>
                  <a:lnTo>
                    <a:pt x="663" y="1236"/>
                  </a:lnTo>
                  <a:lnTo>
                    <a:pt x="614" y="1282"/>
                  </a:lnTo>
                  <a:lnTo>
                    <a:pt x="554" y="1282"/>
                  </a:lnTo>
                  <a:lnTo>
                    <a:pt x="501" y="1276"/>
                  </a:lnTo>
                  <a:lnTo>
                    <a:pt x="420" y="1250"/>
                  </a:lnTo>
                  <a:lnTo>
                    <a:pt x="330" y="1259"/>
                  </a:lnTo>
                  <a:lnTo>
                    <a:pt x="238" y="1285"/>
                  </a:lnTo>
                  <a:lnTo>
                    <a:pt x="153" y="1267"/>
                  </a:lnTo>
                  <a:lnTo>
                    <a:pt x="95" y="1200"/>
                  </a:lnTo>
                  <a:lnTo>
                    <a:pt x="99" y="1128"/>
                  </a:lnTo>
                  <a:lnTo>
                    <a:pt x="76" y="1038"/>
                  </a:lnTo>
                  <a:lnTo>
                    <a:pt x="64" y="920"/>
                  </a:lnTo>
                  <a:lnTo>
                    <a:pt x="36" y="812"/>
                  </a:lnTo>
                  <a:lnTo>
                    <a:pt x="0" y="650"/>
                  </a:lnTo>
                  <a:lnTo>
                    <a:pt x="4" y="487"/>
                  </a:lnTo>
                  <a:lnTo>
                    <a:pt x="4" y="342"/>
                  </a:lnTo>
                  <a:lnTo>
                    <a:pt x="14" y="243"/>
                  </a:lnTo>
                  <a:lnTo>
                    <a:pt x="36" y="198"/>
                  </a:lnTo>
                  <a:lnTo>
                    <a:pt x="87" y="162"/>
                  </a:lnTo>
                  <a:lnTo>
                    <a:pt x="145" y="102"/>
                  </a:lnTo>
                  <a:lnTo>
                    <a:pt x="212" y="67"/>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4" name="Freeform 177"/>
            <p:cNvSpPr>
              <a:spLocks/>
            </p:cNvSpPr>
            <p:nvPr/>
          </p:nvSpPr>
          <p:spPr bwMode="auto">
            <a:xfrm>
              <a:off x="166" y="1848"/>
              <a:ext cx="145" cy="240"/>
            </a:xfrm>
            <a:custGeom>
              <a:avLst/>
              <a:gdLst>
                <a:gd name="T0" fmla="*/ 0 w 725"/>
                <a:gd name="T1" fmla="*/ 0 h 1198"/>
                <a:gd name="T2" fmla="*/ 0 w 725"/>
                <a:gd name="T3" fmla="*/ 0 h 1198"/>
                <a:gd name="T4" fmla="*/ 0 w 725"/>
                <a:gd name="T5" fmla="*/ 0 h 1198"/>
                <a:gd name="T6" fmla="*/ 0 w 725"/>
                <a:gd name="T7" fmla="*/ 0 h 1198"/>
                <a:gd name="T8" fmla="*/ 0 w 725"/>
                <a:gd name="T9" fmla="*/ 0 h 1198"/>
                <a:gd name="T10" fmla="*/ 0 w 725"/>
                <a:gd name="T11" fmla="*/ 0 h 1198"/>
                <a:gd name="T12" fmla="*/ 0 w 725"/>
                <a:gd name="T13" fmla="*/ 0 h 1198"/>
                <a:gd name="T14" fmla="*/ 0 w 725"/>
                <a:gd name="T15" fmla="*/ 0 h 1198"/>
                <a:gd name="T16" fmla="*/ 0 w 725"/>
                <a:gd name="T17" fmla="*/ 0 h 1198"/>
                <a:gd name="T18" fmla="*/ 0 w 725"/>
                <a:gd name="T19" fmla="*/ 0 h 1198"/>
                <a:gd name="T20" fmla="*/ 0 w 725"/>
                <a:gd name="T21" fmla="*/ 0 h 1198"/>
                <a:gd name="T22" fmla="*/ 0 w 725"/>
                <a:gd name="T23" fmla="*/ 0 h 1198"/>
                <a:gd name="T24" fmla="*/ 0 w 725"/>
                <a:gd name="T25" fmla="*/ 0 h 1198"/>
                <a:gd name="T26" fmla="*/ 0 w 725"/>
                <a:gd name="T27" fmla="*/ 0 h 1198"/>
                <a:gd name="T28" fmla="*/ 0 w 725"/>
                <a:gd name="T29" fmla="*/ 0 h 1198"/>
                <a:gd name="T30" fmla="*/ 0 w 725"/>
                <a:gd name="T31" fmla="*/ 0 h 1198"/>
                <a:gd name="T32" fmla="*/ 0 w 725"/>
                <a:gd name="T33" fmla="*/ 0 h 1198"/>
                <a:gd name="T34" fmla="*/ 0 w 725"/>
                <a:gd name="T35" fmla="*/ 0 h 1198"/>
                <a:gd name="T36" fmla="*/ 0 w 725"/>
                <a:gd name="T37" fmla="*/ 0 h 1198"/>
                <a:gd name="T38" fmla="*/ 0 w 725"/>
                <a:gd name="T39" fmla="*/ 0 h 1198"/>
                <a:gd name="T40" fmla="*/ 0 w 725"/>
                <a:gd name="T41" fmla="*/ 0 h 1198"/>
                <a:gd name="T42" fmla="*/ 0 w 725"/>
                <a:gd name="T43" fmla="*/ 0 h 1198"/>
                <a:gd name="T44" fmla="*/ 0 w 725"/>
                <a:gd name="T45" fmla="*/ 0 h 1198"/>
                <a:gd name="T46" fmla="*/ 0 w 725"/>
                <a:gd name="T47" fmla="*/ 0 h 1198"/>
                <a:gd name="T48" fmla="*/ 0 w 725"/>
                <a:gd name="T49" fmla="*/ 0 h 1198"/>
                <a:gd name="T50" fmla="*/ 0 w 725"/>
                <a:gd name="T51" fmla="*/ 0 h 1198"/>
                <a:gd name="T52" fmla="*/ 0 w 725"/>
                <a:gd name="T53" fmla="*/ 0 h 1198"/>
                <a:gd name="T54" fmla="*/ 0 w 725"/>
                <a:gd name="T55" fmla="*/ 0 h 1198"/>
                <a:gd name="T56" fmla="*/ 0 w 725"/>
                <a:gd name="T57" fmla="*/ 0 h 1198"/>
                <a:gd name="T58" fmla="*/ 0 w 725"/>
                <a:gd name="T59" fmla="*/ 0 h 1198"/>
                <a:gd name="T60" fmla="*/ 0 w 725"/>
                <a:gd name="T61" fmla="*/ 0 h 1198"/>
                <a:gd name="T62" fmla="*/ 0 w 725"/>
                <a:gd name="T63" fmla="*/ 0 h 1198"/>
                <a:gd name="T64" fmla="*/ 0 w 725"/>
                <a:gd name="T65" fmla="*/ 0 h 1198"/>
                <a:gd name="T66" fmla="*/ 0 w 725"/>
                <a:gd name="T67" fmla="*/ 0 h 1198"/>
                <a:gd name="T68" fmla="*/ 0 w 725"/>
                <a:gd name="T69" fmla="*/ 0 h 1198"/>
                <a:gd name="T70" fmla="*/ 0 w 725"/>
                <a:gd name="T71" fmla="*/ 0 h 1198"/>
                <a:gd name="T72" fmla="*/ 0 w 725"/>
                <a:gd name="T73" fmla="*/ 0 h 1198"/>
                <a:gd name="T74" fmla="*/ 0 w 725"/>
                <a:gd name="T75" fmla="*/ 0 h 1198"/>
                <a:gd name="T76" fmla="*/ 0 w 725"/>
                <a:gd name="T77" fmla="*/ 0 h 119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725" h="1198">
                  <a:moveTo>
                    <a:pt x="725" y="1005"/>
                  </a:moveTo>
                  <a:lnTo>
                    <a:pt x="630" y="990"/>
                  </a:lnTo>
                  <a:lnTo>
                    <a:pt x="549" y="986"/>
                  </a:lnTo>
                  <a:lnTo>
                    <a:pt x="460" y="978"/>
                  </a:lnTo>
                  <a:lnTo>
                    <a:pt x="359" y="963"/>
                  </a:lnTo>
                  <a:lnTo>
                    <a:pt x="314" y="932"/>
                  </a:lnTo>
                  <a:lnTo>
                    <a:pt x="193" y="780"/>
                  </a:lnTo>
                  <a:lnTo>
                    <a:pt x="256" y="825"/>
                  </a:lnTo>
                  <a:lnTo>
                    <a:pt x="297" y="861"/>
                  </a:lnTo>
                  <a:lnTo>
                    <a:pt x="274" y="753"/>
                  </a:lnTo>
                  <a:lnTo>
                    <a:pt x="228" y="712"/>
                  </a:lnTo>
                  <a:lnTo>
                    <a:pt x="162" y="600"/>
                  </a:lnTo>
                  <a:lnTo>
                    <a:pt x="225" y="653"/>
                  </a:lnTo>
                  <a:lnTo>
                    <a:pt x="266" y="668"/>
                  </a:lnTo>
                  <a:lnTo>
                    <a:pt x="256" y="590"/>
                  </a:lnTo>
                  <a:lnTo>
                    <a:pt x="211" y="532"/>
                  </a:lnTo>
                  <a:lnTo>
                    <a:pt x="167" y="487"/>
                  </a:lnTo>
                  <a:lnTo>
                    <a:pt x="121" y="355"/>
                  </a:lnTo>
                  <a:lnTo>
                    <a:pt x="207" y="464"/>
                  </a:lnTo>
                  <a:lnTo>
                    <a:pt x="256" y="504"/>
                  </a:lnTo>
                  <a:lnTo>
                    <a:pt x="261" y="337"/>
                  </a:lnTo>
                  <a:lnTo>
                    <a:pt x="274" y="271"/>
                  </a:lnTo>
                  <a:lnTo>
                    <a:pt x="301" y="240"/>
                  </a:lnTo>
                  <a:lnTo>
                    <a:pt x="341" y="190"/>
                  </a:lnTo>
                  <a:lnTo>
                    <a:pt x="405" y="167"/>
                  </a:lnTo>
                  <a:lnTo>
                    <a:pt x="437" y="153"/>
                  </a:lnTo>
                  <a:lnTo>
                    <a:pt x="347" y="68"/>
                  </a:lnTo>
                  <a:lnTo>
                    <a:pt x="251" y="90"/>
                  </a:lnTo>
                  <a:lnTo>
                    <a:pt x="188" y="127"/>
                  </a:lnTo>
                  <a:lnTo>
                    <a:pt x="167" y="162"/>
                  </a:lnTo>
                  <a:lnTo>
                    <a:pt x="184" y="107"/>
                  </a:lnTo>
                  <a:lnTo>
                    <a:pt x="220" y="90"/>
                  </a:lnTo>
                  <a:lnTo>
                    <a:pt x="278" y="68"/>
                  </a:lnTo>
                  <a:lnTo>
                    <a:pt x="324" y="60"/>
                  </a:lnTo>
                  <a:lnTo>
                    <a:pt x="297" y="45"/>
                  </a:lnTo>
                  <a:lnTo>
                    <a:pt x="251" y="32"/>
                  </a:lnTo>
                  <a:lnTo>
                    <a:pt x="211" y="17"/>
                  </a:lnTo>
                  <a:lnTo>
                    <a:pt x="188" y="0"/>
                  </a:lnTo>
                  <a:lnTo>
                    <a:pt x="136" y="37"/>
                  </a:lnTo>
                  <a:lnTo>
                    <a:pt x="104" y="68"/>
                  </a:lnTo>
                  <a:lnTo>
                    <a:pt x="73" y="107"/>
                  </a:lnTo>
                  <a:lnTo>
                    <a:pt x="27" y="130"/>
                  </a:lnTo>
                  <a:lnTo>
                    <a:pt x="18" y="172"/>
                  </a:lnTo>
                  <a:lnTo>
                    <a:pt x="0" y="240"/>
                  </a:lnTo>
                  <a:lnTo>
                    <a:pt x="0" y="342"/>
                  </a:lnTo>
                  <a:lnTo>
                    <a:pt x="5" y="450"/>
                  </a:lnTo>
                  <a:lnTo>
                    <a:pt x="8" y="573"/>
                  </a:lnTo>
                  <a:lnTo>
                    <a:pt x="31" y="698"/>
                  </a:lnTo>
                  <a:lnTo>
                    <a:pt x="58" y="830"/>
                  </a:lnTo>
                  <a:lnTo>
                    <a:pt x="73" y="941"/>
                  </a:lnTo>
                  <a:lnTo>
                    <a:pt x="95" y="1022"/>
                  </a:lnTo>
                  <a:lnTo>
                    <a:pt x="90" y="1095"/>
                  </a:lnTo>
                  <a:lnTo>
                    <a:pt x="99" y="1135"/>
                  </a:lnTo>
                  <a:lnTo>
                    <a:pt x="131" y="1166"/>
                  </a:lnTo>
                  <a:lnTo>
                    <a:pt x="171" y="1193"/>
                  </a:lnTo>
                  <a:lnTo>
                    <a:pt x="225" y="1198"/>
                  </a:lnTo>
                  <a:lnTo>
                    <a:pt x="251" y="1185"/>
                  </a:lnTo>
                  <a:lnTo>
                    <a:pt x="288" y="1181"/>
                  </a:lnTo>
                  <a:lnTo>
                    <a:pt x="374" y="1163"/>
                  </a:lnTo>
                  <a:lnTo>
                    <a:pt x="337" y="1118"/>
                  </a:lnTo>
                  <a:lnTo>
                    <a:pt x="297" y="1053"/>
                  </a:lnTo>
                  <a:lnTo>
                    <a:pt x="356" y="1099"/>
                  </a:lnTo>
                  <a:lnTo>
                    <a:pt x="401" y="1140"/>
                  </a:lnTo>
                  <a:lnTo>
                    <a:pt x="433" y="1163"/>
                  </a:lnTo>
                  <a:lnTo>
                    <a:pt x="477" y="1185"/>
                  </a:lnTo>
                  <a:lnTo>
                    <a:pt x="527" y="1185"/>
                  </a:lnTo>
                  <a:lnTo>
                    <a:pt x="575" y="1185"/>
                  </a:lnTo>
                  <a:lnTo>
                    <a:pt x="603" y="1172"/>
                  </a:lnTo>
                  <a:lnTo>
                    <a:pt x="616" y="1158"/>
                  </a:lnTo>
                  <a:lnTo>
                    <a:pt x="553" y="1122"/>
                  </a:lnTo>
                  <a:lnTo>
                    <a:pt x="491" y="1063"/>
                  </a:lnTo>
                  <a:lnTo>
                    <a:pt x="472" y="1036"/>
                  </a:lnTo>
                  <a:lnTo>
                    <a:pt x="523" y="1050"/>
                  </a:lnTo>
                  <a:lnTo>
                    <a:pt x="598" y="1108"/>
                  </a:lnTo>
                  <a:lnTo>
                    <a:pt x="630" y="1135"/>
                  </a:lnTo>
                  <a:lnTo>
                    <a:pt x="702" y="1140"/>
                  </a:lnTo>
                  <a:lnTo>
                    <a:pt x="725" y="1126"/>
                  </a:lnTo>
                  <a:lnTo>
                    <a:pt x="725" y="1095"/>
                  </a:lnTo>
                  <a:lnTo>
                    <a:pt x="725" y="1005"/>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5" name="Freeform 178"/>
            <p:cNvSpPr>
              <a:spLocks/>
            </p:cNvSpPr>
            <p:nvPr/>
          </p:nvSpPr>
          <p:spPr bwMode="auto">
            <a:xfrm>
              <a:off x="176" y="1968"/>
              <a:ext cx="43" cy="110"/>
            </a:xfrm>
            <a:custGeom>
              <a:avLst/>
              <a:gdLst>
                <a:gd name="T0" fmla="*/ 0 w 211"/>
                <a:gd name="T1" fmla="*/ 0 h 553"/>
                <a:gd name="T2" fmla="*/ 0 w 211"/>
                <a:gd name="T3" fmla="*/ 0 h 553"/>
                <a:gd name="T4" fmla="*/ 0 w 211"/>
                <a:gd name="T5" fmla="*/ 0 h 553"/>
                <a:gd name="T6" fmla="*/ 0 w 211"/>
                <a:gd name="T7" fmla="*/ 0 h 553"/>
                <a:gd name="T8" fmla="*/ 0 w 211"/>
                <a:gd name="T9" fmla="*/ 0 h 553"/>
                <a:gd name="T10" fmla="*/ 0 w 211"/>
                <a:gd name="T11" fmla="*/ 0 h 553"/>
                <a:gd name="T12" fmla="*/ 0 w 211"/>
                <a:gd name="T13" fmla="*/ 0 h 553"/>
                <a:gd name="T14" fmla="*/ 0 w 211"/>
                <a:gd name="T15" fmla="*/ 0 h 553"/>
                <a:gd name="T16" fmla="*/ 0 w 211"/>
                <a:gd name="T17" fmla="*/ 0 h 553"/>
                <a:gd name="T18" fmla="*/ 0 w 211"/>
                <a:gd name="T19" fmla="*/ 0 h 553"/>
                <a:gd name="T20" fmla="*/ 0 w 211"/>
                <a:gd name="T21" fmla="*/ 0 h 553"/>
                <a:gd name="T22" fmla="*/ 0 w 211"/>
                <a:gd name="T23" fmla="*/ 0 h 553"/>
                <a:gd name="T24" fmla="*/ 0 w 211"/>
                <a:gd name="T25" fmla="*/ 0 h 553"/>
                <a:gd name="T26" fmla="*/ 0 w 211"/>
                <a:gd name="T27" fmla="*/ 0 h 5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11" h="553">
                  <a:moveTo>
                    <a:pt x="211" y="553"/>
                  </a:moveTo>
                  <a:lnTo>
                    <a:pt x="173" y="535"/>
                  </a:lnTo>
                  <a:lnTo>
                    <a:pt x="134" y="490"/>
                  </a:lnTo>
                  <a:lnTo>
                    <a:pt x="99" y="410"/>
                  </a:lnTo>
                  <a:lnTo>
                    <a:pt x="81" y="342"/>
                  </a:lnTo>
                  <a:lnTo>
                    <a:pt x="53" y="265"/>
                  </a:lnTo>
                  <a:lnTo>
                    <a:pt x="41" y="192"/>
                  </a:lnTo>
                  <a:lnTo>
                    <a:pt x="19" y="81"/>
                  </a:lnTo>
                  <a:lnTo>
                    <a:pt x="0" y="0"/>
                  </a:lnTo>
                  <a:lnTo>
                    <a:pt x="45" y="162"/>
                  </a:lnTo>
                  <a:lnTo>
                    <a:pt x="81" y="287"/>
                  </a:lnTo>
                  <a:lnTo>
                    <a:pt x="121" y="373"/>
                  </a:lnTo>
                  <a:lnTo>
                    <a:pt x="183" y="463"/>
                  </a:lnTo>
                  <a:lnTo>
                    <a:pt x="211" y="55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6" name="Freeform 179"/>
            <p:cNvSpPr>
              <a:spLocks/>
            </p:cNvSpPr>
            <p:nvPr/>
          </p:nvSpPr>
          <p:spPr bwMode="auto">
            <a:xfrm>
              <a:off x="220" y="1878"/>
              <a:ext cx="167" cy="167"/>
            </a:xfrm>
            <a:custGeom>
              <a:avLst/>
              <a:gdLst>
                <a:gd name="T0" fmla="*/ 0 w 838"/>
                <a:gd name="T1" fmla="*/ 0 h 832"/>
                <a:gd name="T2" fmla="*/ 0 w 838"/>
                <a:gd name="T3" fmla="*/ 0 h 832"/>
                <a:gd name="T4" fmla="*/ 0 w 838"/>
                <a:gd name="T5" fmla="*/ 0 h 832"/>
                <a:gd name="T6" fmla="*/ 0 w 838"/>
                <a:gd name="T7" fmla="*/ 0 h 832"/>
                <a:gd name="T8" fmla="*/ 0 w 838"/>
                <a:gd name="T9" fmla="*/ 0 h 832"/>
                <a:gd name="T10" fmla="*/ 0 w 838"/>
                <a:gd name="T11" fmla="*/ 0 h 832"/>
                <a:gd name="T12" fmla="*/ 0 w 838"/>
                <a:gd name="T13" fmla="*/ 0 h 832"/>
                <a:gd name="T14" fmla="*/ 0 w 838"/>
                <a:gd name="T15" fmla="*/ 0 h 832"/>
                <a:gd name="T16" fmla="*/ 0 w 838"/>
                <a:gd name="T17" fmla="*/ 0 h 832"/>
                <a:gd name="T18" fmla="*/ 0 w 838"/>
                <a:gd name="T19" fmla="*/ 0 h 832"/>
                <a:gd name="T20" fmla="*/ 0 w 838"/>
                <a:gd name="T21" fmla="*/ 0 h 832"/>
                <a:gd name="T22" fmla="*/ 0 w 838"/>
                <a:gd name="T23" fmla="*/ 0 h 832"/>
                <a:gd name="T24" fmla="*/ 0 w 838"/>
                <a:gd name="T25" fmla="*/ 0 h 832"/>
                <a:gd name="T26" fmla="*/ 0 w 838"/>
                <a:gd name="T27" fmla="*/ 0 h 832"/>
                <a:gd name="T28" fmla="*/ 0 w 838"/>
                <a:gd name="T29" fmla="*/ 0 h 832"/>
                <a:gd name="T30" fmla="*/ 0 w 838"/>
                <a:gd name="T31" fmla="*/ 0 h 832"/>
                <a:gd name="T32" fmla="*/ 0 w 838"/>
                <a:gd name="T33" fmla="*/ 0 h 832"/>
                <a:gd name="T34" fmla="*/ 0 w 838"/>
                <a:gd name="T35" fmla="*/ 0 h 832"/>
                <a:gd name="T36" fmla="*/ 0 w 838"/>
                <a:gd name="T37" fmla="*/ 0 h 832"/>
                <a:gd name="T38" fmla="*/ 0 w 838"/>
                <a:gd name="T39" fmla="*/ 0 h 832"/>
                <a:gd name="T40" fmla="*/ 0 w 838"/>
                <a:gd name="T41" fmla="*/ 0 h 832"/>
                <a:gd name="T42" fmla="*/ 0 w 838"/>
                <a:gd name="T43" fmla="*/ 0 h 832"/>
                <a:gd name="T44" fmla="*/ 0 w 838"/>
                <a:gd name="T45" fmla="*/ 0 h 832"/>
                <a:gd name="T46" fmla="*/ 0 w 838"/>
                <a:gd name="T47" fmla="*/ 0 h 832"/>
                <a:gd name="T48" fmla="*/ 0 w 838"/>
                <a:gd name="T49" fmla="*/ 0 h 832"/>
                <a:gd name="T50" fmla="*/ 0 w 838"/>
                <a:gd name="T51" fmla="*/ 0 h 832"/>
                <a:gd name="T52" fmla="*/ 0 w 838"/>
                <a:gd name="T53" fmla="*/ 0 h 832"/>
                <a:gd name="T54" fmla="*/ 0 w 838"/>
                <a:gd name="T55" fmla="*/ 0 h 832"/>
                <a:gd name="T56" fmla="*/ 0 w 838"/>
                <a:gd name="T57" fmla="*/ 0 h 832"/>
                <a:gd name="T58" fmla="*/ 0 w 838"/>
                <a:gd name="T59" fmla="*/ 0 h 832"/>
                <a:gd name="T60" fmla="*/ 0 w 838"/>
                <a:gd name="T61" fmla="*/ 0 h 832"/>
                <a:gd name="T62" fmla="*/ 0 w 838"/>
                <a:gd name="T63" fmla="*/ 0 h 832"/>
                <a:gd name="T64" fmla="*/ 0 w 838"/>
                <a:gd name="T65" fmla="*/ 0 h 832"/>
                <a:gd name="T66" fmla="*/ 0 w 838"/>
                <a:gd name="T67" fmla="*/ 0 h 832"/>
                <a:gd name="T68" fmla="*/ 0 w 838"/>
                <a:gd name="T69" fmla="*/ 0 h 832"/>
                <a:gd name="T70" fmla="*/ 0 w 838"/>
                <a:gd name="T71" fmla="*/ 0 h 832"/>
                <a:gd name="T72" fmla="*/ 0 w 838"/>
                <a:gd name="T73" fmla="*/ 0 h 832"/>
                <a:gd name="T74" fmla="*/ 0 w 838"/>
                <a:gd name="T75" fmla="*/ 0 h 832"/>
                <a:gd name="T76" fmla="*/ 0 w 838"/>
                <a:gd name="T77" fmla="*/ 0 h 832"/>
                <a:gd name="T78" fmla="*/ 0 w 838"/>
                <a:gd name="T79" fmla="*/ 0 h 832"/>
                <a:gd name="T80" fmla="*/ 0 w 838"/>
                <a:gd name="T81" fmla="*/ 0 h 832"/>
                <a:gd name="T82" fmla="*/ 0 w 838"/>
                <a:gd name="T83" fmla="*/ 0 h 832"/>
                <a:gd name="T84" fmla="*/ 0 w 838"/>
                <a:gd name="T85" fmla="*/ 0 h 832"/>
                <a:gd name="T86" fmla="*/ 0 w 838"/>
                <a:gd name="T87" fmla="*/ 0 h 832"/>
                <a:gd name="T88" fmla="*/ 0 w 838"/>
                <a:gd name="T89" fmla="*/ 0 h 832"/>
                <a:gd name="T90" fmla="*/ 0 w 838"/>
                <a:gd name="T91" fmla="*/ 0 h 832"/>
                <a:gd name="T92" fmla="*/ 0 w 838"/>
                <a:gd name="T93" fmla="*/ 0 h 832"/>
                <a:gd name="T94" fmla="*/ 0 w 838"/>
                <a:gd name="T95" fmla="*/ 0 h 832"/>
                <a:gd name="T96" fmla="*/ 0 w 838"/>
                <a:gd name="T97" fmla="*/ 0 h 832"/>
                <a:gd name="T98" fmla="*/ 0 w 838"/>
                <a:gd name="T99" fmla="*/ 0 h 832"/>
                <a:gd name="T100" fmla="*/ 0 w 838"/>
                <a:gd name="T101" fmla="*/ 0 h 832"/>
                <a:gd name="T102" fmla="*/ 0 w 838"/>
                <a:gd name="T103" fmla="*/ 0 h 832"/>
                <a:gd name="T104" fmla="*/ 0 w 838"/>
                <a:gd name="T105" fmla="*/ 0 h 832"/>
                <a:gd name="T106" fmla="*/ 0 w 838"/>
                <a:gd name="T107" fmla="*/ 0 h 832"/>
                <a:gd name="T108" fmla="*/ 0 w 838"/>
                <a:gd name="T109" fmla="*/ 0 h 832"/>
                <a:gd name="T110" fmla="*/ 0 w 838"/>
                <a:gd name="T111" fmla="*/ 0 h 83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838" h="832">
                  <a:moveTo>
                    <a:pt x="155" y="0"/>
                  </a:moveTo>
                  <a:lnTo>
                    <a:pt x="253" y="30"/>
                  </a:lnTo>
                  <a:lnTo>
                    <a:pt x="298" y="70"/>
                  </a:lnTo>
                  <a:lnTo>
                    <a:pt x="326" y="153"/>
                  </a:lnTo>
                  <a:lnTo>
                    <a:pt x="326" y="228"/>
                  </a:lnTo>
                  <a:lnTo>
                    <a:pt x="311" y="272"/>
                  </a:lnTo>
                  <a:lnTo>
                    <a:pt x="320" y="350"/>
                  </a:lnTo>
                  <a:lnTo>
                    <a:pt x="320" y="408"/>
                  </a:lnTo>
                  <a:lnTo>
                    <a:pt x="306" y="423"/>
                  </a:lnTo>
                  <a:lnTo>
                    <a:pt x="320" y="445"/>
                  </a:lnTo>
                  <a:lnTo>
                    <a:pt x="329" y="467"/>
                  </a:lnTo>
                  <a:lnTo>
                    <a:pt x="311" y="490"/>
                  </a:lnTo>
                  <a:lnTo>
                    <a:pt x="311" y="513"/>
                  </a:lnTo>
                  <a:lnTo>
                    <a:pt x="347" y="521"/>
                  </a:lnTo>
                  <a:lnTo>
                    <a:pt x="343" y="544"/>
                  </a:lnTo>
                  <a:lnTo>
                    <a:pt x="378" y="557"/>
                  </a:lnTo>
                  <a:lnTo>
                    <a:pt x="411" y="548"/>
                  </a:lnTo>
                  <a:lnTo>
                    <a:pt x="433" y="557"/>
                  </a:lnTo>
                  <a:lnTo>
                    <a:pt x="532" y="571"/>
                  </a:lnTo>
                  <a:lnTo>
                    <a:pt x="622" y="567"/>
                  </a:lnTo>
                  <a:lnTo>
                    <a:pt x="679" y="571"/>
                  </a:lnTo>
                  <a:lnTo>
                    <a:pt x="717" y="594"/>
                  </a:lnTo>
                  <a:lnTo>
                    <a:pt x="807" y="594"/>
                  </a:lnTo>
                  <a:lnTo>
                    <a:pt x="838" y="625"/>
                  </a:lnTo>
                  <a:lnTo>
                    <a:pt x="838" y="660"/>
                  </a:lnTo>
                  <a:lnTo>
                    <a:pt x="833" y="719"/>
                  </a:lnTo>
                  <a:lnTo>
                    <a:pt x="762" y="738"/>
                  </a:lnTo>
                  <a:lnTo>
                    <a:pt x="762" y="700"/>
                  </a:lnTo>
                  <a:lnTo>
                    <a:pt x="757" y="669"/>
                  </a:lnTo>
                  <a:lnTo>
                    <a:pt x="743" y="656"/>
                  </a:lnTo>
                  <a:lnTo>
                    <a:pt x="739" y="692"/>
                  </a:lnTo>
                  <a:lnTo>
                    <a:pt x="734" y="738"/>
                  </a:lnTo>
                  <a:lnTo>
                    <a:pt x="717" y="765"/>
                  </a:lnTo>
                  <a:lnTo>
                    <a:pt x="685" y="800"/>
                  </a:lnTo>
                  <a:lnTo>
                    <a:pt x="610" y="818"/>
                  </a:lnTo>
                  <a:lnTo>
                    <a:pt x="550" y="828"/>
                  </a:lnTo>
                  <a:lnTo>
                    <a:pt x="482" y="832"/>
                  </a:lnTo>
                  <a:lnTo>
                    <a:pt x="569" y="782"/>
                  </a:lnTo>
                  <a:lnTo>
                    <a:pt x="627" y="738"/>
                  </a:lnTo>
                  <a:lnTo>
                    <a:pt x="639" y="700"/>
                  </a:lnTo>
                  <a:lnTo>
                    <a:pt x="631" y="669"/>
                  </a:lnTo>
                  <a:lnTo>
                    <a:pt x="582" y="665"/>
                  </a:lnTo>
                  <a:lnTo>
                    <a:pt x="564" y="700"/>
                  </a:lnTo>
                  <a:lnTo>
                    <a:pt x="550" y="742"/>
                  </a:lnTo>
                  <a:lnTo>
                    <a:pt x="505" y="787"/>
                  </a:lnTo>
                  <a:lnTo>
                    <a:pt x="456" y="823"/>
                  </a:lnTo>
                  <a:lnTo>
                    <a:pt x="406" y="828"/>
                  </a:lnTo>
                  <a:lnTo>
                    <a:pt x="329" y="823"/>
                  </a:lnTo>
                  <a:lnTo>
                    <a:pt x="411" y="759"/>
                  </a:lnTo>
                  <a:lnTo>
                    <a:pt x="469" y="727"/>
                  </a:lnTo>
                  <a:lnTo>
                    <a:pt x="514" y="692"/>
                  </a:lnTo>
                  <a:lnTo>
                    <a:pt x="528" y="665"/>
                  </a:lnTo>
                  <a:lnTo>
                    <a:pt x="524" y="637"/>
                  </a:lnTo>
                  <a:lnTo>
                    <a:pt x="497" y="633"/>
                  </a:lnTo>
                  <a:lnTo>
                    <a:pt x="465" y="660"/>
                  </a:lnTo>
                  <a:lnTo>
                    <a:pt x="447" y="697"/>
                  </a:lnTo>
                  <a:lnTo>
                    <a:pt x="406" y="742"/>
                  </a:lnTo>
                  <a:lnTo>
                    <a:pt x="356" y="765"/>
                  </a:lnTo>
                  <a:lnTo>
                    <a:pt x="320" y="787"/>
                  </a:lnTo>
                  <a:lnTo>
                    <a:pt x="280" y="805"/>
                  </a:lnTo>
                  <a:lnTo>
                    <a:pt x="234" y="813"/>
                  </a:lnTo>
                  <a:lnTo>
                    <a:pt x="181" y="813"/>
                  </a:lnTo>
                  <a:lnTo>
                    <a:pt x="129" y="804"/>
                  </a:lnTo>
                  <a:lnTo>
                    <a:pt x="244" y="765"/>
                  </a:lnTo>
                  <a:lnTo>
                    <a:pt x="288" y="742"/>
                  </a:lnTo>
                  <a:lnTo>
                    <a:pt x="320" y="700"/>
                  </a:lnTo>
                  <a:lnTo>
                    <a:pt x="326" y="665"/>
                  </a:lnTo>
                  <a:lnTo>
                    <a:pt x="298" y="665"/>
                  </a:lnTo>
                  <a:lnTo>
                    <a:pt x="285" y="697"/>
                  </a:lnTo>
                  <a:lnTo>
                    <a:pt x="262" y="723"/>
                  </a:lnTo>
                  <a:lnTo>
                    <a:pt x="225" y="751"/>
                  </a:lnTo>
                  <a:lnTo>
                    <a:pt x="185" y="779"/>
                  </a:lnTo>
                  <a:lnTo>
                    <a:pt x="132" y="802"/>
                  </a:lnTo>
                  <a:lnTo>
                    <a:pt x="91" y="787"/>
                  </a:lnTo>
                  <a:lnTo>
                    <a:pt x="72" y="765"/>
                  </a:lnTo>
                  <a:lnTo>
                    <a:pt x="42" y="709"/>
                  </a:lnTo>
                  <a:lnTo>
                    <a:pt x="100" y="697"/>
                  </a:lnTo>
                  <a:lnTo>
                    <a:pt x="212" y="683"/>
                  </a:lnTo>
                  <a:lnTo>
                    <a:pt x="280" y="652"/>
                  </a:lnTo>
                  <a:lnTo>
                    <a:pt x="315" y="621"/>
                  </a:lnTo>
                  <a:lnTo>
                    <a:pt x="329" y="585"/>
                  </a:lnTo>
                  <a:lnTo>
                    <a:pt x="334" y="567"/>
                  </a:lnTo>
                  <a:lnTo>
                    <a:pt x="315" y="567"/>
                  </a:lnTo>
                  <a:lnTo>
                    <a:pt x="293" y="594"/>
                  </a:lnTo>
                  <a:lnTo>
                    <a:pt x="257" y="642"/>
                  </a:lnTo>
                  <a:lnTo>
                    <a:pt x="176" y="669"/>
                  </a:lnTo>
                  <a:lnTo>
                    <a:pt x="100" y="693"/>
                  </a:lnTo>
                  <a:lnTo>
                    <a:pt x="42" y="709"/>
                  </a:lnTo>
                  <a:lnTo>
                    <a:pt x="19" y="616"/>
                  </a:lnTo>
                  <a:lnTo>
                    <a:pt x="14" y="548"/>
                  </a:lnTo>
                  <a:lnTo>
                    <a:pt x="14" y="489"/>
                  </a:lnTo>
                  <a:lnTo>
                    <a:pt x="91" y="530"/>
                  </a:lnTo>
                  <a:lnTo>
                    <a:pt x="181" y="548"/>
                  </a:lnTo>
                  <a:lnTo>
                    <a:pt x="253" y="544"/>
                  </a:lnTo>
                  <a:lnTo>
                    <a:pt x="271" y="536"/>
                  </a:lnTo>
                  <a:lnTo>
                    <a:pt x="280" y="513"/>
                  </a:lnTo>
                  <a:lnTo>
                    <a:pt x="239" y="513"/>
                  </a:lnTo>
                  <a:lnTo>
                    <a:pt x="196" y="526"/>
                  </a:lnTo>
                  <a:lnTo>
                    <a:pt x="88" y="530"/>
                  </a:lnTo>
                  <a:lnTo>
                    <a:pt x="14" y="490"/>
                  </a:lnTo>
                  <a:lnTo>
                    <a:pt x="10" y="405"/>
                  </a:lnTo>
                  <a:lnTo>
                    <a:pt x="5" y="345"/>
                  </a:lnTo>
                  <a:lnTo>
                    <a:pt x="0" y="287"/>
                  </a:lnTo>
                  <a:lnTo>
                    <a:pt x="10" y="188"/>
                  </a:lnTo>
                  <a:lnTo>
                    <a:pt x="32" y="153"/>
                  </a:lnTo>
                  <a:lnTo>
                    <a:pt x="100" y="108"/>
                  </a:lnTo>
                  <a:lnTo>
                    <a:pt x="78" y="113"/>
                  </a:lnTo>
                  <a:lnTo>
                    <a:pt x="10" y="143"/>
                  </a:lnTo>
                  <a:lnTo>
                    <a:pt x="37" y="81"/>
                  </a:lnTo>
                  <a:lnTo>
                    <a:pt x="60" y="48"/>
                  </a:lnTo>
                  <a:lnTo>
                    <a:pt x="78" y="26"/>
                  </a:lnTo>
                  <a:lnTo>
                    <a:pt x="155"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7" name="Freeform 180"/>
            <p:cNvSpPr>
              <a:spLocks/>
            </p:cNvSpPr>
            <p:nvPr/>
          </p:nvSpPr>
          <p:spPr bwMode="auto">
            <a:xfrm>
              <a:off x="231" y="1940"/>
              <a:ext cx="42" cy="38"/>
            </a:xfrm>
            <a:custGeom>
              <a:avLst/>
              <a:gdLst>
                <a:gd name="T0" fmla="*/ 0 w 209"/>
                <a:gd name="T1" fmla="*/ 0 h 187"/>
                <a:gd name="T2" fmla="*/ 0 w 209"/>
                <a:gd name="T3" fmla="*/ 0 h 187"/>
                <a:gd name="T4" fmla="*/ 0 w 209"/>
                <a:gd name="T5" fmla="*/ 0 h 187"/>
                <a:gd name="T6" fmla="*/ 0 w 209"/>
                <a:gd name="T7" fmla="*/ 0 h 187"/>
                <a:gd name="T8" fmla="*/ 0 w 209"/>
                <a:gd name="T9" fmla="*/ 0 h 187"/>
                <a:gd name="T10" fmla="*/ 0 w 209"/>
                <a:gd name="T11" fmla="*/ 0 h 187"/>
                <a:gd name="T12" fmla="*/ 0 w 209"/>
                <a:gd name="T13" fmla="*/ 0 h 187"/>
                <a:gd name="T14" fmla="*/ 0 w 209"/>
                <a:gd name="T15" fmla="*/ 0 h 187"/>
                <a:gd name="T16" fmla="*/ 0 w 209"/>
                <a:gd name="T17" fmla="*/ 0 h 187"/>
                <a:gd name="T18" fmla="*/ 0 w 209"/>
                <a:gd name="T19" fmla="*/ 0 h 187"/>
                <a:gd name="T20" fmla="*/ 0 w 209"/>
                <a:gd name="T21" fmla="*/ 0 h 187"/>
                <a:gd name="T22" fmla="*/ 0 w 209"/>
                <a:gd name="T23" fmla="*/ 0 h 187"/>
                <a:gd name="T24" fmla="*/ 0 w 209"/>
                <a:gd name="T25" fmla="*/ 0 h 187"/>
                <a:gd name="T26" fmla="*/ 0 w 209"/>
                <a:gd name="T27" fmla="*/ 0 h 187"/>
                <a:gd name="T28" fmla="*/ 0 w 209"/>
                <a:gd name="T29" fmla="*/ 0 h 187"/>
                <a:gd name="T30" fmla="*/ 0 w 209"/>
                <a:gd name="T31" fmla="*/ 0 h 187"/>
                <a:gd name="T32" fmla="*/ 0 w 209"/>
                <a:gd name="T33" fmla="*/ 0 h 187"/>
                <a:gd name="T34" fmla="*/ 0 w 209"/>
                <a:gd name="T35" fmla="*/ 0 h 187"/>
                <a:gd name="T36" fmla="*/ 0 w 209"/>
                <a:gd name="T37" fmla="*/ 0 h 187"/>
                <a:gd name="T38" fmla="*/ 0 w 209"/>
                <a:gd name="T39" fmla="*/ 0 h 187"/>
                <a:gd name="T40" fmla="*/ 0 w 209"/>
                <a:gd name="T41" fmla="*/ 0 h 187"/>
                <a:gd name="T42" fmla="*/ 0 w 209"/>
                <a:gd name="T43" fmla="*/ 0 h 187"/>
                <a:gd name="T44" fmla="*/ 0 w 209"/>
                <a:gd name="T45" fmla="*/ 0 h 187"/>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09" h="187">
                  <a:moveTo>
                    <a:pt x="209" y="0"/>
                  </a:moveTo>
                  <a:lnTo>
                    <a:pt x="209" y="15"/>
                  </a:lnTo>
                  <a:lnTo>
                    <a:pt x="182" y="51"/>
                  </a:lnTo>
                  <a:lnTo>
                    <a:pt x="157" y="71"/>
                  </a:lnTo>
                  <a:lnTo>
                    <a:pt x="100" y="113"/>
                  </a:lnTo>
                  <a:lnTo>
                    <a:pt x="77" y="130"/>
                  </a:lnTo>
                  <a:lnTo>
                    <a:pt x="25" y="170"/>
                  </a:lnTo>
                  <a:lnTo>
                    <a:pt x="82" y="152"/>
                  </a:lnTo>
                  <a:lnTo>
                    <a:pt x="140" y="135"/>
                  </a:lnTo>
                  <a:lnTo>
                    <a:pt x="198" y="130"/>
                  </a:lnTo>
                  <a:lnTo>
                    <a:pt x="194" y="147"/>
                  </a:lnTo>
                  <a:lnTo>
                    <a:pt x="100" y="164"/>
                  </a:lnTo>
                  <a:lnTo>
                    <a:pt x="52" y="184"/>
                  </a:lnTo>
                  <a:lnTo>
                    <a:pt x="25" y="187"/>
                  </a:lnTo>
                  <a:lnTo>
                    <a:pt x="2" y="180"/>
                  </a:lnTo>
                  <a:lnTo>
                    <a:pt x="0" y="158"/>
                  </a:lnTo>
                  <a:lnTo>
                    <a:pt x="18" y="141"/>
                  </a:lnTo>
                  <a:lnTo>
                    <a:pt x="44" y="116"/>
                  </a:lnTo>
                  <a:lnTo>
                    <a:pt x="75" y="80"/>
                  </a:lnTo>
                  <a:lnTo>
                    <a:pt x="107" y="40"/>
                  </a:lnTo>
                  <a:lnTo>
                    <a:pt x="144" y="12"/>
                  </a:lnTo>
                  <a:lnTo>
                    <a:pt x="184" y="2"/>
                  </a:lnTo>
                  <a:lnTo>
                    <a:pt x="209"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8" name="Freeform 181"/>
            <p:cNvSpPr>
              <a:spLocks/>
            </p:cNvSpPr>
            <p:nvPr/>
          </p:nvSpPr>
          <p:spPr bwMode="auto">
            <a:xfrm>
              <a:off x="232" y="1909"/>
              <a:ext cx="39" cy="49"/>
            </a:xfrm>
            <a:custGeom>
              <a:avLst/>
              <a:gdLst>
                <a:gd name="T0" fmla="*/ 0 w 192"/>
                <a:gd name="T1" fmla="*/ 0 h 246"/>
                <a:gd name="T2" fmla="*/ 0 w 192"/>
                <a:gd name="T3" fmla="*/ 0 h 246"/>
                <a:gd name="T4" fmla="*/ 0 w 192"/>
                <a:gd name="T5" fmla="*/ 0 h 246"/>
                <a:gd name="T6" fmla="*/ 0 w 192"/>
                <a:gd name="T7" fmla="*/ 0 h 246"/>
                <a:gd name="T8" fmla="*/ 0 w 192"/>
                <a:gd name="T9" fmla="*/ 0 h 246"/>
                <a:gd name="T10" fmla="*/ 0 w 192"/>
                <a:gd name="T11" fmla="*/ 0 h 246"/>
                <a:gd name="T12" fmla="*/ 0 w 192"/>
                <a:gd name="T13" fmla="*/ 0 h 246"/>
                <a:gd name="T14" fmla="*/ 0 w 192"/>
                <a:gd name="T15" fmla="*/ 0 h 246"/>
                <a:gd name="T16" fmla="*/ 0 w 192"/>
                <a:gd name="T17" fmla="*/ 0 h 246"/>
                <a:gd name="T18" fmla="*/ 0 w 192"/>
                <a:gd name="T19" fmla="*/ 0 h 246"/>
                <a:gd name="T20" fmla="*/ 0 w 192"/>
                <a:gd name="T21" fmla="*/ 0 h 246"/>
                <a:gd name="T22" fmla="*/ 0 w 192"/>
                <a:gd name="T23" fmla="*/ 0 h 246"/>
                <a:gd name="T24" fmla="*/ 0 w 192"/>
                <a:gd name="T25" fmla="*/ 0 h 246"/>
                <a:gd name="T26" fmla="*/ 0 w 192"/>
                <a:gd name="T27" fmla="*/ 0 h 246"/>
                <a:gd name="T28" fmla="*/ 0 w 192"/>
                <a:gd name="T29" fmla="*/ 0 h 246"/>
                <a:gd name="T30" fmla="*/ 0 w 192"/>
                <a:gd name="T31" fmla="*/ 0 h 246"/>
                <a:gd name="T32" fmla="*/ 0 w 192"/>
                <a:gd name="T33" fmla="*/ 0 h 24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92" h="246">
                  <a:moveTo>
                    <a:pt x="156" y="0"/>
                  </a:moveTo>
                  <a:lnTo>
                    <a:pt x="183" y="4"/>
                  </a:lnTo>
                  <a:lnTo>
                    <a:pt x="192" y="27"/>
                  </a:lnTo>
                  <a:lnTo>
                    <a:pt x="190" y="46"/>
                  </a:lnTo>
                  <a:lnTo>
                    <a:pt x="174" y="71"/>
                  </a:lnTo>
                  <a:lnTo>
                    <a:pt x="152" y="78"/>
                  </a:lnTo>
                  <a:lnTo>
                    <a:pt x="110" y="106"/>
                  </a:lnTo>
                  <a:lnTo>
                    <a:pt x="69" y="140"/>
                  </a:lnTo>
                  <a:lnTo>
                    <a:pt x="41" y="184"/>
                  </a:lnTo>
                  <a:lnTo>
                    <a:pt x="8" y="231"/>
                  </a:lnTo>
                  <a:lnTo>
                    <a:pt x="0" y="246"/>
                  </a:lnTo>
                  <a:lnTo>
                    <a:pt x="8" y="190"/>
                  </a:lnTo>
                  <a:lnTo>
                    <a:pt x="16" y="141"/>
                  </a:lnTo>
                  <a:lnTo>
                    <a:pt x="31" y="99"/>
                  </a:lnTo>
                  <a:lnTo>
                    <a:pt x="57" y="60"/>
                  </a:lnTo>
                  <a:lnTo>
                    <a:pt x="128" y="6"/>
                  </a:lnTo>
                  <a:lnTo>
                    <a:pt x="156"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9" name="Freeform 182"/>
            <p:cNvSpPr>
              <a:spLocks/>
            </p:cNvSpPr>
            <p:nvPr/>
          </p:nvSpPr>
          <p:spPr bwMode="auto">
            <a:xfrm>
              <a:off x="237" y="1860"/>
              <a:ext cx="41" cy="29"/>
            </a:xfrm>
            <a:custGeom>
              <a:avLst/>
              <a:gdLst>
                <a:gd name="T0" fmla="*/ 0 w 204"/>
                <a:gd name="T1" fmla="*/ 0 h 141"/>
                <a:gd name="T2" fmla="*/ 0 w 204"/>
                <a:gd name="T3" fmla="*/ 0 h 141"/>
                <a:gd name="T4" fmla="*/ 0 w 204"/>
                <a:gd name="T5" fmla="*/ 0 h 141"/>
                <a:gd name="T6" fmla="*/ 0 w 204"/>
                <a:gd name="T7" fmla="*/ 0 h 141"/>
                <a:gd name="T8" fmla="*/ 0 w 204"/>
                <a:gd name="T9" fmla="*/ 0 h 141"/>
                <a:gd name="T10" fmla="*/ 0 w 204"/>
                <a:gd name="T11" fmla="*/ 0 h 141"/>
                <a:gd name="T12" fmla="*/ 0 w 204"/>
                <a:gd name="T13" fmla="*/ 0 h 141"/>
                <a:gd name="T14" fmla="*/ 0 w 204"/>
                <a:gd name="T15" fmla="*/ 0 h 141"/>
                <a:gd name="T16" fmla="*/ 0 w 204"/>
                <a:gd name="T17" fmla="*/ 0 h 141"/>
                <a:gd name="T18" fmla="*/ 0 w 204"/>
                <a:gd name="T19" fmla="*/ 0 h 14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04" h="141">
                  <a:moveTo>
                    <a:pt x="204" y="141"/>
                  </a:moveTo>
                  <a:lnTo>
                    <a:pt x="169" y="110"/>
                  </a:lnTo>
                  <a:lnTo>
                    <a:pt x="111" y="89"/>
                  </a:lnTo>
                  <a:lnTo>
                    <a:pt x="71" y="78"/>
                  </a:lnTo>
                  <a:lnTo>
                    <a:pt x="0" y="0"/>
                  </a:lnTo>
                  <a:lnTo>
                    <a:pt x="53" y="30"/>
                  </a:lnTo>
                  <a:lnTo>
                    <a:pt x="103" y="51"/>
                  </a:lnTo>
                  <a:lnTo>
                    <a:pt x="138" y="69"/>
                  </a:lnTo>
                  <a:lnTo>
                    <a:pt x="155" y="89"/>
                  </a:lnTo>
                  <a:lnTo>
                    <a:pt x="204" y="14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0" name="Freeform 183"/>
            <p:cNvSpPr>
              <a:spLocks/>
            </p:cNvSpPr>
            <p:nvPr/>
          </p:nvSpPr>
          <p:spPr bwMode="auto">
            <a:xfrm>
              <a:off x="286" y="1913"/>
              <a:ext cx="23" cy="73"/>
            </a:xfrm>
            <a:custGeom>
              <a:avLst/>
              <a:gdLst>
                <a:gd name="T0" fmla="*/ 0 w 115"/>
                <a:gd name="T1" fmla="*/ 0 h 368"/>
                <a:gd name="T2" fmla="*/ 0 w 115"/>
                <a:gd name="T3" fmla="*/ 0 h 368"/>
                <a:gd name="T4" fmla="*/ 0 w 115"/>
                <a:gd name="T5" fmla="*/ 0 h 368"/>
                <a:gd name="T6" fmla="*/ 0 w 115"/>
                <a:gd name="T7" fmla="*/ 0 h 368"/>
                <a:gd name="T8" fmla="*/ 0 w 115"/>
                <a:gd name="T9" fmla="*/ 0 h 368"/>
                <a:gd name="T10" fmla="*/ 0 w 115"/>
                <a:gd name="T11" fmla="*/ 0 h 368"/>
                <a:gd name="T12" fmla="*/ 0 w 115"/>
                <a:gd name="T13" fmla="*/ 0 h 368"/>
                <a:gd name="T14" fmla="*/ 0 w 115"/>
                <a:gd name="T15" fmla="*/ 0 h 368"/>
                <a:gd name="T16" fmla="*/ 0 w 115"/>
                <a:gd name="T17" fmla="*/ 0 h 368"/>
                <a:gd name="T18" fmla="*/ 0 w 115"/>
                <a:gd name="T19" fmla="*/ 0 h 368"/>
                <a:gd name="T20" fmla="*/ 0 w 115"/>
                <a:gd name="T21" fmla="*/ 0 h 368"/>
                <a:gd name="T22" fmla="*/ 0 w 115"/>
                <a:gd name="T23" fmla="*/ 0 h 368"/>
                <a:gd name="T24" fmla="*/ 0 w 115"/>
                <a:gd name="T25" fmla="*/ 0 h 368"/>
                <a:gd name="T26" fmla="*/ 0 w 115"/>
                <a:gd name="T27" fmla="*/ 0 h 368"/>
                <a:gd name="T28" fmla="*/ 0 w 115"/>
                <a:gd name="T29" fmla="*/ 0 h 368"/>
                <a:gd name="T30" fmla="*/ 0 w 115"/>
                <a:gd name="T31" fmla="*/ 0 h 368"/>
                <a:gd name="T32" fmla="*/ 0 w 115"/>
                <a:gd name="T33" fmla="*/ 0 h 368"/>
                <a:gd name="T34" fmla="*/ 0 w 115"/>
                <a:gd name="T35" fmla="*/ 0 h 368"/>
                <a:gd name="T36" fmla="*/ 0 w 115"/>
                <a:gd name="T37" fmla="*/ 0 h 36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5" h="368">
                  <a:moveTo>
                    <a:pt x="115" y="368"/>
                  </a:moveTo>
                  <a:lnTo>
                    <a:pt x="58" y="368"/>
                  </a:lnTo>
                  <a:lnTo>
                    <a:pt x="40" y="364"/>
                  </a:lnTo>
                  <a:lnTo>
                    <a:pt x="40" y="349"/>
                  </a:lnTo>
                  <a:lnTo>
                    <a:pt x="28" y="336"/>
                  </a:lnTo>
                  <a:lnTo>
                    <a:pt x="9" y="323"/>
                  </a:lnTo>
                  <a:lnTo>
                    <a:pt x="19" y="309"/>
                  </a:lnTo>
                  <a:lnTo>
                    <a:pt x="19" y="291"/>
                  </a:lnTo>
                  <a:lnTo>
                    <a:pt x="5" y="269"/>
                  </a:lnTo>
                  <a:lnTo>
                    <a:pt x="5" y="246"/>
                  </a:lnTo>
                  <a:lnTo>
                    <a:pt x="14" y="219"/>
                  </a:lnTo>
                  <a:lnTo>
                    <a:pt x="14" y="161"/>
                  </a:lnTo>
                  <a:lnTo>
                    <a:pt x="0" y="107"/>
                  </a:lnTo>
                  <a:lnTo>
                    <a:pt x="5" y="67"/>
                  </a:lnTo>
                  <a:lnTo>
                    <a:pt x="5" y="0"/>
                  </a:lnTo>
                  <a:lnTo>
                    <a:pt x="40" y="101"/>
                  </a:lnTo>
                  <a:lnTo>
                    <a:pt x="71" y="197"/>
                  </a:lnTo>
                  <a:lnTo>
                    <a:pt x="93" y="300"/>
                  </a:lnTo>
                  <a:lnTo>
                    <a:pt x="115" y="368"/>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1" name="Freeform 184"/>
            <p:cNvSpPr>
              <a:spLocks/>
            </p:cNvSpPr>
            <p:nvPr/>
          </p:nvSpPr>
          <p:spPr bwMode="auto">
            <a:xfrm>
              <a:off x="233" y="1992"/>
              <a:ext cx="41" cy="14"/>
            </a:xfrm>
            <a:custGeom>
              <a:avLst/>
              <a:gdLst>
                <a:gd name="T0" fmla="*/ 0 w 206"/>
                <a:gd name="T1" fmla="*/ 0 h 69"/>
                <a:gd name="T2" fmla="*/ 0 w 206"/>
                <a:gd name="T3" fmla="*/ 0 h 69"/>
                <a:gd name="T4" fmla="*/ 0 w 206"/>
                <a:gd name="T5" fmla="*/ 0 h 69"/>
                <a:gd name="T6" fmla="*/ 0 w 206"/>
                <a:gd name="T7" fmla="*/ 0 h 69"/>
                <a:gd name="T8" fmla="*/ 0 w 206"/>
                <a:gd name="T9" fmla="*/ 0 h 69"/>
                <a:gd name="T10" fmla="*/ 0 w 206"/>
                <a:gd name="T11" fmla="*/ 0 h 69"/>
                <a:gd name="T12" fmla="*/ 0 w 206"/>
                <a:gd name="T13" fmla="*/ 0 h 69"/>
                <a:gd name="T14" fmla="*/ 0 w 206"/>
                <a:gd name="T15" fmla="*/ 0 h 69"/>
                <a:gd name="T16" fmla="*/ 0 w 206"/>
                <a:gd name="T17" fmla="*/ 0 h 69"/>
                <a:gd name="T18" fmla="*/ 0 w 206"/>
                <a:gd name="T19" fmla="*/ 0 h 69"/>
                <a:gd name="T20" fmla="*/ 0 w 206"/>
                <a:gd name="T21" fmla="*/ 0 h 69"/>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06" h="69">
                  <a:moveTo>
                    <a:pt x="42" y="34"/>
                  </a:moveTo>
                  <a:lnTo>
                    <a:pt x="87" y="15"/>
                  </a:lnTo>
                  <a:lnTo>
                    <a:pt x="129" y="3"/>
                  </a:lnTo>
                  <a:lnTo>
                    <a:pt x="184" y="0"/>
                  </a:lnTo>
                  <a:lnTo>
                    <a:pt x="206" y="4"/>
                  </a:lnTo>
                  <a:lnTo>
                    <a:pt x="196" y="26"/>
                  </a:lnTo>
                  <a:lnTo>
                    <a:pt x="174" y="43"/>
                  </a:lnTo>
                  <a:lnTo>
                    <a:pt x="126" y="57"/>
                  </a:lnTo>
                  <a:lnTo>
                    <a:pt x="50" y="69"/>
                  </a:lnTo>
                  <a:lnTo>
                    <a:pt x="0" y="65"/>
                  </a:lnTo>
                  <a:lnTo>
                    <a:pt x="42" y="3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2" name="Freeform 185"/>
            <p:cNvSpPr>
              <a:spLocks/>
            </p:cNvSpPr>
            <p:nvPr/>
          </p:nvSpPr>
          <p:spPr bwMode="auto">
            <a:xfrm>
              <a:off x="284" y="1999"/>
              <a:ext cx="25" cy="31"/>
            </a:xfrm>
            <a:custGeom>
              <a:avLst/>
              <a:gdLst>
                <a:gd name="T0" fmla="*/ 0 w 124"/>
                <a:gd name="T1" fmla="*/ 0 h 154"/>
                <a:gd name="T2" fmla="*/ 0 w 124"/>
                <a:gd name="T3" fmla="*/ 0 h 154"/>
                <a:gd name="T4" fmla="*/ 0 w 124"/>
                <a:gd name="T5" fmla="*/ 0 h 154"/>
                <a:gd name="T6" fmla="*/ 0 w 124"/>
                <a:gd name="T7" fmla="*/ 0 h 154"/>
                <a:gd name="T8" fmla="*/ 0 w 124"/>
                <a:gd name="T9" fmla="*/ 0 h 154"/>
                <a:gd name="T10" fmla="*/ 0 w 124"/>
                <a:gd name="T11" fmla="*/ 0 h 154"/>
                <a:gd name="T12" fmla="*/ 0 w 124"/>
                <a:gd name="T13" fmla="*/ 0 h 154"/>
                <a:gd name="T14" fmla="*/ 0 w 124"/>
                <a:gd name="T15" fmla="*/ 0 h 154"/>
                <a:gd name="T16" fmla="*/ 0 w 124"/>
                <a:gd name="T17" fmla="*/ 0 h 154"/>
                <a:gd name="T18" fmla="*/ 0 w 124"/>
                <a:gd name="T19" fmla="*/ 0 h 154"/>
                <a:gd name="T20" fmla="*/ 0 w 124"/>
                <a:gd name="T21" fmla="*/ 0 h 154"/>
                <a:gd name="T22" fmla="*/ 0 w 124"/>
                <a:gd name="T23" fmla="*/ 0 h 154"/>
                <a:gd name="T24" fmla="*/ 0 w 124"/>
                <a:gd name="T25" fmla="*/ 0 h 15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24" h="154">
                  <a:moveTo>
                    <a:pt x="67" y="43"/>
                  </a:moveTo>
                  <a:lnTo>
                    <a:pt x="82" y="9"/>
                  </a:lnTo>
                  <a:lnTo>
                    <a:pt x="106" y="0"/>
                  </a:lnTo>
                  <a:lnTo>
                    <a:pt x="122" y="7"/>
                  </a:lnTo>
                  <a:lnTo>
                    <a:pt x="124" y="25"/>
                  </a:lnTo>
                  <a:lnTo>
                    <a:pt x="114" y="55"/>
                  </a:lnTo>
                  <a:lnTo>
                    <a:pt x="95" y="82"/>
                  </a:lnTo>
                  <a:lnTo>
                    <a:pt x="73" y="108"/>
                  </a:lnTo>
                  <a:lnTo>
                    <a:pt x="45" y="133"/>
                  </a:lnTo>
                  <a:lnTo>
                    <a:pt x="0" y="154"/>
                  </a:lnTo>
                  <a:lnTo>
                    <a:pt x="40" y="110"/>
                  </a:lnTo>
                  <a:lnTo>
                    <a:pt x="53" y="78"/>
                  </a:lnTo>
                  <a:lnTo>
                    <a:pt x="67" y="4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3" name="Freeform 186"/>
            <p:cNvSpPr>
              <a:spLocks/>
            </p:cNvSpPr>
            <p:nvPr/>
          </p:nvSpPr>
          <p:spPr bwMode="auto">
            <a:xfrm>
              <a:off x="208" y="1836"/>
              <a:ext cx="60" cy="37"/>
            </a:xfrm>
            <a:custGeom>
              <a:avLst/>
              <a:gdLst>
                <a:gd name="T0" fmla="*/ 0 w 298"/>
                <a:gd name="T1" fmla="*/ 0 h 186"/>
                <a:gd name="T2" fmla="*/ 0 w 298"/>
                <a:gd name="T3" fmla="*/ 0 h 186"/>
                <a:gd name="T4" fmla="*/ 0 w 298"/>
                <a:gd name="T5" fmla="*/ 0 h 186"/>
                <a:gd name="T6" fmla="*/ 0 w 298"/>
                <a:gd name="T7" fmla="*/ 0 h 186"/>
                <a:gd name="T8" fmla="*/ 0 w 298"/>
                <a:gd name="T9" fmla="*/ 0 h 186"/>
                <a:gd name="T10" fmla="*/ 0 w 298"/>
                <a:gd name="T11" fmla="*/ 0 h 186"/>
                <a:gd name="T12" fmla="*/ 0 w 298"/>
                <a:gd name="T13" fmla="*/ 0 h 186"/>
                <a:gd name="T14" fmla="*/ 0 w 298"/>
                <a:gd name="T15" fmla="*/ 0 h 186"/>
                <a:gd name="T16" fmla="*/ 0 w 298"/>
                <a:gd name="T17" fmla="*/ 0 h 186"/>
                <a:gd name="T18" fmla="*/ 0 w 298"/>
                <a:gd name="T19" fmla="*/ 0 h 186"/>
                <a:gd name="T20" fmla="*/ 0 w 298"/>
                <a:gd name="T21" fmla="*/ 0 h 186"/>
                <a:gd name="T22" fmla="*/ 0 w 298"/>
                <a:gd name="T23" fmla="*/ 0 h 18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98" h="186">
                  <a:moveTo>
                    <a:pt x="298" y="186"/>
                  </a:moveTo>
                  <a:lnTo>
                    <a:pt x="289" y="109"/>
                  </a:lnTo>
                  <a:lnTo>
                    <a:pt x="226" y="82"/>
                  </a:lnTo>
                  <a:lnTo>
                    <a:pt x="142" y="49"/>
                  </a:lnTo>
                  <a:lnTo>
                    <a:pt x="80" y="25"/>
                  </a:lnTo>
                  <a:lnTo>
                    <a:pt x="23" y="0"/>
                  </a:lnTo>
                  <a:lnTo>
                    <a:pt x="0" y="53"/>
                  </a:lnTo>
                  <a:lnTo>
                    <a:pt x="55" y="84"/>
                  </a:lnTo>
                  <a:lnTo>
                    <a:pt x="119" y="107"/>
                  </a:lnTo>
                  <a:lnTo>
                    <a:pt x="168" y="122"/>
                  </a:lnTo>
                  <a:lnTo>
                    <a:pt x="229" y="154"/>
                  </a:lnTo>
                  <a:lnTo>
                    <a:pt x="298" y="186"/>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94" name="Group 187"/>
          <p:cNvGrpSpPr>
            <a:grpSpLocks/>
          </p:cNvGrpSpPr>
          <p:nvPr/>
        </p:nvGrpSpPr>
        <p:grpSpPr bwMode="auto">
          <a:xfrm>
            <a:off x="1794400" y="3380007"/>
            <a:ext cx="123814" cy="155175"/>
            <a:chOff x="141" y="2010"/>
            <a:chExt cx="123" cy="167"/>
          </a:xfrm>
        </p:grpSpPr>
        <p:sp>
          <p:nvSpPr>
            <p:cNvPr id="195" name="Freeform 188"/>
            <p:cNvSpPr>
              <a:spLocks/>
            </p:cNvSpPr>
            <p:nvPr/>
          </p:nvSpPr>
          <p:spPr bwMode="auto">
            <a:xfrm>
              <a:off x="141" y="2010"/>
              <a:ext cx="123" cy="167"/>
            </a:xfrm>
            <a:custGeom>
              <a:avLst/>
              <a:gdLst>
                <a:gd name="T0" fmla="*/ 0 w 617"/>
                <a:gd name="T1" fmla="*/ 0 h 835"/>
                <a:gd name="T2" fmla="*/ 0 w 617"/>
                <a:gd name="T3" fmla="*/ 0 h 835"/>
                <a:gd name="T4" fmla="*/ 0 w 617"/>
                <a:gd name="T5" fmla="*/ 0 h 835"/>
                <a:gd name="T6" fmla="*/ 0 w 617"/>
                <a:gd name="T7" fmla="*/ 0 h 835"/>
                <a:gd name="T8" fmla="*/ 0 w 617"/>
                <a:gd name="T9" fmla="*/ 0 h 835"/>
                <a:gd name="T10" fmla="*/ 0 w 617"/>
                <a:gd name="T11" fmla="*/ 0 h 835"/>
                <a:gd name="T12" fmla="*/ 0 w 617"/>
                <a:gd name="T13" fmla="*/ 0 h 835"/>
                <a:gd name="T14" fmla="*/ 0 w 617"/>
                <a:gd name="T15" fmla="*/ 0 h 835"/>
                <a:gd name="T16" fmla="*/ 0 w 617"/>
                <a:gd name="T17" fmla="*/ 0 h 835"/>
                <a:gd name="T18" fmla="*/ 0 w 617"/>
                <a:gd name="T19" fmla="*/ 0 h 835"/>
                <a:gd name="T20" fmla="*/ 0 w 617"/>
                <a:gd name="T21" fmla="*/ 0 h 835"/>
                <a:gd name="T22" fmla="*/ 0 w 617"/>
                <a:gd name="T23" fmla="*/ 0 h 835"/>
                <a:gd name="T24" fmla="*/ 0 w 617"/>
                <a:gd name="T25" fmla="*/ 0 h 835"/>
                <a:gd name="T26" fmla="*/ 0 w 617"/>
                <a:gd name="T27" fmla="*/ 0 h 835"/>
                <a:gd name="T28" fmla="*/ 0 w 617"/>
                <a:gd name="T29" fmla="*/ 0 h 835"/>
                <a:gd name="T30" fmla="*/ 0 w 617"/>
                <a:gd name="T31" fmla="*/ 0 h 835"/>
                <a:gd name="T32" fmla="*/ 0 w 617"/>
                <a:gd name="T33" fmla="*/ 0 h 835"/>
                <a:gd name="T34" fmla="*/ 0 w 617"/>
                <a:gd name="T35" fmla="*/ 0 h 835"/>
                <a:gd name="T36" fmla="*/ 0 w 617"/>
                <a:gd name="T37" fmla="*/ 0 h 835"/>
                <a:gd name="T38" fmla="*/ 0 w 617"/>
                <a:gd name="T39" fmla="*/ 0 h 835"/>
                <a:gd name="T40" fmla="*/ 0 w 617"/>
                <a:gd name="T41" fmla="*/ 0 h 835"/>
                <a:gd name="T42" fmla="*/ 0 w 617"/>
                <a:gd name="T43" fmla="*/ 0 h 835"/>
                <a:gd name="T44" fmla="*/ 0 w 617"/>
                <a:gd name="T45" fmla="*/ 0 h 835"/>
                <a:gd name="T46" fmla="*/ 0 w 617"/>
                <a:gd name="T47" fmla="*/ 0 h 835"/>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617" h="835">
                  <a:moveTo>
                    <a:pt x="342" y="123"/>
                  </a:moveTo>
                  <a:lnTo>
                    <a:pt x="229" y="113"/>
                  </a:lnTo>
                  <a:lnTo>
                    <a:pt x="160" y="96"/>
                  </a:lnTo>
                  <a:lnTo>
                    <a:pt x="139" y="64"/>
                  </a:lnTo>
                  <a:lnTo>
                    <a:pt x="139" y="38"/>
                  </a:lnTo>
                  <a:lnTo>
                    <a:pt x="121" y="15"/>
                  </a:lnTo>
                  <a:lnTo>
                    <a:pt x="58" y="0"/>
                  </a:lnTo>
                  <a:lnTo>
                    <a:pt x="0" y="5"/>
                  </a:lnTo>
                  <a:lnTo>
                    <a:pt x="70" y="650"/>
                  </a:lnTo>
                  <a:lnTo>
                    <a:pt x="121" y="710"/>
                  </a:lnTo>
                  <a:lnTo>
                    <a:pt x="183" y="768"/>
                  </a:lnTo>
                  <a:lnTo>
                    <a:pt x="273" y="813"/>
                  </a:lnTo>
                  <a:lnTo>
                    <a:pt x="377" y="827"/>
                  </a:lnTo>
                  <a:lnTo>
                    <a:pt x="518" y="835"/>
                  </a:lnTo>
                  <a:lnTo>
                    <a:pt x="599" y="823"/>
                  </a:lnTo>
                  <a:lnTo>
                    <a:pt x="617" y="777"/>
                  </a:lnTo>
                  <a:lnTo>
                    <a:pt x="608" y="718"/>
                  </a:lnTo>
                  <a:lnTo>
                    <a:pt x="550" y="537"/>
                  </a:lnTo>
                  <a:lnTo>
                    <a:pt x="500" y="357"/>
                  </a:lnTo>
                  <a:lnTo>
                    <a:pt x="478" y="221"/>
                  </a:lnTo>
                  <a:lnTo>
                    <a:pt x="478" y="186"/>
                  </a:lnTo>
                  <a:lnTo>
                    <a:pt x="446" y="136"/>
                  </a:lnTo>
                  <a:lnTo>
                    <a:pt x="409" y="123"/>
                  </a:lnTo>
                  <a:lnTo>
                    <a:pt x="342" y="12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6" name="Freeform 189"/>
            <p:cNvSpPr>
              <a:spLocks/>
            </p:cNvSpPr>
            <p:nvPr/>
          </p:nvSpPr>
          <p:spPr bwMode="auto">
            <a:xfrm>
              <a:off x="143" y="2019"/>
              <a:ext cx="106" cy="153"/>
            </a:xfrm>
            <a:custGeom>
              <a:avLst/>
              <a:gdLst>
                <a:gd name="T0" fmla="*/ 0 w 531"/>
                <a:gd name="T1" fmla="*/ 0 h 766"/>
                <a:gd name="T2" fmla="*/ 0 w 531"/>
                <a:gd name="T3" fmla="*/ 0 h 766"/>
                <a:gd name="T4" fmla="*/ 0 w 531"/>
                <a:gd name="T5" fmla="*/ 0 h 766"/>
                <a:gd name="T6" fmla="*/ 0 w 531"/>
                <a:gd name="T7" fmla="*/ 0 h 766"/>
                <a:gd name="T8" fmla="*/ 0 w 531"/>
                <a:gd name="T9" fmla="*/ 0 h 766"/>
                <a:gd name="T10" fmla="*/ 0 w 531"/>
                <a:gd name="T11" fmla="*/ 0 h 766"/>
                <a:gd name="T12" fmla="*/ 0 w 531"/>
                <a:gd name="T13" fmla="*/ 0 h 766"/>
                <a:gd name="T14" fmla="*/ 0 w 531"/>
                <a:gd name="T15" fmla="*/ 0 h 766"/>
                <a:gd name="T16" fmla="*/ 0 w 531"/>
                <a:gd name="T17" fmla="*/ 0 h 766"/>
                <a:gd name="T18" fmla="*/ 0 w 531"/>
                <a:gd name="T19" fmla="*/ 0 h 766"/>
                <a:gd name="T20" fmla="*/ 0 w 531"/>
                <a:gd name="T21" fmla="*/ 0 h 766"/>
                <a:gd name="T22" fmla="*/ 0 w 531"/>
                <a:gd name="T23" fmla="*/ 0 h 766"/>
                <a:gd name="T24" fmla="*/ 0 w 531"/>
                <a:gd name="T25" fmla="*/ 0 h 766"/>
                <a:gd name="T26" fmla="*/ 0 w 531"/>
                <a:gd name="T27" fmla="*/ 0 h 766"/>
                <a:gd name="T28" fmla="*/ 0 w 531"/>
                <a:gd name="T29" fmla="*/ 0 h 766"/>
                <a:gd name="T30" fmla="*/ 0 w 531"/>
                <a:gd name="T31" fmla="*/ 0 h 766"/>
                <a:gd name="T32" fmla="*/ 0 w 531"/>
                <a:gd name="T33" fmla="*/ 0 h 766"/>
                <a:gd name="T34" fmla="*/ 0 w 531"/>
                <a:gd name="T35" fmla="*/ 0 h 766"/>
                <a:gd name="T36" fmla="*/ 0 w 531"/>
                <a:gd name="T37" fmla="*/ 0 h 766"/>
                <a:gd name="T38" fmla="*/ 0 w 531"/>
                <a:gd name="T39" fmla="*/ 0 h 766"/>
                <a:gd name="T40" fmla="*/ 0 w 531"/>
                <a:gd name="T41" fmla="*/ 0 h 76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531" h="766">
                  <a:moveTo>
                    <a:pt x="347" y="154"/>
                  </a:moveTo>
                  <a:lnTo>
                    <a:pt x="248" y="150"/>
                  </a:lnTo>
                  <a:lnTo>
                    <a:pt x="143" y="131"/>
                  </a:lnTo>
                  <a:lnTo>
                    <a:pt x="81" y="99"/>
                  </a:lnTo>
                  <a:lnTo>
                    <a:pt x="46" y="72"/>
                  </a:lnTo>
                  <a:lnTo>
                    <a:pt x="0" y="0"/>
                  </a:lnTo>
                  <a:lnTo>
                    <a:pt x="67" y="589"/>
                  </a:lnTo>
                  <a:lnTo>
                    <a:pt x="113" y="643"/>
                  </a:lnTo>
                  <a:lnTo>
                    <a:pt x="162" y="694"/>
                  </a:lnTo>
                  <a:lnTo>
                    <a:pt x="225" y="729"/>
                  </a:lnTo>
                  <a:lnTo>
                    <a:pt x="279" y="747"/>
                  </a:lnTo>
                  <a:lnTo>
                    <a:pt x="347" y="756"/>
                  </a:lnTo>
                  <a:lnTo>
                    <a:pt x="409" y="766"/>
                  </a:lnTo>
                  <a:lnTo>
                    <a:pt x="480" y="766"/>
                  </a:lnTo>
                  <a:lnTo>
                    <a:pt x="512" y="756"/>
                  </a:lnTo>
                  <a:lnTo>
                    <a:pt x="531" y="729"/>
                  </a:lnTo>
                  <a:lnTo>
                    <a:pt x="522" y="685"/>
                  </a:lnTo>
                  <a:lnTo>
                    <a:pt x="476" y="581"/>
                  </a:lnTo>
                  <a:lnTo>
                    <a:pt x="399" y="229"/>
                  </a:lnTo>
                  <a:lnTo>
                    <a:pt x="387" y="180"/>
                  </a:lnTo>
                  <a:lnTo>
                    <a:pt x="347" y="15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97" name="Freeform 190"/>
          <p:cNvSpPr>
            <a:spLocks/>
          </p:cNvSpPr>
          <p:nvPr/>
        </p:nvSpPr>
        <p:spPr bwMode="auto">
          <a:xfrm>
            <a:off x="2098400" y="3556553"/>
            <a:ext cx="9060" cy="131016"/>
          </a:xfrm>
          <a:custGeom>
            <a:avLst/>
            <a:gdLst>
              <a:gd name="T0" fmla="*/ 2147483646 w 43"/>
              <a:gd name="T1" fmla="*/ 0 h 703"/>
              <a:gd name="T2" fmla="*/ 2147483646 w 43"/>
              <a:gd name="T3" fmla="*/ 2147483646 h 703"/>
              <a:gd name="T4" fmla="*/ 2147483646 w 43"/>
              <a:gd name="T5" fmla="*/ 2147483646 h 703"/>
              <a:gd name="T6" fmla="*/ 2147483646 w 43"/>
              <a:gd name="T7" fmla="*/ 2147483646 h 703"/>
              <a:gd name="T8" fmla="*/ 2147483646 w 43"/>
              <a:gd name="T9" fmla="*/ 2147483646 h 703"/>
              <a:gd name="T10" fmla="*/ 2147483646 w 43"/>
              <a:gd name="T11" fmla="*/ 2147483646 h 703"/>
              <a:gd name="T12" fmla="*/ 2147483646 w 43"/>
              <a:gd name="T13" fmla="*/ 2147483646 h 703"/>
              <a:gd name="T14" fmla="*/ 0 w 43"/>
              <a:gd name="T15" fmla="*/ 2147483646 h 703"/>
              <a:gd name="T16" fmla="*/ 2147483646 w 43"/>
              <a:gd name="T17" fmla="*/ 2147483646 h 703"/>
              <a:gd name="T18" fmla="*/ 2147483646 w 43"/>
              <a:gd name="T19" fmla="*/ 2147483646 h 703"/>
              <a:gd name="T20" fmla="*/ 2147483646 w 43"/>
              <a:gd name="T21" fmla="*/ 2147483646 h 703"/>
              <a:gd name="T22" fmla="*/ 2147483646 w 43"/>
              <a:gd name="T23" fmla="*/ 2147483646 h 703"/>
              <a:gd name="T24" fmla="*/ 2147483646 w 43"/>
              <a:gd name="T25" fmla="*/ 2147483646 h 703"/>
              <a:gd name="T26" fmla="*/ 2147483646 w 43"/>
              <a:gd name="T27" fmla="*/ 2147483646 h 703"/>
              <a:gd name="T28" fmla="*/ 2147483646 w 43"/>
              <a:gd name="T29" fmla="*/ 0 h 70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43" h="703">
                <a:moveTo>
                  <a:pt x="29" y="0"/>
                </a:moveTo>
                <a:lnTo>
                  <a:pt x="43" y="36"/>
                </a:lnTo>
                <a:lnTo>
                  <a:pt x="27" y="63"/>
                </a:lnTo>
                <a:lnTo>
                  <a:pt x="14" y="122"/>
                </a:lnTo>
                <a:lnTo>
                  <a:pt x="32" y="176"/>
                </a:lnTo>
                <a:lnTo>
                  <a:pt x="21" y="491"/>
                </a:lnTo>
                <a:lnTo>
                  <a:pt x="21" y="693"/>
                </a:lnTo>
                <a:lnTo>
                  <a:pt x="0" y="703"/>
                </a:lnTo>
                <a:lnTo>
                  <a:pt x="2" y="284"/>
                </a:lnTo>
                <a:lnTo>
                  <a:pt x="21" y="184"/>
                </a:lnTo>
                <a:lnTo>
                  <a:pt x="10" y="137"/>
                </a:lnTo>
                <a:lnTo>
                  <a:pt x="4" y="120"/>
                </a:lnTo>
                <a:lnTo>
                  <a:pt x="12" y="69"/>
                </a:lnTo>
                <a:lnTo>
                  <a:pt x="27" y="40"/>
                </a:lnTo>
                <a:lnTo>
                  <a:pt x="29"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8" name="Freeform 191"/>
          <p:cNvSpPr>
            <a:spLocks/>
          </p:cNvSpPr>
          <p:nvPr/>
        </p:nvSpPr>
        <p:spPr bwMode="auto">
          <a:xfrm>
            <a:off x="2062162" y="3558412"/>
            <a:ext cx="22145" cy="6505"/>
          </a:xfrm>
          <a:custGeom>
            <a:avLst/>
            <a:gdLst>
              <a:gd name="T0" fmla="*/ 2147483646 w 112"/>
              <a:gd name="T1" fmla="*/ 0 h 36"/>
              <a:gd name="T2" fmla="*/ 2147483646 w 112"/>
              <a:gd name="T3" fmla="*/ 2147483646 h 36"/>
              <a:gd name="T4" fmla="*/ 2147483646 w 112"/>
              <a:gd name="T5" fmla="*/ 2147483646 h 36"/>
              <a:gd name="T6" fmla="*/ 0 w 112"/>
              <a:gd name="T7" fmla="*/ 2147483646 h 36"/>
              <a:gd name="T8" fmla="*/ 2147483646 w 112"/>
              <a:gd name="T9" fmla="*/ 2147483646 h 36"/>
              <a:gd name="T10" fmla="*/ 2147483646 w 112"/>
              <a:gd name="T11" fmla="*/ 0 h 36"/>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2" h="36">
                <a:moveTo>
                  <a:pt x="112" y="0"/>
                </a:moveTo>
                <a:lnTo>
                  <a:pt x="57" y="26"/>
                </a:lnTo>
                <a:lnTo>
                  <a:pt x="9" y="36"/>
                </a:lnTo>
                <a:lnTo>
                  <a:pt x="0" y="36"/>
                </a:lnTo>
                <a:lnTo>
                  <a:pt x="29" y="11"/>
                </a:lnTo>
                <a:lnTo>
                  <a:pt x="112"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9" name="Freeform 192"/>
          <p:cNvSpPr>
            <a:spLocks/>
          </p:cNvSpPr>
          <p:nvPr/>
        </p:nvSpPr>
        <p:spPr bwMode="auto">
          <a:xfrm>
            <a:off x="1968546" y="3218328"/>
            <a:ext cx="30199" cy="75265"/>
          </a:xfrm>
          <a:custGeom>
            <a:avLst/>
            <a:gdLst>
              <a:gd name="T0" fmla="*/ 0 w 150"/>
              <a:gd name="T1" fmla="*/ 0 h 407"/>
              <a:gd name="T2" fmla="*/ 2147483646 w 150"/>
              <a:gd name="T3" fmla="*/ 2147483646 h 407"/>
              <a:gd name="T4" fmla="*/ 2147483646 w 150"/>
              <a:gd name="T5" fmla="*/ 2147483646 h 407"/>
              <a:gd name="T6" fmla="*/ 2147483646 w 150"/>
              <a:gd name="T7" fmla="*/ 2147483646 h 407"/>
              <a:gd name="T8" fmla="*/ 2147483646 w 150"/>
              <a:gd name="T9" fmla="*/ 2147483646 h 407"/>
              <a:gd name="T10" fmla="*/ 2147483646 w 150"/>
              <a:gd name="T11" fmla="*/ 2147483646 h 407"/>
              <a:gd name="T12" fmla="*/ 2147483646 w 150"/>
              <a:gd name="T13" fmla="*/ 2147483646 h 407"/>
              <a:gd name="T14" fmla="*/ 2147483646 w 150"/>
              <a:gd name="T15" fmla="*/ 2147483646 h 407"/>
              <a:gd name="T16" fmla="*/ 2147483646 w 150"/>
              <a:gd name="T17" fmla="*/ 2147483646 h 407"/>
              <a:gd name="T18" fmla="*/ 2147483646 w 150"/>
              <a:gd name="T19" fmla="*/ 2147483646 h 407"/>
              <a:gd name="T20" fmla="*/ 2147483646 w 150"/>
              <a:gd name="T21" fmla="*/ 2147483646 h 407"/>
              <a:gd name="T22" fmla="*/ 2147483646 w 150"/>
              <a:gd name="T23" fmla="*/ 2147483646 h 407"/>
              <a:gd name="T24" fmla="*/ 2147483646 w 150"/>
              <a:gd name="T25" fmla="*/ 2147483646 h 407"/>
              <a:gd name="T26" fmla="*/ 2147483646 w 150"/>
              <a:gd name="T27" fmla="*/ 2147483646 h 407"/>
              <a:gd name="T28" fmla="*/ 2147483646 w 150"/>
              <a:gd name="T29" fmla="*/ 2147483646 h 407"/>
              <a:gd name="T30" fmla="*/ 2147483646 w 150"/>
              <a:gd name="T31" fmla="*/ 2147483646 h 407"/>
              <a:gd name="T32" fmla="*/ 2147483646 w 150"/>
              <a:gd name="T33" fmla="*/ 2147483646 h 407"/>
              <a:gd name="T34" fmla="*/ 2147483646 w 150"/>
              <a:gd name="T35" fmla="*/ 2147483646 h 407"/>
              <a:gd name="T36" fmla="*/ 2147483646 w 150"/>
              <a:gd name="T37" fmla="*/ 2147483646 h 407"/>
              <a:gd name="T38" fmla="*/ 2147483646 w 150"/>
              <a:gd name="T39" fmla="*/ 2147483646 h 407"/>
              <a:gd name="T40" fmla="*/ 2147483646 w 150"/>
              <a:gd name="T41" fmla="*/ 2147483646 h 407"/>
              <a:gd name="T42" fmla="*/ 2147483646 w 150"/>
              <a:gd name="T43" fmla="*/ 2147483646 h 407"/>
              <a:gd name="T44" fmla="*/ 2147483646 w 150"/>
              <a:gd name="T45" fmla="*/ 2147483646 h 407"/>
              <a:gd name="T46" fmla="*/ 2147483646 w 150"/>
              <a:gd name="T47" fmla="*/ 2147483646 h 407"/>
              <a:gd name="T48" fmla="*/ 2147483646 w 150"/>
              <a:gd name="T49" fmla="*/ 2147483646 h 407"/>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150" h="407">
                <a:moveTo>
                  <a:pt x="0" y="0"/>
                </a:moveTo>
                <a:lnTo>
                  <a:pt x="20" y="10"/>
                </a:lnTo>
                <a:lnTo>
                  <a:pt x="17" y="34"/>
                </a:lnTo>
                <a:lnTo>
                  <a:pt x="36" y="22"/>
                </a:lnTo>
                <a:lnTo>
                  <a:pt x="33" y="50"/>
                </a:lnTo>
                <a:lnTo>
                  <a:pt x="58" y="46"/>
                </a:lnTo>
                <a:lnTo>
                  <a:pt x="39" y="69"/>
                </a:lnTo>
                <a:lnTo>
                  <a:pt x="91" y="73"/>
                </a:lnTo>
                <a:lnTo>
                  <a:pt x="61" y="101"/>
                </a:lnTo>
                <a:lnTo>
                  <a:pt x="105" y="101"/>
                </a:lnTo>
                <a:lnTo>
                  <a:pt x="75" y="130"/>
                </a:lnTo>
                <a:lnTo>
                  <a:pt x="121" y="127"/>
                </a:lnTo>
                <a:lnTo>
                  <a:pt x="92" y="167"/>
                </a:lnTo>
                <a:lnTo>
                  <a:pt x="133" y="164"/>
                </a:lnTo>
                <a:lnTo>
                  <a:pt x="98" y="199"/>
                </a:lnTo>
                <a:lnTo>
                  <a:pt x="150" y="205"/>
                </a:lnTo>
                <a:lnTo>
                  <a:pt x="105" y="237"/>
                </a:lnTo>
                <a:lnTo>
                  <a:pt x="150" y="250"/>
                </a:lnTo>
                <a:lnTo>
                  <a:pt x="101" y="266"/>
                </a:lnTo>
                <a:lnTo>
                  <a:pt x="146" y="293"/>
                </a:lnTo>
                <a:lnTo>
                  <a:pt x="98" y="312"/>
                </a:lnTo>
                <a:lnTo>
                  <a:pt x="140" y="343"/>
                </a:lnTo>
                <a:lnTo>
                  <a:pt x="98" y="355"/>
                </a:lnTo>
                <a:lnTo>
                  <a:pt x="121" y="382"/>
                </a:lnTo>
                <a:lnTo>
                  <a:pt x="88" y="407"/>
                </a:lnTo>
              </a:path>
            </a:pathLst>
          </a:custGeom>
          <a:noFill/>
          <a:ln w="3175">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0" name="Text Box 193"/>
          <p:cNvSpPr txBox="1">
            <a:spLocks noChangeArrowheads="1"/>
          </p:cNvSpPr>
          <p:nvPr/>
        </p:nvSpPr>
        <p:spPr bwMode="auto">
          <a:xfrm>
            <a:off x="6632191" y="3918638"/>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201" name="Oval 194"/>
          <p:cNvSpPr>
            <a:spLocks noChangeArrowheads="1"/>
          </p:cNvSpPr>
          <p:nvPr/>
        </p:nvSpPr>
        <p:spPr bwMode="auto">
          <a:xfrm>
            <a:off x="2135645" y="3280584"/>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202" name="Group 195"/>
          <p:cNvGrpSpPr>
            <a:grpSpLocks/>
          </p:cNvGrpSpPr>
          <p:nvPr/>
        </p:nvGrpSpPr>
        <p:grpSpPr bwMode="auto">
          <a:xfrm>
            <a:off x="6678537" y="3067799"/>
            <a:ext cx="449960" cy="289908"/>
            <a:chOff x="4993" y="1674"/>
            <a:chExt cx="447" cy="312"/>
          </a:xfrm>
        </p:grpSpPr>
        <p:grpSp>
          <p:nvGrpSpPr>
            <p:cNvPr id="203" name="Group 196"/>
            <p:cNvGrpSpPr>
              <a:grpSpLocks/>
            </p:cNvGrpSpPr>
            <p:nvPr/>
          </p:nvGrpSpPr>
          <p:grpSpPr bwMode="auto">
            <a:xfrm>
              <a:off x="4993" y="1674"/>
              <a:ext cx="345" cy="282"/>
              <a:chOff x="4993" y="1674"/>
              <a:chExt cx="345" cy="282"/>
            </a:xfrm>
          </p:grpSpPr>
          <p:grpSp>
            <p:nvGrpSpPr>
              <p:cNvPr id="236" name="Group 197"/>
              <p:cNvGrpSpPr>
                <a:grpSpLocks/>
              </p:cNvGrpSpPr>
              <p:nvPr/>
            </p:nvGrpSpPr>
            <p:grpSpPr bwMode="auto">
              <a:xfrm>
                <a:off x="4993" y="1674"/>
                <a:ext cx="345" cy="282"/>
                <a:chOff x="4993" y="1674"/>
                <a:chExt cx="345" cy="282"/>
              </a:xfrm>
            </p:grpSpPr>
            <p:grpSp>
              <p:nvGrpSpPr>
                <p:cNvPr id="245" name="Group 198"/>
                <p:cNvGrpSpPr>
                  <a:grpSpLocks/>
                </p:cNvGrpSpPr>
                <p:nvPr/>
              </p:nvGrpSpPr>
              <p:grpSpPr bwMode="auto">
                <a:xfrm>
                  <a:off x="4993" y="1833"/>
                  <a:ext cx="345" cy="123"/>
                  <a:chOff x="4993" y="1833"/>
                  <a:chExt cx="345" cy="123"/>
                </a:xfrm>
              </p:grpSpPr>
              <p:sp>
                <p:nvSpPr>
                  <p:cNvPr id="251" name="Freeform 199"/>
                  <p:cNvSpPr>
                    <a:spLocks/>
                  </p:cNvSpPr>
                  <p:nvPr/>
                </p:nvSpPr>
                <p:spPr bwMode="auto">
                  <a:xfrm>
                    <a:off x="5140" y="1833"/>
                    <a:ext cx="198" cy="123"/>
                  </a:xfrm>
                  <a:custGeom>
                    <a:avLst/>
                    <a:gdLst>
                      <a:gd name="T0" fmla="*/ 0 w 1188"/>
                      <a:gd name="T1" fmla="*/ 0 h 738"/>
                      <a:gd name="T2" fmla="*/ 0 w 1188"/>
                      <a:gd name="T3" fmla="*/ 0 h 738"/>
                      <a:gd name="T4" fmla="*/ 0 w 1188"/>
                      <a:gd name="T5" fmla="*/ 0 h 738"/>
                      <a:gd name="T6" fmla="*/ 0 w 1188"/>
                      <a:gd name="T7" fmla="*/ 0 h 738"/>
                      <a:gd name="T8" fmla="*/ 0 w 1188"/>
                      <a:gd name="T9" fmla="*/ 0 h 73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88" h="738">
                        <a:moveTo>
                          <a:pt x="0" y="225"/>
                        </a:moveTo>
                        <a:lnTo>
                          <a:pt x="0" y="738"/>
                        </a:lnTo>
                        <a:lnTo>
                          <a:pt x="1188" y="360"/>
                        </a:lnTo>
                        <a:lnTo>
                          <a:pt x="1188" y="0"/>
                        </a:lnTo>
                        <a:lnTo>
                          <a:pt x="0" y="225"/>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2" name="Freeform 200"/>
                  <p:cNvSpPr>
                    <a:spLocks/>
                  </p:cNvSpPr>
                  <p:nvPr/>
                </p:nvSpPr>
                <p:spPr bwMode="auto">
                  <a:xfrm>
                    <a:off x="4993" y="1862"/>
                    <a:ext cx="147" cy="94"/>
                  </a:xfrm>
                  <a:custGeom>
                    <a:avLst/>
                    <a:gdLst>
                      <a:gd name="T0" fmla="*/ 0 w 882"/>
                      <a:gd name="T1" fmla="*/ 0 h 563"/>
                      <a:gd name="T2" fmla="*/ 0 w 882"/>
                      <a:gd name="T3" fmla="*/ 0 h 563"/>
                      <a:gd name="T4" fmla="*/ 0 w 882"/>
                      <a:gd name="T5" fmla="*/ 0 h 563"/>
                      <a:gd name="T6" fmla="*/ 0 w 882"/>
                      <a:gd name="T7" fmla="*/ 0 h 563"/>
                      <a:gd name="T8" fmla="*/ 0 w 882"/>
                      <a:gd name="T9" fmla="*/ 0 h 5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82" h="563">
                        <a:moveTo>
                          <a:pt x="882" y="50"/>
                        </a:moveTo>
                        <a:lnTo>
                          <a:pt x="882" y="563"/>
                        </a:lnTo>
                        <a:lnTo>
                          <a:pt x="0" y="436"/>
                        </a:lnTo>
                        <a:lnTo>
                          <a:pt x="0" y="0"/>
                        </a:lnTo>
                        <a:lnTo>
                          <a:pt x="882" y="5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3" name="Freeform 201"/>
                  <p:cNvSpPr>
                    <a:spLocks/>
                  </p:cNvSpPr>
                  <p:nvPr/>
                </p:nvSpPr>
                <p:spPr bwMode="auto">
                  <a:xfrm>
                    <a:off x="4993" y="1833"/>
                    <a:ext cx="345" cy="38"/>
                  </a:xfrm>
                  <a:custGeom>
                    <a:avLst/>
                    <a:gdLst>
                      <a:gd name="T0" fmla="*/ 0 w 2070"/>
                      <a:gd name="T1" fmla="*/ 0 h 225"/>
                      <a:gd name="T2" fmla="*/ 0 w 2070"/>
                      <a:gd name="T3" fmla="*/ 0 h 225"/>
                      <a:gd name="T4" fmla="*/ 0 w 2070"/>
                      <a:gd name="T5" fmla="*/ 0 h 225"/>
                      <a:gd name="T6" fmla="*/ 0 w 2070"/>
                      <a:gd name="T7" fmla="*/ 0 h 225"/>
                      <a:gd name="T8" fmla="*/ 0 w 2070"/>
                      <a:gd name="T9" fmla="*/ 0 h 2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70" h="225">
                        <a:moveTo>
                          <a:pt x="0" y="175"/>
                        </a:moveTo>
                        <a:lnTo>
                          <a:pt x="892" y="225"/>
                        </a:lnTo>
                        <a:lnTo>
                          <a:pt x="2070" y="0"/>
                        </a:lnTo>
                        <a:lnTo>
                          <a:pt x="1202" y="0"/>
                        </a:lnTo>
                        <a:lnTo>
                          <a:pt x="0" y="175"/>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246" name="Freeform 202"/>
                <p:cNvSpPr>
                  <a:spLocks/>
                </p:cNvSpPr>
                <p:nvPr/>
              </p:nvSpPr>
              <p:spPr bwMode="auto">
                <a:xfrm>
                  <a:off x="5105" y="1823"/>
                  <a:ext cx="126" cy="35"/>
                </a:xfrm>
                <a:custGeom>
                  <a:avLst/>
                  <a:gdLst>
                    <a:gd name="T0" fmla="*/ 0 w 751"/>
                    <a:gd name="T1" fmla="*/ 0 h 210"/>
                    <a:gd name="T2" fmla="*/ 0 w 751"/>
                    <a:gd name="T3" fmla="*/ 0 h 210"/>
                    <a:gd name="T4" fmla="*/ 0 w 751"/>
                    <a:gd name="T5" fmla="*/ 0 h 210"/>
                    <a:gd name="T6" fmla="*/ 0 w 751"/>
                    <a:gd name="T7" fmla="*/ 0 h 210"/>
                    <a:gd name="T8" fmla="*/ 0 w 751"/>
                    <a:gd name="T9" fmla="*/ 0 h 210"/>
                    <a:gd name="T10" fmla="*/ 0 w 751"/>
                    <a:gd name="T11" fmla="*/ 0 h 21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51" h="210">
                      <a:moveTo>
                        <a:pt x="0" y="120"/>
                      </a:moveTo>
                      <a:lnTo>
                        <a:pt x="0" y="188"/>
                      </a:lnTo>
                      <a:lnTo>
                        <a:pt x="351" y="210"/>
                      </a:lnTo>
                      <a:lnTo>
                        <a:pt x="751" y="135"/>
                      </a:lnTo>
                      <a:lnTo>
                        <a:pt x="751" y="0"/>
                      </a:lnTo>
                      <a:lnTo>
                        <a:pt x="0" y="12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47" name="Group 203"/>
                <p:cNvGrpSpPr>
                  <a:grpSpLocks/>
                </p:cNvGrpSpPr>
                <p:nvPr/>
              </p:nvGrpSpPr>
              <p:grpSpPr bwMode="auto">
                <a:xfrm>
                  <a:off x="5020" y="1674"/>
                  <a:ext cx="279" cy="176"/>
                  <a:chOff x="5020" y="1674"/>
                  <a:chExt cx="279" cy="176"/>
                </a:xfrm>
              </p:grpSpPr>
              <p:sp>
                <p:nvSpPr>
                  <p:cNvPr id="248" name="Freeform 204"/>
                  <p:cNvSpPr>
                    <a:spLocks/>
                  </p:cNvSpPr>
                  <p:nvPr/>
                </p:nvSpPr>
                <p:spPr bwMode="auto">
                  <a:xfrm>
                    <a:off x="5139" y="1674"/>
                    <a:ext cx="160" cy="172"/>
                  </a:xfrm>
                  <a:custGeom>
                    <a:avLst/>
                    <a:gdLst>
                      <a:gd name="T0" fmla="*/ 0 w 960"/>
                      <a:gd name="T1" fmla="*/ 0 h 1031"/>
                      <a:gd name="T2" fmla="*/ 0 w 960"/>
                      <a:gd name="T3" fmla="*/ 0 h 1031"/>
                      <a:gd name="T4" fmla="*/ 0 w 960"/>
                      <a:gd name="T5" fmla="*/ 0 h 1031"/>
                      <a:gd name="T6" fmla="*/ 0 w 960"/>
                      <a:gd name="T7" fmla="*/ 0 h 1031"/>
                      <a:gd name="T8" fmla="*/ 0 w 960"/>
                      <a:gd name="T9" fmla="*/ 0 h 103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60" h="1031">
                        <a:moveTo>
                          <a:pt x="135" y="1031"/>
                        </a:moveTo>
                        <a:lnTo>
                          <a:pt x="0" y="33"/>
                        </a:lnTo>
                        <a:lnTo>
                          <a:pt x="827" y="0"/>
                        </a:lnTo>
                        <a:lnTo>
                          <a:pt x="960" y="889"/>
                        </a:lnTo>
                        <a:lnTo>
                          <a:pt x="135" y="1031"/>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9" name="Freeform 205"/>
                  <p:cNvSpPr>
                    <a:spLocks/>
                  </p:cNvSpPr>
                  <p:nvPr/>
                </p:nvSpPr>
                <p:spPr bwMode="auto">
                  <a:xfrm>
                    <a:off x="5020" y="1679"/>
                    <a:ext cx="141" cy="171"/>
                  </a:xfrm>
                  <a:custGeom>
                    <a:avLst/>
                    <a:gdLst>
                      <a:gd name="T0" fmla="*/ 0 w 850"/>
                      <a:gd name="T1" fmla="*/ 0 h 1026"/>
                      <a:gd name="T2" fmla="*/ 0 w 850"/>
                      <a:gd name="T3" fmla="*/ 0 h 1026"/>
                      <a:gd name="T4" fmla="*/ 0 w 850"/>
                      <a:gd name="T5" fmla="*/ 0 h 1026"/>
                      <a:gd name="T6" fmla="*/ 0 w 850"/>
                      <a:gd name="T7" fmla="*/ 0 h 1026"/>
                      <a:gd name="T8" fmla="*/ 0 w 850"/>
                      <a:gd name="T9" fmla="*/ 0 h 10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50" h="1026">
                        <a:moveTo>
                          <a:pt x="715" y="0"/>
                        </a:moveTo>
                        <a:lnTo>
                          <a:pt x="0" y="228"/>
                        </a:lnTo>
                        <a:lnTo>
                          <a:pt x="102" y="1026"/>
                        </a:lnTo>
                        <a:lnTo>
                          <a:pt x="850" y="1000"/>
                        </a:lnTo>
                        <a:lnTo>
                          <a:pt x="715" y="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0" name="Freeform 206"/>
                  <p:cNvSpPr>
                    <a:spLocks/>
                  </p:cNvSpPr>
                  <p:nvPr/>
                </p:nvSpPr>
                <p:spPr bwMode="auto">
                  <a:xfrm>
                    <a:off x="5166" y="1691"/>
                    <a:ext cx="115" cy="129"/>
                  </a:xfrm>
                  <a:custGeom>
                    <a:avLst/>
                    <a:gdLst>
                      <a:gd name="T0" fmla="*/ 0 w 689"/>
                      <a:gd name="T1" fmla="*/ 0 h 778"/>
                      <a:gd name="T2" fmla="*/ 0 w 689"/>
                      <a:gd name="T3" fmla="*/ 0 h 778"/>
                      <a:gd name="T4" fmla="*/ 0 w 689"/>
                      <a:gd name="T5" fmla="*/ 0 h 778"/>
                      <a:gd name="T6" fmla="*/ 0 w 689"/>
                      <a:gd name="T7" fmla="*/ 0 h 778"/>
                      <a:gd name="T8" fmla="*/ 0 w 689"/>
                      <a:gd name="T9" fmla="*/ 0 h 77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9" h="778">
                        <a:moveTo>
                          <a:pt x="0" y="36"/>
                        </a:moveTo>
                        <a:lnTo>
                          <a:pt x="98" y="778"/>
                        </a:lnTo>
                        <a:lnTo>
                          <a:pt x="689" y="689"/>
                        </a:lnTo>
                        <a:lnTo>
                          <a:pt x="587" y="0"/>
                        </a:lnTo>
                        <a:lnTo>
                          <a:pt x="0" y="36"/>
                        </a:lnTo>
                        <a:close/>
                      </a:path>
                    </a:pathLst>
                  </a:custGeom>
                  <a:solidFill>
                    <a:srgbClr val="0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37" name="Group 207"/>
              <p:cNvGrpSpPr>
                <a:grpSpLocks/>
              </p:cNvGrpSpPr>
              <p:nvPr/>
            </p:nvGrpSpPr>
            <p:grpSpPr bwMode="auto">
              <a:xfrm>
                <a:off x="5212" y="1846"/>
                <a:ext cx="113" cy="80"/>
                <a:chOff x="5212" y="1846"/>
                <a:chExt cx="113" cy="80"/>
              </a:xfrm>
            </p:grpSpPr>
            <p:sp>
              <p:nvSpPr>
                <p:cNvPr id="238" name="Freeform 208"/>
                <p:cNvSpPr>
                  <a:spLocks/>
                </p:cNvSpPr>
                <p:nvPr/>
              </p:nvSpPr>
              <p:spPr bwMode="auto">
                <a:xfrm>
                  <a:off x="5212" y="1846"/>
                  <a:ext cx="112" cy="80"/>
                </a:xfrm>
                <a:custGeom>
                  <a:avLst/>
                  <a:gdLst>
                    <a:gd name="T0" fmla="*/ 0 w 674"/>
                    <a:gd name="T1" fmla="*/ 0 h 482"/>
                    <a:gd name="T2" fmla="*/ 0 w 674"/>
                    <a:gd name="T3" fmla="*/ 0 h 482"/>
                    <a:gd name="T4" fmla="*/ 0 w 674"/>
                    <a:gd name="T5" fmla="*/ 0 h 482"/>
                    <a:gd name="T6" fmla="*/ 0 w 674"/>
                    <a:gd name="T7" fmla="*/ 0 h 482"/>
                    <a:gd name="T8" fmla="*/ 0 w 674"/>
                    <a:gd name="T9" fmla="*/ 0 h 48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74" h="482">
                      <a:moveTo>
                        <a:pt x="674" y="0"/>
                      </a:moveTo>
                      <a:lnTo>
                        <a:pt x="0" y="143"/>
                      </a:lnTo>
                      <a:lnTo>
                        <a:pt x="0" y="482"/>
                      </a:lnTo>
                      <a:lnTo>
                        <a:pt x="674" y="271"/>
                      </a:lnTo>
                      <a:lnTo>
                        <a:pt x="674" y="0"/>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9" name="Line 209"/>
                <p:cNvSpPr>
                  <a:spLocks noChangeShapeType="1"/>
                </p:cNvSpPr>
                <p:nvPr/>
              </p:nvSpPr>
              <p:spPr bwMode="auto">
                <a:xfrm flipV="1">
                  <a:off x="5286" y="1866"/>
                  <a:ext cx="30" cy="7"/>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0" name="Line 210"/>
                <p:cNvSpPr>
                  <a:spLocks noChangeShapeType="1"/>
                </p:cNvSpPr>
                <p:nvPr/>
              </p:nvSpPr>
              <p:spPr bwMode="auto">
                <a:xfrm flipH="1">
                  <a:off x="5231" y="1876"/>
                  <a:ext cx="39" cy="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1" name="Line 211"/>
                <p:cNvSpPr>
                  <a:spLocks noChangeShapeType="1"/>
                </p:cNvSpPr>
                <p:nvPr/>
              </p:nvSpPr>
              <p:spPr bwMode="auto">
                <a:xfrm>
                  <a:off x="5277" y="1856"/>
                  <a:ext cx="1" cy="52"/>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2" name="Line 212"/>
                <p:cNvSpPr>
                  <a:spLocks noChangeShapeType="1"/>
                </p:cNvSpPr>
                <p:nvPr/>
              </p:nvSpPr>
              <p:spPr bwMode="auto">
                <a:xfrm>
                  <a:off x="5223" y="1868"/>
                  <a:ext cx="1" cy="57"/>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3" name="Line 213"/>
                <p:cNvSpPr>
                  <a:spLocks noChangeShapeType="1"/>
                </p:cNvSpPr>
                <p:nvPr/>
              </p:nvSpPr>
              <p:spPr bwMode="auto">
                <a:xfrm flipH="1">
                  <a:off x="5223" y="1867"/>
                  <a:ext cx="102" cy="26"/>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4" name="Line 214"/>
                <p:cNvSpPr>
                  <a:spLocks noChangeShapeType="1"/>
                </p:cNvSpPr>
                <p:nvPr/>
              </p:nvSpPr>
              <p:spPr bwMode="auto">
                <a:xfrm flipV="1">
                  <a:off x="5223" y="1860"/>
                  <a:ext cx="102" cy="23"/>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04" name="Group 215"/>
            <p:cNvGrpSpPr>
              <a:grpSpLocks/>
            </p:cNvGrpSpPr>
            <p:nvPr/>
          </p:nvGrpSpPr>
          <p:grpSpPr bwMode="auto">
            <a:xfrm>
              <a:off x="5170" y="1848"/>
              <a:ext cx="270" cy="138"/>
              <a:chOff x="5170" y="1848"/>
              <a:chExt cx="270" cy="138"/>
            </a:xfrm>
          </p:grpSpPr>
          <p:grpSp>
            <p:nvGrpSpPr>
              <p:cNvPr id="205" name="Group 216"/>
              <p:cNvGrpSpPr>
                <a:grpSpLocks/>
              </p:cNvGrpSpPr>
              <p:nvPr/>
            </p:nvGrpSpPr>
            <p:grpSpPr bwMode="auto">
              <a:xfrm>
                <a:off x="5188" y="1923"/>
                <a:ext cx="43" cy="32"/>
                <a:chOff x="5188" y="1923"/>
                <a:chExt cx="43" cy="32"/>
              </a:xfrm>
            </p:grpSpPr>
            <p:sp>
              <p:nvSpPr>
                <p:cNvPr id="234" name="Freeform 217"/>
                <p:cNvSpPr>
                  <a:spLocks/>
                </p:cNvSpPr>
                <p:nvPr/>
              </p:nvSpPr>
              <p:spPr bwMode="auto">
                <a:xfrm>
                  <a:off x="5188" y="1923"/>
                  <a:ext cx="12" cy="32"/>
                </a:xfrm>
                <a:custGeom>
                  <a:avLst/>
                  <a:gdLst>
                    <a:gd name="T0" fmla="*/ 0 w 75"/>
                    <a:gd name="T1" fmla="*/ 0 h 194"/>
                    <a:gd name="T2" fmla="*/ 0 w 75"/>
                    <a:gd name="T3" fmla="*/ 0 h 194"/>
                    <a:gd name="T4" fmla="*/ 0 w 75"/>
                    <a:gd name="T5" fmla="*/ 0 h 194"/>
                    <a:gd name="T6" fmla="*/ 0 w 75"/>
                    <a:gd name="T7" fmla="*/ 0 h 194"/>
                    <a:gd name="T8" fmla="*/ 0 w 75"/>
                    <a:gd name="T9" fmla="*/ 0 h 19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5" h="194">
                      <a:moveTo>
                        <a:pt x="23" y="0"/>
                      </a:moveTo>
                      <a:lnTo>
                        <a:pt x="0" y="183"/>
                      </a:lnTo>
                      <a:lnTo>
                        <a:pt x="55" y="194"/>
                      </a:lnTo>
                      <a:lnTo>
                        <a:pt x="75" y="8"/>
                      </a:lnTo>
                      <a:lnTo>
                        <a:pt x="23"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5" name="Freeform 218"/>
                <p:cNvSpPr>
                  <a:spLocks/>
                </p:cNvSpPr>
                <p:nvPr/>
              </p:nvSpPr>
              <p:spPr bwMode="auto">
                <a:xfrm>
                  <a:off x="5197" y="1927"/>
                  <a:ext cx="34" cy="28"/>
                </a:xfrm>
                <a:custGeom>
                  <a:avLst/>
                  <a:gdLst>
                    <a:gd name="T0" fmla="*/ 0 w 206"/>
                    <a:gd name="T1" fmla="*/ 0 h 168"/>
                    <a:gd name="T2" fmla="*/ 0 w 206"/>
                    <a:gd name="T3" fmla="*/ 0 h 168"/>
                    <a:gd name="T4" fmla="*/ 0 w 206"/>
                    <a:gd name="T5" fmla="*/ 0 h 168"/>
                    <a:gd name="T6" fmla="*/ 0 w 206"/>
                    <a:gd name="T7" fmla="*/ 0 h 168"/>
                    <a:gd name="T8" fmla="*/ 0 w 206"/>
                    <a:gd name="T9" fmla="*/ 0 h 168"/>
                    <a:gd name="T10" fmla="*/ 0 w 206"/>
                    <a:gd name="T11" fmla="*/ 0 h 168"/>
                    <a:gd name="T12" fmla="*/ 0 w 206"/>
                    <a:gd name="T13" fmla="*/ 0 h 16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6" h="168">
                      <a:moveTo>
                        <a:pt x="17" y="5"/>
                      </a:moveTo>
                      <a:lnTo>
                        <a:pt x="0" y="168"/>
                      </a:lnTo>
                      <a:lnTo>
                        <a:pt x="206" y="84"/>
                      </a:lnTo>
                      <a:lnTo>
                        <a:pt x="126" y="58"/>
                      </a:lnTo>
                      <a:lnTo>
                        <a:pt x="52" y="97"/>
                      </a:lnTo>
                      <a:lnTo>
                        <a:pt x="75" y="0"/>
                      </a:lnTo>
                      <a:lnTo>
                        <a:pt x="17" y="5"/>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06" name="Group 219"/>
              <p:cNvGrpSpPr>
                <a:grpSpLocks/>
              </p:cNvGrpSpPr>
              <p:nvPr/>
            </p:nvGrpSpPr>
            <p:grpSpPr bwMode="auto">
              <a:xfrm>
                <a:off x="5170" y="1848"/>
                <a:ext cx="270" cy="138"/>
                <a:chOff x="5170" y="1848"/>
                <a:chExt cx="270" cy="138"/>
              </a:xfrm>
            </p:grpSpPr>
            <p:sp>
              <p:nvSpPr>
                <p:cNvPr id="207" name="Freeform 220"/>
                <p:cNvSpPr>
                  <a:spLocks/>
                </p:cNvSpPr>
                <p:nvPr/>
              </p:nvSpPr>
              <p:spPr bwMode="auto">
                <a:xfrm>
                  <a:off x="5175" y="1848"/>
                  <a:ext cx="264" cy="122"/>
                </a:xfrm>
                <a:custGeom>
                  <a:avLst/>
                  <a:gdLst>
                    <a:gd name="T0" fmla="*/ 0 w 1583"/>
                    <a:gd name="T1" fmla="*/ 0 h 729"/>
                    <a:gd name="T2" fmla="*/ 0 w 1583"/>
                    <a:gd name="T3" fmla="*/ 0 h 729"/>
                    <a:gd name="T4" fmla="*/ 0 w 1583"/>
                    <a:gd name="T5" fmla="*/ 0 h 729"/>
                    <a:gd name="T6" fmla="*/ 0 w 1583"/>
                    <a:gd name="T7" fmla="*/ 0 h 729"/>
                    <a:gd name="T8" fmla="*/ 0 w 1583"/>
                    <a:gd name="T9" fmla="*/ 0 h 7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583" h="729">
                      <a:moveTo>
                        <a:pt x="0" y="309"/>
                      </a:moveTo>
                      <a:lnTo>
                        <a:pt x="759" y="729"/>
                      </a:lnTo>
                      <a:lnTo>
                        <a:pt x="1583" y="318"/>
                      </a:lnTo>
                      <a:lnTo>
                        <a:pt x="951" y="0"/>
                      </a:lnTo>
                      <a:lnTo>
                        <a:pt x="0" y="309"/>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8" name="Freeform 221"/>
                <p:cNvSpPr>
                  <a:spLocks/>
                </p:cNvSpPr>
                <p:nvPr/>
              </p:nvSpPr>
              <p:spPr bwMode="auto">
                <a:xfrm>
                  <a:off x="5170" y="1899"/>
                  <a:ext cx="133" cy="86"/>
                </a:xfrm>
                <a:custGeom>
                  <a:avLst/>
                  <a:gdLst>
                    <a:gd name="T0" fmla="*/ 0 w 792"/>
                    <a:gd name="T1" fmla="*/ 0 h 516"/>
                    <a:gd name="T2" fmla="*/ 0 w 792"/>
                    <a:gd name="T3" fmla="*/ 0 h 516"/>
                    <a:gd name="T4" fmla="*/ 0 w 792"/>
                    <a:gd name="T5" fmla="*/ 0 h 516"/>
                    <a:gd name="T6" fmla="*/ 0 w 792"/>
                    <a:gd name="T7" fmla="*/ 0 h 516"/>
                    <a:gd name="T8" fmla="*/ 0 w 792"/>
                    <a:gd name="T9" fmla="*/ 0 h 51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92" h="516">
                      <a:moveTo>
                        <a:pt x="28" y="0"/>
                      </a:moveTo>
                      <a:lnTo>
                        <a:pt x="792" y="426"/>
                      </a:lnTo>
                      <a:lnTo>
                        <a:pt x="770" y="516"/>
                      </a:lnTo>
                      <a:lnTo>
                        <a:pt x="0" y="82"/>
                      </a:lnTo>
                      <a:lnTo>
                        <a:pt x="28"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9" name="Freeform 222"/>
                <p:cNvSpPr>
                  <a:spLocks/>
                </p:cNvSpPr>
                <p:nvPr/>
              </p:nvSpPr>
              <p:spPr bwMode="auto">
                <a:xfrm>
                  <a:off x="5299" y="1901"/>
                  <a:ext cx="141" cy="85"/>
                </a:xfrm>
                <a:custGeom>
                  <a:avLst/>
                  <a:gdLst>
                    <a:gd name="T0" fmla="*/ 0 w 846"/>
                    <a:gd name="T1" fmla="*/ 0 h 507"/>
                    <a:gd name="T2" fmla="*/ 0 w 846"/>
                    <a:gd name="T3" fmla="*/ 0 h 507"/>
                    <a:gd name="T4" fmla="*/ 0 w 846"/>
                    <a:gd name="T5" fmla="*/ 0 h 507"/>
                    <a:gd name="T6" fmla="*/ 0 w 846"/>
                    <a:gd name="T7" fmla="*/ 0 h 507"/>
                    <a:gd name="T8" fmla="*/ 0 w 846"/>
                    <a:gd name="T9" fmla="*/ 0 h 50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6" h="507">
                      <a:moveTo>
                        <a:pt x="0" y="507"/>
                      </a:moveTo>
                      <a:lnTo>
                        <a:pt x="25" y="411"/>
                      </a:lnTo>
                      <a:lnTo>
                        <a:pt x="846" y="0"/>
                      </a:lnTo>
                      <a:lnTo>
                        <a:pt x="817" y="76"/>
                      </a:lnTo>
                      <a:lnTo>
                        <a:pt x="0" y="507"/>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0" name="Freeform 223"/>
                <p:cNvSpPr>
                  <a:spLocks/>
                </p:cNvSpPr>
                <p:nvPr/>
              </p:nvSpPr>
              <p:spPr bwMode="auto">
                <a:xfrm>
                  <a:off x="5227" y="1905"/>
                  <a:ext cx="106" cy="54"/>
                </a:xfrm>
                <a:custGeom>
                  <a:avLst/>
                  <a:gdLst>
                    <a:gd name="T0" fmla="*/ 0 w 637"/>
                    <a:gd name="T1" fmla="*/ 0 h 321"/>
                    <a:gd name="T2" fmla="*/ 0 w 637"/>
                    <a:gd name="T3" fmla="*/ 0 h 321"/>
                    <a:gd name="T4" fmla="*/ 0 w 637"/>
                    <a:gd name="T5" fmla="*/ 0 h 321"/>
                    <a:gd name="T6" fmla="*/ 0 w 637"/>
                    <a:gd name="T7" fmla="*/ 0 h 321"/>
                    <a:gd name="T8" fmla="*/ 0 w 637"/>
                    <a:gd name="T9" fmla="*/ 0 h 32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7" h="321">
                      <a:moveTo>
                        <a:pt x="0" y="83"/>
                      </a:moveTo>
                      <a:lnTo>
                        <a:pt x="220" y="0"/>
                      </a:lnTo>
                      <a:lnTo>
                        <a:pt x="637" y="224"/>
                      </a:lnTo>
                      <a:lnTo>
                        <a:pt x="425" y="321"/>
                      </a:lnTo>
                      <a:lnTo>
                        <a:pt x="0" y="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1" name="Freeform 224"/>
                <p:cNvSpPr>
                  <a:spLocks/>
                </p:cNvSpPr>
                <p:nvPr/>
              </p:nvSpPr>
              <p:spPr bwMode="auto">
                <a:xfrm>
                  <a:off x="5270" y="1868"/>
                  <a:ext cx="156" cy="72"/>
                </a:xfrm>
                <a:custGeom>
                  <a:avLst/>
                  <a:gdLst>
                    <a:gd name="T0" fmla="*/ 0 w 938"/>
                    <a:gd name="T1" fmla="*/ 0 h 434"/>
                    <a:gd name="T2" fmla="*/ 0 w 938"/>
                    <a:gd name="T3" fmla="*/ 0 h 434"/>
                    <a:gd name="T4" fmla="*/ 0 w 938"/>
                    <a:gd name="T5" fmla="*/ 0 h 434"/>
                    <a:gd name="T6" fmla="*/ 0 w 938"/>
                    <a:gd name="T7" fmla="*/ 0 h 434"/>
                    <a:gd name="T8" fmla="*/ 0 w 938"/>
                    <a:gd name="T9" fmla="*/ 0 h 4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38" h="434">
                      <a:moveTo>
                        <a:pt x="0" y="210"/>
                      </a:moveTo>
                      <a:lnTo>
                        <a:pt x="410" y="434"/>
                      </a:lnTo>
                      <a:lnTo>
                        <a:pt x="938" y="186"/>
                      </a:lnTo>
                      <a:lnTo>
                        <a:pt x="554" y="0"/>
                      </a:lnTo>
                      <a:lnTo>
                        <a:pt x="0" y="21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2" name="Freeform 225"/>
                <p:cNvSpPr>
                  <a:spLocks/>
                </p:cNvSpPr>
                <p:nvPr/>
              </p:nvSpPr>
              <p:spPr bwMode="auto">
                <a:xfrm>
                  <a:off x="5188" y="1852"/>
                  <a:ext cx="172" cy="66"/>
                </a:xfrm>
                <a:custGeom>
                  <a:avLst/>
                  <a:gdLst>
                    <a:gd name="T0" fmla="*/ 0 w 1034"/>
                    <a:gd name="T1" fmla="*/ 0 h 395"/>
                    <a:gd name="T2" fmla="*/ 0 w 1034"/>
                    <a:gd name="T3" fmla="*/ 0 h 395"/>
                    <a:gd name="T4" fmla="*/ 0 w 1034"/>
                    <a:gd name="T5" fmla="*/ 0 h 395"/>
                    <a:gd name="T6" fmla="*/ 0 w 1034"/>
                    <a:gd name="T7" fmla="*/ 0 h 395"/>
                    <a:gd name="T8" fmla="*/ 0 w 1034"/>
                    <a:gd name="T9" fmla="*/ 0 h 39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4" h="395">
                      <a:moveTo>
                        <a:pt x="216" y="395"/>
                      </a:moveTo>
                      <a:lnTo>
                        <a:pt x="0" y="285"/>
                      </a:lnTo>
                      <a:lnTo>
                        <a:pt x="867" y="0"/>
                      </a:lnTo>
                      <a:lnTo>
                        <a:pt x="1034" y="82"/>
                      </a:lnTo>
                      <a:lnTo>
                        <a:pt x="216" y="395"/>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3" name="Line 226"/>
                <p:cNvSpPr>
                  <a:spLocks noChangeShapeType="1"/>
                </p:cNvSpPr>
                <p:nvPr/>
              </p:nvSpPr>
              <p:spPr bwMode="auto">
                <a:xfrm flipV="1">
                  <a:off x="5193" y="1855"/>
                  <a:ext cx="148" cy="51"/>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4" name="Line 227"/>
                <p:cNvSpPr>
                  <a:spLocks noChangeShapeType="1"/>
                </p:cNvSpPr>
                <p:nvPr/>
              </p:nvSpPr>
              <p:spPr bwMode="auto">
                <a:xfrm flipV="1">
                  <a:off x="5205" y="1858"/>
                  <a:ext cx="14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5" name="Line 228"/>
                <p:cNvSpPr>
                  <a:spLocks noChangeShapeType="1"/>
                </p:cNvSpPr>
                <p:nvPr/>
              </p:nvSpPr>
              <p:spPr bwMode="auto">
                <a:xfrm flipV="1">
                  <a:off x="5214" y="1862"/>
                  <a:ext cx="141" cy="5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6" name="Line 229"/>
                <p:cNvSpPr>
                  <a:spLocks noChangeShapeType="1"/>
                </p:cNvSpPr>
                <p:nvPr/>
              </p:nvSpPr>
              <p:spPr bwMode="auto">
                <a:xfrm flipV="1">
                  <a:off x="5235" y="1871"/>
                  <a:ext cx="138" cy="5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7" name="Line 230"/>
                <p:cNvSpPr>
                  <a:spLocks noChangeShapeType="1"/>
                </p:cNvSpPr>
                <p:nvPr/>
              </p:nvSpPr>
              <p:spPr bwMode="auto">
                <a:xfrm flipV="1">
                  <a:off x="5246" y="1877"/>
                  <a:ext cx="137" cy="5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8" name="Line 231"/>
                <p:cNvSpPr>
                  <a:spLocks noChangeShapeType="1"/>
                </p:cNvSpPr>
                <p:nvPr/>
              </p:nvSpPr>
              <p:spPr bwMode="auto">
                <a:xfrm flipV="1">
                  <a:off x="5261" y="1885"/>
                  <a:ext cx="124"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9" name="Line 232"/>
                <p:cNvSpPr>
                  <a:spLocks noChangeShapeType="1"/>
                </p:cNvSpPr>
                <p:nvPr/>
              </p:nvSpPr>
              <p:spPr bwMode="auto">
                <a:xfrm flipV="1">
                  <a:off x="5274" y="1890"/>
                  <a:ext cx="119"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0" name="Line 233"/>
                <p:cNvSpPr>
                  <a:spLocks noChangeShapeType="1"/>
                </p:cNvSpPr>
                <p:nvPr/>
              </p:nvSpPr>
              <p:spPr bwMode="auto">
                <a:xfrm flipV="1">
                  <a:off x="5291" y="1897"/>
                  <a:ext cx="11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1" name="Line 234"/>
                <p:cNvSpPr>
                  <a:spLocks noChangeShapeType="1"/>
                </p:cNvSpPr>
                <p:nvPr/>
              </p:nvSpPr>
              <p:spPr bwMode="auto">
                <a:xfrm>
                  <a:off x="5239" y="1915"/>
                  <a:ext cx="71" cy="40"/>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2" name="Line 235"/>
                <p:cNvSpPr>
                  <a:spLocks noChangeShapeType="1"/>
                </p:cNvSpPr>
                <p:nvPr/>
              </p:nvSpPr>
              <p:spPr bwMode="auto">
                <a:xfrm>
                  <a:off x="5255" y="1910"/>
                  <a:ext cx="69" cy="3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3" name="Line 236"/>
                <p:cNvSpPr>
                  <a:spLocks noChangeShapeType="1"/>
                </p:cNvSpPr>
                <p:nvPr/>
              </p:nvSpPr>
              <p:spPr bwMode="auto">
                <a:xfrm>
                  <a:off x="5285" y="1897"/>
                  <a:ext cx="68" cy="3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4" name="Line 237"/>
                <p:cNvSpPr>
                  <a:spLocks noChangeShapeType="1"/>
                </p:cNvSpPr>
                <p:nvPr/>
              </p:nvSpPr>
              <p:spPr bwMode="auto">
                <a:xfrm>
                  <a:off x="5301" y="1891"/>
                  <a:ext cx="67"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5" name="Line 238"/>
                <p:cNvSpPr>
                  <a:spLocks noChangeShapeType="1"/>
                </p:cNvSpPr>
                <p:nvPr/>
              </p:nvSpPr>
              <p:spPr bwMode="auto">
                <a:xfrm>
                  <a:off x="5318" y="1886"/>
                  <a:ext cx="65"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6" name="Line 239"/>
                <p:cNvSpPr>
                  <a:spLocks noChangeShapeType="1"/>
                </p:cNvSpPr>
                <p:nvPr/>
              </p:nvSpPr>
              <p:spPr bwMode="auto">
                <a:xfrm>
                  <a:off x="5332" y="1880"/>
                  <a:ext cx="64" cy="3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7" name="Line 240"/>
                <p:cNvSpPr>
                  <a:spLocks noChangeShapeType="1"/>
                </p:cNvSpPr>
                <p:nvPr/>
              </p:nvSpPr>
              <p:spPr bwMode="auto">
                <a:xfrm>
                  <a:off x="5346" y="1874"/>
                  <a:ext cx="64" cy="3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8" name="Line 241"/>
                <p:cNvSpPr>
                  <a:spLocks noChangeShapeType="1"/>
                </p:cNvSpPr>
                <p:nvPr/>
              </p:nvSpPr>
              <p:spPr bwMode="auto">
                <a:xfrm>
                  <a:off x="5209" y="1892"/>
                  <a:ext cx="35" cy="1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9" name="Line 242"/>
                <p:cNvSpPr>
                  <a:spLocks noChangeShapeType="1"/>
                </p:cNvSpPr>
                <p:nvPr/>
              </p:nvSpPr>
              <p:spPr bwMode="auto">
                <a:xfrm>
                  <a:off x="5232" y="1885"/>
                  <a:ext cx="32"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0" name="Line 243"/>
                <p:cNvSpPr>
                  <a:spLocks noChangeShapeType="1"/>
                </p:cNvSpPr>
                <p:nvPr/>
              </p:nvSpPr>
              <p:spPr bwMode="auto">
                <a:xfrm>
                  <a:off x="5252" y="1879"/>
                  <a:ext cx="33"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1" name="Line 244"/>
                <p:cNvSpPr>
                  <a:spLocks noChangeShapeType="1"/>
                </p:cNvSpPr>
                <p:nvPr/>
              </p:nvSpPr>
              <p:spPr bwMode="auto">
                <a:xfrm>
                  <a:off x="5272" y="1872"/>
                  <a:ext cx="32"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2" name="Line 245"/>
                <p:cNvSpPr>
                  <a:spLocks noChangeShapeType="1"/>
                </p:cNvSpPr>
                <p:nvPr/>
              </p:nvSpPr>
              <p:spPr bwMode="auto">
                <a:xfrm>
                  <a:off x="5292" y="1865"/>
                  <a:ext cx="31" cy="1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3" name="Line 246"/>
                <p:cNvSpPr>
                  <a:spLocks noChangeShapeType="1"/>
                </p:cNvSpPr>
                <p:nvPr/>
              </p:nvSpPr>
              <p:spPr bwMode="auto">
                <a:xfrm>
                  <a:off x="5315" y="1858"/>
                  <a:ext cx="29"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261" name="Group 254"/>
          <p:cNvGrpSpPr>
            <a:grpSpLocks/>
          </p:cNvGrpSpPr>
          <p:nvPr/>
        </p:nvGrpSpPr>
        <p:grpSpPr bwMode="auto">
          <a:xfrm>
            <a:off x="7012736" y="3240629"/>
            <a:ext cx="144954" cy="73406"/>
            <a:chOff x="5325" y="1860"/>
            <a:chExt cx="144" cy="79"/>
          </a:xfrm>
        </p:grpSpPr>
        <p:grpSp>
          <p:nvGrpSpPr>
            <p:cNvPr id="262" name="Group 255"/>
            <p:cNvGrpSpPr>
              <a:grpSpLocks/>
            </p:cNvGrpSpPr>
            <p:nvPr/>
          </p:nvGrpSpPr>
          <p:grpSpPr bwMode="auto">
            <a:xfrm>
              <a:off x="5325" y="1860"/>
              <a:ext cx="125" cy="63"/>
              <a:chOff x="5325" y="1860"/>
              <a:chExt cx="125" cy="63"/>
            </a:xfrm>
          </p:grpSpPr>
          <p:sp>
            <p:nvSpPr>
              <p:cNvPr id="266" name="Freeform 256"/>
              <p:cNvSpPr>
                <a:spLocks/>
              </p:cNvSpPr>
              <p:nvPr/>
            </p:nvSpPr>
            <p:spPr bwMode="auto">
              <a:xfrm>
                <a:off x="5325" y="1860"/>
                <a:ext cx="125" cy="63"/>
              </a:xfrm>
              <a:custGeom>
                <a:avLst/>
                <a:gdLst>
                  <a:gd name="T0" fmla="*/ 0 w 751"/>
                  <a:gd name="T1" fmla="*/ 0 h 379"/>
                  <a:gd name="T2" fmla="*/ 0 w 751"/>
                  <a:gd name="T3" fmla="*/ 0 h 379"/>
                  <a:gd name="T4" fmla="*/ 0 w 751"/>
                  <a:gd name="T5" fmla="*/ 0 h 379"/>
                  <a:gd name="T6" fmla="*/ 0 w 751"/>
                  <a:gd name="T7" fmla="*/ 0 h 379"/>
                  <a:gd name="T8" fmla="*/ 0 w 751"/>
                  <a:gd name="T9" fmla="*/ 0 h 379"/>
                  <a:gd name="T10" fmla="*/ 0 w 751"/>
                  <a:gd name="T11" fmla="*/ 0 h 379"/>
                  <a:gd name="T12" fmla="*/ 0 w 751"/>
                  <a:gd name="T13" fmla="*/ 0 h 379"/>
                  <a:gd name="T14" fmla="*/ 0 w 751"/>
                  <a:gd name="T15" fmla="*/ 0 h 379"/>
                  <a:gd name="T16" fmla="*/ 0 w 751"/>
                  <a:gd name="T17" fmla="*/ 0 h 379"/>
                  <a:gd name="T18" fmla="*/ 0 w 751"/>
                  <a:gd name="T19" fmla="*/ 0 h 379"/>
                  <a:gd name="T20" fmla="*/ 0 w 751"/>
                  <a:gd name="T21" fmla="*/ 0 h 379"/>
                  <a:gd name="T22" fmla="*/ 0 w 751"/>
                  <a:gd name="T23" fmla="*/ 0 h 379"/>
                  <a:gd name="T24" fmla="*/ 0 w 751"/>
                  <a:gd name="T25" fmla="*/ 0 h 379"/>
                  <a:gd name="T26" fmla="*/ 0 w 751"/>
                  <a:gd name="T27" fmla="*/ 0 h 379"/>
                  <a:gd name="T28" fmla="*/ 0 w 751"/>
                  <a:gd name="T29" fmla="*/ 0 h 379"/>
                  <a:gd name="T30" fmla="*/ 0 w 751"/>
                  <a:gd name="T31" fmla="*/ 0 h 379"/>
                  <a:gd name="T32" fmla="*/ 0 w 751"/>
                  <a:gd name="T33" fmla="*/ 0 h 379"/>
                  <a:gd name="T34" fmla="*/ 0 w 751"/>
                  <a:gd name="T35" fmla="*/ 0 h 379"/>
                  <a:gd name="T36" fmla="*/ 0 w 751"/>
                  <a:gd name="T37" fmla="*/ 0 h 379"/>
                  <a:gd name="T38" fmla="*/ 0 w 751"/>
                  <a:gd name="T39" fmla="*/ 0 h 379"/>
                  <a:gd name="T40" fmla="*/ 0 w 751"/>
                  <a:gd name="T41" fmla="*/ 0 h 379"/>
                  <a:gd name="T42" fmla="*/ 0 w 751"/>
                  <a:gd name="T43" fmla="*/ 0 h 379"/>
                  <a:gd name="T44" fmla="*/ 0 w 751"/>
                  <a:gd name="T45" fmla="*/ 0 h 379"/>
                  <a:gd name="T46" fmla="*/ 0 w 751"/>
                  <a:gd name="T47" fmla="*/ 0 h 379"/>
                  <a:gd name="T48" fmla="*/ 0 w 751"/>
                  <a:gd name="T49" fmla="*/ 0 h 379"/>
                  <a:gd name="T50" fmla="*/ 0 w 751"/>
                  <a:gd name="T51" fmla="*/ 0 h 379"/>
                  <a:gd name="T52" fmla="*/ 0 w 751"/>
                  <a:gd name="T53" fmla="*/ 0 h 379"/>
                  <a:gd name="T54" fmla="*/ 0 w 751"/>
                  <a:gd name="T55" fmla="*/ 0 h 379"/>
                  <a:gd name="T56" fmla="*/ 0 w 751"/>
                  <a:gd name="T57" fmla="*/ 0 h 379"/>
                  <a:gd name="T58" fmla="*/ 0 w 751"/>
                  <a:gd name="T59" fmla="*/ 0 h 379"/>
                  <a:gd name="T60" fmla="*/ 0 w 751"/>
                  <a:gd name="T61" fmla="*/ 0 h 379"/>
                  <a:gd name="T62" fmla="*/ 0 w 751"/>
                  <a:gd name="T63" fmla="*/ 0 h 379"/>
                  <a:gd name="T64" fmla="*/ 0 w 751"/>
                  <a:gd name="T65" fmla="*/ 0 h 379"/>
                  <a:gd name="T66" fmla="*/ 0 w 751"/>
                  <a:gd name="T67" fmla="*/ 0 h 379"/>
                  <a:gd name="T68" fmla="*/ 0 w 751"/>
                  <a:gd name="T69" fmla="*/ 0 h 379"/>
                  <a:gd name="T70" fmla="*/ 0 w 751"/>
                  <a:gd name="T71" fmla="*/ 0 h 379"/>
                  <a:gd name="T72" fmla="*/ 0 w 751"/>
                  <a:gd name="T73" fmla="*/ 0 h 379"/>
                  <a:gd name="T74" fmla="*/ 0 w 751"/>
                  <a:gd name="T75" fmla="*/ 0 h 379"/>
                  <a:gd name="T76" fmla="*/ 0 w 751"/>
                  <a:gd name="T77" fmla="*/ 0 h 379"/>
                  <a:gd name="T78" fmla="*/ 0 w 751"/>
                  <a:gd name="T79" fmla="*/ 0 h 379"/>
                  <a:gd name="T80" fmla="*/ 0 w 751"/>
                  <a:gd name="T81" fmla="*/ 0 h 379"/>
                  <a:gd name="T82" fmla="*/ 0 w 751"/>
                  <a:gd name="T83" fmla="*/ 0 h 379"/>
                  <a:gd name="T84" fmla="*/ 0 w 751"/>
                  <a:gd name="T85" fmla="*/ 0 h 379"/>
                  <a:gd name="T86" fmla="*/ 0 w 751"/>
                  <a:gd name="T87" fmla="*/ 0 h 379"/>
                  <a:gd name="T88" fmla="*/ 0 w 751"/>
                  <a:gd name="T89" fmla="*/ 0 h 379"/>
                  <a:gd name="T90" fmla="*/ 0 w 751"/>
                  <a:gd name="T91" fmla="*/ 0 h 379"/>
                  <a:gd name="T92" fmla="*/ 0 w 751"/>
                  <a:gd name="T93" fmla="*/ 0 h 379"/>
                  <a:gd name="T94" fmla="*/ 0 w 751"/>
                  <a:gd name="T95" fmla="*/ 0 h 379"/>
                  <a:gd name="T96" fmla="*/ 0 w 751"/>
                  <a:gd name="T97" fmla="*/ 0 h 379"/>
                  <a:gd name="T98" fmla="*/ 0 w 751"/>
                  <a:gd name="T99" fmla="*/ 0 h 379"/>
                  <a:gd name="T100" fmla="*/ 0 w 751"/>
                  <a:gd name="T101" fmla="*/ 0 h 379"/>
                  <a:gd name="T102" fmla="*/ 0 w 751"/>
                  <a:gd name="T103" fmla="*/ 0 h 379"/>
                  <a:gd name="T104" fmla="*/ 0 w 751"/>
                  <a:gd name="T105" fmla="*/ 0 h 379"/>
                  <a:gd name="T106" fmla="*/ 0 w 751"/>
                  <a:gd name="T107" fmla="*/ 0 h 379"/>
                  <a:gd name="T108" fmla="*/ 0 w 751"/>
                  <a:gd name="T109" fmla="*/ 0 h 379"/>
                  <a:gd name="T110" fmla="*/ 0 w 751"/>
                  <a:gd name="T111" fmla="*/ 0 h 379"/>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751" h="379">
                    <a:moveTo>
                      <a:pt x="679" y="379"/>
                    </a:moveTo>
                    <a:lnTo>
                      <a:pt x="639" y="370"/>
                    </a:lnTo>
                    <a:lnTo>
                      <a:pt x="600" y="352"/>
                    </a:lnTo>
                    <a:lnTo>
                      <a:pt x="564" y="344"/>
                    </a:lnTo>
                    <a:lnTo>
                      <a:pt x="502" y="353"/>
                    </a:lnTo>
                    <a:lnTo>
                      <a:pt x="457" y="352"/>
                    </a:lnTo>
                    <a:lnTo>
                      <a:pt x="425" y="341"/>
                    </a:lnTo>
                    <a:lnTo>
                      <a:pt x="399" y="332"/>
                    </a:lnTo>
                    <a:lnTo>
                      <a:pt x="373" y="320"/>
                    </a:lnTo>
                    <a:lnTo>
                      <a:pt x="346" y="295"/>
                    </a:lnTo>
                    <a:lnTo>
                      <a:pt x="324" y="273"/>
                    </a:lnTo>
                    <a:lnTo>
                      <a:pt x="288" y="246"/>
                    </a:lnTo>
                    <a:lnTo>
                      <a:pt x="238" y="254"/>
                    </a:lnTo>
                    <a:lnTo>
                      <a:pt x="208" y="256"/>
                    </a:lnTo>
                    <a:lnTo>
                      <a:pt x="190" y="251"/>
                    </a:lnTo>
                    <a:lnTo>
                      <a:pt x="182" y="243"/>
                    </a:lnTo>
                    <a:lnTo>
                      <a:pt x="176" y="228"/>
                    </a:lnTo>
                    <a:lnTo>
                      <a:pt x="180" y="215"/>
                    </a:lnTo>
                    <a:lnTo>
                      <a:pt x="190" y="200"/>
                    </a:lnTo>
                    <a:lnTo>
                      <a:pt x="208" y="193"/>
                    </a:lnTo>
                    <a:lnTo>
                      <a:pt x="248" y="188"/>
                    </a:lnTo>
                    <a:lnTo>
                      <a:pt x="296" y="171"/>
                    </a:lnTo>
                    <a:lnTo>
                      <a:pt x="256" y="140"/>
                    </a:lnTo>
                    <a:lnTo>
                      <a:pt x="209" y="121"/>
                    </a:lnTo>
                    <a:lnTo>
                      <a:pt x="168" y="124"/>
                    </a:lnTo>
                    <a:lnTo>
                      <a:pt x="121" y="121"/>
                    </a:lnTo>
                    <a:lnTo>
                      <a:pt x="93" y="131"/>
                    </a:lnTo>
                    <a:lnTo>
                      <a:pt x="54" y="132"/>
                    </a:lnTo>
                    <a:lnTo>
                      <a:pt x="42" y="121"/>
                    </a:lnTo>
                    <a:lnTo>
                      <a:pt x="39" y="105"/>
                    </a:lnTo>
                    <a:lnTo>
                      <a:pt x="18" y="106"/>
                    </a:lnTo>
                    <a:lnTo>
                      <a:pt x="6" y="103"/>
                    </a:lnTo>
                    <a:lnTo>
                      <a:pt x="0" y="87"/>
                    </a:lnTo>
                    <a:lnTo>
                      <a:pt x="4" y="74"/>
                    </a:lnTo>
                    <a:lnTo>
                      <a:pt x="15" y="68"/>
                    </a:lnTo>
                    <a:lnTo>
                      <a:pt x="36" y="56"/>
                    </a:lnTo>
                    <a:lnTo>
                      <a:pt x="52" y="44"/>
                    </a:lnTo>
                    <a:lnTo>
                      <a:pt x="71" y="34"/>
                    </a:lnTo>
                    <a:lnTo>
                      <a:pt x="93" y="27"/>
                    </a:lnTo>
                    <a:lnTo>
                      <a:pt x="112" y="27"/>
                    </a:lnTo>
                    <a:lnTo>
                      <a:pt x="203" y="9"/>
                    </a:lnTo>
                    <a:lnTo>
                      <a:pt x="222" y="4"/>
                    </a:lnTo>
                    <a:lnTo>
                      <a:pt x="244" y="0"/>
                    </a:lnTo>
                    <a:lnTo>
                      <a:pt x="267" y="4"/>
                    </a:lnTo>
                    <a:lnTo>
                      <a:pt x="295" y="13"/>
                    </a:lnTo>
                    <a:lnTo>
                      <a:pt x="373" y="56"/>
                    </a:lnTo>
                    <a:lnTo>
                      <a:pt x="410" y="64"/>
                    </a:lnTo>
                    <a:lnTo>
                      <a:pt x="443" y="71"/>
                    </a:lnTo>
                    <a:lnTo>
                      <a:pt x="469" y="87"/>
                    </a:lnTo>
                    <a:lnTo>
                      <a:pt x="484" y="108"/>
                    </a:lnTo>
                    <a:lnTo>
                      <a:pt x="549" y="153"/>
                    </a:lnTo>
                    <a:lnTo>
                      <a:pt x="578" y="174"/>
                    </a:lnTo>
                    <a:lnTo>
                      <a:pt x="617" y="215"/>
                    </a:lnTo>
                    <a:lnTo>
                      <a:pt x="641" y="227"/>
                    </a:lnTo>
                    <a:lnTo>
                      <a:pt x="751" y="232"/>
                    </a:lnTo>
                    <a:lnTo>
                      <a:pt x="679" y="379"/>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7" name="Freeform 257"/>
              <p:cNvSpPr>
                <a:spLocks/>
              </p:cNvSpPr>
              <p:nvPr/>
            </p:nvSpPr>
            <p:spPr bwMode="auto">
              <a:xfrm>
                <a:off x="5374" y="1888"/>
                <a:ext cx="29" cy="7"/>
              </a:xfrm>
              <a:custGeom>
                <a:avLst/>
                <a:gdLst>
                  <a:gd name="T0" fmla="*/ 0 w 179"/>
                  <a:gd name="T1" fmla="*/ 0 h 43"/>
                  <a:gd name="T2" fmla="*/ 0 w 179"/>
                  <a:gd name="T3" fmla="*/ 0 h 43"/>
                  <a:gd name="T4" fmla="*/ 0 w 179"/>
                  <a:gd name="T5" fmla="*/ 0 h 43"/>
                  <a:gd name="T6" fmla="*/ 0 w 179"/>
                  <a:gd name="T7" fmla="*/ 0 h 43"/>
                  <a:gd name="T8" fmla="*/ 0 w 179"/>
                  <a:gd name="T9" fmla="*/ 0 h 43"/>
                  <a:gd name="T10" fmla="*/ 0 w 179"/>
                  <a:gd name="T11" fmla="*/ 0 h 43"/>
                  <a:gd name="T12" fmla="*/ 0 w 179"/>
                  <a:gd name="T13" fmla="*/ 0 h 43"/>
                  <a:gd name="T14" fmla="*/ 0 w 179"/>
                  <a:gd name="T15" fmla="*/ 0 h 43"/>
                  <a:gd name="T16" fmla="*/ 0 w 179"/>
                  <a:gd name="T17" fmla="*/ 0 h 43"/>
                  <a:gd name="T18" fmla="*/ 0 w 179"/>
                  <a:gd name="T19" fmla="*/ 0 h 43"/>
                  <a:gd name="T20" fmla="*/ 0 w 179"/>
                  <a:gd name="T21" fmla="*/ 0 h 43"/>
                  <a:gd name="T22" fmla="*/ 0 w 179"/>
                  <a:gd name="T23" fmla="*/ 0 h 43"/>
                  <a:gd name="T24" fmla="*/ 0 w 179"/>
                  <a:gd name="T25" fmla="*/ 0 h 43"/>
                  <a:gd name="T26" fmla="*/ 0 w 179"/>
                  <a:gd name="T27" fmla="*/ 0 h 43"/>
                  <a:gd name="T28" fmla="*/ 0 w 179"/>
                  <a:gd name="T29" fmla="*/ 0 h 4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79" h="43">
                    <a:moveTo>
                      <a:pt x="0" y="0"/>
                    </a:moveTo>
                    <a:lnTo>
                      <a:pt x="6" y="11"/>
                    </a:lnTo>
                    <a:lnTo>
                      <a:pt x="38" y="10"/>
                    </a:lnTo>
                    <a:lnTo>
                      <a:pt x="50" y="16"/>
                    </a:lnTo>
                    <a:lnTo>
                      <a:pt x="76" y="29"/>
                    </a:lnTo>
                    <a:lnTo>
                      <a:pt x="112" y="37"/>
                    </a:lnTo>
                    <a:lnTo>
                      <a:pt x="150" y="38"/>
                    </a:lnTo>
                    <a:lnTo>
                      <a:pt x="179" y="43"/>
                    </a:lnTo>
                    <a:lnTo>
                      <a:pt x="155" y="34"/>
                    </a:lnTo>
                    <a:lnTo>
                      <a:pt x="125" y="29"/>
                    </a:lnTo>
                    <a:lnTo>
                      <a:pt x="105" y="29"/>
                    </a:lnTo>
                    <a:lnTo>
                      <a:pt x="76" y="21"/>
                    </a:lnTo>
                    <a:lnTo>
                      <a:pt x="53" y="8"/>
                    </a:lnTo>
                    <a:lnTo>
                      <a:pt x="43" y="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8" name="Freeform 258"/>
              <p:cNvSpPr>
                <a:spLocks/>
              </p:cNvSpPr>
              <p:nvPr/>
            </p:nvSpPr>
            <p:spPr bwMode="auto">
              <a:xfrm>
                <a:off x="5362" y="1894"/>
                <a:ext cx="4" cy="4"/>
              </a:xfrm>
              <a:custGeom>
                <a:avLst/>
                <a:gdLst>
                  <a:gd name="T0" fmla="*/ 0 w 20"/>
                  <a:gd name="T1" fmla="*/ 0 h 24"/>
                  <a:gd name="T2" fmla="*/ 0 w 20"/>
                  <a:gd name="T3" fmla="*/ 0 h 24"/>
                  <a:gd name="T4" fmla="*/ 0 w 20"/>
                  <a:gd name="T5" fmla="*/ 0 h 24"/>
                  <a:gd name="T6" fmla="*/ 0 w 20"/>
                  <a:gd name="T7" fmla="*/ 0 h 24"/>
                  <a:gd name="T8" fmla="*/ 0 w 20"/>
                  <a:gd name="T9" fmla="*/ 0 h 24"/>
                  <a:gd name="T10" fmla="*/ 0 w 20"/>
                  <a:gd name="T11" fmla="*/ 0 h 24"/>
                  <a:gd name="T12" fmla="*/ 0 w 20"/>
                  <a:gd name="T13" fmla="*/ 0 h 2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24">
                    <a:moveTo>
                      <a:pt x="4" y="0"/>
                    </a:moveTo>
                    <a:lnTo>
                      <a:pt x="12" y="6"/>
                    </a:lnTo>
                    <a:lnTo>
                      <a:pt x="9" y="15"/>
                    </a:lnTo>
                    <a:lnTo>
                      <a:pt x="0" y="24"/>
                    </a:lnTo>
                    <a:lnTo>
                      <a:pt x="17" y="18"/>
                    </a:lnTo>
                    <a:lnTo>
                      <a:pt x="20" y="8"/>
                    </a:lnTo>
                    <a:lnTo>
                      <a:pt x="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9" name="Freeform 259"/>
              <p:cNvSpPr>
                <a:spLocks/>
              </p:cNvSpPr>
              <p:nvPr/>
            </p:nvSpPr>
            <p:spPr bwMode="auto">
              <a:xfrm>
                <a:off x="5331" y="1869"/>
                <a:ext cx="17" cy="8"/>
              </a:xfrm>
              <a:custGeom>
                <a:avLst/>
                <a:gdLst>
                  <a:gd name="T0" fmla="*/ 0 w 104"/>
                  <a:gd name="T1" fmla="*/ 0 h 48"/>
                  <a:gd name="T2" fmla="*/ 0 w 104"/>
                  <a:gd name="T3" fmla="*/ 0 h 48"/>
                  <a:gd name="T4" fmla="*/ 0 w 104"/>
                  <a:gd name="T5" fmla="*/ 0 h 48"/>
                  <a:gd name="T6" fmla="*/ 0 w 104"/>
                  <a:gd name="T7" fmla="*/ 0 h 48"/>
                  <a:gd name="T8" fmla="*/ 0 w 104"/>
                  <a:gd name="T9" fmla="*/ 0 h 48"/>
                  <a:gd name="T10" fmla="*/ 0 w 104"/>
                  <a:gd name="T11" fmla="*/ 0 h 48"/>
                  <a:gd name="T12" fmla="*/ 0 w 104"/>
                  <a:gd name="T13" fmla="*/ 0 h 48"/>
                  <a:gd name="T14" fmla="*/ 0 w 104"/>
                  <a:gd name="T15" fmla="*/ 0 h 48"/>
                  <a:gd name="T16" fmla="*/ 0 w 104"/>
                  <a:gd name="T17" fmla="*/ 0 h 48"/>
                  <a:gd name="T18" fmla="*/ 0 w 104"/>
                  <a:gd name="T19" fmla="*/ 0 h 48"/>
                  <a:gd name="T20" fmla="*/ 0 w 104"/>
                  <a:gd name="T21" fmla="*/ 0 h 48"/>
                  <a:gd name="T22" fmla="*/ 0 w 104"/>
                  <a:gd name="T23" fmla="*/ 0 h 48"/>
                  <a:gd name="T24" fmla="*/ 0 w 104"/>
                  <a:gd name="T25" fmla="*/ 0 h 48"/>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4" h="48">
                    <a:moveTo>
                      <a:pt x="0" y="45"/>
                    </a:moveTo>
                    <a:lnTo>
                      <a:pt x="11" y="48"/>
                    </a:lnTo>
                    <a:lnTo>
                      <a:pt x="25" y="33"/>
                    </a:lnTo>
                    <a:lnTo>
                      <a:pt x="46" y="25"/>
                    </a:lnTo>
                    <a:lnTo>
                      <a:pt x="56" y="14"/>
                    </a:lnTo>
                    <a:lnTo>
                      <a:pt x="66" y="9"/>
                    </a:lnTo>
                    <a:lnTo>
                      <a:pt x="89" y="4"/>
                    </a:lnTo>
                    <a:lnTo>
                      <a:pt x="104" y="1"/>
                    </a:lnTo>
                    <a:lnTo>
                      <a:pt x="84" y="0"/>
                    </a:lnTo>
                    <a:lnTo>
                      <a:pt x="58" y="4"/>
                    </a:lnTo>
                    <a:lnTo>
                      <a:pt x="49" y="12"/>
                    </a:lnTo>
                    <a:lnTo>
                      <a:pt x="37" y="20"/>
                    </a:lnTo>
                    <a:lnTo>
                      <a:pt x="0" y="4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0" name="Freeform 260"/>
              <p:cNvSpPr>
                <a:spLocks/>
              </p:cNvSpPr>
              <p:nvPr/>
            </p:nvSpPr>
            <p:spPr bwMode="auto">
              <a:xfrm>
                <a:off x="5357" y="1866"/>
                <a:ext cx="27" cy="7"/>
              </a:xfrm>
              <a:custGeom>
                <a:avLst/>
                <a:gdLst>
                  <a:gd name="T0" fmla="*/ 0 w 166"/>
                  <a:gd name="T1" fmla="*/ 0 h 42"/>
                  <a:gd name="T2" fmla="*/ 0 w 166"/>
                  <a:gd name="T3" fmla="*/ 0 h 42"/>
                  <a:gd name="T4" fmla="*/ 0 w 166"/>
                  <a:gd name="T5" fmla="*/ 0 h 42"/>
                  <a:gd name="T6" fmla="*/ 0 w 166"/>
                  <a:gd name="T7" fmla="*/ 0 h 42"/>
                  <a:gd name="T8" fmla="*/ 0 w 166"/>
                  <a:gd name="T9" fmla="*/ 0 h 42"/>
                  <a:gd name="T10" fmla="*/ 0 w 166"/>
                  <a:gd name="T11" fmla="*/ 0 h 42"/>
                  <a:gd name="T12" fmla="*/ 0 w 166"/>
                  <a:gd name="T13" fmla="*/ 0 h 42"/>
                  <a:gd name="T14" fmla="*/ 0 w 166"/>
                  <a:gd name="T15" fmla="*/ 0 h 42"/>
                  <a:gd name="T16" fmla="*/ 0 w 166"/>
                  <a:gd name="T17" fmla="*/ 0 h 42"/>
                  <a:gd name="T18" fmla="*/ 0 w 166"/>
                  <a:gd name="T19" fmla="*/ 0 h 42"/>
                  <a:gd name="T20" fmla="*/ 0 w 166"/>
                  <a:gd name="T21" fmla="*/ 0 h 42"/>
                  <a:gd name="T22" fmla="*/ 0 w 166"/>
                  <a:gd name="T23" fmla="*/ 0 h 42"/>
                  <a:gd name="T24" fmla="*/ 0 w 166"/>
                  <a:gd name="T25" fmla="*/ 0 h 42"/>
                  <a:gd name="T26" fmla="*/ 0 w 166"/>
                  <a:gd name="T27" fmla="*/ 0 h 42"/>
                  <a:gd name="T28" fmla="*/ 0 w 166"/>
                  <a:gd name="T29" fmla="*/ 0 h 42"/>
                  <a:gd name="T30" fmla="*/ 0 w 166"/>
                  <a:gd name="T31" fmla="*/ 0 h 4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66" h="42">
                    <a:moveTo>
                      <a:pt x="0" y="10"/>
                    </a:moveTo>
                    <a:lnTo>
                      <a:pt x="35" y="6"/>
                    </a:lnTo>
                    <a:lnTo>
                      <a:pt x="55" y="0"/>
                    </a:lnTo>
                    <a:lnTo>
                      <a:pt x="63" y="0"/>
                    </a:lnTo>
                    <a:lnTo>
                      <a:pt x="85" y="5"/>
                    </a:lnTo>
                    <a:lnTo>
                      <a:pt x="94" y="14"/>
                    </a:lnTo>
                    <a:lnTo>
                      <a:pt x="111" y="23"/>
                    </a:lnTo>
                    <a:lnTo>
                      <a:pt x="143" y="36"/>
                    </a:lnTo>
                    <a:lnTo>
                      <a:pt x="166" y="36"/>
                    </a:lnTo>
                    <a:lnTo>
                      <a:pt x="142" y="42"/>
                    </a:lnTo>
                    <a:lnTo>
                      <a:pt x="126" y="39"/>
                    </a:lnTo>
                    <a:lnTo>
                      <a:pt x="91" y="22"/>
                    </a:lnTo>
                    <a:lnTo>
                      <a:pt x="79" y="10"/>
                    </a:lnTo>
                    <a:lnTo>
                      <a:pt x="55" y="8"/>
                    </a:lnTo>
                    <a:lnTo>
                      <a:pt x="35" y="10"/>
                    </a:lnTo>
                    <a:lnTo>
                      <a:pt x="0" y="1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1" name="Freeform 261"/>
              <p:cNvSpPr>
                <a:spLocks/>
              </p:cNvSpPr>
              <p:nvPr/>
            </p:nvSpPr>
            <p:spPr bwMode="auto">
              <a:xfrm>
                <a:off x="5335" y="1874"/>
                <a:ext cx="6" cy="5"/>
              </a:xfrm>
              <a:custGeom>
                <a:avLst/>
                <a:gdLst>
                  <a:gd name="T0" fmla="*/ 0 w 33"/>
                  <a:gd name="T1" fmla="*/ 0 h 30"/>
                  <a:gd name="T2" fmla="*/ 0 w 33"/>
                  <a:gd name="T3" fmla="*/ 0 h 30"/>
                  <a:gd name="T4" fmla="*/ 0 w 33"/>
                  <a:gd name="T5" fmla="*/ 0 h 30"/>
                  <a:gd name="T6" fmla="*/ 0 w 33"/>
                  <a:gd name="T7" fmla="*/ 0 h 30"/>
                  <a:gd name="T8" fmla="*/ 0 w 33"/>
                  <a:gd name="T9" fmla="*/ 0 h 30"/>
                  <a:gd name="T10" fmla="*/ 0 w 33"/>
                  <a:gd name="T11" fmla="*/ 0 h 3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30">
                    <a:moveTo>
                      <a:pt x="25" y="0"/>
                    </a:moveTo>
                    <a:lnTo>
                      <a:pt x="33" y="11"/>
                    </a:lnTo>
                    <a:lnTo>
                      <a:pt x="23" y="24"/>
                    </a:lnTo>
                    <a:lnTo>
                      <a:pt x="0" y="30"/>
                    </a:lnTo>
                    <a:lnTo>
                      <a:pt x="25" y="15"/>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2" name="Freeform 262"/>
              <p:cNvSpPr>
                <a:spLocks/>
              </p:cNvSpPr>
              <p:nvPr/>
            </p:nvSpPr>
            <p:spPr bwMode="auto">
              <a:xfrm>
                <a:off x="5329" y="1870"/>
                <a:ext cx="6" cy="4"/>
              </a:xfrm>
              <a:custGeom>
                <a:avLst/>
                <a:gdLst>
                  <a:gd name="T0" fmla="*/ 0 w 33"/>
                  <a:gd name="T1" fmla="*/ 0 h 28"/>
                  <a:gd name="T2" fmla="*/ 0 w 33"/>
                  <a:gd name="T3" fmla="*/ 0 h 28"/>
                  <a:gd name="T4" fmla="*/ 0 w 33"/>
                  <a:gd name="T5" fmla="*/ 0 h 28"/>
                  <a:gd name="T6" fmla="*/ 0 w 33"/>
                  <a:gd name="T7" fmla="*/ 0 h 28"/>
                  <a:gd name="T8" fmla="*/ 0 w 33"/>
                  <a:gd name="T9" fmla="*/ 0 h 28"/>
                  <a:gd name="T10" fmla="*/ 0 w 33"/>
                  <a:gd name="T11" fmla="*/ 0 h 2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28">
                    <a:moveTo>
                      <a:pt x="33" y="16"/>
                    </a:moveTo>
                    <a:lnTo>
                      <a:pt x="25" y="0"/>
                    </a:lnTo>
                    <a:lnTo>
                      <a:pt x="24" y="13"/>
                    </a:lnTo>
                    <a:lnTo>
                      <a:pt x="0" y="26"/>
                    </a:lnTo>
                    <a:lnTo>
                      <a:pt x="3" y="28"/>
                    </a:lnTo>
                    <a:lnTo>
                      <a:pt x="33" y="1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3" name="Freeform 263"/>
              <p:cNvSpPr>
                <a:spLocks/>
              </p:cNvSpPr>
              <p:nvPr/>
            </p:nvSpPr>
            <p:spPr bwMode="auto">
              <a:xfrm>
                <a:off x="5399" y="1876"/>
                <a:ext cx="6" cy="7"/>
              </a:xfrm>
              <a:custGeom>
                <a:avLst/>
                <a:gdLst>
                  <a:gd name="T0" fmla="*/ 0 w 37"/>
                  <a:gd name="T1" fmla="*/ 0 h 42"/>
                  <a:gd name="T2" fmla="*/ 0 w 37"/>
                  <a:gd name="T3" fmla="*/ 0 h 42"/>
                  <a:gd name="T4" fmla="*/ 0 w 37"/>
                  <a:gd name="T5" fmla="*/ 0 h 42"/>
                  <a:gd name="T6" fmla="*/ 0 w 37"/>
                  <a:gd name="T7" fmla="*/ 0 h 42"/>
                  <a:gd name="T8" fmla="*/ 0 w 37"/>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7" h="42">
                    <a:moveTo>
                      <a:pt x="0" y="0"/>
                    </a:moveTo>
                    <a:lnTo>
                      <a:pt x="8" y="21"/>
                    </a:lnTo>
                    <a:lnTo>
                      <a:pt x="23" y="39"/>
                    </a:lnTo>
                    <a:lnTo>
                      <a:pt x="37" y="4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4" name="Freeform 264"/>
              <p:cNvSpPr>
                <a:spLocks/>
              </p:cNvSpPr>
              <p:nvPr/>
            </p:nvSpPr>
            <p:spPr bwMode="auto">
              <a:xfrm>
                <a:off x="5420" y="1907"/>
                <a:ext cx="9" cy="6"/>
              </a:xfrm>
              <a:custGeom>
                <a:avLst/>
                <a:gdLst>
                  <a:gd name="T0" fmla="*/ 0 w 50"/>
                  <a:gd name="T1" fmla="*/ 0 h 39"/>
                  <a:gd name="T2" fmla="*/ 0 w 50"/>
                  <a:gd name="T3" fmla="*/ 0 h 39"/>
                  <a:gd name="T4" fmla="*/ 0 w 50"/>
                  <a:gd name="T5" fmla="*/ 0 h 39"/>
                  <a:gd name="T6" fmla="*/ 0 w 50"/>
                  <a:gd name="T7" fmla="*/ 0 h 3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50" h="39">
                    <a:moveTo>
                      <a:pt x="50" y="0"/>
                    </a:moveTo>
                    <a:lnTo>
                      <a:pt x="17" y="14"/>
                    </a:lnTo>
                    <a:lnTo>
                      <a:pt x="0" y="39"/>
                    </a:lnTo>
                    <a:lnTo>
                      <a:pt x="5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63" name="Group 265"/>
            <p:cNvGrpSpPr>
              <a:grpSpLocks/>
            </p:cNvGrpSpPr>
            <p:nvPr/>
          </p:nvGrpSpPr>
          <p:grpSpPr bwMode="auto">
            <a:xfrm>
              <a:off x="5432" y="1894"/>
              <a:ext cx="37" cy="45"/>
              <a:chOff x="5432" y="1894"/>
              <a:chExt cx="37" cy="45"/>
            </a:xfrm>
          </p:grpSpPr>
          <p:sp>
            <p:nvSpPr>
              <p:cNvPr id="264" name="Freeform 266"/>
              <p:cNvSpPr>
                <a:spLocks/>
              </p:cNvSpPr>
              <p:nvPr/>
            </p:nvSpPr>
            <p:spPr bwMode="auto">
              <a:xfrm>
                <a:off x="5432" y="1894"/>
                <a:ext cx="37" cy="45"/>
              </a:xfrm>
              <a:custGeom>
                <a:avLst/>
                <a:gdLst>
                  <a:gd name="T0" fmla="*/ 0 w 219"/>
                  <a:gd name="T1" fmla="*/ 0 h 267"/>
                  <a:gd name="T2" fmla="*/ 0 w 219"/>
                  <a:gd name="T3" fmla="*/ 0 h 267"/>
                  <a:gd name="T4" fmla="*/ 0 w 219"/>
                  <a:gd name="T5" fmla="*/ 0 h 267"/>
                  <a:gd name="T6" fmla="*/ 0 w 219"/>
                  <a:gd name="T7" fmla="*/ 0 h 267"/>
                  <a:gd name="T8" fmla="*/ 0 w 219"/>
                  <a:gd name="T9" fmla="*/ 0 h 267"/>
                  <a:gd name="T10" fmla="*/ 0 w 219"/>
                  <a:gd name="T11" fmla="*/ 0 h 267"/>
                  <a:gd name="T12" fmla="*/ 0 w 219"/>
                  <a:gd name="T13" fmla="*/ 0 h 267"/>
                  <a:gd name="T14" fmla="*/ 0 w 219"/>
                  <a:gd name="T15" fmla="*/ 0 h 267"/>
                  <a:gd name="T16" fmla="*/ 0 w 219"/>
                  <a:gd name="T17" fmla="*/ 0 h 267"/>
                  <a:gd name="T18" fmla="*/ 0 w 219"/>
                  <a:gd name="T19" fmla="*/ 0 h 26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267">
                    <a:moveTo>
                      <a:pt x="77" y="17"/>
                    </a:moveTo>
                    <a:lnTo>
                      <a:pt x="42" y="55"/>
                    </a:lnTo>
                    <a:lnTo>
                      <a:pt x="26" y="87"/>
                    </a:lnTo>
                    <a:lnTo>
                      <a:pt x="11" y="138"/>
                    </a:lnTo>
                    <a:lnTo>
                      <a:pt x="11" y="167"/>
                    </a:lnTo>
                    <a:lnTo>
                      <a:pt x="0" y="210"/>
                    </a:lnTo>
                    <a:lnTo>
                      <a:pt x="178" y="267"/>
                    </a:lnTo>
                    <a:lnTo>
                      <a:pt x="219" y="0"/>
                    </a:lnTo>
                    <a:lnTo>
                      <a:pt x="146" y="17"/>
                    </a:lnTo>
                    <a:lnTo>
                      <a:pt x="77" y="17"/>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5" name="Freeform 267"/>
              <p:cNvSpPr>
                <a:spLocks/>
              </p:cNvSpPr>
              <p:nvPr/>
            </p:nvSpPr>
            <p:spPr bwMode="auto">
              <a:xfrm>
                <a:off x="5436" y="1898"/>
                <a:ext cx="29" cy="37"/>
              </a:xfrm>
              <a:custGeom>
                <a:avLst/>
                <a:gdLst>
                  <a:gd name="T0" fmla="*/ 0 w 175"/>
                  <a:gd name="T1" fmla="*/ 0 h 220"/>
                  <a:gd name="T2" fmla="*/ 0 w 175"/>
                  <a:gd name="T3" fmla="*/ 0 h 220"/>
                  <a:gd name="T4" fmla="*/ 0 w 175"/>
                  <a:gd name="T5" fmla="*/ 0 h 220"/>
                  <a:gd name="T6" fmla="*/ 0 w 175"/>
                  <a:gd name="T7" fmla="*/ 0 h 220"/>
                  <a:gd name="T8" fmla="*/ 0 w 175"/>
                  <a:gd name="T9" fmla="*/ 0 h 220"/>
                  <a:gd name="T10" fmla="*/ 0 w 175"/>
                  <a:gd name="T11" fmla="*/ 0 h 220"/>
                  <a:gd name="T12" fmla="*/ 0 w 175"/>
                  <a:gd name="T13" fmla="*/ 0 h 220"/>
                  <a:gd name="T14" fmla="*/ 0 w 175"/>
                  <a:gd name="T15" fmla="*/ 0 h 220"/>
                  <a:gd name="T16" fmla="*/ 0 w 175"/>
                  <a:gd name="T17" fmla="*/ 0 h 22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75" h="220">
                    <a:moveTo>
                      <a:pt x="69" y="7"/>
                    </a:moveTo>
                    <a:lnTo>
                      <a:pt x="38" y="42"/>
                    </a:lnTo>
                    <a:lnTo>
                      <a:pt x="12" y="92"/>
                    </a:lnTo>
                    <a:lnTo>
                      <a:pt x="6" y="128"/>
                    </a:lnTo>
                    <a:lnTo>
                      <a:pt x="0" y="171"/>
                    </a:lnTo>
                    <a:lnTo>
                      <a:pt x="140" y="220"/>
                    </a:lnTo>
                    <a:lnTo>
                      <a:pt x="175" y="0"/>
                    </a:lnTo>
                    <a:lnTo>
                      <a:pt x="122" y="10"/>
                    </a:lnTo>
                    <a:lnTo>
                      <a:pt x="69" y="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sp>
        <p:nvSpPr>
          <p:cNvPr id="275" name="Freeform 268"/>
          <p:cNvSpPr>
            <a:spLocks/>
          </p:cNvSpPr>
          <p:nvPr/>
        </p:nvSpPr>
        <p:spPr bwMode="auto">
          <a:xfrm>
            <a:off x="7153663" y="3046428"/>
            <a:ext cx="123814" cy="124512"/>
          </a:xfrm>
          <a:custGeom>
            <a:avLst/>
            <a:gdLst>
              <a:gd name="T0" fmla="*/ 2147483646 w 741"/>
              <a:gd name="T1" fmla="*/ 2147483646 h 807"/>
              <a:gd name="T2" fmla="*/ 2147483646 w 741"/>
              <a:gd name="T3" fmla="*/ 2147483646 h 807"/>
              <a:gd name="T4" fmla="*/ 2147483646 w 741"/>
              <a:gd name="T5" fmla="*/ 2147483646 h 807"/>
              <a:gd name="T6" fmla="*/ 2147483646 w 741"/>
              <a:gd name="T7" fmla="*/ 2147483646 h 807"/>
              <a:gd name="T8" fmla="*/ 2147483646 w 741"/>
              <a:gd name="T9" fmla="*/ 2147483646 h 807"/>
              <a:gd name="T10" fmla="*/ 2147483646 w 741"/>
              <a:gd name="T11" fmla="*/ 2147483646 h 807"/>
              <a:gd name="T12" fmla="*/ 2147483646 w 741"/>
              <a:gd name="T13" fmla="*/ 2147483646 h 807"/>
              <a:gd name="T14" fmla="*/ 2147483646 w 741"/>
              <a:gd name="T15" fmla="*/ 2147483646 h 807"/>
              <a:gd name="T16" fmla="*/ 2147483646 w 741"/>
              <a:gd name="T17" fmla="*/ 2147483646 h 807"/>
              <a:gd name="T18" fmla="*/ 0 w 741"/>
              <a:gd name="T19" fmla="*/ 2147483646 h 807"/>
              <a:gd name="T20" fmla="*/ 0 w 741"/>
              <a:gd name="T21" fmla="*/ 2147483646 h 807"/>
              <a:gd name="T22" fmla="*/ 2147483646 w 741"/>
              <a:gd name="T23" fmla="*/ 2147483646 h 807"/>
              <a:gd name="T24" fmla="*/ 2147483646 w 741"/>
              <a:gd name="T25" fmla="*/ 2147483646 h 807"/>
              <a:gd name="T26" fmla="*/ 2147483646 w 741"/>
              <a:gd name="T27" fmla="*/ 2147483646 h 807"/>
              <a:gd name="T28" fmla="*/ 2147483646 w 741"/>
              <a:gd name="T29" fmla="*/ 2147483646 h 807"/>
              <a:gd name="T30" fmla="*/ 2147483646 w 741"/>
              <a:gd name="T31" fmla="*/ 2147483646 h 807"/>
              <a:gd name="T32" fmla="*/ 2147483646 w 741"/>
              <a:gd name="T33" fmla="*/ 2147483646 h 807"/>
              <a:gd name="T34" fmla="*/ 2147483646 w 741"/>
              <a:gd name="T35" fmla="*/ 2147483646 h 807"/>
              <a:gd name="T36" fmla="*/ 2147483646 w 741"/>
              <a:gd name="T37" fmla="*/ 2147483646 h 807"/>
              <a:gd name="T38" fmla="*/ 2147483646 w 741"/>
              <a:gd name="T39" fmla="*/ 2147483646 h 807"/>
              <a:gd name="T40" fmla="*/ 2147483646 w 741"/>
              <a:gd name="T41" fmla="*/ 2147483646 h 807"/>
              <a:gd name="T42" fmla="*/ 2147483646 w 741"/>
              <a:gd name="T43" fmla="*/ 2147483646 h 807"/>
              <a:gd name="T44" fmla="*/ 2147483646 w 741"/>
              <a:gd name="T45" fmla="*/ 2147483646 h 807"/>
              <a:gd name="T46" fmla="*/ 2147483646 w 741"/>
              <a:gd name="T47" fmla="*/ 2147483646 h 807"/>
              <a:gd name="T48" fmla="*/ 2147483646 w 741"/>
              <a:gd name="T49" fmla="*/ 2147483646 h 807"/>
              <a:gd name="T50" fmla="*/ 2147483646 w 741"/>
              <a:gd name="T51" fmla="*/ 2147483646 h 807"/>
              <a:gd name="T52" fmla="*/ 2147483646 w 741"/>
              <a:gd name="T53" fmla="*/ 2147483646 h 807"/>
              <a:gd name="T54" fmla="*/ 2147483646 w 741"/>
              <a:gd name="T55" fmla="*/ 2147483646 h 807"/>
              <a:gd name="T56" fmla="*/ 2147483646 w 741"/>
              <a:gd name="T57" fmla="*/ 2147483646 h 807"/>
              <a:gd name="T58" fmla="*/ 2147483646 w 741"/>
              <a:gd name="T59" fmla="*/ 2147483646 h 807"/>
              <a:gd name="T60" fmla="*/ 2147483646 w 741"/>
              <a:gd name="T61" fmla="*/ 2147483646 h 807"/>
              <a:gd name="T62" fmla="*/ 2147483646 w 741"/>
              <a:gd name="T63" fmla="*/ 2147483646 h 807"/>
              <a:gd name="T64" fmla="*/ 2147483646 w 741"/>
              <a:gd name="T65" fmla="*/ 2147483646 h 807"/>
              <a:gd name="T66" fmla="*/ 2147483646 w 741"/>
              <a:gd name="T67" fmla="*/ 0 h 807"/>
              <a:gd name="T68" fmla="*/ 2147483646 w 741"/>
              <a:gd name="T69" fmla="*/ 2147483646 h 807"/>
              <a:gd name="T70" fmla="*/ 2147483646 w 741"/>
              <a:gd name="T71" fmla="*/ 2147483646 h 807"/>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741" h="807">
                <a:moveTo>
                  <a:pt x="243" y="26"/>
                </a:moveTo>
                <a:lnTo>
                  <a:pt x="179" y="74"/>
                </a:lnTo>
                <a:lnTo>
                  <a:pt x="144" y="131"/>
                </a:lnTo>
                <a:lnTo>
                  <a:pt x="112" y="192"/>
                </a:lnTo>
                <a:lnTo>
                  <a:pt x="92" y="224"/>
                </a:lnTo>
                <a:lnTo>
                  <a:pt x="92" y="259"/>
                </a:lnTo>
                <a:lnTo>
                  <a:pt x="109" y="300"/>
                </a:lnTo>
                <a:lnTo>
                  <a:pt x="77" y="332"/>
                </a:lnTo>
                <a:lnTo>
                  <a:pt x="26" y="420"/>
                </a:lnTo>
                <a:lnTo>
                  <a:pt x="0" y="467"/>
                </a:lnTo>
                <a:lnTo>
                  <a:pt x="0" y="482"/>
                </a:lnTo>
                <a:lnTo>
                  <a:pt x="6" y="498"/>
                </a:lnTo>
                <a:lnTo>
                  <a:pt x="28" y="503"/>
                </a:lnTo>
                <a:lnTo>
                  <a:pt x="60" y="504"/>
                </a:lnTo>
                <a:lnTo>
                  <a:pt x="79" y="511"/>
                </a:lnTo>
                <a:lnTo>
                  <a:pt x="77" y="546"/>
                </a:lnTo>
                <a:lnTo>
                  <a:pt x="67" y="587"/>
                </a:lnTo>
                <a:lnTo>
                  <a:pt x="86" y="609"/>
                </a:lnTo>
                <a:lnTo>
                  <a:pt x="80" y="639"/>
                </a:lnTo>
                <a:lnTo>
                  <a:pt x="95" y="659"/>
                </a:lnTo>
                <a:lnTo>
                  <a:pt x="110" y="713"/>
                </a:lnTo>
                <a:lnTo>
                  <a:pt x="133" y="728"/>
                </a:lnTo>
                <a:lnTo>
                  <a:pt x="167" y="728"/>
                </a:lnTo>
                <a:lnTo>
                  <a:pt x="217" y="721"/>
                </a:lnTo>
                <a:lnTo>
                  <a:pt x="269" y="713"/>
                </a:lnTo>
                <a:lnTo>
                  <a:pt x="263" y="807"/>
                </a:lnTo>
                <a:lnTo>
                  <a:pt x="658" y="681"/>
                </a:lnTo>
                <a:lnTo>
                  <a:pt x="626" y="606"/>
                </a:lnTo>
                <a:lnTo>
                  <a:pt x="634" y="549"/>
                </a:lnTo>
                <a:lnTo>
                  <a:pt x="741" y="441"/>
                </a:lnTo>
                <a:lnTo>
                  <a:pt x="741" y="155"/>
                </a:lnTo>
                <a:lnTo>
                  <a:pt x="668" y="77"/>
                </a:lnTo>
                <a:lnTo>
                  <a:pt x="577" y="35"/>
                </a:lnTo>
                <a:lnTo>
                  <a:pt x="481" y="0"/>
                </a:lnTo>
                <a:lnTo>
                  <a:pt x="355" y="18"/>
                </a:lnTo>
                <a:lnTo>
                  <a:pt x="243" y="26"/>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6" name="Freeform 269"/>
          <p:cNvSpPr>
            <a:spLocks/>
          </p:cNvSpPr>
          <p:nvPr/>
        </p:nvSpPr>
        <p:spPr bwMode="auto">
          <a:xfrm>
            <a:off x="7159703" y="3121692"/>
            <a:ext cx="7046" cy="1858"/>
          </a:xfrm>
          <a:custGeom>
            <a:avLst/>
            <a:gdLst>
              <a:gd name="T0" fmla="*/ 0 w 42"/>
              <a:gd name="T1" fmla="*/ 2147483646 h 9"/>
              <a:gd name="T2" fmla="*/ 2147483646 w 42"/>
              <a:gd name="T3" fmla="*/ 2147483646 h 9"/>
              <a:gd name="T4" fmla="*/ 2147483646 w 42"/>
              <a:gd name="T5" fmla="*/ 2147483646 h 9"/>
              <a:gd name="T6" fmla="*/ 2147483646 w 42"/>
              <a:gd name="T7" fmla="*/ 2147483646 h 9"/>
              <a:gd name="T8" fmla="*/ 2147483646 w 42"/>
              <a:gd name="T9" fmla="*/ 2147483646 h 9"/>
              <a:gd name="T10" fmla="*/ 2147483646 w 42"/>
              <a:gd name="T11" fmla="*/ 0 h 9"/>
              <a:gd name="T12" fmla="*/ 0 w 42"/>
              <a:gd name="T13" fmla="*/ 2147483646 h 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2" h="9">
                <a:moveTo>
                  <a:pt x="0" y="3"/>
                </a:moveTo>
                <a:lnTo>
                  <a:pt x="9" y="8"/>
                </a:lnTo>
                <a:lnTo>
                  <a:pt x="30" y="6"/>
                </a:lnTo>
                <a:lnTo>
                  <a:pt x="39" y="9"/>
                </a:lnTo>
                <a:lnTo>
                  <a:pt x="42" y="2"/>
                </a:lnTo>
                <a:lnTo>
                  <a:pt x="29" y="0"/>
                </a:lnTo>
                <a:lnTo>
                  <a:pt x="0" y="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7" name="Freeform 270"/>
          <p:cNvSpPr>
            <a:spLocks/>
          </p:cNvSpPr>
          <p:nvPr/>
        </p:nvSpPr>
        <p:spPr bwMode="auto">
          <a:xfrm>
            <a:off x="7166749" y="3117047"/>
            <a:ext cx="3020" cy="4646"/>
          </a:xfrm>
          <a:custGeom>
            <a:avLst/>
            <a:gdLst>
              <a:gd name="T0" fmla="*/ 0 w 17"/>
              <a:gd name="T1" fmla="*/ 0 h 31"/>
              <a:gd name="T2" fmla="*/ 2147483646 w 17"/>
              <a:gd name="T3" fmla="*/ 2147483646 h 31"/>
              <a:gd name="T4" fmla="*/ 2147483646 w 17"/>
              <a:gd name="T5" fmla="*/ 2147483646 h 31"/>
              <a:gd name="T6" fmla="*/ 2147483646 w 17"/>
              <a:gd name="T7" fmla="*/ 2147483646 h 31"/>
              <a:gd name="T8" fmla="*/ 2147483646 w 17"/>
              <a:gd name="T9" fmla="*/ 2147483646 h 31"/>
              <a:gd name="T10" fmla="*/ 2147483646 w 17"/>
              <a:gd name="T11" fmla="*/ 2147483646 h 31"/>
              <a:gd name="T12" fmla="*/ 0 w 17"/>
              <a:gd name="T13" fmla="*/ 0 h 3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7" h="31">
                <a:moveTo>
                  <a:pt x="0" y="0"/>
                </a:moveTo>
                <a:lnTo>
                  <a:pt x="11" y="7"/>
                </a:lnTo>
                <a:lnTo>
                  <a:pt x="11" y="16"/>
                </a:lnTo>
                <a:lnTo>
                  <a:pt x="13" y="31"/>
                </a:lnTo>
                <a:lnTo>
                  <a:pt x="17" y="12"/>
                </a:lnTo>
                <a:lnTo>
                  <a:pt x="17" y="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8" name="Freeform 271"/>
          <p:cNvSpPr>
            <a:spLocks/>
          </p:cNvSpPr>
          <p:nvPr/>
        </p:nvSpPr>
        <p:spPr bwMode="auto">
          <a:xfrm>
            <a:off x="7171782" y="3101250"/>
            <a:ext cx="3020" cy="9292"/>
          </a:xfrm>
          <a:custGeom>
            <a:avLst/>
            <a:gdLst>
              <a:gd name="T0" fmla="*/ 2147483646 w 19"/>
              <a:gd name="T1" fmla="*/ 0 h 60"/>
              <a:gd name="T2" fmla="*/ 2147483646 w 19"/>
              <a:gd name="T3" fmla="*/ 2147483646 h 60"/>
              <a:gd name="T4" fmla="*/ 0 w 19"/>
              <a:gd name="T5" fmla="*/ 2147483646 h 60"/>
              <a:gd name="T6" fmla="*/ 2147483646 w 19"/>
              <a:gd name="T7" fmla="*/ 2147483646 h 60"/>
              <a:gd name="T8" fmla="*/ 2147483646 w 19"/>
              <a:gd name="T9" fmla="*/ 0 h 6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60">
                <a:moveTo>
                  <a:pt x="19" y="0"/>
                </a:moveTo>
                <a:lnTo>
                  <a:pt x="5" y="34"/>
                </a:lnTo>
                <a:lnTo>
                  <a:pt x="0" y="60"/>
                </a:lnTo>
                <a:lnTo>
                  <a:pt x="9" y="43"/>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9" name="Freeform 272"/>
          <p:cNvSpPr>
            <a:spLocks/>
          </p:cNvSpPr>
          <p:nvPr/>
        </p:nvSpPr>
        <p:spPr bwMode="auto">
          <a:xfrm>
            <a:off x="7173796" y="3091958"/>
            <a:ext cx="13086" cy="8363"/>
          </a:xfrm>
          <a:custGeom>
            <a:avLst/>
            <a:gdLst>
              <a:gd name="T0" fmla="*/ 0 w 80"/>
              <a:gd name="T1" fmla="*/ 0 h 51"/>
              <a:gd name="T2" fmla="*/ 2147483646 w 80"/>
              <a:gd name="T3" fmla="*/ 2147483646 h 51"/>
              <a:gd name="T4" fmla="*/ 2147483646 w 80"/>
              <a:gd name="T5" fmla="*/ 2147483646 h 51"/>
              <a:gd name="T6" fmla="*/ 2147483646 w 80"/>
              <a:gd name="T7" fmla="*/ 2147483646 h 51"/>
              <a:gd name="T8" fmla="*/ 2147483646 w 80"/>
              <a:gd name="T9" fmla="*/ 2147483646 h 51"/>
              <a:gd name="T10" fmla="*/ 2147483646 w 80"/>
              <a:gd name="T11" fmla="*/ 2147483646 h 51"/>
              <a:gd name="T12" fmla="*/ 2147483646 w 80"/>
              <a:gd name="T13" fmla="*/ 2147483646 h 51"/>
              <a:gd name="T14" fmla="*/ 2147483646 w 80"/>
              <a:gd name="T15" fmla="*/ 2147483646 h 51"/>
              <a:gd name="T16" fmla="*/ 2147483646 w 80"/>
              <a:gd name="T17" fmla="*/ 2147483646 h 51"/>
              <a:gd name="T18" fmla="*/ 2147483646 w 80"/>
              <a:gd name="T19" fmla="*/ 2147483646 h 51"/>
              <a:gd name="T20" fmla="*/ 0 w 80"/>
              <a:gd name="T21" fmla="*/ 0 h 51"/>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80" h="51">
                <a:moveTo>
                  <a:pt x="0" y="0"/>
                </a:moveTo>
                <a:lnTo>
                  <a:pt x="17" y="28"/>
                </a:lnTo>
                <a:lnTo>
                  <a:pt x="13" y="35"/>
                </a:lnTo>
                <a:lnTo>
                  <a:pt x="13" y="40"/>
                </a:lnTo>
                <a:lnTo>
                  <a:pt x="9" y="51"/>
                </a:lnTo>
                <a:lnTo>
                  <a:pt x="20" y="34"/>
                </a:lnTo>
                <a:lnTo>
                  <a:pt x="35" y="34"/>
                </a:lnTo>
                <a:lnTo>
                  <a:pt x="52" y="28"/>
                </a:lnTo>
                <a:lnTo>
                  <a:pt x="80" y="26"/>
                </a:lnTo>
                <a:lnTo>
                  <a:pt x="5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0" name="Freeform 273"/>
          <p:cNvSpPr>
            <a:spLocks/>
          </p:cNvSpPr>
          <p:nvPr/>
        </p:nvSpPr>
        <p:spPr bwMode="auto">
          <a:xfrm>
            <a:off x="7170776" y="3080807"/>
            <a:ext cx="22145" cy="7434"/>
          </a:xfrm>
          <a:custGeom>
            <a:avLst/>
            <a:gdLst>
              <a:gd name="T0" fmla="*/ 0 w 135"/>
              <a:gd name="T1" fmla="*/ 2147483646 h 48"/>
              <a:gd name="T2" fmla="*/ 2147483646 w 135"/>
              <a:gd name="T3" fmla="*/ 2147483646 h 48"/>
              <a:gd name="T4" fmla="*/ 2147483646 w 135"/>
              <a:gd name="T5" fmla="*/ 2147483646 h 48"/>
              <a:gd name="T6" fmla="*/ 2147483646 w 135"/>
              <a:gd name="T7" fmla="*/ 2147483646 h 48"/>
              <a:gd name="T8" fmla="*/ 2147483646 w 135"/>
              <a:gd name="T9" fmla="*/ 2147483646 h 48"/>
              <a:gd name="T10" fmla="*/ 2147483646 w 135"/>
              <a:gd name="T11" fmla="*/ 2147483646 h 48"/>
              <a:gd name="T12" fmla="*/ 2147483646 w 135"/>
              <a:gd name="T13" fmla="*/ 2147483646 h 48"/>
              <a:gd name="T14" fmla="*/ 2147483646 w 135"/>
              <a:gd name="T15" fmla="*/ 2147483646 h 48"/>
              <a:gd name="T16" fmla="*/ 2147483646 w 135"/>
              <a:gd name="T17" fmla="*/ 2147483646 h 48"/>
              <a:gd name="T18" fmla="*/ 2147483646 w 135"/>
              <a:gd name="T19" fmla="*/ 0 h 48"/>
              <a:gd name="T20" fmla="*/ 2147483646 w 135"/>
              <a:gd name="T21" fmla="*/ 2147483646 h 48"/>
              <a:gd name="T22" fmla="*/ 2147483646 w 135"/>
              <a:gd name="T23" fmla="*/ 2147483646 h 48"/>
              <a:gd name="T24" fmla="*/ 2147483646 w 135"/>
              <a:gd name="T25" fmla="*/ 2147483646 h 48"/>
              <a:gd name="T26" fmla="*/ 2147483646 w 135"/>
              <a:gd name="T27" fmla="*/ 2147483646 h 48"/>
              <a:gd name="T28" fmla="*/ 0 w 135"/>
              <a:gd name="T29" fmla="*/ 2147483646 h 4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35" h="48">
                <a:moveTo>
                  <a:pt x="0" y="25"/>
                </a:moveTo>
                <a:lnTo>
                  <a:pt x="6" y="42"/>
                </a:lnTo>
                <a:lnTo>
                  <a:pt x="20" y="48"/>
                </a:lnTo>
                <a:lnTo>
                  <a:pt x="42" y="34"/>
                </a:lnTo>
                <a:lnTo>
                  <a:pt x="69" y="25"/>
                </a:lnTo>
                <a:lnTo>
                  <a:pt x="113" y="24"/>
                </a:lnTo>
                <a:lnTo>
                  <a:pt x="135" y="27"/>
                </a:lnTo>
                <a:lnTo>
                  <a:pt x="101" y="12"/>
                </a:lnTo>
                <a:lnTo>
                  <a:pt x="77" y="6"/>
                </a:lnTo>
                <a:lnTo>
                  <a:pt x="80" y="0"/>
                </a:lnTo>
                <a:lnTo>
                  <a:pt x="57" y="9"/>
                </a:lnTo>
                <a:lnTo>
                  <a:pt x="59" y="3"/>
                </a:lnTo>
                <a:lnTo>
                  <a:pt x="40" y="12"/>
                </a:lnTo>
                <a:lnTo>
                  <a:pt x="23" y="12"/>
                </a:lnTo>
                <a:lnTo>
                  <a:pt x="0" y="2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1" name="Freeform 274"/>
          <p:cNvSpPr>
            <a:spLocks/>
          </p:cNvSpPr>
          <p:nvPr/>
        </p:nvSpPr>
        <p:spPr bwMode="auto">
          <a:xfrm>
            <a:off x="7221106" y="3091029"/>
            <a:ext cx="13087" cy="24159"/>
          </a:xfrm>
          <a:custGeom>
            <a:avLst/>
            <a:gdLst>
              <a:gd name="T0" fmla="*/ 0 w 78"/>
              <a:gd name="T1" fmla="*/ 2147483646 h 159"/>
              <a:gd name="T2" fmla="*/ 2147483646 w 78"/>
              <a:gd name="T3" fmla="*/ 2147483646 h 159"/>
              <a:gd name="T4" fmla="*/ 2147483646 w 78"/>
              <a:gd name="T5" fmla="*/ 2147483646 h 159"/>
              <a:gd name="T6" fmla="*/ 2147483646 w 78"/>
              <a:gd name="T7" fmla="*/ 2147483646 h 159"/>
              <a:gd name="T8" fmla="*/ 2147483646 w 78"/>
              <a:gd name="T9" fmla="*/ 2147483646 h 159"/>
              <a:gd name="T10" fmla="*/ 2147483646 w 78"/>
              <a:gd name="T11" fmla="*/ 2147483646 h 159"/>
              <a:gd name="T12" fmla="*/ 2147483646 w 78"/>
              <a:gd name="T13" fmla="*/ 2147483646 h 159"/>
              <a:gd name="T14" fmla="*/ 2147483646 w 78"/>
              <a:gd name="T15" fmla="*/ 2147483646 h 159"/>
              <a:gd name="T16" fmla="*/ 2147483646 w 78"/>
              <a:gd name="T17" fmla="*/ 2147483646 h 159"/>
              <a:gd name="T18" fmla="*/ 2147483646 w 78"/>
              <a:gd name="T19" fmla="*/ 2147483646 h 159"/>
              <a:gd name="T20" fmla="*/ 2147483646 w 78"/>
              <a:gd name="T21" fmla="*/ 2147483646 h 159"/>
              <a:gd name="T22" fmla="*/ 2147483646 w 78"/>
              <a:gd name="T23" fmla="*/ 2147483646 h 159"/>
              <a:gd name="T24" fmla="*/ 2147483646 w 78"/>
              <a:gd name="T25" fmla="*/ 2147483646 h 159"/>
              <a:gd name="T26" fmla="*/ 2147483646 w 78"/>
              <a:gd name="T27" fmla="*/ 2147483646 h 159"/>
              <a:gd name="T28" fmla="*/ 2147483646 w 78"/>
              <a:gd name="T29" fmla="*/ 2147483646 h 159"/>
              <a:gd name="T30" fmla="*/ 2147483646 w 78"/>
              <a:gd name="T31" fmla="*/ 2147483646 h 159"/>
              <a:gd name="T32" fmla="*/ 2147483646 w 78"/>
              <a:gd name="T33" fmla="*/ 2147483646 h 159"/>
              <a:gd name="T34" fmla="*/ 2147483646 w 78"/>
              <a:gd name="T35" fmla="*/ 2147483646 h 159"/>
              <a:gd name="T36" fmla="*/ 2147483646 w 78"/>
              <a:gd name="T37" fmla="*/ 2147483646 h 159"/>
              <a:gd name="T38" fmla="*/ 2147483646 w 78"/>
              <a:gd name="T39" fmla="*/ 2147483646 h 159"/>
              <a:gd name="T40" fmla="*/ 2147483646 w 78"/>
              <a:gd name="T41" fmla="*/ 0 h 159"/>
              <a:gd name="T42" fmla="*/ 2147483646 w 78"/>
              <a:gd name="T43" fmla="*/ 2147483646 h 159"/>
              <a:gd name="T44" fmla="*/ 0 w 78"/>
              <a:gd name="T45" fmla="*/ 2147483646 h 159"/>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78" h="159">
                <a:moveTo>
                  <a:pt x="0" y="30"/>
                </a:moveTo>
                <a:lnTo>
                  <a:pt x="24" y="10"/>
                </a:lnTo>
                <a:lnTo>
                  <a:pt x="52" y="15"/>
                </a:lnTo>
                <a:lnTo>
                  <a:pt x="68" y="41"/>
                </a:lnTo>
                <a:lnTo>
                  <a:pt x="71" y="77"/>
                </a:lnTo>
                <a:lnTo>
                  <a:pt x="68" y="105"/>
                </a:lnTo>
                <a:lnTo>
                  <a:pt x="59" y="128"/>
                </a:lnTo>
                <a:lnTo>
                  <a:pt x="44" y="93"/>
                </a:lnTo>
                <a:lnTo>
                  <a:pt x="31" y="73"/>
                </a:lnTo>
                <a:lnTo>
                  <a:pt x="5" y="60"/>
                </a:lnTo>
                <a:lnTo>
                  <a:pt x="25" y="89"/>
                </a:lnTo>
                <a:lnTo>
                  <a:pt x="47" y="111"/>
                </a:lnTo>
                <a:lnTo>
                  <a:pt x="49" y="134"/>
                </a:lnTo>
                <a:lnTo>
                  <a:pt x="40" y="156"/>
                </a:lnTo>
                <a:lnTo>
                  <a:pt x="28" y="159"/>
                </a:lnTo>
                <a:lnTo>
                  <a:pt x="61" y="151"/>
                </a:lnTo>
                <a:lnTo>
                  <a:pt x="77" y="117"/>
                </a:lnTo>
                <a:lnTo>
                  <a:pt x="78" y="73"/>
                </a:lnTo>
                <a:lnTo>
                  <a:pt x="77" y="33"/>
                </a:lnTo>
                <a:lnTo>
                  <a:pt x="59" y="7"/>
                </a:lnTo>
                <a:lnTo>
                  <a:pt x="34" y="0"/>
                </a:lnTo>
                <a:lnTo>
                  <a:pt x="10" y="4"/>
                </a:lnTo>
                <a:lnTo>
                  <a:pt x="0" y="3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2" name="Freeform 275"/>
          <p:cNvSpPr>
            <a:spLocks/>
          </p:cNvSpPr>
          <p:nvPr/>
        </p:nvSpPr>
        <p:spPr bwMode="auto">
          <a:xfrm>
            <a:off x="7218087" y="3087312"/>
            <a:ext cx="21139" cy="32521"/>
          </a:xfrm>
          <a:custGeom>
            <a:avLst/>
            <a:gdLst>
              <a:gd name="T0" fmla="*/ 0 w 129"/>
              <a:gd name="T1" fmla="*/ 2147483646 h 215"/>
              <a:gd name="T2" fmla="*/ 2147483646 w 129"/>
              <a:gd name="T3" fmla="*/ 2147483646 h 215"/>
              <a:gd name="T4" fmla="*/ 2147483646 w 129"/>
              <a:gd name="T5" fmla="*/ 2147483646 h 215"/>
              <a:gd name="T6" fmla="*/ 2147483646 w 129"/>
              <a:gd name="T7" fmla="*/ 2147483646 h 215"/>
              <a:gd name="T8" fmla="*/ 2147483646 w 129"/>
              <a:gd name="T9" fmla="*/ 2147483646 h 215"/>
              <a:gd name="T10" fmla="*/ 2147483646 w 129"/>
              <a:gd name="T11" fmla="*/ 2147483646 h 215"/>
              <a:gd name="T12" fmla="*/ 2147483646 w 129"/>
              <a:gd name="T13" fmla="*/ 2147483646 h 215"/>
              <a:gd name="T14" fmla="*/ 2147483646 w 129"/>
              <a:gd name="T15" fmla="*/ 2147483646 h 215"/>
              <a:gd name="T16" fmla="*/ 2147483646 w 129"/>
              <a:gd name="T17" fmla="*/ 2147483646 h 215"/>
              <a:gd name="T18" fmla="*/ 2147483646 w 129"/>
              <a:gd name="T19" fmla="*/ 2147483646 h 215"/>
              <a:gd name="T20" fmla="*/ 2147483646 w 129"/>
              <a:gd name="T21" fmla="*/ 2147483646 h 215"/>
              <a:gd name="T22" fmla="*/ 2147483646 w 129"/>
              <a:gd name="T23" fmla="*/ 2147483646 h 215"/>
              <a:gd name="T24" fmla="*/ 2147483646 w 129"/>
              <a:gd name="T25" fmla="*/ 2147483646 h 215"/>
              <a:gd name="T26" fmla="*/ 2147483646 w 129"/>
              <a:gd name="T27" fmla="*/ 2147483646 h 215"/>
              <a:gd name="T28" fmla="*/ 2147483646 w 129"/>
              <a:gd name="T29" fmla="*/ 2147483646 h 215"/>
              <a:gd name="T30" fmla="*/ 2147483646 w 129"/>
              <a:gd name="T31" fmla="*/ 2147483646 h 215"/>
              <a:gd name="T32" fmla="*/ 2147483646 w 129"/>
              <a:gd name="T33" fmla="*/ 2147483646 h 215"/>
              <a:gd name="T34" fmla="*/ 2147483646 w 129"/>
              <a:gd name="T35" fmla="*/ 2147483646 h 215"/>
              <a:gd name="T36" fmla="*/ 2147483646 w 129"/>
              <a:gd name="T37" fmla="*/ 2147483646 h 215"/>
              <a:gd name="T38" fmla="*/ 2147483646 w 129"/>
              <a:gd name="T39" fmla="*/ 2147483646 h 215"/>
              <a:gd name="T40" fmla="*/ 2147483646 w 129"/>
              <a:gd name="T41" fmla="*/ 2147483646 h 215"/>
              <a:gd name="T42" fmla="*/ 2147483646 w 129"/>
              <a:gd name="T43" fmla="*/ 2147483646 h 215"/>
              <a:gd name="T44" fmla="*/ 2147483646 w 129"/>
              <a:gd name="T45" fmla="*/ 2147483646 h 215"/>
              <a:gd name="T46" fmla="*/ 2147483646 w 129"/>
              <a:gd name="T47" fmla="*/ 0 h 215"/>
              <a:gd name="T48" fmla="*/ 2147483646 w 129"/>
              <a:gd name="T49" fmla="*/ 2147483646 h 215"/>
              <a:gd name="T50" fmla="*/ 2147483646 w 129"/>
              <a:gd name="T51" fmla="*/ 2147483646 h 215"/>
              <a:gd name="T52" fmla="*/ 0 w 129"/>
              <a:gd name="T53" fmla="*/ 2147483646 h 215"/>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129" h="215">
                <a:moveTo>
                  <a:pt x="0" y="53"/>
                </a:moveTo>
                <a:lnTo>
                  <a:pt x="20" y="19"/>
                </a:lnTo>
                <a:lnTo>
                  <a:pt x="54" y="9"/>
                </a:lnTo>
                <a:lnTo>
                  <a:pt x="95" y="16"/>
                </a:lnTo>
                <a:lnTo>
                  <a:pt x="109" y="35"/>
                </a:lnTo>
                <a:lnTo>
                  <a:pt x="120" y="67"/>
                </a:lnTo>
                <a:lnTo>
                  <a:pt x="120" y="93"/>
                </a:lnTo>
                <a:lnTo>
                  <a:pt x="114" y="111"/>
                </a:lnTo>
                <a:lnTo>
                  <a:pt x="114" y="137"/>
                </a:lnTo>
                <a:lnTo>
                  <a:pt x="107" y="168"/>
                </a:lnTo>
                <a:lnTo>
                  <a:pt x="80" y="198"/>
                </a:lnTo>
                <a:lnTo>
                  <a:pt x="63" y="198"/>
                </a:lnTo>
                <a:lnTo>
                  <a:pt x="40" y="198"/>
                </a:lnTo>
                <a:lnTo>
                  <a:pt x="40" y="203"/>
                </a:lnTo>
                <a:lnTo>
                  <a:pt x="57" y="215"/>
                </a:lnTo>
                <a:lnTo>
                  <a:pt x="76" y="211"/>
                </a:lnTo>
                <a:lnTo>
                  <a:pt x="101" y="201"/>
                </a:lnTo>
                <a:lnTo>
                  <a:pt x="121" y="171"/>
                </a:lnTo>
                <a:lnTo>
                  <a:pt x="123" y="121"/>
                </a:lnTo>
                <a:lnTo>
                  <a:pt x="129" y="87"/>
                </a:lnTo>
                <a:lnTo>
                  <a:pt x="129" y="58"/>
                </a:lnTo>
                <a:lnTo>
                  <a:pt x="117" y="32"/>
                </a:lnTo>
                <a:lnTo>
                  <a:pt x="103" y="9"/>
                </a:lnTo>
                <a:lnTo>
                  <a:pt x="69" y="0"/>
                </a:lnTo>
                <a:lnTo>
                  <a:pt x="20" y="6"/>
                </a:lnTo>
                <a:lnTo>
                  <a:pt x="3" y="19"/>
                </a:lnTo>
                <a:lnTo>
                  <a:pt x="0" y="5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3" name="Freeform 276"/>
          <p:cNvSpPr>
            <a:spLocks/>
          </p:cNvSpPr>
          <p:nvPr/>
        </p:nvSpPr>
        <p:spPr bwMode="auto">
          <a:xfrm>
            <a:off x="7207014" y="3122622"/>
            <a:ext cx="19126" cy="27876"/>
          </a:xfrm>
          <a:custGeom>
            <a:avLst/>
            <a:gdLst>
              <a:gd name="T0" fmla="*/ 2147483646 w 118"/>
              <a:gd name="T1" fmla="*/ 0 h 179"/>
              <a:gd name="T2" fmla="*/ 2147483646 w 118"/>
              <a:gd name="T3" fmla="*/ 2147483646 h 179"/>
              <a:gd name="T4" fmla="*/ 2147483646 w 118"/>
              <a:gd name="T5" fmla="*/ 2147483646 h 179"/>
              <a:gd name="T6" fmla="*/ 2147483646 w 118"/>
              <a:gd name="T7" fmla="*/ 2147483646 h 179"/>
              <a:gd name="T8" fmla="*/ 2147483646 w 118"/>
              <a:gd name="T9" fmla="*/ 2147483646 h 179"/>
              <a:gd name="T10" fmla="*/ 0 w 118"/>
              <a:gd name="T11" fmla="*/ 2147483646 h 179"/>
              <a:gd name="T12" fmla="*/ 2147483646 w 118"/>
              <a:gd name="T13" fmla="*/ 2147483646 h 179"/>
              <a:gd name="T14" fmla="*/ 2147483646 w 118"/>
              <a:gd name="T15" fmla="*/ 2147483646 h 179"/>
              <a:gd name="T16" fmla="*/ 2147483646 w 118"/>
              <a:gd name="T17" fmla="*/ 2147483646 h 179"/>
              <a:gd name="T18" fmla="*/ 2147483646 w 118"/>
              <a:gd name="T19" fmla="*/ 0 h 17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18" h="179">
                <a:moveTo>
                  <a:pt x="118" y="0"/>
                </a:moveTo>
                <a:lnTo>
                  <a:pt x="102" y="39"/>
                </a:lnTo>
                <a:lnTo>
                  <a:pt x="77" y="80"/>
                </a:lnTo>
                <a:lnTo>
                  <a:pt x="52" y="116"/>
                </a:lnTo>
                <a:lnTo>
                  <a:pt x="17" y="164"/>
                </a:lnTo>
                <a:lnTo>
                  <a:pt x="0" y="179"/>
                </a:lnTo>
                <a:lnTo>
                  <a:pt x="39" y="159"/>
                </a:lnTo>
                <a:lnTo>
                  <a:pt x="70" y="115"/>
                </a:lnTo>
                <a:lnTo>
                  <a:pt x="99" y="67"/>
                </a:lnTo>
                <a:lnTo>
                  <a:pt x="118"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4" name="Freeform 277"/>
          <p:cNvSpPr>
            <a:spLocks/>
          </p:cNvSpPr>
          <p:nvPr/>
        </p:nvSpPr>
        <p:spPr bwMode="auto">
          <a:xfrm>
            <a:off x="7173796" y="3028773"/>
            <a:ext cx="112742" cy="103141"/>
          </a:xfrm>
          <a:custGeom>
            <a:avLst/>
            <a:gdLst>
              <a:gd name="T0" fmla="*/ 2147483646 w 671"/>
              <a:gd name="T1" fmla="*/ 2147483646 h 670"/>
              <a:gd name="T2" fmla="*/ 2147483646 w 671"/>
              <a:gd name="T3" fmla="*/ 2147483646 h 670"/>
              <a:gd name="T4" fmla="*/ 2147483646 w 671"/>
              <a:gd name="T5" fmla="*/ 2147483646 h 670"/>
              <a:gd name="T6" fmla="*/ 2147483646 w 671"/>
              <a:gd name="T7" fmla="*/ 2147483646 h 670"/>
              <a:gd name="T8" fmla="*/ 2147483646 w 671"/>
              <a:gd name="T9" fmla="*/ 2147483646 h 670"/>
              <a:gd name="T10" fmla="*/ 2147483646 w 671"/>
              <a:gd name="T11" fmla="*/ 2147483646 h 670"/>
              <a:gd name="T12" fmla="*/ 2147483646 w 671"/>
              <a:gd name="T13" fmla="*/ 2147483646 h 670"/>
              <a:gd name="T14" fmla="*/ 2147483646 w 671"/>
              <a:gd name="T15" fmla="*/ 2147483646 h 670"/>
              <a:gd name="T16" fmla="*/ 2147483646 w 671"/>
              <a:gd name="T17" fmla="*/ 2147483646 h 670"/>
              <a:gd name="T18" fmla="*/ 2147483646 w 671"/>
              <a:gd name="T19" fmla="*/ 2147483646 h 670"/>
              <a:gd name="T20" fmla="*/ 2147483646 w 671"/>
              <a:gd name="T21" fmla="*/ 2147483646 h 670"/>
              <a:gd name="T22" fmla="*/ 2147483646 w 671"/>
              <a:gd name="T23" fmla="*/ 2147483646 h 670"/>
              <a:gd name="T24" fmla="*/ 2147483646 w 671"/>
              <a:gd name="T25" fmla="*/ 2147483646 h 670"/>
              <a:gd name="T26" fmla="*/ 2147483646 w 671"/>
              <a:gd name="T27" fmla="*/ 2147483646 h 670"/>
              <a:gd name="T28" fmla="*/ 2147483646 w 671"/>
              <a:gd name="T29" fmla="*/ 2147483646 h 670"/>
              <a:gd name="T30" fmla="*/ 2147483646 w 671"/>
              <a:gd name="T31" fmla="*/ 2147483646 h 670"/>
              <a:gd name="T32" fmla="*/ 2147483646 w 671"/>
              <a:gd name="T33" fmla="*/ 2147483646 h 670"/>
              <a:gd name="T34" fmla="*/ 2147483646 w 671"/>
              <a:gd name="T35" fmla="*/ 2147483646 h 670"/>
              <a:gd name="T36" fmla="*/ 2147483646 w 671"/>
              <a:gd name="T37" fmla="*/ 2147483646 h 670"/>
              <a:gd name="T38" fmla="*/ 2147483646 w 671"/>
              <a:gd name="T39" fmla="*/ 2147483646 h 670"/>
              <a:gd name="T40" fmla="*/ 2147483646 w 671"/>
              <a:gd name="T41" fmla="*/ 2147483646 h 670"/>
              <a:gd name="T42" fmla="*/ 2147483646 w 671"/>
              <a:gd name="T43" fmla="*/ 2147483646 h 670"/>
              <a:gd name="T44" fmla="*/ 2147483646 w 671"/>
              <a:gd name="T45" fmla="*/ 2147483646 h 670"/>
              <a:gd name="T46" fmla="*/ 2147483646 w 671"/>
              <a:gd name="T47" fmla="*/ 2147483646 h 670"/>
              <a:gd name="T48" fmla="*/ 2147483646 w 671"/>
              <a:gd name="T49" fmla="*/ 2147483646 h 670"/>
              <a:gd name="T50" fmla="*/ 2147483646 w 671"/>
              <a:gd name="T51" fmla="*/ 2147483646 h 670"/>
              <a:gd name="T52" fmla="*/ 2147483646 w 671"/>
              <a:gd name="T53" fmla="*/ 2147483646 h 670"/>
              <a:gd name="T54" fmla="*/ 2147483646 w 671"/>
              <a:gd name="T55" fmla="*/ 2147483646 h 670"/>
              <a:gd name="T56" fmla="*/ 2147483646 w 671"/>
              <a:gd name="T57" fmla="*/ 2147483646 h 670"/>
              <a:gd name="T58" fmla="*/ 2147483646 w 671"/>
              <a:gd name="T59" fmla="*/ 2147483646 h 670"/>
              <a:gd name="T60" fmla="*/ 2147483646 w 671"/>
              <a:gd name="T61" fmla="*/ 0 h 670"/>
              <a:gd name="T62" fmla="*/ 2147483646 w 671"/>
              <a:gd name="T63" fmla="*/ 2147483646 h 670"/>
              <a:gd name="T64" fmla="*/ 2147483646 w 671"/>
              <a:gd name="T65" fmla="*/ 2147483646 h 670"/>
              <a:gd name="T66" fmla="*/ 2147483646 w 671"/>
              <a:gd name="T67" fmla="*/ 2147483646 h 670"/>
              <a:gd name="T68" fmla="*/ 2147483646 w 671"/>
              <a:gd name="T69" fmla="*/ 2147483646 h 670"/>
              <a:gd name="T70" fmla="*/ 0 w 671"/>
              <a:gd name="T71" fmla="*/ 2147483646 h 670"/>
              <a:gd name="T72" fmla="*/ 2147483646 w 671"/>
              <a:gd name="T73" fmla="*/ 2147483646 h 670"/>
              <a:gd name="T74" fmla="*/ 2147483646 w 671"/>
              <a:gd name="T75" fmla="*/ 2147483646 h 67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671" h="670">
                <a:moveTo>
                  <a:pt x="54" y="193"/>
                </a:moveTo>
                <a:lnTo>
                  <a:pt x="155" y="177"/>
                </a:lnTo>
                <a:lnTo>
                  <a:pt x="223" y="187"/>
                </a:lnTo>
                <a:lnTo>
                  <a:pt x="264" y="234"/>
                </a:lnTo>
                <a:lnTo>
                  <a:pt x="238" y="290"/>
                </a:lnTo>
                <a:lnTo>
                  <a:pt x="206" y="311"/>
                </a:lnTo>
                <a:lnTo>
                  <a:pt x="197" y="366"/>
                </a:lnTo>
                <a:lnTo>
                  <a:pt x="217" y="401"/>
                </a:lnTo>
                <a:lnTo>
                  <a:pt x="200" y="453"/>
                </a:lnTo>
                <a:lnTo>
                  <a:pt x="242" y="453"/>
                </a:lnTo>
                <a:lnTo>
                  <a:pt x="254" y="394"/>
                </a:lnTo>
                <a:lnTo>
                  <a:pt x="280" y="366"/>
                </a:lnTo>
                <a:lnTo>
                  <a:pt x="329" y="366"/>
                </a:lnTo>
                <a:lnTo>
                  <a:pt x="378" y="378"/>
                </a:lnTo>
                <a:lnTo>
                  <a:pt x="393" y="419"/>
                </a:lnTo>
                <a:lnTo>
                  <a:pt x="399" y="475"/>
                </a:lnTo>
                <a:lnTo>
                  <a:pt x="393" y="516"/>
                </a:lnTo>
                <a:lnTo>
                  <a:pt x="393" y="547"/>
                </a:lnTo>
                <a:lnTo>
                  <a:pt x="396" y="581"/>
                </a:lnTo>
                <a:lnTo>
                  <a:pt x="428" y="613"/>
                </a:lnTo>
                <a:lnTo>
                  <a:pt x="451" y="632"/>
                </a:lnTo>
                <a:lnTo>
                  <a:pt x="510" y="670"/>
                </a:lnTo>
                <a:lnTo>
                  <a:pt x="620" y="558"/>
                </a:lnTo>
                <a:lnTo>
                  <a:pt x="652" y="466"/>
                </a:lnTo>
                <a:lnTo>
                  <a:pt x="665" y="318"/>
                </a:lnTo>
                <a:lnTo>
                  <a:pt x="671" y="215"/>
                </a:lnTo>
                <a:lnTo>
                  <a:pt x="658" y="114"/>
                </a:lnTo>
                <a:lnTo>
                  <a:pt x="629" y="59"/>
                </a:lnTo>
                <a:lnTo>
                  <a:pt x="562" y="21"/>
                </a:lnTo>
                <a:lnTo>
                  <a:pt x="502" y="8"/>
                </a:lnTo>
                <a:lnTo>
                  <a:pt x="384" y="0"/>
                </a:lnTo>
                <a:lnTo>
                  <a:pt x="270" y="5"/>
                </a:lnTo>
                <a:lnTo>
                  <a:pt x="129" y="30"/>
                </a:lnTo>
                <a:lnTo>
                  <a:pt x="64" y="62"/>
                </a:lnTo>
                <a:lnTo>
                  <a:pt x="32" y="94"/>
                </a:lnTo>
                <a:lnTo>
                  <a:pt x="0" y="140"/>
                </a:lnTo>
                <a:lnTo>
                  <a:pt x="6" y="166"/>
                </a:lnTo>
                <a:lnTo>
                  <a:pt x="54" y="193"/>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5" name="Freeform 278"/>
          <p:cNvSpPr>
            <a:spLocks/>
          </p:cNvSpPr>
          <p:nvPr/>
        </p:nvSpPr>
        <p:spPr bwMode="auto">
          <a:xfrm>
            <a:off x="7176815" y="3029702"/>
            <a:ext cx="107709" cy="99423"/>
          </a:xfrm>
          <a:custGeom>
            <a:avLst/>
            <a:gdLst>
              <a:gd name="T0" fmla="*/ 2147483646 w 636"/>
              <a:gd name="T1" fmla="*/ 2147483646 h 643"/>
              <a:gd name="T2" fmla="*/ 2147483646 w 636"/>
              <a:gd name="T3" fmla="*/ 2147483646 h 643"/>
              <a:gd name="T4" fmla="*/ 2147483646 w 636"/>
              <a:gd name="T5" fmla="*/ 2147483646 h 643"/>
              <a:gd name="T6" fmla="*/ 2147483646 w 636"/>
              <a:gd name="T7" fmla="*/ 2147483646 h 643"/>
              <a:gd name="T8" fmla="*/ 2147483646 w 636"/>
              <a:gd name="T9" fmla="*/ 2147483646 h 643"/>
              <a:gd name="T10" fmla="*/ 2147483646 w 636"/>
              <a:gd name="T11" fmla="*/ 2147483646 h 643"/>
              <a:gd name="T12" fmla="*/ 2147483646 w 636"/>
              <a:gd name="T13" fmla="*/ 2147483646 h 643"/>
              <a:gd name="T14" fmla="*/ 2147483646 w 636"/>
              <a:gd name="T15" fmla="*/ 2147483646 h 643"/>
              <a:gd name="T16" fmla="*/ 2147483646 w 636"/>
              <a:gd name="T17" fmla="*/ 2147483646 h 643"/>
              <a:gd name="T18" fmla="*/ 2147483646 w 636"/>
              <a:gd name="T19" fmla="*/ 2147483646 h 643"/>
              <a:gd name="T20" fmla="*/ 2147483646 w 636"/>
              <a:gd name="T21" fmla="*/ 2147483646 h 643"/>
              <a:gd name="T22" fmla="*/ 2147483646 w 636"/>
              <a:gd name="T23" fmla="*/ 2147483646 h 643"/>
              <a:gd name="T24" fmla="*/ 2147483646 w 636"/>
              <a:gd name="T25" fmla="*/ 2147483646 h 643"/>
              <a:gd name="T26" fmla="*/ 2147483646 w 636"/>
              <a:gd name="T27" fmla="*/ 2147483646 h 643"/>
              <a:gd name="T28" fmla="*/ 2147483646 w 636"/>
              <a:gd name="T29" fmla="*/ 2147483646 h 643"/>
              <a:gd name="T30" fmla="*/ 2147483646 w 636"/>
              <a:gd name="T31" fmla="*/ 2147483646 h 643"/>
              <a:gd name="T32" fmla="*/ 2147483646 w 636"/>
              <a:gd name="T33" fmla="*/ 2147483646 h 643"/>
              <a:gd name="T34" fmla="*/ 2147483646 w 636"/>
              <a:gd name="T35" fmla="*/ 2147483646 h 643"/>
              <a:gd name="T36" fmla="*/ 2147483646 w 636"/>
              <a:gd name="T37" fmla="*/ 2147483646 h 643"/>
              <a:gd name="T38" fmla="*/ 2147483646 w 636"/>
              <a:gd name="T39" fmla="*/ 2147483646 h 643"/>
              <a:gd name="T40" fmla="*/ 2147483646 w 636"/>
              <a:gd name="T41" fmla="*/ 2147483646 h 643"/>
              <a:gd name="T42" fmla="*/ 2147483646 w 636"/>
              <a:gd name="T43" fmla="*/ 2147483646 h 643"/>
              <a:gd name="T44" fmla="*/ 2147483646 w 636"/>
              <a:gd name="T45" fmla="*/ 2147483646 h 643"/>
              <a:gd name="T46" fmla="*/ 2147483646 w 636"/>
              <a:gd name="T47" fmla="*/ 2147483646 h 643"/>
              <a:gd name="T48" fmla="*/ 2147483646 w 636"/>
              <a:gd name="T49" fmla="*/ 2147483646 h 643"/>
              <a:gd name="T50" fmla="*/ 2147483646 w 636"/>
              <a:gd name="T51" fmla="*/ 2147483646 h 643"/>
              <a:gd name="T52" fmla="*/ 2147483646 w 636"/>
              <a:gd name="T53" fmla="*/ 2147483646 h 643"/>
              <a:gd name="T54" fmla="*/ 2147483646 w 636"/>
              <a:gd name="T55" fmla="*/ 2147483646 h 643"/>
              <a:gd name="T56" fmla="*/ 2147483646 w 636"/>
              <a:gd name="T57" fmla="*/ 2147483646 h 643"/>
              <a:gd name="T58" fmla="*/ 2147483646 w 636"/>
              <a:gd name="T59" fmla="*/ 2147483646 h 643"/>
              <a:gd name="T60" fmla="*/ 2147483646 w 636"/>
              <a:gd name="T61" fmla="*/ 2147483646 h 643"/>
              <a:gd name="T62" fmla="*/ 2147483646 w 636"/>
              <a:gd name="T63" fmla="*/ 2147483646 h 643"/>
              <a:gd name="T64" fmla="*/ 2147483646 w 636"/>
              <a:gd name="T65" fmla="*/ 2147483646 h 643"/>
              <a:gd name="T66" fmla="*/ 2147483646 w 636"/>
              <a:gd name="T67" fmla="*/ 2147483646 h 643"/>
              <a:gd name="T68" fmla="*/ 2147483646 w 636"/>
              <a:gd name="T69" fmla="*/ 2147483646 h 643"/>
              <a:gd name="T70" fmla="*/ 2147483646 w 636"/>
              <a:gd name="T71" fmla="*/ 2147483646 h 643"/>
              <a:gd name="T72" fmla="*/ 2147483646 w 636"/>
              <a:gd name="T73" fmla="*/ 2147483646 h 643"/>
              <a:gd name="T74" fmla="*/ 2147483646 w 636"/>
              <a:gd name="T75" fmla="*/ 2147483646 h 643"/>
              <a:gd name="T76" fmla="*/ 2147483646 w 636"/>
              <a:gd name="T77" fmla="*/ 2147483646 h 643"/>
              <a:gd name="T78" fmla="*/ 2147483646 w 636"/>
              <a:gd name="T79" fmla="*/ 2147483646 h 643"/>
              <a:gd name="T80" fmla="*/ 2147483646 w 636"/>
              <a:gd name="T81" fmla="*/ 2147483646 h 643"/>
              <a:gd name="T82" fmla="*/ 2147483646 w 636"/>
              <a:gd name="T83" fmla="*/ 2147483646 h 643"/>
              <a:gd name="T84" fmla="*/ 2147483646 w 636"/>
              <a:gd name="T85" fmla="*/ 2147483646 h 643"/>
              <a:gd name="T86" fmla="*/ 2147483646 w 636"/>
              <a:gd name="T87" fmla="*/ 2147483646 h 643"/>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636" h="643">
                <a:moveTo>
                  <a:pt x="104" y="41"/>
                </a:moveTo>
                <a:lnTo>
                  <a:pt x="51" y="63"/>
                </a:lnTo>
                <a:lnTo>
                  <a:pt x="25" y="98"/>
                </a:lnTo>
                <a:lnTo>
                  <a:pt x="10" y="121"/>
                </a:lnTo>
                <a:lnTo>
                  <a:pt x="0" y="138"/>
                </a:lnTo>
                <a:lnTo>
                  <a:pt x="13" y="152"/>
                </a:lnTo>
                <a:lnTo>
                  <a:pt x="41" y="169"/>
                </a:lnTo>
                <a:lnTo>
                  <a:pt x="110" y="158"/>
                </a:lnTo>
                <a:lnTo>
                  <a:pt x="160" y="158"/>
                </a:lnTo>
                <a:lnTo>
                  <a:pt x="194" y="141"/>
                </a:lnTo>
                <a:lnTo>
                  <a:pt x="245" y="129"/>
                </a:lnTo>
                <a:lnTo>
                  <a:pt x="290" y="126"/>
                </a:lnTo>
                <a:lnTo>
                  <a:pt x="342" y="129"/>
                </a:lnTo>
                <a:lnTo>
                  <a:pt x="267" y="138"/>
                </a:lnTo>
                <a:lnTo>
                  <a:pt x="229" y="148"/>
                </a:lnTo>
                <a:lnTo>
                  <a:pt x="201" y="158"/>
                </a:lnTo>
                <a:lnTo>
                  <a:pt x="194" y="161"/>
                </a:lnTo>
                <a:lnTo>
                  <a:pt x="213" y="169"/>
                </a:lnTo>
                <a:lnTo>
                  <a:pt x="229" y="185"/>
                </a:lnTo>
                <a:lnTo>
                  <a:pt x="255" y="169"/>
                </a:lnTo>
                <a:lnTo>
                  <a:pt x="277" y="163"/>
                </a:lnTo>
                <a:lnTo>
                  <a:pt x="325" y="155"/>
                </a:lnTo>
                <a:lnTo>
                  <a:pt x="339" y="155"/>
                </a:lnTo>
                <a:lnTo>
                  <a:pt x="293" y="172"/>
                </a:lnTo>
                <a:lnTo>
                  <a:pt x="258" y="188"/>
                </a:lnTo>
                <a:lnTo>
                  <a:pt x="239" y="201"/>
                </a:lnTo>
                <a:lnTo>
                  <a:pt x="255" y="217"/>
                </a:lnTo>
                <a:lnTo>
                  <a:pt x="293" y="204"/>
                </a:lnTo>
                <a:lnTo>
                  <a:pt x="325" y="198"/>
                </a:lnTo>
                <a:lnTo>
                  <a:pt x="267" y="226"/>
                </a:lnTo>
                <a:lnTo>
                  <a:pt x="248" y="239"/>
                </a:lnTo>
                <a:lnTo>
                  <a:pt x="242" y="266"/>
                </a:lnTo>
                <a:lnTo>
                  <a:pt x="232" y="280"/>
                </a:lnTo>
                <a:lnTo>
                  <a:pt x="267" y="263"/>
                </a:lnTo>
                <a:lnTo>
                  <a:pt x="298" y="257"/>
                </a:lnTo>
                <a:lnTo>
                  <a:pt x="348" y="255"/>
                </a:lnTo>
                <a:lnTo>
                  <a:pt x="272" y="276"/>
                </a:lnTo>
                <a:lnTo>
                  <a:pt x="226" y="294"/>
                </a:lnTo>
                <a:lnTo>
                  <a:pt x="194" y="310"/>
                </a:lnTo>
                <a:lnTo>
                  <a:pt x="191" y="335"/>
                </a:lnTo>
                <a:lnTo>
                  <a:pt x="229" y="317"/>
                </a:lnTo>
                <a:lnTo>
                  <a:pt x="280" y="300"/>
                </a:lnTo>
                <a:lnTo>
                  <a:pt x="304" y="300"/>
                </a:lnTo>
                <a:lnTo>
                  <a:pt x="248" y="320"/>
                </a:lnTo>
                <a:lnTo>
                  <a:pt x="204" y="338"/>
                </a:lnTo>
                <a:lnTo>
                  <a:pt x="187" y="355"/>
                </a:lnTo>
                <a:lnTo>
                  <a:pt x="194" y="370"/>
                </a:lnTo>
                <a:lnTo>
                  <a:pt x="229" y="358"/>
                </a:lnTo>
                <a:lnTo>
                  <a:pt x="261" y="344"/>
                </a:lnTo>
                <a:lnTo>
                  <a:pt x="327" y="341"/>
                </a:lnTo>
                <a:lnTo>
                  <a:pt x="354" y="344"/>
                </a:lnTo>
                <a:lnTo>
                  <a:pt x="415" y="348"/>
                </a:lnTo>
                <a:lnTo>
                  <a:pt x="488" y="338"/>
                </a:lnTo>
                <a:lnTo>
                  <a:pt x="444" y="355"/>
                </a:lnTo>
                <a:lnTo>
                  <a:pt x="368" y="367"/>
                </a:lnTo>
                <a:lnTo>
                  <a:pt x="384" y="393"/>
                </a:lnTo>
                <a:lnTo>
                  <a:pt x="438" y="379"/>
                </a:lnTo>
                <a:lnTo>
                  <a:pt x="491" y="361"/>
                </a:lnTo>
                <a:lnTo>
                  <a:pt x="525" y="344"/>
                </a:lnTo>
                <a:lnTo>
                  <a:pt x="460" y="393"/>
                </a:lnTo>
                <a:lnTo>
                  <a:pt x="419" y="405"/>
                </a:lnTo>
                <a:lnTo>
                  <a:pt x="384" y="417"/>
                </a:lnTo>
                <a:lnTo>
                  <a:pt x="387" y="442"/>
                </a:lnTo>
                <a:lnTo>
                  <a:pt x="438" y="434"/>
                </a:lnTo>
                <a:lnTo>
                  <a:pt x="478" y="423"/>
                </a:lnTo>
                <a:lnTo>
                  <a:pt x="454" y="440"/>
                </a:lnTo>
                <a:lnTo>
                  <a:pt x="409" y="452"/>
                </a:lnTo>
                <a:lnTo>
                  <a:pt x="387" y="455"/>
                </a:lnTo>
                <a:lnTo>
                  <a:pt x="387" y="511"/>
                </a:lnTo>
                <a:lnTo>
                  <a:pt x="435" y="492"/>
                </a:lnTo>
                <a:lnTo>
                  <a:pt x="473" y="477"/>
                </a:lnTo>
                <a:lnTo>
                  <a:pt x="432" y="508"/>
                </a:lnTo>
                <a:lnTo>
                  <a:pt x="380" y="530"/>
                </a:lnTo>
                <a:lnTo>
                  <a:pt x="384" y="556"/>
                </a:lnTo>
                <a:lnTo>
                  <a:pt x="412" y="586"/>
                </a:lnTo>
                <a:lnTo>
                  <a:pt x="438" y="553"/>
                </a:lnTo>
                <a:lnTo>
                  <a:pt x="473" y="511"/>
                </a:lnTo>
                <a:lnTo>
                  <a:pt x="496" y="471"/>
                </a:lnTo>
                <a:lnTo>
                  <a:pt x="473" y="533"/>
                </a:lnTo>
                <a:lnTo>
                  <a:pt x="454" y="556"/>
                </a:lnTo>
                <a:lnTo>
                  <a:pt x="419" y="599"/>
                </a:lnTo>
                <a:lnTo>
                  <a:pt x="444" y="628"/>
                </a:lnTo>
                <a:lnTo>
                  <a:pt x="485" y="594"/>
                </a:lnTo>
                <a:lnTo>
                  <a:pt x="514" y="553"/>
                </a:lnTo>
                <a:lnTo>
                  <a:pt x="540" y="508"/>
                </a:lnTo>
                <a:lnTo>
                  <a:pt x="517" y="573"/>
                </a:lnTo>
                <a:lnTo>
                  <a:pt x="491" y="602"/>
                </a:lnTo>
                <a:lnTo>
                  <a:pt x="465" y="631"/>
                </a:lnTo>
                <a:lnTo>
                  <a:pt x="488" y="643"/>
                </a:lnTo>
                <a:lnTo>
                  <a:pt x="540" y="599"/>
                </a:lnTo>
                <a:lnTo>
                  <a:pt x="589" y="530"/>
                </a:lnTo>
                <a:lnTo>
                  <a:pt x="607" y="477"/>
                </a:lnTo>
                <a:lnTo>
                  <a:pt x="620" y="386"/>
                </a:lnTo>
                <a:lnTo>
                  <a:pt x="627" y="317"/>
                </a:lnTo>
                <a:lnTo>
                  <a:pt x="636" y="239"/>
                </a:lnTo>
                <a:lnTo>
                  <a:pt x="582" y="255"/>
                </a:lnTo>
                <a:lnTo>
                  <a:pt x="522" y="276"/>
                </a:lnTo>
                <a:lnTo>
                  <a:pt x="432" y="297"/>
                </a:lnTo>
                <a:lnTo>
                  <a:pt x="514" y="266"/>
                </a:lnTo>
                <a:lnTo>
                  <a:pt x="543" y="249"/>
                </a:lnTo>
                <a:lnTo>
                  <a:pt x="601" y="229"/>
                </a:lnTo>
                <a:lnTo>
                  <a:pt x="630" y="223"/>
                </a:lnTo>
                <a:lnTo>
                  <a:pt x="630" y="182"/>
                </a:lnTo>
                <a:lnTo>
                  <a:pt x="623" y="129"/>
                </a:lnTo>
                <a:lnTo>
                  <a:pt x="551" y="141"/>
                </a:lnTo>
                <a:lnTo>
                  <a:pt x="505" y="155"/>
                </a:lnTo>
                <a:lnTo>
                  <a:pt x="447" y="182"/>
                </a:lnTo>
                <a:lnTo>
                  <a:pt x="499" y="141"/>
                </a:lnTo>
                <a:lnTo>
                  <a:pt x="560" y="124"/>
                </a:lnTo>
                <a:lnTo>
                  <a:pt x="620" y="109"/>
                </a:lnTo>
                <a:lnTo>
                  <a:pt x="607" y="69"/>
                </a:lnTo>
                <a:lnTo>
                  <a:pt x="589" y="45"/>
                </a:lnTo>
                <a:lnTo>
                  <a:pt x="534" y="28"/>
                </a:lnTo>
                <a:lnTo>
                  <a:pt x="482" y="41"/>
                </a:lnTo>
                <a:lnTo>
                  <a:pt x="432" y="76"/>
                </a:lnTo>
                <a:lnTo>
                  <a:pt x="465" y="35"/>
                </a:lnTo>
                <a:lnTo>
                  <a:pt x="517" y="16"/>
                </a:lnTo>
                <a:lnTo>
                  <a:pt x="460" y="6"/>
                </a:lnTo>
                <a:lnTo>
                  <a:pt x="419" y="3"/>
                </a:lnTo>
                <a:lnTo>
                  <a:pt x="359" y="13"/>
                </a:lnTo>
                <a:lnTo>
                  <a:pt x="318" y="38"/>
                </a:lnTo>
                <a:lnTo>
                  <a:pt x="255" y="51"/>
                </a:lnTo>
                <a:lnTo>
                  <a:pt x="298" y="32"/>
                </a:lnTo>
                <a:lnTo>
                  <a:pt x="330" y="13"/>
                </a:lnTo>
                <a:lnTo>
                  <a:pt x="348" y="0"/>
                </a:lnTo>
                <a:lnTo>
                  <a:pt x="287" y="3"/>
                </a:lnTo>
                <a:lnTo>
                  <a:pt x="232" y="6"/>
                </a:lnTo>
                <a:lnTo>
                  <a:pt x="198" y="22"/>
                </a:lnTo>
                <a:lnTo>
                  <a:pt x="163" y="54"/>
                </a:lnTo>
                <a:lnTo>
                  <a:pt x="136" y="95"/>
                </a:lnTo>
                <a:lnTo>
                  <a:pt x="151" y="48"/>
                </a:lnTo>
                <a:lnTo>
                  <a:pt x="184" y="16"/>
                </a:lnTo>
                <a:lnTo>
                  <a:pt x="104" y="41"/>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86" name="Group 279"/>
          <p:cNvGrpSpPr>
            <a:grpSpLocks/>
          </p:cNvGrpSpPr>
          <p:nvPr/>
        </p:nvGrpSpPr>
        <p:grpSpPr bwMode="auto">
          <a:xfrm>
            <a:off x="6951331" y="3281513"/>
            <a:ext cx="116768" cy="65973"/>
            <a:chOff x="5264" y="1904"/>
            <a:chExt cx="116" cy="71"/>
          </a:xfrm>
        </p:grpSpPr>
        <p:sp>
          <p:nvSpPr>
            <p:cNvPr id="287" name="Freeform 280"/>
            <p:cNvSpPr>
              <a:spLocks/>
            </p:cNvSpPr>
            <p:nvPr/>
          </p:nvSpPr>
          <p:spPr bwMode="auto">
            <a:xfrm>
              <a:off x="5264" y="1904"/>
              <a:ext cx="116" cy="71"/>
            </a:xfrm>
            <a:custGeom>
              <a:avLst/>
              <a:gdLst>
                <a:gd name="T0" fmla="*/ 0 w 698"/>
                <a:gd name="T1" fmla="*/ 0 h 425"/>
                <a:gd name="T2" fmla="*/ 0 w 698"/>
                <a:gd name="T3" fmla="*/ 0 h 425"/>
                <a:gd name="T4" fmla="*/ 0 w 698"/>
                <a:gd name="T5" fmla="*/ 0 h 425"/>
                <a:gd name="T6" fmla="*/ 0 w 698"/>
                <a:gd name="T7" fmla="*/ 0 h 425"/>
                <a:gd name="T8" fmla="*/ 0 w 698"/>
                <a:gd name="T9" fmla="*/ 0 h 425"/>
                <a:gd name="T10" fmla="*/ 0 w 698"/>
                <a:gd name="T11" fmla="*/ 0 h 425"/>
                <a:gd name="T12" fmla="*/ 0 w 698"/>
                <a:gd name="T13" fmla="*/ 0 h 425"/>
                <a:gd name="T14" fmla="*/ 0 w 698"/>
                <a:gd name="T15" fmla="*/ 0 h 425"/>
                <a:gd name="T16" fmla="*/ 0 w 698"/>
                <a:gd name="T17" fmla="*/ 0 h 425"/>
                <a:gd name="T18" fmla="*/ 0 w 698"/>
                <a:gd name="T19" fmla="*/ 0 h 425"/>
                <a:gd name="T20" fmla="*/ 0 w 698"/>
                <a:gd name="T21" fmla="*/ 0 h 425"/>
                <a:gd name="T22" fmla="*/ 0 w 698"/>
                <a:gd name="T23" fmla="*/ 0 h 425"/>
                <a:gd name="T24" fmla="*/ 0 w 698"/>
                <a:gd name="T25" fmla="*/ 0 h 425"/>
                <a:gd name="T26" fmla="*/ 0 w 698"/>
                <a:gd name="T27" fmla="*/ 0 h 425"/>
                <a:gd name="T28" fmla="*/ 0 w 698"/>
                <a:gd name="T29" fmla="*/ 0 h 425"/>
                <a:gd name="T30" fmla="*/ 0 w 698"/>
                <a:gd name="T31" fmla="*/ 0 h 425"/>
                <a:gd name="T32" fmla="*/ 0 w 698"/>
                <a:gd name="T33" fmla="*/ 0 h 425"/>
                <a:gd name="T34" fmla="*/ 0 w 698"/>
                <a:gd name="T35" fmla="*/ 0 h 425"/>
                <a:gd name="T36" fmla="*/ 0 w 698"/>
                <a:gd name="T37" fmla="*/ 0 h 425"/>
                <a:gd name="T38" fmla="*/ 0 w 698"/>
                <a:gd name="T39" fmla="*/ 0 h 425"/>
                <a:gd name="T40" fmla="*/ 0 w 698"/>
                <a:gd name="T41" fmla="*/ 0 h 425"/>
                <a:gd name="T42" fmla="*/ 0 w 698"/>
                <a:gd name="T43" fmla="*/ 0 h 425"/>
                <a:gd name="T44" fmla="*/ 0 w 698"/>
                <a:gd name="T45" fmla="*/ 0 h 425"/>
                <a:gd name="T46" fmla="*/ 0 w 698"/>
                <a:gd name="T47" fmla="*/ 0 h 425"/>
                <a:gd name="T48" fmla="*/ 0 w 698"/>
                <a:gd name="T49" fmla="*/ 0 h 425"/>
                <a:gd name="T50" fmla="*/ 0 w 698"/>
                <a:gd name="T51" fmla="*/ 0 h 425"/>
                <a:gd name="T52" fmla="*/ 0 w 698"/>
                <a:gd name="T53" fmla="*/ 0 h 425"/>
                <a:gd name="T54" fmla="*/ 0 w 698"/>
                <a:gd name="T55" fmla="*/ 0 h 425"/>
                <a:gd name="T56" fmla="*/ 0 w 698"/>
                <a:gd name="T57" fmla="*/ 0 h 425"/>
                <a:gd name="T58" fmla="*/ 0 w 698"/>
                <a:gd name="T59" fmla="*/ 0 h 425"/>
                <a:gd name="T60" fmla="*/ 0 w 698"/>
                <a:gd name="T61" fmla="*/ 0 h 425"/>
                <a:gd name="T62" fmla="*/ 0 w 698"/>
                <a:gd name="T63" fmla="*/ 0 h 425"/>
                <a:gd name="T64" fmla="*/ 0 w 698"/>
                <a:gd name="T65" fmla="*/ 0 h 425"/>
                <a:gd name="T66" fmla="*/ 0 w 698"/>
                <a:gd name="T67" fmla="*/ 0 h 425"/>
                <a:gd name="T68" fmla="*/ 0 w 698"/>
                <a:gd name="T69" fmla="*/ 0 h 425"/>
                <a:gd name="T70" fmla="*/ 0 w 698"/>
                <a:gd name="T71" fmla="*/ 0 h 425"/>
                <a:gd name="T72" fmla="*/ 0 w 698"/>
                <a:gd name="T73" fmla="*/ 0 h 425"/>
                <a:gd name="T74" fmla="*/ 0 w 698"/>
                <a:gd name="T75" fmla="*/ 0 h 425"/>
                <a:gd name="T76" fmla="*/ 0 w 698"/>
                <a:gd name="T77" fmla="*/ 0 h 425"/>
                <a:gd name="T78" fmla="*/ 0 w 698"/>
                <a:gd name="T79" fmla="*/ 0 h 425"/>
                <a:gd name="T80" fmla="*/ 0 w 698"/>
                <a:gd name="T81" fmla="*/ 0 h 425"/>
                <a:gd name="T82" fmla="*/ 0 w 698"/>
                <a:gd name="T83" fmla="*/ 0 h 425"/>
                <a:gd name="T84" fmla="*/ 0 w 698"/>
                <a:gd name="T85" fmla="*/ 0 h 425"/>
                <a:gd name="T86" fmla="*/ 0 w 698"/>
                <a:gd name="T87" fmla="*/ 0 h 425"/>
                <a:gd name="T88" fmla="*/ 0 w 698"/>
                <a:gd name="T89" fmla="*/ 0 h 425"/>
                <a:gd name="T90" fmla="*/ 0 w 698"/>
                <a:gd name="T91" fmla="*/ 0 h 425"/>
                <a:gd name="T92" fmla="*/ 0 w 698"/>
                <a:gd name="T93" fmla="*/ 0 h 425"/>
                <a:gd name="T94" fmla="*/ 0 w 698"/>
                <a:gd name="T95" fmla="*/ 0 h 425"/>
                <a:gd name="T96" fmla="*/ 0 w 698"/>
                <a:gd name="T97" fmla="*/ 0 h 425"/>
                <a:gd name="T98" fmla="*/ 0 w 698"/>
                <a:gd name="T99" fmla="*/ 0 h 42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698" h="425">
                  <a:moveTo>
                    <a:pt x="698" y="253"/>
                  </a:moveTo>
                  <a:lnTo>
                    <a:pt x="611" y="233"/>
                  </a:lnTo>
                  <a:lnTo>
                    <a:pt x="579" y="227"/>
                  </a:lnTo>
                  <a:lnTo>
                    <a:pt x="558" y="210"/>
                  </a:lnTo>
                  <a:lnTo>
                    <a:pt x="538" y="182"/>
                  </a:lnTo>
                  <a:lnTo>
                    <a:pt x="496" y="143"/>
                  </a:lnTo>
                  <a:lnTo>
                    <a:pt x="420" y="79"/>
                  </a:lnTo>
                  <a:lnTo>
                    <a:pt x="407" y="58"/>
                  </a:lnTo>
                  <a:lnTo>
                    <a:pt x="387" y="38"/>
                  </a:lnTo>
                  <a:lnTo>
                    <a:pt x="347" y="32"/>
                  </a:lnTo>
                  <a:lnTo>
                    <a:pt x="225" y="11"/>
                  </a:lnTo>
                  <a:lnTo>
                    <a:pt x="192" y="0"/>
                  </a:lnTo>
                  <a:lnTo>
                    <a:pt x="162" y="14"/>
                  </a:lnTo>
                  <a:lnTo>
                    <a:pt x="147" y="27"/>
                  </a:lnTo>
                  <a:lnTo>
                    <a:pt x="75" y="52"/>
                  </a:lnTo>
                  <a:lnTo>
                    <a:pt x="48" y="62"/>
                  </a:lnTo>
                  <a:lnTo>
                    <a:pt x="37" y="73"/>
                  </a:lnTo>
                  <a:lnTo>
                    <a:pt x="24" y="114"/>
                  </a:lnTo>
                  <a:lnTo>
                    <a:pt x="16" y="133"/>
                  </a:lnTo>
                  <a:lnTo>
                    <a:pt x="9" y="146"/>
                  </a:lnTo>
                  <a:lnTo>
                    <a:pt x="0" y="165"/>
                  </a:lnTo>
                  <a:lnTo>
                    <a:pt x="0" y="181"/>
                  </a:lnTo>
                  <a:lnTo>
                    <a:pt x="15" y="191"/>
                  </a:lnTo>
                  <a:lnTo>
                    <a:pt x="43" y="190"/>
                  </a:lnTo>
                  <a:lnTo>
                    <a:pt x="89" y="168"/>
                  </a:lnTo>
                  <a:lnTo>
                    <a:pt x="147" y="158"/>
                  </a:lnTo>
                  <a:lnTo>
                    <a:pt x="198" y="165"/>
                  </a:lnTo>
                  <a:lnTo>
                    <a:pt x="144" y="179"/>
                  </a:lnTo>
                  <a:lnTo>
                    <a:pt x="105" y="191"/>
                  </a:lnTo>
                  <a:lnTo>
                    <a:pt x="61" y="210"/>
                  </a:lnTo>
                  <a:lnTo>
                    <a:pt x="51" y="224"/>
                  </a:lnTo>
                  <a:lnTo>
                    <a:pt x="51" y="242"/>
                  </a:lnTo>
                  <a:lnTo>
                    <a:pt x="67" y="253"/>
                  </a:lnTo>
                  <a:lnTo>
                    <a:pt x="87" y="250"/>
                  </a:lnTo>
                  <a:lnTo>
                    <a:pt x="150" y="233"/>
                  </a:lnTo>
                  <a:lnTo>
                    <a:pt x="205" y="230"/>
                  </a:lnTo>
                  <a:lnTo>
                    <a:pt x="249" y="233"/>
                  </a:lnTo>
                  <a:lnTo>
                    <a:pt x="273" y="250"/>
                  </a:lnTo>
                  <a:lnTo>
                    <a:pt x="301" y="279"/>
                  </a:lnTo>
                  <a:lnTo>
                    <a:pt x="323" y="310"/>
                  </a:lnTo>
                  <a:lnTo>
                    <a:pt x="346" y="342"/>
                  </a:lnTo>
                  <a:lnTo>
                    <a:pt x="364" y="366"/>
                  </a:lnTo>
                  <a:lnTo>
                    <a:pt x="397" y="389"/>
                  </a:lnTo>
                  <a:lnTo>
                    <a:pt x="429" y="396"/>
                  </a:lnTo>
                  <a:lnTo>
                    <a:pt x="464" y="399"/>
                  </a:lnTo>
                  <a:lnTo>
                    <a:pt x="507" y="396"/>
                  </a:lnTo>
                  <a:lnTo>
                    <a:pt x="539" y="393"/>
                  </a:lnTo>
                  <a:lnTo>
                    <a:pt x="582" y="404"/>
                  </a:lnTo>
                  <a:lnTo>
                    <a:pt x="698" y="425"/>
                  </a:lnTo>
                  <a:lnTo>
                    <a:pt x="698" y="253"/>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8" name="Freeform 281"/>
            <p:cNvSpPr>
              <a:spLocks/>
            </p:cNvSpPr>
            <p:nvPr/>
          </p:nvSpPr>
          <p:spPr bwMode="auto">
            <a:xfrm>
              <a:off x="5269" y="1916"/>
              <a:ext cx="37" cy="9"/>
            </a:xfrm>
            <a:custGeom>
              <a:avLst/>
              <a:gdLst>
                <a:gd name="T0" fmla="*/ 0 w 223"/>
                <a:gd name="T1" fmla="*/ 0 h 52"/>
                <a:gd name="T2" fmla="*/ 0 w 223"/>
                <a:gd name="T3" fmla="*/ 0 h 52"/>
                <a:gd name="T4" fmla="*/ 0 w 223"/>
                <a:gd name="T5" fmla="*/ 0 h 52"/>
                <a:gd name="T6" fmla="*/ 0 w 223"/>
                <a:gd name="T7" fmla="*/ 0 h 52"/>
                <a:gd name="T8" fmla="*/ 0 w 223"/>
                <a:gd name="T9" fmla="*/ 0 h 52"/>
                <a:gd name="T10" fmla="*/ 0 w 223"/>
                <a:gd name="T11" fmla="*/ 0 h 52"/>
                <a:gd name="T12" fmla="*/ 0 w 223"/>
                <a:gd name="T13" fmla="*/ 0 h 52"/>
                <a:gd name="T14" fmla="*/ 0 w 223"/>
                <a:gd name="T15" fmla="*/ 0 h 52"/>
                <a:gd name="T16" fmla="*/ 0 w 223"/>
                <a:gd name="T17" fmla="*/ 0 h 52"/>
                <a:gd name="T18" fmla="*/ 0 w 223"/>
                <a:gd name="T19" fmla="*/ 0 h 52"/>
                <a:gd name="T20" fmla="*/ 0 w 223"/>
                <a:gd name="T21" fmla="*/ 0 h 52"/>
                <a:gd name="T22" fmla="*/ 0 w 223"/>
                <a:gd name="T23" fmla="*/ 0 h 52"/>
                <a:gd name="T24" fmla="*/ 0 w 223"/>
                <a:gd name="T25" fmla="*/ 0 h 52"/>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223" h="52">
                  <a:moveTo>
                    <a:pt x="0" y="52"/>
                  </a:moveTo>
                  <a:lnTo>
                    <a:pt x="38" y="36"/>
                  </a:lnTo>
                  <a:lnTo>
                    <a:pt x="69" y="30"/>
                  </a:lnTo>
                  <a:lnTo>
                    <a:pt x="107" y="18"/>
                  </a:lnTo>
                  <a:lnTo>
                    <a:pt x="139" y="11"/>
                  </a:lnTo>
                  <a:lnTo>
                    <a:pt x="189" y="15"/>
                  </a:lnTo>
                  <a:lnTo>
                    <a:pt x="223" y="18"/>
                  </a:lnTo>
                  <a:lnTo>
                    <a:pt x="171" y="8"/>
                  </a:lnTo>
                  <a:lnTo>
                    <a:pt x="127" y="0"/>
                  </a:lnTo>
                  <a:lnTo>
                    <a:pt x="69" y="24"/>
                  </a:lnTo>
                  <a:lnTo>
                    <a:pt x="38" y="28"/>
                  </a:lnTo>
                  <a:lnTo>
                    <a:pt x="3" y="45"/>
                  </a:lnTo>
                  <a:lnTo>
                    <a:pt x="0" y="5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9" name="Freeform 282"/>
            <p:cNvSpPr>
              <a:spLocks/>
            </p:cNvSpPr>
            <p:nvPr/>
          </p:nvSpPr>
          <p:spPr bwMode="auto">
            <a:xfrm>
              <a:off x="5289" y="1907"/>
              <a:ext cx="31" cy="6"/>
            </a:xfrm>
            <a:custGeom>
              <a:avLst/>
              <a:gdLst>
                <a:gd name="T0" fmla="*/ 0 w 188"/>
                <a:gd name="T1" fmla="*/ 0 h 36"/>
                <a:gd name="T2" fmla="*/ 0 w 188"/>
                <a:gd name="T3" fmla="*/ 0 h 36"/>
                <a:gd name="T4" fmla="*/ 0 w 188"/>
                <a:gd name="T5" fmla="*/ 0 h 36"/>
                <a:gd name="T6" fmla="*/ 0 w 188"/>
                <a:gd name="T7" fmla="*/ 0 h 36"/>
                <a:gd name="T8" fmla="*/ 0 w 188"/>
                <a:gd name="T9" fmla="*/ 0 h 36"/>
                <a:gd name="T10" fmla="*/ 0 w 188"/>
                <a:gd name="T11" fmla="*/ 0 h 36"/>
                <a:gd name="T12" fmla="*/ 0 w 188"/>
                <a:gd name="T13" fmla="*/ 0 h 36"/>
                <a:gd name="T14" fmla="*/ 0 w 188"/>
                <a:gd name="T15" fmla="*/ 0 h 36"/>
                <a:gd name="T16" fmla="*/ 0 w 188"/>
                <a:gd name="T17" fmla="*/ 0 h 36"/>
                <a:gd name="T18" fmla="*/ 0 w 188"/>
                <a:gd name="T19" fmla="*/ 0 h 36"/>
                <a:gd name="T20" fmla="*/ 0 w 188"/>
                <a:gd name="T21" fmla="*/ 0 h 36"/>
                <a:gd name="T22" fmla="*/ 0 w 188"/>
                <a:gd name="T23" fmla="*/ 0 h 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88" h="36">
                  <a:moveTo>
                    <a:pt x="51" y="0"/>
                  </a:moveTo>
                  <a:lnTo>
                    <a:pt x="29" y="1"/>
                  </a:lnTo>
                  <a:lnTo>
                    <a:pt x="0" y="11"/>
                  </a:lnTo>
                  <a:lnTo>
                    <a:pt x="19" y="9"/>
                  </a:lnTo>
                  <a:lnTo>
                    <a:pt x="48" y="4"/>
                  </a:lnTo>
                  <a:lnTo>
                    <a:pt x="109" y="20"/>
                  </a:lnTo>
                  <a:lnTo>
                    <a:pt x="143" y="30"/>
                  </a:lnTo>
                  <a:lnTo>
                    <a:pt x="181" y="36"/>
                  </a:lnTo>
                  <a:lnTo>
                    <a:pt x="188" y="30"/>
                  </a:lnTo>
                  <a:lnTo>
                    <a:pt x="146" y="22"/>
                  </a:lnTo>
                  <a:lnTo>
                    <a:pt x="97" y="11"/>
                  </a:lnTo>
                  <a:lnTo>
                    <a:pt x="5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0" name="Freeform 283"/>
            <p:cNvSpPr>
              <a:spLocks/>
            </p:cNvSpPr>
            <p:nvPr/>
          </p:nvSpPr>
          <p:spPr bwMode="auto">
            <a:xfrm>
              <a:off x="5295" y="1929"/>
              <a:ext cx="13" cy="3"/>
            </a:xfrm>
            <a:custGeom>
              <a:avLst/>
              <a:gdLst>
                <a:gd name="T0" fmla="*/ 0 w 76"/>
                <a:gd name="T1" fmla="*/ 0 h 17"/>
                <a:gd name="T2" fmla="*/ 0 w 76"/>
                <a:gd name="T3" fmla="*/ 0 h 17"/>
                <a:gd name="T4" fmla="*/ 0 w 76"/>
                <a:gd name="T5" fmla="*/ 0 h 17"/>
                <a:gd name="T6" fmla="*/ 0 w 76"/>
                <a:gd name="T7" fmla="*/ 0 h 17"/>
                <a:gd name="T8" fmla="*/ 0 w 76"/>
                <a:gd name="T9" fmla="*/ 0 h 17"/>
                <a:gd name="T10" fmla="*/ 0 w 76"/>
                <a:gd name="T11" fmla="*/ 0 h 17"/>
                <a:gd name="T12" fmla="*/ 0 w 76"/>
                <a:gd name="T13" fmla="*/ 0 h 1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6" h="17">
                  <a:moveTo>
                    <a:pt x="0" y="8"/>
                  </a:moveTo>
                  <a:lnTo>
                    <a:pt x="8" y="17"/>
                  </a:lnTo>
                  <a:lnTo>
                    <a:pt x="36" y="12"/>
                  </a:lnTo>
                  <a:lnTo>
                    <a:pt x="67" y="12"/>
                  </a:lnTo>
                  <a:lnTo>
                    <a:pt x="76" y="0"/>
                  </a:lnTo>
                  <a:lnTo>
                    <a:pt x="55" y="4"/>
                  </a:lnTo>
                  <a:lnTo>
                    <a:pt x="0" y="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1" name="Freeform 284"/>
            <p:cNvSpPr>
              <a:spLocks/>
            </p:cNvSpPr>
            <p:nvPr/>
          </p:nvSpPr>
          <p:spPr bwMode="auto">
            <a:xfrm>
              <a:off x="5268" y="1926"/>
              <a:ext cx="3" cy="6"/>
            </a:xfrm>
            <a:custGeom>
              <a:avLst/>
              <a:gdLst>
                <a:gd name="T0" fmla="*/ 0 w 19"/>
                <a:gd name="T1" fmla="*/ 0 h 32"/>
                <a:gd name="T2" fmla="*/ 0 w 19"/>
                <a:gd name="T3" fmla="*/ 0 h 32"/>
                <a:gd name="T4" fmla="*/ 0 w 19"/>
                <a:gd name="T5" fmla="*/ 0 h 32"/>
                <a:gd name="T6" fmla="*/ 0 w 19"/>
                <a:gd name="T7" fmla="*/ 0 h 32"/>
                <a:gd name="T8" fmla="*/ 0 w 19"/>
                <a:gd name="T9" fmla="*/ 0 h 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32">
                  <a:moveTo>
                    <a:pt x="19" y="0"/>
                  </a:moveTo>
                  <a:lnTo>
                    <a:pt x="19" y="9"/>
                  </a:lnTo>
                  <a:lnTo>
                    <a:pt x="14" y="24"/>
                  </a:lnTo>
                  <a:lnTo>
                    <a:pt x="0" y="32"/>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2" name="Freeform 285"/>
            <p:cNvSpPr>
              <a:spLocks/>
            </p:cNvSpPr>
            <p:nvPr/>
          </p:nvSpPr>
          <p:spPr bwMode="auto">
            <a:xfrm>
              <a:off x="5277" y="1940"/>
              <a:ext cx="3" cy="3"/>
            </a:xfrm>
            <a:custGeom>
              <a:avLst/>
              <a:gdLst>
                <a:gd name="T0" fmla="*/ 0 w 14"/>
                <a:gd name="T1" fmla="*/ 0 h 18"/>
                <a:gd name="T2" fmla="*/ 0 w 14"/>
                <a:gd name="T3" fmla="*/ 0 h 18"/>
                <a:gd name="T4" fmla="*/ 0 w 14"/>
                <a:gd name="T5" fmla="*/ 0 h 18"/>
                <a:gd name="T6" fmla="*/ 0 w 14"/>
                <a:gd name="T7" fmla="*/ 0 h 1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18">
                  <a:moveTo>
                    <a:pt x="14" y="0"/>
                  </a:moveTo>
                  <a:lnTo>
                    <a:pt x="11" y="9"/>
                  </a:lnTo>
                  <a:lnTo>
                    <a:pt x="0" y="18"/>
                  </a:lnTo>
                  <a:lnTo>
                    <a:pt x="1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3" name="Freeform 286"/>
            <p:cNvSpPr>
              <a:spLocks/>
            </p:cNvSpPr>
            <p:nvPr/>
          </p:nvSpPr>
          <p:spPr bwMode="auto">
            <a:xfrm>
              <a:off x="5319" y="1921"/>
              <a:ext cx="6" cy="7"/>
            </a:xfrm>
            <a:custGeom>
              <a:avLst/>
              <a:gdLst>
                <a:gd name="T0" fmla="*/ 0 w 35"/>
                <a:gd name="T1" fmla="*/ 0 h 43"/>
                <a:gd name="T2" fmla="*/ 0 w 35"/>
                <a:gd name="T3" fmla="*/ 0 h 43"/>
                <a:gd name="T4" fmla="*/ 0 w 35"/>
                <a:gd name="T5" fmla="*/ 0 h 43"/>
                <a:gd name="T6" fmla="*/ 0 w 35"/>
                <a:gd name="T7" fmla="*/ 0 h 43"/>
                <a:gd name="T8" fmla="*/ 0 w 35"/>
                <a:gd name="T9" fmla="*/ 0 h 4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43">
                  <a:moveTo>
                    <a:pt x="0" y="0"/>
                  </a:moveTo>
                  <a:lnTo>
                    <a:pt x="7" y="14"/>
                  </a:lnTo>
                  <a:lnTo>
                    <a:pt x="7" y="24"/>
                  </a:lnTo>
                  <a:lnTo>
                    <a:pt x="35" y="4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4" name="Freeform 287"/>
            <p:cNvSpPr>
              <a:spLocks/>
            </p:cNvSpPr>
            <p:nvPr/>
          </p:nvSpPr>
          <p:spPr bwMode="auto">
            <a:xfrm>
              <a:off x="5330" y="1921"/>
              <a:ext cx="19" cy="19"/>
            </a:xfrm>
            <a:custGeom>
              <a:avLst/>
              <a:gdLst>
                <a:gd name="T0" fmla="*/ 0 w 114"/>
                <a:gd name="T1" fmla="*/ 0 h 114"/>
                <a:gd name="T2" fmla="*/ 0 w 114"/>
                <a:gd name="T3" fmla="*/ 0 h 114"/>
                <a:gd name="T4" fmla="*/ 0 w 114"/>
                <a:gd name="T5" fmla="*/ 0 h 114"/>
                <a:gd name="T6" fmla="*/ 0 w 114"/>
                <a:gd name="T7" fmla="*/ 0 h 114"/>
                <a:gd name="T8" fmla="*/ 0 w 114"/>
                <a:gd name="T9" fmla="*/ 0 h 114"/>
                <a:gd name="T10" fmla="*/ 0 w 114"/>
                <a:gd name="T11" fmla="*/ 0 h 114"/>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4" h="114">
                  <a:moveTo>
                    <a:pt x="0" y="0"/>
                  </a:moveTo>
                  <a:lnTo>
                    <a:pt x="21" y="35"/>
                  </a:lnTo>
                  <a:lnTo>
                    <a:pt x="43" y="63"/>
                  </a:lnTo>
                  <a:lnTo>
                    <a:pt x="114" y="114"/>
                  </a:lnTo>
                  <a:lnTo>
                    <a:pt x="47" y="5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5" name="Freeform 288"/>
            <p:cNvSpPr>
              <a:spLocks/>
            </p:cNvSpPr>
            <p:nvPr/>
          </p:nvSpPr>
          <p:spPr bwMode="auto">
            <a:xfrm>
              <a:off x="5354" y="1948"/>
              <a:ext cx="4" cy="13"/>
            </a:xfrm>
            <a:custGeom>
              <a:avLst/>
              <a:gdLst>
                <a:gd name="T0" fmla="*/ 0 w 27"/>
                <a:gd name="T1" fmla="*/ 0 h 82"/>
                <a:gd name="T2" fmla="*/ 0 w 27"/>
                <a:gd name="T3" fmla="*/ 0 h 82"/>
                <a:gd name="T4" fmla="*/ 0 w 27"/>
                <a:gd name="T5" fmla="*/ 0 h 82"/>
                <a:gd name="T6" fmla="*/ 0 w 27"/>
                <a:gd name="T7" fmla="*/ 0 h 82"/>
                <a:gd name="T8" fmla="*/ 0 w 27"/>
                <a:gd name="T9" fmla="*/ 0 h 82"/>
                <a:gd name="T10" fmla="*/ 0 w 27"/>
                <a:gd name="T11" fmla="*/ 0 h 82"/>
                <a:gd name="T12" fmla="*/ 0 w 27"/>
                <a:gd name="T13" fmla="*/ 0 h 8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7" h="82">
                  <a:moveTo>
                    <a:pt x="27" y="0"/>
                  </a:moveTo>
                  <a:lnTo>
                    <a:pt x="9" y="29"/>
                  </a:lnTo>
                  <a:lnTo>
                    <a:pt x="4" y="57"/>
                  </a:lnTo>
                  <a:lnTo>
                    <a:pt x="3" y="82"/>
                  </a:lnTo>
                  <a:lnTo>
                    <a:pt x="0" y="47"/>
                  </a:lnTo>
                  <a:lnTo>
                    <a:pt x="3" y="21"/>
                  </a:lnTo>
                  <a:lnTo>
                    <a:pt x="2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6" name="Freeform 289"/>
            <p:cNvSpPr>
              <a:spLocks/>
            </p:cNvSpPr>
            <p:nvPr/>
          </p:nvSpPr>
          <p:spPr bwMode="auto">
            <a:xfrm>
              <a:off x="5312" y="1934"/>
              <a:ext cx="2" cy="5"/>
            </a:xfrm>
            <a:custGeom>
              <a:avLst/>
              <a:gdLst>
                <a:gd name="T0" fmla="*/ 0 w 15"/>
                <a:gd name="T1" fmla="*/ 0 h 30"/>
                <a:gd name="T2" fmla="*/ 0 w 15"/>
                <a:gd name="T3" fmla="*/ 0 h 30"/>
                <a:gd name="T4" fmla="*/ 0 w 15"/>
                <a:gd name="T5" fmla="*/ 0 h 30"/>
                <a:gd name="T6" fmla="*/ 0 w 15"/>
                <a:gd name="T7" fmla="*/ 0 h 3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5" h="30">
                  <a:moveTo>
                    <a:pt x="11" y="0"/>
                  </a:moveTo>
                  <a:lnTo>
                    <a:pt x="15" y="12"/>
                  </a:lnTo>
                  <a:lnTo>
                    <a:pt x="0" y="30"/>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97" name="Group 290"/>
          <p:cNvGrpSpPr>
            <a:grpSpLocks/>
          </p:cNvGrpSpPr>
          <p:nvPr/>
        </p:nvGrpSpPr>
        <p:grpSpPr bwMode="auto">
          <a:xfrm>
            <a:off x="7049981" y="3136559"/>
            <a:ext cx="269775" cy="283404"/>
            <a:chOff x="5362" y="1748"/>
            <a:chExt cx="268" cy="305"/>
          </a:xfrm>
        </p:grpSpPr>
        <p:sp>
          <p:nvSpPr>
            <p:cNvPr id="298" name="Freeform 291"/>
            <p:cNvSpPr>
              <a:spLocks/>
            </p:cNvSpPr>
            <p:nvPr/>
          </p:nvSpPr>
          <p:spPr bwMode="auto">
            <a:xfrm>
              <a:off x="5477" y="1748"/>
              <a:ext cx="8" cy="6"/>
            </a:xfrm>
            <a:custGeom>
              <a:avLst/>
              <a:gdLst>
                <a:gd name="T0" fmla="*/ 0 w 51"/>
                <a:gd name="T1" fmla="*/ 0 h 36"/>
                <a:gd name="T2" fmla="*/ 0 w 51"/>
                <a:gd name="T3" fmla="*/ 0 h 36"/>
                <a:gd name="T4" fmla="*/ 0 w 51"/>
                <a:gd name="T5" fmla="*/ 0 h 36"/>
                <a:gd name="T6" fmla="*/ 0 w 51"/>
                <a:gd name="T7" fmla="*/ 0 h 36"/>
                <a:gd name="T8" fmla="*/ 0 w 51"/>
                <a:gd name="T9" fmla="*/ 0 h 36"/>
                <a:gd name="T10" fmla="*/ 0 w 51"/>
                <a:gd name="T11" fmla="*/ 0 h 36"/>
                <a:gd name="T12" fmla="*/ 0 w 51"/>
                <a:gd name="T13" fmla="*/ 0 h 36"/>
                <a:gd name="T14" fmla="*/ 0 w 51"/>
                <a:gd name="T15" fmla="*/ 0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51" h="36">
                  <a:moveTo>
                    <a:pt x="0" y="0"/>
                  </a:moveTo>
                  <a:lnTo>
                    <a:pt x="14" y="10"/>
                  </a:lnTo>
                  <a:lnTo>
                    <a:pt x="29" y="15"/>
                  </a:lnTo>
                  <a:lnTo>
                    <a:pt x="43" y="23"/>
                  </a:lnTo>
                  <a:lnTo>
                    <a:pt x="51" y="36"/>
                  </a:lnTo>
                  <a:lnTo>
                    <a:pt x="39" y="32"/>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9" name="Freeform 292"/>
            <p:cNvSpPr>
              <a:spLocks/>
            </p:cNvSpPr>
            <p:nvPr/>
          </p:nvSpPr>
          <p:spPr bwMode="auto">
            <a:xfrm>
              <a:off x="5479" y="1758"/>
              <a:ext cx="2" cy="4"/>
            </a:xfrm>
            <a:custGeom>
              <a:avLst/>
              <a:gdLst>
                <a:gd name="T0" fmla="*/ 0 w 14"/>
                <a:gd name="T1" fmla="*/ 0 h 24"/>
                <a:gd name="T2" fmla="*/ 0 w 14"/>
                <a:gd name="T3" fmla="*/ 0 h 24"/>
                <a:gd name="T4" fmla="*/ 0 w 14"/>
                <a:gd name="T5" fmla="*/ 0 h 24"/>
                <a:gd name="T6" fmla="*/ 0 w 14"/>
                <a:gd name="T7" fmla="*/ 0 h 2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24">
                  <a:moveTo>
                    <a:pt x="0" y="0"/>
                  </a:moveTo>
                  <a:lnTo>
                    <a:pt x="14" y="0"/>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0" name="Freeform 293"/>
            <p:cNvSpPr>
              <a:spLocks/>
            </p:cNvSpPr>
            <p:nvPr/>
          </p:nvSpPr>
          <p:spPr bwMode="auto">
            <a:xfrm>
              <a:off x="5444" y="1788"/>
              <a:ext cx="71" cy="180"/>
            </a:xfrm>
            <a:custGeom>
              <a:avLst/>
              <a:gdLst>
                <a:gd name="T0" fmla="*/ 0 w 431"/>
                <a:gd name="T1" fmla="*/ 0 h 1076"/>
                <a:gd name="T2" fmla="*/ 0 w 431"/>
                <a:gd name="T3" fmla="*/ 0 h 1076"/>
                <a:gd name="T4" fmla="*/ 0 w 431"/>
                <a:gd name="T5" fmla="*/ 0 h 1076"/>
                <a:gd name="T6" fmla="*/ 0 w 431"/>
                <a:gd name="T7" fmla="*/ 0 h 1076"/>
                <a:gd name="T8" fmla="*/ 0 w 431"/>
                <a:gd name="T9" fmla="*/ 0 h 1076"/>
                <a:gd name="T10" fmla="*/ 0 w 431"/>
                <a:gd name="T11" fmla="*/ 0 h 1076"/>
                <a:gd name="T12" fmla="*/ 0 w 431"/>
                <a:gd name="T13" fmla="*/ 0 h 1076"/>
                <a:gd name="T14" fmla="*/ 0 w 431"/>
                <a:gd name="T15" fmla="*/ 0 h 1076"/>
                <a:gd name="T16" fmla="*/ 0 w 431"/>
                <a:gd name="T17" fmla="*/ 0 h 1076"/>
                <a:gd name="T18" fmla="*/ 0 w 431"/>
                <a:gd name="T19" fmla="*/ 0 h 1076"/>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431" h="1076">
                  <a:moveTo>
                    <a:pt x="369" y="0"/>
                  </a:moveTo>
                  <a:lnTo>
                    <a:pt x="328" y="44"/>
                  </a:lnTo>
                  <a:lnTo>
                    <a:pt x="317" y="108"/>
                  </a:lnTo>
                  <a:lnTo>
                    <a:pt x="254" y="170"/>
                  </a:lnTo>
                  <a:lnTo>
                    <a:pt x="126" y="461"/>
                  </a:lnTo>
                  <a:lnTo>
                    <a:pt x="57" y="724"/>
                  </a:lnTo>
                  <a:lnTo>
                    <a:pt x="0" y="1076"/>
                  </a:lnTo>
                  <a:lnTo>
                    <a:pt x="178" y="919"/>
                  </a:lnTo>
                  <a:lnTo>
                    <a:pt x="431" y="140"/>
                  </a:lnTo>
                  <a:lnTo>
                    <a:pt x="369" y="0"/>
                  </a:lnTo>
                  <a:close/>
                </a:path>
              </a:pathLst>
            </a:custGeom>
            <a:solidFill>
              <a:srgbClr val="40000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1" name="Freeform 294"/>
            <p:cNvSpPr>
              <a:spLocks/>
            </p:cNvSpPr>
            <p:nvPr/>
          </p:nvSpPr>
          <p:spPr bwMode="auto">
            <a:xfrm>
              <a:off x="5362" y="1754"/>
              <a:ext cx="268" cy="299"/>
            </a:xfrm>
            <a:custGeom>
              <a:avLst/>
              <a:gdLst>
                <a:gd name="T0" fmla="*/ 0 w 1606"/>
                <a:gd name="T1" fmla="*/ 0 h 1792"/>
                <a:gd name="T2" fmla="*/ 0 w 1606"/>
                <a:gd name="T3" fmla="*/ 0 h 1792"/>
                <a:gd name="T4" fmla="*/ 0 w 1606"/>
                <a:gd name="T5" fmla="*/ 0 h 1792"/>
                <a:gd name="T6" fmla="*/ 0 w 1606"/>
                <a:gd name="T7" fmla="*/ 0 h 1792"/>
                <a:gd name="T8" fmla="*/ 0 w 1606"/>
                <a:gd name="T9" fmla="*/ 0 h 1792"/>
                <a:gd name="T10" fmla="*/ 0 w 1606"/>
                <a:gd name="T11" fmla="*/ 0 h 1792"/>
                <a:gd name="T12" fmla="*/ 0 w 1606"/>
                <a:gd name="T13" fmla="*/ 0 h 1792"/>
                <a:gd name="T14" fmla="*/ 0 w 1606"/>
                <a:gd name="T15" fmla="*/ 0 h 1792"/>
                <a:gd name="T16" fmla="*/ 0 w 1606"/>
                <a:gd name="T17" fmla="*/ 0 h 1792"/>
                <a:gd name="T18" fmla="*/ 0 w 1606"/>
                <a:gd name="T19" fmla="*/ 0 h 1792"/>
                <a:gd name="T20" fmla="*/ 0 w 1606"/>
                <a:gd name="T21" fmla="*/ 0 h 1792"/>
                <a:gd name="T22" fmla="*/ 0 w 1606"/>
                <a:gd name="T23" fmla="*/ 0 h 1792"/>
                <a:gd name="T24" fmla="*/ 0 w 1606"/>
                <a:gd name="T25" fmla="*/ 0 h 1792"/>
                <a:gd name="T26" fmla="*/ 0 w 1606"/>
                <a:gd name="T27" fmla="*/ 0 h 1792"/>
                <a:gd name="T28" fmla="*/ 0 w 1606"/>
                <a:gd name="T29" fmla="*/ 0 h 1792"/>
                <a:gd name="T30" fmla="*/ 0 w 1606"/>
                <a:gd name="T31" fmla="*/ 0 h 1792"/>
                <a:gd name="T32" fmla="*/ 0 w 1606"/>
                <a:gd name="T33" fmla="*/ 0 h 1792"/>
                <a:gd name="T34" fmla="*/ 0 w 1606"/>
                <a:gd name="T35" fmla="*/ 0 h 1792"/>
                <a:gd name="T36" fmla="*/ 0 w 1606"/>
                <a:gd name="T37" fmla="*/ 0 h 1792"/>
                <a:gd name="T38" fmla="*/ 0 w 1606"/>
                <a:gd name="T39" fmla="*/ 0 h 1792"/>
                <a:gd name="T40" fmla="*/ 0 w 1606"/>
                <a:gd name="T41" fmla="*/ 0 h 1792"/>
                <a:gd name="T42" fmla="*/ 0 w 1606"/>
                <a:gd name="T43" fmla="*/ 0 h 1792"/>
                <a:gd name="T44" fmla="*/ 0 w 1606"/>
                <a:gd name="T45" fmla="*/ 0 h 1792"/>
                <a:gd name="T46" fmla="*/ 0 w 1606"/>
                <a:gd name="T47" fmla="*/ 0 h 1792"/>
                <a:gd name="T48" fmla="*/ 0 w 1606"/>
                <a:gd name="T49" fmla="*/ 0 h 1792"/>
                <a:gd name="T50" fmla="*/ 0 w 1606"/>
                <a:gd name="T51" fmla="*/ 0 h 1792"/>
                <a:gd name="T52" fmla="*/ 0 w 1606"/>
                <a:gd name="T53" fmla="*/ 0 h 1792"/>
                <a:gd name="T54" fmla="*/ 0 w 1606"/>
                <a:gd name="T55" fmla="*/ 0 h 1792"/>
                <a:gd name="T56" fmla="*/ 0 w 1606"/>
                <a:gd name="T57" fmla="*/ 0 h 1792"/>
                <a:gd name="T58" fmla="*/ 0 w 1606"/>
                <a:gd name="T59" fmla="*/ 0 h 1792"/>
                <a:gd name="T60" fmla="*/ 0 w 1606"/>
                <a:gd name="T61" fmla="*/ 0 h 1792"/>
                <a:gd name="T62" fmla="*/ 0 w 1606"/>
                <a:gd name="T63" fmla="*/ 0 h 1792"/>
                <a:gd name="T64" fmla="*/ 0 w 1606"/>
                <a:gd name="T65" fmla="*/ 0 h 1792"/>
                <a:gd name="T66" fmla="*/ 0 w 1606"/>
                <a:gd name="T67" fmla="*/ 0 h 1792"/>
                <a:gd name="T68" fmla="*/ 0 w 1606"/>
                <a:gd name="T69" fmla="*/ 0 h 1792"/>
                <a:gd name="T70" fmla="*/ 0 w 1606"/>
                <a:gd name="T71" fmla="*/ 0 h 1792"/>
                <a:gd name="T72" fmla="*/ 0 w 1606"/>
                <a:gd name="T73" fmla="*/ 0 h 1792"/>
                <a:gd name="T74" fmla="*/ 0 w 1606"/>
                <a:gd name="T75" fmla="*/ 0 h 1792"/>
                <a:gd name="T76" fmla="*/ 0 w 1606"/>
                <a:gd name="T77" fmla="*/ 0 h 1792"/>
                <a:gd name="T78" fmla="*/ 0 w 1606"/>
                <a:gd name="T79" fmla="*/ 0 h 1792"/>
                <a:gd name="T80" fmla="*/ 0 w 1606"/>
                <a:gd name="T81" fmla="*/ 0 h 1792"/>
                <a:gd name="T82" fmla="*/ 0 w 1606"/>
                <a:gd name="T83" fmla="*/ 0 h 1792"/>
                <a:gd name="T84" fmla="*/ 0 w 1606"/>
                <a:gd name="T85" fmla="*/ 0 h 1792"/>
                <a:gd name="T86" fmla="*/ 0 w 1606"/>
                <a:gd name="T87" fmla="*/ 0 h 1792"/>
                <a:gd name="T88" fmla="*/ 0 w 1606"/>
                <a:gd name="T89" fmla="*/ 0 h 1792"/>
                <a:gd name="T90" fmla="*/ 0 w 1606"/>
                <a:gd name="T91" fmla="*/ 0 h 179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606" h="1792">
                  <a:moveTo>
                    <a:pt x="1309" y="94"/>
                  </a:moveTo>
                  <a:lnTo>
                    <a:pt x="1258" y="0"/>
                  </a:lnTo>
                  <a:lnTo>
                    <a:pt x="867" y="163"/>
                  </a:lnTo>
                  <a:lnTo>
                    <a:pt x="850" y="288"/>
                  </a:lnTo>
                  <a:lnTo>
                    <a:pt x="818" y="332"/>
                  </a:lnTo>
                  <a:lnTo>
                    <a:pt x="773" y="382"/>
                  </a:lnTo>
                  <a:lnTo>
                    <a:pt x="747" y="472"/>
                  </a:lnTo>
                  <a:lnTo>
                    <a:pt x="660" y="678"/>
                  </a:lnTo>
                  <a:lnTo>
                    <a:pt x="590" y="924"/>
                  </a:lnTo>
                  <a:lnTo>
                    <a:pt x="558" y="1088"/>
                  </a:lnTo>
                  <a:lnTo>
                    <a:pt x="243" y="1094"/>
                  </a:lnTo>
                  <a:lnTo>
                    <a:pt x="192" y="1125"/>
                  </a:lnTo>
                  <a:lnTo>
                    <a:pt x="47" y="1125"/>
                  </a:lnTo>
                  <a:lnTo>
                    <a:pt x="7" y="1189"/>
                  </a:lnTo>
                  <a:lnTo>
                    <a:pt x="0" y="1264"/>
                  </a:lnTo>
                  <a:lnTo>
                    <a:pt x="15" y="1332"/>
                  </a:lnTo>
                  <a:lnTo>
                    <a:pt x="148" y="1358"/>
                  </a:lnTo>
                  <a:lnTo>
                    <a:pt x="211" y="1452"/>
                  </a:lnTo>
                  <a:lnTo>
                    <a:pt x="337" y="1484"/>
                  </a:lnTo>
                  <a:lnTo>
                    <a:pt x="430" y="1484"/>
                  </a:lnTo>
                  <a:lnTo>
                    <a:pt x="538" y="1503"/>
                  </a:lnTo>
                  <a:lnTo>
                    <a:pt x="544" y="1548"/>
                  </a:lnTo>
                  <a:lnTo>
                    <a:pt x="538" y="1642"/>
                  </a:lnTo>
                  <a:lnTo>
                    <a:pt x="550" y="1705"/>
                  </a:lnTo>
                  <a:lnTo>
                    <a:pt x="608" y="1712"/>
                  </a:lnTo>
                  <a:lnTo>
                    <a:pt x="677" y="1724"/>
                  </a:lnTo>
                  <a:lnTo>
                    <a:pt x="747" y="1786"/>
                  </a:lnTo>
                  <a:lnTo>
                    <a:pt x="830" y="1786"/>
                  </a:lnTo>
                  <a:lnTo>
                    <a:pt x="905" y="1779"/>
                  </a:lnTo>
                  <a:lnTo>
                    <a:pt x="1019" y="1744"/>
                  </a:lnTo>
                  <a:lnTo>
                    <a:pt x="1145" y="1756"/>
                  </a:lnTo>
                  <a:lnTo>
                    <a:pt x="1273" y="1792"/>
                  </a:lnTo>
                  <a:lnTo>
                    <a:pt x="1392" y="1766"/>
                  </a:lnTo>
                  <a:lnTo>
                    <a:pt x="1473" y="1674"/>
                  </a:lnTo>
                  <a:lnTo>
                    <a:pt x="1467" y="1571"/>
                  </a:lnTo>
                  <a:lnTo>
                    <a:pt x="1497" y="1446"/>
                  </a:lnTo>
                  <a:lnTo>
                    <a:pt x="1516" y="1282"/>
                  </a:lnTo>
                  <a:lnTo>
                    <a:pt x="1554" y="1131"/>
                  </a:lnTo>
                  <a:lnTo>
                    <a:pt x="1606" y="906"/>
                  </a:lnTo>
                  <a:lnTo>
                    <a:pt x="1598" y="678"/>
                  </a:lnTo>
                  <a:lnTo>
                    <a:pt x="1598" y="478"/>
                  </a:lnTo>
                  <a:lnTo>
                    <a:pt x="1586" y="338"/>
                  </a:lnTo>
                  <a:lnTo>
                    <a:pt x="1554" y="276"/>
                  </a:lnTo>
                  <a:lnTo>
                    <a:pt x="1484" y="225"/>
                  </a:lnTo>
                  <a:lnTo>
                    <a:pt x="1403" y="142"/>
                  </a:lnTo>
                  <a:lnTo>
                    <a:pt x="1309" y="94"/>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2" name="Freeform 295"/>
            <p:cNvSpPr>
              <a:spLocks/>
            </p:cNvSpPr>
            <p:nvPr/>
          </p:nvSpPr>
          <p:spPr bwMode="auto">
            <a:xfrm>
              <a:off x="5456" y="1772"/>
              <a:ext cx="169" cy="278"/>
            </a:xfrm>
            <a:custGeom>
              <a:avLst/>
              <a:gdLst>
                <a:gd name="T0" fmla="*/ 0 w 1014"/>
                <a:gd name="T1" fmla="*/ 0 h 1671"/>
                <a:gd name="T2" fmla="*/ 0 w 1014"/>
                <a:gd name="T3" fmla="*/ 0 h 1671"/>
                <a:gd name="T4" fmla="*/ 0 w 1014"/>
                <a:gd name="T5" fmla="*/ 0 h 1671"/>
                <a:gd name="T6" fmla="*/ 0 w 1014"/>
                <a:gd name="T7" fmla="*/ 0 h 1671"/>
                <a:gd name="T8" fmla="*/ 0 w 1014"/>
                <a:gd name="T9" fmla="*/ 0 h 1671"/>
                <a:gd name="T10" fmla="*/ 0 w 1014"/>
                <a:gd name="T11" fmla="*/ 0 h 1671"/>
                <a:gd name="T12" fmla="*/ 0 w 1014"/>
                <a:gd name="T13" fmla="*/ 0 h 1671"/>
                <a:gd name="T14" fmla="*/ 0 w 1014"/>
                <a:gd name="T15" fmla="*/ 0 h 1671"/>
                <a:gd name="T16" fmla="*/ 0 w 1014"/>
                <a:gd name="T17" fmla="*/ 0 h 1671"/>
                <a:gd name="T18" fmla="*/ 0 w 1014"/>
                <a:gd name="T19" fmla="*/ 0 h 1671"/>
                <a:gd name="T20" fmla="*/ 0 w 1014"/>
                <a:gd name="T21" fmla="*/ 0 h 1671"/>
                <a:gd name="T22" fmla="*/ 0 w 1014"/>
                <a:gd name="T23" fmla="*/ 0 h 1671"/>
                <a:gd name="T24" fmla="*/ 0 w 1014"/>
                <a:gd name="T25" fmla="*/ 0 h 1671"/>
                <a:gd name="T26" fmla="*/ 0 w 1014"/>
                <a:gd name="T27" fmla="*/ 0 h 1671"/>
                <a:gd name="T28" fmla="*/ 0 w 1014"/>
                <a:gd name="T29" fmla="*/ 0 h 1671"/>
                <a:gd name="T30" fmla="*/ 0 w 1014"/>
                <a:gd name="T31" fmla="*/ 0 h 1671"/>
                <a:gd name="T32" fmla="*/ 0 w 1014"/>
                <a:gd name="T33" fmla="*/ 0 h 1671"/>
                <a:gd name="T34" fmla="*/ 0 w 1014"/>
                <a:gd name="T35" fmla="*/ 0 h 1671"/>
                <a:gd name="T36" fmla="*/ 0 w 1014"/>
                <a:gd name="T37" fmla="*/ 0 h 1671"/>
                <a:gd name="T38" fmla="*/ 0 w 1014"/>
                <a:gd name="T39" fmla="*/ 0 h 1671"/>
                <a:gd name="T40" fmla="*/ 0 w 1014"/>
                <a:gd name="T41" fmla="*/ 0 h 1671"/>
                <a:gd name="T42" fmla="*/ 0 w 1014"/>
                <a:gd name="T43" fmla="*/ 0 h 1671"/>
                <a:gd name="T44" fmla="*/ 0 w 1014"/>
                <a:gd name="T45" fmla="*/ 0 h 1671"/>
                <a:gd name="T46" fmla="*/ 0 w 1014"/>
                <a:gd name="T47" fmla="*/ 0 h 1671"/>
                <a:gd name="T48" fmla="*/ 0 w 1014"/>
                <a:gd name="T49" fmla="*/ 0 h 1671"/>
                <a:gd name="T50" fmla="*/ 0 w 1014"/>
                <a:gd name="T51" fmla="*/ 0 h 1671"/>
                <a:gd name="T52" fmla="*/ 0 w 1014"/>
                <a:gd name="T53" fmla="*/ 0 h 1671"/>
                <a:gd name="T54" fmla="*/ 0 w 1014"/>
                <a:gd name="T55" fmla="*/ 0 h 1671"/>
                <a:gd name="T56" fmla="*/ 0 w 1014"/>
                <a:gd name="T57" fmla="*/ 0 h 1671"/>
                <a:gd name="T58" fmla="*/ 0 w 1014"/>
                <a:gd name="T59" fmla="*/ 0 h 1671"/>
                <a:gd name="T60" fmla="*/ 0 w 1014"/>
                <a:gd name="T61" fmla="*/ 0 h 1671"/>
                <a:gd name="T62" fmla="*/ 0 w 1014"/>
                <a:gd name="T63" fmla="*/ 0 h 1671"/>
                <a:gd name="T64" fmla="*/ 0 w 1014"/>
                <a:gd name="T65" fmla="*/ 0 h 1671"/>
                <a:gd name="T66" fmla="*/ 0 w 1014"/>
                <a:gd name="T67" fmla="*/ 0 h 1671"/>
                <a:gd name="T68" fmla="*/ 0 w 1014"/>
                <a:gd name="T69" fmla="*/ 0 h 1671"/>
                <a:gd name="T70" fmla="*/ 0 w 1014"/>
                <a:gd name="T71" fmla="*/ 0 h 1671"/>
                <a:gd name="T72" fmla="*/ 0 w 1014"/>
                <a:gd name="T73" fmla="*/ 0 h 1671"/>
                <a:gd name="T74" fmla="*/ 0 w 1014"/>
                <a:gd name="T75" fmla="*/ 0 h 1671"/>
                <a:gd name="T76" fmla="*/ 0 w 1014"/>
                <a:gd name="T77" fmla="*/ 0 h 1671"/>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014" h="1671">
                  <a:moveTo>
                    <a:pt x="0" y="1402"/>
                  </a:moveTo>
                  <a:lnTo>
                    <a:pt x="132" y="1382"/>
                  </a:lnTo>
                  <a:lnTo>
                    <a:pt x="245" y="1376"/>
                  </a:lnTo>
                  <a:lnTo>
                    <a:pt x="370" y="1363"/>
                  </a:lnTo>
                  <a:lnTo>
                    <a:pt x="509" y="1344"/>
                  </a:lnTo>
                  <a:lnTo>
                    <a:pt x="573" y="1301"/>
                  </a:lnTo>
                  <a:lnTo>
                    <a:pt x="744" y="1088"/>
                  </a:lnTo>
                  <a:lnTo>
                    <a:pt x="656" y="1149"/>
                  </a:lnTo>
                  <a:lnTo>
                    <a:pt x="598" y="1201"/>
                  </a:lnTo>
                  <a:lnTo>
                    <a:pt x="630" y="1050"/>
                  </a:lnTo>
                  <a:lnTo>
                    <a:pt x="693" y="992"/>
                  </a:lnTo>
                  <a:lnTo>
                    <a:pt x="787" y="837"/>
                  </a:lnTo>
                  <a:lnTo>
                    <a:pt x="699" y="911"/>
                  </a:lnTo>
                  <a:lnTo>
                    <a:pt x="642" y="931"/>
                  </a:lnTo>
                  <a:lnTo>
                    <a:pt x="656" y="823"/>
                  </a:lnTo>
                  <a:lnTo>
                    <a:pt x="718" y="741"/>
                  </a:lnTo>
                  <a:lnTo>
                    <a:pt x="781" y="679"/>
                  </a:lnTo>
                  <a:lnTo>
                    <a:pt x="845" y="497"/>
                  </a:lnTo>
                  <a:lnTo>
                    <a:pt x="724" y="647"/>
                  </a:lnTo>
                  <a:lnTo>
                    <a:pt x="656" y="703"/>
                  </a:lnTo>
                  <a:lnTo>
                    <a:pt x="648" y="471"/>
                  </a:lnTo>
                  <a:lnTo>
                    <a:pt x="630" y="378"/>
                  </a:lnTo>
                  <a:lnTo>
                    <a:pt x="592" y="334"/>
                  </a:lnTo>
                  <a:lnTo>
                    <a:pt x="535" y="264"/>
                  </a:lnTo>
                  <a:lnTo>
                    <a:pt x="445" y="232"/>
                  </a:lnTo>
                  <a:lnTo>
                    <a:pt x="402" y="214"/>
                  </a:lnTo>
                  <a:lnTo>
                    <a:pt x="528" y="94"/>
                  </a:lnTo>
                  <a:lnTo>
                    <a:pt x="661" y="126"/>
                  </a:lnTo>
                  <a:lnTo>
                    <a:pt x="750" y="176"/>
                  </a:lnTo>
                  <a:lnTo>
                    <a:pt x="781" y="226"/>
                  </a:lnTo>
                  <a:lnTo>
                    <a:pt x="756" y="150"/>
                  </a:lnTo>
                  <a:lnTo>
                    <a:pt x="705" y="126"/>
                  </a:lnTo>
                  <a:lnTo>
                    <a:pt x="624" y="94"/>
                  </a:lnTo>
                  <a:lnTo>
                    <a:pt x="560" y="82"/>
                  </a:lnTo>
                  <a:lnTo>
                    <a:pt x="598" y="62"/>
                  </a:lnTo>
                  <a:lnTo>
                    <a:pt x="661" y="44"/>
                  </a:lnTo>
                  <a:lnTo>
                    <a:pt x="718" y="25"/>
                  </a:lnTo>
                  <a:lnTo>
                    <a:pt x="750" y="0"/>
                  </a:lnTo>
                  <a:lnTo>
                    <a:pt x="825" y="50"/>
                  </a:lnTo>
                  <a:lnTo>
                    <a:pt x="868" y="94"/>
                  </a:lnTo>
                  <a:lnTo>
                    <a:pt x="913" y="150"/>
                  </a:lnTo>
                  <a:lnTo>
                    <a:pt x="976" y="182"/>
                  </a:lnTo>
                  <a:lnTo>
                    <a:pt x="988" y="240"/>
                  </a:lnTo>
                  <a:lnTo>
                    <a:pt x="1014" y="334"/>
                  </a:lnTo>
                  <a:lnTo>
                    <a:pt x="1014" y="478"/>
                  </a:lnTo>
                  <a:lnTo>
                    <a:pt x="1008" y="628"/>
                  </a:lnTo>
                  <a:lnTo>
                    <a:pt x="1002" y="799"/>
                  </a:lnTo>
                  <a:lnTo>
                    <a:pt x="970" y="975"/>
                  </a:lnTo>
                  <a:lnTo>
                    <a:pt x="931" y="1157"/>
                  </a:lnTo>
                  <a:lnTo>
                    <a:pt x="913" y="1314"/>
                  </a:lnTo>
                  <a:lnTo>
                    <a:pt x="882" y="1426"/>
                  </a:lnTo>
                  <a:lnTo>
                    <a:pt x="888" y="1527"/>
                  </a:lnTo>
                  <a:lnTo>
                    <a:pt x="875" y="1584"/>
                  </a:lnTo>
                  <a:lnTo>
                    <a:pt x="830" y="1627"/>
                  </a:lnTo>
                  <a:lnTo>
                    <a:pt x="775" y="1664"/>
                  </a:lnTo>
                  <a:lnTo>
                    <a:pt x="699" y="1671"/>
                  </a:lnTo>
                  <a:lnTo>
                    <a:pt x="661" y="1652"/>
                  </a:lnTo>
                  <a:lnTo>
                    <a:pt x="612" y="1648"/>
                  </a:lnTo>
                  <a:lnTo>
                    <a:pt x="490" y="1622"/>
                  </a:lnTo>
                  <a:lnTo>
                    <a:pt x="541" y="1559"/>
                  </a:lnTo>
                  <a:lnTo>
                    <a:pt x="598" y="1470"/>
                  </a:lnTo>
                  <a:lnTo>
                    <a:pt x="516" y="1534"/>
                  </a:lnTo>
                  <a:lnTo>
                    <a:pt x="452" y="1590"/>
                  </a:lnTo>
                  <a:lnTo>
                    <a:pt x="407" y="1622"/>
                  </a:lnTo>
                  <a:lnTo>
                    <a:pt x="345" y="1652"/>
                  </a:lnTo>
                  <a:lnTo>
                    <a:pt x="276" y="1652"/>
                  </a:lnTo>
                  <a:lnTo>
                    <a:pt x="208" y="1652"/>
                  </a:lnTo>
                  <a:lnTo>
                    <a:pt x="170" y="1636"/>
                  </a:lnTo>
                  <a:lnTo>
                    <a:pt x="151" y="1616"/>
                  </a:lnTo>
                  <a:lnTo>
                    <a:pt x="240" y="1565"/>
                  </a:lnTo>
                  <a:lnTo>
                    <a:pt x="327" y="1484"/>
                  </a:lnTo>
                  <a:lnTo>
                    <a:pt x="352" y="1446"/>
                  </a:lnTo>
                  <a:lnTo>
                    <a:pt x="282" y="1463"/>
                  </a:lnTo>
                  <a:lnTo>
                    <a:pt x="176" y="1546"/>
                  </a:lnTo>
                  <a:lnTo>
                    <a:pt x="132" y="1584"/>
                  </a:lnTo>
                  <a:lnTo>
                    <a:pt x="32" y="1590"/>
                  </a:lnTo>
                  <a:lnTo>
                    <a:pt x="0" y="1572"/>
                  </a:lnTo>
                  <a:lnTo>
                    <a:pt x="0" y="1527"/>
                  </a:lnTo>
                  <a:lnTo>
                    <a:pt x="0" y="1402"/>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3" name="Freeform 296"/>
            <p:cNvSpPr>
              <a:spLocks/>
            </p:cNvSpPr>
            <p:nvPr/>
          </p:nvSpPr>
          <p:spPr bwMode="auto">
            <a:xfrm>
              <a:off x="5563" y="1910"/>
              <a:ext cx="50" cy="129"/>
            </a:xfrm>
            <a:custGeom>
              <a:avLst/>
              <a:gdLst>
                <a:gd name="T0" fmla="*/ 0 w 295"/>
                <a:gd name="T1" fmla="*/ 0 h 774"/>
                <a:gd name="T2" fmla="*/ 0 w 295"/>
                <a:gd name="T3" fmla="*/ 0 h 774"/>
                <a:gd name="T4" fmla="*/ 0 w 295"/>
                <a:gd name="T5" fmla="*/ 0 h 774"/>
                <a:gd name="T6" fmla="*/ 0 w 295"/>
                <a:gd name="T7" fmla="*/ 0 h 774"/>
                <a:gd name="T8" fmla="*/ 0 w 295"/>
                <a:gd name="T9" fmla="*/ 0 h 774"/>
                <a:gd name="T10" fmla="*/ 0 w 295"/>
                <a:gd name="T11" fmla="*/ 0 h 774"/>
                <a:gd name="T12" fmla="*/ 0 w 295"/>
                <a:gd name="T13" fmla="*/ 0 h 774"/>
                <a:gd name="T14" fmla="*/ 0 w 295"/>
                <a:gd name="T15" fmla="*/ 0 h 774"/>
                <a:gd name="T16" fmla="*/ 0 w 295"/>
                <a:gd name="T17" fmla="*/ 0 h 774"/>
                <a:gd name="T18" fmla="*/ 0 w 295"/>
                <a:gd name="T19" fmla="*/ 0 h 774"/>
                <a:gd name="T20" fmla="*/ 0 w 295"/>
                <a:gd name="T21" fmla="*/ 0 h 774"/>
                <a:gd name="T22" fmla="*/ 0 w 295"/>
                <a:gd name="T23" fmla="*/ 0 h 774"/>
                <a:gd name="T24" fmla="*/ 0 w 295"/>
                <a:gd name="T25" fmla="*/ 0 h 774"/>
                <a:gd name="T26" fmla="*/ 0 w 295"/>
                <a:gd name="T27" fmla="*/ 0 h 77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95" h="774">
                  <a:moveTo>
                    <a:pt x="0" y="774"/>
                  </a:moveTo>
                  <a:lnTo>
                    <a:pt x="51" y="748"/>
                  </a:lnTo>
                  <a:lnTo>
                    <a:pt x="107" y="686"/>
                  </a:lnTo>
                  <a:lnTo>
                    <a:pt x="156" y="573"/>
                  </a:lnTo>
                  <a:lnTo>
                    <a:pt x="183" y="477"/>
                  </a:lnTo>
                  <a:lnTo>
                    <a:pt x="220" y="371"/>
                  </a:lnTo>
                  <a:lnTo>
                    <a:pt x="239" y="270"/>
                  </a:lnTo>
                  <a:lnTo>
                    <a:pt x="270" y="114"/>
                  </a:lnTo>
                  <a:lnTo>
                    <a:pt x="295" y="0"/>
                  </a:lnTo>
                  <a:lnTo>
                    <a:pt x="232" y="226"/>
                  </a:lnTo>
                  <a:lnTo>
                    <a:pt x="183" y="402"/>
                  </a:lnTo>
                  <a:lnTo>
                    <a:pt x="126" y="521"/>
                  </a:lnTo>
                  <a:lnTo>
                    <a:pt x="38" y="648"/>
                  </a:lnTo>
                  <a:lnTo>
                    <a:pt x="0" y="77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4" name="Freeform 297"/>
            <p:cNvSpPr>
              <a:spLocks/>
            </p:cNvSpPr>
            <p:nvPr/>
          </p:nvSpPr>
          <p:spPr bwMode="auto">
            <a:xfrm>
              <a:off x="5367" y="1806"/>
              <a:ext cx="195" cy="194"/>
            </a:xfrm>
            <a:custGeom>
              <a:avLst/>
              <a:gdLst>
                <a:gd name="T0" fmla="*/ 0 w 1172"/>
                <a:gd name="T1" fmla="*/ 0 h 1162"/>
                <a:gd name="T2" fmla="*/ 0 w 1172"/>
                <a:gd name="T3" fmla="*/ 0 h 1162"/>
                <a:gd name="T4" fmla="*/ 0 w 1172"/>
                <a:gd name="T5" fmla="*/ 0 h 1162"/>
                <a:gd name="T6" fmla="*/ 0 w 1172"/>
                <a:gd name="T7" fmla="*/ 0 h 1162"/>
                <a:gd name="T8" fmla="*/ 0 w 1172"/>
                <a:gd name="T9" fmla="*/ 0 h 1162"/>
                <a:gd name="T10" fmla="*/ 0 w 1172"/>
                <a:gd name="T11" fmla="*/ 0 h 1162"/>
                <a:gd name="T12" fmla="*/ 0 w 1172"/>
                <a:gd name="T13" fmla="*/ 0 h 1162"/>
                <a:gd name="T14" fmla="*/ 0 w 1172"/>
                <a:gd name="T15" fmla="*/ 0 h 1162"/>
                <a:gd name="T16" fmla="*/ 0 w 1172"/>
                <a:gd name="T17" fmla="*/ 0 h 1162"/>
                <a:gd name="T18" fmla="*/ 0 w 1172"/>
                <a:gd name="T19" fmla="*/ 0 h 1162"/>
                <a:gd name="T20" fmla="*/ 0 w 1172"/>
                <a:gd name="T21" fmla="*/ 0 h 1162"/>
                <a:gd name="T22" fmla="*/ 0 w 1172"/>
                <a:gd name="T23" fmla="*/ 0 h 1162"/>
                <a:gd name="T24" fmla="*/ 0 w 1172"/>
                <a:gd name="T25" fmla="*/ 0 h 1162"/>
                <a:gd name="T26" fmla="*/ 0 w 1172"/>
                <a:gd name="T27" fmla="*/ 0 h 1162"/>
                <a:gd name="T28" fmla="*/ 0 w 1172"/>
                <a:gd name="T29" fmla="*/ 0 h 1162"/>
                <a:gd name="T30" fmla="*/ 0 w 1172"/>
                <a:gd name="T31" fmla="*/ 0 h 1162"/>
                <a:gd name="T32" fmla="*/ 0 w 1172"/>
                <a:gd name="T33" fmla="*/ 0 h 1162"/>
                <a:gd name="T34" fmla="*/ 0 w 1172"/>
                <a:gd name="T35" fmla="*/ 0 h 1162"/>
                <a:gd name="T36" fmla="*/ 0 w 1172"/>
                <a:gd name="T37" fmla="*/ 0 h 1162"/>
                <a:gd name="T38" fmla="*/ 0 w 1172"/>
                <a:gd name="T39" fmla="*/ 0 h 1162"/>
                <a:gd name="T40" fmla="*/ 0 w 1172"/>
                <a:gd name="T41" fmla="*/ 0 h 1162"/>
                <a:gd name="T42" fmla="*/ 0 w 1172"/>
                <a:gd name="T43" fmla="*/ 0 h 1162"/>
                <a:gd name="T44" fmla="*/ 0 w 1172"/>
                <a:gd name="T45" fmla="*/ 0 h 1162"/>
                <a:gd name="T46" fmla="*/ 0 w 1172"/>
                <a:gd name="T47" fmla="*/ 0 h 1162"/>
                <a:gd name="T48" fmla="*/ 0 w 1172"/>
                <a:gd name="T49" fmla="*/ 0 h 1162"/>
                <a:gd name="T50" fmla="*/ 0 w 1172"/>
                <a:gd name="T51" fmla="*/ 0 h 1162"/>
                <a:gd name="T52" fmla="*/ 0 w 1172"/>
                <a:gd name="T53" fmla="*/ 0 h 1162"/>
                <a:gd name="T54" fmla="*/ 0 w 1172"/>
                <a:gd name="T55" fmla="*/ 0 h 1162"/>
                <a:gd name="T56" fmla="*/ 0 w 1172"/>
                <a:gd name="T57" fmla="*/ 0 h 1162"/>
                <a:gd name="T58" fmla="*/ 0 w 1172"/>
                <a:gd name="T59" fmla="*/ 0 h 1162"/>
                <a:gd name="T60" fmla="*/ 0 w 1172"/>
                <a:gd name="T61" fmla="*/ 0 h 1162"/>
                <a:gd name="T62" fmla="*/ 0 w 1172"/>
                <a:gd name="T63" fmla="*/ 0 h 1162"/>
                <a:gd name="T64" fmla="*/ 0 w 1172"/>
                <a:gd name="T65" fmla="*/ 0 h 1162"/>
                <a:gd name="T66" fmla="*/ 0 w 1172"/>
                <a:gd name="T67" fmla="*/ 0 h 1162"/>
                <a:gd name="T68" fmla="*/ 0 w 1172"/>
                <a:gd name="T69" fmla="*/ 0 h 1162"/>
                <a:gd name="T70" fmla="*/ 0 w 1172"/>
                <a:gd name="T71" fmla="*/ 0 h 1162"/>
                <a:gd name="T72" fmla="*/ 0 w 1172"/>
                <a:gd name="T73" fmla="*/ 0 h 1162"/>
                <a:gd name="T74" fmla="*/ 0 w 1172"/>
                <a:gd name="T75" fmla="*/ 0 h 1162"/>
                <a:gd name="T76" fmla="*/ 0 w 1172"/>
                <a:gd name="T77" fmla="*/ 0 h 1162"/>
                <a:gd name="T78" fmla="*/ 0 w 1172"/>
                <a:gd name="T79" fmla="*/ 0 h 1162"/>
                <a:gd name="T80" fmla="*/ 0 w 1172"/>
                <a:gd name="T81" fmla="*/ 0 h 1162"/>
                <a:gd name="T82" fmla="*/ 0 w 1172"/>
                <a:gd name="T83" fmla="*/ 0 h 1162"/>
                <a:gd name="T84" fmla="*/ 0 w 1172"/>
                <a:gd name="T85" fmla="*/ 0 h 1162"/>
                <a:gd name="T86" fmla="*/ 0 w 1172"/>
                <a:gd name="T87" fmla="*/ 0 h 1162"/>
                <a:gd name="T88" fmla="*/ 0 w 1172"/>
                <a:gd name="T89" fmla="*/ 0 h 1162"/>
                <a:gd name="T90" fmla="*/ 0 w 1172"/>
                <a:gd name="T91" fmla="*/ 0 h 1162"/>
                <a:gd name="T92" fmla="*/ 0 w 1172"/>
                <a:gd name="T93" fmla="*/ 0 h 1162"/>
                <a:gd name="T94" fmla="*/ 0 w 1172"/>
                <a:gd name="T95" fmla="*/ 0 h 1162"/>
                <a:gd name="T96" fmla="*/ 0 w 1172"/>
                <a:gd name="T97" fmla="*/ 0 h 1162"/>
                <a:gd name="T98" fmla="*/ 0 w 1172"/>
                <a:gd name="T99" fmla="*/ 0 h 1162"/>
                <a:gd name="T100" fmla="*/ 0 w 1172"/>
                <a:gd name="T101" fmla="*/ 0 h 1162"/>
                <a:gd name="T102" fmla="*/ 0 w 1172"/>
                <a:gd name="T103" fmla="*/ 0 h 1162"/>
                <a:gd name="T104" fmla="*/ 0 w 1172"/>
                <a:gd name="T105" fmla="*/ 0 h 1162"/>
                <a:gd name="T106" fmla="*/ 0 w 1172"/>
                <a:gd name="T107" fmla="*/ 0 h 1162"/>
                <a:gd name="T108" fmla="*/ 0 w 1172"/>
                <a:gd name="T109" fmla="*/ 0 h 1162"/>
                <a:gd name="T110" fmla="*/ 0 w 1172"/>
                <a:gd name="T111" fmla="*/ 0 h 11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1172" h="1162">
                  <a:moveTo>
                    <a:pt x="959" y="0"/>
                  </a:moveTo>
                  <a:lnTo>
                    <a:pt x="820" y="43"/>
                  </a:lnTo>
                  <a:lnTo>
                    <a:pt x="756" y="100"/>
                  </a:lnTo>
                  <a:lnTo>
                    <a:pt x="719" y="213"/>
                  </a:lnTo>
                  <a:lnTo>
                    <a:pt x="719" y="321"/>
                  </a:lnTo>
                  <a:lnTo>
                    <a:pt x="739" y="381"/>
                  </a:lnTo>
                  <a:lnTo>
                    <a:pt x="727" y="489"/>
                  </a:lnTo>
                  <a:lnTo>
                    <a:pt x="727" y="571"/>
                  </a:lnTo>
                  <a:lnTo>
                    <a:pt x="745" y="591"/>
                  </a:lnTo>
                  <a:lnTo>
                    <a:pt x="727" y="621"/>
                  </a:lnTo>
                  <a:lnTo>
                    <a:pt x="713" y="652"/>
                  </a:lnTo>
                  <a:lnTo>
                    <a:pt x="739" y="684"/>
                  </a:lnTo>
                  <a:lnTo>
                    <a:pt x="739" y="716"/>
                  </a:lnTo>
                  <a:lnTo>
                    <a:pt x="688" y="729"/>
                  </a:lnTo>
                  <a:lnTo>
                    <a:pt x="695" y="761"/>
                  </a:lnTo>
                  <a:lnTo>
                    <a:pt x="644" y="779"/>
                  </a:lnTo>
                  <a:lnTo>
                    <a:pt x="599" y="767"/>
                  </a:lnTo>
                  <a:lnTo>
                    <a:pt x="569" y="779"/>
                  </a:lnTo>
                  <a:lnTo>
                    <a:pt x="428" y="799"/>
                  </a:lnTo>
                  <a:lnTo>
                    <a:pt x="304" y="793"/>
                  </a:lnTo>
                  <a:lnTo>
                    <a:pt x="222" y="799"/>
                  </a:lnTo>
                  <a:lnTo>
                    <a:pt x="170" y="831"/>
                  </a:lnTo>
                  <a:lnTo>
                    <a:pt x="45" y="831"/>
                  </a:lnTo>
                  <a:lnTo>
                    <a:pt x="0" y="873"/>
                  </a:lnTo>
                  <a:lnTo>
                    <a:pt x="0" y="923"/>
                  </a:lnTo>
                  <a:lnTo>
                    <a:pt x="6" y="1004"/>
                  </a:lnTo>
                  <a:lnTo>
                    <a:pt x="109" y="1030"/>
                  </a:lnTo>
                  <a:lnTo>
                    <a:pt x="109" y="978"/>
                  </a:lnTo>
                  <a:lnTo>
                    <a:pt x="115" y="935"/>
                  </a:lnTo>
                  <a:lnTo>
                    <a:pt x="133" y="916"/>
                  </a:lnTo>
                  <a:lnTo>
                    <a:pt x="141" y="966"/>
                  </a:lnTo>
                  <a:lnTo>
                    <a:pt x="147" y="1030"/>
                  </a:lnTo>
                  <a:lnTo>
                    <a:pt x="170" y="1068"/>
                  </a:lnTo>
                  <a:lnTo>
                    <a:pt x="215" y="1118"/>
                  </a:lnTo>
                  <a:lnTo>
                    <a:pt x="321" y="1142"/>
                  </a:lnTo>
                  <a:lnTo>
                    <a:pt x="403" y="1155"/>
                  </a:lnTo>
                  <a:lnTo>
                    <a:pt x="499" y="1162"/>
                  </a:lnTo>
                  <a:lnTo>
                    <a:pt x="379" y="1093"/>
                  </a:lnTo>
                  <a:lnTo>
                    <a:pt x="297" y="1030"/>
                  </a:lnTo>
                  <a:lnTo>
                    <a:pt x="279" y="978"/>
                  </a:lnTo>
                  <a:lnTo>
                    <a:pt x="291" y="935"/>
                  </a:lnTo>
                  <a:lnTo>
                    <a:pt x="358" y="929"/>
                  </a:lnTo>
                  <a:lnTo>
                    <a:pt x="385" y="978"/>
                  </a:lnTo>
                  <a:lnTo>
                    <a:pt x="403" y="1036"/>
                  </a:lnTo>
                  <a:lnTo>
                    <a:pt x="467" y="1098"/>
                  </a:lnTo>
                  <a:lnTo>
                    <a:pt x="537" y="1149"/>
                  </a:lnTo>
                  <a:lnTo>
                    <a:pt x="607" y="1155"/>
                  </a:lnTo>
                  <a:lnTo>
                    <a:pt x="713" y="1149"/>
                  </a:lnTo>
                  <a:lnTo>
                    <a:pt x="599" y="1061"/>
                  </a:lnTo>
                  <a:lnTo>
                    <a:pt x="517" y="1016"/>
                  </a:lnTo>
                  <a:lnTo>
                    <a:pt x="454" y="966"/>
                  </a:lnTo>
                  <a:lnTo>
                    <a:pt x="435" y="929"/>
                  </a:lnTo>
                  <a:lnTo>
                    <a:pt x="441" y="891"/>
                  </a:lnTo>
                  <a:lnTo>
                    <a:pt x="479" y="885"/>
                  </a:lnTo>
                  <a:lnTo>
                    <a:pt x="523" y="923"/>
                  </a:lnTo>
                  <a:lnTo>
                    <a:pt x="549" y="972"/>
                  </a:lnTo>
                  <a:lnTo>
                    <a:pt x="607" y="1036"/>
                  </a:lnTo>
                  <a:lnTo>
                    <a:pt x="675" y="1068"/>
                  </a:lnTo>
                  <a:lnTo>
                    <a:pt x="727" y="1098"/>
                  </a:lnTo>
                  <a:lnTo>
                    <a:pt x="782" y="1123"/>
                  </a:lnTo>
                  <a:lnTo>
                    <a:pt x="846" y="1136"/>
                  </a:lnTo>
                  <a:lnTo>
                    <a:pt x="921" y="1136"/>
                  </a:lnTo>
                  <a:lnTo>
                    <a:pt x="994" y="1122"/>
                  </a:lnTo>
                  <a:lnTo>
                    <a:pt x="833" y="1068"/>
                  </a:lnTo>
                  <a:lnTo>
                    <a:pt x="771" y="1036"/>
                  </a:lnTo>
                  <a:lnTo>
                    <a:pt x="727" y="978"/>
                  </a:lnTo>
                  <a:lnTo>
                    <a:pt x="719" y="929"/>
                  </a:lnTo>
                  <a:lnTo>
                    <a:pt x="756" y="929"/>
                  </a:lnTo>
                  <a:lnTo>
                    <a:pt x="777" y="972"/>
                  </a:lnTo>
                  <a:lnTo>
                    <a:pt x="808" y="1010"/>
                  </a:lnTo>
                  <a:lnTo>
                    <a:pt x="859" y="1049"/>
                  </a:lnTo>
                  <a:lnTo>
                    <a:pt x="914" y="1087"/>
                  </a:lnTo>
                  <a:lnTo>
                    <a:pt x="989" y="1119"/>
                  </a:lnTo>
                  <a:lnTo>
                    <a:pt x="1046" y="1098"/>
                  </a:lnTo>
                  <a:lnTo>
                    <a:pt x="1072" y="1068"/>
                  </a:lnTo>
                  <a:lnTo>
                    <a:pt x="1117" y="991"/>
                  </a:lnTo>
                  <a:lnTo>
                    <a:pt x="1034" y="972"/>
                  </a:lnTo>
                  <a:lnTo>
                    <a:pt x="878" y="954"/>
                  </a:lnTo>
                  <a:lnTo>
                    <a:pt x="782" y="910"/>
                  </a:lnTo>
                  <a:lnTo>
                    <a:pt x="733" y="868"/>
                  </a:lnTo>
                  <a:lnTo>
                    <a:pt x="713" y="816"/>
                  </a:lnTo>
                  <a:lnTo>
                    <a:pt x="707" y="793"/>
                  </a:lnTo>
                  <a:lnTo>
                    <a:pt x="733" y="793"/>
                  </a:lnTo>
                  <a:lnTo>
                    <a:pt x="765" y="831"/>
                  </a:lnTo>
                  <a:lnTo>
                    <a:pt x="814" y="897"/>
                  </a:lnTo>
                  <a:lnTo>
                    <a:pt x="927" y="935"/>
                  </a:lnTo>
                  <a:lnTo>
                    <a:pt x="1034" y="968"/>
                  </a:lnTo>
                  <a:lnTo>
                    <a:pt x="1117" y="991"/>
                  </a:lnTo>
                  <a:lnTo>
                    <a:pt x="1149" y="861"/>
                  </a:lnTo>
                  <a:lnTo>
                    <a:pt x="1155" y="767"/>
                  </a:lnTo>
                  <a:lnTo>
                    <a:pt x="1155" y="683"/>
                  </a:lnTo>
                  <a:lnTo>
                    <a:pt x="1046" y="741"/>
                  </a:lnTo>
                  <a:lnTo>
                    <a:pt x="921" y="767"/>
                  </a:lnTo>
                  <a:lnTo>
                    <a:pt x="820" y="761"/>
                  </a:lnTo>
                  <a:lnTo>
                    <a:pt x="795" y="748"/>
                  </a:lnTo>
                  <a:lnTo>
                    <a:pt x="782" y="716"/>
                  </a:lnTo>
                  <a:lnTo>
                    <a:pt x="840" y="716"/>
                  </a:lnTo>
                  <a:lnTo>
                    <a:pt x="901" y="735"/>
                  </a:lnTo>
                  <a:lnTo>
                    <a:pt x="1049" y="741"/>
                  </a:lnTo>
                  <a:lnTo>
                    <a:pt x="1155" y="684"/>
                  </a:lnTo>
                  <a:lnTo>
                    <a:pt x="1161" y="565"/>
                  </a:lnTo>
                  <a:lnTo>
                    <a:pt x="1167" y="483"/>
                  </a:lnTo>
                  <a:lnTo>
                    <a:pt x="1172" y="401"/>
                  </a:lnTo>
                  <a:lnTo>
                    <a:pt x="1161" y="264"/>
                  </a:lnTo>
                  <a:lnTo>
                    <a:pt x="1129" y="213"/>
                  </a:lnTo>
                  <a:lnTo>
                    <a:pt x="1034" y="152"/>
                  </a:lnTo>
                  <a:lnTo>
                    <a:pt x="1065" y="158"/>
                  </a:lnTo>
                  <a:lnTo>
                    <a:pt x="1161" y="201"/>
                  </a:lnTo>
                  <a:lnTo>
                    <a:pt x="1123" y="113"/>
                  </a:lnTo>
                  <a:lnTo>
                    <a:pt x="1091" y="68"/>
                  </a:lnTo>
                  <a:lnTo>
                    <a:pt x="1065" y="38"/>
                  </a:lnTo>
                  <a:lnTo>
                    <a:pt x="959"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5" name="Freeform 298"/>
            <p:cNvSpPr>
              <a:spLocks/>
            </p:cNvSpPr>
            <p:nvPr/>
          </p:nvSpPr>
          <p:spPr bwMode="auto">
            <a:xfrm>
              <a:off x="5500" y="1878"/>
              <a:ext cx="49" cy="44"/>
            </a:xfrm>
            <a:custGeom>
              <a:avLst/>
              <a:gdLst>
                <a:gd name="T0" fmla="*/ 0 w 295"/>
                <a:gd name="T1" fmla="*/ 0 h 263"/>
                <a:gd name="T2" fmla="*/ 0 w 295"/>
                <a:gd name="T3" fmla="*/ 0 h 263"/>
                <a:gd name="T4" fmla="*/ 0 w 295"/>
                <a:gd name="T5" fmla="*/ 0 h 263"/>
                <a:gd name="T6" fmla="*/ 0 w 295"/>
                <a:gd name="T7" fmla="*/ 0 h 263"/>
                <a:gd name="T8" fmla="*/ 0 w 295"/>
                <a:gd name="T9" fmla="*/ 0 h 263"/>
                <a:gd name="T10" fmla="*/ 0 w 295"/>
                <a:gd name="T11" fmla="*/ 0 h 263"/>
                <a:gd name="T12" fmla="*/ 0 w 295"/>
                <a:gd name="T13" fmla="*/ 0 h 263"/>
                <a:gd name="T14" fmla="*/ 0 w 295"/>
                <a:gd name="T15" fmla="*/ 0 h 263"/>
                <a:gd name="T16" fmla="*/ 0 w 295"/>
                <a:gd name="T17" fmla="*/ 0 h 263"/>
                <a:gd name="T18" fmla="*/ 0 w 295"/>
                <a:gd name="T19" fmla="*/ 0 h 263"/>
                <a:gd name="T20" fmla="*/ 0 w 295"/>
                <a:gd name="T21" fmla="*/ 0 h 263"/>
                <a:gd name="T22" fmla="*/ 0 w 295"/>
                <a:gd name="T23" fmla="*/ 0 h 263"/>
                <a:gd name="T24" fmla="*/ 0 w 295"/>
                <a:gd name="T25" fmla="*/ 0 h 263"/>
                <a:gd name="T26" fmla="*/ 0 w 295"/>
                <a:gd name="T27" fmla="*/ 0 h 263"/>
                <a:gd name="T28" fmla="*/ 0 w 295"/>
                <a:gd name="T29" fmla="*/ 0 h 263"/>
                <a:gd name="T30" fmla="*/ 0 w 295"/>
                <a:gd name="T31" fmla="*/ 0 h 263"/>
                <a:gd name="T32" fmla="*/ 0 w 295"/>
                <a:gd name="T33" fmla="*/ 0 h 263"/>
                <a:gd name="T34" fmla="*/ 0 w 295"/>
                <a:gd name="T35" fmla="*/ 0 h 263"/>
                <a:gd name="T36" fmla="*/ 0 w 295"/>
                <a:gd name="T37" fmla="*/ 0 h 263"/>
                <a:gd name="T38" fmla="*/ 0 w 295"/>
                <a:gd name="T39" fmla="*/ 0 h 263"/>
                <a:gd name="T40" fmla="*/ 0 w 295"/>
                <a:gd name="T41" fmla="*/ 0 h 263"/>
                <a:gd name="T42" fmla="*/ 0 w 295"/>
                <a:gd name="T43" fmla="*/ 0 h 263"/>
                <a:gd name="T44" fmla="*/ 0 w 295"/>
                <a:gd name="T45" fmla="*/ 0 h 26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95" h="263">
                  <a:moveTo>
                    <a:pt x="0" y="0"/>
                  </a:moveTo>
                  <a:lnTo>
                    <a:pt x="0" y="21"/>
                  </a:lnTo>
                  <a:lnTo>
                    <a:pt x="38" y="71"/>
                  </a:lnTo>
                  <a:lnTo>
                    <a:pt x="75" y="99"/>
                  </a:lnTo>
                  <a:lnTo>
                    <a:pt x="152" y="158"/>
                  </a:lnTo>
                  <a:lnTo>
                    <a:pt x="184" y="182"/>
                  </a:lnTo>
                  <a:lnTo>
                    <a:pt x="260" y="239"/>
                  </a:lnTo>
                  <a:lnTo>
                    <a:pt x="178" y="213"/>
                  </a:lnTo>
                  <a:lnTo>
                    <a:pt x="97" y="188"/>
                  </a:lnTo>
                  <a:lnTo>
                    <a:pt x="16" y="182"/>
                  </a:lnTo>
                  <a:lnTo>
                    <a:pt x="22" y="207"/>
                  </a:lnTo>
                  <a:lnTo>
                    <a:pt x="152" y="231"/>
                  </a:lnTo>
                  <a:lnTo>
                    <a:pt x="222" y="257"/>
                  </a:lnTo>
                  <a:lnTo>
                    <a:pt x="260" y="263"/>
                  </a:lnTo>
                  <a:lnTo>
                    <a:pt x="292" y="252"/>
                  </a:lnTo>
                  <a:lnTo>
                    <a:pt x="295" y="222"/>
                  </a:lnTo>
                  <a:lnTo>
                    <a:pt x="269" y="199"/>
                  </a:lnTo>
                  <a:lnTo>
                    <a:pt x="232" y="162"/>
                  </a:lnTo>
                  <a:lnTo>
                    <a:pt x="188" y="112"/>
                  </a:lnTo>
                  <a:lnTo>
                    <a:pt x="144" y="56"/>
                  </a:lnTo>
                  <a:lnTo>
                    <a:pt x="91" y="17"/>
                  </a:lnTo>
                  <a:lnTo>
                    <a:pt x="35" y="3"/>
                  </a:lnTo>
                  <a:lnTo>
                    <a:pt x="0"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6" name="Freeform 299"/>
            <p:cNvSpPr>
              <a:spLocks/>
            </p:cNvSpPr>
            <p:nvPr/>
          </p:nvSpPr>
          <p:spPr bwMode="auto">
            <a:xfrm>
              <a:off x="5503" y="1842"/>
              <a:ext cx="44" cy="57"/>
            </a:xfrm>
            <a:custGeom>
              <a:avLst/>
              <a:gdLst>
                <a:gd name="T0" fmla="*/ 0 w 270"/>
                <a:gd name="T1" fmla="*/ 0 h 345"/>
                <a:gd name="T2" fmla="*/ 0 w 270"/>
                <a:gd name="T3" fmla="*/ 0 h 345"/>
                <a:gd name="T4" fmla="*/ 0 w 270"/>
                <a:gd name="T5" fmla="*/ 0 h 345"/>
                <a:gd name="T6" fmla="*/ 0 w 270"/>
                <a:gd name="T7" fmla="*/ 0 h 345"/>
                <a:gd name="T8" fmla="*/ 0 w 270"/>
                <a:gd name="T9" fmla="*/ 0 h 345"/>
                <a:gd name="T10" fmla="*/ 0 w 270"/>
                <a:gd name="T11" fmla="*/ 0 h 345"/>
                <a:gd name="T12" fmla="*/ 0 w 270"/>
                <a:gd name="T13" fmla="*/ 0 h 345"/>
                <a:gd name="T14" fmla="*/ 0 w 270"/>
                <a:gd name="T15" fmla="*/ 0 h 345"/>
                <a:gd name="T16" fmla="*/ 0 w 270"/>
                <a:gd name="T17" fmla="*/ 0 h 345"/>
                <a:gd name="T18" fmla="*/ 0 w 270"/>
                <a:gd name="T19" fmla="*/ 0 h 345"/>
                <a:gd name="T20" fmla="*/ 0 w 270"/>
                <a:gd name="T21" fmla="*/ 0 h 345"/>
                <a:gd name="T22" fmla="*/ 0 w 270"/>
                <a:gd name="T23" fmla="*/ 0 h 345"/>
                <a:gd name="T24" fmla="*/ 0 w 270"/>
                <a:gd name="T25" fmla="*/ 0 h 345"/>
                <a:gd name="T26" fmla="*/ 0 w 270"/>
                <a:gd name="T27" fmla="*/ 0 h 345"/>
                <a:gd name="T28" fmla="*/ 0 w 270"/>
                <a:gd name="T29" fmla="*/ 0 h 345"/>
                <a:gd name="T30" fmla="*/ 0 w 270"/>
                <a:gd name="T31" fmla="*/ 0 h 345"/>
                <a:gd name="T32" fmla="*/ 0 w 270"/>
                <a:gd name="T33" fmla="*/ 0 h 34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270" h="345">
                  <a:moveTo>
                    <a:pt x="51" y="0"/>
                  </a:moveTo>
                  <a:lnTo>
                    <a:pt x="13" y="7"/>
                  </a:lnTo>
                  <a:lnTo>
                    <a:pt x="0" y="39"/>
                  </a:lnTo>
                  <a:lnTo>
                    <a:pt x="3" y="65"/>
                  </a:lnTo>
                  <a:lnTo>
                    <a:pt x="26" y="101"/>
                  </a:lnTo>
                  <a:lnTo>
                    <a:pt x="57" y="112"/>
                  </a:lnTo>
                  <a:lnTo>
                    <a:pt x="116" y="149"/>
                  </a:lnTo>
                  <a:lnTo>
                    <a:pt x="172" y="195"/>
                  </a:lnTo>
                  <a:lnTo>
                    <a:pt x="212" y="259"/>
                  </a:lnTo>
                  <a:lnTo>
                    <a:pt x="257" y="325"/>
                  </a:lnTo>
                  <a:lnTo>
                    <a:pt x="270" y="345"/>
                  </a:lnTo>
                  <a:lnTo>
                    <a:pt x="257" y="267"/>
                  </a:lnTo>
                  <a:lnTo>
                    <a:pt x="247" y="198"/>
                  </a:lnTo>
                  <a:lnTo>
                    <a:pt x="225" y="140"/>
                  </a:lnTo>
                  <a:lnTo>
                    <a:pt x="188" y="86"/>
                  </a:lnTo>
                  <a:lnTo>
                    <a:pt x="90" y="10"/>
                  </a:lnTo>
                  <a:lnTo>
                    <a:pt x="51"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7" name="Freeform 300"/>
            <p:cNvSpPr>
              <a:spLocks/>
            </p:cNvSpPr>
            <p:nvPr/>
          </p:nvSpPr>
          <p:spPr bwMode="auto">
            <a:xfrm>
              <a:off x="5494" y="1785"/>
              <a:ext cx="48" cy="34"/>
            </a:xfrm>
            <a:custGeom>
              <a:avLst/>
              <a:gdLst>
                <a:gd name="T0" fmla="*/ 0 w 287"/>
                <a:gd name="T1" fmla="*/ 0 h 199"/>
                <a:gd name="T2" fmla="*/ 0 w 287"/>
                <a:gd name="T3" fmla="*/ 0 h 199"/>
                <a:gd name="T4" fmla="*/ 0 w 287"/>
                <a:gd name="T5" fmla="*/ 0 h 199"/>
                <a:gd name="T6" fmla="*/ 0 w 287"/>
                <a:gd name="T7" fmla="*/ 0 h 199"/>
                <a:gd name="T8" fmla="*/ 0 w 287"/>
                <a:gd name="T9" fmla="*/ 0 h 199"/>
                <a:gd name="T10" fmla="*/ 0 w 287"/>
                <a:gd name="T11" fmla="*/ 0 h 199"/>
                <a:gd name="T12" fmla="*/ 0 w 287"/>
                <a:gd name="T13" fmla="*/ 0 h 199"/>
                <a:gd name="T14" fmla="*/ 0 w 287"/>
                <a:gd name="T15" fmla="*/ 0 h 199"/>
                <a:gd name="T16" fmla="*/ 0 w 287"/>
                <a:gd name="T17" fmla="*/ 0 h 199"/>
                <a:gd name="T18" fmla="*/ 0 w 287"/>
                <a:gd name="T19" fmla="*/ 0 h 19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87" h="199">
                  <a:moveTo>
                    <a:pt x="0" y="199"/>
                  </a:moveTo>
                  <a:lnTo>
                    <a:pt x="49" y="156"/>
                  </a:lnTo>
                  <a:lnTo>
                    <a:pt x="130" y="125"/>
                  </a:lnTo>
                  <a:lnTo>
                    <a:pt x="185" y="111"/>
                  </a:lnTo>
                  <a:lnTo>
                    <a:pt x="287" y="0"/>
                  </a:lnTo>
                  <a:lnTo>
                    <a:pt x="211" y="44"/>
                  </a:lnTo>
                  <a:lnTo>
                    <a:pt x="142" y="74"/>
                  </a:lnTo>
                  <a:lnTo>
                    <a:pt x="93" y="99"/>
                  </a:lnTo>
                  <a:lnTo>
                    <a:pt x="68" y="125"/>
                  </a:lnTo>
                  <a:lnTo>
                    <a:pt x="0" y="199"/>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8" name="Freeform 301"/>
            <p:cNvSpPr>
              <a:spLocks/>
            </p:cNvSpPr>
            <p:nvPr/>
          </p:nvSpPr>
          <p:spPr bwMode="auto">
            <a:xfrm>
              <a:off x="5458" y="1846"/>
              <a:ext cx="27" cy="86"/>
            </a:xfrm>
            <a:custGeom>
              <a:avLst/>
              <a:gdLst>
                <a:gd name="T0" fmla="*/ 0 w 162"/>
                <a:gd name="T1" fmla="*/ 0 h 514"/>
                <a:gd name="T2" fmla="*/ 0 w 162"/>
                <a:gd name="T3" fmla="*/ 0 h 514"/>
                <a:gd name="T4" fmla="*/ 0 w 162"/>
                <a:gd name="T5" fmla="*/ 0 h 514"/>
                <a:gd name="T6" fmla="*/ 0 w 162"/>
                <a:gd name="T7" fmla="*/ 0 h 514"/>
                <a:gd name="T8" fmla="*/ 0 w 162"/>
                <a:gd name="T9" fmla="*/ 0 h 514"/>
                <a:gd name="T10" fmla="*/ 0 w 162"/>
                <a:gd name="T11" fmla="*/ 0 h 514"/>
                <a:gd name="T12" fmla="*/ 0 w 162"/>
                <a:gd name="T13" fmla="*/ 0 h 514"/>
                <a:gd name="T14" fmla="*/ 0 w 162"/>
                <a:gd name="T15" fmla="*/ 0 h 514"/>
                <a:gd name="T16" fmla="*/ 0 w 162"/>
                <a:gd name="T17" fmla="*/ 0 h 514"/>
                <a:gd name="T18" fmla="*/ 0 w 162"/>
                <a:gd name="T19" fmla="*/ 0 h 514"/>
                <a:gd name="T20" fmla="*/ 0 w 162"/>
                <a:gd name="T21" fmla="*/ 0 h 514"/>
                <a:gd name="T22" fmla="*/ 0 w 162"/>
                <a:gd name="T23" fmla="*/ 0 h 514"/>
                <a:gd name="T24" fmla="*/ 0 w 162"/>
                <a:gd name="T25" fmla="*/ 0 h 514"/>
                <a:gd name="T26" fmla="*/ 0 w 162"/>
                <a:gd name="T27" fmla="*/ 0 h 514"/>
                <a:gd name="T28" fmla="*/ 0 w 162"/>
                <a:gd name="T29" fmla="*/ 0 h 514"/>
                <a:gd name="T30" fmla="*/ 0 w 162"/>
                <a:gd name="T31" fmla="*/ 0 h 514"/>
                <a:gd name="T32" fmla="*/ 0 w 162"/>
                <a:gd name="T33" fmla="*/ 0 h 514"/>
                <a:gd name="T34" fmla="*/ 0 w 162"/>
                <a:gd name="T35" fmla="*/ 0 h 514"/>
                <a:gd name="T36" fmla="*/ 0 w 162"/>
                <a:gd name="T37" fmla="*/ 0 h 514"/>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62" h="514">
                  <a:moveTo>
                    <a:pt x="0" y="514"/>
                  </a:moveTo>
                  <a:lnTo>
                    <a:pt x="81" y="514"/>
                  </a:lnTo>
                  <a:lnTo>
                    <a:pt x="106" y="508"/>
                  </a:lnTo>
                  <a:lnTo>
                    <a:pt x="106" y="489"/>
                  </a:lnTo>
                  <a:lnTo>
                    <a:pt x="124" y="470"/>
                  </a:lnTo>
                  <a:lnTo>
                    <a:pt x="150" y="451"/>
                  </a:lnTo>
                  <a:lnTo>
                    <a:pt x="137" y="433"/>
                  </a:lnTo>
                  <a:lnTo>
                    <a:pt x="137" y="407"/>
                  </a:lnTo>
                  <a:lnTo>
                    <a:pt x="156" y="376"/>
                  </a:lnTo>
                  <a:lnTo>
                    <a:pt x="156" y="344"/>
                  </a:lnTo>
                  <a:lnTo>
                    <a:pt x="144" y="306"/>
                  </a:lnTo>
                  <a:lnTo>
                    <a:pt x="144" y="224"/>
                  </a:lnTo>
                  <a:lnTo>
                    <a:pt x="162" y="150"/>
                  </a:lnTo>
                  <a:lnTo>
                    <a:pt x="156" y="94"/>
                  </a:lnTo>
                  <a:lnTo>
                    <a:pt x="156" y="0"/>
                  </a:lnTo>
                  <a:lnTo>
                    <a:pt x="106" y="142"/>
                  </a:lnTo>
                  <a:lnTo>
                    <a:pt x="62" y="275"/>
                  </a:lnTo>
                  <a:lnTo>
                    <a:pt x="32" y="419"/>
                  </a:lnTo>
                  <a:lnTo>
                    <a:pt x="0" y="514"/>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9" name="Freeform 302"/>
            <p:cNvSpPr>
              <a:spLocks/>
            </p:cNvSpPr>
            <p:nvPr/>
          </p:nvSpPr>
          <p:spPr bwMode="auto">
            <a:xfrm>
              <a:off x="5498" y="1939"/>
              <a:ext cx="48" cy="16"/>
            </a:xfrm>
            <a:custGeom>
              <a:avLst/>
              <a:gdLst>
                <a:gd name="T0" fmla="*/ 0 w 289"/>
                <a:gd name="T1" fmla="*/ 0 h 97"/>
                <a:gd name="T2" fmla="*/ 0 w 289"/>
                <a:gd name="T3" fmla="*/ 0 h 97"/>
                <a:gd name="T4" fmla="*/ 0 w 289"/>
                <a:gd name="T5" fmla="*/ 0 h 97"/>
                <a:gd name="T6" fmla="*/ 0 w 289"/>
                <a:gd name="T7" fmla="*/ 0 h 97"/>
                <a:gd name="T8" fmla="*/ 0 w 289"/>
                <a:gd name="T9" fmla="*/ 0 h 97"/>
                <a:gd name="T10" fmla="*/ 0 w 289"/>
                <a:gd name="T11" fmla="*/ 0 h 97"/>
                <a:gd name="T12" fmla="*/ 0 w 289"/>
                <a:gd name="T13" fmla="*/ 0 h 97"/>
                <a:gd name="T14" fmla="*/ 0 w 289"/>
                <a:gd name="T15" fmla="*/ 0 h 97"/>
                <a:gd name="T16" fmla="*/ 0 w 289"/>
                <a:gd name="T17" fmla="*/ 0 h 97"/>
                <a:gd name="T18" fmla="*/ 0 w 289"/>
                <a:gd name="T19" fmla="*/ 0 h 97"/>
                <a:gd name="T20" fmla="*/ 0 w 289"/>
                <a:gd name="T21" fmla="*/ 0 h 9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89" h="97">
                  <a:moveTo>
                    <a:pt x="232" y="47"/>
                  </a:moveTo>
                  <a:lnTo>
                    <a:pt x="168" y="19"/>
                  </a:lnTo>
                  <a:lnTo>
                    <a:pt x="110" y="4"/>
                  </a:lnTo>
                  <a:lnTo>
                    <a:pt x="32" y="0"/>
                  </a:lnTo>
                  <a:lnTo>
                    <a:pt x="0" y="6"/>
                  </a:lnTo>
                  <a:lnTo>
                    <a:pt x="15" y="37"/>
                  </a:lnTo>
                  <a:lnTo>
                    <a:pt x="45" y="61"/>
                  </a:lnTo>
                  <a:lnTo>
                    <a:pt x="113" y="79"/>
                  </a:lnTo>
                  <a:lnTo>
                    <a:pt x="219" y="97"/>
                  </a:lnTo>
                  <a:lnTo>
                    <a:pt x="289" y="91"/>
                  </a:lnTo>
                  <a:lnTo>
                    <a:pt x="232" y="4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0" name="Freeform 303"/>
            <p:cNvSpPr>
              <a:spLocks/>
            </p:cNvSpPr>
            <p:nvPr/>
          </p:nvSpPr>
          <p:spPr bwMode="auto">
            <a:xfrm>
              <a:off x="5458" y="1947"/>
              <a:ext cx="30" cy="36"/>
            </a:xfrm>
            <a:custGeom>
              <a:avLst/>
              <a:gdLst>
                <a:gd name="T0" fmla="*/ 0 w 176"/>
                <a:gd name="T1" fmla="*/ 0 h 216"/>
                <a:gd name="T2" fmla="*/ 0 w 176"/>
                <a:gd name="T3" fmla="*/ 0 h 216"/>
                <a:gd name="T4" fmla="*/ 0 w 176"/>
                <a:gd name="T5" fmla="*/ 0 h 216"/>
                <a:gd name="T6" fmla="*/ 0 w 176"/>
                <a:gd name="T7" fmla="*/ 0 h 216"/>
                <a:gd name="T8" fmla="*/ 0 w 176"/>
                <a:gd name="T9" fmla="*/ 0 h 216"/>
                <a:gd name="T10" fmla="*/ 0 w 176"/>
                <a:gd name="T11" fmla="*/ 0 h 216"/>
                <a:gd name="T12" fmla="*/ 0 w 176"/>
                <a:gd name="T13" fmla="*/ 0 h 216"/>
                <a:gd name="T14" fmla="*/ 0 w 176"/>
                <a:gd name="T15" fmla="*/ 0 h 216"/>
                <a:gd name="T16" fmla="*/ 0 w 176"/>
                <a:gd name="T17" fmla="*/ 0 h 216"/>
                <a:gd name="T18" fmla="*/ 0 w 176"/>
                <a:gd name="T19" fmla="*/ 0 h 216"/>
                <a:gd name="T20" fmla="*/ 0 w 176"/>
                <a:gd name="T21" fmla="*/ 0 h 216"/>
                <a:gd name="T22" fmla="*/ 0 w 176"/>
                <a:gd name="T23" fmla="*/ 0 h 216"/>
                <a:gd name="T24" fmla="*/ 0 w 176"/>
                <a:gd name="T25" fmla="*/ 0 h 21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6" h="216">
                  <a:moveTo>
                    <a:pt x="81" y="59"/>
                  </a:moveTo>
                  <a:lnTo>
                    <a:pt x="59" y="14"/>
                  </a:lnTo>
                  <a:lnTo>
                    <a:pt x="26" y="0"/>
                  </a:lnTo>
                  <a:lnTo>
                    <a:pt x="3" y="11"/>
                  </a:lnTo>
                  <a:lnTo>
                    <a:pt x="0" y="35"/>
                  </a:lnTo>
                  <a:lnTo>
                    <a:pt x="15" y="76"/>
                  </a:lnTo>
                  <a:lnTo>
                    <a:pt x="40" y="115"/>
                  </a:lnTo>
                  <a:lnTo>
                    <a:pt x="71" y="150"/>
                  </a:lnTo>
                  <a:lnTo>
                    <a:pt x="113" y="185"/>
                  </a:lnTo>
                  <a:lnTo>
                    <a:pt x="176" y="216"/>
                  </a:lnTo>
                  <a:lnTo>
                    <a:pt x="119" y="153"/>
                  </a:lnTo>
                  <a:lnTo>
                    <a:pt x="100" y="108"/>
                  </a:lnTo>
                  <a:lnTo>
                    <a:pt x="81" y="59"/>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1" name="Freeform 304"/>
            <p:cNvSpPr>
              <a:spLocks/>
            </p:cNvSpPr>
            <p:nvPr/>
          </p:nvSpPr>
          <p:spPr bwMode="auto">
            <a:xfrm>
              <a:off x="5506" y="1757"/>
              <a:ext cx="70" cy="44"/>
            </a:xfrm>
            <a:custGeom>
              <a:avLst/>
              <a:gdLst>
                <a:gd name="T0" fmla="*/ 0 w 418"/>
                <a:gd name="T1" fmla="*/ 0 h 260"/>
                <a:gd name="T2" fmla="*/ 0 w 418"/>
                <a:gd name="T3" fmla="*/ 0 h 260"/>
                <a:gd name="T4" fmla="*/ 0 w 418"/>
                <a:gd name="T5" fmla="*/ 0 h 260"/>
                <a:gd name="T6" fmla="*/ 0 w 418"/>
                <a:gd name="T7" fmla="*/ 0 h 260"/>
                <a:gd name="T8" fmla="*/ 0 w 418"/>
                <a:gd name="T9" fmla="*/ 0 h 260"/>
                <a:gd name="T10" fmla="*/ 0 w 418"/>
                <a:gd name="T11" fmla="*/ 0 h 260"/>
                <a:gd name="T12" fmla="*/ 0 w 418"/>
                <a:gd name="T13" fmla="*/ 0 h 260"/>
                <a:gd name="T14" fmla="*/ 0 w 418"/>
                <a:gd name="T15" fmla="*/ 0 h 260"/>
                <a:gd name="T16" fmla="*/ 0 w 418"/>
                <a:gd name="T17" fmla="*/ 0 h 260"/>
                <a:gd name="T18" fmla="*/ 0 w 418"/>
                <a:gd name="T19" fmla="*/ 0 h 260"/>
                <a:gd name="T20" fmla="*/ 0 w 418"/>
                <a:gd name="T21" fmla="*/ 0 h 260"/>
                <a:gd name="T22" fmla="*/ 0 w 418"/>
                <a:gd name="T23" fmla="*/ 0 h 26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418" h="260">
                  <a:moveTo>
                    <a:pt x="0" y="260"/>
                  </a:moveTo>
                  <a:lnTo>
                    <a:pt x="13" y="153"/>
                  </a:lnTo>
                  <a:lnTo>
                    <a:pt x="101" y="116"/>
                  </a:lnTo>
                  <a:lnTo>
                    <a:pt x="220" y="69"/>
                  </a:lnTo>
                  <a:lnTo>
                    <a:pt x="304" y="35"/>
                  </a:lnTo>
                  <a:lnTo>
                    <a:pt x="386" y="0"/>
                  </a:lnTo>
                  <a:lnTo>
                    <a:pt x="418" y="76"/>
                  </a:lnTo>
                  <a:lnTo>
                    <a:pt x="341" y="119"/>
                  </a:lnTo>
                  <a:lnTo>
                    <a:pt x="252" y="150"/>
                  </a:lnTo>
                  <a:lnTo>
                    <a:pt x="182" y="170"/>
                  </a:lnTo>
                  <a:lnTo>
                    <a:pt x="98" y="216"/>
                  </a:lnTo>
                  <a:lnTo>
                    <a:pt x="0" y="26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12" name="Group 305"/>
          <p:cNvGrpSpPr>
            <a:grpSpLocks/>
          </p:cNvGrpSpPr>
          <p:nvPr/>
        </p:nvGrpSpPr>
        <p:grpSpPr bwMode="auto">
          <a:xfrm>
            <a:off x="7199967" y="3333548"/>
            <a:ext cx="144954" cy="180263"/>
            <a:chOff x="5511" y="1960"/>
            <a:chExt cx="144" cy="194"/>
          </a:xfrm>
        </p:grpSpPr>
        <p:sp>
          <p:nvSpPr>
            <p:cNvPr id="313" name="Freeform 306"/>
            <p:cNvSpPr>
              <a:spLocks/>
            </p:cNvSpPr>
            <p:nvPr/>
          </p:nvSpPr>
          <p:spPr bwMode="auto">
            <a:xfrm>
              <a:off x="5511" y="1960"/>
              <a:ext cx="144" cy="194"/>
            </a:xfrm>
            <a:custGeom>
              <a:avLst/>
              <a:gdLst>
                <a:gd name="T0" fmla="*/ 0 w 863"/>
                <a:gd name="T1" fmla="*/ 0 h 1164"/>
                <a:gd name="T2" fmla="*/ 0 w 863"/>
                <a:gd name="T3" fmla="*/ 0 h 1164"/>
                <a:gd name="T4" fmla="*/ 0 w 863"/>
                <a:gd name="T5" fmla="*/ 0 h 1164"/>
                <a:gd name="T6" fmla="*/ 0 w 863"/>
                <a:gd name="T7" fmla="*/ 0 h 1164"/>
                <a:gd name="T8" fmla="*/ 0 w 863"/>
                <a:gd name="T9" fmla="*/ 0 h 1164"/>
                <a:gd name="T10" fmla="*/ 0 w 863"/>
                <a:gd name="T11" fmla="*/ 0 h 1164"/>
                <a:gd name="T12" fmla="*/ 0 w 863"/>
                <a:gd name="T13" fmla="*/ 0 h 1164"/>
                <a:gd name="T14" fmla="*/ 0 w 863"/>
                <a:gd name="T15" fmla="*/ 0 h 1164"/>
                <a:gd name="T16" fmla="*/ 0 w 863"/>
                <a:gd name="T17" fmla="*/ 0 h 1164"/>
                <a:gd name="T18" fmla="*/ 0 w 863"/>
                <a:gd name="T19" fmla="*/ 0 h 1164"/>
                <a:gd name="T20" fmla="*/ 0 w 863"/>
                <a:gd name="T21" fmla="*/ 0 h 1164"/>
                <a:gd name="T22" fmla="*/ 0 w 863"/>
                <a:gd name="T23" fmla="*/ 0 h 1164"/>
                <a:gd name="T24" fmla="*/ 0 w 863"/>
                <a:gd name="T25" fmla="*/ 0 h 1164"/>
                <a:gd name="T26" fmla="*/ 0 w 863"/>
                <a:gd name="T27" fmla="*/ 0 h 1164"/>
                <a:gd name="T28" fmla="*/ 0 w 863"/>
                <a:gd name="T29" fmla="*/ 0 h 1164"/>
                <a:gd name="T30" fmla="*/ 0 w 863"/>
                <a:gd name="T31" fmla="*/ 0 h 1164"/>
                <a:gd name="T32" fmla="*/ 0 w 863"/>
                <a:gd name="T33" fmla="*/ 0 h 1164"/>
                <a:gd name="T34" fmla="*/ 0 w 863"/>
                <a:gd name="T35" fmla="*/ 0 h 1164"/>
                <a:gd name="T36" fmla="*/ 0 w 863"/>
                <a:gd name="T37" fmla="*/ 0 h 1164"/>
                <a:gd name="T38" fmla="*/ 0 w 863"/>
                <a:gd name="T39" fmla="*/ 0 h 1164"/>
                <a:gd name="T40" fmla="*/ 0 w 863"/>
                <a:gd name="T41" fmla="*/ 0 h 1164"/>
                <a:gd name="T42" fmla="*/ 0 w 863"/>
                <a:gd name="T43" fmla="*/ 0 h 1164"/>
                <a:gd name="T44" fmla="*/ 0 w 863"/>
                <a:gd name="T45" fmla="*/ 0 h 1164"/>
                <a:gd name="T46" fmla="*/ 0 w 863"/>
                <a:gd name="T47" fmla="*/ 0 h 1164"/>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863" h="1164">
                  <a:moveTo>
                    <a:pt x="385" y="172"/>
                  </a:moveTo>
                  <a:lnTo>
                    <a:pt x="543" y="158"/>
                  </a:lnTo>
                  <a:lnTo>
                    <a:pt x="637" y="133"/>
                  </a:lnTo>
                  <a:lnTo>
                    <a:pt x="667" y="90"/>
                  </a:lnTo>
                  <a:lnTo>
                    <a:pt x="667" y="52"/>
                  </a:lnTo>
                  <a:lnTo>
                    <a:pt x="694" y="20"/>
                  </a:lnTo>
                  <a:lnTo>
                    <a:pt x="782" y="0"/>
                  </a:lnTo>
                  <a:lnTo>
                    <a:pt x="863" y="7"/>
                  </a:lnTo>
                  <a:lnTo>
                    <a:pt x="763" y="907"/>
                  </a:lnTo>
                  <a:lnTo>
                    <a:pt x="694" y="990"/>
                  </a:lnTo>
                  <a:lnTo>
                    <a:pt x="605" y="1071"/>
                  </a:lnTo>
                  <a:lnTo>
                    <a:pt x="481" y="1134"/>
                  </a:lnTo>
                  <a:lnTo>
                    <a:pt x="334" y="1153"/>
                  </a:lnTo>
                  <a:lnTo>
                    <a:pt x="138" y="1164"/>
                  </a:lnTo>
                  <a:lnTo>
                    <a:pt x="25" y="1147"/>
                  </a:lnTo>
                  <a:lnTo>
                    <a:pt x="0" y="1083"/>
                  </a:lnTo>
                  <a:lnTo>
                    <a:pt x="13" y="1001"/>
                  </a:lnTo>
                  <a:lnTo>
                    <a:pt x="95" y="750"/>
                  </a:lnTo>
                  <a:lnTo>
                    <a:pt x="163" y="499"/>
                  </a:lnTo>
                  <a:lnTo>
                    <a:pt x="195" y="310"/>
                  </a:lnTo>
                  <a:lnTo>
                    <a:pt x="195" y="259"/>
                  </a:lnTo>
                  <a:lnTo>
                    <a:pt x="239" y="190"/>
                  </a:lnTo>
                  <a:lnTo>
                    <a:pt x="291" y="172"/>
                  </a:lnTo>
                  <a:lnTo>
                    <a:pt x="385" y="172"/>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4" name="Freeform 307"/>
            <p:cNvSpPr>
              <a:spLocks/>
            </p:cNvSpPr>
            <p:nvPr/>
          </p:nvSpPr>
          <p:spPr bwMode="auto">
            <a:xfrm>
              <a:off x="5528" y="1970"/>
              <a:ext cx="124" cy="177"/>
            </a:xfrm>
            <a:custGeom>
              <a:avLst/>
              <a:gdLst>
                <a:gd name="T0" fmla="*/ 0 w 743"/>
                <a:gd name="T1" fmla="*/ 0 h 1068"/>
                <a:gd name="T2" fmla="*/ 0 w 743"/>
                <a:gd name="T3" fmla="*/ 0 h 1068"/>
                <a:gd name="T4" fmla="*/ 0 w 743"/>
                <a:gd name="T5" fmla="*/ 0 h 1068"/>
                <a:gd name="T6" fmla="*/ 0 w 743"/>
                <a:gd name="T7" fmla="*/ 0 h 1068"/>
                <a:gd name="T8" fmla="*/ 0 w 743"/>
                <a:gd name="T9" fmla="*/ 0 h 1068"/>
                <a:gd name="T10" fmla="*/ 0 w 743"/>
                <a:gd name="T11" fmla="*/ 0 h 1068"/>
                <a:gd name="T12" fmla="*/ 0 w 743"/>
                <a:gd name="T13" fmla="*/ 0 h 1068"/>
                <a:gd name="T14" fmla="*/ 0 w 743"/>
                <a:gd name="T15" fmla="*/ 0 h 1068"/>
                <a:gd name="T16" fmla="*/ 0 w 743"/>
                <a:gd name="T17" fmla="*/ 0 h 1068"/>
                <a:gd name="T18" fmla="*/ 0 w 743"/>
                <a:gd name="T19" fmla="*/ 0 h 1068"/>
                <a:gd name="T20" fmla="*/ 0 w 743"/>
                <a:gd name="T21" fmla="*/ 0 h 1068"/>
                <a:gd name="T22" fmla="*/ 0 w 743"/>
                <a:gd name="T23" fmla="*/ 0 h 1068"/>
                <a:gd name="T24" fmla="*/ 0 w 743"/>
                <a:gd name="T25" fmla="*/ 0 h 1068"/>
                <a:gd name="T26" fmla="*/ 0 w 743"/>
                <a:gd name="T27" fmla="*/ 0 h 1068"/>
                <a:gd name="T28" fmla="*/ 0 w 743"/>
                <a:gd name="T29" fmla="*/ 0 h 1068"/>
                <a:gd name="T30" fmla="*/ 0 w 743"/>
                <a:gd name="T31" fmla="*/ 0 h 1068"/>
                <a:gd name="T32" fmla="*/ 0 w 743"/>
                <a:gd name="T33" fmla="*/ 0 h 1068"/>
                <a:gd name="T34" fmla="*/ 0 w 743"/>
                <a:gd name="T35" fmla="*/ 0 h 1068"/>
                <a:gd name="T36" fmla="*/ 0 w 743"/>
                <a:gd name="T37" fmla="*/ 0 h 1068"/>
                <a:gd name="T38" fmla="*/ 0 w 743"/>
                <a:gd name="T39" fmla="*/ 0 h 1068"/>
                <a:gd name="T40" fmla="*/ 0 w 743"/>
                <a:gd name="T41" fmla="*/ 0 h 1068"/>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743" h="1068">
                  <a:moveTo>
                    <a:pt x="257" y="214"/>
                  </a:moveTo>
                  <a:lnTo>
                    <a:pt x="397" y="207"/>
                  </a:lnTo>
                  <a:lnTo>
                    <a:pt x="542" y="182"/>
                  </a:lnTo>
                  <a:lnTo>
                    <a:pt x="628" y="138"/>
                  </a:lnTo>
                  <a:lnTo>
                    <a:pt x="679" y="100"/>
                  </a:lnTo>
                  <a:lnTo>
                    <a:pt x="743" y="0"/>
                  </a:lnTo>
                  <a:lnTo>
                    <a:pt x="648" y="822"/>
                  </a:lnTo>
                  <a:lnTo>
                    <a:pt x="585" y="898"/>
                  </a:lnTo>
                  <a:lnTo>
                    <a:pt x="516" y="967"/>
                  </a:lnTo>
                  <a:lnTo>
                    <a:pt x="428" y="1016"/>
                  </a:lnTo>
                  <a:lnTo>
                    <a:pt x="353" y="1042"/>
                  </a:lnTo>
                  <a:lnTo>
                    <a:pt x="257" y="1055"/>
                  </a:lnTo>
                  <a:lnTo>
                    <a:pt x="170" y="1068"/>
                  </a:lnTo>
                  <a:lnTo>
                    <a:pt x="69" y="1068"/>
                  </a:lnTo>
                  <a:lnTo>
                    <a:pt x="24" y="1055"/>
                  </a:lnTo>
                  <a:lnTo>
                    <a:pt x="0" y="1016"/>
                  </a:lnTo>
                  <a:lnTo>
                    <a:pt x="11" y="956"/>
                  </a:lnTo>
                  <a:lnTo>
                    <a:pt x="75" y="809"/>
                  </a:lnTo>
                  <a:lnTo>
                    <a:pt x="184" y="321"/>
                  </a:lnTo>
                  <a:lnTo>
                    <a:pt x="201" y="252"/>
                  </a:lnTo>
                  <a:lnTo>
                    <a:pt x="257" y="21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15" name="Oval 308"/>
          <p:cNvSpPr>
            <a:spLocks noChangeArrowheads="1"/>
          </p:cNvSpPr>
          <p:nvPr/>
        </p:nvSpPr>
        <p:spPr bwMode="auto">
          <a:xfrm>
            <a:off x="6729874" y="3187665"/>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6" name="Oval 309"/>
          <p:cNvSpPr>
            <a:spLocks noChangeArrowheads="1"/>
          </p:cNvSpPr>
          <p:nvPr/>
        </p:nvSpPr>
        <p:spPr bwMode="auto">
          <a:xfrm>
            <a:off x="2763778" y="3028773"/>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317" name="Group 310"/>
          <p:cNvGrpSpPr>
            <a:grpSpLocks/>
          </p:cNvGrpSpPr>
          <p:nvPr/>
        </p:nvGrpSpPr>
        <p:grpSpPr bwMode="auto">
          <a:xfrm>
            <a:off x="3006374" y="3092887"/>
            <a:ext cx="289908" cy="267607"/>
            <a:chOff x="2351" y="2975"/>
            <a:chExt cx="481" cy="433"/>
          </a:xfrm>
          <a:effectLst/>
        </p:grpSpPr>
        <p:sp>
          <p:nvSpPr>
            <p:cNvPr id="318" name="Rectangle 311"/>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9" name="Line 312"/>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0" name="Line 313"/>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1" name="Line 314"/>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2" name="Line 315"/>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3" name="Line 316"/>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4" name="Line 317"/>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5" name="Line 318"/>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6" name="Line 319"/>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7" name="Group 320"/>
          <p:cNvGrpSpPr>
            <a:grpSpLocks/>
          </p:cNvGrpSpPr>
          <p:nvPr/>
        </p:nvGrpSpPr>
        <p:grpSpPr bwMode="auto">
          <a:xfrm>
            <a:off x="2939937" y="3416246"/>
            <a:ext cx="463047" cy="267607"/>
            <a:chOff x="1296" y="768"/>
            <a:chExt cx="556" cy="336"/>
          </a:xfrm>
          <a:effectLst/>
        </p:grpSpPr>
        <p:sp>
          <p:nvSpPr>
            <p:cNvPr id="328" name="Rectangle 321"/>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29" name="Group 322"/>
            <p:cNvGrpSpPr>
              <a:grpSpLocks/>
            </p:cNvGrpSpPr>
            <p:nvPr/>
          </p:nvGrpSpPr>
          <p:grpSpPr bwMode="auto">
            <a:xfrm>
              <a:off x="1367" y="829"/>
              <a:ext cx="393" cy="214"/>
              <a:chOff x="2928" y="3744"/>
              <a:chExt cx="528" cy="336"/>
            </a:xfrm>
          </p:grpSpPr>
          <p:grpSp>
            <p:nvGrpSpPr>
              <p:cNvPr id="330" name="Group 323"/>
              <p:cNvGrpSpPr>
                <a:grpSpLocks/>
              </p:cNvGrpSpPr>
              <p:nvPr/>
            </p:nvGrpSpPr>
            <p:grpSpPr bwMode="auto">
              <a:xfrm>
                <a:off x="3024" y="3744"/>
                <a:ext cx="432" cy="240"/>
                <a:chOff x="2736" y="3648"/>
                <a:chExt cx="432" cy="240"/>
              </a:xfrm>
            </p:grpSpPr>
            <p:grpSp>
              <p:nvGrpSpPr>
                <p:cNvPr id="345" name="Group 324"/>
                <p:cNvGrpSpPr>
                  <a:grpSpLocks/>
                </p:cNvGrpSpPr>
                <p:nvPr/>
              </p:nvGrpSpPr>
              <p:grpSpPr bwMode="auto">
                <a:xfrm>
                  <a:off x="2736" y="3648"/>
                  <a:ext cx="432" cy="240"/>
                  <a:chOff x="2592" y="3504"/>
                  <a:chExt cx="576" cy="384"/>
                </a:xfrm>
              </p:grpSpPr>
              <p:sp>
                <p:nvSpPr>
                  <p:cNvPr id="347" name="Rectangle 325"/>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8" name="Freeform 326"/>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9" name="Line 327"/>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0" name="Line 328"/>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6" name="Line 329"/>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1" name="Group 330"/>
              <p:cNvGrpSpPr>
                <a:grpSpLocks/>
              </p:cNvGrpSpPr>
              <p:nvPr/>
            </p:nvGrpSpPr>
            <p:grpSpPr bwMode="auto">
              <a:xfrm>
                <a:off x="2976" y="3792"/>
                <a:ext cx="432" cy="240"/>
                <a:chOff x="2736" y="3648"/>
                <a:chExt cx="432" cy="240"/>
              </a:xfrm>
            </p:grpSpPr>
            <p:grpSp>
              <p:nvGrpSpPr>
                <p:cNvPr id="339" name="Group 331"/>
                <p:cNvGrpSpPr>
                  <a:grpSpLocks/>
                </p:cNvGrpSpPr>
                <p:nvPr/>
              </p:nvGrpSpPr>
              <p:grpSpPr bwMode="auto">
                <a:xfrm>
                  <a:off x="2736" y="3648"/>
                  <a:ext cx="432" cy="240"/>
                  <a:chOff x="2592" y="3504"/>
                  <a:chExt cx="576" cy="384"/>
                </a:xfrm>
              </p:grpSpPr>
              <p:sp>
                <p:nvSpPr>
                  <p:cNvPr id="341" name="Rectangle 332"/>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2" name="Freeform 333"/>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3" name="Line 334"/>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4" name="Line 335"/>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0" name="Line 336"/>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2" name="Group 337"/>
              <p:cNvGrpSpPr>
                <a:grpSpLocks/>
              </p:cNvGrpSpPr>
              <p:nvPr/>
            </p:nvGrpSpPr>
            <p:grpSpPr bwMode="auto">
              <a:xfrm>
                <a:off x="2928" y="3840"/>
                <a:ext cx="432" cy="240"/>
                <a:chOff x="2736" y="3648"/>
                <a:chExt cx="432" cy="240"/>
              </a:xfrm>
            </p:grpSpPr>
            <p:grpSp>
              <p:nvGrpSpPr>
                <p:cNvPr id="333" name="Group 338"/>
                <p:cNvGrpSpPr>
                  <a:grpSpLocks/>
                </p:cNvGrpSpPr>
                <p:nvPr/>
              </p:nvGrpSpPr>
              <p:grpSpPr bwMode="auto">
                <a:xfrm>
                  <a:off x="2736" y="3648"/>
                  <a:ext cx="432" cy="240"/>
                  <a:chOff x="2592" y="3504"/>
                  <a:chExt cx="576" cy="384"/>
                </a:xfrm>
              </p:grpSpPr>
              <p:sp>
                <p:nvSpPr>
                  <p:cNvPr id="335" name="Rectangle 339"/>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36" name="Freeform 340"/>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7" name="Line 341"/>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8" name="Line 342"/>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34" name="Line 343"/>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sp>
        <p:nvSpPr>
          <p:cNvPr id="351" name="Freeform 344"/>
          <p:cNvSpPr>
            <a:spLocks/>
          </p:cNvSpPr>
          <p:nvPr/>
        </p:nvSpPr>
        <p:spPr bwMode="auto">
          <a:xfrm>
            <a:off x="2220201" y="3228550"/>
            <a:ext cx="785167" cy="290837"/>
          </a:xfrm>
          <a:custGeom>
            <a:avLst/>
            <a:gdLst>
              <a:gd name="T0" fmla="*/ 0 w 780"/>
              <a:gd name="T1" fmla="*/ 2147483646 h 313"/>
              <a:gd name="T2" fmla="*/ 2147483646 w 780"/>
              <a:gd name="T3" fmla="*/ 2147483646 h 313"/>
              <a:gd name="T4" fmla="*/ 2147483646 w 780"/>
              <a:gd name="T5" fmla="*/ 2147483646 h 313"/>
              <a:gd name="T6" fmla="*/ 2147483646 w 780"/>
              <a:gd name="T7" fmla="*/ 2147483646 h 313"/>
              <a:gd name="T8" fmla="*/ 2147483646 w 780"/>
              <a:gd name="T9" fmla="*/ 2147483646 h 313"/>
              <a:gd name="T10" fmla="*/ 2147483646 w 780"/>
              <a:gd name="T11" fmla="*/ 2147483646 h 313"/>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80" h="313">
                <a:moveTo>
                  <a:pt x="0" y="99"/>
                </a:moveTo>
                <a:cubicBezTo>
                  <a:pt x="38" y="85"/>
                  <a:pt x="154" y="26"/>
                  <a:pt x="228" y="13"/>
                </a:cubicBezTo>
                <a:cubicBezTo>
                  <a:pt x="302" y="0"/>
                  <a:pt x="385" y="10"/>
                  <a:pt x="444" y="19"/>
                </a:cubicBezTo>
                <a:cubicBezTo>
                  <a:pt x="503" y="28"/>
                  <a:pt x="534" y="34"/>
                  <a:pt x="582" y="67"/>
                </a:cubicBezTo>
                <a:cubicBezTo>
                  <a:pt x="630" y="100"/>
                  <a:pt x="699" y="176"/>
                  <a:pt x="732" y="217"/>
                </a:cubicBezTo>
                <a:cubicBezTo>
                  <a:pt x="765" y="258"/>
                  <a:pt x="768" y="289"/>
                  <a:pt x="780" y="313"/>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2" name="Freeform 345"/>
          <p:cNvSpPr>
            <a:spLocks/>
          </p:cNvSpPr>
          <p:nvPr/>
        </p:nvSpPr>
        <p:spPr bwMode="auto">
          <a:xfrm>
            <a:off x="3198639" y="2876385"/>
            <a:ext cx="2829619" cy="598399"/>
          </a:xfrm>
          <a:custGeom>
            <a:avLst/>
            <a:gdLst>
              <a:gd name="T0" fmla="*/ 0 w 2811"/>
              <a:gd name="T1" fmla="*/ 2147483646 h 644"/>
              <a:gd name="T2" fmla="*/ 2147483646 w 2811"/>
              <a:gd name="T3" fmla="*/ 2147483646 h 644"/>
              <a:gd name="T4" fmla="*/ 2147483646 w 2811"/>
              <a:gd name="T5" fmla="*/ 2147483646 h 644"/>
              <a:gd name="T6" fmla="*/ 2147483646 w 2811"/>
              <a:gd name="T7" fmla="*/ 2147483646 h 644"/>
              <a:gd name="T8" fmla="*/ 2147483646 w 2811"/>
              <a:gd name="T9" fmla="*/ 2147483646 h 644"/>
              <a:gd name="T10" fmla="*/ 2147483646 w 2811"/>
              <a:gd name="T11" fmla="*/ 2147483646 h 644"/>
              <a:gd name="T12" fmla="*/ 2147483646 w 2811"/>
              <a:gd name="T13" fmla="*/ 2147483646 h 64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811" h="644">
                <a:moveTo>
                  <a:pt x="0" y="644"/>
                </a:moveTo>
                <a:cubicBezTo>
                  <a:pt x="81" y="585"/>
                  <a:pt x="354" y="376"/>
                  <a:pt x="488" y="292"/>
                </a:cubicBezTo>
                <a:cubicBezTo>
                  <a:pt x="622" y="208"/>
                  <a:pt x="688" y="181"/>
                  <a:pt x="807" y="137"/>
                </a:cubicBezTo>
                <a:cubicBezTo>
                  <a:pt x="926" y="93"/>
                  <a:pt x="1051" y="49"/>
                  <a:pt x="1200" y="28"/>
                </a:cubicBezTo>
                <a:cubicBezTo>
                  <a:pt x="1349" y="7"/>
                  <a:pt x="1533" y="0"/>
                  <a:pt x="1704" y="12"/>
                </a:cubicBezTo>
                <a:cubicBezTo>
                  <a:pt x="1875" y="24"/>
                  <a:pt x="2042" y="45"/>
                  <a:pt x="2226" y="98"/>
                </a:cubicBezTo>
                <a:cubicBezTo>
                  <a:pt x="2410" y="151"/>
                  <a:pt x="2689" y="281"/>
                  <a:pt x="2811" y="32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3" name="Freeform 346"/>
          <p:cNvSpPr>
            <a:spLocks/>
          </p:cNvSpPr>
          <p:nvPr/>
        </p:nvSpPr>
        <p:spPr bwMode="auto">
          <a:xfrm>
            <a:off x="6090669" y="3048286"/>
            <a:ext cx="731815" cy="203493"/>
          </a:xfrm>
          <a:custGeom>
            <a:avLst/>
            <a:gdLst>
              <a:gd name="T0" fmla="*/ 0 w 727"/>
              <a:gd name="T1" fmla="*/ 2147483646 h 219"/>
              <a:gd name="T2" fmla="*/ 2147483646 w 727"/>
              <a:gd name="T3" fmla="*/ 2147483646 h 219"/>
              <a:gd name="T4" fmla="*/ 2147483646 w 727"/>
              <a:gd name="T5" fmla="*/ 2147483646 h 219"/>
              <a:gd name="T6" fmla="*/ 2147483646 w 727"/>
              <a:gd name="T7" fmla="*/ 2147483646 h 219"/>
              <a:gd name="T8" fmla="*/ 2147483646 w 727"/>
              <a:gd name="T9" fmla="*/ 2147483646 h 219"/>
              <a:gd name="T10" fmla="*/ 2147483646 w 727"/>
              <a:gd name="T11" fmla="*/ 2147483646 h 219"/>
              <a:gd name="T12" fmla="*/ 2147483646 w 727"/>
              <a:gd name="T13" fmla="*/ 2147483646 h 21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27" h="219">
                <a:moveTo>
                  <a:pt x="0" y="129"/>
                </a:moveTo>
                <a:cubicBezTo>
                  <a:pt x="24" y="114"/>
                  <a:pt x="107" y="58"/>
                  <a:pt x="145" y="38"/>
                </a:cubicBezTo>
                <a:cubicBezTo>
                  <a:pt x="183" y="18"/>
                  <a:pt x="202" y="15"/>
                  <a:pt x="229" y="9"/>
                </a:cubicBezTo>
                <a:cubicBezTo>
                  <a:pt x="256" y="3"/>
                  <a:pt x="282" y="3"/>
                  <a:pt x="307" y="3"/>
                </a:cubicBezTo>
                <a:cubicBezTo>
                  <a:pt x="332" y="3"/>
                  <a:pt x="353" y="0"/>
                  <a:pt x="382" y="6"/>
                </a:cubicBezTo>
                <a:cubicBezTo>
                  <a:pt x="411" y="12"/>
                  <a:pt x="423" y="3"/>
                  <a:pt x="481" y="39"/>
                </a:cubicBezTo>
                <a:cubicBezTo>
                  <a:pt x="539" y="75"/>
                  <a:pt x="676" y="182"/>
                  <a:pt x="727" y="21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4" name="Text Box 347"/>
          <p:cNvSpPr txBox="1">
            <a:spLocks noChangeArrowheads="1"/>
          </p:cNvSpPr>
          <p:nvPr/>
        </p:nvSpPr>
        <p:spPr bwMode="auto">
          <a:xfrm>
            <a:off x="4452133" y="268868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5" name="Text Box 348"/>
          <p:cNvSpPr txBox="1">
            <a:spLocks noChangeArrowheads="1"/>
          </p:cNvSpPr>
          <p:nvPr/>
        </p:nvSpPr>
        <p:spPr bwMode="auto">
          <a:xfrm>
            <a:off x="2363458" y="302133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6" name="Text Box 349"/>
          <p:cNvSpPr txBox="1">
            <a:spLocks noChangeArrowheads="1"/>
          </p:cNvSpPr>
          <p:nvPr/>
        </p:nvSpPr>
        <p:spPr bwMode="auto">
          <a:xfrm>
            <a:off x="6208592" y="281936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POP3</a:t>
            </a:r>
          </a:p>
        </p:txBody>
      </p:sp>
      <p:sp>
        <p:nvSpPr>
          <p:cNvPr id="357" name="Text Box 350"/>
          <p:cNvSpPr txBox="1">
            <a:spLocks noChangeArrowheads="1"/>
          </p:cNvSpPr>
          <p:nvPr/>
        </p:nvSpPr>
        <p:spPr bwMode="auto">
          <a:xfrm>
            <a:off x="3246958"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358" name="Line 351"/>
          <p:cNvSpPr>
            <a:spLocks noChangeShapeType="1"/>
          </p:cNvSpPr>
          <p:nvPr/>
        </p:nvSpPr>
        <p:spPr bwMode="auto">
          <a:xfrm flipH="1" flipV="1">
            <a:off x="6849663" y="3219256"/>
            <a:ext cx="85563" cy="67645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9" name="Line 352"/>
          <p:cNvSpPr>
            <a:spLocks noChangeShapeType="1"/>
          </p:cNvSpPr>
          <p:nvPr/>
        </p:nvSpPr>
        <p:spPr bwMode="auto">
          <a:xfrm flipV="1">
            <a:off x="2715460" y="3608588"/>
            <a:ext cx="386543" cy="356809"/>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0" name="Line 353"/>
          <p:cNvSpPr>
            <a:spLocks noChangeShapeType="1"/>
          </p:cNvSpPr>
          <p:nvPr/>
        </p:nvSpPr>
        <p:spPr bwMode="auto">
          <a:xfrm flipV="1">
            <a:off x="2119539" y="3330760"/>
            <a:ext cx="109722" cy="51291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1" name="Text Box 354"/>
          <p:cNvSpPr txBox="1">
            <a:spLocks noChangeArrowheads="1"/>
          </p:cNvSpPr>
          <p:nvPr/>
        </p:nvSpPr>
        <p:spPr bwMode="auto">
          <a:xfrm>
            <a:off x="1797420" y="3839482"/>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362" name="Text Box 355"/>
          <p:cNvSpPr txBox="1">
            <a:spLocks noChangeArrowheads="1"/>
          </p:cNvSpPr>
          <p:nvPr/>
        </p:nvSpPr>
        <p:spPr bwMode="auto">
          <a:xfrm>
            <a:off x="5421264" y="2611566"/>
            <a:ext cx="646331" cy="23083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用户邮箱</a:t>
            </a:r>
          </a:p>
        </p:txBody>
      </p:sp>
      <p:sp>
        <p:nvSpPr>
          <p:cNvPr id="363" name="Line 356"/>
          <p:cNvSpPr>
            <a:spLocks noChangeShapeType="1"/>
          </p:cNvSpPr>
          <p:nvPr/>
        </p:nvSpPr>
        <p:spPr bwMode="auto">
          <a:xfrm rot="10800000" flipH="1" flipV="1">
            <a:off x="5759489" y="2805767"/>
            <a:ext cx="278835" cy="26017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4" name="Text Box 357"/>
          <p:cNvSpPr txBox="1">
            <a:spLocks noChangeArrowheads="1"/>
          </p:cNvSpPr>
          <p:nvPr/>
        </p:nvSpPr>
        <p:spPr bwMode="auto">
          <a:xfrm>
            <a:off x="6898987" y="2789971"/>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p:txBody>
      </p:sp>
      <p:sp>
        <p:nvSpPr>
          <p:cNvPr id="365" name="Line 358"/>
          <p:cNvSpPr>
            <a:spLocks noChangeShapeType="1"/>
          </p:cNvSpPr>
          <p:nvPr/>
        </p:nvSpPr>
        <p:spPr bwMode="auto">
          <a:xfrm flipV="1">
            <a:off x="5517900" y="3761905"/>
            <a:ext cx="377484" cy="23601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6" name="Line 359"/>
          <p:cNvSpPr>
            <a:spLocks noChangeShapeType="1"/>
          </p:cNvSpPr>
          <p:nvPr/>
        </p:nvSpPr>
        <p:spPr bwMode="auto">
          <a:xfrm flipH="1" flipV="1">
            <a:off x="3295275" y="3786993"/>
            <a:ext cx="277828" cy="21743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7" name="Text Box 375"/>
          <p:cNvSpPr txBox="1">
            <a:spLocks noChangeArrowheads="1"/>
          </p:cNvSpPr>
          <p:nvPr/>
        </p:nvSpPr>
        <p:spPr bwMode="auto">
          <a:xfrm>
            <a:off x="2238321" y="2864306"/>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68" name="Text Box 376"/>
          <p:cNvSpPr txBox="1">
            <a:spLocks noChangeArrowheads="1"/>
          </p:cNvSpPr>
          <p:nvPr/>
        </p:nvSpPr>
        <p:spPr bwMode="auto">
          <a:xfrm>
            <a:off x="4248816" y="2525725"/>
            <a:ext cx="877163"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p>
        </p:txBody>
      </p:sp>
      <p:sp>
        <p:nvSpPr>
          <p:cNvPr id="369" name="Text Box 379"/>
          <p:cNvSpPr txBox="1">
            <a:spLocks noChangeArrowheads="1"/>
          </p:cNvSpPr>
          <p:nvPr/>
        </p:nvSpPr>
        <p:spPr bwMode="auto">
          <a:xfrm>
            <a:off x="6083622" y="2674751"/>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读取邮件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70" name="Text Box 384"/>
          <p:cNvSpPr txBox="1">
            <a:spLocks noChangeArrowheads="1"/>
          </p:cNvSpPr>
          <p:nvPr/>
        </p:nvSpPr>
        <p:spPr bwMode="auto">
          <a:xfrm>
            <a:off x="4364242" y="3331097"/>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互联网</a:t>
            </a:r>
          </a:p>
        </p:txBody>
      </p:sp>
      <p:sp>
        <p:nvSpPr>
          <p:cNvPr id="371" name="Rectangle 385"/>
          <p:cNvSpPr>
            <a:spLocks noChangeArrowheads="1"/>
          </p:cNvSpPr>
          <p:nvPr/>
        </p:nvSpPr>
        <p:spPr bwMode="auto">
          <a:xfrm>
            <a:off x="6814430" y="1445137"/>
            <a:ext cx="547603" cy="1011889"/>
          </a:xfrm>
          <a:prstGeom prst="rect">
            <a:avLst/>
          </a:prstGeom>
          <a:solidFill>
            <a:srgbClr val="00FFCC"/>
          </a:solidFill>
          <a:ln w="9525"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2" name="Rectangle 386"/>
          <p:cNvSpPr>
            <a:spLocks noChangeArrowheads="1"/>
          </p:cNvSpPr>
          <p:nvPr/>
        </p:nvSpPr>
        <p:spPr bwMode="auto">
          <a:xfrm>
            <a:off x="2842294" y="1438632"/>
            <a:ext cx="547603" cy="1018393"/>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3" name="Rectangle 387"/>
          <p:cNvSpPr>
            <a:spLocks noChangeArrowheads="1"/>
          </p:cNvSpPr>
          <p:nvPr/>
        </p:nvSpPr>
        <p:spPr bwMode="auto">
          <a:xfrm>
            <a:off x="1746082" y="1438632"/>
            <a:ext cx="547603" cy="1018393"/>
          </a:xfrm>
          <a:prstGeom prst="rect">
            <a:avLst/>
          </a:prstGeom>
          <a:solidFill>
            <a:srgbClr val="00FFCC"/>
          </a:solidFill>
          <a:ln w="9525">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4" name="Line 388"/>
          <p:cNvSpPr>
            <a:spLocks noChangeShapeType="1"/>
          </p:cNvSpPr>
          <p:nvPr/>
        </p:nvSpPr>
        <p:spPr bwMode="auto">
          <a:xfrm>
            <a:off x="2129605" y="1697876"/>
            <a:ext cx="757988"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75" name="Text Box 389"/>
          <p:cNvSpPr txBox="1">
            <a:spLocks noChangeArrowheads="1"/>
          </p:cNvSpPr>
          <p:nvPr/>
        </p:nvSpPr>
        <p:spPr bwMode="auto">
          <a:xfrm>
            <a:off x="2303061" y="1471491"/>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SMTP</a:t>
            </a:r>
          </a:p>
        </p:txBody>
      </p:sp>
      <p:sp>
        <p:nvSpPr>
          <p:cNvPr id="376" name="Text Box 390"/>
          <p:cNvSpPr txBox="1">
            <a:spLocks noChangeArrowheads="1"/>
          </p:cNvSpPr>
          <p:nvPr/>
        </p:nvSpPr>
        <p:spPr bwMode="auto">
          <a:xfrm>
            <a:off x="6268517" y="147069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POP3</a:t>
            </a:r>
          </a:p>
        </p:txBody>
      </p:sp>
      <p:sp>
        <p:nvSpPr>
          <p:cNvPr id="377" name="Text Box 391"/>
          <p:cNvSpPr txBox="1">
            <a:spLocks noChangeArrowheads="1"/>
          </p:cNvSpPr>
          <p:nvPr/>
        </p:nvSpPr>
        <p:spPr bwMode="auto">
          <a:xfrm>
            <a:off x="2319473" y="1178330"/>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78" name="Text Box 392"/>
          <p:cNvSpPr txBox="1">
            <a:spLocks noChangeArrowheads="1"/>
          </p:cNvSpPr>
          <p:nvPr/>
        </p:nvSpPr>
        <p:spPr bwMode="auto">
          <a:xfrm>
            <a:off x="3916093" y="1896419"/>
            <a:ext cx="1241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发送邮件 </a:t>
            </a:r>
            <a:r>
              <a:rPr kumimoji="1" lang="en-US" altLang="zh-CN" sz="1200" b="1" dirty="0">
                <a:solidFill>
                  <a:srgbClr val="C00000"/>
                </a:solidFill>
                <a:latin typeface="微软雅黑 Light" panose="020B0502040204020203" pitchFamily="34" charset="-122"/>
                <a:ea typeface="微软雅黑 Light" panose="020B0502040204020203" pitchFamily="34" charset="-122"/>
              </a:rPr>
              <a:t>SMTP</a:t>
            </a:r>
          </a:p>
        </p:txBody>
      </p:sp>
      <p:sp>
        <p:nvSpPr>
          <p:cNvPr id="379" name="Text Box 393"/>
          <p:cNvSpPr txBox="1">
            <a:spLocks noChangeArrowheads="1"/>
          </p:cNvSpPr>
          <p:nvPr/>
        </p:nvSpPr>
        <p:spPr bwMode="auto">
          <a:xfrm>
            <a:off x="6284273" y="119239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读取</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80" name="Text Box 394"/>
          <p:cNvSpPr txBox="1">
            <a:spLocks noChangeArrowheads="1"/>
          </p:cNvSpPr>
          <p:nvPr/>
        </p:nvSpPr>
        <p:spPr bwMode="auto">
          <a:xfrm>
            <a:off x="2330846" y="1717775"/>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1" name="Text Box 395"/>
          <p:cNvSpPr txBox="1">
            <a:spLocks noChangeArrowheads="1"/>
          </p:cNvSpPr>
          <p:nvPr/>
        </p:nvSpPr>
        <p:spPr bwMode="auto">
          <a:xfrm>
            <a:off x="6297159" y="170125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2" name="Text Box 396"/>
          <p:cNvSpPr txBox="1">
            <a:spLocks noChangeArrowheads="1"/>
          </p:cNvSpPr>
          <p:nvPr/>
        </p:nvSpPr>
        <p:spPr bwMode="auto">
          <a:xfrm>
            <a:off x="2736115"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3" name="Oval 397"/>
          <p:cNvSpPr>
            <a:spLocks noChangeArrowheads="1"/>
          </p:cNvSpPr>
          <p:nvPr/>
        </p:nvSpPr>
        <p:spPr bwMode="auto">
          <a:xfrm>
            <a:off x="1791380" y="1486950"/>
            <a:ext cx="456001"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4" name="Oval 398"/>
          <p:cNvSpPr>
            <a:spLocks noChangeArrowheads="1"/>
          </p:cNvSpPr>
          <p:nvPr/>
        </p:nvSpPr>
        <p:spPr bwMode="auto">
          <a:xfrm>
            <a:off x="6859729" y="1486950"/>
            <a:ext cx="456000"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5" name="Text Box 399"/>
          <p:cNvSpPr txBox="1">
            <a:spLocks noChangeArrowheads="1"/>
          </p:cNvSpPr>
          <p:nvPr/>
        </p:nvSpPr>
        <p:spPr bwMode="auto">
          <a:xfrm>
            <a:off x="1695592"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86" name="Text Box 400"/>
          <p:cNvSpPr txBox="1">
            <a:spLocks noChangeArrowheads="1"/>
          </p:cNvSpPr>
          <p:nvPr/>
        </p:nvSpPr>
        <p:spPr bwMode="auto">
          <a:xfrm>
            <a:off x="5621097"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7" name="Rectangle 401"/>
          <p:cNvSpPr>
            <a:spLocks noChangeArrowheads="1"/>
          </p:cNvSpPr>
          <p:nvPr/>
        </p:nvSpPr>
        <p:spPr bwMode="auto">
          <a:xfrm>
            <a:off x="5719224" y="1445137"/>
            <a:ext cx="547603" cy="101188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8" name="Oval 402"/>
          <p:cNvSpPr>
            <a:spLocks noChangeArrowheads="1"/>
          </p:cNvSpPr>
          <p:nvPr/>
        </p:nvSpPr>
        <p:spPr bwMode="auto">
          <a:xfrm>
            <a:off x="5764523" y="1950617"/>
            <a:ext cx="456000" cy="420923"/>
          </a:xfrm>
          <a:prstGeom prst="ellipse">
            <a:avLst/>
          </a:prstGeom>
          <a:solidFill>
            <a:schemeClr val="bg1"/>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89" name="Oval 403"/>
          <p:cNvSpPr>
            <a:spLocks noChangeArrowheads="1"/>
          </p:cNvSpPr>
          <p:nvPr/>
        </p:nvSpPr>
        <p:spPr bwMode="auto">
          <a:xfrm>
            <a:off x="5764523" y="1486950"/>
            <a:ext cx="456000" cy="420924"/>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0" name="Line 404"/>
          <p:cNvSpPr>
            <a:spLocks noChangeShapeType="1"/>
          </p:cNvSpPr>
          <p:nvPr/>
        </p:nvSpPr>
        <p:spPr bwMode="auto">
          <a:xfrm flipV="1">
            <a:off x="3298295" y="2161543"/>
            <a:ext cx="2465220"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1" name="Oval 405"/>
          <p:cNvSpPr>
            <a:spLocks noChangeArrowheads="1"/>
          </p:cNvSpPr>
          <p:nvPr/>
        </p:nvSpPr>
        <p:spPr bwMode="auto">
          <a:xfrm>
            <a:off x="2888599" y="1486950"/>
            <a:ext cx="456001" cy="420924"/>
          </a:xfrm>
          <a:prstGeom prst="ellipse">
            <a:avLst/>
          </a:prstGeom>
          <a:solidFill>
            <a:schemeClr val="bg1"/>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2" name="Oval 406"/>
          <p:cNvSpPr>
            <a:spLocks noChangeArrowheads="1"/>
          </p:cNvSpPr>
          <p:nvPr/>
        </p:nvSpPr>
        <p:spPr bwMode="auto">
          <a:xfrm>
            <a:off x="2888599" y="1950617"/>
            <a:ext cx="456001" cy="420923"/>
          </a:xfrm>
          <a:prstGeom prst="ellipse">
            <a:avLst/>
          </a:prstGeom>
          <a:solidFill>
            <a:srgbClr val="FFFF00"/>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93" name="Text Box 407"/>
          <p:cNvSpPr txBox="1">
            <a:spLocks noChangeArrowheads="1"/>
          </p:cNvSpPr>
          <p:nvPr/>
        </p:nvSpPr>
        <p:spPr bwMode="auto">
          <a:xfrm>
            <a:off x="6770220"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94" name="Line 408"/>
          <p:cNvSpPr>
            <a:spLocks noChangeShapeType="1"/>
          </p:cNvSpPr>
          <p:nvPr/>
        </p:nvSpPr>
        <p:spPr bwMode="auto">
          <a:xfrm flipV="1">
            <a:off x="6220523" y="1697876"/>
            <a:ext cx="639206"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5" name="Text Box 409"/>
          <p:cNvSpPr txBox="1">
            <a:spLocks noChangeArrowheads="1"/>
          </p:cNvSpPr>
          <p:nvPr/>
        </p:nvSpPr>
        <p:spPr bwMode="auto">
          <a:xfrm>
            <a:off x="4130961" y="2121283"/>
            <a:ext cx="83426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TCP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连接</a:t>
            </a:r>
          </a:p>
        </p:txBody>
      </p:sp>
      <p:sp>
        <p:nvSpPr>
          <p:cNvPr id="396" name="Text Box 399"/>
          <p:cNvSpPr txBox="1">
            <a:spLocks noChangeArrowheads="1"/>
          </p:cNvSpPr>
          <p:nvPr/>
        </p:nvSpPr>
        <p:spPr bwMode="auto">
          <a:xfrm>
            <a:off x="1096459" y="1081823"/>
            <a:ext cx="53091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发件人</a:t>
            </a:r>
          </a:p>
        </p:txBody>
      </p:sp>
      <p:grpSp>
        <p:nvGrpSpPr>
          <p:cNvPr id="254" name="Group 247"/>
          <p:cNvGrpSpPr>
            <a:grpSpLocks/>
          </p:cNvGrpSpPr>
          <p:nvPr/>
        </p:nvGrpSpPr>
        <p:grpSpPr bwMode="auto">
          <a:xfrm>
            <a:off x="6953345" y="3397662"/>
            <a:ext cx="350305" cy="144024"/>
            <a:chOff x="5266" y="2029"/>
            <a:chExt cx="348" cy="155"/>
          </a:xfrm>
        </p:grpSpPr>
        <p:sp>
          <p:nvSpPr>
            <p:cNvPr id="255" name="Freeform 248"/>
            <p:cNvSpPr>
              <a:spLocks/>
            </p:cNvSpPr>
            <p:nvPr/>
          </p:nvSpPr>
          <p:spPr bwMode="auto">
            <a:xfrm>
              <a:off x="5266" y="2029"/>
              <a:ext cx="348" cy="155"/>
            </a:xfrm>
            <a:custGeom>
              <a:avLst/>
              <a:gdLst>
                <a:gd name="T0" fmla="*/ 0 w 2091"/>
                <a:gd name="T1" fmla="*/ 0 h 931"/>
                <a:gd name="T2" fmla="*/ 0 w 2091"/>
                <a:gd name="T3" fmla="*/ 0 h 931"/>
                <a:gd name="T4" fmla="*/ 0 w 2091"/>
                <a:gd name="T5" fmla="*/ 0 h 931"/>
                <a:gd name="T6" fmla="*/ 0 w 2091"/>
                <a:gd name="T7" fmla="*/ 0 h 931"/>
                <a:gd name="T8" fmla="*/ 0 w 2091"/>
                <a:gd name="T9" fmla="*/ 0 h 931"/>
                <a:gd name="T10" fmla="*/ 0 w 2091"/>
                <a:gd name="T11" fmla="*/ 0 h 931"/>
                <a:gd name="T12" fmla="*/ 0 w 2091"/>
                <a:gd name="T13" fmla="*/ 0 h 931"/>
                <a:gd name="T14" fmla="*/ 0 w 2091"/>
                <a:gd name="T15" fmla="*/ 0 h 931"/>
                <a:gd name="T16" fmla="*/ 0 w 2091"/>
                <a:gd name="T17" fmla="*/ 0 h 931"/>
                <a:gd name="T18" fmla="*/ 0 w 2091"/>
                <a:gd name="T19" fmla="*/ 0 h 931"/>
                <a:gd name="T20" fmla="*/ 0 w 2091"/>
                <a:gd name="T21" fmla="*/ 0 h 931"/>
                <a:gd name="T22" fmla="*/ 0 w 2091"/>
                <a:gd name="T23" fmla="*/ 0 h 931"/>
                <a:gd name="T24" fmla="*/ 0 w 2091"/>
                <a:gd name="T25" fmla="*/ 0 h 931"/>
                <a:gd name="T26" fmla="*/ 0 w 2091"/>
                <a:gd name="T27" fmla="*/ 0 h 931"/>
                <a:gd name="T28" fmla="*/ 0 w 2091"/>
                <a:gd name="T29" fmla="*/ 0 h 931"/>
                <a:gd name="T30" fmla="*/ 0 w 2091"/>
                <a:gd name="T31" fmla="*/ 0 h 931"/>
                <a:gd name="T32" fmla="*/ 0 w 2091"/>
                <a:gd name="T33" fmla="*/ 0 h 931"/>
                <a:gd name="T34" fmla="*/ 0 w 2091"/>
                <a:gd name="T35" fmla="*/ 0 h 931"/>
                <a:gd name="T36" fmla="*/ 0 w 2091"/>
                <a:gd name="T37" fmla="*/ 0 h 931"/>
                <a:gd name="T38" fmla="*/ 0 w 2091"/>
                <a:gd name="T39" fmla="*/ 0 h 931"/>
                <a:gd name="T40" fmla="*/ 0 w 2091"/>
                <a:gd name="T41" fmla="*/ 0 h 931"/>
                <a:gd name="T42" fmla="*/ 0 w 2091"/>
                <a:gd name="T43" fmla="*/ 0 h 931"/>
                <a:gd name="T44" fmla="*/ 0 w 2091"/>
                <a:gd name="T45" fmla="*/ 0 h 931"/>
                <a:gd name="T46" fmla="*/ 0 w 2091"/>
                <a:gd name="T47" fmla="*/ 0 h 931"/>
                <a:gd name="T48" fmla="*/ 0 w 2091"/>
                <a:gd name="T49" fmla="*/ 0 h 931"/>
                <a:gd name="T50" fmla="*/ 0 w 2091"/>
                <a:gd name="T51" fmla="*/ 0 h 931"/>
                <a:gd name="T52" fmla="*/ 0 w 2091"/>
                <a:gd name="T53" fmla="*/ 0 h 931"/>
                <a:gd name="T54" fmla="*/ 0 w 2091"/>
                <a:gd name="T55" fmla="*/ 0 h 931"/>
                <a:gd name="T56" fmla="*/ 0 w 2091"/>
                <a:gd name="T57" fmla="*/ 0 h 931"/>
                <a:gd name="T58" fmla="*/ 0 w 2091"/>
                <a:gd name="T59" fmla="*/ 0 h 931"/>
                <a:gd name="T60" fmla="*/ 0 w 2091"/>
                <a:gd name="T61" fmla="*/ 0 h 931"/>
                <a:gd name="T62" fmla="*/ 0 w 2091"/>
                <a:gd name="T63" fmla="*/ 0 h 931"/>
                <a:gd name="T64" fmla="*/ 0 w 2091"/>
                <a:gd name="T65" fmla="*/ 0 h 931"/>
                <a:gd name="T66" fmla="*/ 0 w 2091"/>
                <a:gd name="T67" fmla="*/ 0 h 931"/>
                <a:gd name="T68" fmla="*/ 0 w 2091"/>
                <a:gd name="T69" fmla="*/ 0 h 931"/>
                <a:gd name="T70" fmla="*/ 0 w 2091"/>
                <a:gd name="T71" fmla="*/ 0 h 931"/>
                <a:gd name="T72" fmla="*/ 0 w 2091"/>
                <a:gd name="T73" fmla="*/ 0 h 931"/>
                <a:gd name="T74" fmla="*/ 0 w 2091"/>
                <a:gd name="T75" fmla="*/ 0 h 931"/>
                <a:gd name="T76" fmla="*/ 0 w 2091"/>
                <a:gd name="T77" fmla="*/ 0 h 931"/>
                <a:gd name="T78" fmla="*/ 0 w 2091"/>
                <a:gd name="T79" fmla="*/ 0 h 931"/>
                <a:gd name="T80" fmla="*/ 0 w 2091"/>
                <a:gd name="T81" fmla="*/ 0 h 931"/>
                <a:gd name="T82" fmla="*/ 0 w 2091"/>
                <a:gd name="T83" fmla="*/ 0 h 931"/>
                <a:gd name="T84" fmla="*/ 0 w 2091"/>
                <a:gd name="T85" fmla="*/ 0 h 931"/>
                <a:gd name="T86" fmla="*/ 0 w 2091"/>
                <a:gd name="T87" fmla="*/ 0 h 931"/>
                <a:gd name="T88" fmla="*/ 0 w 2091"/>
                <a:gd name="T89" fmla="*/ 0 h 931"/>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0" t="0" r="r" b="b"/>
              <a:pathLst>
                <a:path w="2091" h="931">
                  <a:moveTo>
                    <a:pt x="182" y="927"/>
                  </a:moveTo>
                  <a:lnTo>
                    <a:pt x="5" y="905"/>
                  </a:lnTo>
                  <a:lnTo>
                    <a:pt x="0" y="695"/>
                  </a:lnTo>
                  <a:lnTo>
                    <a:pt x="9" y="537"/>
                  </a:lnTo>
                  <a:lnTo>
                    <a:pt x="100" y="442"/>
                  </a:lnTo>
                  <a:lnTo>
                    <a:pt x="210" y="387"/>
                  </a:lnTo>
                  <a:lnTo>
                    <a:pt x="460" y="296"/>
                  </a:lnTo>
                  <a:lnTo>
                    <a:pt x="828" y="207"/>
                  </a:lnTo>
                  <a:lnTo>
                    <a:pt x="900" y="201"/>
                  </a:lnTo>
                  <a:lnTo>
                    <a:pt x="948" y="207"/>
                  </a:lnTo>
                  <a:lnTo>
                    <a:pt x="960" y="188"/>
                  </a:lnTo>
                  <a:lnTo>
                    <a:pt x="980" y="169"/>
                  </a:lnTo>
                  <a:lnTo>
                    <a:pt x="1003" y="173"/>
                  </a:lnTo>
                  <a:lnTo>
                    <a:pt x="1035" y="176"/>
                  </a:lnTo>
                  <a:lnTo>
                    <a:pt x="1049" y="138"/>
                  </a:lnTo>
                  <a:lnTo>
                    <a:pt x="1077" y="118"/>
                  </a:lnTo>
                  <a:lnTo>
                    <a:pt x="1106" y="112"/>
                  </a:lnTo>
                  <a:lnTo>
                    <a:pt x="1144" y="112"/>
                  </a:lnTo>
                  <a:lnTo>
                    <a:pt x="1138" y="82"/>
                  </a:lnTo>
                  <a:lnTo>
                    <a:pt x="1182" y="0"/>
                  </a:lnTo>
                  <a:lnTo>
                    <a:pt x="2040" y="22"/>
                  </a:lnTo>
                  <a:lnTo>
                    <a:pt x="2037" y="110"/>
                  </a:lnTo>
                  <a:lnTo>
                    <a:pt x="2053" y="188"/>
                  </a:lnTo>
                  <a:lnTo>
                    <a:pt x="2065" y="244"/>
                  </a:lnTo>
                  <a:lnTo>
                    <a:pt x="2080" y="314"/>
                  </a:lnTo>
                  <a:lnTo>
                    <a:pt x="2091" y="427"/>
                  </a:lnTo>
                  <a:lnTo>
                    <a:pt x="2077" y="494"/>
                  </a:lnTo>
                  <a:lnTo>
                    <a:pt x="2053" y="557"/>
                  </a:lnTo>
                  <a:lnTo>
                    <a:pt x="2023" y="610"/>
                  </a:lnTo>
                  <a:lnTo>
                    <a:pt x="1983" y="629"/>
                  </a:lnTo>
                  <a:lnTo>
                    <a:pt x="1921" y="648"/>
                  </a:lnTo>
                  <a:lnTo>
                    <a:pt x="1838" y="673"/>
                  </a:lnTo>
                  <a:lnTo>
                    <a:pt x="1801" y="717"/>
                  </a:lnTo>
                  <a:lnTo>
                    <a:pt x="1757" y="754"/>
                  </a:lnTo>
                  <a:lnTo>
                    <a:pt x="1686" y="786"/>
                  </a:lnTo>
                  <a:lnTo>
                    <a:pt x="1605" y="812"/>
                  </a:lnTo>
                  <a:lnTo>
                    <a:pt x="1475" y="827"/>
                  </a:lnTo>
                  <a:lnTo>
                    <a:pt x="1364" y="827"/>
                  </a:lnTo>
                  <a:lnTo>
                    <a:pt x="1279" y="818"/>
                  </a:lnTo>
                  <a:lnTo>
                    <a:pt x="1202" y="812"/>
                  </a:lnTo>
                  <a:lnTo>
                    <a:pt x="1144" y="843"/>
                  </a:lnTo>
                  <a:lnTo>
                    <a:pt x="1031" y="837"/>
                  </a:lnTo>
                  <a:lnTo>
                    <a:pt x="582" y="901"/>
                  </a:lnTo>
                  <a:lnTo>
                    <a:pt x="386" y="931"/>
                  </a:lnTo>
                  <a:lnTo>
                    <a:pt x="182" y="927"/>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6" name="Freeform 249"/>
            <p:cNvSpPr>
              <a:spLocks/>
            </p:cNvSpPr>
            <p:nvPr/>
          </p:nvSpPr>
          <p:spPr bwMode="auto">
            <a:xfrm>
              <a:off x="5268" y="2043"/>
              <a:ext cx="342" cy="138"/>
            </a:xfrm>
            <a:custGeom>
              <a:avLst/>
              <a:gdLst>
                <a:gd name="T0" fmla="*/ 0 w 2049"/>
                <a:gd name="T1" fmla="*/ 0 h 829"/>
                <a:gd name="T2" fmla="*/ 0 w 2049"/>
                <a:gd name="T3" fmla="*/ 0 h 829"/>
                <a:gd name="T4" fmla="*/ 0 w 2049"/>
                <a:gd name="T5" fmla="*/ 0 h 829"/>
                <a:gd name="T6" fmla="*/ 0 w 2049"/>
                <a:gd name="T7" fmla="*/ 0 h 829"/>
                <a:gd name="T8" fmla="*/ 0 w 2049"/>
                <a:gd name="T9" fmla="*/ 0 h 829"/>
                <a:gd name="T10" fmla="*/ 0 w 2049"/>
                <a:gd name="T11" fmla="*/ 0 h 829"/>
                <a:gd name="T12" fmla="*/ 0 w 2049"/>
                <a:gd name="T13" fmla="*/ 0 h 829"/>
                <a:gd name="T14" fmla="*/ 0 w 2049"/>
                <a:gd name="T15" fmla="*/ 0 h 829"/>
                <a:gd name="T16" fmla="*/ 0 w 2049"/>
                <a:gd name="T17" fmla="*/ 0 h 829"/>
                <a:gd name="T18" fmla="*/ 0 w 2049"/>
                <a:gd name="T19" fmla="*/ 0 h 829"/>
                <a:gd name="T20" fmla="*/ 0 w 2049"/>
                <a:gd name="T21" fmla="*/ 0 h 829"/>
                <a:gd name="T22" fmla="*/ 0 w 2049"/>
                <a:gd name="T23" fmla="*/ 0 h 829"/>
                <a:gd name="T24" fmla="*/ 0 w 2049"/>
                <a:gd name="T25" fmla="*/ 0 h 829"/>
                <a:gd name="T26" fmla="*/ 0 w 2049"/>
                <a:gd name="T27" fmla="*/ 0 h 829"/>
                <a:gd name="T28" fmla="*/ 0 w 2049"/>
                <a:gd name="T29" fmla="*/ 0 h 829"/>
                <a:gd name="T30" fmla="*/ 0 w 2049"/>
                <a:gd name="T31" fmla="*/ 0 h 829"/>
                <a:gd name="T32" fmla="*/ 0 w 2049"/>
                <a:gd name="T33" fmla="*/ 0 h 829"/>
                <a:gd name="T34" fmla="*/ 0 w 2049"/>
                <a:gd name="T35" fmla="*/ 0 h 829"/>
                <a:gd name="T36" fmla="*/ 0 w 2049"/>
                <a:gd name="T37" fmla="*/ 0 h 829"/>
                <a:gd name="T38" fmla="*/ 0 w 2049"/>
                <a:gd name="T39" fmla="*/ 0 h 829"/>
                <a:gd name="T40" fmla="*/ 0 w 2049"/>
                <a:gd name="T41" fmla="*/ 0 h 829"/>
                <a:gd name="T42" fmla="*/ 0 w 2049"/>
                <a:gd name="T43" fmla="*/ 0 h 829"/>
                <a:gd name="T44" fmla="*/ 0 w 2049"/>
                <a:gd name="T45" fmla="*/ 0 h 829"/>
                <a:gd name="T46" fmla="*/ 0 w 2049"/>
                <a:gd name="T47" fmla="*/ 0 h 829"/>
                <a:gd name="T48" fmla="*/ 0 w 2049"/>
                <a:gd name="T49" fmla="*/ 0 h 829"/>
                <a:gd name="T50" fmla="*/ 0 w 2049"/>
                <a:gd name="T51" fmla="*/ 0 h 829"/>
                <a:gd name="T52" fmla="*/ 0 w 2049"/>
                <a:gd name="T53" fmla="*/ 0 h 829"/>
                <a:gd name="T54" fmla="*/ 0 w 2049"/>
                <a:gd name="T55" fmla="*/ 0 h 829"/>
                <a:gd name="T56" fmla="*/ 0 w 2049"/>
                <a:gd name="T57" fmla="*/ 0 h 829"/>
                <a:gd name="T58" fmla="*/ 0 w 2049"/>
                <a:gd name="T59" fmla="*/ 0 h 829"/>
                <a:gd name="T60" fmla="*/ 0 w 2049"/>
                <a:gd name="T61" fmla="*/ 0 h 829"/>
                <a:gd name="T62" fmla="*/ 0 w 2049"/>
                <a:gd name="T63" fmla="*/ 0 h 829"/>
                <a:gd name="T64" fmla="*/ 0 w 2049"/>
                <a:gd name="T65" fmla="*/ 0 h 829"/>
                <a:gd name="T66" fmla="*/ 0 w 2049"/>
                <a:gd name="T67" fmla="*/ 0 h 829"/>
                <a:gd name="T68" fmla="*/ 0 w 2049"/>
                <a:gd name="T69" fmla="*/ 0 h 829"/>
                <a:gd name="T70" fmla="*/ 0 w 2049"/>
                <a:gd name="T71" fmla="*/ 0 h 829"/>
                <a:gd name="T72" fmla="*/ 0 w 2049"/>
                <a:gd name="T73" fmla="*/ 0 h 829"/>
                <a:gd name="T74" fmla="*/ 0 w 2049"/>
                <a:gd name="T75" fmla="*/ 0 h 829"/>
                <a:gd name="T76" fmla="*/ 0 w 2049"/>
                <a:gd name="T77" fmla="*/ 0 h 829"/>
                <a:gd name="T78" fmla="*/ 0 w 2049"/>
                <a:gd name="T79" fmla="*/ 0 h 829"/>
                <a:gd name="T80" fmla="*/ 0 w 2049"/>
                <a:gd name="T81" fmla="*/ 0 h 829"/>
                <a:gd name="T82" fmla="*/ 0 w 2049"/>
                <a:gd name="T83" fmla="*/ 0 h 829"/>
                <a:gd name="T84" fmla="*/ 0 w 2049"/>
                <a:gd name="T85" fmla="*/ 0 h 829"/>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0" t="0" r="r" b="b"/>
              <a:pathLst>
                <a:path w="2049" h="829">
                  <a:moveTo>
                    <a:pt x="1982" y="31"/>
                  </a:moveTo>
                  <a:lnTo>
                    <a:pt x="1986" y="90"/>
                  </a:lnTo>
                  <a:lnTo>
                    <a:pt x="2010" y="67"/>
                  </a:lnTo>
                  <a:lnTo>
                    <a:pt x="2037" y="199"/>
                  </a:lnTo>
                  <a:lnTo>
                    <a:pt x="2049" y="353"/>
                  </a:lnTo>
                  <a:lnTo>
                    <a:pt x="1995" y="512"/>
                  </a:lnTo>
                  <a:lnTo>
                    <a:pt x="1868" y="549"/>
                  </a:lnTo>
                  <a:lnTo>
                    <a:pt x="1882" y="512"/>
                  </a:lnTo>
                  <a:lnTo>
                    <a:pt x="1814" y="567"/>
                  </a:lnTo>
                  <a:lnTo>
                    <a:pt x="1754" y="624"/>
                  </a:lnTo>
                  <a:lnTo>
                    <a:pt x="1622" y="688"/>
                  </a:lnTo>
                  <a:lnTo>
                    <a:pt x="1460" y="701"/>
                  </a:lnTo>
                  <a:lnTo>
                    <a:pt x="1264" y="710"/>
                  </a:lnTo>
                  <a:lnTo>
                    <a:pt x="1181" y="701"/>
                  </a:lnTo>
                  <a:lnTo>
                    <a:pt x="1255" y="669"/>
                  </a:lnTo>
                  <a:lnTo>
                    <a:pt x="1287" y="589"/>
                  </a:lnTo>
                  <a:lnTo>
                    <a:pt x="1228" y="656"/>
                  </a:lnTo>
                  <a:lnTo>
                    <a:pt x="1155" y="697"/>
                  </a:lnTo>
                  <a:lnTo>
                    <a:pt x="1086" y="733"/>
                  </a:lnTo>
                  <a:lnTo>
                    <a:pt x="1017" y="724"/>
                  </a:lnTo>
                  <a:lnTo>
                    <a:pt x="1063" y="692"/>
                  </a:lnTo>
                  <a:lnTo>
                    <a:pt x="1109" y="652"/>
                  </a:lnTo>
                  <a:lnTo>
                    <a:pt x="1036" y="678"/>
                  </a:lnTo>
                  <a:lnTo>
                    <a:pt x="963" y="733"/>
                  </a:lnTo>
                  <a:lnTo>
                    <a:pt x="726" y="761"/>
                  </a:lnTo>
                  <a:lnTo>
                    <a:pt x="491" y="797"/>
                  </a:lnTo>
                  <a:lnTo>
                    <a:pt x="409" y="793"/>
                  </a:lnTo>
                  <a:lnTo>
                    <a:pt x="495" y="742"/>
                  </a:lnTo>
                  <a:lnTo>
                    <a:pt x="581" y="724"/>
                  </a:lnTo>
                  <a:lnTo>
                    <a:pt x="486" y="720"/>
                  </a:lnTo>
                  <a:lnTo>
                    <a:pt x="414" y="752"/>
                  </a:lnTo>
                  <a:lnTo>
                    <a:pt x="319" y="815"/>
                  </a:lnTo>
                  <a:lnTo>
                    <a:pt x="386" y="720"/>
                  </a:lnTo>
                  <a:lnTo>
                    <a:pt x="473" y="669"/>
                  </a:lnTo>
                  <a:lnTo>
                    <a:pt x="359" y="692"/>
                  </a:lnTo>
                  <a:lnTo>
                    <a:pt x="300" y="765"/>
                  </a:lnTo>
                  <a:lnTo>
                    <a:pt x="287" y="829"/>
                  </a:lnTo>
                  <a:lnTo>
                    <a:pt x="214" y="742"/>
                  </a:lnTo>
                  <a:lnTo>
                    <a:pt x="140" y="701"/>
                  </a:lnTo>
                  <a:lnTo>
                    <a:pt x="182" y="746"/>
                  </a:lnTo>
                  <a:lnTo>
                    <a:pt x="241" y="829"/>
                  </a:lnTo>
                  <a:lnTo>
                    <a:pt x="59" y="793"/>
                  </a:lnTo>
                  <a:lnTo>
                    <a:pt x="23" y="778"/>
                  </a:lnTo>
                  <a:lnTo>
                    <a:pt x="0" y="674"/>
                  </a:lnTo>
                  <a:lnTo>
                    <a:pt x="13" y="530"/>
                  </a:lnTo>
                  <a:lnTo>
                    <a:pt x="40" y="435"/>
                  </a:lnTo>
                  <a:lnTo>
                    <a:pt x="155" y="362"/>
                  </a:lnTo>
                  <a:lnTo>
                    <a:pt x="296" y="298"/>
                  </a:lnTo>
                  <a:lnTo>
                    <a:pt x="572" y="207"/>
                  </a:lnTo>
                  <a:lnTo>
                    <a:pt x="795" y="145"/>
                  </a:lnTo>
                  <a:lnTo>
                    <a:pt x="917" y="135"/>
                  </a:lnTo>
                  <a:lnTo>
                    <a:pt x="968" y="207"/>
                  </a:lnTo>
                  <a:lnTo>
                    <a:pt x="1123" y="285"/>
                  </a:lnTo>
                  <a:lnTo>
                    <a:pt x="1040" y="217"/>
                  </a:lnTo>
                  <a:lnTo>
                    <a:pt x="977" y="182"/>
                  </a:lnTo>
                  <a:lnTo>
                    <a:pt x="953" y="131"/>
                  </a:lnTo>
                  <a:lnTo>
                    <a:pt x="963" y="108"/>
                  </a:lnTo>
                  <a:lnTo>
                    <a:pt x="1008" y="108"/>
                  </a:lnTo>
                  <a:lnTo>
                    <a:pt x="1036" y="135"/>
                  </a:lnTo>
                  <a:lnTo>
                    <a:pt x="1063" y="163"/>
                  </a:lnTo>
                  <a:lnTo>
                    <a:pt x="1132" y="190"/>
                  </a:lnTo>
                  <a:lnTo>
                    <a:pt x="1068" y="135"/>
                  </a:lnTo>
                  <a:lnTo>
                    <a:pt x="1040" y="95"/>
                  </a:lnTo>
                  <a:lnTo>
                    <a:pt x="1059" y="67"/>
                  </a:lnTo>
                  <a:lnTo>
                    <a:pt x="1113" y="50"/>
                  </a:lnTo>
                  <a:lnTo>
                    <a:pt x="1186" y="113"/>
                  </a:lnTo>
                  <a:lnTo>
                    <a:pt x="1255" y="154"/>
                  </a:lnTo>
                  <a:lnTo>
                    <a:pt x="1173" y="63"/>
                  </a:lnTo>
                  <a:lnTo>
                    <a:pt x="1145" y="27"/>
                  </a:lnTo>
                  <a:lnTo>
                    <a:pt x="1145" y="0"/>
                  </a:lnTo>
                  <a:lnTo>
                    <a:pt x="1213" y="10"/>
                  </a:lnTo>
                  <a:lnTo>
                    <a:pt x="1277" y="54"/>
                  </a:lnTo>
                  <a:lnTo>
                    <a:pt x="1319" y="86"/>
                  </a:lnTo>
                  <a:lnTo>
                    <a:pt x="1514" y="104"/>
                  </a:lnTo>
                  <a:lnTo>
                    <a:pt x="1508" y="54"/>
                  </a:lnTo>
                  <a:lnTo>
                    <a:pt x="1567" y="35"/>
                  </a:lnTo>
                  <a:lnTo>
                    <a:pt x="1567" y="99"/>
                  </a:lnTo>
                  <a:lnTo>
                    <a:pt x="1626" y="113"/>
                  </a:lnTo>
                  <a:lnTo>
                    <a:pt x="1754" y="131"/>
                  </a:lnTo>
                  <a:lnTo>
                    <a:pt x="1745" y="63"/>
                  </a:lnTo>
                  <a:lnTo>
                    <a:pt x="1790" y="63"/>
                  </a:lnTo>
                  <a:lnTo>
                    <a:pt x="1795" y="131"/>
                  </a:lnTo>
                  <a:lnTo>
                    <a:pt x="1868" y="127"/>
                  </a:lnTo>
                  <a:lnTo>
                    <a:pt x="1946" y="108"/>
                  </a:lnTo>
                  <a:lnTo>
                    <a:pt x="1950" y="54"/>
                  </a:lnTo>
                  <a:lnTo>
                    <a:pt x="1982"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7" name="Freeform 250"/>
            <p:cNvSpPr>
              <a:spLocks/>
            </p:cNvSpPr>
            <p:nvPr/>
          </p:nvSpPr>
          <p:spPr bwMode="auto">
            <a:xfrm>
              <a:off x="5515" y="2093"/>
              <a:ext cx="47" cy="8"/>
            </a:xfrm>
            <a:custGeom>
              <a:avLst/>
              <a:gdLst>
                <a:gd name="T0" fmla="*/ 0 w 280"/>
                <a:gd name="T1" fmla="*/ 0 h 48"/>
                <a:gd name="T2" fmla="*/ 0 w 280"/>
                <a:gd name="T3" fmla="*/ 0 h 48"/>
                <a:gd name="T4" fmla="*/ 0 w 280"/>
                <a:gd name="T5" fmla="*/ 0 h 48"/>
                <a:gd name="T6" fmla="*/ 0 w 280"/>
                <a:gd name="T7" fmla="*/ 0 h 4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80" h="48">
                  <a:moveTo>
                    <a:pt x="280" y="0"/>
                  </a:moveTo>
                  <a:lnTo>
                    <a:pt x="149" y="48"/>
                  </a:lnTo>
                  <a:lnTo>
                    <a:pt x="0" y="35"/>
                  </a:lnTo>
                  <a:lnTo>
                    <a:pt x="28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8" name="Freeform 251"/>
            <p:cNvSpPr>
              <a:spLocks/>
            </p:cNvSpPr>
            <p:nvPr/>
          </p:nvSpPr>
          <p:spPr bwMode="auto">
            <a:xfrm>
              <a:off x="5580" y="2080"/>
              <a:ext cx="28" cy="10"/>
            </a:xfrm>
            <a:custGeom>
              <a:avLst/>
              <a:gdLst>
                <a:gd name="T0" fmla="*/ 0 w 170"/>
                <a:gd name="T1" fmla="*/ 0 h 57"/>
                <a:gd name="T2" fmla="*/ 0 w 170"/>
                <a:gd name="T3" fmla="*/ 0 h 57"/>
                <a:gd name="T4" fmla="*/ 0 w 170"/>
                <a:gd name="T5" fmla="*/ 0 h 57"/>
                <a:gd name="T6" fmla="*/ 0 w 170"/>
                <a:gd name="T7" fmla="*/ 0 h 57"/>
                <a:gd name="T8" fmla="*/ 0 w 170"/>
                <a:gd name="T9" fmla="*/ 0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0" h="57">
                  <a:moveTo>
                    <a:pt x="170" y="0"/>
                  </a:moveTo>
                  <a:lnTo>
                    <a:pt x="125" y="35"/>
                  </a:lnTo>
                  <a:lnTo>
                    <a:pt x="0" y="53"/>
                  </a:lnTo>
                  <a:lnTo>
                    <a:pt x="130" y="57"/>
                  </a:lnTo>
                  <a:lnTo>
                    <a:pt x="17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9" name="Freeform 252"/>
            <p:cNvSpPr>
              <a:spLocks/>
            </p:cNvSpPr>
            <p:nvPr/>
          </p:nvSpPr>
          <p:spPr bwMode="auto">
            <a:xfrm>
              <a:off x="5445" y="2073"/>
              <a:ext cx="44" cy="24"/>
            </a:xfrm>
            <a:custGeom>
              <a:avLst/>
              <a:gdLst>
                <a:gd name="T0" fmla="*/ 0 w 263"/>
                <a:gd name="T1" fmla="*/ 0 h 143"/>
                <a:gd name="T2" fmla="*/ 0 w 263"/>
                <a:gd name="T3" fmla="*/ 0 h 143"/>
                <a:gd name="T4" fmla="*/ 0 w 263"/>
                <a:gd name="T5" fmla="*/ 0 h 143"/>
                <a:gd name="T6" fmla="*/ 0 w 263"/>
                <a:gd name="T7" fmla="*/ 0 h 143"/>
                <a:gd name="T8" fmla="*/ 0 w 263"/>
                <a:gd name="T9" fmla="*/ 0 h 143"/>
                <a:gd name="T10" fmla="*/ 0 w 263"/>
                <a:gd name="T11" fmla="*/ 0 h 143"/>
                <a:gd name="T12" fmla="*/ 0 w 263"/>
                <a:gd name="T13" fmla="*/ 0 h 143"/>
                <a:gd name="T14" fmla="*/ 0 w 263"/>
                <a:gd name="T15" fmla="*/ 0 h 143"/>
                <a:gd name="T16" fmla="*/ 0 w 263"/>
                <a:gd name="T17" fmla="*/ 0 h 143"/>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263" h="143">
                  <a:moveTo>
                    <a:pt x="263" y="0"/>
                  </a:moveTo>
                  <a:lnTo>
                    <a:pt x="145" y="13"/>
                  </a:lnTo>
                  <a:lnTo>
                    <a:pt x="122" y="31"/>
                  </a:lnTo>
                  <a:lnTo>
                    <a:pt x="122" y="76"/>
                  </a:lnTo>
                  <a:lnTo>
                    <a:pt x="113" y="124"/>
                  </a:lnTo>
                  <a:lnTo>
                    <a:pt x="0" y="143"/>
                  </a:lnTo>
                  <a:lnTo>
                    <a:pt x="136" y="138"/>
                  </a:lnTo>
                  <a:lnTo>
                    <a:pt x="159" y="48"/>
                  </a:lnTo>
                  <a:lnTo>
                    <a:pt x="26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0" name="Freeform 253"/>
            <p:cNvSpPr>
              <a:spLocks/>
            </p:cNvSpPr>
            <p:nvPr/>
          </p:nvSpPr>
          <p:spPr bwMode="auto">
            <a:xfrm>
              <a:off x="5303" y="2127"/>
              <a:ext cx="142" cy="35"/>
            </a:xfrm>
            <a:custGeom>
              <a:avLst/>
              <a:gdLst>
                <a:gd name="T0" fmla="*/ 0 w 853"/>
                <a:gd name="T1" fmla="*/ 0 h 212"/>
                <a:gd name="T2" fmla="*/ 0 w 853"/>
                <a:gd name="T3" fmla="*/ 0 h 212"/>
                <a:gd name="T4" fmla="*/ 0 w 853"/>
                <a:gd name="T5" fmla="*/ 0 h 212"/>
                <a:gd name="T6" fmla="*/ 0 w 853"/>
                <a:gd name="T7" fmla="*/ 0 h 212"/>
                <a:gd name="T8" fmla="*/ 0 w 853"/>
                <a:gd name="T9" fmla="*/ 0 h 212"/>
                <a:gd name="T10" fmla="*/ 0 w 853"/>
                <a:gd name="T11" fmla="*/ 0 h 212"/>
                <a:gd name="T12" fmla="*/ 0 w 853"/>
                <a:gd name="T13" fmla="*/ 0 h 212"/>
                <a:gd name="T14" fmla="*/ 0 w 853"/>
                <a:gd name="T15" fmla="*/ 0 h 212"/>
                <a:gd name="T16" fmla="*/ 0 w 853"/>
                <a:gd name="T17" fmla="*/ 0 h 212"/>
                <a:gd name="T18" fmla="*/ 0 w 853"/>
                <a:gd name="T19" fmla="*/ 0 h 212"/>
                <a:gd name="T20" fmla="*/ 0 w 853"/>
                <a:gd name="T21" fmla="*/ 0 h 212"/>
                <a:gd name="T22" fmla="*/ 0 w 853"/>
                <a:gd name="T23" fmla="*/ 0 h 212"/>
                <a:gd name="T24" fmla="*/ 0 w 853"/>
                <a:gd name="T25" fmla="*/ 0 h 212"/>
                <a:gd name="T26" fmla="*/ 0 w 853"/>
                <a:gd name="T27" fmla="*/ 0 h 212"/>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853" h="212">
                  <a:moveTo>
                    <a:pt x="853" y="0"/>
                  </a:moveTo>
                  <a:lnTo>
                    <a:pt x="636" y="10"/>
                  </a:lnTo>
                  <a:lnTo>
                    <a:pt x="413" y="63"/>
                  </a:lnTo>
                  <a:lnTo>
                    <a:pt x="249" y="71"/>
                  </a:lnTo>
                  <a:lnTo>
                    <a:pt x="114" y="99"/>
                  </a:lnTo>
                  <a:lnTo>
                    <a:pt x="64" y="170"/>
                  </a:lnTo>
                  <a:lnTo>
                    <a:pt x="0" y="212"/>
                  </a:lnTo>
                  <a:lnTo>
                    <a:pt x="64" y="198"/>
                  </a:lnTo>
                  <a:lnTo>
                    <a:pt x="123" y="117"/>
                  </a:lnTo>
                  <a:lnTo>
                    <a:pt x="304" y="81"/>
                  </a:lnTo>
                  <a:lnTo>
                    <a:pt x="413" y="81"/>
                  </a:lnTo>
                  <a:lnTo>
                    <a:pt x="500" y="63"/>
                  </a:lnTo>
                  <a:lnTo>
                    <a:pt x="649" y="23"/>
                  </a:lnTo>
                  <a:lnTo>
                    <a:pt x="85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aphicFrame>
        <p:nvGraphicFramePr>
          <p:cNvPr id="412" name="对象 411"/>
          <p:cNvGraphicFramePr>
            <a:graphicFrameLocks noChangeAspect="1"/>
          </p:cNvGraphicFramePr>
          <p:nvPr>
            <p:extLst>
              <p:ext uri="{D42A27DB-BD31-4B8C-83A1-F6EECF244321}">
                <p14:modId xmlns:p14="http://schemas.microsoft.com/office/powerpoint/2010/main" val="2053129981"/>
              </p:ext>
            </p:extLst>
          </p:nvPr>
        </p:nvGraphicFramePr>
        <p:xfrm>
          <a:off x="1234937" y="1468874"/>
          <a:ext cx="440021" cy="504000"/>
        </p:xfrm>
        <a:graphic>
          <a:graphicData uri="http://schemas.openxmlformats.org/presentationml/2006/ole">
            <mc:AlternateContent xmlns:mc="http://schemas.openxmlformats.org/markup-compatibility/2006">
              <mc:Choice xmlns:v="urn:schemas-microsoft-com:vml" Requires="v">
                <p:oleObj name="Visio" r:id="rId5" imgW="3561172" imgH="4347469" progId="">
                  <p:embed/>
                </p:oleObj>
              </mc:Choice>
              <mc:Fallback>
                <p:oleObj name="Visio" r:id="rId5" imgW="3561172" imgH="4347469" progId="">
                  <p:embed/>
                  <p:pic>
                    <p:nvPicPr>
                      <p:cNvPr id="0" name="Picture 304"/>
                      <p:cNvPicPr>
                        <a:picLocks noChangeAspect="1" noChangeArrowheads="1"/>
                      </p:cNvPicPr>
                      <p:nvPr/>
                    </p:nvPicPr>
                    <p:blipFill>
                      <a:blip r:embed="rId6">
                        <a:extLst>
                          <a:ext uri="{28A0092B-C50C-407E-A947-70E740481C1C}">
                            <a14:useLocalDpi xmlns:a14="http://schemas.microsoft.com/office/drawing/2010/main" val="0"/>
                          </a:ext>
                        </a:extLst>
                      </a:blip>
                      <a:srcRect l="5348" t="4167" r="4546" b="11185"/>
                      <a:stretch>
                        <a:fillRect/>
                      </a:stretch>
                    </p:blipFill>
                    <p:spPr bwMode="auto">
                      <a:xfrm>
                        <a:off x="1234937" y="1468874"/>
                        <a:ext cx="440021"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14" name="对象 413"/>
          <p:cNvGraphicFramePr>
            <a:graphicFrameLocks noChangeAspect="1"/>
          </p:cNvGraphicFramePr>
          <p:nvPr>
            <p:extLst>
              <p:ext uri="{D42A27DB-BD31-4B8C-83A1-F6EECF244321}">
                <p14:modId xmlns:p14="http://schemas.microsoft.com/office/powerpoint/2010/main" val="2123150761"/>
              </p:ext>
            </p:extLst>
          </p:nvPr>
        </p:nvGraphicFramePr>
        <p:xfrm>
          <a:off x="7436052" y="1468874"/>
          <a:ext cx="443938" cy="504000"/>
        </p:xfrm>
        <a:graphic>
          <a:graphicData uri="http://schemas.openxmlformats.org/presentationml/2006/ole">
            <mc:AlternateContent xmlns:mc="http://schemas.openxmlformats.org/markup-compatibility/2006">
              <mc:Choice xmlns:v="urn:schemas-microsoft-com:vml" Requires="v">
                <p:oleObj name="Visio" r:id="rId7" imgW="3561172" imgH="4347469" progId="">
                  <p:embed/>
                </p:oleObj>
              </mc:Choice>
              <mc:Fallback>
                <p:oleObj name="Visio" r:id="rId7" imgW="3561172" imgH="4347469" progId="">
                  <p:embed/>
                  <p:pic>
                    <p:nvPicPr>
                      <p:cNvPr id="0" name="Picture 305"/>
                      <p:cNvPicPr>
                        <a:picLocks noChangeAspect="1" noChangeArrowheads="1"/>
                      </p:cNvPicPr>
                      <p:nvPr/>
                    </p:nvPicPr>
                    <p:blipFill>
                      <a:blip r:embed="rId8">
                        <a:extLst>
                          <a:ext uri="{28A0092B-C50C-407E-A947-70E740481C1C}">
                            <a14:useLocalDpi xmlns:a14="http://schemas.microsoft.com/office/drawing/2010/main" val="0"/>
                          </a:ext>
                        </a:extLst>
                      </a:blip>
                      <a:srcRect l="4546" t="3947" r="4546" b="11403"/>
                      <a:stretch>
                        <a:fillRect/>
                      </a:stretch>
                    </p:blipFill>
                    <p:spPr bwMode="auto">
                      <a:xfrm>
                        <a:off x="7436052" y="1468874"/>
                        <a:ext cx="443938"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22" name="Text Box 399"/>
          <p:cNvSpPr txBox="1">
            <a:spLocks noChangeArrowheads="1"/>
          </p:cNvSpPr>
          <p:nvPr/>
        </p:nvSpPr>
        <p:spPr bwMode="auto">
          <a:xfrm>
            <a:off x="7471795" y="1081823"/>
            <a:ext cx="5309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收件人</a:t>
            </a:r>
          </a:p>
        </p:txBody>
      </p:sp>
      <p:sp>
        <p:nvSpPr>
          <p:cNvPr id="2" name="标题 1">
            <a:extLst>
              <a:ext uri="{FF2B5EF4-FFF2-40B4-BE49-F238E27FC236}">
                <a16:creationId xmlns:a16="http://schemas.microsoft.com/office/drawing/2014/main" id="{D303424F-5A44-EA1C-51FC-894E908E4782}"/>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发送和接收</a:t>
            </a:r>
          </a:p>
        </p:txBody>
      </p:sp>
      <p:sp>
        <p:nvSpPr>
          <p:cNvPr id="5" name="内容占位符 4">
            <a:extLst>
              <a:ext uri="{FF2B5EF4-FFF2-40B4-BE49-F238E27FC236}">
                <a16:creationId xmlns:a16="http://schemas.microsoft.com/office/drawing/2014/main" id="{C0143DFD-D060-6BD8-92AC-01F96C058D48}"/>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20953283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repeatCount="3000" fill="hold" grpId="0" nodeType="withEffect">
                                  <p:stCondLst>
                                    <p:cond delay="0"/>
                                  </p:stCondLst>
                                  <p:childTnLst>
                                    <p:set>
                                      <p:cBhvr>
                                        <p:cTn id="6" dur="1" fill="hold">
                                          <p:stCondLst>
                                            <p:cond delay="0"/>
                                          </p:stCondLst>
                                        </p:cTn>
                                        <p:tgtEl>
                                          <p:spTgt spid="353"/>
                                        </p:tgtEl>
                                        <p:attrNameLst>
                                          <p:attrName>style.visibility</p:attrName>
                                        </p:attrNameLst>
                                      </p:cBhvr>
                                      <p:to>
                                        <p:strVal val="visible"/>
                                      </p:to>
                                    </p:set>
                                    <p:animEffect transition="in" filter="wipe(left)">
                                      <p:cBhvr>
                                        <p:cTn id="7" dur="1000"/>
                                        <p:tgtEl>
                                          <p:spTgt spid="3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3" grpId="0" animBg="1"/>
    </p:bld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Object 383"/>
          <p:cNvGraphicFramePr>
            <a:graphicFrameLocks noChangeAspect="1"/>
          </p:cNvGraphicFramePr>
          <p:nvPr>
            <p:extLst>
              <p:ext uri="{D42A27DB-BD31-4B8C-83A1-F6EECF244321}">
                <p14:modId xmlns:p14="http://schemas.microsoft.com/office/powerpoint/2010/main" val="4134161399"/>
              </p:ext>
            </p:extLst>
          </p:nvPr>
        </p:nvGraphicFramePr>
        <p:xfrm>
          <a:off x="3846905" y="3043640"/>
          <a:ext cx="1597512" cy="842777"/>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306"/>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46905" y="3043640"/>
                        <a:ext cx="1597512" cy="84277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9" name="Object 383"/>
          <p:cNvGraphicFramePr>
            <a:graphicFrameLocks noChangeAspect="1"/>
          </p:cNvGraphicFramePr>
          <p:nvPr>
            <p:extLst>
              <p:ext uri="{D42A27DB-BD31-4B8C-83A1-F6EECF244321}">
                <p14:modId xmlns:p14="http://schemas.microsoft.com/office/powerpoint/2010/main" val="2865704632"/>
              </p:ext>
            </p:extLst>
          </p:nvPr>
        </p:nvGraphicFramePr>
        <p:xfrm>
          <a:off x="5780655" y="2980580"/>
          <a:ext cx="1597279" cy="842777"/>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307"/>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780655" y="2980580"/>
                        <a:ext cx="1597279" cy="842777"/>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 name="Line 3"/>
          <p:cNvSpPr>
            <a:spLocks noChangeShapeType="1"/>
          </p:cNvSpPr>
          <p:nvPr/>
        </p:nvSpPr>
        <p:spPr bwMode="auto">
          <a:xfrm flipH="1" flipV="1">
            <a:off x="2328917" y="3340981"/>
            <a:ext cx="483179" cy="44601"/>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 name="Freeform 4"/>
          <p:cNvSpPr>
            <a:spLocks/>
          </p:cNvSpPr>
          <p:nvPr/>
        </p:nvSpPr>
        <p:spPr bwMode="auto">
          <a:xfrm>
            <a:off x="6375543" y="3302885"/>
            <a:ext cx="483179" cy="83627"/>
          </a:xfrm>
          <a:custGeom>
            <a:avLst/>
            <a:gdLst>
              <a:gd name="T0" fmla="*/ 2147483646 w 480"/>
              <a:gd name="T1" fmla="*/ 0 h 90"/>
              <a:gd name="T2" fmla="*/ 0 w 480"/>
              <a:gd name="T3" fmla="*/ 2147483646 h 90"/>
              <a:gd name="T4" fmla="*/ 0 60000 65536"/>
              <a:gd name="T5" fmla="*/ 0 60000 65536"/>
            </a:gdLst>
            <a:ahLst/>
            <a:cxnLst>
              <a:cxn ang="T4">
                <a:pos x="T0" y="T1"/>
              </a:cxn>
              <a:cxn ang="T5">
                <a:pos x="T2" y="T3"/>
              </a:cxn>
            </a:cxnLst>
            <a:rect l="0" t="0" r="r" b="b"/>
            <a:pathLst>
              <a:path w="480" h="90">
                <a:moveTo>
                  <a:pt x="480" y="0"/>
                </a:moveTo>
                <a:lnTo>
                  <a:pt x="0" y="90"/>
                </a:lnTo>
              </a:path>
            </a:pathLst>
          </a:custGeom>
          <a:noFill/>
          <a:ln w="38100" cmpd="sng">
            <a:solidFill>
              <a:srgbClr val="0000FF"/>
            </a:solidFill>
            <a:round/>
            <a:headEnd type="none" w="med" len="med"/>
            <a:tailEnd type="non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 name="Line 5"/>
          <p:cNvSpPr>
            <a:spLocks noChangeShapeType="1"/>
          </p:cNvSpPr>
          <p:nvPr/>
        </p:nvSpPr>
        <p:spPr bwMode="auto">
          <a:xfrm flipH="1" flipV="1">
            <a:off x="5360866" y="3430183"/>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 name="Line 6"/>
          <p:cNvSpPr>
            <a:spLocks noChangeShapeType="1"/>
          </p:cNvSpPr>
          <p:nvPr/>
        </p:nvSpPr>
        <p:spPr bwMode="auto">
          <a:xfrm flipH="1" flipV="1">
            <a:off x="3440229" y="3422750"/>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 name="Text Box 7"/>
          <p:cNvSpPr txBox="1">
            <a:spLocks noChangeArrowheads="1"/>
          </p:cNvSpPr>
          <p:nvPr/>
        </p:nvSpPr>
        <p:spPr bwMode="auto">
          <a:xfrm>
            <a:off x="1700784" y="2860589"/>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p:txBody>
      </p:sp>
      <p:sp>
        <p:nvSpPr>
          <p:cNvPr id="15" name="Text Box 8"/>
          <p:cNvSpPr txBox="1">
            <a:spLocks noChangeArrowheads="1"/>
          </p:cNvSpPr>
          <p:nvPr/>
        </p:nvSpPr>
        <p:spPr bwMode="auto">
          <a:xfrm>
            <a:off x="2324891" y="3949601"/>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邮件缓存</a:t>
            </a:r>
          </a:p>
        </p:txBody>
      </p:sp>
      <p:sp>
        <p:nvSpPr>
          <p:cNvPr id="16" name="Text Box 9"/>
          <p:cNvSpPr txBox="1">
            <a:spLocks noChangeArrowheads="1"/>
          </p:cNvSpPr>
          <p:nvPr/>
        </p:nvSpPr>
        <p:spPr bwMode="auto">
          <a:xfrm>
            <a:off x="5131356"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17" name="Oval 10"/>
          <p:cNvSpPr>
            <a:spLocks noChangeArrowheads="1"/>
          </p:cNvSpPr>
          <p:nvPr/>
        </p:nvSpPr>
        <p:spPr bwMode="auto">
          <a:xfrm>
            <a:off x="5662853" y="3027844"/>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8" name="Group 11"/>
          <p:cNvGrpSpPr>
            <a:grpSpLocks/>
          </p:cNvGrpSpPr>
          <p:nvPr/>
        </p:nvGrpSpPr>
        <p:grpSpPr bwMode="auto">
          <a:xfrm>
            <a:off x="5905450" y="3091958"/>
            <a:ext cx="289908" cy="267607"/>
            <a:chOff x="2351" y="2975"/>
            <a:chExt cx="481" cy="433"/>
          </a:xfrm>
          <a:effectLst/>
        </p:grpSpPr>
        <p:sp>
          <p:nvSpPr>
            <p:cNvPr id="19" name="Rectangle 12"/>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20" name="Line 13"/>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 name="Line 14"/>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 name="Line 15"/>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 name="Line 16"/>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 name="Line 17"/>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 name="Line 18"/>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 name="Line 19"/>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 name="Line 20"/>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8" name="Group 21"/>
          <p:cNvGrpSpPr>
            <a:grpSpLocks/>
          </p:cNvGrpSpPr>
          <p:nvPr/>
        </p:nvGrpSpPr>
        <p:grpSpPr bwMode="auto">
          <a:xfrm>
            <a:off x="5839013" y="3415316"/>
            <a:ext cx="463047" cy="267607"/>
            <a:chOff x="1296" y="768"/>
            <a:chExt cx="556" cy="336"/>
          </a:xfrm>
          <a:effectLst/>
        </p:grpSpPr>
        <p:sp>
          <p:nvSpPr>
            <p:cNvPr id="29" name="Rectangle 22"/>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0" name="Group 23"/>
            <p:cNvGrpSpPr>
              <a:grpSpLocks/>
            </p:cNvGrpSpPr>
            <p:nvPr/>
          </p:nvGrpSpPr>
          <p:grpSpPr bwMode="auto">
            <a:xfrm>
              <a:off x="1367" y="829"/>
              <a:ext cx="393" cy="214"/>
              <a:chOff x="2928" y="3744"/>
              <a:chExt cx="528" cy="336"/>
            </a:xfrm>
          </p:grpSpPr>
          <p:grpSp>
            <p:nvGrpSpPr>
              <p:cNvPr id="31" name="Group 24"/>
              <p:cNvGrpSpPr>
                <a:grpSpLocks/>
              </p:cNvGrpSpPr>
              <p:nvPr/>
            </p:nvGrpSpPr>
            <p:grpSpPr bwMode="auto">
              <a:xfrm>
                <a:off x="3024" y="3744"/>
                <a:ext cx="432" cy="240"/>
                <a:chOff x="2736" y="3648"/>
                <a:chExt cx="432" cy="240"/>
              </a:xfrm>
            </p:grpSpPr>
            <p:grpSp>
              <p:nvGrpSpPr>
                <p:cNvPr id="46" name="Group 25"/>
                <p:cNvGrpSpPr>
                  <a:grpSpLocks/>
                </p:cNvGrpSpPr>
                <p:nvPr/>
              </p:nvGrpSpPr>
              <p:grpSpPr bwMode="auto">
                <a:xfrm>
                  <a:off x="2736" y="3648"/>
                  <a:ext cx="432" cy="240"/>
                  <a:chOff x="2592" y="3504"/>
                  <a:chExt cx="576" cy="384"/>
                </a:xfrm>
              </p:grpSpPr>
              <p:sp>
                <p:nvSpPr>
                  <p:cNvPr id="48" name="Rectangle 26"/>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9" name="Freeform 27"/>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0" name="Line 28"/>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1" name="Line 29"/>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7" name="Line 30"/>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 name="Group 31"/>
              <p:cNvGrpSpPr>
                <a:grpSpLocks/>
              </p:cNvGrpSpPr>
              <p:nvPr/>
            </p:nvGrpSpPr>
            <p:grpSpPr bwMode="auto">
              <a:xfrm>
                <a:off x="2976" y="3792"/>
                <a:ext cx="432" cy="240"/>
                <a:chOff x="2736" y="3648"/>
                <a:chExt cx="432" cy="240"/>
              </a:xfrm>
            </p:grpSpPr>
            <p:grpSp>
              <p:nvGrpSpPr>
                <p:cNvPr id="40" name="Group 32"/>
                <p:cNvGrpSpPr>
                  <a:grpSpLocks/>
                </p:cNvGrpSpPr>
                <p:nvPr/>
              </p:nvGrpSpPr>
              <p:grpSpPr bwMode="auto">
                <a:xfrm>
                  <a:off x="2736" y="3648"/>
                  <a:ext cx="432" cy="240"/>
                  <a:chOff x="2592" y="3504"/>
                  <a:chExt cx="576" cy="384"/>
                </a:xfrm>
              </p:grpSpPr>
              <p:sp>
                <p:nvSpPr>
                  <p:cNvPr id="42" name="Rectangle 33"/>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3" name="Freeform 34"/>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4" name="Line 35"/>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5" name="Line 36"/>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1" name="Line 37"/>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 name="Group 38"/>
              <p:cNvGrpSpPr>
                <a:grpSpLocks/>
              </p:cNvGrpSpPr>
              <p:nvPr/>
            </p:nvGrpSpPr>
            <p:grpSpPr bwMode="auto">
              <a:xfrm>
                <a:off x="2928" y="3840"/>
                <a:ext cx="432" cy="240"/>
                <a:chOff x="2736" y="3648"/>
                <a:chExt cx="432" cy="240"/>
              </a:xfrm>
            </p:grpSpPr>
            <p:grpSp>
              <p:nvGrpSpPr>
                <p:cNvPr id="34" name="Group 39"/>
                <p:cNvGrpSpPr>
                  <a:grpSpLocks/>
                </p:cNvGrpSpPr>
                <p:nvPr/>
              </p:nvGrpSpPr>
              <p:grpSpPr bwMode="auto">
                <a:xfrm>
                  <a:off x="2736" y="3648"/>
                  <a:ext cx="432" cy="240"/>
                  <a:chOff x="2592" y="3504"/>
                  <a:chExt cx="576" cy="384"/>
                </a:xfrm>
              </p:grpSpPr>
              <p:sp>
                <p:nvSpPr>
                  <p:cNvPr id="36" name="Rectangle 40"/>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 name="Freeform 41"/>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8" name="Line 42"/>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 name="Line 43"/>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5" name="Line 44"/>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52" name="Group 45"/>
          <p:cNvGrpSpPr>
            <a:grpSpLocks/>
          </p:cNvGrpSpPr>
          <p:nvPr/>
        </p:nvGrpSpPr>
        <p:grpSpPr bwMode="auto">
          <a:xfrm>
            <a:off x="1900095" y="3154214"/>
            <a:ext cx="560690" cy="593753"/>
            <a:chOff x="246" y="1767"/>
            <a:chExt cx="557" cy="639"/>
          </a:xfrm>
        </p:grpSpPr>
        <p:grpSp>
          <p:nvGrpSpPr>
            <p:cNvPr id="53" name="Group 46"/>
            <p:cNvGrpSpPr>
              <a:grpSpLocks/>
            </p:cNvGrpSpPr>
            <p:nvPr/>
          </p:nvGrpSpPr>
          <p:grpSpPr bwMode="auto">
            <a:xfrm>
              <a:off x="246" y="1943"/>
              <a:ext cx="557" cy="463"/>
              <a:chOff x="246" y="1943"/>
              <a:chExt cx="557" cy="463"/>
            </a:xfrm>
          </p:grpSpPr>
          <p:sp>
            <p:nvSpPr>
              <p:cNvPr id="106" name="Freeform 47"/>
              <p:cNvSpPr>
                <a:spLocks/>
              </p:cNvSpPr>
              <p:nvPr/>
            </p:nvSpPr>
            <p:spPr bwMode="auto">
              <a:xfrm>
                <a:off x="373" y="2005"/>
                <a:ext cx="196" cy="295"/>
              </a:xfrm>
              <a:custGeom>
                <a:avLst/>
                <a:gdLst>
                  <a:gd name="T0" fmla="*/ 0 w 982"/>
                  <a:gd name="T1" fmla="*/ 0 h 1477"/>
                  <a:gd name="T2" fmla="*/ 0 w 982"/>
                  <a:gd name="T3" fmla="*/ 0 h 1477"/>
                  <a:gd name="T4" fmla="*/ 0 w 982"/>
                  <a:gd name="T5" fmla="*/ 0 h 1477"/>
                  <a:gd name="T6" fmla="*/ 0 w 982"/>
                  <a:gd name="T7" fmla="*/ 0 h 147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82" h="1477">
                    <a:moveTo>
                      <a:pt x="652" y="26"/>
                    </a:moveTo>
                    <a:lnTo>
                      <a:pt x="982" y="1347"/>
                    </a:lnTo>
                    <a:lnTo>
                      <a:pt x="0" y="1477"/>
                    </a:lnTo>
                    <a:lnTo>
                      <a:pt x="252" y="0"/>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07" name="Group 48"/>
              <p:cNvGrpSpPr>
                <a:grpSpLocks/>
              </p:cNvGrpSpPr>
              <p:nvPr/>
            </p:nvGrpSpPr>
            <p:grpSpPr bwMode="auto">
              <a:xfrm>
                <a:off x="246" y="1943"/>
                <a:ext cx="551" cy="121"/>
                <a:chOff x="246" y="1943"/>
                <a:chExt cx="551" cy="121"/>
              </a:xfrm>
            </p:grpSpPr>
            <p:sp>
              <p:nvSpPr>
                <p:cNvPr id="109" name="Freeform 49"/>
                <p:cNvSpPr>
                  <a:spLocks/>
                </p:cNvSpPr>
                <p:nvPr/>
              </p:nvSpPr>
              <p:spPr bwMode="auto">
                <a:xfrm>
                  <a:off x="246" y="1943"/>
                  <a:ext cx="551" cy="104"/>
                </a:xfrm>
                <a:custGeom>
                  <a:avLst/>
                  <a:gdLst>
                    <a:gd name="T0" fmla="*/ 0 w 2751"/>
                    <a:gd name="T1" fmla="*/ 0 h 522"/>
                    <a:gd name="T2" fmla="*/ 0 w 2751"/>
                    <a:gd name="T3" fmla="*/ 0 h 522"/>
                    <a:gd name="T4" fmla="*/ 0 w 2751"/>
                    <a:gd name="T5" fmla="*/ 0 h 522"/>
                    <a:gd name="T6" fmla="*/ 0 w 2751"/>
                    <a:gd name="T7" fmla="*/ 0 h 522"/>
                    <a:gd name="T8" fmla="*/ 0 w 2751"/>
                    <a:gd name="T9" fmla="*/ 0 h 5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751" h="522">
                      <a:moveTo>
                        <a:pt x="2751" y="270"/>
                      </a:moveTo>
                      <a:lnTo>
                        <a:pt x="1016" y="522"/>
                      </a:lnTo>
                      <a:lnTo>
                        <a:pt x="0" y="132"/>
                      </a:lnTo>
                      <a:lnTo>
                        <a:pt x="1302" y="0"/>
                      </a:lnTo>
                      <a:lnTo>
                        <a:pt x="2751" y="270"/>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0" name="Freeform 50"/>
                <p:cNvSpPr>
                  <a:spLocks/>
                </p:cNvSpPr>
                <p:nvPr/>
              </p:nvSpPr>
              <p:spPr bwMode="auto">
                <a:xfrm>
                  <a:off x="450" y="1997"/>
                  <a:ext cx="345" cy="67"/>
                </a:xfrm>
                <a:custGeom>
                  <a:avLst/>
                  <a:gdLst>
                    <a:gd name="T0" fmla="*/ 0 w 1728"/>
                    <a:gd name="T1" fmla="*/ 0 h 337"/>
                    <a:gd name="T2" fmla="*/ 0 w 1728"/>
                    <a:gd name="T3" fmla="*/ 0 h 337"/>
                    <a:gd name="T4" fmla="*/ 0 w 1728"/>
                    <a:gd name="T5" fmla="*/ 0 h 337"/>
                    <a:gd name="T6" fmla="*/ 0 w 1728"/>
                    <a:gd name="T7" fmla="*/ 0 h 337"/>
                    <a:gd name="T8" fmla="*/ 0 w 1728"/>
                    <a:gd name="T9" fmla="*/ 0 h 33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28" h="337">
                      <a:moveTo>
                        <a:pt x="1728" y="0"/>
                      </a:moveTo>
                      <a:lnTo>
                        <a:pt x="0" y="251"/>
                      </a:lnTo>
                      <a:lnTo>
                        <a:pt x="0" y="337"/>
                      </a:lnTo>
                      <a:lnTo>
                        <a:pt x="1728" y="88"/>
                      </a:lnTo>
                      <a:lnTo>
                        <a:pt x="1728" y="0"/>
                      </a:lnTo>
                      <a:close/>
                    </a:path>
                  </a:pathLst>
                </a:custGeom>
                <a:solidFill>
                  <a:srgbClr val="E0E0E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1" name="Freeform 51"/>
                <p:cNvSpPr>
                  <a:spLocks/>
                </p:cNvSpPr>
                <p:nvPr/>
              </p:nvSpPr>
              <p:spPr bwMode="auto">
                <a:xfrm>
                  <a:off x="246" y="1969"/>
                  <a:ext cx="204" cy="95"/>
                </a:xfrm>
                <a:custGeom>
                  <a:avLst/>
                  <a:gdLst>
                    <a:gd name="T0" fmla="*/ 0 w 1016"/>
                    <a:gd name="T1" fmla="*/ 0 h 476"/>
                    <a:gd name="T2" fmla="*/ 0 w 1016"/>
                    <a:gd name="T3" fmla="*/ 0 h 476"/>
                    <a:gd name="T4" fmla="*/ 0 w 1016"/>
                    <a:gd name="T5" fmla="*/ 0 h 476"/>
                    <a:gd name="T6" fmla="*/ 0 w 1016"/>
                    <a:gd name="T7" fmla="*/ 0 h 476"/>
                    <a:gd name="T8" fmla="*/ 0 w 1016"/>
                    <a:gd name="T9" fmla="*/ 0 h 47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16" h="476">
                      <a:moveTo>
                        <a:pt x="1016" y="476"/>
                      </a:moveTo>
                      <a:lnTo>
                        <a:pt x="1016" y="390"/>
                      </a:lnTo>
                      <a:lnTo>
                        <a:pt x="0" y="0"/>
                      </a:lnTo>
                      <a:lnTo>
                        <a:pt x="0" y="60"/>
                      </a:lnTo>
                      <a:lnTo>
                        <a:pt x="1016" y="47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08" name="Freeform 52"/>
              <p:cNvSpPr>
                <a:spLocks/>
              </p:cNvSpPr>
              <p:nvPr/>
            </p:nvSpPr>
            <p:spPr bwMode="auto">
              <a:xfrm>
                <a:off x="564" y="2028"/>
                <a:ext cx="239" cy="378"/>
              </a:xfrm>
              <a:custGeom>
                <a:avLst/>
                <a:gdLst>
                  <a:gd name="T0" fmla="*/ 0 w 1195"/>
                  <a:gd name="T1" fmla="*/ 0 h 1893"/>
                  <a:gd name="T2" fmla="*/ 0 w 1195"/>
                  <a:gd name="T3" fmla="*/ 0 h 1893"/>
                  <a:gd name="T4" fmla="*/ 0 w 1195"/>
                  <a:gd name="T5" fmla="*/ 0 h 1893"/>
                  <a:gd name="T6" fmla="*/ 0 w 1195"/>
                  <a:gd name="T7" fmla="*/ 0 h 18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95" h="1893">
                    <a:moveTo>
                      <a:pt x="660" y="0"/>
                    </a:moveTo>
                    <a:lnTo>
                      <a:pt x="1195" y="1747"/>
                    </a:lnTo>
                    <a:lnTo>
                      <a:pt x="0" y="1893"/>
                    </a:lnTo>
                    <a:lnTo>
                      <a:pt x="191" y="35"/>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4" name="Group 53"/>
            <p:cNvGrpSpPr>
              <a:grpSpLocks/>
            </p:cNvGrpSpPr>
            <p:nvPr/>
          </p:nvGrpSpPr>
          <p:grpSpPr bwMode="auto">
            <a:xfrm>
              <a:off x="325" y="1767"/>
              <a:ext cx="383" cy="268"/>
              <a:chOff x="325" y="1767"/>
              <a:chExt cx="383" cy="268"/>
            </a:xfrm>
          </p:grpSpPr>
          <p:grpSp>
            <p:nvGrpSpPr>
              <p:cNvPr id="55" name="Group 54"/>
              <p:cNvGrpSpPr>
                <a:grpSpLocks/>
              </p:cNvGrpSpPr>
              <p:nvPr/>
            </p:nvGrpSpPr>
            <p:grpSpPr bwMode="auto">
              <a:xfrm>
                <a:off x="412" y="1767"/>
                <a:ext cx="296" cy="243"/>
                <a:chOff x="412" y="1767"/>
                <a:chExt cx="296" cy="243"/>
              </a:xfrm>
            </p:grpSpPr>
            <p:grpSp>
              <p:nvGrpSpPr>
                <p:cNvPr id="88" name="Group 55"/>
                <p:cNvGrpSpPr>
                  <a:grpSpLocks/>
                </p:cNvGrpSpPr>
                <p:nvPr/>
              </p:nvGrpSpPr>
              <p:grpSpPr bwMode="auto">
                <a:xfrm>
                  <a:off x="412" y="1767"/>
                  <a:ext cx="296" cy="243"/>
                  <a:chOff x="412" y="1767"/>
                  <a:chExt cx="296" cy="243"/>
                </a:xfrm>
              </p:grpSpPr>
              <p:grpSp>
                <p:nvGrpSpPr>
                  <p:cNvPr id="97" name="Group 56"/>
                  <p:cNvGrpSpPr>
                    <a:grpSpLocks/>
                  </p:cNvGrpSpPr>
                  <p:nvPr/>
                </p:nvGrpSpPr>
                <p:grpSpPr bwMode="auto">
                  <a:xfrm>
                    <a:off x="412" y="1904"/>
                    <a:ext cx="296" cy="106"/>
                    <a:chOff x="412" y="1904"/>
                    <a:chExt cx="296" cy="106"/>
                  </a:xfrm>
                </p:grpSpPr>
                <p:sp>
                  <p:nvSpPr>
                    <p:cNvPr id="103" name="Freeform 57"/>
                    <p:cNvSpPr>
                      <a:spLocks/>
                    </p:cNvSpPr>
                    <p:nvPr/>
                  </p:nvSpPr>
                  <p:spPr bwMode="auto">
                    <a:xfrm>
                      <a:off x="412" y="1904"/>
                      <a:ext cx="170" cy="106"/>
                    </a:xfrm>
                    <a:custGeom>
                      <a:avLst/>
                      <a:gdLst>
                        <a:gd name="T0" fmla="*/ 0 w 848"/>
                        <a:gd name="T1" fmla="*/ 0 h 530"/>
                        <a:gd name="T2" fmla="*/ 0 w 848"/>
                        <a:gd name="T3" fmla="*/ 0 h 530"/>
                        <a:gd name="T4" fmla="*/ 0 w 848"/>
                        <a:gd name="T5" fmla="*/ 0 h 530"/>
                        <a:gd name="T6" fmla="*/ 0 w 848"/>
                        <a:gd name="T7" fmla="*/ 0 h 530"/>
                        <a:gd name="T8" fmla="*/ 0 w 848"/>
                        <a:gd name="T9" fmla="*/ 0 h 5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8" h="530">
                          <a:moveTo>
                            <a:pt x="848" y="162"/>
                          </a:moveTo>
                          <a:lnTo>
                            <a:pt x="848" y="530"/>
                          </a:lnTo>
                          <a:lnTo>
                            <a:pt x="0" y="258"/>
                          </a:lnTo>
                          <a:lnTo>
                            <a:pt x="0" y="0"/>
                          </a:lnTo>
                          <a:lnTo>
                            <a:pt x="848" y="162"/>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4" name="Freeform 58"/>
                    <p:cNvSpPr>
                      <a:spLocks/>
                    </p:cNvSpPr>
                    <p:nvPr/>
                  </p:nvSpPr>
                  <p:spPr bwMode="auto">
                    <a:xfrm>
                      <a:off x="582" y="1929"/>
                      <a:ext cx="126" cy="81"/>
                    </a:xfrm>
                    <a:custGeom>
                      <a:avLst/>
                      <a:gdLst>
                        <a:gd name="T0" fmla="*/ 0 w 631"/>
                        <a:gd name="T1" fmla="*/ 0 h 404"/>
                        <a:gd name="T2" fmla="*/ 0 w 631"/>
                        <a:gd name="T3" fmla="*/ 0 h 404"/>
                        <a:gd name="T4" fmla="*/ 0 w 631"/>
                        <a:gd name="T5" fmla="*/ 0 h 404"/>
                        <a:gd name="T6" fmla="*/ 0 w 631"/>
                        <a:gd name="T7" fmla="*/ 0 h 404"/>
                        <a:gd name="T8" fmla="*/ 0 w 631"/>
                        <a:gd name="T9" fmla="*/ 0 h 40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1" h="404">
                          <a:moveTo>
                            <a:pt x="0" y="36"/>
                          </a:moveTo>
                          <a:lnTo>
                            <a:pt x="0" y="404"/>
                          </a:lnTo>
                          <a:lnTo>
                            <a:pt x="631" y="312"/>
                          </a:lnTo>
                          <a:lnTo>
                            <a:pt x="631" y="0"/>
                          </a:lnTo>
                          <a:lnTo>
                            <a:pt x="0" y="36"/>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5" name="Freeform 59"/>
                    <p:cNvSpPr>
                      <a:spLocks/>
                    </p:cNvSpPr>
                    <p:nvPr/>
                  </p:nvSpPr>
                  <p:spPr bwMode="auto">
                    <a:xfrm>
                      <a:off x="412" y="1904"/>
                      <a:ext cx="296" cy="32"/>
                    </a:xfrm>
                    <a:custGeom>
                      <a:avLst/>
                      <a:gdLst>
                        <a:gd name="T0" fmla="*/ 0 w 1479"/>
                        <a:gd name="T1" fmla="*/ 0 h 162"/>
                        <a:gd name="T2" fmla="*/ 0 w 1479"/>
                        <a:gd name="T3" fmla="*/ 0 h 162"/>
                        <a:gd name="T4" fmla="*/ 0 w 1479"/>
                        <a:gd name="T5" fmla="*/ 0 h 162"/>
                        <a:gd name="T6" fmla="*/ 0 w 1479"/>
                        <a:gd name="T7" fmla="*/ 0 h 162"/>
                        <a:gd name="T8" fmla="*/ 0 w 1479"/>
                        <a:gd name="T9" fmla="*/ 0 h 16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479" h="162">
                          <a:moveTo>
                            <a:pt x="1479" y="126"/>
                          </a:moveTo>
                          <a:lnTo>
                            <a:pt x="842" y="162"/>
                          </a:lnTo>
                          <a:lnTo>
                            <a:pt x="0" y="0"/>
                          </a:lnTo>
                          <a:lnTo>
                            <a:pt x="619" y="0"/>
                          </a:lnTo>
                          <a:lnTo>
                            <a:pt x="1479" y="12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98" name="Freeform 60"/>
                  <p:cNvSpPr>
                    <a:spLocks/>
                  </p:cNvSpPr>
                  <p:nvPr/>
                </p:nvSpPr>
                <p:spPr bwMode="auto">
                  <a:xfrm>
                    <a:off x="504" y="1895"/>
                    <a:ext cx="108" cy="30"/>
                  </a:xfrm>
                  <a:custGeom>
                    <a:avLst/>
                    <a:gdLst>
                      <a:gd name="T0" fmla="*/ 0 w 538"/>
                      <a:gd name="T1" fmla="*/ 0 h 151"/>
                      <a:gd name="T2" fmla="*/ 0 w 538"/>
                      <a:gd name="T3" fmla="*/ 0 h 151"/>
                      <a:gd name="T4" fmla="*/ 0 w 538"/>
                      <a:gd name="T5" fmla="*/ 0 h 151"/>
                      <a:gd name="T6" fmla="*/ 0 w 538"/>
                      <a:gd name="T7" fmla="*/ 0 h 151"/>
                      <a:gd name="T8" fmla="*/ 0 w 538"/>
                      <a:gd name="T9" fmla="*/ 0 h 151"/>
                      <a:gd name="T10" fmla="*/ 0 w 538"/>
                      <a:gd name="T11" fmla="*/ 0 h 15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38" h="151">
                        <a:moveTo>
                          <a:pt x="538" y="86"/>
                        </a:moveTo>
                        <a:lnTo>
                          <a:pt x="538" y="135"/>
                        </a:lnTo>
                        <a:lnTo>
                          <a:pt x="287" y="151"/>
                        </a:lnTo>
                        <a:lnTo>
                          <a:pt x="0" y="97"/>
                        </a:lnTo>
                        <a:lnTo>
                          <a:pt x="0" y="0"/>
                        </a:lnTo>
                        <a:lnTo>
                          <a:pt x="538" y="86"/>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99" name="Group 61"/>
                  <p:cNvGrpSpPr>
                    <a:grpSpLocks/>
                  </p:cNvGrpSpPr>
                  <p:nvPr/>
                </p:nvGrpSpPr>
                <p:grpSpPr bwMode="auto">
                  <a:xfrm>
                    <a:off x="446" y="1767"/>
                    <a:ext cx="239" cy="151"/>
                    <a:chOff x="446" y="1767"/>
                    <a:chExt cx="239" cy="151"/>
                  </a:xfrm>
                </p:grpSpPr>
                <p:sp>
                  <p:nvSpPr>
                    <p:cNvPr id="100" name="Freeform 62"/>
                    <p:cNvSpPr>
                      <a:spLocks/>
                    </p:cNvSpPr>
                    <p:nvPr/>
                  </p:nvSpPr>
                  <p:spPr bwMode="auto">
                    <a:xfrm>
                      <a:off x="446" y="1767"/>
                      <a:ext cx="137" cy="148"/>
                    </a:xfrm>
                    <a:custGeom>
                      <a:avLst/>
                      <a:gdLst>
                        <a:gd name="T0" fmla="*/ 0 w 686"/>
                        <a:gd name="T1" fmla="*/ 0 h 740"/>
                        <a:gd name="T2" fmla="*/ 0 w 686"/>
                        <a:gd name="T3" fmla="*/ 0 h 740"/>
                        <a:gd name="T4" fmla="*/ 0 w 686"/>
                        <a:gd name="T5" fmla="*/ 0 h 740"/>
                        <a:gd name="T6" fmla="*/ 0 w 686"/>
                        <a:gd name="T7" fmla="*/ 0 h 740"/>
                        <a:gd name="T8" fmla="*/ 0 w 686"/>
                        <a:gd name="T9" fmla="*/ 0 h 7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6" h="740">
                          <a:moveTo>
                            <a:pt x="589" y="740"/>
                          </a:moveTo>
                          <a:lnTo>
                            <a:pt x="686" y="24"/>
                          </a:lnTo>
                          <a:lnTo>
                            <a:pt x="95" y="0"/>
                          </a:lnTo>
                          <a:lnTo>
                            <a:pt x="0" y="638"/>
                          </a:lnTo>
                          <a:lnTo>
                            <a:pt x="589" y="740"/>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1" name="Freeform 63"/>
                    <p:cNvSpPr>
                      <a:spLocks/>
                    </p:cNvSpPr>
                    <p:nvPr/>
                  </p:nvSpPr>
                  <p:spPr bwMode="auto">
                    <a:xfrm>
                      <a:off x="564" y="1771"/>
                      <a:ext cx="121" cy="147"/>
                    </a:xfrm>
                    <a:custGeom>
                      <a:avLst/>
                      <a:gdLst>
                        <a:gd name="T0" fmla="*/ 0 w 608"/>
                        <a:gd name="T1" fmla="*/ 0 h 735"/>
                        <a:gd name="T2" fmla="*/ 0 w 608"/>
                        <a:gd name="T3" fmla="*/ 0 h 735"/>
                        <a:gd name="T4" fmla="*/ 0 w 608"/>
                        <a:gd name="T5" fmla="*/ 0 h 735"/>
                        <a:gd name="T6" fmla="*/ 0 w 608"/>
                        <a:gd name="T7" fmla="*/ 0 h 735"/>
                        <a:gd name="T8" fmla="*/ 0 w 608"/>
                        <a:gd name="T9" fmla="*/ 0 h 7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8" h="735">
                          <a:moveTo>
                            <a:pt x="97" y="0"/>
                          </a:moveTo>
                          <a:lnTo>
                            <a:pt x="608" y="163"/>
                          </a:lnTo>
                          <a:lnTo>
                            <a:pt x="536" y="735"/>
                          </a:lnTo>
                          <a:lnTo>
                            <a:pt x="0" y="717"/>
                          </a:lnTo>
                          <a:lnTo>
                            <a:pt x="97" y="0"/>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2" name="Freeform 64"/>
                    <p:cNvSpPr>
                      <a:spLocks/>
                    </p:cNvSpPr>
                    <p:nvPr/>
                  </p:nvSpPr>
                  <p:spPr bwMode="auto">
                    <a:xfrm>
                      <a:off x="462" y="1781"/>
                      <a:ext cx="98" cy="112"/>
                    </a:xfrm>
                    <a:custGeom>
                      <a:avLst/>
                      <a:gdLst>
                        <a:gd name="T0" fmla="*/ 0 w 493"/>
                        <a:gd name="T1" fmla="*/ 0 h 557"/>
                        <a:gd name="T2" fmla="*/ 0 w 493"/>
                        <a:gd name="T3" fmla="*/ 0 h 557"/>
                        <a:gd name="T4" fmla="*/ 0 w 493"/>
                        <a:gd name="T5" fmla="*/ 0 h 557"/>
                        <a:gd name="T6" fmla="*/ 0 w 493"/>
                        <a:gd name="T7" fmla="*/ 0 h 557"/>
                        <a:gd name="T8" fmla="*/ 0 w 493"/>
                        <a:gd name="T9" fmla="*/ 0 h 5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93" h="557">
                          <a:moveTo>
                            <a:pt x="493" y="25"/>
                          </a:moveTo>
                          <a:lnTo>
                            <a:pt x="423" y="557"/>
                          </a:lnTo>
                          <a:lnTo>
                            <a:pt x="0" y="494"/>
                          </a:lnTo>
                          <a:lnTo>
                            <a:pt x="73" y="0"/>
                          </a:lnTo>
                          <a:lnTo>
                            <a:pt x="493" y="25"/>
                          </a:lnTo>
                          <a:close/>
                        </a:path>
                      </a:pathLst>
                    </a:custGeom>
                    <a:solidFill>
                      <a:srgbClr val="0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89" name="Group 65"/>
                <p:cNvGrpSpPr>
                  <a:grpSpLocks/>
                </p:cNvGrpSpPr>
                <p:nvPr/>
              </p:nvGrpSpPr>
              <p:grpSpPr bwMode="auto">
                <a:xfrm>
                  <a:off x="424" y="1915"/>
                  <a:ext cx="97" cy="69"/>
                  <a:chOff x="424" y="1915"/>
                  <a:chExt cx="97" cy="69"/>
                </a:xfrm>
              </p:grpSpPr>
              <p:sp>
                <p:nvSpPr>
                  <p:cNvPr id="90" name="Freeform 66"/>
                  <p:cNvSpPr>
                    <a:spLocks/>
                  </p:cNvSpPr>
                  <p:nvPr/>
                </p:nvSpPr>
                <p:spPr bwMode="auto">
                  <a:xfrm>
                    <a:off x="424" y="1915"/>
                    <a:ext cx="97" cy="69"/>
                  </a:xfrm>
                  <a:custGeom>
                    <a:avLst/>
                    <a:gdLst>
                      <a:gd name="T0" fmla="*/ 0 w 483"/>
                      <a:gd name="T1" fmla="*/ 0 h 346"/>
                      <a:gd name="T2" fmla="*/ 0 w 483"/>
                      <a:gd name="T3" fmla="*/ 0 h 346"/>
                      <a:gd name="T4" fmla="*/ 0 w 483"/>
                      <a:gd name="T5" fmla="*/ 0 h 346"/>
                      <a:gd name="T6" fmla="*/ 0 w 483"/>
                      <a:gd name="T7" fmla="*/ 0 h 346"/>
                      <a:gd name="T8" fmla="*/ 0 w 483"/>
                      <a:gd name="T9" fmla="*/ 0 h 34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3" h="346">
                        <a:moveTo>
                          <a:pt x="0" y="0"/>
                        </a:moveTo>
                        <a:lnTo>
                          <a:pt x="483" y="104"/>
                        </a:lnTo>
                        <a:lnTo>
                          <a:pt x="483" y="346"/>
                        </a:lnTo>
                        <a:lnTo>
                          <a:pt x="0" y="195"/>
                        </a:lnTo>
                        <a:lnTo>
                          <a:pt x="0" y="0"/>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1" name="Line 67"/>
                  <p:cNvSpPr>
                    <a:spLocks noChangeShapeType="1"/>
                  </p:cNvSpPr>
                  <p:nvPr/>
                </p:nvSpPr>
                <p:spPr bwMode="auto">
                  <a:xfrm flipH="1" flipV="1">
                    <a:off x="433" y="1933"/>
                    <a:ext cx="26" cy="6"/>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2" name="Line 68"/>
                  <p:cNvSpPr>
                    <a:spLocks noChangeShapeType="1"/>
                  </p:cNvSpPr>
                  <p:nvPr/>
                </p:nvSpPr>
                <p:spPr bwMode="auto">
                  <a:xfrm>
                    <a:off x="472" y="1941"/>
                    <a:ext cx="34" cy="7"/>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3" name="Line 69"/>
                  <p:cNvSpPr>
                    <a:spLocks noChangeShapeType="1"/>
                  </p:cNvSpPr>
                  <p:nvPr/>
                </p:nvSpPr>
                <p:spPr bwMode="auto">
                  <a:xfrm>
                    <a:off x="465" y="1924"/>
                    <a:ext cx="1" cy="45"/>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4" name="Line 70"/>
                  <p:cNvSpPr>
                    <a:spLocks noChangeShapeType="1"/>
                  </p:cNvSpPr>
                  <p:nvPr/>
                </p:nvSpPr>
                <p:spPr bwMode="auto">
                  <a:xfrm>
                    <a:off x="511" y="1934"/>
                    <a:ext cx="1" cy="49"/>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5" name="Line 71"/>
                  <p:cNvSpPr>
                    <a:spLocks noChangeShapeType="1"/>
                  </p:cNvSpPr>
                  <p:nvPr/>
                </p:nvSpPr>
                <p:spPr bwMode="auto">
                  <a:xfrm>
                    <a:off x="425" y="1933"/>
                    <a:ext cx="88" cy="22"/>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6" name="Line 72"/>
                  <p:cNvSpPr>
                    <a:spLocks noChangeShapeType="1"/>
                  </p:cNvSpPr>
                  <p:nvPr/>
                </p:nvSpPr>
                <p:spPr bwMode="auto">
                  <a:xfrm flipH="1" flipV="1">
                    <a:off x="424" y="1926"/>
                    <a:ext cx="89" cy="21"/>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56" name="Group 73"/>
              <p:cNvGrpSpPr>
                <a:grpSpLocks/>
              </p:cNvGrpSpPr>
              <p:nvPr/>
            </p:nvGrpSpPr>
            <p:grpSpPr bwMode="auto">
              <a:xfrm>
                <a:off x="325" y="1917"/>
                <a:ext cx="231" cy="118"/>
                <a:chOff x="325" y="1917"/>
                <a:chExt cx="231" cy="118"/>
              </a:xfrm>
            </p:grpSpPr>
            <p:grpSp>
              <p:nvGrpSpPr>
                <p:cNvPr id="57" name="Group 74"/>
                <p:cNvGrpSpPr>
                  <a:grpSpLocks/>
                </p:cNvGrpSpPr>
                <p:nvPr/>
              </p:nvGrpSpPr>
              <p:grpSpPr bwMode="auto">
                <a:xfrm>
                  <a:off x="504" y="1981"/>
                  <a:ext cx="37" cy="28"/>
                  <a:chOff x="504" y="1981"/>
                  <a:chExt cx="37" cy="28"/>
                </a:xfrm>
              </p:grpSpPr>
              <p:sp>
                <p:nvSpPr>
                  <p:cNvPr id="86" name="Freeform 75"/>
                  <p:cNvSpPr>
                    <a:spLocks/>
                  </p:cNvSpPr>
                  <p:nvPr/>
                </p:nvSpPr>
                <p:spPr bwMode="auto">
                  <a:xfrm>
                    <a:off x="531" y="1981"/>
                    <a:ext cx="10" cy="28"/>
                  </a:xfrm>
                  <a:custGeom>
                    <a:avLst/>
                    <a:gdLst>
                      <a:gd name="T0" fmla="*/ 0 w 53"/>
                      <a:gd name="T1" fmla="*/ 0 h 140"/>
                      <a:gd name="T2" fmla="*/ 0 w 53"/>
                      <a:gd name="T3" fmla="*/ 0 h 140"/>
                      <a:gd name="T4" fmla="*/ 0 w 53"/>
                      <a:gd name="T5" fmla="*/ 0 h 140"/>
                      <a:gd name="T6" fmla="*/ 0 w 53"/>
                      <a:gd name="T7" fmla="*/ 0 h 140"/>
                      <a:gd name="T8" fmla="*/ 0 w 53"/>
                      <a:gd name="T9" fmla="*/ 0 h 1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3" h="140">
                        <a:moveTo>
                          <a:pt x="37" y="0"/>
                        </a:moveTo>
                        <a:lnTo>
                          <a:pt x="53" y="131"/>
                        </a:lnTo>
                        <a:lnTo>
                          <a:pt x="14" y="140"/>
                        </a:lnTo>
                        <a:lnTo>
                          <a:pt x="0" y="6"/>
                        </a:lnTo>
                        <a:lnTo>
                          <a:pt x="3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7" name="Freeform 76"/>
                  <p:cNvSpPr>
                    <a:spLocks/>
                  </p:cNvSpPr>
                  <p:nvPr/>
                </p:nvSpPr>
                <p:spPr bwMode="auto">
                  <a:xfrm>
                    <a:off x="504" y="1985"/>
                    <a:ext cx="29" cy="24"/>
                  </a:xfrm>
                  <a:custGeom>
                    <a:avLst/>
                    <a:gdLst>
                      <a:gd name="T0" fmla="*/ 0 w 148"/>
                      <a:gd name="T1" fmla="*/ 0 h 122"/>
                      <a:gd name="T2" fmla="*/ 0 w 148"/>
                      <a:gd name="T3" fmla="*/ 0 h 122"/>
                      <a:gd name="T4" fmla="*/ 0 w 148"/>
                      <a:gd name="T5" fmla="*/ 0 h 122"/>
                      <a:gd name="T6" fmla="*/ 0 w 148"/>
                      <a:gd name="T7" fmla="*/ 0 h 122"/>
                      <a:gd name="T8" fmla="*/ 0 w 148"/>
                      <a:gd name="T9" fmla="*/ 0 h 122"/>
                      <a:gd name="T10" fmla="*/ 0 w 148"/>
                      <a:gd name="T11" fmla="*/ 0 h 122"/>
                      <a:gd name="T12" fmla="*/ 0 w 148"/>
                      <a:gd name="T13" fmla="*/ 0 h 1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48" h="122">
                        <a:moveTo>
                          <a:pt x="136" y="5"/>
                        </a:moveTo>
                        <a:lnTo>
                          <a:pt x="148" y="122"/>
                        </a:lnTo>
                        <a:lnTo>
                          <a:pt x="0" y="61"/>
                        </a:lnTo>
                        <a:lnTo>
                          <a:pt x="58" y="43"/>
                        </a:lnTo>
                        <a:lnTo>
                          <a:pt x="111" y="70"/>
                        </a:lnTo>
                        <a:lnTo>
                          <a:pt x="94" y="0"/>
                        </a:lnTo>
                        <a:lnTo>
                          <a:pt x="136" y="5"/>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8" name="Group 77"/>
                <p:cNvGrpSpPr>
                  <a:grpSpLocks/>
                </p:cNvGrpSpPr>
                <p:nvPr/>
              </p:nvGrpSpPr>
              <p:grpSpPr bwMode="auto">
                <a:xfrm>
                  <a:off x="325" y="1917"/>
                  <a:ext cx="231" cy="118"/>
                  <a:chOff x="325" y="1917"/>
                  <a:chExt cx="231" cy="118"/>
                </a:xfrm>
              </p:grpSpPr>
              <p:sp>
                <p:nvSpPr>
                  <p:cNvPr id="59" name="Freeform 78"/>
                  <p:cNvSpPr>
                    <a:spLocks/>
                  </p:cNvSpPr>
                  <p:nvPr/>
                </p:nvSpPr>
                <p:spPr bwMode="auto">
                  <a:xfrm>
                    <a:off x="326" y="1917"/>
                    <a:ext cx="226" cy="105"/>
                  </a:xfrm>
                  <a:custGeom>
                    <a:avLst/>
                    <a:gdLst>
                      <a:gd name="T0" fmla="*/ 0 w 1132"/>
                      <a:gd name="T1" fmla="*/ 0 h 525"/>
                      <a:gd name="T2" fmla="*/ 0 w 1132"/>
                      <a:gd name="T3" fmla="*/ 0 h 525"/>
                      <a:gd name="T4" fmla="*/ 0 w 1132"/>
                      <a:gd name="T5" fmla="*/ 0 h 525"/>
                      <a:gd name="T6" fmla="*/ 0 w 1132"/>
                      <a:gd name="T7" fmla="*/ 0 h 525"/>
                      <a:gd name="T8" fmla="*/ 0 w 1132"/>
                      <a:gd name="T9" fmla="*/ 0 h 5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32" h="525">
                        <a:moveTo>
                          <a:pt x="1132" y="223"/>
                        </a:moveTo>
                        <a:lnTo>
                          <a:pt x="589" y="525"/>
                        </a:lnTo>
                        <a:lnTo>
                          <a:pt x="0" y="230"/>
                        </a:lnTo>
                        <a:lnTo>
                          <a:pt x="452" y="0"/>
                        </a:lnTo>
                        <a:lnTo>
                          <a:pt x="1132" y="223"/>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0" name="Freeform 79"/>
                  <p:cNvSpPr>
                    <a:spLocks/>
                  </p:cNvSpPr>
                  <p:nvPr/>
                </p:nvSpPr>
                <p:spPr bwMode="auto">
                  <a:xfrm>
                    <a:off x="443" y="1961"/>
                    <a:ext cx="113" cy="74"/>
                  </a:xfrm>
                  <a:custGeom>
                    <a:avLst/>
                    <a:gdLst>
                      <a:gd name="T0" fmla="*/ 0 w 566"/>
                      <a:gd name="T1" fmla="*/ 0 h 371"/>
                      <a:gd name="T2" fmla="*/ 0 w 566"/>
                      <a:gd name="T3" fmla="*/ 0 h 371"/>
                      <a:gd name="T4" fmla="*/ 0 w 566"/>
                      <a:gd name="T5" fmla="*/ 0 h 371"/>
                      <a:gd name="T6" fmla="*/ 0 w 566"/>
                      <a:gd name="T7" fmla="*/ 0 h 371"/>
                      <a:gd name="T8" fmla="*/ 0 w 566"/>
                      <a:gd name="T9" fmla="*/ 0 h 3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6" h="371">
                        <a:moveTo>
                          <a:pt x="547" y="0"/>
                        </a:moveTo>
                        <a:lnTo>
                          <a:pt x="0" y="307"/>
                        </a:lnTo>
                        <a:lnTo>
                          <a:pt x="16" y="371"/>
                        </a:lnTo>
                        <a:lnTo>
                          <a:pt x="566" y="60"/>
                        </a:lnTo>
                        <a:lnTo>
                          <a:pt x="54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1" name="Freeform 80"/>
                  <p:cNvSpPr>
                    <a:spLocks/>
                  </p:cNvSpPr>
                  <p:nvPr/>
                </p:nvSpPr>
                <p:spPr bwMode="auto">
                  <a:xfrm>
                    <a:off x="325" y="1963"/>
                    <a:ext cx="121" cy="72"/>
                  </a:xfrm>
                  <a:custGeom>
                    <a:avLst/>
                    <a:gdLst>
                      <a:gd name="T0" fmla="*/ 0 w 605"/>
                      <a:gd name="T1" fmla="*/ 0 h 363"/>
                      <a:gd name="T2" fmla="*/ 0 w 605"/>
                      <a:gd name="T3" fmla="*/ 0 h 363"/>
                      <a:gd name="T4" fmla="*/ 0 w 605"/>
                      <a:gd name="T5" fmla="*/ 0 h 363"/>
                      <a:gd name="T6" fmla="*/ 0 w 605"/>
                      <a:gd name="T7" fmla="*/ 0 h 363"/>
                      <a:gd name="T8" fmla="*/ 0 w 605"/>
                      <a:gd name="T9" fmla="*/ 0 h 3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5" h="363">
                        <a:moveTo>
                          <a:pt x="605" y="363"/>
                        </a:moveTo>
                        <a:lnTo>
                          <a:pt x="587" y="295"/>
                        </a:lnTo>
                        <a:lnTo>
                          <a:pt x="0" y="0"/>
                        </a:lnTo>
                        <a:lnTo>
                          <a:pt x="21" y="53"/>
                        </a:lnTo>
                        <a:lnTo>
                          <a:pt x="605" y="36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2" name="Freeform 81"/>
                  <p:cNvSpPr>
                    <a:spLocks/>
                  </p:cNvSpPr>
                  <p:nvPr/>
                </p:nvSpPr>
                <p:spPr bwMode="auto">
                  <a:xfrm>
                    <a:off x="417" y="1966"/>
                    <a:ext cx="90" cy="46"/>
                  </a:xfrm>
                  <a:custGeom>
                    <a:avLst/>
                    <a:gdLst>
                      <a:gd name="T0" fmla="*/ 0 w 454"/>
                      <a:gd name="T1" fmla="*/ 0 h 230"/>
                      <a:gd name="T2" fmla="*/ 0 w 454"/>
                      <a:gd name="T3" fmla="*/ 0 h 230"/>
                      <a:gd name="T4" fmla="*/ 0 w 454"/>
                      <a:gd name="T5" fmla="*/ 0 h 230"/>
                      <a:gd name="T6" fmla="*/ 0 w 454"/>
                      <a:gd name="T7" fmla="*/ 0 h 230"/>
                      <a:gd name="T8" fmla="*/ 0 w 454"/>
                      <a:gd name="T9" fmla="*/ 0 h 2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54" h="230">
                        <a:moveTo>
                          <a:pt x="454" y="59"/>
                        </a:moveTo>
                        <a:lnTo>
                          <a:pt x="297" y="0"/>
                        </a:lnTo>
                        <a:lnTo>
                          <a:pt x="0" y="161"/>
                        </a:lnTo>
                        <a:lnTo>
                          <a:pt x="151" y="230"/>
                        </a:lnTo>
                        <a:lnTo>
                          <a:pt x="454" y="5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3" name="Freeform 82"/>
                  <p:cNvSpPr>
                    <a:spLocks/>
                  </p:cNvSpPr>
                  <p:nvPr/>
                </p:nvSpPr>
                <p:spPr bwMode="auto">
                  <a:xfrm>
                    <a:off x="336" y="1934"/>
                    <a:ext cx="134" cy="61"/>
                  </a:xfrm>
                  <a:custGeom>
                    <a:avLst/>
                    <a:gdLst>
                      <a:gd name="T0" fmla="*/ 0 w 669"/>
                      <a:gd name="T1" fmla="*/ 0 h 309"/>
                      <a:gd name="T2" fmla="*/ 0 w 669"/>
                      <a:gd name="T3" fmla="*/ 0 h 309"/>
                      <a:gd name="T4" fmla="*/ 0 w 669"/>
                      <a:gd name="T5" fmla="*/ 0 h 309"/>
                      <a:gd name="T6" fmla="*/ 0 w 669"/>
                      <a:gd name="T7" fmla="*/ 0 h 309"/>
                      <a:gd name="T8" fmla="*/ 0 w 669"/>
                      <a:gd name="T9" fmla="*/ 0 h 30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69" h="309">
                        <a:moveTo>
                          <a:pt x="669" y="150"/>
                        </a:moveTo>
                        <a:lnTo>
                          <a:pt x="377" y="309"/>
                        </a:lnTo>
                        <a:lnTo>
                          <a:pt x="0" y="132"/>
                        </a:lnTo>
                        <a:lnTo>
                          <a:pt x="273" y="0"/>
                        </a:lnTo>
                        <a:lnTo>
                          <a:pt x="669" y="15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4" name="Freeform 83"/>
                  <p:cNvSpPr>
                    <a:spLocks/>
                  </p:cNvSpPr>
                  <p:nvPr/>
                </p:nvSpPr>
                <p:spPr bwMode="auto">
                  <a:xfrm>
                    <a:off x="393" y="1920"/>
                    <a:ext cx="148" cy="57"/>
                  </a:xfrm>
                  <a:custGeom>
                    <a:avLst/>
                    <a:gdLst>
                      <a:gd name="T0" fmla="*/ 0 w 738"/>
                      <a:gd name="T1" fmla="*/ 0 h 283"/>
                      <a:gd name="T2" fmla="*/ 0 w 738"/>
                      <a:gd name="T3" fmla="*/ 0 h 283"/>
                      <a:gd name="T4" fmla="*/ 0 w 738"/>
                      <a:gd name="T5" fmla="*/ 0 h 283"/>
                      <a:gd name="T6" fmla="*/ 0 w 738"/>
                      <a:gd name="T7" fmla="*/ 0 h 283"/>
                      <a:gd name="T8" fmla="*/ 0 w 738"/>
                      <a:gd name="T9" fmla="*/ 0 h 28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38" h="283">
                        <a:moveTo>
                          <a:pt x="584" y="283"/>
                        </a:moveTo>
                        <a:lnTo>
                          <a:pt x="738" y="205"/>
                        </a:lnTo>
                        <a:lnTo>
                          <a:pt x="118" y="0"/>
                        </a:lnTo>
                        <a:lnTo>
                          <a:pt x="0" y="60"/>
                        </a:lnTo>
                        <a:lnTo>
                          <a:pt x="584" y="2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5" name="Line 84"/>
                  <p:cNvSpPr>
                    <a:spLocks noChangeShapeType="1"/>
                  </p:cNvSpPr>
                  <p:nvPr/>
                </p:nvSpPr>
                <p:spPr bwMode="auto">
                  <a:xfrm flipH="1" flipV="1">
                    <a:off x="411" y="1923"/>
                    <a:ext cx="128" cy="4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6" name="Line 85"/>
                  <p:cNvSpPr>
                    <a:spLocks noChangeShapeType="1"/>
                  </p:cNvSpPr>
                  <p:nvPr/>
                </p:nvSpPr>
                <p:spPr bwMode="auto">
                  <a:xfrm flipH="1" flipV="1">
                    <a:off x="404" y="1925"/>
                    <a:ext cx="124" cy="45"/>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7" name="Line 86"/>
                  <p:cNvSpPr>
                    <a:spLocks noChangeShapeType="1"/>
                  </p:cNvSpPr>
                  <p:nvPr/>
                </p:nvSpPr>
                <p:spPr bwMode="auto">
                  <a:xfrm flipH="1" flipV="1">
                    <a:off x="399" y="1930"/>
                    <a:ext cx="121" cy="46"/>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8" name="Line 87"/>
                  <p:cNvSpPr>
                    <a:spLocks noChangeShapeType="1"/>
                  </p:cNvSpPr>
                  <p:nvPr/>
                </p:nvSpPr>
                <p:spPr bwMode="auto">
                  <a:xfrm flipH="1" flipV="1">
                    <a:off x="384" y="1937"/>
                    <a:ext cx="119"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9" name="Line 88"/>
                  <p:cNvSpPr>
                    <a:spLocks noChangeShapeType="1"/>
                  </p:cNvSpPr>
                  <p:nvPr/>
                </p:nvSpPr>
                <p:spPr bwMode="auto">
                  <a:xfrm flipH="1" flipV="1">
                    <a:off x="375" y="1942"/>
                    <a:ext cx="118"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0" name="Line 89"/>
                  <p:cNvSpPr>
                    <a:spLocks noChangeShapeType="1"/>
                  </p:cNvSpPr>
                  <p:nvPr/>
                </p:nvSpPr>
                <p:spPr bwMode="auto">
                  <a:xfrm flipH="1" flipV="1">
                    <a:off x="365" y="1946"/>
                    <a:ext cx="119"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1" name="Line 90"/>
                  <p:cNvSpPr>
                    <a:spLocks noChangeShapeType="1"/>
                  </p:cNvSpPr>
                  <p:nvPr/>
                </p:nvSpPr>
                <p:spPr bwMode="auto">
                  <a:xfrm flipH="1" flipV="1">
                    <a:off x="358" y="1951"/>
                    <a:ext cx="114" cy="50"/>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2" name="Line 91"/>
                  <p:cNvSpPr>
                    <a:spLocks noChangeShapeType="1"/>
                  </p:cNvSpPr>
                  <p:nvPr/>
                </p:nvSpPr>
                <p:spPr bwMode="auto">
                  <a:xfrm flipH="1" flipV="1">
                    <a:off x="347" y="1956"/>
                    <a:ext cx="114"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3" name="Line 92"/>
                  <p:cNvSpPr>
                    <a:spLocks noChangeShapeType="1"/>
                  </p:cNvSpPr>
                  <p:nvPr/>
                </p:nvSpPr>
                <p:spPr bwMode="auto">
                  <a:xfrm flipH="1">
                    <a:off x="437" y="1974"/>
                    <a:ext cx="61" cy="3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4" name="Line 93"/>
                  <p:cNvSpPr>
                    <a:spLocks noChangeShapeType="1"/>
                  </p:cNvSpPr>
                  <p:nvPr/>
                </p:nvSpPr>
                <p:spPr bwMode="auto">
                  <a:xfrm flipH="1">
                    <a:off x="426" y="1970"/>
                    <a:ext cx="58" cy="32"/>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5" name="Line 94"/>
                  <p:cNvSpPr>
                    <a:spLocks noChangeShapeType="1"/>
                  </p:cNvSpPr>
                  <p:nvPr/>
                </p:nvSpPr>
                <p:spPr bwMode="auto">
                  <a:xfrm flipH="1">
                    <a:off x="401" y="1959"/>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6" name="Line 95"/>
                  <p:cNvSpPr>
                    <a:spLocks noChangeShapeType="1"/>
                  </p:cNvSpPr>
                  <p:nvPr/>
                </p:nvSpPr>
                <p:spPr bwMode="auto">
                  <a:xfrm flipH="1">
                    <a:off x="387" y="1954"/>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7" name="Line 96"/>
                  <p:cNvSpPr>
                    <a:spLocks noChangeShapeType="1"/>
                  </p:cNvSpPr>
                  <p:nvPr/>
                </p:nvSpPr>
                <p:spPr bwMode="auto">
                  <a:xfrm flipH="1">
                    <a:off x="375" y="1949"/>
                    <a:ext cx="56"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8" name="Line 97"/>
                  <p:cNvSpPr>
                    <a:spLocks noChangeShapeType="1"/>
                  </p:cNvSpPr>
                  <p:nvPr/>
                </p:nvSpPr>
                <p:spPr bwMode="auto">
                  <a:xfrm flipH="1">
                    <a:off x="364" y="1944"/>
                    <a:ext cx="53"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9" name="Line 98"/>
                  <p:cNvSpPr>
                    <a:spLocks noChangeShapeType="1"/>
                  </p:cNvSpPr>
                  <p:nvPr/>
                </p:nvSpPr>
                <p:spPr bwMode="auto">
                  <a:xfrm flipH="1">
                    <a:off x="352" y="1939"/>
                    <a:ext cx="55"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0" name="Line 99"/>
                  <p:cNvSpPr>
                    <a:spLocks noChangeShapeType="1"/>
                  </p:cNvSpPr>
                  <p:nvPr/>
                </p:nvSpPr>
                <p:spPr bwMode="auto">
                  <a:xfrm flipH="1">
                    <a:off x="494" y="1955"/>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1" name="Line 100"/>
                  <p:cNvSpPr>
                    <a:spLocks noChangeShapeType="1"/>
                  </p:cNvSpPr>
                  <p:nvPr/>
                </p:nvSpPr>
                <p:spPr bwMode="auto">
                  <a:xfrm flipH="1">
                    <a:off x="477" y="1949"/>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2" name="Line 101"/>
                  <p:cNvSpPr>
                    <a:spLocks noChangeShapeType="1"/>
                  </p:cNvSpPr>
                  <p:nvPr/>
                </p:nvSpPr>
                <p:spPr bwMode="auto">
                  <a:xfrm flipH="1">
                    <a:off x="460" y="1943"/>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3" name="Line 102"/>
                  <p:cNvSpPr>
                    <a:spLocks noChangeShapeType="1"/>
                  </p:cNvSpPr>
                  <p:nvPr/>
                </p:nvSpPr>
                <p:spPr bwMode="auto">
                  <a:xfrm flipH="1">
                    <a:off x="443" y="1937"/>
                    <a:ext cx="27"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4" name="Line 103"/>
                  <p:cNvSpPr>
                    <a:spLocks noChangeShapeType="1"/>
                  </p:cNvSpPr>
                  <p:nvPr/>
                </p:nvSpPr>
                <p:spPr bwMode="auto">
                  <a:xfrm flipH="1">
                    <a:off x="427" y="1931"/>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5" name="Line 104"/>
                  <p:cNvSpPr>
                    <a:spLocks noChangeShapeType="1"/>
                  </p:cNvSpPr>
                  <p:nvPr/>
                </p:nvSpPr>
                <p:spPr bwMode="auto">
                  <a:xfrm flipH="1">
                    <a:off x="408" y="1925"/>
                    <a:ext cx="24"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grpSp>
        <p:nvGrpSpPr>
          <p:cNvPr id="112" name="Group 105"/>
          <p:cNvGrpSpPr>
            <a:grpSpLocks/>
          </p:cNvGrpSpPr>
          <p:nvPr/>
        </p:nvGrpSpPr>
        <p:grpSpPr bwMode="auto">
          <a:xfrm>
            <a:off x="1941367" y="3251778"/>
            <a:ext cx="55364" cy="100353"/>
            <a:chOff x="287" y="1872"/>
            <a:chExt cx="55" cy="108"/>
          </a:xfrm>
        </p:grpSpPr>
        <p:sp>
          <p:nvSpPr>
            <p:cNvPr id="113" name="Freeform 106"/>
            <p:cNvSpPr>
              <a:spLocks/>
            </p:cNvSpPr>
            <p:nvPr/>
          </p:nvSpPr>
          <p:spPr bwMode="auto">
            <a:xfrm>
              <a:off x="287" y="1872"/>
              <a:ext cx="55" cy="108"/>
            </a:xfrm>
            <a:custGeom>
              <a:avLst/>
              <a:gdLst>
                <a:gd name="T0" fmla="*/ 0 w 276"/>
                <a:gd name="T1" fmla="*/ 0 h 540"/>
                <a:gd name="T2" fmla="*/ 0 w 276"/>
                <a:gd name="T3" fmla="*/ 0 h 540"/>
                <a:gd name="T4" fmla="*/ 0 w 276"/>
                <a:gd name="T5" fmla="*/ 0 h 540"/>
                <a:gd name="T6" fmla="*/ 0 w 276"/>
                <a:gd name="T7" fmla="*/ 0 h 540"/>
                <a:gd name="T8" fmla="*/ 0 w 276"/>
                <a:gd name="T9" fmla="*/ 0 h 540"/>
                <a:gd name="T10" fmla="*/ 0 w 276"/>
                <a:gd name="T11" fmla="*/ 0 h 540"/>
                <a:gd name="T12" fmla="*/ 0 w 276"/>
                <a:gd name="T13" fmla="*/ 0 h 540"/>
                <a:gd name="T14" fmla="*/ 0 w 276"/>
                <a:gd name="T15" fmla="*/ 0 h 540"/>
                <a:gd name="T16" fmla="*/ 0 w 276"/>
                <a:gd name="T17" fmla="*/ 0 h 540"/>
                <a:gd name="T18" fmla="*/ 0 w 276"/>
                <a:gd name="T19" fmla="*/ 0 h 540"/>
                <a:gd name="T20" fmla="*/ 0 w 276"/>
                <a:gd name="T21" fmla="*/ 0 h 540"/>
                <a:gd name="T22" fmla="*/ 0 w 276"/>
                <a:gd name="T23" fmla="*/ 0 h 54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76" h="540">
                  <a:moveTo>
                    <a:pt x="0" y="192"/>
                  </a:moveTo>
                  <a:lnTo>
                    <a:pt x="53" y="121"/>
                  </a:lnTo>
                  <a:lnTo>
                    <a:pt x="104" y="84"/>
                  </a:lnTo>
                  <a:lnTo>
                    <a:pt x="125" y="30"/>
                  </a:lnTo>
                  <a:lnTo>
                    <a:pt x="137" y="6"/>
                  </a:lnTo>
                  <a:lnTo>
                    <a:pt x="195" y="0"/>
                  </a:lnTo>
                  <a:lnTo>
                    <a:pt x="276" y="45"/>
                  </a:lnTo>
                  <a:lnTo>
                    <a:pt x="255" y="143"/>
                  </a:lnTo>
                  <a:lnTo>
                    <a:pt x="232" y="198"/>
                  </a:lnTo>
                  <a:lnTo>
                    <a:pt x="179" y="365"/>
                  </a:lnTo>
                  <a:lnTo>
                    <a:pt x="92" y="540"/>
                  </a:lnTo>
                  <a:lnTo>
                    <a:pt x="0" y="192"/>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4" name="Freeform 107"/>
            <p:cNvSpPr>
              <a:spLocks/>
            </p:cNvSpPr>
            <p:nvPr/>
          </p:nvSpPr>
          <p:spPr bwMode="auto">
            <a:xfrm>
              <a:off x="296" y="1880"/>
              <a:ext cx="43" cy="77"/>
            </a:xfrm>
            <a:custGeom>
              <a:avLst/>
              <a:gdLst>
                <a:gd name="T0" fmla="*/ 0 w 216"/>
                <a:gd name="T1" fmla="*/ 0 h 385"/>
                <a:gd name="T2" fmla="*/ 0 w 216"/>
                <a:gd name="T3" fmla="*/ 0 h 385"/>
                <a:gd name="T4" fmla="*/ 0 w 216"/>
                <a:gd name="T5" fmla="*/ 0 h 385"/>
                <a:gd name="T6" fmla="*/ 0 w 216"/>
                <a:gd name="T7" fmla="*/ 0 h 385"/>
                <a:gd name="T8" fmla="*/ 0 w 216"/>
                <a:gd name="T9" fmla="*/ 0 h 385"/>
                <a:gd name="T10" fmla="*/ 0 w 216"/>
                <a:gd name="T11" fmla="*/ 0 h 385"/>
                <a:gd name="T12" fmla="*/ 0 w 216"/>
                <a:gd name="T13" fmla="*/ 0 h 385"/>
                <a:gd name="T14" fmla="*/ 0 w 216"/>
                <a:gd name="T15" fmla="*/ 0 h 385"/>
                <a:gd name="T16" fmla="*/ 0 w 216"/>
                <a:gd name="T17" fmla="*/ 0 h 385"/>
                <a:gd name="T18" fmla="*/ 0 w 216"/>
                <a:gd name="T19" fmla="*/ 0 h 385"/>
                <a:gd name="T20" fmla="*/ 0 w 216"/>
                <a:gd name="T21" fmla="*/ 0 h 385"/>
                <a:gd name="T22" fmla="*/ 0 w 216"/>
                <a:gd name="T23" fmla="*/ 0 h 385"/>
                <a:gd name="T24" fmla="*/ 0 w 216"/>
                <a:gd name="T25" fmla="*/ 0 h 385"/>
                <a:gd name="T26" fmla="*/ 0 w 216"/>
                <a:gd name="T27" fmla="*/ 0 h 385"/>
                <a:gd name="T28" fmla="*/ 0 w 216"/>
                <a:gd name="T29" fmla="*/ 0 h 385"/>
                <a:gd name="T30" fmla="*/ 0 w 216"/>
                <a:gd name="T31" fmla="*/ 0 h 385"/>
                <a:gd name="T32" fmla="*/ 0 w 216"/>
                <a:gd name="T33" fmla="*/ 0 h 385"/>
                <a:gd name="T34" fmla="*/ 0 w 216"/>
                <a:gd name="T35" fmla="*/ 0 h 385"/>
                <a:gd name="T36" fmla="*/ 0 w 216"/>
                <a:gd name="T37" fmla="*/ 0 h 385"/>
                <a:gd name="T38" fmla="*/ 0 w 216"/>
                <a:gd name="T39" fmla="*/ 0 h 385"/>
                <a:gd name="T40" fmla="*/ 0 w 216"/>
                <a:gd name="T41" fmla="*/ 0 h 385"/>
                <a:gd name="T42" fmla="*/ 0 w 216"/>
                <a:gd name="T43" fmla="*/ 0 h 385"/>
                <a:gd name="T44" fmla="*/ 0 w 216"/>
                <a:gd name="T45" fmla="*/ 0 h 385"/>
                <a:gd name="T46" fmla="*/ 0 w 216"/>
                <a:gd name="T47" fmla="*/ 0 h 385"/>
                <a:gd name="T48" fmla="*/ 0 w 216"/>
                <a:gd name="T49" fmla="*/ 0 h 385"/>
                <a:gd name="T50" fmla="*/ 0 w 216"/>
                <a:gd name="T51" fmla="*/ 0 h 385"/>
                <a:gd name="T52" fmla="*/ 0 w 216"/>
                <a:gd name="T53" fmla="*/ 0 h 385"/>
                <a:gd name="T54" fmla="*/ 0 w 216"/>
                <a:gd name="T55" fmla="*/ 0 h 385"/>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216" h="385">
                  <a:moveTo>
                    <a:pt x="91" y="0"/>
                  </a:moveTo>
                  <a:lnTo>
                    <a:pt x="115" y="25"/>
                  </a:lnTo>
                  <a:lnTo>
                    <a:pt x="165" y="46"/>
                  </a:lnTo>
                  <a:lnTo>
                    <a:pt x="216" y="44"/>
                  </a:lnTo>
                  <a:lnTo>
                    <a:pt x="185" y="132"/>
                  </a:lnTo>
                  <a:lnTo>
                    <a:pt x="147" y="128"/>
                  </a:lnTo>
                  <a:lnTo>
                    <a:pt x="118" y="112"/>
                  </a:lnTo>
                  <a:lnTo>
                    <a:pt x="134" y="138"/>
                  </a:lnTo>
                  <a:lnTo>
                    <a:pt x="177" y="146"/>
                  </a:lnTo>
                  <a:lnTo>
                    <a:pt x="145" y="242"/>
                  </a:lnTo>
                  <a:lnTo>
                    <a:pt x="124" y="312"/>
                  </a:lnTo>
                  <a:lnTo>
                    <a:pt x="115" y="271"/>
                  </a:lnTo>
                  <a:lnTo>
                    <a:pt x="103" y="197"/>
                  </a:lnTo>
                  <a:lnTo>
                    <a:pt x="102" y="155"/>
                  </a:lnTo>
                  <a:lnTo>
                    <a:pt x="94" y="173"/>
                  </a:lnTo>
                  <a:lnTo>
                    <a:pt x="94" y="222"/>
                  </a:lnTo>
                  <a:lnTo>
                    <a:pt x="103" y="290"/>
                  </a:lnTo>
                  <a:lnTo>
                    <a:pt x="110" y="333"/>
                  </a:lnTo>
                  <a:lnTo>
                    <a:pt x="91" y="385"/>
                  </a:lnTo>
                  <a:lnTo>
                    <a:pt x="55" y="250"/>
                  </a:lnTo>
                  <a:lnTo>
                    <a:pt x="39" y="204"/>
                  </a:lnTo>
                  <a:lnTo>
                    <a:pt x="12" y="135"/>
                  </a:lnTo>
                  <a:lnTo>
                    <a:pt x="0" y="115"/>
                  </a:lnTo>
                  <a:lnTo>
                    <a:pt x="16" y="88"/>
                  </a:lnTo>
                  <a:lnTo>
                    <a:pt x="64" y="64"/>
                  </a:lnTo>
                  <a:lnTo>
                    <a:pt x="81" y="87"/>
                  </a:lnTo>
                  <a:lnTo>
                    <a:pt x="71" y="46"/>
                  </a:lnTo>
                  <a:lnTo>
                    <a:pt x="9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15" name="Group 108"/>
          <p:cNvGrpSpPr>
            <a:grpSpLocks/>
          </p:cNvGrpSpPr>
          <p:nvPr/>
        </p:nvGrpSpPr>
        <p:grpSpPr bwMode="auto">
          <a:xfrm>
            <a:off x="1932308" y="3194169"/>
            <a:ext cx="70463" cy="70619"/>
            <a:chOff x="278" y="1810"/>
            <a:chExt cx="70" cy="76"/>
          </a:xfrm>
        </p:grpSpPr>
        <p:sp>
          <p:nvSpPr>
            <p:cNvPr id="116" name="Freeform 109"/>
            <p:cNvSpPr>
              <a:spLocks/>
            </p:cNvSpPr>
            <p:nvPr/>
          </p:nvSpPr>
          <p:spPr bwMode="auto">
            <a:xfrm>
              <a:off x="297" y="1815"/>
              <a:ext cx="51" cy="71"/>
            </a:xfrm>
            <a:custGeom>
              <a:avLst/>
              <a:gdLst>
                <a:gd name="T0" fmla="*/ 0 w 256"/>
                <a:gd name="T1" fmla="*/ 0 h 356"/>
                <a:gd name="T2" fmla="*/ 0 w 256"/>
                <a:gd name="T3" fmla="*/ 0 h 356"/>
                <a:gd name="T4" fmla="*/ 0 w 256"/>
                <a:gd name="T5" fmla="*/ 0 h 356"/>
                <a:gd name="T6" fmla="*/ 0 w 256"/>
                <a:gd name="T7" fmla="*/ 0 h 356"/>
                <a:gd name="T8" fmla="*/ 0 w 256"/>
                <a:gd name="T9" fmla="*/ 0 h 356"/>
                <a:gd name="T10" fmla="*/ 0 w 256"/>
                <a:gd name="T11" fmla="*/ 0 h 356"/>
                <a:gd name="T12" fmla="*/ 0 w 256"/>
                <a:gd name="T13" fmla="*/ 0 h 356"/>
                <a:gd name="T14" fmla="*/ 0 w 256"/>
                <a:gd name="T15" fmla="*/ 0 h 356"/>
                <a:gd name="T16" fmla="*/ 0 w 256"/>
                <a:gd name="T17" fmla="*/ 0 h 356"/>
                <a:gd name="T18" fmla="*/ 0 w 256"/>
                <a:gd name="T19" fmla="*/ 0 h 356"/>
                <a:gd name="T20" fmla="*/ 0 w 256"/>
                <a:gd name="T21" fmla="*/ 0 h 356"/>
                <a:gd name="T22" fmla="*/ 0 w 256"/>
                <a:gd name="T23" fmla="*/ 0 h 356"/>
                <a:gd name="T24" fmla="*/ 0 w 256"/>
                <a:gd name="T25" fmla="*/ 0 h 356"/>
                <a:gd name="T26" fmla="*/ 0 w 256"/>
                <a:gd name="T27" fmla="*/ 0 h 356"/>
                <a:gd name="T28" fmla="*/ 0 w 256"/>
                <a:gd name="T29" fmla="*/ 0 h 356"/>
                <a:gd name="T30" fmla="*/ 0 w 256"/>
                <a:gd name="T31" fmla="*/ 0 h 356"/>
                <a:gd name="T32" fmla="*/ 0 w 256"/>
                <a:gd name="T33" fmla="*/ 0 h 356"/>
                <a:gd name="T34" fmla="*/ 0 w 256"/>
                <a:gd name="T35" fmla="*/ 0 h 356"/>
                <a:gd name="T36" fmla="*/ 0 w 256"/>
                <a:gd name="T37" fmla="*/ 0 h 356"/>
                <a:gd name="T38" fmla="*/ 0 w 256"/>
                <a:gd name="T39" fmla="*/ 0 h 356"/>
                <a:gd name="T40" fmla="*/ 0 w 256"/>
                <a:gd name="T41" fmla="*/ 0 h 356"/>
                <a:gd name="T42" fmla="*/ 0 w 256"/>
                <a:gd name="T43" fmla="*/ 0 h 356"/>
                <a:gd name="T44" fmla="*/ 0 w 256"/>
                <a:gd name="T45" fmla="*/ 0 h 356"/>
                <a:gd name="T46" fmla="*/ 0 w 256"/>
                <a:gd name="T47" fmla="*/ 0 h 356"/>
                <a:gd name="T48" fmla="*/ 0 w 256"/>
                <a:gd name="T49" fmla="*/ 0 h 356"/>
                <a:gd name="T50" fmla="*/ 0 w 256"/>
                <a:gd name="T51" fmla="*/ 0 h 356"/>
                <a:gd name="T52" fmla="*/ 0 w 256"/>
                <a:gd name="T53" fmla="*/ 0 h 356"/>
                <a:gd name="T54" fmla="*/ 0 w 256"/>
                <a:gd name="T55" fmla="*/ 0 h 356"/>
                <a:gd name="T56" fmla="*/ 0 w 256"/>
                <a:gd name="T57" fmla="*/ 0 h 356"/>
                <a:gd name="T58" fmla="*/ 0 w 256"/>
                <a:gd name="T59" fmla="*/ 0 h 356"/>
                <a:gd name="T60" fmla="*/ 0 w 256"/>
                <a:gd name="T61" fmla="*/ 0 h 356"/>
                <a:gd name="T62" fmla="*/ 0 w 256"/>
                <a:gd name="T63" fmla="*/ 0 h 356"/>
                <a:gd name="T64" fmla="*/ 0 w 256"/>
                <a:gd name="T65" fmla="*/ 0 h 356"/>
                <a:gd name="T66" fmla="*/ 0 w 256"/>
                <a:gd name="T67" fmla="*/ 0 h 356"/>
                <a:gd name="T68" fmla="*/ 0 w 256"/>
                <a:gd name="T69" fmla="*/ 0 h 356"/>
                <a:gd name="T70" fmla="*/ 0 w 256"/>
                <a:gd name="T71" fmla="*/ 0 h 356"/>
                <a:gd name="T72" fmla="*/ 0 w 256"/>
                <a:gd name="T73" fmla="*/ 0 h 356"/>
                <a:gd name="T74" fmla="*/ 0 w 256"/>
                <a:gd name="T75" fmla="*/ 0 h 356"/>
                <a:gd name="T76" fmla="*/ 0 w 256"/>
                <a:gd name="T77" fmla="*/ 0 h 356"/>
                <a:gd name="T78" fmla="*/ 0 w 256"/>
                <a:gd name="T79" fmla="*/ 0 h 356"/>
                <a:gd name="T80" fmla="*/ 0 w 256"/>
                <a:gd name="T81" fmla="*/ 0 h 356"/>
                <a:gd name="T82" fmla="*/ 0 w 256"/>
                <a:gd name="T83" fmla="*/ 0 h 356"/>
                <a:gd name="T84" fmla="*/ 0 w 256"/>
                <a:gd name="T85" fmla="*/ 0 h 356"/>
                <a:gd name="T86" fmla="*/ 0 w 256"/>
                <a:gd name="T87" fmla="*/ 0 h 356"/>
                <a:gd name="T88" fmla="*/ 0 w 256"/>
                <a:gd name="T89" fmla="*/ 0 h 356"/>
                <a:gd name="T90" fmla="*/ 0 w 256"/>
                <a:gd name="T91" fmla="*/ 0 h 356"/>
                <a:gd name="T92" fmla="*/ 0 w 256"/>
                <a:gd name="T93" fmla="*/ 0 h 356"/>
                <a:gd name="T94" fmla="*/ 0 w 256"/>
                <a:gd name="T95" fmla="*/ 0 h 35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256" h="356">
                  <a:moveTo>
                    <a:pt x="3" y="130"/>
                  </a:moveTo>
                  <a:lnTo>
                    <a:pt x="11" y="155"/>
                  </a:lnTo>
                  <a:lnTo>
                    <a:pt x="26" y="167"/>
                  </a:lnTo>
                  <a:lnTo>
                    <a:pt x="35" y="187"/>
                  </a:lnTo>
                  <a:lnTo>
                    <a:pt x="45" y="203"/>
                  </a:lnTo>
                  <a:lnTo>
                    <a:pt x="61" y="218"/>
                  </a:lnTo>
                  <a:lnTo>
                    <a:pt x="73" y="227"/>
                  </a:lnTo>
                  <a:lnTo>
                    <a:pt x="93" y="238"/>
                  </a:lnTo>
                  <a:lnTo>
                    <a:pt x="96" y="252"/>
                  </a:lnTo>
                  <a:lnTo>
                    <a:pt x="96" y="270"/>
                  </a:lnTo>
                  <a:lnTo>
                    <a:pt x="91" y="315"/>
                  </a:lnTo>
                  <a:lnTo>
                    <a:pt x="127" y="341"/>
                  </a:lnTo>
                  <a:lnTo>
                    <a:pt x="157" y="354"/>
                  </a:lnTo>
                  <a:lnTo>
                    <a:pt x="182" y="356"/>
                  </a:lnTo>
                  <a:lnTo>
                    <a:pt x="207" y="354"/>
                  </a:lnTo>
                  <a:lnTo>
                    <a:pt x="216" y="325"/>
                  </a:lnTo>
                  <a:lnTo>
                    <a:pt x="222" y="260"/>
                  </a:lnTo>
                  <a:lnTo>
                    <a:pt x="237" y="237"/>
                  </a:lnTo>
                  <a:lnTo>
                    <a:pt x="248" y="204"/>
                  </a:lnTo>
                  <a:lnTo>
                    <a:pt x="250" y="173"/>
                  </a:lnTo>
                  <a:lnTo>
                    <a:pt x="255" y="131"/>
                  </a:lnTo>
                  <a:lnTo>
                    <a:pt x="256" y="107"/>
                  </a:lnTo>
                  <a:lnTo>
                    <a:pt x="255" y="92"/>
                  </a:lnTo>
                  <a:lnTo>
                    <a:pt x="248" y="66"/>
                  </a:lnTo>
                  <a:lnTo>
                    <a:pt x="234" y="52"/>
                  </a:lnTo>
                  <a:lnTo>
                    <a:pt x="215" y="48"/>
                  </a:lnTo>
                  <a:lnTo>
                    <a:pt x="208" y="33"/>
                  </a:lnTo>
                  <a:lnTo>
                    <a:pt x="191" y="23"/>
                  </a:lnTo>
                  <a:lnTo>
                    <a:pt x="173" y="33"/>
                  </a:lnTo>
                  <a:lnTo>
                    <a:pt x="160" y="12"/>
                  </a:lnTo>
                  <a:lnTo>
                    <a:pt x="140" y="5"/>
                  </a:lnTo>
                  <a:lnTo>
                    <a:pt x="118" y="24"/>
                  </a:lnTo>
                  <a:lnTo>
                    <a:pt x="108" y="0"/>
                  </a:lnTo>
                  <a:lnTo>
                    <a:pt x="78" y="3"/>
                  </a:lnTo>
                  <a:lnTo>
                    <a:pt x="63" y="42"/>
                  </a:lnTo>
                  <a:lnTo>
                    <a:pt x="60" y="64"/>
                  </a:lnTo>
                  <a:lnTo>
                    <a:pt x="57" y="93"/>
                  </a:lnTo>
                  <a:lnTo>
                    <a:pt x="51" y="131"/>
                  </a:lnTo>
                  <a:lnTo>
                    <a:pt x="43" y="116"/>
                  </a:lnTo>
                  <a:lnTo>
                    <a:pt x="39" y="89"/>
                  </a:lnTo>
                  <a:lnTo>
                    <a:pt x="34" y="70"/>
                  </a:lnTo>
                  <a:lnTo>
                    <a:pt x="27" y="61"/>
                  </a:lnTo>
                  <a:lnTo>
                    <a:pt x="12" y="54"/>
                  </a:lnTo>
                  <a:lnTo>
                    <a:pt x="4" y="57"/>
                  </a:lnTo>
                  <a:lnTo>
                    <a:pt x="0" y="66"/>
                  </a:lnTo>
                  <a:lnTo>
                    <a:pt x="5" y="80"/>
                  </a:lnTo>
                  <a:lnTo>
                    <a:pt x="7" y="107"/>
                  </a:lnTo>
                  <a:lnTo>
                    <a:pt x="3" y="13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7" name="Freeform 110"/>
            <p:cNvSpPr>
              <a:spLocks/>
            </p:cNvSpPr>
            <p:nvPr/>
          </p:nvSpPr>
          <p:spPr bwMode="auto">
            <a:xfrm>
              <a:off x="320" y="1820"/>
              <a:ext cx="26" cy="27"/>
            </a:xfrm>
            <a:custGeom>
              <a:avLst/>
              <a:gdLst>
                <a:gd name="T0" fmla="*/ 0 w 129"/>
                <a:gd name="T1" fmla="*/ 0 h 134"/>
                <a:gd name="T2" fmla="*/ 0 w 129"/>
                <a:gd name="T3" fmla="*/ 0 h 134"/>
                <a:gd name="T4" fmla="*/ 0 w 129"/>
                <a:gd name="T5" fmla="*/ 0 h 134"/>
                <a:gd name="T6" fmla="*/ 0 w 129"/>
                <a:gd name="T7" fmla="*/ 0 h 134"/>
                <a:gd name="T8" fmla="*/ 0 w 129"/>
                <a:gd name="T9" fmla="*/ 0 h 134"/>
                <a:gd name="T10" fmla="*/ 0 w 129"/>
                <a:gd name="T11" fmla="*/ 0 h 134"/>
                <a:gd name="T12" fmla="*/ 0 w 129"/>
                <a:gd name="T13" fmla="*/ 0 h 134"/>
                <a:gd name="T14" fmla="*/ 0 w 129"/>
                <a:gd name="T15" fmla="*/ 0 h 134"/>
                <a:gd name="T16" fmla="*/ 0 w 129"/>
                <a:gd name="T17" fmla="*/ 0 h 134"/>
                <a:gd name="T18" fmla="*/ 0 w 129"/>
                <a:gd name="T19" fmla="*/ 0 h 134"/>
                <a:gd name="T20" fmla="*/ 0 w 129"/>
                <a:gd name="T21" fmla="*/ 0 h 134"/>
                <a:gd name="T22" fmla="*/ 0 w 129"/>
                <a:gd name="T23" fmla="*/ 0 h 134"/>
                <a:gd name="T24" fmla="*/ 0 w 129"/>
                <a:gd name="T25" fmla="*/ 0 h 134"/>
                <a:gd name="T26" fmla="*/ 0 w 129"/>
                <a:gd name="T27" fmla="*/ 0 h 134"/>
                <a:gd name="T28" fmla="*/ 0 w 129"/>
                <a:gd name="T29" fmla="*/ 0 h 134"/>
                <a:gd name="T30" fmla="*/ 0 w 129"/>
                <a:gd name="T31" fmla="*/ 0 h 134"/>
                <a:gd name="T32" fmla="*/ 0 w 129"/>
                <a:gd name="T33" fmla="*/ 0 h 134"/>
                <a:gd name="T34" fmla="*/ 0 w 129"/>
                <a:gd name="T35" fmla="*/ 0 h 134"/>
                <a:gd name="T36" fmla="*/ 0 w 129"/>
                <a:gd name="T37" fmla="*/ 0 h 134"/>
                <a:gd name="T38" fmla="*/ 0 w 129"/>
                <a:gd name="T39" fmla="*/ 0 h 134"/>
                <a:gd name="T40" fmla="*/ 0 w 129"/>
                <a:gd name="T41" fmla="*/ 0 h 134"/>
                <a:gd name="T42" fmla="*/ 0 w 129"/>
                <a:gd name="T43" fmla="*/ 0 h 134"/>
                <a:gd name="T44" fmla="*/ 0 w 129"/>
                <a:gd name="T45" fmla="*/ 0 h 134"/>
                <a:gd name="T46" fmla="*/ 0 w 129"/>
                <a:gd name="T47" fmla="*/ 0 h 134"/>
                <a:gd name="T48" fmla="*/ 0 w 129"/>
                <a:gd name="T49" fmla="*/ 0 h 134"/>
                <a:gd name="T50" fmla="*/ 0 w 129"/>
                <a:gd name="T51" fmla="*/ 0 h 134"/>
                <a:gd name="T52" fmla="*/ 0 w 129"/>
                <a:gd name="T53" fmla="*/ 0 h 134"/>
                <a:gd name="T54" fmla="*/ 0 w 129"/>
                <a:gd name="T55" fmla="*/ 0 h 134"/>
                <a:gd name="T56" fmla="*/ 0 w 129"/>
                <a:gd name="T57" fmla="*/ 0 h 134"/>
                <a:gd name="T58" fmla="*/ 0 w 129"/>
                <a:gd name="T59" fmla="*/ 0 h 134"/>
                <a:gd name="T60" fmla="*/ 0 w 129"/>
                <a:gd name="T61" fmla="*/ 0 h 134"/>
                <a:gd name="T62" fmla="*/ 0 w 129"/>
                <a:gd name="T63" fmla="*/ 0 h 134"/>
                <a:gd name="T64" fmla="*/ 0 w 129"/>
                <a:gd name="T65" fmla="*/ 0 h 134"/>
                <a:gd name="T66" fmla="*/ 0 w 129"/>
                <a:gd name="T67" fmla="*/ 0 h 134"/>
                <a:gd name="T68" fmla="*/ 0 w 129"/>
                <a:gd name="T69" fmla="*/ 0 h 134"/>
                <a:gd name="T70" fmla="*/ 0 w 129"/>
                <a:gd name="T71" fmla="*/ 0 h 134"/>
                <a:gd name="T72" fmla="*/ 0 w 129"/>
                <a:gd name="T73" fmla="*/ 0 h 134"/>
                <a:gd name="T74" fmla="*/ 0 w 129"/>
                <a:gd name="T75" fmla="*/ 0 h 134"/>
                <a:gd name="T76" fmla="*/ 0 w 129"/>
                <a:gd name="T77" fmla="*/ 0 h 134"/>
                <a:gd name="T78" fmla="*/ 0 w 129"/>
                <a:gd name="T79" fmla="*/ 0 h 134"/>
                <a:gd name="T80" fmla="*/ 0 w 129"/>
                <a:gd name="T81" fmla="*/ 0 h 134"/>
                <a:gd name="T82" fmla="*/ 0 w 129"/>
                <a:gd name="T83" fmla="*/ 0 h 134"/>
                <a:gd name="T84" fmla="*/ 0 w 129"/>
                <a:gd name="T85" fmla="*/ 0 h 134"/>
                <a:gd name="T86" fmla="*/ 0 w 129"/>
                <a:gd name="T87" fmla="*/ 0 h 134"/>
                <a:gd name="T88" fmla="*/ 0 w 129"/>
                <a:gd name="T89" fmla="*/ 0 h 134"/>
                <a:gd name="T90" fmla="*/ 0 w 129"/>
                <a:gd name="T91" fmla="*/ 0 h 134"/>
                <a:gd name="T92" fmla="*/ 0 w 129"/>
                <a:gd name="T93" fmla="*/ 0 h 134"/>
                <a:gd name="T94" fmla="*/ 0 w 129"/>
                <a:gd name="T95" fmla="*/ 0 h 134"/>
                <a:gd name="T96" fmla="*/ 0 w 129"/>
                <a:gd name="T97" fmla="*/ 0 h 134"/>
                <a:gd name="T98" fmla="*/ 0 w 129"/>
                <a:gd name="T99" fmla="*/ 0 h 134"/>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129" h="134">
                  <a:moveTo>
                    <a:pt x="6" y="2"/>
                  </a:moveTo>
                  <a:lnTo>
                    <a:pt x="13" y="30"/>
                  </a:lnTo>
                  <a:lnTo>
                    <a:pt x="22" y="49"/>
                  </a:lnTo>
                  <a:lnTo>
                    <a:pt x="11" y="91"/>
                  </a:lnTo>
                  <a:lnTo>
                    <a:pt x="18" y="100"/>
                  </a:lnTo>
                  <a:lnTo>
                    <a:pt x="28" y="104"/>
                  </a:lnTo>
                  <a:lnTo>
                    <a:pt x="41" y="102"/>
                  </a:lnTo>
                  <a:lnTo>
                    <a:pt x="51" y="79"/>
                  </a:lnTo>
                  <a:lnTo>
                    <a:pt x="60" y="61"/>
                  </a:lnTo>
                  <a:lnTo>
                    <a:pt x="55" y="36"/>
                  </a:lnTo>
                  <a:lnTo>
                    <a:pt x="53" y="9"/>
                  </a:lnTo>
                  <a:lnTo>
                    <a:pt x="60" y="12"/>
                  </a:lnTo>
                  <a:lnTo>
                    <a:pt x="62" y="37"/>
                  </a:lnTo>
                  <a:lnTo>
                    <a:pt x="65" y="54"/>
                  </a:lnTo>
                  <a:lnTo>
                    <a:pt x="65" y="68"/>
                  </a:lnTo>
                  <a:lnTo>
                    <a:pt x="56" y="83"/>
                  </a:lnTo>
                  <a:lnTo>
                    <a:pt x="47" y="100"/>
                  </a:lnTo>
                  <a:lnTo>
                    <a:pt x="46" y="116"/>
                  </a:lnTo>
                  <a:lnTo>
                    <a:pt x="56" y="123"/>
                  </a:lnTo>
                  <a:lnTo>
                    <a:pt x="75" y="120"/>
                  </a:lnTo>
                  <a:lnTo>
                    <a:pt x="86" y="106"/>
                  </a:lnTo>
                  <a:lnTo>
                    <a:pt x="104" y="84"/>
                  </a:lnTo>
                  <a:lnTo>
                    <a:pt x="103" y="70"/>
                  </a:lnTo>
                  <a:lnTo>
                    <a:pt x="101" y="45"/>
                  </a:lnTo>
                  <a:lnTo>
                    <a:pt x="107" y="65"/>
                  </a:lnTo>
                  <a:lnTo>
                    <a:pt x="108" y="84"/>
                  </a:lnTo>
                  <a:lnTo>
                    <a:pt x="94" y="103"/>
                  </a:lnTo>
                  <a:lnTo>
                    <a:pt x="93" y="117"/>
                  </a:lnTo>
                  <a:lnTo>
                    <a:pt x="96" y="128"/>
                  </a:lnTo>
                  <a:lnTo>
                    <a:pt x="104" y="131"/>
                  </a:lnTo>
                  <a:lnTo>
                    <a:pt x="113" y="125"/>
                  </a:lnTo>
                  <a:lnTo>
                    <a:pt x="129" y="109"/>
                  </a:lnTo>
                  <a:lnTo>
                    <a:pt x="116" y="127"/>
                  </a:lnTo>
                  <a:lnTo>
                    <a:pt x="111" y="134"/>
                  </a:lnTo>
                  <a:lnTo>
                    <a:pt x="97" y="134"/>
                  </a:lnTo>
                  <a:lnTo>
                    <a:pt x="91" y="126"/>
                  </a:lnTo>
                  <a:lnTo>
                    <a:pt x="87" y="114"/>
                  </a:lnTo>
                  <a:lnTo>
                    <a:pt x="79" y="125"/>
                  </a:lnTo>
                  <a:lnTo>
                    <a:pt x="63" y="127"/>
                  </a:lnTo>
                  <a:lnTo>
                    <a:pt x="49" y="127"/>
                  </a:lnTo>
                  <a:lnTo>
                    <a:pt x="43" y="116"/>
                  </a:lnTo>
                  <a:lnTo>
                    <a:pt x="41" y="106"/>
                  </a:lnTo>
                  <a:lnTo>
                    <a:pt x="35" y="109"/>
                  </a:lnTo>
                  <a:lnTo>
                    <a:pt x="24" y="109"/>
                  </a:lnTo>
                  <a:lnTo>
                    <a:pt x="11" y="101"/>
                  </a:lnTo>
                  <a:lnTo>
                    <a:pt x="8" y="86"/>
                  </a:lnTo>
                  <a:lnTo>
                    <a:pt x="18" y="51"/>
                  </a:lnTo>
                  <a:lnTo>
                    <a:pt x="7" y="29"/>
                  </a:lnTo>
                  <a:lnTo>
                    <a:pt x="0" y="0"/>
                  </a:lnTo>
                  <a:lnTo>
                    <a:pt x="6"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8" name="Freeform 111"/>
            <p:cNvSpPr>
              <a:spLocks/>
            </p:cNvSpPr>
            <p:nvPr/>
          </p:nvSpPr>
          <p:spPr bwMode="auto">
            <a:xfrm>
              <a:off x="325" y="1834"/>
              <a:ext cx="4" cy="1"/>
            </a:xfrm>
            <a:custGeom>
              <a:avLst/>
              <a:gdLst>
                <a:gd name="T0" fmla="*/ 0 w 20"/>
                <a:gd name="T1" fmla="*/ 0 h 5"/>
                <a:gd name="T2" fmla="*/ 0 w 20"/>
                <a:gd name="T3" fmla="*/ 0 h 5"/>
                <a:gd name="T4" fmla="*/ 0 w 20"/>
                <a:gd name="T5" fmla="*/ 0 h 5"/>
                <a:gd name="T6" fmla="*/ 0 w 20"/>
                <a:gd name="T7" fmla="*/ 0 h 5"/>
                <a:gd name="T8" fmla="*/ 0 w 20"/>
                <a:gd name="T9" fmla="*/ 0 h 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 h="5">
                  <a:moveTo>
                    <a:pt x="0" y="5"/>
                  </a:moveTo>
                  <a:lnTo>
                    <a:pt x="6" y="4"/>
                  </a:lnTo>
                  <a:lnTo>
                    <a:pt x="20" y="4"/>
                  </a:lnTo>
                  <a:lnTo>
                    <a:pt x="5" y="0"/>
                  </a:lnTo>
                  <a:lnTo>
                    <a:pt x="0"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9" name="Freeform 112"/>
            <p:cNvSpPr>
              <a:spLocks/>
            </p:cNvSpPr>
            <p:nvPr/>
          </p:nvSpPr>
          <p:spPr bwMode="auto">
            <a:xfrm>
              <a:off x="330" y="1838"/>
              <a:ext cx="6" cy="2"/>
            </a:xfrm>
            <a:custGeom>
              <a:avLst/>
              <a:gdLst>
                <a:gd name="T0" fmla="*/ 0 w 27"/>
                <a:gd name="T1" fmla="*/ 0 h 9"/>
                <a:gd name="T2" fmla="*/ 0 w 27"/>
                <a:gd name="T3" fmla="*/ 0 h 9"/>
                <a:gd name="T4" fmla="*/ 0 w 27"/>
                <a:gd name="T5" fmla="*/ 0 h 9"/>
                <a:gd name="T6" fmla="*/ 0 w 27"/>
                <a:gd name="T7" fmla="*/ 0 h 9"/>
                <a:gd name="T8" fmla="*/ 0 w 27"/>
                <a:gd name="T9" fmla="*/ 0 h 9"/>
                <a:gd name="T10" fmla="*/ 0 w 27"/>
                <a:gd name="T11" fmla="*/ 0 h 9"/>
                <a:gd name="T12" fmla="*/ 0 w 27"/>
                <a:gd name="T13" fmla="*/ 0 h 9"/>
                <a:gd name="T14" fmla="*/ 0 w 27"/>
                <a:gd name="T15" fmla="*/ 0 h 9"/>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7" h="9">
                  <a:moveTo>
                    <a:pt x="27" y="7"/>
                  </a:moveTo>
                  <a:lnTo>
                    <a:pt x="23" y="3"/>
                  </a:lnTo>
                  <a:lnTo>
                    <a:pt x="17" y="1"/>
                  </a:lnTo>
                  <a:lnTo>
                    <a:pt x="6" y="0"/>
                  </a:lnTo>
                  <a:lnTo>
                    <a:pt x="0" y="9"/>
                  </a:lnTo>
                  <a:lnTo>
                    <a:pt x="8" y="3"/>
                  </a:lnTo>
                  <a:lnTo>
                    <a:pt x="15" y="2"/>
                  </a:lnTo>
                  <a:lnTo>
                    <a:pt x="27" y="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0" name="Freeform 113"/>
            <p:cNvSpPr>
              <a:spLocks/>
            </p:cNvSpPr>
            <p:nvPr/>
          </p:nvSpPr>
          <p:spPr bwMode="auto">
            <a:xfrm>
              <a:off x="340" y="1841"/>
              <a:ext cx="4" cy="1"/>
            </a:xfrm>
            <a:custGeom>
              <a:avLst/>
              <a:gdLst>
                <a:gd name="T0" fmla="*/ 0 w 20"/>
                <a:gd name="T1" fmla="*/ 0 h 4"/>
                <a:gd name="T2" fmla="*/ 0 w 20"/>
                <a:gd name="T3" fmla="*/ 0 h 4"/>
                <a:gd name="T4" fmla="*/ 0 w 20"/>
                <a:gd name="T5" fmla="*/ 0 h 4"/>
                <a:gd name="T6" fmla="*/ 0 w 20"/>
                <a:gd name="T7" fmla="*/ 0 h 4"/>
                <a:gd name="T8" fmla="*/ 0 w 20"/>
                <a:gd name="T9" fmla="*/ 0 h 4"/>
                <a:gd name="T10" fmla="*/ 0 w 20"/>
                <a:gd name="T11" fmla="*/ 0 h 4"/>
                <a:gd name="T12" fmla="*/ 0 w 20"/>
                <a:gd name="T13" fmla="*/ 0 h 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4">
                  <a:moveTo>
                    <a:pt x="0" y="2"/>
                  </a:moveTo>
                  <a:lnTo>
                    <a:pt x="4" y="0"/>
                  </a:lnTo>
                  <a:lnTo>
                    <a:pt x="11" y="0"/>
                  </a:lnTo>
                  <a:lnTo>
                    <a:pt x="20" y="4"/>
                  </a:lnTo>
                  <a:lnTo>
                    <a:pt x="15" y="3"/>
                  </a:lnTo>
                  <a:lnTo>
                    <a:pt x="11" y="1"/>
                  </a:lnTo>
                  <a:lnTo>
                    <a:pt x="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1" name="Freeform 114"/>
            <p:cNvSpPr>
              <a:spLocks/>
            </p:cNvSpPr>
            <p:nvPr/>
          </p:nvSpPr>
          <p:spPr bwMode="auto">
            <a:xfrm>
              <a:off x="323" y="1845"/>
              <a:ext cx="6" cy="15"/>
            </a:xfrm>
            <a:custGeom>
              <a:avLst/>
              <a:gdLst>
                <a:gd name="T0" fmla="*/ 0 w 31"/>
                <a:gd name="T1" fmla="*/ 0 h 74"/>
                <a:gd name="T2" fmla="*/ 0 w 31"/>
                <a:gd name="T3" fmla="*/ 0 h 74"/>
                <a:gd name="T4" fmla="*/ 0 w 31"/>
                <a:gd name="T5" fmla="*/ 0 h 74"/>
                <a:gd name="T6" fmla="*/ 0 w 31"/>
                <a:gd name="T7" fmla="*/ 0 h 74"/>
                <a:gd name="T8" fmla="*/ 0 w 31"/>
                <a:gd name="T9" fmla="*/ 0 h 74"/>
                <a:gd name="T10" fmla="*/ 0 w 31"/>
                <a:gd name="T11" fmla="*/ 0 h 74"/>
                <a:gd name="T12" fmla="*/ 0 w 31"/>
                <a:gd name="T13" fmla="*/ 0 h 74"/>
                <a:gd name="T14" fmla="*/ 0 w 31"/>
                <a:gd name="T15" fmla="*/ 0 h 7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1" h="74">
                  <a:moveTo>
                    <a:pt x="0" y="0"/>
                  </a:moveTo>
                  <a:lnTo>
                    <a:pt x="17" y="19"/>
                  </a:lnTo>
                  <a:lnTo>
                    <a:pt x="25" y="42"/>
                  </a:lnTo>
                  <a:lnTo>
                    <a:pt x="26" y="74"/>
                  </a:lnTo>
                  <a:lnTo>
                    <a:pt x="31" y="49"/>
                  </a:lnTo>
                  <a:lnTo>
                    <a:pt x="29" y="29"/>
                  </a:lnTo>
                  <a:lnTo>
                    <a:pt x="24" y="2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2" name="Freeform 115"/>
            <p:cNvSpPr>
              <a:spLocks/>
            </p:cNvSpPr>
            <p:nvPr/>
          </p:nvSpPr>
          <p:spPr bwMode="auto">
            <a:xfrm>
              <a:off x="308" y="1839"/>
              <a:ext cx="10" cy="5"/>
            </a:xfrm>
            <a:custGeom>
              <a:avLst/>
              <a:gdLst>
                <a:gd name="T0" fmla="*/ 0 w 50"/>
                <a:gd name="T1" fmla="*/ 0 h 25"/>
                <a:gd name="T2" fmla="*/ 0 w 50"/>
                <a:gd name="T3" fmla="*/ 0 h 25"/>
                <a:gd name="T4" fmla="*/ 0 w 50"/>
                <a:gd name="T5" fmla="*/ 0 h 25"/>
                <a:gd name="T6" fmla="*/ 0 w 50"/>
                <a:gd name="T7" fmla="*/ 0 h 25"/>
                <a:gd name="T8" fmla="*/ 0 w 50"/>
                <a:gd name="T9" fmla="*/ 0 h 25"/>
                <a:gd name="T10" fmla="*/ 0 w 50"/>
                <a:gd name="T11" fmla="*/ 0 h 25"/>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0" h="25">
                  <a:moveTo>
                    <a:pt x="0" y="11"/>
                  </a:moveTo>
                  <a:lnTo>
                    <a:pt x="19" y="13"/>
                  </a:lnTo>
                  <a:lnTo>
                    <a:pt x="50" y="25"/>
                  </a:lnTo>
                  <a:lnTo>
                    <a:pt x="28" y="9"/>
                  </a:lnTo>
                  <a:lnTo>
                    <a:pt x="1" y="0"/>
                  </a:lnTo>
                  <a:lnTo>
                    <a:pt x="0" y="1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3" name="Freeform 116"/>
            <p:cNvSpPr>
              <a:spLocks/>
            </p:cNvSpPr>
            <p:nvPr/>
          </p:nvSpPr>
          <p:spPr bwMode="auto">
            <a:xfrm>
              <a:off x="321" y="1862"/>
              <a:ext cx="7" cy="7"/>
            </a:xfrm>
            <a:custGeom>
              <a:avLst/>
              <a:gdLst>
                <a:gd name="T0" fmla="*/ 0 w 39"/>
                <a:gd name="T1" fmla="*/ 0 h 33"/>
                <a:gd name="T2" fmla="*/ 0 w 39"/>
                <a:gd name="T3" fmla="*/ 0 h 33"/>
                <a:gd name="T4" fmla="*/ 0 w 39"/>
                <a:gd name="T5" fmla="*/ 0 h 33"/>
                <a:gd name="T6" fmla="*/ 0 w 39"/>
                <a:gd name="T7" fmla="*/ 0 h 33"/>
                <a:gd name="T8" fmla="*/ 0 w 39"/>
                <a:gd name="T9" fmla="*/ 0 h 3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9" h="33">
                  <a:moveTo>
                    <a:pt x="39" y="0"/>
                  </a:moveTo>
                  <a:lnTo>
                    <a:pt x="20" y="21"/>
                  </a:lnTo>
                  <a:lnTo>
                    <a:pt x="0" y="33"/>
                  </a:lnTo>
                  <a:lnTo>
                    <a:pt x="26" y="25"/>
                  </a:lnTo>
                  <a:lnTo>
                    <a:pt x="3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4" name="Freeform 117"/>
            <p:cNvSpPr>
              <a:spLocks/>
            </p:cNvSpPr>
            <p:nvPr/>
          </p:nvSpPr>
          <p:spPr bwMode="auto">
            <a:xfrm>
              <a:off x="332" y="1858"/>
              <a:ext cx="7" cy="7"/>
            </a:xfrm>
            <a:custGeom>
              <a:avLst/>
              <a:gdLst>
                <a:gd name="T0" fmla="*/ 0 w 38"/>
                <a:gd name="T1" fmla="*/ 0 h 35"/>
                <a:gd name="T2" fmla="*/ 0 w 38"/>
                <a:gd name="T3" fmla="*/ 0 h 35"/>
                <a:gd name="T4" fmla="*/ 0 w 38"/>
                <a:gd name="T5" fmla="*/ 0 h 35"/>
                <a:gd name="T6" fmla="*/ 0 w 38"/>
                <a:gd name="T7" fmla="*/ 0 h 35"/>
                <a:gd name="T8" fmla="*/ 0 w 38"/>
                <a:gd name="T9" fmla="*/ 0 h 35"/>
                <a:gd name="T10" fmla="*/ 0 w 38"/>
                <a:gd name="T11" fmla="*/ 0 h 35"/>
                <a:gd name="T12" fmla="*/ 0 w 38"/>
                <a:gd name="T13" fmla="*/ 0 h 35"/>
                <a:gd name="T14" fmla="*/ 0 w 38"/>
                <a:gd name="T15" fmla="*/ 0 h 3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8" h="35">
                  <a:moveTo>
                    <a:pt x="0" y="0"/>
                  </a:moveTo>
                  <a:lnTo>
                    <a:pt x="3" y="13"/>
                  </a:lnTo>
                  <a:lnTo>
                    <a:pt x="22" y="29"/>
                  </a:lnTo>
                  <a:lnTo>
                    <a:pt x="38" y="35"/>
                  </a:lnTo>
                  <a:lnTo>
                    <a:pt x="12" y="32"/>
                  </a:lnTo>
                  <a:lnTo>
                    <a:pt x="3" y="21"/>
                  </a:lnTo>
                  <a:lnTo>
                    <a:pt x="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5" name="Freeform 118"/>
            <p:cNvSpPr>
              <a:spLocks/>
            </p:cNvSpPr>
            <p:nvPr/>
          </p:nvSpPr>
          <p:spPr bwMode="auto">
            <a:xfrm>
              <a:off x="278" y="1810"/>
              <a:ext cx="41" cy="31"/>
            </a:xfrm>
            <a:custGeom>
              <a:avLst/>
              <a:gdLst>
                <a:gd name="T0" fmla="*/ 0 w 201"/>
                <a:gd name="T1" fmla="*/ 0 h 158"/>
                <a:gd name="T2" fmla="*/ 0 w 201"/>
                <a:gd name="T3" fmla="*/ 0 h 158"/>
                <a:gd name="T4" fmla="*/ 0 w 201"/>
                <a:gd name="T5" fmla="*/ 0 h 158"/>
                <a:gd name="T6" fmla="*/ 0 w 201"/>
                <a:gd name="T7" fmla="*/ 0 h 158"/>
                <a:gd name="T8" fmla="*/ 0 w 201"/>
                <a:gd name="T9" fmla="*/ 0 h 158"/>
                <a:gd name="T10" fmla="*/ 0 w 201"/>
                <a:gd name="T11" fmla="*/ 0 h 158"/>
                <a:gd name="T12" fmla="*/ 0 w 201"/>
                <a:gd name="T13" fmla="*/ 0 h 1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1" h="158">
                  <a:moveTo>
                    <a:pt x="165" y="158"/>
                  </a:moveTo>
                  <a:lnTo>
                    <a:pt x="201" y="76"/>
                  </a:lnTo>
                  <a:lnTo>
                    <a:pt x="132" y="31"/>
                  </a:lnTo>
                  <a:lnTo>
                    <a:pt x="29" y="0"/>
                  </a:lnTo>
                  <a:lnTo>
                    <a:pt x="0" y="87"/>
                  </a:lnTo>
                  <a:lnTo>
                    <a:pt x="94" y="114"/>
                  </a:lnTo>
                  <a:lnTo>
                    <a:pt x="165" y="158"/>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6" name="Oval 119"/>
            <p:cNvSpPr>
              <a:spLocks noChangeArrowheads="1"/>
            </p:cNvSpPr>
            <p:nvPr/>
          </p:nvSpPr>
          <p:spPr bwMode="auto">
            <a:xfrm>
              <a:off x="304" y="1824"/>
              <a:ext cx="7" cy="9"/>
            </a:xfrm>
            <a:prstGeom prst="ellipse">
              <a:avLst/>
            </a:prstGeom>
            <a:solidFill>
              <a:srgbClr val="FFFFFF"/>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27" name="Freeform 120"/>
            <p:cNvSpPr>
              <a:spLocks/>
            </p:cNvSpPr>
            <p:nvPr/>
          </p:nvSpPr>
          <p:spPr bwMode="auto">
            <a:xfrm>
              <a:off x="297" y="1826"/>
              <a:ext cx="10" cy="22"/>
            </a:xfrm>
            <a:custGeom>
              <a:avLst/>
              <a:gdLst>
                <a:gd name="T0" fmla="*/ 0 w 52"/>
                <a:gd name="T1" fmla="*/ 0 h 111"/>
                <a:gd name="T2" fmla="*/ 0 w 52"/>
                <a:gd name="T3" fmla="*/ 0 h 111"/>
                <a:gd name="T4" fmla="*/ 0 w 52"/>
                <a:gd name="T5" fmla="*/ 0 h 111"/>
                <a:gd name="T6" fmla="*/ 0 w 52"/>
                <a:gd name="T7" fmla="*/ 0 h 111"/>
                <a:gd name="T8" fmla="*/ 0 w 52"/>
                <a:gd name="T9" fmla="*/ 0 h 111"/>
                <a:gd name="T10" fmla="*/ 0 w 52"/>
                <a:gd name="T11" fmla="*/ 0 h 111"/>
                <a:gd name="T12" fmla="*/ 0 w 52"/>
                <a:gd name="T13" fmla="*/ 0 h 111"/>
                <a:gd name="T14" fmla="*/ 0 w 52"/>
                <a:gd name="T15" fmla="*/ 0 h 111"/>
                <a:gd name="T16" fmla="*/ 0 w 52"/>
                <a:gd name="T17" fmla="*/ 0 h 111"/>
                <a:gd name="T18" fmla="*/ 0 w 52"/>
                <a:gd name="T19" fmla="*/ 0 h 111"/>
                <a:gd name="T20" fmla="*/ 0 w 52"/>
                <a:gd name="T21" fmla="*/ 0 h 111"/>
                <a:gd name="T22" fmla="*/ 0 w 52"/>
                <a:gd name="T23" fmla="*/ 0 h 111"/>
                <a:gd name="T24" fmla="*/ 0 w 52"/>
                <a:gd name="T25" fmla="*/ 0 h 111"/>
                <a:gd name="T26" fmla="*/ 0 w 52"/>
                <a:gd name="T27" fmla="*/ 0 h 111"/>
                <a:gd name="T28" fmla="*/ 0 w 52"/>
                <a:gd name="T29" fmla="*/ 0 h 111"/>
                <a:gd name="T30" fmla="*/ 0 w 52"/>
                <a:gd name="T31" fmla="*/ 0 h 11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52" h="111">
                  <a:moveTo>
                    <a:pt x="4" y="74"/>
                  </a:moveTo>
                  <a:lnTo>
                    <a:pt x="7" y="55"/>
                  </a:lnTo>
                  <a:lnTo>
                    <a:pt x="5" y="36"/>
                  </a:lnTo>
                  <a:lnTo>
                    <a:pt x="4" y="23"/>
                  </a:lnTo>
                  <a:lnTo>
                    <a:pt x="0" y="13"/>
                  </a:lnTo>
                  <a:lnTo>
                    <a:pt x="4" y="4"/>
                  </a:lnTo>
                  <a:lnTo>
                    <a:pt x="11" y="0"/>
                  </a:lnTo>
                  <a:lnTo>
                    <a:pt x="27" y="6"/>
                  </a:lnTo>
                  <a:lnTo>
                    <a:pt x="33" y="16"/>
                  </a:lnTo>
                  <a:lnTo>
                    <a:pt x="37" y="27"/>
                  </a:lnTo>
                  <a:lnTo>
                    <a:pt x="39" y="39"/>
                  </a:lnTo>
                  <a:lnTo>
                    <a:pt x="40" y="59"/>
                  </a:lnTo>
                  <a:lnTo>
                    <a:pt x="52" y="79"/>
                  </a:lnTo>
                  <a:lnTo>
                    <a:pt x="23" y="111"/>
                  </a:lnTo>
                  <a:lnTo>
                    <a:pt x="11" y="103"/>
                  </a:lnTo>
                  <a:lnTo>
                    <a:pt x="4" y="74"/>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8" name="Freeform 121"/>
            <p:cNvSpPr>
              <a:spLocks/>
            </p:cNvSpPr>
            <p:nvPr/>
          </p:nvSpPr>
          <p:spPr bwMode="auto">
            <a:xfrm>
              <a:off x="301" y="1841"/>
              <a:ext cx="7" cy="7"/>
            </a:xfrm>
            <a:custGeom>
              <a:avLst/>
              <a:gdLst>
                <a:gd name="T0" fmla="*/ 0 w 35"/>
                <a:gd name="T1" fmla="*/ 0 h 34"/>
                <a:gd name="T2" fmla="*/ 0 w 35"/>
                <a:gd name="T3" fmla="*/ 0 h 34"/>
                <a:gd name="T4" fmla="*/ 0 w 35"/>
                <a:gd name="T5" fmla="*/ 0 h 34"/>
                <a:gd name="T6" fmla="*/ 0 w 35"/>
                <a:gd name="T7" fmla="*/ 0 h 34"/>
                <a:gd name="T8" fmla="*/ 0 w 35"/>
                <a:gd name="T9" fmla="*/ 0 h 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34">
                  <a:moveTo>
                    <a:pt x="24" y="0"/>
                  </a:moveTo>
                  <a:lnTo>
                    <a:pt x="35" y="4"/>
                  </a:lnTo>
                  <a:lnTo>
                    <a:pt x="9" y="34"/>
                  </a:lnTo>
                  <a:lnTo>
                    <a:pt x="0" y="26"/>
                  </a:lnTo>
                  <a:lnTo>
                    <a:pt x="24" y="0"/>
                  </a:lnTo>
                  <a:close/>
                </a:path>
              </a:pathLst>
            </a:custGeom>
            <a:solidFill>
              <a:srgbClr val="FFC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9" name="Freeform 122"/>
            <p:cNvSpPr>
              <a:spLocks/>
            </p:cNvSpPr>
            <p:nvPr/>
          </p:nvSpPr>
          <p:spPr bwMode="auto">
            <a:xfrm>
              <a:off x="312" y="1815"/>
              <a:ext cx="9" cy="20"/>
            </a:xfrm>
            <a:custGeom>
              <a:avLst/>
              <a:gdLst>
                <a:gd name="T0" fmla="*/ 0 w 48"/>
                <a:gd name="T1" fmla="*/ 0 h 97"/>
                <a:gd name="T2" fmla="*/ 0 w 48"/>
                <a:gd name="T3" fmla="*/ 0 h 97"/>
                <a:gd name="T4" fmla="*/ 0 w 48"/>
                <a:gd name="T5" fmla="*/ 0 h 97"/>
                <a:gd name="T6" fmla="*/ 0 w 48"/>
                <a:gd name="T7" fmla="*/ 0 h 97"/>
                <a:gd name="T8" fmla="*/ 0 w 48"/>
                <a:gd name="T9" fmla="*/ 0 h 97"/>
                <a:gd name="T10" fmla="*/ 0 w 48"/>
                <a:gd name="T11" fmla="*/ 0 h 97"/>
                <a:gd name="T12" fmla="*/ 0 w 48"/>
                <a:gd name="T13" fmla="*/ 0 h 97"/>
                <a:gd name="T14" fmla="*/ 0 w 48"/>
                <a:gd name="T15" fmla="*/ 0 h 97"/>
                <a:gd name="T16" fmla="*/ 0 w 48"/>
                <a:gd name="T17" fmla="*/ 0 h 97"/>
                <a:gd name="T18" fmla="*/ 0 w 48"/>
                <a:gd name="T19" fmla="*/ 0 h 97"/>
                <a:gd name="T20" fmla="*/ 0 w 48"/>
                <a:gd name="T21" fmla="*/ 0 h 97"/>
                <a:gd name="T22" fmla="*/ 0 w 48"/>
                <a:gd name="T23" fmla="*/ 0 h 97"/>
                <a:gd name="T24" fmla="*/ 0 w 48"/>
                <a:gd name="T25" fmla="*/ 0 h 97"/>
                <a:gd name="T26" fmla="*/ 0 w 48"/>
                <a:gd name="T27" fmla="*/ 0 h 97"/>
                <a:gd name="T28" fmla="*/ 0 w 48"/>
                <a:gd name="T29" fmla="*/ 0 h 97"/>
                <a:gd name="T30" fmla="*/ 0 w 48"/>
                <a:gd name="T31" fmla="*/ 0 h 97"/>
                <a:gd name="T32" fmla="*/ 0 w 48"/>
                <a:gd name="T33" fmla="*/ 0 h 97"/>
                <a:gd name="T34" fmla="*/ 0 w 48"/>
                <a:gd name="T35" fmla="*/ 0 h 97"/>
                <a:gd name="T36" fmla="*/ 0 w 48"/>
                <a:gd name="T37" fmla="*/ 0 h 9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8" h="97">
                  <a:moveTo>
                    <a:pt x="0" y="23"/>
                  </a:moveTo>
                  <a:lnTo>
                    <a:pt x="4" y="43"/>
                  </a:lnTo>
                  <a:lnTo>
                    <a:pt x="6" y="51"/>
                  </a:lnTo>
                  <a:lnTo>
                    <a:pt x="7" y="64"/>
                  </a:lnTo>
                  <a:lnTo>
                    <a:pt x="5" y="73"/>
                  </a:lnTo>
                  <a:lnTo>
                    <a:pt x="7" y="84"/>
                  </a:lnTo>
                  <a:lnTo>
                    <a:pt x="14" y="95"/>
                  </a:lnTo>
                  <a:lnTo>
                    <a:pt x="21" y="96"/>
                  </a:lnTo>
                  <a:lnTo>
                    <a:pt x="34" y="97"/>
                  </a:lnTo>
                  <a:lnTo>
                    <a:pt x="43" y="91"/>
                  </a:lnTo>
                  <a:lnTo>
                    <a:pt x="46" y="88"/>
                  </a:lnTo>
                  <a:lnTo>
                    <a:pt x="48" y="77"/>
                  </a:lnTo>
                  <a:lnTo>
                    <a:pt x="48" y="59"/>
                  </a:lnTo>
                  <a:lnTo>
                    <a:pt x="48" y="48"/>
                  </a:lnTo>
                  <a:lnTo>
                    <a:pt x="46" y="32"/>
                  </a:lnTo>
                  <a:lnTo>
                    <a:pt x="44" y="22"/>
                  </a:lnTo>
                  <a:lnTo>
                    <a:pt x="36" y="0"/>
                  </a:lnTo>
                  <a:lnTo>
                    <a:pt x="7" y="1"/>
                  </a:lnTo>
                  <a:lnTo>
                    <a:pt x="0" y="23"/>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0" name="Freeform 123"/>
            <p:cNvSpPr>
              <a:spLocks/>
            </p:cNvSpPr>
            <p:nvPr/>
          </p:nvSpPr>
          <p:spPr bwMode="auto">
            <a:xfrm>
              <a:off x="315" y="1828"/>
              <a:ext cx="5" cy="4"/>
            </a:xfrm>
            <a:custGeom>
              <a:avLst/>
              <a:gdLst>
                <a:gd name="T0" fmla="*/ 0 w 24"/>
                <a:gd name="T1" fmla="*/ 0 h 20"/>
                <a:gd name="T2" fmla="*/ 0 w 24"/>
                <a:gd name="T3" fmla="*/ 0 h 20"/>
                <a:gd name="T4" fmla="*/ 0 w 24"/>
                <a:gd name="T5" fmla="*/ 0 h 20"/>
                <a:gd name="T6" fmla="*/ 0 w 24"/>
                <a:gd name="T7" fmla="*/ 0 h 20"/>
                <a:gd name="T8" fmla="*/ 0 w 24"/>
                <a:gd name="T9" fmla="*/ 0 h 20"/>
                <a:gd name="T10" fmla="*/ 0 w 24"/>
                <a:gd name="T11" fmla="*/ 0 h 20"/>
                <a:gd name="T12" fmla="*/ 0 w 24"/>
                <a:gd name="T13" fmla="*/ 0 h 20"/>
                <a:gd name="T14" fmla="*/ 0 w 24"/>
                <a:gd name="T15" fmla="*/ 0 h 2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 h="20">
                  <a:moveTo>
                    <a:pt x="24" y="5"/>
                  </a:moveTo>
                  <a:lnTo>
                    <a:pt x="12" y="0"/>
                  </a:lnTo>
                  <a:lnTo>
                    <a:pt x="3" y="1"/>
                  </a:lnTo>
                  <a:lnTo>
                    <a:pt x="0" y="5"/>
                  </a:lnTo>
                  <a:lnTo>
                    <a:pt x="1" y="20"/>
                  </a:lnTo>
                  <a:lnTo>
                    <a:pt x="3" y="8"/>
                  </a:lnTo>
                  <a:lnTo>
                    <a:pt x="5" y="4"/>
                  </a:lnTo>
                  <a:lnTo>
                    <a:pt x="24"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1" name="Group 124"/>
          <p:cNvGrpSpPr>
            <a:grpSpLocks/>
          </p:cNvGrpSpPr>
          <p:nvPr/>
        </p:nvGrpSpPr>
        <p:grpSpPr bwMode="auto">
          <a:xfrm>
            <a:off x="2029950" y="3663410"/>
            <a:ext cx="139921" cy="65972"/>
            <a:chOff x="375" y="2315"/>
            <a:chExt cx="139" cy="71"/>
          </a:xfrm>
        </p:grpSpPr>
        <p:sp>
          <p:nvSpPr>
            <p:cNvPr id="132" name="Freeform 125"/>
            <p:cNvSpPr>
              <a:spLocks/>
            </p:cNvSpPr>
            <p:nvPr/>
          </p:nvSpPr>
          <p:spPr bwMode="auto">
            <a:xfrm>
              <a:off x="375" y="2315"/>
              <a:ext cx="139" cy="71"/>
            </a:xfrm>
            <a:custGeom>
              <a:avLst/>
              <a:gdLst>
                <a:gd name="T0" fmla="*/ 0 w 691"/>
                <a:gd name="T1" fmla="*/ 0 h 355"/>
                <a:gd name="T2" fmla="*/ 0 w 691"/>
                <a:gd name="T3" fmla="*/ 0 h 355"/>
                <a:gd name="T4" fmla="*/ 0 w 691"/>
                <a:gd name="T5" fmla="*/ 0 h 355"/>
                <a:gd name="T6" fmla="*/ 0 w 691"/>
                <a:gd name="T7" fmla="*/ 0 h 355"/>
                <a:gd name="T8" fmla="*/ 0 w 691"/>
                <a:gd name="T9" fmla="*/ 0 h 355"/>
                <a:gd name="T10" fmla="*/ 0 w 691"/>
                <a:gd name="T11" fmla="*/ 0 h 355"/>
                <a:gd name="T12" fmla="*/ 0 w 691"/>
                <a:gd name="T13" fmla="*/ 0 h 355"/>
                <a:gd name="T14" fmla="*/ 0 w 691"/>
                <a:gd name="T15" fmla="*/ 0 h 355"/>
                <a:gd name="T16" fmla="*/ 0 w 691"/>
                <a:gd name="T17" fmla="*/ 0 h 355"/>
                <a:gd name="T18" fmla="*/ 0 w 691"/>
                <a:gd name="T19" fmla="*/ 0 h 355"/>
                <a:gd name="T20" fmla="*/ 0 w 691"/>
                <a:gd name="T21" fmla="*/ 0 h 355"/>
                <a:gd name="T22" fmla="*/ 0 w 691"/>
                <a:gd name="T23" fmla="*/ 0 h 355"/>
                <a:gd name="T24" fmla="*/ 0 w 691"/>
                <a:gd name="T25" fmla="*/ 0 h 355"/>
                <a:gd name="T26" fmla="*/ 0 w 691"/>
                <a:gd name="T27" fmla="*/ 0 h 355"/>
                <a:gd name="T28" fmla="*/ 0 w 691"/>
                <a:gd name="T29" fmla="*/ 0 h 355"/>
                <a:gd name="T30" fmla="*/ 0 w 691"/>
                <a:gd name="T31" fmla="*/ 0 h 355"/>
                <a:gd name="T32" fmla="*/ 0 w 691"/>
                <a:gd name="T33" fmla="*/ 0 h 355"/>
                <a:gd name="T34" fmla="*/ 0 w 691"/>
                <a:gd name="T35" fmla="*/ 0 h 355"/>
                <a:gd name="T36" fmla="*/ 0 w 691"/>
                <a:gd name="T37" fmla="*/ 0 h 355"/>
                <a:gd name="T38" fmla="*/ 0 w 691"/>
                <a:gd name="T39" fmla="*/ 0 h 355"/>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91" h="355">
                  <a:moveTo>
                    <a:pt x="279" y="11"/>
                  </a:moveTo>
                  <a:lnTo>
                    <a:pt x="274" y="104"/>
                  </a:lnTo>
                  <a:lnTo>
                    <a:pt x="455" y="189"/>
                  </a:lnTo>
                  <a:lnTo>
                    <a:pt x="607" y="226"/>
                  </a:lnTo>
                  <a:lnTo>
                    <a:pt x="691" y="263"/>
                  </a:lnTo>
                  <a:lnTo>
                    <a:pt x="687" y="313"/>
                  </a:lnTo>
                  <a:lnTo>
                    <a:pt x="577" y="343"/>
                  </a:lnTo>
                  <a:lnTo>
                    <a:pt x="413" y="355"/>
                  </a:lnTo>
                  <a:lnTo>
                    <a:pt x="274" y="331"/>
                  </a:lnTo>
                  <a:lnTo>
                    <a:pt x="188" y="307"/>
                  </a:lnTo>
                  <a:lnTo>
                    <a:pt x="183" y="334"/>
                  </a:lnTo>
                  <a:lnTo>
                    <a:pt x="74" y="331"/>
                  </a:lnTo>
                  <a:lnTo>
                    <a:pt x="7" y="318"/>
                  </a:lnTo>
                  <a:lnTo>
                    <a:pt x="7" y="270"/>
                  </a:lnTo>
                  <a:lnTo>
                    <a:pt x="0" y="242"/>
                  </a:lnTo>
                  <a:lnTo>
                    <a:pt x="0" y="173"/>
                  </a:lnTo>
                  <a:lnTo>
                    <a:pt x="18" y="135"/>
                  </a:lnTo>
                  <a:lnTo>
                    <a:pt x="53" y="91"/>
                  </a:lnTo>
                  <a:lnTo>
                    <a:pt x="60" y="0"/>
                  </a:lnTo>
                  <a:lnTo>
                    <a:pt x="279" y="11"/>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3" name="Freeform 126"/>
            <p:cNvSpPr>
              <a:spLocks/>
            </p:cNvSpPr>
            <p:nvPr/>
          </p:nvSpPr>
          <p:spPr bwMode="auto">
            <a:xfrm>
              <a:off x="421" y="2341"/>
              <a:ext cx="42" cy="22"/>
            </a:xfrm>
            <a:custGeom>
              <a:avLst/>
              <a:gdLst>
                <a:gd name="T0" fmla="*/ 0 w 208"/>
                <a:gd name="T1" fmla="*/ 0 h 110"/>
                <a:gd name="T2" fmla="*/ 0 w 208"/>
                <a:gd name="T3" fmla="*/ 0 h 110"/>
                <a:gd name="T4" fmla="*/ 0 w 208"/>
                <a:gd name="T5" fmla="*/ 0 h 110"/>
                <a:gd name="T6" fmla="*/ 0 w 208"/>
                <a:gd name="T7" fmla="*/ 0 h 110"/>
                <a:gd name="T8" fmla="*/ 0 w 208"/>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8" h="110">
                  <a:moveTo>
                    <a:pt x="53" y="0"/>
                  </a:moveTo>
                  <a:lnTo>
                    <a:pt x="0" y="58"/>
                  </a:lnTo>
                  <a:lnTo>
                    <a:pt x="186" y="110"/>
                  </a:lnTo>
                  <a:lnTo>
                    <a:pt x="208" y="70"/>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4" name="Freeform 127"/>
            <p:cNvSpPr>
              <a:spLocks/>
            </p:cNvSpPr>
            <p:nvPr/>
          </p:nvSpPr>
          <p:spPr bwMode="auto">
            <a:xfrm>
              <a:off x="463" y="2356"/>
              <a:ext cx="46" cy="13"/>
            </a:xfrm>
            <a:custGeom>
              <a:avLst/>
              <a:gdLst>
                <a:gd name="T0" fmla="*/ 0 w 233"/>
                <a:gd name="T1" fmla="*/ 0 h 67"/>
                <a:gd name="T2" fmla="*/ 0 w 233"/>
                <a:gd name="T3" fmla="*/ 0 h 67"/>
                <a:gd name="T4" fmla="*/ 0 w 233"/>
                <a:gd name="T5" fmla="*/ 0 h 67"/>
                <a:gd name="T6" fmla="*/ 0 w 233"/>
                <a:gd name="T7" fmla="*/ 0 h 67"/>
                <a:gd name="T8" fmla="*/ 0 w 233"/>
                <a:gd name="T9" fmla="*/ 0 h 67"/>
                <a:gd name="T10" fmla="*/ 0 w 233"/>
                <a:gd name="T11" fmla="*/ 0 h 67"/>
                <a:gd name="T12" fmla="*/ 0 w 233"/>
                <a:gd name="T13" fmla="*/ 0 h 6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3" h="67">
                  <a:moveTo>
                    <a:pt x="27" y="0"/>
                  </a:moveTo>
                  <a:lnTo>
                    <a:pt x="0" y="32"/>
                  </a:lnTo>
                  <a:lnTo>
                    <a:pt x="115" y="62"/>
                  </a:lnTo>
                  <a:lnTo>
                    <a:pt x="168" y="67"/>
                  </a:lnTo>
                  <a:lnTo>
                    <a:pt x="233" y="64"/>
                  </a:lnTo>
                  <a:lnTo>
                    <a:pt x="165" y="30"/>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5" name="Freeform 128"/>
            <p:cNvSpPr>
              <a:spLocks/>
            </p:cNvSpPr>
            <p:nvPr/>
          </p:nvSpPr>
          <p:spPr bwMode="auto">
            <a:xfrm>
              <a:off x="376" y="2341"/>
              <a:ext cx="134" cy="41"/>
            </a:xfrm>
            <a:custGeom>
              <a:avLst/>
              <a:gdLst>
                <a:gd name="T0" fmla="*/ 0 w 670"/>
                <a:gd name="T1" fmla="*/ 0 h 209"/>
                <a:gd name="T2" fmla="*/ 0 w 670"/>
                <a:gd name="T3" fmla="*/ 0 h 209"/>
                <a:gd name="T4" fmla="*/ 0 w 670"/>
                <a:gd name="T5" fmla="*/ 0 h 209"/>
                <a:gd name="T6" fmla="*/ 0 w 670"/>
                <a:gd name="T7" fmla="*/ 0 h 209"/>
                <a:gd name="T8" fmla="*/ 0 w 670"/>
                <a:gd name="T9" fmla="*/ 0 h 209"/>
                <a:gd name="T10" fmla="*/ 0 w 670"/>
                <a:gd name="T11" fmla="*/ 0 h 209"/>
                <a:gd name="T12" fmla="*/ 0 w 670"/>
                <a:gd name="T13" fmla="*/ 0 h 209"/>
                <a:gd name="T14" fmla="*/ 0 w 670"/>
                <a:gd name="T15" fmla="*/ 0 h 209"/>
                <a:gd name="T16" fmla="*/ 0 w 670"/>
                <a:gd name="T17" fmla="*/ 0 h 209"/>
                <a:gd name="T18" fmla="*/ 0 w 670"/>
                <a:gd name="T19" fmla="*/ 0 h 209"/>
                <a:gd name="T20" fmla="*/ 0 w 670"/>
                <a:gd name="T21" fmla="*/ 0 h 209"/>
                <a:gd name="T22" fmla="*/ 0 w 670"/>
                <a:gd name="T23" fmla="*/ 0 h 209"/>
                <a:gd name="T24" fmla="*/ 0 w 670"/>
                <a:gd name="T25" fmla="*/ 0 h 209"/>
                <a:gd name="T26" fmla="*/ 0 w 670"/>
                <a:gd name="T27" fmla="*/ 0 h 209"/>
                <a:gd name="T28" fmla="*/ 0 w 670"/>
                <a:gd name="T29" fmla="*/ 0 h 209"/>
                <a:gd name="T30" fmla="*/ 0 w 670"/>
                <a:gd name="T31" fmla="*/ 0 h 209"/>
                <a:gd name="T32" fmla="*/ 0 w 670"/>
                <a:gd name="T33" fmla="*/ 0 h 209"/>
                <a:gd name="T34" fmla="*/ 0 w 670"/>
                <a:gd name="T35" fmla="*/ 0 h 209"/>
                <a:gd name="T36" fmla="*/ 0 w 670"/>
                <a:gd name="T37" fmla="*/ 0 h 20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0" h="209">
                  <a:moveTo>
                    <a:pt x="670" y="178"/>
                  </a:moveTo>
                  <a:lnTo>
                    <a:pt x="670" y="146"/>
                  </a:lnTo>
                  <a:lnTo>
                    <a:pt x="582" y="155"/>
                  </a:lnTo>
                  <a:lnTo>
                    <a:pt x="442" y="134"/>
                  </a:lnTo>
                  <a:lnTo>
                    <a:pt x="361" y="116"/>
                  </a:lnTo>
                  <a:lnTo>
                    <a:pt x="206" y="66"/>
                  </a:lnTo>
                  <a:lnTo>
                    <a:pt x="140" y="58"/>
                  </a:lnTo>
                  <a:lnTo>
                    <a:pt x="73" y="34"/>
                  </a:lnTo>
                  <a:lnTo>
                    <a:pt x="40" y="0"/>
                  </a:lnTo>
                  <a:lnTo>
                    <a:pt x="0" y="43"/>
                  </a:lnTo>
                  <a:lnTo>
                    <a:pt x="0" y="132"/>
                  </a:lnTo>
                  <a:lnTo>
                    <a:pt x="49" y="146"/>
                  </a:lnTo>
                  <a:lnTo>
                    <a:pt x="170" y="162"/>
                  </a:lnTo>
                  <a:lnTo>
                    <a:pt x="218" y="167"/>
                  </a:lnTo>
                  <a:lnTo>
                    <a:pt x="298" y="196"/>
                  </a:lnTo>
                  <a:lnTo>
                    <a:pt x="388" y="209"/>
                  </a:lnTo>
                  <a:lnTo>
                    <a:pt x="452" y="209"/>
                  </a:lnTo>
                  <a:lnTo>
                    <a:pt x="553" y="209"/>
                  </a:lnTo>
                  <a:lnTo>
                    <a:pt x="670"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6" name="Freeform 129"/>
            <p:cNvSpPr>
              <a:spLocks/>
            </p:cNvSpPr>
            <p:nvPr/>
          </p:nvSpPr>
          <p:spPr bwMode="auto">
            <a:xfrm>
              <a:off x="386" y="2317"/>
              <a:ext cx="44" cy="34"/>
            </a:xfrm>
            <a:custGeom>
              <a:avLst/>
              <a:gdLst>
                <a:gd name="T0" fmla="*/ 0 w 219"/>
                <a:gd name="T1" fmla="*/ 0 h 171"/>
                <a:gd name="T2" fmla="*/ 0 w 219"/>
                <a:gd name="T3" fmla="*/ 0 h 171"/>
                <a:gd name="T4" fmla="*/ 0 w 219"/>
                <a:gd name="T5" fmla="*/ 0 h 171"/>
                <a:gd name="T6" fmla="*/ 0 w 219"/>
                <a:gd name="T7" fmla="*/ 0 h 171"/>
                <a:gd name="T8" fmla="*/ 0 w 219"/>
                <a:gd name="T9" fmla="*/ 0 h 171"/>
                <a:gd name="T10" fmla="*/ 0 w 219"/>
                <a:gd name="T11" fmla="*/ 0 h 171"/>
                <a:gd name="T12" fmla="*/ 0 w 219"/>
                <a:gd name="T13" fmla="*/ 0 h 171"/>
                <a:gd name="T14" fmla="*/ 0 w 219"/>
                <a:gd name="T15" fmla="*/ 0 h 171"/>
                <a:gd name="T16" fmla="*/ 0 w 219"/>
                <a:gd name="T17" fmla="*/ 0 h 171"/>
                <a:gd name="T18" fmla="*/ 0 w 219"/>
                <a:gd name="T19" fmla="*/ 0 h 17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171">
                  <a:moveTo>
                    <a:pt x="214" y="11"/>
                  </a:moveTo>
                  <a:lnTo>
                    <a:pt x="207" y="96"/>
                  </a:lnTo>
                  <a:lnTo>
                    <a:pt x="219" y="114"/>
                  </a:lnTo>
                  <a:lnTo>
                    <a:pt x="170" y="171"/>
                  </a:lnTo>
                  <a:lnTo>
                    <a:pt x="103" y="171"/>
                  </a:lnTo>
                  <a:lnTo>
                    <a:pt x="26" y="146"/>
                  </a:lnTo>
                  <a:lnTo>
                    <a:pt x="0" y="112"/>
                  </a:lnTo>
                  <a:lnTo>
                    <a:pt x="15" y="89"/>
                  </a:lnTo>
                  <a:lnTo>
                    <a:pt x="20" y="0"/>
                  </a:lnTo>
                  <a:lnTo>
                    <a:pt x="214"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7" name="Group 130"/>
          <p:cNvGrpSpPr>
            <a:grpSpLocks/>
          </p:cNvGrpSpPr>
          <p:nvPr/>
        </p:nvGrpSpPr>
        <p:grpSpPr bwMode="auto">
          <a:xfrm>
            <a:off x="2032970" y="3548191"/>
            <a:ext cx="58384" cy="131945"/>
            <a:chOff x="378" y="2191"/>
            <a:chExt cx="58" cy="142"/>
          </a:xfrm>
        </p:grpSpPr>
        <p:sp>
          <p:nvSpPr>
            <p:cNvPr id="138" name="Freeform 131"/>
            <p:cNvSpPr>
              <a:spLocks/>
            </p:cNvSpPr>
            <p:nvPr/>
          </p:nvSpPr>
          <p:spPr bwMode="auto">
            <a:xfrm>
              <a:off x="378" y="2191"/>
              <a:ext cx="58" cy="142"/>
            </a:xfrm>
            <a:custGeom>
              <a:avLst/>
              <a:gdLst>
                <a:gd name="T0" fmla="*/ 0 w 292"/>
                <a:gd name="T1" fmla="*/ 0 h 710"/>
                <a:gd name="T2" fmla="*/ 0 w 292"/>
                <a:gd name="T3" fmla="*/ 0 h 710"/>
                <a:gd name="T4" fmla="*/ 0 w 292"/>
                <a:gd name="T5" fmla="*/ 0 h 710"/>
                <a:gd name="T6" fmla="*/ 0 w 292"/>
                <a:gd name="T7" fmla="*/ 0 h 710"/>
                <a:gd name="T8" fmla="*/ 0 w 292"/>
                <a:gd name="T9" fmla="*/ 0 h 710"/>
                <a:gd name="T10" fmla="*/ 0 w 292"/>
                <a:gd name="T11" fmla="*/ 0 h 710"/>
                <a:gd name="T12" fmla="*/ 0 w 292"/>
                <a:gd name="T13" fmla="*/ 0 h 710"/>
                <a:gd name="T14" fmla="*/ 0 w 292"/>
                <a:gd name="T15" fmla="*/ 0 h 71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92" h="710">
                  <a:moveTo>
                    <a:pt x="24" y="15"/>
                  </a:moveTo>
                  <a:lnTo>
                    <a:pt x="6" y="256"/>
                  </a:lnTo>
                  <a:lnTo>
                    <a:pt x="10" y="454"/>
                  </a:lnTo>
                  <a:lnTo>
                    <a:pt x="0" y="678"/>
                  </a:lnTo>
                  <a:lnTo>
                    <a:pt x="144" y="710"/>
                  </a:lnTo>
                  <a:lnTo>
                    <a:pt x="283" y="710"/>
                  </a:lnTo>
                  <a:lnTo>
                    <a:pt x="292" y="0"/>
                  </a:lnTo>
                  <a:lnTo>
                    <a:pt x="24" y="15"/>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9" name="Freeform 132"/>
            <p:cNvSpPr>
              <a:spLocks/>
            </p:cNvSpPr>
            <p:nvPr/>
          </p:nvSpPr>
          <p:spPr bwMode="auto">
            <a:xfrm>
              <a:off x="383" y="2193"/>
              <a:ext cx="50" cy="136"/>
            </a:xfrm>
            <a:custGeom>
              <a:avLst/>
              <a:gdLst>
                <a:gd name="T0" fmla="*/ 0 w 252"/>
                <a:gd name="T1" fmla="*/ 0 h 681"/>
                <a:gd name="T2" fmla="*/ 0 w 252"/>
                <a:gd name="T3" fmla="*/ 0 h 681"/>
                <a:gd name="T4" fmla="*/ 0 w 252"/>
                <a:gd name="T5" fmla="*/ 0 h 681"/>
                <a:gd name="T6" fmla="*/ 0 w 252"/>
                <a:gd name="T7" fmla="*/ 0 h 681"/>
                <a:gd name="T8" fmla="*/ 0 w 252"/>
                <a:gd name="T9" fmla="*/ 0 h 681"/>
                <a:gd name="T10" fmla="*/ 0 w 252"/>
                <a:gd name="T11" fmla="*/ 0 h 681"/>
                <a:gd name="T12" fmla="*/ 0 w 252"/>
                <a:gd name="T13" fmla="*/ 0 h 681"/>
                <a:gd name="T14" fmla="*/ 0 w 252"/>
                <a:gd name="T15" fmla="*/ 0 h 68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52" h="681">
                  <a:moveTo>
                    <a:pt x="23" y="21"/>
                  </a:moveTo>
                  <a:lnTo>
                    <a:pt x="0" y="223"/>
                  </a:lnTo>
                  <a:lnTo>
                    <a:pt x="5" y="385"/>
                  </a:lnTo>
                  <a:lnTo>
                    <a:pt x="5" y="633"/>
                  </a:lnTo>
                  <a:lnTo>
                    <a:pt x="128" y="681"/>
                  </a:lnTo>
                  <a:lnTo>
                    <a:pt x="238" y="681"/>
                  </a:lnTo>
                  <a:lnTo>
                    <a:pt x="252" y="0"/>
                  </a:lnTo>
                  <a:lnTo>
                    <a:pt x="23" y="2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40" name="Group 133"/>
          <p:cNvGrpSpPr>
            <a:grpSpLocks/>
          </p:cNvGrpSpPr>
          <p:nvPr/>
        </p:nvGrpSpPr>
        <p:grpSpPr bwMode="auto">
          <a:xfrm>
            <a:off x="2063168" y="3681994"/>
            <a:ext cx="141934" cy="65972"/>
            <a:chOff x="408" y="2335"/>
            <a:chExt cx="141" cy="71"/>
          </a:xfrm>
        </p:grpSpPr>
        <p:sp>
          <p:nvSpPr>
            <p:cNvPr id="141" name="Freeform 134"/>
            <p:cNvSpPr>
              <a:spLocks/>
            </p:cNvSpPr>
            <p:nvPr/>
          </p:nvSpPr>
          <p:spPr bwMode="auto">
            <a:xfrm>
              <a:off x="408" y="2335"/>
              <a:ext cx="141" cy="71"/>
            </a:xfrm>
            <a:custGeom>
              <a:avLst/>
              <a:gdLst>
                <a:gd name="T0" fmla="*/ 0 w 703"/>
                <a:gd name="T1" fmla="*/ 0 h 356"/>
                <a:gd name="T2" fmla="*/ 0 w 703"/>
                <a:gd name="T3" fmla="*/ 0 h 356"/>
                <a:gd name="T4" fmla="*/ 0 w 703"/>
                <a:gd name="T5" fmla="*/ 0 h 356"/>
                <a:gd name="T6" fmla="*/ 0 w 703"/>
                <a:gd name="T7" fmla="*/ 0 h 356"/>
                <a:gd name="T8" fmla="*/ 0 w 703"/>
                <a:gd name="T9" fmla="*/ 0 h 356"/>
                <a:gd name="T10" fmla="*/ 0 w 703"/>
                <a:gd name="T11" fmla="*/ 0 h 356"/>
                <a:gd name="T12" fmla="*/ 0 w 703"/>
                <a:gd name="T13" fmla="*/ 0 h 356"/>
                <a:gd name="T14" fmla="*/ 0 w 703"/>
                <a:gd name="T15" fmla="*/ 0 h 356"/>
                <a:gd name="T16" fmla="*/ 0 w 703"/>
                <a:gd name="T17" fmla="*/ 0 h 356"/>
                <a:gd name="T18" fmla="*/ 0 w 703"/>
                <a:gd name="T19" fmla="*/ 0 h 356"/>
                <a:gd name="T20" fmla="*/ 0 w 703"/>
                <a:gd name="T21" fmla="*/ 0 h 356"/>
                <a:gd name="T22" fmla="*/ 0 w 703"/>
                <a:gd name="T23" fmla="*/ 0 h 356"/>
                <a:gd name="T24" fmla="*/ 0 w 703"/>
                <a:gd name="T25" fmla="*/ 0 h 356"/>
                <a:gd name="T26" fmla="*/ 0 w 703"/>
                <a:gd name="T27" fmla="*/ 0 h 356"/>
                <a:gd name="T28" fmla="*/ 0 w 703"/>
                <a:gd name="T29" fmla="*/ 0 h 356"/>
                <a:gd name="T30" fmla="*/ 0 w 703"/>
                <a:gd name="T31" fmla="*/ 0 h 356"/>
                <a:gd name="T32" fmla="*/ 0 w 703"/>
                <a:gd name="T33" fmla="*/ 0 h 356"/>
                <a:gd name="T34" fmla="*/ 0 w 703"/>
                <a:gd name="T35" fmla="*/ 0 h 356"/>
                <a:gd name="T36" fmla="*/ 0 w 703"/>
                <a:gd name="T37" fmla="*/ 0 h 356"/>
                <a:gd name="T38" fmla="*/ 0 w 703"/>
                <a:gd name="T39" fmla="*/ 0 h 35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703" h="356">
                  <a:moveTo>
                    <a:pt x="285" y="13"/>
                  </a:moveTo>
                  <a:lnTo>
                    <a:pt x="280" y="104"/>
                  </a:lnTo>
                  <a:lnTo>
                    <a:pt x="463" y="191"/>
                  </a:lnTo>
                  <a:lnTo>
                    <a:pt x="617" y="227"/>
                  </a:lnTo>
                  <a:lnTo>
                    <a:pt x="703" y="264"/>
                  </a:lnTo>
                  <a:lnTo>
                    <a:pt x="698" y="314"/>
                  </a:lnTo>
                  <a:lnTo>
                    <a:pt x="588" y="345"/>
                  </a:lnTo>
                  <a:lnTo>
                    <a:pt x="420" y="356"/>
                  </a:lnTo>
                  <a:lnTo>
                    <a:pt x="280" y="332"/>
                  </a:lnTo>
                  <a:lnTo>
                    <a:pt x="194" y="307"/>
                  </a:lnTo>
                  <a:lnTo>
                    <a:pt x="188" y="335"/>
                  </a:lnTo>
                  <a:lnTo>
                    <a:pt x="76" y="332"/>
                  </a:lnTo>
                  <a:lnTo>
                    <a:pt x="8" y="320"/>
                  </a:lnTo>
                  <a:lnTo>
                    <a:pt x="8" y="271"/>
                  </a:lnTo>
                  <a:lnTo>
                    <a:pt x="0" y="243"/>
                  </a:lnTo>
                  <a:lnTo>
                    <a:pt x="0" y="174"/>
                  </a:lnTo>
                  <a:lnTo>
                    <a:pt x="22" y="136"/>
                  </a:lnTo>
                  <a:lnTo>
                    <a:pt x="56" y="94"/>
                  </a:lnTo>
                  <a:lnTo>
                    <a:pt x="64" y="0"/>
                  </a:lnTo>
                  <a:lnTo>
                    <a:pt x="285" y="13"/>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2" name="Freeform 135"/>
            <p:cNvSpPr>
              <a:spLocks/>
            </p:cNvSpPr>
            <p:nvPr/>
          </p:nvSpPr>
          <p:spPr bwMode="auto">
            <a:xfrm>
              <a:off x="455" y="2361"/>
              <a:ext cx="42" cy="22"/>
            </a:xfrm>
            <a:custGeom>
              <a:avLst/>
              <a:gdLst>
                <a:gd name="T0" fmla="*/ 0 w 210"/>
                <a:gd name="T1" fmla="*/ 0 h 111"/>
                <a:gd name="T2" fmla="*/ 0 w 210"/>
                <a:gd name="T3" fmla="*/ 0 h 111"/>
                <a:gd name="T4" fmla="*/ 0 w 210"/>
                <a:gd name="T5" fmla="*/ 0 h 111"/>
                <a:gd name="T6" fmla="*/ 0 w 210"/>
                <a:gd name="T7" fmla="*/ 0 h 111"/>
                <a:gd name="T8" fmla="*/ 0 w 210"/>
                <a:gd name="T9" fmla="*/ 0 h 11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10" h="111">
                  <a:moveTo>
                    <a:pt x="53" y="0"/>
                  </a:moveTo>
                  <a:lnTo>
                    <a:pt x="0" y="60"/>
                  </a:lnTo>
                  <a:lnTo>
                    <a:pt x="187" y="111"/>
                  </a:lnTo>
                  <a:lnTo>
                    <a:pt x="210" y="71"/>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3" name="Freeform 136"/>
            <p:cNvSpPr>
              <a:spLocks/>
            </p:cNvSpPr>
            <p:nvPr/>
          </p:nvSpPr>
          <p:spPr bwMode="auto">
            <a:xfrm>
              <a:off x="497" y="2377"/>
              <a:ext cx="47" cy="13"/>
            </a:xfrm>
            <a:custGeom>
              <a:avLst/>
              <a:gdLst>
                <a:gd name="T0" fmla="*/ 0 w 237"/>
                <a:gd name="T1" fmla="*/ 0 h 66"/>
                <a:gd name="T2" fmla="*/ 0 w 237"/>
                <a:gd name="T3" fmla="*/ 0 h 66"/>
                <a:gd name="T4" fmla="*/ 0 w 237"/>
                <a:gd name="T5" fmla="*/ 0 h 66"/>
                <a:gd name="T6" fmla="*/ 0 w 237"/>
                <a:gd name="T7" fmla="*/ 0 h 66"/>
                <a:gd name="T8" fmla="*/ 0 w 237"/>
                <a:gd name="T9" fmla="*/ 0 h 66"/>
                <a:gd name="T10" fmla="*/ 0 w 237"/>
                <a:gd name="T11" fmla="*/ 0 h 66"/>
                <a:gd name="T12" fmla="*/ 0 w 237"/>
                <a:gd name="T13" fmla="*/ 0 h 6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7" h="66">
                  <a:moveTo>
                    <a:pt x="27" y="0"/>
                  </a:moveTo>
                  <a:lnTo>
                    <a:pt x="0" y="31"/>
                  </a:lnTo>
                  <a:lnTo>
                    <a:pt x="116" y="59"/>
                  </a:lnTo>
                  <a:lnTo>
                    <a:pt x="171" y="66"/>
                  </a:lnTo>
                  <a:lnTo>
                    <a:pt x="237" y="61"/>
                  </a:lnTo>
                  <a:lnTo>
                    <a:pt x="168" y="28"/>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4" name="Freeform 137"/>
            <p:cNvSpPr>
              <a:spLocks/>
            </p:cNvSpPr>
            <p:nvPr/>
          </p:nvSpPr>
          <p:spPr bwMode="auto">
            <a:xfrm>
              <a:off x="410" y="2361"/>
              <a:ext cx="135" cy="42"/>
            </a:xfrm>
            <a:custGeom>
              <a:avLst/>
              <a:gdLst>
                <a:gd name="T0" fmla="*/ 0 w 678"/>
                <a:gd name="T1" fmla="*/ 0 h 211"/>
                <a:gd name="T2" fmla="*/ 0 w 678"/>
                <a:gd name="T3" fmla="*/ 0 h 211"/>
                <a:gd name="T4" fmla="*/ 0 w 678"/>
                <a:gd name="T5" fmla="*/ 0 h 211"/>
                <a:gd name="T6" fmla="*/ 0 w 678"/>
                <a:gd name="T7" fmla="*/ 0 h 211"/>
                <a:gd name="T8" fmla="*/ 0 w 678"/>
                <a:gd name="T9" fmla="*/ 0 h 211"/>
                <a:gd name="T10" fmla="*/ 0 w 678"/>
                <a:gd name="T11" fmla="*/ 0 h 211"/>
                <a:gd name="T12" fmla="*/ 0 w 678"/>
                <a:gd name="T13" fmla="*/ 0 h 211"/>
                <a:gd name="T14" fmla="*/ 0 w 678"/>
                <a:gd name="T15" fmla="*/ 0 h 211"/>
                <a:gd name="T16" fmla="*/ 0 w 678"/>
                <a:gd name="T17" fmla="*/ 0 h 211"/>
                <a:gd name="T18" fmla="*/ 0 w 678"/>
                <a:gd name="T19" fmla="*/ 0 h 211"/>
                <a:gd name="T20" fmla="*/ 0 w 678"/>
                <a:gd name="T21" fmla="*/ 0 h 211"/>
                <a:gd name="T22" fmla="*/ 0 w 678"/>
                <a:gd name="T23" fmla="*/ 0 h 211"/>
                <a:gd name="T24" fmla="*/ 0 w 678"/>
                <a:gd name="T25" fmla="*/ 0 h 211"/>
                <a:gd name="T26" fmla="*/ 0 w 678"/>
                <a:gd name="T27" fmla="*/ 0 h 211"/>
                <a:gd name="T28" fmla="*/ 0 w 678"/>
                <a:gd name="T29" fmla="*/ 0 h 211"/>
                <a:gd name="T30" fmla="*/ 0 w 678"/>
                <a:gd name="T31" fmla="*/ 0 h 211"/>
                <a:gd name="T32" fmla="*/ 0 w 678"/>
                <a:gd name="T33" fmla="*/ 0 h 211"/>
                <a:gd name="T34" fmla="*/ 0 w 678"/>
                <a:gd name="T35" fmla="*/ 0 h 211"/>
                <a:gd name="T36" fmla="*/ 0 w 678"/>
                <a:gd name="T37" fmla="*/ 0 h 21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8" h="211">
                  <a:moveTo>
                    <a:pt x="678" y="178"/>
                  </a:moveTo>
                  <a:lnTo>
                    <a:pt x="678" y="147"/>
                  </a:lnTo>
                  <a:lnTo>
                    <a:pt x="590" y="156"/>
                  </a:lnTo>
                  <a:lnTo>
                    <a:pt x="446" y="136"/>
                  </a:lnTo>
                  <a:lnTo>
                    <a:pt x="365" y="117"/>
                  </a:lnTo>
                  <a:lnTo>
                    <a:pt x="209" y="66"/>
                  </a:lnTo>
                  <a:lnTo>
                    <a:pt x="140" y="60"/>
                  </a:lnTo>
                  <a:lnTo>
                    <a:pt x="74" y="35"/>
                  </a:lnTo>
                  <a:lnTo>
                    <a:pt x="39" y="0"/>
                  </a:lnTo>
                  <a:lnTo>
                    <a:pt x="0" y="44"/>
                  </a:lnTo>
                  <a:lnTo>
                    <a:pt x="0" y="133"/>
                  </a:lnTo>
                  <a:lnTo>
                    <a:pt x="50" y="147"/>
                  </a:lnTo>
                  <a:lnTo>
                    <a:pt x="171" y="162"/>
                  </a:lnTo>
                  <a:lnTo>
                    <a:pt x="220" y="170"/>
                  </a:lnTo>
                  <a:lnTo>
                    <a:pt x="300" y="197"/>
                  </a:lnTo>
                  <a:lnTo>
                    <a:pt x="392" y="211"/>
                  </a:lnTo>
                  <a:lnTo>
                    <a:pt x="458" y="211"/>
                  </a:lnTo>
                  <a:lnTo>
                    <a:pt x="560" y="211"/>
                  </a:lnTo>
                  <a:lnTo>
                    <a:pt x="678"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5" name="Freeform 138"/>
            <p:cNvSpPr>
              <a:spLocks/>
            </p:cNvSpPr>
            <p:nvPr/>
          </p:nvSpPr>
          <p:spPr bwMode="auto">
            <a:xfrm>
              <a:off x="419" y="2337"/>
              <a:ext cx="45" cy="34"/>
            </a:xfrm>
            <a:custGeom>
              <a:avLst/>
              <a:gdLst>
                <a:gd name="T0" fmla="*/ 0 w 224"/>
                <a:gd name="T1" fmla="*/ 0 h 170"/>
                <a:gd name="T2" fmla="*/ 0 w 224"/>
                <a:gd name="T3" fmla="*/ 0 h 170"/>
                <a:gd name="T4" fmla="*/ 0 w 224"/>
                <a:gd name="T5" fmla="*/ 0 h 170"/>
                <a:gd name="T6" fmla="*/ 0 w 224"/>
                <a:gd name="T7" fmla="*/ 0 h 170"/>
                <a:gd name="T8" fmla="*/ 0 w 224"/>
                <a:gd name="T9" fmla="*/ 0 h 170"/>
                <a:gd name="T10" fmla="*/ 0 w 224"/>
                <a:gd name="T11" fmla="*/ 0 h 170"/>
                <a:gd name="T12" fmla="*/ 0 w 224"/>
                <a:gd name="T13" fmla="*/ 0 h 170"/>
                <a:gd name="T14" fmla="*/ 0 w 224"/>
                <a:gd name="T15" fmla="*/ 0 h 170"/>
                <a:gd name="T16" fmla="*/ 0 w 224"/>
                <a:gd name="T17" fmla="*/ 0 h 170"/>
                <a:gd name="T18" fmla="*/ 0 w 224"/>
                <a:gd name="T19" fmla="*/ 0 h 17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24" h="170">
                  <a:moveTo>
                    <a:pt x="216" y="12"/>
                  </a:moveTo>
                  <a:lnTo>
                    <a:pt x="210" y="95"/>
                  </a:lnTo>
                  <a:lnTo>
                    <a:pt x="224" y="114"/>
                  </a:lnTo>
                  <a:lnTo>
                    <a:pt x="173" y="170"/>
                  </a:lnTo>
                  <a:lnTo>
                    <a:pt x="105" y="170"/>
                  </a:lnTo>
                  <a:lnTo>
                    <a:pt x="28" y="145"/>
                  </a:lnTo>
                  <a:lnTo>
                    <a:pt x="0" y="112"/>
                  </a:lnTo>
                  <a:lnTo>
                    <a:pt x="16" y="89"/>
                  </a:lnTo>
                  <a:lnTo>
                    <a:pt x="20" y="0"/>
                  </a:lnTo>
                  <a:lnTo>
                    <a:pt x="216" y="12"/>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46" name="Oval 139"/>
          <p:cNvSpPr>
            <a:spLocks noChangeArrowheads="1"/>
          </p:cNvSpPr>
          <p:nvPr/>
        </p:nvSpPr>
        <p:spPr bwMode="auto">
          <a:xfrm>
            <a:off x="1851777" y="3682923"/>
            <a:ext cx="168107" cy="60398"/>
          </a:xfrm>
          <a:prstGeom prst="ellipse">
            <a:avLst/>
          </a:prstGeom>
          <a:solidFill>
            <a:srgbClr val="606060"/>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47" name="Rectangle 140"/>
          <p:cNvSpPr>
            <a:spLocks noChangeArrowheads="1"/>
          </p:cNvSpPr>
          <p:nvPr/>
        </p:nvSpPr>
        <p:spPr bwMode="auto">
          <a:xfrm>
            <a:off x="1913181" y="3563058"/>
            <a:ext cx="44292" cy="137520"/>
          </a:xfrm>
          <a:prstGeom prst="rect">
            <a:avLst/>
          </a:prstGeom>
          <a:solidFill>
            <a:srgbClr val="606060"/>
          </a:solidFill>
          <a:ln w="3175">
            <a:solidFill>
              <a:srgbClr val="000000"/>
            </a:solidFill>
            <a:miter lim="800000"/>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48" name="Group 141"/>
          <p:cNvGrpSpPr>
            <a:grpSpLocks/>
          </p:cNvGrpSpPr>
          <p:nvPr/>
        </p:nvGrpSpPr>
        <p:grpSpPr bwMode="auto">
          <a:xfrm>
            <a:off x="1835671" y="3511024"/>
            <a:ext cx="222464" cy="71547"/>
            <a:chOff x="182" y="2151"/>
            <a:chExt cx="221" cy="77"/>
          </a:xfrm>
        </p:grpSpPr>
        <p:sp>
          <p:nvSpPr>
            <p:cNvPr id="149" name="Freeform 142"/>
            <p:cNvSpPr>
              <a:spLocks/>
            </p:cNvSpPr>
            <p:nvPr/>
          </p:nvSpPr>
          <p:spPr bwMode="auto">
            <a:xfrm>
              <a:off x="182" y="2151"/>
              <a:ext cx="221" cy="77"/>
            </a:xfrm>
            <a:custGeom>
              <a:avLst/>
              <a:gdLst>
                <a:gd name="T0" fmla="*/ 0 w 1106"/>
                <a:gd name="T1" fmla="*/ 0 h 386"/>
                <a:gd name="T2" fmla="*/ 0 w 1106"/>
                <a:gd name="T3" fmla="*/ 0 h 386"/>
                <a:gd name="T4" fmla="*/ 0 w 1106"/>
                <a:gd name="T5" fmla="*/ 0 h 386"/>
                <a:gd name="T6" fmla="*/ 0 w 1106"/>
                <a:gd name="T7" fmla="*/ 0 h 386"/>
                <a:gd name="T8" fmla="*/ 0 w 1106"/>
                <a:gd name="T9" fmla="*/ 0 h 386"/>
                <a:gd name="T10" fmla="*/ 0 w 1106"/>
                <a:gd name="T11" fmla="*/ 0 h 386"/>
                <a:gd name="T12" fmla="*/ 0 w 1106"/>
                <a:gd name="T13" fmla="*/ 0 h 386"/>
                <a:gd name="T14" fmla="*/ 0 w 1106"/>
                <a:gd name="T15" fmla="*/ 0 h 38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106" h="386">
                  <a:moveTo>
                    <a:pt x="1106" y="202"/>
                  </a:moveTo>
                  <a:lnTo>
                    <a:pt x="1099" y="321"/>
                  </a:lnTo>
                  <a:lnTo>
                    <a:pt x="735" y="386"/>
                  </a:lnTo>
                  <a:lnTo>
                    <a:pt x="334" y="386"/>
                  </a:lnTo>
                  <a:lnTo>
                    <a:pt x="19" y="288"/>
                  </a:lnTo>
                  <a:lnTo>
                    <a:pt x="0" y="10"/>
                  </a:lnTo>
                  <a:lnTo>
                    <a:pt x="625" y="0"/>
                  </a:lnTo>
                  <a:lnTo>
                    <a:pt x="1106" y="202"/>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0" name="Freeform 143"/>
            <p:cNvSpPr>
              <a:spLocks/>
            </p:cNvSpPr>
            <p:nvPr/>
          </p:nvSpPr>
          <p:spPr bwMode="auto">
            <a:xfrm>
              <a:off x="187" y="2180"/>
              <a:ext cx="211" cy="45"/>
            </a:xfrm>
            <a:custGeom>
              <a:avLst/>
              <a:gdLst>
                <a:gd name="T0" fmla="*/ 0 w 1055"/>
                <a:gd name="T1" fmla="*/ 0 h 221"/>
                <a:gd name="T2" fmla="*/ 0 w 1055"/>
                <a:gd name="T3" fmla="*/ 0 h 221"/>
                <a:gd name="T4" fmla="*/ 0 w 1055"/>
                <a:gd name="T5" fmla="*/ 0 h 221"/>
                <a:gd name="T6" fmla="*/ 0 w 1055"/>
                <a:gd name="T7" fmla="*/ 0 h 221"/>
                <a:gd name="T8" fmla="*/ 0 w 1055"/>
                <a:gd name="T9" fmla="*/ 0 h 221"/>
                <a:gd name="T10" fmla="*/ 0 w 1055"/>
                <a:gd name="T11" fmla="*/ 0 h 221"/>
                <a:gd name="T12" fmla="*/ 0 w 1055"/>
                <a:gd name="T13" fmla="*/ 0 h 221"/>
                <a:gd name="T14" fmla="*/ 0 w 1055"/>
                <a:gd name="T15" fmla="*/ 0 h 221"/>
                <a:gd name="T16" fmla="*/ 0 w 1055"/>
                <a:gd name="T17" fmla="*/ 0 h 22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 h="221">
                  <a:moveTo>
                    <a:pt x="1055" y="75"/>
                  </a:moveTo>
                  <a:lnTo>
                    <a:pt x="1049" y="162"/>
                  </a:lnTo>
                  <a:lnTo>
                    <a:pt x="721" y="221"/>
                  </a:lnTo>
                  <a:lnTo>
                    <a:pt x="296" y="221"/>
                  </a:lnTo>
                  <a:lnTo>
                    <a:pt x="0" y="119"/>
                  </a:lnTo>
                  <a:lnTo>
                    <a:pt x="0" y="0"/>
                  </a:lnTo>
                  <a:lnTo>
                    <a:pt x="283" y="119"/>
                  </a:lnTo>
                  <a:lnTo>
                    <a:pt x="716" y="124"/>
                  </a:lnTo>
                  <a:lnTo>
                    <a:pt x="1055" y="7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51" name="Freeform 144"/>
          <p:cNvSpPr>
            <a:spLocks/>
          </p:cNvSpPr>
          <p:nvPr/>
        </p:nvSpPr>
        <p:spPr bwMode="auto">
          <a:xfrm>
            <a:off x="1828626" y="3435758"/>
            <a:ext cx="304000" cy="260174"/>
          </a:xfrm>
          <a:custGeom>
            <a:avLst/>
            <a:gdLst>
              <a:gd name="T0" fmla="*/ 2147483646 w 1507"/>
              <a:gd name="T1" fmla="*/ 2147483646 h 1401"/>
              <a:gd name="T2" fmla="*/ 2147483646 w 1507"/>
              <a:gd name="T3" fmla="*/ 2147483646 h 1401"/>
              <a:gd name="T4" fmla="*/ 2147483646 w 1507"/>
              <a:gd name="T5" fmla="*/ 2147483646 h 1401"/>
              <a:gd name="T6" fmla="*/ 2147483646 w 1507"/>
              <a:gd name="T7" fmla="*/ 2147483646 h 1401"/>
              <a:gd name="T8" fmla="*/ 2147483646 w 1507"/>
              <a:gd name="T9" fmla="*/ 2147483646 h 1401"/>
              <a:gd name="T10" fmla="*/ 2147483646 w 1507"/>
              <a:gd name="T11" fmla="*/ 2147483646 h 1401"/>
              <a:gd name="T12" fmla="*/ 2147483646 w 1507"/>
              <a:gd name="T13" fmla="*/ 2147483646 h 1401"/>
              <a:gd name="T14" fmla="*/ 2147483646 w 1507"/>
              <a:gd name="T15" fmla="*/ 2147483646 h 1401"/>
              <a:gd name="T16" fmla="*/ 2147483646 w 1507"/>
              <a:gd name="T17" fmla="*/ 2147483646 h 1401"/>
              <a:gd name="T18" fmla="*/ 2147483646 w 1507"/>
              <a:gd name="T19" fmla="*/ 2147483646 h 1401"/>
              <a:gd name="T20" fmla="*/ 2147483646 w 1507"/>
              <a:gd name="T21" fmla="*/ 2147483646 h 1401"/>
              <a:gd name="T22" fmla="*/ 2147483646 w 1507"/>
              <a:gd name="T23" fmla="*/ 2147483646 h 1401"/>
              <a:gd name="T24" fmla="*/ 2147483646 w 1507"/>
              <a:gd name="T25" fmla="*/ 2147483646 h 1401"/>
              <a:gd name="T26" fmla="*/ 2147483646 w 1507"/>
              <a:gd name="T27" fmla="*/ 2147483646 h 1401"/>
              <a:gd name="T28" fmla="*/ 2147483646 w 1507"/>
              <a:gd name="T29" fmla="*/ 2147483646 h 1401"/>
              <a:gd name="T30" fmla="*/ 2147483646 w 1507"/>
              <a:gd name="T31" fmla="*/ 2147483646 h 1401"/>
              <a:gd name="T32" fmla="*/ 2147483646 w 1507"/>
              <a:gd name="T33" fmla="*/ 2147483646 h 1401"/>
              <a:gd name="T34" fmla="*/ 2147483646 w 1507"/>
              <a:gd name="T35" fmla="*/ 2147483646 h 1401"/>
              <a:gd name="T36" fmla="*/ 2147483646 w 1507"/>
              <a:gd name="T37" fmla="*/ 2147483646 h 1401"/>
              <a:gd name="T38" fmla="*/ 2147483646 w 1507"/>
              <a:gd name="T39" fmla="*/ 0 h 1401"/>
              <a:gd name="T40" fmla="*/ 2147483646 w 1507"/>
              <a:gd name="T41" fmla="*/ 2147483646 h 1401"/>
              <a:gd name="T42" fmla="*/ 2147483646 w 1507"/>
              <a:gd name="T43" fmla="*/ 2147483646 h 1401"/>
              <a:gd name="T44" fmla="*/ 2147483646 w 1507"/>
              <a:gd name="T45" fmla="*/ 2147483646 h 1401"/>
              <a:gd name="T46" fmla="*/ 2147483646 w 1507"/>
              <a:gd name="T47" fmla="*/ 2147483646 h 1401"/>
              <a:gd name="T48" fmla="*/ 2147483646 w 1507"/>
              <a:gd name="T49" fmla="*/ 2147483646 h 1401"/>
              <a:gd name="T50" fmla="*/ 0 w 1507"/>
              <a:gd name="T51" fmla="*/ 2147483646 h 1401"/>
              <a:gd name="T52" fmla="*/ 2147483646 w 1507"/>
              <a:gd name="T53" fmla="*/ 2147483646 h 1401"/>
              <a:gd name="T54" fmla="*/ 2147483646 w 1507"/>
              <a:gd name="T55" fmla="*/ 2147483646 h 1401"/>
              <a:gd name="T56" fmla="*/ 2147483646 w 1507"/>
              <a:gd name="T57" fmla="*/ 2147483646 h 1401"/>
              <a:gd name="T58" fmla="*/ 2147483646 w 1507"/>
              <a:gd name="T59" fmla="*/ 2147483646 h 1401"/>
              <a:gd name="T60" fmla="*/ 2147483646 w 1507"/>
              <a:gd name="T61" fmla="*/ 2147483646 h 1401"/>
              <a:gd name="T62" fmla="*/ 2147483646 w 1507"/>
              <a:gd name="T63" fmla="*/ 2147483646 h 1401"/>
              <a:gd name="T64" fmla="*/ 2147483646 w 1507"/>
              <a:gd name="T65" fmla="*/ 2147483646 h 1401"/>
              <a:gd name="T66" fmla="*/ 2147483646 w 1507"/>
              <a:gd name="T67" fmla="*/ 2147483646 h 1401"/>
              <a:gd name="T68" fmla="*/ 2147483646 w 1507"/>
              <a:gd name="T69" fmla="*/ 2147483646 h 1401"/>
              <a:gd name="T70" fmla="*/ 2147483646 w 1507"/>
              <a:gd name="T71" fmla="*/ 2147483646 h 1401"/>
              <a:gd name="T72" fmla="*/ 2147483646 w 1507"/>
              <a:gd name="T73" fmla="*/ 2147483646 h 1401"/>
              <a:gd name="T74" fmla="*/ 2147483646 w 1507"/>
              <a:gd name="T75" fmla="*/ 2147483646 h 1401"/>
              <a:gd name="T76" fmla="*/ 2147483646 w 1507"/>
              <a:gd name="T77" fmla="*/ 2147483646 h 1401"/>
              <a:gd name="T78" fmla="*/ 2147483646 w 1507"/>
              <a:gd name="T79" fmla="*/ 2147483646 h 1401"/>
              <a:gd name="T80" fmla="*/ 2147483646 w 1507"/>
              <a:gd name="T81" fmla="*/ 2147483646 h 1401"/>
              <a:gd name="T82" fmla="*/ 2147483646 w 1507"/>
              <a:gd name="T83" fmla="*/ 2147483646 h 1401"/>
              <a:gd name="T84" fmla="*/ 2147483646 w 1507"/>
              <a:gd name="T85" fmla="*/ 2147483646 h 1401"/>
              <a:gd name="T86" fmla="*/ 2147483646 w 1507"/>
              <a:gd name="T87" fmla="*/ 2147483646 h 1401"/>
              <a:gd name="T88" fmla="*/ 2147483646 w 1507"/>
              <a:gd name="T89" fmla="*/ 2147483646 h 1401"/>
              <a:gd name="T90" fmla="*/ 2147483646 w 1507"/>
              <a:gd name="T91" fmla="*/ 2147483646 h 1401"/>
              <a:gd name="T92" fmla="*/ 2147483646 w 1507"/>
              <a:gd name="T93" fmla="*/ 2147483646 h 1401"/>
              <a:gd name="T94" fmla="*/ 2147483646 w 1507"/>
              <a:gd name="T95" fmla="*/ 2147483646 h 1401"/>
              <a:gd name="T96" fmla="*/ 2147483646 w 1507"/>
              <a:gd name="T97" fmla="*/ 2147483646 h 1401"/>
              <a:gd name="T98" fmla="*/ 2147483646 w 1507"/>
              <a:gd name="T99" fmla="*/ 2147483646 h 1401"/>
              <a:gd name="T100" fmla="*/ 2147483646 w 1507"/>
              <a:gd name="T101" fmla="*/ 2147483646 h 1401"/>
              <a:gd name="T102" fmla="*/ 2147483646 w 1507"/>
              <a:gd name="T103" fmla="*/ 2147483646 h 1401"/>
              <a:gd name="T104" fmla="*/ 2147483646 w 1507"/>
              <a:gd name="T105" fmla="*/ 2147483646 h 1401"/>
              <a:gd name="T106" fmla="*/ 2147483646 w 1507"/>
              <a:gd name="T107" fmla="*/ 2147483646 h 1401"/>
              <a:gd name="T108" fmla="*/ 2147483646 w 1507"/>
              <a:gd name="T109" fmla="*/ 2147483646 h 1401"/>
              <a:gd name="T110" fmla="*/ 2147483646 w 1507"/>
              <a:gd name="T111" fmla="*/ 2147483646 h 1401"/>
              <a:gd name="T112" fmla="*/ 2147483646 w 1507"/>
              <a:gd name="T113" fmla="*/ 2147483646 h 1401"/>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1507" h="1401">
                <a:moveTo>
                  <a:pt x="1501" y="789"/>
                </a:moveTo>
                <a:lnTo>
                  <a:pt x="1493" y="649"/>
                </a:lnTo>
                <a:lnTo>
                  <a:pt x="1495" y="499"/>
                </a:lnTo>
                <a:lnTo>
                  <a:pt x="1489" y="385"/>
                </a:lnTo>
                <a:lnTo>
                  <a:pt x="1424" y="317"/>
                </a:lnTo>
                <a:lnTo>
                  <a:pt x="1345" y="278"/>
                </a:lnTo>
                <a:lnTo>
                  <a:pt x="1166" y="213"/>
                </a:lnTo>
                <a:lnTo>
                  <a:pt x="903" y="149"/>
                </a:lnTo>
                <a:lnTo>
                  <a:pt x="852" y="144"/>
                </a:lnTo>
                <a:lnTo>
                  <a:pt x="817" y="149"/>
                </a:lnTo>
                <a:lnTo>
                  <a:pt x="809" y="135"/>
                </a:lnTo>
                <a:lnTo>
                  <a:pt x="794" y="122"/>
                </a:lnTo>
                <a:lnTo>
                  <a:pt x="777" y="125"/>
                </a:lnTo>
                <a:lnTo>
                  <a:pt x="754" y="126"/>
                </a:lnTo>
                <a:lnTo>
                  <a:pt x="745" y="100"/>
                </a:lnTo>
                <a:lnTo>
                  <a:pt x="726" y="85"/>
                </a:lnTo>
                <a:lnTo>
                  <a:pt x="704" y="82"/>
                </a:lnTo>
                <a:lnTo>
                  <a:pt x="678" y="82"/>
                </a:lnTo>
                <a:lnTo>
                  <a:pt x="681" y="59"/>
                </a:lnTo>
                <a:lnTo>
                  <a:pt x="651" y="0"/>
                </a:lnTo>
                <a:lnTo>
                  <a:pt x="37" y="16"/>
                </a:lnTo>
                <a:lnTo>
                  <a:pt x="39" y="79"/>
                </a:lnTo>
                <a:lnTo>
                  <a:pt x="28" y="135"/>
                </a:lnTo>
                <a:lnTo>
                  <a:pt x="18" y="175"/>
                </a:lnTo>
                <a:lnTo>
                  <a:pt x="8" y="225"/>
                </a:lnTo>
                <a:lnTo>
                  <a:pt x="0" y="306"/>
                </a:lnTo>
                <a:lnTo>
                  <a:pt x="9" y="354"/>
                </a:lnTo>
                <a:lnTo>
                  <a:pt x="28" y="399"/>
                </a:lnTo>
                <a:lnTo>
                  <a:pt x="49" y="438"/>
                </a:lnTo>
                <a:lnTo>
                  <a:pt x="78" y="451"/>
                </a:lnTo>
                <a:lnTo>
                  <a:pt x="122" y="464"/>
                </a:lnTo>
                <a:lnTo>
                  <a:pt x="180" y="483"/>
                </a:lnTo>
                <a:lnTo>
                  <a:pt x="208" y="514"/>
                </a:lnTo>
                <a:lnTo>
                  <a:pt x="240" y="541"/>
                </a:lnTo>
                <a:lnTo>
                  <a:pt x="289" y="564"/>
                </a:lnTo>
                <a:lnTo>
                  <a:pt x="348" y="582"/>
                </a:lnTo>
                <a:lnTo>
                  <a:pt x="441" y="594"/>
                </a:lnTo>
                <a:lnTo>
                  <a:pt x="520" y="594"/>
                </a:lnTo>
                <a:lnTo>
                  <a:pt x="581" y="587"/>
                </a:lnTo>
                <a:lnTo>
                  <a:pt x="637" y="582"/>
                </a:lnTo>
                <a:lnTo>
                  <a:pt x="678" y="604"/>
                </a:lnTo>
                <a:lnTo>
                  <a:pt x="758" y="600"/>
                </a:lnTo>
                <a:lnTo>
                  <a:pt x="1078" y="645"/>
                </a:lnTo>
                <a:lnTo>
                  <a:pt x="1165" y="655"/>
                </a:lnTo>
                <a:lnTo>
                  <a:pt x="1133" y="845"/>
                </a:lnTo>
                <a:lnTo>
                  <a:pt x="1130" y="942"/>
                </a:lnTo>
                <a:lnTo>
                  <a:pt x="1149" y="1066"/>
                </a:lnTo>
                <a:lnTo>
                  <a:pt x="1169" y="1212"/>
                </a:lnTo>
                <a:lnTo>
                  <a:pt x="1169" y="1363"/>
                </a:lnTo>
                <a:lnTo>
                  <a:pt x="1244" y="1385"/>
                </a:lnTo>
                <a:lnTo>
                  <a:pt x="1339" y="1395"/>
                </a:lnTo>
                <a:lnTo>
                  <a:pt x="1420" y="1401"/>
                </a:lnTo>
                <a:lnTo>
                  <a:pt x="1507" y="1391"/>
                </a:lnTo>
                <a:lnTo>
                  <a:pt x="1501" y="1252"/>
                </a:lnTo>
                <a:lnTo>
                  <a:pt x="1501" y="1024"/>
                </a:lnTo>
                <a:lnTo>
                  <a:pt x="1501" y="824"/>
                </a:lnTo>
                <a:lnTo>
                  <a:pt x="1501" y="789"/>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2" name="Freeform 145"/>
          <p:cNvSpPr>
            <a:spLocks/>
          </p:cNvSpPr>
          <p:nvPr/>
        </p:nvSpPr>
        <p:spPr bwMode="auto">
          <a:xfrm>
            <a:off x="1832652" y="3445980"/>
            <a:ext cx="296954" cy="246235"/>
          </a:xfrm>
          <a:custGeom>
            <a:avLst/>
            <a:gdLst>
              <a:gd name="T0" fmla="*/ 2147483646 w 1473"/>
              <a:gd name="T1" fmla="*/ 2147483646 h 1324"/>
              <a:gd name="T2" fmla="*/ 2147483646 w 1473"/>
              <a:gd name="T3" fmla="*/ 2147483646 h 1324"/>
              <a:gd name="T4" fmla="*/ 2147483646 w 1473"/>
              <a:gd name="T5" fmla="*/ 2147483646 h 1324"/>
              <a:gd name="T6" fmla="*/ 2147483646 w 1473"/>
              <a:gd name="T7" fmla="*/ 2147483646 h 1324"/>
              <a:gd name="T8" fmla="*/ 2147483646 w 1473"/>
              <a:gd name="T9" fmla="*/ 2147483646 h 1324"/>
              <a:gd name="T10" fmla="*/ 2147483646 w 1473"/>
              <a:gd name="T11" fmla="*/ 2147483646 h 1324"/>
              <a:gd name="T12" fmla="*/ 2147483646 w 1473"/>
              <a:gd name="T13" fmla="*/ 2147483646 h 1324"/>
              <a:gd name="T14" fmla="*/ 2147483646 w 1473"/>
              <a:gd name="T15" fmla="*/ 2147483646 h 1324"/>
              <a:gd name="T16" fmla="*/ 2147483646 w 1473"/>
              <a:gd name="T17" fmla="*/ 2147483646 h 1324"/>
              <a:gd name="T18" fmla="*/ 2147483646 w 1473"/>
              <a:gd name="T19" fmla="*/ 2147483646 h 1324"/>
              <a:gd name="T20" fmla="*/ 2147483646 w 1473"/>
              <a:gd name="T21" fmla="*/ 2147483646 h 1324"/>
              <a:gd name="T22" fmla="*/ 2147483646 w 1473"/>
              <a:gd name="T23" fmla="*/ 2147483646 h 1324"/>
              <a:gd name="T24" fmla="*/ 2147483646 w 1473"/>
              <a:gd name="T25" fmla="*/ 2147483646 h 1324"/>
              <a:gd name="T26" fmla="*/ 2147483646 w 1473"/>
              <a:gd name="T27" fmla="*/ 2147483646 h 1324"/>
              <a:gd name="T28" fmla="*/ 2147483646 w 1473"/>
              <a:gd name="T29" fmla="*/ 2147483646 h 1324"/>
              <a:gd name="T30" fmla="*/ 2147483646 w 1473"/>
              <a:gd name="T31" fmla="*/ 2147483646 h 1324"/>
              <a:gd name="T32" fmla="*/ 2147483646 w 1473"/>
              <a:gd name="T33" fmla="*/ 2147483646 h 1324"/>
              <a:gd name="T34" fmla="*/ 2147483646 w 1473"/>
              <a:gd name="T35" fmla="*/ 2147483646 h 1324"/>
              <a:gd name="T36" fmla="*/ 2147483646 w 1473"/>
              <a:gd name="T37" fmla="*/ 2147483646 h 1324"/>
              <a:gd name="T38" fmla="*/ 2147483646 w 1473"/>
              <a:gd name="T39" fmla="*/ 2147483646 h 1324"/>
              <a:gd name="T40" fmla="*/ 2147483646 w 1473"/>
              <a:gd name="T41" fmla="*/ 2147483646 h 1324"/>
              <a:gd name="T42" fmla="*/ 2147483646 w 1473"/>
              <a:gd name="T43" fmla="*/ 2147483646 h 1324"/>
              <a:gd name="T44" fmla="*/ 2147483646 w 1473"/>
              <a:gd name="T45" fmla="*/ 2147483646 h 1324"/>
              <a:gd name="T46" fmla="*/ 2147483646 w 1473"/>
              <a:gd name="T47" fmla="*/ 2147483646 h 1324"/>
              <a:gd name="T48" fmla="*/ 2147483646 w 1473"/>
              <a:gd name="T49" fmla="*/ 2147483646 h 1324"/>
              <a:gd name="T50" fmla="*/ 2147483646 w 1473"/>
              <a:gd name="T51" fmla="*/ 2147483646 h 1324"/>
              <a:gd name="T52" fmla="*/ 2147483646 w 1473"/>
              <a:gd name="T53" fmla="*/ 2147483646 h 1324"/>
              <a:gd name="T54" fmla="*/ 2147483646 w 1473"/>
              <a:gd name="T55" fmla="*/ 2147483646 h 1324"/>
              <a:gd name="T56" fmla="*/ 2147483646 w 1473"/>
              <a:gd name="T57" fmla="*/ 2147483646 h 1324"/>
              <a:gd name="T58" fmla="*/ 2147483646 w 1473"/>
              <a:gd name="T59" fmla="*/ 2147483646 h 1324"/>
              <a:gd name="T60" fmla="*/ 2147483646 w 1473"/>
              <a:gd name="T61" fmla="*/ 2147483646 h 1324"/>
              <a:gd name="T62" fmla="*/ 2147483646 w 1473"/>
              <a:gd name="T63" fmla="*/ 2147483646 h 1324"/>
              <a:gd name="T64" fmla="*/ 2147483646 w 1473"/>
              <a:gd name="T65" fmla="*/ 2147483646 h 1324"/>
              <a:gd name="T66" fmla="*/ 2147483646 w 1473"/>
              <a:gd name="T67" fmla="*/ 2147483646 h 1324"/>
              <a:gd name="T68" fmla="*/ 2147483646 w 1473"/>
              <a:gd name="T69" fmla="*/ 2147483646 h 1324"/>
              <a:gd name="T70" fmla="*/ 2147483646 w 1473"/>
              <a:gd name="T71" fmla="*/ 2147483646 h 1324"/>
              <a:gd name="T72" fmla="*/ 2147483646 w 1473"/>
              <a:gd name="T73" fmla="*/ 2147483646 h 1324"/>
              <a:gd name="T74" fmla="*/ 2147483646 w 1473"/>
              <a:gd name="T75" fmla="*/ 2147483646 h 1324"/>
              <a:gd name="T76" fmla="*/ 2147483646 w 1473"/>
              <a:gd name="T77" fmla="*/ 2147483646 h 1324"/>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473" h="1324">
                <a:moveTo>
                  <a:pt x="49" y="23"/>
                </a:moveTo>
                <a:lnTo>
                  <a:pt x="46" y="66"/>
                </a:lnTo>
                <a:lnTo>
                  <a:pt x="29" y="49"/>
                </a:lnTo>
                <a:lnTo>
                  <a:pt x="10" y="144"/>
                </a:lnTo>
                <a:lnTo>
                  <a:pt x="0" y="254"/>
                </a:lnTo>
                <a:lnTo>
                  <a:pt x="39" y="367"/>
                </a:lnTo>
                <a:lnTo>
                  <a:pt x="130" y="393"/>
                </a:lnTo>
                <a:lnTo>
                  <a:pt x="120" y="367"/>
                </a:lnTo>
                <a:lnTo>
                  <a:pt x="169" y="406"/>
                </a:lnTo>
                <a:lnTo>
                  <a:pt x="211" y="449"/>
                </a:lnTo>
                <a:lnTo>
                  <a:pt x="306" y="494"/>
                </a:lnTo>
                <a:lnTo>
                  <a:pt x="421" y="504"/>
                </a:lnTo>
                <a:lnTo>
                  <a:pt x="562" y="511"/>
                </a:lnTo>
                <a:lnTo>
                  <a:pt x="620" y="504"/>
                </a:lnTo>
                <a:lnTo>
                  <a:pt x="569" y="481"/>
                </a:lnTo>
                <a:lnTo>
                  <a:pt x="546" y="423"/>
                </a:lnTo>
                <a:lnTo>
                  <a:pt x="588" y="471"/>
                </a:lnTo>
                <a:lnTo>
                  <a:pt x="641" y="501"/>
                </a:lnTo>
                <a:lnTo>
                  <a:pt x="688" y="527"/>
                </a:lnTo>
                <a:lnTo>
                  <a:pt x="737" y="520"/>
                </a:lnTo>
                <a:lnTo>
                  <a:pt x="706" y="497"/>
                </a:lnTo>
                <a:lnTo>
                  <a:pt x="672" y="469"/>
                </a:lnTo>
                <a:lnTo>
                  <a:pt x="725" y="488"/>
                </a:lnTo>
                <a:lnTo>
                  <a:pt x="776" y="527"/>
                </a:lnTo>
                <a:lnTo>
                  <a:pt x="946" y="546"/>
                </a:lnTo>
                <a:lnTo>
                  <a:pt x="1114" y="572"/>
                </a:lnTo>
                <a:lnTo>
                  <a:pt x="1165" y="585"/>
                </a:lnTo>
                <a:lnTo>
                  <a:pt x="1122" y="833"/>
                </a:lnTo>
                <a:lnTo>
                  <a:pt x="1155" y="1063"/>
                </a:lnTo>
                <a:lnTo>
                  <a:pt x="1159" y="1288"/>
                </a:lnTo>
                <a:lnTo>
                  <a:pt x="1266" y="1310"/>
                </a:lnTo>
                <a:lnTo>
                  <a:pt x="1360" y="1324"/>
                </a:lnTo>
                <a:lnTo>
                  <a:pt x="1473" y="1321"/>
                </a:lnTo>
                <a:lnTo>
                  <a:pt x="1468" y="998"/>
                </a:lnTo>
                <a:lnTo>
                  <a:pt x="1468" y="729"/>
                </a:lnTo>
                <a:lnTo>
                  <a:pt x="1451" y="579"/>
                </a:lnTo>
                <a:lnTo>
                  <a:pt x="1465" y="485"/>
                </a:lnTo>
                <a:lnTo>
                  <a:pt x="1455" y="381"/>
                </a:lnTo>
                <a:lnTo>
                  <a:pt x="1436" y="314"/>
                </a:lnTo>
                <a:lnTo>
                  <a:pt x="1355" y="261"/>
                </a:lnTo>
                <a:lnTo>
                  <a:pt x="1253" y="215"/>
                </a:lnTo>
                <a:lnTo>
                  <a:pt x="1057" y="150"/>
                </a:lnTo>
                <a:lnTo>
                  <a:pt x="897" y="105"/>
                </a:lnTo>
                <a:lnTo>
                  <a:pt x="809" y="98"/>
                </a:lnTo>
                <a:lnTo>
                  <a:pt x="773" y="150"/>
                </a:lnTo>
                <a:lnTo>
                  <a:pt x="662" y="205"/>
                </a:lnTo>
                <a:lnTo>
                  <a:pt x="722" y="157"/>
                </a:lnTo>
                <a:lnTo>
                  <a:pt x="767" y="131"/>
                </a:lnTo>
                <a:lnTo>
                  <a:pt x="783" y="95"/>
                </a:lnTo>
                <a:lnTo>
                  <a:pt x="776" y="79"/>
                </a:lnTo>
                <a:lnTo>
                  <a:pt x="744" y="79"/>
                </a:lnTo>
                <a:lnTo>
                  <a:pt x="725" y="98"/>
                </a:lnTo>
                <a:lnTo>
                  <a:pt x="706" y="117"/>
                </a:lnTo>
                <a:lnTo>
                  <a:pt x="656" y="137"/>
                </a:lnTo>
                <a:lnTo>
                  <a:pt x="702" y="98"/>
                </a:lnTo>
                <a:lnTo>
                  <a:pt x="722" y="68"/>
                </a:lnTo>
                <a:lnTo>
                  <a:pt x="708" y="49"/>
                </a:lnTo>
                <a:lnTo>
                  <a:pt x="669" y="36"/>
                </a:lnTo>
                <a:lnTo>
                  <a:pt x="618" y="82"/>
                </a:lnTo>
                <a:lnTo>
                  <a:pt x="569" y="112"/>
                </a:lnTo>
                <a:lnTo>
                  <a:pt x="627" y="45"/>
                </a:lnTo>
                <a:lnTo>
                  <a:pt x="646" y="20"/>
                </a:lnTo>
                <a:lnTo>
                  <a:pt x="646" y="0"/>
                </a:lnTo>
                <a:lnTo>
                  <a:pt x="597" y="7"/>
                </a:lnTo>
                <a:lnTo>
                  <a:pt x="553" y="40"/>
                </a:lnTo>
                <a:lnTo>
                  <a:pt x="523" y="63"/>
                </a:lnTo>
                <a:lnTo>
                  <a:pt x="383" y="75"/>
                </a:lnTo>
                <a:lnTo>
                  <a:pt x="386" y="40"/>
                </a:lnTo>
                <a:lnTo>
                  <a:pt x="345" y="26"/>
                </a:lnTo>
                <a:lnTo>
                  <a:pt x="345" y="72"/>
                </a:lnTo>
                <a:lnTo>
                  <a:pt x="303" y="82"/>
                </a:lnTo>
                <a:lnTo>
                  <a:pt x="211" y="95"/>
                </a:lnTo>
                <a:lnTo>
                  <a:pt x="218" y="45"/>
                </a:lnTo>
                <a:lnTo>
                  <a:pt x="185" y="45"/>
                </a:lnTo>
                <a:lnTo>
                  <a:pt x="182" y="95"/>
                </a:lnTo>
                <a:lnTo>
                  <a:pt x="130" y="91"/>
                </a:lnTo>
                <a:lnTo>
                  <a:pt x="75" y="79"/>
                </a:lnTo>
                <a:lnTo>
                  <a:pt x="72" y="40"/>
                </a:lnTo>
                <a:lnTo>
                  <a:pt x="49" y="23"/>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3" name="Freeform 146"/>
          <p:cNvSpPr>
            <a:spLocks/>
          </p:cNvSpPr>
          <p:nvPr/>
        </p:nvSpPr>
        <p:spPr bwMode="auto">
          <a:xfrm>
            <a:off x="1873923" y="3486864"/>
            <a:ext cx="40265" cy="6504"/>
          </a:xfrm>
          <a:custGeom>
            <a:avLst/>
            <a:gdLst>
              <a:gd name="T0" fmla="*/ 0 w 199"/>
              <a:gd name="T1" fmla="*/ 0 h 33"/>
              <a:gd name="T2" fmla="*/ 2147483646 w 199"/>
              <a:gd name="T3" fmla="*/ 2147483646 h 33"/>
              <a:gd name="T4" fmla="*/ 2147483646 w 199"/>
              <a:gd name="T5" fmla="*/ 2147483646 h 33"/>
              <a:gd name="T6" fmla="*/ 0 w 199"/>
              <a:gd name="T7" fmla="*/ 0 h 3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9" h="33">
                <a:moveTo>
                  <a:pt x="0" y="0"/>
                </a:moveTo>
                <a:lnTo>
                  <a:pt x="93" y="33"/>
                </a:lnTo>
                <a:lnTo>
                  <a:pt x="199" y="2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4" name="Freeform 147"/>
          <p:cNvSpPr>
            <a:spLocks/>
          </p:cNvSpPr>
          <p:nvPr/>
        </p:nvSpPr>
        <p:spPr bwMode="auto">
          <a:xfrm>
            <a:off x="1833658" y="3476643"/>
            <a:ext cx="25166" cy="7434"/>
          </a:xfrm>
          <a:custGeom>
            <a:avLst/>
            <a:gdLst>
              <a:gd name="T0" fmla="*/ 0 w 122"/>
              <a:gd name="T1" fmla="*/ 0 h 40"/>
              <a:gd name="T2" fmla="*/ 2147483646 w 122"/>
              <a:gd name="T3" fmla="*/ 2147483646 h 40"/>
              <a:gd name="T4" fmla="*/ 2147483646 w 122"/>
              <a:gd name="T5" fmla="*/ 2147483646 h 40"/>
              <a:gd name="T6" fmla="*/ 2147483646 w 122"/>
              <a:gd name="T7" fmla="*/ 2147483646 h 40"/>
              <a:gd name="T8" fmla="*/ 0 w 122"/>
              <a:gd name="T9" fmla="*/ 0 h 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22" h="40">
                <a:moveTo>
                  <a:pt x="0" y="0"/>
                </a:moveTo>
                <a:lnTo>
                  <a:pt x="32" y="25"/>
                </a:lnTo>
                <a:lnTo>
                  <a:pt x="122" y="38"/>
                </a:lnTo>
                <a:lnTo>
                  <a:pt x="30" y="40"/>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5" name="Freeform 148"/>
          <p:cNvSpPr>
            <a:spLocks/>
          </p:cNvSpPr>
          <p:nvPr/>
        </p:nvSpPr>
        <p:spPr bwMode="auto">
          <a:xfrm>
            <a:off x="1936334" y="3471068"/>
            <a:ext cx="38252" cy="18584"/>
          </a:xfrm>
          <a:custGeom>
            <a:avLst/>
            <a:gdLst>
              <a:gd name="T0" fmla="*/ 0 w 187"/>
              <a:gd name="T1" fmla="*/ 0 h 102"/>
              <a:gd name="T2" fmla="*/ 2147483646 w 187"/>
              <a:gd name="T3" fmla="*/ 2147483646 h 102"/>
              <a:gd name="T4" fmla="*/ 2147483646 w 187"/>
              <a:gd name="T5" fmla="*/ 2147483646 h 102"/>
              <a:gd name="T6" fmla="*/ 2147483646 w 187"/>
              <a:gd name="T7" fmla="*/ 2147483646 h 102"/>
              <a:gd name="T8" fmla="*/ 2147483646 w 187"/>
              <a:gd name="T9" fmla="*/ 2147483646 h 102"/>
              <a:gd name="T10" fmla="*/ 2147483646 w 187"/>
              <a:gd name="T11" fmla="*/ 2147483646 h 102"/>
              <a:gd name="T12" fmla="*/ 2147483646 w 187"/>
              <a:gd name="T13" fmla="*/ 2147483646 h 102"/>
              <a:gd name="T14" fmla="*/ 2147483646 w 187"/>
              <a:gd name="T15" fmla="*/ 2147483646 h 102"/>
              <a:gd name="T16" fmla="*/ 0 w 187"/>
              <a:gd name="T17" fmla="*/ 0 h 10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87" h="102">
                <a:moveTo>
                  <a:pt x="0" y="0"/>
                </a:moveTo>
                <a:lnTo>
                  <a:pt x="84" y="9"/>
                </a:lnTo>
                <a:lnTo>
                  <a:pt x="101" y="23"/>
                </a:lnTo>
                <a:lnTo>
                  <a:pt x="101" y="54"/>
                </a:lnTo>
                <a:lnTo>
                  <a:pt x="106" y="89"/>
                </a:lnTo>
                <a:lnTo>
                  <a:pt x="187" y="102"/>
                </a:lnTo>
                <a:lnTo>
                  <a:pt x="90" y="98"/>
                </a:lnTo>
                <a:lnTo>
                  <a:pt x="7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6" name="Freeform 149"/>
          <p:cNvSpPr>
            <a:spLocks/>
          </p:cNvSpPr>
          <p:nvPr/>
        </p:nvSpPr>
        <p:spPr bwMode="auto">
          <a:xfrm>
            <a:off x="1974586" y="3513811"/>
            <a:ext cx="122808" cy="27876"/>
          </a:xfrm>
          <a:custGeom>
            <a:avLst/>
            <a:gdLst>
              <a:gd name="T0" fmla="*/ 0 w 609"/>
              <a:gd name="T1" fmla="*/ 0 h 150"/>
              <a:gd name="T2" fmla="*/ 2147483646 w 609"/>
              <a:gd name="T3" fmla="*/ 2147483646 h 150"/>
              <a:gd name="T4" fmla="*/ 2147483646 w 609"/>
              <a:gd name="T5" fmla="*/ 2147483646 h 150"/>
              <a:gd name="T6" fmla="*/ 2147483646 w 609"/>
              <a:gd name="T7" fmla="*/ 2147483646 h 150"/>
              <a:gd name="T8" fmla="*/ 2147483646 w 609"/>
              <a:gd name="T9" fmla="*/ 2147483646 h 150"/>
              <a:gd name="T10" fmla="*/ 2147483646 w 609"/>
              <a:gd name="T11" fmla="*/ 2147483646 h 150"/>
              <a:gd name="T12" fmla="*/ 2147483646 w 609"/>
              <a:gd name="T13" fmla="*/ 2147483646 h 150"/>
              <a:gd name="T14" fmla="*/ 2147483646 w 609"/>
              <a:gd name="T15" fmla="*/ 2147483646 h 150"/>
              <a:gd name="T16" fmla="*/ 2147483646 w 609"/>
              <a:gd name="T17" fmla="*/ 2147483646 h 150"/>
              <a:gd name="T18" fmla="*/ 2147483646 w 609"/>
              <a:gd name="T19" fmla="*/ 2147483646 h 150"/>
              <a:gd name="T20" fmla="*/ 2147483646 w 609"/>
              <a:gd name="T21" fmla="*/ 2147483646 h 150"/>
              <a:gd name="T22" fmla="*/ 2147483646 w 609"/>
              <a:gd name="T23" fmla="*/ 2147483646 h 150"/>
              <a:gd name="T24" fmla="*/ 2147483646 w 609"/>
              <a:gd name="T25" fmla="*/ 2147483646 h 150"/>
              <a:gd name="T26" fmla="*/ 0 w 609"/>
              <a:gd name="T27" fmla="*/ 0 h 15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609" h="150">
                <a:moveTo>
                  <a:pt x="0" y="0"/>
                </a:moveTo>
                <a:lnTo>
                  <a:pt x="154" y="7"/>
                </a:lnTo>
                <a:lnTo>
                  <a:pt x="313" y="44"/>
                </a:lnTo>
                <a:lnTo>
                  <a:pt x="431" y="51"/>
                </a:lnTo>
                <a:lnTo>
                  <a:pt x="527" y="71"/>
                </a:lnTo>
                <a:lnTo>
                  <a:pt x="563" y="122"/>
                </a:lnTo>
                <a:lnTo>
                  <a:pt x="609" y="150"/>
                </a:lnTo>
                <a:lnTo>
                  <a:pt x="563" y="141"/>
                </a:lnTo>
                <a:lnTo>
                  <a:pt x="521" y="84"/>
                </a:lnTo>
                <a:lnTo>
                  <a:pt x="392" y="58"/>
                </a:lnTo>
                <a:lnTo>
                  <a:pt x="313" y="58"/>
                </a:lnTo>
                <a:lnTo>
                  <a:pt x="252" y="44"/>
                </a:lnTo>
                <a:lnTo>
                  <a:pt x="146" y="17"/>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7" name="Freeform 150"/>
          <p:cNvSpPr>
            <a:spLocks/>
          </p:cNvSpPr>
          <p:nvPr/>
        </p:nvSpPr>
        <p:spPr bwMode="auto">
          <a:xfrm>
            <a:off x="1851777" y="3132842"/>
            <a:ext cx="106702" cy="107786"/>
          </a:xfrm>
          <a:custGeom>
            <a:avLst/>
            <a:gdLst>
              <a:gd name="T0" fmla="*/ 2147483646 w 529"/>
              <a:gd name="T1" fmla="*/ 2147483646 h 580"/>
              <a:gd name="T2" fmla="*/ 2147483646 w 529"/>
              <a:gd name="T3" fmla="*/ 2147483646 h 580"/>
              <a:gd name="T4" fmla="*/ 2147483646 w 529"/>
              <a:gd name="T5" fmla="*/ 2147483646 h 580"/>
              <a:gd name="T6" fmla="*/ 2147483646 w 529"/>
              <a:gd name="T7" fmla="*/ 2147483646 h 580"/>
              <a:gd name="T8" fmla="*/ 2147483646 w 529"/>
              <a:gd name="T9" fmla="*/ 2147483646 h 580"/>
              <a:gd name="T10" fmla="*/ 2147483646 w 529"/>
              <a:gd name="T11" fmla="*/ 2147483646 h 580"/>
              <a:gd name="T12" fmla="*/ 2147483646 w 529"/>
              <a:gd name="T13" fmla="*/ 2147483646 h 580"/>
              <a:gd name="T14" fmla="*/ 2147483646 w 529"/>
              <a:gd name="T15" fmla="*/ 2147483646 h 580"/>
              <a:gd name="T16" fmla="*/ 2147483646 w 529"/>
              <a:gd name="T17" fmla="*/ 2147483646 h 580"/>
              <a:gd name="T18" fmla="*/ 2147483646 w 529"/>
              <a:gd name="T19" fmla="*/ 2147483646 h 580"/>
              <a:gd name="T20" fmla="*/ 2147483646 w 529"/>
              <a:gd name="T21" fmla="*/ 2147483646 h 580"/>
              <a:gd name="T22" fmla="*/ 2147483646 w 529"/>
              <a:gd name="T23" fmla="*/ 2147483646 h 580"/>
              <a:gd name="T24" fmla="*/ 2147483646 w 529"/>
              <a:gd name="T25" fmla="*/ 2147483646 h 580"/>
              <a:gd name="T26" fmla="*/ 2147483646 w 529"/>
              <a:gd name="T27" fmla="*/ 2147483646 h 580"/>
              <a:gd name="T28" fmla="*/ 2147483646 w 529"/>
              <a:gd name="T29" fmla="*/ 2147483646 h 580"/>
              <a:gd name="T30" fmla="*/ 2147483646 w 529"/>
              <a:gd name="T31" fmla="*/ 2147483646 h 580"/>
              <a:gd name="T32" fmla="*/ 2147483646 w 529"/>
              <a:gd name="T33" fmla="*/ 2147483646 h 580"/>
              <a:gd name="T34" fmla="*/ 2147483646 w 529"/>
              <a:gd name="T35" fmla="*/ 2147483646 h 580"/>
              <a:gd name="T36" fmla="*/ 2147483646 w 529"/>
              <a:gd name="T37" fmla="*/ 2147483646 h 580"/>
              <a:gd name="T38" fmla="*/ 2147483646 w 529"/>
              <a:gd name="T39" fmla="*/ 2147483646 h 580"/>
              <a:gd name="T40" fmla="*/ 2147483646 w 529"/>
              <a:gd name="T41" fmla="*/ 2147483646 h 580"/>
              <a:gd name="T42" fmla="*/ 2147483646 w 529"/>
              <a:gd name="T43" fmla="*/ 2147483646 h 580"/>
              <a:gd name="T44" fmla="*/ 2147483646 w 529"/>
              <a:gd name="T45" fmla="*/ 2147483646 h 580"/>
              <a:gd name="T46" fmla="*/ 2147483646 w 529"/>
              <a:gd name="T47" fmla="*/ 2147483646 h 580"/>
              <a:gd name="T48" fmla="*/ 2147483646 w 529"/>
              <a:gd name="T49" fmla="*/ 2147483646 h 580"/>
              <a:gd name="T50" fmla="*/ 2147483646 w 529"/>
              <a:gd name="T51" fmla="*/ 2147483646 h 580"/>
              <a:gd name="T52" fmla="*/ 2147483646 w 529"/>
              <a:gd name="T53" fmla="*/ 2147483646 h 580"/>
              <a:gd name="T54" fmla="*/ 2147483646 w 529"/>
              <a:gd name="T55" fmla="*/ 2147483646 h 580"/>
              <a:gd name="T56" fmla="*/ 2147483646 w 529"/>
              <a:gd name="T57" fmla="*/ 2147483646 h 580"/>
              <a:gd name="T58" fmla="*/ 0 w 529"/>
              <a:gd name="T59" fmla="*/ 2147483646 h 580"/>
              <a:gd name="T60" fmla="*/ 0 w 529"/>
              <a:gd name="T61" fmla="*/ 2147483646 h 580"/>
              <a:gd name="T62" fmla="*/ 2147483646 w 529"/>
              <a:gd name="T63" fmla="*/ 2147483646 h 580"/>
              <a:gd name="T64" fmla="*/ 2147483646 w 529"/>
              <a:gd name="T65" fmla="*/ 2147483646 h 580"/>
              <a:gd name="T66" fmla="*/ 2147483646 w 529"/>
              <a:gd name="T67" fmla="*/ 0 h 580"/>
              <a:gd name="T68" fmla="*/ 2147483646 w 529"/>
              <a:gd name="T69" fmla="*/ 2147483646 h 580"/>
              <a:gd name="T70" fmla="*/ 2147483646 w 529"/>
              <a:gd name="T71" fmla="*/ 2147483646 h 580"/>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529" h="580">
                <a:moveTo>
                  <a:pt x="357" y="20"/>
                </a:moveTo>
                <a:lnTo>
                  <a:pt x="403" y="53"/>
                </a:lnTo>
                <a:lnTo>
                  <a:pt x="428" y="94"/>
                </a:lnTo>
                <a:lnTo>
                  <a:pt x="451" y="138"/>
                </a:lnTo>
                <a:lnTo>
                  <a:pt x="464" y="161"/>
                </a:lnTo>
                <a:lnTo>
                  <a:pt x="464" y="186"/>
                </a:lnTo>
                <a:lnTo>
                  <a:pt x="453" y="216"/>
                </a:lnTo>
                <a:lnTo>
                  <a:pt x="476" y="239"/>
                </a:lnTo>
                <a:lnTo>
                  <a:pt x="511" y="301"/>
                </a:lnTo>
                <a:lnTo>
                  <a:pt x="529" y="334"/>
                </a:lnTo>
                <a:lnTo>
                  <a:pt x="529" y="346"/>
                </a:lnTo>
                <a:lnTo>
                  <a:pt x="526" y="357"/>
                </a:lnTo>
                <a:lnTo>
                  <a:pt x="510" y="361"/>
                </a:lnTo>
                <a:lnTo>
                  <a:pt x="487" y="362"/>
                </a:lnTo>
                <a:lnTo>
                  <a:pt x="475" y="366"/>
                </a:lnTo>
                <a:lnTo>
                  <a:pt x="476" y="391"/>
                </a:lnTo>
                <a:lnTo>
                  <a:pt x="483" y="421"/>
                </a:lnTo>
                <a:lnTo>
                  <a:pt x="469" y="437"/>
                </a:lnTo>
                <a:lnTo>
                  <a:pt x="473" y="459"/>
                </a:lnTo>
                <a:lnTo>
                  <a:pt x="462" y="472"/>
                </a:lnTo>
                <a:lnTo>
                  <a:pt x="452" y="511"/>
                </a:lnTo>
                <a:lnTo>
                  <a:pt x="436" y="523"/>
                </a:lnTo>
                <a:lnTo>
                  <a:pt x="411" y="523"/>
                </a:lnTo>
                <a:lnTo>
                  <a:pt x="375" y="517"/>
                </a:lnTo>
                <a:lnTo>
                  <a:pt x="339" y="511"/>
                </a:lnTo>
                <a:lnTo>
                  <a:pt x="342" y="580"/>
                </a:lnTo>
                <a:lnTo>
                  <a:pt x="60" y="488"/>
                </a:lnTo>
                <a:lnTo>
                  <a:pt x="83" y="435"/>
                </a:lnTo>
                <a:lnTo>
                  <a:pt x="78" y="394"/>
                </a:lnTo>
                <a:lnTo>
                  <a:pt x="0" y="316"/>
                </a:lnTo>
                <a:lnTo>
                  <a:pt x="0" y="111"/>
                </a:lnTo>
                <a:lnTo>
                  <a:pt x="52" y="55"/>
                </a:lnTo>
                <a:lnTo>
                  <a:pt x="117" y="25"/>
                </a:lnTo>
                <a:lnTo>
                  <a:pt x="186" y="0"/>
                </a:lnTo>
                <a:lnTo>
                  <a:pt x="276" y="13"/>
                </a:lnTo>
                <a:lnTo>
                  <a:pt x="357" y="2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8" name="Freeform 151"/>
          <p:cNvSpPr>
            <a:spLocks/>
          </p:cNvSpPr>
          <p:nvPr/>
        </p:nvSpPr>
        <p:spPr bwMode="auto">
          <a:xfrm>
            <a:off x="1946400" y="3197885"/>
            <a:ext cx="6040" cy="929"/>
          </a:xfrm>
          <a:custGeom>
            <a:avLst/>
            <a:gdLst>
              <a:gd name="T0" fmla="*/ 2147483646 w 30"/>
              <a:gd name="T1" fmla="*/ 2147483646 h 6"/>
              <a:gd name="T2" fmla="*/ 2147483646 w 30"/>
              <a:gd name="T3" fmla="*/ 2147483646 h 6"/>
              <a:gd name="T4" fmla="*/ 2147483646 w 30"/>
              <a:gd name="T5" fmla="*/ 2147483646 h 6"/>
              <a:gd name="T6" fmla="*/ 2147483646 w 30"/>
              <a:gd name="T7" fmla="*/ 2147483646 h 6"/>
              <a:gd name="T8" fmla="*/ 0 w 30"/>
              <a:gd name="T9" fmla="*/ 2147483646 h 6"/>
              <a:gd name="T10" fmla="*/ 2147483646 w 30"/>
              <a:gd name="T11" fmla="*/ 0 h 6"/>
              <a:gd name="T12" fmla="*/ 2147483646 w 30"/>
              <a:gd name="T13" fmla="*/ 2147483646 h 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30" h="6">
                <a:moveTo>
                  <a:pt x="30" y="2"/>
                </a:moveTo>
                <a:lnTo>
                  <a:pt x="23" y="6"/>
                </a:lnTo>
                <a:lnTo>
                  <a:pt x="8" y="5"/>
                </a:lnTo>
                <a:lnTo>
                  <a:pt x="2" y="6"/>
                </a:lnTo>
                <a:lnTo>
                  <a:pt x="0" y="1"/>
                </a:lnTo>
                <a:lnTo>
                  <a:pt x="9" y="0"/>
                </a:lnTo>
                <a:lnTo>
                  <a:pt x="3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9" name="Freeform 152"/>
          <p:cNvSpPr>
            <a:spLocks/>
          </p:cNvSpPr>
          <p:nvPr/>
        </p:nvSpPr>
        <p:spPr bwMode="auto">
          <a:xfrm>
            <a:off x="1944387" y="3194169"/>
            <a:ext cx="2013" cy="3717"/>
          </a:xfrm>
          <a:custGeom>
            <a:avLst/>
            <a:gdLst>
              <a:gd name="T0" fmla="*/ 2147483646 w 11"/>
              <a:gd name="T1" fmla="*/ 0 h 22"/>
              <a:gd name="T2" fmla="*/ 2147483646 w 11"/>
              <a:gd name="T3" fmla="*/ 2147483646 h 22"/>
              <a:gd name="T4" fmla="*/ 2147483646 w 11"/>
              <a:gd name="T5" fmla="*/ 2147483646 h 22"/>
              <a:gd name="T6" fmla="*/ 2147483646 w 11"/>
              <a:gd name="T7" fmla="*/ 2147483646 h 22"/>
              <a:gd name="T8" fmla="*/ 0 w 11"/>
              <a:gd name="T9" fmla="*/ 2147483646 h 22"/>
              <a:gd name="T10" fmla="*/ 0 w 11"/>
              <a:gd name="T11" fmla="*/ 2147483646 h 22"/>
              <a:gd name="T12" fmla="*/ 2147483646 w 11"/>
              <a:gd name="T13" fmla="*/ 0 h 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1" h="22">
                <a:moveTo>
                  <a:pt x="11" y="0"/>
                </a:moveTo>
                <a:lnTo>
                  <a:pt x="3" y="6"/>
                </a:lnTo>
                <a:lnTo>
                  <a:pt x="3" y="12"/>
                </a:lnTo>
                <a:lnTo>
                  <a:pt x="2" y="22"/>
                </a:lnTo>
                <a:lnTo>
                  <a:pt x="0" y="8"/>
                </a:lnTo>
                <a:lnTo>
                  <a:pt x="0" y="1"/>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0" name="Freeform 153"/>
          <p:cNvSpPr>
            <a:spLocks/>
          </p:cNvSpPr>
          <p:nvPr/>
        </p:nvSpPr>
        <p:spPr bwMode="auto">
          <a:xfrm>
            <a:off x="1939354" y="3181160"/>
            <a:ext cx="3020" cy="7434"/>
          </a:xfrm>
          <a:custGeom>
            <a:avLst/>
            <a:gdLst>
              <a:gd name="T0" fmla="*/ 0 w 13"/>
              <a:gd name="T1" fmla="*/ 0 h 42"/>
              <a:gd name="T2" fmla="*/ 2147483646 w 13"/>
              <a:gd name="T3" fmla="*/ 2147483646 h 42"/>
              <a:gd name="T4" fmla="*/ 2147483646 w 13"/>
              <a:gd name="T5" fmla="*/ 2147483646 h 42"/>
              <a:gd name="T6" fmla="*/ 2147483646 w 13"/>
              <a:gd name="T7" fmla="*/ 2147483646 h 42"/>
              <a:gd name="T8" fmla="*/ 0 w 13"/>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42">
                <a:moveTo>
                  <a:pt x="0" y="0"/>
                </a:moveTo>
                <a:lnTo>
                  <a:pt x="9" y="24"/>
                </a:lnTo>
                <a:lnTo>
                  <a:pt x="13" y="42"/>
                </a:lnTo>
                <a:lnTo>
                  <a:pt x="6" y="3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1" name="Freeform 154"/>
          <p:cNvSpPr>
            <a:spLocks/>
          </p:cNvSpPr>
          <p:nvPr/>
        </p:nvSpPr>
        <p:spPr bwMode="auto">
          <a:xfrm>
            <a:off x="1928281" y="3172797"/>
            <a:ext cx="12080" cy="6504"/>
          </a:xfrm>
          <a:custGeom>
            <a:avLst/>
            <a:gdLst>
              <a:gd name="T0" fmla="*/ 2147483646 w 56"/>
              <a:gd name="T1" fmla="*/ 0 h 36"/>
              <a:gd name="T2" fmla="*/ 2147483646 w 56"/>
              <a:gd name="T3" fmla="*/ 2147483646 h 36"/>
              <a:gd name="T4" fmla="*/ 2147483646 w 56"/>
              <a:gd name="T5" fmla="*/ 2147483646 h 36"/>
              <a:gd name="T6" fmla="*/ 2147483646 w 56"/>
              <a:gd name="T7" fmla="*/ 2147483646 h 36"/>
              <a:gd name="T8" fmla="*/ 2147483646 w 56"/>
              <a:gd name="T9" fmla="*/ 2147483646 h 36"/>
              <a:gd name="T10" fmla="*/ 2147483646 w 56"/>
              <a:gd name="T11" fmla="*/ 2147483646 h 36"/>
              <a:gd name="T12" fmla="*/ 2147483646 w 56"/>
              <a:gd name="T13" fmla="*/ 2147483646 h 36"/>
              <a:gd name="T14" fmla="*/ 2147483646 w 56"/>
              <a:gd name="T15" fmla="*/ 2147483646 h 36"/>
              <a:gd name="T16" fmla="*/ 0 w 56"/>
              <a:gd name="T17" fmla="*/ 2147483646 h 36"/>
              <a:gd name="T18" fmla="*/ 2147483646 w 56"/>
              <a:gd name="T19" fmla="*/ 2147483646 h 36"/>
              <a:gd name="T20" fmla="*/ 2147483646 w 56"/>
              <a:gd name="T21" fmla="*/ 0 h 36"/>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56" h="36">
                <a:moveTo>
                  <a:pt x="56" y="0"/>
                </a:moveTo>
                <a:lnTo>
                  <a:pt x="45" y="20"/>
                </a:lnTo>
                <a:lnTo>
                  <a:pt x="47" y="26"/>
                </a:lnTo>
                <a:lnTo>
                  <a:pt x="47" y="29"/>
                </a:lnTo>
                <a:lnTo>
                  <a:pt x="51" y="36"/>
                </a:lnTo>
                <a:lnTo>
                  <a:pt x="43" y="24"/>
                </a:lnTo>
                <a:lnTo>
                  <a:pt x="32" y="24"/>
                </a:lnTo>
                <a:lnTo>
                  <a:pt x="20" y="20"/>
                </a:lnTo>
                <a:lnTo>
                  <a:pt x="0" y="19"/>
                </a:lnTo>
                <a:lnTo>
                  <a:pt x="20" y="7"/>
                </a:lnTo>
                <a:lnTo>
                  <a:pt x="56"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2" name="Freeform 155"/>
          <p:cNvSpPr>
            <a:spLocks/>
          </p:cNvSpPr>
          <p:nvPr/>
        </p:nvSpPr>
        <p:spPr bwMode="auto">
          <a:xfrm>
            <a:off x="1923247" y="3162577"/>
            <a:ext cx="20133" cy="6505"/>
          </a:xfrm>
          <a:custGeom>
            <a:avLst/>
            <a:gdLst>
              <a:gd name="T0" fmla="*/ 2147483646 w 96"/>
              <a:gd name="T1" fmla="*/ 2147483646 h 34"/>
              <a:gd name="T2" fmla="*/ 2147483646 w 96"/>
              <a:gd name="T3" fmla="*/ 2147483646 h 34"/>
              <a:gd name="T4" fmla="*/ 2147483646 w 96"/>
              <a:gd name="T5" fmla="*/ 2147483646 h 34"/>
              <a:gd name="T6" fmla="*/ 2147483646 w 96"/>
              <a:gd name="T7" fmla="*/ 2147483646 h 34"/>
              <a:gd name="T8" fmla="*/ 2147483646 w 96"/>
              <a:gd name="T9" fmla="*/ 2147483646 h 34"/>
              <a:gd name="T10" fmla="*/ 2147483646 w 96"/>
              <a:gd name="T11" fmla="*/ 2147483646 h 34"/>
              <a:gd name="T12" fmla="*/ 0 w 96"/>
              <a:gd name="T13" fmla="*/ 2147483646 h 34"/>
              <a:gd name="T14" fmla="*/ 2147483646 w 96"/>
              <a:gd name="T15" fmla="*/ 2147483646 h 34"/>
              <a:gd name="T16" fmla="*/ 2147483646 w 96"/>
              <a:gd name="T17" fmla="*/ 2147483646 h 34"/>
              <a:gd name="T18" fmla="*/ 2147483646 w 96"/>
              <a:gd name="T19" fmla="*/ 0 h 34"/>
              <a:gd name="T20" fmla="*/ 2147483646 w 96"/>
              <a:gd name="T21" fmla="*/ 2147483646 h 34"/>
              <a:gd name="T22" fmla="*/ 2147483646 w 96"/>
              <a:gd name="T23" fmla="*/ 2147483646 h 34"/>
              <a:gd name="T24" fmla="*/ 2147483646 w 96"/>
              <a:gd name="T25" fmla="*/ 2147483646 h 34"/>
              <a:gd name="T26" fmla="*/ 2147483646 w 96"/>
              <a:gd name="T27" fmla="*/ 2147483646 h 34"/>
              <a:gd name="T28" fmla="*/ 2147483646 w 96"/>
              <a:gd name="T29" fmla="*/ 2147483646 h 3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96" h="34">
                <a:moveTo>
                  <a:pt x="96" y="17"/>
                </a:moveTo>
                <a:lnTo>
                  <a:pt x="92" y="29"/>
                </a:lnTo>
                <a:lnTo>
                  <a:pt x="81" y="34"/>
                </a:lnTo>
                <a:lnTo>
                  <a:pt x="66" y="24"/>
                </a:lnTo>
                <a:lnTo>
                  <a:pt x="47" y="17"/>
                </a:lnTo>
                <a:lnTo>
                  <a:pt x="15" y="17"/>
                </a:lnTo>
                <a:lnTo>
                  <a:pt x="0" y="18"/>
                </a:lnTo>
                <a:lnTo>
                  <a:pt x="24" y="9"/>
                </a:lnTo>
                <a:lnTo>
                  <a:pt x="41" y="4"/>
                </a:lnTo>
                <a:lnTo>
                  <a:pt x="39" y="0"/>
                </a:lnTo>
                <a:lnTo>
                  <a:pt x="56" y="7"/>
                </a:lnTo>
                <a:lnTo>
                  <a:pt x="54" y="2"/>
                </a:lnTo>
                <a:lnTo>
                  <a:pt x="68" y="9"/>
                </a:lnTo>
                <a:lnTo>
                  <a:pt x="79" y="9"/>
                </a:lnTo>
                <a:lnTo>
                  <a:pt x="96" y="1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3" name="Freeform 156"/>
          <p:cNvSpPr>
            <a:spLocks/>
          </p:cNvSpPr>
          <p:nvPr/>
        </p:nvSpPr>
        <p:spPr bwMode="auto">
          <a:xfrm>
            <a:off x="1888016" y="3171869"/>
            <a:ext cx="11073" cy="20442"/>
          </a:xfrm>
          <a:custGeom>
            <a:avLst/>
            <a:gdLst>
              <a:gd name="T0" fmla="*/ 2147483646 w 56"/>
              <a:gd name="T1" fmla="*/ 2147483646 h 113"/>
              <a:gd name="T2" fmla="*/ 2147483646 w 56"/>
              <a:gd name="T3" fmla="*/ 2147483646 h 113"/>
              <a:gd name="T4" fmla="*/ 2147483646 w 56"/>
              <a:gd name="T5" fmla="*/ 2147483646 h 113"/>
              <a:gd name="T6" fmla="*/ 2147483646 w 56"/>
              <a:gd name="T7" fmla="*/ 2147483646 h 113"/>
              <a:gd name="T8" fmla="*/ 2147483646 w 56"/>
              <a:gd name="T9" fmla="*/ 2147483646 h 113"/>
              <a:gd name="T10" fmla="*/ 2147483646 w 56"/>
              <a:gd name="T11" fmla="*/ 2147483646 h 113"/>
              <a:gd name="T12" fmla="*/ 2147483646 w 56"/>
              <a:gd name="T13" fmla="*/ 2147483646 h 113"/>
              <a:gd name="T14" fmla="*/ 2147483646 w 56"/>
              <a:gd name="T15" fmla="*/ 2147483646 h 113"/>
              <a:gd name="T16" fmla="*/ 2147483646 w 56"/>
              <a:gd name="T17" fmla="*/ 2147483646 h 113"/>
              <a:gd name="T18" fmla="*/ 2147483646 w 56"/>
              <a:gd name="T19" fmla="*/ 2147483646 h 113"/>
              <a:gd name="T20" fmla="*/ 2147483646 w 56"/>
              <a:gd name="T21" fmla="*/ 2147483646 h 113"/>
              <a:gd name="T22" fmla="*/ 2147483646 w 56"/>
              <a:gd name="T23" fmla="*/ 2147483646 h 113"/>
              <a:gd name="T24" fmla="*/ 2147483646 w 56"/>
              <a:gd name="T25" fmla="*/ 2147483646 h 113"/>
              <a:gd name="T26" fmla="*/ 2147483646 w 56"/>
              <a:gd name="T27" fmla="*/ 2147483646 h 113"/>
              <a:gd name="T28" fmla="*/ 2147483646 w 56"/>
              <a:gd name="T29" fmla="*/ 2147483646 h 113"/>
              <a:gd name="T30" fmla="*/ 2147483646 w 56"/>
              <a:gd name="T31" fmla="*/ 2147483646 h 113"/>
              <a:gd name="T32" fmla="*/ 2147483646 w 56"/>
              <a:gd name="T33" fmla="*/ 2147483646 h 113"/>
              <a:gd name="T34" fmla="*/ 0 w 56"/>
              <a:gd name="T35" fmla="*/ 2147483646 h 113"/>
              <a:gd name="T36" fmla="*/ 2147483646 w 56"/>
              <a:gd name="T37" fmla="*/ 2147483646 h 113"/>
              <a:gd name="T38" fmla="*/ 2147483646 w 56"/>
              <a:gd name="T39" fmla="*/ 2147483646 h 113"/>
              <a:gd name="T40" fmla="*/ 2147483646 w 56"/>
              <a:gd name="T41" fmla="*/ 0 h 113"/>
              <a:gd name="T42" fmla="*/ 2147483646 w 56"/>
              <a:gd name="T43" fmla="*/ 2147483646 h 113"/>
              <a:gd name="T44" fmla="*/ 2147483646 w 56"/>
              <a:gd name="T45" fmla="*/ 2147483646 h 11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56" h="113">
                <a:moveTo>
                  <a:pt x="56" y="21"/>
                </a:moveTo>
                <a:lnTo>
                  <a:pt x="39" y="8"/>
                </a:lnTo>
                <a:lnTo>
                  <a:pt x="19" y="11"/>
                </a:lnTo>
                <a:lnTo>
                  <a:pt x="8" y="29"/>
                </a:lnTo>
                <a:lnTo>
                  <a:pt x="6" y="55"/>
                </a:lnTo>
                <a:lnTo>
                  <a:pt x="8" y="75"/>
                </a:lnTo>
                <a:lnTo>
                  <a:pt x="15" y="91"/>
                </a:lnTo>
                <a:lnTo>
                  <a:pt x="24" y="66"/>
                </a:lnTo>
                <a:lnTo>
                  <a:pt x="35" y="52"/>
                </a:lnTo>
                <a:lnTo>
                  <a:pt x="53" y="42"/>
                </a:lnTo>
                <a:lnTo>
                  <a:pt x="38" y="62"/>
                </a:lnTo>
                <a:lnTo>
                  <a:pt x="22" y="79"/>
                </a:lnTo>
                <a:lnTo>
                  <a:pt x="21" y="95"/>
                </a:lnTo>
                <a:lnTo>
                  <a:pt x="28" y="110"/>
                </a:lnTo>
                <a:lnTo>
                  <a:pt x="37" y="113"/>
                </a:lnTo>
                <a:lnTo>
                  <a:pt x="14" y="107"/>
                </a:lnTo>
                <a:lnTo>
                  <a:pt x="2" y="83"/>
                </a:lnTo>
                <a:lnTo>
                  <a:pt x="0" y="52"/>
                </a:lnTo>
                <a:lnTo>
                  <a:pt x="2" y="24"/>
                </a:lnTo>
                <a:lnTo>
                  <a:pt x="15" y="5"/>
                </a:lnTo>
                <a:lnTo>
                  <a:pt x="32" y="0"/>
                </a:lnTo>
                <a:lnTo>
                  <a:pt x="48" y="3"/>
                </a:lnTo>
                <a:lnTo>
                  <a:pt x="56" y="2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4" name="Freeform 157"/>
          <p:cNvSpPr>
            <a:spLocks/>
          </p:cNvSpPr>
          <p:nvPr/>
        </p:nvSpPr>
        <p:spPr bwMode="auto">
          <a:xfrm>
            <a:off x="1883990" y="3168152"/>
            <a:ext cx="18119" cy="28805"/>
          </a:xfrm>
          <a:custGeom>
            <a:avLst/>
            <a:gdLst>
              <a:gd name="T0" fmla="*/ 2147483646 w 91"/>
              <a:gd name="T1" fmla="*/ 2147483646 h 153"/>
              <a:gd name="T2" fmla="*/ 2147483646 w 91"/>
              <a:gd name="T3" fmla="*/ 2147483646 h 153"/>
              <a:gd name="T4" fmla="*/ 2147483646 w 91"/>
              <a:gd name="T5" fmla="*/ 2147483646 h 153"/>
              <a:gd name="T6" fmla="*/ 2147483646 w 91"/>
              <a:gd name="T7" fmla="*/ 2147483646 h 153"/>
              <a:gd name="T8" fmla="*/ 2147483646 w 91"/>
              <a:gd name="T9" fmla="*/ 2147483646 h 153"/>
              <a:gd name="T10" fmla="*/ 2147483646 w 91"/>
              <a:gd name="T11" fmla="*/ 2147483646 h 153"/>
              <a:gd name="T12" fmla="*/ 2147483646 w 91"/>
              <a:gd name="T13" fmla="*/ 2147483646 h 153"/>
              <a:gd name="T14" fmla="*/ 2147483646 w 91"/>
              <a:gd name="T15" fmla="*/ 2147483646 h 153"/>
              <a:gd name="T16" fmla="*/ 2147483646 w 91"/>
              <a:gd name="T17" fmla="*/ 2147483646 h 153"/>
              <a:gd name="T18" fmla="*/ 2147483646 w 91"/>
              <a:gd name="T19" fmla="*/ 2147483646 h 153"/>
              <a:gd name="T20" fmla="*/ 2147483646 w 91"/>
              <a:gd name="T21" fmla="*/ 2147483646 h 153"/>
              <a:gd name="T22" fmla="*/ 2147483646 w 91"/>
              <a:gd name="T23" fmla="*/ 2147483646 h 153"/>
              <a:gd name="T24" fmla="*/ 2147483646 w 91"/>
              <a:gd name="T25" fmla="*/ 2147483646 h 153"/>
              <a:gd name="T26" fmla="*/ 2147483646 w 91"/>
              <a:gd name="T27" fmla="*/ 2147483646 h 153"/>
              <a:gd name="T28" fmla="*/ 2147483646 w 91"/>
              <a:gd name="T29" fmla="*/ 2147483646 h 153"/>
              <a:gd name="T30" fmla="*/ 2147483646 w 91"/>
              <a:gd name="T31" fmla="*/ 2147483646 h 153"/>
              <a:gd name="T32" fmla="*/ 2147483646 w 91"/>
              <a:gd name="T33" fmla="*/ 2147483646 h 153"/>
              <a:gd name="T34" fmla="*/ 2147483646 w 91"/>
              <a:gd name="T35" fmla="*/ 2147483646 h 153"/>
              <a:gd name="T36" fmla="*/ 2147483646 w 91"/>
              <a:gd name="T37" fmla="*/ 2147483646 h 153"/>
              <a:gd name="T38" fmla="*/ 0 w 91"/>
              <a:gd name="T39" fmla="*/ 2147483646 h 153"/>
              <a:gd name="T40" fmla="*/ 0 w 91"/>
              <a:gd name="T41" fmla="*/ 2147483646 h 153"/>
              <a:gd name="T42" fmla="*/ 2147483646 w 91"/>
              <a:gd name="T43" fmla="*/ 2147483646 h 153"/>
              <a:gd name="T44" fmla="*/ 2147483646 w 91"/>
              <a:gd name="T45" fmla="*/ 2147483646 h 153"/>
              <a:gd name="T46" fmla="*/ 2147483646 w 91"/>
              <a:gd name="T47" fmla="*/ 0 h 153"/>
              <a:gd name="T48" fmla="*/ 2147483646 w 91"/>
              <a:gd name="T49" fmla="*/ 2147483646 h 153"/>
              <a:gd name="T50" fmla="*/ 2147483646 w 91"/>
              <a:gd name="T51" fmla="*/ 2147483646 h 153"/>
              <a:gd name="T52" fmla="*/ 2147483646 w 91"/>
              <a:gd name="T53" fmla="*/ 2147483646 h 153"/>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91" h="153">
                <a:moveTo>
                  <a:pt x="91" y="38"/>
                </a:moveTo>
                <a:lnTo>
                  <a:pt x="76" y="13"/>
                </a:lnTo>
                <a:lnTo>
                  <a:pt x="54" y="7"/>
                </a:lnTo>
                <a:lnTo>
                  <a:pt x="24" y="12"/>
                </a:lnTo>
                <a:lnTo>
                  <a:pt x="14" y="25"/>
                </a:lnTo>
                <a:lnTo>
                  <a:pt x="7" y="48"/>
                </a:lnTo>
                <a:lnTo>
                  <a:pt x="7" y="66"/>
                </a:lnTo>
                <a:lnTo>
                  <a:pt x="11" y="79"/>
                </a:lnTo>
                <a:lnTo>
                  <a:pt x="11" y="98"/>
                </a:lnTo>
                <a:lnTo>
                  <a:pt x="15" y="120"/>
                </a:lnTo>
                <a:lnTo>
                  <a:pt x="34" y="142"/>
                </a:lnTo>
                <a:lnTo>
                  <a:pt x="47" y="142"/>
                </a:lnTo>
                <a:lnTo>
                  <a:pt x="63" y="142"/>
                </a:lnTo>
                <a:lnTo>
                  <a:pt x="63" y="144"/>
                </a:lnTo>
                <a:lnTo>
                  <a:pt x="51" y="153"/>
                </a:lnTo>
                <a:lnTo>
                  <a:pt x="36" y="151"/>
                </a:lnTo>
                <a:lnTo>
                  <a:pt x="19" y="144"/>
                </a:lnTo>
                <a:lnTo>
                  <a:pt x="6" y="121"/>
                </a:lnTo>
                <a:lnTo>
                  <a:pt x="5" y="86"/>
                </a:lnTo>
                <a:lnTo>
                  <a:pt x="0" y="62"/>
                </a:lnTo>
                <a:lnTo>
                  <a:pt x="0" y="41"/>
                </a:lnTo>
                <a:lnTo>
                  <a:pt x="9" y="23"/>
                </a:lnTo>
                <a:lnTo>
                  <a:pt x="18" y="7"/>
                </a:lnTo>
                <a:lnTo>
                  <a:pt x="42" y="0"/>
                </a:lnTo>
                <a:lnTo>
                  <a:pt x="76" y="5"/>
                </a:lnTo>
                <a:lnTo>
                  <a:pt x="89" y="13"/>
                </a:lnTo>
                <a:lnTo>
                  <a:pt x="91" y="3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5" name="Freeform 158"/>
          <p:cNvSpPr>
            <a:spLocks/>
          </p:cNvSpPr>
          <p:nvPr/>
        </p:nvSpPr>
        <p:spPr bwMode="auto">
          <a:xfrm>
            <a:off x="1895063" y="3198815"/>
            <a:ext cx="17112" cy="24159"/>
          </a:xfrm>
          <a:custGeom>
            <a:avLst/>
            <a:gdLst>
              <a:gd name="T0" fmla="*/ 0 w 83"/>
              <a:gd name="T1" fmla="*/ 0 h 127"/>
              <a:gd name="T2" fmla="*/ 2147483646 w 83"/>
              <a:gd name="T3" fmla="*/ 2147483646 h 127"/>
              <a:gd name="T4" fmla="*/ 2147483646 w 83"/>
              <a:gd name="T5" fmla="*/ 2147483646 h 127"/>
              <a:gd name="T6" fmla="*/ 2147483646 w 83"/>
              <a:gd name="T7" fmla="*/ 2147483646 h 127"/>
              <a:gd name="T8" fmla="*/ 2147483646 w 83"/>
              <a:gd name="T9" fmla="*/ 2147483646 h 127"/>
              <a:gd name="T10" fmla="*/ 2147483646 w 83"/>
              <a:gd name="T11" fmla="*/ 2147483646 h 127"/>
              <a:gd name="T12" fmla="*/ 2147483646 w 83"/>
              <a:gd name="T13" fmla="*/ 2147483646 h 127"/>
              <a:gd name="T14" fmla="*/ 2147483646 w 83"/>
              <a:gd name="T15" fmla="*/ 2147483646 h 127"/>
              <a:gd name="T16" fmla="*/ 2147483646 w 83"/>
              <a:gd name="T17" fmla="*/ 2147483646 h 127"/>
              <a:gd name="T18" fmla="*/ 0 w 83"/>
              <a:gd name="T19" fmla="*/ 0 h 12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83" h="127">
                <a:moveTo>
                  <a:pt x="0" y="0"/>
                </a:moveTo>
                <a:lnTo>
                  <a:pt x="10" y="27"/>
                </a:lnTo>
                <a:lnTo>
                  <a:pt x="27" y="57"/>
                </a:lnTo>
                <a:lnTo>
                  <a:pt x="45" y="83"/>
                </a:lnTo>
                <a:lnTo>
                  <a:pt x="70" y="116"/>
                </a:lnTo>
                <a:lnTo>
                  <a:pt x="83" y="127"/>
                </a:lnTo>
                <a:lnTo>
                  <a:pt x="55" y="113"/>
                </a:lnTo>
                <a:lnTo>
                  <a:pt x="33" y="82"/>
                </a:lnTo>
                <a:lnTo>
                  <a:pt x="12" y="46"/>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6" name="Freeform 159"/>
          <p:cNvSpPr>
            <a:spLocks/>
          </p:cNvSpPr>
          <p:nvPr/>
        </p:nvSpPr>
        <p:spPr bwMode="auto">
          <a:xfrm>
            <a:off x="1843725" y="3117975"/>
            <a:ext cx="95630" cy="89202"/>
          </a:xfrm>
          <a:custGeom>
            <a:avLst/>
            <a:gdLst>
              <a:gd name="T0" fmla="*/ 2147483646 w 478"/>
              <a:gd name="T1" fmla="*/ 2147483646 h 480"/>
              <a:gd name="T2" fmla="*/ 2147483646 w 478"/>
              <a:gd name="T3" fmla="*/ 2147483646 h 480"/>
              <a:gd name="T4" fmla="*/ 2147483646 w 478"/>
              <a:gd name="T5" fmla="*/ 2147483646 h 480"/>
              <a:gd name="T6" fmla="*/ 2147483646 w 478"/>
              <a:gd name="T7" fmla="*/ 2147483646 h 480"/>
              <a:gd name="T8" fmla="*/ 2147483646 w 478"/>
              <a:gd name="T9" fmla="*/ 2147483646 h 480"/>
              <a:gd name="T10" fmla="*/ 2147483646 w 478"/>
              <a:gd name="T11" fmla="*/ 2147483646 h 480"/>
              <a:gd name="T12" fmla="*/ 2147483646 w 478"/>
              <a:gd name="T13" fmla="*/ 2147483646 h 480"/>
              <a:gd name="T14" fmla="*/ 2147483646 w 478"/>
              <a:gd name="T15" fmla="*/ 2147483646 h 480"/>
              <a:gd name="T16" fmla="*/ 2147483646 w 478"/>
              <a:gd name="T17" fmla="*/ 2147483646 h 480"/>
              <a:gd name="T18" fmla="*/ 2147483646 w 478"/>
              <a:gd name="T19" fmla="*/ 2147483646 h 480"/>
              <a:gd name="T20" fmla="*/ 2147483646 w 478"/>
              <a:gd name="T21" fmla="*/ 2147483646 h 480"/>
              <a:gd name="T22" fmla="*/ 2147483646 w 478"/>
              <a:gd name="T23" fmla="*/ 2147483646 h 480"/>
              <a:gd name="T24" fmla="*/ 2147483646 w 478"/>
              <a:gd name="T25" fmla="*/ 2147483646 h 480"/>
              <a:gd name="T26" fmla="*/ 2147483646 w 478"/>
              <a:gd name="T27" fmla="*/ 2147483646 h 480"/>
              <a:gd name="T28" fmla="*/ 2147483646 w 478"/>
              <a:gd name="T29" fmla="*/ 2147483646 h 480"/>
              <a:gd name="T30" fmla="*/ 2147483646 w 478"/>
              <a:gd name="T31" fmla="*/ 2147483646 h 480"/>
              <a:gd name="T32" fmla="*/ 2147483646 w 478"/>
              <a:gd name="T33" fmla="*/ 2147483646 h 480"/>
              <a:gd name="T34" fmla="*/ 2147483646 w 478"/>
              <a:gd name="T35" fmla="*/ 2147483646 h 480"/>
              <a:gd name="T36" fmla="*/ 2147483646 w 478"/>
              <a:gd name="T37" fmla="*/ 2147483646 h 480"/>
              <a:gd name="T38" fmla="*/ 2147483646 w 478"/>
              <a:gd name="T39" fmla="*/ 2147483646 h 480"/>
              <a:gd name="T40" fmla="*/ 2147483646 w 478"/>
              <a:gd name="T41" fmla="*/ 2147483646 h 480"/>
              <a:gd name="T42" fmla="*/ 2147483646 w 478"/>
              <a:gd name="T43" fmla="*/ 2147483646 h 480"/>
              <a:gd name="T44" fmla="*/ 2147483646 w 478"/>
              <a:gd name="T45" fmla="*/ 2147483646 h 480"/>
              <a:gd name="T46" fmla="*/ 2147483646 w 478"/>
              <a:gd name="T47" fmla="*/ 2147483646 h 480"/>
              <a:gd name="T48" fmla="*/ 2147483646 w 478"/>
              <a:gd name="T49" fmla="*/ 2147483646 h 480"/>
              <a:gd name="T50" fmla="*/ 0 w 478"/>
              <a:gd name="T51" fmla="*/ 2147483646 h 480"/>
              <a:gd name="T52" fmla="*/ 2147483646 w 478"/>
              <a:gd name="T53" fmla="*/ 2147483646 h 480"/>
              <a:gd name="T54" fmla="*/ 2147483646 w 478"/>
              <a:gd name="T55" fmla="*/ 2147483646 h 480"/>
              <a:gd name="T56" fmla="*/ 2147483646 w 478"/>
              <a:gd name="T57" fmla="*/ 2147483646 h 480"/>
              <a:gd name="T58" fmla="*/ 2147483646 w 478"/>
              <a:gd name="T59" fmla="*/ 2147483646 h 480"/>
              <a:gd name="T60" fmla="*/ 2147483646 w 478"/>
              <a:gd name="T61" fmla="*/ 0 h 480"/>
              <a:gd name="T62" fmla="*/ 2147483646 w 478"/>
              <a:gd name="T63" fmla="*/ 2147483646 h 480"/>
              <a:gd name="T64" fmla="*/ 2147483646 w 478"/>
              <a:gd name="T65" fmla="*/ 2147483646 h 480"/>
              <a:gd name="T66" fmla="*/ 2147483646 w 478"/>
              <a:gd name="T67" fmla="*/ 2147483646 h 480"/>
              <a:gd name="T68" fmla="*/ 2147483646 w 478"/>
              <a:gd name="T69" fmla="*/ 2147483646 h 480"/>
              <a:gd name="T70" fmla="*/ 2147483646 w 478"/>
              <a:gd name="T71" fmla="*/ 2147483646 h 480"/>
              <a:gd name="T72" fmla="*/ 2147483646 w 478"/>
              <a:gd name="T73" fmla="*/ 2147483646 h 480"/>
              <a:gd name="T74" fmla="*/ 2147483646 w 478"/>
              <a:gd name="T75" fmla="*/ 2147483646 h 48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478" h="480">
                <a:moveTo>
                  <a:pt x="440" y="138"/>
                </a:moveTo>
                <a:lnTo>
                  <a:pt x="367" y="127"/>
                </a:lnTo>
                <a:lnTo>
                  <a:pt x="320" y="133"/>
                </a:lnTo>
                <a:lnTo>
                  <a:pt x="290" y="168"/>
                </a:lnTo>
                <a:lnTo>
                  <a:pt x="308" y="209"/>
                </a:lnTo>
                <a:lnTo>
                  <a:pt x="331" y="224"/>
                </a:lnTo>
                <a:lnTo>
                  <a:pt x="338" y="262"/>
                </a:lnTo>
                <a:lnTo>
                  <a:pt x="324" y="287"/>
                </a:lnTo>
                <a:lnTo>
                  <a:pt x="335" y="325"/>
                </a:lnTo>
                <a:lnTo>
                  <a:pt x="306" y="325"/>
                </a:lnTo>
                <a:lnTo>
                  <a:pt x="298" y="282"/>
                </a:lnTo>
                <a:lnTo>
                  <a:pt x="280" y="262"/>
                </a:lnTo>
                <a:lnTo>
                  <a:pt x="243" y="262"/>
                </a:lnTo>
                <a:lnTo>
                  <a:pt x="209" y="271"/>
                </a:lnTo>
                <a:lnTo>
                  <a:pt x="197" y="301"/>
                </a:lnTo>
                <a:lnTo>
                  <a:pt x="193" y="341"/>
                </a:lnTo>
                <a:lnTo>
                  <a:pt x="197" y="370"/>
                </a:lnTo>
                <a:lnTo>
                  <a:pt x="197" y="391"/>
                </a:lnTo>
                <a:lnTo>
                  <a:pt x="195" y="416"/>
                </a:lnTo>
                <a:lnTo>
                  <a:pt x="172" y="439"/>
                </a:lnTo>
                <a:lnTo>
                  <a:pt x="156" y="453"/>
                </a:lnTo>
                <a:lnTo>
                  <a:pt x="115" y="480"/>
                </a:lnTo>
                <a:lnTo>
                  <a:pt x="37" y="399"/>
                </a:lnTo>
                <a:lnTo>
                  <a:pt x="14" y="334"/>
                </a:lnTo>
                <a:lnTo>
                  <a:pt x="5" y="229"/>
                </a:lnTo>
                <a:lnTo>
                  <a:pt x="0" y="154"/>
                </a:lnTo>
                <a:lnTo>
                  <a:pt x="9" y="82"/>
                </a:lnTo>
                <a:lnTo>
                  <a:pt x="30" y="42"/>
                </a:lnTo>
                <a:lnTo>
                  <a:pt x="78" y="15"/>
                </a:lnTo>
                <a:lnTo>
                  <a:pt x="121" y="7"/>
                </a:lnTo>
                <a:lnTo>
                  <a:pt x="204" y="0"/>
                </a:lnTo>
                <a:lnTo>
                  <a:pt x="285" y="5"/>
                </a:lnTo>
                <a:lnTo>
                  <a:pt x="387" y="22"/>
                </a:lnTo>
                <a:lnTo>
                  <a:pt x="432" y="44"/>
                </a:lnTo>
                <a:lnTo>
                  <a:pt x="455" y="67"/>
                </a:lnTo>
                <a:lnTo>
                  <a:pt x="478" y="102"/>
                </a:lnTo>
                <a:lnTo>
                  <a:pt x="475" y="120"/>
                </a:lnTo>
                <a:lnTo>
                  <a:pt x="440" y="138"/>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7" name="Freeform 160"/>
          <p:cNvSpPr>
            <a:spLocks/>
          </p:cNvSpPr>
          <p:nvPr/>
        </p:nvSpPr>
        <p:spPr bwMode="auto">
          <a:xfrm>
            <a:off x="1845737" y="3118904"/>
            <a:ext cx="91603" cy="85486"/>
          </a:xfrm>
          <a:custGeom>
            <a:avLst/>
            <a:gdLst>
              <a:gd name="T0" fmla="*/ 2147483646 w 455"/>
              <a:gd name="T1" fmla="*/ 2147483646 h 460"/>
              <a:gd name="T2" fmla="*/ 2147483646 w 455"/>
              <a:gd name="T3" fmla="*/ 2147483646 h 460"/>
              <a:gd name="T4" fmla="*/ 2147483646 w 455"/>
              <a:gd name="T5" fmla="*/ 2147483646 h 460"/>
              <a:gd name="T6" fmla="*/ 2147483646 w 455"/>
              <a:gd name="T7" fmla="*/ 2147483646 h 460"/>
              <a:gd name="T8" fmla="*/ 2147483646 w 455"/>
              <a:gd name="T9" fmla="*/ 2147483646 h 460"/>
              <a:gd name="T10" fmla="*/ 2147483646 w 455"/>
              <a:gd name="T11" fmla="*/ 2147483646 h 460"/>
              <a:gd name="T12" fmla="*/ 2147483646 w 455"/>
              <a:gd name="T13" fmla="*/ 2147483646 h 460"/>
              <a:gd name="T14" fmla="*/ 2147483646 w 455"/>
              <a:gd name="T15" fmla="*/ 2147483646 h 460"/>
              <a:gd name="T16" fmla="*/ 2147483646 w 455"/>
              <a:gd name="T17" fmla="*/ 2147483646 h 460"/>
              <a:gd name="T18" fmla="*/ 2147483646 w 455"/>
              <a:gd name="T19" fmla="*/ 2147483646 h 460"/>
              <a:gd name="T20" fmla="*/ 2147483646 w 455"/>
              <a:gd name="T21" fmla="*/ 2147483646 h 460"/>
              <a:gd name="T22" fmla="*/ 2147483646 w 455"/>
              <a:gd name="T23" fmla="*/ 2147483646 h 460"/>
              <a:gd name="T24" fmla="*/ 2147483646 w 455"/>
              <a:gd name="T25" fmla="*/ 2147483646 h 460"/>
              <a:gd name="T26" fmla="*/ 2147483646 w 455"/>
              <a:gd name="T27" fmla="*/ 2147483646 h 460"/>
              <a:gd name="T28" fmla="*/ 2147483646 w 455"/>
              <a:gd name="T29" fmla="*/ 2147483646 h 460"/>
              <a:gd name="T30" fmla="*/ 2147483646 w 455"/>
              <a:gd name="T31" fmla="*/ 2147483646 h 460"/>
              <a:gd name="T32" fmla="*/ 2147483646 w 455"/>
              <a:gd name="T33" fmla="*/ 2147483646 h 460"/>
              <a:gd name="T34" fmla="*/ 2147483646 w 455"/>
              <a:gd name="T35" fmla="*/ 2147483646 h 460"/>
              <a:gd name="T36" fmla="*/ 2147483646 w 455"/>
              <a:gd name="T37" fmla="*/ 2147483646 h 460"/>
              <a:gd name="T38" fmla="*/ 2147483646 w 455"/>
              <a:gd name="T39" fmla="*/ 2147483646 h 460"/>
              <a:gd name="T40" fmla="*/ 2147483646 w 455"/>
              <a:gd name="T41" fmla="*/ 2147483646 h 460"/>
              <a:gd name="T42" fmla="*/ 2147483646 w 455"/>
              <a:gd name="T43" fmla="*/ 2147483646 h 460"/>
              <a:gd name="T44" fmla="*/ 2147483646 w 455"/>
              <a:gd name="T45" fmla="*/ 2147483646 h 460"/>
              <a:gd name="T46" fmla="*/ 2147483646 w 455"/>
              <a:gd name="T47" fmla="*/ 2147483646 h 460"/>
              <a:gd name="T48" fmla="*/ 2147483646 w 455"/>
              <a:gd name="T49" fmla="*/ 2147483646 h 460"/>
              <a:gd name="T50" fmla="*/ 2147483646 w 455"/>
              <a:gd name="T51" fmla="*/ 2147483646 h 460"/>
              <a:gd name="T52" fmla="*/ 2147483646 w 455"/>
              <a:gd name="T53" fmla="*/ 2147483646 h 460"/>
              <a:gd name="T54" fmla="*/ 2147483646 w 455"/>
              <a:gd name="T55" fmla="*/ 2147483646 h 460"/>
              <a:gd name="T56" fmla="*/ 2147483646 w 455"/>
              <a:gd name="T57" fmla="*/ 2147483646 h 460"/>
              <a:gd name="T58" fmla="*/ 2147483646 w 455"/>
              <a:gd name="T59" fmla="*/ 2147483646 h 460"/>
              <a:gd name="T60" fmla="*/ 2147483646 w 455"/>
              <a:gd name="T61" fmla="*/ 2147483646 h 460"/>
              <a:gd name="T62" fmla="*/ 2147483646 w 455"/>
              <a:gd name="T63" fmla="*/ 2147483646 h 460"/>
              <a:gd name="T64" fmla="*/ 2147483646 w 455"/>
              <a:gd name="T65" fmla="*/ 2147483646 h 460"/>
              <a:gd name="T66" fmla="*/ 2147483646 w 455"/>
              <a:gd name="T67" fmla="*/ 2147483646 h 460"/>
              <a:gd name="T68" fmla="*/ 2147483646 w 455"/>
              <a:gd name="T69" fmla="*/ 2147483646 h 460"/>
              <a:gd name="T70" fmla="*/ 2147483646 w 455"/>
              <a:gd name="T71" fmla="*/ 2147483646 h 460"/>
              <a:gd name="T72" fmla="*/ 2147483646 w 455"/>
              <a:gd name="T73" fmla="*/ 2147483646 h 460"/>
              <a:gd name="T74" fmla="*/ 2147483646 w 455"/>
              <a:gd name="T75" fmla="*/ 2147483646 h 460"/>
              <a:gd name="T76" fmla="*/ 2147483646 w 455"/>
              <a:gd name="T77" fmla="*/ 2147483646 h 460"/>
              <a:gd name="T78" fmla="*/ 2147483646 w 455"/>
              <a:gd name="T79" fmla="*/ 2147483646 h 460"/>
              <a:gd name="T80" fmla="*/ 2147483646 w 455"/>
              <a:gd name="T81" fmla="*/ 2147483646 h 460"/>
              <a:gd name="T82" fmla="*/ 2147483646 w 455"/>
              <a:gd name="T83" fmla="*/ 2147483646 h 460"/>
              <a:gd name="T84" fmla="*/ 2147483646 w 455"/>
              <a:gd name="T85" fmla="*/ 2147483646 h 460"/>
              <a:gd name="T86" fmla="*/ 2147483646 w 455"/>
              <a:gd name="T87" fmla="*/ 2147483646 h 460"/>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455" h="460">
                <a:moveTo>
                  <a:pt x="379" y="28"/>
                </a:moveTo>
                <a:lnTo>
                  <a:pt x="418" y="44"/>
                </a:lnTo>
                <a:lnTo>
                  <a:pt x="436" y="69"/>
                </a:lnTo>
                <a:lnTo>
                  <a:pt x="447" y="85"/>
                </a:lnTo>
                <a:lnTo>
                  <a:pt x="455" y="98"/>
                </a:lnTo>
                <a:lnTo>
                  <a:pt x="444" y="108"/>
                </a:lnTo>
                <a:lnTo>
                  <a:pt x="425" y="120"/>
                </a:lnTo>
                <a:lnTo>
                  <a:pt x="376" y="113"/>
                </a:lnTo>
                <a:lnTo>
                  <a:pt x="339" y="113"/>
                </a:lnTo>
                <a:lnTo>
                  <a:pt x="315" y="100"/>
                </a:lnTo>
                <a:lnTo>
                  <a:pt x="279" y="92"/>
                </a:lnTo>
                <a:lnTo>
                  <a:pt x="247" y="90"/>
                </a:lnTo>
                <a:lnTo>
                  <a:pt x="209" y="92"/>
                </a:lnTo>
                <a:lnTo>
                  <a:pt x="264" y="98"/>
                </a:lnTo>
                <a:lnTo>
                  <a:pt x="291" y="105"/>
                </a:lnTo>
                <a:lnTo>
                  <a:pt x="311" y="113"/>
                </a:lnTo>
                <a:lnTo>
                  <a:pt x="315" y="115"/>
                </a:lnTo>
                <a:lnTo>
                  <a:pt x="302" y="120"/>
                </a:lnTo>
                <a:lnTo>
                  <a:pt x="291" y="131"/>
                </a:lnTo>
                <a:lnTo>
                  <a:pt x="272" y="120"/>
                </a:lnTo>
                <a:lnTo>
                  <a:pt x="256" y="116"/>
                </a:lnTo>
                <a:lnTo>
                  <a:pt x="223" y="110"/>
                </a:lnTo>
                <a:lnTo>
                  <a:pt x="212" y="110"/>
                </a:lnTo>
                <a:lnTo>
                  <a:pt x="246" y="122"/>
                </a:lnTo>
                <a:lnTo>
                  <a:pt x="270" y="133"/>
                </a:lnTo>
                <a:lnTo>
                  <a:pt x="283" y="142"/>
                </a:lnTo>
                <a:lnTo>
                  <a:pt x="272" y="154"/>
                </a:lnTo>
                <a:lnTo>
                  <a:pt x="246" y="145"/>
                </a:lnTo>
                <a:lnTo>
                  <a:pt x="223" y="140"/>
                </a:lnTo>
                <a:lnTo>
                  <a:pt x="264" y="161"/>
                </a:lnTo>
                <a:lnTo>
                  <a:pt x="277" y="170"/>
                </a:lnTo>
                <a:lnTo>
                  <a:pt x="281" y="189"/>
                </a:lnTo>
                <a:lnTo>
                  <a:pt x="289" y="199"/>
                </a:lnTo>
                <a:lnTo>
                  <a:pt x="264" y="187"/>
                </a:lnTo>
                <a:lnTo>
                  <a:pt x="241" y="183"/>
                </a:lnTo>
                <a:lnTo>
                  <a:pt x="205" y="181"/>
                </a:lnTo>
                <a:lnTo>
                  <a:pt x="259" y="197"/>
                </a:lnTo>
                <a:lnTo>
                  <a:pt x="293" y="210"/>
                </a:lnTo>
                <a:lnTo>
                  <a:pt x="315" y="222"/>
                </a:lnTo>
                <a:lnTo>
                  <a:pt x="318" y="239"/>
                </a:lnTo>
                <a:lnTo>
                  <a:pt x="291" y="227"/>
                </a:lnTo>
                <a:lnTo>
                  <a:pt x="254" y="214"/>
                </a:lnTo>
                <a:lnTo>
                  <a:pt x="237" y="214"/>
                </a:lnTo>
                <a:lnTo>
                  <a:pt x="277" y="228"/>
                </a:lnTo>
                <a:lnTo>
                  <a:pt x="309" y="242"/>
                </a:lnTo>
                <a:lnTo>
                  <a:pt x="320" y="253"/>
                </a:lnTo>
                <a:lnTo>
                  <a:pt x="315" y="264"/>
                </a:lnTo>
                <a:lnTo>
                  <a:pt x="291" y="255"/>
                </a:lnTo>
                <a:lnTo>
                  <a:pt x="269" y="246"/>
                </a:lnTo>
                <a:lnTo>
                  <a:pt x="221" y="244"/>
                </a:lnTo>
                <a:lnTo>
                  <a:pt x="202" y="246"/>
                </a:lnTo>
                <a:lnTo>
                  <a:pt x="158" y="249"/>
                </a:lnTo>
                <a:lnTo>
                  <a:pt x="107" y="242"/>
                </a:lnTo>
                <a:lnTo>
                  <a:pt x="137" y="253"/>
                </a:lnTo>
                <a:lnTo>
                  <a:pt x="191" y="262"/>
                </a:lnTo>
                <a:lnTo>
                  <a:pt x="181" y="280"/>
                </a:lnTo>
                <a:lnTo>
                  <a:pt x="141" y="271"/>
                </a:lnTo>
                <a:lnTo>
                  <a:pt x="104" y="258"/>
                </a:lnTo>
                <a:lnTo>
                  <a:pt x="79" y="246"/>
                </a:lnTo>
                <a:lnTo>
                  <a:pt x="126" y="280"/>
                </a:lnTo>
                <a:lnTo>
                  <a:pt x="156" y="290"/>
                </a:lnTo>
                <a:lnTo>
                  <a:pt x="181" y="298"/>
                </a:lnTo>
                <a:lnTo>
                  <a:pt x="178" y="317"/>
                </a:lnTo>
                <a:lnTo>
                  <a:pt x="141" y="310"/>
                </a:lnTo>
                <a:lnTo>
                  <a:pt x="113" y="302"/>
                </a:lnTo>
                <a:lnTo>
                  <a:pt x="131" y="315"/>
                </a:lnTo>
                <a:lnTo>
                  <a:pt x="161" y="323"/>
                </a:lnTo>
                <a:lnTo>
                  <a:pt x="178" y="325"/>
                </a:lnTo>
                <a:lnTo>
                  <a:pt x="178" y="365"/>
                </a:lnTo>
                <a:lnTo>
                  <a:pt x="143" y="351"/>
                </a:lnTo>
                <a:lnTo>
                  <a:pt x="116" y="341"/>
                </a:lnTo>
                <a:lnTo>
                  <a:pt x="145" y="363"/>
                </a:lnTo>
                <a:lnTo>
                  <a:pt x="182" y="379"/>
                </a:lnTo>
                <a:lnTo>
                  <a:pt x="181" y="397"/>
                </a:lnTo>
                <a:lnTo>
                  <a:pt x="159" y="418"/>
                </a:lnTo>
                <a:lnTo>
                  <a:pt x="141" y="395"/>
                </a:lnTo>
                <a:lnTo>
                  <a:pt x="116" y="365"/>
                </a:lnTo>
                <a:lnTo>
                  <a:pt x="100" y="337"/>
                </a:lnTo>
                <a:lnTo>
                  <a:pt x="116" y="381"/>
                </a:lnTo>
                <a:lnTo>
                  <a:pt x="131" y="397"/>
                </a:lnTo>
                <a:lnTo>
                  <a:pt x="156" y="429"/>
                </a:lnTo>
                <a:lnTo>
                  <a:pt x="137" y="449"/>
                </a:lnTo>
                <a:lnTo>
                  <a:pt x="109" y="424"/>
                </a:lnTo>
                <a:lnTo>
                  <a:pt x="88" y="395"/>
                </a:lnTo>
                <a:lnTo>
                  <a:pt x="69" y="363"/>
                </a:lnTo>
                <a:lnTo>
                  <a:pt x="86" y="409"/>
                </a:lnTo>
                <a:lnTo>
                  <a:pt x="104" y="430"/>
                </a:lnTo>
                <a:lnTo>
                  <a:pt x="121" y="452"/>
                </a:lnTo>
                <a:lnTo>
                  <a:pt x="107" y="460"/>
                </a:lnTo>
                <a:lnTo>
                  <a:pt x="69" y="429"/>
                </a:lnTo>
                <a:lnTo>
                  <a:pt x="34" y="379"/>
                </a:lnTo>
                <a:lnTo>
                  <a:pt x="21" y="341"/>
                </a:lnTo>
                <a:lnTo>
                  <a:pt x="12" y="275"/>
                </a:lnTo>
                <a:lnTo>
                  <a:pt x="7" y="227"/>
                </a:lnTo>
                <a:lnTo>
                  <a:pt x="0" y="170"/>
                </a:lnTo>
                <a:lnTo>
                  <a:pt x="39" y="181"/>
                </a:lnTo>
                <a:lnTo>
                  <a:pt x="81" y="197"/>
                </a:lnTo>
                <a:lnTo>
                  <a:pt x="145" y="212"/>
                </a:lnTo>
                <a:lnTo>
                  <a:pt x="88" y="189"/>
                </a:lnTo>
                <a:lnTo>
                  <a:pt x="67" y="177"/>
                </a:lnTo>
                <a:lnTo>
                  <a:pt x="26" y="162"/>
                </a:lnTo>
                <a:lnTo>
                  <a:pt x="5" y="158"/>
                </a:lnTo>
                <a:lnTo>
                  <a:pt x="5" y="129"/>
                </a:lnTo>
                <a:lnTo>
                  <a:pt x="10" y="92"/>
                </a:lnTo>
                <a:lnTo>
                  <a:pt x="61" y="100"/>
                </a:lnTo>
                <a:lnTo>
                  <a:pt x="94" y="110"/>
                </a:lnTo>
                <a:lnTo>
                  <a:pt x="135" y="129"/>
                </a:lnTo>
                <a:lnTo>
                  <a:pt x="97" y="100"/>
                </a:lnTo>
                <a:lnTo>
                  <a:pt x="54" y="88"/>
                </a:lnTo>
                <a:lnTo>
                  <a:pt x="12" y="77"/>
                </a:lnTo>
                <a:lnTo>
                  <a:pt x="21" y="49"/>
                </a:lnTo>
                <a:lnTo>
                  <a:pt x="34" y="31"/>
                </a:lnTo>
                <a:lnTo>
                  <a:pt x="73" y="19"/>
                </a:lnTo>
                <a:lnTo>
                  <a:pt x="111" y="28"/>
                </a:lnTo>
                <a:lnTo>
                  <a:pt x="145" y="53"/>
                </a:lnTo>
                <a:lnTo>
                  <a:pt x="121" y="25"/>
                </a:lnTo>
                <a:lnTo>
                  <a:pt x="86" y="10"/>
                </a:lnTo>
                <a:lnTo>
                  <a:pt x="126" y="4"/>
                </a:lnTo>
                <a:lnTo>
                  <a:pt x="156" y="2"/>
                </a:lnTo>
                <a:lnTo>
                  <a:pt x="198" y="8"/>
                </a:lnTo>
                <a:lnTo>
                  <a:pt x="226" y="27"/>
                </a:lnTo>
                <a:lnTo>
                  <a:pt x="272" y="35"/>
                </a:lnTo>
                <a:lnTo>
                  <a:pt x="241" y="23"/>
                </a:lnTo>
                <a:lnTo>
                  <a:pt x="218" y="8"/>
                </a:lnTo>
                <a:lnTo>
                  <a:pt x="205" y="0"/>
                </a:lnTo>
                <a:lnTo>
                  <a:pt x="249" y="2"/>
                </a:lnTo>
                <a:lnTo>
                  <a:pt x="289" y="4"/>
                </a:lnTo>
                <a:lnTo>
                  <a:pt x="313" y="15"/>
                </a:lnTo>
                <a:lnTo>
                  <a:pt x="337" y="37"/>
                </a:lnTo>
                <a:lnTo>
                  <a:pt x="356" y="67"/>
                </a:lnTo>
                <a:lnTo>
                  <a:pt x="346" y="33"/>
                </a:lnTo>
                <a:lnTo>
                  <a:pt x="322" y="10"/>
                </a:lnTo>
                <a:lnTo>
                  <a:pt x="379" y="28"/>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68" name="Group 161"/>
          <p:cNvGrpSpPr>
            <a:grpSpLocks/>
          </p:cNvGrpSpPr>
          <p:nvPr/>
        </p:nvGrpSpPr>
        <p:grpSpPr bwMode="auto">
          <a:xfrm>
            <a:off x="2031963" y="3335406"/>
            <a:ext cx="99655" cy="56681"/>
            <a:chOff x="377" y="1962"/>
            <a:chExt cx="99" cy="61"/>
          </a:xfrm>
        </p:grpSpPr>
        <p:sp>
          <p:nvSpPr>
            <p:cNvPr id="169" name="Freeform 162"/>
            <p:cNvSpPr>
              <a:spLocks/>
            </p:cNvSpPr>
            <p:nvPr/>
          </p:nvSpPr>
          <p:spPr bwMode="auto">
            <a:xfrm>
              <a:off x="377" y="1962"/>
              <a:ext cx="99" cy="61"/>
            </a:xfrm>
            <a:custGeom>
              <a:avLst/>
              <a:gdLst>
                <a:gd name="T0" fmla="*/ 0 w 497"/>
                <a:gd name="T1" fmla="*/ 0 h 305"/>
                <a:gd name="T2" fmla="*/ 0 w 497"/>
                <a:gd name="T3" fmla="*/ 0 h 305"/>
                <a:gd name="T4" fmla="*/ 0 w 497"/>
                <a:gd name="T5" fmla="*/ 0 h 305"/>
                <a:gd name="T6" fmla="*/ 0 w 497"/>
                <a:gd name="T7" fmla="*/ 0 h 305"/>
                <a:gd name="T8" fmla="*/ 0 w 497"/>
                <a:gd name="T9" fmla="*/ 0 h 305"/>
                <a:gd name="T10" fmla="*/ 0 w 497"/>
                <a:gd name="T11" fmla="*/ 0 h 305"/>
                <a:gd name="T12" fmla="*/ 0 w 497"/>
                <a:gd name="T13" fmla="*/ 0 h 305"/>
                <a:gd name="T14" fmla="*/ 0 w 497"/>
                <a:gd name="T15" fmla="*/ 0 h 305"/>
                <a:gd name="T16" fmla="*/ 0 w 497"/>
                <a:gd name="T17" fmla="*/ 0 h 305"/>
                <a:gd name="T18" fmla="*/ 0 w 497"/>
                <a:gd name="T19" fmla="*/ 0 h 305"/>
                <a:gd name="T20" fmla="*/ 0 w 497"/>
                <a:gd name="T21" fmla="*/ 0 h 305"/>
                <a:gd name="T22" fmla="*/ 0 w 497"/>
                <a:gd name="T23" fmla="*/ 0 h 305"/>
                <a:gd name="T24" fmla="*/ 0 w 497"/>
                <a:gd name="T25" fmla="*/ 0 h 305"/>
                <a:gd name="T26" fmla="*/ 0 w 497"/>
                <a:gd name="T27" fmla="*/ 0 h 305"/>
                <a:gd name="T28" fmla="*/ 0 w 497"/>
                <a:gd name="T29" fmla="*/ 0 h 305"/>
                <a:gd name="T30" fmla="*/ 0 w 497"/>
                <a:gd name="T31" fmla="*/ 0 h 305"/>
                <a:gd name="T32" fmla="*/ 0 w 497"/>
                <a:gd name="T33" fmla="*/ 0 h 305"/>
                <a:gd name="T34" fmla="*/ 0 w 497"/>
                <a:gd name="T35" fmla="*/ 0 h 305"/>
                <a:gd name="T36" fmla="*/ 0 w 497"/>
                <a:gd name="T37" fmla="*/ 0 h 305"/>
                <a:gd name="T38" fmla="*/ 0 w 497"/>
                <a:gd name="T39" fmla="*/ 0 h 305"/>
                <a:gd name="T40" fmla="*/ 0 w 497"/>
                <a:gd name="T41" fmla="*/ 0 h 305"/>
                <a:gd name="T42" fmla="*/ 0 w 497"/>
                <a:gd name="T43" fmla="*/ 0 h 305"/>
                <a:gd name="T44" fmla="*/ 0 w 497"/>
                <a:gd name="T45" fmla="*/ 0 h 305"/>
                <a:gd name="T46" fmla="*/ 0 w 497"/>
                <a:gd name="T47" fmla="*/ 0 h 305"/>
                <a:gd name="T48" fmla="*/ 0 w 497"/>
                <a:gd name="T49" fmla="*/ 0 h 305"/>
                <a:gd name="T50" fmla="*/ 0 w 497"/>
                <a:gd name="T51" fmla="*/ 0 h 305"/>
                <a:gd name="T52" fmla="*/ 0 w 497"/>
                <a:gd name="T53" fmla="*/ 0 h 305"/>
                <a:gd name="T54" fmla="*/ 0 w 497"/>
                <a:gd name="T55" fmla="*/ 0 h 305"/>
                <a:gd name="T56" fmla="*/ 0 w 497"/>
                <a:gd name="T57" fmla="*/ 0 h 305"/>
                <a:gd name="T58" fmla="*/ 0 w 497"/>
                <a:gd name="T59" fmla="*/ 0 h 305"/>
                <a:gd name="T60" fmla="*/ 0 w 497"/>
                <a:gd name="T61" fmla="*/ 0 h 305"/>
                <a:gd name="T62" fmla="*/ 0 w 497"/>
                <a:gd name="T63" fmla="*/ 0 h 305"/>
                <a:gd name="T64" fmla="*/ 0 w 497"/>
                <a:gd name="T65" fmla="*/ 0 h 305"/>
                <a:gd name="T66" fmla="*/ 0 w 497"/>
                <a:gd name="T67" fmla="*/ 0 h 305"/>
                <a:gd name="T68" fmla="*/ 0 w 497"/>
                <a:gd name="T69" fmla="*/ 0 h 305"/>
                <a:gd name="T70" fmla="*/ 0 w 497"/>
                <a:gd name="T71" fmla="*/ 0 h 305"/>
                <a:gd name="T72" fmla="*/ 0 w 497"/>
                <a:gd name="T73" fmla="*/ 0 h 305"/>
                <a:gd name="T74" fmla="*/ 0 w 497"/>
                <a:gd name="T75" fmla="*/ 0 h 305"/>
                <a:gd name="T76" fmla="*/ 0 w 497"/>
                <a:gd name="T77" fmla="*/ 0 h 305"/>
                <a:gd name="T78" fmla="*/ 0 w 497"/>
                <a:gd name="T79" fmla="*/ 0 h 305"/>
                <a:gd name="T80" fmla="*/ 0 w 497"/>
                <a:gd name="T81" fmla="*/ 0 h 305"/>
                <a:gd name="T82" fmla="*/ 0 w 497"/>
                <a:gd name="T83" fmla="*/ 0 h 305"/>
                <a:gd name="T84" fmla="*/ 0 w 497"/>
                <a:gd name="T85" fmla="*/ 0 h 305"/>
                <a:gd name="T86" fmla="*/ 0 w 497"/>
                <a:gd name="T87" fmla="*/ 0 h 305"/>
                <a:gd name="T88" fmla="*/ 0 w 497"/>
                <a:gd name="T89" fmla="*/ 0 h 305"/>
                <a:gd name="T90" fmla="*/ 0 w 497"/>
                <a:gd name="T91" fmla="*/ 0 h 305"/>
                <a:gd name="T92" fmla="*/ 0 w 497"/>
                <a:gd name="T93" fmla="*/ 0 h 305"/>
                <a:gd name="T94" fmla="*/ 0 w 497"/>
                <a:gd name="T95" fmla="*/ 0 h 305"/>
                <a:gd name="T96" fmla="*/ 0 w 497"/>
                <a:gd name="T97" fmla="*/ 0 h 305"/>
                <a:gd name="T98" fmla="*/ 0 w 497"/>
                <a:gd name="T99" fmla="*/ 0 h 30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497" h="305">
                  <a:moveTo>
                    <a:pt x="0" y="182"/>
                  </a:moveTo>
                  <a:lnTo>
                    <a:pt x="61" y="168"/>
                  </a:lnTo>
                  <a:lnTo>
                    <a:pt x="84" y="163"/>
                  </a:lnTo>
                  <a:lnTo>
                    <a:pt x="98" y="150"/>
                  </a:lnTo>
                  <a:lnTo>
                    <a:pt x="112" y="130"/>
                  </a:lnTo>
                  <a:lnTo>
                    <a:pt x="142" y="102"/>
                  </a:lnTo>
                  <a:lnTo>
                    <a:pt x="197" y="56"/>
                  </a:lnTo>
                  <a:lnTo>
                    <a:pt x="206" y="41"/>
                  </a:lnTo>
                  <a:lnTo>
                    <a:pt x="221" y="28"/>
                  </a:lnTo>
                  <a:lnTo>
                    <a:pt x="249" y="23"/>
                  </a:lnTo>
                  <a:lnTo>
                    <a:pt x="336" y="8"/>
                  </a:lnTo>
                  <a:lnTo>
                    <a:pt x="360" y="0"/>
                  </a:lnTo>
                  <a:lnTo>
                    <a:pt x="382" y="11"/>
                  </a:lnTo>
                  <a:lnTo>
                    <a:pt x="393" y="20"/>
                  </a:lnTo>
                  <a:lnTo>
                    <a:pt x="443" y="37"/>
                  </a:lnTo>
                  <a:lnTo>
                    <a:pt x="464" y="45"/>
                  </a:lnTo>
                  <a:lnTo>
                    <a:pt x="471" y="53"/>
                  </a:lnTo>
                  <a:lnTo>
                    <a:pt x="481" y="81"/>
                  </a:lnTo>
                  <a:lnTo>
                    <a:pt x="486" y="96"/>
                  </a:lnTo>
                  <a:lnTo>
                    <a:pt x="490" y="104"/>
                  </a:lnTo>
                  <a:lnTo>
                    <a:pt x="497" y="119"/>
                  </a:lnTo>
                  <a:lnTo>
                    <a:pt x="497" y="129"/>
                  </a:lnTo>
                  <a:lnTo>
                    <a:pt x="487" y="137"/>
                  </a:lnTo>
                  <a:lnTo>
                    <a:pt x="466" y="136"/>
                  </a:lnTo>
                  <a:lnTo>
                    <a:pt x="434" y="121"/>
                  </a:lnTo>
                  <a:lnTo>
                    <a:pt x="393" y="113"/>
                  </a:lnTo>
                  <a:lnTo>
                    <a:pt x="356" y="119"/>
                  </a:lnTo>
                  <a:lnTo>
                    <a:pt x="395" y="128"/>
                  </a:lnTo>
                  <a:lnTo>
                    <a:pt x="422" y="137"/>
                  </a:lnTo>
                  <a:lnTo>
                    <a:pt x="454" y="150"/>
                  </a:lnTo>
                  <a:lnTo>
                    <a:pt x="462" y="161"/>
                  </a:lnTo>
                  <a:lnTo>
                    <a:pt x="462" y="173"/>
                  </a:lnTo>
                  <a:lnTo>
                    <a:pt x="449" y="182"/>
                  </a:lnTo>
                  <a:lnTo>
                    <a:pt x="435" y="179"/>
                  </a:lnTo>
                  <a:lnTo>
                    <a:pt x="391" y="168"/>
                  </a:lnTo>
                  <a:lnTo>
                    <a:pt x="351" y="166"/>
                  </a:lnTo>
                  <a:lnTo>
                    <a:pt x="320" y="168"/>
                  </a:lnTo>
                  <a:lnTo>
                    <a:pt x="303" y="179"/>
                  </a:lnTo>
                  <a:lnTo>
                    <a:pt x="282" y="200"/>
                  </a:lnTo>
                  <a:lnTo>
                    <a:pt x="267" y="223"/>
                  </a:lnTo>
                  <a:lnTo>
                    <a:pt x="251" y="246"/>
                  </a:lnTo>
                  <a:lnTo>
                    <a:pt x="237" y="263"/>
                  </a:lnTo>
                  <a:lnTo>
                    <a:pt x="213" y="280"/>
                  </a:lnTo>
                  <a:lnTo>
                    <a:pt x="190" y="284"/>
                  </a:lnTo>
                  <a:lnTo>
                    <a:pt x="165" y="287"/>
                  </a:lnTo>
                  <a:lnTo>
                    <a:pt x="135" y="284"/>
                  </a:lnTo>
                  <a:lnTo>
                    <a:pt x="112" y="282"/>
                  </a:lnTo>
                  <a:lnTo>
                    <a:pt x="82" y="290"/>
                  </a:lnTo>
                  <a:lnTo>
                    <a:pt x="0" y="305"/>
                  </a:lnTo>
                  <a:lnTo>
                    <a:pt x="0" y="182"/>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0" name="Freeform 163"/>
            <p:cNvSpPr>
              <a:spLocks/>
            </p:cNvSpPr>
            <p:nvPr/>
          </p:nvSpPr>
          <p:spPr bwMode="auto">
            <a:xfrm>
              <a:off x="439" y="1973"/>
              <a:ext cx="32" cy="7"/>
            </a:xfrm>
            <a:custGeom>
              <a:avLst/>
              <a:gdLst>
                <a:gd name="T0" fmla="*/ 0 w 159"/>
                <a:gd name="T1" fmla="*/ 0 h 37"/>
                <a:gd name="T2" fmla="*/ 0 w 159"/>
                <a:gd name="T3" fmla="*/ 0 h 37"/>
                <a:gd name="T4" fmla="*/ 0 w 159"/>
                <a:gd name="T5" fmla="*/ 0 h 37"/>
                <a:gd name="T6" fmla="*/ 0 w 159"/>
                <a:gd name="T7" fmla="*/ 0 h 37"/>
                <a:gd name="T8" fmla="*/ 0 w 159"/>
                <a:gd name="T9" fmla="*/ 0 h 37"/>
                <a:gd name="T10" fmla="*/ 0 w 159"/>
                <a:gd name="T11" fmla="*/ 0 h 37"/>
                <a:gd name="T12" fmla="*/ 0 w 159"/>
                <a:gd name="T13" fmla="*/ 0 h 37"/>
                <a:gd name="T14" fmla="*/ 0 w 159"/>
                <a:gd name="T15" fmla="*/ 0 h 37"/>
                <a:gd name="T16" fmla="*/ 0 w 159"/>
                <a:gd name="T17" fmla="*/ 0 h 37"/>
                <a:gd name="T18" fmla="*/ 0 w 159"/>
                <a:gd name="T19" fmla="*/ 0 h 37"/>
                <a:gd name="T20" fmla="*/ 0 w 159"/>
                <a:gd name="T21" fmla="*/ 0 h 37"/>
                <a:gd name="T22" fmla="*/ 0 w 159"/>
                <a:gd name="T23" fmla="*/ 0 h 37"/>
                <a:gd name="T24" fmla="*/ 0 w 159"/>
                <a:gd name="T25" fmla="*/ 0 h 37"/>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59" h="37">
                  <a:moveTo>
                    <a:pt x="159" y="37"/>
                  </a:moveTo>
                  <a:lnTo>
                    <a:pt x="132" y="24"/>
                  </a:lnTo>
                  <a:lnTo>
                    <a:pt x="110" y="21"/>
                  </a:lnTo>
                  <a:lnTo>
                    <a:pt x="84" y="13"/>
                  </a:lnTo>
                  <a:lnTo>
                    <a:pt x="61" y="7"/>
                  </a:lnTo>
                  <a:lnTo>
                    <a:pt x="25" y="10"/>
                  </a:lnTo>
                  <a:lnTo>
                    <a:pt x="0" y="13"/>
                  </a:lnTo>
                  <a:lnTo>
                    <a:pt x="38" y="5"/>
                  </a:lnTo>
                  <a:lnTo>
                    <a:pt x="69" y="0"/>
                  </a:lnTo>
                  <a:lnTo>
                    <a:pt x="110" y="17"/>
                  </a:lnTo>
                  <a:lnTo>
                    <a:pt x="132" y="19"/>
                  </a:lnTo>
                  <a:lnTo>
                    <a:pt x="157" y="31"/>
                  </a:lnTo>
                  <a:lnTo>
                    <a:pt x="159" y="3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1" name="Freeform 164"/>
            <p:cNvSpPr>
              <a:spLocks/>
            </p:cNvSpPr>
            <p:nvPr/>
          </p:nvSpPr>
          <p:spPr bwMode="auto">
            <a:xfrm>
              <a:off x="427" y="1965"/>
              <a:ext cx="27" cy="5"/>
            </a:xfrm>
            <a:custGeom>
              <a:avLst/>
              <a:gdLst>
                <a:gd name="T0" fmla="*/ 0 w 133"/>
                <a:gd name="T1" fmla="*/ 0 h 25"/>
                <a:gd name="T2" fmla="*/ 0 w 133"/>
                <a:gd name="T3" fmla="*/ 0 h 25"/>
                <a:gd name="T4" fmla="*/ 0 w 133"/>
                <a:gd name="T5" fmla="*/ 0 h 25"/>
                <a:gd name="T6" fmla="*/ 0 w 133"/>
                <a:gd name="T7" fmla="*/ 0 h 25"/>
                <a:gd name="T8" fmla="*/ 0 w 133"/>
                <a:gd name="T9" fmla="*/ 0 h 25"/>
                <a:gd name="T10" fmla="*/ 0 w 133"/>
                <a:gd name="T11" fmla="*/ 0 h 25"/>
                <a:gd name="T12" fmla="*/ 0 w 133"/>
                <a:gd name="T13" fmla="*/ 0 h 25"/>
                <a:gd name="T14" fmla="*/ 0 w 133"/>
                <a:gd name="T15" fmla="*/ 0 h 25"/>
                <a:gd name="T16" fmla="*/ 0 w 133"/>
                <a:gd name="T17" fmla="*/ 0 h 25"/>
                <a:gd name="T18" fmla="*/ 0 w 133"/>
                <a:gd name="T19" fmla="*/ 0 h 25"/>
                <a:gd name="T20" fmla="*/ 0 w 133"/>
                <a:gd name="T21" fmla="*/ 0 h 25"/>
                <a:gd name="T22" fmla="*/ 0 w 133"/>
                <a:gd name="T23" fmla="*/ 0 h 2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3" h="25">
                  <a:moveTo>
                    <a:pt x="97" y="0"/>
                  </a:moveTo>
                  <a:lnTo>
                    <a:pt x="113" y="1"/>
                  </a:lnTo>
                  <a:lnTo>
                    <a:pt x="133" y="8"/>
                  </a:lnTo>
                  <a:lnTo>
                    <a:pt x="120" y="7"/>
                  </a:lnTo>
                  <a:lnTo>
                    <a:pt x="99" y="3"/>
                  </a:lnTo>
                  <a:lnTo>
                    <a:pt x="56" y="15"/>
                  </a:lnTo>
                  <a:lnTo>
                    <a:pt x="32" y="21"/>
                  </a:lnTo>
                  <a:lnTo>
                    <a:pt x="4" y="25"/>
                  </a:lnTo>
                  <a:lnTo>
                    <a:pt x="0" y="21"/>
                  </a:lnTo>
                  <a:lnTo>
                    <a:pt x="29" y="16"/>
                  </a:lnTo>
                  <a:lnTo>
                    <a:pt x="64" y="8"/>
                  </a:lnTo>
                  <a:lnTo>
                    <a:pt x="9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2" name="Freeform 165"/>
            <p:cNvSpPr>
              <a:spLocks/>
            </p:cNvSpPr>
            <p:nvPr/>
          </p:nvSpPr>
          <p:spPr bwMode="auto">
            <a:xfrm>
              <a:off x="438" y="1984"/>
              <a:ext cx="11" cy="2"/>
            </a:xfrm>
            <a:custGeom>
              <a:avLst/>
              <a:gdLst>
                <a:gd name="T0" fmla="*/ 0 w 53"/>
                <a:gd name="T1" fmla="*/ 0 h 12"/>
                <a:gd name="T2" fmla="*/ 0 w 53"/>
                <a:gd name="T3" fmla="*/ 0 h 12"/>
                <a:gd name="T4" fmla="*/ 0 w 53"/>
                <a:gd name="T5" fmla="*/ 0 h 12"/>
                <a:gd name="T6" fmla="*/ 0 w 53"/>
                <a:gd name="T7" fmla="*/ 0 h 12"/>
                <a:gd name="T8" fmla="*/ 0 w 53"/>
                <a:gd name="T9" fmla="*/ 0 h 12"/>
                <a:gd name="T10" fmla="*/ 0 w 53"/>
                <a:gd name="T11" fmla="*/ 0 h 12"/>
                <a:gd name="T12" fmla="*/ 0 w 53"/>
                <a:gd name="T13" fmla="*/ 0 h 1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53" h="12">
                  <a:moveTo>
                    <a:pt x="53" y="5"/>
                  </a:moveTo>
                  <a:lnTo>
                    <a:pt x="46" y="12"/>
                  </a:lnTo>
                  <a:lnTo>
                    <a:pt x="27" y="9"/>
                  </a:lnTo>
                  <a:lnTo>
                    <a:pt x="5" y="9"/>
                  </a:lnTo>
                  <a:lnTo>
                    <a:pt x="0" y="0"/>
                  </a:lnTo>
                  <a:lnTo>
                    <a:pt x="14" y="3"/>
                  </a:lnTo>
                  <a:lnTo>
                    <a:pt x="53"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3" name="Freeform 166"/>
            <p:cNvSpPr>
              <a:spLocks/>
            </p:cNvSpPr>
            <p:nvPr/>
          </p:nvSpPr>
          <p:spPr bwMode="auto">
            <a:xfrm>
              <a:off x="469" y="1982"/>
              <a:ext cx="3" cy="4"/>
            </a:xfrm>
            <a:custGeom>
              <a:avLst/>
              <a:gdLst>
                <a:gd name="T0" fmla="*/ 0 w 11"/>
                <a:gd name="T1" fmla="*/ 0 h 23"/>
                <a:gd name="T2" fmla="*/ 0 w 11"/>
                <a:gd name="T3" fmla="*/ 0 h 23"/>
                <a:gd name="T4" fmla="*/ 0 w 11"/>
                <a:gd name="T5" fmla="*/ 0 h 23"/>
                <a:gd name="T6" fmla="*/ 0 w 11"/>
                <a:gd name="T7" fmla="*/ 0 h 23"/>
                <a:gd name="T8" fmla="*/ 0 w 11"/>
                <a:gd name="T9" fmla="*/ 0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 h="23">
                  <a:moveTo>
                    <a:pt x="0" y="0"/>
                  </a:moveTo>
                  <a:lnTo>
                    <a:pt x="0" y="6"/>
                  </a:lnTo>
                  <a:lnTo>
                    <a:pt x="2" y="18"/>
                  </a:lnTo>
                  <a:lnTo>
                    <a:pt x="11" y="2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4" name="Freeform 167"/>
            <p:cNvSpPr>
              <a:spLocks/>
            </p:cNvSpPr>
            <p:nvPr/>
          </p:nvSpPr>
          <p:spPr bwMode="auto">
            <a:xfrm>
              <a:off x="462" y="1993"/>
              <a:ext cx="2" cy="2"/>
            </a:xfrm>
            <a:custGeom>
              <a:avLst/>
              <a:gdLst>
                <a:gd name="T0" fmla="*/ 0 w 11"/>
                <a:gd name="T1" fmla="*/ 0 h 13"/>
                <a:gd name="T2" fmla="*/ 0 w 11"/>
                <a:gd name="T3" fmla="*/ 0 h 13"/>
                <a:gd name="T4" fmla="*/ 0 w 11"/>
                <a:gd name="T5" fmla="*/ 0 h 13"/>
                <a:gd name="T6" fmla="*/ 0 w 11"/>
                <a:gd name="T7" fmla="*/ 0 h 1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 h="13">
                  <a:moveTo>
                    <a:pt x="0" y="0"/>
                  </a:moveTo>
                  <a:lnTo>
                    <a:pt x="3" y="7"/>
                  </a:lnTo>
                  <a:lnTo>
                    <a:pt x="11" y="1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5" name="Freeform 168"/>
            <p:cNvSpPr>
              <a:spLocks/>
            </p:cNvSpPr>
            <p:nvPr/>
          </p:nvSpPr>
          <p:spPr bwMode="auto">
            <a:xfrm>
              <a:off x="423" y="1977"/>
              <a:ext cx="5" cy="6"/>
            </a:xfrm>
            <a:custGeom>
              <a:avLst/>
              <a:gdLst>
                <a:gd name="T0" fmla="*/ 0 w 25"/>
                <a:gd name="T1" fmla="*/ 0 h 29"/>
                <a:gd name="T2" fmla="*/ 0 w 25"/>
                <a:gd name="T3" fmla="*/ 0 h 29"/>
                <a:gd name="T4" fmla="*/ 0 w 25"/>
                <a:gd name="T5" fmla="*/ 0 h 29"/>
                <a:gd name="T6" fmla="*/ 0 w 25"/>
                <a:gd name="T7" fmla="*/ 0 h 29"/>
                <a:gd name="T8" fmla="*/ 0 w 25"/>
                <a:gd name="T9" fmla="*/ 0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29">
                  <a:moveTo>
                    <a:pt x="25" y="0"/>
                  </a:moveTo>
                  <a:lnTo>
                    <a:pt x="21" y="9"/>
                  </a:lnTo>
                  <a:lnTo>
                    <a:pt x="21" y="17"/>
                  </a:lnTo>
                  <a:lnTo>
                    <a:pt x="0" y="29"/>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6" name="Freeform 169"/>
            <p:cNvSpPr>
              <a:spLocks/>
            </p:cNvSpPr>
            <p:nvPr/>
          </p:nvSpPr>
          <p:spPr bwMode="auto">
            <a:xfrm>
              <a:off x="403" y="1977"/>
              <a:ext cx="16" cy="16"/>
            </a:xfrm>
            <a:custGeom>
              <a:avLst/>
              <a:gdLst>
                <a:gd name="T0" fmla="*/ 0 w 80"/>
                <a:gd name="T1" fmla="*/ 0 h 81"/>
                <a:gd name="T2" fmla="*/ 0 w 80"/>
                <a:gd name="T3" fmla="*/ 0 h 81"/>
                <a:gd name="T4" fmla="*/ 0 w 80"/>
                <a:gd name="T5" fmla="*/ 0 h 81"/>
                <a:gd name="T6" fmla="*/ 0 w 80"/>
                <a:gd name="T7" fmla="*/ 0 h 81"/>
                <a:gd name="T8" fmla="*/ 0 w 80"/>
                <a:gd name="T9" fmla="*/ 0 h 81"/>
                <a:gd name="T10" fmla="*/ 0 w 80"/>
                <a:gd name="T11" fmla="*/ 0 h 8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80" h="81">
                  <a:moveTo>
                    <a:pt x="80" y="0"/>
                  </a:moveTo>
                  <a:lnTo>
                    <a:pt x="66" y="26"/>
                  </a:lnTo>
                  <a:lnTo>
                    <a:pt x="50" y="46"/>
                  </a:lnTo>
                  <a:lnTo>
                    <a:pt x="0" y="81"/>
                  </a:lnTo>
                  <a:lnTo>
                    <a:pt x="47" y="38"/>
                  </a:lnTo>
                  <a:lnTo>
                    <a:pt x="8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7" name="Freeform 170"/>
            <p:cNvSpPr>
              <a:spLocks/>
            </p:cNvSpPr>
            <p:nvPr/>
          </p:nvSpPr>
          <p:spPr bwMode="auto">
            <a:xfrm>
              <a:off x="395" y="2000"/>
              <a:ext cx="4" cy="12"/>
            </a:xfrm>
            <a:custGeom>
              <a:avLst/>
              <a:gdLst>
                <a:gd name="T0" fmla="*/ 0 w 18"/>
                <a:gd name="T1" fmla="*/ 0 h 58"/>
                <a:gd name="T2" fmla="*/ 0 w 18"/>
                <a:gd name="T3" fmla="*/ 0 h 58"/>
                <a:gd name="T4" fmla="*/ 0 w 18"/>
                <a:gd name="T5" fmla="*/ 0 h 58"/>
                <a:gd name="T6" fmla="*/ 0 w 18"/>
                <a:gd name="T7" fmla="*/ 0 h 58"/>
                <a:gd name="T8" fmla="*/ 0 w 18"/>
                <a:gd name="T9" fmla="*/ 0 h 58"/>
                <a:gd name="T10" fmla="*/ 0 w 18"/>
                <a:gd name="T11" fmla="*/ 0 h 58"/>
                <a:gd name="T12" fmla="*/ 0 w 18"/>
                <a:gd name="T13" fmla="*/ 0 h 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8" h="58">
                  <a:moveTo>
                    <a:pt x="0" y="0"/>
                  </a:moveTo>
                  <a:lnTo>
                    <a:pt x="11" y="20"/>
                  </a:lnTo>
                  <a:lnTo>
                    <a:pt x="15" y="41"/>
                  </a:lnTo>
                  <a:lnTo>
                    <a:pt x="16" y="58"/>
                  </a:lnTo>
                  <a:lnTo>
                    <a:pt x="18" y="33"/>
                  </a:lnTo>
                  <a:lnTo>
                    <a:pt x="16" y="1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8" name="Freeform 171"/>
            <p:cNvSpPr>
              <a:spLocks/>
            </p:cNvSpPr>
            <p:nvPr/>
          </p:nvSpPr>
          <p:spPr bwMode="auto">
            <a:xfrm>
              <a:off x="432" y="1988"/>
              <a:ext cx="2" cy="4"/>
            </a:xfrm>
            <a:custGeom>
              <a:avLst/>
              <a:gdLst>
                <a:gd name="T0" fmla="*/ 0 w 9"/>
                <a:gd name="T1" fmla="*/ 0 h 21"/>
                <a:gd name="T2" fmla="*/ 0 w 9"/>
                <a:gd name="T3" fmla="*/ 0 h 21"/>
                <a:gd name="T4" fmla="*/ 0 w 9"/>
                <a:gd name="T5" fmla="*/ 0 h 21"/>
                <a:gd name="T6" fmla="*/ 0 w 9"/>
                <a:gd name="T7" fmla="*/ 0 h 2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21">
                  <a:moveTo>
                    <a:pt x="2" y="0"/>
                  </a:moveTo>
                  <a:lnTo>
                    <a:pt x="0" y="9"/>
                  </a:lnTo>
                  <a:lnTo>
                    <a:pt x="9" y="21"/>
                  </a:lnTo>
                  <a:lnTo>
                    <a:pt x="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79" name="Group 172"/>
          <p:cNvGrpSpPr>
            <a:grpSpLocks/>
          </p:cNvGrpSpPr>
          <p:nvPr/>
        </p:nvGrpSpPr>
        <p:grpSpPr bwMode="auto">
          <a:xfrm>
            <a:off x="1815539" y="3210895"/>
            <a:ext cx="230517" cy="243448"/>
            <a:chOff x="162" y="1828"/>
            <a:chExt cx="229" cy="262"/>
          </a:xfrm>
        </p:grpSpPr>
        <p:sp>
          <p:nvSpPr>
            <p:cNvPr id="180" name="Freeform 173"/>
            <p:cNvSpPr>
              <a:spLocks/>
            </p:cNvSpPr>
            <p:nvPr/>
          </p:nvSpPr>
          <p:spPr bwMode="auto">
            <a:xfrm>
              <a:off x="286" y="1828"/>
              <a:ext cx="7" cy="5"/>
            </a:xfrm>
            <a:custGeom>
              <a:avLst/>
              <a:gdLst>
                <a:gd name="T0" fmla="*/ 0 w 37"/>
                <a:gd name="T1" fmla="*/ 0 h 25"/>
                <a:gd name="T2" fmla="*/ 0 w 37"/>
                <a:gd name="T3" fmla="*/ 0 h 25"/>
                <a:gd name="T4" fmla="*/ 0 w 37"/>
                <a:gd name="T5" fmla="*/ 0 h 25"/>
                <a:gd name="T6" fmla="*/ 0 w 37"/>
                <a:gd name="T7" fmla="*/ 0 h 25"/>
                <a:gd name="T8" fmla="*/ 0 w 37"/>
                <a:gd name="T9" fmla="*/ 0 h 25"/>
                <a:gd name="T10" fmla="*/ 0 w 37"/>
                <a:gd name="T11" fmla="*/ 0 h 25"/>
                <a:gd name="T12" fmla="*/ 0 w 37"/>
                <a:gd name="T13" fmla="*/ 0 h 25"/>
                <a:gd name="T14" fmla="*/ 0 w 37"/>
                <a:gd name="T15" fmla="*/ 0 h 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7" h="25">
                  <a:moveTo>
                    <a:pt x="37" y="0"/>
                  </a:moveTo>
                  <a:lnTo>
                    <a:pt x="26" y="7"/>
                  </a:lnTo>
                  <a:lnTo>
                    <a:pt x="16" y="10"/>
                  </a:lnTo>
                  <a:lnTo>
                    <a:pt x="6" y="16"/>
                  </a:lnTo>
                  <a:lnTo>
                    <a:pt x="0" y="25"/>
                  </a:lnTo>
                  <a:lnTo>
                    <a:pt x="9" y="22"/>
                  </a:lnTo>
                  <a:lnTo>
                    <a:pt x="26" y="17"/>
                  </a:lnTo>
                  <a:lnTo>
                    <a:pt x="3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1" name="Freeform 174"/>
            <p:cNvSpPr>
              <a:spLocks/>
            </p:cNvSpPr>
            <p:nvPr/>
          </p:nvSpPr>
          <p:spPr bwMode="auto">
            <a:xfrm>
              <a:off x="289" y="1837"/>
              <a:ext cx="2" cy="3"/>
            </a:xfrm>
            <a:custGeom>
              <a:avLst/>
              <a:gdLst>
                <a:gd name="T0" fmla="*/ 0 w 9"/>
                <a:gd name="T1" fmla="*/ 0 h 16"/>
                <a:gd name="T2" fmla="*/ 0 w 9"/>
                <a:gd name="T3" fmla="*/ 0 h 16"/>
                <a:gd name="T4" fmla="*/ 0 w 9"/>
                <a:gd name="T5" fmla="*/ 0 h 16"/>
                <a:gd name="T6" fmla="*/ 0 w 9"/>
                <a:gd name="T7" fmla="*/ 0 h 1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16">
                  <a:moveTo>
                    <a:pt x="9" y="0"/>
                  </a:moveTo>
                  <a:lnTo>
                    <a:pt x="0" y="0"/>
                  </a:lnTo>
                  <a:lnTo>
                    <a:pt x="0" y="16"/>
                  </a:lnTo>
                  <a:lnTo>
                    <a:pt x="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2" name="Freeform 175"/>
            <p:cNvSpPr>
              <a:spLocks/>
            </p:cNvSpPr>
            <p:nvPr/>
          </p:nvSpPr>
          <p:spPr bwMode="auto">
            <a:xfrm>
              <a:off x="260" y="1863"/>
              <a:ext cx="62" cy="154"/>
            </a:xfrm>
            <a:custGeom>
              <a:avLst/>
              <a:gdLst>
                <a:gd name="T0" fmla="*/ 0 w 309"/>
                <a:gd name="T1" fmla="*/ 0 h 772"/>
                <a:gd name="T2" fmla="*/ 0 w 309"/>
                <a:gd name="T3" fmla="*/ 0 h 772"/>
                <a:gd name="T4" fmla="*/ 0 w 309"/>
                <a:gd name="T5" fmla="*/ 0 h 772"/>
                <a:gd name="T6" fmla="*/ 0 w 309"/>
                <a:gd name="T7" fmla="*/ 0 h 772"/>
                <a:gd name="T8" fmla="*/ 0 w 309"/>
                <a:gd name="T9" fmla="*/ 0 h 772"/>
                <a:gd name="T10" fmla="*/ 0 w 309"/>
                <a:gd name="T11" fmla="*/ 0 h 772"/>
                <a:gd name="T12" fmla="*/ 0 w 309"/>
                <a:gd name="T13" fmla="*/ 0 h 772"/>
                <a:gd name="T14" fmla="*/ 0 w 309"/>
                <a:gd name="T15" fmla="*/ 0 h 772"/>
                <a:gd name="T16" fmla="*/ 0 w 309"/>
                <a:gd name="T17" fmla="*/ 0 h 772"/>
                <a:gd name="T18" fmla="*/ 0 w 309"/>
                <a:gd name="T19" fmla="*/ 0 h 772"/>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309" h="772">
                  <a:moveTo>
                    <a:pt x="46" y="0"/>
                  </a:moveTo>
                  <a:lnTo>
                    <a:pt x="75" y="32"/>
                  </a:lnTo>
                  <a:lnTo>
                    <a:pt x="84" y="78"/>
                  </a:lnTo>
                  <a:lnTo>
                    <a:pt x="127" y="122"/>
                  </a:lnTo>
                  <a:lnTo>
                    <a:pt x="218" y="330"/>
                  </a:lnTo>
                  <a:lnTo>
                    <a:pt x="269" y="519"/>
                  </a:lnTo>
                  <a:lnTo>
                    <a:pt x="309" y="772"/>
                  </a:lnTo>
                  <a:lnTo>
                    <a:pt x="182" y="659"/>
                  </a:lnTo>
                  <a:lnTo>
                    <a:pt x="0" y="100"/>
                  </a:lnTo>
                  <a:lnTo>
                    <a:pt x="46" y="0"/>
                  </a:lnTo>
                  <a:close/>
                </a:path>
              </a:pathLst>
            </a:custGeom>
            <a:solidFill>
              <a:srgbClr val="40000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3" name="Freeform 176"/>
            <p:cNvSpPr>
              <a:spLocks/>
            </p:cNvSpPr>
            <p:nvPr/>
          </p:nvSpPr>
          <p:spPr bwMode="auto">
            <a:xfrm>
              <a:off x="162" y="1833"/>
              <a:ext cx="229" cy="257"/>
            </a:xfrm>
            <a:custGeom>
              <a:avLst/>
              <a:gdLst>
                <a:gd name="T0" fmla="*/ 0 w 1147"/>
                <a:gd name="T1" fmla="*/ 0 h 1285"/>
                <a:gd name="T2" fmla="*/ 0 w 1147"/>
                <a:gd name="T3" fmla="*/ 0 h 1285"/>
                <a:gd name="T4" fmla="*/ 0 w 1147"/>
                <a:gd name="T5" fmla="*/ 0 h 1285"/>
                <a:gd name="T6" fmla="*/ 0 w 1147"/>
                <a:gd name="T7" fmla="*/ 0 h 1285"/>
                <a:gd name="T8" fmla="*/ 0 w 1147"/>
                <a:gd name="T9" fmla="*/ 0 h 1285"/>
                <a:gd name="T10" fmla="*/ 0 w 1147"/>
                <a:gd name="T11" fmla="*/ 0 h 1285"/>
                <a:gd name="T12" fmla="*/ 0 w 1147"/>
                <a:gd name="T13" fmla="*/ 0 h 1285"/>
                <a:gd name="T14" fmla="*/ 0 w 1147"/>
                <a:gd name="T15" fmla="*/ 0 h 1285"/>
                <a:gd name="T16" fmla="*/ 0 w 1147"/>
                <a:gd name="T17" fmla="*/ 0 h 1285"/>
                <a:gd name="T18" fmla="*/ 0 w 1147"/>
                <a:gd name="T19" fmla="*/ 0 h 1285"/>
                <a:gd name="T20" fmla="*/ 0 w 1147"/>
                <a:gd name="T21" fmla="*/ 0 h 1285"/>
                <a:gd name="T22" fmla="*/ 0 w 1147"/>
                <a:gd name="T23" fmla="*/ 0 h 1285"/>
                <a:gd name="T24" fmla="*/ 0 w 1147"/>
                <a:gd name="T25" fmla="*/ 0 h 1285"/>
                <a:gd name="T26" fmla="*/ 0 w 1147"/>
                <a:gd name="T27" fmla="*/ 0 h 1285"/>
                <a:gd name="T28" fmla="*/ 0 w 1147"/>
                <a:gd name="T29" fmla="*/ 0 h 1285"/>
                <a:gd name="T30" fmla="*/ 0 w 1147"/>
                <a:gd name="T31" fmla="*/ 0 h 1285"/>
                <a:gd name="T32" fmla="*/ 0 w 1147"/>
                <a:gd name="T33" fmla="*/ 0 h 1285"/>
                <a:gd name="T34" fmla="*/ 0 w 1147"/>
                <a:gd name="T35" fmla="*/ 0 h 1285"/>
                <a:gd name="T36" fmla="*/ 0 w 1147"/>
                <a:gd name="T37" fmla="*/ 0 h 1285"/>
                <a:gd name="T38" fmla="*/ 0 w 1147"/>
                <a:gd name="T39" fmla="*/ 0 h 1285"/>
                <a:gd name="T40" fmla="*/ 0 w 1147"/>
                <a:gd name="T41" fmla="*/ 0 h 1285"/>
                <a:gd name="T42" fmla="*/ 0 w 1147"/>
                <a:gd name="T43" fmla="*/ 0 h 1285"/>
                <a:gd name="T44" fmla="*/ 0 w 1147"/>
                <a:gd name="T45" fmla="*/ 0 h 1285"/>
                <a:gd name="T46" fmla="*/ 0 w 1147"/>
                <a:gd name="T47" fmla="*/ 0 h 1285"/>
                <a:gd name="T48" fmla="*/ 0 w 1147"/>
                <a:gd name="T49" fmla="*/ 0 h 1285"/>
                <a:gd name="T50" fmla="*/ 0 w 1147"/>
                <a:gd name="T51" fmla="*/ 0 h 1285"/>
                <a:gd name="T52" fmla="*/ 0 w 1147"/>
                <a:gd name="T53" fmla="*/ 0 h 1285"/>
                <a:gd name="T54" fmla="*/ 0 w 1147"/>
                <a:gd name="T55" fmla="*/ 0 h 1285"/>
                <a:gd name="T56" fmla="*/ 0 w 1147"/>
                <a:gd name="T57" fmla="*/ 0 h 1285"/>
                <a:gd name="T58" fmla="*/ 0 w 1147"/>
                <a:gd name="T59" fmla="*/ 0 h 1285"/>
                <a:gd name="T60" fmla="*/ 0 w 1147"/>
                <a:gd name="T61" fmla="*/ 0 h 1285"/>
                <a:gd name="T62" fmla="*/ 0 w 1147"/>
                <a:gd name="T63" fmla="*/ 0 h 1285"/>
                <a:gd name="T64" fmla="*/ 0 w 1147"/>
                <a:gd name="T65" fmla="*/ 0 h 1285"/>
                <a:gd name="T66" fmla="*/ 0 w 1147"/>
                <a:gd name="T67" fmla="*/ 0 h 1285"/>
                <a:gd name="T68" fmla="*/ 0 w 1147"/>
                <a:gd name="T69" fmla="*/ 0 h 1285"/>
                <a:gd name="T70" fmla="*/ 0 w 1147"/>
                <a:gd name="T71" fmla="*/ 0 h 1285"/>
                <a:gd name="T72" fmla="*/ 0 w 1147"/>
                <a:gd name="T73" fmla="*/ 0 h 1285"/>
                <a:gd name="T74" fmla="*/ 0 w 1147"/>
                <a:gd name="T75" fmla="*/ 0 h 1285"/>
                <a:gd name="T76" fmla="*/ 0 w 1147"/>
                <a:gd name="T77" fmla="*/ 0 h 1285"/>
                <a:gd name="T78" fmla="*/ 0 w 1147"/>
                <a:gd name="T79" fmla="*/ 0 h 1285"/>
                <a:gd name="T80" fmla="*/ 0 w 1147"/>
                <a:gd name="T81" fmla="*/ 0 h 1285"/>
                <a:gd name="T82" fmla="*/ 0 w 1147"/>
                <a:gd name="T83" fmla="*/ 0 h 1285"/>
                <a:gd name="T84" fmla="*/ 0 w 1147"/>
                <a:gd name="T85" fmla="*/ 0 h 1285"/>
                <a:gd name="T86" fmla="*/ 0 w 1147"/>
                <a:gd name="T87" fmla="*/ 0 h 1285"/>
                <a:gd name="T88" fmla="*/ 0 w 1147"/>
                <a:gd name="T89" fmla="*/ 0 h 1285"/>
                <a:gd name="T90" fmla="*/ 0 w 1147"/>
                <a:gd name="T91" fmla="*/ 0 h 1285"/>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147" h="1285">
                  <a:moveTo>
                    <a:pt x="212" y="67"/>
                  </a:moveTo>
                  <a:lnTo>
                    <a:pt x="247" y="0"/>
                  </a:lnTo>
                  <a:lnTo>
                    <a:pt x="528" y="116"/>
                  </a:lnTo>
                  <a:lnTo>
                    <a:pt x="541" y="206"/>
                  </a:lnTo>
                  <a:lnTo>
                    <a:pt x="563" y="238"/>
                  </a:lnTo>
                  <a:lnTo>
                    <a:pt x="595" y="274"/>
                  </a:lnTo>
                  <a:lnTo>
                    <a:pt x="614" y="339"/>
                  </a:lnTo>
                  <a:lnTo>
                    <a:pt x="676" y="487"/>
                  </a:lnTo>
                  <a:lnTo>
                    <a:pt x="727" y="663"/>
                  </a:lnTo>
                  <a:lnTo>
                    <a:pt x="748" y="780"/>
                  </a:lnTo>
                  <a:lnTo>
                    <a:pt x="974" y="785"/>
                  </a:lnTo>
                  <a:lnTo>
                    <a:pt x="1011" y="807"/>
                  </a:lnTo>
                  <a:lnTo>
                    <a:pt x="1115" y="807"/>
                  </a:lnTo>
                  <a:lnTo>
                    <a:pt x="1143" y="853"/>
                  </a:lnTo>
                  <a:lnTo>
                    <a:pt x="1147" y="907"/>
                  </a:lnTo>
                  <a:lnTo>
                    <a:pt x="1137" y="956"/>
                  </a:lnTo>
                  <a:lnTo>
                    <a:pt x="1042" y="974"/>
                  </a:lnTo>
                  <a:lnTo>
                    <a:pt x="997" y="1041"/>
                  </a:lnTo>
                  <a:lnTo>
                    <a:pt x="907" y="1064"/>
                  </a:lnTo>
                  <a:lnTo>
                    <a:pt x="840" y="1064"/>
                  </a:lnTo>
                  <a:lnTo>
                    <a:pt x="763" y="1079"/>
                  </a:lnTo>
                  <a:lnTo>
                    <a:pt x="759" y="1110"/>
                  </a:lnTo>
                  <a:lnTo>
                    <a:pt x="763" y="1177"/>
                  </a:lnTo>
                  <a:lnTo>
                    <a:pt x="754" y="1223"/>
                  </a:lnTo>
                  <a:lnTo>
                    <a:pt x="713" y="1227"/>
                  </a:lnTo>
                  <a:lnTo>
                    <a:pt x="663" y="1236"/>
                  </a:lnTo>
                  <a:lnTo>
                    <a:pt x="614" y="1282"/>
                  </a:lnTo>
                  <a:lnTo>
                    <a:pt x="554" y="1282"/>
                  </a:lnTo>
                  <a:lnTo>
                    <a:pt x="501" y="1276"/>
                  </a:lnTo>
                  <a:lnTo>
                    <a:pt x="420" y="1250"/>
                  </a:lnTo>
                  <a:lnTo>
                    <a:pt x="330" y="1259"/>
                  </a:lnTo>
                  <a:lnTo>
                    <a:pt x="238" y="1285"/>
                  </a:lnTo>
                  <a:lnTo>
                    <a:pt x="153" y="1267"/>
                  </a:lnTo>
                  <a:lnTo>
                    <a:pt x="95" y="1200"/>
                  </a:lnTo>
                  <a:lnTo>
                    <a:pt x="99" y="1128"/>
                  </a:lnTo>
                  <a:lnTo>
                    <a:pt x="76" y="1038"/>
                  </a:lnTo>
                  <a:lnTo>
                    <a:pt x="64" y="920"/>
                  </a:lnTo>
                  <a:lnTo>
                    <a:pt x="36" y="812"/>
                  </a:lnTo>
                  <a:lnTo>
                    <a:pt x="0" y="650"/>
                  </a:lnTo>
                  <a:lnTo>
                    <a:pt x="4" y="487"/>
                  </a:lnTo>
                  <a:lnTo>
                    <a:pt x="4" y="342"/>
                  </a:lnTo>
                  <a:lnTo>
                    <a:pt x="14" y="243"/>
                  </a:lnTo>
                  <a:lnTo>
                    <a:pt x="36" y="198"/>
                  </a:lnTo>
                  <a:lnTo>
                    <a:pt x="87" y="162"/>
                  </a:lnTo>
                  <a:lnTo>
                    <a:pt x="145" y="102"/>
                  </a:lnTo>
                  <a:lnTo>
                    <a:pt x="212" y="67"/>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4" name="Freeform 177"/>
            <p:cNvSpPr>
              <a:spLocks/>
            </p:cNvSpPr>
            <p:nvPr/>
          </p:nvSpPr>
          <p:spPr bwMode="auto">
            <a:xfrm>
              <a:off x="166" y="1848"/>
              <a:ext cx="145" cy="240"/>
            </a:xfrm>
            <a:custGeom>
              <a:avLst/>
              <a:gdLst>
                <a:gd name="T0" fmla="*/ 0 w 725"/>
                <a:gd name="T1" fmla="*/ 0 h 1198"/>
                <a:gd name="T2" fmla="*/ 0 w 725"/>
                <a:gd name="T3" fmla="*/ 0 h 1198"/>
                <a:gd name="T4" fmla="*/ 0 w 725"/>
                <a:gd name="T5" fmla="*/ 0 h 1198"/>
                <a:gd name="T6" fmla="*/ 0 w 725"/>
                <a:gd name="T7" fmla="*/ 0 h 1198"/>
                <a:gd name="T8" fmla="*/ 0 w 725"/>
                <a:gd name="T9" fmla="*/ 0 h 1198"/>
                <a:gd name="T10" fmla="*/ 0 w 725"/>
                <a:gd name="T11" fmla="*/ 0 h 1198"/>
                <a:gd name="T12" fmla="*/ 0 w 725"/>
                <a:gd name="T13" fmla="*/ 0 h 1198"/>
                <a:gd name="T14" fmla="*/ 0 w 725"/>
                <a:gd name="T15" fmla="*/ 0 h 1198"/>
                <a:gd name="T16" fmla="*/ 0 w 725"/>
                <a:gd name="T17" fmla="*/ 0 h 1198"/>
                <a:gd name="T18" fmla="*/ 0 w 725"/>
                <a:gd name="T19" fmla="*/ 0 h 1198"/>
                <a:gd name="T20" fmla="*/ 0 w 725"/>
                <a:gd name="T21" fmla="*/ 0 h 1198"/>
                <a:gd name="T22" fmla="*/ 0 w 725"/>
                <a:gd name="T23" fmla="*/ 0 h 1198"/>
                <a:gd name="T24" fmla="*/ 0 w 725"/>
                <a:gd name="T25" fmla="*/ 0 h 1198"/>
                <a:gd name="T26" fmla="*/ 0 w 725"/>
                <a:gd name="T27" fmla="*/ 0 h 1198"/>
                <a:gd name="T28" fmla="*/ 0 w 725"/>
                <a:gd name="T29" fmla="*/ 0 h 1198"/>
                <a:gd name="T30" fmla="*/ 0 w 725"/>
                <a:gd name="T31" fmla="*/ 0 h 1198"/>
                <a:gd name="T32" fmla="*/ 0 w 725"/>
                <a:gd name="T33" fmla="*/ 0 h 1198"/>
                <a:gd name="T34" fmla="*/ 0 w 725"/>
                <a:gd name="T35" fmla="*/ 0 h 1198"/>
                <a:gd name="T36" fmla="*/ 0 w 725"/>
                <a:gd name="T37" fmla="*/ 0 h 1198"/>
                <a:gd name="T38" fmla="*/ 0 w 725"/>
                <a:gd name="T39" fmla="*/ 0 h 1198"/>
                <a:gd name="T40" fmla="*/ 0 w 725"/>
                <a:gd name="T41" fmla="*/ 0 h 1198"/>
                <a:gd name="T42" fmla="*/ 0 w 725"/>
                <a:gd name="T43" fmla="*/ 0 h 1198"/>
                <a:gd name="T44" fmla="*/ 0 w 725"/>
                <a:gd name="T45" fmla="*/ 0 h 1198"/>
                <a:gd name="T46" fmla="*/ 0 w 725"/>
                <a:gd name="T47" fmla="*/ 0 h 1198"/>
                <a:gd name="T48" fmla="*/ 0 w 725"/>
                <a:gd name="T49" fmla="*/ 0 h 1198"/>
                <a:gd name="T50" fmla="*/ 0 w 725"/>
                <a:gd name="T51" fmla="*/ 0 h 1198"/>
                <a:gd name="T52" fmla="*/ 0 w 725"/>
                <a:gd name="T53" fmla="*/ 0 h 1198"/>
                <a:gd name="T54" fmla="*/ 0 w 725"/>
                <a:gd name="T55" fmla="*/ 0 h 1198"/>
                <a:gd name="T56" fmla="*/ 0 w 725"/>
                <a:gd name="T57" fmla="*/ 0 h 1198"/>
                <a:gd name="T58" fmla="*/ 0 w 725"/>
                <a:gd name="T59" fmla="*/ 0 h 1198"/>
                <a:gd name="T60" fmla="*/ 0 w 725"/>
                <a:gd name="T61" fmla="*/ 0 h 1198"/>
                <a:gd name="T62" fmla="*/ 0 w 725"/>
                <a:gd name="T63" fmla="*/ 0 h 1198"/>
                <a:gd name="T64" fmla="*/ 0 w 725"/>
                <a:gd name="T65" fmla="*/ 0 h 1198"/>
                <a:gd name="T66" fmla="*/ 0 w 725"/>
                <a:gd name="T67" fmla="*/ 0 h 1198"/>
                <a:gd name="T68" fmla="*/ 0 w 725"/>
                <a:gd name="T69" fmla="*/ 0 h 1198"/>
                <a:gd name="T70" fmla="*/ 0 w 725"/>
                <a:gd name="T71" fmla="*/ 0 h 1198"/>
                <a:gd name="T72" fmla="*/ 0 w 725"/>
                <a:gd name="T73" fmla="*/ 0 h 1198"/>
                <a:gd name="T74" fmla="*/ 0 w 725"/>
                <a:gd name="T75" fmla="*/ 0 h 1198"/>
                <a:gd name="T76" fmla="*/ 0 w 725"/>
                <a:gd name="T77" fmla="*/ 0 h 119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725" h="1198">
                  <a:moveTo>
                    <a:pt x="725" y="1005"/>
                  </a:moveTo>
                  <a:lnTo>
                    <a:pt x="630" y="990"/>
                  </a:lnTo>
                  <a:lnTo>
                    <a:pt x="549" y="986"/>
                  </a:lnTo>
                  <a:lnTo>
                    <a:pt x="460" y="978"/>
                  </a:lnTo>
                  <a:lnTo>
                    <a:pt x="359" y="963"/>
                  </a:lnTo>
                  <a:lnTo>
                    <a:pt x="314" y="932"/>
                  </a:lnTo>
                  <a:lnTo>
                    <a:pt x="193" y="780"/>
                  </a:lnTo>
                  <a:lnTo>
                    <a:pt x="256" y="825"/>
                  </a:lnTo>
                  <a:lnTo>
                    <a:pt x="297" y="861"/>
                  </a:lnTo>
                  <a:lnTo>
                    <a:pt x="274" y="753"/>
                  </a:lnTo>
                  <a:lnTo>
                    <a:pt x="228" y="712"/>
                  </a:lnTo>
                  <a:lnTo>
                    <a:pt x="162" y="600"/>
                  </a:lnTo>
                  <a:lnTo>
                    <a:pt x="225" y="653"/>
                  </a:lnTo>
                  <a:lnTo>
                    <a:pt x="266" y="668"/>
                  </a:lnTo>
                  <a:lnTo>
                    <a:pt x="256" y="590"/>
                  </a:lnTo>
                  <a:lnTo>
                    <a:pt x="211" y="532"/>
                  </a:lnTo>
                  <a:lnTo>
                    <a:pt x="167" y="487"/>
                  </a:lnTo>
                  <a:lnTo>
                    <a:pt x="121" y="355"/>
                  </a:lnTo>
                  <a:lnTo>
                    <a:pt x="207" y="464"/>
                  </a:lnTo>
                  <a:lnTo>
                    <a:pt x="256" y="504"/>
                  </a:lnTo>
                  <a:lnTo>
                    <a:pt x="261" y="337"/>
                  </a:lnTo>
                  <a:lnTo>
                    <a:pt x="274" y="271"/>
                  </a:lnTo>
                  <a:lnTo>
                    <a:pt x="301" y="240"/>
                  </a:lnTo>
                  <a:lnTo>
                    <a:pt x="341" y="190"/>
                  </a:lnTo>
                  <a:lnTo>
                    <a:pt x="405" y="167"/>
                  </a:lnTo>
                  <a:lnTo>
                    <a:pt x="437" y="153"/>
                  </a:lnTo>
                  <a:lnTo>
                    <a:pt x="347" y="68"/>
                  </a:lnTo>
                  <a:lnTo>
                    <a:pt x="251" y="90"/>
                  </a:lnTo>
                  <a:lnTo>
                    <a:pt x="188" y="127"/>
                  </a:lnTo>
                  <a:lnTo>
                    <a:pt x="167" y="162"/>
                  </a:lnTo>
                  <a:lnTo>
                    <a:pt x="184" y="107"/>
                  </a:lnTo>
                  <a:lnTo>
                    <a:pt x="220" y="90"/>
                  </a:lnTo>
                  <a:lnTo>
                    <a:pt x="278" y="68"/>
                  </a:lnTo>
                  <a:lnTo>
                    <a:pt x="324" y="60"/>
                  </a:lnTo>
                  <a:lnTo>
                    <a:pt x="297" y="45"/>
                  </a:lnTo>
                  <a:lnTo>
                    <a:pt x="251" y="32"/>
                  </a:lnTo>
                  <a:lnTo>
                    <a:pt x="211" y="17"/>
                  </a:lnTo>
                  <a:lnTo>
                    <a:pt x="188" y="0"/>
                  </a:lnTo>
                  <a:lnTo>
                    <a:pt x="136" y="37"/>
                  </a:lnTo>
                  <a:lnTo>
                    <a:pt x="104" y="68"/>
                  </a:lnTo>
                  <a:lnTo>
                    <a:pt x="73" y="107"/>
                  </a:lnTo>
                  <a:lnTo>
                    <a:pt x="27" y="130"/>
                  </a:lnTo>
                  <a:lnTo>
                    <a:pt x="18" y="172"/>
                  </a:lnTo>
                  <a:lnTo>
                    <a:pt x="0" y="240"/>
                  </a:lnTo>
                  <a:lnTo>
                    <a:pt x="0" y="342"/>
                  </a:lnTo>
                  <a:lnTo>
                    <a:pt x="5" y="450"/>
                  </a:lnTo>
                  <a:lnTo>
                    <a:pt x="8" y="573"/>
                  </a:lnTo>
                  <a:lnTo>
                    <a:pt x="31" y="698"/>
                  </a:lnTo>
                  <a:lnTo>
                    <a:pt x="58" y="830"/>
                  </a:lnTo>
                  <a:lnTo>
                    <a:pt x="73" y="941"/>
                  </a:lnTo>
                  <a:lnTo>
                    <a:pt x="95" y="1022"/>
                  </a:lnTo>
                  <a:lnTo>
                    <a:pt x="90" y="1095"/>
                  </a:lnTo>
                  <a:lnTo>
                    <a:pt x="99" y="1135"/>
                  </a:lnTo>
                  <a:lnTo>
                    <a:pt x="131" y="1166"/>
                  </a:lnTo>
                  <a:lnTo>
                    <a:pt x="171" y="1193"/>
                  </a:lnTo>
                  <a:lnTo>
                    <a:pt x="225" y="1198"/>
                  </a:lnTo>
                  <a:lnTo>
                    <a:pt x="251" y="1185"/>
                  </a:lnTo>
                  <a:lnTo>
                    <a:pt x="288" y="1181"/>
                  </a:lnTo>
                  <a:lnTo>
                    <a:pt x="374" y="1163"/>
                  </a:lnTo>
                  <a:lnTo>
                    <a:pt x="337" y="1118"/>
                  </a:lnTo>
                  <a:lnTo>
                    <a:pt x="297" y="1053"/>
                  </a:lnTo>
                  <a:lnTo>
                    <a:pt x="356" y="1099"/>
                  </a:lnTo>
                  <a:lnTo>
                    <a:pt x="401" y="1140"/>
                  </a:lnTo>
                  <a:lnTo>
                    <a:pt x="433" y="1163"/>
                  </a:lnTo>
                  <a:lnTo>
                    <a:pt x="477" y="1185"/>
                  </a:lnTo>
                  <a:lnTo>
                    <a:pt x="527" y="1185"/>
                  </a:lnTo>
                  <a:lnTo>
                    <a:pt x="575" y="1185"/>
                  </a:lnTo>
                  <a:lnTo>
                    <a:pt x="603" y="1172"/>
                  </a:lnTo>
                  <a:lnTo>
                    <a:pt x="616" y="1158"/>
                  </a:lnTo>
                  <a:lnTo>
                    <a:pt x="553" y="1122"/>
                  </a:lnTo>
                  <a:lnTo>
                    <a:pt x="491" y="1063"/>
                  </a:lnTo>
                  <a:lnTo>
                    <a:pt x="472" y="1036"/>
                  </a:lnTo>
                  <a:lnTo>
                    <a:pt x="523" y="1050"/>
                  </a:lnTo>
                  <a:lnTo>
                    <a:pt x="598" y="1108"/>
                  </a:lnTo>
                  <a:lnTo>
                    <a:pt x="630" y="1135"/>
                  </a:lnTo>
                  <a:lnTo>
                    <a:pt x="702" y="1140"/>
                  </a:lnTo>
                  <a:lnTo>
                    <a:pt x="725" y="1126"/>
                  </a:lnTo>
                  <a:lnTo>
                    <a:pt x="725" y="1095"/>
                  </a:lnTo>
                  <a:lnTo>
                    <a:pt x="725" y="1005"/>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5" name="Freeform 178"/>
            <p:cNvSpPr>
              <a:spLocks/>
            </p:cNvSpPr>
            <p:nvPr/>
          </p:nvSpPr>
          <p:spPr bwMode="auto">
            <a:xfrm>
              <a:off x="176" y="1968"/>
              <a:ext cx="43" cy="110"/>
            </a:xfrm>
            <a:custGeom>
              <a:avLst/>
              <a:gdLst>
                <a:gd name="T0" fmla="*/ 0 w 211"/>
                <a:gd name="T1" fmla="*/ 0 h 553"/>
                <a:gd name="T2" fmla="*/ 0 w 211"/>
                <a:gd name="T3" fmla="*/ 0 h 553"/>
                <a:gd name="T4" fmla="*/ 0 w 211"/>
                <a:gd name="T5" fmla="*/ 0 h 553"/>
                <a:gd name="T6" fmla="*/ 0 w 211"/>
                <a:gd name="T7" fmla="*/ 0 h 553"/>
                <a:gd name="T8" fmla="*/ 0 w 211"/>
                <a:gd name="T9" fmla="*/ 0 h 553"/>
                <a:gd name="T10" fmla="*/ 0 w 211"/>
                <a:gd name="T11" fmla="*/ 0 h 553"/>
                <a:gd name="T12" fmla="*/ 0 w 211"/>
                <a:gd name="T13" fmla="*/ 0 h 553"/>
                <a:gd name="T14" fmla="*/ 0 w 211"/>
                <a:gd name="T15" fmla="*/ 0 h 553"/>
                <a:gd name="T16" fmla="*/ 0 w 211"/>
                <a:gd name="T17" fmla="*/ 0 h 553"/>
                <a:gd name="T18" fmla="*/ 0 w 211"/>
                <a:gd name="T19" fmla="*/ 0 h 553"/>
                <a:gd name="T20" fmla="*/ 0 w 211"/>
                <a:gd name="T21" fmla="*/ 0 h 553"/>
                <a:gd name="T22" fmla="*/ 0 w 211"/>
                <a:gd name="T23" fmla="*/ 0 h 553"/>
                <a:gd name="T24" fmla="*/ 0 w 211"/>
                <a:gd name="T25" fmla="*/ 0 h 553"/>
                <a:gd name="T26" fmla="*/ 0 w 211"/>
                <a:gd name="T27" fmla="*/ 0 h 5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11" h="553">
                  <a:moveTo>
                    <a:pt x="211" y="553"/>
                  </a:moveTo>
                  <a:lnTo>
                    <a:pt x="173" y="535"/>
                  </a:lnTo>
                  <a:lnTo>
                    <a:pt x="134" y="490"/>
                  </a:lnTo>
                  <a:lnTo>
                    <a:pt x="99" y="410"/>
                  </a:lnTo>
                  <a:lnTo>
                    <a:pt x="81" y="342"/>
                  </a:lnTo>
                  <a:lnTo>
                    <a:pt x="53" y="265"/>
                  </a:lnTo>
                  <a:lnTo>
                    <a:pt x="41" y="192"/>
                  </a:lnTo>
                  <a:lnTo>
                    <a:pt x="19" y="81"/>
                  </a:lnTo>
                  <a:lnTo>
                    <a:pt x="0" y="0"/>
                  </a:lnTo>
                  <a:lnTo>
                    <a:pt x="45" y="162"/>
                  </a:lnTo>
                  <a:lnTo>
                    <a:pt x="81" y="287"/>
                  </a:lnTo>
                  <a:lnTo>
                    <a:pt x="121" y="373"/>
                  </a:lnTo>
                  <a:lnTo>
                    <a:pt x="183" y="463"/>
                  </a:lnTo>
                  <a:lnTo>
                    <a:pt x="211" y="55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6" name="Freeform 179"/>
            <p:cNvSpPr>
              <a:spLocks/>
            </p:cNvSpPr>
            <p:nvPr/>
          </p:nvSpPr>
          <p:spPr bwMode="auto">
            <a:xfrm>
              <a:off x="220" y="1878"/>
              <a:ext cx="167" cy="167"/>
            </a:xfrm>
            <a:custGeom>
              <a:avLst/>
              <a:gdLst>
                <a:gd name="T0" fmla="*/ 0 w 838"/>
                <a:gd name="T1" fmla="*/ 0 h 832"/>
                <a:gd name="T2" fmla="*/ 0 w 838"/>
                <a:gd name="T3" fmla="*/ 0 h 832"/>
                <a:gd name="T4" fmla="*/ 0 w 838"/>
                <a:gd name="T5" fmla="*/ 0 h 832"/>
                <a:gd name="T6" fmla="*/ 0 w 838"/>
                <a:gd name="T7" fmla="*/ 0 h 832"/>
                <a:gd name="T8" fmla="*/ 0 w 838"/>
                <a:gd name="T9" fmla="*/ 0 h 832"/>
                <a:gd name="T10" fmla="*/ 0 w 838"/>
                <a:gd name="T11" fmla="*/ 0 h 832"/>
                <a:gd name="T12" fmla="*/ 0 w 838"/>
                <a:gd name="T13" fmla="*/ 0 h 832"/>
                <a:gd name="T14" fmla="*/ 0 w 838"/>
                <a:gd name="T15" fmla="*/ 0 h 832"/>
                <a:gd name="T16" fmla="*/ 0 w 838"/>
                <a:gd name="T17" fmla="*/ 0 h 832"/>
                <a:gd name="T18" fmla="*/ 0 w 838"/>
                <a:gd name="T19" fmla="*/ 0 h 832"/>
                <a:gd name="T20" fmla="*/ 0 w 838"/>
                <a:gd name="T21" fmla="*/ 0 h 832"/>
                <a:gd name="T22" fmla="*/ 0 w 838"/>
                <a:gd name="T23" fmla="*/ 0 h 832"/>
                <a:gd name="T24" fmla="*/ 0 w 838"/>
                <a:gd name="T25" fmla="*/ 0 h 832"/>
                <a:gd name="T26" fmla="*/ 0 w 838"/>
                <a:gd name="T27" fmla="*/ 0 h 832"/>
                <a:gd name="T28" fmla="*/ 0 w 838"/>
                <a:gd name="T29" fmla="*/ 0 h 832"/>
                <a:gd name="T30" fmla="*/ 0 w 838"/>
                <a:gd name="T31" fmla="*/ 0 h 832"/>
                <a:gd name="T32" fmla="*/ 0 w 838"/>
                <a:gd name="T33" fmla="*/ 0 h 832"/>
                <a:gd name="T34" fmla="*/ 0 w 838"/>
                <a:gd name="T35" fmla="*/ 0 h 832"/>
                <a:gd name="T36" fmla="*/ 0 w 838"/>
                <a:gd name="T37" fmla="*/ 0 h 832"/>
                <a:gd name="T38" fmla="*/ 0 w 838"/>
                <a:gd name="T39" fmla="*/ 0 h 832"/>
                <a:gd name="T40" fmla="*/ 0 w 838"/>
                <a:gd name="T41" fmla="*/ 0 h 832"/>
                <a:gd name="T42" fmla="*/ 0 w 838"/>
                <a:gd name="T43" fmla="*/ 0 h 832"/>
                <a:gd name="T44" fmla="*/ 0 w 838"/>
                <a:gd name="T45" fmla="*/ 0 h 832"/>
                <a:gd name="T46" fmla="*/ 0 w 838"/>
                <a:gd name="T47" fmla="*/ 0 h 832"/>
                <a:gd name="T48" fmla="*/ 0 w 838"/>
                <a:gd name="T49" fmla="*/ 0 h 832"/>
                <a:gd name="T50" fmla="*/ 0 w 838"/>
                <a:gd name="T51" fmla="*/ 0 h 832"/>
                <a:gd name="T52" fmla="*/ 0 w 838"/>
                <a:gd name="T53" fmla="*/ 0 h 832"/>
                <a:gd name="T54" fmla="*/ 0 w 838"/>
                <a:gd name="T55" fmla="*/ 0 h 832"/>
                <a:gd name="T56" fmla="*/ 0 w 838"/>
                <a:gd name="T57" fmla="*/ 0 h 832"/>
                <a:gd name="T58" fmla="*/ 0 w 838"/>
                <a:gd name="T59" fmla="*/ 0 h 832"/>
                <a:gd name="T60" fmla="*/ 0 w 838"/>
                <a:gd name="T61" fmla="*/ 0 h 832"/>
                <a:gd name="T62" fmla="*/ 0 w 838"/>
                <a:gd name="T63" fmla="*/ 0 h 832"/>
                <a:gd name="T64" fmla="*/ 0 w 838"/>
                <a:gd name="T65" fmla="*/ 0 h 832"/>
                <a:gd name="T66" fmla="*/ 0 w 838"/>
                <a:gd name="T67" fmla="*/ 0 h 832"/>
                <a:gd name="T68" fmla="*/ 0 w 838"/>
                <a:gd name="T69" fmla="*/ 0 h 832"/>
                <a:gd name="T70" fmla="*/ 0 w 838"/>
                <a:gd name="T71" fmla="*/ 0 h 832"/>
                <a:gd name="T72" fmla="*/ 0 w 838"/>
                <a:gd name="T73" fmla="*/ 0 h 832"/>
                <a:gd name="T74" fmla="*/ 0 w 838"/>
                <a:gd name="T75" fmla="*/ 0 h 832"/>
                <a:gd name="T76" fmla="*/ 0 w 838"/>
                <a:gd name="T77" fmla="*/ 0 h 832"/>
                <a:gd name="T78" fmla="*/ 0 w 838"/>
                <a:gd name="T79" fmla="*/ 0 h 832"/>
                <a:gd name="T80" fmla="*/ 0 w 838"/>
                <a:gd name="T81" fmla="*/ 0 h 832"/>
                <a:gd name="T82" fmla="*/ 0 w 838"/>
                <a:gd name="T83" fmla="*/ 0 h 832"/>
                <a:gd name="T84" fmla="*/ 0 w 838"/>
                <a:gd name="T85" fmla="*/ 0 h 832"/>
                <a:gd name="T86" fmla="*/ 0 w 838"/>
                <a:gd name="T87" fmla="*/ 0 h 832"/>
                <a:gd name="T88" fmla="*/ 0 w 838"/>
                <a:gd name="T89" fmla="*/ 0 h 832"/>
                <a:gd name="T90" fmla="*/ 0 w 838"/>
                <a:gd name="T91" fmla="*/ 0 h 832"/>
                <a:gd name="T92" fmla="*/ 0 w 838"/>
                <a:gd name="T93" fmla="*/ 0 h 832"/>
                <a:gd name="T94" fmla="*/ 0 w 838"/>
                <a:gd name="T95" fmla="*/ 0 h 832"/>
                <a:gd name="T96" fmla="*/ 0 w 838"/>
                <a:gd name="T97" fmla="*/ 0 h 832"/>
                <a:gd name="T98" fmla="*/ 0 w 838"/>
                <a:gd name="T99" fmla="*/ 0 h 832"/>
                <a:gd name="T100" fmla="*/ 0 w 838"/>
                <a:gd name="T101" fmla="*/ 0 h 832"/>
                <a:gd name="T102" fmla="*/ 0 w 838"/>
                <a:gd name="T103" fmla="*/ 0 h 832"/>
                <a:gd name="T104" fmla="*/ 0 w 838"/>
                <a:gd name="T105" fmla="*/ 0 h 832"/>
                <a:gd name="T106" fmla="*/ 0 w 838"/>
                <a:gd name="T107" fmla="*/ 0 h 832"/>
                <a:gd name="T108" fmla="*/ 0 w 838"/>
                <a:gd name="T109" fmla="*/ 0 h 832"/>
                <a:gd name="T110" fmla="*/ 0 w 838"/>
                <a:gd name="T111" fmla="*/ 0 h 83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838" h="832">
                  <a:moveTo>
                    <a:pt x="155" y="0"/>
                  </a:moveTo>
                  <a:lnTo>
                    <a:pt x="253" y="30"/>
                  </a:lnTo>
                  <a:lnTo>
                    <a:pt x="298" y="70"/>
                  </a:lnTo>
                  <a:lnTo>
                    <a:pt x="326" y="153"/>
                  </a:lnTo>
                  <a:lnTo>
                    <a:pt x="326" y="228"/>
                  </a:lnTo>
                  <a:lnTo>
                    <a:pt x="311" y="272"/>
                  </a:lnTo>
                  <a:lnTo>
                    <a:pt x="320" y="350"/>
                  </a:lnTo>
                  <a:lnTo>
                    <a:pt x="320" y="408"/>
                  </a:lnTo>
                  <a:lnTo>
                    <a:pt x="306" y="423"/>
                  </a:lnTo>
                  <a:lnTo>
                    <a:pt x="320" y="445"/>
                  </a:lnTo>
                  <a:lnTo>
                    <a:pt x="329" y="467"/>
                  </a:lnTo>
                  <a:lnTo>
                    <a:pt x="311" y="490"/>
                  </a:lnTo>
                  <a:lnTo>
                    <a:pt x="311" y="513"/>
                  </a:lnTo>
                  <a:lnTo>
                    <a:pt x="347" y="521"/>
                  </a:lnTo>
                  <a:lnTo>
                    <a:pt x="343" y="544"/>
                  </a:lnTo>
                  <a:lnTo>
                    <a:pt x="378" y="557"/>
                  </a:lnTo>
                  <a:lnTo>
                    <a:pt x="411" y="548"/>
                  </a:lnTo>
                  <a:lnTo>
                    <a:pt x="433" y="557"/>
                  </a:lnTo>
                  <a:lnTo>
                    <a:pt x="532" y="571"/>
                  </a:lnTo>
                  <a:lnTo>
                    <a:pt x="622" y="567"/>
                  </a:lnTo>
                  <a:lnTo>
                    <a:pt x="679" y="571"/>
                  </a:lnTo>
                  <a:lnTo>
                    <a:pt x="717" y="594"/>
                  </a:lnTo>
                  <a:lnTo>
                    <a:pt x="807" y="594"/>
                  </a:lnTo>
                  <a:lnTo>
                    <a:pt x="838" y="625"/>
                  </a:lnTo>
                  <a:lnTo>
                    <a:pt x="838" y="660"/>
                  </a:lnTo>
                  <a:lnTo>
                    <a:pt x="833" y="719"/>
                  </a:lnTo>
                  <a:lnTo>
                    <a:pt x="762" y="738"/>
                  </a:lnTo>
                  <a:lnTo>
                    <a:pt x="762" y="700"/>
                  </a:lnTo>
                  <a:lnTo>
                    <a:pt x="757" y="669"/>
                  </a:lnTo>
                  <a:lnTo>
                    <a:pt x="743" y="656"/>
                  </a:lnTo>
                  <a:lnTo>
                    <a:pt x="739" y="692"/>
                  </a:lnTo>
                  <a:lnTo>
                    <a:pt x="734" y="738"/>
                  </a:lnTo>
                  <a:lnTo>
                    <a:pt x="717" y="765"/>
                  </a:lnTo>
                  <a:lnTo>
                    <a:pt x="685" y="800"/>
                  </a:lnTo>
                  <a:lnTo>
                    <a:pt x="610" y="818"/>
                  </a:lnTo>
                  <a:lnTo>
                    <a:pt x="550" y="828"/>
                  </a:lnTo>
                  <a:lnTo>
                    <a:pt x="482" y="832"/>
                  </a:lnTo>
                  <a:lnTo>
                    <a:pt x="569" y="782"/>
                  </a:lnTo>
                  <a:lnTo>
                    <a:pt x="627" y="738"/>
                  </a:lnTo>
                  <a:lnTo>
                    <a:pt x="639" y="700"/>
                  </a:lnTo>
                  <a:lnTo>
                    <a:pt x="631" y="669"/>
                  </a:lnTo>
                  <a:lnTo>
                    <a:pt x="582" y="665"/>
                  </a:lnTo>
                  <a:lnTo>
                    <a:pt x="564" y="700"/>
                  </a:lnTo>
                  <a:lnTo>
                    <a:pt x="550" y="742"/>
                  </a:lnTo>
                  <a:lnTo>
                    <a:pt x="505" y="787"/>
                  </a:lnTo>
                  <a:lnTo>
                    <a:pt x="456" y="823"/>
                  </a:lnTo>
                  <a:lnTo>
                    <a:pt x="406" y="828"/>
                  </a:lnTo>
                  <a:lnTo>
                    <a:pt x="329" y="823"/>
                  </a:lnTo>
                  <a:lnTo>
                    <a:pt x="411" y="759"/>
                  </a:lnTo>
                  <a:lnTo>
                    <a:pt x="469" y="727"/>
                  </a:lnTo>
                  <a:lnTo>
                    <a:pt x="514" y="692"/>
                  </a:lnTo>
                  <a:lnTo>
                    <a:pt x="528" y="665"/>
                  </a:lnTo>
                  <a:lnTo>
                    <a:pt x="524" y="637"/>
                  </a:lnTo>
                  <a:lnTo>
                    <a:pt x="497" y="633"/>
                  </a:lnTo>
                  <a:lnTo>
                    <a:pt x="465" y="660"/>
                  </a:lnTo>
                  <a:lnTo>
                    <a:pt x="447" y="697"/>
                  </a:lnTo>
                  <a:lnTo>
                    <a:pt x="406" y="742"/>
                  </a:lnTo>
                  <a:lnTo>
                    <a:pt x="356" y="765"/>
                  </a:lnTo>
                  <a:lnTo>
                    <a:pt x="320" y="787"/>
                  </a:lnTo>
                  <a:lnTo>
                    <a:pt x="280" y="805"/>
                  </a:lnTo>
                  <a:lnTo>
                    <a:pt x="234" y="813"/>
                  </a:lnTo>
                  <a:lnTo>
                    <a:pt x="181" y="813"/>
                  </a:lnTo>
                  <a:lnTo>
                    <a:pt x="129" y="804"/>
                  </a:lnTo>
                  <a:lnTo>
                    <a:pt x="244" y="765"/>
                  </a:lnTo>
                  <a:lnTo>
                    <a:pt x="288" y="742"/>
                  </a:lnTo>
                  <a:lnTo>
                    <a:pt x="320" y="700"/>
                  </a:lnTo>
                  <a:lnTo>
                    <a:pt x="326" y="665"/>
                  </a:lnTo>
                  <a:lnTo>
                    <a:pt x="298" y="665"/>
                  </a:lnTo>
                  <a:lnTo>
                    <a:pt x="285" y="697"/>
                  </a:lnTo>
                  <a:lnTo>
                    <a:pt x="262" y="723"/>
                  </a:lnTo>
                  <a:lnTo>
                    <a:pt x="225" y="751"/>
                  </a:lnTo>
                  <a:lnTo>
                    <a:pt x="185" y="779"/>
                  </a:lnTo>
                  <a:lnTo>
                    <a:pt x="132" y="802"/>
                  </a:lnTo>
                  <a:lnTo>
                    <a:pt x="91" y="787"/>
                  </a:lnTo>
                  <a:lnTo>
                    <a:pt x="72" y="765"/>
                  </a:lnTo>
                  <a:lnTo>
                    <a:pt x="42" y="709"/>
                  </a:lnTo>
                  <a:lnTo>
                    <a:pt x="100" y="697"/>
                  </a:lnTo>
                  <a:lnTo>
                    <a:pt x="212" y="683"/>
                  </a:lnTo>
                  <a:lnTo>
                    <a:pt x="280" y="652"/>
                  </a:lnTo>
                  <a:lnTo>
                    <a:pt x="315" y="621"/>
                  </a:lnTo>
                  <a:lnTo>
                    <a:pt x="329" y="585"/>
                  </a:lnTo>
                  <a:lnTo>
                    <a:pt x="334" y="567"/>
                  </a:lnTo>
                  <a:lnTo>
                    <a:pt x="315" y="567"/>
                  </a:lnTo>
                  <a:lnTo>
                    <a:pt x="293" y="594"/>
                  </a:lnTo>
                  <a:lnTo>
                    <a:pt x="257" y="642"/>
                  </a:lnTo>
                  <a:lnTo>
                    <a:pt x="176" y="669"/>
                  </a:lnTo>
                  <a:lnTo>
                    <a:pt x="100" y="693"/>
                  </a:lnTo>
                  <a:lnTo>
                    <a:pt x="42" y="709"/>
                  </a:lnTo>
                  <a:lnTo>
                    <a:pt x="19" y="616"/>
                  </a:lnTo>
                  <a:lnTo>
                    <a:pt x="14" y="548"/>
                  </a:lnTo>
                  <a:lnTo>
                    <a:pt x="14" y="489"/>
                  </a:lnTo>
                  <a:lnTo>
                    <a:pt x="91" y="530"/>
                  </a:lnTo>
                  <a:lnTo>
                    <a:pt x="181" y="548"/>
                  </a:lnTo>
                  <a:lnTo>
                    <a:pt x="253" y="544"/>
                  </a:lnTo>
                  <a:lnTo>
                    <a:pt x="271" y="536"/>
                  </a:lnTo>
                  <a:lnTo>
                    <a:pt x="280" y="513"/>
                  </a:lnTo>
                  <a:lnTo>
                    <a:pt x="239" y="513"/>
                  </a:lnTo>
                  <a:lnTo>
                    <a:pt x="196" y="526"/>
                  </a:lnTo>
                  <a:lnTo>
                    <a:pt x="88" y="530"/>
                  </a:lnTo>
                  <a:lnTo>
                    <a:pt x="14" y="490"/>
                  </a:lnTo>
                  <a:lnTo>
                    <a:pt x="10" y="405"/>
                  </a:lnTo>
                  <a:lnTo>
                    <a:pt x="5" y="345"/>
                  </a:lnTo>
                  <a:lnTo>
                    <a:pt x="0" y="287"/>
                  </a:lnTo>
                  <a:lnTo>
                    <a:pt x="10" y="188"/>
                  </a:lnTo>
                  <a:lnTo>
                    <a:pt x="32" y="153"/>
                  </a:lnTo>
                  <a:lnTo>
                    <a:pt x="100" y="108"/>
                  </a:lnTo>
                  <a:lnTo>
                    <a:pt x="78" y="113"/>
                  </a:lnTo>
                  <a:lnTo>
                    <a:pt x="10" y="143"/>
                  </a:lnTo>
                  <a:lnTo>
                    <a:pt x="37" y="81"/>
                  </a:lnTo>
                  <a:lnTo>
                    <a:pt x="60" y="48"/>
                  </a:lnTo>
                  <a:lnTo>
                    <a:pt x="78" y="26"/>
                  </a:lnTo>
                  <a:lnTo>
                    <a:pt x="155"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7" name="Freeform 180"/>
            <p:cNvSpPr>
              <a:spLocks/>
            </p:cNvSpPr>
            <p:nvPr/>
          </p:nvSpPr>
          <p:spPr bwMode="auto">
            <a:xfrm>
              <a:off x="231" y="1940"/>
              <a:ext cx="42" cy="38"/>
            </a:xfrm>
            <a:custGeom>
              <a:avLst/>
              <a:gdLst>
                <a:gd name="T0" fmla="*/ 0 w 209"/>
                <a:gd name="T1" fmla="*/ 0 h 187"/>
                <a:gd name="T2" fmla="*/ 0 w 209"/>
                <a:gd name="T3" fmla="*/ 0 h 187"/>
                <a:gd name="T4" fmla="*/ 0 w 209"/>
                <a:gd name="T5" fmla="*/ 0 h 187"/>
                <a:gd name="T6" fmla="*/ 0 w 209"/>
                <a:gd name="T7" fmla="*/ 0 h 187"/>
                <a:gd name="T8" fmla="*/ 0 w 209"/>
                <a:gd name="T9" fmla="*/ 0 h 187"/>
                <a:gd name="T10" fmla="*/ 0 w 209"/>
                <a:gd name="T11" fmla="*/ 0 h 187"/>
                <a:gd name="T12" fmla="*/ 0 w 209"/>
                <a:gd name="T13" fmla="*/ 0 h 187"/>
                <a:gd name="T14" fmla="*/ 0 w 209"/>
                <a:gd name="T15" fmla="*/ 0 h 187"/>
                <a:gd name="T16" fmla="*/ 0 w 209"/>
                <a:gd name="T17" fmla="*/ 0 h 187"/>
                <a:gd name="T18" fmla="*/ 0 w 209"/>
                <a:gd name="T19" fmla="*/ 0 h 187"/>
                <a:gd name="T20" fmla="*/ 0 w 209"/>
                <a:gd name="T21" fmla="*/ 0 h 187"/>
                <a:gd name="T22" fmla="*/ 0 w 209"/>
                <a:gd name="T23" fmla="*/ 0 h 187"/>
                <a:gd name="T24" fmla="*/ 0 w 209"/>
                <a:gd name="T25" fmla="*/ 0 h 187"/>
                <a:gd name="T26" fmla="*/ 0 w 209"/>
                <a:gd name="T27" fmla="*/ 0 h 187"/>
                <a:gd name="T28" fmla="*/ 0 w 209"/>
                <a:gd name="T29" fmla="*/ 0 h 187"/>
                <a:gd name="T30" fmla="*/ 0 w 209"/>
                <a:gd name="T31" fmla="*/ 0 h 187"/>
                <a:gd name="T32" fmla="*/ 0 w 209"/>
                <a:gd name="T33" fmla="*/ 0 h 187"/>
                <a:gd name="T34" fmla="*/ 0 w 209"/>
                <a:gd name="T35" fmla="*/ 0 h 187"/>
                <a:gd name="T36" fmla="*/ 0 w 209"/>
                <a:gd name="T37" fmla="*/ 0 h 187"/>
                <a:gd name="T38" fmla="*/ 0 w 209"/>
                <a:gd name="T39" fmla="*/ 0 h 187"/>
                <a:gd name="T40" fmla="*/ 0 w 209"/>
                <a:gd name="T41" fmla="*/ 0 h 187"/>
                <a:gd name="T42" fmla="*/ 0 w 209"/>
                <a:gd name="T43" fmla="*/ 0 h 187"/>
                <a:gd name="T44" fmla="*/ 0 w 209"/>
                <a:gd name="T45" fmla="*/ 0 h 187"/>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09" h="187">
                  <a:moveTo>
                    <a:pt x="209" y="0"/>
                  </a:moveTo>
                  <a:lnTo>
                    <a:pt x="209" y="15"/>
                  </a:lnTo>
                  <a:lnTo>
                    <a:pt x="182" y="51"/>
                  </a:lnTo>
                  <a:lnTo>
                    <a:pt x="157" y="71"/>
                  </a:lnTo>
                  <a:lnTo>
                    <a:pt x="100" y="113"/>
                  </a:lnTo>
                  <a:lnTo>
                    <a:pt x="77" y="130"/>
                  </a:lnTo>
                  <a:lnTo>
                    <a:pt x="25" y="170"/>
                  </a:lnTo>
                  <a:lnTo>
                    <a:pt x="82" y="152"/>
                  </a:lnTo>
                  <a:lnTo>
                    <a:pt x="140" y="135"/>
                  </a:lnTo>
                  <a:lnTo>
                    <a:pt x="198" y="130"/>
                  </a:lnTo>
                  <a:lnTo>
                    <a:pt x="194" y="147"/>
                  </a:lnTo>
                  <a:lnTo>
                    <a:pt x="100" y="164"/>
                  </a:lnTo>
                  <a:lnTo>
                    <a:pt x="52" y="184"/>
                  </a:lnTo>
                  <a:lnTo>
                    <a:pt x="25" y="187"/>
                  </a:lnTo>
                  <a:lnTo>
                    <a:pt x="2" y="180"/>
                  </a:lnTo>
                  <a:lnTo>
                    <a:pt x="0" y="158"/>
                  </a:lnTo>
                  <a:lnTo>
                    <a:pt x="18" y="141"/>
                  </a:lnTo>
                  <a:lnTo>
                    <a:pt x="44" y="116"/>
                  </a:lnTo>
                  <a:lnTo>
                    <a:pt x="75" y="80"/>
                  </a:lnTo>
                  <a:lnTo>
                    <a:pt x="107" y="40"/>
                  </a:lnTo>
                  <a:lnTo>
                    <a:pt x="144" y="12"/>
                  </a:lnTo>
                  <a:lnTo>
                    <a:pt x="184" y="2"/>
                  </a:lnTo>
                  <a:lnTo>
                    <a:pt x="209"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8" name="Freeform 181"/>
            <p:cNvSpPr>
              <a:spLocks/>
            </p:cNvSpPr>
            <p:nvPr/>
          </p:nvSpPr>
          <p:spPr bwMode="auto">
            <a:xfrm>
              <a:off x="232" y="1909"/>
              <a:ext cx="39" cy="49"/>
            </a:xfrm>
            <a:custGeom>
              <a:avLst/>
              <a:gdLst>
                <a:gd name="T0" fmla="*/ 0 w 192"/>
                <a:gd name="T1" fmla="*/ 0 h 246"/>
                <a:gd name="T2" fmla="*/ 0 w 192"/>
                <a:gd name="T3" fmla="*/ 0 h 246"/>
                <a:gd name="T4" fmla="*/ 0 w 192"/>
                <a:gd name="T5" fmla="*/ 0 h 246"/>
                <a:gd name="T6" fmla="*/ 0 w 192"/>
                <a:gd name="T7" fmla="*/ 0 h 246"/>
                <a:gd name="T8" fmla="*/ 0 w 192"/>
                <a:gd name="T9" fmla="*/ 0 h 246"/>
                <a:gd name="T10" fmla="*/ 0 w 192"/>
                <a:gd name="T11" fmla="*/ 0 h 246"/>
                <a:gd name="T12" fmla="*/ 0 w 192"/>
                <a:gd name="T13" fmla="*/ 0 h 246"/>
                <a:gd name="T14" fmla="*/ 0 w 192"/>
                <a:gd name="T15" fmla="*/ 0 h 246"/>
                <a:gd name="T16" fmla="*/ 0 w 192"/>
                <a:gd name="T17" fmla="*/ 0 h 246"/>
                <a:gd name="T18" fmla="*/ 0 w 192"/>
                <a:gd name="T19" fmla="*/ 0 h 246"/>
                <a:gd name="T20" fmla="*/ 0 w 192"/>
                <a:gd name="T21" fmla="*/ 0 h 246"/>
                <a:gd name="T22" fmla="*/ 0 w 192"/>
                <a:gd name="T23" fmla="*/ 0 h 246"/>
                <a:gd name="T24" fmla="*/ 0 w 192"/>
                <a:gd name="T25" fmla="*/ 0 h 246"/>
                <a:gd name="T26" fmla="*/ 0 w 192"/>
                <a:gd name="T27" fmla="*/ 0 h 246"/>
                <a:gd name="T28" fmla="*/ 0 w 192"/>
                <a:gd name="T29" fmla="*/ 0 h 246"/>
                <a:gd name="T30" fmla="*/ 0 w 192"/>
                <a:gd name="T31" fmla="*/ 0 h 246"/>
                <a:gd name="T32" fmla="*/ 0 w 192"/>
                <a:gd name="T33" fmla="*/ 0 h 24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92" h="246">
                  <a:moveTo>
                    <a:pt x="156" y="0"/>
                  </a:moveTo>
                  <a:lnTo>
                    <a:pt x="183" y="4"/>
                  </a:lnTo>
                  <a:lnTo>
                    <a:pt x="192" y="27"/>
                  </a:lnTo>
                  <a:lnTo>
                    <a:pt x="190" y="46"/>
                  </a:lnTo>
                  <a:lnTo>
                    <a:pt x="174" y="71"/>
                  </a:lnTo>
                  <a:lnTo>
                    <a:pt x="152" y="78"/>
                  </a:lnTo>
                  <a:lnTo>
                    <a:pt x="110" y="106"/>
                  </a:lnTo>
                  <a:lnTo>
                    <a:pt x="69" y="140"/>
                  </a:lnTo>
                  <a:lnTo>
                    <a:pt x="41" y="184"/>
                  </a:lnTo>
                  <a:lnTo>
                    <a:pt x="8" y="231"/>
                  </a:lnTo>
                  <a:lnTo>
                    <a:pt x="0" y="246"/>
                  </a:lnTo>
                  <a:lnTo>
                    <a:pt x="8" y="190"/>
                  </a:lnTo>
                  <a:lnTo>
                    <a:pt x="16" y="141"/>
                  </a:lnTo>
                  <a:lnTo>
                    <a:pt x="31" y="99"/>
                  </a:lnTo>
                  <a:lnTo>
                    <a:pt x="57" y="60"/>
                  </a:lnTo>
                  <a:lnTo>
                    <a:pt x="128" y="6"/>
                  </a:lnTo>
                  <a:lnTo>
                    <a:pt x="156"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9" name="Freeform 182"/>
            <p:cNvSpPr>
              <a:spLocks/>
            </p:cNvSpPr>
            <p:nvPr/>
          </p:nvSpPr>
          <p:spPr bwMode="auto">
            <a:xfrm>
              <a:off x="237" y="1860"/>
              <a:ext cx="41" cy="29"/>
            </a:xfrm>
            <a:custGeom>
              <a:avLst/>
              <a:gdLst>
                <a:gd name="T0" fmla="*/ 0 w 204"/>
                <a:gd name="T1" fmla="*/ 0 h 141"/>
                <a:gd name="T2" fmla="*/ 0 w 204"/>
                <a:gd name="T3" fmla="*/ 0 h 141"/>
                <a:gd name="T4" fmla="*/ 0 w 204"/>
                <a:gd name="T5" fmla="*/ 0 h 141"/>
                <a:gd name="T6" fmla="*/ 0 w 204"/>
                <a:gd name="T7" fmla="*/ 0 h 141"/>
                <a:gd name="T8" fmla="*/ 0 w 204"/>
                <a:gd name="T9" fmla="*/ 0 h 141"/>
                <a:gd name="T10" fmla="*/ 0 w 204"/>
                <a:gd name="T11" fmla="*/ 0 h 141"/>
                <a:gd name="T12" fmla="*/ 0 w 204"/>
                <a:gd name="T13" fmla="*/ 0 h 141"/>
                <a:gd name="T14" fmla="*/ 0 w 204"/>
                <a:gd name="T15" fmla="*/ 0 h 141"/>
                <a:gd name="T16" fmla="*/ 0 w 204"/>
                <a:gd name="T17" fmla="*/ 0 h 141"/>
                <a:gd name="T18" fmla="*/ 0 w 204"/>
                <a:gd name="T19" fmla="*/ 0 h 14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04" h="141">
                  <a:moveTo>
                    <a:pt x="204" y="141"/>
                  </a:moveTo>
                  <a:lnTo>
                    <a:pt x="169" y="110"/>
                  </a:lnTo>
                  <a:lnTo>
                    <a:pt x="111" y="89"/>
                  </a:lnTo>
                  <a:lnTo>
                    <a:pt x="71" y="78"/>
                  </a:lnTo>
                  <a:lnTo>
                    <a:pt x="0" y="0"/>
                  </a:lnTo>
                  <a:lnTo>
                    <a:pt x="53" y="30"/>
                  </a:lnTo>
                  <a:lnTo>
                    <a:pt x="103" y="51"/>
                  </a:lnTo>
                  <a:lnTo>
                    <a:pt x="138" y="69"/>
                  </a:lnTo>
                  <a:lnTo>
                    <a:pt x="155" y="89"/>
                  </a:lnTo>
                  <a:lnTo>
                    <a:pt x="204" y="14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0" name="Freeform 183"/>
            <p:cNvSpPr>
              <a:spLocks/>
            </p:cNvSpPr>
            <p:nvPr/>
          </p:nvSpPr>
          <p:spPr bwMode="auto">
            <a:xfrm>
              <a:off x="286" y="1913"/>
              <a:ext cx="23" cy="73"/>
            </a:xfrm>
            <a:custGeom>
              <a:avLst/>
              <a:gdLst>
                <a:gd name="T0" fmla="*/ 0 w 115"/>
                <a:gd name="T1" fmla="*/ 0 h 368"/>
                <a:gd name="T2" fmla="*/ 0 w 115"/>
                <a:gd name="T3" fmla="*/ 0 h 368"/>
                <a:gd name="T4" fmla="*/ 0 w 115"/>
                <a:gd name="T5" fmla="*/ 0 h 368"/>
                <a:gd name="T6" fmla="*/ 0 w 115"/>
                <a:gd name="T7" fmla="*/ 0 h 368"/>
                <a:gd name="T8" fmla="*/ 0 w 115"/>
                <a:gd name="T9" fmla="*/ 0 h 368"/>
                <a:gd name="T10" fmla="*/ 0 w 115"/>
                <a:gd name="T11" fmla="*/ 0 h 368"/>
                <a:gd name="T12" fmla="*/ 0 w 115"/>
                <a:gd name="T13" fmla="*/ 0 h 368"/>
                <a:gd name="T14" fmla="*/ 0 w 115"/>
                <a:gd name="T15" fmla="*/ 0 h 368"/>
                <a:gd name="T16" fmla="*/ 0 w 115"/>
                <a:gd name="T17" fmla="*/ 0 h 368"/>
                <a:gd name="T18" fmla="*/ 0 w 115"/>
                <a:gd name="T19" fmla="*/ 0 h 368"/>
                <a:gd name="T20" fmla="*/ 0 w 115"/>
                <a:gd name="T21" fmla="*/ 0 h 368"/>
                <a:gd name="T22" fmla="*/ 0 w 115"/>
                <a:gd name="T23" fmla="*/ 0 h 368"/>
                <a:gd name="T24" fmla="*/ 0 w 115"/>
                <a:gd name="T25" fmla="*/ 0 h 368"/>
                <a:gd name="T26" fmla="*/ 0 w 115"/>
                <a:gd name="T27" fmla="*/ 0 h 368"/>
                <a:gd name="T28" fmla="*/ 0 w 115"/>
                <a:gd name="T29" fmla="*/ 0 h 368"/>
                <a:gd name="T30" fmla="*/ 0 w 115"/>
                <a:gd name="T31" fmla="*/ 0 h 368"/>
                <a:gd name="T32" fmla="*/ 0 w 115"/>
                <a:gd name="T33" fmla="*/ 0 h 368"/>
                <a:gd name="T34" fmla="*/ 0 w 115"/>
                <a:gd name="T35" fmla="*/ 0 h 368"/>
                <a:gd name="T36" fmla="*/ 0 w 115"/>
                <a:gd name="T37" fmla="*/ 0 h 36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5" h="368">
                  <a:moveTo>
                    <a:pt x="115" y="368"/>
                  </a:moveTo>
                  <a:lnTo>
                    <a:pt x="58" y="368"/>
                  </a:lnTo>
                  <a:lnTo>
                    <a:pt x="40" y="364"/>
                  </a:lnTo>
                  <a:lnTo>
                    <a:pt x="40" y="349"/>
                  </a:lnTo>
                  <a:lnTo>
                    <a:pt x="28" y="336"/>
                  </a:lnTo>
                  <a:lnTo>
                    <a:pt x="9" y="323"/>
                  </a:lnTo>
                  <a:lnTo>
                    <a:pt x="19" y="309"/>
                  </a:lnTo>
                  <a:lnTo>
                    <a:pt x="19" y="291"/>
                  </a:lnTo>
                  <a:lnTo>
                    <a:pt x="5" y="269"/>
                  </a:lnTo>
                  <a:lnTo>
                    <a:pt x="5" y="246"/>
                  </a:lnTo>
                  <a:lnTo>
                    <a:pt x="14" y="219"/>
                  </a:lnTo>
                  <a:lnTo>
                    <a:pt x="14" y="161"/>
                  </a:lnTo>
                  <a:lnTo>
                    <a:pt x="0" y="107"/>
                  </a:lnTo>
                  <a:lnTo>
                    <a:pt x="5" y="67"/>
                  </a:lnTo>
                  <a:lnTo>
                    <a:pt x="5" y="0"/>
                  </a:lnTo>
                  <a:lnTo>
                    <a:pt x="40" y="101"/>
                  </a:lnTo>
                  <a:lnTo>
                    <a:pt x="71" y="197"/>
                  </a:lnTo>
                  <a:lnTo>
                    <a:pt x="93" y="300"/>
                  </a:lnTo>
                  <a:lnTo>
                    <a:pt x="115" y="368"/>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1" name="Freeform 184"/>
            <p:cNvSpPr>
              <a:spLocks/>
            </p:cNvSpPr>
            <p:nvPr/>
          </p:nvSpPr>
          <p:spPr bwMode="auto">
            <a:xfrm>
              <a:off x="233" y="1992"/>
              <a:ext cx="41" cy="14"/>
            </a:xfrm>
            <a:custGeom>
              <a:avLst/>
              <a:gdLst>
                <a:gd name="T0" fmla="*/ 0 w 206"/>
                <a:gd name="T1" fmla="*/ 0 h 69"/>
                <a:gd name="T2" fmla="*/ 0 w 206"/>
                <a:gd name="T3" fmla="*/ 0 h 69"/>
                <a:gd name="T4" fmla="*/ 0 w 206"/>
                <a:gd name="T5" fmla="*/ 0 h 69"/>
                <a:gd name="T6" fmla="*/ 0 w 206"/>
                <a:gd name="T7" fmla="*/ 0 h 69"/>
                <a:gd name="T8" fmla="*/ 0 w 206"/>
                <a:gd name="T9" fmla="*/ 0 h 69"/>
                <a:gd name="T10" fmla="*/ 0 w 206"/>
                <a:gd name="T11" fmla="*/ 0 h 69"/>
                <a:gd name="T12" fmla="*/ 0 w 206"/>
                <a:gd name="T13" fmla="*/ 0 h 69"/>
                <a:gd name="T14" fmla="*/ 0 w 206"/>
                <a:gd name="T15" fmla="*/ 0 h 69"/>
                <a:gd name="T16" fmla="*/ 0 w 206"/>
                <a:gd name="T17" fmla="*/ 0 h 69"/>
                <a:gd name="T18" fmla="*/ 0 w 206"/>
                <a:gd name="T19" fmla="*/ 0 h 69"/>
                <a:gd name="T20" fmla="*/ 0 w 206"/>
                <a:gd name="T21" fmla="*/ 0 h 69"/>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06" h="69">
                  <a:moveTo>
                    <a:pt x="42" y="34"/>
                  </a:moveTo>
                  <a:lnTo>
                    <a:pt x="87" y="15"/>
                  </a:lnTo>
                  <a:lnTo>
                    <a:pt x="129" y="3"/>
                  </a:lnTo>
                  <a:lnTo>
                    <a:pt x="184" y="0"/>
                  </a:lnTo>
                  <a:lnTo>
                    <a:pt x="206" y="4"/>
                  </a:lnTo>
                  <a:lnTo>
                    <a:pt x="196" y="26"/>
                  </a:lnTo>
                  <a:lnTo>
                    <a:pt x="174" y="43"/>
                  </a:lnTo>
                  <a:lnTo>
                    <a:pt x="126" y="57"/>
                  </a:lnTo>
                  <a:lnTo>
                    <a:pt x="50" y="69"/>
                  </a:lnTo>
                  <a:lnTo>
                    <a:pt x="0" y="65"/>
                  </a:lnTo>
                  <a:lnTo>
                    <a:pt x="42" y="3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2" name="Freeform 185"/>
            <p:cNvSpPr>
              <a:spLocks/>
            </p:cNvSpPr>
            <p:nvPr/>
          </p:nvSpPr>
          <p:spPr bwMode="auto">
            <a:xfrm>
              <a:off x="284" y="1999"/>
              <a:ext cx="25" cy="31"/>
            </a:xfrm>
            <a:custGeom>
              <a:avLst/>
              <a:gdLst>
                <a:gd name="T0" fmla="*/ 0 w 124"/>
                <a:gd name="T1" fmla="*/ 0 h 154"/>
                <a:gd name="T2" fmla="*/ 0 w 124"/>
                <a:gd name="T3" fmla="*/ 0 h 154"/>
                <a:gd name="T4" fmla="*/ 0 w 124"/>
                <a:gd name="T5" fmla="*/ 0 h 154"/>
                <a:gd name="T6" fmla="*/ 0 w 124"/>
                <a:gd name="T7" fmla="*/ 0 h 154"/>
                <a:gd name="T8" fmla="*/ 0 w 124"/>
                <a:gd name="T9" fmla="*/ 0 h 154"/>
                <a:gd name="T10" fmla="*/ 0 w 124"/>
                <a:gd name="T11" fmla="*/ 0 h 154"/>
                <a:gd name="T12" fmla="*/ 0 w 124"/>
                <a:gd name="T13" fmla="*/ 0 h 154"/>
                <a:gd name="T14" fmla="*/ 0 w 124"/>
                <a:gd name="T15" fmla="*/ 0 h 154"/>
                <a:gd name="T16" fmla="*/ 0 w 124"/>
                <a:gd name="T17" fmla="*/ 0 h 154"/>
                <a:gd name="T18" fmla="*/ 0 w 124"/>
                <a:gd name="T19" fmla="*/ 0 h 154"/>
                <a:gd name="T20" fmla="*/ 0 w 124"/>
                <a:gd name="T21" fmla="*/ 0 h 154"/>
                <a:gd name="T22" fmla="*/ 0 w 124"/>
                <a:gd name="T23" fmla="*/ 0 h 154"/>
                <a:gd name="T24" fmla="*/ 0 w 124"/>
                <a:gd name="T25" fmla="*/ 0 h 15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24" h="154">
                  <a:moveTo>
                    <a:pt x="67" y="43"/>
                  </a:moveTo>
                  <a:lnTo>
                    <a:pt x="82" y="9"/>
                  </a:lnTo>
                  <a:lnTo>
                    <a:pt x="106" y="0"/>
                  </a:lnTo>
                  <a:lnTo>
                    <a:pt x="122" y="7"/>
                  </a:lnTo>
                  <a:lnTo>
                    <a:pt x="124" y="25"/>
                  </a:lnTo>
                  <a:lnTo>
                    <a:pt x="114" y="55"/>
                  </a:lnTo>
                  <a:lnTo>
                    <a:pt x="95" y="82"/>
                  </a:lnTo>
                  <a:lnTo>
                    <a:pt x="73" y="108"/>
                  </a:lnTo>
                  <a:lnTo>
                    <a:pt x="45" y="133"/>
                  </a:lnTo>
                  <a:lnTo>
                    <a:pt x="0" y="154"/>
                  </a:lnTo>
                  <a:lnTo>
                    <a:pt x="40" y="110"/>
                  </a:lnTo>
                  <a:lnTo>
                    <a:pt x="53" y="78"/>
                  </a:lnTo>
                  <a:lnTo>
                    <a:pt x="67" y="4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3" name="Freeform 186"/>
            <p:cNvSpPr>
              <a:spLocks/>
            </p:cNvSpPr>
            <p:nvPr/>
          </p:nvSpPr>
          <p:spPr bwMode="auto">
            <a:xfrm>
              <a:off x="208" y="1836"/>
              <a:ext cx="60" cy="37"/>
            </a:xfrm>
            <a:custGeom>
              <a:avLst/>
              <a:gdLst>
                <a:gd name="T0" fmla="*/ 0 w 298"/>
                <a:gd name="T1" fmla="*/ 0 h 186"/>
                <a:gd name="T2" fmla="*/ 0 w 298"/>
                <a:gd name="T3" fmla="*/ 0 h 186"/>
                <a:gd name="T4" fmla="*/ 0 w 298"/>
                <a:gd name="T5" fmla="*/ 0 h 186"/>
                <a:gd name="T6" fmla="*/ 0 w 298"/>
                <a:gd name="T7" fmla="*/ 0 h 186"/>
                <a:gd name="T8" fmla="*/ 0 w 298"/>
                <a:gd name="T9" fmla="*/ 0 h 186"/>
                <a:gd name="T10" fmla="*/ 0 w 298"/>
                <a:gd name="T11" fmla="*/ 0 h 186"/>
                <a:gd name="T12" fmla="*/ 0 w 298"/>
                <a:gd name="T13" fmla="*/ 0 h 186"/>
                <a:gd name="T14" fmla="*/ 0 w 298"/>
                <a:gd name="T15" fmla="*/ 0 h 186"/>
                <a:gd name="T16" fmla="*/ 0 w 298"/>
                <a:gd name="T17" fmla="*/ 0 h 186"/>
                <a:gd name="T18" fmla="*/ 0 w 298"/>
                <a:gd name="T19" fmla="*/ 0 h 186"/>
                <a:gd name="T20" fmla="*/ 0 w 298"/>
                <a:gd name="T21" fmla="*/ 0 h 186"/>
                <a:gd name="T22" fmla="*/ 0 w 298"/>
                <a:gd name="T23" fmla="*/ 0 h 18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98" h="186">
                  <a:moveTo>
                    <a:pt x="298" y="186"/>
                  </a:moveTo>
                  <a:lnTo>
                    <a:pt x="289" y="109"/>
                  </a:lnTo>
                  <a:lnTo>
                    <a:pt x="226" y="82"/>
                  </a:lnTo>
                  <a:lnTo>
                    <a:pt x="142" y="49"/>
                  </a:lnTo>
                  <a:lnTo>
                    <a:pt x="80" y="25"/>
                  </a:lnTo>
                  <a:lnTo>
                    <a:pt x="23" y="0"/>
                  </a:lnTo>
                  <a:lnTo>
                    <a:pt x="0" y="53"/>
                  </a:lnTo>
                  <a:lnTo>
                    <a:pt x="55" y="84"/>
                  </a:lnTo>
                  <a:lnTo>
                    <a:pt x="119" y="107"/>
                  </a:lnTo>
                  <a:lnTo>
                    <a:pt x="168" y="122"/>
                  </a:lnTo>
                  <a:lnTo>
                    <a:pt x="229" y="154"/>
                  </a:lnTo>
                  <a:lnTo>
                    <a:pt x="298" y="186"/>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94" name="Group 187"/>
          <p:cNvGrpSpPr>
            <a:grpSpLocks/>
          </p:cNvGrpSpPr>
          <p:nvPr/>
        </p:nvGrpSpPr>
        <p:grpSpPr bwMode="auto">
          <a:xfrm>
            <a:off x="1794400" y="3380007"/>
            <a:ext cx="123814" cy="155175"/>
            <a:chOff x="141" y="2010"/>
            <a:chExt cx="123" cy="167"/>
          </a:xfrm>
        </p:grpSpPr>
        <p:sp>
          <p:nvSpPr>
            <p:cNvPr id="195" name="Freeform 188"/>
            <p:cNvSpPr>
              <a:spLocks/>
            </p:cNvSpPr>
            <p:nvPr/>
          </p:nvSpPr>
          <p:spPr bwMode="auto">
            <a:xfrm>
              <a:off x="141" y="2010"/>
              <a:ext cx="123" cy="167"/>
            </a:xfrm>
            <a:custGeom>
              <a:avLst/>
              <a:gdLst>
                <a:gd name="T0" fmla="*/ 0 w 617"/>
                <a:gd name="T1" fmla="*/ 0 h 835"/>
                <a:gd name="T2" fmla="*/ 0 w 617"/>
                <a:gd name="T3" fmla="*/ 0 h 835"/>
                <a:gd name="T4" fmla="*/ 0 w 617"/>
                <a:gd name="T5" fmla="*/ 0 h 835"/>
                <a:gd name="T6" fmla="*/ 0 w 617"/>
                <a:gd name="T7" fmla="*/ 0 h 835"/>
                <a:gd name="T8" fmla="*/ 0 w 617"/>
                <a:gd name="T9" fmla="*/ 0 h 835"/>
                <a:gd name="T10" fmla="*/ 0 w 617"/>
                <a:gd name="T11" fmla="*/ 0 h 835"/>
                <a:gd name="T12" fmla="*/ 0 w 617"/>
                <a:gd name="T13" fmla="*/ 0 h 835"/>
                <a:gd name="T14" fmla="*/ 0 w 617"/>
                <a:gd name="T15" fmla="*/ 0 h 835"/>
                <a:gd name="T16" fmla="*/ 0 w 617"/>
                <a:gd name="T17" fmla="*/ 0 h 835"/>
                <a:gd name="T18" fmla="*/ 0 w 617"/>
                <a:gd name="T19" fmla="*/ 0 h 835"/>
                <a:gd name="T20" fmla="*/ 0 w 617"/>
                <a:gd name="T21" fmla="*/ 0 h 835"/>
                <a:gd name="T22" fmla="*/ 0 w 617"/>
                <a:gd name="T23" fmla="*/ 0 h 835"/>
                <a:gd name="T24" fmla="*/ 0 w 617"/>
                <a:gd name="T25" fmla="*/ 0 h 835"/>
                <a:gd name="T26" fmla="*/ 0 w 617"/>
                <a:gd name="T27" fmla="*/ 0 h 835"/>
                <a:gd name="T28" fmla="*/ 0 w 617"/>
                <a:gd name="T29" fmla="*/ 0 h 835"/>
                <a:gd name="T30" fmla="*/ 0 w 617"/>
                <a:gd name="T31" fmla="*/ 0 h 835"/>
                <a:gd name="T32" fmla="*/ 0 w 617"/>
                <a:gd name="T33" fmla="*/ 0 h 835"/>
                <a:gd name="T34" fmla="*/ 0 w 617"/>
                <a:gd name="T35" fmla="*/ 0 h 835"/>
                <a:gd name="T36" fmla="*/ 0 w 617"/>
                <a:gd name="T37" fmla="*/ 0 h 835"/>
                <a:gd name="T38" fmla="*/ 0 w 617"/>
                <a:gd name="T39" fmla="*/ 0 h 835"/>
                <a:gd name="T40" fmla="*/ 0 w 617"/>
                <a:gd name="T41" fmla="*/ 0 h 835"/>
                <a:gd name="T42" fmla="*/ 0 w 617"/>
                <a:gd name="T43" fmla="*/ 0 h 835"/>
                <a:gd name="T44" fmla="*/ 0 w 617"/>
                <a:gd name="T45" fmla="*/ 0 h 835"/>
                <a:gd name="T46" fmla="*/ 0 w 617"/>
                <a:gd name="T47" fmla="*/ 0 h 835"/>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617" h="835">
                  <a:moveTo>
                    <a:pt x="342" y="123"/>
                  </a:moveTo>
                  <a:lnTo>
                    <a:pt x="229" y="113"/>
                  </a:lnTo>
                  <a:lnTo>
                    <a:pt x="160" y="96"/>
                  </a:lnTo>
                  <a:lnTo>
                    <a:pt x="139" y="64"/>
                  </a:lnTo>
                  <a:lnTo>
                    <a:pt x="139" y="38"/>
                  </a:lnTo>
                  <a:lnTo>
                    <a:pt x="121" y="15"/>
                  </a:lnTo>
                  <a:lnTo>
                    <a:pt x="58" y="0"/>
                  </a:lnTo>
                  <a:lnTo>
                    <a:pt x="0" y="5"/>
                  </a:lnTo>
                  <a:lnTo>
                    <a:pt x="70" y="650"/>
                  </a:lnTo>
                  <a:lnTo>
                    <a:pt x="121" y="710"/>
                  </a:lnTo>
                  <a:lnTo>
                    <a:pt x="183" y="768"/>
                  </a:lnTo>
                  <a:lnTo>
                    <a:pt x="273" y="813"/>
                  </a:lnTo>
                  <a:lnTo>
                    <a:pt x="377" y="827"/>
                  </a:lnTo>
                  <a:lnTo>
                    <a:pt x="518" y="835"/>
                  </a:lnTo>
                  <a:lnTo>
                    <a:pt x="599" y="823"/>
                  </a:lnTo>
                  <a:lnTo>
                    <a:pt x="617" y="777"/>
                  </a:lnTo>
                  <a:lnTo>
                    <a:pt x="608" y="718"/>
                  </a:lnTo>
                  <a:lnTo>
                    <a:pt x="550" y="537"/>
                  </a:lnTo>
                  <a:lnTo>
                    <a:pt x="500" y="357"/>
                  </a:lnTo>
                  <a:lnTo>
                    <a:pt x="478" y="221"/>
                  </a:lnTo>
                  <a:lnTo>
                    <a:pt x="478" y="186"/>
                  </a:lnTo>
                  <a:lnTo>
                    <a:pt x="446" y="136"/>
                  </a:lnTo>
                  <a:lnTo>
                    <a:pt x="409" y="123"/>
                  </a:lnTo>
                  <a:lnTo>
                    <a:pt x="342" y="12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6" name="Freeform 189"/>
            <p:cNvSpPr>
              <a:spLocks/>
            </p:cNvSpPr>
            <p:nvPr/>
          </p:nvSpPr>
          <p:spPr bwMode="auto">
            <a:xfrm>
              <a:off x="143" y="2019"/>
              <a:ext cx="106" cy="153"/>
            </a:xfrm>
            <a:custGeom>
              <a:avLst/>
              <a:gdLst>
                <a:gd name="T0" fmla="*/ 0 w 531"/>
                <a:gd name="T1" fmla="*/ 0 h 766"/>
                <a:gd name="T2" fmla="*/ 0 w 531"/>
                <a:gd name="T3" fmla="*/ 0 h 766"/>
                <a:gd name="T4" fmla="*/ 0 w 531"/>
                <a:gd name="T5" fmla="*/ 0 h 766"/>
                <a:gd name="T6" fmla="*/ 0 w 531"/>
                <a:gd name="T7" fmla="*/ 0 h 766"/>
                <a:gd name="T8" fmla="*/ 0 w 531"/>
                <a:gd name="T9" fmla="*/ 0 h 766"/>
                <a:gd name="T10" fmla="*/ 0 w 531"/>
                <a:gd name="T11" fmla="*/ 0 h 766"/>
                <a:gd name="T12" fmla="*/ 0 w 531"/>
                <a:gd name="T13" fmla="*/ 0 h 766"/>
                <a:gd name="T14" fmla="*/ 0 w 531"/>
                <a:gd name="T15" fmla="*/ 0 h 766"/>
                <a:gd name="T16" fmla="*/ 0 w 531"/>
                <a:gd name="T17" fmla="*/ 0 h 766"/>
                <a:gd name="T18" fmla="*/ 0 w 531"/>
                <a:gd name="T19" fmla="*/ 0 h 766"/>
                <a:gd name="T20" fmla="*/ 0 w 531"/>
                <a:gd name="T21" fmla="*/ 0 h 766"/>
                <a:gd name="T22" fmla="*/ 0 w 531"/>
                <a:gd name="T23" fmla="*/ 0 h 766"/>
                <a:gd name="T24" fmla="*/ 0 w 531"/>
                <a:gd name="T25" fmla="*/ 0 h 766"/>
                <a:gd name="T26" fmla="*/ 0 w 531"/>
                <a:gd name="T27" fmla="*/ 0 h 766"/>
                <a:gd name="T28" fmla="*/ 0 w 531"/>
                <a:gd name="T29" fmla="*/ 0 h 766"/>
                <a:gd name="T30" fmla="*/ 0 w 531"/>
                <a:gd name="T31" fmla="*/ 0 h 766"/>
                <a:gd name="T32" fmla="*/ 0 w 531"/>
                <a:gd name="T33" fmla="*/ 0 h 766"/>
                <a:gd name="T34" fmla="*/ 0 w 531"/>
                <a:gd name="T35" fmla="*/ 0 h 766"/>
                <a:gd name="T36" fmla="*/ 0 w 531"/>
                <a:gd name="T37" fmla="*/ 0 h 766"/>
                <a:gd name="T38" fmla="*/ 0 w 531"/>
                <a:gd name="T39" fmla="*/ 0 h 766"/>
                <a:gd name="T40" fmla="*/ 0 w 531"/>
                <a:gd name="T41" fmla="*/ 0 h 76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531" h="766">
                  <a:moveTo>
                    <a:pt x="347" y="154"/>
                  </a:moveTo>
                  <a:lnTo>
                    <a:pt x="248" y="150"/>
                  </a:lnTo>
                  <a:lnTo>
                    <a:pt x="143" y="131"/>
                  </a:lnTo>
                  <a:lnTo>
                    <a:pt x="81" y="99"/>
                  </a:lnTo>
                  <a:lnTo>
                    <a:pt x="46" y="72"/>
                  </a:lnTo>
                  <a:lnTo>
                    <a:pt x="0" y="0"/>
                  </a:lnTo>
                  <a:lnTo>
                    <a:pt x="67" y="589"/>
                  </a:lnTo>
                  <a:lnTo>
                    <a:pt x="113" y="643"/>
                  </a:lnTo>
                  <a:lnTo>
                    <a:pt x="162" y="694"/>
                  </a:lnTo>
                  <a:lnTo>
                    <a:pt x="225" y="729"/>
                  </a:lnTo>
                  <a:lnTo>
                    <a:pt x="279" y="747"/>
                  </a:lnTo>
                  <a:lnTo>
                    <a:pt x="347" y="756"/>
                  </a:lnTo>
                  <a:lnTo>
                    <a:pt x="409" y="766"/>
                  </a:lnTo>
                  <a:lnTo>
                    <a:pt x="480" y="766"/>
                  </a:lnTo>
                  <a:lnTo>
                    <a:pt x="512" y="756"/>
                  </a:lnTo>
                  <a:lnTo>
                    <a:pt x="531" y="729"/>
                  </a:lnTo>
                  <a:lnTo>
                    <a:pt x="522" y="685"/>
                  </a:lnTo>
                  <a:lnTo>
                    <a:pt x="476" y="581"/>
                  </a:lnTo>
                  <a:lnTo>
                    <a:pt x="399" y="229"/>
                  </a:lnTo>
                  <a:lnTo>
                    <a:pt x="387" y="180"/>
                  </a:lnTo>
                  <a:lnTo>
                    <a:pt x="347" y="15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97" name="Freeform 190"/>
          <p:cNvSpPr>
            <a:spLocks/>
          </p:cNvSpPr>
          <p:nvPr/>
        </p:nvSpPr>
        <p:spPr bwMode="auto">
          <a:xfrm>
            <a:off x="2098400" y="3556553"/>
            <a:ext cx="9060" cy="131016"/>
          </a:xfrm>
          <a:custGeom>
            <a:avLst/>
            <a:gdLst>
              <a:gd name="T0" fmla="*/ 2147483646 w 43"/>
              <a:gd name="T1" fmla="*/ 0 h 703"/>
              <a:gd name="T2" fmla="*/ 2147483646 w 43"/>
              <a:gd name="T3" fmla="*/ 2147483646 h 703"/>
              <a:gd name="T4" fmla="*/ 2147483646 w 43"/>
              <a:gd name="T5" fmla="*/ 2147483646 h 703"/>
              <a:gd name="T6" fmla="*/ 2147483646 w 43"/>
              <a:gd name="T7" fmla="*/ 2147483646 h 703"/>
              <a:gd name="T8" fmla="*/ 2147483646 w 43"/>
              <a:gd name="T9" fmla="*/ 2147483646 h 703"/>
              <a:gd name="T10" fmla="*/ 2147483646 w 43"/>
              <a:gd name="T11" fmla="*/ 2147483646 h 703"/>
              <a:gd name="T12" fmla="*/ 2147483646 w 43"/>
              <a:gd name="T13" fmla="*/ 2147483646 h 703"/>
              <a:gd name="T14" fmla="*/ 0 w 43"/>
              <a:gd name="T15" fmla="*/ 2147483646 h 703"/>
              <a:gd name="T16" fmla="*/ 2147483646 w 43"/>
              <a:gd name="T17" fmla="*/ 2147483646 h 703"/>
              <a:gd name="T18" fmla="*/ 2147483646 w 43"/>
              <a:gd name="T19" fmla="*/ 2147483646 h 703"/>
              <a:gd name="T20" fmla="*/ 2147483646 w 43"/>
              <a:gd name="T21" fmla="*/ 2147483646 h 703"/>
              <a:gd name="T22" fmla="*/ 2147483646 w 43"/>
              <a:gd name="T23" fmla="*/ 2147483646 h 703"/>
              <a:gd name="T24" fmla="*/ 2147483646 w 43"/>
              <a:gd name="T25" fmla="*/ 2147483646 h 703"/>
              <a:gd name="T26" fmla="*/ 2147483646 w 43"/>
              <a:gd name="T27" fmla="*/ 2147483646 h 703"/>
              <a:gd name="T28" fmla="*/ 2147483646 w 43"/>
              <a:gd name="T29" fmla="*/ 0 h 70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43" h="703">
                <a:moveTo>
                  <a:pt x="29" y="0"/>
                </a:moveTo>
                <a:lnTo>
                  <a:pt x="43" y="36"/>
                </a:lnTo>
                <a:lnTo>
                  <a:pt x="27" y="63"/>
                </a:lnTo>
                <a:lnTo>
                  <a:pt x="14" y="122"/>
                </a:lnTo>
                <a:lnTo>
                  <a:pt x="32" y="176"/>
                </a:lnTo>
                <a:lnTo>
                  <a:pt x="21" y="491"/>
                </a:lnTo>
                <a:lnTo>
                  <a:pt x="21" y="693"/>
                </a:lnTo>
                <a:lnTo>
                  <a:pt x="0" y="703"/>
                </a:lnTo>
                <a:lnTo>
                  <a:pt x="2" y="284"/>
                </a:lnTo>
                <a:lnTo>
                  <a:pt x="21" y="184"/>
                </a:lnTo>
                <a:lnTo>
                  <a:pt x="10" y="137"/>
                </a:lnTo>
                <a:lnTo>
                  <a:pt x="4" y="120"/>
                </a:lnTo>
                <a:lnTo>
                  <a:pt x="12" y="69"/>
                </a:lnTo>
                <a:lnTo>
                  <a:pt x="27" y="40"/>
                </a:lnTo>
                <a:lnTo>
                  <a:pt x="29"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8" name="Freeform 191"/>
          <p:cNvSpPr>
            <a:spLocks/>
          </p:cNvSpPr>
          <p:nvPr/>
        </p:nvSpPr>
        <p:spPr bwMode="auto">
          <a:xfrm>
            <a:off x="2062162" y="3558412"/>
            <a:ext cx="22145" cy="6505"/>
          </a:xfrm>
          <a:custGeom>
            <a:avLst/>
            <a:gdLst>
              <a:gd name="T0" fmla="*/ 2147483646 w 112"/>
              <a:gd name="T1" fmla="*/ 0 h 36"/>
              <a:gd name="T2" fmla="*/ 2147483646 w 112"/>
              <a:gd name="T3" fmla="*/ 2147483646 h 36"/>
              <a:gd name="T4" fmla="*/ 2147483646 w 112"/>
              <a:gd name="T5" fmla="*/ 2147483646 h 36"/>
              <a:gd name="T6" fmla="*/ 0 w 112"/>
              <a:gd name="T7" fmla="*/ 2147483646 h 36"/>
              <a:gd name="T8" fmla="*/ 2147483646 w 112"/>
              <a:gd name="T9" fmla="*/ 2147483646 h 36"/>
              <a:gd name="T10" fmla="*/ 2147483646 w 112"/>
              <a:gd name="T11" fmla="*/ 0 h 36"/>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2" h="36">
                <a:moveTo>
                  <a:pt x="112" y="0"/>
                </a:moveTo>
                <a:lnTo>
                  <a:pt x="57" y="26"/>
                </a:lnTo>
                <a:lnTo>
                  <a:pt x="9" y="36"/>
                </a:lnTo>
                <a:lnTo>
                  <a:pt x="0" y="36"/>
                </a:lnTo>
                <a:lnTo>
                  <a:pt x="29" y="11"/>
                </a:lnTo>
                <a:lnTo>
                  <a:pt x="112"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9" name="Freeform 192"/>
          <p:cNvSpPr>
            <a:spLocks/>
          </p:cNvSpPr>
          <p:nvPr/>
        </p:nvSpPr>
        <p:spPr bwMode="auto">
          <a:xfrm>
            <a:off x="1968546" y="3218328"/>
            <a:ext cx="30199" cy="75265"/>
          </a:xfrm>
          <a:custGeom>
            <a:avLst/>
            <a:gdLst>
              <a:gd name="T0" fmla="*/ 0 w 150"/>
              <a:gd name="T1" fmla="*/ 0 h 407"/>
              <a:gd name="T2" fmla="*/ 2147483646 w 150"/>
              <a:gd name="T3" fmla="*/ 2147483646 h 407"/>
              <a:gd name="T4" fmla="*/ 2147483646 w 150"/>
              <a:gd name="T5" fmla="*/ 2147483646 h 407"/>
              <a:gd name="T6" fmla="*/ 2147483646 w 150"/>
              <a:gd name="T7" fmla="*/ 2147483646 h 407"/>
              <a:gd name="T8" fmla="*/ 2147483646 w 150"/>
              <a:gd name="T9" fmla="*/ 2147483646 h 407"/>
              <a:gd name="T10" fmla="*/ 2147483646 w 150"/>
              <a:gd name="T11" fmla="*/ 2147483646 h 407"/>
              <a:gd name="T12" fmla="*/ 2147483646 w 150"/>
              <a:gd name="T13" fmla="*/ 2147483646 h 407"/>
              <a:gd name="T14" fmla="*/ 2147483646 w 150"/>
              <a:gd name="T15" fmla="*/ 2147483646 h 407"/>
              <a:gd name="T16" fmla="*/ 2147483646 w 150"/>
              <a:gd name="T17" fmla="*/ 2147483646 h 407"/>
              <a:gd name="T18" fmla="*/ 2147483646 w 150"/>
              <a:gd name="T19" fmla="*/ 2147483646 h 407"/>
              <a:gd name="T20" fmla="*/ 2147483646 w 150"/>
              <a:gd name="T21" fmla="*/ 2147483646 h 407"/>
              <a:gd name="T22" fmla="*/ 2147483646 w 150"/>
              <a:gd name="T23" fmla="*/ 2147483646 h 407"/>
              <a:gd name="T24" fmla="*/ 2147483646 w 150"/>
              <a:gd name="T25" fmla="*/ 2147483646 h 407"/>
              <a:gd name="T26" fmla="*/ 2147483646 w 150"/>
              <a:gd name="T27" fmla="*/ 2147483646 h 407"/>
              <a:gd name="T28" fmla="*/ 2147483646 w 150"/>
              <a:gd name="T29" fmla="*/ 2147483646 h 407"/>
              <a:gd name="T30" fmla="*/ 2147483646 w 150"/>
              <a:gd name="T31" fmla="*/ 2147483646 h 407"/>
              <a:gd name="T32" fmla="*/ 2147483646 w 150"/>
              <a:gd name="T33" fmla="*/ 2147483646 h 407"/>
              <a:gd name="T34" fmla="*/ 2147483646 w 150"/>
              <a:gd name="T35" fmla="*/ 2147483646 h 407"/>
              <a:gd name="T36" fmla="*/ 2147483646 w 150"/>
              <a:gd name="T37" fmla="*/ 2147483646 h 407"/>
              <a:gd name="T38" fmla="*/ 2147483646 w 150"/>
              <a:gd name="T39" fmla="*/ 2147483646 h 407"/>
              <a:gd name="T40" fmla="*/ 2147483646 w 150"/>
              <a:gd name="T41" fmla="*/ 2147483646 h 407"/>
              <a:gd name="T42" fmla="*/ 2147483646 w 150"/>
              <a:gd name="T43" fmla="*/ 2147483646 h 407"/>
              <a:gd name="T44" fmla="*/ 2147483646 w 150"/>
              <a:gd name="T45" fmla="*/ 2147483646 h 407"/>
              <a:gd name="T46" fmla="*/ 2147483646 w 150"/>
              <a:gd name="T47" fmla="*/ 2147483646 h 407"/>
              <a:gd name="T48" fmla="*/ 2147483646 w 150"/>
              <a:gd name="T49" fmla="*/ 2147483646 h 407"/>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150" h="407">
                <a:moveTo>
                  <a:pt x="0" y="0"/>
                </a:moveTo>
                <a:lnTo>
                  <a:pt x="20" y="10"/>
                </a:lnTo>
                <a:lnTo>
                  <a:pt x="17" y="34"/>
                </a:lnTo>
                <a:lnTo>
                  <a:pt x="36" y="22"/>
                </a:lnTo>
                <a:lnTo>
                  <a:pt x="33" y="50"/>
                </a:lnTo>
                <a:lnTo>
                  <a:pt x="58" y="46"/>
                </a:lnTo>
                <a:lnTo>
                  <a:pt x="39" y="69"/>
                </a:lnTo>
                <a:lnTo>
                  <a:pt x="91" y="73"/>
                </a:lnTo>
                <a:lnTo>
                  <a:pt x="61" y="101"/>
                </a:lnTo>
                <a:lnTo>
                  <a:pt x="105" y="101"/>
                </a:lnTo>
                <a:lnTo>
                  <a:pt x="75" y="130"/>
                </a:lnTo>
                <a:lnTo>
                  <a:pt x="121" y="127"/>
                </a:lnTo>
                <a:lnTo>
                  <a:pt x="92" y="167"/>
                </a:lnTo>
                <a:lnTo>
                  <a:pt x="133" y="164"/>
                </a:lnTo>
                <a:lnTo>
                  <a:pt x="98" y="199"/>
                </a:lnTo>
                <a:lnTo>
                  <a:pt x="150" y="205"/>
                </a:lnTo>
                <a:lnTo>
                  <a:pt x="105" y="237"/>
                </a:lnTo>
                <a:lnTo>
                  <a:pt x="150" y="250"/>
                </a:lnTo>
                <a:lnTo>
                  <a:pt x="101" y="266"/>
                </a:lnTo>
                <a:lnTo>
                  <a:pt x="146" y="293"/>
                </a:lnTo>
                <a:lnTo>
                  <a:pt x="98" y="312"/>
                </a:lnTo>
                <a:lnTo>
                  <a:pt x="140" y="343"/>
                </a:lnTo>
                <a:lnTo>
                  <a:pt x="98" y="355"/>
                </a:lnTo>
                <a:lnTo>
                  <a:pt x="121" y="382"/>
                </a:lnTo>
                <a:lnTo>
                  <a:pt x="88" y="407"/>
                </a:lnTo>
              </a:path>
            </a:pathLst>
          </a:custGeom>
          <a:noFill/>
          <a:ln w="3175">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0" name="Text Box 193"/>
          <p:cNvSpPr txBox="1">
            <a:spLocks noChangeArrowheads="1"/>
          </p:cNvSpPr>
          <p:nvPr/>
        </p:nvSpPr>
        <p:spPr bwMode="auto">
          <a:xfrm>
            <a:off x="6632191" y="3918638"/>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201" name="Oval 194"/>
          <p:cNvSpPr>
            <a:spLocks noChangeArrowheads="1"/>
          </p:cNvSpPr>
          <p:nvPr/>
        </p:nvSpPr>
        <p:spPr bwMode="auto">
          <a:xfrm>
            <a:off x="2135645" y="3280584"/>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202" name="Group 195"/>
          <p:cNvGrpSpPr>
            <a:grpSpLocks/>
          </p:cNvGrpSpPr>
          <p:nvPr/>
        </p:nvGrpSpPr>
        <p:grpSpPr bwMode="auto">
          <a:xfrm>
            <a:off x="6678537" y="3067799"/>
            <a:ext cx="449960" cy="289908"/>
            <a:chOff x="4993" y="1674"/>
            <a:chExt cx="447" cy="312"/>
          </a:xfrm>
        </p:grpSpPr>
        <p:grpSp>
          <p:nvGrpSpPr>
            <p:cNvPr id="203" name="Group 196"/>
            <p:cNvGrpSpPr>
              <a:grpSpLocks/>
            </p:cNvGrpSpPr>
            <p:nvPr/>
          </p:nvGrpSpPr>
          <p:grpSpPr bwMode="auto">
            <a:xfrm>
              <a:off x="4993" y="1674"/>
              <a:ext cx="345" cy="282"/>
              <a:chOff x="4993" y="1674"/>
              <a:chExt cx="345" cy="282"/>
            </a:xfrm>
          </p:grpSpPr>
          <p:grpSp>
            <p:nvGrpSpPr>
              <p:cNvPr id="236" name="Group 197"/>
              <p:cNvGrpSpPr>
                <a:grpSpLocks/>
              </p:cNvGrpSpPr>
              <p:nvPr/>
            </p:nvGrpSpPr>
            <p:grpSpPr bwMode="auto">
              <a:xfrm>
                <a:off x="4993" y="1674"/>
                <a:ext cx="345" cy="282"/>
                <a:chOff x="4993" y="1674"/>
                <a:chExt cx="345" cy="282"/>
              </a:xfrm>
            </p:grpSpPr>
            <p:grpSp>
              <p:nvGrpSpPr>
                <p:cNvPr id="245" name="Group 198"/>
                <p:cNvGrpSpPr>
                  <a:grpSpLocks/>
                </p:cNvGrpSpPr>
                <p:nvPr/>
              </p:nvGrpSpPr>
              <p:grpSpPr bwMode="auto">
                <a:xfrm>
                  <a:off x="4993" y="1833"/>
                  <a:ext cx="345" cy="123"/>
                  <a:chOff x="4993" y="1833"/>
                  <a:chExt cx="345" cy="123"/>
                </a:xfrm>
              </p:grpSpPr>
              <p:sp>
                <p:nvSpPr>
                  <p:cNvPr id="251" name="Freeform 199"/>
                  <p:cNvSpPr>
                    <a:spLocks/>
                  </p:cNvSpPr>
                  <p:nvPr/>
                </p:nvSpPr>
                <p:spPr bwMode="auto">
                  <a:xfrm>
                    <a:off x="5140" y="1833"/>
                    <a:ext cx="198" cy="123"/>
                  </a:xfrm>
                  <a:custGeom>
                    <a:avLst/>
                    <a:gdLst>
                      <a:gd name="T0" fmla="*/ 0 w 1188"/>
                      <a:gd name="T1" fmla="*/ 0 h 738"/>
                      <a:gd name="T2" fmla="*/ 0 w 1188"/>
                      <a:gd name="T3" fmla="*/ 0 h 738"/>
                      <a:gd name="T4" fmla="*/ 0 w 1188"/>
                      <a:gd name="T5" fmla="*/ 0 h 738"/>
                      <a:gd name="T6" fmla="*/ 0 w 1188"/>
                      <a:gd name="T7" fmla="*/ 0 h 738"/>
                      <a:gd name="T8" fmla="*/ 0 w 1188"/>
                      <a:gd name="T9" fmla="*/ 0 h 73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88" h="738">
                        <a:moveTo>
                          <a:pt x="0" y="225"/>
                        </a:moveTo>
                        <a:lnTo>
                          <a:pt x="0" y="738"/>
                        </a:lnTo>
                        <a:lnTo>
                          <a:pt x="1188" y="360"/>
                        </a:lnTo>
                        <a:lnTo>
                          <a:pt x="1188" y="0"/>
                        </a:lnTo>
                        <a:lnTo>
                          <a:pt x="0" y="225"/>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2" name="Freeform 200"/>
                  <p:cNvSpPr>
                    <a:spLocks/>
                  </p:cNvSpPr>
                  <p:nvPr/>
                </p:nvSpPr>
                <p:spPr bwMode="auto">
                  <a:xfrm>
                    <a:off x="4993" y="1862"/>
                    <a:ext cx="147" cy="94"/>
                  </a:xfrm>
                  <a:custGeom>
                    <a:avLst/>
                    <a:gdLst>
                      <a:gd name="T0" fmla="*/ 0 w 882"/>
                      <a:gd name="T1" fmla="*/ 0 h 563"/>
                      <a:gd name="T2" fmla="*/ 0 w 882"/>
                      <a:gd name="T3" fmla="*/ 0 h 563"/>
                      <a:gd name="T4" fmla="*/ 0 w 882"/>
                      <a:gd name="T5" fmla="*/ 0 h 563"/>
                      <a:gd name="T6" fmla="*/ 0 w 882"/>
                      <a:gd name="T7" fmla="*/ 0 h 563"/>
                      <a:gd name="T8" fmla="*/ 0 w 882"/>
                      <a:gd name="T9" fmla="*/ 0 h 5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82" h="563">
                        <a:moveTo>
                          <a:pt x="882" y="50"/>
                        </a:moveTo>
                        <a:lnTo>
                          <a:pt x="882" y="563"/>
                        </a:lnTo>
                        <a:lnTo>
                          <a:pt x="0" y="436"/>
                        </a:lnTo>
                        <a:lnTo>
                          <a:pt x="0" y="0"/>
                        </a:lnTo>
                        <a:lnTo>
                          <a:pt x="882" y="5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3" name="Freeform 201"/>
                  <p:cNvSpPr>
                    <a:spLocks/>
                  </p:cNvSpPr>
                  <p:nvPr/>
                </p:nvSpPr>
                <p:spPr bwMode="auto">
                  <a:xfrm>
                    <a:off x="4993" y="1833"/>
                    <a:ext cx="345" cy="38"/>
                  </a:xfrm>
                  <a:custGeom>
                    <a:avLst/>
                    <a:gdLst>
                      <a:gd name="T0" fmla="*/ 0 w 2070"/>
                      <a:gd name="T1" fmla="*/ 0 h 225"/>
                      <a:gd name="T2" fmla="*/ 0 w 2070"/>
                      <a:gd name="T3" fmla="*/ 0 h 225"/>
                      <a:gd name="T4" fmla="*/ 0 w 2070"/>
                      <a:gd name="T5" fmla="*/ 0 h 225"/>
                      <a:gd name="T6" fmla="*/ 0 w 2070"/>
                      <a:gd name="T7" fmla="*/ 0 h 225"/>
                      <a:gd name="T8" fmla="*/ 0 w 2070"/>
                      <a:gd name="T9" fmla="*/ 0 h 2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70" h="225">
                        <a:moveTo>
                          <a:pt x="0" y="175"/>
                        </a:moveTo>
                        <a:lnTo>
                          <a:pt x="892" y="225"/>
                        </a:lnTo>
                        <a:lnTo>
                          <a:pt x="2070" y="0"/>
                        </a:lnTo>
                        <a:lnTo>
                          <a:pt x="1202" y="0"/>
                        </a:lnTo>
                        <a:lnTo>
                          <a:pt x="0" y="175"/>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246" name="Freeform 202"/>
                <p:cNvSpPr>
                  <a:spLocks/>
                </p:cNvSpPr>
                <p:nvPr/>
              </p:nvSpPr>
              <p:spPr bwMode="auto">
                <a:xfrm>
                  <a:off x="5105" y="1823"/>
                  <a:ext cx="126" cy="35"/>
                </a:xfrm>
                <a:custGeom>
                  <a:avLst/>
                  <a:gdLst>
                    <a:gd name="T0" fmla="*/ 0 w 751"/>
                    <a:gd name="T1" fmla="*/ 0 h 210"/>
                    <a:gd name="T2" fmla="*/ 0 w 751"/>
                    <a:gd name="T3" fmla="*/ 0 h 210"/>
                    <a:gd name="T4" fmla="*/ 0 w 751"/>
                    <a:gd name="T5" fmla="*/ 0 h 210"/>
                    <a:gd name="T6" fmla="*/ 0 w 751"/>
                    <a:gd name="T7" fmla="*/ 0 h 210"/>
                    <a:gd name="T8" fmla="*/ 0 w 751"/>
                    <a:gd name="T9" fmla="*/ 0 h 210"/>
                    <a:gd name="T10" fmla="*/ 0 w 751"/>
                    <a:gd name="T11" fmla="*/ 0 h 21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51" h="210">
                      <a:moveTo>
                        <a:pt x="0" y="120"/>
                      </a:moveTo>
                      <a:lnTo>
                        <a:pt x="0" y="188"/>
                      </a:lnTo>
                      <a:lnTo>
                        <a:pt x="351" y="210"/>
                      </a:lnTo>
                      <a:lnTo>
                        <a:pt x="751" y="135"/>
                      </a:lnTo>
                      <a:lnTo>
                        <a:pt x="751" y="0"/>
                      </a:lnTo>
                      <a:lnTo>
                        <a:pt x="0" y="12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47" name="Group 203"/>
                <p:cNvGrpSpPr>
                  <a:grpSpLocks/>
                </p:cNvGrpSpPr>
                <p:nvPr/>
              </p:nvGrpSpPr>
              <p:grpSpPr bwMode="auto">
                <a:xfrm>
                  <a:off x="5020" y="1674"/>
                  <a:ext cx="279" cy="176"/>
                  <a:chOff x="5020" y="1674"/>
                  <a:chExt cx="279" cy="176"/>
                </a:xfrm>
              </p:grpSpPr>
              <p:sp>
                <p:nvSpPr>
                  <p:cNvPr id="248" name="Freeform 204"/>
                  <p:cNvSpPr>
                    <a:spLocks/>
                  </p:cNvSpPr>
                  <p:nvPr/>
                </p:nvSpPr>
                <p:spPr bwMode="auto">
                  <a:xfrm>
                    <a:off x="5139" y="1674"/>
                    <a:ext cx="160" cy="172"/>
                  </a:xfrm>
                  <a:custGeom>
                    <a:avLst/>
                    <a:gdLst>
                      <a:gd name="T0" fmla="*/ 0 w 960"/>
                      <a:gd name="T1" fmla="*/ 0 h 1031"/>
                      <a:gd name="T2" fmla="*/ 0 w 960"/>
                      <a:gd name="T3" fmla="*/ 0 h 1031"/>
                      <a:gd name="T4" fmla="*/ 0 w 960"/>
                      <a:gd name="T5" fmla="*/ 0 h 1031"/>
                      <a:gd name="T6" fmla="*/ 0 w 960"/>
                      <a:gd name="T7" fmla="*/ 0 h 1031"/>
                      <a:gd name="T8" fmla="*/ 0 w 960"/>
                      <a:gd name="T9" fmla="*/ 0 h 103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60" h="1031">
                        <a:moveTo>
                          <a:pt x="135" y="1031"/>
                        </a:moveTo>
                        <a:lnTo>
                          <a:pt x="0" y="33"/>
                        </a:lnTo>
                        <a:lnTo>
                          <a:pt x="827" y="0"/>
                        </a:lnTo>
                        <a:lnTo>
                          <a:pt x="960" y="889"/>
                        </a:lnTo>
                        <a:lnTo>
                          <a:pt x="135" y="1031"/>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9" name="Freeform 205"/>
                  <p:cNvSpPr>
                    <a:spLocks/>
                  </p:cNvSpPr>
                  <p:nvPr/>
                </p:nvSpPr>
                <p:spPr bwMode="auto">
                  <a:xfrm>
                    <a:off x="5020" y="1679"/>
                    <a:ext cx="141" cy="171"/>
                  </a:xfrm>
                  <a:custGeom>
                    <a:avLst/>
                    <a:gdLst>
                      <a:gd name="T0" fmla="*/ 0 w 850"/>
                      <a:gd name="T1" fmla="*/ 0 h 1026"/>
                      <a:gd name="T2" fmla="*/ 0 w 850"/>
                      <a:gd name="T3" fmla="*/ 0 h 1026"/>
                      <a:gd name="T4" fmla="*/ 0 w 850"/>
                      <a:gd name="T5" fmla="*/ 0 h 1026"/>
                      <a:gd name="T6" fmla="*/ 0 w 850"/>
                      <a:gd name="T7" fmla="*/ 0 h 1026"/>
                      <a:gd name="T8" fmla="*/ 0 w 850"/>
                      <a:gd name="T9" fmla="*/ 0 h 10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50" h="1026">
                        <a:moveTo>
                          <a:pt x="715" y="0"/>
                        </a:moveTo>
                        <a:lnTo>
                          <a:pt x="0" y="228"/>
                        </a:lnTo>
                        <a:lnTo>
                          <a:pt x="102" y="1026"/>
                        </a:lnTo>
                        <a:lnTo>
                          <a:pt x="850" y="1000"/>
                        </a:lnTo>
                        <a:lnTo>
                          <a:pt x="715" y="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0" name="Freeform 206"/>
                  <p:cNvSpPr>
                    <a:spLocks/>
                  </p:cNvSpPr>
                  <p:nvPr/>
                </p:nvSpPr>
                <p:spPr bwMode="auto">
                  <a:xfrm>
                    <a:off x="5166" y="1691"/>
                    <a:ext cx="115" cy="129"/>
                  </a:xfrm>
                  <a:custGeom>
                    <a:avLst/>
                    <a:gdLst>
                      <a:gd name="T0" fmla="*/ 0 w 689"/>
                      <a:gd name="T1" fmla="*/ 0 h 778"/>
                      <a:gd name="T2" fmla="*/ 0 w 689"/>
                      <a:gd name="T3" fmla="*/ 0 h 778"/>
                      <a:gd name="T4" fmla="*/ 0 w 689"/>
                      <a:gd name="T5" fmla="*/ 0 h 778"/>
                      <a:gd name="T6" fmla="*/ 0 w 689"/>
                      <a:gd name="T7" fmla="*/ 0 h 778"/>
                      <a:gd name="T8" fmla="*/ 0 w 689"/>
                      <a:gd name="T9" fmla="*/ 0 h 77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9" h="778">
                        <a:moveTo>
                          <a:pt x="0" y="36"/>
                        </a:moveTo>
                        <a:lnTo>
                          <a:pt x="98" y="778"/>
                        </a:lnTo>
                        <a:lnTo>
                          <a:pt x="689" y="689"/>
                        </a:lnTo>
                        <a:lnTo>
                          <a:pt x="587" y="0"/>
                        </a:lnTo>
                        <a:lnTo>
                          <a:pt x="0" y="36"/>
                        </a:lnTo>
                        <a:close/>
                      </a:path>
                    </a:pathLst>
                  </a:custGeom>
                  <a:solidFill>
                    <a:srgbClr val="0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37" name="Group 207"/>
              <p:cNvGrpSpPr>
                <a:grpSpLocks/>
              </p:cNvGrpSpPr>
              <p:nvPr/>
            </p:nvGrpSpPr>
            <p:grpSpPr bwMode="auto">
              <a:xfrm>
                <a:off x="5212" y="1846"/>
                <a:ext cx="113" cy="80"/>
                <a:chOff x="5212" y="1846"/>
                <a:chExt cx="113" cy="80"/>
              </a:xfrm>
            </p:grpSpPr>
            <p:sp>
              <p:nvSpPr>
                <p:cNvPr id="238" name="Freeform 208"/>
                <p:cNvSpPr>
                  <a:spLocks/>
                </p:cNvSpPr>
                <p:nvPr/>
              </p:nvSpPr>
              <p:spPr bwMode="auto">
                <a:xfrm>
                  <a:off x="5212" y="1846"/>
                  <a:ext cx="112" cy="80"/>
                </a:xfrm>
                <a:custGeom>
                  <a:avLst/>
                  <a:gdLst>
                    <a:gd name="T0" fmla="*/ 0 w 674"/>
                    <a:gd name="T1" fmla="*/ 0 h 482"/>
                    <a:gd name="T2" fmla="*/ 0 w 674"/>
                    <a:gd name="T3" fmla="*/ 0 h 482"/>
                    <a:gd name="T4" fmla="*/ 0 w 674"/>
                    <a:gd name="T5" fmla="*/ 0 h 482"/>
                    <a:gd name="T6" fmla="*/ 0 w 674"/>
                    <a:gd name="T7" fmla="*/ 0 h 482"/>
                    <a:gd name="T8" fmla="*/ 0 w 674"/>
                    <a:gd name="T9" fmla="*/ 0 h 48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74" h="482">
                      <a:moveTo>
                        <a:pt x="674" y="0"/>
                      </a:moveTo>
                      <a:lnTo>
                        <a:pt x="0" y="143"/>
                      </a:lnTo>
                      <a:lnTo>
                        <a:pt x="0" y="482"/>
                      </a:lnTo>
                      <a:lnTo>
                        <a:pt x="674" y="271"/>
                      </a:lnTo>
                      <a:lnTo>
                        <a:pt x="674" y="0"/>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9" name="Line 209"/>
                <p:cNvSpPr>
                  <a:spLocks noChangeShapeType="1"/>
                </p:cNvSpPr>
                <p:nvPr/>
              </p:nvSpPr>
              <p:spPr bwMode="auto">
                <a:xfrm flipV="1">
                  <a:off x="5286" y="1866"/>
                  <a:ext cx="30" cy="7"/>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0" name="Line 210"/>
                <p:cNvSpPr>
                  <a:spLocks noChangeShapeType="1"/>
                </p:cNvSpPr>
                <p:nvPr/>
              </p:nvSpPr>
              <p:spPr bwMode="auto">
                <a:xfrm flipH="1">
                  <a:off x="5231" y="1876"/>
                  <a:ext cx="39" cy="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1" name="Line 211"/>
                <p:cNvSpPr>
                  <a:spLocks noChangeShapeType="1"/>
                </p:cNvSpPr>
                <p:nvPr/>
              </p:nvSpPr>
              <p:spPr bwMode="auto">
                <a:xfrm>
                  <a:off x="5277" y="1856"/>
                  <a:ext cx="1" cy="52"/>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2" name="Line 212"/>
                <p:cNvSpPr>
                  <a:spLocks noChangeShapeType="1"/>
                </p:cNvSpPr>
                <p:nvPr/>
              </p:nvSpPr>
              <p:spPr bwMode="auto">
                <a:xfrm>
                  <a:off x="5223" y="1868"/>
                  <a:ext cx="1" cy="57"/>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3" name="Line 213"/>
                <p:cNvSpPr>
                  <a:spLocks noChangeShapeType="1"/>
                </p:cNvSpPr>
                <p:nvPr/>
              </p:nvSpPr>
              <p:spPr bwMode="auto">
                <a:xfrm flipH="1">
                  <a:off x="5223" y="1867"/>
                  <a:ext cx="102" cy="26"/>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4" name="Line 214"/>
                <p:cNvSpPr>
                  <a:spLocks noChangeShapeType="1"/>
                </p:cNvSpPr>
                <p:nvPr/>
              </p:nvSpPr>
              <p:spPr bwMode="auto">
                <a:xfrm flipV="1">
                  <a:off x="5223" y="1860"/>
                  <a:ext cx="102" cy="23"/>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04" name="Group 215"/>
            <p:cNvGrpSpPr>
              <a:grpSpLocks/>
            </p:cNvGrpSpPr>
            <p:nvPr/>
          </p:nvGrpSpPr>
          <p:grpSpPr bwMode="auto">
            <a:xfrm>
              <a:off x="5170" y="1848"/>
              <a:ext cx="270" cy="138"/>
              <a:chOff x="5170" y="1848"/>
              <a:chExt cx="270" cy="138"/>
            </a:xfrm>
          </p:grpSpPr>
          <p:grpSp>
            <p:nvGrpSpPr>
              <p:cNvPr id="205" name="Group 216"/>
              <p:cNvGrpSpPr>
                <a:grpSpLocks/>
              </p:cNvGrpSpPr>
              <p:nvPr/>
            </p:nvGrpSpPr>
            <p:grpSpPr bwMode="auto">
              <a:xfrm>
                <a:off x="5188" y="1923"/>
                <a:ext cx="43" cy="32"/>
                <a:chOff x="5188" y="1923"/>
                <a:chExt cx="43" cy="32"/>
              </a:xfrm>
            </p:grpSpPr>
            <p:sp>
              <p:nvSpPr>
                <p:cNvPr id="234" name="Freeform 217"/>
                <p:cNvSpPr>
                  <a:spLocks/>
                </p:cNvSpPr>
                <p:nvPr/>
              </p:nvSpPr>
              <p:spPr bwMode="auto">
                <a:xfrm>
                  <a:off x="5188" y="1923"/>
                  <a:ext cx="12" cy="32"/>
                </a:xfrm>
                <a:custGeom>
                  <a:avLst/>
                  <a:gdLst>
                    <a:gd name="T0" fmla="*/ 0 w 75"/>
                    <a:gd name="T1" fmla="*/ 0 h 194"/>
                    <a:gd name="T2" fmla="*/ 0 w 75"/>
                    <a:gd name="T3" fmla="*/ 0 h 194"/>
                    <a:gd name="T4" fmla="*/ 0 w 75"/>
                    <a:gd name="T5" fmla="*/ 0 h 194"/>
                    <a:gd name="T6" fmla="*/ 0 w 75"/>
                    <a:gd name="T7" fmla="*/ 0 h 194"/>
                    <a:gd name="T8" fmla="*/ 0 w 75"/>
                    <a:gd name="T9" fmla="*/ 0 h 19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5" h="194">
                      <a:moveTo>
                        <a:pt x="23" y="0"/>
                      </a:moveTo>
                      <a:lnTo>
                        <a:pt x="0" y="183"/>
                      </a:lnTo>
                      <a:lnTo>
                        <a:pt x="55" y="194"/>
                      </a:lnTo>
                      <a:lnTo>
                        <a:pt x="75" y="8"/>
                      </a:lnTo>
                      <a:lnTo>
                        <a:pt x="23"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5" name="Freeform 218"/>
                <p:cNvSpPr>
                  <a:spLocks/>
                </p:cNvSpPr>
                <p:nvPr/>
              </p:nvSpPr>
              <p:spPr bwMode="auto">
                <a:xfrm>
                  <a:off x="5197" y="1927"/>
                  <a:ext cx="34" cy="28"/>
                </a:xfrm>
                <a:custGeom>
                  <a:avLst/>
                  <a:gdLst>
                    <a:gd name="T0" fmla="*/ 0 w 206"/>
                    <a:gd name="T1" fmla="*/ 0 h 168"/>
                    <a:gd name="T2" fmla="*/ 0 w 206"/>
                    <a:gd name="T3" fmla="*/ 0 h 168"/>
                    <a:gd name="T4" fmla="*/ 0 w 206"/>
                    <a:gd name="T5" fmla="*/ 0 h 168"/>
                    <a:gd name="T6" fmla="*/ 0 w 206"/>
                    <a:gd name="T7" fmla="*/ 0 h 168"/>
                    <a:gd name="T8" fmla="*/ 0 w 206"/>
                    <a:gd name="T9" fmla="*/ 0 h 168"/>
                    <a:gd name="T10" fmla="*/ 0 w 206"/>
                    <a:gd name="T11" fmla="*/ 0 h 168"/>
                    <a:gd name="T12" fmla="*/ 0 w 206"/>
                    <a:gd name="T13" fmla="*/ 0 h 16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6" h="168">
                      <a:moveTo>
                        <a:pt x="17" y="5"/>
                      </a:moveTo>
                      <a:lnTo>
                        <a:pt x="0" y="168"/>
                      </a:lnTo>
                      <a:lnTo>
                        <a:pt x="206" y="84"/>
                      </a:lnTo>
                      <a:lnTo>
                        <a:pt x="126" y="58"/>
                      </a:lnTo>
                      <a:lnTo>
                        <a:pt x="52" y="97"/>
                      </a:lnTo>
                      <a:lnTo>
                        <a:pt x="75" y="0"/>
                      </a:lnTo>
                      <a:lnTo>
                        <a:pt x="17" y="5"/>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06" name="Group 219"/>
              <p:cNvGrpSpPr>
                <a:grpSpLocks/>
              </p:cNvGrpSpPr>
              <p:nvPr/>
            </p:nvGrpSpPr>
            <p:grpSpPr bwMode="auto">
              <a:xfrm>
                <a:off x="5170" y="1848"/>
                <a:ext cx="270" cy="138"/>
                <a:chOff x="5170" y="1848"/>
                <a:chExt cx="270" cy="138"/>
              </a:xfrm>
            </p:grpSpPr>
            <p:sp>
              <p:nvSpPr>
                <p:cNvPr id="207" name="Freeform 220"/>
                <p:cNvSpPr>
                  <a:spLocks/>
                </p:cNvSpPr>
                <p:nvPr/>
              </p:nvSpPr>
              <p:spPr bwMode="auto">
                <a:xfrm>
                  <a:off x="5175" y="1848"/>
                  <a:ext cx="264" cy="122"/>
                </a:xfrm>
                <a:custGeom>
                  <a:avLst/>
                  <a:gdLst>
                    <a:gd name="T0" fmla="*/ 0 w 1583"/>
                    <a:gd name="T1" fmla="*/ 0 h 729"/>
                    <a:gd name="T2" fmla="*/ 0 w 1583"/>
                    <a:gd name="T3" fmla="*/ 0 h 729"/>
                    <a:gd name="T4" fmla="*/ 0 w 1583"/>
                    <a:gd name="T5" fmla="*/ 0 h 729"/>
                    <a:gd name="T6" fmla="*/ 0 w 1583"/>
                    <a:gd name="T7" fmla="*/ 0 h 729"/>
                    <a:gd name="T8" fmla="*/ 0 w 1583"/>
                    <a:gd name="T9" fmla="*/ 0 h 7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583" h="729">
                      <a:moveTo>
                        <a:pt x="0" y="309"/>
                      </a:moveTo>
                      <a:lnTo>
                        <a:pt x="759" y="729"/>
                      </a:lnTo>
                      <a:lnTo>
                        <a:pt x="1583" y="318"/>
                      </a:lnTo>
                      <a:lnTo>
                        <a:pt x="951" y="0"/>
                      </a:lnTo>
                      <a:lnTo>
                        <a:pt x="0" y="309"/>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8" name="Freeform 221"/>
                <p:cNvSpPr>
                  <a:spLocks/>
                </p:cNvSpPr>
                <p:nvPr/>
              </p:nvSpPr>
              <p:spPr bwMode="auto">
                <a:xfrm>
                  <a:off x="5170" y="1899"/>
                  <a:ext cx="133" cy="86"/>
                </a:xfrm>
                <a:custGeom>
                  <a:avLst/>
                  <a:gdLst>
                    <a:gd name="T0" fmla="*/ 0 w 792"/>
                    <a:gd name="T1" fmla="*/ 0 h 516"/>
                    <a:gd name="T2" fmla="*/ 0 w 792"/>
                    <a:gd name="T3" fmla="*/ 0 h 516"/>
                    <a:gd name="T4" fmla="*/ 0 w 792"/>
                    <a:gd name="T5" fmla="*/ 0 h 516"/>
                    <a:gd name="T6" fmla="*/ 0 w 792"/>
                    <a:gd name="T7" fmla="*/ 0 h 516"/>
                    <a:gd name="T8" fmla="*/ 0 w 792"/>
                    <a:gd name="T9" fmla="*/ 0 h 51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92" h="516">
                      <a:moveTo>
                        <a:pt x="28" y="0"/>
                      </a:moveTo>
                      <a:lnTo>
                        <a:pt x="792" y="426"/>
                      </a:lnTo>
                      <a:lnTo>
                        <a:pt x="770" y="516"/>
                      </a:lnTo>
                      <a:lnTo>
                        <a:pt x="0" y="82"/>
                      </a:lnTo>
                      <a:lnTo>
                        <a:pt x="28"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9" name="Freeform 222"/>
                <p:cNvSpPr>
                  <a:spLocks/>
                </p:cNvSpPr>
                <p:nvPr/>
              </p:nvSpPr>
              <p:spPr bwMode="auto">
                <a:xfrm>
                  <a:off x="5299" y="1901"/>
                  <a:ext cx="141" cy="85"/>
                </a:xfrm>
                <a:custGeom>
                  <a:avLst/>
                  <a:gdLst>
                    <a:gd name="T0" fmla="*/ 0 w 846"/>
                    <a:gd name="T1" fmla="*/ 0 h 507"/>
                    <a:gd name="T2" fmla="*/ 0 w 846"/>
                    <a:gd name="T3" fmla="*/ 0 h 507"/>
                    <a:gd name="T4" fmla="*/ 0 w 846"/>
                    <a:gd name="T5" fmla="*/ 0 h 507"/>
                    <a:gd name="T6" fmla="*/ 0 w 846"/>
                    <a:gd name="T7" fmla="*/ 0 h 507"/>
                    <a:gd name="T8" fmla="*/ 0 w 846"/>
                    <a:gd name="T9" fmla="*/ 0 h 50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6" h="507">
                      <a:moveTo>
                        <a:pt x="0" y="507"/>
                      </a:moveTo>
                      <a:lnTo>
                        <a:pt x="25" y="411"/>
                      </a:lnTo>
                      <a:lnTo>
                        <a:pt x="846" y="0"/>
                      </a:lnTo>
                      <a:lnTo>
                        <a:pt x="817" y="76"/>
                      </a:lnTo>
                      <a:lnTo>
                        <a:pt x="0" y="507"/>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0" name="Freeform 223"/>
                <p:cNvSpPr>
                  <a:spLocks/>
                </p:cNvSpPr>
                <p:nvPr/>
              </p:nvSpPr>
              <p:spPr bwMode="auto">
                <a:xfrm>
                  <a:off x="5227" y="1905"/>
                  <a:ext cx="106" cy="54"/>
                </a:xfrm>
                <a:custGeom>
                  <a:avLst/>
                  <a:gdLst>
                    <a:gd name="T0" fmla="*/ 0 w 637"/>
                    <a:gd name="T1" fmla="*/ 0 h 321"/>
                    <a:gd name="T2" fmla="*/ 0 w 637"/>
                    <a:gd name="T3" fmla="*/ 0 h 321"/>
                    <a:gd name="T4" fmla="*/ 0 w 637"/>
                    <a:gd name="T5" fmla="*/ 0 h 321"/>
                    <a:gd name="T6" fmla="*/ 0 w 637"/>
                    <a:gd name="T7" fmla="*/ 0 h 321"/>
                    <a:gd name="T8" fmla="*/ 0 w 637"/>
                    <a:gd name="T9" fmla="*/ 0 h 32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7" h="321">
                      <a:moveTo>
                        <a:pt x="0" y="83"/>
                      </a:moveTo>
                      <a:lnTo>
                        <a:pt x="220" y="0"/>
                      </a:lnTo>
                      <a:lnTo>
                        <a:pt x="637" y="224"/>
                      </a:lnTo>
                      <a:lnTo>
                        <a:pt x="425" y="321"/>
                      </a:lnTo>
                      <a:lnTo>
                        <a:pt x="0" y="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1" name="Freeform 224"/>
                <p:cNvSpPr>
                  <a:spLocks/>
                </p:cNvSpPr>
                <p:nvPr/>
              </p:nvSpPr>
              <p:spPr bwMode="auto">
                <a:xfrm>
                  <a:off x="5270" y="1868"/>
                  <a:ext cx="156" cy="72"/>
                </a:xfrm>
                <a:custGeom>
                  <a:avLst/>
                  <a:gdLst>
                    <a:gd name="T0" fmla="*/ 0 w 938"/>
                    <a:gd name="T1" fmla="*/ 0 h 434"/>
                    <a:gd name="T2" fmla="*/ 0 w 938"/>
                    <a:gd name="T3" fmla="*/ 0 h 434"/>
                    <a:gd name="T4" fmla="*/ 0 w 938"/>
                    <a:gd name="T5" fmla="*/ 0 h 434"/>
                    <a:gd name="T6" fmla="*/ 0 w 938"/>
                    <a:gd name="T7" fmla="*/ 0 h 434"/>
                    <a:gd name="T8" fmla="*/ 0 w 938"/>
                    <a:gd name="T9" fmla="*/ 0 h 4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38" h="434">
                      <a:moveTo>
                        <a:pt x="0" y="210"/>
                      </a:moveTo>
                      <a:lnTo>
                        <a:pt x="410" y="434"/>
                      </a:lnTo>
                      <a:lnTo>
                        <a:pt x="938" y="186"/>
                      </a:lnTo>
                      <a:lnTo>
                        <a:pt x="554" y="0"/>
                      </a:lnTo>
                      <a:lnTo>
                        <a:pt x="0" y="21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2" name="Freeform 225"/>
                <p:cNvSpPr>
                  <a:spLocks/>
                </p:cNvSpPr>
                <p:nvPr/>
              </p:nvSpPr>
              <p:spPr bwMode="auto">
                <a:xfrm>
                  <a:off x="5188" y="1852"/>
                  <a:ext cx="172" cy="66"/>
                </a:xfrm>
                <a:custGeom>
                  <a:avLst/>
                  <a:gdLst>
                    <a:gd name="T0" fmla="*/ 0 w 1034"/>
                    <a:gd name="T1" fmla="*/ 0 h 395"/>
                    <a:gd name="T2" fmla="*/ 0 w 1034"/>
                    <a:gd name="T3" fmla="*/ 0 h 395"/>
                    <a:gd name="T4" fmla="*/ 0 w 1034"/>
                    <a:gd name="T5" fmla="*/ 0 h 395"/>
                    <a:gd name="T6" fmla="*/ 0 w 1034"/>
                    <a:gd name="T7" fmla="*/ 0 h 395"/>
                    <a:gd name="T8" fmla="*/ 0 w 1034"/>
                    <a:gd name="T9" fmla="*/ 0 h 39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4" h="395">
                      <a:moveTo>
                        <a:pt x="216" y="395"/>
                      </a:moveTo>
                      <a:lnTo>
                        <a:pt x="0" y="285"/>
                      </a:lnTo>
                      <a:lnTo>
                        <a:pt x="867" y="0"/>
                      </a:lnTo>
                      <a:lnTo>
                        <a:pt x="1034" y="82"/>
                      </a:lnTo>
                      <a:lnTo>
                        <a:pt x="216" y="395"/>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3" name="Line 226"/>
                <p:cNvSpPr>
                  <a:spLocks noChangeShapeType="1"/>
                </p:cNvSpPr>
                <p:nvPr/>
              </p:nvSpPr>
              <p:spPr bwMode="auto">
                <a:xfrm flipV="1">
                  <a:off x="5193" y="1855"/>
                  <a:ext cx="148" cy="51"/>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4" name="Line 227"/>
                <p:cNvSpPr>
                  <a:spLocks noChangeShapeType="1"/>
                </p:cNvSpPr>
                <p:nvPr/>
              </p:nvSpPr>
              <p:spPr bwMode="auto">
                <a:xfrm flipV="1">
                  <a:off x="5205" y="1858"/>
                  <a:ext cx="14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5" name="Line 228"/>
                <p:cNvSpPr>
                  <a:spLocks noChangeShapeType="1"/>
                </p:cNvSpPr>
                <p:nvPr/>
              </p:nvSpPr>
              <p:spPr bwMode="auto">
                <a:xfrm flipV="1">
                  <a:off x="5214" y="1862"/>
                  <a:ext cx="141" cy="5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6" name="Line 229"/>
                <p:cNvSpPr>
                  <a:spLocks noChangeShapeType="1"/>
                </p:cNvSpPr>
                <p:nvPr/>
              </p:nvSpPr>
              <p:spPr bwMode="auto">
                <a:xfrm flipV="1">
                  <a:off x="5235" y="1871"/>
                  <a:ext cx="138" cy="5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7" name="Line 230"/>
                <p:cNvSpPr>
                  <a:spLocks noChangeShapeType="1"/>
                </p:cNvSpPr>
                <p:nvPr/>
              </p:nvSpPr>
              <p:spPr bwMode="auto">
                <a:xfrm flipV="1">
                  <a:off x="5246" y="1877"/>
                  <a:ext cx="137" cy="5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8" name="Line 231"/>
                <p:cNvSpPr>
                  <a:spLocks noChangeShapeType="1"/>
                </p:cNvSpPr>
                <p:nvPr/>
              </p:nvSpPr>
              <p:spPr bwMode="auto">
                <a:xfrm flipV="1">
                  <a:off x="5261" y="1885"/>
                  <a:ext cx="124"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9" name="Line 232"/>
                <p:cNvSpPr>
                  <a:spLocks noChangeShapeType="1"/>
                </p:cNvSpPr>
                <p:nvPr/>
              </p:nvSpPr>
              <p:spPr bwMode="auto">
                <a:xfrm flipV="1">
                  <a:off x="5274" y="1890"/>
                  <a:ext cx="119"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0" name="Line 233"/>
                <p:cNvSpPr>
                  <a:spLocks noChangeShapeType="1"/>
                </p:cNvSpPr>
                <p:nvPr/>
              </p:nvSpPr>
              <p:spPr bwMode="auto">
                <a:xfrm flipV="1">
                  <a:off x="5291" y="1897"/>
                  <a:ext cx="11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1" name="Line 234"/>
                <p:cNvSpPr>
                  <a:spLocks noChangeShapeType="1"/>
                </p:cNvSpPr>
                <p:nvPr/>
              </p:nvSpPr>
              <p:spPr bwMode="auto">
                <a:xfrm>
                  <a:off x="5239" y="1915"/>
                  <a:ext cx="71" cy="40"/>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2" name="Line 235"/>
                <p:cNvSpPr>
                  <a:spLocks noChangeShapeType="1"/>
                </p:cNvSpPr>
                <p:nvPr/>
              </p:nvSpPr>
              <p:spPr bwMode="auto">
                <a:xfrm>
                  <a:off x="5255" y="1910"/>
                  <a:ext cx="69" cy="3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3" name="Line 236"/>
                <p:cNvSpPr>
                  <a:spLocks noChangeShapeType="1"/>
                </p:cNvSpPr>
                <p:nvPr/>
              </p:nvSpPr>
              <p:spPr bwMode="auto">
                <a:xfrm>
                  <a:off x="5285" y="1897"/>
                  <a:ext cx="68" cy="3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4" name="Line 237"/>
                <p:cNvSpPr>
                  <a:spLocks noChangeShapeType="1"/>
                </p:cNvSpPr>
                <p:nvPr/>
              </p:nvSpPr>
              <p:spPr bwMode="auto">
                <a:xfrm>
                  <a:off x="5301" y="1891"/>
                  <a:ext cx="67"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5" name="Line 238"/>
                <p:cNvSpPr>
                  <a:spLocks noChangeShapeType="1"/>
                </p:cNvSpPr>
                <p:nvPr/>
              </p:nvSpPr>
              <p:spPr bwMode="auto">
                <a:xfrm>
                  <a:off x="5318" y="1886"/>
                  <a:ext cx="65"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6" name="Line 239"/>
                <p:cNvSpPr>
                  <a:spLocks noChangeShapeType="1"/>
                </p:cNvSpPr>
                <p:nvPr/>
              </p:nvSpPr>
              <p:spPr bwMode="auto">
                <a:xfrm>
                  <a:off x="5332" y="1880"/>
                  <a:ext cx="64" cy="3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7" name="Line 240"/>
                <p:cNvSpPr>
                  <a:spLocks noChangeShapeType="1"/>
                </p:cNvSpPr>
                <p:nvPr/>
              </p:nvSpPr>
              <p:spPr bwMode="auto">
                <a:xfrm>
                  <a:off x="5346" y="1874"/>
                  <a:ext cx="64" cy="3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8" name="Line 241"/>
                <p:cNvSpPr>
                  <a:spLocks noChangeShapeType="1"/>
                </p:cNvSpPr>
                <p:nvPr/>
              </p:nvSpPr>
              <p:spPr bwMode="auto">
                <a:xfrm>
                  <a:off x="5209" y="1892"/>
                  <a:ext cx="35" cy="1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9" name="Line 242"/>
                <p:cNvSpPr>
                  <a:spLocks noChangeShapeType="1"/>
                </p:cNvSpPr>
                <p:nvPr/>
              </p:nvSpPr>
              <p:spPr bwMode="auto">
                <a:xfrm>
                  <a:off x="5232" y="1885"/>
                  <a:ext cx="32"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0" name="Line 243"/>
                <p:cNvSpPr>
                  <a:spLocks noChangeShapeType="1"/>
                </p:cNvSpPr>
                <p:nvPr/>
              </p:nvSpPr>
              <p:spPr bwMode="auto">
                <a:xfrm>
                  <a:off x="5252" y="1879"/>
                  <a:ext cx="33"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1" name="Line 244"/>
                <p:cNvSpPr>
                  <a:spLocks noChangeShapeType="1"/>
                </p:cNvSpPr>
                <p:nvPr/>
              </p:nvSpPr>
              <p:spPr bwMode="auto">
                <a:xfrm>
                  <a:off x="5272" y="1872"/>
                  <a:ext cx="32"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2" name="Line 245"/>
                <p:cNvSpPr>
                  <a:spLocks noChangeShapeType="1"/>
                </p:cNvSpPr>
                <p:nvPr/>
              </p:nvSpPr>
              <p:spPr bwMode="auto">
                <a:xfrm>
                  <a:off x="5292" y="1865"/>
                  <a:ext cx="31" cy="1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3" name="Line 246"/>
                <p:cNvSpPr>
                  <a:spLocks noChangeShapeType="1"/>
                </p:cNvSpPr>
                <p:nvPr/>
              </p:nvSpPr>
              <p:spPr bwMode="auto">
                <a:xfrm>
                  <a:off x="5315" y="1858"/>
                  <a:ext cx="29"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261" name="Group 254"/>
          <p:cNvGrpSpPr>
            <a:grpSpLocks/>
          </p:cNvGrpSpPr>
          <p:nvPr/>
        </p:nvGrpSpPr>
        <p:grpSpPr bwMode="auto">
          <a:xfrm>
            <a:off x="7012736" y="3240629"/>
            <a:ext cx="144954" cy="73406"/>
            <a:chOff x="5325" y="1860"/>
            <a:chExt cx="144" cy="79"/>
          </a:xfrm>
        </p:grpSpPr>
        <p:grpSp>
          <p:nvGrpSpPr>
            <p:cNvPr id="262" name="Group 255"/>
            <p:cNvGrpSpPr>
              <a:grpSpLocks/>
            </p:cNvGrpSpPr>
            <p:nvPr/>
          </p:nvGrpSpPr>
          <p:grpSpPr bwMode="auto">
            <a:xfrm>
              <a:off x="5325" y="1860"/>
              <a:ext cx="125" cy="63"/>
              <a:chOff x="5325" y="1860"/>
              <a:chExt cx="125" cy="63"/>
            </a:xfrm>
          </p:grpSpPr>
          <p:sp>
            <p:nvSpPr>
              <p:cNvPr id="266" name="Freeform 256"/>
              <p:cNvSpPr>
                <a:spLocks/>
              </p:cNvSpPr>
              <p:nvPr/>
            </p:nvSpPr>
            <p:spPr bwMode="auto">
              <a:xfrm>
                <a:off x="5325" y="1860"/>
                <a:ext cx="125" cy="63"/>
              </a:xfrm>
              <a:custGeom>
                <a:avLst/>
                <a:gdLst>
                  <a:gd name="T0" fmla="*/ 0 w 751"/>
                  <a:gd name="T1" fmla="*/ 0 h 379"/>
                  <a:gd name="T2" fmla="*/ 0 w 751"/>
                  <a:gd name="T3" fmla="*/ 0 h 379"/>
                  <a:gd name="T4" fmla="*/ 0 w 751"/>
                  <a:gd name="T5" fmla="*/ 0 h 379"/>
                  <a:gd name="T6" fmla="*/ 0 w 751"/>
                  <a:gd name="T7" fmla="*/ 0 h 379"/>
                  <a:gd name="T8" fmla="*/ 0 w 751"/>
                  <a:gd name="T9" fmla="*/ 0 h 379"/>
                  <a:gd name="T10" fmla="*/ 0 w 751"/>
                  <a:gd name="T11" fmla="*/ 0 h 379"/>
                  <a:gd name="T12" fmla="*/ 0 w 751"/>
                  <a:gd name="T13" fmla="*/ 0 h 379"/>
                  <a:gd name="T14" fmla="*/ 0 w 751"/>
                  <a:gd name="T15" fmla="*/ 0 h 379"/>
                  <a:gd name="T16" fmla="*/ 0 w 751"/>
                  <a:gd name="T17" fmla="*/ 0 h 379"/>
                  <a:gd name="T18" fmla="*/ 0 w 751"/>
                  <a:gd name="T19" fmla="*/ 0 h 379"/>
                  <a:gd name="T20" fmla="*/ 0 w 751"/>
                  <a:gd name="T21" fmla="*/ 0 h 379"/>
                  <a:gd name="T22" fmla="*/ 0 w 751"/>
                  <a:gd name="T23" fmla="*/ 0 h 379"/>
                  <a:gd name="T24" fmla="*/ 0 w 751"/>
                  <a:gd name="T25" fmla="*/ 0 h 379"/>
                  <a:gd name="T26" fmla="*/ 0 w 751"/>
                  <a:gd name="T27" fmla="*/ 0 h 379"/>
                  <a:gd name="T28" fmla="*/ 0 w 751"/>
                  <a:gd name="T29" fmla="*/ 0 h 379"/>
                  <a:gd name="T30" fmla="*/ 0 w 751"/>
                  <a:gd name="T31" fmla="*/ 0 h 379"/>
                  <a:gd name="T32" fmla="*/ 0 w 751"/>
                  <a:gd name="T33" fmla="*/ 0 h 379"/>
                  <a:gd name="T34" fmla="*/ 0 w 751"/>
                  <a:gd name="T35" fmla="*/ 0 h 379"/>
                  <a:gd name="T36" fmla="*/ 0 w 751"/>
                  <a:gd name="T37" fmla="*/ 0 h 379"/>
                  <a:gd name="T38" fmla="*/ 0 w 751"/>
                  <a:gd name="T39" fmla="*/ 0 h 379"/>
                  <a:gd name="T40" fmla="*/ 0 w 751"/>
                  <a:gd name="T41" fmla="*/ 0 h 379"/>
                  <a:gd name="T42" fmla="*/ 0 w 751"/>
                  <a:gd name="T43" fmla="*/ 0 h 379"/>
                  <a:gd name="T44" fmla="*/ 0 w 751"/>
                  <a:gd name="T45" fmla="*/ 0 h 379"/>
                  <a:gd name="T46" fmla="*/ 0 w 751"/>
                  <a:gd name="T47" fmla="*/ 0 h 379"/>
                  <a:gd name="T48" fmla="*/ 0 w 751"/>
                  <a:gd name="T49" fmla="*/ 0 h 379"/>
                  <a:gd name="T50" fmla="*/ 0 w 751"/>
                  <a:gd name="T51" fmla="*/ 0 h 379"/>
                  <a:gd name="T52" fmla="*/ 0 w 751"/>
                  <a:gd name="T53" fmla="*/ 0 h 379"/>
                  <a:gd name="T54" fmla="*/ 0 w 751"/>
                  <a:gd name="T55" fmla="*/ 0 h 379"/>
                  <a:gd name="T56" fmla="*/ 0 w 751"/>
                  <a:gd name="T57" fmla="*/ 0 h 379"/>
                  <a:gd name="T58" fmla="*/ 0 w 751"/>
                  <a:gd name="T59" fmla="*/ 0 h 379"/>
                  <a:gd name="T60" fmla="*/ 0 w 751"/>
                  <a:gd name="T61" fmla="*/ 0 h 379"/>
                  <a:gd name="T62" fmla="*/ 0 w 751"/>
                  <a:gd name="T63" fmla="*/ 0 h 379"/>
                  <a:gd name="T64" fmla="*/ 0 w 751"/>
                  <a:gd name="T65" fmla="*/ 0 h 379"/>
                  <a:gd name="T66" fmla="*/ 0 w 751"/>
                  <a:gd name="T67" fmla="*/ 0 h 379"/>
                  <a:gd name="T68" fmla="*/ 0 w 751"/>
                  <a:gd name="T69" fmla="*/ 0 h 379"/>
                  <a:gd name="T70" fmla="*/ 0 w 751"/>
                  <a:gd name="T71" fmla="*/ 0 h 379"/>
                  <a:gd name="T72" fmla="*/ 0 w 751"/>
                  <a:gd name="T73" fmla="*/ 0 h 379"/>
                  <a:gd name="T74" fmla="*/ 0 w 751"/>
                  <a:gd name="T75" fmla="*/ 0 h 379"/>
                  <a:gd name="T76" fmla="*/ 0 w 751"/>
                  <a:gd name="T77" fmla="*/ 0 h 379"/>
                  <a:gd name="T78" fmla="*/ 0 w 751"/>
                  <a:gd name="T79" fmla="*/ 0 h 379"/>
                  <a:gd name="T80" fmla="*/ 0 w 751"/>
                  <a:gd name="T81" fmla="*/ 0 h 379"/>
                  <a:gd name="T82" fmla="*/ 0 w 751"/>
                  <a:gd name="T83" fmla="*/ 0 h 379"/>
                  <a:gd name="T84" fmla="*/ 0 w 751"/>
                  <a:gd name="T85" fmla="*/ 0 h 379"/>
                  <a:gd name="T86" fmla="*/ 0 w 751"/>
                  <a:gd name="T87" fmla="*/ 0 h 379"/>
                  <a:gd name="T88" fmla="*/ 0 w 751"/>
                  <a:gd name="T89" fmla="*/ 0 h 379"/>
                  <a:gd name="T90" fmla="*/ 0 w 751"/>
                  <a:gd name="T91" fmla="*/ 0 h 379"/>
                  <a:gd name="T92" fmla="*/ 0 w 751"/>
                  <a:gd name="T93" fmla="*/ 0 h 379"/>
                  <a:gd name="T94" fmla="*/ 0 w 751"/>
                  <a:gd name="T95" fmla="*/ 0 h 379"/>
                  <a:gd name="T96" fmla="*/ 0 w 751"/>
                  <a:gd name="T97" fmla="*/ 0 h 379"/>
                  <a:gd name="T98" fmla="*/ 0 w 751"/>
                  <a:gd name="T99" fmla="*/ 0 h 379"/>
                  <a:gd name="T100" fmla="*/ 0 w 751"/>
                  <a:gd name="T101" fmla="*/ 0 h 379"/>
                  <a:gd name="T102" fmla="*/ 0 w 751"/>
                  <a:gd name="T103" fmla="*/ 0 h 379"/>
                  <a:gd name="T104" fmla="*/ 0 w 751"/>
                  <a:gd name="T105" fmla="*/ 0 h 379"/>
                  <a:gd name="T106" fmla="*/ 0 w 751"/>
                  <a:gd name="T107" fmla="*/ 0 h 379"/>
                  <a:gd name="T108" fmla="*/ 0 w 751"/>
                  <a:gd name="T109" fmla="*/ 0 h 379"/>
                  <a:gd name="T110" fmla="*/ 0 w 751"/>
                  <a:gd name="T111" fmla="*/ 0 h 379"/>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751" h="379">
                    <a:moveTo>
                      <a:pt x="679" y="379"/>
                    </a:moveTo>
                    <a:lnTo>
                      <a:pt x="639" y="370"/>
                    </a:lnTo>
                    <a:lnTo>
                      <a:pt x="600" y="352"/>
                    </a:lnTo>
                    <a:lnTo>
                      <a:pt x="564" y="344"/>
                    </a:lnTo>
                    <a:lnTo>
                      <a:pt x="502" y="353"/>
                    </a:lnTo>
                    <a:lnTo>
                      <a:pt x="457" y="352"/>
                    </a:lnTo>
                    <a:lnTo>
                      <a:pt x="425" y="341"/>
                    </a:lnTo>
                    <a:lnTo>
                      <a:pt x="399" y="332"/>
                    </a:lnTo>
                    <a:lnTo>
                      <a:pt x="373" y="320"/>
                    </a:lnTo>
                    <a:lnTo>
                      <a:pt x="346" y="295"/>
                    </a:lnTo>
                    <a:lnTo>
                      <a:pt x="324" y="273"/>
                    </a:lnTo>
                    <a:lnTo>
                      <a:pt x="288" y="246"/>
                    </a:lnTo>
                    <a:lnTo>
                      <a:pt x="238" y="254"/>
                    </a:lnTo>
                    <a:lnTo>
                      <a:pt x="208" y="256"/>
                    </a:lnTo>
                    <a:lnTo>
                      <a:pt x="190" y="251"/>
                    </a:lnTo>
                    <a:lnTo>
                      <a:pt x="182" y="243"/>
                    </a:lnTo>
                    <a:lnTo>
                      <a:pt x="176" y="228"/>
                    </a:lnTo>
                    <a:lnTo>
                      <a:pt x="180" y="215"/>
                    </a:lnTo>
                    <a:lnTo>
                      <a:pt x="190" y="200"/>
                    </a:lnTo>
                    <a:lnTo>
                      <a:pt x="208" y="193"/>
                    </a:lnTo>
                    <a:lnTo>
                      <a:pt x="248" y="188"/>
                    </a:lnTo>
                    <a:lnTo>
                      <a:pt x="296" y="171"/>
                    </a:lnTo>
                    <a:lnTo>
                      <a:pt x="256" y="140"/>
                    </a:lnTo>
                    <a:lnTo>
                      <a:pt x="209" y="121"/>
                    </a:lnTo>
                    <a:lnTo>
                      <a:pt x="168" y="124"/>
                    </a:lnTo>
                    <a:lnTo>
                      <a:pt x="121" y="121"/>
                    </a:lnTo>
                    <a:lnTo>
                      <a:pt x="93" y="131"/>
                    </a:lnTo>
                    <a:lnTo>
                      <a:pt x="54" y="132"/>
                    </a:lnTo>
                    <a:lnTo>
                      <a:pt x="42" y="121"/>
                    </a:lnTo>
                    <a:lnTo>
                      <a:pt x="39" y="105"/>
                    </a:lnTo>
                    <a:lnTo>
                      <a:pt x="18" y="106"/>
                    </a:lnTo>
                    <a:lnTo>
                      <a:pt x="6" y="103"/>
                    </a:lnTo>
                    <a:lnTo>
                      <a:pt x="0" y="87"/>
                    </a:lnTo>
                    <a:lnTo>
                      <a:pt x="4" y="74"/>
                    </a:lnTo>
                    <a:lnTo>
                      <a:pt x="15" y="68"/>
                    </a:lnTo>
                    <a:lnTo>
                      <a:pt x="36" y="56"/>
                    </a:lnTo>
                    <a:lnTo>
                      <a:pt x="52" y="44"/>
                    </a:lnTo>
                    <a:lnTo>
                      <a:pt x="71" y="34"/>
                    </a:lnTo>
                    <a:lnTo>
                      <a:pt x="93" y="27"/>
                    </a:lnTo>
                    <a:lnTo>
                      <a:pt x="112" y="27"/>
                    </a:lnTo>
                    <a:lnTo>
                      <a:pt x="203" y="9"/>
                    </a:lnTo>
                    <a:lnTo>
                      <a:pt x="222" y="4"/>
                    </a:lnTo>
                    <a:lnTo>
                      <a:pt x="244" y="0"/>
                    </a:lnTo>
                    <a:lnTo>
                      <a:pt x="267" y="4"/>
                    </a:lnTo>
                    <a:lnTo>
                      <a:pt x="295" y="13"/>
                    </a:lnTo>
                    <a:lnTo>
                      <a:pt x="373" y="56"/>
                    </a:lnTo>
                    <a:lnTo>
                      <a:pt x="410" y="64"/>
                    </a:lnTo>
                    <a:lnTo>
                      <a:pt x="443" y="71"/>
                    </a:lnTo>
                    <a:lnTo>
                      <a:pt x="469" y="87"/>
                    </a:lnTo>
                    <a:lnTo>
                      <a:pt x="484" y="108"/>
                    </a:lnTo>
                    <a:lnTo>
                      <a:pt x="549" y="153"/>
                    </a:lnTo>
                    <a:lnTo>
                      <a:pt x="578" y="174"/>
                    </a:lnTo>
                    <a:lnTo>
                      <a:pt x="617" y="215"/>
                    </a:lnTo>
                    <a:lnTo>
                      <a:pt x="641" y="227"/>
                    </a:lnTo>
                    <a:lnTo>
                      <a:pt x="751" y="232"/>
                    </a:lnTo>
                    <a:lnTo>
                      <a:pt x="679" y="379"/>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7" name="Freeform 257"/>
              <p:cNvSpPr>
                <a:spLocks/>
              </p:cNvSpPr>
              <p:nvPr/>
            </p:nvSpPr>
            <p:spPr bwMode="auto">
              <a:xfrm>
                <a:off x="5374" y="1888"/>
                <a:ext cx="29" cy="7"/>
              </a:xfrm>
              <a:custGeom>
                <a:avLst/>
                <a:gdLst>
                  <a:gd name="T0" fmla="*/ 0 w 179"/>
                  <a:gd name="T1" fmla="*/ 0 h 43"/>
                  <a:gd name="T2" fmla="*/ 0 w 179"/>
                  <a:gd name="T3" fmla="*/ 0 h 43"/>
                  <a:gd name="T4" fmla="*/ 0 w 179"/>
                  <a:gd name="T5" fmla="*/ 0 h 43"/>
                  <a:gd name="T6" fmla="*/ 0 w 179"/>
                  <a:gd name="T7" fmla="*/ 0 h 43"/>
                  <a:gd name="T8" fmla="*/ 0 w 179"/>
                  <a:gd name="T9" fmla="*/ 0 h 43"/>
                  <a:gd name="T10" fmla="*/ 0 w 179"/>
                  <a:gd name="T11" fmla="*/ 0 h 43"/>
                  <a:gd name="T12" fmla="*/ 0 w 179"/>
                  <a:gd name="T13" fmla="*/ 0 h 43"/>
                  <a:gd name="T14" fmla="*/ 0 w 179"/>
                  <a:gd name="T15" fmla="*/ 0 h 43"/>
                  <a:gd name="T16" fmla="*/ 0 w 179"/>
                  <a:gd name="T17" fmla="*/ 0 h 43"/>
                  <a:gd name="T18" fmla="*/ 0 w 179"/>
                  <a:gd name="T19" fmla="*/ 0 h 43"/>
                  <a:gd name="T20" fmla="*/ 0 w 179"/>
                  <a:gd name="T21" fmla="*/ 0 h 43"/>
                  <a:gd name="T22" fmla="*/ 0 w 179"/>
                  <a:gd name="T23" fmla="*/ 0 h 43"/>
                  <a:gd name="T24" fmla="*/ 0 w 179"/>
                  <a:gd name="T25" fmla="*/ 0 h 43"/>
                  <a:gd name="T26" fmla="*/ 0 w 179"/>
                  <a:gd name="T27" fmla="*/ 0 h 43"/>
                  <a:gd name="T28" fmla="*/ 0 w 179"/>
                  <a:gd name="T29" fmla="*/ 0 h 4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79" h="43">
                    <a:moveTo>
                      <a:pt x="0" y="0"/>
                    </a:moveTo>
                    <a:lnTo>
                      <a:pt x="6" y="11"/>
                    </a:lnTo>
                    <a:lnTo>
                      <a:pt x="38" y="10"/>
                    </a:lnTo>
                    <a:lnTo>
                      <a:pt x="50" y="16"/>
                    </a:lnTo>
                    <a:lnTo>
                      <a:pt x="76" y="29"/>
                    </a:lnTo>
                    <a:lnTo>
                      <a:pt x="112" y="37"/>
                    </a:lnTo>
                    <a:lnTo>
                      <a:pt x="150" y="38"/>
                    </a:lnTo>
                    <a:lnTo>
                      <a:pt x="179" y="43"/>
                    </a:lnTo>
                    <a:lnTo>
                      <a:pt x="155" y="34"/>
                    </a:lnTo>
                    <a:lnTo>
                      <a:pt x="125" y="29"/>
                    </a:lnTo>
                    <a:lnTo>
                      <a:pt x="105" y="29"/>
                    </a:lnTo>
                    <a:lnTo>
                      <a:pt x="76" y="21"/>
                    </a:lnTo>
                    <a:lnTo>
                      <a:pt x="53" y="8"/>
                    </a:lnTo>
                    <a:lnTo>
                      <a:pt x="43" y="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8" name="Freeform 258"/>
              <p:cNvSpPr>
                <a:spLocks/>
              </p:cNvSpPr>
              <p:nvPr/>
            </p:nvSpPr>
            <p:spPr bwMode="auto">
              <a:xfrm>
                <a:off x="5362" y="1894"/>
                <a:ext cx="4" cy="4"/>
              </a:xfrm>
              <a:custGeom>
                <a:avLst/>
                <a:gdLst>
                  <a:gd name="T0" fmla="*/ 0 w 20"/>
                  <a:gd name="T1" fmla="*/ 0 h 24"/>
                  <a:gd name="T2" fmla="*/ 0 w 20"/>
                  <a:gd name="T3" fmla="*/ 0 h 24"/>
                  <a:gd name="T4" fmla="*/ 0 w 20"/>
                  <a:gd name="T5" fmla="*/ 0 h 24"/>
                  <a:gd name="T6" fmla="*/ 0 w 20"/>
                  <a:gd name="T7" fmla="*/ 0 h 24"/>
                  <a:gd name="T8" fmla="*/ 0 w 20"/>
                  <a:gd name="T9" fmla="*/ 0 h 24"/>
                  <a:gd name="T10" fmla="*/ 0 w 20"/>
                  <a:gd name="T11" fmla="*/ 0 h 24"/>
                  <a:gd name="T12" fmla="*/ 0 w 20"/>
                  <a:gd name="T13" fmla="*/ 0 h 2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24">
                    <a:moveTo>
                      <a:pt x="4" y="0"/>
                    </a:moveTo>
                    <a:lnTo>
                      <a:pt x="12" y="6"/>
                    </a:lnTo>
                    <a:lnTo>
                      <a:pt x="9" y="15"/>
                    </a:lnTo>
                    <a:lnTo>
                      <a:pt x="0" y="24"/>
                    </a:lnTo>
                    <a:lnTo>
                      <a:pt x="17" y="18"/>
                    </a:lnTo>
                    <a:lnTo>
                      <a:pt x="20" y="8"/>
                    </a:lnTo>
                    <a:lnTo>
                      <a:pt x="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9" name="Freeform 259"/>
              <p:cNvSpPr>
                <a:spLocks/>
              </p:cNvSpPr>
              <p:nvPr/>
            </p:nvSpPr>
            <p:spPr bwMode="auto">
              <a:xfrm>
                <a:off x="5331" y="1869"/>
                <a:ext cx="17" cy="8"/>
              </a:xfrm>
              <a:custGeom>
                <a:avLst/>
                <a:gdLst>
                  <a:gd name="T0" fmla="*/ 0 w 104"/>
                  <a:gd name="T1" fmla="*/ 0 h 48"/>
                  <a:gd name="T2" fmla="*/ 0 w 104"/>
                  <a:gd name="T3" fmla="*/ 0 h 48"/>
                  <a:gd name="T4" fmla="*/ 0 w 104"/>
                  <a:gd name="T5" fmla="*/ 0 h 48"/>
                  <a:gd name="T6" fmla="*/ 0 w 104"/>
                  <a:gd name="T7" fmla="*/ 0 h 48"/>
                  <a:gd name="T8" fmla="*/ 0 w 104"/>
                  <a:gd name="T9" fmla="*/ 0 h 48"/>
                  <a:gd name="T10" fmla="*/ 0 w 104"/>
                  <a:gd name="T11" fmla="*/ 0 h 48"/>
                  <a:gd name="T12" fmla="*/ 0 w 104"/>
                  <a:gd name="T13" fmla="*/ 0 h 48"/>
                  <a:gd name="T14" fmla="*/ 0 w 104"/>
                  <a:gd name="T15" fmla="*/ 0 h 48"/>
                  <a:gd name="T16" fmla="*/ 0 w 104"/>
                  <a:gd name="T17" fmla="*/ 0 h 48"/>
                  <a:gd name="T18" fmla="*/ 0 w 104"/>
                  <a:gd name="T19" fmla="*/ 0 h 48"/>
                  <a:gd name="T20" fmla="*/ 0 w 104"/>
                  <a:gd name="T21" fmla="*/ 0 h 48"/>
                  <a:gd name="T22" fmla="*/ 0 w 104"/>
                  <a:gd name="T23" fmla="*/ 0 h 48"/>
                  <a:gd name="T24" fmla="*/ 0 w 104"/>
                  <a:gd name="T25" fmla="*/ 0 h 48"/>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4" h="48">
                    <a:moveTo>
                      <a:pt x="0" y="45"/>
                    </a:moveTo>
                    <a:lnTo>
                      <a:pt x="11" y="48"/>
                    </a:lnTo>
                    <a:lnTo>
                      <a:pt x="25" y="33"/>
                    </a:lnTo>
                    <a:lnTo>
                      <a:pt x="46" y="25"/>
                    </a:lnTo>
                    <a:lnTo>
                      <a:pt x="56" y="14"/>
                    </a:lnTo>
                    <a:lnTo>
                      <a:pt x="66" y="9"/>
                    </a:lnTo>
                    <a:lnTo>
                      <a:pt x="89" y="4"/>
                    </a:lnTo>
                    <a:lnTo>
                      <a:pt x="104" y="1"/>
                    </a:lnTo>
                    <a:lnTo>
                      <a:pt x="84" y="0"/>
                    </a:lnTo>
                    <a:lnTo>
                      <a:pt x="58" y="4"/>
                    </a:lnTo>
                    <a:lnTo>
                      <a:pt x="49" y="12"/>
                    </a:lnTo>
                    <a:lnTo>
                      <a:pt x="37" y="20"/>
                    </a:lnTo>
                    <a:lnTo>
                      <a:pt x="0" y="4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0" name="Freeform 260"/>
              <p:cNvSpPr>
                <a:spLocks/>
              </p:cNvSpPr>
              <p:nvPr/>
            </p:nvSpPr>
            <p:spPr bwMode="auto">
              <a:xfrm>
                <a:off x="5357" y="1866"/>
                <a:ext cx="27" cy="7"/>
              </a:xfrm>
              <a:custGeom>
                <a:avLst/>
                <a:gdLst>
                  <a:gd name="T0" fmla="*/ 0 w 166"/>
                  <a:gd name="T1" fmla="*/ 0 h 42"/>
                  <a:gd name="T2" fmla="*/ 0 w 166"/>
                  <a:gd name="T3" fmla="*/ 0 h 42"/>
                  <a:gd name="T4" fmla="*/ 0 w 166"/>
                  <a:gd name="T5" fmla="*/ 0 h 42"/>
                  <a:gd name="T6" fmla="*/ 0 w 166"/>
                  <a:gd name="T7" fmla="*/ 0 h 42"/>
                  <a:gd name="T8" fmla="*/ 0 w 166"/>
                  <a:gd name="T9" fmla="*/ 0 h 42"/>
                  <a:gd name="T10" fmla="*/ 0 w 166"/>
                  <a:gd name="T11" fmla="*/ 0 h 42"/>
                  <a:gd name="T12" fmla="*/ 0 w 166"/>
                  <a:gd name="T13" fmla="*/ 0 h 42"/>
                  <a:gd name="T14" fmla="*/ 0 w 166"/>
                  <a:gd name="T15" fmla="*/ 0 h 42"/>
                  <a:gd name="T16" fmla="*/ 0 w 166"/>
                  <a:gd name="T17" fmla="*/ 0 h 42"/>
                  <a:gd name="T18" fmla="*/ 0 w 166"/>
                  <a:gd name="T19" fmla="*/ 0 h 42"/>
                  <a:gd name="T20" fmla="*/ 0 w 166"/>
                  <a:gd name="T21" fmla="*/ 0 h 42"/>
                  <a:gd name="T22" fmla="*/ 0 w 166"/>
                  <a:gd name="T23" fmla="*/ 0 h 42"/>
                  <a:gd name="T24" fmla="*/ 0 w 166"/>
                  <a:gd name="T25" fmla="*/ 0 h 42"/>
                  <a:gd name="T26" fmla="*/ 0 w 166"/>
                  <a:gd name="T27" fmla="*/ 0 h 42"/>
                  <a:gd name="T28" fmla="*/ 0 w 166"/>
                  <a:gd name="T29" fmla="*/ 0 h 42"/>
                  <a:gd name="T30" fmla="*/ 0 w 166"/>
                  <a:gd name="T31" fmla="*/ 0 h 4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66" h="42">
                    <a:moveTo>
                      <a:pt x="0" y="10"/>
                    </a:moveTo>
                    <a:lnTo>
                      <a:pt x="35" y="6"/>
                    </a:lnTo>
                    <a:lnTo>
                      <a:pt x="55" y="0"/>
                    </a:lnTo>
                    <a:lnTo>
                      <a:pt x="63" y="0"/>
                    </a:lnTo>
                    <a:lnTo>
                      <a:pt x="85" y="5"/>
                    </a:lnTo>
                    <a:lnTo>
                      <a:pt x="94" y="14"/>
                    </a:lnTo>
                    <a:lnTo>
                      <a:pt x="111" y="23"/>
                    </a:lnTo>
                    <a:lnTo>
                      <a:pt x="143" y="36"/>
                    </a:lnTo>
                    <a:lnTo>
                      <a:pt x="166" y="36"/>
                    </a:lnTo>
                    <a:lnTo>
                      <a:pt x="142" y="42"/>
                    </a:lnTo>
                    <a:lnTo>
                      <a:pt x="126" y="39"/>
                    </a:lnTo>
                    <a:lnTo>
                      <a:pt x="91" y="22"/>
                    </a:lnTo>
                    <a:lnTo>
                      <a:pt x="79" y="10"/>
                    </a:lnTo>
                    <a:lnTo>
                      <a:pt x="55" y="8"/>
                    </a:lnTo>
                    <a:lnTo>
                      <a:pt x="35" y="10"/>
                    </a:lnTo>
                    <a:lnTo>
                      <a:pt x="0" y="1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1" name="Freeform 261"/>
              <p:cNvSpPr>
                <a:spLocks/>
              </p:cNvSpPr>
              <p:nvPr/>
            </p:nvSpPr>
            <p:spPr bwMode="auto">
              <a:xfrm>
                <a:off x="5335" y="1874"/>
                <a:ext cx="6" cy="5"/>
              </a:xfrm>
              <a:custGeom>
                <a:avLst/>
                <a:gdLst>
                  <a:gd name="T0" fmla="*/ 0 w 33"/>
                  <a:gd name="T1" fmla="*/ 0 h 30"/>
                  <a:gd name="T2" fmla="*/ 0 w 33"/>
                  <a:gd name="T3" fmla="*/ 0 h 30"/>
                  <a:gd name="T4" fmla="*/ 0 w 33"/>
                  <a:gd name="T5" fmla="*/ 0 h 30"/>
                  <a:gd name="T6" fmla="*/ 0 w 33"/>
                  <a:gd name="T7" fmla="*/ 0 h 30"/>
                  <a:gd name="T8" fmla="*/ 0 w 33"/>
                  <a:gd name="T9" fmla="*/ 0 h 30"/>
                  <a:gd name="T10" fmla="*/ 0 w 33"/>
                  <a:gd name="T11" fmla="*/ 0 h 3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30">
                    <a:moveTo>
                      <a:pt x="25" y="0"/>
                    </a:moveTo>
                    <a:lnTo>
                      <a:pt x="33" y="11"/>
                    </a:lnTo>
                    <a:lnTo>
                      <a:pt x="23" y="24"/>
                    </a:lnTo>
                    <a:lnTo>
                      <a:pt x="0" y="30"/>
                    </a:lnTo>
                    <a:lnTo>
                      <a:pt x="25" y="15"/>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2" name="Freeform 262"/>
              <p:cNvSpPr>
                <a:spLocks/>
              </p:cNvSpPr>
              <p:nvPr/>
            </p:nvSpPr>
            <p:spPr bwMode="auto">
              <a:xfrm>
                <a:off x="5329" y="1870"/>
                <a:ext cx="6" cy="4"/>
              </a:xfrm>
              <a:custGeom>
                <a:avLst/>
                <a:gdLst>
                  <a:gd name="T0" fmla="*/ 0 w 33"/>
                  <a:gd name="T1" fmla="*/ 0 h 28"/>
                  <a:gd name="T2" fmla="*/ 0 w 33"/>
                  <a:gd name="T3" fmla="*/ 0 h 28"/>
                  <a:gd name="T4" fmla="*/ 0 w 33"/>
                  <a:gd name="T5" fmla="*/ 0 h 28"/>
                  <a:gd name="T6" fmla="*/ 0 w 33"/>
                  <a:gd name="T7" fmla="*/ 0 h 28"/>
                  <a:gd name="T8" fmla="*/ 0 w 33"/>
                  <a:gd name="T9" fmla="*/ 0 h 28"/>
                  <a:gd name="T10" fmla="*/ 0 w 33"/>
                  <a:gd name="T11" fmla="*/ 0 h 2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28">
                    <a:moveTo>
                      <a:pt x="33" y="16"/>
                    </a:moveTo>
                    <a:lnTo>
                      <a:pt x="25" y="0"/>
                    </a:lnTo>
                    <a:lnTo>
                      <a:pt x="24" y="13"/>
                    </a:lnTo>
                    <a:lnTo>
                      <a:pt x="0" y="26"/>
                    </a:lnTo>
                    <a:lnTo>
                      <a:pt x="3" y="28"/>
                    </a:lnTo>
                    <a:lnTo>
                      <a:pt x="33" y="1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3" name="Freeform 263"/>
              <p:cNvSpPr>
                <a:spLocks/>
              </p:cNvSpPr>
              <p:nvPr/>
            </p:nvSpPr>
            <p:spPr bwMode="auto">
              <a:xfrm>
                <a:off x="5399" y="1876"/>
                <a:ext cx="6" cy="7"/>
              </a:xfrm>
              <a:custGeom>
                <a:avLst/>
                <a:gdLst>
                  <a:gd name="T0" fmla="*/ 0 w 37"/>
                  <a:gd name="T1" fmla="*/ 0 h 42"/>
                  <a:gd name="T2" fmla="*/ 0 w 37"/>
                  <a:gd name="T3" fmla="*/ 0 h 42"/>
                  <a:gd name="T4" fmla="*/ 0 w 37"/>
                  <a:gd name="T5" fmla="*/ 0 h 42"/>
                  <a:gd name="T6" fmla="*/ 0 w 37"/>
                  <a:gd name="T7" fmla="*/ 0 h 42"/>
                  <a:gd name="T8" fmla="*/ 0 w 37"/>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7" h="42">
                    <a:moveTo>
                      <a:pt x="0" y="0"/>
                    </a:moveTo>
                    <a:lnTo>
                      <a:pt x="8" y="21"/>
                    </a:lnTo>
                    <a:lnTo>
                      <a:pt x="23" y="39"/>
                    </a:lnTo>
                    <a:lnTo>
                      <a:pt x="37" y="4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4" name="Freeform 264"/>
              <p:cNvSpPr>
                <a:spLocks/>
              </p:cNvSpPr>
              <p:nvPr/>
            </p:nvSpPr>
            <p:spPr bwMode="auto">
              <a:xfrm>
                <a:off x="5420" y="1907"/>
                <a:ext cx="9" cy="6"/>
              </a:xfrm>
              <a:custGeom>
                <a:avLst/>
                <a:gdLst>
                  <a:gd name="T0" fmla="*/ 0 w 50"/>
                  <a:gd name="T1" fmla="*/ 0 h 39"/>
                  <a:gd name="T2" fmla="*/ 0 w 50"/>
                  <a:gd name="T3" fmla="*/ 0 h 39"/>
                  <a:gd name="T4" fmla="*/ 0 w 50"/>
                  <a:gd name="T5" fmla="*/ 0 h 39"/>
                  <a:gd name="T6" fmla="*/ 0 w 50"/>
                  <a:gd name="T7" fmla="*/ 0 h 3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50" h="39">
                    <a:moveTo>
                      <a:pt x="50" y="0"/>
                    </a:moveTo>
                    <a:lnTo>
                      <a:pt x="17" y="14"/>
                    </a:lnTo>
                    <a:lnTo>
                      <a:pt x="0" y="39"/>
                    </a:lnTo>
                    <a:lnTo>
                      <a:pt x="5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63" name="Group 265"/>
            <p:cNvGrpSpPr>
              <a:grpSpLocks/>
            </p:cNvGrpSpPr>
            <p:nvPr/>
          </p:nvGrpSpPr>
          <p:grpSpPr bwMode="auto">
            <a:xfrm>
              <a:off x="5432" y="1894"/>
              <a:ext cx="37" cy="45"/>
              <a:chOff x="5432" y="1894"/>
              <a:chExt cx="37" cy="45"/>
            </a:xfrm>
          </p:grpSpPr>
          <p:sp>
            <p:nvSpPr>
              <p:cNvPr id="264" name="Freeform 266"/>
              <p:cNvSpPr>
                <a:spLocks/>
              </p:cNvSpPr>
              <p:nvPr/>
            </p:nvSpPr>
            <p:spPr bwMode="auto">
              <a:xfrm>
                <a:off x="5432" y="1894"/>
                <a:ext cx="37" cy="45"/>
              </a:xfrm>
              <a:custGeom>
                <a:avLst/>
                <a:gdLst>
                  <a:gd name="T0" fmla="*/ 0 w 219"/>
                  <a:gd name="T1" fmla="*/ 0 h 267"/>
                  <a:gd name="T2" fmla="*/ 0 w 219"/>
                  <a:gd name="T3" fmla="*/ 0 h 267"/>
                  <a:gd name="T4" fmla="*/ 0 w 219"/>
                  <a:gd name="T5" fmla="*/ 0 h 267"/>
                  <a:gd name="T6" fmla="*/ 0 w 219"/>
                  <a:gd name="T7" fmla="*/ 0 h 267"/>
                  <a:gd name="T8" fmla="*/ 0 w 219"/>
                  <a:gd name="T9" fmla="*/ 0 h 267"/>
                  <a:gd name="T10" fmla="*/ 0 w 219"/>
                  <a:gd name="T11" fmla="*/ 0 h 267"/>
                  <a:gd name="T12" fmla="*/ 0 w 219"/>
                  <a:gd name="T13" fmla="*/ 0 h 267"/>
                  <a:gd name="T14" fmla="*/ 0 w 219"/>
                  <a:gd name="T15" fmla="*/ 0 h 267"/>
                  <a:gd name="T16" fmla="*/ 0 w 219"/>
                  <a:gd name="T17" fmla="*/ 0 h 267"/>
                  <a:gd name="T18" fmla="*/ 0 w 219"/>
                  <a:gd name="T19" fmla="*/ 0 h 26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267">
                    <a:moveTo>
                      <a:pt x="77" y="17"/>
                    </a:moveTo>
                    <a:lnTo>
                      <a:pt x="42" y="55"/>
                    </a:lnTo>
                    <a:lnTo>
                      <a:pt x="26" y="87"/>
                    </a:lnTo>
                    <a:lnTo>
                      <a:pt x="11" y="138"/>
                    </a:lnTo>
                    <a:lnTo>
                      <a:pt x="11" y="167"/>
                    </a:lnTo>
                    <a:lnTo>
                      <a:pt x="0" y="210"/>
                    </a:lnTo>
                    <a:lnTo>
                      <a:pt x="178" y="267"/>
                    </a:lnTo>
                    <a:lnTo>
                      <a:pt x="219" y="0"/>
                    </a:lnTo>
                    <a:lnTo>
                      <a:pt x="146" y="17"/>
                    </a:lnTo>
                    <a:lnTo>
                      <a:pt x="77" y="17"/>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5" name="Freeform 267"/>
              <p:cNvSpPr>
                <a:spLocks/>
              </p:cNvSpPr>
              <p:nvPr/>
            </p:nvSpPr>
            <p:spPr bwMode="auto">
              <a:xfrm>
                <a:off x="5436" y="1898"/>
                <a:ext cx="29" cy="37"/>
              </a:xfrm>
              <a:custGeom>
                <a:avLst/>
                <a:gdLst>
                  <a:gd name="T0" fmla="*/ 0 w 175"/>
                  <a:gd name="T1" fmla="*/ 0 h 220"/>
                  <a:gd name="T2" fmla="*/ 0 w 175"/>
                  <a:gd name="T3" fmla="*/ 0 h 220"/>
                  <a:gd name="T4" fmla="*/ 0 w 175"/>
                  <a:gd name="T5" fmla="*/ 0 h 220"/>
                  <a:gd name="T6" fmla="*/ 0 w 175"/>
                  <a:gd name="T7" fmla="*/ 0 h 220"/>
                  <a:gd name="T8" fmla="*/ 0 w 175"/>
                  <a:gd name="T9" fmla="*/ 0 h 220"/>
                  <a:gd name="T10" fmla="*/ 0 w 175"/>
                  <a:gd name="T11" fmla="*/ 0 h 220"/>
                  <a:gd name="T12" fmla="*/ 0 w 175"/>
                  <a:gd name="T13" fmla="*/ 0 h 220"/>
                  <a:gd name="T14" fmla="*/ 0 w 175"/>
                  <a:gd name="T15" fmla="*/ 0 h 220"/>
                  <a:gd name="T16" fmla="*/ 0 w 175"/>
                  <a:gd name="T17" fmla="*/ 0 h 22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75" h="220">
                    <a:moveTo>
                      <a:pt x="69" y="7"/>
                    </a:moveTo>
                    <a:lnTo>
                      <a:pt x="38" y="42"/>
                    </a:lnTo>
                    <a:lnTo>
                      <a:pt x="12" y="92"/>
                    </a:lnTo>
                    <a:lnTo>
                      <a:pt x="6" y="128"/>
                    </a:lnTo>
                    <a:lnTo>
                      <a:pt x="0" y="171"/>
                    </a:lnTo>
                    <a:lnTo>
                      <a:pt x="140" y="220"/>
                    </a:lnTo>
                    <a:lnTo>
                      <a:pt x="175" y="0"/>
                    </a:lnTo>
                    <a:lnTo>
                      <a:pt x="122" y="10"/>
                    </a:lnTo>
                    <a:lnTo>
                      <a:pt x="69" y="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sp>
        <p:nvSpPr>
          <p:cNvPr id="275" name="Freeform 268"/>
          <p:cNvSpPr>
            <a:spLocks/>
          </p:cNvSpPr>
          <p:nvPr/>
        </p:nvSpPr>
        <p:spPr bwMode="auto">
          <a:xfrm>
            <a:off x="7153663" y="3046428"/>
            <a:ext cx="123814" cy="124512"/>
          </a:xfrm>
          <a:custGeom>
            <a:avLst/>
            <a:gdLst>
              <a:gd name="T0" fmla="*/ 2147483646 w 741"/>
              <a:gd name="T1" fmla="*/ 2147483646 h 807"/>
              <a:gd name="T2" fmla="*/ 2147483646 w 741"/>
              <a:gd name="T3" fmla="*/ 2147483646 h 807"/>
              <a:gd name="T4" fmla="*/ 2147483646 w 741"/>
              <a:gd name="T5" fmla="*/ 2147483646 h 807"/>
              <a:gd name="T6" fmla="*/ 2147483646 w 741"/>
              <a:gd name="T7" fmla="*/ 2147483646 h 807"/>
              <a:gd name="T8" fmla="*/ 2147483646 w 741"/>
              <a:gd name="T9" fmla="*/ 2147483646 h 807"/>
              <a:gd name="T10" fmla="*/ 2147483646 w 741"/>
              <a:gd name="T11" fmla="*/ 2147483646 h 807"/>
              <a:gd name="T12" fmla="*/ 2147483646 w 741"/>
              <a:gd name="T13" fmla="*/ 2147483646 h 807"/>
              <a:gd name="T14" fmla="*/ 2147483646 w 741"/>
              <a:gd name="T15" fmla="*/ 2147483646 h 807"/>
              <a:gd name="T16" fmla="*/ 2147483646 w 741"/>
              <a:gd name="T17" fmla="*/ 2147483646 h 807"/>
              <a:gd name="T18" fmla="*/ 0 w 741"/>
              <a:gd name="T19" fmla="*/ 2147483646 h 807"/>
              <a:gd name="T20" fmla="*/ 0 w 741"/>
              <a:gd name="T21" fmla="*/ 2147483646 h 807"/>
              <a:gd name="T22" fmla="*/ 2147483646 w 741"/>
              <a:gd name="T23" fmla="*/ 2147483646 h 807"/>
              <a:gd name="T24" fmla="*/ 2147483646 w 741"/>
              <a:gd name="T25" fmla="*/ 2147483646 h 807"/>
              <a:gd name="T26" fmla="*/ 2147483646 w 741"/>
              <a:gd name="T27" fmla="*/ 2147483646 h 807"/>
              <a:gd name="T28" fmla="*/ 2147483646 w 741"/>
              <a:gd name="T29" fmla="*/ 2147483646 h 807"/>
              <a:gd name="T30" fmla="*/ 2147483646 w 741"/>
              <a:gd name="T31" fmla="*/ 2147483646 h 807"/>
              <a:gd name="T32" fmla="*/ 2147483646 w 741"/>
              <a:gd name="T33" fmla="*/ 2147483646 h 807"/>
              <a:gd name="T34" fmla="*/ 2147483646 w 741"/>
              <a:gd name="T35" fmla="*/ 2147483646 h 807"/>
              <a:gd name="T36" fmla="*/ 2147483646 w 741"/>
              <a:gd name="T37" fmla="*/ 2147483646 h 807"/>
              <a:gd name="T38" fmla="*/ 2147483646 w 741"/>
              <a:gd name="T39" fmla="*/ 2147483646 h 807"/>
              <a:gd name="T40" fmla="*/ 2147483646 w 741"/>
              <a:gd name="T41" fmla="*/ 2147483646 h 807"/>
              <a:gd name="T42" fmla="*/ 2147483646 w 741"/>
              <a:gd name="T43" fmla="*/ 2147483646 h 807"/>
              <a:gd name="T44" fmla="*/ 2147483646 w 741"/>
              <a:gd name="T45" fmla="*/ 2147483646 h 807"/>
              <a:gd name="T46" fmla="*/ 2147483646 w 741"/>
              <a:gd name="T47" fmla="*/ 2147483646 h 807"/>
              <a:gd name="T48" fmla="*/ 2147483646 w 741"/>
              <a:gd name="T49" fmla="*/ 2147483646 h 807"/>
              <a:gd name="T50" fmla="*/ 2147483646 w 741"/>
              <a:gd name="T51" fmla="*/ 2147483646 h 807"/>
              <a:gd name="T52" fmla="*/ 2147483646 w 741"/>
              <a:gd name="T53" fmla="*/ 2147483646 h 807"/>
              <a:gd name="T54" fmla="*/ 2147483646 w 741"/>
              <a:gd name="T55" fmla="*/ 2147483646 h 807"/>
              <a:gd name="T56" fmla="*/ 2147483646 w 741"/>
              <a:gd name="T57" fmla="*/ 2147483646 h 807"/>
              <a:gd name="T58" fmla="*/ 2147483646 w 741"/>
              <a:gd name="T59" fmla="*/ 2147483646 h 807"/>
              <a:gd name="T60" fmla="*/ 2147483646 w 741"/>
              <a:gd name="T61" fmla="*/ 2147483646 h 807"/>
              <a:gd name="T62" fmla="*/ 2147483646 w 741"/>
              <a:gd name="T63" fmla="*/ 2147483646 h 807"/>
              <a:gd name="T64" fmla="*/ 2147483646 w 741"/>
              <a:gd name="T65" fmla="*/ 2147483646 h 807"/>
              <a:gd name="T66" fmla="*/ 2147483646 w 741"/>
              <a:gd name="T67" fmla="*/ 0 h 807"/>
              <a:gd name="T68" fmla="*/ 2147483646 w 741"/>
              <a:gd name="T69" fmla="*/ 2147483646 h 807"/>
              <a:gd name="T70" fmla="*/ 2147483646 w 741"/>
              <a:gd name="T71" fmla="*/ 2147483646 h 807"/>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741" h="807">
                <a:moveTo>
                  <a:pt x="243" y="26"/>
                </a:moveTo>
                <a:lnTo>
                  <a:pt x="179" y="74"/>
                </a:lnTo>
                <a:lnTo>
                  <a:pt x="144" y="131"/>
                </a:lnTo>
                <a:lnTo>
                  <a:pt x="112" y="192"/>
                </a:lnTo>
                <a:lnTo>
                  <a:pt x="92" y="224"/>
                </a:lnTo>
                <a:lnTo>
                  <a:pt x="92" y="259"/>
                </a:lnTo>
                <a:lnTo>
                  <a:pt x="109" y="300"/>
                </a:lnTo>
                <a:lnTo>
                  <a:pt x="77" y="332"/>
                </a:lnTo>
                <a:lnTo>
                  <a:pt x="26" y="420"/>
                </a:lnTo>
                <a:lnTo>
                  <a:pt x="0" y="467"/>
                </a:lnTo>
                <a:lnTo>
                  <a:pt x="0" y="482"/>
                </a:lnTo>
                <a:lnTo>
                  <a:pt x="6" y="498"/>
                </a:lnTo>
                <a:lnTo>
                  <a:pt x="28" y="503"/>
                </a:lnTo>
                <a:lnTo>
                  <a:pt x="60" y="504"/>
                </a:lnTo>
                <a:lnTo>
                  <a:pt x="79" y="511"/>
                </a:lnTo>
                <a:lnTo>
                  <a:pt x="77" y="546"/>
                </a:lnTo>
                <a:lnTo>
                  <a:pt x="67" y="587"/>
                </a:lnTo>
                <a:lnTo>
                  <a:pt x="86" y="609"/>
                </a:lnTo>
                <a:lnTo>
                  <a:pt x="80" y="639"/>
                </a:lnTo>
                <a:lnTo>
                  <a:pt x="95" y="659"/>
                </a:lnTo>
                <a:lnTo>
                  <a:pt x="110" y="713"/>
                </a:lnTo>
                <a:lnTo>
                  <a:pt x="133" y="728"/>
                </a:lnTo>
                <a:lnTo>
                  <a:pt x="167" y="728"/>
                </a:lnTo>
                <a:lnTo>
                  <a:pt x="217" y="721"/>
                </a:lnTo>
                <a:lnTo>
                  <a:pt x="269" y="713"/>
                </a:lnTo>
                <a:lnTo>
                  <a:pt x="263" y="807"/>
                </a:lnTo>
                <a:lnTo>
                  <a:pt x="658" y="681"/>
                </a:lnTo>
                <a:lnTo>
                  <a:pt x="626" y="606"/>
                </a:lnTo>
                <a:lnTo>
                  <a:pt x="634" y="549"/>
                </a:lnTo>
                <a:lnTo>
                  <a:pt x="741" y="441"/>
                </a:lnTo>
                <a:lnTo>
                  <a:pt x="741" y="155"/>
                </a:lnTo>
                <a:lnTo>
                  <a:pt x="668" y="77"/>
                </a:lnTo>
                <a:lnTo>
                  <a:pt x="577" y="35"/>
                </a:lnTo>
                <a:lnTo>
                  <a:pt x="481" y="0"/>
                </a:lnTo>
                <a:lnTo>
                  <a:pt x="355" y="18"/>
                </a:lnTo>
                <a:lnTo>
                  <a:pt x="243" y="26"/>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6" name="Freeform 269"/>
          <p:cNvSpPr>
            <a:spLocks/>
          </p:cNvSpPr>
          <p:nvPr/>
        </p:nvSpPr>
        <p:spPr bwMode="auto">
          <a:xfrm>
            <a:off x="7159703" y="3121692"/>
            <a:ext cx="7046" cy="1858"/>
          </a:xfrm>
          <a:custGeom>
            <a:avLst/>
            <a:gdLst>
              <a:gd name="T0" fmla="*/ 0 w 42"/>
              <a:gd name="T1" fmla="*/ 2147483646 h 9"/>
              <a:gd name="T2" fmla="*/ 2147483646 w 42"/>
              <a:gd name="T3" fmla="*/ 2147483646 h 9"/>
              <a:gd name="T4" fmla="*/ 2147483646 w 42"/>
              <a:gd name="T5" fmla="*/ 2147483646 h 9"/>
              <a:gd name="T6" fmla="*/ 2147483646 w 42"/>
              <a:gd name="T7" fmla="*/ 2147483646 h 9"/>
              <a:gd name="T8" fmla="*/ 2147483646 w 42"/>
              <a:gd name="T9" fmla="*/ 2147483646 h 9"/>
              <a:gd name="T10" fmla="*/ 2147483646 w 42"/>
              <a:gd name="T11" fmla="*/ 0 h 9"/>
              <a:gd name="T12" fmla="*/ 0 w 42"/>
              <a:gd name="T13" fmla="*/ 2147483646 h 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2" h="9">
                <a:moveTo>
                  <a:pt x="0" y="3"/>
                </a:moveTo>
                <a:lnTo>
                  <a:pt x="9" y="8"/>
                </a:lnTo>
                <a:lnTo>
                  <a:pt x="30" y="6"/>
                </a:lnTo>
                <a:lnTo>
                  <a:pt x="39" y="9"/>
                </a:lnTo>
                <a:lnTo>
                  <a:pt x="42" y="2"/>
                </a:lnTo>
                <a:lnTo>
                  <a:pt x="29" y="0"/>
                </a:lnTo>
                <a:lnTo>
                  <a:pt x="0" y="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7" name="Freeform 270"/>
          <p:cNvSpPr>
            <a:spLocks/>
          </p:cNvSpPr>
          <p:nvPr/>
        </p:nvSpPr>
        <p:spPr bwMode="auto">
          <a:xfrm>
            <a:off x="7166749" y="3117047"/>
            <a:ext cx="3020" cy="4646"/>
          </a:xfrm>
          <a:custGeom>
            <a:avLst/>
            <a:gdLst>
              <a:gd name="T0" fmla="*/ 0 w 17"/>
              <a:gd name="T1" fmla="*/ 0 h 31"/>
              <a:gd name="T2" fmla="*/ 2147483646 w 17"/>
              <a:gd name="T3" fmla="*/ 2147483646 h 31"/>
              <a:gd name="T4" fmla="*/ 2147483646 w 17"/>
              <a:gd name="T5" fmla="*/ 2147483646 h 31"/>
              <a:gd name="T6" fmla="*/ 2147483646 w 17"/>
              <a:gd name="T7" fmla="*/ 2147483646 h 31"/>
              <a:gd name="T8" fmla="*/ 2147483646 w 17"/>
              <a:gd name="T9" fmla="*/ 2147483646 h 31"/>
              <a:gd name="T10" fmla="*/ 2147483646 w 17"/>
              <a:gd name="T11" fmla="*/ 2147483646 h 31"/>
              <a:gd name="T12" fmla="*/ 0 w 17"/>
              <a:gd name="T13" fmla="*/ 0 h 3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7" h="31">
                <a:moveTo>
                  <a:pt x="0" y="0"/>
                </a:moveTo>
                <a:lnTo>
                  <a:pt x="11" y="7"/>
                </a:lnTo>
                <a:lnTo>
                  <a:pt x="11" y="16"/>
                </a:lnTo>
                <a:lnTo>
                  <a:pt x="13" y="31"/>
                </a:lnTo>
                <a:lnTo>
                  <a:pt x="17" y="12"/>
                </a:lnTo>
                <a:lnTo>
                  <a:pt x="17" y="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8" name="Freeform 271"/>
          <p:cNvSpPr>
            <a:spLocks/>
          </p:cNvSpPr>
          <p:nvPr/>
        </p:nvSpPr>
        <p:spPr bwMode="auto">
          <a:xfrm>
            <a:off x="7171782" y="3101250"/>
            <a:ext cx="3020" cy="9292"/>
          </a:xfrm>
          <a:custGeom>
            <a:avLst/>
            <a:gdLst>
              <a:gd name="T0" fmla="*/ 2147483646 w 19"/>
              <a:gd name="T1" fmla="*/ 0 h 60"/>
              <a:gd name="T2" fmla="*/ 2147483646 w 19"/>
              <a:gd name="T3" fmla="*/ 2147483646 h 60"/>
              <a:gd name="T4" fmla="*/ 0 w 19"/>
              <a:gd name="T5" fmla="*/ 2147483646 h 60"/>
              <a:gd name="T6" fmla="*/ 2147483646 w 19"/>
              <a:gd name="T7" fmla="*/ 2147483646 h 60"/>
              <a:gd name="T8" fmla="*/ 2147483646 w 19"/>
              <a:gd name="T9" fmla="*/ 0 h 6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60">
                <a:moveTo>
                  <a:pt x="19" y="0"/>
                </a:moveTo>
                <a:lnTo>
                  <a:pt x="5" y="34"/>
                </a:lnTo>
                <a:lnTo>
                  <a:pt x="0" y="60"/>
                </a:lnTo>
                <a:lnTo>
                  <a:pt x="9" y="43"/>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9" name="Freeform 272"/>
          <p:cNvSpPr>
            <a:spLocks/>
          </p:cNvSpPr>
          <p:nvPr/>
        </p:nvSpPr>
        <p:spPr bwMode="auto">
          <a:xfrm>
            <a:off x="7173796" y="3091958"/>
            <a:ext cx="13086" cy="8363"/>
          </a:xfrm>
          <a:custGeom>
            <a:avLst/>
            <a:gdLst>
              <a:gd name="T0" fmla="*/ 0 w 80"/>
              <a:gd name="T1" fmla="*/ 0 h 51"/>
              <a:gd name="T2" fmla="*/ 2147483646 w 80"/>
              <a:gd name="T3" fmla="*/ 2147483646 h 51"/>
              <a:gd name="T4" fmla="*/ 2147483646 w 80"/>
              <a:gd name="T5" fmla="*/ 2147483646 h 51"/>
              <a:gd name="T6" fmla="*/ 2147483646 w 80"/>
              <a:gd name="T7" fmla="*/ 2147483646 h 51"/>
              <a:gd name="T8" fmla="*/ 2147483646 w 80"/>
              <a:gd name="T9" fmla="*/ 2147483646 h 51"/>
              <a:gd name="T10" fmla="*/ 2147483646 w 80"/>
              <a:gd name="T11" fmla="*/ 2147483646 h 51"/>
              <a:gd name="T12" fmla="*/ 2147483646 w 80"/>
              <a:gd name="T13" fmla="*/ 2147483646 h 51"/>
              <a:gd name="T14" fmla="*/ 2147483646 w 80"/>
              <a:gd name="T15" fmla="*/ 2147483646 h 51"/>
              <a:gd name="T16" fmla="*/ 2147483646 w 80"/>
              <a:gd name="T17" fmla="*/ 2147483646 h 51"/>
              <a:gd name="T18" fmla="*/ 2147483646 w 80"/>
              <a:gd name="T19" fmla="*/ 2147483646 h 51"/>
              <a:gd name="T20" fmla="*/ 0 w 80"/>
              <a:gd name="T21" fmla="*/ 0 h 51"/>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80" h="51">
                <a:moveTo>
                  <a:pt x="0" y="0"/>
                </a:moveTo>
                <a:lnTo>
                  <a:pt x="17" y="28"/>
                </a:lnTo>
                <a:lnTo>
                  <a:pt x="13" y="35"/>
                </a:lnTo>
                <a:lnTo>
                  <a:pt x="13" y="40"/>
                </a:lnTo>
                <a:lnTo>
                  <a:pt x="9" y="51"/>
                </a:lnTo>
                <a:lnTo>
                  <a:pt x="20" y="34"/>
                </a:lnTo>
                <a:lnTo>
                  <a:pt x="35" y="34"/>
                </a:lnTo>
                <a:lnTo>
                  <a:pt x="52" y="28"/>
                </a:lnTo>
                <a:lnTo>
                  <a:pt x="80" y="26"/>
                </a:lnTo>
                <a:lnTo>
                  <a:pt x="5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0" name="Freeform 273"/>
          <p:cNvSpPr>
            <a:spLocks/>
          </p:cNvSpPr>
          <p:nvPr/>
        </p:nvSpPr>
        <p:spPr bwMode="auto">
          <a:xfrm>
            <a:off x="7170776" y="3080807"/>
            <a:ext cx="22145" cy="7434"/>
          </a:xfrm>
          <a:custGeom>
            <a:avLst/>
            <a:gdLst>
              <a:gd name="T0" fmla="*/ 0 w 135"/>
              <a:gd name="T1" fmla="*/ 2147483646 h 48"/>
              <a:gd name="T2" fmla="*/ 2147483646 w 135"/>
              <a:gd name="T3" fmla="*/ 2147483646 h 48"/>
              <a:gd name="T4" fmla="*/ 2147483646 w 135"/>
              <a:gd name="T5" fmla="*/ 2147483646 h 48"/>
              <a:gd name="T6" fmla="*/ 2147483646 w 135"/>
              <a:gd name="T7" fmla="*/ 2147483646 h 48"/>
              <a:gd name="T8" fmla="*/ 2147483646 w 135"/>
              <a:gd name="T9" fmla="*/ 2147483646 h 48"/>
              <a:gd name="T10" fmla="*/ 2147483646 w 135"/>
              <a:gd name="T11" fmla="*/ 2147483646 h 48"/>
              <a:gd name="T12" fmla="*/ 2147483646 w 135"/>
              <a:gd name="T13" fmla="*/ 2147483646 h 48"/>
              <a:gd name="T14" fmla="*/ 2147483646 w 135"/>
              <a:gd name="T15" fmla="*/ 2147483646 h 48"/>
              <a:gd name="T16" fmla="*/ 2147483646 w 135"/>
              <a:gd name="T17" fmla="*/ 2147483646 h 48"/>
              <a:gd name="T18" fmla="*/ 2147483646 w 135"/>
              <a:gd name="T19" fmla="*/ 0 h 48"/>
              <a:gd name="T20" fmla="*/ 2147483646 w 135"/>
              <a:gd name="T21" fmla="*/ 2147483646 h 48"/>
              <a:gd name="T22" fmla="*/ 2147483646 w 135"/>
              <a:gd name="T23" fmla="*/ 2147483646 h 48"/>
              <a:gd name="T24" fmla="*/ 2147483646 w 135"/>
              <a:gd name="T25" fmla="*/ 2147483646 h 48"/>
              <a:gd name="T26" fmla="*/ 2147483646 w 135"/>
              <a:gd name="T27" fmla="*/ 2147483646 h 48"/>
              <a:gd name="T28" fmla="*/ 0 w 135"/>
              <a:gd name="T29" fmla="*/ 2147483646 h 4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35" h="48">
                <a:moveTo>
                  <a:pt x="0" y="25"/>
                </a:moveTo>
                <a:lnTo>
                  <a:pt x="6" y="42"/>
                </a:lnTo>
                <a:lnTo>
                  <a:pt x="20" y="48"/>
                </a:lnTo>
                <a:lnTo>
                  <a:pt x="42" y="34"/>
                </a:lnTo>
                <a:lnTo>
                  <a:pt x="69" y="25"/>
                </a:lnTo>
                <a:lnTo>
                  <a:pt x="113" y="24"/>
                </a:lnTo>
                <a:lnTo>
                  <a:pt x="135" y="27"/>
                </a:lnTo>
                <a:lnTo>
                  <a:pt x="101" y="12"/>
                </a:lnTo>
                <a:lnTo>
                  <a:pt x="77" y="6"/>
                </a:lnTo>
                <a:lnTo>
                  <a:pt x="80" y="0"/>
                </a:lnTo>
                <a:lnTo>
                  <a:pt x="57" y="9"/>
                </a:lnTo>
                <a:lnTo>
                  <a:pt x="59" y="3"/>
                </a:lnTo>
                <a:lnTo>
                  <a:pt x="40" y="12"/>
                </a:lnTo>
                <a:lnTo>
                  <a:pt x="23" y="12"/>
                </a:lnTo>
                <a:lnTo>
                  <a:pt x="0" y="2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1" name="Freeform 274"/>
          <p:cNvSpPr>
            <a:spLocks/>
          </p:cNvSpPr>
          <p:nvPr/>
        </p:nvSpPr>
        <p:spPr bwMode="auto">
          <a:xfrm>
            <a:off x="7221106" y="3091029"/>
            <a:ext cx="13087" cy="24159"/>
          </a:xfrm>
          <a:custGeom>
            <a:avLst/>
            <a:gdLst>
              <a:gd name="T0" fmla="*/ 0 w 78"/>
              <a:gd name="T1" fmla="*/ 2147483646 h 159"/>
              <a:gd name="T2" fmla="*/ 2147483646 w 78"/>
              <a:gd name="T3" fmla="*/ 2147483646 h 159"/>
              <a:gd name="T4" fmla="*/ 2147483646 w 78"/>
              <a:gd name="T5" fmla="*/ 2147483646 h 159"/>
              <a:gd name="T6" fmla="*/ 2147483646 w 78"/>
              <a:gd name="T7" fmla="*/ 2147483646 h 159"/>
              <a:gd name="T8" fmla="*/ 2147483646 w 78"/>
              <a:gd name="T9" fmla="*/ 2147483646 h 159"/>
              <a:gd name="T10" fmla="*/ 2147483646 w 78"/>
              <a:gd name="T11" fmla="*/ 2147483646 h 159"/>
              <a:gd name="T12" fmla="*/ 2147483646 w 78"/>
              <a:gd name="T13" fmla="*/ 2147483646 h 159"/>
              <a:gd name="T14" fmla="*/ 2147483646 w 78"/>
              <a:gd name="T15" fmla="*/ 2147483646 h 159"/>
              <a:gd name="T16" fmla="*/ 2147483646 w 78"/>
              <a:gd name="T17" fmla="*/ 2147483646 h 159"/>
              <a:gd name="T18" fmla="*/ 2147483646 w 78"/>
              <a:gd name="T19" fmla="*/ 2147483646 h 159"/>
              <a:gd name="T20" fmla="*/ 2147483646 w 78"/>
              <a:gd name="T21" fmla="*/ 2147483646 h 159"/>
              <a:gd name="T22" fmla="*/ 2147483646 w 78"/>
              <a:gd name="T23" fmla="*/ 2147483646 h 159"/>
              <a:gd name="T24" fmla="*/ 2147483646 w 78"/>
              <a:gd name="T25" fmla="*/ 2147483646 h 159"/>
              <a:gd name="T26" fmla="*/ 2147483646 w 78"/>
              <a:gd name="T27" fmla="*/ 2147483646 h 159"/>
              <a:gd name="T28" fmla="*/ 2147483646 w 78"/>
              <a:gd name="T29" fmla="*/ 2147483646 h 159"/>
              <a:gd name="T30" fmla="*/ 2147483646 w 78"/>
              <a:gd name="T31" fmla="*/ 2147483646 h 159"/>
              <a:gd name="T32" fmla="*/ 2147483646 w 78"/>
              <a:gd name="T33" fmla="*/ 2147483646 h 159"/>
              <a:gd name="T34" fmla="*/ 2147483646 w 78"/>
              <a:gd name="T35" fmla="*/ 2147483646 h 159"/>
              <a:gd name="T36" fmla="*/ 2147483646 w 78"/>
              <a:gd name="T37" fmla="*/ 2147483646 h 159"/>
              <a:gd name="T38" fmla="*/ 2147483646 w 78"/>
              <a:gd name="T39" fmla="*/ 2147483646 h 159"/>
              <a:gd name="T40" fmla="*/ 2147483646 w 78"/>
              <a:gd name="T41" fmla="*/ 0 h 159"/>
              <a:gd name="T42" fmla="*/ 2147483646 w 78"/>
              <a:gd name="T43" fmla="*/ 2147483646 h 159"/>
              <a:gd name="T44" fmla="*/ 0 w 78"/>
              <a:gd name="T45" fmla="*/ 2147483646 h 159"/>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78" h="159">
                <a:moveTo>
                  <a:pt x="0" y="30"/>
                </a:moveTo>
                <a:lnTo>
                  <a:pt x="24" y="10"/>
                </a:lnTo>
                <a:lnTo>
                  <a:pt x="52" y="15"/>
                </a:lnTo>
                <a:lnTo>
                  <a:pt x="68" y="41"/>
                </a:lnTo>
                <a:lnTo>
                  <a:pt x="71" y="77"/>
                </a:lnTo>
                <a:lnTo>
                  <a:pt x="68" y="105"/>
                </a:lnTo>
                <a:lnTo>
                  <a:pt x="59" y="128"/>
                </a:lnTo>
                <a:lnTo>
                  <a:pt x="44" y="93"/>
                </a:lnTo>
                <a:lnTo>
                  <a:pt x="31" y="73"/>
                </a:lnTo>
                <a:lnTo>
                  <a:pt x="5" y="60"/>
                </a:lnTo>
                <a:lnTo>
                  <a:pt x="25" y="89"/>
                </a:lnTo>
                <a:lnTo>
                  <a:pt x="47" y="111"/>
                </a:lnTo>
                <a:lnTo>
                  <a:pt x="49" y="134"/>
                </a:lnTo>
                <a:lnTo>
                  <a:pt x="40" y="156"/>
                </a:lnTo>
                <a:lnTo>
                  <a:pt x="28" y="159"/>
                </a:lnTo>
                <a:lnTo>
                  <a:pt x="61" y="151"/>
                </a:lnTo>
                <a:lnTo>
                  <a:pt x="77" y="117"/>
                </a:lnTo>
                <a:lnTo>
                  <a:pt x="78" y="73"/>
                </a:lnTo>
                <a:lnTo>
                  <a:pt x="77" y="33"/>
                </a:lnTo>
                <a:lnTo>
                  <a:pt x="59" y="7"/>
                </a:lnTo>
                <a:lnTo>
                  <a:pt x="34" y="0"/>
                </a:lnTo>
                <a:lnTo>
                  <a:pt x="10" y="4"/>
                </a:lnTo>
                <a:lnTo>
                  <a:pt x="0" y="3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2" name="Freeform 275"/>
          <p:cNvSpPr>
            <a:spLocks/>
          </p:cNvSpPr>
          <p:nvPr/>
        </p:nvSpPr>
        <p:spPr bwMode="auto">
          <a:xfrm>
            <a:off x="7218087" y="3087312"/>
            <a:ext cx="21139" cy="32521"/>
          </a:xfrm>
          <a:custGeom>
            <a:avLst/>
            <a:gdLst>
              <a:gd name="T0" fmla="*/ 0 w 129"/>
              <a:gd name="T1" fmla="*/ 2147483646 h 215"/>
              <a:gd name="T2" fmla="*/ 2147483646 w 129"/>
              <a:gd name="T3" fmla="*/ 2147483646 h 215"/>
              <a:gd name="T4" fmla="*/ 2147483646 w 129"/>
              <a:gd name="T5" fmla="*/ 2147483646 h 215"/>
              <a:gd name="T6" fmla="*/ 2147483646 w 129"/>
              <a:gd name="T7" fmla="*/ 2147483646 h 215"/>
              <a:gd name="T8" fmla="*/ 2147483646 w 129"/>
              <a:gd name="T9" fmla="*/ 2147483646 h 215"/>
              <a:gd name="T10" fmla="*/ 2147483646 w 129"/>
              <a:gd name="T11" fmla="*/ 2147483646 h 215"/>
              <a:gd name="T12" fmla="*/ 2147483646 w 129"/>
              <a:gd name="T13" fmla="*/ 2147483646 h 215"/>
              <a:gd name="T14" fmla="*/ 2147483646 w 129"/>
              <a:gd name="T15" fmla="*/ 2147483646 h 215"/>
              <a:gd name="T16" fmla="*/ 2147483646 w 129"/>
              <a:gd name="T17" fmla="*/ 2147483646 h 215"/>
              <a:gd name="T18" fmla="*/ 2147483646 w 129"/>
              <a:gd name="T19" fmla="*/ 2147483646 h 215"/>
              <a:gd name="T20" fmla="*/ 2147483646 w 129"/>
              <a:gd name="T21" fmla="*/ 2147483646 h 215"/>
              <a:gd name="T22" fmla="*/ 2147483646 w 129"/>
              <a:gd name="T23" fmla="*/ 2147483646 h 215"/>
              <a:gd name="T24" fmla="*/ 2147483646 w 129"/>
              <a:gd name="T25" fmla="*/ 2147483646 h 215"/>
              <a:gd name="T26" fmla="*/ 2147483646 w 129"/>
              <a:gd name="T27" fmla="*/ 2147483646 h 215"/>
              <a:gd name="T28" fmla="*/ 2147483646 w 129"/>
              <a:gd name="T29" fmla="*/ 2147483646 h 215"/>
              <a:gd name="T30" fmla="*/ 2147483646 w 129"/>
              <a:gd name="T31" fmla="*/ 2147483646 h 215"/>
              <a:gd name="T32" fmla="*/ 2147483646 w 129"/>
              <a:gd name="T33" fmla="*/ 2147483646 h 215"/>
              <a:gd name="T34" fmla="*/ 2147483646 w 129"/>
              <a:gd name="T35" fmla="*/ 2147483646 h 215"/>
              <a:gd name="T36" fmla="*/ 2147483646 w 129"/>
              <a:gd name="T37" fmla="*/ 2147483646 h 215"/>
              <a:gd name="T38" fmla="*/ 2147483646 w 129"/>
              <a:gd name="T39" fmla="*/ 2147483646 h 215"/>
              <a:gd name="T40" fmla="*/ 2147483646 w 129"/>
              <a:gd name="T41" fmla="*/ 2147483646 h 215"/>
              <a:gd name="T42" fmla="*/ 2147483646 w 129"/>
              <a:gd name="T43" fmla="*/ 2147483646 h 215"/>
              <a:gd name="T44" fmla="*/ 2147483646 w 129"/>
              <a:gd name="T45" fmla="*/ 2147483646 h 215"/>
              <a:gd name="T46" fmla="*/ 2147483646 w 129"/>
              <a:gd name="T47" fmla="*/ 0 h 215"/>
              <a:gd name="T48" fmla="*/ 2147483646 w 129"/>
              <a:gd name="T49" fmla="*/ 2147483646 h 215"/>
              <a:gd name="T50" fmla="*/ 2147483646 w 129"/>
              <a:gd name="T51" fmla="*/ 2147483646 h 215"/>
              <a:gd name="T52" fmla="*/ 0 w 129"/>
              <a:gd name="T53" fmla="*/ 2147483646 h 215"/>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129" h="215">
                <a:moveTo>
                  <a:pt x="0" y="53"/>
                </a:moveTo>
                <a:lnTo>
                  <a:pt x="20" y="19"/>
                </a:lnTo>
                <a:lnTo>
                  <a:pt x="54" y="9"/>
                </a:lnTo>
                <a:lnTo>
                  <a:pt x="95" y="16"/>
                </a:lnTo>
                <a:lnTo>
                  <a:pt x="109" y="35"/>
                </a:lnTo>
                <a:lnTo>
                  <a:pt x="120" y="67"/>
                </a:lnTo>
                <a:lnTo>
                  <a:pt x="120" y="93"/>
                </a:lnTo>
                <a:lnTo>
                  <a:pt x="114" y="111"/>
                </a:lnTo>
                <a:lnTo>
                  <a:pt x="114" y="137"/>
                </a:lnTo>
                <a:lnTo>
                  <a:pt x="107" y="168"/>
                </a:lnTo>
                <a:lnTo>
                  <a:pt x="80" y="198"/>
                </a:lnTo>
                <a:lnTo>
                  <a:pt x="63" y="198"/>
                </a:lnTo>
                <a:lnTo>
                  <a:pt x="40" y="198"/>
                </a:lnTo>
                <a:lnTo>
                  <a:pt x="40" y="203"/>
                </a:lnTo>
                <a:lnTo>
                  <a:pt x="57" y="215"/>
                </a:lnTo>
                <a:lnTo>
                  <a:pt x="76" y="211"/>
                </a:lnTo>
                <a:lnTo>
                  <a:pt x="101" y="201"/>
                </a:lnTo>
                <a:lnTo>
                  <a:pt x="121" y="171"/>
                </a:lnTo>
                <a:lnTo>
                  <a:pt x="123" y="121"/>
                </a:lnTo>
                <a:lnTo>
                  <a:pt x="129" y="87"/>
                </a:lnTo>
                <a:lnTo>
                  <a:pt x="129" y="58"/>
                </a:lnTo>
                <a:lnTo>
                  <a:pt x="117" y="32"/>
                </a:lnTo>
                <a:lnTo>
                  <a:pt x="103" y="9"/>
                </a:lnTo>
                <a:lnTo>
                  <a:pt x="69" y="0"/>
                </a:lnTo>
                <a:lnTo>
                  <a:pt x="20" y="6"/>
                </a:lnTo>
                <a:lnTo>
                  <a:pt x="3" y="19"/>
                </a:lnTo>
                <a:lnTo>
                  <a:pt x="0" y="5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3" name="Freeform 276"/>
          <p:cNvSpPr>
            <a:spLocks/>
          </p:cNvSpPr>
          <p:nvPr/>
        </p:nvSpPr>
        <p:spPr bwMode="auto">
          <a:xfrm>
            <a:off x="7207014" y="3122622"/>
            <a:ext cx="19126" cy="27876"/>
          </a:xfrm>
          <a:custGeom>
            <a:avLst/>
            <a:gdLst>
              <a:gd name="T0" fmla="*/ 2147483646 w 118"/>
              <a:gd name="T1" fmla="*/ 0 h 179"/>
              <a:gd name="T2" fmla="*/ 2147483646 w 118"/>
              <a:gd name="T3" fmla="*/ 2147483646 h 179"/>
              <a:gd name="T4" fmla="*/ 2147483646 w 118"/>
              <a:gd name="T5" fmla="*/ 2147483646 h 179"/>
              <a:gd name="T6" fmla="*/ 2147483646 w 118"/>
              <a:gd name="T7" fmla="*/ 2147483646 h 179"/>
              <a:gd name="T8" fmla="*/ 2147483646 w 118"/>
              <a:gd name="T9" fmla="*/ 2147483646 h 179"/>
              <a:gd name="T10" fmla="*/ 0 w 118"/>
              <a:gd name="T11" fmla="*/ 2147483646 h 179"/>
              <a:gd name="T12" fmla="*/ 2147483646 w 118"/>
              <a:gd name="T13" fmla="*/ 2147483646 h 179"/>
              <a:gd name="T14" fmla="*/ 2147483646 w 118"/>
              <a:gd name="T15" fmla="*/ 2147483646 h 179"/>
              <a:gd name="T16" fmla="*/ 2147483646 w 118"/>
              <a:gd name="T17" fmla="*/ 2147483646 h 179"/>
              <a:gd name="T18" fmla="*/ 2147483646 w 118"/>
              <a:gd name="T19" fmla="*/ 0 h 17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18" h="179">
                <a:moveTo>
                  <a:pt x="118" y="0"/>
                </a:moveTo>
                <a:lnTo>
                  <a:pt x="102" y="39"/>
                </a:lnTo>
                <a:lnTo>
                  <a:pt x="77" y="80"/>
                </a:lnTo>
                <a:lnTo>
                  <a:pt x="52" y="116"/>
                </a:lnTo>
                <a:lnTo>
                  <a:pt x="17" y="164"/>
                </a:lnTo>
                <a:lnTo>
                  <a:pt x="0" y="179"/>
                </a:lnTo>
                <a:lnTo>
                  <a:pt x="39" y="159"/>
                </a:lnTo>
                <a:lnTo>
                  <a:pt x="70" y="115"/>
                </a:lnTo>
                <a:lnTo>
                  <a:pt x="99" y="67"/>
                </a:lnTo>
                <a:lnTo>
                  <a:pt x="118"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4" name="Freeform 277"/>
          <p:cNvSpPr>
            <a:spLocks/>
          </p:cNvSpPr>
          <p:nvPr/>
        </p:nvSpPr>
        <p:spPr bwMode="auto">
          <a:xfrm>
            <a:off x="7173796" y="3028773"/>
            <a:ext cx="112742" cy="103141"/>
          </a:xfrm>
          <a:custGeom>
            <a:avLst/>
            <a:gdLst>
              <a:gd name="T0" fmla="*/ 2147483646 w 671"/>
              <a:gd name="T1" fmla="*/ 2147483646 h 670"/>
              <a:gd name="T2" fmla="*/ 2147483646 w 671"/>
              <a:gd name="T3" fmla="*/ 2147483646 h 670"/>
              <a:gd name="T4" fmla="*/ 2147483646 w 671"/>
              <a:gd name="T5" fmla="*/ 2147483646 h 670"/>
              <a:gd name="T6" fmla="*/ 2147483646 w 671"/>
              <a:gd name="T7" fmla="*/ 2147483646 h 670"/>
              <a:gd name="T8" fmla="*/ 2147483646 w 671"/>
              <a:gd name="T9" fmla="*/ 2147483646 h 670"/>
              <a:gd name="T10" fmla="*/ 2147483646 w 671"/>
              <a:gd name="T11" fmla="*/ 2147483646 h 670"/>
              <a:gd name="T12" fmla="*/ 2147483646 w 671"/>
              <a:gd name="T13" fmla="*/ 2147483646 h 670"/>
              <a:gd name="T14" fmla="*/ 2147483646 w 671"/>
              <a:gd name="T15" fmla="*/ 2147483646 h 670"/>
              <a:gd name="T16" fmla="*/ 2147483646 w 671"/>
              <a:gd name="T17" fmla="*/ 2147483646 h 670"/>
              <a:gd name="T18" fmla="*/ 2147483646 w 671"/>
              <a:gd name="T19" fmla="*/ 2147483646 h 670"/>
              <a:gd name="T20" fmla="*/ 2147483646 w 671"/>
              <a:gd name="T21" fmla="*/ 2147483646 h 670"/>
              <a:gd name="T22" fmla="*/ 2147483646 w 671"/>
              <a:gd name="T23" fmla="*/ 2147483646 h 670"/>
              <a:gd name="T24" fmla="*/ 2147483646 w 671"/>
              <a:gd name="T25" fmla="*/ 2147483646 h 670"/>
              <a:gd name="T26" fmla="*/ 2147483646 w 671"/>
              <a:gd name="T27" fmla="*/ 2147483646 h 670"/>
              <a:gd name="T28" fmla="*/ 2147483646 w 671"/>
              <a:gd name="T29" fmla="*/ 2147483646 h 670"/>
              <a:gd name="T30" fmla="*/ 2147483646 w 671"/>
              <a:gd name="T31" fmla="*/ 2147483646 h 670"/>
              <a:gd name="T32" fmla="*/ 2147483646 w 671"/>
              <a:gd name="T33" fmla="*/ 2147483646 h 670"/>
              <a:gd name="T34" fmla="*/ 2147483646 w 671"/>
              <a:gd name="T35" fmla="*/ 2147483646 h 670"/>
              <a:gd name="T36" fmla="*/ 2147483646 w 671"/>
              <a:gd name="T37" fmla="*/ 2147483646 h 670"/>
              <a:gd name="T38" fmla="*/ 2147483646 w 671"/>
              <a:gd name="T39" fmla="*/ 2147483646 h 670"/>
              <a:gd name="T40" fmla="*/ 2147483646 w 671"/>
              <a:gd name="T41" fmla="*/ 2147483646 h 670"/>
              <a:gd name="T42" fmla="*/ 2147483646 w 671"/>
              <a:gd name="T43" fmla="*/ 2147483646 h 670"/>
              <a:gd name="T44" fmla="*/ 2147483646 w 671"/>
              <a:gd name="T45" fmla="*/ 2147483646 h 670"/>
              <a:gd name="T46" fmla="*/ 2147483646 w 671"/>
              <a:gd name="T47" fmla="*/ 2147483646 h 670"/>
              <a:gd name="T48" fmla="*/ 2147483646 w 671"/>
              <a:gd name="T49" fmla="*/ 2147483646 h 670"/>
              <a:gd name="T50" fmla="*/ 2147483646 w 671"/>
              <a:gd name="T51" fmla="*/ 2147483646 h 670"/>
              <a:gd name="T52" fmla="*/ 2147483646 w 671"/>
              <a:gd name="T53" fmla="*/ 2147483646 h 670"/>
              <a:gd name="T54" fmla="*/ 2147483646 w 671"/>
              <a:gd name="T55" fmla="*/ 2147483646 h 670"/>
              <a:gd name="T56" fmla="*/ 2147483646 w 671"/>
              <a:gd name="T57" fmla="*/ 2147483646 h 670"/>
              <a:gd name="T58" fmla="*/ 2147483646 w 671"/>
              <a:gd name="T59" fmla="*/ 2147483646 h 670"/>
              <a:gd name="T60" fmla="*/ 2147483646 w 671"/>
              <a:gd name="T61" fmla="*/ 0 h 670"/>
              <a:gd name="T62" fmla="*/ 2147483646 w 671"/>
              <a:gd name="T63" fmla="*/ 2147483646 h 670"/>
              <a:gd name="T64" fmla="*/ 2147483646 w 671"/>
              <a:gd name="T65" fmla="*/ 2147483646 h 670"/>
              <a:gd name="T66" fmla="*/ 2147483646 w 671"/>
              <a:gd name="T67" fmla="*/ 2147483646 h 670"/>
              <a:gd name="T68" fmla="*/ 2147483646 w 671"/>
              <a:gd name="T69" fmla="*/ 2147483646 h 670"/>
              <a:gd name="T70" fmla="*/ 0 w 671"/>
              <a:gd name="T71" fmla="*/ 2147483646 h 670"/>
              <a:gd name="T72" fmla="*/ 2147483646 w 671"/>
              <a:gd name="T73" fmla="*/ 2147483646 h 670"/>
              <a:gd name="T74" fmla="*/ 2147483646 w 671"/>
              <a:gd name="T75" fmla="*/ 2147483646 h 67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671" h="670">
                <a:moveTo>
                  <a:pt x="54" y="193"/>
                </a:moveTo>
                <a:lnTo>
                  <a:pt x="155" y="177"/>
                </a:lnTo>
                <a:lnTo>
                  <a:pt x="223" y="187"/>
                </a:lnTo>
                <a:lnTo>
                  <a:pt x="264" y="234"/>
                </a:lnTo>
                <a:lnTo>
                  <a:pt x="238" y="290"/>
                </a:lnTo>
                <a:lnTo>
                  <a:pt x="206" y="311"/>
                </a:lnTo>
                <a:lnTo>
                  <a:pt x="197" y="366"/>
                </a:lnTo>
                <a:lnTo>
                  <a:pt x="217" y="401"/>
                </a:lnTo>
                <a:lnTo>
                  <a:pt x="200" y="453"/>
                </a:lnTo>
                <a:lnTo>
                  <a:pt x="242" y="453"/>
                </a:lnTo>
                <a:lnTo>
                  <a:pt x="254" y="394"/>
                </a:lnTo>
                <a:lnTo>
                  <a:pt x="280" y="366"/>
                </a:lnTo>
                <a:lnTo>
                  <a:pt x="329" y="366"/>
                </a:lnTo>
                <a:lnTo>
                  <a:pt x="378" y="378"/>
                </a:lnTo>
                <a:lnTo>
                  <a:pt x="393" y="419"/>
                </a:lnTo>
                <a:lnTo>
                  <a:pt x="399" y="475"/>
                </a:lnTo>
                <a:lnTo>
                  <a:pt x="393" y="516"/>
                </a:lnTo>
                <a:lnTo>
                  <a:pt x="393" y="547"/>
                </a:lnTo>
                <a:lnTo>
                  <a:pt x="396" y="581"/>
                </a:lnTo>
                <a:lnTo>
                  <a:pt x="428" y="613"/>
                </a:lnTo>
                <a:lnTo>
                  <a:pt x="451" y="632"/>
                </a:lnTo>
                <a:lnTo>
                  <a:pt x="510" y="670"/>
                </a:lnTo>
                <a:lnTo>
                  <a:pt x="620" y="558"/>
                </a:lnTo>
                <a:lnTo>
                  <a:pt x="652" y="466"/>
                </a:lnTo>
                <a:lnTo>
                  <a:pt x="665" y="318"/>
                </a:lnTo>
                <a:lnTo>
                  <a:pt x="671" y="215"/>
                </a:lnTo>
                <a:lnTo>
                  <a:pt x="658" y="114"/>
                </a:lnTo>
                <a:lnTo>
                  <a:pt x="629" y="59"/>
                </a:lnTo>
                <a:lnTo>
                  <a:pt x="562" y="21"/>
                </a:lnTo>
                <a:lnTo>
                  <a:pt x="502" y="8"/>
                </a:lnTo>
                <a:lnTo>
                  <a:pt x="384" y="0"/>
                </a:lnTo>
                <a:lnTo>
                  <a:pt x="270" y="5"/>
                </a:lnTo>
                <a:lnTo>
                  <a:pt x="129" y="30"/>
                </a:lnTo>
                <a:lnTo>
                  <a:pt x="64" y="62"/>
                </a:lnTo>
                <a:lnTo>
                  <a:pt x="32" y="94"/>
                </a:lnTo>
                <a:lnTo>
                  <a:pt x="0" y="140"/>
                </a:lnTo>
                <a:lnTo>
                  <a:pt x="6" y="166"/>
                </a:lnTo>
                <a:lnTo>
                  <a:pt x="54" y="193"/>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5" name="Freeform 278"/>
          <p:cNvSpPr>
            <a:spLocks/>
          </p:cNvSpPr>
          <p:nvPr/>
        </p:nvSpPr>
        <p:spPr bwMode="auto">
          <a:xfrm>
            <a:off x="7176815" y="3029702"/>
            <a:ext cx="107709" cy="99423"/>
          </a:xfrm>
          <a:custGeom>
            <a:avLst/>
            <a:gdLst>
              <a:gd name="T0" fmla="*/ 2147483646 w 636"/>
              <a:gd name="T1" fmla="*/ 2147483646 h 643"/>
              <a:gd name="T2" fmla="*/ 2147483646 w 636"/>
              <a:gd name="T3" fmla="*/ 2147483646 h 643"/>
              <a:gd name="T4" fmla="*/ 2147483646 w 636"/>
              <a:gd name="T5" fmla="*/ 2147483646 h 643"/>
              <a:gd name="T6" fmla="*/ 2147483646 w 636"/>
              <a:gd name="T7" fmla="*/ 2147483646 h 643"/>
              <a:gd name="T8" fmla="*/ 2147483646 w 636"/>
              <a:gd name="T9" fmla="*/ 2147483646 h 643"/>
              <a:gd name="T10" fmla="*/ 2147483646 w 636"/>
              <a:gd name="T11" fmla="*/ 2147483646 h 643"/>
              <a:gd name="T12" fmla="*/ 2147483646 w 636"/>
              <a:gd name="T13" fmla="*/ 2147483646 h 643"/>
              <a:gd name="T14" fmla="*/ 2147483646 w 636"/>
              <a:gd name="T15" fmla="*/ 2147483646 h 643"/>
              <a:gd name="T16" fmla="*/ 2147483646 w 636"/>
              <a:gd name="T17" fmla="*/ 2147483646 h 643"/>
              <a:gd name="T18" fmla="*/ 2147483646 w 636"/>
              <a:gd name="T19" fmla="*/ 2147483646 h 643"/>
              <a:gd name="T20" fmla="*/ 2147483646 w 636"/>
              <a:gd name="T21" fmla="*/ 2147483646 h 643"/>
              <a:gd name="T22" fmla="*/ 2147483646 w 636"/>
              <a:gd name="T23" fmla="*/ 2147483646 h 643"/>
              <a:gd name="T24" fmla="*/ 2147483646 w 636"/>
              <a:gd name="T25" fmla="*/ 2147483646 h 643"/>
              <a:gd name="T26" fmla="*/ 2147483646 w 636"/>
              <a:gd name="T27" fmla="*/ 2147483646 h 643"/>
              <a:gd name="T28" fmla="*/ 2147483646 w 636"/>
              <a:gd name="T29" fmla="*/ 2147483646 h 643"/>
              <a:gd name="T30" fmla="*/ 2147483646 w 636"/>
              <a:gd name="T31" fmla="*/ 2147483646 h 643"/>
              <a:gd name="T32" fmla="*/ 2147483646 w 636"/>
              <a:gd name="T33" fmla="*/ 2147483646 h 643"/>
              <a:gd name="T34" fmla="*/ 2147483646 w 636"/>
              <a:gd name="T35" fmla="*/ 2147483646 h 643"/>
              <a:gd name="T36" fmla="*/ 2147483646 w 636"/>
              <a:gd name="T37" fmla="*/ 2147483646 h 643"/>
              <a:gd name="T38" fmla="*/ 2147483646 w 636"/>
              <a:gd name="T39" fmla="*/ 2147483646 h 643"/>
              <a:gd name="T40" fmla="*/ 2147483646 w 636"/>
              <a:gd name="T41" fmla="*/ 2147483646 h 643"/>
              <a:gd name="T42" fmla="*/ 2147483646 w 636"/>
              <a:gd name="T43" fmla="*/ 2147483646 h 643"/>
              <a:gd name="T44" fmla="*/ 2147483646 w 636"/>
              <a:gd name="T45" fmla="*/ 2147483646 h 643"/>
              <a:gd name="T46" fmla="*/ 2147483646 w 636"/>
              <a:gd name="T47" fmla="*/ 2147483646 h 643"/>
              <a:gd name="T48" fmla="*/ 2147483646 w 636"/>
              <a:gd name="T49" fmla="*/ 2147483646 h 643"/>
              <a:gd name="T50" fmla="*/ 2147483646 w 636"/>
              <a:gd name="T51" fmla="*/ 2147483646 h 643"/>
              <a:gd name="T52" fmla="*/ 2147483646 w 636"/>
              <a:gd name="T53" fmla="*/ 2147483646 h 643"/>
              <a:gd name="T54" fmla="*/ 2147483646 w 636"/>
              <a:gd name="T55" fmla="*/ 2147483646 h 643"/>
              <a:gd name="T56" fmla="*/ 2147483646 w 636"/>
              <a:gd name="T57" fmla="*/ 2147483646 h 643"/>
              <a:gd name="T58" fmla="*/ 2147483646 w 636"/>
              <a:gd name="T59" fmla="*/ 2147483646 h 643"/>
              <a:gd name="T60" fmla="*/ 2147483646 w 636"/>
              <a:gd name="T61" fmla="*/ 2147483646 h 643"/>
              <a:gd name="T62" fmla="*/ 2147483646 w 636"/>
              <a:gd name="T63" fmla="*/ 2147483646 h 643"/>
              <a:gd name="T64" fmla="*/ 2147483646 w 636"/>
              <a:gd name="T65" fmla="*/ 2147483646 h 643"/>
              <a:gd name="T66" fmla="*/ 2147483646 w 636"/>
              <a:gd name="T67" fmla="*/ 2147483646 h 643"/>
              <a:gd name="T68" fmla="*/ 2147483646 w 636"/>
              <a:gd name="T69" fmla="*/ 2147483646 h 643"/>
              <a:gd name="T70" fmla="*/ 2147483646 w 636"/>
              <a:gd name="T71" fmla="*/ 2147483646 h 643"/>
              <a:gd name="T72" fmla="*/ 2147483646 w 636"/>
              <a:gd name="T73" fmla="*/ 2147483646 h 643"/>
              <a:gd name="T74" fmla="*/ 2147483646 w 636"/>
              <a:gd name="T75" fmla="*/ 2147483646 h 643"/>
              <a:gd name="T76" fmla="*/ 2147483646 w 636"/>
              <a:gd name="T77" fmla="*/ 2147483646 h 643"/>
              <a:gd name="T78" fmla="*/ 2147483646 w 636"/>
              <a:gd name="T79" fmla="*/ 2147483646 h 643"/>
              <a:gd name="T80" fmla="*/ 2147483646 w 636"/>
              <a:gd name="T81" fmla="*/ 2147483646 h 643"/>
              <a:gd name="T82" fmla="*/ 2147483646 w 636"/>
              <a:gd name="T83" fmla="*/ 2147483646 h 643"/>
              <a:gd name="T84" fmla="*/ 2147483646 w 636"/>
              <a:gd name="T85" fmla="*/ 2147483646 h 643"/>
              <a:gd name="T86" fmla="*/ 2147483646 w 636"/>
              <a:gd name="T87" fmla="*/ 2147483646 h 643"/>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636" h="643">
                <a:moveTo>
                  <a:pt x="104" y="41"/>
                </a:moveTo>
                <a:lnTo>
                  <a:pt x="51" y="63"/>
                </a:lnTo>
                <a:lnTo>
                  <a:pt x="25" y="98"/>
                </a:lnTo>
                <a:lnTo>
                  <a:pt x="10" y="121"/>
                </a:lnTo>
                <a:lnTo>
                  <a:pt x="0" y="138"/>
                </a:lnTo>
                <a:lnTo>
                  <a:pt x="13" y="152"/>
                </a:lnTo>
                <a:lnTo>
                  <a:pt x="41" y="169"/>
                </a:lnTo>
                <a:lnTo>
                  <a:pt x="110" y="158"/>
                </a:lnTo>
                <a:lnTo>
                  <a:pt x="160" y="158"/>
                </a:lnTo>
                <a:lnTo>
                  <a:pt x="194" y="141"/>
                </a:lnTo>
                <a:lnTo>
                  <a:pt x="245" y="129"/>
                </a:lnTo>
                <a:lnTo>
                  <a:pt x="290" y="126"/>
                </a:lnTo>
                <a:lnTo>
                  <a:pt x="342" y="129"/>
                </a:lnTo>
                <a:lnTo>
                  <a:pt x="267" y="138"/>
                </a:lnTo>
                <a:lnTo>
                  <a:pt x="229" y="148"/>
                </a:lnTo>
                <a:lnTo>
                  <a:pt x="201" y="158"/>
                </a:lnTo>
                <a:lnTo>
                  <a:pt x="194" y="161"/>
                </a:lnTo>
                <a:lnTo>
                  <a:pt x="213" y="169"/>
                </a:lnTo>
                <a:lnTo>
                  <a:pt x="229" y="185"/>
                </a:lnTo>
                <a:lnTo>
                  <a:pt x="255" y="169"/>
                </a:lnTo>
                <a:lnTo>
                  <a:pt x="277" y="163"/>
                </a:lnTo>
                <a:lnTo>
                  <a:pt x="325" y="155"/>
                </a:lnTo>
                <a:lnTo>
                  <a:pt x="339" y="155"/>
                </a:lnTo>
                <a:lnTo>
                  <a:pt x="293" y="172"/>
                </a:lnTo>
                <a:lnTo>
                  <a:pt x="258" y="188"/>
                </a:lnTo>
                <a:lnTo>
                  <a:pt x="239" y="201"/>
                </a:lnTo>
                <a:lnTo>
                  <a:pt x="255" y="217"/>
                </a:lnTo>
                <a:lnTo>
                  <a:pt x="293" y="204"/>
                </a:lnTo>
                <a:lnTo>
                  <a:pt x="325" y="198"/>
                </a:lnTo>
                <a:lnTo>
                  <a:pt x="267" y="226"/>
                </a:lnTo>
                <a:lnTo>
                  <a:pt x="248" y="239"/>
                </a:lnTo>
                <a:lnTo>
                  <a:pt x="242" y="266"/>
                </a:lnTo>
                <a:lnTo>
                  <a:pt x="232" y="280"/>
                </a:lnTo>
                <a:lnTo>
                  <a:pt x="267" y="263"/>
                </a:lnTo>
                <a:lnTo>
                  <a:pt x="298" y="257"/>
                </a:lnTo>
                <a:lnTo>
                  <a:pt x="348" y="255"/>
                </a:lnTo>
                <a:lnTo>
                  <a:pt x="272" y="276"/>
                </a:lnTo>
                <a:lnTo>
                  <a:pt x="226" y="294"/>
                </a:lnTo>
                <a:lnTo>
                  <a:pt x="194" y="310"/>
                </a:lnTo>
                <a:lnTo>
                  <a:pt x="191" y="335"/>
                </a:lnTo>
                <a:lnTo>
                  <a:pt x="229" y="317"/>
                </a:lnTo>
                <a:lnTo>
                  <a:pt x="280" y="300"/>
                </a:lnTo>
                <a:lnTo>
                  <a:pt x="304" y="300"/>
                </a:lnTo>
                <a:lnTo>
                  <a:pt x="248" y="320"/>
                </a:lnTo>
                <a:lnTo>
                  <a:pt x="204" y="338"/>
                </a:lnTo>
                <a:lnTo>
                  <a:pt x="187" y="355"/>
                </a:lnTo>
                <a:lnTo>
                  <a:pt x="194" y="370"/>
                </a:lnTo>
                <a:lnTo>
                  <a:pt x="229" y="358"/>
                </a:lnTo>
                <a:lnTo>
                  <a:pt x="261" y="344"/>
                </a:lnTo>
                <a:lnTo>
                  <a:pt x="327" y="341"/>
                </a:lnTo>
                <a:lnTo>
                  <a:pt x="354" y="344"/>
                </a:lnTo>
                <a:lnTo>
                  <a:pt x="415" y="348"/>
                </a:lnTo>
                <a:lnTo>
                  <a:pt x="488" y="338"/>
                </a:lnTo>
                <a:lnTo>
                  <a:pt x="444" y="355"/>
                </a:lnTo>
                <a:lnTo>
                  <a:pt x="368" y="367"/>
                </a:lnTo>
                <a:lnTo>
                  <a:pt x="384" y="393"/>
                </a:lnTo>
                <a:lnTo>
                  <a:pt x="438" y="379"/>
                </a:lnTo>
                <a:lnTo>
                  <a:pt x="491" y="361"/>
                </a:lnTo>
                <a:lnTo>
                  <a:pt x="525" y="344"/>
                </a:lnTo>
                <a:lnTo>
                  <a:pt x="460" y="393"/>
                </a:lnTo>
                <a:lnTo>
                  <a:pt x="419" y="405"/>
                </a:lnTo>
                <a:lnTo>
                  <a:pt x="384" y="417"/>
                </a:lnTo>
                <a:lnTo>
                  <a:pt x="387" y="442"/>
                </a:lnTo>
                <a:lnTo>
                  <a:pt x="438" y="434"/>
                </a:lnTo>
                <a:lnTo>
                  <a:pt x="478" y="423"/>
                </a:lnTo>
                <a:lnTo>
                  <a:pt x="454" y="440"/>
                </a:lnTo>
                <a:lnTo>
                  <a:pt x="409" y="452"/>
                </a:lnTo>
                <a:lnTo>
                  <a:pt x="387" y="455"/>
                </a:lnTo>
                <a:lnTo>
                  <a:pt x="387" y="511"/>
                </a:lnTo>
                <a:lnTo>
                  <a:pt x="435" y="492"/>
                </a:lnTo>
                <a:lnTo>
                  <a:pt x="473" y="477"/>
                </a:lnTo>
                <a:lnTo>
                  <a:pt x="432" y="508"/>
                </a:lnTo>
                <a:lnTo>
                  <a:pt x="380" y="530"/>
                </a:lnTo>
                <a:lnTo>
                  <a:pt x="384" y="556"/>
                </a:lnTo>
                <a:lnTo>
                  <a:pt x="412" y="586"/>
                </a:lnTo>
                <a:lnTo>
                  <a:pt x="438" y="553"/>
                </a:lnTo>
                <a:lnTo>
                  <a:pt x="473" y="511"/>
                </a:lnTo>
                <a:lnTo>
                  <a:pt x="496" y="471"/>
                </a:lnTo>
                <a:lnTo>
                  <a:pt x="473" y="533"/>
                </a:lnTo>
                <a:lnTo>
                  <a:pt x="454" y="556"/>
                </a:lnTo>
                <a:lnTo>
                  <a:pt x="419" y="599"/>
                </a:lnTo>
                <a:lnTo>
                  <a:pt x="444" y="628"/>
                </a:lnTo>
                <a:lnTo>
                  <a:pt x="485" y="594"/>
                </a:lnTo>
                <a:lnTo>
                  <a:pt x="514" y="553"/>
                </a:lnTo>
                <a:lnTo>
                  <a:pt x="540" y="508"/>
                </a:lnTo>
                <a:lnTo>
                  <a:pt x="517" y="573"/>
                </a:lnTo>
                <a:lnTo>
                  <a:pt x="491" y="602"/>
                </a:lnTo>
                <a:lnTo>
                  <a:pt x="465" y="631"/>
                </a:lnTo>
                <a:lnTo>
                  <a:pt x="488" y="643"/>
                </a:lnTo>
                <a:lnTo>
                  <a:pt x="540" y="599"/>
                </a:lnTo>
                <a:lnTo>
                  <a:pt x="589" y="530"/>
                </a:lnTo>
                <a:lnTo>
                  <a:pt x="607" y="477"/>
                </a:lnTo>
                <a:lnTo>
                  <a:pt x="620" y="386"/>
                </a:lnTo>
                <a:lnTo>
                  <a:pt x="627" y="317"/>
                </a:lnTo>
                <a:lnTo>
                  <a:pt x="636" y="239"/>
                </a:lnTo>
                <a:lnTo>
                  <a:pt x="582" y="255"/>
                </a:lnTo>
                <a:lnTo>
                  <a:pt x="522" y="276"/>
                </a:lnTo>
                <a:lnTo>
                  <a:pt x="432" y="297"/>
                </a:lnTo>
                <a:lnTo>
                  <a:pt x="514" y="266"/>
                </a:lnTo>
                <a:lnTo>
                  <a:pt x="543" y="249"/>
                </a:lnTo>
                <a:lnTo>
                  <a:pt x="601" y="229"/>
                </a:lnTo>
                <a:lnTo>
                  <a:pt x="630" y="223"/>
                </a:lnTo>
                <a:lnTo>
                  <a:pt x="630" y="182"/>
                </a:lnTo>
                <a:lnTo>
                  <a:pt x="623" y="129"/>
                </a:lnTo>
                <a:lnTo>
                  <a:pt x="551" y="141"/>
                </a:lnTo>
                <a:lnTo>
                  <a:pt x="505" y="155"/>
                </a:lnTo>
                <a:lnTo>
                  <a:pt x="447" y="182"/>
                </a:lnTo>
                <a:lnTo>
                  <a:pt x="499" y="141"/>
                </a:lnTo>
                <a:lnTo>
                  <a:pt x="560" y="124"/>
                </a:lnTo>
                <a:lnTo>
                  <a:pt x="620" y="109"/>
                </a:lnTo>
                <a:lnTo>
                  <a:pt x="607" y="69"/>
                </a:lnTo>
                <a:lnTo>
                  <a:pt x="589" y="45"/>
                </a:lnTo>
                <a:lnTo>
                  <a:pt x="534" y="28"/>
                </a:lnTo>
                <a:lnTo>
                  <a:pt x="482" y="41"/>
                </a:lnTo>
                <a:lnTo>
                  <a:pt x="432" y="76"/>
                </a:lnTo>
                <a:lnTo>
                  <a:pt x="465" y="35"/>
                </a:lnTo>
                <a:lnTo>
                  <a:pt x="517" y="16"/>
                </a:lnTo>
                <a:lnTo>
                  <a:pt x="460" y="6"/>
                </a:lnTo>
                <a:lnTo>
                  <a:pt x="419" y="3"/>
                </a:lnTo>
                <a:lnTo>
                  <a:pt x="359" y="13"/>
                </a:lnTo>
                <a:lnTo>
                  <a:pt x="318" y="38"/>
                </a:lnTo>
                <a:lnTo>
                  <a:pt x="255" y="51"/>
                </a:lnTo>
                <a:lnTo>
                  <a:pt x="298" y="32"/>
                </a:lnTo>
                <a:lnTo>
                  <a:pt x="330" y="13"/>
                </a:lnTo>
                <a:lnTo>
                  <a:pt x="348" y="0"/>
                </a:lnTo>
                <a:lnTo>
                  <a:pt x="287" y="3"/>
                </a:lnTo>
                <a:lnTo>
                  <a:pt x="232" y="6"/>
                </a:lnTo>
                <a:lnTo>
                  <a:pt x="198" y="22"/>
                </a:lnTo>
                <a:lnTo>
                  <a:pt x="163" y="54"/>
                </a:lnTo>
                <a:lnTo>
                  <a:pt x="136" y="95"/>
                </a:lnTo>
                <a:lnTo>
                  <a:pt x="151" y="48"/>
                </a:lnTo>
                <a:lnTo>
                  <a:pt x="184" y="16"/>
                </a:lnTo>
                <a:lnTo>
                  <a:pt x="104" y="41"/>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86" name="Group 279"/>
          <p:cNvGrpSpPr>
            <a:grpSpLocks/>
          </p:cNvGrpSpPr>
          <p:nvPr/>
        </p:nvGrpSpPr>
        <p:grpSpPr bwMode="auto">
          <a:xfrm>
            <a:off x="6951331" y="3281513"/>
            <a:ext cx="116768" cy="65973"/>
            <a:chOff x="5264" y="1904"/>
            <a:chExt cx="116" cy="71"/>
          </a:xfrm>
        </p:grpSpPr>
        <p:sp>
          <p:nvSpPr>
            <p:cNvPr id="287" name="Freeform 280"/>
            <p:cNvSpPr>
              <a:spLocks/>
            </p:cNvSpPr>
            <p:nvPr/>
          </p:nvSpPr>
          <p:spPr bwMode="auto">
            <a:xfrm>
              <a:off x="5264" y="1904"/>
              <a:ext cx="116" cy="71"/>
            </a:xfrm>
            <a:custGeom>
              <a:avLst/>
              <a:gdLst>
                <a:gd name="T0" fmla="*/ 0 w 698"/>
                <a:gd name="T1" fmla="*/ 0 h 425"/>
                <a:gd name="T2" fmla="*/ 0 w 698"/>
                <a:gd name="T3" fmla="*/ 0 h 425"/>
                <a:gd name="T4" fmla="*/ 0 w 698"/>
                <a:gd name="T5" fmla="*/ 0 h 425"/>
                <a:gd name="T6" fmla="*/ 0 w 698"/>
                <a:gd name="T7" fmla="*/ 0 h 425"/>
                <a:gd name="T8" fmla="*/ 0 w 698"/>
                <a:gd name="T9" fmla="*/ 0 h 425"/>
                <a:gd name="T10" fmla="*/ 0 w 698"/>
                <a:gd name="T11" fmla="*/ 0 h 425"/>
                <a:gd name="T12" fmla="*/ 0 w 698"/>
                <a:gd name="T13" fmla="*/ 0 h 425"/>
                <a:gd name="T14" fmla="*/ 0 w 698"/>
                <a:gd name="T15" fmla="*/ 0 h 425"/>
                <a:gd name="T16" fmla="*/ 0 w 698"/>
                <a:gd name="T17" fmla="*/ 0 h 425"/>
                <a:gd name="T18" fmla="*/ 0 w 698"/>
                <a:gd name="T19" fmla="*/ 0 h 425"/>
                <a:gd name="T20" fmla="*/ 0 w 698"/>
                <a:gd name="T21" fmla="*/ 0 h 425"/>
                <a:gd name="T22" fmla="*/ 0 w 698"/>
                <a:gd name="T23" fmla="*/ 0 h 425"/>
                <a:gd name="T24" fmla="*/ 0 w 698"/>
                <a:gd name="T25" fmla="*/ 0 h 425"/>
                <a:gd name="T26" fmla="*/ 0 w 698"/>
                <a:gd name="T27" fmla="*/ 0 h 425"/>
                <a:gd name="T28" fmla="*/ 0 w 698"/>
                <a:gd name="T29" fmla="*/ 0 h 425"/>
                <a:gd name="T30" fmla="*/ 0 w 698"/>
                <a:gd name="T31" fmla="*/ 0 h 425"/>
                <a:gd name="T32" fmla="*/ 0 w 698"/>
                <a:gd name="T33" fmla="*/ 0 h 425"/>
                <a:gd name="T34" fmla="*/ 0 w 698"/>
                <a:gd name="T35" fmla="*/ 0 h 425"/>
                <a:gd name="T36" fmla="*/ 0 w 698"/>
                <a:gd name="T37" fmla="*/ 0 h 425"/>
                <a:gd name="T38" fmla="*/ 0 w 698"/>
                <a:gd name="T39" fmla="*/ 0 h 425"/>
                <a:gd name="T40" fmla="*/ 0 w 698"/>
                <a:gd name="T41" fmla="*/ 0 h 425"/>
                <a:gd name="T42" fmla="*/ 0 w 698"/>
                <a:gd name="T43" fmla="*/ 0 h 425"/>
                <a:gd name="T44" fmla="*/ 0 w 698"/>
                <a:gd name="T45" fmla="*/ 0 h 425"/>
                <a:gd name="T46" fmla="*/ 0 w 698"/>
                <a:gd name="T47" fmla="*/ 0 h 425"/>
                <a:gd name="T48" fmla="*/ 0 w 698"/>
                <a:gd name="T49" fmla="*/ 0 h 425"/>
                <a:gd name="T50" fmla="*/ 0 w 698"/>
                <a:gd name="T51" fmla="*/ 0 h 425"/>
                <a:gd name="T52" fmla="*/ 0 w 698"/>
                <a:gd name="T53" fmla="*/ 0 h 425"/>
                <a:gd name="T54" fmla="*/ 0 w 698"/>
                <a:gd name="T55" fmla="*/ 0 h 425"/>
                <a:gd name="T56" fmla="*/ 0 w 698"/>
                <a:gd name="T57" fmla="*/ 0 h 425"/>
                <a:gd name="T58" fmla="*/ 0 w 698"/>
                <a:gd name="T59" fmla="*/ 0 h 425"/>
                <a:gd name="T60" fmla="*/ 0 w 698"/>
                <a:gd name="T61" fmla="*/ 0 h 425"/>
                <a:gd name="T62" fmla="*/ 0 w 698"/>
                <a:gd name="T63" fmla="*/ 0 h 425"/>
                <a:gd name="T64" fmla="*/ 0 w 698"/>
                <a:gd name="T65" fmla="*/ 0 h 425"/>
                <a:gd name="T66" fmla="*/ 0 w 698"/>
                <a:gd name="T67" fmla="*/ 0 h 425"/>
                <a:gd name="T68" fmla="*/ 0 w 698"/>
                <a:gd name="T69" fmla="*/ 0 h 425"/>
                <a:gd name="T70" fmla="*/ 0 w 698"/>
                <a:gd name="T71" fmla="*/ 0 h 425"/>
                <a:gd name="T72" fmla="*/ 0 w 698"/>
                <a:gd name="T73" fmla="*/ 0 h 425"/>
                <a:gd name="T74" fmla="*/ 0 w 698"/>
                <a:gd name="T75" fmla="*/ 0 h 425"/>
                <a:gd name="T76" fmla="*/ 0 w 698"/>
                <a:gd name="T77" fmla="*/ 0 h 425"/>
                <a:gd name="T78" fmla="*/ 0 w 698"/>
                <a:gd name="T79" fmla="*/ 0 h 425"/>
                <a:gd name="T80" fmla="*/ 0 w 698"/>
                <a:gd name="T81" fmla="*/ 0 h 425"/>
                <a:gd name="T82" fmla="*/ 0 w 698"/>
                <a:gd name="T83" fmla="*/ 0 h 425"/>
                <a:gd name="T84" fmla="*/ 0 w 698"/>
                <a:gd name="T85" fmla="*/ 0 h 425"/>
                <a:gd name="T86" fmla="*/ 0 w 698"/>
                <a:gd name="T87" fmla="*/ 0 h 425"/>
                <a:gd name="T88" fmla="*/ 0 w 698"/>
                <a:gd name="T89" fmla="*/ 0 h 425"/>
                <a:gd name="T90" fmla="*/ 0 w 698"/>
                <a:gd name="T91" fmla="*/ 0 h 425"/>
                <a:gd name="T92" fmla="*/ 0 w 698"/>
                <a:gd name="T93" fmla="*/ 0 h 425"/>
                <a:gd name="T94" fmla="*/ 0 w 698"/>
                <a:gd name="T95" fmla="*/ 0 h 425"/>
                <a:gd name="T96" fmla="*/ 0 w 698"/>
                <a:gd name="T97" fmla="*/ 0 h 425"/>
                <a:gd name="T98" fmla="*/ 0 w 698"/>
                <a:gd name="T99" fmla="*/ 0 h 42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698" h="425">
                  <a:moveTo>
                    <a:pt x="698" y="253"/>
                  </a:moveTo>
                  <a:lnTo>
                    <a:pt x="611" y="233"/>
                  </a:lnTo>
                  <a:lnTo>
                    <a:pt x="579" y="227"/>
                  </a:lnTo>
                  <a:lnTo>
                    <a:pt x="558" y="210"/>
                  </a:lnTo>
                  <a:lnTo>
                    <a:pt x="538" y="182"/>
                  </a:lnTo>
                  <a:lnTo>
                    <a:pt x="496" y="143"/>
                  </a:lnTo>
                  <a:lnTo>
                    <a:pt x="420" y="79"/>
                  </a:lnTo>
                  <a:lnTo>
                    <a:pt x="407" y="58"/>
                  </a:lnTo>
                  <a:lnTo>
                    <a:pt x="387" y="38"/>
                  </a:lnTo>
                  <a:lnTo>
                    <a:pt x="347" y="32"/>
                  </a:lnTo>
                  <a:lnTo>
                    <a:pt x="225" y="11"/>
                  </a:lnTo>
                  <a:lnTo>
                    <a:pt x="192" y="0"/>
                  </a:lnTo>
                  <a:lnTo>
                    <a:pt x="162" y="14"/>
                  </a:lnTo>
                  <a:lnTo>
                    <a:pt x="147" y="27"/>
                  </a:lnTo>
                  <a:lnTo>
                    <a:pt x="75" y="52"/>
                  </a:lnTo>
                  <a:lnTo>
                    <a:pt x="48" y="62"/>
                  </a:lnTo>
                  <a:lnTo>
                    <a:pt x="37" y="73"/>
                  </a:lnTo>
                  <a:lnTo>
                    <a:pt x="24" y="114"/>
                  </a:lnTo>
                  <a:lnTo>
                    <a:pt x="16" y="133"/>
                  </a:lnTo>
                  <a:lnTo>
                    <a:pt x="9" y="146"/>
                  </a:lnTo>
                  <a:lnTo>
                    <a:pt x="0" y="165"/>
                  </a:lnTo>
                  <a:lnTo>
                    <a:pt x="0" y="181"/>
                  </a:lnTo>
                  <a:lnTo>
                    <a:pt x="15" y="191"/>
                  </a:lnTo>
                  <a:lnTo>
                    <a:pt x="43" y="190"/>
                  </a:lnTo>
                  <a:lnTo>
                    <a:pt x="89" y="168"/>
                  </a:lnTo>
                  <a:lnTo>
                    <a:pt x="147" y="158"/>
                  </a:lnTo>
                  <a:lnTo>
                    <a:pt x="198" y="165"/>
                  </a:lnTo>
                  <a:lnTo>
                    <a:pt x="144" y="179"/>
                  </a:lnTo>
                  <a:lnTo>
                    <a:pt x="105" y="191"/>
                  </a:lnTo>
                  <a:lnTo>
                    <a:pt x="61" y="210"/>
                  </a:lnTo>
                  <a:lnTo>
                    <a:pt x="51" y="224"/>
                  </a:lnTo>
                  <a:lnTo>
                    <a:pt x="51" y="242"/>
                  </a:lnTo>
                  <a:lnTo>
                    <a:pt x="67" y="253"/>
                  </a:lnTo>
                  <a:lnTo>
                    <a:pt x="87" y="250"/>
                  </a:lnTo>
                  <a:lnTo>
                    <a:pt x="150" y="233"/>
                  </a:lnTo>
                  <a:lnTo>
                    <a:pt x="205" y="230"/>
                  </a:lnTo>
                  <a:lnTo>
                    <a:pt x="249" y="233"/>
                  </a:lnTo>
                  <a:lnTo>
                    <a:pt x="273" y="250"/>
                  </a:lnTo>
                  <a:lnTo>
                    <a:pt x="301" y="279"/>
                  </a:lnTo>
                  <a:lnTo>
                    <a:pt x="323" y="310"/>
                  </a:lnTo>
                  <a:lnTo>
                    <a:pt x="346" y="342"/>
                  </a:lnTo>
                  <a:lnTo>
                    <a:pt x="364" y="366"/>
                  </a:lnTo>
                  <a:lnTo>
                    <a:pt x="397" y="389"/>
                  </a:lnTo>
                  <a:lnTo>
                    <a:pt x="429" y="396"/>
                  </a:lnTo>
                  <a:lnTo>
                    <a:pt x="464" y="399"/>
                  </a:lnTo>
                  <a:lnTo>
                    <a:pt x="507" y="396"/>
                  </a:lnTo>
                  <a:lnTo>
                    <a:pt x="539" y="393"/>
                  </a:lnTo>
                  <a:lnTo>
                    <a:pt x="582" y="404"/>
                  </a:lnTo>
                  <a:lnTo>
                    <a:pt x="698" y="425"/>
                  </a:lnTo>
                  <a:lnTo>
                    <a:pt x="698" y="253"/>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8" name="Freeform 281"/>
            <p:cNvSpPr>
              <a:spLocks/>
            </p:cNvSpPr>
            <p:nvPr/>
          </p:nvSpPr>
          <p:spPr bwMode="auto">
            <a:xfrm>
              <a:off x="5269" y="1916"/>
              <a:ext cx="37" cy="9"/>
            </a:xfrm>
            <a:custGeom>
              <a:avLst/>
              <a:gdLst>
                <a:gd name="T0" fmla="*/ 0 w 223"/>
                <a:gd name="T1" fmla="*/ 0 h 52"/>
                <a:gd name="T2" fmla="*/ 0 w 223"/>
                <a:gd name="T3" fmla="*/ 0 h 52"/>
                <a:gd name="T4" fmla="*/ 0 w 223"/>
                <a:gd name="T5" fmla="*/ 0 h 52"/>
                <a:gd name="T6" fmla="*/ 0 w 223"/>
                <a:gd name="T7" fmla="*/ 0 h 52"/>
                <a:gd name="T8" fmla="*/ 0 w 223"/>
                <a:gd name="T9" fmla="*/ 0 h 52"/>
                <a:gd name="T10" fmla="*/ 0 w 223"/>
                <a:gd name="T11" fmla="*/ 0 h 52"/>
                <a:gd name="T12" fmla="*/ 0 w 223"/>
                <a:gd name="T13" fmla="*/ 0 h 52"/>
                <a:gd name="T14" fmla="*/ 0 w 223"/>
                <a:gd name="T15" fmla="*/ 0 h 52"/>
                <a:gd name="T16" fmla="*/ 0 w 223"/>
                <a:gd name="T17" fmla="*/ 0 h 52"/>
                <a:gd name="T18" fmla="*/ 0 w 223"/>
                <a:gd name="T19" fmla="*/ 0 h 52"/>
                <a:gd name="T20" fmla="*/ 0 w 223"/>
                <a:gd name="T21" fmla="*/ 0 h 52"/>
                <a:gd name="T22" fmla="*/ 0 w 223"/>
                <a:gd name="T23" fmla="*/ 0 h 52"/>
                <a:gd name="T24" fmla="*/ 0 w 223"/>
                <a:gd name="T25" fmla="*/ 0 h 52"/>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223" h="52">
                  <a:moveTo>
                    <a:pt x="0" y="52"/>
                  </a:moveTo>
                  <a:lnTo>
                    <a:pt x="38" y="36"/>
                  </a:lnTo>
                  <a:lnTo>
                    <a:pt x="69" y="30"/>
                  </a:lnTo>
                  <a:lnTo>
                    <a:pt x="107" y="18"/>
                  </a:lnTo>
                  <a:lnTo>
                    <a:pt x="139" y="11"/>
                  </a:lnTo>
                  <a:lnTo>
                    <a:pt x="189" y="15"/>
                  </a:lnTo>
                  <a:lnTo>
                    <a:pt x="223" y="18"/>
                  </a:lnTo>
                  <a:lnTo>
                    <a:pt x="171" y="8"/>
                  </a:lnTo>
                  <a:lnTo>
                    <a:pt x="127" y="0"/>
                  </a:lnTo>
                  <a:lnTo>
                    <a:pt x="69" y="24"/>
                  </a:lnTo>
                  <a:lnTo>
                    <a:pt x="38" y="28"/>
                  </a:lnTo>
                  <a:lnTo>
                    <a:pt x="3" y="45"/>
                  </a:lnTo>
                  <a:lnTo>
                    <a:pt x="0" y="5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9" name="Freeform 282"/>
            <p:cNvSpPr>
              <a:spLocks/>
            </p:cNvSpPr>
            <p:nvPr/>
          </p:nvSpPr>
          <p:spPr bwMode="auto">
            <a:xfrm>
              <a:off x="5289" y="1907"/>
              <a:ext cx="31" cy="6"/>
            </a:xfrm>
            <a:custGeom>
              <a:avLst/>
              <a:gdLst>
                <a:gd name="T0" fmla="*/ 0 w 188"/>
                <a:gd name="T1" fmla="*/ 0 h 36"/>
                <a:gd name="T2" fmla="*/ 0 w 188"/>
                <a:gd name="T3" fmla="*/ 0 h 36"/>
                <a:gd name="T4" fmla="*/ 0 w 188"/>
                <a:gd name="T5" fmla="*/ 0 h 36"/>
                <a:gd name="T6" fmla="*/ 0 w 188"/>
                <a:gd name="T7" fmla="*/ 0 h 36"/>
                <a:gd name="T8" fmla="*/ 0 w 188"/>
                <a:gd name="T9" fmla="*/ 0 h 36"/>
                <a:gd name="T10" fmla="*/ 0 w 188"/>
                <a:gd name="T11" fmla="*/ 0 h 36"/>
                <a:gd name="T12" fmla="*/ 0 w 188"/>
                <a:gd name="T13" fmla="*/ 0 h 36"/>
                <a:gd name="T14" fmla="*/ 0 w 188"/>
                <a:gd name="T15" fmla="*/ 0 h 36"/>
                <a:gd name="T16" fmla="*/ 0 w 188"/>
                <a:gd name="T17" fmla="*/ 0 h 36"/>
                <a:gd name="T18" fmla="*/ 0 w 188"/>
                <a:gd name="T19" fmla="*/ 0 h 36"/>
                <a:gd name="T20" fmla="*/ 0 w 188"/>
                <a:gd name="T21" fmla="*/ 0 h 36"/>
                <a:gd name="T22" fmla="*/ 0 w 188"/>
                <a:gd name="T23" fmla="*/ 0 h 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88" h="36">
                  <a:moveTo>
                    <a:pt x="51" y="0"/>
                  </a:moveTo>
                  <a:lnTo>
                    <a:pt x="29" y="1"/>
                  </a:lnTo>
                  <a:lnTo>
                    <a:pt x="0" y="11"/>
                  </a:lnTo>
                  <a:lnTo>
                    <a:pt x="19" y="9"/>
                  </a:lnTo>
                  <a:lnTo>
                    <a:pt x="48" y="4"/>
                  </a:lnTo>
                  <a:lnTo>
                    <a:pt x="109" y="20"/>
                  </a:lnTo>
                  <a:lnTo>
                    <a:pt x="143" y="30"/>
                  </a:lnTo>
                  <a:lnTo>
                    <a:pt x="181" y="36"/>
                  </a:lnTo>
                  <a:lnTo>
                    <a:pt x="188" y="30"/>
                  </a:lnTo>
                  <a:lnTo>
                    <a:pt x="146" y="22"/>
                  </a:lnTo>
                  <a:lnTo>
                    <a:pt x="97" y="11"/>
                  </a:lnTo>
                  <a:lnTo>
                    <a:pt x="5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0" name="Freeform 283"/>
            <p:cNvSpPr>
              <a:spLocks/>
            </p:cNvSpPr>
            <p:nvPr/>
          </p:nvSpPr>
          <p:spPr bwMode="auto">
            <a:xfrm>
              <a:off x="5295" y="1929"/>
              <a:ext cx="13" cy="3"/>
            </a:xfrm>
            <a:custGeom>
              <a:avLst/>
              <a:gdLst>
                <a:gd name="T0" fmla="*/ 0 w 76"/>
                <a:gd name="T1" fmla="*/ 0 h 17"/>
                <a:gd name="T2" fmla="*/ 0 w 76"/>
                <a:gd name="T3" fmla="*/ 0 h 17"/>
                <a:gd name="T4" fmla="*/ 0 w 76"/>
                <a:gd name="T5" fmla="*/ 0 h 17"/>
                <a:gd name="T6" fmla="*/ 0 w 76"/>
                <a:gd name="T7" fmla="*/ 0 h 17"/>
                <a:gd name="T8" fmla="*/ 0 w 76"/>
                <a:gd name="T9" fmla="*/ 0 h 17"/>
                <a:gd name="T10" fmla="*/ 0 w 76"/>
                <a:gd name="T11" fmla="*/ 0 h 17"/>
                <a:gd name="T12" fmla="*/ 0 w 76"/>
                <a:gd name="T13" fmla="*/ 0 h 1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6" h="17">
                  <a:moveTo>
                    <a:pt x="0" y="8"/>
                  </a:moveTo>
                  <a:lnTo>
                    <a:pt x="8" y="17"/>
                  </a:lnTo>
                  <a:lnTo>
                    <a:pt x="36" y="12"/>
                  </a:lnTo>
                  <a:lnTo>
                    <a:pt x="67" y="12"/>
                  </a:lnTo>
                  <a:lnTo>
                    <a:pt x="76" y="0"/>
                  </a:lnTo>
                  <a:lnTo>
                    <a:pt x="55" y="4"/>
                  </a:lnTo>
                  <a:lnTo>
                    <a:pt x="0" y="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1" name="Freeform 284"/>
            <p:cNvSpPr>
              <a:spLocks/>
            </p:cNvSpPr>
            <p:nvPr/>
          </p:nvSpPr>
          <p:spPr bwMode="auto">
            <a:xfrm>
              <a:off x="5268" y="1926"/>
              <a:ext cx="3" cy="6"/>
            </a:xfrm>
            <a:custGeom>
              <a:avLst/>
              <a:gdLst>
                <a:gd name="T0" fmla="*/ 0 w 19"/>
                <a:gd name="T1" fmla="*/ 0 h 32"/>
                <a:gd name="T2" fmla="*/ 0 w 19"/>
                <a:gd name="T3" fmla="*/ 0 h 32"/>
                <a:gd name="T4" fmla="*/ 0 w 19"/>
                <a:gd name="T5" fmla="*/ 0 h 32"/>
                <a:gd name="T6" fmla="*/ 0 w 19"/>
                <a:gd name="T7" fmla="*/ 0 h 32"/>
                <a:gd name="T8" fmla="*/ 0 w 19"/>
                <a:gd name="T9" fmla="*/ 0 h 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32">
                  <a:moveTo>
                    <a:pt x="19" y="0"/>
                  </a:moveTo>
                  <a:lnTo>
                    <a:pt x="19" y="9"/>
                  </a:lnTo>
                  <a:lnTo>
                    <a:pt x="14" y="24"/>
                  </a:lnTo>
                  <a:lnTo>
                    <a:pt x="0" y="32"/>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2" name="Freeform 285"/>
            <p:cNvSpPr>
              <a:spLocks/>
            </p:cNvSpPr>
            <p:nvPr/>
          </p:nvSpPr>
          <p:spPr bwMode="auto">
            <a:xfrm>
              <a:off x="5277" y="1940"/>
              <a:ext cx="3" cy="3"/>
            </a:xfrm>
            <a:custGeom>
              <a:avLst/>
              <a:gdLst>
                <a:gd name="T0" fmla="*/ 0 w 14"/>
                <a:gd name="T1" fmla="*/ 0 h 18"/>
                <a:gd name="T2" fmla="*/ 0 w 14"/>
                <a:gd name="T3" fmla="*/ 0 h 18"/>
                <a:gd name="T4" fmla="*/ 0 w 14"/>
                <a:gd name="T5" fmla="*/ 0 h 18"/>
                <a:gd name="T6" fmla="*/ 0 w 14"/>
                <a:gd name="T7" fmla="*/ 0 h 1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18">
                  <a:moveTo>
                    <a:pt x="14" y="0"/>
                  </a:moveTo>
                  <a:lnTo>
                    <a:pt x="11" y="9"/>
                  </a:lnTo>
                  <a:lnTo>
                    <a:pt x="0" y="18"/>
                  </a:lnTo>
                  <a:lnTo>
                    <a:pt x="1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3" name="Freeform 286"/>
            <p:cNvSpPr>
              <a:spLocks/>
            </p:cNvSpPr>
            <p:nvPr/>
          </p:nvSpPr>
          <p:spPr bwMode="auto">
            <a:xfrm>
              <a:off x="5319" y="1921"/>
              <a:ext cx="6" cy="7"/>
            </a:xfrm>
            <a:custGeom>
              <a:avLst/>
              <a:gdLst>
                <a:gd name="T0" fmla="*/ 0 w 35"/>
                <a:gd name="T1" fmla="*/ 0 h 43"/>
                <a:gd name="T2" fmla="*/ 0 w 35"/>
                <a:gd name="T3" fmla="*/ 0 h 43"/>
                <a:gd name="T4" fmla="*/ 0 w 35"/>
                <a:gd name="T5" fmla="*/ 0 h 43"/>
                <a:gd name="T6" fmla="*/ 0 w 35"/>
                <a:gd name="T7" fmla="*/ 0 h 43"/>
                <a:gd name="T8" fmla="*/ 0 w 35"/>
                <a:gd name="T9" fmla="*/ 0 h 4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43">
                  <a:moveTo>
                    <a:pt x="0" y="0"/>
                  </a:moveTo>
                  <a:lnTo>
                    <a:pt x="7" y="14"/>
                  </a:lnTo>
                  <a:lnTo>
                    <a:pt x="7" y="24"/>
                  </a:lnTo>
                  <a:lnTo>
                    <a:pt x="35" y="4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4" name="Freeform 287"/>
            <p:cNvSpPr>
              <a:spLocks/>
            </p:cNvSpPr>
            <p:nvPr/>
          </p:nvSpPr>
          <p:spPr bwMode="auto">
            <a:xfrm>
              <a:off x="5330" y="1921"/>
              <a:ext cx="19" cy="19"/>
            </a:xfrm>
            <a:custGeom>
              <a:avLst/>
              <a:gdLst>
                <a:gd name="T0" fmla="*/ 0 w 114"/>
                <a:gd name="T1" fmla="*/ 0 h 114"/>
                <a:gd name="T2" fmla="*/ 0 w 114"/>
                <a:gd name="T3" fmla="*/ 0 h 114"/>
                <a:gd name="T4" fmla="*/ 0 w 114"/>
                <a:gd name="T5" fmla="*/ 0 h 114"/>
                <a:gd name="T6" fmla="*/ 0 w 114"/>
                <a:gd name="T7" fmla="*/ 0 h 114"/>
                <a:gd name="T8" fmla="*/ 0 w 114"/>
                <a:gd name="T9" fmla="*/ 0 h 114"/>
                <a:gd name="T10" fmla="*/ 0 w 114"/>
                <a:gd name="T11" fmla="*/ 0 h 114"/>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4" h="114">
                  <a:moveTo>
                    <a:pt x="0" y="0"/>
                  </a:moveTo>
                  <a:lnTo>
                    <a:pt x="21" y="35"/>
                  </a:lnTo>
                  <a:lnTo>
                    <a:pt x="43" y="63"/>
                  </a:lnTo>
                  <a:lnTo>
                    <a:pt x="114" y="114"/>
                  </a:lnTo>
                  <a:lnTo>
                    <a:pt x="47" y="5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5" name="Freeform 288"/>
            <p:cNvSpPr>
              <a:spLocks/>
            </p:cNvSpPr>
            <p:nvPr/>
          </p:nvSpPr>
          <p:spPr bwMode="auto">
            <a:xfrm>
              <a:off x="5354" y="1948"/>
              <a:ext cx="4" cy="13"/>
            </a:xfrm>
            <a:custGeom>
              <a:avLst/>
              <a:gdLst>
                <a:gd name="T0" fmla="*/ 0 w 27"/>
                <a:gd name="T1" fmla="*/ 0 h 82"/>
                <a:gd name="T2" fmla="*/ 0 w 27"/>
                <a:gd name="T3" fmla="*/ 0 h 82"/>
                <a:gd name="T4" fmla="*/ 0 w 27"/>
                <a:gd name="T5" fmla="*/ 0 h 82"/>
                <a:gd name="T6" fmla="*/ 0 w 27"/>
                <a:gd name="T7" fmla="*/ 0 h 82"/>
                <a:gd name="T8" fmla="*/ 0 w 27"/>
                <a:gd name="T9" fmla="*/ 0 h 82"/>
                <a:gd name="T10" fmla="*/ 0 w 27"/>
                <a:gd name="T11" fmla="*/ 0 h 82"/>
                <a:gd name="T12" fmla="*/ 0 w 27"/>
                <a:gd name="T13" fmla="*/ 0 h 8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7" h="82">
                  <a:moveTo>
                    <a:pt x="27" y="0"/>
                  </a:moveTo>
                  <a:lnTo>
                    <a:pt x="9" y="29"/>
                  </a:lnTo>
                  <a:lnTo>
                    <a:pt x="4" y="57"/>
                  </a:lnTo>
                  <a:lnTo>
                    <a:pt x="3" y="82"/>
                  </a:lnTo>
                  <a:lnTo>
                    <a:pt x="0" y="47"/>
                  </a:lnTo>
                  <a:lnTo>
                    <a:pt x="3" y="21"/>
                  </a:lnTo>
                  <a:lnTo>
                    <a:pt x="2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6" name="Freeform 289"/>
            <p:cNvSpPr>
              <a:spLocks/>
            </p:cNvSpPr>
            <p:nvPr/>
          </p:nvSpPr>
          <p:spPr bwMode="auto">
            <a:xfrm>
              <a:off x="5312" y="1934"/>
              <a:ext cx="2" cy="5"/>
            </a:xfrm>
            <a:custGeom>
              <a:avLst/>
              <a:gdLst>
                <a:gd name="T0" fmla="*/ 0 w 15"/>
                <a:gd name="T1" fmla="*/ 0 h 30"/>
                <a:gd name="T2" fmla="*/ 0 w 15"/>
                <a:gd name="T3" fmla="*/ 0 h 30"/>
                <a:gd name="T4" fmla="*/ 0 w 15"/>
                <a:gd name="T5" fmla="*/ 0 h 30"/>
                <a:gd name="T6" fmla="*/ 0 w 15"/>
                <a:gd name="T7" fmla="*/ 0 h 3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5" h="30">
                  <a:moveTo>
                    <a:pt x="11" y="0"/>
                  </a:moveTo>
                  <a:lnTo>
                    <a:pt x="15" y="12"/>
                  </a:lnTo>
                  <a:lnTo>
                    <a:pt x="0" y="30"/>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97" name="Group 290"/>
          <p:cNvGrpSpPr>
            <a:grpSpLocks/>
          </p:cNvGrpSpPr>
          <p:nvPr/>
        </p:nvGrpSpPr>
        <p:grpSpPr bwMode="auto">
          <a:xfrm>
            <a:off x="7049981" y="3136559"/>
            <a:ext cx="269775" cy="283404"/>
            <a:chOff x="5362" y="1748"/>
            <a:chExt cx="268" cy="305"/>
          </a:xfrm>
        </p:grpSpPr>
        <p:sp>
          <p:nvSpPr>
            <p:cNvPr id="298" name="Freeform 291"/>
            <p:cNvSpPr>
              <a:spLocks/>
            </p:cNvSpPr>
            <p:nvPr/>
          </p:nvSpPr>
          <p:spPr bwMode="auto">
            <a:xfrm>
              <a:off x="5477" y="1748"/>
              <a:ext cx="8" cy="6"/>
            </a:xfrm>
            <a:custGeom>
              <a:avLst/>
              <a:gdLst>
                <a:gd name="T0" fmla="*/ 0 w 51"/>
                <a:gd name="T1" fmla="*/ 0 h 36"/>
                <a:gd name="T2" fmla="*/ 0 w 51"/>
                <a:gd name="T3" fmla="*/ 0 h 36"/>
                <a:gd name="T4" fmla="*/ 0 w 51"/>
                <a:gd name="T5" fmla="*/ 0 h 36"/>
                <a:gd name="T6" fmla="*/ 0 w 51"/>
                <a:gd name="T7" fmla="*/ 0 h 36"/>
                <a:gd name="T8" fmla="*/ 0 w 51"/>
                <a:gd name="T9" fmla="*/ 0 h 36"/>
                <a:gd name="T10" fmla="*/ 0 w 51"/>
                <a:gd name="T11" fmla="*/ 0 h 36"/>
                <a:gd name="T12" fmla="*/ 0 w 51"/>
                <a:gd name="T13" fmla="*/ 0 h 36"/>
                <a:gd name="T14" fmla="*/ 0 w 51"/>
                <a:gd name="T15" fmla="*/ 0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51" h="36">
                  <a:moveTo>
                    <a:pt x="0" y="0"/>
                  </a:moveTo>
                  <a:lnTo>
                    <a:pt x="14" y="10"/>
                  </a:lnTo>
                  <a:lnTo>
                    <a:pt x="29" y="15"/>
                  </a:lnTo>
                  <a:lnTo>
                    <a:pt x="43" y="23"/>
                  </a:lnTo>
                  <a:lnTo>
                    <a:pt x="51" y="36"/>
                  </a:lnTo>
                  <a:lnTo>
                    <a:pt x="39" y="32"/>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9" name="Freeform 292"/>
            <p:cNvSpPr>
              <a:spLocks/>
            </p:cNvSpPr>
            <p:nvPr/>
          </p:nvSpPr>
          <p:spPr bwMode="auto">
            <a:xfrm>
              <a:off x="5479" y="1758"/>
              <a:ext cx="2" cy="4"/>
            </a:xfrm>
            <a:custGeom>
              <a:avLst/>
              <a:gdLst>
                <a:gd name="T0" fmla="*/ 0 w 14"/>
                <a:gd name="T1" fmla="*/ 0 h 24"/>
                <a:gd name="T2" fmla="*/ 0 w 14"/>
                <a:gd name="T3" fmla="*/ 0 h 24"/>
                <a:gd name="T4" fmla="*/ 0 w 14"/>
                <a:gd name="T5" fmla="*/ 0 h 24"/>
                <a:gd name="T6" fmla="*/ 0 w 14"/>
                <a:gd name="T7" fmla="*/ 0 h 2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24">
                  <a:moveTo>
                    <a:pt x="0" y="0"/>
                  </a:moveTo>
                  <a:lnTo>
                    <a:pt x="14" y="0"/>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0" name="Freeform 293"/>
            <p:cNvSpPr>
              <a:spLocks/>
            </p:cNvSpPr>
            <p:nvPr/>
          </p:nvSpPr>
          <p:spPr bwMode="auto">
            <a:xfrm>
              <a:off x="5444" y="1788"/>
              <a:ext cx="71" cy="180"/>
            </a:xfrm>
            <a:custGeom>
              <a:avLst/>
              <a:gdLst>
                <a:gd name="T0" fmla="*/ 0 w 431"/>
                <a:gd name="T1" fmla="*/ 0 h 1076"/>
                <a:gd name="T2" fmla="*/ 0 w 431"/>
                <a:gd name="T3" fmla="*/ 0 h 1076"/>
                <a:gd name="T4" fmla="*/ 0 w 431"/>
                <a:gd name="T5" fmla="*/ 0 h 1076"/>
                <a:gd name="T6" fmla="*/ 0 w 431"/>
                <a:gd name="T7" fmla="*/ 0 h 1076"/>
                <a:gd name="T8" fmla="*/ 0 w 431"/>
                <a:gd name="T9" fmla="*/ 0 h 1076"/>
                <a:gd name="T10" fmla="*/ 0 w 431"/>
                <a:gd name="T11" fmla="*/ 0 h 1076"/>
                <a:gd name="T12" fmla="*/ 0 w 431"/>
                <a:gd name="T13" fmla="*/ 0 h 1076"/>
                <a:gd name="T14" fmla="*/ 0 w 431"/>
                <a:gd name="T15" fmla="*/ 0 h 1076"/>
                <a:gd name="T16" fmla="*/ 0 w 431"/>
                <a:gd name="T17" fmla="*/ 0 h 1076"/>
                <a:gd name="T18" fmla="*/ 0 w 431"/>
                <a:gd name="T19" fmla="*/ 0 h 1076"/>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431" h="1076">
                  <a:moveTo>
                    <a:pt x="369" y="0"/>
                  </a:moveTo>
                  <a:lnTo>
                    <a:pt x="328" y="44"/>
                  </a:lnTo>
                  <a:lnTo>
                    <a:pt x="317" y="108"/>
                  </a:lnTo>
                  <a:lnTo>
                    <a:pt x="254" y="170"/>
                  </a:lnTo>
                  <a:lnTo>
                    <a:pt x="126" y="461"/>
                  </a:lnTo>
                  <a:lnTo>
                    <a:pt x="57" y="724"/>
                  </a:lnTo>
                  <a:lnTo>
                    <a:pt x="0" y="1076"/>
                  </a:lnTo>
                  <a:lnTo>
                    <a:pt x="178" y="919"/>
                  </a:lnTo>
                  <a:lnTo>
                    <a:pt x="431" y="140"/>
                  </a:lnTo>
                  <a:lnTo>
                    <a:pt x="369" y="0"/>
                  </a:lnTo>
                  <a:close/>
                </a:path>
              </a:pathLst>
            </a:custGeom>
            <a:solidFill>
              <a:srgbClr val="40000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1" name="Freeform 294"/>
            <p:cNvSpPr>
              <a:spLocks/>
            </p:cNvSpPr>
            <p:nvPr/>
          </p:nvSpPr>
          <p:spPr bwMode="auto">
            <a:xfrm>
              <a:off x="5362" y="1754"/>
              <a:ext cx="268" cy="299"/>
            </a:xfrm>
            <a:custGeom>
              <a:avLst/>
              <a:gdLst>
                <a:gd name="T0" fmla="*/ 0 w 1606"/>
                <a:gd name="T1" fmla="*/ 0 h 1792"/>
                <a:gd name="T2" fmla="*/ 0 w 1606"/>
                <a:gd name="T3" fmla="*/ 0 h 1792"/>
                <a:gd name="T4" fmla="*/ 0 w 1606"/>
                <a:gd name="T5" fmla="*/ 0 h 1792"/>
                <a:gd name="T6" fmla="*/ 0 w 1606"/>
                <a:gd name="T7" fmla="*/ 0 h 1792"/>
                <a:gd name="T8" fmla="*/ 0 w 1606"/>
                <a:gd name="T9" fmla="*/ 0 h 1792"/>
                <a:gd name="T10" fmla="*/ 0 w 1606"/>
                <a:gd name="T11" fmla="*/ 0 h 1792"/>
                <a:gd name="T12" fmla="*/ 0 w 1606"/>
                <a:gd name="T13" fmla="*/ 0 h 1792"/>
                <a:gd name="T14" fmla="*/ 0 w 1606"/>
                <a:gd name="T15" fmla="*/ 0 h 1792"/>
                <a:gd name="T16" fmla="*/ 0 w 1606"/>
                <a:gd name="T17" fmla="*/ 0 h 1792"/>
                <a:gd name="T18" fmla="*/ 0 w 1606"/>
                <a:gd name="T19" fmla="*/ 0 h 1792"/>
                <a:gd name="T20" fmla="*/ 0 w 1606"/>
                <a:gd name="T21" fmla="*/ 0 h 1792"/>
                <a:gd name="T22" fmla="*/ 0 w 1606"/>
                <a:gd name="T23" fmla="*/ 0 h 1792"/>
                <a:gd name="T24" fmla="*/ 0 w 1606"/>
                <a:gd name="T25" fmla="*/ 0 h 1792"/>
                <a:gd name="T26" fmla="*/ 0 w 1606"/>
                <a:gd name="T27" fmla="*/ 0 h 1792"/>
                <a:gd name="T28" fmla="*/ 0 w 1606"/>
                <a:gd name="T29" fmla="*/ 0 h 1792"/>
                <a:gd name="T30" fmla="*/ 0 w 1606"/>
                <a:gd name="T31" fmla="*/ 0 h 1792"/>
                <a:gd name="T32" fmla="*/ 0 w 1606"/>
                <a:gd name="T33" fmla="*/ 0 h 1792"/>
                <a:gd name="T34" fmla="*/ 0 w 1606"/>
                <a:gd name="T35" fmla="*/ 0 h 1792"/>
                <a:gd name="T36" fmla="*/ 0 w 1606"/>
                <a:gd name="T37" fmla="*/ 0 h 1792"/>
                <a:gd name="T38" fmla="*/ 0 w 1606"/>
                <a:gd name="T39" fmla="*/ 0 h 1792"/>
                <a:gd name="T40" fmla="*/ 0 w 1606"/>
                <a:gd name="T41" fmla="*/ 0 h 1792"/>
                <a:gd name="T42" fmla="*/ 0 w 1606"/>
                <a:gd name="T43" fmla="*/ 0 h 1792"/>
                <a:gd name="T44" fmla="*/ 0 w 1606"/>
                <a:gd name="T45" fmla="*/ 0 h 1792"/>
                <a:gd name="T46" fmla="*/ 0 w 1606"/>
                <a:gd name="T47" fmla="*/ 0 h 1792"/>
                <a:gd name="T48" fmla="*/ 0 w 1606"/>
                <a:gd name="T49" fmla="*/ 0 h 1792"/>
                <a:gd name="T50" fmla="*/ 0 w 1606"/>
                <a:gd name="T51" fmla="*/ 0 h 1792"/>
                <a:gd name="T52" fmla="*/ 0 w 1606"/>
                <a:gd name="T53" fmla="*/ 0 h 1792"/>
                <a:gd name="T54" fmla="*/ 0 w 1606"/>
                <a:gd name="T55" fmla="*/ 0 h 1792"/>
                <a:gd name="T56" fmla="*/ 0 w 1606"/>
                <a:gd name="T57" fmla="*/ 0 h 1792"/>
                <a:gd name="T58" fmla="*/ 0 w 1606"/>
                <a:gd name="T59" fmla="*/ 0 h 1792"/>
                <a:gd name="T60" fmla="*/ 0 w 1606"/>
                <a:gd name="T61" fmla="*/ 0 h 1792"/>
                <a:gd name="T62" fmla="*/ 0 w 1606"/>
                <a:gd name="T63" fmla="*/ 0 h 1792"/>
                <a:gd name="T64" fmla="*/ 0 w 1606"/>
                <a:gd name="T65" fmla="*/ 0 h 1792"/>
                <a:gd name="T66" fmla="*/ 0 w 1606"/>
                <a:gd name="T67" fmla="*/ 0 h 1792"/>
                <a:gd name="T68" fmla="*/ 0 w 1606"/>
                <a:gd name="T69" fmla="*/ 0 h 1792"/>
                <a:gd name="T70" fmla="*/ 0 w 1606"/>
                <a:gd name="T71" fmla="*/ 0 h 1792"/>
                <a:gd name="T72" fmla="*/ 0 w 1606"/>
                <a:gd name="T73" fmla="*/ 0 h 1792"/>
                <a:gd name="T74" fmla="*/ 0 w 1606"/>
                <a:gd name="T75" fmla="*/ 0 h 1792"/>
                <a:gd name="T76" fmla="*/ 0 w 1606"/>
                <a:gd name="T77" fmla="*/ 0 h 1792"/>
                <a:gd name="T78" fmla="*/ 0 w 1606"/>
                <a:gd name="T79" fmla="*/ 0 h 1792"/>
                <a:gd name="T80" fmla="*/ 0 w 1606"/>
                <a:gd name="T81" fmla="*/ 0 h 1792"/>
                <a:gd name="T82" fmla="*/ 0 w 1606"/>
                <a:gd name="T83" fmla="*/ 0 h 1792"/>
                <a:gd name="T84" fmla="*/ 0 w 1606"/>
                <a:gd name="T85" fmla="*/ 0 h 1792"/>
                <a:gd name="T86" fmla="*/ 0 w 1606"/>
                <a:gd name="T87" fmla="*/ 0 h 1792"/>
                <a:gd name="T88" fmla="*/ 0 w 1606"/>
                <a:gd name="T89" fmla="*/ 0 h 1792"/>
                <a:gd name="T90" fmla="*/ 0 w 1606"/>
                <a:gd name="T91" fmla="*/ 0 h 179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606" h="1792">
                  <a:moveTo>
                    <a:pt x="1309" y="94"/>
                  </a:moveTo>
                  <a:lnTo>
                    <a:pt x="1258" y="0"/>
                  </a:lnTo>
                  <a:lnTo>
                    <a:pt x="867" y="163"/>
                  </a:lnTo>
                  <a:lnTo>
                    <a:pt x="850" y="288"/>
                  </a:lnTo>
                  <a:lnTo>
                    <a:pt x="818" y="332"/>
                  </a:lnTo>
                  <a:lnTo>
                    <a:pt x="773" y="382"/>
                  </a:lnTo>
                  <a:lnTo>
                    <a:pt x="747" y="472"/>
                  </a:lnTo>
                  <a:lnTo>
                    <a:pt x="660" y="678"/>
                  </a:lnTo>
                  <a:lnTo>
                    <a:pt x="590" y="924"/>
                  </a:lnTo>
                  <a:lnTo>
                    <a:pt x="558" y="1088"/>
                  </a:lnTo>
                  <a:lnTo>
                    <a:pt x="243" y="1094"/>
                  </a:lnTo>
                  <a:lnTo>
                    <a:pt x="192" y="1125"/>
                  </a:lnTo>
                  <a:lnTo>
                    <a:pt x="47" y="1125"/>
                  </a:lnTo>
                  <a:lnTo>
                    <a:pt x="7" y="1189"/>
                  </a:lnTo>
                  <a:lnTo>
                    <a:pt x="0" y="1264"/>
                  </a:lnTo>
                  <a:lnTo>
                    <a:pt x="15" y="1332"/>
                  </a:lnTo>
                  <a:lnTo>
                    <a:pt x="148" y="1358"/>
                  </a:lnTo>
                  <a:lnTo>
                    <a:pt x="211" y="1452"/>
                  </a:lnTo>
                  <a:lnTo>
                    <a:pt x="337" y="1484"/>
                  </a:lnTo>
                  <a:lnTo>
                    <a:pt x="430" y="1484"/>
                  </a:lnTo>
                  <a:lnTo>
                    <a:pt x="538" y="1503"/>
                  </a:lnTo>
                  <a:lnTo>
                    <a:pt x="544" y="1548"/>
                  </a:lnTo>
                  <a:lnTo>
                    <a:pt x="538" y="1642"/>
                  </a:lnTo>
                  <a:lnTo>
                    <a:pt x="550" y="1705"/>
                  </a:lnTo>
                  <a:lnTo>
                    <a:pt x="608" y="1712"/>
                  </a:lnTo>
                  <a:lnTo>
                    <a:pt x="677" y="1724"/>
                  </a:lnTo>
                  <a:lnTo>
                    <a:pt x="747" y="1786"/>
                  </a:lnTo>
                  <a:lnTo>
                    <a:pt x="830" y="1786"/>
                  </a:lnTo>
                  <a:lnTo>
                    <a:pt x="905" y="1779"/>
                  </a:lnTo>
                  <a:lnTo>
                    <a:pt x="1019" y="1744"/>
                  </a:lnTo>
                  <a:lnTo>
                    <a:pt x="1145" y="1756"/>
                  </a:lnTo>
                  <a:lnTo>
                    <a:pt x="1273" y="1792"/>
                  </a:lnTo>
                  <a:lnTo>
                    <a:pt x="1392" y="1766"/>
                  </a:lnTo>
                  <a:lnTo>
                    <a:pt x="1473" y="1674"/>
                  </a:lnTo>
                  <a:lnTo>
                    <a:pt x="1467" y="1571"/>
                  </a:lnTo>
                  <a:lnTo>
                    <a:pt x="1497" y="1446"/>
                  </a:lnTo>
                  <a:lnTo>
                    <a:pt x="1516" y="1282"/>
                  </a:lnTo>
                  <a:lnTo>
                    <a:pt x="1554" y="1131"/>
                  </a:lnTo>
                  <a:lnTo>
                    <a:pt x="1606" y="906"/>
                  </a:lnTo>
                  <a:lnTo>
                    <a:pt x="1598" y="678"/>
                  </a:lnTo>
                  <a:lnTo>
                    <a:pt x="1598" y="478"/>
                  </a:lnTo>
                  <a:lnTo>
                    <a:pt x="1586" y="338"/>
                  </a:lnTo>
                  <a:lnTo>
                    <a:pt x="1554" y="276"/>
                  </a:lnTo>
                  <a:lnTo>
                    <a:pt x="1484" y="225"/>
                  </a:lnTo>
                  <a:lnTo>
                    <a:pt x="1403" y="142"/>
                  </a:lnTo>
                  <a:lnTo>
                    <a:pt x="1309" y="94"/>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2" name="Freeform 295"/>
            <p:cNvSpPr>
              <a:spLocks/>
            </p:cNvSpPr>
            <p:nvPr/>
          </p:nvSpPr>
          <p:spPr bwMode="auto">
            <a:xfrm>
              <a:off x="5456" y="1772"/>
              <a:ext cx="169" cy="278"/>
            </a:xfrm>
            <a:custGeom>
              <a:avLst/>
              <a:gdLst>
                <a:gd name="T0" fmla="*/ 0 w 1014"/>
                <a:gd name="T1" fmla="*/ 0 h 1671"/>
                <a:gd name="T2" fmla="*/ 0 w 1014"/>
                <a:gd name="T3" fmla="*/ 0 h 1671"/>
                <a:gd name="T4" fmla="*/ 0 w 1014"/>
                <a:gd name="T5" fmla="*/ 0 h 1671"/>
                <a:gd name="T6" fmla="*/ 0 w 1014"/>
                <a:gd name="T7" fmla="*/ 0 h 1671"/>
                <a:gd name="T8" fmla="*/ 0 w 1014"/>
                <a:gd name="T9" fmla="*/ 0 h 1671"/>
                <a:gd name="T10" fmla="*/ 0 w 1014"/>
                <a:gd name="T11" fmla="*/ 0 h 1671"/>
                <a:gd name="T12" fmla="*/ 0 w 1014"/>
                <a:gd name="T13" fmla="*/ 0 h 1671"/>
                <a:gd name="T14" fmla="*/ 0 w 1014"/>
                <a:gd name="T15" fmla="*/ 0 h 1671"/>
                <a:gd name="T16" fmla="*/ 0 w 1014"/>
                <a:gd name="T17" fmla="*/ 0 h 1671"/>
                <a:gd name="T18" fmla="*/ 0 w 1014"/>
                <a:gd name="T19" fmla="*/ 0 h 1671"/>
                <a:gd name="T20" fmla="*/ 0 w 1014"/>
                <a:gd name="T21" fmla="*/ 0 h 1671"/>
                <a:gd name="T22" fmla="*/ 0 w 1014"/>
                <a:gd name="T23" fmla="*/ 0 h 1671"/>
                <a:gd name="T24" fmla="*/ 0 w 1014"/>
                <a:gd name="T25" fmla="*/ 0 h 1671"/>
                <a:gd name="T26" fmla="*/ 0 w 1014"/>
                <a:gd name="T27" fmla="*/ 0 h 1671"/>
                <a:gd name="T28" fmla="*/ 0 w 1014"/>
                <a:gd name="T29" fmla="*/ 0 h 1671"/>
                <a:gd name="T30" fmla="*/ 0 w 1014"/>
                <a:gd name="T31" fmla="*/ 0 h 1671"/>
                <a:gd name="T32" fmla="*/ 0 w 1014"/>
                <a:gd name="T33" fmla="*/ 0 h 1671"/>
                <a:gd name="T34" fmla="*/ 0 w 1014"/>
                <a:gd name="T35" fmla="*/ 0 h 1671"/>
                <a:gd name="T36" fmla="*/ 0 w 1014"/>
                <a:gd name="T37" fmla="*/ 0 h 1671"/>
                <a:gd name="T38" fmla="*/ 0 w 1014"/>
                <a:gd name="T39" fmla="*/ 0 h 1671"/>
                <a:gd name="T40" fmla="*/ 0 w 1014"/>
                <a:gd name="T41" fmla="*/ 0 h 1671"/>
                <a:gd name="T42" fmla="*/ 0 w 1014"/>
                <a:gd name="T43" fmla="*/ 0 h 1671"/>
                <a:gd name="T44" fmla="*/ 0 w 1014"/>
                <a:gd name="T45" fmla="*/ 0 h 1671"/>
                <a:gd name="T46" fmla="*/ 0 w 1014"/>
                <a:gd name="T47" fmla="*/ 0 h 1671"/>
                <a:gd name="T48" fmla="*/ 0 w 1014"/>
                <a:gd name="T49" fmla="*/ 0 h 1671"/>
                <a:gd name="T50" fmla="*/ 0 w 1014"/>
                <a:gd name="T51" fmla="*/ 0 h 1671"/>
                <a:gd name="T52" fmla="*/ 0 w 1014"/>
                <a:gd name="T53" fmla="*/ 0 h 1671"/>
                <a:gd name="T54" fmla="*/ 0 w 1014"/>
                <a:gd name="T55" fmla="*/ 0 h 1671"/>
                <a:gd name="T56" fmla="*/ 0 w 1014"/>
                <a:gd name="T57" fmla="*/ 0 h 1671"/>
                <a:gd name="T58" fmla="*/ 0 w 1014"/>
                <a:gd name="T59" fmla="*/ 0 h 1671"/>
                <a:gd name="T60" fmla="*/ 0 w 1014"/>
                <a:gd name="T61" fmla="*/ 0 h 1671"/>
                <a:gd name="T62" fmla="*/ 0 w 1014"/>
                <a:gd name="T63" fmla="*/ 0 h 1671"/>
                <a:gd name="T64" fmla="*/ 0 w 1014"/>
                <a:gd name="T65" fmla="*/ 0 h 1671"/>
                <a:gd name="T66" fmla="*/ 0 w 1014"/>
                <a:gd name="T67" fmla="*/ 0 h 1671"/>
                <a:gd name="T68" fmla="*/ 0 w 1014"/>
                <a:gd name="T69" fmla="*/ 0 h 1671"/>
                <a:gd name="T70" fmla="*/ 0 w 1014"/>
                <a:gd name="T71" fmla="*/ 0 h 1671"/>
                <a:gd name="T72" fmla="*/ 0 w 1014"/>
                <a:gd name="T73" fmla="*/ 0 h 1671"/>
                <a:gd name="T74" fmla="*/ 0 w 1014"/>
                <a:gd name="T75" fmla="*/ 0 h 1671"/>
                <a:gd name="T76" fmla="*/ 0 w 1014"/>
                <a:gd name="T77" fmla="*/ 0 h 1671"/>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014" h="1671">
                  <a:moveTo>
                    <a:pt x="0" y="1402"/>
                  </a:moveTo>
                  <a:lnTo>
                    <a:pt x="132" y="1382"/>
                  </a:lnTo>
                  <a:lnTo>
                    <a:pt x="245" y="1376"/>
                  </a:lnTo>
                  <a:lnTo>
                    <a:pt x="370" y="1363"/>
                  </a:lnTo>
                  <a:lnTo>
                    <a:pt x="509" y="1344"/>
                  </a:lnTo>
                  <a:lnTo>
                    <a:pt x="573" y="1301"/>
                  </a:lnTo>
                  <a:lnTo>
                    <a:pt x="744" y="1088"/>
                  </a:lnTo>
                  <a:lnTo>
                    <a:pt x="656" y="1149"/>
                  </a:lnTo>
                  <a:lnTo>
                    <a:pt x="598" y="1201"/>
                  </a:lnTo>
                  <a:lnTo>
                    <a:pt x="630" y="1050"/>
                  </a:lnTo>
                  <a:lnTo>
                    <a:pt x="693" y="992"/>
                  </a:lnTo>
                  <a:lnTo>
                    <a:pt x="787" y="837"/>
                  </a:lnTo>
                  <a:lnTo>
                    <a:pt x="699" y="911"/>
                  </a:lnTo>
                  <a:lnTo>
                    <a:pt x="642" y="931"/>
                  </a:lnTo>
                  <a:lnTo>
                    <a:pt x="656" y="823"/>
                  </a:lnTo>
                  <a:lnTo>
                    <a:pt x="718" y="741"/>
                  </a:lnTo>
                  <a:lnTo>
                    <a:pt x="781" y="679"/>
                  </a:lnTo>
                  <a:lnTo>
                    <a:pt x="845" y="497"/>
                  </a:lnTo>
                  <a:lnTo>
                    <a:pt x="724" y="647"/>
                  </a:lnTo>
                  <a:lnTo>
                    <a:pt x="656" y="703"/>
                  </a:lnTo>
                  <a:lnTo>
                    <a:pt x="648" y="471"/>
                  </a:lnTo>
                  <a:lnTo>
                    <a:pt x="630" y="378"/>
                  </a:lnTo>
                  <a:lnTo>
                    <a:pt x="592" y="334"/>
                  </a:lnTo>
                  <a:lnTo>
                    <a:pt x="535" y="264"/>
                  </a:lnTo>
                  <a:lnTo>
                    <a:pt x="445" y="232"/>
                  </a:lnTo>
                  <a:lnTo>
                    <a:pt x="402" y="214"/>
                  </a:lnTo>
                  <a:lnTo>
                    <a:pt x="528" y="94"/>
                  </a:lnTo>
                  <a:lnTo>
                    <a:pt x="661" y="126"/>
                  </a:lnTo>
                  <a:lnTo>
                    <a:pt x="750" y="176"/>
                  </a:lnTo>
                  <a:lnTo>
                    <a:pt x="781" y="226"/>
                  </a:lnTo>
                  <a:lnTo>
                    <a:pt x="756" y="150"/>
                  </a:lnTo>
                  <a:lnTo>
                    <a:pt x="705" y="126"/>
                  </a:lnTo>
                  <a:lnTo>
                    <a:pt x="624" y="94"/>
                  </a:lnTo>
                  <a:lnTo>
                    <a:pt x="560" y="82"/>
                  </a:lnTo>
                  <a:lnTo>
                    <a:pt x="598" y="62"/>
                  </a:lnTo>
                  <a:lnTo>
                    <a:pt x="661" y="44"/>
                  </a:lnTo>
                  <a:lnTo>
                    <a:pt x="718" y="25"/>
                  </a:lnTo>
                  <a:lnTo>
                    <a:pt x="750" y="0"/>
                  </a:lnTo>
                  <a:lnTo>
                    <a:pt x="825" y="50"/>
                  </a:lnTo>
                  <a:lnTo>
                    <a:pt x="868" y="94"/>
                  </a:lnTo>
                  <a:lnTo>
                    <a:pt x="913" y="150"/>
                  </a:lnTo>
                  <a:lnTo>
                    <a:pt x="976" y="182"/>
                  </a:lnTo>
                  <a:lnTo>
                    <a:pt x="988" y="240"/>
                  </a:lnTo>
                  <a:lnTo>
                    <a:pt x="1014" y="334"/>
                  </a:lnTo>
                  <a:lnTo>
                    <a:pt x="1014" y="478"/>
                  </a:lnTo>
                  <a:lnTo>
                    <a:pt x="1008" y="628"/>
                  </a:lnTo>
                  <a:lnTo>
                    <a:pt x="1002" y="799"/>
                  </a:lnTo>
                  <a:lnTo>
                    <a:pt x="970" y="975"/>
                  </a:lnTo>
                  <a:lnTo>
                    <a:pt x="931" y="1157"/>
                  </a:lnTo>
                  <a:lnTo>
                    <a:pt x="913" y="1314"/>
                  </a:lnTo>
                  <a:lnTo>
                    <a:pt x="882" y="1426"/>
                  </a:lnTo>
                  <a:lnTo>
                    <a:pt x="888" y="1527"/>
                  </a:lnTo>
                  <a:lnTo>
                    <a:pt x="875" y="1584"/>
                  </a:lnTo>
                  <a:lnTo>
                    <a:pt x="830" y="1627"/>
                  </a:lnTo>
                  <a:lnTo>
                    <a:pt x="775" y="1664"/>
                  </a:lnTo>
                  <a:lnTo>
                    <a:pt x="699" y="1671"/>
                  </a:lnTo>
                  <a:lnTo>
                    <a:pt x="661" y="1652"/>
                  </a:lnTo>
                  <a:lnTo>
                    <a:pt x="612" y="1648"/>
                  </a:lnTo>
                  <a:lnTo>
                    <a:pt x="490" y="1622"/>
                  </a:lnTo>
                  <a:lnTo>
                    <a:pt x="541" y="1559"/>
                  </a:lnTo>
                  <a:lnTo>
                    <a:pt x="598" y="1470"/>
                  </a:lnTo>
                  <a:lnTo>
                    <a:pt x="516" y="1534"/>
                  </a:lnTo>
                  <a:lnTo>
                    <a:pt x="452" y="1590"/>
                  </a:lnTo>
                  <a:lnTo>
                    <a:pt x="407" y="1622"/>
                  </a:lnTo>
                  <a:lnTo>
                    <a:pt x="345" y="1652"/>
                  </a:lnTo>
                  <a:lnTo>
                    <a:pt x="276" y="1652"/>
                  </a:lnTo>
                  <a:lnTo>
                    <a:pt x="208" y="1652"/>
                  </a:lnTo>
                  <a:lnTo>
                    <a:pt x="170" y="1636"/>
                  </a:lnTo>
                  <a:lnTo>
                    <a:pt x="151" y="1616"/>
                  </a:lnTo>
                  <a:lnTo>
                    <a:pt x="240" y="1565"/>
                  </a:lnTo>
                  <a:lnTo>
                    <a:pt x="327" y="1484"/>
                  </a:lnTo>
                  <a:lnTo>
                    <a:pt x="352" y="1446"/>
                  </a:lnTo>
                  <a:lnTo>
                    <a:pt x="282" y="1463"/>
                  </a:lnTo>
                  <a:lnTo>
                    <a:pt x="176" y="1546"/>
                  </a:lnTo>
                  <a:lnTo>
                    <a:pt x="132" y="1584"/>
                  </a:lnTo>
                  <a:lnTo>
                    <a:pt x="32" y="1590"/>
                  </a:lnTo>
                  <a:lnTo>
                    <a:pt x="0" y="1572"/>
                  </a:lnTo>
                  <a:lnTo>
                    <a:pt x="0" y="1527"/>
                  </a:lnTo>
                  <a:lnTo>
                    <a:pt x="0" y="1402"/>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3" name="Freeform 296"/>
            <p:cNvSpPr>
              <a:spLocks/>
            </p:cNvSpPr>
            <p:nvPr/>
          </p:nvSpPr>
          <p:spPr bwMode="auto">
            <a:xfrm>
              <a:off x="5563" y="1910"/>
              <a:ext cx="50" cy="129"/>
            </a:xfrm>
            <a:custGeom>
              <a:avLst/>
              <a:gdLst>
                <a:gd name="T0" fmla="*/ 0 w 295"/>
                <a:gd name="T1" fmla="*/ 0 h 774"/>
                <a:gd name="T2" fmla="*/ 0 w 295"/>
                <a:gd name="T3" fmla="*/ 0 h 774"/>
                <a:gd name="T4" fmla="*/ 0 w 295"/>
                <a:gd name="T5" fmla="*/ 0 h 774"/>
                <a:gd name="T6" fmla="*/ 0 w 295"/>
                <a:gd name="T7" fmla="*/ 0 h 774"/>
                <a:gd name="T8" fmla="*/ 0 w 295"/>
                <a:gd name="T9" fmla="*/ 0 h 774"/>
                <a:gd name="T10" fmla="*/ 0 w 295"/>
                <a:gd name="T11" fmla="*/ 0 h 774"/>
                <a:gd name="T12" fmla="*/ 0 w 295"/>
                <a:gd name="T13" fmla="*/ 0 h 774"/>
                <a:gd name="T14" fmla="*/ 0 w 295"/>
                <a:gd name="T15" fmla="*/ 0 h 774"/>
                <a:gd name="T16" fmla="*/ 0 w 295"/>
                <a:gd name="T17" fmla="*/ 0 h 774"/>
                <a:gd name="T18" fmla="*/ 0 w 295"/>
                <a:gd name="T19" fmla="*/ 0 h 774"/>
                <a:gd name="T20" fmla="*/ 0 w 295"/>
                <a:gd name="T21" fmla="*/ 0 h 774"/>
                <a:gd name="T22" fmla="*/ 0 w 295"/>
                <a:gd name="T23" fmla="*/ 0 h 774"/>
                <a:gd name="T24" fmla="*/ 0 w 295"/>
                <a:gd name="T25" fmla="*/ 0 h 774"/>
                <a:gd name="T26" fmla="*/ 0 w 295"/>
                <a:gd name="T27" fmla="*/ 0 h 77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95" h="774">
                  <a:moveTo>
                    <a:pt x="0" y="774"/>
                  </a:moveTo>
                  <a:lnTo>
                    <a:pt x="51" y="748"/>
                  </a:lnTo>
                  <a:lnTo>
                    <a:pt x="107" y="686"/>
                  </a:lnTo>
                  <a:lnTo>
                    <a:pt x="156" y="573"/>
                  </a:lnTo>
                  <a:lnTo>
                    <a:pt x="183" y="477"/>
                  </a:lnTo>
                  <a:lnTo>
                    <a:pt x="220" y="371"/>
                  </a:lnTo>
                  <a:lnTo>
                    <a:pt x="239" y="270"/>
                  </a:lnTo>
                  <a:lnTo>
                    <a:pt x="270" y="114"/>
                  </a:lnTo>
                  <a:lnTo>
                    <a:pt x="295" y="0"/>
                  </a:lnTo>
                  <a:lnTo>
                    <a:pt x="232" y="226"/>
                  </a:lnTo>
                  <a:lnTo>
                    <a:pt x="183" y="402"/>
                  </a:lnTo>
                  <a:lnTo>
                    <a:pt x="126" y="521"/>
                  </a:lnTo>
                  <a:lnTo>
                    <a:pt x="38" y="648"/>
                  </a:lnTo>
                  <a:lnTo>
                    <a:pt x="0" y="77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4" name="Freeform 297"/>
            <p:cNvSpPr>
              <a:spLocks/>
            </p:cNvSpPr>
            <p:nvPr/>
          </p:nvSpPr>
          <p:spPr bwMode="auto">
            <a:xfrm>
              <a:off x="5367" y="1806"/>
              <a:ext cx="195" cy="194"/>
            </a:xfrm>
            <a:custGeom>
              <a:avLst/>
              <a:gdLst>
                <a:gd name="T0" fmla="*/ 0 w 1172"/>
                <a:gd name="T1" fmla="*/ 0 h 1162"/>
                <a:gd name="T2" fmla="*/ 0 w 1172"/>
                <a:gd name="T3" fmla="*/ 0 h 1162"/>
                <a:gd name="T4" fmla="*/ 0 w 1172"/>
                <a:gd name="T5" fmla="*/ 0 h 1162"/>
                <a:gd name="T6" fmla="*/ 0 w 1172"/>
                <a:gd name="T7" fmla="*/ 0 h 1162"/>
                <a:gd name="T8" fmla="*/ 0 w 1172"/>
                <a:gd name="T9" fmla="*/ 0 h 1162"/>
                <a:gd name="T10" fmla="*/ 0 w 1172"/>
                <a:gd name="T11" fmla="*/ 0 h 1162"/>
                <a:gd name="T12" fmla="*/ 0 w 1172"/>
                <a:gd name="T13" fmla="*/ 0 h 1162"/>
                <a:gd name="T14" fmla="*/ 0 w 1172"/>
                <a:gd name="T15" fmla="*/ 0 h 1162"/>
                <a:gd name="T16" fmla="*/ 0 w 1172"/>
                <a:gd name="T17" fmla="*/ 0 h 1162"/>
                <a:gd name="T18" fmla="*/ 0 w 1172"/>
                <a:gd name="T19" fmla="*/ 0 h 1162"/>
                <a:gd name="T20" fmla="*/ 0 w 1172"/>
                <a:gd name="T21" fmla="*/ 0 h 1162"/>
                <a:gd name="T22" fmla="*/ 0 w 1172"/>
                <a:gd name="T23" fmla="*/ 0 h 1162"/>
                <a:gd name="T24" fmla="*/ 0 w 1172"/>
                <a:gd name="T25" fmla="*/ 0 h 1162"/>
                <a:gd name="T26" fmla="*/ 0 w 1172"/>
                <a:gd name="T27" fmla="*/ 0 h 1162"/>
                <a:gd name="T28" fmla="*/ 0 w 1172"/>
                <a:gd name="T29" fmla="*/ 0 h 1162"/>
                <a:gd name="T30" fmla="*/ 0 w 1172"/>
                <a:gd name="T31" fmla="*/ 0 h 1162"/>
                <a:gd name="T32" fmla="*/ 0 w 1172"/>
                <a:gd name="T33" fmla="*/ 0 h 1162"/>
                <a:gd name="T34" fmla="*/ 0 w 1172"/>
                <a:gd name="T35" fmla="*/ 0 h 1162"/>
                <a:gd name="T36" fmla="*/ 0 w 1172"/>
                <a:gd name="T37" fmla="*/ 0 h 1162"/>
                <a:gd name="T38" fmla="*/ 0 w 1172"/>
                <a:gd name="T39" fmla="*/ 0 h 1162"/>
                <a:gd name="T40" fmla="*/ 0 w 1172"/>
                <a:gd name="T41" fmla="*/ 0 h 1162"/>
                <a:gd name="T42" fmla="*/ 0 w 1172"/>
                <a:gd name="T43" fmla="*/ 0 h 1162"/>
                <a:gd name="T44" fmla="*/ 0 w 1172"/>
                <a:gd name="T45" fmla="*/ 0 h 1162"/>
                <a:gd name="T46" fmla="*/ 0 w 1172"/>
                <a:gd name="T47" fmla="*/ 0 h 1162"/>
                <a:gd name="T48" fmla="*/ 0 w 1172"/>
                <a:gd name="T49" fmla="*/ 0 h 1162"/>
                <a:gd name="T50" fmla="*/ 0 w 1172"/>
                <a:gd name="T51" fmla="*/ 0 h 1162"/>
                <a:gd name="T52" fmla="*/ 0 w 1172"/>
                <a:gd name="T53" fmla="*/ 0 h 1162"/>
                <a:gd name="T54" fmla="*/ 0 w 1172"/>
                <a:gd name="T55" fmla="*/ 0 h 1162"/>
                <a:gd name="T56" fmla="*/ 0 w 1172"/>
                <a:gd name="T57" fmla="*/ 0 h 1162"/>
                <a:gd name="T58" fmla="*/ 0 w 1172"/>
                <a:gd name="T59" fmla="*/ 0 h 1162"/>
                <a:gd name="T60" fmla="*/ 0 w 1172"/>
                <a:gd name="T61" fmla="*/ 0 h 1162"/>
                <a:gd name="T62" fmla="*/ 0 w 1172"/>
                <a:gd name="T63" fmla="*/ 0 h 1162"/>
                <a:gd name="T64" fmla="*/ 0 w 1172"/>
                <a:gd name="T65" fmla="*/ 0 h 1162"/>
                <a:gd name="T66" fmla="*/ 0 w 1172"/>
                <a:gd name="T67" fmla="*/ 0 h 1162"/>
                <a:gd name="T68" fmla="*/ 0 w 1172"/>
                <a:gd name="T69" fmla="*/ 0 h 1162"/>
                <a:gd name="T70" fmla="*/ 0 w 1172"/>
                <a:gd name="T71" fmla="*/ 0 h 1162"/>
                <a:gd name="T72" fmla="*/ 0 w 1172"/>
                <a:gd name="T73" fmla="*/ 0 h 1162"/>
                <a:gd name="T74" fmla="*/ 0 w 1172"/>
                <a:gd name="T75" fmla="*/ 0 h 1162"/>
                <a:gd name="T76" fmla="*/ 0 w 1172"/>
                <a:gd name="T77" fmla="*/ 0 h 1162"/>
                <a:gd name="T78" fmla="*/ 0 w 1172"/>
                <a:gd name="T79" fmla="*/ 0 h 1162"/>
                <a:gd name="T80" fmla="*/ 0 w 1172"/>
                <a:gd name="T81" fmla="*/ 0 h 1162"/>
                <a:gd name="T82" fmla="*/ 0 w 1172"/>
                <a:gd name="T83" fmla="*/ 0 h 1162"/>
                <a:gd name="T84" fmla="*/ 0 w 1172"/>
                <a:gd name="T85" fmla="*/ 0 h 1162"/>
                <a:gd name="T86" fmla="*/ 0 w 1172"/>
                <a:gd name="T87" fmla="*/ 0 h 1162"/>
                <a:gd name="T88" fmla="*/ 0 w 1172"/>
                <a:gd name="T89" fmla="*/ 0 h 1162"/>
                <a:gd name="T90" fmla="*/ 0 w 1172"/>
                <a:gd name="T91" fmla="*/ 0 h 1162"/>
                <a:gd name="T92" fmla="*/ 0 w 1172"/>
                <a:gd name="T93" fmla="*/ 0 h 1162"/>
                <a:gd name="T94" fmla="*/ 0 w 1172"/>
                <a:gd name="T95" fmla="*/ 0 h 1162"/>
                <a:gd name="T96" fmla="*/ 0 w 1172"/>
                <a:gd name="T97" fmla="*/ 0 h 1162"/>
                <a:gd name="T98" fmla="*/ 0 w 1172"/>
                <a:gd name="T99" fmla="*/ 0 h 1162"/>
                <a:gd name="T100" fmla="*/ 0 w 1172"/>
                <a:gd name="T101" fmla="*/ 0 h 1162"/>
                <a:gd name="T102" fmla="*/ 0 w 1172"/>
                <a:gd name="T103" fmla="*/ 0 h 1162"/>
                <a:gd name="T104" fmla="*/ 0 w 1172"/>
                <a:gd name="T105" fmla="*/ 0 h 1162"/>
                <a:gd name="T106" fmla="*/ 0 w 1172"/>
                <a:gd name="T107" fmla="*/ 0 h 1162"/>
                <a:gd name="T108" fmla="*/ 0 w 1172"/>
                <a:gd name="T109" fmla="*/ 0 h 1162"/>
                <a:gd name="T110" fmla="*/ 0 w 1172"/>
                <a:gd name="T111" fmla="*/ 0 h 11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1172" h="1162">
                  <a:moveTo>
                    <a:pt x="959" y="0"/>
                  </a:moveTo>
                  <a:lnTo>
                    <a:pt x="820" y="43"/>
                  </a:lnTo>
                  <a:lnTo>
                    <a:pt x="756" y="100"/>
                  </a:lnTo>
                  <a:lnTo>
                    <a:pt x="719" y="213"/>
                  </a:lnTo>
                  <a:lnTo>
                    <a:pt x="719" y="321"/>
                  </a:lnTo>
                  <a:lnTo>
                    <a:pt x="739" y="381"/>
                  </a:lnTo>
                  <a:lnTo>
                    <a:pt x="727" y="489"/>
                  </a:lnTo>
                  <a:lnTo>
                    <a:pt x="727" y="571"/>
                  </a:lnTo>
                  <a:lnTo>
                    <a:pt x="745" y="591"/>
                  </a:lnTo>
                  <a:lnTo>
                    <a:pt x="727" y="621"/>
                  </a:lnTo>
                  <a:lnTo>
                    <a:pt x="713" y="652"/>
                  </a:lnTo>
                  <a:lnTo>
                    <a:pt x="739" y="684"/>
                  </a:lnTo>
                  <a:lnTo>
                    <a:pt x="739" y="716"/>
                  </a:lnTo>
                  <a:lnTo>
                    <a:pt x="688" y="729"/>
                  </a:lnTo>
                  <a:lnTo>
                    <a:pt x="695" y="761"/>
                  </a:lnTo>
                  <a:lnTo>
                    <a:pt x="644" y="779"/>
                  </a:lnTo>
                  <a:lnTo>
                    <a:pt x="599" y="767"/>
                  </a:lnTo>
                  <a:lnTo>
                    <a:pt x="569" y="779"/>
                  </a:lnTo>
                  <a:lnTo>
                    <a:pt x="428" y="799"/>
                  </a:lnTo>
                  <a:lnTo>
                    <a:pt x="304" y="793"/>
                  </a:lnTo>
                  <a:lnTo>
                    <a:pt x="222" y="799"/>
                  </a:lnTo>
                  <a:lnTo>
                    <a:pt x="170" y="831"/>
                  </a:lnTo>
                  <a:lnTo>
                    <a:pt x="45" y="831"/>
                  </a:lnTo>
                  <a:lnTo>
                    <a:pt x="0" y="873"/>
                  </a:lnTo>
                  <a:lnTo>
                    <a:pt x="0" y="923"/>
                  </a:lnTo>
                  <a:lnTo>
                    <a:pt x="6" y="1004"/>
                  </a:lnTo>
                  <a:lnTo>
                    <a:pt x="109" y="1030"/>
                  </a:lnTo>
                  <a:lnTo>
                    <a:pt x="109" y="978"/>
                  </a:lnTo>
                  <a:lnTo>
                    <a:pt x="115" y="935"/>
                  </a:lnTo>
                  <a:lnTo>
                    <a:pt x="133" y="916"/>
                  </a:lnTo>
                  <a:lnTo>
                    <a:pt x="141" y="966"/>
                  </a:lnTo>
                  <a:lnTo>
                    <a:pt x="147" y="1030"/>
                  </a:lnTo>
                  <a:lnTo>
                    <a:pt x="170" y="1068"/>
                  </a:lnTo>
                  <a:lnTo>
                    <a:pt x="215" y="1118"/>
                  </a:lnTo>
                  <a:lnTo>
                    <a:pt x="321" y="1142"/>
                  </a:lnTo>
                  <a:lnTo>
                    <a:pt x="403" y="1155"/>
                  </a:lnTo>
                  <a:lnTo>
                    <a:pt x="499" y="1162"/>
                  </a:lnTo>
                  <a:lnTo>
                    <a:pt x="379" y="1093"/>
                  </a:lnTo>
                  <a:lnTo>
                    <a:pt x="297" y="1030"/>
                  </a:lnTo>
                  <a:lnTo>
                    <a:pt x="279" y="978"/>
                  </a:lnTo>
                  <a:lnTo>
                    <a:pt x="291" y="935"/>
                  </a:lnTo>
                  <a:lnTo>
                    <a:pt x="358" y="929"/>
                  </a:lnTo>
                  <a:lnTo>
                    <a:pt x="385" y="978"/>
                  </a:lnTo>
                  <a:lnTo>
                    <a:pt x="403" y="1036"/>
                  </a:lnTo>
                  <a:lnTo>
                    <a:pt x="467" y="1098"/>
                  </a:lnTo>
                  <a:lnTo>
                    <a:pt x="537" y="1149"/>
                  </a:lnTo>
                  <a:lnTo>
                    <a:pt x="607" y="1155"/>
                  </a:lnTo>
                  <a:lnTo>
                    <a:pt x="713" y="1149"/>
                  </a:lnTo>
                  <a:lnTo>
                    <a:pt x="599" y="1061"/>
                  </a:lnTo>
                  <a:lnTo>
                    <a:pt x="517" y="1016"/>
                  </a:lnTo>
                  <a:lnTo>
                    <a:pt x="454" y="966"/>
                  </a:lnTo>
                  <a:lnTo>
                    <a:pt x="435" y="929"/>
                  </a:lnTo>
                  <a:lnTo>
                    <a:pt x="441" y="891"/>
                  </a:lnTo>
                  <a:lnTo>
                    <a:pt x="479" y="885"/>
                  </a:lnTo>
                  <a:lnTo>
                    <a:pt x="523" y="923"/>
                  </a:lnTo>
                  <a:lnTo>
                    <a:pt x="549" y="972"/>
                  </a:lnTo>
                  <a:lnTo>
                    <a:pt x="607" y="1036"/>
                  </a:lnTo>
                  <a:lnTo>
                    <a:pt x="675" y="1068"/>
                  </a:lnTo>
                  <a:lnTo>
                    <a:pt x="727" y="1098"/>
                  </a:lnTo>
                  <a:lnTo>
                    <a:pt x="782" y="1123"/>
                  </a:lnTo>
                  <a:lnTo>
                    <a:pt x="846" y="1136"/>
                  </a:lnTo>
                  <a:lnTo>
                    <a:pt x="921" y="1136"/>
                  </a:lnTo>
                  <a:lnTo>
                    <a:pt x="994" y="1122"/>
                  </a:lnTo>
                  <a:lnTo>
                    <a:pt x="833" y="1068"/>
                  </a:lnTo>
                  <a:lnTo>
                    <a:pt x="771" y="1036"/>
                  </a:lnTo>
                  <a:lnTo>
                    <a:pt x="727" y="978"/>
                  </a:lnTo>
                  <a:lnTo>
                    <a:pt x="719" y="929"/>
                  </a:lnTo>
                  <a:lnTo>
                    <a:pt x="756" y="929"/>
                  </a:lnTo>
                  <a:lnTo>
                    <a:pt x="777" y="972"/>
                  </a:lnTo>
                  <a:lnTo>
                    <a:pt x="808" y="1010"/>
                  </a:lnTo>
                  <a:lnTo>
                    <a:pt x="859" y="1049"/>
                  </a:lnTo>
                  <a:lnTo>
                    <a:pt x="914" y="1087"/>
                  </a:lnTo>
                  <a:lnTo>
                    <a:pt x="989" y="1119"/>
                  </a:lnTo>
                  <a:lnTo>
                    <a:pt x="1046" y="1098"/>
                  </a:lnTo>
                  <a:lnTo>
                    <a:pt x="1072" y="1068"/>
                  </a:lnTo>
                  <a:lnTo>
                    <a:pt x="1117" y="991"/>
                  </a:lnTo>
                  <a:lnTo>
                    <a:pt x="1034" y="972"/>
                  </a:lnTo>
                  <a:lnTo>
                    <a:pt x="878" y="954"/>
                  </a:lnTo>
                  <a:lnTo>
                    <a:pt x="782" y="910"/>
                  </a:lnTo>
                  <a:lnTo>
                    <a:pt x="733" y="868"/>
                  </a:lnTo>
                  <a:lnTo>
                    <a:pt x="713" y="816"/>
                  </a:lnTo>
                  <a:lnTo>
                    <a:pt x="707" y="793"/>
                  </a:lnTo>
                  <a:lnTo>
                    <a:pt x="733" y="793"/>
                  </a:lnTo>
                  <a:lnTo>
                    <a:pt x="765" y="831"/>
                  </a:lnTo>
                  <a:lnTo>
                    <a:pt x="814" y="897"/>
                  </a:lnTo>
                  <a:lnTo>
                    <a:pt x="927" y="935"/>
                  </a:lnTo>
                  <a:lnTo>
                    <a:pt x="1034" y="968"/>
                  </a:lnTo>
                  <a:lnTo>
                    <a:pt x="1117" y="991"/>
                  </a:lnTo>
                  <a:lnTo>
                    <a:pt x="1149" y="861"/>
                  </a:lnTo>
                  <a:lnTo>
                    <a:pt x="1155" y="767"/>
                  </a:lnTo>
                  <a:lnTo>
                    <a:pt x="1155" y="683"/>
                  </a:lnTo>
                  <a:lnTo>
                    <a:pt x="1046" y="741"/>
                  </a:lnTo>
                  <a:lnTo>
                    <a:pt x="921" y="767"/>
                  </a:lnTo>
                  <a:lnTo>
                    <a:pt x="820" y="761"/>
                  </a:lnTo>
                  <a:lnTo>
                    <a:pt x="795" y="748"/>
                  </a:lnTo>
                  <a:lnTo>
                    <a:pt x="782" y="716"/>
                  </a:lnTo>
                  <a:lnTo>
                    <a:pt x="840" y="716"/>
                  </a:lnTo>
                  <a:lnTo>
                    <a:pt x="901" y="735"/>
                  </a:lnTo>
                  <a:lnTo>
                    <a:pt x="1049" y="741"/>
                  </a:lnTo>
                  <a:lnTo>
                    <a:pt x="1155" y="684"/>
                  </a:lnTo>
                  <a:lnTo>
                    <a:pt x="1161" y="565"/>
                  </a:lnTo>
                  <a:lnTo>
                    <a:pt x="1167" y="483"/>
                  </a:lnTo>
                  <a:lnTo>
                    <a:pt x="1172" y="401"/>
                  </a:lnTo>
                  <a:lnTo>
                    <a:pt x="1161" y="264"/>
                  </a:lnTo>
                  <a:lnTo>
                    <a:pt x="1129" y="213"/>
                  </a:lnTo>
                  <a:lnTo>
                    <a:pt x="1034" y="152"/>
                  </a:lnTo>
                  <a:lnTo>
                    <a:pt x="1065" y="158"/>
                  </a:lnTo>
                  <a:lnTo>
                    <a:pt x="1161" y="201"/>
                  </a:lnTo>
                  <a:lnTo>
                    <a:pt x="1123" y="113"/>
                  </a:lnTo>
                  <a:lnTo>
                    <a:pt x="1091" y="68"/>
                  </a:lnTo>
                  <a:lnTo>
                    <a:pt x="1065" y="38"/>
                  </a:lnTo>
                  <a:lnTo>
                    <a:pt x="959"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5" name="Freeform 298"/>
            <p:cNvSpPr>
              <a:spLocks/>
            </p:cNvSpPr>
            <p:nvPr/>
          </p:nvSpPr>
          <p:spPr bwMode="auto">
            <a:xfrm>
              <a:off x="5500" y="1878"/>
              <a:ext cx="49" cy="44"/>
            </a:xfrm>
            <a:custGeom>
              <a:avLst/>
              <a:gdLst>
                <a:gd name="T0" fmla="*/ 0 w 295"/>
                <a:gd name="T1" fmla="*/ 0 h 263"/>
                <a:gd name="T2" fmla="*/ 0 w 295"/>
                <a:gd name="T3" fmla="*/ 0 h 263"/>
                <a:gd name="T4" fmla="*/ 0 w 295"/>
                <a:gd name="T5" fmla="*/ 0 h 263"/>
                <a:gd name="T6" fmla="*/ 0 w 295"/>
                <a:gd name="T7" fmla="*/ 0 h 263"/>
                <a:gd name="T8" fmla="*/ 0 w 295"/>
                <a:gd name="T9" fmla="*/ 0 h 263"/>
                <a:gd name="T10" fmla="*/ 0 w 295"/>
                <a:gd name="T11" fmla="*/ 0 h 263"/>
                <a:gd name="T12" fmla="*/ 0 w 295"/>
                <a:gd name="T13" fmla="*/ 0 h 263"/>
                <a:gd name="T14" fmla="*/ 0 w 295"/>
                <a:gd name="T15" fmla="*/ 0 h 263"/>
                <a:gd name="T16" fmla="*/ 0 w 295"/>
                <a:gd name="T17" fmla="*/ 0 h 263"/>
                <a:gd name="T18" fmla="*/ 0 w 295"/>
                <a:gd name="T19" fmla="*/ 0 h 263"/>
                <a:gd name="T20" fmla="*/ 0 w 295"/>
                <a:gd name="T21" fmla="*/ 0 h 263"/>
                <a:gd name="T22" fmla="*/ 0 w 295"/>
                <a:gd name="T23" fmla="*/ 0 h 263"/>
                <a:gd name="T24" fmla="*/ 0 w 295"/>
                <a:gd name="T25" fmla="*/ 0 h 263"/>
                <a:gd name="T26" fmla="*/ 0 w 295"/>
                <a:gd name="T27" fmla="*/ 0 h 263"/>
                <a:gd name="T28" fmla="*/ 0 w 295"/>
                <a:gd name="T29" fmla="*/ 0 h 263"/>
                <a:gd name="T30" fmla="*/ 0 w 295"/>
                <a:gd name="T31" fmla="*/ 0 h 263"/>
                <a:gd name="T32" fmla="*/ 0 w 295"/>
                <a:gd name="T33" fmla="*/ 0 h 263"/>
                <a:gd name="T34" fmla="*/ 0 w 295"/>
                <a:gd name="T35" fmla="*/ 0 h 263"/>
                <a:gd name="T36" fmla="*/ 0 w 295"/>
                <a:gd name="T37" fmla="*/ 0 h 263"/>
                <a:gd name="T38" fmla="*/ 0 w 295"/>
                <a:gd name="T39" fmla="*/ 0 h 263"/>
                <a:gd name="T40" fmla="*/ 0 w 295"/>
                <a:gd name="T41" fmla="*/ 0 h 263"/>
                <a:gd name="T42" fmla="*/ 0 w 295"/>
                <a:gd name="T43" fmla="*/ 0 h 263"/>
                <a:gd name="T44" fmla="*/ 0 w 295"/>
                <a:gd name="T45" fmla="*/ 0 h 26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95" h="263">
                  <a:moveTo>
                    <a:pt x="0" y="0"/>
                  </a:moveTo>
                  <a:lnTo>
                    <a:pt x="0" y="21"/>
                  </a:lnTo>
                  <a:lnTo>
                    <a:pt x="38" y="71"/>
                  </a:lnTo>
                  <a:lnTo>
                    <a:pt x="75" y="99"/>
                  </a:lnTo>
                  <a:lnTo>
                    <a:pt x="152" y="158"/>
                  </a:lnTo>
                  <a:lnTo>
                    <a:pt x="184" y="182"/>
                  </a:lnTo>
                  <a:lnTo>
                    <a:pt x="260" y="239"/>
                  </a:lnTo>
                  <a:lnTo>
                    <a:pt x="178" y="213"/>
                  </a:lnTo>
                  <a:lnTo>
                    <a:pt x="97" y="188"/>
                  </a:lnTo>
                  <a:lnTo>
                    <a:pt x="16" y="182"/>
                  </a:lnTo>
                  <a:lnTo>
                    <a:pt x="22" y="207"/>
                  </a:lnTo>
                  <a:lnTo>
                    <a:pt x="152" y="231"/>
                  </a:lnTo>
                  <a:lnTo>
                    <a:pt x="222" y="257"/>
                  </a:lnTo>
                  <a:lnTo>
                    <a:pt x="260" y="263"/>
                  </a:lnTo>
                  <a:lnTo>
                    <a:pt x="292" y="252"/>
                  </a:lnTo>
                  <a:lnTo>
                    <a:pt x="295" y="222"/>
                  </a:lnTo>
                  <a:lnTo>
                    <a:pt x="269" y="199"/>
                  </a:lnTo>
                  <a:lnTo>
                    <a:pt x="232" y="162"/>
                  </a:lnTo>
                  <a:lnTo>
                    <a:pt x="188" y="112"/>
                  </a:lnTo>
                  <a:lnTo>
                    <a:pt x="144" y="56"/>
                  </a:lnTo>
                  <a:lnTo>
                    <a:pt x="91" y="17"/>
                  </a:lnTo>
                  <a:lnTo>
                    <a:pt x="35" y="3"/>
                  </a:lnTo>
                  <a:lnTo>
                    <a:pt x="0"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6" name="Freeform 299"/>
            <p:cNvSpPr>
              <a:spLocks/>
            </p:cNvSpPr>
            <p:nvPr/>
          </p:nvSpPr>
          <p:spPr bwMode="auto">
            <a:xfrm>
              <a:off x="5503" y="1842"/>
              <a:ext cx="44" cy="57"/>
            </a:xfrm>
            <a:custGeom>
              <a:avLst/>
              <a:gdLst>
                <a:gd name="T0" fmla="*/ 0 w 270"/>
                <a:gd name="T1" fmla="*/ 0 h 345"/>
                <a:gd name="T2" fmla="*/ 0 w 270"/>
                <a:gd name="T3" fmla="*/ 0 h 345"/>
                <a:gd name="T4" fmla="*/ 0 w 270"/>
                <a:gd name="T5" fmla="*/ 0 h 345"/>
                <a:gd name="T6" fmla="*/ 0 w 270"/>
                <a:gd name="T7" fmla="*/ 0 h 345"/>
                <a:gd name="T8" fmla="*/ 0 w 270"/>
                <a:gd name="T9" fmla="*/ 0 h 345"/>
                <a:gd name="T10" fmla="*/ 0 w 270"/>
                <a:gd name="T11" fmla="*/ 0 h 345"/>
                <a:gd name="T12" fmla="*/ 0 w 270"/>
                <a:gd name="T13" fmla="*/ 0 h 345"/>
                <a:gd name="T14" fmla="*/ 0 w 270"/>
                <a:gd name="T15" fmla="*/ 0 h 345"/>
                <a:gd name="T16" fmla="*/ 0 w 270"/>
                <a:gd name="T17" fmla="*/ 0 h 345"/>
                <a:gd name="T18" fmla="*/ 0 w 270"/>
                <a:gd name="T19" fmla="*/ 0 h 345"/>
                <a:gd name="T20" fmla="*/ 0 w 270"/>
                <a:gd name="T21" fmla="*/ 0 h 345"/>
                <a:gd name="T22" fmla="*/ 0 w 270"/>
                <a:gd name="T23" fmla="*/ 0 h 345"/>
                <a:gd name="T24" fmla="*/ 0 w 270"/>
                <a:gd name="T25" fmla="*/ 0 h 345"/>
                <a:gd name="T26" fmla="*/ 0 w 270"/>
                <a:gd name="T27" fmla="*/ 0 h 345"/>
                <a:gd name="T28" fmla="*/ 0 w 270"/>
                <a:gd name="T29" fmla="*/ 0 h 345"/>
                <a:gd name="T30" fmla="*/ 0 w 270"/>
                <a:gd name="T31" fmla="*/ 0 h 345"/>
                <a:gd name="T32" fmla="*/ 0 w 270"/>
                <a:gd name="T33" fmla="*/ 0 h 34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270" h="345">
                  <a:moveTo>
                    <a:pt x="51" y="0"/>
                  </a:moveTo>
                  <a:lnTo>
                    <a:pt x="13" y="7"/>
                  </a:lnTo>
                  <a:lnTo>
                    <a:pt x="0" y="39"/>
                  </a:lnTo>
                  <a:lnTo>
                    <a:pt x="3" y="65"/>
                  </a:lnTo>
                  <a:lnTo>
                    <a:pt x="26" y="101"/>
                  </a:lnTo>
                  <a:lnTo>
                    <a:pt x="57" y="112"/>
                  </a:lnTo>
                  <a:lnTo>
                    <a:pt x="116" y="149"/>
                  </a:lnTo>
                  <a:lnTo>
                    <a:pt x="172" y="195"/>
                  </a:lnTo>
                  <a:lnTo>
                    <a:pt x="212" y="259"/>
                  </a:lnTo>
                  <a:lnTo>
                    <a:pt x="257" y="325"/>
                  </a:lnTo>
                  <a:lnTo>
                    <a:pt x="270" y="345"/>
                  </a:lnTo>
                  <a:lnTo>
                    <a:pt x="257" y="267"/>
                  </a:lnTo>
                  <a:lnTo>
                    <a:pt x="247" y="198"/>
                  </a:lnTo>
                  <a:lnTo>
                    <a:pt x="225" y="140"/>
                  </a:lnTo>
                  <a:lnTo>
                    <a:pt x="188" y="86"/>
                  </a:lnTo>
                  <a:lnTo>
                    <a:pt x="90" y="10"/>
                  </a:lnTo>
                  <a:lnTo>
                    <a:pt x="51"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7" name="Freeform 300"/>
            <p:cNvSpPr>
              <a:spLocks/>
            </p:cNvSpPr>
            <p:nvPr/>
          </p:nvSpPr>
          <p:spPr bwMode="auto">
            <a:xfrm>
              <a:off x="5494" y="1785"/>
              <a:ext cx="48" cy="34"/>
            </a:xfrm>
            <a:custGeom>
              <a:avLst/>
              <a:gdLst>
                <a:gd name="T0" fmla="*/ 0 w 287"/>
                <a:gd name="T1" fmla="*/ 0 h 199"/>
                <a:gd name="T2" fmla="*/ 0 w 287"/>
                <a:gd name="T3" fmla="*/ 0 h 199"/>
                <a:gd name="T4" fmla="*/ 0 w 287"/>
                <a:gd name="T5" fmla="*/ 0 h 199"/>
                <a:gd name="T6" fmla="*/ 0 w 287"/>
                <a:gd name="T7" fmla="*/ 0 h 199"/>
                <a:gd name="T8" fmla="*/ 0 w 287"/>
                <a:gd name="T9" fmla="*/ 0 h 199"/>
                <a:gd name="T10" fmla="*/ 0 w 287"/>
                <a:gd name="T11" fmla="*/ 0 h 199"/>
                <a:gd name="T12" fmla="*/ 0 w 287"/>
                <a:gd name="T13" fmla="*/ 0 h 199"/>
                <a:gd name="T14" fmla="*/ 0 w 287"/>
                <a:gd name="T15" fmla="*/ 0 h 199"/>
                <a:gd name="T16" fmla="*/ 0 w 287"/>
                <a:gd name="T17" fmla="*/ 0 h 199"/>
                <a:gd name="T18" fmla="*/ 0 w 287"/>
                <a:gd name="T19" fmla="*/ 0 h 19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87" h="199">
                  <a:moveTo>
                    <a:pt x="0" y="199"/>
                  </a:moveTo>
                  <a:lnTo>
                    <a:pt x="49" y="156"/>
                  </a:lnTo>
                  <a:lnTo>
                    <a:pt x="130" y="125"/>
                  </a:lnTo>
                  <a:lnTo>
                    <a:pt x="185" y="111"/>
                  </a:lnTo>
                  <a:lnTo>
                    <a:pt x="287" y="0"/>
                  </a:lnTo>
                  <a:lnTo>
                    <a:pt x="211" y="44"/>
                  </a:lnTo>
                  <a:lnTo>
                    <a:pt x="142" y="74"/>
                  </a:lnTo>
                  <a:lnTo>
                    <a:pt x="93" y="99"/>
                  </a:lnTo>
                  <a:lnTo>
                    <a:pt x="68" y="125"/>
                  </a:lnTo>
                  <a:lnTo>
                    <a:pt x="0" y="199"/>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8" name="Freeform 301"/>
            <p:cNvSpPr>
              <a:spLocks/>
            </p:cNvSpPr>
            <p:nvPr/>
          </p:nvSpPr>
          <p:spPr bwMode="auto">
            <a:xfrm>
              <a:off x="5458" y="1846"/>
              <a:ext cx="27" cy="86"/>
            </a:xfrm>
            <a:custGeom>
              <a:avLst/>
              <a:gdLst>
                <a:gd name="T0" fmla="*/ 0 w 162"/>
                <a:gd name="T1" fmla="*/ 0 h 514"/>
                <a:gd name="T2" fmla="*/ 0 w 162"/>
                <a:gd name="T3" fmla="*/ 0 h 514"/>
                <a:gd name="T4" fmla="*/ 0 w 162"/>
                <a:gd name="T5" fmla="*/ 0 h 514"/>
                <a:gd name="T6" fmla="*/ 0 w 162"/>
                <a:gd name="T7" fmla="*/ 0 h 514"/>
                <a:gd name="T8" fmla="*/ 0 w 162"/>
                <a:gd name="T9" fmla="*/ 0 h 514"/>
                <a:gd name="T10" fmla="*/ 0 w 162"/>
                <a:gd name="T11" fmla="*/ 0 h 514"/>
                <a:gd name="T12" fmla="*/ 0 w 162"/>
                <a:gd name="T13" fmla="*/ 0 h 514"/>
                <a:gd name="T14" fmla="*/ 0 w 162"/>
                <a:gd name="T15" fmla="*/ 0 h 514"/>
                <a:gd name="T16" fmla="*/ 0 w 162"/>
                <a:gd name="T17" fmla="*/ 0 h 514"/>
                <a:gd name="T18" fmla="*/ 0 w 162"/>
                <a:gd name="T19" fmla="*/ 0 h 514"/>
                <a:gd name="T20" fmla="*/ 0 w 162"/>
                <a:gd name="T21" fmla="*/ 0 h 514"/>
                <a:gd name="T22" fmla="*/ 0 w 162"/>
                <a:gd name="T23" fmla="*/ 0 h 514"/>
                <a:gd name="T24" fmla="*/ 0 w 162"/>
                <a:gd name="T25" fmla="*/ 0 h 514"/>
                <a:gd name="T26" fmla="*/ 0 w 162"/>
                <a:gd name="T27" fmla="*/ 0 h 514"/>
                <a:gd name="T28" fmla="*/ 0 w 162"/>
                <a:gd name="T29" fmla="*/ 0 h 514"/>
                <a:gd name="T30" fmla="*/ 0 w 162"/>
                <a:gd name="T31" fmla="*/ 0 h 514"/>
                <a:gd name="T32" fmla="*/ 0 w 162"/>
                <a:gd name="T33" fmla="*/ 0 h 514"/>
                <a:gd name="T34" fmla="*/ 0 w 162"/>
                <a:gd name="T35" fmla="*/ 0 h 514"/>
                <a:gd name="T36" fmla="*/ 0 w 162"/>
                <a:gd name="T37" fmla="*/ 0 h 514"/>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62" h="514">
                  <a:moveTo>
                    <a:pt x="0" y="514"/>
                  </a:moveTo>
                  <a:lnTo>
                    <a:pt x="81" y="514"/>
                  </a:lnTo>
                  <a:lnTo>
                    <a:pt x="106" y="508"/>
                  </a:lnTo>
                  <a:lnTo>
                    <a:pt x="106" y="489"/>
                  </a:lnTo>
                  <a:lnTo>
                    <a:pt x="124" y="470"/>
                  </a:lnTo>
                  <a:lnTo>
                    <a:pt x="150" y="451"/>
                  </a:lnTo>
                  <a:lnTo>
                    <a:pt x="137" y="433"/>
                  </a:lnTo>
                  <a:lnTo>
                    <a:pt x="137" y="407"/>
                  </a:lnTo>
                  <a:lnTo>
                    <a:pt x="156" y="376"/>
                  </a:lnTo>
                  <a:lnTo>
                    <a:pt x="156" y="344"/>
                  </a:lnTo>
                  <a:lnTo>
                    <a:pt x="144" y="306"/>
                  </a:lnTo>
                  <a:lnTo>
                    <a:pt x="144" y="224"/>
                  </a:lnTo>
                  <a:lnTo>
                    <a:pt x="162" y="150"/>
                  </a:lnTo>
                  <a:lnTo>
                    <a:pt x="156" y="94"/>
                  </a:lnTo>
                  <a:lnTo>
                    <a:pt x="156" y="0"/>
                  </a:lnTo>
                  <a:lnTo>
                    <a:pt x="106" y="142"/>
                  </a:lnTo>
                  <a:lnTo>
                    <a:pt x="62" y="275"/>
                  </a:lnTo>
                  <a:lnTo>
                    <a:pt x="32" y="419"/>
                  </a:lnTo>
                  <a:lnTo>
                    <a:pt x="0" y="514"/>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9" name="Freeform 302"/>
            <p:cNvSpPr>
              <a:spLocks/>
            </p:cNvSpPr>
            <p:nvPr/>
          </p:nvSpPr>
          <p:spPr bwMode="auto">
            <a:xfrm>
              <a:off x="5498" y="1939"/>
              <a:ext cx="48" cy="16"/>
            </a:xfrm>
            <a:custGeom>
              <a:avLst/>
              <a:gdLst>
                <a:gd name="T0" fmla="*/ 0 w 289"/>
                <a:gd name="T1" fmla="*/ 0 h 97"/>
                <a:gd name="T2" fmla="*/ 0 w 289"/>
                <a:gd name="T3" fmla="*/ 0 h 97"/>
                <a:gd name="T4" fmla="*/ 0 w 289"/>
                <a:gd name="T5" fmla="*/ 0 h 97"/>
                <a:gd name="T6" fmla="*/ 0 w 289"/>
                <a:gd name="T7" fmla="*/ 0 h 97"/>
                <a:gd name="T8" fmla="*/ 0 w 289"/>
                <a:gd name="T9" fmla="*/ 0 h 97"/>
                <a:gd name="T10" fmla="*/ 0 w 289"/>
                <a:gd name="T11" fmla="*/ 0 h 97"/>
                <a:gd name="T12" fmla="*/ 0 w 289"/>
                <a:gd name="T13" fmla="*/ 0 h 97"/>
                <a:gd name="T14" fmla="*/ 0 w 289"/>
                <a:gd name="T15" fmla="*/ 0 h 97"/>
                <a:gd name="T16" fmla="*/ 0 w 289"/>
                <a:gd name="T17" fmla="*/ 0 h 97"/>
                <a:gd name="T18" fmla="*/ 0 w 289"/>
                <a:gd name="T19" fmla="*/ 0 h 97"/>
                <a:gd name="T20" fmla="*/ 0 w 289"/>
                <a:gd name="T21" fmla="*/ 0 h 9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89" h="97">
                  <a:moveTo>
                    <a:pt x="232" y="47"/>
                  </a:moveTo>
                  <a:lnTo>
                    <a:pt x="168" y="19"/>
                  </a:lnTo>
                  <a:lnTo>
                    <a:pt x="110" y="4"/>
                  </a:lnTo>
                  <a:lnTo>
                    <a:pt x="32" y="0"/>
                  </a:lnTo>
                  <a:lnTo>
                    <a:pt x="0" y="6"/>
                  </a:lnTo>
                  <a:lnTo>
                    <a:pt x="15" y="37"/>
                  </a:lnTo>
                  <a:lnTo>
                    <a:pt x="45" y="61"/>
                  </a:lnTo>
                  <a:lnTo>
                    <a:pt x="113" y="79"/>
                  </a:lnTo>
                  <a:lnTo>
                    <a:pt x="219" y="97"/>
                  </a:lnTo>
                  <a:lnTo>
                    <a:pt x="289" y="91"/>
                  </a:lnTo>
                  <a:lnTo>
                    <a:pt x="232" y="4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0" name="Freeform 303"/>
            <p:cNvSpPr>
              <a:spLocks/>
            </p:cNvSpPr>
            <p:nvPr/>
          </p:nvSpPr>
          <p:spPr bwMode="auto">
            <a:xfrm>
              <a:off x="5458" y="1947"/>
              <a:ext cx="30" cy="36"/>
            </a:xfrm>
            <a:custGeom>
              <a:avLst/>
              <a:gdLst>
                <a:gd name="T0" fmla="*/ 0 w 176"/>
                <a:gd name="T1" fmla="*/ 0 h 216"/>
                <a:gd name="T2" fmla="*/ 0 w 176"/>
                <a:gd name="T3" fmla="*/ 0 h 216"/>
                <a:gd name="T4" fmla="*/ 0 w 176"/>
                <a:gd name="T5" fmla="*/ 0 h 216"/>
                <a:gd name="T6" fmla="*/ 0 w 176"/>
                <a:gd name="T7" fmla="*/ 0 h 216"/>
                <a:gd name="T8" fmla="*/ 0 w 176"/>
                <a:gd name="T9" fmla="*/ 0 h 216"/>
                <a:gd name="T10" fmla="*/ 0 w 176"/>
                <a:gd name="T11" fmla="*/ 0 h 216"/>
                <a:gd name="T12" fmla="*/ 0 w 176"/>
                <a:gd name="T13" fmla="*/ 0 h 216"/>
                <a:gd name="T14" fmla="*/ 0 w 176"/>
                <a:gd name="T15" fmla="*/ 0 h 216"/>
                <a:gd name="T16" fmla="*/ 0 w 176"/>
                <a:gd name="T17" fmla="*/ 0 h 216"/>
                <a:gd name="T18" fmla="*/ 0 w 176"/>
                <a:gd name="T19" fmla="*/ 0 h 216"/>
                <a:gd name="T20" fmla="*/ 0 w 176"/>
                <a:gd name="T21" fmla="*/ 0 h 216"/>
                <a:gd name="T22" fmla="*/ 0 w 176"/>
                <a:gd name="T23" fmla="*/ 0 h 216"/>
                <a:gd name="T24" fmla="*/ 0 w 176"/>
                <a:gd name="T25" fmla="*/ 0 h 21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6" h="216">
                  <a:moveTo>
                    <a:pt x="81" y="59"/>
                  </a:moveTo>
                  <a:lnTo>
                    <a:pt x="59" y="14"/>
                  </a:lnTo>
                  <a:lnTo>
                    <a:pt x="26" y="0"/>
                  </a:lnTo>
                  <a:lnTo>
                    <a:pt x="3" y="11"/>
                  </a:lnTo>
                  <a:lnTo>
                    <a:pt x="0" y="35"/>
                  </a:lnTo>
                  <a:lnTo>
                    <a:pt x="15" y="76"/>
                  </a:lnTo>
                  <a:lnTo>
                    <a:pt x="40" y="115"/>
                  </a:lnTo>
                  <a:lnTo>
                    <a:pt x="71" y="150"/>
                  </a:lnTo>
                  <a:lnTo>
                    <a:pt x="113" y="185"/>
                  </a:lnTo>
                  <a:lnTo>
                    <a:pt x="176" y="216"/>
                  </a:lnTo>
                  <a:lnTo>
                    <a:pt x="119" y="153"/>
                  </a:lnTo>
                  <a:lnTo>
                    <a:pt x="100" y="108"/>
                  </a:lnTo>
                  <a:lnTo>
                    <a:pt x="81" y="59"/>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1" name="Freeform 304"/>
            <p:cNvSpPr>
              <a:spLocks/>
            </p:cNvSpPr>
            <p:nvPr/>
          </p:nvSpPr>
          <p:spPr bwMode="auto">
            <a:xfrm>
              <a:off x="5506" y="1757"/>
              <a:ext cx="70" cy="44"/>
            </a:xfrm>
            <a:custGeom>
              <a:avLst/>
              <a:gdLst>
                <a:gd name="T0" fmla="*/ 0 w 418"/>
                <a:gd name="T1" fmla="*/ 0 h 260"/>
                <a:gd name="T2" fmla="*/ 0 w 418"/>
                <a:gd name="T3" fmla="*/ 0 h 260"/>
                <a:gd name="T4" fmla="*/ 0 w 418"/>
                <a:gd name="T5" fmla="*/ 0 h 260"/>
                <a:gd name="T6" fmla="*/ 0 w 418"/>
                <a:gd name="T7" fmla="*/ 0 h 260"/>
                <a:gd name="T8" fmla="*/ 0 w 418"/>
                <a:gd name="T9" fmla="*/ 0 h 260"/>
                <a:gd name="T10" fmla="*/ 0 w 418"/>
                <a:gd name="T11" fmla="*/ 0 h 260"/>
                <a:gd name="T12" fmla="*/ 0 w 418"/>
                <a:gd name="T13" fmla="*/ 0 h 260"/>
                <a:gd name="T14" fmla="*/ 0 w 418"/>
                <a:gd name="T15" fmla="*/ 0 h 260"/>
                <a:gd name="T16" fmla="*/ 0 w 418"/>
                <a:gd name="T17" fmla="*/ 0 h 260"/>
                <a:gd name="T18" fmla="*/ 0 w 418"/>
                <a:gd name="T19" fmla="*/ 0 h 260"/>
                <a:gd name="T20" fmla="*/ 0 w 418"/>
                <a:gd name="T21" fmla="*/ 0 h 260"/>
                <a:gd name="T22" fmla="*/ 0 w 418"/>
                <a:gd name="T23" fmla="*/ 0 h 26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418" h="260">
                  <a:moveTo>
                    <a:pt x="0" y="260"/>
                  </a:moveTo>
                  <a:lnTo>
                    <a:pt x="13" y="153"/>
                  </a:lnTo>
                  <a:lnTo>
                    <a:pt x="101" y="116"/>
                  </a:lnTo>
                  <a:lnTo>
                    <a:pt x="220" y="69"/>
                  </a:lnTo>
                  <a:lnTo>
                    <a:pt x="304" y="35"/>
                  </a:lnTo>
                  <a:lnTo>
                    <a:pt x="386" y="0"/>
                  </a:lnTo>
                  <a:lnTo>
                    <a:pt x="418" y="76"/>
                  </a:lnTo>
                  <a:lnTo>
                    <a:pt x="341" y="119"/>
                  </a:lnTo>
                  <a:lnTo>
                    <a:pt x="252" y="150"/>
                  </a:lnTo>
                  <a:lnTo>
                    <a:pt x="182" y="170"/>
                  </a:lnTo>
                  <a:lnTo>
                    <a:pt x="98" y="216"/>
                  </a:lnTo>
                  <a:lnTo>
                    <a:pt x="0" y="26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12" name="Group 305"/>
          <p:cNvGrpSpPr>
            <a:grpSpLocks/>
          </p:cNvGrpSpPr>
          <p:nvPr/>
        </p:nvGrpSpPr>
        <p:grpSpPr bwMode="auto">
          <a:xfrm>
            <a:off x="7199967" y="3333548"/>
            <a:ext cx="144954" cy="180263"/>
            <a:chOff x="5511" y="1960"/>
            <a:chExt cx="144" cy="194"/>
          </a:xfrm>
        </p:grpSpPr>
        <p:sp>
          <p:nvSpPr>
            <p:cNvPr id="313" name="Freeform 306"/>
            <p:cNvSpPr>
              <a:spLocks/>
            </p:cNvSpPr>
            <p:nvPr/>
          </p:nvSpPr>
          <p:spPr bwMode="auto">
            <a:xfrm>
              <a:off x="5511" y="1960"/>
              <a:ext cx="144" cy="194"/>
            </a:xfrm>
            <a:custGeom>
              <a:avLst/>
              <a:gdLst>
                <a:gd name="T0" fmla="*/ 0 w 863"/>
                <a:gd name="T1" fmla="*/ 0 h 1164"/>
                <a:gd name="T2" fmla="*/ 0 w 863"/>
                <a:gd name="T3" fmla="*/ 0 h 1164"/>
                <a:gd name="T4" fmla="*/ 0 w 863"/>
                <a:gd name="T5" fmla="*/ 0 h 1164"/>
                <a:gd name="T6" fmla="*/ 0 w 863"/>
                <a:gd name="T7" fmla="*/ 0 h 1164"/>
                <a:gd name="T8" fmla="*/ 0 w 863"/>
                <a:gd name="T9" fmla="*/ 0 h 1164"/>
                <a:gd name="T10" fmla="*/ 0 w 863"/>
                <a:gd name="T11" fmla="*/ 0 h 1164"/>
                <a:gd name="T12" fmla="*/ 0 w 863"/>
                <a:gd name="T13" fmla="*/ 0 h 1164"/>
                <a:gd name="T14" fmla="*/ 0 w 863"/>
                <a:gd name="T15" fmla="*/ 0 h 1164"/>
                <a:gd name="T16" fmla="*/ 0 w 863"/>
                <a:gd name="T17" fmla="*/ 0 h 1164"/>
                <a:gd name="T18" fmla="*/ 0 w 863"/>
                <a:gd name="T19" fmla="*/ 0 h 1164"/>
                <a:gd name="T20" fmla="*/ 0 w 863"/>
                <a:gd name="T21" fmla="*/ 0 h 1164"/>
                <a:gd name="T22" fmla="*/ 0 w 863"/>
                <a:gd name="T23" fmla="*/ 0 h 1164"/>
                <a:gd name="T24" fmla="*/ 0 w 863"/>
                <a:gd name="T25" fmla="*/ 0 h 1164"/>
                <a:gd name="T26" fmla="*/ 0 w 863"/>
                <a:gd name="T27" fmla="*/ 0 h 1164"/>
                <a:gd name="T28" fmla="*/ 0 w 863"/>
                <a:gd name="T29" fmla="*/ 0 h 1164"/>
                <a:gd name="T30" fmla="*/ 0 w 863"/>
                <a:gd name="T31" fmla="*/ 0 h 1164"/>
                <a:gd name="T32" fmla="*/ 0 w 863"/>
                <a:gd name="T33" fmla="*/ 0 h 1164"/>
                <a:gd name="T34" fmla="*/ 0 w 863"/>
                <a:gd name="T35" fmla="*/ 0 h 1164"/>
                <a:gd name="T36" fmla="*/ 0 w 863"/>
                <a:gd name="T37" fmla="*/ 0 h 1164"/>
                <a:gd name="T38" fmla="*/ 0 w 863"/>
                <a:gd name="T39" fmla="*/ 0 h 1164"/>
                <a:gd name="T40" fmla="*/ 0 w 863"/>
                <a:gd name="T41" fmla="*/ 0 h 1164"/>
                <a:gd name="T42" fmla="*/ 0 w 863"/>
                <a:gd name="T43" fmla="*/ 0 h 1164"/>
                <a:gd name="T44" fmla="*/ 0 w 863"/>
                <a:gd name="T45" fmla="*/ 0 h 1164"/>
                <a:gd name="T46" fmla="*/ 0 w 863"/>
                <a:gd name="T47" fmla="*/ 0 h 1164"/>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863" h="1164">
                  <a:moveTo>
                    <a:pt x="385" y="172"/>
                  </a:moveTo>
                  <a:lnTo>
                    <a:pt x="543" y="158"/>
                  </a:lnTo>
                  <a:lnTo>
                    <a:pt x="637" y="133"/>
                  </a:lnTo>
                  <a:lnTo>
                    <a:pt x="667" y="90"/>
                  </a:lnTo>
                  <a:lnTo>
                    <a:pt x="667" y="52"/>
                  </a:lnTo>
                  <a:lnTo>
                    <a:pt x="694" y="20"/>
                  </a:lnTo>
                  <a:lnTo>
                    <a:pt x="782" y="0"/>
                  </a:lnTo>
                  <a:lnTo>
                    <a:pt x="863" y="7"/>
                  </a:lnTo>
                  <a:lnTo>
                    <a:pt x="763" y="907"/>
                  </a:lnTo>
                  <a:lnTo>
                    <a:pt x="694" y="990"/>
                  </a:lnTo>
                  <a:lnTo>
                    <a:pt x="605" y="1071"/>
                  </a:lnTo>
                  <a:lnTo>
                    <a:pt x="481" y="1134"/>
                  </a:lnTo>
                  <a:lnTo>
                    <a:pt x="334" y="1153"/>
                  </a:lnTo>
                  <a:lnTo>
                    <a:pt x="138" y="1164"/>
                  </a:lnTo>
                  <a:lnTo>
                    <a:pt x="25" y="1147"/>
                  </a:lnTo>
                  <a:lnTo>
                    <a:pt x="0" y="1083"/>
                  </a:lnTo>
                  <a:lnTo>
                    <a:pt x="13" y="1001"/>
                  </a:lnTo>
                  <a:lnTo>
                    <a:pt x="95" y="750"/>
                  </a:lnTo>
                  <a:lnTo>
                    <a:pt x="163" y="499"/>
                  </a:lnTo>
                  <a:lnTo>
                    <a:pt x="195" y="310"/>
                  </a:lnTo>
                  <a:lnTo>
                    <a:pt x="195" y="259"/>
                  </a:lnTo>
                  <a:lnTo>
                    <a:pt x="239" y="190"/>
                  </a:lnTo>
                  <a:lnTo>
                    <a:pt x="291" y="172"/>
                  </a:lnTo>
                  <a:lnTo>
                    <a:pt x="385" y="172"/>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4" name="Freeform 307"/>
            <p:cNvSpPr>
              <a:spLocks/>
            </p:cNvSpPr>
            <p:nvPr/>
          </p:nvSpPr>
          <p:spPr bwMode="auto">
            <a:xfrm>
              <a:off x="5528" y="1970"/>
              <a:ext cx="124" cy="177"/>
            </a:xfrm>
            <a:custGeom>
              <a:avLst/>
              <a:gdLst>
                <a:gd name="T0" fmla="*/ 0 w 743"/>
                <a:gd name="T1" fmla="*/ 0 h 1068"/>
                <a:gd name="T2" fmla="*/ 0 w 743"/>
                <a:gd name="T3" fmla="*/ 0 h 1068"/>
                <a:gd name="T4" fmla="*/ 0 w 743"/>
                <a:gd name="T5" fmla="*/ 0 h 1068"/>
                <a:gd name="T6" fmla="*/ 0 w 743"/>
                <a:gd name="T7" fmla="*/ 0 h 1068"/>
                <a:gd name="T8" fmla="*/ 0 w 743"/>
                <a:gd name="T9" fmla="*/ 0 h 1068"/>
                <a:gd name="T10" fmla="*/ 0 w 743"/>
                <a:gd name="T11" fmla="*/ 0 h 1068"/>
                <a:gd name="T12" fmla="*/ 0 w 743"/>
                <a:gd name="T13" fmla="*/ 0 h 1068"/>
                <a:gd name="T14" fmla="*/ 0 w 743"/>
                <a:gd name="T15" fmla="*/ 0 h 1068"/>
                <a:gd name="T16" fmla="*/ 0 w 743"/>
                <a:gd name="T17" fmla="*/ 0 h 1068"/>
                <a:gd name="T18" fmla="*/ 0 w 743"/>
                <a:gd name="T19" fmla="*/ 0 h 1068"/>
                <a:gd name="T20" fmla="*/ 0 w 743"/>
                <a:gd name="T21" fmla="*/ 0 h 1068"/>
                <a:gd name="T22" fmla="*/ 0 w 743"/>
                <a:gd name="T23" fmla="*/ 0 h 1068"/>
                <a:gd name="T24" fmla="*/ 0 w 743"/>
                <a:gd name="T25" fmla="*/ 0 h 1068"/>
                <a:gd name="T26" fmla="*/ 0 w 743"/>
                <a:gd name="T27" fmla="*/ 0 h 1068"/>
                <a:gd name="T28" fmla="*/ 0 w 743"/>
                <a:gd name="T29" fmla="*/ 0 h 1068"/>
                <a:gd name="T30" fmla="*/ 0 w 743"/>
                <a:gd name="T31" fmla="*/ 0 h 1068"/>
                <a:gd name="T32" fmla="*/ 0 w 743"/>
                <a:gd name="T33" fmla="*/ 0 h 1068"/>
                <a:gd name="T34" fmla="*/ 0 w 743"/>
                <a:gd name="T35" fmla="*/ 0 h 1068"/>
                <a:gd name="T36" fmla="*/ 0 w 743"/>
                <a:gd name="T37" fmla="*/ 0 h 1068"/>
                <a:gd name="T38" fmla="*/ 0 w 743"/>
                <a:gd name="T39" fmla="*/ 0 h 1068"/>
                <a:gd name="T40" fmla="*/ 0 w 743"/>
                <a:gd name="T41" fmla="*/ 0 h 1068"/>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743" h="1068">
                  <a:moveTo>
                    <a:pt x="257" y="214"/>
                  </a:moveTo>
                  <a:lnTo>
                    <a:pt x="397" y="207"/>
                  </a:lnTo>
                  <a:lnTo>
                    <a:pt x="542" y="182"/>
                  </a:lnTo>
                  <a:lnTo>
                    <a:pt x="628" y="138"/>
                  </a:lnTo>
                  <a:lnTo>
                    <a:pt x="679" y="100"/>
                  </a:lnTo>
                  <a:lnTo>
                    <a:pt x="743" y="0"/>
                  </a:lnTo>
                  <a:lnTo>
                    <a:pt x="648" y="822"/>
                  </a:lnTo>
                  <a:lnTo>
                    <a:pt x="585" y="898"/>
                  </a:lnTo>
                  <a:lnTo>
                    <a:pt x="516" y="967"/>
                  </a:lnTo>
                  <a:lnTo>
                    <a:pt x="428" y="1016"/>
                  </a:lnTo>
                  <a:lnTo>
                    <a:pt x="353" y="1042"/>
                  </a:lnTo>
                  <a:lnTo>
                    <a:pt x="257" y="1055"/>
                  </a:lnTo>
                  <a:lnTo>
                    <a:pt x="170" y="1068"/>
                  </a:lnTo>
                  <a:lnTo>
                    <a:pt x="69" y="1068"/>
                  </a:lnTo>
                  <a:lnTo>
                    <a:pt x="24" y="1055"/>
                  </a:lnTo>
                  <a:lnTo>
                    <a:pt x="0" y="1016"/>
                  </a:lnTo>
                  <a:lnTo>
                    <a:pt x="11" y="956"/>
                  </a:lnTo>
                  <a:lnTo>
                    <a:pt x="75" y="809"/>
                  </a:lnTo>
                  <a:lnTo>
                    <a:pt x="184" y="321"/>
                  </a:lnTo>
                  <a:lnTo>
                    <a:pt x="201" y="252"/>
                  </a:lnTo>
                  <a:lnTo>
                    <a:pt x="257" y="21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15" name="Oval 308"/>
          <p:cNvSpPr>
            <a:spLocks noChangeArrowheads="1"/>
          </p:cNvSpPr>
          <p:nvPr/>
        </p:nvSpPr>
        <p:spPr bwMode="auto">
          <a:xfrm>
            <a:off x="6729874" y="3187665"/>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6" name="Oval 309"/>
          <p:cNvSpPr>
            <a:spLocks noChangeArrowheads="1"/>
          </p:cNvSpPr>
          <p:nvPr/>
        </p:nvSpPr>
        <p:spPr bwMode="auto">
          <a:xfrm>
            <a:off x="2763778" y="3028773"/>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317" name="Group 310"/>
          <p:cNvGrpSpPr>
            <a:grpSpLocks/>
          </p:cNvGrpSpPr>
          <p:nvPr/>
        </p:nvGrpSpPr>
        <p:grpSpPr bwMode="auto">
          <a:xfrm>
            <a:off x="3006374" y="3092887"/>
            <a:ext cx="289908" cy="267607"/>
            <a:chOff x="2351" y="2975"/>
            <a:chExt cx="481" cy="433"/>
          </a:xfrm>
          <a:effectLst/>
        </p:grpSpPr>
        <p:sp>
          <p:nvSpPr>
            <p:cNvPr id="318" name="Rectangle 311"/>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9" name="Line 312"/>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0" name="Line 313"/>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1" name="Line 314"/>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2" name="Line 315"/>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3" name="Line 316"/>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4" name="Line 317"/>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5" name="Line 318"/>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6" name="Line 319"/>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7" name="Group 320"/>
          <p:cNvGrpSpPr>
            <a:grpSpLocks/>
          </p:cNvGrpSpPr>
          <p:nvPr/>
        </p:nvGrpSpPr>
        <p:grpSpPr bwMode="auto">
          <a:xfrm>
            <a:off x="2939937" y="3416246"/>
            <a:ext cx="463047" cy="267607"/>
            <a:chOff x="1296" y="768"/>
            <a:chExt cx="556" cy="336"/>
          </a:xfrm>
          <a:effectLst/>
        </p:grpSpPr>
        <p:sp>
          <p:nvSpPr>
            <p:cNvPr id="328" name="Rectangle 321"/>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29" name="Group 322"/>
            <p:cNvGrpSpPr>
              <a:grpSpLocks/>
            </p:cNvGrpSpPr>
            <p:nvPr/>
          </p:nvGrpSpPr>
          <p:grpSpPr bwMode="auto">
            <a:xfrm>
              <a:off x="1367" y="829"/>
              <a:ext cx="393" cy="214"/>
              <a:chOff x="2928" y="3744"/>
              <a:chExt cx="528" cy="336"/>
            </a:xfrm>
          </p:grpSpPr>
          <p:grpSp>
            <p:nvGrpSpPr>
              <p:cNvPr id="330" name="Group 323"/>
              <p:cNvGrpSpPr>
                <a:grpSpLocks/>
              </p:cNvGrpSpPr>
              <p:nvPr/>
            </p:nvGrpSpPr>
            <p:grpSpPr bwMode="auto">
              <a:xfrm>
                <a:off x="3024" y="3744"/>
                <a:ext cx="432" cy="240"/>
                <a:chOff x="2736" y="3648"/>
                <a:chExt cx="432" cy="240"/>
              </a:xfrm>
            </p:grpSpPr>
            <p:grpSp>
              <p:nvGrpSpPr>
                <p:cNvPr id="345" name="Group 324"/>
                <p:cNvGrpSpPr>
                  <a:grpSpLocks/>
                </p:cNvGrpSpPr>
                <p:nvPr/>
              </p:nvGrpSpPr>
              <p:grpSpPr bwMode="auto">
                <a:xfrm>
                  <a:off x="2736" y="3648"/>
                  <a:ext cx="432" cy="240"/>
                  <a:chOff x="2592" y="3504"/>
                  <a:chExt cx="576" cy="384"/>
                </a:xfrm>
              </p:grpSpPr>
              <p:sp>
                <p:nvSpPr>
                  <p:cNvPr id="347" name="Rectangle 325"/>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8" name="Freeform 326"/>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9" name="Line 327"/>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0" name="Line 328"/>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6" name="Line 329"/>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1" name="Group 330"/>
              <p:cNvGrpSpPr>
                <a:grpSpLocks/>
              </p:cNvGrpSpPr>
              <p:nvPr/>
            </p:nvGrpSpPr>
            <p:grpSpPr bwMode="auto">
              <a:xfrm>
                <a:off x="2976" y="3792"/>
                <a:ext cx="432" cy="240"/>
                <a:chOff x="2736" y="3648"/>
                <a:chExt cx="432" cy="240"/>
              </a:xfrm>
            </p:grpSpPr>
            <p:grpSp>
              <p:nvGrpSpPr>
                <p:cNvPr id="339" name="Group 331"/>
                <p:cNvGrpSpPr>
                  <a:grpSpLocks/>
                </p:cNvGrpSpPr>
                <p:nvPr/>
              </p:nvGrpSpPr>
              <p:grpSpPr bwMode="auto">
                <a:xfrm>
                  <a:off x="2736" y="3648"/>
                  <a:ext cx="432" cy="240"/>
                  <a:chOff x="2592" y="3504"/>
                  <a:chExt cx="576" cy="384"/>
                </a:xfrm>
              </p:grpSpPr>
              <p:sp>
                <p:nvSpPr>
                  <p:cNvPr id="341" name="Rectangle 332"/>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2" name="Freeform 333"/>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3" name="Line 334"/>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4" name="Line 335"/>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0" name="Line 336"/>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2" name="Group 337"/>
              <p:cNvGrpSpPr>
                <a:grpSpLocks/>
              </p:cNvGrpSpPr>
              <p:nvPr/>
            </p:nvGrpSpPr>
            <p:grpSpPr bwMode="auto">
              <a:xfrm>
                <a:off x="2928" y="3840"/>
                <a:ext cx="432" cy="240"/>
                <a:chOff x="2736" y="3648"/>
                <a:chExt cx="432" cy="240"/>
              </a:xfrm>
            </p:grpSpPr>
            <p:grpSp>
              <p:nvGrpSpPr>
                <p:cNvPr id="333" name="Group 338"/>
                <p:cNvGrpSpPr>
                  <a:grpSpLocks/>
                </p:cNvGrpSpPr>
                <p:nvPr/>
              </p:nvGrpSpPr>
              <p:grpSpPr bwMode="auto">
                <a:xfrm>
                  <a:off x="2736" y="3648"/>
                  <a:ext cx="432" cy="240"/>
                  <a:chOff x="2592" y="3504"/>
                  <a:chExt cx="576" cy="384"/>
                </a:xfrm>
              </p:grpSpPr>
              <p:sp>
                <p:nvSpPr>
                  <p:cNvPr id="335" name="Rectangle 339"/>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36" name="Freeform 340"/>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7" name="Line 341"/>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8" name="Line 342"/>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34" name="Line 343"/>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sp>
        <p:nvSpPr>
          <p:cNvPr id="351" name="Freeform 344"/>
          <p:cNvSpPr>
            <a:spLocks/>
          </p:cNvSpPr>
          <p:nvPr/>
        </p:nvSpPr>
        <p:spPr bwMode="auto">
          <a:xfrm>
            <a:off x="2220201" y="3228550"/>
            <a:ext cx="785167" cy="290837"/>
          </a:xfrm>
          <a:custGeom>
            <a:avLst/>
            <a:gdLst>
              <a:gd name="T0" fmla="*/ 0 w 780"/>
              <a:gd name="T1" fmla="*/ 2147483646 h 313"/>
              <a:gd name="T2" fmla="*/ 2147483646 w 780"/>
              <a:gd name="T3" fmla="*/ 2147483646 h 313"/>
              <a:gd name="T4" fmla="*/ 2147483646 w 780"/>
              <a:gd name="T5" fmla="*/ 2147483646 h 313"/>
              <a:gd name="T6" fmla="*/ 2147483646 w 780"/>
              <a:gd name="T7" fmla="*/ 2147483646 h 313"/>
              <a:gd name="T8" fmla="*/ 2147483646 w 780"/>
              <a:gd name="T9" fmla="*/ 2147483646 h 313"/>
              <a:gd name="T10" fmla="*/ 2147483646 w 780"/>
              <a:gd name="T11" fmla="*/ 2147483646 h 313"/>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80" h="313">
                <a:moveTo>
                  <a:pt x="0" y="99"/>
                </a:moveTo>
                <a:cubicBezTo>
                  <a:pt x="38" y="85"/>
                  <a:pt x="154" y="26"/>
                  <a:pt x="228" y="13"/>
                </a:cubicBezTo>
                <a:cubicBezTo>
                  <a:pt x="302" y="0"/>
                  <a:pt x="385" y="10"/>
                  <a:pt x="444" y="19"/>
                </a:cubicBezTo>
                <a:cubicBezTo>
                  <a:pt x="503" y="28"/>
                  <a:pt x="534" y="34"/>
                  <a:pt x="582" y="67"/>
                </a:cubicBezTo>
                <a:cubicBezTo>
                  <a:pt x="630" y="100"/>
                  <a:pt x="699" y="176"/>
                  <a:pt x="732" y="217"/>
                </a:cubicBezTo>
                <a:cubicBezTo>
                  <a:pt x="765" y="258"/>
                  <a:pt x="768" y="289"/>
                  <a:pt x="780" y="313"/>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2" name="Freeform 345"/>
          <p:cNvSpPr>
            <a:spLocks/>
          </p:cNvSpPr>
          <p:nvPr/>
        </p:nvSpPr>
        <p:spPr bwMode="auto">
          <a:xfrm>
            <a:off x="3198639" y="2876385"/>
            <a:ext cx="2829619" cy="598399"/>
          </a:xfrm>
          <a:custGeom>
            <a:avLst/>
            <a:gdLst>
              <a:gd name="T0" fmla="*/ 0 w 2811"/>
              <a:gd name="T1" fmla="*/ 2147483646 h 644"/>
              <a:gd name="T2" fmla="*/ 2147483646 w 2811"/>
              <a:gd name="T3" fmla="*/ 2147483646 h 644"/>
              <a:gd name="T4" fmla="*/ 2147483646 w 2811"/>
              <a:gd name="T5" fmla="*/ 2147483646 h 644"/>
              <a:gd name="T6" fmla="*/ 2147483646 w 2811"/>
              <a:gd name="T7" fmla="*/ 2147483646 h 644"/>
              <a:gd name="T8" fmla="*/ 2147483646 w 2811"/>
              <a:gd name="T9" fmla="*/ 2147483646 h 644"/>
              <a:gd name="T10" fmla="*/ 2147483646 w 2811"/>
              <a:gd name="T11" fmla="*/ 2147483646 h 644"/>
              <a:gd name="T12" fmla="*/ 2147483646 w 2811"/>
              <a:gd name="T13" fmla="*/ 2147483646 h 64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811" h="644">
                <a:moveTo>
                  <a:pt x="0" y="644"/>
                </a:moveTo>
                <a:cubicBezTo>
                  <a:pt x="81" y="585"/>
                  <a:pt x="354" y="376"/>
                  <a:pt x="488" y="292"/>
                </a:cubicBezTo>
                <a:cubicBezTo>
                  <a:pt x="622" y="208"/>
                  <a:pt x="688" y="181"/>
                  <a:pt x="807" y="137"/>
                </a:cubicBezTo>
                <a:cubicBezTo>
                  <a:pt x="926" y="93"/>
                  <a:pt x="1051" y="49"/>
                  <a:pt x="1200" y="28"/>
                </a:cubicBezTo>
                <a:cubicBezTo>
                  <a:pt x="1349" y="7"/>
                  <a:pt x="1533" y="0"/>
                  <a:pt x="1704" y="12"/>
                </a:cubicBezTo>
                <a:cubicBezTo>
                  <a:pt x="1875" y="24"/>
                  <a:pt x="2042" y="45"/>
                  <a:pt x="2226" y="98"/>
                </a:cubicBezTo>
                <a:cubicBezTo>
                  <a:pt x="2410" y="151"/>
                  <a:pt x="2689" y="281"/>
                  <a:pt x="2811" y="32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3" name="Freeform 346"/>
          <p:cNvSpPr>
            <a:spLocks/>
          </p:cNvSpPr>
          <p:nvPr/>
        </p:nvSpPr>
        <p:spPr bwMode="auto">
          <a:xfrm>
            <a:off x="6090669" y="3048286"/>
            <a:ext cx="731815" cy="203493"/>
          </a:xfrm>
          <a:custGeom>
            <a:avLst/>
            <a:gdLst>
              <a:gd name="T0" fmla="*/ 0 w 727"/>
              <a:gd name="T1" fmla="*/ 2147483646 h 219"/>
              <a:gd name="T2" fmla="*/ 2147483646 w 727"/>
              <a:gd name="T3" fmla="*/ 2147483646 h 219"/>
              <a:gd name="T4" fmla="*/ 2147483646 w 727"/>
              <a:gd name="T5" fmla="*/ 2147483646 h 219"/>
              <a:gd name="T6" fmla="*/ 2147483646 w 727"/>
              <a:gd name="T7" fmla="*/ 2147483646 h 219"/>
              <a:gd name="T8" fmla="*/ 2147483646 w 727"/>
              <a:gd name="T9" fmla="*/ 2147483646 h 219"/>
              <a:gd name="T10" fmla="*/ 2147483646 w 727"/>
              <a:gd name="T11" fmla="*/ 2147483646 h 219"/>
              <a:gd name="T12" fmla="*/ 2147483646 w 727"/>
              <a:gd name="T13" fmla="*/ 2147483646 h 21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27" h="219">
                <a:moveTo>
                  <a:pt x="0" y="129"/>
                </a:moveTo>
                <a:cubicBezTo>
                  <a:pt x="24" y="114"/>
                  <a:pt x="107" y="58"/>
                  <a:pt x="145" y="38"/>
                </a:cubicBezTo>
                <a:cubicBezTo>
                  <a:pt x="183" y="18"/>
                  <a:pt x="202" y="15"/>
                  <a:pt x="229" y="9"/>
                </a:cubicBezTo>
                <a:cubicBezTo>
                  <a:pt x="256" y="3"/>
                  <a:pt x="282" y="3"/>
                  <a:pt x="307" y="3"/>
                </a:cubicBezTo>
                <a:cubicBezTo>
                  <a:pt x="332" y="3"/>
                  <a:pt x="353" y="0"/>
                  <a:pt x="382" y="6"/>
                </a:cubicBezTo>
                <a:cubicBezTo>
                  <a:pt x="411" y="12"/>
                  <a:pt x="423" y="3"/>
                  <a:pt x="481" y="39"/>
                </a:cubicBezTo>
                <a:cubicBezTo>
                  <a:pt x="539" y="75"/>
                  <a:pt x="676" y="182"/>
                  <a:pt x="727" y="21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4" name="Text Box 347"/>
          <p:cNvSpPr txBox="1">
            <a:spLocks noChangeArrowheads="1"/>
          </p:cNvSpPr>
          <p:nvPr/>
        </p:nvSpPr>
        <p:spPr bwMode="auto">
          <a:xfrm>
            <a:off x="4452133" y="268868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5" name="Text Box 348"/>
          <p:cNvSpPr txBox="1">
            <a:spLocks noChangeArrowheads="1"/>
          </p:cNvSpPr>
          <p:nvPr/>
        </p:nvSpPr>
        <p:spPr bwMode="auto">
          <a:xfrm>
            <a:off x="2363458" y="302133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6" name="Text Box 349"/>
          <p:cNvSpPr txBox="1">
            <a:spLocks noChangeArrowheads="1"/>
          </p:cNvSpPr>
          <p:nvPr/>
        </p:nvSpPr>
        <p:spPr bwMode="auto">
          <a:xfrm>
            <a:off x="6208592" y="281936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POP3</a:t>
            </a:r>
          </a:p>
        </p:txBody>
      </p:sp>
      <p:sp>
        <p:nvSpPr>
          <p:cNvPr id="357" name="Text Box 350"/>
          <p:cNvSpPr txBox="1">
            <a:spLocks noChangeArrowheads="1"/>
          </p:cNvSpPr>
          <p:nvPr/>
        </p:nvSpPr>
        <p:spPr bwMode="auto">
          <a:xfrm>
            <a:off x="3246958"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358" name="Line 351"/>
          <p:cNvSpPr>
            <a:spLocks noChangeShapeType="1"/>
          </p:cNvSpPr>
          <p:nvPr/>
        </p:nvSpPr>
        <p:spPr bwMode="auto">
          <a:xfrm flipH="1" flipV="1">
            <a:off x="6849663" y="3219256"/>
            <a:ext cx="85563" cy="67645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9" name="Line 352"/>
          <p:cNvSpPr>
            <a:spLocks noChangeShapeType="1"/>
          </p:cNvSpPr>
          <p:nvPr/>
        </p:nvSpPr>
        <p:spPr bwMode="auto">
          <a:xfrm flipV="1">
            <a:off x="2715460" y="3608588"/>
            <a:ext cx="386543" cy="356809"/>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0" name="Line 353"/>
          <p:cNvSpPr>
            <a:spLocks noChangeShapeType="1"/>
          </p:cNvSpPr>
          <p:nvPr/>
        </p:nvSpPr>
        <p:spPr bwMode="auto">
          <a:xfrm flipV="1">
            <a:off x="2119539" y="3330760"/>
            <a:ext cx="109722" cy="51291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1" name="Text Box 354"/>
          <p:cNvSpPr txBox="1">
            <a:spLocks noChangeArrowheads="1"/>
          </p:cNvSpPr>
          <p:nvPr/>
        </p:nvSpPr>
        <p:spPr bwMode="auto">
          <a:xfrm>
            <a:off x="1797420" y="3839482"/>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362" name="Text Box 355"/>
          <p:cNvSpPr txBox="1">
            <a:spLocks noChangeArrowheads="1"/>
          </p:cNvSpPr>
          <p:nvPr/>
        </p:nvSpPr>
        <p:spPr bwMode="auto">
          <a:xfrm>
            <a:off x="5421264" y="2611566"/>
            <a:ext cx="646331" cy="23083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用户邮箱</a:t>
            </a:r>
          </a:p>
        </p:txBody>
      </p:sp>
      <p:sp>
        <p:nvSpPr>
          <p:cNvPr id="363" name="Line 356"/>
          <p:cNvSpPr>
            <a:spLocks noChangeShapeType="1"/>
          </p:cNvSpPr>
          <p:nvPr/>
        </p:nvSpPr>
        <p:spPr bwMode="auto">
          <a:xfrm rot="10800000" flipH="1" flipV="1">
            <a:off x="5759489" y="2805767"/>
            <a:ext cx="278835" cy="26017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4" name="Text Box 357"/>
          <p:cNvSpPr txBox="1">
            <a:spLocks noChangeArrowheads="1"/>
          </p:cNvSpPr>
          <p:nvPr/>
        </p:nvSpPr>
        <p:spPr bwMode="auto">
          <a:xfrm>
            <a:off x="6898987" y="2789971"/>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p:txBody>
      </p:sp>
      <p:sp>
        <p:nvSpPr>
          <p:cNvPr id="365" name="Line 358"/>
          <p:cNvSpPr>
            <a:spLocks noChangeShapeType="1"/>
          </p:cNvSpPr>
          <p:nvPr/>
        </p:nvSpPr>
        <p:spPr bwMode="auto">
          <a:xfrm flipV="1">
            <a:off x="5517900" y="3761905"/>
            <a:ext cx="377484" cy="23601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6" name="Line 359"/>
          <p:cNvSpPr>
            <a:spLocks noChangeShapeType="1"/>
          </p:cNvSpPr>
          <p:nvPr/>
        </p:nvSpPr>
        <p:spPr bwMode="auto">
          <a:xfrm flipH="1" flipV="1">
            <a:off x="3295275" y="3786993"/>
            <a:ext cx="277828" cy="21743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7" name="Text Box 375"/>
          <p:cNvSpPr txBox="1">
            <a:spLocks noChangeArrowheads="1"/>
          </p:cNvSpPr>
          <p:nvPr/>
        </p:nvSpPr>
        <p:spPr bwMode="auto">
          <a:xfrm>
            <a:off x="2238321" y="2864306"/>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68" name="Text Box 376"/>
          <p:cNvSpPr txBox="1">
            <a:spLocks noChangeArrowheads="1"/>
          </p:cNvSpPr>
          <p:nvPr/>
        </p:nvSpPr>
        <p:spPr bwMode="auto">
          <a:xfrm>
            <a:off x="4248816" y="2525725"/>
            <a:ext cx="877163"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p>
        </p:txBody>
      </p:sp>
      <p:sp>
        <p:nvSpPr>
          <p:cNvPr id="369" name="Text Box 379"/>
          <p:cNvSpPr txBox="1">
            <a:spLocks noChangeArrowheads="1"/>
          </p:cNvSpPr>
          <p:nvPr/>
        </p:nvSpPr>
        <p:spPr bwMode="auto">
          <a:xfrm>
            <a:off x="6083622" y="2674751"/>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读取邮件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70" name="Text Box 384"/>
          <p:cNvSpPr txBox="1">
            <a:spLocks noChangeArrowheads="1"/>
          </p:cNvSpPr>
          <p:nvPr/>
        </p:nvSpPr>
        <p:spPr bwMode="auto">
          <a:xfrm>
            <a:off x="4364242" y="3331097"/>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互联网</a:t>
            </a:r>
          </a:p>
        </p:txBody>
      </p:sp>
      <p:sp>
        <p:nvSpPr>
          <p:cNvPr id="371" name="Rectangle 385"/>
          <p:cNvSpPr>
            <a:spLocks noChangeArrowheads="1"/>
          </p:cNvSpPr>
          <p:nvPr/>
        </p:nvSpPr>
        <p:spPr bwMode="auto">
          <a:xfrm>
            <a:off x="6814430" y="1445137"/>
            <a:ext cx="547603" cy="1011889"/>
          </a:xfrm>
          <a:prstGeom prst="rect">
            <a:avLst/>
          </a:prstGeom>
          <a:solidFill>
            <a:srgbClr val="00FFCC"/>
          </a:solidFill>
          <a:ln w="9525"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2" name="Rectangle 386"/>
          <p:cNvSpPr>
            <a:spLocks noChangeArrowheads="1"/>
          </p:cNvSpPr>
          <p:nvPr/>
        </p:nvSpPr>
        <p:spPr bwMode="auto">
          <a:xfrm>
            <a:off x="2842294" y="1438632"/>
            <a:ext cx="547603" cy="1018393"/>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3" name="Rectangle 387"/>
          <p:cNvSpPr>
            <a:spLocks noChangeArrowheads="1"/>
          </p:cNvSpPr>
          <p:nvPr/>
        </p:nvSpPr>
        <p:spPr bwMode="auto">
          <a:xfrm>
            <a:off x="1746082" y="1438632"/>
            <a:ext cx="547603" cy="1018393"/>
          </a:xfrm>
          <a:prstGeom prst="rect">
            <a:avLst/>
          </a:prstGeom>
          <a:solidFill>
            <a:srgbClr val="00FFCC"/>
          </a:solidFill>
          <a:ln w="9525">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4" name="Line 388"/>
          <p:cNvSpPr>
            <a:spLocks noChangeShapeType="1"/>
          </p:cNvSpPr>
          <p:nvPr/>
        </p:nvSpPr>
        <p:spPr bwMode="auto">
          <a:xfrm>
            <a:off x="2129605" y="1697876"/>
            <a:ext cx="757988"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75" name="Text Box 389"/>
          <p:cNvSpPr txBox="1">
            <a:spLocks noChangeArrowheads="1"/>
          </p:cNvSpPr>
          <p:nvPr/>
        </p:nvSpPr>
        <p:spPr bwMode="auto">
          <a:xfrm>
            <a:off x="2303061" y="1471491"/>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SMTP</a:t>
            </a:r>
          </a:p>
        </p:txBody>
      </p:sp>
      <p:sp>
        <p:nvSpPr>
          <p:cNvPr id="376" name="Text Box 390"/>
          <p:cNvSpPr txBox="1">
            <a:spLocks noChangeArrowheads="1"/>
          </p:cNvSpPr>
          <p:nvPr/>
        </p:nvSpPr>
        <p:spPr bwMode="auto">
          <a:xfrm>
            <a:off x="6268517" y="147069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POP3</a:t>
            </a:r>
          </a:p>
        </p:txBody>
      </p:sp>
      <p:sp>
        <p:nvSpPr>
          <p:cNvPr id="377" name="Text Box 391"/>
          <p:cNvSpPr txBox="1">
            <a:spLocks noChangeArrowheads="1"/>
          </p:cNvSpPr>
          <p:nvPr/>
        </p:nvSpPr>
        <p:spPr bwMode="auto">
          <a:xfrm>
            <a:off x="2319473" y="1178330"/>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78" name="Text Box 392"/>
          <p:cNvSpPr txBox="1">
            <a:spLocks noChangeArrowheads="1"/>
          </p:cNvSpPr>
          <p:nvPr/>
        </p:nvSpPr>
        <p:spPr bwMode="auto">
          <a:xfrm>
            <a:off x="3916093" y="1896419"/>
            <a:ext cx="1241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发送邮件 </a:t>
            </a:r>
            <a:r>
              <a:rPr kumimoji="1" lang="en-US" altLang="zh-CN" sz="1200" b="1" dirty="0">
                <a:solidFill>
                  <a:srgbClr val="C00000"/>
                </a:solidFill>
                <a:latin typeface="微软雅黑 Light" panose="020B0502040204020203" pitchFamily="34" charset="-122"/>
                <a:ea typeface="微软雅黑 Light" panose="020B0502040204020203" pitchFamily="34" charset="-122"/>
              </a:rPr>
              <a:t>SMTP</a:t>
            </a:r>
          </a:p>
        </p:txBody>
      </p:sp>
      <p:sp>
        <p:nvSpPr>
          <p:cNvPr id="379" name="Text Box 393"/>
          <p:cNvSpPr txBox="1">
            <a:spLocks noChangeArrowheads="1"/>
          </p:cNvSpPr>
          <p:nvPr/>
        </p:nvSpPr>
        <p:spPr bwMode="auto">
          <a:xfrm>
            <a:off x="6284273" y="119239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读取</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80" name="Text Box 394"/>
          <p:cNvSpPr txBox="1">
            <a:spLocks noChangeArrowheads="1"/>
          </p:cNvSpPr>
          <p:nvPr/>
        </p:nvSpPr>
        <p:spPr bwMode="auto">
          <a:xfrm>
            <a:off x="2330846" y="1717775"/>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1" name="Text Box 395"/>
          <p:cNvSpPr txBox="1">
            <a:spLocks noChangeArrowheads="1"/>
          </p:cNvSpPr>
          <p:nvPr/>
        </p:nvSpPr>
        <p:spPr bwMode="auto">
          <a:xfrm>
            <a:off x="6297159" y="170125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2" name="Text Box 396"/>
          <p:cNvSpPr txBox="1">
            <a:spLocks noChangeArrowheads="1"/>
          </p:cNvSpPr>
          <p:nvPr/>
        </p:nvSpPr>
        <p:spPr bwMode="auto">
          <a:xfrm>
            <a:off x="2736115"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3" name="Oval 397"/>
          <p:cNvSpPr>
            <a:spLocks noChangeArrowheads="1"/>
          </p:cNvSpPr>
          <p:nvPr/>
        </p:nvSpPr>
        <p:spPr bwMode="auto">
          <a:xfrm>
            <a:off x="1791380" y="1486950"/>
            <a:ext cx="456001"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4" name="Oval 398"/>
          <p:cNvSpPr>
            <a:spLocks noChangeArrowheads="1"/>
          </p:cNvSpPr>
          <p:nvPr/>
        </p:nvSpPr>
        <p:spPr bwMode="auto">
          <a:xfrm>
            <a:off x="6859729" y="1486950"/>
            <a:ext cx="456000"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5" name="Text Box 399"/>
          <p:cNvSpPr txBox="1">
            <a:spLocks noChangeArrowheads="1"/>
          </p:cNvSpPr>
          <p:nvPr/>
        </p:nvSpPr>
        <p:spPr bwMode="auto">
          <a:xfrm>
            <a:off x="1695592"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86" name="Text Box 400"/>
          <p:cNvSpPr txBox="1">
            <a:spLocks noChangeArrowheads="1"/>
          </p:cNvSpPr>
          <p:nvPr/>
        </p:nvSpPr>
        <p:spPr bwMode="auto">
          <a:xfrm>
            <a:off x="5621097"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7" name="Rectangle 401"/>
          <p:cNvSpPr>
            <a:spLocks noChangeArrowheads="1"/>
          </p:cNvSpPr>
          <p:nvPr/>
        </p:nvSpPr>
        <p:spPr bwMode="auto">
          <a:xfrm>
            <a:off x="5719224" y="1445137"/>
            <a:ext cx="547603" cy="101188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8" name="Oval 402"/>
          <p:cNvSpPr>
            <a:spLocks noChangeArrowheads="1"/>
          </p:cNvSpPr>
          <p:nvPr/>
        </p:nvSpPr>
        <p:spPr bwMode="auto">
          <a:xfrm>
            <a:off x="5764523" y="1950617"/>
            <a:ext cx="456000" cy="420923"/>
          </a:xfrm>
          <a:prstGeom prst="ellipse">
            <a:avLst/>
          </a:prstGeom>
          <a:solidFill>
            <a:schemeClr val="bg1"/>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89" name="Oval 403"/>
          <p:cNvSpPr>
            <a:spLocks noChangeArrowheads="1"/>
          </p:cNvSpPr>
          <p:nvPr/>
        </p:nvSpPr>
        <p:spPr bwMode="auto">
          <a:xfrm>
            <a:off x="5764523" y="1486950"/>
            <a:ext cx="456000" cy="420924"/>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0" name="Line 404"/>
          <p:cNvSpPr>
            <a:spLocks noChangeShapeType="1"/>
          </p:cNvSpPr>
          <p:nvPr/>
        </p:nvSpPr>
        <p:spPr bwMode="auto">
          <a:xfrm flipV="1">
            <a:off x="3298295" y="2161543"/>
            <a:ext cx="2465220"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1" name="Oval 405"/>
          <p:cNvSpPr>
            <a:spLocks noChangeArrowheads="1"/>
          </p:cNvSpPr>
          <p:nvPr/>
        </p:nvSpPr>
        <p:spPr bwMode="auto">
          <a:xfrm>
            <a:off x="2888599" y="1486950"/>
            <a:ext cx="456001" cy="420924"/>
          </a:xfrm>
          <a:prstGeom prst="ellipse">
            <a:avLst/>
          </a:prstGeom>
          <a:solidFill>
            <a:schemeClr val="bg1"/>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2" name="Oval 406"/>
          <p:cNvSpPr>
            <a:spLocks noChangeArrowheads="1"/>
          </p:cNvSpPr>
          <p:nvPr/>
        </p:nvSpPr>
        <p:spPr bwMode="auto">
          <a:xfrm>
            <a:off x="2888599" y="1950617"/>
            <a:ext cx="456001" cy="420923"/>
          </a:xfrm>
          <a:prstGeom prst="ellipse">
            <a:avLst/>
          </a:prstGeom>
          <a:solidFill>
            <a:srgbClr val="FFFF00"/>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93" name="Text Box 407"/>
          <p:cNvSpPr txBox="1">
            <a:spLocks noChangeArrowheads="1"/>
          </p:cNvSpPr>
          <p:nvPr/>
        </p:nvSpPr>
        <p:spPr bwMode="auto">
          <a:xfrm>
            <a:off x="6770220"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94" name="Line 408"/>
          <p:cNvSpPr>
            <a:spLocks noChangeShapeType="1"/>
          </p:cNvSpPr>
          <p:nvPr/>
        </p:nvSpPr>
        <p:spPr bwMode="auto">
          <a:xfrm flipV="1">
            <a:off x="6220523" y="1697876"/>
            <a:ext cx="639206"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5" name="Text Box 409"/>
          <p:cNvSpPr txBox="1">
            <a:spLocks noChangeArrowheads="1"/>
          </p:cNvSpPr>
          <p:nvPr/>
        </p:nvSpPr>
        <p:spPr bwMode="auto">
          <a:xfrm>
            <a:off x="4130961" y="2121283"/>
            <a:ext cx="83426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TCP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连接</a:t>
            </a:r>
          </a:p>
        </p:txBody>
      </p:sp>
      <p:sp>
        <p:nvSpPr>
          <p:cNvPr id="396" name="Text Box 399"/>
          <p:cNvSpPr txBox="1">
            <a:spLocks noChangeArrowheads="1"/>
          </p:cNvSpPr>
          <p:nvPr/>
        </p:nvSpPr>
        <p:spPr bwMode="auto">
          <a:xfrm>
            <a:off x="1096459" y="1081823"/>
            <a:ext cx="53091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发件人</a:t>
            </a:r>
          </a:p>
        </p:txBody>
      </p:sp>
      <p:grpSp>
        <p:nvGrpSpPr>
          <p:cNvPr id="254" name="Group 247"/>
          <p:cNvGrpSpPr>
            <a:grpSpLocks/>
          </p:cNvGrpSpPr>
          <p:nvPr/>
        </p:nvGrpSpPr>
        <p:grpSpPr bwMode="auto">
          <a:xfrm>
            <a:off x="6953345" y="3397662"/>
            <a:ext cx="350305" cy="144024"/>
            <a:chOff x="5266" y="2029"/>
            <a:chExt cx="348" cy="155"/>
          </a:xfrm>
        </p:grpSpPr>
        <p:sp>
          <p:nvSpPr>
            <p:cNvPr id="255" name="Freeform 248"/>
            <p:cNvSpPr>
              <a:spLocks/>
            </p:cNvSpPr>
            <p:nvPr/>
          </p:nvSpPr>
          <p:spPr bwMode="auto">
            <a:xfrm>
              <a:off x="5266" y="2029"/>
              <a:ext cx="348" cy="155"/>
            </a:xfrm>
            <a:custGeom>
              <a:avLst/>
              <a:gdLst>
                <a:gd name="T0" fmla="*/ 0 w 2091"/>
                <a:gd name="T1" fmla="*/ 0 h 931"/>
                <a:gd name="T2" fmla="*/ 0 w 2091"/>
                <a:gd name="T3" fmla="*/ 0 h 931"/>
                <a:gd name="T4" fmla="*/ 0 w 2091"/>
                <a:gd name="T5" fmla="*/ 0 h 931"/>
                <a:gd name="T6" fmla="*/ 0 w 2091"/>
                <a:gd name="T7" fmla="*/ 0 h 931"/>
                <a:gd name="T8" fmla="*/ 0 w 2091"/>
                <a:gd name="T9" fmla="*/ 0 h 931"/>
                <a:gd name="T10" fmla="*/ 0 w 2091"/>
                <a:gd name="T11" fmla="*/ 0 h 931"/>
                <a:gd name="T12" fmla="*/ 0 w 2091"/>
                <a:gd name="T13" fmla="*/ 0 h 931"/>
                <a:gd name="T14" fmla="*/ 0 w 2091"/>
                <a:gd name="T15" fmla="*/ 0 h 931"/>
                <a:gd name="T16" fmla="*/ 0 w 2091"/>
                <a:gd name="T17" fmla="*/ 0 h 931"/>
                <a:gd name="T18" fmla="*/ 0 w 2091"/>
                <a:gd name="T19" fmla="*/ 0 h 931"/>
                <a:gd name="T20" fmla="*/ 0 w 2091"/>
                <a:gd name="T21" fmla="*/ 0 h 931"/>
                <a:gd name="T22" fmla="*/ 0 w 2091"/>
                <a:gd name="T23" fmla="*/ 0 h 931"/>
                <a:gd name="T24" fmla="*/ 0 w 2091"/>
                <a:gd name="T25" fmla="*/ 0 h 931"/>
                <a:gd name="T26" fmla="*/ 0 w 2091"/>
                <a:gd name="T27" fmla="*/ 0 h 931"/>
                <a:gd name="T28" fmla="*/ 0 w 2091"/>
                <a:gd name="T29" fmla="*/ 0 h 931"/>
                <a:gd name="T30" fmla="*/ 0 w 2091"/>
                <a:gd name="T31" fmla="*/ 0 h 931"/>
                <a:gd name="T32" fmla="*/ 0 w 2091"/>
                <a:gd name="T33" fmla="*/ 0 h 931"/>
                <a:gd name="T34" fmla="*/ 0 w 2091"/>
                <a:gd name="T35" fmla="*/ 0 h 931"/>
                <a:gd name="T36" fmla="*/ 0 w 2091"/>
                <a:gd name="T37" fmla="*/ 0 h 931"/>
                <a:gd name="T38" fmla="*/ 0 w 2091"/>
                <a:gd name="T39" fmla="*/ 0 h 931"/>
                <a:gd name="T40" fmla="*/ 0 w 2091"/>
                <a:gd name="T41" fmla="*/ 0 h 931"/>
                <a:gd name="T42" fmla="*/ 0 w 2091"/>
                <a:gd name="T43" fmla="*/ 0 h 931"/>
                <a:gd name="T44" fmla="*/ 0 w 2091"/>
                <a:gd name="T45" fmla="*/ 0 h 931"/>
                <a:gd name="T46" fmla="*/ 0 w 2091"/>
                <a:gd name="T47" fmla="*/ 0 h 931"/>
                <a:gd name="T48" fmla="*/ 0 w 2091"/>
                <a:gd name="T49" fmla="*/ 0 h 931"/>
                <a:gd name="T50" fmla="*/ 0 w 2091"/>
                <a:gd name="T51" fmla="*/ 0 h 931"/>
                <a:gd name="T52" fmla="*/ 0 w 2091"/>
                <a:gd name="T53" fmla="*/ 0 h 931"/>
                <a:gd name="T54" fmla="*/ 0 w 2091"/>
                <a:gd name="T55" fmla="*/ 0 h 931"/>
                <a:gd name="T56" fmla="*/ 0 w 2091"/>
                <a:gd name="T57" fmla="*/ 0 h 931"/>
                <a:gd name="T58" fmla="*/ 0 w 2091"/>
                <a:gd name="T59" fmla="*/ 0 h 931"/>
                <a:gd name="T60" fmla="*/ 0 w 2091"/>
                <a:gd name="T61" fmla="*/ 0 h 931"/>
                <a:gd name="T62" fmla="*/ 0 w 2091"/>
                <a:gd name="T63" fmla="*/ 0 h 931"/>
                <a:gd name="T64" fmla="*/ 0 w 2091"/>
                <a:gd name="T65" fmla="*/ 0 h 931"/>
                <a:gd name="T66" fmla="*/ 0 w 2091"/>
                <a:gd name="T67" fmla="*/ 0 h 931"/>
                <a:gd name="T68" fmla="*/ 0 w 2091"/>
                <a:gd name="T69" fmla="*/ 0 h 931"/>
                <a:gd name="T70" fmla="*/ 0 w 2091"/>
                <a:gd name="T71" fmla="*/ 0 h 931"/>
                <a:gd name="T72" fmla="*/ 0 w 2091"/>
                <a:gd name="T73" fmla="*/ 0 h 931"/>
                <a:gd name="T74" fmla="*/ 0 w 2091"/>
                <a:gd name="T75" fmla="*/ 0 h 931"/>
                <a:gd name="T76" fmla="*/ 0 w 2091"/>
                <a:gd name="T77" fmla="*/ 0 h 931"/>
                <a:gd name="T78" fmla="*/ 0 w 2091"/>
                <a:gd name="T79" fmla="*/ 0 h 931"/>
                <a:gd name="T80" fmla="*/ 0 w 2091"/>
                <a:gd name="T81" fmla="*/ 0 h 931"/>
                <a:gd name="T82" fmla="*/ 0 w 2091"/>
                <a:gd name="T83" fmla="*/ 0 h 931"/>
                <a:gd name="T84" fmla="*/ 0 w 2091"/>
                <a:gd name="T85" fmla="*/ 0 h 931"/>
                <a:gd name="T86" fmla="*/ 0 w 2091"/>
                <a:gd name="T87" fmla="*/ 0 h 931"/>
                <a:gd name="T88" fmla="*/ 0 w 2091"/>
                <a:gd name="T89" fmla="*/ 0 h 931"/>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0" t="0" r="r" b="b"/>
              <a:pathLst>
                <a:path w="2091" h="931">
                  <a:moveTo>
                    <a:pt x="182" y="927"/>
                  </a:moveTo>
                  <a:lnTo>
                    <a:pt x="5" y="905"/>
                  </a:lnTo>
                  <a:lnTo>
                    <a:pt x="0" y="695"/>
                  </a:lnTo>
                  <a:lnTo>
                    <a:pt x="9" y="537"/>
                  </a:lnTo>
                  <a:lnTo>
                    <a:pt x="100" y="442"/>
                  </a:lnTo>
                  <a:lnTo>
                    <a:pt x="210" y="387"/>
                  </a:lnTo>
                  <a:lnTo>
                    <a:pt x="460" y="296"/>
                  </a:lnTo>
                  <a:lnTo>
                    <a:pt x="828" y="207"/>
                  </a:lnTo>
                  <a:lnTo>
                    <a:pt x="900" y="201"/>
                  </a:lnTo>
                  <a:lnTo>
                    <a:pt x="948" y="207"/>
                  </a:lnTo>
                  <a:lnTo>
                    <a:pt x="960" y="188"/>
                  </a:lnTo>
                  <a:lnTo>
                    <a:pt x="980" y="169"/>
                  </a:lnTo>
                  <a:lnTo>
                    <a:pt x="1003" y="173"/>
                  </a:lnTo>
                  <a:lnTo>
                    <a:pt x="1035" y="176"/>
                  </a:lnTo>
                  <a:lnTo>
                    <a:pt x="1049" y="138"/>
                  </a:lnTo>
                  <a:lnTo>
                    <a:pt x="1077" y="118"/>
                  </a:lnTo>
                  <a:lnTo>
                    <a:pt x="1106" y="112"/>
                  </a:lnTo>
                  <a:lnTo>
                    <a:pt x="1144" y="112"/>
                  </a:lnTo>
                  <a:lnTo>
                    <a:pt x="1138" y="82"/>
                  </a:lnTo>
                  <a:lnTo>
                    <a:pt x="1182" y="0"/>
                  </a:lnTo>
                  <a:lnTo>
                    <a:pt x="2040" y="22"/>
                  </a:lnTo>
                  <a:lnTo>
                    <a:pt x="2037" y="110"/>
                  </a:lnTo>
                  <a:lnTo>
                    <a:pt x="2053" y="188"/>
                  </a:lnTo>
                  <a:lnTo>
                    <a:pt x="2065" y="244"/>
                  </a:lnTo>
                  <a:lnTo>
                    <a:pt x="2080" y="314"/>
                  </a:lnTo>
                  <a:lnTo>
                    <a:pt x="2091" y="427"/>
                  </a:lnTo>
                  <a:lnTo>
                    <a:pt x="2077" y="494"/>
                  </a:lnTo>
                  <a:lnTo>
                    <a:pt x="2053" y="557"/>
                  </a:lnTo>
                  <a:lnTo>
                    <a:pt x="2023" y="610"/>
                  </a:lnTo>
                  <a:lnTo>
                    <a:pt x="1983" y="629"/>
                  </a:lnTo>
                  <a:lnTo>
                    <a:pt x="1921" y="648"/>
                  </a:lnTo>
                  <a:lnTo>
                    <a:pt x="1838" y="673"/>
                  </a:lnTo>
                  <a:lnTo>
                    <a:pt x="1801" y="717"/>
                  </a:lnTo>
                  <a:lnTo>
                    <a:pt x="1757" y="754"/>
                  </a:lnTo>
                  <a:lnTo>
                    <a:pt x="1686" y="786"/>
                  </a:lnTo>
                  <a:lnTo>
                    <a:pt x="1605" y="812"/>
                  </a:lnTo>
                  <a:lnTo>
                    <a:pt x="1475" y="827"/>
                  </a:lnTo>
                  <a:lnTo>
                    <a:pt x="1364" y="827"/>
                  </a:lnTo>
                  <a:lnTo>
                    <a:pt x="1279" y="818"/>
                  </a:lnTo>
                  <a:lnTo>
                    <a:pt x="1202" y="812"/>
                  </a:lnTo>
                  <a:lnTo>
                    <a:pt x="1144" y="843"/>
                  </a:lnTo>
                  <a:lnTo>
                    <a:pt x="1031" y="837"/>
                  </a:lnTo>
                  <a:lnTo>
                    <a:pt x="582" y="901"/>
                  </a:lnTo>
                  <a:lnTo>
                    <a:pt x="386" y="931"/>
                  </a:lnTo>
                  <a:lnTo>
                    <a:pt x="182" y="927"/>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6" name="Freeform 249"/>
            <p:cNvSpPr>
              <a:spLocks/>
            </p:cNvSpPr>
            <p:nvPr/>
          </p:nvSpPr>
          <p:spPr bwMode="auto">
            <a:xfrm>
              <a:off x="5268" y="2043"/>
              <a:ext cx="342" cy="138"/>
            </a:xfrm>
            <a:custGeom>
              <a:avLst/>
              <a:gdLst>
                <a:gd name="T0" fmla="*/ 0 w 2049"/>
                <a:gd name="T1" fmla="*/ 0 h 829"/>
                <a:gd name="T2" fmla="*/ 0 w 2049"/>
                <a:gd name="T3" fmla="*/ 0 h 829"/>
                <a:gd name="T4" fmla="*/ 0 w 2049"/>
                <a:gd name="T5" fmla="*/ 0 h 829"/>
                <a:gd name="T6" fmla="*/ 0 w 2049"/>
                <a:gd name="T7" fmla="*/ 0 h 829"/>
                <a:gd name="T8" fmla="*/ 0 w 2049"/>
                <a:gd name="T9" fmla="*/ 0 h 829"/>
                <a:gd name="T10" fmla="*/ 0 w 2049"/>
                <a:gd name="T11" fmla="*/ 0 h 829"/>
                <a:gd name="T12" fmla="*/ 0 w 2049"/>
                <a:gd name="T13" fmla="*/ 0 h 829"/>
                <a:gd name="T14" fmla="*/ 0 w 2049"/>
                <a:gd name="T15" fmla="*/ 0 h 829"/>
                <a:gd name="T16" fmla="*/ 0 w 2049"/>
                <a:gd name="T17" fmla="*/ 0 h 829"/>
                <a:gd name="T18" fmla="*/ 0 w 2049"/>
                <a:gd name="T19" fmla="*/ 0 h 829"/>
                <a:gd name="T20" fmla="*/ 0 w 2049"/>
                <a:gd name="T21" fmla="*/ 0 h 829"/>
                <a:gd name="T22" fmla="*/ 0 w 2049"/>
                <a:gd name="T23" fmla="*/ 0 h 829"/>
                <a:gd name="T24" fmla="*/ 0 w 2049"/>
                <a:gd name="T25" fmla="*/ 0 h 829"/>
                <a:gd name="T26" fmla="*/ 0 w 2049"/>
                <a:gd name="T27" fmla="*/ 0 h 829"/>
                <a:gd name="T28" fmla="*/ 0 w 2049"/>
                <a:gd name="T29" fmla="*/ 0 h 829"/>
                <a:gd name="T30" fmla="*/ 0 w 2049"/>
                <a:gd name="T31" fmla="*/ 0 h 829"/>
                <a:gd name="T32" fmla="*/ 0 w 2049"/>
                <a:gd name="T33" fmla="*/ 0 h 829"/>
                <a:gd name="T34" fmla="*/ 0 w 2049"/>
                <a:gd name="T35" fmla="*/ 0 h 829"/>
                <a:gd name="T36" fmla="*/ 0 w 2049"/>
                <a:gd name="T37" fmla="*/ 0 h 829"/>
                <a:gd name="T38" fmla="*/ 0 w 2049"/>
                <a:gd name="T39" fmla="*/ 0 h 829"/>
                <a:gd name="T40" fmla="*/ 0 w 2049"/>
                <a:gd name="T41" fmla="*/ 0 h 829"/>
                <a:gd name="T42" fmla="*/ 0 w 2049"/>
                <a:gd name="T43" fmla="*/ 0 h 829"/>
                <a:gd name="T44" fmla="*/ 0 w 2049"/>
                <a:gd name="T45" fmla="*/ 0 h 829"/>
                <a:gd name="T46" fmla="*/ 0 w 2049"/>
                <a:gd name="T47" fmla="*/ 0 h 829"/>
                <a:gd name="T48" fmla="*/ 0 w 2049"/>
                <a:gd name="T49" fmla="*/ 0 h 829"/>
                <a:gd name="T50" fmla="*/ 0 w 2049"/>
                <a:gd name="T51" fmla="*/ 0 h 829"/>
                <a:gd name="T52" fmla="*/ 0 w 2049"/>
                <a:gd name="T53" fmla="*/ 0 h 829"/>
                <a:gd name="T54" fmla="*/ 0 w 2049"/>
                <a:gd name="T55" fmla="*/ 0 h 829"/>
                <a:gd name="T56" fmla="*/ 0 w 2049"/>
                <a:gd name="T57" fmla="*/ 0 h 829"/>
                <a:gd name="T58" fmla="*/ 0 w 2049"/>
                <a:gd name="T59" fmla="*/ 0 h 829"/>
                <a:gd name="T60" fmla="*/ 0 w 2049"/>
                <a:gd name="T61" fmla="*/ 0 h 829"/>
                <a:gd name="T62" fmla="*/ 0 w 2049"/>
                <a:gd name="T63" fmla="*/ 0 h 829"/>
                <a:gd name="T64" fmla="*/ 0 w 2049"/>
                <a:gd name="T65" fmla="*/ 0 h 829"/>
                <a:gd name="T66" fmla="*/ 0 w 2049"/>
                <a:gd name="T67" fmla="*/ 0 h 829"/>
                <a:gd name="T68" fmla="*/ 0 w 2049"/>
                <a:gd name="T69" fmla="*/ 0 h 829"/>
                <a:gd name="T70" fmla="*/ 0 w 2049"/>
                <a:gd name="T71" fmla="*/ 0 h 829"/>
                <a:gd name="T72" fmla="*/ 0 w 2049"/>
                <a:gd name="T73" fmla="*/ 0 h 829"/>
                <a:gd name="T74" fmla="*/ 0 w 2049"/>
                <a:gd name="T75" fmla="*/ 0 h 829"/>
                <a:gd name="T76" fmla="*/ 0 w 2049"/>
                <a:gd name="T77" fmla="*/ 0 h 829"/>
                <a:gd name="T78" fmla="*/ 0 w 2049"/>
                <a:gd name="T79" fmla="*/ 0 h 829"/>
                <a:gd name="T80" fmla="*/ 0 w 2049"/>
                <a:gd name="T81" fmla="*/ 0 h 829"/>
                <a:gd name="T82" fmla="*/ 0 w 2049"/>
                <a:gd name="T83" fmla="*/ 0 h 829"/>
                <a:gd name="T84" fmla="*/ 0 w 2049"/>
                <a:gd name="T85" fmla="*/ 0 h 829"/>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0" t="0" r="r" b="b"/>
              <a:pathLst>
                <a:path w="2049" h="829">
                  <a:moveTo>
                    <a:pt x="1982" y="31"/>
                  </a:moveTo>
                  <a:lnTo>
                    <a:pt x="1986" y="90"/>
                  </a:lnTo>
                  <a:lnTo>
                    <a:pt x="2010" y="67"/>
                  </a:lnTo>
                  <a:lnTo>
                    <a:pt x="2037" y="199"/>
                  </a:lnTo>
                  <a:lnTo>
                    <a:pt x="2049" y="353"/>
                  </a:lnTo>
                  <a:lnTo>
                    <a:pt x="1995" y="512"/>
                  </a:lnTo>
                  <a:lnTo>
                    <a:pt x="1868" y="549"/>
                  </a:lnTo>
                  <a:lnTo>
                    <a:pt x="1882" y="512"/>
                  </a:lnTo>
                  <a:lnTo>
                    <a:pt x="1814" y="567"/>
                  </a:lnTo>
                  <a:lnTo>
                    <a:pt x="1754" y="624"/>
                  </a:lnTo>
                  <a:lnTo>
                    <a:pt x="1622" y="688"/>
                  </a:lnTo>
                  <a:lnTo>
                    <a:pt x="1460" y="701"/>
                  </a:lnTo>
                  <a:lnTo>
                    <a:pt x="1264" y="710"/>
                  </a:lnTo>
                  <a:lnTo>
                    <a:pt x="1181" y="701"/>
                  </a:lnTo>
                  <a:lnTo>
                    <a:pt x="1255" y="669"/>
                  </a:lnTo>
                  <a:lnTo>
                    <a:pt x="1287" y="589"/>
                  </a:lnTo>
                  <a:lnTo>
                    <a:pt x="1228" y="656"/>
                  </a:lnTo>
                  <a:lnTo>
                    <a:pt x="1155" y="697"/>
                  </a:lnTo>
                  <a:lnTo>
                    <a:pt x="1086" y="733"/>
                  </a:lnTo>
                  <a:lnTo>
                    <a:pt x="1017" y="724"/>
                  </a:lnTo>
                  <a:lnTo>
                    <a:pt x="1063" y="692"/>
                  </a:lnTo>
                  <a:lnTo>
                    <a:pt x="1109" y="652"/>
                  </a:lnTo>
                  <a:lnTo>
                    <a:pt x="1036" y="678"/>
                  </a:lnTo>
                  <a:lnTo>
                    <a:pt x="963" y="733"/>
                  </a:lnTo>
                  <a:lnTo>
                    <a:pt x="726" y="761"/>
                  </a:lnTo>
                  <a:lnTo>
                    <a:pt x="491" y="797"/>
                  </a:lnTo>
                  <a:lnTo>
                    <a:pt x="409" y="793"/>
                  </a:lnTo>
                  <a:lnTo>
                    <a:pt x="495" y="742"/>
                  </a:lnTo>
                  <a:lnTo>
                    <a:pt x="581" y="724"/>
                  </a:lnTo>
                  <a:lnTo>
                    <a:pt x="486" y="720"/>
                  </a:lnTo>
                  <a:lnTo>
                    <a:pt x="414" y="752"/>
                  </a:lnTo>
                  <a:lnTo>
                    <a:pt x="319" y="815"/>
                  </a:lnTo>
                  <a:lnTo>
                    <a:pt x="386" y="720"/>
                  </a:lnTo>
                  <a:lnTo>
                    <a:pt x="473" y="669"/>
                  </a:lnTo>
                  <a:lnTo>
                    <a:pt x="359" y="692"/>
                  </a:lnTo>
                  <a:lnTo>
                    <a:pt x="300" y="765"/>
                  </a:lnTo>
                  <a:lnTo>
                    <a:pt x="287" y="829"/>
                  </a:lnTo>
                  <a:lnTo>
                    <a:pt x="214" y="742"/>
                  </a:lnTo>
                  <a:lnTo>
                    <a:pt x="140" y="701"/>
                  </a:lnTo>
                  <a:lnTo>
                    <a:pt x="182" y="746"/>
                  </a:lnTo>
                  <a:lnTo>
                    <a:pt x="241" y="829"/>
                  </a:lnTo>
                  <a:lnTo>
                    <a:pt x="59" y="793"/>
                  </a:lnTo>
                  <a:lnTo>
                    <a:pt x="23" y="778"/>
                  </a:lnTo>
                  <a:lnTo>
                    <a:pt x="0" y="674"/>
                  </a:lnTo>
                  <a:lnTo>
                    <a:pt x="13" y="530"/>
                  </a:lnTo>
                  <a:lnTo>
                    <a:pt x="40" y="435"/>
                  </a:lnTo>
                  <a:lnTo>
                    <a:pt x="155" y="362"/>
                  </a:lnTo>
                  <a:lnTo>
                    <a:pt x="296" y="298"/>
                  </a:lnTo>
                  <a:lnTo>
                    <a:pt x="572" y="207"/>
                  </a:lnTo>
                  <a:lnTo>
                    <a:pt x="795" y="145"/>
                  </a:lnTo>
                  <a:lnTo>
                    <a:pt x="917" y="135"/>
                  </a:lnTo>
                  <a:lnTo>
                    <a:pt x="968" y="207"/>
                  </a:lnTo>
                  <a:lnTo>
                    <a:pt x="1123" y="285"/>
                  </a:lnTo>
                  <a:lnTo>
                    <a:pt x="1040" y="217"/>
                  </a:lnTo>
                  <a:lnTo>
                    <a:pt x="977" y="182"/>
                  </a:lnTo>
                  <a:lnTo>
                    <a:pt x="953" y="131"/>
                  </a:lnTo>
                  <a:lnTo>
                    <a:pt x="963" y="108"/>
                  </a:lnTo>
                  <a:lnTo>
                    <a:pt x="1008" y="108"/>
                  </a:lnTo>
                  <a:lnTo>
                    <a:pt x="1036" y="135"/>
                  </a:lnTo>
                  <a:lnTo>
                    <a:pt x="1063" y="163"/>
                  </a:lnTo>
                  <a:lnTo>
                    <a:pt x="1132" y="190"/>
                  </a:lnTo>
                  <a:lnTo>
                    <a:pt x="1068" y="135"/>
                  </a:lnTo>
                  <a:lnTo>
                    <a:pt x="1040" y="95"/>
                  </a:lnTo>
                  <a:lnTo>
                    <a:pt x="1059" y="67"/>
                  </a:lnTo>
                  <a:lnTo>
                    <a:pt x="1113" y="50"/>
                  </a:lnTo>
                  <a:lnTo>
                    <a:pt x="1186" y="113"/>
                  </a:lnTo>
                  <a:lnTo>
                    <a:pt x="1255" y="154"/>
                  </a:lnTo>
                  <a:lnTo>
                    <a:pt x="1173" y="63"/>
                  </a:lnTo>
                  <a:lnTo>
                    <a:pt x="1145" y="27"/>
                  </a:lnTo>
                  <a:lnTo>
                    <a:pt x="1145" y="0"/>
                  </a:lnTo>
                  <a:lnTo>
                    <a:pt x="1213" y="10"/>
                  </a:lnTo>
                  <a:lnTo>
                    <a:pt x="1277" y="54"/>
                  </a:lnTo>
                  <a:lnTo>
                    <a:pt x="1319" y="86"/>
                  </a:lnTo>
                  <a:lnTo>
                    <a:pt x="1514" y="104"/>
                  </a:lnTo>
                  <a:lnTo>
                    <a:pt x="1508" y="54"/>
                  </a:lnTo>
                  <a:lnTo>
                    <a:pt x="1567" y="35"/>
                  </a:lnTo>
                  <a:lnTo>
                    <a:pt x="1567" y="99"/>
                  </a:lnTo>
                  <a:lnTo>
                    <a:pt x="1626" y="113"/>
                  </a:lnTo>
                  <a:lnTo>
                    <a:pt x="1754" y="131"/>
                  </a:lnTo>
                  <a:lnTo>
                    <a:pt x="1745" y="63"/>
                  </a:lnTo>
                  <a:lnTo>
                    <a:pt x="1790" y="63"/>
                  </a:lnTo>
                  <a:lnTo>
                    <a:pt x="1795" y="131"/>
                  </a:lnTo>
                  <a:lnTo>
                    <a:pt x="1868" y="127"/>
                  </a:lnTo>
                  <a:lnTo>
                    <a:pt x="1946" y="108"/>
                  </a:lnTo>
                  <a:lnTo>
                    <a:pt x="1950" y="54"/>
                  </a:lnTo>
                  <a:lnTo>
                    <a:pt x="1982"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7" name="Freeform 250"/>
            <p:cNvSpPr>
              <a:spLocks/>
            </p:cNvSpPr>
            <p:nvPr/>
          </p:nvSpPr>
          <p:spPr bwMode="auto">
            <a:xfrm>
              <a:off x="5515" y="2093"/>
              <a:ext cx="47" cy="8"/>
            </a:xfrm>
            <a:custGeom>
              <a:avLst/>
              <a:gdLst>
                <a:gd name="T0" fmla="*/ 0 w 280"/>
                <a:gd name="T1" fmla="*/ 0 h 48"/>
                <a:gd name="T2" fmla="*/ 0 w 280"/>
                <a:gd name="T3" fmla="*/ 0 h 48"/>
                <a:gd name="T4" fmla="*/ 0 w 280"/>
                <a:gd name="T5" fmla="*/ 0 h 48"/>
                <a:gd name="T6" fmla="*/ 0 w 280"/>
                <a:gd name="T7" fmla="*/ 0 h 4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80" h="48">
                  <a:moveTo>
                    <a:pt x="280" y="0"/>
                  </a:moveTo>
                  <a:lnTo>
                    <a:pt x="149" y="48"/>
                  </a:lnTo>
                  <a:lnTo>
                    <a:pt x="0" y="35"/>
                  </a:lnTo>
                  <a:lnTo>
                    <a:pt x="28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8" name="Freeform 251"/>
            <p:cNvSpPr>
              <a:spLocks/>
            </p:cNvSpPr>
            <p:nvPr/>
          </p:nvSpPr>
          <p:spPr bwMode="auto">
            <a:xfrm>
              <a:off x="5580" y="2080"/>
              <a:ext cx="28" cy="10"/>
            </a:xfrm>
            <a:custGeom>
              <a:avLst/>
              <a:gdLst>
                <a:gd name="T0" fmla="*/ 0 w 170"/>
                <a:gd name="T1" fmla="*/ 0 h 57"/>
                <a:gd name="T2" fmla="*/ 0 w 170"/>
                <a:gd name="T3" fmla="*/ 0 h 57"/>
                <a:gd name="T4" fmla="*/ 0 w 170"/>
                <a:gd name="T5" fmla="*/ 0 h 57"/>
                <a:gd name="T6" fmla="*/ 0 w 170"/>
                <a:gd name="T7" fmla="*/ 0 h 57"/>
                <a:gd name="T8" fmla="*/ 0 w 170"/>
                <a:gd name="T9" fmla="*/ 0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0" h="57">
                  <a:moveTo>
                    <a:pt x="170" y="0"/>
                  </a:moveTo>
                  <a:lnTo>
                    <a:pt x="125" y="35"/>
                  </a:lnTo>
                  <a:lnTo>
                    <a:pt x="0" y="53"/>
                  </a:lnTo>
                  <a:lnTo>
                    <a:pt x="130" y="57"/>
                  </a:lnTo>
                  <a:lnTo>
                    <a:pt x="17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9" name="Freeform 252"/>
            <p:cNvSpPr>
              <a:spLocks/>
            </p:cNvSpPr>
            <p:nvPr/>
          </p:nvSpPr>
          <p:spPr bwMode="auto">
            <a:xfrm>
              <a:off x="5445" y="2073"/>
              <a:ext cx="44" cy="24"/>
            </a:xfrm>
            <a:custGeom>
              <a:avLst/>
              <a:gdLst>
                <a:gd name="T0" fmla="*/ 0 w 263"/>
                <a:gd name="T1" fmla="*/ 0 h 143"/>
                <a:gd name="T2" fmla="*/ 0 w 263"/>
                <a:gd name="T3" fmla="*/ 0 h 143"/>
                <a:gd name="T4" fmla="*/ 0 w 263"/>
                <a:gd name="T5" fmla="*/ 0 h 143"/>
                <a:gd name="T6" fmla="*/ 0 w 263"/>
                <a:gd name="T7" fmla="*/ 0 h 143"/>
                <a:gd name="T8" fmla="*/ 0 w 263"/>
                <a:gd name="T9" fmla="*/ 0 h 143"/>
                <a:gd name="T10" fmla="*/ 0 w 263"/>
                <a:gd name="T11" fmla="*/ 0 h 143"/>
                <a:gd name="T12" fmla="*/ 0 w 263"/>
                <a:gd name="T13" fmla="*/ 0 h 143"/>
                <a:gd name="T14" fmla="*/ 0 w 263"/>
                <a:gd name="T15" fmla="*/ 0 h 143"/>
                <a:gd name="T16" fmla="*/ 0 w 263"/>
                <a:gd name="T17" fmla="*/ 0 h 143"/>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263" h="143">
                  <a:moveTo>
                    <a:pt x="263" y="0"/>
                  </a:moveTo>
                  <a:lnTo>
                    <a:pt x="145" y="13"/>
                  </a:lnTo>
                  <a:lnTo>
                    <a:pt x="122" y="31"/>
                  </a:lnTo>
                  <a:lnTo>
                    <a:pt x="122" y="76"/>
                  </a:lnTo>
                  <a:lnTo>
                    <a:pt x="113" y="124"/>
                  </a:lnTo>
                  <a:lnTo>
                    <a:pt x="0" y="143"/>
                  </a:lnTo>
                  <a:lnTo>
                    <a:pt x="136" y="138"/>
                  </a:lnTo>
                  <a:lnTo>
                    <a:pt x="159" y="48"/>
                  </a:lnTo>
                  <a:lnTo>
                    <a:pt x="26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0" name="Freeform 253"/>
            <p:cNvSpPr>
              <a:spLocks/>
            </p:cNvSpPr>
            <p:nvPr/>
          </p:nvSpPr>
          <p:spPr bwMode="auto">
            <a:xfrm>
              <a:off x="5303" y="2127"/>
              <a:ext cx="142" cy="35"/>
            </a:xfrm>
            <a:custGeom>
              <a:avLst/>
              <a:gdLst>
                <a:gd name="T0" fmla="*/ 0 w 853"/>
                <a:gd name="T1" fmla="*/ 0 h 212"/>
                <a:gd name="T2" fmla="*/ 0 w 853"/>
                <a:gd name="T3" fmla="*/ 0 h 212"/>
                <a:gd name="T4" fmla="*/ 0 w 853"/>
                <a:gd name="T5" fmla="*/ 0 h 212"/>
                <a:gd name="T6" fmla="*/ 0 w 853"/>
                <a:gd name="T7" fmla="*/ 0 h 212"/>
                <a:gd name="T8" fmla="*/ 0 w 853"/>
                <a:gd name="T9" fmla="*/ 0 h 212"/>
                <a:gd name="T10" fmla="*/ 0 w 853"/>
                <a:gd name="T11" fmla="*/ 0 h 212"/>
                <a:gd name="T12" fmla="*/ 0 w 853"/>
                <a:gd name="T13" fmla="*/ 0 h 212"/>
                <a:gd name="T14" fmla="*/ 0 w 853"/>
                <a:gd name="T15" fmla="*/ 0 h 212"/>
                <a:gd name="T16" fmla="*/ 0 w 853"/>
                <a:gd name="T17" fmla="*/ 0 h 212"/>
                <a:gd name="T18" fmla="*/ 0 w 853"/>
                <a:gd name="T19" fmla="*/ 0 h 212"/>
                <a:gd name="T20" fmla="*/ 0 w 853"/>
                <a:gd name="T21" fmla="*/ 0 h 212"/>
                <a:gd name="T22" fmla="*/ 0 w 853"/>
                <a:gd name="T23" fmla="*/ 0 h 212"/>
                <a:gd name="T24" fmla="*/ 0 w 853"/>
                <a:gd name="T25" fmla="*/ 0 h 212"/>
                <a:gd name="T26" fmla="*/ 0 w 853"/>
                <a:gd name="T27" fmla="*/ 0 h 212"/>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853" h="212">
                  <a:moveTo>
                    <a:pt x="853" y="0"/>
                  </a:moveTo>
                  <a:lnTo>
                    <a:pt x="636" y="10"/>
                  </a:lnTo>
                  <a:lnTo>
                    <a:pt x="413" y="63"/>
                  </a:lnTo>
                  <a:lnTo>
                    <a:pt x="249" y="71"/>
                  </a:lnTo>
                  <a:lnTo>
                    <a:pt x="114" y="99"/>
                  </a:lnTo>
                  <a:lnTo>
                    <a:pt x="64" y="170"/>
                  </a:lnTo>
                  <a:lnTo>
                    <a:pt x="0" y="212"/>
                  </a:lnTo>
                  <a:lnTo>
                    <a:pt x="64" y="198"/>
                  </a:lnTo>
                  <a:lnTo>
                    <a:pt x="123" y="117"/>
                  </a:lnTo>
                  <a:lnTo>
                    <a:pt x="304" y="81"/>
                  </a:lnTo>
                  <a:lnTo>
                    <a:pt x="413" y="81"/>
                  </a:lnTo>
                  <a:lnTo>
                    <a:pt x="500" y="63"/>
                  </a:lnTo>
                  <a:lnTo>
                    <a:pt x="649" y="23"/>
                  </a:lnTo>
                  <a:lnTo>
                    <a:pt x="85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aphicFrame>
        <p:nvGraphicFramePr>
          <p:cNvPr id="412" name="对象 411"/>
          <p:cNvGraphicFramePr>
            <a:graphicFrameLocks noChangeAspect="1"/>
          </p:cNvGraphicFramePr>
          <p:nvPr>
            <p:extLst>
              <p:ext uri="{D42A27DB-BD31-4B8C-83A1-F6EECF244321}">
                <p14:modId xmlns:p14="http://schemas.microsoft.com/office/powerpoint/2010/main" val="1928026070"/>
              </p:ext>
            </p:extLst>
          </p:nvPr>
        </p:nvGraphicFramePr>
        <p:xfrm>
          <a:off x="1234937" y="1468874"/>
          <a:ext cx="440021" cy="504000"/>
        </p:xfrm>
        <a:graphic>
          <a:graphicData uri="http://schemas.openxmlformats.org/presentationml/2006/ole">
            <mc:AlternateContent xmlns:mc="http://schemas.openxmlformats.org/markup-compatibility/2006">
              <mc:Choice xmlns:v="urn:schemas-microsoft-com:vml" Requires="v">
                <p:oleObj name="Visio" r:id="rId4" imgW="3561172" imgH="4347469" progId="">
                  <p:embed/>
                </p:oleObj>
              </mc:Choice>
              <mc:Fallback>
                <p:oleObj name="Visio" r:id="rId4" imgW="3561172" imgH="4347469" progId="">
                  <p:embed/>
                  <p:pic>
                    <p:nvPicPr>
                      <p:cNvPr id="0" name="Picture 308"/>
                      <p:cNvPicPr>
                        <a:picLocks noChangeAspect="1" noChangeArrowheads="1"/>
                      </p:cNvPicPr>
                      <p:nvPr/>
                    </p:nvPicPr>
                    <p:blipFill>
                      <a:blip r:embed="rId5">
                        <a:extLst>
                          <a:ext uri="{28A0092B-C50C-407E-A947-70E740481C1C}">
                            <a14:useLocalDpi xmlns:a14="http://schemas.microsoft.com/office/drawing/2010/main" val="0"/>
                          </a:ext>
                        </a:extLst>
                      </a:blip>
                      <a:srcRect l="5348" t="4167" r="4546" b="11185"/>
                      <a:stretch>
                        <a:fillRect/>
                      </a:stretch>
                    </p:blipFill>
                    <p:spPr bwMode="auto">
                      <a:xfrm>
                        <a:off x="1234937" y="1468874"/>
                        <a:ext cx="440021"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14" name="对象 413"/>
          <p:cNvGraphicFramePr>
            <a:graphicFrameLocks noChangeAspect="1"/>
          </p:cNvGraphicFramePr>
          <p:nvPr>
            <p:extLst>
              <p:ext uri="{D42A27DB-BD31-4B8C-83A1-F6EECF244321}">
                <p14:modId xmlns:p14="http://schemas.microsoft.com/office/powerpoint/2010/main" val="469826854"/>
              </p:ext>
            </p:extLst>
          </p:nvPr>
        </p:nvGraphicFramePr>
        <p:xfrm>
          <a:off x="7436052" y="1468874"/>
          <a:ext cx="443938" cy="504000"/>
        </p:xfrm>
        <a:graphic>
          <a:graphicData uri="http://schemas.openxmlformats.org/presentationml/2006/ole">
            <mc:AlternateContent xmlns:mc="http://schemas.openxmlformats.org/markup-compatibility/2006">
              <mc:Choice xmlns:v="urn:schemas-microsoft-com:vml" Requires="v">
                <p:oleObj name="Visio" r:id="rId6" imgW="3561172" imgH="4347469" progId="">
                  <p:embed/>
                </p:oleObj>
              </mc:Choice>
              <mc:Fallback>
                <p:oleObj name="Visio" r:id="rId6" imgW="3561172" imgH="4347469" progId="">
                  <p:embed/>
                  <p:pic>
                    <p:nvPicPr>
                      <p:cNvPr id="0" name="Picture 309"/>
                      <p:cNvPicPr>
                        <a:picLocks noChangeAspect="1" noChangeArrowheads="1"/>
                      </p:cNvPicPr>
                      <p:nvPr/>
                    </p:nvPicPr>
                    <p:blipFill>
                      <a:blip r:embed="rId7">
                        <a:extLst>
                          <a:ext uri="{28A0092B-C50C-407E-A947-70E740481C1C}">
                            <a14:useLocalDpi xmlns:a14="http://schemas.microsoft.com/office/drawing/2010/main" val="0"/>
                          </a:ext>
                        </a:extLst>
                      </a:blip>
                      <a:srcRect l="4546" t="3947" r="4546" b="11403"/>
                      <a:stretch>
                        <a:fillRect/>
                      </a:stretch>
                    </p:blipFill>
                    <p:spPr bwMode="auto">
                      <a:xfrm>
                        <a:off x="7436052" y="1468874"/>
                        <a:ext cx="443938"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22" name="Text Box 399"/>
          <p:cNvSpPr txBox="1">
            <a:spLocks noChangeArrowheads="1"/>
          </p:cNvSpPr>
          <p:nvPr/>
        </p:nvSpPr>
        <p:spPr bwMode="auto">
          <a:xfrm>
            <a:off x="7471795" y="1081823"/>
            <a:ext cx="5309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收件人</a:t>
            </a:r>
          </a:p>
        </p:txBody>
      </p:sp>
      <p:sp>
        <p:nvSpPr>
          <p:cNvPr id="3" name="矩形 2"/>
          <p:cNvSpPr/>
          <p:nvPr/>
        </p:nvSpPr>
        <p:spPr>
          <a:xfrm>
            <a:off x="825927" y="3114718"/>
            <a:ext cx="801447" cy="502702"/>
          </a:xfrm>
          <a:prstGeom prst="rect">
            <a:avLst/>
          </a:prstGeom>
          <a:noFill/>
        </p:spPr>
        <p:txBody>
          <a:bodyPr wrap="square" anchor="ctr">
            <a:spAutoFit/>
          </a:bodyPr>
          <a:lstStyle/>
          <a:p>
            <a:pPr algn="ctr">
              <a:lnSpc>
                <a:spcPts val="1600"/>
              </a:lnSpc>
            </a:pPr>
            <a:r>
              <a:rPr lang="zh-CN" altLang="en-US" sz="1400" b="1" dirty="0">
                <a:solidFill>
                  <a:srgbClr val="C00000"/>
                </a:solidFill>
                <a:latin typeface="微软雅黑 Light" panose="020B0502040204020203" pitchFamily="34" charset="-122"/>
                <a:ea typeface="微软雅黑 Light" panose="020B0502040204020203" pitchFamily="34" charset="-122"/>
              </a:rPr>
              <a:t>“推”</a:t>
            </a:r>
            <a:endParaRPr lang="en-US" altLang="zh-CN" sz="1400" b="1" dirty="0">
              <a:solidFill>
                <a:srgbClr val="C00000"/>
              </a:solidFill>
              <a:latin typeface="微软雅黑 Light" panose="020B0502040204020203" pitchFamily="34" charset="-122"/>
              <a:ea typeface="微软雅黑 Light" panose="020B0502040204020203" pitchFamily="34" charset="-122"/>
            </a:endParaRPr>
          </a:p>
          <a:p>
            <a:pPr algn="ctr">
              <a:lnSpc>
                <a:spcPts val="1600"/>
              </a:lnSpc>
            </a:pPr>
            <a:r>
              <a:rPr lang="en-US" altLang="zh-CN" sz="1400" b="1" dirty="0">
                <a:solidFill>
                  <a:srgbClr val="C00000"/>
                </a:solidFill>
                <a:latin typeface="微软雅黑 Light" panose="020B0502040204020203" pitchFamily="34" charset="-122"/>
                <a:ea typeface="微软雅黑 Light" panose="020B0502040204020203" pitchFamily="34" charset="-122"/>
              </a:rPr>
              <a:t>(push)</a:t>
            </a:r>
            <a:endParaRPr lang="zh-CN" altLang="en-US" sz="1400" b="1" dirty="0">
              <a:solidFill>
                <a:srgbClr val="C00000"/>
              </a:solidFill>
              <a:latin typeface="微软雅黑 Light" panose="020B0502040204020203" pitchFamily="34" charset="-122"/>
              <a:ea typeface="微软雅黑 Light" panose="020B0502040204020203" pitchFamily="34" charset="-122"/>
            </a:endParaRPr>
          </a:p>
        </p:txBody>
      </p:sp>
      <p:sp>
        <p:nvSpPr>
          <p:cNvPr id="401" name="矩形 400"/>
          <p:cNvSpPr/>
          <p:nvPr/>
        </p:nvSpPr>
        <p:spPr>
          <a:xfrm>
            <a:off x="7399348" y="3132925"/>
            <a:ext cx="801447" cy="502702"/>
          </a:xfrm>
          <a:prstGeom prst="rect">
            <a:avLst/>
          </a:prstGeom>
          <a:noFill/>
        </p:spPr>
        <p:txBody>
          <a:bodyPr wrap="square" anchor="ctr">
            <a:spAutoFit/>
          </a:bodyPr>
          <a:lstStyle/>
          <a:p>
            <a:pPr algn="ctr">
              <a:lnSpc>
                <a:spcPts val="1600"/>
              </a:lnSpc>
            </a:pPr>
            <a:r>
              <a:rPr lang="zh-CN" altLang="en-US" sz="1400" b="1" dirty="0">
                <a:solidFill>
                  <a:srgbClr val="C00000"/>
                </a:solidFill>
                <a:latin typeface="微软雅黑 Light" panose="020B0502040204020203" pitchFamily="34" charset="-122"/>
                <a:ea typeface="微软雅黑 Light" panose="020B0502040204020203" pitchFamily="34" charset="-122"/>
              </a:rPr>
              <a:t>“拉”</a:t>
            </a:r>
            <a:endParaRPr lang="en-US" altLang="zh-CN" sz="1400" b="1" dirty="0">
              <a:solidFill>
                <a:srgbClr val="C00000"/>
              </a:solidFill>
              <a:latin typeface="微软雅黑 Light" panose="020B0502040204020203" pitchFamily="34" charset="-122"/>
              <a:ea typeface="微软雅黑 Light" panose="020B0502040204020203" pitchFamily="34" charset="-122"/>
            </a:endParaRPr>
          </a:p>
          <a:p>
            <a:pPr algn="ctr">
              <a:lnSpc>
                <a:spcPts val="1600"/>
              </a:lnSpc>
            </a:pPr>
            <a:r>
              <a:rPr lang="en-US" altLang="zh-CN" sz="1400" b="1" dirty="0">
                <a:solidFill>
                  <a:srgbClr val="C00000"/>
                </a:solidFill>
                <a:latin typeface="微软雅黑 Light" panose="020B0502040204020203" pitchFamily="34" charset="-122"/>
                <a:ea typeface="微软雅黑 Light" panose="020B0502040204020203" pitchFamily="34" charset="-122"/>
              </a:rPr>
              <a:t>(pull)</a:t>
            </a:r>
            <a:endParaRPr lang="zh-CN" altLang="en-US" sz="1400" b="1" dirty="0">
              <a:solidFill>
                <a:srgbClr val="C00000"/>
              </a:solidFill>
              <a:latin typeface="微软雅黑 Light" panose="020B0502040204020203" pitchFamily="34" charset="-122"/>
              <a:ea typeface="微软雅黑 Light" panose="020B0502040204020203" pitchFamily="34" charset="-122"/>
            </a:endParaRPr>
          </a:p>
        </p:txBody>
      </p:sp>
      <p:sp>
        <p:nvSpPr>
          <p:cNvPr id="2" name="标题 1">
            <a:extLst>
              <a:ext uri="{FF2B5EF4-FFF2-40B4-BE49-F238E27FC236}">
                <a16:creationId xmlns:a16="http://schemas.microsoft.com/office/drawing/2014/main" id="{3748AB37-A5BB-66C1-9F45-FB48A97D9195}"/>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发送和接收</a:t>
            </a:r>
          </a:p>
        </p:txBody>
      </p:sp>
      <p:sp>
        <p:nvSpPr>
          <p:cNvPr id="399" name="内容占位符 398">
            <a:extLst>
              <a:ext uri="{FF2B5EF4-FFF2-40B4-BE49-F238E27FC236}">
                <a16:creationId xmlns:a16="http://schemas.microsoft.com/office/drawing/2014/main" id="{0A142075-BC1C-5C21-529B-1DF49D230E95}"/>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39602831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repeatCount="3000" fill="hold" grpId="0" nodeType="withEffect">
                                  <p:stCondLst>
                                    <p:cond delay="0"/>
                                  </p:stCondLst>
                                  <p:childTnLst>
                                    <p:set>
                                      <p:cBhvr>
                                        <p:cTn id="6" dur="1" fill="hold">
                                          <p:stCondLst>
                                            <p:cond delay="0"/>
                                          </p:stCondLst>
                                        </p:cTn>
                                        <p:tgtEl>
                                          <p:spTgt spid="353"/>
                                        </p:tgtEl>
                                        <p:attrNameLst>
                                          <p:attrName>style.visibility</p:attrName>
                                        </p:attrNameLst>
                                      </p:cBhvr>
                                      <p:to>
                                        <p:strVal val="visible"/>
                                      </p:to>
                                    </p:set>
                                    <p:animEffect transition="in" filter="wipe(left)">
                                      <p:cBhvr>
                                        <p:cTn id="7" dur="1000"/>
                                        <p:tgtEl>
                                          <p:spTgt spid="353"/>
                                        </p:tgtEl>
                                      </p:cBhvr>
                                    </p:animEffect>
                                  </p:childTnLst>
                                </p:cTn>
                              </p:par>
                              <p:par>
                                <p:cTn id="8" presetID="22" presetClass="entr" presetSubtype="8" repeatCount="3000" fill="hold" grpId="0" nodeType="withEffect">
                                  <p:stCondLst>
                                    <p:cond delay="0"/>
                                  </p:stCondLst>
                                  <p:childTnLst>
                                    <p:set>
                                      <p:cBhvr>
                                        <p:cTn id="9" dur="1" fill="hold">
                                          <p:stCondLst>
                                            <p:cond delay="0"/>
                                          </p:stCondLst>
                                        </p:cTn>
                                        <p:tgtEl>
                                          <p:spTgt spid="351"/>
                                        </p:tgtEl>
                                        <p:attrNameLst>
                                          <p:attrName>style.visibility</p:attrName>
                                        </p:attrNameLst>
                                      </p:cBhvr>
                                      <p:to>
                                        <p:strVal val="visible"/>
                                      </p:to>
                                    </p:set>
                                    <p:animEffect transition="in" filter="wipe(left)">
                                      <p:cBhvr>
                                        <p:cTn id="10" dur="1000"/>
                                        <p:tgtEl>
                                          <p:spTgt spid="351"/>
                                        </p:tgtEl>
                                      </p:cBhvr>
                                    </p:animEffect>
                                  </p:childTnLst>
                                </p:cTn>
                              </p:par>
                              <p:par>
                                <p:cTn id="11" presetID="35" presetClass="emph" presetSubtype="0" repeatCount="3000" fill="hold" grpId="0" nodeType="withEffect">
                                  <p:stCondLst>
                                    <p:cond delay="0"/>
                                  </p:stCondLst>
                                  <p:childTnLst>
                                    <p:anim calcmode="discrete" valueType="str">
                                      <p:cBhvr>
                                        <p:cTn id="12" dur="1000" fill="hold"/>
                                        <p:tgtEl>
                                          <p:spTgt spid="3"/>
                                        </p:tgtEl>
                                        <p:attrNameLst>
                                          <p:attrName>style.visibility</p:attrName>
                                        </p:attrNameLst>
                                      </p:cBhvr>
                                      <p:tavLst>
                                        <p:tav tm="0">
                                          <p:val>
                                            <p:strVal val="hidden"/>
                                          </p:val>
                                        </p:tav>
                                        <p:tav tm="50000">
                                          <p:val>
                                            <p:strVal val="visible"/>
                                          </p:val>
                                        </p:tav>
                                      </p:tavLst>
                                    </p:anim>
                                  </p:childTnLst>
                                </p:cTn>
                              </p:par>
                              <p:par>
                                <p:cTn id="13" presetID="35" presetClass="emph" presetSubtype="0" repeatCount="3000" fill="hold" grpId="0" nodeType="withEffect">
                                  <p:stCondLst>
                                    <p:cond delay="0"/>
                                  </p:stCondLst>
                                  <p:childTnLst>
                                    <p:anim calcmode="discrete" valueType="str">
                                      <p:cBhvr>
                                        <p:cTn id="14" dur="1000" fill="hold"/>
                                        <p:tgtEl>
                                          <p:spTgt spid="40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1" grpId="0" animBg="1"/>
      <p:bldP spid="353" grpId="0" animBg="1"/>
      <p:bldP spid="3" grpId="0"/>
      <p:bldP spid="401" grpId="0"/>
    </p:bld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F41DD8C-2E8B-C9E1-F9E6-6318E7447DAE}"/>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电子邮件的组成</a:t>
            </a:r>
          </a:p>
        </p:txBody>
      </p:sp>
      <p:sp>
        <p:nvSpPr>
          <p:cNvPr id="8" name="内容占位符 7">
            <a:extLst>
              <a:ext uri="{FF2B5EF4-FFF2-40B4-BE49-F238E27FC236}">
                <a16:creationId xmlns:a16="http://schemas.microsoft.com/office/drawing/2014/main" id="{6419A2E2-3324-212D-EC39-ED415BFC3911}"/>
              </a:ext>
            </a:extLst>
          </p:cNvPr>
          <p:cNvSpPr>
            <a:spLocks noGrp="1"/>
          </p:cNvSpPr>
          <p:nvPr>
            <p:ph sz="quarter" idx="11"/>
          </p:nvPr>
        </p:nvSpPr>
        <p:spPr>
          <a:xfrm>
            <a:off x="486000" y="687518"/>
            <a:ext cx="8172000" cy="4079035"/>
          </a:xfrm>
        </p:spPr>
        <p:txBody>
          <a:bodyPr/>
          <a:lstStyle/>
          <a:p>
            <a:r>
              <a:rPr lang="zh-CN" altLang="en-US" dirty="0"/>
              <a:t>电子邮件由信封 </a:t>
            </a:r>
            <a:r>
              <a:rPr lang="en-US" altLang="zh-CN" dirty="0"/>
              <a:t>envelope </a:t>
            </a:r>
            <a:r>
              <a:rPr lang="zh-CN" altLang="en-US" dirty="0"/>
              <a:t>和内容 </a:t>
            </a:r>
            <a:r>
              <a:rPr lang="en-US" altLang="zh-CN" dirty="0"/>
              <a:t>content </a:t>
            </a:r>
            <a:r>
              <a:rPr lang="zh-CN" altLang="en-US" dirty="0"/>
              <a:t>两部分组成</a:t>
            </a:r>
          </a:p>
          <a:p>
            <a:r>
              <a:rPr lang="zh-CN" altLang="en-US" dirty="0"/>
              <a:t>电子邮件的传输程序根据邮件信封上的信息来传送邮件</a:t>
            </a:r>
            <a:endParaRPr lang="en-US" altLang="zh-CN" dirty="0"/>
          </a:p>
          <a:p>
            <a:r>
              <a:rPr lang="zh-CN" altLang="en-US" dirty="0"/>
              <a:t>用户在从自己的邮箱中读取邮件时才能见到邮件的内容</a:t>
            </a:r>
          </a:p>
          <a:p>
            <a:endParaRPr lang="zh-CN" altLang="en-US" dirty="0"/>
          </a:p>
        </p:txBody>
      </p:sp>
    </p:spTree>
    <p:extLst>
      <p:ext uri="{BB962C8B-B14F-4D97-AF65-F5344CB8AC3E}">
        <p14:creationId xmlns:p14="http://schemas.microsoft.com/office/powerpoint/2010/main" val="29892731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标题 16">
            <a:extLst>
              <a:ext uri="{FF2B5EF4-FFF2-40B4-BE49-F238E27FC236}">
                <a16:creationId xmlns:a16="http://schemas.microsoft.com/office/drawing/2014/main" id="{435BA3A7-2170-1829-3FD4-E448895FD65A}"/>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电子邮件地址的格式</a:t>
            </a:r>
          </a:p>
        </p:txBody>
      </p:sp>
      <p:sp>
        <p:nvSpPr>
          <p:cNvPr id="20" name="内容占位符 19">
            <a:extLst>
              <a:ext uri="{FF2B5EF4-FFF2-40B4-BE49-F238E27FC236}">
                <a16:creationId xmlns:a16="http://schemas.microsoft.com/office/drawing/2014/main" id="{96B3ECB5-533A-6838-6726-CB1C091B751E}"/>
              </a:ext>
            </a:extLst>
          </p:cNvPr>
          <p:cNvSpPr>
            <a:spLocks noGrp="1"/>
          </p:cNvSpPr>
          <p:nvPr>
            <p:ph sz="quarter" idx="11"/>
          </p:nvPr>
        </p:nvSpPr>
        <p:spPr>
          <a:xfrm>
            <a:off x="486000" y="687518"/>
            <a:ext cx="8172000" cy="4079035"/>
          </a:xfrm>
        </p:spPr>
        <p:txBody>
          <a:bodyPr/>
          <a:lstStyle/>
          <a:p>
            <a:r>
              <a:rPr lang="zh-CN" altLang="en-US" dirty="0"/>
              <a:t>在邮件的信封上，最重要的就是收件人的地址</a:t>
            </a:r>
            <a:endParaRPr lang="en-US" altLang="zh-CN" dirty="0"/>
          </a:p>
          <a:p>
            <a:r>
              <a:rPr lang="en-US" altLang="zh-CN" dirty="0"/>
              <a:t>TCP/IP </a:t>
            </a:r>
            <a:r>
              <a:rPr lang="zh-CN" altLang="en-US" dirty="0"/>
              <a:t>体系的电子邮件系统规定电子邮件地址的格式如下</a:t>
            </a:r>
            <a:endParaRPr lang="en-US" altLang="zh-CN" dirty="0"/>
          </a:p>
          <a:p>
            <a:pPr lvl="1"/>
            <a:r>
              <a:rPr lang="zh-CN" altLang="en-US" dirty="0"/>
              <a:t>收件人邮箱名：也叫用户名，在该域名的范围内应唯一；</a:t>
            </a:r>
            <a:r>
              <a:rPr lang="zh-CN" altLang="en-US" b="1" dirty="0">
                <a:solidFill>
                  <a:srgbClr val="FF0000"/>
                </a:solidFill>
              </a:rPr>
              <a:t>不能有同名用户</a:t>
            </a:r>
            <a:endParaRPr lang="en-US" altLang="zh-CN" b="1" dirty="0">
              <a:solidFill>
                <a:srgbClr val="FF0000"/>
              </a:solidFill>
            </a:endParaRPr>
          </a:p>
          <a:p>
            <a:pPr lvl="1"/>
            <a:r>
              <a:rPr lang="zh-CN" altLang="en-US" dirty="0"/>
              <a:t>邮箱所在的主机的域名，在全世界应唯一 ；</a:t>
            </a:r>
            <a:r>
              <a:rPr lang="zh-CN" altLang="en-US" b="1" dirty="0">
                <a:solidFill>
                  <a:srgbClr val="FF0000"/>
                </a:solidFill>
              </a:rPr>
              <a:t>不能有相同域名</a:t>
            </a:r>
          </a:p>
          <a:p>
            <a:pPr lvl="1"/>
            <a:endParaRPr lang="en-US" altLang="zh-CN" dirty="0"/>
          </a:p>
        </p:txBody>
      </p:sp>
      <p:sp>
        <p:nvSpPr>
          <p:cNvPr id="5" name="矩形 4"/>
          <p:cNvSpPr/>
          <p:nvPr/>
        </p:nvSpPr>
        <p:spPr>
          <a:xfrm>
            <a:off x="1047565" y="1992978"/>
            <a:ext cx="6880196" cy="409101"/>
          </a:xfrm>
          <a:prstGeom prst="rect">
            <a:avLst/>
          </a:prstGeom>
          <a:solidFill>
            <a:schemeClr val="bg1">
              <a:lumMod val="95000"/>
            </a:schemeClr>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latin typeface="Montserrat" panose="00000500000000000000" pitchFamily="2" charset="0"/>
                <a:ea typeface="微软雅黑 Light" panose="020B0502040204020203" pitchFamily="34" charset="-122"/>
              </a:rPr>
              <a:t>收件人邮箱名</a:t>
            </a:r>
            <a:r>
              <a:rPr lang="en-US" altLang="zh-CN" sz="1600" dirty="0">
                <a:solidFill>
                  <a:schemeClr val="tx1"/>
                </a:solidFill>
                <a:latin typeface="Montserrat" panose="00000500000000000000" pitchFamily="2" charset="0"/>
                <a:ea typeface="微软雅黑 Light" panose="020B0502040204020203" pitchFamily="34" charset="-122"/>
              </a:rPr>
              <a:t>@</a:t>
            </a:r>
            <a:r>
              <a:rPr lang="zh-CN" altLang="en-US" sz="1600" dirty="0">
                <a:solidFill>
                  <a:schemeClr val="tx1"/>
                </a:solidFill>
                <a:latin typeface="Montserrat" panose="00000500000000000000" pitchFamily="2" charset="0"/>
                <a:ea typeface="微软雅黑 Light" panose="020B0502040204020203" pitchFamily="34" charset="-122"/>
              </a:rPr>
              <a:t>邮箱所在主机的域名</a:t>
            </a:r>
            <a:endParaRPr lang="en-US" altLang="zh-CN" sz="1600" dirty="0">
              <a:solidFill>
                <a:schemeClr val="tx1"/>
              </a:solidFill>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581821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E2E2C3FA-D10D-C0D4-F31D-B25329C87C36}"/>
              </a:ext>
            </a:extLst>
          </p:cNvPr>
          <p:cNvSpPr>
            <a:spLocks noGrp="1"/>
          </p:cNvSpPr>
          <p:nvPr>
            <p:ph type="title"/>
          </p:nvPr>
        </p:nvSpPr>
        <p:spPr>
          <a:xfrm>
            <a:off x="485999" y="174482"/>
            <a:ext cx="8171999" cy="338554"/>
          </a:xfrm>
        </p:spPr>
        <p:txBody>
          <a:bodyPr/>
          <a:lstStyle/>
          <a:p>
            <a:r>
              <a:rPr lang="en-US" altLang="zh-CN" dirty="0"/>
              <a:t>6.5.2  </a:t>
            </a:r>
            <a:r>
              <a:rPr lang="zh-CN" altLang="en-US" dirty="0"/>
              <a:t>简单邮件传送协议 </a:t>
            </a:r>
            <a:r>
              <a:rPr lang="en-US" altLang="zh-CN" dirty="0"/>
              <a:t>SMTP</a:t>
            </a:r>
            <a:endParaRPr lang="zh-CN" altLang="en-US" dirty="0"/>
          </a:p>
        </p:txBody>
      </p:sp>
      <p:sp>
        <p:nvSpPr>
          <p:cNvPr id="40" name="内容占位符 39">
            <a:extLst>
              <a:ext uri="{FF2B5EF4-FFF2-40B4-BE49-F238E27FC236}">
                <a16:creationId xmlns:a16="http://schemas.microsoft.com/office/drawing/2014/main" id="{42E32B24-FD1B-6FB5-8EF8-2DD65DD5E424}"/>
              </a:ext>
            </a:extLst>
          </p:cNvPr>
          <p:cNvSpPr>
            <a:spLocks noGrp="1"/>
          </p:cNvSpPr>
          <p:nvPr>
            <p:ph sz="quarter" idx="11"/>
          </p:nvPr>
        </p:nvSpPr>
        <p:spPr>
          <a:xfrm>
            <a:off x="486000" y="687518"/>
            <a:ext cx="8172000" cy="4079035"/>
          </a:xfrm>
        </p:spPr>
        <p:txBody>
          <a:bodyPr/>
          <a:lstStyle/>
          <a:p>
            <a:r>
              <a:rPr lang="en-US" altLang="zh-CN" dirty="0"/>
              <a:t>SMTP </a:t>
            </a:r>
            <a:r>
              <a:rPr lang="zh-CN" altLang="en-US" dirty="0"/>
              <a:t>规定了在两个相互通信的 </a:t>
            </a:r>
            <a:r>
              <a:rPr lang="en-US" altLang="zh-CN" dirty="0"/>
              <a:t>SMTP </a:t>
            </a:r>
            <a:r>
              <a:rPr lang="zh-CN" altLang="en-US" dirty="0"/>
              <a:t>进程之间交换信息的方法</a:t>
            </a:r>
            <a:endParaRPr lang="en-US" altLang="zh-CN" dirty="0"/>
          </a:p>
          <a:p>
            <a:r>
              <a:rPr lang="en-US" altLang="zh-CN" dirty="0"/>
              <a:t>SMTP </a:t>
            </a:r>
            <a:r>
              <a:rPr lang="zh-CN" altLang="en-US" dirty="0"/>
              <a:t>使用客户</a:t>
            </a:r>
            <a:r>
              <a:rPr lang="en-US" altLang="zh-CN" dirty="0"/>
              <a:t>/</a:t>
            </a:r>
            <a:r>
              <a:rPr lang="zh-CN" altLang="en-US" dirty="0"/>
              <a:t>服务器方式 </a:t>
            </a:r>
            <a:r>
              <a:rPr lang="en-US" altLang="zh-CN" dirty="0"/>
              <a:t>– C/S</a:t>
            </a:r>
          </a:p>
          <a:p>
            <a:r>
              <a:rPr lang="en-US" altLang="zh-CN" dirty="0"/>
              <a:t>SMTP </a:t>
            </a:r>
            <a:r>
              <a:rPr lang="zh-CN" altLang="en-US" dirty="0"/>
              <a:t>基于 </a:t>
            </a:r>
            <a:r>
              <a:rPr lang="en-US" altLang="zh-CN" dirty="0"/>
              <a:t>TCP </a:t>
            </a:r>
            <a:r>
              <a:rPr lang="zh-CN" altLang="en-US" dirty="0"/>
              <a:t>实现客户与服务器的通信</a:t>
            </a:r>
            <a:endParaRPr lang="en-US" altLang="zh-CN" dirty="0"/>
          </a:p>
          <a:p>
            <a:endParaRPr lang="zh-CN" altLang="en-US" dirty="0"/>
          </a:p>
        </p:txBody>
      </p:sp>
      <p:sp>
        <p:nvSpPr>
          <p:cNvPr id="2" name="Rectangle 386">
            <a:extLst>
              <a:ext uri="{FF2B5EF4-FFF2-40B4-BE49-F238E27FC236}">
                <a16:creationId xmlns:a16="http://schemas.microsoft.com/office/drawing/2014/main" id="{A724A476-D0B0-00E3-8821-29862B6585B8}"/>
              </a:ext>
            </a:extLst>
          </p:cNvPr>
          <p:cNvSpPr>
            <a:spLocks noChangeArrowheads="1"/>
          </p:cNvSpPr>
          <p:nvPr/>
        </p:nvSpPr>
        <p:spPr bwMode="auto">
          <a:xfrm>
            <a:off x="3019580" y="3173543"/>
            <a:ext cx="680437" cy="13465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3" name="Rectangle 387">
            <a:extLst>
              <a:ext uri="{FF2B5EF4-FFF2-40B4-BE49-F238E27FC236}">
                <a16:creationId xmlns:a16="http://schemas.microsoft.com/office/drawing/2014/main" id="{123A4F9E-615D-001A-F832-230012021538}"/>
              </a:ext>
            </a:extLst>
          </p:cNvPr>
          <p:cNvSpPr>
            <a:spLocks noChangeArrowheads="1"/>
          </p:cNvSpPr>
          <p:nvPr/>
        </p:nvSpPr>
        <p:spPr bwMode="auto">
          <a:xfrm>
            <a:off x="1657456" y="3173543"/>
            <a:ext cx="680437" cy="1346517"/>
          </a:xfrm>
          <a:prstGeom prst="rect">
            <a:avLst/>
          </a:prstGeom>
          <a:noFill/>
          <a:ln w="9525">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4" name="Line 388">
            <a:extLst>
              <a:ext uri="{FF2B5EF4-FFF2-40B4-BE49-F238E27FC236}">
                <a16:creationId xmlns:a16="http://schemas.microsoft.com/office/drawing/2014/main" id="{0575DDC7-6BDC-2BBA-BCB5-8B68E63CE9D3}"/>
              </a:ext>
            </a:extLst>
          </p:cNvPr>
          <p:cNvSpPr>
            <a:spLocks noChangeShapeType="1"/>
          </p:cNvSpPr>
          <p:nvPr/>
        </p:nvSpPr>
        <p:spPr bwMode="auto">
          <a:xfrm>
            <a:off x="2134011" y="3516315"/>
            <a:ext cx="941856" cy="0"/>
          </a:xfrm>
          <a:prstGeom prst="line">
            <a:avLst/>
          </a:prstGeom>
          <a:noFill/>
          <a:ln w="38100">
            <a:solidFill>
              <a:srgbClr val="F7964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dirty="0">
              <a:latin typeface="Montserrat" panose="00000500000000000000" pitchFamily="2" charset="0"/>
              <a:ea typeface="微软雅黑 Light" panose="020B0502040204020203" pitchFamily="34" charset="-122"/>
            </a:endParaRPr>
          </a:p>
        </p:txBody>
      </p:sp>
      <p:sp>
        <p:nvSpPr>
          <p:cNvPr id="7" name="Oval 397">
            <a:extLst>
              <a:ext uri="{FF2B5EF4-FFF2-40B4-BE49-F238E27FC236}">
                <a16:creationId xmlns:a16="http://schemas.microsoft.com/office/drawing/2014/main" id="{06A82C93-0A2D-33BF-AF02-405AE3D7FE59}"/>
              </a:ext>
            </a:extLst>
          </p:cNvPr>
          <p:cNvSpPr>
            <a:spLocks noChangeArrowheads="1"/>
          </p:cNvSpPr>
          <p:nvPr/>
        </p:nvSpPr>
        <p:spPr bwMode="auto">
          <a:xfrm>
            <a:off x="1713742" y="3237429"/>
            <a:ext cx="566615" cy="556545"/>
          </a:xfrm>
          <a:prstGeom prst="ellipse">
            <a:avLst/>
          </a:prstGeom>
          <a:solidFill>
            <a:srgbClr val="F79646"/>
          </a:solidFill>
          <a:ln w="9525">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SMTP</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Client</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8" name="Oval 405">
            <a:extLst>
              <a:ext uri="{FF2B5EF4-FFF2-40B4-BE49-F238E27FC236}">
                <a16:creationId xmlns:a16="http://schemas.microsoft.com/office/drawing/2014/main" id="{2650CEEA-0E39-63BA-CBF6-DD7F96833C6E}"/>
              </a:ext>
            </a:extLst>
          </p:cNvPr>
          <p:cNvSpPr>
            <a:spLocks noChangeArrowheads="1"/>
          </p:cNvSpPr>
          <p:nvPr/>
        </p:nvSpPr>
        <p:spPr bwMode="auto">
          <a:xfrm>
            <a:off x="3077118" y="3237429"/>
            <a:ext cx="566615" cy="556545"/>
          </a:xfrm>
          <a:prstGeom prst="ellipse">
            <a:avLst/>
          </a:prstGeom>
          <a:solidFill>
            <a:srgbClr val="F79646"/>
          </a:solidFill>
          <a:ln w="9525">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SMTP</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Server</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9" name="Oval 406">
            <a:extLst>
              <a:ext uri="{FF2B5EF4-FFF2-40B4-BE49-F238E27FC236}">
                <a16:creationId xmlns:a16="http://schemas.microsoft.com/office/drawing/2014/main" id="{B3120303-2C74-41E4-334E-169EE245A952}"/>
              </a:ext>
            </a:extLst>
          </p:cNvPr>
          <p:cNvSpPr>
            <a:spLocks noChangeArrowheads="1"/>
          </p:cNvSpPr>
          <p:nvPr/>
        </p:nvSpPr>
        <p:spPr bwMode="auto">
          <a:xfrm>
            <a:off x="3077118" y="3850488"/>
            <a:ext cx="566615" cy="556543"/>
          </a:xfrm>
          <a:prstGeom prst="ellipse">
            <a:avLst/>
          </a:prstGeom>
          <a:solidFill>
            <a:srgbClr val="4BACC6"/>
          </a:solidFill>
          <a:ln w="9525">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SMTP</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Client</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10" name="Text Box 399">
            <a:extLst>
              <a:ext uri="{FF2B5EF4-FFF2-40B4-BE49-F238E27FC236}">
                <a16:creationId xmlns:a16="http://schemas.microsoft.com/office/drawing/2014/main" id="{D1BE9778-C628-C178-B667-AB307F3EECA0}"/>
              </a:ext>
            </a:extLst>
          </p:cNvPr>
          <p:cNvSpPr txBox="1">
            <a:spLocks noChangeArrowheads="1"/>
          </p:cNvSpPr>
          <p:nvPr/>
        </p:nvSpPr>
        <p:spPr bwMode="auto">
          <a:xfrm>
            <a:off x="729032" y="2804587"/>
            <a:ext cx="607859"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发件人</a:t>
            </a:r>
          </a:p>
        </p:txBody>
      </p:sp>
      <p:graphicFrame>
        <p:nvGraphicFramePr>
          <p:cNvPr id="11" name="对象 10">
            <a:extLst>
              <a:ext uri="{FF2B5EF4-FFF2-40B4-BE49-F238E27FC236}">
                <a16:creationId xmlns:a16="http://schemas.microsoft.com/office/drawing/2014/main" id="{E632E000-0A4E-EEE8-7CCA-2886336660CA}"/>
              </a:ext>
            </a:extLst>
          </p:cNvPr>
          <p:cNvGraphicFramePr>
            <a:graphicFrameLocks noChangeAspect="1"/>
          </p:cNvGraphicFramePr>
          <p:nvPr>
            <p:extLst>
              <p:ext uri="{D42A27DB-BD31-4B8C-83A1-F6EECF244321}">
                <p14:modId xmlns:p14="http://schemas.microsoft.com/office/powerpoint/2010/main" val="2714346310"/>
              </p:ext>
            </p:extLst>
          </p:nvPr>
        </p:nvGraphicFramePr>
        <p:xfrm>
          <a:off x="875180" y="3213529"/>
          <a:ext cx="546759" cy="666388"/>
        </p:xfrm>
        <a:graphic>
          <a:graphicData uri="http://schemas.openxmlformats.org/presentationml/2006/ole">
            <mc:AlternateContent xmlns:mc="http://schemas.openxmlformats.org/markup-compatibility/2006">
              <mc:Choice xmlns:v="urn:schemas-microsoft-com:vml" Requires="v">
                <p:oleObj name="Visio" r:id="rId2" imgW="3561172" imgH="4347469" progId="">
                  <p:embed/>
                </p:oleObj>
              </mc:Choice>
              <mc:Fallback>
                <p:oleObj name="Visio" r:id="rId2" imgW="3561172" imgH="4347469" progId="">
                  <p:embed/>
                  <p:pic>
                    <p:nvPicPr>
                      <p:cNvPr id="50" name="对象 49">
                        <a:extLst>
                          <a:ext uri="{FF2B5EF4-FFF2-40B4-BE49-F238E27FC236}">
                            <a16:creationId xmlns:a16="http://schemas.microsoft.com/office/drawing/2014/main" id="{5EEA4974-A1EF-15D1-6D48-7BD2C9BC51F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l="5348" t="4167" r="4546" b="11185"/>
                      <a:stretch>
                        <a:fillRect/>
                      </a:stretch>
                    </p:blipFill>
                    <p:spPr bwMode="auto">
                      <a:xfrm>
                        <a:off x="875180" y="3213529"/>
                        <a:ext cx="546759"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2" name="Rectangle 385">
            <a:extLst>
              <a:ext uri="{FF2B5EF4-FFF2-40B4-BE49-F238E27FC236}">
                <a16:creationId xmlns:a16="http://schemas.microsoft.com/office/drawing/2014/main" id="{DEFECB9D-DC99-0CF2-8E4E-9A780993FD0F}"/>
              </a:ext>
            </a:extLst>
          </p:cNvPr>
          <p:cNvSpPr>
            <a:spLocks noChangeArrowheads="1"/>
          </p:cNvSpPr>
          <p:nvPr/>
        </p:nvSpPr>
        <p:spPr bwMode="auto">
          <a:xfrm>
            <a:off x="6835923" y="3182144"/>
            <a:ext cx="680437" cy="13379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13" name="Text Box 395">
            <a:extLst>
              <a:ext uri="{FF2B5EF4-FFF2-40B4-BE49-F238E27FC236}">
                <a16:creationId xmlns:a16="http://schemas.microsoft.com/office/drawing/2014/main" id="{498ADED1-C7FC-2248-CEEA-3CF1039F7D21}"/>
              </a:ext>
            </a:extLst>
          </p:cNvPr>
          <p:cNvSpPr txBox="1">
            <a:spLocks noChangeArrowheads="1"/>
          </p:cNvSpPr>
          <p:nvPr/>
        </p:nvSpPr>
        <p:spPr bwMode="auto">
          <a:xfrm>
            <a:off x="6260881" y="3623601"/>
            <a:ext cx="468397"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latin typeface="Montserrat" panose="00000500000000000000" pitchFamily="2" charset="0"/>
                <a:ea typeface="微软雅黑 Light" panose="020B0502040204020203" pitchFamily="34" charset="-122"/>
              </a:rPr>
              <a:t>TCP</a:t>
            </a:r>
            <a:endParaRPr kumimoji="1" lang="zh-CN" altLang="en-US" sz="1100" dirty="0">
              <a:latin typeface="Montserrat" panose="00000500000000000000" pitchFamily="2" charset="0"/>
              <a:ea typeface="微软雅黑 Light" panose="020B0502040204020203" pitchFamily="34" charset="-122"/>
            </a:endParaRPr>
          </a:p>
        </p:txBody>
      </p:sp>
      <p:sp>
        <p:nvSpPr>
          <p:cNvPr id="14" name="Oval 398">
            <a:extLst>
              <a:ext uri="{FF2B5EF4-FFF2-40B4-BE49-F238E27FC236}">
                <a16:creationId xmlns:a16="http://schemas.microsoft.com/office/drawing/2014/main" id="{CFD06A13-40B3-CAA6-5A97-9E6716394690}"/>
              </a:ext>
            </a:extLst>
          </p:cNvPr>
          <p:cNvSpPr>
            <a:spLocks noChangeArrowheads="1"/>
          </p:cNvSpPr>
          <p:nvPr/>
        </p:nvSpPr>
        <p:spPr bwMode="auto">
          <a:xfrm>
            <a:off x="6892210" y="3237429"/>
            <a:ext cx="566614" cy="556545"/>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POP3</a:t>
            </a:r>
          </a:p>
          <a:p>
            <a:pPr algn="ctr"/>
            <a:r>
              <a:rPr kumimoji="1" lang="en-US" altLang="zh-CN" sz="1100" dirty="0">
                <a:latin typeface="Montserrat" panose="00000500000000000000" pitchFamily="2" charset="0"/>
                <a:ea typeface="微软雅黑 Light" panose="020B0502040204020203" pitchFamily="34" charset="-122"/>
              </a:rPr>
              <a:t>Client</a:t>
            </a:r>
            <a:endParaRPr kumimoji="1" lang="zh-CN" altLang="en-US" sz="1100" dirty="0">
              <a:latin typeface="Montserrat" panose="00000500000000000000" pitchFamily="2" charset="0"/>
              <a:ea typeface="微软雅黑 Light" panose="020B0502040204020203" pitchFamily="34" charset="-122"/>
            </a:endParaRPr>
          </a:p>
        </p:txBody>
      </p:sp>
      <p:sp>
        <p:nvSpPr>
          <p:cNvPr id="15" name="Rectangle 401">
            <a:extLst>
              <a:ext uri="{FF2B5EF4-FFF2-40B4-BE49-F238E27FC236}">
                <a16:creationId xmlns:a16="http://schemas.microsoft.com/office/drawing/2014/main" id="{6ABFE8D1-D36E-AC98-2872-5847CBE27570}"/>
              </a:ext>
            </a:extLst>
          </p:cNvPr>
          <p:cNvSpPr>
            <a:spLocks noChangeArrowheads="1"/>
          </p:cNvSpPr>
          <p:nvPr/>
        </p:nvSpPr>
        <p:spPr bwMode="auto">
          <a:xfrm>
            <a:off x="5475048" y="3182144"/>
            <a:ext cx="680437" cy="13379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16" name="Oval 402">
            <a:extLst>
              <a:ext uri="{FF2B5EF4-FFF2-40B4-BE49-F238E27FC236}">
                <a16:creationId xmlns:a16="http://schemas.microsoft.com/office/drawing/2014/main" id="{C69D28E0-9DA6-B88D-7569-3A2E60F53A0E}"/>
              </a:ext>
            </a:extLst>
          </p:cNvPr>
          <p:cNvSpPr>
            <a:spLocks noChangeArrowheads="1"/>
          </p:cNvSpPr>
          <p:nvPr/>
        </p:nvSpPr>
        <p:spPr bwMode="auto">
          <a:xfrm>
            <a:off x="5531335" y="3850488"/>
            <a:ext cx="566614" cy="556543"/>
          </a:xfrm>
          <a:prstGeom prst="ellipse">
            <a:avLst/>
          </a:prstGeom>
          <a:solidFill>
            <a:srgbClr val="4BACC6"/>
          </a:solidFill>
          <a:ln w="9525">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SMTP</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Server</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17" name="Oval 403">
            <a:extLst>
              <a:ext uri="{FF2B5EF4-FFF2-40B4-BE49-F238E27FC236}">
                <a16:creationId xmlns:a16="http://schemas.microsoft.com/office/drawing/2014/main" id="{443222C0-EA2E-5C34-D405-83703CD1A9B9}"/>
              </a:ext>
            </a:extLst>
          </p:cNvPr>
          <p:cNvSpPr>
            <a:spLocks noChangeArrowheads="1"/>
          </p:cNvSpPr>
          <p:nvPr/>
        </p:nvSpPr>
        <p:spPr bwMode="auto">
          <a:xfrm>
            <a:off x="5531335" y="3237429"/>
            <a:ext cx="566614" cy="556545"/>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POP3</a:t>
            </a:r>
          </a:p>
          <a:p>
            <a:pPr algn="ctr"/>
            <a:r>
              <a:rPr kumimoji="1" lang="en-US" altLang="zh-CN" sz="1100" dirty="0">
                <a:latin typeface="Montserrat" panose="00000500000000000000" pitchFamily="2" charset="0"/>
                <a:ea typeface="微软雅黑 Light" panose="020B0502040204020203" pitchFamily="34" charset="-122"/>
              </a:rPr>
              <a:t>Server</a:t>
            </a:r>
            <a:endParaRPr kumimoji="1" lang="zh-CN" altLang="en-US" sz="1100" dirty="0">
              <a:latin typeface="Montserrat" panose="00000500000000000000" pitchFamily="2" charset="0"/>
              <a:ea typeface="微软雅黑 Light" panose="020B0502040204020203" pitchFamily="34" charset="-122"/>
            </a:endParaRPr>
          </a:p>
        </p:txBody>
      </p:sp>
      <p:sp>
        <p:nvSpPr>
          <p:cNvPr id="18" name="Line 408">
            <a:extLst>
              <a:ext uri="{FF2B5EF4-FFF2-40B4-BE49-F238E27FC236}">
                <a16:creationId xmlns:a16="http://schemas.microsoft.com/office/drawing/2014/main" id="{074D429A-7B28-5532-4B62-4095DFBA1248}"/>
              </a:ext>
            </a:extLst>
          </p:cNvPr>
          <p:cNvSpPr>
            <a:spLocks noChangeShapeType="1"/>
          </p:cNvSpPr>
          <p:nvPr/>
        </p:nvSpPr>
        <p:spPr bwMode="auto">
          <a:xfrm flipV="1">
            <a:off x="6097949" y="3516315"/>
            <a:ext cx="794261" cy="0"/>
          </a:xfrm>
          <a:prstGeom prst="line">
            <a:avLst/>
          </a:prstGeom>
          <a:noFill/>
          <a:ln w="38100">
            <a:solidFill>
              <a:schemeClr val="tx1">
                <a:lumMod val="50000"/>
                <a:lumOff val="50000"/>
              </a:schemeClr>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dirty="0">
              <a:latin typeface="Montserrat" panose="00000500000000000000" pitchFamily="2" charset="0"/>
              <a:ea typeface="微软雅黑 Light" panose="020B0502040204020203" pitchFamily="34" charset="-122"/>
            </a:endParaRPr>
          </a:p>
        </p:txBody>
      </p:sp>
      <p:graphicFrame>
        <p:nvGraphicFramePr>
          <p:cNvPr id="19" name="对象 18">
            <a:extLst>
              <a:ext uri="{FF2B5EF4-FFF2-40B4-BE49-F238E27FC236}">
                <a16:creationId xmlns:a16="http://schemas.microsoft.com/office/drawing/2014/main" id="{3440EC47-B729-6BAC-44D2-BC65C2C54FD6}"/>
              </a:ext>
            </a:extLst>
          </p:cNvPr>
          <p:cNvGraphicFramePr>
            <a:graphicFrameLocks noChangeAspect="1"/>
          </p:cNvGraphicFramePr>
          <p:nvPr>
            <p:extLst>
              <p:ext uri="{D42A27DB-BD31-4B8C-83A1-F6EECF244321}">
                <p14:modId xmlns:p14="http://schemas.microsoft.com/office/powerpoint/2010/main" val="2873666838"/>
              </p:ext>
            </p:extLst>
          </p:nvPr>
        </p:nvGraphicFramePr>
        <p:xfrm>
          <a:off x="7744964" y="3213529"/>
          <a:ext cx="551626" cy="666388"/>
        </p:xfrm>
        <a:graphic>
          <a:graphicData uri="http://schemas.openxmlformats.org/presentationml/2006/ole">
            <mc:AlternateContent xmlns:mc="http://schemas.openxmlformats.org/markup-compatibility/2006">
              <mc:Choice xmlns:v="urn:schemas-microsoft-com:vml" Requires="v">
                <p:oleObj name="Visio" r:id="rId4" imgW="3561172" imgH="4347469" progId="">
                  <p:embed/>
                </p:oleObj>
              </mc:Choice>
              <mc:Fallback>
                <p:oleObj name="Visio" r:id="rId4" imgW="3561172" imgH="4347469" progId="">
                  <p:embed/>
                  <p:pic>
                    <p:nvPicPr>
                      <p:cNvPr id="58" name="对象 57">
                        <a:extLst>
                          <a:ext uri="{FF2B5EF4-FFF2-40B4-BE49-F238E27FC236}">
                            <a16:creationId xmlns:a16="http://schemas.microsoft.com/office/drawing/2014/main" id="{B750695B-E0D5-E338-8E99-7C2EA6B2CF1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l="4546" t="3947" r="4546" b="11403"/>
                      <a:stretch>
                        <a:fillRect/>
                      </a:stretch>
                    </p:blipFill>
                    <p:spPr bwMode="auto">
                      <a:xfrm>
                        <a:off x="7744964" y="3213529"/>
                        <a:ext cx="551626"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0" name="Text Box 399">
            <a:extLst>
              <a:ext uri="{FF2B5EF4-FFF2-40B4-BE49-F238E27FC236}">
                <a16:creationId xmlns:a16="http://schemas.microsoft.com/office/drawing/2014/main" id="{5F746FA6-2F79-72C5-4D70-C32E99B923A4}"/>
              </a:ext>
            </a:extLst>
          </p:cNvPr>
          <p:cNvSpPr txBox="1">
            <a:spLocks noChangeArrowheads="1"/>
          </p:cNvSpPr>
          <p:nvPr/>
        </p:nvSpPr>
        <p:spPr bwMode="auto">
          <a:xfrm>
            <a:off x="7815300" y="2804587"/>
            <a:ext cx="607859"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收件人</a:t>
            </a:r>
          </a:p>
        </p:txBody>
      </p:sp>
      <p:sp>
        <p:nvSpPr>
          <p:cNvPr id="21" name="Line 404">
            <a:extLst>
              <a:ext uri="{FF2B5EF4-FFF2-40B4-BE49-F238E27FC236}">
                <a16:creationId xmlns:a16="http://schemas.microsoft.com/office/drawing/2014/main" id="{8B3BD637-59A8-29C6-F17E-79AFDC34C73D}"/>
              </a:ext>
            </a:extLst>
          </p:cNvPr>
          <p:cNvSpPr>
            <a:spLocks noChangeShapeType="1"/>
          </p:cNvSpPr>
          <p:nvPr/>
        </p:nvSpPr>
        <p:spPr bwMode="auto">
          <a:xfrm flipV="1">
            <a:off x="3628236" y="4129374"/>
            <a:ext cx="1928643" cy="0"/>
          </a:xfrm>
          <a:prstGeom prst="line">
            <a:avLst/>
          </a:prstGeom>
          <a:noFill/>
          <a:ln w="38100">
            <a:solidFill>
              <a:srgbClr val="4BACC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050" dirty="0">
              <a:latin typeface="Montserrat" panose="00000500000000000000" pitchFamily="2" charset="0"/>
              <a:ea typeface="微软雅黑 Light" panose="020B0502040204020203" pitchFamily="34" charset="-122"/>
            </a:endParaRPr>
          </a:p>
        </p:txBody>
      </p:sp>
      <p:sp>
        <p:nvSpPr>
          <p:cNvPr id="22" name="Text Box 409">
            <a:extLst>
              <a:ext uri="{FF2B5EF4-FFF2-40B4-BE49-F238E27FC236}">
                <a16:creationId xmlns:a16="http://schemas.microsoft.com/office/drawing/2014/main" id="{ECEC3C0A-6511-53A4-5814-63ABF616AAB4}"/>
              </a:ext>
            </a:extLst>
          </p:cNvPr>
          <p:cNvSpPr txBox="1">
            <a:spLocks noChangeArrowheads="1"/>
          </p:cNvSpPr>
          <p:nvPr/>
        </p:nvSpPr>
        <p:spPr bwMode="auto">
          <a:xfrm>
            <a:off x="4345535" y="4146573"/>
            <a:ext cx="494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solidFill>
                  <a:srgbClr val="4BACC6"/>
                </a:solidFill>
                <a:latin typeface="Montserrat" panose="00000500000000000000" pitchFamily="2" charset="0"/>
                <a:ea typeface="微软雅黑 Light" panose="020B0502040204020203" pitchFamily="34" charset="-122"/>
              </a:rPr>
              <a:t>TCP</a:t>
            </a:r>
            <a:endParaRPr kumimoji="1" lang="zh-CN" altLang="en-US" sz="1200" dirty="0">
              <a:solidFill>
                <a:srgbClr val="4BACC6"/>
              </a:solidFill>
              <a:latin typeface="Montserrat" panose="00000500000000000000" pitchFamily="2" charset="0"/>
              <a:ea typeface="微软雅黑 Light" panose="020B0502040204020203" pitchFamily="34" charset="-122"/>
            </a:endParaRPr>
          </a:p>
        </p:txBody>
      </p:sp>
      <p:sp>
        <p:nvSpPr>
          <p:cNvPr id="23" name="圆角矩形 418">
            <a:extLst>
              <a:ext uri="{FF2B5EF4-FFF2-40B4-BE49-F238E27FC236}">
                <a16:creationId xmlns:a16="http://schemas.microsoft.com/office/drawing/2014/main" id="{3D8E1EB5-AC6D-1C49-A040-DC734105E30A}"/>
              </a:ext>
            </a:extLst>
          </p:cNvPr>
          <p:cNvSpPr/>
          <p:nvPr/>
        </p:nvSpPr>
        <p:spPr>
          <a:xfrm>
            <a:off x="1484031" y="2603548"/>
            <a:ext cx="6194639" cy="2126256"/>
          </a:xfrm>
          <a:prstGeom prst="roundRect">
            <a:avLst>
              <a:gd name="adj" fmla="val 7039"/>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25" name="Text Box 396">
            <a:extLst>
              <a:ext uri="{FF2B5EF4-FFF2-40B4-BE49-F238E27FC236}">
                <a16:creationId xmlns:a16="http://schemas.microsoft.com/office/drawing/2014/main" id="{651C22AB-8D69-918C-BB62-676ABECA65AE}"/>
              </a:ext>
            </a:extLst>
          </p:cNvPr>
          <p:cNvSpPr txBox="1">
            <a:spLocks noChangeArrowheads="1"/>
          </p:cNvSpPr>
          <p:nvPr/>
        </p:nvSpPr>
        <p:spPr bwMode="auto">
          <a:xfrm>
            <a:off x="2917836" y="2701771"/>
            <a:ext cx="889987"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发送方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邮件服务器</a:t>
            </a:r>
          </a:p>
        </p:txBody>
      </p:sp>
      <p:sp>
        <p:nvSpPr>
          <p:cNvPr id="26" name="Text Box 399">
            <a:extLst>
              <a:ext uri="{FF2B5EF4-FFF2-40B4-BE49-F238E27FC236}">
                <a16:creationId xmlns:a16="http://schemas.microsoft.com/office/drawing/2014/main" id="{23B6932A-0074-C9C4-C049-CD33AA87B8EC}"/>
              </a:ext>
            </a:extLst>
          </p:cNvPr>
          <p:cNvSpPr txBox="1">
            <a:spLocks noChangeArrowheads="1"/>
          </p:cNvSpPr>
          <p:nvPr/>
        </p:nvSpPr>
        <p:spPr bwMode="auto">
          <a:xfrm>
            <a:off x="1621814" y="2701771"/>
            <a:ext cx="748923"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发件方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用户代理</a:t>
            </a:r>
          </a:p>
        </p:txBody>
      </p:sp>
      <p:sp>
        <p:nvSpPr>
          <p:cNvPr id="27" name="Text Box 390">
            <a:extLst>
              <a:ext uri="{FF2B5EF4-FFF2-40B4-BE49-F238E27FC236}">
                <a16:creationId xmlns:a16="http://schemas.microsoft.com/office/drawing/2014/main" id="{018389EB-3363-7032-D6F9-5C071E505873}"/>
              </a:ext>
            </a:extLst>
          </p:cNvPr>
          <p:cNvSpPr txBox="1">
            <a:spLocks noChangeArrowheads="1"/>
          </p:cNvSpPr>
          <p:nvPr/>
        </p:nvSpPr>
        <p:spPr bwMode="auto">
          <a:xfrm>
            <a:off x="6202370" y="3223625"/>
            <a:ext cx="585418"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latin typeface="Montserrat" panose="00000500000000000000" pitchFamily="2" charset="0"/>
                <a:ea typeface="微软雅黑 Light" panose="020B0502040204020203" pitchFamily="34" charset="-122"/>
              </a:rPr>
              <a:t>POP3</a:t>
            </a:r>
          </a:p>
        </p:txBody>
      </p:sp>
      <p:sp>
        <p:nvSpPr>
          <p:cNvPr id="28" name="Text Box 400">
            <a:extLst>
              <a:ext uri="{FF2B5EF4-FFF2-40B4-BE49-F238E27FC236}">
                <a16:creationId xmlns:a16="http://schemas.microsoft.com/office/drawing/2014/main" id="{37A83544-68F3-46C5-5D05-9C592125C683}"/>
              </a:ext>
            </a:extLst>
          </p:cNvPr>
          <p:cNvSpPr txBox="1">
            <a:spLocks noChangeArrowheads="1"/>
          </p:cNvSpPr>
          <p:nvPr/>
        </p:nvSpPr>
        <p:spPr bwMode="auto">
          <a:xfrm>
            <a:off x="5361275" y="2701771"/>
            <a:ext cx="889987"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接收方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邮件服务器</a:t>
            </a:r>
          </a:p>
        </p:txBody>
      </p:sp>
      <p:sp>
        <p:nvSpPr>
          <p:cNvPr id="29" name="Text Box 407">
            <a:extLst>
              <a:ext uri="{FF2B5EF4-FFF2-40B4-BE49-F238E27FC236}">
                <a16:creationId xmlns:a16="http://schemas.microsoft.com/office/drawing/2014/main" id="{9CC706C5-54F6-0DFE-4C65-52AFD6CBF003}"/>
              </a:ext>
            </a:extLst>
          </p:cNvPr>
          <p:cNvSpPr txBox="1">
            <a:spLocks noChangeArrowheads="1"/>
          </p:cNvSpPr>
          <p:nvPr/>
        </p:nvSpPr>
        <p:spPr bwMode="auto">
          <a:xfrm>
            <a:off x="6808085" y="2701771"/>
            <a:ext cx="748923"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接收方</a:t>
            </a:r>
            <a:endParaRPr kumimoji="1" lang="en-US" altLang="zh-CN" sz="1100" dirty="0">
              <a:latin typeface="Montserrat" panose="00000500000000000000" pitchFamily="2" charset="0"/>
              <a:ea typeface="微软雅黑 Light" panose="020B0502040204020203" pitchFamily="34" charset="-122"/>
            </a:endParaRP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用户代理</a:t>
            </a:r>
          </a:p>
        </p:txBody>
      </p:sp>
      <p:sp>
        <p:nvSpPr>
          <p:cNvPr id="30" name="Text Box 392">
            <a:extLst>
              <a:ext uri="{FF2B5EF4-FFF2-40B4-BE49-F238E27FC236}">
                <a16:creationId xmlns:a16="http://schemas.microsoft.com/office/drawing/2014/main" id="{41C95EC8-9EAD-7DF2-E118-17C8E31FE22A}"/>
              </a:ext>
            </a:extLst>
          </p:cNvPr>
          <p:cNvSpPr txBox="1">
            <a:spLocks noChangeArrowheads="1"/>
          </p:cNvSpPr>
          <p:nvPr/>
        </p:nvSpPr>
        <p:spPr bwMode="auto">
          <a:xfrm>
            <a:off x="4259773" y="3849259"/>
            <a:ext cx="6655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solidFill>
                  <a:srgbClr val="4BACC6"/>
                </a:solidFill>
                <a:latin typeface="Montserrat" panose="00000500000000000000" pitchFamily="2" charset="0"/>
                <a:ea typeface="微软雅黑 Light" panose="020B0502040204020203" pitchFamily="34" charset="-122"/>
              </a:rPr>
              <a:t> </a:t>
            </a:r>
            <a:r>
              <a:rPr kumimoji="1" lang="en-US" altLang="zh-CN" sz="1200" dirty="0">
                <a:solidFill>
                  <a:srgbClr val="4BACC6"/>
                </a:solidFill>
                <a:latin typeface="Montserrat" panose="00000500000000000000" pitchFamily="2" charset="0"/>
                <a:ea typeface="微软雅黑 Light" panose="020B0502040204020203" pitchFamily="34" charset="-122"/>
              </a:rPr>
              <a:t>SMTP</a:t>
            </a:r>
          </a:p>
        </p:txBody>
      </p:sp>
      <p:sp>
        <p:nvSpPr>
          <p:cNvPr id="31" name="Text Box 394">
            <a:extLst>
              <a:ext uri="{FF2B5EF4-FFF2-40B4-BE49-F238E27FC236}">
                <a16:creationId xmlns:a16="http://schemas.microsoft.com/office/drawing/2014/main" id="{B2973D6B-3517-1A75-3F9A-47DF7B0F9149}"/>
              </a:ext>
            </a:extLst>
          </p:cNvPr>
          <p:cNvSpPr txBox="1">
            <a:spLocks noChangeArrowheads="1"/>
          </p:cNvSpPr>
          <p:nvPr/>
        </p:nvSpPr>
        <p:spPr bwMode="auto">
          <a:xfrm>
            <a:off x="2443311" y="3623601"/>
            <a:ext cx="468397"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TCP</a:t>
            </a:r>
            <a:endParaRPr kumimoji="1" lang="zh-CN" altLang="en-US" sz="1100" dirty="0">
              <a:solidFill>
                <a:srgbClr val="F79646"/>
              </a:solidFill>
              <a:latin typeface="Montserrat" panose="00000500000000000000" pitchFamily="2" charset="0"/>
              <a:ea typeface="微软雅黑 Light" panose="020B0502040204020203" pitchFamily="34" charset="-122"/>
            </a:endParaRPr>
          </a:p>
        </p:txBody>
      </p:sp>
      <p:sp>
        <p:nvSpPr>
          <p:cNvPr id="32" name="Text Box 389">
            <a:extLst>
              <a:ext uri="{FF2B5EF4-FFF2-40B4-BE49-F238E27FC236}">
                <a16:creationId xmlns:a16="http://schemas.microsoft.com/office/drawing/2014/main" id="{413A6EB6-EB20-2D96-C7A4-59723435D575}"/>
              </a:ext>
            </a:extLst>
          </p:cNvPr>
          <p:cNvSpPr txBox="1">
            <a:spLocks noChangeArrowheads="1"/>
          </p:cNvSpPr>
          <p:nvPr/>
        </p:nvSpPr>
        <p:spPr bwMode="auto">
          <a:xfrm>
            <a:off x="2383197" y="3223625"/>
            <a:ext cx="588624"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SMTP</a:t>
            </a:r>
          </a:p>
        </p:txBody>
      </p:sp>
    </p:spTree>
    <p:extLst>
      <p:ext uri="{BB962C8B-B14F-4D97-AF65-F5344CB8AC3E}">
        <p14:creationId xmlns:p14="http://schemas.microsoft.com/office/powerpoint/2010/main" val="22937668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A9607E12-C113-D7EA-8B60-1E036B0E6625}"/>
              </a:ext>
            </a:extLst>
          </p:cNvPr>
          <p:cNvSpPr>
            <a:spLocks noGrp="1"/>
          </p:cNvSpPr>
          <p:nvPr>
            <p:ph type="title"/>
          </p:nvPr>
        </p:nvSpPr>
        <p:spPr>
          <a:xfrm>
            <a:off x="485999" y="174482"/>
            <a:ext cx="8171999" cy="338554"/>
          </a:xfrm>
        </p:spPr>
        <p:txBody>
          <a:bodyPr/>
          <a:lstStyle/>
          <a:p>
            <a:r>
              <a:rPr lang="en-US" altLang="zh-CN" dirty="0"/>
              <a:t>6.5.2  </a:t>
            </a:r>
            <a:r>
              <a:rPr lang="zh-CN" altLang="en-US" dirty="0"/>
              <a:t>简单邮件传送协议 </a:t>
            </a:r>
            <a:r>
              <a:rPr lang="en-US" altLang="zh-CN" dirty="0"/>
              <a:t>SMTP</a:t>
            </a:r>
            <a:endParaRPr lang="zh-CN" altLang="en-US" dirty="0"/>
          </a:p>
        </p:txBody>
      </p:sp>
      <p:sp>
        <p:nvSpPr>
          <p:cNvPr id="8" name="内容占位符 7">
            <a:extLst>
              <a:ext uri="{FF2B5EF4-FFF2-40B4-BE49-F238E27FC236}">
                <a16:creationId xmlns:a16="http://schemas.microsoft.com/office/drawing/2014/main" id="{BDF6CC06-6736-058C-5B89-F175289FA1DB}"/>
              </a:ext>
            </a:extLst>
          </p:cNvPr>
          <p:cNvSpPr>
            <a:spLocks noGrp="1"/>
          </p:cNvSpPr>
          <p:nvPr>
            <p:ph sz="quarter" idx="11"/>
          </p:nvPr>
        </p:nvSpPr>
        <p:spPr>
          <a:xfrm>
            <a:off x="486000" y="687518"/>
            <a:ext cx="8172000" cy="4079035"/>
          </a:xfrm>
        </p:spPr>
        <p:txBody>
          <a:bodyPr/>
          <a:lstStyle/>
          <a:p>
            <a:r>
              <a:rPr lang="en-US" altLang="zh-CN" dirty="0"/>
              <a:t>SMTP </a:t>
            </a:r>
            <a:r>
              <a:rPr lang="zh-CN" altLang="en-US" dirty="0"/>
              <a:t>是一个基于文本的 （即 </a:t>
            </a:r>
            <a:r>
              <a:rPr lang="en-US" altLang="zh-CN" dirty="0"/>
              <a:t>ASCII </a:t>
            </a:r>
            <a:r>
              <a:rPr lang="zh-CN" altLang="en-US" dirty="0"/>
              <a:t>码）的协议</a:t>
            </a:r>
            <a:endParaRPr lang="en-US" altLang="zh-CN" dirty="0"/>
          </a:p>
          <a:p>
            <a:pPr lvl="1"/>
            <a:r>
              <a:rPr lang="zh-CN" altLang="en-US" dirty="0"/>
              <a:t>不支持非英文字符，如中文</a:t>
            </a:r>
            <a:endParaRPr lang="en-US" altLang="zh-CN" dirty="0"/>
          </a:p>
          <a:p>
            <a:r>
              <a:rPr lang="en-US" altLang="zh-CN" dirty="0"/>
              <a:t>SMTP </a:t>
            </a:r>
            <a:r>
              <a:rPr lang="zh-CN" altLang="en-US" dirty="0"/>
              <a:t>客户</a:t>
            </a:r>
            <a:r>
              <a:rPr lang="en-US" altLang="zh-CN" dirty="0"/>
              <a:t>/</a:t>
            </a:r>
            <a:r>
              <a:rPr lang="zh-CN" altLang="en-US" dirty="0"/>
              <a:t>服务器 </a:t>
            </a:r>
            <a:r>
              <a:rPr lang="en-US" altLang="zh-CN" dirty="0"/>
              <a:t>C/S </a:t>
            </a:r>
            <a:r>
              <a:rPr lang="zh-CN" altLang="en-US" dirty="0"/>
              <a:t>的命令</a:t>
            </a:r>
            <a:r>
              <a:rPr lang="en-US" altLang="zh-CN" dirty="0"/>
              <a:t>-</a:t>
            </a:r>
            <a:r>
              <a:rPr lang="zh-CN" altLang="en-US" dirty="0"/>
              <a:t>响应方式进行通信</a:t>
            </a:r>
            <a:endParaRPr lang="en-US" altLang="zh-CN" dirty="0"/>
          </a:p>
          <a:p>
            <a:endParaRPr lang="zh-CN" altLang="en-US" dirty="0"/>
          </a:p>
        </p:txBody>
      </p:sp>
      <p:sp>
        <p:nvSpPr>
          <p:cNvPr id="4" name="矩形 3"/>
          <p:cNvSpPr/>
          <p:nvPr/>
        </p:nvSpPr>
        <p:spPr>
          <a:xfrm>
            <a:off x="1660633" y="2420449"/>
            <a:ext cx="967261" cy="641131"/>
          </a:xfrm>
          <a:prstGeom prst="rect">
            <a:avLst/>
          </a:prstGeom>
          <a:ln/>
        </p:spPr>
        <p:style>
          <a:lnRef idx="3">
            <a:schemeClr val="lt1"/>
          </a:lnRef>
          <a:fillRef idx="1">
            <a:schemeClr val="accent5"/>
          </a:fillRef>
          <a:effectRef idx="1">
            <a:schemeClr val="accent5"/>
          </a:effectRef>
          <a:fontRef idx="minor">
            <a:schemeClr val="lt1"/>
          </a:fontRef>
        </p:style>
        <p:txBody>
          <a:bodyPr rtlCol="0" anchor="ctr"/>
          <a:lstStyle/>
          <a:p>
            <a:pPr algn="ctr"/>
            <a:r>
              <a:rPr lang="en-US" altLang="zh-CN" sz="1600" dirty="0">
                <a:solidFill>
                  <a:schemeClr val="bg1"/>
                </a:solidFill>
                <a:latin typeface="Montserrat" panose="00000500000000000000" pitchFamily="2" charset="0"/>
                <a:ea typeface="微软雅黑 Light" panose="020B0502040204020203" pitchFamily="34" charset="-122"/>
              </a:rPr>
              <a:t>SMTP</a:t>
            </a:r>
          </a:p>
          <a:p>
            <a:pPr algn="ctr"/>
            <a:r>
              <a:rPr lang="en-US" altLang="zh-CN" sz="1600" dirty="0">
                <a:solidFill>
                  <a:schemeClr val="bg1"/>
                </a:solidFill>
                <a:latin typeface="Montserrat" panose="00000500000000000000" pitchFamily="2" charset="0"/>
                <a:ea typeface="微软雅黑 Light" panose="020B0502040204020203" pitchFamily="34" charset="-122"/>
              </a:rPr>
              <a:t>Client</a:t>
            </a:r>
            <a:endParaRPr lang="zh-CN" altLang="en-US" sz="1600" dirty="0">
              <a:solidFill>
                <a:schemeClr val="bg1"/>
              </a:solidFill>
              <a:latin typeface="Montserrat" panose="00000500000000000000" pitchFamily="2" charset="0"/>
              <a:ea typeface="微软雅黑 Light" panose="020B0502040204020203" pitchFamily="34" charset="-122"/>
            </a:endParaRPr>
          </a:p>
        </p:txBody>
      </p:sp>
      <p:sp>
        <p:nvSpPr>
          <p:cNvPr id="40" name="矩形 39"/>
          <p:cNvSpPr/>
          <p:nvPr/>
        </p:nvSpPr>
        <p:spPr>
          <a:xfrm>
            <a:off x="6600186" y="2420449"/>
            <a:ext cx="967261" cy="641131"/>
          </a:xfrm>
          <a:prstGeom prst="rect">
            <a:avLst/>
          </a:prstGeom>
          <a:ln/>
        </p:spPr>
        <p:style>
          <a:lnRef idx="3">
            <a:schemeClr val="lt1"/>
          </a:lnRef>
          <a:fillRef idx="1">
            <a:schemeClr val="accent6"/>
          </a:fillRef>
          <a:effectRef idx="1">
            <a:schemeClr val="accent6"/>
          </a:effectRef>
          <a:fontRef idx="minor">
            <a:schemeClr val="lt1"/>
          </a:fontRef>
        </p:style>
        <p:txBody>
          <a:bodyPr rtlCol="0" anchor="ctr"/>
          <a:lstStyle/>
          <a:p>
            <a:pPr algn="ctr"/>
            <a:r>
              <a:rPr lang="en-US" altLang="zh-CN" sz="1600" dirty="0">
                <a:solidFill>
                  <a:schemeClr val="bg1"/>
                </a:solidFill>
                <a:latin typeface="Montserrat" panose="00000500000000000000" pitchFamily="2" charset="0"/>
                <a:ea typeface="微软雅黑 Light" panose="020B0502040204020203" pitchFamily="34" charset="-122"/>
              </a:rPr>
              <a:t>SMTP</a:t>
            </a:r>
          </a:p>
          <a:p>
            <a:pPr algn="ctr"/>
            <a:r>
              <a:rPr lang="en-US" altLang="zh-CN" sz="1600" dirty="0">
                <a:solidFill>
                  <a:schemeClr val="bg1"/>
                </a:solidFill>
                <a:latin typeface="Montserrat" panose="00000500000000000000" pitchFamily="2" charset="0"/>
                <a:ea typeface="微软雅黑 Light" panose="020B0502040204020203" pitchFamily="34" charset="-122"/>
              </a:rPr>
              <a:t>Server</a:t>
            </a:r>
            <a:endParaRPr lang="zh-CN" altLang="en-US" sz="1600" dirty="0">
              <a:solidFill>
                <a:schemeClr val="bg1"/>
              </a:solidFill>
              <a:latin typeface="Montserrat" panose="00000500000000000000" pitchFamily="2" charset="0"/>
              <a:ea typeface="微软雅黑 Light" panose="020B0502040204020203" pitchFamily="34" charset="-122"/>
            </a:endParaRPr>
          </a:p>
        </p:txBody>
      </p:sp>
      <p:grpSp>
        <p:nvGrpSpPr>
          <p:cNvPr id="5" name="组合 4"/>
          <p:cNvGrpSpPr/>
          <p:nvPr/>
        </p:nvGrpSpPr>
        <p:grpSpPr>
          <a:xfrm>
            <a:off x="2650180" y="2371163"/>
            <a:ext cx="3950006" cy="338554"/>
            <a:chOff x="2650180" y="1374875"/>
            <a:chExt cx="3950006" cy="338554"/>
          </a:xfrm>
        </p:grpSpPr>
        <p:cxnSp>
          <p:nvCxnSpPr>
            <p:cNvPr id="41" name="直接箭头连接符 40"/>
            <p:cNvCxnSpPr/>
            <p:nvPr/>
          </p:nvCxnSpPr>
          <p:spPr>
            <a:xfrm>
              <a:off x="2650180" y="1665897"/>
              <a:ext cx="3950006" cy="0"/>
            </a:xfrm>
            <a:prstGeom prst="straightConnector1">
              <a:avLst/>
            </a:prstGeom>
            <a:ln w="28575">
              <a:solidFill>
                <a:srgbClr val="4BACC6"/>
              </a:solidFill>
              <a:tailEnd type="stealth" w="lg" len="lg"/>
            </a:ln>
          </p:spPr>
          <p:style>
            <a:lnRef idx="1">
              <a:schemeClr val="accent1"/>
            </a:lnRef>
            <a:fillRef idx="0">
              <a:schemeClr val="accent1"/>
            </a:fillRef>
            <a:effectRef idx="0">
              <a:schemeClr val="accent1"/>
            </a:effectRef>
            <a:fontRef idx="minor">
              <a:schemeClr val="tx1"/>
            </a:fontRef>
          </p:style>
        </p:cxnSp>
        <p:sp>
          <p:nvSpPr>
            <p:cNvPr id="44" name="Text Box 409"/>
            <p:cNvSpPr txBox="1">
              <a:spLocks noChangeArrowheads="1"/>
            </p:cNvSpPr>
            <p:nvPr/>
          </p:nvSpPr>
          <p:spPr bwMode="auto">
            <a:xfrm>
              <a:off x="3968871" y="1374875"/>
              <a:ext cx="1521570"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600" dirty="0">
                  <a:solidFill>
                    <a:srgbClr val="4BACC6"/>
                  </a:solidFill>
                  <a:latin typeface="Montserrat" panose="00000500000000000000" pitchFamily="2" charset="0"/>
                  <a:ea typeface="微软雅黑 Light" panose="020B0502040204020203" pitchFamily="34" charset="-122"/>
                </a:rPr>
                <a:t>命令</a:t>
              </a:r>
              <a:r>
                <a:rPr kumimoji="1" lang="en-US" altLang="zh-CN" sz="1600" dirty="0">
                  <a:solidFill>
                    <a:srgbClr val="4BACC6"/>
                  </a:solidFill>
                  <a:latin typeface="Montserrat" panose="00000500000000000000" pitchFamily="2" charset="0"/>
                  <a:ea typeface="微软雅黑 Light" panose="020B0502040204020203" pitchFamily="34" charset="-122"/>
                </a:rPr>
                <a:t>/Request</a:t>
              </a:r>
              <a:endParaRPr kumimoji="1" lang="zh-CN" altLang="en-US" sz="1600" dirty="0">
                <a:solidFill>
                  <a:srgbClr val="4BACC6"/>
                </a:solidFill>
                <a:latin typeface="Montserrat" panose="00000500000000000000" pitchFamily="2" charset="0"/>
                <a:ea typeface="微软雅黑 Light" panose="020B0502040204020203" pitchFamily="34" charset="-122"/>
              </a:endParaRPr>
            </a:p>
          </p:txBody>
        </p:sp>
      </p:grpSp>
      <p:grpSp>
        <p:nvGrpSpPr>
          <p:cNvPr id="6" name="组合 5"/>
          <p:cNvGrpSpPr/>
          <p:nvPr/>
        </p:nvGrpSpPr>
        <p:grpSpPr>
          <a:xfrm>
            <a:off x="2650180" y="2876160"/>
            <a:ext cx="3950006" cy="338555"/>
            <a:chOff x="2650180" y="1879872"/>
            <a:chExt cx="3950006" cy="338555"/>
          </a:xfrm>
        </p:grpSpPr>
        <p:cxnSp>
          <p:nvCxnSpPr>
            <p:cNvPr id="43" name="直接箭头连接符 42"/>
            <p:cNvCxnSpPr/>
            <p:nvPr/>
          </p:nvCxnSpPr>
          <p:spPr>
            <a:xfrm>
              <a:off x="2650180" y="1879872"/>
              <a:ext cx="3950006" cy="0"/>
            </a:xfrm>
            <a:prstGeom prst="straightConnector1">
              <a:avLst/>
            </a:prstGeom>
            <a:ln w="28575">
              <a:solidFill>
                <a:srgbClr val="F79646"/>
              </a:solidFill>
              <a:headEnd type="stealth" w="lg" len="lg"/>
              <a:tailEnd type="none" w="med" len="med"/>
            </a:ln>
          </p:spPr>
          <p:style>
            <a:lnRef idx="1">
              <a:schemeClr val="accent1"/>
            </a:lnRef>
            <a:fillRef idx="0">
              <a:schemeClr val="accent1"/>
            </a:fillRef>
            <a:effectRef idx="0">
              <a:schemeClr val="accent1"/>
            </a:effectRef>
            <a:fontRef idx="minor">
              <a:schemeClr val="tx1"/>
            </a:fontRef>
          </p:style>
        </p:cxnSp>
        <p:sp>
          <p:nvSpPr>
            <p:cNvPr id="45" name="Text Box 409"/>
            <p:cNvSpPr txBox="1">
              <a:spLocks noChangeArrowheads="1"/>
            </p:cNvSpPr>
            <p:nvPr/>
          </p:nvSpPr>
          <p:spPr bwMode="auto">
            <a:xfrm>
              <a:off x="3895132" y="1879873"/>
              <a:ext cx="1669047"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600" dirty="0">
                  <a:solidFill>
                    <a:srgbClr val="F79646"/>
                  </a:solidFill>
                  <a:latin typeface="Montserrat" panose="00000500000000000000" pitchFamily="2" charset="0"/>
                  <a:ea typeface="微软雅黑 Light" panose="020B0502040204020203" pitchFamily="34" charset="-122"/>
                </a:rPr>
                <a:t>响应</a:t>
              </a:r>
              <a:r>
                <a:rPr kumimoji="1" lang="en-US" altLang="zh-CN" sz="1600" dirty="0">
                  <a:solidFill>
                    <a:srgbClr val="F79646"/>
                  </a:solidFill>
                  <a:latin typeface="Montserrat" panose="00000500000000000000" pitchFamily="2" charset="0"/>
                  <a:ea typeface="微软雅黑 Light" panose="020B0502040204020203" pitchFamily="34" charset="-122"/>
                </a:rPr>
                <a:t>/Response</a:t>
              </a:r>
              <a:endParaRPr kumimoji="1" lang="zh-CN" altLang="en-US" sz="1600" dirty="0">
                <a:solidFill>
                  <a:srgbClr val="F79646"/>
                </a:solidFill>
                <a:latin typeface="Montserrat" panose="00000500000000000000" pitchFamily="2" charset="0"/>
                <a:ea typeface="微软雅黑 Light" panose="020B0502040204020203" pitchFamily="34" charset="-122"/>
              </a:endParaRPr>
            </a:p>
          </p:txBody>
        </p:sp>
      </p:grpSp>
    </p:spTree>
    <p:extLst>
      <p:ext uri="{BB962C8B-B14F-4D97-AF65-F5344CB8AC3E}">
        <p14:creationId xmlns:p14="http://schemas.microsoft.com/office/powerpoint/2010/main" val="228555279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000"/>
                                        <p:tgtEl>
                                          <p:spTgt spid="5"/>
                                        </p:tgtEl>
                                      </p:cBhvr>
                                    </p:animEffect>
                                  </p:childTnLst>
                                </p:cTn>
                              </p:par>
                            </p:childTnLst>
                          </p:cTn>
                        </p:par>
                        <p:par>
                          <p:cTn id="8" fill="hold">
                            <p:stCondLst>
                              <p:cond delay="1000"/>
                            </p:stCondLst>
                            <p:childTnLst>
                              <p:par>
                                <p:cTn id="9" presetID="22" presetClass="entr" presetSubtype="2" fill="hold" nodeType="after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wipe(right)">
                                      <p:cBhvr>
                                        <p:cTn id="11"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0F6A2EB-EA54-8CEC-C7BF-2FB27453CFD1}"/>
              </a:ext>
            </a:extLst>
          </p:cNvPr>
          <p:cNvSpPr>
            <a:spLocks noGrp="1"/>
          </p:cNvSpPr>
          <p:nvPr>
            <p:ph type="title"/>
          </p:nvPr>
        </p:nvSpPr>
        <p:spPr>
          <a:xfrm>
            <a:off x="485999" y="174482"/>
            <a:ext cx="8171999" cy="338554"/>
          </a:xfrm>
        </p:spPr>
        <p:txBody>
          <a:bodyPr/>
          <a:lstStyle/>
          <a:p>
            <a:r>
              <a:rPr lang="en-US" altLang="zh-CN" dirty="0"/>
              <a:t>6.5.2  </a:t>
            </a:r>
            <a:r>
              <a:rPr lang="zh-CN" altLang="en-US" dirty="0"/>
              <a:t>简单邮件传送协议 </a:t>
            </a:r>
            <a:r>
              <a:rPr lang="en-US" altLang="zh-CN" dirty="0"/>
              <a:t>SMTP</a:t>
            </a:r>
            <a:endParaRPr lang="zh-CN" altLang="en-US" dirty="0"/>
          </a:p>
        </p:txBody>
      </p:sp>
      <p:sp>
        <p:nvSpPr>
          <p:cNvPr id="8" name="内容占位符 7">
            <a:extLst>
              <a:ext uri="{FF2B5EF4-FFF2-40B4-BE49-F238E27FC236}">
                <a16:creationId xmlns:a16="http://schemas.microsoft.com/office/drawing/2014/main" id="{E4B22F80-723C-B44B-FC82-033515014AB9}"/>
              </a:ext>
            </a:extLst>
          </p:cNvPr>
          <p:cNvSpPr>
            <a:spLocks noGrp="1"/>
          </p:cNvSpPr>
          <p:nvPr>
            <p:ph sz="quarter" idx="11"/>
          </p:nvPr>
        </p:nvSpPr>
        <p:spPr>
          <a:xfrm>
            <a:off x="486000" y="687518"/>
            <a:ext cx="8172000" cy="4079035"/>
          </a:xfrm>
        </p:spPr>
        <p:txBody>
          <a:bodyPr/>
          <a:lstStyle/>
          <a:p>
            <a:r>
              <a:rPr lang="en-US" altLang="zh-CN" dirty="0"/>
              <a:t>SMTP </a:t>
            </a:r>
            <a:r>
              <a:rPr lang="zh-CN" altLang="en-US" dirty="0"/>
              <a:t>基于 </a:t>
            </a:r>
            <a:r>
              <a:rPr lang="en-US" altLang="zh-CN" dirty="0"/>
              <a:t>TCP </a:t>
            </a:r>
            <a:r>
              <a:rPr lang="zh-CN" altLang="en-US" dirty="0"/>
              <a:t>实现客户与服务器之间的通信</a:t>
            </a:r>
            <a:endParaRPr lang="en-US" altLang="zh-CN" dirty="0"/>
          </a:p>
          <a:p>
            <a:endParaRPr lang="zh-CN" altLang="en-US" dirty="0"/>
          </a:p>
        </p:txBody>
      </p:sp>
      <p:cxnSp>
        <p:nvCxnSpPr>
          <p:cNvPr id="41" name="直接箭头连接符 40"/>
          <p:cNvCxnSpPr>
            <a:cxnSpLocks/>
            <a:stCxn id="9" idx="2"/>
          </p:cNvCxnSpPr>
          <p:nvPr/>
        </p:nvCxnSpPr>
        <p:spPr>
          <a:xfrm>
            <a:off x="2144264" y="3061580"/>
            <a:ext cx="1439764" cy="1063394"/>
          </a:xfrm>
          <a:prstGeom prst="straightConnector1">
            <a:avLst/>
          </a:prstGeom>
          <a:ln w="28575">
            <a:solidFill>
              <a:srgbClr val="4BACC6"/>
            </a:solidFill>
            <a:tailEnd type="stealth" w="lg" len="lg"/>
          </a:ln>
        </p:spPr>
        <p:style>
          <a:lnRef idx="1">
            <a:schemeClr val="accent1"/>
          </a:lnRef>
          <a:fillRef idx="0">
            <a:schemeClr val="accent1"/>
          </a:fillRef>
          <a:effectRef idx="0">
            <a:schemeClr val="accent1"/>
          </a:effectRef>
          <a:fontRef idx="minor">
            <a:schemeClr val="tx1"/>
          </a:fontRef>
        </p:style>
      </p:cxnSp>
      <p:sp>
        <p:nvSpPr>
          <p:cNvPr id="44" name="Text Box 409"/>
          <p:cNvSpPr txBox="1">
            <a:spLocks noChangeArrowheads="1"/>
          </p:cNvSpPr>
          <p:nvPr/>
        </p:nvSpPr>
        <p:spPr bwMode="auto">
          <a:xfrm>
            <a:off x="6535843" y="3191688"/>
            <a:ext cx="1176925"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TCP</a:t>
            </a:r>
          </a:p>
          <a:p>
            <a:pPr algn="ctr" eaLnBrk="1" hangingPunct="1"/>
            <a:r>
              <a:rPr kumimoji="1" lang="zh-CN" altLang="en-US" sz="1400" dirty="0">
                <a:latin typeface="Montserrat" panose="00000500000000000000" pitchFamily="2" charset="0"/>
                <a:ea typeface="微软雅黑 Light" panose="020B0502040204020203" pitchFamily="34" charset="-122"/>
              </a:rPr>
              <a:t>熟知端口 </a:t>
            </a:r>
            <a:r>
              <a:rPr kumimoji="1" lang="en-US" altLang="zh-CN" sz="1400" dirty="0">
                <a:latin typeface="Montserrat" panose="00000500000000000000" pitchFamily="2" charset="0"/>
                <a:ea typeface="微软雅黑 Light" panose="020B0502040204020203" pitchFamily="34" charset="-122"/>
              </a:rPr>
              <a:t>25</a:t>
            </a:r>
            <a:endParaRPr kumimoji="1" lang="zh-CN" altLang="en-US" sz="1400" dirty="0">
              <a:latin typeface="Montserrat" panose="00000500000000000000" pitchFamily="2" charset="0"/>
              <a:ea typeface="微软雅黑 Light" panose="020B0502040204020203" pitchFamily="34" charset="-122"/>
            </a:endParaRPr>
          </a:p>
        </p:txBody>
      </p:sp>
      <p:cxnSp>
        <p:nvCxnSpPr>
          <p:cNvPr id="19" name="直接箭头连接符 18"/>
          <p:cNvCxnSpPr>
            <a:cxnSpLocks/>
            <a:endCxn id="10" idx="2"/>
          </p:cNvCxnSpPr>
          <p:nvPr/>
        </p:nvCxnSpPr>
        <p:spPr>
          <a:xfrm flipV="1">
            <a:off x="5644052" y="3061580"/>
            <a:ext cx="1439765" cy="932519"/>
          </a:xfrm>
          <a:prstGeom prst="straightConnector1">
            <a:avLst/>
          </a:prstGeom>
          <a:ln w="28575">
            <a:solidFill>
              <a:srgbClr val="F79646"/>
            </a:solidFill>
            <a:tailEnd type="stealth" w="lg" len="lg"/>
          </a:ln>
        </p:spPr>
        <p:style>
          <a:lnRef idx="1">
            <a:schemeClr val="accent1"/>
          </a:lnRef>
          <a:fillRef idx="0">
            <a:schemeClr val="accent1"/>
          </a:fillRef>
          <a:effectRef idx="0">
            <a:schemeClr val="accent1"/>
          </a:effectRef>
          <a:fontRef idx="minor">
            <a:schemeClr val="tx1"/>
          </a:fontRef>
        </p:style>
      </p:cxnSp>
      <p:sp>
        <p:nvSpPr>
          <p:cNvPr id="15" name="Freeform 1208"/>
          <p:cNvSpPr>
            <a:spLocks/>
          </p:cNvSpPr>
          <p:nvPr/>
        </p:nvSpPr>
        <p:spPr bwMode="ltGray">
          <a:xfrm>
            <a:off x="3486305" y="3712168"/>
            <a:ext cx="2223943" cy="825613"/>
          </a:xfrm>
          <a:custGeom>
            <a:avLst/>
            <a:gdLst>
              <a:gd name="T0" fmla="*/ 603773 w 16320"/>
              <a:gd name="T1" fmla="*/ 22740 h 11943"/>
              <a:gd name="T2" fmla="*/ 669215 w 16320"/>
              <a:gd name="T3" fmla="*/ 9746 h 11943"/>
              <a:gd name="T4" fmla="*/ 745191 w 16320"/>
              <a:gd name="T5" fmla="*/ 1866 h 11943"/>
              <a:gd name="T6" fmla="*/ 902522 w 16320"/>
              <a:gd name="T7" fmla="*/ 5115 h 11943"/>
              <a:gd name="T8" fmla="*/ 1023620 w 16320"/>
              <a:gd name="T9" fmla="*/ 31484 h 11943"/>
              <a:gd name="T10" fmla="*/ 1077782 w 16320"/>
              <a:gd name="T11" fmla="*/ 71643 h 11943"/>
              <a:gd name="T12" fmla="*/ 1079649 w 16320"/>
              <a:gd name="T13" fmla="*/ 82529 h 11943"/>
              <a:gd name="T14" fmla="*/ 1090258 w 16320"/>
              <a:gd name="T15" fmla="*/ 86504 h 11943"/>
              <a:gd name="T16" fmla="*/ 1119542 w 16320"/>
              <a:gd name="T17" fmla="*/ 88543 h 11943"/>
              <a:gd name="T18" fmla="*/ 1186105 w 16320"/>
              <a:gd name="T19" fmla="*/ 108311 h 11943"/>
              <a:gd name="T20" fmla="*/ 1217855 w 16320"/>
              <a:gd name="T21" fmla="*/ 142871 h 11943"/>
              <a:gd name="T22" fmla="*/ 1208218 w 16320"/>
              <a:gd name="T23" fmla="*/ 181198 h 11943"/>
              <a:gd name="T24" fmla="*/ 1175945 w 16320"/>
              <a:gd name="T25" fmla="*/ 207533 h 11943"/>
              <a:gd name="T26" fmla="*/ 1128432 w 16320"/>
              <a:gd name="T27" fmla="*/ 226714 h 11943"/>
              <a:gd name="T28" fmla="*/ 1107365 w 16320"/>
              <a:gd name="T29" fmla="*/ 240745 h 11943"/>
              <a:gd name="T30" fmla="*/ 1135231 w 16320"/>
              <a:gd name="T31" fmla="*/ 261550 h 11943"/>
              <a:gd name="T32" fmla="*/ 1144046 w 16320"/>
              <a:gd name="T33" fmla="*/ 285742 h 11943"/>
              <a:gd name="T34" fmla="*/ 1124846 w 16320"/>
              <a:gd name="T35" fmla="*/ 316708 h 11943"/>
              <a:gd name="T36" fmla="*/ 1063065 w 16320"/>
              <a:gd name="T37" fmla="*/ 345358 h 11943"/>
              <a:gd name="T38" fmla="*/ 976256 w 16320"/>
              <a:gd name="T39" fmla="*/ 357765 h 11943"/>
              <a:gd name="T40" fmla="*/ 922020 w 16320"/>
              <a:gd name="T41" fmla="*/ 355795 h 11943"/>
              <a:gd name="T42" fmla="*/ 902447 w 16320"/>
              <a:gd name="T43" fmla="*/ 353203 h 11943"/>
              <a:gd name="T44" fmla="*/ 884219 w 16320"/>
              <a:gd name="T45" fmla="*/ 349713 h 11943"/>
              <a:gd name="T46" fmla="*/ 879139 w 16320"/>
              <a:gd name="T47" fmla="*/ 356625 h 11943"/>
              <a:gd name="T48" fmla="*/ 872415 w 16320"/>
              <a:gd name="T49" fmla="*/ 373144 h 11943"/>
              <a:gd name="T50" fmla="*/ 832672 w 16320"/>
              <a:gd name="T51" fmla="*/ 398131 h 11943"/>
              <a:gd name="T52" fmla="*/ 769471 w 16320"/>
              <a:gd name="T53" fmla="*/ 411471 h 11943"/>
              <a:gd name="T54" fmla="*/ 705149 w 16320"/>
              <a:gd name="T55" fmla="*/ 410711 h 11943"/>
              <a:gd name="T56" fmla="*/ 667646 w 16320"/>
              <a:gd name="T57" fmla="*/ 403488 h 11943"/>
              <a:gd name="T58" fmla="*/ 638511 w 16320"/>
              <a:gd name="T59" fmla="*/ 392049 h 11943"/>
              <a:gd name="T60" fmla="*/ 605790 w 16320"/>
              <a:gd name="T61" fmla="*/ 388247 h 11943"/>
              <a:gd name="T62" fmla="*/ 544979 w 16320"/>
              <a:gd name="T63" fmla="*/ 399030 h 11943"/>
              <a:gd name="T64" fmla="*/ 475578 w 16320"/>
              <a:gd name="T65" fmla="*/ 404006 h 11943"/>
              <a:gd name="T66" fmla="*/ 377788 w 16320"/>
              <a:gd name="T67" fmla="*/ 400170 h 11943"/>
              <a:gd name="T68" fmla="*/ 277009 w 16320"/>
              <a:gd name="T69" fmla="*/ 378812 h 11943"/>
              <a:gd name="T70" fmla="*/ 226060 w 16320"/>
              <a:gd name="T71" fmla="*/ 344909 h 11943"/>
              <a:gd name="T72" fmla="*/ 224641 w 16320"/>
              <a:gd name="T73" fmla="*/ 325486 h 11943"/>
              <a:gd name="T74" fmla="*/ 199614 w 16320"/>
              <a:gd name="T75" fmla="*/ 328596 h 11943"/>
              <a:gd name="T76" fmla="*/ 167266 w 16320"/>
              <a:gd name="T77" fmla="*/ 330635 h 11943"/>
              <a:gd name="T78" fmla="*/ 133798 w 16320"/>
              <a:gd name="T79" fmla="*/ 329841 h 11943"/>
              <a:gd name="T80" fmla="*/ 58719 w 16320"/>
              <a:gd name="T81" fmla="*/ 315602 h 11943"/>
              <a:gd name="T82" fmla="*/ 9861 w 16320"/>
              <a:gd name="T83" fmla="*/ 286571 h 11943"/>
              <a:gd name="T84" fmla="*/ 3138 w 16320"/>
              <a:gd name="T85" fmla="*/ 249661 h 11943"/>
              <a:gd name="T86" fmla="*/ 28239 w 16320"/>
              <a:gd name="T87" fmla="*/ 223845 h 11943"/>
              <a:gd name="T88" fmla="*/ 73286 w 16320"/>
              <a:gd name="T89" fmla="*/ 204491 h 11943"/>
              <a:gd name="T90" fmla="*/ 123937 w 16320"/>
              <a:gd name="T91" fmla="*/ 192637 h 11943"/>
              <a:gd name="T92" fmla="*/ 104364 w 16320"/>
              <a:gd name="T93" fmla="*/ 174493 h 11943"/>
              <a:gd name="T94" fmla="*/ 96669 w 16320"/>
              <a:gd name="T95" fmla="*/ 154345 h 11943"/>
              <a:gd name="T96" fmla="*/ 104663 w 16320"/>
              <a:gd name="T97" fmla="*/ 129220 h 11943"/>
              <a:gd name="T98" fmla="*/ 157256 w 16320"/>
              <a:gd name="T99" fmla="*/ 93450 h 11943"/>
              <a:gd name="T100" fmla="*/ 243242 w 16320"/>
              <a:gd name="T101" fmla="*/ 73544 h 11943"/>
              <a:gd name="T102" fmla="*/ 321161 w 16320"/>
              <a:gd name="T103" fmla="*/ 72576 h 11943"/>
              <a:gd name="T104" fmla="*/ 338268 w 16320"/>
              <a:gd name="T105" fmla="*/ 74339 h 11943"/>
              <a:gd name="T106" fmla="*/ 354479 w 16320"/>
              <a:gd name="T107" fmla="*/ 76723 h 11943"/>
              <a:gd name="T108" fmla="*/ 364639 w 16320"/>
              <a:gd name="T109" fmla="*/ 78036 h 11943"/>
              <a:gd name="T110" fmla="*/ 381224 w 16320"/>
              <a:gd name="T111" fmla="*/ 58164 h 11943"/>
              <a:gd name="T112" fmla="*/ 427168 w 16320"/>
              <a:gd name="T113" fmla="*/ 35735 h 11943"/>
              <a:gd name="T114" fmla="*/ 487605 w 16320"/>
              <a:gd name="T115" fmla="*/ 26749 h 11943"/>
              <a:gd name="T116" fmla="*/ 519281 w 16320"/>
              <a:gd name="T117" fmla="*/ 28685 h 11943"/>
              <a:gd name="T118" fmla="*/ 537210 w 16320"/>
              <a:gd name="T119" fmla="*/ 32106 h 11943"/>
              <a:gd name="T120" fmla="*/ 553048 w 16320"/>
              <a:gd name="T121" fmla="*/ 37048 h 11943"/>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16320" h="11943">
                <a:moveTo>
                  <a:pt x="7438" y="1101"/>
                </a:moveTo>
                <a:lnTo>
                  <a:pt x="7496" y="1053"/>
                </a:lnTo>
                <a:lnTo>
                  <a:pt x="7554" y="1006"/>
                </a:lnTo>
                <a:lnTo>
                  <a:pt x="7615" y="960"/>
                </a:lnTo>
                <a:lnTo>
                  <a:pt x="7678" y="914"/>
                </a:lnTo>
                <a:lnTo>
                  <a:pt x="7741" y="869"/>
                </a:lnTo>
                <a:lnTo>
                  <a:pt x="7806" y="825"/>
                </a:lnTo>
                <a:lnTo>
                  <a:pt x="7873" y="782"/>
                </a:lnTo>
                <a:lnTo>
                  <a:pt x="7942" y="740"/>
                </a:lnTo>
                <a:lnTo>
                  <a:pt x="8011" y="698"/>
                </a:lnTo>
                <a:lnTo>
                  <a:pt x="8082" y="658"/>
                </a:lnTo>
                <a:lnTo>
                  <a:pt x="8156" y="618"/>
                </a:lnTo>
                <a:lnTo>
                  <a:pt x="8229" y="580"/>
                </a:lnTo>
                <a:lnTo>
                  <a:pt x="8305" y="542"/>
                </a:lnTo>
                <a:lnTo>
                  <a:pt x="8382" y="506"/>
                </a:lnTo>
                <a:lnTo>
                  <a:pt x="8461" y="470"/>
                </a:lnTo>
                <a:lnTo>
                  <a:pt x="8540" y="436"/>
                </a:lnTo>
                <a:lnTo>
                  <a:pt x="8621" y="403"/>
                </a:lnTo>
                <a:lnTo>
                  <a:pt x="8704" y="371"/>
                </a:lnTo>
                <a:lnTo>
                  <a:pt x="8786" y="340"/>
                </a:lnTo>
                <a:lnTo>
                  <a:pt x="8871" y="310"/>
                </a:lnTo>
                <a:lnTo>
                  <a:pt x="8958" y="282"/>
                </a:lnTo>
                <a:lnTo>
                  <a:pt x="9044" y="255"/>
                </a:lnTo>
                <a:lnTo>
                  <a:pt x="9132" y="228"/>
                </a:lnTo>
                <a:lnTo>
                  <a:pt x="9222" y="204"/>
                </a:lnTo>
                <a:lnTo>
                  <a:pt x="9313" y="180"/>
                </a:lnTo>
                <a:lnTo>
                  <a:pt x="9403" y="158"/>
                </a:lnTo>
                <a:lnTo>
                  <a:pt x="9496" y="137"/>
                </a:lnTo>
                <a:lnTo>
                  <a:pt x="9590" y="118"/>
                </a:lnTo>
                <a:lnTo>
                  <a:pt x="9685" y="99"/>
                </a:lnTo>
                <a:lnTo>
                  <a:pt x="9780" y="83"/>
                </a:lnTo>
                <a:lnTo>
                  <a:pt x="9877" y="68"/>
                </a:lnTo>
                <a:lnTo>
                  <a:pt x="9975" y="54"/>
                </a:lnTo>
                <a:lnTo>
                  <a:pt x="10176" y="31"/>
                </a:lnTo>
                <a:lnTo>
                  <a:pt x="10375" y="13"/>
                </a:lnTo>
                <a:lnTo>
                  <a:pt x="10574" y="4"/>
                </a:lnTo>
                <a:lnTo>
                  <a:pt x="10771" y="0"/>
                </a:lnTo>
                <a:lnTo>
                  <a:pt x="10967" y="3"/>
                </a:lnTo>
                <a:lnTo>
                  <a:pt x="11160" y="12"/>
                </a:lnTo>
                <a:lnTo>
                  <a:pt x="11351" y="27"/>
                </a:lnTo>
                <a:lnTo>
                  <a:pt x="11538" y="48"/>
                </a:lnTo>
                <a:lnTo>
                  <a:pt x="11723" y="76"/>
                </a:lnTo>
                <a:lnTo>
                  <a:pt x="11903" y="109"/>
                </a:lnTo>
                <a:lnTo>
                  <a:pt x="12081" y="148"/>
                </a:lnTo>
                <a:lnTo>
                  <a:pt x="12254" y="192"/>
                </a:lnTo>
                <a:lnTo>
                  <a:pt x="12424" y="241"/>
                </a:lnTo>
                <a:lnTo>
                  <a:pt x="12588" y="296"/>
                </a:lnTo>
                <a:lnTo>
                  <a:pt x="12747" y="356"/>
                </a:lnTo>
                <a:lnTo>
                  <a:pt x="12902" y="421"/>
                </a:lnTo>
                <a:lnTo>
                  <a:pt x="13051" y="492"/>
                </a:lnTo>
                <a:lnTo>
                  <a:pt x="13194" y="566"/>
                </a:lnTo>
                <a:lnTo>
                  <a:pt x="13330" y="645"/>
                </a:lnTo>
                <a:lnTo>
                  <a:pt x="13461" y="729"/>
                </a:lnTo>
                <a:lnTo>
                  <a:pt x="13584" y="818"/>
                </a:lnTo>
                <a:lnTo>
                  <a:pt x="13702" y="911"/>
                </a:lnTo>
                <a:lnTo>
                  <a:pt x="13811" y="1008"/>
                </a:lnTo>
                <a:lnTo>
                  <a:pt x="13913" y="1108"/>
                </a:lnTo>
                <a:lnTo>
                  <a:pt x="14008" y="1214"/>
                </a:lnTo>
                <a:lnTo>
                  <a:pt x="14093" y="1322"/>
                </a:lnTo>
                <a:lnTo>
                  <a:pt x="14171" y="1434"/>
                </a:lnTo>
                <a:lnTo>
                  <a:pt x="14239" y="1550"/>
                </a:lnTo>
                <a:lnTo>
                  <a:pt x="14299" y="1669"/>
                </a:lnTo>
                <a:lnTo>
                  <a:pt x="14349" y="1791"/>
                </a:lnTo>
                <a:lnTo>
                  <a:pt x="14390" y="1916"/>
                </a:lnTo>
                <a:lnTo>
                  <a:pt x="14421" y="2044"/>
                </a:lnTo>
                <a:lnTo>
                  <a:pt x="14427" y="2073"/>
                </a:lnTo>
                <a:lnTo>
                  <a:pt x="14431" y="2102"/>
                </a:lnTo>
                <a:lnTo>
                  <a:pt x="14436" y="2131"/>
                </a:lnTo>
                <a:lnTo>
                  <a:pt x="14440" y="2159"/>
                </a:lnTo>
                <a:lnTo>
                  <a:pt x="14443" y="2188"/>
                </a:lnTo>
                <a:lnTo>
                  <a:pt x="14446" y="2217"/>
                </a:lnTo>
                <a:lnTo>
                  <a:pt x="14448" y="2245"/>
                </a:lnTo>
                <a:lnTo>
                  <a:pt x="14450" y="2274"/>
                </a:lnTo>
                <a:lnTo>
                  <a:pt x="14451" y="2303"/>
                </a:lnTo>
                <a:lnTo>
                  <a:pt x="14452" y="2331"/>
                </a:lnTo>
                <a:lnTo>
                  <a:pt x="14452" y="2360"/>
                </a:lnTo>
                <a:lnTo>
                  <a:pt x="14452" y="2388"/>
                </a:lnTo>
                <a:lnTo>
                  <a:pt x="14451" y="2417"/>
                </a:lnTo>
                <a:lnTo>
                  <a:pt x="14450" y="2445"/>
                </a:lnTo>
                <a:lnTo>
                  <a:pt x="14448" y="2474"/>
                </a:lnTo>
                <a:lnTo>
                  <a:pt x="14446" y="2502"/>
                </a:lnTo>
                <a:lnTo>
                  <a:pt x="14467" y="2502"/>
                </a:lnTo>
                <a:lnTo>
                  <a:pt x="14488" y="2501"/>
                </a:lnTo>
                <a:lnTo>
                  <a:pt x="14510" y="2501"/>
                </a:lnTo>
                <a:lnTo>
                  <a:pt x="14530" y="2501"/>
                </a:lnTo>
                <a:lnTo>
                  <a:pt x="14551" y="2502"/>
                </a:lnTo>
                <a:lnTo>
                  <a:pt x="14573" y="2502"/>
                </a:lnTo>
                <a:lnTo>
                  <a:pt x="14594" y="2503"/>
                </a:lnTo>
                <a:lnTo>
                  <a:pt x="14615" y="2504"/>
                </a:lnTo>
                <a:lnTo>
                  <a:pt x="14636" y="2505"/>
                </a:lnTo>
                <a:lnTo>
                  <a:pt x="14657" y="2507"/>
                </a:lnTo>
                <a:lnTo>
                  <a:pt x="14679" y="2508"/>
                </a:lnTo>
                <a:lnTo>
                  <a:pt x="14699" y="2510"/>
                </a:lnTo>
                <a:lnTo>
                  <a:pt x="14721" y="2512"/>
                </a:lnTo>
                <a:lnTo>
                  <a:pt x="14742" y="2515"/>
                </a:lnTo>
                <a:lnTo>
                  <a:pt x="14762" y="2517"/>
                </a:lnTo>
                <a:lnTo>
                  <a:pt x="14784" y="2520"/>
                </a:lnTo>
                <a:lnTo>
                  <a:pt x="14886" y="2538"/>
                </a:lnTo>
                <a:lnTo>
                  <a:pt x="14986" y="2562"/>
                </a:lnTo>
                <a:lnTo>
                  <a:pt x="15083" y="2591"/>
                </a:lnTo>
                <a:lnTo>
                  <a:pt x="15178" y="2624"/>
                </a:lnTo>
                <a:lnTo>
                  <a:pt x="15268" y="2663"/>
                </a:lnTo>
                <a:lnTo>
                  <a:pt x="15356" y="2706"/>
                </a:lnTo>
                <a:lnTo>
                  <a:pt x="15441" y="2755"/>
                </a:lnTo>
                <a:lnTo>
                  <a:pt x="15522" y="2808"/>
                </a:lnTo>
                <a:lnTo>
                  <a:pt x="15601" y="2865"/>
                </a:lnTo>
                <a:lnTo>
                  <a:pt x="15675" y="2927"/>
                </a:lnTo>
                <a:lnTo>
                  <a:pt x="15747" y="2991"/>
                </a:lnTo>
                <a:lnTo>
                  <a:pt x="15814" y="3061"/>
                </a:lnTo>
                <a:lnTo>
                  <a:pt x="15877" y="3134"/>
                </a:lnTo>
                <a:lnTo>
                  <a:pt x="15938" y="3210"/>
                </a:lnTo>
                <a:lnTo>
                  <a:pt x="15994" y="3290"/>
                </a:lnTo>
                <a:lnTo>
                  <a:pt x="16045" y="3373"/>
                </a:lnTo>
                <a:lnTo>
                  <a:pt x="16093" y="3459"/>
                </a:lnTo>
                <a:lnTo>
                  <a:pt x="16136" y="3548"/>
                </a:lnTo>
                <a:lnTo>
                  <a:pt x="16175" y="3641"/>
                </a:lnTo>
                <a:lnTo>
                  <a:pt x="16210" y="3735"/>
                </a:lnTo>
                <a:lnTo>
                  <a:pt x="16239" y="3831"/>
                </a:lnTo>
                <a:lnTo>
                  <a:pt x="16265" y="3931"/>
                </a:lnTo>
                <a:lnTo>
                  <a:pt x="16286" y="4031"/>
                </a:lnTo>
                <a:lnTo>
                  <a:pt x="16302" y="4134"/>
                </a:lnTo>
                <a:lnTo>
                  <a:pt x="16313" y="4239"/>
                </a:lnTo>
                <a:lnTo>
                  <a:pt x="16319" y="4345"/>
                </a:lnTo>
                <a:lnTo>
                  <a:pt x="16320" y="4453"/>
                </a:lnTo>
                <a:lnTo>
                  <a:pt x="16316" y="4562"/>
                </a:lnTo>
                <a:lnTo>
                  <a:pt x="16307" y="4672"/>
                </a:lnTo>
                <a:lnTo>
                  <a:pt x="16291" y="4783"/>
                </a:lnTo>
                <a:lnTo>
                  <a:pt x="16271" y="4895"/>
                </a:lnTo>
                <a:lnTo>
                  <a:pt x="16246" y="5007"/>
                </a:lnTo>
                <a:lnTo>
                  <a:pt x="16224" y="5087"/>
                </a:lnTo>
                <a:lnTo>
                  <a:pt x="16200" y="5165"/>
                </a:lnTo>
                <a:lnTo>
                  <a:pt x="16173" y="5243"/>
                </a:lnTo>
                <a:lnTo>
                  <a:pt x="16145" y="5319"/>
                </a:lnTo>
                <a:lnTo>
                  <a:pt x="16113" y="5394"/>
                </a:lnTo>
                <a:lnTo>
                  <a:pt x="16080" y="5468"/>
                </a:lnTo>
                <a:lnTo>
                  <a:pt x="16045" y="5540"/>
                </a:lnTo>
                <a:lnTo>
                  <a:pt x="16007" y="5611"/>
                </a:lnTo>
                <a:lnTo>
                  <a:pt x="15967" y="5680"/>
                </a:lnTo>
                <a:lnTo>
                  <a:pt x="15925" y="5749"/>
                </a:lnTo>
                <a:lnTo>
                  <a:pt x="15882" y="5815"/>
                </a:lnTo>
                <a:lnTo>
                  <a:pt x="15837" y="5880"/>
                </a:lnTo>
                <a:lnTo>
                  <a:pt x="15790" y="5943"/>
                </a:lnTo>
                <a:lnTo>
                  <a:pt x="15741" y="6005"/>
                </a:lnTo>
                <a:lnTo>
                  <a:pt x="15690" y="6064"/>
                </a:lnTo>
                <a:lnTo>
                  <a:pt x="15638" y="6123"/>
                </a:lnTo>
                <a:lnTo>
                  <a:pt x="15584" y="6179"/>
                </a:lnTo>
                <a:lnTo>
                  <a:pt x="15528" y="6233"/>
                </a:lnTo>
                <a:lnTo>
                  <a:pt x="15472" y="6287"/>
                </a:lnTo>
                <a:lnTo>
                  <a:pt x="15414" y="6337"/>
                </a:lnTo>
                <a:lnTo>
                  <a:pt x="15354" y="6386"/>
                </a:lnTo>
                <a:lnTo>
                  <a:pt x="15294" y="6432"/>
                </a:lnTo>
                <a:lnTo>
                  <a:pt x="15232" y="6477"/>
                </a:lnTo>
                <a:lnTo>
                  <a:pt x="15169" y="6520"/>
                </a:lnTo>
                <a:lnTo>
                  <a:pt x="15105" y="6560"/>
                </a:lnTo>
                <a:lnTo>
                  <a:pt x="15040" y="6599"/>
                </a:lnTo>
                <a:lnTo>
                  <a:pt x="14975" y="6635"/>
                </a:lnTo>
                <a:lnTo>
                  <a:pt x="14907" y="6669"/>
                </a:lnTo>
                <a:lnTo>
                  <a:pt x="14840" y="6700"/>
                </a:lnTo>
                <a:lnTo>
                  <a:pt x="14771" y="6730"/>
                </a:lnTo>
                <a:lnTo>
                  <a:pt x="14702" y="6757"/>
                </a:lnTo>
                <a:lnTo>
                  <a:pt x="14632" y="6781"/>
                </a:lnTo>
                <a:lnTo>
                  <a:pt x="14682" y="6825"/>
                </a:lnTo>
                <a:lnTo>
                  <a:pt x="14731" y="6871"/>
                </a:lnTo>
                <a:lnTo>
                  <a:pt x="14778" y="6918"/>
                </a:lnTo>
                <a:lnTo>
                  <a:pt x="14823" y="6966"/>
                </a:lnTo>
                <a:lnTo>
                  <a:pt x="14867" y="7015"/>
                </a:lnTo>
                <a:lnTo>
                  <a:pt x="14907" y="7065"/>
                </a:lnTo>
                <a:lnTo>
                  <a:pt x="14947" y="7117"/>
                </a:lnTo>
                <a:lnTo>
                  <a:pt x="14985" y="7171"/>
                </a:lnTo>
                <a:lnTo>
                  <a:pt x="15022" y="7224"/>
                </a:lnTo>
                <a:lnTo>
                  <a:pt x="15055" y="7279"/>
                </a:lnTo>
                <a:lnTo>
                  <a:pt x="15088" y="7336"/>
                </a:lnTo>
                <a:lnTo>
                  <a:pt x="15117" y="7392"/>
                </a:lnTo>
                <a:lnTo>
                  <a:pt x="15146" y="7450"/>
                </a:lnTo>
                <a:lnTo>
                  <a:pt x="15171" y="7509"/>
                </a:lnTo>
                <a:lnTo>
                  <a:pt x="15196" y="7568"/>
                </a:lnTo>
                <a:lnTo>
                  <a:pt x="15217" y="7629"/>
                </a:lnTo>
                <a:lnTo>
                  <a:pt x="15237" y="7690"/>
                </a:lnTo>
                <a:lnTo>
                  <a:pt x="15255" y="7752"/>
                </a:lnTo>
                <a:lnTo>
                  <a:pt x="15270" y="7814"/>
                </a:lnTo>
                <a:lnTo>
                  <a:pt x="15284" y="7878"/>
                </a:lnTo>
                <a:lnTo>
                  <a:pt x="15294" y="7941"/>
                </a:lnTo>
                <a:lnTo>
                  <a:pt x="15303" y="8006"/>
                </a:lnTo>
                <a:lnTo>
                  <a:pt x="15309" y="8070"/>
                </a:lnTo>
                <a:lnTo>
                  <a:pt x="15313" y="8136"/>
                </a:lnTo>
                <a:lnTo>
                  <a:pt x="15314" y="8201"/>
                </a:lnTo>
                <a:lnTo>
                  <a:pt x="15314" y="8268"/>
                </a:lnTo>
                <a:lnTo>
                  <a:pt x="15311" y="8333"/>
                </a:lnTo>
                <a:lnTo>
                  <a:pt x="15305" y="8401"/>
                </a:lnTo>
                <a:lnTo>
                  <a:pt x="15297" y="8468"/>
                </a:lnTo>
                <a:lnTo>
                  <a:pt x="15286" y="8534"/>
                </a:lnTo>
                <a:lnTo>
                  <a:pt x="15272" y="8602"/>
                </a:lnTo>
                <a:lnTo>
                  <a:pt x="15257" y="8669"/>
                </a:lnTo>
                <a:lnTo>
                  <a:pt x="15228" y="8773"/>
                </a:lnTo>
                <a:lnTo>
                  <a:pt x="15193" y="8874"/>
                </a:lnTo>
                <a:lnTo>
                  <a:pt x="15153" y="8974"/>
                </a:lnTo>
                <a:lnTo>
                  <a:pt x="15107" y="9070"/>
                </a:lnTo>
                <a:lnTo>
                  <a:pt x="15057" y="9164"/>
                </a:lnTo>
                <a:lnTo>
                  <a:pt x="15002" y="9255"/>
                </a:lnTo>
                <a:lnTo>
                  <a:pt x="14942" y="9343"/>
                </a:lnTo>
                <a:lnTo>
                  <a:pt x="14879" y="9429"/>
                </a:lnTo>
                <a:lnTo>
                  <a:pt x="14810" y="9511"/>
                </a:lnTo>
                <a:lnTo>
                  <a:pt x="14738" y="9590"/>
                </a:lnTo>
                <a:lnTo>
                  <a:pt x="14661" y="9666"/>
                </a:lnTo>
                <a:lnTo>
                  <a:pt x="14582" y="9739"/>
                </a:lnTo>
                <a:lnTo>
                  <a:pt x="14499" y="9807"/>
                </a:lnTo>
                <a:lnTo>
                  <a:pt x="14413" y="9873"/>
                </a:lnTo>
                <a:lnTo>
                  <a:pt x="14323" y="9934"/>
                </a:lnTo>
                <a:lnTo>
                  <a:pt x="14230" y="9993"/>
                </a:lnTo>
                <a:lnTo>
                  <a:pt x="14135" y="10047"/>
                </a:lnTo>
                <a:lnTo>
                  <a:pt x="14037" y="10097"/>
                </a:lnTo>
                <a:lnTo>
                  <a:pt x="13936" y="10143"/>
                </a:lnTo>
                <a:lnTo>
                  <a:pt x="13834" y="10185"/>
                </a:lnTo>
                <a:lnTo>
                  <a:pt x="13729" y="10222"/>
                </a:lnTo>
                <a:lnTo>
                  <a:pt x="13623" y="10256"/>
                </a:lnTo>
                <a:lnTo>
                  <a:pt x="13514" y="10285"/>
                </a:lnTo>
                <a:lnTo>
                  <a:pt x="13405" y="10308"/>
                </a:lnTo>
                <a:lnTo>
                  <a:pt x="13294" y="10328"/>
                </a:lnTo>
                <a:lnTo>
                  <a:pt x="13181" y="10342"/>
                </a:lnTo>
                <a:lnTo>
                  <a:pt x="13068" y="10352"/>
                </a:lnTo>
                <a:lnTo>
                  <a:pt x="12954" y="10358"/>
                </a:lnTo>
                <a:lnTo>
                  <a:pt x="12839" y="10357"/>
                </a:lnTo>
                <a:lnTo>
                  <a:pt x="12723" y="10351"/>
                </a:lnTo>
                <a:lnTo>
                  <a:pt x="12608" y="10341"/>
                </a:lnTo>
                <a:lnTo>
                  <a:pt x="12492" y="10325"/>
                </a:lnTo>
                <a:lnTo>
                  <a:pt x="12466" y="10321"/>
                </a:lnTo>
                <a:lnTo>
                  <a:pt x="12442" y="10316"/>
                </a:lnTo>
                <a:lnTo>
                  <a:pt x="12416" y="10311"/>
                </a:lnTo>
                <a:lnTo>
                  <a:pt x="12392" y="10306"/>
                </a:lnTo>
                <a:lnTo>
                  <a:pt x="12366" y="10301"/>
                </a:lnTo>
                <a:lnTo>
                  <a:pt x="12342" y="10295"/>
                </a:lnTo>
                <a:lnTo>
                  <a:pt x="12318" y="10290"/>
                </a:lnTo>
                <a:lnTo>
                  <a:pt x="12293" y="10284"/>
                </a:lnTo>
                <a:lnTo>
                  <a:pt x="12269" y="10278"/>
                </a:lnTo>
                <a:lnTo>
                  <a:pt x="12245" y="10272"/>
                </a:lnTo>
                <a:lnTo>
                  <a:pt x="12221" y="10264"/>
                </a:lnTo>
                <a:lnTo>
                  <a:pt x="12197" y="10258"/>
                </a:lnTo>
                <a:lnTo>
                  <a:pt x="12174" y="10251"/>
                </a:lnTo>
                <a:lnTo>
                  <a:pt x="12150" y="10244"/>
                </a:lnTo>
                <a:lnTo>
                  <a:pt x="12127" y="10236"/>
                </a:lnTo>
                <a:lnTo>
                  <a:pt x="12103" y="10228"/>
                </a:lnTo>
                <a:lnTo>
                  <a:pt x="12080" y="10220"/>
                </a:lnTo>
                <a:lnTo>
                  <a:pt x="12057" y="10212"/>
                </a:lnTo>
                <a:lnTo>
                  <a:pt x="12034" y="10204"/>
                </a:lnTo>
                <a:lnTo>
                  <a:pt x="12012" y="10196"/>
                </a:lnTo>
                <a:lnTo>
                  <a:pt x="11989" y="10186"/>
                </a:lnTo>
                <a:lnTo>
                  <a:pt x="11967" y="10177"/>
                </a:lnTo>
                <a:lnTo>
                  <a:pt x="11944" y="10168"/>
                </a:lnTo>
                <a:lnTo>
                  <a:pt x="11923" y="10159"/>
                </a:lnTo>
                <a:lnTo>
                  <a:pt x="11900" y="10150"/>
                </a:lnTo>
                <a:lnTo>
                  <a:pt x="11879" y="10139"/>
                </a:lnTo>
                <a:lnTo>
                  <a:pt x="11858" y="10129"/>
                </a:lnTo>
                <a:lnTo>
                  <a:pt x="11836" y="10119"/>
                </a:lnTo>
                <a:lnTo>
                  <a:pt x="11815" y="10109"/>
                </a:lnTo>
                <a:lnTo>
                  <a:pt x="11793" y="10098"/>
                </a:lnTo>
                <a:lnTo>
                  <a:pt x="11773" y="10087"/>
                </a:lnTo>
                <a:lnTo>
                  <a:pt x="11751" y="10076"/>
                </a:lnTo>
                <a:lnTo>
                  <a:pt x="11757" y="10111"/>
                </a:lnTo>
                <a:lnTo>
                  <a:pt x="11761" y="10144"/>
                </a:lnTo>
                <a:lnTo>
                  <a:pt x="11764" y="10179"/>
                </a:lnTo>
                <a:lnTo>
                  <a:pt x="11766" y="10213"/>
                </a:lnTo>
                <a:lnTo>
                  <a:pt x="11768" y="10248"/>
                </a:lnTo>
                <a:lnTo>
                  <a:pt x="11769" y="10283"/>
                </a:lnTo>
                <a:lnTo>
                  <a:pt x="11768" y="10319"/>
                </a:lnTo>
                <a:lnTo>
                  <a:pt x="11767" y="10353"/>
                </a:lnTo>
                <a:lnTo>
                  <a:pt x="11765" y="10388"/>
                </a:lnTo>
                <a:lnTo>
                  <a:pt x="11763" y="10424"/>
                </a:lnTo>
                <a:lnTo>
                  <a:pt x="11759" y="10459"/>
                </a:lnTo>
                <a:lnTo>
                  <a:pt x="11753" y="10495"/>
                </a:lnTo>
                <a:lnTo>
                  <a:pt x="11748" y="10531"/>
                </a:lnTo>
                <a:lnTo>
                  <a:pt x="11742" y="10567"/>
                </a:lnTo>
                <a:lnTo>
                  <a:pt x="11734" y="10602"/>
                </a:lnTo>
                <a:lnTo>
                  <a:pt x="11726" y="10637"/>
                </a:lnTo>
                <a:lnTo>
                  <a:pt x="11705" y="10718"/>
                </a:lnTo>
                <a:lnTo>
                  <a:pt x="11678" y="10797"/>
                </a:lnTo>
                <a:lnTo>
                  <a:pt x="11647" y="10874"/>
                </a:lnTo>
                <a:lnTo>
                  <a:pt x="11613" y="10949"/>
                </a:lnTo>
                <a:lnTo>
                  <a:pt x="11574" y="11021"/>
                </a:lnTo>
                <a:lnTo>
                  <a:pt x="11532" y="11092"/>
                </a:lnTo>
                <a:lnTo>
                  <a:pt x="11486" y="11161"/>
                </a:lnTo>
                <a:lnTo>
                  <a:pt x="11437" y="11226"/>
                </a:lnTo>
                <a:lnTo>
                  <a:pt x="11385" y="11291"/>
                </a:lnTo>
                <a:lnTo>
                  <a:pt x="11329" y="11352"/>
                </a:lnTo>
                <a:lnTo>
                  <a:pt x="11271" y="11411"/>
                </a:lnTo>
                <a:lnTo>
                  <a:pt x="11210" y="11467"/>
                </a:lnTo>
                <a:lnTo>
                  <a:pt x="11146" y="11520"/>
                </a:lnTo>
                <a:lnTo>
                  <a:pt x="11079" y="11570"/>
                </a:lnTo>
                <a:lnTo>
                  <a:pt x="11010" y="11619"/>
                </a:lnTo>
                <a:lnTo>
                  <a:pt x="10938" y="11664"/>
                </a:lnTo>
                <a:lnTo>
                  <a:pt x="10865" y="11705"/>
                </a:lnTo>
                <a:lnTo>
                  <a:pt x="10789" y="11744"/>
                </a:lnTo>
                <a:lnTo>
                  <a:pt x="10711" y="11779"/>
                </a:lnTo>
                <a:lnTo>
                  <a:pt x="10632" y="11811"/>
                </a:lnTo>
                <a:lnTo>
                  <a:pt x="10551" y="11841"/>
                </a:lnTo>
                <a:lnTo>
                  <a:pt x="10468" y="11866"/>
                </a:lnTo>
                <a:lnTo>
                  <a:pt x="10385" y="11888"/>
                </a:lnTo>
                <a:lnTo>
                  <a:pt x="10300" y="11906"/>
                </a:lnTo>
                <a:lnTo>
                  <a:pt x="10214" y="11922"/>
                </a:lnTo>
                <a:lnTo>
                  <a:pt x="10127" y="11932"/>
                </a:lnTo>
                <a:lnTo>
                  <a:pt x="10039" y="11939"/>
                </a:lnTo>
                <a:lnTo>
                  <a:pt x="9950" y="11943"/>
                </a:lnTo>
                <a:lnTo>
                  <a:pt x="9861" y="11942"/>
                </a:lnTo>
                <a:lnTo>
                  <a:pt x="9772" y="11938"/>
                </a:lnTo>
                <a:lnTo>
                  <a:pt x="9682" y="11929"/>
                </a:lnTo>
                <a:lnTo>
                  <a:pt x="9592" y="11917"/>
                </a:lnTo>
                <a:lnTo>
                  <a:pt x="9540" y="11906"/>
                </a:lnTo>
                <a:lnTo>
                  <a:pt x="9489" y="11896"/>
                </a:lnTo>
                <a:lnTo>
                  <a:pt x="9439" y="11884"/>
                </a:lnTo>
                <a:lnTo>
                  <a:pt x="9389" y="11871"/>
                </a:lnTo>
                <a:lnTo>
                  <a:pt x="9340" y="11856"/>
                </a:lnTo>
                <a:lnTo>
                  <a:pt x="9292" y="11841"/>
                </a:lnTo>
                <a:lnTo>
                  <a:pt x="9245" y="11824"/>
                </a:lnTo>
                <a:lnTo>
                  <a:pt x="9198" y="11806"/>
                </a:lnTo>
                <a:lnTo>
                  <a:pt x="9152" y="11787"/>
                </a:lnTo>
                <a:lnTo>
                  <a:pt x="9108" y="11766"/>
                </a:lnTo>
                <a:lnTo>
                  <a:pt x="9064" y="11746"/>
                </a:lnTo>
                <a:lnTo>
                  <a:pt x="9021" y="11723"/>
                </a:lnTo>
                <a:lnTo>
                  <a:pt x="8978" y="11699"/>
                </a:lnTo>
                <a:lnTo>
                  <a:pt x="8937" y="11675"/>
                </a:lnTo>
                <a:lnTo>
                  <a:pt x="8896" y="11649"/>
                </a:lnTo>
                <a:lnTo>
                  <a:pt x="8857" y="11623"/>
                </a:lnTo>
                <a:lnTo>
                  <a:pt x="8819" y="11595"/>
                </a:lnTo>
                <a:lnTo>
                  <a:pt x="8781" y="11567"/>
                </a:lnTo>
                <a:lnTo>
                  <a:pt x="8744" y="11538"/>
                </a:lnTo>
                <a:lnTo>
                  <a:pt x="8709" y="11508"/>
                </a:lnTo>
                <a:lnTo>
                  <a:pt x="8674" y="11477"/>
                </a:lnTo>
                <a:lnTo>
                  <a:pt x="8640" y="11444"/>
                </a:lnTo>
                <a:lnTo>
                  <a:pt x="8608" y="11413"/>
                </a:lnTo>
                <a:lnTo>
                  <a:pt x="8577" y="11379"/>
                </a:lnTo>
                <a:lnTo>
                  <a:pt x="8547" y="11344"/>
                </a:lnTo>
                <a:lnTo>
                  <a:pt x="8517" y="11309"/>
                </a:lnTo>
                <a:lnTo>
                  <a:pt x="8489" y="11273"/>
                </a:lnTo>
                <a:lnTo>
                  <a:pt x="8462" y="11237"/>
                </a:lnTo>
                <a:lnTo>
                  <a:pt x="8436" y="11201"/>
                </a:lnTo>
                <a:lnTo>
                  <a:pt x="8412" y="11163"/>
                </a:lnTo>
                <a:lnTo>
                  <a:pt x="8388" y="11124"/>
                </a:lnTo>
                <a:lnTo>
                  <a:pt x="8366" y="11085"/>
                </a:lnTo>
                <a:lnTo>
                  <a:pt x="8304" y="11124"/>
                </a:lnTo>
                <a:lnTo>
                  <a:pt x="8241" y="11162"/>
                </a:lnTo>
                <a:lnTo>
                  <a:pt x="8175" y="11199"/>
                </a:lnTo>
                <a:lnTo>
                  <a:pt x="8109" y="11234"/>
                </a:lnTo>
                <a:lnTo>
                  <a:pt x="8041" y="11269"/>
                </a:lnTo>
                <a:lnTo>
                  <a:pt x="7971" y="11302"/>
                </a:lnTo>
                <a:lnTo>
                  <a:pt x="7901" y="11335"/>
                </a:lnTo>
                <a:lnTo>
                  <a:pt x="7830" y="11366"/>
                </a:lnTo>
                <a:lnTo>
                  <a:pt x="7756" y="11395"/>
                </a:lnTo>
                <a:lnTo>
                  <a:pt x="7683" y="11424"/>
                </a:lnTo>
                <a:lnTo>
                  <a:pt x="7607" y="11451"/>
                </a:lnTo>
                <a:lnTo>
                  <a:pt x="7531" y="11476"/>
                </a:lnTo>
                <a:lnTo>
                  <a:pt x="7453" y="11501"/>
                </a:lnTo>
                <a:lnTo>
                  <a:pt x="7375" y="11524"/>
                </a:lnTo>
                <a:lnTo>
                  <a:pt x="7295" y="11546"/>
                </a:lnTo>
                <a:lnTo>
                  <a:pt x="7214" y="11566"/>
                </a:lnTo>
                <a:lnTo>
                  <a:pt x="7133" y="11586"/>
                </a:lnTo>
                <a:lnTo>
                  <a:pt x="7050" y="11603"/>
                </a:lnTo>
                <a:lnTo>
                  <a:pt x="6968" y="11620"/>
                </a:lnTo>
                <a:lnTo>
                  <a:pt x="6884" y="11634"/>
                </a:lnTo>
                <a:lnTo>
                  <a:pt x="6799" y="11647"/>
                </a:lnTo>
                <a:lnTo>
                  <a:pt x="6714" y="11659"/>
                </a:lnTo>
                <a:lnTo>
                  <a:pt x="6628" y="11669"/>
                </a:lnTo>
                <a:lnTo>
                  <a:pt x="6541" y="11678"/>
                </a:lnTo>
                <a:lnTo>
                  <a:pt x="6454" y="11684"/>
                </a:lnTo>
                <a:lnTo>
                  <a:pt x="6366" y="11690"/>
                </a:lnTo>
                <a:lnTo>
                  <a:pt x="6277" y="11694"/>
                </a:lnTo>
                <a:lnTo>
                  <a:pt x="6188" y="11696"/>
                </a:lnTo>
                <a:lnTo>
                  <a:pt x="6099" y="11696"/>
                </a:lnTo>
                <a:lnTo>
                  <a:pt x="6009" y="11695"/>
                </a:lnTo>
                <a:lnTo>
                  <a:pt x="5919" y="11693"/>
                </a:lnTo>
                <a:lnTo>
                  <a:pt x="5828" y="11688"/>
                </a:lnTo>
                <a:lnTo>
                  <a:pt x="5668" y="11677"/>
                </a:lnTo>
                <a:lnTo>
                  <a:pt x="5510" y="11660"/>
                </a:lnTo>
                <a:lnTo>
                  <a:pt x="5356" y="11637"/>
                </a:lnTo>
                <a:lnTo>
                  <a:pt x="5205" y="11610"/>
                </a:lnTo>
                <a:lnTo>
                  <a:pt x="5057" y="11579"/>
                </a:lnTo>
                <a:lnTo>
                  <a:pt x="4912" y="11543"/>
                </a:lnTo>
                <a:lnTo>
                  <a:pt x="4773" y="11502"/>
                </a:lnTo>
                <a:lnTo>
                  <a:pt x="4636" y="11457"/>
                </a:lnTo>
                <a:lnTo>
                  <a:pt x="4503" y="11408"/>
                </a:lnTo>
                <a:lnTo>
                  <a:pt x="4376" y="11355"/>
                </a:lnTo>
                <a:lnTo>
                  <a:pt x="4252" y="11298"/>
                </a:lnTo>
                <a:lnTo>
                  <a:pt x="4133" y="11237"/>
                </a:lnTo>
                <a:lnTo>
                  <a:pt x="4020" y="11174"/>
                </a:lnTo>
                <a:lnTo>
                  <a:pt x="3911" y="11106"/>
                </a:lnTo>
                <a:lnTo>
                  <a:pt x="3807" y="11036"/>
                </a:lnTo>
                <a:lnTo>
                  <a:pt x="3708" y="10961"/>
                </a:lnTo>
                <a:lnTo>
                  <a:pt x="3615" y="10884"/>
                </a:lnTo>
                <a:lnTo>
                  <a:pt x="3528" y="10804"/>
                </a:lnTo>
                <a:lnTo>
                  <a:pt x="3447" y="10722"/>
                </a:lnTo>
                <a:lnTo>
                  <a:pt x="3371" y="10637"/>
                </a:lnTo>
                <a:lnTo>
                  <a:pt x="3302" y="10549"/>
                </a:lnTo>
                <a:lnTo>
                  <a:pt x="3239" y="10459"/>
                </a:lnTo>
                <a:lnTo>
                  <a:pt x="3182" y="10368"/>
                </a:lnTo>
                <a:lnTo>
                  <a:pt x="3133" y="10274"/>
                </a:lnTo>
                <a:lnTo>
                  <a:pt x="3091" y="10177"/>
                </a:lnTo>
                <a:lnTo>
                  <a:pt x="3055" y="10079"/>
                </a:lnTo>
                <a:lnTo>
                  <a:pt x="3026" y="9980"/>
                </a:lnTo>
                <a:lnTo>
                  <a:pt x="3006" y="9879"/>
                </a:lnTo>
                <a:lnTo>
                  <a:pt x="2993" y="9777"/>
                </a:lnTo>
                <a:lnTo>
                  <a:pt x="2987" y="9673"/>
                </a:lnTo>
                <a:lnTo>
                  <a:pt x="2990" y="9568"/>
                </a:lnTo>
                <a:lnTo>
                  <a:pt x="3000" y="9462"/>
                </a:lnTo>
                <a:lnTo>
                  <a:pt x="3001" y="9455"/>
                </a:lnTo>
                <a:lnTo>
                  <a:pt x="3003" y="9448"/>
                </a:lnTo>
                <a:lnTo>
                  <a:pt x="3004" y="9441"/>
                </a:lnTo>
                <a:lnTo>
                  <a:pt x="3005" y="9433"/>
                </a:lnTo>
                <a:lnTo>
                  <a:pt x="3006" y="9425"/>
                </a:lnTo>
                <a:lnTo>
                  <a:pt x="3007" y="9418"/>
                </a:lnTo>
                <a:lnTo>
                  <a:pt x="3009" y="9411"/>
                </a:lnTo>
                <a:lnTo>
                  <a:pt x="3010" y="9404"/>
                </a:lnTo>
                <a:lnTo>
                  <a:pt x="2973" y="9417"/>
                </a:lnTo>
                <a:lnTo>
                  <a:pt x="2937" y="9430"/>
                </a:lnTo>
                <a:lnTo>
                  <a:pt x="2900" y="9444"/>
                </a:lnTo>
                <a:lnTo>
                  <a:pt x="2862" y="9456"/>
                </a:lnTo>
                <a:lnTo>
                  <a:pt x="2824" y="9467"/>
                </a:lnTo>
                <a:lnTo>
                  <a:pt x="2787" y="9479"/>
                </a:lnTo>
                <a:lnTo>
                  <a:pt x="2749" y="9489"/>
                </a:lnTo>
                <a:lnTo>
                  <a:pt x="2711" y="9499"/>
                </a:lnTo>
                <a:lnTo>
                  <a:pt x="2672" y="9508"/>
                </a:lnTo>
                <a:lnTo>
                  <a:pt x="2634" y="9517"/>
                </a:lnTo>
                <a:lnTo>
                  <a:pt x="2595" y="9525"/>
                </a:lnTo>
                <a:lnTo>
                  <a:pt x="2556" y="9532"/>
                </a:lnTo>
                <a:lnTo>
                  <a:pt x="2517" y="9538"/>
                </a:lnTo>
                <a:lnTo>
                  <a:pt x="2478" y="9544"/>
                </a:lnTo>
                <a:lnTo>
                  <a:pt x="2438" y="9549"/>
                </a:lnTo>
                <a:lnTo>
                  <a:pt x="2399" y="9554"/>
                </a:lnTo>
                <a:lnTo>
                  <a:pt x="2359" y="9559"/>
                </a:lnTo>
                <a:lnTo>
                  <a:pt x="2318" y="9562"/>
                </a:lnTo>
                <a:lnTo>
                  <a:pt x="2279" y="9565"/>
                </a:lnTo>
                <a:lnTo>
                  <a:pt x="2239" y="9567"/>
                </a:lnTo>
                <a:lnTo>
                  <a:pt x="2198" y="9568"/>
                </a:lnTo>
                <a:lnTo>
                  <a:pt x="2158" y="9569"/>
                </a:lnTo>
                <a:lnTo>
                  <a:pt x="2118" y="9569"/>
                </a:lnTo>
                <a:lnTo>
                  <a:pt x="2077" y="9568"/>
                </a:lnTo>
                <a:lnTo>
                  <a:pt x="2036" y="9567"/>
                </a:lnTo>
                <a:lnTo>
                  <a:pt x="1995" y="9565"/>
                </a:lnTo>
                <a:lnTo>
                  <a:pt x="1955" y="9562"/>
                </a:lnTo>
                <a:lnTo>
                  <a:pt x="1914" y="9559"/>
                </a:lnTo>
                <a:lnTo>
                  <a:pt x="1873" y="9554"/>
                </a:lnTo>
                <a:lnTo>
                  <a:pt x="1832" y="9549"/>
                </a:lnTo>
                <a:lnTo>
                  <a:pt x="1791" y="9544"/>
                </a:lnTo>
                <a:lnTo>
                  <a:pt x="1750" y="9537"/>
                </a:lnTo>
                <a:lnTo>
                  <a:pt x="1641" y="9517"/>
                </a:lnTo>
                <a:lnTo>
                  <a:pt x="1534" y="9491"/>
                </a:lnTo>
                <a:lnTo>
                  <a:pt x="1431" y="9461"/>
                </a:lnTo>
                <a:lnTo>
                  <a:pt x="1329" y="9426"/>
                </a:lnTo>
                <a:lnTo>
                  <a:pt x="1231" y="9387"/>
                </a:lnTo>
                <a:lnTo>
                  <a:pt x="1135" y="9344"/>
                </a:lnTo>
                <a:lnTo>
                  <a:pt x="1043" y="9297"/>
                </a:lnTo>
                <a:lnTo>
                  <a:pt x="955" y="9246"/>
                </a:lnTo>
                <a:lnTo>
                  <a:pt x="868" y="9191"/>
                </a:lnTo>
                <a:lnTo>
                  <a:pt x="786" y="9132"/>
                </a:lnTo>
                <a:lnTo>
                  <a:pt x="707" y="9071"/>
                </a:lnTo>
                <a:lnTo>
                  <a:pt x="631" y="9005"/>
                </a:lnTo>
                <a:lnTo>
                  <a:pt x="560" y="8937"/>
                </a:lnTo>
                <a:lnTo>
                  <a:pt x="492" y="8866"/>
                </a:lnTo>
                <a:lnTo>
                  <a:pt x="428" y="8791"/>
                </a:lnTo>
                <a:lnTo>
                  <a:pt x="368" y="8714"/>
                </a:lnTo>
                <a:lnTo>
                  <a:pt x="312" y="8635"/>
                </a:lnTo>
                <a:lnTo>
                  <a:pt x="260" y="8553"/>
                </a:lnTo>
                <a:lnTo>
                  <a:pt x="213" y="8468"/>
                </a:lnTo>
                <a:lnTo>
                  <a:pt x="170" y="8382"/>
                </a:lnTo>
                <a:lnTo>
                  <a:pt x="132" y="8292"/>
                </a:lnTo>
                <a:lnTo>
                  <a:pt x="98" y="8202"/>
                </a:lnTo>
                <a:lnTo>
                  <a:pt x="69" y="8110"/>
                </a:lnTo>
                <a:lnTo>
                  <a:pt x="45" y="8016"/>
                </a:lnTo>
                <a:lnTo>
                  <a:pt x="27" y="7921"/>
                </a:lnTo>
                <a:lnTo>
                  <a:pt x="12" y="7823"/>
                </a:lnTo>
                <a:lnTo>
                  <a:pt x="3" y="7726"/>
                </a:lnTo>
                <a:lnTo>
                  <a:pt x="0" y="7627"/>
                </a:lnTo>
                <a:lnTo>
                  <a:pt x="2" y="7527"/>
                </a:lnTo>
                <a:lnTo>
                  <a:pt x="9" y="7427"/>
                </a:lnTo>
                <a:lnTo>
                  <a:pt x="22" y="7325"/>
                </a:lnTo>
                <a:lnTo>
                  <a:pt x="42" y="7224"/>
                </a:lnTo>
                <a:lnTo>
                  <a:pt x="59" y="7149"/>
                </a:lnTo>
                <a:lnTo>
                  <a:pt x="80" y="7076"/>
                </a:lnTo>
                <a:lnTo>
                  <a:pt x="102" y="7005"/>
                </a:lnTo>
                <a:lnTo>
                  <a:pt x="128" y="6934"/>
                </a:lnTo>
                <a:lnTo>
                  <a:pt x="156" y="6864"/>
                </a:lnTo>
                <a:lnTo>
                  <a:pt x="187" y="6797"/>
                </a:lnTo>
                <a:lnTo>
                  <a:pt x="220" y="6730"/>
                </a:lnTo>
                <a:lnTo>
                  <a:pt x="256" y="6665"/>
                </a:lnTo>
                <a:lnTo>
                  <a:pt x="295" y="6601"/>
                </a:lnTo>
                <a:lnTo>
                  <a:pt x="336" y="6539"/>
                </a:lnTo>
                <a:lnTo>
                  <a:pt x="378" y="6477"/>
                </a:lnTo>
                <a:lnTo>
                  <a:pt x="423" y="6418"/>
                </a:lnTo>
                <a:lnTo>
                  <a:pt x="470" y="6359"/>
                </a:lnTo>
                <a:lnTo>
                  <a:pt x="519" y="6304"/>
                </a:lnTo>
                <a:lnTo>
                  <a:pt x="571" y="6249"/>
                </a:lnTo>
                <a:lnTo>
                  <a:pt x="624" y="6197"/>
                </a:lnTo>
                <a:lnTo>
                  <a:pt x="679" y="6145"/>
                </a:lnTo>
                <a:lnTo>
                  <a:pt x="736" y="6096"/>
                </a:lnTo>
                <a:lnTo>
                  <a:pt x="795" y="6048"/>
                </a:lnTo>
                <a:lnTo>
                  <a:pt x="856" y="6003"/>
                </a:lnTo>
                <a:lnTo>
                  <a:pt x="917" y="5959"/>
                </a:lnTo>
                <a:lnTo>
                  <a:pt x="981" y="5917"/>
                </a:lnTo>
                <a:lnTo>
                  <a:pt x="1047" y="5878"/>
                </a:lnTo>
                <a:lnTo>
                  <a:pt x="1113" y="5840"/>
                </a:lnTo>
                <a:lnTo>
                  <a:pt x="1181" y="5804"/>
                </a:lnTo>
                <a:lnTo>
                  <a:pt x="1250" y="5770"/>
                </a:lnTo>
                <a:lnTo>
                  <a:pt x="1321" y="5740"/>
                </a:lnTo>
                <a:lnTo>
                  <a:pt x="1392" y="5711"/>
                </a:lnTo>
                <a:lnTo>
                  <a:pt x="1465" y="5683"/>
                </a:lnTo>
                <a:lnTo>
                  <a:pt x="1539" y="5659"/>
                </a:lnTo>
                <a:lnTo>
                  <a:pt x="1614" y="5637"/>
                </a:lnTo>
                <a:lnTo>
                  <a:pt x="1690" y="5618"/>
                </a:lnTo>
                <a:lnTo>
                  <a:pt x="1659" y="5574"/>
                </a:lnTo>
                <a:lnTo>
                  <a:pt x="1629" y="5529"/>
                </a:lnTo>
                <a:lnTo>
                  <a:pt x="1600" y="5484"/>
                </a:lnTo>
                <a:lnTo>
                  <a:pt x="1573" y="5437"/>
                </a:lnTo>
                <a:lnTo>
                  <a:pt x="1546" y="5391"/>
                </a:lnTo>
                <a:lnTo>
                  <a:pt x="1522" y="5344"/>
                </a:lnTo>
                <a:lnTo>
                  <a:pt x="1498" y="5296"/>
                </a:lnTo>
                <a:lnTo>
                  <a:pt x="1475" y="5248"/>
                </a:lnTo>
                <a:lnTo>
                  <a:pt x="1454" y="5199"/>
                </a:lnTo>
                <a:lnTo>
                  <a:pt x="1434" y="5150"/>
                </a:lnTo>
                <a:lnTo>
                  <a:pt x="1415" y="5099"/>
                </a:lnTo>
                <a:lnTo>
                  <a:pt x="1397" y="5049"/>
                </a:lnTo>
                <a:lnTo>
                  <a:pt x="1381" y="4998"/>
                </a:lnTo>
                <a:lnTo>
                  <a:pt x="1367" y="4947"/>
                </a:lnTo>
                <a:lnTo>
                  <a:pt x="1353" y="4895"/>
                </a:lnTo>
                <a:lnTo>
                  <a:pt x="1340" y="4842"/>
                </a:lnTo>
                <a:lnTo>
                  <a:pt x="1330" y="4790"/>
                </a:lnTo>
                <a:lnTo>
                  <a:pt x="1320" y="4737"/>
                </a:lnTo>
                <a:lnTo>
                  <a:pt x="1312" y="4683"/>
                </a:lnTo>
                <a:lnTo>
                  <a:pt x="1306" y="4629"/>
                </a:lnTo>
                <a:lnTo>
                  <a:pt x="1301" y="4575"/>
                </a:lnTo>
                <a:lnTo>
                  <a:pt x="1296" y="4521"/>
                </a:lnTo>
                <a:lnTo>
                  <a:pt x="1294" y="4466"/>
                </a:lnTo>
                <a:lnTo>
                  <a:pt x="1293" y="4411"/>
                </a:lnTo>
                <a:lnTo>
                  <a:pt x="1293" y="4356"/>
                </a:lnTo>
                <a:lnTo>
                  <a:pt x="1295" y="4300"/>
                </a:lnTo>
                <a:lnTo>
                  <a:pt x="1299" y="4244"/>
                </a:lnTo>
                <a:lnTo>
                  <a:pt x="1305" y="4189"/>
                </a:lnTo>
                <a:lnTo>
                  <a:pt x="1312" y="4132"/>
                </a:lnTo>
                <a:lnTo>
                  <a:pt x="1320" y="4076"/>
                </a:lnTo>
                <a:lnTo>
                  <a:pt x="1329" y="4020"/>
                </a:lnTo>
                <a:lnTo>
                  <a:pt x="1340" y="3963"/>
                </a:lnTo>
                <a:lnTo>
                  <a:pt x="1369" y="3850"/>
                </a:lnTo>
                <a:lnTo>
                  <a:pt x="1401" y="3739"/>
                </a:lnTo>
                <a:lnTo>
                  <a:pt x="1441" y="3630"/>
                </a:lnTo>
                <a:lnTo>
                  <a:pt x="1486" y="3524"/>
                </a:lnTo>
                <a:lnTo>
                  <a:pt x="1536" y="3420"/>
                </a:lnTo>
                <a:lnTo>
                  <a:pt x="1591" y="3320"/>
                </a:lnTo>
                <a:lnTo>
                  <a:pt x="1650" y="3223"/>
                </a:lnTo>
                <a:lnTo>
                  <a:pt x="1716" y="3127"/>
                </a:lnTo>
                <a:lnTo>
                  <a:pt x="1785" y="3036"/>
                </a:lnTo>
                <a:lnTo>
                  <a:pt x="1858" y="2948"/>
                </a:lnTo>
                <a:lnTo>
                  <a:pt x="1937" y="2863"/>
                </a:lnTo>
                <a:lnTo>
                  <a:pt x="2019" y="2782"/>
                </a:lnTo>
                <a:lnTo>
                  <a:pt x="2105" y="2704"/>
                </a:lnTo>
                <a:lnTo>
                  <a:pt x="2195" y="2631"/>
                </a:lnTo>
                <a:lnTo>
                  <a:pt x="2288" y="2561"/>
                </a:lnTo>
                <a:lnTo>
                  <a:pt x="2385" y="2494"/>
                </a:lnTo>
                <a:lnTo>
                  <a:pt x="2484" y="2433"/>
                </a:lnTo>
                <a:lnTo>
                  <a:pt x="2587" y="2376"/>
                </a:lnTo>
                <a:lnTo>
                  <a:pt x="2693" y="2322"/>
                </a:lnTo>
                <a:lnTo>
                  <a:pt x="2801" y="2274"/>
                </a:lnTo>
                <a:lnTo>
                  <a:pt x="2911" y="2230"/>
                </a:lnTo>
                <a:lnTo>
                  <a:pt x="3024" y="2191"/>
                </a:lnTo>
                <a:lnTo>
                  <a:pt x="3139" y="2157"/>
                </a:lnTo>
                <a:lnTo>
                  <a:pt x="3256" y="2128"/>
                </a:lnTo>
                <a:lnTo>
                  <a:pt x="3374" y="2104"/>
                </a:lnTo>
                <a:lnTo>
                  <a:pt x="3495" y="2085"/>
                </a:lnTo>
                <a:lnTo>
                  <a:pt x="3616" y="2071"/>
                </a:lnTo>
                <a:lnTo>
                  <a:pt x="3738" y="2064"/>
                </a:lnTo>
                <a:lnTo>
                  <a:pt x="3862" y="2061"/>
                </a:lnTo>
                <a:lnTo>
                  <a:pt x="3985" y="2065"/>
                </a:lnTo>
                <a:lnTo>
                  <a:pt x="4111" y="2074"/>
                </a:lnTo>
                <a:lnTo>
                  <a:pt x="4235" y="2090"/>
                </a:lnTo>
                <a:lnTo>
                  <a:pt x="4256" y="2094"/>
                </a:lnTo>
                <a:lnTo>
                  <a:pt x="4278" y="2097"/>
                </a:lnTo>
                <a:lnTo>
                  <a:pt x="4299" y="2100"/>
                </a:lnTo>
                <a:lnTo>
                  <a:pt x="4321" y="2104"/>
                </a:lnTo>
                <a:lnTo>
                  <a:pt x="4342" y="2108"/>
                </a:lnTo>
                <a:lnTo>
                  <a:pt x="4363" y="2112"/>
                </a:lnTo>
                <a:lnTo>
                  <a:pt x="4384" y="2116"/>
                </a:lnTo>
                <a:lnTo>
                  <a:pt x="4404" y="2120"/>
                </a:lnTo>
                <a:lnTo>
                  <a:pt x="4425" y="2126"/>
                </a:lnTo>
                <a:lnTo>
                  <a:pt x="4446" y="2131"/>
                </a:lnTo>
                <a:lnTo>
                  <a:pt x="4467" y="2135"/>
                </a:lnTo>
                <a:lnTo>
                  <a:pt x="4487" y="2140"/>
                </a:lnTo>
                <a:lnTo>
                  <a:pt x="4507" y="2145"/>
                </a:lnTo>
                <a:lnTo>
                  <a:pt x="4528" y="2151"/>
                </a:lnTo>
                <a:lnTo>
                  <a:pt x="4548" y="2156"/>
                </a:lnTo>
                <a:lnTo>
                  <a:pt x="4568" y="2162"/>
                </a:lnTo>
                <a:lnTo>
                  <a:pt x="4588" y="2168"/>
                </a:lnTo>
                <a:lnTo>
                  <a:pt x="4608" y="2174"/>
                </a:lnTo>
                <a:lnTo>
                  <a:pt x="4628" y="2180"/>
                </a:lnTo>
                <a:lnTo>
                  <a:pt x="4648" y="2186"/>
                </a:lnTo>
                <a:lnTo>
                  <a:pt x="4668" y="2193"/>
                </a:lnTo>
                <a:lnTo>
                  <a:pt x="4687" y="2199"/>
                </a:lnTo>
                <a:lnTo>
                  <a:pt x="4706" y="2207"/>
                </a:lnTo>
                <a:lnTo>
                  <a:pt x="4726" y="2213"/>
                </a:lnTo>
                <a:lnTo>
                  <a:pt x="4745" y="2220"/>
                </a:lnTo>
                <a:lnTo>
                  <a:pt x="4764" y="2227"/>
                </a:lnTo>
                <a:lnTo>
                  <a:pt x="4784" y="2234"/>
                </a:lnTo>
                <a:lnTo>
                  <a:pt x="4802" y="2242"/>
                </a:lnTo>
                <a:lnTo>
                  <a:pt x="4822" y="2250"/>
                </a:lnTo>
                <a:lnTo>
                  <a:pt x="4840" y="2258"/>
                </a:lnTo>
                <a:lnTo>
                  <a:pt x="4859" y="2265"/>
                </a:lnTo>
                <a:lnTo>
                  <a:pt x="4878" y="2273"/>
                </a:lnTo>
                <a:lnTo>
                  <a:pt x="4879" y="2269"/>
                </a:lnTo>
                <a:lnTo>
                  <a:pt x="4880" y="2266"/>
                </a:lnTo>
                <a:lnTo>
                  <a:pt x="4880" y="2262"/>
                </a:lnTo>
                <a:lnTo>
                  <a:pt x="4881" y="2258"/>
                </a:lnTo>
                <a:lnTo>
                  <a:pt x="4882" y="2254"/>
                </a:lnTo>
                <a:lnTo>
                  <a:pt x="4883" y="2250"/>
                </a:lnTo>
                <a:lnTo>
                  <a:pt x="4884" y="2245"/>
                </a:lnTo>
                <a:lnTo>
                  <a:pt x="4884" y="2242"/>
                </a:lnTo>
                <a:lnTo>
                  <a:pt x="4905" y="2156"/>
                </a:lnTo>
                <a:lnTo>
                  <a:pt x="4930" y="2073"/>
                </a:lnTo>
                <a:lnTo>
                  <a:pt x="4958" y="1991"/>
                </a:lnTo>
                <a:lnTo>
                  <a:pt x="4990" y="1912"/>
                </a:lnTo>
                <a:lnTo>
                  <a:pt x="5025" y="1834"/>
                </a:lnTo>
                <a:lnTo>
                  <a:pt x="5062" y="1757"/>
                </a:lnTo>
                <a:lnTo>
                  <a:pt x="5103" y="1683"/>
                </a:lnTo>
                <a:lnTo>
                  <a:pt x="5147" y="1611"/>
                </a:lnTo>
                <a:lnTo>
                  <a:pt x="5193" y="1542"/>
                </a:lnTo>
                <a:lnTo>
                  <a:pt x="5243" y="1474"/>
                </a:lnTo>
                <a:lnTo>
                  <a:pt x="5294" y="1410"/>
                </a:lnTo>
                <a:lnTo>
                  <a:pt x="5349" y="1348"/>
                </a:lnTo>
                <a:lnTo>
                  <a:pt x="5405" y="1288"/>
                </a:lnTo>
                <a:lnTo>
                  <a:pt x="5464" y="1231"/>
                </a:lnTo>
                <a:lnTo>
                  <a:pt x="5524" y="1177"/>
                </a:lnTo>
                <a:lnTo>
                  <a:pt x="5588" y="1127"/>
                </a:lnTo>
                <a:lnTo>
                  <a:pt x="5652" y="1079"/>
                </a:lnTo>
                <a:lnTo>
                  <a:pt x="5718" y="1034"/>
                </a:lnTo>
                <a:lnTo>
                  <a:pt x="5785" y="992"/>
                </a:lnTo>
                <a:lnTo>
                  <a:pt x="5856" y="954"/>
                </a:lnTo>
                <a:lnTo>
                  <a:pt x="5926" y="919"/>
                </a:lnTo>
                <a:lnTo>
                  <a:pt x="5998" y="887"/>
                </a:lnTo>
                <a:lnTo>
                  <a:pt x="6071" y="859"/>
                </a:lnTo>
                <a:lnTo>
                  <a:pt x="6146" y="836"/>
                </a:lnTo>
                <a:lnTo>
                  <a:pt x="6220" y="815"/>
                </a:lnTo>
                <a:lnTo>
                  <a:pt x="6296" y="799"/>
                </a:lnTo>
                <a:lnTo>
                  <a:pt x="6373" y="787"/>
                </a:lnTo>
                <a:lnTo>
                  <a:pt x="6449" y="779"/>
                </a:lnTo>
                <a:lnTo>
                  <a:pt x="6527" y="774"/>
                </a:lnTo>
                <a:lnTo>
                  <a:pt x="6605" y="774"/>
                </a:lnTo>
                <a:lnTo>
                  <a:pt x="6682" y="779"/>
                </a:lnTo>
                <a:lnTo>
                  <a:pt x="6761" y="788"/>
                </a:lnTo>
                <a:lnTo>
                  <a:pt x="6785" y="792"/>
                </a:lnTo>
                <a:lnTo>
                  <a:pt x="6810" y="796"/>
                </a:lnTo>
                <a:lnTo>
                  <a:pt x="6833" y="801"/>
                </a:lnTo>
                <a:lnTo>
                  <a:pt x="6857" y="806"/>
                </a:lnTo>
                <a:lnTo>
                  <a:pt x="6881" y="811"/>
                </a:lnTo>
                <a:lnTo>
                  <a:pt x="6904" y="817"/>
                </a:lnTo>
                <a:lnTo>
                  <a:pt x="6928" y="824"/>
                </a:lnTo>
                <a:lnTo>
                  <a:pt x="6951" y="830"/>
                </a:lnTo>
                <a:lnTo>
                  <a:pt x="6974" y="837"/>
                </a:lnTo>
                <a:lnTo>
                  <a:pt x="6996" y="844"/>
                </a:lnTo>
                <a:lnTo>
                  <a:pt x="7019" y="852"/>
                </a:lnTo>
                <a:lnTo>
                  <a:pt x="7041" y="860"/>
                </a:lnTo>
                <a:lnTo>
                  <a:pt x="7064" y="870"/>
                </a:lnTo>
                <a:lnTo>
                  <a:pt x="7085" y="878"/>
                </a:lnTo>
                <a:lnTo>
                  <a:pt x="7106" y="888"/>
                </a:lnTo>
                <a:lnTo>
                  <a:pt x="7128" y="897"/>
                </a:lnTo>
                <a:lnTo>
                  <a:pt x="7149" y="908"/>
                </a:lnTo>
                <a:lnTo>
                  <a:pt x="7171" y="918"/>
                </a:lnTo>
                <a:lnTo>
                  <a:pt x="7191" y="929"/>
                </a:lnTo>
                <a:lnTo>
                  <a:pt x="7211" y="940"/>
                </a:lnTo>
                <a:lnTo>
                  <a:pt x="7232" y="952"/>
                </a:lnTo>
                <a:lnTo>
                  <a:pt x="7251" y="964"/>
                </a:lnTo>
                <a:lnTo>
                  <a:pt x="7272" y="976"/>
                </a:lnTo>
                <a:lnTo>
                  <a:pt x="7291" y="989"/>
                </a:lnTo>
                <a:lnTo>
                  <a:pt x="7310" y="1002"/>
                </a:lnTo>
                <a:lnTo>
                  <a:pt x="7330" y="1015"/>
                </a:lnTo>
                <a:lnTo>
                  <a:pt x="7348" y="1028"/>
                </a:lnTo>
                <a:lnTo>
                  <a:pt x="7366" y="1043"/>
                </a:lnTo>
                <a:lnTo>
                  <a:pt x="7385" y="1057"/>
                </a:lnTo>
                <a:lnTo>
                  <a:pt x="7403" y="1072"/>
                </a:lnTo>
                <a:lnTo>
                  <a:pt x="7421" y="1086"/>
                </a:lnTo>
                <a:lnTo>
                  <a:pt x="7438" y="1101"/>
                </a:lnTo>
                <a:close/>
              </a:path>
            </a:pathLst>
          </a:custGeom>
          <a:solidFill>
            <a:schemeClr val="bg1"/>
          </a:solidFill>
          <a:ln>
            <a:solidFill>
              <a:schemeClr val="tx1"/>
            </a:solidFill>
          </a:ln>
          <a:effectLst>
            <a:outerShdw dist="40161" dir="4293903" algn="ctr" rotWithShape="0">
              <a:srgbClr val="666633"/>
            </a:outerShdw>
          </a:effectLst>
        </p:spPr>
        <p:txBody>
          <a:bodyPr wrap="square" lIns="22467" tIns="11234" rIns="22467" bIns="11234" anchor="ctr" anchorCtr="1">
            <a:noAutofit/>
          </a:bodyPr>
          <a:lstStyle/>
          <a:p>
            <a:r>
              <a:rPr lang="en-US" altLang="zh-CN" dirty="0">
                <a:latin typeface="Montserrat" panose="00000500000000000000" pitchFamily="2" charset="0"/>
                <a:ea typeface="微软雅黑 Light" panose="020B0502040204020203" pitchFamily="34" charset="-122"/>
              </a:rPr>
              <a:t>Internet</a:t>
            </a:r>
            <a:endParaRPr lang="zh-CN" altLang="en-US" dirty="0">
              <a:latin typeface="Montserrat" panose="00000500000000000000" pitchFamily="2" charset="0"/>
              <a:ea typeface="微软雅黑 Light" panose="020B0502040204020203" pitchFamily="34" charset="-122"/>
            </a:endParaRPr>
          </a:p>
        </p:txBody>
      </p:sp>
      <p:sp>
        <p:nvSpPr>
          <p:cNvPr id="22" name="Text Box 409"/>
          <p:cNvSpPr txBox="1">
            <a:spLocks noChangeArrowheads="1"/>
          </p:cNvSpPr>
          <p:nvPr/>
        </p:nvSpPr>
        <p:spPr bwMode="auto">
          <a:xfrm>
            <a:off x="1638439" y="3191688"/>
            <a:ext cx="902811"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TCP</a:t>
            </a:r>
          </a:p>
          <a:p>
            <a:pPr algn="ctr" eaLnBrk="1" hangingPunct="1"/>
            <a:r>
              <a:rPr kumimoji="1" lang="zh-CN" altLang="en-US" sz="1400" dirty="0">
                <a:latin typeface="Montserrat" panose="00000500000000000000" pitchFamily="2" charset="0"/>
                <a:ea typeface="微软雅黑 Light" panose="020B0502040204020203" pitchFamily="34" charset="-122"/>
              </a:rPr>
              <a:t>短暂端口</a:t>
            </a:r>
          </a:p>
        </p:txBody>
      </p:sp>
      <p:sp>
        <p:nvSpPr>
          <p:cNvPr id="9" name="矩形 8">
            <a:extLst>
              <a:ext uri="{FF2B5EF4-FFF2-40B4-BE49-F238E27FC236}">
                <a16:creationId xmlns:a16="http://schemas.microsoft.com/office/drawing/2014/main" id="{2A8E2CC3-610F-0F05-A41C-3DCBA5F3D66C}"/>
              </a:ext>
            </a:extLst>
          </p:cNvPr>
          <p:cNvSpPr/>
          <p:nvPr/>
        </p:nvSpPr>
        <p:spPr>
          <a:xfrm>
            <a:off x="1660633" y="2420449"/>
            <a:ext cx="967261" cy="641131"/>
          </a:xfrm>
          <a:prstGeom prst="rect">
            <a:avLst/>
          </a:prstGeom>
          <a:ln/>
        </p:spPr>
        <p:style>
          <a:lnRef idx="3">
            <a:schemeClr val="lt1"/>
          </a:lnRef>
          <a:fillRef idx="1">
            <a:schemeClr val="accent5"/>
          </a:fillRef>
          <a:effectRef idx="1">
            <a:schemeClr val="accent5"/>
          </a:effectRef>
          <a:fontRef idx="minor">
            <a:schemeClr val="lt1"/>
          </a:fontRef>
        </p:style>
        <p:txBody>
          <a:bodyPr rtlCol="0" anchor="ctr"/>
          <a:lstStyle/>
          <a:p>
            <a:pPr algn="ctr"/>
            <a:r>
              <a:rPr lang="en-US" altLang="zh-CN" sz="1600" dirty="0">
                <a:solidFill>
                  <a:schemeClr val="bg1"/>
                </a:solidFill>
                <a:latin typeface="Montserrat" panose="00000500000000000000" pitchFamily="2" charset="0"/>
                <a:ea typeface="微软雅黑 Light" panose="020B0502040204020203" pitchFamily="34" charset="-122"/>
              </a:rPr>
              <a:t>SMTP</a:t>
            </a:r>
          </a:p>
          <a:p>
            <a:pPr algn="ctr"/>
            <a:r>
              <a:rPr lang="en-US" altLang="zh-CN" sz="1600" dirty="0">
                <a:solidFill>
                  <a:schemeClr val="bg1"/>
                </a:solidFill>
                <a:latin typeface="Montserrat" panose="00000500000000000000" pitchFamily="2" charset="0"/>
                <a:ea typeface="微软雅黑 Light" panose="020B0502040204020203" pitchFamily="34" charset="-122"/>
              </a:rPr>
              <a:t>Client</a:t>
            </a:r>
            <a:endParaRPr lang="zh-CN" altLang="en-US" sz="1600" dirty="0">
              <a:solidFill>
                <a:schemeClr val="bg1"/>
              </a:solidFill>
              <a:latin typeface="Montserrat" panose="00000500000000000000" pitchFamily="2" charset="0"/>
              <a:ea typeface="微软雅黑 Light" panose="020B0502040204020203" pitchFamily="34" charset="-122"/>
            </a:endParaRPr>
          </a:p>
        </p:txBody>
      </p:sp>
      <p:sp>
        <p:nvSpPr>
          <p:cNvPr id="10" name="矩形 9">
            <a:extLst>
              <a:ext uri="{FF2B5EF4-FFF2-40B4-BE49-F238E27FC236}">
                <a16:creationId xmlns:a16="http://schemas.microsoft.com/office/drawing/2014/main" id="{DD89DB68-6A91-14AF-A5AB-1B190D50AA52}"/>
              </a:ext>
            </a:extLst>
          </p:cNvPr>
          <p:cNvSpPr/>
          <p:nvPr/>
        </p:nvSpPr>
        <p:spPr>
          <a:xfrm>
            <a:off x="6600186" y="2420449"/>
            <a:ext cx="967261" cy="641131"/>
          </a:xfrm>
          <a:prstGeom prst="rect">
            <a:avLst/>
          </a:prstGeom>
          <a:ln/>
        </p:spPr>
        <p:style>
          <a:lnRef idx="3">
            <a:schemeClr val="lt1"/>
          </a:lnRef>
          <a:fillRef idx="1">
            <a:schemeClr val="accent6"/>
          </a:fillRef>
          <a:effectRef idx="1">
            <a:schemeClr val="accent6"/>
          </a:effectRef>
          <a:fontRef idx="minor">
            <a:schemeClr val="lt1"/>
          </a:fontRef>
        </p:style>
        <p:txBody>
          <a:bodyPr rtlCol="0" anchor="ctr"/>
          <a:lstStyle/>
          <a:p>
            <a:pPr algn="ctr"/>
            <a:r>
              <a:rPr lang="en-US" altLang="zh-CN" sz="1600" dirty="0">
                <a:solidFill>
                  <a:schemeClr val="bg1"/>
                </a:solidFill>
                <a:latin typeface="Montserrat" panose="00000500000000000000" pitchFamily="2" charset="0"/>
                <a:ea typeface="微软雅黑 Light" panose="020B0502040204020203" pitchFamily="34" charset="-122"/>
              </a:rPr>
              <a:t>SMTP</a:t>
            </a:r>
          </a:p>
          <a:p>
            <a:pPr algn="ctr"/>
            <a:r>
              <a:rPr lang="en-US" altLang="zh-CN" sz="1600" dirty="0">
                <a:solidFill>
                  <a:schemeClr val="bg1"/>
                </a:solidFill>
                <a:latin typeface="Montserrat" panose="00000500000000000000" pitchFamily="2" charset="0"/>
                <a:ea typeface="微软雅黑 Light" panose="020B0502040204020203" pitchFamily="34" charset="-122"/>
              </a:rPr>
              <a:t>Server</a:t>
            </a:r>
            <a:endParaRPr lang="zh-CN" altLang="en-US" sz="1600" dirty="0">
              <a:solidFill>
                <a:schemeClr val="bg1"/>
              </a:solidFill>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3568596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99683ACC-48A3-75C0-684E-AED4964DD557}"/>
              </a:ext>
            </a:extLst>
          </p:cNvPr>
          <p:cNvSpPr>
            <a:spLocks noGrp="1"/>
          </p:cNvSpPr>
          <p:nvPr>
            <p:ph type="title"/>
          </p:nvPr>
        </p:nvSpPr>
        <p:spPr>
          <a:xfrm>
            <a:off x="485999" y="174482"/>
            <a:ext cx="8171999" cy="338554"/>
          </a:xfrm>
        </p:spPr>
        <p:txBody>
          <a:bodyPr/>
          <a:lstStyle/>
          <a:p>
            <a:r>
              <a:rPr lang="en-US" altLang="zh-CN" dirty="0"/>
              <a:t>6.5.2  </a:t>
            </a:r>
            <a:r>
              <a:rPr lang="zh-CN" altLang="en-US" dirty="0"/>
              <a:t>简单邮件传送协议 </a:t>
            </a:r>
            <a:r>
              <a:rPr lang="en-US" altLang="zh-CN" dirty="0"/>
              <a:t>SMTP – </a:t>
            </a:r>
            <a:r>
              <a:rPr lang="zh-CN" altLang="en-US" dirty="0"/>
              <a:t>三个阶段</a:t>
            </a:r>
          </a:p>
        </p:txBody>
      </p:sp>
      <p:sp>
        <p:nvSpPr>
          <p:cNvPr id="8" name="内容占位符 7">
            <a:extLst>
              <a:ext uri="{FF2B5EF4-FFF2-40B4-BE49-F238E27FC236}">
                <a16:creationId xmlns:a16="http://schemas.microsoft.com/office/drawing/2014/main" id="{6B822735-A094-F6CE-FE8B-7A93221703D4}"/>
              </a:ext>
            </a:extLst>
          </p:cNvPr>
          <p:cNvSpPr>
            <a:spLocks noGrp="1"/>
          </p:cNvSpPr>
          <p:nvPr>
            <p:ph sz="quarter" idx="11"/>
          </p:nvPr>
        </p:nvSpPr>
        <p:spPr>
          <a:xfrm>
            <a:off x="486000" y="687518"/>
            <a:ext cx="8172000" cy="4079035"/>
          </a:xfrm>
        </p:spPr>
        <p:txBody>
          <a:bodyPr/>
          <a:lstStyle/>
          <a:p>
            <a:r>
              <a:rPr lang="zh-CN" altLang="en-US" dirty="0"/>
              <a:t>连接建立</a:t>
            </a:r>
            <a:endParaRPr lang="en-US" altLang="zh-CN" dirty="0"/>
          </a:p>
          <a:p>
            <a:pPr lvl="1"/>
            <a:r>
              <a:rPr lang="zh-CN" altLang="en-US" dirty="0"/>
              <a:t>连接是在发送主机的 </a:t>
            </a:r>
            <a:r>
              <a:rPr lang="en-US" altLang="zh-CN" dirty="0"/>
              <a:t>SMTP </a:t>
            </a:r>
            <a:r>
              <a:rPr lang="zh-CN" altLang="en-US" dirty="0"/>
              <a:t>客户和接收主机的 </a:t>
            </a:r>
            <a:r>
              <a:rPr lang="en-US" altLang="zh-CN" dirty="0"/>
              <a:t>SMTP </a:t>
            </a:r>
            <a:r>
              <a:rPr lang="zh-CN" altLang="en-US" dirty="0"/>
              <a:t>服务器之间建立的</a:t>
            </a:r>
            <a:endParaRPr lang="en-US" altLang="zh-CN" dirty="0"/>
          </a:p>
          <a:p>
            <a:pPr lvl="1"/>
            <a:r>
              <a:rPr lang="en-US" altLang="zh-CN" dirty="0"/>
              <a:t>SMTP </a:t>
            </a:r>
            <a:r>
              <a:rPr lang="zh-CN" altLang="en-US" dirty="0"/>
              <a:t>不使用中间的邮件服务器；但是仍然需要中间的站点转发</a:t>
            </a:r>
          </a:p>
          <a:p>
            <a:r>
              <a:rPr lang="zh-CN" altLang="en-US" dirty="0"/>
              <a:t>邮件传送</a:t>
            </a:r>
          </a:p>
          <a:p>
            <a:r>
              <a:rPr lang="zh-CN" altLang="en-US" dirty="0"/>
              <a:t>连接释放</a:t>
            </a:r>
            <a:endParaRPr lang="en-US" altLang="zh-CN" dirty="0"/>
          </a:p>
          <a:p>
            <a:pPr lvl="1"/>
            <a:r>
              <a:rPr lang="zh-CN" altLang="en-US" dirty="0"/>
              <a:t>邮件发送完毕后，</a:t>
            </a:r>
            <a:r>
              <a:rPr lang="en-US" altLang="zh-CN" dirty="0"/>
              <a:t>SMTP </a:t>
            </a:r>
            <a:r>
              <a:rPr lang="zh-CN" altLang="en-US" dirty="0"/>
              <a:t>应释放 </a:t>
            </a:r>
            <a:r>
              <a:rPr lang="en-US" altLang="zh-CN" dirty="0"/>
              <a:t>TCP </a:t>
            </a:r>
            <a:r>
              <a:rPr lang="zh-CN" altLang="en-US" dirty="0"/>
              <a:t>连接</a:t>
            </a:r>
          </a:p>
        </p:txBody>
      </p:sp>
    </p:spTree>
    <p:extLst>
      <p:ext uri="{BB962C8B-B14F-4D97-AF65-F5344CB8AC3E}">
        <p14:creationId xmlns:p14="http://schemas.microsoft.com/office/powerpoint/2010/main" val="32398918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262DEAE2-AF80-DD68-2900-1D1267B5226A}"/>
              </a:ext>
            </a:extLst>
          </p:cNvPr>
          <p:cNvSpPr>
            <a:spLocks noGrp="1"/>
          </p:cNvSpPr>
          <p:nvPr>
            <p:ph type="title"/>
          </p:nvPr>
        </p:nvSpPr>
        <p:spPr>
          <a:xfrm>
            <a:off x="485999" y="174482"/>
            <a:ext cx="8171999" cy="338554"/>
          </a:xfrm>
        </p:spPr>
        <p:txBody>
          <a:bodyPr/>
          <a:lstStyle/>
          <a:p>
            <a:r>
              <a:rPr lang="en-US" altLang="zh-CN" dirty="0"/>
              <a:t>6.5.2  </a:t>
            </a:r>
            <a:r>
              <a:rPr lang="zh-CN" altLang="en-US" dirty="0"/>
              <a:t>简单邮件传送协议 </a:t>
            </a:r>
            <a:r>
              <a:rPr lang="en-US" altLang="zh-CN" dirty="0"/>
              <a:t>SMTP – </a:t>
            </a:r>
            <a:r>
              <a:rPr lang="zh-CN" altLang="en-US" dirty="0"/>
              <a:t>三个阶段 </a:t>
            </a:r>
            <a:r>
              <a:rPr lang="en-US" altLang="zh-CN" dirty="0"/>
              <a:t>– </a:t>
            </a:r>
            <a:r>
              <a:rPr lang="zh-CN" altLang="en-US" dirty="0"/>
              <a:t>连接建立</a:t>
            </a:r>
          </a:p>
        </p:txBody>
      </p:sp>
      <p:sp>
        <p:nvSpPr>
          <p:cNvPr id="11" name="内容占位符 10">
            <a:extLst>
              <a:ext uri="{FF2B5EF4-FFF2-40B4-BE49-F238E27FC236}">
                <a16:creationId xmlns:a16="http://schemas.microsoft.com/office/drawing/2014/main" id="{E1773701-D9F2-6F49-0389-6673EC441341}"/>
              </a:ext>
            </a:extLst>
          </p:cNvPr>
          <p:cNvSpPr>
            <a:spLocks noGrp="1"/>
          </p:cNvSpPr>
          <p:nvPr>
            <p:ph sz="quarter" idx="11"/>
          </p:nvPr>
        </p:nvSpPr>
        <p:spPr>
          <a:xfrm>
            <a:off x="486000" y="687518"/>
            <a:ext cx="8172000" cy="4079035"/>
          </a:xfrm>
        </p:spPr>
        <p:txBody>
          <a:bodyPr/>
          <a:lstStyle/>
          <a:p>
            <a:r>
              <a:rPr lang="en-US" altLang="zh-CN" dirty="0"/>
              <a:t>SMTP </a:t>
            </a:r>
            <a:r>
              <a:rPr lang="zh-CN" altLang="en-US" dirty="0"/>
              <a:t>客户首先使用熟知端口 </a:t>
            </a:r>
            <a:r>
              <a:rPr lang="en-US" altLang="zh-CN" dirty="0"/>
              <a:t>25 </a:t>
            </a:r>
            <a:r>
              <a:rPr lang="zh-CN" altLang="en-US" dirty="0"/>
              <a:t>与接收方的 </a:t>
            </a:r>
            <a:r>
              <a:rPr lang="en-US" altLang="zh-CN" dirty="0"/>
              <a:t>SMTP </a:t>
            </a:r>
            <a:r>
              <a:rPr lang="zh-CN" altLang="en-US" dirty="0"/>
              <a:t>服务器建立 </a:t>
            </a:r>
            <a:r>
              <a:rPr lang="en-US" altLang="zh-CN" dirty="0"/>
              <a:t>TCP </a:t>
            </a:r>
            <a:r>
              <a:rPr lang="zh-CN" altLang="en-US" dirty="0"/>
              <a:t>连接</a:t>
            </a:r>
            <a:endParaRPr lang="en-US" altLang="zh-CN" dirty="0"/>
          </a:p>
          <a:p>
            <a:r>
              <a:rPr lang="en-US" altLang="zh-CN" dirty="0"/>
              <a:t>SMTP </a:t>
            </a:r>
            <a:r>
              <a:rPr lang="zh-CN" altLang="en-US" dirty="0"/>
              <a:t>服务器发出服务就绪</a:t>
            </a:r>
          </a:p>
          <a:p>
            <a:r>
              <a:rPr lang="en-US" altLang="zh-CN" dirty="0"/>
              <a:t>SMTP </a:t>
            </a:r>
            <a:r>
              <a:rPr lang="zh-CN" altLang="en-US" dirty="0"/>
              <a:t>客户向服务器发送问候 </a:t>
            </a:r>
            <a:r>
              <a:rPr lang="en-US" altLang="zh-CN" dirty="0"/>
              <a:t>HELO </a:t>
            </a:r>
            <a:r>
              <a:rPr lang="zh-CN" altLang="en-US" dirty="0"/>
              <a:t>命令，附上发送方的主机名</a:t>
            </a:r>
          </a:p>
          <a:p>
            <a:r>
              <a:rPr lang="en-US" altLang="zh-CN" dirty="0"/>
              <a:t>SMTP </a:t>
            </a:r>
            <a:r>
              <a:rPr lang="zh-CN" altLang="en-US" dirty="0"/>
              <a:t>服务器若有能力接收邮件，则回答：“</a:t>
            </a:r>
            <a:r>
              <a:rPr lang="en-US" altLang="zh-CN" dirty="0"/>
              <a:t>250 OK”</a:t>
            </a:r>
            <a:r>
              <a:rPr lang="zh-CN" altLang="en-US" dirty="0"/>
              <a:t>，表示已准备好接收</a:t>
            </a:r>
          </a:p>
          <a:p>
            <a:endParaRPr lang="zh-CN" altLang="en-US" dirty="0"/>
          </a:p>
          <a:p>
            <a:endParaRPr lang="zh-CN" altLang="en-US" dirty="0"/>
          </a:p>
          <a:p>
            <a:endParaRPr lang="zh-CN" altLang="en-US" dirty="0"/>
          </a:p>
        </p:txBody>
      </p:sp>
      <p:sp>
        <p:nvSpPr>
          <p:cNvPr id="6" name="矩形 5"/>
          <p:cNvSpPr/>
          <p:nvPr/>
        </p:nvSpPr>
        <p:spPr>
          <a:xfrm>
            <a:off x="5941676" y="2131280"/>
            <a:ext cx="1203916" cy="256400"/>
          </a:xfrm>
          <a:prstGeom prst="rect">
            <a:avLst/>
          </a:prstGeom>
          <a:noFill/>
          <a:ln>
            <a:noFill/>
          </a:ln>
          <a:effectLst/>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SMTP Server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8" name="Text Box 409"/>
          <p:cNvSpPr txBox="1">
            <a:spLocks noChangeArrowheads="1"/>
          </p:cNvSpPr>
          <p:nvPr/>
        </p:nvSpPr>
        <p:spPr bwMode="auto">
          <a:xfrm>
            <a:off x="6475597" y="2372336"/>
            <a:ext cx="107772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dirty="0">
                <a:solidFill>
                  <a:srgbClr val="CC00CC"/>
                </a:solidFill>
                <a:latin typeface="Montserrat" panose="00000500000000000000" pitchFamily="2" charset="0"/>
                <a:ea typeface="微软雅黑 Light" panose="020B0502040204020203" pitchFamily="34" charset="-122"/>
              </a:rPr>
              <a:t>TCP </a:t>
            </a:r>
            <a:r>
              <a:rPr kumimoji="1" lang="zh-CN" altLang="en-US" sz="1100" dirty="0">
                <a:solidFill>
                  <a:srgbClr val="CC00CC"/>
                </a:solidFill>
                <a:latin typeface="Montserrat" panose="00000500000000000000" pitchFamily="2" charset="0"/>
                <a:ea typeface="微软雅黑 Light" panose="020B0502040204020203" pitchFamily="34" charset="-122"/>
              </a:rPr>
              <a:t>端口 </a:t>
            </a:r>
            <a:r>
              <a:rPr kumimoji="1" lang="en-US" altLang="zh-CN" sz="1100" dirty="0">
                <a:solidFill>
                  <a:srgbClr val="CC00CC"/>
                </a:solidFill>
                <a:latin typeface="Montserrat" panose="00000500000000000000" pitchFamily="2" charset="0"/>
                <a:ea typeface="微软雅黑 Light" panose="020B0502040204020203" pitchFamily="34" charset="-122"/>
              </a:rPr>
              <a:t>25</a:t>
            </a:r>
            <a:endParaRPr kumimoji="1" lang="zh-CN" altLang="en-US" sz="1100" dirty="0">
              <a:solidFill>
                <a:srgbClr val="CC00CC"/>
              </a:solidFill>
              <a:latin typeface="Montserrat" panose="00000500000000000000" pitchFamily="2" charset="0"/>
              <a:ea typeface="微软雅黑 Light" panose="020B0502040204020203" pitchFamily="34" charset="-122"/>
            </a:endParaRPr>
          </a:p>
        </p:txBody>
      </p:sp>
      <p:sp>
        <p:nvSpPr>
          <p:cNvPr id="10" name="矩形 9"/>
          <p:cNvSpPr/>
          <p:nvPr/>
        </p:nvSpPr>
        <p:spPr>
          <a:xfrm>
            <a:off x="1590683" y="2131280"/>
            <a:ext cx="1203916" cy="256400"/>
          </a:xfrm>
          <a:prstGeom prst="rect">
            <a:avLst/>
          </a:prstGeom>
          <a:noFill/>
          <a:ln>
            <a:noFill/>
          </a:ln>
          <a:effectLst/>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SMTP Client</a:t>
            </a:r>
            <a:endParaRPr lang="zh-CN" altLang="en-US" sz="1100" dirty="0">
              <a:solidFill>
                <a:schemeClr val="tx1"/>
              </a:solidFill>
              <a:latin typeface="Montserrat" panose="00000500000000000000" pitchFamily="2" charset="0"/>
              <a:ea typeface="微软雅黑 Light" panose="020B0502040204020203" pitchFamily="34" charset="-122"/>
            </a:endParaRPr>
          </a:p>
        </p:txBody>
      </p:sp>
      <p:cxnSp>
        <p:nvCxnSpPr>
          <p:cNvPr id="7" name="直接箭头连接符 6"/>
          <p:cNvCxnSpPr>
            <a:stCxn id="10" idx="2"/>
          </p:cNvCxnSpPr>
          <p:nvPr/>
        </p:nvCxnSpPr>
        <p:spPr>
          <a:xfrm>
            <a:off x="2192641" y="2387680"/>
            <a:ext cx="0" cy="2053679"/>
          </a:xfrm>
          <a:prstGeom prst="straightConnector1">
            <a:avLst/>
          </a:prstGeom>
          <a:ln w="1905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a:stCxn id="6" idx="2"/>
          </p:cNvCxnSpPr>
          <p:nvPr/>
        </p:nvCxnSpPr>
        <p:spPr>
          <a:xfrm>
            <a:off x="6543634" y="2387680"/>
            <a:ext cx="0" cy="2053679"/>
          </a:xfrm>
          <a:prstGeom prst="straightConnector1">
            <a:avLst/>
          </a:prstGeom>
          <a:ln w="1905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39" name="组合 38"/>
          <p:cNvGrpSpPr/>
          <p:nvPr/>
        </p:nvGrpSpPr>
        <p:grpSpPr>
          <a:xfrm>
            <a:off x="2200434" y="2328743"/>
            <a:ext cx="4337778" cy="261610"/>
            <a:chOff x="2144264" y="1565533"/>
            <a:chExt cx="4926338" cy="402589"/>
          </a:xfrm>
        </p:grpSpPr>
        <p:sp>
          <p:nvSpPr>
            <p:cNvPr id="17" name="Text Box 52"/>
            <p:cNvSpPr txBox="1">
              <a:spLocks noChangeArrowheads="1"/>
            </p:cNvSpPr>
            <p:nvPr/>
          </p:nvSpPr>
          <p:spPr bwMode="auto">
            <a:xfrm>
              <a:off x="3934956" y="1565533"/>
              <a:ext cx="1256511" cy="4025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defRPr kumimoji="1" sz="1400" b="1">
                  <a:latin typeface="微软雅黑" pitchFamily="34" charset="-122"/>
                  <a:ea typeface="微软雅黑" pitchFamily="34" charset="-122"/>
                </a:defRPr>
              </a:lvl1pPr>
              <a:lvl2pPr marL="742950" indent="-285750">
                <a:defRPr sz="3600">
                  <a:latin typeface="Tahoma" pitchFamily="34" charset="0"/>
                  <a:ea typeface="宋体" charset="-122"/>
                </a:defRPr>
              </a:lvl2pPr>
              <a:lvl3pPr marL="1143000" indent="-228600">
                <a:defRPr sz="3600">
                  <a:latin typeface="Tahoma" pitchFamily="34" charset="0"/>
                  <a:ea typeface="宋体" charset="-122"/>
                </a:defRPr>
              </a:lvl3pPr>
              <a:lvl4pPr marL="1600200" indent="-228600">
                <a:defRPr sz="3600">
                  <a:latin typeface="Tahoma" pitchFamily="34" charset="0"/>
                  <a:ea typeface="宋体" charset="-122"/>
                </a:defRPr>
              </a:lvl4pPr>
              <a:lvl5pPr marL="2057400" indent="-228600">
                <a:defRPr sz="3600">
                  <a:latin typeface="Tahoma" pitchFamily="34" charset="0"/>
                  <a:ea typeface="宋体" charset="-122"/>
                </a:defRPr>
              </a:lvl5pPr>
              <a:lvl6pPr marL="2514600" indent="-228600" eaLnBrk="0" fontAlgn="base" hangingPunct="0">
                <a:spcBef>
                  <a:spcPct val="0"/>
                </a:spcBef>
                <a:spcAft>
                  <a:spcPct val="0"/>
                </a:spcAft>
                <a:defRPr sz="3600">
                  <a:latin typeface="Tahoma" pitchFamily="34" charset="0"/>
                  <a:ea typeface="宋体" charset="-122"/>
                </a:defRPr>
              </a:lvl6pPr>
              <a:lvl7pPr marL="2971800" indent="-228600" eaLnBrk="0" fontAlgn="base" hangingPunct="0">
                <a:spcBef>
                  <a:spcPct val="0"/>
                </a:spcBef>
                <a:spcAft>
                  <a:spcPct val="0"/>
                </a:spcAft>
                <a:defRPr sz="3600">
                  <a:latin typeface="Tahoma" pitchFamily="34" charset="0"/>
                  <a:ea typeface="宋体" charset="-122"/>
                </a:defRPr>
              </a:lvl7pPr>
              <a:lvl8pPr marL="3429000" indent="-228600" eaLnBrk="0" fontAlgn="base" hangingPunct="0">
                <a:spcBef>
                  <a:spcPct val="0"/>
                </a:spcBef>
                <a:spcAft>
                  <a:spcPct val="0"/>
                </a:spcAft>
                <a:defRPr sz="3600">
                  <a:latin typeface="Tahoma" pitchFamily="34" charset="0"/>
                  <a:ea typeface="宋体" charset="-122"/>
                </a:defRPr>
              </a:lvl8pPr>
              <a:lvl9pPr marL="3886200" indent="-228600" eaLnBrk="0" fontAlgn="base" hangingPunct="0">
                <a:spcBef>
                  <a:spcPct val="0"/>
                </a:spcBef>
                <a:spcAft>
                  <a:spcPct val="0"/>
                </a:spcAft>
                <a:defRPr sz="3600">
                  <a:latin typeface="Tahoma" pitchFamily="34" charset="0"/>
                  <a:ea typeface="宋体" charset="-122"/>
                </a:defRPr>
              </a:lvl9pPr>
            </a:lstStyle>
            <a:p>
              <a:r>
                <a:rPr lang="zh-CN" altLang="en-US" sz="1100" b="0" dirty="0">
                  <a:latin typeface="Montserrat" panose="00000500000000000000" pitchFamily="2" charset="0"/>
                  <a:ea typeface="微软雅黑 Light" panose="020B0502040204020203" pitchFamily="34" charset="-122"/>
                </a:rPr>
                <a:t>建立 </a:t>
              </a:r>
              <a:r>
                <a:rPr lang="en-US" altLang="zh-CN" sz="1100" b="0" dirty="0">
                  <a:latin typeface="Montserrat" panose="00000500000000000000" pitchFamily="2" charset="0"/>
                  <a:ea typeface="微软雅黑 Light" panose="020B0502040204020203" pitchFamily="34" charset="-122"/>
                </a:rPr>
                <a:t>TCP </a:t>
              </a:r>
              <a:r>
                <a:rPr lang="zh-CN" altLang="en-US" sz="1100" b="0" dirty="0">
                  <a:latin typeface="Montserrat" panose="00000500000000000000" pitchFamily="2" charset="0"/>
                  <a:ea typeface="微软雅黑 Light" panose="020B0502040204020203" pitchFamily="34" charset="-122"/>
                </a:rPr>
                <a:t>连接</a:t>
              </a:r>
              <a:endParaRPr lang="en-US" altLang="zh-CN" sz="1100" b="0" dirty="0">
                <a:latin typeface="Montserrat" panose="00000500000000000000" pitchFamily="2" charset="0"/>
                <a:ea typeface="微软雅黑 Light" panose="020B0502040204020203" pitchFamily="34" charset="-122"/>
              </a:endParaRPr>
            </a:p>
          </p:txBody>
        </p:sp>
        <p:sp>
          <p:nvSpPr>
            <p:cNvPr id="18" name="Line 55"/>
            <p:cNvSpPr>
              <a:spLocks noChangeShapeType="1"/>
            </p:cNvSpPr>
            <p:nvPr/>
          </p:nvSpPr>
          <p:spPr bwMode="auto">
            <a:xfrm>
              <a:off x="2144264" y="1954086"/>
              <a:ext cx="4926338" cy="0"/>
            </a:xfrm>
            <a:prstGeom prst="line">
              <a:avLst/>
            </a:prstGeom>
            <a:noFill/>
            <a:ln w="19050">
              <a:solidFill>
                <a:srgbClr val="0000FF"/>
              </a:solidFill>
              <a:prstDash val="solid"/>
              <a:miter lim="800000"/>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grpSp>
      <p:grpSp>
        <p:nvGrpSpPr>
          <p:cNvPr id="23" name="组合 22"/>
          <p:cNvGrpSpPr/>
          <p:nvPr/>
        </p:nvGrpSpPr>
        <p:grpSpPr>
          <a:xfrm>
            <a:off x="2200434" y="2688218"/>
            <a:ext cx="4337778" cy="180000"/>
            <a:chOff x="2144264" y="2285523"/>
            <a:chExt cx="4926338" cy="292388"/>
          </a:xfrm>
        </p:grpSpPr>
        <p:sp>
          <p:nvSpPr>
            <p:cNvPr id="21" name="Line 55"/>
            <p:cNvSpPr>
              <a:spLocks noChangeShapeType="1"/>
            </p:cNvSpPr>
            <p:nvPr/>
          </p:nvSpPr>
          <p:spPr bwMode="auto">
            <a:xfrm>
              <a:off x="2144264" y="2426141"/>
              <a:ext cx="4926338" cy="0"/>
            </a:xfrm>
            <a:prstGeom prst="line">
              <a:avLst/>
            </a:prstGeom>
            <a:noFill/>
            <a:ln w="9525">
              <a:solidFill>
                <a:schemeClr val="tx1"/>
              </a:solidFill>
              <a:miter lim="800000"/>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22" name="矩形 21"/>
            <p:cNvSpPr/>
            <p:nvPr/>
          </p:nvSpPr>
          <p:spPr>
            <a:xfrm>
              <a:off x="2827283" y="2285523"/>
              <a:ext cx="3626069" cy="292388"/>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220 Service Ready</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24" name="组合 23"/>
          <p:cNvGrpSpPr/>
          <p:nvPr/>
        </p:nvGrpSpPr>
        <p:grpSpPr>
          <a:xfrm>
            <a:off x="2200434" y="2909913"/>
            <a:ext cx="4337778" cy="180000"/>
            <a:chOff x="2144264" y="2285523"/>
            <a:chExt cx="4926338" cy="292388"/>
          </a:xfrm>
        </p:grpSpPr>
        <p:sp>
          <p:nvSpPr>
            <p:cNvPr id="25"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26" name="矩形 25"/>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HELO abc.edu</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27" name="组合 26"/>
          <p:cNvGrpSpPr/>
          <p:nvPr/>
        </p:nvGrpSpPr>
        <p:grpSpPr>
          <a:xfrm>
            <a:off x="2200434" y="3133501"/>
            <a:ext cx="4337778" cy="180000"/>
            <a:chOff x="2144264" y="2285523"/>
            <a:chExt cx="4926338" cy="292388"/>
          </a:xfrm>
        </p:grpSpPr>
        <p:sp>
          <p:nvSpPr>
            <p:cNvPr id="28" name="Line 55"/>
            <p:cNvSpPr>
              <a:spLocks noChangeShapeType="1"/>
            </p:cNvSpPr>
            <p:nvPr/>
          </p:nvSpPr>
          <p:spPr bwMode="auto">
            <a:xfrm>
              <a:off x="2144264" y="2426141"/>
              <a:ext cx="4926338" cy="0"/>
            </a:xfrm>
            <a:prstGeom prst="line">
              <a:avLst/>
            </a:prstGeom>
            <a:noFill/>
            <a:ln w="9525">
              <a:solidFill>
                <a:schemeClr val="tx1"/>
              </a:solidFill>
              <a:miter lim="800000"/>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29" name="矩形 28"/>
            <p:cNvSpPr/>
            <p:nvPr/>
          </p:nvSpPr>
          <p:spPr>
            <a:xfrm>
              <a:off x="2827283" y="2285523"/>
              <a:ext cx="3626069" cy="292388"/>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250 OK</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spTree>
    <p:extLst>
      <p:ext uri="{BB962C8B-B14F-4D97-AF65-F5344CB8AC3E}">
        <p14:creationId xmlns:p14="http://schemas.microsoft.com/office/powerpoint/2010/main" val="28090186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E4009843-FEE0-7801-84D1-06CD8C3DECBC}"/>
              </a:ext>
            </a:extLst>
          </p:cNvPr>
          <p:cNvSpPr>
            <a:spLocks noGrp="1"/>
          </p:cNvSpPr>
          <p:nvPr>
            <p:ph type="title"/>
          </p:nvPr>
        </p:nvSpPr>
        <p:spPr>
          <a:xfrm>
            <a:off x="485999" y="174482"/>
            <a:ext cx="8171999" cy="338554"/>
          </a:xfrm>
        </p:spPr>
        <p:txBody>
          <a:bodyPr/>
          <a:lstStyle/>
          <a:p>
            <a:r>
              <a:rPr lang="en-US" altLang="zh-CN" dirty="0"/>
              <a:t>6.5.2  </a:t>
            </a:r>
            <a:r>
              <a:rPr lang="zh-CN" altLang="en-US" dirty="0"/>
              <a:t>简单邮件传送协议 </a:t>
            </a:r>
            <a:r>
              <a:rPr lang="en-US" altLang="zh-CN" dirty="0"/>
              <a:t>SMTP – </a:t>
            </a:r>
            <a:r>
              <a:rPr lang="zh-CN" altLang="en-US" dirty="0"/>
              <a:t>三个阶段 </a:t>
            </a:r>
            <a:r>
              <a:rPr lang="en-US" altLang="zh-CN" dirty="0"/>
              <a:t>– </a:t>
            </a:r>
            <a:r>
              <a:rPr lang="zh-CN" altLang="en-US" dirty="0"/>
              <a:t>邮件传送</a:t>
            </a:r>
          </a:p>
        </p:txBody>
      </p:sp>
      <p:sp>
        <p:nvSpPr>
          <p:cNvPr id="9" name="内容占位符 8">
            <a:extLst>
              <a:ext uri="{FF2B5EF4-FFF2-40B4-BE49-F238E27FC236}">
                <a16:creationId xmlns:a16="http://schemas.microsoft.com/office/drawing/2014/main" id="{19EC3329-33B9-D551-08CA-001198598018}"/>
              </a:ext>
            </a:extLst>
          </p:cNvPr>
          <p:cNvSpPr>
            <a:spLocks noGrp="1"/>
          </p:cNvSpPr>
          <p:nvPr>
            <p:ph sz="quarter" idx="11"/>
          </p:nvPr>
        </p:nvSpPr>
        <p:spPr>
          <a:xfrm>
            <a:off x="486000" y="687518"/>
            <a:ext cx="8172000" cy="4079035"/>
          </a:xfrm>
        </p:spPr>
        <p:txBody>
          <a:bodyPr/>
          <a:lstStyle/>
          <a:p>
            <a:r>
              <a:rPr lang="zh-CN" altLang="en-US" dirty="0"/>
              <a:t>一个电子邮件分为信封和内容两大部分</a:t>
            </a:r>
            <a:endParaRPr lang="en-US" altLang="zh-CN" dirty="0"/>
          </a:p>
        </p:txBody>
      </p:sp>
      <p:sp>
        <p:nvSpPr>
          <p:cNvPr id="86" name="矩形 85"/>
          <p:cNvSpPr/>
          <p:nvPr/>
        </p:nvSpPr>
        <p:spPr>
          <a:xfrm>
            <a:off x="1590683" y="3691068"/>
            <a:ext cx="5891237" cy="10224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85" name="矩形 84"/>
          <p:cNvSpPr/>
          <p:nvPr/>
        </p:nvSpPr>
        <p:spPr>
          <a:xfrm>
            <a:off x="1590683" y="2266123"/>
            <a:ext cx="5891237" cy="1197386"/>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5" name="矩形 4"/>
          <p:cNvSpPr/>
          <p:nvPr/>
        </p:nvSpPr>
        <p:spPr>
          <a:xfrm>
            <a:off x="1590683" y="1457268"/>
            <a:ext cx="5891237" cy="80076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矩形 5"/>
          <p:cNvSpPr/>
          <p:nvPr/>
        </p:nvSpPr>
        <p:spPr>
          <a:xfrm>
            <a:off x="5941676" y="1133894"/>
            <a:ext cx="1203916" cy="257199"/>
          </a:xfrm>
          <a:prstGeom prst="rect">
            <a:avLst/>
          </a:prstGeom>
          <a:noFill/>
          <a:ln>
            <a:noFill/>
          </a:ln>
          <a:effectLst/>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SMTP Server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0" name="矩形 9"/>
          <p:cNvSpPr/>
          <p:nvPr/>
        </p:nvSpPr>
        <p:spPr>
          <a:xfrm>
            <a:off x="1590683" y="1133894"/>
            <a:ext cx="1203916" cy="257199"/>
          </a:xfrm>
          <a:prstGeom prst="rect">
            <a:avLst/>
          </a:prstGeom>
          <a:noFill/>
          <a:ln>
            <a:noFill/>
          </a:ln>
          <a:effectLst/>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SMTP Client</a:t>
            </a:r>
            <a:endParaRPr lang="zh-CN" altLang="en-US" sz="1100" dirty="0">
              <a:solidFill>
                <a:schemeClr val="tx1"/>
              </a:solidFill>
              <a:latin typeface="Montserrat" panose="00000500000000000000" pitchFamily="2" charset="0"/>
              <a:ea typeface="微软雅黑 Light" panose="020B0502040204020203" pitchFamily="34" charset="-122"/>
            </a:endParaRPr>
          </a:p>
        </p:txBody>
      </p:sp>
      <p:cxnSp>
        <p:nvCxnSpPr>
          <p:cNvPr id="7" name="直接箭头连接符 6"/>
          <p:cNvCxnSpPr>
            <a:stCxn id="10" idx="2"/>
          </p:cNvCxnSpPr>
          <p:nvPr/>
        </p:nvCxnSpPr>
        <p:spPr>
          <a:xfrm>
            <a:off x="2192641" y="1391093"/>
            <a:ext cx="0" cy="3411794"/>
          </a:xfrm>
          <a:prstGeom prst="straightConnector1">
            <a:avLst/>
          </a:prstGeom>
          <a:ln w="1905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a:stCxn id="6" idx="2"/>
          </p:cNvCxnSpPr>
          <p:nvPr/>
        </p:nvCxnSpPr>
        <p:spPr>
          <a:xfrm>
            <a:off x="6543634" y="1391093"/>
            <a:ext cx="0" cy="3411794"/>
          </a:xfrm>
          <a:prstGeom prst="straightConnector1">
            <a:avLst/>
          </a:prstGeom>
          <a:ln w="1905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24" name="组合 23"/>
          <p:cNvGrpSpPr/>
          <p:nvPr/>
        </p:nvGrpSpPr>
        <p:grpSpPr>
          <a:xfrm>
            <a:off x="2200434" y="1457268"/>
            <a:ext cx="4337778" cy="180000"/>
            <a:chOff x="2144264" y="2285523"/>
            <a:chExt cx="4926338" cy="292388"/>
          </a:xfrm>
        </p:grpSpPr>
        <p:sp>
          <p:nvSpPr>
            <p:cNvPr id="25"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26" name="矩形 25"/>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MAIL FROM: Lion@abc.edu</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27" name="组合 26"/>
          <p:cNvGrpSpPr/>
          <p:nvPr/>
        </p:nvGrpSpPr>
        <p:grpSpPr>
          <a:xfrm>
            <a:off x="2200434" y="1659836"/>
            <a:ext cx="4337778" cy="180000"/>
            <a:chOff x="2144264" y="2285523"/>
            <a:chExt cx="4926338" cy="292388"/>
          </a:xfrm>
        </p:grpSpPr>
        <p:sp>
          <p:nvSpPr>
            <p:cNvPr id="28" name="Line 55"/>
            <p:cNvSpPr>
              <a:spLocks noChangeShapeType="1"/>
            </p:cNvSpPr>
            <p:nvPr/>
          </p:nvSpPr>
          <p:spPr bwMode="auto">
            <a:xfrm>
              <a:off x="2144264" y="2426141"/>
              <a:ext cx="4926338" cy="0"/>
            </a:xfrm>
            <a:prstGeom prst="line">
              <a:avLst/>
            </a:prstGeom>
            <a:noFill/>
            <a:ln w="9525">
              <a:solidFill>
                <a:schemeClr val="tx1"/>
              </a:solidFill>
              <a:miter lim="800000"/>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29" name="矩形 28"/>
            <p:cNvSpPr/>
            <p:nvPr/>
          </p:nvSpPr>
          <p:spPr>
            <a:xfrm>
              <a:off x="2827283" y="2285523"/>
              <a:ext cx="3626069" cy="292388"/>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250 OK</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30" name="组合 29"/>
          <p:cNvGrpSpPr/>
          <p:nvPr/>
        </p:nvGrpSpPr>
        <p:grpSpPr>
          <a:xfrm>
            <a:off x="2200434" y="1869163"/>
            <a:ext cx="4337778" cy="180000"/>
            <a:chOff x="2144264" y="2285523"/>
            <a:chExt cx="4926338" cy="292388"/>
          </a:xfrm>
        </p:grpSpPr>
        <p:sp>
          <p:nvSpPr>
            <p:cNvPr id="37"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38" name="矩形 37"/>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RCPT TO: Tiger@xyz.com</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40" name="组合 39"/>
          <p:cNvGrpSpPr/>
          <p:nvPr/>
        </p:nvGrpSpPr>
        <p:grpSpPr>
          <a:xfrm>
            <a:off x="2200434" y="2071731"/>
            <a:ext cx="4337778" cy="180000"/>
            <a:chOff x="2144264" y="2285523"/>
            <a:chExt cx="4926338" cy="292388"/>
          </a:xfrm>
        </p:grpSpPr>
        <p:sp>
          <p:nvSpPr>
            <p:cNvPr id="41" name="Line 55"/>
            <p:cNvSpPr>
              <a:spLocks noChangeShapeType="1"/>
            </p:cNvSpPr>
            <p:nvPr/>
          </p:nvSpPr>
          <p:spPr bwMode="auto">
            <a:xfrm>
              <a:off x="2144264" y="2409068"/>
              <a:ext cx="4926338" cy="0"/>
            </a:xfrm>
            <a:prstGeom prst="line">
              <a:avLst/>
            </a:prstGeom>
            <a:noFill/>
            <a:ln w="9525">
              <a:solidFill>
                <a:schemeClr val="tx1"/>
              </a:solidFill>
              <a:miter lim="800000"/>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42" name="矩形 41"/>
            <p:cNvSpPr/>
            <p:nvPr/>
          </p:nvSpPr>
          <p:spPr>
            <a:xfrm>
              <a:off x="2827283" y="2285523"/>
              <a:ext cx="3626069" cy="292388"/>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250 OK</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52" name="组合 51"/>
          <p:cNvGrpSpPr/>
          <p:nvPr/>
        </p:nvGrpSpPr>
        <p:grpSpPr>
          <a:xfrm>
            <a:off x="2200434" y="2279053"/>
            <a:ext cx="4337778" cy="180000"/>
            <a:chOff x="2144264" y="2285523"/>
            <a:chExt cx="4926338" cy="292388"/>
          </a:xfrm>
        </p:grpSpPr>
        <p:sp>
          <p:nvSpPr>
            <p:cNvPr id="53"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54" name="矩形 53"/>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DATA</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55" name="组合 54"/>
          <p:cNvGrpSpPr/>
          <p:nvPr/>
        </p:nvGrpSpPr>
        <p:grpSpPr>
          <a:xfrm>
            <a:off x="2200434" y="2481621"/>
            <a:ext cx="4337778" cy="180000"/>
            <a:chOff x="2144264" y="2285523"/>
            <a:chExt cx="4926338" cy="292388"/>
          </a:xfrm>
        </p:grpSpPr>
        <p:sp>
          <p:nvSpPr>
            <p:cNvPr id="56" name="Line 55"/>
            <p:cNvSpPr>
              <a:spLocks noChangeShapeType="1"/>
            </p:cNvSpPr>
            <p:nvPr/>
          </p:nvSpPr>
          <p:spPr bwMode="auto">
            <a:xfrm>
              <a:off x="2144264" y="2426141"/>
              <a:ext cx="4926338" cy="0"/>
            </a:xfrm>
            <a:prstGeom prst="line">
              <a:avLst/>
            </a:prstGeom>
            <a:noFill/>
            <a:ln w="9525">
              <a:solidFill>
                <a:schemeClr val="tx1"/>
              </a:solidFill>
              <a:miter lim="800000"/>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57" name="矩形 56"/>
            <p:cNvSpPr/>
            <p:nvPr/>
          </p:nvSpPr>
          <p:spPr>
            <a:xfrm>
              <a:off x="2827283" y="2285523"/>
              <a:ext cx="3626069" cy="292388"/>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50" dirty="0">
                  <a:solidFill>
                    <a:schemeClr val="tx1"/>
                  </a:solidFill>
                  <a:latin typeface="Montserrat" panose="00000500000000000000" pitchFamily="2" charset="0"/>
                  <a:ea typeface="微软雅黑 Light" panose="020B0502040204020203" pitchFamily="34" charset="-122"/>
                </a:rPr>
                <a:t>354 Start mail input; end with &lt;CRLF&gt;.&lt;CRLF&gt;</a:t>
              </a:r>
              <a:endParaRPr lang="zh-CN" altLang="en-US" sz="950" dirty="0">
                <a:solidFill>
                  <a:schemeClr val="tx1"/>
                </a:solidFill>
                <a:latin typeface="Montserrat" panose="00000500000000000000" pitchFamily="2" charset="0"/>
                <a:ea typeface="微软雅黑 Light" panose="020B0502040204020203" pitchFamily="34" charset="-122"/>
              </a:endParaRPr>
            </a:p>
          </p:txBody>
        </p:sp>
      </p:grpSp>
      <p:grpSp>
        <p:nvGrpSpPr>
          <p:cNvPr id="58" name="组合 57"/>
          <p:cNvGrpSpPr/>
          <p:nvPr/>
        </p:nvGrpSpPr>
        <p:grpSpPr>
          <a:xfrm>
            <a:off x="2200434" y="2683268"/>
            <a:ext cx="4337778" cy="180000"/>
            <a:chOff x="2144264" y="2285523"/>
            <a:chExt cx="4926338" cy="292388"/>
          </a:xfrm>
        </p:grpSpPr>
        <p:sp>
          <p:nvSpPr>
            <p:cNvPr id="59"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60" name="矩形 59"/>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From: Lion@abc.edu</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61" name="组合 60"/>
          <p:cNvGrpSpPr/>
          <p:nvPr/>
        </p:nvGrpSpPr>
        <p:grpSpPr>
          <a:xfrm>
            <a:off x="2200434" y="2880858"/>
            <a:ext cx="4337778" cy="180000"/>
            <a:chOff x="2144264" y="2285523"/>
            <a:chExt cx="4926338" cy="292388"/>
          </a:xfrm>
        </p:grpSpPr>
        <p:sp>
          <p:nvSpPr>
            <p:cNvPr id="62"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63" name="矩形 62"/>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To: Tiger@xyz.com</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64" name="组合 63"/>
          <p:cNvGrpSpPr/>
          <p:nvPr/>
        </p:nvGrpSpPr>
        <p:grpSpPr>
          <a:xfrm>
            <a:off x="2200434" y="3077041"/>
            <a:ext cx="4337778" cy="180000"/>
            <a:chOff x="2144264" y="2285523"/>
            <a:chExt cx="4926338" cy="292388"/>
          </a:xfrm>
        </p:grpSpPr>
        <p:sp>
          <p:nvSpPr>
            <p:cNvPr id="65"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66" name="矩形 65"/>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Date: 2018-08-18</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67" name="组合 66"/>
          <p:cNvGrpSpPr/>
          <p:nvPr/>
        </p:nvGrpSpPr>
        <p:grpSpPr>
          <a:xfrm>
            <a:off x="2200434" y="3283509"/>
            <a:ext cx="4337778" cy="180000"/>
            <a:chOff x="2144264" y="2285523"/>
            <a:chExt cx="4926338" cy="292388"/>
          </a:xfrm>
        </p:grpSpPr>
        <p:sp>
          <p:nvSpPr>
            <p:cNvPr id="68"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69" name="矩形 68"/>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Subject: Greetings</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70" name="组合 69"/>
          <p:cNvGrpSpPr/>
          <p:nvPr/>
        </p:nvGrpSpPr>
        <p:grpSpPr>
          <a:xfrm>
            <a:off x="2200434" y="3490048"/>
            <a:ext cx="4337778" cy="180000"/>
            <a:chOff x="2144264" y="2285523"/>
            <a:chExt cx="4926338" cy="292388"/>
          </a:xfrm>
        </p:grpSpPr>
        <p:sp>
          <p:nvSpPr>
            <p:cNvPr id="71"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72" name="矩形 71"/>
            <p:cNvSpPr/>
            <p:nvPr/>
          </p:nvSpPr>
          <p:spPr>
            <a:xfrm>
              <a:off x="2827283" y="2285523"/>
              <a:ext cx="3626069" cy="292388"/>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73" name="组合 72"/>
          <p:cNvGrpSpPr/>
          <p:nvPr/>
        </p:nvGrpSpPr>
        <p:grpSpPr>
          <a:xfrm>
            <a:off x="2200434" y="3691068"/>
            <a:ext cx="4337778" cy="180000"/>
            <a:chOff x="2144264" y="2285523"/>
            <a:chExt cx="4926338" cy="292388"/>
          </a:xfrm>
        </p:grpSpPr>
        <p:sp>
          <p:nvSpPr>
            <p:cNvPr id="74"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75" name="矩形 74"/>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Dear Mr. Tiger, </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76" name="组合 75"/>
          <p:cNvGrpSpPr/>
          <p:nvPr/>
        </p:nvGrpSpPr>
        <p:grpSpPr>
          <a:xfrm>
            <a:off x="2200434" y="3897536"/>
            <a:ext cx="4337778" cy="180000"/>
            <a:chOff x="2144264" y="2285523"/>
            <a:chExt cx="4926338" cy="292388"/>
          </a:xfrm>
        </p:grpSpPr>
        <p:sp>
          <p:nvSpPr>
            <p:cNvPr id="77"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78" name="矩形 77"/>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Welcome you back.</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79" name="组合 78"/>
          <p:cNvGrpSpPr/>
          <p:nvPr/>
        </p:nvGrpSpPr>
        <p:grpSpPr>
          <a:xfrm>
            <a:off x="2200434" y="4307478"/>
            <a:ext cx="4337778" cy="180000"/>
            <a:chOff x="2144264" y="2285523"/>
            <a:chExt cx="4926338" cy="292388"/>
          </a:xfrm>
        </p:grpSpPr>
        <p:sp>
          <p:nvSpPr>
            <p:cNvPr id="80"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81" name="矩形 80"/>
            <p:cNvSpPr/>
            <p:nvPr/>
          </p:nvSpPr>
          <p:spPr>
            <a:xfrm>
              <a:off x="2827283" y="2285523"/>
              <a:ext cx="3626069" cy="292388"/>
            </a:xfrm>
            <a:prstGeom prst="rect">
              <a:avLst/>
            </a:prstGeom>
            <a:solidFill>
              <a:schemeClr val="tx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latin typeface="Montserrat" panose="00000500000000000000" pitchFamily="2" charset="0"/>
                  <a:ea typeface="微软雅黑 Light" panose="020B0502040204020203" pitchFamily="34" charset="-122"/>
                </a:rPr>
                <a:t>.</a:t>
              </a:r>
              <a:endParaRPr lang="zh-CN" altLang="en-US" sz="1600" dirty="0">
                <a:solidFill>
                  <a:schemeClr val="bg1"/>
                </a:solidFill>
                <a:latin typeface="Montserrat" panose="00000500000000000000" pitchFamily="2" charset="0"/>
                <a:ea typeface="微软雅黑 Light" panose="020B0502040204020203" pitchFamily="34" charset="-122"/>
              </a:endParaRPr>
            </a:p>
          </p:txBody>
        </p:sp>
      </p:grpSp>
      <p:grpSp>
        <p:nvGrpSpPr>
          <p:cNvPr id="82" name="组合 81"/>
          <p:cNvGrpSpPr/>
          <p:nvPr/>
        </p:nvGrpSpPr>
        <p:grpSpPr>
          <a:xfrm>
            <a:off x="2200434" y="4508574"/>
            <a:ext cx="4337778" cy="180000"/>
            <a:chOff x="2144264" y="2285523"/>
            <a:chExt cx="4926338" cy="292388"/>
          </a:xfrm>
        </p:grpSpPr>
        <p:sp>
          <p:nvSpPr>
            <p:cNvPr id="83" name="Line 55"/>
            <p:cNvSpPr>
              <a:spLocks noChangeShapeType="1"/>
            </p:cNvSpPr>
            <p:nvPr/>
          </p:nvSpPr>
          <p:spPr bwMode="auto">
            <a:xfrm>
              <a:off x="2144264" y="2426141"/>
              <a:ext cx="4926338" cy="0"/>
            </a:xfrm>
            <a:prstGeom prst="line">
              <a:avLst/>
            </a:prstGeom>
            <a:noFill/>
            <a:ln w="9525">
              <a:solidFill>
                <a:schemeClr val="tx1"/>
              </a:solidFill>
              <a:miter lim="800000"/>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84" name="矩形 83"/>
            <p:cNvSpPr/>
            <p:nvPr/>
          </p:nvSpPr>
          <p:spPr>
            <a:xfrm>
              <a:off x="2827283" y="2285523"/>
              <a:ext cx="3626069" cy="292388"/>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250 OK</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sp>
        <p:nvSpPr>
          <p:cNvPr id="87" name="Text Box 409"/>
          <p:cNvSpPr txBox="1">
            <a:spLocks noChangeArrowheads="1"/>
          </p:cNvSpPr>
          <p:nvPr/>
        </p:nvSpPr>
        <p:spPr bwMode="auto">
          <a:xfrm>
            <a:off x="6559677" y="1705395"/>
            <a:ext cx="922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latin typeface="Montserrat" panose="00000500000000000000" pitchFamily="2" charset="0"/>
                <a:ea typeface="微软雅黑 Light" panose="020B0502040204020203" pitchFamily="34" charset="-122"/>
              </a:rPr>
              <a:t>信封</a:t>
            </a:r>
          </a:p>
        </p:txBody>
      </p:sp>
      <p:sp>
        <p:nvSpPr>
          <p:cNvPr id="88" name="Text Box 409"/>
          <p:cNvSpPr txBox="1">
            <a:spLocks noChangeArrowheads="1"/>
          </p:cNvSpPr>
          <p:nvPr/>
        </p:nvSpPr>
        <p:spPr bwMode="auto">
          <a:xfrm>
            <a:off x="6559677" y="2708255"/>
            <a:ext cx="92224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latin typeface="Montserrat" panose="00000500000000000000" pitchFamily="2" charset="0"/>
                <a:ea typeface="微软雅黑 Light" panose="020B0502040204020203" pitchFamily="34" charset="-122"/>
              </a:rPr>
              <a:t>首部</a:t>
            </a:r>
            <a:endParaRPr kumimoji="1" lang="en-US" altLang="zh-CN" sz="1200" dirty="0">
              <a:latin typeface="Montserrat" panose="00000500000000000000" pitchFamily="2" charset="0"/>
              <a:ea typeface="微软雅黑 Light" panose="020B0502040204020203" pitchFamily="34" charset="-122"/>
            </a:endParaRPr>
          </a:p>
          <a:p>
            <a:pPr algn="ctr" eaLnBrk="1" hangingPunct="1"/>
            <a:r>
              <a:rPr kumimoji="1" lang="en-US" altLang="zh-CN" sz="1200" dirty="0">
                <a:latin typeface="Montserrat" panose="00000500000000000000" pitchFamily="2" charset="0"/>
                <a:ea typeface="微软雅黑 Light" panose="020B0502040204020203" pitchFamily="34" charset="-122"/>
              </a:rPr>
              <a:t>header</a:t>
            </a:r>
            <a:endParaRPr kumimoji="1" lang="zh-CN" altLang="en-US" sz="1200" dirty="0">
              <a:latin typeface="Montserrat" panose="00000500000000000000" pitchFamily="2" charset="0"/>
              <a:ea typeface="微软雅黑 Light" panose="020B0502040204020203" pitchFamily="34" charset="-122"/>
            </a:endParaRPr>
          </a:p>
        </p:txBody>
      </p:sp>
      <p:sp>
        <p:nvSpPr>
          <p:cNvPr id="89" name="Text Box 409"/>
          <p:cNvSpPr txBox="1">
            <a:spLocks noChangeArrowheads="1"/>
          </p:cNvSpPr>
          <p:nvPr/>
        </p:nvSpPr>
        <p:spPr bwMode="auto">
          <a:xfrm>
            <a:off x="6559677" y="4035496"/>
            <a:ext cx="92224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latin typeface="Montserrat" panose="00000500000000000000" pitchFamily="2" charset="0"/>
                <a:ea typeface="微软雅黑 Light" panose="020B0502040204020203" pitchFamily="34" charset="-122"/>
              </a:rPr>
              <a:t>主体</a:t>
            </a:r>
            <a:endParaRPr kumimoji="1" lang="en-US" altLang="zh-CN" sz="1200" dirty="0">
              <a:latin typeface="Montserrat" panose="00000500000000000000" pitchFamily="2" charset="0"/>
              <a:ea typeface="微软雅黑 Light" panose="020B0502040204020203" pitchFamily="34" charset="-122"/>
            </a:endParaRPr>
          </a:p>
          <a:p>
            <a:pPr algn="ctr" eaLnBrk="1" hangingPunct="1"/>
            <a:r>
              <a:rPr kumimoji="1" lang="en-US" altLang="zh-CN" sz="1200" dirty="0">
                <a:latin typeface="Montserrat" panose="00000500000000000000" pitchFamily="2" charset="0"/>
                <a:ea typeface="微软雅黑 Light" panose="020B0502040204020203" pitchFamily="34" charset="-122"/>
              </a:rPr>
              <a:t>body</a:t>
            </a:r>
            <a:endParaRPr kumimoji="1" lang="zh-CN" altLang="en-US" sz="1200" dirty="0">
              <a:latin typeface="Montserrat" panose="00000500000000000000" pitchFamily="2" charset="0"/>
              <a:ea typeface="微软雅黑 Light" panose="020B0502040204020203" pitchFamily="34" charset="-122"/>
            </a:endParaRPr>
          </a:p>
        </p:txBody>
      </p:sp>
      <p:sp>
        <p:nvSpPr>
          <p:cNvPr id="90" name="Text Box 409"/>
          <p:cNvSpPr txBox="1">
            <a:spLocks noChangeArrowheads="1"/>
          </p:cNvSpPr>
          <p:nvPr/>
        </p:nvSpPr>
        <p:spPr bwMode="auto">
          <a:xfrm>
            <a:off x="6559677" y="3436052"/>
            <a:ext cx="922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latin typeface="Montserrat" panose="00000500000000000000" pitchFamily="2" charset="0"/>
                <a:ea typeface="微软雅黑 Light" panose="020B0502040204020203" pitchFamily="34" charset="-122"/>
              </a:rPr>
              <a:t>空行</a:t>
            </a:r>
          </a:p>
        </p:txBody>
      </p:sp>
      <p:sp>
        <p:nvSpPr>
          <p:cNvPr id="93" name="Text Box 409"/>
          <p:cNvSpPr txBox="1">
            <a:spLocks noChangeArrowheads="1"/>
          </p:cNvSpPr>
          <p:nvPr/>
        </p:nvSpPr>
        <p:spPr bwMode="auto">
          <a:xfrm>
            <a:off x="6475597" y="1377464"/>
            <a:ext cx="107772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lgn="ctr">
              <a:defRPr kumimoji="1" sz="1100">
                <a:solidFill>
                  <a:srgbClr val="CC00CC"/>
                </a:solidFill>
                <a:latin typeface="Montserrat" panose="00000500000000000000" pitchFamily="2" charset="0"/>
                <a:ea typeface="微软雅黑 Light" panose="020B0502040204020203" pitchFamily="34" charset="-122"/>
              </a:defRPr>
            </a:lvl1pPr>
            <a:lvl2pPr marL="742950" indent="-285750">
              <a:defRPr sz="3600">
                <a:latin typeface="Tahoma" pitchFamily="34" charset="0"/>
                <a:ea typeface="宋体" charset="-122"/>
              </a:defRPr>
            </a:lvl2pPr>
            <a:lvl3pPr marL="1143000" indent="-228600">
              <a:defRPr sz="3600">
                <a:latin typeface="Tahoma" pitchFamily="34" charset="0"/>
                <a:ea typeface="宋体" charset="-122"/>
              </a:defRPr>
            </a:lvl3pPr>
            <a:lvl4pPr marL="1600200" indent="-228600">
              <a:defRPr sz="3600">
                <a:latin typeface="Tahoma" pitchFamily="34" charset="0"/>
                <a:ea typeface="宋体" charset="-122"/>
              </a:defRPr>
            </a:lvl4pPr>
            <a:lvl5pPr marL="2057400" indent="-228600">
              <a:defRPr sz="3600">
                <a:latin typeface="Tahoma" pitchFamily="34" charset="0"/>
                <a:ea typeface="宋体" charset="-122"/>
              </a:defRPr>
            </a:lvl5pPr>
            <a:lvl6pPr marL="2514600" indent="-228600" eaLnBrk="0" fontAlgn="base" hangingPunct="0">
              <a:spcBef>
                <a:spcPct val="0"/>
              </a:spcBef>
              <a:spcAft>
                <a:spcPct val="0"/>
              </a:spcAft>
              <a:defRPr sz="3600">
                <a:latin typeface="Tahoma" pitchFamily="34" charset="0"/>
                <a:ea typeface="宋体" charset="-122"/>
              </a:defRPr>
            </a:lvl6pPr>
            <a:lvl7pPr marL="2971800" indent="-228600" eaLnBrk="0" fontAlgn="base" hangingPunct="0">
              <a:spcBef>
                <a:spcPct val="0"/>
              </a:spcBef>
              <a:spcAft>
                <a:spcPct val="0"/>
              </a:spcAft>
              <a:defRPr sz="3600">
                <a:latin typeface="Tahoma" pitchFamily="34" charset="0"/>
                <a:ea typeface="宋体" charset="-122"/>
              </a:defRPr>
            </a:lvl7pPr>
            <a:lvl8pPr marL="3429000" indent="-228600" eaLnBrk="0" fontAlgn="base" hangingPunct="0">
              <a:spcBef>
                <a:spcPct val="0"/>
              </a:spcBef>
              <a:spcAft>
                <a:spcPct val="0"/>
              </a:spcAft>
              <a:defRPr sz="3600">
                <a:latin typeface="Tahoma" pitchFamily="34" charset="0"/>
                <a:ea typeface="宋体" charset="-122"/>
              </a:defRPr>
            </a:lvl8pPr>
            <a:lvl9pPr marL="3886200" indent="-228600" eaLnBrk="0" fontAlgn="base" hangingPunct="0">
              <a:spcBef>
                <a:spcPct val="0"/>
              </a:spcBef>
              <a:spcAft>
                <a:spcPct val="0"/>
              </a:spcAft>
              <a:defRPr sz="3600">
                <a:latin typeface="Tahoma" pitchFamily="34" charset="0"/>
                <a:ea typeface="宋体" charset="-122"/>
              </a:defRPr>
            </a:lvl9pPr>
          </a:lstStyle>
          <a:p>
            <a:r>
              <a:rPr lang="en-US" altLang="zh-CN" dirty="0"/>
              <a:t>TCP </a:t>
            </a:r>
            <a:r>
              <a:rPr lang="zh-CN" altLang="en-US" dirty="0"/>
              <a:t>端口 </a:t>
            </a:r>
            <a:r>
              <a:rPr lang="en-US" altLang="zh-CN" dirty="0"/>
              <a:t>25</a:t>
            </a:r>
            <a:endParaRPr lang="zh-CN" altLang="en-US" dirty="0"/>
          </a:p>
        </p:txBody>
      </p:sp>
      <p:sp>
        <p:nvSpPr>
          <p:cNvPr id="12" name="AutoShape 38">
            <a:extLst>
              <a:ext uri="{FF2B5EF4-FFF2-40B4-BE49-F238E27FC236}">
                <a16:creationId xmlns:a16="http://schemas.microsoft.com/office/drawing/2014/main" id="{84D85321-B531-1F7D-D7D4-1DB1832021FB}"/>
              </a:ext>
            </a:extLst>
          </p:cNvPr>
          <p:cNvSpPr>
            <a:spLocks/>
          </p:cNvSpPr>
          <p:nvPr/>
        </p:nvSpPr>
        <p:spPr bwMode="auto">
          <a:xfrm>
            <a:off x="7541943" y="2294916"/>
            <a:ext cx="175120" cy="2376000"/>
          </a:xfrm>
          <a:prstGeom prst="rightBrace">
            <a:avLst>
              <a:gd name="adj1" fmla="val 69876"/>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b="1" dirty="0">
              <a:latin typeface="微软雅黑 Light" panose="020B0502040204020203" pitchFamily="34" charset="-122"/>
              <a:ea typeface="微软雅黑 Light" panose="020B0502040204020203" pitchFamily="34" charset="-122"/>
            </a:endParaRPr>
          </a:p>
        </p:txBody>
      </p:sp>
      <p:sp>
        <p:nvSpPr>
          <p:cNvPr id="13" name="Text Box 409">
            <a:extLst>
              <a:ext uri="{FF2B5EF4-FFF2-40B4-BE49-F238E27FC236}">
                <a16:creationId xmlns:a16="http://schemas.microsoft.com/office/drawing/2014/main" id="{CD2282B2-C8DF-C23E-3C1E-C8A4859C89D1}"/>
              </a:ext>
            </a:extLst>
          </p:cNvPr>
          <p:cNvSpPr txBox="1">
            <a:spLocks noChangeArrowheads="1"/>
          </p:cNvSpPr>
          <p:nvPr/>
        </p:nvSpPr>
        <p:spPr bwMode="auto">
          <a:xfrm>
            <a:off x="7481920" y="3326828"/>
            <a:ext cx="922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latin typeface="Montserrat" panose="00000500000000000000" pitchFamily="2" charset="0"/>
                <a:ea typeface="微软雅黑 Light" panose="020B0502040204020203" pitchFamily="34" charset="-122"/>
              </a:rPr>
              <a:t>内容</a:t>
            </a:r>
          </a:p>
        </p:txBody>
      </p:sp>
    </p:spTree>
    <p:extLst>
      <p:ext uri="{BB962C8B-B14F-4D97-AF65-F5344CB8AC3E}">
        <p14:creationId xmlns:p14="http://schemas.microsoft.com/office/powerpoint/2010/main" val="9418881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A05A7DB8-7A40-AAEE-077A-61BED9A8C400}"/>
              </a:ext>
            </a:extLst>
          </p:cNvPr>
          <p:cNvSpPr>
            <a:spLocks noGrp="1"/>
          </p:cNvSpPr>
          <p:nvPr>
            <p:ph type="title"/>
          </p:nvPr>
        </p:nvSpPr>
        <p:spPr/>
        <p:txBody>
          <a:bodyPr/>
          <a:lstStyle/>
          <a:p>
            <a:r>
              <a:rPr lang="en-US" altLang="zh-CN" dirty="0"/>
              <a:t>6.5.2  </a:t>
            </a:r>
            <a:r>
              <a:rPr lang="zh-CN" altLang="en-US" dirty="0"/>
              <a:t>简单邮件传送协议 </a:t>
            </a:r>
            <a:r>
              <a:rPr lang="en-US" altLang="zh-CN" dirty="0"/>
              <a:t>SMTP – </a:t>
            </a:r>
            <a:r>
              <a:rPr lang="zh-CN" altLang="en-US" dirty="0"/>
              <a:t>三个阶段 </a:t>
            </a:r>
            <a:r>
              <a:rPr lang="en-US" altLang="zh-CN" dirty="0"/>
              <a:t>– </a:t>
            </a:r>
            <a:r>
              <a:rPr lang="zh-CN" altLang="en-US" dirty="0"/>
              <a:t>连接释放</a:t>
            </a:r>
          </a:p>
        </p:txBody>
      </p:sp>
      <p:sp>
        <p:nvSpPr>
          <p:cNvPr id="6" name="内容占位符 5">
            <a:extLst>
              <a:ext uri="{FF2B5EF4-FFF2-40B4-BE49-F238E27FC236}">
                <a16:creationId xmlns:a16="http://schemas.microsoft.com/office/drawing/2014/main" id="{40C81F44-3D47-A3C9-3729-716EDB75817B}"/>
              </a:ext>
            </a:extLst>
          </p:cNvPr>
          <p:cNvSpPr>
            <a:spLocks noGrp="1"/>
          </p:cNvSpPr>
          <p:nvPr>
            <p:ph sz="quarter" idx="11"/>
          </p:nvPr>
        </p:nvSpPr>
        <p:spPr/>
        <p:txBody>
          <a:bodyPr/>
          <a:lstStyle/>
          <a:p>
            <a:endParaRPr lang="zh-CN" altLang="en-US" dirty="0"/>
          </a:p>
        </p:txBody>
      </p:sp>
      <p:sp>
        <p:nvSpPr>
          <p:cNvPr id="41" name="矩形 40">
            <a:extLst>
              <a:ext uri="{FF2B5EF4-FFF2-40B4-BE49-F238E27FC236}">
                <a16:creationId xmlns:a16="http://schemas.microsoft.com/office/drawing/2014/main" id="{E1F95365-0B90-A3B0-76D2-F23AFEA1A51F}"/>
              </a:ext>
            </a:extLst>
          </p:cNvPr>
          <p:cNvSpPr/>
          <p:nvPr/>
        </p:nvSpPr>
        <p:spPr>
          <a:xfrm>
            <a:off x="5941676" y="2131280"/>
            <a:ext cx="1203916" cy="256400"/>
          </a:xfrm>
          <a:prstGeom prst="rect">
            <a:avLst/>
          </a:prstGeom>
          <a:noFill/>
          <a:ln>
            <a:noFill/>
          </a:ln>
          <a:effectLst/>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SMTP Server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42" name="Text Box 409">
            <a:extLst>
              <a:ext uri="{FF2B5EF4-FFF2-40B4-BE49-F238E27FC236}">
                <a16:creationId xmlns:a16="http://schemas.microsoft.com/office/drawing/2014/main" id="{3B9C1701-3175-ECDB-5643-C6CB65850DD4}"/>
              </a:ext>
            </a:extLst>
          </p:cNvPr>
          <p:cNvSpPr txBox="1">
            <a:spLocks noChangeArrowheads="1"/>
          </p:cNvSpPr>
          <p:nvPr/>
        </p:nvSpPr>
        <p:spPr bwMode="auto">
          <a:xfrm>
            <a:off x="6475597" y="2372336"/>
            <a:ext cx="107772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dirty="0">
                <a:solidFill>
                  <a:srgbClr val="CC00CC"/>
                </a:solidFill>
                <a:latin typeface="Montserrat" panose="00000500000000000000" pitchFamily="2" charset="0"/>
                <a:ea typeface="微软雅黑 Light" panose="020B0502040204020203" pitchFamily="34" charset="-122"/>
              </a:rPr>
              <a:t>TCP </a:t>
            </a:r>
            <a:r>
              <a:rPr kumimoji="1" lang="zh-CN" altLang="en-US" sz="1100" dirty="0">
                <a:solidFill>
                  <a:srgbClr val="CC00CC"/>
                </a:solidFill>
                <a:latin typeface="Montserrat" panose="00000500000000000000" pitchFamily="2" charset="0"/>
                <a:ea typeface="微软雅黑 Light" panose="020B0502040204020203" pitchFamily="34" charset="-122"/>
              </a:rPr>
              <a:t>端口 </a:t>
            </a:r>
            <a:r>
              <a:rPr kumimoji="1" lang="en-US" altLang="zh-CN" sz="1100" dirty="0">
                <a:solidFill>
                  <a:srgbClr val="CC00CC"/>
                </a:solidFill>
                <a:latin typeface="Montserrat" panose="00000500000000000000" pitchFamily="2" charset="0"/>
                <a:ea typeface="微软雅黑 Light" panose="020B0502040204020203" pitchFamily="34" charset="-122"/>
              </a:rPr>
              <a:t>25</a:t>
            </a:r>
            <a:endParaRPr kumimoji="1" lang="zh-CN" altLang="en-US" sz="1100" dirty="0">
              <a:solidFill>
                <a:srgbClr val="CC00CC"/>
              </a:solidFill>
              <a:latin typeface="Montserrat" panose="00000500000000000000" pitchFamily="2" charset="0"/>
              <a:ea typeface="微软雅黑 Light" panose="020B0502040204020203" pitchFamily="34" charset="-122"/>
            </a:endParaRPr>
          </a:p>
        </p:txBody>
      </p:sp>
      <p:sp>
        <p:nvSpPr>
          <p:cNvPr id="43" name="矩形 42">
            <a:extLst>
              <a:ext uri="{FF2B5EF4-FFF2-40B4-BE49-F238E27FC236}">
                <a16:creationId xmlns:a16="http://schemas.microsoft.com/office/drawing/2014/main" id="{7A520A1F-92D8-5DB3-B321-FD536907CA4C}"/>
              </a:ext>
            </a:extLst>
          </p:cNvPr>
          <p:cNvSpPr/>
          <p:nvPr/>
        </p:nvSpPr>
        <p:spPr>
          <a:xfrm>
            <a:off x="1590683" y="2131280"/>
            <a:ext cx="1203916" cy="256400"/>
          </a:xfrm>
          <a:prstGeom prst="rect">
            <a:avLst/>
          </a:prstGeom>
          <a:noFill/>
          <a:ln>
            <a:noFill/>
          </a:ln>
          <a:effectLst/>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SMTP Client</a:t>
            </a:r>
            <a:endParaRPr lang="zh-CN" altLang="en-US" sz="1100" dirty="0">
              <a:solidFill>
                <a:schemeClr val="tx1"/>
              </a:solidFill>
              <a:latin typeface="Montserrat" panose="00000500000000000000" pitchFamily="2" charset="0"/>
              <a:ea typeface="微软雅黑 Light" panose="020B0502040204020203" pitchFamily="34" charset="-122"/>
            </a:endParaRPr>
          </a:p>
        </p:txBody>
      </p:sp>
      <p:cxnSp>
        <p:nvCxnSpPr>
          <p:cNvPr id="44" name="直接箭头连接符 43">
            <a:extLst>
              <a:ext uri="{FF2B5EF4-FFF2-40B4-BE49-F238E27FC236}">
                <a16:creationId xmlns:a16="http://schemas.microsoft.com/office/drawing/2014/main" id="{9CDD6CB0-BB5E-AC58-376A-33A10A8FFEA3}"/>
              </a:ext>
            </a:extLst>
          </p:cNvPr>
          <p:cNvCxnSpPr>
            <a:stCxn id="43" idx="2"/>
          </p:cNvCxnSpPr>
          <p:nvPr/>
        </p:nvCxnSpPr>
        <p:spPr>
          <a:xfrm>
            <a:off x="2192641" y="2387680"/>
            <a:ext cx="0" cy="2053679"/>
          </a:xfrm>
          <a:prstGeom prst="straightConnector1">
            <a:avLst/>
          </a:prstGeom>
          <a:ln w="1905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5" name="直接箭头连接符 44">
            <a:extLst>
              <a:ext uri="{FF2B5EF4-FFF2-40B4-BE49-F238E27FC236}">
                <a16:creationId xmlns:a16="http://schemas.microsoft.com/office/drawing/2014/main" id="{225AF353-0E09-31CD-8388-B69C2C17BD38}"/>
              </a:ext>
            </a:extLst>
          </p:cNvPr>
          <p:cNvCxnSpPr>
            <a:stCxn id="41" idx="2"/>
          </p:cNvCxnSpPr>
          <p:nvPr/>
        </p:nvCxnSpPr>
        <p:spPr>
          <a:xfrm>
            <a:off x="6543634" y="2387680"/>
            <a:ext cx="0" cy="2053679"/>
          </a:xfrm>
          <a:prstGeom prst="straightConnector1">
            <a:avLst/>
          </a:prstGeom>
          <a:ln w="1905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46" name="组合 45">
            <a:extLst>
              <a:ext uri="{FF2B5EF4-FFF2-40B4-BE49-F238E27FC236}">
                <a16:creationId xmlns:a16="http://schemas.microsoft.com/office/drawing/2014/main" id="{0AC8E06A-610B-6FF0-852E-500F4E0440C8}"/>
              </a:ext>
            </a:extLst>
          </p:cNvPr>
          <p:cNvGrpSpPr/>
          <p:nvPr/>
        </p:nvGrpSpPr>
        <p:grpSpPr>
          <a:xfrm>
            <a:off x="2200434" y="3568782"/>
            <a:ext cx="4337778" cy="272461"/>
            <a:chOff x="2144264" y="1954086"/>
            <a:chExt cx="4926338" cy="419288"/>
          </a:xfrm>
        </p:grpSpPr>
        <p:sp>
          <p:nvSpPr>
            <p:cNvPr id="47" name="Text Box 52">
              <a:extLst>
                <a:ext uri="{FF2B5EF4-FFF2-40B4-BE49-F238E27FC236}">
                  <a16:creationId xmlns:a16="http://schemas.microsoft.com/office/drawing/2014/main" id="{83E3B35C-4EAB-2871-3ED2-008F351A771F}"/>
                </a:ext>
              </a:extLst>
            </p:cNvPr>
            <p:cNvSpPr txBox="1">
              <a:spLocks noChangeArrowheads="1"/>
            </p:cNvSpPr>
            <p:nvPr/>
          </p:nvSpPr>
          <p:spPr bwMode="auto">
            <a:xfrm>
              <a:off x="3935865" y="1970785"/>
              <a:ext cx="1254692" cy="4025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defRPr kumimoji="1" sz="1400" b="1">
                  <a:latin typeface="微软雅黑" pitchFamily="34" charset="-122"/>
                  <a:ea typeface="微软雅黑" pitchFamily="34" charset="-122"/>
                </a:defRPr>
              </a:lvl1pPr>
              <a:lvl2pPr marL="742950" indent="-285750">
                <a:defRPr sz="3600">
                  <a:latin typeface="Tahoma" pitchFamily="34" charset="0"/>
                  <a:ea typeface="宋体" charset="-122"/>
                </a:defRPr>
              </a:lvl2pPr>
              <a:lvl3pPr marL="1143000" indent="-228600">
                <a:defRPr sz="3600">
                  <a:latin typeface="Tahoma" pitchFamily="34" charset="0"/>
                  <a:ea typeface="宋体" charset="-122"/>
                </a:defRPr>
              </a:lvl3pPr>
              <a:lvl4pPr marL="1600200" indent="-228600">
                <a:defRPr sz="3600">
                  <a:latin typeface="Tahoma" pitchFamily="34" charset="0"/>
                  <a:ea typeface="宋体" charset="-122"/>
                </a:defRPr>
              </a:lvl4pPr>
              <a:lvl5pPr marL="2057400" indent="-228600">
                <a:defRPr sz="3600">
                  <a:latin typeface="Tahoma" pitchFamily="34" charset="0"/>
                  <a:ea typeface="宋体" charset="-122"/>
                </a:defRPr>
              </a:lvl5pPr>
              <a:lvl6pPr marL="2514600" indent="-228600" eaLnBrk="0" fontAlgn="base" hangingPunct="0">
                <a:spcBef>
                  <a:spcPct val="0"/>
                </a:spcBef>
                <a:spcAft>
                  <a:spcPct val="0"/>
                </a:spcAft>
                <a:defRPr sz="3600">
                  <a:latin typeface="Tahoma" pitchFamily="34" charset="0"/>
                  <a:ea typeface="宋体" charset="-122"/>
                </a:defRPr>
              </a:lvl6pPr>
              <a:lvl7pPr marL="2971800" indent="-228600" eaLnBrk="0" fontAlgn="base" hangingPunct="0">
                <a:spcBef>
                  <a:spcPct val="0"/>
                </a:spcBef>
                <a:spcAft>
                  <a:spcPct val="0"/>
                </a:spcAft>
                <a:defRPr sz="3600">
                  <a:latin typeface="Tahoma" pitchFamily="34" charset="0"/>
                  <a:ea typeface="宋体" charset="-122"/>
                </a:defRPr>
              </a:lvl7pPr>
              <a:lvl8pPr marL="3429000" indent="-228600" eaLnBrk="0" fontAlgn="base" hangingPunct="0">
                <a:spcBef>
                  <a:spcPct val="0"/>
                </a:spcBef>
                <a:spcAft>
                  <a:spcPct val="0"/>
                </a:spcAft>
                <a:defRPr sz="3600">
                  <a:latin typeface="Tahoma" pitchFamily="34" charset="0"/>
                  <a:ea typeface="宋体" charset="-122"/>
                </a:defRPr>
              </a:lvl8pPr>
              <a:lvl9pPr marL="3886200" indent="-228600" eaLnBrk="0" fontAlgn="base" hangingPunct="0">
                <a:spcBef>
                  <a:spcPct val="0"/>
                </a:spcBef>
                <a:spcAft>
                  <a:spcPct val="0"/>
                </a:spcAft>
                <a:defRPr sz="3600">
                  <a:latin typeface="Tahoma" pitchFamily="34" charset="0"/>
                  <a:ea typeface="宋体" charset="-122"/>
                </a:defRPr>
              </a:lvl9pPr>
            </a:lstStyle>
            <a:p>
              <a:r>
                <a:rPr lang="zh-CN" altLang="en-US" sz="1100" b="0" dirty="0">
                  <a:latin typeface="Montserrat" panose="00000500000000000000" pitchFamily="2" charset="0"/>
                  <a:ea typeface="微软雅黑 Light" panose="020B0502040204020203" pitchFamily="34" charset="-122"/>
                </a:rPr>
                <a:t>释放 </a:t>
              </a:r>
              <a:r>
                <a:rPr lang="en-US" altLang="zh-CN" sz="1100" b="0" dirty="0">
                  <a:latin typeface="Montserrat" panose="00000500000000000000" pitchFamily="2" charset="0"/>
                  <a:ea typeface="微软雅黑 Light" panose="020B0502040204020203" pitchFamily="34" charset="-122"/>
                </a:rPr>
                <a:t>TCP </a:t>
              </a:r>
              <a:r>
                <a:rPr lang="zh-CN" altLang="en-US" sz="1100" b="0" dirty="0">
                  <a:latin typeface="Montserrat" panose="00000500000000000000" pitchFamily="2" charset="0"/>
                  <a:ea typeface="微软雅黑 Light" panose="020B0502040204020203" pitchFamily="34" charset="-122"/>
                </a:rPr>
                <a:t>连接</a:t>
              </a:r>
              <a:endParaRPr lang="en-US" altLang="zh-CN" sz="1100" b="0" dirty="0">
                <a:latin typeface="Montserrat" panose="00000500000000000000" pitchFamily="2" charset="0"/>
                <a:ea typeface="微软雅黑 Light" panose="020B0502040204020203" pitchFamily="34" charset="-122"/>
              </a:endParaRPr>
            </a:p>
          </p:txBody>
        </p:sp>
        <p:sp>
          <p:nvSpPr>
            <p:cNvPr id="48" name="Line 55">
              <a:extLst>
                <a:ext uri="{FF2B5EF4-FFF2-40B4-BE49-F238E27FC236}">
                  <a16:creationId xmlns:a16="http://schemas.microsoft.com/office/drawing/2014/main" id="{50BF90C4-A0BF-74A3-1A09-C227F45E2B4A}"/>
                </a:ext>
              </a:extLst>
            </p:cNvPr>
            <p:cNvSpPr>
              <a:spLocks noChangeShapeType="1"/>
            </p:cNvSpPr>
            <p:nvPr/>
          </p:nvSpPr>
          <p:spPr bwMode="auto">
            <a:xfrm>
              <a:off x="2144264" y="1954086"/>
              <a:ext cx="4926338" cy="0"/>
            </a:xfrm>
            <a:prstGeom prst="line">
              <a:avLst/>
            </a:prstGeom>
            <a:noFill/>
            <a:ln w="19050">
              <a:solidFill>
                <a:srgbClr val="0000FF"/>
              </a:solidFill>
              <a:prstDash val="lgDash"/>
              <a:miter lim="800000"/>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grpSp>
      <p:grpSp>
        <p:nvGrpSpPr>
          <p:cNvPr id="52" name="组合 51">
            <a:extLst>
              <a:ext uri="{FF2B5EF4-FFF2-40B4-BE49-F238E27FC236}">
                <a16:creationId xmlns:a16="http://schemas.microsoft.com/office/drawing/2014/main" id="{7EC9AE12-76DE-73E6-484E-7FC42908884B}"/>
              </a:ext>
            </a:extLst>
          </p:cNvPr>
          <p:cNvGrpSpPr/>
          <p:nvPr/>
        </p:nvGrpSpPr>
        <p:grpSpPr>
          <a:xfrm>
            <a:off x="2200434" y="2770927"/>
            <a:ext cx="4337778" cy="180000"/>
            <a:chOff x="2144264" y="2285523"/>
            <a:chExt cx="4926338" cy="292388"/>
          </a:xfrm>
        </p:grpSpPr>
        <p:sp>
          <p:nvSpPr>
            <p:cNvPr id="53" name="Line 55">
              <a:extLst>
                <a:ext uri="{FF2B5EF4-FFF2-40B4-BE49-F238E27FC236}">
                  <a16:creationId xmlns:a16="http://schemas.microsoft.com/office/drawing/2014/main" id="{59A99D04-4E81-745E-E087-FED82CC949E0}"/>
                </a:ext>
              </a:extLst>
            </p:cNvPr>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54" name="矩形 53">
              <a:extLst>
                <a:ext uri="{FF2B5EF4-FFF2-40B4-BE49-F238E27FC236}">
                  <a16:creationId xmlns:a16="http://schemas.microsoft.com/office/drawing/2014/main" id="{5E9C6617-6E05-D27B-3F0B-97A40418C459}"/>
                </a:ext>
              </a:extLst>
            </p:cNvPr>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QUIT</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55" name="组合 54">
            <a:extLst>
              <a:ext uri="{FF2B5EF4-FFF2-40B4-BE49-F238E27FC236}">
                <a16:creationId xmlns:a16="http://schemas.microsoft.com/office/drawing/2014/main" id="{EF3B1C2B-7E1A-903A-75C1-21B29DB5E8D7}"/>
              </a:ext>
            </a:extLst>
          </p:cNvPr>
          <p:cNvGrpSpPr/>
          <p:nvPr/>
        </p:nvGrpSpPr>
        <p:grpSpPr>
          <a:xfrm>
            <a:off x="2200434" y="2994515"/>
            <a:ext cx="4337778" cy="180000"/>
            <a:chOff x="2144264" y="2285523"/>
            <a:chExt cx="4926338" cy="292388"/>
          </a:xfrm>
        </p:grpSpPr>
        <p:sp>
          <p:nvSpPr>
            <p:cNvPr id="56" name="Line 55">
              <a:extLst>
                <a:ext uri="{FF2B5EF4-FFF2-40B4-BE49-F238E27FC236}">
                  <a16:creationId xmlns:a16="http://schemas.microsoft.com/office/drawing/2014/main" id="{88C5CEBD-372F-F7D3-8333-97008673369A}"/>
                </a:ext>
              </a:extLst>
            </p:cNvPr>
            <p:cNvSpPr>
              <a:spLocks noChangeShapeType="1"/>
            </p:cNvSpPr>
            <p:nvPr/>
          </p:nvSpPr>
          <p:spPr bwMode="auto">
            <a:xfrm>
              <a:off x="2144264" y="2426141"/>
              <a:ext cx="4926338" cy="0"/>
            </a:xfrm>
            <a:prstGeom prst="line">
              <a:avLst/>
            </a:prstGeom>
            <a:noFill/>
            <a:ln w="9525">
              <a:solidFill>
                <a:schemeClr val="tx1"/>
              </a:solidFill>
              <a:miter lim="800000"/>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57" name="矩形 56">
              <a:extLst>
                <a:ext uri="{FF2B5EF4-FFF2-40B4-BE49-F238E27FC236}">
                  <a16:creationId xmlns:a16="http://schemas.microsoft.com/office/drawing/2014/main" id="{19FAEFD1-489B-5B8F-B227-65A2D72A3542}"/>
                </a:ext>
              </a:extLst>
            </p:cNvPr>
            <p:cNvSpPr/>
            <p:nvPr/>
          </p:nvSpPr>
          <p:spPr>
            <a:xfrm>
              <a:off x="2827283" y="2285523"/>
              <a:ext cx="3626069" cy="292388"/>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221 Service Closed</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spTree>
    <p:extLst>
      <p:ext uri="{BB962C8B-B14F-4D97-AF65-F5344CB8AC3E}">
        <p14:creationId xmlns:p14="http://schemas.microsoft.com/office/powerpoint/2010/main" val="27672380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圆角矩形 22"/>
          <p:cNvSpPr/>
          <p:nvPr/>
        </p:nvSpPr>
        <p:spPr>
          <a:xfrm>
            <a:off x="3972911" y="1039512"/>
            <a:ext cx="4538238" cy="3314939"/>
          </a:xfrm>
          <a:prstGeom prst="roundRect">
            <a:avLst>
              <a:gd name="adj" fmla="val 12382"/>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7" name="Rectangle 6"/>
          <p:cNvSpPr>
            <a:spLocks noChangeArrowheads="1"/>
          </p:cNvSpPr>
          <p:nvPr/>
        </p:nvSpPr>
        <p:spPr bwMode="auto">
          <a:xfrm>
            <a:off x="4389019" y="2191369"/>
            <a:ext cx="3035300" cy="1917261"/>
          </a:xfrm>
          <a:prstGeom prst="rect">
            <a:avLst/>
          </a:prstGeom>
          <a:solidFill>
            <a:schemeClr val="bg1"/>
          </a:solidFill>
          <a:ln w="19050">
            <a:solidFill>
              <a:schemeClr val="tx1"/>
            </a:solidFill>
            <a:miter lim="800000"/>
            <a:headEnd/>
            <a:tailEnd/>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2" name="AutoShape 5"/>
          <p:cNvSpPr>
            <a:spLocks noChangeArrowheads="1"/>
          </p:cNvSpPr>
          <p:nvPr/>
        </p:nvSpPr>
        <p:spPr bwMode="auto">
          <a:xfrm>
            <a:off x="556963" y="615009"/>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631407" y="572738"/>
            <a:ext cx="388119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6.5.3  </a:t>
            </a:r>
            <a:r>
              <a:rPr lang="zh-CN" altLang="en-US" sz="2400" b="1" dirty="0">
                <a:solidFill>
                  <a:schemeClr val="bg1"/>
                </a:solidFill>
                <a:latin typeface="微软雅黑 Light" panose="020B0502040204020203" pitchFamily="34" charset="-122"/>
                <a:ea typeface="微软雅黑 Light" panose="020B0502040204020203" pitchFamily="34" charset="-122"/>
              </a:rPr>
              <a:t>电子邮件的信息格式</a:t>
            </a:r>
          </a:p>
        </p:txBody>
      </p:sp>
      <p:sp>
        <p:nvSpPr>
          <p:cNvPr id="5" name="Rectangle 4"/>
          <p:cNvSpPr>
            <a:spLocks noChangeArrowheads="1"/>
          </p:cNvSpPr>
          <p:nvPr/>
        </p:nvSpPr>
        <p:spPr bwMode="auto">
          <a:xfrm>
            <a:off x="4494119" y="2323624"/>
            <a:ext cx="2832100" cy="369326"/>
          </a:xfrm>
          <a:prstGeom prst="rect">
            <a:avLst/>
          </a:prstGeom>
          <a:solidFill>
            <a:srgbClr val="00FFCC"/>
          </a:solidFill>
          <a:ln w="12700">
            <a:solidFill>
              <a:schemeClr val="tx1"/>
            </a:solidFill>
            <a:miter lim="800000"/>
            <a:headEnd/>
            <a:tailEnd/>
          </a:ln>
          <a:effectLst/>
        </p:spPr>
        <p:txBody>
          <a:bodyPr wrap="none" anchor="ctr"/>
          <a:lstStyle/>
          <a:p>
            <a:pPr algn="ctr"/>
            <a:r>
              <a:rPr lang="zh-CN" altLang="en-US" b="1" dirty="0">
                <a:latin typeface="微软雅黑 Light" panose="020B0502040204020203" pitchFamily="34" charset="-122"/>
                <a:ea typeface="微软雅黑 Light" panose="020B0502040204020203" pitchFamily="34" charset="-122"/>
              </a:rPr>
              <a:t>首部 </a:t>
            </a:r>
            <a:r>
              <a:rPr lang="en-US" altLang="zh-CN" b="1" dirty="0">
                <a:latin typeface="微软雅黑 Light" panose="020B0502040204020203" pitchFamily="34" charset="-122"/>
                <a:ea typeface="微软雅黑 Light" panose="020B0502040204020203" pitchFamily="34" charset="-122"/>
              </a:rPr>
              <a:t>(header)</a:t>
            </a:r>
          </a:p>
        </p:txBody>
      </p:sp>
      <p:sp>
        <p:nvSpPr>
          <p:cNvPr id="6" name="Rectangle 5"/>
          <p:cNvSpPr>
            <a:spLocks noChangeArrowheads="1"/>
          </p:cNvSpPr>
          <p:nvPr/>
        </p:nvSpPr>
        <p:spPr bwMode="auto">
          <a:xfrm>
            <a:off x="4494119" y="2936735"/>
            <a:ext cx="2832100" cy="1056289"/>
          </a:xfrm>
          <a:prstGeom prst="rect">
            <a:avLst/>
          </a:prstGeom>
          <a:solidFill>
            <a:srgbClr val="FF66FF"/>
          </a:solidFill>
          <a:ln w="12700">
            <a:solidFill>
              <a:schemeClr val="tx1"/>
            </a:solidFill>
            <a:miter lim="800000"/>
            <a:headEnd/>
            <a:tailEnd/>
          </a:ln>
          <a:effectLst/>
        </p:spPr>
        <p:txBody>
          <a:bodyPr wrap="none" anchor="ctr"/>
          <a:lstStyle/>
          <a:p>
            <a:pPr algn="ctr"/>
            <a:r>
              <a:rPr lang="zh-CN" altLang="en-US" b="1" dirty="0">
                <a:latin typeface="微软雅黑 Light" panose="020B0502040204020203" pitchFamily="34" charset="-122"/>
                <a:ea typeface="微软雅黑 Light" panose="020B0502040204020203" pitchFamily="34" charset="-122"/>
              </a:rPr>
              <a:t>主体 </a:t>
            </a:r>
            <a:r>
              <a:rPr lang="en-US" altLang="zh-CN" b="1" dirty="0">
                <a:latin typeface="微软雅黑 Light" panose="020B0502040204020203" pitchFamily="34" charset="-122"/>
                <a:ea typeface="微软雅黑 Light" panose="020B0502040204020203" pitchFamily="34" charset="-122"/>
              </a:rPr>
              <a:t>(body)</a:t>
            </a:r>
          </a:p>
        </p:txBody>
      </p:sp>
      <p:sp>
        <p:nvSpPr>
          <p:cNvPr id="8" name="Text Box 7"/>
          <p:cNvSpPr txBox="1">
            <a:spLocks noChangeArrowheads="1"/>
          </p:cNvSpPr>
          <p:nvPr/>
        </p:nvSpPr>
        <p:spPr bwMode="auto">
          <a:xfrm>
            <a:off x="5022211" y="2659467"/>
            <a:ext cx="1797488" cy="30777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zh-CN" altLang="en-US" sz="1400" b="1" dirty="0">
                <a:latin typeface="微软雅黑 Light" panose="020B0502040204020203" pitchFamily="34" charset="-122"/>
                <a:ea typeface="微软雅黑 Light" panose="020B0502040204020203" pitchFamily="34" charset="-122"/>
              </a:rPr>
              <a:t>空行</a:t>
            </a:r>
            <a:endParaRPr lang="en-US" altLang="zh-CN" sz="1400" b="1" dirty="0">
              <a:latin typeface="微软雅黑 Light" panose="020B0502040204020203" pitchFamily="34" charset="-122"/>
              <a:ea typeface="微软雅黑 Light" panose="020B0502040204020203" pitchFamily="34" charset="-122"/>
            </a:endParaRPr>
          </a:p>
        </p:txBody>
      </p:sp>
      <p:sp>
        <p:nvSpPr>
          <p:cNvPr id="10" name="Rectangle 6"/>
          <p:cNvSpPr>
            <a:spLocks noChangeArrowheads="1"/>
          </p:cNvSpPr>
          <p:nvPr/>
        </p:nvSpPr>
        <p:spPr bwMode="auto">
          <a:xfrm>
            <a:off x="4389019" y="1335334"/>
            <a:ext cx="3035300" cy="860409"/>
          </a:xfrm>
          <a:prstGeom prst="rect">
            <a:avLst/>
          </a:prstGeom>
          <a:solidFill>
            <a:srgbClr val="0066FF"/>
          </a:solidFill>
          <a:ln w="19050">
            <a:solidFill>
              <a:schemeClr val="tx1"/>
            </a:solidFill>
            <a:miter lim="800000"/>
            <a:headEnd/>
            <a:tailEnd/>
          </a:ln>
          <a:effectLst/>
        </p:spPr>
        <p:txBody>
          <a:bodyPr wrap="none" anchor="ctr"/>
          <a:lstStyle/>
          <a:p>
            <a:pPr>
              <a:lnSpc>
                <a:spcPts val="1600"/>
              </a:lnSpc>
            </a:pPr>
            <a:r>
              <a:rPr lang="en-US" altLang="zh-CN" sz="1200" b="1" dirty="0">
                <a:solidFill>
                  <a:schemeClr val="bg1"/>
                </a:solidFill>
                <a:latin typeface="微软雅黑 Light" panose="020B0502040204020203" pitchFamily="34" charset="-122"/>
                <a:ea typeface="微软雅黑 Light" panose="020B0502040204020203" pitchFamily="34" charset="-122"/>
              </a:rPr>
              <a:t>MAIL FROM: one@abc.edu</a:t>
            </a:r>
          </a:p>
          <a:p>
            <a:pPr>
              <a:lnSpc>
                <a:spcPts val="1600"/>
              </a:lnSpc>
            </a:pPr>
            <a:r>
              <a:rPr lang="en-US" altLang="zh-CN" sz="1200" b="1" dirty="0">
                <a:solidFill>
                  <a:schemeClr val="bg1"/>
                </a:solidFill>
                <a:latin typeface="微软雅黑 Light" panose="020B0502040204020203" pitchFamily="34" charset="-122"/>
                <a:ea typeface="微软雅黑 Light" panose="020B0502040204020203" pitchFamily="34" charset="-122"/>
              </a:rPr>
              <a:t>RCPT TO: two@xyz.com</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p:txBody>
      </p:sp>
      <p:sp>
        <p:nvSpPr>
          <p:cNvPr id="11" name="矩形 10"/>
          <p:cNvSpPr/>
          <p:nvPr/>
        </p:nvSpPr>
        <p:spPr>
          <a:xfrm>
            <a:off x="7441871" y="1601892"/>
            <a:ext cx="745679" cy="369332"/>
          </a:xfrm>
          <a:prstGeom prst="rect">
            <a:avLst/>
          </a:prstGeom>
          <a:noFill/>
          <a:ln w="12700">
            <a:noFill/>
            <a:miter lim="800000"/>
            <a:headEnd/>
            <a:tailEnd/>
          </a:ln>
          <a:effectLst/>
        </p:spPr>
        <p:txBody>
          <a:bodyPr wrap="none" anchor="ctr"/>
          <a:lstStyle/>
          <a:p>
            <a:pPr algn="r"/>
            <a:r>
              <a:rPr lang="zh-CN" altLang="en-US" sz="1600" b="1" dirty="0">
                <a:latin typeface="微软雅黑 Light" panose="020B0502040204020203" pitchFamily="34" charset="-122"/>
                <a:ea typeface="微软雅黑 Light" panose="020B0502040204020203" pitchFamily="34" charset="-122"/>
              </a:rPr>
              <a:t>信封</a:t>
            </a:r>
            <a:endParaRPr lang="en-US" altLang="zh-CN" sz="1600" b="1" dirty="0">
              <a:latin typeface="微软雅黑 Light" panose="020B0502040204020203" pitchFamily="34" charset="-122"/>
              <a:ea typeface="微软雅黑 Light" panose="020B0502040204020203" pitchFamily="34" charset="-122"/>
            </a:endParaRPr>
          </a:p>
        </p:txBody>
      </p:sp>
      <p:sp>
        <p:nvSpPr>
          <p:cNvPr id="12" name="矩形 11"/>
          <p:cNvSpPr/>
          <p:nvPr/>
        </p:nvSpPr>
        <p:spPr>
          <a:xfrm>
            <a:off x="7441871" y="2936735"/>
            <a:ext cx="745679" cy="369332"/>
          </a:xfrm>
          <a:prstGeom prst="rect">
            <a:avLst/>
          </a:prstGeom>
          <a:noFill/>
          <a:ln w="12700">
            <a:noFill/>
            <a:miter lim="800000"/>
            <a:headEnd/>
            <a:tailEnd/>
          </a:ln>
          <a:effectLst/>
        </p:spPr>
        <p:txBody>
          <a:bodyPr wrap="none" anchor="ctr"/>
          <a:lstStyle/>
          <a:p>
            <a:pPr algn="r"/>
            <a:r>
              <a:rPr lang="zh-CN" altLang="en-US" sz="1600" b="1" dirty="0">
                <a:latin typeface="微软雅黑 Light" panose="020B0502040204020203" pitchFamily="34" charset="-122"/>
                <a:ea typeface="微软雅黑 Light" panose="020B0502040204020203" pitchFamily="34" charset="-122"/>
              </a:rPr>
              <a:t>内容</a:t>
            </a:r>
            <a:endParaRPr lang="en-US" altLang="zh-CN" sz="1600" b="1" dirty="0">
              <a:latin typeface="微软雅黑 Light" panose="020B0502040204020203" pitchFamily="34" charset="-122"/>
              <a:ea typeface="微软雅黑 Light" panose="020B0502040204020203" pitchFamily="34" charset="-122"/>
            </a:endParaRPr>
          </a:p>
        </p:txBody>
      </p:sp>
      <p:grpSp>
        <p:nvGrpSpPr>
          <p:cNvPr id="24" name="组合 23"/>
          <p:cNvGrpSpPr/>
          <p:nvPr/>
        </p:nvGrpSpPr>
        <p:grpSpPr>
          <a:xfrm>
            <a:off x="7473400" y="1335334"/>
            <a:ext cx="714150" cy="2768917"/>
            <a:chOff x="7200140" y="1468504"/>
            <a:chExt cx="807016" cy="2768917"/>
          </a:xfrm>
        </p:grpSpPr>
        <p:cxnSp>
          <p:nvCxnSpPr>
            <p:cNvPr id="14" name="直接连接符 13"/>
            <p:cNvCxnSpPr/>
            <p:nvPr/>
          </p:nvCxnSpPr>
          <p:spPr>
            <a:xfrm>
              <a:off x="7200140" y="1468504"/>
              <a:ext cx="807016"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直接连接符 14"/>
            <p:cNvCxnSpPr/>
            <p:nvPr/>
          </p:nvCxnSpPr>
          <p:spPr>
            <a:xfrm>
              <a:off x="7200140" y="2324539"/>
              <a:ext cx="807016"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直接连接符 15"/>
            <p:cNvCxnSpPr/>
            <p:nvPr/>
          </p:nvCxnSpPr>
          <p:spPr>
            <a:xfrm>
              <a:off x="7200140" y="4237421"/>
              <a:ext cx="807016"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7" name="直接连接符 16"/>
          <p:cNvCxnSpPr/>
          <p:nvPr/>
        </p:nvCxnSpPr>
        <p:spPr>
          <a:xfrm>
            <a:off x="7628776" y="1335334"/>
            <a:ext cx="0" cy="856035"/>
          </a:xfrm>
          <a:prstGeom prst="line">
            <a:avLst/>
          </a:prstGeom>
          <a:ln w="12700">
            <a:solidFill>
              <a:schemeClr val="tx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7628776" y="2195743"/>
            <a:ext cx="0" cy="1908508"/>
          </a:xfrm>
          <a:prstGeom prst="line">
            <a:avLst/>
          </a:prstGeom>
          <a:ln w="12700">
            <a:solidFill>
              <a:schemeClr val="tx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5" name="Rectangle 68"/>
          <p:cNvSpPr>
            <a:spLocks noChangeArrowheads="1"/>
          </p:cNvSpPr>
          <p:nvPr/>
        </p:nvSpPr>
        <p:spPr bwMode="auto">
          <a:xfrm>
            <a:off x="556963" y="1004641"/>
            <a:ext cx="3258286"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一个电子邮件分为</a:t>
            </a:r>
            <a:r>
              <a:rPr lang="zh-CN" altLang="en-US" sz="2000" b="1" dirty="0">
                <a:solidFill>
                  <a:srgbClr val="C00000"/>
                </a:solidFill>
                <a:latin typeface="微软雅黑 Light" panose="020B0502040204020203" pitchFamily="34" charset="-122"/>
                <a:ea typeface="微软雅黑 Light" panose="020B0502040204020203" pitchFamily="34" charset="-122"/>
              </a:rPr>
              <a:t>信封</a:t>
            </a:r>
            <a:r>
              <a:rPr lang="zh-CN" altLang="en-US" sz="2000" b="1" dirty="0">
                <a:latin typeface="微软雅黑 Light" panose="020B0502040204020203" pitchFamily="34" charset="-122"/>
                <a:ea typeface="微软雅黑 Light" panose="020B0502040204020203" pitchFamily="34" charset="-122"/>
              </a:rPr>
              <a:t>和</a:t>
            </a:r>
            <a:r>
              <a:rPr lang="zh-CN" altLang="en-US" sz="2000" b="1" dirty="0">
                <a:solidFill>
                  <a:srgbClr val="C00000"/>
                </a:solidFill>
                <a:latin typeface="微软雅黑 Light" panose="020B0502040204020203" pitchFamily="34" charset="-122"/>
                <a:ea typeface="微软雅黑 Light" panose="020B0502040204020203" pitchFamily="34" charset="-122"/>
              </a:rPr>
              <a:t>内容</a:t>
            </a:r>
            <a:r>
              <a:rPr lang="zh-CN" altLang="en-US" sz="2000" b="1" dirty="0">
                <a:latin typeface="微软雅黑 Light" panose="020B0502040204020203" pitchFamily="34" charset="-122"/>
                <a:ea typeface="微软雅黑 Light" panose="020B0502040204020203" pitchFamily="34" charset="-122"/>
              </a:rPr>
              <a:t>两大部分。</a:t>
            </a:r>
          </a:p>
          <a:p>
            <a:pPr marL="285750" indent="-28575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RFC 5322 </a:t>
            </a:r>
            <a:r>
              <a:rPr lang="zh-CN" altLang="en-US" sz="2000" b="1" dirty="0">
                <a:latin typeface="微软雅黑 Light" panose="020B0502040204020203" pitchFamily="34" charset="-122"/>
                <a:ea typeface="微软雅黑 Light" panose="020B0502040204020203" pitchFamily="34" charset="-122"/>
              </a:rPr>
              <a:t>只规定了邮件内容中的</a:t>
            </a:r>
            <a:r>
              <a:rPr lang="zh-CN" altLang="en-US" sz="2000" b="1" dirty="0">
                <a:solidFill>
                  <a:srgbClr val="0000FF"/>
                </a:solidFill>
                <a:latin typeface="微软雅黑 Light" panose="020B0502040204020203" pitchFamily="34" charset="-122"/>
                <a:ea typeface="微软雅黑 Light" panose="020B0502040204020203" pitchFamily="34" charset="-122"/>
              </a:rPr>
              <a:t>首部</a:t>
            </a:r>
            <a:r>
              <a:rPr lang="zh-CN" altLang="en-US" sz="2000" b="1" dirty="0">
                <a:latin typeface="微软雅黑 Light" panose="020B0502040204020203" pitchFamily="34" charset="-122"/>
                <a:ea typeface="微软雅黑 Light" panose="020B0502040204020203" pitchFamily="34" charset="-122"/>
              </a:rPr>
              <a:t> </a:t>
            </a:r>
            <a:r>
              <a:rPr lang="en-US" altLang="zh-CN" sz="2000" b="1" dirty="0">
                <a:latin typeface="微软雅黑 Light" panose="020B0502040204020203" pitchFamily="34" charset="-122"/>
                <a:ea typeface="微软雅黑 Light" panose="020B0502040204020203" pitchFamily="34" charset="-122"/>
              </a:rPr>
              <a:t>(header) </a:t>
            </a:r>
            <a:r>
              <a:rPr lang="zh-CN" altLang="en-US" sz="2000" b="1" dirty="0">
                <a:latin typeface="微软雅黑 Light" panose="020B0502040204020203" pitchFamily="34" charset="-122"/>
                <a:ea typeface="微软雅黑 Light" panose="020B0502040204020203" pitchFamily="34" charset="-122"/>
              </a:rPr>
              <a:t>格式。</a:t>
            </a:r>
            <a:endParaRPr lang="en-US" altLang="zh-CN" sz="2000" b="1" dirty="0">
              <a:latin typeface="微软雅黑 Light" panose="020B0502040204020203" pitchFamily="34" charset="-122"/>
              <a:ea typeface="微软雅黑 Light" panose="020B0502040204020203" pitchFamily="34" charset="-122"/>
            </a:endParaRP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邮件的</a:t>
            </a:r>
            <a:r>
              <a:rPr lang="zh-CN" altLang="en-US" sz="2000" b="1" dirty="0">
                <a:solidFill>
                  <a:srgbClr val="0000FF"/>
                </a:solidFill>
                <a:latin typeface="微软雅黑 Light" panose="020B0502040204020203" pitchFamily="34" charset="-122"/>
                <a:ea typeface="微软雅黑 Light" panose="020B0502040204020203" pitchFamily="34" charset="-122"/>
              </a:rPr>
              <a:t>主体</a:t>
            </a:r>
            <a:r>
              <a:rPr lang="zh-CN" altLang="en-US" sz="2000" b="1" dirty="0">
                <a:latin typeface="微软雅黑 Light" panose="020B0502040204020203" pitchFamily="34" charset="-122"/>
                <a:ea typeface="微软雅黑 Light" panose="020B0502040204020203" pitchFamily="34" charset="-122"/>
              </a:rPr>
              <a:t> </a:t>
            </a:r>
            <a:r>
              <a:rPr lang="en-US" altLang="zh-CN" sz="2000" b="1" dirty="0">
                <a:latin typeface="微软雅黑 Light" panose="020B0502040204020203" pitchFamily="34" charset="-122"/>
                <a:ea typeface="微软雅黑 Light" panose="020B0502040204020203" pitchFamily="34" charset="-122"/>
              </a:rPr>
              <a:t>(body) </a:t>
            </a:r>
            <a:r>
              <a:rPr lang="zh-CN" altLang="en-US" sz="2000" b="1" dirty="0">
                <a:latin typeface="微软雅黑 Light" panose="020B0502040204020203" pitchFamily="34" charset="-122"/>
                <a:ea typeface="微软雅黑 Light" panose="020B0502040204020203" pitchFamily="34" charset="-122"/>
              </a:rPr>
              <a:t>部分则让用户自由撰写。</a:t>
            </a:r>
          </a:p>
        </p:txBody>
      </p:sp>
    </p:spTree>
    <p:extLst>
      <p:ext uri="{BB962C8B-B14F-4D97-AF65-F5344CB8AC3E}">
        <p14:creationId xmlns:p14="http://schemas.microsoft.com/office/powerpoint/2010/main" val="21094137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5"/>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Lst>
  </p:timing>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AutoShape 5"/>
          <p:cNvSpPr>
            <a:spLocks noChangeArrowheads="1"/>
          </p:cNvSpPr>
          <p:nvPr/>
        </p:nvSpPr>
        <p:spPr bwMode="auto">
          <a:xfrm>
            <a:off x="556963" y="611416"/>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28" name="Rectangle 6"/>
          <p:cNvSpPr>
            <a:spLocks noChangeArrowheads="1"/>
          </p:cNvSpPr>
          <p:nvPr/>
        </p:nvSpPr>
        <p:spPr bwMode="auto">
          <a:xfrm>
            <a:off x="3552869" y="578205"/>
            <a:ext cx="205697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邮件内容的首部</a:t>
            </a:r>
          </a:p>
        </p:txBody>
      </p:sp>
      <p:sp>
        <p:nvSpPr>
          <p:cNvPr id="29" name="圆角矩形 28"/>
          <p:cNvSpPr/>
          <p:nvPr/>
        </p:nvSpPr>
        <p:spPr>
          <a:xfrm>
            <a:off x="3972911" y="1039512"/>
            <a:ext cx="4538238" cy="3314939"/>
          </a:xfrm>
          <a:prstGeom prst="roundRect">
            <a:avLst>
              <a:gd name="adj" fmla="val 12382"/>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30" name="Rectangle 6"/>
          <p:cNvSpPr>
            <a:spLocks noChangeArrowheads="1"/>
          </p:cNvSpPr>
          <p:nvPr/>
        </p:nvSpPr>
        <p:spPr bwMode="auto">
          <a:xfrm>
            <a:off x="4389019" y="2191369"/>
            <a:ext cx="3035300" cy="1917261"/>
          </a:xfrm>
          <a:prstGeom prst="rect">
            <a:avLst/>
          </a:prstGeom>
          <a:solidFill>
            <a:schemeClr val="bg1"/>
          </a:solidFill>
          <a:ln w="19050">
            <a:solidFill>
              <a:schemeClr val="tx1"/>
            </a:solidFill>
            <a:miter lim="800000"/>
            <a:headEnd/>
            <a:tailEnd/>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1" name="Rectangle 4"/>
          <p:cNvSpPr>
            <a:spLocks noChangeArrowheads="1"/>
          </p:cNvSpPr>
          <p:nvPr/>
        </p:nvSpPr>
        <p:spPr bwMode="auto">
          <a:xfrm>
            <a:off x="4494119" y="2323624"/>
            <a:ext cx="2832100" cy="369326"/>
          </a:xfrm>
          <a:prstGeom prst="rect">
            <a:avLst/>
          </a:prstGeom>
          <a:solidFill>
            <a:srgbClr val="00FFCC"/>
          </a:solidFill>
          <a:ln w="12700">
            <a:solidFill>
              <a:schemeClr val="tx1"/>
            </a:solidFill>
            <a:miter lim="800000"/>
            <a:headEnd/>
            <a:tailEnd/>
          </a:ln>
          <a:effectLst/>
        </p:spPr>
        <p:txBody>
          <a:bodyPr wrap="none" anchor="ctr"/>
          <a:lstStyle/>
          <a:p>
            <a:pPr algn="ctr"/>
            <a:r>
              <a:rPr lang="zh-CN" altLang="en-US" b="1" dirty="0">
                <a:latin typeface="微软雅黑 Light" panose="020B0502040204020203" pitchFamily="34" charset="-122"/>
                <a:ea typeface="微软雅黑 Light" panose="020B0502040204020203" pitchFamily="34" charset="-122"/>
              </a:rPr>
              <a:t>首部 </a:t>
            </a:r>
            <a:r>
              <a:rPr lang="en-US" altLang="zh-CN" b="1" dirty="0">
                <a:latin typeface="微软雅黑 Light" panose="020B0502040204020203" pitchFamily="34" charset="-122"/>
                <a:ea typeface="微软雅黑 Light" panose="020B0502040204020203" pitchFamily="34" charset="-122"/>
              </a:rPr>
              <a:t>(header)</a:t>
            </a:r>
          </a:p>
        </p:txBody>
      </p:sp>
      <p:sp>
        <p:nvSpPr>
          <p:cNvPr id="32" name="Rectangle 5"/>
          <p:cNvSpPr>
            <a:spLocks noChangeArrowheads="1"/>
          </p:cNvSpPr>
          <p:nvPr/>
        </p:nvSpPr>
        <p:spPr bwMode="auto">
          <a:xfrm>
            <a:off x="4494119" y="2936735"/>
            <a:ext cx="2832100" cy="1056289"/>
          </a:xfrm>
          <a:prstGeom prst="rect">
            <a:avLst/>
          </a:prstGeom>
          <a:solidFill>
            <a:srgbClr val="FF66FF"/>
          </a:solidFill>
          <a:ln w="12700">
            <a:solidFill>
              <a:schemeClr val="tx1"/>
            </a:solidFill>
            <a:miter lim="800000"/>
            <a:headEnd/>
            <a:tailEnd/>
          </a:ln>
          <a:effectLst/>
        </p:spPr>
        <p:txBody>
          <a:bodyPr wrap="none" anchor="ctr"/>
          <a:lstStyle/>
          <a:p>
            <a:pPr algn="ctr"/>
            <a:r>
              <a:rPr lang="zh-CN" altLang="en-US" b="1" dirty="0">
                <a:latin typeface="微软雅黑 Light" panose="020B0502040204020203" pitchFamily="34" charset="-122"/>
                <a:ea typeface="微软雅黑 Light" panose="020B0502040204020203" pitchFamily="34" charset="-122"/>
              </a:rPr>
              <a:t>主体 </a:t>
            </a:r>
            <a:r>
              <a:rPr lang="en-US" altLang="zh-CN" b="1" dirty="0">
                <a:latin typeface="微软雅黑 Light" panose="020B0502040204020203" pitchFamily="34" charset="-122"/>
                <a:ea typeface="微软雅黑 Light" panose="020B0502040204020203" pitchFamily="34" charset="-122"/>
              </a:rPr>
              <a:t>(body)</a:t>
            </a:r>
          </a:p>
        </p:txBody>
      </p:sp>
      <p:sp>
        <p:nvSpPr>
          <p:cNvPr id="33" name="Text Box 7"/>
          <p:cNvSpPr txBox="1">
            <a:spLocks noChangeArrowheads="1"/>
          </p:cNvSpPr>
          <p:nvPr/>
        </p:nvSpPr>
        <p:spPr bwMode="auto">
          <a:xfrm>
            <a:off x="5022211" y="2659467"/>
            <a:ext cx="1797488" cy="30777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zh-CN" altLang="en-US" sz="1400" b="1" dirty="0">
                <a:latin typeface="微软雅黑 Light" panose="020B0502040204020203" pitchFamily="34" charset="-122"/>
                <a:ea typeface="微软雅黑 Light" panose="020B0502040204020203" pitchFamily="34" charset="-122"/>
              </a:rPr>
              <a:t>空行</a:t>
            </a:r>
            <a:endParaRPr lang="en-US" altLang="zh-CN" sz="1400" b="1" dirty="0">
              <a:latin typeface="微软雅黑 Light" panose="020B0502040204020203" pitchFamily="34" charset="-122"/>
              <a:ea typeface="微软雅黑 Light" panose="020B0502040204020203" pitchFamily="34" charset="-122"/>
            </a:endParaRPr>
          </a:p>
        </p:txBody>
      </p:sp>
      <p:sp>
        <p:nvSpPr>
          <p:cNvPr id="34" name="Rectangle 6"/>
          <p:cNvSpPr>
            <a:spLocks noChangeArrowheads="1"/>
          </p:cNvSpPr>
          <p:nvPr/>
        </p:nvSpPr>
        <p:spPr bwMode="auto">
          <a:xfrm>
            <a:off x="4389019" y="1335334"/>
            <a:ext cx="3035300" cy="860409"/>
          </a:xfrm>
          <a:prstGeom prst="rect">
            <a:avLst/>
          </a:prstGeom>
          <a:solidFill>
            <a:srgbClr val="0066FF"/>
          </a:solidFill>
          <a:ln w="19050">
            <a:solidFill>
              <a:schemeClr val="tx1"/>
            </a:solidFill>
            <a:miter lim="800000"/>
            <a:headEnd/>
            <a:tailEnd/>
          </a:ln>
          <a:effectLst/>
        </p:spPr>
        <p:txBody>
          <a:bodyPr wrap="none" anchor="ctr"/>
          <a:lstStyle/>
          <a:p>
            <a:pPr>
              <a:lnSpc>
                <a:spcPts val="1600"/>
              </a:lnSpc>
            </a:pPr>
            <a:r>
              <a:rPr lang="en-US" altLang="zh-CN" sz="1200" b="1" dirty="0">
                <a:solidFill>
                  <a:schemeClr val="bg1"/>
                </a:solidFill>
                <a:latin typeface="微软雅黑 Light" panose="020B0502040204020203" pitchFamily="34" charset="-122"/>
                <a:ea typeface="微软雅黑 Light" panose="020B0502040204020203" pitchFamily="34" charset="-122"/>
              </a:rPr>
              <a:t>MAIL FROM: one@abc.edu</a:t>
            </a:r>
          </a:p>
          <a:p>
            <a:pPr>
              <a:lnSpc>
                <a:spcPts val="1600"/>
              </a:lnSpc>
            </a:pPr>
            <a:r>
              <a:rPr lang="en-US" altLang="zh-CN" sz="1200" b="1" dirty="0">
                <a:solidFill>
                  <a:schemeClr val="bg1"/>
                </a:solidFill>
                <a:latin typeface="微软雅黑 Light" panose="020B0502040204020203" pitchFamily="34" charset="-122"/>
                <a:ea typeface="微软雅黑 Light" panose="020B0502040204020203" pitchFamily="34" charset="-122"/>
              </a:rPr>
              <a:t>RCPT TO: two@xyz.com</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p:txBody>
      </p:sp>
      <p:sp>
        <p:nvSpPr>
          <p:cNvPr id="35" name="矩形 34"/>
          <p:cNvSpPr/>
          <p:nvPr/>
        </p:nvSpPr>
        <p:spPr>
          <a:xfrm>
            <a:off x="7441871" y="1601892"/>
            <a:ext cx="745679" cy="369332"/>
          </a:xfrm>
          <a:prstGeom prst="rect">
            <a:avLst/>
          </a:prstGeom>
          <a:noFill/>
          <a:ln w="12700">
            <a:noFill/>
            <a:miter lim="800000"/>
            <a:headEnd/>
            <a:tailEnd/>
          </a:ln>
          <a:effectLst/>
        </p:spPr>
        <p:txBody>
          <a:bodyPr wrap="none" anchor="ctr"/>
          <a:lstStyle/>
          <a:p>
            <a:pPr algn="r"/>
            <a:r>
              <a:rPr lang="zh-CN" altLang="en-US" sz="1600" b="1" dirty="0">
                <a:latin typeface="微软雅黑 Light" panose="020B0502040204020203" pitchFamily="34" charset="-122"/>
                <a:ea typeface="微软雅黑 Light" panose="020B0502040204020203" pitchFamily="34" charset="-122"/>
              </a:rPr>
              <a:t>信封</a:t>
            </a:r>
            <a:endParaRPr lang="en-US" altLang="zh-CN" sz="1600" b="1" dirty="0">
              <a:latin typeface="微软雅黑 Light" panose="020B0502040204020203" pitchFamily="34" charset="-122"/>
              <a:ea typeface="微软雅黑 Light" panose="020B0502040204020203" pitchFamily="34" charset="-122"/>
            </a:endParaRPr>
          </a:p>
        </p:txBody>
      </p:sp>
      <p:sp>
        <p:nvSpPr>
          <p:cNvPr id="36" name="矩形 35"/>
          <p:cNvSpPr/>
          <p:nvPr/>
        </p:nvSpPr>
        <p:spPr>
          <a:xfrm>
            <a:off x="7441871" y="2936735"/>
            <a:ext cx="745679" cy="369332"/>
          </a:xfrm>
          <a:prstGeom prst="rect">
            <a:avLst/>
          </a:prstGeom>
          <a:noFill/>
          <a:ln w="12700">
            <a:noFill/>
            <a:miter lim="800000"/>
            <a:headEnd/>
            <a:tailEnd/>
          </a:ln>
          <a:effectLst/>
        </p:spPr>
        <p:txBody>
          <a:bodyPr wrap="none" anchor="ctr"/>
          <a:lstStyle/>
          <a:p>
            <a:pPr algn="r"/>
            <a:r>
              <a:rPr lang="zh-CN" altLang="en-US" sz="1600" b="1" dirty="0">
                <a:latin typeface="微软雅黑 Light" panose="020B0502040204020203" pitchFamily="34" charset="-122"/>
                <a:ea typeface="微软雅黑 Light" panose="020B0502040204020203" pitchFamily="34" charset="-122"/>
              </a:rPr>
              <a:t>内容</a:t>
            </a:r>
            <a:endParaRPr lang="en-US" altLang="zh-CN" sz="1600" b="1" dirty="0">
              <a:latin typeface="微软雅黑 Light" panose="020B0502040204020203" pitchFamily="34" charset="-122"/>
              <a:ea typeface="微软雅黑 Light" panose="020B0502040204020203" pitchFamily="34" charset="-122"/>
            </a:endParaRPr>
          </a:p>
        </p:txBody>
      </p:sp>
      <p:grpSp>
        <p:nvGrpSpPr>
          <p:cNvPr id="37" name="组合 36"/>
          <p:cNvGrpSpPr/>
          <p:nvPr/>
        </p:nvGrpSpPr>
        <p:grpSpPr>
          <a:xfrm>
            <a:off x="7473400" y="1335334"/>
            <a:ext cx="714150" cy="2768917"/>
            <a:chOff x="7200140" y="1468504"/>
            <a:chExt cx="807016" cy="2768917"/>
          </a:xfrm>
        </p:grpSpPr>
        <p:cxnSp>
          <p:nvCxnSpPr>
            <p:cNvPr id="38" name="直接连接符 37"/>
            <p:cNvCxnSpPr/>
            <p:nvPr/>
          </p:nvCxnSpPr>
          <p:spPr>
            <a:xfrm>
              <a:off x="7200140" y="1468504"/>
              <a:ext cx="807016"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 name="直接连接符 38"/>
            <p:cNvCxnSpPr/>
            <p:nvPr/>
          </p:nvCxnSpPr>
          <p:spPr>
            <a:xfrm>
              <a:off x="7200140" y="2324539"/>
              <a:ext cx="807016"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0" name="直接连接符 39"/>
            <p:cNvCxnSpPr/>
            <p:nvPr/>
          </p:nvCxnSpPr>
          <p:spPr>
            <a:xfrm>
              <a:off x="7200140" y="4237421"/>
              <a:ext cx="807016"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1" name="直接连接符 40"/>
          <p:cNvCxnSpPr/>
          <p:nvPr/>
        </p:nvCxnSpPr>
        <p:spPr>
          <a:xfrm>
            <a:off x="7628776" y="1335334"/>
            <a:ext cx="0" cy="856035"/>
          </a:xfrm>
          <a:prstGeom prst="line">
            <a:avLst/>
          </a:prstGeom>
          <a:ln w="12700">
            <a:solidFill>
              <a:schemeClr val="tx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直接连接符 41"/>
          <p:cNvCxnSpPr/>
          <p:nvPr/>
        </p:nvCxnSpPr>
        <p:spPr>
          <a:xfrm>
            <a:off x="7628776" y="2195743"/>
            <a:ext cx="0" cy="1908508"/>
          </a:xfrm>
          <a:prstGeom prst="line">
            <a:avLst/>
          </a:prstGeom>
          <a:ln w="12700">
            <a:solidFill>
              <a:schemeClr val="tx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5" name="Rectangle 68"/>
          <p:cNvSpPr>
            <a:spLocks noChangeArrowheads="1"/>
          </p:cNvSpPr>
          <p:nvPr/>
        </p:nvSpPr>
        <p:spPr bwMode="auto">
          <a:xfrm>
            <a:off x="525511" y="1192910"/>
            <a:ext cx="3289738" cy="1759456"/>
          </a:xfrm>
          <a:prstGeom prst="rect">
            <a:avLst/>
          </a:prstGeom>
          <a:solidFill>
            <a:srgbClr val="00FFCC"/>
          </a:solidFill>
          <a:ln w="9525" algn="ctr">
            <a:solidFill>
              <a:srgbClr val="000000"/>
            </a:solidFill>
            <a:miter lim="1000000"/>
            <a:headEnd/>
            <a:tailEnd/>
          </a:ln>
          <a:effectLst/>
        </p:spPr>
        <p:txBody>
          <a:bodyPr wrap="square">
            <a:spAutoFit/>
          </a:bodyPr>
          <a:lstStyle/>
          <a:p>
            <a:pPr marL="285750" indent="-285750" eaLnBrk="0" hangingPunct="0">
              <a:lnSpc>
                <a:spcPts val="2600"/>
              </a:lnSpc>
              <a:buClr>
                <a:srgbClr val="0070C0"/>
              </a:buClr>
              <a:buFont typeface="Wingdings" pitchFamily="2" charset="2"/>
              <a:buChar char="l"/>
            </a:pPr>
            <a:r>
              <a:rPr lang="en-US" altLang="zh-CN" sz="1600" b="1" dirty="0">
                <a:latin typeface="微软雅黑 Light" panose="020B0502040204020203" pitchFamily="34" charset="-122"/>
                <a:ea typeface="微软雅黑 Light" panose="020B0502040204020203" pitchFamily="34" charset="-122"/>
              </a:rPr>
              <a:t>From: LionKing@abc.edu</a:t>
            </a:r>
          </a:p>
          <a:p>
            <a:pPr marL="285750" indent="-285750" eaLnBrk="0" hangingPunct="0">
              <a:lnSpc>
                <a:spcPts val="2600"/>
              </a:lnSpc>
              <a:buClr>
                <a:srgbClr val="0070C0"/>
              </a:buClr>
              <a:buFont typeface="Wingdings" pitchFamily="2" charset="2"/>
              <a:buChar char="l"/>
            </a:pPr>
            <a:r>
              <a:rPr lang="en-US" altLang="zh-CN" sz="1600" b="1" dirty="0">
                <a:solidFill>
                  <a:srgbClr val="C00000"/>
                </a:solidFill>
                <a:latin typeface="微软雅黑 Light" panose="020B0502040204020203" pitchFamily="34" charset="-122"/>
                <a:ea typeface="微软雅黑 Light" panose="020B0502040204020203" pitchFamily="34" charset="-122"/>
              </a:rPr>
              <a:t>To: </a:t>
            </a:r>
            <a:r>
              <a:rPr lang="en-US" altLang="zh-CN" sz="1600" b="1" dirty="0">
                <a:latin typeface="微软雅黑 Light" panose="020B0502040204020203" pitchFamily="34" charset="-122"/>
                <a:ea typeface="微软雅黑 Light" panose="020B0502040204020203" pitchFamily="34" charset="-122"/>
              </a:rPr>
              <a:t>TigerWang@xyz.com</a:t>
            </a:r>
          </a:p>
          <a:p>
            <a:pPr marL="285750" indent="-285750" eaLnBrk="0" hangingPunct="0">
              <a:lnSpc>
                <a:spcPts val="2600"/>
              </a:lnSpc>
              <a:buClr>
                <a:srgbClr val="0070C0"/>
              </a:buClr>
              <a:buFont typeface="Wingdings" pitchFamily="2" charset="2"/>
              <a:buChar char="l"/>
            </a:pPr>
            <a:r>
              <a:rPr lang="en-US" altLang="zh-CN" sz="1600" b="1" dirty="0">
                <a:latin typeface="微软雅黑 Light" panose="020B0502040204020203" pitchFamily="34" charset="-122"/>
                <a:ea typeface="微软雅黑 Light" panose="020B0502040204020203" pitchFamily="34" charset="-122"/>
              </a:rPr>
              <a:t>Date: 2018-08-18</a:t>
            </a:r>
          </a:p>
          <a:p>
            <a:pPr marL="285750" indent="-285750" eaLnBrk="0" hangingPunct="0">
              <a:lnSpc>
                <a:spcPts val="2600"/>
              </a:lnSpc>
              <a:buClr>
                <a:srgbClr val="0070C0"/>
              </a:buClr>
              <a:buFont typeface="Wingdings" pitchFamily="2" charset="2"/>
              <a:buChar char="l"/>
            </a:pPr>
            <a:r>
              <a:rPr lang="en-US" altLang="zh-CN" sz="1600" b="1" dirty="0">
                <a:solidFill>
                  <a:srgbClr val="C00000"/>
                </a:solidFill>
                <a:latin typeface="微软雅黑 Light" panose="020B0502040204020203" pitchFamily="34" charset="-122"/>
                <a:ea typeface="微软雅黑 Light" panose="020B0502040204020203" pitchFamily="34" charset="-122"/>
              </a:rPr>
              <a:t>Subject:</a:t>
            </a:r>
            <a:r>
              <a:rPr lang="en-US" altLang="zh-CN" sz="1600" b="1" dirty="0">
                <a:latin typeface="微软雅黑 Light" panose="020B0502040204020203" pitchFamily="34" charset="-122"/>
                <a:ea typeface="微软雅黑 Light" panose="020B0502040204020203" pitchFamily="34" charset="-122"/>
              </a:rPr>
              <a:t> Greetings</a:t>
            </a:r>
          </a:p>
          <a:p>
            <a:pPr marL="285750" indent="-285750" eaLnBrk="0" hangingPunct="0">
              <a:lnSpc>
                <a:spcPts val="2600"/>
              </a:lnSpc>
              <a:buClr>
                <a:srgbClr val="0070C0"/>
              </a:buClr>
              <a:buFont typeface="Wingdings" pitchFamily="2" charset="2"/>
              <a:buChar char="l"/>
            </a:pPr>
            <a:r>
              <a:rPr lang="en-US" altLang="zh-CN" sz="1600" b="1" dirty="0">
                <a:latin typeface="微软雅黑 Light" panose="020B0502040204020203" pitchFamily="34" charset="-122"/>
                <a:ea typeface="微软雅黑 Light" panose="020B0502040204020203" pitchFamily="34" charset="-122"/>
              </a:rPr>
              <a:t>Cc: Manager@zoo.com</a:t>
            </a:r>
          </a:p>
        </p:txBody>
      </p:sp>
      <p:cxnSp>
        <p:nvCxnSpPr>
          <p:cNvPr id="9" name="直接箭头连接符 8"/>
          <p:cNvCxnSpPr/>
          <p:nvPr/>
        </p:nvCxnSpPr>
        <p:spPr>
          <a:xfrm>
            <a:off x="3447391" y="2244640"/>
            <a:ext cx="1282262" cy="316918"/>
          </a:xfrm>
          <a:prstGeom prst="straightConnector1">
            <a:avLst/>
          </a:prstGeom>
          <a:ln w="28575">
            <a:solidFill>
              <a:srgbClr val="C00000"/>
            </a:solidFill>
            <a:tailEnd type="arrow"/>
          </a:ln>
        </p:spPr>
        <p:style>
          <a:lnRef idx="1">
            <a:schemeClr val="accent1"/>
          </a:lnRef>
          <a:fillRef idx="0">
            <a:schemeClr val="accent1"/>
          </a:fillRef>
          <a:effectRef idx="0">
            <a:schemeClr val="accent1"/>
          </a:effectRef>
          <a:fontRef idx="minor">
            <a:schemeClr val="tx1"/>
          </a:fontRef>
        </p:style>
      </p:cxnSp>
      <p:sp>
        <p:nvSpPr>
          <p:cNvPr id="26" name="Rectangle 68"/>
          <p:cNvSpPr>
            <a:spLocks noChangeArrowheads="1"/>
          </p:cNvSpPr>
          <p:nvPr/>
        </p:nvSpPr>
        <p:spPr bwMode="auto">
          <a:xfrm>
            <a:off x="525511" y="3352769"/>
            <a:ext cx="3289738" cy="724686"/>
          </a:xfrm>
          <a:prstGeom prst="rect">
            <a:avLst/>
          </a:prstGeom>
          <a:solidFill>
            <a:srgbClr val="FF66FF"/>
          </a:solidFill>
          <a:ln w="9525" algn="ctr">
            <a:solidFill>
              <a:srgbClr val="000000"/>
            </a:solidFill>
            <a:miter lim="1000000"/>
            <a:headEnd/>
            <a:tailEnd/>
          </a:ln>
          <a:effectLst/>
        </p:spPr>
        <p:txBody>
          <a:bodyPr wrap="square">
            <a:spAutoFit/>
          </a:bodyPr>
          <a:lstStyle/>
          <a:p>
            <a:pPr marL="285750" indent="-285750" eaLnBrk="0" hangingPunct="0">
              <a:lnSpc>
                <a:spcPts val="2600"/>
              </a:lnSpc>
              <a:buClr>
                <a:srgbClr val="0070C0"/>
              </a:buClr>
              <a:buFont typeface="Wingdings" pitchFamily="2" charset="2"/>
              <a:buChar char="l"/>
            </a:pPr>
            <a:r>
              <a:rPr lang="zh-CN" altLang="en-US" sz="1600" b="1" dirty="0">
                <a:latin typeface="微软雅黑 Light" panose="020B0502040204020203" pitchFamily="34" charset="-122"/>
                <a:ea typeface="微软雅黑 Light" panose="020B0502040204020203" pitchFamily="34" charset="-122"/>
              </a:rPr>
              <a:t>纯文本信息 （</a:t>
            </a:r>
            <a:r>
              <a:rPr lang="en-US" altLang="zh-CN" sz="1600" b="1" dirty="0">
                <a:latin typeface="微软雅黑 Light" panose="020B0502040204020203" pitchFamily="34" charset="-122"/>
                <a:ea typeface="微软雅黑 Light" panose="020B0502040204020203" pitchFamily="34" charset="-122"/>
              </a:rPr>
              <a:t>ASCII</a:t>
            </a:r>
            <a:r>
              <a:rPr lang="zh-CN" altLang="en-US" sz="1600" b="1" dirty="0">
                <a:latin typeface="微软雅黑 Light" panose="020B0502040204020203" pitchFamily="34" charset="-122"/>
                <a:ea typeface="微软雅黑 Light" panose="020B0502040204020203" pitchFamily="34" charset="-122"/>
              </a:rPr>
              <a:t>编码）。</a:t>
            </a:r>
            <a:endParaRPr lang="en-US" altLang="zh-CN" sz="1600" b="1" dirty="0">
              <a:latin typeface="微软雅黑 Light" panose="020B0502040204020203" pitchFamily="34" charset="-122"/>
              <a:ea typeface="微软雅黑 Light" panose="020B0502040204020203" pitchFamily="34" charset="-122"/>
            </a:endParaRPr>
          </a:p>
          <a:p>
            <a:pPr marL="285750" indent="-285750" eaLnBrk="0" hangingPunct="0">
              <a:lnSpc>
                <a:spcPts val="2600"/>
              </a:lnSpc>
              <a:buClr>
                <a:srgbClr val="0070C0"/>
              </a:buClr>
              <a:buFont typeface="Wingdings" pitchFamily="2" charset="2"/>
              <a:buChar char="l"/>
            </a:pPr>
            <a:r>
              <a:rPr lang="zh-CN" altLang="en-US" sz="1600" b="1" dirty="0">
                <a:latin typeface="微软雅黑 Light" panose="020B0502040204020203" pitchFamily="34" charset="-122"/>
                <a:ea typeface="微软雅黑 Light" panose="020B0502040204020203" pitchFamily="34" charset="-122"/>
              </a:rPr>
              <a:t>无特定结构和含义。</a:t>
            </a:r>
            <a:endParaRPr lang="en-US" altLang="zh-CN" sz="1600" b="1" dirty="0">
              <a:latin typeface="微软雅黑 Light" panose="020B0502040204020203" pitchFamily="34" charset="-122"/>
              <a:ea typeface="微软雅黑 Light" panose="020B0502040204020203" pitchFamily="34" charset="-122"/>
            </a:endParaRPr>
          </a:p>
        </p:txBody>
      </p:sp>
      <p:cxnSp>
        <p:nvCxnSpPr>
          <p:cNvPr id="27" name="直接箭头连接符 26"/>
          <p:cNvCxnSpPr/>
          <p:nvPr/>
        </p:nvCxnSpPr>
        <p:spPr>
          <a:xfrm flipV="1">
            <a:off x="3447391" y="3518150"/>
            <a:ext cx="1282262" cy="276883"/>
          </a:xfrm>
          <a:prstGeom prst="straightConnector1">
            <a:avLst/>
          </a:prstGeom>
          <a:ln w="28575">
            <a:solidFill>
              <a:srgbClr val="C00000"/>
            </a:solidFill>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275755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D79387C-1CAF-D12F-A880-F70C3CDE9F7F}"/>
              </a:ext>
            </a:extLst>
          </p:cNvPr>
          <p:cNvSpPr>
            <a:spLocks noGrp="1"/>
          </p:cNvSpPr>
          <p:nvPr>
            <p:ph type="title"/>
          </p:nvPr>
        </p:nvSpPr>
        <p:spPr>
          <a:xfrm>
            <a:off x="485999" y="174482"/>
            <a:ext cx="8171999" cy="338554"/>
          </a:xfrm>
        </p:spPr>
        <p:txBody>
          <a:bodyPr/>
          <a:lstStyle/>
          <a:p>
            <a:r>
              <a:rPr lang="en-US" altLang="zh-CN" dirty="0"/>
              <a:t>6.5.4  </a:t>
            </a:r>
            <a:r>
              <a:rPr lang="zh-CN" altLang="en-US" dirty="0"/>
              <a:t>邮件读取协议</a:t>
            </a:r>
          </a:p>
        </p:txBody>
      </p:sp>
      <p:sp>
        <p:nvSpPr>
          <p:cNvPr id="6" name="内容占位符 5">
            <a:extLst>
              <a:ext uri="{FF2B5EF4-FFF2-40B4-BE49-F238E27FC236}">
                <a16:creationId xmlns:a16="http://schemas.microsoft.com/office/drawing/2014/main" id="{02BA5FCD-C8BF-DA59-0E40-A54D6C39C4D6}"/>
              </a:ext>
            </a:extLst>
          </p:cNvPr>
          <p:cNvSpPr>
            <a:spLocks noGrp="1"/>
          </p:cNvSpPr>
          <p:nvPr>
            <p:ph sz="quarter" idx="11"/>
          </p:nvPr>
        </p:nvSpPr>
        <p:spPr>
          <a:xfrm>
            <a:off x="486000" y="687518"/>
            <a:ext cx="8172000" cy="4079035"/>
          </a:xfrm>
        </p:spPr>
        <p:txBody>
          <a:bodyPr/>
          <a:lstStyle/>
          <a:p>
            <a:r>
              <a:rPr lang="en-US" altLang="zh-CN" dirty="0"/>
              <a:t>POP3</a:t>
            </a:r>
          </a:p>
          <a:p>
            <a:pPr lvl="1"/>
            <a:r>
              <a:rPr lang="zh-CN" altLang="en-US" dirty="0"/>
              <a:t>邮局协议</a:t>
            </a:r>
            <a:r>
              <a:rPr lang="en-US" altLang="zh-CN" dirty="0"/>
              <a:t> Post Office Protocol </a:t>
            </a:r>
            <a:r>
              <a:rPr lang="zh-CN" altLang="en-US" dirty="0"/>
              <a:t>，第</a:t>
            </a:r>
            <a:r>
              <a:rPr lang="en-US" altLang="zh-CN" dirty="0"/>
              <a:t>3</a:t>
            </a:r>
            <a:r>
              <a:rPr lang="zh-CN" altLang="en-US" dirty="0"/>
              <a:t>个版本 </a:t>
            </a:r>
            <a:endParaRPr lang="en-US" altLang="zh-CN" dirty="0"/>
          </a:p>
          <a:p>
            <a:r>
              <a:rPr lang="en-US" altLang="zh-CN" dirty="0"/>
              <a:t>IMAP</a:t>
            </a:r>
          </a:p>
          <a:p>
            <a:pPr lvl="1"/>
            <a:r>
              <a:rPr lang="zh-CN" altLang="en-US" dirty="0"/>
              <a:t>网际报文存取协议</a:t>
            </a:r>
            <a:r>
              <a:rPr lang="en-US" altLang="zh-CN" dirty="0"/>
              <a:t>  Internet Message Access Protocol</a:t>
            </a:r>
            <a:endParaRPr lang="zh-CN" altLang="en-US" dirty="0"/>
          </a:p>
        </p:txBody>
      </p:sp>
      <p:sp>
        <p:nvSpPr>
          <p:cNvPr id="40" name="Rectangle 386">
            <a:extLst>
              <a:ext uri="{FF2B5EF4-FFF2-40B4-BE49-F238E27FC236}">
                <a16:creationId xmlns:a16="http://schemas.microsoft.com/office/drawing/2014/main" id="{D133184C-8E99-CFDF-3053-93BFE98212C9}"/>
              </a:ext>
            </a:extLst>
          </p:cNvPr>
          <p:cNvSpPr>
            <a:spLocks noChangeArrowheads="1"/>
          </p:cNvSpPr>
          <p:nvPr/>
        </p:nvSpPr>
        <p:spPr bwMode="auto">
          <a:xfrm>
            <a:off x="3019580" y="3173543"/>
            <a:ext cx="680437" cy="13465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43" name="Rectangle 387">
            <a:extLst>
              <a:ext uri="{FF2B5EF4-FFF2-40B4-BE49-F238E27FC236}">
                <a16:creationId xmlns:a16="http://schemas.microsoft.com/office/drawing/2014/main" id="{0C8AFA00-FD67-DAA4-B953-83A5BB37B5B1}"/>
              </a:ext>
            </a:extLst>
          </p:cNvPr>
          <p:cNvSpPr>
            <a:spLocks noChangeArrowheads="1"/>
          </p:cNvSpPr>
          <p:nvPr/>
        </p:nvSpPr>
        <p:spPr bwMode="auto">
          <a:xfrm>
            <a:off x="1657456" y="3173543"/>
            <a:ext cx="680437" cy="1346517"/>
          </a:xfrm>
          <a:prstGeom prst="rect">
            <a:avLst/>
          </a:prstGeom>
          <a:noFill/>
          <a:ln w="9525">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44" name="Line 388">
            <a:extLst>
              <a:ext uri="{FF2B5EF4-FFF2-40B4-BE49-F238E27FC236}">
                <a16:creationId xmlns:a16="http://schemas.microsoft.com/office/drawing/2014/main" id="{231F99D2-F43A-F2B2-E9A2-248F95FF2DBA}"/>
              </a:ext>
            </a:extLst>
          </p:cNvPr>
          <p:cNvSpPr>
            <a:spLocks noChangeShapeType="1"/>
          </p:cNvSpPr>
          <p:nvPr/>
        </p:nvSpPr>
        <p:spPr bwMode="auto">
          <a:xfrm>
            <a:off x="2134011" y="3516315"/>
            <a:ext cx="941856" cy="0"/>
          </a:xfrm>
          <a:prstGeom prst="line">
            <a:avLst/>
          </a:prstGeom>
          <a:noFill/>
          <a:ln w="38100">
            <a:solidFill>
              <a:schemeClr val="tx1">
                <a:lumMod val="50000"/>
                <a:lumOff val="50000"/>
              </a:schemeClr>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dirty="0">
              <a:latin typeface="Montserrat" panose="00000500000000000000" pitchFamily="2" charset="0"/>
              <a:ea typeface="微软雅黑 Light" panose="020B0502040204020203" pitchFamily="34" charset="-122"/>
            </a:endParaRPr>
          </a:p>
        </p:txBody>
      </p:sp>
      <p:sp>
        <p:nvSpPr>
          <p:cNvPr id="45" name="Text Box 394">
            <a:extLst>
              <a:ext uri="{FF2B5EF4-FFF2-40B4-BE49-F238E27FC236}">
                <a16:creationId xmlns:a16="http://schemas.microsoft.com/office/drawing/2014/main" id="{F5B8079B-226B-53D2-4217-F550F52AE249}"/>
              </a:ext>
            </a:extLst>
          </p:cNvPr>
          <p:cNvSpPr txBox="1">
            <a:spLocks noChangeArrowheads="1"/>
          </p:cNvSpPr>
          <p:nvPr/>
        </p:nvSpPr>
        <p:spPr bwMode="auto">
          <a:xfrm>
            <a:off x="2443311" y="3623601"/>
            <a:ext cx="468397"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latin typeface="Montserrat" panose="00000500000000000000" pitchFamily="2" charset="0"/>
                <a:ea typeface="微软雅黑 Light" panose="020B0502040204020203" pitchFamily="34" charset="-122"/>
              </a:rPr>
              <a:t>TCP</a:t>
            </a:r>
            <a:endParaRPr kumimoji="1" lang="zh-CN" altLang="en-US" sz="1100" dirty="0">
              <a:latin typeface="Montserrat" panose="00000500000000000000" pitchFamily="2" charset="0"/>
              <a:ea typeface="微软雅黑 Light" panose="020B0502040204020203" pitchFamily="34" charset="-122"/>
            </a:endParaRPr>
          </a:p>
        </p:txBody>
      </p:sp>
      <p:sp>
        <p:nvSpPr>
          <p:cNvPr id="46" name="Oval 397">
            <a:extLst>
              <a:ext uri="{FF2B5EF4-FFF2-40B4-BE49-F238E27FC236}">
                <a16:creationId xmlns:a16="http://schemas.microsoft.com/office/drawing/2014/main" id="{BCBB722C-29E8-2006-9B4A-D50839DB771E}"/>
              </a:ext>
            </a:extLst>
          </p:cNvPr>
          <p:cNvSpPr>
            <a:spLocks noChangeArrowheads="1"/>
          </p:cNvSpPr>
          <p:nvPr/>
        </p:nvSpPr>
        <p:spPr bwMode="auto">
          <a:xfrm>
            <a:off x="1713742" y="3237429"/>
            <a:ext cx="566615" cy="556545"/>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SMTP</a:t>
            </a:r>
          </a:p>
          <a:p>
            <a:pPr algn="ctr"/>
            <a:r>
              <a:rPr kumimoji="1" lang="en-US" altLang="zh-CN" sz="1100" dirty="0">
                <a:latin typeface="Montserrat" panose="00000500000000000000" pitchFamily="2" charset="0"/>
                <a:ea typeface="微软雅黑 Light" panose="020B0502040204020203" pitchFamily="34" charset="-122"/>
              </a:rPr>
              <a:t>Client</a:t>
            </a:r>
            <a:endParaRPr kumimoji="1" lang="zh-CN" altLang="en-US" sz="1100" dirty="0">
              <a:latin typeface="Montserrat" panose="00000500000000000000" pitchFamily="2" charset="0"/>
              <a:ea typeface="微软雅黑 Light" panose="020B0502040204020203" pitchFamily="34" charset="-122"/>
            </a:endParaRPr>
          </a:p>
        </p:txBody>
      </p:sp>
      <p:sp>
        <p:nvSpPr>
          <p:cNvPr id="47" name="Oval 405">
            <a:extLst>
              <a:ext uri="{FF2B5EF4-FFF2-40B4-BE49-F238E27FC236}">
                <a16:creationId xmlns:a16="http://schemas.microsoft.com/office/drawing/2014/main" id="{F641ABDB-BE87-5753-FD4F-7BDDA9F67FF9}"/>
              </a:ext>
            </a:extLst>
          </p:cNvPr>
          <p:cNvSpPr>
            <a:spLocks noChangeArrowheads="1"/>
          </p:cNvSpPr>
          <p:nvPr/>
        </p:nvSpPr>
        <p:spPr bwMode="auto">
          <a:xfrm>
            <a:off x="3077118" y="3237429"/>
            <a:ext cx="566615" cy="556545"/>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SMTP</a:t>
            </a:r>
          </a:p>
          <a:p>
            <a:pPr algn="ctr"/>
            <a:r>
              <a:rPr kumimoji="1" lang="en-US" altLang="zh-CN" sz="1100" dirty="0">
                <a:latin typeface="Montserrat" panose="00000500000000000000" pitchFamily="2" charset="0"/>
                <a:ea typeface="微软雅黑 Light" panose="020B0502040204020203" pitchFamily="34" charset="-122"/>
              </a:rPr>
              <a:t>Server</a:t>
            </a:r>
            <a:endParaRPr kumimoji="1" lang="zh-CN" altLang="en-US" sz="1100" dirty="0">
              <a:latin typeface="Montserrat" panose="00000500000000000000" pitchFamily="2" charset="0"/>
              <a:ea typeface="微软雅黑 Light" panose="020B0502040204020203" pitchFamily="34" charset="-122"/>
            </a:endParaRPr>
          </a:p>
        </p:txBody>
      </p:sp>
      <p:sp>
        <p:nvSpPr>
          <p:cNvPr id="48" name="Oval 406">
            <a:extLst>
              <a:ext uri="{FF2B5EF4-FFF2-40B4-BE49-F238E27FC236}">
                <a16:creationId xmlns:a16="http://schemas.microsoft.com/office/drawing/2014/main" id="{1288FFAF-E19A-29B9-ADDC-A3305EEC4762}"/>
              </a:ext>
            </a:extLst>
          </p:cNvPr>
          <p:cNvSpPr>
            <a:spLocks noChangeArrowheads="1"/>
          </p:cNvSpPr>
          <p:nvPr/>
        </p:nvSpPr>
        <p:spPr bwMode="auto">
          <a:xfrm>
            <a:off x="3077118" y="3850488"/>
            <a:ext cx="566615" cy="556543"/>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SMTP</a:t>
            </a:r>
          </a:p>
          <a:p>
            <a:pPr algn="ctr"/>
            <a:r>
              <a:rPr kumimoji="1" lang="en-US" altLang="zh-CN" sz="1100" dirty="0">
                <a:latin typeface="Montserrat" panose="00000500000000000000" pitchFamily="2" charset="0"/>
                <a:ea typeface="微软雅黑 Light" panose="020B0502040204020203" pitchFamily="34" charset="-122"/>
              </a:rPr>
              <a:t>Client</a:t>
            </a:r>
            <a:endParaRPr kumimoji="1" lang="zh-CN" altLang="en-US" sz="1100" dirty="0">
              <a:latin typeface="Montserrat" panose="00000500000000000000" pitchFamily="2" charset="0"/>
              <a:ea typeface="微软雅黑 Light" panose="020B0502040204020203" pitchFamily="34" charset="-122"/>
            </a:endParaRPr>
          </a:p>
        </p:txBody>
      </p:sp>
      <p:sp>
        <p:nvSpPr>
          <p:cNvPr id="49" name="Text Box 399">
            <a:extLst>
              <a:ext uri="{FF2B5EF4-FFF2-40B4-BE49-F238E27FC236}">
                <a16:creationId xmlns:a16="http://schemas.microsoft.com/office/drawing/2014/main" id="{D99B0722-A529-8B48-A9D3-45D6C8C9547C}"/>
              </a:ext>
            </a:extLst>
          </p:cNvPr>
          <p:cNvSpPr txBox="1">
            <a:spLocks noChangeArrowheads="1"/>
          </p:cNvSpPr>
          <p:nvPr/>
        </p:nvSpPr>
        <p:spPr bwMode="auto">
          <a:xfrm>
            <a:off x="729032" y="2804587"/>
            <a:ext cx="607859"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发件人</a:t>
            </a:r>
          </a:p>
        </p:txBody>
      </p:sp>
      <p:graphicFrame>
        <p:nvGraphicFramePr>
          <p:cNvPr id="50" name="对象 49">
            <a:extLst>
              <a:ext uri="{FF2B5EF4-FFF2-40B4-BE49-F238E27FC236}">
                <a16:creationId xmlns:a16="http://schemas.microsoft.com/office/drawing/2014/main" id="{5EEA4974-A1EF-15D1-6D48-7BD2C9BC51F2}"/>
              </a:ext>
            </a:extLst>
          </p:cNvPr>
          <p:cNvGraphicFramePr>
            <a:graphicFrameLocks noChangeAspect="1"/>
          </p:cNvGraphicFramePr>
          <p:nvPr>
            <p:extLst>
              <p:ext uri="{D42A27DB-BD31-4B8C-83A1-F6EECF244321}">
                <p14:modId xmlns:p14="http://schemas.microsoft.com/office/powerpoint/2010/main" val="1675482629"/>
              </p:ext>
            </p:extLst>
          </p:nvPr>
        </p:nvGraphicFramePr>
        <p:xfrm>
          <a:off x="875180" y="3213529"/>
          <a:ext cx="546759" cy="666388"/>
        </p:xfrm>
        <a:graphic>
          <a:graphicData uri="http://schemas.openxmlformats.org/presentationml/2006/ole">
            <mc:AlternateContent xmlns:mc="http://schemas.openxmlformats.org/markup-compatibility/2006">
              <mc:Choice xmlns:v="urn:schemas-microsoft-com:vml" Requires="v">
                <p:oleObj name="Visio" r:id="rId3" imgW="3561172" imgH="4347469" progId="">
                  <p:embed/>
                </p:oleObj>
              </mc:Choice>
              <mc:Fallback>
                <p:oleObj name="Visio" r:id="rId3" imgW="3561172" imgH="4347469" progId="">
                  <p:embed/>
                  <p:pic>
                    <p:nvPicPr>
                      <p:cNvPr id="50" name="对象 49">
                        <a:extLst>
                          <a:ext uri="{FF2B5EF4-FFF2-40B4-BE49-F238E27FC236}">
                            <a16:creationId xmlns:a16="http://schemas.microsoft.com/office/drawing/2014/main" id="{5EEA4974-A1EF-15D1-6D48-7BD2C9BC51F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l="5348" t="4167" r="4546" b="11185"/>
                      <a:stretch>
                        <a:fillRect/>
                      </a:stretch>
                    </p:blipFill>
                    <p:spPr bwMode="auto">
                      <a:xfrm>
                        <a:off x="875180" y="3213529"/>
                        <a:ext cx="546759"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51" name="Rectangle 385">
            <a:extLst>
              <a:ext uri="{FF2B5EF4-FFF2-40B4-BE49-F238E27FC236}">
                <a16:creationId xmlns:a16="http://schemas.microsoft.com/office/drawing/2014/main" id="{72B67F64-87B6-20AC-EE8D-59752345806C}"/>
              </a:ext>
            </a:extLst>
          </p:cNvPr>
          <p:cNvSpPr>
            <a:spLocks noChangeArrowheads="1"/>
          </p:cNvSpPr>
          <p:nvPr/>
        </p:nvSpPr>
        <p:spPr bwMode="auto">
          <a:xfrm>
            <a:off x="6835923" y="3182144"/>
            <a:ext cx="680437" cy="13379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52" name="Text Box 395">
            <a:extLst>
              <a:ext uri="{FF2B5EF4-FFF2-40B4-BE49-F238E27FC236}">
                <a16:creationId xmlns:a16="http://schemas.microsoft.com/office/drawing/2014/main" id="{DD5B04BA-BD69-62D4-E3A2-D00AB6E8BBDD}"/>
              </a:ext>
            </a:extLst>
          </p:cNvPr>
          <p:cNvSpPr txBox="1">
            <a:spLocks noChangeArrowheads="1"/>
          </p:cNvSpPr>
          <p:nvPr/>
        </p:nvSpPr>
        <p:spPr bwMode="auto">
          <a:xfrm>
            <a:off x="6260881" y="3623601"/>
            <a:ext cx="468397"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TCP</a:t>
            </a:r>
            <a:endParaRPr kumimoji="1" lang="zh-CN" altLang="en-US" sz="1100" dirty="0">
              <a:solidFill>
                <a:srgbClr val="F79646"/>
              </a:solidFill>
              <a:latin typeface="Montserrat" panose="00000500000000000000" pitchFamily="2" charset="0"/>
              <a:ea typeface="微软雅黑 Light" panose="020B0502040204020203" pitchFamily="34" charset="-122"/>
            </a:endParaRPr>
          </a:p>
        </p:txBody>
      </p:sp>
      <p:sp>
        <p:nvSpPr>
          <p:cNvPr id="53" name="Oval 398">
            <a:extLst>
              <a:ext uri="{FF2B5EF4-FFF2-40B4-BE49-F238E27FC236}">
                <a16:creationId xmlns:a16="http://schemas.microsoft.com/office/drawing/2014/main" id="{12B4030E-764A-56EE-2660-5885FE6BB44D}"/>
              </a:ext>
            </a:extLst>
          </p:cNvPr>
          <p:cNvSpPr>
            <a:spLocks noChangeArrowheads="1"/>
          </p:cNvSpPr>
          <p:nvPr/>
        </p:nvSpPr>
        <p:spPr bwMode="auto">
          <a:xfrm>
            <a:off x="6892210" y="3237429"/>
            <a:ext cx="566614" cy="556545"/>
          </a:xfrm>
          <a:prstGeom prst="ellipse">
            <a:avLst/>
          </a:prstGeom>
          <a:solidFill>
            <a:srgbClr val="F79646"/>
          </a:solidFill>
          <a:ln w="9525">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POP3</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Client</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54" name="Rectangle 401">
            <a:extLst>
              <a:ext uri="{FF2B5EF4-FFF2-40B4-BE49-F238E27FC236}">
                <a16:creationId xmlns:a16="http://schemas.microsoft.com/office/drawing/2014/main" id="{4AC15D9C-F08E-8856-C79D-64AEAB4E8957}"/>
              </a:ext>
            </a:extLst>
          </p:cNvPr>
          <p:cNvSpPr>
            <a:spLocks noChangeArrowheads="1"/>
          </p:cNvSpPr>
          <p:nvPr/>
        </p:nvSpPr>
        <p:spPr bwMode="auto">
          <a:xfrm>
            <a:off x="5475048" y="3182144"/>
            <a:ext cx="680437" cy="13379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55" name="Oval 402">
            <a:extLst>
              <a:ext uri="{FF2B5EF4-FFF2-40B4-BE49-F238E27FC236}">
                <a16:creationId xmlns:a16="http://schemas.microsoft.com/office/drawing/2014/main" id="{EC0206B5-906F-69B9-7FEB-B5A76C5AB3C3}"/>
              </a:ext>
            </a:extLst>
          </p:cNvPr>
          <p:cNvSpPr>
            <a:spLocks noChangeArrowheads="1"/>
          </p:cNvSpPr>
          <p:nvPr/>
        </p:nvSpPr>
        <p:spPr bwMode="auto">
          <a:xfrm>
            <a:off x="5531335" y="3850488"/>
            <a:ext cx="566614" cy="556543"/>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SMTP</a:t>
            </a:r>
          </a:p>
          <a:p>
            <a:pPr algn="ctr"/>
            <a:r>
              <a:rPr kumimoji="1" lang="en-US" altLang="zh-CN" sz="1100" dirty="0">
                <a:latin typeface="Montserrat" panose="00000500000000000000" pitchFamily="2" charset="0"/>
                <a:ea typeface="微软雅黑 Light" panose="020B0502040204020203" pitchFamily="34" charset="-122"/>
              </a:rPr>
              <a:t>Server</a:t>
            </a:r>
            <a:endParaRPr kumimoji="1" lang="zh-CN" altLang="en-US" sz="1100" dirty="0">
              <a:latin typeface="Montserrat" panose="00000500000000000000" pitchFamily="2" charset="0"/>
              <a:ea typeface="微软雅黑 Light" panose="020B0502040204020203" pitchFamily="34" charset="-122"/>
            </a:endParaRPr>
          </a:p>
        </p:txBody>
      </p:sp>
      <p:sp>
        <p:nvSpPr>
          <p:cNvPr id="56" name="Oval 403">
            <a:extLst>
              <a:ext uri="{FF2B5EF4-FFF2-40B4-BE49-F238E27FC236}">
                <a16:creationId xmlns:a16="http://schemas.microsoft.com/office/drawing/2014/main" id="{8D4E5303-1C50-1B1B-A3A7-30100024768E}"/>
              </a:ext>
            </a:extLst>
          </p:cNvPr>
          <p:cNvSpPr>
            <a:spLocks noChangeArrowheads="1"/>
          </p:cNvSpPr>
          <p:nvPr/>
        </p:nvSpPr>
        <p:spPr bwMode="auto">
          <a:xfrm>
            <a:off x="5531335" y="3237429"/>
            <a:ext cx="566614" cy="556545"/>
          </a:xfrm>
          <a:prstGeom prst="ellipse">
            <a:avLst/>
          </a:prstGeom>
          <a:solidFill>
            <a:srgbClr val="F79646"/>
          </a:solidFill>
          <a:ln w="9525">
            <a:noFill/>
            <a:round/>
            <a:headEnd/>
            <a:tailEnd/>
          </a:ln>
          <a:effectLst/>
        </p:spPr>
        <p:txBody>
          <a:bodyPr wrap="none" anchor="ctr"/>
          <a:lstStyle/>
          <a:p>
            <a:pPr algn="ctr" eaLnBrk="1" hangingPunct="1"/>
            <a:r>
              <a:rPr kumimoji="1" lang="en-US" altLang="zh-CN" sz="1100" dirty="0">
                <a:solidFill>
                  <a:schemeClr val="bg1"/>
                </a:solidFill>
                <a:latin typeface="Montserrat" panose="00000500000000000000" pitchFamily="2" charset="0"/>
                <a:ea typeface="微软雅黑 Light" panose="020B0502040204020203" pitchFamily="34" charset="-122"/>
              </a:rPr>
              <a:t>POP3</a:t>
            </a:r>
          </a:p>
          <a:p>
            <a:pPr algn="ctr" eaLnBrk="1" hangingPunct="1"/>
            <a:r>
              <a:rPr kumimoji="1" lang="en-US" altLang="zh-CN" sz="1100" dirty="0">
                <a:solidFill>
                  <a:schemeClr val="bg1"/>
                </a:solidFill>
                <a:latin typeface="Montserrat" panose="00000500000000000000" pitchFamily="2" charset="0"/>
                <a:ea typeface="微软雅黑 Light" panose="020B0502040204020203" pitchFamily="34" charset="-122"/>
              </a:rPr>
              <a:t>Server</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57" name="Line 408">
            <a:extLst>
              <a:ext uri="{FF2B5EF4-FFF2-40B4-BE49-F238E27FC236}">
                <a16:creationId xmlns:a16="http://schemas.microsoft.com/office/drawing/2014/main" id="{AB6F9F40-6DE1-0200-AC67-9B92500C360E}"/>
              </a:ext>
            </a:extLst>
          </p:cNvPr>
          <p:cNvSpPr>
            <a:spLocks noChangeShapeType="1"/>
          </p:cNvSpPr>
          <p:nvPr/>
        </p:nvSpPr>
        <p:spPr bwMode="auto">
          <a:xfrm flipV="1">
            <a:off x="6097949" y="3516315"/>
            <a:ext cx="794261" cy="0"/>
          </a:xfrm>
          <a:prstGeom prst="line">
            <a:avLst/>
          </a:prstGeom>
          <a:noFill/>
          <a:ln w="38100">
            <a:solidFill>
              <a:srgbClr val="F7964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dirty="0">
              <a:latin typeface="Montserrat" panose="00000500000000000000" pitchFamily="2" charset="0"/>
              <a:ea typeface="微软雅黑 Light" panose="020B0502040204020203" pitchFamily="34" charset="-122"/>
            </a:endParaRPr>
          </a:p>
        </p:txBody>
      </p:sp>
      <p:graphicFrame>
        <p:nvGraphicFramePr>
          <p:cNvPr id="58" name="对象 57">
            <a:extLst>
              <a:ext uri="{FF2B5EF4-FFF2-40B4-BE49-F238E27FC236}">
                <a16:creationId xmlns:a16="http://schemas.microsoft.com/office/drawing/2014/main" id="{B750695B-E0D5-E338-8E99-7C2EA6B2CF1E}"/>
              </a:ext>
            </a:extLst>
          </p:cNvPr>
          <p:cNvGraphicFramePr>
            <a:graphicFrameLocks noChangeAspect="1"/>
          </p:cNvGraphicFramePr>
          <p:nvPr>
            <p:extLst>
              <p:ext uri="{D42A27DB-BD31-4B8C-83A1-F6EECF244321}">
                <p14:modId xmlns:p14="http://schemas.microsoft.com/office/powerpoint/2010/main" val="3942309800"/>
              </p:ext>
            </p:extLst>
          </p:nvPr>
        </p:nvGraphicFramePr>
        <p:xfrm>
          <a:off x="7744964" y="3213529"/>
          <a:ext cx="551626" cy="666388"/>
        </p:xfrm>
        <a:graphic>
          <a:graphicData uri="http://schemas.openxmlformats.org/presentationml/2006/ole">
            <mc:AlternateContent xmlns:mc="http://schemas.openxmlformats.org/markup-compatibility/2006">
              <mc:Choice xmlns:v="urn:schemas-microsoft-com:vml" Requires="v">
                <p:oleObj name="Visio" r:id="rId5" imgW="3561172" imgH="4347469" progId="">
                  <p:embed/>
                </p:oleObj>
              </mc:Choice>
              <mc:Fallback>
                <p:oleObj name="Visio" r:id="rId5" imgW="3561172" imgH="4347469" progId="">
                  <p:embed/>
                  <p:pic>
                    <p:nvPicPr>
                      <p:cNvPr id="58" name="对象 57">
                        <a:extLst>
                          <a:ext uri="{FF2B5EF4-FFF2-40B4-BE49-F238E27FC236}">
                            <a16:creationId xmlns:a16="http://schemas.microsoft.com/office/drawing/2014/main" id="{B750695B-E0D5-E338-8E99-7C2EA6B2CF1E}"/>
                          </a:ext>
                        </a:extLst>
                      </p:cNvPr>
                      <p:cNvPicPr>
                        <a:picLocks noChangeAspect="1" noChangeArrowheads="1"/>
                      </p:cNvPicPr>
                      <p:nvPr/>
                    </p:nvPicPr>
                    <p:blipFill>
                      <a:blip r:embed="rId6">
                        <a:extLst>
                          <a:ext uri="{28A0092B-C50C-407E-A947-70E740481C1C}">
                            <a14:useLocalDpi xmlns:a14="http://schemas.microsoft.com/office/drawing/2010/main" val="0"/>
                          </a:ext>
                        </a:extLst>
                      </a:blip>
                      <a:srcRect l="4546" t="3947" r="4546" b="11403"/>
                      <a:stretch>
                        <a:fillRect/>
                      </a:stretch>
                    </p:blipFill>
                    <p:spPr bwMode="auto">
                      <a:xfrm>
                        <a:off x="7744964" y="3213529"/>
                        <a:ext cx="551626"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59" name="Text Box 399">
            <a:extLst>
              <a:ext uri="{FF2B5EF4-FFF2-40B4-BE49-F238E27FC236}">
                <a16:creationId xmlns:a16="http://schemas.microsoft.com/office/drawing/2014/main" id="{DA82761A-3C44-9509-DC46-8A1555DD9193}"/>
              </a:ext>
            </a:extLst>
          </p:cNvPr>
          <p:cNvSpPr txBox="1">
            <a:spLocks noChangeArrowheads="1"/>
          </p:cNvSpPr>
          <p:nvPr/>
        </p:nvSpPr>
        <p:spPr bwMode="auto">
          <a:xfrm>
            <a:off x="7815300" y="2804587"/>
            <a:ext cx="607859"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收件人</a:t>
            </a:r>
          </a:p>
        </p:txBody>
      </p:sp>
      <p:sp>
        <p:nvSpPr>
          <p:cNvPr id="60" name="Line 404">
            <a:extLst>
              <a:ext uri="{FF2B5EF4-FFF2-40B4-BE49-F238E27FC236}">
                <a16:creationId xmlns:a16="http://schemas.microsoft.com/office/drawing/2014/main" id="{4CED1BE6-0131-1DD4-70DB-B80BECBACEEA}"/>
              </a:ext>
            </a:extLst>
          </p:cNvPr>
          <p:cNvSpPr>
            <a:spLocks noChangeShapeType="1"/>
          </p:cNvSpPr>
          <p:nvPr/>
        </p:nvSpPr>
        <p:spPr bwMode="auto">
          <a:xfrm flipV="1">
            <a:off x="3628236" y="4129374"/>
            <a:ext cx="1928643" cy="0"/>
          </a:xfrm>
          <a:prstGeom prst="line">
            <a:avLst/>
          </a:prstGeom>
          <a:noFill/>
          <a:ln w="38100">
            <a:solidFill>
              <a:schemeClr val="tx1">
                <a:lumMod val="50000"/>
                <a:lumOff val="50000"/>
              </a:schemeClr>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050" dirty="0">
              <a:latin typeface="Montserrat" panose="00000500000000000000" pitchFamily="2" charset="0"/>
              <a:ea typeface="微软雅黑 Light" panose="020B0502040204020203" pitchFamily="34" charset="-122"/>
            </a:endParaRPr>
          </a:p>
        </p:txBody>
      </p:sp>
      <p:sp>
        <p:nvSpPr>
          <p:cNvPr id="61" name="Text Box 409">
            <a:extLst>
              <a:ext uri="{FF2B5EF4-FFF2-40B4-BE49-F238E27FC236}">
                <a16:creationId xmlns:a16="http://schemas.microsoft.com/office/drawing/2014/main" id="{0E9C37FD-D635-0065-DF7A-374213DED105}"/>
              </a:ext>
            </a:extLst>
          </p:cNvPr>
          <p:cNvSpPr txBox="1">
            <a:spLocks noChangeArrowheads="1"/>
          </p:cNvSpPr>
          <p:nvPr/>
        </p:nvSpPr>
        <p:spPr bwMode="auto">
          <a:xfrm>
            <a:off x="4345535" y="4146573"/>
            <a:ext cx="494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TCP</a:t>
            </a:r>
            <a:endParaRPr kumimoji="1" lang="zh-CN" altLang="en-US" sz="1200" dirty="0">
              <a:latin typeface="Montserrat" panose="00000500000000000000" pitchFamily="2" charset="0"/>
              <a:ea typeface="微软雅黑 Light" panose="020B0502040204020203" pitchFamily="34" charset="-122"/>
            </a:endParaRPr>
          </a:p>
        </p:txBody>
      </p:sp>
      <p:sp>
        <p:nvSpPr>
          <p:cNvPr id="62" name="圆角矩形 418">
            <a:extLst>
              <a:ext uri="{FF2B5EF4-FFF2-40B4-BE49-F238E27FC236}">
                <a16:creationId xmlns:a16="http://schemas.microsoft.com/office/drawing/2014/main" id="{68CE44F6-0D4E-D8BC-9E0E-82A5C63BA212}"/>
              </a:ext>
            </a:extLst>
          </p:cNvPr>
          <p:cNvSpPr/>
          <p:nvPr/>
        </p:nvSpPr>
        <p:spPr>
          <a:xfrm>
            <a:off x="1484031" y="2603548"/>
            <a:ext cx="6194639" cy="2126256"/>
          </a:xfrm>
          <a:prstGeom prst="roundRect">
            <a:avLst>
              <a:gd name="adj" fmla="val 7039"/>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3" name="Text Box 389">
            <a:extLst>
              <a:ext uri="{FF2B5EF4-FFF2-40B4-BE49-F238E27FC236}">
                <a16:creationId xmlns:a16="http://schemas.microsoft.com/office/drawing/2014/main" id="{FD207137-9891-971E-5DF2-21BA0B7E51EC}"/>
              </a:ext>
            </a:extLst>
          </p:cNvPr>
          <p:cNvSpPr txBox="1">
            <a:spLocks noChangeArrowheads="1"/>
          </p:cNvSpPr>
          <p:nvPr/>
        </p:nvSpPr>
        <p:spPr bwMode="auto">
          <a:xfrm>
            <a:off x="2383197" y="3223625"/>
            <a:ext cx="588624"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latin typeface="Montserrat" panose="00000500000000000000" pitchFamily="2" charset="0"/>
                <a:ea typeface="微软雅黑 Light" panose="020B0502040204020203" pitchFamily="34" charset="-122"/>
              </a:rPr>
              <a:t>SMTP</a:t>
            </a:r>
          </a:p>
        </p:txBody>
      </p:sp>
      <p:sp>
        <p:nvSpPr>
          <p:cNvPr id="64" name="Text Box 396">
            <a:extLst>
              <a:ext uri="{FF2B5EF4-FFF2-40B4-BE49-F238E27FC236}">
                <a16:creationId xmlns:a16="http://schemas.microsoft.com/office/drawing/2014/main" id="{6FF2DA03-C2EB-593E-9AF2-57CBEA7A3728}"/>
              </a:ext>
            </a:extLst>
          </p:cNvPr>
          <p:cNvSpPr txBox="1">
            <a:spLocks noChangeArrowheads="1"/>
          </p:cNvSpPr>
          <p:nvPr/>
        </p:nvSpPr>
        <p:spPr bwMode="auto">
          <a:xfrm>
            <a:off x="2917836" y="2701771"/>
            <a:ext cx="889987"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发送方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邮件服务器</a:t>
            </a:r>
          </a:p>
        </p:txBody>
      </p:sp>
      <p:sp>
        <p:nvSpPr>
          <p:cNvPr id="65" name="Text Box 399">
            <a:extLst>
              <a:ext uri="{FF2B5EF4-FFF2-40B4-BE49-F238E27FC236}">
                <a16:creationId xmlns:a16="http://schemas.microsoft.com/office/drawing/2014/main" id="{49A9732E-E0BF-E099-FA81-86487D7F7F72}"/>
              </a:ext>
            </a:extLst>
          </p:cNvPr>
          <p:cNvSpPr txBox="1">
            <a:spLocks noChangeArrowheads="1"/>
          </p:cNvSpPr>
          <p:nvPr/>
        </p:nvSpPr>
        <p:spPr bwMode="auto">
          <a:xfrm>
            <a:off x="1621814" y="2701771"/>
            <a:ext cx="748923"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发件方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用户代理</a:t>
            </a:r>
          </a:p>
        </p:txBody>
      </p:sp>
      <p:sp>
        <p:nvSpPr>
          <p:cNvPr id="66" name="Text Box 390">
            <a:extLst>
              <a:ext uri="{FF2B5EF4-FFF2-40B4-BE49-F238E27FC236}">
                <a16:creationId xmlns:a16="http://schemas.microsoft.com/office/drawing/2014/main" id="{3D83F935-9C8C-3FBC-7D45-D0F90AC69C50}"/>
              </a:ext>
            </a:extLst>
          </p:cNvPr>
          <p:cNvSpPr txBox="1">
            <a:spLocks noChangeArrowheads="1"/>
          </p:cNvSpPr>
          <p:nvPr/>
        </p:nvSpPr>
        <p:spPr bwMode="auto">
          <a:xfrm>
            <a:off x="6202370" y="3223625"/>
            <a:ext cx="585418"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POP3</a:t>
            </a:r>
          </a:p>
        </p:txBody>
      </p:sp>
      <p:sp>
        <p:nvSpPr>
          <p:cNvPr id="67" name="Text Box 400">
            <a:extLst>
              <a:ext uri="{FF2B5EF4-FFF2-40B4-BE49-F238E27FC236}">
                <a16:creationId xmlns:a16="http://schemas.microsoft.com/office/drawing/2014/main" id="{D4D7DCBE-052A-0DDA-CFA2-B705F55984D8}"/>
              </a:ext>
            </a:extLst>
          </p:cNvPr>
          <p:cNvSpPr txBox="1">
            <a:spLocks noChangeArrowheads="1"/>
          </p:cNvSpPr>
          <p:nvPr/>
        </p:nvSpPr>
        <p:spPr bwMode="auto">
          <a:xfrm>
            <a:off x="5361275" y="2701771"/>
            <a:ext cx="889987"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接收方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邮件服务器</a:t>
            </a:r>
          </a:p>
        </p:txBody>
      </p:sp>
      <p:sp>
        <p:nvSpPr>
          <p:cNvPr id="68" name="Text Box 407">
            <a:extLst>
              <a:ext uri="{FF2B5EF4-FFF2-40B4-BE49-F238E27FC236}">
                <a16:creationId xmlns:a16="http://schemas.microsoft.com/office/drawing/2014/main" id="{B42735EB-3320-FC7A-E9CB-3E12CFDDD1EB}"/>
              </a:ext>
            </a:extLst>
          </p:cNvPr>
          <p:cNvSpPr txBox="1">
            <a:spLocks noChangeArrowheads="1"/>
          </p:cNvSpPr>
          <p:nvPr/>
        </p:nvSpPr>
        <p:spPr bwMode="auto">
          <a:xfrm>
            <a:off x="6808085" y="2701771"/>
            <a:ext cx="748923"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接收方</a:t>
            </a:r>
            <a:endParaRPr kumimoji="1" lang="en-US" altLang="zh-CN" sz="1100" dirty="0">
              <a:latin typeface="Montserrat" panose="00000500000000000000" pitchFamily="2" charset="0"/>
              <a:ea typeface="微软雅黑 Light" panose="020B0502040204020203" pitchFamily="34" charset="-122"/>
            </a:endParaRP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用户代理</a:t>
            </a:r>
          </a:p>
        </p:txBody>
      </p:sp>
      <p:sp>
        <p:nvSpPr>
          <p:cNvPr id="69" name="Text Box 392">
            <a:extLst>
              <a:ext uri="{FF2B5EF4-FFF2-40B4-BE49-F238E27FC236}">
                <a16:creationId xmlns:a16="http://schemas.microsoft.com/office/drawing/2014/main" id="{AA01D5A3-E428-E67E-CA04-D416A1AA5597}"/>
              </a:ext>
            </a:extLst>
          </p:cNvPr>
          <p:cNvSpPr txBox="1">
            <a:spLocks noChangeArrowheads="1"/>
          </p:cNvSpPr>
          <p:nvPr/>
        </p:nvSpPr>
        <p:spPr bwMode="auto">
          <a:xfrm>
            <a:off x="4259773" y="3849259"/>
            <a:ext cx="6655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SMTP</a:t>
            </a:r>
          </a:p>
        </p:txBody>
      </p:sp>
    </p:spTree>
    <p:extLst>
      <p:ext uri="{BB962C8B-B14F-4D97-AF65-F5344CB8AC3E}">
        <p14:creationId xmlns:p14="http://schemas.microsoft.com/office/powerpoint/2010/main" val="18863417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EB6A4D8-7750-E03B-39DF-52C94357C925}"/>
              </a:ext>
            </a:extLst>
          </p:cNvPr>
          <p:cNvSpPr>
            <a:spLocks noGrp="1"/>
          </p:cNvSpPr>
          <p:nvPr>
            <p:ph type="title"/>
          </p:nvPr>
        </p:nvSpPr>
        <p:spPr>
          <a:xfrm>
            <a:off x="485999" y="174482"/>
            <a:ext cx="8171999" cy="338554"/>
          </a:xfrm>
        </p:spPr>
        <p:txBody>
          <a:bodyPr/>
          <a:lstStyle/>
          <a:p>
            <a:r>
              <a:rPr lang="en-US" altLang="zh-CN" dirty="0"/>
              <a:t>6.5.4  </a:t>
            </a:r>
            <a:r>
              <a:rPr lang="zh-CN" altLang="en-US" dirty="0"/>
              <a:t>邮件读取协议 </a:t>
            </a:r>
            <a:r>
              <a:rPr lang="en-US" altLang="zh-CN" dirty="0"/>
              <a:t>- POP3</a:t>
            </a:r>
            <a:endParaRPr lang="zh-CN" altLang="en-US" dirty="0"/>
          </a:p>
        </p:txBody>
      </p:sp>
      <p:sp>
        <p:nvSpPr>
          <p:cNvPr id="6" name="内容占位符 5">
            <a:extLst>
              <a:ext uri="{FF2B5EF4-FFF2-40B4-BE49-F238E27FC236}">
                <a16:creationId xmlns:a16="http://schemas.microsoft.com/office/drawing/2014/main" id="{CCA10A40-7848-54B8-93B2-9086E8467B26}"/>
              </a:ext>
            </a:extLst>
          </p:cNvPr>
          <p:cNvSpPr>
            <a:spLocks noGrp="1"/>
          </p:cNvSpPr>
          <p:nvPr>
            <p:ph sz="quarter" idx="11"/>
          </p:nvPr>
        </p:nvSpPr>
        <p:spPr>
          <a:xfrm>
            <a:off x="486000" y="687518"/>
            <a:ext cx="8172000" cy="4079035"/>
          </a:xfrm>
        </p:spPr>
        <p:txBody>
          <a:bodyPr/>
          <a:lstStyle/>
          <a:p>
            <a:r>
              <a:rPr lang="zh-CN" altLang="en-US" dirty="0"/>
              <a:t>基于 </a:t>
            </a:r>
            <a:r>
              <a:rPr lang="en-US" altLang="zh-CN" dirty="0"/>
              <a:t>TCP </a:t>
            </a:r>
            <a:r>
              <a:rPr lang="zh-CN" altLang="en-US" dirty="0"/>
              <a:t>使用客户</a:t>
            </a:r>
            <a:r>
              <a:rPr lang="en-US" altLang="zh-CN" dirty="0"/>
              <a:t>/</a:t>
            </a:r>
            <a:r>
              <a:rPr lang="zh-CN" altLang="en-US" dirty="0"/>
              <a:t>服务器 </a:t>
            </a:r>
            <a:r>
              <a:rPr lang="en-US" altLang="zh-CN" dirty="0"/>
              <a:t>C/S </a:t>
            </a:r>
            <a:r>
              <a:rPr lang="zh-CN" altLang="en-US" dirty="0"/>
              <a:t>方式</a:t>
            </a:r>
            <a:endParaRPr lang="en-US" altLang="zh-CN" dirty="0"/>
          </a:p>
          <a:p>
            <a:r>
              <a:rPr lang="zh-CN" altLang="en-US" dirty="0"/>
              <a:t>缺点：</a:t>
            </a:r>
            <a:endParaRPr lang="en-US" altLang="zh-CN" dirty="0"/>
          </a:p>
          <a:p>
            <a:pPr lvl="1"/>
            <a:r>
              <a:rPr lang="zh-CN" altLang="en-US" dirty="0"/>
              <a:t>无法多设备同步：在手机上读了邮件，电脑上看不到“已读”状态</a:t>
            </a:r>
          </a:p>
          <a:p>
            <a:pPr lvl="1"/>
            <a:r>
              <a:rPr lang="zh-CN" altLang="en-US" dirty="0"/>
              <a:t>容易丢失邮件：如果本地设备损坏且服务器已删邮件，数据无法恢复</a:t>
            </a:r>
          </a:p>
          <a:p>
            <a:pPr lvl="1"/>
            <a:r>
              <a:rPr lang="zh-CN" altLang="en-US" dirty="0"/>
              <a:t>功能单一：不能远程管理文件夹、搜索服务器内容等</a:t>
            </a:r>
          </a:p>
          <a:p>
            <a:endParaRPr lang="en-US" altLang="zh-CN" dirty="0"/>
          </a:p>
          <a:p>
            <a:endParaRPr lang="en-US" altLang="zh-CN" dirty="0"/>
          </a:p>
          <a:p>
            <a:endParaRPr lang="zh-CN" altLang="en-US" dirty="0"/>
          </a:p>
        </p:txBody>
      </p:sp>
      <p:graphicFrame>
        <p:nvGraphicFramePr>
          <p:cNvPr id="15" name="表格 14">
            <a:extLst>
              <a:ext uri="{FF2B5EF4-FFF2-40B4-BE49-F238E27FC236}">
                <a16:creationId xmlns:a16="http://schemas.microsoft.com/office/drawing/2014/main" id="{E26FF401-5D92-4032-303A-AB60F1AA7B92}"/>
              </a:ext>
            </a:extLst>
          </p:cNvPr>
          <p:cNvGraphicFramePr>
            <a:graphicFrameLocks noGrp="1"/>
          </p:cNvGraphicFramePr>
          <p:nvPr>
            <p:extLst>
              <p:ext uri="{D42A27DB-BD31-4B8C-83A1-F6EECF244321}">
                <p14:modId xmlns:p14="http://schemas.microsoft.com/office/powerpoint/2010/main" val="3014167279"/>
              </p:ext>
            </p:extLst>
          </p:nvPr>
        </p:nvGraphicFramePr>
        <p:xfrm>
          <a:off x="485774" y="2520000"/>
          <a:ext cx="8172450" cy="1485900"/>
        </p:xfrm>
        <a:graphic>
          <a:graphicData uri="http://schemas.openxmlformats.org/drawingml/2006/table">
            <a:tbl>
              <a:tblPr>
                <a:tableStyleId>{E8B1032C-EA38-4F05-BA0D-38AFFFC7BED3}</a:tableStyleId>
              </a:tblPr>
              <a:tblGrid>
                <a:gridCol w="2460626">
                  <a:extLst>
                    <a:ext uri="{9D8B030D-6E8A-4147-A177-3AD203B41FA5}">
                      <a16:colId xmlns:a16="http://schemas.microsoft.com/office/drawing/2014/main" val="3177170460"/>
                    </a:ext>
                  </a:extLst>
                </a:gridCol>
                <a:gridCol w="5711824">
                  <a:extLst>
                    <a:ext uri="{9D8B030D-6E8A-4147-A177-3AD203B41FA5}">
                      <a16:colId xmlns:a16="http://schemas.microsoft.com/office/drawing/2014/main" val="1256016458"/>
                    </a:ext>
                  </a:extLst>
                </a:gridCol>
              </a:tblGrid>
              <a:tr h="148516">
                <a:tc>
                  <a:txBody>
                    <a:bodyPr/>
                    <a:lstStyle/>
                    <a:p>
                      <a:pPr algn="ctr">
                        <a:lnSpc>
                          <a:spcPct val="100000"/>
                        </a:lnSpc>
                        <a:spcBef>
                          <a:spcPts val="0"/>
                        </a:spcBef>
                        <a:spcAft>
                          <a:spcPts val="0"/>
                        </a:spcAft>
                        <a:buNone/>
                      </a:pPr>
                      <a:r>
                        <a:rPr lang="zh-CN" altLang="en-US" sz="1200" b="0" dirty="0">
                          <a:solidFill>
                            <a:schemeClr val="tx1"/>
                          </a:solidFill>
                          <a:effectLst/>
                          <a:latin typeface="Montserrat" panose="00000500000000000000" pitchFamily="2" charset="0"/>
                          <a:ea typeface="微软雅黑 Light" panose="020B0502040204020203" pitchFamily="34" charset="-122"/>
                        </a:rPr>
                        <a:t>用户鉴别</a:t>
                      </a:r>
                    </a:p>
                  </a:txBody>
                  <a:tcPr marL="123825" marR="123825" marT="57150" marB="57150" anchor="ctr"/>
                </a:tc>
                <a:tc>
                  <a:txBody>
                    <a:bodyPr/>
                    <a:lstStyle/>
                    <a:p>
                      <a:pPr>
                        <a:lnSpc>
                          <a:spcPct val="100000"/>
                        </a:lnSpc>
                        <a:spcBef>
                          <a:spcPts val="0"/>
                        </a:spcBef>
                        <a:spcAft>
                          <a:spcPts val="0"/>
                        </a:spcAft>
                        <a:buNone/>
                      </a:pPr>
                      <a:r>
                        <a:rPr lang="zh-CN" altLang="en-US" sz="1200" b="0" dirty="0">
                          <a:solidFill>
                            <a:schemeClr val="tx1"/>
                          </a:solidFill>
                          <a:effectLst/>
                          <a:latin typeface="Montserrat" panose="00000500000000000000" pitchFamily="2" charset="0"/>
                          <a:ea typeface="微软雅黑 Light" panose="020B0502040204020203" pitchFamily="34" charset="-122"/>
                        </a:rPr>
                        <a:t>支持用户名</a:t>
                      </a:r>
                      <a:r>
                        <a:rPr lang="en-US" altLang="zh-CN" sz="1200" b="0" dirty="0">
                          <a:solidFill>
                            <a:schemeClr val="tx1"/>
                          </a:solidFill>
                          <a:effectLst/>
                          <a:latin typeface="Montserrat" panose="00000500000000000000" pitchFamily="2" charset="0"/>
                          <a:ea typeface="微软雅黑 Light" panose="020B0502040204020203" pitchFamily="34" charset="-122"/>
                        </a:rPr>
                        <a:t>/</a:t>
                      </a:r>
                      <a:r>
                        <a:rPr lang="zh-CN" altLang="en-US" sz="1200" b="0" dirty="0">
                          <a:solidFill>
                            <a:schemeClr val="tx1"/>
                          </a:solidFill>
                          <a:effectLst/>
                          <a:latin typeface="Montserrat" panose="00000500000000000000" pitchFamily="2" charset="0"/>
                          <a:ea typeface="微软雅黑 Light" panose="020B0502040204020203" pitchFamily="34" charset="-122"/>
                        </a:rPr>
                        <a:t>密码认证；通常明文，现多配合 </a:t>
                      </a:r>
                      <a:r>
                        <a:rPr lang="en-US" altLang="zh-CN" sz="1200" b="0" dirty="0">
                          <a:solidFill>
                            <a:schemeClr val="tx1"/>
                          </a:solidFill>
                          <a:effectLst/>
                          <a:latin typeface="Montserrat" panose="00000500000000000000" pitchFamily="2" charset="0"/>
                          <a:ea typeface="微软雅黑 Light" panose="020B0502040204020203" pitchFamily="34" charset="-122"/>
                        </a:rPr>
                        <a:t>SSL/TLS </a:t>
                      </a:r>
                      <a:r>
                        <a:rPr lang="zh-CN" altLang="en-US" sz="1200" b="0" dirty="0">
                          <a:solidFill>
                            <a:schemeClr val="tx1"/>
                          </a:solidFill>
                          <a:effectLst/>
                          <a:latin typeface="Montserrat" panose="00000500000000000000" pitchFamily="2" charset="0"/>
                          <a:ea typeface="微软雅黑 Light" panose="020B0502040204020203" pitchFamily="34" charset="-122"/>
                        </a:rPr>
                        <a:t>加密</a:t>
                      </a:r>
                    </a:p>
                  </a:txBody>
                  <a:tcPr marL="123825" marR="123825" marT="57150" marB="57150" anchor="ctr"/>
                </a:tc>
                <a:extLst>
                  <a:ext uri="{0D108BD9-81ED-4DB2-BD59-A6C34878D82A}">
                    <a16:rowId xmlns:a16="http://schemas.microsoft.com/office/drawing/2014/main" val="1044482673"/>
                  </a:ext>
                </a:extLst>
              </a:tr>
              <a:tr h="148516">
                <a:tc>
                  <a:txBody>
                    <a:bodyPr/>
                    <a:lstStyle/>
                    <a:p>
                      <a:pPr algn="ctr">
                        <a:lnSpc>
                          <a:spcPct val="100000"/>
                        </a:lnSpc>
                        <a:spcBef>
                          <a:spcPts val="0"/>
                        </a:spcBef>
                        <a:spcAft>
                          <a:spcPts val="0"/>
                        </a:spcAft>
                        <a:buNone/>
                      </a:pPr>
                      <a:r>
                        <a:rPr lang="zh-CN" altLang="en-US" sz="1200" b="0" dirty="0">
                          <a:solidFill>
                            <a:schemeClr val="tx1"/>
                          </a:solidFill>
                          <a:effectLst/>
                          <a:latin typeface="Montserrat" panose="00000500000000000000" pitchFamily="2" charset="0"/>
                          <a:ea typeface="微软雅黑 Light" panose="020B0502040204020203" pitchFamily="34" charset="-122"/>
                        </a:rPr>
                        <a:t>邮件下载</a:t>
                      </a:r>
                    </a:p>
                  </a:txBody>
                  <a:tcPr marL="123825" marR="123825" marT="57150" marB="57150" anchor="ctr"/>
                </a:tc>
                <a:tc>
                  <a:txBody>
                    <a:bodyPr/>
                    <a:lstStyle/>
                    <a:p>
                      <a:pPr>
                        <a:lnSpc>
                          <a:spcPct val="100000"/>
                        </a:lnSpc>
                        <a:spcBef>
                          <a:spcPts val="0"/>
                        </a:spcBef>
                        <a:spcAft>
                          <a:spcPts val="0"/>
                        </a:spcAft>
                        <a:buNone/>
                      </a:pPr>
                      <a:r>
                        <a:rPr lang="zh-CN" altLang="en-US" sz="1200" b="0">
                          <a:solidFill>
                            <a:schemeClr val="tx1"/>
                          </a:solidFill>
                          <a:effectLst/>
                          <a:latin typeface="Montserrat" panose="00000500000000000000" pitchFamily="2" charset="0"/>
                          <a:ea typeface="微软雅黑 Light" panose="020B0502040204020203" pitchFamily="34" charset="-122"/>
                        </a:rPr>
                        <a:t>默认将全部邮件完整下载到本地设备</a:t>
                      </a:r>
                    </a:p>
                  </a:txBody>
                  <a:tcPr marL="123825" marR="123825" marT="57150" marB="57150" anchor="ctr"/>
                </a:tc>
                <a:extLst>
                  <a:ext uri="{0D108BD9-81ED-4DB2-BD59-A6C34878D82A}">
                    <a16:rowId xmlns:a16="http://schemas.microsoft.com/office/drawing/2014/main" val="3294601397"/>
                  </a:ext>
                </a:extLst>
              </a:tr>
              <a:tr h="148516">
                <a:tc>
                  <a:txBody>
                    <a:bodyPr/>
                    <a:lstStyle/>
                    <a:p>
                      <a:pPr algn="ctr">
                        <a:lnSpc>
                          <a:spcPct val="100000"/>
                        </a:lnSpc>
                        <a:spcBef>
                          <a:spcPts val="0"/>
                        </a:spcBef>
                        <a:spcAft>
                          <a:spcPts val="0"/>
                        </a:spcAft>
                        <a:buNone/>
                      </a:pPr>
                      <a:r>
                        <a:rPr lang="zh-CN" altLang="en-US" sz="1200" b="0" dirty="0">
                          <a:solidFill>
                            <a:schemeClr val="tx1"/>
                          </a:solidFill>
                          <a:effectLst/>
                          <a:latin typeface="Montserrat" panose="00000500000000000000" pitchFamily="2" charset="0"/>
                          <a:ea typeface="微软雅黑 Light" panose="020B0502040204020203" pitchFamily="34" charset="-122"/>
                        </a:rPr>
                        <a:t>默认删除服务器邮件</a:t>
                      </a:r>
                    </a:p>
                  </a:txBody>
                  <a:tcPr marL="123825" marR="123825" marT="57150" marB="57150" anchor="ctr"/>
                </a:tc>
                <a:tc>
                  <a:txBody>
                    <a:bodyPr/>
                    <a:lstStyle/>
                    <a:p>
                      <a:pPr>
                        <a:lnSpc>
                          <a:spcPct val="100000"/>
                        </a:lnSpc>
                        <a:spcBef>
                          <a:spcPts val="0"/>
                        </a:spcBef>
                        <a:spcAft>
                          <a:spcPts val="0"/>
                        </a:spcAft>
                        <a:buNone/>
                      </a:pPr>
                      <a:r>
                        <a:rPr lang="zh-CN" altLang="en-US" sz="1200" b="0" dirty="0">
                          <a:solidFill>
                            <a:schemeClr val="tx1"/>
                          </a:solidFill>
                          <a:effectLst/>
                          <a:latin typeface="Montserrat" panose="00000500000000000000" pitchFamily="2" charset="0"/>
                          <a:ea typeface="微软雅黑 Light" panose="020B0502040204020203" pitchFamily="34" charset="-122"/>
                        </a:rPr>
                        <a:t>下载后通常自动删除服务器上的副本；可配置保留</a:t>
                      </a:r>
                    </a:p>
                  </a:txBody>
                  <a:tcPr marL="123825" marR="123825" marT="57150" marB="57150" anchor="ctr"/>
                </a:tc>
                <a:extLst>
                  <a:ext uri="{0D108BD9-81ED-4DB2-BD59-A6C34878D82A}">
                    <a16:rowId xmlns:a16="http://schemas.microsoft.com/office/drawing/2014/main" val="1736214374"/>
                  </a:ext>
                </a:extLst>
              </a:tr>
              <a:tr h="148516">
                <a:tc>
                  <a:txBody>
                    <a:bodyPr/>
                    <a:lstStyle/>
                    <a:p>
                      <a:pPr algn="ctr">
                        <a:lnSpc>
                          <a:spcPct val="100000"/>
                        </a:lnSpc>
                        <a:spcBef>
                          <a:spcPts val="0"/>
                        </a:spcBef>
                        <a:spcAft>
                          <a:spcPts val="0"/>
                        </a:spcAft>
                        <a:buNone/>
                      </a:pPr>
                      <a:r>
                        <a:rPr lang="zh-CN" altLang="en-US" sz="1200" b="0" dirty="0">
                          <a:solidFill>
                            <a:schemeClr val="tx1"/>
                          </a:solidFill>
                          <a:effectLst/>
                          <a:latin typeface="Montserrat" panose="00000500000000000000" pitchFamily="2" charset="0"/>
                          <a:ea typeface="微软雅黑 Light" panose="020B0502040204020203" pitchFamily="34" charset="-122"/>
                        </a:rPr>
                        <a:t>无服务器状态管理</a:t>
                      </a:r>
                    </a:p>
                  </a:txBody>
                  <a:tcPr marL="123825" marR="123825" marT="57150" marB="57150" anchor="ctr"/>
                </a:tc>
                <a:tc>
                  <a:txBody>
                    <a:bodyPr/>
                    <a:lstStyle/>
                    <a:p>
                      <a:pPr>
                        <a:lnSpc>
                          <a:spcPct val="100000"/>
                        </a:lnSpc>
                        <a:spcBef>
                          <a:spcPts val="0"/>
                        </a:spcBef>
                        <a:spcAft>
                          <a:spcPts val="0"/>
                        </a:spcAft>
                        <a:buNone/>
                      </a:pPr>
                      <a:r>
                        <a:rPr lang="zh-CN" altLang="en-US" sz="1200" b="0">
                          <a:solidFill>
                            <a:schemeClr val="tx1"/>
                          </a:solidFill>
                          <a:effectLst/>
                          <a:latin typeface="Montserrat" panose="00000500000000000000" pitchFamily="2" charset="0"/>
                          <a:ea typeface="微软雅黑 Light" panose="020B0502040204020203" pitchFamily="34" charset="-122"/>
                        </a:rPr>
                        <a:t>客户端不与服务器同步文件夹、已读</a:t>
                      </a:r>
                      <a:r>
                        <a:rPr lang="en-US" altLang="zh-CN" sz="1200" b="0">
                          <a:solidFill>
                            <a:schemeClr val="tx1"/>
                          </a:solidFill>
                          <a:effectLst/>
                          <a:latin typeface="Montserrat" panose="00000500000000000000" pitchFamily="2" charset="0"/>
                          <a:ea typeface="微软雅黑 Light" panose="020B0502040204020203" pitchFamily="34" charset="-122"/>
                        </a:rPr>
                        <a:t>/</a:t>
                      </a:r>
                      <a:r>
                        <a:rPr lang="zh-CN" altLang="en-US" sz="1200" b="0">
                          <a:solidFill>
                            <a:schemeClr val="tx1"/>
                          </a:solidFill>
                          <a:effectLst/>
                          <a:latin typeface="Montserrat" panose="00000500000000000000" pitchFamily="2" charset="0"/>
                          <a:ea typeface="微软雅黑 Light" panose="020B0502040204020203" pitchFamily="34" charset="-122"/>
                        </a:rPr>
                        <a:t>未读状态等</a:t>
                      </a:r>
                    </a:p>
                  </a:txBody>
                  <a:tcPr marL="123825" marR="123825" marT="57150" marB="57150" anchor="ctr"/>
                </a:tc>
                <a:extLst>
                  <a:ext uri="{0D108BD9-81ED-4DB2-BD59-A6C34878D82A}">
                    <a16:rowId xmlns:a16="http://schemas.microsoft.com/office/drawing/2014/main" val="3042081130"/>
                  </a:ext>
                </a:extLst>
              </a:tr>
              <a:tr h="148516">
                <a:tc>
                  <a:txBody>
                    <a:bodyPr/>
                    <a:lstStyle/>
                    <a:p>
                      <a:pPr algn="ctr">
                        <a:lnSpc>
                          <a:spcPct val="100000"/>
                        </a:lnSpc>
                        <a:spcBef>
                          <a:spcPts val="0"/>
                        </a:spcBef>
                        <a:spcAft>
                          <a:spcPts val="0"/>
                        </a:spcAft>
                        <a:buNone/>
                      </a:pPr>
                      <a:r>
                        <a:rPr lang="zh-CN" altLang="en-US" sz="1200" b="0" dirty="0">
                          <a:solidFill>
                            <a:schemeClr val="tx1"/>
                          </a:solidFill>
                          <a:effectLst/>
                          <a:latin typeface="Montserrat" panose="00000500000000000000" pitchFamily="2" charset="0"/>
                          <a:ea typeface="微软雅黑 Light" panose="020B0502040204020203" pitchFamily="34" charset="-122"/>
                        </a:rPr>
                        <a:t>离线可用</a:t>
                      </a:r>
                    </a:p>
                  </a:txBody>
                  <a:tcPr marL="123825" marR="123825" marT="57150" marB="57150" anchor="ctr"/>
                </a:tc>
                <a:tc>
                  <a:txBody>
                    <a:bodyPr/>
                    <a:lstStyle/>
                    <a:p>
                      <a:pPr>
                        <a:lnSpc>
                          <a:spcPct val="100000"/>
                        </a:lnSpc>
                        <a:spcBef>
                          <a:spcPts val="0"/>
                        </a:spcBef>
                        <a:spcAft>
                          <a:spcPts val="0"/>
                        </a:spcAft>
                        <a:buNone/>
                      </a:pPr>
                      <a:r>
                        <a:rPr lang="zh-CN" altLang="en-US" sz="1200" b="0" dirty="0">
                          <a:solidFill>
                            <a:schemeClr val="tx1"/>
                          </a:solidFill>
                          <a:effectLst/>
                          <a:latin typeface="Montserrat" panose="00000500000000000000" pitchFamily="2" charset="0"/>
                          <a:ea typeface="微软雅黑 Light" panose="020B0502040204020203" pitchFamily="34" charset="-122"/>
                        </a:rPr>
                        <a:t>邮件下载后可在无网络时阅读</a:t>
                      </a:r>
                    </a:p>
                  </a:txBody>
                  <a:tcPr marL="123825" marR="123825" marT="57150" marB="57150" anchor="ctr"/>
                </a:tc>
                <a:extLst>
                  <a:ext uri="{0D108BD9-81ED-4DB2-BD59-A6C34878D82A}">
                    <a16:rowId xmlns:a16="http://schemas.microsoft.com/office/drawing/2014/main" val="2939583913"/>
                  </a:ext>
                </a:extLst>
              </a:tr>
            </a:tbl>
          </a:graphicData>
        </a:graphic>
      </p:graphicFrame>
    </p:spTree>
    <p:extLst>
      <p:ext uri="{BB962C8B-B14F-4D97-AF65-F5344CB8AC3E}">
        <p14:creationId xmlns:p14="http://schemas.microsoft.com/office/powerpoint/2010/main" val="1191159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389A88A-C335-5108-1975-F58F55A4C5B5}"/>
              </a:ext>
            </a:extLst>
          </p:cNvPr>
          <p:cNvSpPr>
            <a:spLocks noGrp="1"/>
          </p:cNvSpPr>
          <p:nvPr>
            <p:ph type="title"/>
          </p:nvPr>
        </p:nvSpPr>
        <p:spPr>
          <a:xfrm>
            <a:off x="485999" y="174482"/>
            <a:ext cx="8171999" cy="338554"/>
          </a:xfrm>
        </p:spPr>
        <p:txBody>
          <a:bodyPr/>
          <a:lstStyle/>
          <a:p>
            <a:r>
              <a:rPr lang="en-US" altLang="zh-CN" dirty="0"/>
              <a:t>6.5.4  </a:t>
            </a:r>
            <a:r>
              <a:rPr lang="zh-CN" altLang="en-US" dirty="0"/>
              <a:t>邮件读取协议 </a:t>
            </a:r>
            <a:r>
              <a:rPr lang="en-US" altLang="zh-CN" dirty="0"/>
              <a:t>- IMAP</a:t>
            </a:r>
            <a:endParaRPr lang="zh-CN" altLang="en-US" dirty="0"/>
          </a:p>
        </p:txBody>
      </p:sp>
      <p:sp>
        <p:nvSpPr>
          <p:cNvPr id="5" name="内容占位符 4">
            <a:extLst>
              <a:ext uri="{FF2B5EF4-FFF2-40B4-BE49-F238E27FC236}">
                <a16:creationId xmlns:a16="http://schemas.microsoft.com/office/drawing/2014/main" id="{ED0E6BAE-A5C3-D52E-7C77-59DD1BBA86FF}"/>
              </a:ext>
            </a:extLst>
          </p:cNvPr>
          <p:cNvSpPr>
            <a:spLocks noGrp="1"/>
          </p:cNvSpPr>
          <p:nvPr>
            <p:ph sz="quarter" idx="11"/>
          </p:nvPr>
        </p:nvSpPr>
        <p:spPr>
          <a:xfrm>
            <a:off x="486000" y="687518"/>
            <a:ext cx="8172000" cy="4079035"/>
          </a:xfrm>
        </p:spPr>
        <p:txBody>
          <a:bodyPr/>
          <a:lstStyle/>
          <a:p>
            <a:r>
              <a:rPr lang="en-US" altLang="zh-CN" dirty="0"/>
              <a:t>IMAP </a:t>
            </a:r>
            <a:r>
              <a:rPr lang="zh-CN" altLang="en-US" dirty="0"/>
              <a:t>基于 </a:t>
            </a:r>
            <a:r>
              <a:rPr lang="en-US" altLang="zh-CN" dirty="0"/>
              <a:t>TCP </a:t>
            </a:r>
            <a:r>
              <a:rPr lang="zh-CN" altLang="en-US" dirty="0"/>
              <a:t>使用客户</a:t>
            </a:r>
            <a:r>
              <a:rPr lang="en-US" altLang="zh-CN" dirty="0"/>
              <a:t>/</a:t>
            </a:r>
            <a:r>
              <a:rPr lang="zh-CN" altLang="en-US" dirty="0"/>
              <a:t>服务器 </a:t>
            </a:r>
            <a:r>
              <a:rPr lang="en-US" altLang="zh-CN" dirty="0"/>
              <a:t>C/S </a:t>
            </a:r>
            <a:r>
              <a:rPr lang="zh-CN" altLang="en-US" dirty="0"/>
              <a:t>方式</a:t>
            </a:r>
            <a:endParaRPr lang="en-US" altLang="zh-CN" dirty="0"/>
          </a:p>
          <a:p>
            <a:r>
              <a:rPr lang="zh-CN" altLang="en-US" dirty="0"/>
              <a:t>缺点</a:t>
            </a:r>
            <a:endParaRPr lang="en-US" altLang="zh-CN" dirty="0"/>
          </a:p>
          <a:p>
            <a:pPr lvl="1"/>
            <a:r>
              <a:rPr lang="zh-CN" altLang="en-US" dirty="0"/>
              <a:t>要想查阅邮件，必须先联网</a:t>
            </a:r>
            <a:endParaRPr lang="en-US" altLang="zh-CN" dirty="0"/>
          </a:p>
          <a:p>
            <a:pPr lvl="1"/>
            <a:r>
              <a:rPr lang="zh-CN" altLang="en-US" dirty="0"/>
              <a:t>占用服务器存储空间</a:t>
            </a:r>
            <a:endParaRPr lang="en-US" altLang="zh-CN" dirty="0"/>
          </a:p>
          <a:p>
            <a:pPr lvl="1"/>
            <a:r>
              <a:rPr lang="zh-CN" altLang="en-US" dirty="0"/>
              <a:t>对服务器性能要求高</a:t>
            </a:r>
          </a:p>
          <a:p>
            <a:endParaRPr lang="en-US" altLang="zh-CN" dirty="0"/>
          </a:p>
          <a:p>
            <a:endParaRPr lang="zh-CN" altLang="en-US" dirty="0"/>
          </a:p>
        </p:txBody>
      </p:sp>
      <p:graphicFrame>
        <p:nvGraphicFramePr>
          <p:cNvPr id="12" name="表格 11">
            <a:extLst>
              <a:ext uri="{FF2B5EF4-FFF2-40B4-BE49-F238E27FC236}">
                <a16:creationId xmlns:a16="http://schemas.microsoft.com/office/drawing/2014/main" id="{E20381DC-AFB7-4FDE-0779-5D83F99CDAFC}"/>
              </a:ext>
            </a:extLst>
          </p:cNvPr>
          <p:cNvGraphicFramePr>
            <a:graphicFrameLocks noGrp="1"/>
          </p:cNvGraphicFramePr>
          <p:nvPr>
            <p:extLst>
              <p:ext uri="{D42A27DB-BD31-4B8C-83A1-F6EECF244321}">
                <p14:modId xmlns:p14="http://schemas.microsoft.com/office/powerpoint/2010/main" val="3917124228"/>
              </p:ext>
            </p:extLst>
          </p:nvPr>
        </p:nvGraphicFramePr>
        <p:xfrm>
          <a:off x="485775" y="2520000"/>
          <a:ext cx="8172450" cy="1659744"/>
        </p:xfrm>
        <a:graphic>
          <a:graphicData uri="http://schemas.openxmlformats.org/drawingml/2006/table">
            <a:tbl>
              <a:tblPr>
                <a:tableStyleId>{E8B1032C-EA38-4F05-BA0D-38AFFFC7BED3}</a:tableStyleId>
              </a:tblPr>
              <a:tblGrid>
                <a:gridCol w="2460625">
                  <a:extLst>
                    <a:ext uri="{9D8B030D-6E8A-4147-A177-3AD203B41FA5}">
                      <a16:colId xmlns:a16="http://schemas.microsoft.com/office/drawing/2014/main" val="1506526113"/>
                    </a:ext>
                  </a:extLst>
                </a:gridCol>
                <a:gridCol w="5711825">
                  <a:extLst>
                    <a:ext uri="{9D8B030D-6E8A-4147-A177-3AD203B41FA5}">
                      <a16:colId xmlns:a16="http://schemas.microsoft.com/office/drawing/2014/main" val="2693107740"/>
                    </a:ext>
                  </a:extLst>
                </a:gridCol>
              </a:tblGrid>
              <a:tr h="132298">
                <a:tc>
                  <a:txBody>
                    <a:bodyPr/>
                    <a:lstStyle/>
                    <a:p>
                      <a:pPr algn="ctr">
                        <a:lnSpc>
                          <a:spcPct val="100000"/>
                        </a:lnSpc>
                        <a:buNone/>
                      </a:pPr>
                      <a:r>
                        <a:rPr lang="zh-CN" altLang="en-US" sz="1200" b="0" dirty="0">
                          <a:effectLst/>
                          <a:latin typeface="Montserrat" panose="00000500000000000000" pitchFamily="2" charset="0"/>
                          <a:ea typeface="微软雅黑 Light" panose="020B0502040204020203" pitchFamily="34" charset="-122"/>
                        </a:rPr>
                        <a:t>联机协议</a:t>
                      </a:r>
                    </a:p>
                  </a:txBody>
                  <a:tcPr marL="101557" marR="101557" marT="46872" marB="46872" anchor="ctr"/>
                </a:tc>
                <a:tc>
                  <a:txBody>
                    <a:bodyPr/>
                    <a:lstStyle/>
                    <a:p>
                      <a:pPr algn="l">
                        <a:lnSpc>
                          <a:spcPct val="100000"/>
                        </a:lnSpc>
                        <a:buNone/>
                      </a:pPr>
                      <a:r>
                        <a:rPr lang="zh-CN" altLang="en-US" sz="1200" b="0" dirty="0">
                          <a:effectLst/>
                          <a:latin typeface="Montserrat" panose="00000500000000000000" pitchFamily="2" charset="0"/>
                          <a:ea typeface="微软雅黑 Light" panose="020B0502040204020203" pitchFamily="34" charset="-122"/>
                        </a:rPr>
                        <a:t>大多数操作需保持网络连接（部分客户端支持缓存）</a:t>
                      </a:r>
                    </a:p>
                  </a:txBody>
                  <a:tcPr marL="101557" marR="101557" marT="46872" marB="46872" anchor="ctr"/>
                </a:tc>
                <a:extLst>
                  <a:ext uri="{0D108BD9-81ED-4DB2-BD59-A6C34878D82A}">
                    <a16:rowId xmlns:a16="http://schemas.microsoft.com/office/drawing/2014/main" val="2797276151"/>
                  </a:ext>
                </a:extLst>
              </a:tr>
              <a:tr h="132298">
                <a:tc>
                  <a:txBody>
                    <a:bodyPr/>
                    <a:lstStyle/>
                    <a:p>
                      <a:pPr algn="ctr">
                        <a:lnSpc>
                          <a:spcPct val="100000"/>
                        </a:lnSpc>
                        <a:buNone/>
                      </a:pPr>
                      <a:r>
                        <a:rPr lang="zh-CN" altLang="en-US" sz="1200" b="0" dirty="0">
                          <a:effectLst/>
                          <a:latin typeface="Montserrat" panose="00000500000000000000" pitchFamily="2" charset="0"/>
                          <a:ea typeface="微软雅黑 Light" panose="020B0502040204020203" pitchFamily="34" charset="-122"/>
                        </a:rPr>
                        <a:t>部分下载</a:t>
                      </a:r>
                    </a:p>
                  </a:txBody>
                  <a:tcPr marL="101557" marR="101557" marT="46872" marB="46872" anchor="ctr"/>
                </a:tc>
                <a:tc>
                  <a:txBody>
                    <a:bodyPr/>
                    <a:lstStyle/>
                    <a:p>
                      <a:pPr algn="l">
                        <a:lnSpc>
                          <a:spcPct val="100000"/>
                        </a:lnSpc>
                        <a:buNone/>
                      </a:pPr>
                      <a:r>
                        <a:rPr lang="zh-CN" altLang="en-US" sz="1200" b="0" dirty="0">
                          <a:effectLst/>
                          <a:latin typeface="Montserrat" panose="00000500000000000000" pitchFamily="2" charset="0"/>
                          <a:ea typeface="微软雅黑 Light" panose="020B0502040204020203" pitchFamily="34" charset="-122"/>
                        </a:rPr>
                        <a:t>可只下载邮件首部（发件人、主题、时间），节省流量</a:t>
                      </a:r>
                    </a:p>
                  </a:txBody>
                  <a:tcPr marL="101557" marR="101557" marT="46872" marB="46872" anchor="ctr"/>
                </a:tc>
                <a:extLst>
                  <a:ext uri="{0D108BD9-81ED-4DB2-BD59-A6C34878D82A}">
                    <a16:rowId xmlns:a16="http://schemas.microsoft.com/office/drawing/2014/main" val="2814951070"/>
                  </a:ext>
                </a:extLst>
              </a:tr>
              <a:tr h="132298">
                <a:tc>
                  <a:txBody>
                    <a:bodyPr/>
                    <a:lstStyle/>
                    <a:p>
                      <a:pPr algn="ctr">
                        <a:lnSpc>
                          <a:spcPct val="100000"/>
                        </a:lnSpc>
                        <a:buNone/>
                      </a:pPr>
                      <a:r>
                        <a:rPr lang="zh-CN" altLang="en-US" sz="1200" b="0" dirty="0">
                          <a:effectLst/>
                          <a:latin typeface="Montserrat" panose="00000500000000000000" pitchFamily="2" charset="0"/>
                          <a:ea typeface="微软雅黑 Light" panose="020B0502040204020203" pitchFamily="34" charset="-122"/>
                        </a:rPr>
                        <a:t>服务器端文件夹管理</a:t>
                      </a:r>
                    </a:p>
                  </a:txBody>
                  <a:tcPr marL="101557" marR="101557" marT="46872" marB="46872" anchor="ctr"/>
                </a:tc>
                <a:tc>
                  <a:txBody>
                    <a:bodyPr/>
                    <a:lstStyle/>
                    <a:p>
                      <a:pPr algn="l">
                        <a:lnSpc>
                          <a:spcPct val="100000"/>
                        </a:lnSpc>
                        <a:buNone/>
                      </a:pPr>
                      <a:r>
                        <a:rPr lang="zh-CN" altLang="en-US" sz="1200" b="0" dirty="0">
                          <a:effectLst/>
                          <a:latin typeface="Montserrat" panose="00000500000000000000" pitchFamily="2" charset="0"/>
                          <a:ea typeface="微软雅黑 Light" panose="020B0502040204020203" pitchFamily="34" charset="-122"/>
                        </a:rPr>
                        <a:t>用户可在服务器创建</a:t>
                      </a:r>
                      <a:r>
                        <a:rPr lang="en-US" altLang="zh-CN" sz="1200" b="0" dirty="0">
                          <a:effectLst/>
                          <a:latin typeface="Montserrat" panose="00000500000000000000" pitchFamily="2" charset="0"/>
                          <a:ea typeface="微软雅黑 Light" panose="020B0502040204020203" pitchFamily="34" charset="-122"/>
                        </a:rPr>
                        <a:t>/</a:t>
                      </a:r>
                      <a:r>
                        <a:rPr lang="zh-CN" altLang="en-US" sz="1200" b="0" dirty="0">
                          <a:effectLst/>
                          <a:latin typeface="Montserrat" panose="00000500000000000000" pitchFamily="2" charset="0"/>
                          <a:ea typeface="微软雅黑 Light" panose="020B0502040204020203" pitchFamily="34" charset="-122"/>
                        </a:rPr>
                        <a:t>删除文件夹，所有设备可见</a:t>
                      </a:r>
                    </a:p>
                  </a:txBody>
                  <a:tcPr marL="101557" marR="101557" marT="46872" marB="46872" anchor="ctr"/>
                </a:tc>
                <a:extLst>
                  <a:ext uri="{0D108BD9-81ED-4DB2-BD59-A6C34878D82A}">
                    <a16:rowId xmlns:a16="http://schemas.microsoft.com/office/drawing/2014/main" val="168360618"/>
                  </a:ext>
                </a:extLst>
              </a:tr>
              <a:tr h="132298">
                <a:tc>
                  <a:txBody>
                    <a:bodyPr/>
                    <a:lstStyle/>
                    <a:p>
                      <a:pPr algn="ctr">
                        <a:lnSpc>
                          <a:spcPct val="100000"/>
                        </a:lnSpc>
                        <a:buNone/>
                      </a:pPr>
                      <a:r>
                        <a:rPr lang="zh-CN" altLang="en-US" sz="1200" b="0" dirty="0">
                          <a:effectLst/>
                          <a:latin typeface="Montserrat" panose="00000500000000000000" pitchFamily="2" charset="0"/>
                          <a:ea typeface="微软雅黑 Light" panose="020B0502040204020203" pitchFamily="34" charset="-122"/>
                        </a:rPr>
                        <a:t>状态同步</a:t>
                      </a:r>
                    </a:p>
                  </a:txBody>
                  <a:tcPr marL="101557" marR="101557" marT="46872" marB="46872" anchor="ctr"/>
                </a:tc>
                <a:tc>
                  <a:txBody>
                    <a:bodyPr/>
                    <a:lstStyle/>
                    <a:p>
                      <a:pPr algn="l">
                        <a:lnSpc>
                          <a:spcPct val="100000"/>
                        </a:lnSpc>
                        <a:buNone/>
                      </a:pPr>
                      <a:r>
                        <a:rPr lang="zh-CN" altLang="en-US" sz="1200" b="0" dirty="0">
                          <a:effectLst/>
                          <a:latin typeface="Montserrat" panose="00000500000000000000" pitchFamily="2" charset="0"/>
                          <a:ea typeface="微软雅黑 Light" panose="020B0502040204020203" pitchFamily="34" charset="-122"/>
                        </a:rPr>
                        <a:t>已读</a:t>
                      </a:r>
                      <a:r>
                        <a:rPr lang="en-US" altLang="zh-CN" sz="1200" b="0" dirty="0">
                          <a:effectLst/>
                          <a:latin typeface="Montserrat" panose="00000500000000000000" pitchFamily="2" charset="0"/>
                          <a:ea typeface="微软雅黑 Light" panose="020B0502040204020203" pitchFamily="34" charset="-122"/>
                        </a:rPr>
                        <a:t>/</a:t>
                      </a:r>
                      <a:r>
                        <a:rPr lang="zh-CN" altLang="en-US" sz="1200" b="0" dirty="0">
                          <a:effectLst/>
                          <a:latin typeface="Montserrat" panose="00000500000000000000" pitchFamily="2" charset="0"/>
                          <a:ea typeface="微软雅黑 Light" panose="020B0502040204020203" pitchFamily="34" charset="-122"/>
                        </a:rPr>
                        <a:t>未读、标记、删除等状态在所有设备间同步</a:t>
                      </a:r>
                    </a:p>
                  </a:txBody>
                  <a:tcPr marL="101557" marR="101557" marT="46872" marB="46872" anchor="ctr"/>
                </a:tc>
                <a:extLst>
                  <a:ext uri="{0D108BD9-81ED-4DB2-BD59-A6C34878D82A}">
                    <a16:rowId xmlns:a16="http://schemas.microsoft.com/office/drawing/2014/main" val="3788133908"/>
                  </a:ext>
                </a:extLst>
              </a:tr>
              <a:tr h="132298">
                <a:tc>
                  <a:txBody>
                    <a:bodyPr/>
                    <a:lstStyle/>
                    <a:p>
                      <a:pPr algn="ctr">
                        <a:lnSpc>
                          <a:spcPct val="100000"/>
                        </a:lnSpc>
                        <a:buNone/>
                      </a:pPr>
                      <a:r>
                        <a:rPr lang="zh-CN" altLang="en-US" sz="1200" b="0" dirty="0">
                          <a:effectLst/>
                          <a:latin typeface="Montserrat" panose="00000500000000000000" pitchFamily="2" charset="0"/>
                          <a:ea typeface="微软雅黑 Light" panose="020B0502040204020203" pitchFamily="34" charset="-122"/>
                        </a:rPr>
                        <a:t>全文搜索</a:t>
                      </a:r>
                    </a:p>
                  </a:txBody>
                  <a:tcPr marL="101557" marR="101557" marT="46872" marB="46872" anchor="ctr"/>
                </a:tc>
                <a:tc>
                  <a:txBody>
                    <a:bodyPr/>
                    <a:lstStyle/>
                    <a:p>
                      <a:pPr algn="l">
                        <a:lnSpc>
                          <a:spcPct val="100000"/>
                        </a:lnSpc>
                        <a:buNone/>
                      </a:pPr>
                      <a:r>
                        <a:rPr lang="zh-CN" altLang="en-US" sz="1200" b="0" dirty="0">
                          <a:effectLst/>
                          <a:latin typeface="Montserrat" panose="00000500000000000000" pitchFamily="2" charset="0"/>
                          <a:ea typeface="微软雅黑 Light" panose="020B0502040204020203" pitchFamily="34" charset="-122"/>
                        </a:rPr>
                        <a:t>可在服务器上搜索邮件内容（依赖服务器支持）</a:t>
                      </a:r>
                    </a:p>
                  </a:txBody>
                  <a:tcPr marL="101557" marR="101557" marT="46872" marB="46872" anchor="ctr"/>
                </a:tc>
                <a:extLst>
                  <a:ext uri="{0D108BD9-81ED-4DB2-BD59-A6C34878D82A}">
                    <a16:rowId xmlns:a16="http://schemas.microsoft.com/office/drawing/2014/main" val="472614097"/>
                  </a:ext>
                </a:extLst>
              </a:tr>
              <a:tr h="132298">
                <a:tc>
                  <a:txBody>
                    <a:bodyPr/>
                    <a:lstStyle/>
                    <a:p>
                      <a:pPr algn="ctr">
                        <a:lnSpc>
                          <a:spcPct val="100000"/>
                        </a:lnSpc>
                        <a:buNone/>
                      </a:pPr>
                      <a:r>
                        <a:rPr lang="zh-CN" altLang="en-US" sz="1200" b="0" dirty="0">
                          <a:effectLst/>
                          <a:latin typeface="Montserrat" panose="00000500000000000000" pitchFamily="2" charset="0"/>
                          <a:ea typeface="微软雅黑 Light" panose="020B0502040204020203" pitchFamily="34" charset="-122"/>
                        </a:rPr>
                        <a:t>跨设备一致体验</a:t>
                      </a:r>
                    </a:p>
                  </a:txBody>
                  <a:tcPr marL="101557" marR="101557" marT="46872" marB="46872" anchor="ctr"/>
                </a:tc>
                <a:tc>
                  <a:txBody>
                    <a:bodyPr/>
                    <a:lstStyle/>
                    <a:p>
                      <a:pPr algn="l">
                        <a:lnSpc>
                          <a:spcPct val="100000"/>
                        </a:lnSpc>
                        <a:buNone/>
                      </a:pPr>
                      <a:r>
                        <a:rPr lang="zh-CN" altLang="en-US" sz="1200" b="0" dirty="0">
                          <a:effectLst/>
                          <a:latin typeface="Montserrat" panose="00000500000000000000" pitchFamily="2" charset="0"/>
                          <a:ea typeface="微软雅黑 Light" panose="020B0502040204020203" pitchFamily="34" charset="-122"/>
                        </a:rPr>
                        <a:t>在手机、平板、电脑上看到完全相同的邮箱状态</a:t>
                      </a:r>
                    </a:p>
                  </a:txBody>
                  <a:tcPr marL="101557" marR="101557" marT="46872" marB="46872" anchor="ctr"/>
                </a:tc>
                <a:extLst>
                  <a:ext uri="{0D108BD9-81ED-4DB2-BD59-A6C34878D82A}">
                    <a16:rowId xmlns:a16="http://schemas.microsoft.com/office/drawing/2014/main" val="1591134686"/>
                  </a:ext>
                </a:extLst>
              </a:tr>
            </a:tbl>
          </a:graphicData>
        </a:graphic>
      </p:graphicFrame>
    </p:spTree>
    <p:extLst>
      <p:ext uri="{BB962C8B-B14F-4D97-AF65-F5344CB8AC3E}">
        <p14:creationId xmlns:p14="http://schemas.microsoft.com/office/powerpoint/2010/main" val="16074612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表格 6"/>
          <p:cNvGraphicFramePr>
            <a:graphicFrameLocks noGrp="1"/>
          </p:cNvGraphicFramePr>
          <p:nvPr>
            <p:extLst>
              <p:ext uri="{D42A27DB-BD31-4B8C-83A1-F6EECF244321}">
                <p14:modId xmlns:p14="http://schemas.microsoft.com/office/powerpoint/2010/main" val="1960789513"/>
              </p:ext>
            </p:extLst>
          </p:nvPr>
        </p:nvGraphicFramePr>
        <p:xfrm>
          <a:off x="485775" y="1568790"/>
          <a:ext cx="8171999" cy="2005920"/>
        </p:xfrm>
        <a:graphic>
          <a:graphicData uri="http://schemas.openxmlformats.org/drawingml/2006/table">
            <a:tbl>
              <a:tblPr firstRow="1" bandRow="1">
                <a:tableStyleId>{93296810-A885-4BE3-A3E7-6D5BEEA58F35}</a:tableStyleId>
              </a:tblPr>
              <a:tblGrid>
                <a:gridCol w="1375580">
                  <a:extLst>
                    <a:ext uri="{9D8B030D-6E8A-4147-A177-3AD203B41FA5}">
                      <a16:colId xmlns:a16="http://schemas.microsoft.com/office/drawing/2014/main" val="20000"/>
                    </a:ext>
                  </a:extLst>
                </a:gridCol>
                <a:gridCol w="2950131">
                  <a:extLst>
                    <a:ext uri="{9D8B030D-6E8A-4147-A177-3AD203B41FA5}">
                      <a16:colId xmlns:a16="http://schemas.microsoft.com/office/drawing/2014/main" val="20001"/>
                    </a:ext>
                  </a:extLst>
                </a:gridCol>
                <a:gridCol w="2111828">
                  <a:extLst>
                    <a:ext uri="{9D8B030D-6E8A-4147-A177-3AD203B41FA5}">
                      <a16:colId xmlns:a16="http://schemas.microsoft.com/office/drawing/2014/main" val="20002"/>
                    </a:ext>
                  </a:extLst>
                </a:gridCol>
                <a:gridCol w="1734460">
                  <a:extLst>
                    <a:ext uri="{9D8B030D-6E8A-4147-A177-3AD203B41FA5}">
                      <a16:colId xmlns:a16="http://schemas.microsoft.com/office/drawing/2014/main" val="20003"/>
                    </a:ext>
                  </a:extLst>
                </a:gridCol>
              </a:tblGrid>
              <a:tr h="360000">
                <a:tc>
                  <a:txBody>
                    <a:bodyPr/>
                    <a:lstStyle/>
                    <a:p>
                      <a:pPr algn="ctr"/>
                      <a:r>
                        <a:rPr lang="zh-CN" altLang="en-US" sz="1200" b="0" dirty="0">
                          <a:latin typeface="微软雅黑" panose="020B0503020204020204" pitchFamily="34" charset="-122"/>
                          <a:ea typeface="微软雅黑" panose="020B0503020204020204" pitchFamily="34" charset="-122"/>
                        </a:rPr>
                        <a:t>操作位置</a:t>
                      </a:r>
                    </a:p>
                  </a:txBody>
                  <a:tcPr anchor="ct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zh-CN" altLang="en-US" sz="1200" b="0" dirty="0">
                          <a:latin typeface="微软雅黑" panose="020B0503020204020204" pitchFamily="34" charset="-122"/>
                          <a:ea typeface="微软雅黑" panose="020B0503020204020204" pitchFamily="34" charset="-122"/>
                        </a:rPr>
                        <a:t>操作内容</a:t>
                      </a:r>
                    </a:p>
                  </a:txBody>
                  <a:tcPr anchor="ct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altLang="zh-CN" sz="1200" b="0" dirty="0">
                          <a:latin typeface="微软雅黑" panose="020B0503020204020204" pitchFamily="34" charset="-122"/>
                          <a:ea typeface="微软雅黑" panose="020B0503020204020204" pitchFamily="34" charset="-122"/>
                        </a:rPr>
                        <a:t>IMAP</a:t>
                      </a:r>
                    </a:p>
                  </a:txBody>
                  <a:tcPr anchor="ct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altLang="zh-CN" sz="1200" b="0" dirty="0">
                          <a:latin typeface="微软雅黑" panose="020B0503020204020204" pitchFamily="34" charset="-122"/>
                          <a:ea typeface="微软雅黑" panose="020B0503020204020204" pitchFamily="34" charset="-122"/>
                        </a:rPr>
                        <a:t>POP3</a:t>
                      </a:r>
                      <a:endParaRPr lang="zh-CN" altLang="en-US" sz="1200" b="0" dirty="0">
                        <a:latin typeface="微软雅黑" panose="020B0503020204020204" pitchFamily="34" charset="-122"/>
                        <a:ea typeface="微软雅黑" panose="020B0503020204020204" pitchFamily="34" charset="-122"/>
                      </a:endParaRPr>
                    </a:p>
                  </a:txBody>
                  <a:tcPr anchor="ctr"/>
                </a:tc>
                <a:extLst>
                  <a:ext uri="{0D108BD9-81ED-4DB2-BD59-A6C34878D82A}">
                    <a16:rowId xmlns:a16="http://schemas.microsoft.com/office/drawing/2014/main" val="10000"/>
                  </a:ext>
                </a:extLst>
              </a:tr>
              <a:tr h="169055">
                <a:tc>
                  <a:txBody>
                    <a:bodyPr/>
                    <a:lstStyle/>
                    <a:p>
                      <a:pPr algn="l"/>
                      <a:r>
                        <a:rPr lang="zh-CN" altLang="en-US" sz="1200" b="0" dirty="0">
                          <a:latin typeface="Montserrat" panose="00000500000000000000" pitchFamily="2" charset="0"/>
                          <a:ea typeface="微软雅黑 Light" panose="020B0502040204020203" pitchFamily="34" charset="-122"/>
                        </a:rPr>
                        <a:t>收件箱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阅读、标记、移动、删除邮件等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客户端与邮箱更新同步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仅在客户端内</a:t>
                      </a:r>
                    </a:p>
                  </a:txBody>
                  <a:tcPr anchor="ctr"/>
                </a:tc>
                <a:extLst>
                  <a:ext uri="{0D108BD9-81ED-4DB2-BD59-A6C34878D82A}">
                    <a16:rowId xmlns:a16="http://schemas.microsoft.com/office/drawing/2014/main" val="10001"/>
                  </a:ext>
                </a:extLst>
              </a:tr>
              <a:tr h="169055">
                <a:tc>
                  <a:txBody>
                    <a:bodyPr/>
                    <a:lstStyle/>
                    <a:p>
                      <a:pPr algn="l"/>
                      <a:r>
                        <a:rPr lang="zh-CN" altLang="en-US" sz="1200" b="0" dirty="0">
                          <a:latin typeface="Montserrat" panose="00000500000000000000" pitchFamily="2" charset="0"/>
                          <a:ea typeface="微软雅黑 Light" panose="020B0502040204020203" pitchFamily="34" charset="-122"/>
                        </a:rPr>
                        <a:t>发件箱</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保存到已发送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客户端与邮箱更新同步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仅在客户端内</a:t>
                      </a:r>
                    </a:p>
                  </a:txBody>
                  <a:tcPr anchor="ctr"/>
                </a:tc>
                <a:extLst>
                  <a:ext uri="{0D108BD9-81ED-4DB2-BD59-A6C34878D82A}">
                    <a16:rowId xmlns:a16="http://schemas.microsoft.com/office/drawing/2014/main" val="10002"/>
                  </a:ext>
                </a:extLst>
              </a:tr>
              <a:tr h="169055">
                <a:tc>
                  <a:txBody>
                    <a:bodyPr/>
                    <a:lstStyle/>
                    <a:p>
                      <a:pPr algn="l"/>
                      <a:r>
                        <a:rPr lang="zh-CN" altLang="en-US" sz="1200" b="0" dirty="0">
                          <a:latin typeface="Montserrat" panose="00000500000000000000" pitchFamily="2" charset="0"/>
                          <a:ea typeface="微软雅黑 Light" panose="020B0502040204020203" pitchFamily="34" charset="-122"/>
                        </a:rPr>
                        <a:t>创建文件夹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新建自定义的文件夹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客户端与邮箱更新同步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仅在客户端内</a:t>
                      </a:r>
                    </a:p>
                  </a:txBody>
                  <a:tcPr anchor="ctr"/>
                </a:tc>
                <a:extLst>
                  <a:ext uri="{0D108BD9-81ED-4DB2-BD59-A6C34878D82A}">
                    <a16:rowId xmlns:a16="http://schemas.microsoft.com/office/drawing/2014/main" val="10003"/>
                  </a:ext>
                </a:extLst>
              </a:tr>
              <a:tr h="169055">
                <a:tc>
                  <a:txBody>
                    <a:bodyPr/>
                    <a:lstStyle/>
                    <a:p>
                      <a:pPr algn="l"/>
                      <a:r>
                        <a:rPr lang="zh-CN" altLang="en-US" sz="1200" b="0" dirty="0">
                          <a:latin typeface="Montserrat" panose="00000500000000000000" pitchFamily="2" charset="0"/>
                          <a:ea typeface="微软雅黑 Light" panose="020B0502040204020203" pitchFamily="34" charset="-122"/>
                        </a:rPr>
                        <a:t>草稿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保存草稿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客户端与邮箱更新同步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仅在客户端内</a:t>
                      </a:r>
                    </a:p>
                  </a:txBody>
                  <a:tcPr anchor="ctr"/>
                </a:tc>
                <a:extLst>
                  <a:ext uri="{0D108BD9-81ED-4DB2-BD59-A6C34878D82A}">
                    <a16:rowId xmlns:a16="http://schemas.microsoft.com/office/drawing/2014/main" val="10004"/>
                  </a:ext>
                </a:extLst>
              </a:tr>
              <a:tr h="169055">
                <a:tc>
                  <a:txBody>
                    <a:bodyPr/>
                    <a:lstStyle/>
                    <a:p>
                      <a:pPr algn="l"/>
                      <a:r>
                        <a:rPr lang="zh-CN" altLang="en-US" sz="1200" b="0" dirty="0">
                          <a:latin typeface="Montserrat" panose="00000500000000000000" pitchFamily="2" charset="0"/>
                          <a:ea typeface="微软雅黑 Light" panose="020B0502040204020203" pitchFamily="34" charset="-122"/>
                        </a:rPr>
                        <a:t>垃圾文件夹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接收并移入垃圾文件夹的邮件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支持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不支持 </a:t>
                      </a:r>
                    </a:p>
                  </a:txBody>
                  <a:tcPr anchor="ctr"/>
                </a:tc>
                <a:extLst>
                  <a:ext uri="{0D108BD9-81ED-4DB2-BD59-A6C34878D82A}">
                    <a16:rowId xmlns:a16="http://schemas.microsoft.com/office/drawing/2014/main" val="10005"/>
                  </a:ext>
                </a:extLst>
              </a:tr>
              <a:tr h="169055">
                <a:tc>
                  <a:txBody>
                    <a:bodyPr/>
                    <a:lstStyle/>
                    <a:p>
                      <a:pPr algn="l"/>
                      <a:r>
                        <a:rPr lang="zh-CN" altLang="en-US" sz="1200" b="0" dirty="0">
                          <a:latin typeface="Montserrat" panose="00000500000000000000" pitchFamily="2" charset="0"/>
                          <a:ea typeface="微软雅黑 Light" panose="020B0502040204020203" pitchFamily="34" charset="-122"/>
                        </a:rPr>
                        <a:t>广告邮件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接收并移入广告邮件夹的邮</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支持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不支持 </a:t>
                      </a:r>
                    </a:p>
                  </a:txBody>
                  <a:tcPr anchor="ct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80650126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04451"/>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354098" y="571240"/>
            <a:ext cx="245451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IMAP </a:t>
            </a:r>
            <a:r>
              <a:rPr lang="zh-CN" altLang="en-US" sz="2000" b="1" dirty="0">
                <a:solidFill>
                  <a:schemeClr val="bg1"/>
                </a:solidFill>
                <a:latin typeface="微软雅黑 Light" panose="020B0502040204020203" pitchFamily="34" charset="-122"/>
                <a:ea typeface="微软雅黑 Light" panose="020B0502040204020203" pitchFamily="34" charset="-122"/>
              </a:rPr>
              <a:t>与 </a:t>
            </a:r>
            <a:r>
              <a:rPr lang="en-US" altLang="zh-CN" sz="2000" b="1" dirty="0">
                <a:solidFill>
                  <a:schemeClr val="bg1"/>
                </a:solidFill>
                <a:latin typeface="微软雅黑 Light" panose="020B0502040204020203" pitchFamily="34" charset="-122"/>
                <a:ea typeface="微软雅黑 Light" panose="020B0502040204020203" pitchFamily="34" charset="-122"/>
              </a:rPr>
              <a:t>POP3 </a:t>
            </a:r>
            <a:r>
              <a:rPr lang="zh-CN" altLang="en-US" sz="2000" b="1" dirty="0">
                <a:solidFill>
                  <a:schemeClr val="bg1"/>
                </a:solidFill>
                <a:latin typeface="微软雅黑 Light" panose="020B0502040204020203" pitchFamily="34" charset="-122"/>
                <a:ea typeface="微软雅黑 Light" panose="020B0502040204020203" pitchFamily="34" charset="-122"/>
              </a:rPr>
              <a:t>比较</a:t>
            </a:r>
          </a:p>
        </p:txBody>
      </p:sp>
      <p:sp>
        <p:nvSpPr>
          <p:cNvPr id="6" name="Rectangle 9"/>
          <p:cNvSpPr>
            <a:spLocks noChangeArrowheads="1"/>
          </p:cNvSpPr>
          <p:nvPr/>
        </p:nvSpPr>
        <p:spPr bwMode="auto">
          <a:xfrm>
            <a:off x="2464906" y="1208584"/>
            <a:ext cx="769441"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eaLnBrk="1" hangingPunct="1"/>
            <a:r>
              <a:rPr kumimoji="0" lang="zh-CN" altLang="en-US" sz="1200" b="1" dirty="0">
                <a:solidFill>
                  <a:srgbClr val="25221E"/>
                </a:solidFill>
                <a:latin typeface="微软雅黑 Light" panose="020B0502040204020203" pitchFamily="34" charset="-122"/>
                <a:ea typeface="微软雅黑 Light" panose="020B0502040204020203" pitchFamily="34" charset="-122"/>
              </a:rPr>
              <a:t>邮件服务器</a:t>
            </a:r>
          </a:p>
        </p:txBody>
      </p:sp>
      <p:pic>
        <p:nvPicPr>
          <p:cNvPr id="37"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780620" y="1604648"/>
            <a:ext cx="407130" cy="407130"/>
          </a:xfrm>
          <a:prstGeom prst="rect">
            <a:avLst/>
          </a:prstGeom>
          <a:noFill/>
          <a:extLst>
            <a:ext uri="{909E8E84-426E-40DD-AFC4-6F175D3DCCD1}">
              <a14:hiddenFill xmlns:a14="http://schemas.microsoft.com/office/drawing/2010/main">
                <a:solidFill>
                  <a:srgbClr val="FFFFFF"/>
                </a:solidFill>
              </a14:hiddenFill>
            </a:ext>
          </a:extLst>
        </p:spPr>
      </p:pic>
      <p:sp>
        <p:nvSpPr>
          <p:cNvPr id="38" name="Rectangle 9"/>
          <p:cNvSpPr>
            <a:spLocks noChangeArrowheads="1"/>
          </p:cNvSpPr>
          <p:nvPr/>
        </p:nvSpPr>
        <p:spPr bwMode="auto">
          <a:xfrm>
            <a:off x="2464906" y="2657367"/>
            <a:ext cx="769441"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eaLnBrk="1" hangingPunct="1"/>
            <a:r>
              <a:rPr kumimoji="0" lang="zh-CN" altLang="en-US" sz="1200" b="1" dirty="0">
                <a:solidFill>
                  <a:srgbClr val="25221E"/>
                </a:solidFill>
                <a:latin typeface="微软雅黑 Light" panose="020B0502040204020203" pitchFamily="34" charset="-122"/>
                <a:ea typeface="微软雅黑 Light" panose="020B0502040204020203" pitchFamily="34" charset="-122"/>
              </a:rPr>
              <a:t>邮件服务器</a:t>
            </a:r>
          </a:p>
        </p:txBody>
      </p:sp>
      <p:pic>
        <p:nvPicPr>
          <p:cNvPr id="52"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059314" y="2541190"/>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53"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66444" y="3048804"/>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55"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059314" y="3557816"/>
            <a:ext cx="407130" cy="407130"/>
          </a:xfrm>
          <a:prstGeom prst="rect">
            <a:avLst/>
          </a:prstGeom>
          <a:noFill/>
          <a:extLst>
            <a:ext uri="{909E8E84-426E-40DD-AFC4-6F175D3DCCD1}">
              <a14:hiddenFill xmlns:a14="http://schemas.microsoft.com/office/drawing/2010/main">
                <a:solidFill>
                  <a:srgbClr val="FFFFFF"/>
                </a:solidFill>
              </a14:hiddenFill>
            </a:ext>
          </a:extLst>
        </p:spPr>
      </p:pic>
      <p:cxnSp>
        <p:nvCxnSpPr>
          <p:cNvPr id="56" name="直接连接符 55"/>
          <p:cNvCxnSpPr>
            <a:stCxn id="11" idx="3"/>
          </p:cNvCxnSpPr>
          <p:nvPr/>
        </p:nvCxnSpPr>
        <p:spPr>
          <a:xfrm>
            <a:off x="2986409" y="1830103"/>
            <a:ext cx="1165177" cy="0"/>
          </a:xfrm>
          <a:prstGeom prst="line">
            <a:avLst/>
          </a:prstGeom>
          <a:ln w="28575">
            <a:solidFill>
              <a:schemeClr val="tx1"/>
            </a:solidFill>
            <a:prstDash val="solid"/>
          </a:ln>
        </p:spPr>
        <p:style>
          <a:lnRef idx="1">
            <a:schemeClr val="accent1"/>
          </a:lnRef>
          <a:fillRef idx="0">
            <a:schemeClr val="accent1"/>
          </a:fillRef>
          <a:effectRef idx="0">
            <a:schemeClr val="accent1"/>
          </a:effectRef>
          <a:fontRef idx="minor">
            <a:schemeClr val="tx1"/>
          </a:fontRef>
        </p:style>
      </p:cxnSp>
      <p:cxnSp>
        <p:nvCxnSpPr>
          <p:cNvPr id="57" name="直接连接符 56"/>
          <p:cNvCxnSpPr>
            <a:endCxn id="37" idx="1"/>
          </p:cNvCxnSpPr>
          <p:nvPr/>
        </p:nvCxnSpPr>
        <p:spPr>
          <a:xfrm>
            <a:off x="4882375" y="1808213"/>
            <a:ext cx="1898245" cy="0"/>
          </a:xfrm>
          <a:prstGeom prst="line">
            <a:avLst/>
          </a:prstGeom>
          <a:ln w="12700">
            <a:solidFill>
              <a:schemeClr val="tx1"/>
            </a:solidFill>
            <a:prstDash val="solid"/>
          </a:ln>
        </p:spPr>
        <p:style>
          <a:lnRef idx="1">
            <a:schemeClr val="accent1"/>
          </a:lnRef>
          <a:fillRef idx="0">
            <a:schemeClr val="accent1"/>
          </a:fillRef>
          <a:effectRef idx="0">
            <a:schemeClr val="accent1"/>
          </a:effectRef>
          <a:fontRef idx="minor">
            <a:schemeClr val="tx1"/>
          </a:fontRef>
        </p:style>
      </p:cxnSp>
      <p:grpSp>
        <p:nvGrpSpPr>
          <p:cNvPr id="8" name="Group 50"/>
          <p:cNvGrpSpPr>
            <a:grpSpLocks noChangeAspect="1"/>
          </p:cNvGrpSpPr>
          <p:nvPr/>
        </p:nvGrpSpPr>
        <p:grpSpPr bwMode="auto">
          <a:xfrm>
            <a:off x="2590426" y="1436477"/>
            <a:ext cx="478479" cy="734218"/>
            <a:chOff x="3104" y="1028"/>
            <a:chExt cx="406" cy="623"/>
          </a:xfrm>
        </p:grpSpPr>
        <p:sp>
          <p:nvSpPr>
            <p:cNvPr id="9" name="AutoShape 51"/>
            <p:cNvSpPr>
              <a:spLocks noChangeAspect="1" noChangeArrowheads="1" noTextEdit="1"/>
            </p:cNvSpPr>
            <p:nvPr/>
          </p:nvSpPr>
          <p:spPr bwMode="auto">
            <a:xfrm>
              <a:off x="3104" y="1028"/>
              <a:ext cx="406" cy="6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10" name="Freeform 52"/>
            <p:cNvSpPr>
              <a:spLocks/>
            </p:cNvSpPr>
            <p:nvPr/>
          </p:nvSpPr>
          <p:spPr bwMode="auto">
            <a:xfrm>
              <a:off x="3104" y="1028"/>
              <a:ext cx="406" cy="623"/>
            </a:xfrm>
            <a:custGeom>
              <a:avLst/>
              <a:gdLst>
                <a:gd name="T0" fmla="*/ 406 w 10555"/>
                <a:gd name="T1" fmla="*/ 0 h 16198"/>
                <a:gd name="T2" fmla="*/ 406 w 10555"/>
                <a:gd name="T3" fmla="*/ 579 h 16198"/>
                <a:gd name="T4" fmla="*/ 336 w 10555"/>
                <a:gd name="T5" fmla="*/ 623 h 16198"/>
                <a:gd name="T6" fmla="*/ 0 w 10555"/>
                <a:gd name="T7" fmla="*/ 623 h 16198"/>
                <a:gd name="T8" fmla="*/ 0 w 10555"/>
                <a:gd name="T9" fmla="*/ 45 h 16198"/>
                <a:gd name="T10" fmla="*/ 70 w 10555"/>
                <a:gd name="T11" fmla="*/ 0 h 16198"/>
                <a:gd name="T12" fmla="*/ 406 w 10555"/>
                <a:gd name="T13" fmla="*/ 0 h 16198"/>
                <a:gd name="T14" fmla="*/ 406 w 10555"/>
                <a:gd name="T15" fmla="*/ 0 h 16198"/>
                <a:gd name="T16" fmla="*/ 406 w 10555"/>
                <a:gd name="T17" fmla="*/ 0 h 1619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5" h="16198">
                  <a:moveTo>
                    <a:pt x="10555" y="0"/>
                  </a:moveTo>
                  <a:lnTo>
                    <a:pt x="10555" y="15043"/>
                  </a:lnTo>
                  <a:lnTo>
                    <a:pt x="8741" y="16198"/>
                  </a:lnTo>
                  <a:lnTo>
                    <a:pt x="0" y="16198"/>
                  </a:lnTo>
                  <a:lnTo>
                    <a:pt x="0" y="1157"/>
                  </a:lnTo>
                  <a:lnTo>
                    <a:pt x="1812" y="0"/>
                  </a:lnTo>
                  <a:lnTo>
                    <a:pt x="10555" y="0"/>
                  </a:lnTo>
                  <a:close/>
                </a:path>
              </a:pathLst>
            </a:custGeom>
            <a:solidFill>
              <a:srgbClr val="7FA6C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11" name="Rectangle 53"/>
            <p:cNvSpPr>
              <a:spLocks noChangeArrowheads="1"/>
            </p:cNvSpPr>
            <p:nvPr/>
          </p:nvSpPr>
          <p:spPr bwMode="auto">
            <a:xfrm>
              <a:off x="3104" y="1073"/>
              <a:ext cx="336" cy="578"/>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12" name="Freeform 54"/>
            <p:cNvSpPr>
              <a:spLocks/>
            </p:cNvSpPr>
            <p:nvPr/>
          </p:nvSpPr>
          <p:spPr bwMode="auto">
            <a:xfrm>
              <a:off x="3440" y="1028"/>
              <a:ext cx="70" cy="623"/>
            </a:xfrm>
            <a:custGeom>
              <a:avLst/>
              <a:gdLst>
                <a:gd name="T0" fmla="*/ 70 w 1814"/>
                <a:gd name="T1" fmla="*/ 0 h 16198"/>
                <a:gd name="T2" fmla="*/ 0 w 1814"/>
                <a:gd name="T3" fmla="*/ 45 h 16198"/>
                <a:gd name="T4" fmla="*/ 0 w 1814"/>
                <a:gd name="T5" fmla="*/ 623 h 16198"/>
                <a:gd name="T6" fmla="*/ 70 w 1814"/>
                <a:gd name="T7" fmla="*/ 579 h 16198"/>
                <a:gd name="T8" fmla="*/ 70 w 1814"/>
                <a:gd name="T9" fmla="*/ 0 h 1619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14" h="16198">
                  <a:moveTo>
                    <a:pt x="1814" y="0"/>
                  </a:moveTo>
                  <a:lnTo>
                    <a:pt x="0" y="1157"/>
                  </a:lnTo>
                  <a:lnTo>
                    <a:pt x="0" y="16198"/>
                  </a:lnTo>
                  <a:lnTo>
                    <a:pt x="1814" y="15043"/>
                  </a:lnTo>
                  <a:lnTo>
                    <a:pt x="1814" y="0"/>
                  </a:lnTo>
                  <a:close/>
                </a:path>
              </a:pathLst>
            </a:custGeom>
            <a:solidFill>
              <a:srgbClr val="0066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13" name="Freeform 55"/>
            <p:cNvSpPr>
              <a:spLocks/>
            </p:cNvSpPr>
            <p:nvPr/>
          </p:nvSpPr>
          <p:spPr bwMode="auto">
            <a:xfrm>
              <a:off x="3104" y="1028"/>
              <a:ext cx="406" cy="45"/>
            </a:xfrm>
            <a:custGeom>
              <a:avLst/>
              <a:gdLst>
                <a:gd name="T0" fmla="*/ 0 w 10555"/>
                <a:gd name="T1" fmla="*/ 45 h 1157"/>
                <a:gd name="T2" fmla="*/ 336 w 10555"/>
                <a:gd name="T3" fmla="*/ 45 h 1157"/>
                <a:gd name="T4" fmla="*/ 406 w 10555"/>
                <a:gd name="T5" fmla="*/ 0 h 1157"/>
                <a:gd name="T6" fmla="*/ 70 w 10555"/>
                <a:gd name="T7" fmla="*/ 0 h 1157"/>
                <a:gd name="T8" fmla="*/ 0 w 10555"/>
                <a:gd name="T9" fmla="*/ 45 h 11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555" h="1157">
                  <a:moveTo>
                    <a:pt x="0" y="1157"/>
                  </a:moveTo>
                  <a:lnTo>
                    <a:pt x="8741" y="1157"/>
                  </a:lnTo>
                  <a:lnTo>
                    <a:pt x="10555" y="0"/>
                  </a:lnTo>
                  <a:lnTo>
                    <a:pt x="1812" y="0"/>
                  </a:lnTo>
                  <a:lnTo>
                    <a:pt x="0" y="1157"/>
                  </a:lnTo>
                  <a:close/>
                </a:path>
              </a:pathLst>
            </a:custGeom>
            <a:solidFill>
              <a:srgbClr val="3399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14" name="Rectangle 56"/>
            <p:cNvSpPr>
              <a:spLocks noChangeArrowheads="1"/>
            </p:cNvSpPr>
            <p:nvPr/>
          </p:nvSpPr>
          <p:spPr bwMode="auto">
            <a:xfrm>
              <a:off x="3104" y="1268"/>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15" name="Rectangle 57"/>
            <p:cNvSpPr>
              <a:spLocks noChangeArrowheads="1"/>
            </p:cNvSpPr>
            <p:nvPr/>
          </p:nvSpPr>
          <p:spPr bwMode="auto">
            <a:xfrm>
              <a:off x="3104" y="1294"/>
              <a:ext cx="336" cy="25"/>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16" name="Rectangle 58"/>
            <p:cNvSpPr>
              <a:spLocks noChangeArrowheads="1"/>
            </p:cNvSpPr>
            <p:nvPr/>
          </p:nvSpPr>
          <p:spPr bwMode="auto">
            <a:xfrm>
              <a:off x="3104" y="1151"/>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17" name="Rectangle 59"/>
            <p:cNvSpPr>
              <a:spLocks noChangeArrowheads="1"/>
            </p:cNvSpPr>
            <p:nvPr/>
          </p:nvSpPr>
          <p:spPr bwMode="auto">
            <a:xfrm>
              <a:off x="3104" y="1176"/>
              <a:ext cx="336" cy="26"/>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18" name="Freeform 60"/>
            <p:cNvSpPr>
              <a:spLocks noEditPoints="1"/>
            </p:cNvSpPr>
            <p:nvPr/>
          </p:nvSpPr>
          <p:spPr bwMode="auto">
            <a:xfrm>
              <a:off x="3159" y="1374"/>
              <a:ext cx="241" cy="233"/>
            </a:xfrm>
            <a:custGeom>
              <a:avLst/>
              <a:gdLst>
                <a:gd name="T0" fmla="*/ 121 w 6286"/>
                <a:gd name="T1" fmla="*/ 174 h 6039"/>
                <a:gd name="T2" fmla="*/ 96 w 6286"/>
                <a:gd name="T3" fmla="*/ 179 h 6039"/>
                <a:gd name="T4" fmla="*/ 77 w 6286"/>
                <a:gd name="T5" fmla="*/ 174 h 6039"/>
                <a:gd name="T6" fmla="*/ 64 w 6286"/>
                <a:gd name="T7" fmla="*/ 162 h 6039"/>
                <a:gd name="T8" fmla="*/ 58 w 6286"/>
                <a:gd name="T9" fmla="*/ 143 h 6039"/>
                <a:gd name="T10" fmla="*/ 60 w 6286"/>
                <a:gd name="T11" fmla="*/ 114 h 6039"/>
                <a:gd name="T12" fmla="*/ 73 w 6286"/>
                <a:gd name="T13" fmla="*/ 86 h 6039"/>
                <a:gd name="T14" fmla="*/ 95 w 6286"/>
                <a:gd name="T15" fmla="*/ 67 h 6039"/>
                <a:gd name="T16" fmla="*/ 122 w 6286"/>
                <a:gd name="T17" fmla="*/ 61 h 6039"/>
                <a:gd name="T18" fmla="*/ 140 w 6286"/>
                <a:gd name="T19" fmla="*/ 67 h 6039"/>
                <a:gd name="T20" fmla="*/ 163 w 6286"/>
                <a:gd name="T21" fmla="*/ 145 h 6039"/>
                <a:gd name="T22" fmla="*/ 165 w 6286"/>
                <a:gd name="T23" fmla="*/ 154 h 6039"/>
                <a:gd name="T24" fmla="*/ 177 w 6286"/>
                <a:gd name="T25" fmla="*/ 155 h 6039"/>
                <a:gd name="T26" fmla="*/ 195 w 6286"/>
                <a:gd name="T27" fmla="*/ 145 h 6039"/>
                <a:gd name="T28" fmla="*/ 209 w 6286"/>
                <a:gd name="T29" fmla="*/ 125 h 6039"/>
                <a:gd name="T30" fmla="*/ 215 w 6286"/>
                <a:gd name="T31" fmla="*/ 100 h 6039"/>
                <a:gd name="T32" fmla="*/ 210 w 6286"/>
                <a:gd name="T33" fmla="*/ 69 h 6039"/>
                <a:gd name="T34" fmla="*/ 192 w 6286"/>
                <a:gd name="T35" fmla="*/ 44 h 6039"/>
                <a:gd name="T36" fmla="*/ 162 w 6286"/>
                <a:gd name="T37" fmla="*/ 28 h 6039"/>
                <a:gd name="T38" fmla="*/ 123 w 6286"/>
                <a:gd name="T39" fmla="*/ 25 h 6039"/>
                <a:gd name="T40" fmla="*/ 85 w 6286"/>
                <a:gd name="T41" fmla="*/ 33 h 6039"/>
                <a:gd name="T42" fmla="*/ 58 w 6286"/>
                <a:gd name="T43" fmla="*/ 51 h 6039"/>
                <a:gd name="T44" fmla="*/ 42 w 6286"/>
                <a:gd name="T45" fmla="*/ 71 h 6039"/>
                <a:gd name="T46" fmla="*/ 31 w 6286"/>
                <a:gd name="T47" fmla="*/ 95 h 6039"/>
                <a:gd name="T48" fmla="*/ 26 w 6286"/>
                <a:gd name="T49" fmla="*/ 121 h 6039"/>
                <a:gd name="T50" fmla="*/ 33 w 6286"/>
                <a:gd name="T51" fmla="*/ 159 h 6039"/>
                <a:gd name="T52" fmla="*/ 56 w 6286"/>
                <a:gd name="T53" fmla="*/ 189 h 6039"/>
                <a:gd name="T54" fmla="*/ 92 w 6286"/>
                <a:gd name="T55" fmla="*/ 206 h 6039"/>
                <a:gd name="T56" fmla="*/ 137 w 6286"/>
                <a:gd name="T57" fmla="*/ 209 h 6039"/>
                <a:gd name="T58" fmla="*/ 181 w 6286"/>
                <a:gd name="T59" fmla="*/ 196 h 6039"/>
                <a:gd name="T60" fmla="*/ 187 w 6286"/>
                <a:gd name="T61" fmla="*/ 218 h 6039"/>
                <a:gd name="T62" fmla="*/ 137 w 6286"/>
                <a:gd name="T63" fmla="*/ 232 h 6039"/>
                <a:gd name="T64" fmla="*/ 84 w 6286"/>
                <a:gd name="T65" fmla="*/ 229 h 6039"/>
                <a:gd name="T66" fmla="*/ 42 w 6286"/>
                <a:gd name="T67" fmla="*/ 210 h 6039"/>
                <a:gd name="T68" fmla="*/ 21 w 6286"/>
                <a:gd name="T69" fmla="*/ 190 h 6039"/>
                <a:gd name="T70" fmla="*/ 8 w 6286"/>
                <a:gd name="T71" fmla="*/ 168 h 6039"/>
                <a:gd name="T72" fmla="*/ 1 w 6286"/>
                <a:gd name="T73" fmla="*/ 142 h 6039"/>
                <a:gd name="T74" fmla="*/ 1 w 6286"/>
                <a:gd name="T75" fmla="*/ 107 h 6039"/>
                <a:gd name="T76" fmla="*/ 16 w 6286"/>
                <a:gd name="T77" fmla="*/ 63 h 6039"/>
                <a:gd name="T78" fmla="*/ 41 w 6286"/>
                <a:gd name="T79" fmla="*/ 33 h 6039"/>
                <a:gd name="T80" fmla="*/ 68 w 6286"/>
                <a:gd name="T81" fmla="*/ 15 h 6039"/>
                <a:gd name="T82" fmla="*/ 99 w 6286"/>
                <a:gd name="T83" fmla="*/ 3 h 6039"/>
                <a:gd name="T84" fmla="*/ 135 w 6286"/>
                <a:gd name="T85" fmla="*/ 0 h 6039"/>
                <a:gd name="T86" fmla="*/ 180 w 6286"/>
                <a:gd name="T87" fmla="*/ 8 h 6039"/>
                <a:gd name="T88" fmla="*/ 217 w 6286"/>
                <a:gd name="T89" fmla="*/ 32 h 6039"/>
                <a:gd name="T90" fmla="*/ 238 w 6286"/>
                <a:gd name="T91" fmla="*/ 70 h 6039"/>
                <a:gd name="T92" fmla="*/ 238 w 6286"/>
                <a:gd name="T93" fmla="*/ 117 h 6039"/>
                <a:gd name="T94" fmla="*/ 217 w 6286"/>
                <a:gd name="T95" fmla="*/ 156 h 6039"/>
                <a:gd name="T96" fmla="*/ 193 w 6286"/>
                <a:gd name="T97" fmla="*/ 174 h 6039"/>
                <a:gd name="T98" fmla="*/ 168 w 6286"/>
                <a:gd name="T99" fmla="*/ 179 h 6039"/>
                <a:gd name="T100" fmla="*/ 145 w 6286"/>
                <a:gd name="T101" fmla="*/ 173 h 6039"/>
                <a:gd name="T102" fmla="*/ 142 w 6286"/>
                <a:gd name="T103" fmla="*/ 100 h 6039"/>
                <a:gd name="T104" fmla="*/ 133 w 6286"/>
                <a:gd name="T105" fmla="*/ 85 h 6039"/>
                <a:gd name="T106" fmla="*/ 117 w 6286"/>
                <a:gd name="T107" fmla="*/ 83 h 6039"/>
                <a:gd name="T108" fmla="*/ 104 w 6286"/>
                <a:gd name="T109" fmla="*/ 91 h 6039"/>
                <a:gd name="T110" fmla="*/ 94 w 6286"/>
                <a:gd name="T111" fmla="*/ 108 h 6039"/>
                <a:gd name="T112" fmla="*/ 89 w 6286"/>
                <a:gd name="T113" fmla="*/ 130 h 6039"/>
                <a:gd name="T114" fmla="*/ 92 w 6286"/>
                <a:gd name="T115" fmla="*/ 150 h 6039"/>
                <a:gd name="T116" fmla="*/ 106 w 6286"/>
                <a:gd name="T117" fmla="*/ 157 h 6039"/>
                <a:gd name="T118" fmla="*/ 127 w 6286"/>
                <a:gd name="T119" fmla="*/ 148 h 6039"/>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0" t="0" r="r" b="b"/>
              <a:pathLst>
                <a:path w="6286" h="6039">
                  <a:moveTo>
                    <a:pt x="3596" y="4105"/>
                  </a:moveTo>
                  <a:lnTo>
                    <a:pt x="3573" y="4139"/>
                  </a:lnTo>
                  <a:lnTo>
                    <a:pt x="3549" y="4171"/>
                  </a:lnTo>
                  <a:lnTo>
                    <a:pt x="3525" y="4202"/>
                  </a:lnTo>
                  <a:lnTo>
                    <a:pt x="3500" y="4233"/>
                  </a:lnTo>
                  <a:lnTo>
                    <a:pt x="3475" y="4262"/>
                  </a:lnTo>
                  <a:lnTo>
                    <a:pt x="3450" y="4291"/>
                  </a:lnTo>
                  <a:lnTo>
                    <a:pt x="3424" y="4317"/>
                  </a:lnTo>
                  <a:lnTo>
                    <a:pt x="3397" y="4343"/>
                  </a:lnTo>
                  <a:lnTo>
                    <a:pt x="3371" y="4367"/>
                  </a:lnTo>
                  <a:lnTo>
                    <a:pt x="3344" y="4391"/>
                  </a:lnTo>
                  <a:lnTo>
                    <a:pt x="3317" y="4413"/>
                  </a:lnTo>
                  <a:lnTo>
                    <a:pt x="3289" y="4434"/>
                  </a:lnTo>
                  <a:lnTo>
                    <a:pt x="3261" y="4454"/>
                  </a:lnTo>
                  <a:lnTo>
                    <a:pt x="3233" y="4473"/>
                  </a:lnTo>
                  <a:lnTo>
                    <a:pt x="3203" y="4490"/>
                  </a:lnTo>
                  <a:lnTo>
                    <a:pt x="3174" y="4506"/>
                  </a:lnTo>
                  <a:lnTo>
                    <a:pt x="3145" y="4522"/>
                  </a:lnTo>
                  <a:lnTo>
                    <a:pt x="3115" y="4537"/>
                  </a:lnTo>
                  <a:lnTo>
                    <a:pt x="3083" y="4550"/>
                  </a:lnTo>
                  <a:lnTo>
                    <a:pt x="3052" y="4562"/>
                  </a:lnTo>
                  <a:lnTo>
                    <a:pt x="3019" y="4573"/>
                  </a:lnTo>
                  <a:lnTo>
                    <a:pt x="2986" y="4584"/>
                  </a:lnTo>
                  <a:lnTo>
                    <a:pt x="2952" y="4593"/>
                  </a:lnTo>
                  <a:lnTo>
                    <a:pt x="2918" y="4601"/>
                  </a:lnTo>
                  <a:lnTo>
                    <a:pt x="2881" y="4609"/>
                  </a:lnTo>
                  <a:lnTo>
                    <a:pt x="2846" y="4616"/>
                  </a:lnTo>
                  <a:lnTo>
                    <a:pt x="2808" y="4621"/>
                  </a:lnTo>
                  <a:lnTo>
                    <a:pt x="2771" y="4626"/>
                  </a:lnTo>
                  <a:lnTo>
                    <a:pt x="2733" y="4629"/>
                  </a:lnTo>
                  <a:lnTo>
                    <a:pt x="2693" y="4631"/>
                  </a:lnTo>
                  <a:lnTo>
                    <a:pt x="2654" y="4633"/>
                  </a:lnTo>
                  <a:lnTo>
                    <a:pt x="2613" y="4633"/>
                  </a:lnTo>
                  <a:lnTo>
                    <a:pt x="2580" y="4633"/>
                  </a:lnTo>
                  <a:lnTo>
                    <a:pt x="2547" y="4632"/>
                  </a:lnTo>
                  <a:lnTo>
                    <a:pt x="2513" y="4631"/>
                  </a:lnTo>
                  <a:lnTo>
                    <a:pt x="2482" y="4629"/>
                  </a:lnTo>
                  <a:lnTo>
                    <a:pt x="2450" y="4627"/>
                  </a:lnTo>
                  <a:lnTo>
                    <a:pt x="2419" y="4623"/>
                  </a:lnTo>
                  <a:lnTo>
                    <a:pt x="2388" y="4620"/>
                  </a:lnTo>
                  <a:lnTo>
                    <a:pt x="2358" y="4616"/>
                  </a:lnTo>
                  <a:lnTo>
                    <a:pt x="2329" y="4610"/>
                  </a:lnTo>
                  <a:lnTo>
                    <a:pt x="2299" y="4604"/>
                  </a:lnTo>
                  <a:lnTo>
                    <a:pt x="2271" y="4599"/>
                  </a:lnTo>
                  <a:lnTo>
                    <a:pt x="2243" y="4592"/>
                  </a:lnTo>
                  <a:lnTo>
                    <a:pt x="2215" y="4585"/>
                  </a:lnTo>
                  <a:lnTo>
                    <a:pt x="2188" y="4577"/>
                  </a:lnTo>
                  <a:lnTo>
                    <a:pt x="2162" y="4569"/>
                  </a:lnTo>
                  <a:lnTo>
                    <a:pt x="2136" y="4561"/>
                  </a:lnTo>
                  <a:lnTo>
                    <a:pt x="2110" y="4551"/>
                  </a:lnTo>
                  <a:lnTo>
                    <a:pt x="2085" y="4542"/>
                  </a:lnTo>
                  <a:lnTo>
                    <a:pt x="2061" y="4530"/>
                  </a:lnTo>
                  <a:lnTo>
                    <a:pt x="2037" y="4519"/>
                  </a:lnTo>
                  <a:lnTo>
                    <a:pt x="2013" y="4508"/>
                  </a:lnTo>
                  <a:lnTo>
                    <a:pt x="1990" y="4495"/>
                  </a:lnTo>
                  <a:lnTo>
                    <a:pt x="1968" y="4483"/>
                  </a:lnTo>
                  <a:lnTo>
                    <a:pt x="1947" y="4469"/>
                  </a:lnTo>
                  <a:lnTo>
                    <a:pt x="1925" y="4456"/>
                  </a:lnTo>
                  <a:lnTo>
                    <a:pt x="1904" y="4440"/>
                  </a:lnTo>
                  <a:lnTo>
                    <a:pt x="1884" y="4425"/>
                  </a:lnTo>
                  <a:lnTo>
                    <a:pt x="1864" y="4410"/>
                  </a:lnTo>
                  <a:lnTo>
                    <a:pt x="1845" y="4394"/>
                  </a:lnTo>
                  <a:lnTo>
                    <a:pt x="1826" y="4377"/>
                  </a:lnTo>
                  <a:lnTo>
                    <a:pt x="1807" y="4359"/>
                  </a:lnTo>
                  <a:lnTo>
                    <a:pt x="1790" y="4341"/>
                  </a:lnTo>
                  <a:lnTo>
                    <a:pt x="1773" y="4323"/>
                  </a:lnTo>
                  <a:lnTo>
                    <a:pt x="1756" y="4304"/>
                  </a:lnTo>
                  <a:lnTo>
                    <a:pt x="1740" y="4284"/>
                  </a:lnTo>
                  <a:lnTo>
                    <a:pt x="1725" y="4264"/>
                  </a:lnTo>
                  <a:lnTo>
                    <a:pt x="1709" y="4243"/>
                  </a:lnTo>
                  <a:lnTo>
                    <a:pt x="1695" y="4222"/>
                  </a:lnTo>
                  <a:lnTo>
                    <a:pt x="1681" y="4200"/>
                  </a:lnTo>
                  <a:lnTo>
                    <a:pt x="1668" y="4178"/>
                  </a:lnTo>
                  <a:lnTo>
                    <a:pt x="1655" y="4155"/>
                  </a:lnTo>
                  <a:lnTo>
                    <a:pt x="1643" y="4132"/>
                  </a:lnTo>
                  <a:lnTo>
                    <a:pt x="1631" y="4107"/>
                  </a:lnTo>
                  <a:lnTo>
                    <a:pt x="1620" y="4083"/>
                  </a:lnTo>
                  <a:lnTo>
                    <a:pt x="1608" y="4058"/>
                  </a:lnTo>
                  <a:lnTo>
                    <a:pt x="1598" y="4032"/>
                  </a:lnTo>
                  <a:lnTo>
                    <a:pt x="1589" y="4006"/>
                  </a:lnTo>
                  <a:lnTo>
                    <a:pt x="1580" y="3980"/>
                  </a:lnTo>
                  <a:lnTo>
                    <a:pt x="1572" y="3952"/>
                  </a:lnTo>
                  <a:lnTo>
                    <a:pt x="1564" y="3925"/>
                  </a:lnTo>
                  <a:lnTo>
                    <a:pt x="1556" y="3897"/>
                  </a:lnTo>
                  <a:lnTo>
                    <a:pt x="1550" y="3868"/>
                  </a:lnTo>
                  <a:lnTo>
                    <a:pt x="1543" y="3839"/>
                  </a:lnTo>
                  <a:lnTo>
                    <a:pt x="1538" y="3809"/>
                  </a:lnTo>
                  <a:lnTo>
                    <a:pt x="1533" y="3778"/>
                  </a:lnTo>
                  <a:lnTo>
                    <a:pt x="1528" y="3747"/>
                  </a:lnTo>
                  <a:lnTo>
                    <a:pt x="1524" y="3716"/>
                  </a:lnTo>
                  <a:lnTo>
                    <a:pt x="1521" y="3684"/>
                  </a:lnTo>
                  <a:lnTo>
                    <a:pt x="1516" y="3652"/>
                  </a:lnTo>
                  <a:lnTo>
                    <a:pt x="1514" y="3618"/>
                  </a:lnTo>
                  <a:lnTo>
                    <a:pt x="1512" y="3585"/>
                  </a:lnTo>
                  <a:lnTo>
                    <a:pt x="1511" y="3550"/>
                  </a:lnTo>
                  <a:lnTo>
                    <a:pt x="1510" y="3516"/>
                  </a:lnTo>
                  <a:lnTo>
                    <a:pt x="1510" y="3481"/>
                  </a:lnTo>
                  <a:lnTo>
                    <a:pt x="1510" y="3430"/>
                  </a:lnTo>
                  <a:lnTo>
                    <a:pt x="1512" y="3380"/>
                  </a:lnTo>
                  <a:lnTo>
                    <a:pt x="1514" y="3332"/>
                  </a:lnTo>
                  <a:lnTo>
                    <a:pt x="1517" y="3283"/>
                  </a:lnTo>
                  <a:lnTo>
                    <a:pt x="1522" y="3236"/>
                  </a:lnTo>
                  <a:lnTo>
                    <a:pt x="1527" y="3188"/>
                  </a:lnTo>
                  <a:lnTo>
                    <a:pt x="1533" y="3140"/>
                  </a:lnTo>
                  <a:lnTo>
                    <a:pt x="1540" y="3094"/>
                  </a:lnTo>
                  <a:lnTo>
                    <a:pt x="1548" y="3048"/>
                  </a:lnTo>
                  <a:lnTo>
                    <a:pt x="1556" y="3003"/>
                  </a:lnTo>
                  <a:lnTo>
                    <a:pt x="1566" y="2958"/>
                  </a:lnTo>
                  <a:lnTo>
                    <a:pt x="1576" y="2914"/>
                  </a:lnTo>
                  <a:lnTo>
                    <a:pt x="1588" y="2869"/>
                  </a:lnTo>
                  <a:lnTo>
                    <a:pt x="1600" y="2826"/>
                  </a:lnTo>
                  <a:lnTo>
                    <a:pt x="1613" y="2783"/>
                  </a:lnTo>
                  <a:lnTo>
                    <a:pt x="1628" y="2741"/>
                  </a:lnTo>
                  <a:lnTo>
                    <a:pt x="1643" y="2699"/>
                  </a:lnTo>
                  <a:lnTo>
                    <a:pt x="1659" y="2658"/>
                  </a:lnTo>
                  <a:lnTo>
                    <a:pt x="1676" y="2617"/>
                  </a:lnTo>
                  <a:lnTo>
                    <a:pt x="1694" y="2577"/>
                  </a:lnTo>
                  <a:lnTo>
                    <a:pt x="1712" y="2536"/>
                  </a:lnTo>
                  <a:lnTo>
                    <a:pt x="1733" y="2498"/>
                  </a:lnTo>
                  <a:lnTo>
                    <a:pt x="1754" y="2458"/>
                  </a:lnTo>
                  <a:lnTo>
                    <a:pt x="1775" y="2420"/>
                  </a:lnTo>
                  <a:lnTo>
                    <a:pt x="1797" y="2382"/>
                  </a:lnTo>
                  <a:lnTo>
                    <a:pt x="1822" y="2345"/>
                  </a:lnTo>
                  <a:lnTo>
                    <a:pt x="1846" y="2308"/>
                  </a:lnTo>
                  <a:lnTo>
                    <a:pt x="1871" y="2272"/>
                  </a:lnTo>
                  <a:lnTo>
                    <a:pt x="1897" y="2236"/>
                  </a:lnTo>
                  <a:lnTo>
                    <a:pt x="1925" y="2201"/>
                  </a:lnTo>
                  <a:lnTo>
                    <a:pt x="1952" y="2166"/>
                  </a:lnTo>
                  <a:lnTo>
                    <a:pt x="1981" y="2132"/>
                  </a:lnTo>
                  <a:lnTo>
                    <a:pt x="2010" y="2098"/>
                  </a:lnTo>
                  <a:lnTo>
                    <a:pt x="2041" y="2065"/>
                  </a:lnTo>
                  <a:lnTo>
                    <a:pt x="2072" y="2034"/>
                  </a:lnTo>
                  <a:lnTo>
                    <a:pt x="2102" y="2004"/>
                  </a:lnTo>
                  <a:lnTo>
                    <a:pt x="2135" y="1974"/>
                  </a:lnTo>
                  <a:lnTo>
                    <a:pt x="2166" y="1947"/>
                  </a:lnTo>
                  <a:lnTo>
                    <a:pt x="2198" y="1920"/>
                  </a:lnTo>
                  <a:lnTo>
                    <a:pt x="2232" y="1893"/>
                  </a:lnTo>
                  <a:lnTo>
                    <a:pt x="2264" y="1868"/>
                  </a:lnTo>
                  <a:lnTo>
                    <a:pt x="2298" y="1845"/>
                  </a:lnTo>
                  <a:lnTo>
                    <a:pt x="2332" y="1821"/>
                  </a:lnTo>
                  <a:lnTo>
                    <a:pt x="2366" y="1799"/>
                  </a:lnTo>
                  <a:lnTo>
                    <a:pt x="2401" y="1779"/>
                  </a:lnTo>
                  <a:lnTo>
                    <a:pt x="2437" y="1760"/>
                  </a:lnTo>
                  <a:lnTo>
                    <a:pt x="2472" y="1740"/>
                  </a:lnTo>
                  <a:lnTo>
                    <a:pt x="2508" y="1723"/>
                  </a:lnTo>
                  <a:lnTo>
                    <a:pt x="2545" y="1706"/>
                  </a:lnTo>
                  <a:lnTo>
                    <a:pt x="2582" y="1691"/>
                  </a:lnTo>
                  <a:lnTo>
                    <a:pt x="2620" y="1677"/>
                  </a:lnTo>
                  <a:lnTo>
                    <a:pt x="2658" y="1663"/>
                  </a:lnTo>
                  <a:lnTo>
                    <a:pt x="2696" y="1651"/>
                  </a:lnTo>
                  <a:lnTo>
                    <a:pt x="2735" y="1640"/>
                  </a:lnTo>
                  <a:lnTo>
                    <a:pt x="2774" y="1630"/>
                  </a:lnTo>
                  <a:lnTo>
                    <a:pt x="2814" y="1621"/>
                  </a:lnTo>
                  <a:lnTo>
                    <a:pt x="2854" y="1613"/>
                  </a:lnTo>
                  <a:lnTo>
                    <a:pt x="2894" y="1606"/>
                  </a:lnTo>
                  <a:lnTo>
                    <a:pt x="2935" y="1600"/>
                  </a:lnTo>
                  <a:lnTo>
                    <a:pt x="2976" y="1596"/>
                  </a:lnTo>
                  <a:lnTo>
                    <a:pt x="3019" y="1592"/>
                  </a:lnTo>
                  <a:lnTo>
                    <a:pt x="3060" y="1589"/>
                  </a:lnTo>
                  <a:lnTo>
                    <a:pt x="3103" y="1588"/>
                  </a:lnTo>
                  <a:lnTo>
                    <a:pt x="3146" y="1586"/>
                  </a:lnTo>
                  <a:lnTo>
                    <a:pt x="3178" y="1588"/>
                  </a:lnTo>
                  <a:lnTo>
                    <a:pt x="3209" y="1589"/>
                  </a:lnTo>
                  <a:lnTo>
                    <a:pt x="3241" y="1591"/>
                  </a:lnTo>
                  <a:lnTo>
                    <a:pt x="3271" y="1594"/>
                  </a:lnTo>
                  <a:lnTo>
                    <a:pt x="3300" y="1597"/>
                  </a:lnTo>
                  <a:lnTo>
                    <a:pt x="3330" y="1601"/>
                  </a:lnTo>
                  <a:lnTo>
                    <a:pt x="3358" y="1607"/>
                  </a:lnTo>
                  <a:lnTo>
                    <a:pt x="3386" y="1612"/>
                  </a:lnTo>
                  <a:lnTo>
                    <a:pt x="3415" y="1619"/>
                  </a:lnTo>
                  <a:lnTo>
                    <a:pt x="3442" y="1627"/>
                  </a:lnTo>
                  <a:lnTo>
                    <a:pt x="3468" y="1635"/>
                  </a:lnTo>
                  <a:lnTo>
                    <a:pt x="3494" y="1644"/>
                  </a:lnTo>
                  <a:lnTo>
                    <a:pt x="3520" y="1654"/>
                  </a:lnTo>
                  <a:lnTo>
                    <a:pt x="3545" y="1664"/>
                  </a:lnTo>
                  <a:lnTo>
                    <a:pt x="3569" y="1676"/>
                  </a:lnTo>
                  <a:lnTo>
                    <a:pt x="3593" y="1688"/>
                  </a:lnTo>
                  <a:lnTo>
                    <a:pt x="3617" y="1702"/>
                  </a:lnTo>
                  <a:lnTo>
                    <a:pt x="3640" y="1715"/>
                  </a:lnTo>
                  <a:lnTo>
                    <a:pt x="3662" y="1730"/>
                  </a:lnTo>
                  <a:lnTo>
                    <a:pt x="3684" y="1746"/>
                  </a:lnTo>
                  <a:lnTo>
                    <a:pt x="3705" y="1763"/>
                  </a:lnTo>
                  <a:lnTo>
                    <a:pt x="3727" y="1780"/>
                  </a:lnTo>
                  <a:lnTo>
                    <a:pt x="3747" y="1798"/>
                  </a:lnTo>
                  <a:lnTo>
                    <a:pt x="3767" y="1816"/>
                  </a:lnTo>
                  <a:lnTo>
                    <a:pt x="3786" y="1837"/>
                  </a:lnTo>
                  <a:lnTo>
                    <a:pt x="3805" y="1857"/>
                  </a:lnTo>
                  <a:lnTo>
                    <a:pt x="3824" y="1878"/>
                  </a:lnTo>
                  <a:lnTo>
                    <a:pt x="3842" y="1900"/>
                  </a:lnTo>
                  <a:lnTo>
                    <a:pt x="3860" y="1924"/>
                  </a:lnTo>
                  <a:lnTo>
                    <a:pt x="3877" y="1947"/>
                  </a:lnTo>
                  <a:lnTo>
                    <a:pt x="3893" y="1972"/>
                  </a:lnTo>
                  <a:lnTo>
                    <a:pt x="3910" y="1998"/>
                  </a:lnTo>
                  <a:lnTo>
                    <a:pt x="4082" y="1691"/>
                  </a:lnTo>
                  <a:lnTo>
                    <a:pt x="4769" y="1691"/>
                  </a:lnTo>
                  <a:lnTo>
                    <a:pt x="4260" y="3728"/>
                  </a:lnTo>
                  <a:lnTo>
                    <a:pt x="4259" y="3737"/>
                  </a:lnTo>
                  <a:lnTo>
                    <a:pt x="4257" y="3748"/>
                  </a:lnTo>
                  <a:lnTo>
                    <a:pt x="4252" y="3776"/>
                  </a:lnTo>
                  <a:lnTo>
                    <a:pt x="4249" y="3801"/>
                  </a:lnTo>
                  <a:lnTo>
                    <a:pt x="4247" y="3822"/>
                  </a:lnTo>
                  <a:lnTo>
                    <a:pt x="4246" y="3838"/>
                  </a:lnTo>
                  <a:lnTo>
                    <a:pt x="4247" y="3863"/>
                  </a:lnTo>
                  <a:lnTo>
                    <a:pt x="4250" y="3886"/>
                  </a:lnTo>
                  <a:lnTo>
                    <a:pt x="4252" y="3897"/>
                  </a:lnTo>
                  <a:lnTo>
                    <a:pt x="4254" y="3907"/>
                  </a:lnTo>
                  <a:lnTo>
                    <a:pt x="4257" y="3917"/>
                  </a:lnTo>
                  <a:lnTo>
                    <a:pt x="4260" y="3926"/>
                  </a:lnTo>
                  <a:lnTo>
                    <a:pt x="4263" y="3935"/>
                  </a:lnTo>
                  <a:lnTo>
                    <a:pt x="4267" y="3943"/>
                  </a:lnTo>
                  <a:lnTo>
                    <a:pt x="4271" y="3951"/>
                  </a:lnTo>
                  <a:lnTo>
                    <a:pt x="4276" y="3959"/>
                  </a:lnTo>
                  <a:lnTo>
                    <a:pt x="4281" y="3967"/>
                  </a:lnTo>
                  <a:lnTo>
                    <a:pt x="4287" y="3974"/>
                  </a:lnTo>
                  <a:lnTo>
                    <a:pt x="4293" y="3981"/>
                  </a:lnTo>
                  <a:lnTo>
                    <a:pt x="4299" y="3987"/>
                  </a:lnTo>
                  <a:lnTo>
                    <a:pt x="4306" y="3993"/>
                  </a:lnTo>
                  <a:lnTo>
                    <a:pt x="4314" y="3998"/>
                  </a:lnTo>
                  <a:lnTo>
                    <a:pt x="4322" y="4004"/>
                  </a:lnTo>
                  <a:lnTo>
                    <a:pt x="4330" y="4008"/>
                  </a:lnTo>
                  <a:lnTo>
                    <a:pt x="4338" y="4013"/>
                  </a:lnTo>
                  <a:lnTo>
                    <a:pt x="4347" y="4017"/>
                  </a:lnTo>
                  <a:lnTo>
                    <a:pt x="4356" y="4020"/>
                  </a:lnTo>
                  <a:lnTo>
                    <a:pt x="4365" y="4023"/>
                  </a:lnTo>
                  <a:lnTo>
                    <a:pt x="4385" y="4029"/>
                  </a:lnTo>
                  <a:lnTo>
                    <a:pt x="4408" y="4032"/>
                  </a:lnTo>
                  <a:lnTo>
                    <a:pt x="4431" y="4035"/>
                  </a:lnTo>
                  <a:lnTo>
                    <a:pt x="4456" y="4035"/>
                  </a:lnTo>
                  <a:lnTo>
                    <a:pt x="4484" y="4035"/>
                  </a:lnTo>
                  <a:lnTo>
                    <a:pt x="4513" y="4033"/>
                  </a:lnTo>
                  <a:lnTo>
                    <a:pt x="4540" y="4031"/>
                  </a:lnTo>
                  <a:lnTo>
                    <a:pt x="4568" y="4028"/>
                  </a:lnTo>
                  <a:lnTo>
                    <a:pt x="4595" y="4024"/>
                  </a:lnTo>
                  <a:lnTo>
                    <a:pt x="4623" y="4019"/>
                  </a:lnTo>
                  <a:lnTo>
                    <a:pt x="4650" y="4013"/>
                  </a:lnTo>
                  <a:lnTo>
                    <a:pt x="4677" y="4006"/>
                  </a:lnTo>
                  <a:lnTo>
                    <a:pt x="4703" y="3998"/>
                  </a:lnTo>
                  <a:lnTo>
                    <a:pt x="4731" y="3989"/>
                  </a:lnTo>
                  <a:lnTo>
                    <a:pt x="4757" y="3979"/>
                  </a:lnTo>
                  <a:lnTo>
                    <a:pt x="4782" y="3969"/>
                  </a:lnTo>
                  <a:lnTo>
                    <a:pt x="4809" y="3956"/>
                  </a:lnTo>
                  <a:lnTo>
                    <a:pt x="4834" y="3944"/>
                  </a:lnTo>
                  <a:lnTo>
                    <a:pt x="4859" y="3930"/>
                  </a:lnTo>
                  <a:lnTo>
                    <a:pt x="4884" y="3916"/>
                  </a:lnTo>
                  <a:lnTo>
                    <a:pt x="4910" y="3901"/>
                  </a:lnTo>
                  <a:lnTo>
                    <a:pt x="4934" y="3885"/>
                  </a:lnTo>
                  <a:lnTo>
                    <a:pt x="4959" y="3866"/>
                  </a:lnTo>
                  <a:lnTo>
                    <a:pt x="4983" y="3848"/>
                  </a:lnTo>
                  <a:lnTo>
                    <a:pt x="5008" y="3829"/>
                  </a:lnTo>
                  <a:lnTo>
                    <a:pt x="5031" y="3809"/>
                  </a:lnTo>
                  <a:lnTo>
                    <a:pt x="5055" y="3788"/>
                  </a:lnTo>
                  <a:lnTo>
                    <a:pt x="5078" y="3766"/>
                  </a:lnTo>
                  <a:lnTo>
                    <a:pt x="5101" y="3743"/>
                  </a:lnTo>
                  <a:lnTo>
                    <a:pt x="5125" y="3720"/>
                  </a:lnTo>
                  <a:lnTo>
                    <a:pt x="5147" y="3694"/>
                  </a:lnTo>
                  <a:lnTo>
                    <a:pt x="5169" y="3668"/>
                  </a:lnTo>
                  <a:lnTo>
                    <a:pt x="5192" y="3642"/>
                  </a:lnTo>
                  <a:lnTo>
                    <a:pt x="5214" y="3614"/>
                  </a:lnTo>
                  <a:lnTo>
                    <a:pt x="5236" y="3585"/>
                  </a:lnTo>
                  <a:lnTo>
                    <a:pt x="5258" y="3556"/>
                  </a:lnTo>
                  <a:lnTo>
                    <a:pt x="5279" y="3526"/>
                  </a:lnTo>
                  <a:lnTo>
                    <a:pt x="5299" y="3495"/>
                  </a:lnTo>
                  <a:lnTo>
                    <a:pt x="5319" y="3464"/>
                  </a:lnTo>
                  <a:lnTo>
                    <a:pt x="5338" y="3433"/>
                  </a:lnTo>
                  <a:lnTo>
                    <a:pt x="5357" y="3403"/>
                  </a:lnTo>
                  <a:lnTo>
                    <a:pt x="5374" y="3370"/>
                  </a:lnTo>
                  <a:lnTo>
                    <a:pt x="5391" y="3339"/>
                  </a:lnTo>
                  <a:lnTo>
                    <a:pt x="5409" y="3307"/>
                  </a:lnTo>
                  <a:lnTo>
                    <a:pt x="5424" y="3273"/>
                  </a:lnTo>
                  <a:lnTo>
                    <a:pt x="5439" y="3241"/>
                  </a:lnTo>
                  <a:lnTo>
                    <a:pt x="5454" y="3207"/>
                  </a:lnTo>
                  <a:lnTo>
                    <a:pt x="5467" y="3174"/>
                  </a:lnTo>
                  <a:lnTo>
                    <a:pt x="5480" y="3139"/>
                  </a:lnTo>
                  <a:lnTo>
                    <a:pt x="5493" y="3106"/>
                  </a:lnTo>
                  <a:lnTo>
                    <a:pt x="5505" y="3071"/>
                  </a:lnTo>
                  <a:lnTo>
                    <a:pt x="5516" y="3036"/>
                  </a:lnTo>
                  <a:lnTo>
                    <a:pt x="5527" y="3001"/>
                  </a:lnTo>
                  <a:lnTo>
                    <a:pt x="5536" y="2965"/>
                  </a:lnTo>
                  <a:lnTo>
                    <a:pt x="5545" y="2930"/>
                  </a:lnTo>
                  <a:lnTo>
                    <a:pt x="5554" y="2893"/>
                  </a:lnTo>
                  <a:lnTo>
                    <a:pt x="5561" y="2857"/>
                  </a:lnTo>
                  <a:lnTo>
                    <a:pt x="5568" y="2821"/>
                  </a:lnTo>
                  <a:lnTo>
                    <a:pt x="5575" y="2783"/>
                  </a:lnTo>
                  <a:lnTo>
                    <a:pt x="5580" y="2746"/>
                  </a:lnTo>
                  <a:lnTo>
                    <a:pt x="5585" y="2708"/>
                  </a:lnTo>
                  <a:lnTo>
                    <a:pt x="5590" y="2670"/>
                  </a:lnTo>
                  <a:lnTo>
                    <a:pt x="5593" y="2631"/>
                  </a:lnTo>
                  <a:lnTo>
                    <a:pt x="5596" y="2593"/>
                  </a:lnTo>
                  <a:lnTo>
                    <a:pt x="5599" y="2554"/>
                  </a:lnTo>
                  <a:lnTo>
                    <a:pt x="5600" y="2515"/>
                  </a:lnTo>
                  <a:lnTo>
                    <a:pt x="5601" y="2475"/>
                  </a:lnTo>
                  <a:lnTo>
                    <a:pt x="5603" y="2435"/>
                  </a:lnTo>
                  <a:lnTo>
                    <a:pt x="5601" y="2385"/>
                  </a:lnTo>
                  <a:lnTo>
                    <a:pt x="5599" y="2337"/>
                  </a:lnTo>
                  <a:lnTo>
                    <a:pt x="5597" y="2288"/>
                  </a:lnTo>
                  <a:lnTo>
                    <a:pt x="5593" y="2240"/>
                  </a:lnTo>
                  <a:lnTo>
                    <a:pt x="5587" y="2193"/>
                  </a:lnTo>
                  <a:lnTo>
                    <a:pt x="5581" y="2146"/>
                  </a:lnTo>
                  <a:lnTo>
                    <a:pt x="5573" y="2100"/>
                  </a:lnTo>
                  <a:lnTo>
                    <a:pt x="5565" y="2054"/>
                  </a:lnTo>
                  <a:lnTo>
                    <a:pt x="5555" y="2009"/>
                  </a:lnTo>
                  <a:lnTo>
                    <a:pt x="5544" y="1965"/>
                  </a:lnTo>
                  <a:lnTo>
                    <a:pt x="5532" y="1921"/>
                  </a:lnTo>
                  <a:lnTo>
                    <a:pt x="5519" y="1877"/>
                  </a:lnTo>
                  <a:lnTo>
                    <a:pt x="5504" y="1835"/>
                  </a:lnTo>
                  <a:lnTo>
                    <a:pt x="5487" y="1793"/>
                  </a:lnTo>
                  <a:lnTo>
                    <a:pt x="5471" y="1750"/>
                  </a:lnTo>
                  <a:lnTo>
                    <a:pt x="5453" y="1710"/>
                  </a:lnTo>
                  <a:lnTo>
                    <a:pt x="5434" y="1670"/>
                  </a:lnTo>
                  <a:lnTo>
                    <a:pt x="5413" y="1630"/>
                  </a:lnTo>
                  <a:lnTo>
                    <a:pt x="5391" y="1591"/>
                  </a:lnTo>
                  <a:lnTo>
                    <a:pt x="5368" y="1552"/>
                  </a:lnTo>
                  <a:lnTo>
                    <a:pt x="5345" y="1514"/>
                  </a:lnTo>
                  <a:lnTo>
                    <a:pt x="5320" y="1476"/>
                  </a:lnTo>
                  <a:lnTo>
                    <a:pt x="5293" y="1439"/>
                  </a:lnTo>
                  <a:lnTo>
                    <a:pt x="5266" y="1402"/>
                  </a:lnTo>
                  <a:lnTo>
                    <a:pt x="5237" y="1367"/>
                  </a:lnTo>
                  <a:lnTo>
                    <a:pt x="5208" y="1331"/>
                  </a:lnTo>
                  <a:lnTo>
                    <a:pt x="5176" y="1297"/>
                  </a:lnTo>
                  <a:lnTo>
                    <a:pt x="5144" y="1263"/>
                  </a:lnTo>
                  <a:lnTo>
                    <a:pt x="5111" y="1229"/>
                  </a:lnTo>
                  <a:lnTo>
                    <a:pt x="5076" y="1196"/>
                  </a:lnTo>
                  <a:lnTo>
                    <a:pt x="5041" y="1163"/>
                  </a:lnTo>
                  <a:lnTo>
                    <a:pt x="5003" y="1132"/>
                  </a:lnTo>
                  <a:lnTo>
                    <a:pt x="4966" y="1101"/>
                  </a:lnTo>
                  <a:lnTo>
                    <a:pt x="4928" y="1071"/>
                  </a:lnTo>
                  <a:lnTo>
                    <a:pt x="4888" y="1042"/>
                  </a:lnTo>
                  <a:lnTo>
                    <a:pt x="4849" y="1013"/>
                  </a:lnTo>
                  <a:lnTo>
                    <a:pt x="4809" y="986"/>
                  </a:lnTo>
                  <a:lnTo>
                    <a:pt x="4767" y="961"/>
                  </a:lnTo>
                  <a:lnTo>
                    <a:pt x="4725" y="936"/>
                  </a:lnTo>
                  <a:lnTo>
                    <a:pt x="4682" y="911"/>
                  </a:lnTo>
                  <a:lnTo>
                    <a:pt x="4639" y="888"/>
                  </a:lnTo>
                  <a:lnTo>
                    <a:pt x="4595" y="866"/>
                  </a:lnTo>
                  <a:lnTo>
                    <a:pt x="4550" y="844"/>
                  </a:lnTo>
                  <a:lnTo>
                    <a:pt x="4504" y="824"/>
                  </a:lnTo>
                  <a:lnTo>
                    <a:pt x="4458" y="806"/>
                  </a:lnTo>
                  <a:lnTo>
                    <a:pt x="4412" y="787"/>
                  </a:lnTo>
                  <a:lnTo>
                    <a:pt x="4364" y="770"/>
                  </a:lnTo>
                  <a:lnTo>
                    <a:pt x="4316" y="753"/>
                  </a:lnTo>
                  <a:lnTo>
                    <a:pt x="4266" y="738"/>
                  </a:lnTo>
                  <a:lnTo>
                    <a:pt x="4217" y="724"/>
                  </a:lnTo>
                  <a:lnTo>
                    <a:pt x="4166" y="711"/>
                  </a:lnTo>
                  <a:lnTo>
                    <a:pt x="4116" y="699"/>
                  </a:lnTo>
                  <a:lnTo>
                    <a:pt x="4063" y="688"/>
                  </a:lnTo>
                  <a:lnTo>
                    <a:pt x="4011" y="677"/>
                  </a:lnTo>
                  <a:lnTo>
                    <a:pt x="3957" y="667"/>
                  </a:lnTo>
                  <a:lnTo>
                    <a:pt x="3903" y="659"/>
                  </a:lnTo>
                  <a:lnTo>
                    <a:pt x="3849" y="652"/>
                  </a:lnTo>
                  <a:lnTo>
                    <a:pt x="3793" y="646"/>
                  </a:lnTo>
                  <a:lnTo>
                    <a:pt x="3738" y="640"/>
                  </a:lnTo>
                  <a:lnTo>
                    <a:pt x="3680" y="636"/>
                  </a:lnTo>
                  <a:lnTo>
                    <a:pt x="3623" y="633"/>
                  </a:lnTo>
                  <a:lnTo>
                    <a:pt x="3565" y="630"/>
                  </a:lnTo>
                  <a:lnTo>
                    <a:pt x="3506" y="629"/>
                  </a:lnTo>
                  <a:lnTo>
                    <a:pt x="3447" y="628"/>
                  </a:lnTo>
                  <a:lnTo>
                    <a:pt x="3385" y="629"/>
                  </a:lnTo>
                  <a:lnTo>
                    <a:pt x="3325" y="630"/>
                  </a:lnTo>
                  <a:lnTo>
                    <a:pt x="3264" y="632"/>
                  </a:lnTo>
                  <a:lnTo>
                    <a:pt x="3204" y="636"/>
                  </a:lnTo>
                  <a:lnTo>
                    <a:pt x="3145" y="640"/>
                  </a:lnTo>
                  <a:lnTo>
                    <a:pt x="3086" y="645"/>
                  </a:lnTo>
                  <a:lnTo>
                    <a:pt x="3029" y="651"/>
                  </a:lnTo>
                  <a:lnTo>
                    <a:pt x="2971" y="658"/>
                  </a:lnTo>
                  <a:lnTo>
                    <a:pt x="2915" y="666"/>
                  </a:lnTo>
                  <a:lnTo>
                    <a:pt x="2858" y="675"/>
                  </a:lnTo>
                  <a:lnTo>
                    <a:pt x="2802" y="685"/>
                  </a:lnTo>
                  <a:lnTo>
                    <a:pt x="2748" y="697"/>
                  </a:lnTo>
                  <a:lnTo>
                    <a:pt x="2693" y="709"/>
                  </a:lnTo>
                  <a:lnTo>
                    <a:pt x="2639" y="721"/>
                  </a:lnTo>
                  <a:lnTo>
                    <a:pt x="2585" y="735"/>
                  </a:lnTo>
                  <a:lnTo>
                    <a:pt x="2533" y="750"/>
                  </a:lnTo>
                  <a:lnTo>
                    <a:pt x="2481" y="765"/>
                  </a:lnTo>
                  <a:lnTo>
                    <a:pt x="2429" y="783"/>
                  </a:lnTo>
                  <a:lnTo>
                    <a:pt x="2378" y="800"/>
                  </a:lnTo>
                  <a:lnTo>
                    <a:pt x="2328" y="818"/>
                  </a:lnTo>
                  <a:lnTo>
                    <a:pt x="2277" y="838"/>
                  </a:lnTo>
                  <a:lnTo>
                    <a:pt x="2229" y="859"/>
                  </a:lnTo>
                  <a:lnTo>
                    <a:pt x="2179" y="880"/>
                  </a:lnTo>
                  <a:lnTo>
                    <a:pt x="2132" y="902"/>
                  </a:lnTo>
                  <a:lnTo>
                    <a:pt x="2083" y="925"/>
                  </a:lnTo>
                  <a:lnTo>
                    <a:pt x="2037" y="950"/>
                  </a:lnTo>
                  <a:lnTo>
                    <a:pt x="1990" y="975"/>
                  </a:lnTo>
                  <a:lnTo>
                    <a:pt x="1944" y="1001"/>
                  </a:lnTo>
                  <a:lnTo>
                    <a:pt x="1898" y="1029"/>
                  </a:lnTo>
                  <a:lnTo>
                    <a:pt x="1854" y="1057"/>
                  </a:lnTo>
                  <a:lnTo>
                    <a:pt x="1809" y="1085"/>
                  </a:lnTo>
                  <a:lnTo>
                    <a:pt x="1766" y="1116"/>
                  </a:lnTo>
                  <a:lnTo>
                    <a:pt x="1734" y="1139"/>
                  </a:lnTo>
                  <a:lnTo>
                    <a:pt x="1702" y="1162"/>
                  </a:lnTo>
                  <a:lnTo>
                    <a:pt x="1671" y="1187"/>
                  </a:lnTo>
                  <a:lnTo>
                    <a:pt x="1641" y="1211"/>
                  </a:lnTo>
                  <a:lnTo>
                    <a:pt x="1610" y="1235"/>
                  </a:lnTo>
                  <a:lnTo>
                    <a:pt x="1581" y="1261"/>
                  </a:lnTo>
                  <a:lnTo>
                    <a:pt x="1551" y="1286"/>
                  </a:lnTo>
                  <a:lnTo>
                    <a:pt x="1523" y="1311"/>
                  </a:lnTo>
                  <a:lnTo>
                    <a:pt x="1494" y="1337"/>
                  </a:lnTo>
                  <a:lnTo>
                    <a:pt x="1466" y="1364"/>
                  </a:lnTo>
                  <a:lnTo>
                    <a:pt x="1439" y="1390"/>
                  </a:lnTo>
                  <a:lnTo>
                    <a:pt x="1411" y="1417"/>
                  </a:lnTo>
                  <a:lnTo>
                    <a:pt x="1385" y="1445"/>
                  </a:lnTo>
                  <a:lnTo>
                    <a:pt x="1359" y="1472"/>
                  </a:lnTo>
                  <a:lnTo>
                    <a:pt x="1334" y="1500"/>
                  </a:lnTo>
                  <a:lnTo>
                    <a:pt x="1308" y="1529"/>
                  </a:lnTo>
                  <a:lnTo>
                    <a:pt x="1284" y="1558"/>
                  </a:lnTo>
                  <a:lnTo>
                    <a:pt x="1260" y="1586"/>
                  </a:lnTo>
                  <a:lnTo>
                    <a:pt x="1236" y="1617"/>
                  </a:lnTo>
                  <a:lnTo>
                    <a:pt x="1212" y="1646"/>
                  </a:lnTo>
                  <a:lnTo>
                    <a:pt x="1190" y="1677"/>
                  </a:lnTo>
                  <a:lnTo>
                    <a:pt x="1168" y="1707"/>
                  </a:lnTo>
                  <a:lnTo>
                    <a:pt x="1146" y="1738"/>
                  </a:lnTo>
                  <a:lnTo>
                    <a:pt x="1125" y="1770"/>
                  </a:lnTo>
                  <a:lnTo>
                    <a:pt x="1103" y="1801"/>
                  </a:lnTo>
                  <a:lnTo>
                    <a:pt x="1083" y="1834"/>
                  </a:lnTo>
                  <a:lnTo>
                    <a:pt x="1063" y="1866"/>
                  </a:lnTo>
                  <a:lnTo>
                    <a:pt x="1044" y="1898"/>
                  </a:lnTo>
                  <a:lnTo>
                    <a:pt x="1025" y="1932"/>
                  </a:lnTo>
                  <a:lnTo>
                    <a:pt x="1005" y="1965"/>
                  </a:lnTo>
                  <a:lnTo>
                    <a:pt x="987" y="1999"/>
                  </a:lnTo>
                  <a:lnTo>
                    <a:pt x="970" y="2033"/>
                  </a:lnTo>
                  <a:lnTo>
                    <a:pt x="953" y="2067"/>
                  </a:lnTo>
                  <a:lnTo>
                    <a:pt x="936" y="2102"/>
                  </a:lnTo>
                  <a:lnTo>
                    <a:pt x="919" y="2136"/>
                  </a:lnTo>
                  <a:lnTo>
                    <a:pt x="904" y="2172"/>
                  </a:lnTo>
                  <a:lnTo>
                    <a:pt x="889" y="2206"/>
                  </a:lnTo>
                  <a:lnTo>
                    <a:pt x="875" y="2241"/>
                  </a:lnTo>
                  <a:lnTo>
                    <a:pt x="861" y="2277"/>
                  </a:lnTo>
                  <a:lnTo>
                    <a:pt x="848" y="2312"/>
                  </a:lnTo>
                  <a:lnTo>
                    <a:pt x="835" y="2349"/>
                  </a:lnTo>
                  <a:lnTo>
                    <a:pt x="823" y="2384"/>
                  </a:lnTo>
                  <a:lnTo>
                    <a:pt x="810" y="2421"/>
                  </a:lnTo>
                  <a:lnTo>
                    <a:pt x="799" y="2457"/>
                  </a:lnTo>
                  <a:lnTo>
                    <a:pt x="788" y="2494"/>
                  </a:lnTo>
                  <a:lnTo>
                    <a:pt x="778" y="2531"/>
                  </a:lnTo>
                  <a:lnTo>
                    <a:pt x="769" y="2567"/>
                  </a:lnTo>
                  <a:lnTo>
                    <a:pt x="760" y="2605"/>
                  </a:lnTo>
                  <a:lnTo>
                    <a:pt x="752" y="2642"/>
                  </a:lnTo>
                  <a:lnTo>
                    <a:pt x="744" y="2680"/>
                  </a:lnTo>
                  <a:lnTo>
                    <a:pt x="736" y="2717"/>
                  </a:lnTo>
                  <a:lnTo>
                    <a:pt x="730" y="2755"/>
                  </a:lnTo>
                  <a:lnTo>
                    <a:pt x="723" y="2793"/>
                  </a:lnTo>
                  <a:lnTo>
                    <a:pt x="717" y="2831"/>
                  </a:lnTo>
                  <a:lnTo>
                    <a:pt x="712" y="2869"/>
                  </a:lnTo>
                  <a:lnTo>
                    <a:pt x="707" y="2908"/>
                  </a:lnTo>
                  <a:lnTo>
                    <a:pt x="703" y="2947"/>
                  </a:lnTo>
                  <a:lnTo>
                    <a:pt x="700" y="2986"/>
                  </a:lnTo>
                  <a:lnTo>
                    <a:pt x="696" y="3025"/>
                  </a:lnTo>
                  <a:lnTo>
                    <a:pt x="694" y="3064"/>
                  </a:lnTo>
                  <a:lnTo>
                    <a:pt x="692" y="3103"/>
                  </a:lnTo>
                  <a:lnTo>
                    <a:pt x="691" y="3144"/>
                  </a:lnTo>
                  <a:lnTo>
                    <a:pt x="690" y="3183"/>
                  </a:lnTo>
                  <a:lnTo>
                    <a:pt x="690" y="3222"/>
                  </a:lnTo>
                  <a:lnTo>
                    <a:pt x="690" y="3285"/>
                  </a:lnTo>
                  <a:lnTo>
                    <a:pt x="692" y="3347"/>
                  </a:lnTo>
                  <a:lnTo>
                    <a:pt x="696" y="3409"/>
                  </a:lnTo>
                  <a:lnTo>
                    <a:pt x="700" y="3468"/>
                  </a:lnTo>
                  <a:lnTo>
                    <a:pt x="706" y="3528"/>
                  </a:lnTo>
                  <a:lnTo>
                    <a:pt x="713" y="3587"/>
                  </a:lnTo>
                  <a:lnTo>
                    <a:pt x="723" y="3645"/>
                  </a:lnTo>
                  <a:lnTo>
                    <a:pt x="733" y="3702"/>
                  </a:lnTo>
                  <a:lnTo>
                    <a:pt x="744" y="3758"/>
                  </a:lnTo>
                  <a:lnTo>
                    <a:pt x="756" y="3814"/>
                  </a:lnTo>
                  <a:lnTo>
                    <a:pt x="770" y="3868"/>
                  </a:lnTo>
                  <a:lnTo>
                    <a:pt x="785" y="3922"/>
                  </a:lnTo>
                  <a:lnTo>
                    <a:pt x="801" y="3976"/>
                  </a:lnTo>
                  <a:lnTo>
                    <a:pt x="819" y="4027"/>
                  </a:lnTo>
                  <a:lnTo>
                    <a:pt x="839" y="4079"/>
                  </a:lnTo>
                  <a:lnTo>
                    <a:pt x="859" y="4130"/>
                  </a:lnTo>
                  <a:lnTo>
                    <a:pt x="881" y="4180"/>
                  </a:lnTo>
                  <a:lnTo>
                    <a:pt x="904" y="4229"/>
                  </a:lnTo>
                  <a:lnTo>
                    <a:pt x="929" y="4277"/>
                  </a:lnTo>
                  <a:lnTo>
                    <a:pt x="954" y="4325"/>
                  </a:lnTo>
                  <a:lnTo>
                    <a:pt x="981" y="4372"/>
                  </a:lnTo>
                  <a:lnTo>
                    <a:pt x="1009" y="4417"/>
                  </a:lnTo>
                  <a:lnTo>
                    <a:pt x="1040" y="4463"/>
                  </a:lnTo>
                  <a:lnTo>
                    <a:pt x="1071" y="4506"/>
                  </a:lnTo>
                  <a:lnTo>
                    <a:pt x="1103" y="4550"/>
                  </a:lnTo>
                  <a:lnTo>
                    <a:pt x="1137" y="4592"/>
                  </a:lnTo>
                  <a:lnTo>
                    <a:pt x="1172" y="4635"/>
                  </a:lnTo>
                  <a:lnTo>
                    <a:pt x="1208" y="4675"/>
                  </a:lnTo>
                  <a:lnTo>
                    <a:pt x="1246" y="4716"/>
                  </a:lnTo>
                  <a:lnTo>
                    <a:pt x="1285" y="4755"/>
                  </a:lnTo>
                  <a:lnTo>
                    <a:pt x="1326" y="4794"/>
                  </a:lnTo>
                  <a:lnTo>
                    <a:pt x="1367" y="4831"/>
                  </a:lnTo>
                  <a:lnTo>
                    <a:pt x="1409" y="4869"/>
                  </a:lnTo>
                  <a:lnTo>
                    <a:pt x="1453" y="4904"/>
                  </a:lnTo>
                  <a:lnTo>
                    <a:pt x="1497" y="4938"/>
                  </a:lnTo>
                  <a:lnTo>
                    <a:pt x="1543" y="4972"/>
                  </a:lnTo>
                  <a:lnTo>
                    <a:pt x="1589" y="5004"/>
                  </a:lnTo>
                  <a:lnTo>
                    <a:pt x="1637" y="5036"/>
                  </a:lnTo>
                  <a:lnTo>
                    <a:pt x="1684" y="5066"/>
                  </a:lnTo>
                  <a:lnTo>
                    <a:pt x="1734" y="5094"/>
                  </a:lnTo>
                  <a:lnTo>
                    <a:pt x="1783" y="5122"/>
                  </a:lnTo>
                  <a:lnTo>
                    <a:pt x="1834" y="5148"/>
                  </a:lnTo>
                  <a:lnTo>
                    <a:pt x="1886" y="5173"/>
                  </a:lnTo>
                  <a:lnTo>
                    <a:pt x="1939" y="5198"/>
                  </a:lnTo>
                  <a:lnTo>
                    <a:pt x="1992" y="5220"/>
                  </a:lnTo>
                  <a:lnTo>
                    <a:pt x="2047" y="5242"/>
                  </a:lnTo>
                  <a:lnTo>
                    <a:pt x="2101" y="5262"/>
                  </a:lnTo>
                  <a:lnTo>
                    <a:pt x="2158" y="5282"/>
                  </a:lnTo>
                  <a:lnTo>
                    <a:pt x="2214" y="5300"/>
                  </a:lnTo>
                  <a:lnTo>
                    <a:pt x="2273" y="5317"/>
                  </a:lnTo>
                  <a:lnTo>
                    <a:pt x="2332" y="5332"/>
                  </a:lnTo>
                  <a:lnTo>
                    <a:pt x="2391" y="5347"/>
                  </a:lnTo>
                  <a:lnTo>
                    <a:pt x="2452" y="5361"/>
                  </a:lnTo>
                  <a:lnTo>
                    <a:pt x="2513" y="5373"/>
                  </a:lnTo>
                  <a:lnTo>
                    <a:pt x="2576" y="5384"/>
                  </a:lnTo>
                  <a:lnTo>
                    <a:pt x="2640" y="5394"/>
                  </a:lnTo>
                  <a:lnTo>
                    <a:pt x="2703" y="5403"/>
                  </a:lnTo>
                  <a:lnTo>
                    <a:pt x="2769" y="5410"/>
                  </a:lnTo>
                  <a:lnTo>
                    <a:pt x="2835" y="5416"/>
                  </a:lnTo>
                  <a:lnTo>
                    <a:pt x="2902" y="5422"/>
                  </a:lnTo>
                  <a:lnTo>
                    <a:pt x="2970" y="5426"/>
                  </a:lnTo>
                  <a:lnTo>
                    <a:pt x="3039" y="5429"/>
                  </a:lnTo>
                  <a:lnTo>
                    <a:pt x="3108" y="5430"/>
                  </a:lnTo>
                  <a:lnTo>
                    <a:pt x="3179" y="5431"/>
                  </a:lnTo>
                  <a:lnTo>
                    <a:pt x="3248" y="5430"/>
                  </a:lnTo>
                  <a:lnTo>
                    <a:pt x="3316" y="5428"/>
                  </a:lnTo>
                  <a:lnTo>
                    <a:pt x="3383" y="5425"/>
                  </a:lnTo>
                  <a:lnTo>
                    <a:pt x="3450" y="5421"/>
                  </a:lnTo>
                  <a:lnTo>
                    <a:pt x="3518" y="5416"/>
                  </a:lnTo>
                  <a:lnTo>
                    <a:pt x="3584" y="5409"/>
                  </a:lnTo>
                  <a:lnTo>
                    <a:pt x="3650" y="5401"/>
                  </a:lnTo>
                  <a:lnTo>
                    <a:pt x="3717" y="5392"/>
                  </a:lnTo>
                  <a:lnTo>
                    <a:pt x="3781" y="5382"/>
                  </a:lnTo>
                  <a:lnTo>
                    <a:pt x="3847" y="5370"/>
                  </a:lnTo>
                  <a:lnTo>
                    <a:pt x="3912" y="5357"/>
                  </a:lnTo>
                  <a:lnTo>
                    <a:pt x="3977" y="5342"/>
                  </a:lnTo>
                  <a:lnTo>
                    <a:pt x="4041" y="5327"/>
                  </a:lnTo>
                  <a:lnTo>
                    <a:pt x="4105" y="5310"/>
                  </a:lnTo>
                  <a:lnTo>
                    <a:pt x="4169" y="5292"/>
                  </a:lnTo>
                  <a:lnTo>
                    <a:pt x="4233" y="5273"/>
                  </a:lnTo>
                  <a:lnTo>
                    <a:pt x="4295" y="5252"/>
                  </a:lnTo>
                  <a:lnTo>
                    <a:pt x="4358" y="5231"/>
                  </a:lnTo>
                  <a:lnTo>
                    <a:pt x="4420" y="5208"/>
                  </a:lnTo>
                  <a:lnTo>
                    <a:pt x="4481" y="5184"/>
                  </a:lnTo>
                  <a:lnTo>
                    <a:pt x="4541" y="5159"/>
                  </a:lnTo>
                  <a:lnTo>
                    <a:pt x="4601" y="5133"/>
                  </a:lnTo>
                  <a:lnTo>
                    <a:pt x="4660" y="5107"/>
                  </a:lnTo>
                  <a:lnTo>
                    <a:pt x="4719" y="5078"/>
                  </a:lnTo>
                  <a:lnTo>
                    <a:pt x="4777" y="5049"/>
                  </a:lnTo>
                  <a:lnTo>
                    <a:pt x="4834" y="5017"/>
                  </a:lnTo>
                  <a:lnTo>
                    <a:pt x="4891" y="4986"/>
                  </a:lnTo>
                  <a:lnTo>
                    <a:pt x="4947" y="4953"/>
                  </a:lnTo>
                  <a:lnTo>
                    <a:pt x="5002" y="4919"/>
                  </a:lnTo>
                  <a:lnTo>
                    <a:pt x="5057" y="4884"/>
                  </a:lnTo>
                  <a:lnTo>
                    <a:pt x="5112" y="4847"/>
                  </a:lnTo>
                  <a:lnTo>
                    <a:pt x="5165" y="4810"/>
                  </a:lnTo>
                  <a:lnTo>
                    <a:pt x="5488" y="5261"/>
                  </a:lnTo>
                  <a:lnTo>
                    <a:pt x="5424" y="5309"/>
                  </a:lnTo>
                  <a:lnTo>
                    <a:pt x="5358" y="5356"/>
                  </a:lnTo>
                  <a:lnTo>
                    <a:pt x="5291" y="5401"/>
                  </a:lnTo>
                  <a:lnTo>
                    <a:pt x="5226" y="5445"/>
                  </a:lnTo>
                  <a:lnTo>
                    <a:pt x="5158" y="5486"/>
                  </a:lnTo>
                  <a:lnTo>
                    <a:pt x="5091" y="5527"/>
                  </a:lnTo>
                  <a:lnTo>
                    <a:pt x="5024" y="5565"/>
                  </a:lnTo>
                  <a:lnTo>
                    <a:pt x="4955" y="5603"/>
                  </a:lnTo>
                  <a:lnTo>
                    <a:pt x="4886" y="5638"/>
                  </a:lnTo>
                  <a:lnTo>
                    <a:pt x="4818" y="5672"/>
                  </a:lnTo>
                  <a:lnTo>
                    <a:pt x="4748" y="5705"/>
                  </a:lnTo>
                  <a:lnTo>
                    <a:pt x="4677" y="5736"/>
                  </a:lnTo>
                  <a:lnTo>
                    <a:pt x="4608" y="5766"/>
                  </a:lnTo>
                  <a:lnTo>
                    <a:pt x="4536" y="5794"/>
                  </a:lnTo>
                  <a:lnTo>
                    <a:pt x="4465" y="5820"/>
                  </a:lnTo>
                  <a:lnTo>
                    <a:pt x="4393" y="5846"/>
                  </a:lnTo>
                  <a:lnTo>
                    <a:pt x="4321" y="5869"/>
                  </a:lnTo>
                  <a:lnTo>
                    <a:pt x="4248" y="5890"/>
                  </a:lnTo>
                  <a:lnTo>
                    <a:pt x="4174" y="5911"/>
                  </a:lnTo>
                  <a:lnTo>
                    <a:pt x="4100" y="5930"/>
                  </a:lnTo>
                  <a:lnTo>
                    <a:pt x="4027" y="5947"/>
                  </a:lnTo>
                  <a:lnTo>
                    <a:pt x="3952" y="5963"/>
                  </a:lnTo>
                  <a:lnTo>
                    <a:pt x="3876" y="5977"/>
                  </a:lnTo>
                  <a:lnTo>
                    <a:pt x="3801" y="5990"/>
                  </a:lnTo>
                  <a:lnTo>
                    <a:pt x="3725" y="6001"/>
                  </a:lnTo>
                  <a:lnTo>
                    <a:pt x="3648" y="6012"/>
                  </a:lnTo>
                  <a:lnTo>
                    <a:pt x="3571" y="6020"/>
                  </a:lnTo>
                  <a:lnTo>
                    <a:pt x="3493" y="6027"/>
                  </a:lnTo>
                  <a:lnTo>
                    <a:pt x="3416" y="6032"/>
                  </a:lnTo>
                  <a:lnTo>
                    <a:pt x="3338" y="6036"/>
                  </a:lnTo>
                  <a:lnTo>
                    <a:pt x="3258" y="6038"/>
                  </a:lnTo>
                  <a:lnTo>
                    <a:pt x="3179" y="6039"/>
                  </a:lnTo>
                  <a:lnTo>
                    <a:pt x="3099" y="6038"/>
                  </a:lnTo>
                  <a:lnTo>
                    <a:pt x="3021" y="6037"/>
                  </a:lnTo>
                  <a:lnTo>
                    <a:pt x="2943" y="6034"/>
                  </a:lnTo>
                  <a:lnTo>
                    <a:pt x="2866" y="6029"/>
                  </a:lnTo>
                  <a:lnTo>
                    <a:pt x="2789" y="6023"/>
                  </a:lnTo>
                  <a:lnTo>
                    <a:pt x="2713" y="6016"/>
                  </a:lnTo>
                  <a:lnTo>
                    <a:pt x="2639" y="6008"/>
                  </a:lnTo>
                  <a:lnTo>
                    <a:pt x="2564" y="5998"/>
                  </a:lnTo>
                  <a:lnTo>
                    <a:pt x="2491" y="5987"/>
                  </a:lnTo>
                  <a:lnTo>
                    <a:pt x="2419" y="5975"/>
                  </a:lnTo>
                  <a:lnTo>
                    <a:pt x="2346" y="5962"/>
                  </a:lnTo>
                  <a:lnTo>
                    <a:pt x="2275" y="5947"/>
                  </a:lnTo>
                  <a:lnTo>
                    <a:pt x="2204" y="5931"/>
                  </a:lnTo>
                  <a:lnTo>
                    <a:pt x="2135" y="5913"/>
                  </a:lnTo>
                  <a:lnTo>
                    <a:pt x="2066" y="5895"/>
                  </a:lnTo>
                  <a:lnTo>
                    <a:pt x="1998" y="5875"/>
                  </a:lnTo>
                  <a:lnTo>
                    <a:pt x="1931" y="5854"/>
                  </a:lnTo>
                  <a:lnTo>
                    <a:pt x="1865" y="5831"/>
                  </a:lnTo>
                  <a:lnTo>
                    <a:pt x="1799" y="5808"/>
                  </a:lnTo>
                  <a:lnTo>
                    <a:pt x="1736" y="5784"/>
                  </a:lnTo>
                  <a:lnTo>
                    <a:pt x="1672" y="5757"/>
                  </a:lnTo>
                  <a:lnTo>
                    <a:pt x="1609" y="5730"/>
                  </a:lnTo>
                  <a:lnTo>
                    <a:pt x="1548" y="5702"/>
                  </a:lnTo>
                  <a:lnTo>
                    <a:pt x="1487" y="5672"/>
                  </a:lnTo>
                  <a:lnTo>
                    <a:pt x="1428" y="5642"/>
                  </a:lnTo>
                  <a:lnTo>
                    <a:pt x="1369" y="5610"/>
                  </a:lnTo>
                  <a:lnTo>
                    <a:pt x="1311" y="5576"/>
                  </a:lnTo>
                  <a:lnTo>
                    <a:pt x="1255" y="5542"/>
                  </a:lnTo>
                  <a:lnTo>
                    <a:pt x="1198" y="5506"/>
                  </a:lnTo>
                  <a:lnTo>
                    <a:pt x="1144" y="5469"/>
                  </a:lnTo>
                  <a:lnTo>
                    <a:pt x="1090" y="5430"/>
                  </a:lnTo>
                  <a:lnTo>
                    <a:pt x="1037" y="5391"/>
                  </a:lnTo>
                  <a:lnTo>
                    <a:pt x="1004" y="5366"/>
                  </a:lnTo>
                  <a:lnTo>
                    <a:pt x="972" y="5340"/>
                  </a:lnTo>
                  <a:lnTo>
                    <a:pt x="941" y="5314"/>
                  </a:lnTo>
                  <a:lnTo>
                    <a:pt x="910" y="5288"/>
                  </a:lnTo>
                  <a:lnTo>
                    <a:pt x="880" y="5260"/>
                  </a:lnTo>
                  <a:lnTo>
                    <a:pt x="850" y="5234"/>
                  </a:lnTo>
                  <a:lnTo>
                    <a:pt x="820" y="5207"/>
                  </a:lnTo>
                  <a:lnTo>
                    <a:pt x="792" y="5179"/>
                  </a:lnTo>
                  <a:lnTo>
                    <a:pt x="764" y="5152"/>
                  </a:lnTo>
                  <a:lnTo>
                    <a:pt x="736" y="5124"/>
                  </a:lnTo>
                  <a:lnTo>
                    <a:pt x="708" y="5096"/>
                  </a:lnTo>
                  <a:lnTo>
                    <a:pt x="682" y="5068"/>
                  </a:lnTo>
                  <a:lnTo>
                    <a:pt x="656" y="5039"/>
                  </a:lnTo>
                  <a:lnTo>
                    <a:pt x="630" y="5010"/>
                  </a:lnTo>
                  <a:lnTo>
                    <a:pt x="605" y="4981"/>
                  </a:lnTo>
                  <a:lnTo>
                    <a:pt x="580" y="4952"/>
                  </a:lnTo>
                  <a:lnTo>
                    <a:pt x="556" y="4922"/>
                  </a:lnTo>
                  <a:lnTo>
                    <a:pt x="533" y="4893"/>
                  </a:lnTo>
                  <a:lnTo>
                    <a:pt x="509" y="4863"/>
                  </a:lnTo>
                  <a:lnTo>
                    <a:pt x="487" y="4832"/>
                  </a:lnTo>
                  <a:lnTo>
                    <a:pt x="465" y="4802"/>
                  </a:lnTo>
                  <a:lnTo>
                    <a:pt x="444" y="4771"/>
                  </a:lnTo>
                  <a:lnTo>
                    <a:pt x="422" y="4740"/>
                  </a:lnTo>
                  <a:lnTo>
                    <a:pt x="402" y="4709"/>
                  </a:lnTo>
                  <a:lnTo>
                    <a:pt x="382" y="4677"/>
                  </a:lnTo>
                  <a:lnTo>
                    <a:pt x="363" y="4646"/>
                  </a:lnTo>
                  <a:lnTo>
                    <a:pt x="344" y="4615"/>
                  </a:lnTo>
                  <a:lnTo>
                    <a:pt x="326" y="4582"/>
                  </a:lnTo>
                  <a:lnTo>
                    <a:pt x="308" y="4550"/>
                  </a:lnTo>
                  <a:lnTo>
                    <a:pt x="291" y="4517"/>
                  </a:lnTo>
                  <a:lnTo>
                    <a:pt x="274" y="4484"/>
                  </a:lnTo>
                  <a:lnTo>
                    <a:pt x="258" y="4451"/>
                  </a:lnTo>
                  <a:lnTo>
                    <a:pt x="242" y="4417"/>
                  </a:lnTo>
                  <a:lnTo>
                    <a:pt x="227" y="4384"/>
                  </a:lnTo>
                  <a:lnTo>
                    <a:pt x="211" y="4349"/>
                  </a:lnTo>
                  <a:lnTo>
                    <a:pt x="197" y="4315"/>
                  </a:lnTo>
                  <a:lnTo>
                    <a:pt x="183" y="4280"/>
                  </a:lnTo>
                  <a:lnTo>
                    <a:pt x="170" y="4246"/>
                  </a:lnTo>
                  <a:lnTo>
                    <a:pt x="157" y="4211"/>
                  </a:lnTo>
                  <a:lnTo>
                    <a:pt x="145" y="4175"/>
                  </a:lnTo>
                  <a:lnTo>
                    <a:pt x="134" y="4140"/>
                  </a:lnTo>
                  <a:lnTo>
                    <a:pt x="121" y="4103"/>
                  </a:lnTo>
                  <a:lnTo>
                    <a:pt x="111" y="4068"/>
                  </a:lnTo>
                  <a:lnTo>
                    <a:pt x="101" y="4031"/>
                  </a:lnTo>
                  <a:lnTo>
                    <a:pt x="91" y="3994"/>
                  </a:lnTo>
                  <a:lnTo>
                    <a:pt x="82" y="3957"/>
                  </a:lnTo>
                  <a:lnTo>
                    <a:pt x="73" y="3920"/>
                  </a:lnTo>
                  <a:lnTo>
                    <a:pt x="65" y="3883"/>
                  </a:lnTo>
                  <a:lnTo>
                    <a:pt x="57" y="3844"/>
                  </a:lnTo>
                  <a:lnTo>
                    <a:pt x="50" y="3807"/>
                  </a:lnTo>
                  <a:lnTo>
                    <a:pt x="43" y="3768"/>
                  </a:lnTo>
                  <a:lnTo>
                    <a:pt x="37" y="3729"/>
                  </a:lnTo>
                  <a:lnTo>
                    <a:pt x="31" y="3690"/>
                  </a:lnTo>
                  <a:lnTo>
                    <a:pt x="26" y="3651"/>
                  </a:lnTo>
                  <a:lnTo>
                    <a:pt x="20" y="3611"/>
                  </a:lnTo>
                  <a:lnTo>
                    <a:pt x="16" y="3572"/>
                  </a:lnTo>
                  <a:lnTo>
                    <a:pt x="12" y="3531"/>
                  </a:lnTo>
                  <a:lnTo>
                    <a:pt x="9" y="3491"/>
                  </a:lnTo>
                  <a:lnTo>
                    <a:pt x="6" y="3450"/>
                  </a:lnTo>
                  <a:lnTo>
                    <a:pt x="4" y="3410"/>
                  </a:lnTo>
                  <a:lnTo>
                    <a:pt x="3" y="3368"/>
                  </a:lnTo>
                  <a:lnTo>
                    <a:pt x="1" y="3327"/>
                  </a:lnTo>
                  <a:lnTo>
                    <a:pt x="1" y="3285"/>
                  </a:lnTo>
                  <a:lnTo>
                    <a:pt x="0" y="3244"/>
                  </a:lnTo>
                  <a:lnTo>
                    <a:pt x="1" y="3173"/>
                  </a:lnTo>
                  <a:lnTo>
                    <a:pt x="3" y="3103"/>
                  </a:lnTo>
                  <a:lnTo>
                    <a:pt x="6" y="3034"/>
                  </a:lnTo>
                  <a:lnTo>
                    <a:pt x="11" y="2964"/>
                  </a:lnTo>
                  <a:lnTo>
                    <a:pt x="17" y="2897"/>
                  </a:lnTo>
                  <a:lnTo>
                    <a:pt x="26" y="2829"/>
                  </a:lnTo>
                  <a:lnTo>
                    <a:pt x="35" y="2761"/>
                  </a:lnTo>
                  <a:lnTo>
                    <a:pt x="45" y="2694"/>
                  </a:lnTo>
                  <a:lnTo>
                    <a:pt x="57" y="2627"/>
                  </a:lnTo>
                  <a:lnTo>
                    <a:pt x="70" y="2560"/>
                  </a:lnTo>
                  <a:lnTo>
                    <a:pt x="84" y="2495"/>
                  </a:lnTo>
                  <a:lnTo>
                    <a:pt x="100" y="2430"/>
                  </a:lnTo>
                  <a:lnTo>
                    <a:pt x="117" y="2365"/>
                  </a:lnTo>
                  <a:lnTo>
                    <a:pt x="136" y="2300"/>
                  </a:lnTo>
                  <a:lnTo>
                    <a:pt x="156" y="2236"/>
                  </a:lnTo>
                  <a:lnTo>
                    <a:pt x="177" y="2173"/>
                  </a:lnTo>
                  <a:lnTo>
                    <a:pt x="199" y="2110"/>
                  </a:lnTo>
                  <a:lnTo>
                    <a:pt x="223" y="2047"/>
                  </a:lnTo>
                  <a:lnTo>
                    <a:pt x="249" y="1986"/>
                  </a:lnTo>
                  <a:lnTo>
                    <a:pt x="276" y="1925"/>
                  </a:lnTo>
                  <a:lnTo>
                    <a:pt x="303" y="1865"/>
                  </a:lnTo>
                  <a:lnTo>
                    <a:pt x="333" y="1805"/>
                  </a:lnTo>
                  <a:lnTo>
                    <a:pt x="364" y="1746"/>
                  </a:lnTo>
                  <a:lnTo>
                    <a:pt x="395" y="1688"/>
                  </a:lnTo>
                  <a:lnTo>
                    <a:pt x="429" y="1630"/>
                  </a:lnTo>
                  <a:lnTo>
                    <a:pt x="463" y="1573"/>
                  </a:lnTo>
                  <a:lnTo>
                    <a:pt x="498" y="1518"/>
                  </a:lnTo>
                  <a:lnTo>
                    <a:pt x="536" y="1462"/>
                  </a:lnTo>
                  <a:lnTo>
                    <a:pt x="574" y="1406"/>
                  </a:lnTo>
                  <a:lnTo>
                    <a:pt x="613" y="1353"/>
                  </a:lnTo>
                  <a:lnTo>
                    <a:pt x="655" y="1299"/>
                  </a:lnTo>
                  <a:lnTo>
                    <a:pt x="697" y="1245"/>
                  </a:lnTo>
                  <a:lnTo>
                    <a:pt x="728" y="1208"/>
                  </a:lnTo>
                  <a:lnTo>
                    <a:pt x="759" y="1170"/>
                  </a:lnTo>
                  <a:lnTo>
                    <a:pt x="791" y="1134"/>
                  </a:lnTo>
                  <a:lnTo>
                    <a:pt x="824" y="1098"/>
                  </a:lnTo>
                  <a:lnTo>
                    <a:pt x="856" y="1062"/>
                  </a:lnTo>
                  <a:lnTo>
                    <a:pt x="889" y="1027"/>
                  </a:lnTo>
                  <a:lnTo>
                    <a:pt x="923" y="992"/>
                  </a:lnTo>
                  <a:lnTo>
                    <a:pt x="957" y="958"/>
                  </a:lnTo>
                  <a:lnTo>
                    <a:pt x="991" y="925"/>
                  </a:lnTo>
                  <a:lnTo>
                    <a:pt x="1026" y="892"/>
                  </a:lnTo>
                  <a:lnTo>
                    <a:pt x="1061" y="860"/>
                  </a:lnTo>
                  <a:lnTo>
                    <a:pt x="1096" y="828"/>
                  </a:lnTo>
                  <a:lnTo>
                    <a:pt x="1133" y="798"/>
                  </a:lnTo>
                  <a:lnTo>
                    <a:pt x="1169" y="766"/>
                  </a:lnTo>
                  <a:lnTo>
                    <a:pt x="1205" y="737"/>
                  </a:lnTo>
                  <a:lnTo>
                    <a:pt x="1243" y="708"/>
                  </a:lnTo>
                  <a:lnTo>
                    <a:pt x="1280" y="679"/>
                  </a:lnTo>
                  <a:lnTo>
                    <a:pt x="1318" y="651"/>
                  </a:lnTo>
                  <a:lnTo>
                    <a:pt x="1357" y="624"/>
                  </a:lnTo>
                  <a:lnTo>
                    <a:pt x="1396" y="596"/>
                  </a:lnTo>
                  <a:lnTo>
                    <a:pt x="1435" y="570"/>
                  </a:lnTo>
                  <a:lnTo>
                    <a:pt x="1475" y="544"/>
                  </a:lnTo>
                  <a:lnTo>
                    <a:pt x="1514" y="518"/>
                  </a:lnTo>
                  <a:lnTo>
                    <a:pt x="1556" y="494"/>
                  </a:lnTo>
                  <a:lnTo>
                    <a:pt x="1596" y="470"/>
                  </a:lnTo>
                  <a:lnTo>
                    <a:pt x="1638" y="447"/>
                  </a:lnTo>
                  <a:lnTo>
                    <a:pt x="1679" y="423"/>
                  </a:lnTo>
                  <a:lnTo>
                    <a:pt x="1722" y="401"/>
                  </a:lnTo>
                  <a:lnTo>
                    <a:pt x="1764" y="379"/>
                  </a:lnTo>
                  <a:lnTo>
                    <a:pt x="1807" y="357"/>
                  </a:lnTo>
                  <a:lnTo>
                    <a:pt x="1851" y="337"/>
                  </a:lnTo>
                  <a:lnTo>
                    <a:pt x="1894" y="317"/>
                  </a:lnTo>
                  <a:lnTo>
                    <a:pt x="1939" y="297"/>
                  </a:lnTo>
                  <a:lnTo>
                    <a:pt x="1983" y="279"/>
                  </a:lnTo>
                  <a:lnTo>
                    <a:pt x="2028" y="260"/>
                  </a:lnTo>
                  <a:lnTo>
                    <a:pt x="2073" y="242"/>
                  </a:lnTo>
                  <a:lnTo>
                    <a:pt x="2119" y="226"/>
                  </a:lnTo>
                  <a:lnTo>
                    <a:pt x="2164" y="209"/>
                  </a:lnTo>
                  <a:lnTo>
                    <a:pt x="2210" y="193"/>
                  </a:lnTo>
                  <a:lnTo>
                    <a:pt x="2257" y="178"/>
                  </a:lnTo>
                  <a:lnTo>
                    <a:pt x="2303" y="164"/>
                  </a:lnTo>
                  <a:lnTo>
                    <a:pt x="2350" y="150"/>
                  </a:lnTo>
                  <a:lnTo>
                    <a:pt x="2396" y="137"/>
                  </a:lnTo>
                  <a:lnTo>
                    <a:pt x="2444" y="124"/>
                  </a:lnTo>
                  <a:lnTo>
                    <a:pt x="2492" y="111"/>
                  </a:lnTo>
                  <a:lnTo>
                    <a:pt x="2540" y="100"/>
                  </a:lnTo>
                  <a:lnTo>
                    <a:pt x="2588" y="89"/>
                  </a:lnTo>
                  <a:lnTo>
                    <a:pt x="2637" y="79"/>
                  </a:lnTo>
                  <a:lnTo>
                    <a:pt x="2685" y="70"/>
                  </a:lnTo>
                  <a:lnTo>
                    <a:pt x="2735" y="61"/>
                  </a:lnTo>
                  <a:lnTo>
                    <a:pt x="2784" y="52"/>
                  </a:lnTo>
                  <a:lnTo>
                    <a:pt x="2834" y="45"/>
                  </a:lnTo>
                  <a:lnTo>
                    <a:pt x="2884" y="38"/>
                  </a:lnTo>
                  <a:lnTo>
                    <a:pt x="2935" y="30"/>
                  </a:lnTo>
                  <a:lnTo>
                    <a:pt x="2985" y="24"/>
                  </a:lnTo>
                  <a:lnTo>
                    <a:pt x="3036" y="19"/>
                  </a:lnTo>
                  <a:lnTo>
                    <a:pt x="3087" y="15"/>
                  </a:lnTo>
                  <a:lnTo>
                    <a:pt x="3139" y="11"/>
                  </a:lnTo>
                  <a:lnTo>
                    <a:pt x="3190" y="7"/>
                  </a:lnTo>
                  <a:lnTo>
                    <a:pt x="3242" y="4"/>
                  </a:lnTo>
                  <a:lnTo>
                    <a:pt x="3294" y="2"/>
                  </a:lnTo>
                  <a:lnTo>
                    <a:pt x="3347" y="1"/>
                  </a:lnTo>
                  <a:lnTo>
                    <a:pt x="3400" y="0"/>
                  </a:lnTo>
                  <a:lnTo>
                    <a:pt x="3453" y="0"/>
                  </a:lnTo>
                  <a:lnTo>
                    <a:pt x="3524" y="0"/>
                  </a:lnTo>
                  <a:lnTo>
                    <a:pt x="3593" y="2"/>
                  </a:lnTo>
                  <a:lnTo>
                    <a:pt x="3663" y="5"/>
                  </a:lnTo>
                  <a:lnTo>
                    <a:pt x="3733" y="9"/>
                  </a:lnTo>
                  <a:lnTo>
                    <a:pt x="3800" y="15"/>
                  </a:lnTo>
                  <a:lnTo>
                    <a:pt x="3869" y="21"/>
                  </a:lnTo>
                  <a:lnTo>
                    <a:pt x="3936" y="29"/>
                  </a:lnTo>
                  <a:lnTo>
                    <a:pt x="4002" y="39"/>
                  </a:lnTo>
                  <a:lnTo>
                    <a:pt x="4069" y="49"/>
                  </a:lnTo>
                  <a:lnTo>
                    <a:pt x="4135" y="60"/>
                  </a:lnTo>
                  <a:lnTo>
                    <a:pt x="4200" y="73"/>
                  </a:lnTo>
                  <a:lnTo>
                    <a:pt x="4265" y="86"/>
                  </a:lnTo>
                  <a:lnTo>
                    <a:pt x="4330" y="101"/>
                  </a:lnTo>
                  <a:lnTo>
                    <a:pt x="4393" y="118"/>
                  </a:lnTo>
                  <a:lnTo>
                    <a:pt x="4456" y="135"/>
                  </a:lnTo>
                  <a:lnTo>
                    <a:pt x="4520" y="154"/>
                  </a:lnTo>
                  <a:lnTo>
                    <a:pt x="4581" y="173"/>
                  </a:lnTo>
                  <a:lnTo>
                    <a:pt x="4642" y="194"/>
                  </a:lnTo>
                  <a:lnTo>
                    <a:pt x="4702" y="216"/>
                  </a:lnTo>
                  <a:lnTo>
                    <a:pt x="4761" y="239"/>
                  </a:lnTo>
                  <a:lnTo>
                    <a:pt x="4819" y="262"/>
                  </a:lnTo>
                  <a:lnTo>
                    <a:pt x="4875" y="288"/>
                  </a:lnTo>
                  <a:lnTo>
                    <a:pt x="4931" y="314"/>
                  </a:lnTo>
                  <a:lnTo>
                    <a:pt x="4986" y="341"/>
                  </a:lnTo>
                  <a:lnTo>
                    <a:pt x="5040" y="369"/>
                  </a:lnTo>
                  <a:lnTo>
                    <a:pt x="5092" y="398"/>
                  </a:lnTo>
                  <a:lnTo>
                    <a:pt x="5144" y="428"/>
                  </a:lnTo>
                  <a:lnTo>
                    <a:pt x="5194" y="460"/>
                  </a:lnTo>
                  <a:lnTo>
                    <a:pt x="5244" y="492"/>
                  </a:lnTo>
                  <a:lnTo>
                    <a:pt x="5292" y="526"/>
                  </a:lnTo>
                  <a:lnTo>
                    <a:pt x="5340" y="559"/>
                  </a:lnTo>
                  <a:lnTo>
                    <a:pt x="5386" y="594"/>
                  </a:lnTo>
                  <a:lnTo>
                    <a:pt x="5442" y="640"/>
                  </a:lnTo>
                  <a:lnTo>
                    <a:pt x="5496" y="685"/>
                  </a:lnTo>
                  <a:lnTo>
                    <a:pt x="5548" y="732"/>
                  </a:lnTo>
                  <a:lnTo>
                    <a:pt x="5598" y="780"/>
                  </a:lnTo>
                  <a:lnTo>
                    <a:pt x="5647" y="828"/>
                  </a:lnTo>
                  <a:lnTo>
                    <a:pt x="5693" y="877"/>
                  </a:lnTo>
                  <a:lnTo>
                    <a:pt x="5739" y="926"/>
                  </a:lnTo>
                  <a:lnTo>
                    <a:pt x="5782" y="976"/>
                  </a:lnTo>
                  <a:lnTo>
                    <a:pt x="5824" y="1028"/>
                  </a:lnTo>
                  <a:lnTo>
                    <a:pt x="5863" y="1079"/>
                  </a:lnTo>
                  <a:lnTo>
                    <a:pt x="5901" y="1132"/>
                  </a:lnTo>
                  <a:lnTo>
                    <a:pt x="5937" y="1186"/>
                  </a:lnTo>
                  <a:lnTo>
                    <a:pt x="5971" y="1239"/>
                  </a:lnTo>
                  <a:lnTo>
                    <a:pt x="6004" y="1295"/>
                  </a:lnTo>
                  <a:lnTo>
                    <a:pt x="6034" y="1351"/>
                  </a:lnTo>
                  <a:lnTo>
                    <a:pt x="6063" y="1406"/>
                  </a:lnTo>
                  <a:lnTo>
                    <a:pt x="6090" y="1464"/>
                  </a:lnTo>
                  <a:lnTo>
                    <a:pt x="6116" y="1522"/>
                  </a:lnTo>
                  <a:lnTo>
                    <a:pt x="6139" y="1580"/>
                  </a:lnTo>
                  <a:lnTo>
                    <a:pt x="6161" y="1640"/>
                  </a:lnTo>
                  <a:lnTo>
                    <a:pt x="6180" y="1701"/>
                  </a:lnTo>
                  <a:lnTo>
                    <a:pt x="6200" y="1763"/>
                  </a:lnTo>
                  <a:lnTo>
                    <a:pt x="6216" y="1825"/>
                  </a:lnTo>
                  <a:lnTo>
                    <a:pt x="6231" y="1889"/>
                  </a:lnTo>
                  <a:lnTo>
                    <a:pt x="6243" y="1953"/>
                  </a:lnTo>
                  <a:lnTo>
                    <a:pt x="6255" y="2019"/>
                  </a:lnTo>
                  <a:lnTo>
                    <a:pt x="6264" y="2085"/>
                  </a:lnTo>
                  <a:lnTo>
                    <a:pt x="6272" y="2151"/>
                  </a:lnTo>
                  <a:lnTo>
                    <a:pt x="6278" y="2219"/>
                  </a:lnTo>
                  <a:lnTo>
                    <a:pt x="6282" y="2288"/>
                  </a:lnTo>
                  <a:lnTo>
                    <a:pt x="6285" y="2358"/>
                  </a:lnTo>
                  <a:lnTo>
                    <a:pt x="6286" y="2428"/>
                  </a:lnTo>
                  <a:lnTo>
                    <a:pt x="6285" y="2498"/>
                  </a:lnTo>
                  <a:lnTo>
                    <a:pt x="6282" y="2566"/>
                  </a:lnTo>
                  <a:lnTo>
                    <a:pt x="6278" y="2634"/>
                  </a:lnTo>
                  <a:lnTo>
                    <a:pt x="6272" y="2701"/>
                  </a:lnTo>
                  <a:lnTo>
                    <a:pt x="6264" y="2768"/>
                  </a:lnTo>
                  <a:lnTo>
                    <a:pt x="6255" y="2834"/>
                  </a:lnTo>
                  <a:lnTo>
                    <a:pt x="6244" y="2899"/>
                  </a:lnTo>
                  <a:lnTo>
                    <a:pt x="6232" y="2963"/>
                  </a:lnTo>
                  <a:lnTo>
                    <a:pt x="6217" y="3027"/>
                  </a:lnTo>
                  <a:lnTo>
                    <a:pt x="6201" y="3091"/>
                  </a:lnTo>
                  <a:lnTo>
                    <a:pt x="6182" y="3153"/>
                  </a:lnTo>
                  <a:lnTo>
                    <a:pt x="6163" y="3214"/>
                  </a:lnTo>
                  <a:lnTo>
                    <a:pt x="6142" y="3275"/>
                  </a:lnTo>
                  <a:lnTo>
                    <a:pt x="6119" y="3336"/>
                  </a:lnTo>
                  <a:lnTo>
                    <a:pt x="6094" y="3396"/>
                  </a:lnTo>
                  <a:lnTo>
                    <a:pt x="6067" y="3454"/>
                  </a:lnTo>
                  <a:lnTo>
                    <a:pt x="6040" y="3512"/>
                  </a:lnTo>
                  <a:lnTo>
                    <a:pt x="6010" y="3569"/>
                  </a:lnTo>
                  <a:lnTo>
                    <a:pt x="5978" y="3625"/>
                  </a:lnTo>
                  <a:lnTo>
                    <a:pt x="5946" y="3680"/>
                  </a:lnTo>
                  <a:lnTo>
                    <a:pt x="5912" y="3734"/>
                  </a:lnTo>
                  <a:lnTo>
                    <a:pt x="5876" y="3786"/>
                  </a:lnTo>
                  <a:lnTo>
                    <a:pt x="5839" y="3838"/>
                  </a:lnTo>
                  <a:lnTo>
                    <a:pt x="5799" y="3889"/>
                  </a:lnTo>
                  <a:lnTo>
                    <a:pt x="5759" y="3938"/>
                  </a:lnTo>
                  <a:lnTo>
                    <a:pt x="5718" y="3987"/>
                  </a:lnTo>
                  <a:lnTo>
                    <a:pt x="5673" y="4034"/>
                  </a:lnTo>
                  <a:lnTo>
                    <a:pt x="5629" y="4081"/>
                  </a:lnTo>
                  <a:lnTo>
                    <a:pt x="5582" y="4127"/>
                  </a:lnTo>
                  <a:lnTo>
                    <a:pt x="5534" y="4170"/>
                  </a:lnTo>
                  <a:lnTo>
                    <a:pt x="5484" y="4214"/>
                  </a:lnTo>
                  <a:lnTo>
                    <a:pt x="5433" y="4256"/>
                  </a:lnTo>
                  <a:lnTo>
                    <a:pt x="5404" y="4278"/>
                  </a:lnTo>
                  <a:lnTo>
                    <a:pt x="5374" y="4301"/>
                  </a:lnTo>
                  <a:lnTo>
                    <a:pt x="5345" y="4323"/>
                  </a:lnTo>
                  <a:lnTo>
                    <a:pt x="5315" y="4343"/>
                  </a:lnTo>
                  <a:lnTo>
                    <a:pt x="5283" y="4364"/>
                  </a:lnTo>
                  <a:lnTo>
                    <a:pt x="5253" y="4384"/>
                  </a:lnTo>
                  <a:lnTo>
                    <a:pt x="5222" y="4403"/>
                  </a:lnTo>
                  <a:lnTo>
                    <a:pt x="5189" y="4420"/>
                  </a:lnTo>
                  <a:lnTo>
                    <a:pt x="5157" y="4438"/>
                  </a:lnTo>
                  <a:lnTo>
                    <a:pt x="5125" y="4455"/>
                  </a:lnTo>
                  <a:lnTo>
                    <a:pt x="5091" y="4471"/>
                  </a:lnTo>
                  <a:lnTo>
                    <a:pt x="5058" y="4486"/>
                  </a:lnTo>
                  <a:lnTo>
                    <a:pt x="5024" y="4501"/>
                  </a:lnTo>
                  <a:lnTo>
                    <a:pt x="4989" y="4515"/>
                  </a:lnTo>
                  <a:lnTo>
                    <a:pt x="4955" y="4528"/>
                  </a:lnTo>
                  <a:lnTo>
                    <a:pt x="4920" y="4541"/>
                  </a:lnTo>
                  <a:lnTo>
                    <a:pt x="4884" y="4553"/>
                  </a:lnTo>
                  <a:lnTo>
                    <a:pt x="4849" y="4564"/>
                  </a:lnTo>
                  <a:lnTo>
                    <a:pt x="4813" y="4575"/>
                  </a:lnTo>
                  <a:lnTo>
                    <a:pt x="4777" y="4584"/>
                  </a:lnTo>
                  <a:lnTo>
                    <a:pt x="4741" y="4593"/>
                  </a:lnTo>
                  <a:lnTo>
                    <a:pt x="4704" y="4601"/>
                  </a:lnTo>
                  <a:lnTo>
                    <a:pt x="4668" y="4608"/>
                  </a:lnTo>
                  <a:lnTo>
                    <a:pt x="4632" y="4616"/>
                  </a:lnTo>
                  <a:lnTo>
                    <a:pt x="4594" y="4621"/>
                  </a:lnTo>
                  <a:lnTo>
                    <a:pt x="4558" y="4626"/>
                  </a:lnTo>
                  <a:lnTo>
                    <a:pt x="4521" y="4631"/>
                  </a:lnTo>
                  <a:lnTo>
                    <a:pt x="4483" y="4634"/>
                  </a:lnTo>
                  <a:lnTo>
                    <a:pt x="4446" y="4637"/>
                  </a:lnTo>
                  <a:lnTo>
                    <a:pt x="4409" y="4639"/>
                  </a:lnTo>
                  <a:lnTo>
                    <a:pt x="4370" y="4640"/>
                  </a:lnTo>
                  <a:lnTo>
                    <a:pt x="4333" y="4640"/>
                  </a:lnTo>
                  <a:lnTo>
                    <a:pt x="4289" y="4640"/>
                  </a:lnTo>
                  <a:lnTo>
                    <a:pt x="4247" y="4638"/>
                  </a:lnTo>
                  <a:lnTo>
                    <a:pt x="4206" y="4636"/>
                  </a:lnTo>
                  <a:lnTo>
                    <a:pt x="4167" y="4632"/>
                  </a:lnTo>
                  <a:lnTo>
                    <a:pt x="4129" y="4627"/>
                  </a:lnTo>
                  <a:lnTo>
                    <a:pt x="4091" y="4622"/>
                  </a:lnTo>
                  <a:lnTo>
                    <a:pt x="4056" y="4615"/>
                  </a:lnTo>
                  <a:lnTo>
                    <a:pt x="4022" y="4606"/>
                  </a:lnTo>
                  <a:lnTo>
                    <a:pt x="3989" y="4598"/>
                  </a:lnTo>
                  <a:lnTo>
                    <a:pt x="3958" y="4588"/>
                  </a:lnTo>
                  <a:lnTo>
                    <a:pt x="3928" y="4577"/>
                  </a:lnTo>
                  <a:lnTo>
                    <a:pt x="3898" y="4565"/>
                  </a:lnTo>
                  <a:lnTo>
                    <a:pt x="3871" y="4552"/>
                  </a:lnTo>
                  <a:lnTo>
                    <a:pt x="3845" y="4538"/>
                  </a:lnTo>
                  <a:lnTo>
                    <a:pt x="3821" y="4522"/>
                  </a:lnTo>
                  <a:lnTo>
                    <a:pt x="3797" y="4506"/>
                  </a:lnTo>
                  <a:lnTo>
                    <a:pt x="3774" y="4490"/>
                  </a:lnTo>
                  <a:lnTo>
                    <a:pt x="3754" y="4472"/>
                  </a:lnTo>
                  <a:lnTo>
                    <a:pt x="3734" y="4452"/>
                  </a:lnTo>
                  <a:lnTo>
                    <a:pt x="3716" y="4431"/>
                  </a:lnTo>
                  <a:lnTo>
                    <a:pt x="3698" y="4410"/>
                  </a:lnTo>
                  <a:lnTo>
                    <a:pt x="3682" y="4388"/>
                  </a:lnTo>
                  <a:lnTo>
                    <a:pt x="3668" y="4364"/>
                  </a:lnTo>
                  <a:lnTo>
                    <a:pt x="3655" y="4340"/>
                  </a:lnTo>
                  <a:lnTo>
                    <a:pt x="3643" y="4314"/>
                  </a:lnTo>
                  <a:lnTo>
                    <a:pt x="3633" y="4288"/>
                  </a:lnTo>
                  <a:lnTo>
                    <a:pt x="3624" y="4260"/>
                  </a:lnTo>
                  <a:lnTo>
                    <a:pt x="3616" y="4231"/>
                  </a:lnTo>
                  <a:lnTo>
                    <a:pt x="3608" y="4201"/>
                  </a:lnTo>
                  <a:lnTo>
                    <a:pt x="3603" y="4170"/>
                  </a:lnTo>
                  <a:lnTo>
                    <a:pt x="3599" y="4139"/>
                  </a:lnTo>
                  <a:lnTo>
                    <a:pt x="3596" y="4105"/>
                  </a:lnTo>
                  <a:close/>
                  <a:moveTo>
                    <a:pt x="3720" y="2655"/>
                  </a:moveTo>
                  <a:lnTo>
                    <a:pt x="3716" y="2624"/>
                  </a:lnTo>
                  <a:lnTo>
                    <a:pt x="3711" y="2594"/>
                  </a:lnTo>
                  <a:lnTo>
                    <a:pt x="3704" y="2564"/>
                  </a:lnTo>
                  <a:lnTo>
                    <a:pt x="3698" y="2536"/>
                  </a:lnTo>
                  <a:lnTo>
                    <a:pt x="3690" y="2509"/>
                  </a:lnTo>
                  <a:lnTo>
                    <a:pt x="3682" y="2481"/>
                  </a:lnTo>
                  <a:lnTo>
                    <a:pt x="3673" y="2456"/>
                  </a:lnTo>
                  <a:lnTo>
                    <a:pt x="3663" y="2431"/>
                  </a:lnTo>
                  <a:lnTo>
                    <a:pt x="3653" y="2408"/>
                  </a:lnTo>
                  <a:lnTo>
                    <a:pt x="3641" y="2384"/>
                  </a:lnTo>
                  <a:lnTo>
                    <a:pt x="3629" y="2363"/>
                  </a:lnTo>
                  <a:lnTo>
                    <a:pt x="3615" y="2342"/>
                  </a:lnTo>
                  <a:lnTo>
                    <a:pt x="3600" y="2321"/>
                  </a:lnTo>
                  <a:lnTo>
                    <a:pt x="3586" y="2302"/>
                  </a:lnTo>
                  <a:lnTo>
                    <a:pt x="3570" y="2285"/>
                  </a:lnTo>
                  <a:lnTo>
                    <a:pt x="3553" y="2268"/>
                  </a:lnTo>
                  <a:lnTo>
                    <a:pt x="3536" y="2252"/>
                  </a:lnTo>
                  <a:lnTo>
                    <a:pt x="3518" y="2236"/>
                  </a:lnTo>
                  <a:lnTo>
                    <a:pt x="3498" y="2222"/>
                  </a:lnTo>
                  <a:lnTo>
                    <a:pt x="3479" y="2209"/>
                  </a:lnTo>
                  <a:lnTo>
                    <a:pt x="3459" y="2197"/>
                  </a:lnTo>
                  <a:lnTo>
                    <a:pt x="3438" y="2186"/>
                  </a:lnTo>
                  <a:lnTo>
                    <a:pt x="3416" y="2177"/>
                  </a:lnTo>
                  <a:lnTo>
                    <a:pt x="3393" y="2168"/>
                  </a:lnTo>
                  <a:lnTo>
                    <a:pt x="3370" y="2159"/>
                  </a:lnTo>
                  <a:lnTo>
                    <a:pt x="3346" y="2152"/>
                  </a:lnTo>
                  <a:lnTo>
                    <a:pt x="3322" y="2147"/>
                  </a:lnTo>
                  <a:lnTo>
                    <a:pt x="3295" y="2142"/>
                  </a:lnTo>
                  <a:lnTo>
                    <a:pt x="3270" y="2139"/>
                  </a:lnTo>
                  <a:lnTo>
                    <a:pt x="3243" y="2136"/>
                  </a:lnTo>
                  <a:lnTo>
                    <a:pt x="3216" y="2134"/>
                  </a:lnTo>
                  <a:lnTo>
                    <a:pt x="3187" y="2134"/>
                  </a:lnTo>
                  <a:lnTo>
                    <a:pt x="3166" y="2134"/>
                  </a:lnTo>
                  <a:lnTo>
                    <a:pt x="3144" y="2135"/>
                  </a:lnTo>
                  <a:lnTo>
                    <a:pt x="3123" y="2137"/>
                  </a:lnTo>
                  <a:lnTo>
                    <a:pt x="3102" y="2140"/>
                  </a:lnTo>
                  <a:lnTo>
                    <a:pt x="3081" y="2144"/>
                  </a:lnTo>
                  <a:lnTo>
                    <a:pt x="3061" y="2148"/>
                  </a:lnTo>
                  <a:lnTo>
                    <a:pt x="3041" y="2153"/>
                  </a:lnTo>
                  <a:lnTo>
                    <a:pt x="3020" y="2159"/>
                  </a:lnTo>
                  <a:lnTo>
                    <a:pt x="2999" y="2167"/>
                  </a:lnTo>
                  <a:lnTo>
                    <a:pt x="2980" y="2174"/>
                  </a:lnTo>
                  <a:lnTo>
                    <a:pt x="2960" y="2182"/>
                  </a:lnTo>
                  <a:lnTo>
                    <a:pt x="2941" y="2191"/>
                  </a:lnTo>
                  <a:lnTo>
                    <a:pt x="2921" y="2201"/>
                  </a:lnTo>
                  <a:lnTo>
                    <a:pt x="2901" y="2212"/>
                  </a:lnTo>
                  <a:lnTo>
                    <a:pt x="2882" y="2223"/>
                  </a:lnTo>
                  <a:lnTo>
                    <a:pt x="2864" y="2235"/>
                  </a:lnTo>
                  <a:lnTo>
                    <a:pt x="2845" y="2249"/>
                  </a:lnTo>
                  <a:lnTo>
                    <a:pt x="2826" y="2263"/>
                  </a:lnTo>
                  <a:lnTo>
                    <a:pt x="2807" y="2277"/>
                  </a:lnTo>
                  <a:lnTo>
                    <a:pt x="2789" y="2293"/>
                  </a:lnTo>
                  <a:lnTo>
                    <a:pt x="2771" y="2309"/>
                  </a:lnTo>
                  <a:lnTo>
                    <a:pt x="2753" y="2327"/>
                  </a:lnTo>
                  <a:lnTo>
                    <a:pt x="2735" y="2344"/>
                  </a:lnTo>
                  <a:lnTo>
                    <a:pt x="2718" y="2363"/>
                  </a:lnTo>
                  <a:lnTo>
                    <a:pt x="2700" y="2382"/>
                  </a:lnTo>
                  <a:lnTo>
                    <a:pt x="2682" y="2402"/>
                  </a:lnTo>
                  <a:lnTo>
                    <a:pt x="2665" y="2424"/>
                  </a:lnTo>
                  <a:lnTo>
                    <a:pt x="2649" y="2445"/>
                  </a:lnTo>
                  <a:lnTo>
                    <a:pt x="2632" y="2467"/>
                  </a:lnTo>
                  <a:lnTo>
                    <a:pt x="2615" y="2491"/>
                  </a:lnTo>
                  <a:lnTo>
                    <a:pt x="2598" y="2515"/>
                  </a:lnTo>
                  <a:lnTo>
                    <a:pt x="2582" y="2540"/>
                  </a:lnTo>
                  <a:lnTo>
                    <a:pt x="2566" y="2565"/>
                  </a:lnTo>
                  <a:lnTo>
                    <a:pt x="2550" y="2592"/>
                  </a:lnTo>
                  <a:lnTo>
                    <a:pt x="2535" y="2617"/>
                  </a:lnTo>
                  <a:lnTo>
                    <a:pt x="2521" y="2644"/>
                  </a:lnTo>
                  <a:lnTo>
                    <a:pt x="2506" y="2671"/>
                  </a:lnTo>
                  <a:lnTo>
                    <a:pt x="2493" y="2698"/>
                  </a:lnTo>
                  <a:lnTo>
                    <a:pt x="2480" y="2725"/>
                  </a:lnTo>
                  <a:lnTo>
                    <a:pt x="2467" y="2753"/>
                  </a:lnTo>
                  <a:lnTo>
                    <a:pt x="2456" y="2780"/>
                  </a:lnTo>
                  <a:lnTo>
                    <a:pt x="2444" y="2808"/>
                  </a:lnTo>
                  <a:lnTo>
                    <a:pt x="2433" y="2837"/>
                  </a:lnTo>
                  <a:lnTo>
                    <a:pt x="2423" y="2865"/>
                  </a:lnTo>
                  <a:lnTo>
                    <a:pt x="2412" y="2894"/>
                  </a:lnTo>
                  <a:lnTo>
                    <a:pt x="2403" y="2924"/>
                  </a:lnTo>
                  <a:lnTo>
                    <a:pt x="2394" y="2953"/>
                  </a:lnTo>
                  <a:lnTo>
                    <a:pt x="2386" y="2983"/>
                  </a:lnTo>
                  <a:lnTo>
                    <a:pt x="2378" y="3013"/>
                  </a:lnTo>
                  <a:lnTo>
                    <a:pt x="2370" y="3043"/>
                  </a:lnTo>
                  <a:lnTo>
                    <a:pt x="2363" y="3074"/>
                  </a:lnTo>
                  <a:lnTo>
                    <a:pt x="2357" y="3105"/>
                  </a:lnTo>
                  <a:lnTo>
                    <a:pt x="2351" y="3136"/>
                  </a:lnTo>
                  <a:lnTo>
                    <a:pt x="2346" y="3168"/>
                  </a:lnTo>
                  <a:lnTo>
                    <a:pt x="2341" y="3199"/>
                  </a:lnTo>
                  <a:lnTo>
                    <a:pt x="2337" y="3232"/>
                  </a:lnTo>
                  <a:lnTo>
                    <a:pt x="2333" y="3264"/>
                  </a:lnTo>
                  <a:lnTo>
                    <a:pt x="2330" y="3296"/>
                  </a:lnTo>
                  <a:lnTo>
                    <a:pt x="2327" y="3329"/>
                  </a:lnTo>
                  <a:lnTo>
                    <a:pt x="2325" y="3362"/>
                  </a:lnTo>
                  <a:lnTo>
                    <a:pt x="2323" y="3396"/>
                  </a:lnTo>
                  <a:lnTo>
                    <a:pt x="2322" y="3429"/>
                  </a:lnTo>
                  <a:lnTo>
                    <a:pt x="2321" y="3463"/>
                  </a:lnTo>
                  <a:lnTo>
                    <a:pt x="2321" y="3498"/>
                  </a:lnTo>
                  <a:lnTo>
                    <a:pt x="2321" y="3532"/>
                  </a:lnTo>
                  <a:lnTo>
                    <a:pt x="2322" y="3565"/>
                  </a:lnTo>
                  <a:lnTo>
                    <a:pt x="2325" y="3597"/>
                  </a:lnTo>
                  <a:lnTo>
                    <a:pt x="2328" y="3628"/>
                  </a:lnTo>
                  <a:lnTo>
                    <a:pt x="2332" y="3659"/>
                  </a:lnTo>
                  <a:lnTo>
                    <a:pt x="2337" y="3688"/>
                  </a:lnTo>
                  <a:lnTo>
                    <a:pt x="2343" y="3717"/>
                  </a:lnTo>
                  <a:lnTo>
                    <a:pt x="2350" y="3744"/>
                  </a:lnTo>
                  <a:lnTo>
                    <a:pt x="2357" y="3770"/>
                  </a:lnTo>
                  <a:lnTo>
                    <a:pt x="2366" y="3795"/>
                  </a:lnTo>
                  <a:lnTo>
                    <a:pt x="2375" y="3820"/>
                  </a:lnTo>
                  <a:lnTo>
                    <a:pt x="2386" y="3843"/>
                  </a:lnTo>
                  <a:lnTo>
                    <a:pt x="2397" y="3866"/>
                  </a:lnTo>
                  <a:lnTo>
                    <a:pt x="2409" y="3888"/>
                  </a:lnTo>
                  <a:lnTo>
                    <a:pt x="2424" y="3908"/>
                  </a:lnTo>
                  <a:lnTo>
                    <a:pt x="2438" y="3927"/>
                  </a:lnTo>
                  <a:lnTo>
                    <a:pt x="2452" y="3946"/>
                  </a:lnTo>
                  <a:lnTo>
                    <a:pt x="2468" y="3964"/>
                  </a:lnTo>
                  <a:lnTo>
                    <a:pt x="2484" y="3979"/>
                  </a:lnTo>
                  <a:lnTo>
                    <a:pt x="2501" y="3994"/>
                  </a:lnTo>
                  <a:lnTo>
                    <a:pt x="2520" y="4008"/>
                  </a:lnTo>
                  <a:lnTo>
                    <a:pt x="2538" y="4020"/>
                  </a:lnTo>
                  <a:lnTo>
                    <a:pt x="2557" y="4031"/>
                  </a:lnTo>
                  <a:lnTo>
                    <a:pt x="2577" y="4042"/>
                  </a:lnTo>
                  <a:lnTo>
                    <a:pt x="2598" y="4051"/>
                  </a:lnTo>
                  <a:lnTo>
                    <a:pt x="2620" y="4058"/>
                  </a:lnTo>
                  <a:lnTo>
                    <a:pt x="2642" y="4065"/>
                  </a:lnTo>
                  <a:lnTo>
                    <a:pt x="2665" y="4070"/>
                  </a:lnTo>
                  <a:lnTo>
                    <a:pt x="2688" y="4074"/>
                  </a:lnTo>
                  <a:lnTo>
                    <a:pt x="2712" y="4077"/>
                  </a:lnTo>
                  <a:lnTo>
                    <a:pt x="2738" y="4079"/>
                  </a:lnTo>
                  <a:lnTo>
                    <a:pt x="2764" y="4079"/>
                  </a:lnTo>
                  <a:lnTo>
                    <a:pt x="2798" y="4078"/>
                  </a:lnTo>
                  <a:lnTo>
                    <a:pt x="2833" y="4076"/>
                  </a:lnTo>
                  <a:lnTo>
                    <a:pt x="2866" y="4072"/>
                  </a:lnTo>
                  <a:lnTo>
                    <a:pt x="2899" y="4067"/>
                  </a:lnTo>
                  <a:lnTo>
                    <a:pt x="2932" y="4060"/>
                  </a:lnTo>
                  <a:lnTo>
                    <a:pt x="2964" y="4052"/>
                  </a:lnTo>
                  <a:lnTo>
                    <a:pt x="2995" y="4042"/>
                  </a:lnTo>
                  <a:lnTo>
                    <a:pt x="3027" y="4029"/>
                  </a:lnTo>
                  <a:lnTo>
                    <a:pt x="3057" y="4016"/>
                  </a:lnTo>
                  <a:lnTo>
                    <a:pt x="3087" y="4002"/>
                  </a:lnTo>
                  <a:lnTo>
                    <a:pt x="3117" y="3986"/>
                  </a:lnTo>
                  <a:lnTo>
                    <a:pt x="3146" y="3968"/>
                  </a:lnTo>
                  <a:lnTo>
                    <a:pt x="3174" y="3948"/>
                  </a:lnTo>
                  <a:lnTo>
                    <a:pt x="3202" y="3928"/>
                  </a:lnTo>
                  <a:lnTo>
                    <a:pt x="3230" y="3906"/>
                  </a:lnTo>
                  <a:lnTo>
                    <a:pt x="3257" y="3882"/>
                  </a:lnTo>
                  <a:lnTo>
                    <a:pt x="3282" y="3857"/>
                  </a:lnTo>
                  <a:lnTo>
                    <a:pt x="3307" y="3831"/>
                  </a:lnTo>
                  <a:lnTo>
                    <a:pt x="3332" y="3804"/>
                  </a:lnTo>
                  <a:lnTo>
                    <a:pt x="3355" y="3775"/>
                  </a:lnTo>
                  <a:lnTo>
                    <a:pt x="3377" y="3746"/>
                  </a:lnTo>
                  <a:lnTo>
                    <a:pt x="3397" y="3716"/>
                  </a:lnTo>
                  <a:lnTo>
                    <a:pt x="3418" y="3684"/>
                  </a:lnTo>
                  <a:lnTo>
                    <a:pt x="3437" y="3652"/>
                  </a:lnTo>
                  <a:lnTo>
                    <a:pt x="3454" y="3617"/>
                  </a:lnTo>
                  <a:lnTo>
                    <a:pt x="3471" y="3583"/>
                  </a:lnTo>
                  <a:lnTo>
                    <a:pt x="3486" y="3547"/>
                  </a:lnTo>
                  <a:lnTo>
                    <a:pt x="3501" y="3511"/>
                  </a:lnTo>
                  <a:lnTo>
                    <a:pt x="3516" y="3474"/>
                  </a:lnTo>
                  <a:lnTo>
                    <a:pt x="3528" y="3434"/>
                  </a:lnTo>
                  <a:lnTo>
                    <a:pt x="3540" y="3395"/>
                  </a:lnTo>
                  <a:lnTo>
                    <a:pt x="3550" y="3354"/>
                  </a:lnTo>
                  <a:lnTo>
                    <a:pt x="3720" y="2655"/>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19" name="Freeform 61"/>
            <p:cNvSpPr>
              <a:spLocks noEditPoints="1"/>
            </p:cNvSpPr>
            <p:nvPr/>
          </p:nvSpPr>
          <p:spPr bwMode="auto">
            <a:xfrm>
              <a:off x="3147" y="1369"/>
              <a:ext cx="242" cy="232"/>
            </a:xfrm>
            <a:custGeom>
              <a:avLst/>
              <a:gdLst>
                <a:gd name="T0" fmla="*/ 121 w 6285"/>
                <a:gd name="T1" fmla="*/ 174 h 6039"/>
                <a:gd name="T2" fmla="*/ 97 w 6285"/>
                <a:gd name="T3" fmla="*/ 178 h 6039"/>
                <a:gd name="T4" fmla="*/ 78 w 6285"/>
                <a:gd name="T5" fmla="*/ 173 h 6039"/>
                <a:gd name="T6" fmla="*/ 65 w 6285"/>
                <a:gd name="T7" fmla="*/ 161 h 6039"/>
                <a:gd name="T8" fmla="*/ 59 w 6285"/>
                <a:gd name="T9" fmla="*/ 143 h 6039"/>
                <a:gd name="T10" fmla="*/ 60 w 6285"/>
                <a:gd name="T11" fmla="*/ 114 h 6039"/>
                <a:gd name="T12" fmla="*/ 73 w 6285"/>
                <a:gd name="T13" fmla="*/ 86 h 6039"/>
                <a:gd name="T14" fmla="*/ 95 w 6285"/>
                <a:gd name="T15" fmla="*/ 67 h 6039"/>
                <a:gd name="T16" fmla="*/ 122 w 6285"/>
                <a:gd name="T17" fmla="*/ 61 h 6039"/>
                <a:gd name="T18" fmla="*/ 141 w 6285"/>
                <a:gd name="T19" fmla="*/ 66 h 6039"/>
                <a:gd name="T20" fmla="*/ 164 w 6285"/>
                <a:gd name="T21" fmla="*/ 144 h 6039"/>
                <a:gd name="T22" fmla="*/ 166 w 6285"/>
                <a:gd name="T23" fmla="*/ 153 h 6039"/>
                <a:gd name="T24" fmla="*/ 178 w 6285"/>
                <a:gd name="T25" fmla="*/ 154 h 6039"/>
                <a:gd name="T26" fmla="*/ 195 w 6285"/>
                <a:gd name="T27" fmla="*/ 145 h 6039"/>
                <a:gd name="T28" fmla="*/ 209 w 6285"/>
                <a:gd name="T29" fmla="*/ 125 h 6039"/>
                <a:gd name="T30" fmla="*/ 216 w 6285"/>
                <a:gd name="T31" fmla="*/ 100 h 6039"/>
                <a:gd name="T32" fmla="*/ 211 w 6285"/>
                <a:gd name="T33" fmla="*/ 69 h 6039"/>
                <a:gd name="T34" fmla="*/ 193 w 6285"/>
                <a:gd name="T35" fmla="*/ 43 h 6039"/>
                <a:gd name="T36" fmla="*/ 162 w 6285"/>
                <a:gd name="T37" fmla="*/ 28 h 6039"/>
                <a:gd name="T38" fmla="*/ 123 w 6285"/>
                <a:gd name="T39" fmla="*/ 24 h 6039"/>
                <a:gd name="T40" fmla="*/ 86 w 6285"/>
                <a:gd name="T41" fmla="*/ 33 h 6039"/>
                <a:gd name="T42" fmla="*/ 59 w 6285"/>
                <a:gd name="T43" fmla="*/ 50 h 6039"/>
                <a:gd name="T44" fmla="*/ 42 w 6285"/>
                <a:gd name="T45" fmla="*/ 70 h 6039"/>
                <a:gd name="T46" fmla="*/ 31 w 6285"/>
                <a:gd name="T47" fmla="*/ 94 h 6039"/>
                <a:gd name="T48" fmla="*/ 27 w 6285"/>
                <a:gd name="T49" fmla="*/ 121 h 6039"/>
                <a:gd name="T50" fmla="*/ 33 w 6285"/>
                <a:gd name="T51" fmla="*/ 159 h 6039"/>
                <a:gd name="T52" fmla="*/ 56 w 6285"/>
                <a:gd name="T53" fmla="*/ 188 h 6039"/>
                <a:gd name="T54" fmla="*/ 92 w 6285"/>
                <a:gd name="T55" fmla="*/ 205 h 6039"/>
                <a:gd name="T56" fmla="*/ 138 w 6285"/>
                <a:gd name="T57" fmla="*/ 208 h 6039"/>
                <a:gd name="T58" fmla="*/ 182 w 6285"/>
                <a:gd name="T59" fmla="*/ 195 h 6039"/>
                <a:gd name="T60" fmla="*/ 188 w 6285"/>
                <a:gd name="T61" fmla="*/ 217 h 6039"/>
                <a:gd name="T62" fmla="*/ 137 w 6285"/>
                <a:gd name="T63" fmla="*/ 231 h 6039"/>
                <a:gd name="T64" fmla="*/ 85 w 6285"/>
                <a:gd name="T65" fmla="*/ 228 h 6039"/>
                <a:gd name="T66" fmla="*/ 42 w 6285"/>
                <a:gd name="T67" fmla="*/ 209 h 6039"/>
                <a:gd name="T68" fmla="*/ 21 w 6285"/>
                <a:gd name="T69" fmla="*/ 189 h 6039"/>
                <a:gd name="T70" fmla="*/ 8 w 6285"/>
                <a:gd name="T71" fmla="*/ 167 h 6039"/>
                <a:gd name="T72" fmla="*/ 1 w 6285"/>
                <a:gd name="T73" fmla="*/ 142 h 6039"/>
                <a:gd name="T74" fmla="*/ 1 w 6285"/>
                <a:gd name="T75" fmla="*/ 106 h 6039"/>
                <a:gd name="T76" fmla="*/ 16 w 6285"/>
                <a:gd name="T77" fmla="*/ 63 h 6039"/>
                <a:gd name="T78" fmla="*/ 41 w 6285"/>
                <a:gd name="T79" fmla="*/ 33 h 6039"/>
                <a:gd name="T80" fmla="*/ 68 w 6285"/>
                <a:gd name="T81" fmla="*/ 15 h 6039"/>
                <a:gd name="T82" fmla="*/ 100 w 6285"/>
                <a:gd name="T83" fmla="*/ 3 h 6039"/>
                <a:gd name="T84" fmla="*/ 136 w 6285"/>
                <a:gd name="T85" fmla="*/ 0 h 6039"/>
                <a:gd name="T86" fmla="*/ 181 w 6285"/>
                <a:gd name="T87" fmla="*/ 8 h 6039"/>
                <a:gd name="T88" fmla="*/ 217 w 6285"/>
                <a:gd name="T89" fmla="*/ 32 h 6039"/>
                <a:gd name="T90" fmla="*/ 239 w 6285"/>
                <a:gd name="T91" fmla="*/ 70 h 6039"/>
                <a:gd name="T92" fmla="*/ 239 w 6285"/>
                <a:gd name="T93" fmla="*/ 116 h 6039"/>
                <a:gd name="T94" fmla="*/ 218 w 6285"/>
                <a:gd name="T95" fmla="*/ 155 h 6039"/>
                <a:gd name="T96" fmla="*/ 193 w 6285"/>
                <a:gd name="T97" fmla="*/ 173 h 6039"/>
                <a:gd name="T98" fmla="*/ 168 w 6285"/>
                <a:gd name="T99" fmla="*/ 178 h 6039"/>
                <a:gd name="T100" fmla="*/ 145 w 6285"/>
                <a:gd name="T101" fmla="*/ 172 h 6039"/>
                <a:gd name="T102" fmla="*/ 143 w 6285"/>
                <a:gd name="T103" fmla="*/ 100 h 6039"/>
                <a:gd name="T104" fmla="*/ 134 w 6285"/>
                <a:gd name="T105" fmla="*/ 85 h 6039"/>
                <a:gd name="T106" fmla="*/ 118 w 6285"/>
                <a:gd name="T107" fmla="*/ 83 h 6039"/>
                <a:gd name="T108" fmla="*/ 105 w 6285"/>
                <a:gd name="T109" fmla="*/ 91 h 6039"/>
                <a:gd name="T110" fmla="*/ 94 w 6285"/>
                <a:gd name="T111" fmla="*/ 108 h 6039"/>
                <a:gd name="T112" fmla="*/ 89 w 6285"/>
                <a:gd name="T113" fmla="*/ 129 h 6039"/>
                <a:gd name="T114" fmla="*/ 93 w 6285"/>
                <a:gd name="T115" fmla="*/ 149 h 6039"/>
                <a:gd name="T116" fmla="*/ 106 w 6285"/>
                <a:gd name="T117" fmla="*/ 157 h 6039"/>
                <a:gd name="T118" fmla="*/ 127 w 6285"/>
                <a:gd name="T119" fmla="*/ 147 h 6039"/>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0" t="0" r="r" b="b"/>
              <a:pathLst>
                <a:path w="6285" h="6039">
                  <a:moveTo>
                    <a:pt x="3596" y="4105"/>
                  </a:moveTo>
                  <a:lnTo>
                    <a:pt x="3572" y="4139"/>
                  </a:lnTo>
                  <a:lnTo>
                    <a:pt x="3548" y="4172"/>
                  </a:lnTo>
                  <a:lnTo>
                    <a:pt x="3524" y="4204"/>
                  </a:lnTo>
                  <a:lnTo>
                    <a:pt x="3499" y="4233"/>
                  </a:lnTo>
                  <a:lnTo>
                    <a:pt x="3474" y="4262"/>
                  </a:lnTo>
                  <a:lnTo>
                    <a:pt x="3449" y="4291"/>
                  </a:lnTo>
                  <a:lnTo>
                    <a:pt x="3423" y="4317"/>
                  </a:lnTo>
                  <a:lnTo>
                    <a:pt x="3397" y="4343"/>
                  </a:lnTo>
                  <a:lnTo>
                    <a:pt x="3370" y="4368"/>
                  </a:lnTo>
                  <a:lnTo>
                    <a:pt x="3344" y="4391"/>
                  </a:lnTo>
                  <a:lnTo>
                    <a:pt x="3316" y="4413"/>
                  </a:lnTo>
                  <a:lnTo>
                    <a:pt x="3288" y="4435"/>
                  </a:lnTo>
                  <a:lnTo>
                    <a:pt x="3260" y="4455"/>
                  </a:lnTo>
                  <a:lnTo>
                    <a:pt x="3232" y="4473"/>
                  </a:lnTo>
                  <a:lnTo>
                    <a:pt x="3203" y="4490"/>
                  </a:lnTo>
                  <a:lnTo>
                    <a:pt x="3174" y="4507"/>
                  </a:lnTo>
                  <a:lnTo>
                    <a:pt x="3144" y="4523"/>
                  </a:lnTo>
                  <a:lnTo>
                    <a:pt x="3114" y="4537"/>
                  </a:lnTo>
                  <a:lnTo>
                    <a:pt x="3083" y="4550"/>
                  </a:lnTo>
                  <a:lnTo>
                    <a:pt x="3051" y="4562"/>
                  </a:lnTo>
                  <a:lnTo>
                    <a:pt x="3019" y="4574"/>
                  </a:lnTo>
                  <a:lnTo>
                    <a:pt x="2985" y="4584"/>
                  </a:lnTo>
                  <a:lnTo>
                    <a:pt x="2951" y="4593"/>
                  </a:lnTo>
                  <a:lnTo>
                    <a:pt x="2917" y="4602"/>
                  </a:lnTo>
                  <a:lnTo>
                    <a:pt x="2881" y="4610"/>
                  </a:lnTo>
                  <a:lnTo>
                    <a:pt x="2845" y="4616"/>
                  </a:lnTo>
                  <a:lnTo>
                    <a:pt x="2808" y="4622"/>
                  </a:lnTo>
                  <a:lnTo>
                    <a:pt x="2770" y="4626"/>
                  </a:lnTo>
                  <a:lnTo>
                    <a:pt x="2732" y="4629"/>
                  </a:lnTo>
                  <a:lnTo>
                    <a:pt x="2693" y="4632"/>
                  </a:lnTo>
                  <a:lnTo>
                    <a:pt x="2653" y="4633"/>
                  </a:lnTo>
                  <a:lnTo>
                    <a:pt x="2614" y="4634"/>
                  </a:lnTo>
                  <a:lnTo>
                    <a:pt x="2579" y="4633"/>
                  </a:lnTo>
                  <a:lnTo>
                    <a:pt x="2546" y="4633"/>
                  </a:lnTo>
                  <a:lnTo>
                    <a:pt x="2514" y="4631"/>
                  </a:lnTo>
                  <a:lnTo>
                    <a:pt x="2481" y="4629"/>
                  </a:lnTo>
                  <a:lnTo>
                    <a:pt x="2449" y="4627"/>
                  </a:lnTo>
                  <a:lnTo>
                    <a:pt x="2419" y="4624"/>
                  </a:lnTo>
                  <a:lnTo>
                    <a:pt x="2387" y="4620"/>
                  </a:lnTo>
                  <a:lnTo>
                    <a:pt x="2358" y="4616"/>
                  </a:lnTo>
                  <a:lnTo>
                    <a:pt x="2328" y="4611"/>
                  </a:lnTo>
                  <a:lnTo>
                    <a:pt x="2298" y="4606"/>
                  </a:lnTo>
                  <a:lnTo>
                    <a:pt x="2270" y="4600"/>
                  </a:lnTo>
                  <a:lnTo>
                    <a:pt x="2242" y="4592"/>
                  </a:lnTo>
                  <a:lnTo>
                    <a:pt x="2215" y="4585"/>
                  </a:lnTo>
                  <a:lnTo>
                    <a:pt x="2187" y="4578"/>
                  </a:lnTo>
                  <a:lnTo>
                    <a:pt x="2161" y="4569"/>
                  </a:lnTo>
                  <a:lnTo>
                    <a:pt x="2135" y="4561"/>
                  </a:lnTo>
                  <a:lnTo>
                    <a:pt x="2109" y="4552"/>
                  </a:lnTo>
                  <a:lnTo>
                    <a:pt x="2084" y="4542"/>
                  </a:lnTo>
                  <a:lnTo>
                    <a:pt x="2060" y="4531"/>
                  </a:lnTo>
                  <a:lnTo>
                    <a:pt x="2037" y="4520"/>
                  </a:lnTo>
                  <a:lnTo>
                    <a:pt x="2013" y="4508"/>
                  </a:lnTo>
                  <a:lnTo>
                    <a:pt x="1990" y="4496"/>
                  </a:lnTo>
                  <a:lnTo>
                    <a:pt x="1968" y="4483"/>
                  </a:lnTo>
                  <a:lnTo>
                    <a:pt x="1946" y="4470"/>
                  </a:lnTo>
                  <a:lnTo>
                    <a:pt x="1925" y="4456"/>
                  </a:lnTo>
                  <a:lnTo>
                    <a:pt x="1903" y="4442"/>
                  </a:lnTo>
                  <a:lnTo>
                    <a:pt x="1883" y="4426"/>
                  </a:lnTo>
                  <a:lnTo>
                    <a:pt x="1863" y="4410"/>
                  </a:lnTo>
                  <a:lnTo>
                    <a:pt x="1844" y="4394"/>
                  </a:lnTo>
                  <a:lnTo>
                    <a:pt x="1826" y="4377"/>
                  </a:lnTo>
                  <a:lnTo>
                    <a:pt x="1807" y="4360"/>
                  </a:lnTo>
                  <a:lnTo>
                    <a:pt x="1789" y="4341"/>
                  </a:lnTo>
                  <a:lnTo>
                    <a:pt x="1772" y="4323"/>
                  </a:lnTo>
                  <a:lnTo>
                    <a:pt x="1756" y="4304"/>
                  </a:lnTo>
                  <a:lnTo>
                    <a:pt x="1740" y="4285"/>
                  </a:lnTo>
                  <a:lnTo>
                    <a:pt x="1724" y="4264"/>
                  </a:lnTo>
                  <a:lnTo>
                    <a:pt x="1708" y="4244"/>
                  </a:lnTo>
                  <a:lnTo>
                    <a:pt x="1694" y="4222"/>
                  </a:lnTo>
                  <a:lnTo>
                    <a:pt x="1680" y="4201"/>
                  </a:lnTo>
                  <a:lnTo>
                    <a:pt x="1667" y="4178"/>
                  </a:lnTo>
                  <a:lnTo>
                    <a:pt x="1654" y="4155"/>
                  </a:lnTo>
                  <a:lnTo>
                    <a:pt x="1642" y="4132"/>
                  </a:lnTo>
                  <a:lnTo>
                    <a:pt x="1630" y="4109"/>
                  </a:lnTo>
                  <a:lnTo>
                    <a:pt x="1619" y="4083"/>
                  </a:lnTo>
                  <a:lnTo>
                    <a:pt x="1608" y="4059"/>
                  </a:lnTo>
                  <a:lnTo>
                    <a:pt x="1598" y="4033"/>
                  </a:lnTo>
                  <a:lnTo>
                    <a:pt x="1588" y="4007"/>
                  </a:lnTo>
                  <a:lnTo>
                    <a:pt x="1579" y="3980"/>
                  </a:lnTo>
                  <a:lnTo>
                    <a:pt x="1571" y="3953"/>
                  </a:lnTo>
                  <a:lnTo>
                    <a:pt x="1563" y="3925"/>
                  </a:lnTo>
                  <a:lnTo>
                    <a:pt x="1556" y="3897"/>
                  </a:lnTo>
                  <a:lnTo>
                    <a:pt x="1549" y="3869"/>
                  </a:lnTo>
                  <a:lnTo>
                    <a:pt x="1543" y="3839"/>
                  </a:lnTo>
                  <a:lnTo>
                    <a:pt x="1537" y="3809"/>
                  </a:lnTo>
                  <a:lnTo>
                    <a:pt x="1532" y="3778"/>
                  </a:lnTo>
                  <a:lnTo>
                    <a:pt x="1527" y="3748"/>
                  </a:lnTo>
                  <a:lnTo>
                    <a:pt x="1523" y="3717"/>
                  </a:lnTo>
                  <a:lnTo>
                    <a:pt x="1520" y="3684"/>
                  </a:lnTo>
                  <a:lnTo>
                    <a:pt x="1517" y="3652"/>
                  </a:lnTo>
                  <a:lnTo>
                    <a:pt x="1514" y="3619"/>
                  </a:lnTo>
                  <a:lnTo>
                    <a:pt x="1513" y="3585"/>
                  </a:lnTo>
                  <a:lnTo>
                    <a:pt x="1510" y="3551"/>
                  </a:lnTo>
                  <a:lnTo>
                    <a:pt x="1509" y="3516"/>
                  </a:lnTo>
                  <a:lnTo>
                    <a:pt x="1509" y="3481"/>
                  </a:lnTo>
                  <a:lnTo>
                    <a:pt x="1510" y="3431"/>
                  </a:lnTo>
                  <a:lnTo>
                    <a:pt x="1511" y="3382"/>
                  </a:lnTo>
                  <a:lnTo>
                    <a:pt x="1514" y="3332"/>
                  </a:lnTo>
                  <a:lnTo>
                    <a:pt x="1517" y="3283"/>
                  </a:lnTo>
                  <a:lnTo>
                    <a:pt x="1521" y="3236"/>
                  </a:lnTo>
                  <a:lnTo>
                    <a:pt x="1526" y="3188"/>
                  </a:lnTo>
                  <a:lnTo>
                    <a:pt x="1532" y="3141"/>
                  </a:lnTo>
                  <a:lnTo>
                    <a:pt x="1539" y="3094"/>
                  </a:lnTo>
                  <a:lnTo>
                    <a:pt x="1547" y="3049"/>
                  </a:lnTo>
                  <a:lnTo>
                    <a:pt x="1556" y="3003"/>
                  </a:lnTo>
                  <a:lnTo>
                    <a:pt x="1565" y="2958"/>
                  </a:lnTo>
                  <a:lnTo>
                    <a:pt x="1576" y="2914"/>
                  </a:lnTo>
                  <a:lnTo>
                    <a:pt x="1587" y="2870"/>
                  </a:lnTo>
                  <a:lnTo>
                    <a:pt x="1599" y="2827"/>
                  </a:lnTo>
                  <a:lnTo>
                    <a:pt x="1613" y="2783"/>
                  </a:lnTo>
                  <a:lnTo>
                    <a:pt x="1628" y="2741"/>
                  </a:lnTo>
                  <a:lnTo>
                    <a:pt x="1643" y="2699"/>
                  </a:lnTo>
                  <a:lnTo>
                    <a:pt x="1659" y="2658"/>
                  </a:lnTo>
                  <a:lnTo>
                    <a:pt x="1675" y="2617"/>
                  </a:lnTo>
                  <a:lnTo>
                    <a:pt x="1693" y="2577"/>
                  </a:lnTo>
                  <a:lnTo>
                    <a:pt x="1713" y="2537"/>
                  </a:lnTo>
                  <a:lnTo>
                    <a:pt x="1732" y="2498"/>
                  </a:lnTo>
                  <a:lnTo>
                    <a:pt x="1753" y="2458"/>
                  </a:lnTo>
                  <a:lnTo>
                    <a:pt x="1774" y="2420"/>
                  </a:lnTo>
                  <a:lnTo>
                    <a:pt x="1797" y="2382"/>
                  </a:lnTo>
                  <a:lnTo>
                    <a:pt x="1821" y="2345"/>
                  </a:lnTo>
                  <a:lnTo>
                    <a:pt x="1845" y="2309"/>
                  </a:lnTo>
                  <a:lnTo>
                    <a:pt x="1870" y="2272"/>
                  </a:lnTo>
                  <a:lnTo>
                    <a:pt x="1896" y="2237"/>
                  </a:lnTo>
                  <a:lnTo>
                    <a:pt x="1924" y="2201"/>
                  </a:lnTo>
                  <a:lnTo>
                    <a:pt x="1952" y="2167"/>
                  </a:lnTo>
                  <a:lnTo>
                    <a:pt x="1980" y="2132"/>
                  </a:lnTo>
                  <a:lnTo>
                    <a:pt x="2011" y="2099"/>
                  </a:lnTo>
                  <a:lnTo>
                    <a:pt x="2041" y="2067"/>
                  </a:lnTo>
                  <a:lnTo>
                    <a:pt x="2071" y="2035"/>
                  </a:lnTo>
                  <a:lnTo>
                    <a:pt x="2102" y="2005"/>
                  </a:lnTo>
                  <a:lnTo>
                    <a:pt x="2134" y="1975"/>
                  </a:lnTo>
                  <a:lnTo>
                    <a:pt x="2165" y="1947"/>
                  </a:lnTo>
                  <a:lnTo>
                    <a:pt x="2197" y="1920"/>
                  </a:lnTo>
                  <a:lnTo>
                    <a:pt x="2231" y="1893"/>
                  </a:lnTo>
                  <a:lnTo>
                    <a:pt x="2264" y="1868"/>
                  </a:lnTo>
                  <a:lnTo>
                    <a:pt x="2297" y="1845"/>
                  </a:lnTo>
                  <a:lnTo>
                    <a:pt x="2332" y="1822"/>
                  </a:lnTo>
                  <a:lnTo>
                    <a:pt x="2366" y="1800"/>
                  </a:lnTo>
                  <a:lnTo>
                    <a:pt x="2400" y="1779"/>
                  </a:lnTo>
                  <a:lnTo>
                    <a:pt x="2436" y="1760"/>
                  </a:lnTo>
                  <a:lnTo>
                    <a:pt x="2472" y="1741"/>
                  </a:lnTo>
                  <a:lnTo>
                    <a:pt x="2509" y="1723"/>
                  </a:lnTo>
                  <a:lnTo>
                    <a:pt x="2545" y="1707"/>
                  </a:lnTo>
                  <a:lnTo>
                    <a:pt x="2581" y="1691"/>
                  </a:lnTo>
                  <a:lnTo>
                    <a:pt x="2619" y="1677"/>
                  </a:lnTo>
                  <a:lnTo>
                    <a:pt x="2657" y="1664"/>
                  </a:lnTo>
                  <a:lnTo>
                    <a:pt x="2695" y="1651"/>
                  </a:lnTo>
                  <a:lnTo>
                    <a:pt x="2734" y="1640"/>
                  </a:lnTo>
                  <a:lnTo>
                    <a:pt x="2773" y="1630"/>
                  </a:lnTo>
                  <a:lnTo>
                    <a:pt x="2813" y="1621"/>
                  </a:lnTo>
                  <a:lnTo>
                    <a:pt x="2853" y="1613"/>
                  </a:lnTo>
                  <a:lnTo>
                    <a:pt x="2893" y="1606"/>
                  </a:lnTo>
                  <a:lnTo>
                    <a:pt x="2935" y="1601"/>
                  </a:lnTo>
                  <a:lnTo>
                    <a:pt x="2976" y="1596"/>
                  </a:lnTo>
                  <a:lnTo>
                    <a:pt x="3018" y="1592"/>
                  </a:lnTo>
                  <a:lnTo>
                    <a:pt x="3060" y="1590"/>
                  </a:lnTo>
                  <a:lnTo>
                    <a:pt x="3102" y="1588"/>
                  </a:lnTo>
                  <a:lnTo>
                    <a:pt x="3146" y="1587"/>
                  </a:lnTo>
                  <a:lnTo>
                    <a:pt x="3177" y="1588"/>
                  </a:lnTo>
                  <a:lnTo>
                    <a:pt x="3209" y="1589"/>
                  </a:lnTo>
                  <a:lnTo>
                    <a:pt x="3240" y="1591"/>
                  </a:lnTo>
                  <a:lnTo>
                    <a:pt x="3270" y="1594"/>
                  </a:lnTo>
                  <a:lnTo>
                    <a:pt x="3299" y="1597"/>
                  </a:lnTo>
                  <a:lnTo>
                    <a:pt x="3329" y="1602"/>
                  </a:lnTo>
                  <a:lnTo>
                    <a:pt x="3358" y="1607"/>
                  </a:lnTo>
                  <a:lnTo>
                    <a:pt x="3386" y="1613"/>
                  </a:lnTo>
                  <a:lnTo>
                    <a:pt x="3414" y="1619"/>
                  </a:lnTo>
                  <a:lnTo>
                    <a:pt x="3441" y="1627"/>
                  </a:lnTo>
                  <a:lnTo>
                    <a:pt x="3467" y="1635"/>
                  </a:lnTo>
                  <a:lnTo>
                    <a:pt x="3493" y="1644"/>
                  </a:lnTo>
                  <a:lnTo>
                    <a:pt x="3519" y="1655"/>
                  </a:lnTo>
                  <a:lnTo>
                    <a:pt x="3544" y="1665"/>
                  </a:lnTo>
                  <a:lnTo>
                    <a:pt x="3568" y="1677"/>
                  </a:lnTo>
                  <a:lnTo>
                    <a:pt x="3592" y="1689"/>
                  </a:lnTo>
                  <a:lnTo>
                    <a:pt x="3616" y="1702"/>
                  </a:lnTo>
                  <a:lnTo>
                    <a:pt x="3639" y="1716"/>
                  </a:lnTo>
                  <a:lnTo>
                    <a:pt x="3661" y="1730"/>
                  </a:lnTo>
                  <a:lnTo>
                    <a:pt x="3683" y="1747"/>
                  </a:lnTo>
                  <a:lnTo>
                    <a:pt x="3705" y="1763"/>
                  </a:lnTo>
                  <a:lnTo>
                    <a:pt x="3726" y="1780"/>
                  </a:lnTo>
                  <a:lnTo>
                    <a:pt x="3746" y="1798"/>
                  </a:lnTo>
                  <a:lnTo>
                    <a:pt x="3766" y="1817"/>
                  </a:lnTo>
                  <a:lnTo>
                    <a:pt x="3786" y="1837"/>
                  </a:lnTo>
                  <a:lnTo>
                    <a:pt x="3805" y="1857"/>
                  </a:lnTo>
                  <a:lnTo>
                    <a:pt x="3824" y="1878"/>
                  </a:lnTo>
                  <a:lnTo>
                    <a:pt x="3842" y="1901"/>
                  </a:lnTo>
                  <a:lnTo>
                    <a:pt x="3859" y="1924"/>
                  </a:lnTo>
                  <a:lnTo>
                    <a:pt x="3876" y="1947"/>
                  </a:lnTo>
                  <a:lnTo>
                    <a:pt x="3892" y="1972"/>
                  </a:lnTo>
                  <a:lnTo>
                    <a:pt x="3909" y="1998"/>
                  </a:lnTo>
                  <a:lnTo>
                    <a:pt x="4082" y="1691"/>
                  </a:lnTo>
                  <a:lnTo>
                    <a:pt x="4769" y="1691"/>
                  </a:lnTo>
                  <a:lnTo>
                    <a:pt x="4259" y="3728"/>
                  </a:lnTo>
                  <a:lnTo>
                    <a:pt x="4258" y="3737"/>
                  </a:lnTo>
                  <a:lnTo>
                    <a:pt x="4256" y="3749"/>
                  </a:lnTo>
                  <a:lnTo>
                    <a:pt x="4251" y="3776"/>
                  </a:lnTo>
                  <a:lnTo>
                    <a:pt x="4248" y="3801"/>
                  </a:lnTo>
                  <a:lnTo>
                    <a:pt x="4246" y="3822"/>
                  </a:lnTo>
                  <a:lnTo>
                    <a:pt x="4246" y="3839"/>
                  </a:lnTo>
                  <a:lnTo>
                    <a:pt x="4246" y="3864"/>
                  </a:lnTo>
                  <a:lnTo>
                    <a:pt x="4249" y="3886"/>
                  </a:lnTo>
                  <a:lnTo>
                    <a:pt x="4251" y="3897"/>
                  </a:lnTo>
                  <a:lnTo>
                    <a:pt x="4253" y="3907"/>
                  </a:lnTo>
                  <a:lnTo>
                    <a:pt x="4256" y="3917"/>
                  </a:lnTo>
                  <a:lnTo>
                    <a:pt x="4259" y="3926"/>
                  </a:lnTo>
                  <a:lnTo>
                    <a:pt x="4263" y="3935"/>
                  </a:lnTo>
                  <a:lnTo>
                    <a:pt x="4266" y="3944"/>
                  </a:lnTo>
                  <a:lnTo>
                    <a:pt x="4271" y="3953"/>
                  </a:lnTo>
                  <a:lnTo>
                    <a:pt x="4276" y="3960"/>
                  </a:lnTo>
                  <a:lnTo>
                    <a:pt x="4281" y="3968"/>
                  </a:lnTo>
                  <a:lnTo>
                    <a:pt x="4286" y="3975"/>
                  </a:lnTo>
                  <a:lnTo>
                    <a:pt x="4292" y="3981"/>
                  </a:lnTo>
                  <a:lnTo>
                    <a:pt x="4299" y="3987"/>
                  </a:lnTo>
                  <a:lnTo>
                    <a:pt x="4306" y="3993"/>
                  </a:lnTo>
                  <a:lnTo>
                    <a:pt x="4313" y="3999"/>
                  </a:lnTo>
                  <a:lnTo>
                    <a:pt x="4321" y="4004"/>
                  </a:lnTo>
                  <a:lnTo>
                    <a:pt x="4329" y="4008"/>
                  </a:lnTo>
                  <a:lnTo>
                    <a:pt x="4337" y="4013"/>
                  </a:lnTo>
                  <a:lnTo>
                    <a:pt x="4346" y="4017"/>
                  </a:lnTo>
                  <a:lnTo>
                    <a:pt x="4355" y="4020"/>
                  </a:lnTo>
                  <a:lnTo>
                    <a:pt x="4364" y="4024"/>
                  </a:lnTo>
                  <a:lnTo>
                    <a:pt x="4385" y="4030"/>
                  </a:lnTo>
                  <a:lnTo>
                    <a:pt x="4407" y="4034"/>
                  </a:lnTo>
                  <a:lnTo>
                    <a:pt x="4430" y="4036"/>
                  </a:lnTo>
                  <a:lnTo>
                    <a:pt x="4455" y="4036"/>
                  </a:lnTo>
                  <a:lnTo>
                    <a:pt x="4483" y="4036"/>
                  </a:lnTo>
                  <a:lnTo>
                    <a:pt x="4512" y="4035"/>
                  </a:lnTo>
                  <a:lnTo>
                    <a:pt x="4540" y="4032"/>
                  </a:lnTo>
                  <a:lnTo>
                    <a:pt x="4567" y="4029"/>
                  </a:lnTo>
                  <a:lnTo>
                    <a:pt x="4595" y="4024"/>
                  </a:lnTo>
                  <a:lnTo>
                    <a:pt x="4623" y="4019"/>
                  </a:lnTo>
                  <a:lnTo>
                    <a:pt x="4650" y="4013"/>
                  </a:lnTo>
                  <a:lnTo>
                    <a:pt x="4676" y="4006"/>
                  </a:lnTo>
                  <a:lnTo>
                    <a:pt x="4704" y="3998"/>
                  </a:lnTo>
                  <a:lnTo>
                    <a:pt x="4730" y="3989"/>
                  </a:lnTo>
                  <a:lnTo>
                    <a:pt x="4756" y="3980"/>
                  </a:lnTo>
                  <a:lnTo>
                    <a:pt x="4782" y="3969"/>
                  </a:lnTo>
                  <a:lnTo>
                    <a:pt x="4808" y="3957"/>
                  </a:lnTo>
                  <a:lnTo>
                    <a:pt x="4834" y="3945"/>
                  </a:lnTo>
                  <a:lnTo>
                    <a:pt x="4859" y="3931"/>
                  </a:lnTo>
                  <a:lnTo>
                    <a:pt x="4884" y="3916"/>
                  </a:lnTo>
                  <a:lnTo>
                    <a:pt x="4909" y="3901"/>
                  </a:lnTo>
                  <a:lnTo>
                    <a:pt x="4934" y="3885"/>
                  </a:lnTo>
                  <a:lnTo>
                    <a:pt x="4958" y="3868"/>
                  </a:lnTo>
                  <a:lnTo>
                    <a:pt x="4982" y="3848"/>
                  </a:lnTo>
                  <a:lnTo>
                    <a:pt x="5007" y="3830"/>
                  </a:lnTo>
                  <a:lnTo>
                    <a:pt x="5031" y="3810"/>
                  </a:lnTo>
                  <a:lnTo>
                    <a:pt x="5054" y="3789"/>
                  </a:lnTo>
                  <a:lnTo>
                    <a:pt x="5077" y="3766"/>
                  </a:lnTo>
                  <a:lnTo>
                    <a:pt x="5101" y="3743"/>
                  </a:lnTo>
                  <a:lnTo>
                    <a:pt x="5124" y="3720"/>
                  </a:lnTo>
                  <a:lnTo>
                    <a:pt x="5146" y="3694"/>
                  </a:lnTo>
                  <a:lnTo>
                    <a:pt x="5169" y="3669"/>
                  </a:lnTo>
                  <a:lnTo>
                    <a:pt x="5191" y="3642"/>
                  </a:lnTo>
                  <a:lnTo>
                    <a:pt x="5214" y="3614"/>
                  </a:lnTo>
                  <a:lnTo>
                    <a:pt x="5235" y="3586"/>
                  </a:lnTo>
                  <a:lnTo>
                    <a:pt x="5257" y="3556"/>
                  </a:lnTo>
                  <a:lnTo>
                    <a:pt x="5278" y="3526"/>
                  </a:lnTo>
                  <a:lnTo>
                    <a:pt x="5299" y="3496"/>
                  </a:lnTo>
                  <a:lnTo>
                    <a:pt x="5319" y="3465"/>
                  </a:lnTo>
                  <a:lnTo>
                    <a:pt x="5338" y="3434"/>
                  </a:lnTo>
                  <a:lnTo>
                    <a:pt x="5356" y="3403"/>
                  </a:lnTo>
                  <a:lnTo>
                    <a:pt x="5374" y="3371"/>
                  </a:lnTo>
                  <a:lnTo>
                    <a:pt x="5391" y="3339"/>
                  </a:lnTo>
                  <a:lnTo>
                    <a:pt x="5408" y="3307"/>
                  </a:lnTo>
                  <a:lnTo>
                    <a:pt x="5424" y="3274"/>
                  </a:lnTo>
                  <a:lnTo>
                    <a:pt x="5439" y="3241"/>
                  </a:lnTo>
                  <a:lnTo>
                    <a:pt x="5453" y="3208"/>
                  </a:lnTo>
                  <a:lnTo>
                    <a:pt x="5467" y="3174"/>
                  </a:lnTo>
                  <a:lnTo>
                    <a:pt x="5480" y="3141"/>
                  </a:lnTo>
                  <a:lnTo>
                    <a:pt x="5492" y="3106"/>
                  </a:lnTo>
                  <a:lnTo>
                    <a:pt x="5505" y="3072"/>
                  </a:lnTo>
                  <a:lnTo>
                    <a:pt x="5516" y="3036"/>
                  </a:lnTo>
                  <a:lnTo>
                    <a:pt x="5526" y="3001"/>
                  </a:lnTo>
                  <a:lnTo>
                    <a:pt x="5536" y="2966"/>
                  </a:lnTo>
                  <a:lnTo>
                    <a:pt x="5545" y="2930"/>
                  </a:lnTo>
                  <a:lnTo>
                    <a:pt x="5553" y="2894"/>
                  </a:lnTo>
                  <a:lnTo>
                    <a:pt x="5561" y="2857"/>
                  </a:lnTo>
                  <a:lnTo>
                    <a:pt x="5568" y="2821"/>
                  </a:lnTo>
                  <a:lnTo>
                    <a:pt x="5574" y="2783"/>
                  </a:lnTo>
                  <a:lnTo>
                    <a:pt x="5580" y="2746"/>
                  </a:lnTo>
                  <a:lnTo>
                    <a:pt x="5585" y="2708"/>
                  </a:lnTo>
                  <a:lnTo>
                    <a:pt x="5589" y="2670"/>
                  </a:lnTo>
                  <a:lnTo>
                    <a:pt x="5593" y="2632"/>
                  </a:lnTo>
                  <a:lnTo>
                    <a:pt x="5597" y="2593"/>
                  </a:lnTo>
                  <a:lnTo>
                    <a:pt x="5599" y="2555"/>
                  </a:lnTo>
                  <a:lnTo>
                    <a:pt x="5601" y="2515"/>
                  </a:lnTo>
                  <a:lnTo>
                    <a:pt x="5602" y="2476"/>
                  </a:lnTo>
                  <a:lnTo>
                    <a:pt x="5602" y="2435"/>
                  </a:lnTo>
                  <a:lnTo>
                    <a:pt x="5601" y="2385"/>
                  </a:lnTo>
                  <a:lnTo>
                    <a:pt x="5600" y="2337"/>
                  </a:lnTo>
                  <a:lnTo>
                    <a:pt x="5597" y="2288"/>
                  </a:lnTo>
                  <a:lnTo>
                    <a:pt x="5592" y="2241"/>
                  </a:lnTo>
                  <a:lnTo>
                    <a:pt x="5587" y="2193"/>
                  </a:lnTo>
                  <a:lnTo>
                    <a:pt x="5580" y="2147"/>
                  </a:lnTo>
                  <a:lnTo>
                    <a:pt x="5573" y="2100"/>
                  </a:lnTo>
                  <a:lnTo>
                    <a:pt x="5564" y="2054"/>
                  </a:lnTo>
                  <a:lnTo>
                    <a:pt x="5554" y="2010"/>
                  </a:lnTo>
                  <a:lnTo>
                    <a:pt x="5543" y="1965"/>
                  </a:lnTo>
                  <a:lnTo>
                    <a:pt x="5531" y="1921"/>
                  </a:lnTo>
                  <a:lnTo>
                    <a:pt x="5518" y="1878"/>
                  </a:lnTo>
                  <a:lnTo>
                    <a:pt x="5503" y="1835"/>
                  </a:lnTo>
                  <a:lnTo>
                    <a:pt x="5487" y="1793"/>
                  </a:lnTo>
                  <a:lnTo>
                    <a:pt x="5470" y="1752"/>
                  </a:lnTo>
                  <a:lnTo>
                    <a:pt x="5452" y="1710"/>
                  </a:lnTo>
                  <a:lnTo>
                    <a:pt x="5433" y="1670"/>
                  </a:lnTo>
                  <a:lnTo>
                    <a:pt x="5413" y="1630"/>
                  </a:lnTo>
                  <a:lnTo>
                    <a:pt x="5390" y="1591"/>
                  </a:lnTo>
                  <a:lnTo>
                    <a:pt x="5368" y="1552"/>
                  </a:lnTo>
                  <a:lnTo>
                    <a:pt x="5344" y="1514"/>
                  </a:lnTo>
                  <a:lnTo>
                    <a:pt x="5319" y="1476"/>
                  </a:lnTo>
                  <a:lnTo>
                    <a:pt x="5292" y="1439"/>
                  </a:lnTo>
                  <a:lnTo>
                    <a:pt x="5265" y="1402"/>
                  </a:lnTo>
                  <a:lnTo>
                    <a:pt x="5237" y="1367"/>
                  </a:lnTo>
                  <a:lnTo>
                    <a:pt x="5207" y="1332"/>
                  </a:lnTo>
                  <a:lnTo>
                    <a:pt x="5175" y="1297"/>
                  </a:lnTo>
                  <a:lnTo>
                    <a:pt x="5144" y="1263"/>
                  </a:lnTo>
                  <a:lnTo>
                    <a:pt x="5111" y="1229"/>
                  </a:lnTo>
                  <a:lnTo>
                    <a:pt x="5075" y="1197"/>
                  </a:lnTo>
                  <a:lnTo>
                    <a:pt x="5040" y="1165"/>
                  </a:lnTo>
                  <a:lnTo>
                    <a:pt x="5004" y="1132"/>
                  </a:lnTo>
                  <a:lnTo>
                    <a:pt x="4965" y="1101"/>
                  </a:lnTo>
                  <a:lnTo>
                    <a:pt x="4927" y="1071"/>
                  </a:lnTo>
                  <a:lnTo>
                    <a:pt x="4888" y="1042"/>
                  </a:lnTo>
                  <a:lnTo>
                    <a:pt x="4848" y="1014"/>
                  </a:lnTo>
                  <a:lnTo>
                    <a:pt x="4808" y="987"/>
                  </a:lnTo>
                  <a:lnTo>
                    <a:pt x="4766" y="961"/>
                  </a:lnTo>
                  <a:lnTo>
                    <a:pt x="4725" y="936"/>
                  </a:lnTo>
                  <a:lnTo>
                    <a:pt x="4681" y="911"/>
                  </a:lnTo>
                  <a:lnTo>
                    <a:pt x="4638" y="888"/>
                  </a:lnTo>
                  <a:lnTo>
                    <a:pt x="4594" y="866"/>
                  </a:lnTo>
                  <a:lnTo>
                    <a:pt x="4549" y="845"/>
                  </a:lnTo>
                  <a:lnTo>
                    <a:pt x="4504" y="825"/>
                  </a:lnTo>
                  <a:lnTo>
                    <a:pt x="4458" y="806"/>
                  </a:lnTo>
                  <a:lnTo>
                    <a:pt x="4411" y="788"/>
                  </a:lnTo>
                  <a:lnTo>
                    <a:pt x="4363" y="771"/>
                  </a:lnTo>
                  <a:lnTo>
                    <a:pt x="4315" y="755"/>
                  </a:lnTo>
                  <a:lnTo>
                    <a:pt x="4266" y="739"/>
                  </a:lnTo>
                  <a:lnTo>
                    <a:pt x="4217" y="724"/>
                  </a:lnTo>
                  <a:lnTo>
                    <a:pt x="4166" y="711"/>
                  </a:lnTo>
                  <a:lnTo>
                    <a:pt x="4115" y="699"/>
                  </a:lnTo>
                  <a:lnTo>
                    <a:pt x="4063" y="688"/>
                  </a:lnTo>
                  <a:lnTo>
                    <a:pt x="4011" y="678"/>
                  </a:lnTo>
                  <a:lnTo>
                    <a:pt x="3957" y="668"/>
                  </a:lnTo>
                  <a:lnTo>
                    <a:pt x="3903" y="659"/>
                  </a:lnTo>
                  <a:lnTo>
                    <a:pt x="3848" y="652"/>
                  </a:lnTo>
                  <a:lnTo>
                    <a:pt x="3792" y="646"/>
                  </a:lnTo>
                  <a:lnTo>
                    <a:pt x="3737" y="640"/>
                  </a:lnTo>
                  <a:lnTo>
                    <a:pt x="3680" y="636"/>
                  </a:lnTo>
                  <a:lnTo>
                    <a:pt x="3623" y="633"/>
                  </a:lnTo>
                  <a:lnTo>
                    <a:pt x="3564" y="630"/>
                  </a:lnTo>
                  <a:lnTo>
                    <a:pt x="3506" y="629"/>
                  </a:lnTo>
                  <a:lnTo>
                    <a:pt x="3446" y="628"/>
                  </a:lnTo>
                  <a:lnTo>
                    <a:pt x="3384" y="629"/>
                  </a:lnTo>
                  <a:lnTo>
                    <a:pt x="3324" y="630"/>
                  </a:lnTo>
                  <a:lnTo>
                    <a:pt x="3263" y="633"/>
                  </a:lnTo>
                  <a:lnTo>
                    <a:pt x="3203" y="636"/>
                  </a:lnTo>
                  <a:lnTo>
                    <a:pt x="3145" y="640"/>
                  </a:lnTo>
                  <a:lnTo>
                    <a:pt x="3086" y="645"/>
                  </a:lnTo>
                  <a:lnTo>
                    <a:pt x="3028" y="651"/>
                  </a:lnTo>
                  <a:lnTo>
                    <a:pt x="2971" y="659"/>
                  </a:lnTo>
                  <a:lnTo>
                    <a:pt x="2914" y="667"/>
                  </a:lnTo>
                  <a:lnTo>
                    <a:pt x="2858" y="677"/>
                  </a:lnTo>
                  <a:lnTo>
                    <a:pt x="2801" y="686"/>
                  </a:lnTo>
                  <a:lnTo>
                    <a:pt x="2747" y="697"/>
                  </a:lnTo>
                  <a:lnTo>
                    <a:pt x="2692" y="709"/>
                  </a:lnTo>
                  <a:lnTo>
                    <a:pt x="2639" y="722"/>
                  </a:lnTo>
                  <a:lnTo>
                    <a:pt x="2585" y="735"/>
                  </a:lnTo>
                  <a:lnTo>
                    <a:pt x="2533" y="750"/>
                  </a:lnTo>
                  <a:lnTo>
                    <a:pt x="2480" y="766"/>
                  </a:lnTo>
                  <a:lnTo>
                    <a:pt x="2429" y="783"/>
                  </a:lnTo>
                  <a:lnTo>
                    <a:pt x="2377" y="800"/>
                  </a:lnTo>
                  <a:lnTo>
                    <a:pt x="2327" y="818"/>
                  </a:lnTo>
                  <a:lnTo>
                    <a:pt x="2277" y="839"/>
                  </a:lnTo>
                  <a:lnTo>
                    <a:pt x="2228" y="859"/>
                  </a:lnTo>
                  <a:lnTo>
                    <a:pt x="2179" y="880"/>
                  </a:lnTo>
                  <a:lnTo>
                    <a:pt x="2131" y="902"/>
                  </a:lnTo>
                  <a:lnTo>
                    <a:pt x="2083" y="926"/>
                  </a:lnTo>
                  <a:lnTo>
                    <a:pt x="2036" y="950"/>
                  </a:lnTo>
                  <a:lnTo>
                    <a:pt x="1989" y="975"/>
                  </a:lnTo>
                  <a:lnTo>
                    <a:pt x="1944" y="1002"/>
                  </a:lnTo>
                  <a:lnTo>
                    <a:pt x="1898" y="1029"/>
                  </a:lnTo>
                  <a:lnTo>
                    <a:pt x="1853" y="1057"/>
                  </a:lnTo>
                  <a:lnTo>
                    <a:pt x="1809" y="1087"/>
                  </a:lnTo>
                  <a:lnTo>
                    <a:pt x="1766" y="1116"/>
                  </a:lnTo>
                  <a:lnTo>
                    <a:pt x="1734" y="1139"/>
                  </a:lnTo>
                  <a:lnTo>
                    <a:pt x="1701" y="1163"/>
                  </a:lnTo>
                  <a:lnTo>
                    <a:pt x="1671" y="1187"/>
                  </a:lnTo>
                  <a:lnTo>
                    <a:pt x="1640" y="1211"/>
                  </a:lnTo>
                  <a:lnTo>
                    <a:pt x="1609" y="1235"/>
                  </a:lnTo>
                  <a:lnTo>
                    <a:pt x="1580" y="1261"/>
                  </a:lnTo>
                  <a:lnTo>
                    <a:pt x="1551" y="1286"/>
                  </a:lnTo>
                  <a:lnTo>
                    <a:pt x="1522" y="1311"/>
                  </a:lnTo>
                  <a:lnTo>
                    <a:pt x="1493" y="1338"/>
                  </a:lnTo>
                  <a:lnTo>
                    <a:pt x="1466" y="1364"/>
                  </a:lnTo>
                  <a:lnTo>
                    <a:pt x="1438" y="1390"/>
                  </a:lnTo>
                  <a:lnTo>
                    <a:pt x="1411" y="1418"/>
                  </a:lnTo>
                  <a:lnTo>
                    <a:pt x="1384" y="1445"/>
                  </a:lnTo>
                  <a:lnTo>
                    <a:pt x="1359" y="1472"/>
                  </a:lnTo>
                  <a:lnTo>
                    <a:pt x="1333" y="1501"/>
                  </a:lnTo>
                  <a:lnTo>
                    <a:pt x="1308" y="1529"/>
                  </a:lnTo>
                  <a:lnTo>
                    <a:pt x="1283" y="1558"/>
                  </a:lnTo>
                  <a:lnTo>
                    <a:pt x="1259" y="1588"/>
                  </a:lnTo>
                  <a:lnTo>
                    <a:pt x="1236" y="1617"/>
                  </a:lnTo>
                  <a:lnTo>
                    <a:pt x="1212" y="1646"/>
                  </a:lnTo>
                  <a:lnTo>
                    <a:pt x="1189" y="1677"/>
                  </a:lnTo>
                  <a:lnTo>
                    <a:pt x="1167" y="1707"/>
                  </a:lnTo>
                  <a:lnTo>
                    <a:pt x="1145" y="1739"/>
                  </a:lnTo>
                  <a:lnTo>
                    <a:pt x="1124" y="1770"/>
                  </a:lnTo>
                  <a:lnTo>
                    <a:pt x="1102" y="1801"/>
                  </a:lnTo>
                  <a:lnTo>
                    <a:pt x="1082" y="1834"/>
                  </a:lnTo>
                  <a:lnTo>
                    <a:pt x="1062" y="1866"/>
                  </a:lnTo>
                  <a:lnTo>
                    <a:pt x="1043" y="1899"/>
                  </a:lnTo>
                  <a:lnTo>
                    <a:pt x="1024" y="1932"/>
                  </a:lnTo>
                  <a:lnTo>
                    <a:pt x="1005" y="1965"/>
                  </a:lnTo>
                  <a:lnTo>
                    <a:pt x="987" y="1999"/>
                  </a:lnTo>
                  <a:lnTo>
                    <a:pt x="969" y="2033"/>
                  </a:lnTo>
                  <a:lnTo>
                    <a:pt x="952" y="2068"/>
                  </a:lnTo>
                  <a:lnTo>
                    <a:pt x="936" y="2102"/>
                  </a:lnTo>
                  <a:lnTo>
                    <a:pt x="920" y="2136"/>
                  </a:lnTo>
                  <a:lnTo>
                    <a:pt x="903" y="2172"/>
                  </a:lnTo>
                  <a:lnTo>
                    <a:pt x="888" y="2207"/>
                  </a:lnTo>
                  <a:lnTo>
                    <a:pt x="874" y="2242"/>
                  </a:lnTo>
                  <a:lnTo>
                    <a:pt x="860" y="2277"/>
                  </a:lnTo>
                  <a:lnTo>
                    <a:pt x="847" y="2314"/>
                  </a:lnTo>
                  <a:lnTo>
                    <a:pt x="834" y="2349"/>
                  </a:lnTo>
                  <a:lnTo>
                    <a:pt x="822" y="2385"/>
                  </a:lnTo>
                  <a:lnTo>
                    <a:pt x="809" y="2421"/>
                  </a:lnTo>
                  <a:lnTo>
                    <a:pt x="798" y="2457"/>
                  </a:lnTo>
                  <a:lnTo>
                    <a:pt x="788" y="2495"/>
                  </a:lnTo>
                  <a:lnTo>
                    <a:pt x="778" y="2531"/>
                  </a:lnTo>
                  <a:lnTo>
                    <a:pt x="768" y="2568"/>
                  </a:lnTo>
                  <a:lnTo>
                    <a:pt x="759" y="2605"/>
                  </a:lnTo>
                  <a:lnTo>
                    <a:pt x="751" y="2643"/>
                  </a:lnTo>
                  <a:lnTo>
                    <a:pt x="743" y="2680"/>
                  </a:lnTo>
                  <a:lnTo>
                    <a:pt x="736" y="2718"/>
                  </a:lnTo>
                  <a:lnTo>
                    <a:pt x="729" y="2755"/>
                  </a:lnTo>
                  <a:lnTo>
                    <a:pt x="723" y="2793"/>
                  </a:lnTo>
                  <a:lnTo>
                    <a:pt x="717" y="2832"/>
                  </a:lnTo>
                  <a:lnTo>
                    <a:pt x="711" y="2869"/>
                  </a:lnTo>
                  <a:lnTo>
                    <a:pt x="706" y="2909"/>
                  </a:lnTo>
                  <a:lnTo>
                    <a:pt x="702" y="2947"/>
                  </a:lnTo>
                  <a:lnTo>
                    <a:pt x="699" y="2986"/>
                  </a:lnTo>
                  <a:lnTo>
                    <a:pt x="696" y="3025"/>
                  </a:lnTo>
                  <a:lnTo>
                    <a:pt x="693" y="3065"/>
                  </a:lnTo>
                  <a:lnTo>
                    <a:pt x="691" y="3104"/>
                  </a:lnTo>
                  <a:lnTo>
                    <a:pt x="690" y="3144"/>
                  </a:lnTo>
                  <a:lnTo>
                    <a:pt x="689" y="3183"/>
                  </a:lnTo>
                  <a:lnTo>
                    <a:pt x="689" y="3223"/>
                  </a:lnTo>
                  <a:lnTo>
                    <a:pt x="690" y="3285"/>
                  </a:lnTo>
                  <a:lnTo>
                    <a:pt x="692" y="3348"/>
                  </a:lnTo>
                  <a:lnTo>
                    <a:pt x="695" y="3409"/>
                  </a:lnTo>
                  <a:lnTo>
                    <a:pt x="700" y="3469"/>
                  </a:lnTo>
                  <a:lnTo>
                    <a:pt x="705" y="3528"/>
                  </a:lnTo>
                  <a:lnTo>
                    <a:pt x="713" y="3587"/>
                  </a:lnTo>
                  <a:lnTo>
                    <a:pt x="722" y="3645"/>
                  </a:lnTo>
                  <a:lnTo>
                    <a:pt x="732" y="3703"/>
                  </a:lnTo>
                  <a:lnTo>
                    <a:pt x="743" y="3758"/>
                  </a:lnTo>
                  <a:lnTo>
                    <a:pt x="755" y="3814"/>
                  </a:lnTo>
                  <a:lnTo>
                    <a:pt x="769" y="3869"/>
                  </a:lnTo>
                  <a:lnTo>
                    <a:pt x="784" y="3922"/>
                  </a:lnTo>
                  <a:lnTo>
                    <a:pt x="800" y="3976"/>
                  </a:lnTo>
                  <a:lnTo>
                    <a:pt x="819" y="4029"/>
                  </a:lnTo>
                  <a:lnTo>
                    <a:pt x="838" y="4079"/>
                  </a:lnTo>
                  <a:lnTo>
                    <a:pt x="859" y="4130"/>
                  </a:lnTo>
                  <a:lnTo>
                    <a:pt x="880" y="4180"/>
                  </a:lnTo>
                  <a:lnTo>
                    <a:pt x="903" y="4229"/>
                  </a:lnTo>
                  <a:lnTo>
                    <a:pt x="928" y="4278"/>
                  </a:lnTo>
                  <a:lnTo>
                    <a:pt x="954" y="4325"/>
                  </a:lnTo>
                  <a:lnTo>
                    <a:pt x="980" y="4372"/>
                  </a:lnTo>
                  <a:lnTo>
                    <a:pt x="1009" y="4417"/>
                  </a:lnTo>
                  <a:lnTo>
                    <a:pt x="1039" y="4463"/>
                  </a:lnTo>
                  <a:lnTo>
                    <a:pt x="1070" y="4506"/>
                  </a:lnTo>
                  <a:lnTo>
                    <a:pt x="1102" y="4550"/>
                  </a:lnTo>
                  <a:lnTo>
                    <a:pt x="1136" y="4593"/>
                  </a:lnTo>
                  <a:lnTo>
                    <a:pt x="1171" y="4635"/>
                  </a:lnTo>
                  <a:lnTo>
                    <a:pt x="1207" y="4675"/>
                  </a:lnTo>
                  <a:lnTo>
                    <a:pt x="1245" y="4716"/>
                  </a:lnTo>
                  <a:lnTo>
                    <a:pt x="1284" y="4755"/>
                  </a:lnTo>
                  <a:lnTo>
                    <a:pt x="1325" y="4794"/>
                  </a:lnTo>
                  <a:lnTo>
                    <a:pt x="1366" y="4832"/>
                  </a:lnTo>
                  <a:lnTo>
                    <a:pt x="1408" y="4869"/>
                  </a:lnTo>
                  <a:lnTo>
                    <a:pt x="1453" y="4904"/>
                  </a:lnTo>
                  <a:lnTo>
                    <a:pt x="1497" y="4940"/>
                  </a:lnTo>
                  <a:lnTo>
                    <a:pt x="1543" y="4973"/>
                  </a:lnTo>
                  <a:lnTo>
                    <a:pt x="1588" y="5005"/>
                  </a:lnTo>
                  <a:lnTo>
                    <a:pt x="1636" y="5036"/>
                  </a:lnTo>
                  <a:lnTo>
                    <a:pt x="1684" y="5066"/>
                  </a:lnTo>
                  <a:lnTo>
                    <a:pt x="1733" y="5095"/>
                  </a:lnTo>
                  <a:lnTo>
                    <a:pt x="1782" y="5122"/>
                  </a:lnTo>
                  <a:lnTo>
                    <a:pt x="1834" y="5148"/>
                  </a:lnTo>
                  <a:lnTo>
                    <a:pt x="1885" y="5174"/>
                  </a:lnTo>
                  <a:lnTo>
                    <a:pt x="1938" y="5198"/>
                  </a:lnTo>
                  <a:lnTo>
                    <a:pt x="1991" y="5220"/>
                  </a:lnTo>
                  <a:lnTo>
                    <a:pt x="2046" y="5242"/>
                  </a:lnTo>
                  <a:lnTo>
                    <a:pt x="2101" y="5263"/>
                  </a:lnTo>
                  <a:lnTo>
                    <a:pt x="2157" y="5282"/>
                  </a:lnTo>
                  <a:lnTo>
                    <a:pt x="2215" y="5300"/>
                  </a:lnTo>
                  <a:lnTo>
                    <a:pt x="2272" y="5317"/>
                  </a:lnTo>
                  <a:lnTo>
                    <a:pt x="2331" y="5332"/>
                  </a:lnTo>
                  <a:lnTo>
                    <a:pt x="2391" y="5348"/>
                  </a:lnTo>
                  <a:lnTo>
                    <a:pt x="2452" y="5361"/>
                  </a:lnTo>
                  <a:lnTo>
                    <a:pt x="2514" y="5373"/>
                  </a:lnTo>
                  <a:lnTo>
                    <a:pt x="2575" y="5384"/>
                  </a:lnTo>
                  <a:lnTo>
                    <a:pt x="2639" y="5394"/>
                  </a:lnTo>
                  <a:lnTo>
                    <a:pt x="2703" y="5403"/>
                  </a:lnTo>
                  <a:lnTo>
                    <a:pt x="2768" y="5410"/>
                  </a:lnTo>
                  <a:lnTo>
                    <a:pt x="2835" y="5418"/>
                  </a:lnTo>
                  <a:lnTo>
                    <a:pt x="2901" y="5423"/>
                  </a:lnTo>
                  <a:lnTo>
                    <a:pt x="2969" y="5427"/>
                  </a:lnTo>
                  <a:lnTo>
                    <a:pt x="3038" y="5430"/>
                  </a:lnTo>
                  <a:lnTo>
                    <a:pt x="3108" y="5431"/>
                  </a:lnTo>
                  <a:lnTo>
                    <a:pt x="3178" y="5432"/>
                  </a:lnTo>
                  <a:lnTo>
                    <a:pt x="3247" y="5431"/>
                  </a:lnTo>
                  <a:lnTo>
                    <a:pt x="3315" y="5430"/>
                  </a:lnTo>
                  <a:lnTo>
                    <a:pt x="3382" y="5427"/>
                  </a:lnTo>
                  <a:lnTo>
                    <a:pt x="3450" y="5422"/>
                  </a:lnTo>
                  <a:lnTo>
                    <a:pt x="3517" y="5417"/>
                  </a:lnTo>
                  <a:lnTo>
                    <a:pt x="3583" y="5409"/>
                  </a:lnTo>
                  <a:lnTo>
                    <a:pt x="3650" y="5401"/>
                  </a:lnTo>
                  <a:lnTo>
                    <a:pt x="3716" y="5392"/>
                  </a:lnTo>
                  <a:lnTo>
                    <a:pt x="3781" y="5382"/>
                  </a:lnTo>
                  <a:lnTo>
                    <a:pt x="3846" y="5370"/>
                  </a:lnTo>
                  <a:lnTo>
                    <a:pt x="3912" y="5357"/>
                  </a:lnTo>
                  <a:lnTo>
                    <a:pt x="3976" y="5343"/>
                  </a:lnTo>
                  <a:lnTo>
                    <a:pt x="4041" y="5327"/>
                  </a:lnTo>
                  <a:lnTo>
                    <a:pt x="4105" y="5310"/>
                  </a:lnTo>
                  <a:lnTo>
                    <a:pt x="4168" y="5293"/>
                  </a:lnTo>
                  <a:lnTo>
                    <a:pt x="4232" y="5273"/>
                  </a:lnTo>
                  <a:lnTo>
                    <a:pt x="4295" y="5253"/>
                  </a:lnTo>
                  <a:lnTo>
                    <a:pt x="4357" y="5231"/>
                  </a:lnTo>
                  <a:lnTo>
                    <a:pt x="4419" y="5209"/>
                  </a:lnTo>
                  <a:lnTo>
                    <a:pt x="4480" y="5185"/>
                  </a:lnTo>
                  <a:lnTo>
                    <a:pt x="4541" y="5159"/>
                  </a:lnTo>
                  <a:lnTo>
                    <a:pt x="4601" y="5134"/>
                  </a:lnTo>
                  <a:lnTo>
                    <a:pt x="4660" y="5107"/>
                  </a:lnTo>
                  <a:lnTo>
                    <a:pt x="4719" y="5078"/>
                  </a:lnTo>
                  <a:lnTo>
                    <a:pt x="4776" y="5049"/>
                  </a:lnTo>
                  <a:lnTo>
                    <a:pt x="4834" y="5018"/>
                  </a:lnTo>
                  <a:lnTo>
                    <a:pt x="4890" y="4986"/>
                  </a:lnTo>
                  <a:lnTo>
                    <a:pt x="4947" y="4953"/>
                  </a:lnTo>
                  <a:lnTo>
                    <a:pt x="5002" y="4919"/>
                  </a:lnTo>
                  <a:lnTo>
                    <a:pt x="5057" y="4884"/>
                  </a:lnTo>
                  <a:lnTo>
                    <a:pt x="5111" y="4848"/>
                  </a:lnTo>
                  <a:lnTo>
                    <a:pt x="5165" y="4810"/>
                  </a:lnTo>
                  <a:lnTo>
                    <a:pt x="5487" y="5262"/>
                  </a:lnTo>
                  <a:lnTo>
                    <a:pt x="5423" y="5310"/>
                  </a:lnTo>
                  <a:lnTo>
                    <a:pt x="5357" y="5357"/>
                  </a:lnTo>
                  <a:lnTo>
                    <a:pt x="5291" y="5401"/>
                  </a:lnTo>
                  <a:lnTo>
                    <a:pt x="5225" y="5445"/>
                  </a:lnTo>
                  <a:lnTo>
                    <a:pt x="5158" y="5486"/>
                  </a:lnTo>
                  <a:lnTo>
                    <a:pt x="5090" y="5527"/>
                  </a:lnTo>
                  <a:lnTo>
                    <a:pt x="5023" y="5565"/>
                  </a:lnTo>
                  <a:lnTo>
                    <a:pt x="4955" y="5603"/>
                  </a:lnTo>
                  <a:lnTo>
                    <a:pt x="4885" y="5638"/>
                  </a:lnTo>
                  <a:lnTo>
                    <a:pt x="4817" y="5673"/>
                  </a:lnTo>
                  <a:lnTo>
                    <a:pt x="4747" y="5705"/>
                  </a:lnTo>
                  <a:lnTo>
                    <a:pt x="4677" y="5736"/>
                  </a:lnTo>
                  <a:lnTo>
                    <a:pt x="4607" y="5766"/>
                  </a:lnTo>
                  <a:lnTo>
                    <a:pt x="4536" y="5794"/>
                  </a:lnTo>
                  <a:lnTo>
                    <a:pt x="4464" y="5820"/>
                  </a:lnTo>
                  <a:lnTo>
                    <a:pt x="4392" y="5846"/>
                  </a:lnTo>
                  <a:lnTo>
                    <a:pt x="4320" y="5869"/>
                  </a:lnTo>
                  <a:lnTo>
                    <a:pt x="4247" y="5891"/>
                  </a:lnTo>
                  <a:lnTo>
                    <a:pt x="4174" y="5912"/>
                  </a:lnTo>
                  <a:lnTo>
                    <a:pt x="4100" y="5930"/>
                  </a:lnTo>
                  <a:lnTo>
                    <a:pt x="4026" y="5948"/>
                  </a:lnTo>
                  <a:lnTo>
                    <a:pt x="3951" y="5963"/>
                  </a:lnTo>
                  <a:lnTo>
                    <a:pt x="3876" y="5978"/>
                  </a:lnTo>
                  <a:lnTo>
                    <a:pt x="3800" y="5991"/>
                  </a:lnTo>
                  <a:lnTo>
                    <a:pt x="3724" y="6002"/>
                  </a:lnTo>
                  <a:lnTo>
                    <a:pt x="3648" y="6012"/>
                  </a:lnTo>
                  <a:lnTo>
                    <a:pt x="3570" y="6020"/>
                  </a:lnTo>
                  <a:lnTo>
                    <a:pt x="3493" y="6027"/>
                  </a:lnTo>
                  <a:lnTo>
                    <a:pt x="3415" y="6033"/>
                  </a:lnTo>
                  <a:lnTo>
                    <a:pt x="3337" y="6036"/>
                  </a:lnTo>
                  <a:lnTo>
                    <a:pt x="3258" y="6039"/>
                  </a:lnTo>
                  <a:lnTo>
                    <a:pt x="3178" y="6039"/>
                  </a:lnTo>
                  <a:lnTo>
                    <a:pt x="3099" y="6039"/>
                  </a:lnTo>
                  <a:lnTo>
                    <a:pt x="3021" y="6037"/>
                  </a:lnTo>
                  <a:lnTo>
                    <a:pt x="2943" y="6034"/>
                  </a:lnTo>
                  <a:lnTo>
                    <a:pt x="2865" y="6029"/>
                  </a:lnTo>
                  <a:lnTo>
                    <a:pt x="2788" y="6024"/>
                  </a:lnTo>
                  <a:lnTo>
                    <a:pt x="2713" y="6017"/>
                  </a:lnTo>
                  <a:lnTo>
                    <a:pt x="2638" y="6008"/>
                  </a:lnTo>
                  <a:lnTo>
                    <a:pt x="2564" y="5999"/>
                  </a:lnTo>
                  <a:lnTo>
                    <a:pt x="2490" y="5987"/>
                  </a:lnTo>
                  <a:lnTo>
                    <a:pt x="2418" y="5975"/>
                  </a:lnTo>
                  <a:lnTo>
                    <a:pt x="2346" y="5962"/>
                  </a:lnTo>
                  <a:lnTo>
                    <a:pt x="2274" y="5947"/>
                  </a:lnTo>
                  <a:lnTo>
                    <a:pt x="2204" y="5931"/>
                  </a:lnTo>
                  <a:lnTo>
                    <a:pt x="2135" y="5914"/>
                  </a:lnTo>
                  <a:lnTo>
                    <a:pt x="2066" y="5895"/>
                  </a:lnTo>
                  <a:lnTo>
                    <a:pt x="1997" y="5875"/>
                  </a:lnTo>
                  <a:lnTo>
                    <a:pt x="1931" y="5854"/>
                  </a:lnTo>
                  <a:lnTo>
                    <a:pt x="1864" y="5833"/>
                  </a:lnTo>
                  <a:lnTo>
                    <a:pt x="1799" y="5808"/>
                  </a:lnTo>
                  <a:lnTo>
                    <a:pt x="1735" y="5784"/>
                  </a:lnTo>
                  <a:lnTo>
                    <a:pt x="1671" y="5758"/>
                  </a:lnTo>
                  <a:lnTo>
                    <a:pt x="1608" y="5731"/>
                  </a:lnTo>
                  <a:lnTo>
                    <a:pt x="1547" y="5703"/>
                  </a:lnTo>
                  <a:lnTo>
                    <a:pt x="1486" y="5673"/>
                  </a:lnTo>
                  <a:lnTo>
                    <a:pt x="1427" y="5642"/>
                  </a:lnTo>
                  <a:lnTo>
                    <a:pt x="1368" y="5610"/>
                  </a:lnTo>
                  <a:lnTo>
                    <a:pt x="1310" y="5576"/>
                  </a:lnTo>
                  <a:lnTo>
                    <a:pt x="1254" y="5542"/>
                  </a:lnTo>
                  <a:lnTo>
                    <a:pt x="1198" y="5507"/>
                  </a:lnTo>
                  <a:lnTo>
                    <a:pt x="1143" y="5469"/>
                  </a:lnTo>
                  <a:lnTo>
                    <a:pt x="1089" y="5432"/>
                  </a:lnTo>
                  <a:lnTo>
                    <a:pt x="1037" y="5392"/>
                  </a:lnTo>
                  <a:lnTo>
                    <a:pt x="1003" y="5366"/>
                  </a:lnTo>
                  <a:lnTo>
                    <a:pt x="972" y="5341"/>
                  </a:lnTo>
                  <a:lnTo>
                    <a:pt x="941" y="5314"/>
                  </a:lnTo>
                  <a:lnTo>
                    <a:pt x="909" y="5288"/>
                  </a:lnTo>
                  <a:lnTo>
                    <a:pt x="879" y="5262"/>
                  </a:lnTo>
                  <a:lnTo>
                    <a:pt x="849" y="5234"/>
                  </a:lnTo>
                  <a:lnTo>
                    <a:pt x="820" y="5207"/>
                  </a:lnTo>
                  <a:lnTo>
                    <a:pt x="791" y="5180"/>
                  </a:lnTo>
                  <a:lnTo>
                    <a:pt x="763" y="5152"/>
                  </a:lnTo>
                  <a:lnTo>
                    <a:pt x="735" y="5124"/>
                  </a:lnTo>
                  <a:lnTo>
                    <a:pt x="707" y="5097"/>
                  </a:lnTo>
                  <a:lnTo>
                    <a:pt x="681" y="5068"/>
                  </a:lnTo>
                  <a:lnTo>
                    <a:pt x="655" y="5040"/>
                  </a:lnTo>
                  <a:lnTo>
                    <a:pt x="630" y="5011"/>
                  </a:lnTo>
                  <a:lnTo>
                    <a:pt x="604" y="4981"/>
                  </a:lnTo>
                  <a:lnTo>
                    <a:pt x="580" y="4952"/>
                  </a:lnTo>
                  <a:lnTo>
                    <a:pt x="556" y="4922"/>
                  </a:lnTo>
                  <a:lnTo>
                    <a:pt x="532" y="4893"/>
                  </a:lnTo>
                  <a:lnTo>
                    <a:pt x="509" y="4863"/>
                  </a:lnTo>
                  <a:lnTo>
                    <a:pt x="486" y="4832"/>
                  </a:lnTo>
                  <a:lnTo>
                    <a:pt x="464" y="4802"/>
                  </a:lnTo>
                  <a:lnTo>
                    <a:pt x="443" y="4772"/>
                  </a:lnTo>
                  <a:lnTo>
                    <a:pt x="423" y="4740"/>
                  </a:lnTo>
                  <a:lnTo>
                    <a:pt x="401" y="4710"/>
                  </a:lnTo>
                  <a:lnTo>
                    <a:pt x="382" y="4678"/>
                  </a:lnTo>
                  <a:lnTo>
                    <a:pt x="362" y="4646"/>
                  </a:lnTo>
                  <a:lnTo>
                    <a:pt x="344" y="4615"/>
                  </a:lnTo>
                  <a:lnTo>
                    <a:pt x="326" y="4582"/>
                  </a:lnTo>
                  <a:lnTo>
                    <a:pt x="307" y="4550"/>
                  </a:lnTo>
                  <a:lnTo>
                    <a:pt x="290" y="4518"/>
                  </a:lnTo>
                  <a:lnTo>
                    <a:pt x="273" y="4484"/>
                  </a:lnTo>
                  <a:lnTo>
                    <a:pt x="257" y="4451"/>
                  </a:lnTo>
                  <a:lnTo>
                    <a:pt x="241" y="4417"/>
                  </a:lnTo>
                  <a:lnTo>
                    <a:pt x="226" y="4384"/>
                  </a:lnTo>
                  <a:lnTo>
                    <a:pt x="211" y="4349"/>
                  </a:lnTo>
                  <a:lnTo>
                    <a:pt x="196" y="4316"/>
                  </a:lnTo>
                  <a:lnTo>
                    <a:pt x="183" y="4281"/>
                  </a:lnTo>
                  <a:lnTo>
                    <a:pt x="169" y="4246"/>
                  </a:lnTo>
                  <a:lnTo>
                    <a:pt x="157" y="4211"/>
                  </a:lnTo>
                  <a:lnTo>
                    <a:pt x="145" y="4175"/>
                  </a:lnTo>
                  <a:lnTo>
                    <a:pt x="133" y="4140"/>
                  </a:lnTo>
                  <a:lnTo>
                    <a:pt x="122" y="4104"/>
                  </a:lnTo>
                  <a:lnTo>
                    <a:pt x="110" y="4068"/>
                  </a:lnTo>
                  <a:lnTo>
                    <a:pt x="100" y="4032"/>
                  </a:lnTo>
                  <a:lnTo>
                    <a:pt x="90" y="3994"/>
                  </a:lnTo>
                  <a:lnTo>
                    <a:pt x="81" y="3958"/>
                  </a:lnTo>
                  <a:lnTo>
                    <a:pt x="72" y="3920"/>
                  </a:lnTo>
                  <a:lnTo>
                    <a:pt x="64" y="3883"/>
                  </a:lnTo>
                  <a:lnTo>
                    <a:pt x="56" y="3844"/>
                  </a:lnTo>
                  <a:lnTo>
                    <a:pt x="49" y="3807"/>
                  </a:lnTo>
                  <a:lnTo>
                    <a:pt x="42" y="3768"/>
                  </a:lnTo>
                  <a:lnTo>
                    <a:pt x="36" y="3730"/>
                  </a:lnTo>
                  <a:lnTo>
                    <a:pt x="31" y="3690"/>
                  </a:lnTo>
                  <a:lnTo>
                    <a:pt x="25" y="3651"/>
                  </a:lnTo>
                  <a:lnTo>
                    <a:pt x="21" y="3611"/>
                  </a:lnTo>
                  <a:lnTo>
                    <a:pt x="16" y="3572"/>
                  </a:lnTo>
                  <a:lnTo>
                    <a:pt x="12" y="3531"/>
                  </a:lnTo>
                  <a:lnTo>
                    <a:pt x="9" y="3492"/>
                  </a:lnTo>
                  <a:lnTo>
                    <a:pt x="6" y="3450"/>
                  </a:lnTo>
                  <a:lnTo>
                    <a:pt x="4" y="3410"/>
                  </a:lnTo>
                  <a:lnTo>
                    <a:pt x="2" y="3368"/>
                  </a:lnTo>
                  <a:lnTo>
                    <a:pt x="1" y="3327"/>
                  </a:lnTo>
                  <a:lnTo>
                    <a:pt x="0" y="3285"/>
                  </a:lnTo>
                  <a:lnTo>
                    <a:pt x="0" y="3244"/>
                  </a:lnTo>
                  <a:lnTo>
                    <a:pt x="0" y="3173"/>
                  </a:lnTo>
                  <a:lnTo>
                    <a:pt x="2" y="3103"/>
                  </a:lnTo>
                  <a:lnTo>
                    <a:pt x="6" y="3034"/>
                  </a:lnTo>
                  <a:lnTo>
                    <a:pt x="11" y="2966"/>
                  </a:lnTo>
                  <a:lnTo>
                    <a:pt x="17" y="2897"/>
                  </a:lnTo>
                  <a:lnTo>
                    <a:pt x="25" y="2829"/>
                  </a:lnTo>
                  <a:lnTo>
                    <a:pt x="34" y="2761"/>
                  </a:lnTo>
                  <a:lnTo>
                    <a:pt x="44" y="2694"/>
                  </a:lnTo>
                  <a:lnTo>
                    <a:pt x="56" y="2627"/>
                  </a:lnTo>
                  <a:lnTo>
                    <a:pt x="69" y="2561"/>
                  </a:lnTo>
                  <a:lnTo>
                    <a:pt x="83" y="2496"/>
                  </a:lnTo>
                  <a:lnTo>
                    <a:pt x="99" y="2430"/>
                  </a:lnTo>
                  <a:lnTo>
                    <a:pt x="116" y="2365"/>
                  </a:lnTo>
                  <a:lnTo>
                    <a:pt x="135" y="2300"/>
                  </a:lnTo>
                  <a:lnTo>
                    <a:pt x="155" y="2237"/>
                  </a:lnTo>
                  <a:lnTo>
                    <a:pt x="176" y="2173"/>
                  </a:lnTo>
                  <a:lnTo>
                    <a:pt x="199" y="2110"/>
                  </a:lnTo>
                  <a:lnTo>
                    <a:pt x="224" y="2048"/>
                  </a:lnTo>
                  <a:lnTo>
                    <a:pt x="249" y="1987"/>
                  </a:lnTo>
                  <a:lnTo>
                    <a:pt x="275" y="1926"/>
                  </a:lnTo>
                  <a:lnTo>
                    <a:pt x="303" y="1865"/>
                  </a:lnTo>
                  <a:lnTo>
                    <a:pt x="333" y="1805"/>
                  </a:lnTo>
                  <a:lnTo>
                    <a:pt x="363" y="1747"/>
                  </a:lnTo>
                  <a:lnTo>
                    <a:pt x="395" y="1688"/>
                  </a:lnTo>
                  <a:lnTo>
                    <a:pt x="428" y="1630"/>
                  </a:lnTo>
                  <a:lnTo>
                    <a:pt x="462" y="1574"/>
                  </a:lnTo>
                  <a:lnTo>
                    <a:pt x="498" y="1518"/>
                  </a:lnTo>
                  <a:lnTo>
                    <a:pt x="535" y="1462"/>
                  </a:lnTo>
                  <a:lnTo>
                    <a:pt x="573" y="1408"/>
                  </a:lnTo>
                  <a:lnTo>
                    <a:pt x="613" y="1353"/>
                  </a:lnTo>
                  <a:lnTo>
                    <a:pt x="654" y="1299"/>
                  </a:lnTo>
                  <a:lnTo>
                    <a:pt x="696" y="1247"/>
                  </a:lnTo>
                  <a:lnTo>
                    <a:pt x="728" y="1208"/>
                  </a:lnTo>
                  <a:lnTo>
                    <a:pt x="759" y="1171"/>
                  </a:lnTo>
                  <a:lnTo>
                    <a:pt x="790" y="1134"/>
                  </a:lnTo>
                  <a:lnTo>
                    <a:pt x="823" y="1098"/>
                  </a:lnTo>
                  <a:lnTo>
                    <a:pt x="855" y="1062"/>
                  </a:lnTo>
                  <a:lnTo>
                    <a:pt x="888" y="1027"/>
                  </a:lnTo>
                  <a:lnTo>
                    <a:pt x="922" y="992"/>
                  </a:lnTo>
                  <a:lnTo>
                    <a:pt x="956" y="959"/>
                  </a:lnTo>
                  <a:lnTo>
                    <a:pt x="990" y="926"/>
                  </a:lnTo>
                  <a:lnTo>
                    <a:pt x="1025" y="892"/>
                  </a:lnTo>
                  <a:lnTo>
                    <a:pt x="1060" y="861"/>
                  </a:lnTo>
                  <a:lnTo>
                    <a:pt x="1095" y="828"/>
                  </a:lnTo>
                  <a:lnTo>
                    <a:pt x="1132" y="798"/>
                  </a:lnTo>
                  <a:lnTo>
                    <a:pt x="1168" y="768"/>
                  </a:lnTo>
                  <a:lnTo>
                    <a:pt x="1205" y="737"/>
                  </a:lnTo>
                  <a:lnTo>
                    <a:pt x="1242" y="708"/>
                  </a:lnTo>
                  <a:lnTo>
                    <a:pt x="1280" y="680"/>
                  </a:lnTo>
                  <a:lnTo>
                    <a:pt x="1318" y="651"/>
                  </a:lnTo>
                  <a:lnTo>
                    <a:pt x="1356" y="624"/>
                  </a:lnTo>
                  <a:lnTo>
                    <a:pt x="1395" y="597"/>
                  </a:lnTo>
                  <a:lnTo>
                    <a:pt x="1435" y="570"/>
                  </a:lnTo>
                  <a:lnTo>
                    <a:pt x="1474" y="544"/>
                  </a:lnTo>
                  <a:lnTo>
                    <a:pt x="1515" y="519"/>
                  </a:lnTo>
                  <a:lnTo>
                    <a:pt x="1555" y="494"/>
                  </a:lnTo>
                  <a:lnTo>
                    <a:pt x="1595" y="470"/>
                  </a:lnTo>
                  <a:lnTo>
                    <a:pt x="1637" y="447"/>
                  </a:lnTo>
                  <a:lnTo>
                    <a:pt x="1679" y="423"/>
                  </a:lnTo>
                  <a:lnTo>
                    <a:pt x="1722" y="401"/>
                  </a:lnTo>
                  <a:lnTo>
                    <a:pt x="1764" y="379"/>
                  </a:lnTo>
                  <a:lnTo>
                    <a:pt x="1806" y="358"/>
                  </a:lnTo>
                  <a:lnTo>
                    <a:pt x="1850" y="337"/>
                  </a:lnTo>
                  <a:lnTo>
                    <a:pt x="1894" y="317"/>
                  </a:lnTo>
                  <a:lnTo>
                    <a:pt x="1938" y="298"/>
                  </a:lnTo>
                  <a:lnTo>
                    <a:pt x="1983" y="279"/>
                  </a:lnTo>
                  <a:lnTo>
                    <a:pt x="2028" y="260"/>
                  </a:lnTo>
                  <a:lnTo>
                    <a:pt x="2072" y="243"/>
                  </a:lnTo>
                  <a:lnTo>
                    <a:pt x="2118" y="226"/>
                  </a:lnTo>
                  <a:lnTo>
                    <a:pt x="2164" y="210"/>
                  </a:lnTo>
                  <a:lnTo>
                    <a:pt x="2210" y="194"/>
                  </a:lnTo>
                  <a:lnTo>
                    <a:pt x="2256" y="178"/>
                  </a:lnTo>
                  <a:lnTo>
                    <a:pt x="2302" y="164"/>
                  </a:lnTo>
                  <a:lnTo>
                    <a:pt x="2349" y="150"/>
                  </a:lnTo>
                  <a:lnTo>
                    <a:pt x="2396" y="137"/>
                  </a:lnTo>
                  <a:lnTo>
                    <a:pt x="2444" y="124"/>
                  </a:lnTo>
                  <a:lnTo>
                    <a:pt x="2491" y="112"/>
                  </a:lnTo>
                  <a:lnTo>
                    <a:pt x="2540" y="101"/>
                  </a:lnTo>
                  <a:lnTo>
                    <a:pt x="2587" y="89"/>
                  </a:lnTo>
                  <a:lnTo>
                    <a:pt x="2636" y="79"/>
                  </a:lnTo>
                  <a:lnTo>
                    <a:pt x="2685" y="70"/>
                  </a:lnTo>
                  <a:lnTo>
                    <a:pt x="2734" y="61"/>
                  </a:lnTo>
                  <a:lnTo>
                    <a:pt x="2783" y="53"/>
                  </a:lnTo>
                  <a:lnTo>
                    <a:pt x="2834" y="45"/>
                  </a:lnTo>
                  <a:lnTo>
                    <a:pt x="2883" y="38"/>
                  </a:lnTo>
                  <a:lnTo>
                    <a:pt x="2934" y="31"/>
                  </a:lnTo>
                  <a:lnTo>
                    <a:pt x="2984" y="26"/>
                  </a:lnTo>
                  <a:lnTo>
                    <a:pt x="3035" y="20"/>
                  </a:lnTo>
                  <a:lnTo>
                    <a:pt x="3086" y="15"/>
                  </a:lnTo>
                  <a:lnTo>
                    <a:pt x="3138" y="11"/>
                  </a:lnTo>
                  <a:lnTo>
                    <a:pt x="3189" y="7"/>
                  </a:lnTo>
                  <a:lnTo>
                    <a:pt x="3242" y="5"/>
                  </a:lnTo>
                  <a:lnTo>
                    <a:pt x="3293" y="3"/>
                  </a:lnTo>
                  <a:lnTo>
                    <a:pt x="3347" y="1"/>
                  </a:lnTo>
                  <a:lnTo>
                    <a:pt x="3399" y="0"/>
                  </a:lnTo>
                  <a:lnTo>
                    <a:pt x="3453" y="0"/>
                  </a:lnTo>
                  <a:lnTo>
                    <a:pt x="3523" y="0"/>
                  </a:lnTo>
                  <a:lnTo>
                    <a:pt x="3593" y="2"/>
                  </a:lnTo>
                  <a:lnTo>
                    <a:pt x="3663" y="5"/>
                  </a:lnTo>
                  <a:lnTo>
                    <a:pt x="3732" y="9"/>
                  </a:lnTo>
                  <a:lnTo>
                    <a:pt x="3800" y="15"/>
                  </a:lnTo>
                  <a:lnTo>
                    <a:pt x="3868" y="22"/>
                  </a:lnTo>
                  <a:lnTo>
                    <a:pt x="3936" y="30"/>
                  </a:lnTo>
                  <a:lnTo>
                    <a:pt x="4003" y="39"/>
                  </a:lnTo>
                  <a:lnTo>
                    <a:pt x="4068" y="49"/>
                  </a:lnTo>
                  <a:lnTo>
                    <a:pt x="4135" y="60"/>
                  </a:lnTo>
                  <a:lnTo>
                    <a:pt x="4199" y="73"/>
                  </a:lnTo>
                  <a:lnTo>
                    <a:pt x="4264" y="86"/>
                  </a:lnTo>
                  <a:lnTo>
                    <a:pt x="4329" y="102"/>
                  </a:lnTo>
                  <a:lnTo>
                    <a:pt x="4392" y="118"/>
                  </a:lnTo>
                  <a:lnTo>
                    <a:pt x="4456" y="135"/>
                  </a:lnTo>
                  <a:lnTo>
                    <a:pt x="4519" y="154"/>
                  </a:lnTo>
                  <a:lnTo>
                    <a:pt x="4580" y="173"/>
                  </a:lnTo>
                  <a:lnTo>
                    <a:pt x="4642" y="195"/>
                  </a:lnTo>
                  <a:lnTo>
                    <a:pt x="4702" y="216"/>
                  </a:lnTo>
                  <a:lnTo>
                    <a:pt x="4760" y="239"/>
                  </a:lnTo>
                  <a:lnTo>
                    <a:pt x="4818" y="264"/>
                  </a:lnTo>
                  <a:lnTo>
                    <a:pt x="4875" y="288"/>
                  </a:lnTo>
                  <a:lnTo>
                    <a:pt x="4931" y="314"/>
                  </a:lnTo>
                  <a:lnTo>
                    <a:pt x="4985" y="341"/>
                  </a:lnTo>
                  <a:lnTo>
                    <a:pt x="5039" y="370"/>
                  </a:lnTo>
                  <a:lnTo>
                    <a:pt x="5091" y="398"/>
                  </a:lnTo>
                  <a:lnTo>
                    <a:pt x="5143" y="429"/>
                  </a:lnTo>
                  <a:lnTo>
                    <a:pt x="5193" y="460"/>
                  </a:lnTo>
                  <a:lnTo>
                    <a:pt x="5243" y="492"/>
                  </a:lnTo>
                  <a:lnTo>
                    <a:pt x="5291" y="526"/>
                  </a:lnTo>
                  <a:lnTo>
                    <a:pt x="5339" y="560"/>
                  </a:lnTo>
                  <a:lnTo>
                    <a:pt x="5385" y="596"/>
                  </a:lnTo>
                  <a:lnTo>
                    <a:pt x="5441" y="640"/>
                  </a:lnTo>
                  <a:lnTo>
                    <a:pt x="5496" y="686"/>
                  </a:lnTo>
                  <a:lnTo>
                    <a:pt x="5547" y="732"/>
                  </a:lnTo>
                  <a:lnTo>
                    <a:pt x="5598" y="780"/>
                  </a:lnTo>
                  <a:lnTo>
                    <a:pt x="5646" y="828"/>
                  </a:lnTo>
                  <a:lnTo>
                    <a:pt x="5693" y="877"/>
                  </a:lnTo>
                  <a:lnTo>
                    <a:pt x="5738" y="927"/>
                  </a:lnTo>
                  <a:lnTo>
                    <a:pt x="5781" y="976"/>
                  </a:lnTo>
                  <a:lnTo>
                    <a:pt x="5823" y="1028"/>
                  </a:lnTo>
                  <a:lnTo>
                    <a:pt x="5862" y="1079"/>
                  </a:lnTo>
                  <a:lnTo>
                    <a:pt x="5901" y="1132"/>
                  </a:lnTo>
                  <a:lnTo>
                    <a:pt x="5936" y="1186"/>
                  </a:lnTo>
                  <a:lnTo>
                    <a:pt x="5970" y="1239"/>
                  </a:lnTo>
                  <a:lnTo>
                    <a:pt x="6003" y="1295"/>
                  </a:lnTo>
                  <a:lnTo>
                    <a:pt x="6034" y="1351"/>
                  </a:lnTo>
                  <a:lnTo>
                    <a:pt x="6062" y="1406"/>
                  </a:lnTo>
                  <a:lnTo>
                    <a:pt x="6089" y="1464"/>
                  </a:lnTo>
                  <a:lnTo>
                    <a:pt x="6115" y="1522"/>
                  </a:lnTo>
                  <a:lnTo>
                    <a:pt x="6138" y="1581"/>
                  </a:lnTo>
                  <a:lnTo>
                    <a:pt x="6160" y="1640"/>
                  </a:lnTo>
                  <a:lnTo>
                    <a:pt x="6180" y="1702"/>
                  </a:lnTo>
                  <a:lnTo>
                    <a:pt x="6199" y="1763"/>
                  </a:lnTo>
                  <a:lnTo>
                    <a:pt x="6215" y="1826"/>
                  </a:lnTo>
                  <a:lnTo>
                    <a:pt x="6230" y="1889"/>
                  </a:lnTo>
                  <a:lnTo>
                    <a:pt x="6243" y="1953"/>
                  </a:lnTo>
                  <a:lnTo>
                    <a:pt x="6254" y="2019"/>
                  </a:lnTo>
                  <a:lnTo>
                    <a:pt x="6263" y="2085"/>
                  </a:lnTo>
                  <a:lnTo>
                    <a:pt x="6271" y="2152"/>
                  </a:lnTo>
                  <a:lnTo>
                    <a:pt x="6277" y="2219"/>
                  </a:lnTo>
                  <a:lnTo>
                    <a:pt x="6281" y="2288"/>
                  </a:lnTo>
                  <a:lnTo>
                    <a:pt x="6284" y="2358"/>
                  </a:lnTo>
                  <a:lnTo>
                    <a:pt x="6285" y="2429"/>
                  </a:lnTo>
                  <a:lnTo>
                    <a:pt x="6284" y="2498"/>
                  </a:lnTo>
                  <a:lnTo>
                    <a:pt x="6282" y="2567"/>
                  </a:lnTo>
                  <a:lnTo>
                    <a:pt x="6277" y="2635"/>
                  </a:lnTo>
                  <a:lnTo>
                    <a:pt x="6271" y="2701"/>
                  </a:lnTo>
                  <a:lnTo>
                    <a:pt x="6264" y="2768"/>
                  </a:lnTo>
                  <a:lnTo>
                    <a:pt x="6254" y="2834"/>
                  </a:lnTo>
                  <a:lnTo>
                    <a:pt x="6244" y="2900"/>
                  </a:lnTo>
                  <a:lnTo>
                    <a:pt x="6231" y="2964"/>
                  </a:lnTo>
                  <a:lnTo>
                    <a:pt x="6217" y="3027"/>
                  </a:lnTo>
                  <a:lnTo>
                    <a:pt x="6200" y="3091"/>
                  </a:lnTo>
                  <a:lnTo>
                    <a:pt x="6182" y="3153"/>
                  </a:lnTo>
                  <a:lnTo>
                    <a:pt x="6162" y="3215"/>
                  </a:lnTo>
                  <a:lnTo>
                    <a:pt x="6141" y="3276"/>
                  </a:lnTo>
                  <a:lnTo>
                    <a:pt x="6118" y="3336"/>
                  </a:lnTo>
                  <a:lnTo>
                    <a:pt x="6094" y="3396"/>
                  </a:lnTo>
                  <a:lnTo>
                    <a:pt x="6067" y="3455"/>
                  </a:lnTo>
                  <a:lnTo>
                    <a:pt x="6039" y="3512"/>
                  </a:lnTo>
                  <a:lnTo>
                    <a:pt x="6010" y="3570"/>
                  </a:lnTo>
                  <a:lnTo>
                    <a:pt x="5978" y="3626"/>
                  </a:lnTo>
                  <a:lnTo>
                    <a:pt x="5945" y="3680"/>
                  </a:lnTo>
                  <a:lnTo>
                    <a:pt x="5911" y="3734"/>
                  </a:lnTo>
                  <a:lnTo>
                    <a:pt x="5875" y="3787"/>
                  </a:lnTo>
                  <a:lnTo>
                    <a:pt x="5838" y="3838"/>
                  </a:lnTo>
                  <a:lnTo>
                    <a:pt x="5799" y="3889"/>
                  </a:lnTo>
                  <a:lnTo>
                    <a:pt x="5758" y="3938"/>
                  </a:lnTo>
                  <a:lnTo>
                    <a:pt x="5717" y="3987"/>
                  </a:lnTo>
                  <a:lnTo>
                    <a:pt x="5673" y="4035"/>
                  </a:lnTo>
                  <a:lnTo>
                    <a:pt x="5628" y="4081"/>
                  </a:lnTo>
                  <a:lnTo>
                    <a:pt x="5581" y="4127"/>
                  </a:lnTo>
                  <a:lnTo>
                    <a:pt x="5533" y="4170"/>
                  </a:lnTo>
                  <a:lnTo>
                    <a:pt x="5483" y="4214"/>
                  </a:lnTo>
                  <a:lnTo>
                    <a:pt x="5432" y="4256"/>
                  </a:lnTo>
                  <a:lnTo>
                    <a:pt x="5404" y="4280"/>
                  </a:lnTo>
                  <a:lnTo>
                    <a:pt x="5373" y="4302"/>
                  </a:lnTo>
                  <a:lnTo>
                    <a:pt x="5344" y="4323"/>
                  </a:lnTo>
                  <a:lnTo>
                    <a:pt x="5314" y="4344"/>
                  </a:lnTo>
                  <a:lnTo>
                    <a:pt x="5283" y="4365"/>
                  </a:lnTo>
                  <a:lnTo>
                    <a:pt x="5252" y="4384"/>
                  </a:lnTo>
                  <a:lnTo>
                    <a:pt x="5221" y="4403"/>
                  </a:lnTo>
                  <a:lnTo>
                    <a:pt x="5188" y="4421"/>
                  </a:lnTo>
                  <a:lnTo>
                    <a:pt x="5156" y="4439"/>
                  </a:lnTo>
                  <a:lnTo>
                    <a:pt x="5124" y="4456"/>
                  </a:lnTo>
                  <a:lnTo>
                    <a:pt x="5090" y="4471"/>
                  </a:lnTo>
                  <a:lnTo>
                    <a:pt x="5057" y="4487"/>
                  </a:lnTo>
                  <a:lnTo>
                    <a:pt x="5024" y="4501"/>
                  </a:lnTo>
                  <a:lnTo>
                    <a:pt x="4989" y="4515"/>
                  </a:lnTo>
                  <a:lnTo>
                    <a:pt x="4954" y="4529"/>
                  </a:lnTo>
                  <a:lnTo>
                    <a:pt x="4919" y="4541"/>
                  </a:lnTo>
                  <a:lnTo>
                    <a:pt x="4883" y="4553"/>
                  </a:lnTo>
                  <a:lnTo>
                    <a:pt x="4848" y="4564"/>
                  </a:lnTo>
                  <a:lnTo>
                    <a:pt x="4812" y="4575"/>
                  </a:lnTo>
                  <a:lnTo>
                    <a:pt x="4776" y="4584"/>
                  </a:lnTo>
                  <a:lnTo>
                    <a:pt x="4740" y="4593"/>
                  </a:lnTo>
                  <a:lnTo>
                    <a:pt x="4704" y="4602"/>
                  </a:lnTo>
                  <a:lnTo>
                    <a:pt x="4667" y="4609"/>
                  </a:lnTo>
                  <a:lnTo>
                    <a:pt x="4631" y="4616"/>
                  </a:lnTo>
                  <a:lnTo>
                    <a:pt x="4593" y="4622"/>
                  </a:lnTo>
                  <a:lnTo>
                    <a:pt x="4557" y="4627"/>
                  </a:lnTo>
                  <a:lnTo>
                    <a:pt x="4520" y="4631"/>
                  </a:lnTo>
                  <a:lnTo>
                    <a:pt x="4482" y="4634"/>
                  </a:lnTo>
                  <a:lnTo>
                    <a:pt x="4445" y="4637"/>
                  </a:lnTo>
                  <a:lnTo>
                    <a:pt x="4408" y="4639"/>
                  </a:lnTo>
                  <a:lnTo>
                    <a:pt x="4370" y="4640"/>
                  </a:lnTo>
                  <a:lnTo>
                    <a:pt x="4332" y="4640"/>
                  </a:lnTo>
                  <a:lnTo>
                    <a:pt x="4288" y="4640"/>
                  </a:lnTo>
                  <a:lnTo>
                    <a:pt x="4246" y="4638"/>
                  </a:lnTo>
                  <a:lnTo>
                    <a:pt x="4206" y="4636"/>
                  </a:lnTo>
                  <a:lnTo>
                    <a:pt x="4166" y="4632"/>
                  </a:lnTo>
                  <a:lnTo>
                    <a:pt x="4128" y="4628"/>
                  </a:lnTo>
                  <a:lnTo>
                    <a:pt x="4091" y="4622"/>
                  </a:lnTo>
                  <a:lnTo>
                    <a:pt x="4056" y="4615"/>
                  </a:lnTo>
                  <a:lnTo>
                    <a:pt x="4022" y="4607"/>
                  </a:lnTo>
                  <a:lnTo>
                    <a:pt x="3988" y="4599"/>
                  </a:lnTo>
                  <a:lnTo>
                    <a:pt x="3957" y="4588"/>
                  </a:lnTo>
                  <a:lnTo>
                    <a:pt x="3927" y="4577"/>
                  </a:lnTo>
                  <a:lnTo>
                    <a:pt x="3898" y="4565"/>
                  </a:lnTo>
                  <a:lnTo>
                    <a:pt x="3870" y="4553"/>
                  </a:lnTo>
                  <a:lnTo>
                    <a:pt x="3845" y="4539"/>
                  </a:lnTo>
                  <a:lnTo>
                    <a:pt x="3820" y="4524"/>
                  </a:lnTo>
                  <a:lnTo>
                    <a:pt x="3796" y="4507"/>
                  </a:lnTo>
                  <a:lnTo>
                    <a:pt x="3774" y="4490"/>
                  </a:lnTo>
                  <a:lnTo>
                    <a:pt x="3753" y="4472"/>
                  </a:lnTo>
                  <a:lnTo>
                    <a:pt x="3733" y="4453"/>
                  </a:lnTo>
                  <a:lnTo>
                    <a:pt x="3715" y="4432"/>
                  </a:lnTo>
                  <a:lnTo>
                    <a:pt x="3697" y="4411"/>
                  </a:lnTo>
                  <a:lnTo>
                    <a:pt x="3682" y="4388"/>
                  </a:lnTo>
                  <a:lnTo>
                    <a:pt x="3667" y="4365"/>
                  </a:lnTo>
                  <a:lnTo>
                    <a:pt x="3654" y="4340"/>
                  </a:lnTo>
                  <a:lnTo>
                    <a:pt x="3642" y="4315"/>
                  </a:lnTo>
                  <a:lnTo>
                    <a:pt x="3632" y="4288"/>
                  </a:lnTo>
                  <a:lnTo>
                    <a:pt x="3623" y="4260"/>
                  </a:lnTo>
                  <a:lnTo>
                    <a:pt x="3615" y="4231"/>
                  </a:lnTo>
                  <a:lnTo>
                    <a:pt x="3609" y="4202"/>
                  </a:lnTo>
                  <a:lnTo>
                    <a:pt x="3602" y="4170"/>
                  </a:lnTo>
                  <a:lnTo>
                    <a:pt x="3598" y="4139"/>
                  </a:lnTo>
                  <a:lnTo>
                    <a:pt x="3596" y="4105"/>
                  </a:lnTo>
                  <a:close/>
                  <a:moveTo>
                    <a:pt x="3719" y="2656"/>
                  </a:moveTo>
                  <a:lnTo>
                    <a:pt x="3715" y="2624"/>
                  </a:lnTo>
                  <a:lnTo>
                    <a:pt x="3710" y="2594"/>
                  </a:lnTo>
                  <a:lnTo>
                    <a:pt x="3705" y="2565"/>
                  </a:lnTo>
                  <a:lnTo>
                    <a:pt x="3697" y="2536"/>
                  </a:lnTo>
                  <a:lnTo>
                    <a:pt x="3690" y="2509"/>
                  </a:lnTo>
                  <a:lnTo>
                    <a:pt x="3681" y="2482"/>
                  </a:lnTo>
                  <a:lnTo>
                    <a:pt x="3672" y="2456"/>
                  </a:lnTo>
                  <a:lnTo>
                    <a:pt x="3663" y="2432"/>
                  </a:lnTo>
                  <a:lnTo>
                    <a:pt x="3652" y="2408"/>
                  </a:lnTo>
                  <a:lnTo>
                    <a:pt x="3640" y="2385"/>
                  </a:lnTo>
                  <a:lnTo>
                    <a:pt x="3628" y="2363"/>
                  </a:lnTo>
                  <a:lnTo>
                    <a:pt x="3615" y="2342"/>
                  </a:lnTo>
                  <a:lnTo>
                    <a:pt x="3600" y="2322"/>
                  </a:lnTo>
                  <a:lnTo>
                    <a:pt x="3585" y="2303"/>
                  </a:lnTo>
                  <a:lnTo>
                    <a:pt x="3569" y="2285"/>
                  </a:lnTo>
                  <a:lnTo>
                    <a:pt x="3553" y="2268"/>
                  </a:lnTo>
                  <a:lnTo>
                    <a:pt x="3536" y="2252"/>
                  </a:lnTo>
                  <a:lnTo>
                    <a:pt x="3517" y="2237"/>
                  </a:lnTo>
                  <a:lnTo>
                    <a:pt x="3498" y="2222"/>
                  </a:lnTo>
                  <a:lnTo>
                    <a:pt x="3478" y="2209"/>
                  </a:lnTo>
                  <a:lnTo>
                    <a:pt x="3458" y="2197"/>
                  </a:lnTo>
                  <a:lnTo>
                    <a:pt x="3437" y="2187"/>
                  </a:lnTo>
                  <a:lnTo>
                    <a:pt x="3415" y="2177"/>
                  </a:lnTo>
                  <a:lnTo>
                    <a:pt x="3392" y="2168"/>
                  </a:lnTo>
                  <a:lnTo>
                    <a:pt x="3369" y="2160"/>
                  </a:lnTo>
                  <a:lnTo>
                    <a:pt x="3345" y="2154"/>
                  </a:lnTo>
                  <a:lnTo>
                    <a:pt x="3321" y="2148"/>
                  </a:lnTo>
                  <a:lnTo>
                    <a:pt x="3295" y="2142"/>
                  </a:lnTo>
                  <a:lnTo>
                    <a:pt x="3269" y="2139"/>
                  </a:lnTo>
                  <a:lnTo>
                    <a:pt x="3242" y="2136"/>
                  </a:lnTo>
                  <a:lnTo>
                    <a:pt x="3215" y="2134"/>
                  </a:lnTo>
                  <a:lnTo>
                    <a:pt x="3186" y="2134"/>
                  </a:lnTo>
                  <a:lnTo>
                    <a:pt x="3165" y="2134"/>
                  </a:lnTo>
                  <a:lnTo>
                    <a:pt x="3144" y="2136"/>
                  </a:lnTo>
                  <a:lnTo>
                    <a:pt x="3123" y="2138"/>
                  </a:lnTo>
                  <a:lnTo>
                    <a:pt x="3101" y="2140"/>
                  </a:lnTo>
                  <a:lnTo>
                    <a:pt x="3080" y="2145"/>
                  </a:lnTo>
                  <a:lnTo>
                    <a:pt x="3060" y="2149"/>
                  </a:lnTo>
                  <a:lnTo>
                    <a:pt x="3040" y="2154"/>
                  </a:lnTo>
                  <a:lnTo>
                    <a:pt x="3020" y="2160"/>
                  </a:lnTo>
                  <a:lnTo>
                    <a:pt x="2999" y="2167"/>
                  </a:lnTo>
                  <a:lnTo>
                    <a:pt x="2979" y="2174"/>
                  </a:lnTo>
                  <a:lnTo>
                    <a:pt x="2959" y="2183"/>
                  </a:lnTo>
                  <a:lnTo>
                    <a:pt x="2940" y="2192"/>
                  </a:lnTo>
                  <a:lnTo>
                    <a:pt x="2921" y="2201"/>
                  </a:lnTo>
                  <a:lnTo>
                    <a:pt x="2901" y="2212"/>
                  </a:lnTo>
                  <a:lnTo>
                    <a:pt x="2882" y="2223"/>
                  </a:lnTo>
                  <a:lnTo>
                    <a:pt x="2863" y="2236"/>
                  </a:lnTo>
                  <a:lnTo>
                    <a:pt x="2844" y="2249"/>
                  </a:lnTo>
                  <a:lnTo>
                    <a:pt x="2826" y="2263"/>
                  </a:lnTo>
                  <a:lnTo>
                    <a:pt x="2806" y="2278"/>
                  </a:lnTo>
                  <a:lnTo>
                    <a:pt x="2788" y="2293"/>
                  </a:lnTo>
                  <a:lnTo>
                    <a:pt x="2770" y="2310"/>
                  </a:lnTo>
                  <a:lnTo>
                    <a:pt x="2752" y="2327"/>
                  </a:lnTo>
                  <a:lnTo>
                    <a:pt x="2735" y="2344"/>
                  </a:lnTo>
                  <a:lnTo>
                    <a:pt x="2717" y="2363"/>
                  </a:lnTo>
                  <a:lnTo>
                    <a:pt x="2699" y="2382"/>
                  </a:lnTo>
                  <a:lnTo>
                    <a:pt x="2682" y="2403"/>
                  </a:lnTo>
                  <a:lnTo>
                    <a:pt x="2665" y="2424"/>
                  </a:lnTo>
                  <a:lnTo>
                    <a:pt x="2648" y="2445"/>
                  </a:lnTo>
                  <a:lnTo>
                    <a:pt x="2631" y="2467"/>
                  </a:lnTo>
                  <a:lnTo>
                    <a:pt x="2615" y="2491"/>
                  </a:lnTo>
                  <a:lnTo>
                    <a:pt x="2597" y="2515"/>
                  </a:lnTo>
                  <a:lnTo>
                    <a:pt x="2581" y="2540"/>
                  </a:lnTo>
                  <a:lnTo>
                    <a:pt x="2565" y="2566"/>
                  </a:lnTo>
                  <a:lnTo>
                    <a:pt x="2550" y="2592"/>
                  </a:lnTo>
                  <a:lnTo>
                    <a:pt x="2535" y="2618"/>
                  </a:lnTo>
                  <a:lnTo>
                    <a:pt x="2520" y="2645"/>
                  </a:lnTo>
                  <a:lnTo>
                    <a:pt x="2505" y="2671"/>
                  </a:lnTo>
                  <a:lnTo>
                    <a:pt x="2492" y="2698"/>
                  </a:lnTo>
                  <a:lnTo>
                    <a:pt x="2479" y="2726"/>
                  </a:lnTo>
                  <a:lnTo>
                    <a:pt x="2467" y="2753"/>
                  </a:lnTo>
                  <a:lnTo>
                    <a:pt x="2455" y="2780"/>
                  </a:lnTo>
                  <a:lnTo>
                    <a:pt x="2443" y="2809"/>
                  </a:lnTo>
                  <a:lnTo>
                    <a:pt x="2433" y="2837"/>
                  </a:lnTo>
                  <a:lnTo>
                    <a:pt x="2422" y="2865"/>
                  </a:lnTo>
                  <a:lnTo>
                    <a:pt x="2412" y="2895"/>
                  </a:lnTo>
                  <a:lnTo>
                    <a:pt x="2402" y="2924"/>
                  </a:lnTo>
                  <a:lnTo>
                    <a:pt x="2393" y="2953"/>
                  </a:lnTo>
                  <a:lnTo>
                    <a:pt x="2385" y="2983"/>
                  </a:lnTo>
                  <a:lnTo>
                    <a:pt x="2377" y="3013"/>
                  </a:lnTo>
                  <a:lnTo>
                    <a:pt x="2370" y="3044"/>
                  </a:lnTo>
                  <a:lnTo>
                    <a:pt x="2363" y="3074"/>
                  </a:lnTo>
                  <a:lnTo>
                    <a:pt x="2356" y="3105"/>
                  </a:lnTo>
                  <a:lnTo>
                    <a:pt x="2351" y="3137"/>
                  </a:lnTo>
                  <a:lnTo>
                    <a:pt x="2345" y="3168"/>
                  </a:lnTo>
                  <a:lnTo>
                    <a:pt x="2340" y="3199"/>
                  </a:lnTo>
                  <a:lnTo>
                    <a:pt x="2336" y="3232"/>
                  </a:lnTo>
                  <a:lnTo>
                    <a:pt x="2332" y="3264"/>
                  </a:lnTo>
                  <a:lnTo>
                    <a:pt x="2329" y="3297"/>
                  </a:lnTo>
                  <a:lnTo>
                    <a:pt x="2326" y="3329"/>
                  </a:lnTo>
                  <a:lnTo>
                    <a:pt x="2324" y="3362"/>
                  </a:lnTo>
                  <a:lnTo>
                    <a:pt x="2322" y="3396"/>
                  </a:lnTo>
                  <a:lnTo>
                    <a:pt x="2321" y="3430"/>
                  </a:lnTo>
                  <a:lnTo>
                    <a:pt x="2320" y="3464"/>
                  </a:lnTo>
                  <a:lnTo>
                    <a:pt x="2320" y="3498"/>
                  </a:lnTo>
                  <a:lnTo>
                    <a:pt x="2320" y="3532"/>
                  </a:lnTo>
                  <a:lnTo>
                    <a:pt x="2322" y="3566"/>
                  </a:lnTo>
                  <a:lnTo>
                    <a:pt x="2324" y="3597"/>
                  </a:lnTo>
                  <a:lnTo>
                    <a:pt x="2327" y="3629"/>
                  </a:lnTo>
                  <a:lnTo>
                    <a:pt x="2331" y="3659"/>
                  </a:lnTo>
                  <a:lnTo>
                    <a:pt x="2336" y="3688"/>
                  </a:lnTo>
                  <a:lnTo>
                    <a:pt x="2342" y="3717"/>
                  </a:lnTo>
                  <a:lnTo>
                    <a:pt x="2349" y="3744"/>
                  </a:lnTo>
                  <a:lnTo>
                    <a:pt x="2356" y="3770"/>
                  </a:lnTo>
                  <a:lnTo>
                    <a:pt x="2365" y="3796"/>
                  </a:lnTo>
                  <a:lnTo>
                    <a:pt x="2375" y="3820"/>
                  </a:lnTo>
                  <a:lnTo>
                    <a:pt x="2385" y="3844"/>
                  </a:lnTo>
                  <a:lnTo>
                    <a:pt x="2396" y="3867"/>
                  </a:lnTo>
                  <a:lnTo>
                    <a:pt x="2410" y="3888"/>
                  </a:lnTo>
                  <a:lnTo>
                    <a:pt x="2423" y="3908"/>
                  </a:lnTo>
                  <a:lnTo>
                    <a:pt x="2437" y="3927"/>
                  </a:lnTo>
                  <a:lnTo>
                    <a:pt x="2452" y="3947"/>
                  </a:lnTo>
                  <a:lnTo>
                    <a:pt x="2467" y="3964"/>
                  </a:lnTo>
                  <a:lnTo>
                    <a:pt x="2483" y="3980"/>
                  </a:lnTo>
                  <a:lnTo>
                    <a:pt x="2500" y="3994"/>
                  </a:lnTo>
                  <a:lnTo>
                    <a:pt x="2519" y="4008"/>
                  </a:lnTo>
                  <a:lnTo>
                    <a:pt x="2537" y="4020"/>
                  </a:lnTo>
                  <a:lnTo>
                    <a:pt x="2556" y="4032"/>
                  </a:lnTo>
                  <a:lnTo>
                    <a:pt x="2576" y="4042"/>
                  </a:lnTo>
                  <a:lnTo>
                    <a:pt x="2597" y="4051"/>
                  </a:lnTo>
                  <a:lnTo>
                    <a:pt x="2619" y="4058"/>
                  </a:lnTo>
                  <a:lnTo>
                    <a:pt x="2641" y="4065"/>
                  </a:lnTo>
                  <a:lnTo>
                    <a:pt x="2664" y="4070"/>
                  </a:lnTo>
                  <a:lnTo>
                    <a:pt x="2687" y="4074"/>
                  </a:lnTo>
                  <a:lnTo>
                    <a:pt x="2713" y="4077"/>
                  </a:lnTo>
                  <a:lnTo>
                    <a:pt x="2738" y="4079"/>
                  </a:lnTo>
                  <a:lnTo>
                    <a:pt x="2763" y="4079"/>
                  </a:lnTo>
                  <a:lnTo>
                    <a:pt x="2797" y="4079"/>
                  </a:lnTo>
                  <a:lnTo>
                    <a:pt x="2832" y="4076"/>
                  </a:lnTo>
                  <a:lnTo>
                    <a:pt x="2866" y="4072"/>
                  </a:lnTo>
                  <a:lnTo>
                    <a:pt x="2898" y="4067"/>
                  </a:lnTo>
                  <a:lnTo>
                    <a:pt x="2932" y="4060"/>
                  </a:lnTo>
                  <a:lnTo>
                    <a:pt x="2964" y="4052"/>
                  </a:lnTo>
                  <a:lnTo>
                    <a:pt x="2995" y="4042"/>
                  </a:lnTo>
                  <a:lnTo>
                    <a:pt x="3026" y="4030"/>
                  </a:lnTo>
                  <a:lnTo>
                    <a:pt x="3057" y="4017"/>
                  </a:lnTo>
                  <a:lnTo>
                    <a:pt x="3086" y="4002"/>
                  </a:lnTo>
                  <a:lnTo>
                    <a:pt x="3116" y="3986"/>
                  </a:lnTo>
                  <a:lnTo>
                    <a:pt x="3145" y="3969"/>
                  </a:lnTo>
                  <a:lnTo>
                    <a:pt x="3173" y="3950"/>
                  </a:lnTo>
                  <a:lnTo>
                    <a:pt x="3201" y="3928"/>
                  </a:lnTo>
                  <a:lnTo>
                    <a:pt x="3229" y="3906"/>
                  </a:lnTo>
                  <a:lnTo>
                    <a:pt x="3256" y="3882"/>
                  </a:lnTo>
                  <a:lnTo>
                    <a:pt x="3282" y="3857"/>
                  </a:lnTo>
                  <a:lnTo>
                    <a:pt x="3308" y="3831"/>
                  </a:lnTo>
                  <a:lnTo>
                    <a:pt x="3331" y="3804"/>
                  </a:lnTo>
                  <a:lnTo>
                    <a:pt x="3354" y="3775"/>
                  </a:lnTo>
                  <a:lnTo>
                    <a:pt x="3376" y="3746"/>
                  </a:lnTo>
                  <a:lnTo>
                    <a:pt x="3397" y="3716"/>
                  </a:lnTo>
                  <a:lnTo>
                    <a:pt x="3417" y="3684"/>
                  </a:lnTo>
                  <a:lnTo>
                    <a:pt x="3436" y="3652"/>
                  </a:lnTo>
                  <a:lnTo>
                    <a:pt x="3454" y="3619"/>
                  </a:lnTo>
                  <a:lnTo>
                    <a:pt x="3470" y="3583"/>
                  </a:lnTo>
                  <a:lnTo>
                    <a:pt x="3486" y="3548"/>
                  </a:lnTo>
                  <a:lnTo>
                    <a:pt x="3500" y="3511"/>
                  </a:lnTo>
                  <a:lnTo>
                    <a:pt x="3515" y="3474"/>
                  </a:lnTo>
                  <a:lnTo>
                    <a:pt x="3527" y="3435"/>
                  </a:lnTo>
                  <a:lnTo>
                    <a:pt x="3539" y="3395"/>
                  </a:lnTo>
                  <a:lnTo>
                    <a:pt x="3549" y="3354"/>
                  </a:lnTo>
                  <a:lnTo>
                    <a:pt x="3719" y="265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grpSp>
      <p:sp>
        <p:nvSpPr>
          <p:cNvPr id="36" name="Freeform 1208"/>
          <p:cNvSpPr>
            <a:spLocks/>
          </p:cNvSpPr>
          <p:nvPr/>
        </p:nvSpPr>
        <p:spPr bwMode="ltGray">
          <a:xfrm>
            <a:off x="3802790" y="1489510"/>
            <a:ext cx="1469535" cy="557048"/>
          </a:xfrm>
          <a:custGeom>
            <a:avLst/>
            <a:gdLst>
              <a:gd name="T0" fmla="*/ 603773 w 16320"/>
              <a:gd name="T1" fmla="*/ 22740 h 11943"/>
              <a:gd name="T2" fmla="*/ 669215 w 16320"/>
              <a:gd name="T3" fmla="*/ 9746 h 11943"/>
              <a:gd name="T4" fmla="*/ 745191 w 16320"/>
              <a:gd name="T5" fmla="*/ 1866 h 11943"/>
              <a:gd name="T6" fmla="*/ 902522 w 16320"/>
              <a:gd name="T7" fmla="*/ 5115 h 11943"/>
              <a:gd name="T8" fmla="*/ 1023620 w 16320"/>
              <a:gd name="T9" fmla="*/ 31484 h 11943"/>
              <a:gd name="T10" fmla="*/ 1077782 w 16320"/>
              <a:gd name="T11" fmla="*/ 71643 h 11943"/>
              <a:gd name="T12" fmla="*/ 1079649 w 16320"/>
              <a:gd name="T13" fmla="*/ 82529 h 11943"/>
              <a:gd name="T14" fmla="*/ 1090258 w 16320"/>
              <a:gd name="T15" fmla="*/ 86504 h 11943"/>
              <a:gd name="T16" fmla="*/ 1119542 w 16320"/>
              <a:gd name="T17" fmla="*/ 88543 h 11943"/>
              <a:gd name="T18" fmla="*/ 1186105 w 16320"/>
              <a:gd name="T19" fmla="*/ 108311 h 11943"/>
              <a:gd name="T20" fmla="*/ 1217855 w 16320"/>
              <a:gd name="T21" fmla="*/ 142871 h 11943"/>
              <a:gd name="T22" fmla="*/ 1208218 w 16320"/>
              <a:gd name="T23" fmla="*/ 181198 h 11943"/>
              <a:gd name="T24" fmla="*/ 1175945 w 16320"/>
              <a:gd name="T25" fmla="*/ 207533 h 11943"/>
              <a:gd name="T26" fmla="*/ 1128432 w 16320"/>
              <a:gd name="T27" fmla="*/ 226714 h 11943"/>
              <a:gd name="T28" fmla="*/ 1107365 w 16320"/>
              <a:gd name="T29" fmla="*/ 240745 h 11943"/>
              <a:gd name="T30" fmla="*/ 1135231 w 16320"/>
              <a:gd name="T31" fmla="*/ 261550 h 11943"/>
              <a:gd name="T32" fmla="*/ 1144046 w 16320"/>
              <a:gd name="T33" fmla="*/ 285742 h 11943"/>
              <a:gd name="T34" fmla="*/ 1124846 w 16320"/>
              <a:gd name="T35" fmla="*/ 316708 h 11943"/>
              <a:gd name="T36" fmla="*/ 1063065 w 16320"/>
              <a:gd name="T37" fmla="*/ 345358 h 11943"/>
              <a:gd name="T38" fmla="*/ 976256 w 16320"/>
              <a:gd name="T39" fmla="*/ 357765 h 11943"/>
              <a:gd name="T40" fmla="*/ 922020 w 16320"/>
              <a:gd name="T41" fmla="*/ 355795 h 11943"/>
              <a:gd name="T42" fmla="*/ 902447 w 16320"/>
              <a:gd name="T43" fmla="*/ 353203 h 11943"/>
              <a:gd name="T44" fmla="*/ 884219 w 16320"/>
              <a:gd name="T45" fmla="*/ 349713 h 11943"/>
              <a:gd name="T46" fmla="*/ 879139 w 16320"/>
              <a:gd name="T47" fmla="*/ 356625 h 11943"/>
              <a:gd name="T48" fmla="*/ 872415 w 16320"/>
              <a:gd name="T49" fmla="*/ 373144 h 11943"/>
              <a:gd name="T50" fmla="*/ 832672 w 16320"/>
              <a:gd name="T51" fmla="*/ 398131 h 11943"/>
              <a:gd name="T52" fmla="*/ 769471 w 16320"/>
              <a:gd name="T53" fmla="*/ 411471 h 11943"/>
              <a:gd name="T54" fmla="*/ 705149 w 16320"/>
              <a:gd name="T55" fmla="*/ 410711 h 11943"/>
              <a:gd name="T56" fmla="*/ 667646 w 16320"/>
              <a:gd name="T57" fmla="*/ 403488 h 11943"/>
              <a:gd name="T58" fmla="*/ 638511 w 16320"/>
              <a:gd name="T59" fmla="*/ 392049 h 11943"/>
              <a:gd name="T60" fmla="*/ 605790 w 16320"/>
              <a:gd name="T61" fmla="*/ 388247 h 11943"/>
              <a:gd name="T62" fmla="*/ 544979 w 16320"/>
              <a:gd name="T63" fmla="*/ 399030 h 11943"/>
              <a:gd name="T64" fmla="*/ 475578 w 16320"/>
              <a:gd name="T65" fmla="*/ 404006 h 11943"/>
              <a:gd name="T66" fmla="*/ 377788 w 16320"/>
              <a:gd name="T67" fmla="*/ 400170 h 11943"/>
              <a:gd name="T68" fmla="*/ 277009 w 16320"/>
              <a:gd name="T69" fmla="*/ 378812 h 11943"/>
              <a:gd name="T70" fmla="*/ 226060 w 16320"/>
              <a:gd name="T71" fmla="*/ 344909 h 11943"/>
              <a:gd name="T72" fmla="*/ 224641 w 16320"/>
              <a:gd name="T73" fmla="*/ 325486 h 11943"/>
              <a:gd name="T74" fmla="*/ 199614 w 16320"/>
              <a:gd name="T75" fmla="*/ 328596 h 11943"/>
              <a:gd name="T76" fmla="*/ 167266 w 16320"/>
              <a:gd name="T77" fmla="*/ 330635 h 11943"/>
              <a:gd name="T78" fmla="*/ 133798 w 16320"/>
              <a:gd name="T79" fmla="*/ 329841 h 11943"/>
              <a:gd name="T80" fmla="*/ 58719 w 16320"/>
              <a:gd name="T81" fmla="*/ 315602 h 11943"/>
              <a:gd name="T82" fmla="*/ 9861 w 16320"/>
              <a:gd name="T83" fmla="*/ 286571 h 11943"/>
              <a:gd name="T84" fmla="*/ 3138 w 16320"/>
              <a:gd name="T85" fmla="*/ 249661 h 11943"/>
              <a:gd name="T86" fmla="*/ 28239 w 16320"/>
              <a:gd name="T87" fmla="*/ 223845 h 11943"/>
              <a:gd name="T88" fmla="*/ 73286 w 16320"/>
              <a:gd name="T89" fmla="*/ 204491 h 11943"/>
              <a:gd name="T90" fmla="*/ 123937 w 16320"/>
              <a:gd name="T91" fmla="*/ 192637 h 11943"/>
              <a:gd name="T92" fmla="*/ 104364 w 16320"/>
              <a:gd name="T93" fmla="*/ 174493 h 11943"/>
              <a:gd name="T94" fmla="*/ 96669 w 16320"/>
              <a:gd name="T95" fmla="*/ 154345 h 11943"/>
              <a:gd name="T96" fmla="*/ 104663 w 16320"/>
              <a:gd name="T97" fmla="*/ 129220 h 11943"/>
              <a:gd name="T98" fmla="*/ 157256 w 16320"/>
              <a:gd name="T99" fmla="*/ 93450 h 11943"/>
              <a:gd name="T100" fmla="*/ 243242 w 16320"/>
              <a:gd name="T101" fmla="*/ 73544 h 11943"/>
              <a:gd name="T102" fmla="*/ 321161 w 16320"/>
              <a:gd name="T103" fmla="*/ 72576 h 11943"/>
              <a:gd name="T104" fmla="*/ 338268 w 16320"/>
              <a:gd name="T105" fmla="*/ 74339 h 11943"/>
              <a:gd name="T106" fmla="*/ 354479 w 16320"/>
              <a:gd name="T107" fmla="*/ 76723 h 11943"/>
              <a:gd name="T108" fmla="*/ 364639 w 16320"/>
              <a:gd name="T109" fmla="*/ 78036 h 11943"/>
              <a:gd name="T110" fmla="*/ 381224 w 16320"/>
              <a:gd name="T111" fmla="*/ 58164 h 11943"/>
              <a:gd name="T112" fmla="*/ 427168 w 16320"/>
              <a:gd name="T113" fmla="*/ 35735 h 11943"/>
              <a:gd name="T114" fmla="*/ 487605 w 16320"/>
              <a:gd name="T115" fmla="*/ 26749 h 11943"/>
              <a:gd name="T116" fmla="*/ 519281 w 16320"/>
              <a:gd name="T117" fmla="*/ 28685 h 11943"/>
              <a:gd name="T118" fmla="*/ 537210 w 16320"/>
              <a:gd name="T119" fmla="*/ 32106 h 11943"/>
              <a:gd name="T120" fmla="*/ 553048 w 16320"/>
              <a:gd name="T121" fmla="*/ 37048 h 11943"/>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16320" h="11943">
                <a:moveTo>
                  <a:pt x="7438" y="1101"/>
                </a:moveTo>
                <a:lnTo>
                  <a:pt x="7496" y="1053"/>
                </a:lnTo>
                <a:lnTo>
                  <a:pt x="7554" y="1006"/>
                </a:lnTo>
                <a:lnTo>
                  <a:pt x="7615" y="960"/>
                </a:lnTo>
                <a:lnTo>
                  <a:pt x="7678" y="914"/>
                </a:lnTo>
                <a:lnTo>
                  <a:pt x="7741" y="869"/>
                </a:lnTo>
                <a:lnTo>
                  <a:pt x="7806" y="825"/>
                </a:lnTo>
                <a:lnTo>
                  <a:pt x="7873" y="782"/>
                </a:lnTo>
                <a:lnTo>
                  <a:pt x="7942" y="740"/>
                </a:lnTo>
                <a:lnTo>
                  <a:pt x="8011" y="698"/>
                </a:lnTo>
                <a:lnTo>
                  <a:pt x="8082" y="658"/>
                </a:lnTo>
                <a:lnTo>
                  <a:pt x="8156" y="618"/>
                </a:lnTo>
                <a:lnTo>
                  <a:pt x="8229" y="580"/>
                </a:lnTo>
                <a:lnTo>
                  <a:pt x="8305" y="542"/>
                </a:lnTo>
                <a:lnTo>
                  <a:pt x="8382" y="506"/>
                </a:lnTo>
                <a:lnTo>
                  <a:pt x="8461" y="470"/>
                </a:lnTo>
                <a:lnTo>
                  <a:pt x="8540" y="436"/>
                </a:lnTo>
                <a:lnTo>
                  <a:pt x="8621" y="403"/>
                </a:lnTo>
                <a:lnTo>
                  <a:pt x="8704" y="371"/>
                </a:lnTo>
                <a:lnTo>
                  <a:pt x="8786" y="340"/>
                </a:lnTo>
                <a:lnTo>
                  <a:pt x="8871" y="310"/>
                </a:lnTo>
                <a:lnTo>
                  <a:pt x="8958" y="282"/>
                </a:lnTo>
                <a:lnTo>
                  <a:pt x="9044" y="255"/>
                </a:lnTo>
                <a:lnTo>
                  <a:pt x="9132" y="228"/>
                </a:lnTo>
                <a:lnTo>
                  <a:pt x="9222" y="204"/>
                </a:lnTo>
                <a:lnTo>
                  <a:pt x="9313" y="180"/>
                </a:lnTo>
                <a:lnTo>
                  <a:pt x="9403" y="158"/>
                </a:lnTo>
                <a:lnTo>
                  <a:pt x="9496" y="137"/>
                </a:lnTo>
                <a:lnTo>
                  <a:pt x="9590" y="118"/>
                </a:lnTo>
                <a:lnTo>
                  <a:pt x="9685" y="99"/>
                </a:lnTo>
                <a:lnTo>
                  <a:pt x="9780" y="83"/>
                </a:lnTo>
                <a:lnTo>
                  <a:pt x="9877" y="68"/>
                </a:lnTo>
                <a:lnTo>
                  <a:pt x="9975" y="54"/>
                </a:lnTo>
                <a:lnTo>
                  <a:pt x="10176" y="31"/>
                </a:lnTo>
                <a:lnTo>
                  <a:pt x="10375" y="13"/>
                </a:lnTo>
                <a:lnTo>
                  <a:pt x="10574" y="4"/>
                </a:lnTo>
                <a:lnTo>
                  <a:pt x="10771" y="0"/>
                </a:lnTo>
                <a:lnTo>
                  <a:pt x="10967" y="3"/>
                </a:lnTo>
                <a:lnTo>
                  <a:pt x="11160" y="12"/>
                </a:lnTo>
                <a:lnTo>
                  <a:pt x="11351" y="27"/>
                </a:lnTo>
                <a:lnTo>
                  <a:pt x="11538" y="48"/>
                </a:lnTo>
                <a:lnTo>
                  <a:pt x="11723" y="76"/>
                </a:lnTo>
                <a:lnTo>
                  <a:pt x="11903" y="109"/>
                </a:lnTo>
                <a:lnTo>
                  <a:pt x="12081" y="148"/>
                </a:lnTo>
                <a:lnTo>
                  <a:pt x="12254" y="192"/>
                </a:lnTo>
                <a:lnTo>
                  <a:pt x="12424" y="241"/>
                </a:lnTo>
                <a:lnTo>
                  <a:pt x="12588" y="296"/>
                </a:lnTo>
                <a:lnTo>
                  <a:pt x="12747" y="356"/>
                </a:lnTo>
                <a:lnTo>
                  <a:pt x="12902" y="421"/>
                </a:lnTo>
                <a:lnTo>
                  <a:pt x="13051" y="492"/>
                </a:lnTo>
                <a:lnTo>
                  <a:pt x="13194" y="566"/>
                </a:lnTo>
                <a:lnTo>
                  <a:pt x="13330" y="645"/>
                </a:lnTo>
                <a:lnTo>
                  <a:pt x="13461" y="729"/>
                </a:lnTo>
                <a:lnTo>
                  <a:pt x="13584" y="818"/>
                </a:lnTo>
                <a:lnTo>
                  <a:pt x="13702" y="911"/>
                </a:lnTo>
                <a:lnTo>
                  <a:pt x="13811" y="1008"/>
                </a:lnTo>
                <a:lnTo>
                  <a:pt x="13913" y="1108"/>
                </a:lnTo>
                <a:lnTo>
                  <a:pt x="14008" y="1214"/>
                </a:lnTo>
                <a:lnTo>
                  <a:pt x="14093" y="1322"/>
                </a:lnTo>
                <a:lnTo>
                  <a:pt x="14171" y="1434"/>
                </a:lnTo>
                <a:lnTo>
                  <a:pt x="14239" y="1550"/>
                </a:lnTo>
                <a:lnTo>
                  <a:pt x="14299" y="1669"/>
                </a:lnTo>
                <a:lnTo>
                  <a:pt x="14349" y="1791"/>
                </a:lnTo>
                <a:lnTo>
                  <a:pt x="14390" y="1916"/>
                </a:lnTo>
                <a:lnTo>
                  <a:pt x="14421" y="2044"/>
                </a:lnTo>
                <a:lnTo>
                  <a:pt x="14427" y="2073"/>
                </a:lnTo>
                <a:lnTo>
                  <a:pt x="14431" y="2102"/>
                </a:lnTo>
                <a:lnTo>
                  <a:pt x="14436" y="2131"/>
                </a:lnTo>
                <a:lnTo>
                  <a:pt x="14440" y="2159"/>
                </a:lnTo>
                <a:lnTo>
                  <a:pt x="14443" y="2188"/>
                </a:lnTo>
                <a:lnTo>
                  <a:pt x="14446" y="2217"/>
                </a:lnTo>
                <a:lnTo>
                  <a:pt x="14448" y="2245"/>
                </a:lnTo>
                <a:lnTo>
                  <a:pt x="14450" y="2274"/>
                </a:lnTo>
                <a:lnTo>
                  <a:pt x="14451" y="2303"/>
                </a:lnTo>
                <a:lnTo>
                  <a:pt x="14452" y="2331"/>
                </a:lnTo>
                <a:lnTo>
                  <a:pt x="14452" y="2360"/>
                </a:lnTo>
                <a:lnTo>
                  <a:pt x="14452" y="2388"/>
                </a:lnTo>
                <a:lnTo>
                  <a:pt x="14451" y="2417"/>
                </a:lnTo>
                <a:lnTo>
                  <a:pt x="14450" y="2445"/>
                </a:lnTo>
                <a:lnTo>
                  <a:pt x="14448" y="2474"/>
                </a:lnTo>
                <a:lnTo>
                  <a:pt x="14446" y="2502"/>
                </a:lnTo>
                <a:lnTo>
                  <a:pt x="14467" y="2502"/>
                </a:lnTo>
                <a:lnTo>
                  <a:pt x="14488" y="2501"/>
                </a:lnTo>
                <a:lnTo>
                  <a:pt x="14510" y="2501"/>
                </a:lnTo>
                <a:lnTo>
                  <a:pt x="14530" y="2501"/>
                </a:lnTo>
                <a:lnTo>
                  <a:pt x="14551" y="2502"/>
                </a:lnTo>
                <a:lnTo>
                  <a:pt x="14573" y="2502"/>
                </a:lnTo>
                <a:lnTo>
                  <a:pt x="14594" y="2503"/>
                </a:lnTo>
                <a:lnTo>
                  <a:pt x="14615" y="2504"/>
                </a:lnTo>
                <a:lnTo>
                  <a:pt x="14636" y="2505"/>
                </a:lnTo>
                <a:lnTo>
                  <a:pt x="14657" y="2507"/>
                </a:lnTo>
                <a:lnTo>
                  <a:pt x="14679" y="2508"/>
                </a:lnTo>
                <a:lnTo>
                  <a:pt x="14699" y="2510"/>
                </a:lnTo>
                <a:lnTo>
                  <a:pt x="14721" y="2512"/>
                </a:lnTo>
                <a:lnTo>
                  <a:pt x="14742" y="2515"/>
                </a:lnTo>
                <a:lnTo>
                  <a:pt x="14762" y="2517"/>
                </a:lnTo>
                <a:lnTo>
                  <a:pt x="14784" y="2520"/>
                </a:lnTo>
                <a:lnTo>
                  <a:pt x="14886" y="2538"/>
                </a:lnTo>
                <a:lnTo>
                  <a:pt x="14986" y="2562"/>
                </a:lnTo>
                <a:lnTo>
                  <a:pt x="15083" y="2591"/>
                </a:lnTo>
                <a:lnTo>
                  <a:pt x="15178" y="2624"/>
                </a:lnTo>
                <a:lnTo>
                  <a:pt x="15268" y="2663"/>
                </a:lnTo>
                <a:lnTo>
                  <a:pt x="15356" y="2706"/>
                </a:lnTo>
                <a:lnTo>
                  <a:pt x="15441" y="2755"/>
                </a:lnTo>
                <a:lnTo>
                  <a:pt x="15522" y="2808"/>
                </a:lnTo>
                <a:lnTo>
                  <a:pt x="15601" y="2865"/>
                </a:lnTo>
                <a:lnTo>
                  <a:pt x="15675" y="2927"/>
                </a:lnTo>
                <a:lnTo>
                  <a:pt x="15747" y="2991"/>
                </a:lnTo>
                <a:lnTo>
                  <a:pt x="15814" y="3061"/>
                </a:lnTo>
                <a:lnTo>
                  <a:pt x="15877" y="3134"/>
                </a:lnTo>
                <a:lnTo>
                  <a:pt x="15938" y="3210"/>
                </a:lnTo>
                <a:lnTo>
                  <a:pt x="15994" y="3290"/>
                </a:lnTo>
                <a:lnTo>
                  <a:pt x="16045" y="3373"/>
                </a:lnTo>
                <a:lnTo>
                  <a:pt x="16093" y="3459"/>
                </a:lnTo>
                <a:lnTo>
                  <a:pt x="16136" y="3548"/>
                </a:lnTo>
                <a:lnTo>
                  <a:pt x="16175" y="3641"/>
                </a:lnTo>
                <a:lnTo>
                  <a:pt x="16210" y="3735"/>
                </a:lnTo>
                <a:lnTo>
                  <a:pt x="16239" y="3831"/>
                </a:lnTo>
                <a:lnTo>
                  <a:pt x="16265" y="3931"/>
                </a:lnTo>
                <a:lnTo>
                  <a:pt x="16286" y="4031"/>
                </a:lnTo>
                <a:lnTo>
                  <a:pt x="16302" y="4134"/>
                </a:lnTo>
                <a:lnTo>
                  <a:pt x="16313" y="4239"/>
                </a:lnTo>
                <a:lnTo>
                  <a:pt x="16319" y="4345"/>
                </a:lnTo>
                <a:lnTo>
                  <a:pt x="16320" y="4453"/>
                </a:lnTo>
                <a:lnTo>
                  <a:pt x="16316" y="4562"/>
                </a:lnTo>
                <a:lnTo>
                  <a:pt x="16307" y="4672"/>
                </a:lnTo>
                <a:lnTo>
                  <a:pt x="16291" y="4783"/>
                </a:lnTo>
                <a:lnTo>
                  <a:pt x="16271" y="4895"/>
                </a:lnTo>
                <a:lnTo>
                  <a:pt x="16246" y="5007"/>
                </a:lnTo>
                <a:lnTo>
                  <a:pt x="16224" y="5087"/>
                </a:lnTo>
                <a:lnTo>
                  <a:pt x="16200" y="5165"/>
                </a:lnTo>
                <a:lnTo>
                  <a:pt x="16173" y="5243"/>
                </a:lnTo>
                <a:lnTo>
                  <a:pt x="16145" y="5319"/>
                </a:lnTo>
                <a:lnTo>
                  <a:pt x="16113" y="5394"/>
                </a:lnTo>
                <a:lnTo>
                  <a:pt x="16080" y="5468"/>
                </a:lnTo>
                <a:lnTo>
                  <a:pt x="16045" y="5540"/>
                </a:lnTo>
                <a:lnTo>
                  <a:pt x="16007" y="5611"/>
                </a:lnTo>
                <a:lnTo>
                  <a:pt x="15967" y="5680"/>
                </a:lnTo>
                <a:lnTo>
                  <a:pt x="15925" y="5749"/>
                </a:lnTo>
                <a:lnTo>
                  <a:pt x="15882" y="5815"/>
                </a:lnTo>
                <a:lnTo>
                  <a:pt x="15837" y="5880"/>
                </a:lnTo>
                <a:lnTo>
                  <a:pt x="15790" y="5943"/>
                </a:lnTo>
                <a:lnTo>
                  <a:pt x="15741" y="6005"/>
                </a:lnTo>
                <a:lnTo>
                  <a:pt x="15690" y="6064"/>
                </a:lnTo>
                <a:lnTo>
                  <a:pt x="15638" y="6123"/>
                </a:lnTo>
                <a:lnTo>
                  <a:pt x="15584" y="6179"/>
                </a:lnTo>
                <a:lnTo>
                  <a:pt x="15528" y="6233"/>
                </a:lnTo>
                <a:lnTo>
                  <a:pt x="15472" y="6287"/>
                </a:lnTo>
                <a:lnTo>
                  <a:pt x="15414" y="6337"/>
                </a:lnTo>
                <a:lnTo>
                  <a:pt x="15354" y="6386"/>
                </a:lnTo>
                <a:lnTo>
                  <a:pt x="15294" y="6432"/>
                </a:lnTo>
                <a:lnTo>
                  <a:pt x="15232" y="6477"/>
                </a:lnTo>
                <a:lnTo>
                  <a:pt x="15169" y="6520"/>
                </a:lnTo>
                <a:lnTo>
                  <a:pt x="15105" y="6560"/>
                </a:lnTo>
                <a:lnTo>
                  <a:pt x="15040" y="6599"/>
                </a:lnTo>
                <a:lnTo>
                  <a:pt x="14975" y="6635"/>
                </a:lnTo>
                <a:lnTo>
                  <a:pt x="14907" y="6669"/>
                </a:lnTo>
                <a:lnTo>
                  <a:pt x="14840" y="6700"/>
                </a:lnTo>
                <a:lnTo>
                  <a:pt x="14771" y="6730"/>
                </a:lnTo>
                <a:lnTo>
                  <a:pt x="14702" y="6757"/>
                </a:lnTo>
                <a:lnTo>
                  <a:pt x="14632" y="6781"/>
                </a:lnTo>
                <a:lnTo>
                  <a:pt x="14682" y="6825"/>
                </a:lnTo>
                <a:lnTo>
                  <a:pt x="14731" y="6871"/>
                </a:lnTo>
                <a:lnTo>
                  <a:pt x="14778" y="6918"/>
                </a:lnTo>
                <a:lnTo>
                  <a:pt x="14823" y="6966"/>
                </a:lnTo>
                <a:lnTo>
                  <a:pt x="14867" y="7015"/>
                </a:lnTo>
                <a:lnTo>
                  <a:pt x="14907" y="7065"/>
                </a:lnTo>
                <a:lnTo>
                  <a:pt x="14947" y="7117"/>
                </a:lnTo>
                <a:lnTo>
                  <a:pt x="14985" y="7171"/>
                </a:lnTo>
                <a:lnTo>
                  <a:pt x="15022" y="7224"/>
                </a:lnTo>
                <a:lnTo>
                  <a:pt x="15055" y="7279"/>
                </a:lnTo>
                <a:lnTo>
                  <a:pt x="15088" y="7336"/>
                </a:lnTo>
                <a:lnTo>
                  <a:pt x="15117" y="7392"/>
                </a:lnTo>
                <a:lnTo>
                  <a:pt x="15146" y="7450"/>
                </a:lnTo>
                <a:lnTo>
                  <a:pt x="15171" y="7509"/>
                </a:lnTo>
                <a:lnTo>
                  <a:pt x="15196" y="7568"/>
                </a:lnTo>
                <a:lnTo>
                  <a:pt x="15217" y="7629"/>
                </a:lnTo>
                <a:lnTo>
                  <a:pt x="15237" y="7690"/>
                </a:lnTo>
                <a:lnTo>
                  <a:pt x="15255" y="7752"/>
                </a:lnTo>
                <a:lnTo>
                  <a:pt x="15270" y="7814"/>
                </a:lnTo>
                <a:lnTo>
                  <a:pt x="15284" y="7878"/>
                </a:lnTo>
                <a:lnTo>
                  <a:pt x="15294" y="7941"/>
                </a:lnTo>
                <a:lnTo>
                  <a:pt x="15303" y="8006"/>
                </a:lnTo>
                <a:lnTo>
                  <a:pt x="15309" y="8070"/>
                </a:lnTo>
                <a:lnTo>
                  <a:pt x="15313" y="8136"/>
                </a:lnTo>
                <a:lnTo>
                  <a:pt x="15314" y="8201"/>
                </a:lnTo>
                <a:lnTo>
                  <a:pt x="15314" y="8268"/>
                </a:lnTo>
                <a:lnTo>
                  <a:pt x="15311" y="8333"/>
                </a:lnTo>
                <a:lnTo>
                  <a:pt x="15305" y="8401"/>
                </a:lnTo>
                <a:lnTo>
                  <a:pt x="15297" y="8468"/>
                </a:lnTo>
                <a:lnTo>
                  <a:pt x="15286" y="8534"/>
                </a:lnTo>
                <a:lnTo>
                  <a:pt x="15272" y="8602"/>
                </a:lnTo>
                <a:lnTo>
                  <a:pt x="15257" y="8669"/>
                </a:lnTo>
                <a:lnTo>
                  <a:pt x="15228" y="8773"/>
                </a:lnTo>
                <a:lnTo>
                  <a:pt x="15193" y="8874"/>
                </a:lnTo>
                <a:lnTo>
                  <a:pt x="15153" y="8974"/>
                </a:lnTo>
                <a:lnTo>
                  <a:pt x="15107" y="9070"/>
                </a:lnTo>
                <a:lnTo>
                  <a:pt x="15057" y="9164"/>
                </a:lnTo>
                <a:lnTo>
                  <a:pt x="15002" y="9255"/>
                </a:lnTo>
                <a:lnTo>
                  <a:pt x="14942" y="9343"/>
                </a:lnTo>
                <a:lnTo>
                  <a:pt x="14879" y="9429"/>
                </a:lnTo>
                <a:lnTo>
                  <a:pt x="14810" y="9511"/>
                </a:lnTo>
                <a:lnTo>
                  <a:pt x="14738" y="9590"/>
                </a:lnTo>
                <a:lnTo>
                  <a:pt x="14661" y="9666"/>
                </a:lnTo>
                <a:lnTo>
                  <a:pt x="14582" y="9739"/>
                </a:lnTo>
                <a:lnTo>
                  <a:pt x="14499" y="9807"/>
                </a:lnTo>
                <a:lnTo>
                  <a:pt x="14413" y="9873"/>
                </a:lnTo>
                <a:lnTo>
                  <a:pt x="14323" y="9934"/>
                </a:lnTo>
                <a:lnTo>
                  <a:pt x="14230" y="9993"/>
                </a:lnTo>
                <a:lnTo>
                  <a:pt x="14135" y="10047"/>
                </a:lnTo>
                <a:lnTo>
                  <a:pt x="14037" y="10097"/>
                </a:lnTo>
                <a:lnTo>
                  <a:pt x="13936" y="10143"/>
                </a:lnTo>
                <a:lnTo>
                  <a:pt x="13834" y="10185"/>
                </a:lnTo>
                <a:lnTo>
                  <a:pt x="13729" y="10222"/>
                </a:lnTo>
                <a:lnTo>
                  <a:pt x="13623" y="10256"/>
                </a:lnTo>
                <a:lnTo>
                  <a:pt x="13514" y="10285"/>
                </a:lnTo>
                <a:lnTo>
                  <a:pt x="13405" y="10308"/>
                </a:lnTo>
                <a:lnTo>
                  <a:pt x="13294" y="10328"/>
                </a:lnTo>
                <a:lnTo>
                  <a:pt x="13181" y="10342"/>
                </a:lnTo>
                <a:lnTo>
                  <a:pt x="13068" y="10352"/>
                </a:lnTo>
                <a:lnTo>
                  <a:pt x="12954" y="10358"/>
                </a:lnTo>
                <a:lnTo>
                  <a:pt x="12839" y="10357"/>
                </a:lnTo>
                <a:lnTo>
                  <a:pt x="12723" y="10351"/>
                </a:lnTo>
                <a:lnTo>
                  <a:pt x="12608" y="10341"/>
                </a:lnTo>
                <a:lnTo>
                  <a:pt x="12492" y="10325"/>
                </a:lnTo>
                <a:lnTo>
                  <a:pt x="12466" y="10321"/>
                </a:lnTo>
                <a:lnTo>
                  <a:pt x="12442" y="10316"/>
                </a:lnTo>
                <a:lnTo>
                  <a:pt x="12416" y="10311"/>
                </a:lnTo>
                <a:lnTo>
                  <a:pt x="12392" y="10306"/>
                </a:lnTo>
                <a:lnTo>
                  <a:pt x="12366" y="10301"/>
                </a:lnTo>
                <a:lnTo>
                  <a:pt x="12342" y="10295"/>
                </a:lnTo>
                <a:lnTo>
                  <a:pt x="12318" y="10290"/>
                </a:lnTo>
                <a:lnTo>
                  <a:pt x="12293" y="10284"/>
                </a:lnTo>
                <a:lnTo>
                  <a:pt x="12269" y="10278"/>
                </a:lnTo>
                <a:lnTo>
                  <a:pt x="12245" y="10272"/>
                </a:lnTo>
                <a:lnTo>
                  <a:pt x="12221" y="10264"/>
                </a:lnTo>
                <a:lnTo>
                  <a:pt x="12197" y="10258"/>
                </a:lnTo>
                <a:lnTo>
                  <a:pt x="12174" y="10251"/>
                </a:lnTo>
                <a:lnTo>
                  <a:pt x="12150" y="10244"/>
                </a:lnTo>
                <a:lnTo>
                  <a:pt x="12127" y="10236"/>
                </a:lnTo>
                <a:lnTo>
                  <a:pt x="12103" y="10228"/>
                </a:lnTo>
                <a:lnTo>
                  <a:pt x="12080" y="10220"/>
                </a:lnTo>
                <a:lnTo>
                  <a:pt x="12057" y="10212"/>
                </a:lnTo>
                <a:lnTo>
                  <a:pt x="12034" y="10204"/>
                </a:lnTo>
                <a:lnTo>
                  <a:pt x="12012" y="10196"/>
                </a:lnTo>
                <a:lnTo>
                  <a:pt x="11989" y="10186"/>
                </a:lnTo>
                <a:lnTo>
                  <a:pt x="11967" y="10177"/>
                </a:lnTo>
                <a:lnTo>
                  <a:pt x="11944" y="10168"/>
                </a:lnTo>
                <a:lnTo>
                  <a:pt x="11923" y="10159"/>
                </a:lnTo>
                <a:lnTo>
                  <a:pt x="11900" y="10150"/>
                </a:lnTo>
                <a:lnTo>
                  <a:pt x="11879" y="10139"/>
                </a:lnTo>
                <a:lnTo>
                  <a:pt x="11858" y="10129"/>
                </a:lnTo>
                <a:lnTo>
                  <a:pt x="11836" y="10119"/>
                </a:lnTo>
                <a:lnTo>
                  <a:pt x="11815" y="10109"/>
                </a:lnTo>
                <a:lnTo>
                  <a:pt x="11793" y="10098"/>
                </a:lnTo>
                <a:lnTo>
                  <a:pt x="11773" y="10087"/>
                </a:lnTo>
                <a:lnTo>
                  <a:pt x="11751" y="10076"/>
                </a:lnTo>
                <a:lnTo>
                  <a:pt x="11757" y="10111"/>
                </a:lnTo>
                <a:lnTo>
                  <a:pt x="11761" y="10144"/>
                </a:lnTo>
                <a:lnTo>
                  <a:pt x="11764" y="10179"/>
                </a:lnTo>
                <a:lnTo>
                  <a:pt x="11766" y="10213"/>
                </a:lnTo>
                <a:lnTo>
                  <a:pt x="11768" y="10248"/>
                </a:lnTo>
                <a:lnTo>
                  <a:pt x="11769" y="10283"/>
                </a:lnTo>
                <a:lnTo>
                  <a:pt x="11768" y="10319"/>
                </a:lnTo>
                <a:lnTo>
                  <a:pt x="11767" y="10353"/>
                </a:lnTo>
                <a:lnTo>
                  <a:pt x="11765" y="10388"/>
                </a:lnTo>
                <a:lnTo>
                  <a:pt x="11763" y="10424"/>
                </a:lnTo>
                <a:lnTo>
                  <a:pt x="11759" y="10459"/>
                </a:lnTo>
                <a:lnTo>
                  <a:pt x="11753" y="10495"/>
                </a:lnTo>
                <a:lnTo>
                  <a:pt x="11748" y="10531"/>
                </a:lnTo>
                <a:lnTo>
                  <a:pt x="11742" y="10567"/>
                </a:lnTo>
                <a:lnTo>
                  <a:pt x="11734" y="10602"/>
                </a:lnTo>
                <a:lnTo>
                  <a:pt x="11726" y="10637"/>
                </a:lnTo>
                <a:lnTo>
                  <a:pt x="11705" y="10718"/>
                </a:lnTo>
                <a:lnTo>
                  <a:pt x="11678" y="10797"/>
                </a:lnTo>
                <a:lnTo>
                  <a:pt x="11647" y="10874"/>
                </a:lnTo>
                <a:lnTo>
                  <a:pt x="11613" y="10949"/>
                </a:lnTo>
                <a:lnTo>
                  <a:pt x="11574" y="11021"/>
                </a:lnTo>
                <a:lnTo>
                  <a:pt x="11532" y="11092"/>
                </a:lnTo>
                <a:lnTo>
                  <a:pt x="11486" y="11161"/>
                </a:lnTo>
                <a:lnTo>
                  <a:pt x="11437" y="11226"/>
                </a:lnTo>
                <a:lnTo>
                  <a:pt x="11385" y="11291"/>
                </a:lnTo>
                <a:lnTo>
                  <a:pt x="11329" y="11352"/>
                </a:lnTo>
                <a:lnTo>
                  <a:pt x="11271" y="11411"/>
                </a:lnTo>
                <a:lnTo>
                  <a:pt x="11210" y="11467"/>
                </a:lnTo>
                <a:lnTo>
                  <a:pt x="11146" y="11520"/>
                </a:lnTo>
                <a:lnTo>
                  <a:pt x="11079" y="11570"/>
                </a:lnTo>
                <a:lnTo>
                  <a:pt x="11010" y="11619"/>
                </a:lnTo>
                <a:lnTo>
                  <a:pt x="10938" y="11664"/>
                </a:lnTo>
                <a:lnTo>
                  <a:pt x="10865" y="11705"/>
                </a:lnTo>
                <a:lnTo>
                  <a:pt x="10789" y="11744"/>
                </a:lnTo>
                <a:lnTo>
                  <a:pt x="10711" y="11779"/>
                </a:lnTo>
                <a:lnTo>
                  <a:pt x="10632" y="11811"/>
                </a:lnTo>
                <a:lnTo>
                  <a:pt x="10551" y="11841"/>
                </a:lnTo>
                <a:lnTo>
                  <a:pt x="10468" y="11866"/>
                </a:lnTo>
                <a:lnTo>
                  <a:pt x="10385" y="11888"/>
                </a:lnTo>
                <a:lnTo>
                  <a:pt x="10300" y="11906"/>
                </a:lnTo>
                <a:lnTo>
                  <a:pt x="10214" y="11922"/>
                </a:lnTo>
                <a:lnTo>
                  <a:pt x="10127" y="11932"/>
                </a:lnTo>
                <a:lnTo>
                  <a:pt x="10039" y="11939"/>
                </a:lnTo>
                <a:lnTo>
                  <a:pt x="9950" y="11943"/>
                </a:lnTo>
                <a:lnTo>
                  <a:pt x="9861" y="11942"/>
                </a:lnTo>
                <a:lnTo>
                  <a:pt x="9772" y="11938"/>
                </a:lnTo>
                <a:lnTo>
                  <a:pt x="9682" y="11929"/>
                </a:lnTo>
                <a:lnTo>
                  <a:pt x="9592" y="11917"/>
                </a:lnTo>
                <a:lnTo>
                  <a:pt x="9540" y="11906"/>
                </a:lnTo>
                <a:lnTo>
                  <a:pt x="9489" y="11896"/>
                </a:lnTo>
                <a:lnTo>
                  <a:pt x="9439" y="11884"/>
                </a:lnTo>
                <a:lnTo>
                  <a:pt x="9389" y="11871"/>
                </a:lnTo>
                <a:lnTo>
                  <a:pt x="9340" y="11856"/>
                </a:lnTo>
                <a:lnTo>
                  <a:pt x="9292" y="11841"/>
                </a:lnTo>
                <a:lnTo>
                  <a:pt x="9245" y="11824"/>
                </a:lnTo>
                <a:lnTo>
                  <a:pt x="9198" y="11806"/>
                </a:lnTo>
                <a:lnTo>
                  <a:pt x="9152" y="11787"/>
                </a:lnTo>
                <a:lnTo>
                  <a:pt x="9108" y="11766"/>
                </a:lnTo>
                <a:lnTo>
                  <a:pt x="9064" y="11746"/>
                </a:lnTo>
                <a:lnTo>
                  <a:pt x="9021" y="11723"/>
                </a:lnTo>
                <a:lnTo>
                  <a:pt x="8978" y="11699"/>
                </a:lnTo>
                <a:lnTo>
                  <a:pt x="8937" y="11675"/>
                </a:lnTo>
                <a:lnTo>
                  <a:pt x="8896" y="11649"/>
                </a:lnTo>
                <a:lnTo>
                  <a:pt x="8857" y="11623"/>
                </a:lnTo>
                <a:lnTo>
                  <a:pt x="8819" y="11595"/>
                </a:lnTo>
                <a:lnTo>
                  <a:pt x="8781" y="11567"/>
                </a:lnTo>
                <a:lnTo>
                  <a:pt x="8744" y="11538"/>
                </a:lnTo>
                <a:lnTo>
                  <a:pt x="8709" y="11508"/>
                </a:lnTo>
                <a:lnTo>
                  <a:pt x="8674" y="11477"/>
                </a:lnTo>
                <a:lnTo>
                  <a:pt x="8640" y="11444"/>
                </a:lnTo>
                <a:lnTo>
                  <a:pt x="8608" y="11413"/>
                </a:lnTo>
                <a:lnTo>
                  <a:pt x="8577" y="11379"/>
                </a:lnTo>
                <a:lnTo>
                  <a:pt x="8547" y="11344"/>
                </a:lnTo>
                <a:lnTo>
                  <a:pt x="8517" y="11309"/>
                </a:lnTo>
                <a:lnTo>
                  <a:pt x="8489" y="11273"/>
                </a:lnTo>
                <a:lnTo>
                  <a:pt x="8462" y="11237"/>
                </a:lnTo>
                <a:lnTo>
                  <a:pt x="8436" y="11201"/>
                </a:lnTo>
                <a:lnTo>
                  <a:pt x="8412" y="11163"/>
                </a:lnTo>
                <a:lnTo>
                  <a:pt x="8388" y="11124"/>
                </a:lnTo>
                <a:lnTo>
                  <a:pt x="8366" y="11085"/>
                </a:lnTo>
                <a:lnTo>
                  <a:pt x="8304" y="11124"/>
                </a:lnTo>
                <a:lnTo>
                  <a:pt x="8241" y="11162"/>
                </a:lnTo>
                <a:lnTo>
                  <a:pt x="8175" y="11199"/>
                </a:lnTo>
                <a:lnTo>
                  <a:pt x="8109" y="11234"/>
                </a:lnTo>
                <a:lnTo>
                  <a:pt x="8041" y="11269"/>
                </a:lnTo>
                <a:lnTo>
                  <a:pt x="7971" y="11302"/>
                </a:lnTo>
                <a:lnTo>
                  <a:pt x="7901" y="11335"/>
                </a:lnTo>
                <a:lnTo>
                  <a:pt x="7830" y="11366"/>
                </a:lnTo>
                <a:lnTo>
                  <a:pt x="7756" y="11395"/>
                </a:lnTo>
                <a:lnTo>
                  <a:pt x="7683" y="11424"/>
                </a:lnTo>
                <a:lnTo>
                  <a:pt x="7607" y="11451"/>
                </a:lnTo>
                <a:lnTo>
                  <a:pt x="7531" y="11476"/>
                </a:lnTo>
                <a:lnTo>
                  <a:pt x="7453" y="11501"/>
                </a:lnTo>
                <a:lnTo>
                  <a:pt x="7375" y="11524"/>
                </a:lnTo>
                <a:lnTo>
                  <a:pt x="7295" y="11546"/>
                </a:lnTo>
                <a:lnTo>
                  <a:pt x="7214" y="11566"/>
                </a:lnTo>
                <a:lnTo>
                  <a:pt x="7133" y="11586"/>
                </a:lnTo>
                <a:lnTo>
                  <a:pt x="7050" y="11603"/>
                </a:lnTo>
                <a:lnTo>
                  <a:pt x="6968" y="11620"/>
                </a:lnTo>
                <a:lnTo>
                  <a:pt x="6884" y="11634"/>
                </a:lnTo>
                <a:lnTo>
                  <a:pt x="6799" y="11647"/>
                </a:lnTo>
                <a:lnTo>
                  <a:pt x="6714" y="11659"/>
                </a:lnTo>
                <a:lnTo>
                  <a:pt x="6628" y="11669"/>
                </a:lnTo>
                <a:lnTo>
                  <a:pt x="6541" y="11678"/>
                </a:lnTo>
                <a:lnTo>
                  <a:pt x="6454" y="11684"/>
                </a:lnTo>
                <a:lnTo>
                  <a:pt x="6366" y="11690"/>
                </a:lnTo>
                <a:lnTo>
                  <a:pt x="6277" y="11694"/>
                </a:lnTo>
                <a:lnTo>
                  <a:pt x="6188" y="11696"/>
                </a:lnTo>
                <a:lnTo>
                  <a:pt x="6099" y="11696"/>
                </a:lnTo>
                <a:lnTo>
                  <a:pt x="6009" y="11695"/>
                </a:lnTo>
                <a:lnTo>
                  <a:pt x="5919" y="11693"/>
                </a:lnTo>
                <a:lnTo>
                  <a:pt x="5828" y="11688"/>
                </a:lnTo>
                <a:lnTo>
                  <a:pt x="5668" y="11677"/>
                </a:lnTo>
                <a:lnTo>
                  <a:pt x="5510" y="11660"/>
                </a:lnTo>
                <a:lnTo>
                  <a:pt x="5356" y="11637"/>
                </a:lnTo>
                <a:lnTo>
                  <a:pt x="5205" y="11610"/>
                </a:lnTo>
                <a:lnTo>
                  <a:pt x="5057" y="11579"/>
                </a:lnTo>
                <a:lnTo>
                  <a:pt x="4912" y="11543"/>
                </a:lnTo>
                <a:lnTo>
                  <a:pt x="4773" y="11502"/>
                </a:lnTo>
                <a:lnTo>
                  <a:pt x="4636" y="11457"/>
                </a:lnTo>
                <a:lnTo>
                  <a:pt x="4503" y="11408"/>
                </a:lnTo>
                <a:lnTo>
                  <a:pt x="4376" y="11355"/>
                </a:lnTo>
                <a:lnTo>
                  <a:pt x="4252" y="11298"/>
                </a:lnTo>
                <a:lnTo>
                  <a:pt x="4133" y="11237"/>
                </a:lnTo>
                <a:lnTo>
                  <a:pt x="4020" y="11174"/>
                </a:lnTo>
                <a:lnTo>
                  <a:pt x="3911" y="11106"/>
                </a:lnTo>
                <a:lnTo>
                  <a:pt x="3807" y="11036"/>
                </a:lnTo>
                <a:lnTo>
                  <a:pt x="3708" y="10961"/>
                </a:lnTo>
                <a:lnTo>
                  <a:pt x="3615" y="10884"/>
                </a:lnTo>
                <a:lnTo>
                  <a:pt x="3528" y="10804"/>
                </a:lnTo>
                <a:lnTo>
                  <a:pt x="3447" y="10722"/>
                </a:lnTo>
                <a:lnTo>
                  <a:pt x="3371" y="10637"/>
                </a:lnTo>
                <a:lnTo>
                  <a:pt x="3302" y="10549"/>
                </a:lnTo>
                <a:lnTo>
                  <a:pt x="3239" y="10459"/>
                </a:lnTo>
                <a:lnTo>
                  <a:pt x="3182" y="10368"/>
                </a:lnTo>
                <a:lnTo>
                  <a:pt x="3133" y="10274"/>
                </a:lnTo>
                <a:lnTo>
                  <a:pt x="3091" y="10177"/>
                </a:lnTo>
                <a:lnTo>
                  <a:pt x="3055" y="10079"/>
                </a:lnTo>
                <a:lnTo>
                  <a:pt x="3026" y="9980"/>
                </a:lnTo>
                <a:lnTo>
                  <a:pt x="3006" y="9879"/>
                </a:lnTo>
                <a:lnTo>
                  <a:pt x="2993" y="9777"/>
                </a:lnTo>
                <a:lnTo>
                  <a:pt x="2987" y="9673"/>
                </a:lnTo>
                <a:lnTo>
                  <a:pt x="2990" y="9568"/>
                </a:lnTo>
                <a:lnTo>
                  <a:pt x="3000" y="9462"/>
                </a:lnTo>
                <a:lnTo>
                  <a:pt x="3001" y="9455"/>
                </a:lnTo>
                <a:lnTo>
                  <a:pt x="3003" y="9448"/>
                </a:lnTo>
                <a:lnTo>
                  <a:pt x="3004" y="9441"/>
                </a:lnTo>
                <a:lnTo>
                  <a:pt x="3005" y="9433"/>
                </a:lnTo>
                <a:lnTo>
                  <a:pt x="3006" y="9425"/>
                </a:lnTo>
                <a:lnTo>
                  <a:pt x="3007" y="9418"/>
                </a:lnTo>
                <a:lnTo>
                  <a:pt x="3009" y="9411"/>
                </a:lnTo>
                <a:lnTo>
                  <a:pt x="3010" y="9404"/>
                </a:lnTo>
                <a:lnTo>
                  <a:pt x="2973" y="9417"/>
                </a:lnTo>
                <a:lnTo>
                  <a:pt x="2937" y="9430"/>
                </a:lnTo>
                <a:lnTo>
                  <a:pt x="2900" y="9444"/>
                </a:lnTo>
                <a:lnTo>
                  <a:pt x="2862" y="9456"/>
                </a:lnTo>
                <a:lnTo>
                  <a:pt x="2824" y="9467"/>
                </a:lnTo>
                <a:lnTo>
                  <a:pt x="2787" y="9479"/>
                </a:lnTo>
                <a:lnTo>
                  <a:pt x="2749" y="9489"/>
                </a:lnTo>
                <a:lnTo>
                  <a:pt x="2711" y="9499"/>
                </a:lnTo>
                <a:lnTo>
                  <a:pt x="2672" y="9508"/>
                </a:lnTo>
                <a:lnTo>
                  <a:pt x="2634" y="9517"/>
                </a:lnTo>
                <a:lnTo>
                  <a:pt x="2595" y="9525"/>
                </a:lnTo>
                <a:lnTo>
                  <a:pt x="2556" y="9532"/>
                </a:lnTo>
                <a:lnTo>
                  <a:pt x="2517" y="9538"/>
                </a:lnTo>
                <a:lnTo>
                  <a:pt x="2478" y="9544"/>
                </a:lnTo>
                <a:lnTo>
                  <a:pt x="2438" y="9549"/>
                </a:lnTo>
                <a:lnTo>
                  <a:pt x="2399" y="9554"/>
                </a:lnTo>
                <a:lnTo>
                  <a:pt x="2359" y="9559"/>
                </a:lnTo>
                <a:lnTo>
                  <a:pt x="2318" y="9562"/>
                </a:lnTo>
                <a:lnTo>
                  <a:pt x="2279" y="9565"/>
                </a:lnTo>
                <a:lnTo>
                  <a:pt x="2239" y="9567"/>
                </a:lnTo>
                <a:lnTo>
                  <a:pt x="2198" y="9568"/>
                </a:lnTo>
                <a:lnTo>
                  <a:pt x="2158" y="9569"/>
                </a:lnTo>
                <a:lnTo>
                  <a:pt x="2118" y="9569"/>
                </a:lnTo>
                <a:lnTo>
                  <a:pt x="2077" y="9568"/>
                </a:lnTo>
                <a:lnTo>
                  <a:pt x="2036" y="9567"/>
                </a:lnTo>
                <a:lnTo>
                  <a:pt x="1995" y="9565"/>
                </a:lnTo>
                <a:lnTo>
                  <a:pt x="1955" y="9562"/>
                </a:lnTo>
                <a:lnTo>
                  <a:pt x="1914" y="9559"/>
                </a:lnTo>
                <a:lnTo>
                  <a:pt x="1873" y="9554"/>
                </a:lnTo>
                <a:lnTo>
                  <a:pt x="1832" y="9549"/>
                </a:lnTo>
                <a:lnTo>
                  <a:pt x="1791" y="9544"/>
                </a:lnTo>
                <a:lnTo>
                  <a:pt x="1750" y="9537"/>
                </a:lnTo>
                <a:lnTo>
                  <a:pt x="1641" y="9517"/>
                </a:lnTo>
                <a:lnTo>
                  <a:pt x="1534" y="9491"/>
                </a:lnTo>
                <a:lnTo>
                  <a:pt x="1431" y="9461"/>
                </a:lnTo>
                <a:lnTo>
                  <a:pt x="1329" y="9426"/>
                </a:lnTo>
                <a:lnTo>
                  <a:pt x="1231" y="9387"/>
                </a:lnTo>
                <a:lnTo>
                  <a:pt x="1135" y="9344"/>
                </a:lnTo>
                <a:lnTo>
                  <a:pt x="1043" y="9297"/>
                </a:lnTo>
                <a:lnTo>
                  <a:pt x="955" y="9246"/>
                </a:lnTo>
                <a:lnTo>
                  <a:pt x="868" y="9191"/>
                </a:lnTo>
                <a:lnTo>
                  <a:pt x="786" y="9132"/>
                </a:lnTo>
                <a:lnTo>
                  <a:pt x="707" y="9071"/>
                </a:lnTo>
                <a:lnTo>
                  <a:pt x="631" y="9005"/>
                </a:lnTo>
                <a:lnTo>
                  <a:pt x="560" y="8937"/>
                </a:lnTo>
                <a:lnTo>
                  <a:pt x="492" y="8866"/>
                </a:lnTo>
                <a:lnTo>
                  <a:pt x="428" y="8791"/>
                </a:lnTo>
                <a:lnTo>
                  <a:pt x="368" y="8714"/>
                </a:lnTo>
                <a:lnTo>
                  <a:pt x="312" y="8635"/>
                </a:lnTo>
                <a:lnTo>
                  <a:pt x="260" y="8553"/>
                </a:lnTo>
                <a:lnTo>
                  <a:pt x="213" y="8468"/>
                </a:lnTo>
                <a:lnTo>
                  <a:pt x="170" y="8382"/>
                </a:lnTo>
                <a:lnTo>
                  <a:pt x="132" y="8292"/>
                </a:lnTo>
                <a:lnTo>
                  <a:pt x="98" y="8202"/>
                </a:lnTo>
                <a:lnTo>
                  <a:pt x="69" y="8110"/>
                </a:lnTo>
                <a:lnTo>
                  <a:pt x="45" y="8016"/>
                </a:lnTo>
                <a:lnTo>
                  <a:pt x="27" y="7921"/>
                </a:lnTo>
                <a:lnTo>
                  <a:pt x="12" y="7823"/>
                </a:lnTo>
                <a:lnTo>
                  <a:pt x="3" y="7726"/>
                </a:lnTo>
                <a:lnTo>
                  <a:pt x="0" y="7627"/>
                </a:lnTo>
                <a:lnTo>
                  <a:pt x="2" y="7527"/>
                </a:lnTo>
                <a:lnTo>
                  <a:pt x="9" y="7427"/>
                </a:lnTo>
                <a:lnTo>
                  <a:pt x="22" y="7325"/>
                </a:lnTo>
                <a:lnTo>
                  <a:pt x="42" y="7224"/>
                </a:lnTo>
                <a:lnTo>
                  <a:pt x="59" y="7149"/>
                </a:lnTo>
                <a:lnTo>
                  <a:pt x="80" y="7076"/>
                </a:lnTo>
                <a:lnTo>
                  <a:pt x="102" y="7005"/>
                </a:lnTo>
                <a:lnTo>
                  <a:pt x="128" y="6934"/>
                </a:lnTo>
                <a:lnTo>
                  <a:pt x="156" y="6864"/>
                </a:lnTo>
                <a:lnTo>
                  <a:pt x="187" y="6797"/>
                </a:lnTo>
                <a:lnTo>
                  <a:pt x="220" y="6730"/>
                </a:lnTo>
                <a:lnTo>
                  <a:pt x="256" y="6665"/>
                </a:lnTo>
                <a:lnTo>
                  <a:pt x="295" y="6601"/>
                </a:lnTo>
                <a:lnTo>
                  <a:pt x="336" y="6539"/>
                </a:lnTo>
                <a:lnTo>
                  <a:pt x="378" y="6477"/>
                </a:lnTo>
                <a:lnTo>
                  <a:pt x="423" y="6418"/>
                </a:lnTo>
                <a:lnTo>
                  <a:pt x="470" y="6359"/>
                </a:lnTo>
                <a:lnTo>
                  <a:pt x="519" y="6304"/>
                </a:lnTo>
                <a:lnTo>
                  <a:pt x="571" y="6249"/>
                </a:lnTo>
                <a:lnTo>
                  <a:pt x="624" y="6197"/>
                </a:lnTo>
                <a:lnTo>
                  <a:pt x="679" y="6145"/>
                </a:lnTo>
                <a:lnTo>
                  <a:pt x="736" y="6096"/>
                </a:lnTo>
                <a:lnTo>
                  <a:pt x="795" y="6048"/>
                </a:lnTo>
                <a:lnTo>
                  <a:pt x="856" y="6003"/>
                </a:lnTo>
                <a:lnTo>
                  <a:pt x="917" y="5959"/>
                </a:lnTo>
                <a:lnTo>
                  <a:pt x="981" y="5917"/>
                </a:lnTo>
                <a:lnTo>
                  <a:pt x="1047" y="5878"/>
                </a:lnTo>
                <a:lnTo>
                  <a:pt x="1113" y="5840"/>
                </a:lnTo>
                <a:lnTo>
                  <a:pt x="1181" y="5804"/>
                </a:lnTo>
                <a:lnTo>
                  <a:pt x="1250" y="5770"/>
                </a:lnTo>
                <a:lnTo>
                  <a:pt x="1321" y="5740"/>
                </a:lnTo>
                <a:lnTo>
                  <a:pt x="1392" y="5711"/>
                </a:lnTo>
                <a:lnTo>
                  <a:pt x="1465" y="5683"/>
                </a:lnTo>
                <a:lnTo>
                  <a:pt x="1539" y="5659"/>
                </a:lnTo>
                <a:lnTo>
                  <a:pt x="1614" y="5637"/>
                </a:lnTo>
                <a:lnTo>
                  <a:pt x="1690" y="5618"/>
                </a:lnTo>
                <a:lnTo>
                  <a:pt x="1659" y="5574"/>
                </a:lnTo>
                <a:lnTo>
                  <a:pt x="1629" y="5529"/>
                </a:lnTo>
                <a:lnTo>
                  <a:pt x="1600" y="5484"/>
                </a:lnTo>
                <a:lnTo>
                  <a:pt x="1573" y="5437"/>
                </a:lnTo>
                <a:lnTo>
                  <a:pt x="1546" y="5391"/>
                </a:lnTo>
                <a:lnTo>
                  <a:pt x="1522" y="5344"/>
                </a:lnTo>
                <a:lnTo>
                  <a:pt x="1498" y="5296"/>
                </a:lnTo>
                <a:lnTo>
                  <a:pt x="1475" y="5248"/>
                </a:lnTo>
                <a:lnTo>
                  <a:pt x="1454" y="5199"/>
                </a:lnTo>
                <a:lnTo>
                  <a:pt x="1434" y="5150"/>
                </a:lnTo>
                <a:lnTo>
                  <a:pt x="1415" y="5099"/>
                </a:lnTo>
                <a:lnTo>
                  <a:pt x="1397" y="5049"/>
                </a:lnTo>
                <a:lnTo>
                  <a:pt x="1381" y="4998"/>
                </a:lnTo>
                <a:lnTo>
                  <a:pt x="1367" y="4947"/>
                </a:lnTo>
                <a:lnTo>
                  <a:pt x="1353" y="4895"/>
                </a:lnTo>
                <a:lnTo>
                  <a:pt x="1340" y="4842"/>
                </a:lnTo>
                <a:lnTo>
                  <a:pt x="1330" y="4790"/>
                </a:lnTo>
                <a:lnTo>
                  <a:pt x="1320" y="4737"/>
                </a:lnTo>
                <a:lnTo>
                  <a:pt x="1312" y="4683"/>
                </a:lnTo>
                <a:lnTo>
                  <a:pt x="1306" y="4629"/>
                </a:lnTo>
                <a:lnTo>
                  <a:pt x="1301" y="4575"/>
                </a:lnTo>
                <a:lnTo>
                  <a:pt x="1296" y="4521"/>
                </a:lnTo>
                <a:lnTo>
                  <a:pt x="1294" y="4466"/>
                </a:lnTo>
                <a:lnTo>
                  <a:pt x="1293" y="4411"/>
                </a:lnTo>
                <a:lnTo>
                  <a:pt x="1293" y="4356"/>
                </a:lnTo>
                <a:lnTo>
                  <a:pt x="1295" y="4300"/>
                </a:lnTo>
                <a:lnTo>
                  <a:pt x="1299" y="4244"/>
                </a:lnTo>
                <a:lnTo>
                  <a:pt x="1305" y="4189"/>
                </a:lnTo>
                <a:lnTo>
                  <a:pt x="1312" y="4132"/>
                </a:lnTo>
                <a:lnTo>
                  <a:pt x="1320" y="4076"/>
                </a:lnTo>
                <a:lnTo>
                  <a:pt x="1329" y="4020"/>
                </a:lnTo>
                <a:lnTo>
                  <a:pt x="1340" y="3963"/>
                </a:lnTo>
                <a:lnTo>
                  <a:pt x="1369" y="3850"/>
                </a:lnTo>
                <a:lnTo>
                  <a:pt x="1401" y="3739"/>
                </a:lnTo>
                <a:lnTo>
                  <a:pt x="1441" y="3630"/>
                </a:lnTo>
                <a:lnTo>
                  <a:pt x="1486" y="3524"/>
                </a:lnTo>
                <a:lnTo>
                  <a:pt x="1536" y="3420"/>
                </a:lnTo>
                <a:lnTo>
                  <a:pt x="1591" y="3320"/>
                </a:lnTo>
                <a:lnTo>
                  <a:pt x="1650" y="3223"/>
                </a:lnTo>
                <a:lnTo>
                  <a:pt x="1716" y="3127"/>
                </a:lnTo>
                <a:lnTo>
                  <a:pt x="1785" y="3036"/>
                </a:lnTo>
                <a:lnTo>
                  <a:pt x="1858" y="2948"/>
                </a:lnTo>
                <a:lnTo>
                  <a:pt x="1937" y="2863"/>
                </a:lnTo>
                <a:lnTo>
                  <a:pt x="2019" y="2782"/>
                </a:lnTo>
                <a:lnTo>
                  <a:pt x="2105" y="2704"/>
                </a:lnTo>
                <a:lnTo>
                  <a:pt x="2195" y="2631"/>
                </a:lnTo>
                <a:lnTo>
                  <a:pt x="2288" y="2561"/>
                </a:lnTo>
                <a:lnTo>
                  <a:pt x="2385" y="2494"/>
                </a:lnTo>
                <a:lnTo>
                  <a:pt x="2484" y="2433"/>
                </a:lnTo>
                <a:lnTo>
                  <a:pt x="2587" y="2376"/>
                </a:lnTo>
                <a:lnTo>
                  <a:pt x="2693" y="2322"/>
                </a:lnTo>
                <a:lnTo>
                  <a:pt x="2801" y="2274"/>
                </a:lnTo>
                <a:lnTo>
                  <a:pt x="2911" y="2230"/>
                </a:lnTo>
                <a:lnTo>
                  <a:pt x="3024" y="2191"/>
                </a:lnTo>
                <a:lnTo>
                  <a:pt x="3139" y="2157"/>
                </a:lnTo>
                <a:lnTo>
                  <a:pt x="3256" y="2128"/>
                </a:lnTo>
                <a:lnTo>
                  <a:pt x="3374" y="2104"/>
                </a:lnTo>
                <a:lnTo>
                  <a:pt x="3495" y="2085"/>
                </a:lnTo>
                <a:lnTo>
                  <a:pt x="3616" y="2071"/>
                </a:lnTo>
                <a:lnTo>
                  <a:pt x="3738" y="2064"/>
                </a:lnTo>
                <a:lnTo>
                  <a:pt x="3862" y="2061"/>
                </a:lnTo>
                <a:lnTo>
                  <a:pt x="3985" y="2065"/>
                </a:lnTo>
                <a:lnTo>
                  <a:pt x="4111" y="2074"/>
                </a:lnTo>
                <a:lnTo>
                  <a:pt x="4235" y="2090"/>
                </a:lnTo>
                <a:lnTo>
                  <a:pt x="4256" y="2094"/>
                </a:lnTo>
                <a:lnTo>
                  <a:pt x="4278" y="2097"/>
                </a:lnTo>
                <a:lnTo>
                  <a:pt x="4299" y="2100"/>
                </a:lnTo>
                <a:lnTo>
                  <a:pt x="4321" y="2104"/>
                </a:lnTo>
                <a:lnTo>
                  <a:pt x="4342" y="2108"/>
                </a:lnTo>
                <a:lnTo>
                  <a:pt x="4363" y="2112"/>
                </a:lnTo>
                <a:lnTo>
                  <a:pt x="4384" y="2116"/>
                </a:lnTo>
                <a:lnTo>
                  <a:pt x="4404" y="2120"/>
                </a:lnTo>
                <a:lnTo>
                  <a:pt x="4425" y="2126"/>
                </a:lnTo>
                <a:lnTo>
                  <a:pt x="4446" y="2131"/>
                </a:lnTo>
                <a:lnTo>
                  <a:pt x="4467" y="2135"/>
                </a:lnTo>
                <a:lnTo>
                  <a:pt x="4487" y="2140"/>
                </a:lnTo>
                <a:lnTo>
                  <a:pt x="4507" y="2145"/>
                </a:lnTo>
                <a:lnTo>
                  <a:pt x="4528" y="2151"/>
                </a:lnTo>
                <a:lnTo>
                  <a:pt x="4548" y="2156"/>
                </a:lnTo>
                <a:lnTo>
                  <a:pt x="4568" y="2162"/>
                </a:lnTo>
                <a:lnTo>
                  <a:pt x="4588" y="2168"/>
                </a:lnTo>
                <a:lnTo>
                  <a:pt x="4608" y="2174"/>
                </a:lnTo>
                <a:lnTo>
                  <a:pt x="4628" y="2180"/>
                </a:lnTo>
                <a:lnTo>
                  <a:pt x="4648" y="2186"/>
                </a:lnTo>
                <a:lnTo>
                  <a:pt x="4668" y="2193"/>
                </a:lnTo>
                <a:lnTo>
                  <a:pt x="4687" y="2199"/>
                </a:lnTo>
                <a:lnTo>
                  <a:pt x="4706" y="2207"/>
                </a:lnTo>
                <a:lnTo>
                  <a:pt x="4726" y="2213"/>
                </a:lnTo>
                <a:lnTo>
                  <a:pt x="4745" y="2220"/>
                </a:lnTo>
                <a:lnTo>
                  <a:pt x="4764" y="2227"/>
                </a:lnTo>
                <a:lnTo>
                  <a:pt x="4784" y="2234"/>
                </a:lnTo>
                <a:lnTo>
                  <a:pt x="4802" y="2242"/>
                </a:lnTo>
                <a:lnTo>
                  <a:pt x="4822" y="2250"/>
                </a:lnTo>
                <a:lnTo>
                  <a:pt x="4840" y="2258"/>
                </a:lnTo>
                <a:lnTo>
                  <a:pt x="4859" y="2265"/>
                </a:lnTo>
                <a:lnTo>
                  <a:pt x="4878" y="2273"/>
                </a:lnTo>
                <a:lnTo>
                  <a:pt x="4879" y="2269"/>
                </a:lnTo>
                <a:lnTo>
                  <a:pt x="4880" y="2266"/>
                </a:lnTo>
                <a:lnTo>
                  <a:pt x="4880" y="2262"/>
                </a:lnTo>
                <a:lnTo>
                  <a:pt x="4881" y="2258"/>
                </a:lnTo>
                <a:lnTo>
                  <a:pt x="4882" y="2254"/>
                </a:lnTo>
                <a:lnTo>
                  <a:pt x="4883" y="2250"/>
                </a:lnTo>
                <a:lnTo>
                  <a:pt x="4884" y="2245"/>
                </a:lnTo>
                <a:lnTo>
                  <a:pt x="4884" y="2242"/>
                </a:lnTo>
                <a:lnTo>
                  <a:pt x="4905" y="2156"/>
                </a:lnTo>
                <a:lnTo>
                  <a:pt x="4930" y="2073"/>
                </a:lnTo>
                <a:lnTo>
                  <a:pt x="4958" y="1991"/>
                </a:lnTo>
                <a:lnTo>
                  <a:pt x="4990" y="1912"/>
                </a:lnTo>
                <a:lnTo>
                  <a:pt x="5025" y="1834"/>
                </a:lnTo>
                <a:lnTo>
                  <a:pt x="5062" y="1757"/>
                </a:lnTo>
                <a:lnTo>
                  <a:pt x="5103" y="1683"/>
                </a:lnTo>
                <a:lnTo>
                  <a:pt x="5147" y="1611"/>
                </a:lnTo>
                <a:lnTo>
                  <a:pt x="5193" y="1542"/>
                </a:lnTo>
                <a:lnTo>
                  <a:pt x="5243" y="1474"/>
                </a:lnTo>
                <a:lnTo>
                  <a:pt x="5294" y="1410"/>
                </a:lnTo>
                <a:lnTo>
                  <a:pt x="5349" y="1348"/>
                </a:lnTo>
                <a:lnTo>
                  <a:pt x="5405" y="1288"/>
                </a:lnTo>
                <a:lnTo>
                  <a:pt x="5464" y="1231"/>
                </a:lnTo>
                <a:lnTo>
                  <a:pt x="5524" y="1177"/>
                </a:lnTo>
                <a:lnTo>
                  <a:pt x="5588" y="1127"/>
                </a:lnTo>
                <a:lnTo>
                  <a:pt x="5652" y="1079"/>
                </a:lnTo>
                <a:lnTo>
                  <a:pt x="5718" y="1034"/>
                </a:lnTo>
                <a:lnTo>
                  <a:pt x="5785" y="992"/>
                </a:lnTo>
                <a:lnTo>
                  <a:pt x="5856" y="954"/>
                </a:lnTo>
                <a:lnTo>
                  <a:pt x="5926" y="919"/>
                </a:lnTo>
                <a:lnTo>
                  <a:pt x="5998" y="887"/>
                </a:lnTo>
                <a:lnTo>
                  <a:pt x="6071" y="859"/>
                </a:lnTo>
                <a:lnTo>
                  <a:pt x="6146" y="836"/>
                </a:lnTo>
                <a:lnTo>
                  <a:pt x="6220" y="815"/>
                </a:lnTo>
                <a:lnTo>
                  <a:pt x="6296" y="799"/>
                </a:lnTo>
                <a:lnTo>
                  <a:pt x="6373" y="787"/>
                </a:lnTo>
                <a:lnTo>
                  <a:pt x="6449" y="779"/>
                </a:lnTo>
                <a:lnTo>
                  <a:pt x="6527" y="774"/>
                </a:lnTo>
                <a:lnTo>
                  <a:pt x="6605" y="774"/>
                </a:lnTo>
                <a:lnTo>
                  <a:pt x="6682" y="779"/>
                </a:lnTo>
                <a:lnTo>
                  <a:pt x="6761" y="788"/>
                </a:lnTo>
                <a:lnTo>
                  <a:pt x="6785" y="792"/>
                </a:lnTo>
                <a:lnTo>
                  <a:pt x="6810" y="796"/>
                </a:lnTo>
                <a:lnTo>
                  <a:pt x="6833" y="801"/>
                </a:lnTo>
                <a:lnTo>
                  <a:pt x="6857" y="806"/>
                </a:lnTo>
                <a:lnTo>
                  <a:pt x="6881" y="811"/>
                </a:lnTo>
                <a:lnTo>
                  <a:pt x="6904" y="817"/>
                </a:lnTo>
                <a:lnTo>
                  <a:pt x="6928" y="824"/>
                </a:lnTo>
                <a:lnTo>
                  <a:pt x="6951" y="830"/>
                </a:lnTo>
                <a:lnTo>
                  <a:pt x="6974" y="837"/>
                </a:lnTo>
                <a:lnTo>
                  <a:pt x="6996" y="844"/>
                </a:lnTo>
                <a:lnTo>
                  <a:pt x="7019" y="852"/>
                </a:lnTo>
                <a:lnTo>
                  <a:pt x="7041" y="860"/>
                </a:lnTo>
                <a:lnTo>
                  <a:pt x="7064" y="870"/>
                </a:lnTo>
                <a:lnTo>
                  <a:pt x="7085" y="878"/>
                </a:lnTo>
                <a:lnTo>
                  <a:pt x="7106" y="888"/>
                </a:lnTo>
                <a:lnTo>
                  <a:pt x="7128" y="897"/>
                </a:lnTo>
                <a:lnTo>
                  <a:pt x="7149" y="908"/>
                </a:lnTo>
                <a:lnTo>
                  <a:pt x="7171" y="918"/>
                </a:lnTo>
                <a:lnTo>
                  <a:pt x="7191" y="929"/>
                </a:lnTo>
                <a:lnTo>
                  <a:pt x="7211" y="940"/>
                </a:lnTo>
                <a:lnTo>
                  <a:pt x="7232" y="952"/>
                </a:lnTo>
                <a:lnTo>
                  <a:pt x="7251" y="964"/>
                </a:lnTo>
                <a:lnTo>
                  <a:pt x="7272" y="976"/>
                </a:lnTo>
                <a:lnTo>
                  <a:pt x="7291" y="989"/>
                </a:lnTo>
                <a:lnTo>
                  <a:pt x="7310" y="1002"/>
                </a:lnTo>
                <a:lnTo>
                  <a:pt x="7330" y="1015"/>
                </a:lnTo>
                <a:lnTo>
                  <a:pt x="7348" y="1028"/>
                </a:lnTo>
                <a:lnTo>
                  <a:pt x="7366" y="1043"/>
                </a:lnTo>
                <a:lnTo>
                  <a:pt x="7385" y="1057"/>
                </a:lnTo>
                <a:lnTo>
                  <a:pt x="7403" y="1072"/>
                </a:lnTo>
                <a:lnTo>
                  <a:pt x="7421" y="1086"/>
                </a:lnTo>
                <a:lnTo>
                  <a:pt x="7438" y="1101"/>
                </a:lnTo>
                <a:close/>
              </a:path>
            </a:pathLst>
          </a:custGeom>
          <a:solidFill>
            <a:schemeClr val="bg1"/>
          </a:solidFill>
          <a:ln>
            <a:solidFill>
              <a:schemeClr val="tx1"/>
            </a:solidFill>
          </a:ln>
          <a:effectLst>
            <a:outerShdw dist="40161" dir="4293903" algn="ctr" rotWithShape="0">
              <a:srgbClr val="666633"/>
            </a:outerShdw>
          </a:effectLst>
        </p:spPr>
        <p:txBody>
          <a:bodyPr wrap="square" lIns="22467" tIns="11234" rIns="22467" bIns="11234" anchor="ctr" anchorCtr="1">
            <a:noAutofit/>
          </a:bodyPr>
          <a:lstStyle/>
          <a:p>
            <a:r>
              <a:rPr lang="zh-CN" altLang="en-US" sz="1200" b="1" dirty="0">
                <a:latin typeface="微软雅黑 Light" panose="020B0502040204020203" pitchFamily="34" charset="-122"/>
                <a:ea typeface="微软雅黑 Light" panose="020B0502040204020203" pitchFamily="34" charset="-122"/>
              </a:rPr>
              <a:t>互联网</a:t>
            </a:r>
          </a:p>
        </p:txBody>
      </p:sp>
      <p:cxnSp>
        <p:nvCxnSpPr>
          <p:cNvPr id="64" name="直接连接符 63"/>
          <p:cNvCxnSpPr>
            <a:stCxn id="42" idx="3"/>
          </p:cNvCxnSpPr>
          <p:nvPr/>
        </p:nvCxnSpPr>
        <p:spPr>
          <a:xfrm>
            <a:off x="2986409" y="3278886"/>
            <a:ext cx="1757041" cy="0"/>
          </a:xfrm>
          <a:prstGeom prst="line">
            <a:avLst/>
          </a:prstGeom>
          <a:ln w="28575">
            <a:solidFill>
              <a:schemeClr val="tx1"/>
            </a:solidFill>
            <a:prstDash val="solid"/>
          </a:ln>
        </p:spPr>
        <p:style>
          <a:lnRef idx="1">
            <a:schemeClr val="accent1"/>
          </a:lnRef>
          <a:fillRef idx="0">
            <a:schemeClr val="accent1"/>
          </a:fillRef>
          <a:effectRef idx="0">
            <a:schemeClr val="accent1"/>
          </a:effectRef>
          <a:fontRef idx="minor">
            <a:schemeClr val="tx1"/>
          </a:fontRef>
        </p:style>
      </p:cxnSp>
      <p:grpSp>
        <p:nvGrpSpPr>
          <p:cNvPr id="39" name="Group 50"/>
          <p:cNvGrpSpPr>
            <a:grpSpLocks noChangeAspect="1"/>
          </p:cNvGrpSpPr>
          <p:nvPr/>
        </p:nvGrpSpPr>
        <p:grpSpPr bwMode="auto">
          <a:xfrm>
            <a:off x="2590426" y="2885260"/>
            <a:ext cx="478479" cy="734218"/>
            <a:chOff x="3104" y="1028"/>
            <a:chExt cx="406" cy="623"/>
          </a:xfrm>
        </p:grpSpPr>
        <p:sp>
          <p:nvSpPr>
            <p:cNvPr id="40" name="AutoShape 51"/>
            <p:cNvSpPr>
              <a:spLocks noChangeAspect="1" noChangeArrowheads="1" noTextEdit="1"/>
            </p:cNvSpPr>
            <p:nvPr/>
          </p:nvSpPr>
          <p:spPr bwMode="auto">
            <a:xfrm>
              <a:off x="3104" y="1028"/>
              <a:ext cx="406" cy="6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41" name="Freeform 52"/>
            <p:cNvSpPr>
              <a:spLocks/>
            </p:cNvSpPr>
            <p:nvPr/>
          </p:nvSpPr>
          <p:spPr bwMode="auto">
            <a:xfrm>
              <a:off x="3104" y="1028"/>
              <a:ext cx="406" cy="623"/>
            </a:xfrm>
            <a:custGeom>
              <a:avLst/>
              <a:gdLst>
                <a:gd name="T0" fmla="*/ 406 w 10555"/>
                <a:gd name="T1" fmla="*/ 0 h 16198"/>
                <a:gd name="T2" fmla="*/ 406 w 10555"/>
                <a:gd name="T3" fmla="*/ 579 h 16198"/>
                <a:gd name="T4" fmla="*/ 336 w 10555"/>
                <a:gd name="T5" fmla="*/ 623 h 16198"/>
                <a:gd name="T6" fmla="*/ 0 w 10555"/>
                <a:gd name="T7" fmla="*/ 623 h 16198"/>
                <a:gd name="T8" fmla="*/ 0 w 10555"/>
                <a:gd name="T9" fmla="*/ 45 h 16198"/>
                <a:gd name="T10" fmla="*/ 70 w 10555"/>
                <a:gd name="T11" fmla="*/ 0 h 16198"/>
                <a:gd name="T12" fmla="*/ 406 w 10555"/>
                <a:gd name="T13" fmla="*/ 0 h 16198"/>
                <a:gd name="T14" fmla="*/ 406 w 10555"/>
                <a:gd name="T15" fmla="*/ 0 h 16198"/>
                <a:gd name="T16" fmla="*/ 406 w 10555"/>
                <a:gd name="T17" fmla="*/ 0 h 1619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5" h="16198">
                  <a:moveTo>
                    <a:pt x="10555" y="0"/>
                  </a:moveTo>
                  <a:lnTo>
                    <a:pt x="10555" y="15043"/>
                  </a:lnTo>
                  <a:lnTo>
                    <a:pt x="8741" y="16198"/>
                  </a:lnTo>
                  <a:lnTo>
                    <a:pt x="0" y="16198"/>
                  </a:lnTo>
                  <a:lnTo>
                    <a:pt x="0" y="1157"/>
                  </a:lnTo>
                  <a:lnTo>
                    <a:pt x="1812" y="0"/>
                  </a:lnTo>
                  <a:lnTo>
                    <a:pt x="10555" y="0"/>
                  </a:lnTo>
                  <a:close/>
                </a:path>
              </a:pathLst>
            </a:custGeom>
            <a:solidFill>
              <a:srgbClr val="7FA6C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42" name="Rectangle 53"/>
            <p:cNvSpPr>
              <a:spLocks noChangeArrowheads="1"/>
            </p:cNvSpPr>
            <p:nvPr/>
          </p:nvSpPr>
          <p:spPr bwMode="auto">
            <a:xfrm>
              <a:off x="3104" y="1073"/>
              <a:ext cx="336" cy="578"/>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43" name="Freeform 54"/>
            <p:cNvSpPr>
              <a:spLocks/>
            </p:cNvSpPr>
            <p:nvPr/>
          </p:nvSpPr>
          <p:spPr bwMode="auto">
            <a:xfrm>
              <a:off x="3440" y="1028"/>
              <a:ext cx="70" cy="623"/>
            </a:xfrm>
            <a:custGeom>
              <a:avLst/>
              <a:gdLst>
                <a:gd name="T0" fmla="*/ 70 w 1814"/>
                <a:gd name="T1" fmla="*/ 0 h 16198"/>
                <a:gd name="T2" fmla="*/ 0 w 1814"/>
                <a:gd name="T3" fmla="*/ 45 h 16198"/>
                <a:gd name="T4" fmla="*/ 0 w 1814"/>
                <a:gd name="T5" fmla="*/ 623 h 16198"/>
                <a:gd name="T6" fmla="*/ 70 w 1814"/>
                <a:gd name="T7" fmla="*/ 579 h 16198"/>
                <a:gd name="T8" fmla="*/ 70 w 1814"/>
                <a:gd name="T9" fmla="*/ 0 h 1619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14" h="16198">
                  <a:moveTo>
                    <a:pt x="1814" y="0"/>
                  </a:moveTo>
                  <a:lnTo>
                    <a:pt x="0" y="1157"/>
                  </a:lnTo>
                  <a:lnTo>
                    <a:pt x="0" y="16198"/>
                  </a:lnTo>
                  <a:lnTo>
                    <a:pt x="1814" y="15043"/>
                  </a:lnTo>
                  <a:lnTo>
                    <a:pt x="1814" y="0"/>
                  </a:lnTo>
                  <a:close/>
                </a:path>
              </a:pathLst>
            </a:custGeom>
            <a:solidFill>
              <a:srgbClr val="0066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44" name="Freeform 55"/>
            <p:cNvSpPr>
              <a:spLocks/>
            </p:cNvSpPr>
            <p:nvPr/>
          </p:nvSpPr>
          <p:spPr bwMode="auto">
            <a:xfrm>
              <a:off x="3104" y="1028"/>
              <a:ext cx="406" cy="45"/>
            </a:xfrm>
            <a:custGeom>
              <a:avLst/>
              <a:gdLst>
                <a:gd name="T0" fmla="*/ 0 w 10555"/>
                <a:gd name="T1" fmla="*/ 45 h 1157"/>
                <a:gd name="T2" fmla="*/ 336 w 10555"/>
                <a:gd name="T3" fmla="*/ 45 h 1157"/>
                <a:gd name="T4" fmla="*/ 406 w 10555"/>
                <a:gd name="T5" fmla="*/ 0 h 1157"/>
                <a:gd name="T6" fmla="*/ 70 w 10555"/>
                <a:gd name="T7" fmla="*/ 0 h 1157"/>
                <a:gd name="T8" fmla="*/ 0 w 10555"/>
                <a:gd name="T9" fmla="*/ 45 h 11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555" h="1157">
                  <a:moveTo>
                    <a:pt x="0" y="1157"/>
                  </a:moveTo>
                  <a:lnTo>
                    <a:pt x="8741" y="1157"/>
                  </a:lnTo>
                  <a:lnTo>
                    <a:pt x="10555" y="0"/>
                  </a:lnTo>
                  <a:lnTo>
                    <a:pt x="1812" y="0"/>
                  </a:lnTo>
                  <a:lnTo>
                    <a:pt x="0" y="1157"/>
                  </a:lnTo>
                  <a:close/>
                </a:path>
              </a:pathLst>
            </a:custGeom>
            <a:solidFill>
              <a:srgbClr val="3399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45" name="Rectangle 56"/>
            <p:cNvSpPr>
              <a:spLocks noChangeArrowheads="1"/>
            </p:cNvSpPr>
            <p:nvPr/>
          </p:nvSpPr>
          <p:spPr bwMode="auto">
            <a:xfrm>
              <a:off x="3104" y="1268"/>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46" name="Rectangle 57"/>
            <p:cNvSpPr>
              <a:spLocks noChangeArrowheads="1"/>
            </p:cNvSpPr>
            <p:nvPr/>
          </p:nvSpPr>
          <p:spPr bwMode="auto">
            <a:xfrm>
              <a:off x="3104" y="1294"/>
              <a:ext cx="336" cy="25"/>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47" name="Rectangle 58"/>
            <p:cNvSpPr>
              <a:spLocks noChangeArrowheads="1"/>
            </p:cNvSpPr>
            <p:nvPr/>
          </p:nvSpPr>
          <p:spPr bwMode="auto">
            <a:xfrm>
              <a:off x="3104" y="1151"/>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48" name="Rectangle 59"/>
            <p:cNvSpPr>
              <a:spLocks noChangeArrowheads="1"/>
            </p:cNvSpPr>
            <p:nvPr/>
          </p:nvSpPr>
          <p:spPr bwMode="auto">
            <a:xfrm>
              <a:off x="3104" y="1176"/>
              <a:ext cx="336" cy="26"/>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49" name="Freeform 60"/>
            <p:cNvSpPr>
              <a:spLocks noEditPoints="1"/>
            </p:cNvSpPr>
            <p:nvPr/>
          </p:nvSpPr>
          <p:spPr bwMode="auto">
            <a:xfrm>
              <a:off x="3159" y="1374"/>
              <a:ext cx="241" cy="233"/>
            </a:xfrm>
            <a:custGeom>
              <a:avLst/>
              <a:gdLst>
                <a:gd name="T0" fmla="*/ 121 w 6286"/>
                <a:gd name="T1" fmla="*/ 174 h 6039"/>
                <a:gd name="T2" fmla="*/ 96 w 6286"/>
                <a:gd name="T3" fmla="*/ 179 h 6039"/>
                <a:gd name="T4" fmla="*/ 77 w 6286"/>
                <a:gd name="T5" fmla="*/ 174 h 6039"/>
                <a:gd name="T6" fmla="*/ 64 w 6286"/>
                <a:gd name="T7" fmla="*/ 162 h 6039"/>
                <a:gd name="T8" fmla="*/ 58 w 6286"/>
                <a:gd name="T9" fmla="*/ 143 h 6039"/>
                <a:gd name="T10" fmla="*/ 60 w 6286"/>
                <a:gd name="T11" fmla="*/ 114 h 6039"/>
                <a:gd name="T12" fmla="*/ 73 w 6286"/>
                <a:gd name="T13" fmla="*/ 86 h 6039"/>
                <a:gd name="T14" fmla="*/ 95 w 6286"/>
                <a:gd name="T15" fmla="*/ 67 h 6039"/>
                <a:gd name="T16" fmla="*/ 122 w 6286"/>
                <a:gd name="T17" fmla="*/ 61 h 6039"/>
                <a:gd name="T18" fmla="*/ 140 w 6286"/>
                <a:gd name="T19" fmla="*/ 67 h 6039"/>
                <a:gd name="T20" fmla="*/ 163 w 6286"/>
                <a:gd name="T21" fmla="*/ 145 h 6039"/>
                <a:gd name="T22" fmla="*/ 165 w 6286"/>
                <a:gd name="T23" fmla="*/ 154 h 6039"/>
                <a:gd name="T24" fmla="*/ 177 w 6286"/>
                <a:gd name="T25" fmla="*/ 155 h 6039"/>
                <a:gd name="T26" fmla="*/ 195 w 6286"/>
                <a:gd name="T27" fmla="*/ 145 h 6039"/>
                <a:gd name="T28" fmla="*/ 209 w 6286"/>
                <a:gd name="T29" fmla="*/ 125 h 6039"/>
                <a:gd name="T30" fmla="*/ 215 w 6286"/>
                <a:gd name="T31" fmla="*/ 100 h 6039"/>
                <a:gd name="T32" fmla="*/ 210 w 6286"/>
                <a:gd name="T33" fmla="*/ 69 h 6039"/>
                <a:gd name="T34" fmla="*/ 192 w 6286"/>
                <a:gd name="T35" fmla="*/ 44 h 6039"/>
                <a:gd name="T36" fmla="*/ 162 w 6286"/>
                <a:gd name="T37" fmla="*/ 28 h 6039"/>
                <a:gd name="T38" fmla="*/ 123 w 6286"/>
                <a:gd name="T39" fmla="*/ 25 h 6039"/>
                <a:gd name="T40" fmla="*/ 85 w 6286"/>
                <a:gd name="T41" fmla="*/ 33 h 6039"/>
                <a:gd name="T42" fmla="*/ 58 w 6286"/>
                <a:gd name="T43" fmla="*/ 51 h 6039"/>
                <a:gd name="T44" fmla="*/ 42 w 6286"/>
                <a:gd name="T45" fmla="*/ 71 h 6039"/>
                <a:gd name="T46" fmla="*/ 31 w 6286"/>
                <a:gd name="T47" fmla="*/ 95 h 6039"/>
                <a:gd name="T48" fmla="*/ 26 w 6286"/>
                <a:gd name="T49" fmla="*/ 121 h 6039"/>
                <a:gd name="T50" fmla="*/ 33 w 6286"/>
                <a:gd name="T51" fmla="*/ 159 h 6039"/>
                <a:gd name="T52" fmla="*/ 56 w 6286"/>
                <a:gd name="T53" fmla="*/ 189 h 6039"/>
                <a:gd name="T54" fmla="*/ 92 w 6286"/>
                <a:gd name="T55" fmla="*/ 206 h 6039"/>
                <a:gd name="T56" fmla="*/ 137 w 6286"/>
                <a:gd name="T57" fmla="*/ 209 h 6039"/>
                <a:gd name="T58" fmla="*/ 181 w 6286"/>
                <a:gd name="T59" fmla="*/ 196 h 6039"/>
                <a:gd name="T60" fmla="*/ 187 w 6286"/>
                <a:gd name="T61" fmla="*/ 218 h 6039"/>
                <a:gd name="T62" fmla="*/ 137 w 6286"/>
                <a:gd name="T63" fmla="*/ 232 h 6039"/>
                <a:gd name="T64" fmla="*/ 84 w 6286"/>
                <a:gd name="T65" fmla="*/ 229 h 6039"/>
                <a:gd name="T66" fmla="*/ 42 w 6286"/>
                <a:gd name="T67" fmla="*/ 210 h 6039"/>
                <a:gd name="T68" fmla="*/ 21 w 6286"/>
                <a:gd name="T69" fmla="*/ 190 h 6039"/>
                <a:gd name="T70" fmla="*/ 8 w 6286"/>
                <a:gd name="T71" fmla="*/ 168 h 6039"/>
                <a:gd name="T72" fmla="*/ 1 w 6286"/>
                <a:gd name="T73" fmla="*/ 142 h 6039"/>
                <a:gd name="T74" fmla="*/ 1 w 6286"/>
                <a:gd name="T75" fmla="*/ 107 h 6039"/>
                <a:gd name="T76" fmla="*/ 16 w 6286"/>
                <a:gd name="T77" fmla="*/ 63 h 6039"/>
                <a:gd name="T78" fmla="*/ 41 w 6286"/>
                <a:gd name="T79" fmla="*/ 33 h 6039"/>
                <a:gd name="T80" fmla="*/ 68 w 6286"/>
                <a:gd name="T81" fmla="*/ 15 h 6039"/>
                <a:gd name="T82" fmla="*/ 99 w 6286"/>
                <a:gd name="T83" fmla="*/ 3 h 6039"/>
                <a:gd name="T84" fmla="*/ 135 w 6286"/>
                <a:gd name="T85" fmla="*/ 0 h 6039"/>
                <a:gd name="T86" fmla="*/ 180 w 6286"/>
                <a:gd name="T87" fmla="*/ 8 h 6039"/>
                <a:gd name="T88" fmla="*/ 217 w 6286"/>
                <a:gd name="T89" fmla="*/ 32 h 6039"/>
                <a:gd name="T90" fmla="*/ 238 w 6286"/>
                <a:gd name="T91" fmla="*/ 70 h 6039"/>
                <a:gd name="T92" fmla="*/ 238 w 6286"/>
                <a:gd name="T93" fmla="*/ 117 h 6039"/>
                <a:gd name="T94" fmla="*/ 217 w 6286"/>
                <a:gd name="T95" fmla="*/ 156 h 6039"/>
                <a:gd name="T96" fmla="*/ 193 w 6286"/>
                <a:gd name="T97" fmla="*/ 174 h 6039"/>
                <a:gd name="T98" fmla="*/ 168 w 6286"/>
                <a:gd name="T99" fmla="*/ 179 h 6039"/>
                <a:gd name="T100" fmla="*/ 145 w 6286"/>
                <a:gd name="T101" fmla="*/ 173 h 6039"/>
                <a:gd name="T102" fmla="*/ 142 w 6286"/>
                <a:gd name="T103" fmla="*/ 100 h 6039"/>
                <a:gd name="T104" fmla="*/ 133 w 6286"/>
                <a:gd name="T105" fmla="*/ 85 h 6039"/>
                <a:gd name="T106" fmla="*/ 117 w 6286"/>
                <a:gd name="T107" fmla="*/ 83 h 6039"/>
                <a:gd name="T108" fmla="*/ 104 w 6286"/>
                <a:gd name="T109" fmla="*/ 91 h 6039"/>
                <a:gd name="T110" fmla="*/ 94 w 6286"/>
                <a:gd name="T111" fmla="*/ 108 h 6039"/>
                <a:gd name="T112" fmla="*/ 89 w 6286"/>
                <a:gd name="T113" fmla="*/ 130 h 6039"/>
                <a:gd name="T114" fmla="*/ 92 w 6286"/>
                <a:gd name="T115" fmla="*/ 150 h 6039"/>
                <a:gd name="T116" fmla="*/ 106 w 6286"/>
                <a:gd name="T117" fmla="*/ 157 h 6039"/>
                <a:gd name="T118" fmla="*/ 127 w 6286"/>
                <a:gd name="T119" fmla="*/ 148 h 6039"/>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0" t="0" r="r" b="b"/>
              <a:pathLst>
                <a:path w="6286" h="6039">
                  <a:moveTo>
                    <a:pt x="3596" y="4105"/>
                  </a:moveTo>
                  <a:lnTo>
                    <a:pt x="3573" y="4139"/>
                  </a:lnTo>
                  <a:lnTo>
                    <a:pt x="3549" y="4171"/>
                  </a:lnTo>
                  <a:lnTo>
                    <a:pt x="3525" y="4202"/>
                  </a:lnTo>
                  <a:lnTo>
                    <a:pt x="3500" y="4233"/>
                  </a:lnTo>
                  <a:lnTo>
                    <a:pt x="3475" y="4262"/>
                  </a:lnTo>
                  <a:lnTo>
                    <a:pt x="3450" y="4291"/>
                  </a:lnTo>
                  <a:lnTo>
                    <a:pt x="3424" y="4317"/>
                  </a:lnTo>
                  <a:lnTo>
                    <a:pt x="3397" y="4343"/>
                  </a:lnTo>
                  <a:lnTo>
                    <a:pt x="3371" y="4367"/>
                  </a:lnTo>
                  <a:lnTo>
                    <a:pt x="3344" y="4391"/>
                  </a:lnTo>
                  <a:lnTo>
                    <a:pt x="3317" y="4413"/>
                  </a:lnTo>
                  <a:lnTo>
                    <a:pt x="3289" y="4434"/>
                  </a:lnTo>
                  <a:lnTo>
                    <a:pt x="3261" y="4454"/>
                  </a:lnTo>
                  <a:lnTo>
                    <a:pt x="3233" y="4473"/>
                  </a:lnTo>
                  <a:lnTo>
                    <a:pt x="3203" y="4490"/>
                  </a:lnTo>
                  <a:lnTo>
                    <a:pt x="3174" y="4506"/>
                  </a:lnTo>
                  <a:lnTo>
                    <a:pt x="3145" y="4522"/>
                  </a:lnTo>
                  <a:lnTo>
                    <a:pt x="3115" y="4537"/>
                  </a:lnTo>
                  <a:lnTo>
                    <a:pt x="3083" y="4550"/>
                  </a:lnTo>
                  <a:lnTo>
                    <a:pt x="3052" y="4562"/>
                  </a:lnTo>
                  <a:lnTo>
                    <a:pt x="3019" y="4573"/>
                  </a:lnTo>
                  <a:lnTo>
                    <a:pt x="2986" y="4584"/>
                  </a:lnTo>
                  <a:lnTo>
                    <a:pt x="2952" y="4593"/>
                  </a:lnTo>
                  <a:lnTo>
                    <a:pt x="2918" y="4601"/>
                  </a:lnTo>
                  <a:lnTo>
                    <a:pt x="2881" y="4609"/>
                  </a:lnTo>
                  <a:lnTo>
                    <a:pt x="2846" y="4616"/>
                  </a:lnTo>
                  <a:lnTo>
                    <a:pt x="2808" y="4621"/>
                  </a:lnTo>
                  <a:lnTo>
                    <a:pt x="2771" y="4626"/>
                  </a:lnTo>
                  <a:lnTo>
                    <a:pt x="2733" y="4629"/>
                  </a:lnTo>
                  <a:lnTo>
                    <a:pt x="2693" y="4631"/>
                  </a:lnTo>
                  <a:lnTo>
                    <a:pt x="2654" y="4633"/>
                  </a:lnTo>
                  <a:lnTo>
                    <a:pt x="2613" y="4633"/>
                  </a:lnTo>
                  <a:lnTo>
                    <a:pt x="2580" y="4633"/>
                  </a:lnTo>
                  <a:lnTo>
                    <a:pt x="2547" y="4632"/>
                  </a:lnTo>
                  <a:lnTo>
                    <a:pt x="2513" y="4631"/>
                  </a:lnTo>
                  <a:lnTo>
                    <a:pt x="2482" y="4629"/>
                  </a:lnTo>
                  <a:lnTo>
                    <a:pt x="2450" y="4627"/>
                  </a:lnTo>
                  <a:lnTo>
                    <a:pt x="2419" y="4623"/>
                  </a:lnTo>
                  <a:lnTo>
                    <a:pt x="2388" y="4620"/>
                  </a:lnTo>
                  <a:lnTo>
                    <a:pt x="2358" y="4616"/>
                  </a:lnTo>
                  <a:lnTo>
                    <a:pt x="2329" y="4610"/>
                  </a:lnTo>
                  <a:lnTo>
                    <a:pt x="2299" y="4604"/>
                  </a:lnTo>
                  <a:lnTo>
                    <a:pt x="2271" y="4599"/>
                  </a:lnTo>
                  <a:lnTo>
                    <a:pt x="2243" y="4592"/>
                  </a:lnTo>
                  <a:lnTo>
                    <a:pt x="2215" y="4585"/>
                  </a:lnTo>
                  <a:lnTo>
                    <a:pt x="2188" y="4577"/>
                  </a:lnTo>
                  <a:lnTo>
                    <a:pt x="2162" y="4569"/>
                  </a:lnTo>
                  <a:lnTo>
                    <a:pt x="2136" y="4561"/>
                  </a:lnTo>
                  <a:lnTo>
                    <a:pt x="2110" y="4551"/>
                  </a:lnTo>
                  <a:lnTo>
                    <a:pt x="2085" y="4542"/>
                  </a:lnTo>
                  <a:lnTo>
                    <a:pt x="2061" y="4530"/>
                  </a:lnTo>
                  <a:lnTo>
                    <a:pt x="2037" y="4519"/>
                  </a:lnTo>
                  <a:lnTo>
                    <a:pt x="2013" y="4508"/>
                  </a:lnTo>
                  <a:lnTo>
                    <a:pt x="1990" y="4495"/>
                  </a:lnTo>
                  <a:lnTo>
                    <a:pt x="1968" y="4483"/>
                  </a:lnTo>
                  <a:lnTo>
                    <a:pt x="1947" y="4469"/>
                  </a:lnTo>
                  <a:lnTo>
                    <a:pt x="1925" y="4456"/>
                  </a:lnTo>
                  <a:lnTo>
                    <a:pt x="1904" y="4440"/>
                  </a:lnTo>
                  <a:lnTo>
                    <a:pt x="1884" y="4425"/>
                  </a:lnTo>
                  <a:lnTo>
                    <a:pt x="1864" y="4410"/>
                  </a:lnTo>
                  <a:lnTo>
                    <a:pt x="1845" y="4394"/>
                  </a:lnTo>
                  <a:lnTo>
                    <a:pt x="1826" y="4377"/>
                  </a:lnTo>
                  <a:lnTo>
                    <a:pt x="1807" y="4359"/>
                  </a:lnTo>
                  <a:lnTo>
                    <a:pt x="1790" y="4341"/>
                  </a:lnTo>
                  <a:lnTo>
                    <a:pt x="1773" y="4323"/>
                  </a:lnTo>
                  <a:lnTo>
                    <a:pt x="1756" y="4304"/>
                  </a:lnTo>
                  <a:lnTo>
                    <a:pt x="1740" y="4284"/>
                  </a:lnTo>
                  <a:lnTo>
                    <a:pt x="1725" y="4264"/>
                  </a:lnTo>
                  <a:lnTo>
                    <a:pt x="1709" y="4243"/>
                  </a:lnTo>
                  <a:lnTo>
                    <a:pt x="1695" y="4222"/>
                  </a:lnTo>
                  <a:lnTo>
                    <a:pt x="1681" y="4200"/>
                  </a:lnTo>
                  <a:lnTo>
                    <a:pt x="1668" y="4178"/>
                  </a:lnTo>
                  <a:lnTo>
                    <a:pt x="1655" y="4155"/>
                  </a:lnTo>
                  <a:lnTo>
                    <a:pt x="1643" y="4132"/>
                  </a:lnTo>
                  <a:lnTo>
                    <a:pt x="1631" y="4107"/>
                  </a:lnTo>
                  <a:lnTo>
                    <a:pt x="1620" y="4083"/>
                  </a:lnTo>
                  <a:lnTo>
                    <a:pt x="1608" y="4058"/>
                  </a:lnTo>
                  <a:lnTo>
                    <a:pt x="1598" y="4032"/>
                  </a:lnTo>
                  <a:lnTo>
                    <a:pt x="1589" y="4006"/>
                  </a:lnTo>
                  <a:lnTo>
                    <a:pt x="1580" y="3980"/>
                  </a:lnTo>
                  <a:lnTo>
                    <a:pt x="1572" y="3952"/>
                  </a:lnTo>
                  <a:lnTo>
                    <a:pt x="1564" y="3925"/>
                  </a:lnTo>
                  <a:lnTo>
                    <a:pt x="1556" y="3897"/>
                  </a:lnTo>
                  <a:lnTo>
                    <a:pt x="1550" y="3868"/>
                  </a:lnTo>
                  <a:lnTo>
                    <a:pt x="1543" y="3839"/>
                  </a:lnTo>
                  <a:lnTo>
                    <a:pt x="1538" y="3809"/>
                  </a:lnTo>
                  <a:lnTo>
                    <a:pt x="1533" y="3778"/>
                  </a:lnTo>
                  <a:lnTo>
                    <a:pt x="1528" y="3747"/>
                  </a:lnTo>
                  <a:lnTo>
                    <a:pt x="1524" y="3716"/>
                  </a:lnTo>
                  <a:lnTo>
                    <a:pt x="1521" y="3684"/>
                  </a:lnTo>
                  <a:lnTo>
                    <a:pt x="1516" y="3652"/>
                  </a:lnTo>
                  <a:lnTo>
                    <a:pt x="1514" y="3618"/>
                  </a:lnTo>
                  <a:lnTo>
                    <a:pt x="1512" y="3585"/>
                  </a:lnTo>
                  <a:lnTo>
                    <a:pt x="1511" y="3550"/>
                  </a:lnTo>
                  <a:lnTo>
                    <a:pt x="1510" y="3516"/>
                  </a:lnTo>
                  <a:lnTo>
                    <a:pt x="1510" y="3481"/>
                  </a:lnTo>
                  <a:lnTo>
                    <a:pt x="1510" y="3430"/>
                  </a:lnTo>
                  <a:lnTo>
                    <a:pt x="1512" y="3380"/>
                  </a:lnTo>
                  <a:lnTo>
                    <a:pt x="1514" y="3332"/>
                  </a:lnTo>
                  <a:lnTo>
                    <a:pt x="1517" y="3283"/>
                  </a:lnTo>
                  <a:lnTo>
                    <a:pt x="1522" y="3236"/>
                  </a:lnTo>
                  <a:lnTo>
                    <a:pt x="1527" y="3188"/>
                  </a:lnTo>
                  <a:lnTo>
                    <a:pt x="1533" y="3140"/>
                  </a:lnTo>
                  <a:lnTo>
                    <a:pt x="1540" y="3094"/>
                  </a:lnTo>
                  <a:lnTo>
                    <a:pt x="1548" y="3048"/>
                  </a:lnTo>
                  <a:lnTo>
                    <a:pt x="1556" y="3003"/>
                  </a:lnTo>
                  <a:lnTo>
                    <a:pt x="1566" y="2958"/>
                  </a:lnTo>
                  <a:lnTo>
                    <a:pt x="1576" y="2914"/>
                  </a:lnTo>
                  <a:lnTo>
                    <a:pt x="1588" y="2869"/>
                  </a:lnTo>
                  <a:lnTo>
                    <a:pt x="1600" y="2826"/>
                  </a:lnTo>
                  <a:lnTo>
                    <a:pt x="1613" y="2783"/>
                  </a:lnTo>
                  <a:lnTo>
                    <a:pt x="1628" y="2741"/>
                  </a:lnTo>
                  <a:lnTo>
                    <a:pt x="1643" y="2699"/>
                  </a:lnTo>
                  <a:lnTo>
                    <a:pt x="1659" y="2658"/>
                  </a:lnTo>
                  <a:lnTo>
                    <a:pt x="1676" y="2617"/>
                  </a:lnTo>
                  <a:lnTo>
                    <a:pt x="1694" y="2577"/>
                  </a:lnTo>
                  <a:lnTo>
                    <a:pt x="1712" y="2536"/>
                  </a:lnTo>
                  <a:lnTo>
                    <a:pt x="1733" y="2498"/>
                  </a:lnTo>
                  <a:lnTo>
                    <a:pt x="1754" y="2458"/>
                  </a:lnTo>
                  <a:lnTo>
                    <a:pt x="1775" y="2420"/>
                  </a:lnTo>
                  <a:lnTo>
                    <a:pt x="1797" y="2382"/>
                  </a:lnTo>
                  <a:lnTo>
                    <a:pt x="1822" y="2345"/>
                  </a:lnTo>
                  <a:lnTo>
                    <a:pt x="1846" y="2308"/>
                  </a:lnTo>
                  <a:lnTo>
                    <a:pt x="1871" y="2272"/>
                  </a:lnTo>
                  <a:lnTo>
                    <a:pt x="1897" y="2236"/>
                  </a:lnTo>
                  <a:lnTo>
                    <a:pt x="1925" y="2201"/>
                  </a:lnTo>
                  <a:lnTo>
                    <a:pt x="1952" y="2166"/>
                  </a:lnTo>
                  <a:lnTo>
                    <a:pt x="1981" y="2132"/>
                  </a:lnTo>
                  <a:lnTo>
                    <a:pt x="2010" y="2098"/>
                  </a:lnTo>
                  <a:lnTo>
                    <a:pt x="2041" y="2065"/>
                  </a:lnTo>
                  <a:lnTo>
                    <a:pt x="2072" y="2034"/>
                  </a:lnTo>
                  <a:lnTo>
                    <a:pt x="2102" y="2004"/>
                  </a:lnTo>
                  <a:lnTo>
                    <a:pt x="2135" y="1974"/>
                  </a:lnTo>
                  <a:lnTo>
                    <a:pt x="2166" y="1947"/>
                  </a:lnTo>
                  <a:lnTo>
                    <a:pt x="2198" y="1920"/>
                  </a:lnTo>
                  <a:lnTo>
                    <a:pt x="2232" y="1893"/>
                  </a:lnTo>
                  <a:lnTo>
                    <a:pt x="2264" y="1868"/>
                  </a:lnTo>
                  <a:lnTo>
                    <a:pt x="2298" y="1845"/>
                  </a:lnTo>
                  <a:lnTo>
                    <a:pt x="2332" y="1821"/>
                  </a:lnTo>
                  <a:lnTo>
                    <a:pt x="2366" y="1799"/>
                  </a:lnTo>
                  <a:lnTo>
                    <a:pt x="2401" y="1779"/>
                  </a:lnTo>
                  <a:lnTo>
                    <a:pt x="2437" y="1760"/>
                  </a:lnTo>
                  <a:lnTo>
                    <a:pt x="2472" y="1740"/>
                  </a:lnTo>
                  <a:lnTo>
                    <a:pt x="2508" y="1723"/>
                  </a:lnTo>
                  <a:lnTo>
                    <a:pt x="2545" y="1706"/>
                  </a:lnTo>
                  <a:lnTo>
                    <a:pt x="2582" y="1691"/>
                  </a:lnTo>
                  <a:lnTo>
                    <a:pt x="2620" y="1677"/>
                  </a:lnTo>
                  <a:lnTo>
                    <a:pt x="2658" y="1663"/>
                  </a:lnTo>
                  <a:lnTo>
                    <a:pt x="2696" y="1651"/>
                  </a:lnTo>
                  <a:lnTo>
                    <a:pt x="2735" y="1640"/>
                  </a:lnTo>
                  <a:lnTo>
                    <a:pt x="2774" y="1630"/>
                  </a:lnTo>
                  <a:lnTo>
                    <a:pt x="2814" y="1621"/>
                  </a:lnTo>
                  <a:lnTo>
                    <a:pt x="2854" y="1613"/>
                  </a:lnTo>
                  <a:lnTo>
                    <a:pt x="2894" y="1606"/>
                  </a:lnTo>
                  <a:lnTo>
                    <a:pt x="2935" y="1600"/>
                  </a:lnTo>
                  <a:lnTo>
                    <a:pt x="2976" y="1596"/>
                  </a:lnTo>
                  <a:lnTo>
                    <a:pt x="3019" y="1592"/>
                  </a:lnTo>
                  <a:lnTo>
                    <a:pt x="3060" y="1589"/>
                  </a:lnTo>
                  <a:lnTo>
                    <a:pt x="3103" y="1588"/>
                  </a:lnTo>
                  <a:lnTo>
                    <a:pt x="3146" y="1586"/>
                  </a:lnTo>
                  <a:lnTo>
                    <a:pt x="3178" y="1588"/>
                  </a:lnTo>
                  <a:lnTo>
                    <a:pt x="3209" y="1589"/>
                  </a:lnTo>
                  <a:lnTo>
                    <a:pt x="3241" y="1591"/>
                  </a:lnTo>
                  <a:lnTo>
                    <a:pt x="3271" y="1594"/>
                  </a:lnTo>
                  <a:lnTo>
                    <a:pt x="3300" y="1597"/>
                  </a:lnTo>
                  <a:lnTo>
                    <a:pt x="3330" y="1601"/>
                  </a:lnTo>
                  <a:lnTo>
                    <a:pt x="3358" y="1607"/>
                  </a:lnTo>
                  <a:lnTo>
                    <a:pt x="3386" y="1612"/>
                  </a:lnTo>
                  <a:lnTo>
                    <a:pt x="3415" y="1619"/>
                  </a:lnTo>
                  <a:lnTo>
                    <a:pt x="3442" y="1627"/>
                  </a:lnTo>
                  <a:lnTo>
                    <a:pt x="3468" y="1635"/>
                  </a:lnTo>
                  <a:lnTo>
                    <a:pt x="3494" y="1644"/>
                  </a:lnTo>
                  <a:lnTo>
                    <a:pt x="3520" y="1654"/>
                  </a:lnTo>
                  <a:lnTo>
                    <a:pt x="3545" y="1664"/>
                  </a:lnTo>
                  <a:lnTo>
                    <a:pt x="3569" y="1676"/>
                  </a:lnTo>
                  <a:lnTo>
                    <a:pt x="3593" y="1688"/>
                  </a:lnTo>
                  <a:lnTo>
                    <a:pt x="3617" y="1702"/>
                  </a:lnTo>
                  <a:lnTo>
                    <a:pt x="3640" y="1715"/>
                  </a:lnTo>
                  <a:lnTo>
                    <a:pt x="3662" y="1730"/>
                  </a:lnTo>
                  <a:lnTo>
                    <a:pt x="3684" y="1746"/>
                  </a:lnTo>
                  <a:lnTo>
                    <a:pt x="3705" y="1763"/>
                  </a:lnTo>
                  <a:lnTo>
                    <a:pt x="3727" y="1780"/>
                  </a:lnTo>
                  <a:lnTo>
                    <a:pt x="3747" y="1798"/>
                  </a:lnTo>
                  <a:lnTo>
                    <a:pt x="3767" y="1816"/>
                  </a:lnTo>
                  <a:lnTo>
                    <a:pt x="3786" y="1837"/>
                  </a:lnTo>
                  <a:lnTo>
                    <a:pt x="3805" y="1857"/>
                  </a:lnTo>
                  <a:lnTo>
                    <a:pt x="3824" y="1878"/>
                  </a:lnTo>
                  <a:lnTo>
                    <a:pt x="3842" y="1900"/>
                  </a:lnTo>
                  <a:lnTo>
                    <a:pt x="3860" y="1924"/>
                  </a:lnTo>
                  <a:lnTo>
                    <a:pt x="3877" y="1947"/>
                  </a:lnTo>
                  <a:lnTo>
                    <a:pt x="3893" y="1972"/>
                  </a:lnTo>
                  <a:lnTo>
                    <a:pt x="3910" y="1998"/>
                  </a:lnTo>
                  <a:lnTo>
                    <a:pt x="4082" y="1691"/>
                  </a:lnTo>
                  <a:lnTo>
                    <a:pt x="4769" y="1691"/>
                  </a:lnTo>
                  <a:lnTo>
                    <a:pt x="4260" y="3728"/>
                  </a:lnTo>
                  <a:lnTo>
                    <a:pt x="4259" y="3737"/>
                  </a:lnTo>
                  <a:lnTo>
                    <a:pt x="4257" y="3748"/>
                  </a:lnTo>
                  <a:lnTo>
                    <a:pt x="4252" y="3776"/>
                  </a:lnTo>
                  <a:lnTo>
                    <a:pt x="4249" y="3801"/>
                  </a:lnTo>
                  <a:lnTo>
                    <a:pt x="4247" y="3822"/>
                  </a:lnTo>
                  <a:lnTo>
                    <a:pt x="4246" y="3838"/>
                  </a:lnTo>
                  <a:lnTo>
                    <a:pt x="4247" y="3863"/>
                  </a:lnTo>
                  <a:lnTo>
                    <a:pt x="4250" y="3886"/>
                  </a:lnTo>
                  <a:lnTo>
                    <a:pt x="4252" y="3897"/>
                  </a:lnTo>
                  <a:lnTo>
                    <a:pt x="4254" y="3907"/>
                  </a:lnTo>
                  <a:lnTo>
                    <a:pt x="4257" y="3917"/>
                  </a:lnTo>
                  <a:lnTo>
                    <a:pt x="4260" y="3926"/>
                  </a:lnTo>
                  <a:lnTo>
                    <a:pt x="4263" y="3935"/>
                  </a:lnTo>
                  <a:lnTo>
                    <a:pt x="4267" y="3943"/>
                  </a:lnTo>
                  <a:lnTo>
                    <a:pt x="4271" y="3951"/>
                  </a:lnTo>
                  <a:lnTo>
                    <a:pt x="4276" y="3959"/>
                  </a:lnTo>
                  <a:lnTo>
                    <a:pt x="4281" y="3967"/>
                  </a:lnTo>
                  <a:lnTo>
                    <a:pt x="4287" y="3974"/>
                  </a:lnTo>
                  <a:lnTo>
                    <a:pt x="4293" y="3981"/>
                  </a:lnTo>
                  <a:lnTo>
                    <a:pt x="4299" y="3987"/>
                  </a:lnTo>
                  <a:lnTo>
                    <a:pt x="4306" y="3993"/>
                  </a:lnTo>
                  <a:lnTo>
                    <a:pt x="4314" y="3998"/>
                  </a:lnTo>
                  <a:lnTo>
                    <a:pt x="4322" y="4004"/>
                  </a:lnTo>
                  <a:lnTo>
                    <a:pt x="4330" y="4008"/>
                  </a:lnTo>
                  <a:lnTo>
                    <a:pt x="4338" y="4013"/>
                  </a:lnTo>
                  <a:lnTo>
                    <a:pt x="4347" y="4017"/>
                  </a:lnTo>
                  <a:lnTo>
                    <a:pt x="4356" y="4020"/>
                  </a:lnTo>
                  <a:lnTo>
                    <a:pt x="4365" y="4023"/>
                  </a:lnTo>
                  <a:lnTo>
                    <a:pt x="4385" y="4029"/>
                  </a:lnTo>
                  <a:lnTo>
                    <a:pt x="4408" y="4032"/>
                  </a:lnTo>
                  <a:lnTo>
                    <a:pt x="4431" y="4035"/>
                  </a:lnTo>
                  <a:lnTo>
                    <a:pt x="4456" y="4035"/>
                  </a:lnTo>
                  <a:lnTo>
                    <a:pt x="4484" y="4035"/>
                  </a:lnTo>
                  <a:lnTo>
                    <a:pt x="4513" y="4033"/>
                  </a:lnTo>
                  <a:lnTo>
                    <a:pt x="4540" y="4031"/>
                  </a:lnTo>
                  <a:lnTo>
                    <a:pt x="4568" y="4028"/>
                  </a:lnTo>
                  <a:lnTo>
                    <a:pt x="4595" y="4024"/>
                  </a:lnTo>
                  <a:lnTo>
                    <a:pt x="4623" y="4019"/>
                  </a:lnTo>
                  <a:lnTo>
                    <a:pt x="4650" y="4013"/>
                  </a:lnTo>
                  <a:lnTo>
                    <a:pt x="4677" y="4006"/>
                  </a:lnTo>
                  <a:lnTo>
                    <a:pt x="4703" y="3998"/>
                  </a:lnTo>
                  <a:lnTo>
                    <a:pt x="4731" y="3989"/>
                  </a:lnTo>
                  <a:lnTo>
                    <a:pt x="4757" y="3979"/>
                  </a:lnTo>
                  <a:lnTo>
                    <a:pt x="4782" y="3969"/>
                  </a:lnTo>
                  <a:lnTo>
                    <a:pt x="4809" y="3956"/>
                  </a:lnTo>
                  <a:lnTo>
                    <a:pt x="4834" y="3944"/>
                  </a:lnTo>
                  <a:lnTo>
                    <a:pt x="4859" y="3930"/>
                  </a:lnTo>
                  <a:lnTo>
                    <a:pt x="4884" y="3916"/>
                  </a:lnTo>
                  <a:lnTo>
                    <a:pt x="4910" y="3901"/>
                  </a:lnTo>
                  <a:lnTo>
                    <a:pt x="4934" y="3885"/>
                  </a:lnTo>
                  <a:lnTo>
                    <a:pt x="4959" y="3866"/>
                  </a:lnTo>
                  <a:lnTo>
                    <a:pt x="4983" y="3848"/>
                  </a:lnTo>
                  <a:lnTo>
                    <a:pt x="5008" y="3829"/>
                  </a:lnTo>
                  <a:lnTo>
                    <a:pt x="5031" y="3809"/>
                  </a:lnTo>
                  <a:lnTo>
                    <a:pt x="5055" y="3788"/>
                  </a:lnTo>
                  <a:lnTo>
                    <a:pt x="5078" y="3766"/>
                  </a:lnTo>
                  <a:lnTo>
                    <a:pt x="5101" y="3743"/>
                  </a:lnTo>
                  <a:lnTo>
                    <a:pt x="5125" y="3720"/>
                  </a:lnTo>
                  <a:lnTo>
                    <a:pt x="5147" y="3694"/>
                  </a:lnTo>
                  <a:lnTo>
                    <a:pt x="5169" y="3668"/>
                  </a:lnTo>
                  <a:lnTo>
                    <a:pt x="5192" y="3642"/>
                  </a:lnTo>
                  <a:lnTo>
                    <a:pt x="5214" y="3614"/>
                  </a:lnTo>
                  <a:lnTo>
                    <a:pt x="5236" y="3585"/>
                  </a:lnTo>
                  <a:lnTo>
                    <a:pt x="5258" y="3556"/>
                  </a:lnTo>
                  <a:lnTo>
                    <a:pt x="5279" y="3526"/>
                  </a:lnTo>
                  <a:lnTo>
                    <a:pt x="5299" y="3495"/>
                  </a:lnTo>
                  <a:lnTo>
                    <a:pt x="5319" y="3464"/>
                  </a:lnTo>
                  <a:lnTo>
                    <a:pt x="5338" y="3433"/>
                  </a:lnTo>
                  <a:lnTo>
                    <a:pt x="5357" y="3403"/>
                  </a:lnTo>
                  <a:lnTo>
                    <a:pt x="5374" y="3370"/>
                  </a:lnTo>
                  <a:lnTo>
                    <a:pt x="5391" y="3339"/>
                  </a:lnTo>
                  <a:lnTo>
                    <a:pt x="5409" y="3307"/>
                  </a:lnTo>
                  <a:lnTo>
                    <a:pt x="5424" y="3273"/>
                  </a:lnTo>
                  <a:lnTo>
                    <a:pt x="5439" y="3241"/>
                  </a:lnTo>
                  <a:lnTo>
                    <a:pt x="5454" y="3207"/>
                  </a:lnTo>
                  <a:lnTo>
                    <a:pt x="5467" y="3174"/>
                  </a:lnTo>
                  <a:lnTo>
                    <a:pt x="5480" y="3139"/>
                  </a:lnTo>
                  <a:lnTo>
                    <a:pt x="5493" y="3106"/>
                  </a:lnTo>
                  <a:lnTo>
                    <a:pt x="5505" y="3071"/>
                  </a:lnTo>
                  <a:lnTo>
                    <a:pt x="5516" y="3036"/>
                  </a:lnTo>
                  <a:lnTo>
                    <a:pt x="5527" y="3001"/>
                  </a:lnTo>
                  <a:lnTo>
                    <a:pt x="5536" y="2965"/>
                  </a:lnTo>
                  <a:lnTo>
                    <a:pt x="5545" y="2930"/>
                  </a:lnTo>
                  <a:lnTo>
                    <a:pt x="5554" y="2893"/>
                  </a:lnTo>
                  <a:lnTo>
                    <a:pt x="5561" y="2857"/>
                  </a:lnTo>
                  <a:lnTo>
                    <a:pt x="5568" y="2821"/>
                  </a:lnTo>
                  <a:lnTo>
                    <a:pt x="5575" y="2783"/>
                  </a:lnTo>
                  <a:lnTo>
                    <a:pt x="5580" y="2746"/>
                  </a:lnTo>
                  <a:lnTo>
                    <a:pt x="5585" y="2708"/>
                  </a:lnTo>
                  <a:lnTo>
                    <a:pt x="5590" y="2670"/>
                  </a:lnTo>
                  <a:lnTo>
                    <a:pt x="5593" y="2631"/>
                  </a:lnTo>
                  <a:lnTo>
                    <a:pt x="5596" y="2593"/>
                  </a:lnTo>
                  <a:lnTo>
                    <a:pt x="5599" y="2554"/>
                  </a:lnTo>
                  <a:lnTo>
                    <a:pt x="5600" y="2515"/>
                  </a:lnTo>
                  <a:lnTo>
                    <a:pt x="5601" y="2475"/>
                  </a:lnTo>
                  <a:lnTo>
                    <a:pt x="5603" y="2435"/>
                  </a:lnTo>
                  <a:lnTo>
                    <a:pt x="5601" y="2385"/>
                  </a:lnTo>
                  <a:lnTo>
                    <a:pt x="5599" y="2337"/>
                  </a:lnTo>
                  <a:lnTo>
                    <a:pt x="5597" y="2288"/>
                  </a:lnTo>
                  <a:lnTo>
                    <a:pt x="5593" y="2240"/>
                  </a:lnTo>
                  <a:lnTo>
                    <a:pt x="5587" y="2193"/>
                  </a:lnTo>
                  <a:lnTo>
                    <a:pt x="5581" y="2146"/>
                  </a:lnTo>
                  <a:lnTo>
                    <a:pt x="5573" y="2100"/>
                  </a:lnTo>
                  <a:lnTo>
                    <a:pt x="5565" y="2054"/>
                  </a:lnTo>
                  <a:lnTo>
                    <a:pt x="5555" y="2009"/>
                  </a:lnTo>
                  <a:lnTo>
                    <a:pt x="5544" y="1965"/>
                  </a:lnTo>
                  <a:lnTo>
                    <a:pt x="5532" y="1921"/>
                  </a:lnTo>
                  <a:lnTo>
                    <a:pt x="5519" y="1877"/>
                  </a:lnTo>
                  <a:lnTo>
                    <a:pt x="5504" y="1835"/>
                  </a:lnTo>
                  <a:lnTo>
                    <a:pt x="5487" y="1793"/>
                  </a:lnTo>
                  <a:lnTo>
                    <a:pt x="5471" y="1750"/>
                  </a:lnTo>
                  <a:lnTo>
                    <a:pt x="5453" y="1710"/>
                  </a:lnTo>
                  <a:lnTo>
                    <a:pt x="5434" y="1670"/>
                  </a:lnTo>
                  <a:lnTo>
                    <a:pt x="5413" y="1630"/>
                  </a:lnTo>
                  <a:lnTo>
                    <a:pt x="5391" y="1591"/>
                  </a:lnTo>
                  <a:lnTo>
                    <a:pt x="5368" y="1552"/>
                  </a:lnTo>
                  <a:lnTo>
                    <a:pt x="5345" y="1514"/>
                  </a:lnTo>
                  <a:lnTo>
                    <a:pt x="5320" y="1476"/>
                  </a:lnTo>
                  <a:lnTo>
                    <a:pt x="5293" y="1439"/>
                  </a:lnTo>
                  <a:lnTo>
                    <a:pt x="5266" y="1402"/>
                  </a:lnTo>
                  <a:lnTo>
                    <a:pt x="5237" y="1367"/>
                  </a:lnTo>
                  <a:lnTo>
                    <a:pt x="5208" y="1331"/>
                  </a:lnTo>
                  <a:lnTo>
                    <a:pt x="5176" y="1297"/>
                  </a:lnTo>
                  <a:lnTo>
                    <a:pt x="5144" y="1263"/>
                  </a:lnTo>
                  <a:lnTo>
                    <a:pt x="5111" y="1229"/>
                  </a:lnTo>
                  <a:lnTo>
                    <a:pt x="5076" y="1196"/>
                  </a:lnTo>
                  <a:lnTo>
                    <a:pt x="5041" y="1163"/>
                  </a:lnTo>
                  <a:lnTo>
                    <a:pt x="5003" y="1132"/>
                  </a:lnTo>
                  <a:lnTo>
                    <a:pt x="4966" y="1101"/>
                  </a:lnTo>
                  <a:lnTo>
                    <a:pt x="4928" y="1071"/>
                  </a:lnTo>
                  <a:lnTo>
                    <a:pt x="4888" y="1042"/>
                  </a:lnTo>
                  <a:lnTo>
                    <a:pt x="4849" y="1013"/>
                  </a:lnTo>
                  <a:lnTo>
                    <a:pt x="4809" y="986"/>
                  </a:lnTo>
                  <a:lnTo>
                    <a:pt x="4767" y="961"/>
                  </a:lnTo>
                  <a:lnTo>
                    <a:pt x="4725" y="936"/>
                  </a:lnTo>
                  <a:lnTo>
                    <a:pt x="4682" y="911"/>
                  </a:lnTo>
                  <a:lnTo>
                    <a:pt x="4639" y="888"/>
                  </a:lnTo>
                  <a:lnTo>
                    <a:pt x="4595" y="866"/>
                  </a:lnTo>
                  <a:lnTo>
                    <a:pt x="4550" y="844"/>
                  </a:lnTo>
                  <a:lnTo>
                    <a:pt x="4504" y="824"/>
                  </a:lnTo>
                  <a:lnTo>
                    <a:pt x="4458" y="806"/>
                  </a:lnTo>
                  <a:lnTo>
                    <a:pt x="4412" y="787"/>
                  </a:lnTo>
                  <a:lnTo>
                    <a:pt x="4364" y="770"/>
                  </a:lnTo>
                  <a:lnTo>
                    <a:pt x="4316" y="753"/>
                  </a:lnTo>
                  <a:lnTo>
                    <a:pt x="4266" y="738"/>
                  </a:lnTo>
                  <a:lnTo>
                    <a:pt x="4217" y="724"/>
                  </a:lnTo>
                  <a:lnTo>
                    <a:pt x="4166" y="711"/>
                  </a:lnTo>
                  <a:lnTo>
                    <a:pt x="4116" y="699"/>
                  </a:lnTo>
                  <a:lnTo>
                    <a:pt x="4063" y="688"/>
                  </a:lnTo>
                  <a:lnTo>
                    <a:pt x="4011" y="677"/>
                  </a:lnTo>
                  <a:lnTo>
                    <a:pt x="3957" y="667"/>
                  </a:lnTo>
                  <a:lnTo>
                    <a:pt x="3903" y="659"/>
                  </a:lnTo>
                  <a:lnTo>
                    <a:pt x="3849" y="652"/>
                  </a:lnTo>
                  <a:lnTo>
                    <a:pt x="3793" y="646"/>
                  </a:lnTo>
                  <a:lnTo>
                    <a:pt x="3738" y="640"/>
                  </a:lnTo>
                  <a:lnTo>
                    <a:pt x="3680" y="636"/>
                  </a:lnTo>
                  <a:lnTo>
                    <a:pt x="3623" y="633"/>
                  </a:lnTo>
                  <a:lnTo>
                    <a:pt x="3565" y="630"/>
                  </a:lnTo>
                  <a:lnTo>
                    <a:pt x="3506" y="629"/>
                  </a:lnTo>
                  <a:lnTo>
                    <a:pt x="3447" y="628"/>
                  </a:lnTo>
                  <a:lnTo>
                    <a:pt x="3385" y="629"/>
                  </a:lnTo>
                  <a:lnTo>
                    <a:pt x="3325" y="630"/>
                  </a:lnTo>
                  <a:lnTo>
                    <a:pt x="3264" y="632"/>
                  </a:lnTo>
                  <a:lnTo>
                    <a:pt x="3204" y="636"/>
                  </a:lnTo>
                  <a:lnTo>
                    <a:pt x="3145" y="640"/>
                  </a:lnTo>
                  <a:lnTo>
                    <a:pt x="3086" y="645"/>
                  </a:lnTo>
                  <a:lnTo>
                    <a:pt x="3029" y="651"/>
                  </a:lnTo>
                  <a:lnTo>
                    <a:pt x="2971" y="658"/>
                  </a:lnTo>
                  <a:lnTo>
                    <a:pt x="2915" y="666"/>
                  </a:lnTo>
                  <a:lnTo>
                    <a:pt x="2858" y="675"/>
                  </a:lnTo>
                  <a:lnTo>
                    <a:pt x="2802" y="685"/>
                  </a:lnTo>
                  <a:lnTo>
                    <a:pt x="2748" y="697"/>
                  </a:lnTo>
                  <a:lnTo>
                    <a:pt x="2693" y="709"/>
                  </a:lnTo>
                  <a:lnTo>
                    <a:pt x="2639" y="721"/>
                  </a:lnTo>
                  <a:lnTo>
                    <a:pt x="2585" y="735"/>
                  </a:lnTo>
                  <a:lnTo>
                    <a:pt x="2533" y="750"/>
                  </a:lnTo>
                  <a:lnTo>
                    <a:pt x="2481" y="765"/>
                  </a:lnTo>
                  <a:lnTo>
                    <a:pt x="2429" y="783"/>
                  </a:lnTo>
                  <a:lnTo>
                    <a:pt x="2378" y="800"/>
                  </a:lnTo>
                  <a:lnTo>
                    <a:pt x="2328" y="818"/>
                  </a:lnTo>
                  <a:lnTo>
                    <a:pt x="2277" y="838"/>
                  </a:lnTo>
                  <a:lnTo>
                    <a:pt x="2229" y="859"/>
                  </a:lnTo>
                  <a:lnTo>
                    <a:pt x="2179" y="880"/>
                  </a:lnTo>
                  <a:lnTo>
                    <a:pt x="2132" y="902"/>
                  </a:lnTo>
                  <a:lnTo>
                    <a:pt x="2083" y="925"/>
                  </a:lnTo>
                  <a:lnTo>
                    <a:pt x="2037" y="950"/>
                  </a:lnTo>
                  <a:lnTo>
                    <a:pt x="1990" y="975"/>
                  </a:lnTo>
                  <a:lnTo>
                    <a:pt x="1944" y="1001"/>
                  </a:lnTo>
                  <a:lnTo>
                    <a:pt x="1898" y="1029"/>
                  </a:lnTo>
                  <a:lnTo>
                    <a:pt x="1854" y="1057"/>
                  </a:lnTo>
                  <a:lnTo>
                    <a:pt x="1809" y="1085"/>
                  </a:lnTo>
                  <a:lnTo>
                    <a:pt x="1766" y="1116"/>
                  </a:lnTo>
                  <a:lnTo>
                    <a:pt x="1734" y="1139"/>
                  </a:lnTo>
                  <a:lnTo>
                    <a:pt x="1702" y="1162"/>
                  </a:lnTo>
                  <a:lnTo>
                    <a:pt x="1671" y="1187"/>
                  </a:lnTo>
                  <a:lnTo>
                    <a:pt x="1641" y="1211"/>
                  </a:lnTo>
                  <a:lnTo>
                    <a:pt x="1610" y="1235"/>
                  </a:lnTo>
                  <a:lnTo>
                    <a:pt x="1581" y="1261"/>
                  </a:lnTo>
                  <a:lnTo>
                    <a:pt x="1551" y="1286"/>
                  </a:lnTo>
                  <a:lnTo>
                    <a:pt x="1523" y="1311"/>
                  </a:lnTo>
                  <a:lnTo>
                    <a:pt x="1494" y="1337"/>
                  </a:lnTo>
                  <a:lnTo>
                    <a:pt x="1466" y="1364"/>
                  </a:lnTo>
                  <a:lnTo>
                    <a:pt x="1439" y="1390"/>
                  </a:lnTo>
                  <a:lnTo>
                    <a:pt x="1411" y="1417"/>
                  </a:lnTo>
                  <a:lnTo>
                    <a:pt x="1385" y="1445"/>
                  </a:lnTo>
                  <a:lnTo>
                    <a:pt x="1359" y="1472"/>
                  </a:lnTo>
                  <a:lnTo>
                    <a:pt x="1334" y="1500"/>
                  </a:lnTo>
                  <a:lnTo>
                    <a:pt x="1308" y="1529"/>
                  </a:lnTo>
                  <a:lnTo>
                    <a:pt x="1284" y="1558"/>
                  </a:lnTo>
                  <a:lnTo>
                    <a:pt x="1260" y="1586"/>
                  </a:lnTo>
                  <a:lnTo>
                    <a:pt x="1236" y="1617"/>
                  </a:lnTo>
                  <a:lnTo>
                    <a:pt x="1212" y="1646"/>
                  </a:lnTo>
                  <a:lnTo>
                    <a:pt x="1190" y="1677"/>
                  </a:lnTo>
                  <a:lnTo>
                    <a:pt x="1168" y="1707"/>
                  </a:lnTo>
                  <a:lnTo>
                    <a:pt x="1146" y="1738"/>
                  </a:lnTo>
                  <a:lnTo>
                    <a:pt x="1125" y="1770"/>
                  </a:lnTo>
                  <a:lnTo>
                    <a:pt x="1103" y="1801"/>
                  </a:lnTo>
                  <a:lnTo>
                    <a:pt x="1083" y="1834"/>
                  </a:lnTo>
                  <a:lnTo>
                    <a:pt x="1063" y="1866"/>
                  </a:lnTo>
                  <a:lnTo>
                    <a:pt x="1044" y="1898"/>
                  </a:lnTo>
                  <a:lnTo>
                    <a:pt x="1025" y="1932"/>
                  </a:lnTo>
                  <a:lnTo>
                    <a:pt x="1005" y="1965"/>
                  </a:lnTo>
                  <a:lnTo>
                    <a:pt x="987" y="1999"/>
                  </a:lnTo>
                  <a:lnTo>
                    <a:pt x="970" y="2033"/>
                  </a:lnTo>
                  <a:lnTo>
                    <a:pt x="953" y="2067"/>
                  </a:lnTo>
                  <a:lnTo>
                    <a:pt x="936" y="2102"/>
                  </a:lnTo>
                  <a:lnTo>
                    <a:pt x="919" y="2136"/>
                  </a:lnTo>
                  <a:lnTo>
                    <a:pt x="904" y="2172"/>
                  </a:lnTo>
                  <a:lnTo>
                    <a:pt x="889" y="2206"/>
                  </a:lnTo>
                  <a:lnTo>
                    <a:pt x="875" y="2241"/>
                  </a:lnTo>
                  <a:lnTo>
                    <a:pt x="861" y="2277"/>
                  </a:lnTo>
                  <a:lnTo>
                    <a:pt x="848" y="2312"/>
                  </a:lnTo>
                  <a:lnTo>
                    <a:pt x="835" y="2349"/>
                  </a:lnTo>
                  <a:lnTo>
                    <a:pt x="823" y="2384"/>
                  </a:lnTo>
                  <a:lnTo>
                    <a:pt x="810" y="2421"/>
                  </a:lnTo>
                  <a:lnTo>
                    <a:pt x="799" y="2457"/>
                  </a:lnTo>
                  <a:lnTo>
                    <a:pt x="788" y="2494"/>
                  </a:lnTo>
                  <a:lnTo>
                    <a:pt x="778" y="2531"/>
                  </a:lnTo>
                  <a:lnTo>
                    <a:pt x="769" y="2567"/>
                  </a:lnTo>
                  <a:lnTo>
                    <a:pt x="760" y="2605"/>
                  </a:lnTo>
                  <a:lnTo>
                    <a:pt x="752" y="2642"/>
                  </a:lnTo>
                  <a:lnTo>
                    <a:pt x="744" y="2680"/>
                  </a:lnTo>
                  <a:lnTo>
                    <a:pt x="736" y="2717"/>
                  </a:lnTo>
                  <a:lnTo>
                    <a:pt x="730" y="2755"/>
                  </a:lnTo>
                  <a:lnTo>
                    <a:pt x="723" y="2793"/>
                  </a:lnTo>
                  <a:lnTo>
                    <a:pt x="717" y="2831"/>
                  </a:lnTo>
                  <a:lnTo>
                    <a:pt x="712" y="2869"/>
                  </a:lnTo>
                  <a:lnTo>
                    <a:pt x="707" y="2908"/>
                  </a:lnTo>
                  <a:lnTo>
                    <a:pt x="703" y="2947"/>
                  </a:lnTo>
                  <a:lnTo>
                    <a:pt x="700" y="2986"/>
                  </a:lnTo>
                  <a:lnTo>
                    <a:pt x="696" y="3025"/>
                  </a:lnTo>
                  <a:lnTo>
                    <a:pt x="694" y="3064"/>
                  </a:lnTo>
                  <a:lnTo>
                    <a:pt x="692" y="3103"/>
                  </a:lnTo>
                  <a:lnTo>
                    <a:pt x="691" y="3144"/>
                  </a:lnTo>
                  <a:lnTo>
                    <a:pt x="690" y="3183"/>
                  </a:lnTo>
                  <a:lnTo>
                    <a:pt x="690" y="3222"/>
                  </a:lnTo>
                  <a:lnTo>
                    <a:pt x="690" y="3285"/>
                  </a:lnTo>
                  <a:lnTo>
                    <a:pt x="692" y="3347"/>
                  </a:lnTo>
                  <a:lnTo>
                    <a:pt x="696" y="3409"/>
                  </a:lnTo>
                  <a:lnTo>
                    <a:pt x="700" y="3468"/>
                  </a:lnTo>
                  <a:lnTo>
                    <a:pt x="706" y="3528"/>
                  </a:lnTo>
                  <a:lnTo>
                    <a:pt x="713" y="3587"/>
                  </a:lnTo>
                  <a:lnTo>
                    <a:pt x="723" y="3645"/>
                  </a:lnTo>
                  <a:lnTo>
                    <a:pt x="733" y="3702"/>
                  </a:lnTo>
                  <a:lnTo>
                    <a:pt x="744" y="3758"/>
                  </a:lnTo>
                  <a:lnTo>
                    <a:pt x="756" y="3814"/>
                  </a:lnTo>
                  <a:lnTo>
                    <a:pt x="770" y="3868"/>
                  </a:lnTo>
                  <a:lnTo>
                    <a:pt x="785" y="3922"/>
                  </a:lnTo>
                  <a:lnTo>
                    <a:pt x="801" y="3976"/>
                  </a:lnTo>
                  <a:lnTo>
                    <a:pt x="819" y="4027"/>
                  </a:lnTo>
                  <a:lnTo>
                    <a:pt x="839" y="4079"/>
                  </a:lnTo>
                  <a:lnTo>
                    <a:pt x="859" y="4130"/>
                  </a:lnTo>
                  <a:lnTo>
                    <a:pt x="881" y="4180"/>
                  </a:lnTo>
                  <a:lnTo>
                    <a:pt x="904" y="4229"/>
                  </a:lnTo>
                  <a:lnTo>
                    <a:pt x="929" y="4277"/>
                  </a:lnTo>
                  <a:lnTo>
                    <a:pt x="954" y="4325"/>
                  </a:lnTo>
                  <a:lnTo>
                    <a:pt x="981" y="4372"/>
                  </a:lnTo>
                  <a:lnTo>
                    <a:pt x="1009" y="4417"/>
                  </a:lnTo>
                  <a:lnTo>
                    <a:pt x="1040" y="4463"/>
                  </a:lnTo>
                  <a:lnTo>
                    <a:pt x="1071" y="4506"/>
                  </a:lnTo>
                  <a:lnTo>
                    <a:pt x="1103" y="4550"/>
                  </a:lnTo>
                  <a:lnTo>
                    <a:pt x="1137" y="4592"/>
                  </a:lnTo>
                  <a:lnTo>
                    <a:pt x="1172" y="4635"/>
                  </a:lnTo>
                  <a:lnTo>
                    <a:pt x="1208" y="4675"/>
                  </a:lnTo>
                  <a:lnTo>
                    <a:pt x="1246" y="4716"/>
                  </a:lnTo>
                  <a:lnTo>
                    <a:pt x="1285" y="4755"/>
                  </a:lnTo>
                  <a:lnTo>
                    <a:pt x="1326" y="4794"/>
                  </a:lnTo>
                  <a:lnTo>
                    <a:pt x="1367" y="4831"/>
                  </a:lnTo>
                  <a:lnTo>
                    <a:pt x="1409" y="4869"/>
                  </a:lnTo>
                  <a:lnTo>
                    <a:pt x="1453" y="4904"/>
                  </a:lnTo>
                  <a:lnTo>
                    <a:pt x="1497" y="4938"/>
                  </a:lnTo>
                  <a:lnTo>
                    <a:pt x="1543" y="4972"/>
                  </a:lnTo>
                  <a:lnTo>
                    <a:pt x="1589" y="5004"/>
                  </a:lnTo>
                  <a:lnTo>
                    <a:pt x="1637" y="5036"/>
                  </a:lnTo>
                  <a:lnTo>
                    <a:pt x="1684" y="5066"/>
                  </a:lnTo>
                  <a:lnTo>
                    <a:pt x="1734" y="5094"/>
                  </a:lnTo>
                  <a:lnTo>
                    <a:pt x="1783" y="5122"/>
                  </a:lnTo>
                  <a:lnTo>
                    <a:pt x="1834" y="5148"/>
                  </a:lnTo>
                  <a:lnTo>
                    <a:pt x="1886" y="5173"/>
                  </a:lnTo>
                  <a:lnTo>
                    <a:pt x="1939" y="5198"/>
                  </a:lnTo>
                  <a:lnTo>
                    <a:pt x="1992" y="5220"/>
                  </a:lnTo>
                  <a:lnTo>
                    <a:pt x="2047" y="5242"/>
                  </a:lnTo>
                  <a:lnTo>
                    <a:pt x="2101" y="5262"/>
                  </a:lnTo>
                  <a:lnTo>
                    <a:pt x="2158" y="5282"/>
                  </a:lnTo>
                  <a:lnTo>
                    <a:pt x="2214" y="5300"/>
                  </a:lnTo>
                  <a:lnTo>
                    <a:pt x="2273" y="5317"/>
                  </a:lnTo>
                  <a:lnTo>
                    <a:pt x="2332" y="5332"/>
                  </a:lnTo>
                  <a:lnTo>
                    <a:pt x="2391" y="5347"/>
                  </a:lnTo>
                  <a:lnTo>
                    <a:pt x="2452" y="5361"/>
                  </a:lnTo>
                  <a:lnTo>
                    <a:pt x="2513" y="5373"/>
                  </a:lnTo>
                  <a:lnTo>
                    <a:pt x="2576" y="5384"/>
                  </a:lnTo>
                  <a:lnTo>
                    <a:pt x="2640" y="5394"/>
                  </a:lnTo>
                  <a:lnTo>
                    <a:pt x="2703" y="5403"/>
                  </a:lnTo>
                  <a:lnTo>
                    <a:pt x="2769" y="5410"/>
                  </a:lnTo>
                  <a:lnTo>
                    <a:pt x="2835" y="5416"/>
                  </a:lnTo>
                  <a:lnTo>
                    <a:pt x="2902" y="5422"/>
                  </a:lnTo>
                  <a:lnTo>
                    <a:pt x="2970" y="5426"/>
                  </a:lnTo>
                  <a:lnTo>
                    <a:pt x="3039" y="5429"/>
                  </a:lnTo>
                  <a:lnTo>
                    <a:pt x="3108" y="5430"/>
                  </a:lnTo>
                  <a:lnTo>
                    <a:pt x="3179" y="5431"/>
                  </a:lnTo>
                  <a:lnTo>
                    <a:pt x="3248" y="5430"/>
                  </a:lnTo>
                  <a:lnTo>
                    <a:pt x="3316" y="5428"/>
                  </a:lnTo>
                  <a:lnTo>
                    <a:pt x="3383" y="5425"/>
                  </a:lnTo>
                  <a:lnTo>
                    <a:pt x="3450" y="5421"/>
                  </a:lnTo>
                  <a:lnTo>
                    <a:pt x="3518" y="5416"/>
                  </a:lnTo>
                  <a:lnTo>
                    <a:pt x="3584" y="5409"/>
                  </a:lnTo>
                  <a:lnTo>
                    <a:pt x="3650" y="5401"/>
                  </a:lnTo>
                  <a:lnTo>
                    <a:pt x="3717" y="5392"/>
                  </a:lnTo>
                  <a:lnTo>
                    <a:pt x="3781" y="5382"/>
                  </a:lnTo>
                  <a:lnTo>
                    <a:pt x="3847" y="5370"/>
                  </a:lnTo>
                  <a:lnTo>
                    <a:pt x="3912" y="5357"/>
                  </a:lnTo>
                  <a:lnTo>
                    <a:pt x="3977" y="5342"/>
                  </a:lnTo>
                  <a:lnTo>
                    <a:pt x="4041" y="5327"/>
                  </a:lnTo>
                  <a:lnTo>
                    <a:pt x="4105" y="5310"/>
                  </a:lnTo>
                  <a:lnTo>
                    <a:pt x="4169" y="5292"/>
                  </a:lnTo>
                  <a:lnTo>
                    <a:pt x="4233" y="5273"/>
                  </a:lnTo>
                  <a:lnTo>
                    <a:pt x="4295" y="5252"/>
                  </a:lnTo>
                  <a:lnTo>
                    <a:pt x="4358" y="5231"/>
                  </a:lnTo>
                  <a:lnTo>
                    <a:pt x="4420" y="5208"/>
                  </a:lnTo>
                  <a:lnTo>
                    <a:pt x="4481" y="5184"/>
                  </a:lnTo>
                  <a:lnTo>
                    <a:pt x="4541" y="5159"/>
                  </a:lnTo>
                  <a:lnTo>
                    <a:pt x="4601" y="5133"/>
                  </a:lnTo>
                  <a:lnTo>
                    <a:pt x="4660" y="5107"/>
                  </a:lnTo>
                  <a:lnTo>
                    <a:pt x="4719" y="5078"/>
                  </a:lnTo>
                  <a:lnTo>
                    <a:pt x="4777" y="5049"/>
                  </a:lnTo>
                  <a:lnTo>
                    <a:pt x="4834" y="5017"/>
                  </a:lnTo>
                  <a:lnTo>
                    <a:pt x="4891" y="4986"/>
                  </a:lnTo>
                  <a:lnTo>
                    <a:pt x="4947" y="4953"/>
                  </a:lnTo>
                  <a:lnTo>
                    <a:pt x="5002" y="4919"/>
                  </a:lnTo>
                  <a:lnTo>
                    <a:pt x="5057" y="4884"/>
                  </a:lnTo>
                  <a:lnTo>
                    <a:pt x="5112" y="4847"/>
                  </a:lnTo>
                  <a:lnTo>
                    <a:pt x="5165" y="4810"/>
                  </a:lnTo>
                  <a:lnTo>
                    <a:pt x="5488" y="5261"/>
                  </a:lnTo>
                  <a:lnTo>
                    <a:pt x="5424" y="5309"/>
                  </a:lnTo>
                  <a:lnTo>
                    <a:pt x="5358" y="5356"/>
                  </a:lnTo>
                  <a:lnTo>
                    <a:pt x="5291" y="5401"/>
                  </a:lnTo>
                  <a:lnTo>
                    <a:pt x="5226" y="5445"/>
                  </a:lnTo>
                  <a:lnTo>
                    <a:pt x="5158" y="5486"/>
                  </a:lnTo>
                  <a:lnTo>
                    <a:pt x="5091" y="5527"/>
                  </a:lnTo>
                  <a:lnTo>
                    <a:pt x="5024" y="5565"/>
                  </a:lnTo>
                  <a:lnTo>
                    <a:pt x="4955" y="5603"/>
                  </a:lnTo>
                  <a:lnTo>
                    <a:pt x="4886" y="5638"/>
                  </a:lnTo>
                  <a:lnTo>
                    <a:pt x="4818" y="5672"/>
                  </a:lnTo>
                  <a:lnTo>
                    <a:pt x="4748" y="5705"/>
                  </a:lnTo>
                  <a:lnTo>
                    <a:pt x="4677" y="5736"/>
                  </a:lnTo>
                  <a:lnTo>
                    <a:pt x="4608" y="5766"/>
                  </a:lnTo>
                  <a:lnTo>
                    <a:pt x="4536" y="5794"/>
                  </a:lnTo>
                  <a:lnTo>
                    <a:pt x="4465" y="5820"/>
                  </a:lnTo>
                  <a:lnTo>
                    <a:pt x="4393" y="5846"/>
                  </a:lnTo>
                  <a:lnTo>
                    <a:pt x="4321" y="5869"/>
                  </a:lnTo>
                  <a:lnTo>
                    <a:pt x="4248" y="5890"/>
                  </a:lnTo>
                  <a:lnTo>
                    <a:pt x="4174" y="5911"/>
                  </a:lnTo>
                  <a:lnTo>
                    <a:pt x="4100" y="5930"/>
                  </a:lnTo>
                  <a:lnTo>
                    <a:pt x="4027" y="5947"/>
                  </a:lnTo>
                  <a:lnTo>
                    <a:pt x="3952" y="5963"/>
                  </a:lnTo>
                  <a:lnTo>
                    <a:pt x="3876" y="5977"/>
                  </a:lnTo>
                  <a:lnTo>
                    <a:pt x="3801" y="5990"/>
                  </a:lnTo>
                  <a:lnTo>
                    <a:pt x="3725" y="6001"/>
                  </a:lnTo>
                  <a:lnTo>
                    <a:pt x="3648" y="6012"/>
                  </a:lnTo>
                  <a:lnTo>
                    <a:pt x="3571" y="6020"/>
                  </a:lnTo>
                  <a:lnTo>
                    <a:pt x="3493" y="6027"/>
                  </a:lnTo>
                  <a:lnTo>
                    <a:pt x="3416" y="6032"/>
                  </a:lnTo>
                  <a:lnTo>
                    <a:pt x="3338" y="6036"/>
                  </a:lnTo>
                  <a:lnTo>
                    <a:pt x="3258" y="6038"/>
                  </a:lnTo>
                  <a:lnTo>
                    <a:pt x="3179" y="6039"/>
                  </a:lnTo>
                  <a:lnTo>
                    <a:pt x="3099" y="6038"/>
                  </a:lnTo>
                  <a:lnTo>
                    <a:pt x="3021" y="6037"/>
                  </a:lnTo>
                  <a:lnTo>
                    <a:pt x="2943" y="6034"/>
                  </a:lnTo>
                  <a:lnTo>
                    <a:pt x="2866" y="6029"/>
                  </a:lnTo>
                  <a:lnTo>
                    <a:pt x="2789" y="6023"/>
                  </a:lnTo>
                  <a:lnTo>
                    <a:pt x="2713" y="6016"/>
                  </a:lnTo>
                  <a:lnTo>
                    <a:pt x="2639" y="6008"/>
                  </a:lnTo>
                  <a:lnTo>
                    <a:pt x="2564" y="5998"/>
                  </a:lnTo>
                  <a:lnTo>
                    <a:pt x="2491" y="5987"/>
                  </a:lnTo>
                  <a:lnTo>
                    <a:pt x="2419" y="5975"/>
                  </a:lnTo>
                  <a:lnTo>
                    <a:pt x="2346" y="5962"/>
                  </a:lnTo>
                  <a:lnTo>
                    <a:pt x="2275" y="5947"/>
                  </a:lnTo>
                  <a:lnTo>
                    <a:pt x="2204" y="5931"/>
                  </a:lnTo>
                  <a:lnTo>
                    <a:pt x="2135" y="5913"/>
                  </a:lnTo>
                  <a:lnTo>
                    <a:pt x="2066" y="5895"/>
                  </a:lnTo>
                  <a:lnTo>
                    <a:pt x="1998" y="5875"/>
                  </a:lnTo>
                  <a:lnTo>
                    <a:pt x="1931" y="5854"/>
                  </a:lnTo>
                  <a:lnTo>
                    <a:pt x="1865" y="5831"/>
                  </a:lnTo>
                  <a:lnTo>
                    <a:pt x="1799" y="5808"/>
                  </a:lnTo>
                  <a:lnTo>
                    <a:pt x="1736" y="5784"/>
                  </a:lnTo>
                  <a:lnTo>
                    <a:pt x="1672" y="5757"/>
                  </a:lnTo>
                  <a:lnTo>
                    <a:pt x="1609" y="5730"/>
                  </a:lnTo>
                  <a:lnTo>
                    <a:pt x="1548" y="5702"/>
                  </a:lnTo>
                  <a:lnTo>
                    <a:pt x="1487" y="5672"/>
                  </a:lnTo>
                  <a:lnTo>
                    <a:pt x="1428" y="5642"/>
                  </a:lnTo>
                  <a:lnTo>
                    <a:pt x="1369" y="5610"/>
                  </a:lnTo>
                  <a:lnTo>
                    <a:pt x="1311" y="5576"/>
                  </a:lnTo>
                  <a:lnTo>
                    <a:pt x="1255" y="5542"/>
                  </a:lnTo>
                  <a:lnTo>
                    <a:pt x="1198" y="5506"/>
                  </a:lnTo>
                  <a:lnTo>
                    <a:pt x="1144" y="5469"/>
                  </a:lnTo>
                  <a:lnTo>
                    <a:pt x="1090" y="5430"/>
                  </a:lnTo>
                  <a:lnTo>
                    <a:pt x="1037" y="5391"/>
                  </a:lnTo>
                  <a:lnTo>
                    <a:pt x="1004" y="5366"/>
                  </a:lnTo>
                  <a:lnTo>
                    <a:pt x="972" y="5340"/>
                  </a:lnTo>
                  <a:lnTo>
                    <a:pt x="941" y="5314"/>
                  </a:lnTo>
                  <a:lnTo>
                    <a:pt x="910" y="5288"/>
                  </a:lnTo>
                  <a:lnTo>
                    <a:pt x="880" y="5260"/>
                  </a:lnTo>
                  <a:lnTo>
                    <a:pt x="850" y="5234"/>
                  </a:lnTo>
                  <a:lnTo>
                    <a:pt x="820" y="5207"/>
                  </a:lnTo>
                  <a:lnTo>
                    <a:pt x="792" y="5179"/>
                  </a:lnTo>
                  <a:lnTo>
                    <a:pt x="764" y="5152"/>
                  </a:lnTo>
                  <a:lnTo>
                    <a:pt x="736" y="5124"/>
                  </a:lnTo>
                  <a:lnTo>
                    <a:pt x="708" y="5096"/>
                  </a:lnTo>
                  <a:lnTo>
                    <a:pt x="682" y="5068"/>
                  </a:lnTo>
                  <a:lnTo>
                    <a:pt x="656" y="5039"/>
                  </a:lnTo>
                  <a:lnTo>
                    <a:pt x="630" y="5010"/>
                  </a:lnTo>
                  <a:lnTo>
                    <a:pt x="605" y="4981"/>
                  </a:lnTo>
                  <a:lnTo>
                    <a:pt x="580" y="4952"/>
                  </a:lnTo>
                  <a:lnTo>
                    <a:pt x="556" y="4922"/>
                  </a:lnTo>
                  <a:lnTo>
                    <a:pt x="533" y="4893"/>
                  </a:lnTo>
                  <a:lnTo>
                    <a:pt x="509" y="4863"/>
                  </a:lnTo>
                  <a:lnTo>
                    <a:pt x="487" y="4832"/>
                  </a:lnTo>
                  <a:lnTo>
                    <a:pt x="465" y="4802"/>
                  </a:lnTo>
                  <a:lnTo>
                    <a:pt x="444" y="4771"/>
                  </a:lnTo>
                  <a:lnTo>
                    <a:pt x="422" y="4740"/>
                  </a:lnTo>
                  <a:lnTo>
                    <a:pt x="402" y="4709"/>
                  </a:lnTo>
                  <a:lnTo>
                    <a:pt x="382" y="4677"/>
                  </a:lnTo>
                  <a:lnTo>
                    <a:pt x="363" y="4646"/>
                  </a:lnTo>
                  <a:lnTo>
                    <a:pt x="344" y="4615"/>
                  </a:lnTo>
                  <a:lnTo>
                    <a:pt x="326" y="4582"/>
                  </a:lnTo>
                  <a:lnTo>
                    <a:pt x="308" y="4550"/>
                  </a:lnTo>
                  <a:lnTo>
                    <a:pt x="291" y="4517"/>
                  </a:lnTo>
                  <a:lnTo>
                    <a:pt x="274" y="4484"/>
                  </a:lnTo>
                  <a:lnTo>
                    <a:pt x="258" y="4451"/>
                  </a:lnTo>
                  <a:lnTo>
                    <a:pt x="242" y="4417"/>
                  </a:lnTo>
                  <a:lnTo>
                    <a:pt x="227" y="4384"/>
                  </a:lnTo>
                  <a:lnTo>
                    <a:pt x="211" y="4349"/>
                  </a:lnTo>
                  <a:lnTo>
                    <a:pt x="197" y="4315"/>
                  </a:lnTo>
                  <a:lnTo>
                    <a:pt x="183" y="4280"/>
                  </a:lnTo>
                  <a:lnTo>
                    <a:pt x="170" y="4246"/>
                  </a:lnTo>
                  <a:lnTo>
                    <a:pt x="157" y="4211"/>
                  </a:lnTo>
                  <a:lnTo>
                    <a:pt x="145" y="4175"/>
                  </a:lnTo>
                  <a:lnTo>
                    <a:pt x="134" y="4140"/>
                  </a:lnTo>
                  <a:lnTo>
                    <a:pt x="121" y="4103"/>
                  </a:lnTo>
                  <a:lnTo>
                    <a:pt x="111" y="4068"/>
                  </a:lnTo>
                  <a:lnTo>
                    <a:pt x="101" y="4031"/>
                  </a:lnTo>
                  <a:lnTo>
                    <a:pt x="91" y="3994"/>
                  </a:lnTo>
                  <a:lnTo>
                    <a:pt x="82" y="3957"/>
                  </a:lnTo>
                  <a:lnTo>
                    <a:pt x="73" y="3920"/>
                  </a:lnTo>
                  <a:lnTo>
                    <a:pt x="65" y="3883"/>
                  </a:lnTo>
                  <a:lnTo>
                    <a:pt x="57" y="3844"/>
                  </a:lnTo>
                  <a:lnTo>
                    <a:pt x="50" y="3807"/>
                  </a:lnTo>
                  <a:lnTo>
                    <a:pt x="43" y="3768"/>
                  </a:lnTo>
                  <a:lnTo>
                    <a:pt x="37" y="3729"/>
                  </a:lnTo>
                  <a:lnTo>
                    <a:pt x="31" y="3690"/>
                  </a:lnTo>
                  <a:lnTo>
                    <a:pt x="26" y="3651"/>
                  </a:lnTo>
                  <a:lnTo>
                    <a:pt x="20" y="3611"/>
                  </a:lnTo>
                  <a:lnTo>
                    <a:pt x="16" y="3572"/>
                  </a:lnTo>
                  <a:lnTo>
                    <a:pt x="12" y="3531"/>
                  </a:lnTo>
                  <a:lnTo>
                    <a:pt x="9" y="3491"/>
                  </a:lnTo>
                  <a:lnTo>
                    <a:pt x="6" y="3450"/>
                  </a:lnTo>
                  <a:lnTo>
                    <a:pt x="4" y="3410"/>
                  </a:lnTo>
                  <a:lnTo>
                    <a:pt x="3" y="3368"/>
                  </a:lnTo>
                  <a:lnTo>
                    <a:pt x="1" y="3327"/>
                  </a:lnTo>
                  <a:lnTo>
                    <a:pt x="1" y="3285"/>
                  </a:lnTo>
                  <a:lnTo>
                    <a:pt x="0" y="3244"/>
                  </a:lnTo>
                  <a:lnTo>
                    <a:pt x="1" y="3173"/>
                  </a:lnTo>
                  <a:lnTo>
                    <a:pt x="3" y="3103"/>
                  </a:lnTo>
                  <a:lnTo>
                    <a:pt x="6" y="3034"/>
                  </a:lnTo>
                  <a:lnTo>
                    <a:pt x="11" y="2964"/>
                  </a:lnTo>
                  <a:lnTo>
                    <a:pt x="17" y="2897"/>
                  </a:lnTo>
                  <a:lnTo>
                    <a:pt x="26" y="2829"/>
                  </a:lnTo>
                  <a:lnTo>
                    <a:pt x="35" y="2761"/>
                  </a:lnTo>
                  <a:lnTo>
                    <a:pt x="45" y="2694"/>
                  </a:lnTo>
                  <a:lnTo>
                    <a:pt x="57" y="2627"/>
                  </a:lnTo>
                  <a:lnTo>
                    <a:pt x="70" y="2560"/>
                  </a:lnTo>
                  <a:lnTo>
                    <a:pt x="84" y="2495"/>
                  </a:lnTo>
                  <a:lnTo>
                    <a:pt x="100" y="2430"/>
                  </a:lnTo>
                  <a:lnTo>
                    <a:pt x="117" y="2365"/>
                  </a:lnTo>
                  <a:lnTo>
                    <a:pt x="136" y="2300"/>
                  </a:lnTo>
                  <a:lnTo>
                    <a:pt x="156" y="2236"/>
                  </a:lnTo>
                  <a:lnTo>
                    <a:pt x="177" y="2173"/>
                  </a:lnTo>
                  <a:lnTo>
                    <a:pt x="199" y="2110"/>
                  </a:lnTo>
                  <a:lnTo>
                    <a:pt x="223" y="2047"/>
                  </a:lnTo>
                  <a:lnTo>
                    <a:pt x="249" y="1986"/>
                  </a:lnTo>
                  <a:lnTo>
                    <a:pt x="276" y="1925"/>
                  </a:lnTo>
                  <a:lnTo>
                    <a:pt x="303" y="1865"/>
                  </a:lnTo>
                  <a:lnTo>
                    <a:pt x="333" y="1805"/>
                  </a:lnTo>
                  <a:lnTo>
                    <a:pt x="364" y="1746"/>
                  </a:lnTo>
                  <a:lnTo>
                    <a:pt x="395" y="1688"/>
                  </a:lnTo>
                  <a:lnTo>
                    <a:pt x="429" y="1630"/>
                  </a:lnTo>
                  <a:lnTo>
                    <a:pt x="463" y="1573"/>
                  </a:lnTo>
                  <a:lnTo>
                    <a:pt x="498" y="1518"/>
                  </a:lnTo>
                  <a:lnTo>
                    <a:pt x="536" y="1462"/>
                  </a:lnTo>
                  <a:lnTo>
                    <a:pt x="574" y="1406"/>
                  </a:lnTo>
                  <a:lnTo>
                    <a:pt x="613" y="1353"/>
                  </a:lnTo>
                  <a:lnTo>
                    <a:pt x="655" y="1299"/>
                  </a:lnTo>
                  <a:lnTo>
                    <a:pt x="697" y="1245"/>
                  </a:lnTo>
                  <a:lnTo>
                    <a:pt x="728" y="1208"/>
                  </a:lnTo>
                  <a:lnTo>
                    <a:pt x="759" y="1170"/>
                  </a:lnTo>
                  <a:lnTo>
                    <a:pt x="791" y="1134"/>
                  </a:lnTo>
                  <a:lnTo>
                    <a:pt x="824" y="1098"/>
                  </a:lnTo>
                  <a:lnTo>
                    <a:pt x="856" y="1062"/>
                  </a:lnTo>
                  <a:lnTo>
                    <a:pt x="889" y="1027"/>
                  </a:lnTo>
                  <a:lnTo>
                    <a:pt x="923" y="992"/>
                  </a:lnTo>
                  <a:lnTo>
                    <a:pt x="957" y="958"/>
                  </a:lnTo>
                  <a:lnTo>
                    <a:pt x="991" y="925"/>
                  </a:lnTo>
                  <a:lnTo>
                    <a:pt x="1026" y="892"/>
                  </a:lnTo>
                  <a:lnTo>
                    <a:pt x="1061" y="860"/>
                  </a:lnTo>
                  <a:lnTo>
                    <a:pt x="1096" y="828"/>
                  </a:lnTo>
                  <a:lnTo>
                    <a:pt x="1133" y="798"/>
                  </a:lnTo>
                  <a:lnTo>
                    <a:pt x="1169" y="766"/>
                  </a:lnTo>
                  <a:lnTo>
                    <a:pt x="1205" y="737"/>
                  </a:lnTo>
                  <a:lnTo>
                    <a:pt x="1243" y="708"/>
                  </a:lnTo>
                  <a:lnTo>
                    <a:pt x="1280" y="679"/>
                  </a:lnTo>
                  <a:lnTo>
                    <a:pt x="1318" y="651"/>
                  </a:lnTo>
                  <a:lnTo>
                    <a:pt x="1357" y="624"/>
                  </a:lnTo>
                  <a:lnTo>
                    <a:pt x="1396" y="596"/>
                  </a:lnTo>
                  <a:lnTo>
                    <a:pt x="1435" y="570"/>
                  </a:lnTo>
                  <a:lnTo>
                    <a:pt x="1475" y="544"/>
                  </a:lnTo>
                  <a:lnTo>
                    <a:pt x="1514" y="518"/>
                  </a:lnTo>
                  <a:lnTo>
                    <a:pt x="1556" y="494"/>
                  </a:lnTo>
                  <a:lnTo>
                    <a:pt x="1596" y="470"/>
                  </a:lnTo>
                  <a:lnTo>
                    <a:pt x="1638" y="447"/>
                  </a:lnTo>
                  <a:lnTo>
                    <a:pt x="1679" y="423"/>
                  </a:lnTo>
                  <a:lnTo>
                    <a:pt x="1722" y="401"/>
                  </a:lnTo>
                  <a:lnTo>
                    <a:pt x="1764" y="379"/>
                  </a:lnTo>
                  <a:lnTo>
                    <a:pt x="1807" y="357"/>
                  </a:lnTo>
                  <a:lnTo>
                    <a:pt x="1851" y="337"/>
                  </a:lnTo>
                  <a:lnTo>
                    <a:pt x="1894" y="317"/>
                  </a:lnTo>
                  <a:lnTo>
                    <a:pt x="1939" y="297"/>
                  </a:lnTo>
                  <a:lnTo>
                    <a:pt x="1983" y="279"/>
                  </a:lnTo>
                  <a:lnTo>
                    <a:pt x="2028" y="260"/>
                  </a:lnTo>
                  <a:lnTo>
                    <a:pt x="2073" y="242"/>
                  </a:lnTo>
                  <a:lnTo>
                    <a:pt x="2119" y="226"/>
                  </a:lnTo>
                  <a:lnTo>
                    <a:pt x="2164" y="209"/>
                  </a:lnTo>
                  <a:lnTo>
                    <a:pt x="2210" y="193"/>
                  </a:lnTo>
                  <a:lnTo>
                    <a:pt x="2257" y="178"/>
                  </a:lnTo>
                  <a:lnTo>
                    <a:pt x="2303" y="164"/>
                  </a:lnTo>
                  <a:lnTo>
                    <a:pt x="2350" y="150"/>
                  </a:lnTo>
                  <a:lnTo>
                    <a:pt x="2396" y="137"/>
                  </a:lnTo>
                  <a:lnTo>
                    <a:pt x="2444" y="124"/>
                  </a:lnTo>
                  <a:lnTo>
                    <a:pt x="2492" y="111"/>
                  </a:lnTo>
                  <a:lnTo>
                    <a:pt x="2540" y="100"/>
                  </a:lnTo>
                  <a:lnTo>
                    <a:pt x="2588" y="89"/>
                  </a:lnTo>
                  <a:lnTo>
                    <a:pt x="2637" y="79"/>
                  </a:lnTo>
                  <a:lnTo>
                    <a:pt x="2685" y="70"/>
                  </a:lnTo>
                  <a:lnTo>
                    <a:pt x="2735" y="61"/>
                  </a:lnTo>
                  <a:lnTo>
                    <a:pt x="2784" y="52"/>
                  </a:lnTo>
                  <a:lnTo>
                    <a:pt x="2834" y="45"/>
                  </a:lnTo>
                  <a:lnTo>
                    <a:pt x="2884" y="38"/>
                  </a:lnTo>
                  <a:lnTo>
                    <a:pt x="2935" y="30"/>
                  </a:lnTo>
                  <a:lnTo>
                    <a:pt x="2985" y="24"/>
                  </a:lnTo>
                  <a:lnTo>
                    <a:pt x="3036" y="19"/>
                  </a:lnTo>
                  <a:lnTo>
                    <a:pt x="3087" y="15"/>
                  </a:lnTo>
                  <a:lnTo>
                    <a:pt x="3139" y="11"/>
                  </a:lnTo>
                  <a:lnTo>
                    <a:pt x="3190" y="7"/>
                  </a:lnTo>
                  <a:lnTo>
                    <a:pt x="3242" y="4"/>
                  </a:lnTo>
                  <a:lnTo>
                    <a:pt x="3294" y="2"/>
                  </a:lnTo>
                  <a:lnTo>
                    <a:pt x="3347" y="1"/>
                  </a:lnTo>
                  <a:lnTo>
                    <a:pt x="3400" y="0"/>
                  </a:lnTo>
                  <a:lnTo>
                    <a:pt x="3453" y="0"/>
                  </a:lnTo>
                  <a:lnTo>
                    <a:pt x="3524" y="0"/>
                  </a:lnTo>
                  <a:lnTo>
                    <a:pt x="3593" y="2"/>
                  </a:lnTo>
                  <a:lnTo>
                    <a:pt x="3663" y="5"/>
                  </a:lnTo>
                  <a:lnTo>
                    <a:pt x="3733" y="9"/>
                  </a:lnTo>
                  <a:lnTo>
                    <a:pt x="3800" y="15"/>
                  </a:lnTo>
                  <a:lnTo>
                    <a:pt x="3869" y="21"/>
                  </a:lnTo>
                  <a:lnTo>
                    <a:pt x="3936" y="29"/>
                  </a:lnTo>
                  <a:lnTo>
                    <a:pt x="4002" y="39"/>
                  </a:lnTo>
                  <a:lnTo>
                    <a:pt x="4069" y="49"/>
                  </a:lnTo>
                  <a:lnTo>
                    <a:pt x="4135" y="60"/>
                  </a:lnTo>
                  <a:lnTo>
                    <a:pt x="4200" y="73"/>
                  </a:lnTo>
                  <a:lnTo>
                    <a:pt x="4265" y="86"/>
                  </a:lnTo>
                  <a:lnTo>
                    <a:pt x="4330" y="101"/>
                  </a:lnTo>
                  <a:lnTo>
                    <a:pt x="4393" y="118"/>
                  </a:lnTo>
                  <a:lnTo>
                    <a:pt x="4456" y="135"/>
                  </a:lnTo>
                  <a:lnTo>
                    <a:pt x="4520" y="154"/>
                  </a:lnTo>
                  <a:lnTo>
                    <a:pt x="4581" y="173"/>
                  </a:lnTo>
                  <a:lnTo>
                    <a:pt x="4642" y="194"/>
                  </a:lnTo>
                  <a:lnTo>
                    <a:pt x="4702" y="216"/>
                  </a:lnTo>
                  <a:lnTo>
                    <a:pt x="4761" y="239"/>
                  </a:lnTo>
                  <a:lnTo>
                    <a:pt x="4819" y="262"/>
                  </a:lnTo>
                  <a:lnTo>
                    <a:pt x="4875" y="288"/>
                  </a:lnTo>
                  <a:lnTo>
                    <a:pt x="4931" y="314"/>
                  </a:lnTo>
                  <a:lnTo>
                    <a:pt x="4986" y="341"/>
                  </a:lnTo>
                  <a:lnTo>
                    <a:pt x="5040" y="369"/>
                  </a:lnTo>
                  <a:lnTo>
                    <a:pt x="5092" y="398"/>
                  </a:lnTo>
                  <a:lnTo>
                    <a:pt x="5144" y="428"/>
                  </a:lnTo>
                  <a:lnTo>
                    <a:pt x="5194" y="460"/>
                  </a:lnTo>
                  <a:lnTo>
                    <a:pt x="5244" y="492"/>
                  </a:lnTo>
                  <a:lnTo>
                    <a:pt x="5292" y="526"/>
                  </a:lnTo>
                  <a:lnTo>
                    <a:pt x="5340" y="559"/>
                  </a:lnTo>
                  <a:lnTo>
                    <a:pt x="5386" y="594"/>
                  </a:lnTo>
                  <a:lnTo>
                    <a:pt x="5442" y="640"/>
                  </a:lnTo>
                  <a:lnTo>
                    <a:pt x="5496" y="685"/>
                  </a:lnTo>
                  <a:lnTo>
                    <a:pt x="5548" y="732"/>
                  </a:lnTo>
                  <a:lnTo>
                    <a:pt x="5598" y="780"/>
                  </a:lnTo>
                  <a:lnTo>
                    <a:pt x="5647" y="828"/>
                  </a:lnTo>
                  <a:lnTo>
                    <a:pt x="5693" y="877"/>
                  </a:lnTo>
                  <a:lnTo>
                    <a:pt x="5739" y="926"/>
                  </a:lnTo>
                  <a:lnTo>
                    <a:pt x="5782" y="976"/>
                  </a:lnTo>
                  <a:lnTo>
                    <a:pt x="5824" y="1028"/>
                  </a:lnTo>
                  <a:lnTo>
                    <a:pt x="5863" y="1079"/>
                  </a:lnTo>
                  <a:lnTo>
                    <a:pt x="5901" y="1132"/>
                  </a:lnTo>
                  <a:lnTo>
                    <a:pt x="5937" y="1186"/>
                  </a:lnTo>
                  <a:lnTo>
                    <a:pt x="5971" y="1239"/>
                  </a:lnTo>
                  <a:lnTo>
                    <a:pt x="6004" y="1295"/>
                  </a:lnTo>
                  <a:lnTo>
                    <a:pt x="6034" y="1351"/>
                  </a:lnTo>
                  <a:lnTo>
                    <a:pt x="6063" y="1406"/>
                  </a:lnTo>
                  <a:lnTo>
                    <a:pt x="6090" y="1464"/>
                  </a:lnTo>
                  <a:lnTo>
                    <a:pt x="6116" y="1522"/>
                  </a:lnTo>
                  <a:lnTo>
                    <a:pt x="6139" y="1580"/>
                  </a:lnTo>
                  <a:lnTo>
                    <a:pt x="6161" y="1640"/>
                  </a:lnTo>
                  <a:lnTo>
                    <a:pt x="6180" y="1701"/>
                  </a:lnTo>
                  <a:lnTo>
                    <a:pt x="6200" y="1763"/>
                  </a:lnTo>
                  <a:lnTo>
                    <a:pt x="6216" y="1825"/>
                  </a:lnTo>
                  <a:lnTo>
                    <a:pt x="6231" y="1889"/>
                  </a:lnTo>
                  <a:lnTo>
                    <a:pt x="6243" y="1953"/>
                  </a:lnTo>
                  <a:lnTo>
                    <a:pt x="6255" y="2019"/>
                  </a:lnTo>
                  <a:lnTo>
                    <a:pt x="6264" y="2085"/>
                  </a:lnTo>
                  <a:lnTo>
                    <a:pt x="6272" y="2151"/>
                  </a:lnTo>
                  <a:lnTo>
                    <a:pt x="6278" y="2219"/>
                  </a:lnTo>
                  <a:lnTo>
                    <a:pt x="6282" y="2288"/>
                  </a:lnTo>
                  <a:lnTo>
                    <a:pt x="6285" y="2358"/>
                  </a:lnTo>
                  <a:lnTo>
                    <a:pt x="6286" y="2428"/>
                  </a:lnTo>
                  <a:lnTo>
                    <a:pt x="6285" y="2498"/>
                  </a:lnTo>
                  <a:lnTo>
                    <a:pt x="6282" y="2566"/>
                  </a:lnTo>
                  <a:lnTo>
                    <a:pt x="6278" y="2634"/>
                  </a:lnTo>
                  <a:lnTo>
                    <a:pt x="6272" y="2701"/>
                  </a:lnTo>
                  <a:lnTo>
                    <a:pt x="6264" y="2768"/>
                  </a:lnTo>
                  <a:lnTo>
                    <a:pt x="6255" y="2834"/>
                  </a:lnTo>
                  <a:lnTo>
                    <a:pt x="6244" y="2899"/>
                  </a:lnTo>
                  <a:lnTo>
                    <a:pt x="6232" y="2963"/>
                  </a:lnTo>
                  <a:lnTo>
                    <a:pt x="6217" y="3027"/>
                  </a:lnTo>
                  <a:lnTo>
                    <a:pt x="6201" y="3091"/>
                  </a:lnTo>
                  <a:lnTo>
                    <a:pt x="6182" y="3153"/>
                  </a:lnTo>
                  <a:lnTo>
                    <a:pt x="6163" y="3214"/>
                  </a:lnTo>
                  <a:lnTo>
                    <a:pt x="6142" y="3275"/>
                  </a:lnTo>
                  <a:lnTo>
                    <a:pt x="6119" y="3336"/>
                  </a:lnTo>
                  <a:lnTo>
                    <a:pt x="6094" y="3396"/>
                  </a:lnTo>
                  <a:lnTo>
                    <a:pt x="6067" y="3454"/>
                  </a:lnTo>
                  <a:lnTo>
                    <a:pt x="6040" y="3512"/>
                  </a:lnTo>
                  <a:lnTo>
                    <a:pt x="6010" y="3569"/>
                  </a:lnTo>
                  <a:lnTo>
                    <a:pt x="5978" y="3625"/>
                  </a:lnTo>
                  <a:lnTo>
                    <a:pt x="5946" y="3680"/>
                  </a:lnTo>
                  <a:lnTo>
                    <a:pt x="5912" y="3734"/>
                  </a:lnTo>
                  <a:lnTo>
                    <a:pt x="5876" y="3786"/>
                  </a:lnTo>
                  <a:lnTo>
                    <a:pt x="5839" y="3838"/>
                  </a:lnTo>
                  <a:lnTo>
                    <a:pt x="5799" y="3889"/>
                  </a:lnTo>
                  <a:lnTo>
                    <a:pt x="5759" y="3938"/>
                  </a:lnTo>
                  <a:lnTo>
                    <a:pt x="5718" y="3987"/>
                  </a:lnTo>
                  <a:lnTo>
                    <a:pt x="5673" y="4034"/>
                  </a:lnTo>
                  <a:lnTo>
                    <a:pt x="5629" y="4081"/>
                  </a:lnTo>
                  <a:lnTo>
                    <a:pt x="5582" y="4127"/>
                  </a:lnTo>
                  <a:lnTo>
                    <a:pt x="5534" y="4170"/>
                  </a:lnTo>
                  <a:lnTo>
                    <a:pt x="5484" y="4214"/>
                  </a:lnTo>
                  <a:lnTo>
                    <a:pt x="5433" y="4256"/>
                  </a:lnTo>
                  <a:lnTo>
                    <a:pt x="5404" y="4278"/>
                  </a:lnTo>
                  <a:lnTo>
                    <a:pt x="5374" y="4301"/>
                  </a:lnTo>
                  <a:lnTo>
                    <a:pt x="5345" y="4323"/>
                  </a:lnTo>
                  <a:lnTo>
                    <a:pt x="5315" y="4343"/>
                  </a:lnTo>
                  <a:lnTo>
                    <a:pt x="5283" y="4364"/>
                  </a:lnTo>
                  <a:lnTo>
                    <a:pt x="5253" y="4384"/>
                  </a:lnTo>
                  <a:lnTo>
                    <a:pt x="5222" y="4403"/>
                  </a:lnTo>
                  <a:lnTo>
                    <a:pt x="5189" y="4420"/>
                  </a:lnTo>
                  <a:lnTo>
                    <a:pt x="5157" y="4438"/>
                  </a:lnTo>
                  <a:lnTo>
                    <a:pt x="5125" y="4455"/>
                  </a:lnTo>
                  <a:lnTo>
                    <a:pt x="5091" y="4471"/>
                  </a:lnTo>
                  <a:lnTo>
                    <a:pt x="5058" y="4486"/>
                  </a:lnTo>
                  <a:lnTo>
                    <a:pt x="5024" y="4501"/>
                  </a:lnTo>
                  <a:lnTo>
                    <a:pt x="4989" y="4515"/>
                  </a:lnTo>
                  <a:lnTo>
                    <a:pt x="4955" y="4528"/>
                  </a:lnTo>
                  <a:lnTo>
                    <a:pt x="4920" y="4541"/>
                  </a:lnTo>
                  <a:lnTo>
                    <a:pt x="4884" y="4553"/>
                  </a:lnTo>
                  <a:lnTo>
                    <a:pt x="4849" y="4564"/>
                  </a:lnTo>
                  <a:lnTo>
                    <a:pt x="4813" y="4575"/>
                  </a:lnTo>
                  <a:lnTo>
                    <a:pt x="4777" y="4584"/>
                  </a:lnTo>
                  <a:lnTo>
                    <a:pt x="4741" y="4593"/>
                  </a:lnTo>
                  <a:lnTo>
                    <a:pt x="4704" y="4601"/>
                  </a:lnTo>
                  <a:lnTo>
                    <a:pt x="4668" y="4608"/>
                  </a:lnTo>
                  <a:lnTo>
                    <a:pt x="4632" y="4616"/>
                  </a:lnTo>
                  <a:lnTo>
                    <a:pt x="4594" y="4621"/>
                  </a:lnTo>
                  <a:lnTo>
                    <a:pt x="4558" y="4626"/>
                  </a:lnTo>
                  <a:lnTo>
                    <a:pt x="4521" y="4631"/>
                  </a:lnTo>
                  <a:lnTo>
                    <a:pt x="4483" y="4634"/>
                  </a:lnTo>
                  <a:lnTo>
                    <a:pt x="4446" y="4637"/>
                  </a:lnTo>
                  <a:lnTo>
                    <a:pt x="4409" y="4639"/>
                  </a:lnTo>
                  <a:lnTo>
                    <a:pt x="4370" y="4640"/>
                  </a:lnTo>
                  <a:lnTo>
                    <a:pt x="4333" y="4640"/>
                  </a:lnTo>
                  <a:lnTo>
                    <a:pt x="4289" y="4640"/>
                  </a:lnTo>
                  <a:lnTo>
                    <a:pt x="4247" y="4638"/>
                  </a:lnTo>
                  <a:lnTo>
                    <a:pt x="4206" y="4636"/>
                  </a:lnTo>
                  <a:lnTo>
                    <a:pt x="4167" y="4632"/>
                  </a:lnTo>
                  <a:lnTo>
                    <a:pt x="4129" y="4627"/>
                  </a:lnTo>
                  <a:lnTo>
                    <a:pt x="4091" y="4622"/>
                  </a:lnTo>
                  <a:lnTo>
                    <a:pt x="4056" y="4615"/>
                  </a:lnTo>
                  <a:lnTo>
                    <a:pt x="4022" y="4606"/>
                  </a:lnTo>
                  <a:lnTo>
                    <a:pt x="3989" y="4598"/>
                  </a:lnTo>
                  <a:lnTo>
                    <a:pt x="3958" y="4588"/>
                  </a:lnTo>
                  <a:lnTo>
                    <a:pt x="3928" y="4577"/>
                  </a:lnTo>
                  <a:lnTo>
                    <a:pt x="3898" y="4565"/>
                  </a:lnTo>
                  <a:lnTo>
                    <a:pt x="3871" y="4552"/>
                  </a:lnTo>
                  <a:lnTo>
                    <a:pt x="3845" y="4538"/>
                  </a:lnTo>
                  <a:lnTo>
                    <a:pt x="3821" y="4522"/>
                  </a:lnTo>
                  <a:lnTo>
                    <a:pt x="3797" y="4506"/>
                  </a:lnTo>
                  <a:lnTo>
                    <a:pt x="3774" y="4490"/>
                  </a:lnTo>
                  <a:lnTo>
                    <a:pt x="3754" y="4472"/>
                  </a:lnTo>
                  <a:lnTo>
                    <a:pt x="3734" y="4452"/>
                  </a:lnTo>
                  <a:lnTo>
                    <a:pt x="3716" y="4431"/>
                  </a:lnTo>
                  <a:lnTo>
                    <a:pt x="3698" y="4410"/>
                  </a:lnTo>
                  <a:lnTo>
                    <a:pt x="3682" y="4388"/>
                  </a:lnTo>
                  <a:lnTo>
                    <a:pt x="3668" y="4364"/>
                  </a:lnTo>
                  <a:lnTo>
                    <a:pt x="3655" y="4340"/>
                  </a:lnTo>
                  <a:lnTo>
                    <a:pt x="3643" y="4314"/>
                  </a:lnTo>
                  <a:lnTo>
                    <a:pt x="3633" y="4288"/>
                  </a:lnTo>
                  <a:lnTo>
                    <a:pt x="3624" y="4260"/>
                  </a:lnTo>
                  <a:lnTo>
                    <a:pt x="3616" y="4231"/>
                  </a:lnTo>
                  <a:lnTo>
                    <a:pt x="3608" y="4201"/>
                  </a:lnTo>
                  <a:lnTo>
                    <a:pt x="3603" y="4170"/>
                  </a:lnTo>
                  <a:lnTo>
                    <a:pt x="3599" y="4139"/>
                  </a:lnTo>
                  <a:lnTo>
                    <a:pt x="3596" y="4105"/>
                  </a:lnTo>
                  <a:close/>
                  <a:moveTo>
                    <a:pt x="3720" y="2655"/>
                  </a:moveTo>
                  <a:lnTo>
                    <a:pt x="3716" y="2624"/>
                  </a:lnTo>
                  <a:lnTo>
                    <a:pt x="3711" y="2594"/>
                  </a:lnTo>
                  <a:lnTo>
                    <a:pt x="3704" y="2564"/>
                  </a:lnTo>
                  <a:lnTo>
                    <a:pt x="3698" y="2536"/>
                  </a:lnTo>
                  <a:lnTo>
                    <a:pt x="3690" y="2509"/>
                  </a:lnTo>
                  <a:lnTo>
                    <a:pt x="3682" y="2481"/>
                  </a:lnTo>
                  <a:lnTo>
                    <a:pt x="3673" y="2456"/>
                  </a:lnTo>
                  <a:lnTo>
                    <a:pt x="3663" y="2431"/>
                  </a:lnTo>
                  <a:lnTo>
                    <a:pt x="3653" y="2408"/>
                  </a:lnTo>
                  <a:lnTo>
                    <a:pt x="3641" y="2384"/>
                  </a:lnTo>
                  <a:lnTo>
                    <a:pt x="3629" y="2363"/>
                  </a:lnTo>
                  <a:lnTo>
                    <a:pt x="3615" y="2342"/>
                  </a:lnTo>
                  <a:lnTo>
                    <a:pt x="3600" y="2321"/>
                  </a:lnTo>
                  <a:lnTo>
                    <a:pt x="3586" y="2302"/>
                  </a:lnTo>
                  <a:lnTo>
                    <a:pt x="3570" y="2285"/>
                  </a:lnTo>
                  <a:lnTo>
                    <a:pt x="3553" y="2268"/>
                  </a:lnTo>
                  <a:lnTo>
                    <a:pt x="3536" y="2252"/>
                  </a:lnTo>
                  <a:lnTo>
                    <a:pt x="3518" y="2236"/>
                  </a:lnTo>
                  <a:lnTo>
                    <a:pt x="3498" y="2222"/>
                  </a:lnTo>
                  <a:lnTo>
                    <a:pt x="3479" y="2209"/>
                  </a:lnTo>
                  <a:lnTo>
                    <a:pt x="3459" y="2197"/>
                  </a:lnTo>
                  <a:lnTo>
                    <a:pt x="3438" y="2186"/>
                  </a:lnTo>
                  <a:lnTo>
                    <a:pt x="3416" y="2177"/>
                  </a:lnTo>
                  <a:lnTo>
                    <a:pt x="3393" y="2168"/>
                  </a:lnTo>
                  <a:lnTo>
                    <a:pt x="3370" y="2159"/>
                  </a:lnTo>
                  <a:lnTo>
                    <a:pt x="3346" y="2152"/>
                  </a:lnTo>
                  <a:lnTo>
                    <a:pt x="3322" y="2147"/>
                  </a:lnTo>
                  <a:lnTo>
                    <a:pt x="3295" y="2142"/>
                  </a:lnTo>
                  <a:lnTo>
                    <a:pt x="3270" y="2139"/>
                  </a:lnTo>
                  <a:lnTo>
                    <a:pt x="3243" y="2136"/>
                  </a:lnTo>
                  <a:lnTo>
                    <a:pt x="3216" y="2134"/>
                  </a:lnTo>
                  <a:lnTo>
                    <a:pt x="3187" y="2134"/>
                  </a:lnTo>
                  <a:lnTo>
                    <a:pt x="3166" y="2134"/>
                  </a:lnTo>
                  <a:lnTo>
                    <a:pt x="3144" y="2135"/>
                  </a:lnTo>
                  <a:lnTo>
                    <a:pt x="3123" y="2137"/>
                  </a:lnTo>
                  <a:lnTo>
                    <a:pt x="3102" y="2140"/>
                  </a:lnTo>
                  <a:lnTo>
                    <a:pt x="3081" y="2144"/>
                  </a:lnTo>
                  <a:lnTo>
                    <a:pt x="3061" y="2148"/>
                  </a:lnTo>
                  <a:lnTo>
                    <a:pt x="3041" y="2153"/>
                  </a:lnTo>
                  <a:lnTo>
                    <a:pt x="3020" y="2159"/>
                  </a:lnTo>
                  <a:lnTo>
                    <a:pt x="2999" y="2167"/>
                  </a:lnTo>
                  <a:lnTo>
                    <a:pt x="2980" y="2174"/>
                  </a:lnTo>
                  <a:lnTo>
                    <a:pt x="2960" y="2182"/>
                  </a:lnTo>
                  <a:lnTo>
                    <a:pt x="2941" y="2191"/>
                  </a:lnTo>
                  <a:lnTo>
                    <a:pt x="2921" y="2201"/>
                  </a:lnTo>
                  <a:lnTo>
                    <a:pt x="2901" y="2212"/>
                  </a:lnTo>
                  <a:lnTo>
                    <a:pt x="2882" y="2223"/>
                  </a:lnTo>
                  <a:lnTo>
                    <a:pt x="2864" y="2235"/>
                  </a:lnTo>
                  <a:lnTo>
                    <a:pt x="2845" y="2249"/>
                  </a:lnTo>
                  <a:lnTo>
                    <a:pt x="2826" y="2263"/>
                  </a:lnTo>
                  <a:lnTo>
                    <a:pt x="2807" y="2277"/>
                  </a:lnTo>
                  <a:lnTo>
                    <a:pt x="2789" y="2293"/>
                  </a:lnTo>
                  <a:lnTo>
                    <a:pt x="2771" y="2309"/>
                  </a:lnTo>
                  <a:lnTo>
                    <a:pt x="2753" y="2327"/>
                  </a:lnTo>
                  <a:lnTo>
                    <a:pt x="2735" y="2344"/>
                  </a:lnTo>
                  <a:lnTo>
                    <a:pt x="2718" y="2363"/>
                  </a:lnTo>
                  <a:lnTo>
                    <a:pt x="2700" y="2382"/>
                  </a:lnTo>
                  <a:lnTo>
                    <a:pt x="2682" y="2402"/>
                  </a:lnTo>
                  <a:lnTo>
                    <a:pt x="2665" y="2424"/>
                  </a:lnTo>
                  <a:lnTo>
                    <a:pt x="2649" y="2445"/>
                  </a:lnTo>
                  <a:lnTo>
                    <a:pt x="2632" y="2467"/>
                  </a:lnTo>
                  <a:lnTo>
                    <a:pt x="2615" y="2491"/>
                  </a:lnTo>
                  <a:lnTo>
                    <a:pt x="2598" y="2515"/>
                  </a:lnTo>
                  <a:lnTo>
                    <a:pt x="2582" y="2540"/>
                  </a:lnTo>
                  <a:lnTo>
                    <a:pt x="2566" y="2565"/>
                  </a:lnTo>
                  <a:lnTo>
                    <a:pt x="2550" y="2592"/>
                  </a:lnTo>
                  <a:lnTo>
                    <a:pt x="2535" y="2617"/>
                  </a:lnTo>
                  <a:lnTo>
                    <a:pt x="2521" y="2644"/>
                  </a:lnTo>
                  <a:lnTo>
                    <a:pt x="2506" y="2671"/>
                  </a:lnTo>
                  <a:lnTo>
                    <a:pt x="2493" y="2698"/>
                  </a:lnTo>
                  <a:lnTo>
                    <a:pt x="2480" y="2725"/>
                  </a:lnTo>
                  <a:lnTo>
                    <a:pt x="2467" y="2753"/>
                  </a:lnTo>
                  <a:lnTo>
                    <a:pt x="2456" y="2780"/>
                  </a:lnTo>
                  <a:lnTo>
                    <a:pt x="2444" y="2808"/>
                  </a:lnTo>
                  <a:lnTo>
                    <a:pt x="2433" y="2837"/>
                  </a:lnTo>
                  <a:lnTo>
                    <a:pt x="2423" y="2865"/>
                  </a:lnTo>
                  <a:lnTo>
                    <a:pt x="2412" y="2894"/>
                  </a:lnTo>
                  <a:lnTo>
                    <a:pt x="2403" y="2924"/>
                  </a:lnTo>
                  <a:lnTo>
                    <a:pt x="2394" y="2953"/>
                  </a:lnTo>
                  <a:lnTo>
                    <a:pt x="2386" y="2983"/>
                  </a:lnTo>
                  <a:lnTo>
                    <a:pt x="2378" y="3013"/>
                  </a:lnTo>
                  <a:lnTo>
                    <a:pt x="2370" y="3043"/>
                  </a:lnTo>
                  <a:lnTo>
                    <a:pt x="2363" y="3074"/>
                  </a:lnTo>
                  <a:lnTo>
                    <a:pt x="2357" y="3105"/>
                  </a:lnTo>
                  <a:lnTo>
                    <a:pt x="2351" y="3136"/>
                  </a:lnTo>
                  <a:lnTo>
                    <a:pt x="2346" y="3168"/>
                  </a:lnTo>
                  <a:lnTo>
                    <a:pt x="2341" y="3199"/>
                  </a:lnTo>
                  <a:lnTo>
                    <a:pt x="2337" y="3232"/>
                  </a:lnTo>
                  <a:lnTo>
                    <a:pt x="2333" y="3264"/>
                  </a:lnTo>
                  <a:lnTo>
                    <a:pt x="2330" y="3296"/>
                  </a:lnTo>
                  <a:lnTo>
                    <a:pt x="2327" y="3329"/>
                  </a:lnTo>
                  <a:lnTo>
                    <a:pt x="2325" y="3362"/>
                  </a:lnTo>
                  <a:lnTo>
                    <a:pt x="2323" y="3396"/>
                  </a:lnTo>
                  <a:lnTo>
                    <a:pt x="2322" y="3429"/>
                  </a:lnTo>
                  <a:lnTo>
                    <a:pt x="2321" y="3463"/>
                  </a:lnTo>
                  <a:lnTo>
                    <a:pt x="2321" y="3498"/>
                  </a:lnTo>
                  <a:lnTo>
                    <a:pt x="2321" y="3532"/>
                  </a:lnTo>
                  <a:lnTo>
                    <a:pt x="2322" y="3565"/>
                  </a:lnTo>
                  <a:lnTo>
                    <a:pt x="2325" y="3597"/>
                  </a:lnTo>
                  <a:lnTo>
                    <a:pt x="2328" y="3628"/>
                  </a:lnTo>
                  <a:lnTo>
                    <a:pt x="2332" y="3659"/>
                  </a:lnTo>
                  <a:lnTo>
                    <a:pt x="2337" y="3688"/>
                  </a:lnTo>
                  <a:lnTo>
                    <a:pt x="2343" y="3717"/>
                  </a:lnTo>
                  <a:lnTo>
                    <a:pt x="2350" y="3744"/>
                  </a:lnTo>
                  <a:lnTo>
                    <a:pt x="2357" y="3770"/>
                  </a:lnTo>
                  <a:lnTo>
                    <a:pt x="2366" y="3795"/>
                  </a:lnTo>
                  <a:lnTo>
                    <a:pt x="2375" y="3820"/>
                  </a:lnTo>
                  <a:lnTo>
                    <a:pt x="2386" y="3843"/>
                  </a:lnTo>
                  <a:lnTo>
                    <a:pt x="2397" y="3866"/>
                  </a:lnTo>
                  <a:lnTo>
                    <a:pt x="2409" y="3888"/>
                  </a:lnTo>
                  <a:lnTo>
                    <a:pt x="2424" y="3908"/>
                  </a:lnTo>
                  <a:lnTo>
                    <a:pt x="2438" y="3927"/>
                  </a:lnTo>
                  <a:lnTo>
                    <a:pt x="2452" y="3946"/>
                  </a:lnTo>
                  <a:lnTo>
                    <a:pt x="2468" y="3964"/>
                  </a:lnTo>
                  <a:lnTo>
                    <a:pt x="2484" y="3979"/>
                  </a:lnTo>
                  <a:lnTo>
                    <a:pt x="2501" y="3994"/>
                  </a:lnTo>
                  <a:lnTo>
                    <a:pt x="2520" y="4008"/>
                  </a:lnTo>
                  <a:lnTo>
                    <a:pt x="2538" y="4020"/>
                  </a:lnTo>
                  <a:lnTo>
                    <a:pt x="2557" y="4031"/>
                  </a:lnTo>
                  <a:lnTo>
                    <a:pt x="2577" y="4042"/>
                  </a:lnTo>
                  <a:lnTo>
                    <a:pt x="2598" y="4051"/>
                  </a:lnTo>
                  <a:lnTo>
                    <a:pt x="2620" y="4058"/>
                  </a:lnTo>
                  <a:lnTo>
                    <a:pt x="2642" y="4065"/>
                  </a:lnTo>
                  <a:lnTo>
                    <a:pt x="2665" y="4070"/>
                  </a:lnTo>
                  <a:lnTo>
                    <a:pt x="2688" y="4074"/>
                  </a:lnTo>
                  <a:lnTo>
                    <a:pt x="2712" y="4077"/>
                  </a:lnTo>
                  <a:lnTo>
                    <a:pt x="2738" y="4079"/>
                  </a:lnTo>
                  <a:lnTo>
                    <a:pt x="2764" y="4079"/>
                  </a:lnTo>
                  <a:lnTo>
                    <a:pt x="2798" y="4078"/>
                  </a:lnTo>
                  <a:lnTo>
                    <a:pt x="2833" y="4076"/>
                  </a:lnTo>
                  <a:lnTo>
                    <a:pt x="2866" y="4072"/>
                  </a:lnTo>
                  <a:lnTo>
                    <a:pt x="2899" y="4067"/>
                  </a:lnTo>
                  <a:lnTo>
                    <a:pt x="2932" y="4060"/>
                  </a:lnTo>
                  <a:lnTo>
                    <a:pt x="2964" y="4052"/>
                  </a:lnTo>
                  <a:lnTo>
                    <a:pt x="2995" y="4042"/>
                  </a:lnTo>
                  <a:lnTo>
                    <a:pt x="3027" y="4029"/>
                  </a:lnTo>
                  <a:lnTo>
                    <a:pt x="3057" y="4016"/>
                  </a:lnTo>
                  <a:lnTo>
                    <a:pt x="3087" y="4002"/>
                  </a:lnTo>
                  <a:lnTo>
                    <a:pt x="3117" y="3986"/>
                  </a:lnTo>
                  <a:lnTo>
                    <a:pt x="3146" y="3968"/>
                  </a:lnTo>
                  <a:lnTo>
                    <a:pt x="3174" y="3948"/>
                  </a:lnTo>
                  <a:lnTo>
                    <a:pt x="3202" y="3928"/>
                  </a:lnTo>
                  <a:lnTo>
                    <a:pt x="3230" y="3906"/>
                  </a:lnTo>
                  <a:lnTo>
                    <a:pt x="3257" y="3882"/>
                  </a:lnTo>
                  <a:lnTo>
                    <a:pt x="3282" y="3857"/>
                  </a:lnTo>
                  <a:lnTo>
                    <a:pt x="3307" y="3831"/>
                  </a:lnTo>
                  <a:lnTo>
                    <a:pt x="3332" y="3804"/>
                  </a:lnTo>
                  <a:lnTo>
                    <a:pt x="3355" y="3775"/>
                  </a:lnTo>
                  <a:lnTo>
                    <a:pt x="3377" y="3746"/>
                  </a:lnTo>
                  <a:lnTo>
                    <a:pt x="3397" y="3716"/>
                  </a:lnTo>
                  <a:lnTo>
                    <a:pt x="3418" y="3684"/>
                  </a:lnTo>
                  <a:lnTo>
                    <a:pt x="3437" y="3652"/>
                  </a:lnTo>
                  <a:lnTo>
                    <a:pt x="3454" y="3617"/>
                  </a:lnTo>
                  <a:lnTo>
                    <a:pt x="3471" y="3583"/>
                  </a:lnTo>
                  <a:lnTo>
                    <a:pt x="3486" y="3547"/>
                  </a:lnTo>
                  <a:lnTo>
                    <a:pt x="3501" y="3511"/>
                  </a:lnTo>
                  <a:lnTo>
                    <a:pt x="3516" y="3474"/>
                  </a:lnTo>
                  <a:lnTo>
                    <a:pt x="3528" y="3434"/>
                  </a:lnTo>
                  <a:lnTo>
                    <a:pt x="3540" y="3395"/>
                  </a:lnTo>
                  <a:lnTo>
                    <a:pt x="3550" y="3354"/>
                  </a:lnTo>
                  <a:lnTo>
                    <a:pt x="3720" y="2655"/>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50" name="Freeform 61"/>
            <p:cNvSpPr>
              <a:spLocks noEditPoints="1"/>
            </p:cNvSpPr>
            <p:nvPr/>
          </p:nvSpPr>
          <p:spPr bwMode="auto">
            <a:xfrm>
              <a:off x="3147" y="1369"/>
              <a:ext cx="242" cy="232"/>
            </a:xfrm>
            <a:custGeom>
              <a:avLst/>
              <a:gdLst>
                <a:gd name="T0" fmla="*/ 121 w 6285"/>
                <a:gd name="T1" fmla="*/ 174 h 6039"/>
                <a:gd name="T2" fmla="*/ 97 w 6285"/>
                <a:gd name="T3" fmla="*/ 178 h 6039"/>
                <a:gd name="T4" fmla="*/ 78 w 6285"/>
                <a:gd name="T5" fmla="*/ 173 h 6039"/>
                <a:gd name="T6" fmla="*/ 65 w 6285"/>
                <a:gd name="T7" fmla="*/ 161 h 6039"/>
                <a:gd name="T8" fmla="*/ 59 w 6285"/>
                <a:gd name="T9" fmla="*/ 143 h 6039"/>
                <a:gd name="T10" fmla="*/ 60 w 6285"/>
                <a:gd name="T11" fmla="*/ 114 h 6039"/>
                <a:gd name="T12" fmla="*/ 73 w 6285"/>
                <a:gd name="T13" fmla="*/ 86 h 6039"/>
                <a:gd name="T14" fmla="*/ 95 w 6285"/>
                <a:gd name="T15" fmla="*/ 67 h 6039"/>
                <a:gd name="T16" fmla="*/ 122 w 6285"/>
                <a:gd name="T17" fmla="*/ 61 h 6039"/>
                <a:gd name="T18" fmla="*/ 141 w 6285"/>
                <a:gd name="T19" fmla="*/ 66 h 6039"/>
                <a:gd name="T20" fmla="*/ 164 w 6285"/>
                <a:gd name="T21" fmla="*/ 144 h 6039"/>
                <a:gd name="T22" fmla="*/ 166 w 6285"/>
                <a:gd name="T23" fmla="*/ 153 h 6039"/>
                <a:gd name="T24" fmla="*/ 178 w 6285"/>
                <a:gd name="T25" fmla="*/ 154 h 6039"/>
                <a:gd name="T26" fmla="*/ 195 w 6285"/>
                <a:gd name="T27" fmla="*/ 145 h 6039"/>
                <a:gd name="T28" fmla="*/ 209 w 6285"/>
                <a:gd name="T29" fmla="*/ 125 h 6039"/>
                <a:gd name="T30" fmla="*/ 216 w 6285"/>
                <a:gd name="T31" fmla="*/ 100 h 6039"/>
                <a:gd name="T32" fmla="*/ 211 w 6285"/>
                <a:gd name="T33" fmla="*/ 69 h 6039"/>
                <a:gd name="T34" fmla="*/ 193 w 6285"/>
                <a:gd name="T35" fmla="*/ 43 h 6039"/>
                <a:gd name="T36" fmla="*/ 162 w 6285"/>
                <a:gd name="T37" fmla="*/ 28 h 6039"/>
                <a:gd name="T38" fmla="*/ 123 w 6285"/>
                <a:gd name="T39" fmla="*/ 24 h 6039"/>
                <a:gd name="T40" fmla="*/ 86 w 6285"/>
                <a:gd name="T41" fmla="*/ 33 h 6039"/>
                <a:gd name="T42" fmla="*/ 59 w 6285"/>
                <a:gd name="T43" fmla="*/ 50 h 6039"/>
                <a:gd name="T44" fmla="*/ 42 w 6285"/>
                <a:gd name="T45" fmla="*/ 70 h 6039"/>
                <a:gd name="T46" fmla="*/ 31 w 6285"/>
                <a:gd name="T47" fmla="*/ 94 h 6039"/>
                <a:gd name="T48" fmla="*/ 27 w 6285"/>
                <a:gd name="T49" fmla="*/ 121 h 6039"/>
                <a:gd name="T50" fmla="*/ 33 w 6285"/>
                <a:gd name="T51" fmla="*/ 159 h 6039"/>
                <a:gd name="T52" fmla="*/ 56 w 6285"/>
                <a:gd name="T53" fmla="*/ 188 h 6039"/>
                <a:gd name="T54" fmla="*/ 92 w 6285"/>
                <a:gd name="T55" fmla="*/ 205 h 6039"/>
                <a:gd name="T56" fmla="*/ 138 w 6285"/>
                <a:gd name="T57" fmla="*/ 208 h 6039"/>
                <a:gd name="T58" fmla="*/ 182 w 6285"/>
                <a:gd name="T59" fmla="*/ 195 h 6039"/>
                <a:gd name="T60" fmla="*/ 188 w 6285"/>
                <a:gd name="T61" fmla="*/ 217 h 6039"/>
                <a:gd name="T62" fmla="*/ 137 w 6285"/>
                <a:gd name="T63" fmla="*/ 231 h 6039"/>
                <a:gd name="T64" fmla="*/ 85 w 6285"/>
                <a:gd name="T65" fmla="*/ 228 h 6039"/>
                <a:gd name="T66" fmla="*/ 42 w 6285"/>
                <a:gd name="T67" fmla="*/ 209 h 6039"/>
                <a:gd name="T68" fmla="*/ 21 w 6285"/>
                <a:gd name="T69" fmla="*/ 189 h 6039"/>
                <a:gd name="T70" fmla="*/ 8 w 6285"/>
                <a:gd name="T71" fmla="*/ 167 h 6039"/>
                <a:gd name="T72" fmla="*/ 1 w 6285"/>
                <a:gd name="T73" fmla="*/ 142 h 6039"/>
                <a:gd name="T74" fmla="*/ 1 w 6285"/>
                <a:gd name="T75" fmla="*/ 106 h 6039"/>
                <a:gd name="T76" fmla="*/ 16 w 6285"/>
                <a:gd name="T77" fmla="*/ 63 h 6039"/>
                <a:gd name="T78" fmla="*/ 41 w 6285"/>
                <a:gd name="T79" fmla="*/ 33 h 6039"/>
                <a:gd name="T80" fmla="*/ 68 w 6285"/>
                <a:gd name="T81" fmla="*/ 15 h 6039"/>
                <a:gd name="T82" fmla="*/ 100 w 6285"/>
                <a:gd name="T83" fmla="*/ 3 h 6039"/>
                <a:gd name="T84" fmla="*/ 136 w 6285"/>
                <a:gd name="T85" fmla="*/ 0 h 6039"/>
                <a:gd name="T86" fmla="*/ 181 w 6285"/>
                <a:gd name="T87" fmla="*/ 8 h 6039"/>
                <a:gd name="T88" fmla="*/ 217 w 6285"/>
                <a:gd name="T89" fmla="*/ 32 h 6039"/>
                <a:gd name="T90" fmla="*/ 239 w 6285"/>
                <a:gd name="T91" fmla="*/ 70 h 6039"/>
                <a:gd name="T92" fmla="*/ 239 w 6285"/>
                <a:gd name="T93" fmla="*/ 116 h 6039"/>
                <a:gd name="T94" fmla="*/ 218 w 6285"/>
                <a:gd name="T95" fmla="*/ 155 h 6039"/>
                <a:gd name="T96" fmla="*/ 193 w 6285"/>
                <a:gd name="T97" fmla="*/ 173 h 6039"/>
                <a:gd name="T98" fmla="*/ 168 w 6285"/>
                <a:gd name="T99" fmla="*/ 178 h 6039"/>
                <a:gd name="T100" fmla="*/ 145 w 6285"/>
                <a:gd name="T101" fmla="*/ 172 h 6039"/>
                <a:gd name="T102" fmla="*/ 143 w 6285"/>
                <a:gd name="T103" fmla="*/ 100 h 6039"/>
                <a:gd name="T104" fmla="*/ 134 w 6285"/>
                <a:gd name="T105" fmla="*/ 85 h 6039"/>
                <a:gd name="T106" fmla="*/ 118 w 6285"/>
                <a:gd name="T107" fmla="*/ 83 h 6039"/>
                <a:gd name="T108" fmla="*/ 105 w 6285"/>
                <a:gd name="T109" fmla="*/ 91 h 6039"/>
                <a:gd name="T110" fmla="*/ 94 w 6285"/>
                <a:gd name="T111" fmla="*/ 108 h 6039"/>
                <a:gd name="T112" fmla="*/ 89 w 6285"/>
                <a:gd name="T113" fmla="*/ 129 h 6039"/>
                <a:gd name="T114" fmla="*/ 93 w 6285"/>
                <a:gd name="T115" fmla="*/ 149 h 6039"/>
                <a:gd name="T116" fmla="*/ 106 w 6285"/>
                <a:gd name="T117" fmla="*/ 157 h 6039"/>
                <a:gd name="T118" fmla="*/ 127 w 6285"/>
                <a:gd name="T119" fmla="*/ 147 h 6039"/>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0" t="0" r="r" b="b"/>
              <a:pathLst>
                <a:path w="6285" h="6039">
                  <a:moveTo>
                    <a:pt x="3596" y="4105"/>
                  </a:moveTo>
                  <a:lnTo>
                    <a:pt x="3572" y="4139"/>
                  </a:lnTo>
                  <a:lnTo>
                    <a:pt x="3548" y="4172"/>
                  </a:lnTo>
                  <a:lnTo>
                    <a:pt x="3524" y="4204"/>
                  </a:lnTo>
                  <a:lnTo>
                    <a:pt x="3499" y="4233"/>
                  </a:lnTo>
                  <a:lnTo>
                    <a:pt x="3474" y="4262"/>
                  </a:lnTo>
                  <a:lnTo>
                    <a:pt x="3449" y="4291"/>
                  </a:lnTo>
                  <a:lnTo>
                    <a:pt x="3423" y="4317"/>
                  </a:lnTo>
                  <a:lnTo>
                    <a:pt x="3397" y="4343"/>
                  </a:lnTo>
                  <a:lnTo>
                    <a:pt x="3370" y="4368"/>
                  </a:lnTo>
                  <a:lnTo>
                    <a:pt x="3344" y="4391"/>
                  </a:lnTo>
                  <a:lnTo>
                    <a:pt x="3316" y="4413"/>
                  </a:lnTo>
                  <a:lnTo>
                    <a:pt x="3288" y="4435"/>
                  </a:lnTo>
                  <a:lnTo>
                    <a:pt x="3260" y="4455"/>
                  </a:lnTo>
                  <a:lnTo>
                    <a:pt x="3232" y="4473"/>
                  </a:lnTo>
                  <a:lnTo>
                    <a:pt x="3203" y="4490"/>
                  </a:lnTo>
                  <a:lnTo>
                    <a:pt x="3174" y="4507"/>
                  </a:lnTo>
                  <a:lnTo>
                    <a:pt x="3144" y="4523"/>
                  </a:lnTo>
                  <a:lnTo>
                    <a:pt x="3114" y="4537"/>
                  </a:lnTo>
                  <a:lnTo>
                    <a:pt x="3083" y="4550"/>
                  </a:lnTo>
                  <a:lnTo>
                    <a:pt x="3051" y="4562"/>
                  </a:lnTo>
                  <a:lnTo>
                    <a:pt x="3019" y="4574"/>
                  </a:lnTo>
                  <a:lnTo>
                    <a:pt x="2985" y="4584"/>
                  </a:lnTo>
                  <a:lnTo>
                    <a:pt x="2951" y="4593"/>
                  </a:lnTo>
                  <a:lnTo>
                    <a:pt x="2917" y="4602"/>
                  </a:lnTo>
                  <a:lnTo>
                    <a:pt x="2881" y="4610"/>
                  </a:lnTo>
                  <a:lnTo>
                    <a:pt x="2845" y="4616"/>
                  </a:lnTo>
                  <a:lnTo>
                    <a:pt x="2808" y="4622"/>
                  </a:lnTo>
                  <a:lnTo>
                    <a:pt x="2770" y="4626"/>
                  </a:lnTo>
                  <a:lnTo>
                    <a:pt x="2732" y="4629"/>
                  </a:lnTo>
                  <a:lnTo>
                    <a:pt x="2693" y="4632"/>
                  </a:lnTo>
                  <a:lnTo>
                    <a:pt x="2653" y="4633"/>
                  </a:lnTo>
                  <a:lnTo>
                    <a:pt x="2614" y="4634"/>
                  </a:lnTo>
                  <a:lnTo>
                    <a:pt x="2579" y="4633"/>
                  </a:lnTo>
                  <a:lnTo>
                    <a:pt x="2546" y="4633"/>
                  </a:lnTo>
                  <a:lnTo>
                    <a:pt x="2514" y="4631"/>
                  </a:lnTo>
                  <a:lnTo>
                    <a:pt x="2481" y="4629"/>
                  </a:lnTo>
                  <a:lnTo>
                    <a:pt x="2449" y="4627"/>
                  </a:lnTo>
                  <a:lnTo>
                    <a:pt x="2419" y="4624"/>
                  </a:lnTo>
                  <a:lnTo>
                    <a:pt x="2387" y="4620"/>
                  </a:lnTo>
                  <a:lnTo>
                    <a:pt x="2358" y="4616"/>
                  </a:lnTo>
                  <a:lnTo>
                    <a:pt x="2328" y="4611"/>
                  </a:lnTo>
                  <a:lnTo>
                    <a:pt x="2298" y="4606"/>
                  </a:lnTo>
                  <a:lnTo>
                    <a:pt x="2270" y="4600"/>
                  </a:lnTo>
                  <a:lnTo>
                    <a:pt x="2242" y="4592"/>
                  </a:lnTo>
                  <a:lnTo>
                    <a:pt x="2215" y="4585"/>
                  </a:lnTo>
                  <a:lnTo>
                    <a:pt x="2187" y="4578"/>
                  </a:lnTo>
                  <a:lnTo>
                    <a:pt x="2161" y="4569"/>
                  </a:lnTo>
                  <a:lnTo>
                    <a:pt x="2135" y="4561"/>
                  </a:lnTo>
                  <a:lnTo>
                    <a:pt x="2109" y="4552"/>
                  </a:lnTo>
                  <a:lnTo>
                    <a:pt x="2084" y="4542"/>
                  </a:lnTo>
                  <a:lnTo>
                    <a:pt x="2060" y="4531"/>
                  </a:lnTo>
                  <a:lnTo>
                    <a:pt x="2037" y="4520"/>
                  </a:lnTo>
                  <a:lnTo>
                    <a:pt x="2013" y="4508"/>
                  </a:lnTo>
                  <a:lnTo>
                    <a:pt x="1990" y="4496"/>
                  </a:lnTo>
                  <a:lnTo>
                    <a:pt x="1968" y="4483"/>
                  </a:lnTo>
                  <a:lnTo>
                    <a:pt x="1946" y="4470"/>
                  </a:lnTo>
                  <a:lnTo>
                    <a:pt x="1925" y="4456"/>
                  </a:lnTo>
                  <a:lnTo>
                    <a:pt x="1903" y="4442"/>
                  </a:lnTo>
                  <a:lnTo>
                    <a:pt x="1883" y="4426"/>
                  </a:lnTo>
                  <a:lnTo>
                    <a:pt x="1863" y="4410"/>
                  </a:lnTo>
                  <a:lnTo>
                    <a:pt x="1844" y="4394"/>
                  </a:lnTo>
                  <a:lnTo>
                    <a:pt x="1826" y="4377"/>
                  </a:lnTo>
                  <a:lnTo>
                    <a:pt x="1807" y="4360"/>
                  </a:lnTo>
                  <a:lnTo>
                    <a:pt x="1789" y="4341"/>
                  </a:lnTo>
                  <a:lnTo>
                    <a:pt x="1772" y="4323"/>
                  </a:lnTo>
                  <a:lnTo>
                    <a:pt x="1756" y="4304"/>
                  </a:lnTo>
                  <a:lnTo>
                    <a:pt x="1740" y="4285"/>
                  </a:lnTo>
                  <a:lnTo>
                    <a:pt x="1724" y="4264"/>
                  </a:lnTo>
                  <a:lnTo>
                    <a:pt x="1708" y="4244"/>
                  </a:lnTo>
                  <a:lnTo>
                    <a:pt x="1694" y="4222"/>
                  </a:lnTo>
                  <a:lnTo>
                    <a:pt x="1680" y="4201"/>
                  </a:lnTo>
                  <a:lnTo>
                    <a:pt x="1667" y="4178"/>
                  </a:lnTo>
                  <a:lnTo>
                    <a:pt x="1654" y="4155"/>
                  </a:lnTo>
                  <a:lnTo>
                    <a:pt x="1642" y="4132"/>
                  </a:lnTo>
                  <a:lnTo>
                    <a:pt x="1630" y="4109"/>
                  </a:lnTo>
                  <a:lnTo>
                    <a:pt x="1619" y="4083"/>
                  </a:lnTo>
                  <a:lnTo>
                    <a:pt x="1608" y="4059"/>
                  </a:lnTo>
                  <a:lnTo>
                    <a:pt x="1598" y="4033"/>
                  </a:lnTo>
                  <a:lnTo>
                    <a:pt x="1588" y="4007"/>
                  </a:lnTo>
                  <a:lnTo>
                    <a:pt x="1579" y="3980"/>
                  </a:lnTo>
                  <a:lnTo>
                    <a:pt x="1571" y="3953"/>
                  </a:lnTo>
                  <a:lnTo>
                    <a:pt x="1563" y="3925"/>
                  </a:lnTo>
                  <a:lnTo>
                    <a:pt x="1556" y="3897"/>
                  </a:lnTo>
                  <a:lnTo>
                    <a:pt x="1549" y="3869"/>
                  </a:lnTo>
                  <a:lnTo>
                    <a:pt x="1543" y="3839"/>
                  </a:lnTo>
                  <a:lnTo>
                    <a:pt x="1537" y="3809"/>
                  </a:lnTo>
                  <a:lnTo>
                    <a:pt x="1532" y="3778"/>
                  </a:lnTo>
                  <a:lnTo>
                    <a:pt x="1527" y="3748"/>
                  </a:lnTo>
                  <a:lnTo>
                    <a:pt x="1523" y="3717"/>
                  </a:lnTo>
                  <a:lnTo>
                    <a:pt x="1520" y="3684"/>
                  </a:lnTo>
                  <a:lnTo>
                    <a:pt x="1517" y="3652"/>
                  </a:lnTo>
                  <a:lnTo>
                    <a:pt x="1514" y="3619"/>
                  </a:lnTo>
                  <a:lnTo>
                    <a:pt x="1513" y="3585"/>
                  </a:lnTo>
                  <a:lnTo>
                    <a:pt x="1510" y="3551"/>
                  </a:lnTo>
                  <a:lnTo>
                    <a:pt x="1509" y="3516"/>
                  </a:lnTo>
                  <a:lnTo>
                    <a:pt x="1509" y="3481"/>
                  </a:lnTo>
                  <a:lnTo>
                    <a:pt x="1510" y="3431"/>
                  </a:lnTo>
                  <a:lnTo>
                    <a:pt x="1511" y="3382"/>
                  </a:lnTo>
                  <a:lnTo>
                    <a:pt x="1514" y="3332"/>
                  </a:lnTo>
                  <a:lnTo>
                    <a:pt x="1517" y="3283"/>
                  </a:lnTo>
                  <a:lnTo>
                    <a:pt x="1521" y="3236"/>
                  </a:lnTo>
                  <a:lnTo>
                    <a:pt x="1526" y="3188"/>
                  </a:lnTo>
                  <a:lnTo>
                    <a:pt x="1532" y="3141"/>
                  </a:lnTo>
                  <a:lnTo>
                    <a:pt x="1539" y="3094"/>
                  </a:lnTo>
                  <a:lnTo>
                    <a:pt x="1547" y="3049"/>
                  </a:lnTo>
                  <a:lnTo>
                    <a:pt x="1556" y="3003"/>
                  </a:lnTo>
                  <a:lnTo>
                    <a:pt x="1565" y="2958"/>
                  </a:lnTo>
                  <a:lnTo>
                    <a:pt x="1576" y="2914"/>
                  </a:lnTo>
                  <a:lnTo>
                    <a:pt x="1587" y="2870"/>
                  </a:lnTo>
                  <a:lnTo>
                    <a:pt x="1599" y="2827"/>
                  </a:lnTo>
                  <a:lnTo>
                    <a:pt x="1613" y="2783"/>
                  </a:lnTo>
                  <a:lnTo>
                    <a:pt x="1628" y="2741"/>
                  </a:lnTo>
                  <a:lnTo>
                    <a:pt x="1643" y="2699"/>
                  </a:lnTo>
                  <a:lnTo>
                    <a:pt x="1659" y="2658"/>
                  </a:lnTo>
                  <a:lnTo>
                    <a:pt x="1675" y="2617"/>
                  </a:lnTo>
                  <a:lnTo>
                    <a:pt x="1693" y="2577"/>
                  </a:lnTo>
                  <a:lnTo>
                    <a:pt x="1713" y="2537"/>
                  </a:lnTo>
                  <a:lnTo>
                    <a:pt x="1732" y="2498"/>
                  </a:lnTo>
                  <a:lnTo>
                    <a:pt x="1753" y="2458"/>
                  </a:lnTo>
                  <a:lnTo>
                    <a:pt x="1774" y="2420"/>
                  </a:lnTo>
                  <a:lnTo>
                    <a:pt x="1797" y="2382"/>
                  </a:lnTo>
                  <a:lnTo>
                    <a:pt x="1821" y="2345"/>
                  </a:lnTo>
                  <a:lnTo>
                    <a:pt x="1845" y="2309"/>
                  </a:lnTo>
                  <a:lnTo>
                    <a:pt x="1870" y="2272"/>
                  </a:lnTo>
                  <a:lnTo>
                    <a:pt x="1896" y="2237"/>
                  </a:lnTo>
                  <a:lnTo>
                    <a:pt x="1924" y="2201"/>
                  </a:lnTo>
                  <a:lnTo>
                    <a:pt x="1952" y="2167"/>
                  </a:lnTo>
                  <a:lnTo>
                    <a:pt x="1980" y="2132"/>
                  </a:lnTo>
                  <a:lnTo>
                    <a:pt x="2011" y="2099"/>
                  </a:lnTo>
                  <a:lnTo>
                    <a:pt x="2041" y="2067"/>
                  </a:lnTo>
                  <a:lnTo>
                    <a:pt x="2071" y="2035"/>
                  </a:lnTo>
                  <a:lnTo>
                    <a:pt x="2102" y="2005"/>
                  </a:lnTo>
                  <a:lnTo>
                    <a:pt x="2134" y="1975"/>
                  </a:lnTo>
                  <a:lnTo>
                    <a:pt x="2165" y="1947"/>
                  </a:lnTo>
                  <a:lnTo>
                    <a:pt x="2197" y="1920"/>
                  </a:lnTo>
                  <a:lnTo>
                    <a:pt x="2231" y="1893"/>
                  </a:lnTo>
                  <a:lnTo>
                    <a:pt x="2264" y="1868"/>
                  </a:lnTo>
                  <a:lnTo>
                    <a:pt x="2297" y="1845"/>
                  </a:lnTo>
                  <a:lnTo>
                    <a:pt x="2332" y="1822"/>
                  </a:lnTo>
                  <a:lnTo>
                    <a:pt x="2366" y="1800"/>
                  </a:lnTo>
                  <a:lnTo>
                    <a:pt x="2400" y="1779"/>
                  </a:lnTo>
                  <a:lnTo>
                    <a:pt x="2436" y="1760"/>
                  </a:lnTo>
                  <a:lnTo>
                    <a:pt x="2472" y="1741"/>
                  </a:lnTo>
                  <a:lnTo>
                    <a:pt x="2509" y="1723"/>
                  </a:lnTo>
                  <a:lnTo>
                    <a:pt x="2545" y="1707"/>
                  </a:lnTo>
                  <a:lnTo>
                    <a:pt x="2581" y="1691"/>
                  </a:lnTo>
                  <a:lnTo>
                    <a:pt x="2619" y="1677"/>
                  </a:lnTo>
                  <a:lnTo>
                    <a:pt x="2657" y="1664"/>
                  </a:lnTo>
                  <a:lnTo>
                    <a:pt x="2695" y="1651"/>
                  </a:lnTo>
                  <a:lnTo>
                    <a:pt x="2734" y="1640"/>
                  </a:lnTo>
                  <a:lnTo>
                    <a:pt x="2773" y="1630"/>
                  </a:lnTo>
                  <a:lnTo>
                    <a:pt x="2813" y="1621"/>
                  </a:lnTo>
                  <a:lnTo>
                    <a:pt x="2853" y="1613"/>
                  </a:lnTo>
                  <a:lnTo>
                    <a:pt x="2893" y="1606"/>
                  </a:lnTo>
                  <a:lnTo>
                    <a:pt x="2935" y="1601"/>
                  </a:lnTo>
                  <a:lnTo>
                    <a:pt x="2976" y="1596"/>
                  </a:lnTo>
                  <a:lnTo>
                    <a:pt x="3018" y="1592"/>
                  </a:lnTo>
                  <a:lnTo>
                    <a:pt x="3060" y="1590"/>
                  </a:lnTo>
                  <a:lnTo>
                    <a:pt x="3102" y="1588"/>
                  </a:lnTo>
                  <a:lnTo>
                    <a:pt x="3146" y="1587"/>
                  </a:lnTo>
                  <a:lnTo>
                    <a:pt x="3177" y="1588"/>
                  </a:lnTo>
                  <a:lnTo>
                    <a:pt x="3209" y="1589"/>
                  </a:lnTo>
                  <a:lnTo>
                    <a:pt x="3240" y="1591"/>
                  </a:lnTo>
                  <a:lnTo>
                    <a:pt x="3270" y="1594"/>
                  </a:lnTo>
                  <a:lnTo>
                    <a:pt x="3299" y="1597"/>
                  </a:lnTo>
                  <a:lnTo>
                    <a:pt x="3329" y="1602"/>
                  </a:lnTo>
                  <a:lnTo>
                    <a:pt x="3358" y="1607"/>
                  </a:lnTo>
                  <a:lnTo>
                    <a:pt x="3386" y="1613"/>
                  </a:lnTo>
                  <a:lnTo>
                    <a:pt x="3414" y="1619"/>
                  </a:lnTo>
                  <a:lnTo>
                    <a:pt x="3441" y="1627"/>
                  </a:lnTo>
                  <a:lnTo>
                    <a:pt x="3467" y="1635"/>
                  </a:lnTo>
                  <a:lnTo>
                    <a:pt x="3493" y="1644"/>
                  </a:lnTo>
                  <a:lnTo>
                    <a:pt x="3519" y="1655"/>
                  </a:lnTo>
                  <a:lnTo>
                    <a:pt x="3544" y="1665"/>
                  </a:lnTo>
                  <a:lnTo>
                    <a:pt x="3568" y="1677"/>
                  </a:lnTo>
                  <a:lnTo>
                    <a:pt x="3592" y="1689"/>
                  </a:lnTo>
                  <a:lnTo>
                    <a:pt x="3616" y="1702"/>
                  </a:lnTo>
                  <a:lnTo>
                    <a:pt x="3639" y="1716"/>
                  </a:lnTo>
                  <a:lnTo>
                    <a:pt x="3661" y="1730"/>
                  </a:lnTo>
                  <a:lnTo>
                    <a:pt x="3683" y="1747"/>
                  </a:lnTo>
                  <a:lnTo>
                    <a:pt x="3705" y="1763"/>
                  </a:lnTo>
                  <a:lnTo>
                    <a:pt x="3726" y="1780"/>
                  </a:lnTo>
                  <a:lnTo>
                    <a:pt x="3746" y="1798"/>
                  </a:lnTo>
                  <a:lnTo>
                    <a:pt x="3766" y="1817"/>
                  </a:lnTo>
                  <a:lnTo>
                    <a:pt x="3786" y="1837"/>
                  </a:lnTo>
                  <a:lnTo>
                    <a:pt x="3805" y="1857"/>
                  </a:lnTo>
                  <a:lnTo>
                    <a:pt x="3824" y="1878"/>
                  </a:lnTo>
                  <a:lnTo>
                    <a:pt x="3842" y="1901"/>
                  </a:lnTo>
                  <a:lnTo>
                    <a:pt x="3859" y="1924"/>
                  </a:lnTo>
                  <a:lnTo>
                    <a:pt x="3876" y="1947"/>
                  </a:lnTo>
                  <a:lnTo>
                    <a:pt x="3892" y="1972"/>
                  </a:lnTo>
                  <a:lnTo>
                    <a:pt x="3909" y="1998"/>
                  </a:lnTo>
                  <a:lnTo>
                    <a:pt x="4082" y="1691"/>
                  </a:lnTo>
                  <a:lnTo>
                    <a:pt x="4769" y="1691"/>
                  </a:lnTo>
                  <a:lnTo>
                    <a:pt x="4259" y="3728"/>
                  </a:lnTo>
                  <a:lnTo>
                    <a:pt x="4258" y="3737"/>
                  </a:lnTo>
                  <a:lnTo>
                    <a:pt x="4256" y="3749"/>
                  </a:lnTo>
                  <a:lnTo>
                    <a:pt x="4251" y="3776"/>
                  </a:lnTo>
                  <a:lnTo>
                    <a:pt x="4248" y="3801"/>
                  </a:lnTo>
                  <a:lnTo>
                    <a:pt x="4246" y="3822"/>
                  </a:lnTo>
                  <a:lnTo>
                    <a:pt x="4246" y="3839"/>
                  </a:lnTo>
                  <a:lnTo>
                    <a:pt x="4246" y="3864"/>
                  </a:lnTo>
                  <a:lnTo>
                    <a:pt x="4249" y="3886"/>
                  </a:lnTo>
                  <a:lnTo>
                    <a:pt x="4251" y="3897"/>
                  </a:lnTo>
                  <a:lnTo>
                    <a:pt x="4253" y="3907"/>
                  </a:lnTo>
                  <a:lnTo>
                    <a:pt x="4256" y="3917"/>
                  </a:lnTo>
                  <a:lnTo>
                    <a:pt x="4259" y="3926"/>
                  </a:lnTo>
                  <a:lnTo>
                    <a:pt x="4263" y="3935"/>
                  </a:lnTo>
                  <a:lnTo>
                    <a:pt x="4266" y="3944"/>
                  </a:lnTo>
                  <a:lnTo>
                    <a:pt x="4271" y="3953"/>
                  </a:lnTo>
                  <a:lnTo>
                    <a:pt x="4276" y="3960"/>
                  </a:lnTo>
                  <a:lnTo>
                    <a:pt x="4281" y="3968"/>
                  </a:lnTo>
                  <a:lnTo>
                    <a:pt x="4286" y="3975"/>
                  </a:lnTo>
                  <a:lnTo>
                    <a:pt x="4292" y="3981"/>
                  </a:lnTo>
                  <a:lnTo>
                    <a:pt x="4299" y="3987"/>
                  </a:lnTo>
                  <a:lnTo>
                    <a:pt x="4306" y="3993"/>
                  </a:lnTo>
                  <a:lnTo>
                    <a:pt x="4313" y="3999"/>
                  </a:lnTo>
                  <a:lnTo>
                    <a:pt x="4321" y="4004"/>
                  </a:lnTo>
                  <a:lnTo>
                    <a:pt x="4329" y="4008"/>
                  </a:lnTo>
                  <a:lnTo>
                    <a:pt x="4337" y="4013"/>
                  </a:lnTo>
                  <a:lnTo>
                    <a:pt x="4346" y="4017"/>
                  </a:lnTo>
                  <a:lnTo>
                    <a:pt x="4355" y="4020"/>
                  </a:lnTo>
                  <a:lnTo>
                    <a:pt x="4364" y="4024"/>
                  </a:lnTo>
                  <a:lnTo>
                    <a:pt x="4385" y="4030"/>
                  </a:lnTo>
                  <a:lnTo>
                    <a:pt x="4407" y="4034"/>
                  </a:lnTo>
                  <a:lnTo>
                    <a:pt x="4430" y="4036"/>
                  </a:lnTo>
                  <a:lnTo>
                    <a:pt x="4455" y="4036"/>
                  </a:lnTo>
                  <a:lnTo>
                    <a:pt x="4483" y="4036"/>
                  </a:lnTo>
                  <a:lnTo>
                    <a:pt x="4512" y="4035"/>
                  </a:lnTo>
                  <a:lnTo>
                    <a:pt x="4540" y="4032"/>
                  </a:lnTo>
                  <a:lnTo>
                    <a:pt x="4567" y="4029"/>
                  </a:lnTo>
                  <a:lnTo>
                    <a:pt x="4595" y="4024"/>
                  </a:lnTo>
                  <a:lnTo>
                    <a:pt x="4623" y="4019"/>
                  </a:lnTo>
                  <a:lnTo>
                    <a:pt x="4650" y="4013"/>
                  </a:lnTo>
                  <a:lnTo>
                    <a:pt x="4676" y="4006"/>
                  </a:lnTo>
                  <a:lnTo>
                    <a:pt x="4704" y="3998"/>
                  </a:lnTo>
                  <a:lnTo>
                    <a:pt x="4730" y="3989"/>
                  </a:lnTo>
                  <a:lnTo>
                    <a:pt x="4756" y="3980"/>
                  </a:lnTo>
                  <a:lnTo>
                    <a:pt x="4782" y="3969"/>
                  </a:lnTo>
                  <a:lnTo>
                    <a:pt x="4808" y="3957"/>
                  </a:lnTo>
                  <a:lnTo>
                    <a:pt x="4834" y="3945"/>
                  </a:lnTo>
                  <a:lnTo>
                    <a:pt x="4859" y="3931"/>
                  </a:lnTo>
                  <a:lnTo>
                    <a:pt x="4884" y="3916"/>
                  </a:lnTo>
                  <a:lnTo>
                    <a:pt x="4909" y="3901"/>
                  </a:lnTo>
                  <a:lnTo>
                    <a:pt x="4934" y="3885"/>
                  </a:lnTo>
                  <a:lnTo>
                    <a:pt x="4958" y="3868"/>
                  </a:lnTo>
                  <a:lnTo>
                    <a:pt x="4982" y="3848"/>
                  </a:lnTo>
                  <a:lnTo>
                    <a:pt x="5007" y="3830"/>
                  </a:lnTo>
                  <a:lnTo>
                    <a:pt x="5031" y="3810"/>
                  </a:lnTo>
                  <a:lnTo>
                    <a:pt x="5054" y="3789"/>
                  </a:lnTo>
                  <a:lnTo>
                    <a:pt x="5077" y="3766"/>
                  </a:lnTo>
                  <a:lnTo>
                    <a:pt x="5101" y="3743"/>
                  </a:lnTo>
                  <a:lnTo>
                    <a:pt x="5124" y="3720"/>
                  </a:lnTo>
                  <a:lnTo>
                    <a:pt x="5146" y="3694"/>
                  </a:lnTo>
                  <a:lnTo>
                    <a:pt x="5169" y="3669"/>
                  </a:lnTo>
                  <a:lnTo>
                    <a:pt x="5191" y="3642"/>
                  </a:lnTo>
                  <a:lnTo>
                    <a:pt x="5214" y="3614"/>
                  </a:lnTo>
                  <a:lnTo>
                    <a:pt x="5235" y="3586"/>
                  </a:lnTo>
                  <a:lnTo>
                    <a:pt x="5257" y="3556"/>
                  </a:lnTo>
                  <a:lnTo>
                    <a:pt x="5278" y="3526"/>
                  </a:lnTo>
                  <a:lnTo>
                    <a:pt x="5299" y="3496"/>
                  </a:lnTo>
                  <a:lnTo>
                    <a:pt x="5319" y="3465"/>
                  </a:lnTo>
                  <a:lnTo>
                    <a:pt x="5338" y="3434"/>
                  </a:lnTo>
                  <a:lnTo>
                    <a:pt x="5356" y="3403"/>
                  </a:lnTo>
                  <a:lnTo>
                    <a:pt x="5374" y="3371"/>
                  </a:lnTo>
                  <a:lnTo>
                    <a:pt x="5391" y="3339"/>
                  </a:lnTo>
                  <a:lnTo>
                    <a:pt x="5408" y="3307"/>
                  </a:lnTo>
                  <a:lnTo>
                    <a:pt x="5424" y="3274"/>
                  </a:lnTo>
                  <a:lnTo>
                    <a:pt x="5439" y="3241"/>
                  </a:lnTo>
                  <a:lnTo>
                    <a:pt x="5453" y="3208"/>
                  </a:lnTo>
                  <a:lnTo>
                    <a:pt x="5467" y="3174"/>
                  </a:lnTo>
                  <a:lnTo>
                    <a:pt x="5480" y="3141"/>
                  </a:lnTo>
                  <a:lnTo>
                    <a:pt x="5492" y="3106"/>
                  </a:lnTo>
                  <a:lnTo>
                    <a:pt x="5505" y="3072"/>
                  </a:lnTo>
                  <a:lnTo>
                    <a:pt x="5516" y="3036"/>
                  </a:lnTo>
                  <a:lnTo>
                    <a:pt x="5526" y="3001"/>
                  </a:lnTo>
                  <a:lnTo>
                    <a:pt x="5536" y="2966"/>
                  </a:lnTo>
                  <a:lnTo>
                    <a:pt x="5545" y="2930"/>
                  </a:lnTo>
                  <a:lnTo>
                    <a:pt x="5553" y="2894"/>
                  </a:lnTo>
                  <a:lnTo>
                    <a:pt x="5561" y="2857"/>
                  </a:lnTo>
                  <a:lnTo>
                    <a:pt x="5568" y="2821"/>
                  </a:lnTo>
                  <a:lnTo>
                    <a:pt x="5574" y="2783"/>
                  </a:lnTo>
                  <a:lnTo>
                    <a:pt x="5580" y="2746"/>
                  </a:lnTo>
                  <a:lnTo>
                    <a:pt x="5585" y="2708"/>
                  </a:lnTo>
                  <a:lnTo>
                    <a:pt x="5589" y="2670"/>
                  </a:lnTo>
                  <a:lnTo>
                    <a:pt x="5593" y="2632"/>
                  </a:lnTo>
                  <a:lnTo>
                    <a:pt x="5597" y="2593"/>
                  </a:lnTo>
                  <a:lnTo>
                    <a:pt x="5599" y="2555"/>
                  </a:lnTo>
                  <a:lnTo>
                    <a:pt x="5601" y="2515"/>
                  </a:lnTo>
                  <a:lnTo>
                    <a:pt x="5602" y="2476"/>
                  </a:lnTo>
                  <a:lnTo>
                    <a:pt x="5602" y="2435"/>
                  </a:lnTo>
                  <a:lnTo>
                    <a:pt x="5601" y="2385"/>
                  </a:lnTo>
                  <a:lnTo>
                    <a:pt x="5600" y="2337"/>
                  </a:lnTo>
                  <a:lnTo>
                    <a:pt x="5597" y="2288"/>
                  </a:lnTo>
                  <a:lnTo>
                    <a:pt x="5592" y="2241"/>
                  </a:lnTo>
                  <a:lnTo>
                    <a:pt x="5587" y="2193"/>
                  </a:lnTo>
                  <a:lnTo>
                    <a:pt x="5580" y="2147"/>
                  </a:lnTo>
                  <a:lnTo>
                    <a:pt x="5573" y="2100"/>
                  </a:lnTo>
                  <a:lnTo>
                    <a:pt x="5564" y="2054"/>
                  </a:lnTo>
                  <a:lnTo>
                    <a:pt x="5554" y="2010"/>
                  </a:lnTo>
                  <a:lnTo>
                    <a:pt x="5543" y="1965"/>
                  </a:lnTo>
                  <a:lnTo>
                    <a:pt x="5531" y="1921"/>
                  </a:lnTo>
                  <a:lnTo>
                    <a:pt x="5518" y="1878"/>
                  </a:lnTo>
                  <a:lnTo>
                    <a:pt x="5503" y="1835"/>
                  </a:lnTo>
                  <a:lnTo>
                    <a:pt x="5487" y="1793"/>
                  </a:lnTo>
                  <a:lnTo>
                    <a:pt x="5470" y="1752"/>
                  </a:lnTo>
                  <a:lnTo>
                    <a:pt x="5452" y="1710"/>
                  </a:lnTo>
                  <a:lnTo>
                    <a:pt x="5433" y="1670"/>
                  </a:lnTo>
                  <a:lnTo>
                    <a:pt x="5413" y="1630"/>
                  </a:lnTo>
                  <a:lnTo>
                    <a:pt x="5390" y="1591"/>
                  </a:lnTo>
                  <a:lnTo>
                    <a:pt x="5368" y="1552"/>
                  </a:lnTo>
                  <a:lnTo>
                    <a:pt x="5344" y="1514"/>
                  </a:lnTo>
                  <a:lnTo>
                    <a:pt x="5319" y="1476"/>
                  </a:lnTo>
                  <a:lnTo>
                    <a:pt x="5292" y="1439"/>
                  </a:lnTo>
                  <a:lnTo>
                    <a:pt x="5265" y="1402"/>
                  </a:lnTo>
                  <a:lnTo>
                    <a:pt x="5237" y="1367"/>
                  </a:lnTo>
                  <a:lnTo>
                    <a:pt x="5207" y="1332"/>
                  </a:lnTo>
                  <a:lnTo>
                    <a:pt x="5175" y="1297"/>
                  </a:lnTo>
                  <a:lnTo>
                    <a:pt x="5144" y="1263"/>
                  </a:lnTo>
                  <a:lnTo>
                    <a:pt x="5111" y="1229"/>
                  </a:lnTo>
                  <a:lnTo>
                    <a:pt x="5075" y="1197"/>
                  </a:lnTo>
                  <a:lnTo>
                    <a:pt x="5040" y="1165"/>
                  </a:lnTo>
                  <a:lnTo>
                    <a:pt x="5004" y="1132"/>
                  </a:lnTo>
                  <a:lnTo>
                    <a:pt x="4965" y="1101"/>
                  </a:lnTo>
                  <a:lnTo>
                    <a:pt x="4927" y="1071"/>
                  </a:lnTo>
                  <a:lnTo>
                    <a:pt x="4888" y="1042"/>
                  </a:lnTo>
                  <a:lnTo>
                    <a:pt x="4848" y="1014"/>
                  </a:lnTo>
                  <a:lnTo>
                    <a:pt x="4808" y="987"/>
                  </a:lnTo>
                  <a:lnTo>
                    <a:pt x="4766" y="961"/>
                  </a:lnTo>
                  <a:lnTo>
                    <a:pt x="4725" y="936"/>
                  </a:lnTo>
                  <a:lnTo>
                    <a:pt x="4681" y="911"/>
                  </a:lnTo>
                  <a:lnTo>
                    <a:pt x="4638" y="888"/>
                  </a:lnTo>
                  <a:lnTo>
                    <a:pt x="4594" y="866"/>
                  </a:lnTo>
                  <a:lnTo>
                    <a:pt x="4549" y="845"/>
                  </a:lnTo>
                  <a:lnTo>
                    <a:pt x="4504" y="825"/>
                  </a:lnTo>
                  <a:lnTo>
                    <a:pt x="4458" y="806"/>
                  </a:lnTo>
                  <a:lnTo>
                    <a:pt x="4411" y="788"/>
                  </a:lnTo>
                  <a:lnTo>
                    <a:pt x="4363" y="771"/>
                  </a:lnTo>
                  <a:lnTo>
                    <a:pt x="4315" y="755"/>
                  </a:lnTo>
                  <a:lnTo>
                    <a:pt x="4266" y="739"/>
                  </a:lnTo>
                  <a:lnTo>
                    <a:pt x="4217" y="724"/>
                  </a:lnTo>
                  <a:lnTo>
                    <a:pt x="4166" y="711"/>
                  </a:lnTo>
                  <a:lnTo>
                    <a:pt x="4115" y="699"/>
                  </a:lnTo>
                  <a:lnTo>
                    <a:pt x="4063" y="688"/>
                  </a:lnTo>
                  <a:lnTo>
                    <a:pt x="4011" y="678"/>
                  </a:lnTo>
                  <a:lnTo>
                    <a:pt x="3957" y="668"/>
                  </a:lnTo>
                  <a:lnTo>
                    <a:pt x="3903" y="659"/>
                  </a:lnTo>
                  <a:lnTo>
                    <a:pt x="3848" y="652"/>
                  </a:lnTo>
                  <a:lnTo>
                    <a:pt x="3792" y="646"/>
                  </a:lnTo>
                  <a:lnTo>
                    <a:pt x="3737" y="640"/>
                  </a:lnTo>
                  <a:lnTo>
                    <a:pt x="3680" y="636"/>
                  </a:lnTo>
                  <a:lnTo>
                    <a:pt x="3623" y="633"/>
                  </a:lnTo>
                  <a:lnTo>
                    <a:pt x="3564" y="630"/>
                  </a:lnTo>
                  <a:lnTo>
                    <a:pt x="3506" y="629"/>
                  </a:lnTo>
                  <a:lnTo>
                    <a:pt x="3446" y="628"/>
                  </a:lnTo>
                  <a:lnTo>
                    <a:pt x="3384" y="629"/>
                  </a:lnTo>
                  <a:lnTo>
                    <a:pt x="3324" y="630"/>
                  </a:lnTo>
                  <a:lnTo>
                    <a:pt x="3263" y="633"/>
                  </a:lnTo>
                  <a:lnTo>
                    <a:pt x="3203" y="636"/>
                  </a:lnTo>
                  <a:lnTo>
                    <a:pt x="3145" y="640"/>
                  </a:lnTo>
                  <a:lnTo>
                    <a:pt x="3086" y="645"/>
                  </a:lnTo>
                  <a:lnTo>
                    <a:pt x="3028" y="651"/>
                  </a:lnTo>
                  <a:lnTo>
                    <a:pt x="2971" y="659"/>
                  </a:lnTo>
                  <a:lnTo>
                    <a:pt x="2914" y="667"/>
                  </a:lnTo>
                  <a:lnTo>
                    <a:pt x="2858" y="677"/>
                  </a:lnTo>
                  <a:lnTo>
                    <a:pt x="2801" y="686"/>
                  </a:lnTo>
                  <a:lnTo>
                    <a:pt x="2747" y="697"/>
                  </a:lnTo>
                  <a:lnTo>
                    <a:pt x="2692" y="709"/>
                  </a:lnTo>
                  <a:lnTo>
                    <a:pt x="2639" y="722"/>
                  </a:lnTo>
                  <a:lnTo>
                    <a:pt x="2585" y="735"/>
                  </a:lnTo>
                  <a:lnTo>
                    <a:pt x="2533" y="750"/>
                  </a:lnTo>
                  <a:lnTo>
                    <a:pt x="2480" y="766"/>
                  </a:lnTo>
                  <a:lnTo>
                    <a:pt x="2429" y="783"/>
                  </a:lnTo>
                  <a:lnTo>
                    <a:pt x="2377" y="800"/>
                  </a:lnTo>
                  <a:lnTo>
                    <a:pt x="2327" y="818"/>
                  </a:lnTo>
                  <a:lnTo>
                    <a:pt x="2277" y="839"/>
                  </a:lnTo>
                  <a:lnTo>
                    <a:pt x="2228" y="859"/>
                  </a:lnTo>
                  <a:lnTo>
                    <a:pt x="2179" y="880"/>
                  </a:lnTo>
                  <a:lnTo>
                    <a:pt x="2131" y="902"/>
                  </a:lnTo>
                  <a:lnTo>
                    <a:pt x="2083" y="926"/>
                  </a:lnTo>
                  <a:lnTo>
                    <a:pt x="2036" y="950"/>
                  </a:lnTo>
                  <a:lnTo>
                    <a:pt x="1989" y="975"/>
                  </a:lnTo>
                  <a:lnTo>
                    <a:pt x="1944" y="1002"/>
                  </a:lnTo>
                  <a:lnTo>
                    <a:pt x="1898" y="1029"/>
                  </a:lnTo>
                  <a:lnTo>
                    <a:pt x="1853" y="1057"/>
                  </a:lnTo>
                  <a:lnTo>
                    <a:pt x="1809" y="1087"/>
                  </a:lnTo>
                  <a:lnTo>
                    <a:pt x="1766" y="1116"/>
                  </a:lnTo>
                  <a:lnTo>
                    <a:pt x="1734" y="1139"/>
                  </a:lnTo>
                  <a:lnTo>
                    <a:pt x="1701" y="1163"/>
                  </a:lnTo>
                  <a:lnTo>
                    <a:pt x="1671" y="1187"/>
                  </a:lnTo>
                  <a:lnTo>
                    <a:pt x="1640" y="1211"/>
                  </a:lnTo>
                  <a:lnTo>
                    <a:pt x="1609" y="1235"/>
                  </a:lnTo>
                  <a:lnTo>
                    <a:pt x="1580" y="1261"/>
                  </a:lnTo>
                  <a:lnTo>
                    <a:pt x="1551" y="1286"/>
                  </a:lnTo>
                  <a:lnTo>
                    <a:pt x="1522" y="1311"/>
                  </a:lnTo>
                  <a:lnTo>
                    <a:pt x="1493" y="1338"/>
                  </a:lnTo>
                  <a:lnTo>
                    <a:pt x="1466" y="1364"/>
                  </a:lnTo>
                  <a:lnTo>
                    <a:pt x="1438" y="1390"/>
                  </a:lnTo>
                  <a:lnTo>
                    <a:pt x="1411" y="1418"/>
                  </a:lnTo>
                  <a:lnTo>
                    <a:pt x="1384" y="1445"/>
                  </a:lnTo>
                  <a:lnTo>
                    <a:pt x="1359" y="1472"/>
                  </a:lnTo>
                  <a:lnTo>
                    <a:pt x="1333" y="1501"/>
                  </a:lnTo>
                  <a:lnTo>
                    <a:pt x="1308" y="1529"/>
                  </a:lnTo>
                  <a:lnTo>
                    <a:pt x="1283" y="1558"/>
                  </a:lnTo>
                  <a:lnTo>
                    <a:pt x="1259" y="1588"/>
                  </a:lnTo>
                  <a:lnTo>
                    <a:pt x="1236" y="1617"/>
                  </a:lnTo>
                  <a:lnTo>
                    <a:pt x="1212" y="1646"/>
                  </a:lnTo>
                  <a:lnTo>
                    <a:pt x="1189" y="1677"/>
                  </a:lnTo>
                  <a:lnTo>
                    <a:pt x="1167" y="1707"/>
                  </a:lnTo>
                  <a:lnTo>
                    <a:pt x="1145" y="1739"/>
                  </a:lnTo>
                  <a:lnTo>
                    <a:pt x="1124" y="1770"/>
                  </a:lnTo>
                  <a:lnTo>
                    <a:pt x="1102" y="1801"/>
                  </a:lnTo>
                  <a:lnTo>
                    <a:pt x="1082" y="1834"/>
                  </a:lnTo>
                  <a:lnTo>
                    <a:pt x="1062" y="1866"/>
                  </a:lnTo>
                  <a:lnTo>
                    <a:pt x="1043" y="1899"/>
                  </a:lnTo>
                  <a:lnTo>
                    <a:pt x="1024" y="1932"/>
                  </a:lnTo>
                  <a:lnTo>
                    <a:pt x="1005" y="1965"/>
                  </a:lnTo>
                  <a:lnTo>
                    <a:pt x="987" y="1999"/>
                  </a:lnTo>
                  <a:lnTo>
                    <a:pt x="969" y="2033"/>
                  </a:lnTo>
                  <a:lnTo>
                    <a:pt x="952" y="2068"/>
                  </a:lnTo>
                  <a:lnTo>
                    <a:pt x="936" y="2102"/>
                  </a:lnTo>
                  <a:lnTo>
                    <a:pt x="920" y="2136"/>
                  </a:lnTo>
                  <a:lnTo>
                    <a:pt x="903" y="2172"/>
                  </a:lnTo>
                  <a:lnTo>
                    <a:pt x="888" y="2207"/>
                  </a:lnTo>
                  <a:lnTo>
                    <a:pt x="874" y="2242"/>
                  </a:lnTo>
                  <a:lnTo>
                    <a:pt x="860" y="2277"/>
                  </a:lnTo>
                  <a:lnTo>
                    <a:pt x="847" y="2314"/>
                  </a:lnTo>
                  <a:lnTo>
                    <a:pt x="834" y="2349"/>
                  </a:lnTo>
                  <a:lnTo>
                    <a:pt x="822" y="2385"/>
                  </a:lnTo>
                  <a:lnTo>
                    <a:pt x="809" y="2421"/>
                  </a:lnTo>
                  <a:lnTo>
                    <a:pt x="798" y="2457"/>
                  </a:lnTo>
                  <a:lnTo>
                    <a:pt x="788" y="2495"/>
                  </a:lnTo>
                  <a:lnTo>
                    <a:pt x="778" y="2531"/>
                  </a:lnTo>
                  <a:lnTo>
                    <a:pt x="768" y="2568"/>
                  </a:lnTo>
                  <a:lnTo>
                    <a:pt x="759" y="2605"/>
                  </a:lnTo>
                  <a:lnTo>
                    <a:pt x="751" y="2643"/>
                  </a:lnTo>
                  <a:lnTo>
                    <a:pt x="743" y="2680"/>
                  </a:lnTo>
                  <a:lnTo>
                    <a:pt x="736" y="2718"/>
                  </a:lnTo>
                  <a:lnTo>
                    <a:pt x="729" y="2755"/>
                  </a:lnTo>
                  <a:lnTo>
                    <a:pt x="723" y="2793"/>
                  </a:lnTo>
                  <a:lnTo>
                    <a:pt x="717" y="2832"/>
                  </a:lnTo>
                  <a:lnTo>
                    <a:pt x="711" y="2869"/>
                  </a:lnTo>
                  <a:lnTo>
                    <a:pt x="706" y="2909"/>
                  </a:lnTo>
                  <a:lnTo>
                    <a:pt x="702" y="2947"/>
                  </a:lnTo>
                  <a:lnTo>
                    <a:pt x="699" y="2986"/>
                  </a:lnTo>
                  <a:lnTo>
                    <a:pt x="696" y="3025"/>
                  </a:lnTo>
                  <a:lnTo>
                    <a:pt x="693" y="3065"/>
                  </a:lnTo>
                  <a:lnTo>
                    <a:pt x="691" y="3104"/>
                  </a:lnTo>
                  <a:lnTo>
                    <a:pt x="690" y="3144"/>
                  </a:lnTo>
                  <a:lnTo>
                    <a:pt x="689" y="3183"/>
                  </a:lnTo>
                  <a:lnTo>
                    <a:pt x="689" y="3223"/>
                  </a:lnTo>
                  <a:lnTo>
                    <a:pt x="690" y="3285"/>
                  </a:lnTo>
                  <a:lnTo>
                    <a:pt x="692" y="3348"/>
                  </a:lnTo>
                  <a:lnTo>
                    <a:pt x="695" y="3409"/>
                  </a:lnTo>
                  <a:lnTo>
                    <a:pt x="700" y="3469"/>
                  </a:lnTo>
                  <a:lnTo>
                    <a:pt x="705" y="3528"/>
                  </a:lnTo>
                  <a:lnTo>
                    <a:pt x="713" y="3587"/>
                  </a:lnTo>
                  <a:lnTo>
                    <a:pt x="722" y="3645"/>
                  </a:lnTo>
                  <a:lnTo>
                    <a:pt x="732" y="3703"/>
                  </a:lnTo>
                  <a:lnTo>
                    <a:pt x="743" y="3758"/>
                  </a:lnTo>
                  <a:lnTo>
                    <a:pt x="755" y="3814"/>
                  </a:lnTo>
                  <a:lnTo>
                    <a:pt x="769" y="3869"/>
                  </a:lnTo>
                  <a:lnTo>
                    <a:pt x="784" y="3922"/>
                  </a:lnTo>
                  <a:lnTo>
                    <a:pt x="800" y="3976"/>
                  </a:lnTo>
                  <a:lnTo>
                    <a:pt x="819" y="4029"/>
                  </a:lnTo>
                  <a:lnTo>
                    <a:pt x="838" y="4079"/>
                  </a:lnTo>
                  <a:lnTo>
                    <a:pt x="859" y="4130"/>
                  </a:lnTo>
                  <a:lnTo>
                    <a:pt x="880" y="4180"/>
                  </a:lnTo>
                  <a:lnTo>
                    <a:pt x="903" y="4229"/>
                  </a:lnTo>
                  <a:lnTo>
                    <a:pt x="928" y="4278"/>
                  </a:lnTo>
                  <a:lnTo>
                    <a:pt x="954" y="4325"/>
                  </a:lnTo>
                  <a:lnTo>
                    <a:pt x="980" y="4372"/>
                  </a:lnTo>
                  <a:lnTo>
                    <a:pt x="1009" y="4417"/>
                  </a:lnTo>
                  <a:lnTo>
                    <a:pt x="1039" y="4463"/>
                  </a:lnTo>
                  <a:lnTo>
                    <a:pt x="1070" y="4506"/>
                  </a:lnTo>
                  <a:lnTo>
                    <a:pt x="1102" y="4550"/>
                  </a:lnTo>
                  <a:lnTo>
                    <a:pt x="1136" y="4593"/>
                  </a:lnTo>
                  <a:lnTo>
                    <a:pt x="1171" y="4635"/>
                  </a:lnTo>
                  <a:lnTo>
                    <a:pt x="1207" y="4675"/>
                  </a:lnTo>
                  <a:lnTo>
                    <a:pt x="1245" y="4716"/>
                  </a:lnTo>
                  <a:lnTo>
                    <a:pt x="1284" y="4755"/>
                  </a:lnTo>
                  <a:lnTo>
                    <a:pt x="1325" y="4794"/>
                  </a:lnTo>
                  <a:lnTo>
                    <a:pt x="1366" y="4832"/>
                  </a:lnTo>
                  <a:lnTo>
                    <a:pt x="1408" y="4869"/>
                  </a:lnTo>
                  <a:lnTo>
                    <a:pt x="1453" y="4904"/>
                  </a:lnTo>
                  <a:lnTo>
                    <a:pt x="1497" y="4940"/>
                  </a:lnTo>
                  <a:lnTo>
                    <a:pt x="1543" y="4973"/>
                  </a:lnTo>
                  <a:lnTo>
                    <a:pt x="1588" y="5005"/>
                  </a:lnTo>
                  <a:lnTo>
                    <a:pt x="1636" y="5036"/>
                  </a:lnTo>
                  <a:lnTo>
                    <a:pt x="1684" y="5066"/>
                  </a:lnTo>
                  <a:lnTo>
                    <a:pt x="1733" y="5095"/>
                  </a:lnTo>
                  <a:lnTo>
                    <a:pt x="1782" y="5122"/>
                  </a:lnTo>
                  <a:lnTo>
                    <a:pt x="1834" y="5148"/>
                  </a:lnTo>
                  <a:lnTo>
                    <a:pt x="1885" y="5174"/>
                  </a:lnTo>
                  <a:lnTo>
                    <a:pt x="1938" y="5198"/>
                  </a:lnTo>
                  <a:lnTo>
                    <a:pt x="1991" y="5220"/>
                  </a:lnTo>
                  <a:lnTo>
                    <a:pt x="2046" y="5242"/>
                  </a:lnTo>
                  <a:lnTo>
                    <a:pt x="2101" y="5263"/>
                  </a:lnTo>
                  <a:lnTo>
                    <a:pt x="2157" y="5282"/>
                  </a:lnTo>
                  <a:lnTo>
                    <a:pt x="2215" y="5300"/>
                  </a:lnTo>
                  <a:lnTo>
                    <a:pt x="2272" y="5317"/>
                  </a:lnTo>
                  <a:lnTo>
                    <a:pt x="2331" y="5332"/>
                  </a:lnTo>
                  <a:lnTo>
                    <a:pt x="2391" y="5348"/>
                  </a:lnTo>
                  <a:lnTo>
                    <a:pt x="2452" y="5361"/>
                  </a:lnTo>
                  <a:lnTo>
                    <a:pt x="2514" y="5373"/>
                  </a:lnTo>
                  <a:lnTo>
                    <a:pt x="2575" y="5384"/>
                  </a:lnTo>
                  <a:lnTo>
                    <a:pt x="2639" y="5394"/>
                  </a:lnTo>
                  <a:lnTo>
                    <a:pt x="2703" y="5403"/>
                  </a:lnTo>
                  <a:lnTo>
                    <a:pt x="2768" y="5410"/>
                  </a:lnTo>
                  <a:lnTo>
                    <a:pt x="2835" y="5418"/>
                  </a:lnTo>
                  <a:lnTo>
                    <a:pt x="2901" y="5423"/>
                  </a:lnTo>
                  <a:lnTo>
                    <a:pt x="2969" y="5427"/>
                  </a:lnTo>
                  <a:lnTo>
                    <a:pt x="3038" y="5430"/>
                  </a:lnTo>
                  <a:lnTo>
                    <a:pt x="3108" y="5431"/>
                  </a:lnTo>
                  <a:lnTo>
                    <a:pt x="3178" y="5432"/>
                  </a:lnTo>
                  <a:lnTo>
                    <a:pt x="3247" y="5431"/>
                  </a:lnTo>
                  <a:lnTo>
                    <a:pt x="3315" y="5430"/>
                  </a:lnTo>
                  <a:lnTo>
                    <a:pt x="3382" y="5427"/>
                  </a:lnTo>
                  <a:lnTo>
                    <a:pt x="3450" y="5422"/>
                  </a:lnTo>
                  <a:lnTo>
                    <a:pt x="3517" y="5417"/>
                  </a:lnTo>
                  <a:lnTo>
                    <a:pt x="3583" y="5409"/>
                  </a:lnTo>
                  <a:lnTo>
                    <a:pt x="3650" y="5401"/>
                  </a:lnTo>
                  <a:lnTo>
                    <a:pt x="3716" y="5392"/>
                  </a:lnTo>
                  <a:lnTo>
                    <a:pt x="3781" y="5382"/>
                  </a:lnTo>
                  <a:lnTo>
                    <a:pt x="3846" y="5370"/>
                  </a:lnTo>
                  <a:lnTo>
                    <a:pt x="3912" y="5357"/>
                  </a:lnTo>
                  <a:lnTo>
                    <a:pt x="3976" y="5343"/>
                  </a:lnTo>
                  <a:lnTo>
                    <a:pt x="4041" y="5327"/>
                  </a:lnTo>
                  <a:lnTo>
                    <a:pt x="4105" y="5310"/>
                  </a:lnTo>
                  <a:lnTo>
                    <a:pt x="4168" y="5293"/>
                  </a:lnTo>
                  <a:lnTo>
                    <a:pt x="4232" y="5273"/>
                  </a:lnTo>
                  <a:lnTo>
                    <a:pt x="4295" y="5253"/>
                  </a:lnTo>
                  <a:lnTo>
                    <a:pt x="4357" y="5231"/>
                  </a:lnTo>
                  <a:lnTo>
                    <a:pt x="4419" y="5209"/>
                  </a:lnTo>
                  <a:lnTo>
                    <a:pt x="4480" y="5185"/>
                  </a:lnTo>
                  <a:lnTo>
                    <a:pt x="4541" y="5159"/>
                  </a:lnTo>
                  <a:lnTo>
                    <a:pt x="4601" y="5134"/>
                  </a:lnTo>
                  <a:lnTo>
                    <a:pt x="4660" y="5107"/>
                  </a:lnTo>
                  <a:lnTo>
                    <a:pt x="4719" y="5078"/>
                  </a:lnTo>
                  <a:lnTo>
                    <a:pt x="4776" y="5049"/>
                  </a:lnTo>
                  <a:lnTo>
                    <a:pt x="4834" y="5018"/>
                  </a:lnTo>
                  <a:lnTo>
                    <a:pt x="4890" y="4986"/>
                  </a:lnTo>
                  <a:lnTo>
                    <a:pt x="4947" y="4953"/>
                  </a:lnTo>
                  <a:lnTo>
                    <a:pt x="5002" y="4919"/>
                  </a:lnTo>
                  <a:lnTo>
                    <a:pt x="5057" y="4884"/>
                  </a:lnTo>
                  <a:lnTo>
                    <a:pt x="5111" y="4848"/>
                  </a:lnTo>
                  <a:lnTo>
                    <a:pt x="5165" y="4810"/>
                  </a:lnTo>
                  <a:lnTo>
                    <a:pt x="5487" y="5262"/>
                  </a:lnTo>
                  <a:lnTo>
                    <a:pt x="5423" y="5310"/>
                  </a:lnTo>
                  <a:lnTo>
                    <a:pt x="5357" y="5357"/>
                  </a:lnTo>
                  <a:lnTo>
                    <a:pt x="5291" y="5401"/>
                  </a:lnTo>
                  <a:lnTo>
                    <a:pt x="5225" y="5445"/>
                  </a:lnTo>
                  <a:lnTo>
                    <a:pt x="5158" y="5486"/>
                  </a:lnTo>
                  <a:lnTo>
                    <a:pt x="5090" y="5527"/>
                  </a:lnTo>
                  <a:lnTo>
                    <a:pt x="5023" y="5565"/>
                  </a:lnTo>
                  <a:lnTo>
                    <a:pt x="4955" y="5603"/>
                  </a:lnTo>
                  <a:lnTo>
                    <a:pt x="4885" y="5638"/>
                  </a:lnTo>
                  <a:lnTo>
                    <a:pt x="4817" y="5673"/>
                  </a:lnTo>
                  <a:lnTo>
                    <a:pt x="4747" y="5705"/>
                  </a:lnTo>
                  <a:lnTo>
                    <a:pt x="4677" y="5736"/>
                  </a:lnTo>
                  <a:lnTo>
                    <a:pt x="4607" y="5766"/>
                  </a:lnTo>
                  <a:lnTo>
                    <a:pt x="4536" y="5794"/>
                  </a:lnTo>
                  <a:lnTo>
                    <a:pt x="4464" y="5820"/>
                  </a:lnTo>
                  <a:lnTo>
                    <a:pt x="4392" y="5846"/>
                  </a:lnTo>
                  <a:lnTo>
                    <a:pt x="4320" y="5869"/>
                  </a:lnTo>
                  <a:lnTo>
                    <a:pt x="4247" y="5891"/>
                  </a:lnTo>
                  <a:lnTo>
                    <a:pt x="4174" y="5912"/>
                  </a:lnTo>
                  <a:lnTo>
                    <a:pt x="4100" y="5930"/>
                  </a:lnTo>
                  <a:lnTo>
                    <a:pt x="4026" y="5948"/>
                  </a:lnTo>
                  <a:lnTo>
                    <a:pt x="3951" y="5963"/>
                  </a:lnTo>
                  <a:lnTo>
                    <a:pt x="3876" y="5978"/>
                  </a:lnTo>
                  <a:lnTo>
                    <a:pt x="3800" y="5991"/>
                  </a:lnTo>
                  <a:lnTo>
                    <a:pt x="3724" y="6002"/>
                  </a:lnTo>
                  <a:lnTo>
                    <a:pt x="3648" y="6012"/>
                  </a:lnTo>
                  <a:lnTo>
                    <a:pt x="3570" y="6020"/>
                  </a:lnTo>
                  <a:lnTo>
                    <a:pt x="3493" y="6027"/>
                  </a:lnTo>
                  <a:lnTo>
                    <a:pt x="3415" y="6033"/>
                  </a:lnTo>
                  <a:lnTo>
                    <a:pt x="3337" y="6036"/>
                  </a:lnTo>
                  <a:lnTo>
                    <a:pt x="3258" y="6039"/>
                  </a:lnTo>
                  <a:lnTo>
                    <a:pt x="3178" y="6039"/>
                  </a:lnTo>
                  <a:lnTo>
                    <a:pt x="3099" y="6039"/>
                  </a:lnTo>
                  <a:lnTo>
                    <a:pt x="3021" y="6037"/>
                  </a:lnTo>
                  <a:lnTo>
                    <a:pt x="2943" y="6034"/>
                  </a:lnTo>
                  <a:lnTo>
                    <a:pt x="2865" y="6029"/>
                  </a:lnTo>
                  <a:lnTo>
                    <a:pt x="2788" y="6024"/>
                  </a:lnTo>
                  <a:lnTo>
                    <a:pt x="2713" y="6017"/>
                  </a:lnTo>
                  <a:lnTo>
                    <a:pt x="2638" y="6008"/>
                  </a:lnTo>
                  <a:lnTo>
                    <a:pt x="2564" y="5999"/>
                  </a:lnTo>
                  <a:lnTo>
                    <a:pt x="2490" y="5987"/>
                  </a:lnTo>
                  <a:lnTo>
                    <a:pt x="2418" y="5975"/>
                  </a:lnTo>
                  <a:lnTo>
                    <a:pt x="2346" y="5962"/>
                  </a:lnTo>
                  <a:lnTo>
                    <a:pt x="2274" y="5947"/>
                  </a:lnTo>
                  <a:lnTo>
                    <a:pt x="2204" y="5931"/>
                  </a:lnTo>
                  <a:lnTo>
                    <a:pt x="2135" y="5914"/>
                  </a:lnTo>
                  <a:lnTo>
                    <a:pt x="2066" y="5895"/>
                  </a:lnTo>
                  <a:lnTo>
                    <a:pt x="1997" y="5875"/>
                  </a:lnTo>
                  <a:lnTo>
                    <a:pt x="1931" y="5854"/>
                  </a:lnTo>
                  <a:lnTo>
                    <a:pt x="1864" y="5833"/>
                  </a:lnTo>
                  <a:lnTo>
                    <a:pt x="1799" y="5808"/>
                  </a:lnTo>
                  <a:lnTo>
                    <a:pt x="1735" y="5784"/>
                  </a:lnTo>
                  <a:lnTo>
                    <a:pt x="1671" y="5758"/>
                  </a:lnTo>
                  <a:lnTo>
                    <a:pt x="1608" y="5731"/>
                  </a:lnTo>
                  <a:lnTo>
                    <a:pt x="1547" y="5703"/>
                  </a:lnTo>
                  <a:lnTo>
                    <a:pt x="1486" y="5673"/>
                  </a:lnTo>
                  <a:lnTo>
                    <a:pt x="1427" y="5642"/>
                  </a:lnTo>
                  <a:lnTo>
                    <a:pt x="1368" y="5610"/>
                  </a:lnTo>
                  <a:lnTo>
                    <a:pt x="1310" y="5576"/>
                  </a:lnTo>
                  <a:lnTo>
                    <a:pt x="1254" y="5542"/>
                  </a:lnTo>
                  <a:lnTo>
                    <a:pt x="1198" y="5507"/>
                  </a:lnTo>
                  <a:lnTo>
                    <a:pt x="1143" y="5469"/>
                  </a:lnTo>
                  <a:lnTo>
                    <a:pt x="1089" y="5432"/>
                  </a:lnTo>
                  <a:lnTo>
                    <a:pt x="1037" y="5392"/>
                  </a:lnTo>
                  <a:lnTo>
                    <a:pt x="1003" y="5366"/>
                  </a:lnTo>
                  <a:lnTo>
                    <a:pt x="972" y="5341"/>
                  </a:lnTo>
                  <a:lnTo>
                    <a:pt x="941" y="5314"/>
                  </a:lnTo>
                  <a:lnTo>
                    <a:pt x="909" y="5288"/>
                  </a:lnTo>
                  <a:lnTo>
                    <a:pt x="879" y="5262"/>
                  </a:lnTo>
                  <a:lnTo>
                    <a:pt x="849" y="5234"/>
                  </a:lnTo>
                  <a:lnTo>
                    <a:pt x="820" y="5207"/>
                  </a:lnTo>
                  <a:lnTo>
                    <a:pt x="791" y="5180"/>
                  </a:lnTo>
                  <a:lnTo>
                    <a:pt x="763" y="5152"/>
                  </a:lnTo>
                  <a:lnTo>
                    <a:pt x="735" y="5124"/>
                  </a:lnTo>
                  <a:lnTo>
                    <a:pt x="707" y="5097"/>
                  </a:lnTo>
                  <a:lnTo>
                    <a:pt x="681" y="5068"/>
                  </a:lnTo>
                  <a:lnTo>
                    <a:pt x="655" y="5040"/>
                  </a:lnTo>
                  <a:lnTo>
                    <a:pt x="630" y="5011"/>
                  </a:lnTo>
                  <a:lnTo>
                    <a:pt x="604" y="4981"/>
                  </a:lnTo>
                  <a:lnTo>
                    <a:pt x="580" y="4952"/>
                  </a:lnTo>
                  <a:lnTo>
                    <a:pt x="556" y="4922"/>
                  </a:lnTo>
                  <a:lnTo>
                    <a:pt x="532" y="4893"/>
                  </a:lnTo>
                  <a:lnTo>
                    <a:pt x="509" y="4863"/>
                  </a:lnTo>
                  <a:lnTo>
                    <a:pt x="486" y="4832"/>
                  </a:lnTo>
                  <a:lnTo>
                    <a:pt x="464" y="4802"/>
                  </a:lnTo>
                  <a:lnTo>
                    <a:pt x="443" y="4772"/>
                  </a:lnTo>
                  <a:lnTo>
                    <a:pt x="423" y="4740"/>
                  </a:lnTo>
                  <a:lnTo>
                    <a:pt x="401" y="4710"/>
                  </a:lnTo>
                  <a:lnTo>
                    <a:pt x="382" y="4678"/>
                  </a:lnTo>
                  <a:lnTo>
                    <a:pt x="362" y="4646"/>
                  </a:lnTo>
                  <a:lnTo>
                    <a:pt x="344" y="4615"/>
                  </a:lnTo>
                  <a:lnTo>
                    <a:pt x="326" y="4582"/>
                  </a:lnTo>
                  <a:lnTo>
                    <a:pt x="307" y="4550"/>
                  </a:lnTo>
                  <a:lnTo>
                    <a:pt x="290" y="4518"/>
                  </a:lnTo>
                  <a:lnTo>
                    <a:pt x="273" y="4484"/>
                  </a:lnTo>
                  <a:lnTo>
                    <a:pt x="257" y="4451"/>
                  </a:lnTo>
                  <a:lnTo>
                    <a:pt x="241" y="4417"/>
                  </a:lnTo>
                  <a:lnTo>
                    <a:pt x="226" y="4384"/>
                  </a:lnTo>
                  <a:lnTo>
                    <a:pt x="211" y="4349"/>
                  </a:lnTo>
                  <a:lnTo>
                    <a:pt x="196" y="4316"/>
                  </a:lnTo>
                  <a:lnTo>
                    <a:pt x="183" y="4281"/>
                  </a:lnTo>
                  <a:lnTo>
                    <a:pt x="169" y="4246"/>
                  </a:lnTo>
                  <a:lnTo>
                    <a:pt x="157" y="4211"/>
                  </a:lnTo>
                  <a:lnTo>
                    <a:pt x="145" y="4175"/>
                  </a:lnTo>
                  <a:lnTo>
                    <a:pt x="133" y="4140"/>
                  </a:lnTo>
                  <a:lnTo>
                    <a:pt x="122" y="4104"/>
                  </a:lnTo>
                  <a:lnTo>
                    <a:pt x="110" y="4068"/>
                  </a:lnTo>
                  <a:lnTo>
                    <a:pt x="100" y="4032"/>
                  </a:lnTo>
                  <a:lnTo>
                    <a:pt x="90" y="3994"/>
                  </a:lnTo>
                  <a:lnTo>
                    <a:pt x="81" y="3958"/>
                  </a:lnTo>
                  <a:lnTo>
                    <a:pt x="72" y="3920"/>
                  </a:lnTo>
                  <a:lnTo>
                    <a:pt x="64" y="3883"/>
                  </a:lnTo>
                  <a:lnTo>
                    <a:pt x="56" y="3844"/>
                  </a:lnTo>
                  <a:lnTo>
                    <a:pt x="49" y="3807"/>
                  </a:lnTo>
                  <a:lnTo>
                    <a:pt x="42" y="3768"/>
                  </a:lnTo>
                  <a:lnTo>
                    <a:pt x="36" y="3730"/>
                  </a:lnTo>
                  <a:lnTo>
                    <a:pt x="31" y="3690"/>
                  </a:lnTo>
                  <a:lnTo>
                    <a:pt x="25" y="3651"/>
                  </a:lnTo>
                  <a:lnTo>
                    <a:pt x="21" y="3611"/>
                  </a:lnTo>
                  <a:lnTo>
                    <a:pt x="16" y="3572"/>
                  </a:lnTo>
                  <a:lnTo>
                    <a:pt x="12" y="3531"/>
                  </a:lnTo>
                  <a:lnTo>
                    <a:pt x="9" y="3492"/>
                  </a:lnTo>
                  <a:lnTo>
                    <a:pt x="6" y="3450"/>
                  </a:lnTo>
                  <a:lnTo>
                    <a:pt x="4" y="3410"/>
                  </a:lnTo>
                  <a:lnTo>
                    <a:pt x="2" y="3368"/>
                  </a:lnTo>
                  <a:lnTo>
                    <a:pt x="1" y="3327"/>
                  </a:lnTo>
                  <a:lnTo>
                    <a:pt x="0" y="3285"/>
                  </a:lnTo>
                  <a:lnTo>
                    <a:pt x="0" y="3244"/>
                  </a:lnTo>
                  <a:lnTo>
                    <a:pt x="0" y="3173"/>
                  </a:lnTo>
                  <a:lnTo>
                    <a:pt x="2" y="3103"/>
                  </a:lnTo>
                  <a:lnTo>
                    <a:pt x="6" y="3034"/>
                  </a:lnTo>
                  <a:lnTo>
                    <a:pt x="11" y="2966"/>
                  </a:lnTo>
                  <a:lnTo>
                    <a:pt x="17" y="2897"/>
                  </a:lnTo>
                  <a:lnTo>
                    <a:pt x="25" y="2829"/>
                  </a:lnTo>
                  <a:lnTo>
                    <a:pt x="34" y="2761"/>
                  </a:lnTo>
                  <a:lnTo>
                    <a:pt x="44" y="2694"/>
                  </a:lnTo>
                  <a:lnTo>
                    <a:pt x="56" y="2627"/>
                  </a:lnTo>
                  <a:lnTo>
                    <a:pt x="69" y="2561"/>
                  </a:lnTo>
                  <a:lnTo>
                    <a:pt x="83" y="2496"/>
                  </a:lnTo>
                  <a:lnTo>
                    <a:pt x="99" y="2430"/>
                  </a:lnTo>
                  <a:lnTo>
                    <a:pt x="116" y="2365"/>
                  </a:lnTo>
                  <a:lnTo>
                    <a:pt x="135" y="2300"/>
                  </a:lnTo>
                  <a:lnTo>
                    <a:pt x="155" y="2237"/>
                  </a:lnTo>
                  <a:lnTo>
                    <a:pt x="176" y="2173"/>
                  </a:lnTo>
                  <a:lnTo>
                    <a:pt x="199" y="2110"/>
                  </a:lnTo>
                  <a:lnTo>
                    <a:pt x="224" y="2048"/>
                  </a:lnTo>
                  <a:lnTo>
                    <a:pt x="249" y="1987"/>
                  </a:lnTo>
                  <a:lnTo>
                    <a:pt x="275" y="1926"/>
                  </a:lnTo>
                  <a:lnTo>
                    <a:pt x="303" y="1865"/>
                  </a:lnTo>
                  <a:lnTo>
                    <a:pt x="333" y="1805"/>
                  </a:lnTo>
                  <a:lnTo>
                    <a:pt x="363" y="1747"/>
                  </a:lnTo>
                  <a:lnTo>
                    <a:pt x="395" y="1688"/>
                  </a:lnTo>
                  <a:lnTo>
                    <a:pt x="428" y="1630"/>
                  </a:lnTo>
                  <a:lnTo>
                    <a:pt x="462" y="1574"/>
                  </a:lnTo>
                  <a:lnTo>
                    <a:pt x="498" y="1518"/>
                  </a:lnTo>
                  <a:lnTo>
                    <a:pt x="535" y="1462"/>
                  </a:lnTo>
                  <a:lnTo>
                    <a:pt x="573" y="1408"/>
                  </a:lnTo>
                  <a:lnTo>
                    <a:pt x="613" y="1353"/>
                  </a:lnTo>
                  <a:lnTo>
                    <a:pt x="654" y="1299"/>
                  </a:lnTo>
                  <a:lnTo>
                    <a:pt x="696" y="1247"/>
                  </a:lnTo>
                  <a:lnTo>
                    <a:pt x="728" y="1208"/>
                  </a:lnTo>
                  <a:lnTo>
                    <a:pt x="759" y="1171"/>
                  </a:lnTo>
                  <a:lnTo>
                    <a:pt x="790" y="1134"/>
                  </a:lnTo>
                  <a:lnTo>
                    <a:pt x="823" y="1098"/>
                  </a:lnTo>
                  <a:lnTo>
                    <a:pt x="855" y="1062"/>
                  </a:lnTo>
                  <a:lnTo>
                    <a:pt x="888" y="1027"/>
                  </a:lnTo>
                  <a:lnTo>
                    <a:pt x="922" y="992"/>
                  </a:lnTo>
                  <a:lnTo>
                    <a:pt x="956" y="959"/>
                  </a:lnTo>
                  <a:lnTo>
                    <a:pt x="990" y="926"/>
                  </a:lnTo>
                  <a:lnTo>
                    <a:pt x="1025" y="892"/>
                  </a:lnTo>
                  <a:lnTo>
                    <a:pt x="1060" y="861"/>
                  </a:lnTo>
                  <a:lnTo>
                    <a:pt x="1095" y="828"/>
                  </a:lnTo>
                  <a:lnTo>
                    <a:pt x="1132" y="798"/>
                  </a:lnTo>
                  <a:lnTo>
                    <a:pt x="1168" y="768"/>
                  </a:lnTo>
                  <a:lnTo>
                    <a:pt x="1205" y="737"/>
                  </a:lnTo>
                  <a:lnTo>
                    <a:pt x="1242" y="708"/>
                  </a:lnTo>
                  <a:lnTo>
                    <a:pt x="1280" y="680"/>
                  </a:lnTo>
                  <a:lnTo>
                    <a:pt x="1318" y="651"/>
                  </a:lnTo>
                  <a:lnTo>
                    <a:pt x="1356" y="624"/>
                  </a:lnTo>
                  <a:lnTo>
                    <a:pt x="1395" y="597"/>
                  </a:lnTo>
                  <a:lnTo>
                    <a:pt x="1435" y="570"/>
                  </a:lnTo>
                  <a:lnTo>
                    <a:pt x="1474" y="544"/>
                  </a:lnTo>
                  <a:lnTo>
                    <a:pt x="1515" y="519"/>
                  </a:lnTo>
                  <a:lnTo>
                    <a:pt x="1555" y="494"/>
                  </a:lnTo>
                  <a:lnTo>
                    <a:pt x="1595" y="470"/>
                  </a:lnTo>
                  <a:lnTo>
                    <a:pt x="1637" y="447"/>
                  </a:lnTo>
                  <a:lnTo>
                    <a:pt x="1679" y="423"/>
                  </a:lnTo>
                  <a:lnTo>
                    <a:pt x="1722" y="401"/>
                  </a:lnTo>
                  <a:lnTo>
                    <a:pt x="1764" y="379"/>
                  </a:lnTo>
                  <a:lnTo>
                    <a:pt x="1806" y="358"/>
                  </a:lnTo>
                  <a:lnTo>
                    <a:pt x="1850" y="337"/>
                  </a:lnTo>
                  <a:lnTo>
                    <a:pt x="1894" y="317"/>
                  </a:lnTo>
                  <a:lnTo>
                    <a:pt x="1938" y="298"/>
                  </a:lnTo>
                  <a:lnTo>
                    <a:pt x="1983" y="279"/>
                  </a:lnTo>
                  <a:lnTo>
                    <a:pt x="2028" y="260"/>
                  </a:lnTo>
                  <a:lnTo>
                    <a:pt x="2072" y="243"/>
                  </a:lnTo>
                  <a:lnTo>
                    <a:pt x="2118" y="226"/>
                  </a:lnTo>
                  <a:lnTo>
                    <a:pt x="2164" y="210"/>
                  </a:lnTo>
                  <a:lnTo>
                    <a:pt x="2210" y="194"/>
                  </a:lnTo>
                  <a:lnTo>
                    <a:pt x="2256" y="178"/>
                  </a:lnTo>
                  <a:lnTo>
                    <a:pt x="2302" y="164"/>
                  </a:lnTo>
                  <a:lnTo>
                    <a:pt x="2349" y="150"/>
                  </a:lnTo>
                  <a:lnTo>
                    <a:pt x="2396" y="137"/>
                  </a:lnTo>
                  <a:lnTo>
                    <a:pt x="2444" y="124"/>
                  </a:lnTo>
                  <a:lnTo>
                    <a:pt x="2491" y="112"/>
                  </a:lnTo>
                  <a:lnTo>
                    <a:pt x="2540" y="101"/>
                  </a:lnTo>
                  <a:lnTo>
                    <a:pt x="2587" y="89"/>
                  </a:lnTo>
                  <a:lnTo>
                    <a:pt x="2636" y="79"/>
                  </a:lnTo>
                  <a:lnTo>
                    <a:pt x="2685" y="70"/>
                  </a:lnTo>
                  <a:lnTo>
                    <a:pt x="2734" y="61"/>
                  </a:lnTo>
                  <a:lnTo>
                    <a:pt x="2783" y="53"/>
                  </a:lnTo>
                  <a:lnTo>
                    <a:pt x="2834" y="45"/>
                  </a:lnTo>
                  <a:lnTo>
                    <a:pt x="2883" y="38"/>
                  </a:lnTo>
                  <a:lnTo>
                    <a:pt x="2934" y="31"/>
                  </a:lnTo>
                  <a:lnTo>
                    <a:pt x="2984" y="26"/>
                  </a:lnTo>
                  <a:lnTo>
                    <a:pt x="3035" y="20"/>
                  </a:lnTo>
                  <a:lnTo>
                    <a:pt x="3086" y="15"/>
                  </a:lnTo>
                  <a:lnTo>
                    <a:pt x="3138" y="11"/>
                  </a:lnTo>
                  <a:lnTo>
                    <a:pt x="3189" y="7"/>
                  </a:lnTo>
                  <a:lnTo>
                    <a:pt x="3242" y="5"/>
                  </a:lnTo>
                  <a:lnTo>
                    <a:pt x="3293" y="3"/>
                  </a:lnTo>
                  <a:lnTo>
                    <a:pt x="3347" y="1"/>
                  </a:lnTo>
                  <a:lnTo>
                    <a:pt x="3399" y="0"/>
                  </a:lnTo>
                  <a:lnTo>
                    <a:pt x="3453" y="0"/>
                  </a:lnTo>
                  <a:lnTo>
                    <a:pt x="3523" y="0"/>
                  </a:lnTo>
                  <a:lnTo>
                    <a:pt x="3593" y="2"/>
                  </a:lnTo>
                  <a:lnTo>
                    <a:pt x="3663" y="5"/>
                  </a:lnTo>
                  <a:lnTo>
                    <a:pt x="3732" y="9"/>
                  </a:lnTo>
                  <a:lnTo>
                    <a:pt x="3800" y="15"/>
                  </a:lnTo>
                  <a:lnTo>
                    <a:pt x="3868" y="22"/>
                  </a:lnTo>
                  <a:lnTo>
                    <a:pt x="3936" y="30"/>
                  </a:lnTo>
                  <a:lnTo>
                    <a:pt x="4003" y="39"/>
                  </a:lnTo>
                  <a:lnTo>
                    <a:pt x="4068" y="49"/>
                  </a:lnTo>
                  <a:lnTo>
                    <a:pt x="4135" y="60"/>
                  </a:lnTo>
                  <a:lnTo>
                    <a:pt x="4199" y="73"/>
                  </a:lnTo>
                  <a:lnTo>
                    <a:pt x="4264" y="86"/>
                  </a:lnTo>
                  <a:lnTo>
                    <a:pt x="4329" y="102"/>
                  </a:lnTo>
                  <a:lnTo>
                    <a:pt x="4392" y="118"/>
                  </a:lnTo>
                  <a:lnTo>
                    <a:pt x="4456" y="135"/>
                  </a:lnTo>
                  <a:lnTo>
                    <a:pt x="4519" y="154"/>
                  </a:lnTo>
                  <a:lnTo>
                    <a:pt x="4580" y="173"/>
                  </a:lnTo>
                  <a:lnTo>
                    <a:pt x="4642" y="195"/>
                  </a:lnTo>
                  <a:lnTo>
                    <a:pt x="4702" y="216"/>
                  </a:lnTo>
                  <a:lnTo>
                    <a:pt x="4760" y="239"/>
                  </a:lnTo>
                  <a:lnTo>
                    <a:pt x="4818" y="264"/>
                  </a:lnTo>
                  <a:lnTo>
                    <a:pt x="4875" y="288"/>
                  </a:lnTo>
                  <a:lnTo>
                    <a:pt x="4931" y="314"/>
                  </a:lnTo>
                  <a:lnTo>
                    <a:pt x="4985" y="341"/>
                  </a:lnTo>
                  <a:lnTo>
                    <a:pt x="5039" y="370"/>
                  </a:lnTo>
                  <a:lnTo>
                    <a:pt x="5091" y="398"/>
                  </a:lnTo>
                  <a:lnTo>
                    <a:pt x="5143" y="429"/>
                  </a:lnTo>
                  <a:lnTo>
                    <a:pt x="5193" y="460"/>
                  </a:lnTo>
                  <a:lnTo>
                    <a:pt x="5243" y="492"/>
                  </a:lnTo>
                  <a:lnTo>
                    <a:pt x="5291" y="526"/>
                  </a:lnTo>
                  <a:lnTo>
                    <a:pt x="5339" y="560"/>
                  </a:lnTo>
                  <a:lnTo>
                    <a:pt x="5385" y="596"/>
                  </a:lnTo>
                  <a:lnTo>
                    <a:pt x="5441" y="640"/>
                  </a:lnTo>
                  <a:lnTo>
                    <a:pt x="5496" y="686"/>
                  </a:lnTo>
                  <a:lnTo>
                    <a:pt x="5547" y="732"/>
                  </a:lnTo>
                  <a:lnTo>
                    <a:pt x="5598" y="780"/>
                  </a:lnTo>
                  <a:lnTo>
                    <a:pt x="5646" y="828"/>
                  </a:lnTo>
                  <a:lnTo>
                    <a:pt x="5693" y="877"/>
                  </a:lnTo>
                  <a:lnTo>
                    <a:pt x="5738" y="927"/>
                  </a:lnTo>
                  <a:lnTo>
                    <a:pt x="5781" y="976"/>
                  </a:lnTo>
                  <a:lnTo>
                    <a:pt x="5823" y="1028"/>
                  </a:lnTo>
                  <a:lnTo>
                    <a:pt x="5862" y="1079"/>
                  </a:lnTo>
                  <a:lnTo>
                    <a:pt x="5901" y="1132"/>
                  </a:lnTo>
                  <a:lnTo>
                    <a:pt x="5936" y="1186"/>
                  </a:lnTo>
                  <a:lnTo>
                    <a:pt x="5970" y="1239"/>
                  </a:lnTo>
                  <a:lnTo>
                    <a:pt x="6003" y="1295"/>
                  </a:lnTo>
                  <a:lnTo>
                    <a:pt x="6034" y="1351"/>
                  </a:lnTo>
                  <a:lnTo>
                    <a:pt x="6062" y="1406"/>
                  </a:lnTo>
                  <a:lnTo>
                    <a:pt x="6089" y="1464"/>
                  </a:lnTo>
                  <a:lnTo>
                    <a:pt x="6115" y="1522"/>
                  </a:lnTo>
                  <a:lnTo>
                    <a:pt x="6138" y="1581"/>
                  </a:lnTo>
                  <a:lnTo>
                    <a:pt x="6160" y="1640"/>
                  </a:lnTo>
                  <a:lnTo>
                    <a:pt x="6180" y="1702"/>
                  </a:lnTo>
                  <a:lnTo>
                    <a:pt x="6199" y="1763"/>
                  </a:lnTo>
                  <a:lnTo>
                    <a:pt x="6215" y="1826"/>
                  </a:lnTo>
                  <a:lnTo>
                    <a:pt x="6230" y="1889"/>
                  </a:lnTo>
                  <a:lnTo>
                    <a:pt x="6243" y="1953"/>
                  </a:lnTo>
                  <a:lnTo>
                    <a:pt x="6254" y="2019"/>
                  </a:lnTo>
                  <a:lnTo>
                    <a:pt x="6263" y="2085"/>
                  </a:lnTo>
                  <a:lnTo>
                    <a:pt x="6271" y="2152"/>
                  </a:lnTo>
                  <a:lnTo>
                    <a:pt x="6277" y="2219"/>
                  </a:lnTo>
                  <a:lnTo>
                    <a:pt x="6281" y="2288"/>
                  </a:lnTo>
                  <a:lnTo>
                    <a:pt x="6284" y="2358"/>
                  </a:lnTo>
                  <a:lnTo>
                    <a:pt x="6285" y="2429"/>
                  </a:lnTo>
                  <a:lnTo>
                    <a:pt x="6284" y="2498"/>
                  </a:lnTo>
                  <a:lnTo>
                    <a:pt x="6282" y="2567"/>
                  </a:lnTo>
                  <a:lnTo>
                    <a:pt x="6277" y="2635"/>
                  </a:lnTo>
                  <a:lnTo>
                    <a:pt x="6271" y="2701"/>
                  </a:lnTo>
                  <a:lnTo>
                    <a:pt x="6264" y="2768"/>
                  </a:lnTo>
                  <a:lnTo>
                    <a:pt x="6254" y="2834"/>
                  </a:lnTo>
                  <a:lnTo>
                    <a:pt x="6244" y="2900"/>
                  </a:lnTo>
                  <a:lnTo>
                    <a:pt x="6231" y="2964"/>
                  </a:lnTo>
                  <a:lnTo>
                    <a:pt x="6217" y="3027"/>
                  </a:lnTo>
                  <a:lnTo>
                    <a:pt x="6200" y="3091"/>
                  </a:lnTo>
                  <a:lnTo>
                    <a:pt x="6182" y="3153"/>
                  </a:lnTo>
                  <a:lnTo>
                    <a:pt x="6162" y="3215"/>
                  </a:lnTo>
                  <a:lnTo>
                    <a:pt x="6141" y="3276"/>
                  </a:lnTo>
                  <a:lnTo>
                    <a:pt x="6118" y="3336"/>
                  </a:lnTo>
                  <a:lnTo>
                    <a:pt x="6094" y="3396"/>
                  </a:lnTo>
                  <a:lnTo>
                    <a:pt x="6067" y="3455"/>
                  </a:lnTo>
                  <a:lnTo>
                    <a:pt x="6039" y="3512"/>
                  </a:lnTo>
                  <a:lnTo>
                    <a:pt x="6010" y="3570"/>
                  </a:lnTo>
                  <a:lnTo>
                    <a:pt x="5978" y="3626"/>
                  </a:lnTo>
                  <a:lnTo>
                    <a:pt x="5945" y="3680"/>
                  </a:lnTo>
                  <a:lnTo>
                    <a:pt x="5911" y="3734"/>
                  </a:lnTo>
                  <a:lnTo>
                    <a:pt x="5875" y="3787"/>
                  </a:lnTo>
                  <a:lnTo>
                    <a:pt x="5838" y="3838"/>
                  </a:lnTo>
                  <a:lnTo>
                    <a:pt x="5799" y="3889"/>
                  </a:lnTo>
                  <a:lnTo>
                    <a:pt x="5758" y="3938"/>
                  </a:lnTo>
                  <a:lnTo>
                    <a:pt x="5717" y="3987"/>
                  </a:lnTo>
                  <a:lnTo>
                    <a:pt x="5673" y="4035"/>
                  </a:lnTo>
                  <a:lnTo>
                    <a:pt x="5628" y="4081"/>
                  </a:lnTo>
                  <a:lnTo>
                    <a:pt x="5581" y="4127"/>
                  </a:lnTo>
                  <a:lnTo>
                    <a:pt x="5533" y="4170"/>
                  </a:lnTo>
                  <a:lnTo>
                    <a:pt x="5483" y="4214"/>
                  </a:lnTo>
                  <a:lnTo>
                    <a:pt x="5432" y="4256"/>
                  </a:lnTo>
                  <a:lnTo>
                    <a:pt x="5404" y="4280"/>
                  </a:lnTo>
                  <a:lnTo>
                    <a:pt x="5373" y="4302"/>
                  </a:lnTo>
                  <a:lnTo>
                    <a:pt x="5344" y="4323"/>
                  </a:lnTo>
                  <a:lnTo>
                    <a:pt x="5314" y="4344"/>
                  </a:lnTo>
                  <a:lnTo>
                    <a:pt x="5283" y="4365"/>
                  </a:lnTo>
                  <a:lnTo>
                    <a:pt x="5252" y="4384"/>
                  </a:lnTo>
                  <a:lnTo>
                    <a:pt x="5221" y="4403"/>
                  </a:lnTo>
                  <a:lnTo>
                    <a:pt x="5188" y="4421"/>
                  </a:lnTo>
                  <a:lnTo>
                    <a:pt x="5156" y="4439"/>
                  </a:lnTo>
                  <a:lnTo>
                    <a:pt x="5124" y="4456"/>
                  </a:lnTo>
                  <a:lnTo>
                    <a:pt x="5090" y="4471"/>
                  </a:lnTo>
                  <a:lnTo>
                    <a:pt x="5057" y="4487"/>
                  </a:lnTo>
                  <a:lnTo>
                    <a:pt x="5024" y="4501"/>
                  </a:lnTo>
                  <a:lnTo>
                    <a:pt x="4989" y="4515"/>
                  </a:lnTo>
                  <a:lnTo>
                    <a:pt x="4954" y="4529"/>
                  </a:lnTo>
                  <a:lnTo>
                    <a:pt x="4919" y="4541"/>
                  </a:lnTo>
                  <a:lnTo>
                    <a:pt x="4883" y="4553"/>
                  </a:lnTo>
                  <a:lnTo>
                    <a:pt x="4848" y="4564"/>
                  </a:lnTo>
                  <a:lnTo>
                    <a:pt x="4812" y="4575"/>
                  </a:lnTo>
                  <a:lnTo>
                    <a:pt x="4776" y="4584"/>
                  </a:lnTo>
                  <a:lnTo>
                    <a:pt x="4740" y="4593"/>
                  </a:lnTo>
                  <a:lnTo>
                    <a:pt x="4704" y="4602"/>
                  </a:lnTo>
                  <a:lnTo>
                    <a:pt x="4667" y="4609"/>
                  </a:lnTo>
                  <a:lnTo>
                    <a:pt x="4631" y="4616"/>
                  </a:lnTo>
                  <a:lnTo>
                    <a:pt x="4593" y="4622"/>
                  </a:lnTo>
                  <a:lnTo>
                    <a:pt x="4557" y="4627"/>
                  </a:lnTo>
                  <a:lnTo>
                    <a:pt x="4520" y="4631"/>
                  </a:lnTo>
                  <a:lnTo>
                    <a:pt x="4482" y="4634"/>
                  </a:lnTo>
                  <a:lnTo>
                    <a:pt x="4445" y="4637"/>
                  </a:lnTo>
                  <a:lnTo>
                    <a:pt x="4408" y="4639"/>
                  </a:lnTo>
                  <a:lnTo>
                    <a:pt x="4370" y="4640"/>
                  </a:lnTo>
                  <a:lnTo>
                    <a:pt x="4332" y="4640"/>
                  </a:lnTo>
                  <a:lnTo>
                    <a:pt x="4288" y="4640"/>
                  </a:lnTo>
                  <a:lnTo>
                    <a:pt x="4246" y="4638"/>
                  </a:lnTo>
                  <a:lnTo>
                    <a:pt x="4206" y="4636"/>
                  </a:lnTo>
                  <a:lnTo>
                    <a:pt x="4166" y="4632"/>
                  </a:lnTo>
                  <a:lnTo>
                    <a:pt x="4128" y="4628"/>
                  </a:lnTo>
                  <a:lnTo>
                    <a:pt x="4091" y="4622"/>
                  </a:lnTo>
                  <a:lnTo>
                    <a:pt x="4056" y="4615"/>
                  </a:lnTo>
                  <a:lnTo>
                    <a:pt x="4022" y="4607"/>
                  </a:lnTo>
                  <a:lnTo>
                    <a:pt x="3988" y="4599"/>
                  </a:lnTo>
                  <a:lnTo>
                    <a:pt x="3957" y="4588"/>
                  </a:lnTo>
                  <a:lnTo>
                    <a:pt x="3927" y="4577"/>
                  </a:lnTo>
                  <a:lnTo>
                    <a:pt x="3898" y="4565"/>
                  </a:lnTo>
                  <a:lnTo>
                    <a:pt x="3870" y="4553"/>
                  </a:lnTo>
                  <a:lnTo>
                    <a:pt x="3845" y="4539"/>
                  </a:lnTo>
                  <a:lnTo>
                    <a:pt x="3820" y="4524"/>
                  </a:lnTo>
                  <a:lnTo>
                    <a:pt x="3796" y="4507"/>
                  </a:lnTo>
                  <a:lnTo>
                    <a:pt x="3774" y="4490"/>
                  </a:lnTo>
                  <a:lnTo>
                    <a:pt x="3753" y="4472"/>
                  </a:lnTo>
                  <a:lnTo>
                    <a:pt x="3733" y="4453"/>
                  </a:lnTo>
                  <a:lnTo>
                    <a:pt x="3715" y="4432"/>
                  </a:lnTo>
                  <a:lnTo>
                    <a:pt x="3697" y="4411"/>
                  </a:lnTo>
                  <a:lnTo>
                    <a:pt x="3682" y="4388"/>
                  </a:lnTo>
                  <a:lnTo>
                    <a:pt x="3667" y="4365"/>
                  </a:lnTo>
                  <a:lnTo>
                    <a:pt x="3654" y="4340"/>
                  </a:lnTo>
                  <a:lnTo>
                    <a:pt x="3642" y="4315"/>
                  </a:lnTo>
                  <a:lnTo>
                    <a:pt x="3632" y="4288"/>
                  </a:lnTo>
                  <a:lnTo>
                    <a:pt x="3623" y="4260"/>
                  </a:lnTo>
                  <a:lnTo>
                    <a:pt x="3615" y="4231"/>
                  </a:lnTo>
                  <a:lnTo>
                    <a:pt x="3609" y="4202"/>
                  </a:lnTo>
                  <a:lnTo>
                    <a:pt x="3602" y="4170"/>
                  </a:lnTo>
                  <a:lnTo>
                    <a:pt x="3598" y="4139"/>
                  </a:lnTo>
                  <a:lnTo>
                    <a:pt x="3596" y="4105"/>
                  </a:lnTo>
                  <a:close/>
                  <a:moveTo>
                    <a:pt x="3719" y="2656"/>
                  </a:moveTo>
                  <a:lnTo>
                    <a:pt x="3715" y="2624"/>
                  </a:lnTo>
                  <a:lnTo>
                    <a:pt x="3710" y="2594"/>
                  </a:lnTo>
                  <a:lnTo>
                    <a:pt x="3705" y="2565"/>
                  </a:lnTo>
                  <a:lnTo>
                    <a:pt x="3697" y="2536"/>
                  </a:lnTo>
                  <a:lnTo>
                    <a:pt x="3690" y="2509"/>
                  </a:lnTo>
                  <a:lnTo>
                    <a:pt x="3681" y="2482"/>
                  </a:lnTo>
                  <a:lnTo>
                    <a:pt x="3672" y="2456"/>
                  </a:lnTo>
                  <a:lnTo>
                    <a:pt x="3663" y="2432"/>
                  </a:lnTo>
                  <a:lnTo>
                    <a:pt x="3652" y="2408"/>
                  </a:lnTo>
                  <a:lnTo>
                    <a:pt x="3640" y="2385"/>
                  </a:lnTo>
                  <a:lnTo>
                    <a:pt x="3628" y="2363"/>
                  </a:lnTo>
                  <a:lnTo>
                    <a:pt x="3615" y="2342"/>
                  </a:lnTo>
                  <a:lnTo>
                    <a:pt x="3600" y="2322"/>
                  </a:lnTo>
                  <a:lnTo>
                    <a:pt x="3585" y="2303"/>
                  </a:lnTo>
                  <a:lnTo>
                    <a:pt x="3569" y="2285"/>
                  </a:lnTo>
                  <a:lnTo>
                    <a:pt x="3553" y="2268"/>
                  </a:lnTo>
                  <a:lnTo>
                    <a:pt x="3536" y="2252"/>
                  </a:lnTo>
                  <a:lnTo>
                    <a:pt x="3517" y="2237"/>
                  </a:lnTo>
                  <a:lnTo>
                    <a:pt x="3498" y="2222"/>
                  </a:lnTo>
                  <a:lnTo>
                    <a:pt x="3478" y="2209"/>
                  </a:lnTo>
                  <a:lnTo>
                    <a:pt x="3458" y="2197"/>
                  </a:lnTo>
                  <a:lnTo>
                    <a:pt x="3437" y="2187"/>
                  </a:lnTo>
                  <a:lnTo>
                    <a:pt x="3415" y="2177"/>
                  </a:lnTo>
                  <a:lnTo>
                    <a:pt x="3392" y="2168"/>
                  </a:lnTo>
                  <a:lnTo>
                    <a:pt x="3369" y="2160"/>
                  </a:lnTo>
                  <a:lnTo>
                    <a:pt x="3345" y="2154"/>
                  </a:lnTo>
                  <a:lnTo>
                    <a:pt x="3321" y="2148"/>
                  </a:lnTo>
                  <a:lnTo>
                    <a:pt x="3295" y="2142"/>
                  </a:lnTo>
                  <a:lnTo>
                    <a:pt x="3269" y="2139"/>
                  </a:lnTo>
                  <a:lnTo>
                    <a:pt x="3242" y="2136"/>
                  </a:lnTo>
                  <a:lnTo>
                    <a:pt x="3215" y="2134"/>
                  </a:lnTo>
                  <a:lnTo>
                    <a:pt x="3186" y="2134"/>
                  </a:lnTo>
                  <a:lnTo>
                    <a:pt x="3165" y="2134"/>
                  </a:lnTo>
                  <a:lnTo>
                    <a:pt x="3144" y="2136"/>
                  </a:lnTo>
                  <a:lnTo>
                    <a:pt x="3123" y="2138"/>
                  </a:lnTo>
                  <a:lnTo>
                    <a:pt x="3101" y="2140"/>
                  </a:lnTo>
                  <a:lnTo>
                    <a:pt x="3080" y="2145"/>
                  </a:lnTo>
                  <a:lnTo>
                    <a:pt x="3060" y="2149"/>
                  </a:lnTo>
                  <a:lnTo>
                    <a:pt x="3040" y="2154"/>
                  </a:lnTo>
                  <a:lnTo>
                    <a:pt x="3020" y="2160"/>
                  </a:lnTo>
                  <a:lnTo>
                    <a:pt x="2999" y="2167"/>
                  </a:lnTo>
                  <a:lnTo>
                    <a:pt x="2979" y="2174"/>
                  </a:lnTo>
                  <a:lnTo>
                    <a:pt x="2959" y="2183"/>
                  </a:lnTo>
                  <a:lnTo>
                    <a:pt x="2940" y="2192"/>
                  </a:lnTo>
                  <a:lnTo>
                    <a:pt x="2921" y="2201"/>
                  </a:lnTo>
                  <a:lnTo>
                    <a:pt x="2901" y="2212"/>
                  </a:lnTo>
                  <a:lnTo>
                    <a:pt x="2882" y="2223"/>
                  </a:lnTo>
                  <a:lnTo>
                    <a:pt x="2863" y="2236"/>
                  </a:lnTo>
                  <a:lnTo>
                    <a:pt x="2844" y="2249"/>
                  </a:lnTo>
                  <a:lnTo>
                    <a:pt x="2826" y="2263"/>
                  </a:lnTo>
                  <a:lnTo>
                    <a:pt x="2806" y="2278"/>
                  </a:lnTo>
                  <a:lnTo>
                    <a:pt x="2788" y="2293"/>
                  </a:lnTo>
                  <a:lnTo>
                    <a:pt x="2770" y="2310"/>
                  </a:lnTo>
                  <a:lnTo>
                    <a:pt x="2752" y="2327"/>
                  </a:lnTo>
                  <a:lnTo>
                    <a:pt x="2735" y="2344"/>
                  </a:lnTo>
                  <a:lnTo>
                    <a:pt x="2717" y="2363"/>
                  </a:lnTo>
                  <a:lnTo>
                    <a:pt x="2699" y="2382"/>
                  </a:lnTo>
                  <a:lnTo>
                    <a:pt x="2682" y="2403"/>
                  </a:lnTo>
                  <a:lnTo>
                    <a:pt x="2665" y="2424"/>
                  </a:lnTo>
                  <a:lnTo>
                    <a:pt x="2648" y="2445"/>
                  </a:lnTo>
                  <a:lnTo>
                    <a:pt x="2631" y="2467"/>
                  </a:lnTo>
                  <a:lnTo>
                    <a:pt x="2615" y="2491"/>
                  </a:lnTo>
                  <a:lnTo>
                    <a:pt x="2597" y="2515"/>
                  </a:lnTo>
                  <a:lnTo>
                    <a:pt x="2581" y="2540"/>
                  </a:lnTo>
                  <a:lnTo>
                    <a:pt x="2565" y="2566"/>
                  </a:lnTo>
                  <a:lnTo>
                    <a:pt x="2550" y="2592"/>
                  </a:lnTo>
                  <a:lnTo>
                    <a:pt x="2535" y="2618"/>
                  </a:lnTo>
                  <a:lnTo>
                    <a:pt x="2520" y="2645"/>
                  </a:lnTo>
                  <a:lnTo>
                    <a:pt x="2505" y="2671"/>
                  </a:lnTo>
                  <a:lnTo>
                    <a:pt x="2492" y="2698"/>
                  </a:lnTo>
                  <a:lnTo>
                    <a:pt x="2479" y="2726"/>
                  </a:lnTo>
                  <a:lnTo>
                    <a:pt x="2467" y="2753"/>
                  </a:lnTo>
                  <a:lnTo>
                    <a:pt x="2455" y="2780"/>
                  </a:lnTo>
                  <a:lnTo>
                    <a:pt x="2443" y="2809"/>
                  </a:lnTo>
                  <a:lnTo>
                    <a:pt x="2433" y="2837"/>
                  </a:lnTo>
                  <a:lnTo>
                    <a:pt x="2422" y="2865"/>
                  </a:lnTo>
                  <a:lnTo>
                    <a:pt x="2412" y="2895"/>
                  </a:lnTo>
                  <a:lnTo>
                    <a:pt x="2402" y="2924"/>
                  </a:lnTo>
                  <a:lnTo>
                    <a:pt x="2393" y="2953"/>
                  </a:lnTo>
                  <a:lnTo>
                    <a:pt x="2385" y="2983"/>
                  </a:lnTo>
                  <a:lnTo>
                    <a:pt x="2377" y="3013"/>
                  </a:lnTo>
                  <a:lnTo>
                    <a:pt x="2370" y="3044"/>
                  </a:lnTo>
                  <a:lnTo>
                    <a:pt x="2363" y="3074"/>
                  </a:lnTo>
                  <a:lnTo>
                    <a:pt x="2356" y="3105"/>
                  </a:lnTo>
                  <a:lnTo>
                    <a:pt x="2351" y="3137"/>
                  </a:lnTo>
                  <a:lnTo>
                    <a:pt x="2345" y="3168"/>
                  </a:lnTo>
                  <a:lnTo>
                    <a:pt x="2340" y="3199"/>
                  </a:lnTo>
                  <a:lnTo>
                    <a:pt x="2336" y="3232"/>
                  </a:lnTo>
                  <a:lnTo>
                    <a:pt x="2332" y="3264"/>
                  </a:lnTo>
                  <a:lnTo>
                    <a:pt x="2329" y="3297"/>
                  </a:lnTo>
                  <a:lnTo>
                    <a:pt x="2326" y="3329"/>
                  </a:lnTo>
                  <a:lnTo>
                    <a:pt x="2324" y="3362"/>
                  </a:lnTo>
                  <a:lnTo>
                    <a:pt x="2322" y="3396"/>
                  </a:lnTo>
                  <a:lnTo>
                    <a:pt x="2321" y="3430"/>
                  </a:lnTo>
                  <a:lnTo>
                    <a:pt x="2320" y="3464"/>
                  </a:lnTo>
                  <a:lnTo>
                    <a:pt x="2320" y="3498"/>
                  </a:lnTo>
                  <a:lnTo>
                    <a:pt x="2320" y="3532"/>
                  </a:lnTo>
                  <a:lnTo>
                    <a:pt x="2322" y="3566"/>
                  </a:lnTo>
                  <a:lnTo>
                    <a:pt x="2324" y="3597"/>
                  </a:lnTo>
                  <a:lnTo>
                    <a:pt x="2327" y="3629"/>
                  </a:lnTo>
                  <a:lnTo>
                    <a:pt x="2331" y="3659"/>
                  </a:lnTo>
                  <a:lnTo>
                    <a:pt x="2336" y="3688"/>
                  </a:lnTo>
                  <a:lnTo>
                    <a:pt x="2342" y="3717"/>
                  </a:lnTo>
                  <a:lnTo>
                    <a:pt x="2349" y="3744"/>
                  </a:lnTo>
                  <a:lnTo>
                    <a:pt x="2356" y="3770"/>
                  </a:lnTo>
                  <a:lnTo>
                    <a:pt x="2365" y="3796"/>
                  </a:lnTo>
                  <a:lnTo>
                    <a:pt x="2375" y="3820"/>
                  </a:lnTo>
                  <a:lnTo>
                    <a:pt x="2385" y="3844"/>
                  </a:lnTo>
                  <a:lnTo>
                    <a:pt x="2396" y="3867"/>
                  </a:lnTo>
                  <a:lnTo>
                    <a:pt x="2410" y="3888"/>
                  </a:lnTo>
                  <a:lnTo>
                    <a:pt x="2423" y="3908"/>
                  </a:lnTo>
                  <a:lnTo>
                    <a:pt x="2437" y="3927"/>
                  </a:lnTo>
                  <a:lnTo>
                    <a:pt x="2452" y="3947"/>
                  </a:lnTo>
                  <a:lnTo>
                    <a:pt x="2467" y="3964"/>
                  </a:lnTo>
                  <a:lnTo>
                    <a:pt x="2483" y="3980"/>
                  </a:lnTo>
                  <a:lnTo>
                    <a:pt x="2500" y="3994"/>
                  </a:lnTo>
                  <a:lnTo>
                    <a:pt x="2519" y="4008"/>
                  </a:lnTo>
                  <a:lnTo>
                    <a:pt x="2537" y="4020"/>
                  </a:lnTo>
                  <a:lnTo>
                    <a:pt x="2556" y="4032"/>
                  </a:lnTo>
                  <a:lnTo>
                    <a:pt x="2576" y="4042"/>
                  </a:lnTo>
                  <a:lnTo>
                    <a:pt x="2597" y="4051"/>
                  </a:lnTo>
                  <a:lnTo>
                    <a:pt x="2619" y="4058"/>
                  </a:lnTo>
                  <a:lnTo>
                    <a:pt x="2641" y="4065"/>
                  </a:lnTo>
                  <a:lnTo>
                    <a:pt x="2664" y="4070"/>
                  </a:lnTo>
                  <a:lnTo>
                    <a:pt x="2687" y="4074"/>
                  </a:lnTo>
                  <a:lnTo>
                    <a:pt x="2713" y="4077"/>
                  </a:lnTo>
                  <a:lnTo>
                    <a:pt x="2738" y="4079"/>
                  </a:lnTo>
                  <a:lnTo>
                    <a:pt x="2763" y="4079"/>
                  </a:lnTo>
                  <a:lnTo>
                    <a:pt x="2797" y="4079"/>
                  </a:lnTo>
                  <a:lnTo>
                    <a:pt x="2832" y="4076"/>
                  </a:lnTo>
                  <a:lnTo>
                    <a:pt x="2866" y="4072"/>
                  </a:lnTo>
                  <a:lnTo>
                    <a:pt x="2898" y="4067"/>
                  </a:lnTo>
                  <a:lnTo>
                    <a:pt x="2932" y="4060"/>
                  </a:lnTo>
                  <a:lnTo>
                    <a:pt x="2964" y="4052"/>
                  </a:lnTo>
                  <a:lnTo>
                    <a:pt x="2995" y="4042"/>
                  </a:lnTo>
                  <a:lnTo>
                    <a:pt x="3026" y="4030"/>
                  </a:lnTo>
                  <a:lnTo>
                    <a:pt x="3057" y="4017"/>
                  </a:lnTo>
                  <a:lnTo>
                    <a:pt x="3086" y="4002"/>
                  </a:lnTo>
                  <a:lnTo>
                    <a:pt x="3116" y="3986"/>
                  </a:lnTo>
                  <a:lnTo>
                    <a:pt x="3145" y="3969"/>
                  </a:lnTo>
                  <a:lnTo>
                    <a:pt x="3173" y="3950"/>
                  </a:lnTo>
                  <a:lnTo>
                    <a:pt x="3201" y="3928"/>
                  </a:lnTo>
                  <a:lnTo>
                    <a:pt x="3229" y="3906"/>
                  </a:lnTo>
                  <a:lnTo>
                    <a:pt x="3256" y="3882"/>
                  </a:lnTo>
                  <a:lnTo>
                    <a:pt x="3282" y="3857"/>
                  </a:lnTo>
                  <a:lnTo>
                    <a:pt x="3308" y="3831"/>
                  </a:lnTo>
                  <a:lnTo>
                    <a:pt x="3331" y="3804"/>
                  </a:lnTo>
                  <a:lnTo>
                    <a:pt x="3354" y="3775"/>
                  </a:lnTo>
                  <a:lnTo>
                    <a:pt x="3376" y="3746"/>
                  </a:lnTo>
                  <a:lnTo>
                    <a:pt x="3397" y="3716"/>
                  </a:lnTo>
                  <a:lnTo>
                    <a:pt x="3417" y="3684"/>
                  </a:lnTo>
                  <a:lnTo>
                    <a:pt x="3436" y="3652"/>
                  </a:lnTo>
                  <a:lnTo>
                    <a:pt x="3454" y="3619"/>
                  </a:lnTo>
                  <a:lnTo>
                    <a:pt x="3470" y="3583"/>
                  </a:lnTo>
                  <a:lnTo>
                    <a:pt x="3486" y="3548"/>
                  </a:lnTo>
                  <a:lnTo>
                    <a:pt x="3500" y="3511"/>
                  </a:lnTo>
                  <a:lnTo>
                    <a:pt x="3515" y="3474"/>
                  </a:lnTo>
                  <a:lnTo>
                    <a:pt x="3527" y="3435"/>
                  </a:lnTo>
                  <a:lnTo>
                    <a:pt x="3539" y="3395"/>
                  </a:lnTo>
                  <a:lnTo>
                    <a:pt x="3549" y="3354"/>
                  </a:lnTo>
                  <a:lnTo>
                    <a:pt x="3719" y="265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grpSp>
      <p:cxnSp>
        <p:nvCxnSpPr>
          <p:cNvPr id="67" name="直接连接符 66"/>
          <p:cNvCxnSpPr>
            <a:endCxn id="53" idx="1"/>
          </p:cNvCxnSpPr>
          <p:nvPr/>
        </p:nvCxnSpPr>
        <p:spPr>
          <a:xfrm>
            <a:off x="5568199" y="3252369"/>
            <a:ext cx="1898245" cy="0"/>
          </a:xfrm>
          <a:prstGeom prst="line">
            <a:avLst/>
          </a:prstGeom>
          <a:ln w="12700">
            <a:solidFill>
              <a:schemeClr val="tx1"/>
            </a:solidFill>
            <a:prstDash val="solid"/>
          </a:ln>
        </p:spPr>
        <p:style>
          <a:lnRef idx="1">
            <a:schemeClr val="accent1"/>
          </a:lnRef>
          <a:fillRef idx="0">
            <a:schemeClr val="accent1"/>
          </a:fillRef>
          <a:effectRef idx="0">
            <a:schemeClr val="accent1"/>
          </a:effectRef>
          <a:fontRef idx="minor">
            <a:schemeClr val="tx1"/>
          </a:fontRef>
        </p:style>
      </p:cxnSp>
      <p:cxnSp>
        <p:nvCxnSpPr>
          <p:cNvPr id="70" name="直接连接符 69"/>
          <p:cNvCxnSpPr>
            <a:endCxn id="52" idx="1"/>
          </p:cNvCxnSpPr>
          <p:nvPr/>
        </p:nvCxnSpPr>
        <p:spPr>
          <a:xfrm flipV="1">
            <a:off x="5452585" y="2744755"/>
            <a:ext cx="1606729" cy="453992"/>
          </a:xfrm>
          <a:prstGeom prst="line">
            <a:avLst/>
          </a:prstGeom>
          <a:ln w="12700">
            <a:solidFill>
              <a:schemeClr val="tx1"/>
            </a:solidFill>
            <a:prstDash val="solid"/>
          </a:ln>
        </p:spPr>
        <p:style>
          <a:lnRef idx="1">
            <a:schemeClr val="accent1"/>
          </a:lnRef>
          <a:fillRef idx="0">
            <a:schemeClr val="accent1"/>
          </a:fillRef>
          <a:effectRef idx="0">
            <a:schemeClr val="accent1"/>
          </a:effectRef>
          <a:fontRef idx="minor">
            <a:schemeClr val="tx1"/>
          </a:fontRef>
        </p:style>
      </p:cxnSp>
      <p:cxnSp>
        <p:nvCxnSpPr>
          <p:cNvPr id="72" name="直接连接符 71"/>
          <p:cNvCxnSpPr>
            <a:endCxn id="55" idx="1"/>
          </p:cNvCxnSpPr>
          <p:nvPr/>
        </p:nvCxnSpPr>
        <p:spPr>
          <a:xfrm>
            <a:off x="5452585" y="3293028"/>
            <a:ext cx="1606729" cy="468353"/>
          </a:xfrm>
          <a:prstGeom prst="line">
            <a:avLst/>
          </a:prstGeom>
          <a:ln w="12700">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51" name="Freeform 1208"/>
          <p:cNvSpPr>
            <a:spLocks/>
          </p:cNvSpPr>
          <p:nvPr/>
        </p:nvSpPr>
        <p:spPr bwMode="ltGray">
          <a:xfrm>
            <a:off x="4488614" y="2938293"/>
            <a:ext cx="1469535" cy="557048"/>
          </a:xfrm>
          <a:custGeom>
            <a:avLst/>
            <a:gdLst>
              <a:gd name="T0" fmla="*/ 603773 w 16320"/>
              <a:gd name="T1" fmla="*/ 22740 h 11943"/>
              <a:gd name="T2" fmla="*/ 669215 w 16320"/>
              <a:gd name="T3" fmla="*/ 9746 h 11943"/>
              <a:gd name="T4" fmla="*/ 745191 w 16320"/>
              <a:gd name="T5" fmla="*/ 1866 h 11943"/>
              <a:gd name="T6" fmla="*/ 902522 w 16320"/>
              <a:gd name="T7" fmla="*/ 5115 h 11943"/>
              <a:gd name="T8" fmla="*/ 1023620 w 16320"/>
              <a:gd name="T9" fmla="*/ 31484 h 11943"/>
              <a:gd name="T10" fmla="*/ 1077782 w 16320"/>
              <a:gd name="T11" fmla="*/ 71643 h 11943"/>
              <a:gd name="T12" fmla="*/ 1079649 w 16320"/>
              <a:gd name="T13" fmla="*/ 82529 h 11943"/>
              <a:gd name="T14" fmla="*/ 1090258 w 16320"/>
              <a:gd name="T15" fmla="*/ 86504 h 11943"/>
              <a:gd name="T16" fmla="*/ 1119542 w 16320"/>
              <a:gd name="T17" fmla="*/ 88543 h 11943"/>
              <a:gd name="T18" fmla="*/ 1186105 w 16320"/>
              <a:gd name="T19" fmla="*/ 108311 h 11943"/>
              <a:gd name="T20" fmla="*/ 1217855 w 16320"/>
              <a:gd name="T21" fmla="*/ 142871 h 11943"/>
              <a:gd name="T22" fmla="*/ 1208218 w 16320"/>
              <a:gd name="T23" fmla="*/ 181198 h 11943"/>
              <a:gd name="T24" fmla="*/ 1175945 w 16320"/>
              <a:gd name="T25" fmla="*/ 207533 h 11943"/>
              <a:gd name="T26" fmla="*/ 1128432 w 16320"/>
              <a:gd name="T27" fmla="*/ 226714 h 11943"/>
              <a:gd name="T28" fmla="*/ 1107365 w 16320"/>
              <a:gd name="T29" fmla="*/ 240745 h 11943"/>
              <a:gd name="T30" fmla="*/ 1135231 w 16320"/>
              <a:gd name="T31" fmla="*/ 261550 h 11943"/>
              <a:gd name="T32" fmla="*/ 1144046 w 16320"/>
              <a:gd name="T33" fmla="*/ 285742 h 11943"/>
              <a:gd name="T34" fmla="*/ 1124846 w 16320"/>
              <a:gd name="T35" fmla="*/ 316708 h 11943"/>
              <a:gd name="T36" fmla="*/ 1063065 w 16320"/>
              <a:gd name="T37" fmla="*/ 345358 h 11943"/>
              <a:gd name="T38" fmla="*/ 976256 w 16320"/>
              <a:gd name="T39" fmla="*/ 357765 h 11943"/>
              <a:gd name="T40" fmla="*/ 922020 w 16320"/>
              <a:gd name="T41" fmla="*/ 355795 h 11943"/>
              <a:gd name="T42" fmla="*/ 902447 w 16320"/>
              <a:gd name="T43" fmla="*/ 353203 h 11943"/>
              <a:gd name="T44" fmla="*/ 884219 w 16320"/>
              <a:gd name="T45" fmla="*/ 349713 h 11943"/>
              <a:gd name="T46" fmla="*/ 879139 w 16320"/>
              <a:gd name="T47" fmla="*/ 356625 h 11943"/>
              <a:gd name="T48" fmla="*/ 872415 w 16320"/>
              <a:gd name="T49" fmla="*/ 373144 h 11943"/>
              <a:gd name="T50" fmla="*/ 832672 w 16320"/>
              <a:gd name="T51" fmla="*/ 398131 h 11943"/>
              <a:gd name="T52" fmla="*/ 769471 w 16320"/>
              <a:gd name="T53" fmla="*/ 411471 h 11943"/>
              <a:gd name="T54" fmla="*/ 705149 w 16320"/>
              <a:gd name="T55" fmla="*/ 410711 h 11943"/>
              <a:gd name="T56" fmla="*/ 667646 w 16320"/>
              <a:gd name="T57" fmla="*/ 403488 h 11943"/>
              <a:gd name="T58" fmla="*/ 638511 w 16320"/>
              <a:gd name="T59" fmla="*/ 392049 h 11943"/>
              <a:gd name="T60" fmla="*/ 605790 w 16320"/>
              <a:gd name="T61" fmla="*/ 388247 h 11943"/>
              <a:gd name="T62" fmla="*/ 544979 w 16320"/>
              <a:gd name="T63" fmla="*/ 399030 h 11943"/>
              <a:gd name="T64" fmla="*/ 475578 w 16320"/>
              <a:gd name="T65" fmla="*/ 404006 h 11943"/>
              <a:gd name="T66" fmla="*/ 377788 w 16320"/>
              <a:gd name="T67" fmla="*/ 400170 h 11943"/>
              <a:gd name="T68" fmla="*/ 277009 w 16320"/>
              <a:gd name="T69" fmla="*/ 378812 h 11943"/>
              <a:gd name="T70" fmla="*/ 226060 w 16320"/>
              <a:gd name="T71" fmla="*/ 344909 h 11943"/>
              <a:gd name="T72" fmla="*/ 224641 w 16320"/>
              <a:gd name="T73" fmla="*/ 325486 h 11943"/>
              <a:gd name="T74" fmla="*/ 199614 w 16320"/>
              <a:gd name="T75" fmla="*/ 328596 h 11943"/>
              <a:gd name="T76" fmla="*/ 167266 w 16320"/>
              <a:gd name="T77" fmla="*/ 330635 h 11943"/>
              <a:gd name="T78" fmla="*/ 133798 w 16320"/>
              <a:gd name="T79" fmla="*/ 329841 h 11943"/>
              <a:gd name="T80" fmla="*/ 58719 w 16320"/>
              <a:gd name="T81" fmla="*/ 315602 h 11943"/>
              <a:gd name="T82" fmla="*/ 9861 w 16320"/>
              <a:gd name="T83" fmla="*/ 286571 h 11943"/>
              <a:gd name="T84" fmla="*/ 3138 w 16320"/>
              <a:gd name="T85" fmla="*/ 249661 h 11943"/>
              <a:gd name="T86" fmla="*/ 28239 w 16320"/>
              <a:gd name="T87" fmla="*/ 223845 h 11943"/>
              <a:gd name="T88" fmla="*/ 73286 w 16320"/>
              <a:gd name="T89" fmla="*/ 204491 h 11943"/>
              <a:gd name="T90" fmla="*/ 123937 w 16320"/>
              <a:gd name="T91" fmla="*/ 192637 h 11943"/>
              <a:gd name="T92" fmla="*/ 104364 w 16320"/>
              <a:gd name="T93" fmla="*/ 174493 h 11943"/>
              <a:gd name="T94" fmla="*/ 96669 w 16320"/>
              <a:gd name="T95" fmla="*/ 154345 h 11943"/>
              <a:gd name="T96" fmla="*/ 104663 w 16320"/>
              <a:gd name="T97" fmla="*/ 129220 h 11943"/>
              <a:gd name="T98" fmla="*/ 157256 w 16320"/>
              <a:gd name="T99" fmla="*/ 93450 h 11943"/>
              <a:gd name="T100" fmla="*/ 243242 w 16320"/>
              <a:gd name="T101" fmla="*/ 73544 h 11943"/>
              <a:gd name="T102" fmla="*/ 321161 w 16320"/>
              <a:gd name="T103" fmla="*/ 72576 h 11943"/>
              <a:gd name="T104" fmla="*/ 338268 w 16320"/>
              <a:gd name="T105" fmla="*/ 74339 h 11943"/>
              <a:gd name="T106" fmla="*/ 354479 w 16320"/>
              <a:gd name="T107" fmla="*/ 76723 h 11943"/>
              <a:gd name="T108" fmla="*/ 364639 w 16320"/>
              <a:gd name="T109" fmla="*/ 78036 h 11943"/>
              <a:gd name="T110" fmla="*/ 381224 w 16320"/>
              <a:gd name="T111" fmla="*/ 58164 h 11943"/>
              <a:gd name="T112" fmla="*/ 427168 w 16320"/>
              <a:gd name="T113" fmla="*/ 35735 h 11943"/>
              <a:gd name="T114" fmla="*/ 487605 w 16320"/>
              <a:gd name="T115" fmla="*/ 26749 h 11943"/>
              <a:gd name="T116" fmla="*/ 519281 w 16320"/>
              <a:gd name="T117" fmla="*/ 28685 h 11943"/>
              <a:gd name="T118" fmla="*/ 537210 w 16320"/>
              <a:gd name="T119" fmla="*/ 32106 h 11943"/>
              <a:gd name="T120" fmla="*/ 553048 w 16320"/>
              <a:gd name="T121" fmla="*/ 37048 h 11943"/>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16320" h="11943">
                <a:moveTo>
                  <a:pt x="7438" y="1101"/>
                </a:moveTo>
                <a:lnTo>
                  <a:pt x="7496" y="1053"/>
                </a:lnTo>
                <a:lnTo>
                  <a:pt x="7554" y="1006"/>
                </a:lnTo>
                <a:lnTo>
                  <a:pt x="7615" y="960"/>
                </a:lnTo>
                <a:lnTo>
                  <a:pt x="7678" y="914"/>
                </a:lnTo>
                <a:lnTo>
                  <a:pt x="7741" y="869"/>
                </a:lnTo>
                <a:lnTo>
                  <a:pt x="7806" y="825"/>
                </a:lnTo>
                <a:lnTo>
                  <a:pt x="7873" y="782"/>
                </a:lnTo>
                <a:lnTo>
                  <a:pt x="7942" y="740"/>
                </a:lnTo>
                <a:lnTo>
                  <a:pt x="8011" y="698"/>
                </a:lnTo>
                <a:lnTo>
                  <a:pt x="8082" y="658"/>
                </a:lnTo>
                <a:lnTo>
                  <a:pt x="8156" y="618"/>
                </a:lnTo>
                <a:lnTo>
                  <a:pt x="8229" y="580"/>
                </a:lnTo>
                <a:lnTo>
                  <a:pt x="8305" y="542"/>
                </a:lnTo>
                <a:lnTo>
                  <a:pt x="8382" y="506"/>
                </a:lnTo>
                <a:lnTo>
                  <a:pt x="8461" y="470"/>
                </a:lnTo>
                <a:lnTo>
                  <a:pt x="8540" y="436"/>
                </a:lnTo>
                <a:lnTo>
                  <a:pt x="8621" y="403"/>
                </a:lnTo>
                <a:lnTo>
                  <a:pt x="8704" y="371"/>
                </a:lnTo>
                <a:lnTo>
                  <a:pt x="8786" y="340"/>
                </a:lnTo>
                <a:lnTo>
                  <a:pt x="8871" y="310"/>
                </a:lnTo>
                <a:lnTo>
                  <a:pt x="8958" y="282"/>
                </a:lnTo>
                <a:lnTo>
                  <a:pt x="9044" y="255"/>
                </a:lnTo>
                <a:lnTo>
                  <a:pt x="9132" y="228"/>
                </a:lnTo>
                <a:lnTo>
                  <a:pt x="9222" y="204"/>
                </a:lnTo>
                <a:lnTo>
                  <a:pt x="9313" y="180"/>
                </a:lnTo>
                <a:lnTo>
                  <a:pt x="9403" y="158"/>
                </a:lnTo>
                <a:lnTo>
                  <a:pt x="9496" y="137"/>
                </a:lnTo>
                <a:lnTo>
                  <a:pt x="9590" y="118"/>
                </a:lnTo>
                <a:lnTo>
                  <a:pt x="9685" y="99"/>
                </a:lnTo>
                <a:lnTo>
                  <a:pt x="9780" y="83"/>
                </a:lnTo>
                <a:lnTo>
                  <a:pt x="9877" y="68"/>
                </a:lnTo>
                <a:lnTo>
                  <a:pt x="9975" y="54"/>
                </a:lnTo>
                <a:lnTo>
                  <a:pt x="10176" y="31"/>
                </a:lnTo>
                <a:lnTo>
                  <a:pt x="10375" y="13"/>
                </a:lnTo>
                <a:lnTo>
                  <a:pt x="10574" y="4"/>
                </a:lnTo>
                <a:lnTo>
                  <a:pt x="10771" y="0"/>
                </a:lnTo>
                <a:lnTo>
                  <a:pt x="10967" y="3"/>
                </a:lnTo>
                <a:lnTo>
                  <a:pt x="11160" y="12"/>
                </a:lnTo>
                <a:lnTo>
                  <a:pt x="11351" y="27"/>
                </a:lnTo>
                <a:lnTo>
                  <a:pt x="11538" y="48"/>
                </a:lnTo>
                <a:lnTo>
                  <a:pt x="11723" y="76"/>
                </a:lnTo>
                <a:lnTo>
                  <a:pt x="11903" y="109"/>
                </a:lnTo>
                <a:lnTo>
                  <a:pt x="12081" y="148"/>
                </a:lnTo>
                <a:lnTo>
                  <a:pt x="12254" y="192"/>
                </a:lnTo>
                <a:lnTo>
                  <a:pt x="12424" y="241"/>
                </a:lnTo>
                <a:lnTo>
                  <a:pt x="12588" y="296"/>
                </a:lnTo>
                <a:lnTo>
                  <a:pt x="12747" y="356"/>
                </a:lnTo>
                <a:lnTo>
                  <a:pt x="12902" y="421"/>
                </a:lnTo>
                <a:lnTo>
                  <a:pt x="13051" y="492"/>
                </a:lnTo>
                <a:lnTo>
                  <a:pt x="13194" y="566"/>
                </a:lnTo>
                <a:lnTo>
                  <a:pt x="13330" y="645"/>
                </a:lnTo>
                <a:lnTo>
                  <a:pt x="13461" y="729"/>
                </a:lnTo>
                <a:lnTo>
                  <a:pt x="13584" y="818"/>
                </a:lnTo>
                <a:lnTo>
                  <a:pt x="13702" y="911"/>
                </a:lnTo>
                <a:lnTo>
                  <a:pt x="13811" y="1008"/>
                </a:lnTo>
                <a:lnTo>
                  <a:pt x="13913" y="1108"/>
                </a:lnTo>
                <a:lnTo>
                  <a:pt x="14008" y="1214"/>
                </a:lnTo>
                <a:lnTo>
                  <a:pt x="14093" y="1322"/>
                </a:lnTo>
                <a:lnTo>
                  <a:pt x="14171" y="1434"/>
                </a:lnTo>
                <a:lnTo>
                  <a:pt x="14239" y="1550"/>
                </a:lnTo>
                <a:lnTo>
                  <a:pt x="14299" y="1669"/>
                </a:lnTo>
                <a:lnTo>
                  <a:pt x="14349" y="1791"/>
                </a:lnTo>
                <a:lnTo>
                  <a:pt x="14390" y="1916"/>
                </a:lnTo>
                <a:lnTo>
                  <a:pt x="14421" y="2044"/>
                </a:lnTo>
                <a:lnTo>
                  <a:pt x="14427" y="2073"/>
                </a:lnTo>
                <a:lnTo>
                  <a:pt x="14431" y="2102"/>
                </a:lnTo>
                <a:lnTo>
                  <a:pt x="14436" y="2131"/>
                </a:lnTo>
                <a:lnTo>
                  <a:pt x="14440" y="2159"/>
                </a:lnTo>
                <a:lnTo>
                  <a:pt x="14443" y="2188"/>
                </a:lnTo>
                <a:lnTo>
                  <a:pt x="14446" y="2217"/>
                </a:lnTo>
                <a:lnTo>
                  <a:pt x="14448" y="2245"/>
                </a:lnTo>
                <a:lnTo>
                  <a:pt x="14450" y="2274"/>
                </a:lnTo>
                <a:lnTo>
                  <a:pt x="14451" y="2303"/>
                </a:lnTo>
                <a:lnTo>
                  <a:pt x="14452" y="2331"/>
                </a:lnTo>
                <a:lnTo>
                  <a:pt x="14452" y="2360"/>
                </a:lnTo>
                <a:lnTo>
                  <a:pt x="14452" y="2388"/>
                </a:lnTo>
                <a:lnTo>
                  <a:pt x="14451" y="2417"/>
                </a:lnTo>
                <a:lnTo>
                  <a:pt x="14450" y="2445"/>
                </a:lnTo>
                <a:lnTo>
                  <a:pt x="14448" y="2474"/>
                </a:lnTo>
                <a:lnTo>
                  <a:pt x="14446" y="2502"/>
                </a:lnTo>
                <a:lnTo>
                  <a:pt x="14467" y="2502"/>
                </a:lnTo>
                <a:lnTo>
                  <a:pt x="14488" y="2501"/>
                </a:lnTo>
                <a:lnTo>
                  <a:pt x="14510" y="2501"/>
                </a:lnTo>
                <a:lnTo>
                  <a:pt x="14530" y="2501"/>
                </a:lnTo>
                <a:lnTo>
                  <a:pt x="14551" y="2502"/>
                </a:lnTo>
                <a:lnTo>
                  <a:pt x="14573" y="2502"/>
                </a:lnTo>
                <a:lnTo>
                  <a:pt x="14594" y="2503"/>
                </a:lnTo>
                <a:lnTo>
                  <a:pt x="14615" y="2504"/>
                </a:lnTo>
                <a:lnTo>
                  <a:pt x="14636" y="2505"/>
                </a:lnTo>
                <a:lnTo>
                  <a:pt x="14657" y="2507"/>
                </a:lnTo>
                <a:lnTo>
                  <a:pt x="14679" y="2508"/>
                </a:lnTo>
                <a:lnTo>
                  <a:pt x="14699" y="2510"/>
                </a:lnTo>
                <a:lnTo>
                  <a:pt x="14721" y="2512"/>
                </a:lnTo>
                <a:lnTo>
                  <a:pt x="14742" y="2515"/>
                </a:lnTo>
                <a:lnTo>
                  <a:pt x="14762" y="2517"/>
                </a:lnTo>
                <a:lnTo>
                  <a:pt x="14784" y="2520"/>
                </a:lnTo>
                <a:lnTo>
                  <a:pt x="14886" y="2538"/>
                </a:lnTo>
                <a:lnTo>
                  <a:pt x="14986" y="2562"/>
                </a:lnTo>
                <a:lnTo>
                  <a:pt x="15083" y="2591"/>
                </a:lnTo>
                <a:lnTo>
                  <a:pt x="15178" y="2624"/>
                </a:lnTo>
                <a:lnTo>
                  <a:pt x="15268" y="2663"/>
                </a:lnTo>
                <a:lnTo>
                  <a:pt x="15356" y="2706"/>
                </a:lnTo>
                <a:lnTo>
                  <a:pt x="15441" y="2755"/>
                </a:lnTo>
                <a:lnTo>
                  <a:pt x="15522" y="2808"/>
                </a:lnTo>
                <a:lnTo>
                  <a:pt x="15601" y="2865"/>
                </a:lnTo>
                <a:lnTo>
                  <a:pt x="15675" y="2927"/>
                </a:lnTo>
                <a:lnTo>
                  <a:pt x="15747" y="2991"/>
                </a:lnTo>
                <a:lnTo>
                  <a:pt x="15814" y="3061"/>
                </a:lnTo>
                <a:lnTo>
                  <a:pt x="15877" y="3134"/>
                </a:lnTo>
                <a:lnTo>
                  <a:pt x="15938" y="3210"/>
                </a:lnTo>
                <a:lnTo>
                  <a:pt x="15994" y="3290"/>
                </a:lnTo>
                <a:lnTo>
                  <a:pt x="16045" y="3373"/>
                </a:lnTo>
                <a:lnTo>
                  <a:pt x="16093" y="3459"/>
                </a:lnTo>
                <a:lnTo>
                  <a:pt x="16136" y="3548"/>
                </a:lnTo>
                <a:lnTo>
                  <a:pt x="16175" y="3641"/>
                </a:lnTo>
                <a:lnTo>
                  <a:pt x="16210" y="3735"/>
                </a:lnTo>
                <a:lnTo>
                  <a:pt x="16239" y="3831"/>
                </a:lnTo>
                <a:lnTo>
                  <a:pt x="16265" y="3931"/>
                </a:lnTo>
                <a:lnTo>
                  <a:pt x="16286" y="4031"/>
                </a:lnTo>
                <a:lnTo>
                  <a:pt x="16302" y="4134"/>
                </a:lnTo>
                <a:lnTo>
                  <a:pt x="16313" y="4239"/>
                </a:lnTo>
                <a:lnTo>
                  <a:pt x="16319" y="4345"/>
                </a:lnTo>
                <a:lnTo>
                  <a:pt x="16320" y="4453"/>
                </a:lnTo>
                <a:lnTo>
                  <a:pt x="16316" y="4562"/>
                </a:lnTo>
                <a:lnTo>
                  <a:pt x="16307" y="4672"/>
                </a:lnTo>
                <a:lnTo>
                  <a:pt x="16291" y="4783"/>
                </a:lnTo>
                <a:lnTo>
                  <a:pt x="16271" y="4895"/>
                </a:lnTo>
                <a:lnTo>
                  <a:pt x="16246" y="5007"/>
                </a:lnTo>
                <a:lnTo>
                  <a:pt x="16224" y="5087"/>
                </a:lnTo>
                <a:lnTo>
                  <a:pt x="16200" y="5165"/>
                </a:lnTo>
                <a:lnTo>
                  <a:pt x="16173" y="5243"/>
                </a:lnTo>
                <a:lnTo>
                  <a:pt x="16145" y="5319"/>
                </a:lnTo>
                <a:lnTo>
                  <a:pt x="16113" y="5394"/>
                </a:lnTo>
                <a:lnTo>
                  <a:pt x="16080" y="5468"/>
                </a:lnTo>
                <a:lnTo>
                  <a:pt x="16045" y="5540"/>
                </a:lnTo>
                <a:lnTo>
                  <a:pt x="16007" y="5611"/>
                </a:lnTo>
                <a:lnTo>
                  <a:pt x="15967" y="5680"/>
                </a:lnTo>
                <a:lnTo>
                  <a:pt x="15925" y="5749"/>
                </a:lnTo>
                <a:lnTo>
                  <a:pt x="15882" y="5815"/>
                </a:lnTo>
                <a:lnTo>
                  <a:pt x="15837" y="5880"/>
                </a:lnTo>
                <a:lnTo>
                  <a:pt x="15790" y="5943"/>
                </a:lnTo>
                <a:lnTo>
                  <a:pt x="15741" y="6005"/>
                </a:lnTo>
                <a:lnTo>
                  <a:pt x="15690" y="6064"/>
                </a:lnTo>
                <a:lnTo>
                  <a:pt x="15638" y="6123"/>
                </a:lnTo>
                <a:lnTo>
                  <a:pt x="15584" y="6179"/>
                </a:lnTo>
                <a:lnTo>
                  <a:pt x="15528" y="6233"/>
                </a:lnTo>
                <a:lnTo>
                  <a:pt x="15472" y="6287"/>
                </a:lnTo>
                <a:lnTo>
                  <a:pt x="15414" y="6337"/>
                </a:lnTo>
                <a:lnTo>
                  <a:pt x="15354" y="6386"/>
                </a:lnTo>
                <a:lnTo>
                  <a:pt x="15294" y="6432"/>
                </a:lnTo>
                <a:lnTo>
                  <a:pt x="15232" y="6477"/>
                </a:lnTo>
                <a:lnTo>
                  <a:pt x="15169" y="6520"/>
                </a:lnTo>
                <a:lnTo>
                  <a:pt x="15105" y="6560"/>
                </a:lnTo>
                <a:lnTo>
                  <a:pt x="15040" y="6599"/>
                </a:lnTo>
                <a:lnTo>
                  <a:pt x="14975" y="6635"/>
                </a:lnTo>
                <a:lnTo>
                  <a:pt x="14907" y="6669"/>
                </a:lnTo>
                <a:lnTo>
                  <a:pt x="14840" y="6700"/>
                </a:lnTo>
                <a:lnTo>
                  <a:pt x="14771" y="6730"/>
                </a:lnTo>
                <a:lnTo>
                  <a:pt x="14702" y="6757"/>
                </a:lnTo>
                <a:lnTo>
                  <a:pt x="14632" y="6781"/>
                </a:lnTo>
                <a:lnTo>
                  <a:pt x="14682" y="6825"/>
                </a:lnTo>
                <a:lnTo>
                  <a:pt x="14731" y="6871"/>
                </a:lnTo>
                <a:lnTo>
                  <a:pt x="14778" y="6918"/>
                </a:lnTo>
                <a:lnTo>
                  <a:pt x="14823" y="6966"/>
                </a:lnTo>
                <a:lnTo>
                  <a:pt x="14867" y="7015"/>
                </a:lnTo>
                <a:lnTo>
                  <a:pt x="14907" y="7065"/>
                </a:lnTo>
                <a:lnTo>
                  <a:pt x="14947" y="7117"/>
                </a:lnTo>
                <a:lnTo>
                  <a:pt x="14985" y="7171"/>
                </a:lnTo>
                <a:lnTo>
                  <a:pt x="15022" y="7224"/>
                </a:lnTo>
                <a:lnTo>
                  <a:pt x="15055" y="7279"/>
                </a:lnTo>
                <a:lnTo>
                  <a:pt x="15088" y="7336"/>
                </a:lnTo>
                <a:lnTo>
                  <a:pt x="15117" y="7392"/>
                </a:lnTo>
                <a:lnTo>
                  <a:pt x="15146" y="7450"/>
                </a:lnTo>
                <a:lnTo>
                  <a:pt x="15171" y="7509"/>
                </a:lnTo>
                <a:lnTo>
                  <a:pt x="15196" y="7568"/>
                </a:lnTo>
                <a:lnTo>
                  <a:pt x="15217" y="7629"/>
                </a:lnTo>
                <a:lnTo>
                  <a:pt x="15237" y="7690"/>
                </a:lnTo>
                <a:lnTo>
                  <a:pt x="15255" y="7752"/>
                </a:lnTo>
                <a:lnTo>
                  <a:pt x="15270" y="7814"/>
                </a:lnTo>
                <a:lnTo>
                  <a:pt x="15284" y="7878"/>
                </a:lnTo>
                <a:lnTo>
                  <a:pt x="15294" y="7941"/>
                </a:lnTo>
                <a:lnTo>
                  <a:pt x="15303" y="8006"/>
                </a:lnTo>
                <a:lnTo>
                  <a:pt x="15309" y="8070"/>
                </a:lnTo>
                <a:lnTo>
                  <a:pt x="15313" y="8136"/>
                </a:lnTo>
                <a:lnTo>
                  <a:pt x="15314" y="8201"/>
                </a:lnTo>
                <a:lnTo>
                  <a:pt x="15314" y="8268"/>
                </a:lnTo>
                <a:lnTo>
                  <a:pt x="15311" y="8333"/>
                </a:lnTo>
                <a:lnTo>
                  <a:pt x="15305" y="8401"/>
                </a:lnTo>
                <a:lnTo>
                  <a:pt x="15297" y="8468"/>
                </a:lnTo>
                <a:lnTo>
                  <a:pt x="15286" y="8534"/>
                </a:lnTo>
                <a:lnTo>
                  <a:pt x="15272" y="8602"/>
                </a:lnTo>
                <a:lnTo>
                  <a:pt x="15257" y="8669"/>
                </a:lnTo>
                <a:lnTo>
                  <a:pt x="15228" y="8773"/>
                </a:lnTo>
                <a:lnTo>
                  <a:pt x="15193" y="8874"/>
                </a:lnTo>
                <a:lnTo>
                  <a:pt x="15153" y="8974"/>
                </a:lnTo>
                <a:lnTo>
                  <a:pt x="15107" y="9070"/>
                </a:lnTo>
                <a:lnTo>
                  <a:pt x="15057" y="9164"/>
                </a:lnTo>
                <a:lnTo>
                  <a:pt x="15002" y="9255"/>
                </a:lnTo>
                <a:lnTo>
                  <a:pt x="14942" y="9343"/>
                </a:lnTo>
                <a:lnTo>
                  <a:pt x="14879" y="9429"/>
                </a:lnTo>
                <a:lnTo>
                  <a:pt x="14810" y="9511"/>
                </a:lnTo>
                <a:lnTo>
                  <a:pt x="14738" y="9590"/>
                </a:lnTo>
                <a:lnTo>
                  <a:pt x="14661" y="9666"/>
                </a:lnTo>
                <a:lnTo>
                  <a:pt x="14582" y="9739"/>
                </a:lnTo>
                <a:lnTo>
                  <a:pt x="14499" y="9807"/>
                </a:lnTo>
                <a:lnTo>
                  <a:pt x="14413" y="9873"/>
                </a:lnTo>
                <a:lnTo>
                  <a:pt x="14323" y="9934"/>
                </a:lnTo>
                <a:lnTo>
                  <a:pt x="14230" y="9993"/>
                </a:lnTo>
                <a:lnTo>
                  <a:pt x="14135" y="10047"/>
                </a:lnTo>
                <a:lnTo>
                  <a:pt x="14037" y="10097"/>
                </a:lnTo>
                <a:lnTo>
                  <a:pt x="13936" y="10143"/>
                </a:lnTo>
                <a:lnTo>
                  <a:pt x="13834" y="10185"/>
                </a:lnTo>
                <a:lnTo>
                  <a:pt x="13729" y="10222"/>
                </a:lnTo>
                <a:lnTo>
                  <a:pt x="13623" y="10256"/>
                </a:lnTo>
                <a:lnTo>
                  <a:pt x="13514" y="10285"/>
                </a:lnTo>
                <a:lnTo>
                  <a:pt x="13405" y="10308"/>
                </a:lnTo>
                <a:lnTo>
                  <a:pt x="13294" y="10328"/>
                </a:lnTo>
                <a:lnTo>
                  <a:pt x="13181" y="10342"/>
                </a:lnTo>
                <a:lnTo>
                  <a:pt x="13068" y="10352"/>
                </a:lnTo>
                <a:lnTo>
                  <a:pt x="12954" y="10358"/>
                </a:lnTo>
                <a:lnTo>
                  <a:pt x="12839" y="10357"/>
                </a:lnTo>
                <a:lnTo>
                  <a:pt x="12723" y="10351"/>
                </a:lnTo>
                <a:lnTo>
                  <a:pt x="12608" y="10341"/>
                </a:lnTo>
                <a:lnTo>
                  <a:pt x="12492" y="10325"/>
                </a:lnTo>
                <a:lnTo>
                  <a:pt x="12466" y="10321"/>
                </a:lnTo>
                <a:lnTo>
                  <a:pt x="12442" y="10316"/>
                </a:lnTo>
                <a:lnTo>
                  <a:pt x="12416" y="10311"/>
                </a:lnTo>
                <a:lnTo>
                  <a:pt x="12392" y="10306"/>
                </a:lnTo>
                <a:lnTo>
                  <a:pt x="12366" y="10301"/>
                </a:lnTo>
                <a:lnTo>
                  <a:pt x="12342" y="10295"/>
                </a:lnTo>
                <a:lnTo>
                  <a:pt x="12318" y="10290"/>
                </a:lnTo>
                <a:lnTo>
                  <a:pt x="12293" y="10284"/>
                </a:lnTo>
                <a:lnTo>
                  <a:pt x="12269" y="10278"/>
                </a:lnTo>
                <a:lnTo>
                  <a:pt x="12245" y="10272"/>
                </a:lnTo>
                <a:lnTo>
                  <a:pt x="12221" y="10264"/>
                </a:lnTo>
                <a:lnTo>
                  <a:pt x="12197" y="10258"/>
                </a:lnTo>
                <a:lnTo>
                  <a:pt x="12174" y="10251"/>
                </a:lnTo>
                <a:lnTo>
                  <a:pt x="12150" y="10244"/>
                </a:lnTo>
                <a:lnTo>
                  <a:pt x="12127" y="10236"/>
                </a:lnTo>
                <a:lnTo>
                  <a:pt x="12103" y="10228"/>
                </a:lnTo>
                <a:lnTo>
                  <a:pt x="12080" y="10220"/>
                </a:lnTo>
                <a:lnTo>
                  <a:pt x="12057" y="10212"/>
                </a:lnTo>
                <a:lnTo>
                  <a:pt x="12034" y="10204"/>
                </a:lnTo>
                <a:lnTo>
                  <a:pt x="12012" y="10196"/>
                </a:lnTo>
                <a:lnTo>
                  <a:pt x="11989" y="10186"/>
                </a:lnTo>
                <a:lnTo>
                  <a:pt x="11967" y="10177"/>
                </a:lnTo>
                <a:lnTo>
                  <a:pt x="11944" y="10168"/>
                </a:lnTo>
                <a:lnTo>
                  <a:pt x="11923" y="10159"/>
                </a:lnTo>
                <a:lnTo>
                  <a:pt x="11900" y="10150"/>
                </a:lnTo>
                <a:lnTo>
                  <a:pt x="11879" y="10139"/>
                </a:lnTo>
                <a:lnTo>
                  <a:pt x="11858" y="10129"/>
                </a:lnTo>
                <a:lnTo>
                  <a:pt x="11836" y="10119"/>
                </a:lnTo>
                <a:lnTo>
                  <a:pt x="11815" y="10109"/>
                </a:lnTo>
                <a:lnTo>
                  <a:pt x="11793" y="10098"/>
                </a:lnTo>
                <a:lnTo>
                  <a:pt x="11773" y="10087"/>
                </a:lnTo>
                <a:lnTo>
                  <a:pt x="11751" y="10076"/>
                </a:lnTo>
                <a:lnTo>
                  <a:pt x="11757" y="10111"/>
                </a:lnTo>
                <a:lnTo>
                  <a:pt x="11761" y="10144"/>
                </a:lnTo>
                <a:lnTo>
                  <a:pt x="11764" y="10179"/>
                </a:lnTo>
                <a:lnTo>
                  <a:pt x="11766" y="10213"/>
                </a:lnTo>
                <a:lnTo>
                  <a:pt x="11768" y="10248"/>
                </a:lnTo>
                <a:lnTo>
                  <a:pt x="11769" y="10283"/>
                </a:lnTo>
                <a:lnTo>
                  <a:pt x="11768" y="10319"/>
                </a:lnTo>
                <a:lnTo>
                  <a:pt x="11767" y="10353"/>
                </a:lnTo>
                <a:lnTo>
                  <a:pt x="11765" y="10388"/>
                </a:lnTo>
                <a:lnTo>
                  <a:pt x="11763" y="10424"/>
                </a:lnTo>
                <a:lnTo>
                  <a:pt x="11759" y="10459"/>
                </a:lnTo>
                <a:lnTo>
                  <a:pt x="11753" y="10495"/>
                </a:lnTo>
                <a:lnTo>
                  <a:pt x="11748" y="10531"/>
                </a:lnTo>
                <a:lnTo>
                  <a:pt x="11742" y="10567"/>
                </a:lnTo>
                <a:lnTo>
                  <a:pt x="11734" y="10602"/>
                </a:lnTo>
                <a:lnTo>
                  <a:pt x="11726" y="10637"/>
                </a:lnTo>
                <a:lnTo>
                  <a:pt x="11705" y="10718"/>
                </a:lnTo>
                <a:lnTo>
                  <a:pt x="11678" y="10797"/>
                </a:lnTo>
                <a:lnTo>
                  <a:pt x="11647" y="10874"/>
                </a:lnTo>
                <a:lnTo>
                  <a:pt x="11613" y="10949"/>
                </a:lnTo>
                <a:lnTo>
                  <a:pt x="11574" y="11021"/>
                </a:lnTo>
                <a:lnTo>
                  <a:pt x="11532" y="11092"/>
                </a:lnTo>
                <a:lnTo>
                  <a:pt x="11486" y="11161"/>
                </a:lnTo>
                <a:lnTo>
                  <a:pt x="11437" y="11226"/>
                </a:lnTo>
                <a:lnTo>
                  <a:pt x="11385" y="11291"/>
                </a:lnTo>
                <a:lnTo>
                  <a:pt x="11329" y="11352"/>
                </a:lnTo>
                <a:lnTo>
                  <a:pt x="11271" y="11411"/>
                </a:lnTo>
                <a:lnTo>
                  <a:pt x="11210" y="11467"/>
                </a:lnTo>
                <a:lnTo>
                  <a:pt x="11146" y="11520"/>
                </a:lnTo>
                <a:lnTo>
                  <a:pt x="11079" y="11570"/>
                </a:lnTo>
                <a:lnTo>
                  <a:pt x="11010" y="11619"/>
                </a:lnTo>
                <a:lnTo>
                  <a:pt x="10938" y="11664"/>
                </a:lnTo>
                <a:lnTo>
                  <a:pt x="10865" y="11705"/>
                </a:lnTo>
                <a:lnTo>
                  <a:pt x="10789" y="11744"/>
                </a:lnTo>
                <a:lnTo>
                  <a:pt x="10711" y="11779"/>
                </a:lnTo>
                <a:lnTo>
                  <a:pt x="10632" y="11811"/>
                </a:lnTo>
                <a:lnTo>
                  <a:pt x="10551" y="11841"/>
                </a:lnTo>
                <a:lnTo>
                  <a:pt x="10468" y="11866"/>
                </a:lnTo>
                <a:lnTo>
                  <a:pt x="10385" y="11888"/>
                </a:lnTo>
                <a:lnTo>
                  <a:pt x="10300" y="11906"/>
                </a:lnTo>
                <a:lnTo>
                  <a:pt x="10214" y="11922"/>
                </a:lnTo>
                <a:lnTo>
                  <a:pt x="10127" y="11932"/>
                </a:lnTo>
                <a:lnTo>
                  <a:pt x="10039" y="11939"/>
                </a:lnTo>
                <a:lnTo>
                  <a:pt x="9950" y="11943"/>
                </a:lnTo>
                <a:lnTo>
                  <a:pt x="9861" y="11942"/>
                </a:lnTo>
                <a:lnTo>
                  <a:pt x="9772" y="11938"/>
                </a:lnTo>
                <a:lnTo>
                  <a:pt x="9682" y="11929"/>
                </a:lnTo>
                <a:lnTo>
                  <a:pt x="9592" y="11917"/>
                </a:lnTo>
                <a:lnTo>
                  <a:pt x="9540" y="11906"/>
                </a:lnTo>
                <a:lnTo>
                  <a:pt x="9489" y="11896"/>
                </a:lnTo>
                <a:lnTo>
                  <a:pt x="9439" y="11884"/>
                </a:lnTo>
                <a:lnTo>
                  <a:pt x="9389" y="11871"/>
                </a:lnTo>
                <a:lnTo>
                  <a:pt x="9340" y="11856"/>
                </a:lnTo>
                <a:lnTo>
                  <a:pt x="9292" y="11841"/>
                </a:lnTo>
                <a:lnTo>
                  <a:pt x="9245" y="11824"/>
                </a:lnTo>
                <a:lnTo>
                  <a:pt x="9198" y="11806"/>
                </a:lnTo>
                <a:lnTo>
                  <a:pt x="9152" y="11787"/>
                </a:lnTo>
                <a:lnTo>
                  <a:pt x="9108" y="11766"/>
                </a:lnTo>
                <a:lnTo>
                  <a:pt x="9064" y="11746"/>
                </a:lnTo>
                <a:lnTo>
                  <a:pt x="9021" y="11723"/>
                </a:lnTo>
                <a:lnTo>
                  <a:pt x="8978" y="11699"/>
                </a:lnTo>
                <a:lnTo>
                  <a:pt x="8937" y="11675"/>
                </a:lnTo>
                <a:lnTo>
                  <a:pt x="8896" y="11649"/>
                </a:lnTo>
                <a:lnTo>
                  <a:pt x="8857" y="11623"/>
                </a:lnTo>
                <a:lnTo>
                  <a:pt x="8819" y="11595"/>
                </a:lnTo>
                <a:lnTo>
                  <a:pt x="8781" y="11567"/>
                </a:lnTo>
                <a:lnTo>
                  <a:pt x="8744" y="11538"/>
                </a:lnTo>
                <a:lnTo>
                  <a:pt x="8709" y="11508"/>
                </a:lnTo>
                <a:lnTo>
                  <a:pt x="8674" y="11477"/>
                </a:lnTo>
                <a:lnTo>
                  <a:pt x="8640" y="11444"/>
                </a:lnTo>
                <a:lnTo>
                  <a:pt x="8608" y="11413"/>
                </a:lnTo>
                <a:lnTo>
                  <a:pt x="8577" y="11379"/>
                </a:lnTo>
                <a:lnTo>
                  <a:pt x="8547" y="11344"/>
                </a:lnTo>
                <a:lnTo>
                  <a:pt x="8517" y="11309"/>
                </a:lnTo>
                <a:lnTo>
                  <a:pt x="8489" y="11273"/>
                </a:lnTo>
                <a:lnTo>
                  <a:pt x="8462" y="11237"/>
                </a:lnTo>
                <a:lnTo>
                  <a:pt x="8436" y="11201"/>
                </a:lnTo>
                <a:lnTo>
                  <a:pt x="8412" y="11163"/>
                </a:lnTo>
                <a:lnTo>
                  <a:pt x="8388" y="11124"/>
                </a:lnTo>
                <a:lnTo>
                  <a:pt x="8366" y="11085"/>
                </a:lnTo>
                <a:lnTo>
                  <a:pt x="8304" y="11124"/>
                </a:lnTo>
                <a:lnTo>
                  <a:pt x="8241" y="11162"/>
                </a:lnTo>
                <a:lnTo>
                  <a:pt x="8175" y="11199"/>
                </a:lnTo>
                <a:lnTo>
                  <a:pt x="8109" y="11234"/>
                </a:lnTo>
                <a:lnTo>
                  <a:pt x="8041" y="11269"/>
                </a:lnTo>
                <a:lnTo>
                  <a:pt x="7971" y="11302"/>
                </a:lnTo>
                <a:lnTo>
                  <a:pt x="7901" y="11335"/>
                </a:lnTo>
                <a:lnTo>
                  <a:pt x="7830" y="11366"/>
                </a:lnTo>
                <a:lnTo>
                  <a:pt x="7756" y="11395"/>
                </a:lnTo>
                <a:lnTo>
                  <a:pt x="7683" y="11424"/>
                </a:lnTo>
                <a:lnTo>
                  <a:pt x="7607" y="11451"/>
                </a:lnTo>
                <a:lnTo>
                  <a:pt x="7531" y="11476"/>
                </a:lnTo>
                <a:lnTo>
                  <a:pt x="7453" y="11501"/>
                </a:lnTo>
                <a:lnTo>
                  <a:pt x="7375" y="11524"/>
                </a:lnTo>
                <a:lnTo>
                  <a:pt x="7295" y="11546"/>
                </a:lnTo>
                <a:lnTo>
                  <a:pt x="7214" y="11566"/>
                </a:lnTo>
                <a:lnTo>
                  <a:pt x="7133" y="11586"/>
                </a:lnTo>
                <a:lnTo>
                  <a:pt x="7050" y="11603"/>
                </a:lnTo>
                <a:lnTo>
                  <a:pt x="6968" y="11620"/>
                </a:lnTo>
                <a:lnTo>
                  <a:pt x="6884" y="11634"/>
                </a:lnTo>
                <a:lnTo>
                  <a:pt x="6799" y="11647"/>
                </a:lnTo>
                <a:lnTo>
                  <a:pt x="6714" y="11659"/>
                </a:lnTo>
                <a:lnTo>
                  <a:pt x="6628" y="11669"/>
                </a:lnTo>
                <a:lnTo>
                  <a:pt x="6541" y="11678"/>
                </a:lnTo>
                <a:lnTo>
                  <a:pt x="6454" y="11684"/>
                </a:lnTo>
                <a:lnTo>
                  <a:pt x="6366" y="11690"/>
                </a:lnTo>
                <a:lnTo>
                  <a:pt x="6277" y="11694"/>
                </a:lnTo>
                <a:lnTo>
                  <a:pt x="6188" y="11696"/>
                </a:lnTo>
                <a:lnTo>
                  <a:pt x="6099" y="11696"/>
                </a:lnTo>
                <a:lnTo>
                  <a:pt x="6009" y="11695"/>
                </a:lnTo>
                <a:lnTo>
                  <a:pt x="5919" y="11693"/>
                </a:lnTo>
                <a:lnTo>
                  <a:pt x="5828" y="11688"/>
                </a:lnTo>
                <a:lnTo>
                  <a:pt x="5668" y="11677"/>
                </a:lnTo>
                <a:lnTo>
                  <a:pt x="5510" y="11660"/>
                </a:lnTo>
                <a:lnTo>
                  <a:pt x="5356" y="11637"/>
                </a:lnTo>
                <a:lnTo>
                  <a:pt x="5205" y="11610"/>
                </a:lnTo>
                <a:lnTo>
                  <a:pt x="5057" y="11579"/>
                </a:lnTo>
                <a:lnTo>
                  <a:pt x="4912" y="11543"/>
                </a:lnTo>
                <a:lnTo>
                  <a:pt x="4773" y="11502"/>
                </a:lnTo>
                <a:lnTo>
                  <a:pt x="4636" y="11457"/>
                </a:lnTo>
                <a:lnTo>
                  <a:pt x="4503" y="11408"/>
                </a:lnTo>
                <a:lnTo>
                  <a:pt x="4376" y="11355"/>
                </a:lnTo>
                <a:lnTo>
                  <a:pt x="4252" y="11298"/>
                </a:lnTo>
                <a:lnTo>
                  <a:pt x="4133" y="11237"/>
                </a:lnTo>
                <a:lnTo>
                  <a:pt x="4020" y="11174"/>
                </a:lnTo>
                <a:lnTo>
                  <a:pt x="3911" y="11106"/>
                </a:lnTo>
                <a:lnTo>
                  <a:pt x="3807" y="11036"/>
                </a:lnTo>
                <a:lnTo>
                  <a:pt x="3708" y="10961"/>
                </a:lnTo>
                <a:lnTo>
                  <a:pt x="3615" y="10884"/>
                </a:lnTo>
                <a:lnTo>
                  <a:pt x="3528" y="10804"/>
                </a:lnTo>
                <a:lnTo>
                  <a:pt x="3447" y="10722"/>
                </a:lnTo>
                <a:lnTo>
                  <a:pt x="3371" y="10637"/>
                </a:lnTo>
                <a:lnTo>
                  <a:pt x="3302" y="10549"/>
                </a:lnTo>
                <a:lnTo>
                  <a:pt x="3239" y="10459"/>
                </a:lnTo>
                <a:lnTo>
                  <a:pt x="3182" y="10368"/>
                </a:lnTo>
                <a:lnTo>
                  <a:pt x="3133" y="10274"/>
                </a:lnTo>
                <a:lnTo>
                  <a:pt x="3091" y="10177"/>
                </a:lnTo>
                <a:lnTo>
                  <a:pt x="3055" y="10079"/>
                </a:lnTo>
                <a:lnTo>
                  <a:pt x="3026" y="9980"/>
                </a:lnTo>
                <a:lnTo>
                  <a:pt x="3006" y="9879"/>
                </a:lnTo>
                <a:lnTo>
                  <a:pt x="2993" y="9777"/>
                </a:lnTo>
                <a:lnTo>
                  <a:pt x="2987" y="9673"/>
                </a:lnTo>
                <a:lnTo>
                  <a:pt x="2990" y="9568"/>
                </a:lnTo>
                <a:lnTo>
                  <a:pt x="3000" y="9462"/>
                </a:lnTo>
                <a:lnTo>
                  <a:pt x="3001" y="9455"/>
                </a:lnTo>
                <a:lnTo>
                  <a:pt x="3003" y="9448"/>
                </a:lnTo>
                <a:lnTo>
                  <a:pt x="3004" y="9441"/>
                </a:lnTo>
                <a:lnTo>
                  <a:pt x="3005" y="9433"/>
                </a:lnTo>
                <a:lnTo>
                  <a:pt x="3006" y="9425"/>
                </a:lnTo>
                <a:lnTo>
                  <a:pt x="3007" y="9418"/>
                </a:lnTo>
                <a:lnTo>
                  <a:pt x="3009" y="9411"/>
                </a:lnTo>
                <a:lnTo>
                  <a:pt x="3010" y="9404"/>
                </a:lnTo>
                <a:lnTo>
                  <a:pt x="2973" y="9417"/>
                </a:lnTo>
                <a:lnTo>
                  <a:pt x="2937" y="9430"/>
                </a:lnTo>
                <a:lnTo>
                  <a:pt x="2900" y="9444"/>
                </a:lnTo>
                <a:lnTo>
                  <a:pt x="2862" y="9456"/>
                </a:lnTo>
                <a:lnTo>
                  <a:pt x="2824" y="9467"/>
                </a:lnTo>
                <a:lnTo>
                  <a:pt x="2787" y="9479"/>
                </a:lnTo>
                <a:lnTo>
                  <a:pt x="2749" y="9489"/>
                </a:lnTo>
                <a:lnTo>
                  <a:pt x="2711" y="9499"/>
                </a:lnTo>
                <a:lnTo>
                  <a:pt x="2672" y="9508"/>
                </a:lnTo>
                <a:lnTo>
                  <a:pt x="2634" y="9517"/>
                </a:lnTo>
                <a:lnTo>
                  <a:pt x="2595" y="9525"/>
                </a:lnTo>
                <a:lnTo>
                  <a:pt x="2556" y="9532"/>
                </a:lnTo>
                <a:lnTo>
                  <a:pt x="2517" y="9538"/>
                </a:lnTo>
                <a:lnTo>
                  <a:pt x="2478" y="9544"/>
                </a:lnTo>
                <a:lnTo>
                  <a:pt x="2438" y="9549"/>
                </a:lnTo>
                <a:lnTo>
                  <a:pt x="2399" y="9554"/>
                </a:lnTo>
                <a:lnTo>
                  <a:pt x="2359" y="9559"/>
                </a:lnTo>
                <a:lnTo>
                  <a:pt x="2318" y="9562"/>
                </a:lnTo>
                <a:lnTo>
                  <a:pt x="2279" y="9565"/>
                </a:lnTo>
                <a:lnTo>
                  <a:pt x="2239" y="9567"/>
                </a:lnTo>
                <a:lnTo>
                  <a:pt x="2198" y="9568"/>
                </a:lnTo>
                <a:lnTo>
                  <a:pt x="2158" y="9569"/>
                </a:lnTo>
                <a:lnTo>
                  <a:pt x="2118" y="9569"/>
                </a:lnTo>
                <a:lnTo>
                  <a:pt x="2077" y="9568"/>
                </a:lnTo>
                <a:lnTo>
                  <a:pt x="2036" y="9567"/>
                </a:lnTo>
                <a:lnTo>
                  <a:pt x="1995" y="9565"/>
                </a:lnTo>
                <a:lnTo>
                  <a:pt x="1955" y="9562"/>
                </a:lnTo>
                <a:lnTo>
                  <a:pt x="1914" y="9559"/>
                </a:lnTo>
                <a:lnTo>
                  <a:pt x="1873" y="9554"/>
                </a:lnTo>
                <a:lnTo>
                  <a:pt x="1832" y="9549"/>
                </a:lnTo>
                <a:lnTo>
                  <a:pt x="1791" y="9544"/>
                </a:lnTo>
                <a:lnTo>
                  <a:pt x="1750" y="9537"/>
                </a:lnTo>
                <a:lnTo>
                  <a:pt x="1641" y="9517"/>
                </a:lnTo>
                <a:lnTo>
                  <a:pt x="1534" y="9491"/>
                </a:lnTo>
                <a:lnTo>
                  <a:pt x="1431" y="9461"/>
                </a:lnTo>
                <a:lnTo>
                  <a:pt x="1329" y="9426"/>
                </a:lnTo>
                <a:lnTo>
                  <a:pt x="1231" y="9387"/>
                </a:lnTo>
                <a:lnTo>
                  <a:pt x="1135" y="9344"/>
                </a:lnTo>
                <a:lnTo>
                  <a:pt x="1043" y="9297"/>
                </a:lnTo>
                <a:lnTo>
                  <a:pt x="955" y="9246"/>
                </a:lnTo>
                <a:lnTo>
                  <a:pt x="868" y="9191"/>
                </a:lnTo>
                <a:lnTo>
                  <a:pt x="786" y="9132"/>
                </a:lnTo>
                <a:lnTo>
                  <a:pt x="707" y="9071"/>
                </a:lnTo>
                <a:lnTo>
                  <a:pt x="631" y="9005"/>
                </a:lnTo>
                <a:lnTo>
                  <a:pt x="560" y="8937"/>
                </a:lnTo>
                <a:lnTo>
                  <a:pt x="492" y="8866"/>
                </a:lnTo>
                <a:lnTo>
                  <a:pt x="428" y="8791"/>
                </a:lnTo>
                <a:lnTo>
                  <a:pt x="368" y="8714"/>
                </a:lnTo>
                <a:lnTo>
                  <a:pt x="312" y="8635"/>
                </a:lnTo>
                <a:lnTo>
                  <a:pt x="260" y="8553"/>
                </a:lnTo>
                <a:lnTo>
                  <a:pt x="213" y="8468"/>
                </a:lnTo>
                <a:lnTo>
                  <a:pt x="170" y="8382"/>
                </a:lnTo>
                <a:lnTo>
                  <a:pt x="132" y="8292"/>
                </a:lnTo>
                <a:lnTo>
                  <a:pt x="98" y="8202"/>
                </a:lnTo>
                <a:lnTo>
                  <a:pt x="69" y="8110"/>
                </a:lnTo>
                <a:lnTo>
                  <a:pt x="45" y="8016"/>
                </a:lnTo>
                <a:lnTo>
                  <a:pt x="27" y="7921"/>
                </a:lnTo>
                <a:lnTo>
                  <a:pt x="12" y="7823"/>
                </a:lnTo>
                <a:lnTo>
                  <a:pt x="3" y="7726"/>
                </a:lnTo>
                <a:lnTo>
                  <a:pt x="0" y="7627"/>
                </a:lnTo>
                <a:lnTo>
                  <a:pt x="2" y="7527"/>
                </a:lnTo>
                <a:lnTo>
                  <a:pt x="9" y="7427"/>
                </a:lnTo>
                <a:lnTo>
                  <a:pt x="22" y="7325"/>
                </a:lnTo>
                <a:lnTo>
                  <a:pt x="42" y="7224"/>
                </a:lnTo>
                <a:lnTo>
                  <a:pt x="59" y="7149"/>
                </a:lnTo>
                <a:lnTo>
                  <a:pt x="80" y="7076"/>
                </a:lnTo>
                <a:lnTo>
                  <a:pt x="102" y="7005"/>
                </a:lnTo>
                <a:lnTo>
                  <a:pt x="128" y="6934"/>
                </a:lnTo>
                <a:lnTo>
                  <a:pt x="156" y="6864"/>
                </a:lnTo>
                <a:lnTo>
                  <a:pt x="187" y="6797"/>
                </a:lnTo>
                <a:lnTo>
                  <a:pt x="220" y="6730"/>
                </a:lnTo>
                <a:lnTo>
                  <a:pt x="256" y="6665"/>
                </a:lnTo>
                <a:lnTo>
                  <a:pt x="295" y="6601"/>
                </a:lnTo>
                <a:lnTo>
                  <a:pt x="336" y="6539"/>
                </a:lnTo>
                <a:lnTo>
                  <a:pt x="378" y="6477"/>
                </a:lnTo>
                <a:lnTo>
                  <a:pt x="423" y="6418"/>
                </a:lnTo>
                <a:lnTo>
                  <a:pt x="470" y="6359"/>
                </a:lnTo>
                <a:lnTo>
                  <a:pt x="519" y="6304"/>
                </a:lnTo>
                <a:lnTo>
                  <a:pt x="571" y="6249"/>
                </a:lnTo>
                <a:lnTo>
                  <a:pt x="624" y="6197"/>
                </a:lnTo>
                <a:lnTo>
                  <a:pt x="679" y="6145"/>
                </a:lnTo>
                <a:lnTo>
                  <a:pt x="736" y="6096"/>
                </a:lnTo>
                <a:lnTo>
                  <a:pt x="795" y="6048"/>
                </a:lnTo>
                <a:lnTo>
                  <a:pt x="856" y="6003"/>
                </a:lnTo>
                <a:lnTo>
                  <a:pt x="917" y="5959"/>
                </a:lnTo>
                <a:lnTo>
                  <a:pt x="981" y="5917"/>
                </a:lnTo>
                <a:lnTo>
                  <a:pt x="1047" y="5878"/>
                </a:lnTo>
                <a:lnTo>
                  <a:pt x="1113" y="5840"/>
                </a:lnTo>
                <a:lnTo>
                  <a:pt x="1181" y="5804"/>
                </a:lnTo>
                <a:lnTo>
                  <a:pt x="1250" y="5770"/>
                </a:lnTo>
                <a:lnTo>
                  <a:pt x="1321" y="5740"/>
                </a:lnTo>
                <a:lnTo>
                  <a:pt x="1392" y="5711"/>
                </a:lnTo>
                <a:lnTo>
                  <a:pt x="1465" y="5683"/>
                </a:lnTo>
                <a:lnTo>
                  <a:pt x="1539" y="5659"/>
                </a:lnTo>
                <a:lnTo>
                  <a:pt x="1614" y="5637"/>
                </a:lnTo>
                <a:lnTo>
                  <a:pt x="1690" y="5618"/>
                </a:lnTo>
                <a:lnTo>
                  <a:pt x="1659" y="5574"/>
                </a:lnTo>
                <a:lnTo>
                  <a:pt x="1629" y="5529"/>
                </a:lnTo>
                <a:lnTo>
                  <a:pt x="1600" y="5484"/>
                </a:lnTo>
                <a:lnTo>
                  <a:pt x="1573" y="5437"/>
                </a:lnTo>
                <a:lnTo>
                  <a:pt x="1546" y="5391"/>
                </a:lnTo>
                <a:lnTo>
                  <a:pt x="1522" y="5344"/>
                </a:lnTo>
                <a:lnTo>
                  <a:pt x="1498" y="5296"/>
                </a:lnTo>
                <a:lnTo>
                  <a:pt x="1475" y="5248"/>
                </a:lnTo>
                <a:lnTo>
                  <a:pt x="1454" y="5199"/>
                </a:lnTo>
                <a:lnTo>
                  <a:pt x="1434" y="5150"/>
                </a:lnTo>
                <a:lnTo>
                  <a:pt x="1415" y="5099"/>
                </a:lnTo>
                <a:lnTo>
                  <a:pt x="1397" y="5049"/>
                </a:lnTo>
                <a:lnTo>
                  <a:pt x="1381" y="4998"/>
                </a:lnTo>
                <a:lnTo>
                  <a:pt x="1367" y="4947"/>
                </a:lnTo>
                <a:lnTo>
                  <a:pt x="1353" y="4895"/>
                </a:lnTo>
                <a:lnTo>
                  <a:pt x="1340" y="4842"/>
                </a:lnTo>
                <a:lnTo>
                  <a:pt x="1330" y="4790"/>
                </a:lnTo>
                <a:lnTo>
                  <a:pt x="1320" y="4737"/>
                </a:lnTo>
                <a:lnTo>
                  <a:pt x="1312" y="4683"/>
                </a:lnTo>
                <a:lnTo>
                  <a:pt x="1306" y="4629"/>
                </a:lnTo>
                <a:lnTo>
                  <a:pt x="1301" y="4575"/>
                </a:lnTo>
                <a:lnTo>
                  <a:pt x="1296" y="4521"/>
                </a:lnTo>
                <a:lnTo>
                  <a:pt x="1294" y="4466"/>
                </a:lnTo>
                <a:lnTo>
                  <a:pt x="1293" y="4411"/>
                </a:lnTo>
                <a:lnTo>
                  <a:pt x="1293" y="4356"/>
                </a:lnTo>
                <a:lnTo>
                  <a:pt x="1295" y="4300"/>
                </a:lnTo>
                <a:lnTo>
                  <a:pt x="1299" y="4244"/>
                </a:lnTo>
                <a:lnTo>
                  <a:pt x="1305" y="4189"/>
                </a:lnTo>
                <a:lnTo>
                  <a:pt x="1312" y="4132"/>
                </a:lnTo>
                <a:lnTo>
                  <a:pt x="1320" y="4076"/>
                </a:lnTo>
                <a:lnTo>
                  <a:pt x="1329" y="4020"/>
                </a:lnTo>
                <a:lnTo>
                  <a:pt x="1340" y="3963"/>
                </a:lnTo>
                <a:lnTo>
                  <a:pt x="1369" y="3850"/>
                </a:lnTo>
                <a:lnTo>
                  <a:pt x="1401" y="3739"/>
                </a:lnTo>
                <a:lnTo>
                  <a:pt x="1441" y="3630"/>
                </a:lnTo>
                <a:lnTo>
                  <a:pt x="1486" y="3524"/>
                </a:lnTo>
                <a:lnTo>
                  <a:pt x="1536" y="3420"/>
                </a:lnTo>
                <a:lnTo>
                  <a:pt x="1591" y="3320"/>
                </a:lnTo>
                <a:lnTo>
                  <a:pt x="1650" y="3223"/>
                </a:lnTo>
                <a:lnTo>
                  <a:pt x="1716" y="3127"/>
                </a:lnTo>
                <a:lnTo>
                  <a:pt x="1785" y="3036"/>
                </a:lnTo>
                <a:lnTo>
                  <a:pt x="1858" y="2948"/>
                </a:lnTo>
                <a:lnTo>
                  <a:pt x="1937" y="2863"/>
                </a:lnTo>
                <a:lnTo>
                  <a:pt x="2019" y="2782"/>
                </a:lnTo>
                <a:lnTo>
                  <a:pt x="2105" y="2704"/>
                </a:lnTo>
                <a:lnTo>
                  <a:pt x="2195" y="2631"/>
                </a:lnTo>
                <a:lnTo>
                  <a:pt x="2288" y="2561"/>
                </a:lnTo>
                <a:lnTo>
                  <a:pt x="2385" y="2494"/>
                </a:lnTo>
                <a:lnTo>
                  <a:pt x="2484" y="2433"/>
                </a:lnTo>
                <a:lnTo>
                  <a:pt x="2587" y="2376"/>
                </a:lnTo>
                <a:lnTo>
                  <a:pt x="2693" y="2322"/>
                </a:lnTo>
                <a:lnTo>
                  <a:pt x="2801" y="2274"/>
                </a:lnTo>
                <a:lnTo>
                  <a:pt x="2911" y="2230"/>
                </a:lnTo>
                <a:lnTo>
                  <a:pt x="3024" y="2191"/>
                </a:lnTo>
                <a:lnTo>
                  <a:pt x="3139" y="2157"/>
                </a:lnTo>
                <a:lnTo>
                  <a:pt x="3256" y="2128"/>
                </a:lnTo>
                <a:lnTo>
                  <a:pt x="3374" y="2104"/>
                </a:lnTo>
                <a:lnTo>
                  <a:pt x="3495" y="2085"/>
                </a:lnTo>
                <a:lnTo>
                  <a:pt x="3616" y="2071"/>
                </a:lnTo>
                <a:lnTo>
                  <a:pt x="3738" y="2064"/>
                </a:lnTo>
                <a:lnTo>
                  <a:pt x="3862" y="2061"/>
                </a:lnTo>
                <a:lnTo>
                  <a:pt x="3985" y="2065"/>
                </a:lnTo>
                <a:lnTo>
                  <a:pt x="4111" y="2074"/>
                </a:lnTo>
                <a:lnTo>
                  <a:pt x="4235" y="2090"/>
                </a:lnTo>
                <a:lnTo>
                  <a:pt x="4256" y="2094"/>
                </a:lnTo>
                <a:lnTo>
                  <a:pt x="4278" y="2097"/>
                </a:lnTo>
                <a:lnTo>
                  <a:pt x="4299" y="2100"/>
                </a:lnTo>
                <a:lnTo>
                  <a:pt x="4321" y="2104"/>
                </a:lnTo>
                <a:lnTo>
                  <a:pt x="4342" y="2108"/>
                </a:lnTo>
                <a:lnTo>
                  <a:pt x="4363" y="2112"/>
                </a:lnTo>
                <a:lnTo>
                  <a:pt x="4384" y="2116"/>
                </a:lnTo>
                <a:lnTo>
                  <a:pt x="4404" y="2120"/>
                </a:lnTo>
                <a:lnTo>
                  <a:pt x="4425" y="2126"/>
                </a:lnTo>
                <a:lnTo>
                  <a:pt x="4446" y="2131"/>
                </a:lnTo>
                <a:lnTo>
                  <a:pt x="4467" y="2135"/>
                </a:lnTo>
                <a:lnTo>
                  <a:pt x="4487" y="2140"/>
                </a:lnTo>
                <a:lnTo>
                  <a:pt x="4507" y="2145"/>
                </a:lnTo>
                <a:lnTo>
                  <a:pt x="4528" y="2151"/>
                </a:lnTo>
                <a:lnTo>
                  <a:pt x="4548" y="2156"/>
                </a:lnTo>
                <a:lnTo>
                  <a:pt x="4568" y="2162"/>
                </a:lnTo>
                <a:lnTo>
                  <a:pt x="4588" y="2168"/>
                </a:lnTo>
                <a:lnTo>
                  <a:pt x="4608" y="2174"/>
                </a:lnTo>
                <a:lnTo>
                  <a:pt x="4628" y="2180"/>
                </a:lnTo>
                <a:lnTo>
                  <a:pt x="4648" y="2186"/>
                </a:lnTo>
                <a:lnTo>
                  <a:pt x="4668" y="2193"/>
                </a:lnTo>
                <a:lnTo>
                  <a:pt x="4687" y="2199"/>
                </a:lnTo>
                <a:lnTo>
                  <a:pt x="4706" y="2207"/>
                </a:lnTo>
                <a:lnTo>
                  <a:pt x="4726" y="2213"/>
                </a:lnTo>
                <a:lnTo>
                  <a:pt x="4745" y="2220"/>
                </a:lnTo>
                <a:lnTo>
                  <a:pt x="4764" y="2227"/>
                </a:lnTo>
                <a:lnTo>
                  <a:pt x="4784" y="2234"/>
                </a:lnTo>
                <a:lnTo>
                  <a:pt x="4802" y="2242"/>
                </a:lnTo>
                <a:lnTo>
                  <a:pt x="4822" y="2250"/>
                </a:lnTo>
                <a:lnTo>
                  <a:pt x="4840" y="2258"/>
                </a:lnTo>
                <a:lnTo>
                  <a:pt x="4859" y="2265"/>
                </a:lnTo>
                <a:lnTo>
                  <a:pt x="4878" y="2273"/>
                </a:lnTo>
                <a:lnTo>
                  <a:pt x="4879" y="2269"/>
                </a:lnTo>
                <a:lnTo>
                  <a:pt x="4880" y="2266"/>
                </a:lnTo>
                <a:lnTo>
                  <a:pt x="4880" y="2262"/>
                </a:lnTo>
                <a:lnTo>
                  <a:pt x="4881" y="2258"/>
                </a:lnTo>
                <a:lnTo>
                  <a:pt x="4882" y="2254"/>
                </a:lnTo>
                <a:lnTo>
                  <a:pt x="4883" y="2250"/>
                </a:lnTo>
                <a:lnTo>
                  <a:pt x="4884" y="2245"/>
                </a:lnTo>
                <a:lnTo>
                  <a:pt x="4884" y="2242"/>
                </a:lnTo>
                <a:lnTo>
                  <a:pt x="4905" y="2156"/>
                </a:lnTo>
                <a:lnTo>
                  <a:pt x="4930" y="2073"/>
                </a:lnTo>
                <a:lnTo>
                  <a:pt x="4958" y="1991"/>
                </a:lnTo>
                <a:lnTo>
                  <a:pt x="4990" y="1912"/>
                </a:lnTo>
                <a:lnTo>
                  <a:pt x="5025" y="1834"/>
                </a:lnTo>
                <a:lnTo>
                  <a:pt x="5062" y="1757"/>
                </a:lnTo>
                <a:lnTo>
                  <a:pt x="5103" y="1683"/>
                </a:lnTo>
                <a:lnTo>
                  <a:pt x="5147" y="1611"/>
                </a:lnTo>
                <a:lnTo>
                  <a:pt x="5193" y="1542"/>
                </a:lnTo>
                <a:lnTo>
                  <a:pt x="5243" y="1474"/>
                </a:lnTo>
                <a:lnTo>
                  <a:pt x="5294" y="1410"/>
                </a:lnTo>
                <a:lnTo>
                  <a:pt x="5349" y="1348"/>
                </a:lnTo>
                <a:lnTo>
                  <a:pt x="5405" y="1288"/>
                </a:lnTo>
                <a:lnTo>
                  <a:pt x="5464" y="1231"/>
                </a:lnTo>
                <a:lnTo>
                  <a:pt x="5524" y="1177"/>
                </a:lnTo>
                <a:lnTo>
                  <a:pt x="5588" y="1127"/>
                </a:lnTo>
                <a:lnTo>
                  <a:pt x="5652" y="1079"/>
                </a:lnTo>
                <a:lnTo>
                  <a:pt x="5718" y="1034"/>
                </a:lnTo>
                <a:lnTo>
                  <a:pt x="5785" y="992"/>
                </a:lnTo>
                <a:lnTo>
                  <a:pt x="5856" y="954"/>
                </a:lnTo>
                <a:lnTo>
                  <a:pt x="5926" y="919"/>
                </a:lnTo>
                <a:lnTo>
                  <a:pt x="5998" y="887"/>
                </a:lnTo>
                <a:lnTo>
                  <a:pt x="6071" y="859"/>
                </a:lnTo>
                <a:lnTo>
                  <a:pt x="6146" y="836"/>
                </a:lnTo>
                <a:lnTo>
                  <a:pt x="6220" y="815"/>
                </a:lnTo>
                <a:lnTo>
                  <a:pt x="6296" y="799"/>
                </a:lnTo>
                <a:lnTo>
                  <a:pt x="6373" y="787"/>
                </a:lnTo>
                <a:lnTo>
                  <a:pt x="6449" y="779"/>
                </a:lnTo>
                <a:lnTo>
                  <a:pt x="6527" y="774"/>
                </a:lnTo>
                <a:lnTo>
                  <a:pt x="6605" y="774"/>
                </a:lnTo>
                <a:lnTo>
                  <a:pt x="6682" y="779"/>
                </a:lnTo>
                <a:lnTo>
                  <a:pt x="6761" y="788"/>
                </a:lnTo>
                <a:lnTo>
                  <a:pt x="6785" y="792"/>
                </a:lnTo>
                <a:lnTo>
                  <a:pt x="6810" y="796"/>
                </a:lnTo>
                <a:lnTo>
                  <a:pt x="6833" y="801"/>
                </a:lnTo>
                <a:lnTo>
                  <a:pt x="6857" y="806"/>
                </a:lnTo>
                <a:lnTo>
                  <a:pt x="6881" y="811"/>
                </a:lnTo>
                <a:lnTo>
                  <a:pt x="6904" y="817"/>
                </a:lnTo>
                <a:lnTo>
                  <a:pt x="6928" y="824"/>
                </a:lnTo>
                <a:lnTo>
                  <a:pt x="6951" y="830"/>
                </a:lnTo>
                <a:lnTo>
                  <a:pt x="6974" y="837"/>
                </a:lnTo>
                <a:lnTo>
                  <a:pt x="6996" y="844"/>
                </a:lnTo>
                <a:lnTo>
                  <a:pt x="7019" y="852"/>
                </a:lnTo>
                <a:lnTo>
                  <a:pt x="7041" y="860"/>
                </a:lnTo>
                <a:lnTo>
                  <a:pt x="7064" y="870"/>
                </a:lnTo>
                <a:lnTo>
                  <a:pt x="7085" y="878"/>
                </a:lnTo>
                <a:lnTo>
                  <a:pt x="7106" y="888"/>
                </a:lnTo>
                <a:lnTo>
                  <a:pt x="7128" y="897"/>
                </a:lnTo>
                <a:lnTo>
                  <a:pt x="7149" y="908"/>
                </a:lnTo>
                <a:lnTo>
                  <a:pt x="7171" y="918"/>
                </a:lnTo>
                <a:lnTo>
                  <a:pt x="7191" y="929"/>
                </a:lnTo>
                <a:lnTo>
                  <a:pt x="7211" y="940"/>
                </a:lnTo>
                <a:lnTo>
                  <a:pt x="7232" y="952"/>
                </a:lnTo>
                <a:lnTo>
                  <a:pt x="7251" y="964"/>
                </a:lnTo>
                <a:lnTo>
                  <a:pt x="7272" y="976"/>
                </a:lnTo>
                <a:lnTo>
                  <a:pt x="7291" y="989"/>
                </a:lnTo>
                <a:lnTo>
                  <a:pt x="7310" y="1002"/>
                </a:lnTo>
                <a:lnTo>
                  <a:pt x="7330" y="1015"/>
                </a:lnTo>
                <a:lnTo>
                  <a:pt x="7348" y="1028"/>
                </a:lnTo>
                <a:lnTo>
                  <a:pt x="7366" y="1043"/>
                </a:lnTo>
                <a:lnTo>
                  <a:pt x="7385" y="1057"/>
                </a:lnTo>
                <a:lnTo>
                  <a:pt x="7403" y="1072"/>
                </a:lnTo>
                <a:lnTo>
                  <a:pt x="7421" y="1086"/>
                </a:lnTo>
                <a:lnTo>
                  <a:pt x="7438" y="1101"/>
                </a:lnTo>
                <a:close/>
              </a:path>
            </a:pathLst>
          </a:custGeom>
          <a:solidFill>
            <a:schemeClr val="bg1"/>
          </a:solidFill>
          <a:ln>
            <a:solidFill>
              <a:schemeClr val="tx1"/>
            </a:solidFill>
          </a:ln>
          <a:effectLst>
            <a:outerShdw dist="40161" dir="4293903" algn="ctr" rotWithShape="0">
              <a:srgbClr val="666633"/>
            </a:outerShdw>
          </a:effectLst>
        </p:spPr>
        <p:txBody>
          <a:bodyPr wrap="square" lIns="22467" tIns="11234" rIns="22467" bIns="11234" anchor="ctr" anchorCtr="1">
            <a:noAutofit/>
          </a:bodyPr>
          <a:lstStyle/>
          <a:p>
            <a:r>
              <a:rPr lang="zh-CN" altLang="en-US" sz="1200" b="1" dirty="0">
                <a:latin typeface="微软雅黑 Light" panose="020B0502040204020203" pitchFamily="34" charset="-122"/>
                <a:ea typeface="微软雅黑 Light" panose="020B0502040204020203" pitchFamily="34" charset="-122"/>
              </a:rPr>
              <a:t>互联网</a:t>
            </a:r>
          </a:p>
        </p:txBody>
      </p:sp>
      <p:sp>
        <p:nvSpPr>
          <p:cNvPr id="75" name="Rectangle 9"/>
          <p:cNvSpPr>
            <a:spLocks noChangeArrowheads="1"/>
          </p:cNvSpPr>
          <p:nvPr/>
        </p:nvSpPr>
        <p:spPr bwMode="auto">
          <a:xfrm>
            <a:off x="5568200" y="1597211"/>
            <a:ext cx="828258"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0" lang="zh-CN" altLang="en-US" sz="1200" b="1" dirty="0">
                <a:solidFill>
                  <a:srgbClr val="25221E"/>
                </a:solidFill>
                <a:latin typeface="微软雅黑 Light" panose="020B0502040204020203" pitchFamily="34" charset="-122"/>
                <a:ea typeface="微软雅黑 Light" panose="020B0502040204020203" pitchFamily="34" charset="-122"/>
              </a:rPr>
              <a:t>整个邮件</a:t>
            </a:r>
          </a:p>
        </p:txBody>
      </p:sp>
      <p:sp>
        <p:nvSpPr>
          <p:cNvPr id="76" name="Documents"/>
          <p:cNvSpPr>
            <a:spLocks noEditPoints="1" noChangeArrowheads="1"/>
          </p:cNvSpPr>
          <p:nvPr/>
        </p:nvSpPr>
        <p:spPr bwMode="auto">
          <a:xfrm>
            <a:off x="7315192" y="1378584"/>
            <a:ext cx="871546" cy="451373"/>
          </a:xfrm>
          <a:custGeom>
            <a:avLst/>
            <a:gdLst>
              <a:gd name="T0" fmla="*/ 0 w 21600"/>
              <a:gd name="T1" fmla="*/ 2800 h 21600"/>
              <a:gd name="T2" fmla="*/ 3468 w 21600"/>
              <a:gd name="T3" fmla="*/ 0 h 21600"/>
              <a:gd name="T4" fmla="*/ 21653 w 21600"/>
              <a:gd name="T5" fmla="*/ 18828 h 21600"/>
              <a:gd name="T6" fmla="*/ 19954 w 21600"/>
              <a:gd name="T7" fmla="*/ 20214 h 21600"/>
              <a:gd name="T8" fmla="*/ 18256 w 21600"/>
              <a:gd name="T9" fmla="*/ 21628 h 21600"/>
              <a:gd name="T10" fmla="*/ 19954 w 21600"/>
              <a:gd name="T11" fmla="*/ 1428 h 21600"/>
              <a:gd name="T12" fmla="*/ 18256 w 21600"/>
              <a:gd name="T13" fmla="*/ 2800 h 21600"/>
              <a:gd name="T14" fmla="*/ 1645 w 21600"/>
              <a:gd name="T15" fmla="*/ 1428 h 21600"/>
              <a:gd name="T16" fmla="*/ 21600 w 21600"/>
              <a:gd name="T17" fmla="*/ 0 h 21600"/>
              <a:gd name="T18" fmla="*/ 10800 w 21600"/>
              <a:gd name="T19" fmla="*/ 0 h 21600"/>
              <a:gd name="T20" fmla="*/ 0 w 21600"/>
              <a:gd name="T21" fmla="*/ 10800 h 21600"/>
              <a:gd name="T22" fmla="*/ 21600 w 21600"/>
              <a:gd name="T23" fmla="*/ 10800 h 21600"/>
              <a:gd name="T24" fmla="*/ 1645 w 21600"/>
              <a:gd name="T25" fmla="*/ 4171 h 21600"/>
              <a:gd name="T26" fmla="*/ 16522 w 21600"/>
              <a:gd name="T27" fmla="*/ 17314 h 216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T24" t="T25" r="T26" b="T27"/>
            <a:pathLst>
              <a:path w="21600" h="21600" extrusionOk="0">
                <a:moveTo>
                  <a:pt x="0" y="18014"/>
                </a:moveTo>
                <a:lnTo>
                  <a:pt x="0" y="2800"/>
                </a:lnTo>
                <a:lnTo>
                  <a:pt x="1645" y="2800"/>
                </a:lnTo>
                <a:lnTo>
                  <a:pt x="1645" y="1428"/>
                </a:lnTo>
                <a:lnTo>
                  <a:pt x="3468" y="1428"/>
                </a:lnTo>
                <a:lnTo>
                  <a:pt x="3468" y="0"/>
                </a:lnTo>
                <a:lnTo>
                  <a:pt x="21653" y="0"/>
                </a:lnTo>
                <a:lnTo>
                  <a:pt x="21653" y="18828"/>
                </a:lnTo>
                <a:lnTo>
                  <a:pt x="19954" y="18828"/>
                </a:lnTo>
                <a:lnTo>
                  <a:pt x="19954" y="20214"/>
                </a:lnTo>
                <a:lnTo>
                  <a:pt x="18256" y="20214"/>
                </a:lnTo>
                <a:lnTo>
                  <a:pt x="18256" y="21600"/>
                </a:lnTo>
                <a:lnTo>
                  <a:pt x="4434" y="21600"/>
                </a:lnTo>
                <a:lnTo>
                  <a:pt x="0" y="18014"/>
                </a:lnTo>
                <a:close/>
              </a:path>
              <a:path w="21600" h="21600" extrusionOk="0">
                <a:moveTo>
                  <a:pt x="3486" y="1428"/>
                </a:moveTo>
                <a:lnTo>
                  <a:pt x="19954" y="1428"/>
                </a:lnTo>
                <a:lnTo>
                  <a:pt x="19954" y="20214"/>
                </a:lnTo>
                <a:lnTo>
                  <a:pt x="18256" y="20214"/>
                </a:lnTo>
                <a:lnTo>
                  <a:pt x="18256" y="2800"/>
                </a:lnTo>
                <a:lnTo>
                  <a:pt x="1645" y="2800"/>
                </a:lnTo>
                <a:lnTo>
                  <a:pt x="1645" y="1428"/>
                </a:lnTo>
                <a:lnTo>
                  <a:pt x="3486" y="1428"/>
                </a:lnTo>
                <a:close/>
              </a:path>
              <a:path w="21600" h="21600" extrusionOk="0">
                <a:moveTo>
                  <a:pt x="0" y="18014"/>
                </a:moveTo>
                <a:lnTo>
                  <a:pt x="4434" y="18000"/>
                </a:lnTo>
                <a:lnTo>
                  <a:pt x="4434" y="21600"/>
                </a:lnTo>
                <a:lnTo>
                  <a:pt x="0" y="18014"/>
                </a:lnTo>
                <a:close/>
              </a:path>
            </a:pathLst>
          </a:custGeom>
          <a:solidFill>
            <a:srgbClr val="00FFCC"/>
          </a:solidFill>
          <a:ln w="9525">
            <a:solidFill>
              <a:srgbClr val="000000"/>
            </a:solidFill>
            <a:miter lim="800000"/>
            <a:headEnd/>
            <a:tailEnd/>
          </a:ln>
          <a:effec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77" name="Rectangle 9"/>
          <p:cNvSpPr>
            <a:spLocks noChangeArrowheads="1"/>
          </p:cNvSpPr>
          <p:nvPr/>
        </p:nvSpPr>
        <p:spPr bwMode="auto">
          <a:xfrm>
            <a:off x="7314047" y="1513192"/>
            <a:ext cx="772675" cy="1692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0" lang="zh-CN" altLang="en-US" sz="1100" b="1" dirty="0">
                <a:solidFill>
                  <a:srgbClr val="25221E"/>
                </a:solidFill>
                <a:latin typeface="微软雅黑 Light" panose="020B0502040204020203" pitchFamily="34" charset="-122"/>
                <a:ea typeface="微软雅黑 Light" panose="020B0502040204020203" pitchFamily="34" charset="-122"/>
              </a:rPr>
              <a:t>所有邮件</a:t>
            </a:r>
          </a:p>
        </p:txBody>
      </p:sp>
      <p:sp>
        <p:nvSpPr>
          <p:cNvPr id="78" name="Rectangle 9"/>
          <p:cNvSpPr>
            <a:spLocks noChangeArrowheads="1"/>
          </p:cNvSpPr>
          <p:nvPr/>
        </p:nvSpPr>
        <p:spPr bwMode="auto">
          <a:xfrm rot="20578601">
            <a:off x="6004789" y="2694178"/>
            <a:ext cx="769473"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0" lang="zh-CN" altLang="en-US" sz="1200" b="1" dirty="0">
                <a:solidFill>
                  <a:srgbClr val="25221E"/>
                </a:solidFill>
                <a:latin typeface="微软雅黑 Light" panose="020B0502040204020203" pitchFamily="34" charset="-122"/>
                <a:ea typeface="微软雅黑 Light" panose="020B0502040204020203" pitchFamily="34" charset="-122"/>
              </a:rPr>
              <a:t>邮件首部</a:t>
            </a:r>
          </a:p>
        </p:txBody>
      </p:sp>
      <p:grpSp>
        <p:nvGrpSpPr>
          <p:cNvPr id="88" name="组合 87"/>
          <p:cNvGrpSpPr/>
          <p:nvPr/>
        </p:nvGrpSpPr>
        <p:grpSpPr>
          <a:xfrm>
            <a:off x="3149855" y="3381313"/>
            <a:ext cx="715074" cy="395003"/>
            <a:chOff x="3420280" y="3918130"/>
            <a:chExt cx="512274" cy="390821"/>
          </a:xfrm>
          <a:solidFill>
            <a:srgbClr val="00FFCC"/>
          </a:solidFill>
        </p:grpSpPr>
        <p:sp>
          <p:nvSpPr>
            <p:cNvPr id="86" name="File"/>
            <p:cNvSpPr>
              <a:spLocks noEditPoints="1" noChangeArrowheads="1"/>
            </p:cNvSpPr>
            <p:nvPr/>
          </p:nvSpPr>
          <p:spPr bwMode="auto">
            <a:xfrm>
              <a:off x="3420280" y="3918130"/>
              <a:ext cx="512274" cy="390821"/>
            </a:xfrm>
            <a:custGeom>
              <a:avLst/>
              <a:gdLst>
                <a:gd name="T0" fmla="*/ 10981 w 21600"/>
                <a:gd name="T1" fmla="*/ 3240 h 21600"/>
                <a:gd name="T2" fmla="*/ 0 w 21600"/>
                <a:gd name="T3" fmla="*/ 10800 h 21600"/>
                <a:gd name="T4" fmla="*/ 10800 w 21600"/>
                <a:gd name="T5" fmla="*/ 21600 h 21600"/>
                <a:gd name="T6" fmla="*/ 21600 w 21600"/>
                <a:gd name="T7" fmla="*/ 10800 h 21600"/>
                <a:gd name="T8" fmla="*/ 0 w 21600"/>
                <a:gd name="T9" fmla="*/ 21600 h 21600"/>
                <a:gd name="T10" fmla="*/ 21600 w 21600"/>
                <a:gd name="T11" fmla="*/ 21600 h 21600"/>
                <a:gd name="T12" fmla="*/ 1086 w 21600"/>
                <a:gd name="T13" fmla="*/ 4628 h 21600"/>
                <a:gd name="T14" fmla="*/ 20635 w 21600"/>
                <a:gd name="T15" fmla="*/ 20289 h 21600"/>
              </a:gdLst>
              <a:ahLst/>
              <a:cxnLst>
                <a:cxn ang="0">
                  <a:pos x="T0" y="T1"/>
                </a:cxn>
                <a:cxn ang="0">
                  <a:pos x="T2" y="T3"/>
                </a:cxn>
                <a:cxn ang="0">
                  <a:pos x="T4" y="T5"/>
                </a:cxn>
                <a:cxn ang="0">
                  <a:pos x="T6" y="T7"/>
                </a:cxn>
                <a:cxn ang="0">
                  <a:pos x="T8" y="T9"/>
                </a:cxn>
                <a:cxn ang="0">
                  <a:pos x="T10" y="T11"/>
                </a:cxn>
              </a:cxnLst>
              <a:rect l="T12" t="T13" r="T14" b="T15"/>
              <a:pathLst>
                <a:path w="21600" h="21600">
                  <a:moveTo>
                    <a:pt x="19790" y="3240"/>
                  </a:moveTo>
                  <a:cubicBezTo>
                    <a:pt x="10981" y="3240"/>
                    <a:pt x="9171" y="3240"/>
                    <a:pt x="9050" y="3086"/>
                  </a:cubicBezTo>
                  <a:cubicBezTo>
                    <a:pt x="9050" y="2931"/>
                    <a:pt x="8930" y="2777"/>
                    <a:pt x="8930" y="2469"/>
                  </a:cubicBezTo>
                  <a:cubicBezTo>
                    <a:pt x="8930" y="2160"/>
                    <a:pt x="8809" y="1851"/>
                    <a:pt x="8688" y="1389"/>
                  </a:cubicBezTo>
                  <a:cubicBezTo>
                    <a:pt x="8568" y="1080"/>
                    <a:pt x="8326" y="771"/>
                    <a:pt x="8085" y="463"/>
                  </a:cubicBezTo>
                  <a:cubicBezTo>
                    <a:pt x="7723" y="154"/>
                    <a:pt x="7361" y="0"/>
                    <a:pt x="7361" y="0"/>
                  </a:cubicBezTo>
                  <a:cubicBezTo>
                    <a:pt x="7361" y="0"/>
                    <a:pt x="2293" y="0"/>
                    <a:pt x="2051" y="154"/>
                  </a:cubicBezTo>
                  <a:cubicBezTo>
                    <a:pt x="1689" y="309"/>
                    <a:pt x="1448" y="463"/>
                    <a:pt x="1327" y="771"/>
                  </a:cubicBezTo>
                  <a:cubicBezTo>
                    <a:pt x="1207" y="1080"/>
                    <a:pt x="1086" y="1389"/>
                    <a:pt x="965" y="1697"/>
                  </a:cubicBezTo>
                  <a:cubicBezTo>
                    <a:pt x="845" y="2160"/>
                    <a:pt x="724" y="2314"/>
                    <a:pt x="724" y="2469"/>
                  </a:cubicBezTo>
                  <a:cubicBezTo>
                    <a:pt x="603" y="2623"/>
                    <a:pt x="603" y="2777"/>
                    <a:pt x="483" y="2931"/>
                  </a:cubicBezTo>
                  <a:cubicBezTo>
                    <a:pt x="483" y="3086"/>
                    <a:pt x="362" y="3240"/>
                    <a:pt x="241" y="3240"/>
                  </a:cubicBezTo>
                  <a:lnTo>
                    <a:pt x="0" y="3394"/>
                  </a:lnTo>
                  <a:lnTo>
                    <a:pt x="0" y="3703"/>
                  </a:lnTo>
                  <a:lnTo>
                    <a:pt x="0" y="10800"/>
                  </a:lnTo>
                  <a:lnTo>
                    <a:pt x="0" y="21600"/>
                  </a:lnTo>
                  <a:lnTo>
                    <a:pt x="10981" y="21600"/>
                  </a:lnTo>
                  <a:lnTo>
                    <a:pt x="21600" y="21600"/>
                  </a:lnTo>
                  <a:lnTo>
                    <a:pt x="21600" y="10800"/>
                  </a:lnTo>
                  <a:lnTo>
                    <a:pt x="21600" y="5246"/>
                  </a:lnTo>
                  <a:lnTo>
                    <a:pt x="21600" y="4783"/>
                  </a:lnTo>
                  <a:cubicBezTo>
                    <a:pt x="21479" y="4320"/>
                    <a:pt x="21359" y="4011"/>
                    <a:pt x="21117" y="3703"/>
                  </a:cubicBezTo>
                  <a:cubicBezTo>
                    <a:pt x="20876" y="3549"/>
                    <a:pt x="20514" y="3394"/>
                    <a:pt x="20152" y="3240"/>
                  </a:cubicBezTo>
                  <a:close/>
                </a:path>
              </a:pathLst>
            </a:custGeom>
            <a:grpFill/>
            <a:ln w="9525">
              <a:solidFill>
                <a:srgbClr val="000000"/>
              </a:solidFill>
              <a:miter lim="800000"/>
              <a:headEnd/>
              <a:tailEnd/>
            </a:ln>
            <a:effec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87" name="Rectangle 9"/>
            <p:cNvSpPr>
              <a:spLocks noChangeArrowheads="1"/>
            </p:cNvSpPr>
            <p:nvPr/>
          </p:nvSpPr>
          <p:spPr bwMode="auto">
            <a:xfrm>
              <a:off x="3577942" y="4043189"/>
              <a:ext cx="202115" cy="167485"/>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eaLnBrk="1" hangingPunct="1"/>
              <a:r>
                <a:rPr kumimoji="0" lang="zh-CN" altLang="en-US" sz="1100" b="1" dirty="0">
                  <a:solidFill>
                    <a:srgbClr val="25221E"/>
                  </a:solidFill>
                  <a:latin typeface="微软雅黑 Light" panose="020B0502040204020203" pitchFamily="34" charset="-122"/>
                  <a:ea typeface="微软雅黑 Light" panose="020B0502040204020203" pitchFamily="34" charset="-122"/>
                </a:rPr>
                <a:t>工作</a:t>
              </a:r>
            </a:p>
          </p:txBody>
        </p:sp>
      </p:grpSp>
      <p:grpSp>
        <p:nvGrpSpPr>
          <p:cNvPr id="89" name="组合 88"/>
          <p:cNvGrpSpPr/>
          <p:nvPr/>
        </p:nvGrpSpPr>
        <p:grpSpPr>
          <a:xfrm>
            <a:off x="2905346" y="3619587"/>
            <a:ext cx="715074" cy="395003"/>
            <a:chOff x="3420280" y="3918130"/>
            <a:chExt cx="512274" cy="390821"/>
          </a:xfrm>
          <a:solidFill>
            <a:srgbClr val="00FFCC"/>
          </a:solidFill>
        </p:grpSpPr>
        <p:sp>
          <p:nvSpPr>
            <p:cNvPr id="90" name="File"/>
            <p:cNvSpPr>
              <a:spLocks noEditPoints="1" noChangeArrowheads="1"/>
            </p:cNvSpPr>
            <p:nvPr/>
          </p:nvSpPr>
          <p:spPr bwMode="auto">
            <a:xfrm>
              <a:off x="3420280" y="3918130"/>
              <a:ext cx="512274" cy="390821"/>
            </a:xfrm>
            <a:custGeom>
              <a:avLst/>
              <a:gdLst>
                <a:gd name="T0" fmla="*/ 10981 w 21600"/>
                <a:gd name="T1" fmla="*/ 3240 h 21600"/>
                <a:gd name="T2" fmla="*/ 0 w 21600"/>
                <a:gd name="T3" fmla="*/ 10800 h 21600"/>
                <a:gd name="T4" fmla="*/ 10800 w 21600"/>
                <a:gd name="T5" fmla="*/ 21600 h 21600"/>
                <a:gd name="T6" fmla="*/ 21600 w 21600"/>
                <a:gd name="T7" fmla="*/ 10800 h 21600"/>
                <a:gd name="T8" fmla="*/ 0 w 21600"/>
                <a:gd name="T9" fmla="*/ 21600 h 21600"/>
                <a:gd name="T10" fmla="*/ 21600 w 21600"/>
                <a:gd name="T11" fmla="*/ 21600 h 21600"/>
                <a:gd name="T12" fmla="*/ 1086 w 21600"/>
                <a:gd name="T13" fmla="*/ 4628 h 21600"/>
                <a:gd name="T14" fmla="*/ 20635 w 21600"/>
                <a:gd name="T15" fmla="*/ 20289 h 21600"/>
              </a:gdLst>
              <a:ahLst/>
              <a:cxnLst>
                <a:cxn ang="0">
                  <a:pos x="T0" y="T1"/>
                </a:cxn>
                <a:cxn ang="0">
                  <a:pos x="T2" y="T3"/>
                </a:cxn>
                <a:cxn ang="0">
                  <a:pos x="T4" y="T5"/>
                </a:cxn>
                <a:cxn ang="0">
                  <a:pos x="T6" y="T7"/>
                </a:cxn>
                <a:cxn ang="0">
                  <a:pos x="T8" y="T9"/>
                </a:cxn>
                <a:cxn ang="0">
                  <a:pos x="T10" y="T11"/>
                </a:cxn>
              </a:cxnLst>
              <a:rect l="T12" t="T13" r="T14" b="T15"/>
              <a:pathLst>
                <a:path w="21600" h="21600">
                  <a:moveTo>
                    <a:pt x="19790" y="3240"/>
                  </a:moveTo>
                  <a:cubicBezTo>
                    <a:pt x="10981" y="3240"/>
                    <a:pt x="9171" y="3240"/>
                    <a:pt x="9050" y="3086"/>
                  </a:cubicBezTo>
                  <a:cubicBezTo>
                    <a:pt x="9050" y="2931"/>
                    <a:pt x="8930" y="2777"/>
                    <a:pt x="8930" y="2469"/>
                  </a:cubicBezTo>
                  <a:cubicBezTo>
                    <a:pt x="8930" y="2160"/>
                    <a:pt x="8809" y="1851"/>
                    <a:pt x="8688" y="1389"/>
                  </a:cubicBezTo>
                  <a:cubicBezTo>
                    <a:pt x="8568" y="1080"/>
                    <a:pt x="8326" y="771"/>
                    <a:pt x="8085" y="463"/>
                  </a:cubicBezTo>
                  <a:cubicBezTo>
                    <a:pt x="7723" y="154"/>
                    <a:pt x="7361" y="0"/>
                    <a:pt x="7361" y="0"/>
                  </a:cubicBezTo>
                  <a:cubicBezTo>
                    <a:pt x="7361" y="0"/>
                    <a:pt x="2293" y="0"/>
                    <a:pt x="2051" y="154"/>
                  </a:cubicBezTo>
                  <a:cubicBezTo>
                    <a:pt x="1689" y="309"/>
                    <a:pt x="1448" y="463"/>
                    <a:pt x="1327" y="771"/>
                  </a:cubicBezTo>
                  <a:cubicBezTo>
                    <a:pt x="1207" y="1080"/>
                    <a:pt x="1086" y="1389"/>
                    <a:pt x="965" y="1697"/>
                  </a:cubicBezTo>
                  <a:cubicBezTo>
                    <a:pt x="845" y="2160"/>
                    <a:pt x="724" y="2314"/>
                    <a:pt x="724" y="2469"/>
                  </a:cubicBezTo>
                  <a:cubicBezTo>
                    <a:pt x="603" y="2623"/>
                    <a:pt x="603" y="2777"/>
                    <a:pt x="483" y="2931"/>
                  </a:cubicBezTo>
                  <a:cubicBezTo>
                    <a:pt x="483" y="3086"/>
                    <a:pt x="362" y="3240"/>
                    <a:pt x="241" y="3240"/>
                  </a:cubicBezTo>
                  <a:lnTo>
                    <a:pt x="0" y="3394"/>
                  </a:lnTo>
                  <a:lnTo>
                    <a:pt x="0" y="3703"/>
                  </a:lnTo>
                  <a:lnTo>
                    <a:pt x="0" y="10800"/>
                  </a:lnTo>
                  <a:lnTo>
                    <a:pt x="0" y="21600"/>
                  </a:lnTo>
                  <a:lnTo>
                    <a:pt x="10981" y="21600"/>
                  </a:lnTo>
                  <a:lnTo>
                    <a:pt x="21600" y="21600"/>
                  </a:lnTo>
                  <a:lnTo>
                    <a:pt x="21600" y="10800"/>
                  </a:lnTo>
                  <a:lnTo>
                    <a:pt x="21600" y="5246"/>
                  </a:lnTo>
                  <a:lnTo>
                    <a:pt x="21600" y="4783"/>
                  </a:lnTo>
                  <a:cubicBezTo>
                    <a:pt x="21479" y="4320"/>
                    <a:pt x="21359" y="4011"/>
                    <a:pt x="21117" y="3703"/>
                  </a:cubicBezTo>
                  <a:cubicBezTo>
                    <a:pt x="20876" y="3549"/>
                    <a:pt x="20514" y="3394"/>
                    <a:pt x="20152" y="3240"/>
                  </a:cubicBezTo>
                  <a:close/>
                </a:path>
              </a:pathLst>
            </a:custGeom>
            <a:grpFill/>
            <a:ln w="9525">
              <a:solidFill>
                <a:srgbClr val="000000"/>
              </a:solidFill>
              <a:miter lim="800000"/>
              <a:headEnd/>
              <a:tailEnd/>
            </a:ln>
            <a:effec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91" name="Rectangle 9"/>
            <p:cNvSpPr>
              <a:spLocks noChangeArrowheads="1"/>
            </p:cNvSpPr>
            <p:nvPr/>
          </p:nvSpPr>
          <p:spPr bwMode="auto">
            <a:xfrm>
              <a:off x="3577942" y="4043189"/>
              <a:ext cx="202115" cy="167485"/>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eaLnBrk="1" hangingPunct="1"/>
              <a:r>
                <a:rPr kumimoji="0" lang="zh-CN" altLang="en-US" sz="1100" b="1" dirty="0">
                  <a:solidFill>
                    <a:srgbClr val="25221E"/>
                  </a:solidFill>
                  <a:latin typeface="微软雅黑 Light" panose="020B0502040204020203" pitchFamily="34" charset="-122"/>
                  <a:ea typeface="微软雅黑 Light" panose="020B0502040204020203" pitchFamily="34" charset="-122"/>
                </a:rPr>
                <a:t>好友</a:t>
              </a:r>
            </a:p>
          </p:txBody>
        </p:sp>
      </p:grpSp>
      <p:sp>
        <p:nvSpPr>
          <p:cNvPr id="92" name="Rectangle 9"/>
          <p:cNvSpPr>
            <a:spLocks noChangeArrowheads="1"/>
          </p:cNvSpPr>
          <p:nvPr/>
        </p:nvSpPr>
        <p:spPr bwMode="auto">
          <a:xfrm>
            <a:off x="949635" y="1572753"/>
            <a:ext cx="1434336"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algn="ctr" eaLnBrk="1" hangingPunct="1">
              <a:lnSpc>
                <a:spcPts val="1800"/>
              </a:lnSpc>
            </a:pPr>
            <a:r>
              <a:rPr kumimoji="0" lang="zh-CN" altLang="en-US" sz="1600" b="1" dirty="0">
                <a:solidFill>
                  <a:srgbClr val="0000FF"/>
                </a:solidFill>
                <a:latin typeface="微软雅黑 Light" panose="020B0502040204020203" pitchFamily="34" charset="-122"/>
                <a:ea typeface="微软雅黑 Light" panose="020B0502040204020203" pitchFamily="34" charset="-122"/>
              </a:rPr>
              <a:t>使用 </a:t>
            </a:r>
            <a:r>
              <a:rPr kumimoji="0" lang="en-US" altLang="zh-CN" sz="1600" b="1" dirty="0">
                <a:solidFill>
                  <a:srgbClr val="0000FF"/>
                </a:solidFill>
                <a:latin typeface="微软雅黑 Light" panose="020B0502040204020203" pitchFamily="34" charset="-122"/>
                <a:ea typeface="微软雅黑 Light" panose="020B0502040204020203" pitchFamily="34" charset="-122"/>
              </a:rPr>
              <a:t>POP3</a:t>
            </a:r>
          </a:p>
          <a:p>
            <a:pPr algn="ctr" eaLnBrk="1" hangingPunct="1">
              <a:lnSpc>
                <a:spcPts val="1800"/>
              </a:lnSpc>
            </a:pPr>
            <a:r>
              <a:rPr kumimoji="0" lang="zh-CN" altLang="en-US" sz="1600" b="1" dirty="0">
                <a:solidFill>
                  <a:srgbClr val="0000FF"/>
                </a:solidFill>
                <a:latin typeface="微软雅黑 Light" panose="020B0502040204020203" pitchFamily="34" charset="-122"/>
                <a:ea typeface="微软雅黑 Light" panose="020B0502040204020203" pitchFamily="34" charset="-122"/>
              </a:rPr>
              <a:t>读取邮件</a:t>
            </a:r>
          </a:p>
        </p:txBody>
      </p:sp>
      <p:sp>
        <p:nvSpPr>
          <p:cNvPr id="93" name="Rectangle 9"/>
          <p:cNvSpPr>
            <a:spLocks noChangeArrowheads="1"/>
          </p:cNvSpPr>
          <p:nvPr/>
        </p:nvSpPr>
        <p:spPr bwMode="auto">
          <a:xfrm>
            <a:off x="942975" y="3021536"/>
            <a:ext cx="1440995"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algn="ctr" eaLnBrk="1" hangingPunct="1">
              <a:lnSpc>
                <a:spcPts val="1800"/>
              </a:lnSpc>
            </a:pPr>
            <a:r>
              <a:rPr kumimoji="0" lang="zh-CN" altLang="en-US" sz="1600" b="1" dirty="0">
                <a:solidFill>
                  <a:srgbClr val="0000FF"/>
                </a:solidFill>
                <a:latin typeface="微软雅黑 Light" panose="020B0502040204020203" pitchFamily="34" charset="-122"/>
                <a:ea typeface="微软雅黑 Light" panose="020B0502040204020203" pitchFamily="34" charset="-122"/>
              </a:rPr>
              <a:t>使用 </a:t>
            </a:r>
            <a:r>
              <a:rPr kumimoji="0" lang="en-US" altLang="zh-CN" sz="1600" b="1" dirty="0">
                <a:solidFill>
                  <a:srgbClr val="0000FF"/>
                </a:solidFill>
                <a:latin typeface="微软雅黑 Light" panose="020B0502040204020203" pitchFamily="34" charset="-122"/>
                <a:ea typeface="微软雅黑 Light" panose="020B0502040204020203" pitchFamily="34" charset="-122"/>
              </a:rPr>
              <a:t>IMAP</a:t>
            </a:r>
          </a:p>
          <a:p>
            <a:pPr algn="ctr" eaLnBrk="1" hangingPunct="1">
              <a:lnSpc>
                <a:spcPts val="1800"/>
              </a:lnSpc>
            </a:pPr>
            <a:r>
              <a:rPr kumimoji="0" lang="zh-CN" altLang="en-US" sz="1600" b="1" dirty="0">
                <a:solidFill>
                  <a:srgbClr val="0000FF"/>
                </a:solidFill>
                <a:latin typeface="微软雅黑 Light" panose="020B0502040204020203" pitchFamily="34" charset="-122"/>
                <a:ea typeface="微软雅黑 Light" panose="020B0502040204020203" pitchFamily="34" charset="-122"/>
              </a:rPr>
              <a:t>读取邮件</a:t>
            </a:r>
          </a:p>
        </p:txBody>
      </p:sp>
    </p:spTree>
    <p:extLst>
      <p:ext uri="{BB962C8B-B14F-4D97-AF65-F5344CB8AC3E}">
        <p14:creationId xmlns:p14="http://schemas.microsoft.com/office/powerpoint/2010/main" val="1931544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04413"/>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976061" y="571202"/>
            <a:ext cx="121058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必须注意</a:t>
            </a:r>
          </a:p>
        </p:txBody>
      </p:sp>
      <p:sp>
        <p:nvSpPr>
          <p:cNvPr id="4" name="Rectangle 68"/>
          <p:cNvSpPr>
            <a:spLocks noChangeArrowheads="1"/>
          </p:cNvSpPr>
          <p:nvPr/>
        </p:nvSpPr>
        <p:spPr bwMode="auto">
          <a:xfrm>
            <a:off x="556963" y="965503"/>
            <a:ext cx="8048776" cy="198079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0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邮件读取协议 </a:t>
            </a:r>
            <a:r>
              <a:rPr lang="en-US" altLang="zh-CN" sz="2000" b="1" dirty="0">
                <a:latin typeface="微软雅黑 Light" panose="020B0502040204020203" pitchFamily="34" charset="-122"/>
                <a:ea typeface="微软雅黑 Light" panose="020B0502040204020203" pitchFamily="34" charset="-122"/>
              </a:rPr>
              <a:t>POP </a:t>
            </a:r>
            <a:r>
              <a:rPr lang="zh-CN" altLang="en-US" sz="2000" b="1" dirty="0">
                <a:latin typeface="微软雅黑 Light" panose="020B0502040204020203" pitchFamily="34" charset="-122"/>
                <a:ea typeface="微软雅黑 Light" panose="020B0502040204020203" pitchFamily="34" charset="-122"/>
              </a:rPr>
              <a:t>或 </a:t>
            </a:r>
            <a:r>
              <a:rPr lang="en-US" altLang="zh-CN" sz="2000" b="1" dirty="0">
                <a:latin typeface="微软雅黑 Light" panose="020B0502040204020203" pitchFamily="34" charset="-122"/>
                <a:ea typeface="微软雅黑 Light" panose="020B0502040204020203" pitchFamily="34" charset="-122"/>
              </a:rPr>
              <a:t>IMAP </a:t>
            </a:r>
            <a:r>
              <a:rPr lang="zh-CN" altLang="en-US" sz="2000" b="1" dirty="0">
                <a:latin typeface="微软雅黑 Light" panose="020B0502040204020203" pitchFamily="34" charset="-122"/>
                <a:ea typeface="微软雅黑 Light" panose="020B0502040204020203" pitchFamily="34" charset="-122"/>
              </a:rPr>
              <a:t>与邮件传送协议 </a:t>
            </a:r>
            <a:r>
              <a:rPr lang="en-US" altLang="zh-CN" sz="2000" b="1" dirty="0">
                <a:latin typeface="微软雅黑 Light" panose="020B0502040204020203" pitchFamily="34" charset="-122"/>
                <a:ea typeface="微软雅黑 Light" panose="020B0502040204020203" pitchFamily="34" charset="-122"/>
              </a:rPr>
              <a:t>SMTP </a:t>
            </a:r>
            <a:r>
              <a:rPr lang="zh-CN" altLang="en-US" sz="2000" b="1" dirty="0">
                <a:latin typeface="微软雅黑 Light" panose="020B0502040204020203" pitchFamily="34" charset="-122"/>
                <a:ea typeface="微软雅黑 Light" panose="020B0502040204020203" pitchFamily="34" charset="-122"/>
              </a:rPr>
              <a:t>完全不同。</a:t>
            </a:r>
          </a:p>
          <a:p>
            <a:pPr marL="342900" indent="-342900" eaLnBrk="0" hangingPunct="0">
              <a:lnSpc>
                <a:spcPts val="30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发信人的用户代理向源邮件服务器发送邮件，以及源邮件服务器向目的邮件服务器发送邮件，都是使用 </a:t>
            </a:r>
            <a:r>
              <a:rPr lang="en-US" altLang="zh-CN" sz="2000" b="1" dirty="0">
                <a:latin typeface="微软雅黑 Light" panose="020B0502040204020203" pitchFamily="34" charset="-122"/>
                <a:ea typeface="微软雅黑 Light" panose="020B0502040204020203" pitchFamily="34" charset="-122"/>
              </a:rPr>
              <a:t>SMTP </a:t>
            </a:r>
            <a:r>
              <a:rPr lang="zh-CN" altLang="en-US" sz="2000" b="1" dirty="0">
                <a:latin typeface="微软雅黑 Light" panose="020B0502040204020203" pitchFamily="34" charset="-122"/>
                <a:ea typeface="微软雅黑 Light" panose="020B0502040204020203" pitchFamily="34" charset="-122"/>
              </a:rPr>
              <a:t>协议。</a:t>
            </a:r>
          </a:p>
          <a:p>
            <a:pPr marL="342900" indent="-342900" eaLnBrk="0" hangingPunct="0">
              <a:lnSpc>
                <a:spcPts val="30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而 </a:t>
            </a:r>
            <a:r>
              <a:rPr lang="en-US" altLang="zh-CN" sz="2000" b="1" dirty="0">
                <a:latin typeface="微软雅黑 Light" panose="020B0502040204020203" pitchFamily="34" charset="-122"/>
                <a:ea typeface="微软雅黑 Light" panose="020B0502040204020203" pitchFamily="34" charset="-122"/>
              </a:rPr>
              <a:t>POP </a:t>
            </a:r>
            <a:r>
              <a:rPr lang="zh-CN" altLang="en-US" sz="2000" b="1" dirty="0">
                <a:latin typeface="微软雅黑 Light" panose="020B0502040204020203" pitchFamily="34" charset="-122"/>
                <a:ea typeface="微软雅黑 Light" panose="020B0502040204020203" pitchFamily="34" charset="-122"/>
              </a:rPr>
              <a:t>协议或 </a:t>
            </a:r>
            <a:r>
              <a:rPr lang="en-US" altLang="zh-CN" sz="2000" b="1" dirty="0">
                <a:latin typeface="微软雅黑 Light" panose="020B0502040204020203" pitchFamily="34" charset="-122"/>
                <a:ea typeface="微软雅黑 Light" panose="020B0502040204020203" pitchFamily="34" charset="-122"/>
              </a:rPr>
              <a:t>IMAP </a:t>
            </a:r>
            <a:r>
              <a:rPr lang="zh-CN" altLang="en-US" sz="2000" b="1" dirty="0">
                <a:latin typeface="微软雅黑 Light" panose="020B0502040204020203" pitchFamily="34" charset="-122"/>
                <a:ea typeface="微软雅黑 Light" panose="020B0502040204020203" pitchFamily="34" charset="-122"/>
              </a:rPr>
              <a:t>协议则是用户从目的邮件服务器上读取邮件所使用的协议。 </a:t>
            </a:r>
          </a:p>
        </p:txBody>
      </p:sp>
      <p:cxnSp>
        <p:nvCxnSpPr>
          <p:cNvPr id="20" name="直接连接符 19"/>
          <p:cNvCxnSpPr/>
          <p:nvPr/>
        </p:nvCxnSpPr>
        <p:spPr>
          <a:xfrm>
            <a:off x="1224019" y="3416863"/>
            <a:ext cx="6697519" cy="0"/>
          </a:xfrm>
          <a:prstGeom prst="line">
            <a:avLst/>
          </a:prstGeom>
          <a:ln w="28575">
            <a:solidFill>
              <a:srgbClr val="CC00CC"/>
            </a:solidFill>
            <a:prstDash val="solid"/>
            <a:headEnd type="none" w="med" len="med"/>
            <a:tailEnd type="triangle" w="lg" len="lg"/>
          </a:ln>
        </p:spPr>
        <p:style>
          <a:lnRef idx="1">
            <a:schemeClr val="accent1"/>
          </a:lnRef>
          <a:fillRef idx="0">
            <a:schemeClr val="accent1"/>
          </a:fillRef>
          <a:effectRef idx="0">
            <a:schemeClr val="accent1"/>
          </a:effectRef>
          <a:fontRef idx="minor">
            <a:schemeClr val="tx1"/>
          </a:fontRef>
        </p:style>
      </p:cxnSp>
      <p:grpSp>
        <p:nvGrpSpPr>
          <p:cNvPr id="16" name="组合 15"/>
          <p:cNvGrpSpPr/>
          <p:nvPr/>
        </p:nvGrpSpPr>
        <p:grpSpPr>
          <a:xfrm>
            <a:off x="1251674" y="3026778"/>
            <a:ext cx="4953053" cy="311260"/>
            <a:chOff x="1251674" y="3026778"/>
            <a:chExt cx="4953053" cy="311260"/>
          </a:xfrm>
        </p:grpSpPr>
        <p:cxnSp>
          <p:nvCxnSpPr>
            <p:cNvPr id="24" name="直接连接符 23"/>
            <p:cNvCxnSpPr/>
            <p:nvPr/>
          </p:nvCxnSpPr>
          <p:spPr>
            <a:xfrm>
              <a:off x="1251674" y="3058628"/>
              <a:ext cx="0" cy="27941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直接连接符 24"/>
            <p:cNvCxnSpPr/>
            <p:nvPr/>
          </p:nvCxnSpPr>
          <p:spPr>
            <a:xfrm>
              <a:off x="2914993" y="3058628"/>
              <a:ext cx="0" cy="27941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6204727" y="3058628"/>
              <a:ext cx="0" cy="27941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2" name="组合 11"/>
            <p:cNvGrpSpPr/>
            <p:nvPr/>
          </p:nvGrpSpPr>
          <p:grpSpPr>
            <a:xfrm>
              <a:off x="1251674" y="3026778"/>
              <a:ext cx="1663319" cy="271293"/>
              <a:chOff x="1251674" y="3026778"/>
              <a:chExt cx="1663319" cy="271293"/>
            </a:xfrm>
          </p:grpSpPr>
          <p:cxnSp>
            <p:nvCxnSpPr>
              <p:cNvPr id="28" name="直接连接符 27"/>
              <p:cNvCxnSpPr/>
              <p:nvPr/>
            </p:nvCxnSpPr>
            <p:spPr>
              <a:xfrm>
                <a:off x="1251674" y="3264468"/>
                <a:ext cx="1663319" cy="0"/>
              </a:xfrm>
              <a:prstGeom prst="line">
                <a:avLst/>
              </a:prstGeom>
              <a:ln w="12700">
                <a:solidFill>
                  <a:schemeClr val="tx1"/>
                </a:solidFill>
                <a:prstDash val="solid"/>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4" name="Text Box 390"/>
              <p:cNvSpPr txBox="1">
                <a:spLocks noChangeArrowheads="1"/>
              </p:cNvSpPr>
              <p:nvPr/>
            </p:nvSpPr>
            <p:spPr bwMode="auto">
              <a:xfrm>
                <a:off x="1695380" y="3026778"/>
                <a:ext cx="548548" cy="2712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solidFill>
                      <a:srgbClr val="C00000"/>
                    </a:solidFill>
                    <a:latin typeface="微软雅黑 Light" panose="020B0502040204020203" pitchFamily="34" charset="-122"/>
                    <a:ea typeface="微软雅黑 Light" panose="020B0502040204020203" pitchFamily="34" charset="-122"/>
                  </a:rPr>
                  <a:t>SMTP</a:t>
                </a:r>
              </a:p>
            </p:txBody>
          </p:sp>
        </p:grpSp>
        <p:grpSp>
          <p:nvGrpSpPr>
            <p:cNvPr id="14" name="组合 13"/>
            <p:cNvGrpSpPr/>
            <p:nvPr/>
          </p:nvGrpSpPr>
          <p:grpSpPr>
            <a:xfrm>
              <a:off x="2914993" y="3026778"/>
              <a:ext cx="3289734" cy="271293"/>
              <a:chOff x="2914993" y="3026778"/>
              <a:chExt cx="3289734" cy="271293"/>
            </a:xfrm>
          </p:grpSpPr>
          <p:cxnSp>
            <p:nvCxnSpPr>
              <p:cNvPr id="30" name="直接连接符 29"/>
              <p:cNvCxnSpPr/>
              <p:nvPr/>
            </p:nvCxnSpPr>
            <p:spPr>
              <a:xfrm>
                <a:off x="2914993" y="3264468"/>
                <a:ext cx="3289734" cy="0"/>
              </a:xfrm>
              <a:prstGeom prst="line">
                <a:avLst/>
              </a:prstGeom>
              <a:ln w="12700">
                <a:solidFill>
                  <a:schemeClr val="tx1"/>
                </a:solidFill>
                <a:prstDash val="solid"/>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5" name="Text Box 390"/>
              <p:cNvSpPr txBox="1">
                <a:spLocks noChangeArrowheads="1"/>
              </p:cNvSpPr>
              <p:nvPr/>
            </p:nvSpPr>
            <p:spPr bwMode="auto">
              <a:xfrm>
                <a:off x="4285586" y="3026778"/>
                <a:ext cx="548548" cy="2712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solidFill>
                      <a:srgbClr val="C00000"/>
                    </a:solidFill>
                    <a:latin typeface="微软雅黑 Light" panose="020B0502040204020203" pitchFamily="34" charset="-122"/>
                    <a:ea typeface="微软雅黑 Light" panose="020B0502040204020203" pitchFamily="34" charset="-122"/>
                  </a:rPr>
                  <a:t>SMTP</a:t>
                </a:r>
              </a:p>
            </p:txBody>
          </p:sp>
        </p:grpSp>
      </p:grpSp>
      <p:grpSp>
        <p:nvGrpSpPr>
          <p:cNvPr id="19" name="组合 18"/>
          <p:cNvGrpSpPr/>
          <p:nvPr/>
        </p:nvGrpSpPr>
        <p:grpSpPr>
          <a:xfrm>
            <a:off x="6204727" y="3026778"/>
            <a:ext cx="1685268" cy="311260"/>
            <a:chOff x="6204727" y="3026778"/>
            <a:chExt cx="1685268" cy="311260"/>
          </a:xfrm>
        </p:grpSpPr>
        <p:cxnSp>
          <p:nvCxnSpPr>
            <p:cNvPr id="27" name="直接连接符 26"/>
            <p:cNvCxnSpPr/>
            <p:nvPr/>
          </p:nvCxnSpPr>
          <p:spPr>
            <a:xfrm>
              <a:off x="7889995" y="3058628"/>
              <a:ext cx="0" cy="27941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8" name="组合 17"/>
            <p:cNvGrpSpPr/>
            <p:nvPr/>
          </p:nvGrpSpPr>
          <p:grpSpPr>
            <a:xfrm>
              <a:off x="6204727" y="3026778"/>
              <a:ext cx="1663319" cy="271293"/>
              <a:chOff x="6204727" y="3026778"/>
              <a:chExt cx="1663319" cy="271293"/>
            </a:xfrm>
          </p:grpSpPr>
          <p:cxnSp>
            <p:nvCxnSpPr>
              <p:cNvPr id="32" name="直接连接符 31"/>
              <p:cNvCxnSpPr/>
              <p:nvPr/>
            </p:nvCxnSpPr>
            <p:spPr>
              <a:xfrm>
                <a:off x="6204727" y="3264468"/>
                <a:ext cx="1663319" cy="0"/>
              </a:xfrm>
              <a:prstGeom prst="line">
                <a:avLst/>
              </a:prstGeom>
              <a:ln w="12700">
                <a:solidFill>
                  <a:srgbClr val="0000FF"/>
                </a:solidFill>
                <a:prstDash val="solid"/>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6" name="Text Box 390"/>
              <p:cNvSpPr txBox="1">
                <a:spLocks noChangeArrowheads="1"/>
              </p:cNvSpPr>
              <p:nvPr/>
            </p:nvSpPr>
            <p:spPr bwMode="auto">
              <a:xfrm>
                <a:off x="6434233" y="3026778"/>
                <a:ext cx="1152880" cy="2712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POP3  </a:t>
                </a:r>
                <a:r>
                  <a:rPr kumimoji="1" lang="zh-CN" altLang="en-US" sz="1100" b="1" dirty="0">
                    <a:solidFill>
                      <a:srgbClr val="0000FF"/>
                    </a:solidFill>
                    <a:latin typeface="微软雅黑 Light" panose="020B0502040204020203" pitchFamily="34" charset="-122"/>
                    <a:ea typeface="微软雅黑 Light" panose="020B0502040204020203" pitchFamily="34" charset="-122"/>
                  </a:rPr>
                  <a:t>或 </a:t>
                </a:r>
                <a:r>
                  <a:rPr kumimoji="1" lang="en-US" altLang="zh-CN" sz="1100" b="1" dirty="0">
                    <a:solidFill>
                      <a:srgbClr val="0000FF"/>
                    </a:solidFill>
                    <a:latin typeface="微软雅黑 Light" panose="020B0502040204020203" pitchFamily="34" charset="-122"/>
                    <a:ea typeface="微软雅黑 Light" panose="020B0502040204020203" pitchFamily="34" charset="-122"/>
                  </a:rPr>
                  <a:t>IMAP</a:t>
                </a:r>
              </a:p>
            </p:txBody>
          </p:sp>
        </p:grpSp>
      </p:grpSp>
      <p:grpSp>
        <p:nvGrpSpPr>
          <p:cNvPr id="15" name="组合 14"/>
          <p:cNvGrpSpPr/>
          <p:nvPr/>
        </p:nvGrpSpPr>
        <p:grpSpPr>
          <a:xfrm>
            <a:off x="967090" y="3464161"/>
            <a:ext cx="7202234" cy="776214"/>
            <a:chOff x="967090" y="3464161"/>
            <a:chExt cx="7202234" cy="776214"/>
          </a:xfrm>
        </p:grpSpPr>
        <p:sp>
          <p:nvSpPr>
            <p:cNvPr id="5" name="矩形 4"/>
            <p:cNvSpPr/>
            <p:nvPr/>
          </p:nvSpPr>
          <p:spPr>
            <a:xfrm>
              <a:off x="2484069" y="3527223"/>
              <a:ext cx="861848" cy="430924"/>
            </a:xfrm>
            <a:prstGeom prst="rect">
              <a:avLst/>
            </a:prstGeom>
            <a:solidFill>
              <a:srgbClr val="0066FF"/>
            </a:solidFill>
          </p:spPr>
          <p:style>
            <a:lnRef idx="1">
              <a:schemeClr val="accent1"/>
            </a:lnRef>
            <a:fillRef idx="2">
              <a:schemeClr val="accent1"/>
            </a:fillRef>
            <a:effectRef idx="1">
              <a:schemeClr val="accent1"/>
            </a:effectRef>
            <a:fontRef idx="minor">
              <a:schemeClr val="dk1"/>
            </a:fontRef>
          </p:style>
          <p:txBody>
            <a:bodyPr rtlCol="0" anchor="ctr"/>
            <a:lstStyle/>
            <a:p>
              <a:pPr algn="ctr"/>
              <a:r>
                <a:rPr lang="zh-CN" altLang="en-US" sz="1200" b="1" dirty="0">
                  <a:solidFill>
                    <a:schemeClr val="bg1"/>
                  </a:solidFill>
                  <a:latin typeface="微软雅黑 Light" panose="020B0502040204020203" pitchFamily="34" charset="-122"/>
                  <a:ea typeface="微软雅黑 Light" panose="020B0502040204020203" pitchFamily="34" charset="-122"/>
                </a:rPr>
                <a:t>邮件</a:t>
              </a:r>
              <a:endParaRPr lang="en-US" altLang="zh-CN" sz="1200" b="1" dirty="0">
                <a:solidFill>
                  <a:schemeClr val="bg1"/>
                </a:solidFill>
                <a:latin typeface="微软雅黑 Light" panose="020B0502040204020203" pitchFamily="34" charset="-122"/>
                <a:ea typeface="微软雅黑 Light" panose="020B0502040204020203" pitchFamily="34" charset="-122"/>
              </a:endParaRPr>
            </a:p>
            <a:p>
              <a:pPr algn="ctr"/>
              <a:r>
                <a:rPr lang="zh-CN" altLang="en-US" sz="12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 name="矩形 5"/>
            <p:cNvSpPr/>
            <p:nvPr/>
          </p:nvSpPr>
          <p:spPr>
            <a:xfrm>
              <a:off x="5773811" y="3527223"/>
              <a:ext cx="861848" cy="430924"/>
            </a:xfrm>
            <a:prstGeom prst="rect">
              <a:avLst/>
            </a:prstGeom>
            <a:solidFill>
              <a:srgbClr val="0066FF"/>
            </a:solidFill>
          </p:spPr>
          <p:style>
            <a:lnRef idx="1">
              <a:schemeClr val="accent1"/>
            </a:lnRef>
            <a:fillRef idx="2">
              <a:schemeClr val="accent1"/>
            </a:fillRef>
            <a:effectRef idx="1">
              <a:schemeClr val="accent1"/>
            </a:effectRef>
            <a:fontRef idx="minor">
              <a:schemeClr val="dk1"/>
            </a:fontRef>
          </p:style>
          <p:txBody>
            <a:bodyPr rtlCol="0" anchor="ctr"/>
            <a:lstStyle/>
            <a:p>
              <a:pPr algn="ctr"/>
              <a:r>
                <a:rPr lang="zh-CN" altLang="en-US" sz="1200" b="1" dirty="0">
                  <a:solidFill>
                    <a:schemeClr val="bg1"/>
                  </a:solidFill>
                  <a:latin typeface="微软雅黑 Light" panose="020B0502040204020203" pitchFamily="34" charset="-122"/>
                  <a:ea typeface="微软雅黑 Light" panose="020B0502040204020203" pitchFamily="34" charset="-122"/>
                </a:rPr>
                <a:t>邮件</a:t>
              </a:r>
              <a:endParaRPr lang="en-US" altLang="zh-CN" sz="1200" b="1" dirty="0">
                <a:solidFill>
                  <a:schemeClr val="bg1"/>
                </a:solidFill>
                <a:latin typeface="微软雅黑 Light" panose="020B0502040204020203" pitchFamily="34" charset="-122"/>
                <a:ea typeface="微软雅黑 Light" panose="020B0502040204020203" pitchFamily="34" charset="-122"/>
              </a:endParaRPr>
            </a:p>
            <a:p>
              <a:pPr algn="ctr"/>
              <a:r>
                <a:rPr lang="zh-CN" altLang="en-US" sz="1200" b="1" dirty="0">
                  <a:solidFill>
                    <a:schemeClr val="bg1"/>
                  </a:solidFill>
                  <a:latin typeface="微软雅黑 Light" panose="020B0502040204020203" pitchFamily="34" charset="-122"/>
                  <a:ea typeface="微软雅黑 Light" panose="020B0502040204020203" pitchFamily="34" charset="-122"/>
                </a:rPr>
                <a:t>服务器</a:t>
              </a:r>
            </a:p>
          </p:txBody>
        </p:sp>
        <p:pic>
          <p:nvPicPr>
            <p:cNvPr id="8"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707463" y="3539120"/>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48109" y="3539120"/>
              <a:ext cx="407130" cy="407130"/>
            </a:xfrm>
            <a:prstGeom prst="rect">
              <a:avLst/>
            </a:prstGeom>
            <a:noFill/>
            <a:extLst>
              <a:ext uri="{909E8E84-426E-40DD-AFC4-6F175D3DCCD1}">
                <a14:hiddenFill xmlns:a14="http://schemas.microsoft.com/office/drawing/2010/main">
                  <a:solidFill>
                    <a:srgbClr val="FFFFFF"/>
                  </a:solidFill>
                </a14:hiddenFill>
              </a:ext>
            </a:extLst>
          </p:spPr>
        </p:pic>
        <p:cxnSp>
          <p:nvCxnSpPr>
            <p:cNvPr id="11" name="直接连接符 10"/>
            <p:cNvCxnSpPr>
              <a:stCxn id="5" idx="3"/>
              <a:endCxn id="6" idx="1"/>
            </p:cNvCxnSpPr>
            <p:nvPr/>
          </p:nvCxnSpPr>
          <p:spPr>
            <a:xfrm>
              <a:off x="3345917" y="3742685"/>
              <a:ext cx="2427894" cy="0"/>
            </a:xfrm>
            <a:prstGeom prst="line">
              <a:avLst/>
            </a:prstGeom>
            <a:ln w="28575">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7" name="Freeform 1208"/>
            <p:cNvSpPr>
              <a:spLocks/>
            </p:cNvSpPr>
            <p:nvPr/>
          </p:nvSpPr>
          <p:spPr bwMode="ltGray">
            <a:xfrm>
              <a:off x="3768255" y="3464161"/>
              <a:ext cx="1600702" cy="557048"/>
            </a:xfrm>
            <a:custGeom>
              <a:avLst/>
              <a:gdLst>
                <a:gd name="T0" fmla="*/ 603773 w 16320"/>
                <a:gd name="T1" fmla="*/ 22740 h 11943"/>
                <a:gd name="T2" fmla="*/ 669215 w 16320"/>
                <a:gd name="T3" fmla="*/ 9746 h 11943"/>
                <a:gd name="T4" fmla="*/ 745191 w 16320"/>
                <a:gd name="T5" fmla="*/ 1866 h 11943"/>
                <a:gd name="T6" fmla="*/ 902522 w 16320"/>
                <a:gd name="T7" fmla="*/ 5115 h 11943"/>
                <a:gd name="T8" fmla="*/ 1023620 w 16320"/>
                <a:gd name="T9" fmla="*/ 31484 h 11943"/>
                <a:gd name="T10" fmla="*/ 1077782 w 16320"/>
                <a:gd name="T11" fmla="*/ 71643 h 11943"/>
                <a:gd name="T12" fmla="*/ 1079649 w 16320"/>
                <a:gd name="T13" fmla="*/ 82529 h 11943"/>
                <a:gd name="T14" fmla="*/ 1090258 w 16320"/>
                <a:gd name="T15" fmla="*/ 86504 h 11943"/>
                <a:gd name="T16" fmla="*/ 1119542 w 16320"/>
                <a:gd name="T17" fmla="*/ 88543 h 11943"/>
                <a:gd name="T18" fmla="*/ 1186105 w 16320"/>
                <a:gd name="T19" fmla="*/ 108311 h 11943"/>
                <a:gd name="T20" fmla="*/ 1217855 w 16320"/>
                <a:gd name="T21" fmla="*/ 142871 h 11943"/>
                <a:gd name="T22" fmla="*/ 1208218 w 16320"/>
                <a:gd name="T23" fmla="*/ 181198 h 11943"/>
                <a:gd name="T24" fmla="*/ 1175945 w 16320"/>
                <a:gd name="T25" fmla="*/ 207533 h 11943"/>
                <a:gd name="T26" fmla="*/ 1128432 w 16320"/>
                <a:gd name="T27" fmla="*/ 226714 h 11943"/>
                <a:gd name="T28" fmla="*/ 1107365 w 16320"/>
                <a:gd name="T29" fmla="*/ 240745 h 11943"/>
                <a:gd name="T30" fmla="*/ 1135231 w 16320"/>
                <a:gd name="T31" fmla="*/ 261550 h 11943"/>
                <a:gd name="T32" fmla="*/ 1144046 w 16320"/>
                <a:gd name="T33" fmla="*/ 285742 h 11943"/>
                <a:gd name="T34" fmla="*/ 1124846 w 16320"/>
                <a:gd name="T35" fmla="*/ 316708 h 11943"/>
                <a:gd name="T36" fmla="*/ 1063065 w 16320"/>
                <a:gd name="T37" fmla="*/ 345358 h 11943"/>
                <a:gd name="T38" fmla="*/ 976256 w 16320"/>
                <a:gd name="T39" fmla="*/ 357765 h 11943"/>
                <a:gd name="T40" fmla="*/ 922020 w 16320"/>
                <a:gd name="T41" fmla="*/ 355795 h 11943"/>
                <a:gd name="T42" fmla="*/ 902447 w 16320"/>
                <a:gd name="T43" fmla="*/ 353203 h 11943"/>
                <a:gd name="T44" fmla="*/ 884219 w 16320"/>
                <a:gd name="T45" fmla="*/ 349713 h 11943"/>
                <a:gd name="T46" fmla="*/ 879139 w 16320"/>
                <a:gd name="T47" fmla="*/ 356625 h 11943"/>
                <a:gd name="T48" fmla="*/ 872415 w 16320"/>
                <a:gd name="T49" fmla="*/ 373144 h 11943"/>
                <a:gd name="T50" fmla="*/ 832672 w 16320"/>
                <a:gd name="T51" fmla="*/ 398131 h 11943"/>
                <a:gd name="T52" fmla="*/ 769471 w 16320"/>
                <a:gd name="T53" fmla="*/ 411471 h 11943"/>
                <a:gd name="T54" fmla="*/ 705149 w 16320"/>
                <a:gd name="T55" fmla="*/ 410711 h 11943"/>
                <a:gd name="T56" fmla="*/ 667646 w 16320"/>
                <a:gd name="T57" fmla="*/ 403488 h 11943"/>
                <a:gd name="T58" fmla="*/ 638511 w 16320"/>
                <a:gd name="T59" fmla="*/ 392049 h 11943"/>
                <a:gd name="T60" fmla="*/ 605790 w 16320"/>
                <a:gd name="T61" fmla="*/ 388247 h 11943"/>
                <a:gd name="T62" fmla="*/ 544979 w 16320"/>
                <a:gd name="T63" fmla="*/ 399030 h 11943"/>
                <a:gd name="T64" fmla="*/ 475578 w 16320"/>
                <a:gd name="T65" fmla="*/ 404006 h 11943"/>
                <a:gd name="T66" fmla="*/ 377788 w 16320"/>
                <a:gd name="T67" fmla="*/ 400170 h 11943"/>
                <a:gd name="T68" fmla="*/ 277009 w 16320"/>
                <a:gd name="T69" fmla="*/ 378812 h 11943"/>
                <a:gd name="T70" fmla="*/ 226060 w 16320"/>
                <a:gd name="T71" fmla="*/ 344909 h 11943"/>
                <a:gd name="T72" fmla="*/ 224641 w 16320"/>
                <a:gd name="T73" fmla="*/ 325486 h 11943"/>
                <a:gd name="T74" fmla="*/ 199614 w 16320"/>
                <a:gd name="T75" fmla="*/ 328596 h 11943"/>
                <a:gd name="T76" fmla="*/ 167266 w 16320"/>
                <a:gd name="T77" fmla="*/ 330635 h 11943"/>
                <a:gd name="T78" fmla="*/ 133798 w 16320"/>
                <a:gd name="T79" fmla="*/ 329841 h 11943"/>
                <a:gd name="T80" fmla="*/ 58719 w 16320"/>
                <a:gd name="T81" fmla="*/ 315602 h 11943"/>
                <a:gd name="T82" fmla="*/ 9861 w 16320"/>
                <a:gd name="T83" fmla="*/ 286571 h 11943"/>
                <a:gd name="T84" fmla="*/ 3138 w 16320"/>
                <a:gd name="T85" fmla="*/ 249661 h 11943"/>
                <a:gd name="T86" fmla="*/ 28239 w 16320"/>
                <a:gd name="T87" fmla="*/ 223845 h 11943"/>
                <a:gd name="T88" fmla="*/ 73286 w 16320"/>
                <a:gd name="T89" fmla="*/ 204491 h 11943"/>
                <a:gd name="T90" fmla="*/ 123937 w 16320"/>
                <a:gd name="T91" fmla="*/ 192637 h 11943"/>
                <a:gd name="T92" fmla="*/ 104364 w 16320"/>
                <a:gd name="T93" fmla="*/ 174493 h 11943"/>
                <a:gd name="T94" fmla="*/ 96669 w 16320"/>
                <a:gd name="T95" fmla="*/ 154345 h 11943"/>
                <a:gd name="T96" fmla="*/ 104663 w 16320"/>
                <a:gd name="T97" fmla="*/ 129220 h 11943"/>
                <a:gd name="T98" fmla="*/ 157256 w 16320"/>
                <a:gd name="T99" fmla="*/ 93450 h 11943"/>
                <a:gd name="T100" fmla="*/ 243242 w 16320"/>
                <a:gd name="T101" fmla="*/ 73544 h 11943"/>
                <a:gd name="T102" fmla="*/ 321161 w 16320"/>
                <a:gd name="T103" fmla="*/ 72576 h 11943"/>
                <a:gd name="T104" fmla="*/ 338268 w 16320"/>
                <a:gd name="T105" fmla="*/ 74339 h 11943"/>
                <a:gd name="T106" fmla="*/ 354479 w 16320"/>
                <a:gd name="T107" fmla="*/ 76723 h 11943"/>
                <a:gd name="T108" fmla="*/ 364639 w 16320"/>
                <a:gd name="T109" fmla="*/ 78036 h 11943"/>
                <a:gd name="T110" fmla="*/ 381224 w 16320"/>
                <a:gd name="T111" fmla="*/ 58164 h 11943"/>
                <a:gd name="T112" fmla="*/ 427168 w 16320"/>
                <a:gd name="T113" fmla="*/ 35735 h 11943"/>
                <a:gd name="T114" fmla="*/ 487605 w 16320"/>
                <a:gd name="T115" fmla="*/ 26749 h 11943"/>
                <a:gd name="T116" fmla="*/ 519281 w 16320"/>
                <a:gd name="T117" fmla="*/ 28685 h 11943"/>
                <a:gd name="T118" fmla="*/ 537210 w 16320"/>
                <a:gd name="T119" fmla="*/ 32106 h 11943"/>
                <a:gd name="T120" fmla="*/ 553048 w 16320"/>
                <a:gd name="T121" fmla="*/ 37048 h 11943"/>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16320" h="11943">
                  <a:moveTo>
                    <a:pt x="7438" y="1101"/>
                  </a:moveTo>
                  <a:lnTo>
                    <a:pt x="7496" y="1053"/>
                  </a:lnTo>
                  <a:lnTo>
                    <a:pt x="7554" y="1006"/>
                  </a:lnTo>
                  <a:lnTo>
                    <a:pt x="7615" y="960"/>
                  </a:lnTo>
                  <a:lnTo>
                    <a:pt x="7678" y="914"/>
                  </a:lnTo>
                  <a:lnTo>
                    <a:pt x="7741" y="869"/>
                  </a:lnTo>
                  <a:lnTo>
                    <a:pt x="7806" y="825"/>
                  </a:lnTo>
                  <a:lnTo>
                    <a:pt x="7873" y="782"/>
                  </a:lnTo>
                  <a:lnTo>
                    <a:pt x="7942" y="740"/>
                  </a:lnTo>
                  <a:lnTo>
                    <a:pt x="8011" y="698"/>
                  </a:lnTo>
                  <a:lnTo>
                    <a:pt x="8082" y="658"/>
                  </a:lnTo>
                  <a:lnTo>
                    <a:pt x="8156" y="618"/>
                  </a:lnTo>
                  <a:lnTo>
                    <a:pt x="8229" y="580"/>
                  </a:lnTo>
                  <a:lnTo>
                    <a:pt x="8305" y="542"/>
                  </a:lnTo>
                  <a:lnTo>
                    <a:pt x="8382" y="506"/>
                  </a:lnTo>
                  <a:lnTo>
                    <a:pt x="8461" y="470"/>
                  </a:lnTo>
                  <a:lnTo>
                    <a:pt x="8540" y="436"/>
                  </a:lnTo>
                  <a:lnTo>
                    <a:pt x="8621" y="403"/>
                  </a:lnTo>
                  <a:lnTo>
                    <a:pt x="8704" y="371"/>
                  </a:lnTo>
                  <a:lnTo>
                    <a:pt x="8786" y="340"/>
                  </a:lnTo>
                  <a:lnTo>
                    <a:pt x="8871" y="310"/>
                  </a:lnTo>
                  <a:lnTo>
                    <a:pt x="8958" y="282"/>
                  </a:lnTo>
                  <a:lnTo>
                    <a:pt x="9044" y="255"/>
                  </a:lnTo>
                  <a:lnTo>
                    <a:pt x="9132" y="228"/>
                  </a:lnTo>
                  <a:lnTo>
                    <a:pt x="9222" y="204"/>
                  </a:lnTo>
                  <a:lnTo>
                    <a:pt x="9313" y="180"/>
                  </a:lnTo>
                  <a:lnTo>
                    <a:pt x="9403" y="158"/>
                  </a:lnTo>
                  <a:lnTo>
                    <a:pt x="9496" y="137"/>
                  </a:lnTo>
                  <a:lnTo>
                    <a:pt x="9590" y="118"/>
                  </a:lnTo>
                  <a:lnTo>
                    <a:pt x="9685" y="99"/>
                  </a:lnTo>
                  <a:lnTo>
                    <a:pt x="9780" y="83"/>
                  </a:lnTo>
                  <a:lnTo>
                    <a:pt x="9877" y="68"/>
                  </a:lnTo>
                  <a:lnTo>
                    <a:pt x="9975" y="54"/>
                  </a:lnTo>
                  <a:lnTo>
                    <a:pt x="10176" y="31"/>
                  </a:lnTo>
                  <a:lnTo>
                    <a:pt x="10375" y="13"/>
                  </a:lnTo>
                  <a:lnTo>
                    <a:pt x="10574" y="4"/>
                  </a:lnTo>
                  <a:lnTo>
                    <a:pt x="10771" y="0"/>
                  </a:lnTo>
                  <a:lnTo>
                    <a:pt x="10967" y="3"/>
                  </a:lnTo>
                  <a:lnTo>
                    <a:pt x="11160" y="12"/>
                  </a:lnTo>
                  <a:lnTo>
                    <a:pt x="11351" y="27"/>
                  </a:lnTo>
                  <a:lnTo>
                    <a:pt x="11538" y="48"/>
                  </a:lnTo>
                  <a:lnTo>
                    <a:pt x="11723" y="76"/>
                  </a:lnTo>
                  <a:lnTo>
                    <a:pt x="11903" y="109"/>
                  </a:lnTo>
                  <a:lnTo>
                    <a:pt x="12081" y="148"/>
                  </a:lnTo>
                  <a:lnTo>
                    <a:pt x="12254" y="192"/>
                  </a:lnTo>
                  <a:lnTo>
                    <a:pt x="12424" y="241"/>
                  </a:lnTo>
                  <a:lnTo>
                    <a:pt x="12588" y="296"/>
                  </a:lnTo>
                  <a:lnTo>
                    <a:pt x="12747" y="356"/>
                  </a:lnTo>
                  <a:lnTo>
                    <a:pt x="12902" y="421"/>
                  </a:lnTo>
                  <a:lnTo>
                    <a:pt x="13051" y="492"/>
                  </a:lnTo>
                  <a:lnTo>
                    <a:pt x="13194" y="566"/>
                  </a:lnTo>
                  <a:lnTo>
                    <a:pt x="13330" y="645"/>
                  </a:lnTo>
                  <a:lnTo>
                    <a:pt x="13461" y="729"/>
                  </a:lnTo>
                  <a:lnTo>
                    <a:pt x="13584" y="818"/>
                  </a:lnTo>
                  <a:lnTo>
                    <a:pt x="13702" y="911"/>
                  </a:lnTo>
                  <a:lnTo>
                    <a:pt x="13811" y="1008"/>
                  </a:lnTo>
                  <a:lnTo>
                    <a:pt x="13913" y="1108"/>
                  </a:lnTo>
                  <a:lnTo>
                    <a:pt x="14008" y="1214"/>
                  </a:lnTo>
                  <a:lnTo>
                    <a:pt x="14093" y="1322"/>
                  </a:lnTo>
                  <a:lnTo>
                    <a:pt x="14171" y="1434"/>
                  </a:lnTo>
                  <a:lnTo>
                    <a:pt x="14239" y="1550"/>
                  </a:lnTo>
                  <a:lnTo>
                    <a:pt x="14299" y="1669"/>
                  </a:lnTo>
                  <a:lnTo>
                    <a:pt x="14349" y="1791"/>
                  </a:lnTo>
                  <a:lnTo>
                    <a:pt x="14390" y="1916"/>
                  </a:lnTo>
                  <a:lnTo>
                    <a:pt x="14421" y="2044"/>
                  </a:lnTo>
                  <a:lnTo>
                    <a:pt x="14427" y="2073"/>
                  </a:lnTo>
                  <a:lnTo>
                    <a:pt x="14431" y="2102"/>
                  </a:lnTo>
                  <a:lnTo>
                    <a:pt x="14436" y="2131"/>
                  </a:lnTo>
                  <a:lnTo>
                    <a:pt x="14440" y="2159"/>
                  </a:lnTo>
                  <a:lnTo>
                    <a:pt x="14443" y="2188"/>
                  </a:lnTo>
                  <a:lnTo>
                    <a:pt x="14446" y="2217"/>
                  </a:lnTo>
                  <a:lnTo>
                    <a:pt x="14448" y="2245"/>
                  </a:lnTo>
                  <a:lnTo>
                    <a:pt x="14450" y="2274"/>
                  </a:lnTo>
                  <a:lnTo>
                    <a:pt x="14451" y="2303"/>
                  </a:lnTo>
                  <a:lnTo>
                    <a:pt x="14452" y="2331"/>
                  </a:lnTo>
                  <a:lnTo>
                    <a:pt x="14452" y="2360"/>
                  </a:lnTo>
                  <a:lnTo>
                    <a:pt x="14452" y="2388"/>
                  </a:lnTo>
                  <a:lnTo>
                    <a:pt x="14451" y="2417"/>
                  </a:lnTo>
                  <a:lnTo>
                    <a:pt x="14450" y="2445"/>
                  </a:lnTo>
                  <a:lnTo>
                    <a:pt x="14448" y="2474"/>
                  </a:lnTo>
                  <a:lnTo>
                    <a:pt x="14446" y="2502"/>
                  </a:lnTo>
                  <a:lnTo>
                    <a:pt x="14467" y="2502"/>
                  </a:lnTo>
                  <a:lnTo>
                    <a:pt x="14488" y="2501"/>
                  </a:lnTo>
                  <a:lnTo>
                    <a:pt x="14510" y="2501"/>
                  </a:lnTo>
                  <a:lnTo>
                    <a:pt x="14530" y="2501"/>
                  </a:lnTo>
                  <a:lnTo>
                    <a:pt x="14551" y="2502"/>
                  </a:lnTo>
                  <a:lnTo>
                    <a:pt x="14573" y="2502"/>
                  </a:lnTo>
                  <a:lnTo>
                    <a:pt x="14594" y="2503"/>
                  </a:lnTo>
                  <a:lnTo>
                    <a:pt x="14615" y="2504"/>
                  </a:lnTo>
                  <a:lnTo>
                    <a:pt x="14636" y="2505"/>
                  </a:lnTo>
                  <a:lnTo>
                    <a:pt x="14657" y="2507"/>
                  </a:lnTo>
                  <a:lnTo>
                    <a:pt x="14679" y="2508"/>
                  </a:lnTo>
                  <a:lnTo>
                    <a:pt x="14699" y="2510"/>
                  </a:lnTo>
                  <a:lnTo>
                    <a:pt x="14721" y="2512"/>
                  </a:lnTo>
                  <a:lnTo>
                    <a:pt x="14742" y="2515"/>
                  </a:lnTo>
                  <a:lnTo>
                    <a:pt x="14762" y="2517"/>
                  </a:lnTo>
                  <a:lnTo>
                    <a:pt x="14784" y="2520"/>
                  </a:lnTo>
                  <a:lnTo>
                    <a:pt x="14886" y="2538"/>
                  </a:lnTo>
                  <a:lnTo>
                    <a:pt x="14986" y="2562"/>
                  </a:lnTo>
                  <a:lnTo>
                    <a:pt x="15083" y="2591"/>
                  </a:lnTo>
                  <a:lnTo>
                    <a:pt x="15178" y="2624"/>
                  </a:lnTo>
                  <a:lnTo>
                    <a:pt x="15268" y="2663"/>
                  </a:lnTo>
                  <a:lnTo>
                    <a:pt x="15356" y="2706"/>
                  </a:lnTo>
                  <a:lnTo>
                    <a:pt x="15441" y="2755"/>
                  </a:lnTo>
                  <a:lnTo>
                    <a:pt x="15522" y="2808"/>
                  </a:lnTo>
                  <a:lnTo>
                    <a:pt x="15601" y="2865"/>
                  </a:lnTo>
                  <a:lnTo>
                    <a:pt x="15675" y="2927"/>
                  </a:lnTo>
                  <a:lnTo>
                    <a:pt x="15747" y="2991"/>
                  </a:lnTo>
                  <a:lnTo>
                    <a:pt x="15814" y="3061"/>
                  </a:lnTo>
                  <a:lnTo>
                    <a:pt x="15877" y="3134"/>
                  </a:lnTo>
                  <a:lnTo>
                    <a:pt x="15938" y="3210"/>
                  </a:lnTo>
                  <a:lnTo>
                    <a:pt x="15994" y="3290"/>
                  </a:lnTo>
                  <a:lnTo>
                    <a:pt x="16045" y="3373"/>
                  </a:lnTo>
                  <a:lnTo>
                    <a:pt x="16093" y="3459"/>
                  </a:lnTo>
                  <a:lnTo>
                    <a:pt x="16136" y="3548"/>
                  </a:lnTo>
                  <a:lnTo>
                    <a:pt x="16175" y="3641"/>
                  </a:lnTo>
                  <a:lnTo>
                    <a:pt x="16210" y="3735"/>
                  </a:lnTo>
                  <a:lnTo>
                    <a:pt x="16239" y="3831"/>
                  </a:lnTo>
                  <a:lnTo>
                    <a:pt x="16265" y="3931"/>
                  </a:lnTo>
                  <a:lnTo>
                    <a:pt x="16286" y="4031"/>
                  </a:lnTo>
                  <a:lnTo>
                    <a:pt x="16302" y="4134"/>
                  </a:lnTo>
                  <a:lnTo>
                    <a:pt x="16313" y="4239"/>
                  </a:lnTo>
                  <a:lnTo>
                    <a:pt x="16319" y="4345"/>
                  </a:lnTo>
                  <a:lnTo>
                    <a:pt x="16320" y="4453"/>
                  </a:lnTo>
                  <a:lnTo>
                    <a:pt x="16316" y="4562"/>
                  </a:lnTo>
                  <a:lnTo>
                    <a:pt x="16307" y="4672"/>
                  </a:lnTo>
                  <a:lnTo>
                    <a:pt x="16291" y="4783"/>
                  </a:lnTo>
                  <a:lnTo>
                    <a:pt x="16271" y="4895"/>
                  </a:lnTo>
                  <a:lnTo>
                    <a:pt x="16246" y="5007"/>
                  </a:lnTo>
                  <a:lnTo>
                    <a:pt x="16224" y="5087"/>
                  </a:lnTo>
                  <a:lnTo>
                    <a:pt x="16200" y="5165"/>
                  </a:lnTo>
                  <a:lnTo>
                    <a:pt x="16173" y="5243"/>
                  </a:lnTo>
                  <a:lnTo>
                    <a:pt x="16145" y="5319"/>
                  </a:lnTo>
                  <a:lnTo>
                    <a:pt x="16113" y="5394"/>
                  </a:lnTo>
                  <a:lnTo>
                    <a:pt x="16080" y="5468"/>
                  </a:lnTo>
                  <a:lnTo>
                    <a:pt x="16045" y="5540"/>
                  </a:lnTo>
                  <a:lnTo>
                    <a:pt x="16007" y="5611"/>
                  </a:lnTo>
                  <a:lnTo>
                    <a:pt x="15967" y="5680"/>
                  </a:lnTo>
                  <a:lnTo>
                    <a:pt x="15925" y="5749"/>
                  </a:lnTo>
                  <a:lnTo>
                    <a:pt x="15882" y="5815"/>
                  </a:lnTo>
                  <a:lnTo>
                    <a:pt x="15837" y="5880"/>
                  </a:lnTo>
                  <a:lnTo>
                    <a:pt x="15790" y="5943"/>
                  </a:lnTo>
                  <a:lnTo>
                    <a:pt x="15741" y="6005"/>
                  </a:lnTo>
                  <a:lnTo>
                    <a:pt x="15690" y="6064"/>
                  </a:lnTo>
                  <a:lnTo>
                    <a:pt x="15638" y="6123"/>
                  </a:lnTo>
                  <a:lnTo>
                    <a:pt x="15584" y="6179"/>
                  </a:lnTo>
                  <a:lnTo>
                    <a:pt x="15528" y="6233"/>
                  </a:lnTo>
                  <a:lnTo>
                    <a:pt x="15472" y="6287"/>
                  </a:lnTo>
                  <a:lnTo>
                    <a:pt x="15414" y="6337"/>
                  </a:lnTo>
                  <a:lnTo>
                    <a:pt x="15354" y="6386"/>
                  </a:lnTo>
                  <a:lnTo>
                    <a:pt x="15294" y="6432"/>
                  </a:lnTo>
                  <a:lnTo>
                    <a:pt x="15232" y="6477"/>
                  </a:lnTo>
                  <a:lnTo>
                    <a:pt x="15169" y="6520"/>
                  </a:lnTo>
                  <a:lnTo>
                    <a:pt x="15105" y="6560"/>
                  </a:lnTo>
                  <a:lnTo>
                    <a:pt x="15040" y="6599"/>
                  </a:lnTo>
                  <a:lnTo>
                    <a:pt x="14975" y="6635"/>
                  </a:lnTo>
                  <a:lnTo>
                    <a:pt x="14907" y="6669"/>
                  </a:lnTo>
                  <a:lnTo>
                    <a:pt x="14840" y="6700"/>
                  </a:lnTo>
                  <a:lnTo>
                    <a:pt x="14771" y="6730"/>
                  </a:lnTo>
                  <a:lnTo>
                    <a:pt x="14702" y="6757"/>
                  </a:lnTo>
                  <a:lnTo>
                    <a:pt x="14632" y="6781"/>
                  </a:lnTo>
                  <a:lnTo>
                    <a:pt x="14682" y="6825"/>
                  </a:lnTo>
                  <a:lnTo>
                    <a:pt x="14731" y="6871"/>
                  </a:lnTo>
                  <a:lnTo>
                    <a:pt x="14778" y="6918"/>
                  </a:lnTo>
                  <a:lnTo>
                    <a:pt x="14823" y="6966"/>
                  </a:lnTo>
                  <a:lnTo>
                    <a:pt x="14867" y="7015"/>
                  </a:lnTo>
                  <a:lnTo>
                    <a:pt x="14907" y="7065"/>
                  </a:lnTo>
                  <a:lnTo>
                    <a:pt x="14947" y="7117"/>
                  </a:lnTo>
                  <a:lnTo>
                    <a:pt x="14985" y="7171"/>
                  </a:lnTo>
                  <a:lnTo>
                    <a:pt x="15022" y="7224"/>
                  </a:lnTo>
                  <a:lnTo>
                    <a:pt x="15055" y="7279"/>
                  </a:lnTo>
                  <a:lnTo>
                    <a:pt x="15088" y="7336"/>
                  </a:lnTo>
                  <a:lnTo>
                    <a:pt x="15117" y="7392"/>
                  </a:lnTo>
                  <a:lnTo>
                    <a:pt x="15146" y="7450"/>
                  </a:lnTo>
                  <a:lnTo>
                    <a:pt x="15171" y="7509"/>
                  </a:lnTo>
                  <a:lnTo>
                    <a:pt x="15196" y="7568"/>
                  </a:lnTo>
                  <a:lnTo>
                    <a:pt x="15217" y="7629"/>
                  </a:lnTo>
                  <a:lnTo>
                    <a:pt x="15237" y="7690"/>
                  </a:lnTo>
                  <a:lnTo>
                    <a:pt x="15255" y="7752"/>
                  </a:lnTo>
                  <a:lnTo>
                    <a:pt x="15270" y="7814"/>
                  </a:lnTo>
                  <a:lnTo>
                    <a:pt x="15284" y="7878"/>
                  </a:lnTo>
                  <a:lnTo>
                    <a:pt x="15294" y="7941"/>
                  </a:lnTo>
                  <a:lnTo>
                    <a:pt x="15303" y="8006"/>
                  </a:lnTo>
                  <a:lnTo>
                    <a:pt x="15309" y="8070"/>
                  </a:lnTo>
                  <a:lnTo>
                    <a:pt x="15313" y="8136"/>
                  </a:lnTo>
                  <a:lnTo>
                    <a:pt x="15314" y="8201"/>
                  </a:lnTo>
                  <a:lnTo>
                    <a:pt x="15314" y="8268"/>
                  </a:lnTo>
                  <a:lnTo>
                    <a:pt x="15311" y="8333"/>
                  </a:lnTo>
                  <a:lnTo>
                    <a:pt x="15305" y="8401"/>
                  </a:lnTo>
                  <a:lnTo>
                    <a:pt x="15297" y="8468"/>
                  </a:lnTo>
                  <a:lnTo>
                    <a:pt x="15286" y="8534"/>
                  </a:lnTo>
                  <a:lnTo>
                    <a:pt x="15272" y="8602"/>
                  </a:lnTo>
                  <a:lnTo>
                    <a:pt x="15257" y="8669"/>
                  </a:lnTo>
                  <a:lnTo>
                    <a:pt x="15228" y="8773"/>
                  </a:lnTo>
                  <a:lnTo>
                    <a:pt x="15193" y="8874"/>
                  </a:lnTo>
                  <a:lnTo>
                    <a:pt x="15153" y="8974"/>
                  </a:lnTo>
                  <a:lnTo>
                    <a:pt x="15107" y="9070"/>
                  </a:lnTo>
                  <a:lnTo>
                    <a:pt x="15057" y="9164"/>
                  </a:lnTo>
                  <a:lnTo>
                    <a:pt x="15002" y="9255"/>
                  </a:lnTo>
                  <a:lnTo>
                    <a:pt x="14942" y="9343"/>
                  </a:lnTo>
                  <a:lnTo>
                    <a:pt x="14879" y="9429"/>
                  </a:lnTo>
                  <a:lnTo>
                    <a:pt x="14810" y="9511"/>
                  </a:lnTo>
                  <a:lnTo>
                    <a:pt x="14738" y="9590"/>
                  </a:lnTo>
                  <a:lnTo>
                    <a:pt x="14661" y="9666"/>
                  </a:lnTo>
                  <a:lnTo>
                    <a:pt x="14582" y="9739"/>
                  </a:lnTo>
                  <a:lnTo>
                    <a:pt x="14499" y="9807"/>
                  </a:lnTo>
                  <a:lnTo>
                    <a:pt x="14413" y="9873"/>
                  </a:lnTo>
                  <a:lnTo>
                    <a:pt x="14323" y="9934"/>
                  </a:lnTo>
                  <a:lnTo>
                    <a:pt x="14230" y="9993"/>
                  </a:lnTo>
                  <a:lnTo>
                    <a:pt x="14135" y="10047"/>
                  </a:lnTo>
                  <a:lnTo>
                    <a:pt x="14037" y="10097"/>
                  </a:lnTo>
                  <a:lnTo>
                    <a:pt x="13936" y="10143"/>
                  </a:lnTo>
                  <a:lnTo>
                    <a:pt x="13834" y="10185"/>
                  </a:lnTo>
                  <a:lnTo>
                    <a:pt x="13729" y="10222"/>
                  </a:lnTo>
                  <a:lnTo>
                    <a:pt x="13623" y="10256"/>
                  </a:lnTo>
                  <a:lnTo>
                    <a:pt x="13514" y="10285"/>
                  </a:lnTo>
                  <a:lnTo>
                    <a:pt x="13405" y="10308"/>
                  </a:lnTo>
                  <a:lnTo>
                    <a:pt x="13294" y="10328"/>
                  </a:lnTo>
                  <a:lnTo>
                    <a:pt x="13181" y="10342"/>
                  </a:lnTo>
                  <a:lnTo>
                    <a:pt x="13068" y="10352"/>
                  </a:lnTo>
                  <a:lnTo>
                    <a:pt x="12954" y="10358"/>
                  </a:lnTo>
                  <a:lnTo>
                    <a:pt x="12839" y="10357"/>
                  </a:lnTo>
                  <a:lnTo>
                    <a:pt x="12723" y="10351"/>
                  </a:lnTo>
                  <a:lnTo>
                    <a:pt x="12608" y="10341"/>
                  </a:lnTo>
                  <a:lnTo>
                    <a:pt x="12492" y="10325"/>
                  </a:lnTo>
                  <a:lnTo>
                    <a:pt x="12466" y="10321"/>
                  </a:lnTo>
                  <a:lnTo>
                    <a:pt x="12442" y="10316"/>
                  </a:lnTo>
                  <a:lnTo>
                    <a:pt x="12416" y="10311"/>
                  </a:lnTo>
                  <a:lnTo>
                    <a:pt x="12392" y="10306"/>
                  </a:lnTo>
                  <a:lnTo>
                    <a:pt x="12366" y="10301"/>
                  </a:lnTo>
                  <a:lnTo>
                    <a:pt x="12342" y="10295"/>
                  </a:lnTo>
                  <a:lnTo>
                    <a:pt x="12318" y="10290"/>
                  </a:lnTo>
                  <a:lnTo>
                    <a:pt x="12293" y="10284"/>
                  </a:lnTo>
                  <a:lnTo>
                    <a:pt x="12269" y="10278"/>
                  </a:lnTo>
                  <a:lnTo>
                    <a:pt x="12245" y="10272"/>
                  </a:lnTo>
                  <a:lnTo>
                    <a:pt x="12221" y="10264"/>
                  </a:lnTo>
                  <a:lnTo>
                    <a:pt x="12197" y="10258"/>
                  </a:lnTo>
                  <a:lnTo>
                    <a:pt x="12174" y="10251"/>
                  </a:lnTo>
                  <a:lnTo>
                    <a:pt x="12150" y="10244"/>
                  </a:lnTo>
                  <a:lnTo>
                    <a:pt x="12127" y="10236"/>
                  </a:lnTo>
                  <a:lnTo>
                    <a:pt x="12103" y="10228"/>
                  </a:lnTo>
                  <a:lnTo>
                    <a:pt x="12080" y="10220"/>
                  </a:lnTo>
                  <a:lnTo>
                    <a:pt x="12057" y="10212"/>
                  </a:lnTo>
                  <a:lnTo>
                    <a:pt x="12034" y="10204"/>
                  </a:lnTo>
                  <a:lnTo>
                    <a:pt x="12012" y="10196"/>
                  </a:lnTo>
                  <a:lnTo>
                    <a:pt x="11989" y="10186"/>
                  </a:lnTo>
                  <a:lnTo>
                    <a:pt x="11967" y="10177"/>
                  </a:lnTo>
                  <a:lnTo>
                    <a:pt x="11944" y="10168"/>
                  </a:lnTo>
                  <a:lnTo>
                    <a:pt x="11923" y="10159"/>
                  </a:lnTo>
                  <a:lnTo>
                    <a:pt x="11900" y="10150"/>
                  </a:lnTo>
                  <a:lnTo>
                    <a:pt x="11879" y="10139"/>
                  </a:lnTo>
                  <a:lnTo>
                    <a:pt x="11858" y="10129"/>
                  </a:lnTo>
                  <a:lnTo>
                    <a:pt x="11836" y="10119"/>
                  </a:lnTo>
                  <a:lnTo>
                    <a:pt x="11815" y="10109"/>
                  </a:lnTo>
                  <a:lnTo>
                    <a:pt x="11793" y="10098"/>
                  </a:lnTo>
                  <a:lnTo>
                    <a:pt x="11773" y="10087"/>
                  </a:lnTo>
                  <a:lnTo>
                    <a:pt x="11751" y="10076"/>
                  </a:lnTo>
                  <a:lnTo>
                    <a:pt x="11757" y="10111"/>
                  </a:lnTo>
                  <a:lnTo>
                    <a:pt x="11761" y="10144"/>
                  </a:lnTo>
                  <a:lnTo>
                    <a:pt x="11764" y="10179"/>
                  </a:lnTo>
                  <a:lnTo>
                    <a:pt x="11766" y="10213"/>
                  </a:lnTo>
                  <a:lnTo>
                    <a:pt x="11768" y="10248"/>
                  </a:lnTo>
                  <a:lnTo>
                    <a:pt x="11769" y="10283"/>
                  </a:lnTo>
                  <a:lnTo>
                    <a:pt x="11768" y="10319"/>
                  </a:lnTo>
                  <a:lnTo>
                    <a:pt x="11767" y="10353"/>
                  </a:lnTo>
                  <a:lnTo>
                    <a:pt x="11765" y="10388"/>
                  </a:lnTo>
                  <a:lnTo>
                    <a:pt x="11763" y="10424"/>
                  </a:lnTo>
                  <a:lnTo>
                    <a:pt x="11759" y="10459"/>
                  </a:lnTo>
                  <a:lnTo>
                    <a:pt x="11753" y="10495"/>
                  </a:lnTo>
                  <a:lnTo>
                    <a:pt x="11748" y="10531"/>
                  </a:lnTo>
                  <a:lnTo>
                    <a:pt x="11742" y="10567"/>
                  </a:lnTo>
                  <a:lnTo>
                    <a:pt x="11734" y="10602"/>
                  </a:lnTo>
                  <a:lnTo>
                    <a:pt x="11726" y="10637"/>
                  </a:lnTo>
                  <a:lnTo>
                    <a:pt x="11705" y="10718"/>
                  </a:lnTo>
                  <a:lnTo>
                    <a:pt x="11678" y="10797"/>
                  </a:lnTo>
                  <a:lnTo>
                    <a:pt x="11647" y="10874"/>
                  </a:lnTo>
                  <a:lnTo>
                    <a:pt x="11613" y="10949"/>
                  </a:lnTo>
                  <a:lnTo>
                    <a:pt x="11574" y="11021"/>
                  </a:lnTo>
                  <a:lnTo>
                    <a:pt x="11532" y="11092"/>
                  </a:lnTo>
                  <a:lnTo>
                    <a:pt x="11486" y="11161"/>
                  </a:lnTo>
                  <a:lnTo>
                    <a:pt x="11437" y="11226"/>
                  </a:lnTo>
                  <a:lnTo>
                    <a:pt x="11385" y="11291"/>
                  </a:lnTo>
                  <a:lnTo>
                    <a:pt x="11329" y="11352"/>
                  </a:lnTo>
                  <a:lnTo>
                    <a:pt x="11271" y="11411"/>
                  </a:lnTo>
                  <a:lnTo>
                    <a:pt x="11210" y="11467"/>
                  </a:lnTo>
                  <a:lnTo>
                    <a:pt x="11146" y="11520"/>
                  </a:lnTo>
                  <a:lnTo>
                    <a:pt x="11079" y="11570"/>
                  </a:lnTo>
                  <a:lnTo>
                    <a:pt x="11010" y="11619"/>
                  </a:lnTo>
                  <a:lnTo>
                    <a:pt x="10938" y="11664"/>
                  </a:lnTo>
                  <a:lnTo>
                    <a:pt x="10865" y="11705"/>
                  </a:lnTo>
                  <a:lnTo>
                    <a:pt x="10789" y="11744"/>
                  </a:lnTo>
                  <a:lnTo>
                    <a:pt x="10711" y="11779"/>
                  </a:lnTo>
                  <a:lnTo>
                    <a:pt x="10632" y="11811"/>
                  </a:lnTo>
                  <a:lnTo>
                    <a:pt x="10551" y="11841"/>
                  </a:lnTo>
                  <a:lnTo>
                    <a:pt x="10468" y="11866"/>
                  </a:lnTo>
                  <a:lnTo>
                    <a:pt x="10385" y="11888"/>
                  </a:lnTo>
                  <a:lnTo>
                    <a:pt x="10300" y="11906"/>
                  </a:lnTo>
                  <a:lnTo>
                    <a:pt x="10214" y="11922"/>
                  </a:lnTo>
                  <a:lnTo>
                    <a:pt x="10127" y="11932"/>
                  </a:lnTo>
                  <a:lnTo>
                    <a:pt x="10039" y="11939"/>
                  </a:lnTo>
                  <a:lnTo>
                    <a:pt x="9950" y="11943"/>
                  </a:lnTo>
                  <a:lnTo>
                    <a:pt x="9861" y="11942"/>
                  </a:lnTo>
                  <a:lnTo>
                    <a:pt x="9772" y="11938"/>
                  </a:lnTo>
                  <a:lnTo>
                    <a:pt x="9682" y="11929"/>
                  </a:lnTo>
                  <a:lnTo>
                    <a:pt x="9592" y="11917"/>
                  </a:lnTo>
                  <a:lnTo>
                    <a:pt x="9540" y="11906"/>
                  </a:lnTo>
                  <a:lnTo>
                    <a:pt x="9489" y="11896"/>
                  </a:lnTo>
                  <a:lnTo>
                    <a:pt x="9439" y="11884"/>
                  </a:lnTo>
                  <a:lnTo>
                    <a:pt x="9389" y="11871"/>
                  </a:lnTo>
                  <a:lnTo>
                    <a:pt x="9340" y="11856"/>
                  </a:lnTo>
                  <a:lnTo>
                    <a:pt x="9292" y="11841"/>
                  </a:lnTo>
                  <a:lnTo>
                    <a:pt x="9245" y="11824"/>
                  </a:lnTo>
                  <a:lnTo>
                    <a:pt x="9198" y="11806"/>
                  </a:lnTo>
                  <a:lnTo>
                    <a:pt x="9152" y="11787"/>
                  </a:lnTo>
                  <a:lnTo>
                    <a:pt x="9108" y="11766"/>
                  </a:lnTo>
                  <a:lnTo>
                    <a:pt x="9064" y="11746"/>
                  </a:lnTo>
                  <a:lnTo>
                    <a:pt x="9021" y="11723"/>
                  </a:lnTo>
                  <a:lnTo>
                    <a:pt x="8978" y="11699"/>
                  </a:lnTo>
                  <a:lnTo>
                    <a:pt x="8937" y="11675"/>
                  </a:lnTo>
                  <a:lnTo>
                    <a:pt x="8896" y="11649"/>
                  </a:lnTo>
                  <a:lnTo>
                    <a:pt x="8857" y="11623"/>
                  </a:lnTo>
                  <a:lnTo>
                    <a:pt x="8819" y="11595"/>
                  </a:lnTo>
                  <a:lnTo>
                    <a:pt x="8781" y="11567"/>
                  </a:lnTo>
                  <a:lnTo>
                    <a:pt x="8744" y="11538"/>
                  </a:lnTo>
                  <a:lnTo>
                    <a:pt x="8709" y="11508"/>
                  </a:lnTo>
                  <a:lnTo>
                    <a:pt x="8674" y="11477"/>
                  </a:lnTo>
                  <a:lnTo>
                    <a:pt x="8640" y="11444"/>
                  </a:lnTo>
                  <a:lnTo>
                    <a:pt x="8608" y="11413"/>
                  </a:lnTo>
                  <a:lnTo>
                    <a:pt x="8577" y="11379"/>
                  </a:lnTo>
                  <a:lnTo>
                    <a:pt x="8547" y="11344"/>
                  </a:lnTo>
                  <a:lnTo>
                    <a:pt x="8517" y="11309"/>
                  </a:lnTo>
                  <a:lnTo>
                    <a:pt x="8489" y="11273"/>
                  </a:lnTo>
                  <a:lnTo>
                    <a:pt x="8462" y="11237"/>
                  </a:lnTo>
                  <a:lnTo>
                    <a:pt x="8436" y="11201"/>
                  </a:lnTo>
                  <a:lnTo>
                    <a:pt x="8412" y="11163"/>
                  </a:lnTo>
                  <a:lnTo>
                    <a:pt x="8388" y="11124"/>
                  </a:lnTo>
                  <a:lnTo>
                    <a:pt x="8366" y="11085"/>
                  </a:lnTo>
                  <a:lnTo>
                    <a:pt x="8304" y="11124"/>
                  </a:lnTo>
                  <a:lnTo>
                    <a:pt x="8241" y="11162"/>
                  </a:lnTo>
                  <a:lnTo>
                    <a:pt x="8175" y="11199"/>
                  </a:lnTo>
                  <a:lnTo>
                    <a:pt x="8109" y="11234"/>
                  </a:lnTo>
                  <a:lnTo>
                    <a:pt x="8041" y="11269"/>
                  </a:lnTo>
                  <a:lnTo>
                    <a:pt x="7971" y="11302"/>
                  </a:lnTo>
                  <a:lnTo>
                    <a:pt x="7901" y="11335"/>
                  </a:lnTo>
                  <a:lnTo>
                    <a:pt x="7830" y="11366"/>
                  </a:lnTo>
                  <a:lnTo>
                    <a:pt x="7756" y="11395"/>
                  </a:lnTo>
                  <a:lnTo>
                    <a:pt x="7683" y="11424"/>
                  </a:lnTo>
                  <a:lnTo>
                    <a:pt x="7607" y="11451"/>
                  </a:lnTo>
                  <a:lnTo>
                    <a:pt x="7531" y="11476"/>
                  </a:lnTo>
                  <a:lnTo>
                    <a:pt x="7453" y="11501"/>
                  </a:lnTo>
                  <a:lnTo>
                    <a:pt x="7375" y="11524"/>
                  </a:lnTo>
                  <a:lnTo>
                    <a:pt x="7295" y="11546"/>
                  </a:lnTo>
                  <a:lnTo>
                    <a:pt x="7214" y="11566"/>
                  </a:lnTo>
                  <a:lnTo>
                    <a:pt x="7133" y="11586"/>
                  </a:lnTo>
                  <a:lnTo>
                    <a:pt x="7050" y="11603"/>
                  </a:lnTo>
                  <a:lnTo>
                    <a:pt x="6968" y="11620"/>
                  </a:lnTo>
                  <a:lnTo>
                    <a:pt x="6884" y="11634"/>
                  </a:lnTo>
                  <a:lnTo>
                    <a:pt x="6799" y="11647"/>
                  </a:lnTo>
                  <a:lnTo>
                    <a:pt x="6714" y="11659"/>
                  </a:lnTo>
                  <a:lnTo>
                    <a:pt x="6628" y="11669"/>
                  </a:lnTo>
                  <a:lnTo>
                    <a:pt x="6541" y="11678"/>
                  </a:lnTo>
                  <a:lnTo>
                    <a:pt x="6454" y="11684"/>
                  </a:lnTo>
                  <a:lnTo>
                    <a:pt x="6366" y="11690"/>
                  </a:lnTo>
                  <a:lnTo>
                    <a:pt x="6277" y="11694"/>
                  </a:lnTo>
                  <a:lnTo>
                    <a:pt x="6188" y="11696"/>
                  </a:lnTo>
                  <a:lnTo>
                    <a:pt x="6099" y="11696"/>
                  </a:lnTo>
                  <a:lnTo>
                    <a:pt x="6009" y="11695"/>
                  </a:lnTo>
                  <a:lnTo>
                    <a:pt x="5919" y="11693"/>
                  </a:lnTo>
                  <a:lnTo>
                    <a:pt x="5828" y="11688"/>
                  </a:lnTo>
                  <a:lnTo>
                    <a:pt x="5668" y="11677"/>
                  </a:lnTo>
                  <a:lnTo>
                    <a:pt x="5510" y="11660"/>
                  </a:lnTo>
                  <a:lnTo>
                    <a:pt x="5356" y="11637"/>
                  </a:lnTo>
                  <a:lnTo>
                    <a:pt x="5205" y="11610"/>
                  </a:lnTo>
                  <a:lnTo>
                    <a:pt x="5057" y="11579"/>
                  </a:lnTo>
                  <a:lnTo>
                    <a:pt x="4912" y="11543"/>
                  </a:lnTo>
                  <a:lnTo>
                    <a:pt x="4773" y="11502"/>
                  </a:lnTo>
                  <a:lnTo>
                    <a:pt x="4636" y="11457"/>
                  </a:lnTo>
                  <a:lnTo>
                    <a:pt x="4503" y="11408"/>
                  </a:lnTo>
                  <a:lnTo>
                    <a:pt x="4376" y="11355"/>
                  </a:lnTo>
                  <a:lnTo>
                    <a:pt x="4252" y="11298"/>
                  </a:lnTo>
                  <a:lnTo>
                    <a:pt x="4133" y="11237"/>
                  </a:lnTo>
                  <a:lnTo>
                    <a:pt x="4020" y="11174"/>
                  </a:lnTo>
                  <a:lnTo>
                    <a:pt x="3911" y="11106"/>
                  </a:lnTo>
                  <a:lnTo>
                    <a:pt x="3807" y="11036"/>
                  </a:lnTo>
                  <a:lnTo>
                    <a:pt x="3708" y="10961"/>
                  </a:lnTo>
                  <a:lnTo>
                    <a:pt x="3615" y="10884"/>
                  </a:lnTo>
                  <a:lnTo>
                    <a:pt x="3528" y="10804"/>
                  </a:lnTo>
                  <a:lnTo>
                    <a:pt x="3447" y="10722"/>
                  </a:lnTo>
                  <a:lnTo>
                    <a:pt x="3371" y="10637"/>
                  </a:lnTo>
                  <a:lnTo>
                    <a:pt x="3302" y="10549"/>
                  </a:lnTo>
                  <a:lnTo>
                    <a:pt x="3239" y="10459"/>
                  </a:lnTo>
                  <a:lnTo>
                    <a:pt x="3182" y="10368"/>
                  </a:lnTo>
                  <a:lnTo>
                    <a:pt x="3133" y="10274"/>
                  </a:lnTo>
                  <a:lnTo>
                    <a:pt x="3091" y="10177"/>
                  </a:lnTo>
                  <a:lnTo>
                    <a:pt x="3055" y="10079"/>
                  </a:lnTo>
                  <a:lnTo>
                    <a:pt x="3026" y="9980"/>
                  </a:lnTo>
                  <a:lnTo>
                    <a:pt x="3006" y="9879"/>
                  </a:lnTo>
                  <a:lnTo>
                    <a:pt x="2993" y="9777"/>
                  </a:lnTo>
                  <a:lnTo>
                    <a:pt x="2987" y="9673"/>
                  </a:lnTo>
                  <a:lnTo>
                    <a:pt x="2990" y="9568"/>
                  </a:lnTo>
                  <a:lnTo>
                    <a:pt x="3000" y="9462"/>
                  </a:lnTo>
                  <a:lnTo>
                    <a:pt x="3001" y="9455"/>
                  </a:lnTo>
                  <a:lnTo>
                    <a:pt x="3003" y="9448"/>
                  </a:lnTo>
                  <a:lnTo>
                    <a:pt x="3004" y="9441"/>
                  </a:lnTo>
                  <a:lnTo>
                    <a:pt x="3005" y="9433"/>
                  </a:lnTo>
                  <a:lnTo>
                    <a:pt x="3006" y="9425"/>
                  </a:lnTo>
                  <a:lnTo>
                    <a:pt x="3007" y="9418"/>
                  </a:lnTo>
                  <a:lnTo>
                    <a:pt x="3009" y="9411"/>
                  </a:lnTo>
                  <a:lnTo>
                    <a:pt x="3010" y="9404"/>
                  </a:lnTo>
                  <a:lnTo>
                    <a:pt x="2973" y="9417"/>
                  </a:lnTo>
                  <a:lnTo>
                    <a:pt x="2937" y="9430"/>
                  </a:lnTo>
                  <a:lnTo>
                    <a:pt x="2900" y="9444"/>
                  </a:lnTo>
                  <a:lnTo>
                    <a:pt x="2862" y="9456"/>
                  </a:lnTo>
                  <a:lnTo>
                    <a:pt x="2824" y="9467"/>
                  </a:lnTo>
                  <a:lnTo>
                    <a:pt x="2787" y="9479"/>
                  </a:lnTo>
                  <a:lnTo>
                    <a:pt x="2749" y="9489"/>
                  </a:lnTo>
                  <a:lnTo>
                    <a:pt x="2711" y="9499"/>
                  </a:lnTo>
                  <a:lnTo>
                    <a:pt x="2672" y="9508"/>
                  </a:lnTo>
                  <a:lnTo>
                    <a:pt x="2634" y="9517"/>
                  </a:lnTo>
                  <a:lnTo>
                    <a:pt x="2595" y="9525"/>
                  </a:lnTo>
                  <a:lnTo>
                    <a:pt x="2556" y="9532"/>
                  </a:lnTo>
                  <a:lnTo>
                    <a:pt x="2517" y="9538"/>
                  </a:lnTo>
                  <a:lnTo>
                    <a:pt x="2478" y="9544"/>
                  </a:lnTo>
                  <a:lnTo>
                    <a:pt x="2438" y="9549"/>
                  </a:lnTo>
                  <a:lnTo>
                    <a:pt x="2399" y="9554"/>
                  </a:lnTo>
                  <a:lnTo>
                    <a:pt x="2359" y="9559"/>
                  </a:lnTo>
                  <a:lnTo>
                    <a:pt x="2318" y="9562"/>
                  </a:lnTo>
                  <a:lnTo>
                    <a:pt x="2279" y="9565"/>
                  </a:lnTo>
                  <a:lnTo>
                    <a:pt x="2239" y="9567"/>
                  </a:lnTo>
                  <a:lnTo>
                    <a:pt x="2198" y="9568"/>
                  </a:lnTo>
                  <a:lnTo>
                    <a:pt x="2158" y="9569"/>
                  </a:lnTo>
                  <a:lnTo>
                    <a:pt x="2118" y="9569"/>
                  </a:lnTo>
                  <a:lnTo>
                    <a:pt x="2077" y="9568"/>
                  </a:lnTo>
                  <a:lnTo>
                    <a:pt x="2036" y="9567"/>
                  </a:lnTo>
                  <a:lnTo>
                    <a:pt x="1995" y="9565"/>
                  </a:lnTo>
                  <a:lnTo>
                    <a:pt x="1955" y="9562"/>
                  </a:lnTo>
                  <a:lnTo>
                    <a:pt x="1914" y="9559"/>
                  </a:lnTo>
                  <a:lnTo>
                    <a:pt x="1873" y="9554"/>
                  </a:lnTo>
                  <a:lnTo>
                    <a:pt x="1832" y="9549"/>
                  </a:lnTo>
                  <a:lnTo>
                    <a:pt x="1791" y="9544"/>
                  </a:lnTo>
                  <a:lnTo>
                    <a:pt x="1750" y="9537"/>
                  </a:lnTo>
                  <a:lnTo>
                    <a:pt x="1641" y="9517"/>
                  </a:lnTo>
                  <a:lnTo>
                    <a:pt x="1534" y="9491"/>
                  </a:lnTo>
                  <a:lnTo>
                    <a:pt x="1431" y="9461"/>
                  </a:lnTo>
                  <a:lnTo>
                    <a:pt x="1329" y="9426"/>
                  </a:lnTo>
                  <a:lnTo>
                    <a:pt x="1231" y="9387"/>
                  </a:lnTo>
                  <a:lnTo>
                    <a:pt x="1135" y="9344"/>
                  </a:lnTo>
                  <a:lnTo>
                    <a:pt x="1043" y="9297"/>
                  </a:lnTo>
                  <a:lnTo>
                    <a:pt x="955" y="9246"/>
                  </a:lnTo>
                  <a:lnTo>
                    <a:pt x="868" y="9191"/>
                  </a:lnTo>
                  <a:lnTo>
                    <a:pt x="786" y="9132"/>
                  </a:lnTo>
                  <a:lnTo>
                    <a:pt x="707" y="9071"/>
                  </a:lnTo>
                  <a:lnTo>
                    <a:pt x="631" y="9005"/>
                  </a:lnTo>
                  <a:lnTo>
                    <a:pt x="560" y="8937"/>
                  </a:lnTo>
                  <a:lnTo>
                    <a:pt x="492" y="8866"/>
                  </a:lnTo>
                  <a:lnTo>
                    <a:pt x="428" y="8791"/>
                  </a:lnTo>
                  <a:lnTo>
                    <a:pt x="368" y="8714"/>
                  </a:lnTo>
                  <a:lnTo>
                    <a:pt x="312" y="8635"/>
                  </a:lnTo>
                  <a:lnTo>
                    <a:pt x="260" y="8553"/>
                  </a:lnTo>
                  <a:lnTo>
                    <a:pt x="213" y="8468"/>
                  </a:lnTo>
                  <a:lnTo>
                    <a:pt x="170" y="8382"/>
                  </a:lnTo>
                  <a:lnTo>
                    <a:pt x="132" y="8292"/>
                  </a:lnTo>
                  <a:lnTo>
                    <a:pt x="98" y="8202"/>
                  </a:lnTo>
                  <a:lnTo>
                    <a:pt x="69" y="8110"/>
                  </a:lnTo>
                  <a:lnTo>
                    <a:pt x="45" y="8016"/>
                  </a:lnTo>
                  <a:lnTo>
                    <a:pt x="27" y="7921"/>
                  </a:lnTo>
                  <a:lnTo>
                    <a:pt x="12" y="7823"/>
                  </a:lnTo>
                  <a:lnTo>
                    <a:pt x="3" y="7726"/>
                  </a:lnTo>
                  <a:lnTo>
                    <a:pt x="0" y="7627"/>
                  </a:lnTo>
                  <a:lnTo>
                    <a:pt x="2" y="7527"/>
                  </a:lnTo>
                  <a:lnTo>
                    <a:pt x="9" y="7427"/>
                  </a:lnTo>
                  <a:lnTo>
                    <a:pt x="22" y="7325"/>
                  </a:lnTo>
                  <a:lnTo>
                    <a:pt x="42" y="7224"/>
                  </a:lnTo>
                  <a:lnTo>
                    <a:pt x="59" y="7149"/>
                  </a:lnTo>
                  <a:lnTo>
                    <a:pt x="80" y="7076"/>
                  </a:lnTo>
                  <a:lnTo>
                    <a:pt x="102" y="7005"/>
                  </a:lnTo>
                  <a:lnTo>
                    <a:pt x="128" y="6934"/>
                  </a:lnTo>
                  <a:lnTo>
                    <a:pt x="156" y="6864"/>
                  </a:lnTo>
                  <a:lnTo>
                    <a:pt x="187" y="6797"/>
                  </a:lnTo>
                  <a:lnTo>
                    <a:pt x="220" y="6730"/>
                  </a:lnTo>
                  <a:lnTo>
                    <a:pt x="256" y="6665"/>
                  </a:lnTo>
                  <a:lnTo>
                    <a:pt x="295" y="6601"/>
                  </a:lnTo>
                  <a:lnTo>
                    <a:pt x="336" y="6539"/>
                  </a:lnTo>
                  <a:lnTo>
                    <a:pt x="378" y="6477"/>
                  </a:lnTo>
                  <a:lnTo>
                    <a:pt x="423" y="6418"/>
                  </a:lnTo>
                  <a:lnTo>
                    <a:pt x="470" y="6359"/>
                  </a:lnTo>
                  <a:lnTo>
                    <a:pt x="519" y="6304"/>
                  </a:lnTo>
                  <a:lnTo>
                    <a:pt x="571" y="6249"/>
                  </a:lnTo>
                  <a:lnTo>
                    <a:pt x="624" y="6197"/>
                  </a:lnTo>
                  <a:lnTo>
                    <a:pt x="679" y="6145"/>
                  </a:lnTo>
                  <a:lnTo>
                    <a:pt x="736" y="6096"/>
                  </a:lnTo>
                  <a:lnTo>
                    <a:pt x="795" y="6048"/>
                  </a:lnTo>
                  <a:lnTo>
                    <a:pt x="856" y="6003"/>
                  </a:lnTo>
                  <a:lnTo>
                    <a:pt x="917" y="5959"/>
                  </a:lnTo>
                  <a:lnTo>
                    <a:pt x="981" y="5917"/>
                  </a:lnTo>
                  <a:lnTo>
                    <a:pt x="1047" y="5878"/>
                  </a:lnTo>
                  <a:lnTo>
                    <a:pt x="1113" y="5840"/>
                  </a:lnTo>
                  <a:lnTo>
                    <a:pt x="1181" y="5804"/>
                  </a:lnTo>
                  <a:lnTo>
                    <a:pt x="1250" y="5770"/>
                  </a:lnTo>
                  <a:lnTo>
                    <a:pt x="1321" y="5740"/>
                  </a:lnTo>
                  <a:lnTo>
                    <a:pt x="1392" y="5711"/>
                  </a:lnTo>
                  <a:lnTo>
                    <a:pt x="1465" y="5683"/>
                  </a:lnTo>
                  <a:lnTo>
                    <a:pt x="1539" y="5659"/>
                  </a:lnTo>
                  <a:lnTo>
                    <a:pt x="1614" y="5637"/>
                  </a:lnTo>
                  <a:lnTo>
                    <a:pt x="1690" y="5618"/>
                  </a:lnTo>
                  <a:lnTo>
                    <a:pt x="1659" y="5574"/>
                  </a:lnTo>
                  <a:lnTo>
                    <a:pt x="1629" y="5529"/>
                  </a:lnTo>
                  <a:lnTo>
                    <a:pt x="1600" y="5484"/>
                  </a:lnTo>
                  <a:lnTo>
                    <a:pt x="1573" y="5437"/>
                  </a:lnTo>
                  <a:lnTo>
                    <a:pt x="1546" y="5391"/>
                  </a:lnTo>
                  <a:lnTo>
                    <a:pt x="1522" y="5344"/>
                  </a:lnTo>
                  <a:lnTo>
                    <a:pt x="1498" y="5296"/>
                  </a:lnTo>
                  <a:lnTo>
                    <a:pt x="1475" y="5248"/>
                  </a:lnTo>
                  <a:lnTo>
                    <a:pt x="1454" y="5199"/>
                  </a:lnTo>
                  <a:lnTo>
                    <a:pt x="1434" y="5150"/>
                  </a:lnTo>
                  <a:lnTo>
                    <a:pt x="1415" y="5099"/>
                  </a:lnTo>
                  <a:lnTo>
                    <a:pt x="1397" y="5049"/>
                  </a:lnTo>
                  <a:lnTo>
                    <a:pt x="1381" y="4998"/>
                  </a:lnTo>
                  <a:lnTo>
                    <a:pt x="1367" y="4947"/>
                  </a:lnTo>
                  <a:lnTo>
                    <a:pt x="1353" y="4895"/>
                  </a:lnTo>
                  <a:lnTo>
                    <a:pt x="1340" y="4842"/>
                  </a:lnTo>
                  <a:lnTo>
                    <a:pt x="1330" y="4790"/>
                  </a:lnTo>
                  <a:lnTo>
                    <a:pt x="1320" y="4737"/>
                  </a:lnTo>
                  <a:lnTo>
                    <a:pt x="1312" y="4683"/>
                  </a:lnTo>
                  <a:lnTo>
                    <a:pt x="1306" y="4629"/>
                  </a:lnTo>
                  <a:lnTo>
                    <a:pt x="1301" y="4575"/>
                  </a:lnTo>
                  <a:lnTo>
                    <a:pt x="1296" y="4521"/>
                  </a:lnTo>
                  <a:lnTo>
                    <a:pt x="1294" y="4466"/>
                  </a:lnTo>
                  <a:lnTo>
                    <a:pt x="1293" y="4411"/>
                  </a:lnTo>
                  <a:lnTo>
                    <a:pt x="1293" y="4356"/>
                  </a:lnTo>
                  <a:lnTo>
                    <a:pt x="1295" y="4300"/>
                  </a:lnTo>
                  <a:lnTo>
                    <a:pt x="1299" y="4244"/>
                  </a:lnTo>
                  <a:lnTo>
                    <a:pt x="1305" y="4189"/>
                  </a:lnTo>
                  <a:lnTo>
                    <a:pt x="1312" y="4132"/>
                  </a:lnTo>
                  <a:lnTo>
                    <a:pt x="1320" y="4076"/>
                  </a:lnTo>
                  <a:lnTo>
                    <a:pt x="1329" y="4020"/>
                  </a:lnTo>
                  <a:lnTo>
                    <a:pt x="1340" y="3963"/>
                  </a:lnTo>
                  <a:lnTo>
                    <a:pt x="1369" y="3850"/>
                  </a:lnTo>
                  <a:lnTo>
                    <a:pt x="1401" y="3739"/>
                  </a:lnTo>
                  <a:lnTo>
                    <a:pt x="1441" y="3630"/>
                  </a:lnTo>
                  <a:lnTo>
                    <a:pt x="1486" y="3524"/>
                  </a:lnTo>
                  <a:lnTo>
                    <a:pt x="1536" y="3420"/>
                  </a:lnTo>
                  <a:lnTo>
                    <a:pt x="1591" y="3320"/>
                  </a:lnTo>
                  <a:lnTo>
                    <a:pt x="1650" y="3223"/>
                  </a:lnTo>
                  <a:lnTo>
                    <a:pt x="1716" y="3127"/>
                  </a:lnTo>
                  <a:lnTo>
                    <a:pt x="1785" y="3036"/>
                  </a:lnTo>
                  <a:lnTo>
                    <a:pt x="1858" y="2948"/>
                  </a:lnTo>
                  <a:lnTo>
                    <a:pt x="1937" y="2863"/>
                  </a:lnTo>
                  <a:lnTo>
                    <a:pt x="2019" y="2782"/>
                  </a:lnTo>
                  <a:lnTo>
                    <a:pt x="2105" y="2704"/>
                  </a:lnTo>
                  <a:lnTo>
                    <a:pt x="2195" y="2631"/>
                  </a:lnTo>
                  <a:lnTo>
                    <a:pt x="2288" y="2561"/>
                  </a:lnTo>
                  <a:lnTo>
                    <a:pt x="2385" y="2494"/>
                  </a:lnTo>
                  <a:lnTo>
                    <a:pt x="2484" y="2433"/>
                  </a:lnTo>
                  <a:lnTo>
                    <a:pt x="2587" y="2376"/>
                  </a:lnTo>
                  <a:lnTo>
                    <a:pt x="2693" y="2322"/>
                  </a:lnTo>
                  <a:lnTo>
                    <a:pt x="2801" y="2274"/>
                  </a:lnTo>
                  <a:lnTo>
                    <a:pt x="2911" y="2230"/>
                  </a:lnTo>
                  <a:lnTo>
                    <a:pt x="3024" y="2191"/>
                  </a:lnTo>
                  <a:lnTo>
                    <a:pt x="3139" y="2157"/>
                  </a:lnTo>
                  <a:lnTo>
                    <a:pt x="3256" y="2128"/>
                  </a:lnTo>
                  <a:lnTo>
                    <a:pt x="3374" y="2104"/>
                  </a:lnTo>
                  <a:lnTo>
                    <a:pt x="3495" y="2085"/>
                  </a:lnTo>
                  <a:lnTo>
                    <a:pt x="3616" y="2071"/>
                  </a:lnTo>
                  <a:lnTo>
                    <a:pt x="3738" y="2064"/>
                  </a:lnTo>
                  <a:lnTo>
                    <a:pt x="3862" y="2061"/>
                  </a:lnTo>
                  <a:lnTo>
                    <a:pt x="3985" y="2065"/>
                  </a:lnTo>
                  <a:lnTo>
                    <a:pt x="4111" y="2074"/>
                  </a:lnTo>
                  <a:lnTo>
                    <a:pt x="4235" y="2090"/>
                  </a:lnTo>
                  <a:lnTo>
                    <a:pt x="4256" y="2094"/>
                  </a:lnTo>
                  <a:lnTo>
                    <a:pt x="4278" y="2097"/>
                  </a:lnTo>
                  <a:lnTo>
                    <a:pt x="4299" y="2100"/>
                  </a:lnTo>
                  <a:lnTo>
                    <a:pt x="4321" y="2104"/>
                  </a:lnTo>
                  <a:lnTo>
                    <a:pt x="4342" y="2108"/>
                  </a:lnTo>
                  <a:lnTo>
                    <a:pt x="4363" y="2112"/>
                  </a:lnTo>
                  <a:lnTo>
                    <a:pt x="4384" y="2116"/>
                  </a:lnTo>
                  <a:lnTo>
                    <a:pt x="4404" y="2120"/>
                  </a:lnTo>
                  <a:lnTo>
                    <a:pt x="4425" y="2126"/>
                  </a:lnTo>
                  <a:lnTo>
                    <a:pt x="4446" y="2131"/>
                  </a:lnTo>
                  <a:lnTo>
                    <a:pt x="4467" y="2135"/>
                  </a:lnTo>
                  <a:lnTo>
                    <a:pt x="4487" y="2140"/>
                  </a:lnTo>
                  <a:lnTo>
                    <a:pt x="4507" y="2145"/>
                  </a:lnTo>
                  <a:lnTo>
                    <a:pt x="4528" y="2151"/>
                  </a:lnTo>
                  <a:lnTo>
                    <a:pt x="4548" y="2156"/>
                  </a:lnTo>
                  <a:lnTo>
                    <a:pt x="4568" y="2162"/>
                  </a:lnTo>
                  <a:lnTo>
                    <a:pt x="4588" y="2168"/>
                  </a:lnTo>
                  <a:lnTo>
                    <a:pt x="4608" y="2174"/>
                  </a:lnTo>
                  <a:lnTo>
                    <a:pt x="4628" y="2180"/>
                  </a:lnTo>
                  <a:lnTo>
                    <a:pt x="4648" y="2186"/>
                  </a:lnTo>
                  <a:lnTo>
                    <a:pt x="4668" y="2193"/>
                  </a:lnTo>
                  <a:lnTo>
                    <a:pt x="4687" y="2199"/>
                  </a:lnTo>
                  <a:lnTo>
                    <a:pt x="4706" y="2207"/>
                  </a:lnTo>
                  <a:lnTo>
                    <a:pt x="4726" y="2213"/>
                  </a:lnTo>
                  <a:lnTo>
                    <a:pt x="4745" y="2220"/>
                  </a:lnTo>
                  <a:lnTo>
                    <a:pt x="4764" y="2227"/>
                  </a:lnTo>
                  <a:lnTo>
                    <a:pt x="4784" y="2234"/>
                  </a:lnTo>
                  <a:lnTo>
                    <a:pt x="4802" y="2242"/>
                  </a:lnTo>
                  <a:lnTo>
                    <a:pt x="4822" y="2250"/>
                  </a:lnTo>
                  <a:lnTo>
                    <a:pt x="4840" y="2258"/>
                  </a:lnTo>
                  <a:lnTo>
                    <a:pt x="4859" y="2265"/>
                  </a:lnTo>
                  <a:lnTo>
                    <a:pt x="4878" y="2273"/>
                  </a:lnTo>
                  <a:lnTo>
                    <a:pt x="4879" y="2269"/>
                  </a:lnTo>
                  <a:lnTo>
                    <a:pt x="4880" y="2266"/>
                  </a:lnTo>
                  <a:lnTo>
                    <a:pt x="4880" y="2262"/>
                  </a:lnTo>
                  <a:lnTo>
                    <a:pt x="4881" y="2258"/>
                  </a:lnTo>
                  <a:lnTo>
                    <a:pt x="4882" y="2254"/>
                  </a:lnTo>
                  <a:lnTo>
                    <a:pt x="4883" y="2250"/>
                  </a:lnTo>
                  <a:lnTo>
                    <a:pt x="4884" y="2245"/>
                  </a:lnTo>
                  <a:lnTo>
                    <a:pt x="4884" y="2242"/>
                  </a:lnTo>
                  <a:lnTo>
                    <a:pt x="4905" y="2156"/>
                  </a:lnTo>
                  <a:lnTo>
                    <a:pt x="4930" y="2073"/>
                  </a:lnTo>
                  <a:lnTo>
                    <a:pt x="4958" y="1991"/>
                  </a:lnTo>
                  <a:lnTo>
                    <a:pt x="4990" y="1912"/>
                  </a:lnTo>
                  <a:lnTo>
                    <a:pt x="5025" y="1834"/>
                  </a:lnTo>
                  <a:lnTo>
                    <a:pt x="5062" y="1757"/>
                  </a:lnTo>
                  <a:lnTo>
                    <a:pt x="5103" y="1683"/>
                  </a:lnTo>
                  <a:lnTo>
                    <a:pt x="5147" y="1611"/>
                  </a:lnTo>
                  <a:lnTo>
                    <a:pt x="5193" y="1542"/>
                  </a:lnTo>
                  <a:lnTo>
                    <a:pt x="5243" y="1474"/>
                  </a:lnTo>
                  <a:lnTo>
                    <a:pt x="5294" y="1410"/>
                  </a:lnTo>
                  <a:lnTo>
                    <a:pt x="5349" y="1348"/>
                  </a:lnTo>
                  <a:lnTo>
                    <a:pt x="5405" y="1288"/>
                  </a:lnTo>
                  <a:lnTo>
                    <a:pt x="5464" y="1231"/>
                  </a:lnTo>
                  <a:lnTo>
                    <a:pt x="5524" y="1177"/>
                  </a:lnTo>
                  <a:lnTo>
                    <a:pt x="5588" y="1127"/>
                  </a:lnTo>
                  <a:lnTo>
                    <a:pt x="5652" y="1079"/>
                  </a:lnTo>
                  <a:lnTo>
                    <a:pt x="5718" y="1034"/>
                  </a:lnTo>
                  <a:lnTo>
                    <a:pt x="5785" y="992"/>
                  </a:lnTo>
                  <a:lnTo>
                    <a:pt x="5856" y="954"/>
                  </a:lnTo>
                  <a:lnTo>
                    <a:pt x="5926" y="919"/>
                  </a:lnTo>
                  <a:lnTo>
                    <a:pt x="5998" y="887"/>
                  </a:lnTo>
                  <a:lnTo>
                    <a:pt x="6071" y="859"/>
                  </a:lnTo>
                  <a:lnTo>
                    <a:pt x="6146" y="836"/>
                  </a:lnTo>
                  <a:lnTo>
                    <a:pt x="6220" y="815"/>
                  </a:lnTo>
                  <a:lnTo>
                    <a:pt x="6296" y="799"/>
                  </a:lnTo>
                  <a:lnTo>
                    <a:pt x="6373" y="787"/>
                  </a:lnTo>
                  <a:lnTo>
                    <a:pt x="6449" y="779"/>
                  </a:lnTo>
                  <a:lnTo>
                    <a:pt x="6527" y="774"/>
                  </a:lnTo>
                  <a:lnTo>
                    <a:pt x="6605" y="774"/>
                  </a:lnTo>
                  <a:lnTo>
                    <a:pt x="6682" y="779"/>
                  </a:lnTo>
                  <a:lnTo>
                    <a:pt x="6761" y="788"/>
                  </a:lnTo>
                  <a:lnTo>
                    <a:pt x="6785" y="792"/>
                  </a:lnTo>
                  <a:lnTo>
                    <a:pt x="6810" y="796"/>
                  </a:lnTo>
                  <a:lnTo>
                    <a:pt x="6833" y="801"/>
                  </a:lnTo>
                  <a:lnTo>
                    <a:pt x="6857" y="806"/>
                  </a:lnTo>
                  <a:lnTo>
                    <a:pt x="6881" y="811"/>
                  </a:lnTo>
                  <a:lnTo>
                    <a:pt x="6904" y="817"/>
                  </a:lnTo>
                  <a:lnTo>
                    <a:pt x="6928" y="824"/>
                  </a:lnTo>
                  <a:lnTo>
                    <a:pt x="6951" y="830"/>
                  </a:lnTo>
                  <a:lnTo>
                    <a:pt x="6974" y="837"/>
                  </a:lnTo>
                  <a:lnTo>
                    <a:pt x="6996" y="844"/>
                  </a:lnTo>
                  <a:lnTo>
                    <a:pt x="7019" y="852"/>
                  </a:lnTo>
                  <a:lnTo>
                    <a:pt x="7041" y="860"/>
                  </a:lnTo>
                  <a:lnTo>
                    <a:pt x="7064" y="870"/>
                  </a:lnTo>
                  <a:lnTo>
                    <a:pt x="7085" y="878"/>
                  </a:lnTo>
                  <a:lnTo>
                    <a:pt x="7106" y="888"/>
                  </a:lnTo>
                  <a:lnTo>
                    <a:pt x="7128" y="897"/>
                  </a:lnTo>
                  <a:lnTo>
                    <a:pt x="7149" y="908"/>
                  </a:lnTo>
                  <a:lnTo>
                    <a:pt x="7171" y="918"/>
                  </a:lnTo>
                  <a:lnTo>
                    <a:pt x="7191" y="929"/>
                  </a:lnTo>
                  <a:lnTo>
                    <a:pt x="7211" y="940"/>
                  </a:lnTo>
                  <a:lnTo>
                    <a:pt x="7232" y="952"/>
                  </a:lnTo>
                  <a:lnTo>
                    <a:pt x="7251" y="964"/>
                  </a:lnTo>
                  <a:lnTo>
                    <a:pt x="7272" y="976"/>
                  </a:lnTo>
                  <a:lnTo>
                    <a:pt x="7291" y="989"/>
                  </a:lnTo>
                  <a:lnTo>
                    <a:pt x="7310" y="1002"/>
                  </a:lnTo>
                  <a:lnTo>
                    <a:pt x="7330" y="1015"/>
                  </a:lnTo>
                  <a:lnTo>
                    <a:pt x="7348" y="1028"/>
                  </a:lnTo>
                  <a:lnTo>
                    <a:pt x="7366" y="1043"/>
                  </a:lnTo>
                  <a:lnTo>
                    <a:pt x="7385" y="1057"/>
                  </a:lnTo>
                  <a:lnTo>
                    <a:pt x="7403" y="1072"/>
                  </a:lnTo>
                  <a:lnTo>
                    <a:pt x="7421" y="1086"/>
                  </a:lnTo>
                  <a:lnTo>
                    <a:pt x="7438" y="1101"/>
                  </a:lnTo>
                  <a:close/>
                </a:path>
              </a:pathLst>
            </a:custGeom>
            <a:solidFill>
              <a:schemeClr val="bg1"/>
            </a:solidFill>
            <a:ln>
              <a:solidFill>
                <a:schemeClr val="tx1"/>
              </a:solidFill>
            </a:ln>
            <a:effectLst>
              <a:outerShdw dist="40161" dir="4293903" algn="ctr" rotWithShape="0">
                <a:srgbClr val="666633"/>
              </a:outerShdw>
            </a:effectLst>
          </p:spPr>
          <p:txBody>
            <a:bodyPr wrap="square" lIns="22467" tIns="11234" rIns="22467" bIns="11234" anchor="ctr" anchorCtr="1">
              <a:noAutofit/>
            </a:bodyPr>
            <a:lstStyle/>
            <a:p>
              <a:r>
                <a:rPr lang="zh-CN" altLang="en-US" sz="1400" b="1" dirty="0">
                  <a:latin typeface="微软雅黑 Light" panose="020B0502040204020203" pitchFamily="34" charset="-122"/>
                  <a:ea typeface="微软雅黑 Light" panose="020B0502040204020203" pitchFamily="34" charset="-122"/>
                </a:rPr>
                <a:t>互联网</a:t>
              </a:r>
            </a:p>
          </p:txBody>
        </p:sp>
        <p:cxnSp>
          <p:nvCxnSpPr>
            <p:cNvPr id="13" name="直接连接符 12"/>
            <p:cNvCxnSpPr>
              <a:stCxn id="9" idx="3"/>
              <a:endCxn id="5" idx="1"/>
            </p:cNvCxnSpPr>
            <p:nvPr/>
          </p:nvCxnSpPr>
          <p:spPr>
            <a:xfrm>
              <a:off x="1455239" y="3742685"/>
              <a:ext cx="1028830" cy="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17" name="直接连接符 16"/>
            <p:cNvCxnSpPr>
              <a:stCxn id="6" idx="3"/>
              <a:endCxn id="8" idx="1"/>
            </p:cNvCxnSpPr>
            <p:nvPr/>
          </p:nvCxnSpPr>
          <p:spPr>
            <a:xfrm>
              <a:off x="6635659" y="3742685"/>
              <a:ext cx="1071804" cy="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37" name="Text Box 390"/>
            <p:cNvSpPr txBox="1">
              <a:spLocks noChangeArrowheads="1"/>
            </p:cNvSpPr>
            <p:nvPr/>
          </p:nvSpPr>
          <p:spPr bwMode="auto">
            <a:xfrm>
              <a:off x="1469083" y="3729442"/>
              <a:ext cx="938077" cy="2712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latin typeface="微软雅黑 Light" panose="020B0502040204020203" pitchFamily="34" charset="-122"/>
                  <a:ea typeface="微软雅黑 Light" panose="020B0502040204020203" pitchFamily="34" charset="-122"/>
                </a:rPr>
                <a:t>LAN / WAN</a:t>
              </a:r>
            </a:p>
          </p:txBody>
        </p:sp>
        <p:sp>
          <p:nvSpPr>
            <p:cNvPr id="38" name="Text Box 390"/>
            <p:cNvSpPr txBox="1">
              <a:spLocks noChangeArrowheads="1"/>
            </p:cNvSpPr>
            <p:nvPr/>
          </p:nvSpPr>
          <p:spPr bwMode="auto">
            <a:xfrm>
              <a:off x="6702522" y="3729442"/>
              <a:ext cx="938077" cy="2712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latin typeface="微软雅黑 Light" panose="020B0502040204020203" pitchFamily="34" charset="-122"/>
                  <a:ea typeface="微软雅黑 Light" panose="020B0502040204020203" pitchFamily="34" charset="-122"/>
                </a:rPr>
                <a:t>LAN / WAN</a:t>
              </a:r>
            </a:p>
          </p:txBody>
        </p:sp>
        <p:sp>
          <p:nvSpPr>
            <p:cNvPr id="10" name="矩形 9"/>
            <p:cNvSpPr/>
            <p:nvPr/>
          </p:nvSpPr>
          <p:spPr>
            <a:xfrm>
              <a:off x="967090" y="3932598"/>
              <a:ext cx="543739" cy="307777"/>
            </a:xfrm>
            <a:prstGeom prst="rect">
              <a:avLst/>
            </a:prstGeom>
          </p:spPr>
          <p:txBody>
            <a:bodyPr wrap="none">
              <a:spAutoFit/>
            </a:bodyPr>
            <a:lstStyle/>
            <a:p>
              <a:r>
                <a:rPr lang="zh-CN" altLang="en-US" sz="1400" b="1" dirty="0">
                  <a:latin typeface="微软雅黑 Light" panose="020B0502040204020203" pitchFamily="34" charset="-122"/>
                  <a:ea typeface="微软雅黑 Light" panose="020B0502040204020203" pitchFamily="34" charset="-122"/>
                </a:rPr>
                <a:t>发信</a:t>
              </a:r>
              <a:endParaRPr lang="zh-CN" altLang="en-US" sz="1400" dirty="0">
                <a:latin typeface="Montserrat" panose="00000500000000000000" pitchFamily="2" charset="0"/>
                <a:ea typeface="微软雅黑 Light" panose="020B0502040204020203" pitchFamily="34" charset="-122"/>
              </a:endParaRPr>
            </a:p>
          </p:txBody>
        </p:sp>
        <p:sp>
          <p:nvSpPr>
            <p:cNvPr id="31" name="矩形 30"/>
            <p:cNvSpPr/>
            <p:nvPr/>
          </p:nvSpPr>
          <p:spPr>
            <a:xfrm>
              <a:off x="7625585" y="3932598"/>
              <a:ext cx="543739" cy="307777"/>
            </a:xfrm>
            <a:prstGeom prst="rect">
              <a:avLst/>
            </a:prstGeom>
          </p:spPr>
          <p:txBody>
            <a:bodyPr wrap="none">
              <a:spAutoFit/>
            </a:bodyPr>
            <a:lstStyle/>
            <a:p>
              <a:r>
                <a:rPr lang="zh-CN" altLang="en-US" sz="1400" b="1" dirty="0">
                  <a:latin typeface="微软雅黑 Light" panose="020B0502040204020203" pitchFamily="34" charset="-122"/>
                  <a:ea typeface="微软雅黑 Light" panose="020B0502040204020203" pitchFamily="34" charset="-122"/>
                </a:rPr>
                <a:t>读取</a:t>
              </a:r>
              <a:endParaRPr lang="zh-CN" altLang="en-US" sz="1400" dirty="0">
                <a:latin typeface="Montserrat" panose="00000500000000000000" pitchFamily="2" charset="0"/>
                <a:ea typeface="微软雅黑 Light" panose="020B0502040204020203" pitchFamily="34" charset="-122"/>
              </a:endParaRPr>
            </a:p>
          </p:txBody>
        </p:sp>
      </p:grpSp>
    </p:spTree>
    <p:extLst>
      <p:ext uri="{BB962C8B-B14F-4D97-AF65-F5344CB8AC3E}">
        <p14:creationId xmlns:p14="http://schemas.microsoft.com/office/powerpoint/2010/main" val="38677598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1000"/>
                                        <p:tgtEl>
                                          <p:spTgt spid="16"/>
                                        </p:tgtEl>
                                      </p:cBhvr>
                                    </p:animEffect>
                                  </p:childTnLst>
                                </p:cTn>
                              </p:par>
                            </p:childTnLst>
                          </p:cTn>
                        </p:par>
                        <p:par>
                          <p:cTn id="8" fill="hold">
                            <p:stCondLst>
                              <p:cond delay="1000"/>
                            </p:stCondLst>
                            <p:childTnLst>
                              <p:par>
                                <p:cTn id="9" presetID="22" presetClass="entr" presetSubtype="8" fill="hold" nodeType="afterEffect">
                                  <p:stCondLst>
                                    <p:cond delay="0"/>
                                  </p:stCondLst>
                                  <p:childTnLst>
                                    <p:set>
                                      <p:cBhvr>
                                        <p:cTn id="10" dur="1" fill="hold">
                                          <p:stCondLst>
                                            <p:cond delay="0"/>
                                          </p:stCondLst>
                                        </p:cTn>
                                        <p:tgtEl>
                                          <p:spTgt spid="19"/>
                                        </p:tgtEl>
                                        <p:attrNameLst>
                                          <p:attrName>style.visibility</p:attrName>
                                        </p:attrNameLst>
                                      </p:cBhvr>
                                      <p:to>
                                        <p:strVal val="visible"/>
                                      </p:to>
                                    </p:set>
                                    <p:animEffect transition="in" filter="wipe(left)">
                                      <p:cBhvr>
                                        <p:cTn id="11" dur="10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34A7D47-BD77-3411-2C21-496CB4EA0B45}"/>
              </a:ext>
            </a:extLst>
          </p:cNvPr>
          <p:cNvSpPr>
            <a:spLocks noGrp="1"/>
          </p:cNvSpPr>
          <p:nvPr>
            <p:ph type="title"/>
          </p:nvPr>
        </p:nvSpPr>
        <p:spPr>
          <a:xfrm>
            <a:off x="485999" y="174482"/>
            <a:ext cx="8171999" cy="338554"/>
          </a:xfrm>
        </p:spPr>
        <p:txBody>
          <a:bodyPr/>
          <a:lstStyle/>
          <a:p>
            <a:r>
              <a:rPr lang="en-US" altLang="zh-CN" dirty="0"/>
              <a:t>6.5.5  </a:t>
            </a:r>
            <a:r>
              <a:rPr lang="zh-CN" altLang="en-US" dirty="0"/>
              <a:t>基于万维网的电子邮件</a:t>
            </a:r>
          </a:p>
        </p:txBody>
      </p:sp>
      <p:sp>
        <p:nvSpPr>
          <p:cNvPr id="17" name="内容占位符 16">
            <a:extLst>
              <a:ext uri="{FF2B5EF4-FFF2-40B4-BE49-F238E27FC236}">
                <a16:creationId xmlns:a16="http://schemas.microsoft.com/office/drawing/2014/main" id="{2A7414D8-1358-6CD0-9F97-8EDDA7E5F028}"/>
              </a:ext>
            </a:extLst>
          </p:cNvPr>
          <p:cNvSpPr>
            <a:spLocks noGrp="1"/>
          </p:cNvSpPr>
          <p:nvPr>
            <p:ph sz="quarter" idx="11"/>
          </p:nvPr>
        </p:nvSpPr>
        <p:spPr>
          <a:xfrm>
            <a:off x="486000" y="687518"/>
            <a:ext cx="8172000" cy="4079035"/>
          </a:xfrm>
        </p:spPr>
        <p:txBody>
          <a:bodyPr/>
          <a:lstStyle/>
          <a:p>
            <a:r>
              <a:rPr lang="zh-CN" altLang="en-US" dirty="0"/>
              <a:t>发送、接收电子邮件时使用 </a:t>
            </a:r>
            <a:r>
              <a:rPr lang="en-US" altLang="zh-CN" dirty="0"/>
              <a:t>HTTP </a:t>
            </a:r>
            <a:r>
              <a:rPr lang="zh-CN" altLang="en-US" dirty="0"/>
              <a:t>协议</a:t>
            </a:r>
            <a:endParaRPr lang="en-US" altLang="zh-CN" dirty="0"/>
          </a:p>
          <a:p>
            <a:pPr lvl="1"/>
            <a:r>
              <a:rPr lang="zh-CN" altLang="en-US" dirty="0"/>
              <a:t>使用 </a:t>
            </a:r>
            <a:r>
              <a:rPr lang="en-US" altLang="zh-CN" dirty="0"/>
              <a:t>HTTP POST </a:t>
            </a:r>
            <a:r>
              <a:rPr lang="zh-CN" altLang="en-US" dirty="0"/>
              <a:t>方法提交要发送的邮件</a:t>
            </a:r>
          </a:p>
          <a:p>
            <a:pPr lvl="1"/>
            <a:r>
              <a:rPr lang="zh-CN" altLang="en-US" dirty="0"/>
              <a:t>使用 </a:t>
            </a:r>
            <a:r>
              <a:rPr lang="en-US" altLang="zh-CN" dirty="0"/>
              <a:t>HTTP GET </a:t>
            </a:r>
            <a:r>
              <a:rPr lang="zh-CN" altLang="en-US" dirty="0"/>
              <a:t>方法读取邮件</a:t>
            </a:r>
          </a:p>
          <a:p>
            <a:r>
              <a:rPr lang="zh-CN" altLang="en-US" dirty="0"/>
              <a:t>两个邮件服务器之间传送邮件时使用 </a:t>
            </a:r>
            <a:r>
              <a:rPr lang="en-US" altLang="zh-CN" dirty="0"/>
              <a:t>SMTP</a:t>
            </a:r>
            <a:endParaRPr lang="zh-CN" altLang="en-US" dirty="0"/>
          </a:p>
          <a:p>
            <a:endParaRPr lang="zh-CN" altLang="en-US" dirty="0"/>
          </a:p>
        </p:txBody>
      </p:sp>
      <p:sp>
        <p:nvSpPr>
          <p:cNvPr id="33" name="Rectangle 386">
            <a:extLst>
              <a:ext uri="{FF2B5EF4-FFF2-40B4-BE49-F238E27FC236}">
                <a16:creationId xmlns:a16="http://schemas.microsoft.com/office/drawing/2014/main" id="{48076FCE-8A0B-0124-E7D0-F6459B64B565}"/>
              </a:ext>
            </a:extLst>
          </p:cNvPr>
          <p:cNvSpPr>
            <a:spLocks noChangeArrowheads="1"/>
          </p:cNvSpPr>
          <p:nvPr/>
        </p:nvSpPr>
        <p:spPr bwMode="auto">
          <a:xfrm>
            <a:off x="3019580" y="3173543"/>
            <a:ext cx="680437" cy="13465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48" name="Text Box 394">
            <a:extLst>
              <a:ext uri="{FF2B5EF4-FFF2-40B4-BE49-F238E27FC236}">
                <a16:creationId xmlns:a16="http://schemas.microsoft.com/office/drawing/2014/main" id="{CF3BA040-0137-F152-B9AA-AFCBC164361C}"/>
              </a:ext>
            </a:extLst>
          </p:cNvPr>
          <p:cNvSpPr txBox="1">
            <a:spLocks noChangeArrowheads="1"/>
          </p:cNvSpPr>
          <p:nvPr/>
        </p:nvSpPr>
        <p:spPr bwMode="auto">
          <a:xfrm>
            <a:off x="2444538" y="3623601"/>
            <a:ext cx="468397"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latin typeface="Montserrat" panose="00000500000000000000" pitchFamily="2" charset="0"/>
                <a:ea typeface="微软雅黑 Light" panose="020B0502040204020203" pitchFamily="34" charset="-122"/>
              </a:rPr>
              <a:t>TCP</a:t>
            </a:r>
            <a:endParaRPr kumimoji="1" lang="zh-CN" altLang="en-US" sz="1100" dirty="0">
              <a:latin typeface="Montserrat" panose="00000500000000000000" pitchFamily="2" charset="0"/>
              <a:ea typeface="微软雅黑 Light" panose="020B0502040204020203" pitchFamily="34" charset="-122"/>
            </a:endParaRPr>
          </a:p>
        </p:txBody>
      </p:sp>
      <p:sp>
        <p:nvSpPr>
          <p:cNvPr id="49" name="Oval 397">
            <a:extLst>
              <a:ext uri="{FF2B5EF4-FFF2-40B4-BE49-F238E27FC236}">
                <a16:creationId xmlns:a16="http://schemas.microsoft.com/office/drawing/2014/main" id="{A85EFB8D-F31D-18C1-6499-D80B0EAD009D}"/>
              </a:ext>
            </a:extLst>
          </p:cNvPr>
          <p:cNvSpPr>
            <a:spLocks noChangeArrowheads="1"/>
          </p:cNvSpPr>
          <p:nvPr/>
        </p:nvSpPr>
        <p:spPr bwMode="auto">
          <a:xfrm>
            <a:off x="1713742" y="3237429"/>
            <a:ext cx="566615" cy="556545"/>
          </a:xfrm>
          <a:prstGeom prst="rect">
            <a:avLst/>
          </a:prstGeom>
          <a:solidFill>
            <a:srgbClr val="F79646"/>
          </a:solidFill>
          <a:ln w="9525" algn="ctr">
            <a:noFill/>
            <a:round/>
            <a:headEnd/>
            <a:tailEnd/>
          </a:ln>
          <a:effectLst/>
        </p:spPr>
        <p:txBody>
          <a:bodyPr wrap="none" anchor="ctr"/>
          <a:lstStyle/>
          <a:p>
            <a:pPr algn="ctr">
              <a:lnSpc>
                <a:spcPts val="1500"/>
              </a:lnSpc>
            </a:pPr>
            <a:r>
              <a:rPr kumimoji="1" lang="en-US" altLang="zh-CN" sz="1100" dirty="0">
                <a:solidFill>
                  <a:schemeClr val="bg1"/>
                </a:solidFill>
                <a:latin typeface="Montserrat" panose="00000500000000000000" pitchFamily="2" charset="0"/>
                <a:ea typeface="微软雅黑 Light" panose="020B0502040204020203" pitchFamily="34" charset="-122"/>
              </a:rPr>
              <a:t>HTTP</a:t>
            </a:r>
          </a:p>
          <a:p>
            <a:pPr algn="ctr">
              <a:lnSpc>
                <a:spcPts val="1500"/>
              </a:lnSpc>
            </a:pPr>
            <a:r>
              <a:rPr kumimoji="1" lang="en-US" altLang="zh-CN" sz="1100" dirty="0">
                <a:solidFill>
                  <a:schemeClr val="bg1"/>
                </a:solidFill>
                <a:latin typeface="Montserrat" panose="00000500000000000000" pitchFamily="2" charset="0"/>
                <a:ea typeface="微软雅黑 Light" panose="020B0502040204020203" pitchFamily="34" charset="-122"/>
              </a:rPr>
              <a:t>Client</a:t>
            </a:r>
          </a:p>
        </p:txBody>
      </p:sp>
      <p:sp>
        <p:nvSpPr>
          <p:cNvPr id="50" name="Oval 405">
            <a:extLst>
              <a:ext uri="{FF2B5EF4-FFF2-40B4-BE49-F238E27FC236}">
                <a16:creationId xmlns:a16="http://schemas.microsoft.com/office/drawing/2014/main" id="{38BE0912-6D32-E1E0-07C9-A5B7971FF899}"/>
              </a:ext>
            </a:extLst>
          </p:cNvPr>
          <p:cNvSpPr>
            <a:spLocks noChangeArrowheads="1"/>
          </p:cNvSpPr>
          <p:nvPr/>
        </p:nvSpPr>
        <p:spPr bwMode="auto">
          <a:xfrm>
            <a:off x="3077118" y="3237429"/>
            <a:ext cx="566615" cy="556545"/>
          </a:xfrm>
          <a:prstGeom prst="ellipse">
            <a:avLst/>
          </a:prstGeom>
          <a:solidFill>
            <a:srgbClr val="F79646"/>
          </a:solidFill>
          <a:ln w="9525" algn="ctr">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HTTP</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Server</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51" name="Oval 406">
            <a:extLst>
              <a:ext uri="{FF2B5EF4-FFF2-40B4-BE49-F238E27FC236}">
                <a16:creationId xmlns:a16="http://schemas.microsoft.com/office/drawing/2014/main" id="{207B8FAC-CF36-541A-0567-B6A25A9635D9}"/>
              </a:ext>
            </a:extLst>
          </p:cNvPr>
          <p:cNvSpPr>
            <a:spLocks noChangeArrowheads="1"/>
          </p:cNvSpPr>
          <p:nvPr/>
        </p:nvSpPr>
        <p:spPr bwMode="auto">
          <a:xfrm>
            <a:off x="3077118" y="3850488"/>
            <a:ext cx="566615" cy="556543"/>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SMTP</a:t>
            </a:r>
          </a:p>
          <a:p>
            <a:pPr algn="ctr"/>
            <a:r>
              <a:rPr kumimoji="1" lang="en-US" altLang="zh-CN" sz="1100" dirty="0">
                <a:latin typeface="Montserrat" panose="00000500000000000000" pitchFamily="2" charset="0"/>
                <a:ea typeface="微软雅黑 Light" panose="020B0502040204020203" pitchFamily="34" charset="-122"/>
              </a:rPr>
              <a:t>Client</a:t>
            </a:r>
            <a:endParaRPr kumimoji="1" lang="zh-CN" altLang="en-US" sz="1100" dirty="0">
              <a:latin typeface="Montserrat" panose="00000500000000000000" pitchFamily="2" charset="0"/>
              <a:ea typeface="微软雅黑 Light" panose="020B0502040204020203" pitchFamily="34" charset="-122"/>
            </a:endParaRPr>
          </a:p>
        </p:txBody>
      </p:sp>
      <p:sp>
        <p:nvSpPr>
          <p:cNvPr id="52" name="Text Box 399">
            <a:extLst>
              <a:ext uri="{FF2B5EF4-FFF2-40B4-BE49-F238E27FC236}">
                <a16:creationId xmlns:a16="http://schemas.microsoft.com/office/drawing/2014/main" id="{E7CE8B0A-B021-C793-E7DD-F157FD908391}"/>
              </a:ext>
            </a:extLst>
          </p:cNvPr>
          <p:cNvSpPr txBox="1">
            <a:spLocks noChangeArrowheads="1"/>
          </p:cNvSpPr>
          <p:nvPr/>
        </p:nvSpPr>
        <p:spPr bwMode="auto">
          <a:xfrm>
            <a:off x="729032" y="2804587"/>
            <a:ext cx="607859"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发件人</a:t>
            </a:r>
          </a:p>
        </p:txBody>
      </p:sp>
      <p:graphicFrame>
        <p:nvGraphicFramePr>
          <p:cNvPr id="53" name="对象 52">
            <a:extLst>
              <a:ext uri="{FF2B5EF4-FFF2-40B4-BE49-F238E27FC236}">
                <a16:creationId xmlns:a16="http://schemas.microsoft.com/office/drawing/2014/main" id="{D7C42B2C-5283-D263-9C8F-E9E937BBD504}"/>
              </a:ext>
            </a:extLst>
          </p:cNvPr>
          <p:cNvGraphicFramePr>
            <a:graphicFrameLocks noChangeAspect="1"/>
          </p:cNvGraphicFramePr>
          <p:nvPr>
            <p:extLst>
              <p:ext uri="{D42A27DB-BD31-4B8C-83A1-F6EECF244321}">
                <p14:modId xmlns:p14="http://schemas.microsoft.com/office/powerpoint/2010/main" val="3258161961"/>
              </p:ext>
            </p:extLst>
          </p:nvPr>
        </p:nvGraphicFramePr>
        <p:xfrm>
          <a:off x="875180" y="3213529"/>
          <a:ext cx="546759" cy="666388"/>
        </p:xfrm>
        <a:graphic>
          <a:graphicData uri="http://schemas.openxmlformats.org/presentationml/2006/ole">
            <mc:AlternateContent xmlns:mc="http://schemas.openxmlformats.org/markup-compatibility/2006">
              <mc:Choice xmlns:v="urn:schemas-microsoft-com:vml" Requires="v">
                <p:oleObj name="Visio" r:id="rId2" imgW="3561172" imgH="4347469" progId="">
                  <p:embed/>
                </p:oleObj>
              </mc:Choice>
              <mc:Fallback>
                <p:oleObj name="Visio" r:id="rId2" imgW="3561172" imgH="4347469" progId="">
                  <p:embed/>
                  <p:pic>
                    <p:nvPicPr>
                      <p:cNvPr id="50" name="对象 49">
                        <a:extLst>
                          <a:ext uri="{FF2B5EF4-FFF2-40B4-BE49-F238E27FC236}">
                            <a16:creationId xmlns:a16="http://schemas.microsoft.com/office/drawing/2014/main" id="{5EEA4974-A1EF-15D1-6D48-7BD2C9BC51F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l="5348" t="4167" r="4546" b="11185"/>
                      <a:stretch>
                        <a:fillRect/>
                      </a:stretch>
                    </p:blipFill>
                    <p:spPr bwMode="auto">
                      <a:xfrm>
                        <a:off x="875180" y="3213529"/>
                        <a:ext cx="546759"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55" name="Text Box 395">
            <a:extLst>
              <a:ext uri="{FF2B5EF4-FFF2-40B4-BE49-F238E27FC236}">
                <a16:creationId xmlns:a16="http://schemas.microsoft.com/office/drawing/2014/main" id="{3DB0435A-F3B1-8721-0888-7EE063F6205D}"/>
              </a:ext>
            </a:extLst>
          </p:cNvPr>
          <p:cNvSpPr txBox="1">
            <a:spLocks noChangeArrowheads="1"/>
          </p:cNvSpPr>
          <p:nvPr/>
        </p:nvSpPr>
        <p:spPr bwMode="auto">
          <a:xfrm>
            <a:off x="6261506" y="3623601"/>
            <a:ext cx="468397"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latin typeface="Montserrat" panose="00000500000000000000" pitchFamily="2" charset="0"/>
                <a:ea typeface="微软雅黑 Light" panose="020B0502040204020203" pitchFamily="34" charset="-122"/>
              </a:rPr>
              <a:t>TCP</a:t>
            </a:r>
            <a:endParaRPr kumimoji="1" lang="zh-CN" altLang="en-US" sz="1100" dirty="0">
              <a:latin typeface="Montserrat" panose="00000500000000000000" pitchFamily="2" charset="0"/>
              <a:ea typeface="微软雅黑 Light" panose="020B0502040204020203" pitchFamily="34" charset="-122"/>
            </a:endParaRPr>
          </a:p>
        </p:txBody>
      </p:sp>
      <p:sp>
        <p:nvSpPr>
          <p:cNvPr id="56" name="Oval 398">
            <a:extLst>
              <a:ext uri="{FF2B5EF4-FFF2-40B4-BE49-F238E27FC236}">
                <a16:creationId xmlns:a16="http://schemas.microsoft.com/office/drawing/2014/main" id="{E065DCA8-F8A1-35A6-DAD2-5610C32ABCEF}"/>
              </a:ext>
            </a:extLst>
          </p:cNvPr>
          <p:cNvSpPr>
            <a:spLocks noChangeArrowheads="1"/>
          </p:cNvSpPr>
          <p:nvPr/>
        </p:nvSpPr>
        <p:spPr bwMode="auto">
          <a:xfrm>
            <a:off x="6892210" y="3237429"/>
            <a:ext cx="566614" cy="556545"/>
          </a:xfrm>
          <a:prstGeom prst="rect">
            <a:avLst/>
          </a:prstGeom>
          <a:solidFill>
            <a:srgbClr val="F79646"/>
          </a:solidFill>
          <a:ln w="9525">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HTTP</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Client</a:t>
            </a:r>
          </a:p>
        </p:txBody>
      </p:sp>
      <p:sp>
        <p:nvSpPr>
          <p:cNvPr id="57" name="Rectangle 401">
            <a:extLst>
              <a:ext uri="{FF2B5EF4-FFF2-40B4-BE49-F238E27FC236}">
                <a16:creationId xmlns:a16="http://schemas.microsoft.com/office/drawing/2014/main" id="{12F91D4A-3EFA-9E51-C089-1D8884C5E811}"/>
              </a:ext>
            </a:extLst>
          </p:cNvPr>
          <p:cNvSpPr>
            <a:spLocks noChangeArrowheads="1"/>
          </p:cNvSpPr>
          <p:nvPr/>
        </p:nvSpPr>
        <p:spPr bwMode="auto">
          <a:xfrm>
            <a:off x="5475048" y="3182144"/>
            <a:ext cx="680437" cy="13379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58" name="Oval 402">
            <a:extLst>
              <a:ext uri="{FF2B5EF4-FFF2-40B4-BE49-F238E27FC236}">
                <a16:creationId xmlns:a16="http://schemas.microsoft.com/office/drawing/2014/main" id="{87C76949-D1D3-D4EA-D3C7-4D19F0B810B8}"/>
              </a:ext>
            </a:extLst>
          </p:cNvPr>
          <p:cNvSpPr>
            <a:spLocks noChangeArrowheads="1"/>
          </p:cNvSpPr>
          <p:nvPr/>
        </p:nvSpPr>
        <p:spPr bwMode="auto">
          <a:xfrm>
            <a:off x="5531335" y="3850488"/>
            <a:ext cx="566614" cy="556543"/>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SMTP</a:t>
            </a:r>
          </a:p>
          <a:p>
            <a:pPr algn="ctr"/>
            <a:r>
              <a:rPr kumimoji="1" lang="en-US" altLang="zh-CN" sz="1100" dirty="0">
                <a:latin typeface="Montserrat" panose="00000500000000000000" pitchFamily="2" charset="0"/>
                <a:ea typeface="微软雅黑 Light" panose="020B0502040204020203" pitchFamily="34" charset="-122"/>
              </a:rPr>
              <a:t>Server</a:t>
            </a:r>
            <a:endParaRPr kumimoji="1" lang="zh-CN" altLang="en-US" sz="1100" dirty="0">
              <a:latin typeface="Montserrat" panose="00000500000000000000" pitchFamily="2" charset="0"/>
              <a:ea typeface="微软雅黑 Light" panose="020B0502040204020203" pitchFamily="34" charset="-122"/>
            </a:endParaRPr>
          </a:p>
        </p:txBody>
      </p:sp>
      <p:sp>
        <p:nvSpPr>
          <p:cNvPr id="59" name="Oval 403">
            <a:extLst>
              <a:ext uri="{FF2B5EF4-FFF2-40B4-BE49-F238E27FC236}">
                <a16:creationId xmlns:a16="http://schemas.microsoft.com/office/drawing/2014/main" id="{CAC97111-FD7F-9498-2DB7-F2C7D911ADFE}"/>
              </a:ext>
            </a:extLst>
          </p:cNvPr>
          <p:cNvSpPr>
            <a:spLocks noChangeArrowheads="1"/>
          </p:cNvSpPr>
          <p:nvPr/>
        </p:nvSpPr>
        <p:spPr bwMode="auto">
          <a:xfrm>
            <a:off x="5531335" y="3237429"/>
            <a:ext cx="566614" cy="556545"/>
          </a:xfrm>
          <a:prstGeom prst="ellipse">
            <a:avLst/>
          </a:prstGeom>
          <a:solidFill>
            <a:srgbClr val="F79646"/>
          </a:solidFill>
          <a:ln w="9525">
            <a:noFill/>
            <a:round/>
            <a:headEnd/>
            <a:tailEnd/>
          </a:ln>
          <a:effectLst/>
        </p:spPr>
        <p:txBody>
          <a:bodyPr wrap="none" anchor="ctr"/>
          <a:lstStyle/>
          <a:p>
            <a:pPr algn="ctr" eaLnBrk="1" hangingPunct="1"/>
            <a:r>
              <a:rPr kumimoji="1" lang="en-US" altLang="zh-CN" sz="1100" dirty="0">
                <a:solidFill>
                  <a:schemeClr val="bg1"/>
                </a:solidFill>
                <a:latin typeface="Montserrat" panose="00000500000000000000" pitchFamily="2" charset="0"/>
                <a:ea typeface="微软雅黑 Light" panose="020B0502040204020203" pitchFamily="34" charset="-122"/>
              </a:rPr>
              <a:t>HTTP</a:t>
            </a:r>
          </a:p>
          <a:p>
            <a:pPr algn="ctr" eaLnBrk="1" hangingPunct="1"/>
            <a:r>
              <a:rPr kumimoji="1" lang="en-US" altLang="zh-CN" sz="1100" dirty="0">
                <a:solidFill>
                  <a:schemeClr val="bg1"/>
                </a:solidFill>
                <a:latin typeface="Montserrat" panose="00000500000000000000" pitchFamily="2" charset="0"/>
                <a:ea typeface="微软雅黑 Light" panose="020B0502040204020203" pitchFamily="34" charset="-122"/>
              </a:rPr>
              <a:t>Server</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graphicFrame>
        <p:nvGraphicFramePr>
          <p:cNvPr id="61" name="对象 60">
            <a:extLst>
              <a:ext uri="{FF2B5EF4-FFF2-40B4-BE49-F238E27FC236}">
                <a16:creationId xmlns:a16="http://schemas.microsoft.com/office/drawing/2014/main" id="{A492BE82-FEE3-7C60-67A9-35A720BD5828}"/>
              </a:ext>
            </a:extLst>
          </p:cNvPr>
          <p:cNvGraphicFramePr>
            <a:graphicFrameLocks noChangeAspect="1"/>
          </p:cNvGraphicFramePr>
          <p:nvPr>
            <p:extLst>
              <p:ext uri="{D42A27DB-BD31-4B8C-83A1-F6EECF244321}">
                <p14:modId xmlns:p14="http://schemas.microsoft.com/office/powerpoint/2010/main" val="668454596"/>
              </p:ext>
            </p:extLst>
          </p:nvPr>
        </p:nvGraphicFramePr>
        <p:xfrm>
          <a:off x="7744964" y="3213529"/>
          <a:ext cx="551626" cy="666388"/>
        </p:xfrm>
        <a:graphic>
          <a:graphicData uri="http://schemas.openxmlformats.org/presentationml/2006/ole">
            <mc:AlternateContent xmlns:mc="http://schemas.openxmlformats.org/markup-compatibility/2006">
              <mc:Choice xmlns:v="urn:schemas-microsoft-com:vml" Requires="v">
                <p:oleObj name="Visio" r:id="rId4" imgW="3561172" imgH="4347469" progId="">
                  <p:embed/>
                </p:oleObj>
              </mc:Choice>
              <mc:Fallback>
                <p:oleObj name="Visio" r:id="rId4" imgW="3561172" imgH="4347469" progId="">
                  <p:embed/>
                  <p:pic>
                    <p:nvPicPr>
                      <p:cNvPr id="58" name="对象 57">
                        <a:extLst>
                          <a:ext uri="{FF2B5EF4-FFF2-40B4-BE49-F238E27FC236}">
                            <a16:creationId xmlns:a16="http://schemas.microsoft.com/office/drawing/2014/main" id="{B750695B-E0D5-E338-8E99-7C2EA6B2CF1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l="4546" t="3947" r="4546" b="11403"/>
                      <a:stretch>
                        <a:fillRect/>
                      </a:stretch>
                    </p:blipFill>
                    <p:spPr bwMode="auto">
                      <a:xfrm>
                        <a:off x="7744964" y="3213529"/>
                        <a:ext cx="551626"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62" name="Text Box 399">
            <a:extLst>
              <a:ext uri="{FF2B5EF4-FFF2-40B4-BE49-F238E27FC236}">
                <a16:creationId xmlns:a16="http://schemas.microsoft.com/office/drawing/2014/main" id="{3B787FE2-64E8-D3E7-671E-258D63B3190F}"/>
              </a:ext>
            </a:extLst>
          </p:cNvPr>
          <p:cNvSpPr txBox="1">
            <a:spLocks noChangeArrowheads="1"/>
          </p:cNvSpPr>
          <p:nvPr/>
        </p:nvSpPr>
        <p:spPr bwMode="auto">
          <a:xfrm>
            <a:off x="7815300" y="2804587"/>
            <a:ext cx="607859"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收件人</a:t>
            </a:r>
          </a:p>
        </p:txBody>
      </p:sp>
      <p:sp>
        <p:nvSpPr>
          <p:cNvPr id="64" name="Text Box 409">
            <a:extLst>
              <a:ext uri="{FF2B5EF4-FFF2-40B4-BE49-F238E27FC236}">
                <a16:creationId xmlns:a16="http://schemas.microsoft.com/office/drawing/2014/main" id="{F86F0DD2-B2DC-C33B-7E0F-2220E287E5C6}"/>
              </a:ext>
            </a:extLst>
          </p:cNvPr>
          <p:cNvSpPr txBox="1">
            <a:spLocks noChangeArrowheads="1"/>
          </p:cNvSpPr>
          <p:nvPr/>
        </p:nvSpPr>
        <p:spPr bwMode="auto">
          <a:xfrm>
            <a:off x="4340510" y="4146573"/>
            <a:ext cx="494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TCP</a:t>
            </a:r>
            <a:endParaRPr kumimoji="1" lang="zh-CN" altLang="en-US" sz="1200" dirty="0">
              <a:latin typeface="Montserrat" panose="00000500000000000000" pitchFamily="2" charset="0"/>
              <a:ea typeface="微软雅黑 Light" panose="020B0502040204020203" pitchFamily="34" charset="-122"/>
            </a:endParaRPr>
          </a:p>
        </p:txBody>
      </p:sp>
      <p:sp>
        <p:nvSpPr>
          <p:cNvPr id="65" name="圆角矩形 418">
            <a:extLst>
              <a:ext uri="{FF2B5EF4-FFF2-40B4-BE49-F238E27FC236}">
                <a16:creationId xmlns:a16="http://schemas.microsoft.com/office/drawing/2014/main" id="{A585032B-4BD2-B9E7-8252-B25619018B46}"/>
              </a:ext>
            </a:extLst>
          </p:cNvPr>
          <p:cNvSpPr/>
          <p:nvPr/>
        </p:nvSpPr>
        <p:spPr>
          <a:xfrm>
            <a:off x="1484031" y="2603548"/>
            <a:ext cx="6194639" cy="2126256"/>
          </a:xfrm>
          <a:prstGeom prst="roundRect">
            <a:avLst>
              <a:gd name="adj" fmla="val 7039"/>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6" name="Text Box 389">
            <a:extLst>
              <a:ext uri="{FF2B5EF4-FFF2-40B4-BE49-F238E27FC236}">
                <a16:creationId xmlns:a16="http://schemas.microsoft.com/office/drawing/2014/main" id="{9416A58B-78F7-7855-AD86-C86FB68F54AF}"/>
              </a:ext>
            </a:extLst>
          </p:cNvPr>
          <p:cNvSpPr txBox="1">
            <a:spLocks noChangeArrowheads="1"/>
          </p:cNvSpPr>
          <p:nvPr/>
        </p:nvSpPr>
        <p:spPr bwMode="auto">
          <a:xfrm>
            <a:off x="2392442" y="3054875"/>
            <a:ext cx="572593" cy="463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HTTP</a:t>
            </a:r>
          </a:p>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POST</a:t>
            </a:r>
          </a:p>
        </p:txBody>
      </p:sp>
      <p:sp>
        <p:nvSpPr>
          <p:cNvPr id="67" name="Text Box 396">
            <a:extLst>
              <a:ext uri="{FF2B5EF4-FFF2-40B4-BE49-F238E27FC236}">
                <a16:creationId xmlns:a16="http://schemas.microsoft.com/office/drawing/2014/main" id="{E256A154-1322-4B3D-7D95-D1BA65883678}"/>
              </a:ext>
            </a:extLst>
          </p:cNvPr>
          <p:cNvSpPr txBox="1">
            <a:spLocks noChangeArrowheads="1"/>
          </p:cNvSpPr>
          <p:nvPr/>
        </p:nvSpPr>
        <p:spPr bwMode="auto">
          <a:xfrm>
            <a:off x="2964326" y="2804587"/>
            <a:ext cx="797014"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latin typeface="Montserrat" panose="00000500000000000000" pitchFamily="2" charset="0"/>
                <a:ea typeface="微软雅黑 Light" panose="020B0502040204020203" pitchFamily="34" charset="-122"/>
              </a:rPr>
              <a:t>Site ABC</a:t>
            </a:r>
            <a:endParaRPr kumimoji="1" lang="zh-CN" altLang="en-US" sz="1100" dirty="0">
              <a:latin typeface="Montserrat" panose="00000500000000000000" pitchFamily="2" charset="0"/>
              <a:ea typeface="微软雅黑 Light" panose="020B0502040204020203" pitchFamily="34" charset="-122"/>
            </a:endParaRPr>
          </a:p>
        </p:txBody>
      </p:sp>
      <p:sp>
        <p:nvSpPr>
          <p:cNvPr id="69" name="Text Box 390">
            <a:extLst>
              <a:ext uri="{FF2B5EF4-FFF2-40B4-BE49-F238E27FC236}">
                <a16:creationId xmlns:a16="http://schemas.microsoft.com/office/drawing/2014/main" id="{22DFD8DD-55BF-FE83-5F7A-C953B21F4B18}"/>
              </a:ext>
            </a:extLst>
          </p:cNvPr>
          <p:cNvSpPr txBox="1">
            <a:spLocks noChangeArrowheads="1"/>
          </p:cNvSpPr>
          <p:nvPr/>
        </p:nvSpPr>
        <p:spPr bwMode="auto">
          <a:xfrm>
            <a:off x="6213416" y="3054875"/>
            <a:ext cx="564578" cy="463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HTTP</a:t>
            </a:r>
          </a:p>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GET</a:t>
            </a:r>
          </a:p>
        </p:txBody>
      </p:sp>
      <p:sp>
        <p:nvSpPr>
          <p:cNvPr id="70" name="Text Box 400">
            <a:extLst>
              <a:ext uri="{FF2B5EF4-FFF2-40B4-BE49-F238E27FC236}">
                <a16:creationId xmlns:a16="http://schemas.microsoft.com/office/drawing/2014/main" id="{3F571DC9-DBCC-B223-4B24-6870A1C6F88E}"/>
              </a:ext>
            </a:extLst>
          </p:cNvPr>
          <p:cNvSpPr txBox="1">
            <a:spLocks noChangeArrowheads="1"/>
          </p:cNvSpPr>
          <p:nvPr/>
        </p:nvSpPr>
        <p:spPr bwMode="auto">
          <a:xfrm>
            <a:off x="5424595" y="2804587"/>
            <a:ext cx="763351"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latin typeface="Montserrat" panose="00000500000000000000" pitchFamily="2" charset="0"/>
                <a:ea typeface="微软雅黑 Light" panose="020B0502040204020203" pitchFamily="34" charset="-122"/>
              </a:rPr>
              <a:t>Site XYZ</a:t>
            </a:r>
            <a:endParaRPr kumimoji="1" lang="zh-CN" altLang="en-US" sz="1100" dirty="0">
              <a:latin typeface="Montserrat" panose="00000500000000000000" pitchFamily="2" charset="0"/>
              <a:ea typeface="微软雅黑 Light" panose="020B0502040204020203" pitchFamily="34" charset="-122"/>
            </a:endParaRPr>
          </a:p>
        </p:txBody>
      </p:sp>
      <p:sp>
        <p:nvSpPr>
          <p:cNvPr id="72" name="Text Box 392">
            <a:extLst>
              <a:ext uri="{FF2B5EF4-FFF2-40B4-BE49-F238E27FC236}">
                <a16:creationId xmlns:a16="http://schemas.microsoft.com/office/drawing/2014/main" id="{C1C8C4AE-E53B-CA97-9E66-A74572635200}"/>
              </a:ext>
            </a:extLst>
          </p:cNvPr>
          <p:cNvSpPr txBox="1">
            <a:spLocks noChangeArrowheads="1"/>
          </p:cNvSpPr>
          <p:nvPr/>
        </p:nvSpPr>
        <p:spPr bwMode="auto">
          <a:xfrm>
            <a:off x="4254748" y="3849259"/>
            <a:ext cx="6655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SMTP</a:t>
            </a:r>
          </a:p>
        </p:txBody>
      </p:sp>
      <p:cxnSp>
        <p:nvCxnSpPr>
          <p:cNvPr id="74" name="直接箭头连接符 73">
            <a:extLst>
              <a:ext uri="{FF2B5EF4-FFF2-40B4-BE49-F238E27FC236}">
                <a16:creationId xmlns:a16="http://schemas.microsoft.com/office/drawing/2014/main" id="{ED70FBF7-C23D-E3F8-F4C6-2C5077067B28}"/>
              </a:ext>
            </a:extLst>
          </p:cNvPr>
          <p:cNvCxnSpPr>
            <a:stCxn id="59" idx="6"/>
            <a:endCxn id="56" idx="1"/>
          </p:cNvCxnSpPr>
          <p:nvPr/>
        </p:nvCxnSpPr>
        <p:spPr>
          <a:xfrm>
            <a:off x="6097949" y="3515702"/>
            <a:ext cx="794261" cy="0"/>
          </a:xfrm>
          <a:prstGeom prst="straightConnector1">
            <a:avLst/>
          </a:prstGeom>
          <a:noFill/>
          <a:ln w="38100">
            <a:solidFill>
              <a:srgbClr val="F7964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76" name="直接箭头连接符 75">
            <a:extLst>
              <a:ext uri="{FF2B5EF4-FFF2-40B4-BE49-F238E27FC236}">
                <a16:creationId xmlns:a16="http://schemas.microsoft.com/office/drawing/2014/main" id="{38497CB8-F52F-86FB-F45B-A55EFDF35B09}"/>
              </a:ext>
            </a:extLst>
          </p:cNvPr>
          <p:cNvCxnSpPr>
            <a:stCxn id="49" idx="3"/>
            <a:endCxn id="50" idx="2"/>
          </p:cNvCxnSpPr>
          <p:nvPr/>
        </p:nvCxnSpPr>
        <p:spPr>
          <a:xfrm>
            <a:off x="2280357" y="3515702"/>
            <a:ext cx="796761" cy="0"/>
          </a:xfrm>
          <a:prstGeom prst="straightConnector1">
            <a:avLst/>
          </a:prstGeom>
          <a:noFill/>
          <a:ln w="38100">
            <a:solidFill>
              <a:srgbClr val="F7964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78" name="直接箭头连接符 77">
            <a:extLst>
              <a:ext uri="{FF2B5EF4-FFF2-40B4-BE49-F238E27FC236}">
                <a16:creationId xmlns:a16="http://schemas.microsoft.com/office/drawing/2014/main" id="{82D41C92-EDD3-1E41-CDF1-CF8F3D4E498E}"/>
              </a:ext>
            </a:extLst>
          </p:cNvPr>
          <p:cNvCxnSpPr>
            <a:stCxn id="51" idx="6"/>
            <a:endCxn id="58" idx="2"/>
          </p:cNvCxnSpPr>
          <p:nvPr/>
        </p:nvCxnSpPr>
        <p:spPr>
          <a:xfrm>
            <a:off x="3643733" y="4128760"/>
            <a:ext cx="1887602" cy="0"/>
          </a:xfrm>
          <a:prstGeom prst="straightConnector1">
            <a:avLst/>
          </a:prstGeom>
          <a:noFill/>
          <a:ln w="38100">
            <a:solidFill>
              <a:schemeClr val="tx1">
                <a:lumMod val="50000"/>
                <a:lumOff val="50000"/>
              </a:schemeClr>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Tree>
    <p:extLst>
      <p:ext uri="{BB962C8B-B14F-4D97-AF65-F5344CB8AC3E}">
        <p14:creationId xmlns:p14="http://schemas.microsoft.com/office/powerpoint/2010/main" val="32633427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6B7D7E1C-6E2D-CAE0-5395-8499B0575A30}"/>
              </a:ext>
            </a:extLst>
          </p:cNvPr>
          <p:cNvSpPr>
            <a:spLocks noGrp="1"/>
          </p:cNvSpPr>
          <p:nvPr>
            <p:ph type="title"/>
          </p:nvPr>
        </p:nvSpPr>
        <p:spPr>
          <a:xfrm>
            <a:off x="485999" y="174482"/>
            <a:ext cx="8171999" cy="338554"/>
          </a:xfrm>
        </p:spPr>
        <p:txBody>
          <a:bodyPr/>
          <a:lstStyle/>
          <a:p>
            <a:r>
              <a:rPr lang="en-US" altLang="zh-CN" dirty="0"/>
              <a:t>6.5.5  </a:t>
            </a:r>
            <a:r>
              <a:rPr lang="zh-CN" altLang="en-US" dirty="0"/>
              <a:t>基于万维网的电子邮件</a:t>
            </a:r>
          </a:p>
        </p:txBody>
      </p:sp>
      <p:sp>
        <p:nvSpPr>
          <p:cNvPr id="5" name="内容占位符 4">
            <a:extLst>
              <a:ext uri="{FF2B5EF4-FFF2-40B4-BE49-F238E27FC236}">
                <a16:creationId xmlns:a16="http://schemas.microsoft.com/office/drawing/2014/main" id="{39B2F35C-B942-60B1-B75A-AF82CA684F22}"/>
              </a:ext>
            </a:extLst>
          </p:cNvPr>
          <p:cNvSpPr>
            <a:spLocks noGrp="1"/>
          </p:cNvSpPr>
          <p:nvPr>
            <p:ph sz="quarter" idx="11"/>
          </p:nvPr>
        </p:nvSpPr>
        <p:spPr>
          <a:xfrm>
            <a:off x="486000" y="687518"/>
            <a:ext cx="8172000" cy="4079035"/>
          </a:xfrm>
        </p:spPr>
        <p:txBody>
          <a:bodyPr/>
          <a:lstStyle/>
          <a:p>
            <a:r>
              <a:rPr lang="zh-CN" altLang="en-US" dirty="0"/>
              <a:t>用户代理 </a:t>
            </a:r>
            <a:r>
              <a:rPr lang="en-US" altLang="zh-CN" dirty="0"/>
              <a:t>UA </a:t>
            </a:r>
            <a:r>
              <a:rPr lang="zh-CN" altLang="en-US" dirty="0"/>
              <a:t>的缺点：</a:t>
            </a:r>
          </a:p>
          <a:p>
            <a:pPr lvl="1"/>
            <a:r>
              <a:rPr lang="zh-CN" altLang="en-US" dirty="0"/>
              <a:t>必须在计算机中安装用户代理软件</a:t>
            </a:r>
            <a:endParaRPr lang="en-US" altLang="zh-CN" dirty="0"/>
          </a:p>
          <a:p>
            <a:pPr lvl="1"/>
            <a:r>
              <a:rPr lang="zh-CN" altLang="en-US" dirty="0"/>
              <a:t>收发邮件不方便</a:t>
            </a:r>
            <a:endParaRPr lang="en-US" altLang="zh-CN" dirty="0"/>
          </a:p>
          <a:p>
            <a:r>
              <a:rPr lang="zh-CN" altLang="en-US" dirty="0"/>
              <a:t>万维网电子邮件优点：</a:t>
            </a:r>
          </a:p>
          <a:p>
            <a:pPr lvl="1"/>
            <a:r>
              <a:rPr lang="zh-CN" altLang="en-US" dirty="0"/>
              <a:t>不需要在计算机中再安装用户代理软件</a:t>
            </a:r>
          </a:p>
          <a:p>
            <a:pPr lvl="1"/>
            <a:r>
              <a:rPr lang="zh-CN" altLang="en-US" dirty="0"/>
              <a:t>计算机能联网，就能非常方便地收发电子邮件</a:t>
            </a:r>
          </a:p>
          <a:p>
            <a:pPr lvl="1"/>
            <a:r>
              <a:rPr lang="zh-CN" altLang="en-US" dirty="0"/>
              <a:t>界面非常友好</a:t>
            </a:r>
          </a:p>
          <a:p>
            <a:endParaRPr lang="en-US" altLang="zh-CN" dirty="0"/>
          </a:p>
          <a:p>
            <a:endParaRPr lang="zh-CN" altLang="en-US" dirty="0"/>
          </a:p>
        </p:txBody>
      </p:sp>
    </p:spTree>
    <p:extLst>
      <p:ext uri="{BB962C8B-B14F-4D97-AF65-F5344CB8AC3E}">
        <p14:creationId xmlns:p14="http://schemas.microsoft.com/office/powerpoint/2010/main" val="27106614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AAD5012B-BB38-66F4-5D67-A7B343F283B5}"/>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a:t>
            </a:r>
            <a:endParaRPr lang="zh-CN" altLang="en-US" dirty="0"/>
          </a:p>
        </p:txBody>
      </p:sp>
      <p:sp>
        <p:nvSpPr>
          <p:cNvPr id="31" name="内容占位符 30">
            <a:extLst>
              <a:ext uri="{FF2B5EF4-FFF2-40B4-BE49-F238E27FC236}">
                <a16:creationId xmlns:a16="http://schemas.microsoft.com/office/drawing/2014/main" id="{B38EE9BE-42B2-2360-FFA3-BBB5D4D5CE63}"/>
              </a:ext>
            </a:extLst>
          </p:cNvPr>
          <p:cNvSpPr>
            <a:spLocks noGrp="1"/>
          </p:cNvSpPr>
          <p:nvPr>
            <p:ph sz="quarter" idx="11"/>
          </p:nvPr>
        </p:nvSpPr>
        <p:spPr/>
        <p:txBody>
          <a:bodyPr/>
          <a:lstStyle/>
          <a:p>
            <a:endParaRPr lang="zh-CN" altLang="en-US" dirty="0"/>
          </a:p>
        </p:txBody>
      </p:sp>
      <p:sp>
        <p:nvSpPr>
          <p:cNvPr id="11" name="Text Box 3"/>
          <p:cNvSpPr txBox="1">
            <a:spLocks noChangeArrowheads="1"/>
          </p:cNvSpPr>
          <p:nvPr/>
        </p:nvSpPr>
        <p:spPr bwMode="auto">
          <a:xfrm>
            <a:off x="1985864" y="2717655"/>
            <a:ext cx="98135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rgbClr val="F79646"/>
                </a:solidFill>
                <a:latin typeface="Montserrat" panose="00000500000000000000" pitchFamily="2" charset="0"/>
                <a:ea typeface="微软雅黑 Light" panose="020B0502040204020203" pitchFamily="34" charset="-122"/>
              </a:rPr>
              <a:t>非 </a:t>
            </a:r>
            <a:r>
              <a:rPr kumimoji="1" lang="en-US" altLang="zh-CN" sz="1200" b="1" dirty="0">
                <a:solidFill>
                  <a:srgbClr val="F79646"/>
                </a:solidFill>
                <a:latin typeface="Montserrat" panose="00000500000000000000" pitchFamily="2" charset="0"/>
                <a:ea typeface="微软雅黑 Light" panose="020B0502040204020203" pitchFamily="34" charset="-122"/>
              </a:rPr>
              <a:t>ASCII </a:t>
            </a:r>
            <a:r>
              <a:rPr kumimoji="1" lang="zh-CN" altLang="en-US" sz="1200" b="1" dirty="0">
                <a:solidFill>
                  <a:srgbClr val="F79646"/>
                </a:solidFill>
                <a:latin typeface="Montserrat" panose="00000500000000000000" pitchFamily="2" charset="0"/>
                <a:ea typeface="微软雅黑 Light" panose="020B0502040204020203" pitchFamily="34" charset="-122"/>
              </a:rPr>
              <a:t>码</a:t>
            </a:r>
          </a:p>
        </p:txBody>
      </p:sp>
      <p:sp>
        <p:nvSpPr>
          <p:cNvPr id="12" name="Text Box 4"/>
          <p:cNvSpPr txBox="1">
            <a:spLocks noChangeArrowheads="1"/>
          </p:cNvSpPr>
          <p:nvPr/>
        </p:nvSpPr>
        <p:spPr bwMode="auto">
          <a:xfrm>
            <a:off x="1985864" y="3721754"/>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latin typeface="Montserrat" panose="00000500000000000000" pitchFamily="2" charset="0"/>
                <a:ea typeface="微软雅黑 Light" panose="020B0502040204020203" pitchFamily="34" charset="-122"/>
              </a:rPr>
              <a:t>ASCII </a:t>
            </a:r>
            <a:r>
              <a:rPr kumimoji="1" lang="zh-CN" altLang="en-US" sz="1200" dirty="0">
                <a:latin typeface="Montserrat" panose="00000500000000000000" pitchFamily="2" charset="0"/>
                <a:ea typeface="微软雅黑 Light" panose="020B0502040204020203" pitchFamily="34" charset="-122"/>
              </a:rPr>
              <a:t>码</a:t>
            </a:r>
          </a:p>
        </p:txBody>
      </p:sp>
      <p:sp>
        <p:nvSpPr>
          <p:cNvPr id="13" name="Rectangle 5"/>
          <p:cNvSpPr>
            <a:spLocks noChangeArrowheads="1"/>
          </p:cNvSpPr>
          <p:nvPr/>
        </p:nvSpPr>
        <p:spPr bwMode="auto">
          <a:xfrm>
            <a:off x="1478458" y="3104829"/>
            <a:ext cx="1016176" cy="399938"/>
          </a:xfrm>
          <a:prstGeom prst="rect">
            <a:avLst/>
          </a:prstGeom>
          <a:solidFill>
            <a:srgbClr val="F79646"/>
          </a:solidFill>
          <a:ln w="9525">
            <a:noFill/>
            <a:miter lim="800000"/>
            <a:headEnd/>
            <a:tailEnd/>
          </a:ln>
          <a:effectLst/>
        </p:spPr>
        <p:txBody>
          <a:bodyPr wrap="none" anchor="ctr"/>
          <a:lstStyle/>
          <a:p>
            <a:pPr algn="ctr" eaLnBrk="1" hangingPunct="1"/>
            <a:r>
              <a:rPr kumimoji="1" lang="en-US" altLang="zh-CN" sz="1200" dirty="0">
                <a:ln w="12700">
                  <a:solidFill>
                    <a:schemeClr val="bg1"/>
                  </a:solidFill>
                  <a:prstDash val="solid"/>
                </a:ln>
                <a:solidFill>
                  <a:schemeClr val="bg1"/>
                </a:solidFill>
                <a:latin typeface="Montserrat" panose="00000500000000000000" pitchFamily="2" charset="0"/>
                <a:ea typeface="微软雅黑 Light" panose="020B0502040204020203" pitchFamily="34" charset="-122"/>
              </a:rPr>
              <a:t>MIME</a:t>
            </a:r>
          </a:p>
        </p:txBody>
      </p:sp>
      <p:sp>
        <p:nvSpPr>
          <p:cNvPr id="14" name="Rectangle 6"/>
          <p:cNvSpPr>
            <a:spLocks noChangeArrowheads="1"/>
          </p:cNvSpPr>
          <p:nvPr/>
        </p:nvSpPr>
        <p:spPr bwMode="auto">
          <a:xfrm>
            <a:off x="1478458" y="4224868"/>
            <a:ext cx="1016176" cy="399938"/>
          </a:xfrm>
          <a:prstGeom prst="rect">
            <a:avLst/>
          </a:prstGeom>
          <a:solidFill>
            <a:schemeClr val="bg1">
              <a:lumMod val="95000"/>
            </a:schemeClr>
          </a:solidFill>
          <a:ln w="9525">
            <a:noFill/>
            <a:miter lim="800000"/>
            <a:headEnd/>
            <a:tailEnd/>
          </a:ln>
          <a:effectLst/>
        </p:spPr>
        <p:txBody>
          <a:bodyPr wrap="none" anchor="ctr"/>
          <a:lstStyle/>
          <a:p>
            <a:pPr algn="ctr" eaLnBrk="1" hangingPunct="1"/>
            <a:r>
              <a:rPr kumimoji="1" lang="en-US" altLang="zh-CN" sz="1200" dirty="0">
                <a:latin typeface="Montserrat" panose="00000500000000000000" pitchFamily="2" charset="0"/>
                <a:ea typeface="微软雅黑 Light" panose="020B0502040204020203" pitchFamily="34" charset="-122"/>
              </a:rPr>
              <a:t>SMTP</a:t>
            </a:r>
          </a:p>
        </p:txBody>
      </p:sp>
      <p:sp>
        <p:nvSpPr>
          <p:cNvPr id="15" name="Rectangle 7"/>
          <p:cNvSpPr>
            <a:spLocks noChangeArrowheads="1"/>
          </p:cNvSpPr>
          <p:nvPr/>
        </p:nvSpPr>
        <p:spPr bwMode="auto">
          <a:xfrm>
            <a:off x="6649366" y="3104829"/>
            <a:ext cx="1016177" cy="399938"/>
          </a:xfrm>
          <a:prstGeom prst="rect">
            <a:avLst/>
          </a:prstGeom>
          <a:solidFill>
            <a:srgbClr val="F79646"/>
          </a:solidFill>
          <a:ln w="9525">
            <a:noFill/>
            <a:miter lim="800000"/>
            <a:headEnd/>
            <a:tailEnd/>
          </a:ln>
          <a:effectLst/>
        </p:spPr>
        <p:txBody>
          <a:bodyPr wrap="none" anchor="ctr"/>
          <a:lstStyle/>
          <a:p>
            <a:pPr algn="ctr" eaLnBrk="1" hangingPunct="1"/>
            <a:r>
              <a:rPr kumimoji="1" lang="en-US" altLang="zh-CN" sz="1200" dirty="0">
                <a:ln w="12700">
                  <a:solidFill>
                    <a:schemeClr val="bg1"/>
                  </a:solidFill>
                  <a:prstDash val="solid"/>
                </a:ln>
                <a:solidFill>
                  <a:schemeClr val="bg1"/>
                </a:solidFill>
                <a:latin typeface="Montserrat" panose="00000500000000000000" pitchFamily="2" charset="0"/>
                <a:ea typeface="微软雅黑 Light" panose="020B0502040204020203" pitchFamily="34" charset="-122"/>
              </a:rPr>
              <a:t>MIME</a:t>
            </a:r>
          </a:p>
        </p:txBody>
      </p:sp>
      <p:sp>
        <p:nvSpPr>
          <p:cNvPr id="16" name="Rectangle 8"/>
          <p:cNvSpPr>
            <a:spLocks noChangeArrowheads="1"/>
          </p:cNvSpPr>
          <p:nvPr/>
        </p:nvSpPr>
        <p:spPr bwMode="auto">
          <a:xfrm>
            <a:off x="6649366" y="4224868"/>
            <a:ext cx="1016177" cy="399938"/>
          </a:xfrm>
          <a:prstGeom prst="rect">
            <a:avLst/>
          </a:prstGeom>
          <a:solidFill>
            <a:schemeClr val="bg1">
              <a:lumMod val="95000"/>
            </a:schemeClr>
          </a:solidFill>
          <a:ln w="9525">
            <a:noFill/>
            <a:miter lim="800000"/>
            <a:headEnd/>
            <a:tailEnd/>
          </a:ln>
          <a:effectLst/>
        </p:spPr>
        <p:txBody>
          <a:bodyPr wrap="none" anchor="ctr"/>
          <a:lstStyle/>
          <a:p>
            <a:pPr algn="ctr" eaLnBrk="1" hangingPunct="1"/>
            <a:r>
              <a:rPr kumimoji="1" lang="en-US" altLang="zh-CN" sz="1200" dirty="0">
                <a:latin typeface="Montserrat" panose="00000500000000000000" pitchFamily="2" charset="0"/>
                <a:ea typeface="微软雅黑 Light" panose="020B0502040204020203" pitchFamily="34" charset="-122"/>
              </a:rPr>
              <a:t>SMTP</a:t>
            </a:r>
          </a:p>
        </p:txBody>
      </p:sp>
      <p:sp>
        <p:nvSpPr>
          <p:cNvPr id="17" name="Line 9"/>
          <p:cNvSpPr>
            <a:spLocks noChangeShapeType="1"/>
          </p:cNvSpPr>
          <p:nvPr/>
        </p:nvSpPr>
        <p:spPr bwMode="auto">
          <a:xfrm>
            <a:off x="2509638" y="4424837"/>
            <a:ext cx="4156095" cy="0"/>
          </a:xfrm>
          <a:prstGeom prst="line">
            <a:avLst/>
          </a:prstGeom>
          <a:noFill/>
          <a:ln w="19050">
            <a:solidFill>
              <a:schemeClr val="tx1">
                <a:lumMod val="50000"/>
                <a:lumOff val="50000"/>
              </a:schemeClr>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18" name="Line 10"/>
          <p:cNvSpPr>
            <a:spLocks noChangeShapeType="1"/>
          </p:cNvSpPr>
          <p:nvPr/>
        </p:nvSpPr>
        <p:spPr bwMode="auto">
          <a:xfrm rot="5400000" flipH="1" flipV="1">
            <a:off x="1625814" y="3864818"/>
            <a:ext cx="720101" cy="0"/>
          </a:xfrm>
          <a:prstGeom prst="line">
            <a:avLst/>
          </a:prstGeom>
          <a:noFill/>
          <a:ln w="19050">
            <a:solidFill>
              <a:schemeClr val="tx1">
                <a:lumMod val="50000"/>
                <a:lumOff val="50000"/>
              </a:schemeClr>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19" name="Line 11"/>
          <p:cNvSpPr>
            <a:spLocks noChangeShapeType="1"/>
          </p:cNvSpPr>
          <p:nvPr/>
        </p:nvSpPr>
        <p:spPr bwMode="auto">
          <a:xfrm rot="5400000" flipH="1" flipV="1">
            <a:off x="6798086" y="3864818"/>
            <a:ext cx="720101" cy="0"/>
          </a:xfrm>
          <a:prstGeom prst="line">
            <a:avLst/>
          </a:prstGeom>
          <a:noFill/>
          <a:ln w="19050">
            <a:solidFill>
              <a:schemeClr val="tx1">
                <a:lumMod val="50000"/>
                <a:lumOff val="50000"/>
              </a:schemeClr>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20" name="Line 12"/>
          <p:cNvSpPr>
            <a:spLocks noChangeShapeType="1"/>
          </p:cNvSpPr>
          <p:nvPr/>
        </p:nvSpPr>
        <p:spPr bwMode="auto">
          <a:xfrm rot="16200000" flipV="1">
            <a:off x="1727925" y="2846890"/>
            <a:ext cx="515878" cy="0"/>
          </a:xfrm>
          <a:prstGeom prst="line">
            <a:avLst/>
          </a:prstGeom>
          <a:noFill/>
          <a:ln w="19050">
            <a:solidFill>
              <a:schemeClr val="tx1">
                <a:lumMod val="50000"/>
                <a:lumOff val="50000"/>
              </a:schemeClr>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22" name="Line 13"/>
          <p:cNvSpPr>
            <a:spLocks noChangeShapeType="1"/>
          </p:cNvSpPr>
          <p:nvPr/>
        </p:nvSpPr>
        <p:spPr bwMode="auto">
          <a:xfrm rot="16200000" flipV="1">
            <a:off x="6900197" y="2846890"/>
            <a:ext cx="515878" cy="0"/>
          </a:xfrm>
          <a:prstGeom prst="line">
            <a:avLst/>
          </a:prstGeom>
          <a:noFill/>
          <a:ln w="19050">
            <a:solidFill>
              <a:schemeClr val="tx1">
                <a:lumMod val="50000"/>
                <a:lumOff val="50000"/>
              </a:schemeClr>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23" name="Text Box 14"/>
          <p:cNvSpPr txBox="1">
            <a:spLocks noChangeArrowheads="1"/>
          </p:cNvSpPr>
          <p:nvPr/>
        </p:nvSpPr>
        <p:spPr bwMode="auto">
          <a:xfrm>
            <a:off x="6370741" y="3721754"/>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r" eaLnBrk="1" hangingPunct="1"/>
            <a:r>
              <a:rPr kumimoji="1" lang="en-US" altLang="zh-CN" sz="1200" dirty="0">
                <a:latin typeface="Montserrat" panose="00000500000000000000" pitchFamily="2" charset="0"/>
                <a:ea typeface="微软雅黑 Light" panose="020B0502040204020203" pitchFamily="34" charset="-122"/>
              </a:rPr>
              <a:t>ASCII </a:t>
            </a:r>
            <a:r>
              <a:rPr kumimoji="1" lang="zh-CN" altLang="en-US" sz="1200" dirty="0">
                <a:latin typeface="Montserrat" panose="00000500000000000000" pitchFamily="2" charset="0"/>
                <a:ea typeface="微软雅黑 Light" panose="020B0502040204020203" pitchFamily="34" charset="-122"/>
              </a:rPr>
              <a:t>码</a:t>
            </a:r>
          </a:p>
        </p:txBody>
      </p:sp>
      <p:sp>
        <p:nvSpPr>
          <p:cNvPr id="24" name="Text Box 15"/>
          <p:cNvSpPr txBox="1">
            <a:spLocks noChangeArrowheads="1"/>
          </p:cNvSpPr>
          <p:nvPr/>
        </p:nvSpPr>
        <p:spPr bwMode="auto">
          <a:xfrm>
            <a:off x="4193988" y="4141902"/>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ASCII </a:t>
            </a:r>
            <a:r>
              <a:rPr kumimoji="1" lang="zh-CN" altLang="en-US" sz="1200" dirty="0">
                <a:latin typeface="Montserrat" panose="00000500000000000000" pitchFamily="2" charset="0"/>
                <a:ea typeface="微软雅黑 Light" panose="020B0502040204020203" pitchFamily="34" charset="-122"/>
              </a:rPr>
              <a:t>码</a:t>
            </a:r>
          </a:p>
        </p:txBody>
      </p:sp>
      <p:sp>
        <p:nvSpPr>
          <p:cNvPr id="25" name="Text Box 16"/>
          <p:cNvSpPr txBox="1">
            <a:spLocks noChangeArrowheads="1"/>
          </p:cNvSpPr>
          <p:nvPr/>
        </p:nvSpPr>
        <p:spPr bwMode="auto">
          <a:xfrm>
            <a:off x="6176777" y="2717655"/>
            <a:ext cx="98135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rgbClr val="F79646"/>
                </a:solidFill>
                <a:latin typeface="Montserrat" panose="00000500000000000000" pitchFamily="2" charset="0"/>
                <a:ea typeface="微软雅黑 Light" panose="020B0502040204020203" pitchFamily="34" charset="-122"/>
              </a:rPr>
              <a:t>非 </a:t>
            </a:r>
            <a:r>
              <a:rPr kumimoji="1" lang="en-US" altLang="zh-CN" sz="1200" b="1" dirty="0">
                <a:solidFill>
                  <a:srgbClr val="F79646"/>
                </a:solidFill>
                <a:latin typeface="Montserrat" panose="00000500000000000000" pitchFamily="2" charset="0"/>
                <a:ea typeface="微软雅黑 Light" panose="020B0502040204020203" pitchFamily="34" charset="-122"/>
              </a:rPr>
              <a:t>ASCII </a:t>
            </a:r>
            <a:r>
              <a:rPr kumimoji="1" lang="zh-CN" altLang="en-US" sz="1200" b="1" dirty="0">
                <a:solidFill>
                  <a:srgbClr val="F79646"/>
                </a:solidFill>
                <a:latin typeface="Montserrat" panose="00000500000000000000" pitchFamily="2" charset="0"/>
                <a:ea typeface="微软雅黑 Light" panose="020B0502040204020203" pitchFamily="34" charset="-122"/>
              </a:rPr>
              <a:t>码</a:t>
            </a:r>
          </a:p>
        </p:txBody>
      </p:sp>
      <p:sp>
        <p:nvSpPr>
          <p:cNvPr id="26" name="Rectangle 17"/>
          <p:cNvSpPr>
            <a:spLocks noChangeArrowheads="1"/>
          </p:cNvSpPr>
          <p:nvPr/>
        </p:nvSpPr>
        <p:spPr bwMode="auto">
          <a:xfrm>
            <a:off x="1571210" y="2277298"/>
            <a:ext cx="830673" cy="320163"/>
          </a:xfrm>
          <a:prstGeom prst="rect">
            <a:avLst/>
          </a:prstGeom>
          <a:solidFill>
            <a:schemeClr val="bg1">
              <a:lumMod val="95000"/>
            </a:schemeClr>
          </a:solidFill>
          <a:ln w="9525">
            <a:noFill/>
            <a:miter lim="800000"/>
            <a:headEnd/>
            <a:tailEnd/>
          </a:ln>
          <a:effectLst/>
        </p:spPr>
        <p:txBody>
          <a:bodyPr wrap="none" anchor="ctr"/>
          <a:lstStyle/>
          <a:p>
            <a:pPr algn="ctr" eaLnBrk="1" hangingPunct="1"/>
            <a:r>
              <a:rPr kumimoji="1" lang="en-US" altLang="zh-CN" sz="1200" dirty="0">
                <a:latin typeface="Montserrat" panose="00000500000000000000" pitchFamily="2" charset="0"/>
                <a:ea typeface="微软雅黑 Light" panose="020B0502040204020203" pitchFamily="34" charset="-122"/>
              </a:rPr>
              <a:t>user</a:t>
            </a:r>
            <a:endParaRPr kumimoji="1" lang="zh-CN" altLang="en-US" sz="1200" dirty="0">
              <a:latin typeface="Montserrat" panose="00000500000000000000" pitchFamily="2" charset="0"/>
              <a:ea typeface="微软雅黑 Light" panose="020B0502040204020203" pitchFamily="34" charset="-122"/>
            </a:endParaRPr>
          </a:p>
        </p:txBody>
      </p:sp>
      <p:sp>
        <p:nvSpPr>
          <p:cNvPr id="27" name="Rectangle 18"/>
          <p:cNvSpPr>
            <a:spLocks noChangeArrowheads="1"/>
          </p:cNvSpPr>
          <p:nvPr/>
        </p:nvSpPr>
        <p:spPr bwMode="auto">
          <a:xfrm>
            <a:off x="6742117" y="2277298"/>
            <a:ext cx="830674" cy="320163"/>
          </a:xfrm>
          <a:prstGeom prst="rect">
            <a:avLst/>
          </a:prstGeom>
          <a:solidFill>
            <a:schemeClr val="bg1">
              <a:lumMod val="95000"/>
            </a:schemeClr>
          </a:solidFill>
          <a:ln w="9525">
            <a:noFill/>
            <a:miter lim="800000"/>
            <a:headEnd/>
            <a:tailEnd/>
          </a:ln>
          <a:effectLst/>
        </p:spPr>
        <p:txBody>
          <a:bodyPr wrap="none" anchor="ctr"/>
          <a:lstStyle/>
          <a:p>
            <a:pPr algn="ctr" eaLnBrk="1" hangingPunct="1"/>
            <a:r>
              <a:rPr kumimoji="1" lang="en-US" altLang="zh-CN" sz="1200" dirty="0">
                <a:latin typeface="Montserrat" panose="00000500000000000000" pitchFamily="2" charset="0"/>
                <a:ea typeface="微软雅黑 Light" panose="020B0502040204020203" pitchFamily="34" charset="-122"/>
              </a:rPr>
              <a:t>user</a:t>
            </a:r>
            <a:endParaRPr kumimoji="1" lang="zh-CN" altLang="en-US" sz="1200" dirty="0">
              <a:latin typeface="Montserrat" panose="00000500000000000000" pitchFamily="2" charset="0"/>
              <a:ea typeface="微软雅黑 Light" panose="020B0502040204020203" pitchFamily="34" charset="-122"/>
            </a:endParaRPr>
          </a:p>
        </p:txBody>
      </p:sp>
      <p:sp>
        <p:nvSpPr>
          <p:cNvPr id="28" name="文本框 27">
            <a:extLst>
              <a:ext uri="{FF2B5EF4-FFF2-40B4-BE49-F238E27FC236}">
                <a16:creationId xmlns:a16="http://schemas.microsoft.com/office/drawing/2014/main" id="{6B128D88-1C9F-56C4-3342-D356355815EA}"/>
              </a:ext>
            </a:extLst>
          </p:cNvPr>
          <p:cNvSpPr txBox="1"/>
          <p:nvPr/>
        </p:nvSpPr>
        <p:spPr>
          <a:xfrm>
            <a:off x="485775" y="932992"/>
            <a:ext cx="4032000" cy="1169551"/>
          </a:xfrm>
          <a:prstGeom prst="rect">
            <a:avLst/>
          </a:prstGeom>
          <a:solidFill>
            <a:schemeClr val="bg1">
              <a:lumMod val="95000"/>
            </a:schemeClr>
          </a:solidFill>
        </p:spPr>
        <p:txBody>
          <a:bodyPr wrap="square" rtlCol="0">
            <a:spAutoFit/>
          </a:bodyPr>
          <a:lstStyle/>
          <a:p>
            <a:pPr algn="l">
              <a:spcAft>
                <a:spcPts val="1200"/>
              </a:spcAft>
            </a:pPr>
            <a:r>
              <a:rPr lang="en-US" altLang="zh-CN" sz="1200" b="1" dirty="0">
                <a:solidFill>
                  <a:srgbClr val="F79646"/>
                </a:solidFill>
                <a:latin typeface="Montserrat" panose="00000500000000000000" pitchFamily="2" charset="0"/>
                <a:ea typeface="微软雅黑 Light" panose="020B0502040204020203" pitchFamily="34" charset="-122"/>
              </a:rPr>
              <a:t>SMTP</a:t>
            </a:r>
            <a:endParaRPr lang="zh-CN" altLang="en-US" sz="1200" b="1" dirty="0">
              <a:solidFill>
                <a:srgbClr val="F79646"/>
              </a:solidFill>
              <a:latin typeface="Montserrat" panose="00000500000000000000" pitchFamily="2" charset="0"/>
              <a:ea typeface="微软雅黑 Light" panose="020B0502040204020203" pitchFamily="34" charset="-122"/>
            </a:endParaRPr>
          </a:p>
          <a:p>
            <a:pPr marL="171450" indent="-171450" algn="l">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不能传送可执行文件或其他的二进制对象</a:t>
            </a:r>
          </a:p>
          <a:p>
            <a:pPr marL="171450" indent="-171450" algn="l">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限于传送 </a:t>
            </a:r>
            <a:r>
              <a:rPr lang="en-US" altLang="zh-CN" sz="1200" dirty="0">
                <a:latin typeface="Montserrat" panose="00000500000000000000" pitchFamily="2" charset="0"/>
                <a:ea typeface="微软雅黑 Light" panose="020B0502040204020203" pitchFamily="34" charset="-122"/>
              </a:rPr>
              <a:t>7 </a:t>
            </a:r>
            <a:r>
              <a:rPr lang="zh-CN" altLang="en-US" sz="1200" dirty="0">
                <a:latin typeface="Montserrat" panose="00000500000000000000" pitchFamily="2" charset="0"/>
                <a:ea typeface="微软雅黑 Light" panose="020B0502040204020203" pitchFamily="34" charset="-122"/>
              </a:rPr>
              <a:t>位 </a:t>
            </a:r>
            <a:r>
              <a:rPr lang="en-US" altLang="zh-CN" sz="1200" dirty="0">
                <a:latin typeface="Montserrat" panose="00000500000000000000" pitchFamily="2" charset="0"/>
                <a:ea typeface="微软雅黑 Light" panose="020B0502040204020203" pitchFamily="34" charset="-122"/>
              </a:rPr>
              <a:t>ASCII </a:t>
            </a:r>
            <a:r>
              <a:rPr lang="zh-CN" altLang="en-US" sz="1200" dirty="0">
                <a:latin typeface="Montserrat" panose="00000500000000000000" pitchFamily="2" charset="0"/>
                <a:ea typeface="微软雅黑 Light" panose="020B0502040204020203" pitchFamily="34" charset="-122"/>
              </a:rPr>
              <a:t>码，无法传送非 </a:t>
            </a:r>
            <a:r>
              <a:rPr lang="en-US" altLang="zh-CN" sz="1200" dirty="0">
                <a:latin typeface="Montserrat" panose="00000500000000000000" pitchFamily="2" charset="0"/>
                <a:ea typeface="微软雅黑 Light" panose="020B0502040204020203" pitchFamily="34" charset="-122"/>
              </a:rPr>
              <a:t>ASCII </a:t>
            </a:r>
            <a:r>
              <a:rPr lang="zh-CN" altLang="en-US" sz="1200" dirty="0">
                <a:latin typeface="Montserrat" panose="00000500000000000000" pitchFamily="2" charset="0"/>
                <a:ea typeface="微软雅黑 Light" panose="020B0502040204020203" pitchFamily="34" charset="-122"/>
              </a:rPr>
              <a:t>编码信息</a:t>
            </a:r>
          </a:p>
          <a:p>
            <a:pPr marL="171450" indent="-171450" algn="l">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服务器会拒绝超过一定长度的邮件</a:t>
            </a:r>
          </a:p>
          <a:p>
            <a:pPr marL="171450" indent="-171450" algn="l">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某些 </a:t>
            </a:r>
            <a:r>
              <a:rPr lang="en-US" altLang="zh-CN" sz="1200" dirty="0">
                <a:latin typeface="Montserrat" panose="00000500000000000000" pitchFamily="2" charset="0"/>
                <a:ea typeface="微软雅黑 Light" panose="020B0502040204020203" pitchFamily="34" charset="-122"/>
              </a:rPr>
              <a:t>SMTP </a:t>
            </a:r>
            <a:r>
              <a:rPr lang="zh-CN" altLang="en-US" sz="1200" dirty="0">
                <a:latin typeface="Montserrat" panose="00000500000000000000" pitchFamily="2" charset="0"/>
                <a:ea typeface="微软雅黑 Light" panose="020B0502040204020203" pitchFamily="34" charset="-122"/>
              </a:rPr>
              <a:t>实现没有完全按照 </a:t>
            </a:r>
            <a:r>
              <a:rPr lang="en-US" altLang="zh-CN" sz="1200" dirty="0">
                <a:latin typeface="Montserrat" panose="00000500000000000000" pitchFamily="2" charset="0"/>
                <a:ea typeface="微软雅黑 Light" panose="020B0502040204020203" pitchFamily="34" charset="-122"/>
              </a:rPr>
              <a:t>[RFC 821] SMTP </a:t>
            </a:r>
            <a:r>
              <a:rPr lang="zh-CN" altLang="en-US" sz="1200" dirty="0">
                <a:latin typeface="Montserrat" panose="00000500000000000000" pitchFamily="2" charset="0"/>
                <a:ea typeface="微软雅黑 Light" panose="020B0502040204020203" pitchFamily="34" charset="-122"/>
              </a:rPr>
              <a:t>标准</a:t>
            </a:r>
          </a:p>
        </p:txBody>
      </p:sp>
      <p:sp>
        <p:nvSpPr>
          <p:cNvPr id="29" name="文本框 28">
            <a:extLst>
              <a:ext uri="{FF2B5EF4-FFF2-40B4-BE49-F238E27FC236}">
                <a16:creationId xmlns:a16="http://schemas.microsoft.com/office/drawing/2014/main" id="{9E2D3E94-815F-5F5A-361E-8CA7AFFD7397}"/>
              </a:ext>
            </a:extLst>
          </p:cNvPr>
          <p:cNvSpPr txBox="1"/>
          <p:nvPr/>
        </p:nvSpPr>
        <p:spPr>
          <a:xfrm>
            <a:off x="4626225" y="932992"/>
            <a:ext cx="4032000" cy="1169551"/>
          </a:xfrm>
          <a:prstGeom prst="rect">
            <a:avLst/>
          </a:prstGeom>
          <a:solidFill>
            <a:schemeClr val="bg1">
              <a:lumMod val="95000"/>
            </a:schemeClr>
          </a:solidFill>
        </p:spPr>
        <p:txBody>
          <a:bodyPr wrap="square" rtlCol="0">
            <a:spAutoFit/>
          </a:bodyPr>
          <a:lstStyle/>
          <a:p>
            <a:pPr algn="l">
              <a:spcAft>
                <a:spcPts val="1200"/>
              </a:spcAft>
            </a:pPr>
            <a:r>
              <a:rPr lang="en-US" altLang="zh-CN" sz="1200" b="1" dirty="0">
                <a:solidFill>
                  <a:srgbClr val="F79646"/>
                </a:solidFill>
                <a:latin typeface="Montserrat" panose="00000500000000000000" pitchFamily="2" charset="0"/>
                <a:ea typeface="微软雅黑 Light" panose="020B0502040204020203" pitchFamily="34" charset="-122"/>
              </a:rPr>
              <a:t>MIME - Multipurpose Internet Mail Extensions</a:t>
            </a:r>
          </a:p>
          <a:p>
            <a:pPr marL="171450" indent="-171450" algn="l">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通用互联网邮件扩展</a:t>
            </a:r>
            <a:r>
              <a:rPr lang="en-US" altLang="zh-CN" sz="1200" dirty="0">
                <a:latin typeface="Montserrat" panose="00000500000000000000" pitchFamily="2" charset="0"/>
                <a:ea typeface="微软雅黑 Light" panose="020B0502040204020203" pitchFamily="34" charset="-122"/>
              </a:rPr>
              <a:t>/</a:t>
            </a:r>
            <a:r>
              <a:rPr lang="zh-CN" altLang="en-US" sz="1200" dirty="0">
                <a:latin typeface="Montserrat" panose="00000500000000000000" pitchFamily="2" charset="0"/>
                <a:ea typeface="微软雅黑 Light" panose="020B0502040204020203" pitchFamily="34" charset="-122"/>
              </a:rPr>
              <a:t>扩充 </a:t>
            </a:r>
            <a:r>
              <a:rPr lang="en-US" altLang="zh-CN" sz="1200" dirty="0">
                <a:latin typeface="Montserrat" panose="00000500000000000000" pitchFamily="2" charset="0"/>
                <a:ea typeface="微软雅黑 Light" panose="020B0502040204020203" pitchFamily="34" charset="-122"/>
              </a:rPr>
              <a:t>MIME</a:t>
            </a:r>
          </a:p>
          <a:p>
            <a:pPr marL="171450" indent="-171450">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并没有改动或取代</a:t>
            </a:r>
            <a:r>
              <a:rPr lang="en-US" altLang="zh-CN" sz="1200" dirty="0">
                <a:latin typeface="Montserrat" panose="00000500000000000000" pitchFamily="2" charset="0"/>
                <a:ea typeface="微软雅黑 Light" panose="020B0502040204020203" pitchFamily="34" charset="-122"/>
              </a:rPr>
              <a:t>SMTP</a:t>
            </a:r>
            <a:endParaRPr lang="zh-CN" altLang="en-US" sz="1200" dirty="0">
              <a:latin typeface="Montserrat" panose="00000500000000000000" pitchFamily="2" charset="0"/>
              <a:ea typeface="微软雅黑 Light" panose="020B0502040204020203" pitchFamily="34" charset="-122"/>
            </a:endParaRPr>
          </a:p>
          <a:p>
            <a:pPr marL="171450" indent="-171450" algn="l">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继续使用目前的 </a:t>
            </a:r>
            <a:r>
              <a:rPr lang="en-US" altLang="zh-CN" sz="1200" dirty="0">
                <a:latin typeface="Montserrat" panose="00000500000000000000" pitchFamily="2" charset="0"/>
                <a:ea typeface="微软雅黑 Light" panose="020B0502040204020203" pitchFamily="34" charset="-122"/>
              </a:rPr>
              <a:t>[RFC 822] </a:t>
            </a:r>
            <a:r>
              <a:rPr lang="zh-CN" altLang="en-US" sz="1200" dirty="0">
                <a:latin typeface="Montserrat" panose="00000500000000000000" pitchFamily="2" charset="0"/>
                <a:ea typeface="微软雅黑 Light" panose="020B0502040204020203" pitchFamily="34" charset="-122"/>
              </a:rPr>
              <a:t>格式，但增加了邮件主体的结构，并定义了传送非 </a:t>
            </a:r>
            <a:r>
              <a:rPr lang="en-US" altLang="zh-CN" sz="1200" dirty="0">
                <a:latin typeface="Montserrat" panose="00000500000000000000" pitchFamily="2" charset="0"/>
                <a:ea typeface="微软雅黑 Light" panose="020B0502040204020203" pitchFamily="34" charset="-122"/>
              </a:rPr>
              <a:t>ASCII </a:t>
            </a:r>
            <a:r>
              <a:rPr lang="zh-CN" altLang="en-US" sz="1200" dirty="0">
                <a:latin typeface="Montserrat" panose="00000500000000000000" pitchFamily="2" charset="0"/>
                <a:ea typeface="微软雅黑 Light" panose="020B0502040204020203" pitchFamily="34" charset="-122"/>
              </a:rPr>
              <a:t>码的编码规则</a:t>
            </a:r>
          </a:p>
        </p:txBody>
      </p:sp>
    </p:spTree>
    <p:extLst>
      <p:ext uri="{BB962C8B-B14F-4D97-AF65-F5344CB8AC3E}">
        <p14:creationId xmlns:p14="http://schemas.microsoft.com/office/powerpoint/2010/main" val="6314080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7994B981-37E5-2567-FAA0-798D2D6DE763}"/>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a:t>
            </a:r>
            <a:endParaRPr lang="zh-CN" altLang="en-US" dirty="0"/>
          </a:p>
        </p:txBody>
      </p:sp>
      <p:sp>
        <p:nvSpPr>
          <p:cNvPr id="8" name="内容占位符 7">
            <a:extLst>
              <a:ext uri="{FF2B5EF4-FFF2-40B4-BE49-F238E27FC236}">
                <a16:creationId xmlns:a16="http://schemas.microsoft.com/office/drawing/2014/main" id="{DFCE123C-1CD2-E07C-8A03-8D3093FD68D3}"/>
              </a:ext>
            </a:extLst>
          </p:cNvPr>
          <p:cNvSpPr>
            <a:spLocks noGrp="1"/>
          </p:cNvSpPr>
          <p:nvPr>
            <p:ph sz="quarter" idx="11"/>
          </p:nvPr>
        </p:nvSpPr>
        <p:spPr>
          <a:xfrm>
            <a:off x="486000" y="687518"/>
            <a:ext cx="8172000" cy="4079035"/>
          </a:xfrm>
        </p:spPr>
        <p:txBody>
          <a:bodyPr/>
          <a:lstStyle/>
          <a:p>
            <a:r>
              <a:rPr lang="en-US" altLang="zh-CN" dirty="0"/>
              <a:t>5 </a:t>
            </a:r>
            <a:r>
              <a:rPr lang="zh-CN" altLang="en-US" dirty="0"/>
              <a:t>个新的邮件首部字段</a:t>
            </a:r>
          </a:p>
          <a:p>
            <a:r>
              <a:rPr lang="zh-CN" altLang="en-US" dirty="0"/>
              <a:t>定义了许多邮件内容的格式，对多媒体电子邮件的表示方法进行了标准化</a:t>
            </a:r>
          </a:p>
          <a:p>
            <a:r>
              <a:rPr lang="zh-CN" altLang="en-US" dirty="0"/>
              <a:t>定义了传送编码，可对任何内容格式进行转换，而不会被邮件系统改变</a:t>
            </a:r>
          </a:p>
          <a:p>
            <a:endParaRPr lang="zh-CN" altLang="en-US" dirty="0"/>
          </a:p>
        </p:txBody>
      </p:sp>
    </p:spTree>
    <p:extLst>
      <p:ext uri="{BB962C8B-B14F-4D97-AF65-F5344CB8AC3E}">
        <p14:creationId xmlns:p14="http://schemas.microsoft.com/office/powerpoint/2010/main" val="19477123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AE0EBF65-22B7-4BFB-0343-66920DAE66C1}"/>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首部</a:t>
            </a:r>
          </a:p>
        </p:txBody>
      </p:sp>
      <p:sp>
        <p:nvSpPr>
          <p:cNvPr id="14" name="内容占位符 13">
            <a:extLst>
              <a:ext uri="{FF2B5EF4-FFF2-40B4-BE49-F238E27FC236}">
                <a16:creationId xmlns:a16="http://schemas.microsoft.com/office/drawing/2014/main" id="{1A88835D-A337-EF08-4F4A-8FAFE50DA15E}"/>
              </a:ext>
            </a:extLst>
          </p:cNvPr>
          <p:cNvSpPr>
            <a:spLocks noGrp="1"/>
          </p:cNvSpPr>
          <p:nvPr>
            <p:ph sz="quarter" idx="11"/>
          </p:nvPr>
        </p:nvSpPr>
        <p:spPr>
          <a:xfrm>
            <a:off x="486000" y="687518"/>
            <a:ext cx="8172000" cy="4079035"/>
          </a:xfrm>
        </p:spPr>
        <p:txBody>
          <a:bodyPr/>
          <a:lstStyle/>
          <a:p>
            <a:r>
              <a:rPr lang="en-US" altLang="zh-CN" dirty="0"/>
              <a:t>MIME-Version</a:t>
            </a:r>
            <a:r>
              <a:rPr lang="zh-CN" altLang="en-US" dirty="0"/>
              <a:t>：</a:t>
            </a:r>
            <a:r>
              <a:rPr lang="en-US" altLang="zh-CN" dirty="0"/>
              <a:t>MIME </a:t>
            </a:r>
            <a:r>
              <a:rPr lang="zh-CN" altLang="en-US" dirty="0"/>
              <a:t>的版本。若无此行，则为英文文本</a:t>
            </a:r>
          </a:p>
          <a:p>
            <a:r>
              <a:rPr lang="en-US" altLang="zh-CN" dirty="0"/>
              <a:t>Content-Description</a:t>
            </a:r>
            <a:r>
              <a:rPr lang="zh-CN" altLang="en-US" dirty="0"/>
              <a:t>：邮件的说明</a:t>
            </a:r>
          </a:p>
          <a:p>
            <a:r>
              <a:rPr lang="en-US" altLang="zh-CN" dirty="0"/>
              <a:t>Content-Id</a:t>
            </a:r>
            <a:r>
              <a:rPr lang="zh-CN" altLang="en-US" dirty="0"/>
              <a:t>：邮件唯一标识符</a:t>
            </a:r>
          </a:p>
          <a:p>
            <a:r>
              <a:rPr lang="en-US" altLang="zh-CN" dirty="0"/>
              <a:t>Content-Transfer-Encoding</a:t>
            </a:r>
            <a:r>
              <a:rPr lang="zh-CN" altLang="en-US" dirty="0"/>
              <a:t>：传送时邮件主体使用的编码方法</a:t>
            </a:r>
            <a:endParaRPr lang="en-US" altLang="zh-CN" dirty="0"/>
          </a:p>
          <a:p>
            <a:pPr lvl="1"/>
            <a:r>
              <a:rPr lang="en-US" altLang="zh-CN" dirty="0"/>
              <a:t>base64</a:t>
            </a:r>
            <a:r>
              <a:rPr lang="zh-CN" altLang="en-US" dirty="0"/>
              <a:t>：用于二进制文件（如图片、</a:t>
            </a:r>
            <a:r>
              <a:rPr lang="en-US" altLang="zh-CN" dirty="0"/>
              <a:t>PDF</a:t>
            </a:r>
            <a:r>
              <a:rPr lang="zh-CN" altLang="en-US" dirty="0"/>
              <a:t>）</a:t>
            </a:r>
          </a:p>
          <a:p>
            <a:pPr lvl="1"/>
            <a:r>
              <a:rPr lang="en-US" altLang="zh-CN" dirty="0"/>
              <a:t>quoted-printable</a:t>
            </a:r>
            <a:r>
              <a:rPr lang="zh-CN" altLang="en-US" dirty="0"/>
              <a:t>：用于含少量非 </a:t>
            </a:r>
            <a:r>
              <a:rPr lang="en-US" altLang="zh-CN" dirty="0"/>
              <a:t>ASCII </a:t>
            </a:r>
            <a:r>
              <a:rPr lang="zh-CN" altLang="en-US" dirty="0"/>
              <a:t>字符的文本（如带中文的邮件）</a:t>
            </a:r>
          </a:p>
          <a:p>
            <a:r>
              <a:rPr lang="en-US" altLang="zh-CN" dirty="0"/>
              <a:t>Content-Type</a:t>
            </a:r>
            <a:r>
              <a:rPr lang="zh-CN" altLang="en-US" dirty="0"/>
              <a:t>：邮件内容类型 </a:t>
            </a:r>
            <a:r>
              <a:rPr lang="en-US" altLang="zh-CN" dirty="0"/>
              <a:t>/ </a:t>
            </a:r>
            <a:r>
              <a:rPr lang="zh-CN" altLang="en-US" dirty="0"/>
              <a:t>子类型</a:t>
            </a:r>
            <a:endParaRPr lang="en-US" altLang="zh-CN" dirty="0"/>
          </a:p>
          <a:p>
            <a:pPr lvl="1"/>
            <a:r>
              <a:rPr lang="en-US" altLang="zh-CN" dirty="0"/>
              <a:t>text</a:t>
            </a:r>
            <a:r>
              <a:rPr lang="zh-CN" altLang="en-US" dirty="0"/>
              <a:t>：文本类；子类型有 </a:t>
            </a:r>
            <a:r>
              <a:rPr lang="en-US" altLang="zh-CN" dirty="0"/>
              <a:t>/plain /html /</a:t>
            </a:r>
            <a:r>
              <a:rPr lang="en-US" altLang="zh-CN" dirty="0" err="1"/>
              <a:t>css</a:t>
            </a:r>
            <a:r>
              <a:rPr lang="en-US" altLang="zh-CN" dirty="0"/>
              <a:t> /xml /csv</a:t>
            </a:r>
            <a:r>
              <a:rPr lang="zh-CN" altLang="en-US" dirty="0"/>
              <a:t>；通常需要指定编码，如</a:t>
            </a:r>
            <a:r>
              <a:rPr lang="en-US" altLang="zh-CN" dirty="0"/>
              <a:t> charset=utf-8 </a:t>
            </a:r>
          </a:p>
          <a:p>
            <a:pPr lvl="1"/>
            <a:r>
              <a:rPr lang="en-US" altLang="zh-CN" dirty="0"/>
              <a:t>Image</a:t>
            </a:r>
            <a:r>
              <a:rPr lang="zh-CN" altLang="en-US" dirty="0"/>
              <a:t>：图像类；子类型有 </a:t>
            </a:r>
            <a:r>
              <a:rPr lang="en-US" altLang="zh-CN" dirty="0"/>
              <a:t>/jpeg /</a:t>
            </a:r>
            <a:r>
              <a:rPr lang="en-US" altLang="zh-CN" dirty="0" err="1"/>
              <a:t>png</a:t>
            </a:r>
            <a:r>
              <a:rPr lang="en-US" altLang="zh-CN" dirty="0"/>
              <a:t> /gif /</a:t>
            </a:r>
            <a:r>
              <a:rPr lang="en-US" altLang="zh-CN" dirty="0" err="1"/>
              <a:t>webp</a:t>
            </a:r>
            <a:r>
              <a:rPr lang="en-US" altLang="zh-CN" dirty="0"/>
              <a:t> /</a:t>
            </a:r>
            <a:r>
              <a:rPr lang="en-US" altLang="zh-CN" dirty="0" err="1"/>
              <a:t>svg</a:t>
            </a:r>
            <a:r>
              <a:rPr lang="en-US" altLang="zh-CN" dirty="0"/>
              <a:t>+</a:t>
            </a:r>
          </a:p>
          <a:p>
            <a:pPr lvl="1"/>
            <a:r>
              <a:rPr lang="en-US" altLang="zh-CN" dirty="0"/>
              <a:t>application</a:t>
            </a:r>
            <a:r>
              <a:rPr lang="zh-CN" altLang="en-US" dirty="0"/>
              <a:t>：应用类；子类型有 </a:t>
            </a:r>
            <a:r>
              <a:rPr lang="en-US" altLang="zh-CN" dirty="0"/>
              <a:t>/</a:t>
            </a:r>
            <a:r>
              <a:rPr lang="en-US" altLang="zh-CN" dirty="0" err="1"/>
              <a:t>json</a:t>
            </a:r>
            <a:r>
              <a:rPr lang="en-US" altLang="zh-CN" dirty="0"/>
              <a:t> /</a:t>
            </a:r>
            <a:r>
              <a:rPr lang="en-US" altLang="zh-CN" dirty="0" err="1"/>
              <a:t>javascript</a:t>
            </a:r>
            <a:r>
              <a:rPr lang="en-US" altLang="zh-CN" dirty="0"/>
              <a:t> /xml /</a:t>
            </a:r>
            <a:r>
              <a:rPr lang="en-US" altLang="zh-CN" dirty="0" err="1"/>
              <a:t>msword</a:t>
            </a:r>
            <a:r>
              <a:rPr lang="en-US" altLang="zh-CN" dirty="0"/>
              <a:t> /octet-stream</a:t>
            </a:r>
          </a:p>
          <a:p>
            <a:pPr lvl="1"/>
            <a:r>
              <a:rPr lang="en-US" altLang="zh-CN" dirty="0"/>
              <a:t>multipart</a:t>
            </a:r>
            <a:r>
              <a:rPr lang="zh-CN" altLang="en-US" dirty="0"/>
              <a:t>：混合类；子类型有 </a:t>
            </a:r>
            <a:r>
              <a:rPr lang="en-US" altLang="zh-CN" dirty="0"/>
              <a:t>/form-data</a:t>
            </a:r>
          </a:p>
          <a:p>
            <a:pPr lvl="1"/>
            <a:r>
              <a:rPr lang="en-US" altLang="zh-CN" dirty="0"/>
              <a:t>audio</a:t>
            </a:r>
            <a:r>
              <a:rPr lang="zh-CN" altLang="en-US" dirty="0"/>
              <a:t>：音频类</a:t>
            </a:r>
            <a:endParaRPr lang="en-US" altLang="zh-CN" dirty="0"/>
          </a:p>
          <a:p>
            <a:pPr lvl="1"/>
            <a:r>
              <a:rPr lang="en-US" altLang="zh-CN" dirty="0"/>
              <a:t>video</a:t>
            </a:r>
            <a:r>
              <a:rPr lang="zh-CN" altLang="en-US" dirty="0"/>
              <a:t>：视频类</a:t>
            </a:r>
          </a:p>
          <a:p>
            <a:endParaRPr lang="zh-CN" altLang="en-US" dirty="0"/>
          </a:p>
          <a:p>
            <a:endParaRPr lang="zh-CN" altLang="en-US" dirty="0"/>
          </a:p>
        </p:txBody>
      </p:sp>
    </p:spTree>
    <p:extLst>
      <p:ext uri="{BB962C8B-B14F-4D97-AF65-F5344CB8AC3E}">
        <p14:creationId xmlns:p14="http://schemas.microsoft.com/office/powerpoint/2010/main" val="9821120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3FCE3DC-DD54-6653-4098-6881A6B45264}"/>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首部</a:t>
            </a:r>
          </a:p>
        </p:txBody>
      </p:sp>
      <p:sp>
        <p:nvSpPr>
          <p:cNvPr id="7" name="内容占位符 6">
            <a:extLst>
              <a:ext uri="{FF2B5EF4-FFF2-40B4-BE49-F238E27FC236}">
                <a16:creationId xmlns:a16="http://schemas.microsoft.com/office/drawing/2014/main" id="{BDFDC3A6-55D8-85D6-1277-A07D6BFB7030}"/>
              </a:ext>
            </a:extLst>
          </p:cNvPr>
          <p:cNvSpPr>
            <a:spLocks noGrp="1"/>
          </p:cNvSpPr>
          <p:nvPr>
            <p:ph sz="quarter" idx="11"/>
          </p:nvPr>
        </p:nvSpPr>
        <p:spPr/>
        <p:txBody>
          <a:bodyPr/>
          <a:lstStyle/>
          <a:p>
            <a:r>
              <a:rPr lang="zh-CN" altLang="en-US" dirty="0"/>
              <a:t>实例</a:t>
            </a:r>
            <a:r>
              <a:rPr lang="en-US" altLang="zh-CN" dirty="0"/>
              <a:t>1</a:t>
            </a:r>
            <a:r>
              <a:rPr lang="zh-CN" altLang="en-US" dirty="0"/>
              <a:t>：</a:t>
            </a:r>
            <a:r>
              <a:rPr lang="en-US" altLang="zh-CN" dirty="0"/>
              <a:t>plain</a:t>
            </a:r>
            <a:endParaRPr lang="zh-CN" altLang="en-US" dirty="0"/>
          </a:p>
        </p:txBody>
      </p:sp>
      <p:pic>
        <p:nvPicPr>
          <p:cNvPr id="13" name="图片 12">
            <a:extLst>
              <a:ext uri="{FF2B5EF4-FFF2-40B4-BE49-F238E27FC236}">
                <a16:creationId xmlns:a16="http://schemas.microsoft.com/office/drawing/2014/main" id="{40CAFD6C-8A44-BAB8-4CF4-E0D36D3C716E}"/>
              </a:ext>
            </a:extLst>
          </p:cNvPr>
          <p:cNvPicPr>
            <a:picLocks noChangeAspect="1"/>
          </p:cNvPicPr>
          <p:nvPr/>
        </p:nvPicPr>
        <p:blipFill>
          <a:blip r:embed="rId2"/>
          <a:stretch>
            <a:fillRect/>
          </a:stretch>
        </p:blipFill>
        <p:spPr>
          <a:xfrm>
            <a:off x="3293975" y="0"/>
            <a:ext cx="5850025" cy="5143500"/>
          </a:xfrm>
          <a:prstGeom prst="rect">
            <a:avLst/>
          </a:prstGeom>
        </p:spPr>
      </p:pic>
    </p:spTree>
    <p:extLst>
      <p:ext uri="{BB962C8B-B14F-4D97-AF65-F5344CB8AC3E}">
        <p14:creationId xmlns:p14="http://schemas.microsoft.com/office/powerpoint/2010/main" val="33711440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E32183-5A90-2FD0-539E-34DC6490489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D44B596-2470-6F1F-37F4-EE8C95A434F4}"/>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首部</a:t>
            </a:r>
          </a:p>
        </p:txBody>
      </p:sp>
      <p:sp>
        <p:nvSpPr>
          <p:cNvPr id="7" name="内容占位符 6">
            <a:extLst>
              <a:ext uri="{FF2B5EF4-FFF2-40B4-BE49-F238E27FC236}">
                <a16:creationId xmlns:a16="http://schemas.microsoft.com/office/drawing/2014/main" id="{55A80CED-8AB7-1DD1-BE5C-95EDBD374594}"/>
              </a:ext>
            </a:extLst>
          </p:cNvPr>
          <p:cNvSpPr>
            <a:spLocks noGrp="1"/>
          </p:cNvSpPr>
          <p:nvPr>
            <p:ph sz="quarter" idx="11"/>
          </p:nvPr>
        </p:nvSpPr>
        <p:spPr/>
        <p:txBody>
          <a:bodyPr/>
          <a:lstStyle/>
          <a:p>
            <a:r>
              <a:rPr lang="zh-CN" altLang="en-US" dirty="0"/>
              <a:t>实例</a:t>
            </a:r>
            <a:r>
              <a:rPr lang="en-US" altLang="zh-CN" dirty="0"/>
              <a:t>2</a:t>
            </a:r>
            <a:r>
              <a:rPr lang="zh-CN" altLang="en-US" dirty="0"/>
              <a:t>：</a:t>
            </a:r>
            <a:r>
              <a:rPr lang="en-US" altLang="zh-CN" dirty="0"/>
              <a:t>plain + </a:t>
            </a:r>
            <a:r>
              <a:rPr lang="en-US" altLang="zh-CN" dirty="0" err="1"/>
              <a:t>png</a:t>
            </a:r>
            <a:endParaRPr lang="zh-CN" altLang="en-US" dirty="0"/>
          </a:p>
        </p:txBody>
      </p:sp>
      <p:pic>
        <p:nvPicPr>
          <p:cNvPr id="10" name="图片 9">
            <a:extLst>
              <a:ext uri="{FF2B5EF4-FFF2-40B4-BE49-F238E27FC236}">
                <a16:creationId xmlns:a16="http://schemas.microsoft.com/office/drawing/2014/main" id="{AAC4C224-7C22-404B-69EA-7695CE1F52AF}"/>
              </a:ext>
            </a:extLst>
          </p:cNvPr>
          <p:cNvPicPr>
            <a:picLocks noChangeAspect="1"/>
          </p:cNvPicPr>
          <p:nvPr/>
        </p:nvPicPr>
        <p:blipFill>
          <a:blip r:embed="rId3"/>
          <a:stretch>
            <a:fillRect/>
          </a:stretch>
        </p:blipFill>
        <p:spPr>
          <a:xfrm>
            <a:off x="3293975" y="0"/>
            <a:ext cx="5850025" cy="5143500"/>
          </a:xfrm>
          <a:prstGeom prst="rect">
            <a:avLst/>
          </a:prstGeom>
        </p:spPr>
      </p:pic>
    </p:spTree>
    <p:extLst>
      <p:ext uri="{BB962C8B-B14F-4D97-AF65-F5344CB8AC3E}">
        <p14:creationId xmlns:p14="http://schemas.microsoft.com/office/powerpoint/2010/main" val="39121288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876A9EC6-734B-CCEA-B1F5-C74048286026}"/>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内容传送编码</a:t>
            </a:r>
          </a:p>
        </p:txBody>
      </p:sp>
      <p:sp>
        <p:nvSpPr>
          <p:cNvPr id="10" name="内容占位符 9">
            <a:extLst>
              <a:ext uri="{FF2B5EF4-FFF2-40B4-BE49-F238E27FC236}">
                <a16:creationId xmlns:a16="http://schemas.microsoft.com/office/drawing/2014/main" id="{63AEF053-F760-43C3-44CF-E0E29BBD98C4}"/>
              </a:ext>
            </a:extLst>
          </p:cNvPr>
          <p:cNvSpPr>
            <a:spLocks noGrp="1"/>
          </p:cNvSpPr>
          <p:nvPr>
            <p:ph sz="quarter" idx="11"/>
          </p:nvPr>
        </p:nvSpPr>
        <p:spPr>
          <a:xfrm>
            <a:off x="486000" y="687518"/>
            <a:ext cx="8172000" cy="4079035"/>
          </a:xfrm>
        </p:spPr>
        <p:txBody>
          <a:bodyPr/>
          <a:lstStyle/>
          <a:p>
            <a:r>
              <a:rPr lang="en-US" altLang="zh-CN" dirty="0"/>
              <a:t>Content-Transfer-Encoding</a:t>
            </a:r>
            <a:endParaRPr lang="zh-CN" altLang="en-US" dirty="0"/>
          </a:p>
        </p:txBody>
      </p:sp>
      <p:graphicFrame>
        <p:nvGraphicFramePr>
          <p:cNvPr id="5" name="Group 34"/>
          <p:cNvGraphicFramePr>
            <a:graphicFrameLocks noGrp="1"/>
          </p:cNvGraphicFramePr>
          <p:nvPr>
            <p:extLst>
              <p:ext uri="{D42A27DB-BD31-4B8C-83A1-F6EECF244321}">
                <p14:modId xmlns:p14="http://schemas.microsoft.com/office/powerpoint/2010/main" val="2818374317"/>
              </p:ext>
            </p:extLst>
          </p:nvPr>
        </p:nvGraphicFramePr>
        <p:xfrm>
          <a:off x="485774" y="2403212"/>
          <a:ext cx="8171999" cy="2280240"/>
        </p:xfrm>
        <a:graphic>
          <a:graphicData uri="http://schemas.openxmlformats.org/drawingml/2006/table">
            <a:tbl>
              <a:tblPr firstRow="1" bandRow="1">
                <a:tableStyleId>{93296810-A885-4BE3-A3E7-6D5BEEA58F35}</a:tableStyleId>
              </a:tblPr>
              <a:tblGrid>
                <a:gridCol w="1957503">
                  <a:extLst>
                    <a:ext uri="{9D8B030D-6E8A-4147-A177-3AD203B41FA5}">
                      <a16:colId xmlns:a16="http://schemas.microsoft.com/office/drawing/2014/main" val="20000"/>
                    </a:ext>
                  </a:extLst>
                </a:gridCol>
                <a:gridCol w="6214496">
                  <a:extLst>
                    <a:ext uri="{9D8B030D-6E8A-4147-A177-3AD203B41FA5}">
                      <a16:colId xmlns:a16="http://schemas.microsoft.com/office/drawing/2014/main" val="20001"/>
                    </a:ext>
                  </a:extLst>
                </a:gridCol>
              </a:tblGrid>
              <a:tr h="360000">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编码方法</a:t>
                      </a:r>
                      <a:endParaRPr kumimoji="1" lang="en-US" altLang="ko-KR"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endParaRPr>
                    </a:p>
                  </a:txBody>
                  <a:tcPr anchor="ctr" horzOverflow="overflow"/>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说明</a:t>
                      </a:r>
                      <a:endParaRPr kumimoji="1" lang="en-US" altLang="ko-KR"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endParaRPr>
                    </a:p>
                  </a:txBody>
                  <a:tcPr anchor="ctr" horzOverflow="overflow"/>
                </a:tc>
                <a:extLst>
                  <a:ext uri="{0D108BD9-81ED-4DB2-BD59-A6C34878D82A}">
                    <a16:rowId xmlns:a16="http://schemas.microsoft.com/office/drawing/2014/main" val="10000"/>
                  </a:ext>
                </a:extLst>
              </a:tr>
              <a:tr h="339400">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7bit</a:t>
                      </a:r>
                      <a:endParaRPr kumimoji="1" lang="en-US" altLang="ko-KR" sz="1200" b="0" i="0" u="none" strike="noStrike" cap="none" normalizeH="0" baseline="0" dirty="0">
                        <a:ln>
                          <a:noFill/>
                        </a:ln>
                        <a:solidFill>
                          <a:schemeClr val="tx1"/>
                        </a:solidFill>
                        <a:effectLst/>
                        <a:latin typeface="Montserrat" panose="00000500000000000000" pitchFamily="2" charset="0"/>
                        <a:ea typeface="微软雅黑 Light" panose="020B0502040204020203" pitchFamily="34" charset="-122"/>
                      </a:endParaRPr>
                    </a:p>
                  </a:txBody>
                  <a:tcPr anchor="ctr" horzOverflow="overflow"/>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7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位 </a:t>
                      </a: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ASCII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编码，每行不能超过 </a:t>
                      </a:r>
                      <a:r>
                        <a:rPr kumimoji="1" lang="en-US" altLang="zh-CN" sz="1200" b="0" u="none" strike="noStrike" cap="none" normalizeH="0" baseline="0" dirty="0">
                          <a:ln>
                            <a:noFill/>
                          </a:ln>
                          <a:effectLst/>
                          <a:latin typeface="Montserrat" panose="00000500000000000000" pitchFamily="2" charset="0"/>
                          <a:ea typeface="微软雅黑 Light" panose="020B0502040204020203" pitchFamily="34" charset="-122"/>
                        </a:rPr>
                        <a:t>1000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个字符（包括回车和换行）</a:t>
                      </a:r>
                      <a:endParaRPr kumimoji="1" lang="en-US" altLang="zh-CN" sz="1200" b="0" u="none" strike="noStrike" cap="none" normalizeH="0" baseline="0" dirty="0">
                        <a:ln>
                          <a:noFill/>
                        </a:ln>
                        <a:effectLst/>
                        <a:latin typeface="Montserrat" panose="00000500000000000000" pitchFamily="2" charset="0"/>
                        <a:ea typeface="微软雅黑 Light" panose="020B0502040204020203" pitchFamily="34" charset="-122"/>
                      </a:endParaRPr>
                    </a:p>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默认编码方法</a:t>
                      </a:r>
                      <a:endParaRPr kumimoji="1" lang="ko-KR" altLang="en-US" sz="1200" b="0" i="0" u="none" strike="noStrike" cap="none" normalizeH="0" baseline="0" dirty="0">
                        <a:ln>
                          <a:noFill/>
                        </a:ln>
                        <a:solidFill>
                          <a:schemeClr val="tx1"/>
                        </a:solidFill>
                        <a:effectLst/>
                        <a:latin typeface="Montserrat" panose="00000500000000000000" pitchFamily="2" charset="0"/>
                        <a:ea typeface="굴림" pitchFamily="50" charset="-127"/>
                      </a:endParaRPr>
                    </a:p>
                  </a:txBody>
                  <a:tcPr anchor="ctr" horzOverflow="overflow"/>
                </a:tc>
                <a:extLst>
                  <a:ext uri="{0D108BD9-81ED-4DB2-BD59-A6C34878D82A}">
                    <a16:rowId xmlns:a16="http://schemas.microsoft.com/office/drawing/2014/main" val="10001"/>
                  </a:ext>
                </a:extLst>
              </a:tr>
              <a:tr h="193564">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8bit</a:t>
                      </a:r>
                      <a:endParaRPr kumimoji="1" lang="en-US" altLang="ko-KR" sz="1200" b="0" i="0" u="none" strike="noStrike" cap="none" normalizeH="0" baseline="0" dirty="0">
                        <a:ln>
                          <a:noFill/>
                        </a:ln>
                        <a:solidFill>
                          <a:schemeClr val="tx1"/>
                        </a:solidFill>
                        <a:effectLst/>
                        <a:latin typeface="Montserrat" panose="00000500000000000000" pitchFamily="2" charset="0"/>
                        <a:ea typeface="微软雅黑 Light" panose="020B0502040204020203" pitchFamily="34" charset="-122"/>
                      </a:endParaRPr>
                    </a:p>
                  </a:txBody>
                  <a:tcPr anchor="ctr" horzOverflow="overflow"/>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8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位非 </a:t>
                      </a:r>
                      <a:r>
                        <a:rPr kumimoji="1" lang="en-US" altLang="zh-CN" sz="1200" b="0" u="none" strike="noStrike" cap="none" normalizeH="0" baseline="0" dirty="0">
                          <a:ln>
                            <a:noFill/>
                          </a:ln>
                          <a:effectLst/>
                          <a:latin typeface="Montserrat" panose="00000500000000000000" pitchFamily="2" charset="0"/>
                          <a:ea typeface="微软雅黑 Light" panose="020B0502040204020203" pitchFamily="34" charset="-122"/>
                        </a:rPr>
                        <a:t>ASCII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编码，每行不能超过 </a:t>
                      </a:r>
                      <a:r>
                        <a:rPr kumimoji="1" lang="en-US" altLang="zh-CN" sz="1200" b="0" u="none" strike="noStrike" cap="none" normalizeH="0" baseline="0" dirty="0">
                          <a:ln>
                            <a:noFill/>
                          </a:ln>
                          <a:effectLst/>
                          <a:latin typeface="Montserrat" panose="00000500000000000000" pitchFamily="2" charset="0"/>
                          <a:ea typeface="微软雅黑 Light" panose="020B0502040204020203" pitchFamily="34" charset="-122"/>
                        </a:rPr>
                        <a:t>1000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个字节（包括回车和换行）</a:t>
                      </a:r>
                      <a:endParaRPr kumimoji="1" lang="en-US" altLang="ko-KR" sz="1200" b="0" i="0" u="none" strike="noStrike" cap="none" normalizeH="0" baseline="0" dirty="0">
                        <a:ln>
                          <a:noFill/>
                        </a:ln>
                        <a:solidFill>
                          <a:schemeClr val="tx1"/>
                        </a:solidFill>
                        <a:effectLst/>
                        <a:latin typeface="Montserrat" panose="00000500000000000000" pitchFamily="2" charset="0"/>
                        <a:ea typeface="微软雅黑 Light" panose="020B0502040204020203" pitchFamily="34" charset="-122"/>
                      </a:endParaRPr>
                    </a:p>
                  </a:txBody>
                  <a:tcPr anchor="ctr" horzOverflow="overflow"/>
                </a:tc>
                <a:extLst>
                  <a:ext uri="{0D108BD9-81ED-4DB2-BD59-A6C34878D82A}">
                    <a16:rowId xmlns:a16="http://schemas.microsoft.com/office/drawing/2014/main" val="10002"/>
                  </a:ext>
                </a:extLst>
              </a:tr>
              <a:tr h="193564">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Binary</a:t>
                      </a:r>
                      <a:endParaRPr kumimoji="1" lang="en-US" altLang="ko-KR" sz="1200" b="0" i="0" u="none" strike="noStrike" cap="none" normalizeH="0" baseline="0" dirty="0">
                        <a:ln>
                          <a:noFill/>
                        </a:ln>
                        <a:solidFill>
                          <a:schemeClr val="tx1"/>
                        </a:solidFill>
                        <a:effectLst/>
                        <a:latin typeface="Montserrat" panose="00000500000000000000" pitchFamily="2" charset="0"/>
                        <a:ea typeface="微软雅黑 Light" panose="020B0502040204020203" pitchFamily="34" charset="-122"/>
                      </a:endParaRPr>
                    </a:p>
                  </a:txBody>
                  <a:tcPr anchor="ctr" horzOverflow="overflow"/>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8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位非 </a:t>
                      </a:r>
                      <a:r>
                        <a:rPr kumimoji="1" lang="en-US" altLang="zh-CN" sz="1200" b="0" u="none" strike="noStrike" cap="none" normalizeH="0" baseline="0" dirty="0">
                          <a:ln>
                            <a:noFill/>
                          </a:ln>
                          <a:effectLst/>
                          <a:latin typeface="Montserrat" panose="00000500000000000000" pitchFamily="2" charset="0"/>
                          <a:ea typeface="微软雅黑 Light" panose="020B0502040204020203" pitchFamily="34" charset="-122"/>
                        </a:rPr>
                        <a:t>ASCII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编码，任意长度的字节串</a:t>
                      </a:r>
                      <a:endParaRPr kumimoji="1" lang="ko-KR" altLang="en-US" sz="1200" b="0" i="0" u="none" strike="noStrike" cap="none" normalizeH="0" baseline="0" dirty="0">
                        <a:ln>
                          <a:noFill/>
                        </a:ln>
                        <a:solidFill>
                          <a:schemeClr val="tx1"/>
                        </a:solidFill>
                        <a:effectLst/>
                        <a:latin typeface="Montserrat" panose="00000500000000000000" pitchFamily="2" charset="0"/>
                        <a:ea typeface="굴림" pitchFamily="50" charset="-127"/>
                      </a:endParaRPr>
                    </a:p>
                  </a:txBody>
                  <a:tcPr anchor="ctr" horzOverflow="overflow"/>
                </a:tc>
                <a:extLst>
                  <a:ext uri="{0D108BD9-81ED-4DB2-BD59-A6C34878D82A}">
                    <a16:rowId xmlns:a16="http://schemas.microsoft.com/office/drawing/2014/main" val="10003"/>
                  </a:ext>
                </a:extLst>
              </a:tr>
              <a:tr h="339400">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Base64</a:t>
                      </a:r>
                      <a:endParaRPr kumimoji="1" lang="en-US" altLang="ko-KR" sz="1200" b="0" i="0" u="none" strike="noStrike" cap="none" normalizeH="0" baseline="0" dirty="0">
                        <a:ln>
                          <a:noFill/>
                        </a:ln>
                        <a:solidFill>
                          <a:schemeClr val="tx1"/>
                        </a:solidFill>
                        <a:effectLst/>
                        <a:latin typeface="Montserrat" panose="00000500000000000000" pitchFamily="2" charset="0"/>
                        <a:ea typeface="微软雅黑 Light" panose="020B0502040204020203" pitchFamily="34" charset="-122"/>
                      </a:endParaRPr>
                    </a:p>
                  </a:txBody>
                  <a:tcPr anchor="ctr" horzOverflow="overflow"/>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kern="1200" cap="none" normalizeH="0" baseline="0" dirty="0">
                          <a:ln>
                            <a:noFill/>
                          </a:ln>
                          <a:solidFill>
                            <a:schemeClr val="dk1"/>
                          </a:solidFill>
                          <a:effectLst/>
                          <a:latin typeface="Montserrat" panose="00000500000000000000" pitchFamily="2" charset="0"/>
                          <a:ea typeface="微软雅黑 Light" panose="020B0502040204020203" pitchFamily="34" charset="-122"/>
                        </a:rPr>
                        <a:t>将任意长度的字节串转换为用 </a:t>
                      </a:r>
                      <a:r>
                        <a:rPr kumimoji="1" lang="en-US" altLang="zh-CN" sz="1200" b="0" u="none" strike="noStrike" kern="1200" cap="none" normalizeH="0" baseline="0" dirty="0">
                          <a:ln>
                            <a:noFill/>
                          </a:ln>
                          <a:solidFill>
                            <a:schemeClr val="dk1"/>
                          </a:solidFill>
                          <a:effectLst/>
                          <a:latin typeface="Montserrat" panose="00000500000000000000" pitchFamily="2" charset="0"/>
                          <a:ea typeface="微软雅黑 Light" panose="020B0502040204020203" pitchFamily="34" charset="-122"/>
                        </a:rPr>
                        <a:t>7 </a:t>
                      </a:r>
                      <a:r>
                        <a:rPr kumimoji="1" lang="zh-CN" altLang="en-US" sz="1200" b="0" u="none" strike="noStrike" kern="1200" cap="none" normalizeH="0" baseline="0" dirty="0">
                          <a:ln>
                            <a:noFill/>
                          </a:ln>
                          <a:solidFill>
                            <a:schemeClr val="dk1"/>
                          </a:solidFill>
                          <a:effectLst/>
                          <a:latin typeface="Montserrat" panose="00000500000000000000" pitchFamily="2" charset="0"/>
                          <a:ea typeface="微软雅黑 Light" panose="020B0502040204020203" pitchFamily="34" charset="-122"/>
                        </a:rPr>
                        <a:t>位 </a:t>
                      </a:r>
                      <a:r>
                        <a:rPr kumimoji="1" lang="en-US" altLang="zh-CN" sz="1200" b="0" u="none" strike="noStrike" kern="1200" cap="none" normalizeH="0" baseline="0" dirty="0">
                          <a:ln>
                            <a:noFill/>
                          </a:ln>
                          <a:solidFill>
                            <a:schemeClr val="dk1"/>
                          </a:solidFill>
                          <a:effectLst/>
                          <a:latin typeface="Montserrat" panose="00000500000000000000" pitchFamily="2" charset="0"/>
                          <a:ea typeface="微软雅黑 Light" panose="020B0502040204020203" pitchFamily="34" charset="-122"/>
                        </a:rPr>
                        <a:t>ASCII </a:t>
                      </a:r>
                      <a:r>
                        <a:rPr kumimoji="1" lang="zh-CN" altLang="en-US" sz="1200" b="0" u="none" strike="noStrike" kern="1200" cap="none" normalizeH="0" baseline="0" dirty="0">
                          <a:ln>
                            <a:noFill/>
                          </a:ln>
                          <a:solidFill>
                            <a:schemeClr val="dk1"/>
                          </a:solidFill>
                          <a:effectLst/>
                          <a:latin typeface="Montserrat" panose="00000500000000000000" pitchFamily="2" charset="0"/>
                          <a:ea typeface="微软雅黑 Light" panose="020B0502040204020203" pitchFamily="34" charset="-122"/>
                        </a:rPr>
                        <a:t>编码表示的字符串</a:t>
                      </a:r>
                      <a:endParaRPr kumimoji="1" lang="en-US" altLang="zh-CN" sz="1200" b="0" u="none" strike="noStrike" kern="1200" cap="none" normalizeH="0" baseline="0" dirty="0">
                        <a:ln>
                          <a:noFill/>
                        </a:ln>
                        <a:solidFill>
                          <a:schemeClr val="dk1"/>
                        </a:solidFill>
                        <a:effectLst/>
                        <a:latin typeface="Montserrat" panose="00000500000000000000" pitchFamily="2" charset="0"/>
                        <a:ea typeface="微软雅黑 Light" panose="020B0502040204020203" pitchFamily="34" charset="-122"/>
                      </a:endParaRPr>
                    </a:p>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kern="1200" cap="none" normalizeH="0" baseline="0" dirty="0">
                          <a:ln>
                            <a:noFill/>
                          </a:ln>
                          <a:solidFill>
                            <a:schemeClr val="dk1"/>
                          </a:solidFill>
                          <a:effectLst/>
                          <a:latin typeface="Montserrat" panose="00000500000000000000" pitchFamily="2" charset="0"/>
                          <a:ea typeface="微软雅黑 Light" panose="020B0502040204020203" pitchFamily="34" charset="-122"/>
                        </a:rPr>
                        <a:t>可用于二进制和非文本数据的编码</a:t>
                      </a:r>
                      <a:endParaRPr kumimoji="1" lang="ko-KR" altLang="en-US" sz="1200" b="0" u="none" strike="noStrike" kern="1200" cap="none" normalizeH="0" baseline="0" dirty="0">
                        <a:ln>
                          <a:noFill/>
                        </a:ln>
                        <a:solidFill>
                          <a:schemeClr val="dk1"/>
                        </a:solidFill>
                        <a:effectLst/>
                        <a:latin typeface="Montserrat" panose="00000500000000000000" pitchFamily="2" charset="0"/>
                        <a:ea typeface="微软雅黑" pitchFamily="34" charset="-122"/>
                        <a:cs typeface="+mn-cs"/>
                      </a:endParaRPr>
                    </a:p>
                  </a:txBody>
                  <a:tcPr anchor="ctr" horzOverflow="overflow"/>
                </a:tc>
                <a:extLst>
                  <a:ext uri="{0D108BD9-81ED-4DB2-BD59-A6C34878D82A}">
                    <a16:rowId xmlns:a16="http://schemas.microsoft.com/office/drawing/2014/main" val="10004"/>
                  </a:ext>
                </a:extLst>
              </a:tr>
              <a:tr h="339400">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Quoted-printable</a:t>
                      </a:r>
                      <a:endParaRPr kumimoji="1" lang="en-US" altLang="ko-KR" sz="1200" b="0" i="0" u="none" strike="noStrike" cap="none" normalizeH="0" baseline="0" dirty="0">
                        <a:ln>
                          <a:noFill/>
                        </a:ln>
                        <a:solidFill>
                          <a:schemeClr val="tx1"/>
                        </a:solidFill>
                        <a:effectLst/>
                        <a:latin typeface="Montserrat" panose="00000500000000000000" pitchFamily="2" charset="0"/>
                        <a:ea typeface="微软雅黑 Light" panose="020B0502040204020203" pitchFamily="34" charset="-122"/>
                      </a:endParaRPr>
                    </a:p>
                  </a:txBody>
                  <a:tcPr anchor="ctr" horzOverflow="overflow"/>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将任意长度的字节串转换为 </a:t>
                      </a:r>
                      <a:r>
                        <a:rPr kumimoji="1" lang="en-US" altLang="zh-CN" sz="1200" b="0" u="none" strike="noStrike" cap="none" normalizeH="0" baseline="0" dirty="0">
                          <a:ln>
                            <a:noFill/>
                          </a:ln>
                          <a:effectLst/>
                          <a:latin typeface="Montserrat" panose="00000500000000000000" pitchFamily="2" charset="0"/>
                          <a:ea typeface="微软雅黑 Light" panose="020B0502040204020203" pitchFamily="34" charset="-122"/>
                        </a:rPr>
                        <a:t>ASCII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编码表示的字符串</a:t>
                      </a:r>
                      <a:endParaRPr kumimoji="1" lang="en-US" altLang="zh-CN" sz="1200" b="0" u="none" strike="noStrike" cap="none" normalizeH="0" baseline="0" dirty="0">
                        <a:ln>
                          <a:noFill/>
                        </a:ln>
                        <a:effectLst/>
                        <a:latin typeface="Montserrat" panose="00000500000000000000" pitchFamily="2" charset="0"/>
                        <a:ea typeface="微软雅黑 Light" panose="020B0502040204020203" pitchFamily="34" charset="-122"/>
                      </a:endParaRPr>
                    </a:p>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可用于二进制和非文本数据的编码</a:t>
                      </a:r>
                    </a:p>
                  </a:txBody>
                  <a:tcPr anchor="ctr" horzOverflow="overflow"/>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9994875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7BA207-27FC-3613-70D8-877010E281A1}"/>
            </a:ext>
          </a:extLst>
        </p:cNvPr>
        <p:cNvGrpSpPr/>
        <p:nvPr/>
      </p:nvGrpSpPr>
      <p:grpSpPr>
        <a:xfrm>
          <a:off x="0" y="0"/>
          <a:ext cx="0" cy="0"/>
          <a:chOff x="0" y="0"/>
          <a:chExt cx="0" cy="0"/>
        </a:xfrm>
      </p:grpSpPr>
      <p:sp>
        <p:nvSpPr>
          <p:cNvPr id="4" name="标题 3">
            <a:extLst>
              <a:ext uri="{FF2B5EF4-FFF2-40B4-BE49-F238E27FC236}">
                <a16:creationId xmlns:a16="http://schemas.microsoft.com/office/drawing/2014/main" id="{0AB02427-906C-FF90-A584-4B5F5A3D2F44}"/>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内容传送编码</a:t>
            </a:r>
          </a:p>
        </p:txBody>
      </p:sp>
      <p:sp>
        <p:nvSpPr>
          <p:cNvPr id="10" name="内容占位符 9">
            <a:extLst>
              <a:ext uri="{FF2B5EF4-FFF2-40B4-BE49-F238E27FC236}">
                <a16:creationId xmlns:a16="http://schemas.microsoft.com/office/drawing/2014/main" id="{81915898-B71F-442E-4460-7C655AEAB892}"/>
              </a:ext>
            </a:extLst>
          </p:cNvPr>
          <p:cNvSpPr>
            <a:spLocks noGrp="1"/>
          </p:cNvSpPr>
          <p:nvPr>
            <p:ph sz="quarter" idx="11"/>
          </p:nvPr>
        </p:nvSpPr>
        <p:spPr>
          <a:xfrm>
            <a:off x="486000" y="687518"/>
            <a:ext cx="8172000" cy="4079035"/>
          </a:xfrm>
        </p:spPr>
        <p:txBody>
          <a:bodyPr/>
          <a:lstStyle/>
          <a:p>
            <a:r>
              <a:rPr lang="en-US" altLang="zh-CN" dirty="0"/>
              <a:t>ASCII</a:t>
            </a:r>
            <a:r>
              <a:rPr lang="zh-CN" altLang="en-US" dirty="0"/>
              <a:t>编码</a:t>
            </a:r>
            <a:endParaRPr lang="en-US" altLang="zh-CN" dirty="0"/>
          </a:p>
          <a:p>
            <a:pPr lvl="1"/>
            <a:r>
              <a:rPr lang="en-US" altLang="zh-CN" dirty="0"/>
              <a:t>American Standard Code for Information Interchange</a:t>
            </a:r>
          </a:p>
          <a:p>
            <a:pPr lvl="1"/>
            <a:r>
              <a:rPr lang="zh-CN" altLang="en-US" dirty="0"/>
              <a:t>美国信息交换标准代码</a:t>
            </a:r>
            <a:endParaRPr lang="en-US" altLang="zh-CN" dirty="0"/>
          </a:p>
          <a:p>
            <a:pPr lvl="1"/>
            <a:r>
              <a:rPr lang="zh-CN" altLang="en-US" dirty="0"/>
              <a:t>处理的是 文本（</a:t>
            </a:r>
            <a:r>
              <a:rPr lang="en-US" altLang="zh-CN" dirty="0"/>
              <a:t>text</a:t>
            </a:r>
            <a:r>
              <a:rPr lang="zh-CN" altLang="en-US" dirty="0"/>
              <a:t>），不是数值</a:t>
            </a:r>
            <a:endParaRPr lang="en-US" altLang="zh-CN" dirty="0"/>
          </a:p>
          <a:p>
            <a:pPr lvl="1"/>
            <a:r>
              <a:rPr lang="zh-CN" altLang="en-US" dirty="0"/>
              <a:t>一共有 </a:t>
            </a:r>
            <a:r>
              <a:rPr lang="en-US" altLang="zh-CN" dirty="0"/>
              <a:t>128 </a:t>
            </a:r>
            <a:r>
              <a:rPr lang="zh-CN" altLang="en-US" dirty="0"/>
              <a:t>个字符，即 </a:t>
            </a:r>
            <a:r>
              <a:rPr lang="en-US" altLang="zh-CN" dirty="0"/>
              <a:t>0 </a:t>
            </a:r>
            <a:r>
              <a:rPr lang="zh-CN" altLang="en-US" dirty="0"/>
              <a:t>到 </a:t>
            </a:r>
            <a:r>
              <a:rPr lang="en-US" altLang="zh-CN" dirty="0"/>
              <a:t>127</a:t>
            </a:r>
          </a:p>
          <a:p>
            <a:pPr lvl="1"/>
            <a:r>
              <a:rPr lang="zh-CN" altLang="en-US" dirty="0"/>
              <a:t>用 </a:t>
            </a:r>
            <a:r>
              <a:rPr lang="en-US" altLang="zh-CN" dirty="0"/>
              <a:t>7 </a:t>
            </a:r>
            <a:r>
              <a:rPr lang="zh-CN" altLang="en-US" dirty="0"/>
              <a:t>位二进制表示</a:t>
            </a:r>
          </a:p>
        </p:txBody>
      </p:sp>
      <p:graphicFrame>
        <p:nvGraphicFramePr>
          <p:cNvPr id="5" name="Group 34">
            <a:extLst>
              <a:ext uri="{FF2B5EF4-FFF2-40B4-BE49-F238E27FC236}">
                <a16:creationId xmlns:a16="http://schemas.microsoft.com/office/drawing/2014/main" id="{8BAC2590-69BE-D157-39A4-BDBE5757321E}"/>
              </a:ext>
            </a:extLst>
          </p:cNvPr>
          <p:cNvGraphicFramePr>
            <a:graphicFrameLocks noGrp="1"/>
          </p:cNvGraphicFramePr>
          <p:nvPr>
            <p:extLst>
              <p:ext uri="{D42A27DB-BD31-4B8C-83A1-F6EECF244321}">
                <p14:modId xmlns:p14="http://schemas.microsoft.com/office/powerpoint/2010/main" val="4046417217"/>
              </p:ext>
            </p:extLst>
          </p:nvPr>
        </p:nvGraphicFramePr>
        <p:xfrm>
          <a:off x="485774" y="3025002"/>
          <a:ext cx="8172450" cy="699400"/>
        </p:xfrm>
        <a:graphic>
          <a:graphicData uri="http://schemas.openxmlformats.org/drawingml/2006/table">
            <a:tbl>
              <a:tblPr firstRow="1" bandRow="1">
                <a:tableStyleId>{93296810-A885-4BE3-A3E7-6D5BEEA58F35}</a:tableStyleId>
              </a:tblPr>
              <a:tblGrid>
                <a:gridCol w="1291650">
                  <a:extLst>
                    <a:ext uri="{9D8B030D-6E8A-4147-A177-3AD203B41FA5}">
                      <a16:colId xmlns:a16="http://schemas.microsoft.com/office/drawing/2014/main" val="20000"/>
                    </a:ext>
                  </a:extLst>
                </a:gridCol>
                <a:gridCol w="1396309">
                  <a:extLst>
                    <a:ext uri="{9D8B030D-6E8A-4147-A177-3AD203B41FA5}">
                      <a16:colId xmlns:a16="http://schemas.microsoft.com/office/drawing/2014/main" val="1922206169"/>
                    </a:ext>
                  </a:extLst>
                </a:gridCol>
                <a:gridCol w="1396309">
                  <a:extLst>
                    <a:ext uri="{9D8B030D-6E8A-4147-A177-3AD203B41FA5}">
                      <a16:colId xmlns:a16="http://schemas.microsoft.com/office/drawing/2014/main" val="3896234113"/>
                    </a:ext>
                  </a:extLst>
                </a:gridCol>
                <a:gridCol w="2044091">
                  <a:extLst>
                    <a:ext uri="{9D8B030D-6E8A-4147-A177-3AD203B41FA5}">
                      <a16:colId xmlns:a16="http://schemas.microsoft.com/office/drawing/2014/main" val="20001"/>
                    </a:ext>
                  </a:extLst>
                </a:gridCol>
                <a:gridCol w="2044091">
                  <a:extLst>
                    <a:ext uri="{9D8B030D-6E8A-4147-A177-3AD203B41FA5}">
                      <a16:colId xmlns:a16="http://schemas.microsoft.com/office/drawing/2014/main" val="2565159700"/>
                    </a:ext>
                  </a:extLst>
                </a:gridCol>
              </a:tblGrid>
              <a:tr h="360000">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类型 </a:t>
                      </a:r>
                      <a:r>
                        <a:rPr kumimoji="1" lang="en-US" altLang="zh-CN" sz="1200" b="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Type</a:t>
                      </a:r>
                      <a:endParaRPr kumimoji="1" lang="en-US" altLang="ko-KR"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endParaRPr>
                    </a:p>
                  </a:txBody>
                  <a:tcPr anchor="ctr" horzOverflow="overflow"/>
                </a:tc>
                <a:tc>
                  <a:txBody>
                    <a:body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字符 </a:t>
                      </a:r>
                      <a:r>
                        <a:rPr kumimoji="1" lang="en-US" altLang="zh-CN"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Character</a:t>
                      </a:r>
                      <a:endParaRPr kumimoji="1" lang="en-US" altLang="ko-KR"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endParaRPr>
                    </a:p>
                  </a:txBody>
                  <a:tcPr anchor="ctr" horzOverflow="overflow"/>
                </a:tc>
                <a:tc>
                  <a:txBody>
                    <a:body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二进制 </a:t>
                      </a:r>
                      <a:r>
                        <a:rPr kumimoji="1" lang="en-US" altLang="zh-CN"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Binary</a:t>
                      </a:r>
                      <a:endParaRPr kumimoji="1" lang="en-US" altLang="ko-KR"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endParaRPr>
                    </a:p>
                  </a:txBody>
                  <a:tcPr anchor="ctr" horzOverflow="overflow"/>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十进制 </a:t>
                      </a:r>
                      <a:r>
                        <a:rPr kumimoji="1" lang="en-US" altLang="zh-CN" sz="1200" b="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Decimal</a:t>
                      </a:r>
                      <a:endParaRPr kumimoji="1" lang="en-US" altLang="ko-KR"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endParaRPr>
                    </a:p>
                  </a:txBody>
                  <a:tcPr anchor="ctr" horzOverflow="overflow"/>
                </a:tc>
                <a:tc>
                  <a:txBody>
                    <a:body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十六进制 </a:t>
                      </a:r>
                      <a:r>
                        <a:rPr kumimoji="1" lang="en-US" altLang="zh-CN"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Hexadecimal</a:t>
                      </a:r>
                      <a:endParaRPr kumimoji="1" lang="en-US" altLang="ko-KR"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endParaRPr>
                    </a:p>
                  </a:txBody>
                  <a:tcPr anchor="ctr" horzOverflow="overflow"/>
                </a:tc>
                <a:extLst>
                  <a:ext uri="{0D108BD9-81ED-4DB2-BD59-A6C34878D82A}">
                    <a16:rowId xmlns:a16="http://schemas.microsoft.com/office/drawing/2014/main" val="10000"/>
                  </a:ext>
                </a:extLst>
              </a:tr>
              <a:tr h="339400">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i="0" u="none" strike="noStrike" cap="none" normalizeH="0" baseline="0" dirty="0">
                          <a:ln>
                            <a:noFill/>
                          </a:ln>
                          <a:solidFill>
                            <a:schemeClr val="tx1"/>
                          </a:solidFill>
                          <a:effectLst/>
                          <a:latin typeface="Montserrat" panose="00000500000000000000" pitchFamily="2" charset="0"/>
                          <a:ea typeface="微软雅黑 Light" panose="020B0502040204020203" pitchFamily="34" charset="-122"/>
                        </a:rPr>
                        <a:t>可打印</a:t>
                      </a:r>
                      <a:endParaRPr kumimoji="1" lang="en-US" altLang="ko-KR" sz="1200" b="0" i="0" u="none" strike="noStrike" cap="none" normalizeH="0" baseline="0" dirty="0">
                        <a:ln>
                          <a:noFill/>
                        </a:ln>
                        <a:solidFill>
                          <a:schemeClr val="tx1"/>
                        </a:solidFill>
                        <a:effectLst/>
                        <a:latin typeface="Montserrat" panose="00000500000000000000" pitchFamily="2" charset="0"/>
                        <a:ea typeface="微软雅黑 Light" panose="020B0502040204020203" pitchFamily="34" charset="-122"/>
                      </a:endParaRPr>
                    </a:p>
                  </a:txBody>
                  <a:tcPr anchor="ctr" horzOverflow="overflow"/>
                </a:tc>
                <a:tc>
                  <a:txBody>
                    <a:body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i="0" u="none" strike="noStrike" cap="none" normalizeH="0" baseline="0" dirty="0">
                          <a:ln>
                            <a:noFill/>
                          </a:ln>
                          <a:solidFill>
                            <a:schemeClr val="tx1"/>
                          </a:solidFill>
                          <a:effectLst/>
                          <a:latin typeface="Montserrat" panose="00000500000000000000" pitchFamily="2" charset="0"/>
                          <a:ea typeface="굴림" pitchFamily="50" charset="-127"/>
                        </a:rPr>
                        <a:t>9</a:t>
                      </a:r>
                      <a:endParaRPr kumimoji="1" lang="ko-KR" altLang="en-US" sz="1200" b="0" i="0" u="none" strike="noStrike" cap="none" normalizeH="0" baseline="0" dirty="0">
                        <a:ln>
                          <a:noFill/>
                        </a:ln>
                        <a:solidFill>
                          <a:schemeClr val="tx1"/>
                        </a:solidFill>
                        <a:effectLst/>
                        <a:latin typeface="Montserrat" panose="00000500000000000000" pitchFamily="2" charset="0"/>
                        <a:ea typeface="굴림" pitchFamily="50" charset="-127"/>
                      </a:endParaRPr>
                    </a:p>
                  </a:txBody>
                  <a:tcPr anchor="ctr" horzOverflow="overflow"/>
                </a:tc>
                <a:tc>
                  <a:txBody>
                    <a:body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i="0" u="none" strike="noStrike" cap="none" normalizeH="0" baseline="0" dirty="0">
                          <a:ln>
                            <a:noFill/>
                          </a:ln>
                          <a:solidFill>
                            <a:schemeClr val="tx1"/>
                          </a:solidFill>
                          <a:effectLst/>
                          <a:latin typeface="Montserrat" panose="00000500000000000000" pitchFamily="2" charset="0"/>
                          <a:ea typeface="굴림" pitchFamily="50" charset="-127"/>
                        </a:rPr>
                        <a:t>00111001</a:t>
                      </a:r>
                      <a:endParaRPr kumimoji="1" lang="ko-KR" altLang="en-US" sz="1200" b="0" i="0" u="none" strike="noStrike" cap="none" normalizeH="0" baseline="0" dirty="0">
                        <a:ln>
                          <a:noFill/>
                        </a:ln>
                        <a:solidFill>
                          <a:schemeClr val="tx1"/>
                        </a:solidFill>
                        <a:effectLst/>
                        <a:latin typeface="Montserrat" panose="00000500000000000000" pitchFamily="2" charset="0"/>
                        <a:ea typeface="굴림" pitchFamily="50" charset="-127"/>
                      </a:endParaRPr>
                    </a:p>
                  </a:txBody>
                  <a:tcPr anchor="ctr" horzOverflow="overflow"/>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57</a:t>
                      </a:r>
                      <a:endParaRPr kumimoji="1" lang="ko-KR" altLang="en-US" sz="1200" b="0" i="0" u="none" strike="noStrike" cap="none" normalizeH="0" baseline="0" dirty="0">
                        <a:ln>
                          <a:noFill/>
                        </a:ln>
                        <a:solidFill>
                          <a:schemeClr val="tx1"/>
                        </a:solidFill>
                        <a:effectLst/>
                        <a:latin typeface="Montserrat" panose="00000500000000000000" pitchFamily="2" charset="0"/>
                        <a:ea typeface="굴림" pitchFamily="50" charset="-127"/>
                      </a:endParaRPr>
                    </a:p>
                  </a:txBody>
                  <a:tcPr anchor="ctr" horzOverflow="overflow"/>
                </a:tc>
                <a:tc>
                  <a:txBody>
                    <a:body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i="0" u="none" strike="noStrike" cap="none" normalizeH="0" baseline="0" dirty="0">
                          <a:ln>
                            <a:noFill/>
                          </a:ln>
                          <a:solidFill>
                            <a:schemeClr val="tx1"/>
                          </a:solidFill>
                          <a:effectLst/>
                          <a:latin typeface="Montserrat" panose="00000500000000000000" pitchFamily="2" charset="0"/>
                          <a:ea typeface="굴림" pitchFamily="50" charset="-127"/>
                        </a:rPr>
                        <a:t>0</a:t>
                      </a:r>
                      <a:r>
                        <a:rPr kumimoji="1" lang="en-US" altLang="zh-CN" sz="1200" b="0" i="0" u="none" strike="noStrike" cap="none" normalizeH="0" baseline="0" dirty="0">
                          <a:ln>
                            <a:noFill/>
                          </a:ln>
                          <a:solidFill>
                            <a:schemeClr val="tx1"/>
                          </a:solidFill>
                          <a:effectLst/>
                          <a:latin typeface="Montserrat" panose="00000500000000000000" pitchFamily="2" charset="0"/>
                          <a:ea typeface="굴림" pitchFamily="50" charset="-127"/>
                        </a:rPr>
                        <a:t>x39</a:t>
                      </a:r>
                      <a:endParaRPr kumimoji="1" lang="ko-KR" altLang="en-US" sz="1200" b="0" i="0" u="none" strike="noStrike" cap="none" normalizeH="0" baseline="0" dirty="0">
                        <a:ln>
                          <a:noFill/>
                        </a:ln>
                        <a:solidFill>
                          <a:schemeClr val="tx1"/>
                        </a:solidFill>
                        <a:effectLst/>
                        <a:latin typeface="Montserrat" panose="00000500000000000000" pitchFamily="2" charset="0"/>
                        <a:ea typeface="굴림" pitchFamily="50" charset="-127"/>
                      </a:endParaRPr>
                    </a:p>
                  </a:txBody>
                  <a:tcPr anchor="ctr" horzOverflow="overflow"/>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41388660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内容占位符 26">
            <a:extLst>
              <a:ext uri="{FF2B5EF4-FFF2-40B4-BE49-F238E27FC236}">
                <a16:creationId xmlns:a16="http://schemas.microsoft.com/office/drawing/2014/main" id="{32431927-7B00-498A-6768-99F656765A22}"/>
              </a:ext>
            </a:extLst>
          </p:cNvPr>
          <p:cNvSpPr>
            <a:spLocks noGrp="1"/>
          </p:cNvSpPr>
          <p:nvPr>
            <p:ph sz="quarter" idx="11"/>
          </p:nvPr>
        </p:nvSpPr>
        <p:spPr>
          <a:xfrm>
            <a:off x="486000" y="687518"/>
            <a:ext cx="8172000" cy="4079035"/>
          </a:xfrm>
        </p:spPr>
        <p:txBody>
          <a:bodyPr/>
          <a:lstStyle/>
          <a:p>
            <a:r>
              <a:rPr lang="zh-CN" altLang="en-US" dirty="0"/>
              <a:t>适用于所传送的数据中只有少量的非 </a:t>
            </a:r>
            <a:r>
              <a:rPr lang="en-US" altLang="zh-CN" dirty="0"/>
              <a:t>ASCII </a:t>
            </a:r>
            <a:r>
              <a:rPr lang="zh-CN" altLang="en-US" dirty="0"/>
              <a:t>码的情况</a:t>
            </a:r>
            <a:endParaRPr lang="en-US" altLang="zh-CN" dirty="0"/>
          </a:p>
          <a:p>
            <a:pPr lvl="1"/>
            <a:r>
              <a:rPr lang="zh-CN" altLang="en-US" dirty="0"/>
              <a:t>如汉字</a:t>
            </a:r>
            <a:endParaRPr lang="en-US" altLang="zh-CN" dirty="0"/>
          </a:p>
          <a:p>
            <a:r>
              <a:rPr lang="zh-CN" altLang="en-US" dirty="0"/>
              <a:t>规则：</a:t>
            </a:r>
            <a:endParaRPr lang="en-US" altLang="zh-CN" dirty="0"/>
          </a:p>
          <a:p>
            <a:pPr lvl="1"/>
            <a:r>
              <a:rPr lang="zh-CN" altLang="en-US" dirty="0"/>
              <a:t>所有可打印的</a:t>
            </a:r>
            <a:r>
              <a:rPr lang="en-US" altLang="zh-CN" dirty="0"/>
              <a:t>ASCII</a:t>
            </a:r>
            <a:r>
              <a:rPr lang="zh-CN" altLang="en-US" dirty="0"/>
              <a:t>码，除 </a:t>
            </a:r>
            <a:r>
              <a:rPr lang="en-US" altLang="zh-CN" dirty="0"/>
              <a:t>= </a:t>
            </a:r>
            <a:r>
              <a:rPr lang="zh-CN" altLang="en-US" dirty="0"/>
              <a:t>外，都不改变</a:t>
            </a:r>
            <a:endParaRPr lang="en-US" altLang="zh-CN" dirty="0"/>
          </a:p>
          <a:p>
            <a:pPr lvl="1"/>
            <a:r>
              <a:rPr lang="zh-CN" altLang="en-US" dirty="0"/>
              <a:t>其它：</a:t>
            </a:r>
            <a:r>
              <a:rPr lang="en-US" altLang="zh-CN" dirty="0"/>
              <a:t>= + </a:t>
            </a:r>
            <a:r>
              <a:rPr lang="zh-CN" altLang="en-US" dirty="0"/>
              <a:t>每个字节对应的两个</a:t>
            </a:r>
            <a:r>
              <a:rPr lang="zh-CN" altLang="en-US" dirty="0">
                <a:solidFill>
                  <a:srgbClr val="C00000"/>
                </a:solidFill>
              </a:rPr>
              <a:t>大写</a:t>
            </a:r>
            <a:r>
              <a:rPr lang="zh-CN" altLang="en-US" dirty="0"/>
              <a:t>的十六进制</a:t>
            </a:r>
            <a:endParaRPr lang="en-US" altLang="zh-CN" dirty="0"/>
          </a:p>
          <a:p>
            <a:r>
              <a:rPr lang="zh-CN" altLang="en-US" dirty="0"/>
              <a:t>开销增加：</a:t>
            </a:r>
            <a:endParaRPr lang="en-US" altLang="zh-CN" dirty="0"/>
          </a:p>
          <a:p>
            <a:pPr lvl="1"/>
            <a:r>
              <a:rPr lang="zh-CN" altLang="en-US" dirty="0"/>
              <a:t>原来 </a:t>
            </a:r>
            <a:r>
              <a:rPr lang="en-US" altLang="zh-CN" dirty="0"/>
              <a:t>1 </a:t>
            </a:r>
            <a:r>
              <a:rPr lang="zh-CN" altLang="en-US" dirty="0"/>
              <a:t>个字节，现在需要 </a:t>
            </a:r>
            <a:r>
              <a:rPr lang="en-US" altLang="zh-CN" dirty="0"/>
              <a:t>3 </a:t>
            </a:r>
            <a:r>
              <a:rPr lang="zh-CN" altLang="en-US" dirty="0"/>
              <a:t>个字节，开销 </a:t>
            </a:r>
            <a:r>
              <a:rPr lang="en-US" altLang="zh-CN" dirty="0"/>
              <a:t>= 200%</a:t>
            </a:r>
            <a:endParaRPr lang="zh-CN" altLang="en-US" dirty="0"/>
          </a:p>
          <a:p>
            <a:pPr lvl="1"/>
            <a:endParaRPr lang="zh-CN" altLang="en-US" dirty="0"/>
          </a:p>
        </p:txBody>
      </p:sp>
      <p:sp>
        <p:nvSpPr>
          <p:cNvPr id="20" name="Line 1036"/>
          <p:cNvSpPr>
            <a:spLocks noChangeShapeType="1"/>
          </p:cNvSpPr>
          <p:nvPr/>
        </p:nvSpPr>
        <p:spPr bwMode="auto">
          <a:xfrm flipH="1">
            <a:off x="6288345" y="3552078"/>
            <a:ext cx="0" cy="469041"/>
          </a:xfrm>
          <a:prstGeom prst="line">
            <a:avLst/>
          </a:prstGeom>
          <a:noFill/>
          <a:ln w="19050">
            <a:solidFill>
              <a:srgbClr val="000000"/>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 name="矩形 17"/>
          <p:cNvSpPr/>
          <p:nvPr/>
        </p:nvSpPr>
        <p:spPr>
          <a:xfrm>
            <a:off x="4704345" y="3182899"/>
            <a:ext cx="3168000" cy="360000"/>
          </a:xfrm>
          <a:prstGeom prst="rect">
            <a:avLst/>
          </a:prstGeom>
          <a:solidFill>
            <a:schemeClr val="bg1">
              <a:lumMod val="95000"/>
            </a:schemeClr>
          </a:solidFill>
          <a:ln w="9525">
            <a:noFill/>
            <a:miter lim="800000"/>
            <a:headEnd/>
            <a:tailEnd/>
          </a:ln>
          <a:effectLst/>
        </p:spPr>
        <p:txBody>
          <a:bodyPr wrap="none" anchor="ctr"/>
          <a:lstStyle/>
          <a:p>
            <a:pPr algn="ctr" fontAlgn="base">
              <a:spcBef>
                <a:spcPct val="0"/>
              </a:spcBef>
              <a:spcAft>
                <a:spcPct val="0"/>
              </a:spcAft>
            </a:pPr>
            <a:r>
              <a:rPr lang="en-US" altLang="zh-CN" sz="1200" dirty="0">
                <a:solidFill>
                  <a:srgbClr val="020202"/>
                </a:solidFill>
                <a:latin typeface="Montserrat" panose="00000500000000000000" pitchFamily="2" charset="0"/>
                <a:ea typeface="微软雅黑 Light" panose="020B0502040204020203" pitchFamily="34" charset="-122"/>
              </a:rPr>
              <a:t>11001111 10110101 11001101 10110011</a:t>
            </a:r>
            <a:endParaRPr lang="zh-CN" altLang="en-US" sz="1200" dirty="0">
              <a:solidFill>
                <a:srgbClr val="020202"/>
              </a:solidFill>
              <a:latin typeface="Montserrat" panose="00000500000000000000" pitchFamily="2" charset="0"/>
              <a:ea typeface="微软雅黑 Light" panose="020B0502040204020203" pitchFamily="34" charset="-122"/>
            </a:endParaRPr>
          </a:p>
        </p:txBody>
      </p:sp>
      <p:sp>
        <p:nvSpPr>
          <p:cNvPr id="19" name="矩形 18"/>
          <p:cNvSpPr/>
          <p:nvPr/>
        </p:nvSpPr>
        <p:spPr>
          <a:xfrm>
            <a:off x="5553208" y="4007419"/>
            <a:ext cx="1470274" cy="288000"/>
          </a:xfrm>
          <a:prstGeom prst="rect">
            <a:avLst/>
          </a:prstGeom>
          <a:solidFill>
            <a:schemeClr val="bg1">
              <a:lumMod val="95000"/>
            </a:schemeClr>
          </a:solidFill>
          <a:ln w="9525">
            <a:noFill/>
            <a:miter lim="800000"/>
            <a:headEnd/>
            <a:tailEnd/>
          </a:ln>
          <a:effectLst/>
        </p:spPr>
        <p:txBody>
          <a:bodyPr wrap="none" anchor="ctr"/>
          <a:lstStyle/>
          <a:p>
            <a:pPr algn="ctr" fontAlgn="base">
              <a:spcBef>
                <a:spcPct val="0"/>
              </a:spcBef>
              <a:spcAft>
                <a:spcPct val="0"/>
              </a:spcAft>
            </a:pPr>
            <a:r>
              <a:rPr lang="en-US" altLang="zh-CN" sz="1200" dirty="0">
                <a:solidFill>
                  <a:srgbClr val="C00000"/>
                </a:solidFill>
                <a:latin typeface="Montserrat" panose="00000500000000000000" pitchFamily="2" charset="0"/>
                <a:ea typeface="微软雅黑 Light" panose="020B0502040204020203" pitchFamily="34" charset="-122"/>
              </a:rPr>
              <a:t>=CF=B5=CD=B3</a:t>
            </a:r>
            <a:endParaRPr lang="zh-CN" altLang="en-US" sz="1200" dirty="0">
              <a:solidFill>
                <a:srgbClr val="C00000"/>
              </a:solidFill>
              <a:latin typeface="Montserrat" panose="00000500000000000000" pitchFamily="2" charset="0"/>
              <a:ea typeface="微软雅黑 Light" panose="020B0502040204020203" pitchFamily="34" charset="-122"/>
            </a:endParaRPr>
          </a:p>
        </p:txBody>
      </p:sp>
      <p:sp>
        <p:nvSpPr>
          <p:cNvPr id="21" name="矩形 20"/>
          <p:cNvSpPr/>
          <p:nvPr/>
        </p:nvSpPr>
        <p:spPr>
          <a:xfrm>
            <a:off x="7936953" y="3224399"/>
            <a:ext cx="527709" cy="276999"/>
          </a:xfrm>
          <a:prstGeom prst="rect">
            <a:avLst/>
          </a:prstGeom>
        </p:spPr>
        <p:txBody>
          <a:bodyPr wrap="none">
            <a:spAutoFit/>
          </a:bodyPr>
          <a:lstStyle/>
          <a:p>
            <a:r>
              <a:rPr lang="en-US" altLang="zh-CN" sz="1200" b="1" dirty="0">
                <a:solidFill>
                  <a:srgbClr val="020202"/>
                </a:solidFill>
                <a:latin typeface="微软雅黑 Light" panose="020B0502040204020203" pitchFamily="34" charset="-122"/>
                <a:ea typeface="微软雅黑 Light" panose="020B0502040204020203" pitchFamily="34" charset="-122"/>
              </a:rPr>
              <a:t>32</a:t>
            </a:r>
            <a:r>
              <a:rPr lang="zh-CN" altLang="en-US" sz="1200" b="1" dirty="0">
                <a:solidFill>
                  <a:srgbClr val="020202"/>
                </a:solidFill>
                <a:latin typeface="微软雅黑 Light" panose="020B0502040204020203" pitchFamily="34" charset="-122"/>
                <a:ea typeface="微软雅黑 Light" panose="020B0502040204020203" pitchFamily="34" charset="-122"/>
              </a:rPr>
              <a:t>位</a:t>
            </a:r>
          </a:p>
        </p:txBody>
      </p:sp>
      <p:sp>
        <p:nvSpPr>
          <p:cNvPr id="22" name="矩形 21"/>
          <p:cNvSpPr/>
          <p:nvPr/>
        </p:nvSpPr>
        <p:spPr>
          <a:xfrm>
            <a:off x="7069739" y="4018420"/>
            <a:ext cx="527709" cy="276999"/>
          </a:xfrm>
          <a:prstGeom prst="rect">
            <a:avLst/>
          </a:prstGeom>
        </p:spPr>
        <p:txBody>
          <a:bodyPr wrap="none">
            <a:spAutoFit/>
          </a:bodyPr>
          <a:lstStyle/>
          <a:p>
            <a:r>
              <a:rPr lang="en-US" altLang="zh-CN" sz="1200" b="1" dirty="0">
                <a:solidFill>
                  <a:srgbClr val="020202"/>
                </a:solidFill>
                <a:latin typeface="微软雅黑 Light" panose="020B0502040204020203" pitchFamily="34" charset="-122"/>
                <a:ea typeface="微软雅黑 Light" panose="020B0502040204020203" pitchFamily="34" charset="-122"/>
              </a:rPr>
              <a:t>96</a:t>
            </a:r>
            <a:r>
              <a:rPr lang="zh-CN" altLang="en-US" sz="1200" b="1" dirty="0">
                <a:solidFill>
                  <a:srgbClr val="020202"/>
                </a:solidFill>
                <a:latin typeface="微软雅黑 Light" panose="020B0502040204020203" pitchFamily="34" charset="-122"/>
                <a:ea typeface="微软雅黑 Light" panose="020B0502040204020203" pitchFamily="34" charset="-122"/>
              </a:rPr>
              <a:t>位</a:t>
            </a:r>
          </a:p>
        </p:txBody>
      </p:sp>
      <p:sp>
        <p:nvSpPr>
          <p:cNvPr id="2" name="标题 1">
            <a:extLst>
              <a:ext uri="{FF2B5EF4-FFF2-40B4-BE49-F238E27FC236}">
                <a16:creationId xmlns:a16="http://schemas.microsoft.com/office/drawing/2014/main" id="{C5E964E1-5628-B230-A22A-B026AB3C0627}"/>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内容传送编码 </a:t>
            </a:r>
            <a:r>
              <a:rPr lang="en-US" altLang="zh-CN" dirty="0"/>
              <a:t>- </a:t>
            </a:r>
            <a:r>
              <a:rPr lang="en-US" altLang="ko-KR" dirty="0"/>
              <a:t>Quoted-printable</a:t>
            </a:r>
            <a:endParaRPr lang="zh-CN" altLang="en-US" dirty="0"/>
          </a:p>
        </p:txBody>
      </p:sp>
      <p:graphicFrame>
        <p:nvGraphicFramePr>
          <p:cNvPr id="41" name="表格 40">
            <a:extLst>
              <a:ext uri="{FF2B5EF4-FFF2-40B4-BE49-F238E27FC236}">
                <a16:creationId xmlns:a16="http://schemas.microsoft.com/office/drawing/2014/main" id="{C39C9CAF-EC29-29FD-7811-4FB2A671CAB2}"/>
              </a:ext>
            </a:extLst>
          </p:cNvPr>
          <p:cNvGraphicFramePr>
            <a:graphicFrameLocks noGrp="1"/>
          </p:cNvGraphicFramePr>
          <p:nvPr>
            <p:extLst>
              <p:ext uri="{D42A27DB-BD31-4B8C-83A1-F6EECF244321}">
                <p14:modId xmlns:p14="http://schemas.microsoft.com/office/powerpoint/2010/main" val="343504133"/>
              </p:ext>
            </p:extLst>
          </p:nvPr>
        </p:nvGraphicFramePr>
        <p:xfrm>
          <a:off x="485775" y="3182899"/>
          <a:ext cx="3643946" cy="1112520"/>
        </p:xfrm>
        <a:graphic>
          <a:graphicData uri="http://schemas.openxmlformats.org/drawingml/2006/table">
            <a:tbl>
              <a:tblPr firstRow="1" bandRow="1">
                <a:tableStyleId>{93296810-A885-4BE3-A3E7-6D5BEEA58F35}</a:tableStyleId>
              </a:tblPr>
              <a:tblGrid>
                <a:gridCol w="892455">
                  <a:extLst>
                    <a:ext uri="{9D8B030D-6E8A-4147-A177-3AD203B41FA5}">
                      <a16:colId xmlns:a16="http://schemas.microsoft.com/office/drawing/2014/main" val="1233134625"/>
                    </a:ext>
                  </a:extLst>
                </a:gridCol>
                <a:gridCol w="2751491">
                  <a:extLst>
                    <a:ext uri="{9D8B030D-6E8A-4147-A177-3AD203B41FA5}">
                      <a16:colId xmlns:a16="http://schemas.microsoft.com/office/drawing/2014/main" val="4148642327"/>
                    </a:ext>
                  </a:extLst>
                </a:gridCol>
              </a:tblGrid>
              <a:tr h="370840">
                <a:tc>
                  <a:txBody>
                    <a:bodyPr/>
                    <a:lstStyle/>
                    <a:p>
                      <a:pPr algn="ctr"/>
                      <a:r>
                        <a:rPr lang="zh-CN" altLang="en-US" sz="1200" b="0" dirty="0">
                          <a:latin typeface="Montserrat" panose="00000500000000000000" pitchFamily="2" charset="0"/>
                          <a:ea typeface="微软雅黑" panose="020B0503020204020204" pitchFamily="34" charset="-122"/>
                        </a:rPr>
                        <a:t>原始字节</a:t>
                      </a:r>
                    </a:p>
                  </a:txBody>
                  <a:tcPr anchor="ctr"/>
                </a:tc>
                <a:tc>
                  <a:txBody>
                    <a:bodyPr/>
                    <a:lstStyle/>
                    <a:p>
                      <a:pPr algn="ctr"/>
                      <a:r>
                        <a:rPr lang="en-US" altLang="zh-CN" sz="1200" b="0" dirty="0">
                          <a:latin typeface="Montserrat" panose="00000500000000000000" pitchFamily="2" charset="0"/>
                          <a:ea typeface="微软雅黑" panose="020B0503020204020204" pitchFamily="34" charset="-122"/>
                        </a:rPr>
                        <a:t>10011101</a:t>
                      </a:r>
                      <a:endParaRPr lang="zh-CN" altLang="en-US" sz="1200" b="0" dirty="0">
                        <a:latin typeface="Montserrat" panose="00000500000000000000" pitchFamily="2" charset="0"/>
                        <a:ea typeface="微软雅黑" panose="020B0503020204020204" pitchFamily="34" charset="-122"/>
                      </a:endParaRPr>
                    </a:p>
                  </a:txBody>
                  <a:tcPr anchor="ctr"/>
                </a:tc>
                <a:extLst>
                  <a:ext uri="{0D108BD9-81ED-4DB2-BD59-A6C34878D82A}">
                    <a16:rowId xmlns:a16="http://schemas.microsoft.com/office/drawing/2014/main" val="3241995977"/>
                  </a:ext>
                </a:extLst>
              </a:tr>
              <a:tr h="370840">
                <a:tc>
                  <a:txBody>
                    <a:bodyPr/>
                    <a:lstStyle/>
                    <a:p>
                      <a:pPr algn="ctr"/>
                      <a:r>
                        <a:rPr lang="zh-CN" altLang="en-US" sz="1200" b="0" dirty="0">
                          <a:latin typeface="Montserrat" panose="00000500000000000000" pitchFamily="2" charset="0"/>
                          <a:ea typeface="微软雅黑" panose="020B0503020204020204" pitchFamily="34" charset="-122"/>
                        </a:rPr>
                        <a:t>十六进制</a:t>
                      </a:r>
                    </a:p>
                  </a:txBody>
                  <a:tcPr anchor="ctr"/>
                </a:tc>
                <a:tc>
                  <a:txBody>
                    <a:bodyPr/>
                    <a:lstStyle/>
                    <a:p>
                      <a:pPr algn="ctr"/>
                      <a:r>
                        <a:rPr lang="en-US" altLang="zh-CN" sz="1200" b="0" dirty="0">
                          <a:latin typeface="Montserrat" panose="00000500000000000000" pitchFamily="2" charset="0"/>
                          <a:ea typeface="微软雅黑" panose="020B0503020204020204" pitchFamily="34" charset="-122"/>
                        </a:rPr>
                        <a:t>= 9 D</a:t>
                      </a:r>
                      <a:endParaRPr lang="zh-CN" altLang="en-US" sz="1200" b="0" dirty="0">
                        <a:latin typeface="Montserrat" panose="00000500000000000000" pitchFamily="2" charset="0"/>
                        <a:ea typeface="微软雅黑" panose="020B0503020204020204" pitchFamily="34" charset="-122"/>
                      </a:endParaRPr>
                    </a:p>
                  </a:txBody>
                  <a:tcPr anchor="ctr"/>
                </a:tc>
                <a:extLst>
                  <a:ext uri="{0D108BD9-81ED-4DB2-BD59-A6C34878D82A}">
                    <a16:rowId xmlns:a16="http://schemas.microsoft.com/office/drawing/2014/main" val="3126823163"/>
                  </a:ext>
                </a:extLst>
              </a:tr>
              <a:tr h="370840">
                <a:tc>
                  <a:txBody>
                    <a:bodyPr/>
                    <a:lstStyle/>
                    <a:p>
                      <a:pPr algn="ctr"/>
                      <a:r>
                        <a:rPr lang="en-US" altLang="zh-CN" sz="1200" b="0" dirty="0">
                          <a:latin typeface="Montserrat" panose="00000500000000000000" pitchFamily="2" charset="0"/>
                          <a:ea typeface="微软雅黑" panose="020B0503020204020204" pitchFamily="34" charset="-122"/>
                        </a:rPr>
                        <a:t>ASCII</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200" b="0" dirty="0">
                          <a:solidFill>
                            <a:srgbClr val="C00000"/>
                          </a:solidFill>
                          <a:latin typeface="Montserrat" panose="00000500000000000000" pitchFamily="2" charset="0"/>
                          <a:ea typeface="微软雅黑 Light" panose="020B0502040204020203" pitchFamily="34" charset="-122"/>
                        </a:rPr>
                        <a:t>00111101</a:t>
                      </a:r>
                      <a:r>
                        <a:rPr lang="zh-CN" altLang="en-US" sz="1200" b="0" dirty="0">
                          <a:solidFill>
                            <a:srgbClr val="C00000"/>
                          </a:solidFill>
                          <a:latin typeface="Montserrat" panose="00000500000000000000" pitchFamily="2" charset="0"/>
                          <a:ea typeface="微软雅黑" panose="020B0503020204020204" pitchFamily="34" charset="-122"/>
                        </a:rPr>
                        <a:t> </a:t>
                      </a:r>
                      <a:r>
                        <a:rPr lang="en-US" altLang="zh-CN" sz="1200" b="0" dirty="0">
                          <a:solidFill>
                            <a:srgbClr val="C00000"/>
                          </a:solidFill>
                          <a:latin typeface="Montserrat" panose="00000500000000000000" pitchFamily="2" charset="0"/>
                          <a:ea typeface="微软雅黑 Light" panose="020B0502040204020203" pitchFamily="34" charset="-122"/>
                        </a:rPr>
                        <a:t>00111001 01000100</a:t>
                      </a:r>
                    </a:p>
                  </a:txBody>
                  <a:tcPr anchor="ctr"/>
                </a:tc>
                <a:extLst>
                  <a:ext uri="{0D108BD9-81ED-4DB2-BD59-A6C34878D82A}">
                    <a16:rowId xmlns:a16="http://schemas.microsoft.com/office/drawing/2014/main" val="1285123662"/>
                  </a:ext>
                </a:extLst>
              </a:tr>
            </a:tbl>
          </a:graphicData>
        </a:graphic>
      </p:graphicFrame>
    </p:spTree>
    <p:extLst>
      <p:ext uri="{BB962C8B-B14F-4D97-AF65-F5344CB8AC3E}">
        <p14:creationId xmlns:p14="http://schemas.microsoft.com/office/powerpoint/2010/main" val="14403591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7B089412-9BF4-9E3C-ADA1-3EB3702362DB}"/>
              </a:ext>
            </a:extLst>
          </p:cNvPr>
          <p:cNvSpPr>
            <a:spLocks noGrp="1"/>
          </p:cNvSpPr>
          <p:nvPr>
            <p:ph type="title"/>
          </p:nvPr>
        </p:nvSpPr>
        <p:spPr>
          <a:xfrm>
            <a:off x="485999" y="174482"/>
            <a:ext cx="8171999" cy="338554"/>
          </a:xfrm>
        </p:spPr>
        <p:txBody>
          <a:bodyPr/>
          <a:lstStyle/>
          <a:p>
            <a:r>
              <a:rPr lang="en-US" altLang="zh-CN"/>
              <a:t>6.5.6  </a:t>
            </a:r>
            <a:r>
              <a:rPr lang="zh-CN" altLang="en-US"/>
              <a:t>通用互联网邮件扩充 </a:t>
            </a:r>
            <a:r>
              <a:rPr lang="en-US" altLang="zh-CN"/>
              <a:t>MIME - </a:t>
            </a:r>
            <a:r>
              <a:rPr lang="zh-CN" altLang="en-US"/>
              <a:t>内容传送编码 </a:t>
            </a:r>
            <a:r>
              <a:rPr lang="en-US" altLang="zh-CN"/>
              <a:t>- Base64</a:t>
            </a:r>
            <a:endParaRPr lang="zh-CN" altLang="en-US" dirty="0"/>
          </a:p>
        </p:txBody>
      </p:sp>
      <p:sp>
        <p:nvSpPr>
          <p:cNvPr id="9" name="内容占位符 8">
            <a:extLst>
              <a:ext uri="{FF2B5EF4-FFF2-40B4-BE49-F238E27FC236}">
                <a16:creationId xmlns:a16="http://schemas.microsoft.com/office/drawing/2014/main" id="{FC343BF6-920D-5D69-C58A-2CD8AFE81210}"/>
              </a:ext>
            </a:extLst>
          </p:cNvPr>
          <p:cNvSpPr>
            <a:spLocks noGrp="1"/>
          </p:cNvSpPr>
          <p:nvPr>
            <p:ph sz="quarter" idx="11"/>
          </p:nvPr>
        </p:nvSpPr>
        <p:spPr>
          <a:xfrm>
            <a:off x="486000" y="687518"/>
            <a:ext cx="8172000" cy="4079035"/>
          </a:xfrm>
        </p:spPr>
        <p:txBody>
          <a:bodyPr/>
          <a:lstStyle/>
          <a:p>
            <a:r>
              <a:rPr lang="zh-CN" altLang="en-US" dirty="0"/>
              <a:t>适合任意长度的二进制数据</a:t>
            </a:r>
            <a:endParaRPr lang="en-US" altLang="zh-CN" dirty="0"/>
          </a:p>
          <a:p>
            <a:r>
              <a:rPr lang="zh-CN" altLang="en-US" dirty="0"/>
              <a:t>规则</a:t>
            </a:r>
            <a:endParaRPr lang="en-US" altLang="zh-CN" dirty="0"/>
          </a:p>
          <a:p>
            <a:pPr lvl="1"/>
            <a:r>
              <a:rPr lang="zh-CN" altLang="en-US" dirty="0"/>
              <a:t>把二进制代码划分成一个个的 </a:t>
            </a:r>
            <a:r>
              <a:rPr lang="en-US" altLang="zh-CN" dirty="0"/>
              <a:t>24bit </a:t>
            </a:r>
            <a:r>
              <a:rPr lang="zh-CN" altLang="en-US" dirty="0"/>
              <a:t>的单元</a:t>
            </a:r>
            <a:endParaRPr lang="en-US" altLang="zh-CN" dirty="0"/>
          </a:p>
          <a:p>
            <a:pPr lvl="1"/>
            <a:r>
              <a:rPr lang="zh-CN" altLang="en-US" dirty="0"/>
              <a:t>每个单元划分成 </a:t>
            </a:r>
            <a:r>
              <a:rPr lang="en-US" altLang="zh-CN" dirty="0"/>
              <a:t>4 </a:t>
            </a:r>
            <a:r>
              <a:rPr lang="zh-CN" altLang="en-US" dirty="0"/>
              <a:t>个 </a:t>
            </a:r>
            <a:r>
              <a:rPr lang="en-US" altLang="zh-CN" dirty="0"/>
              <a:t>6bit </a:t>
            </a:r>
            <a:r>
              <a:rPr lang="zh-CN" altLang="en-US" dirty="0"/>
              <a:t>组</a:t>
            </a:r>
            <a:endParaRPr lang="en-US" altLang="zh-CN" dirty="0"/>
          </a:p>
          <a:p>
            <a:pPr lvl="1"/>
            <a:r>
              <a:rPr lang="zh-CN" altLang="en-US" dirty="0"/>
              <a:t>每个</a:t>
            </a:r>
            <a:r>
              <a:rPr lang="en-US" altLang="zh-CN" dirty="0"/>
              <a:t>6bit</a:t>
            </a:r>
            <a:r>
              <a:rPr lang="zh-CN" altLang="en-US" dirty="0"/>
              <a:t>可以表示</a:t>
            </a:r>
            <a:r>
              <a:rPr lang="en-US" altLang="zh-CN" dirty="0"/>
              <a:t>64</a:t>
            </a:r>
            <a:r>
              <a:rPr lang="zh-CN" altLang="en-US" dirty="0"/>
              <a:t>值：</a:t>
            </a:r>
            <a:endParaRPr lang="en-US" altLang="zh-CN" dirty="0"/>
          </a:p>
          <a:p>
            <a:pPr lvl="2"/>
            <a:r>
              <a:rPr lang="en-US" altLang="zh-CN" dirty="0"/>
              <a:t>26</a:t>
            </a:r>
            <a:r>
              <a:rPr lang="zh-CN" altLang="en-US" dirty="0"/>
              <a:t>个大小字母：</a:t>
            </a:r>
            <a:r>
              <a:rPr lang="en-US" altLang="zh-CN" dirty="0"/>
              <a:t>A-Z</a:t>
            </a:r>
          </a:p>
          <a:p>
            <a:pPr lvl="2"/>
            <a:r>
              <a:rPr lang="en-US" altLang="zh-CN" dirty="0"/>
              <a:t>26</a:t>
            </a:r>
            <a:r>
              <a:rPr lang="zh-CN" altLang="en-US" dirty="0"/>
              <a:t>个小写字母：</a:t>
            </a:r>
            <a:r>
              <a:rPr lang="en-US" altLang="zh-CN" dirty="0"/>
              <a:t>a-z</a:t>
            </a:r>
          </a:p>
          <a:p>
            <a:pPr lvl="2"/>
            <a:r>
              <a:rPr lang="zh-CN" altLang="en-US" dirty="0"/>
              <a:t>数字：</a:t>
            </a:r>
            <a:r>
              <a:rPr lang="en-US" altLang="zh-CN" dirty="0"/>
              <a:t>0-9</a:t>
            </a:r>
          </a:p>
          <a:p>
            <a:pPr lvl="2"/>
            <a:r>
              <a:rPr lang="en-US" altLang="zh-CN" dirty="0"/>
              <a:t>+</a:t>
            </a:r>
            <a:r>
              <a:rPr lang="zh-CN" altLang="en-US" dirty="0"/>
              <a:t>：</a:t>
            </a:r>
            <a:r>
              <a:rPr lang="en-US" altLang="zh-CN" dirty="0"/>
              <a:t>62</a:t>
            </a:r>
          </a:p>
          <a:p>
            <a:pPr lvl="2"/>
            <a:r>
              <a:rPr lang="en-US" altLang="zh-CN" dirty="0"/>
              <a:t>/</a:t>
            </a:r>
            <a:r>
              <a:rPr lang="zh-CN" altLang="en-US" dirty="0"/>
              <a:t>：</a:t>
            </a:r>
            <a:r>
              <a:rPr lang="en-US" altLang="zh-CN" dirty="0"/>
              <a:t>63</a:t>
            </a:r>
          </a:p>
          <a:p>
            <a:pPr lvl="2"/>
            <a:r>
              <a:rPr lang="zh-CN" altLang="en-US" dirty="0"/>
              <a:t>用两个连在一起的二个等号“</a:t>
            </a:r>
            <a:r>
              <a:rPr lang="en-US" altLang="zh-CN" dirty="0"/>
              <a:t>==”</a:t>
            </a:r>
            <a:r>
              <a:rPr lang="zh-CN" altLang="en-US" dirty="0"/>
              <a:t>和一个等号“</a:t>
            </a:r>
            <a:r>
              <a:rPr lang="en-US" altLang="zh-CN" dirty="0"/>
              <a:t>=”</a:t>
            </a:r>
            <a:r>
              <a:rPr lang="zh-CN" altLang="en-US" dirty="0"/>
              <a:t>分别表示最后一组的代码只有 </a:t>
            </a:r>
            <a:r>
              <a:rPr lang="en-US" altLang="zh-CN" dirty="0"/>
              <a:t>8 </a:t>
            </a:r>
            <a:r>
              <a:rPr lang="zh-CN" altLang="en-US" dirty="0"/>
              <a:t>位或 </a:t>
            </a:r>
            <a:r>
              <a:rPr lang="en-US" altLang="zh-CN" dirty="0"/>
              <a:t>16 </a:t>
            </a:r>
            <a:r>
              <a:rPr lang="zh-CN" altLang="en-US" dirty="0"/>
              <a:t>位</a:t>
            </a:r>
            <a:endParaRPr lang="en-US" altLang="zh-CN" dirty="0"/>
          </a:p>
          <a:p>
            <a:pPr lvl="2"/>
            <a:r>
              <a:rPr lang="zh-CN" altLang="en-US" dirty="0"/>
              <a:t>回车和换行忽略</a:t>
            </a:r>
            <a:endParaRPr lang="en-US" altLang="zh-CN" dirty="0"/>
          </a:p>
          <a:p>
            <a:endParaRPr lang="zh-CN" altLang="en-US" dirty="0"/>
          </a:p>
        </p:txBody>
      </p:sp>
      <p:sp>
        <p:nvSpPr>
          <p:cNvPr id="5" name="文本框 4">
            <a:extLst>
              <a:ext uri="{FF2B5EF4-FFF2-40B4-BE49-F238E27FC236}">
                <a16:creationId xmlns:a16="http://schemas.microsoft.com/office/drawing/2014/main" id="{961DE8B8-4E0E-1382-F202-A8A06C9A83A0}"/>
              </a:ext>
            </a:extLst>
          </p:cNvPr>
          <p:cNvSpPr txBox="1"/>
          <p:nvPr/>
        </p:nvSpPr>
        <p:spPr>
          <a:xfrm>
            <a:off x="1591056" y="4301338"/>
            <a:ext cx="5961890" cy="338554"/>
          </a:xfrm>
          <a:prstGeom prst="rect">
            <a:avLst/>
          </a:prstGeom>
          <a:solidFill>
            <a:schemeClr val="bg1">
              <a:lumMod val="95000"/>
            </a:schemeClr>
          </a:solidFill>
        </p:spPr>
        <p:txBody>
          <a:bodyPr wrap="none" rtlCol="0">
            <a:spAutoFit/>
          </a:bodyPr>
          <a:lstStyle/>
          <a:p>
            <a:pPr algn="ctr"/>
            <a:r>
              <a:rPr lang="sv-SE" altLang="zh-CN" sz="1600" dirty="0">
                <a:latin typeface="Montserrat" panose="00000500000000000000" pitchFamily="2" charset="0"/>
                <a:ea typeface="微软雅黑 Light" panose="020B0502040204020203" pitchFamily="34" charset="-122"/>
              </a:rPr>
              <a:t>[24 bits] → [6bit][6bit][6bit][6bit] → [char][char][char][char]</a:t>
            </a:r>
            <a:endParaRPr lang="zh-CN" altLang="en-US" sz="16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23244543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8331CBE-E55D-A60E-7FD8-AFB3A396FA1C}"/>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内容传送编码 </a:t>
            </a:r>
            <a:r>
              <a:rPr lang="en-US" altLang="zh-CN" dirty="0"/>
              <a:t>- Base64</a:t>
            </a:r>
            <a:endParaRPr lang="zh-CN" altLang="en-US" dirty="0"/>
          </a:p>
        </p:txBody>
      </p:sp>
      <p:sp>
        <p:nvSpPr>
          <p:cNvPr id="6" name="内容占位符 5">
            <a:extLst>
              <a:ext uri="{FF2B5EF4-FFF2-40B4-BE49-F238E27FC236}">
                <a16:creationId xmlns:a16="http://schemas.microsoft.com/office/drawing/2014/main" id="{FEC3D034-4E95-71CE-93E8-0E5EF676E2A5}"/>
              </a:ext>
            </a:extLst>
          </p:cNvPr>
          <p:cNvSpPr>
            <a:spLocks noGrp="1"/>
          </p:cNvSpPr>
          <p:nvPr>
            <p:ph sz="quarter" idx="11"/>
          </p:nvPr>
        </p:nvSpPr>
        <p:spPr>
          <a:xfrm>
            <a:off x="486000" y="687518"/>
            <a:ext cx="8172000" cy="4079035"/>
          </a:xfrm>
        </p:spPr>
        <p:txBody>
          <a:bodyPr/>
          <a:lstStyle/>
          <a:p>
            <a:r>
              <a:rPr lang="en-US" altLang="zh-CN" dirty="0"/>
              <a:t>6</a:t>
            </a:r>
            <a:r>
              <a:rPr lang="zh-CN" altLang="en-US" dirty="0"/>
              <a:t>位所代表的</a:t>
            </a:r>
            <a:r>
              <a:rPr lang="en-US" altLang="zh-CN" dirty="0"/>
              <a:t>64</a:t>
            </a:r>
            <a:r>
              <a:rPr lang="zh-CN" altLang="en-US" dirty="0"/>
              <a:t>个值</a:t>
            </a:r>
            <a:endParaRPr lang="en-US" altLang="zh-CN" dirty="0"/>
          </a:p>
          <a:p>
            <a:r>
              <a:rPr lang="zh-CN" altLang="en-US" dirty="0"/>
              <a:t>工具 </a:t>
            </a:r>
            <a:r>
              <a:rPr lang="en-US" altLang="zh-CN" dirty="0">
                <a:hlinkClick r:id="rId2"/>
              </a:rPr>
              <a:t>https://www.base64decode.org/</a:t>
            </a:r>
            <a:r>
              <a:rPr lang="en-US" altLang="zh-CN" dirty="0"/>
              <a:t> </a:t>
            </a:r>
          </a:p>
          <a:p>
            <a:endParaRPr lang="zh-CN" altLang="en-US" dirty="0"/>
          </a:p>
        </p:txBody>
      </p:sp>
      <p:graphicFrame>
        <p:nvGraphicFramePr>
          <p:cNvPr id="4" name="表格 3"/>
          <p:cNvGraphicFramePr>
            <a:graphicFrameLocks noGrp="1"/>
          </p:cNvGraphicFramePr>
          <p:nvPr>
            <p:extLst>
              <p:ext uri="{D42A27DB-BD31-4B8C-83A1-F6EECF244321}">
                <p14:modId xmlns:p14="http://schemas.microsoft.com/office/powerpoint/2010/main" val="1988804185"/>
              </p:ext>
            </p:extLst>
          </p:nvPr>
        </p:nvGraphicFramePr>
        <p:xfrm>
          <a:off x="485999" y="1675401"/>
          <a:ext cx="8172000" cy="2977758"/>
        </p:xfrm>
        <a:graphic>
          <a:graphicData uri="http://schemas.openxmlformats.org/drawingml/2006/table">
            <a:tbl>
              <a:tblPr firstRow="1" bandCol="1">
                <a:tableStyleId>{93296810-A885-4BE3-A3E7-6D5BEEA58F35}</a:tableStyleId>
              </a:tblPr>
              <a:tblGrid>
                <a:gridCol w="817200">
                  <a:extLst>
                    <a:ext uri="{9D8B030D-6E8A-4147-A177-3AD203B41FA5}">
                      <a16:colId xmlns:a16="http://schemas.microsoft.com/office/drawing/2014/main" val="20000"/>
                    </a:ext>
                  </a:extLst>
                </a:gridCol>
                <a:gridCol w="817200">
                  <a:extLst>
                    <a:ext uri="{9D8B030D-6E8A-4147-A177-3AD203B41FA5}">
                      <a16:colId xmlns:a16="http://schemas.microsoft.com/office/drawing/2014/main" val="20001"/>
                    </a:ext>
                  </a:extLst>
                </a:gridCol>
                <a:gridCol w="817200">
                  <a:extLst>
                    <a:ext uri="{9D8B030D-6E8A-4147-A177-3AD203B41FA5}">
                      <a16:colId xmlns:a16="http://schemas.microsoft.com/office/drawing/2014/main" val="20002"/>
                    </a:ext>
                  </a:extLst>
                </a:gridCol>
                <a:gridCol w="817200">
                  <a:extLst>
                    <a:ext uri="{9D8B030D-6E8A-4147-A177-3AD203B41FA5}">
                      <a16:colId xmlns:a16="http://schemas.microsoft.com/office/drawing/2014/main" val="20003"/>
                    </a:ext>
                  </a:extLst>
                </a:gridCol>
                <a:gridCol w="817200">
                  <a:extLst>
                    <a:ext uri="{9D8B030D-6E8A-4147-A177-3AD203B41FA5}">
                      <a16:colId xmlns:a16="http://schemas.microsoft.com/office/drawing/2014/main" val="20004"/>
                    </a:ext>
                  </a:extLst>
                </a:gridCol>
                <a:gridCol w="817200">
                  <a:extLst>
                    <a:ext uri="{9D8B030D-6E8A-4147-A177-3AD203B41FA5}">
                      <a16:colId xmlns:a16="http://schemas.microsoft.com/office/drawing/2014/main" val="20005"/>
                    </a:ext>
                  </a:extLst>
                </a:gridCol>
                <a:gridCol w="817200">
                  <a:extLst>
                    <a:ext uri="{9D8B030D-6E8A-4147-A177-3AD203B41FA5}">
                      <a16:colId xmlns:a16="http://schemas.microsoft.com/office/drawing/2014/main" val="20006"/>
                    </a:ext>
                  </a:extLst>
                </a:gridCol>
                <a:gridCol w="817200">
                  <a:extLst>
                    <a:ext uri="{9D8B030D-6E8A-4147-A177-3AD203B41FA5}">
                      <a16:colId xmlns:a16="http://schemas.microsoft.com/office/drawing/2014/main" val="20007"/>
                    </a:ext>
                  </a:extLst>
                </a:gridCol>
                <a:gridCol w="817200">
                  <a:extLst>
                    <a:ext uri="{9D8B030D-6E8A-4147-A177-3AD203B41FA5}">
                      <a16:colId xmlns:a16="http://schemas.microsoft.com/office/drawing/2014/main" val="20008"/>
                    </a:ext>
                  </a:extLst>
                </a:gridCol>
                <a:gridCol w="817200">
                  <a:extLst>
                    <a:ext uri="{9D8B030D-6E8A-4147-A177-3AD203B41FA5}">
                      <a16:colId xmlns:a16="http://schemas.microsoft.com/office/drawing/2014/main" val="20009"/>
                    </a:ext>
                  </a:extLst>
                </a:gridCol>
              </a:tblGrid>
              <a:tr h="360000">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索引</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对应字符</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索引</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对应字符</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索引</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对应字符</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索引</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对应字符</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索引</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对应字符</a:t>
                      </a:r>
                    </a:p>
                  </a:txBody>
                  <a:tcPr marL="27729" marR="27729" marT="9243" marB="9243" anchor="ctr"/>
                </a:tc>
                <a:extLst>
                  <a:ext uri="{0D108BD9-81ED-4DB2-BD59-A6C34878D82A}">
                    <a16:rowId xmlns:a16="http://schemas.microsoft.com/office/drawing/2014/main" val="10000"/>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0</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A</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13</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N</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26</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a</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39</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n</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52</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0</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1"/>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1</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B</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14</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O</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27</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b</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40</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o</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53</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1</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2"/>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2</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C</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15</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P</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28</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c</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41</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p</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54</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3"/>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3</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D</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16</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Q</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29</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d</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42</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q</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55</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4"/>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4</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E</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17</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R</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30</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e</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43</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r</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56</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5"/>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5</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F</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18</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S</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31</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f</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44</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s</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57</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6"/>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6</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G</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19</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T</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32</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g</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45</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t</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58</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6</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7"/>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7</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H</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20</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U</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33</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h</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46</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u</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59</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7</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8"/>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8</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I</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21</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V</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34</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err="1">
                          <a:effectLst/>
                          <a:latin typeface="Montserrat" panose="00000500000000000000" pitchFamily="2" charset="0"/>
                          <a:ea typeface="微软雅黑 Light" panose="020B0502040204020203" pitchFamily="34" charset="-122"/>
                        </a:rPr>
                        <a:t>i</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47</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v</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60</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8</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9"/>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9</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J</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22</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W</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35</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j</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48</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w</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61</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9</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10"/>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10</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K</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23</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X</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36</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k</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49</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x</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62</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11"/>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11</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L</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24</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Y</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37</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l</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50</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y</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63</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12"/>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12</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M</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25</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Z</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38</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m</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51</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z</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endParaRPr lang="zh-CN" altLang="en-US" sz="1200" b="0" dirty="0">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endParaRPr lang="zh-CN" altLang="en-US" sz="1200" b="0" dirty="0">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13"/>
                  </a:ext>
                </a:extLst>
              </a:tr>
            </a:tbl>
          </a:graphicData>
        </a:graphic>
      </p:graphicFrame>
    </p:spTree>
    <p:extLst>
      <p:ext uri="{BB962C8B-B14F-4D97-AF65-F5344CB8AC3E}">
        <p14:creationId xmlns:p14="http://schemas.microsoft.com/office/powerpoint/2010/main" val="11488610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标题 16">
            <a:extLst>
              <a:ext uri="{FF2B5EF4-FFF2-40B4-BE49-F238E27FC236}">
                <a16:creationId xmlns:a16="http://schemas.microsoft.com/office/drawing/2014/main" id="{D07A3D06-0F85-E90E-7304-7841BCD591B8}"/>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内容传送编码 </a:t>
            </a:r>
            <a:r>
              <a:rPr lang="en-US" altLang="zh-CN" dirty="0"/>
              <a:t>- Base64</a:t>
            </a:r>
            <a:endParaRPr lang="zh-CN" altLang="en-US" dirty="0"/>
          </a:p>
        </p:txBody>
      </p:sp>
      <p:sp>
        <p:nvSpPr>
          <p:cNvPr id="20" name="内容占位符 19">
            <a:extLst>
              <a:ext uri="{FF2B5EF4-FFF2-40B4-BE49-F238E27FC236}">
                <a16:creationId xmlns:a16="http://schemas.microsoft.com/office/drawing/2014/main" id="{3BDAFC32-1BBA-9372-CEC3-01BA5129D125}"/>
              </a:ext>
            </a:extLst>
          </p:cNvPr>
          <p:cNvSpPr>
            <a:spLocks noGrp="1"/>
          </p:cNvSpPr>
          <p:nvPr>
            <p:ph sz="quarter" idx="11"/>
          </p:nvPr>
        </p:nvSpPr>
        <p:spPr>
          <a:xfrm>
            <a:off x="486000" y="687518"/>
            <a:ext cx="8172000" cy="4079035"/>
          </a:xfrm>
        </p:spPr>
        <p:txBody>
          <a:bodyPr/>
          <a:lstStyle/>
          <a:p>
            <a:r>
              <a:rPr lang="zh-CN" altLang="en-US" dirty="0"/>
              <a:t>实例</a:t>
            </a:r>
            <a:r>
              <a:rPr lang="en-US" altLang="zh-CN" dirty="0"/>
              <a:t>1</a:t>
            </a:r>
          </a:p>
          <a:p>
            <a:pPr lvl="1"/>
            <a:r>
              <a:rPr lang="zh-CN" altLang="en-US" dirty="0"/>
              <a:t>原来为 </a:t>
            </a:r>
            <a:r>
              <a:rPr lang="en-US" altLang="zh-CN" dirty="0"/>
              <a:t>3 </a:t>
            </a:r>
            <a:r>
              <a:rPr lang="zh-CN" altLang="en-US" dirty="0"/>
              <a:t>个字节</a:t>
            </a:r>
            <a:endParaRPr lang="en-US" altLang="zh-CN" dirty="0"/>
          </a:p>
          <a:p>
            <a:pPr lvl="1"/>
            <a:r>
              <a:rPr lang="zh-CN" altLang="en-US" dirty="0"/>
              <a:t>编码后为 </a:t>
            </a:r>
            <a:r>
              <a:rPr lang="en-US" altLang="zh-CN" dirty="0"/>
              <a:t>4 </a:t>
            </a:r>
            <a:r>
              <a:rPr lang="zh-CN" altLang="en-US" dirty="0"/>
              <a:t>个字节</a:t>
            </a:r>
            <a:endParaRPr lang="en-US" altLang="zh-CN" dirty="0"/>
          </a:p>
          <a:p>
            <a:pPr lvl="1"/>
            <a:r>
              <a:rPr lang="zh-CN" altLang="en-US" dirty="0"/>
              <a:t>开销 </a:t>
            </a:r>
            <a:r>
              <a:rPr lang="en-US" altLang="zh-CN" dirty="0"/>
              <a:t>= 25%</a:t>
            </a:r>
            <a:endParaRPr lang="zh-CN" altLang="en-US" dirty="0"/>
          </a:p>
          <a:p>
            <a:endParaRPr lang="zh-CN" altLang="en-US" dirty="0"/>
          </a:p>
        </p:txBody>
      </p:sp>
      <p:sp>
        <p:nvSpPr>
          <p:cNvPr id="7" name="矩形 6"/>
          <p:cNvSpPr/>
          <p:nvPr/>
        </p:nvSpPr>
        <p:spPr>
          <a:xfrm>
            <a:off x="268191" y="2154350"/>
            <a:ext cx="1300356" cy="276999"/>
          </a:xfrm>
          <a:prstGeom prst="rect">
            <a:avLst/>
          </a:prstGeom>
        </p:spPr>
        <p:txBody>
          <a:bodyPr wrap="none">
            <a:spAutoFit/>
          </a:bodyPr>
          <a:lstStyle/>
          <a:p>
            <a:pPr algn="r"/>
            <a:r>
              <a:rPr lang="zh-CN" altLang="en-US" sz="1200" dirty="0">
                <a:solidFill>
                  <a:srgbClr val="020202"/>
                </a:solidFill>
                <a:latin typeface="Montserrat" panose="00000500000000000000" pitchFamily="2" charset="0"/>
                <a:ea typeface="微软雅黑 Light" panose="020B0502040204020203" pitchFamily="34" charset="-122"/>
              </a:rPr>
              <a:t>原始字节 </a:t>
            </a:r>
            <a:r>
              <a:rPr lang="en-US" altLang="zh-CN" sz="1200" dirty="0">
                <a:solidFill>
                  <a:srgbClr val="020202"/>
                </a:solidFill>
                <a:latin typeface="Montserrat" panose="00000500000000000000" pitchFamily="2" charset="0"/>
                <a:ea typeface="微软雅黑 Light" panose="020B0502040204020203" pitchFamily="34" charset="-122"/>
              </a:rPr>
              <a:t>– 24</a:t>
            </a:r>
            <a:r>
              <a:rPr lang="zh-CN" altLang="en-US" sz="1200" dirty="0">
                <a:solidFill>
                  <a:srgbClr val="020202"/>
                </a:solidFill>
                <a:latin typeface="Montserrat" panose="00000500000000000000" pitchFamily="2" charset="0"/>
                <a:ea typeface="微软雅黑 Light" panose="020B0502040204020203" pitchFamily="34" charset="-122"/>
              </a:rPr>
              <a:t>位</a:t>
            </a:r>
          </a:p>
        </p:txBody>
      </p:sp>
      <p:graphicFrame>
        <p:nvGraphicFramePr>
          <p:cNvPr id="10" name="表格 9"/>
          <p:cNvGraphicFramePr>
            <a:graphicFrameLocks noGrp="1"/>
          </p:cNvGraphicFramePr>
          <p:nvPr>
            <p:extLst>
              <p:ext uri="{D42A27DB-BD31-4B8C-83A1-F6EECF244321}">
                <p14:modId xmlns:p14="http://schemas.microsoft.com/office/powerpoint/2010/main" val="2560190383"/>
              </p:ext>
            </p:extLst>
          </p:nvPr>
        </p:nvGraphicFramePr>
        <p:xfrm>
          <a:off x="1566773" y="2148849"/>
          <a:ext cx="5549904" cy="288000"/>
        </p:xfrm>
        <a:graphic>
          <a:graphicData uri="http://schemas.openxmlformats.org/drawingml/2006/table">
            <a:tbl>
              <a:tblPr firstRow="1" bandRow="1">
                <a:tableStyleId>{5C22544A-7EE6-4342-B048-85BDC9FD1C3A}</a:tableStyleId>
              </a:tblPr>
              <a:tblGrid>
                <a:gridCol w="231246">
                  <a:extLst>
                    <a:ext uri="{9D8B030D-6E8A-4147-A177-3AD203B41FA5}">
                      <a16:colId xmlns:a16="http://schemas.microsoft.com/office/drawing/2014/main" val="20000"/>
                    </a:ext>
                  </a:extLst>
                </a:gridCol>
                <a:gridCol w="231246">
                  <a:extLst>
                    <a:ext uri="{9D8B030D-6E8A-4147-A177-3AD203B41FA5}">
                      <a16:colId xmlns:a16="http://schemas.microsoft.com/office/drawing/2014/main" val="20001"/>
                    </a:ext>
                  </a:extLst>
                </a:gridCol>
                <a:gridCol w="231246">
                  <a:extLst>
                    <a:ext uri="{9D8B030D-6E8A-4147-A177-3AD203B41FA5}">
                      <a16:colId xmlns:a16="http://schemas.microsoft.com/office/drawing/2014/main" val="20002"/>
                    </a:ext>
                  </a:extLst>
                </a:gridCol>
                <a:gridCol w="231246">
                  <a:extLst>
                    <a:ext uri="{9D8B030D-6E8A-4147-A177-3AD203B41FA5}">
                      <a16:colId xmlns:a16="http://schemas.microsoft.com/office/drawing/2014/main" val="20003"/>
                    </a:ext>
                  </a:extLst>
                </a:gridCol>
                <a:gridCol w="231246">
                  <a:extLst>
                    <a:ext uri="{9D8B030D-6E8A-4147-A177-3AD203B41FA5}">
                      <a16:colId xmlns:a16="http://schemas.microsoft.com/office/drawing/2014/main" val="20004"/>
                    </a:ext>
                  </a:extLst>
                </a:gridCol>
                <a:gridCol w="231246">
                  <a:extLst>
                    <a:ext uri="{9D8B030D-6E8A-4147-A177-3AD203B41FA5}">
                      <a16:colId xmlns:a16="http://schemas.microsoft.com/office/drawing/2014/main" val="20005"/>
                    </a:ext>
                  </a:extLst>
                </a:gridCol>
                <a:gridCol w="231246">
                  <a:extLst>
                    <a:ext uri="{9D8B030D-6E8A-4147-A177-3AD203B41FA5}">
                      <a16:colId xmlns:a16="http://schemas.microsoft.com/office/drawing/2014/main" val="20006"/>
                    </a:ext>
                  </a:extLst>
                </a:gridCol>
                <a:gridCol w="231246">
                  <a:extLst>
                    <a:ext uri="{9D8B030D-6E8A-4147-A177-3AD203B41FA5}">
                      <a16:colId xmlns:a16="http://schemas.microsoft.com/office/drawing/2014/main" val="20007"/>
                    </a:ext>
                  </a:extLst>
                </a:gridCol>
                <a:gridCol w="231246">
                  <a:extLst>
                    <a:ext uri="{9D8B030D-6E8A-4147-A177-3AD203B41FA5}">
                      <a16:colId xmlns:a16="http://schemas.microsoft.com/office/drawing/2014/main" val="20008"/>
                    </a:ext>
                  </a:extLst>
                </a:gridCol>
                <a:gridCol w="231246">
                  <a:extLst>
                    <a:ext uri="{9D8B030D-6E8A-4147-A177-3AD203B41FA5}">
                      <a16:colId xmlns:a16="http://schemas.microsoft.com/office/drawing/2014/main" val="20009"/>
                    </a:ext>
                  </a:extLst>
                </a:gridCol>
                <a:gridCol w="231246">
                  <a:extLst>
                    <a:ext uri="{9D8B030D-6E8A-4147-A177-3AD203B41FA5}">
                      <a16:colId xmlns:a16="http://schemas.microsoft.com/office/drawing/2014/main" val="20010"/>
                    </a:ext>
                  </a:extLst>
                </a:gridCol>
                <a:gridCol w="231246">
                  <a:extLst>
                    <a:ext uri="{9D8B030D-6E8A-4147-A177-3AD203B41FA5}">
                      <a16:colId xmlns:a16="http://schemas.microsoft.com/office/drawing/2014/main" val="20011"/>
                    </a:ext>
                  </a:extLst>
                </a:gridCol>
                <a:gridCol w="231246">
                  <a:extLst>
                    <a:ext uri="{9D8B030D-6E8A-4147-A177-3AD203B41FA5}">
                      <a16:colId xmlns:a16="http://schemas.microsoft.com/office/drawing/2014/main" val="20012"/>
                    </a:ext>
                  </a:extLst>
                </a:gridCol>
                <a:gridCol w="231246">
                  <a:extLst>
                    <a:ext uri="{9D8B030D-6E8A-4147-A177-3AD203B41FA5}">
                      <a16:colId xmlns:a16="http://schemas.microsoft.com/office/drawing/2014/main" val="20013"/>
                    </a:ext>
                  </a:extLst>
                </a:gridCol>
                <a:gridCol w="231246">
                  <a:extLst>
                    <a:ext uri="{9D8B030D-6E8A-4147-A177-3AD203B41FA5}">
                      <a16:colId xmlns:a16="http://schemas.microsoft.com/office/drawing/2014/main" val="20014"/>
                    </a:ext>
                  </a:extLst>
                </a:gridCol>
                <a:gridCol w="231246">
                  <a:extLst>
                    <a:ext uri="{9D8B030D-6E8A-4147-A177-3AD203B41FA5}">
                      <a16:colId xmlns:a16="http://schemas.microsoft.com/office/drawing/2014/main" val="20015"/>
                    </a:ext>
                  </a:extLst>
                </a:gridCol>
                <a:gridCol w="231246">
                  <a:extLst>
                    <a:ext uri="{9D8B030D-6E8A-4147-A177-3AD203B41FA5}">
                      <a16:colId xmlns:a16="http://schemas.microsoft.com/office/drawing/2014/main" val="20016"/>
                    </a:ext>
                  </a:extLst>
                </a:gridCol>
                <a:gridCol w="231246">
                  <a:extLst>
                    <a:ext uri="{9D8B030D-6E8A-4147-A177-3AD203B41FA5}">
                      <a16:colId xmlns:a16="http://schemas.microsoft.com/office/drawing/2014/main" val="20017"/>
                    </a:ext>
                  </a:extLst>
                </a:gridCol>
                <a:gridCol w="231246">
                  <a:extLst>
                    <a:ext uri="{9D8B030D-6E8A-4147-A177-3AD203B41FA5}">
                      <a16:colId xmlns:a16="http://schemas.microsoft.com/office/drawing/2014/main" val="20018"/>
                    </a:ext>
                  </a:extLst>
                </a:gridCol>
                <a:gridCol w="231246">
                  <a:extLst>
                    <a:ext uri="{9D8B030D-6E8A-4147-A177-3AD203B41FA5}">
                      <a16:colId xmlns:a16="http://schemas.microsoft.com/office/drawing/2014/main" val="20019"/>
                    </a:ext>
                  </a:extLst>
                </a:gridCol>
                <a:gridCol w="231246">
                  <a:extLst>
                    <a:ext uri="{9D8B030D-6E8A-4147-A177-3AD203B41FA5}">
                      <a16:colId xmlns:a16="http://schemas.microsoft.com/office/drawing/2014/main" val="20020"/>
                    </a:ext>
                  </a:extLst>
                </a:gridCol>
                <a:gridCol w="231246">
                  <a:extLst>
                    <a:ext uri="{9D8B030D-6E8A-4147-A177-3AD203B41FA5}">
                      <a16:colId xmlns:a16="http://schemas.microsoft.com/office/drawing/2014/main" val="20021"/>
                    </a:ext>
                  </a:extLst>
                </a:gridCol>
                <a:gridCol w="231246">
                  <a:extLst>
                    <a:ext uri="{9D8B030D-6E8A-4147-A177-3AD203B41FA5}">
                      <a16:colId xmlns:a16="http://schemas.microsoft.com/office/drawing/2014/main" val="20022"/>
                    </a:ext>
                  </a:extLst>
                </a:gridCol>
                <a:gridCol w="231246">
                  <a:extLst>
                    <a:ext uri="{9D8B030D-6E8A-4147-A177-3AD203B41FA5}">
                      <a16:colId xmlns:a16="http://schemas.microsoft.com/office/drawing/2014/main" val="2002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0</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extLst>
                  <a:ext uri="{0D108BD9-81ED-4DB2-BD59-A6C34878D82A}">
                    <a16:rowId xmlns:a16="http://schemas.microsoft.com/office/drawing/2014/main" val="10000"/>
                  </a:ext>
                </a:extLst>
              </a:tr>
            </a:tbl>
          </a:graphicData>
        </a:graphic>
      </p:graphicFrame>
      <p:graphicFrame>
        <p:nvGraphicFramePr>
          <p:cNvPr id="11" name="表格 10"/>
          <p:cNvGraphicFramePr>
            <a:graphicFrameLocks noGrp="1"/>
          </p:cNvGraphicFramePr>
          <p:nvPr>
            <p:extLst>
              <p:ext uri="{D42A27DB-BD31-4B8C-83A1-F6EECF244321}">
                <p14:modId xmlns:p14="http://schemas.microsoft.com/office/powerpoint/2010/main" val="357922621"/>
              </p:ext>
            </p:extLst>
          </p:nvPr>
        </p:nvGraphicFramePr>
        <p:xfrm>
          <a:off x="1566773" y="2600913"/>
          <a:ext cx="5549904" cy="288000"/>
        </p:xfrm>
        <a:graphic>
          <a:graphicData uri="http://schemas.openxmlformats.org/drawingml/2006/table">
            <a:tbl>
              <a:tblPr firstRow="1" bandRow="1">
                <a:tableStyleId>{5C22544A-7EE6-4342-B048-85BDC9FD1C3A}</a:tableStyleId>
              </a:tblPr>
              <a:tblGrid>
                <a:gridCol w="231246">
                  <a:extLst>
                    <a:ext uri="{9D8B030D-6E8A-4147-A177-3AD203B41FA5}">
                      <a16:colId xmlns:a16="http://schemas.microsoft.com/office/drawing/2014/main" val="20000"/>
                    </a:ext>
                  </a:extLst>
                </a:gridCol>
                <a:gridCol w="231246">
                  <a:extLst>
                    <a:ext uri="{9D8B030D-6E8A-4147-A177-3AD203B41FA5}">
                      <a16:colId xmlns:a16="http://schemas.microsoft.com/office/drawing/2014/main" val="20001"/>
                    </a:ext>
                  </a:extLst>
                </a:gridCol>
                <a:gridCol w="231246">
                  <a:extLst>
                    <a:ext uri="{9D8B030D-6E8A-4147-A177-3AD203B41FA5}">
                      <a16:colId xmlns:a16="http://schemas.microsoft.com/office/drawing/2014/main" val="20002"/>
                    </a:ext>
                  </a:extLst>
                </a:gridCol>
                <a:gridCol w="231246">
                  <a:extLst>
                    <a:ext uri="{9D8B030D-6E8A-4147-A177-3AD203B41FA5}">
                      <a16:colId xmlns:a16="http://schemas.microsoft.com/office/drawing/2014/main" val="20003"/>
                    </a:ext>
                  </a:extLst>
                </a:gridCol>
                <a:gridCol w="231246">
                  <a:extLst>
                    <a:ext uri="{9D8B030D-6E8A-4147-A177-3AD203B41FA5}">
                      <a16:colId xmlns:a16="http://schemas.microsoft.com/office/drawing/2014/main" val="20004"/>
                    </a:ext>
                  </a:extLst>
                </a:gridCol>
                <a:gridCol w="231246">
                  <a:extLst>
                    <a:ext uri="{9D8B030D-6E8A-4147-A177-3AD203B41FA5}">
                      <a16:colId xmlns:a16="http://schemas.microsoft.com/office/drawing/2014/main" val="20005"/>
                    </a:ext>
                  </a:extLst>
                </a:gridCol>
                <a:gridCol w="231246">
                  <a:extLst>
                    <a:ext uri="{9D8B030D-6E8A-4147-A177-3AD203B41FA5}">
                      <a16:colId xmlns:a16="http://schemas.microsoft.com/office/drawing/2014/main" val="20006"/>
                    </a:ext>
                  </a:extLst>
                </a:gridCol>
                <a:gridCol w="231246">
                  <a:extLst>
                    <a:ext uri="{9D8B030D-6E8A-4147-A177-3AD203B41FA5}">
                      <a16:colId xmlns:a16="http://schemas.microsoft.com/office/drawing/2014/main" val="20007"/>
                    </a:ext>
                  </a:extLst>
                </a:gridCol>
                <a:gridCol w="231246">
                  <a:extLst>
                    <a:ext uri="{9D8B030D-6E8A-4147-A177-3AD203B41FA5}">
                      <a16:colId xmlns:a16="http://schemas.microsoft.com/office/drawing/2014/main" val="20008"/>
                    </a:ext>
                  </a:extLst>
                </a:gridCol>
                <a:gridCol w="231246">
                  <a:extLst>
                    <a:ext uri="{9D8B030D-6E8A-4147-A177-3AD203B41FA5}">
                      <a16:colId xmlns:a16="http://schemas.microsoft.com/office/drawing/2014/main" val="20009"/>
                    </a:ext>
                  </a:extLst>
                </a:gridCol>
                <a:gridCol w="231246">
                  <a:extLst>
                    <a:ext uri="{9D8B030D-6E8A-4147-A177-3AD203B41FA5}">
                      <a16:colId xmlns:a16="http://schemas.microsoft.com/office/drawing/2014/main" val="20010"/>
                    </a:ext>
                  </a:extLst>
                </a:gridCol>
                <a:gridCol w="231246">
                  <a:extLst>
                    <a:ext uri="{9D8B030D-6E8A-4147-A177-3AD203B41FA5}">
                      <a16:colId xmlns:a16="http://schemas.microsoft.com/office/drawing/2014/main" val="20011"/>
                    </a:ext>
                  </a:extLst>
                </a:gridCol>
                <a:gridCol w="231246">
                  <a:extLst>
                    <a:ext uri="{9D8B030D-6E8A-4147-A177-3AD203B41FA5}">
                      <a16:colId xmlns:a16="http://schemas.microsoft.com/office/drawing/2014/main" val="20012"/>
                    </a:ext>
                  </a:extLst>
                </a:gridCol>
                <a:gridCol w="231246">
                  <a:extLst>
                    <a:ext uri="{9D8B030D-6E8A-4147-A177-3AD203B41FA5}">
                      <a16:colId xmlns:a16="http://schemas.microsoft.com/office/drawing/2014/main" val="20013"/>
                    </a:ext>
                  </a:extLst>
                </a:gridCol>
                <a:gridCol w="231246">
                  <a:extLst>
                    <a:ext uri="{9D8B030D-6E8A-4147-A177-3AD203B41FA5}">
                      <a16:colId xmlns:a16="http://schemas.microsoft.com/office/drawing/2014/main" val="20014"/>
                    </a:ext>
                  </a:extLst>
                </a:gridCol>
                <a:gridCol w="231246">
                  <a:extLst>
                    <a:ext uri="{9D8B030D-6E8A-4147-A177-3AD203B41FA5}">
                      <a16:colId xmlns:a16="http://schemas.microsoft.com/office/drawing/2014/main" val="20015"/>
                    </a:ext>
                  </a:extLst>
                </a:gridCol>
                <a:gridCol w="231246">
                  <a:extLst>
                    <a:ext uri="{9D8B030D-6E8A-4147-A177-3AD203B41FA5}">
                      <a16:colId xmlns:a16="http://schemas.microsoft.com/office/drawing/2014/main" val="20016"/>
                    </a:ext>
                  </a:extLst>
                </a:gridCol>
                <a:gridCol w="231246">
                  <a:extLst>
                    <a:ext uri="{9D8B030D-6E8A-4147-A177-3AD203B41FA5}">
                      <a16:colId xmlns:a16="http://schemas.microsoft.com/office/drawing/2014/main" val="20017"/>
                    </a:ext>
                  </a:extLst>
                </a:gridCol>
                <a:gridCol w="231246">
                  <a:extLst>
                    <a:ext uri="{9D8B030D-6E8A-4147-A177-3AD203B41FA5}">
                      <a16:colId xmlns:a16="http://schemas.microsoft.com/office/drawing/2014/main" val="20018"/>
                    </a:ext>
                  </a:extLst>
                </a:gridCol>
                <a:gridCol w="231246">
                  <a:extLst>
                    <a:ext uri="{9D8B030D-6E8A-4147-A177-3AD203B41FA5}">
                      <a16:colId xmlns:a16="http://schemas.microsoft.com/office/drawing/2014/main" val="20019"/>
                    </a:ext>
                  </a:extLst>
                </a:gridCol>
                <a:gridCol w="231246">
                  <a:extLst>
                    <a:ext uri="{9D8B030D-6E8A-4147-A177-3AD203B41FA5}">
                      <a16:colId xmlns:a16="http://schemas.microsoft.com/office/drawing/2014/main" val="20020"/>
                    </a:ext>
                  </a:extLst>
                </a:gridCol>
                <a:gridCol w="231246">
                  <a:extLst>
                    <a:ext uri="{9D8B030D-6E8A-4147-A177-3AD203B41FA5}">
                      <a16:colId xmlns:a16="http://schemas.microsoft.com/office/drawing/2014/main" val="20021"/>
                    </a:ext>
                  </a:extLst>
                </a:gridCol>
                <a:gridCol w="231246">
                  <a:extLst>
                    <a:ext uri="{9D8B030D-6E8A-4147-A177-3AD203B41FA5}">
                      <a16:colId xmlns:a16="http://schemas.microsoft.com/office/drawing/2014/main" val="20022"/>
                    </a:ext>
                  </a:extLst>
                </a:gridCol>
                <a:gridCol w="231246">
                  <a:extLst>
                    <a:ext uri="{9D8B030D-6E8A-4147-A177-3AD203B41FA5}">
                      <a16:colId xmlns:a16="http://schemas.microsoft.com/office/drawing/2014/main" val="20023"/>
                    </a:ext>
                  </a:extLst>
                </a:gridCol>
              </a:tblGrid>
              <a:tr h="288000">
                <a:tc>
                  <a:txBody>
                    <a:bodyPr/>
                    <a:lstStyle/>
                    <a:p>
                      <a:pPr marL="0" algn="ctr" defTabSz="914400" rtl="0" eaLnBrk="1" latinLnBrk="0" hangingPunct="1"/>
                      <a:r>
                        <a:rPr lang="en-US" altLang="zh-CN" sz="1200" b="0" kern="1200" dirty="0">
                          <a:solidFill>
                            <a:schemeClr val="tx1"/>
                          </a:solidFill>
                          <a:effectLst/>
                          <a:latin typeface="Montserrat" panose="00000500000000000000" pitchFamily="2" charset="0"/>
                          <a:ea typeface="微软雅黑 Light" panose="020B0502040204020203" pitchFamily="34" charset="-122"/>
                          <a:cs typeface="+mn-cs"/>
                        </a:rPr>
                        <a:t>0</a:t>
                      </a:r>
                      <a:endParaRPr lang="zh-CN" altLang="en-US" sz="1200" b="0" kern="1200" dirty="0">
                        <a:solidFill>
                          <a:schemeClr val="tx1"/>
                        </a:solidFill>
                        <a:effectLst/>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extLst>
                  <a:ext uri="{0D108BD9-81ED-4DB2-BD59-A6C34878D82A}">
                    <a16:rowId xmlns:a16="http://schemas.microsoft.com/office/drawing/2014/main" val="10000"/>
                  </a:ext>
                </a:extLst>
              </a:tr>
            </a:tbl>
          </a:graphicData>
        </a:graphic>
      </p:graphicFrame>
      <p:graphicFrame>
        <p:nvGraphicFramePr>
          <p:cNvPr id="12" name="表格 11"/>
          <p:cNvGraphicFramePr>
            <a:graphicFrameLocks noGrp="1"/>
          </p:cNvGraphicFramePr>
          <p:nvPr>
            <p:extLst>
              <p:ext uri="{D42A27DB-BD31-4B8C-83A1-F6EECF244321}">
                <p14:modId xmlns:p14="http://schemas.microsoft.com/office/powerpoint/2010/main" val="1832111017"/>
              </p:ext>
            </p:extLst>
          </p:nvPr>
        </p:nvGraphicFramePr>
        <p:xfrm>
          <a:off x="1566773" y="3505041"/>
          <a:ext cx="5549904" cy="288000"/>
        </p:xfrm>
        <a:graphic>
          <a:graphicData uri="http://schemas.openxmlformats.org/drawingml/2006/table">
            <a:tbl>
              <a:tblPr firstRow="1" bandRow="1">
                <a:tableStyleId>{5C22544A-7EE6-4342-B048-85BDC9FD1C3A}</a:tableStyleId>
              </a:tblPr>
              <a:tblGrid>
                <a:gridCol w="1387476">
                  <a:extLst>
                    <a:ext uri="{9D8B030D-6E8A-4147-A177-3AD203B41FA5}">
                      <a16:colId xmlns:a16="http://schemas.microsoft.com/office/drawing/2014/main" val="20000"/>
                    </a:ext>
                  </a:extLst>
                </a:gridCol>
                <a:gridCol w="1387476">
                  <a:extLst>
                    <a:ext uri="{9D8B030D-6E8A-4147-A177-3AD203B41FA5}">
                      <a16:colId xmlns:a16="http://schemas.microsoft.com/office/drawing/2014/main" val="20001"/>
                    </a:ext>
                  </a:extLst>
                </a:gridCol>
                <a:gridCol w="1387476">
                  <a:extLst>
                    <a:ext uri="{9D8B030D-6E8A-4147-A177-3AD203B41FA5}">
                      <a16:colId xmlns:a16="http://schemas.microsoft.com/office/drawing/2014/main" val="20002"/>
                    </a:ext>
                  </a:extLst>
                </a:gridCol>
                <a:gridCol w="1387476">
                  <a:extLst>
                    <a:ext uri="{9D8B030D-6E8A-4147-A177-3AD203B41FA5}">
                      <a16:colId xmlns:a16="http://schemas.microsoft.com/office/drawing/2014/main" val="2000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S</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T</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F</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5</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extLst>
                  <a:ext uri="{0D108BD9-81ED-4DB2-BD59-A6C34878D82A}">
                    <a16:rowId xmlns:a16="http://schemas.microsoft.com/office/drawing/2014/main" val="10000"/>
                  </a:ext>
                </a:extLst>
              </a:tr>
            </a:tbl>
          </a:graphicData>
        </a:graphic>
      </p:graphicFrame>
      <p:graphicFrame>
        <p:nvGraphicFramePr>
          <p:cNvPr id="13" name="表格 12"/>
          <p:cNvGraphicFramePr>
            <a:graphicFrameLocks noGrp="1"/>
          </p:cNvGraphicFramePr>
          <p:nvPr>
            <p:extLst>
              <p:ext uri="{D42A27DB-BD31-4B8C-83A1-F6EECF244321}">
                <p14:modId xmlns:p14="http://schemas.microsoft.com/office/powerpoint/2010/main" val="394216506"/>
              </p:ext>
            </p:extLst>
          </p:nvPr>
        </p:nvGraphicFramePr>
        <p:xfrm>
          <a:off x="1566773" y="3957105"/>
          <a:ext cx="7408992" cy="288000"/>
        </p:xfrm>
        <a:graphic>
          <a:graphicData uri="http://schemas.openxmlformats.org/drawingml/2006/table">
            <a:tbl>
              <a:tblPr firstRow="1" bandRow="1">
                <a:tableStyleId>{5C22544A-7EE6-4342-B048-85BDC9FD1C3A}</a:tableStyleId>
              </a:tblPr>
              <a:tblGrid>
                <a:gridCol w="231531">
                  <a:extLst>
                    <a:ext uri="{9D8B030D-6E8A-4147-A177-3AD203B41FA5}">
                      <a16:colId xmlns:a16="http://schemas.microsoft.com/office/drawing/2014/main" val="20000"/>
                    </a:ext>
                  </a:extLst>
                </a:gridCol>
                <a:gridCol w="231531">
                  <a:extLst>
                    <a:ext uri="{9D8B030D-6E8A-4147-A177-3AD203B41FA5}">
                      <a16:colId xmlns:a16="http://schemas.microsoft.com/office/drawing/2014/main" val="20001"/>
                    </a:ext>
                  </a:extLst>
                </a:gridCol>
                <a:gridCol w="231531">
                  <a:extLst>
                    <a:ext uri="{9D8B030D-6E8A-4147-A177-3AD203B41FA5}">
                      <a16:colId xmlns:a16="http://schemas.microsoft.com/office/drawing/2014/main" val="20002"/>
                    </a:ext>
                  </a:extLst>
                </a:gridCol>
                <a:gridCol w="231531">
                  <a:extLst>
                    <a:ext uri="{9D8B030D-6E8A-4147-A177-3AD203B41FA5}">
                      <a16:colId xmlns:a16="http://schemas.microsoft.com/office/drawing/2014/main" val="20003"/>
                    </a:ext>
                  </a:extLst>
                </a:gridCol>
                <a:gridCol w="231531">
                  <a:extLst>
                    <a:ext uri="{9D8B030D-6E8A-4147-A177-3AD203B41FA5}">
                      <a16:colId xmlns:a16="http://schemas.microsoft.com/office/drawing/2014/main" val="20004"/>
                    </a:ext>
                  </a:extLst>
                </a:gridCol>
                <a:gridCol w="231531">
                  <a:extLst>
                    <a:ext uri="{9D8B030D-6E8A-4147-A177-3AD203B41FA5}">
                      <a16:colId xmlns:a16="http://schemas.microsoft.com/office/drawing/2014/main" val="20005"/>
                    </a:ext>
                  </a:extLst>
                </a:gridCol>
                <a:gridCol w="231531">
                  <a:extLst>
                    <a:ext uri="{9D8B030D-6E8A-4147-A177-3AD203B41FA5}">
                      <a16:colId xmlns:a16="http://schemas.microsoft.com/office/drawing/2014/main" val="20006"/>
                    </a:ext>
                  </a:extLst>
                </a:gridCol>
                <a:gridCol w="231531">
                  <a:extLst>
                    <a:ext uri="{9D8B030D-6E8A-4147-A177-3AD203B41FA5}">
                      <a16:colId xmlns:a16="http://schemas.microsoft.com/office/drawing/2014/main" val="20007"/>
                    </a:ext>
                  </a:extLst>
                </a:gridCol>
                <a:gridCol w="231531">
                  <a:extLst>
                    <a:ext uri="{9D8B030D-6E8A-4147-A177-3AD203B41FA5}">
                      <a16:colId xmlns:a16="http://schemas.microsoft.com/office/drawing/2014/main" val="20008"/>
                    </a:ext>
                  </a:extLst>
                </a:gridCol>
                <a:gridCol w="231531">
                  <a:extLst>
                    <a:ext uri="{9D8B030D-6E8A-4147-A177-3AD203B41FA5}">
                      <a16:colId xmlns:a16="http://schemas.microsoft.com/office/drawing/2014/main" val="20009"/>
                    </a:ext>
                  </a:extLst>
                </a:gridCol>
                <a:gridCol w="231531">
                  <a:extLst>
                    <a:ext uri="{9D8B030D-6E8A-4147-A177-3AD203B41FA5}">
                      <a16:colId xmlns:a16="http://schemas.microsoft.com/office/drawing/2014/main" val="20010"/>
                    </a:ext>
                  </a:extLst>
                </a:gridCol>
                <a:gridCol w="231531">
                  <a:extLst>
                    <a:ext uri="{9D8B030D-6E8A-4147-A177-3AD203B41FA5}">
                      <a16:colId xmlns:a16="http://schemas.microsoft.com/office/drawing/2014/main" val="20011"/>
                    </a:ext>
                  </a:extLst>
                </a:gridCol>
                <a:gridCol w="231531">
                  <a:extLst>
                    <a:ext uri="{9D8B030D-6E8A-4147-A177-3AD203B41FA5}">
                      <a16:colId xmlns:a16="http://schemas.microsoft.com/office/drawing/2014/main" val="20012"/>
                    </a:ext>
                  </a:extLst>
                </a:gridCol>
                <a:gridCol w="231531">
                  <a:extLst>
                    <a:ext uri="{9D8B030D-6E8A-4147-A177-3AD203B41FA5}">
                      <a16:colId xmlns:a16="http://schemas.microsoft.com/office/drawing/2014/main" val="20013"/>
                    </a:ext>
                  </a:extLst>
                </a:gridCol>
                <a:gridCol w="231531">
                  <a:extLst>
                    <a:ext uri="{9D8B030D-6E8A-4147-A177-3AD203B41FA5}">
                      <a16:colId xmlns:a16="http://schemas.microsoft.com/office/drawing/2014/main" val="20014"/>
                    </a:ext>
                  </a:extLst>
                </a:gridCol>
                <a:gridCol w="231531">
                  <a:extLst>
                    <a:ext uri="{9D8B030D-6E8A-4147-A177-3AD203B41FA5}">
                      <a16:colId xmlns:a16="http://schemas.microsoft.com/office/drawing/2014/main" val="20015"/>
                    </a:ext>
                  </a:extLst>
                </a:gridCol>
                <a:gridCol w="231531">
                  <a:extLst>
                    <a:ext uri="{9D8B030D-6E8A-4147-A177-3AD203B41FA5}">
                      <a16:colId xmlns:a16="http://schemas.microsoft.com/office/drawing/2014/main" val="20016"/>
                    </a:ext>
                  </a:extLst>
                </a:gridCol>
                <a:gridCol w="231531">
                  <a:extLst>
                    <a:ext uri="{9D8B030D-6E8A-4147-A177-3AD203B41FA5}">
                      <a16:colId xmlns:a16="http://schemas.microsoft.com/office/drawing/2014/main" val="20017"/>
                    </a:ext>
                  </a:extLst>
                </a:gridCol>
                <a:gridCol w="231531">
                  <a:extLst>
                    <a:ext uri="{9D8B030D-6E8A-4147-A177-3AD203B41FA5}">
                      <a16:colId xmlns:a16="http://schemas.microsoft.com/office/drawing/2014/main" val="20018"/>
                    </a:ext>
                  </a:extLst>
                </a:gridCol>
                <a:gridCol w="231531">
                  <a:extLst>
                    <a:ext uri="{9D8B030D-6E8A-4147-A177-3AD203B41FA5}">
                      <a16:colId xmlns:a16="http://schemas.microsoft.com/office/drawing/2014/main" val="20019"/>
                    </a:ext>
                  </a:extLst>
                </a:gridCol>
                <a:gridCol w="231531">
                  <a:extLst>
                    <a:ext uri="{9D8B030D-6E8A-4147-A177-3AD203B41FA5}">
                      <a16:colId xmlns:a16="http://schemas.microsoft.com/office/drawing/2014/main" val="20020"/>
                    </a:ext>
                  </a:extLst>
                </a:gridCol>
                <a:gridCol w="231531">
                  <a:extLst>
                    <a:ext uri="{9D8B030D-6E8A-4147-A177-3AD203B41FA5}">
                      <a16:colId xmlns:a16="http://schemas.microsoft.com/office/drawing/2014/main" val="20021"/>
                    </a:ext>
                  </a:extLst>
                </a:gridCol>
                <a:gridCol w="231531">
                  <a:extLst>
                    <a:ext uri="{9D8B030D-6E8A-4147-A177-3AD203B41FA5}">
                      <a16:colId xmlns:a16="http://schemas.microsoft.com/office/drawing/2014/main" val="20022"/>
                    </a:ext>
                  </a:extLst>
                </a:gridCol>
                <a:gridCol w="231531">
                  <a:extLst>
                    <a:ext uri="{9D8B030D-6E8A-4147-A177-3AD203B41FA5}">
                      <a16:colId xmlns:a16="http://schemas.microsoft.com/office/drawing/2014/main" val="20023"/>
                    </a:ext>
                  </a:extLst>
                </a:gridCol>
                <a:gridCol w="231531">
                  <a:extLst>
                    <a:ext uri="{9D8B030D-6E8A-4147-A177-3AD203B41FA5}">
                      <a16:colId xmlns:a16="http://schemas.microsoft.com/office/drawing/2014/main" val="20024"/>
                    </a:ext>
                  </a:extLst>
                </a:gridCol>
                <a:gridCol w="231531">
                  <a:extLst>
                    <a:ext uri="{9D8B030D-6E8A-4147-A177-3AD203B41FA5}">
                      <a16:colId xmlns:a16="http://schemas.microsoft.com/office/drawing/2014/main" val="20025"/>
                    </a:ext>
                  </a:extLst>
                </a:gridCol>
                <a:gridCol w="231531">
                  <a:extLst>
                    <a:ext uri="{9D8B030D-6E8A-4147-A177-3AD203B41FA5}">
                      <a16:colId xmlns:a16="http://schemas.microsoft.com/office/drawing/2014/main" val="20026"/>
                    </a:ext>
                  </a:extLst>
                </a:gridCol>
                <a:gridCol w="231531">
                  <a:extLst>
                    <a:ext uri="{9D8B030D-6E8A-4147-A177-3AD203B41FA5}">
                      <a16:colId xmlns:a16="http://schemas.microsoft.com/office/drawing/2014/main" val="20027"/>
                    </a:ext>
                  </a:extLst>
                </a:gridCol>
                <a:gridCol w="231531">
                  <a:extLst>
                    <a:ext uri="{9D8B030D-6E8A-4147-A177-3AD203B41FA5}">
                      <a16:colId xmlns:a16="http://schemas.microsoft.com/office/drawing/2014/main" val="20028"/>
                    </a:ext>
                  </a:extLst>
                </a:gridCol>
                <a:gridCol w="231531">
                  <a:extLst>
                    <a:ext uri="{9D8B030D-6E8A-4147-A177-3AD203B41FA5}">
                      <a16:colId xmlns:a16="http://schemas.microsoft.com/office/drawing/2014/main" val="20029"/>
                    </a:ext>
                  </a:extLst>
                </a:gridCol>
                <a:gridCol w="231531">
                  <a:extLst>
                    <a:ext uri="{9D8B030D-6E8A-4147-A177-3AD203B41FA5}">
                      <a16:colId xmlns:a16="http://schemas.microsoft.com/office/drawing/2014/main" val="20030"/>
                    </a:ext>
                  </a:extLst>
                </a:gridCol>
                <a:gridCol w="231531">
                  <a:extLst>
                    <a:ext uri="{9D8B030D-6E8A-4147-A177-3AD203B41FA5}">
                      <a16:colId xmlns:a16="http://schemas.microsoft.com/office/drawing/2014/main" val="20031"/>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0</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extLst>
                  <a:ext uri="{0D108BD9-81ED-4DB2-BD59-A6C34878D82A}">
                    <a16:rowId xmlns:a16="http://schemas.microsoft.com/office/drawing/2014/main" val="10000"/>
                  </a:ext>
                </a:extLst>
              </a:tr>
            </a:tbl>
          </a:graphicData>
        </a:graphic>
      </p:graphicFrame>
      <p:sp>
        <p:nvSpPr>
          <p:cNvPr id="14" name="矩形 13"/>
          <p:cNvSpPr/>
          <p:nvPr/>
        </p:nvSpPr>
        <p:spPr>
          <a:xfrm>
            <a:off x="761916" y="2606414"/>
            <a:ext cx="806631" cy="276999"/>
          </a:xfrm>
          <a:prstGeom prst="rect">
            <a:avLst/>
          </a:prstGeom>
        </p:spPr>
        <p:txBody>
          <a:bodyPr wrap="none">
            <a:spAutoFit/>
          </a:bodyPr>
          <a:lstStyle/>
          <a:p>
            <a:pPr algn="r"/>
            <a:r>
              <a:rPr lang="en-US" altLang="zh-CN" sz="1200" dirty="0">
                <a:solidFill>
                  <a:srgbClr val="020202"/>
                </a:solidFill>
                <a:latin typeface="Montserrat" panose="00000500000000000000" pitchFamily="2" charset="0"/>
                <a:ea typeface="微软雅黑 Light" panose="020B0502040204020203" pitchFamily="34" charset="-122"/>
              </a:rPr>
              <a:t>4 </a:t>
            </a:r>
            <a:r>
              <a:rPr lang="zh-CN" altLang="en-US" sz="1200" dirty="0">
                <a:solidFill>
                  <a:srgbClr val="020202"/>
                </a:solidFill>
                <a:latin typeface="Montserrat" panose="00000500000000000000" pitchFamily="2" charset="0"/>
                <a:ea typeface="微软雅黑 Light" panose="020B0502040204020203" pitchFamily="34" charset="-122"/>
              </a:rPr>
              <a:t>个 </a:t>
            </a:r>
            <a:r>
              <a:rPr lang="en-US" altLang="zh-CN" sz="1200" dirty="0">
                <a:solidFill>
                  <a:srgbClr val="020202"/>
                </a:solidFill>
                <a:latin typeface="Montserrat" panose="00000500000000000000" pitchFamily="2" charset="0"/>
                <a:ea typeface="微软雅黑 Light" panose="020B0502040204020203" pitchFamily="34" charset="-122"/>
              </a:rPr>
              <a:t>6 </a:t>
            </a:r>
            <a:r>
              <a:rPr lang="zh-CN" altLang="en-US" sz="1200" dirty="0">
                <a:solidFill>
                  <a:srgbClr val="020202"/>
                </a:solidFill>
                <a:latin typeface="Montserrat" panose="00000500000000000000" pitchFamily="2" charset="0"/>
                <a:ea typeface="微软雅黑 Light" panose="020B0502040204020203" pitchFamily="34" charset="-122"/>
              </a:rPr>
              <a:t>位</a:t>
            </a:r>
          </a:p>
        </p:txBody>
      </p:sp>
      <p:sp>
        <p:nvSpPr>
          <p:cNvPr id="15" name="矩形 14"/>
          <p:cNvSpPr/>
          <p:nvPr/>
        </p:nvSpPr>
        <p:spPr>
          <a:xfrm>
            <a:off x="851391" y="3510542"/>
            <a:ext cx="753731" cy="276999"/>
          </a:xfrm>
          <a:prstGeom prst="rect">
            <a:avLst/>
          </a:prstGeom>
        </p:spPr>
        <p:txBody>
          <a:bodyPr wrap="none">
            <a:spAutoFit/>
          </a:bodyPr>
          <a:lstStyle/>
          <a:p>
            <a:pPr algn="r"/>
            <a:r>
              <a:rPr lang="en-US" altLang="zh-CN" sz="1200" dirty="0">
                <a:solidFill>
                  <a:srgbClr val="020202"/>
                </a:solidFill>
                <a:latin typeface="Montserrat" panose="00000500000000000000" pitchFamily="2" charset="0"/>
                <a:ea typeface="微软雅黑 Light" panose="020B0502040204020203" pitchFamily="34" charset="-122"/>
              </a:rPr>
              <a:t>Base64</a:t>
            </a:r>
            <a:endParaRPr lang="zh-CN" altLang="en-US" sz="1200" dirty="0">
              <a:solidFill>
                <a:srgbClr val="020202"/>
              </a:solidFill>
              <a:latin typeface="Montserrat" panose="00000500000000000000" pitchFamily="2" charset="0"/>
              <a:ea typeface="微软雅黑 Light" panose="020B0502040204020203" pitchFamily="34" charset="-122"/>
            </a:endParaRPr>
          </a:p>
        </p:txBody>
      </p:sp>
      <p:sp>
        <p:nvSpPr>
          <p:cNvPr id="16" name="矩形 15"/>
          <p:cNvSpPr/>
          <p:nvPr/>
        </p:nvSpPr>
        <p:spPr>
          <a:xfrm>
            <a:off x="975115" y="3962606"/>
            <a:ext cx="593432" cy="276999"/>
          </a:xfrm>
          <a:prstGeom prst="rect">
            <a:avLst/>
          </a:prstGeom>
        </p:spPr>
        <p:txBody>
          <a:bodyPr wrap="none">
            <a:spAutoFit/>
          </a:bodyPr>
          <a:lstStyle/>
          <a:p>
            <a:pPr algn="r"/>
            <a:r>
              <a:rPr lang="en-US" altLang="zh-CN" sz="1200" dirty="0">
                <a:solidFill>
                  <a:srgbClr val="020202"/>
                </a:solidFill>
                <a:latin typeface="Montserrat" panose="00000500000000000000" pitchFamily="2" charset="0"/>
                <a:ea typeface="微软雅黑 Light" panose="020B0502040204020203" pitchFamily="34" charset="-122"/>
              </a:rPr>
              <a:t>ASCII</a:t>
            </a:r>
            <a:endParaRPr lang="zh-CN" altLang="en-US" sz="1200" dirty="0">
              <a:solidFill>
                <a:srgbClr val="020202"/>
              </a:solidFill>
              <a:latin typeface="Montserrat" panose="00000500000000000000" pitchFamily="2" charset="0"/>
              <a:ea typeface="微软雅黑 Light" panose="020B0502040204020203" pitchFamily="34" charset="-122"/>
            </a:endParaRPr>
          </a:p>
        </p:txBody>
      </p:sp>
      <p:graphicFrame>
        <p:nvGraphicFramePr>
          <p:cNvPr id="25" name="表格 24">
            <a:extLst>
              <a:ext uri="{FF2B5EF4-FFF2-40B4-BE49-F238E27FC236}">
                <a16:creationId xmlns:a16="http://schemas.microsoft.com/office/drawing/2014/main" id="{F0F21F05-9012-222E-05CA-6D5368176F42}"/>
              </a:ext>
            </a:extLst>
          </p:cNvPr>
          <p:cNvGraphicFramePr>
            <a:graphicFrameLocks noGrp="1"/>
          </p:cNvGraphicFramePr>
          <p:nvPr>
            <p:extLst>
              <p:ext uri="{D42A27DB-BD31-4B8C-83A1-F6EECF244321}">
                <p14:modId xmlns:p14="http://schemas.microsoft.com/office/powerpoint/2010/main" val="2630815663"/>
              </p:ext>
            </p:extLst>
          </p:nvPr>
        </p:nvGraphicFramePr>
        <p:xfrm>
          <a:off x="1566773" y="3052977"/>
          <a:ext cx="5549904" cy="288000"/>
        </p:xfrm>
        <a:graphic>
          <a:graphicData uri="http://schemas.openxmlformats.org/drawingml/2006/table">
            <a:tbl>
              <a:tblPr firstRow="1" bandRow="1">
                <a:tableStyleId>{5C22544A-7EE6-4342-B048-85BDC9FD1C3A}</a:tableStyleId>
              </a:tblPr>
              <a:tblGrid>
                <a:gridCol w="1387476">
                  <a:extLst>
                    <a:ext uri="{9D8B030D-6E8A-4147-A177-3AD203B41FA5}">
                      <a16:colId xmlns:a16="http://schemas.microsoft.com/office/drawing/2014/main" val="20000"/>
                    </a:ext>
                  </a:extLst>
                </a:gridCol>
                <a:gridCol w="1387476">
                  <a:extLst>
                    <a:ext uri="{9D8B030D-6E8A-4147-A177-3AD203B41FA5}">
                      <a16:colId xmlns:a16="http://schemas.microsoft.com/office/drawing/2014/main" val="20001"/>
                    </a:ext>
                  </a:extLst>
                </a:gridCol>
                <a:gridCol w="1387476">
                  <a:extLst>
                    <a:ext uri="{9D8B030D-6E8A-4147-A177-3AD203B41FA5}">
                      <a16:colId xmlns:a16="http://schemas.microsoft.com/office/drawing/2014/main" val="20002"/>
                    </a:ext>
                  </a:extLst>
                </a:gridCol>
                <a:gridCol w="1387476">
                  <a:extLst>
                    <a:ext uri="{9D8B030D-6E8A-4147-A177-3AD203B41FA5}">
                      <a16:colId xmlns:a16="http://schemas.microsoft.com/office/drawing/2014/main" val="2000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18</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19</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5</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57</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extLst>
                  <a:ext uri="{0D108BD9-81ED-4DB2-BD59-A6C34878D82A}">
                    <a16:rowId xmlns:a16="http://schemas.microsoft.com/office/drawing/2014/main" val="10000"/>
                  </a:ext>
                </a:extLst>
              </a:tr>
            </a:tbl>
          </a:graphicData>
        </a:graphic>
      </p:graphicFrame>
      <p:sp>
        <p:nvSpPr>
          <p:cNvPr id="32" name="矩形 31">
            <a:extLst>
              <a:ext uri="{FF2B5EF4-FFF2-40B4-BE49-F238E27FC236}">
                <a16:creationId xmlns:a16="http://schemas.microsoft.com/office/drawing/2014/main" id="{32EDBB4D-4404-AECC-54EF-2A35DF303121}"/>
              </a:ext>
            </a:extLst>
          </p:cNvPr>
          <p:cNvSpPr/>
          <p:nvPr/>
        </p:nvSpPr>
        <p:spPr>
          <a:xfrm>
            <a:off x="1112680" y="3058478"/>
            <a:ext cx="492443" cy="276999"/>
          </a:xfrm>
          <a:prstGeom prst="rect">
            <a:avLst/>
          </a:prstGeom>
        </p:spPr>
        <p:txBody>
          <a:bodyPr wrap="none">
            <a:spAutoFit/>
          </a:bodyPr>
          <a:lstStyle/>
          <a:p>
            <a:pPr algn="r"/>
            <a:r>
              <a:rPr lang="zh-CN" altLang="en-US" sz="1200" dirty="0">
                <a:solidFill>
                  <a:srgbClr val="020202"/>
                </a:solidFill>
                <a:latin typeface="Montserrat" panose="00000500000000000000" pitchFamily="2" charset="0"/>
                <a:ea typeface="微软雅黑 Light" panose="020B0502040204020203" pitchFamily="34" charset="-122"/>
              </a:rPr>
              <a:t>编号</a:t>
            </a:r>
          </a:p>
        </p:txBody>
      </p:sp>
      <p:sp>
        <p:nvSpPr>
          <p:cNvPr id="37" name="箭头: 右 36">
            <a:extLst>
              <a:ext uri="{FF2B5EF4-FFF2-40B4-BE49-F238E27FC236}">
                <a16:creationId xmlns:a16="http://schemas.microsoft.com/office/drawing/2014/main" id="{1F4F1EE8-34A8-4318-E6AE-342061E7E097}"/>
              </a:ext>
            </a:extLst>
          </p:cNvPr>
          <p:cNvSpPr/>
          <p:nvPr/>
        </p:nvSpPr>
        <p:spPr>
          <a:xfrm>
            <a:off x="7249361" y="3568239"/>
            <a:ext cx="219456" cy="161605"/>
          </a:xfrm>
          <a:prstGeom prst="right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 name="文本框 37">
            <a:extLst>
              <a:ext uri="{FF2B5EF4-FFF2-40B4-BE49-F238E27FC236}">
                <a16:creationId xmlns:a16="http://schemas.microsoft.com/office/drawing/2014/main" id="{CE5BC466-1019-8A6E-C460-4F0F6D62B945}"/>
              </a:ext>
            </a:extLst>
          </p:cNvPr>
          <p:cNvSpPr txBox="1"/>
          <p:nvPr/>
        </p:nvSpPr>
        <p:spPr>
          <a:xfrm>
            <a:off x="7505395" y="3510542"/>
            <a:ext cx="55175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Light" panose="020B0502040204020203" pitchFamily="34" charset="-122"/>
              </a:rPr>
              <a:t>STF5</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5903590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内容占位符 6">
            <a:extLst>
              <a:ext uri="{FF2B5EF4-FFF2-40B4-BE49-F238E27FC236}">
                <a16:creationId xmlns:a16="http://schemas.microsoft.com/office/drawing/2014/main" id="{FAB8E987-C8DF-E71E-ADD9-7A0EAC7A28FC}"/>
              </a:ext>
            </a:extLst>
          </p:cNvPr>
          <p:cNvSpPr>
            <a:spLocks noGrp="1"/>
          </p:cNvSpPr>
          <p:nvPr>
            <p:ph sz="quarter" idx="11"/>
          </p:nvPr>
        </p:nvSpPr>
        <p:spPr/>
        <p:txBody>
          <a:bodyPr/>
          <a:lstStyle/>
          <a:p>
            <a:r>
              <a:rPr lang="zh-CN" altLang="en-US" dirty="0"/>
              <a:t>实例</a:t>
            </a:r>
            <a:r>
              <a:rPr lang="en-US" altLang="zh-CN" dirty="0"/>
              <a:t>2</a:t>
            </a:r>
          </a:p>
          <a:p>
            <a:pPr lvl="1"/>
            <a:r>
              <a:rPr lang="zh-CN" altLang="en-US" dirty="0"/>
              <a:t>原始数据只有</a:t>
            </a:r>
            <a:r>
              <a:rPr lang="en-US" altLang="zh-CN" dirty="0"/>
              <a:t>1</a:t>
            </a:r>
            <a:r>
              <a:rPr lang="zh-CN" altLang="en-US" dirty="0"/>
              <a:t>个字节</a:t>
            </a:r>
            <a:endParaRPr lang="en-US" altLang="zh-CN" dirty="0"/>
          </a:p>
          <a:p>
            <a:pPr lvl="1"/>
            <a:r>
              <a:rPr lang="zh-CN" altLang="en-US" dirty="0"/>
              <a:t>需要填充</a:t>
            </a:r>
            <a:r>
              <a:rPr lang="en-US" altLang="zh-CN" dirty="0"/>
              <a:t>2</a:t>
            </a:r>
            <a:r>
              <a:rPr lang="zh-CN" altLang="en-US" dirty="0"/>
              <a:t>个字节补足</a:t>
            </a:r>
            <a:r>
              <a:rPr lang="en-US" altLang="zh-CN" dirty="0"/>
              <a:t>24bit</a:t>
            </a:r>
            <a:endParaRPr lang="zh-CN" altLang="en-US" dirty="0"/>
          </a:p>
        </p:txBody>
      </p:sp>
      <p:sp>
        <p:nvSpPr>
          <p:cNvPr id="14" name="矩形 13"/>
          <p:cNvSpPr/>
          <p:nvPr/>
        </p:nvSpPr>
        <p:spPr>
          <a:xfrm>
            <a:off x="764500" y="2351866"/>
            <a:ext cx="800219" cy="276999"/>
          </a:xfrm>
          <a:prstGeom prst="rect">
            <a:avLst/>
          </a:prstGeom>
        </p:spPr>
        <p:txBody>
          <a:bodyPr wrap="none">
            <a:spAutoFit/>
          </a:bodyPr>
          <a:lstStyle/>
          <a:p>
            <a:pPr algn="r"/>
            <a:r>
              <a:rPr lang="zh-CN" altLang="en-US" sz="1200" dirty="0">
                <a:solidFill>
                  <a:srgbClr val="020202"/>
                </a:solidFill>
                <a:latin typeface="Montserrat" panose="00000500000000000000" pitchFamily="2" charset="0"/>
                <a:ea typeface="微软雅黑 Light" panose="020B0502040204020203" pitchFamily="34" charset="-122"/>
              </a:rPr>
              <a:t>原始字节</a:t>
            </a:r>
          </a:p>
        </p:txBody>
      </p:sp>
      <p:graphicFrame>
        <p:nvGraphicFramePr>
          <p:cNvPr id="15" name="表格 14"/>
          <p:cNvGraphicFramePr>
            <a:graphicFrameLocks noGrp="1"/>
          </p:cNvGraphicFramePr>
          <p:nvPr>
            <p:extLst>
              <p:ext uri="{D42A27DB-BD31-4B8C-83A1-F6EECF244321}">
                <p14:modId xmlns:p14="http://schemas.microsoft.com/office/powerpoint/2010/main" val="2619781897"/>
              </p:ext>
            </p:extLst>
          </p:nvPr>
        </p:nvGraphicFramePr>
        <p:xfrm>
          <a:off x="1570259" y="2346365"/>
          <a:ext cx="5549904" cy="288000"/>
        </p:xfrm>
        <a:graphic>
          <a:graphicData uri="http://schemas.openxmlformats.org/drawingml/2006/table">
            <a:tbl>
              <a:tblPr firstRow="1" bandRow="1">
                <a:tableStyleId>{5C22544A-7EE6-4342-B048-85BDC9FD1C3A}</a:tableStyleId>
              </a:tblPr>
              <a:tblGrid>
                <a:gridCol w="231246">
                  <a:extLst>
                    <a:ext uri="{9D8B030D-6E8A-4147-A177-3AD203B41FA5}">
                      <a16:colId xmlns:a16="http://schemas.microsoft.com/office/drawing/2014/main" val="20000"/>
                    </a:ext>
                  </a:extLst>
                </a:gridCol>
                <a:gridCol w="231246">
                  <a:extLst>
                    <a:ext uri="{9D8B030D-6E8A-4147-A177-3AD203B41FA5}">
                      <a16:colId xmlns:a16="http://schemas.microsoft.com/office/drawing/2014/main" val="20001"/>
                    </a:ext>
                  </a:extLst>
                </a:gridCol>
                <a:gridCol w="231246">
                  <a:extLst>
                    <a:ext uri="{9D8B030D-6E8A-4147-A177-3AD203B41FA5}">
                      <a16:colId xmlns:a16="http://schemas.microsoft.com/office/drawing/2014/main" val="20002"/>
                    </a:ext>
                  </a:extLst>
                </a:gridCol>
                <a:gridCol w="231246">
                  <a:extLst>
                    <a:ext uri="{9D8B030D-6E8A-4147-A177-3AD203B41FA5}">
                      <a16:colId xmlns:a16="http://schemas.microsoft.com/office/drawing/2014/main" val="20003"/>
                    </a:ext>
                  </a:extLst>
                </a:gridCol>
                <a:gridCol w="231246">
                  <a:extLst>
                    <a:ext uri="{9D8B030D-6E8A-4147-A177-3AD203B41FA5}">
                      <a16:colId xmlns:a16="http://schemas.microsoft.com/office/drawing/2014/main" val="20004"/>
                    </a:ext>
                  </a:extLst>
                </a:gridCol>
                <a:gridCol w="231246">
                  <a:extLst>
                    <a:ext uri="{9D8B030D-6E8A-4147-A177-3AD203B41FA5}">
                      <a16:colId xmlns:a16="http://schemas.microsoft.com/office/drawing/2014/main" val="20005"/>
                    </a:ext>
                  </a:extLst>
                </a:gridCol>
                <a:gridCol w="231246">
                  <a:extLst>
                    <a:ext uri="{9D8B030D-6E8A-4147-A177-3AD203B41FA5}">
                      <a16:colId xmlns:a16="http://schemas.microsoft.com/office/drawing/2014/main" val="20006"/>
                    </a:ext>
                  </a:extLst>
                </a:gridCol>
                <a:gridCol w="231246">
                  <a:extLst>
                    <a:ext uri="{9D8B030D-6E8A-4147-A177-3AD203B41FA5}">
                      <a16:colId xmlns:a16="http://schemas.microsoft.com/office/drawing/2014/main" val="20007"/>
                    </a:ext>
                  </a:extLst>
                </a:gridCol>
                <a:gridCol w="231246">
                  <a:extLst>
                    <a:ext uri="{9D8B030D-6E8A-4147-A177-3AD203B41FA5}">
                      <a16:colId xmlns:a16="http://schemas.microsoft.com/office/drawing/2014/main" val="20008"/>
                    </a:ext>
                  </a:extLst>
                </a:gridCol>
                <a:gridCol w="231246">
                  <a:extLst>
                    <a:ext uri="{9D8B030D-6E8A-4147-A177-3AD203B41FA5}">
                      <a16:colId xmlns:a16="http://schemas.microsoft.com/office/drawing/2014/main" val="20009"/>
                    </a:ext>
                  </a:extLst>
                </a:gridCol>
                <a:gridCol w="231246">
                  <a:extLst>
                    <a:ext uri="{9D8B030D-6E8A-4147-A177-3AD203B41FA5}">
                      <a16:colId xmlns:a16="http://schemas.microsoft.com/office/drawing/2014/main" val="20010"/>
                    </a:ext>
                  </a:extLst>
                </a:gridCol>
                <a:gridCol w="231246">
                  <a:extLst>
                    <a:ext uri="{9D8B030D-6E8A-4147-A177-3AD203B41FA5}">
                      <a16:colId xmlns:a16="http://schemas.microsoft.com/office/drawing/2014/main" val="20011"/>
                    </a:ext>
                  </a:extLst>
                </a:gridCol>
                <a:gridCol w="231246">
                  <a:extLst>
                    <a:ext uri="{9D8B030D-6E8A-4147-A177-3AD203B41FA5}">
                      <a16:colId xmlns:a16="http://schemas.microsoft.com/office/drawing/2014/main" val="20012"/>
                    </a:ext>
                  </a:extLst>
                </a:gridCol>
                <a:gridCol w="231246">
                  <a:extLst>
                    <a:ext uri="{9D8B030D-6E8A-4147-A177-3AD203B41FA5}">
                      <a16:colId xmlns:a16="http://schemas.microsoft.com/office/drawing/2014/main" val="20013"/>
                    </a:ext>
                  </a:extLst>
                </a:gridCol>
                <a:gridCol w="231246">
                  <a:extLst>
                    <a:ext uri="{9D8B030D-6E8A-4147-A177-3AD203B41FA5}">
                      <a16:colId xmlns:a16="http://schemas.microsoft.com/office/drawing/2014/main" val="20014"/>
                    </a:ext>
                  </a:extLst>
                </a:gridCol>
                <a:gridCol w="231246">
                  <a:extLst>
                    <a:ext uri="{9D8B030D-6E8A-4147-A177-3AD203B41FA5}">
                      <a16:colId xmlns:a16="http://schemas.microsoft.com/office/drawing/2014/main" val="20015"/>
                    </a:ext>
                  </a:extLst>
                </a:gridCol>
                <a:gridCol w="231246">
                  <a:extLst>
                    <a:ext uri="{9D8B030D-6E8A-4147-A177-3AD203B41FA5}">
                      <a16:colId xmlns:a16="http://schemas.microsoft.com/office/drawing/2014/main" val="20016"/>
                    </a:ext>
                  </a:extLst>
                </a:gridCol>
                <a:gridCol w="231246">
                  <a:extLst>
                    <a:ext uri="{9D8B030D-6E8A-4147-A177-3AD203B41FA5}">
                      <a16:colId xmlns:a16="http://schemas.microsoft.com/office/drawing/2014/main" val="20017"/>
                    </a:ext>
                  </a:extLst>
                </a:gridCol>
                <a:gridCol w="231246">
                  <a:extLst>
                    <a:ext uri="{9D8B030D-6E8A-4147-A177-3AD203B41FA5}">
                      <a16:colId xmlns:a16="http://schemas.microsoft.com/office/drawing/2014/main" val="20018"/>
                    </a:ext>
                  </a:extLst>
                </a:gridCol>
                <a:gridCol w="231246">
                  <a:extLst>
                    <a:ext uri="{9D8B030D-6E8A-4147-A177-3AD203B41FA5}">
                      <a16:colId xmlns:a16="http://schemas.microsoft.com/office/drawing/2014/main" val="20019"/>
                    </a:ext>
                  </a:extLst>
                </a:gridCol>
                <a:gridCol w="231246">
                  <a:extLst>
                    <a:ext uri="{9D8B030D-6E8A-4147-A177-3AD203B41FA5}">
                      <a16:colId xmlns:a16="http://schemas.microsoft.com/office/drawing/2014/main" val="20020"/>
                    </a:ext>
                  </a:extLst>
                </a:gridCol>
                <a:gridCol w="231246">
                  <a:extLst>
                    <a:ext uri="{9D8B030D-6E8A-4147-A177-3AD203B41FA5}">
                      <a16:colId xmlns:a16="http://schemas.microsoft.com/office/drawing/2014/main" val="20021"/>
                    </a:ext>
                  </a:extLst>
                </a:gridCol>
                <a:gridCol w="231246">
                  <a:extLst>
                    <a:ext uri="{9D8B030D-6E8A-4147-A177-3AD203B41FA5}">
                      <a16:colId xmlns:a16="http://schemas.microsoft.com/office/drawing/2014/main" val="20022"/>
                    </a:ext>
                  </a:extLst>
                </a:gridCol>
                <a:gridCol w="231246">
                  <a:extLst>
                    <a:ext uri="{9D8B030D-6E8A-4147-A177-3AD203B41FA5}">
                      <a16:colId xmlns:a16="http://schemas.microsoft.com/office/drawing/2014/main" val="2002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0</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10000"/>
                  </a:ext>
                </a:extLst>
              </a:tr>
            </a:tbl>
          </a:graphicData>
        </a:graphic>
      </p:graphicFrame>
      <p:graphicFrame>
        <p:nvGraphicFramePr>
          <p:cNvPr id="16" name="表格 15"/>
          <p:cNvGraphicFramePr>
            <a:graphicFrameLocks noGrp="1"/>
          </p:cNvGraphicFramePr>
          <p:nvPr>
            <p:extLst>
              <p:ext uri="{D42A27DB-BD31-4B8C-83A1-F6EECF244321}">
                <p14:modId xmlns:p14="http://schemas.microsoft.com/office/powerpoint/2010/main" val="703290848"/>
              </p:ext>
            </p:extLst>
          </p:nvPr>
        </p:nvGraphicFramePr>
        <p:xfrm>
          <a:off x="1570259" y="2771114"/>
          <a:ext cx="5549904" cy="288000"/>
        </p:xfrm>
        <a:graphic>
          <a:graphicData uri="http://schemas.openxmlformats.org/drawingml/2006/table">
            <a:tbl>
              <a:tblPr firstRow="1" bandRow="1">
                <a:tableStyleId>{5C22544A-7EE6-4342-B048-85BDC9FD1C3A}</a:tableStyleId>
              </a:tblPr>
              <a:tblGrid>
                <a:gridCol w="231246">
                  <a:extLst>
                    <a:ext uri="{9D8B030D-6E8A-4147-A177-3AD203B41FA5}">
                      <a16:colId xmlns:a16="http://schemas.microsoft.com/office/drawing/2014/main" val="20000"/>
                    </a:ext>
                  </a:extLst>
                </a:gridCol>
                <a:gridCol w="231246">
                  <a:extLst>
                    <a:ext uri="{9D8B030D-6E8A-4147-A177-3AD203B41FA5}">
                      <a16:colId xmlns:a16="http://schemas.microsoft.com/office/drawing/2014/main" val="20001"/>
                    </a:ext>
                  </a:extLst>
                </a:gridCol>
                <a:gridCol w="231246">
                  <a:extLst>
                    <a:ext uri="{9D8B030D-6E8A-4147-A177-3AD203B41FA5}">
                      <a16:colId xmlns:a16="http://schemas.microsoft.com/office/drawing/2014/main" val="20002"/>
                    </a:ext>
                  </a:extLst>
                </a:gridCol>
                <a:gridCol w="231246">
                  <a:extLst>
                    <a:ext uri="{9D8B030D-6E8A-4147-A177-3AD203B41FA5}">
                      <a16:colId xmlns:a16="http://schemas.microsoft.com/office/drawing/2014/main" val="20003"/>
                    </a:ext>
                  </a:extLst>
                </a:gridCol>
                <a:gridCol w="231246">
                  <a:extLst>
                    <a:ext uri="{9D8B030D-6E8A-4147-A177-3AD203B41FA5}">
                      <a16:colId xmlns:a16="http://schemas.microsoft.com/office/drawing/2014/main" val="20004"/>
                    </a:ext>
                  </a:extLst>
                </a:gridCol>
                <a:gridCol w="231246">
                  <a:extLst>
                    <a:ext uri="{9D8B030D-6E8A-4147-A177-3AD203B41FA5}">
                      <a16:colId xmlns:a16="http://schemas.microsoft.com/office/drawing/2014/main" val="20005"/>
                    </a:ext>
                  </a:extLst>
                </a:gridCol>
                <a:gridCol w="231246">
                  <a:extLst>
                    <a:ext uri="{9D8B030D-6E8A-4147-A177-3AD203B41FA5}">
                      <a16:colId xmlns:a16="http://schemas.microsoft.com/office/drawing/2014/main" val="20006"/>
                    </a:ext>
                  </a:extLst>
                </a:gridCol>
                <a:gridCol w="231246">
                  <a:extLst>
                    <a:ext uri="{9D8B030D-6E8A-4147-A177-3AD203B41FA5}">
                      <a16:colId xmlns:a16="http://schemas.microsoft.com/office/drawing/2014/main" val="20007"/>
                    </a:ext>
                  </a:extLst>
                </a:gridCol>
                <a:gridCol w="231246">
                  <a:extLst>
                    <a:ext uri="{9D8B030D-6E8A-4147-A177-3AD203B41FA5}">
                      <a16:colId xmlns:a16="http://schemas.microsoft.com/office/drawing/2014/main" val="20008"/>
                    </a:ext>
                  </a:extLst>
                </a:gridCol>
                <a:gridCol w="231246">
                  <a:extLst>
                    <a:ext uri="{9D8B030D-6E8A-4147-A177-3AD203B41FA5}">
                      <a16:colId xmlns:a16="http://schemas.microsoft.com/office/drawing/2014/main" val="20009"/>
                    </a:ext>
                  </a:extLst>
                </a:gridCol>
                <a:gridCol w="231246">
                  <a:extLst>
                    <a:ext uri="{9D8B030D-6E8A-4147-A177-3AD203B41FA5}">
                      <a16:colId xmlns:a16="http://schemas.microsoft.com/office/drawing/2014/main" val="20010"/>
                    </a:ext>
                  </a:extLst>
                </a:gridCol>
                <a:gridCol w="231246">
                  <a:extLst>
                    <a:ext uri="{9D8B030D-6E8A-4147-A177-3AD203B41FA5}">
                      <a16:colId xmlns:a16="http://schemas.microsoft.com/office/drawing/2014/main" val="20011"/>
                    </a:ext>
                  </a:extLst>
                </a:gridCol>
                <a:gridCol w="231246">
                  <a:extLst>
                    <a:ext uri="{9D8B030D-6E8A-4147-A177-3AD203B41FA5}">
                      <a16:colId xmlns:a16="http://schemas.microsoft.com/office/drawing/2014/main" val="20012"/>
                    </a:ext>
                  </a:extLst>
                </a:gridCol>
                <a:gridCol w="231246">
                  <a:extLst>
                    <a:ext uri="{9D8B030D-6E8A-4147-A177-3AD203B41FA5}">
                      <a16:colId xmlns:a16="http://schemas.microsoft.com/office/drawing/2014/main" val="20013"/>
                    </a:ext>
                  </a:extLst>
                </a:gridCol>
                <a:gridCol w="231246">
                  <a:extLst>
                    <a:ext uri="{9D8B030D-6E8A-4147-A177-3AD203B41FA5}">
                      <a16:colId xmlns:a16="http://schemas.microsoft.com/office/drawing/2014/main" val="20014"/>
                    </a:ext>
                  </a:extLst>
                </a:gridCol>
                <a:gridCol w="231246">
                  <a:extLst>
                    <a:ext uri="{9D8B030D-6E8A-4147-A177-3AD203B41FA5}">
                      <a16:colId xmlns:a16="http://schemas.microsoft.com/office/drawing/2014/main" val="20015"/>
                    </a:ext>
                  </a:extLst>
                </a:gridCol>
                <a:gridCol w="231246">
                  <a:extLst>
                    <a:ext uri="{9D8B030D-6E8A-4147-A177-3AD203B41FA5}">
                      <a16:colId xmlns:a16="http://schemas.microsoft.com/office/drawing/2014/main" val="20016"/>
                    </a:ext>
                  </a:extLst>
                </a:gridCol>
                <a:gridCol w="231246">
                  <a:extLst>
                    <a:ext uri="{9D8B030D-6E8A-4147-A177-3AD203B41FA5}">
                      <a16:colId xmlns:a16="http://schemas.microsoft.com/office/drawing/2014/main" val="20017"/>
                    </a:ext>
                  </a:extLst>
                </a:gridCol>
                <a:gridCol w="231246">
                  <a:extLst>
                    <a:ext uri="{9D8B030D-6E8A-4147-A177-3AD203B41FA5}">
                      <a16:colId xmlns:a16="http://schemas.microsoft.com/office/drawing/2014/main" val="20018"/>
                    </a:ext>
                  </a:extLst>
                </a:gridCol>
                <a:gridCol w="231246">
                  <a:extLst>
                    <a:ext uri="{9D8B030D-6E8A-4147-A177-3AD203B41FA5}">
                      <a16:colId xmlns:a16="http://schemas.microsoft.com/office/drawing/2014/main" val="20019"/>
                    </a:ext>
                  </a:extLst>
                </a:gridCol>
                <a:gridCol w="231246">
                  <a:extLst>
                    <a:ext uri="{9D8B030D-6E8A-4147-A177-3AD203B41FA5}">
                      <a16:colId xmlns:a16="http://schemas.microsoft.com/office/drawing/2014/main" val="20020"/>
                    </a:ext>
                  </a:extLst>
                </a:gridCol>
                <a:gridCol w="231246">
                  <a:extLst>
                    <a:ext uri="{9D8B030D-6E8A-4147-A177-3AD203B41FA5}">
                      <a16:colId xmlns:a16="http://schemas.microsoft.com/office/drawing/2014/main" val="20021"/>
                    </a:ext>
                  </a:extLst>
                </a:gridCol>
                <a:gridCol w="231246">
                  <a:extLst>
                    <a:ext uri="{9D8B030D-6E8A-4147-A177-3AD203B41FA5}">
                      <a16:colId xmlns:a16="http://schemas.microsoft.com/office/drawing/2014/main" val="20022"/>
                    </a:ext>
                  </a:extLst>
                </a:gridCol>
                <a:gridCol w="231246">
                  <a:extLst>
                    <a:ext uri="{9D8B030D-6E8A-4147-A177-3AD203B41FA5}">
                      <a16:colId xmlns:a16="http://schemas.microsoft.com/office/drawing/2014/main" val="2002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0</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extLst>
                  <a:ext uri="{0D108BD9-81ED-4DB2-BD59-A6C34878D82A}">
                    <a16:rowId xmlns:a16="http://schemas.microsoft.com/office/drawing/2014/main" val="10000"/>
                  </a:ext>
                </a:extLst>
              </a:tr>
            </a:tbl>
          </a:graphicData>
        </a:graphic>
      </p:graphicFrame>
      <p:graphicFrame>
        <p:nvGraphicFramePr>
          <p:cNvPr id="17" name="表格 16"/>
          <p:cNvGraphicFramePr>
            <a:graphicFrameLocks noGrp="1"/>
          </p:cNvGraphicFramePr>
          <p:nvPr>
            <p:extLst>
              <p:ext uri="{D42A27DB-BD31-4B8C-83A1-F6EECF244321}">
                <p14:modId xmlns:p14="http://schemas.microsoft.com/office/powerpoint/2010/main" val="1377849663"/>
              </p:ext>
            </p:extLst>
          </p:nvPr>
        </p:nvGraphicFramePr>
        <p:xfrm>
          <a:off x="1570259" y="3195863"/>
          <a:ext cx="5549904" cy="288000"/>
        </p:xfrm>
        <a:graphic>
          <a:graphicData uri="http://schemas.openxmlformats.org/drawingml/2006/table">
            <a:tbl>
              <a:tblPr firstRow="1" bandRow="1">
                <a:tableStyleId>{5C22544A-7EE6-4342-B048-85BDC9FD1C3A}</a:tableStyleId>
              </a:tblPr>
              <a:tblGrid>
                <a:gridCol w="1387476">
                  <a:extLst>
                    <a:ext uri="{9D8B030D-6E8A-4147-A177-3AD203B41FA5}">
                      <a16:colId xmlns:a16="http://schemas.microsoft.com/office/drawing/2014/main" val="20000"/>
                    </a:ext>
                  </a:extLst>
                </a:gridCol>
                <a:gridCol w="1387476">
                  <a:extLst>
                    <a:ext uri="{9D8B030D-6E8A-4147-A177-3AD203B41FA5}">
                      <a16:colId xmlns:a16="http://schemas.microsoft.com/office/drawing/2014/main" val="20001"/>
                    </a:ext>
                  </a:extLst>
                </a:gridCol>
                <a:gridCol w="1387476">
                  <a:extLst>
                    <a:ext uri="{9D8B030D-6E8A-4147-A177-3AD203B41FA5}">
                      <a16:colId xmlns:a16="http://schemas.microsoft.com/office/drawing/2014/main" val="20002"/>
                    </a:ext>
                  </a:extLst>
                </a:gridCol>
                <a:gridCol w="1387476">
                  <a:extLst>
                    <a:ext uri="{9D8B030D-6E8A-4147-A177-3AD203B41FA5}">
                      <a16:colId xmlns:a16="http://schemas.microsoft.com/office/drawing/2014/main" val="2000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T</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Q</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A</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A</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extLst>
                  <a:ext uri="{0D108BD9-81ED-4DB2-BD59-A6C34878D82A}">
                    <a16:rowId xmlns:a16="http://schemas.microsoft.com/office/drawing/2014/main" val="10000"/>
                  </a:ext>
                </a:extLst>
              </a:tr>
            </a:tbl>
          </a:graphicData>
        </a:graphic>
      </p:graphicFrame>
      <p:sp>
        <p:nvSpPr>
          <p:cNvPr id="18" name="矩形 17"/>
          <p:cNvSpPr/>
          <p:nvPr/>
        </p:nvSpPr>
        <p:spPr>
          <a:xfrm>
            <a:off x="743660" y="2776615"/>
            <a:ext cx="821059" cy="276999"/>
          </a:xfrm>
          <a:prstGeom prst="rect">
            <a:avLst/>
          </a:prstGeom>
        </p:spPr>
        <p:txBody>
          <a:bodyPr wrap="none">
            <a:spAutoFit/>
          </a:bodyPr>
          <a:lstStyle/>
          <a:p>
            <a:pPr algn="r"/>
            <a:r>
              <a:rPr lang="en-US" altLang="zh-CN" sz="1200" dirty="0">
                <a:solidFill>
                  <a:srgbClr val="020202"/>
                </a:solidFill>
                <a:latin typeface="Montserrat" panose="00000500000000000000" pitchFamily="2" charset="0"/>
                <a:ea typeface="微软雅黑 Light" panose="020B0502040204020203" pitchFamily="34" charset="-122"/>
              </a:rPr>
              <a:t>4 </a:t>
            </a:r>
            <a:r>
              <a:rPr lang="zh-CN" altLang="en-US" sz="1200" dirty="0">
                <a:solidFill>
                  <a:srgbClr val="020202"/>
                </a:solidFill>
                <a:latin typeface="Montserrat" panose="00000500000000000000" pitchFamily="2" charset="0"/>
                <a:ea typeface="微软雅黑 Light" panose="020B0502040204020203" pitchFamily="34" charset="-122"/>
              </a:rPr>
              <a:t>个 </a:t>
            </a:r>
            <a:r>
              <a:rPr lang="en-US" altLang="zh-CN" sz="1200" dirty="0">
                <a:solidFill>
                  <a:srgbClr val="020202"/>
                </a:solidFill>
                <a:latin typeface="Montserrat" panose="00000500000000000000" pitchFamily="2" charset="0"/>
                <a:ea typeface="微软雅黑 Light" panose="020B0502040204020203" pitchFamily="34" charset="-122"/>
              </a:rPr>
              <a:t>6bit</a:t>
            </a:r>
            <a:endParaRPr lang="zh-CN" altLang="en-US" sz="1200" dirty="0">
              <a:solidFill>
                <a:srgbClr val="020202"/>
              </a:solidFill>
              <a:latin typeface="Montserrat" panose="00000500000000000000" pitchFamily="2" charset="0"/>
              <a:ea typeface="微软雅黑 Light" panose="020B0502040204020203" pitchFamily="34" charset="-122"/>
            </a:endParaRPr>
          </a:p>
        </p:txBody>
      </p:sp>
      <p:sp>
        <p:nvSpPr>
          <p:cNvPr id="19" name="矩形 18"/>
          <p:cNvSpPr/>
          <p:nvPr/>
        </p:nvSpPr>
        <p:spPr>
          <a:xfrm>
            <a:off x="810987" y="3201364"/>
            <a:ext cx="753732" cy="276999"/>
          </a:xfrm>
          <a:prstGeom prst="rect">
            <a:avLst/>
          </a:prstGeom>
        </p:spPr>
        <p:txBody>
          <a:bodyPr wrap="none">
            <a:spAutoFit/>
          </a:bodyPr>
          <a:lstStyle/>
          <a:p>
            <a:pPr algn="r"/>
            <a:r>
              <a:rPr lang="en-US" altLang="zh-CN" sz="1200" dirty="0">
                <a:solidFill>
                  <a:srgbClr val="020202"/>
                </a:solidFill>
                <a:latin typeface="Montserrat" panose="00000500000000000000" pitchFamily="2" charset="0"/>
                <a:ea typeface="微软雅黑 Light" panose="020B0502040204020203" pitchFamily="34" charset="-122"/>
              </a:rPr>
              <a:t>Base64</a:t>
            </a:r>
            <a:endParaRPr lang="zh-CN" altLang="en-US" sz="1200" dirty="0">
              <a:solidFill>
                <a:srgbClr val="020202"/>
              </a:solidFill>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C4D94E0B-A7CA-3E9A-22D5-7B81F14D2093}"/>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内容传送编码 </a:t>
            </a:r>
            <a:r>
              <a:rPr lang="en-US" altLang="zh-CN" dirty="0"/>
              <a:t>- Base64</a:t>
            </a:r>
            <a:endParaRPr lang="zh-CN" altLang="en-US" dirty="0"/>
          </a:p>
        </p:txBody>
      </p:sp>
      <p:sp>
        <p:nvSpPr>
          <p:cNvPr id="3" name="箭头: 右 2">
            <a:extLst>
              <a:ext uri="{FF2B5EF4-FFF2-40B4-BE49-F238E27FC236}">
                <a16:creationId xmlns:a16="http://schemas.microsoft.com/office/drawing/2014/main" id="{CEDE7A20-2882-CA26-9134-0D8DC36847A7}"/>
              </a:ext>
            </a:extLst>
          </p:cNvPr>
          <p:cNvSpPr/>
          <p:nvPr/>
        </p:nvSpPr>
        <p:spPr>
          <a:xfrm>
            <a:off x="7249361" y="3259061"/>
            <a:ext cx="219456" cy="161605"/>
          </a:xfrm>
          <a:prstGeom prst="right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619BA66D-7403-8100-26EB-75999A6E7C0C}"/>
              </a:ext>
            </a:extLst>
          </p:cNvPr>
          <p:cNvSpPr txBox="1"/>
          <p:nvPr/>
        </p:nvSpPr>
        <p:spPr>
          <a:xfrm>
            <a:off x="7505395" y="3201364"/>
            <a:ext cx="800219"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Light" panose="020B0502040204020203" pitchFamily="34" charset="-122"/>
              </a:rPr>
              <a:t>TQAA==</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4950276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68F7BB-2EC9-A872-07C5-C030DB57260E}"/>
            </a:ext>
          </a:extLst>
        </p:cNvPr>
        <p:cNvGrpSpPr/>
        <p:nvPr/>
      </p:nvGrpSpPr>
      <p:grpSpPr>
        <a:xfrm>
          <a:off x="0" y="0"/>
          <a:ext cx="0" cy="0"/>
          <a:chOff x="0" y="0"/>
          <a:chExt cx="0" cy="0"/>
        </a:xfrm>
      </p:grpSpPr>
      <p:sp>
        <p:nvSpPr>
          <p:cNvPr id="7" name="内容占位符 6">
            <a:extLst>
              <a:ext uri="{FF2B5EF4-FFF2-40B4-BE49-F238E27FC236}">
                <a16:creationId xmlns:a16="http://schemas.microsoft.com/office/drawing/2014/main" id="{66F3376B-7AE5-6FE6-5C5D-130933DD85E9}"/>
              </a:ext>
            </a:extLst>
          </p:cNvPr>
          <p:cNvSpPr>
            <a:spLocks noGrp="1"/>
          </p:cNvSpPr>
          <p:nvPr>
            <p:ph sz="quarter" idx="11"/>
          </p:nvPr>
        </p:nvSpPr>
        <p:spPr/>
        <p:txBody>
          <a:bodyPr/>
          <a:lstStyle/>
          <a:p>
            <a:r>
              <a:rPr lang="zh-CN" altLang="en-US" dirty="0"/>
              <a:t>实例</a:t>
            </a:r>
            <a:r>
              <a:rPr lang="en-US" altLang="zh-CN" dirty="0"/>
              <a:t>3</a:t>
            </a:r>
          </a:p>
          <a:p>
            <a:pPr lvl="1"/>
            <a:r>
              <a:rPr lang="zh-CN" altLang="en-US" dirty="0"/>
              <a:t>原始数据只有</a:t>
            </a:r>
            <a:r>
              <a:rPr lang="en-US" altLang="zh-CN" dirty="0"/>
              <a:t>2</a:t>
            </a:r>
            <a:r>
              <a:rPr lang="zh-CN" altLang="en-US" dirty="0"/>
              <a:t>个字节</a:t>
            </a:r>
            <a:endParaRPr lang="en-US" altLang="zh-CN" dirty="0"/>
          </a:p>
          <a:p>
            <a:pPr lvl="1"/>
            <a:r>
              <a:rPr lang="zh-CN" altLang="en-US" dirty="0"/>
              <a:t>需要填充</a:t>
            </a:r>
            <a:r>
              <a:rPr lang="en-US" altLang="zh-CN" dirty="0"/>
              <a:t>1</a:t>
            </a:r>
            <a:r>
              <a:rPr lang="zh-CN" altLang="en-US" dirty="0"/>
              <a:t>个字节补足</a:t>
            </a:r>
            <a:r>
              <a:rPr lang="en-US" altLang="zh-CN" dirty="0"/>
              <a:t>24bit</a:t>
            </a:r>
            <a:endParaRPr lang="zh-CN" altLang="en-US" dirty="0"/>
          </a:p>
        </p:txBody>
      </p:sp>
      <p:sp>
        <p:nvSpPr>
          <p:cNvPr id="14" name="矩形 13">
            <a:extLst>
              <a:ext uri="{FF2B5EF4-FFF2-40B4-BE49-F238E27FC236}">
                <a16:creationId xmlns:a16="http://schemas.microsoft.com/office/drawing/2014/main" id="{7B6F06D8-E7FA-7C5B-2938-6C6DEAC93EC2}"/>
              </a:ext>
            </a:extLst>
          </p:cNvPr>
          <p:cNvSpPr/>
          <p:nvPr/>
        </p:nvSpPr>
        <p:spPr>
          <a:xfrm>
            <a:off x="764500" y="2351866"/>
            <a:ext cx="800219" cy="276999"/>
          </a:xfrm>
          <a:prstGeom prst="rect">
            <a:avLst/>
          </a:prstGeom>
        </p:spPr>
        <p:txBody>
          <a:bodyPr wrap="none">
            <a:spAutoFit/>
          </a:bodyPr>
          <a:lstStyle/>
          <a:p>
            <a:pPr algn="r"/>
            <a:r>
              <a:rPr lang="zh-CN" altLang="en-US" sz="1200" dirty="0">
                <a:solidFill>
                  <a:srgbClr val="020202"/>
                </a:solidFill>
                <a:latin typeface="Montserrat" panose="00000500000000000000" pitchFamily="2" charset="0"/>
                <a:ea typeface="微软雅黑 Light" panose="020B0502040204020203" pitchFamily="34" charset="-122"/>
              </a:rPr>
              <a:t>原始字节</a:t>
            </a:r>
          </a:p>
        </p:txBody>
      </p:sp>
      <p:graphicFrame>
        <p:nvGraphicFramePr>
          <p:cNvPr id="15" name="表格 14">
            <a:extLst>
              <a:ext uri="{FF2B5EF4-FFF2-40B4-BE49-F238E27FC236}">
                <a16:creationId xmlns:a16="http://schemas.microsoft.com/office/drawing/2014/main" id="{2DDB1391-C332-6043-E10C-CFA88978A697}"/>
              </a:ext>
            </a:extLst>
          </p:cNvPr>
          <p:cNvGraphicFramePr>
            <a:graphicFrameLocks noGrp="1"/>
          </p:cNvGraphicFramePr>
          <p:nvPr>
            <p:extLst>
              <p:ext uri="{D42A27DB-BD31-4B8C-83A1-F6EECF244321}">
                <p14:modId xmlns:p14="http://schemas.microsoft.com/office/powerpoint/2010/main" val="3428794331"/>
              </p:ext>
            </p:extLst>
          </p:nvPr>
        </p:nvGraphicFramePr>
        <p:xfrm>
          <a:off x="1570259" y="2346365"/>
          <a:ext cx="5549904" cy="288000"/>
        </p:xfrm>
        <a:graphic>
          <a:graphicData uri="http://schemas.openxmlformats.org/drawingml/2006/table">
            <a:tbl>
              <a:tblPr firstRow="1" bandRow="1">
                <a:tableStyleId>{5C22544A-7EE6-4342-B048-85BDC9FD1C3A}</a:tableStyleId>
              </a:tblPr>
              <a:tblGrid>
                <a:gridCol w="231246">
                  <a:extLst>
                    <a:ext uri="{9D8B030D-6E8A-4147-A177-3AD203B41FA5}">
                      <a16:colId xmlns:a16="http://schemas.microsoft.com/office/drawing/2014/main" val="20000"/>
                    </a:ext>
                  </a:extLst>
                </a:gridCol>
                <a:gridCol w="231246">
                  <a:extLst>
                    <a:ext uri="{9D8B030D-6E8A-4147-A177-3AD203B41FA5}">
                      <a16:colId xmlns:a16="http://schemas.microsoft.com/office/drawing/2014/main" val="20001"/>
                    </a:ext>
                  </a:extLst>
                </a:gridCol>
                <a:gridCol w="231246">
                  <a:extLst>
                    <a:ext uri="{9D8B030D-6E8A-4147-A177-3AD203B41FA5}">
                      <a16:colId xmlns:a16="http://schemas.microsoft.com/office/drawing/2014/main" val="20002"/>
                    </a:ext>
                  </a:extLst>
                </a:gridCol>
                <a:gridCol w="231246">
                  <a:extLst>
                    <a:ext uri="{9D8B030D-6E8A-4147-A177-3AD203B41FA5}">
                      <a16:colId xmlns:a16="http://schemas.microsoft.com/office/drawing/2014/main" val="20003"/>
                    </a:ext>
                  </a:extLst>
                </a:gridCol>
                <a:gridCol w="231246">
                  <a:extLst>
                    <a:ext uri="{9D8B030D-6E8A-4147-A177-3AD203B41FA5}">
                      <a16:colId xmlns:a16="http://schemas.microsoft.com/office/drawing/2014/main" val="20004"/>
                    </a:ext>
                  </a:extLst>
                </a:gridCol>
                <a:gridCol w="231246">
                  <a:extLst>
                    <a:ext uri="{9D8B030D-6E8A-4147-A177-3AD203B41FA5}">
                      <a16:colId xmlns:a16="http://schemas.microsoft.com/office/drawing/2014/main" val="20005"/>
                    </a:ext>
                  </a:extLst>
                </a:gridCol>
                <a:gridCol w="231246">
                  <a:extLst>
                    <a:ext uri="{9D8B030D-6E8A-4147-A177-3AD203B41FA5}">
                      <a16:colId xmlns:a16="http://schemas.microsoft.com/office/drawing/2014/main" val="20006"/>
                    </a:ext>
                  </a:extLst>
                </a:gridCol>
                <a:gridCol w="231246">
                  <a:extLst>
                    <a:ext uri="{9D8B030D-6E8A-4147-A177-3AD203B41FA5}">
                      <a16:colId xmlns:a16="http://schemas.microsoft.com/office/drawing/2014/main" val="20007"/>
                    </a:ext>
                  </a:extLst>
                </a:gridCol>
                <a:gridCol w="231246">
                  <a:extLst>
                    <a:ext uri="{9D8B030D-6E8A-4147-A177-3AD203B41FA5}">
                      <a16:colId xmlns:a16="http://schemas.microsoft.com/office/drawing/2014/main" val="20008"/>
                    </a:ext>
                  </a:extLst>
                </a:gridCol>
                <a:gridCol w="231246">
                  <a:extLst>
                    <a:ext uri="{9D8B030D-6E8A-4147-A177-3AD203B41FA5}">
                      <a16:colId xmlns:a16="http://schemas.microsoft.com/office/drawing/2014/main" val="20009"/>
                    </a:ext>
                  </a:extLst>
                </a:gridCol>
                <a:gridCol w="231246">
                  <a:extLst>
                    <a:ext uri="{9D8B030D-6E8A-4147-A177-3AD203B41FA5}">
                      <a16:colId xmlns:a16="http://schemas.microsoft.com/office/drawing/2014/main" val="20010"/>
                    </a:ext>
                  </a:extLst>
                </a:gridCol>
                <a:gridCol w="231246">
                  <a:extLst>
                    <a:ext uri="{9D8B030D-6E8A-4147-A177-3AD203B41FA5}">
                      <a16:colId xmlns:a16="http://schemas.microsoft.com/office/drawing/2014/main" val="20011"/>
                    </a:ext>
                  </a:extLst>
                </a:gridCol>
                <a:gridCol w="231246">
                  <a:extLst>
                    <a:ext uri="{9D8B030D-6E8A-4147-A177-3AD203B41FA5}">
                      <a16:colId xmlns:a16="http://schemas.microsoft.com/office/drawing/2014/main" val="20012"/>
                    </a:ext>
                  </a:extLst>
                </a:gridCol>
                <a:gridCol w="231246">
                  <a:extLst>
                    <a:ext uri="{9D8B030D-6E8A-4147-A177-3AD203B41FA5}">
                      <a16:colId xmlns:a16="http://schemas.microsoft.com/office/drawing/2014/main" val="20013"/>
                    </a:ext>
                  </a:extLst>
                </a:gridCol>
                <a:gridCol w="231246">
                  <a:extLst>
                    <a:ext uri="{9D8B030D-6E8A-4147-A177-3AD203B41FA5}">
                      <a16:colId xmlns:a16="http://schemas.microsoft.com/office/drawing/2014/main" val="20014"/>
                    </a:ext>
                  </a:extLst>
                </a:gridCol>
                <a:gridCol w="231246">
                  <a:extLst>
                    <a:ext uri="{9D8B030D-6E8A-4147-A177-3AD203B41FA5}">
                      <a16:colId xmlns:a16="http://schemas.microsoft.com/office/drawing/2014/main" val="20015"/>
                    </a:ext>
                  </a:extLst>
                </a:gridCol>
                <a:gridCol w="231246">
                  <a:extLst>
                    <a:ext uri="{9D8B030D-6E8A-4147-A177-3AD203B41FA5}">
                      <a16:colId xmlns:a16="http://schemas.microsoft.com/office/drawing/2014/main" val="20016"/>
                    </a:ext>
                  </a:extLst>
                </a:gridCol>
                <a:gridCol w="231246">
                  <a:extLst>
                    <a:ext uri="{9D8B030D-6E8A-4147-A177-3AD203B41FA5}">
                      <a16:colId xmlns:a16="http://schemas.microsoft.com/office/drawing/2014/main" val="20017"/>
                    </a:ext>
                  </a:extLst>
                </a:gridCol>
                <a:gridCol w="231246">
                  <a:extLst>
                    <a:ext uri="{9D8B030D-6E8A-4147-A177-3AD203B41FA5}">
                      <a16:colId xmlns:a16="http://schemas.microsoft.com/office/drawing/2014/main" val="20018"/>
                    </a:ext>
                  </a:extLst>
                </a:gridCol>
                <a:gridCol w="231246">
                  <a:extLst>
                    <a:ext uri="{9D8B030D-6E8A-4147-A177-3AD203B41FA5}">
                      <a16:colId xmlns:a16="http://schemas.microsoft.com/office/drawing/2014/main" val="20019"/>
                    </a:ext>
                  </a:extLst>
                </a:gridCol>
                <a:gridCol w="231246">
                  <a:extLst>
                    <a:ext uri="{9D8B030D-6E8A-4147-A177-3AD203B41FA5}">
                      <a16:colId xmlns:a16="http://schemas.microsoft.com/office/drawing/2014/main" val="20020"/>
                    </a:ext>
                  </a:extLst>
                </a:gridCol>
                <a:gridCol w="231246">
                  <a:extLst>
                    <a:ext uri="{9D8B030D-6E8A-4147-A177-3AD203B41FA5}">
                      <a16:colId xmlns:a16="http://schemas.microsoft.com/office/drawing/2014/main" val="20021"/>
                    </a:ext>
                  </a:extLst>
                </a:gridCol>
                <a:gridCol w="231246">
                  <a:extLst>
                    <a:ext uri="{9D8B030D-6E8A-4147-A177-3AD203B41FA5}">
                      <a16:colId xmlns:a16="http://schemas.microsoft.com/office/drawing/2014/main" val="20022"/>
                    </a:ext>
                  </a:extLst>
                </a:gridCol>
                <a:gridCol w="231246">
                  <a:extLst>
                    <a:ext uri="{9D8B030D-6E8A-4147-A177-3AD203B41FA5}">
                      <a16:colId xmlns:a16="http://schemas.microsoft.com/office/drawing/2014/main" val="2002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0</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10000"/>
                  </a:ext>
                </a:extLst>
              </a:tr>
            </a:tbl>
          </a:graphicData>
        </a:graphic>
      </p:graphicFrame>
      <p:graphicFrame>
        <p:nvGraphicFramePr>
          <p:cNvPr id="16" name="表格 15">
            <a:extLst>
              <a:ext uri="{FF2B5EF4-FFF2-40B4-BE49-F238E27FC236}">
                <a16:creationId xmlns:a16="http://schemas.microsoft.com/office/drawing/2014/main" id="{20597802-8C56-860F-D9CE-FCA4A417E531}"/>
              </a:ext>
            </a:extLst>
          </p:cNvPr>
          <p:cNvGraphicFramePr>
            <a:graphicFrameLocks noGrp="1"/>
          </p:cNvGraphicFramePr>
          <p:nvPr>
            <p:extLst>
              <p:ext uri="{D42A27DB-BD31-4B8C-83A1-F6EECF244321}">
                <p14:modId xmlns:p14="http://schemas.microsoft.com/office/powerpoint/2010/main" val="2855668567"/>
              </p:ext>
            </p:extLst>
          </p:nvPr>
        </p:nvGraphicFramePr>
        <p:xfrm>
          <a:off x="1570259" y="2771114"/>
          <a:ext cx="5549904" cy="288000"/>
        </p:xfrm>
        <a:graphic>
          <a:graphicData uri="http://schemas.openxmlformats.org/drawingml/2006/table">
            <a:tbl>
              <a:tblPr firstRow="1" bandRow="1">
                <a:tableStyleId>{5C22544A-7EE6-4342-B048-85BDC9FD1C3A}</a:tableStyleId>
              </a:tblPr>
              <a:tblGrid>
                <a:gridCol w="231246">
                  <a:extLst>
                    <a:ext uri="{9D8B030D-6E8A-4147-A177-3AD203B41FA5}">
                      <a16:colId xmlns:a16="http://schemas.microsoft.com/office/drawing/2014/main" val="20000"/>
                    </a:ext>
                  </a:extLst>
                </a:gridCol>
                <a:gridCol w="231246">
                  <a:extLst>
                    <a:ext uri="{9D8B030D-6E8A-4147-A177-3AD203B41FA5}">
                      <a16:colId xmlns:a16="http://schemas.microsoft.com/office/drawing/2014/main" val="20001"/>
                    </a:ext>
                  </a:extLst>
                </a:gridCol>
                <a:gridCol w="231246">
                  <a:extLst>
                    <a:ext uri="{9D8B030D-6E8A-4147-A177-3AD203B41FA5}">
                      <a16:colId xmlns:a16="http://schemas.microsoft.com/office/drawing/2014/main" val="20002"/>
                    </a:ext>
                  </a:extLst>
                </a:gridCol>
                <a:gridCol w="231246">
                  <a:extLst>
                    <a:ext uri="{9D8B030D-6E8A-4147-A177-3AD203B41FA5}">
                      <a16:colId xmlns:a16="http://schemas.microsoft.com/office/drawing/2014/main" val="20003"/>
                    </a:ext>
                  </a:extLst>
                </a:gridCol>
                <a:gridCol w="231246">
                  <a:extLst>
                    <a:ext uri="{9D8B030D-6E8A-4147-A177-3AD203B41FA5}">
                      <a16:colId xmlns:a16="http://schemas.microsoft.com/office/drawing/2014/main" val="20004"/>
                    </a:ext>
                  </a:extLst>
                </a:gridCol>
                <a:gridCol w="231246">
                  <a:extLst>
                    <a:ext uri="{9D8B030D-6E8A-4147-A177-3AD203B41FA5}">
                      <a16:colId xmlns:a16="http://schemas.microsoft.com/office/drawing/2014/main" val="20005"/>
                    </a:ext>
                  </a:extLst>
                </a:gridCol>
                <a:gridCol w="231246">
                  <a:extLst>
                    <a:ext uri="{9D8B030D-6E8A-4147-A177-3AD203B41FA5}">
                      <a16:colId xmlns:a16="http://schemas.microsoft.com/office/drawing/2014/main" val="20006"/>
                    </a:ext>
                  </a:extLst>
                </a:gridCol>
                <a:gridCol w="231246">
                  <a:extLst>
                    <a:ext uri="{9D8B030D-6E8A-4147-A177-3AD203B41FA5}">
                      <a16:colId xmlns:a16="http://schemas.microsoft.com/office/drawing/2014/main" val="20007"/>
                    </a:ext>
                  </a:extLst>
                </a:gridCol>
                <a:gridCol w="231246">
                  <a:extLst>
                    <a:ext uri="{9D8B030D-6E8A-4147-A177-3AD203B41FA5}">
                      <a16:colId xmlns:a16="http://schemas.microsoft.com/office/drawing/2014/main" val="20008"/>
                    </a:ext>
                  </a:extLst>
                </a:gridCol>
                <a:gridCol w="231246">
                  <a:extLst>
                    <a:ext uri="{9D8B030D-6E8A-4147-A177-3AD203B41FA5}">
                      <a16:colId xmlns:a16="http://schemas.microsoft.com/office/drawing/2014/main" val="20009"/>
                    </a:ext>
                  </a:extLst>
                </a:gridCol>
                <a:gridCol w="231246">
                  <a:extLst>
                    <a:ext uri="{9D8B030D-6E8A-4147-A177-3AD203B41FA5}">
                      <a16:colId xmlns:a16="http://schemas.microsoft.com/office/drawing/2014/main" val="20010"/>
                    </a:ext>
                  </a:extLst>
                </a:gridCol>
                <a:gridCol w="231246">
                  <a:extLst>
                    <a:ext uri="{9D8B030D-6E8A-4147-A177-3AD203B41FA5}">
                      <a16:colId xmlns:a16="http://schemas.microsoft.com/office/drawing/2014/main" val="20011"/>
                    </a:ext>
                  </a:extLst>
                </a:gridCol>
                <a:gridCol w="231246">
                  <a:extLst>
                    <a:ext uri="{9D8B030D-6E8A-4147-A177-3AD203B41FA5}">
                      <a16:colId xmlns:a16="http://schemas.microsoft.com/office/drawing/2014/main" val="20012"/>
                    </a:ext>
                  </a:extLst>
                </a:gridCol>
                <a:gridCol w="231246">
                  <a:extLst>
                    <a:ext uri="{9D8B030D-6E8A-4147-A177-3AD203B41FA5}">
                      <a16:colId xmlns:a16="http://schemas.microsoft.com/office/drawing/2014/main" val="20013"/>
                    </a:ext>
                  </a:extLst>
                </a:gridCol>
                <a:gridCol w="231246">
                  <a:extLst>
                    <a:ext uri="{9D8B030D-6E8A-4147-A177-3AD203B41FA5}">
                      <a16:colId xmlns:a16="http://schemas.microsoft.com/office/drawing/2014/main" val="20014"/>
                    </a:ext>
                  </a:extLst>
                </a:gridCol>
                <a:gridCol w="231246">
                  <a:extLst>
                    <a:ext uri="{9D8B030D-6E8A-4147-A177-3AD203B41FA5}">
                      <a16:colId xmlns:a16="http://schemas.microsoft.com/office/drawing/2014/main" val="20015"/>
                    </a:ext>
                  </a:extLst>
                </a:gridCol>
                <a:gridCol w="231246">
                  <a:extLst>
                    <a:ext uri="{9D8B030D-6E8A-4147-A177-3AD203B41FA5}">
                      <a16:colId xmlns:a16="http://schemas.microsoft.com/office/drawing/2014/main" val="20016"/>
                    </a:ext>
                  </a:extLst>
                </a:gridCol>
                <a:gridCol w="231246">
                  <a:extLst>
                    <a:ext uri="{9D8B030D-6E8A-4147-A177-3AD203B41FA5}">
                      <a16:colId xmlns:a16="http://schemas.microsoft.com/office/drawing/2014/main" val="20017"/>
                    </a:ext>
                  </a:extLst>
                </a:gridCol>
                <a:gridCol w="231246">
                  <a:extLst>
                    <a:ext uri="{9D8B030D-6E8A-4147-A177-3AD203B41FA5}">
                      <a16:colId xmlns:a16="http://schemas.microsoft.com/office/drawing/2014/main" val="20018"/>
                    </a:ext>
                  </a:extLst>
                </a:gridCol>
                <a:gridCol w="231246">
                  <a:extLst>
                    <a:ext uri="{9D8B030D-6E8A-4147-A177-3AD203B41FA5}">
                      <a16:colId xmlns:a16="http://schemas.microsoft.com/office/drawing/2014/main" val="20019"/>
                    </a:ext>
                  </a:extLst>
                </a:gridCol>
                <a:gridCol w="231246">
                  <a:extLst>
                    <a:ext uri="{9D8B030D-6E8A-4147-A177-3AD203B41FA5}">
                      <a16:colId xmlns:a16="http://schemas.microsoft.com/office/drawing/2014/main" val="20020"/>
                    </a:ext>
                  </a:extLst>
                </a:gridCol>
                <a:gridCol w="231246">
                  <a:extLst>
                    <a:ext uri="{9D8B030D-6E8A-4147-A177-3AD203B41FA5}">
                      <a16:colId xmlns:a16="http://schemas.microsoft.com/office/drawing/2014/main" val="20021"/>
                    </a:ext>
                  </a:extLst>
                </a:gridCol>
                <a:gridCol w="231246">
                  <a:extLst>
                    <a:ext uri="{9D8B030D-6E8A-4147-A177-3AD203B41FA5}">
                      <a16:colId xmlns:a16="http://schemas.microsoft.com/office/drawing/2014/main" val="20022"/>
                    </a:ext>
                  </a:extLst>
                </a:gridCol>
                <a:gridCol w="231246">
                  <a:extLst>
                    <a:ext uri="{9D8B030D-6E8A-4147-A177-3AD203B41FA5}">
                      <a16:colId xmlns:a16="http://schemas.microsoft.com/office/drawing/2014/main" val="2002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0</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extLst>
                  <a:ext uri="{0D108BD9-81ED-4DB2-BD59-A6C34878D82A}">
                    <a16:rowId xmlns:a16="http://schemas.microsoft.com/office/drawing/2014/main" val="10000"/>
                  </a:ext>
                </a:extLst>
              </a:tr>
            </a:tbl>
          </a:graphicData>
        </a:graphic>
      </p:graphicFrame>
      <p:graphicFrame>
        <p:nvGraphicFramePr>
          <p:cNvPr id="17" name="表格 16">
            <a:extLst>
              <a:ext uri="{FF2B5EF4-FFF2-40B4-BE49-F238E27FC236}">
                <a16:creationId xmlns:a16="http://schemas.microsoft.com/office/drawing/2014/main" id="{6ED6DF97-1DB4-0D6D-2148-B5293567DF8E}"/>
              </a:ext>
            </a:extLst>
          </p:cNvPr>
          <p:cNvGraphicFramePr>
            <a:graphicFrameLocks noGrp="1"/>
          </p:cNvGraphicFramePr>
          <p:nvPr>
            <p:extLst>
              <p:ext uri="{D42A27DB-BD31-4B8C-83A1-F6EECF244321}">
                <p14:modId xmlns:p14="http://schemas.microsoft.com/office/powerpoint/2010/main" val="2734008615"/>
              </p:ext>
            </p:extLst>
          </p:nvPr>
        </p:nvGraphicFramePr>
        <p:xfrm>
          <a:off x="1570259" y="3195863"/>
          <a:ext cx="5549904" cy="288000"/>
        </p:xfrm>
        <a:graphic>
          <a:graphicData uri="http://schemas.openxmlformats.org/drawingml/2006/table">
            <a:tbl>
              <a:tblPr firstRow="1" bandRow="1">
                <a:tableStyleId>{5C22544A-7EE6-4342-B048-85BDC9FD1C3A}</a:tableStyleId>
              </a:tblPr>
              <a:tblGrid>
                <a:gridCol w="1387476">
                  <a:extLst>
                    <a:ext uri="{9D8B030D-6E8A-4147-A177-3AD203B41FA5}">
                      <a16:colId xmlns:a16="http://schemas.microsoft.com/office/drawing/2014/main" val="20000"/>
                    </a:ext>
                  </a:extLst>
                </a:gridCol>
                <a:gridCol w="1387476">
                  <a:extLst>
                    <a:ext uri="{9D8B030D-6E8A-4147-A177-3AD203B41FA5}">
                      <a16:colId xmlns:a16="http://schemas.microsoft.com/office/drawing/2014/main" val="20001"/>
                    </a:ext>
                  </a:extLst>
                </a:gridCol>
                <a:gridCol w="1387476">
                  <a:extLst>
                    <a:ext uri="{9D8B030D-6E8A-4147-A177-3AD203B41FA5}">
                      <a16:colId xmlns:a16="http://schemas.microsoft.com/office/drawing/2014/main" val="20002"/>
                    </a:ext>
                  </a:extLst>
                </a:gridCol>
                <a:gridCol w="1387476">
                  <a:extLst>
                    <a:ext uri="{9D8B030D-6E8A-4147-A177-3AD203B41FA5}">
                      <a16:colId xmlns:a16="http://schemas.microsoft.com/office/drawing/2014/main" val="2000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Q</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S</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k</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A</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extLst>
                  <a:ext uri="{0D108BD9-81ED-4DB2-BD59-A6C34878D82A}">
                    <a16:rowId xmlns:a16="http://schemas.microsoft.com/office/drawing/2014/main" val="10000"/>
                  </a:ext>
                </a:extLst>
              </a:tr>
            </a:tbl>
          </a:graphicData>
        </a:graphic>
      </p:graphicFrame>
      <p:sp>
        <p:nvSpPr>
          <p:cNvPr id="18" name="矩形 17">
            <a:extLst>
              <a:ext uri="{FF2B5EF4-FFF2-40B4-BE49-F238E27FC236}">
                <a16:creationId xmlns:a16="http://schemas.microsoft.com/office/drawing/2014/main" id="{6584FD4D-D539-9F90-7A8F-4984E320D306}"/>
              </a:ext>
            </a:extLst>
          </p:cNvPr>
          <p:cNvSpPr/>
          <p:nvPr/>
        </p:nvSpPr>
        <p:spPr>
          <a:xfrm>
            <a:off x="743660" y="2776615"/>
            <a:ext cx="821059" cy="276999"/>
          </a:xfrm>
          <a:prstGeom prst="rect">
            <a:avLst/>
          </a:prstGeom>
        </p:spPr>
        <p:txBody>
          <a:bodyPr wrap="none">
            <a:spAutoFit/>
          </a:bodyPr>
          <a:lstStyle/>
          <a:p>
            <a:pPr algn="r"/>
            <a:r>
              <a:rPr lang="en-US" altLang="zh-CN" sz="1200" dirty="0">
                <a:solidFill>
                  <a:srgbClr val="020202"/>
                </a:solidFill>
                <a:latin typeface="Montserrat" panose="00000500000000000000" pitchFamily="2" charset="0"/>
                <a:ea typeface="微软雅黑 Light" panose="020B0502040204020203" pitchFamily="34" charset="-122"/>
              </a:rPr>
              <a:t>4 </a:t>
            </a:r>
            <a:r>
              <a:rPr lang="zh-CN" altLang="en-US" sz="1200" dirty="0">
                <a:solidFill>
                  <a:srgbClr val="020202"/>
                </a:solidFill>
                <a:latin typeface="Montserrat" panose="00000500000000000000" pitchFamily="2" charset="0"/>
                <a:ea typeface="微软雅黑 Light" panose="020B0502040204020203" pitchFamily="34" charset="-122"/>
              </a:rPr>
              <a:t>个 </a:t>
            </a:r>
            <a:r>
              <a:rPr lang="en-US" altLang="zh-CN" sz="1200" dirty="0">
                <a:solidFill>
                  <a:srgbClr val="020202"/>
                </a:solidFill>
                <a:latin typeface="Montserrat" panose="00000500000000000000" pitchFamily="2" charset="0"/>
                <a:ea typeface="微软雅黑 Light" panose="020B0502040204020203" pitchFamily="34" charset="-122"/>
              </a:rPr>
              <a:t>6bit</a:t>
            </a:r>
            <a:endParaRPr lang="zh-CN" altLang="en-US" sz="1200" dirty="0">
              <a:solidFill>
                <a:srgbClr val="020202"/>
              </a:solidFill>
              <a:latin typeface="Montserrat" panose="00000500000000000000" pitchFamily="2" charset="0"/>
              <a:ea typeface="微软雅黑 Light" panose="020B0502040204020203" pitchFamily="34" charset="-122"/>
            </a:endParaRPr>
          </a:p>
        </p:txBody>
      </p:sp>
      <p:sp>
        <p:nvSpPr>
          <p:cNvPr id="19" name="矩形 18">
            <a:extLst>
              <a:ext uri="{FF2B5EF4-FFF2-40B4-BE49-F238E27FC236}">
                <a16:creationId xmlns:a16="http://schemas.microsoft.com/office/drawing/2014/main" id="{75DBB6E5-C772-C8BD-20DC-86F61434A43A}"/>
              </a:ext>
            </a:extLst>
          </p:cNvPr>
          <p:cNvSpPr/>
          <p:nvPr/>
        </p:nvSpPr>
        <p:spPr>
          <a:xfrm>
            <a:off x="810987" y="3201364"/>
            <a:ext cx="753732" cy="276999"/>
          </a:xfrm>
          <a:prstGeom prst="rect">
            <a:avLst/>
          </a:prstGeom>
        </p:spPr>
        <p:txBody>
          <a:bodyPr wrap="none">
            <a:spAutoFit/>
          </a:bodyPr>
          <a:lstStyle/>
          <a:p>
            <a:pPr algn="r"/>
            <a:r>
              <a:rPr lang="en-US" altLang="zh-CN" sz="1200" dirty="0">
                <a:solidFill>
                  <a:srgbClr val="020202"/>
                </a:solidFill>
                <a:latin typeface="Montserrat" panose="00000500000000000000" pitchFamily="2" charset="0"/>
                <a:ea typeface="微软雅黑 Light" panose="020B0502040204020203" pitchFamily="34" charset="-122"/>
              </a:rPr>
              <a:t>Base64</a:t>
            </a:r>
            <a:endParaRPr lang="zh-CN" altLang="en-US" sz="1200" dirty="0">
              <a:solidFill>
                <a:srgbClr val="020202"/>
              </a:solidFill>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98A2B91D-2B1B-D871-004A-BAB7CA609809}"/>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内容传送编码 </a:t>
            </a:r>
            <a:r>
              <a:rPr lang="en-US" altLang="zh-CN" dirty="0"/>
              <a:t>- Base64</a:t>
            </a:r>
            <a:endParaRPr lang="zh-CN" altLang="en-US" dirty="0"/>
          </a:p>
        </p:txBody>
      </p:sp>
      <p:sp>
        <p:nvSpPr>
          <p:cNvPr id="3" name="箭头: 右 2">
            <a:extLst>
              <a:ext uri="{FF2B5EF4-FFF2-40B4-BE49-F238E27FC236}">
                <a16:creationId xmlns:a16="http://schemas.microsoft.com/office/drawing/2014/main" id="{8FC4E2E4-99F2-1938-793F-E48AA84B6FD1}"/>
              </a:ext>
            </a:extLst>
          </p:cNvPr>
          <p:cNvSpPr/>
          <p:nvPr/>
        </p:nvSpPr>
        <p:spPr>
          <a:xfrm>
            <a:off x="7249361" y="3259061"/>
            <a:ext cx="219456" cy="161605"/>
          </a:xfrm>
          <a:prstGeom prst="right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A3AF5B7B-EE9A-898F-9DD5-9274DEA5244F}"/>
              </a:ext>
            </a:extLst>
          </p:cNvPr>
          <p:cNvSpPr txBox="1"/>
          <p:nvPr/>
        </p:nvSpPr>
        <p:spPr>
          <a:xfrm>
            <a:off x="7505395" y="3201364"/>
            <a:ext cx="700833" cy="276999"/>
          </a:xfrm>
          <a:prstGeom prst="rect">
            <a:avLst/>
          </a:prstGeom>
          <a:noFill/>
        </p:spPr>
        <p:txBody>
          <a:bodyPr wrap="none" rtlCol="0">
            <a:spAutoFit/>
          </a:bodyPr>
          <a:lstStyle/>
          <a:p>
            <a:pPr algn="l"/>
            <a:r>
              <a:rPr lang="en-US" altLang="zh-CN" sz="1200" dirty="0" err="1">
                <a:latin typeface="Montserrat" panose="00000500000000000000" pitchFamily="2" charset="0"/>
                <a:ea typeface="微软雅黑 Light" panose="020B0502040204020203" pitchFamily="34" charset="-122"/>
              </a:rPr>
              <a:t>QSkA</a:t>
            </a:r>
            <a:r>
              <a:rPr lang="en-US" altLang="zh-CN" sz="1200" dirty="0">
                <a:latin typeface="Montserrat" panose="00000500000000000000" pitchFamily="2" charset="0"/>
                <a:ea typeface="微软雅黑 Light" panose="020B0502040204020203" pitchFamily="34" charset="-122"/>
              </a:rPr>
              <a:t>=</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0778199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1A05018F-84B0-0905-0908-3761B31EB790}"/>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内容类型</a:t>
            </a:r>
            <a:r>
              <a:rPr lang="en-US" altLang="zh-CN" dirty="0"/>
              <a:t> </a:t>
            </a:r>
            <a:endParaRPr lang="zh-CN" altLang="en-US" dirty="0"/>
          </a:p>
        </p:txBody>
      </p:sp>
      <p:sp>
        <p:nvSpPr>
          <p:cNvPr id="9" name="内容占位符 8">
            <a:extLst>
              <a:ext uri="{FF2B5EF4-FFF2-40B4-BE49-F238E27FC236}">
                <a16:creationId xmlns:a16="http://schemas.microsoft.com/office/drawing/2014/main" id="{8D1CC7A3-17CD-1179-028B-9492FC9AF0CB}"/>
              </a:ext>
            </a:extLst>
          </p:cNvPr>
          <p:cNvSpPr>
            <a:spLocks noGrp="1"/>
          </p:cNvSpPr>
          <p:nvPr>
            <p:ph sz="quarter" idx="11"/>
          </p:nvPr>
        </p:nvSpPr>
        <p:spPr>
          <a:xfrm>
            <a:off x="486000" y="687518"/>
            <a:ext cx="8172000" cy="4079035"/>
          </a:xfrm>
        </p:spPr>
        <p:txBody>
          <a:bodyPr/>
          <a:lstStyle/>
          <a:p>
            <a:r>
              <a:rPr lang="en-US" altLang="zh-CN" dirty="0"/>
              <a:t>MIME </a:t>
            </a:r>
            <a:r>
              <a:rPr lang="zh-CN" altLang="en-US" dirty="0"/>
              <a:t>标准规定：</a:t>
            </a:r>
            <a:r>
              <a:rPr lang="en-US" altLang="zh-CN" dirty="0"/>
              <a:t>Content-Type </a:t>
            </a:r>
            <a:r>
              <a:rPr lang="zh-CN" altLang="en-US" dirty="0"/>
              <a:t>说明必须含有两个标识符：</a:t>
            </a:r>
            <a:endParaRPr lang="en-US" altLang="zh-CN" dirty="0"/>
          </a:p>
          <a:p>
            <a:pPr lvl="1"/>
            <a:r>
              <a:rPr lang="zh-CN" altLang="en-US" dirty="0"/>
              <a:t>内容类型 </a:t>
            </a:r>
            <a:r>
              <a:rPr lang="en-US" altLang="zh-CN" dirty="0"/>
              <a:t>(type) </a:t>
            </a:r>
            <a:r>
              <a:rPr lang="zh-CN" altLang="en-US" dirty="0"/>
              <a:t>和子类型 </a:t>
            </a:r>
            <a:r>
              <a:rPr lang="en-US" altLang="zh-CN" dirty="0"/>
              <a:t>(subtype)</a:t>
            </a:r>
            <a:r>
              <a:rPr lang="zh-CN" altLang="en-US" dirty="0"/>
              <a:t>，中间用“</a:t>
            </a:r>
            <a:r>
              <a:rPr lang="en-US" altLang="zh-CN" dirty="0"/>
              <a:t>/”</a:t>
            </a:r>
            <a:r>
              <a:rPr lang="zh-CN" altLang="en-US" dirty="0"/>
              <a:t>分开。 </a:t>
            </a:r>
          </a:p>
          <a:p>
            <a:r>
              <a:rPr lang="en-US" altLang="zh-CN" dirty="0"/>
              <a:t>MIME </a:t>
            </a:r>
            <a:r>
              <a:rPr lang="zh-CN" altLang="en-US" dirty="0"/>
              <a:t>标准原先定义了 </a:t>
            </a:r>
            <a:r>
              <a:rPr lang="en-US" altLang="zh-CN" dirty="0"/>
              <a:t>7 </a:t>
            </a:r>
            <a:r>
              <a:rPr lang="zh-CN" altLang="en-US" dirty="0"/>
              <a:t>个基本内容类型和 </a:t>
            </a:r>
            <a:r>
              <a:rPr lang="en-US" altLang="zh-CN" dirty="0"/>
              <a:t>15 </a:t>
            </a:r>
            <a:r>
              <a:rPr lang="zh-CN" altLang="en-US" dirty="0"/>
              <a:t>种子类型。 </a:t>
            </a:r>
            <a:endParaRPr lang="en-US" altLang="zh-CN" dirty="0"/>
          </a:p>
          <a:p>
            <a:r>
              <a:rPr lang="en-US" altLang="zh-CN" dirty="0"/>
              <a:t>MIME </a:t>
            </a:r>
            <a:r>
              <a:rPr lang="zh-CN" altLang="en-US" dirty="0"/>
              <a:t>允许发件人和收件人自己定义专用的内容类型。但为避免可能出现名字冲突，标准要求为专用内容类型选择的名字要以字符串 </a:t>
            </a:r>
            <a:r>
              <a:rPr lang="en-US" altLang="zh-CN" dirty="0"/>
              <a:t>X-</a:t>
            </a:r>
            <a:r>
              <a:rPr lang="zh-CN" altLang="en-US" dirty="0"/>
              <a:t>开始。</a:t>
            </a:r>
          </a:p>
          <a:p>
            <a:endParaRPr lang="zh-CN" altLang="en-US" dirty="0"/>
          </a:p>
        </p:txBody>
      </p:sp>
    </p:spTree>
    <p:extLst>
      <p:ext uri="{BB962C8B-B14F-4D97-AF65-F5344CB8AC3E}">
        <p14:creationId xmlns:p14="http://schemas.microsoft.com/office/powerpoint/2010/main" val="337860496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DE6ECEB7-0704-9C21-880D-4D101C480D14}"/>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内容类型</a:t>
            </a:r>
            <a:r>
              <a:rPr lang="en-US" altLang="zh-CN" dirty="0"/>
              <a:t> </a:t>
            </a:r>
            <a:endParaRPr lang="zh-CN" altLang="en-US" dirty="0"/>
          </a:p>
        </p:txBody>
      </p:sp>
      <p:sp>
        <p:nvSpPr>
          <p:cNvPr id="10" name="内容占位符 9">
            <a:extLst>
              <a:ext uri="{FF2B5EF4-FFF2-40B4-BE49-F238E27FC236}">
                <a16:creationId xmlns:a16="http://schemas.microsoft.com/office/drawing/2014/main" id="{515F3E20-72E7-39E0-3EA0-8FABF51059A4}"/>
              </a:ext>
            </a:extLst>
          </p:cNvPr>
          <p:cNvSpPr>
            <a:spLocks noGrp="1"/>
          </p:cNvSpPr>
          <p:nvPr>
            <p:ph sz="quarter" idx="11"/>
          </p:nvPr>
        </p:nvSpPr>
        <p:spPr/>
        <p:txBody>
          <a:bodyPr/>
          <a:lstStyle/>
          <a:p>
            <a:endParaRPr lang="zh-CN" altLang="en-US"/>
          </a:p>
        </p:txBody>
      </p:sp>
      <p:graphicFrame>
        <p:nvGraphicFramePr>
          <p:cNvPr id="8" name="内容占位符 4"/>
          <p:cNvGraphicFramePr>
            <a:graphicFrameLocks/>
          </p:cNvGraphicFramePr>
          <p:nvPr>
            <p:extLst>
              <p:ext uri="{D42A27DB-BD31-4B8C-83A1-F6EECF244321}">
                <p14:modId xmlns:p14="http://schemas.microsoft.com/office/powerpoint/2010/main" val="3908407240"/>
              </p:ext>
            </p:extLst>
          </p:nvPr>
        </p:nvGraphicFramePr>
        <p:xfrm>
          <a:off x="485775" y="1631191"/>
          <a:ext cx="8172000" cy="2655432"/>
        </p:xfrm>
        <a:graphic>
          <a:graphicData uri="http://schemas.openxmlformats.org/drawingml/2006/table">
            <a:tbl>
              <a:tblPr firstRow="1" firstCol="1" bandRow="1" bandCol="1">
                <a:tableStyleId>{912C8C85-51F0-491E-9774-3900AFEF0FD7}</a:tableStyleId>
              </a:tblPr>
              <a:tblGrid>
                <a:gridCol w="2363395">
                  <a:extLst>
                    <a:ext uri="{9D8B030D-6E8A-4147-A177-3AD203B41FA5}">
                      <a16:colId xmlns:a16="http://schemas.microsoft.com/office/drawing/2014/main" val="20000"/>
                    </a:ext>
                  </a:extLst>
                </a:gridCol>
                <a:gridCol w="2941706">
                  <a:extLst>
                    <a:ext uri="{9D8B030D-6E8A-4147-A177-3AD203B41FA5}">
                      <a16:colId xmlns:a16="http://schemas.microsoft.com/office/drawing/2014/main" val="20001"/>
                    </a:ext>
                  </a:extLst>
                </a:gridCol>
                <a:gridCol w="2866899">
                  <a:extLst>
                    <a:ext uri="{9D8B030D-6E8A-4147-A177-3AD203B41FA5}">
                      <a16:colId xmlns:a16="http://schemas.microsoft.com/office/drawing/2014/main" val="20002"/>
                    </a:ext>
                  </a:extLst>
                </a:gridCol>
              </a:tblGrid>
              <a:tr h="360000">
                <a:tc>
                  <a:txBody>
                    <a:bodyPr/>
                    <a:lstStyle/>
                    <a:p>
                      <a:pPr algn="ctr" hangingPunct="0">
                        <a:lnSpc>
                          <a:spcPct val="100000"/>
                        </a:lnSpc>
                        <a:spcAft>
                          <a:spcPts val="0"/>
                        </a:spcAft>
                      </a:pPr>
                      <a:r>
                        <a:rPr lang="zh-CN" sz="1200" b="0" dirty="0">
                          <a:solidFill>
                            <a:schemeClr val="bg1"/>
                          </a:solidFill>
                          <a:effectLst/>
                          <a:latin typeface="微软雅黑" panose="020B0503020204020204" pitchFamily="34" charset="-122"/>
                          <a:ea typeface="微软雅黑" panose="020B0503020204020204" pitchFamily="34" charset="-122"/>
                        </a:rPr>
                        <a:t>内容类型</a:t>
                      </a:r>
                    </a:p>
                  </a:txBody>
                  <a:tcPr marL="31190" marR="31190" marT="0" marB="0" anchor="ctr"/>
                </a:tc>
                <a:tc>
                  <a:txBody>
                    <a:bodyPr/>
                    <a:lstStyle/>
                    <a:p>
                      <a:pPr algn="ctr" hangingPunct="0">
                        <a:lnSpc>
                          <a:spcPct val="100000"/>
                        </a:lnSpc>
                        <a:spcAft>
                          <a:spcPts val="0"/>
                        </a:spcAft>
                      </a:pPr>
                      <a:r>
                        <a:rPr lang="zh-CN" sz="1200" b="0" dirty="0">
                          <a:solidFill>
                            <a:schemeClr val="bg1"/>
                          </a:solidFill>
                          <a:effectLst/>
                          <a:latin typeface="微软雅黑" panose="020B0503020204020204" pitchFamily="34" charset="-122"/>
                          <a:ea typeface="微软雅黑" panose="020B0503020204020204" pitchFamily="34" charset="-122"/>
                        </a:rPr>
                        <a:t>子类型举例</a:t>
                      </a:r>
                    </a:p>
                  </a:txBody>
                  <a:tcPr marL="31190" marR="31190" marT="0" marB="0" anchor="ctr"/>
                </a:tc>
                <a:tc>
                  <a:txBody>
                    <a:bodyPr/>
                    <a:lstStyle/>
                    <a:p>
                      <a:pPr algn="ctr" hangingPunct="0">
                        <a:lnSpc>
                          <a:spcPct val="100000"/>
                        </a:lnSpc>
                        <a:spcAft>
                          <a:spcPts val="0"/>
                        </a:spcAft>
                      </a:pPr>
                      <a:r>
                        <a:rPr lang="zh-CN" sz="1200" b="0" dirty="0">
                          <a:solidFill>
                            <a:schemeClr val="bg1"/>
                          </a:solidFill>
                          <a:effectLst/>
                          <a:latin typeface="微软雅黑" panose="020B0503020204020204" pitchFamily="34" charset="-122"/>
                          <a:ea typeface="微软雅黑" panose="020B0503020204020204" pitchFamily="34" charset="-122"/>
                        </a:rPr>
                        <a:t>说明</a:t>
                      </a:r>
                    </a:p>
                  </a:txBody>
                  <a:tcPr marL="31190" marR="31190" marT="0" marB="0" anchor="ctr"/>
                </a:tc>
                <a:extLst>
                  <a:ext uri="{0D108BD9-81ED-4DB2-BD59-A6C34878D82A}">
                    <a16:rowId xmlns:a16="http://schemas.microsoft.com/office/drawing/2014/main" val="10000"/>
                  </a:ext>
                </a:extLst>
              </a:tr>
              <a:tr h="286929">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text</a:t>
                      </a:r>
                      <a:r>
                        <a:rPr lang="zh-CN" sz="1200" b="0" dirty="0">
                          <a:effectLst/>
                          <a:latin typeface="Montserrat" panose="00000500000000000000" pitchFamily="2" charset="0"/>
                          <a:ea typeface="微软雅黑 Light" panose="020B0502040204020203" pitchFamily="34" charset="-122"/>
                        </a:rPr>
                        <a:t>（文本）</a:t>
                      </a:r>
                    </a:p>
                  </a:txBody>
                  <a:tcPr marL="31190" marR="31190" marT="0" marB="0" anchor="ctr"/>
                </a:tc>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plain, html, xml, </a:t>
                      </a:r>
                      <a:r>
                        <a:rPr lang="en-US" sz="1200" b="0" dirty="0" err="1">
                          <a:effectLst/>
                          <a:latin typeface="Montserrat" panose="00000500000000000000" pitchFamily="2" charset="0"/>
                          <a:ea typeface="微软雅黑 Light" panose="020B0502040204020203" pitchFamily="34" charset="-122"/>
                        </a:rPr>
                        <a:t>css</a:t>
                      </a:r>
                      <a:endParaRPr lang="zh-CN" sz="1200" b="0" dirty="0">
                        <a:effectLst/>
                        <a:latin typeface="Montserrat" panose="00000500000000000000" pitchFamily="2" charset="0"/>
                        <a:ea typeface="微软雅黑 Light" panose="020B0502040204020203" pitchFamily="34" charset="-122"/>
                      </a:endParaRPr>
                    </a:p>
                  </a:txBody>
                  <a:tcPr marL="31190" marR="31190" marT="0" marB="0" anchor="ctr"/>
                </a:tc>
                <a:tc>
                  <a:txBody>
                    <a:bodyPr/>
                    <a:lstStyle/>
                    <a:p>
                      <a:pPr algn="ctr" hangingPunct="0">
                        <a:lnSpc>
                          <a:spcPct val="100000"/>
                        </a:lnSpc>
                        <a:spcAft>
                          <a:spcPts val="0"/>
                        </a:spcAft>
                      </a:pPr>
                      <a:r>
                        <a:rPr lang="zh-CN" sz="1200" b="0" dirty="0">
                          <a:effectLst/>
                          <a:latin typeface="Montserrat" panose="00000500000000000000" pitchFamily="2" charset="0"/>
                          <a:ea typeface="微软雅黑 Light" panose="020B0502040204020203" pitchFamily="34" charset="-122"/>
                        </a:rPr>
                        <a:t>不同格式的文本</a:t>
                      </a:r>
                    </a:p>
                  </a:txBody>
                  <a:tcPr marL="31190" marR="31190" marT="0" marB="0" anchor="ctr"/>
                </a:tc>
                <a:extLst>
                  <a:ext uri="{0D108BD9-81ED-4DB2-BD59-A6C34878D82A}">
                    <a16:rowId xmlns:a16="http://schemas.microsoft.com/office/drawing/2014/main" val="10001"/>
                  </a:ext>
                </a:extLst>
              </a:tr>
              <a:tr h="286929">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image</a:t>
                      </a:r>
                      <a:r>
                        <a:rPr lang="zh-CN" sz="1200" b="0" dirty="0">
                          <a:effectLst/>
                          <a:latin typeface="Montserrat" panose="00000500000000000000" pitchFamily="2" charset="0"/>
                          <a:ea typeface="微软雅黑 Light" panose="020B0502040204020203" pitchFamily="34" charset="-122"/>
                        </a:rPr>
                        <a:t>（图像）</a:t>
                      </a:r>
                    </a:p>
                  </a:txBody>
                  <a:tcPr marL="31190" marR="31190" marT="0" marB="0" anchor="ctr"/>
                </a:tc>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gif, jpeg, tiff</a:t>
                      </a:r>
                      <a:endParaRPr lang="zh-CN" sz="1200" b="0" dirty="0">
                        <a:effectLst/>
                        <a:latin typeface="Montserrat" panose="00000500000000000000" pitchFamily="2" charset="0"/>
                        <a:ea typeface="微软雅黑 Light" panose="020B0502040204020203" pitchFamily="34" charset="-122"/>
                      </a:endParaRPr>
                    </a:p>
                  </a:txBody>
                  <a:tcPr marL="31190" marR="31190" marT="0" marB="0" anchor="ctr"/>
                </a:tc>
                <a:tc>
                  <a:txBody>
                    <a:bodyPr/>
                    <a:lstStyle/>
                    <a:p>
                      <a:pPr algn="ctr" hangingPunct="0">
                        <a:lnSpc>
                          <a:spcPct val="100000"/>
                        </a:lnSpc>
                        <a:spcAft>
                          <a:spcPts val="0"/>
                        </a:spcAft>
                      </a:pPr>
                      <a:r>
                        <a:rPr lang="zh-CN" sz="1200" b="0" dirty="0">
                          <a:effectLst/>
                          <a:latin typeface="Montserrat" panose="00000500000000000000" pitchFamily="2" charset="0"/>
                          <a:ea typeface="微软雅黑 Light" panose="020B0502040204020203" pitchFamily="34" charset="-122"/>
                        </a:rPr>
                        <a:t>不同格式的静止图像</a:t>
                      </a:r>
                    </a:p>
                  </a:txBody>
                  <a:tcPr marL="31190" marR="31190" marT="0" marB="0" anchor="ctr"/>
                </a:tc>
                <a:extLst>
                  <a:ext uri="{0D108BD9-81ED-4DB2-BD59-A6C34878D82A}">
                    <a16:rowId xmlns:a16="http://schemas.microsoft.com/office/drawing/2014/main" val="10002"/>
                  </a:ext>
                </a:extLst>
              </a:tr>
              <a:tr h="286929">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audio</a:t>
                      </a:r>
                      <a:r>
                        <a:rPr lang="zh-CN" sz="1200" b="0" dirty="0">
                          <a:effectLst/>
                          <a:latin typeface="Montserrat" panose="00000500000000000000" pitchFamily="2" charset="0"/>
                          <a:ea typeface="微软雅黑 Light" panose="020B0502040204020203" pitchFamily="34" charset="-122"/>
                        </a:rPr>
                        <a:t>（音频）</a:t>
                      </a:r>
                    </a:p>
                  </a:txBody>
                  <a:tcPr marL="31190" marR="31190" marT="0" marB="0" anchor="ctr"/>
                </a:tc>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basic, mpeg, mp4</a:t>
                      </a:r>
                      <a:endParaRPr lang="zh-CN" sz="1200" b="0" dirty="0">
                        <a:effectLst/>
                        <a:latin typeface="Montserrat" panose="00000500000000000000" pitchFamily="2" charset="0"/>
                        <a:ea typeface="微软雅黑 Light" panose="020B0502040204020203" pitchFamily="34" charset="-122"/>
                      </a:endParaRPr>
                    </a:p>
                  </a:txBody>
                  <a:tcPr marL="31190" marR="31190" marT="0" marB="0" anchor="ctr"/>
                </a:tc>
                <a:tc>
                  <a:txBody>
                    <a:bodyPr/>
                    <a:lstStyle/>
                    <a:p>
                      <a:pPr algn="ctr" hangingPunct="0">
                        <a:lnSpc>
                          <a:spcPct val="100000"/>
                        </a:lnSpc>
                        <a:spcAft>
                          <a:spcPts val="0"/>
                        </a:spcAft>
                      </a:pPr>
                      <a:r>
                        <a:rPr lang="zh-CN" sz="1200" b="0" dirty="0">
                          <a:effectLst/>
                          <a:latin typeface="Montserrat" panose="00000500000000000000" pitchFamily="2" charset="0"/>
                          <a:ea typeface="微软雅黑 Light" panose="020B0502040204020203" pitchFamily="34" charset="-122"/>
                        </a:rPr>
                        <a:t>可听见的声音</a:t>
                      </a:r>
                    </a:p>
                  </a:txBody>
                  <a:tcPr marL="31190" marR="31190" marT="0" marB="0" anchor="ctr"/>
                </a:tc>
                <a:extLst>
                  <a:ext uri="{0D108BD9-81ED-4DB2-BD59-A6C34878D82A}">
                    <a16:rowId xmlns:a16="http://schemas.microsoft.com/office/drawing/2014/main" val="10003"/>
                  </a:ext>
                </a:extLst>
              </a:tr>
              <a:tr h="286929">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video</a:t>
                      </a:r>
                      <a:r>
                        <a:rPr lang="zh-CN" sz="1200" b="0" dirty="0">
                          <a:effectLst/>
                          <a:latin typeface="Montserrat" panose="00000500000000000000" pitchFamily="2" charset="0"/>
                          <a:ea typeface="微软雅黑 Light" panose="020B0502040204020203" pitchFamily="34" charset="-122"/>
                        </a:rPr>
                        <a:t>（视频）</a:t>
                      </a:r>
                    </a:p>
                  </a:txBody>
                  <a:tcPr marL="31190" marR="31190" marT="0" marB="0" anchor="ctr"/>
                </a:tc>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mpeg, mp4, </a:t>
                      </a:r>
                      <a:r>
                        <a:rPr lang="en-US" sz="1200" b="0" dirty="0" err="1">
                          <a:effectLst/>
                          <a:latin typeface="Montserrat" panose="00000500000000000000" pitchFamily="2" charset="0"/>
                          <a:ea typeface="微软雅黑 Light" panose="020B0502040204020203" pitchFamily="34" charset="-122"/>
                        </a:rPr>
                        <a:t>quicktime</a:t>
                      </a:r>
                      <a:endParaRPr lang="zh-CN" sz="1200" b="0" dirty="0">
                        <a:effectLst/>
                        <a:latin typeface="Montserrat" panose="00000500000000000000" pitchFamily="2" charset="0"/>
                        <a:ea typeface="微软雅黑 Light" panose="020B0502040204020203" pitchFamily="34" charset="-122"/>
                      </a:endParaRPr>
                    </a:p>
                  </a:txBody>
                  <a:tcPr marL="31190" marR="31190" marT="0" marB="0" anchor="ctr"/>
                </a:tc>
                <a:tc>
                  <a:txBody>
                    <a:bodyPr/>
                    <a:lstStyle/>
                    <a:p>
                      <a:pPr algn="ctr" hangingPunct="0">
                        <a:lnSpc>
                          <a:spcPct val="100000"/>
                        </a:lnSpc>
                        <a:spcAft>
                          <a:spcPts val="0"/>
                        </a:spcAft>
                      </a:pPr>
                      <a:r>
                        <a:rPr lang="zh-CN" sz="1200" b="0" dirty="0">
                          <a:effectLst/>
                          <a:latin typeface="Montserrat" panose="00000500000000000000" pitchFamily="2" charset="0"/>
                          <a:ea typeface="微软雅黑 Light" panose="020B0502040204020203" pitchFamily="34" charset="-122"/>
                        </a:rPr>
                        <a:t>不同格式的影片</a:t>
                      </a:r>
                    </a:p>
                  </a:txBody>
                  <a:tcPr marL="31190" marR="31190" marT="0" marB="0" anchor="ctr"/>
                </a:tc>
                <a:extLst>
                  <a:ext uri="{0D108BD9-81ED-4DB2-BD59-A6C34878D82A}">
                    <a16:rowId xmlns:a16="http://schemas.microsoft.com/office/drawing/2014/main" val="10004"/>
                  </a:ext>
                </a:extLst>
              </a:tr>
              <a:tr h="286929">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model</a:t>
                      </a:r>
                      <a:r>
                        <a:rPr lang="zh-CN" sz="1200" b="0" dirty="0">
                          <a:effectLst/>
                          <a:latin typeface="Montserrat" panose="00000500000000000000" pitchFamily="2" charset="0"/>
                          <a:ea typeface="微软雅黑 Light" panose="020B0502040204020203" pitchFamily="34" charset="-122"/>
                        </a:rPr>
                        <a:t>（模型）</a:t>
                      </a:r>
                    </a:p>
                  </a:txBody>
                  <a:tcPr marL="31190" marR="31190" marT="0" marB="0" anchor="ctr"/>
                </a:tc>
                <a:tc>
                  <a:txBody>
                    <a:bodyPr/>
                    <a:lstStyle/>
                    <a:p>
                      <a:pPr algn="ctr" hangingPunct="0">
                        <a:lnSpc>
                          <a:spcPct val="100000"/>
                        </a:lnSpc>
                        <a:spcAft>
                          <a:spcPts val="0"/>
                        </a:spcAft>
                      </a:pPr>
                      <a:r>
                        <a:rPr lang="en-US" sz="1200" b="0" dirty="0" err="1">
                          <a:effectLst/>
                          <a:latin typeface="Montserrat" panose="00000500000000000000" pitchFamily="2" charset="0"/>
                          <a:ea typeface="微软雅黑 Light" panose="020B0502040204020203" pitchFamily="34" charset="-122"/>
                        </a:rPr>
                        <a:t>vrml</a:t>
                      </a:r>
                      <a:endParaRPr lang="zh-CN" sz="1200" b="0" dirty="0">
                        <a:effectLst/>
                        <a:latin typeface="Montserrat" panose="00000500000000000000" pitchFamily="2" charset="0"/>
                        <a:ea typeface="微软雅黑 Light" panose="020B0502040204020203" pitchFamily="34" charset="-122"/>
                      </a:endParaRPr>
                    </a:p>
                  </a:txBody>
                  <a:tcPr marL="31190" marR="31190" marT="0" marB="0" anchor="ctr"/>
                </a:tc>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3D</a:t>
                      </a:r>
                      <a:r>
                        <a:rPr lang="zh-CN" sz="1200" b="0" dirty="0">
                          <a:effectLst/>
                          <a:latin typeface="Montserrat" panose="00000500000000000000" pitchFamily="2" charset="0"/>
                          <a:ea typeface="微软雅黑 Light" panose="020B0502040204020203" pitchFamily="34" charset="-122"/>
                        </a:rPr>
                        <a:t>模型</a:t>
                      </a:r>
                    </a:p>
                  </a:txBody>
                  <a:tcPr marL="31190" marR="31190" marT="0" marB="0" anchor="ctr"/>
                </a:tc>
                <a:extLst>
                  <a:ext uri="{0D108BD9-81ED-4DB2-BD59-A6C34878D82A}">
                    <a16:rowId xmlns:a16="http://schemas.microsoft.com/office/drawing/2014/main" val="10005"/>
                  </a:ext>
                </a:extLst>
              </a:tr>
              <a:tr h="286929">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application</a:t>
                      </a:r>
                      <a:r>
                        <a:rPr lang="zh-CN" sz="1200" b="0" dirty="0">
                          <a:effectLst/>
                          <a:latin typeface="Montserrat" panose="00000500000000000000" pitchFamily="2" charset="0"/>
                          <a:ea typeface="微软雅黑 Light" panose="020B0502040204020203" pitchFamily="34" charset="-122"/>
                        </a:rPr>
                        <a:t>（应用）</a:t>
                      </a:r>
                    </a:p>
                  </a:txBody>
                  <a:tcPr marL="31190" marR="31190" marT="0" marB="0" anchor="ctr"/>
                </a:tc>
                <a:tc>
                  <a:txBody>
                    <a:bodyPr/>
                    <a:lstStyle/>
                    <a:p>
                      <a:pPr algn="ctr" hangingPunct="0">
                        <a:lnSpc>
                          <a:spcPct val="100000"/>
                        </a:lnSpc>
                        <a:spcAft>
                          <a:spcPts val="0"/>
                        </a:spcAft>
                      </a:pPr>
                      <a:r>
                        <a:rPr lang="en-US" sz="1200" b="0" dirty="0" err="1">
                          <a:solidFill>
                            <a:srgbClr val="C00000"/>
                          </a:solidFill>
                          <a:effectLst/>
                          <a:latin typeface="Montserrat" panose="00000500000000000000" pitchFamily="2" charset="0"/>
                          <a:ea typeface="微软雅黑 Light" panose="020B0502040204020203" pitchFamily="34" charset="-122"/>
                        </a:rPr>
                        <a:t>json</a:t>
                      </a:r>
                      <a:r>
                        <a:rPr lang="en-US" sz="1200" b="0" dirty="0">
                          <a:effectLst/>
                          <a:latin typeface="Montserrat" panose="00000500000000000000" pitchFamily="2" charset="0"/>
                          <a:ea typeface="微软雅黑 Light" panose="020B0502040204020203" pitchFamily="34" charset="-122"/>
                        </a:rPr>
                        <a:t>, octet-stream, pdf, </a:t>
                      </a:r>
                      <a:r>
                        <a:rPr lang="en-US" sz="1200" b="0" dirty="0" err="1">
                          <a:effectLst/>
                          <a:latin typeface="Montserrat" panose="00000500000000000000" pitchFamily="2" charset="0"/>
                          <a:ea typeface="微软雅黑 Light" panose="020B0502040204020203" pitchFamily="34" charset="-122"/>
                        </a:rPr>
                        <a:t>javascript</a:t>
                      </a:r>
                      <a:r>
                        <a:rPr lang="en-US" sz="1200" b="0" dirty="0">
                          <a:effectLst/>
                          <a:latin typeface="Montserrat" panose="00000500000000000000" pitchFamily="2" charset="0"/>
                          <a:ea typeface="微软雅黑 Light" panose="020B0502040204020203" pitchFamily="34" charset="-122"/>
                        </a:rPr>
                        <a:t>, zip</a:t>
                      </a:r>
                      <a:endParaRPr lang="zh-CN" sz="1200" b="0" dirty="0">
                        <a:effectLst/>
                        <a:latin typeface="Montserrat" panose="00000500000000000000" pitchFamily="2" charset="0"/>
                        <a:ea typeface="微软雅黑 Light" panose="020B0502040204020203" pitchFamily="34" charset="-122"/>
                      </a:endParaRPr>
                    </a:p>
                  </a:txBody>
                  <a:tcPr marL="31190" marR="31190" marT="0" marB="0" anchor="ctr"/>
                </a:tc>
                <a:tc>
                  <a:txBody>
                    <a:bodyPr/>
                    <a:lstStyle/>
                    <a:p>
                      <a:pPr algn="ctr" hangingPunct="0">
                        <a:lnSpc>
                          <a:spcPct val="100000"/>
                        </a:lnSpc>
                        <a:spcAft>
                          <a:spcPts val="0"/>
                        </a:spcAft>
                      </a:pPr>
                      <a:r>
                        <a:rPr lang="zh-CN" sz="1200" b="0" dirty="0">
                          <a:effectLst/>
                          <a:latin typeface="Montserrat" panose="00000500000000000000" pitchFamily="2" charset="0"/>
                          <a:ea typeface="微软雅黑 Light" panose="020B0502040204020203" pitchFamily="34" charset="-122"/>
                        </a:rPr>
                        <a:t>不同应用程序产生的数据</a:t>
                      </a:r>
                    </a:p>
                  </a:txBody>
                  <a:tcPr marL="31190" marR="31190" marT="0" marB="0" anchor="ctr"/>
                </a:tc>
                <a:extLst>
                  <a:ext uri="{0D108BD9-81ED-4DB2-BD59-A6C34878D82A}">
                    <a16:rowId xmlns:a16="http://schemas.microsoft.com/office/drawing/2014/main" val="10006"/>
                  </a:ext>
                </a:extLst>
              </a:tr>
              <a:tr h="286929">
                <a:tc>
                  <a:txBody>
                    <a:bodyPr/>
                    <a:lstStyle/>
                    <a:p>
                      <a:pPr algn="ctr" hangingPunct="0">
                        <a:lnSpc>
                          <a:spcPct val="100000"/>
                        </a:lnSpc>
                        <a:spcAft>
                          <a:spcPts val="0"/>
                        </a:spcAft>
                      </a:pPr>
                      <a:r>
                        <a:rPr lang="en-US" sz="1200" b="0" strike="sngStrike" baseline="0" dirty="0">
                          <a:effectLst/>
                          <a:latin typeface="Montserrat" panose="00000500000000000000" pitchFamily="2" charset="0"/>
                          <a:ea typeface="微软雅黑 Light" panose="020B0502040204020203" pitchFamily="34" charset="-122"/>
                        </a:rPr>
                        <a:t>message</a:t>
                      </a:r>
                      <a:r>
                        <a:rPr lang="zh-CN" sz="1200" b="0" strike="sngStrike" baseline="0" dirty="0">
                          <a:effectLst/>
                          <a:latin typeface="Montserrat" panose="00000500000000000000" pitchFamily="2" charset="0"/>
                          <a:ea typeface="微软雅黑 Light" panose="020B0502040204020203" pitchFamily="34" charset="-122"/>
                        </a:rPr>
                        <a:t>（报文）</a:t>
                      </a:r>
                    </a:p>
                  </a:txBody>
                  <a:tcPr marL="31190" marR="31190" marT="0" marB="0" anchor="ctr"/>
                </a:tc>
                <a:tc>
                  <a:txBody>
                    <a:bodyPr/>
                    <a:lstStyle/>
                    <a:p>
                      <a:pPr algn="ctr" hangingPunct="0">
                        <a:lnSpc>
                          <a:spcPct val="100000"/>
                        </a:lnSpc>
                        <a:spcAft>
                          <a:spcPts val="0"/>
                        </a:spcAft>
                      </a:pPr>
                      <a:r>
                        <a:rPr lang="en-US" sz="1200" b="0" strike="sngStrike" baseline="0" dirty="0">
                          <a:effectLst/>
                          <a:latin typeface="Montserrat" panose="00000500000000000000" pitchFamily="2" charset="0"/>
                          <a:ea typeface="微软雅黑 Light" panose="020B0502040204020203" pitchFamily="34" charset="-122"/>
                        </a:rPr>
                        <a:t>http, rfc822</a:t>
                      </a:r>
                      <a:endParaRPr lang="zh-CN" sz="1200" b="0" strike="sngStrike" baseline="0" dirty="0">
                        <a:effectLst/>
                        <a:latin typeface="Montserrat" panose="00000500000000000000" pitchFamily="2" charset="0"/>
                        <a:ea typeface="微软雅黑 Light" panose="020B0502040204020203" pitchFamily="34" charset="-122"/>
                      </a:endParaRPr>
                    </a:p>
                  </a:txBody>
                  <a:tcPr marL="31190" marR="31190" marT="0" marB="0" anchor="ctr"/>
                </a:tc>
                <a:tc>
                  <a:txBody>
                    <a:bodyPr/>
                    <a:lstStyle/>
                    <a:p>
                      <a:pPr algn="ctr" hangingPunct="0">
                        <a:lnSpc>
                          <a:spcPct val="100000"/>
                        </a:lnSpc>
                        <a:spcAft>
                          <a:spcPts val="0"/>
                        </a:spcAft>
                      </a:pPr>
                      <a:r>
                        <a:rPr lang="zh-CN" sz="1200" b="0" strike="sngStrike" baseline="0" dirty="0">
                          <a:effectLst/>
                          <a:latin typeface="Montserrat" panose="00000500000000000000" pitchFamily="2" charset="0"/>
                          <a:ea typeface="微软雅黑 Light" panose="020B0502040204020203" pitchFamily="34" charset="-122"/>
                        </a:rPr>
                        <a:t>封装的报文</a:t>
                      </a:r>
                    </a:p>
                  </a:txBody>
                  <a:tcPr marL="31190" marR="31190" marT="0" marB="0" anchor="ctr"/>
                </a:tc>
                <a:extLst>
                  <a:ext uri="{0D108BD9-81ED-4DB2-BD59-A6C34878D82A}">
                    <a16:rowId xmlns:a16="http://schemas.microsoft.com/office/drawing/2014/main" val="10007"/>
                  </a:ext>
                </a:extLst>
              </a:tr>
              <a:tr h="286929">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multipart</a:t>
                      </a:r>
                      <a:r>
                        <a:rPr lang="zh-CN" sz="1200" b="0" dirty="0">
                          <a:effectLst/>
                          <a:latin typeface="Montserrat" panose="00000500000000000000" pitchFamily="2" charset="0"/>
                          <a:ea typeface="微软雅黑 Light" panose="020B0502040204020203" pitchFamily="34" charset="-122"/>
                        </a:rPr>
                        <a:t>（多部分）</a:t>
                      </a:r>
                    </a:p>
                  </a:txBody>
                  <a:tcPr marL="31190" marR="31190" marT="0" marB="0" anchor="ctr"/>
                </a:tc>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mixed, alternative, parallel, digest</a:t>
                      </a:r>
                      <a:endParaRPr lang="zh-CN" sz="1200" b="0" dirty="0">
                        <a:effectLst/>
                        <a:latin typeface="Montserrat" panose="00000500000000000000" pitchFamily="2" charset="0"/>
                        <a:ea typeface="微软雅黑 Light" panose="020B0502040204020203" pitchFamily="34" charset="-122"/>
                      </a:endParaRPr>
                    </a:p>
                  </a:txBody>
                  <a:tcPr marL="31190" marR="31190" marT="0" marB="0" anchor="ctr"/>
                </a:tc>
                <a:tc>
                  <a:txBody>
                    <a:bodyPr/>
                    <a:lstStyle/>
                    <a:p>
                      <a:pPr algn="ctr" hangingPunct="0">
                        <a:lnSpc>
                          <a:spcPct val="100000"/>
                        </a:lnSpc>
                        <a:spcAft>
                          <a:spcPts val="0"/>
                        </a:spcAft>
                      </a:pPr>
                      <a:r>
                        <a:rPr lang="zh-CN" sz="1200" b="0" dirty="0">
                          <a:effectLst/>
                          <a:latin typeface="Montserrat" panose="00000500000000000000" pitchFamily="2" charset="0"/>
                          <a:ea typeface="微软雅黑 Light" panose="020B0502040204020203" pitchFamily="34" charset="-122"/>
                        </a:rPr>
                        <a:t>多种类型的组合</a:t>
                      </a:r>
                    </a:p>
                  </a:txBody>
                  <a:tcPr marL="31190" marR="31190" marT="0" marB="0" anchor="ct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29817713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2C70938-592E-95DC-4B8D-9989A716B2E6}"/>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内容传送编码 </a:t>
            </a:r>
            <a:r>
              <a:rPr lang="en-US" altLang="zh-CN" dirty="0"/>
              <a:t>- Base64</a:t>
            </a:r>
            <a:endParaRPr lang="zh-CN" altLang="en-US" dirty="0"/>
          </a:p>
        </p:txBody>
      </p:sp>
      <p:sp>
        <p:nvSpPr>
          <p:cNvPr id="9" name="内容占位符 8">
            <a:extLst>
              <a:ext uri="{FF2B5EF4-FFF2-40B4-BE49-F238E27FC236}">
                <a16:creationId xmlns:a16="http://schemas.microsoft.com/office/drawing/2014/main" id="{EF5D295B-C249-5779-2780-B0FADE2042E2}"/>
              </a:ext>
            </a:extLst>
          </p:cNvPr>
          <p:cNvSpPr>
            <a:spLocks noGrp="1"/>
          </p:cNvSpPr>
          <p:nvPr>
            <p:ph sz="quarter" idx="11"/>
          </p:nvPr>
        </p:nvSpPr>
        <p:spPr>
          <a:xfrm>
            <a:off x="486000" y="687518"/>
            <a:ext cx="8172000" cy="4079035"/>
          </a:xfrm>
        </p:spPr>
        <p:txBody>
          <a:bodyPr/>
          <a:lstStyle/>
          <a:p>
            <a:r>
              <a:rPr lang="zh-CN" altLang="en-US" dirty="0"/>
              <a:t>检查邮件细节</a:t>
            </a:r>
          </a:p>
        </p:txBody>
      </p:sp>
      <p:pic>
        <p:nvPicPr>
          <p:cNvPr id="5" name="图片 4">
            <a:extLst>
              <a:ext uri="{FF2B5EF4-FFF2-40B4-BE49-F238E27FC236}">
                <a16:creationId xmlns:a16="http://schemas.microsoft.com/office/drawing/2014/main" id="{B70F87CF-D2BF-10E4-BED9-E2975A32F517}"/>
              </a:ext>
            </a:extLst>
          </p:cNvPr>
          <p:cNvPicPr>
            <a:picLocks noChangeAspect="1"/>
          </p:cNvPicPr>
          <p:nvPr/>
        </p:nvPicPr>
        <p:blipFill>
          <a:blip r:embed="rId2"/>
          <a:stretch>
            <a:fillRect/>
          </a:stretch>
        </p:blipFill>
        <p:spPr>
          <a:xfrm>
            <a:off x="2408464" y="0"/>
            <a:ext cx="6735536" cy="5143500"/>
          </a:xfrm>
          <a:prstGeom prst="rect">
            <a:avLst/>
          </a:prstGeom>
        </p:spPr>
      </p:pic>
    </p:spTree>
    <p:extLst>
      <p:ext uri="{BB962C8B-B14F-4D97-AF65-F5344CB8AC3E}">
        <p14:creationId xmlns:p14="http://schemas.microsoft.com/office/powerpoint/2010/main" val="27581595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9">
            <a:extLst>
              <a:ext uri="{FF2B5EF4-FFF2-40B4-BE49-F238E27FC236}">
                <a16:creationId xmlns:a16="http://schemas.microsoft.com/office/drawing/2014/main" id="{56D039C3-7D25-6374-09E6-0A03396E5BBA}"/>
              </a:ext>
            </a:extLst>
          </p:cNvPr>
          <p:cNvSpPr>
            <a:spLocks noChangeArrowheads="1"/>
          </p:cNvSpPr>
          <p:nvPr/>
        </p:nvSpPr>
        <p:spPr bwMode="auto">
          <a:xfrm>
            <a:off x="3563766" y="711857"/>
            <a:ext cx="3809956"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solidFill>
                  <a:srgbClr val="C00000"/>
                </a:solidFill>
                <a:latin typeface="Montserrat" panose="00000500000000000000" pitchFamily="2" charset="0"/>
                <a:ea typeface="微软雅黑 Light" panose="020B0502040204020203" pitchFamily="34" charset="-122"/>
              </a:rPr>
              <a:t>6.6</a:t>
            </a:r>
            <a:r>
              <a:rPr lang="en-US" altLang="zh-CN" sz="2000" dirty="0">
                <a:latin typeface="Montserrat" panose="00000500000000000000" pitchFamily="2" charset="0"/>
                <a:ea typeface="微软雅黑 Light" panose="020B0502040204020203" pitchFamily="34" charset="-122"/>
              </a:rPr>
              <a:t> </a:t>
            </a:r>
            <a:r>
              <a:rPr lang="zh-CN" altLang="en-US" sz="2000" dirty="0">
                <a:latin typeface="Montserrat" panose="00000500000000000000" pitchFamily="2" charset="0"/>
                <a:ea typeface="微软雅黑 Light" panose="020B0502040204020203" pitchFamily="34" charset="-122"/>
              </a:rPr>
              <a:t>动态主机配置协议 </a:t>
            </a:r>
            <a:r>
              <a:rPr lang="en-US" altLang="zh-CN" sz="2000" dirty="0">
                <a:latin typeface="Montserrat" panose="00000500000000000000" pitchFamily="2" charset="0"/>
                <a:ea typeface="微软雅黑 Light" panose="020B0502040204020203" pitchFamily="34" charset="-122"/>
              </a:rPr>
              <a:t>DHCP</a:t>
            </a:r>
            <a:endParaRPr lang="zh-CN" altLang="fr-FR" sz="2000" dirty="0">
              <a:latin typeface="Montserrat" panose="00000500000000000000" pitchFamily="2" charset="0"/>
              <a:ea typeface="微软雅黑 Light" panose="020B0502040204020203" pitchFamily="34" charset="-122"/>
            </a:endParaRPr>
          </a:p>
        </p:txBody>
      </p:sp>
      <p:sp>
        <p:nvSpPr>
          <p:cNvPr id="5" name="Rectangle 8">
            <a:extLst>
              <a:ext uri="{FF2B5EF4-FFF2-40B4-BE49-F238E27FC236}">
                <a16:creationId xmlns:a16="http://schemas.microsoft.com/office/drawing/2014/main" id="{A40E25A0-A071-74D2-8E3C-31776C65185C}"/>
              </a:ext>
            </a:extLst>
          </p:cNvPr>
          <p:cNvSpPr>
            <a:spLocks noChangeArrowheads="1"/>
          </p:cNvSpPr>
          <p:nvPr/>
        </p:nvSpPr>
        <p:spPr bwMode="auto">
          <a:xfrm>
            <a:off x="3563766" y="1354881"/>
            <a:ext cx="4197661" cy="22665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6.5.1</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电子邮件</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6.5.2</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简单邮件传送协议 </a:t>
            </a:r>
            <a:r>
              <a:rPr lang="en-US" altLang="zh-CN" sz="1600" dirty="0">
                <a:latin typeface="Montserrat" panose="00000500000000000000" pitchFamily="2" charset="0"/>
                <a:ea typeface="微软雅黑 Light" panose="020B0502040204020203" pitchFamily="34" charset="-122"/>
              </a:rPr>
              <a:t>SMTP</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6.5.3</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电子邮件的信息格式</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6.5.4</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邮件读取协议 </a:t>
            </a:r>
            <a:r>
              <a:rPr lang="en-US" altLang="zh-CN" sz="1600" dirty="0">
                <a:latin typeface="Montserrat" panose="00000500000000000000" pitchFamily="2" charset="0"/>
                <a:ea typeface="微软雅黑 Light" panose="020B0502040204020203" pitchFamily="34" charset="-122"/>
              </a:rPr>
              <a:t>POP3 </a:t>
            </a:r>
            <a:r>
              <a:rPr lang="zh-CN" altLang="en-US" sz="1600" dirty="0">
                <a:latin typeface="Montserrat" panose="00000500000000000000" pitchFamily="2" charset="0"/>
                <a:ea typeface="微软雅黑 Light" panose="020B0502040204020203" pitchFamily="34" charset="-122"/>
              </a:rPr>
              <a:t>和 </a:t>
            </a:r>
            <a:r>
              <a:rPr lang="en-US" altLang="zh-CN" sz="1600" dirty="0">
                <a:latin typeface="Montserrat" panose="00000500000000000000" pitchFamily="2" charset="0"/>
                <a:ea typeface="微软雅黑 Light" panose="020B0502040204020203" pitchFamily="34" charset="-122"/>
              </a:rPr>
              <a:t>IMAP</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6.5.5</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基于万维网的电子邮件</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6.5.6</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通用互联网邮件扩充 </a:t>
            </a:r>
            <a:r>
              <a:rPr lang="en-US" altLang="zh-CN" sz="1600" dirty="0">
                <a:latin typeface="Montserrat" panose="00000500000000000000" pitchFamily="2" charset="0"/>
                <a:ea typeface="微软雅黑 Light" panose="020B0502040204020203" pitchFamily="34" charset="-122"/>
              </a:rPr>
              <a:t>MIME</a:t>
            </a:r>
          </a:p>
        </p:txBody>
      </p:sp>
    </p:spTree>
    <p:extLst>
      <p:ext uri="{BB962C8B-B14F-4D97-AF65-F5344CB8AC3E}">
        <p14:creationId xmlns:p14="http://schemas.microsoft.com/office/powerpoint/2010/main" val="24976033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478C857-9E2A-B03B-64F6-62B6B7DD256E}"/>
              </a:ext>
            </a:extLst>
          </p:cNvPr>
          <p:cNvSpPr>
            <a:spLocks noGrp="1"/>
          </p:cNvSpPr>
          <p:nvPr>
            <p:ph type="title"/>
          </p:nvPr>
        </p:nvSpPr>
        <p:spPr>
          <a:xfrm>
            <a:off x="485999" y="174482"/>
            <a:ext cx="8171999" cy="338554"/>
          </a:xfrm>
        </p:spPr>
        <p:txBody>
          <a:bodyPr/>
          <a:lstStyle/>
          <a:p>
            <a:r>
              <a:rPr lang="en-US" altLang="zh-CN" dirty="0"/>
              <a:t>6.6 </a:t>
            </a:r>
            <a:r>
              <a:rPr lang="zh-CN" altLang="en-US" dirty="0"/>
              <a:t>动态主机配置协议 </a:t>
            </a:r>
            <a:r>
              <a:rPr lang="en-US" altLang="zh-CN" dirty="0"/>
              <a:t>DHCP</a:t>
            </a:r>
          </a:p>
        </p:txBody>
      </p:sp>
      <p:sp>
        <p:nvSpPr>
          <p:cNvPr id="3" name="内容占位符 2">
            <a:extLst>
              <a:ext uri="{FF2B5EF4-FFF2-40B4-BE49-F238E27FC236}">
                <a16:creationId xmlns:a16="http://schemas.microsoft.com/office/drawing/2014/main" id="{D6C53FF5-B414-77C6-A0DA-7BAA47EB43A8}"/>
              </a:ext>
            </a:extLst>
          </p:cNvPr>
          <p:cNvSpPr>
            <a:spLocks noGrp="1"/>
          </p:cNvSpPr>
          <p:nvPr>
            <p:ph sz="quarter" idx="11"/>
          </p:nvPr>
        </p:nvSpPr>
        <p:spPr>
          <a:xfrm>
            <a:off x="486000" y="687518"/>
            <a:ext cx="8172000" cy="4079035"/>
          </a:xfrm>
        </p:spPr>
        <p:txBody>
          <a:bodyPr/>
          <a:lstStyle/>
          <a:p>
            <a:r>
              <a:rPr lang="zh-CN" altLang="en-US" dirty="0"/>
              <a:t>在协议软件中，给协议参数赋值的动作叫做协议配置</a:t>
            </a:r>
          </a:p>
          <a:p>
            <a:r>
              <a:rPr lang="zh-CN" altLang="en-US" dirty="0"/>
              <a:t>一个协议软件在使用之前必须是已正确配置的</a:t>
            </a:r>
            <a:endParaRPr lang="en-US" altLang="zh-CN" dirty="0"/>
          </a:p>
          <a:p>
            <a:r>
              <a:rPr lang="zh-CN" altLang="en-US" dirty="0"/>
              <a:t>具体的配置信息取决于协议栈</a:t>
            </a:r>
            <a:endParaRPr lang="en-US" altLang="zh-CN" dirty="0"/>
          </a:p>
          <a:p>
            <a:r>
              <a:rPr lang="zh-CN" altLang="en-US" dirty="0"/>
              <a:t>连接到互联网的计算机的协议软件需要正确配置的参数包括：</a:t>
            </a:r>
          </a:p>
          <a:p>
            <a:pPr lvl="1"/>
            <a:r>
              <a:rPr lang="en-US" altLang="zh-CN" dirty="0"/>
              <a:t>IP </a:t>
            </a:r>
            <a:r>
              <a:rPr lang="zh-CN" altLang="en-US" dirty="0"/>
              <a:t>地址</a:t>
            </a:r>
          </a:p>
          <a:p>
            <a:pPr lvl="1"/>
            <a:r>
              <a:rPr lang="zh-CN" altLang="en-US" dirty="0"/>
              <a:t>子网掩码</a:t>
            </a:r>
          </a:p>
          <a:p>
            <a:pPr lvl="1"/>
            <a:r>
              <a:rPr lang="zh-CN" altLang="en-US" dirty="0"/>
              <a:t>默认路由器的 </a:t>
            </a:r>
            <a:r>
              <a:rPr lang="en-US" altLang="zh-CN" dirty="0"/>
              <a:t>IP </a:t>
            </a:r>
            <a:r>
              <a:rPr lang="zh-CN" altLang="en-US" dirty="0"/>
              <a:t>地址</a:t>
            </a:r>
          </a:p>
          <a:p>
            <a:pPr lvl="1"/>
            <a:r>
              <a:rPr lang="zh-CN" altLang="en-US" dirty="0"/>
              <a:t>域名服务器的 </a:t>
            </a:r>
            <a:r>
              <a:rPr lang="en-US" altLang="zh-CN" dirty="0"/>
              <a:t>IP </a:t>
            </a:r>
            <a:r>
              <a:rPr lang="zh-CN" altLang="en-US" dirty="0"/>
              <a:t>地址</a:t>
            </a:r>
          </a:p>
          <a:p>
            <a:endParaRPr lang="zh-CN" altLang="en-US" dirty="0"/>
          </a:p>
        </p:txBody>
      </p:sp>
    </p:spTree>
    <p:extLst>
      <p:ext uri="{BB962C8B-B14F-4D97-AF65-F5344CB8AC3E}">
        <p14:creationId xmlns:p14="http://schemas.microsoft.com/office/powerpoint/2010/main" val="41090460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FA201D2B-4944-BBD8-DE94-0DD3ECC36695}"/>
              </a:ext>
            </a:extLst>
          </p:cNvPr>
          <p:cNvSpPr>
            <a:spLocks noGrp="1"/>
          </p:cNvSpPr>
          <p:nvPr>
            <p:ph type="title"/>
          </p:nvPr>
        </p:nvSpPr>
        <p:spPr>
          <a:xfrm>
            <a:off x="485999" y="174482"/>
            <a:ext cx="8171999" cy="338554"/>
          </a:xfrm>
        </p:spPr>
        <p:txBody>
          <a:bodyPr/>
          <a:lstStyle/>
          <a:p>
            <a:r>
              <a:rPr lang="en-US" altLang="zh-CN" dirty="0"/>
              <a:t>6.6 </a:t>
            </a:r>
            <a:r>
              <a:rPr lang="zh-CN" altLang="en-US" dirty="0"/>
              <a:t>动态主机配置协议 </a:t>
            </a:r>
            <a:r>
              <a:rPr lang="en-US" altLang="zh-CN" dirty="0"/>
              <a:t>DHCP</a:t>
            </a:r>
            <a:endParaRPr lang="zh-CN" altLang="en-US" dirty="0"/>
          </a:p>
        </p:txBody>
      </p:sp>
      <p:sp>
        <p:nvSpPr>
          <p:cNvPr id="6" name="内容占位符 5">
            <a:extLst>
              <a:ext uri="{FF2B5EF4-FFF2-40B4-BE49-F238E27FC236}">
                <a16:creationId xmlns:a16="http://schemas.microsoft.com/office/drawing/2014/main" id="{1893E757-5E3D-59E2-6E09-D80065C7B853}"/>
              </a:ext>
            </a:extLst>
          </p:cNvPr>
          <p:cNvSpPr>
            <a:spLocks noGrp="1"/>
          </p:cNvSpPr>
          <p:nvPr>
            <p:ph sz="quarter" idx="11"/>
          </p:nvPr>
        </p:nvSpPr>
        <p:spPr>
          <a:xfrm>
            <a:off x="486000" y="687518"/>
            <a:ext cx="8172000" cy="4079035"/>
          </a:xfrm>
        </p:spPr>
        <p:txBody>
          <a:bodyPr/>
          <a:lstStyle/>
          <a:p>
            <a:r>
              <a:rPr lang="zh-CN" altLang="en-US" dirty="0"/>
              <a:t>动态主机配置协议 </a:t>
            </a:r>
            <a:r>
              <a:rPr lang="en-US" altLang="zh-CN" dirty="0"/>
              <a:t>DHCP</a:t>
            </a:r>
          </a:p>
          <a:p>
            <a:pPr lvl="1"/>
            <a:r>
              <a:rPr lang="en-US" altLang="zh-CN" dirty="0"/>
              <a:t>Dynamic Host Configuration Protocol</a:t>
            </a:r>
          </a:p>
          <a:p>
            <a:pPr lvl="1"/>
            <a:r>
              <a:rPr lang="zh-CN" altLang="en-US" dirty="0"/>
              <a:t>提供了即插即用连网 </a:t>
            </a:r>
            <a:r>
              <a:rPr lang="en-US" altLang="zh-CN" dirty="0"/>
              <a:t>(plug-and-play networking) </a:t>
            </a:r>
            <a:r>
              <a:rPr lang="zh-CN" altLang="en-US" dirty="0"/>
              <a:t>的机制，允许一台计算机加入网络和获取 </a:t>
            </a:r>
            <a:r>
              <a:rPr lang="en-US" altLang="zh-CN" dirty="0"/>
              <a:t>IP </a:t>
            </a:r>
            <a:r>
              <a:rPr lang="zh-CN" altLang="en-US" dirty="0"/>
              <a:t>地址，而不用手工配置</a:t>
            </a:r>
            <a:endParaRPr lang="en-US" altLang="zh-CN" dirty="0"/>
          </a:p>
          <a:p>
            <a:pPr lvl="1"/>
            <a:r>
              <a:rPr lang="zh-CN" altLang="en-US" dirty="0"/>
              <a:t>给运行服务器软件且位置固定的计算机指派一个永久地址</a:t>
            </a:r>
            <a:endParaRPr lang="en-US" altLang="zh-CN" dirty="0"/>
          </a:p>
          <a:p>
            <a:pPr lvl="1"/>
            <a:r>
              <a:rPr lang="zh-CN" altLang="en-US" dirty="0"/>
              <a:t>给运行客户端软件的计算机分配一个临时地址</a:t>
            </a:r>
          </a:p>
          <a:p>
            <a:endParaRPr lang="zh-CN" altLang="en-US" dirty="0"/>
          </a:p>
        </p:txBody>
      </p:sp>
    </p:spTree>
    <p:extLst>
      <p:ext uri="{BB962C8B-B14F-4D97-AF65-F5344CB8AC3E}">
        <p14:creationId xmlns:p14="http://schemas.microsoft.com/office/powerpoint/2010/main" val="230752155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358BD16E-1F11-2EDD-A0E8-2D3A620BCF88}"/>
              </a:ext>
            </a:extLst>
          </p:cNvPr>
          <p:cNvSpPr>
            <a:spLocks noGrp="1"/>
          </p:cNvSpPr>
          <p:nvPr>
            <p:ph type="title"/>
          </p:nvPr>
        </p:nvSpPr>
        <p:spPr>
          <a:xfrm>
            <a:off x="485999" y="174482"/>
            <a:ext cx="8171999" cy="338554"/>
          </a:xfrm>
        </p:spPr>
        <p:txBody>
          <a:bodyPr/>
          <a:lstStyle/>
          <a:p>
            <a:r>
              <a:rPr lang="en-US" altLang="zh-CN" dirty="0"/>
              <a:t>DHCP </a:t>
            </a:r>
            <a:r>
              <a:rPr lang="zh-CN" altLang="en-US" dirty="0"/>
              <a:t>使用客户服务器方式</a:t>
            </a:r>
          </a:p>
        </p:txBody>
      </p:sp>
      <p:sp>
        <p:nvSpPr>
          <p:cNvPr id="6" name="内容占位符 5">
            <a:extLst>
              <a:ext uri="{FF2B5EF4-FFF2-40B4-BE49-F238E27FC236}">
                <a16:creationId xmlns:a16="http://schemas.microsoft.com/office/drawing/2014/main" id="{75DD4FFF-D70B-83AF-D214-A5D44E2F388A}"/>
              </a:ext>
            </a:extLst>
          </p:cNvPr>
          <p:cNvSpPr>
            <a:spLocks noGrp="1"/>
          </p:cNvSpPr>
          <p:nvPr>
            <p:ph sz="quarter" idx="11"/>
          </p:nvPr>
        </p:nvSpPr>
        <p:spPr>
          <a:xfrm>
            <a:off x="486000" y="687518"/>
            <a:ext cx="8172000" cy="4079035"/>
          </a:xfrm>
        </p:spPr>
        <p:txBody>
          <a:bodyPr/>
          <a:lstStyle/>
          <a:p>
            <a:r>
              <a:rPr lang="zh-CN" altLang="en-US" dirty="0"/>
              <a:t>需要 </a:t>
            </a:r>
            <a:r>
              <a:rPr lang="en-US" altLang="zh-CN" dirty="0"/>
              <a:t>IP </a:t>
            </a:r>
            <a:r>
              <a:rPr lang="zh-CN" altLang="en-US" dirty="0"/>
              <a:t>地址的主机在启动时就向 </a:t>
            </a:r>
            <a:r>
              <a:rPr lang="en-US" altLang="zh-CN" dirty="0"/>
              <a:t>DHCP </a:t>
            </a:r>
            <a:r>
              <a:rPr lang="zh-CN" altLang="en-US" dirty="0"/>
              <a:t>服务器广播发送发现报文</a:t>
            </a:r>
            <a:r>
              <a:rPr lang="en-US" altLang="zh-CN" dirty="0"/>
              <a:t>DHCP DISCOVER</a:t>
            </a:r>
          </a:p>
          <a:p>
            <a:r>
              <a:rPr lang="zh-CN" altLang="en-US" dirty="0"/>
              <a:t>该主机就成为 </a:t>
            </a:r>
            <a:r>
              <a:rPr lang="en-US" altLang="zh-CN" dirty="0"/>
              <a:t>DHCP </a:t>
            </a:r>
            <a:r>
              <a:rPr lang="zh-CN" altLang="en-US" dirty="0"/>
              <a:t>客户</a:t>
            </a:r>
          </a:p>
          <a:p>
            <a:r>
              <a:rPr lang="zh-CN" altLang="en-US" dirty="0"/>
              <a:t>本地网络上所有主机都能收到此广播报文</a:t>
            </a:r>
            <a:endParaRPr lang="en-US" altLang="zh-CN" dirty="0"/>
          </a:p>
          <a:p>
            <a:r>
              <a:rPr lang="zh-CN" altLang="en-US" dirty="0"/>
              <a:t>只有 </a:t>
            </a:r>
            <a:r>
              <a:rPr lang="en-US" altLang="zh-CN" dirty="0"/>
              <a:t>DHCP </a:t>
            </a:r>
            <a:r>
              <a:rPr lang="zh-CN" altLang="en-US" dirty="0"/>
              <a:t>服务器回答此广播报文</a:t>
            </a:r>
          </a:p>
          <a:p>
            <a:r>
              <a:rPr lang="en-US" altLang="zh-CN" dirty="0"/>
              <a:t>DHCP </a:t>
            </a:r>
            <a:r>
              <a:rPr lang="zh-CN" altLang="en-US" dirty="0"/>
              <a:t>服务器先在其数据库中查找该计算机的配置信息</a:t>
            </a:r>
            <a:endParaRPr lang="en-US" altLang="zh-CN" dirty="0"/>
          </a:p>
          <a:p>
            <a:r>
              <a:rPr lang="zh-CN" altLang="en-US" dirty="0"/>
              <a:t>若找到，则返回找到的信息</a:t>
            </a:r>
            <a:endParaRPr lang="en-US" altLang="zh-CN" dirty="0"/>
          </a:p>
          <a:p>
            <a:r>
              <a:rPr lang="zh-CN" altLang="en-US" dirty="0"/>
              <a:t>若找不到，则从服务器的 </a:t>
            </a:r>
            <a:r>
              <a:rPr lang="en-US" altLang="zh-CN" dirty="0"/>
              <a:t>IP </a:t>
            </a:r>
            <a:r>
              <a:rPr lang="zh-CN" altLang="en-US" dirty="0"/>
              <a:t>地址池 </a:t>
            </a:r>
            <a:r>
              <a:rPr lang="en-US" altLang="zh-CN" dirty="0"/>
              <a:t>address pool </a:t>
            </a:r>
            <a:r>
              <a:rPr lang="zh-CN" altLang="en-US" dirty="0"/>
              <a:t>中取一个地址分配给该计算机</a:t>
            </a:r>
            <a:endParaRPr lang="en-US" altLang="zh-CN" dirty="0"/>
          </a:p>
          <a:p>
            <a:r>
              <a:rPr lang="en-US" altLang="zh-CN" dirty="0"/>
              <a:t>DHCP</a:t>
            </a:r>
            <a:r>
              <a:rPr lang="zh-CN" altLang="en-US" dirty="0"/>
              <a:t>服务器的回答报文叫做提供报文 </a:t>
            </a:r>
            <a:r>
              <a:rPr lang="en-US" altLang="zh-CN" dirty="0"/>
              <a:t>DHCP OFFER</a:t>
            </a:r>
            <a:endParaRPr lang="zh-CN" altLang="en-US" dirty="0"/>
          </a:p>
        </p:txBody>
      </p:sp>
    </p:spTree>
    <p:extLst>
      <p:ext uri="{BB962C8B-B14F-4D97-AF65-F5344CB8AC3E}">
        <p14:creationId xmlns:p14="http://schemas.microsoft.com/office/powerpoint/2010/main" val="34595148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3AAA6FE-F921-8342-875B-8207A383D7EB}"/>
              </a:ext>
            </a:extLst>
          </p:cNvPr>
          <p:cNvSpPr>
            <a:spLocks noGrp="1"/>
          </p:cNvSpPr>
          <p:nvPr>
            <p:ph type="title"/>
          </p:nvPr>
        </p:nvSpPr>
        <p:spPr>
          <a:xfrm>
            <a:off x="485999" y="174482"/>
            <a:ext cx="8171999" cy="338554"/>
          </a:xfrm>
        </p:spPr>
        <p:txBody>
          <a:bodyPr/>
          <a:lstStyle/>
          <a:p>
            <a:r>
              <a:rPr lang="en-US" altLang="zh-CN" dirty="0"/>
              <a:t>DHCP </a:t>
            </a:r>
            <a:r>
              <a:rPr lang="zh-CN" altLang="en-US" dirty="0"/>
              <a:t>工作方式</a:t>
            </a:r>
          </a:p>
        </p:txBody>
      </p:sp>
      <p:sp>
        <p:nvSpPr>
          <p:cNvPr id="6" name="内容占位符 5">
            <a:extLst>
              <a:ext uri="{FF2B5EF4-FFF2-40B4-BE49-F238E27FC236}">
                <a16:creationId xmlns:a16="http://schemas.microsoft.com/office/drawing/2014/main" id="{3B0E77A6-665D-1A74-C3B1-7F714DC41959}"/>
              </a:ext>
            </a:extLst>
          </p:cNvPr>
          <p:cNvSpPr>
            <a:spLocks noGrp="1"/>
          </p:cNvSpPr>
          <p:nvPr>
            <p:ph sz="quarter" idx="11"/>
          </p:nvPr>
        </p:nvSpPr>
        <p:spPr>
          <a:xfrm>
            <a:off x="486000" y="687518"/>
            <a:ext cx="8172000" cy="4079035"/>
          </a:xfrm>
        </p:spPr>
        <p:txBody>
          <a:bodyPr/>
          <a:lstStyle/>
          <a:p>
            <a:r>
              <a:rPr lang="en-US" altLang="zh-CN" dirty="0"/>
              <a:t>DHCP </a:t>
            </a:r>
            <a:r>
              <a:rPr lang="zh-CN" altLang="en-US" dirty="0"/>
              <a:t>使用客户服务器 </a:t>
            </a:r>
            <a:r>
              <a:rPr lang="en-US" altLang="zh-CN" dirty="0"/>
              <a:t>C/S </a:t>
            </a:r>
            <a:r>
              <a:rPr lang="zh-CN" altLang="en-US" dirty="0"/>
              <a:t>方式，采用请求</a:t>
            </a:r>
            <a:r>
              <a:rPr lang="en-US" altLang="zh-CN" dirty="0"/>
              <a:t>/</a:t>
            </a:r>
            <a:r>
              <a:rPr lang="zh-CN" altLang="en-US" dirty="0"/>
              <a:t>应答方式工作</a:t>
            </a:r>
          </a:p>
          <a:p>
            <a:r>
              <a:rPr lang="en-US" altLang="zh-CN" dirty="0"/>
              <a:t>DHCP </a:t>
            </a:r>
            <a:r>
              <a:rPr lang="zh-CN" altLang="en-US" dirty="0"/>
              <a:t>基于 </a:t>
            </a:r>
            <a:r>
              <a:rPr lang="en-US" altLang="zh-CN" dirty="0"/>
              <a:t>UDP </a:t>
            </a:r>
            <a:r>
              <a:rPr lang="zh-CN" altLang="en-US" dirty="0"/>
              <a:t>工作</a:t>
            </a:r>
            <a:endParaRPr lang="en-US" altLang="zh-CN" dirty="0"/>
          </a:p>
          <a:p>
            <a:pPr lvl="1"/>
            <a:r>
              <a:rPr lang="en-US" altLang="zh-CN" dirty="0"/>
              <a:t>DHCP </a:t>
            </a:r>
            <a:r>
              <a:rPr lang="zh-CN" altLang="en-US" dirty="0"/>
              <a:t>服务器运行在 </a:t>
            </a:r>
            <a:r>
              <a:rPr lang="en-US" altLang="zh-CN" dirty="0"/>
              <a:t>67 </a:t>
            </a:r>
            <a:r>
              <a:rPr lang="zh-CN" altLang="en-US" dirty="0"/>
              <a:t>号端口</a:t>
            </a:r>
            <a:endParaRPr lang="en-US" altLang="zh-CN" dirty="0"/>
          </a:p>
          <a:p>
            <a:pPr lvl="1"/>
            <a:r>
              <a:rPr lang="en-US" altLang="zh-CN" dirty="0"/>
              <a:t>DHCP</a:t>
            </a:r>
            <a:r>
              <a:rPr lang="zh-CN" altLang="en-US" dirty="0"/>
              <a:t>客户运行在 </a:t>
            </a:r>
            <a:r>
              <a:rPr lang="en-US" altLang="zh-CN" dirty="0"/>
              <a:t>68 </a:t>
            </a:r>
            <a:r>
              <a:rPr lang="zh-CN" altLang="en-US" dirty="0"/>
              <a:t>号端口</a:t>
            </a:r>
          </a:p>
          <a:p>
            <a:endParaRPr lang="zh-CN" altLang="en-US" dirty="0"/>
          </a:p>
        </p:txBody>
      </p:sp>
      <p:sp>
        <p:nvSpPr>
          <p:cNvPr id="8" name="矩形 7"/>
          <p:cNvSpPr/>
          <p:nvPr/>
        </p:nvSpPr>
        <p:spPr>
          <a:xfrm>
            <a:off x="2050228" y="2770852"/>
            <a:ext cx="998486" cy="261610"/>
          </a:xfrm>
          <a:prstGeom prst="rect">
            <a:avLst/>
          </a:prstGeom>
          <a:noFill/>
          <a:ln w="9525">
            <a:solidFill>
              <a:schemeClr val="tx1"/>
            </a:solidFill>
          </a:ln>
          <a:effectLst/>
        </p:spPr>
        <p:style>
          <a:lnRef idx="1">
            <a:schemeClr val="accent3"/>
          </a:lnRef>
          <a:fillRef idx="2">
            <a:schemeClr val="accent3"/>
          </a:fillRef>
          <a:effectRef idx="1">
            <a:schemeClr val="accent3"/>
          </a:effectRef>
          <a:fontRef idx="minor">
            <a:schemeClr val="dk1"/>
          </a:fontRef>
        </p:style>
        <p:txBody>
          <a:bodyPr rtlCol="0" anchor="ctr">
            <a:spAutoFit/>
          </a:bodyPr>
          <a:lstStyle/>
          <a:p>
            <a:pPr algn="ctr"/>
            <a:r>
              <a:rPr lang="en-US" altLang="zh-CN" sz="1100" dirty="0">
                <a:solidFill>
                  <a:sysClr val="windowText" lastClr="000000"/>
                </a:solidFill>
                <a:latin typeface="Montserrat" panose="00000500000000000000" pitchFamily="2" charset="0"/>
                <a:ea typeface="微软雅黑 Light" panose="020B0502040204020203" pitchFamily="34" charset="-122"/>
              </a:rPr>
              <a:t>DHCP </a:t>
            </a:r>
            <a:r>
              <a:rPr lang="zh-CN" altLang="en-US" sz="1100" dirty="0">
                <a:solidFill>
                  <a:sysClr val="windowText" lastClr="000000"/>
                </a:solidFill>
                <a:latin typeface="Montserrat" panose="00000500000000000000" pitchFamily="2" charset="0"/>
                <a:ea typeface="微软雅黑 Light" panose="020B0502040204020203" pitchFamily="34" charset="-122"/>
              </a:rPr>
              <a:t>客户</a:t>
            </a:r>
          </a:p>
        </p:txBody>
      </p:sp>
      <p:sp>
        <p:nvSpPr>
          <p:cNvPr id="9" name="矩形 8"/>
          <p:cNvSpPr/>
          <p:nvPr/>
        </p:nvSpPr>
        <p:spPr>
          <a:xfrm>
            <a:off x="5970583" y="2770852"/>
            <a:ext cx="998486" cy="261610"/>
          </a:xfrm>
          <a:prstGeom prst="rect">
            <a:avLst/>
          </a:prstGeom>
          <a:noFill/>
          <a:ln w="9525">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1100" dirty="0">
                <a:solidFill>
                  <a:sysClr val="windowText" lastClr="000000"/>
                </a:solidFill>
                <a:latin typeface="Montserrat" panose="00000500000000000000" pitchFamily="2" charset="0"/>
                <a:ea typeface="微软雅黑 Light" panose="020B0502040204020203" pitchFamily="34" charset="-122"/>
              </a:rPr>
              <a:t>DHCP </a:t>
            </a:r>
            <a:r>
              <a:rPr lang="zh-CN" altLang="en-US" sz="1100" dirty="0">
                <a:solidFill>
                  <a:sysClr val="windowText" lastClr="000000"/>
                </a:solidFill>
                <a:latin typeface="Montserrat" panose="00000500000000000000" pitchFamily="2" charset="0"/>
                <a:ea typeface="微软雅黑 Light" panose="020B0502040204020203" pitchFamily="34" charset="-122"/>
              </a:rPr>
              <a:t>客户</a:t>
            </a:r>
          </a:p>
        </p:txBody>
      </p:sp>
      <p:sp>
        <p:nvSpPr>
          <p:cNvPr id="11" name="矩形 10"/>
          <p:cNvSpPr/>
          <p:nvPr/>
        </p:nvSpPr>
        <p:spPr>
          <a:xfrm>
            <a:off x="5550173" y="2796750"/>
            <a:ext cx="420410" cy="230832"/>
          </a:xfrm>
          <a:prstGeom prst="rect">
            <a:avLst/>
          </a:prstGeom>
          <a:solidFill>
            <a:srgbClr val="00CCFF"/>
          </a:solidFill>
          <a:ln>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900" dirty="0">
                <a:solidFill>
                  <a:schemeClr val="tx1"/>
                </a:solidFill>
                <a:latin typeface="Montserrat" panose="00000500000000000000" pitchFamily="2" charset="0"/>
                <a:ea typeface="微软雅黑 Light" panose="020B0502040204020203" pitchFamily="34" charset="-122"/>
              </a:rPr>
              <a:t>67</a:t>
            </a:r>
            <a:endParaRPr lang="zh-CN" altLang="en-US" sz="900" dirty="0">
              <a:solidFill>
                <a:schemeClr val="tx1"/>
              </a:solidFill>
              <a:latin typeface="Montserrat" panose="00000500000000000000" pitchFamily="2" charset="0"/>
              <a:ea typeface="微软雅黑 Light" panose="020B0502040204020203" pitchFamily="34" charset="-122"/>
            </a:endParaRPr>
          </a:p>
        </p:txBody>
      </p:sp>
      <p:sp>
        <p:nvSpPr>
          <p:cNvPr id="12" name="矩形 11"/>
          <p:cNvSpPr/>
          <p:nvPr/>
        </p:nvSpPr>
        <p:spPr>
          <a:xfrm>
            <a:off x="2050228" y="3301476"/>
            <a:ext cx="998486" cy="261610"/>
          </a:xfrm>
          <a:prstGeom prst="rect">
            <a:avLst/>
          </a:prstGeom>
          <a:noFill/>
          <a:ln w="9525">
            <a:solidFill>
              <a:schemeClr val="tx1"/>
            </a:solidFill>
          </a:ln>
          <a:effectLst/>
        </p:spPr>
        <p:style>
          <a:lnRef idx="1">
            <a:schemeClr val="accent3"/>
          </a:lnRef>
          <a:fillRef idx="2">
            <a:schemeClr val="accent3"/>
          </a:fillRef>
          <a:effectRef idx="1">
            <a:schemeClr val="accent3"/>
          </a:effectRef>
          <a:fontRef idx="minor">
            <a:schemeClr val="dk1"/>
          </a:fontRef>
        </p:style>
        <p:txBody>
          <a:bodyPr rtlCol="0" anchor="ctr">
            <a:spAutoFit/>
          </a:bodyPr>
          <a:lstStyle/>
          <a:p>
            <a:pPr algn="ctr"/>
            <a:r>
              <a:rPr lang="en-US" altLang="zh-CN" sz="1100" dirty="0">
                <a:solidFill>
                  <a:sysClr val="windowText" lastClr="000000"/>
                </a:solidFill>
                <a:latin typeface="Montserrat" panose="00000500000000000000" pitchFamily="2" charset="0"/>
                <a:ea typeface="微软雅黑 Light" panose="020B0502040204020203" pitchFamily="34" charset="-122"/>
              </a:rPr>
              <a:t>DHCP </a:t>
            </a:r>
            <a:r>
              <a:rPr lang="zh-CN" altLang="en-US" sz="1100" dirty="0">
                <a:solidFill>
                  <a:sysClr val="windowText" lastClr="000000"/>
                </a:solidFill>
                <a:latin typeface="Montserrat" panose="00000500000000000000" pitchFamily="2" charset="0"/>
                <a:ea typeface="微软雅黑 Light" panose="020B0502040204020203" pitchFamily="34" charset="-122"/>
              </a:rPr>
              <a:t>客户</a:t>
            </a:r>
          </a:p>
        </p:txBody>
      </p:sp>
      <p:sp>
        <p:nvSpPr>
          <p:cNvPr id="13" name="矩形 12"/>
          <p:cNvSpPr/>
          <p:nvPr/>
        </p:nvSpPr>
        <p:spPr>
          <a:xfrm>
            <a:off x="5970583" y="3301476"/>
            <a:ext cx="998486" cy="261610"/>
          </a:xfrm>
          <a:prstGeom prst="rect">
            <a:avLst/>
          </a:prstGeom>
          <a:noFill/>
          <a:ln w="9525">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1100" dirty="0">
                <a:solidFill>
                  <a:sysClr val="windowText" lastClr="000000"/>
                </a:solidFill>
                <a:latin typeface="Montserrat" panose="00000500000000000000" pitchFamily="2" charset="0"/>
                <a:ea typeface="微软雅黑 Light" panose="020B0502040204020203" pitchFamily="34" charset="-122"/>
              </a:rPr>
              <a:t>DHCP </a:t>
            </a:r>
            <a:r>
              <a:rPr lang="zh-CN" altLang="en-US" sz="1100" dirty="0">
                <a:solidFill>
                  <a:sysClr val="windowText" lastClr="000000"/>
                </a:solidFill>
                <a:latin typeface="Montserrat" panose="00000500000000000000" pitchFamily="2" charset="0"/>
                <a:ea typeface="微软雅黑 Light" panose="020B0502040204020203" pitchFamily="34" charset="-122"/>
              </a:rPr>
              <a:t>客户</a:t>
            </a:r>
          </a:p>
        </p:txBody>
      </p:sp>
      <p:sp>
        <p:nvSpPr>
          <p:cNvPr id="14" name="矩形 13"/>
          <p:cNvSpPr/>
          <p:nvPr/>
        </p:nvSpPr>
        <p:spPr>
          <a:xfrm>
            <a:off x="5550173" y="3327374"/>
            <a:ext cx="420410" cy="230832"/>
          </a:xfrm>
          <a:prstGeom prst="rect">
            <a:avLst/>
          </a:prstGeom>
          <a:solidFill>
            <a:srgbClr val="00CCFF"/>
          </a:solidFill>
          <a:ln>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900" dirty="0">
                <a:solidFill>
                  <a:schemeClr val="tx1"/>
                </a:solidFill>
                <a:latin typeface="Montserrat" panose="00000500000000000000" pitchFamily="2" charset="0"/>
                <a:ea typeface="微软雅黑 Light" panose="020B0502040204020203" pitchFamily="34" charset="-122"/>
              </a:rPr>
              <a:t>67</a:t>
            </a:r>
            <a:endParaRPr lang="zh-CN" altLang="en-US" sz="900" dirty="0">
              <a:solidFill>
                <a:schemeClr val="tx1"/>
              </a:solidFill>
              <a:latin typeface="Montserrat" panose="00000500000000000000" pitchFamily="2" charset="0"/>
              <a:ea typeface="微软雅黑 Light" panose="020B0502040204020203" pitchFamily="34" charset="-122"/>
            </a:endParaRPr>
          </a:p>
        </p:txBody>
      </p:sp>
      <p:sp>
        <p:nvSpPr>
          <p:cNvPr id="15" name="矩形 14"/>
          <p:cNvSpPr/>
          <p:nvPr/>
        </p:nvSpPr>
        <p:spPr>
          <a:xfrm>
            <a:off x="3044671" y="3327374"/>
            <a:ext cx="420410" cy="230832"/>
          </a:xfrm>
          <a:prstGeom prst="rect">
            <a:avLst/>
          </a:prstGeom>
          <a:solidFill>
            <a:srgbClr val="66FF66"/>
          </a:solidFill>
          <a:ln>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900" dirty="0">
                <a:solidFill>
                  <a:schemeClr val="tx1"/>
                </a:solidFill>
                <a:latin typeface="Montserrat" panose="00000500000000000000" pitchFamily="2" charset="0"/>
                <a:ea typeface="微软雅黑 Light" panose="020B0502040204020203" pitchFamily="34" charset="-122"/>
              </a:rPr>
              <a:t>68</a:t>
            </a:r>
            <a:endParaRPr lang="zh-CN" altLang="en-US" sz="900" dirty="0">
              <a:solidFill>
                <a:schemeClr val="tx1"/>
              </a:solidFill>
              <a:latin typeface="Montserrat" panose="00000500000000000000" pitchFamily="2" charset="0"/>
              <a:ea typeface="微软雅黑 Light" panose="020B0502040204020203" pitchFamily="34" charset="-122"/>
            </a:endParaRPr>
          </a:p>
        </p:txBody>
      </p:sp>
      <p:sp>
        <p:nvSpPr>
          <p:cNvPr id="16" name="矩形 15"/>
          <p:cNvSpPr/>
          <p:nvPr/>
        </p:nvSpPr>
        <p:spPr>
          <a:xfrm>
            <a:off x="2050228" y="3837505"/>
            <a:ext cx="998486" cy="261610"/>
          </a:xfrm>
          <a:prstGeom prst="rect">
            <a:avLst/>
          </a:prstGeom>
          <a:noFill/>
          <a:ln w="9525">
            <a:solidFill>
              <a:schemeClr val="tx1"/>
            </a:solidFill>
          </a:ln>
          <a:effectLst/>
        </p:spPr>
        <p:style>
          <a:lnRef idx="1">
            <a:schemeClr val="accent3"/>
          </a:lnRef>
          <a:fillRef idx="2">
            <a:schemeClr val="accent3"/>
          </a:fillRef>
          <a:effectRef idx="1">
            <a:schemeClr val="accent3"/>
          </a:effectRef>
          <a:fontRef idx="minor">
            <a:schemeClr val="dk1"/>
          </a:fontRef>
        </p:style>
        <p:txBody>
          <a:bodyPr rtlCol="0" anchor="ctr">
            <a:spAutoFit/>
          </a:bodyPr>
          <a:lstStyle/>
          <a:p>
            <a:pPr algn="ctr"/>
            <a:r>
              <a:rPr lang="en-US" altLang="zh-CN" sz="1100" dirty="0">
                <a:solidFill>
                  <a:sysClr val="windowText" lastClr="000000"/>
                </a:solidFill>
                <a:latin typeface="Montserrat" panose="00000500000000000000" pitchFamily="2" charset="0"/>
                <a:ea typeface="微软雅黑 Light" panose="020B0502040204020203" pitchFamily="34" charset="-122"/>
              </a:rPr>
              <a:t>DHCP </a:t>
            </a:r>
            <a:r>
              <a:rPr lang="zh-CN" altLang="en-US" sz="1100" dirty="0">
                <a:solidFill>
                  <a:sysClr val="windowText" lastClr="000000"/>
                </a:solidFill>
                <a:latin typeface="Montserrat" panose="00000500000000000000" pitchFamily="2" charset="0"/>
                <a:ea typeface="微软雅黑 Light" panose="020B0502040204020203" pitchFamily="34" charset="-122"/>
              </a:rPr>
              <a:t>客户</a:t>
            </a:r>
          </a:p>
        </p:txBody>
      </p:sp>
      <p:sp>
        <p:nvSpPr>
          <p:cNvPr id="17" name="矩形 16"/>
          <p:cNvSpPr/>
          <p:nvPr/>
        </p:nvSpPr>
        <p:spPr>
          <a:xfrm>
            <a:off x="5970583" y="3837505"/>
            <a:ext cx="998486" cy="261610"/>
          </a:xfrm>
          <a:prstGeom prst="rect">
            <a:avLst/>
          </a:prstGeom>
          <a:noFill/>
          <a:ln w="9525">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1100" dirty="0">
                <a:solidFill>
                  <a:sysClr val="windowText" lastClr="000000"/>
                </a:solidFill>
                <a:latin typeface="Montserrat" panose="00000500000000000000" pitchFamily="2" charset="0"/>
                <a:ea typeface="微软雅黑 Light" panose="020B0502040204020203" pitchFamily="34" charset="-122"/>
              </a:rPr>
              <a:t>DHCP </a:t>
            </a:r>
            <a:r>
              <a:rPr lang="zh-CN" altLang="en-US" sz="1100" dirty="0">
                <a:solidFill>
                  <a:sysClr val="windowText" lastClr="000000"/>
                </a:solidFill>
                <a:latin typeface="Montserrat" panose="00000500000000000000" pitchFamily="2" charset="0"/>
                <a:ea typeface="微软雅黑 Light" panose="020B0502040204020203" pitchFamily="34" charset="-122"/>
              </a:rPr>
              <a:t>客户</a:t>
            </a:r>
          </a:p>
        </p:txBody>
      </p:sp>
      <p:sp>
        <p:nvSpPr>
          <p:cNvPr id="18" name="矩形 17"/>
          <p:cNvSpPr/>
          <p:nvPr/>
        </p:nvSpPr>
        <p:spPr>
          <a:xfrm>
            <a:off x="5550173" y="3863403"/>
            <a:ext cx="420410" cy="230832"/>
          </a:xfrm>
          <a:prstGeom prst="rect">
            <a:avLst/>
          </a:prstGeom>
          <a:solidFill>
            <a:srgbClr val="00CCFF"/>
          </a:solidFill>
          <a:ln>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900" dirty="0">
                <a:solidFill>
                  <a:schemeClr val="tx1"/>
                </a:solidFill>
                <a:latin typeface="Montserrat" panose="00000500000000000000" pitchFamily="2" charset="0"/>
                <a:ea typeface="微软雅黑 Light" panose="020B0502040204020203" pitchFamily="34" charset="-122"/>
              </a:rPr>
              <a:t>67</a:t>
            </a:r>
            <a:endParaRPr lang="zh-CN" altLang="en-US" sz="900" dirty="0">
              <a:solidFill>
                <a:schemeClr val="tx1"/>
              </a:solidFill>
              <a:latin typeface="Montserrat" panose="00000500000000000000" pitchFamily="2" charset="0"/>
              <a:ea typeface="微软雅黑 Light" panose="020B0502040204020203" pitchFamily="34" charset="-122"/>
            </a:endParaRPr>
          </a:p>
        </p:txBody>
      </p:sp>
      <p:sp>
        <p:nvSpPr>
          <p:cNvPr id="19" name="矩形 18"/>
          <p:cNvSpPr/>
          <p:nvPr/>
        </p:nvSpPr>
        <p:spPr>
          <a:xfrm>
            <a:off x="3044671" y="3863403"/>
            <a:ext cx="420410" cy="230832"/>
          </a:xfrm>
          <a:prstGeom prst="rect">
            <a:avLst/>
          </a:prstGeom>
          <a:solidFill>
            <a:srgbClr val="66FF66"/>
          </a:solidFill>
          <a:ln>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900" dirty="0">
                <a:solidFill>
                  <a:schemeClr val="tx1"/>
                </a:solidFill>
                <a:latin typeface="Montserrat" panose="00000500000000000000" pitchFamily="2" charset="0"/>
                <a:ea typeface="微软雅黑 Light" panose="020B0502040204020203" pitchFamily="34" charset="-122"/>
              </a:rPr>
              <a:t>68</a:t>
            </a:r>
            <a:endParaRPr lang="zh-CN" altLang="en-US" sz="900" dirty="0">
              <a:solidFill>
                <a:schemeClr val="tx1"/>
              </a:solidFill>
              <a:latin typeface="Montserrat" panose="00000500000000000000" pitchFamily="2" charset="0"/>
              <a:ea typeface="微软雅黑 Light" panose="020B0502040204020203" pitchFamily="34" charset="-122"/>
            </a:endParaRPr>
          </a:p>
        </p:txBody>
      </p:sp>
      <p:cxnSp>
        <p:nvCxnSpPr>
          <p:cNvPr id="21" name="直接箭头连接符 20"/>
          <p:cNvCxnSpPr>
            <a:stCxn id="15" idx="3"/>
            <a:endCxn id="14" idx="1"/>
          </p:cNvCxnSpPr>
          <p:nvPr/>
        </p:nvCxnSpPr>
        <p:spPr>
          <a:xfrm>
            <a:off x="3465081" y="3442790"/>
            <a:ext cx="2085092" cy="0"/>
          </a:xfrm>
          <a:prstGeom prst="straightConnector1">
            <a:avLst/>
          </a:prstGeom>
          <a:ln w="28575">
            <a:solidFill>
              <a:srgbClr val="0000FF"/>
            </a:solidFill>
            <a:tailEnd type="triangle" w="med" len="lg"/>
          </a:ln>
        </p:spPr>
        <p:style>
          <a:lnRef idx="1">
            <a:schemeClr val="accent1"/>
          </a:lnRef>
          <a:fillRef idx="0">
            <a:schemeClr val="accent1"/>
          </a:fillRef>
          <a:effectRef idx="0">
            <a:schemeClr val="accent1"/>
          </a:effectRef>
          <a:fontRef idx="minor">
            <a:schemeClr val="tx1"/>
          </a:fontRef>
        </p:style>
      </p:cxnSp>
      <p:sp>
        <p:nvSpPr>
          <p:cNvPr id="23" name="矩形 22"/>
          <p:cNvSpPr/>
          <p:nvPr/>
        </p:nvSpPr>
        <p:spPr>
          <a:xfrm>
            <a:off x="3980088" y="3306731"/>
            <a:ext cx="1032035" cy="261610"/>
          </a:xfrm>
          <a:prstGeom prst="rect">
            <a:avLst/>
          </a:prstGeom>
          <a:solidFill>
            <a:srgbClr val="00FF99"/>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1100" dirty="0">
                <a:solidFill>
                  <a:schemeClr val="tx1"/>
                </a:solidFill>
                <a:latin typeface="Montserrat" panose="00000500000000000000" pitchFamily="2" charset="0"/>
                <a:ea typeface="微软雅黑 Light" panose="020B0502040204020203" pitchFamily="34" charset="-122"/>
              </a:rPr>
              <a:t>REQ</a:t>
            </a:r>
            <a:endParaRPr lang="zh-CN" altLang="en-US" sz="1100" dirty="0">
              <a:solidFill>
                <a:schemeClr val="tx1"/>
              </a:solidFill>
              <a:latin typeface="Montserrat" panose="00000500000000000000" pitchFamily="2" charset="0"/>
              <a:ea typeface="微软雅黑 Light" panose="020B0502040204020203" pitchFamily="34" charset="-122"/>
            </a:endParaRPr>
          </a:p>
        </p:txBody>
      </p:sp>
      <p:cxnSp>
        <p:nvCxnSpPr>
          <p:cNvPr id="24" name="直接箭头连接符 23"/>
          <p:cNvCxnSpPr>
            <a:stCxn id="18" idx="1"/>
            <a:endCxn id="19" idx="3"/>
          </p:cNvCxnSpPr>
          <p:nvPr/>
        </p:nvCxnSpPr>
        <p:spPr>
          <a:xfrm flipH="1">
            <a:off x="3465081" y="3978819"/>
            <a:ext cx="2085092" cy="0"/>
          </a:xfrm>
          <a:prstGeom prst="straightConnector1">
            <a:avLst/>
          </a:prstGeom>
          <a:ln w="28575">
            <a:solidFill>
              <a:srgbClr val="CC00CC"/>
            </a:solidFill>
            <a:tailEnd type="triangle" w="med" len="lg"/>
          </a:ln>
        </p:spPr>
        <p:style>
          <a:lnRef idx="1">
            <a:schemeClr val="accent1"/>
          </a:lnRef>
          <a:fillRef idx="0">
            <a:schemeClr val="accent1"/>
          </a:fillRef>
          <a:effectRef idx="0">
            <a:schemeClr val="accent1"/>
          </a:effectRef>
          <a:fontRef idx="minor">
            <a:schemeClr val="tx1"/>
          </a:fontRef>
        </p:style>
      </p:cxnSp>
      <p:sp>
        <p:nvSpPr>
          <p:cNvPr id="25" name="矩形 24"/>
          <p:cNvSpPr/>
          <p:nvPr/>
        </p:nvSpPr>
        <p:spPr>
          <a:xfrm flipH="1">
            <a:off x="3980088" y="3842760"/>
            <a:ext cx="1032035" cy="261610"/>
          </a:xfrm>
          <a:prstGeom prst="rect">
            <a:avLst/>
          </a:prstGeom>
          <a:solidFill>
            <a:srgbClr val="66FFFF"/>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1100" dirty="0">
                <a:solidFill>
                  <a:schemeClr val="tx1"/>
                </a:solidFill>
                <a:latin typeface="Montserrat" panose="00000500000000000000" pitchFamily="2" charset="0"/>
                <a:ea typeface="微软雅黑 Light" panose="020B0502040204020203" pitchFamily="34" charset="-122"/>
              </a:rPr>
              <a:t>RES</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30" name="矩形 29"/>
          <p:cNvSpPr/>
          <p:nvPr/>
        </p:nvSpPr>
        <p:spPr>
          <a:xfrm>
            <a:off x="5379045" y="2554149"/>
            <a:ext cx="748923" cy="246221"/>
          </a:xfrm>
          <a:prstGeom prst="rect">
            <a:avLst/>
          </a:prstGeom>
          <a:noFill/>
          <a:ln>
            <a:noFill/>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ctr"/>
            <a:r>
              <a:rPr lang="zh-CN" altLang="en-US" sz="1000" dirty="0">
                <a:latin typeface="Montserrat" panose="00000500000000000000" pitchFamily="2" charset="0"/>
                <a:ea typeface="微软雅黑 Light" panose="020B0502040204020203" pitchFamily="34" charset="-122"/>
              </a:rPr>
              <a:t>被动打开</a:t>
            </a:r>
          </a:p>
        </p:txBody>
      </p:sp>
      <p:sp>
        <p:nvSpPr>
          <p:cNvPr id="31" name="矩形 30"/>
          <p:cNvSpPr/>
          <p:nvPr/>
        </p:nvSpPr>
        <p:spPr>
          <a:xfrm>
            <a:off x="5410824" y="2977168"/>
            <a:ext cx="748923" cy="246221"/>
          </a:xfrm>
          <a:prstGeom prst="rect">
            <a:avLst/>
          </a:prstGeom>
          <a:noFill/>
          <a:ln>
            <a:noFill/>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ctr"/>
            <a:r>
              <a:rPr lang="en-US" altLang="zh-CN" sz="1000" dirty="0">
                <a:latin typeface="Montserrat" panose="00000500000000000000" pitchFamily="2" charset="0"/>
                <a:ea typeface="微软雅黑 Light" panose="020B0502040204020203" pitchFamily="34" charset="-122"/>
              </a:rPr>
              <a:t>UDP</a:t>
            </a:r>
            <a:endParaRPr lang="zh-CN" altLang="en-US" sz="1000" dirty="0">
              <a:latin typeface="Montserrat" panose="00000500000000000000" pitchFamily="2" charset="0"/>
              <a:ea typeface="微软雅黑 Light" panose="020B0502040204020203" pitchFamily="34" charset="-122"/>
            </a:endParaRPr>
          </a:p>
        </p:txBody>
      </p:sp>
      <p:sp>
        <p:nvSpPr>
          <p:cNvPr id="32" name="矩形 31"/>
          <p:cNvSpPr/>
          <p:nvPr/>
        </p:nvSpPr>
        <p:spPr>
          <a:xfrm>
            <a:off x="2905037" y="3092030"/>
            <a:ext cx="748923" cy="246221"/>
          </a:xfrm>
          <a:prstGeom prst="rect">
            <a:avLst/>
          </a:prstGeom>
          <a:noFill/>
          <a:ln>
            <a:noFill/>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ctr"/>
            <a:r>
              <a:rPr lang="zh-CN" altLang="en-US" sz="1000" dirty="0">
                <a:latin typeface="Montserrat" panose="00000500000000000000" pitchFamily="2" charset="0"/>
                <a:ea typeface="微软雅黑 Light" panose="020B0502040204020203" pitchFamily="34" charset="-122"/>
              </a:rPr>
              <a:t>主动打开</a:t>
            </a:r>
          </a:p>
        </p:txBody>
      </p:sp>
      <p:sp>
        <p:nvSpPr>
          <p:cNvPr id="33" name="矩形 32"/>
          <p:cNvSpPr/>
          <p:nvPr/>
        </p:nvSpPr>
        <p:spPr>
          <a:xfrm>
            <a:off x="2908041" y="3519053"/>
            <a:ext cx="748923" cy="246221"/>
          </a:xfrm>
          <a:prstGeom prst="rect">
            <a:avLst/>
          </a:prstGeom>
          <a:noFill/>
          <a:ln>
            <a:noFill/>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ctr"/>
            <a:r>
              <a:rPr lang="en-US" altLang="zh-CN" sz="1000" dirty="0">
                <a:latin typeface="Montserrat" panose="00000500000000000000" pitchFamily="2" charset="0"/>
                <a:ea typeface="微软雅黑 Light" panose="020B0502040204020203" pitchFamily="34" charset="-122"/>
              </a:rPr>
              <a:t>UDP</a:t>
            </a:r>
            <a:endParaRPr lang="zh-CN" altLang="en-US" sz="10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77411663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9F566039-915E-DCD7-ADC7-0A5A536D46AB}"/>
              </a:ext>
            </a:extLst>
          </p:cNvPr>
          <p:cNvSpPr>
            <a:spLocks noGrp="1"/>
          </p:cNvSpPr>
          <p:nvPr>
            <p:ph type="title"/>
          </p:nvPr>
        </p:nvSpPr>
        <p:spPr>
          <a:xfrm>
            <a:off x="485999" y="174482"/>
            <a:ext cx="8171999" cy="338554"/>
          </a:xfrm>
        </p:spPr>
        <p:txBody>
          <a:bodyPr/>
          <a:lstStyle/>
          <a:p>
            <a:r>
              <a:rPr lang="en-US" altLang="zh-CN" dirty="0"/>
              <a:t>DHCP </a:t>
            </a:r>
            <a:r>
              <a:rPr lang="zh-CN" altLang="en-US" dirty="0"/>
              <a:t>工作方式</a:t>
            </a:r>
          </a:p>
        </p:txBody>
      </p:sp>
      <p:sp>
        <p:nvSpPr>
          <p:cNvPr id="8" name="内容占位符 7">
            <a:extLst>
              <a:ext uri="{FF2B5EF4-FFF2-40B4-BE49-F238E27FC236}">
                <a16:creationId xmlns:a16="http://schemas.microsoft.com/office/drawing/2014/main" id="{880B68C6-2121-787E-9E2C-4A384ED2835F}"/>
              </a:ext>
            </a:extLst>
          </p:cNvPr>
          <p:cNvSpPr>
            <a:spLocks noGrp="1"/>
          </p:cNvSpPr>
          <p:nvPr>
            <p:ph sz="quarter" idx="11"/>
          </p:nvPr>
        </p:nvSpPr>
        <p:spPr>
          <a:xfrm>
            <a:off x="486000" y="687518"/>
            <a:ext cx="8172000" cy="4079035"/>
          </a:xfrm>
        </p:spPr>
        <p:txBody>
          <a:bodyPr/>
          <a:lstStyle/>
          <a:p>
            <a:r>
              <a:rPr lang="zh-CN" altLang="en-US" dirty="0"/>
              <a:t>需要 </a:t>
            </a:r>
            <a:r>
              <a:rPr lang="en-US" altLang="zh-CN" dirty="0"/>
              <a:t>IP </a:t>
            </a:r>
            <a:r>
              <a:rPr lang="zh-CN" altLang="en-US" dirty="0"/>
              <a:t>地址的主机向 </a:t>
            </a:r>
            <a:r>
              <a:rPr lang="en-US" altLang="zh-CN" dirty="0"/>
              <a:t>DHCP </a:t>
            </a:r>
            <a:r>
              <a:rPr lang="zh-CN" altLang="en-US" dirty="0"/>
              <a:t>服务器广播发送发现报文 </a:t>
            </a:r>
            <a:r>
              <a:rPr lang="en-US" altLang="zh-CN" dirty="0"/>
              <a:t>DHCP DISCOVER </a:t>
            </a:r>
            <a:endParaRPr lang="zh-CN" altLang="en-US" dirty="0"/>
          </a:p>
          <a:p>
            <a:endParaRPr lang="zh-CN" altLang="en-US" dirty="0"/>
          </a:p>
        </p:txBody>
      </p:sp>
      <p:grpSp>
        <p:nvGrpSpPr>
          <p:cNvPr id="6" name="组合 5">
            <a:extLst>
              <a:ext uri="{FF2B5EF4-FFF2-40B4-BE49-F238E27FC236}">
                <a16:creationId xmlns:a16="http://schemas.microsoft.com/office/drawing/2014/main" id="{0FC0C875-78DA-5EAE-C93A-638D1F297A4E}"/>
              </a:ext>
            </a:extLst>
          </p:cNvPr>
          <p:cNvGrpSpPr/>
          <p:nvPr/>
        </p:nvGrpSpPr>
        <p:grpSpPr>
          <a:xfrm>
            <a:off x="872193" y="2131929"/>
            <a:ext cx="7399615" cy="2224755"/>
            <a:chOff x="819222" y="1203018"/>
            <a:chExt cx="7399615" cy="2224755"/>
          </a:xfrm>
        </p:grpSpPr>
        <p:sp>
          <p:nvSpPr>
            <p:cNvPr id="22" name="弧形 21"/>
            <p:cNvSpPr/>
            <p:nvPr/>
          </p:nvSpPr>
          <p:spPr>
            <a:xfrm>
              <a:off x="3766248" y="1942283"/>
              <a:ext cx="1066208" cy="941014"/>
            </a:xfrm>
            <a:prstGeom prst="arc">
              <a:avLst>
                <a:gd name="adj1" fmla="val 16200000"/>
                <a:gd name="adj2" fmla="val 21266938"/>
              </a:avLst>
            </a:prstGeom>
            <a:ln w="28575">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b="1" dirty="0">
                <a:latin typeface="Montserrat" panose="00000500000000000000" pitchFamily="2" charset="0"/>
                <a:ea typeface="微软雅黑 Light" panose="020B0502040204020203" pitchFamily="34" charset="-122"/>
              </a:endParaRPr>
            </a:p>
          </p:txBody>
        </p:sp>
        <p:sp>
          <p:nvSpPr>
            <p:cNvPr id="100" name="弧形 99"/>
            <p:cNvSpPr/>
            <p:nvPr/>
          </p:nvSpPr>
          <p:spPr>
            <a:xfrm>
              <a:off x="4613181" y="1942283"/>
              <a:ext cx="1066208" cy="941014"/>
            </a:xfrm>
            <a:prstGeom prst="arc">
              <a:avLst>
                <a:gd name="adj1" fmla="val 16200000"/>
                <a:gd name="adj2" fmla="val 21266938"/>
              </a:avLst>
            </a:prstGeom>
            <a:ln w="28575">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b="1" dirty="0">
                <a:latin typeface="Montserrat" panose="00000500000000000000" pitchFamily="2" charset="0"/>
                <a:ea typeface="微软雅黑 Light" panose="020B0502040204020203" pitchFamily="34" charset="-122"/>
              </a:endParaRPr>
            </a:p>
          </p:txBody>
        </p:sp>
        <p:sp>
          <p:nvSpPr>
            <p:cNvPr id="101" name="弧形 100"/>
            <p:cNvSpPr/>
            <p:nvPr/>
          </p:nvSpPr>
          <p:spPr>
            <a:xfrm>
              <a:off x="5430600" y="1942283"/>
              <a:ext cx="1066208" cy="941014"/>
            </a:xfrm>
            <a:prstGeom prst="arc">
              <a:avLst>
                <a:gd name="adj1" fmla="val 16200000"/>
                <a:gd name="adj2" fmla="val 21266938"/>
              </a:avLst>
            </a:prstGeom>
            <a:ln w="28575">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b="1" dirty="0">
                <a:latin typeface="Montserrat" panose="00000500000000000000" pitchFamily="2" charset="0"/>
                <a:ea typeface="微软雅黑 Light" panose="020B0502040204020203" pitchFamily="34" charset="-122"/>
              </a:endParaRPr>
            </a:p>
          </p:txBody>
        </p:sp>
        <p:cxnSp>
          <p:nvCxnSpPr>
            <p:cNvPr id="7" name="直接箭头连接符 6"/>
            <p:cNvCxnSpPr>
              <a:cxnSpLocks/>
            </p:cNvCxnSpPr>
            <p:nvPr/>
          </p:nvCxnSpPr>
          <p:spPr>
            <a:xfrm>
              <a:off x="1690236" y="1942283"/>
              <a:ext cx="5619324" cy="0"/>
            </a:xfrm>
            <a:prstGeom prst="straightConnector1">
              <a:avLst/>
            </a:prstGeom>
            <a:ln w="28575">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60" name="Rectangle 33"/>
            <p:cNvSpPr>
              <a:spLocks noChangeArrowheads="1"/>
            </p:cNvSpPr>
            <p:nvPr/>
          </p:nvSpPr>
          <p:spPr bwMode="auto">
            <a:xfrm>
              <a:off x="2428999" y="1480618"/>
              <a:ext cx="1930337" cy="461665"/>
            </a:xfrm>
            <a:prstGeom prst="rect">
              <a:avLst/>
            </a:prstGeom>
            <a:noFill/>
            <a:ln w="9525">
              <a:noFill/>
              <a:miter lim="800000"/>
              <a:headEnd/>
              <a:tailEnd/>
            </a:ln>
            <a:effectLst/>
          </p:spPr>
          <p:txBody>
            <a:bodyPr wrap="none" anchor="ctr">
              <a:spAutoFit/>
            </a:bodyPr>
            <a:lstStyle/>
            <a:p>
              <a:pPr algn="just"/>
              <a:r>
                <a:rPr kumimoji="1" lang="en-US" altLang="zh-CN" sz="1200" b="1" dirty="0">
                  <a:solidFill>
                    <a:sysClr val="windowText" lastClr="000000"/>
                  </a:solidFill>
                  <a:latin typeface="微软雅黑 Light" panose="020B0502040204020203" pitchFamily="34" charset="-122"/>
                  <a:ea typeface="微软雅黑 Light" panose="020B0502040204020203" pitchFamily="34" charset="-122"/>
                </a:rPr>
                <a:t>DHCP DISCOVER </a:t>
              </a:r>
            </a:p>
            <a:p>
              <a:pPr algn="just"/>
              <a:r>
                <a:rPr kumimoji="1" lang="zh-CN" altLang="en-US" sz="1200" b="1" dirty="0">
                  <a:solidFill>
                    <a:sysClr val="windowText" lastClr="000000"/>
                  </a:solidFill>
                  <a:latin typeface="微软雅黑 Light" panose="020B0502040204020203" pitchFamily="34" charset="-122"/>
                  <a:ea typeface="微软雅黑 Light" panose="020B0502040204020203" pitchFamily="34" charset="-122"/>
                </a:rPr>
                <a:t>发送到：</a:t>
              </a:r>
              <a:r>
                <a:rPr kumimoji="1" lang="en-US" altLang="zh-CN" sz="1200" b="1" dirty="0">
                  <a:solidFill>
                    <a:sysClr val="windowText" lastClr="000000"/>
                  </a:solidFill>
                  <a:latin typeface="微软雅黑 Light" panose="020B0502040204020203" pitchFamily="34" charset="-122"/>
                  <a:ea typeface="微软雅黑 Light" panose="020B0502040204020203" pitchFamily="34" charset="-122"/>
                </a:rPr>
                <a:t>255.255.255.255</a:t>
              </a:r>
            </a:p>
          </p:txBody>
        </p:sp>
        <p:sp>
          <p:nvSpPr>
            <p:cNvPr id="35" name="Line 5"/>
            <p:cNvSpPr>
              <a:spLocks noChangeShapeType="1"/>
            </p:cNvSpPr>
            <p:nvPr/>
          </p:nvSpPr>
          <p:spPr bwMode="auto">
            <a:xfrm>
              <a:off x="4937556" y="2489671"/>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7" name="Text Box 8"/>
            <p:cNvSpPr txBox="1">
              <a:spLocks noChangeArrowheads="1"/>
            </p:cNvSpPr>
            <p:nvPr/>
          </p:nvSpPr>
          <p:spPr bwMode="auto">
            <a:xfrm>
              <a:off x="819222" y="1230287"/>
              <a:ext cx="170003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Client</a:t>
              </a:r>
              <a:r>
                <a:rPr kumimoji="1" lang="zh-CN" altLang="en-US" sz="1200" b="1" dirty="0">
                  <a:latin typeface="微软雅黑 Light" panose="020B0502040204020203" pitchFamily="34" charset="-122"/>
                  <a:ea typeface="微软雅黑 Light" panose="020B0502040204020203" pitchFamily="34" charset="-122"/>
                </a:rPr>
                <a:t> </a:t>
              </a:r>
              <a:r>
                <a:rPr kumimoji="1" lang="en-US" altLang="zh-CN" sz="1200" b="1" dirty="0">
                  <a:latin typeface="微软雅黑 Light" panose="020B0502040204020203" pitchFamily="34" charset="-122"/>
                  <a:ea typeface="微软雅黑 Light" panose="020B0502040204020203" pitchFamily="34" charset="-122"/>
                </a:rPr>
                <a:t>A</a:t>
              </a:r>
            </a:p>
            <a:p>
              <a:pPr algn="ctr"/>
              <a:r>
                <a:rPr kumimoji="1" lang="en-US" altLang="zh-CN" sz="1200" b="1" dirty="0">
                  <a:latin typeface="微软雅黑 Light" panose="020B0502040204020203" pitchFamily="34" charset="-122"/>
                  <a:ea typeface="微软雅黑 Light" panose="020B0502040204020203" pitchFamily="34" charset="-122"/>
                </a:rPr>
                <a:t>00:a0:24:71:e4:44</a:t>
              </a:r>
              <a:endParaRPr kumimoji="1" lang="zh-CN" altLang="en-US" sz="1200" b="1" dirty="0">
                <a:latin typeface="微软雅黑 Light" panose="020B0502040204020203" pitchFamily="34" charset="-122"/>
                <a:ea typeface="微软雅黑 Light" panose="020B0502040204020203" pitchFamily="34" charset="-122"/>
              </a:endParaRPr>
            </a:p>
          </p:txBody>
        </p:sp>
        <p:sp>
          <p:nvSpPr>
            <p:cNvPr id="38" name="Text Box 9"/>
            <p:cNvSpPr txBox="1">
              <a:spLocks noChangeArrowheads="1"/>
            </p:cNvSpPr>
            <p:nvPr/>
          </p:nvSpPr>
          <p:spPr bwMode="auto">
            <a:xfrm>
              <a:off x="6875698" y="1203018"/>
              <a:ext cx="13431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Server</a:t>
              </a:r>
              <a:endParaRPr kumimoji="1" lang="zh-CN" altLang="en-US" sz="1400" b="1" dirty="0">
                <a:latin typeface="微软雅黑 Light" panose="020B0502040204020203" pitchFamily="34" charset="-122"/>
                <a:ea typeface="微软雅黑 Light" panose="020B0502040204020203" pitchFamily="34" charset="-122"/>
              </a:endParaRPr>
            </a:p>
          </p:txBody>
        </p:sp>
        <p:sp>
          <p:nvSpPr>
            <p:cNvPr id="51" name="Line 22"/>
            <p:cNvSpPr>
              <a:spLocks noChangeShapeType="1"/>
            </p:cNvSpPr>
            <p:nvPr/>
          </p:nvSpPr>
          <p:spPr bwMode="auto">
            <a:xfrm>
              <a:off x="1198175" y="2473236"/>
              <a:ext cx="6421817" cy="0"/>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2" name="Line 23"/>
            <p:cNvSpPr>
              <a:spLocks noChangeShapeType="1"/>
            </p:cNvSpPr>
            <p:nvPr/>
          </p:nvSpPr>
          <p:spPr bwMode="auto">
            <a:xfrm>
              <a:off x="1630353" y="2176210"/>
              <a:ext cx="0" cy="31346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8" name="Text Box 34"/>
            <p:cNvSpPr txBox="1">
              <a:spLocks noChangeArrowheads="1"/>
            </p:cNvSpPr>
            <p:nvPr/>
          </p:nvSpPr>
          <p:spPr bwMode="auto">
            <a:xfrm>
              <a:off x="5339174" y="1622278"/>
              <a:ext cx="544351" cy="3075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广播</a:t>
              </a:r>
            </a:p>
          </p:txBody>
        </p:sp>
        <p:pic>
          <p:nvPicPr>
            <p:cNvPr id="69"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665981" y="2746730"/>
              <a:ext cx="565891" cy="565892"/>
            </a:xfrm>
            <a:prstGeom prst="rect">
              <a:avLst/>
            </a:prstGeom>
            <a:noFill/>
            <a:extLst>
              <a:ext uri="{909E8E84-426E-40DD-AFC4-6F175D3DCCD1}">
                <a14:hiddenFill xmlns:a14="http://schemas.microsoft.com/office/drawing/2010/main">
                  <a:solidFill>
                    <a:srgbClr val="FFFFFF"/>
                  </a:solidFill>
                </a14:hiddenFill>
              </a:ext>
            </a:extLst>
          </p:spPr>
        </p:pic>
        <p:sp>
          <p:nvSpPr>
            <p:cNvPr id="71" name="Line 24"/>
            <p:cNvSpPr>
              <a:spLocks noChangeShapeType="1"/>
            </p:cNvSpPr>
            <p:nvPr/>
          </p:nvSpPr>
          <p:spPr bwMode="auto">
            <a:xfrm>
              <a:off x="7609482" y="2159436"/>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2" name="Line 5"/>
            <p:cNvSpPr>
              <a:spLocks noChangeShapeType="1"/>
            </p:cNvSpPr>
            <p:nvPr/>
          </p:nvSpPr>
          <p:spPr bwMode="auto">
            <a:xfrm>
              <a:off x="5784490" y="2489671"/>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4" name="Line 5"/>
            <p:cNvSpPr>
              <a:spLocks noChangeShapeType="1"/>
            </p:cNvSpPr>
            <p:nvPr/>
          </p:nvSpPr>
          <p:spPr bwMode="auto">
            <a:xfrm>
              <a:off x="6628050" y="2489671"/>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76" name="Group 50"/>
            <p:cNvGrpSpPr>
              <a:grpSpLocks noChangeAspect="1"/>
            </p:cNvGrpSpPr>
            <p:nvPr/>
          </p:nvGrpSpPr>
          <p:grpSpPr bwMode="auto">
            <a:xfrm>
              <a:off x="5545250" y="2693555"/>
              <a:ext cx="478479" cy="734218"/>
              <a:chOff x="3104" y="1028"/>
              <a:chExt cx="406" cy="623"/>
            </a:xfrm>
          </p:grpSpPr>
          <p:sp>
            <p:nvSpPr>
              <p:cNvPr id="77" name="AutoShape 51"/>
              <p:cNvSpPr>
                <a:spLocks noChangeAspect="1" noChangeArrowheads="1" noTextEdit="1"/>
              </p:cNvSpPr>
              <p:nvPr/>
            </p:nvSpPr>
            <p:spPr bwMode="auto">
              <a:xfrm>
                <a:off x="3104" y="1028"/>
                <a:ext cx="406" cy="6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78" name="Freeform 52"/>
              <p:cNvSpPr>
                <a:spLocks/>
              </p:cNvSpPr>
              <p:nvPr/>
            </p:nvSpPr>
            <p:spPr bwMode="auto">
              <a:xfrm>
                <a:off x="3104" y="1028"/>
                <a:ext cx="406" cy="623"/>
              </a:xfrm>
              <a:custGeom>
                <a:avLst/>
                <a:gdLst>
                  <a:gd name="T0" fmla="*/ 406 w 10555"/>
                  <a:gd name="T1" fmla="*/ 0 h 16198"/>
                  <a:gd name="T2" fmla="*/ 406 w 10555"/>
                  <a:gd name="T3" fmla="*/ 579 h 16198"/>
                  <a:gd name="T4" fmla="*/ 336 w 10555"/>
                  <a:gd name="T5" fmla="*/ 623 h 16198"/>
                  <a:gd name="T6" fmla="*/ 0 w 10555"/>
                  <a:gd name="T7" fmla="*/ 623 h 16198"/>
                  <a:gd name="T8" fmla="*/ 0 w 10555"/>
                  <a:gd name="T9" fmla="*/ 45 h 16198"/>
                  <a:gd name="T10" fmla="*/ 70 w 10555"/>
                  <a:gd name="T11" fmla="*/ 0 h 16198"/>
                  <a:gd name="T12" fmla="*/ 406 w 10555"/>
                  <a:gd name="T13" fmla="*/ 0 h 16198"/>
                  <a:gd name="T14" fmla="*/ 406 w 10555"/>
                  <a:gd name="T15" fmla="*/ 0 h 16198"/>
                  <a:gd name="T16" fmla="*/ 406 w 10555"/>
                  <a:gd name="T17" fmla="*/ 0 h 1619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5" h="16198">
                    <a:moveTo>
                      <a:pt x="10555" y="0"/>
                    </a:moveTo>
                    <a:lnTo>
                      <a:pt x="10555" y="15043"/>
                    </a:lnTo>
                    <a:lnTo>
                      <a:pt x="8741" y="16198"/>
                    </a:lnTo>
                    <a:lnTo>
                      <a:pt x="0" y="16198"/>
                    </a:lnTo>
                    <a:lnTo>
                      <a:pt x="0" y="1157"/>
                    </a:lnTo>
                    <a:lnTo>
                      <a:pt x="1812" y="0"/>
                    </a:lnTo>
                    <a:lnTo>
                      <a:pt x="10555" y="0"/>
                    </a:lnTo>
                    <a:close/>
                  </a:path>
                </a:pathLst>
              </a:custGeom>
              <a:solidFill>
                <a:srgbClr val="7FA6C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79" name="Rectangle 53"/>
              <p:cNvSpPr>
                <a:spLocks noChangeArrowheads="1"/>
              </p:cNvSpPr>
              <p:nvPr/>
            </p:nvSpPr>
            <p:spPr bwMode="auto">
              <a:xfrm>
                <a:off x="3104" y="1073"/>
                <a:ext cx="336" cy="578"/>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80" name="Freeform 54"/>
              <p:cNvSpPr>
                <a:spLocks/>
              </p:cNvSpPr>
              <p:nvPr/>
            </p:nvSpPr>
            <p:spPr bwMode="auto">
              <a:xfrm>
                <a:off x="3440" y="1028"/>
                <a:ext cx="70" cy="623"/>
              </a:xfrm>
              <a:custGeom>
                <a:avLst/>
                <a:gdLst>
                  <a:gd name="T0" fmla="*/ 70 w 1814"/>
                  <a:gd name="T1" fmla="*/ 0 h 16198"/>
                  <a:gd name="T2" fmla="*/ 0 w 1814"/>
                  <a:gd name="T3" fmla="*/ 45 h 16198"/>
                  <a:gd name="T4" fmla="*/ 0 w 1814"/>
                  <a:gd name="T5" fmla="*/ 623 h 16198"/>
                  <a:gd name="T6" fmla="*/ 70 w 1814"/>
                  <a:gd name="T7" fmla="*/ 579 h 16198"/>
                  <a:gd name="T8" fmla="*/ 70 w 1814"/>
                  <a:gd name="T9" fmla="*/ 0 h 1619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14" h="16198">
                    <a:moveTo>
                      <a:pt x="1814" y="0"/>
                    </a:moveTo>
                    <a:lnTo>
                      <a:pt x="0" y="1157"/>
                    </a:lnTo>
                    <a:lnTo>
                      <a:pt x="0" y="16198"/>
                    </a:lnTo>
                    <a:lnTo>
                      <a:pt x="1814" y="15043"/>
                    </a:lnTo>
                    <a:lnTo>
                      <a:pt x="1814" y="0"/>
                    </a:lnTo>
                    <a:close/>
                  </a:path>
                </a:pathLst>
              </a:custGeom>
              <a:solidFill>
                <a:srgbClr val="0066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81" name="Freeform 55"/>
              <p:cNvSpPr>
                <a:spLocks/>
              </p:cNvSpPr>
              <p:nvPr/>
            </p:nvSpPr>
            <p:spPr bwMode="auto">
              <a:xfrm>
                <a:off x="3104" y="1028"/>
                <a:ext cx="406" cy="45"/>
              </a:xfrm>
              <a:custGeom>
                <a:avLst/>
                <a:gdLst>
                  <a:gd name="T0" fmla="*/ 0 w 10555"/>
                  <a:gd name="T1" fmla="*/ 45 h 1157"/>
                  <a:gd name="T2" fmla="*/ 336 w 10555"/>
                  <a:gd name="T3" fmla="*/ 45 h 1157"/>
                  <a:gd name="T4" fmla="*/ 406 w 10555"/>
                  <a:gd name="T5" fmla="*/ 0 h 1157"/>
                  <a:gd name="T6" fmla="*/ 70 w 10555"/>
                  <a:gd name="T7" fmla="*/ 0 h 1157"/>
                  <a:gd name="T8" fmla="*/ 0 w 10555"/>
                  <a:gd name="T9" fmla="*/ 45 h 11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555" h="1157">
                    <a:moveTo>
                      <a:pt x="0" y="1157"/>
                    </a:moveTo>
                    <a:lnTo>
                      <a:pt x="8741" y="1157"/>
                    </a:lnTo>
                    <a:lnTo>
                      <a:pt x="10555" y="0"/>
                    </a:lnTo>
                    <a:lnTo>
                      <a:pt x="1812" y="0"/>
                    </a:lnTo>
                    <a:lnTo>
                      <a:pt x="0" y="1157"/>
                    </a:lnTo>
                    <a:close/>
                  </a:path>
                </a:pathLst>
              </a:custGeom>
              <a:solidFill>
                <a:srgbClr val="3399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82" name="Rectangle 56"/>
              <p:cNvSpPr>
                <a:spLocks noChangeArrowheads="1"/>
              </p:cNvSpPr>
              <p:nvPr/>
            </p:nvSpPr>
            <p:spPr bwMode="auto">
              <a:xfrm>
                <a:off x="3104" y="1268"/>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83" name="Rectangle 57"/>
              <p:cNvSpPr>
                <a:spLocks noChangeArrowheads="1"/>
              </p:cNvSpPr>
              <p:nvPr/>
            </p:nvSpPr>
            <p:spPr bwMode="auto">
              <a:xfrm>
                <a:off x="3104" y="1294"/>
                <a:ext cx="336" cy="25"/>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84" name="Rectangle 58"/>
              <p:cNvSpPr>
                <a:spLocks noChangeArrowheads="1"/>
              </p:cNvSpPr>
              <p:nvPr/>
            </p:nvSpPr>
            <p:spPr bwMode="auto">
              <a:xfrm>
                <a:off x="3104" y="1151"/>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85" name="Rectangle 59"/>
              <p:cNvSpPr>
                <a:spLocks noChangeArrowheads="1"/>
              </p:cNvSpPr>
              <p:nvPr/>
            </p:nvSpPr>
            <p:spPr bwMode="auto">
              <a:xfrm>
                <a:off x="3104" y="1176"/>
                <a:ext cx="336" cy="26"/>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grpSp>
        <p:grpSp>
          <p:nvGrpSpPr>
            <p:cNvPr id="88" name="Group 50"/>
            <p:cNvGrpSpPr>
              <a:grpSpLocks noChangeAspect="1"/>
            </p:cNvGrpSpPr>
            <p:nvPr/>
          </p:nvGrpSpPr>
          <p:grpSpPr bwMode="auto">
            <a:xfrm>
              <a:off x="6388810" y="2693555"/>
              <a:ext cx="478479" cy="734218"/>
              <a:chOff x="3104" y="1028"/>
              <a:chExt cx="406" cy="623"/>
            </a:xfrm>
          </p:grpSpPr>
          <p:sp>
            <p:nvSpPr>
              <p:cNvPr id="89" name="AutoShape 51"/>
              <p:cNvSpPr>
                <a:spLocks noChangeAspect="1" noChangeArrowheads="1" noTextEdit="1"/>
              </p:cNvSpPr>
              <p:nvPr/>
            </p:nvSpPr>
            <p:spPr bwMode="auto">
              <a:xfrm>
                <a:off x="3104" y="1028"/>
                <a:ext cx="406" cy="6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90" name="Freeform 52"/>
              <p:cNvSpPr>
                <a:spLocks/>
              </p:cNvSpPr>
              <p:nvPr/>
            </p:nvSpPr>
            <p:spPr bwMode="auto">
              <a:xfrm>
                <a:off x="3104" y="1028"/>
                <a:ext cx="406" cy="623"/>
              </a:xfrm>
              <a:custGeom>
                <a:avLst/>
                <a:gdLst>
                  <a:gd name="T0" fmla="*/ 406 w 10555"/>
                  <a:gd name="T1" fmla="*/ 0 h 16198"/>
                  <a:gd name="T2" fmla="*/ 406 w 10555"/>
                  <a:gd name="T3" fmla="*/ 579 h 16198"/>
                  <a:gd name="T4" fmla="*/ 336 w 10555"/>
                  <a:gd name="T5" fmla="*/ 623 h 16198"/>
                  <a:gd name="T6" fmla="*/ 0 w 10555"/>
                  <a:gd name="T7" fmla="*/ 623 h 16198"/>
                  <a:gd name="T8" fmla="*/ 0 w 10555"/>
                  <a:gd name="T9" fmla="*/ 45 h 16198"/>
                  <a:gd name="T10" fmla="*/ 70 w 10555"/>
                  <a:gd name="T11" fmla="*/ 0 h 16198"/>
                  <a:gd name="T12" fmla="*/ 406 w 10555"/>
                  <a:gd name="T13" fmla="*/ 0 h 16198"/>
                  <a:gd name="T14" fmla="*/ 406 w 10555"/>
                  <a:gd name="T15" fmla="*/ 0 h 16198"/>
                  <a:gd name="T16" fmla="*/ 406 w 10555"/>
                  <a:gd name="T17" fmla="*/ 0 h 1619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5" h="16198">
                    <a:moveTo>
                      <a:pt x="10555" y="0"/>
                    </a:moveTo>
                    <a:lnTo>
                      <a:pt x="10555" y="15043"/>
                    </a:lnTo>
                    <a:lnTo>
                      <a:pt x="8741" y="16198"/>
                    </a:lnTo>
                    <a:lnTo>
                      <a:pt x="0" y="16198"/>
                    </a:lnTo>
                    <a:lnTo>
                      <a:pt x="0" y="1157"/>
                    </a:lnTo>
                    <a:lnTo>
                      <a:pt x="1812" y="0"/>
                    </a:lnTo>
                    <a:lnTo>
                      <a:pt x="10555" y="0"/>
                    </a:lnTo>
                    <a:close/>
                  </a:path>
                </a:pathLst>
              </a:custGeom>
              <a:solidFill>
                <a:srgbClr val="7FA6C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91" name="Rectangle 53"/>
              <p:cNvSpPr>
                <a:spLocks noChangeArrowheads="1"/>
              </p:cNvSpPr>
              <p:nvPr/>
            </p:nvSpPr>
            <p:spPr bwMode="auto">
              <a:xfrm>
                <a:off x="3104" y="1073"/>
                <a:ext cx="336" cy="578"/>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92" name="Freeform 54"/>
              <p:cNvSpPr>
                <a:spLocks/>
              </p:cNvSpPr>
              <p:nvPr/>
            </p:nvSpPr>
            <p:spPr bwMode="auto">
              <a:xfrm>
                <a:off x="3440" y="1028"/>
                <a:ext cx="70" cy="623"/>
              </a:xfrm>
              <a:custGeom>
                <a:avLst/>
                <a:gdLst>
                  <a:gd name="T0" fmla="*/ 70 w 1814"/>
                  <a:gd name="T1" fmla="*/ 0 h 16198"/>
                  <a:gd name="T2" fmla="*/ 0 w 1814"/>
                  <a:gd name="T3" fmla="*/ 45 h 16198"/>
                  <a:gd name="T4" fmla="*/ 0 w 1814"/>
                  <a:gd name="T5" fmla="*/ 623 h 16198"/>
                  <a:gd name="T6" fmla="*/ 70 w 1814"/>
                  <a:gd name="T7" fmla="*/ 579 h 16198"/>
                  <a:gd name="T8" fmla="*/ 70 w 1814"/>
                  <a:gd name="T9" fmla="*/ 0 h 1619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14" h="16198">
                    <a:moveTo>
                      <a:pt x="1814" y="0"/>
                    </a:moveTo>
                    <a:lnTo>
                      <a:pt x="0" y="1157"/>
                    </a:lnTo>
                    <a:lnTo>
                      <a:pt x="0" y="16198"/>
                    </a:lnTo>
                    <a:lnTo>
                      <a:pt x="1814" y="15043"/>
                    </a:lnTo>
                    <a:lnTo>
                      <a:pt x="1814" y="0"/>
                    </a:lnTo>
                    <a:close/>
                  </a:path>
                </a:pathLst>
              </a:custGeom>
              <a:solidFill>
                <a:srgbClr val="0066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93" name="Freeform 55"/>
              <p:cNvSpPr>
                <a:spLocks/>
              </p:cNvSpPr>
              <p:nvPr/>
            </p:nvSpPr>
            <p:spPr bwMode="auto">
              <a:xfrm>
                <a:off x="3104" y="1028"/>
                <a:ext cx="406" cy="45"/>
              </a:xfrm>
              <a:custGeom>
                <a:avLst/>
                <a:gdLst>
                  <a:gd name="T0" fmla="*/ 0 w 10555"/>
                  <a:gd name="T1" fmla="*/ 45 h 1157"/>
                  <a:gd name="T2" fmla="*/ 336 w 10555"/>
                  <a:gd name="T3" fmla="*/ 45 h 1157"/>
                  <a:gd name="T4" fmla="*/ 406 w 10555"/>
                  <a:gd name="T5" fmla="*/ 0 h 1157"/>
                  <a:gd name="T6" fmla="*/ 70 w 10555"/>
                  <a:gd name="T7" fmla="*/ 0 h 1157"/>
                  <a:gd name="T8" fmla="*/ 0 w 10555"/>
                  <a:gd name="T9" fmla="*/ 45 h 11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555" h="1157">
                    <a:moveTo>
                      <a:pt x="0" y="1157"/>
                    </a:moveTo>
                    <a:lnTo>
                      <a:pt x="8741" y="1157"/>
                    </a:lnTo>
                    <a:lnTo>
                      <a:pt x="10555" y="0"/>
                    </a:lnTo>
                    <a:lnTo>
                      <a:pt x="1812" y="0"/>
                    </a:lnTo>
                    <a:lnTo>
                      <a:pt x="0" y="1157"/>
                    </a:lnTo>
                    <a:close/>
                  </a:path>
                </a:pathLst>
              </a:custGeom>
              <a:solidFill>
                <a:srgbClr val="3399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94" name="Rectangle 56"/>
              <p:cNvSpPr>
                <a:spLocks noChangeArrowheads="1"/>
              </p:cNvSpPr>
              <p:nvPr/>
            </p:nvSpPr>
            <p:spPr bwMode="auto">
              <a:xfrm>
                <a:off x="3104" y="1268"/>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95" name="Rectangle 57"/>
              <p:cNvSpPr>
                <a:spLocks noChangeArrowheads="1"/>
              </p:cNvSpPr>
              <p:nvPr/>
            </p:nvSpPr>
            <p:spPr bwMode="auto">
              <a:xfrm>
                <a:off x="3104" y="1294"/>
                <a:ext cx="336" cy="25"/>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96" name="Rectangle 58"/>
              <p:cNvSpPr>
                <a:spLocks noChangeArrowheads="1"/>
              </p:cNvSpPr>
              <p:nvPr/>
            </p:nvSpPr>
            <p:spPr bwMode="auto">
              <a:xfrm>
                <a:off x="3104" y="1151"/>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97" name="Rectangle 59"/>
              <p:cNvSpPr>
                <a:spLocks noChangeArrowheads="1"/>
              </p:cNvSpPr>
              <p:nvPr/>
            </p:nvSpPr>
            <p:spPr bwMode="auto">
              <a:xfrm>
                <a:off x="3104" y="1176"/>
                <a:ext cx="336" cy="26"/>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grpSp>
        <p:pic>
          <p:nvPicPr>
            <p:cNvPr id="70"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345055" y="1659337"/>
              <a:ext cx="565891" cy="565892"/>
            </a:xfrm>
            <a:prstGeom prst="rect">
              <a:avLst/>
            </a:prstGeom>
            <a:noFill/>
            <a:extLst>
              <a:ext uri="{909E8E84-426E-40DD-AFC4-6F175D3DCCD1}">
                <a14:hiddenFill xmlns:a14="http://schemas.microsoft.com/office/drawing/2010/main">
                  <a:solidFill>
                    <a:srgbClr val="FFFFFF"/>
                  </a:solidFill>
                </a14:hiddenFill>
              </a:ext>
            </a:extLst>
          </p:spPr>
        </p:pic>
        <p:pic>
          <p:nvPicPr>
            <p:cNvPr id="67" name="图片 6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309560" y="1459714"/>
              <a:ext cx="582712" cy="815797"/>
            </a:xfrm>
            <a:prstGeom prst="rect">
              <a:avLst/>
            </a:prstGeom>
          </p:spPr>
        </p:pic>
      </p:grpSp>
    </p:spTree>
    <p:extLst>
      <p:ext uri="{BB962C8B-B14F-4D97-AF65-F5344CB8AC3E}">
        <p14:creationId xmlns:p14="http://schemas.microsoft.com/office/powerpoint/2010/main" val="33072344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260E287-EC43-DA56-DCF2-A467FFB5E58B}"/>
              </a:ext>
            </a:extLst>
          </p:cNvPr>
          <p:cNvSpPr>
            <a:spLocks noGrp="1"/>
          </p:cNvSpPr>
          <p:nvPr>
            <p:ph type="title"/>
          </p:nvPr>
        </p:nvSpPr>
        <p:spPr>
          <a:xfrm>
            <a:off x="485999" y="174482"/>
            <a:ext cx="8171999" cy="338554"/>
          </a:xfrm>
        </p:spPr>
        <p:txBody>
          <a:bodyPr/>
          <a:lstStyle/>
          <a:p>
            <a:r>
              <a:rPr lang="en-US" altLang="zh-CN" dirty="0"/>
              <a:t>DHCP </a:t>
            </a:r>
            <a:r>
              <a:rPr lang="zh-CN" altLang="en-US" dirty="0"/>
              <a:t>工作方式</a:t>
            </a:r>
          </a:p>
        </p:txBody>
      </p:sp>
      <p:sp>
        <p:nvSpPr>
          <p:cNvPr id="150" name="内容占位符 149">
            <a:extLst>
              <a:ext uri="{FF2B5EF4-FFF2-40B4-BE49-F238E27FC236}">
                <a16:creationId xmlns:a16="http://schemas.microsoft.com/office/drawing/2014/main" id="{E1900CCD-0AAD-979B-726C-8B906CB1B03A}"/>
              </a:ext>
            </a:extLst>
          </p:cNvPr>
          <p:cNvSpPr>
            <a:spLocks noGrp="1"/>
          </p:cNvSpPr>
          <p:nvPr>
            <p:ph sz="quarter" idx="11"/>
          </p:nvPr>
        </p:nvSpPr>
        <p:spPr>
          <a:xfrm>
            <a:off x="486000" y="687518"/>
            <a:ext cx="8172000" cy="4079035"/>
          </a:xfrm>
        </p:spPr>
        <p:txBody>
          <a:bodyPr/>
          <a:lstStyle/>
          <a:p>
            <a:r>
              <a:rPr lang="en-US" altLang="zh-CN" dirty="0"/>
              <a:t>DHCP </a:t>
            </a:r>
            <a:r>
              <a:rPr lang="zh-CN" altLang="en-US" dirty="0"/>
              <a:t>服务器单播回答提供报文 </a:t>
            </a:r>
            <a:r>
              <a:rPr lang="en-US" altLang="zh-CN" dirty="0"/>
              <a:t>DHCP OFFER</a:t>
            </a:r>
            <a:r>
              <a:rPr lang="zh-CN" altLang="en-US" dirty="0"/>
              <a:t>，提供 </a:t>
            </a:r>
            <a:r>
              <a:rPr lang="en-US" altLang="zh-CN" dirty="0"/>
              <a:t>IP </a:t>
            </a:r>
            <a:r>
              <a:rPr lang="zh-CN" altLang="en-US" dirty="0"/>
              <a:t>地址等配置信息</a:t>
            </a:r>
          </a:p>
          <a:p>
            <a:endParaRPr lang="zh-CN" altLang="en-US" dirty="0"/>
          </a:p>
        </p:txBody>
      </p:sp>
      <p:grpSp>
        <p:nvGrpSpPr>
          <p:cNvPr id="111" name="组合 110">
            <a:extLst>
              <a:ext uri="{FF2B5EF4-FFF2-40B4-BE49-F238E27FC236}">
                <a16:creationId xmlns:a16="http://schemas.microsoft.com/office/drawing/2014/main" id="{E5A15E4C-AC4F-B1AF-3736-AF5FE79BBD66}"/>
              </a:ext>
            </a:extLst>
          </p:cNvPr>
          <p:cNvGrpSpPr/>
          <p:nvPr/>
        </p:nvGrpSpPr>
        <p:grpSpPr>
          <a:xfrm>
            <a:off x="872193" y="2040197"/>
            <a:ext cx="7399615" cy="2316487"/>
            <a:chOff x="819222" y="1111286"/>
            <a:chExt cx="7399615" cy="2316487"/>
          </a:xfrm>
        </p:grpSpPr>
        <p:cxnSp>
          <p:nvCxnSpPr>
            <p:cNvPr id="7" name="直接箭头连接符 6"/>
            <p:cNvCxnSpPr>
              <a:cxnSpLocks/>
            </p:cNvCxnSpPr>
            <p:nvPr/>
          </p:nvCxnSpPr>
          <p:spPr>
            <a:xfrm>
              <a:off x="1910946" y="1942283"/>
              <a:ext cx="5398614" cy="0"/>
            </a:xfrm>
            <a:prstGeom prst="straightConnector1">
              <a:avLst/>
            </a:prstGeom>
            <a:ln w="28575">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60" name="Rectangle 33"/>
            <p:cNvSpPr>
              <a:spLocks noChangeArrowheads="1"/>
            </p:cNvSpPr>
            <p:nvPr/>
          </p:nvSpPr>
          <p:spPr bwMode="auto">
            <a:xfrm>
              <a:off x="3967809" y="1111286"/>
              <a:ext cx="2140330" cy="830997"/>
            </a:xfrm>
            <a:prstGeom prst="rect">
              <a:avLst/>
            </a:prstGeom>
            <a:noFill/>
            <a:ln w="9525">
              <a:noFill/>
              <a:miter lim="800000"/>
              <a:headEnd/>
              <a:tailEnd/>
            </a:ln>
            <a:effectLst/>
          </p:spPr>
          <p:txBody>
            <a:bodyPr wrap="none" anchor="ctr">
              <a:spAutoFit/>
            </a:bodyPr>
            <a:lstStyle/>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DHCP OFFER </a:t>
              </a:r>
            </a:p>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IP address: 10.12.18.112 </a:t>
              </a:r>
            </a:p>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Default gateway: 10.12.18.1</a:t>
              </a:r>
            </a:p>
            <a:p>
              <a:r>
                <a:rPr kumimoji="1" lang="en-US" altLang="zh-CN" sz="1200" dirty="0" err="1">
                  <a:solidFill>
                    <a:sysClr val="windowText" lastClr="000000"/>
                  </a:solidFill>
                  <a:latin typeface="Montserrat" panose="00000500000000000000" pitchFamily="2" charset="0"/>
                  <a:ea typeface="微软雅黑 Light" panose="020B0502040204020203" pitchFamily="34" charset="-122"/>
                </a:rPr>
                <a:t>Netmask</a:t>
              </a:r>
              <a:r>
                <a:rPr kumimoji="1" lang="en-US" altLang="zh-CN" sz="1200" dirty="0">
                  <a:solidFill>
                    <a:sysClr val="windowText" lastClr="000000"/>
                  </a:solidFill>
                  <a:latin typeface="Montserrat" panose="00000500000000000000" pitchFamily="2" charset="0"/>
                  <a:ea typeface="微软雅黑 Light" panose="020B0502040204020203" pitchFamily="34" charset="-122"/>
                </a:rPr>
                <a:t>: 255.255.0.0</a:t>
              </a:r>
            </a:p>
          </p:txBody>
        </p:sp>
        <p:sp>
          <p:nvSpPr>
            <p:cNvPr id="44" name="Line 5">
              <a:extLst>
                <a:ext uri="{FF2B5EF4-FFF2-40B4-BE49-F238E27FC236}">
                  <a16:creationId xmlns:a16="http://schemas.microsoft.com/office/drawing/2014/main" id="{9A59F1CC-D7D8-5DC5-296A-BB03D2E36AC2}"/>
                </a:ext>
              </a:extLst>
            </p:cNvPr>
            <p:cNvSpPr>
              <a:spLocks noChangeShapeType="1"/>
            </p:cNvSpPr>
            <p:nvPr/>
          </p:nvSpPr>
          <p:spPr bwMode="auto">
            <a:xfrm>
              <a:off x="4937556" y="2489671"/>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5" name="Text Box 8">
              <a:extLst>
                <a:ext uri="{FF2B5EF4-FFF2-40B4-BE49-F238E27FC236}">
                  <a16:creationId xmlns:a16="http://schemas.microsoft.com/office/drawing/2014/main" id="{5E622F4D-4CA7-D2AE-C959-C4421EC4C50F}"/>
                </a:ext>
              </a:extLst>
            </p:cNvPr>
            <p:cNvSpPr txBox="1">
              <a:spLocks noChangeArrowheads="1"/>
            </p:cNvSpPr>
            <p:nvPr/>
          </p:nvSpPr>
          <p:spPr bwMode="auto">
            <a:xfrm>
              <a:off x="819222" y="1230287"/>
              <a:ext cx="170003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Client</a:t>
              </a:r>
              <a:r>
                <a:rPr kumimoji="1" lang="zh-CN" altLang="en-US" sz="1200" b="1" dirty="0">
                  <a:latin typeface="微软雅黑 Light" panose="020B0502040204020203" pitchFamily="34" charset="-122"/>
                  <a:ea typeface="微软雅黑 Light" panose="020B0502040204020203" pitchFamily="34" charset="-122"/>
                </a:rPr>
                <a:t> </a:t>
              </a:r>
              <a:r>
                <a:rPr kumimoji="1" lang="en-US" altLang="zh-CN" sz="1200" b="1" dirty="0">
                  <a:latin typeface="微软雅黑 Light" panose="020B0502040204020203" pitchFamily="34" charset="-122"/>
                  <a:ea typeface="微软雅黑 Light" panose="020B0502040204020203" pitchFamily="34" charset="-122"/>
                </a:rPr>
                <a:t>A</a:t>
              </a:r>
            </a:p>
            <a:p>
              <a:pPr algn="ctr"/>
              <a:r>
                <a:rPr kumimoji="1" lang="en-US" altLang="zh-CN" sz="1200" b="1" dirty="0">
                  <a:latin typeface="微软雅黑 Light" panose="020B0502040204020203" pitchFamily="34" charset="-122"/>
                  <a:ea typeface="微软雅黑 Light" panose="020B0502040204020203" pitchFamily="34" charset="-122"/>
                </a:rPr>
                <a:t>00:a0:24:71:e4:44</a:t>
              </a:r>
              <a:endParaRPr kumimoji="1" lang="zh-CN" altLang="en-US" sz="1200" b="1" dirty="0">
                <a:latin typeface="微软雅黑 Light" panose="020B0502040204020203" pitchFamily="34" charset="-122"/>
                <a:ea typeface="微软雅黑 Light" panose="020B0502040204020203" pitchFamily="34" charset="-122"/>
              </a:endParaRPr>
            </a:p>
          </p:txBody>
        </p:sp>
        <p:sp>
          <p:nvSpPr>
            <p:cNvPr id="46" name="Text Box 9">
              <a:extLst>
                <a:ext uri="{FF2B5EF4-FFF2-40B4-BE49-F238E27FC236}">
                  <a16:creationId xmlns:a16="http://schemas.microsoft.com/office/drawing/2014/main" id="{F68710C3-FC53-A60C-BF2F-0C5EA197281C}"/>
                </a:ext>
              </a:extLst>
            </p:cNvPr>
            <p:cNvSpPr txBox="1">
              <a:spLocks noChangeArrowheads="1"/>
            </p:cNvSpPr>
            <p:nvPr/>
          </p:nvSpPr>
          <p:spPr bwMode="auto">
            <a:xfrm>
              <a:off x="6875698" y="1203018"/>
              <a:ext cx="13431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Server</a:t>
              </a:r>
              <a:endParaRPr kumimoji="1" lang="zh-CN" altLang="en-US" sz="1400" b="1" dirty="0">
                <a:latin typeface="微软雅黑 Light" panose="020B0502040204020203" pitchFamily="34" charset="-122"/>
                <a:ea typeface="微软雅黑 Light" panose="020B0502040204020203" pitchFamily="34" charset="-122"/>
              </a:endParaRPr>
            </a:p>
          </p:txBody>
        </p:sp>
        <p:sp>
          <p:nvSpPr>
            <p:cNvPr id="47" name="Line 22">
              <a:extLst>
                <a:ext uri="{FF2B5EF4-FFF2-40B4-BE49-F238E27FC236}">
                  <a16:creationId xmlns:a16="http://schemas.microsoft.com/office/drawing/2014/main" id="{E75CEFE7-B163-EBAE-B027-779CAA611ED5}"/>
                </a:ext>
              </a:extLst>
            </p:cNvPr>
            <p:cNvSpPr>
              <a:spLocks noChangeShapeType="1"/>
            </p:cNvSpPr>
            <p:nvPr/>
          </p:nvSpPr>
          <p:spPr bwMode="auto">
            <a:xfrm>
              <a:off x="1198175" y="2473236"/>
              <a:ext cx="6421817" cy="0"/>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8" name="Line 23">
              <a:extLst>
                <a:ext uri="{FF2B5EF4-FFF2-40B4-BE49-F238E27FC236}">
                  <a16:creationId xmlns:a16="http://schemas.microsoft.com/office/drawing/2014/main" id="{A7243AE0-799A-28DA-E3B2-F044EB3812A2}"/>
                </a:ext>
              </a:extLst>
            </p:cNvPr>
            <p:cNvSpPr>
              <a:spLocks noChangeShapeType="1"/>
            </p:cNvSpPr>
            <p:nvPr/>
          </p:nvSpPr>
          <p:spPr bwMode="auto">
            <a:xfrm>
              <a:off x="1630353" y="2176210"/>
              <a:ext cx="0" cy="31346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pic>
          <p:nvPicPr>
            <p:cNvPr id="49" name="Picture 197" descr="jisuanji">
              <a:extLst>
                <a:ext uri="{FF2B5EF4-FFF2-40B4-BE49-F238E27FC236}">
                  <a16:creationId xmlns:a16="http://schemas.microsoft.com/office/drawing/2014/main" id="{5ED6F1C6-8B71-649B-5EE6-BCF66CD1C70F}"/>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665981" y="2746730"/>
              <a:ext cx="565891" cy="565892"/>
            </a:xfrm>
            <a:prstGeom prst="rect">
              <a:avLst/>
            </a:prstGeom>
            <a:noFill/>
            <a:extLst>
              <a:ext uri="{909E8E84-426E-40DD-AFC4-6F175D3DCCD1}">
                <a14:hiddenFill xmlns:a14="http://schemas.microsoft.com/office/drawing/2010/main">
                  <a:solidFill>
                    <a:srgbClr val="FFFFFF"/>
                  </a:solidFill>
                </a14:hiddenFill>
              </a:ext>
            </a:extLst>
          </p:spPr>
        </p:pic>
        <p:sp>
          <p:nvSpPr>
            <p:cNvPr id="50" name="Line 24">
              <a:extLst>
                <a:ext uri="{FF2B5EF4-FFF2-40B4-BE49-F238E27FC236}">
                  <a16:creationId xmlns:a16="http://schemas.microsoft.com/office/drawing/2014/main" id="{CBDE6430-9D8C-41E7-2273-F5F814B22F2F}"/>
                </a:ext>
              </a:extLst>
            </p:cNvPr>
            <p:cNvSpPr>
              <a:spLocks noChangeShapeType="1"/>
            </p:cNvSpPr>
            <p:nvPr/>
          </p:nvSpPr>
          <p:spPr bwMode="auto">
            <a:xfrm>
              <a:off x="7609482" y="2159436"/>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3" name="Line 5">
              <a:extLst>
                <a:ext uri="{FF2B5EF4-FFF2-40B4-BE49-F238E27FC236}">
                  <a16:creationId xmlns:a16="http://schemas.microsoft.com/office/drawing/2014/main" id="{3B3EFAB1-2141-E69E-1664-02A19C027C49}"/>
                </a:ext>
              </a:extLst>
            </p:cNvPr>
            <p:cNvSpPr>
              <a:spLocks noChangeShapeType="1"/>
            </p:cNvSpPr>
            <p:nvPr/>
          </p:nvSpPr>
          <p:spPr bwMode="auto">
            <a:xfrm>
              <a:off x="5784490" y="2489671"/>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4" name="Line 5">
              <a:extLst>
                <a:ext uri="{FF2B5EF4-FFF2-40B4-BE49-F238E27FC236}">
                  <a16:creationId xmlns:a16="http://schemas.microsoft.com/office/drawing/2014/main" id="{654F3FA6-B792-CC5A-A763-3FDE3E4D20AF}"/>
                </a:ext>
              </a:extLst>
            </p:cNvPr>
            <p:cNvSpPr>
              <a:spLocks noChangeShapeType="1"/>
            </p:cNvSpPr>
            <p:nvPr/>
          </p:nvSpPr>
          <p:spPr bwMode="auto">
            <a:xfrm>
              <a:off x="6628050" y="2489671"/>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55" name="Group 50">
              <a:extLst>
                <a:ext uri="{FF2B5EF4-FFF2-40B4-BE49-F238E27FC236}">
                  <a16:creationId xmlns:a16="http://schemas.microsoft.com/office/drawing/2014/main" id="{F92C7DD9-6B89-7605-0BB7-12DEED27CE1D}"/>
                </a:ext>
              </a:extLst>
            </p:cNvPr>
            <p:cNvGrpSpPr>
              <a:grpSpLocks noChangeAspect="1"/>
            </p:cNvGrpSpPr>
            <p:nvPr/>
          </p:nvGrpSpPr>
          <p:grpSpPr bwMode="auto">
            <a:xfrm>
              <a:off x="5545250" y="2693555"/>
              <a:ext cx="478479" cy="734218"/>
              <a:chOff x="3104" y="1028"/>
              <a:chExt cx="406" cy="623"/>
            </a:xfrm>
          </p:grpSpPr>
          <p:sp>
            <p:nvSpPr>
              <p:cNvPr id="56" name="AutoShape 51">
                <a:extLst>
                  <a:ext uri="{FF2B5EF4-FFF2-40B4-BE49-F238E27FC236}">
                    <a16:creationId xmlns:a16="http://schemas.microsoft.com/office/drawing/2014/main" id="{17DB6A96-FB31-18D9-FBFE-80C3AC907F56}"/>
                  </a:ext>
                </a:extLst>
              </p:cNvPr>
              <p:cNvSpPr>
                <a:spLocks noChangeAspect="1" noChangeArrowheads="1" noTextEdit="1"/>
              </p:cNvSpPr>
              <p:nvPr/>
            </p:nvSpPr>
            <p:spPr bwMode="auto">
              <a:xfrm>
                <a:off x="3104" y="1028"/>
                <a:ext cx="406" cy="6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57" name="Freeform 52">
                <a:extLst>
                  <a:ext uri="{FF2B5EF4-FFF2-40B4-BE49-F238E27FC236}">
                    <a16:creationId xmlns:a16="http://schemas.microsoft.com/office/drawing/2014/main" id="{C472CA2C-68F1-B836-857A-BC8979B2EF1B}"/>
                  </a:ext>
                </a:extLst>
              </p:cNvPr>
              <p:cNvSpPr>
                <a:spLocks/>
              </p:cNvSpPr>
              <p:nvPr/>
            </p:nvSpPr>
            <p:spPr bwMode="auto">
              <a:xfrm>
                <a:off x="3104" y="1028"/>
                <a:ext cx="406" cy="623"/>
              </a:xfrm>
              <a:custGeom>
                <a:avLst/>
                <a:gdLst>
                  <a:gd name="T0" fmla="*/ 406 w 10555"/>
                  <a:gd name="T1" fmla="*/ 0 h 16198"/>
                  <a:gd name="T2" fmla="*/ 406 w 10555"/>
                  <a:gd name="T3" fmla="*/ 579 h 16198"/>
                  <a:gd name="T4" fmla="*/ 336 w 10555"/>
                  <a:gd name="T5" fmla="*/ 623 h 16198"/>
                  <a:gd name="T6" fmla="*/ 0 w 10555"/>
                  <a:gd name="T7" fmla="*/ 623 h 16198"/>
                  <a:gd name="T8" fmla="*/ 0 w 10555"/>
                  <a:gd name="T9" fmla="*/ 45 h 16198"/>
                  <a:gd name="T10" fmla="*/ 70 w 10555"/>
                  <a:gd name="T11" fmla="*/ 0 h 16198"/>
                  <a:gd name="T12" fmla="*/ 406 w 10555"/>
                  <a:gd name="T13" fmla="*/ 0 h 16198"/>
                  <a:gd name="T14" fmla="*/ 406 w 10555"/>
                  <a:gd name="T15" fmla="*/ 0 h 16198"/>
                  <a:gd name="T16" fmla="*/ 406 w 10555"/>
                  <a:gd name="T17" fmla="*/ 0 h 1619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5" h="16198">
                    <a:moveTo>
                      <a:pt x="10555" y="0"/>
                    </a:moveTo>
                    <a:lnTo>
                      <a:pt x="10555" y="15043"/>
                    </a:lnTo>
                    <a:lnTo>
                      <a:pt x="8741" y="16198"/>
                    </a:lnTo>
                    <a:lnTo>
                      <a:pt x="0" y="16198"/>
                    </a:lnTo>
                    <a:lnTo>
                      <a:pt x="0" y="1157"/>
                    </a:lnTo>
                    <a:lnTo>
                      <a:pt x="1812" y="0"/>
                    </a:lnTo>
                    <a:lnTo>
                      <a:pt x="10555" y="0"/>
                    </a:lnTo>
                    <a:close/>
                  </a:path>
                </a:pathLst>
              </a:custGeom>
              <a:solidFill>
                <a:srgbClr val="7FA6C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59" name="Rectangle 53">
                <a:extLst>
                  <a:ext uri="{FF2B5EF4-FFF2-40B4-BE49-F238E27FC236}">
                    <a16:creationId xmlns:a16="http://schemas.microsoft.com/office/drawing/2014/main" id="{75B8BC76-A461-1BE1-E6F7-002F929BA958}"/>
                  </a:ext>
                </a:extLst>
              </p:cNvPr>
              <p:cNvSpPr>
                <a:spLocks noChangeArrowheads="1"/>
              </p:cNvSpPr>
              <p:nvPr/>
            </p:nvSpPr>
            <p:spPr bwMode="auto">
              <a:xfrm>
                <a:off x="3104" y="1073"/>
                <a:ext cx="336" cy="578"/>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61" name="Freeform 54">
                <a:extLst>
                  <a:ext uri="{FF2B5EF4-FFF2-40B4-BE49-F238E27FC236}">
                    <a16:creationId xmlns:a16="http://schemas.microsoft.com/office/drawing/2014/main" id="{F5B98F55-66FF-6AFA-61E2-334A2C2E58BB}"/>
                  </a:ext>
                </a:extLst>
              </p:cNvPr>
              <p:cNvSpPr>
                <a:spLocks/>
              </p:cNvSpPr>
              <p:nvPr/>
            </p:nvSpPr>
            <p:spPr bwMode="auto">
              <a:xfrm>
                <a:off x="3440" y="1028"/>
                <a:ext cx="70" cy="623"/>
              </a:xfrm>
              <a:custGeom>
                <a:avLst/>
                <a:gdLst>
                  <a:gd name="T0" fmla="*/ 70 w 1814"/>
                  <a:gd name="T1" fmla="*/ 0 h 16198"/>
                  <a:gd name="T2" fmla="*/ 0 w 1814"/>
                  <a:gd name="T3" fmla="*/ 45 h 16198"/>
                  <a:gd name="T4" fmla="*/ 0 w 1814"/>
                  <a:gd name="T5" fmla="*/ 623 h 16198"/>
                  <a:gd name="T6" fmla="*/ 70 w 1814"/>
                  <a:gd name="T7" fmla="*/ 579 h 16198"/>
                  <a:gd name="T8" fmla="*/ 70 w 1814"/>
                  <a:gd name="T9" fmla="*/ 0 h 1619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14" h="16198">
                    <a:moveTo>
                      <a:pt x="1814" y="0"/>
                    </a:moveTo>
                    <a:lnTo>
                      <a:pt x="0" y="1157"/>
                    </a:lnTo>
                    <a:lnTo>
                      <a:pt x="0" y="16198"/>
                    </a:lnTo>
                    <a:lnTo>
                      <a:pt x="1814" y="15043"/>
                    </a:lnTo>
                    <a:lnTo>
                      <a:pt x="1814" y="0"/>
                    </a:lnTo>
                    <a:close/>
                  </a:path>
                </a:pathLst>
              </a:custGeom>
              <a:solidFill>
                <a:srgbClr val="0066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62" name="Freeform 55">
                <a:extLst>
                  <a:ext uri="{FF2B5EF4-FFF2-40B4-BE49-F238E27FC236}">
                    <a16:creationId xmlns:a16="http://schemas.microsoft.com/office/drawing/2014/main" id="{E7B9BBB3-1C06-C692-F12C-6D0F480A68F5}"/>
                  </a:ext>
                </a:extLst>
              </p:cNvPr>
              <p:cNvSpPr>
                <a:spLocks/>
              </p:cNvSpPr>
              <p:nvPr/>
            </p:nvSpPr>
            <p:spPr bwMode="auto">
              <a:xfrm>
                <a:off x="3104" y="1028"/>
                <a:ext cx="406" cy="45"/>
              </a:xfrm>
              <a:custGeom>
                <a:avLst/>
                <a:gdLst>
                  <a:gd name="T0" fmla="*/ 0 w 10555"/>
                  <a:gd name="T1" fmla="*/ 45 h 1157"/>
                  <a:gd name="T2" fmla="*/ 336 w 10555"/>
                  <a:gd name="T3" fmla="*/ 45 h 1157"/>
                  <a:gd name="T4" fmla="*/ 406 w 10555"/>
                  <a:gd name="T5" fmla="*/ 0 h 1157"/>
                  <a:gd name="T6" fmla="*/ 70 w 10555"/>
                  <a:gd name="T7" fmla="*/ 0 h 1157"/>
                  <a:gd name="T8" fmla="*/ 0 w 10555"/>
                  <a:gd name="T9" fmla="*/ 45 h 11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555" h="1157">
                    <a:moveTo>
                      <a:pt x="0" y="1157"/>
                    </a:moveTo>
                    <a:lnTo>
                      <a:pt x="8741" y="1157"/>
                    </a:lnTo>
                    <a:lnTo>
                      <a:pt x="10555" y="0"/>
                    </a:lnTo>
                    <a:lnTo>
                      <a:pt x="1812" y="0"/>
                    </a:lnTo>
                    <a:lnTo>
                      <a:pt x="0" y="1157"/>
                    </a:lnTo>
                    <a:close/>
                  </a:path>
                </a:pathLst>
              </a:custGeom>
              <a:solidFill>
                <a:srgbClr val="3399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63" name="Rectangle 56">
                <a:extLst>
                  <a:ext uri="{FF2B5EF4-FFF2-40B4-BE49-F238E27FC236}">
                    <a16:creationId xmlns:a16="http://schemas.microsoft.com/office/drawing/2014/main" id="{006CCEE4-FFD3-D60A-0406-3154D1AE1FCA}"/>
                  </a:ext>
                </a:extLst>
              </p:cNvPr>
              <p:cNvSpPr>
                <a:spLocks noChangeArrowheads="1"/>
              </p:cNvSpPr>
              <p:nvPr/>
            </p:nvSpPr>
            <p:spPr bwMode="auto">
              <a:xfrm>
                <a:off x="3104" y="1268"/>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64" name="Rectangle 57">
                <a:extLst>
                  <a:ext uri="{FF2B5EF4-FFF2-40B4-BE49-F238E27FC236}">
                    <a16:creationId xmlns:a16="http://schemas.microsoft.com/office/drawing/2014/main" id="{8ED9BBF2-96AB-2A29-B2D0-A4496E68EF8D}"/>
                  </a:ext>
                </a:extLst>
              </p:cNvPr>
              <p:cNvSpPr>
                <a:spLocks noChangeArrowheads="1"/>
              </p:cNvSpPr>
              <p:nvPr/>
            </p:nvSpPr>
            <p:spPr bwMode="auto">
              <a:xfrm>
                <a:off x="3104" y="1294"/>
                <a:ext cx="336" cy="25"/>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65" name="Rectangle 58">
                <a:extLst>
                  <a:ext uri="{FF2B5EF4-FFF2-40B4-BE49-F238E27FC236}">
                    <a16:creationId xmlns:a16="http://schemas.microsoft.com/office/drawing/2014/main" id="{F3F1E05F-9E2B-70A3-64F9-AEC6C10D4BE8}"/>
                  </a:ext>
                </a:extLst>
              </p:cNvPr>
              <p:cNvSpPr>
                <a:spLocks noChangeArrowheads="1"/>
              </p:cNvSpPr>
              <p:nvPr/>
            </p:nvSpPr>
            <p:spPr bwMode="auto">
              <a:xfrm>
                <a:off x="3104" y="1151"/>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68" name="Rectangle 59">
                <a:extLst>
                  <a:ext uri="{FF2B5EF4-FFF2-40B4-BE49-F238E27FC236}">
                    <a16:creationId xmlns:a16="http://schemas.microsoft.com/office/drawing/2014/main" id="{C308DFBA-2001-3D0B-23BA-8073C8627381}"/>
                  </a:ext>
                </a:extLst>
              </p:cNvPr>
              <p:cNvSpPr>
                <a:spLocks noChangeArrowheads="1"/>
              </p:cNvSpPr>
              <p:nvPr/>
            </p:nvSpPr>
            <p:spPr bwMode="auto">
              <a:xfrm>
                <a:off x="3104" y="1176"/>
                <a:ext cx="336" cy="26"/>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grpSp>
        <p:grpSp>
          <p:nvGrpSpPr>
            <p:cNvPr id="73" name="Group 50">
              <a:extLst>
                <a:ext uri="{FF2B5EF4-FFF2-40B4-BE49-F238E27FC236}">
                  <a16:creationId xmlns:a16="http://schemas.microsoft.com/office/drawing/2014/main" id="{48DF0D6E-F2CF-2262-80B7-046BBD348670}"/>
                </a:ext>
              </a:extLst>
            </p:cNvPr>
            <p:cNvGrpSpPr>
              <a:grpSpLocks noChangeAspect="1"/>
            </p:cNvGrpSpPr>
            <p:nvPr/>
          </p:nvGrpSpPr>
          <p:grpSpPr bwMode="auto">
            <a:xfrm>
              <a:off x="6388810" y="2693555"/>
              <a:ext cx="478479" cy="734218"/>
              <a:chOff x="3104" y="1028"/>
              <a:chExt cx="406" cy="623"/>
            </a:xfrm>
          </p:grpSpPr>
          <p:sp>
            <p:nvSpPr>
              <p:cNvPr id="75" name="AutoShape 51">
                <a:extLst>
                  <a:ext uri="{FF2B5EF4-FFF2-40B4-BE49-F238E27FC236}">
                    <a16:creationId xmlns:a16="http://schemas.microsoft.com/office/drawing/2014/main" id="{5C2D373C-0F73-D2D2-069D-1782F7338AB2}"/>
                  </a:ext>
                </a:extLst>
              </p:cNvPr>
              <p:cNvSpPr>
                <a:spLocks noChangeAspect="1" noChangeArrowheads="1" noTextEdit="1"/>
              </p:cNvSpPr>
              <p:nvPr/>
            </p:nvSpPr>
            <p:spPr bwMode="auto">
              <a:xfrm>
                <a:off x="3104" y="1028"/>
                <a:ext cx="406" cy="6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86" name="Freeform 52">
                <a:extLst>
                  <a:ext uri="{FF2B5EF4-FFF2-40B4-BE49-F238E27FC236}">
                    <a16:creationId xmlns:a16="http://schemas.microsoft.com/office/drawing/2014/main" id="{1A0227CA-E92A-26D5-9191-2954CA3A60BB}"/>
                  </a:ext>
                </a:extLst>
              </p:cNvPr>
              <p:cNvSpPr>
                <a:spLocks/>
              </p:cNvSpPr>
              <p:nvPr/>
            </p:nvSpPr>
            <p:spPr bwMode="auto">
              <a:xfrm>
                <a:off x="3104" y="1028"/>
                <a:ext cx="406" cy="623"/>
              </a:xfrm>
              <a:custGeom>
                <a:avLst/>
                <a:gdLst>
                  <a:gd name="T0" fmla="*/ 406 w 10555"/>
                  <a:gd name="T1" fmla="*/ 0 h 16198"/>
                  <a:gd name="T2" fmla="*/ 406 w 10555"/>
                  <a:gd name="T3" fmla="*/ 579 h 16198"/>
                  <a:gd name="T4" fmla="*/ 336 w 10555"/>
                  <a:gd name="T5" fmla="*/ 623 h 16198"/>
                  <a:gd name="T6" fmla="*/ 0 w 10555"/>
                  <a:gd name="T7" fmla="*/ 623 h 16198"/>
                  <a:gd name="T8" fmla="*/ 0 w 10555"/>
                  <a:gd name="T9" fmla="*/ 45 h 16198"/>
                  <a:gd name="T10" fmla="*/ 70 w 10555"/>
                  <a:gd name="T11" fmla="*/ 0 h 16198"/>
                  <a:gd name="T12" fmla="*/ 406 w 10555"/>
                  <a:gd name="T13" fmla="*/ 0 h 16198"/>
                  <a:gd name="T14" fmla="*/ 406 w 10555"/>
                  <a:gd name="T15" fmla="*/ 0 h 16198"/>
                  <a:gd name="T16" fmla="*/ 406 w 10555"/>
                  <a:gd name="T17" fmla="*/ 0 h 1619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5" h="16198">
                    <a:moveTo>
                      <a:pt x="10555" y="0"/>
                    </a:moveTo>
                    <a:lnTo>
                      <a:pt x="10555" y="15043"/>
                    </a:lnTo>
                    <a:lnTo>
                      <a:pt x="8741" y="16198"/>
                    </a:lnTo>
                    <a:lnTo>
                      <a:pt x="0" y="16198"/>
                    </a:lnTo>
                    <a:lnTo>
                      <a:pt x="0" y="1157"/>
                    </a:lnTo>
                    <a:lnTo>
                      <a:pt x="1812" y="0"/>
                    </a:lnTo>
                    <a:lnTo>
                      <a:pt x="10555" y="0"/>
                    </a:lnTo>
                    <a:close/>
                  </a:path>
                </a:pathLst>
              </a:custGeom>
              <a:solidFill>
                <a:srgbClr val="7FA6C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87" name="Rectangle 53">
                <a:extLst>
                  <a:ext uri="{FF2B5EF4-FFF2-40B4-BE49-F238E27FC236}">
                    <a16:creationId xmlns:a16="http://schemas.microsoft.com/office/drawing/2014/main" id="{A53E12CD-0B11-A238-44D5-3DEE948C2303}"/>
                  </a:ext>
                </a:extLst>
              </p:cNvPr>
              <p:cNvSpPr>
                <a:spLocks noChangeArrowheads="1"/>
              </p:cNvSpPr>
              <p:nvPr/>
            </p:nvSpPr>
            <p:spPr bwMode="auto">
              <a:xfrm>
                <a:off x="3104" y="1073"/>
                <a:ext cx="336" cy="578"/>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98" name="Freeform 54">
                <a:extLst>
                  <a:ext uri="{FF2B5EF4-FFF2-40B4-BE49-F238E27FC236}">
                    <a16:creationId xmlns:a16="http://schemas.microsoft.com/office/drawing/2014/main" id="{00031C9E-D563-DDCC-4808-36CED86D8EFA}"/>
                  </a:ext>
                </a:extLst>
              </p:cNvPr>
              <p:cNvSpPr>
                <a:spLocks/>
              </p:cNvSpPr>
              <p:nvPr/>
            </p:nvSpPr>
            <p:spPr bwMode="auto">
              <a:xfrm>
                <a:off x="3440" y="1028"/>
                <a:ext cx="70" cy="623"/>
              </a:xfrm>
              <a:custGeom>
                <a:avLst/>
                <a:gdLst>
                  <a:gd name="T0" fmla="*/ 70 w 1814"/>
                  <a:gd name="T1" fmla="*/ 0 h 16198"/>
                  <a:gd name="T2" fmla="*/ 0 w 1814"/>
                  <a:gd name="T3" fmla="*/ 45 h 16198"/>
                  <a:gd name="T4" fmla="*/ 0 w 1814"/>
                  <a:gd name="T5" fmla="*/ 623 h 16198"/>
                  <a:gd name="T6" fmla="*/ 70 w 1814"/>
                  <a:gd name="T7" fmla="*/ 579 h 16198"/>
                  <a:gd name="T8" fmla="*/ 70 w 1814"/>
                  <a:gd name="T9" fmla="*/ 0 h 1619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14" h="16198">
                    <a:moveTo>
                      <a:pt x="1814" y="0"/>
                    </a:moveTo>
                    <a:lnTo>
                      <a:pt x="0" y="1157"/>
                    </a:lnTo>
                    <a:lnTo>
                      <a:pt x="0" y="16198"/>
                    </a:lnTo>
                    <a:lnTo>
                      <a:pt x="1814" y="15043"/>
                    </a:lnTo>
                    <a:lnTo>
                      <a:pt x="1814" y="0"/>
                    </a:lnTo>
                    <a:close/>
                  </a:path>
                </a:pathLst>
              </a:custGeom>
              <a:solidFill>
                <a:srgbClr val="0066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99" name="Freeform 55">
                <a:extLst>
                  <a:ext uri="{FF2B5EF4-FFF2-40B4-BE49-F238E27FC236}">
                    <a16:creationId xmlns:a16="http://schemas.microsoft.com/office/drawing/2014/main" id="{FCC0D601-F06F-08DB-544D-C518EA89AF91}"/>
                  </a:ext>
                </a:extLst>
              </p:cNvPr>
              <p:cNvSpPr>
                <a:spLocks/>
              </p:cNvSpPr>
              <p:nvPr/>
            </p:nvSpPr>
            <p:spPr bwMode="auto">
              <a:xfrm>
                <a:off x="3104" y="1028"/>
                <a:ext cx="406" cy="45"/>
              </a:xfrm>
              <a:custGeom>
                <a:avLst/>
                <a:gdLst>
                  <a:gd name="T0" fmla="*/ 0 w 10555"/>
                  <a:gd name="T1" fmla="*/ 45 h 1157"/>
                  <a:gd name="T2" fmla="*/ 336 w 10555"/>
                  <a:gd name="T3" fmla="*/ 45 h 1157"/>
                  <a:gd name="T4" fmla="*/ 406 w 10555"/>
                  <a:gd name="T5" fmla="*/ 0 h 1157"/>
                  <a:gd name="T6" fmla="*/ 70 w 10555"/>
                  <a:gd name="T7" fmla="*/ 0 h 1157"/>
                  <a:gd name="T8" fmla="*/ 0 w 10555"/>
                  <a:gd name="T9" fmla="*/ 45 h 11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555" h="1157">
                    <a:moveTo>
                      <a:pt x="0" y="1157"/>
                    </a:moveTo>
                    <a:lnTo>
                      <a:pt x="8741" y="1157"/>
                    </a:lnTo>
                    <a:lnTo>
                      <a:pt x="10555" y="0"/>
                    </a:lnTo>
                    <a:lnTo>
                      <a:pt x="1812" y="0"/>
                    </a:lnTo>
                    <a:lnTo>
                      <a:pt x="0" y="1157"/>
                    </a:lnTo>
                    <a:close/>
                  </a:path>
                </a:pathLst>
              </a:custGeom>
              <a:solidFill>
                <a:srgbClr val="3399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100" name="Rectangle 56">
                <a:extLst>
                  <a:ext uri="{FF2B5EF4-FFF2-40B4-BE49-F238E27FC236}">
                    <a16:creationId xmlns:a16="http://schemas.microsoft.com/office/drawing/2014/main" id="{07FA9924-9D94-FC49-003F-6902B0DD87CB}"/>
                  </a:ext>
                </a:extLst>
              </p:cNvPr>
              <p:cNvSpPr>
                <a:spLocks noChangeArrowheads="1"/>
              </p:cNvSpPr>
              <p:nvPr/>
            </p:nvSpPr>
            <p:spPr bwMode="auto">
              <a:xfrm>
                <a:off x="3104" y="1268"/>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101" name="Rectangle 57">
                <a:extLst>
                  <a:ext uri="{FF2B5EF4-FFF2-40B4-BE49-F238E27FC236}">
                    <a16:creationId xmlns:a16="http://schemas.microsoft.com/office/drawing/2014/main" id="{8C5C7CC1-14B2-BF7A-362A-FA3706E67E28}"/>
                  </a:ext>
                </a:extLst>
              </p:cNvPr>
              <p:cNvSpPr>
                <a:spLocks noChangeArrowheads="1"/>
              </p:cNvSpPr>
              <p:nvPr/>
            </p:nvSpPr>
            <p:spPr bwMode="auto">
              <a:xfrm>
                <a:off x="3104" y="1294"/>
                <a:ext cx="336" cy="25"/>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102" name="Rectangle 58">
                <a:extLst>
                  <a:ext uri="{FF2B5EF4-FFF2-40B4-BE49-F238E27FC236}">
                    <a16:creationId xmlns:a16="http://schemas.microsoft.com/office/drawing/2014/main" id="{8F601F62-8E2B-CB24-6508-D0BFBD5D7AE2}"/>
                  </a:ext>
                </a:extLst>
              </p:cNvPr>
              <p:cNvSpPr>
                <a:spLocks noChangeArrowheads="1"/>
              </p:cNvSpPr>
              <p:nvPr/>
            </p:nvSpPr>
            <p:spPr bwMode="auto">
              <a:xfrm>
                <a:off x="3104" y="1151"/>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103" name="Rectangle 59">
                <a:extLst>
                  <a:ext uri="{FF2B5EF4-FFF2-40B4-BE49-F238E27FC236}">
                    <a16:creationId xmlns:a16="http://schemas.microsoft.com/office/drawing/2014/main" id="{F025246F-EABA-AC59-375F-645178488C1D}"/>
                  </a:ext>
                </a:extLst>
              </p:cNvPr>
              <p:cNvSpPr>
                <a:spLocks noChangeArrowheads="1"/>
              </p:cNvSpPr>
              <p:nvPr/>
            </p:nvSpPr>
            <p:spPr bwMode="auto">
              <a:xfrm>
                <a:off x="3104" y="1176"/>
                <a:ext cx="336" cy="26"/>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grpSp>
        <p:pic>
          <p:nvPicPr>
            <p:cNvPr id="104" name="Picture 197" descr="jisuanji">
              <a:extLst>
                <a:ext uri="{FF2B5EF4-FFF2-40B4-BE49-F238E27FC236}">
                  <a16:creationId xmlns:a16="http://schemas.microsoft.com/office/drawing/2014/main" id="{3A4C433D-21A0-392D-4454-67981B38F550}"/>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345055" y="1659337"/>
              <a:ext cx="565891" cy="565892"/>
            </a:xfrm>
            <a:prstGeom prst="rect">
              <a:avLst/>
            </a:prstGeom>
            <a:noFill/>
            <a:extLst>
              <a:ext uri="{909E8E84-426E-40DD-AFC4-6F175D3DCCD1}">
                <a14:hiddenFill xmlns:a14="http://schemas.microsoft.com/office/drawing/2010/main">
                  <a:solidFill>
                    <a:srgbClr val="FFFFFF"/>
                  </a:solidFill>
                </a14:hiddenFill>
              </a:ext>
            </a:extLst>
          </p:spPr>
        </p:pic>
        <p:pic>
          <p:nvPicPr>
            <p:cNvPr id="105" name="图片 104">
              <a:extLst>
                <a:ext uri="{FF2B5EF4-FFF2-40B4-BE49-F238E27FC236}">
                  <a16:creationId xmlns:a16="http://schemas.microsoft.com/office/drawing/2014/main" id="{0AC207F0-BEFC-B8E7-3A06-29F47C003D92}"/>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309560" y="1459714"/>
              <a:ext cx="582712" cy="815797"/>
            </a:xfrm>
            <a:prstGeom prst="rect">
              <a:avLst/>
            </a:prstGeom>
          </p:spPr>
        </p:pic>
      </p:grpSp>
    </p:spTree>
    <p:extLst>
      <p:ext uri="{BB962C8B-B14F-4D97-AF65-F5344CB8AC3E}">
        <p14:creationId xmlns:p14="http://schemas.microsoft.com/office/powerpoint/2010/main" val="27245311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30FEE5C-0F50-B61D-54AC-F65AB5412757}"/>
              </a:ext>
            </a:extLst>
          </p:cNvPr>
          <p:cNvSpPr>
            <a:spLocks noGrp="1"/>
          </p:cNvSpPr>
          <p:nvPr>
            <p:ph type="title"/>
          </p:nvPr>
        </p:nvSpPr>
        <p:spPr>
          <a:xfrm>
            <a:off x="485999" y="174482"/>
            <a:ext cx="8171999" cy="338554"/>
          </a:xfrm>
        </p:spPr>
        <p:txBody>
          <a:bodyPr/>
          <a:lstStyle/>
          <a:p>
            <a:r>
              <a:rPr lang="en-US" altLang="zh-CN" dirty="0"/>
              <a:t>DHCP </a:t>
            </a:r>
            <a:r>
              <a:rPr lang="zh-CN" altLang="en-US" dirty="0"/>
              <a:t>中继代理</a:t>
            </a:r>
          </a:p>
        </p:txBody>
      </p:sp>
      <p:sp>
        <p:nvSpPr>
          <p:cNvPr id="3" name="内容占位符 2">
            <a:extLst>
              <a:ext uri="{FF2B5EF4-FFF2-40B4-BE49-F238E27FC236}">
                <a16:creationId xmlns:a16="http://schemas.microsoft.com/office/drawing/2014/main" id="{BDE52F03-C58B-9E1A-374B-CFF003A30C4B}"/>
              </a:ext>
            </a:extLst>
          </p:cNvPr>
          <p:cNvSpPr>
            <a:spLocks noGrp="1"/>
          </p:cNvSpPr>
          <p:nvPr>
            <p:ph sz="quarter" idx="11"/>
          </p:nvPr>
        </p:nvSpPr>
        <p:spPr>
          <a:xfrm>
            <a:off x="486000" y="687518"/>
            <a:ext cx="8172000" cy="4079035"/>
          </a:xfrm>
        </p:spPr>
        <p:txBody>
          <a:bodyPr/>
          <a:lstStyle/>
          <a:p>
            <a:r>
              <a:rPr lang="zh-CN" altLang="en-US" dirty="0"/>
              <a:t>中继代理 </a:t>
            </a:r>
            <a:r>
              <a:rPr lang="en-US" altLang="zh-CN" dirty="0"/>
              <a:t>Relay Agent</a:t>
            </a:r>
          </a:p>
          <a:p>
            <a:pPr lvl="1"/>
            <a:r>
              <a:rPr lang="en-US" altLang="zh-CN" dirty="0"/>
              <a:t>Q</a:t>
            </a:r>
            <a:r>
              <a:rPr lang="zh-CN" altLang="en-US" dirty="0"/>
              <a:t>：每个网络上都需要有 </a:t>
            </a:r>
            <a:r>
              <a:rPr lang="en-US" altLang="zh-CN" dirty="0"/>
              <a:t>DHCP </a:t>
            </a:r>
            <a:r>
              <a:rPr lang="zh-CN" altLang="en-US" dirty="0"/>
              <a:t>服务器吗？</a:t>
            </a:r>
            <a:endParaRPr lang="en-US" altLang="zh-CN" dirty="0"/>
          </a:p>
          <a:p>
            <a:pPr lvl="1"/>
            <a:r>
              <a:rPr lang="en-US" altLang="zh-CN" dirty="0"/>
              <a:t>A</a:t>
            </a:r>
            <a:r>
              <a:rPr lang="zh-CN" altLang="en-US" dirty="0"/>
              <a:t>：不需要，因为会使 </a:t>
            </a:r>
            <a:r>
              <a:rPr lang="en-US" altLang="zh-CN" dirty="0"/>
              <a:t>DHCP </a:t>
            </a:r>
            <a:r>
              <a:rPr lang="zh-CN" altLang="en-US" dirty="0"/>
              <a:t>服务器的数量太多</a:t>
            </a:r>
            <a:endParaRPr lang="en-US" altLang="zh-CN" dirty="0"/>
          </a:p>
          <a:p>
            <a:pPr lvl="1"/>
            <a:r>
              <a:rPr lang="en-US" altLang="zh-CN" dirty="0"/>
              <a:t>Q</a:t>
            </a:r>
            <a:r>
              <a:rPr lang="zh-CN" altLang="en-US" dirty="0"/>
              <a:t>：若没有 </a:t>
            </a:r>
            <a:r>
              <a:rPr lang="en-US" altLang="zh-CN" dirty="0"/>
              <a:t>DHCP </a:t>
            </a:r>
            <a:r>
              <a:rPr lang="zh-CN" altLang="en-US" dirty="0"/>
              <a:t>服务器，如何自动获得地址？</a:t>
            </a:r>
            <a:endParaRPr lang="en-US" altLang="zh-CN" dirty="0"/>
          </a:p>
          <a:p>
            <a:pPr lvl="1"/>
            <a:r>
              <a:rPr lang="en-US" altLang="zh-CN" dirty="0"/>
              <a:t>A</a:t>
            </a:r>
            <a:r>
              <a:rPr lang="zh-CN" altLang="en-US" dirty="0"/>
              <a:t>：每一个网络至少有一个 </a:t>
            </a:r>
            <a:r>
              <a:rPr lang="en-US" altLang="zh-CN" dirty="0"/>
              <a:t>DHCP </a:t>
            </a:r>
            <a:r>
              <a:rPr lang="zh-CN" altLang="en-US" dirty="0"/>
              <a:t>中继代理，它配置了 </a:t>
            </a:r>
            <a:r>
              <a:rPr lang="en-US" altLang="zh-CN" dirty="0"/>
              <a:t>DHCP </a:t>
            </a:r>
            <a:r>
              <a:rPr lang="zh-CN" altLang="en-US" dirty="0"/>
              <a:t>服务器的 </a:t>
            </a:r>
            <a:r>
              <a:rPr lang="en-US" altLang="zh-CN" dirty="0"/>
              <a:t>IP </a:t>
            </a:r>
            <a:r>
              <a:rPr lang="zh-CN" altLang="en-US" dirty="0"/>
              <a:t>地址信息</a:t>
            </a:r>
          </a:p>
        </p:txBody>
      </p:sp>
    </p:spTree>
    <p:extLst>
      <p:ext uri="{BB962C8B-B14F-4D97-AF65-F5344CB8AC3E}">
        <p14:creationId xmlns:p14="http://schemas.microsoft.com/office/powerpoint/2010/main" val="197964336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C08285A-01DA-B2BB-AF02-BED2B8FD546F}"/>
              </a:ext>
            </a:extLst>
          </p:cNvPr>
          <p:cNvSpPr>
            <a:spLocks noGrp="1"/>
          </p:cNvSpPr>
          <p:nvPr>
            <p:ph type="title"/>
          </p:nvPr>
        </p:nvSpPr>
        <p:spPr>
          <a:xfrm>
            <a:off x="485999" y="174482"/>
            <a:ext cx="8171999" cy="338554"/>
          </a:xfrm>
        </p:spPr>
        <p:txBody>
          <a:bodyPr/>
          <a:lstStyle/>
          <a:p>
            <a:r>
              <a:rPr lang="en-US" altLang="zh-CN" dirty="0"/>
              <a:t>DHCP </a:t>
            </a:r>
            <a:r>
              <a:rPr lang="zh-CN" altLang="en-US" dirty="0"/>
              <a:t>中继代理</a:t>
            </a:r>
          </a:p>
        </p:txBody>
      </p:sp>
      <p:sp>
        <p:nvSpPr>
          <p:cNvPr id="25" name="内容占位符 24">
            <a:extLst>
              <a:ext uri="{FF2B5EF4-FFF2-40B4-BE49-F238E27FC236}">
                <a16:creationId xmlns:a16="http://schemas.microsoft.com/office/drawing/2014/main" id="{766A6BDD-85F0-2F25-4AE3-DADAF7820BFA}"/>
              </a:ext>
            </a:extLst>
          </p:cNvPr>
          <p:cNvSpPr>
            <a:spLocks noGrp="1"/>
          </p:cNvSpPr>
          <p:nvPr>
            <p:ph sz="quarter" idx="11"/>
          </p:nvPr>
        </p:nvSpPr>
        <p:spPr>
          <a:xfrm>
            <a:off x="486000" y="687518"/>
            <a:ext cx="8172000" cy="4079035"/>
          </a:xfrm>
        </p:spPr>
        <p:txBody>
          <a:bodyPr/>
          <a:lstStyle/>
          <a:p>
            <a:r>
              <a:rPr lang="en-US" altLang="zh-CN" dirty="0"/>
              <a:t>DHCP </a:t>
            </a:r>
            <a:r>
              <a:rPr lang="zh-CN" altLang="en-US" dirty="0"/>
              <a:t>中继代理以单播方式转发发现报文</a:t>
            </a:r>
            <a:endParaRPr lang="en-US" altLang="zh-CN" dirty="0"/>
          </a:p>
          <a:p>
            <a:r>
              <a:rPr lang="en-US" altLang="zh-CN" dirty="0"/>
              <a:t>DHCP </a:t>
            </a:r>
            <a:r>
              <a:rPr lang="zh-CN" altLang="en-US" dirty="0"/>
              <a:t>中继代理收到主机广播发送的发现报文后，就以单播方式向 </a:t>
            </a:r>
            <a:r>
              <a:rPr lang="en-US" altLang="zh-CN" dirty="0"/>
              <a:t>DHCP </a:t>
            </a:r>
            <a:r>
              <a:rPr lang="zh-CN" altLang="en-US" dirty="0"/>
              <a:t>服务器转发此报文，并等待其回答</a:t>
            </a:r>
            <a:endParaRPr lang="en-US" altLang="zh-CN" dirty="0"/>
          </a:p>
          <a:p>
            <a:r>
              <a:rPr lang="zh-CN" altLang="en-US" dirty="0"/>
              <a:t>收到 </a:t>
            </a:r>
            <a:r>
              <a:rPr lang="en-US" altLang="zh-CN" dirty="0"/>
              <a:t>DHCP </a:t>
            </a:r>
            <a:r>
              <a:rPr lang="zh-CN" altLang="en-US" dirty="0"/>
              <a:t>服务器回答的提供报文后，</a:t>
            </a:r>
            <a:r>
              <a:rPr lang="en-US" altLang="zh-CN" dirty="0"/>
              <a:t>DHCP </a:t>
            </a:r>
            <a:r>
              <a:rPr lang="zh-CN" altLang="en-US" dirty="0"/>
              <a:t>中继代理再将其发回给主机</a:t>
            </a:r>
          </a:p>
        </p:txBody>
      </p:sp>
      <p:sp>
        <p:nvSpPr>
          <p:cNvPr id="5" name="Line 5"/>
          <p:cNvSpPr>
            <a:spLocks noChangeShapeType="1"/>
          </p:cNvSpPr>
          <p:nvPr/>
        </p:nvSpPr>
        <p:spPr bwMode="auto">
          <a:xfrm>
            <a:off x="1946778" y="3382079"/>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 name="Line 6"/>
          <p:cNvSpPr>
            <a:spLocks noChangeShapeType="1"/>
          </p:cNvSpPr>
          <p:nvPr/>
        </p:nvSpPr>
        <p:spPr bwMode="auto">
          <a:xfrm flipV="1">
            <a:off x="3782056" y="4006654"/>
            <a:ext cx="3898213" cy="0"/>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 name="Text Box 8"/>
          <p:cNvSpPr txBox="1">
            <a:spLocks noChangeArrowheads="1"/>
          </p:cNvSpPr>
          <p:nvPr/>
        </p:nvSpPr>
        <p:spPr bwMode="auto">
          <a:xfrm>
            <a:off x="916225" y="2404557"/>
            <a:ext cx="71365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Client</a:t>
            </a:r>
            <a:endParaRPr kumimoji="1" lang="zh-CN" altLang="en-US" sz="1400" dirty="0">
              <a:latin typeface="Montserrat" panose="00000500000000000000" pitchFamily="2" charset="0"/>
              <a:ea typeface="微软雅黑 Light" panose="020B0502040204020203" pitchFamily="34" charset="-122"/>
            </a:endParaRPr>
          </a:p>
        </p:txBody>
      </p:sp>
      <p:sp>
        <p:nvSpPr>
          <p:cNvPr id="9" name="Text Box 9"/>
          <p:cNvSpPr txBox="1">
            <a:spLocks noChangeArrowheads="1"/>
          </p:cNvSpPr>
          <p:nvPr/>
        </p:nvSpPr>
        <p:spPr bwMode="auto">
          <a:xfrm>
            <a:off x="7506095" y="2909686"/>
            <a:ext cx="75533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Server</a:t>
            </a:r>
            <a:endParaRPr kumimoji="1" lang="zh-CN" altLang="en-US" sz="1400" dirty="0">
              <a:latin typeface="Montserrat" panose="00000500000000000000" pitchFamily="2" charset="0"/>
              <a:ea typeface="微软雅黑 Light" panose="020B0502040204020203" pitchFamily="34" charset="-122"/>
            </a:endParaRPr>
          </a:p>
        </p:txBody>
      </p:sp>
      <p:sp>
        <p:nvSpPr>
          <p:cNvPr id="22" name="Line 22"/>
          <p:cNvSpPr>
            <a:spLocks noChangeShapeType="1"/>
          </p:cNvSpPr>
          <p:nvPr/>
        </p:nvSpPr>
        <p:spPr bwMode="auto">
          <a:xfrm>
            <a:off x="1073020" y="3365644"/>
            <a:ext cx="2860385" cy="0"/>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3" name="Line 23"/>
          <p:cNvSpPr>
            <a:spLocks noChangeShapeType="1"/>
          </p:cNvSpPr>
          <p:nvPr/>
        </p:nvSpPr>
        <p:spPr bwMode="auto">
          <a:xfrm>
            <a:off x="1258709" y="3068618"/>
            <a:ext cx="0" cy="31346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4" name="Line 24"/>
          <p:cNvSpPr>
            <a:spLocks noChangeShapeType="1"/>
          </p:cNvSpPr>
          <p:nvPr/>
        </p:nvSpPr>
        <p:spPr bwMode="auto">
          <a:xfrm>
            <a:off x="3628161" y="3382079"/>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Text Box 27"/>
          <p:cNvSpPr txBox="1">
            <a:spLocks noChangeArrowheads="1"/>
          </p:cNvSpPr>
          <p:nvPr/>
        </p:nvSpPr>
        <p:spPr bwMode="auto">
          <a:xfrm>
            <a:off x="3020529" y="4111142"/>
            <a:ext cx="12763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Relay Agent</a:t>
            </a:r>
            <a:endParaRPr kumimoji="1" lang="zh-CN" altLang="en-US" sz="1400" dirty="0">
              <a:latin typeface="Montserrat" panose="00000500000000000000" pitchFamily="2" charset="0"/>
              <a:ea typeface="微软雅黑 Light" panose="020B0502040204020203" pitchFamily="34" charset="-122"/>
            </a:endParaRPr>
          </a:p>
        </p:txBody>
      </p:sp>
      <p:sp>
        <p:nvSpPr>
          <p:cNvPr id="31" name="AutoShape 32"/>
          <p:cNvSpPr>
            <a:spLocks noChangeArrowheads="1"/>
          </p:cNvSpPr>
          <p:nvPr/>
        </p:nvSpPr>
        <p:spPr bwMode="auto">
          <a:xfrm>
            <a:off x="3177145" y="2990840"/>
            <a:ext cx="382261" cy="156731"/>
          </a:xfrm>
          <a:prstGeom prst="rightArrow">
            <a:avLst>
              <a:gd name="adj1" fmla="val 50000"/>
              <a:gd name="adj2" fmla="val 62500"/>
            </a:avLst>
          </a:prstGeom>
          <a:solidFill>
            <a:schemeClr val="bg1">
              <a:lumMod val="85000"/>
            </a:schemeClr>
          </a:solidFill>
          <a:ln w="9525">
            <a:noFill/>
            <a:miter lim="800000"/>
            <a:headEnd/>
            <a:tailEnd/>
          </a:ln>
          <a:effectLst/>
        </p:spPr>
        <p:txBody>
          <a:bodyPr wrap="none" anchor="ctr"/>
          <a:lstStyle/>
          <a:p>
            <a:pPr eaLnBrk="1" hangingPunct="1"/>
            <a:endParaRPr lang="zh-CN" altLang="en-US" sz="1400" dirty="0">
              <a:solidFill>
                <a:sysClr val="windowText" lastClr="000000"/>
              </a:solidFill>
              <a:latin typeface="Montserrat" panose="00000500000000000000" pitchFamily="2" charset="0"/>
              <a:ea typeface="微软雅黑 Light" panose="020B0502040204020203" pitchFamily="34" charset="-122"/>
            </a:endParaRPr>
          </a:p>
        </p:txBody>
      </p:sp>
      <p:sp>
        <p:nvSpPr>
          <p:cNvPr id="30" name="Text Box 34"/>
          <p:cNvSpPr txBox="1">
            <a:spLocks noChangeArrowheads="1"/>
          </p:cNvSpPr>
          <p:nvPr/>
        </p:nvSpPr>
        <p:spPr bwMode="auto">
          <a:xfrm>
            <a:off x="2259936" y="2590795"/>
            <a:ext cx="544351" cy="3075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dirty="0">
                <a:latin typeface="微软雅黑 Light" panose="020B0502040204020203" pitchFamily="34" charset="-122"/>
                <a:ea typeface="微软雅黑 Light" panose="020B0502040204020203" pitchFamily="34" charset="-122"/>
              </a:rPr>
              <a:t>广播</a:t>
            </a:r>
          </a:p>
        </p:txBody>
      </p:sp>
      <p:sp>
        <p:nvSpPr>
          <p:cNvPr id="36" name="AutoShape 29"/>
          <p:cNvSpPr>
            <a:spLocks noChangeArrowheads="1"/>
          </p:cNvSpPr>
          <p:nvPr/>
        </p:nvSpPr>
        <p:spPr bwMode="auto">
          <a:xfrm>
            <a:off x="6093721" y="3602554"/>
            <a:ext cx="382496" cy="156144"/>
          </a:xfrm>
          <a:prstGeom prst="rightArrow">
            <a:avLst>
              <a:gd name="adj1" fmla="val 50000"/>
              <a:gd name="adj2" fmla="val 62500"/>
            </a:avLst>
          </a:prstGeom>
          <a:solidFill>
            <a:srgbClr val="00B050"/>
          </a:solidFill>
          <a:ln w="9525">
            <a:noFill/>
            <a:miter lim="800000"/>
            <a:headEnd/>
            <a:tailEnd/>
          </a:ln>
          <a:effectLst/>
        </p:spPr>
        <p:txBody>
          <a:bodyPr wrap="none" anchor="ctr"/>
          <a:lstStyle/>
          <a:p>
            <a:pPr eaLnBrk="1" hangingPunct="1"/>
            <a:endParaRPr lang="zh-CN" altLang="en-US" sz="1400" b="1" dirty="0">
              <a:solidFill>
                <a:schemeClr val="bg1"/>
              </a:solidFill>
              <a:latin typeface="Montserrat" panose="00000500000000000000" pitchFamily="2" charset="0"/>
              <a:ea typeface="微软雅黑 Light" panose="020B0502040204020203" pitchFamily="34" charset="-122"/>
            </a:endParaRPr>
          </a:p>
        </p:txBody>
      </p:sp>
      <p:sp>
        <p:nvSpPr>
          <p:cNvPr id="35" name="Text Box 35"/>
          <p:cNvSpPr txBox="1">
            <a:spLocks noChangeArrowheads="1"/>
          </p:cNvSpPr>
          <p:nvPr/>
        </p:nvSpPr>
        <p:spPr bwMode="auto">
          <a:xfrm>
            <a:off x="5190508" y="3208507"/>
            <a:ext cx="544351" cy="3075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dirty="0">
                <a:latin typeface="微软雅黑 Light" panose="020B0502040204020203" pitchFamily="34" charset="-122"/>
                <a:ea typeface="微软雅黑 Light" panose="020B0502040204020203" pitchFamily="34" charset="-122"/>
              </a:rPr>
              <a:t>单播</a:t>
            </a:r>
          </a:p>
        </p:txBody>
      </p:sp>
      <p:pic>
        <p:nvPicPr>
          <p:cNvPr id="43" name="图片 4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549301" y="3212000"/>
            <a:ext cx="728974" cy="1020563"/>
          </a:xfrm>
          <a:prstGeom prst="rect">
            <a:avLst/>
          </a:prstGeom>
        </p:spPr>
      </p:pic>
      <p:pic>
        <p:nvPicPr>
          <p:cNvPr id="44"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67514" y="3502508"/>
            <a:ext cx="565891" cy="565892"/>
          </a:xfrm>
          <a:prstGeom prst="rect">
            <a:avLst/>
          </a:prstGeom>
          <a:noFill/>
          <a:extLst>
            <a:ext uri="{909E8E84-426E-40DD-AFC4-6F175D3DCCD1}">
              <a14:hiddenFill xmlns:a14="http://schemas.microsoft.com/office/drawing/2010/main">
                <a:solidFill>
                  <a:srgbClr val="FFFFFF"/>
                </a:solidFill>
              </a14:hiddenFill>
            </a:ext>
          </a:extLst>
        </p:spPr>
      </p:pic>
      <p:pic>
        <p:nvPicPr>
          <p:cNvPr id="45"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75203" y="3502508"/>
            <a:ext cx="565891" cy="565892"/>
          </a:xfrm>
          <a:prstGeom prst="rect">
            <a:avLst/>
          </a:prstGeom>
          <a:noFill/>
          <a:extLst>
            <a:ext uri="{909E8E84-426E-40DD-AFC4-6F175D3DCCD1}">
              <a14:hiddenFill xmlns:a14="http://schemas.microsoft.com/office/drawing/2010/main">
                <a:solidFill>
                  <a:srgbClr val="FFFFFF"/>
                </a:solidFill>
              </a14:hiddenFill>
            </a:ext>
          </a:extLst>
        </p:spPr>
      </p:pic>
      <p:pic>
        <p:nvPicPr>
          <p:cNvPr id="46"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73411" y="2688375"/>
            <a:ext cx="565891" cy="565892"/>
          </a:xfrm>
          <a:prstGeom prst="rect">
            <a:avLst/>
          </a:prstGeom>
          <a:noFill/>
          <a:extLst>
            <a:ext uri="{909E8E84-426E-40DD-AFC4-6F175D3DCCD1}">
              <a14:hiddenFill xmlns:a14="http://schemas.microsoft.com/office/drawing/2010/main">
                <a:solidFill>
                  <a:srgbClr val="FFFFFF"/>
                </a:solidFill>
              </a14:hiddenFill>
            </a:ext>
          </a:extLst>
        </p:spPr>
      </p:pic>
      <p:sp>
        <p:nvSpPr>
          <p:cNvPr id="32" name="Rectangle 33"/>
          <p:cNvSpPr>
            <a:spLocks noChangeArrowheads="1"/>
          </p:cNvSpPr>
          <p:nvPr/>
        </p:nvSpPr>
        <p:spPr bwMode="auto">
          <a:xfrm>
            <a:off x="1691138" y="2912475"/>
            <a:ext cx="1681947" cy="313461"/>
          </a:xfrm>
          <a:prstGeom prst="rect">
            <a:avLst/>
          </a:prstGeom>
          <a:solidFill>
            <a:schemeClr val="bg1">
              <a:lumMod val="85000"/>
            </a:schemeClr>
          </a:solidFill>
          <a:ln w="9525">
            <a:noFill/>
            <a:miter lim="800000"/>
            <a:headEnd/>
            <a:tailEnd/>
          </a:ln>
          <a:effectLst/>
        </p:spPr>
        <p:txBody>
          <a:bodyPr wrap="none" anchor="ctr"/>
          <a:lstStyle/>
          <a:p>
            <a:pPr algn="ctr" eaLnBrk="1" hangingPunct="1"/>
            <a:r>
              <a:rPr kumimoji="1" lang="en-US" altLang="zh-CN" sz="1200" dirty="0">
                <a:solidFill>
                  <a:sysClr val="windowText" lastClr="000000"/>
                </a:solidFill>
                <a:latin typeface="Montserrat" panose="00000500000000000000" pitchFamily="2" charset="0"/>
                <a:ea typeface="微软雅黑 Light" panose="020B0502040204020203" pitchFamily="34" charset="-122"/>
              </a:rPr>
              <a:t>DHCP DISCOVER</a:t>
            </a:r>
          </a:p>
        </p:txBody>
      </p:sp>
      <p:sp>
        <p:nvSpPr>
          <p:cNvPr id="37" name="Rectangle 30"/>
          <p:cNvSpPr>
            <a:spLocks noChangeArrowheads="1"/>
          </p:cNvSpPr>
          <p:nvPr/>
        </p:nvSpPr>
        <p:spPr bwMode="auto">
          <a:xfrm>
            <a:off x="4621191" y="3524482"/>
            <a:ext cx="1682985" cy="312288"/>
          </a:xfrm>
          <a:prstGeom prst="rect">
            <a:avLst/>
          </a:prstGeom>
          <a:solidFill>
            <a:srgbClr val="00B050"/>
          </a:solidFill>
          <a:ln w="9525">
            <a:noFill/>
            <a:miter lim="800000"/>
            <a:headEnd/>
            <a:tailEnd/>
          </a:ln>
          <a:effectLst/>
        </p:spPr>
        <p:txBody>
          <a:bodyPr wrap="none" anchor="ctr"/>
          <a:lstStyle/>
          <a:p>
            <a:pPr algn="ctr" eaLnBrk="1" hangingPunct="1"/>
            <a:r>
              <a:rPr kumimoji="1" lang="en-US" altLang="zh-CN" sz="1200" dirty="0">
                <a:solidFill>
                  <a:schemeClr val="bg1"/>
                </a:solidFill>
                <a:latin typeface="Montserrat" panose="00000500000000000000" pitchFamily="2" charset="0"/>
                <a:ea typeface="微软雅黑 Light" panose="020B0502040204020203" pitchFamily="34" charset="-122"/>
              </a:rPr>
              <a:t>DHCP DISCOVER</a:t>
            </a:r>
          </a:p>
        </p:txBody>
      </p:sp>
    </p:spTree>
    <p:extLst>
      <p:ext uri="{BB962C8B-B14F-4D97-AF65-F5344CB8AC3E}">
        <p14:creationId xmlns:p14="http://schemas.microsoft.com/office/powerpoint/2010/main" val="25681124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39E535D7-CDF3-A35D-6C06-B2E631D92428}"/>
              </a:ext>
            </a:extLst>
          </p:cNvPr>
          <p:cNvSpPr>
            <a:spLocks noGrp="1"/>
          </p:cNvSpPr>
          <p:nvPr>
            <p:ph type="title"/>
          </p:nvPr>
        </p:nvSpPr>
        <p:spPr>
          <a:xfrm>
            <a:off x="485999" y="174482"/>
            <a:ext cx="8171999" cy="338554"/>
          </a:xfrm>
        </p:spPr>
        <p:txBody>
          <a:bodyPr/>
          <a:lstStyle/>
          <a:p>
            <a:r>
              <a:rPr lang="zh-CN" altLang="en-US" dirty="0"/>
              <a:t>租用期 </a:t>
            </a:r>
            <a:r>
              <a:rPr lang="en-US" altLang="zh-CN" dirty="0"/>
              <a:t>Lease Period</a:t>
            </a:r>
            <a:endParaRPr lang="zh-CN" altLang="en-US" dirty="0"/>
          </a:p>
        </p:txBody>
      </p:sp>
      <p:sp>
        <p:nvSpPr>
          <p:cNvPr id="6" name="内容占位符 5">
            <a:extLst>
              <a:ext uri="{FF2B5EF4-FFF2-40B4-BE49-F238E27FC236}">
                <a16:creationId xmlns:a16="http://schemas.microsoft.com/office/drawing/2014/main" id="{4BB52EE0-3EFA-BC13-5401-800E7DEAE553}"/>
              </a:ext>
            </a:extLst>
          </p:cNvPr>
          <p:cNvSpPr>
            <a:spLocks noGrp="1"/>
          </p:cNvSpPr>
          <p:nvPr>
            <p:ph sz="quarter" idx="11"/>
          </p:nvPr>
        </p:nvSpPr>
        <p:spPr>
          <a:xfrm>
            <a:off x="486000" y="687518"/>
            <a:ext cx="8172000" cy="4079035"/>
          </a:xfrm>
        </p:spPr>
        <p:txBody>
          <a:bodyPr/>
          <a:lstStyle/>
          <a:p>
            <a:r>
              <a:rPr lang="en-US" altLang="zh-CN" dirty="0"/>
              <a:t>DHCP </a:t>
            </a:r>
            <a:r>
              <a:rPr lang="zh-CN" altLang="en-US" dirty="0"/>
              <a:t>服务器分配给 </a:t>
            </a:r>
            <a:r>
              <a:rPr lang="en-US" altLang="zh-CN" dirty="0"/>
              <a:t>DHCP </a:t>
            </a:r>
            <a:r>
              <a:rPr lang="zh-CN" altLang="en-US" dirty="0"/>
              <a:t>客户的 </a:t>
            </a:r>
            <a:r>
              <a:rPr lang="en-US" altLang="zh-CN" dirty="0"/>
              <a:t>IP </a:t>
            </a:r>
            <a:r>
              <a:rPr lang="zh-CN" altLang="en-US" dirty="0"/>
              <a:t>地址是临时的，因此 </a:t>
            </a:r>
            <a:r>
              <a:rPr lang="en-US" altLang="zh-CN" dirty="0"/>
              <a:t>DHCP </a:t>
            </a:r>
            <a:r>
              <a:rPr lang="zh-CN" altLang="en-US" dirty="0"/>
              <a:t>客户只能在一段有限的时间内使用这个分配到的 </a:t>
            </a:r>
            <a:r>
              <a:rPr lang="en-US" altLang="zh-CN" dirty="0"/>
              <a:t>IP </a:t>
            </a:r>
            <a:r>
              <a:rPr lang="zh-CN" altLang="en-US" dirty="0"/>
              <a:t>地址</a:t>
            </a:r>
            <a:endParaRPr lang="en-US" altLang="zh-CN" dirty="0"/>
          </a:p>
          <a:p>
            <a:r>
              <a:rPr lang="en-US" altLang="zh-CN" dirty="0"/>
              <a:t>DHCP </a:t>
            </a:r>
            <a:r>
              <a:rPr lang="zh-CN" altLang="en-US" dirty="0"/>
              <a:t>协议称这段时间为租用期</a:t>
            </a:r>
          </a:p>
          <a:p>
            <a:r>
              <a:rPr lang="zh-CN" altLang="en-US" dirty="0"/>
              <a:t>租用期的数值应由 </a:t>
            </a:r>
            <a:r>
              <a:rPr lang="en-US" altLang="zh-CN" dirty="0"/>
              <a:t>DHCP </a:t>
            </a:r>
            <a:r>
              <a:rPr lang="zh-CN" altLang="en-US" dirty="0"/>
              <a:t>服务器自己决定</a:t>
            </a:r>
          </a:p>
          <a:p>
            <a:r>
              <a:rPr lang="en-US" altLang="zh-CN" dirty="0"/>
              <a:t>DHCP </a:t>
            </a:r>
            <a:r>
              <a:rPr lang="zh-CN" altLang="en-US" dirty="0"/>
              <a:t>客户也可在自己发送的报文中（例如，发现报文）提出对租用期的要求</a:t>
            </a:r>
          </a:p>
          <a:p>
            <a:endParaRPr lang="zh-CN" altLang="en-US" dirty="0"/>
          </a:p>
        </p:txBody>
      </p:sp>
    </p:spTree>
    <p:extLst>
      <p:ext uri="{BB962C8B-B14F-4D97-AF65-F5344CB8AC3E}">
        <p14:creationId xmlns:p14="http://schemas.microsoft.com/office/powerpoint/2010/main" val="41306104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2" name="组合 161"/>
          <p:cNvGrpSpPr/>
          <p:nvPr/>
        </p:nvGrpSpPr>
        <p:grpSpPr>
          <a:xfrm>
            <a:off x="1933015" y="1048868"/>
            <a:ext cx="5259764" cy="3304264"/>
            <a:chOff x="-34130" y="587046"/>
            <a:chExt cx="9932621" cy="6239826"/>
          </a:xfrm>
        </p:grpSpPr>
        <p:sp>
          <p:nvSpPr>
            <p:cNvPr id="83"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5"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87"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88"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89"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90"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91"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93"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5"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96"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97"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98"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99"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01"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03"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04"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05"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06"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07"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09"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11"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2"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13"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14"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15"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17"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19"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20"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1"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22"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23"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24"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25"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26"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127"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28"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9"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0"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31"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32"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33"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34"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135"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36"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37"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8"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39"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0"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41"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42"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143"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44"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45"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46"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7"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8"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49"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50"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1"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152"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53"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54"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55"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56"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57"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58"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59"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60"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161"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grpSp>
        <p:nvGrpSpPr>
          <p:cNvPr id="168" name="组合 167"/>
          <p:cNvGrpSpPr/>
          <p:nvPr/>
        </p:nvGrpSpPr>
        <p:grpSpPr>
          <a:xfrm>
            <a:off x="1252728" y="3180649"/>
            <a:ext cx="6757416" cy="1081681"/>
            <a:chOff x="1252728" y="3207283"/>
            <a:chExt cx="6757416" cy="1081681"/>
          </a:xfrm>
        </p:grpSpPr>
        <p:sp>
          <p:nvSpPr>
            <p:cNvPr id="167" name="Rectangle 88"/>
            <p:cNvSpPr>
              <a:spLocks noChangeArrowheads="1"/>
            </p:cNvSpPr>
            <p:nvPr/>
          </p:nvSpPr>
          <p:spPr bwMode="auto">
            <a:xfrm>
              <a:off x="1252728" y="3207283"/>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166" name="矩形 165"/>
            <p:cNvSpPr/>
            <p:nvPr/>
          </p:nvSpPr>
          <p:spPr>
            <a:xfrm>
              <a:off x="2304328" y="3317290"/>
              <a:ext cx="4885718" cy="759182"/>
            </a:xfrm>
            <a:prstGeom prst="rect">
              <a:avLst/>
            </a:prstGeom>
            <a:noFill/>
          </p:spPr>
          <p:txBody>
            <a:bodyPr wrap="square">
              <a:spAutoFit/>
            </a:bodyPr>
            <a:lstStyle/>
            <a:p>
              <a:pPr>
                <a:lnSpc>
                  <a:spcPts val="2600"/>
                </a:lnSpc>
              </a:pPr>
              <a:r>
                <a:rPr lang="en-US" altLang="zh-CN" b="1" dirty="0">
                  <a:latin typeface="微软雅黑 Light" panose="020B0502040204020203" pitchFamily="34" charset="-122"/>
                  <a:ea typeface="微软雅黑 Light" panose="020B0502040204020203" pitchFamily="34" charset="-122"/>
                  <a:sym typeface="Wingdings" pitchFamily="2" charset="2"/>
                </a:rPr>
                <a:t></a:t>
              </a:r>
              <a:r>
                <a:rPr lang="zh-CN" altLang="en-US" b="1" dirty="0">
                  <a:latin typeface="微软雅黑 Light" panose="020B0502040204020203" pitchFamily="34" charset="-122"/>
                  <a:ea typeface="微软雅黑 Light" panose="020B0502040204020203" pitchFamily="34" charset="-122"/>
                </a:rPr>
                <a:t>：</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a:t>
              </a:r>
              <a:r>
                <a:rPr lang="zh-CN" altLang="en-US" b="1" dirty="0">
                  <a:solidFill>
                    <a:srgbClr val="0000FF"/>
                  </a:solidFill>
                  <a:latin typeface="微软雅黑 Light" panose="020B0502040204020203" pitchFamily="34" charset="-122"/>
                  <a:ea typeface="微软雅黑 Light" panose="020B0502040204020203" pitchFamily="34" charset="-122"/>
                </a:rPr>
                <a:t>被动</a:t>
              </a:r>
              <a:r>
                <a:rPr lang="zh-CN" altLang="en-US" b="1" dirty="0">
                  <a:latin typeface="微软雅黑 Light" panose="020B0502040204020203" pitchFamily="34" charset="-122"/>
                  <a:ea typeface="微软雅黑 Light" panose="020B0502040204020203" pitchFamily="34" charset="-122"/>
                </a:rPr>
                <a:t>打开 </a:t>
              </a:r>
              <a:r>
                <a:rPr lang="en-US" altLang="zh-CN" b="1" dirty="0">
                  <a:latin typeface="微软雅黑 Light" panose="020B0502040204020203" pitchFamily="34" charset="-122"/>
                  <a:ea typeface="微软雅黑 Light" panose="020B0502040204020203" pitchFamily="34" charset="-122"/>
                </a:rPr>
                <a:t>UDP </a:t>
              </a:r>
              <a:r>
                <a:rPr lang="zh-CN" altLang="en-US" b="1" dirty="0">
                  <a:latin typeface="微软雅黑 Light" panose="020B0502040204020203" pitchFamily="34" charset="-122"/>
                  <a:ea typeface="微软雅黑 Light" panose="020B0502040204020203" pitchFamily="34" charset="-122"/>
                </a:rPr>
                <a:t>端口 </a:t>
              </a:r>
              <a:r>
                <a:rPr lang="en-US" altLang="zh-CN" b="1" dirty="0">
                  <a:latin typeface="微软雅黑 Light" panose="020B0502040204020203" pitchFamily="34" charset="-122"/>
                  <a:ea typeface="微软雅黑 Light" panose="020B0502040204020203" pitchFamily="34" charset="-122"/>
                </a:rPr>
                <a:t>67</a:t>
              </a:r>
              <a:r>
                <a:rPr lang="zh-CN" altLang="en-US" b="1" dirty="0">
                  <a:latin typeface="微软雅黑 Light" panose="020B0502040204020203" pitchFamily="34" charset="-122"/>
                  <a:ea typeface="微软雅黑 Light" panose="020B0502040204020203" pitchFamily="34" charset="-122"/>
                </a:rPr>
                <a:t>，等待客户端发来的报文。</a:t>
              </a:r>
            </a:p>
          </p:txBody>
        </p:sp>
      </p:grpSp>
      <p:sp>
        <p:nvSpPr>
          <p:cNvPr id="2" name="标题 1">
            <a:extLst>
              <a:ext uri="{FF2B5EF4-FFF2-40B4-BE49-F238E27FC236}">
                <a16:creationId xmlns:a16="http://schemas.microsoft.com/office/drawing/2014/main" id="{3A6DDFDA-4F48-9ED6-AF2B-0FAEAB0EDD12}"/>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16401510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5"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7"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3"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5"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3"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sp>
        <p:nvSpPr>
          <p:cNvPr id="85" name="Rectangle 88"/>
          <p:cNvSpPr>
            <a:spLocks noChangeArrowheads="1"/>
          </p:cNvSpPr>
          <p:nvPr/>
        </p:nvSpPr>
        <p:spPr bwMode="auto">
          <a:xfrm>
            <a:off x="1252728" y="3180649"/>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lnSpc>
                <a:spcPts val="2800"/>
              </a:lnSpc>
            </a:pPr>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2281675" y="3284521"/>
            <a:ext cx="4911104" cy="759182"/>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cs typeface="Adobe Arabic" panose="02040503050201020203" pitchFamily="18" charset="-78"/>
              </a:rPr>
              <a:t>❷</a:t>
            </a:r>
            <a:r>
              <a:rPr lang="zh-CN" altLang="en-US" b="1" dirty="0">
                <a:latin typeface="微软雅黑 Light" panose="020B0502040204020203" pitchFamily="34" charset="-122"/>
                <a:ea typeface="微软雅黑 Light" panose="020B0502040204020203" pitchFamily="34" charset="-122"/>
              </a:rPr>
              <a:t>：</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客户从 </a:t>
            </a:r>
            <a:r>
              <a:rPr lang="en-US" altLang="zh-CN" b="1" dirty="0">
                <a:latin typeface="微软雅黑 Light" panose="020B0502040204020203" pitchFamily="34" charset="-122"/>
                <a:ea typeface="微软雅黑 Light" panose="020B0502040204020203" pitchFamily="34" charset="-122"/>
              </a:rPr>
              <a:t>UDP </a:t>
            </a:r>
            <a:r>
              <a:rPr lang="zh-CN" altLang="en-US" b="1" dirty="0">
                <a:latin typeface="微软雅黑 Light" panose="020B0502040204020203" pitchFamily="34" charset="-122"/>
                <a:ea typeface="微软雅黑 Light" panose="020B0502040204020203" pitchFamily="34" charset="-122"/>
              </a:rPr>
              <a:t>端口 </a:t>
            </a:r>
            <a:r>
              <a:rPr lang="en-US" altLang="zh-CN" b="1" dirty="0">
                <a:latin typeface="微软雅黑 Light" panose="020B0502040204020203" pitchFamily="34" charset="-122"/>
                <a:ea typeface="微软雅黑 Light" panose="020B0502040204020203" pitchFamily="34" charset="-122"/>
              </a:rPr>
              <a:t>68 </a:t>
            </a:r>
            <a:r>
              <a:rPr lang="zh-CN" altLang="en-US" b="1" dirty="0">
                <a:latin typeface="微软雅黑 Light" panose="020B0502040204020203" pitchFamily="34" charset="-122"/>
                <a:ea typeface="微软雅黑 Light" panose="020B0502040204020203" pitchFamily="34" charset="-122"/>
              </a:rPr>
              <a:t>发送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发现报文 </a:t>
            </a:r>
            <a:r>
              <a:rPr lang="en-US" altLang="zh-CN" b="1" dirty="0">
                <a:latin typeface="微软雅黑 Light" panose="020B0502040204020203" pitchFamily="34" charset="-122"/>
                <a:ea typeface="微软雅黑 Light" panose="020B0502040204020203" pitchFamily="34" charset="-122"/>
              </a:rPr>
              <a:t>DHCPDISCOVER</a:t>
            </a:r>
            <a:r>
              <a:rPr lang="zh-CN" altLang="en-US" b="1" dirty="0">
                <a:latin typeface="微软雅黑 Light" panose="020B0502040204020203" pitchFamily="34" charset="-122"/>
                <a:ea typeface="微软雅黑 Light" panose="020B0502040204020203" pitchFamily="34" charset="-122"/>
              </a:rPr>
              <a:t>。</a:t>
            </a:r>
          </a:p>
        </p:txBody>
      </p:sp>
      <p:sp>
        <p:nvSpPr>
          <p:cNvPr id="2" name="标题 1">
            <a:extLst>
              <a:ext uri="{FF2B5EF4-FFF2-40B4-BE49-F238E27FC236}">
                <a16:creationId xmlns:a16="http://schemas.microsoft.com/office/drawing/2014/main" id="{66673C28-A538-FBFC-177D-E88266683DB4}"/>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30701720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5"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7"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3"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5"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3"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sp>
        <p:nvSpPr>
          <p:cNvPr id="85" name="Rectangle 88"/>
          <p:cNvSpPr>
            <a:spLocks noChangeArrowheads="1"/>
          </p:cNvSpPr>
          <p:nvPr/>
        </p:nvSpPr>
        <p:spPr bwMode="auto">
          <a:xfrm>
            <a:off x="1252728" y="3180649"/>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589103" y="3156056"/>
            <a:ext cx="6134470" cy="1092607"/>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rPr>
              <a:t>❸：凡收到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发现报文的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a:t>
            </a:r>
            <a:r>
              <a:rPr lang="zh-CN" altLang="en-US" b="1" dirty="0">
                <a:solidFill>
                  <a:srgbClr val="0000FF"/>
                </a:solidFill>
                <a:latin typeface="微软雅黑 Light" panose="020B0502040204020203" pitchFamily="34" charset="-122"/>
                <a:ea typeface="微软雅黑 Light" panose="020B0502040204020203" pitchFamily="34" charset="-122"/>
              </a:rPr>
              <a:t>都发出</a:t>
            </a:r>
            <a:r>
              <a:rPr lang="zh-CN" altLang="en-US" b="1" dirty="0">
                <a:latin typeface="微软雅黑 Light" panose="020B0502040204020203" pitchFamily="34" charset="-122"/>
                <a:ea typeface="微软雅黑 Light" panose="020B0502040204020203" pitchFamily="34" charset="-122"/>
              </a:rPr>
              <a:t>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提供报文 </a:t>
            </a:r>
            <a:r>
              <a:rPr lang="en-US" altLang="zh-CN" b="1" dirty="0">
                <a:latin typeface="微软雅黑 Light" panose="020B0502040204020203" pitchFamily="34" charset="-122"/>
                <a:ea typeface="微软雅黑 Light" panose="020B0502040204020203" pitchFamily="34" charset="-122"/>
              </a:rPr>
              <a:t>DHCPOFFER</a:t>
            </a:r>
            <a:r>
              <a:rPr lang="zh-CN" altLang="en-US" b="1" dirty="0">
                <a:latin typeface="微软雅黑 Light" panose="020B0502040204020203" pitchFamily="34" charset="-122"/>
                <a:ea typeface="微软雅黑 Light" panose="020B0502040204020203" pitchFamily="34" charset="-122"/>
              </a:rPr>
              <a:t>，因此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客户可能收到多个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提供报文 。</a:t>
            </a:r>
          </a:p>
        </p:txBody>
      </p:sp>
      <p:sp>
        <p:nvSpPr>
          <p:cNvPr id="2" name="标题 1">
            <a:extLst>
              <a:ext uri="{FF2B5EF4-FFF2-40B4-BE49-F238E27FC236}">
                <a16:creationId xmlns:a16="http://schemas.microsoft.com/office/drawing/2014/main" id="{48D1DF7E-9F9E-1E32-E4EA-FABDC77AF95C}"/>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198197947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5"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7"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3"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5"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3"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sp>
        <p:nvSpPr>
          <p:cNvPr id="85" name="Rectangle 88"/>
          <p:cNvSpPr>
            <a:spLocks noChangeArrowheads="1"/>
          </p:cNvSpPr>
          <p:nvPr/>
        </p:nvSpPr>
        <p:spPr bwMode="auto">
          <a:xfrm>
            <a:off x="1252728" y="3180649"/>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624614" y="3165668"/>
            <a:ext cx="6116714" cy="1092607"/>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rPr>
              <a:t>❹：</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客户从几个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服务器中</a:t>
            </a:r>
            <a:r>
              <a:rPr lang="zh-CN" altLang="en-US" b="1" dirty="0">
                <a:solidFill>
                  <a:srgbClr val="0000FF"/>
                </a:solidFill>
                <a:latin typeface="微软雅黑 Light" panose="020B0502040204020203" pitchFamily="34" charset="-122"/>
                <a:ea typeface="微软雅黑 Light" panose="020B0502040204020203" pitchFamily="34" charset="-122"/>
              </a:rPr>
              <a:t>选择其中的一个，</a:t>
            </a:r>
            <a:r>
              <a:rPr lang="zh-CN" altLang="en-US" b="1" dirty="0">
                <a:latin typeface="微软雅黑 Light" panose="020B0502040204020203" pitchFamily="34" charset="-122"/>
                <a:ea typeface="微软雅黑 Light" panose="020B0502040204020203" pitchFamily="34" charset="-122"/>
              </a:rPr>
              <a:t>并向所选择的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服务器发送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请求报文 </a:t>
            </a:r>
            <a:r>
              <a:rPr lang="en-US" altLang="zh-CN" b="1" dirty="0">
                <a:latin typeface="微软雅黑 Light" panose="020B0502040204020203" pitchFamily="34" charset="-122"/>
                <a:ea typeface="微软雅黑 Light" panose="020B0502040204020203" pitchFamily="34" charset="-122"/>
              </a:rPr>
              <a:t>DHCPREQUEST</a:t>
            </a:r>
            <a:r>
              <a:rPr lang="zh-CN" altLang="en-US" b="1" dirty="0">
                <a:latin typeface="微软雅黑 Light" panose="020B0502040204020203" pitchFamily="34" charset="-122"/>
                <a:ea typeface="微软雅黑 Light" panose="020B0502040204020203" pitchFamily="34" charset="-122"/>
              </a:rPr>
              <a:t>。</a:t>
            </a:r>
          </a:p>
        </p:txBody>
      </p:sp>
      <p:sp>
        <p:nvSpPr>
          <p:cNvPr id="2" name="标题 1">
            <a:extLst>
              <a:ext uri="{FF2B5EF4-FFF2-40B4-BE49-F238E27FC236}">
                <a16:creationId xmlns:a16="http://schemas.microsoft.com/office/drawing/2014/main" id="{70744E2B-B65C-E91D-C5DC-33C9B7F72758}"/>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265194116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1" name="Line 31"/>
            <p:cNvSpPr>
              <a:spLocks noChangeShapeType="1"/>
            </p:cNvSpPr>
            <p:nvPr/>
          </p:nvSpPr>
          <p:spPr bwMode="auto">
            <a:xfrm flipH="1">
              <a:off x="2452423" y="3579813"/>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3" name="Rectangle 33"/>
            <p:cNvSpPr>
              <a:spLocks noChangeArrowheads="1"/>
            </p:cNvSpPr>
            <p:nvPr/>
          </p:nvSpPr>
          <p:spPr bwMode="auto">
            <a:xfrm>
              <a:off x="3529012" y="3452813"/>
              <a:ext cx="2904729" cy="254000"/>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5"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7"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3"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5"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3"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sp>
        <p:nvSpPr>
          <p:cNvPr id="85" name="Rectangle 88"/>
          <p:cNvSpPr>
            <a:spLocks noChangeArrowheads="1"/>
          </p:cNvSpPr>
          <p:nvPr/>
        </p:nvSpPr>
        <p:spPr bwMode="auto">
          <a:xfrm>
            <a:off x="1252728" y="3180649"/>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626345" y="3184095"/>
            <a:ext cx="6010182" cy="1092607"/>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rPr>
              <a:t>❺：被选择的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服务器发送确认报文 </a:t>
            </a:r>
            <a:r>
              <a:rPr lang="en-US" altLang="zh-CN" b="1" dirty="0">
                <a:latin typeface="微软雅黑 Light" panose="020B0502040204020203" pitchFamily="34" charset="-122"/>
                <a:ea typeface="微软雅黑 Light" panose="020B0502040204020203" pitchFamily="34" charset="-122"/>
              </a:rPr>
              <a:t>DHCPACK</a:t>
            </a:r>
            <a:r>
              <a:rPr lang="zh-CN" altLang="en-US" b="1" dirty="0">
                <a:latin typeface="微软雅黑 Light" panose="020B0502040204020203" pitchFamily="34" charset="-122"/>
                <a:ea typeface="微软雅黑 Light" panose="020B0502040204020203" pitchFamily="34" charset="-122"/>
              </a:rPr>
              <a:t>，</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客户可开始使用得到的</a:t>
            </a:r>
            <a:r>
              <a:rPr lang="zh-CN" altLang="en-US" b="1" dirty="0">
                <a:solidFill>
                  <a:srgbClr val="0000FF"/>
                </a:solidFill>
                <a:latin typeface="微软雅黑 Light" panose="020B0502040204020203" pitchFamily="34" charset="-122"/>
                <a:ea typeface="微软雅黑 Light" panose="020B0502040204020203" pitchFamily="34" charset="-122"/>
              </a:rPr>
              <a:t>临时</a:t>
            </a:r>
            <a:r>
              <a:rPr lang="zh-CN" altLang="en-US" b="1" dirty="0">
                <a:latin typeface="微软雅黑 Light" panose="020B0502040204020203" pitchFamily="34" charset="-122"/>
                <a:ea typeface="微软雅黑 Light" panose="020B0502040204020203" pitchFamily="34" charset="-122"/>
              </a:rPr>
              <a:t> </a:t>
            </a:r>
            <a:r>
              <a:rPr lang="en-US" altLang="zh-CN" b="1" dirty="0">
                <a:latin typeface="微软雅黑 Light" panose="020B0502040204020203" pitchFamily="34" charset="-122"/>
                <a:ea typeface="微软雅黑 Light" panose="020B0502040204020203" pitchFamily="34" charset="-122"/>
              </a:rPr>
              <a:t>IP </a:t>
            </a:r>
            <a:r>
              <a:rPr lang="zh-CN" altLang="en-US" b="1" dirty="0">
                <a:latin typeface="微软雅黑 Light" panose="020B0502040204020203" pitchFamily="34" charset="-122"/>
                <a:ea typeface="微软雅黑 Light" panose="020B0502040204020203" pitchFamily="34" charset="-122"/>
              </a:rPr>
              <a:t>地址了，进入已绑定状态。 </a:t>
            </a:r>
          </a:p>
        </p:txBody>
      </p:sp>
      <p:sp>
        <p:nvSpPr>
          <p:cNvPr id="2" name="标题 1">
            <a:extLst>
              <a:ext uri="{FF2B5EF4-FFF2-40B4-BE49-F238E27FC236}">
                <a16:creationId xmlns:a16="http://schemas.microsoft.com/office/drawing/2014/main" id="{AEEBB52E-02E6-6A0E-7A78-14439087E338}"/>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12710836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1" name="Line 31"/>
            <p:cNvSpPr>
              <a:spLocks noChangeShapeType="1"/>
            </p:cNvSpPr>
            <p:nvPr/>
          </p:nvSpPr>
          <p:spPr bwMode="auto">
            <a:xfrm flipH="1">
              <a:off x="2452423" y="3579813"/>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3" name="Rectangle 33"/>
            <p:cNvSpPr>
              <a:spLocks noChangeArrowheads="1"/>
            </p:cNvSpPr>
            <p:nvPr/>
          </p:nvSpPr>
          <p:spPr bwMode="auto">
            <a:xfrm>
              <a:off x="3529012" y="3452813"/>
              <a:ext cx="2904729" cy="254000"/>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5"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7"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3"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5"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3"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sp>
        <p:nvSpPr>
          <p:cNvPr id="85" name="Rectangle 88"/>
          <p:cNvSpPr>
            <a:spLocks noChangeArrowheads="1"/>
          </p:cNvSpPr>
          <p:nvPr/>
        </p:nvSpPr>
        <p:spPr bwMode="auto">
          <a:xfrm>
            <a:off x="1252728" y="3180649"/>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624614" y="3189032"/>
            <a:ext cx="6223246" cy="1092607"/>
          </a:xfrm>
          <a:prstGeom prst="rect">
            <a:avLst/>
          </a:prstGeom>
          <a:noFill/>
        </p:spPr>
        <p:txBody>
          <a:bodyPr wrap="square">
            <a:spAutoFit/>
          </a:bodyPr>
          <a:lstStyle/>
          <a:p>
            <a:pPr>
              <a:lnSpc>
                <a:spcPts val="2600"/>
              </a:lnSpc>
            </a:pP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客户现在要根据服务器提供的</a:t>
            </a:r>
            <a:r>
              <a:rPr lang="zh-CN" altLang="en-US" b="1" dirty="0">
                <a:solidFill>
                  <a:srgbClr val="0000FF"/>
                </a:solidFill>
                <a:latin typeface="微软雅黑 Light" panose="020B0502040204020203" pitchFamily="34" charset="-122"/>
                <a:ea typeface="微软雅黑 Light" panose="020B0502040204020203" pitchFamily="34" charset="-122"/>
              </a:rPr>
              <a:t>租用期 </a:t>
            </a:r>
            <a:r>
              <a:rPr lang="en-US" altLang="zh-CN" b="1" dirty="0">
                <a:solidFill>
                  <a:srgbClr val="0000FF"/>
                </a:solidFill>
                <a:latin typeface="微软雅黑 Light" panose="020B0502040204020203" pitchFamily="34" charset="-122"/>
                <a:ea typeface="微软雅黑 Light" panose="020B0502040204020203" pitchFamily="34" charset="-122"/>
              </a:rPr>
              <a:t>T </a:t>
            </a:r>
            <a:r>
              <a:rPr lang="zh-CN" altLang="en-US" b="1" dirty="0">
                <a:latin typeface="微软雅黑 Light" panose="020B0502040204020203" pitchFamily="34" charset="-122"/>
                <a:ea typeface="微软雅黑 Light" panose="020B0502040204020203" pitchFamily="34" charset="-122"/>
              </a:rPr>
              <a:t>设置</a:t>
            </a:r>
            <a:r>
              <a:rPr lang="zh-CN" altLang="en-US" b="1" dirty="0">
                <a:solidFill>
                  <a:srgbClr val="0000FF"/>
                </a:solidFill>
                <a:latin typeface="微软雅黑 Light" panose="020B0502040204020203" pitchFamily="34" charset="-122"/>
                <a:ea typeface="微软雅黑 Light" panose="020B0502040204020203" pitchFamily="34" charset="-122"/>
              </a:rPr>
              <a:t>两个</a:t>
            </a:r>
            <a:r>
              <a:rPr lang="zh-CN" altLang="en-US" b="1" dirty="0">
                <a:latin typeface="微软雅黑 Light" panose="020B0502040204020203" pitchFamily="34" charset="-122"/>
                <a:ea typeface="微软雅黑 Light" panose="020B0502040204020203" pitchFamily="34" charset="-122"/>
              </a:rPr>
              <a:t>计时器 </a:t>
            </a:r>
            <a:r>
              <a:rPr lang="en-US" altLang="zh-CN" b="1" dirty="0">
                <a:latin typeface="微软雅黑 Light" panose="020B0502040204020203" pitchFamily="34" charset="-122"/>
                <a:ea typeface="微软雅黑 Light" panose="020B0502040204020203" pitchFamily="34" charset="-122"/>
              </a:rPr>
              <a:t>T</a:t>
            </a:r>
            <a:r>
              <a:rPr lang="en-US" altLang="zh-CN" b="1" baseline="-25000" dirty="0">
                <a:latin typeface="微软雅黑 Light" panose="020B0502040204020203" pitchFamily="34" charset="-122"/>
                <a:ea typeface="微软雅黑 Light" panose="020B0502040204020203" pitchFamily="34" charset="-122"/>
              </a:rPr>
              <a:t>1</a:t>
            </a:r>
            <a:r>
              <a:rPr lang="en-US" altLang="zh-CN" b="1" dirty="0">
                <a:latin typeface="微软雅黑 Light" panose="020B0502040204020203" pitchFamily="34" charset="-122"/>
                <a:ea typeface="微软雅黑 Light" panose="020B0502040204020203" pitchFamily="34" charset="-122"/>
              </a:rPr>
              <a:t> </a:t>
            </a:r>
            <a:r>
              <a:rPr lang="zh-CN" altLang="en-US" b="1" dirty="0">
                <a:latin typeface="微软雅黑 Light" panose="020B0502040204020203" pitchFamily="34" charset="-122"/>
                <a:ea typeface="微软雅黑 Light" panose="020B0502040204020203" pitchFamily="34" charset="-122"/>
              </a:rPr>
              <a:t>和 </a:t>
            </a:r>
            <a:r>
              <a:rPr lang="en-US" altLang="zh-CN" b="1" dirty="0">
                <a:latin typeface="微软雅黑 Light" panose="020B0502040204020203" pitchFamily="34" charset="-122"/>
                <a:ea typeface="微软雅黑 Light" panose="020B0502040204020203" pitchFamily="34" charset="-122"/>
              </a:rPr>
              <a:t>T</a:t>
            </a:r>
            <a:r>
              <a:rPr lang="en-US" altLang="zh-CN" b="1" baseline="-25000" dirty="0">
                <a:latin typeface="微软雅黑 Light" panose="020B0502040204020203" pitchFamily="34" charset="-122"/>
                <a:ea typeface="微软雅黑 Light" panose="020B0502040204020203" pitchFamily="34" charset="-122"/>
              </a:rPr>
              <a:t>2</a:t>
            </a:r>
            <a:r>
              <a:rPr lang="zh-CN" altLang="en-US" b="1" dirty="0">
                <a:latin typeface="微软雅黑 Light" panose="020B0502040204020203" pitchFamily="34" charset="-122"/>
                <a:ea typeface="微软雅黑 Light" panose="020B0502040204020203" pitchFamily="34" charset="-122"/>
              </a:rPr>
              <a:t>，它们的超时时间分别是 </a:t>
            </a:r>
            <a:r>
              <a:rPr lang="en-US" altLang="zh-CN" b="1" dirty="0">
                <a:latin typeface="微软雅黑 Light" panose="020B0502040204020203" pitchFamily="34" charset="-122"/>
                <a:ea typeface="微软雅黑 Light" panose="020B0502040204020203" pitchFamily="34" charset="-122"/>
              </a:rPr>
              <a:t>0.5T </a:t>
            </a:r>
            <a:r>
              <a:rPr lang="zh-CN" altLang="en-US" b="1" dirty="0">
                <a:latin typeface="微软雅黑 Light" panose="020B0502040204020203" pitchFamily="34" charset="-122"/>
                <a:ea typeface="微软雅黑 Light" panose="020B0502040204020203" pitchFamily="34" charset="-122"/>
              </a:rPr>
              <a:t>和 </a:t>
            </a:r>
            <a:r>
              <a:rPr lang="en-US" altLang="zh-CN" b="1" dirty="0">
                <a:latin typeface="微软雅黑 Light" panose="020B0502040204020203" pitchFamily="34" charset="-122"/>
                <a:ea typeface="微软雅黑 Light" panose="020B0502040204020203" pitchFamily="34" charset="-122"/>
              </a:rPr>
              <a:t>0.875T</a:t>
            </a:r>
            <a:r>
              <a:rPr lang="zh-CN" altLang="en-US" b="1" dirty="0">
                <a:latin typeface="微软雅黑 Light" panose="020B0502040204020203" pitchFamily="34" charset="-122"/>
                <a:ea typeface="微软雅黑 Light" panose="020B0502040204020203" pitchFamily="34" charset="-122"/>
              </a:rPr>
              <a:t>。当超时时间到时，就要请求更新租用期。</a:t>
            </a:r>
          </a:p>
        </p:txBody>
      </p:sp>
      <p:sp>
        <p:nvSpPr>
          <p:cNvPr id="2" name="标题 1">
            <a:extLst>
              <a:ext uri="{FF2B5EF4-FFF2-40B4-BE49-F238E27FC236}">
                <a16:creationId xmlns:a16="http://schemas.microsoft.com/office/drawing/2014/main" id="{E55B4FF0-0225-3500-D22E-92EB34CC17B5}"/>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26313531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1" name="Line 31"/>
            <p:cNvSpPr>
              <a:spLocks noChangeShapeType="1"/>
            </p:cNvSpPr>
            <p:nvPr/>
          </p:nvSpPr>
          <p:spPr bwMode="auto">
            <a:xfrm flipH="1">
              <a:off x="2452423" y="3579813"/>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3" name="Rectangle 33"/>
            <p:cNvSpPr>
              <a:spLocks noChangeArrowheads="1"/>
            </p:cNvSpPr>
            <p:nvPr/>
          </p:nvSpPr>
          <p:spPr bwMode="auto">
            <a:xfrm>
              <a:off x="3529012" y="3452813"/>
              <a:ext cx="2904729" cy="254000"/>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9" name="Line 40"/>
            <p:cNvSpPr>
              <a:spLocks noChangeShapeType="1"/>
            </p:cNvSpPr>
            <p:nvPr/>
          </p:nvSpPr>
          <p:spPr bwMode="auto">
            <a:xfrm>
              <a:off x="2454143" y="41878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1" name="Rectangle 42"/>
            <p:cNvSpPr>
              <a:spLocks noChangeArrowheads="1"/>
            </p:cNvSpPr>
            <p:nvPr/>
          </p:nvSpPr>
          <p:spPr bwMode="auto">
            <a:xfrm>
              <a:off x="3529012" y="4060825"/>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5"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7"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3"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5"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3"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sp>
        <p:nvSpPr>
          <p:cNvPr id="85" name="Rectangle 88"/>
          <p:cNvSpPr>
            <a:spLocks noChangeArrowheads="1"/>
          </p:cNvSpPr>
          <p:nvPr/>
        </p:nvSpPr>
        <p:spPr bwMode="auto">
          <a:xfrm>
            <a:off x="1252728" y="3180649"/>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626384" y="3253058"/>
            <a:ext cx="6114944" cy="759182"/>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rPr>
              <a:t>❻：租用期过了</a:t>
            </a:r>
            <a:r>
              <a:rPr lang="zh-CN" altLang="en-US" b="1" dirty="0">
                <a:solidFill>
                  <a:srgbClr val="0000FF"/>
                </a:solidFill>
                <a:latin typeface="微软雅黑 Light" panose="020B0502040204020203" pitchFamily="34" charset="-122"/>
                <a:ea typeface="微软雅黑 Light" panose="020B0502040204020203" pitchFamily="34" charset="-122"/>
              </a:rPr>
              <a:t>一半</a:t>
            </a:r>
            <a:r>
              <a:rPr lang="zh-CN" altLang="en-US" b="1" dirty="0">
                <a:latin typeface="微软雅黑 Light" panose="020B0502040204020203" pitchFamily="34" charset="-122"/>
                <a:ea typeface="微软雅黑 Light" panose="020B0502040204020203" pitchFamily="34" charset="-122"/>
              </a:rPr>
              <a:t>（</a:t>
            </a:r>
            <a:r>
              <a:rPr lang="en-US" altLang="zh-CN" b="1" dirty="0">
                <a:latin typeface="微软雅黑 Light" panose="020B0502040204020203" pitchFamily="34" charset="-122"/>
                <a:ea typeface="微软雅黑 Light" panose="020B0502040204020203" pitchFamily="34" charset="-122"/>
              </a:rPr>
              <a:t>T</a:t>
            </a:r>
            <a:r>
              <a:rPr lang="en-US" altLang="zh-CN" b="1" baseline="-25000" dirty="0">
                <a:latin typeface="微软雅黑 Light" panose="020B0502040204020203" pitchFamily="34" charset="-122"/>
                <a:ea typeface="微软雅黑 Light" panose="020B0502040204020203" pitchFamily="34" charset="-122"/>
              </a:rPr>
              <a:t>1</a:t>
            </a:r>
            <a:r>
              <a:rPr lang="en-US" altLang="zh-CN" b="1" dirty="0">
                <a:latin typeface="微软雅黑 Light" panose="020B0502040204020203" pitchFamily="34" charset="-122"/>
                <a:ea typeface="微软雅黑 Light" panose="020B0502040204020203" pitchFamily="34" charset="-122"/>
              </a:rPr>
              <a:t> </a:t>
            </a:r>
            <a:r>
              <a:rPr lang="zh-CN" altLang="en-US" b="1" dirty="0">
                <a:latin typeface="微软雅黑 Light" panose="020B0502040204020203" pitchFamily="34" charset="-122"/>
                <a:ea typeface="微软雅黑 Light" panose="020B0502040204020203" pitchFamily="34" charset="-122"/>
              </a:rPr>
              <a:t>时间到），</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发送请求报文 </a:t>
            </a:r>
            <a:r>
              <a:rPr lang="en-US" altLang="zh-CN" b="1" dirty="0">
                <a:latin typeface="微软雅黑 Light" panose="020B0502040204020203" pitchFamily="34" charset="-122"/>
                <a:ea typeface="微软雅黑 Light" panose="020B0502040204020203" pitchFamily="34" charset="-122"/>
              </a:rPr>
              <a:t>DHCPREQUEST</a:t>
            </a:r>
            <a:r>
              <a:rPr lang="zh-CN" altLang="en-US" b="1" dirty="0">
                <a:latin typeface="微软雅黑 Light" panose="020B0502040204020203" pitchFamily="34" charset="-122"/>
                <a:ea typeface="微软雅黑 Light" panose="020B0502040204020203" pitchFamily="34" charset="-122"/>
              </a:rPr>
              <a:t>，要求</a:t>
            </a:r>
            <a:r>
              <a:rPr lang="zh-CN" altLang="en-US" b="1" dirty="0">
                <a:solidFill>
                  <a:srgbClr val="0000FF"/>
                </a:solidFill>
                <a:latin typeface="微软雅黑 Light" panose="020B0502040204020203" pitchFamily="34" charset="-122"/>
                <a:ea typeface="微软雅黑 Light" panose="020B0502040204020203" pitchFamily="34" charset="-122"/>
              </a:rPr>
              <a:t>更新</a:t>
            </a:r>
            <a:r>
              <a:rPr lang="zh-CN" altLang="en-US" b="1" dirty="0">
                <a:latin typeface="微软雅黑 Light" panose="020B0502040204020203" pitchFamily="34" charset="-122"/>
                <a:ea typeface="微软雅黑 Light" panose="020B0502040204020203" pitchFamily="34" charset="-122"/>
              </a:rPr>
              <a:t>租用期。 </a:t>
            </a:r>
          </a:p>
        </p:txBody>
      </p:sp>
      <p:sp>
        <p:nvSpPr>
          <p:cNvPr id="2" name="标题 1">
            <a:extLst>
              <a:ext uri="{FF2B5EF4-FFF2-40B4-BE49-F238E27FC236}">
                <a16:creationId xmlns:a16="http://schemas.microsoft.com/office/drawing/2014/main" id="{5BC80951-6849-1AD8-A2BF-B4084A42BF00}"/>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31847310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1" name="Line 31"/>
            <p:cNvSpPr>
              <a:spLocks noChangeShapeType="1"/>
            </p:cNvSpPr>
            <p:nvPr/>
          </p:nvSpPr>
          <p:spPr bwMode="auto">
            <a:xfrm flipH="1">
              <a:off x="2452423" y="3579813"/>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3" name="Rectangle 33"/>
            <p:cNvSpPr>
              <a:spLocks noChangeArrowheads="1"/>
            </p:cNvSpPr>
            <p:nvPr/>
          </p:nvSpPr>
          <p:spPr bwMode="auto">
            <a:xfrm>
              <a:off x="3529012" y="3452813"/>
              <a:ext cx="2904729" cy="254000"/>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9" name="Line 40"/>
            <p:cNvSpPr>
              <a:spLocks noChangeShapeType="1"/>
            </p:cNvSpPr>
            <p:nvPr/>
          </p:nvSpPr>
          <p:spPr bwMode="auto">
            <a:xfrm>
              <a:off x="2454143" y="41878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1" name="Rectangle 42"/>
            <p:cNvSpPr>
              <a:spLocks noChangeArrowheads="1"/>
            </p:cNvSpPr>
            <p:nvPr/>
          </p:nvSpPr>
          <p:spPr bwMode="auto">
            <a:xfrm>
              <a:off x="3529012" y="4060825"/>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grpSp>
        <p:nvGrpSpPr>
          <p:cNvPr id="87" name="组合 86"/>
          <p:cNvGrpSpPr/>
          <p:nvPr/>
        </p:nvGrpSpPr>
        <p:grpSpPr>
          <a:xfrm>
            <a:off x="1252728" y="1098575"/>
            <a:ext cx="6757416" cy="1083034"/>
            <a:chOff x="1252728" y="3207284"/>
            <a:chExt cx="6757416" cy="824984"/>
          </a:xfrm>
          <a:solidFill>
            <a:schemeClr val="accent6">
              <a:lumMod val="60000"/>
              <a:lumOff val="40000"/>
            </a:schemeClr>
          </a:solidFill>
        </p:grpSpPr>
        <p:sp>
          <p:nvSpPr>
            <p:cNvPr id="85" name="Rectangle 88"/>
            <p:cNvSpPr>
              <a:spLocks noChangeArrowheads="1"/>
            </p:cNvSpPr>
            <p:nvPr/>
          </p:nvSpPr>
          <p:spPr bwMode="auto">
            <a:xfrm>
              <a:off x="1252728" y="3207284"/>
              <a:ext cx="6757416" cy="824984"/>
            </a:xfrm>
            <a:prstGeom prst="rect">
              <a:avLst/>
            </a:prstGeom>
            <a:grp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661855" y="3218788"/>
              <a:ext cx="5939161" cy="578295"/>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rPr>
                <a:t>❼：</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服务器若</a:t>
              </a:r>
              <a:r>
                <a:rPr lang="zh-CN" altLang="en-US" b="1" dirty="0">
                  <a:solidFill>
                    <a:srgbClr val="0000FF"/>
                  </a:solidFill>
                  <a:latin typeface="微软雅黑 Light" panose="020B0502040204020203" pitchFamily="34" charset="-122"/>
                  <a:ea typeface="微软雅黑 Light" panose="020B0502040204020203" pitchFamily="34" charset="-122"/>
                </a:rPr>
                <a:t>同意，</a:t>
              </a:r>
              <a:r>
                <a:rPr lang="zh-CN" altLang="en-US" b="1" dirty="0">
                  <a:latin typeface="微软雅黑 Light" panose="020B0502040204020203" pitchFamily="34" charset="-122"/>
                  <a:ea typeface="微软雅黑 Light" panose="020B0502040204020203" pitchFamily="34" charset="-122"/>
                </a:rPr>
                <a:t>则发回确认报文 </a:t>
              </a:r>
              <a:r>
                <a:rPr lang="en-US" altLang="zh-CN" b="1" dirty="0">
                  <a:latin typeface="微软雅黑 Light" panose="020B0502040204020203" pitchFamily="34" charset="-122"/>
                  <a:ea typeface="微软雅黑 Light" panose="020B0502040204020203" pitchFamily="34" charset="-122"/>
                </a:rPr>
                <a:t>DHCPACK</a:t>
              </a:r>
              <a:r>
                <a:rPr lang="zh-CN" altLang="en-US" b="1" dirty="0">
                  <a:latin typeface="微软雅黑 Light" panose="020B0502040204020203" pitchFamily="34" charset="-122"/>
                  <a:ea typeface="微软雅黑 Light" panose="020B0502040204020203" pitchFamily="34" charset="-122"/>
                </a:rPr>
                <a:t>。</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客户得到了新的租用期，重新设置计时器。</a:t>
              </a:r>
            </a:p>
          </p:txBody>
        </p:sp>
      </p:grpSp>
      <p:sp>
        <p:nvSpPr>
          <p:cNvPr id="2" name="标题 1">
            <a:extLst>
              <a:ext uri="{FF2B5EF4-FFF2-40B4-BE49-F238E27FC236}">
                <a16:creationId xmlns:a16="http://schemas.microsoft.com/office/drawing/2014/main" id="{BE23A109-1773-A8D2-D618-BDB2C8F7998A}"/>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424599989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1" name="Line 31"/>
            <p:cNvSpPr>
              <a:spLocks noChangeShapeType="1"/>
            </p:cNvSpPr>
            <p:nvPr/>
          </p:nvSpPr>
          <p:spPr bwMode="auto">
            <a:xfrm flipH="1">
              <a:off x="2452423" y="3579813"/>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3" name="Rectangle 33"/>
            <p:cNvSpPr>
              <a:spLocks noChangeArrowheads="1"/>
            </p:cNvSpPr>
            <p:nvPr/>
          </p:nvSpPr>
          <p:spPr bwMode="auto">
            <a:xfrm>
              <a:off x="3529012" y="3452813"/>
              <a:ext cx="2904729" cy="254000"/>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9" name="Line 40"/>
            <p:cNvSpPr>
              <a:spLocks noChangeShapeType="1"/>
            </p:cNvSpPr>
            <p:nvPr/>
          </p:nvSpPr>
          <p:spPr bwMode="auto">
            <a:xfrm>
              <a:off x="2454143" y="41878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1" name="Rectangle 42"/>
            <p:cNvSpPr>
              <a:spLocks noChangeArrowheads="1"/>
            </p:cNvSpPr>
            <p:nvPr/>
          </p:nvSpPr>
          <p:spPr bwMode="auto">
            <a:xfrm>
              <a:off x="3529012" y="4060825"/>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5"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7"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grpSp>
        <p:nvGrpSpPr>
          <p:cNvPr id="87" name="组合 86"/>
          <p:cNvGrpSpPr/>
          <p:nvPr/>
        </p:nvGrpSpPr>
        <p:grpSpPr>
          <a:xfrm>
            <a:off x="1252728" y="1098575"/>
            <a:ext cx="6757416" cy="1094614"/>
            <a:chOff x="1252728" y="3207283"/>
            <a:chExt cx="6757416" cy="1094614"/>
          </a:xfrm>
        </p:grpSpPr>
        <p:sp>
          <p:nvSpPr>
            <p:cNvPr id="85" name="Rectangle 88"/>
            <p:cNvSpPr>
              <a:spLocks noChangeArrowheads="1"/>
            </p:cNvSpPr>
            <p:nvPr/>
          </p:nvSpPr>
          <p:spPr bwMode="auto">
            <a:xfrm>
              <a:off x="1252728" y="3207283"/>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695636" y="3209290"/>
              <a:ext cx="6098958" cy="1092607"/>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rPr>
                <a:t>❽：</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服务器若</a:t>
              </a:r>
              <a:r>
                <a:rPr lang="zh-CN" altLang="en-US" b="1" dirty="0">
                  <a:solidFill>
                    <a:srgbClr val="0000FF"/>
                  </a:solidFill>
                  <a:latin typeface="微软雅黑 Light" panose="020B0502040204020203" pitchFamily="34" charset="-122"/>
                  <a:ea typeface="微软雅黑 Light" panose="020B0502040204020203" pitchFamily="34" charset="-122"/>
                </a:rPr>
                <a:t>不同意，</a:t>
              </a:r>
              <a:r>
                <a:rPr lang="zh-CN" altLang="en-US" b="1" dirty="0">
                  <a:latin typeface="微软雅黑 Light" panose="020B0502040204020203" pitchFamily="34" charset="-122"/>
                  <a:ea typeface="微软雅黑 Light" panose="020B0502040204020203" pitchFamily="34" charset="-122"/>
                </a:rPr>
                <a:t>则发回否认报 </a:t>
              </a:r>
              <a:r>
                <a:rPr lang="en-US" altLang="zh-CN" b="1" dirty="0">
                  <a:latin typeface="微软雅黑 Light" panose="020B0502040204020203" pitchFamily="34" charset="-122"/>
                  <a:ea typeface="微软雅黑 Light" panose="020B0502040204020203" pitchFamily="34" charset="-122"/>
                </a:rPr>
                <a:t>DHCPNACK</a:t>
              </a:r>
              <a:r>
                <a:rPr lang="zh-CN" altLang="en-US" b="1" dirty="0">
                  <a:latin typeface="微软雅黑 Light" panose="020B0502040204020203" pitchFamily="34" charset="-122"/>
                  <a:ea typeface="微软雅黑 Light" panose="020B0502040204020203" pitchFamily="34" charset="-122"/>
                </a:rPr>
                <a:t>。这时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客户必须立即停止使用原来的 </a:t>
              </a:r>
              <a:r>
                <a:rPr lang="en-US" altLang="zh-CN" b="1" dirty="0">
                  <a:latin typeface="微软雅黑 Light" panose="020B0502040204020203" pitchFamily="34" charset="-122"/>
                  <a:ea typeface="微软雅黑 Light" panose="020B0502040204020203" pitchFamily="34" charset="-122"/>
                </a:rPr>
                <a:t>IP </a:t>
              </a:r>
              <a:r>
                <a:rPr lang="zh-CN" altLang="en-US" b="1" dirty="0">
                  <a:latin typeface="微软雅黑 Light" panose="020B0502040204020203" pitchFamily="34" charset="-122"/>
                  <a:ea typeface="微软雅黑 Light" panose="020B0502040204020203" pitchFamily="34" charset="-122"/>
                </a:rPr>
                <a:t>地址，而必须重新申请 </a:t>
              </a:r>
              <a:r>
                <a:rPr lang="en-US" altLang="zh-CN" b="1" dirty="0">
                  <a:latin typeface="微软雅黑 Light" panose="020B0502040204020203" pitchFamily="34" charset="-122"/>
                  <a:ea typeface="微软雅黑 Light" panose="020B0502040204020203" pitchFamily="34" charset="-122"/>
                </a:rPr>
                <a:t>IP </a:t>
              </a:r>
              <a:r>
                <a:rPr lang="zh-CN" altLang="en-US" b="1" dirty="0">
                  <a:latin typeface="微软雅黑 Light" panose="020B0502040204020203" pitchFamily="34" charset="-122"/>
                  <a:ea typeface="微软雅黑 Light" panose="020B0502040204020203" pitchFamily="34" charset="-122"/>
                </a:rPr>
                <a:t>地址（回到步骤  ❷）。</a:t>
              </a:r>
            </a:p>
          </p:txBody>
        </p:sp>
      </p:grpSp>
      <p:sp>
        <p:nvSpPr>
          <p:cNvPr id="2" name="标题 1">
            <a:extLst>
              <a:ext uri="{FF2B5EF4-FFF2-40B4-BE49-F238E27FC236}">
                <a16:creationId xmlns:a16="http://schemas.microsoft.com/office/drawing/2014/main" id="{EEC7FA99-61B2-EAF5-F107-2F02C5F5B4BF}"/>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350871097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1" name="Line 31"/>
            <p:cNvSpPr>
              <a:spLocks noChangeShapeType="1"/>
            </p:cNvSpPr>
            <p:nvPr/>
          </p:nvSpPr>
          <p:spPr bwMode="auto">
            <a:xfrm flipH="1">
              <a:off x="2452423" y="3579813"/>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3" name="Rectangle 33"/>
            <p:cNvSpPr>
              <a:spLocks noChangeArrowheads="1"/>
            </p:cNvSpPr>
            <p:nvPr/>
          </p:nvSpPr>
          <p:spPr bwMode="auto">
            <a:xfrm>
              <a:off x="3529012" y="3452813"/>
              <a:ext cx="2904729" cy="254000"/>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9" name="Line 40"/>
            <p:cNvSpPr>
              <a:spLocks noChangeShapeType="1"/>
            </p:cNvSpPr>
            <p:nvPr/>
          </p:nvSpPr>
          <p:spPr bwMode="auto">
            <a:xfrm>
              <a:off x="2454143" y="41878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1" name="Rectangle 42"/>
            <p:cNvSpPr>
              <a:spLocks noChangeArrowheads="1"/>
            </p:cNvSpPr>
            <p:nvPr/>
          </p:nvSpPr>
          <p:spPr bwMode="auto">
            <a:xfrm>
              <a:off x="3529012" y="4060825"/>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grpSp>
        <p:nvGrpSpPr>
          <p:cNvPr id="87" name="组合 86"/>
          <p:cNvGrpSpPr/>
          <p:nvPr/>
        </p:nvGrpSpPr>
        <p:grpSpPr>
          <a:xfrm>
            <a:off x="1252728" y="1083111"/>
            <a:ext cx="6757416" cy="1097145"/>
            <a:chOff x="1252728" y="3191819"/>
            <a:chExt cx="6757416" cy="1097145"/>
          </a:xfrm>
        </p:grpSpPr>
        <p:sp>
          <p:nvSpPr>
            <p:cNvPr id="85" name="Rectangle 88"/>
            <p:cNvSpPr>
              <a:spLocks noChangeArrowheads="1"/>
            </p:cNvSpPr>
            <p:nvPr/>
          </p:nvSpPr>
          <p:spPr bwMode="auto">
            <a:xfrm>
              <a:off x="1252728" y="3207283"/>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502057" y="3191819"/>
              <a:ext cx="6258757" cy="1092607"/>
            </a:xfrm>
            <a:prstGeom prst="rect">
              <a:avLst/>
            </a:prstGeom>
            <a:noFill/>
          </p:spPr>
          <p:txBody>
            <a:bodyPr wrap="square">
              <a:spAutoFit/>
            </a:bodyPr>
            <a:lstStyle/>
            <a:p>
              <a:pPr>
                <a:lnSpc>
                  <a:spcPts val="2600"/>
                </a:lnSpc>
              </a:pPr>
              <a:r>
                <a:rPr lang="zh-CN" altLang="en-US" sz="1600" b="1" dirty="0">
                  <a:latin typeface="微软雅黑 Light" panose="020B0502040204020203" pitchFamily="34" charset="-122"/>
                  <a:ea typeface="微软雅黑 Light" panose="020B0502040204020203" pitchFamily="34" charset="-122"/>
                </a:rPr>
                <a:t>若 </a:t>
              </a:r>
              <a:r>
                <a:rPr lang="en-US" altLang="zh-CN" sz="1600" b="1" dirty="0">
                  <a:latin typeface="微软雅黑 Light" panose="020B0502040204020203" pitchFamily="34" charset="-122"/>
                  <a:ea typeface="微软雅黑 Light" panose="020B0502040204020203" pitchFamily="34" charset="-122"/>
                </a:rPr>
                <a:t>DHCP </a:t>
              </a:r>
              <a:r>
                <a:rPr lang="zh-CN" altLang="en-US" sz="1600" b="1" dirty="0">
                  <a:latin typeface="微软雅黑 Light" panose="020B0502040204020203" pitchFamily="34" charset="-122"/>
                  <a:ea typeface="微软雅黑 Light" panose="020B0502040204020203" pitchFamily="34" charset="-122"/>
                </a:rPr>
                <a:t>服务器不响应步骤  ❻ 的请求报文 </a:t>
              </a:r>
              <a:r>
                <a:rPr lang="en-US" altLang="zh-CN" sz="1600" b="1" dirty="0">
                  <a:latin typeface="微软雅黑 Light" panose="020B0502040204020203" pitchFamily="34" charset="-122"/>
                  <a:ea typeface="微软雅黑 Light" panose="020B0502040204020203" pitchFamily="34" charset="-122"/>
                </a:rPr>
                <a:t>DHCPREQUEST</a:t>
              </a:r>
              <a:r>
                <a:rPr lang="zh-CN" altLang="en-US" sz="1600" b="1" dirty="0">
                  <a:latin typeface="微软雅黑 Light" panose="020B0502040204020203" pitchFamily="34" charset="-122"/>
                  <a:ea typeface="微软雅黑 Light" panose="020B0502040204020203" pitchFamily="34" charset="-122"/>
                </a:rPr>
                <a:t>，则在租用期过了 </a:t>
              </a:r>
              <a:r>
                <a:rPr lang="en-US" altLang="zh-CN" sz="1600" b="1" dirty="0">
                  <a:solidFill>
                    <a:srgbClr val="0000FF"/>
                  </a:solidFill>
                  <a:latin typeface="微软雅黑 Light" panose="020B0502040204020203" pitchFamily="34" charset="-122"/>
                  <a:ea typeface="微软雅黑 Light" panose="020B0502040204020203" pitchFamily="34" charset="-122"/>
                </a:rPr>
                <a:t>87.5% </a:t>
              </a:r>
              <a:r>
                <a:rPr lang="zh-CN" altLang="en-US" sz="1600" b="1" dirty="0">
                  <a:latin typeface="微软雅黑 Light" panose="020B0502040204020203" pitchFamily="34" charset="-122"/>
                  <a:ea typeface="微软雅黑 Light" panose="020B0502040204020203" pitchFamily="34" charset="-122"/>
                </a:rPr>
                <a:t>时 </a:t>
              </a:r>
              <a:r>
                <a:rPr lang="en-US" altLang="zh-CN" sz="1600" b="1" dirty="0">
                  <a:latin typeface="微软雅黑 Light" panose="020B0502040204020203" pitchFamily="34" charset="-122"/>
                  <a:ea typeface="微软雅黑 Light" panose="020B0502040204020203" pitchFamily="34" charset="-122"/>
                </a:rPr>
                <a:t>(T</a:t>
              </a:r>
              <a:r>
                <a:rPr lang="en-US" altLang="zh-CN" sz="1600" b="1" baseline="-25000" dirty="0">
                  <a:latin typeface="微软雅黑 Light" panose="020B0502040204020203" pitchFamily="34" charset="-122"/>
                  <a:ea typeface="微软雅黑 Light" panose="020B0502040204020203" pitchFamily="34" charset="-122"/>
                </a:rPr>
                <a:t>2</a:t>
              </a:r>
              <a:r>
                <a:rPr lang="en-US" altLang="zh-CN" sz="1600" b="1" dirty="0">
                  <a:latin typeface="微软雅黑 Light" panose="020B0502040204020203" pitchFamily="34" charset="-122"/>
                  <a:ea typeface="微软雅黑 Light" panose="020B0502040204020203" pitchFamily="34" charset="-122"/>
                </a:rPr>
                <a:t> </a:t>
              </a:r>
              <a:r>
                <a:rPr lang="zh-CN" altLang="en-US" sz="1600" b="1" dirty="0">
                  <a:latin typeface="微软雅黑 Light" panose="020B0502040204020203" pitchFamily="34" charset="-122"/>
                  <a:ea typeface="微软雅黑 Light" panose="020B0502040204020203" pitchFamily="34" charset="-122"/>
                </a:rPr>
                <a:t>时间到</a:t>
              </a:r>
              <a:r>
                <a:rPr lang="en-US" altLang="zh-CN" sz="1600" b="1" dirty="0">
                  <a:latin typeface="微软雅黑 Light" panose="020B0502040204020203" pitchFamily="34" charset="-122"/>
                  <a:ea typeface="微软雅黑 Light" panose="020B0502040204020203" pitchFamily="34" charset="-122"/>
                </a:rPr>
                <a:t>)</a:t>
              </a:r>
              <a:r>
                <a:rPr lang="zh-CN" altLang="en-US" sz="1600" b="1" dirty="0">
                  <a:latin typeface="微软雅黑 Light" panose="020B0502040204020203" pitchFamily="34" charset="-122"/>
                  <a:ea typeface="微软雅黑 Light" panose="020B0502040204020203" pitchFamily="34" charset="-122"/>
                </a:rPr>
                <a:t>，</a:t>
              </a:r>
              <a:r>
                <a:rPr lang="en-US" altLang="zh-CN" sz="1600" b="1" dirty="0">
                  <a:latin typeface="微软雅黑 Light" panose="020B0502040204020203" pitchFamily="34" charset="-122"/>
                  <a:ea typeface="微软雅黑 Light" panose="020B0502040204020203" pitchFamily="34" charset="-122"/>
                </a:rPr>
                <a:t>DHCP </a:t>
              </a:r>
              <a:r>
                <a:rPr lang="zh-CN" altLang="en-US" sz="1600" b="1" dirty="0">
                  <a:latin typeface="微软雅黑 Light" panose="020B0502040204020203" pitchFamily="34" charset="-122"/>
                  <a:ea typeface="微软雅黑 Light" panose="020B0502040204020203" pitchFamily="34" charset="-122"/>
                </a:rPr>
                <a:t>客户必须重新发送请求报文 </a:t>
              </a:r>
              <a:r>
                <a:rPr lang="en-US" altLang="zh-CN" sz="1600" b="1" dirty="0">
                  <a:latin typeface="微软雅黑 Light" panose="020B0502040204020203" pitchFamily="34" charset="-122"/>
                  <a:ea typeface="微软雅黑 Light" panose="020B0502040204020203" pitchFamily="34" charset="-122"/>
                </a:rPr>
                <a:t>DHCPREQUEST</a:t>
              </a:r>
              <a:r>
                <a:rPr lang="zh-CN" altLang="en-US" sz="1600" b="1" dirty="0">
                  <a:latin typeface="微软雅黑 Light" panose="020B0502040204020203" pitchFamily="34" charset="-122"/>
                  <a:ea typeface="微软雅黑 Light" panose="020B0502040204020203" pitchFamily="34" charset="-122"/>
                </a:rPr>
                <a:t>（重复步骤  ❻），然后又继续后面的步骤。 </a:t>
              </a:r>
            </a:p>
          </p:txBody>
        </p:sp>
      </p:grpSp>
      <p:sp>
        <p:nvSpPr>
          <p:cNvPr id="2" name="标题 1">
            <a:extLst>
              <a:ext uri="{FF2B5EF4-FFF2-40B4-BE49-F238E27FC236}">
                <a16:creationId xmlns:a16="http://schemas.microsoft.com/office/drawing/2014/main" id="{099C9C55-3388-7ECF-9DAD-05A153149973}"/>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7135350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1" name="Line 31"/>
            <p:cNvSpPr>
              <a:spLocks noChangeShapeType="1"/>
            </p:cNvSpPr>
            <p:nvPr/>
          </p:nvSpPr>
          <p:spPr bwMode="auto">
            <a:xfrm flipH="1">
              <a:off x="2452423" y="3579813"/>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3" name="Rectangle 33"/>
            <p:cNvSpPr>
              <a:spLocks noChangeArrowheads="1"/>
            </p:cNvSpPr>
            <p:nvPr/>
          </p:nvSpPr>
          <p:spPr bwMode="auto">
            <a:xfrm>
              <a:off x="3529012" y="3452813"/>
              <a:ext cx="2904729" cy="254000"/>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9" name="Line 40"/>
            <p:cNvSpPr>
              <a:spLocks noChangeShapeType="1"/>
            </p:cNvSpPr>
            <p:nvPr/>
          </p:nvSpPr>
          <p:spPr bwMode="auto">
            <a:xfrm>
              <a:off x="2454143" y="41878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1" name="Rectangle 42"/>
            <p:cNvSpPr>
              <a:spLocks noChangeArrowheads="1"/>
            </p:cNvSpPr>
            <p:nvPr/>
          </p:nvSpPr>
          <p:spPr bwMode="auto">
            <a:xfrm>
              <a:off x="3529012" y="4060825"/>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3"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5"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3"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grpSp>
        <p:nvGrpSpPr>
          <p:cNvPr id="87" name="组合 86"/>
          <p:cNvGrpSpPr/>
          <p:nvPr/>
        </p:nvGrpSpPr>
        <p:grpSpPr>
          <a:xfrm>
            <a:off x="1252728" y="1082845"/>
            <a:ext cx="6757416" cy="1097411"/>
            <a:chOff x="1252728" y="3191553"/>
            <a:chExt cx="6757416" cy="1097411"/>
          </a:xfrm>
        </p:grpSpPr>
        <p:sp>
          <p:nvSpPr>
            <p:cNvPr id="85" name="Rectangle 88"/>
            <p:cNvSpPr>
              <a:spLocks noChangeArrowheads="1"/>
            </p:cNvSpPr>
            <p:nvPr/>
          </p:nvSpPr>
          <p:spPr bwMode="auto">
            <a:xfrm>
              <a:off x="1252728" y="3207283"/>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669001" y="3191553"/>
              <a:ext cx="6036815" cy="1092607"/>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rPr>
                <a:t>❾：</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a:t>
              </a:r>
              <a:r>
                <a:rPr lang="zh-CN" altLang="en-US" b="1" dirty="0">
                  <a:solidFill>
                    <a:srgbClr val="0000FF"/>
                  </a:solidFill>
                  <a:latin typeface="微软雅黑 Light" panose="020B0502040204020203" pitchFamily="34" charset="-122"/>
                  <a:ea typeface="微软雅黑 Light" panose="020B0502040204020203" pitchFamily="34" charset="-122"/>
                </a:rPr>
                <a:t>可随时提前终止</a:t>
              </a:r>
              <a:r>
                <a:rPr lang="zh-CN" altLang="en-US" b="1" dirty="0">
                  <a:latin typeface="微软雅黑 Light" panose="020B0502040204020203" pitchFamily="34" charset="-122"/>
                  <a:ea typeface="微软雅黑 Light" panose="020B0502040204020203" pitchFamily="34" charset="-122"/>
                </a:rPr>
                <a:t>服务器所提供的租用期，这时只需向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服务器发送释放报文 </a:t>
              </a:r>
              <a:r>
                <a:rPr lang="en-US" altLang="zh-CN" b="1" dirty="0">
                  <a:latin typeface="微软雅黑 Light" panose="020B0502040204020203" pitchFamily="34" charset="-122"/>
                  <a:ea typeface="微软雅黑 Light" panose="020B0502040204020203" pitchFamily="34" charset="-122"/>
                </a:rPr>
                <a:t>DHCPRELEASE </a:t>
              </a:r>
              <a:r>
                <a:rPr lang="zh-CN" altLang="en-US" b="1" dirty="0">
                  <a:latin typeface="微软雅黑 Light" panose="020B0502040204020203" pitchFamily="34" charset="-122"/>
                  <a:ea typeface="微软雅黑 Light" panose="020B0502040204020203" pitchFamily="34" charset="-122"/>
                </a:rPr>
                <a:t>即可。</a:t>
              </a:r>
            </a:p>
          </p:txBody>
        </p:sp>
      </p:grpSp>
      <p:sp>
        <p:nvSpPr>
          <p:cNvPr id="2" name="标题 1">
            <a:extLst>
              <a:ext uri="{FF2B5EF4-FFF2-40B4-BE49-F238E27FC236}">
                <a16:creationId xmlns:a16="http://schemas.microsoft.com/office/drawing/2014/main" id="{3CEA08F0-1E49-6F7E-5E3D-346C148971BE}"/>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4282653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Line 16"/>
          <p:cNvSpPr>
            <a:spLocks noChangeShapeType="1"/>
          </p:cNvSpPr>
          <p:nvPr/>
        </p:nvSpPr>
        <p:spPr bwMode="auto">
          <a:xfrm>
            <a:off x="3637198" y="1059744"/>
            <a:ext cx="0" cy="2150510"/>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2" name="Rectangle 29">
            <a:extLst>
              <a:ext uri="{FF2B5EF4-FFF2-40B4-BE49-F238E27FC236}">
                <a16:creationId xmlns:a16="http://schemas.microsoft.com/office/drawing/2014/main" id="{06D79B33-D078-59A6-9D28-6FE9C5727600}"/>
              </a:ext>
            </a:extLst>
          </p:cNvPr>
          <p:cNvSpPr>
            <a:spLocks noChangeArrowheads="1"/>
          </p:cNvSpPr>
          <p:nvPr/>
        </p:nvSpPr>
        <p:spPr bwMode="auto">
          <a:xfrm>
            <a:off x="3563766" y="711857"/>
            <a:ext cx="3809956"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solidFill>
                  <a:srgbClr val="C00000"/>
                </a:solidFill>
                <a:latin typeface="Montserrat" panose="00000500000000000000" pitchFamily="2" charset="0"/>
                <a:ea typeface="微软雅黑 Light" panose="020B0502040204020203" pitchFamily="34" charset="-122"/>
              </a:rPr>
              <a:t>6.7</a:t>
            </a:r>
            <a:r>
              <a:rPr lang="en-US" altLang="zh-CN" sz="2000" dirty="0">
                <a:latin typeface="Montserrat" panose="00000500000000000000" pitchFamily="2" charset="0"/>
                <a:ea typeface="微软雅黑 Light" panose="020B0502040204020203" pitchFamily="34" charset="-122"/>
              </a:rPr>
              <a:t> </a:t>
            </a:r>
            <a:r>
              <a:rPr lang="zh-CN" altLang="en-US" sz="2000" dirty="0">
                <a:latin typeface="Montserrat" panose="00000500000000000000" pitchFamily="2" charset="0"/>
                <a:ea typeface="微软雅黑 Light" panose="020B0502040204020203" pitchFamily="34" charset="-122"/>
              </a:rPr>
              <a:t>简单网络管理协议 </a:t>
            </a:r>
            <a:r>
              <a:rPr lang="en-US" altLang="zh-CN" sz="2000" dirty="0">
                <a:latin typeface="Montserrat" panose="00000500000000000000" pitchFamily="2" charset="0"/>
                <a:ea typeface="微软雅黑 Light" panose="020B0502040204020203" pitchFamily="34" charset="-122"/>
              </a:rPr>
              <a:t>SNMP</a:t>
            </a:r>
            <a:endParaRPr lang="zh-CN" altLang="fr-FR" sz="2000" dirty="0">
              <a:latin typeface="Montserrat" panose="00000500000000000000" pitchFamily="2" charset="0"/>
              <a:ea typeface="微软雅黑 Light" panose="020B0502040204020203" pitchFamily="34" charset="-122"/>
            </a:endParaRPr>
          </a:p>
        </p:txBody>
      </p:sp>
      <p:sp>
        <p:nvSpPr>
          <p:cNvPr id="3" name="Rectangle 8">
            <a:extLst>
              <a:ext uri="{FF2B5EF4-FFF2-40B4-BE49-F238E27FC236}">
                <a16:creationId xmlns:a16="http://schemas.microsoft.com/office/drawing/2014/main" id="{F49089EA-437D-A296-6F51-BB62F2C6ED9E}"/>
              </a:ext>
            </a:extLst>
          </p:cNvPr>
          <p:cNvSpPr>
            <a:spLocks noChangeArrowheads="1"/>
          </p:cNvSpPr>
          <p:nvPr/>
        </p:nvSpPr>
        <p:spPr bwMode="auto">
          <a:xfrm>
            <a:off x="3563766" y="1354881"/>
            <a:ext cx="4197661" cy="15279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6.7.1</a:t>
            </a:r>
            <a:r>
              <a:rPr lang="en-US" altLang="zh-CN" sz="1600" dirty="0">
                <a:latin typeface="Montserrat" panose="00000500000000000000" pitchFamily="2" charset="0"/>
                <a:ea typeface="微软雅黑 Light" panose="020B0502040204020203" pitchFamily="34" charset="-122"/>
              </a:rPr>
              <a:t> </a:t>
            </a:r>
            <a:r>
              <a:rPr lang="zh-CN" altLang="en-US" sz="1600" dirty="0">
                <a:latin typeface="微软雅黑 Light" panose="020B0502040204020203" pitchFamily="34" charset="-122"/>
                <a:ea typeface="微软雅黑 Light" panose="020B0502040204020203" pitchFamily="34" charset="-122"/>
              </a:rPr>
              <a:t>网络管理的基本概念</a:t>
            </a:r>
            <a:endParaRPr lang="zh-CN" altLang="en-US"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6.7.2</a:t>
            </a:r>
            <a:r>
              <a:rPr lang="en-US" altLang="zh-CN" sz="1600" dirty="0">
                <a:latin typeface="Montserrat" panose="00000500000000000000" pitchFamily="2" charset="0"/>
                <a:ea typeface="微软雅黑 Light" panose="020B0502040204020203" pitchFamily="34" charset="-122"/>
              </a:rPr>
              <a:t> </a:t>
            </a:r>
            <a:r>
              <a:rPr lang="zh-CN" altLang="en-US" sz="1600" dirty="0">
                <a:latin typeface="微软雅黑 Light" panose="020B0502040204020203" pitchFamily="34" charset="-122"/>
                <a:ea typeface="微软雅黑 Light" panose="020B0502040204020203" pitchFamily="34" charset="-122"/>
              </a:rPr>
              <a:t>管理信息结构 </a:t>
            </a:r>
            <a:r>
              <a:rPr lang="en-US" altLang="zh-CN" sz="1600" dirty="0">
                <a:latin typeface="微软雅黑 Light" panose="020B0502040204020203" pitchFamily="34" charset="-122"/>
                <a:ea typeface="微软雅黑 Light" panose="020B0502040204020203" pitchFamily="34" charset="-122"/>
              </a:rPr>
              <a:t>SMI</a:t>
            </a:r>
            <a:endParaRPr lang="en-US" altLang="zh-CN"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6.7.3</a:t>
            </a:r>
            <a:r>
              <a:rPr lang="en-US" altLang="zh-CN" sz="1600" dirty="0">
                <a:latin typeface="Montserrat" panose="00000500000000000000" pitchFamily="2" charset="0"/>
                <a:ea typeface="微软雅黑 Light" panose="020B0502040204020203" pitchFamily="34" charset="-122"/>
              </a:rPr>
              <a:t> </a:t>
            </a:r>
            <a:r>
              <a:rPr lang="zh-CN" altLang="en-US" sz="1600" dirty="0">
                <a:latin typeface="微软雅黑 Light" panose="020B0502040204020203" pitchFamily="34" charset="-122"/>
                <a:ea typeface="微软雅黑 Light" panose="020B0502040204020203" pitchFamily="34" charset="-122"/>
              </a:rPr>
              <a:t>管理信息库 </a:t>
            </a:r>
            <a:r>
              <a:rPr lang="en-US" altLang="zh-CN" sz="1600" dirty="0">
                <a:latin typeface="微软雅黑 Light" panose="020B0502040204020203" pitchFamily="34" charset="-122"/>
                <a:ea typeface="微软雅黑 Light" panose="020B0502040204020203" pitchFamily="34" charset="-122"/>
              </a:rPr>
              <a:t>MIB</a:t>
            </a:r>
            <a:endParaRPr lang="zh-CN" altLang="en-US"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6.7.4</a:t>
            </a:r>
            <a:r>
              <a:rPr lang="en-US" altLang="zh-CN" sz="1600" dirty="0">
                <a:latin typeface="Montserrat" panose="00000500000000000000" pitchFamily="2" charset="0"/>
                <a:ea typeface="微软雅黑 Light" panose="020B0502040204020203" pitchFamily="34" charset="-122"/>
              </a:rPr>
              <a:t> </a:t>
            </a:r>
            <a:r>
              <a:rPr lang="en-US" altLang="zh-CN" sz="1600" dirty="0">
                <a:latin typeface="微软雅黑 Light" panose="020B0502040204020203" pitchFamily="34" charset="-122"/>
                <a:ea typeface="微软雅黑 Light" panose="020B0502040204020203" pitchFamily="34" charset="-122"/>
              </a:rPr>
              <a:t>SNMP </a:t>
            </a:r>
            <a:r>
              <a:rPr lang="zh-CN" altLang="en-US" sz="1600" dirty="0">
                <a:latin typeface="微软雅黑 Light" panose="020B0502040204020203" pitchFamily="34" charset="-122"/>
                <a:ea typeface="微软雅黑 Light" panose="020B0502040204020203" pitchFamily="34" charset="-122"/>
              </a:rPr>
              <a:t>的协议数据单元和报文</a:t>
            </a:r>
            <a:endParaRPr lang="en-US" altLang="zh-CN" sz="16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5643503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0958"/>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631408" y="568687"/>
            <a:ext cx="3881192"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6.7.1  </a:t>
            </a:r>
            <a:r>
              <a:rPr lang="zh-CN" altLang="en-US" sz="2400" b="1" dirty="0">
                <a:solidFill>
                  <a:schemeClr val="bg1"/>
                </a:solidFill>
                <a:latin typeface="微软雅黑 Light" panose="020B0502040204020203" pitchFamily="34" charset="-122"/>
                <a:ea typeface="微软雅黑 Light" panose="020B0502040204020203" pitchFamily="34" charset="-122"/>
              </a:rPr>
              <a:t>网络管理的基本概念</a:t>
            </a:r>
          </a:p>
        </p:txBody>
      </p:sp>
      <p:sp>
        <p:nvSpPr>
          <p:cNvPr id="4" name="Rectangle 68"/>
          <p:cNvSpPr>
            <a:spLocks noChangeArrowheads="1"/>
          </p:cNvSpPr>
          <p:nvPr/>
        </p:nvSpPr>
        <p:spPr bwMode="auto">
          <a:xfrm>
            <a:off x="556963" y="1005176"/>
            <a:ext cx="8048776"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网络管理</a:t>
            </a:r>
            <a:r>
              <a:rPr lang="zh-CN" altLang="en-US" sz="2000" b="1" dirty="0">
                <a:latin typeface="微软雅黑 Light" panose="020B0502040204020203" pitchFamily="34" charset="-122"/>
                <a:ea typeface="微软雅黑 Light" panose="020B0502040204020203" pitchFamily="34" charset="-122"/>
              </a:rPr>
              <a:t>包括对硬件、软件和人力的使用、综合与协调，以便对网络资源进行监视、测试、配置、分析、评价和控制，这样就能以合理的价格满足网络的一些需求，如实时运行性能，服务质量等。</a:t>
            </a:r>
            <a:endParaRPr lang="en-US" altLang="zh-CN" sz="2000" b="1" dirty="0">
              <a:latin typeface="微软雅黑 Light" panose="020B0502040204020203" pitchFamily="34" charset="-122"/>
              <a:ea typeface="微软雅黑 Light" panose="020B0502040204020203" pitchFamily="34" charset="-122"/>
            </a:endParaRP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网络管理常简称为</a:t>
            </a:r>
            <a:r>
              <a:rPr lang="zh-CN" altLang="en-US" sz="2000" b="1" dirty="0">
                <a:solidFill>
                  <a:srgbClr val="C00000"/>
                </a:solidFill>
                <a:latin typeface="微软雅黑 Light" panose="020B0502040204020203" pitchFamily="34" charset="-122"/>
                <a:ea typeface="微软雅黑 Light" panose="020B0502040204020203" pitchFamily="34" charset="-122"/>
              </a:rPr>
              <a:t>网管。</a:t>
            </a:r>
          </a:p>
        </p:txBody>
      </p:sp>
    </p:spTree>
    <p:extLst>
      <p:ext uri="{BB962C8B-B14F-4D97-AF65-F5344CB8AC3E}">
        <p14:creationId xmlns:p14="http://schemas.microsoft.com/office/powerpoint/2010/main" val="17940728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0715"/>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334861" y="586382"/>
            <a:ext cx="249299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网络管理的五大功能</a:t>
            </a:r>
          </a:p>
        </p:txBody>
      </p:sp>
      <p:sp>
        <p:nvSpPr>
          <p:cNvPr id="4" name="Rectangle 68"/>
          <p:cNvSpPr>
            <a:spLocks noChangeArrowheads="1"/>
          </p:cNvSpPr>
          <p:nvPr/>
        </p:nvSpPr>
        <p:spPr bwMode="auto">
          <a:xfrm>
            <a:off x="556962" y="971805"/>
            <a:ext cx="8169787"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故障管理</a:t>
            </a:r>
            <a:r>
              <a:rPr lang="zh-CN" altLang="en-US" sz="2000" b="1" dirty="0">
                <a:latin typeface="微软雅黑 Light" panose="020B0502040204020203" pitchFamily="34" charset="-122"/>
                <a:ea typeface="微软雅黑 Light" panose="020B0502040204020203" pitchFamily="34" charset="-122"/>
              </a:rPr>
              <a:t>：故障检测、隔离和纠正。</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配置管理</a:t>
            </a:r>
            <a:r>
              <a:rPr lang="zh-CN" altLang="en-US" sz="2000" b="1" dirty="0">
                <a:latin typeface="微软雅黑 Light" panose="020B0502040204020203" pitchFamily="34" charset="-122"/>
                <a:ea typeface="微软雅黑 Light" panose="020B0502040204020203" pitchFamily="34" charset="-122"/>
              </a:rPr>
              <a:t>：初始化网络、并配置网络。</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计费管理</a:t>
            </a:r>
            <a:r>
              <a:rPr lang="zh-CN" altLang="en-US" sz="2000" b="1" dirty="0">
                <a:latin typeface="微软雅黑 Light" panose="020B0502040204020203" pitchFamily="34" charset="-122"/>
                <a:ea typeface="微软雅黑 Light" panose="020B0502040204020203" pitchFamily="34" charset="-122"/>
              </a:rPr>
              <a:t>：记录网络资源的使用。</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性能管理</a:t>
            </a:r>
            <a:r>
              <a:rPr lang="zh-CN" altLang="en-US" sz="2000" b="1" dirty="0">
                <a:latin typeface="微软雅黑 Light" panose="020B0502040204020203" pitchFamily="34" charset="-122"/>
                <a:ea typeface="微软雅黑 Light" panose="020B0502040204020203" pitchFamily="34" charset="-122"/>
              </a:rPr>
              <a:t>：估价系统资源的运行状况及通信效率等。</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网络安全管理</a:t>
            </a:r>
            <a:r>
              <a:rPr lang="zh-CN" altLang="en-US" sz="2000" b="1" dirty="0">
                <a:latin typeface="微软雅黑 Light" panose="020B0502040204020203" pitchFamily="34" charset="-122"/>
                <a:ea typeface="微软雅黑 Light" panose="020B0502040204020203" pitchFamily="34" charset="-122"/>
              </a:rPr>
              <a:t>：对授权机制、访问控制、加密和加密关键字的管理。</a:t>
            </a:r>
          </a:p>
        </p:txBody>
      </p:sp>
    </p:spTree>
    <p:extLst>
      <p:ext uri="{BB962C8B-B14F-4D97-AF65-F5344CB8AC3E}">
        <p14:creationId xmlns:p14="http://schemas.microsoft.com/office/powerpoint/2010/main" val="12510545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6"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54889" y="1607402"/>
            <a:ext cx="565891" cy="565892"/>
          </a:xfrm>
          <a:prstGeom prst="rect">
            <a:avLst/>
          </a:prstGeom>
          <a:noFill/>
          <a:extLst>
            <a:ext uri="{909E8E84-426E-40DD-AFC4-6F175D3DCCD1}">
              <a14:hiddenFill xmlns:a14="http://schemas.microsoft.com/office/drawing/2010/main">
                <a:solidFill>
                  <a:srgbClr val="FFFFFF"/>
                </a:solidFill>
              </a14:hiddenFill>
            </a:ext>
          </a:extLst>
        </p:spPr>
      </p:pic>
      <p:pic>
        <p:nvPicPr>
          <p:cNvPr id="207"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270584" y="1591602"/>
            <a:ext cx="565891" cy="565892"/>
          </a:xfrm>
          <a:prstGeom prst="rect">
            <a:avLst/>
          </a:prstGeom>
          <a:noFill/>
          <a:extLst>
            <a:ext uri="{909E8E84-426E-40DD-AFC4-6F175D3DCCD1}">
              <a14:hiddenFill xmlns:a14="http://schemas.microsoft.com/office/drawing/2010/main">
                <a:solidFill>
                  <a:srgbClr val="FFFFFF"/>
                </a:solidFill>
              </a14:hiddenFill>
            </a:ext>
          </a:extLst>
        </p:spPr>
      </p:pic>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3296385" y="582898"/>
            <a:ext cx="256993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网络管理的一般模型</a:t>
            </a:r>
          </a:p>
        </p:txBody>
      </p:sp>
      <p:grpSp>
        <p:nvGrpSpPr>
          <p:cNvPr id="5" name="Group 5"/>
          <p:cNvGrpSpPr>
            <a:grpSpLocks/>
          </p:cNvGrpSpPr>
          <p:nvPr/>
        </p:nvGrpSpPr>
        <p:grpSpPr bwMode="auto">
          <a:xfrm>
            <a:off x="5114868" y="2672006"/>
            <a:ext cx="1313973" cy="1543910"/>
            <a:chOff x="3072" y="2208"/>
            <a:chExt cx="1056" cy="1056"/>
          </a:xfrm>
        </p:grpSpPr>
        <p:grpSp>
          <p:nvGrpSpPr>
            <p:cNvPr id="6" name="Group 6"/>
            <p:cNvGrpSpPr>
              <a:grpSpLocks/>
            </p:cNvGrpSpPr>
            <p:nvPr/>
          </p:nvGrpSpPr>
          <p:grpSpPr bwMode="auto">
            <a:xfrm flipH="1">
              <a:off x="3072" y="2543"/>
              <a:ext cx="888" cy="721"/>
              <a:chOff x="2565" y="2202"/>
              <a:chExt cx="355" cy="297"/>
            </a:xfrm>
          </p:grpSpPr>
          <p:sp>
            <p:nvSpPr>
              <p:cNvPr id="146" name="Freeform 7"/>
              <p:cNvSpPr>
                <a:spLocks/>
              </p:cNvSpPr>
              <p:nvPr/>
            </p:nvSpPr>
            <p:spPr bwMode="auto">
              <a:xfrm>
                <a:off x="2646" y="2242"/>
                <a:ext cx="125" cy="189"/>
              </a:xfrm>
              <a:custGeom>
                <a:avLst/>
                <a:gdLst>
                  <a:gd name="T0" fmla="*/ 0 w 876"/>
                  <a:gd name="T1" fmla="*/ 0 h 1326"/>
                  <a:gd name="T2" fmla="*/ 0 w 876"/>
                  <a:gd name="T3" fmla="*/ 0 h 1326"/>
                  <a:gd name="T4" fmla="*/ 0 w 876"/>
                  <a:gd name="T5" fmla="*/ 0 h 1326"/>
                  <a:gd name="T6" fmla="*/ 0 w 876"/>
                  <a:gd name="T7" fmla="*/ 0 h 132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876" h="1326">
                    <a:moveTo>
                      <a:pt x="582" y="23"/>
                    </a:moveTo>
                    <a:lnTo>
                      <a:pt x="876" y="1209"/>
                    </a:lnTo>
                    <a:lnTo>
                      <a:pt x="0" y="1326"/>
                    </a:lnTo>
                    <a:lnTo>
                      <a:pt x="225" y="0"/>
                    </a:lnTo>
                  </a:path>
                </a:pathLst>
              </a:custGeom>
              <a:noFill/>
              <a:ln w="1111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147" name="Group 8"/>
              <p:cNvGrpSpPr>
                <a:grpSpLocks/>
              </p:cNvGrpSpPr>
              <p:nvPr/>
            </p:nvGrpSpPr>
            <p:grpSpPr bwMode="auto">
              <a:xfrm>
                <a:off x="2565" y="2202"/>
                <a:ext cx="351" cy="78"/>
                <a:chOff x="2565" y="2202"/>
                <a:chExt cx="351" cy="78"/>
              </a:xfrm>
            </p:grpSpPr>
            <p:sp>
              <p:nvSpPr>
                <p:cNvPr id="149" name="Freeform 9"/>
                <p:cNvSpPr>
                  <a:spLocks/>
                </p:cNvSpPr>
                <p:nvPr/>
              </p:nvSpPr>
              <p:spPr bwMode="auto">
                <a:xfrm>
                  <a:off x="2565" y="2202"/>
                  <a:ext cx="351" cy="66"/>
                </a:xfrm>
                <a:custGeom>
                  <a:avLst/>
                  <a:gdLst>
                    <a:gd name="T0" fmla="*/ 0 w 2454"/>
                    <a:gd name="T1" fmla="*/ 0 h 468"/>
                    <a:gd name="T2" fmla="*/ 0 w 2454"/>
                    <a:gd name="T3" fmla="*/ 0 h 468"/>
                    <a:gd name="T4" fmla="*/ 0 w 2454"/>
                    <a:gd name="T5" fmla="*/ 0 h 468"/>
                    <a:gd name="T6" fmla="*/ 0 w 2454"/>
                    <a:gd name="T7" fmla="*/ 0 h 468"/>
                    <a:gd name="T8" fmla="*/ 0 w 2454"/>
                    <a:gd name="T9" fmla="*/ 0 h 4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454" h="468">
                      <a:moveTo>
                        <a:pt x="2454" y="242"/>
                      </a:moveTo>
                      <a:lnTo>
                        <a:pt x="906" y="468"/>
                      </a:lnTo>
                      <a:lnTo>
                        <a:pt x="0" y="118"/>
                      </a:lnTo>
                      <a:lnTo>
                        <a:pt x="1162" y="0"/>
                      </a:lnTo>
                      <a:lnTo>
                        <a:pt x="2454" y="242"/>
                      </a:lnTo>
                      <a:close/>
                    </a:path>
                  </a:pathLst>
                </a:custGeom>
                <a:solidFill>
                  <a:srgbClr val="FFFFFF"/>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0" name="Freeform 10"/>
                <p:cNvSpPr>
                  <a:spLocks/>
                </p:cNvSpPr>
                <p:nvPr/>
              </p:nvSpPr>
              <p:spPr bwMode="auto">
                <a:xfrm>
                  <a:off x="2694" y="2236"/>
                  <a:ext cx="221" cy="44"/>
                </a:xfrm>
                <a:custGeom>
                  <a:avLst/>
                  <a:gdLst>
                    <a:gd name="T0" fmla="*/ 0 w 1542"/>
                    <a:gd name="T1" fmla="*/ 0 h 303"/>
                    <a:gd name="T2" fmla="*/ 0 w 1542"/>
                    <a:gd name="T3" fmla="*/ 0 h 303"/>
                    <a:gd name="T4" fmla="*/ 0 w 1542"/>
                    <a:gd name="T5" fmla="*/ 0 h 303"/>
                    <a:gd name="T6" fmla="*/ 0 w 1542"/>
                    <a:gd name="T7" fmla="*/ 0 h 303"/>
                    <a:gd name="T8" fmla="*/ 0 w 1542"/>
                    <a:gd name="T9" fmla="*/ 0 h 30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542" h="303">
                      <a:moveTo>
                        <a:pt x="1542" y="0"/>
                      </a:moveTo>
                      <a:lnTo>
                        <a:pt x="0" y="225"/>
                      </a:lnTo>
                      <a:lnTo>
                        <a:pt x="0" y="303"/>
                      </a:lnTo>
                      <a:lnTo>
                        <a:pt x="1542" y="79"/>
                      </a:lnTo>
                      <a:lnTo>
                        <a:pt x="1542" y="0"/>
                      </a:lnTo>
                      <a:close/>
                    </a:path>
                  </a:pathLst>
                </a:custGeom>
                <a:solidFill>
                  <a:srgbClr val="E0E0E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1" name="Freeform 11"/>
                <p:cNvSpPr>
                  <a:spLocks/>
                </p:cNvSpPr>
                <p:nvPr/>
              </p:nvSpPr>
              <p:spPr bwMode="auto">
                <a:xfrm>
                  <a:off x="2565" y="2218"/>
                  <a:ext cx="129" cy="62"/>
                </a:xfrm>
                <a:custGeom>
                  <a:avLst/>
                  <a:gdLst>
                    <a:gd name="T0" fmla="*/ 0 w 906"/>
                    <a:gd name="T1" fmla="*/ 0 h 428"/>
                    <a:gd name="T2" fmla="*/ 0 w 906"/>
                    <a:gd name="T3" fmla="*/ 0 h 428"/>
                    <a:gd name="T4" fmla="*/ 0 w 906"/>
                    <a:gd name="T5" fmla="*/ 0 h 428"/>
                    <a:gd name="T6" fmla="*/ 0 w 906"/>
                    <a:gd name="T7" fmla="*/ 0 h 428"/>
                    <a:gd name="T8" fmla="*/ 0 w 906"/>
                    <a:gd name="T9" fmla="*/ 0 h 42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06" h="428">
                      <a:moveTo>
                        <a:pt x="906" y="428"/>
                      </a:moveTo>
                      <a:lnTo>
                        <a:pt x="906" y="350"/>
                      </a:lnTo>
                      <a:lnTo>
                        <a:pt x="0" y="0"/>
                      </a:lnTo>
                      <a:lnTo>
                        <a:pt x="0" y="54"/>
                      </a:lnTo>
                      <a:lnTo>
                        <a:pt x="906" y="428"/>
                      </a:lnTo>
                      <a:close/>
                    </a:path>
                  </a:pathLst>
                </a:custGeom>
                <a:solidFill>
                  <a:srgbClr val="C0C0C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148" name="Freeform 12"/>
              <p:cNvSpPr>
                <a:spLocks/>
              </p:cNvSpPr>
              <p:nvPr/>
            </p:nvSpPr>
            <p:spPr bwMode="auto">
              <a:xfrm>
                <a:off x="2767" y="2256"/>
                <a:ext cx="153" cy="243"/>
              </a:xfrm>
              <a:custGeom>
                <a:avLst/>
                <a:gdLst>
                  <a:gd name="T0" fmla="*/ 0 w 1066"/>
                  <a:gd name="T1" fmla="*/ 0 h 1700"/>
                  <a:gd name="T2" fmla="*/ 0 w 1066"/>
                  <a:gd name="T3" fmla="*/ 0 h 1700"/>
                  <a:gd name="T4" fmla="*/ 0 w 1066"/>
                  <a:gd name="T5" fmla="*/ 0 h 1700"/>
                  <a:gd name="T6" fmla="*/ 0 w 1066"/>
                  <a:gd name="T7" fmla="*/ 0 h 170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066" h="1700">
                    <a:moveTo>
                      <a:pt x="589" y="0"/>
                    </a:moveTo>
                    <a:lnTo>
                      <a:pt x="1066" y="1569"/>
                    </a:lnTo>
                    <a:lnTo>
                      <a:pt x="0" y="1700"/>
                    </a:lnTo>
                    <a:lnTo>
                      <a:pt x="170" y="32"/>
                    </a:lnTo>
                  </a:path>
                </a:pathLst>
              </a:custGeom>
              <a:noFill/>
              <a:ln w="1111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7" name="Group 13"/>
            <p:cNvGrpSpPr>
              <a:grpSpLocks/>
            </p:cNvGrpSpPr>
            <p:nvPr/>
          </p:nvGrpSpPr>
          <p:grpSpPr bwMode="auto">
            <a:xfrm flipH="1">
              <a:off x="3225" y="2269"/>
              <a:ext cx="610" cy="417"/>
              <a:chOff x="2615" y="2089"/>
              <a:chExt cx="244" cy="172"/>
            </a:xfrm>
          </p:grpSpPr>
          <p:grpSp>
            <p:nvGrpSpPr>
              <p:cNvPr id="95" name="Group 14"/>
              <p:cNvGrpSpPr>
                <a:grpSpLocks/>
              </p:cNvGrpSpPr>
              <p:nvPr/>
            </p:nvGrpSpPr>
            <p:grpSpPr bwMode="auto">
              <a:xfrm>
                <a:off x="2671" y="2089"/>
                <a:ext cx="188" cy="156"/>
                <a:chOff x="2671" y="2089"/>
                <a:chExt cx="188" cy="156"/>
              </a:xfrm>
            </p:grpSpPr>
            <p:grpSp>
              <p:nvGrpSpPr>
                <p:cNvPr id="128" name="Group 15"/>
                <p:cNvGrpSpPr>
                  <a:grpSpLocks/>
                </p:cNvGrpSpPr>
                <p:nvPr/>
              </p:nvGrpSpPr>
              <p:grpSpPr bwMode="auto">
                <a:xfrm>
                  <a:off x="2671" y="2089"/>
                  <a:ext cx="188" cy="156"/>
                  <a:chOff x="2671" y="2089"/>
                  <a:chExt cx="188" cy="156"/>
                </a:xfrm>
              </p:grpSpPr>
              <p:grpSp>
                <p:nvGrpSpPr>
                  <p:cNvPr id="137" name="Group 16"/>
                  <p:cNvGrpSpPr>
                    <a:grpSpLocks/>
                  </p:cNvGrpSpPr>
                  <p:nvPr/>
                </p:nvGrpSpPr>
                <p:grpSpPr bwMode="auto">
                  <a:xfrm>
                    <a:off x="2671" y="2177"/>
                    <a:ext cx="188" cy="68"/>
                    <a:chOff x="2671" y="2177"/>
                    <a:chExt cx="188" cy="68"/>
                  </a:xfrm>
                </p:grpSpPr>
                <p:sp>
                  <p:nvSpPr>
                    <p:cNvPr id="143" name="Freeform 17"/>
                    <p:cNvSpPr>
                      <a:spLocks/>
                    </p:cNvSpPr>
                    <p:nvPr/>
                  </p:nvSpPr>
                  <p:spPr bwMode="auto">
                    <a:xfrm>
                      <a:off x="2671" y="2177"/>
                      <a:ext cx="108" cy="68"/>
                    </a:xfrm>
                    <a:custGeom>
                      <a:avLst/>
                      <a:gdLst>
                        <a:gd name="T0" fmla="*/ 0 w 758"/>
                        <a:gd name="T1" fmla="*/ 0 h 475"/>
                        <a:gd name="T2" fmla="*/ 0 w 758"/>
                        <a:gd name="T3" fmla="*/ 0 h 475"/>
                        <a:gd name="T4" fmla="*/ 0 w 758"/>
                        <a:gd name="T5" fmla="*/ 0 h 475"/>
                        <a:gd name="T6" fmla="*/ 0 w 758"/>
                        <a:gd name="T7" fmla="*/ 0 h 475"/>
                        <a:gd name="T8" fmla="*/ 0 w 758"/>
                        <a:gd name="T9" fmla="*/ 0 h 47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58" h="475">
                          <a:moveTo>
                            <a:pt x="758" y="146"/>
                          </a:moveTo>
                          <a:lnTo>
                            <a:pt x="758" y="475"/>
                          </a:lnTo>
                          <a:lnTo>
                            <a:pt x="0" y="232"/>
                          </a:lnTo>
                          <a:lnTo>
                            <a:pt x="0" y="0"/>
                          </a:lnTo>
                          <a:lnTo>
                            <a:pt x="758" y="146"/>
                          </a:lnTo>
                          <a:close/>
                        </a:path>
                      </a:pathLst>
                    </a:custGeom>
                    <a:solidFill>
                      <a:srgbClr val="A0A0A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4" name="Freeform 18"/>
                    <p:cNvSpPr>
                      <a:spLocks/>
                    </p:cNvSpPr>
                    <p:nvPr/>
                  </p:nvSpPr>
                  <p:spPr bwMode="auto">
                    <a:xfrm>
                      <a:off x="2779" y="2193"/>
                      <a:ext cx="80" cy="52"/>
                    </a:xfrm>
                    <a:custGeom>
                      <a:avLst/>
                      <a:gdLst>
                        <a:gd name="T0" fmla="*/ 0 w 563"/>
                        <a:gd name="T1" fmla="*/ 0 h 362"/>
                        <a:gd name="T2" fmla="*/ 0 w 563"/>
                        <a:gd name="T3" fmla="*/ 0 h 362"/>
                        <a:gd name="T4" fmla="*/ 0 w 563"/>
                        <a:gd name="T5" fmla="*/ 0 h 362"/>
                        <a:gd name="T6" fmla="*/ 0 w 563"/>
                        <a:gd name="T7" fmla="*/ 0 h 362"/>
                        <a:gd name="T8" fmla="*/ 0 w 563"/>
                        <a:gd name="T9" fmla="*/ 0 h 36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3" h="362">
                          <a:moveTo>
                            <a:pt x="0" y="33"/>
                          </a:moveTo>
                          <a:lnTo>
                            <a:pt x="0" y="362"/>
                          </a:lnTo>
                          <a:lnTo>
                            <a:pt x="563" y="280"/>
                          </a:lnTo>
                          <a:lnTo>
                            <a:pt x="563" y="0"/>
                          </a:lnTo>
                          <a:lnTo>
                            <a:pt x="0" y="33"/>
                          </a:lnTo>
                          <a:close/>
                        </a:path>
                      </a:pathLst>
                    </a:custGeom>
                    <a:solidFill>
                      <a:srgbClr val="80808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5" name="Freeform 19"/>
                    <p:cNvSpPr>
                      <a:spLocks/>
                    </p:cNvSpPr>
                    <p:nvPr/>
                  </p:nvSpPr>
                  <p:spPr bwMode="auto">
                    <a:xfrm>
                      <a:off x="2671" y="2177"/>
                      <a:ext cx="188" cy="21"/>
                    </a:xfrm>
                    <a:custGeom>
                      <a:avLst/>
                      <a:gdLst>
                        <a:gd name="T0" fmla="*/ 0 w 1321"/>
                        <a:gd name="T1" fmla="*/ 0 h 146"/>
                        <a:gd name="T2" fmla="*/ 0 w 1321"/>
                        <a:gd name="T3" fmla="*/ 0 h 146"/>
                        <a:gd name="T4" fmla="*/ 0 w 1321"/>
                        <a:gd name="T5" fmla="*/ 0 h 146"/>
                        <a:gd name="T6" fmla="*/ 0 w 1321"/>
                        <a:gd name="T7" fmla="*/ 0 h 146"/>
                        <a:gd name="T8" fmla="*/ 0 w 1321"/>
                        <a:gd name="T9" fmla="*/ 0 h 14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21" h="146">
                          <a:moveTo>
                            <a:pt x="1321" y="113"/>
                          </a:moveTo>
                          <a:lnTo>
                            <a:pt x="752" y="146"/>
                          </a:lnTo>
                          <a:lnTo>
                            <a:pt x="0" y="0"/>
                          </a:lnTo>
                          <a:lnTo>
                            <a:pt x="553" y="0"/>
                          </a:lnTo>
                          <a:lnTo>
                            <a:pt x="1321" y="113"/>
                          </a:lnTo>
                          <a:close/>
                        </a:path>
                      </a:pathLst>
                    </a:custGeom>
                    <a:solidFill>
                      <a:srgbClr val="C0C0C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138" name="Freeform 20"/>
                  <p:cNvSpPr>
                    <a:spLocks/>
                  </p:cNvSpPr>
                  <p:nvPr/>
                </p:nvSpPr>
                <p:spPr bwMode="auto">
                  <a:xfrm>
                    <a:off x="2730" y="2171"/>
                    <a:ext cx="68" cy="20"/>
                  </a:xfrm>
                  <a:custGeom>
                    <a:avLst/>
                    <a:gdLst>
                      <a:gd name="T0" fmla="*/ 0 w 479"/>
                      <a:gd name="T1" fmla="*/ 0 h 136"/>
                      <a:gd name="T2" fmla="*/ 0 w 479"/>
                      <a:gd name="T3" fmla="*/ 0 h 136"/>
                      <a:gd name="T4" fmla="*/ 0 w 479"/>
                      <a:gd name="T5" fmla="*/ 0 h 136"/>
                      <a:gd name="T6" fmla="*/ 0 w 479"/>
                      <a:gd name="T7" fmla="*/ 0 h 136"/>
                      <a:gd name="T8" fmla="*/ 0 w 479"/>
                      <a:gd name="T9" fmla="*/ 0 h 136"/>
                      <a:gd name="T10" fmla="*/ 0 w 479"/>
                      <a:gd name="T11" fmla="*/ 0 h 136"/>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479" h="136">
                        <a:moveTo>
                          <a:pt x="479" y="77"/>
                        </a:moveTo>
                        <a:lnTo>
                          <a:pt x="479" y="121"/>
                        </a:lnTo>
                        <a:lnTo>
                          <a:pt x="255" y="136"/>
                        </a:lnTo>
                        <a:lnTo>
                          <a:pt x="0" y="87"/>
                        </a:lnTo>
                        <a:lnTo>
                          <a:pt x="0" y="0"/>
                        </a:lnTo>
                        <a:lnTo>
                          <a:pt x="479" y="77"/>
                        </a:lnTo>
                        <a:close/>
                      </a:path>
                    </a:pathLst>
                  </a:custGeom>
                  <a:solidFill>
                    <a:srgbClr val="60606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139" name="Group 21"/>
                  <p:cNvGrpSpPr>
                    <a:grpSpLocks/>
                  </p:cNvGrpSpPr>
                  <p:nvPr/>
                </p:nvGrpSpPr>
                <p:grpSpPr bwMode="auto">
                  <a:xfrm>
                    <a:off x="2692" y="2089"/>
                    <a:ext cx="153" cy="97"/>
                    <a:chOff x="2692" y="2089"/>
                    <a:chExt cx="153" cy="97"/>
                  </a:xfrm>
                </p:grpSpPr>
                <p:sp>
                  <p:nvSpPr>
                    <p:cNvPr id="140" name="Freeform 22"/>
                    <p:cNvSpPr>
                      <a:spLocks/>
                    </p:cNvSpPr>
                    <p:nvPr/>
                  </p:nvSpPr>
                  <p:spPr bwMode="auto">
                    <a:xfrm>
                      <a:off x="2692" y="2089"/>
                      <a:ext cx="88" cy="95"/>
                    </a:xfrm>
                    <a:custGeom>
                      <a:avLst/>
                      <a:gdLst>
                        <a:gd name="T0" fmla="*/ 0 w 612"/>
                        <a:gd name="T1" fmla="*/ 0 h 664"/>
                        <a:gd name="T2" fmla="*/ 0 w 612"/>
                        <a:gd name="T3" fmla="*/ 0 h 664"/>
                        <a:gd name="T4" fmla="*/ 0 w 612"/>
                        <a:gd name="T5" fmla="*/ 0 h 664"/>
                        <a:gd name="T6" fmla="*/ 0 w 612"/>
                        <a:gd name="T7" fmla="*/ 0 h 664"/>
                        <a:gd name="T8" fmla="*/ 0 w 612"/>
                        <a:gd name="T9" fmla="*/ 0 h 66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12" h="664">
                          <a:moveTo>
                            <a:pt x="525" y="664"/>
                          </a:moveTo>
                          <a:lnTo>
                            <a:pt x="612" y="22"/>
                          </a:lnTo>
                          <a:lnTo>
                            <a:pt x="85" y="0"/>
                          </a:lnTo>
                          <a:lnTo>
                            <a:pt x="0" y="572"/>
                          </a:lnTo>
                          <a:lnTo>
                            <a:pt x="525" y="664"/>
                          </a:lnTo>
                          <a:close/>
                        </a:path>
                      </a:pathLst>
                    </a:custGeom>
                    <a:solidFill>
                      <a:srgbClr val="A0A0A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1" name="Freeform 23"/>
                    <p:cNvSpPr>
                      <a:spLocks/>
                    </p:cNvSpPr>
                    <p:nvPr/>
                  </p:nvSpPr>
                  <p:spPr bwMode="auto">
                    <a:xfrm>
                      <a:off x="2767" y="2092"/>
                      <a:ext cx="78" cy="94"/>
                    </a:xfrm>
                    <a:custGeom>
                      <a:avLst/>
                      <a:gdLst>
                        <a:gd name="T0" fmla="*/ 0 w 543"/>
                        <a:gd name="T1" fmla="*/ 0 h 660"/>
                        <a:gd name="T2" fmla="*/ 0 w 543"/>
                        <a:gd name="T3" fmla="*/ 0 h 660"/>
                        <a:gd name="T4" fmla="*/ 0 w 543"/>
                        <a:gd name="T5" fmla="*/ 0 h 660"/>
                        <a:gd name="T6" fmla="*/ 0 w 543"/>
                        <a:gd name="T7" fmla="*/ 0 h 660"/>
                        <a:gd name="T8" fmla="*/ 0 w 543"/>
                        <a:gd name="T9" fmla="*/ 0 h 66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3" h="660">
                          <a:moveTo>
                            <a:pt x="87" y="0"/>
                          </a:moveTo>
                          <a:lnTo>
                            <a:pt x="543" y="146"/>
                          </a:lnTo>
                          <a:lnTo>
                            <a:pt x="479" y="660"/>
                          </a:lnTo>
                          <a:lnTo>
                            <a:pt x="0" y="643"/>
                          </a:lnTo>
                          <a:lnTo>
                            <a:pt x="87" y="0"/>
                          </a:lnTo>
                          <a:close/>
                        </a:path>
                      </a:pathLst>
                    </a:custGeom>
                    <a:solidFill>
                      <a:srgbClr val="80808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2" name="Freeform 24"/>
                    <p:cNvSpPr>
                      <a:spLocks/>
                    </p:cNvSpPr>
                    <p:nvPr/>
                  </p:nvSpPr>
                  <p:spPr bwMode="auto">
                    <a:xfrm>
                      <a:off x="2702" y="2098"/>
                      <a:ext cx="63" cy="72"/>
                    </a:xfrm>
                    <a:custGeom>
                      <a:avLst/>
                      <a:gdLst>
                        <a:gd name="T0" fmla="*/ 0 w 440"/>
                        <a:gd name="T1" fmla="*/ 0 h 499"/>
                        <a:gd name="T2" fmla="*/ 0 w 440"/>
                        <a:gd name="T3" fmla="*/ 0 h 499"/>
                        <a:gd name="T4" fmla="*/ 0 w 440"/>
                        <a:gd name="T5" fmla="*/ 0 h 499"/>
                        <a:gd name="T6" fmla="*/ 0 w 440"/>
                        <a:gd name="T7" fmla="*/ 0 h 499"/>
                        <a:gd name="T8" fmla="*/ 0 w 440"/>
                        <a:gd name="T9" fmla="*/ 0 h 49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40" h="499">
                          <a:moveTo>
                            <a:pt x="440" y="22"/>
                          </a:moveTo>
                          <a:lnTo>
                            <a:pt x="378" y="499"/>
                          </a:lnTo>
                          <a:lnTo>
                            <a:pt x="0" y="443"/>
                          </a:lnTo>
                          <a:lnTo>
                            <a:pt x="65" y="0"/>
                          </a:lnTo>
                          <a:lnTo>
                            <a:pt x="440" y="22"/>
                          </a:lnTo>
                          <a:close/>
                        </a:path>
                      </a:pathLst>
                    </a:custGeom>
                    <a:solidFill>
                      <a:srgbClr val="00C0C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grpSp>
              <p:nvGrpSpPr>
                <p:cNvPr id="129" name="Group 25"/>
                <p:cNvGrpSpPr>
                  <a:grpSpLocks/>
                </p:cNvGrpSpPr>
                <p:nvPr/>
              </p:nvGrpSpPr>
              <p:grpSpPr bwMode="auto">
                <a:xfrm>
                  <a:off x="2678" y="2184"/>
                  <a:ext cx="62" cy="44"/>
                  <a:chOff x="2678" y="2184"/>
                  <a:chExt cx="62" cy="44"/>
                </a:xfrm>
              </p:grpSpPr>
              <p:sp>
                <p:nvSpPr>
                  <p:cNvPr id="130" name="Freeform 26"/>
                  <p:cNvSpPr>
                    <a:spLocks/>
                  </p:cNvSpPr>
                  <p:nvPr/>
                </p:nvSpPr>
                <p:spPr bwMode="auto">
                  <a:xfrm>
                    <a:off x="2678" y="2184"/>
                    <a:ext cx="62" cy="44"/>
                  </a:xfrm>
                  <a:custGeom>
                    <a:avLst/>
                    <a:gdLst>
                      <a:gd name="T0" fmla="*/ 0 w 431"/>
                      <a:gd name="T1" fmla="*/ 0 h 311"/>
                      <a:gd name="T2" fmla="*/ 0 w 431"/>
                      <a:gd name="T3" fmla="*/ 0 h 311"/>
                      <a:gd name="T4" fmla="*/ 0 w 431"/>
                      <a:gd name="T5" fmla="*/ 0 h 311"/>
                      <a:gd name="T6" fmla="*/ 0 w 431"/>
                      <a:gd name="T7" fmla="*/ 0 h 311"/>
                      <a:gd name="T8" fmla="*/ 0 w 431"/>
                      <a:gd name="T9" fmla="*/ 0 h 31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31" h="311">
                        <a:moveTo>
                          <a:pt x="0" y="0"/>
                        </a:moveTo>
                        <a:lnTo>
                          <a:pt x="431" y="94"/>
                        </a:lnTo>
                        <a:lnTo>
                          <a:pt x="431" y="311"/>
                        </a:lnTo>
                        <a:lnTo>
                          <a:pt x="0" y="176"/>
                        </a:lnTo>
                        <a:lnTo>
                          <a:pt x="0" y="0"/>
                        </a:lnTo>
                        <a:close/>
                      </a:path>
                    </a:pathLst>
                  </a:custGeom>
                  <a:solidFill>
                    <a:srgbClr val="40404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1" name="Line 27"/>
                  <p:cNvSpPr>
                    <a:spLocks noChangeShapeType="1"/>
                  </p:cNvSpPr>
                  <p:nvPr/>
                </p:nvSpPr>
                <p:spPr bwMode="auto">
                  <a:xfrm flipH="1" flipV="1">
                    <a:off x="2684" y="2196"/>
                    <a:ext cx="17" cy="3"/>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2" name="Line 28"/>
                  <p:cNvSpPr>
                    <a:spLocks noChangeShapeType="1"/>
                  </p:cNvSpPr>
                  <p:nvPr/>
                </p:nvSpPr>
                <p:spPr bwMode="auto">
                  <a:xfrm>
                    <a:off x="2709" y="2201"/>
                    <a:ext cx="22" cy="5"/>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3" name="Line 29"/>
                  <p:cNvSpPr>
                    <a:spLocks noChangeShapeType="1"/>
                  </p:cNvSpPr>
                  <p:nvPr/>
                </p:nvSpPr>
                <p:spPr bwMode="auto">
                  <a:xfrm>
                    <a:off x="2704" y="2189"/>
                    <a:ext cx="1" cy="29"/>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4" name="Line 30"/>
                  <p:cNvSpPr>
                    <a:spLocks noChangeShapeType="1"/>
                  </p:cNvSpPr>
                  <p:nvPr/>
                </p:nvSpPr>
                <p:spPr bwMode="auto">
                  <a:xfrm>
                    <a:off x="2734" y="2196"/>
                    <a:ext cx="1" cy="32"/>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5" name="Line 31"/>
                  <p:cNvSpPr>
                    <a:spLocks noChangeShapeType="1"/>
                  </p:cNvSpPr>
                  <p:nvPr/>
                </p:nvSpPr>
                <p:spPr bwMode="auto">
                  <a:xfrm>
                    <a:off x="2679" y="2195"/>
                    <a:ext cx="56" cy="14"/>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6" name="Line 32"/>
                  <p:cNvSpPr>
                    <a:spLocks noChangeShapeType="1"/>
                  </p:cNvSpPr>
                  <p:nvPr/>
                </p:nvSpPr>
                <p:spPr bwMode="auto">
                  <a:xfrm flipH="1" flipV="1">
                    <a:off x="2678" y="2191"/>
                    <a:ext cx="57" cy="13"/>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grpSp>
            <p:nvGrpSpPr>
              <p:cNvPr id="96" name="Group 33"/>
              <p:cNvGrpSpPr>
                <a:grpSpLocks/>
              </p:cNvGrpSpPr>
              <p:nvPr/>
            </p:nvGrpSpPr>
            <p:grpSpPr bwMode="auto">
              <a:xfrm>
                <a:off x="2615" y="2185"/>
                <a:ext cx="147" cy="76"/>
                <a:chOff x="2615" y="2185"/>
                <a:chExt cx="147" cy="76"/>
              </a:xfrm>
            </p:grpSpPr>
            <p:grpSp>
              <p:nvGrpSpPr>
                <p:cNvPr id="97" name="Group 34"/>
                <p:cNvGrpSpPr>
                  <a:grpSpLocks/>
                </p:cNvGrpSpPr>
                <p:nvPr/>
              </p:nvGrpSpPr>
              <p:grpSpPr bwMode="auto">
                <a:xfrm>
                  <a:off x="2729" y="2226"/>
                  <a:ext cx="24" cy="18"/>
                  <a:chOff x="2729" y="2226"/>
                  <a:chExt cx="24" cy="18"/>
                </a:xfrm>
              </p:grpSpPr>
              <p:sp>
                <p:nvSpPr>
                  <p:cNvPr id="126" name="Freeform 35"/>
                  <p:cNvSpPr>
                    <a:spLocks/>
                  </p:cNvSpPr>
                  <p:nvPr/>
                </p:nvSpPr>
                <p:spPr bwMode="auto">
                  <a:xfrm>
                    <a:off x="2746" y="2226"/>
                    <a:ext cx="7" cy="18"/>
                  </a:xfrm>
                  <a:custGeom>
                    <a:avLst/>
                    <a:gdLst>
                      <a:gd name="T0" fmla="*/ 0 w 48"/>
                      <a:gd name="T1" fmla="*/ 0 h 126"/>
                      <a:gd name="T2" fmla="*/ 0 w 48"/>
                      <a:gd name="T3" fmla="*/ 0 h 126"/>
                      <a:gd name="T4" fmla="*/ 0 w 48"/>
                      <a:gd name="T5" fmla="*/ 0 h 126"/>
                      <a:gd name="T6" fmla="*/ 0 w 48"/>
                      <a:gd name="T7" fmla="*/ 0 h 126"/>
                      <a:gd name="T8" fmla="*/ 0 w 48"/>
                      <a:gd name="T9" fmla="*/ 0 h 1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 h="126">
                        <a:moveTo>
                          <a:pt x="33" y="0"/>
                        </a:moveTo>
                        <a:lnTo>
                          <a:pt x="48" y="118"/>
                        </a:lnTo>
                        <a:lnTo>
                          <a:pt x="13" y="126"/>
                        </a:lnTo>
                        <a:lnTo>
                          <a:pt x="0" y="6"/>
                        </a:lnTo>
                        <a:lnTo>
                          <a:pt x="33" y="0"/>
                        </a:lnTo>
                        <a:close/>
                      </a:path>
                    </a:pathLst>
                  </a:custGeom>
                  <a:solidFill>
                    <a:srgbClr val="60606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7" name="Freeform 36"/>
                  <p:cNvSpPr>
                    <a:spLocks/>
                  </p:cNvSpPr>
                  <p:nvPr/>
                </p:nvSpPr>
                <p:spPr bwMode="auto">
                  <a:xfrm>
                    <a:off x="2729" y="2229"/>
                    <a:ext cx="19" cy="15"/>
                  </a:xfrm>
                  <a:custGeom>
                    <a:avLst/>
                    <a:gdLst>
                      <a:gd name="T0" fmla="*/ 0 w 132"/>
                      <a:gd name="T1" fmla="*/ 0 h 109"/>
                      <a:gd name="T2" fmla="*/ 0 w 132"/>
                      <a:gd name="T3" fmla="*/ 0 h 109"/>
                      <a:gd name="T4" fmla="*/ 0 w 132"/>
                      <a:gd name="T5" fmla="*/ 0 h 109"/>
                      <a:gd name="T6" fmla="*/ 0 w 132"/>
                      <a:gd name="T7" fmla="*/ 0 h 109"/>
                      <a:gd name="T8" fmla="*/ 0 w 132"/>
                      <a:gd name="T9" fmla="*/ 0 h 109"/>
                      <a:gd name="T10" fmla="*/ 0 w 132"/>
                      <a:gd name="T11" fmla="*/ 0 h 109"/>
                      <a:gd name="T12" fmla="*/ 0 w 132"/>
                      <a:gd name="T13" fmla="*/ 0 h 10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32" h="109">
                        <a:moveTo>
                          <a:pt x="121" y="4"/>
                        </a:moveTo>
                        <a:lnTo>
                          <a:pt x="132" y="109"/>
                        </a:lnTo>
                        <a:lnTo>
                          <a:pt x="0" y="54"/>
                        </a:lnTo>
                        <a:lnTo>
                          <a:pt x="52" y="38"/>
                        </a:lnTo>
                        <a:lnTo>
                          <a:pt x="98" y="62"/>
                        </a:lnTo>
                        <a:lnTo>
                          <a:pt x="83" y="0"/>
                        </a:lnTo>
                        <a:lnTo>
                          <a:pt x="121" y="4"/>
                        </a:lnTo>
                        <a:close/>
                      </a:path>
                    </a:pathLst>
                  </a:custGeom>
                  <a:solidFill>
                    <a:srgbClr val="40404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98" name="Group 37"/>
                <p:cNvGrpSpPr>
                  <a:grpSpLocks/>
                </p:cNvGrpSpPr>
                <p:nvPr/>
              </p:nvGrpSpPr>
              <p:grpSpPr bwMode="auto">
                <a:xfrm>
                  <a:off x="2615" y="2185"/>
                  <a:ext cx="147" cy="76"/>
                  <a:chOff x="2615" y="2185"/>
                  <a:chExt cx="147" cy="76"/>
                </a:xfrm>
              </p:grpSpPr>
              <p:sp>
                <p:nvSpPr>
                  <p:cNvPr id="99" name="Freeform 38"/>
                  <p:cNvSpPr>
                    <a:spLocks/>
                  </p:cNvSpPr>
                  <p:nvPr/>
                </p:nvSpPr>
                <p:spPr bwMode="auto">
                  <a:xfrm>
                    <a:off x="2616" y="2185"/>
                    <a:ext cx="144" cy="67"/>
                  </a:xfrm>
                  <a:custGeom>
                    <a:avLst/>
                    <a:gdLst>
                      <a:gd name="T0" fmla="*/ 0 w 1009"/>
                      <a:gd name="T1" fmla="*/ 0 h 471"/>
                      <a:gd name="T2" fmla="*/ 0 w 1009"/>
                      <a:gd name="T3" fmla="*/ 0 h 471"/>
                      <a:gd name="T4" fmla="*/ 0 w 1009"/>
                      <a:gd name="T5" fmla="*/ 0 h 471"/>
                      <a:gd name="T6" fmla="*/ 0 w 1009"/>
                      <a:gd name="T7" fmla="*/ 0 h 471"/>
                      <a:gd name="T8" fmla="*/ 0 w 1009"/>
                      <a:gd name="T9" fmla="*/ 0 h 4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09" h="471">
                        <a:moveTo>
                          <a:pt x="1009" y="199"/>
                        </a:moveTo>
                        <a:lnTo>
                          <a:pt x="525" y="471"/>
                        </a:lnTo>
                        <a:lnTo>
                          <a:pt x="0" y="205"/>
                        </a:lnTo>
                        <a:lnTo>
                          <a:pt x="403" y="0"/>
                        </a:lnTo>
                        <a:lnTo>
                          <a:pt x="1009" y="199"/>
                        </a:lnTo>
                        <a:close/>
                      </a:path>
                    </a:pathLst>
                  </a:custGeom>
                  <a:solidFill>
                    <a:srgbClr val="80808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0" name="Freeform 39"/>
                  <p:cNvSpPr>
                    <a:spLocks/>
                  </p:cNvSpPr>
                  <p:nvPr/>
                </p:nvSpPr>
                <p:spPr bwMode="auto">
                  <a:xfrm>
                    <a:off x="2690" y="2213"/>
                    <a:ext cx="72" cy="48"/>
                  </a:xfrm>
                  <a:custGeom>
                    <a:avLst/>
                    <a:gdLst>
                      <a:gd name="T0" fmla="*/ 0 w 505"/>
                      <a:gd name="T1" fmla="*/ 0 h 333"/>
                      <a:gd name="T2" fmla="*/ 0 w 505"/>
                      <a:gd name="T3" fmla="*/ 0 h 333"/>
                      <a:gd name="T4" fmla="*/ 0 w 505"/>
                      <a:gd name="T5" fmla="*/ 0 h 333"/>
                      <a:gd name="T6" fmla="*/ 0 w 505"/>
                      <a:gd name="T7" fmla="*/ 0 h 333"/>
                      <a:gd name="T8" fmla="*/ 0 w 505"/>
                      <a:gd name="T9" fmla="*/ 0 h 33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05" h="333">
                        <a:moveTo>
                          <a:pt x="487" y="0"/>
                        </a:moveTo>
                        <a:lnTo>
                          <a:pt x="0" y="276"/>
                        </a:lnTo>
                        <a:lnTo>
                          <a:pt x="14" y="333"/>
                        </a:lnTo>
                        <a:lnTo>
                          <a:pt x="505" y="53"/>
                        </a:lnTo>
                        <a:lnTo>
                          <a:pt x="487" y="0"/>
                        </a:lnTo>
                        <a:close/>
                      </a:path>
                    </a:pathLst>
                  </a:custGeom>
                  <a:solidFill>
                    <a:srgbClr val="60606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1" name="Freeform 40"/>
                  <p:cNvSpPr>
                    <a:spLocks/>
                  </p:cNvSpPr>
                  <p:nvPr/>
                </p:nvSpPr>
                <p:spPr bwMode="auto">
                  <a:xfrm>
                    <a:off x="2615" y="2214"/>
                    <a:ext cx="77" cy="47"/>
                  </a:xfrm>
                  <a:custGeom>
                    <a:avLst/>
                    <a:gdLst>
                      <a:gd name="T0" fmla="*/ 0 w 540"/>
                      <a:gd name="T1" fmla="*/ 0 h 327"/>
                      <a:gd name="T2" fmla="*/ 0 w 540"/>
                      <a:gd name="T3" fmla="*/ 0 h 327"/>
                      <a:gd name="T4" fmla="*/ 0 w 540"/>
                      <a:gd name="T5" fmla="*/ 0 h 327"/>
                      <a:gd name="T6" fmla="*/ 0 w 540"/>
                      <a:gd name="T7" fmla="*/ 0 h 327"/>
                      <a:gd name="T8" fmla="*/ 0 w 540"/>
                      <a:gd name="T9" fmla="*/ 0 h 32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0" h="327">
                        <a:moveTo>
                          <a:pt x="540" y="327"/>
                        </a:moveTo>
                        <a:lnTo>
                          <a:pt x="524" y="266"/>
                        </a:lnTo>
                        <a:lnTo>
                          <a:pt x="0" y="0"/>
                        </a:lnTo>
                        <a:lnTo>
                          <a:pt x="19" y="49"/>
                        </a:lnTo>
                        <a:lnTo>
                          <a:pt x="540" y="327"/>
                        </a:lnTo>
                        <a:close/>
                      </a:path>
                    </a:pathLst>
                  </a:custGeom>
                  <a:solidFill>
                    <a:srgbClr val="40404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2" name="Freeform 41"/>
                  <p:cNvSpPr>
                    <a:spLocks/>
                  </p:cNvSpPr>
                  <p:nvPr/>
                </p:nvSpPr>
                <p:spPr bwMode="auto">
                  <a:xfrm>
                    <a:off x="2674" y="2217"/>
                    <a:ext cx="57" cy="29"/>
                  </a:xfrm>
                  <a:custGeom>
                    <a:avLst/>
                    <a:gdLst>
                      <a:gd name="T0" fmla="*/ 0 w 405"/>
                      <a:gd name="T1" fmla="*/ 0 h 207"/>
                      <a:gd name="T2" fmla="*/ 0 w 405"/>
                      <a:gd name="T3" fmla="*/ 0 h 207"/>
                      <a:gd name="T4" fmla="*/ 0 w 405"/>
                      <a:gd name="T5" fmla="*/ 0 h 207"/>
                      <a:gd name="T6" fmla="*/ 0 w 405"/>
                      <a:gd name="T7" fmla="*/ 0 h 207"/>
                      <a:gd name="T8" fmla="*/ 0 w 405"/>
                      <a:gd name="T9" fmla="*/ 0 h 20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05" h="207">
                        <a:moveTo>
                          <a:pt x="405" y="53"/>
                        </a:moveTo>
                        <a:lnTo>
                          <a:pt x="264" y="0"/>
                        </a:lnTo>
                        <a:lnTo>
                          <a:pt x="0" y="144"/>
                        </a:lnTo>
                        <a:lnTo>
                          <a:pt x="134" y="207"/>
                        </a:lnTo>
                        <a:lnTo>
                          <a:pt x="405" y="5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3" name="Freeform 42"/>
                  <p:cNvSpPr>
                    <a:spLocks/>
                  </p:cNvSpPr>
                  <p:nvPr/>
                </p:nvSpPr>
                <p:spPr bwMode="auto">
                  <a:xfrm>
                    <a:off x="2622" y="2196"/>
                    <a:ext cx="86" cy="39"/>
                  </a:xfrm>
                  <a:custGeom>
                    <a:avLst/>
                    <a:gdLst>
                      <a:gd name="T0" fmla="*/ 0 w 597"/>
                      <a:gd name="T1" fmla="*/ 0 h 278"/>
                      <a:gd name="T2" fmla="*/ 0 w 597"/>
                      <a:gd name="T3" fmla="*/ 0 h 278"/>
                      <a:gd name="T4" fmla="*/ 0 w 597"/>
                      <a:gd name="T5" fmla="*/ 0 h 278"/>
                      <a:gd name="T6" fmla="*/ 0 w 597"/>
                      <a:gd name="T7" fmla="*/ 0 h 278"/>
                      <a:gd name="T8" fmla="*/ 0 w 597"/>
                      <a:gd name="T9" fmla="*/ 0 h 27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97" h="278">
                        <a:moveTo>
                          <a:pt x="597" y="136"/>
                        </a:moveTo>
                        <a:lnTo>
                          <a:pt x="336" y="278"/>
                        </a:lnTo>
                        <a:lnTo>
                          <a:pt x="0" y="119"/>
                        </a:lnTo>
                        <a:lnTo>
                          <a:pt x="244" y="0"/>
                        </a:lnTo>
                        <a:lnTo>
                          <a:pt x="597" y="136"/>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4" name="Freeform 43"/>
                  <p:cNvSpPr>
                    <a:spLocks/>
                  </p:cNvSpPr>
                  <p:nvPr/>
                </p:nvSpPr>
                <p:spPr bwMode="auto">
                  <a:xfrm>
                    <a:off x="2659" y="2187"/>
                    <a:ext cx="94" cy="36"/>
                  </a:xfrm>
                  <a:custGeom>
                    <a:avLst/>
                    <a:gdLst>
                      <a:gd name="T0" fmla="*/ 0 w 658"/>
                      <a:gd name="T1" fmla="*/ 0 h 254"/>
                      <a:gd name="T2" fmla="*/ 0 w 658"/>
                      <a:gd name="T3" fmla="*/ 0 h 254"/>
                      <a:gd name="T4" fmla="*/ 0 w 658"/>
                      <a:gd name="T5" fmla="*/ 0 h 254"/>
                      <a:gd name="T6" fmla="*/ 0 w 658"/>
                      <a:gd name="T7" fmla="*/ 0 h 254"/>
                      <a:gd name="T8" fmla="*/ 0 w 658"/>
                      <a:gd name="T9" fmla="*/ 0 h 25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58" h="254">
                        <a:moveTo>
                          <a:pt x="521" y="254"/>
                        </a:moveTo>
                        <a:lnTo>
                          <a:pt x="658" y="183"/>
                        </a:lnTo>
                        <a:lnTo>
                          <a:pt x="106" y="0"/>
                        </a:lnTo>
                        <a:lnTo>
                          <a:pt x="0" y="53"/>
                        </a:lnTo>
                        <a:lnTo>
                          <a:pt x="521" y="25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5" name="Line 44"/>
                  <p:cNvSpPr>
                    <a:spLocks noChangeShapeType="1"/>
                  </p:cNvSpPr>
                  <p:nvPr/>
                </p:nvSpPr>
                <p:spPr bwMode="auto">
                  <a:xfrm flipH="1" flipV="1">
                    <a:off x="2670" y="2189"/>
                    <a:ext cx="81" cy="28"/>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6" name="Line 45"/>
                  <p:cNvSpPr>
                    <a:spLocks noChangeShapeType="1"/>
                  </p:cNvSpPr>
                  <p:nvPr/>
                </p:nvSpPr>
                <p:spPr bwMode="auto">
                  <a:xfrm flipH="1" flipV="1">
                    <a:off x="2665" y="2191"/>
                    <a:ext cx="80" cy="29"/>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7" name="Line 46"/>
                  <p:cNvSpPr>
                    <a:spLocks noChangeShapeType="1"/>
                  </p:cNvSpPr>
                  <p:nvPr/>
                </p:nvSpPr>
                <p:spPr bwMode="auto">
                  <a:xfrm flipH="1" flipV="1">
                    <a:off x="2662" y="2193"/>
                    <a:ext cx="78" cy="30"/>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8" name="Line 47"/>
                  <p:cNvSpPr>
                    <a:spLocks noChangeShapeType="1"/>
                  </p:cNvSpPr>
                  <p:nvPr/>
                </p:nvSpPr>
                <p:spPr bwMode="auto">
                  <a:xfrm flipH="1" flipV="1">
                    <a:off x="2652" y="2198"/>
                    <a:ext cx="76" cy="30"/>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9" name="Line 48"/>
                  <p:cNvSpPr>
                    <a:spLocks noChangeShapeType="1"/>
                  </p:cNvSpPr>
                  <p:nvPr/>
                </p:nvSpPr>
                <p:spPr bwMode="auto">
                  <a:xfrm flipH="1" flipV="1">
                    <a:off x="2647" y="2202"/>
                    <a:ext cx="75" cy="30"/>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0" name="Line 49"/>
                  <p:cNvSpPr>
                    <a:spLocks noChangeShapeType="1"/>
                  </p:cNvSpPr>
                  <p:nvPr/>
                </p:nvSpPr>
                <p:spPr bwMode="auto">
                  <a:xfrm flipH="1" flipV="1">
                    <a:off x="2641" y="2204"/>
                    <a:ext cx="75" cy="32"/>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1" name="Line 50"/>
                  <p:cNvSpPr>
                    <a:spLocks noChangeShapeType="1"/>
                  </p:cNvSpPr>
                  <p:nvPr/>
                </p:nvSpPr>
                <p:spPr bwMode="auto">
                  <a:xfrm flipH="1" flipV="1">
                    <a:off x="2636" y="2208"/>
                    <a:ext cx="73" cy="32"/>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2" name="Line 51"/>
                  <p:cNvSpPr>
                    <a:spLocks noChangeShapeType="1"/>
                  </p:cNvSpPr>
                  <p:nvPr/>
                </p:nvSpPr>
                <p:spPr bwMode="auto">
                  <a:xfrm flipH="1" flipV="1">
                    <a:off x="2629" y="2210"/>
                    <a:ext cx="73" cy="33"/>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3" name="Line 52"/>
                  <p:cNvSpPr>
                    <a:spLocks noChangeShapeType="1"/>
                  </p:cNvSpPr>
                  <p:nvPr/>
                </p:nvSpPr>
                <p:spPr bwMode="auto">
                  <a:xfrm flipH="1">
                    <a:off x="2687" y="2222"/>
                    <a:ext cx="38" cy="22"/>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4" name="Line 53"/>
                  <p:cNvSpPr>
                    <a:spLocks noChangeShapeType="1"/>
                  </p:cNvSpPr>
                  <p:nvPr/>
                </p:nvSpPr>
                <p:spPr bwMode="auto">
                  <a:xfrm flipH="1">
                    <a:off x="2679" y="2219"/>
                    <a:ext cx="38" cy="21"/>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5" name="Line 54"/>
                  <p:cNvSpPr>
                    <a:spLocks noChangeShapeType="1"/>
                  </p:cNvSpPr>
                  <p:nvPr/>
                </p:nvSpPr>
                <p:spPr bwMode="auto">
                  <a:xfrm flipH="1">
                    <a:off x="2663" y="2212"/>
                    <a:ext cx="37" cy="20"/>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6" name="Line 55"/>
                  <p:cNvSpPr>
                    <a:spLocks noChangeShapeType="1"/>
                  </p:cNvSpPr>
                  <p:nvPr/>
                </p:nvSpPr>
                <p:spPr bwMode="auto">
                  <a:xfrm flipH="1">
                    <a:off x="2655" y="2209"/>
                    <a:ext cx="36" cy="19"/>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7" name="Line 56"/>
                  <p:cNvSpPr>
                    <a:spLocks noChangeShapeType="1"/>
                  </p:cNvSpPr>
                  <p:nvPr/>
                </p:nvSpPr>
                <p:spPr bwMode="auto">
                  <a:xfrm flipH="1">
                    <a:off x="2647" y="2206"/>
                    <a:ext cx="34" cy="18"/>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8" name="Line 57"/>
                  <p:cNvSpPr>
                    <a:spLocks noChangeShapeType="1"/>
                  </p:cNvSpPr>
                  <p:nvPr/>
                </p:nvSpPr>
                <p:spPr bwMode="auto">
                  <a:xfrm flipH="1">
                    <a:off x="2640" y="2203"/>
                    <a:ext cx="33" cy="18"/>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9" name="Line 58"/>
                  <p:cNvSpPr>
                    <a:spLocks noChangeShapeType="1"/>
                  </p:cNvSpPr>
                  <p:nvPr/>
                </p:nvSpPr>
                <p:spPr bwMode="auto">
                  <a:xfrm flipH="1">
                    <a:off x="2632" y="2199"/>
                    <a:ext cx="35" cy="18"/>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0" name="Line 59"/>
                  <p:cNvSpPr>
                    <a:spLocks noChangeShapeType="1"/>
                  </p:cNvSpPr>
                  <p:nvPr/>
                </p:nvSpPr>
                <p:spPr bwMode="auto">
                  <a:xfrm flipH="1">
                    <a:off x="2723" y="2210"/>
                    <a:ext cx="18" cy="9"/>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1" name="Line 60"/>
                  <p:cNvSpPr>
                    <a:spLocks noChangeShapeType="1"/>
                  </p:cNvSpPr>
                  <p:nvPr/>
                </p:nvSpPr>
                <p:spPr bwMode="auto">
                  <a:xfrm flipH="1">
                    <a:off x="2712" y="2205"/>
                    <a:ext cx="18" cy="10"/>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2" name="Line 61"/>
                  <p:cNvSpPr>
                    <a:spLocks noChangeShapeType="1"/>
                  </p:cNvSpPr>
                  <p:nvPr/>
                </p:nvSpPr>
                <p:spPr bwMode="auto">
                  <a:xfrm flipH="1">
                    <a:off x="2701" y="2202"/>
                    <a:ext cx="18" cy="9"/>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3" name="Line 62"/>
                  <p:cNvSpPr>
                    <a:spLocks noChangeShapeType="1"/>
                  </p:cNvSpPr>
                  <p:nvPr/>
                </p:nvSpPr>
                <p:spPr bwMode="auto">
                  <a:xfrm flipH="1">
                    <a:off x="2690" y="2198"/>
                    <a:ext cx="18" cy="9"/>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4" name="Line 63"/>
                  <p:cNvSpPr>
                    <a:spLocks noChangeShapeType="1"/>
                  </p:cNvSpPr>
                  <p:nvPr/>
                </p:nvSpPr>
                <p:spPr bwMode="auto">
                  <a:xfrm flipH="1">
                    <a:off x="2680" y="2194"/>
                    <a:ext cx="17" cy="9"/>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5" name="Line 64"/>
                  <p:cNvSpPr>
                    <a:spLocks noChangeShapeType="1"/>
                  </p:cNvSpPr>
                  <p:nvPr/>
                </p:nvSpPr>
                <p:spPr bwMode="auto">
                  <a:xfrm flipH="1">
                    <a:off x="2668" y="2190"/>
                    <a:ext cx="16" cy="9"/>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grpSp>
        <p:grpSp>
          <p:nvGrpSpPr>
            <p:cNvPr id="8" name="Group 65"/>
            <p:cNvGrpSpPr>
              <a:grpSpLocks/>
            </p:cNvGrpSpPr>
            <p:nvPr/>
          </p:nvGrpSpPr>
          <p:grpSpPr bwMode="auto">
            <a:xfrm flipH="1">
              <a:off x="3808" y="2431"/>
              <a:ext cx="87" cy="168"/>
              <a:chOff x="2591" y="2156"/>
              <a:chExt cx="35" cy="69"/>
            </a:xfrm>
          </p:grpSpPr>
          <p:sp>
            <p:nvSpPr>
              <p:cNvPr id="93" name="Freeform 66"/>
              <p:cNvSpPr>
                <a:spLocks/>
              </p:cNvSpPr>
              <p:nvPr/>
            </p:nvSpPr>
            <p:spPr bwMode="auto">
              <a:xfrm>
                <a:off x="2591" y="2156"/>
                <a:ext cx="35" cy="69"/>
              </a:xfrm>
              <a:custGeom>
                <a:avLst/>
                <a:gdLst>
                  <a:gd name="T0" fmla="*/ 0 w 246"/>
                  <a:gd name="T1" fmla="*/ 0 h 485"/>
                  <a:gd name="T2" fmla="*/ 0 w 246"/>
                  <a:gd name="T3" fmla="*/ 0 h 485"/>
                  <a:gd name="T4" fmla="*/ 0 w 246"/>
                  <a:gd name="T5" fmla="*/ 0 h 485"/>
                  <a:gd name="T6" fmla="*/ 0 w 246"/>
                  <a:gd name="T7" fmla="*/ 0 h 485"/>
                  <a:gd name="T8" fmla="*/ 0 w 246"/>
                  <a:gd name="T9" fmla="*/ 0 h 485"/>
                  <a:gd name="T10" fmla="*/ 0 w 246"/>
                  <a:gd name="T11" fmla="*/ 0 h 485"/>
                  <a:gd name="T12" fmla="*/ 0 w 246"/>
                  <a:gd name="T13" fmla="*/ 0 h 485"/>
                  <a:gd name="T14" fmla="*/ 0 w 246"/>
                  <a:gd name="T15" fmla="*/ 0 h 485"/>
                  <a:gd name="T16" fmla="*/ 0 w 246"/>
                  <a:gd name="T17" fmla="*/ 0 h 485"/>
                  <a:gd name="T18" fmla="*/ 0 w 246"/>
                  <a:gd name="T19" fmla="*/ 0 h 485"/>
                  <a:gd name="T20" fmla="*/ 0 w 246"/>
                  <a:gd name="T21" fmla="*/ 0 h 485"/>
                  <a:gd name="T22" fmla="*/ 0 w 246"/>
                  <a:gd name="T23" fmla="*/ 0 h 4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46" h="485">
                    <a:moveTo>
                      <a:pt x="0" y="173"/>
                    </a:moveTo>
                    <a:lnTo>
                      <a:pt x="46" y="108"/>
                    </a:lnTo>
                    <a:lnTo>
                      <a:pt x="92" y="76"/>
                    </a:lnTo>
                    <a:lnTo>
                      <a:pt x="111" y="28"/>
                    </a:lnTo>
                    <a:lnTo>
                      <a:pt x="122" y="6"/>
                    </a:lnTo>
                    <a:lnTo>
                      <a:pt x="174" y="0"/>
                    </a:lnTo>
                    <a:lnTo>
                      <a:pt x="246" y="41"/>
                    </a:lnTo>
                    <a:lnTo>
                      <a:pt x="227" y="129"/>
                    </a:lnTo>
                    <a:lnTo>
                      <a:pt x="206" y="178"/>
                    </a:lnTo>
                    <a:lnTo>
                      <a:pt x="159" y="328"/>
                    </a:lnTo>
                    <a:lnTo>
                      <a:pt x="81" y="485"/>
                    </a:lnTo>
                    <a:lnTo>
                      <a:pt x="0" y="173"/>
                    </a:lnTo>
                    <a:close/>
                  </a:path>
                </a:pathLst>
              </a:custGeom>
              <a:solidFill>
                <a:srgbClr val="C0C0C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94" name="Freeform 67"/>
              <p:cNvSpPr>
                <a:spLocks/>
              </p:cNvSpPr>
              <p:nvPr/>
            </p:nvSpPr>
            <p:spPr bwMode="auto">
              <a:xfrm>
                <a:off x="2596" y="2162"/>
                <a:ext cx="28" cy="49"/>
              </a:xfrm>
              <a:custGeom>
                <a:avLst/>
                <a:gdLst>
                  <a:gd name="T0" fmla="*/ 0 w 193"/>
                  <a:gd name="T1" fmla="*/ 0 h 346"/>
                  <a:gd name="T2" fmla="*/ 0 w 193"/>
                  <a:gd name="T3" fmla="*/ 0 h 346"/>
                  <a:gd name="T4" fmla="*/ 0 w 193"/>
                  <a:gd name="T5" fmla="*/ 0 h 346"/>
                  <a:gd name="T6" fmla="*/ 0 w 193"/>
                  <a:gd name="T7" fmla="*/ 0 h 346"/>
                  <a:gd name="T8" fmla="*/ 0 w 193"/>
                  <a:gd name="T9" fmla="*/ 0 h 346"/>
                  <a:gd name="T10" fmla="*/ 0 w 193"/>
                  <a:gd name="T11" fmla="*/ 0 h 346"/>
                  <a:gd name="T12" fmla="*/ 0 w 193"/>
                  <a:gd name="T13" fmla="*/ 0 h 346"/>
                  <a:gd name="T14" fmla="*/ 0 w 193"/>
                  <a:gd name="T15" fmla="*/ 0 h 346"/>
                  <a:gd name="T16" fmla="*/ 0 w 193"/>
                  <a:gd name="T17" fmla="*/ 0 h 346"/>
                  <a:gd name="T18" fmla="*/ 0 w 193"/>
                  <a:gd name="T19" fmla="*/ 0 h 346"/>
                  <a:gd name="T20" fmla="*/ 0 w 193"/>
                  <a:gd name="T21" fmla="*/ 0 h 346"/>
                  <a:gd name="T22" fmla="*/ 0 w 193"/>
                  <a:gd name="T23" fmla="*/ 0 h 346"/>
                  <a:gd name="T24" fmla="*/ 0 w 193"/>
                  <a:gd name="T25" fmla="*/ 0 h 346"/>
                  <a:gd name="T26" fmla="*/ 0 w 193"/>
                  <a:gd name="T27" fmla="*/ 0 h 346"/>
                  <a:gd name="T28" fmla="*/ 0 w 193"/>
                  <a:gd name="T29" fmla="*/ 0 h 346"/>
                  <a:gd name="T30" fmla="*/ 0 w 193"/>
                  <a:gd name="T31" fmla="*/ 0 h 346"/>
                  <a:gd name="T32" fmla="*/ 0 w 193"/>
                  <a:gd name="T33" fmla="*/ 0 h 346"/>
                  <a:gd name="T34" fmla="*/ 0 w 193"/>
                  <a:gd name="T35" fmla="*/ 0 h 346"/>
                  <a:gd name="T36" fmla="*/ 0 w 193"/>
                  <a:gd name="T37" fmla="*/ 0 h 346"/>
                  <a:gd name="T38" fmla="*/ 0 w 193"/>
                  <a:gd name="T39" fmla="*/ 0 h 346"/>
                  <a:gd name="T40" fmla="*/ 0 w 193"/>
                  <a:gd name="T41" fmla="*/ 0 h 346"/>
                  <a:gd name="T42" fmla="*/ 0 w 193"/>
                  <a:gd name="T43" fmla="*/ 0 h 346"/>
                  <a:gd name="T44" fmla="*/ 0 w 193"/>
                  <a:gd name="T45" fmla="*/ 0 h 346"/>
                  <a:gd name="T46" fmla="*/ 0 w 193"/>
                  <a:gd name="T47" fmla="*/ 0 h 346"/>
                  <a:gd name="T48" fmla="*/ 0 w 193"/>
                  <a:gd name="T49" fmla="*/ 0 h 346"/>
                  <a:gd name="T50" fmla="*/ 0 w 193"/>
                  <a:gd name="T51" fmla="*/ 0 h 346"/>
                  <a:gd name="T52" fmla="*/ 0 w 193"/>
                  <a:gd name="T53" fmla="*/ 0 h 346"/>
                  <a:gd name="T54" fmla="*/ 0 w 193"/>
                  <a:gd name="T55" fmla="*/ 0 h 34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193" h="346">
                    <a:moveTo>
                      <a:pt x="81" y="0"/>
                    </a:moveTo>
                    <a:lnTo>
                      <a:pt x="102" y="22"/>
                    </a:lnTo>
                    <a:lnTo>
                      <a:pt x="147" y="41"/>
                    </a:lnTo>
                    <a:lnTo>
                      <a:pt x="193" y="40"/>
                    </a:lnTo>
                    <a:lnTo>
                      <a:pt x="165" y="119"/>
                    </a:lnTo>
                    <a:lnTo>
                      <a:pt x="131" y="115"/>
                    </a:lnTo>
                    <a:lnTo>
                      <a:pt x="105" y="100"/>
                    </a:lnTo>
                    <a:lnTo>
                      <a:pt x="119" y="124"/>
                    </a:lnTo>
                    <a:lnTo>
                      <a:pt x="158" y="131"/>
                    </a:lnTo>
                    <a:lnTo>
                      <a:pt x="130" y="217"/>
                    </a:lnTo>
                    <a:lnTo>
                      <a:pt x="110" y="280"/>
                    </a:lnTo>
                    <a:lnTo>
                      <a:pt x="102" y="244"/>
                    </a:lnTo>
                    <a:lnTo>
                      <a:pt x="92" y="177"/>
                    </a:lnTo>
                    <a:lnTo>
                      <a:pt x="91" y="139"/>
                    </a:lnTo>
                    <a:lnTo>
                      <a:pt x="84" y="155"/>
                    </a:lnTo>
                    <a:lnTo>
                      <a:pt x="84" y="200"/>
                    </a:lnTo>
                    <a:lnTo>
                      <a:pt x="92" y="260"/>
                    </a:lnTo>
                    <a:lnTo>
                      <a:pt x="98" y="299"/>
                    </a:lnTo>
                    <a:lnTo>
                      <a:pt x="81" y="346"/>
                    </a:lnTo>
                    <a:lnTo>
                      <a:pt x="49" y="224"/>
                    </a:lnTo>
                    <a:lnTo>
                      <a:pt x="35" y="183"/>
                    </a:lnTo>
                    <a:lnTo>
                      <a:pt x="11" y="121"/>
                    </a:lnTo>
                    <a:lnTo>
                      <a:pt x="0" y="103"/>
                    </a:lnTo>
                    <a:lnTo>
                      <a:pt x="15" y="79"/>
                    </a:lnTo>
                    <a:lnTo>
                      <a:pt x="57" y="57"/>
                    </a:lnTo>
                    <a:lnTo>
                      <a:pt x="73" y="78"/>
                    </a:lnTo>
                    <a:lnTo>
                      <a:pt x="63" y="41"/>
                    </a:lnTo>
                    <a:lnTo>
                      <a:pt x="8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9" name="Group 68"/>
            <p:cNvGrpSpPr>
              <a:grpSpLocks/>
            </p:cNvGrpSpPr>
            <p:nvPr/>
          </p:nvGrpSpPr>
          <p:grpSpPr bwMode="auto">
            <a:xfrm flipH="1">
              <a:off x="3798" y="2334"/>
              <a:ext cx="112" cy="119"/>
              <a:chOff x="2585" y="2116"/>
              <a:chExt cx="45" cy="49"/>
            </a:xfrm>
          </p:grpSpPr>
          <p:sp>
            <p:nvSpPr>
              <p:cNvPr id="78" name="Freeform 69"/>
              <p:cNvSpPr>
                <a:spLocks/>
              </p:cNvSpPr>
              <p:nvPr/>
            </p:nvSpPr>
            <p:spPr bwMode="auto">
              <a:xfrm>
                <a:off x="2597" y="2120"/>
                <a:ext cx="33" cy="45"/>
              </a:xfrm>
              <a:custGeom>
                <a:avLst/>
                <a:gdLst>
                  <a:gd name="T0" fmla="*/ 0 w 228"/>
                  <a:gd name="T1" fmla="*/ 0 h 319"/>
                  <a:gd name="T2" fmla="*/ 0 w 228"/>
                  <a:gd name="T3" fmla="*/ 0 h 319"/>
                  <a:gd name="T4" fmla="*/ 0 w 228"/>
                  <a:gd name="T5" fmla="*/ 0 h 319"/>
                  <a:gd name="T6" fmla="*/ 0 w 228"/>
                  <a:gd name="T7" fmla="*/ 0 h 319"/>
                  <a:gd name="T8" fmla="*/ 0 w 228"/>
                  <a:gd name="T9" fmla="*/ 0 h 319"/>
                  <a:gd name="T10" fmla="*/ 0 w 228"/>
                  <a:gd name="T11" fmla="*/ 0 h 319"/>
                  <a:gd name="T12" fmla="*/ 0 w 228"/>
                  <a:gd name="T13" fmla="*/ 0 h 319"/>
                  <a:gd name="T14" fmla="*/ 0 w 228"/>
                  <a:gd name="T15" fmla="*/ 0 h 319"/>
                  <a:gd name="T16" fmla="*/ 0 w 228"/>
                  <a:gd name="T17" fmla="*/ 0 h 319"/>
                  <a:gd name="T18" fmla="*/ 0 w 228"/>
                  <a:gd name="T19" fmla="*/ 0 h 319"/>
                  <a:gd name="T20" fmla="*/ 0 w 228"/>
                  <a:gd name="T21" fmla="*/ 0 h 319"/>
                  <a:gd name="T22" fmla="*/ 0 w 228"/>
                  <a:gd name="T23" fmla="*/ 0 h 319"/>
                  <a:gd name="T24" fmla="*/ 0 w 228"/>
                  <a:gd name="T25" fmla="*/ 0 h 319"/>
                  <a:gd name="T26" fmla="*/ 0 w 228"/>
                  <a:gd name="T27" fmla="*/ 0 h 319"/>
                  <a:gd name="T28" fmla="*/ 0 w 228"/>
                  <a:gd name="T29" fmla="*/ 0 h 319"/>
                  <a:gd name="T30" fmla="*/ 0 w 228"/>
                  <a:gd name="T31" fmla="*/ 0 h 319"/>
                  <a:gd name="T32" fmla="*/ 0 w 228"/>
                  <a:gd name="T33" fmla="*/ 0 h 319"/>
                  <a:gd name="T34" fmla="*/ 0 w 228"/>
                  <a:gd name="T35" fmla="*/ 0 h 319"/>
                  <a:gd name="T36" fmla="*/ 0 w 228"/>
                  <a:gd name="T37" fmla="*/ 0 h 319"/>
                  <a:gd name="T38" fmla="*/ 0 w 228"/>
                  <a:gd name="T39" fmla="*/ 0 h 319"/>
                  <a:gd name="T40" fmla="*/ 0 w 228"/>
                  <a:gd name="T41" fmla="*/ 0 h 319"/>
                  <a:gd name="T42" fmla="*/ 0 w 228"/>
                  <a:gd name="T43" fmla="*/ 0 h 319"/>
                  <a:gd name="T44" fmla="*/ 0 w 228"/>
                  <a:gd name="T45" fmla="*/ 0 h 319"/>
                  <a:gd name="T46" fmla="*/ 0 w 228"/>
                  <a:gd name="T47" fmla="*/ 0 h 319"/>
                  <a:gd name="T48" fmla="*/ 0 w 228"/>
                  <a:gd name="T49" fmla="*/ 0 h 319"/>
                  <a:gd name="T50" fmla="*/ 0 w 228"/>
                  <a:gd name="T51" fmla="*/ 0 h 319"/>
                  <a:gd name="T52" fmla="*/ 0 w 228"/>
                  <a:gd name="T53" fmla="*/ 0 h 319"/>
                  <a:gd name="T54" fmla="*/ 0 w 228"/>
                  <a:gd name="T55" fmla="*/ 0 h 319"/>
                  <a:gd name="T56" fmla="*/ 0 w 228"/>
                  <a:gd name="T57" fmla="*/ 0 h 319"/>
                  <a:gd name="T58" fmla="*/ 0 w 228"/>
                  <a:gd name="T59" fmla="*/ 0 h 319"/>
                  <a:gd name="T60" fmla="*/ 0 w 228"/>
                  <a:gd name="T61" fmla="*/ 0 h 319"/>
                  <a:gd name="T62" fmla="*/ 0 w 228"/>
                  <a:gd name="T63" fmla="*/ 0 h 319"/>
                  <a:gd name="T64" fmla="*/ 0 w 228"/>
                  <a:gd name="T65" fmla="*/ 0 h 319"/>
                  <a:gd name="T66" fmla="*/ 0 w 228"/>
                  <a:gd name="T67" fmla="*/ 0 h 319"/>
                  <a:gd name="T68" fmla="*/ 0 w 228"/>
                  <a:gd name="T69" fmla="*/ 0 h 319"/>
                  <a:gd name="T70" fmla="*/ 0 w 228"/>
                  <a:gd name="T71" fmla="*/ 0 h 319"/>
                  <a:gd name="T72" fmla="*/ 0 w 228"/>
                  <a:gd name="T73" fmla="*/ 0 h 319"/>
                  <a:gd name="T74" fmla="*/ 0 w 228"/>
                  <a:gd name="T75" fmla="*/ 0 h 319"/>
                  <a:gd name="T76" fmla="*/ 0 w 228"/>
                  <a:gd name="T77" fmla="*/ 0 h 319"/>
                  <a:gd name="T78" fmla="*/ 0 w 228"/>
                  <a:gd name="T79" fmla="*/ 0 h 319"/>
                  <a:gd name="T80" fmla="*/ 0 w 228"/>
                  <a:gd name="T81" fmla="*/ 0 h 319"/>
                  <a:gd name="T82" fmla="*/ 0 w 228"/>
                  <a:gd name="T83" fmla="*/ 0 h 319"/>
                  <a:gd name="T84" fmla="*/ 0 w 228"/>
                  <a:gd name="T85" fmla="*/ 0 h 319"/>
                  <a:gd name="T86" fmla="*/ 0 w 228"/>
                  <a:gd name="T87" fmla="*/ 0 h 319"/>
                  <a:gd name="T88" fmla="*/ 0 w 228"/>
                  <a:gd name="T89" fmla="*/ 0 h 319"/>
                  <a:gd name="T90" fmla="*/ 0 w 228"/>
                  <a:gd name="T91" fmla="*/ 0 h 319"/>
                  <a:gd name="T92" fmla="*/ 0 w 228"/>
                  <a:gd name="T93" fmla="*/ 0 h 319"/>
                  <a:gd name="T94" fmla="*/ 0 w 228"/>
                  <a:gd name="T95" fmla="*/ 0 h 319"/>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228" h="319">
                    <a:moveTo>
                      <a:pt x="2" y="117"/>
                    </a:moveTo>
                    <a:lnTo>
                      <a:pt x="10" y="139"/>
                    </a:lnTo>
                    <a:lnTo>
                      <a:pt x="23" y="151"/>
                    </a:lnTo>
                    <a:lnTo>
                      <a:pt x="31" y="168"/>
                    </a:lnTo>
                    <a:lnTo>
                      <a:pt x="40" y="182"/>
                    </a:lnTo>
                    <a:lnTo>
                      <a:pt x="54" y="196"/>
                    </a:lnTo>
                    <a:lnTo>
                      <a:pt x="66" y="204"/>
                    </a:lnTo>
                    <a:lnTo>
                      <a:pt x="83" y="214"/>
                    </a:lnTo>
                    <a:lnTo>
                      <a:pt x="86" y="226"/>
                    </a:lnTo>
                    <a:lnTo>
                      <a:pt x="86" y="243"/>
                    </a:lnTo>
                    <a:lnTo>
                      <a:pt x="81" y="283"/>
                    </a:lnTo>
                    <a:lnTo>
                      <a:pt x="113" y="306"/>
                    </a:lnTo>
                    <a:lnTo>
                      <a:pt x="140" y="318"/>
                    </a:lnTo>
                    <a:lnTo>
                      <a:pt x="162" y="319"/>
                    </a:lnTo>
                    <a:lnTo>
                      <a:pt x="185" y="318"/>
                    </a:lnTo>
                    <a:lnTo>
                      <a:pt x="193" y="292"/>
                    </a:lnTo>
                    <a:lnTo>
                      <a:pt x="198" y="233"/>
                    </a:lnTo>
                    <a:lnTo>
                      <a:pt x="211" y="213"/>
                    </a:lnTo>
                    <a:lnTo>
                      <a:pt x="221" y="183"/>
                    </a:lnTo>
                    <a:lnTo>
                      <a:pt x="223" y="156"/>
                    </a:lnTo>
                    <a:lnTo>
                      <a:pt x="227" y="118"/>
                    </a:lnTo>
                    <a:lnTo>
                      <a:pt x="228" y="96"/>
                    </a:lnTo>
                    <a:lnTo>
                      <a:pt x="227" y="83"/>
                    </a:lnTo>
                    <a:lnTo>
                      <a:pt x="221" y="59"/>
                    </a:lnTo>
                    <a:lnTo>
                      <a:pt x="209" y="47"/>
                    </a:lnTo>
                    <a:lnTo>
                      <a:pt x="192" y="43"/>
                    </a:lnTo>
                    <a:lnTo>
                      <a:pt x="186" y="30"/>
                    </a:lnTo>
                    <a:lnTo>
                      <a:pt x="170" y="21"/>
                    </a:lnTo>
                    <a:lnTo>
                      <a:pt x="154" y="30"/>
                    </a:lnTo>
                    <a:lnTo>
                      <a:pt x="143" y="11"/>
                    </a:lnTo>
                    <a:lnTo>
                      <a:pt x="125" y="5"/>
                    </a:lnTo>
                    <a:lnTo>
                      <a:pt x="105" y="22"/>
                    </a:lnTo>
                    <a:lnTo>
                      <a:pt x="96" y="0"/>
                    </a:lnTo>
                    <a:lnTo>
                      <a:pt x="70" y="3"/>
                    </a:lnTo>
                    <a:lnTo>
                      <a:pt x="56" y="38"/>
                    </a:lnTo>
                    <a:lnTo>
                      <a:pt x="53" y="57"/>
                    </a:lnTo>
                    <a:lnTo>
                      <a:pt x="51" y="84"/>
                    </a:lnTo>
                    <a:lnTo>
                      <a:pt x="45" y="118"/>
                    </a:lnTo>
                    <a:lnTo>
                      <a:pt x="38" y="105"/>
                    </a:lnTo>
                    <a:lnTo>
                      <a:pt x="35" y="80"/>
                    </a:lnTo>
                    <a:lnTo>
                      <a:pt x="30" y="64"/>
                    </a:lnTo>
                    <a:lnTo>
                      <a:pt x="24" y="55"/>
                    </a:lnTo>
                    <a:lnTo>
                      <a:pt x="11" y="49"/>
                    </a:lnTo>
                    <a:lnTo>
                      <a:pt x="4" y="51"/>
                    </a:lnTo>
                    <a:lnTo>
                      <a:pt x="0" y="59"/>
                    </a:lnTo>
                    <a:lnTo>
                      <a:pt x="5" y="72"/>
                    </a:lnTo>
                    <a:lnTo>
                      <a:pt x="7" y="96"/>
                    </a:lnTo>
                    <a:lnTo>
                      <a:pt x="2" y="117"/>
                    </a:lnTo>
                    <a:close/>
                  </a:path>
                </a:pathLst>
              </a:custGeom>
              <a:solidFill>
                <a:srgbClr val="FFC080"/>
              </a:solidFill>
              <a:ln w="1588">
                <a:solidFill>
                  <a:srgbClr val="402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9" name="Freeform 70"/>
              <p:cNvSpPr>
                <a:spLocks/>
              </p:cNvSpPr>
              <p:nvPr/>
            </p:nvSpPr>
            <p:spPr bwMode="auto">
              <a:xfrm>
                <a:off x="2612" y="2123"/>
                <a:ext cx="16" cy="17"/>
              </a:xfrm>
              <a:custGeom>
                <a:avLst/>
                <a:gdLst>
                  <a:gd name="T0" fmla="*/ 0 w 115"/>
                  <a:gd name="T1" fmla="*/ 0 h 120"/>
                  <a:gd name="T2" fmla="*/ 0 w 115"/>
                  <a:gd name="T3" fmla="*/ 0 h 120"/>
                  <a:gd name="T4" fmla="*/ 0 w 115"/>
                  <a:gd name="T5" fmla="*/ 0 h 120"/>
                  <a:gd name="T6" fmla="*/ 0 w 115"/>
                  <a:gd name="T7" fmla="*/ 0 h 120"/>
                  <a:gd name="T8" fmla="*/ 0 w 115"/>
                  <a:gd name="T9" fmla="*/ 0 h 120"/>
                  <a:gd name="T10" fmla="*/ 0 w 115"/>
                  <a:gd name="T11" fmla="*/ 0 h 120"/>
                  <a:gd name="T12" fmla="*/ 0 w 115"/>
                  <a:gd name="T13" fmla="*/ 0 h 120"/>
                  <a:gd name="T14" fmla="*/ 0 w 115"/>
                  <a:gd name="T15" fmla="*/ 0 h 120"/>
                  <a:gd name="T16" fmla="*/ 0 w 115"/>
                  <a:gd name="T17" fmla="*/ 0 h 120"/>
                  <a:gd name="T18" fmla="*/ 0 w 115"/>
                  <a:gd name="T19" fmla="*/ 0 h 120"/>
                  <a:gd name="T20" fmla="*/ 0 w 115"/>
                  <a:gd name="T21" fmla="*/ 0 h 120"/>
                  <a:gd name="T22" fmla="*/ 0 w 115"/>
                  <a:gd name="T23" fmla="*/ 0 h 120"/>
                  <a:gd name="T24" fmla="*/ 0 w 115"/>
                  <a:gd name="T25" fmla="*/ 0 h 120"/>
                  <a:gd name="T26" fmla="*/ 0 w 115"/>
                  <a:gd name="T27" fmla="*/ 0 h 120"/>
                  <a:gd name="T28" fmla="*/ 0 w 115"/>
                  <a:gd name="T29" fmla="*/ 0 h 120"/>
                  <a:gd name="T30" fmla="*/ 0 w 115"/>
                  <a:gd name="T31" fmla="*/ 0 h 120"/>
                  <a:gd name="T32" fmla="*/ 0 w 115"/>
                  <a:gd name="T33" fmla="*/ 0 h 120"/>
                  <a:gd name="T34" fmla="*/ 0 w 115"/>
                  <a:gd name="T35" fmla="*/ 0 h 120"/>
                  <a:gd name="T36" fmla="*/ 0 w 115"/>
                  <a:gd name="T37" fmla="*/ 0 h 120"/>
                  <a:gd name="T38" fmla="*/ 0 w 115"/>
                  <a:gd name="T39" fmla="*/ 0 h 120"/>
                  <a:gd name="T40" fmla="*/ 0 w 115"/>
                  <a:gd name="T41" fmla="*/ 0 h 120"/>
                  <a:gd name="T42" fmla="*/ 0 w 115"/>
                  <a:gd name="T43" fmla="*/ 0 h 120"/>
                  <a:gd name="T44" fmla="*/ 0 w 115"/>
                  <a:gd name="T45" fmla="*/ 0 h 120"/>
                  <a:gd name="T46" fmla="*/ 0 w 115"/>
                  <a:gd name="T47" fmla="*/ 0 h 120"/>
                  <a:gd name="T48" fmla="*/ 0 w 115"/>
                  <a:gd name="T49" fmla="*/ 0 h 120"/>
                  <a:gd name="T50" fmla="*/ 0 w 115"/>
                  <a:gd name="T51" fmla="*/ 0 h 120"/>
                  <a:gd name="T52" fmla="*/ 0 w 115"/>
                  <a:gd name="T53" fmla="*/ 0 h 120"/>
                  <a:gd name="T54" fmla="*/ 0 w 115"/>
                  <a:gd name="T55" fmla="*/ 0 h 120"/>
                  <a:gd name="T56" fmla="*/ 0 w 115"/>
                  <a:gd name="T57" fmla="*/ 0 h 120"/>
                  <a:gd name="T58" fmla="*/ 0 w 115"/>
                  <a:gd name="T59" fmla="*/ 0 h 120"/>
                  <a:gd name="T60" fmla="*/ 0 w 115"/>
                  <a:gd name="T61" fmla="*/ 0 h 120"/>
                  <a:gd name="T62" fmla="*/ 0 w 115"/>
                  <a:gd name="T63" fmla="*/ 0 h 120"/>
                  <a:gd name="T64" fmla="*/ 0 w 115"/>
                  <a:gd name="T65" fmla="*/ 0 h 120"/>
                  <a:gd name="T66" fmla="*/ 0 w 115"/>
                  <a:gd name="T67" fmla="*/ 0 h 120"/>
                  <a:gd name="T68" fmla="*/ 0 w 115"/>
                  <a:gd name="T69" fmla="*/ 0 h 120"/>
                  <a:gd name="T70" fmla="*/ 0 w 115"/>
                  <a:gd name="T71" fmla="*/ 0 h 120"/>
                  <a:gd name="T72" fmla="*/ 0 w 115"/>
                  <a:gd name="T73" fmla="*/ 0 h 120"/>
                  <a:gd name="T74" fmla="*/ 0 w 115"/>
                  <a:gd name="T75" fmla="*/ 0 h 120"/>
                  <a:gd name="T76" fmla="*/ 0 w 115"/>
                  <a:gd name="T77" fmla="*/ 0 h 120"/>
                  <a:gd name="T78" fmla="*/ 0 w 115"/>
                  <a:gd name="T79" fmla="*/ 0 h 120"/>
                  <a:gd name="T80" fmla="*/ 0 w 115"/>
                  <a:gd name="T81" fmla="*/ 0 h 120"/>
                  <a:gd name="T82" fmla="*/ 0 w 115"/>
                  <a:gd name="T83" fmla="*/ 0 h 120"/>
                  <a:gd name="T84" fmla="*/ 0 w 115"/>
                  <a:gd name="T85" fmla="*/ 0 h 120"/>
                  <a:gd name="T86" fmla="*/ 0 w 115"/>
                  <a:gd name="T87" fmla="*/ 0 h 120"/>
                  <a:gd name="T88" fmla="*/ 0 w 115"/>
                  <a:gd name="T89" fmla="*/ 0 h 120"/>
                  <a:gd name="T90" fmla="*/ 0 w 115"/>
                  <a:gd name="T91" fmla="*/ 0 h 120"/>
                  <a:gd name="T92" fmla="*/ 0 w 115"/>
                  <a:gd name="T93" fmla="*/ 0 h 120"/>
                  <a:gd name="T94" fmla="*/ 0 w 115"/>
                  <a:gd name="T95" fmla="*/ 0 h 120"/>
                  <a:gd name="T96" fmla="*/ 0 w 115"/>
                  <a:gd name="T97" fmla="*/ 0 h 120"/>
                  <a:gd name="T98" fmla="*/ 0 w 115"/>
                  <a:gd name="T99" fmla="*/ 0 h 120"/>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115" h="120">
                    <a:moveTo>
                      <a:pt x="5" y="2"/>
                    </a:moveTo>
                    <a:lnTo>
                      <a:pt x="11" y="27"/>
                    </a:lnTo>
                    <a:lnTo>
                      <a:pt x="20" y="44"/>
                    </a:lnTo>
                    <a:lnTo>
                      <a:pt x="9" y="81"/>
                    </a:lnTo>
                    <a:lnTo>
                      <a:pt x="15" y="90"/>
                    </a:lnTo>
                    <a:lnTo>
                      <a:pt x="25" y="94"/>
                    </a:lnTo>
                    <a:lnTo>
                      <a:pt x="37" y="92"/>
                    </a:lnTo>
                    <a:lnTo>
                      <a:pt x="45" y="71"/>
                    </a:lnTo>
                    <a:lnTo>
                      <a:pt x="53" y="55"/>
                    </a:lnTo>
                    <a:lnTo>
                      <a:pt x="49" y="32"/>
                    </a:lnTo>
                    <a:lnTo>
                      <a:pt x="47" y="8"/>
                    </a:lnTo>
                    <a:lnTo>
                      <a:pt x="53" y="11"/>
                    </a:lnTo>
                    <a:lnTo>
                      <a:pt x="55" y="33"/>
                    </a:lnTo>
                    <a:lnTo>
                      <a:pt x="58" y="49"/>
                    </a:lnTo>
                    <a:lnTo>
                      <a:pt x="58" y="61"/>
                    </a:lnTo>
                    <a:lnTo>
                      <a:pt x="50" y="74"/>
                    </a:lnTo>
                    <a:lnTo>
                      <a:pt x="42" y="90"/>
                    </a:lnTo>
                    <a:lnTo>
                      <a:pt x="41" y="104"/>
                    </a:lnTo>
                    <a:lnTo>
                      <a:pt x="50" y="110"/>
                    </a:lnTo>
                    <a:lnTo>
                      <a:pt x="66" y="108"/>
                    </a:lnTo>
                    <a:lnTo>
                      <a:pt x="77" y="95"/>
                    </a:lnTo>
                    <a:lnTo>
                      <a:pt x="93" y="75"/>
                    </a:lnTo>
                    <a:lnTo>
                      <a:pt x="92" y="63"/>
                    </a:lnTo>
                    <a:lnTo>
                      <a:pt x="90" y="41"/>
                    </a:lnTo>
                    <a:lnTo>
                      <a:pt x="95" y="58"/>
                    </a:lnTo>
                    <a:lnTo>
                      <a:pt x="96" y="75"/>
                    </a:lnTo>
                    <a:lnTo>
                      <a:pt x="84" y="93"/>
                    </a:lnTo>
                    <a:lnTo>
                      <a:pt x="83" y="105"/>
                    </a:lnTo>
                    <a:lnTo>
                      <a:pt x="86" y="115"/>
                    </a:lnTo>
                    <a:lnTo>
                      <a:pt x="93" y="117"/>
                    </a:lnTo>
                    <a:lnTo>
                      <a:pt x="101" y="112"/>
                    </a:lnTo>
                    <a:lnTo>
                      <a:pt x="115" y="98"/>
                    </a:lnTo>
                    <a:lnTo>
                      <a:pt x="103" y="114"/>
                    </a:lnTo>
                    <a:lnTo>
                      <a:pt x="99" y="120"/>
                    </a:lnTo>
                    <a:lnTo>
                      <a:pt x="87" y="120"/>
                    </a:lnTo>
                    <a:lnTo>
                      <a:pt x="81" y="113"/>
                    </a:lnTo>
                    <a:lnTo>
                      <a:pt x="78" y="102"/>
                    </a:lnTo>
                    <a:lnTo>
                      <a:pt x="70" y="112"/>
                    </a:lnTo>
                    <a:lnTo>
                      <a:pt x="56" y="114"/>
                    </a:lnTo>
                    <a:lnTo>
                      <a:pt x="44" y="114"/>
                    </a:lnTo>
                    <a:lnTo>
                      <a:pt x="38" y="104"/>
                    </a:lnTo>
                    <a:lnTo>
                      <a:pt x="37" y="95"/>
                    </a:lnTo>
                    <a:lnTo>
                      <a:pt x="31" y="98"/>
                    </a:lnTo>
                    <a:lnTo>
                      <a:pt x="22" y="98"/>
                    </a:lnTo>
                    <a:lnTo>
                      <a:pt x="9" y="91"/>
                    </a:lnTo>
                    <a:lnTo>
                      <a:pt x="7" y="77"/>
                    </a:lnTo>
                    <a:lnTo>
                      <a:pt x="15" y="46"/>
                    </a:lnTo>
                    <a:lnTo>
                      <a:pt x="6" y="26"/>
                    </a:lnTo>
                    <a:lnTo>
                      <a:pt x="0" y="0"/>
                    </a:lnTo>
                    <a:lnTo>
                      <a:pt x="5"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0" name="Freeform 71"/>
              <p:cNvSpPr>
                <a:spLocks/>
              </p:cNvSpPr>
              <p:nvPr/>
            </p:nvSpPr>
            <p:spPr bwMode="auto">
              <a:xfrm>
                <a:off x="2615" y="2132"/>
                <a:ext cx="3" cy="1"/>
              </a:xfrm>
              <a:custGeom>
                <a:avLst/>
                <a:gdLst>
                  <a:gd name="T0" fmla="*/ 0 w 18"/>
                  <a:gd name="T1" fmla="*/ 0 h 5"/>
                  <a:gd name="T2" fmla="*/ 0 w 18"/>
                  <a:gd name="T3" fmla="*/ 0 h 5"/>
                  <a:gd name="T4" fmla="*/ 0 w 18"/>
                  <a:gd name="T5" fmla="*/ 0 h 5"/>
                  <a:gd name="T6" fmla="*/ 0 w 18"/>
                  <a:gd name="T7" fmla="*/ 0 h 5"/>
                  <a:gd name="T8" fmla="*/ 0 w 18"/>
                  <a:gd name="T9" fmla="*/ 0 h 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 h="5">
                    <a:moveTo>
                      <a:pt x="0" y="5"/>
                    </a:moveTo>
                    <a:lnTo>
                      <a:pt x="6" y="4"/>
                    </a:lnTo>
                    <a:lnTo>
                      <a:pt x="18" y="4"/>
                    </a:lnTo>
                    <a:lnTo>
                      <a:pt x="5" y="0"/>
                    </a:lnTo>
                    <a:lnTo>
                      <a:pt x="0"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1" name="Freeform 72"/>
              <p:cNvSpPr>
                <a:spLocks/>
              </p:cNvSpPr>
              <p:nvPr/>
            </p:nvSpPr>
            <p:spPr bwMode="auto">
              <a:xfrm>
                <a:off x="2619" y="2135"/>
                <a:ext cx="3" cy="1"/>
              </a:xfrm>
              <a:custGeom>
                <a:avLst/>
                <a:gdLst>
                  <a:gd name="T0" fmla="*/ 0 w 24"/>
                  <a:gd name="T1" fmla="*/ 0 h 8"/>
                  <a:gd name="T2" fmla="*/ 0 w 24"/>
                  <a:gd name="T3" fmla="*/ 0 h 8"/>
                  <a:gd name="T4" fmla="*/ 0 w 24"/>
                  <a:gd name="T5" fmla="*/ 0 h 8"/>
                  <a:gd name="T6" fmla="*/ 0 w 24"/>
                  <a:gd name="T7" fmla="*/ 0 h 8"/>
                  <a:gd name="T8" fmla="*/ 0 w 24"/>
                  <a:gd name="T9" fmla="*/ 0 h 8"/>
                  <a:gd name="T10" fmla="*/ 0 w 24"/>
                  <a:gd name="T11" fmla="*/ 0 h 8"/>
                  <a:gd name="T12" fmla="*/ 0 w 24"/>
                  <a:gd name="T13" fmla="*/ 0 h 8"/>
                  <a:gd name="T14" fmla="*/ 0 w 24"/>
                  <a:gd name="T15" fmla="*/ 0 h 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 h="8">
                    <a:moveTo>
                      <a:pt x="24" y="6"/>
                    </a:moveTo>
                    <a:lnTo>
                      <a:pt x="20" y="3"/>
                    </a:lnTo>
                    <a:lnTo>
                      <a:pt x="15" y="1"/>
                    </a:lnTo>
                    <a:lnTo>
                      <a:pt x="5" y="0"/>
                    </a:lnTo>
                    <a:lnTo>
                      <a:pt x="0" y="8"/>
                    </a:lnTo>
                    <a:lnTo>
                      <a:pt x="7" y="3"/>
                    </a:lnTo>
                    <a:lnTo>
                      <a:pt x="13" y="2"/>
                    </a:lnTo>
                    <a:lnTo>
                      <a:pt x="24" y="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2" name="Freeform 73"/>
              <p:cNvSpPr>
                <a:spLocks/>
              </p:cNvSpPr>
              <p:nvPr/>
            </p:nvSpPr>
            <p:spPr bwMode="auto">
              <a:xfrm>
                <a:off x="2625" y="2137"/>
                <a:ext cx="2" cy="1"/>
              </a:xfrm>
              <a:custGeom>
                <a:avLst/>
                <a:gdLst>
                  <a:gd name="T0" fmla="*/ 0 w 18"/>
                  <a:gd name="T1" fmla="*/ 0 h 4"/>
                  <a:gd name="T2" fmla="*/ 0 w 18"/>
                  <a:gd name="T3" fmla="*/ 0 h 4"/>
                  <a:gd name="T4" fmla="*/ 0 w 18"/>
                  <a:gd name="T5" fmla="*/ 0 h 4"/>
                  <a:gd name="T6" fmla="*/ 0 w 18"/>
                  <a:gd name="T7" fmla="*/ 0 h 4"/>
                  <a:gd name="T8" fmla="*/ 0 w 18"/>
                  <a:gd name="T9" fmla="*/ 0 h 4"/>
                  <a:gd name="T10" fmla="*/ 0 w 18"/>
                  <a:gd name="T11" fmla="*/ 0 h 4"/>
                  <a:gd name="T12" fmla="*/ 0 w 18"/>
                  <a:gd name="T13" fmla="*/ 0 h 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8" h="4">
                    <a:moveTo>
                      <a:pt x="0" y="2"/>
                    </a:moveTo>
                    <a:lnTo>
                      <a:pt x="4" y="0"/>
                    </a:lnTo>
                    <a:lnTo>
                      <a:pt x="10" y="0"/>
                    </a:lnTo>
                    <a:lnTo>
                      <a:pt x="18" y="4"/>
                    </a:lnTo>
                    <a:lnTo>
                      <a:pt x="13" y="3"/>
                    </a:lnTo>
                    <a:lnTo>
                      <a:pt x="10" y="1"/>
                    </a:lnTo>
                    <a:lnTo>
                      <a:pt x="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3" name="Freeform 74"/>
              <p:cNvSpPr>
                <a:spLocks/>
              </p:cNvSpPr>
              <p:nvPr/>
            </p:nvSpPr>
            <p:spPr bwMode="auto">
              <a:xfrm>
                <a:off x="2614" y="2139"/>
                <a:ext cx="4" cy="10"/>
              </a:xfrm>
              <a:custGeom>
                <a:avLst/>
                <a:gdLst>
                  <a:gd name="T0" fmla="*/ 0 w 28"/>
                  <a:gd name="T1" fmla="*/ 0 h 67"/>
                  <a:gd name="T2" fmla="*/ 0 w 28"/>
                  <a:gd name="T3" fmla="*/ 0 h 67"/>
                  <a:gd name="T4" fmla="*/ 0 w 28"/>
                  <a:gd name="T5" fmla="*/ 0 h 67"/>
                  <a:gd name="T6" fmla="*/ 0 w 28"/>
                  <a:gd name="T7" fmla="*/ 0 h 67"/>
                  <a:gd name="T8" fmla="*/ 0 w 28"/>
                  <a:gd name="T9" fmla="*/ 0 h 67"/>
                  <a:gd name="T10" fmla="*/ 0 w 28"/>
                  <a:gd name="T11" fmla="*/ 0 h 67"/>
                  <a:gd name="T12" fmla="*/ 0 w 28"/>
                  <a:gd name="T13" fmla="*/ 0 h 67"/>
                  <a:gd name="T14" fmla="*/ 0 w 28"/>
                  <a:gd name="T15" fmla="*/ 0 h 67"/>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8" h="67">
                    <a:moveTo>
                      <a:pt x="0" y="0"/>
                    </a:moveTo>
                    <a:lnTo>
                      <a:pt x="16" y="17"/>
                    </a:lnTo>
                    <a:lnTo>
                      <a:pt x="23" y="38"/>
                    </a:lnTo>
                    <a:lnTo>
                      <a:pt x="24" y="67"/>
                    </a:lnTo>
                    <a:lnTo>
                      <a:pt x="28" y="44"/>
                    </a:lnTo>
                    <a:lnTo>
                      <a:pt x="26" y="26"/>
                    </a:lnTo>
                    <a:lnTo>
                      <a:pt x="22" y="18"/>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4" name="Freeform 75"/>
              <p:cNvSpPr>
                <a:spLocks/>
              </p:cNvSpPr>
              <p:nvPr/>
            </p:nvSpPr>
            <p:spPr bwMode="auto">
              <a:xfrm>
                <a:off x="2604" y="2135"/>
                <a:ext cx="7" cy="4"/>
              </a:xfrm>
              <a:custGeom>
                <a:avLst/>
                <a:gdLst>
                  <a:gd name="T0" fmla="*/ 0 w 45"/>
                  <a:gd name="T1" fmla="*/ 0 h 22"/>
                  <a:gd name="T2" fmla="*/ 0 w 45"/>
                  <a:gd name="T3" fmla="*/ 0 h 22"/>
                  <a:gd name="T4" fmla="*/ 0 w 45"/>
                  <a:gd name="T5" fmla="*/ 0 h 22"/>
                  <a:gd name="T6" fmla="*/ 0 w 45"/>
                  <a:gd name="T7" fmla="*/ 0 h 22"/>
                  <a:gd name="T8" fmla="*/ 0 w 45"/>
                  <a:gd name="T9" fmla="*/ 0 h 22"/>
                  <a:gd name="T10" fmla="*/ 0 w 45"/>
                  <a:gd name="T11" fmla="*/ 0 h 2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45" h="22">
                    <a:moveTo>
                      <a:pt x="0" y="10"/>
                    </a:moveTo>
                    <a:lnTo>
                      <a:pt x="18" y="12"/>
                    </a:lnTo>
                    <a:lnTo>
                      <a:pt x="45" y="22"/>
                    </a:lnTo>
                    <a:lnTo>
                      <a:pt x="26" y="8"/>
                    </a:lnTo>
                    <a:lnTo>
                      <a:pt x="1" y="0"/>
                    </a:lnTo>
                    <a:lnTo>
                      <a:pt x="0" y="1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5" name="Freeform 76"/>
              <p:cNvSpPr>
                <a:spLocks/>
              </p:cNvSpPr>
              <p:nvPr/>
            </p:nvSpPr>
            <p:spPr bwMode="auto">
              <a:xfrm>
                <a:off x="2612" y="2150"/>
                <a:ext cx="5" cy="4"/>
              </a:xfrm>
              <a:custGeom>
                <a:avLst/>
                <a:gdLst>
                  <a:gd name="T0" fmla="*/ 0 w 35"/>
                  <a:gd name="T1" fmla="*/ 0 h 30"/>
                  <a:gd name="T2" fmla="*/ 0 w 35"/>
                  <a:gd name="T3" fmla="*/ 0 h 30"/>
                  <a:gd name="T4" fmla="*/ 0 w 35"/>
                  <a:gd name="T5" fmla="*/ 0 h 30"/>
                  <a:gd name="T6" fmla="*/ 0 w 35"/>
                  <a:gd name="T7" fmla="*/ 0 h 30"/>
                  <a:gd name="T8" fmla="*/ 0 w 35"/>
                  <a:gd name="T9" fmla="*/ 0 h 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30">
                    <a:moveTo>
                      <a:pt x="35" y="0"/>
                    </a:moveTo>
                    <a:lnTo>
                      <a:pt x="19" y="19"/>
                    </a:lnTo>
                    <a:lnTo>
                      <a:pt x="0" y="30"/>
                    </a:lnTo>
                    <a:lnTo>
                      <a:pt x="24" y="22"/>
                    </a:lnTo>
                    <a:lnTo>
                      <a:pt x="3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6" name="Freeform 77"/>
              <p:cNvSpPr>
                <a:spLocks/>
              </p:cNvSpPr>
              <p:nvPr/>
            </p:nvSpPr>
            <p:spPr bwMode="auto">
              <a:xfrm>
                <a:off x="2619" y="2147"/>
                <a:ext cx="5" cy="5"/>
              </a:xfrm>
              <a:custGeom>
                <a:avLst/>
                <a:gdLst>
                  <a:gd name="T0" fmla="*/ 0 w 35"/>
                  <a:gd name="T1" fmla="*/ 0 h 31"/>
                  <a:gd name="T2" fmla="*/ 0 w 35"/>
                  <a:gd name="T3" fmla="*/ 0 h 31"/>
                  <a:gd name="T4" fmla="*/ 0 w 35"/>
                  <a:gd name="T5" fmla="*/ 0 h 31"/>
                  <a:gd name="T6" fmla="*/ 0 w 35"/>
                  <a:gd name="T7" fmla="*/ 0 h 31"/>
                  <a:gd name="T8" fmla="*/ 0 w 35"/>
                  <a:gd name="T9" fmla="*/ 0 h 31"/>
                  <a:gd name="T10" fmla="*/ 0 w 35"/>
                  <a:gd name="T11" fmla="*/ 0 h 31"/>
                  <a:gd name="T12" fmla="*/ 0 w 35"/>
                  <a:gd name="T13" fmla="*/ 0 h 31"/>
                  <a:gd name="T14" fmla="*/ 0 w 35"/>
                  <a:gd name="T15" fmla="*/ 0 h 3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5" h="31">
                    <a:moveTo>
                      <a:pt x="0" y="0"/>
                    </a:moveTo>
                    <a:lnTo>
                      <a:pt x="3" y="11"/>
                    </a:lnTo>
                    <a:lnTo>
                      <a:pt x="20" y="25"/>
                    </a:lnTo>
                    <a:lnTo>
                      <a:pt x="35" y="31"/>
                    </a:lnTo>
                    <a:lnTo>
                      <a:pt x="11" y="28"/>
                    </a:lnTo>
                    <a:lnTo>
                      <a:pt x="3" y="18"/>
                    </a:lnTo>
                    <a:lnTo>
                      <a:pt x="2" y="8"/>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7" name="Freeform 78"/>
              <p:cNvSpPr>
                <a:spLocks/>
              </p:cNvSpPr>
              <p:nvPr/>
            </p:nvSpPr>
            <p:spPr bwMode="auto">
              <a:xfrm>
                <a:off x="2585" y="2116"/>
                <a:ext cx="26" cy="21"/>
              </a:xfrm>
              <a:custGeom>
                <a:avLst/>
                <a:gdLst>
                  <a:gd name="T0" fmla="*/ 0 w 179"/>
                  <a:gd name="T1" fmla="*/ 0 h 141"/>
                  <a:gd name="T2" fmla="*/ 0 w 179"/>
                  <a:gd name="T3" fmla="*/ 0 h 141"/>
                  <a:gd name="T4" fmla="*/ 0 w 179"/>
                  <a:gd name="T5" fmla="*/ 0 h 141"/>
                  <a:gd name="T6" fmla="*/ 0 w 179"/>
                  <a:gd name="T7" fmla="*/ 0 h 141"/>
                  <a:gd name="T8" fmla="*/ 0 w 179"/>
                  <a:gd name="T9" fmla="*/ 0 h 141"/>
                  <a:gd name="T10" fmla="*/ 0 w 179"/>
                  <a:gd name="T11" fmla="*/ 0 h 141"/>
                  <a:gd name="T12" fmla="*/ 0 w 179"/>
                  <a:gd name="T13" fmla="*/ 0 h 14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79" h="141">
                    <a:moveTo>
                      <a:pt x="148" y="141"/>
                    </a:moveTo>
                    <a:lnTo>
                      <a:pt x="179" y="67"/>
                    </a:lnTo>
                    <a:lnTo>
                      <a:pt x="118" y="27"/>
                    </a:lnTo>
                    <a:lnTo>
                      <a:pt x="26" y="0"/>
                    </a:lnTo>
                    <a:lnTo>
                      <a:pt x="0" y="77"/>
                    </a:lnTo>
                    <a:lnTo>
                      <a:pt x="84" y="102"/>
                    </a:lnTo>
                    <a:lnTo>
                      <a:pt x="148" y="141"/>
                    </a:lnTo>
                    <a:close/>
                  </a:path>
                </a:pathLst>
              </a:custGeom>
              <a:solidFill>
                <a:srgbClr val="FFFFFF"/>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8" name="Oval 79"/>
              <p:cNvSpPr>
                <a:spLocks noChangeArrowheads="1"/>
              </p:cNvSpPr>
              <p:nvPr/>
            </p:nvSpPr>
            <p:spPr bwMode="auto">
              <a:xfrm>
                <a:off x="2601" y="2125"/>
                <a:ext cx="6" cy="7"/>
              </a:xfrm>
              <a:prstGeom prst="ellipse">
                <a:avLst/>
              </a:prstGeom>
              <a:solidFill>
                <a:srgbClr val="FFFFFF"/>
              </a:solidFill>
              <a:ln w="1588">
                <a:solidFill>
                  <a:srgbClr val="000000"/>
                </a:solidFill>
                <a:round/>
                <a:headEnd/>
                <a:tailEnd/>
              </a:ln>
            </p:spPr>
            <p:txBody>
              <a:bodyP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89" name="Freeform 80"/>
              <p:cNvSpPr>
                <a:spLocks/>
              </p:cNvSpPr>
              <p:nvPr/>
            </p:nvSpPr>
            <p:spPr bwMode="auto">
              <a:xfrm>
                <a:off x="2597" y="2127"/>
                <a:ext cx="7" cy="14"/>
              </a:xfrm>
              <a:custGeom>
                <a:avLst/>
                <a:gdLst>
                  <a:gd name="T0" fmla="*/ 0 w 46"/>
                  <a:gd name="T1" fmla="*/ 0 h 100"/>
                  <a:gd name="T2" fmla="*/ 0 w 46"/>
                  <a:gd name="T3" fmla="*/ 0 h 100"/>
                  <a:gd name="T4" fmla="*/ 0 w 46"/>
                  <a:gd name="T5" fmla="*/ 0 h 100"/>
                  <a:gd name="T6" fmla="*/ 0 w 46"/>
                  <a:gd name="T7" fmla="*/ 0 h 100"/>
                  <a:gd name="T8" fmla="*/ 0 w 46"/>
                  <a:gd name="T9" fmla="*/ 0 h 100"/>
                  <a:gd name="T10" fmla="*/ 0 w 46"/>
                  <a:gd name="T11" fmla="*/ 0 h 100"/>
                  <a:gd name="T12" fmla="*/ 0 w 46"/>
                  <a:gd name="T13" fmla="*/ 0 h 100"/>
                  <a:gd name="T14" fmla="*/ 0 w 46"/>
                  <a:gd name="T15" fmla="*/ 0 h 100"/>
                  <a:gd name="T16" fmla="*/ 0 w 46"/>
                  <a:gd name="T17" fmla="*/ 0 h 100"/>
                  <a:gd name="T18" fmla="*/ 0 w 46"/>
                  <a:gd name="T19" fmla="*/ 0 h 100"/>
                  <a:gd name="T20" fmla="*/ 0 w 46"/>
                  <a:gd name="T21" fmla="*/ 0 h 100"/>
                  <a:gd name="T22" fmla="*/ 0 w 46"/>
                  <a:gd name="T23" fmla="*/ 0 h 100"/>
                  <a:gd name="T24" fmla="*/ 0 w 46"/>
                  <a:gd name="T25" fmla="*/ 0 h 100"/>
                  <a:gd name="T26" fmla="*/ 0 w 46"/>
                  <a:gd name="T27" fmla="*/ 0 h 100"/>
                  <a:gd name="T28" fmla="*/ 0 w 46"/>
                  <a:gd name="T29" fmla="*/ 0 h 100"/>
                  <a:gd name="T30" fmla="*/ 0 w 46"/>
                  <a:gd name="T31" fmla="*/ 0 h 10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46" h="100">
                    <a:moveTo>
                      <a:pt x="3" y="67"/>
                    </a:moveTo>
                    <a:lnTo>
                      <a:pt x="7" y="49"/>
                    </a:lnTo>
                    <a:lnTo>
                      <a:pt x="5" y="32"/>
                    </a:lnTo>
                    <a:lnTo>
                      <a:pt x="3" y="21"/>
                    </a:lnTo>
                    <a:lnTo>
                      <a:pt x="0" y="11"/>
                    </a:lnTo>
                    <a:lnTo>
                      <a:pt x="3" y="3"/>
                    </a:lnTo>
                    <a:lnTo>
                      <a:pt x="10" y="0"/>
                    </a:lnTo>
                    <a:lnTo>
                      <a:pt x="24" y="5"/>
                    </a:lnTo>
                    <a:lnTo>
                      <a:pt x="30" y="15"/>
                    </a:lnTo>
                    <a:lnTo>
                      <a:pt x="33" y="24"/>
                    </a:lnTo>
                    <a:lnTo>
                      <a:pt x="35" y="35"/>
                    </a:lnTo>
                    <a:lnTo>
                      <a:pt x="36" y="52"/>
                    </a:lnTo>
                    <a:lnTo>
                      <a:pt x="46" y="71"/>
                    </a:lnTo>
                    <a:lnTo>
                      <a:pt x="21" y="100"/>
                    </a:lnTo>
                    <a:lnTo>
                      <a:pt x="10" y="92"/>
                    </a:lnTo>
                    <a:lnTo>
                      <a:pt x="3" y="67"/>
                    </a:lnTo>
                    <a:close/>
                  </a:path>
                </a:pathLst>
              </a:custGeom>
              <a:solidFill>
                <a:srgbClr val="FFC080"/>
              </a:solidFill>
              <a:ln w="1588">
                <a:solidFill>
                  <a:srgbClr val="402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90" name="Freeform 81"/>
              <p:cNvSpPr>
                <a:spLocks/>
              </p:cNvSpPr>
              <p:nvPr/>
            </p:nvSpPr>
            <p:spPr bwMode="auto">
              <a:xfrm>
                <a:off x="2600" y="2137"/>
                <a:ext cx="4" cy="4"/>
              </a:xfrm>
              <a:custGeom>
                <a:avLst/>
                <a:gdLst>
                  <a:gd name="T0" fmla="*/ 0 w 31"/>
                  <a:gd name="T1" fmla="*/ 0 h 31"/>
                  <a:gd name="T2" fmla="*/ 0 w 31"/>
                  <a:gd name="T3" fmla="*/ 0 h 31"/>
                  <a:gd name="T4" fmla="*/ 0 w 31"/>
                  <a:gd name="T5" fmla="*/ 0 h 31"/>
                  <a:gd name="T6" fmla="*/ 0 w 31"/>
                  <a:gd name="T7" fmla="*/ 0 h 31"/>
                  <a:gd name="T8" fmla="*/ 0 w 31"/>
                  <a:gd name="T9" fmla="*/ 0 h 3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1" h="31">
                    <a:moveTo>
                      <a:pt x="21" y="0"/>
                    </a:moveTo>
                    <a:lnTo>
                      <a:pt x="31" y="4"/>
                    </a:lnTo>
                    <a:lnTo>
                      <a:pt x="8" y="31"/>
                    </a:lnTo>
                    <a:lnTo>
                      <a:pt x="0" y="23"/>
                    </a:lnTo>
                    <a:lnTo>
                      <a:pt x="21" y="0"/>
                    </a:lnTo>
                    <a:close/>
                  </a:path>
                </a:pathLst>
              </a:custGeom>
              <a:solidFill>
                <a:srgbClr val="FFC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91" name="Freeform 82"/>
              <p:cNvSpPr>
                <a:spLocks/>
              </p:cNvSpPr>
              <p:nvPr/>
            </p:nvSpPr>
            <p:spPr bwMode="auto">
              <a:xfrm>
                <a:off x="2607" y="2120"/>
                <a:ext cx="6" cy="12"/>
              </a:xfrm>
              <a:custGeom>
                <a:avLst/>
                <a:gdLst>
                  <a:gd name="T0" fmla="*/ 0 w 42"/>
                  <a:gd name="T1" fmla="*/ 0 h 87"/>
                  <a:gd name="T2" fmla="*/ 0 w 42"/>
                  <a:gd name="T3" fmla="*/ 0 h 87"/>
                  <a:gd name="T4" fmla="*/ 0 w 42"/>
                  <a:gd name="T5" fmla="*/ 0 h 87"/>
                  <a:gd name="T6" fmla="*/ 0 w 42"/>
                  <a:gd name="T7" fmla="*/ 0 h 87"/>
                  <a:gd name="T8" fmla="*/ 0 w 42"/>
                  <a:gd name="T9" fmla="*/ 0 h 87"/>
                  <a:gd name="T10" fmla="*/ 0 w 42"/>
                  <a:gd name="T11" fmla="*/ 0 h 87"/>
                  <a:gd name="T12" fmla="*/ 0 w 42"/>
                  <a:gd name="T13" fmla="*/ 0 h 87"/>
                  <a:gd name="T14" fmla="*/ 0 w 42"/>
                  <a:gd name="T15" fmla="*/ 0 h 87"/>
                  <a:gd name="T16" fmla="*/ 0 w 42"/>
                  <a:gd name="T17" fmla="*/ 0 h 87"/>
                  <a:gd name="T18" fmla="*/ 0 w 42"/>
                  <a:gd name="T19" fmla="*/ 0 h 87"/>
                  <a:gd name="T20" fmla="*/ 0 w 42"/>
                  <a:gd name="T21" fmla="*/ 0 h 87"/>
                  <a:gd name="T22" fmla="*/ 0 w 42"/>
                  <a:gd name="T23" fmla="*/ 0 h 87"/>
                  <a:gd name="T24" fmla="*/ 0 w 42"/>
                  <a:gd name="T25" fmla="*/ 0 h 87"/>
                  <a:gd name="T26" fmla="*/ 0 w 42"/>
                  <a:gd name="T27" fmla="*/ 0 h 87"/>
                  <a:gd name="T28" fmla="*/ 0 w 42"/>
                  <a:gd name="T29" fmla="*/ 0 h 87"/>
                  <a:gd name="T30" fmla="*/ 0 w 42"/>
                  <a:gd name="T31" fmla="*/ 0 h 87"/>
                  <a:gd name="T32" fmla="*/ 0 w 42"/>
                  <a:gd name="T33" fmla="*/ 0 h 87"/>
                  <a:gd name="T34" fmla="*/ 0 w 42"/>
                  <a:gd name="T35" fmla="*/ 0 h 87"/>
                  <a:gd name="T36" fmla="*/ 0 w 42"/>
                  <a:gd name="T37" fmla="*/ 0 h 8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2" h="87">
                    <a:moveTo>
                      <a:pt x="0" y="21"/>
                    </a:moveTo>
                    <a:lnTo>
                      <a:pt x="3" y="39"/>
                    </a:lnTo>
                    <a:lnTo>
                      <a:pt x="5" y="46"/>
                    </a:lnTo>
                    <a:lnTo>
                      <a:pt x="6" y="57"/>
                    </a:lnTo>
                    <a:lnTo>
                      <a:pt x="4" y="66"/>
                    </a:lnTo>
                    <a:lnTo>
                      <a:pt x="6" y="76"/>
                    </a:lnTo>
                    <a:lnTo>
                      <a:pt x="12" y="85"/>
                    </a:lnTo>
                    <a:lnTo>
                      <a:pt x="18" y="86"/>
                    </a:lnTo>
                    <a:lnTo>
                      <a:pt x="29" y="87"/>
                    </a:lnTo>
                    <a:lnTo>
                      <a:pt x="37" y="82"/>
                    </a:lnTo>
                    <a:lnTo>
                      <a:pt x="40" y="79"/>
                    </a:lnTo>
                    <a:lnTo>
                      <a:pt x="42" y="70"/>
                    </a:lnTo>
                    <a:lnTo>
                      <a:pt x="42" y="53"/>
                    </a:lnTo>
                    <a:lnTo>
                      <a:pt x="42" y="43"/>
                    </a:lnTo>
                    <a:lnTo>
                      <a:pt x="40" y="29"/>
                    </a:lnTo>
                    <a:lnTo>
                      <a:pt x="38" y="20"/>
                    </a:lnTo>
                    <a:lnTo>
                      <a:pt x="31" y="0"/>
                    </a:lnTo>
                    <a:lnTo>
                      <a:pt x="6" y="1"/>
                    </a:lnTo>
                    <a:lnTo>
                      <a:pt x="0" y="21"/>
                    </a:lnTo>
                    <a:close/>
                  </a:path>
                </a:pathLst>
              </a:custGeom>
              <a:solidFill>
                <a:srgbClr val="FFC080"/>
              </a:solidFill>
              <a:ln w="1588">
                <a:solidFill>
                  <a:srgbClr val="402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92" name="Freeform 83"/>
              <p:cNvSpPr>
                <a:spLocks/>
              </p:cNvSpPr>
              <p:nvPr/>
            </p:nvSpPr>
            <p:spPr bwMode="auto">
              <a:xfrm>
                <a:off x="2609" y="2128"/>
                <a:ext cx="3" cy="3"/>
              </a:xfrm>
              <a:custGeom>
                <a:avLst/>
                <a:gdLst>
                  <a:gd name="T0" fmla="*/ 0 w 21"/>
                  <a:gd name="T1" fmla="*/ 0 h 19"/>
                  <a:gd name="T2" fmla="*/ 0 w 21"/>
                  <a:gd name="T3" fmla="*/ 0 h 19"/>
                  <a:gd name="T4" fmla="*/ 0 w 21"/>
                  <a:gd name="T5" fmla="*/ 0 h 19"/>
                  <a:gd name="T6" fmla="*/ 0 w 21"/>
                  <a:gd name="T7" fmla="*/ 0 h 19"/>
                  <a:gd name="T8" fmla="*/ 0 w 21"/>
                  <a:gd name="T9" fmla="*/ 0 h 19"/>
                  <a:gd name="T10" fmla="*/ 0 w 21"/>
                  <a:gd name="T11" fmla="*/ 0 h 19"/>
                  <a:gd name="T12" fmla="*/ 0 w 21"/>
                  <a:gd name="T13" fmla="*/ 0 h 19"/>
                  <a:gd name="T14" fmla="*/ 0 w 21"/>
                  <a:gd name="T15" fmla="*/ 0 h 19"/>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1" h="19">
                    <a:moveTo>
                      <a:pt x="21" y="6"/>
                    </a:moveTo>
                    <a:lnTo>
                      <a:pt x="11" y="0"/>
                    </a:lnTo>
                    <a:lnTo>
                      <a:pt x="3" y="1"/>
                    </a:lnTo>
                    <a:lnTo>
                      <a:pt x="0" y="6"/>
                    </a:lnTo>
                    <a:lnTo>
                      <a:pt x="1" y="19"/>
                    </a:lnTo>
                    <a:lnTo>
                      <a:pt x="3" y="8"/>
                    </a:lnTo>
                    <a:lnTo>
                      <a:pt x="5" y="5"/>
                    </a:lnTo>
                    <a:lnTo>
                      <a:pt x="21" y="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0" name="Group 84"/>
            <p:cNvGrpSpPr>
              <a:grpSpLocks/>
            </p:cNvGrpSpPr>
            <p:nvPr/>
          </p:nvGrpSpPr>
          <p:grpSpPr bwMode="auto">
            <a:xfrm flipH="1">
              <a:off x="3535" y="3121"/>
              <a:ext cx="220" cy="111"/>
              <a:chOff x="2647" y="2440"/>
              <a:chExt cx="88" cy="46"/>
            </a:xfrm>
          </p:grpSpPr>
          <p:sp>
            <p:nvSpPr>
              <p:cNvPr id="73" name="Freeform 85"/>
              <p:cNvSpPr>
                <a:spLocks/>
              </p:cNvSpPr>
              <p:nvPr/>
            </p:nvSpPr>
            <p:spPr bwMode="auto">
              <a:xfrm>
                <a:off x="2647" y="2440"/>
                <a:ext cx="88" cy="46"/>
              </a:xfrm>
              <a:custGeom>
                <a:avLst/>
                <a:gdLst>
                  <a:gd name="T0" fmla="*/ 0 w 616"/>
                  <a:gd name="T1" fmla="*/ 0 h 319"/>
                  <a:gd name="T2" fmla="*/ 0 w 616"/>
                  <a:gd name="T3" fmla="*/ 0 h 319"/>
                  <a:gd name="T4" fmla="*/ 0 w 616"/>
                  <a:gd name="T5" fmla="*/ 0 h 319"/>
                  <a:gd name="T6" fmla="*/ 0 w 616"/>
                  <a:gd name="T7" fmla="*/ 0 h 319"/>
                  <a:gd name="T8" fmla="*/ 0 w 616"/>
                  <a:gd name="T9" fmla="*/ 0 h 319"/>
                  <a:gd name="T10" fmla="*/ 0 w 616"/>
                  <a:gd name="T11" fmla="*/ 0 h 319"/>
                  <a:gd name="T12" fmla="*/ 0 w 616"/>
                  <a:gd name="T13" fmla="*/ 0 h 319"/>
                  <a:gd name="T14" fmla="*/ 0 w 616"/>
                  <a:gd name="T15" fmla="*/ 0 h 319"/>
                  <a:gd name="T16" fmla="*/ 0 w 616"/>
                  <a:gd name="T17" fmla="*/ 0 h 319"/>
                  <a:gd name="T18" fmla="*/ 0 w 616"/>
                  <a:gd name="T19" fmla="*/ 0 h 319"/>
                  <a:gd name="T20" fmla="*/ 0 w 616"/>
                  <a:gd name="T21" fmla="*/ 0 h 319"/>
                  <a:gd name="T22" fmla="*/ 0 w 616"/>
                  <a:gd name="T23" fmla="*/ 0 h 319"/>
                  <a:gd name="T24" fmla="*/ 0 w 616"/>
                  <a:gd name="T25" fmla="*/ 0 h 319"/>
                  <a:gd name="T26" fmla="*/ 0 w 616"/>
                  <a:gd name="T27" fmla="*/ 0 h 319"/>
                  <a:gd name="T28" fmla="*/ 0 w 616"/>
                  <a:gd name="T29" fmla="*/ 0 h 319"/>
                  <a:gd name="T30" fmla="*/ 0 w 616"/>
                  <a:gd name="T31" fmla="*/ 0 h 319"/>
                  <a:gd name="T32" fmla="*/ 0 w 616"/>
                  <a:gd name="T33" fmla="*/ 0 h 319"/>
                  <a:gd name="T34" fmla="*/ 0 w 616"/>
                  <a:gd name="T35" fmla="*/ 0 h 319"/>
                  <a:gd name="T36" fmla="*/ 0 w 616"/>
                  <a:gd name="T37" fmla="*/ 0 h 319"/>
                  <a:gd name="T38" fmla="*/ 0 w 616"/>
                  <a:gd name="T39" fmla="*/ 0 h 319"/>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16" h="319">
                    <a:moveTo>
                      <a:pt x="249" y="10"/>
                    </a:moveTo>
                    <a:lnTo>
                      <a:pt x="244" y="93"/>
                    </a:lnTo>
                    <a:lnTo>
                      <a:pt x="406" y="170"/>
                    </a:lnTo>
                    <a:lnTo>
                      <a:pt x="541" y="203"/>
                    </a:lnTo>
                    <a:lnTo>
                      <a:pt x="616" y="237"/>
                    </a:lnTo>
                    <a:lnTo>
                      <a:pt x="612" y="281"/>
                    </a:lnTo>
                    <a:lnTo>
                      <a:pt x="515" y="308"/>
                    </a:lnTo>
                    <a:lnTo>
                      <a:pt x="368" y="319"/>
                    </a:lnTo>
                    <a:lnTo>
                      <a:pt x="244" y="297"/>
                    </a:lnTo>
                    <a:lnTo>
                      <a:pt x="167" y="276"/>
                    </a:lnTo>
                    <a:lnTo>
                      <a:pt x="163" y="300"/>
                    </a:lnTo>
                    <a:lnTo>
                      <a:pt x="66" y="297"/>
                    </a:lnTo>
                    <a:lnTo>
                      <a:pt x="6" y="286"/>
                    </a:lnTo>
                    <a:lnTo>
                      <a:pt x="6" y="243"/>
                    </a:lnTo>
                    <a:lnTo>
                      <a:pt x="0" y="217"/>
                    </a:lnTo>
                    <a:lnTo>
                      <a:pt x="0" y="156"/>
                    </a:lnTo>
                    <a:lnTo>
                      <a:pt x="16" y="121"/>
                    </a:lnTo>
                    <a:lnTo>
                      <a:pt x="47" y="82"/>
                    </a:lnTo>
                    <a:lnTo>
                      <a:pt x="53" y="0"/>
                    </a:lnTo>
                    <a:lnTo>
                      <a:pt x="249" y="10"/>
                    </a:lnTo>
                    <a:close/>
                  </a:path>
                </a:pathLst>
              </a:custGeom>
              <a:solidFill>
                <a:srgbClr val="60606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4" name="Freeform 86"/>
              <p:cNvSpPr>
                <a:spLocks/>
              </p:cNvSpPr>
              <p:nvPr/>
            </p:nvSpPr>
            <p:spPr bwMode="auto">
              <a:xfrm>
                <a:off x="2677" y="2457"/>
                <a:ext cx="26" cy="14"/>
              </a:xfrm>
              <a:custGeom>
                <a:avLst/>
                <a:gdLst>
                  <a:gd name="T0" fmla="*/ 0 w 185"/>
                  <a:gd name="T1" fmla="*/ 0 h 99"/>
                  <a:gd name="T2" fmla="*/ 0 w 185"/>
                  <a:gd name="T3" fmla="*/ 0 h 99"/>
                  <a:gd name="T4" fmla="*/ 0 w 185"/>
                  <a:gd name="T5" fmla="*/ 0 h 99"/>
                  <a:gd name="T6" fmla="*/ 0 w 185"/>
                  <a:gd name="T7" fmla="*/ 0 h 99"/>
                  <a:gd name="T8" fmla="*/ 0 w 185"/>
                  <a:gd name="T9" fmla="*/ 0 h 9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5" h="99">
                    <a:moveTo>
                      <a:pt x="47" y="0"/>
                    </a:moveTo>
                    <a:lnTo>
                      <a:pt x="0" y="52"/>
                    </a:lnTo>
                    <a:lnTo>
                      <a:pt x="166" y="99"/>
                    </a:lnTo>
                    <a:lnTo>
                      <a:pt x="185" y="63"/>
                    </a:lnTo>
                    <a:lnTo>
                      <a:pt x="4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5" name="Freeform 87"/>
              <p:cNvSpPr>
                <a:spLocks/>
              </p:cNvSpPr>
              <p:nvPr/>
            </p:nvSpPr>
            <p:spPr bwMode="auto">
              <a:xfrm>
                <a:off x="2703" y="2467"/>
                <a:ext cx="30" cy="8"/>
              </a:xfrm>
              <a:custGeom>
                <a:avLst/>
                <a:gdLst>
                  <a:gd name="T0" fmla="*/ 0 w 209"/>
                  <a:gd name="T1" fmla="*/ 0 h 61"/>
                  <a:gd name="T2" fmla="*/ 0 w 209"/>
                  <a:gd name="T3" fmla="*/ 0 h 61"/>
                  <a:gd name="T4" fmla="*/ 0 w 209"/>
                  <a:gd name="T5" fmla="*/ 0 h 61"/>
                  <a:gd name="T6" fmla="*/ 0 w 209"/>
                  <a:gd name="T7" fmla="*/ 0 h 61"/>
                  <a:gd name="T8" fmla="*/ 0 w 209"/>
                  <a:gd name="T9" fmla="*/ 0 h 61"/>
                  <a:gd name="T10" fmla="*/ 0 w 209"/>
                  <a:gd name="T11" fmla="*/ 0 h 61"/>
                  <a:gd name="T12" fmla="*/ 0 w 209"/>
                  <a:gd name="T13" fmla="*/ 0 h 6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9" h="61">
                    <a:moveTo>
                      <a:pt x="25" y="0"/>
                    </a:moveTo>
                    <a:lnTo>
                      <a:pt x="0" y="29"/>
                    </a:lnTo>
                    <a:lnTo>
                      <a:pt x="103" y="56"/>
                    </a:lnTo>
                    <a:lnTo>
                      <a:pt x="151" y="61"/>
                    </a:lnTo>
                    <a:lnTo>
                      <a:pt x="209" y="58"/>
                    </a:lnTo>
                    <a:lnTo>
                      <a:pt x="148" y="27"/>
                    </a:lnTo>
                    <a:lnTo>
                      <a:pt x="25"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6" name="Freeform 88"/>
              <p:cNvSpPr>
                <a:spLocks/>
              </p:cNvSpPr>
              <p:nvPr/>
            </p:nvSpPr>
            <p:spPr bwMode="auto">
              <a:xfrm>
                <a:off x="2648" y="2457"/>
                <a:ext cx="85" cy="27"/>
              </a:xfrm>
              <a:custGeom>
                <a:avLst/>
                <a:gdLst>
                  <a:gd name="T0" fmla="*/ 0 w 597"/>
                  <a:gd name="T1" fmla="*/ 0 h 188"/>
                  <a:gd name="T2" fmla="*/ 0 w 597"/>
                  <a:gd name="T3" fmla="*/ 0 h 188"/>
                  <a:gd name="T4" fmla="*/ 0 w 597"/>
                  <a:gd name="T5" fmla="*/ 0 h 188"/>
                  <a:gd name="T6" fmla="*/ 0 w 597"/>
                  <a:gd name="T7" fmla="*/ 0 h 188"/>
                  <a:gd name="T8" fmla="*/ 0 w 597"/>
                  <a:gd name="T9" fmla="*/ 0 h 188"/>
                  <a:gd name="T10" fmla="*/ 0 w 597"/>
                  <a:gd name="T11" fmla="*/ 0 h 188"/>
                  <a:gd name="T12" fmla="*/ 0 w 597"/>
                  <a:gd name="T13" fmla="*/ 0 h 188"/>
                  <a:gd name="T14" fmla="*/ 0 w 597"/>
                  <a:gd name="T15" fmla="*/ 0 h 188"/>
                  <a:gd name="T16" fmla="*/ 0 w 597"/>
                  <a:gd name="T17" fmla="*/ 0 h 188"/>
                  <a:gd name="T18" fmla="*/ 0 w 597"/>
                  <a:gd name="T19" fmla="*/ 0 h 188"/>
                  <a:gd name="T20" fmla="*/ 0 w 597"/>
                  <a:gd name="T21" fmla="*/ 0 h 188"/>
                  <a:gd name="T22" fmla="*/ 0 w 597"/>
                  <a:gd name="T23" fmla="*/ 0 h 188"/>
                  <a:gd name="T24" fmla="*/ 0 w 597"/>
                  <a:gd name="T25" fmla="*/ 0 h 188"/>
                  <a:gd name="T26" fmla="*/ 0 w 597"/>
                  <a:gd name="T27" fmla="*/ 0 h 188"/>
                  <a:gd name="T28" fmla="*/ 0 w 597"/>
                  <a:gd name="T29" fmla="*/ 0 h 188"/>
                  <a:gd name="T30" fmla="*/ 0 w 597"/>
                  <a:gd name="T31" fmla="*/ 0 h 188"/>
                  <a:gd name="T32" fmla="*/ 0 w 597"/>
                  <a:gd name="T33" fmla="*/ 0 h 188"/>
                  <a:gd name="T34" fmla="*/ 0 w 597"/>
                  <a:gd name="T35" fmla="*/ 0 h 188"/>
                  <a:gd name="T36" fmla="*/ 0 w 597"/>
                  <a:gd name="T37" fmla="*/ 0 h 18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597" h="188">
                    <a:moveTo>
                      <a:pt x="597" y="160"/>
                    </a:moveTo>
                    <a:lnTo>
                      <a:pt x="597" y="131"/>
                    </a:lnTo>
                    <a:lnTo>
                      <a:pt x="519" y="139"/>
                    </a:lnTo>
                    <a:lnTo>
                      <a:pt x="394" y="121"/>
                    </a:lnTo>
                    <a:lnTo>
                      <a:pt x="321" y="104"/>
                    </a:lnTo>
                    <a:lnTo>
                      <a:pt x="183" y="59"/>
                    </a:lnTo>
                    <a:lnTo>
                      <a:pt x="124" y="52"/>
                    </a:lnTo>
                    <a:lnTo>
                      <a:pt x="65" y="31"/>
                    </a:lnTo>
                    <a:lnTo>
                      <a:pt x="35" y="0"/>
                    </a:lnTo>
                    <a:lnTo>
                      <a:pt x="0" y="39"/>
                    </a:lnTo>
                    <a:lnTo>
                      <a:pt x="0" y="119"/>
                    </a:lnTo>
                    <a:lnTo>
                      <a:pt x="43" y="131"/>
                    </a:lnTo>
                    <a:lnTo>
                      <a:pt x="151" y="145"/>
                    </a:lnTo>
                    <a:lnTo>
                      <a:pt x="194" y="150"/>
                    </a:lnTo>
                    <a:lnTo>
                      <a:pt x="265" y="176"/>
                    </a:lnTo>
                    <a:lnTo>
                      <a:pt x="346" y="188"/>
                    </a:lnTo>
                    <a:lnTo>
                      <a:pt x="403" y="188"/>
                    </a:lnTo>
                    <a:lnTo>
                      <a:pt x="492" y="188"/>
                    </a:lnTo>
                    <a:lnTo>
                      <a:pt x="597" y="16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7" name="Freeform 89"/>
              <p:cNvSpPr>
                <a:spLocks/>
              </p:cNvSpPr>
              <p:nvPr/>
            </p:nvSpPr>
            <p:spPr bwMode="auto">
              <a:xfrm>
                <a:off x="2654" y="2441"/>
                <a:ext cx="28" cy="22"/>
              </a:xfrm>
              <a:custGeom>
                <a:avLst/>
                <a:gdLst>
                  <a:gd name="T0" fmla="*/ 0 w 196"/>
                  <a:gd name="T1" fmla="*/ 0 h 154"/>
                  <a:gd name="T2" fmla="*/ 0 w 196"/>
                  <a:gd name="T3" fmla="*/ 0 h 154"/>
                  <a:gd name="T4" fmla="*/ 0 w 196"/>
                  <a:gd name="T5" fmla="*/ 0 h 154"/>
                  <a:gd name="T6" fmla="*/ 0 w 196"/>
                  <a:gd name="T7" fmla="*/ 0 h 154"/>
                  <a:gd name="T8" fmla="*/ 0 w 196"/>
                  <a:gd name="T9" fmla="*/ 0 h 154"/>
                  <a:gd name="T10" fmla="*/ 0 w 196"/>
                  <a:gd name="T11" fmla="*/ 0 h 154"/>
                  <a:gd name="T12" fmla="*/ 0 w 196"/>
                  <a:gd name="T13" fmla="*/ 0 h 154"/>
                  <a:gd name="T14" fmla="*/ 0 w 196"/>
                  <a:gd name="T15" fmla="*/ 0 h 154"/>
                  <a:gd name="T16" fmla="*/ 0 w 196"/>
                  <a:gd name="T17" fmla="*/ 0 h 154"/>
                  <a:gd name="T18" fmla="*/ 0 w 196"/>
                  <a:gd name="T19" fmla="*/ 0 h 154"/>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96" h="154">
                    <a:moveTo>
                      <a:pt x="191" y="11"/>
                    </a:moveTo>
                    <a:lnTo>
                      <a:pt x="185" y="86"/>
                    </a:lnTo>
                    <a:lnTo>
                      <a:pt x="196" y="103"/>
                    </a:lnTo>
                    <a:lnTo>
                      <a:pt x="152" y="154"/>
                    </a:lnTo>
                    <a:lnTo>
                      <a:pt x="92" y="154"/>
                    </a:lnTo>
                    <a:lnTo>
                      <a:pt x="24" y="131"/>
                    </a:lnTo>
                    <a:lnTo>
                      <a:pt x="0" y="101"/>
                    </a:lnTo>
                    <a:lnTo>
                      <a:pt x="14" y="80"/>
                    </a:lnTo>
                    <a:lnTo>
                      <a:pt x="18" y="0"/>
                    </a:lnTo>
                    <a:lnTo>
                      <a:pt x="191"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1" name="Group 90"/>
            <p:cNvGrpSpPr>
              <a:grpSpLocks/>
            </p:cNvGrpSpPr>
            <p:nvPr/>
          </p:nvGrpSpPr>
          <p:grpSpPr bwMode="auto">
            <a:xfrm flipH="1">
              <a:off x="3658" y="2929"/>
              <a:ext cx="92" cy="221"/>
              <a:chOff x="2649" y="2361"/>
              <a:chExt cx="37" cy="91"/>
            </a:xfrm>
          </p:grpSpPr>
          <p:sp>
            <p:nvSpPr>
              <p:cNvPr id="71" name="Freeform 91"/>
              <p:cNvSpPr>
                <a:spLocks/>
              </p:cNvSpPr>
              <p:nvPr/>
            </p:nvSpPr>
            <p:spPr bwMode="auto">
              <a:xfrm>
                <a:off x="2649" y="2361"/>
                <a:ext cx="37" cy="91"/>
              </a:xfrm>
              <a:custGeom>
                <a:avLst/>
                <a:gdLst>
                  <a:gd name="T0" fmla="*/ 0 w 260"/>
                  <a:gd name="T1" fmla="*/ 0 h 637"/>
                  <a:gd name="T2" fmla="*/ 0 w 260"/>
                  <a:gd name="T3" fmla="*/ 0 h 637"/>
                  <a:gd name="T4" fmla="*/ 0 w 260"/>
                  <a:gd name="T5" fmla="*/ 0 h 637"/>
                  <a:gd name="T6" fmla="*/ 0 w 260"/>
                  <a:gd name="T7" fmla="*/ 0 h 637"/>
                  <a:gd name="T8" fmla="*/ 0 w 260"/>
                  <a:gd name="T9" fmla="*/ 0 h 637"/>
                  <a:gd name="T10" fmla="*/ 0 w 260"/>
                  <a:gd name="T11" fmla="*/ 0 h 637"/>
                  <a:gd name="T12" fmla="*/ 0 w 260"/>
                  <a:gd name="T13" fmla="*/ 0 h 637"/>
                  <a:gd name="T14" fmla="*/ 0 w 260"/>
                  <a:gd name="T15" fmla="*/ 0 h 637"/>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60" h="637">
                    <a:moveTo>
                      <a:pt x="21" y="14"/>
                    </a:moveTo>
                    <a:lnTo>
                      <a:pt x="5" y="230"/>
                    </a:lnTo>
                    <a:lnTo>
                      <a:pt x="9" y="408"/>
                    </a:lnTo>
                    <a:lnTo>
                      <a:pt x="0" y="608"/>
                    </a:lnTo>
                    <a:lnTo>
                      <a:pt x="128" y="637"/>
                    </a:lnTo>
                    <a:lnTo>
                      <a:pt x="252" y="637"/>
                    </a:lnTo>
                    <a:lnTo>
                      <a:pt x="260" y="0"/>
                    </a:lnTo>
                    <a:lnTo>
                      <a:pt x="21" y="14"/>
                    </a:lnTo>
                    <a:close/>
                  </a:path>
                </a:pathLst>
              </a:custGeom>
              <a:solidFill>
                <a:srgbClr val="60606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2" name="Freeform 92"/>
              <p:cNvSpPr>
                <a:spLocks/>
              </p:cNvSpPr>
              <p:nvPr/>
            </p:nvSpPr>
            <p:spPr bwMode="auto">
              <a:xfrm>
                <a:off x="2652" y="2362"/>
                <a:ext cx="32" cy="87"/>
              </a:xfrm>
              <a:custGeom>
                <a:avLst/>
                <a:gdLst>
                  <a:gd name="T0" fmla="*/ 0 w 225"/>
                  <a:gd name="T1" fmla="*/ 0 h 612"/>
                  <a:gd name="T2" fmla="*/ 0 w 225"/>
                  <a:gd name="T3" fmla="*/ 0 h 612"/>
                  <a:gd name="T4" fmla="*/ 0 w 225"/>
                  <a:gd name="T5" fmla="*/ 0 h 612"/>
                  <a:gd name="T6" fmla="*/ 0 w 225"/>
                  <a:gd name="T7" fmla="*/ 0 h 612"/>
                  <a:gd name="T8" fmla="*/ 0 w 225"/>
                  <a:gd name="T9" fmla="*/ 0 h 612"/>
                  <a:gd name="T10" fmla="*/ 0 w 225"/>
                  <a:gd name="T11" fmla="*/ 0 h 612"/>
                  <a:gd name="T12" fmla="*/ 0 w 225"/>
                  <a:gd name="T13" fmla="*/ 0 h 612"/>
                  <a:gd name="T14" fmla="*/ 0 w 225"/>
                  <a:gd name="T15" fmla="*/ 0 h 612"/>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25" h="612">
                    <a:moveTo>
                      <a:pt x="20" y="20"/>
                    </a:moveTo>
                    <a:lnTo>
                      <a:pt x="0" y="201"/>
                    </a:lnTo>
                    <a:lnTo>
                      <a:pt x="4" y="346"/>
                    </a:lnTo>
                    <a:lnTo>
                      <a:pt x="4" y="569"/>
                    </a:lnTo>
                    <a:lnTo>
                      <a:pt x="114" y="612"/>
                    </a:lnTo>
                    <a:lnTo>
                      <a:pt x="212" y="612"/>
                    </a:lnTo>
                    <a:lnTo>
                      <a:pt x="225" y="0"/>
                    </a:lnTo>
                    <a:lnTo>
                      <a:pt x="20" y="2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2" name="Group 93"/>
            <p:cNvGrpSpPr>
              <a:grpSpLocks/>
            </p:cNvGrpSpPr>
            <p:nvPr/>
          </p:nvGrpSpPr>
          <p:grpSpPr bwMode="auto">
            <a:xfrm flipH="1">
              <a:off x="3477" y="3152"/>
              <a:ext cx="226" cy="112"/>
              <a:chOff x="2668" y="2453"/>
              <a:chExt cx="90" cy="46"/>
            </a:xfrm>
          </p:grpSpPr>
          <p:sp>
            <p:nvSpPr>
              <p:cNvPr id="66" name="Freeform 94"/>
              <p:cNvSpPr>
                <a:spLocks/>
              </p:cNvSpPr>
              <p:nvPr/>
            </p:nvSpPr>
            <p:spPr bwMode="auto">
              <a:xfrm>
                <a:off x="2668" y="2453"/>
                <a:ext cx="90" cy="46"/>
              </a:xfrm>
              <a:custGeom>
                <a:avLst/>
                <a:gdLst>
                  <a:gd name="T0" fmla="*/ 0 w 627"/>
                  <a:gd name="T1" fmla="*/ 0 h 320"/>
                  <a:gd name="T2" fmla="*/ 0 w 627"/>
                  <a:gd name="T3" fmla="*/ 0 h 320"/>
                  <a:gd name="T4" fmla="*/ 0 w 627"/>
                  <a:gd name="T5" fmla="*/ 0 h 320"/>
                  <a:gd name="T6" fmla="*/ 0 w 627"/>
                  <a:gd name="T7" fmla="*/ 0 h 320"/>
                  <a:gd name="T8" fmla="*/ 0 w 627"/>
                  <a:gd name="T9" fmla="*/ 0 h 320"/>
                  <a:gd name="T10" fmla="*/ 0 w 627"/>
                  <a:gd name="T11" fmla="*/ 0 h 320"/>
                  <a:gd name="T12" fmla="*/ 0 w 627"/>
                  <a:gd name="T13" fmla="*/ 0 h 320"/>
                  <a:gd name="T14" fmla="*/ 0 w 627"/>
                  <a:gd name="T15" fmla="*/ 0 h 320"/>
                  <a:gd name="T16" fmla="*/ 0 w 627"/>
                  <a:gd name="T17" fmla="*/ 0 h 320"/>
                  <a:gd name="T18" fmla="*/ 0 w 627"/>
                  <a:gd name="T19" fmla="*/ 0 h 320"/>
                  <a:gd name="T20" fmla="*/ 0 w 627"/>
                  <a:gd name="T21" fmla="*/ 0 h 320"/>
                  <a:gd name="T22" fmla="*/ 0 w 627"/>
                  <a:gd name="T23" fmla="*/ 0 h 320"/>
                  <a:gd name="T24" fmla="*/ 0 w 627"/>
                  <a:gd name="T25" fmla="*/ 0 h 320"/>
                  <a:gd name="T26" fmla="*/ 0 w 627"/>
                  <a:gd name="T27" fmla="*/ 0 h 320"/>
                  <a:gd name="T28" fmla="*/ 0 w 627"/>
                  <a:gd name="T29" fmla="*/ 0 h 320"/>
                  <a:gd name="T30" fmla="*/ 0 w 627"/>
                  <a:gd name="T31" fmla="*/ 0 h 320"/>
                  <a:gd name="T32" fmla="*/ 0 w 627"/>
                  <a:gd name="T33" fmla="*/ 0 h 320"/>
                  <a:gd name="T34" fmla="*/ 0 w 627"/>
                  <a:gd name="T35" fmla="*/ 0 h 320"/>
                  <a:gd name="T36" fmla="*/ 0 w 627"/>
                  <a:gd name="T37" fmla="*/ 0 h 320"/>
                  <a:gd name="T38" fmla="*/ 0 w 627"/>
                  <a:gd name="T39" fmla="*/ 0 h 320"/>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27" h="320">
                    <a:moveTo>
                      <a:pt x="255" y="12"/>
                    </a:moveTo>
                    <a:lnTo>
                      <a:pt x="249" y="93"/>
                    </a:lnTo>
                    <a:lnTo>
                      <a:pt x="413" y="171"/>
                    </a:lnTo>
                    <a:lnTo>
                      <a:pt x="551" y="204"/>
                    </a:lnTo>
                    <a:lnTo>
                      <a:pt x="627" y="237"/>
                    </a:lnTo>
                    <a:lnTo>
                      <a:pt x="623" y="282"/>
                    </a:lnTo>
                    <a:lnTo>
                      <a:pt x="524" y="309"/>
                    </a:lnTo>
                    <a:lnTo>
                      <a:pt x="375" y="320"/>
                    </a:lnTo>
                    <a:lnTo>
                      <a:pt x="249" y="298"/>
                    </a:lnTo>
                    <a:lnTo>
                      <a:pt x="173" y="276"/>
                    </a:lnTo>
                    <a:lnTo>
                      <a:pt x="168" y="300"/>
                    </a:lnTo>
                    <a:lnTo>
                      <a:pt x="68" y="298"/>
                    </a:lnTo>
                    <a:lnTo>
                      <a:pt x="7" y="287"/>
                    </a:lnTo>
                    <a:lnTo>
                      <a:pt x="7" y="243"/>
                    </a:lnTo>
                    <a:lnTo>
                      <a:pt x="0" y="218"/>
                    </a:lnTo>
                    <a:lnTo>
                      <a:pt x="0" y="156"/>
                    </a:lnTo>
                    <a:lnTo>
                      <a:pt x="19" y="122"/>
                    </a:lnTo>
                    <a:lnTo>
                      <a:pt x="50" y="84"/>
                    </a:lnTo>
                    <a:lnTo>
                      <a:pt x="57" y="0"/>
                    </a:lnTo>
                    <a:lnTo>
                      <a:pt x="255" y="12"/>
                    </a:lnTo>
                    <a:close/>
                  </a:path>
                </a:pathLst>
              </a:custGeom>
              <a:solidFill>
                <a:srgbClr val="60606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7" name="Freeform 95"/>
              <p:cNvSpPr>
                <a:spLocks/>
              </p:cNvSpPr>
              <p:nvPr/>
            </p:nvSpPr>
            <p:spPr bwMode="auto">
              <a:xfrm>
                <a:off x="2698" y="2470"/>
                <a:ext cx="27" cy="14"/>
              </a:xfrm>
              <a:custGeom>
                <a:avLst/>
                <a:gdLst>
                  <a:gd name="T0" fmla="*/ 0 w 187"/>
                  <a:gd name="T1" fmla="*/ 0 h 99"/>
                  <a:gd name="T2" fmla="*/ 0 w 187"/>
                  <a:gd name="T3" fmla="*/ 0 h 99"/>
                  <a:gd name="T4" fmla="*/ 0 w 187"/>
                  <a:gd name="T5" fmla="*/ 0 h 99"/>
                  <a:gd name="T6" fmla="*/ 0 w 187"/>
                  <a:gd name="T7" fmla="*/ 0 h 99"/>
                  <a:gd name="T8" fmla="*/ 0 w 187"/>
                  <a:gd name="T9" fmla="*/ 0 h 9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7" h="99">
                    <a:moveTo>
                      <a:pt x="47" y="0"/>
                    </a:moveTo>
                    <a:lnTo>
                      <a:pt x="0" y="54"/>
                    </a:lnTo>
                    <a:lnTo>
                      <a:pt x="167" y="99"/>
                    </a:lnTo>
                    <a:lnTo>
                      <a:pt x="187" y="63"/>
                    </a:lnTo>
                    <a:lnTo>
                      <a:pt x="4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8" name="Freeform 96"/>
              <p:cNvSpPr>
                <a:spLocks/>
              </p:cNvSpPr>
              <p:nvPr/>
            </p:nvSpPr>
            <p:spPr bwMode="auto">
              <a:xfrm>
                <a:off x="2725" y="2480"/>
                <a:ext cx="30" cy="8"/>
              </a:xfrm>
              <a:custGeom>
                <a:avLst/>
                <a:gdLst>
                  <a:gd name="T0" fmla="*/ 0 w 212"/>
                  <a:gd name="T1" fmla="*/ 0 h 59"/>
                  <a:gd name="T2" fmla="*/ 0 w 212"/>
                  <a:gd name="T3" fmla="*/ 0 h 59"/>
                  <a:gd name="T4" fmla="*/ 0 w 212"/>
                  <a:gd name="T5" fmla="*/ 0 h 59"/>
                  <a:gd name="T6" fmla="*/ 0 w 212"/>
                  <a:gd name="T7" fmla="*/ 0 h 59"/>
                  <a:gd name="T8" fmla="*/ 0 w 212"/>
                  <a:gd name="T9" fmla="*/ 0 h 59"/>
                  <a:gd name="T10" fmla="*/ 0 w 212"/>
                  <a:gd name="T11" fmla="*/ 0 h 59"/>
                  <a:gd name="T12" fmla="*/ 0 w 212"/>
                  <a:gd name="T13" fmla="*/ 0 h 5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12" h="59">
                    <a:moveTo>
                      <a:pt x="24" y="0"/>
                    </a:moveTo>
                    <a:lnTo>
                      <a:pt x="0" y="27"/>
                    </a:lnTo>
                    <a:lnTo>
                      <a:pt x="104" y="53"/>
                    </a:lnTo>
                    <a:lnTo>
                      <a:pt x="153" y="59"/>
                    </a:lnTo>
                    <a:lnTo>
                      <a:pt x="212" y="55"/>
                    </a:lnTo>
                    <a:lnTo>
                      <a:pt x="150" y="25"/>
                    </a:lnTo>
                    <a:lnTo>
                      <a:pt x="24"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9" name="Freeform 97"/>
              <p:cNvSpPr>
                <a:spLocks/>
              </p:cNvSpPr>
              <p:nvPr/>
            </p:nvSpPr>
            <p:spPr bwMode="auto">
              <a:xfrm>
                <a:off x="2669" y="2470"/>
                <a:ext cx="87" cy="27"/>
              </a:xfrm>
              <a:custGeom>
                <a:avLst/>
                <a:gdLst>
                  <a:gd name="T0" fmla="*/ 0 w 605"/>
                  <a:gd name="T1" fmla="*/ 0 h 189"/>
                  <a:gd name="T2" fmla="*/ 0 w 605"/>
                  <a:gd name="T3" fmla="*/ 0 h 189"/>
                  <a:gd name="T4" fmla="*/ 0 w 605"/>
                  <a:gd name="T5" fmla="*/ 0 h 189"/>
                  <a:gd name="T6" fmla="*/ 0 w 605"/>
                  <a:gd name="T7" fmla="*/ 0 h 189"/>
                  <a:gd name="T8" fmla="*/ 0 w 605"/>
                  <a:gd name="T9" fmla="*/ 0 h 189"/>
                  <a:gd name="T10" fmla="*/ 0 w 605"/>
                  <a:gd name="T11" fmla="*/ 0 h 189"/>
                  <a:gd name="T12" fmla="*/ 0 w 605"/>
                  <a:gd name="T13" fmla="*/ 0 h 189"/>
                  <a:gd name="T14" fmla="*/ 0 w 605"/>
                  <a:gd name="T15" fmla="*/ 0 h 189"/>
                  <a:gd name="T16" fmla="*/ 0 w 605"/>
                  <a:gd name="T17" fmla="*/ 0 h 189"/>
                  <a:gd name="T18" fmla="*/ 0 w 605"/>
                  <a:gd name="T19" fmla="*/ 0 h 189"/>
                  <a:gd name="T20" fmla="*/ 0 w 605"/>
                  <a:gd name="T21" fmla="*/ 0 h 189"/>
                  <a:gd name="T22" fmla="*/ 0 w 605"/>
                  <a:gd name="T23" fmla="*/ 0 h 189"/>
                  <a:gd name="T24" fmla="*/ 0 w 605"/>
                  <a:gd name="T25" fmla="*/ 0 h 189"/>
                  <a:gd name="T26" fmla="*/ 0 w 605"/>
                  <a:gd name="T27" fmla="*/ 0 h 189"/>
                  <a:gd name="T28" fmla="*/ 0 w 605"/>
                  <a:gd name="T29" fmla="*/ 0 h 189"/>
                  <a:gd name="T30" fmla="*/ 0 w 605"/>
                  <a:gd name="T31" fmla="*/ 0 h 189"/>
                  <a:gd name="T32" fmla="*/ 0 w 605"/>
                  <a:gd name="T33" fmla="*/ 0 h 189"/>
                  <a:gd name="T34" fmla="*/ 0 w 605"/>
                  <a:gd name="T35" fmla="*/ 0 h 189"/>
                  <a:gd name="T36" fmla="*/ 0 w 605"/>
                  <a:gd name="T37" fmla="*/ 0 h 18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05" h="189">
                    <a:moveTo>
                      <a:pt x="605" y="160"/>
                    </a:moveTo>
                    <a:lnTo>
                      <a:pt x="605" y="132"/>
                    </a:lnTo>
                    <a:lnTo>
                      <a:pt x="526" y="140"/>
                    </a:lnTo>
                    <a:lnTo>
                      <a:pt x="398" y="122"/>
                    </a:lnTo>
                    <a:lnTo>
                      <a:pt x="326" y="105"/>
                    </a:lnTo>
                    <a:lnTo>
                      <a:pt x="187" y="59"/>
                    </a:lnTo>
                    <a:lnTo>
                      <a:pt x="125" y="54"/>
                    </a:lnTo>
                    <a:lnTo>
                      <a:pt x="66" y="32"/>
                    </a:lnTo>
                    <a:lnTo>
                      <a:pt x="35" y="0"/>
                    </a:lnTo>
                    <a:lnTo>
                      <a:pt x="0" y="40"/>
                    </a:lnTo>
                    <a:lnTo>
                      <a:pt x="0" y="120"/>
                    </a:lnTo>
                    <a:lnTo>
                      <a:pt x="45" y="132"/>
                    </a:lnTo>
                    <a:lnTo>
                      <a:pt x="153" y="145"/>
                    </a:lnTo>
                    <a:lnTo>
                      <a:pt x="197" y="152"/>
                    </a:lnTo>
                    <a:lnTo>
                      <a:pt x="268" y="177"/>
                    </a:lnTo>
                    <a:lnTo>
                      <a:pt x="350" y="189"/>
                    </a:lnTo>
                    <a:lnTo>
                      <a:pt x="408" y="189"/>
                    </a:lnTo>
                    <a:lnTo>
                      <a:pt x="500" y="189"/>
                    </a:lnTo>
                    <a:lnTo>
                      <a:pt x="605" y="16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0" name="Freeform 98"/>
              <p:cNvSpPr>
                <a:spLocks/>
              </p:cNvSpPr>
              <p:nvPr/>
            </p:nvSpPr>
            <p:spPr bwMode="auto">
              <a:xfrm>
                <a:off x="2675" y="2454"/>
                <a:ext cx="29" cy="22"/>
              </a:xfrm>
              <a:custGeom>
                <a:avLst/>
                <a:gdLst>
                  <a:gd name="T0" fmla="*/ 0 w 200"/>
                  <a:gd name="T1" fmla="*/ 0 h 153"/>
                  <a:gd name="T2" fmla="*/ 0 w 200"/>
                  <a:gd name="T3" fmla="*/ 0 h 153"/>
                  <a:gd name="T4" fmla="*/ 0 w 200"/>
                  <a:gd name="T5" fmla="*/ 0 h 153"/>
                  <a:gd name="T6" fmla="*/ 0 w 200"/>
                  <a:gd name="T7" fmla="*/ 0 h 153"/>
                  <a:gd name="T8" fmla="*/ 0 w 200"/>
                  <a:gd name="T9" fmla="*/ 0 h 153"/>
                  <a:gd name="T10" fmla="*/ 0 w 200"/>
                  <a:gd name="T11" fmla="*/ 0 h 153"/>
                  <a:gd name="T12" fmla="*/ 0 w 200"/>
                  <a:gd name="T13" fmla="*/ 0 h 153"/>
                  <a:gd name="T14" fmla="*/ 0 w 200"/>
                  <a:gd name="T15" fmla="*/ 0 h 153"/>
                  <a:gd name="T16" fmla="*/ 0 w 200"/>
                  <a:gd name="T17" fmla="*/ 0 h 153"/>
                  <a:gd name="T18" fmla="*/ 0 w 200"/>
                  <a:gd name="T19" fmla="*/ 0 h 15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00" h="153">
                    <a:moveTo>
                      <a:pt x="193" y="11"/>
                    </a:moveTo>
                    <a:lnTo>
                      <a:pt x="187" y="85"/>
                    </a:lnTo>
                    <a:lnTo>
                      <a:pt x="200" y="103"/>
                    </a:lnTo>
                    <a:lnTo>
                      <a:pt x="155" y="153"/>
                    </a:lnTo>
                    <a:lnTo>
                      <a:pt x="94" y="153"/>
                    </a:lnTo>
                    <a:lnTo>
                      <a:pt x="25" y="130"/>
                    </a:lnTo>
                    <a:lnTo>
                      <a:pt x="0" y="101"/>
                    </a:lnTo>
                    <a:lnTo>
                      <a:pt x="14" y="80"/>
                    </a:lnTo>
                    <a:lnTo>
                      <a:pt x="18" y="0"/>
                    </a:lnTo>
                    <a:lnTo>
                      <a:pt x="193"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13" name="Rectangle 99"/>
            <p:cNvSpPr>
              <a:spLocks noChangeArrowheads="1"/>
            </p:cNvSpPr>
            <p:nvPr/>
          </p:nvSpPr>
          <p:spPr bwMode="auto">
            <a:xfrm flipH="1">
              <a:off x="3868" y="2951"/>
              <a:ext cx="75" cy="233"/>
            </a:xfrm>
            <a:prstGeom prst="rect">
              <a:avLst/>
            </a:prstGeom>
            <a:solidFill>
              <a:srgbClr val="606060"/>
            </a:solidFill>
            <a:ln w="1588">
              <a:solidFill>
                <a:srgbClr val="000000"/>
              </a:solidFill>
              <a:miter lim="800000"/>
              <a:headEnd/>
              <a:tailEnd/>
            </a:ln>
          </p:spPr>
          <p:txBody>
            <a:bodyP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grpSp>
          <p:nvGrpSpPr>
            <p:cNvPr id="14" name="Group 100"/>
            <p:cNvGrpSpPr>
              <a:grpSpLocks/>
            </p:cNvGrpSpPr>
            <p:nvPr/>
          </p:nvGrpSpPr>
          <p:grpSpPr bwMode="auto">
            <a:xfrm flipH="1">
              <a:off x="3710" y="2866"/>
              <a:ext cx="353" cy="121"/>
              <a:chOff x="2524" y="2335"/>
              <a:chExt cx="141" cy="50"/>
            </a:xfrm>
          </p:grpSpPr>
          <p:sp>
            <p:nvSpPr>
              <p:cNvPr id="64" name="Freeform 101"/>
              <p:cNvSpPr>
                <a:spLocks/>
              </p:cNvSpPr>
              <p:nvPr/>
            </p:nvSpPr>
            <p:spPr bwMode="auto">
              <a:xfrm>
                <a:off x="2524" y="2335"/>
                <a:ext cx="141" cy="50"/>
              </a:xfrm>
              <a:custGeom>
                <a:avLst/>
                <a:gdLst>
                  <a:gd name="T0" fmla="*/ 0 w 987"/>
                  <a:gd name="T1" fmla="*/ 0 h 347"/>
                  <a:gd name="T2" fmla="*/ 0 w 987"/>
                  <a:gd name="T3" fmla="*/ 0 h 347"/>
                  <a:gd name="T4" fmla="*/ 0 w 987"/>
                  <a:gd name="T5" fmla="*/ 0 h 347"/>
                  <a:gd name="T6" fmla="*/ 0 w 987"/>
                  <a:gd name="T7" fmla="*/ 0 h 347"/>
                  <a:gd name="T8" fmla="*/ 0 w 987"/>
                  <a:gd name="T9" fmla="*/ 0 h 347"/>
                  <a:gd name="T10" fmla="*/ 0 w 987"/>
                  <a:gd name="T11" fmla="*/ 0 h 347"/>
                  <a:gd name="T12" fmla="*/ 0 w 987"/>
                  <a:gd name="T13" fmla="*/ 0 h 347"/>
                  <a:gd name="T14" fmla="*/ 0 w 987"/>
                  <a:gd name="T15" fmla="*/ 0 h 347"/>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987" h="347">
                    <a:moveTo>
                      <a:pt x="987" y="181"/>
                    </a:moveTo>
                    <a:lnTo>
                      <a:pt x="981" y="289"/>
                    </a:lnTo>
                    <a:lnTo>
                      <a:pt x="656" y="347"/>
                    </a:lnTo>
                    <a:lnTo>
                      <a:pt x="298" y="347"/>
                    </a:lnTo>
                    <a:lnTo>
                      <a:pt x="17" y="259"/>
                    </a:lnTo>
                    <a:lnTo>
                      <a:pt x="0" y="9"/>
                    </a:lnTo>
                    <a:lnTo>
                      <a:pt x="557" y="0"/>
                    </a:lnTo>
                    <a:lnTo>
                      <a:pt x="987" y="181"/>
                    </a:lnTo>
                    <a:close/>
                  </a:path>
                </a:pathLst>
              </a:custGeom>
              <a:solidFill>
                <a:srgbClr val="40404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5" name="Freeform 102"/>
              <p:cNvSpPr>
                <a:spLocks/>
              </p:cNvSpPr>
              <p:nvPr/>
            </p:nvSpPr>
            <p:spPr bwMode="auto">
              <a:xfrm>
                <a:off x="2527" y="2354"/>
                <a:ext cx="135" cy="28"/>
              </a:xfrm>
              <a:custGeom>
                <a:avLst/>
                <a:gdLst>
                  <a:gd name="T0" fmla="*/ 0 w 940"/>
                  <a:gd name="T1" fmla="*/ 0 h 199"/>
                  <a:gd name="T2" fmla="*/ 0 w 940"/>
                  <a:gd name="T3" fmla="*/ 0 h 199"/>
                  <a:gd name="T4" fmla="*/ 0 w 940"/>
                  <a:gd name="T5" fmla="*/ 0 h 199"/>
                  <a:gd name="T6" fmla="*/ 0 w 940"/>
                  <a:gd name="T7" fmla="*/ 0 h 199"/>
                  <a:gd name="T8" fmla="*/ 0 w 940"/>
                  <a:gd name="T9" fmla="*/ 0 h 199"/>
                  <a:gd name="T10" fmla="*/ 0 w 940"/>
                  <a:gd name="T11" fmla="*/ 0 h 199"/>
                  <a:gd name="T12" fmla="*/ 0 w 940"/>
                  <a:gd name="T13" fmla="*/ 0 h 199"/>
                  <a:gd name="T14" fmla="*/ 0 w 940"/>
                  <a:gd name="T15" fmla="*/ 0 h 199"/>
                  <a:gd name="T16" fmla="*/ 0 w 940"/>
                  <a:gd name="T17" fmla="*/ 0 h 19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940" h="199">
                    <a:moveTo>
                      <a:pt x="940" y="68"/>
                    </a:moveTo>
                    <a:lnTo>
                      <a:pt x="935" y="146"/>
                    </a:lnTo>
                    <a:lnTo>
                      <a:pt x="643" y="199"/>
                    </a:lnTo>
                    <a:lnTo>
                      <a:pt x="263" y="199"/>
                    </a:lnTo>
                    <a:lnTo>
                      <a:pt x="0" y="107"/>
                    </a:lnTo>
                    <a:lnTo>
                      <a:pt x="0" y="0"/>
                    </a:lnTo>
                    <a:lnTo>
                      <a:pt x="252" y="107"/>
                    </a:lnTo>
                    <a:lnTo>
                      <a:pt x="638" y="112"/>
                    </a:lnTo>
                    <a:lnTo>
                      <a:pt x="940"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15" name="Freeform 103"/>
            <p:cNvSpPr>
              <a:spLocks/>
            </p:cNvSpPr>
            <p:nvPr/>
          </p:nvSpPr>
          <p:spPr bwMode="auto">
            <a:xfrm flipH="1">
              <a:off x="3592" y="2740"/>
              <a:ext cx="481" cy="437"/>
            </a:xfrm>
            <a:custGeom>
              <a:avLst/>
              <a:gdLst>
                <a:gd name="T0" fmla="*/ 3 w 1344"/>
                <a:gd name="T1" fmla="*/ 1 h 1258"/>
                <a:gd name="T2" fmla="*/ 3 w 1344"/>
                <a:gd name="T3" fmla="*/ 1 h 1258"/>
                <a:gd name="T4" fmla="*/ 3 w 1344"/>
                <a:gd name="T5" fmla="*/ 1 h 1258"/>
                <a:gd name="T6" fmla="*/ 3 w 1344"/>
                <a:gd name="T7" fmla="*/ 1 h 1258"/>
                <a:gd name="T8" fmla="*/ 3 w 1344"/>
                <a:gd name="T9" fmla="*/ 0 h 1258"/>
                <a:gd name="T10" fmla="*/ 3 w 1344"/>
                <a:gd name="T11" fmla="*/ 0 h 1258"/>
                <a:gd name="T12" fmla="*/ 2 w 1344"/>
                <a:gd name="T13" fmla="*/ 0 h 1258"/>
                <a:gd name="T14" fmla="*/ 2 w 1344"/>
                <a:gd name="T15" fmla="*/ 0 h 1258"/>
                <a:gd name="T16" fmla="*/ 2 w 1344"/>
                <a:gd name="T17" fmla="*/ 0 h 1258"/>
                <a:gd name="T18" fmla="*/ 1 w 1344"/>
                <a:gd name="T19" fmla="*/ 0 h 1258"/>
                <a:gd name="T20" fmla="*/ 1 w 1344"/>
                <a:gd name="T21" fmla="*/ 0 h 1258"/>
                <a:gd name="T22" fmla="*/ 1 w 1344"/>
                <a:gd name="T23" fmla="*/ 0 h 1258"/>
                <a:gd name="T24" fmla="*/ 1 w 1344"/>
                <a:gd name="T25" fmla="*/ 0 h 1258"/>
                <a:gd name="T26" fmla="*/ 1 w 1344"/>
                <a:gd name="T27" fmla="*/ 0 h 1258"/>
                <a:gd name="T28" fmla="*/ 1 w 1344"/>
                <a:gd name="T29" fmla="*/ 0 h 1258"/>
                <a:gd name="T30" fmla="*/ 1 w 1344"/>
                <a:gd name="T31" fmla="*/ 0 h 1258"/>
                <a:gd name="T32" fmla="*/ 1 w 1344"/>
                <a:gd name="T33" fmla="*/ 0 h 1258"/>
                <a:gd name="T34" fmla="*/ 1 w 1344"/>
                <a:gd name="T35" fmla="*/ 0 h 1258"/>
                <a:gd name="T36" fmla="*/ 1 w 1344"/>
                <a:gd name="T37" fmla="*/ 0 h 1258"/>
                <a:gd name="T38" fmla="*/ 1 w 1344"/>
                <a:gd name="T39" fmla="*/ 0 h 1258"/>
                <a:gd name="T40" fmla="*/ 0 w 1344"/>
                <a:gd name="T41" fmla="*/ 0 h 1258"/>
                <a:gd name="T42" fmla="*/ 0 w 1344"/>
                <a:gd name="T43" fmla="*/ 0 h 1258"/>
                <a:gd name="T44" fmla="*/ 0 w 1344"/>
                <a:gd name="T45" fmla="*/ 0 h 1258"/>
                <a:gd name="T46" fmla="*/ 0 w 1344"/>
                <a:gd name="T47" fmla="*/ 0 h 1258"/>
                <a:gd name="T48" fmla="*/ 0 w 1344"/>
                <a:gd name="T49" fmla="*/ 0 h 1258"/>
                <a:gd name="T50" fmla="*/ 0 w 1344"/>
                <a:gd name="T51" fmla="*/ 0 h 1258"/>
                <a:gd name="T52" fmla="*/ 0 w 1344"/>
                <a:gd name="T53" fmla="*/ 1 h 1258"/>
                <a:gd name="T54" fmla="*/ 0 w 1344"/>
                <a:gd name="T55" fmla="*/ 1 h 1258"/>
                <a:gd name="T56" fmla="*/ 0 w 1344"/>
                <a:gd name="T57" fmla="*/ 1 h 1258"/>
                <a:gd name="T58" fmla="*/ 0 w 1344"/>
                <a:gd name="T59" fmla="*/ 1 h 1258"/>
                <a:gd name="T60" fmla="*/ 0 w 1344"/>
                <a:gd name="T61" fmla="*/ 1 h 1258"/>
                <a:gd name="T62" fmla="*/ 0 w 1344"/>
                <a:gd name="T63" fmla="*/ 1 h 1258"/>
                <a:gd name="T64" fmla="*/ 0 w 1344"/>
                <a:gd name="T65" fmla="*/ 1 h 1258"/>
                <a:gd name="T66" fmla="*/ 0 w 1344"/>
                <a:gd name="T67" fmla="*/ 1 h 1258"/>
                <a:gd name="T68" fmla="*/ 0 w 1344"/>
                <a:gd name="T69" fmla="*/ 1 h 1258"/>
                <a:gd name="T70" fmla="*/ 1 w 1344"/>
                <a:gd name="T71" fmla="*/ 1 h 1258"/>
                <a:gd name="T72" fmla="*/ 1 w 1344"/>
                <a:gd name="T73" fmla="*/ 1 h 1258"/>
                <a:gd name="T74" fmla="*/ 1 w 1344"/>
                <a:gd name="T75" fmla="*/ 1 h 1258"/>
                <a:gd name="T76" fmla="*/ 1 w 1344"/>
                <a:gd name="T77" fmla="*/ 1 h 1258"/>
                <a:gd name="T78" fmla="*/ 1 w 1344"/>
                <a:gd name="T79" fmla="*/ 1 h 1258"/>
                <a:gd name="T80" fmla="*/ 1 w 1344"/>
                <a:gd name="T81" fmla="*/ 1 h 1258"/>
                <a:gd name="T82" fmla="*/ 1 w 1344"/>
                <a:gd name="T83" fmla="*/ 1 h 1258"/>
                <a:gd name="T84" fmla="*/ 2 w 1344"/>
                <a:gd name="T85" fmla="*/ 1 h 1258"/>
                <a:gd name="T86" fmla="*/ 2 w 1344"/>
                <a:gd name="T87" fmla="*/ 1 h 1258"/>
                <a:gd name="T88" fmla="*/ 2 w 1344"/>
                <a:gd name="T89" fmla="*/ 1 h 1258"/>
                <a:gd name="T90" fmla="*/ 2 w 1344"/>
                <a:gd name="T91" fmla="*/ 1 h 1258"/>
                <a:gd name="T92" fmla="*/ 2 w 1344"/>
                <a:gd name="T93" fmla="*/ 2 h 1258"/>
                <a:gd name="T94" fmla="*/ 2 w 1344"/>
                <a:gd name="T95" fmla="*/ 2 h 1258"/>
                <a:gd name="T96" fmla="*/ 2 w 1344"/>
                <a:gd name="T97" fmla="*/ 2 h 1258"/>
                <a:gd name="T98" fmla="*/ 2 w 1344"/>
                <a:gd name="T99" fmla="*/ 2 h 1258"/>
                <a:gd name="T100" fmla="*/ 3 w 1344"/>
                <a:gd name="T101" fmla="*/ 2 h 1258"/>
                <a:gd name="T102" fmla="*/ 3 w 1344"/>
                <a:gd name="T103" fmla="*/ 2 h 1258"/>
                <a:gd name="T104" fmla="*/ 3 w 1344"/>
                <a:gd name="T105" fmla="*/ 2 h 1258"/>
                <a:gd name="T106" fmla="*/ 3 w 1344"/>
                <a:gd name="T107" fmla="*/ 2 h 1258"/>
                <a:gd name="T108" fmla="*/ 3 w 1344"/>
                <a:gd name="T109" fmla="*/ 2 h 1258"/>
                <a:gd name="T110" fmla="*/ 3 w 1344"/>
                <a:gd name="T111" fmla="*/ 1 h 1258"/>
                <a:gd name="T112" fmla="*/ 3 w 1344"/>
                <a:gd name="T113" fmla="*/ 1 h 1258"/>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1344" h="1258">
                  <a:moveTo>
                    <a:pt x="1338" y="708"/>
                  </a:moveTo>
                  <a:lnTo>
                    <a:pt x="1331" y="582"/>
                  </a:lnTo>
                  <a:lnTo>
                    <a:pt x="1333" y="448"/>
                  </a:lnTo>
                  <a:lnTo>
                    <a:pt x="1328" y="346"/>
                  </a:lnTo>
                  <a:lnTo>
                    <a:pt x="1270" y="284"/>
                  </a:lnTo>
                  <a:lnTo>
                    <a:pt x="1200" y="249"/>
                  </a:lnTo>
                  <a:lnTo>
                    <a:pt x="1040" y="191"/>
                  </a:lnTo>
                  <a:lnTo>
                    <a:pt x="805" y="134"/>
                  </a:lnTo>
                  <a:lnTo>
                    <a:pt x="760" y="130"/>
                  </a:lnTo>
                  <a:lnTo>
                    <a:pt x="729" y="134"/>
                  </a:lnTo>
                  <a:lnTo>
                    <a:pt x="722" y="121"/>
                  </a:lnTo>
                  <a:lnTo>
                    <a:pt x="708" y="109"/>
                  </a:lnTo>
                  <a:lnTo>
                    <a:pt x="693" y="112"/>
                  </a:lnTo>
                  <a:lnTo>
                    <a:pt x="673" y="113"/>
                  </a:lnTo>
                  <a:lnTo>
                    <a:pt x="665" y="90"/>
                  </a:lnTo>
                  <a:lnTo>
                    <a:pt x="647" y="76"/>
                  </a:lnTo>
                  <a:lnTo>
                    <a:pt x="628" y="73"/>
                  </a:lnTo>
                  <a:lnTo>
                    <a:pt x="605" y="73"/>
                  </a:lnTo>
                  <a:lnTo>
                    <a:pt x="608" y="53"/>
                  </a:lnTo>
                  <a:lnTo>
                    <a:pt x="580" y="0"/>
                  </a:lnTo>
                  <a:lnTo>
                    <a:pt x="32" y="14"/>
                  </a:lnTo>
                  <a:lnTo>
                    <a:pt x="35" y="71"/>
                  </a:lnTo>
                  <a:lnTo>
                    <a:pt x="24" y="121"/>
                  </a:lnTo>
                  <a:lnTo>
                    <a:pt x="16" y="157"/>
                  </a:lnTo>
                  <a:lnTo>
                    <a:pt x="7" y="202"/>
                  </a:lnTo>
                  <a:lnTo>
                    <a:pt x="0" y="275"/>
                  </a:lnTo>
                  <a:lnTo>
                    <a:pt x="8" y="318"/>
                  </a:lnTo>
                  <a:lnTo>
                    <a:pt x="24" y="358"/>
                  </a:lnTo>
                  <a:lnTo>
                    <a:pt x="44" y="393"/>
                  </a:lnTo>
                  <a:lnTo>
                    <a:pt x="69" y="405"/>
                  </a:lnTo>
                  <a:lnTo>
                    <a:pt x="109" y="416"/>
                  </a:lnTo>
                  <a:lnTo>
                    <a:pt x="161" y="434"/>
                  </a:lnTo>
                  <a:lnTo>
                    <a:pt x="185" y="461"/>
                  </a:lnTo>
                  <a:lnTo>
                    <a:pt x="214" y="486"/>
                  </a:lnTo>
                  <a:lnTo>
                    <a:pt x="257" y="506"/>
                  </a:lnTo>
                  <a:lnTo>
                    <a:pt x="310" y="523"/>
                  </a:lnTo>
                  <a:lnTo>
                    <a:pt x="393" y="533"/>
                  </a:lnTo>
                  <a:lnTo>
                    <a:pt x="464" y="533"/>
                  </a:lnTo>
                  <a:lnTo>
                    <a:pt x="518" y="527"/>
                  </a:lnTo>
                  <a:lnTo>
                    <a:pt x="568" y="523"/>
                  </a:lnTo>
                  <a:lnTo>
                    <a:pt x="605" y="542"/>
                  </a:lnTo>
                  <a:lnTo>
                    <a:pt x="676" y="538"/>
                  </a:lnTo>
                  <a:lnTo>
                    <a:pt x="962" y="579"/>
                  </a:lnTo>
                  <a:lnTo>
                    <a:pt x="1039" y="588"/>
                  </a:lnTo>
                  <a:lnTo>
                    <a:pt x="1011" y="758"/>
                  </a:lnTo>
                  <a:lnTo>
                    <a:pt x="1008" y="845"/>
                  </a:lnTo>
                  <a:lnTo>
                    <a:pt x="1025" y="957"/>
                  </a:lnTo>
                  <a:lnTo>
                    <a:pt x="1042" y="1088"/>
                  </a:lnTo>
                  <a:lnTo>
                    <a:pt x="1042" y="1223"/>
                  </a:lnTo>
                  <a:lnTo>
                    <a:pt x="1109" y="1243"/>
                  </a:lnTo>
                  <a:lnTo>
                    <a:pt x="1194" y="1252"/>
                  </a:lnTo>
                  <a:lnTo>
                    <a:pt x="1266" y="1258"/>
                  </a:lnTo>
                  <a:lnTo>
                    <a:pt x="1344" y="1249"/>
                  </a:lnTo>
                  <a:lnTo>
                    <a:pt x="1338" y="1124"/>
                  </a:lnTo>
                  <a:lnTo>
                    <a:pt x="1338" y="919"/>
                  </a:lnTo>
                  <a:lnTo>
                    <a:pt x="1338" y="740"/>
                  </a:lnTo>
                  <a:lnTo>
                    <a:pt x="1338" y="708"/>
                  </a:lnTo>
                  <a:close/>
                </a:path>
              </a:pathLst>
            </a:custGeom>
            <a:solidFill>
              <a:srgbClr val="60606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Freeform 104"/>
            <p:cNvSpPr>
              <a:spLocks/>
            </p:cNvSpPr>
            <p:nvPr/>
          </p:nvSpPr>
          <p:spPr bwMode="auto">
            <a:xfrm flipH="1">
              <a:off x="3597" y="2759"/>
              <a:ext cx="471" cy="410"/>
            </a:xfrm>
            <a:custGeom>
              <a:avLst/>
              <a:gdLst>
                <a:gd name="T0" fmla="*/ 0 w 1314"/>
                <a:gd name="T1" fmla="*/ 0 h 1188"/>
                <a:gd name="T2" fmla="*/ 0 w 1314"/>
                <a:gd name="T3" fmla="*/ 0 h 1188"/>
                <a:gd name="T4" fmla="*/ 0 w 1314"/>
                <a:gd name="T5" fmla="*/ 0 h 1188"/>
                <a:gd name="T6" fmla="*/ 0 w 1314"/>
                <a:gd name="T7" fmla="*/ 0 h 1188"/>
                <a:gd name="T8" fmla="*/ 0 w 1314"/>
                <a:gd name="T9" fmla="*/ 1 h 1188"/>
                <a:gd name="T10" fmla="*/ 1 w 1314"/>
                <a:gd name="T11" fmla="*/ 1 h 1188"/>
                <a:gd name="T12" fmla="*/ 1 w 1314"/>
                <a:gd name="T13" fmla="*/ 1 h 1188"/>
                <a:gd name="T14" fmla="*/ 1 w 1314"/>
                <a:gd name="T15" fmla="*/ 1 h 1188"/>
                <a:gd name="T16" fmla="*/ 1 w 1314"/>
                <a:gd name="T17" fmla="*/ 1 h 1188"/>
                <a:gd name="T18" fmla="*/ 1 w 1314"/>
                <a:gd name="T19" fmla="*/ 1 h 1188"/>
                <a:gd name="T20" fmla="*/ 1 w 1314"/>
                <a:gd name="T21" fmla="*/ 1 h 1188"/>
                <a:gd name="T22" fmla="*/ 1 w 1314"/>
                <a:gd name="T23" fmla="*/ 1 h 1188"/>
                <a:gd name="T24" fmla="*/ 2 w 1314"/>
                <a:gd name="T25" fmla="*/ 1 h 1188"/>
                <a:gd name="T26" fmla="*/ 2 w 1314"/>
                <a:gd name="T27" fmla="*/ 1 h 1188"/>
                <a:gd name="T28" fmla="*/ 2 w 1314"/>
                <a:gd name="T29" fmla="*/ 2 h 1188"/>
                <a:gd name="T30" fmla="*/ 3 w 1314"/>
                <a:gd name="T31" fmla="*/ 2 h 1188"/>
                <a:gd name="T32" fmla="*/ 3 w 1314"/>
                <a:gd name="T33" fmla="*/ 1 h 1188"/>
                <a:gd name="T34" fmla="*/ 3 w 1314"/>
                <a:gd name="T35" fmla="*/ 1 h 1188"/>
                <a:gd name="T36" fmla="*/ 3 w 1314"/>
                <a:gd name="T37" fmla="*/ 1 h 1188"/>
                <a:gd name="T38" fmla="*/ 3 w 1314"/>
                <a:gd name="T39" fmla="*/ 0 h 1188"/>
                <a:gd name="T40" fmla="*/ 2 w 1314"/>
                <a:gd name="T41" fmla="*/ 0 h 1188"/>
                <a:gd name="T42" fmla="*/ 1 w 1314"/>
                <a:gd name="T43" fmla="*/ 0 h 1188"/>
                <a:gd name="T44" fmla="*/ 1 w 1314"/>
                <a:gd name="T45" fmla="*/ 0 h 1188"/>
                <a:gd name="T46" fmla="*/ 1 w 1314"/>
                <a:gd name="T47" fmla="*/ 0 h 1188"/>
                <a:gd name="T48" fmla="*/ 1 w 1314"/>
                <a:gd name="T49" fmla="*/ 0 h 1188"/>
                <a:gd name="T50" fmla="*/ 1 w 1314"/>
                <a:gd name="T51" fmla="*/ 0 h 1188"/>
                <a:gd name="T52" fmla="*/ 1 w 1314"/>
                <a:gd name="T53" fmla="*/ 0 h 1188"/>
                <a:gd name="T54" fmla="*/ 1 w 1314"/>
                <a:gd name="T55" fmla="*/ 0 h 1188"/>
                <a:gd name="T56" fmla="*/ 1 w 1314"/>
                <a:gd name="T57" fmla="*/ 0 h 1188"/>
                <a:gd name="T58" fmla="*/ 1 w 1314"/>
                <a:gd name="T59" fmla="*/ 0 h 1188"/>
                <a:gd name="T60" fmla="*/ 1 w 1314"/>
                <a:gd name="T61" fmla="*/ 0 h 1188"/>
                <a:gd name="T62" fmla="*/ 1 w 1314"/>
                <a:gd name="T63" fmla="*/ 0 h 1188"/>
                <a:gd name="T64" fmla="*/ 1 w 1314"/>
                <a:gd name="T65" fmla="*/ 0 h 1188"/>
                <a:gd name="T66" fmla="*/ 1 w 1314"/>
                <a:gd name="T67" fmla="*/ 0 h 1188"/>
                <a:gd name="T68" fmla="*/ 1 w 1314"/>
                <a:gd name="T69" fmla="*/ 0 h 1188"/>
                <a:gd name="T70" fmla="*/ 0 w 1314"/>
                <a:gd name="T71" fmla="*/ 0 h 1188"/>
                <a:gd name="T72" fmla="*/ 0 w 1314"/>
                <a:gd name="T73" fmla="*/ 0 h 1188"/>
                <a:gd name="T74" fmla="*/ 0 w 1314"/>
                <a:gd name="T75" fmla="*/ 0 h 1188"/>
                <a:gd name="T76" fmla="*/ 0 w 1314"/>
                <a:gd name="T77" fmla="*/ 0 h 118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314" h="1188">
                  <a:moveTo>
                    <a:pt x="44" y="20"/>
                  </a:moveTo>
                  <a:lnTo>
                    <a:pt x="41" y="59"/>
                  </a:lnTo>
                  <a:lnTo>
                    <a:pt x="26" y="44"/>
                  </a:lnTo>
                  <a:lnTo>
                    <a:pt x="8" y="129"/>
                  </a:lnTo>
                  <a:lnTo>
                    <a:pt x="0" y="228"/>
                  </a:lnTo>
                  <a:lnTo>
                    <a:pt x="35" y="329"/>
                  </a:lnTo>
                  <a:lnTo>
                    <a:pt x="116" y="353"/>
                  </a:lnTo>
                  <a:lnTo>
                    <a:pt x="107" y="329"/>
                  </a:lnTo>
                  <a:lnTo>
                    <a:pt x="151" y="364"/>
                  </a:lnTo>
                  <a:lnTo>
                    <a:pt x="189" y="403"/>
                  </a:lnTo>
                  <a:lnTo>
                    <a:pt x="273" y="443"/>
                  </a:lnTo>
                  <a:lnTo>
                    <a:pt x="376" y="452"/>
                  </a:lnTo>
                  <a:lnTo>
                    <a:pt x="501" y="458"/>
                  </a:lnTo>
                  <a:lnTo>
                    <a:pt x="553" y="452"/>
                  </a:lnTo>
                  <a:lnTo>
                    <a:pt x="507" y="432"/>
                  </a:lnTo>
                  <a:lnTo>
                    <a:pt x="487" y="380"/>
                  </a:lnTo>
                  <a:lnTo>
                    <a:pt x="524" y="423"/>
                  </a:lnTo>
                  <a:lnTo>
                    <a:pt x="571" y="449"/>
                  </a:lnTo>
                  <a:lnTo>
                    <a:pt x="614" y="473"/>
                  </a:lnTo>
                  <a:lnTo>
                    <a:pt x="658" y="467"/>
                  </a:lnTo>
                  <a:lnTo>
                    <a:pt x="629" y="446"/>
                  </a:lnTo>
                  <a:lnTo>
                    <a:pt x="600" y="421"/>
                  </a:lnTo>
                  <a:lnTo>
                    <a:pt x="647" y="438"/>
                  </a:lnTo>
                  <a:lnTo>
                    <a:pt x="692" y="473"/>
                  </a:lnTo>
                  <a:lnTo>
                    <a:pt x="844" y="490"/>
                  </a:lnTo>
                  <a:lnTo>
                    <a:pt x="994" y="514"/>
                  </a:lnTo>
                  <a:lnTo>
                    <a:pt x="1039" y="525"/>
                  </a:lnTo>
                  <a:lnTo>
                    <a:pt x="1001" y="747"/>
                  </a:lnTo>
                  <a:lnTo>
                    <a:pt x="1030" y="954"/>
                  </a:lnTo>
                  <a:lnTo>
                    <a:pt x="1033" y="1156"/>
                  </a:lnTo>
                  <a:lnTo>
                    <a:pt x="1129" y="1176"/>
                  </a:lnTo>
                  <a:lnTo>
                    <a:pt x="1213" y="1188"/>
                  </a:lnTo>
                  <a:lnTo>
                    <a:pt x="1314" y="1185"/>
                  </a:lnTo>
                  <a:lnTo>
                    <a:pt x="1309" y="896"/>
                  </a:lnTo>
                  <a:lnTo>
                    <a:pt x="1309" y="654"/>
                  </a:lnTo>
                  <a:lnTo>
                    <a:pt x="1294" y="520"/>
                  </a:lnTo>
                  <a:lnTo>
                    <a:pt x="1307" y="435"/>
                  </a:lnTo>
                  <a:lnTo>
                    <a:pt x="1298" y="342"/>
                  </a:lnTo>
                  <a:lnTo>
                    <a:pt x="1281" y="281"/>
                  </a:lnTo>
                  <a:lnTo>
                    <a:pt x="1208" y="234"/>
                  </a:lnTo>
                  <a:lnTo>
                    <a:pt x="1118" y="193"/>
                  </a:lnTo>
                  <a:lnTo>
                    <a:pt x="943" y="135"/>
                  </a:lnTo>
                  <a:lnTo>
                    <a:pt x="800" y="94"/>
                  </a:lnTo>
                  <a:lnTo>
                    <a:pt x="722" y="88"/>
                  </a:lnTo>
                  <a:lnTo>
                    <a:pt x="689" y="135"/>
                  </a:lnTo>
                  <a:lnTo>
                    <a:pt x="591" y="184"/>
                  </a:lnTo>
                  <a:lnTo>
                    <a:pt x="643" y="141"/>
                  </a:lnTo>
                  <a:lnTo>
                    <a:pt x="684" y="118"/>
                  </a:lnTo>
                  <a:lnTo>
                    <a:pt x="698" y="85"/>
                  </a:lnTo>
                  <a:lnTo>
                    <a:pt x="692" y="70"/>
                  </a:lnTo>
                  <a:lnTo>
                    <a:pt x="664" y="70"/>
                  </a:lnTo>
                  <a:lnTo>
                    <a:pt x="647" y="88"/>
                  </a:lnTo>
                  <a:lnTo>
                    <a:pt x="629" y="105"/>
                  </a:lnTo>
                  <a:lnTo>
                    <a:pt x="585" y="123"/>
                  </a:lnTo>
                  <a:lnTo>
                    <a:pt x="626" y="88"/>
                  </a:lnTo>
                  <a:lnTo>
                    <a:pt x="643" y="61"/>
                  </a:lnTo>
                  <a:lnTo>
                    <a:pt x="631" y="44"/>
                  </a:lnTo>
                  <a:lnTo>
                    <a:pt x="597" y="33"/>
                  </a:lnTo>
                  <a:lnTo>
                    <a:pt x="551" y="74"/>
                  </a:lnTo>
                  <a:lnTo>
                    <a:pt x="507" y="100"/>
                  </a:lnTo>
                  <a:lnTo>
                    <a:pt x="559" y="41"/>
                  </a:lnTo>
                  <a:lnTo>
                    <a:pt x="576" y="18"/>
                  </a:lnTo>
                  <a:lnTo>
                    <a:pt x="576" y="0"/>
                  </a:lnTo>
                  <a:lnTo>
                    <a:pt x="533" y="6"/>
                  </a:lnTo>
                  <a:lnTo>
                    <a:pt x="493" y="36"/>
                  </a:lnTo>
                  <a:lnTo>
                    <a:pt x="466" y="56"/>
                  </a:lnTo>
                  <a:lnTo>
                    <a:pt x="341" y="67"/>
                  </a:lnTo>
                  <a:lnTo>
                    <a:pt x="344" y="36"/>
                  </a:lnTo>
                  <a:lnTo>
                    <a:pt x="308" y="23"/>
                  </a:lnTo>
                  <a:lnTo>
                    <a:pt x="308" y="64"/>
                  </a:lnTo>
                  <a:lnTo>
                    <a:pt x="270" y="74"/>
                  </a:lnTo>
                  <a:lnTo>
                    <a:pt x="189" y="85"/>
                  </a:lnTo>
                  <a:lnTo>
                    <a:pt x="195" y="41"/>
                  </a:lnTo>
                  <a:lnTo>
                    <a:pt x="165" y="41"/>
                  </a:lnTo>
                  <a:lnTo>
                    <a:pt x="162" y="85"/>
                  </a:lnTo>
                  <a:lnTo>
                    <a:pt x="116" y="82"/>
                  </a:lnTo>
                  <a:lnTo>
                    <a:pt x="66" y="70"/>
                  </a:lnTo>
                  <a:lnTo>
                    <a:pt x="64" y="36"/>
                  </a:lnTo>
                  <a:lnTo>
                    <a:pt x="44" y="2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Freeform 105"/>
            <p:cNvSpPr>
              <a:spLocks/>
            </p:cNvSpPr>
            <p:nvPr/>
          </p:nvSpPr>
          <p:spPr bwMode="auto">
            <a:xfrm flipH="1">
              <a:off x="3938" y="2827"/>
              <a:ext cx="65" cy="10"/>
            </a:xfrm>
            <a:custGeom>
              <a:avLst/>
              <a:gdLst>
                <a:gd name="T0" fmla="*/ 0 w 179"/>
                <a:gd name="T1" fmla="*/ 0 h 30"/>
                <a:gd name="T2" fmla="*/ 0 w 179"/>
                <a:gd name="T3" fmla="*/ 0 h 30"/>
                <a:gd name="T4" fmla="*/ 0 w 179"/>
                <a:gd name="T5" fmla="*/ 0 h 30"/>
                <a:gd name="T6" fmla="*/ 0 w 179"/>
                <a:gd name="T7" fmla="*/ 0 h 3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79" h="30">
                  <a:moveTo>
                    <a:pt x="0" y="0"/>
                  </a:moveTo>
                  <a:lnTo>
                    <a:pt x="84" y="30"/>
                  </a:lnTo>
                  <a:lnTo>
                    <a:pt x="179" y="2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Freeform 106"/>
            <p:cNvSpPr>
              <a:spLocks/>
            </p:cNvSpPr>
            <p:nvPr/>
          </p:nvSpPr>
          <p:spPr bwMode="auto">
            <a:xfrm flipH="1">
              <a:off x="4028" y="2808"/>
              <a:ext cx="37" cy="14"/>
            </a:xfrm>
            <a:custGeom>
              <a:avLst/>
              <a:gdLst>
                <a:gd name="T0" fmla="*/ 0 w 109"/>
                <a:gd name="T1" fmla="*/ 0 h 36"/>
                <a:gd name="T2" fmla="*/ 0 w 109"/>
                <a:gd name="T3" fmla="*/ 0 h 36"/>
                <a:gd name="T4" fmla="*/ 0 w 109"/>
                <a:gd name="T5" fmla="*/ 0 h 36"/>
                <a:gd name="T6" fmla="*/ 0 w 109"/>
                <a:gd name="T7" fmla="*/ 0 h 36"/>
                <a:gd name="T8" fmla="*/ 0 w 109"/>
                <a:gd name="T9" fmla="*/ 0 h 3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9" h="36">
                  <a:moveTo>
                    <a:pt x="0" y="0"/>
                  </a:moveTo>
                  <a:lnTo>
                    <a:pt x="29" y="23"/>
                  </a:lnTo>
                  <a:lnTo>
                    <a:pt x="109" y="34"/>
                  </a:lnTo>
                  <a:lnTo>
                    <a:pt x="27" y="36"/>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9" name="Freeform 107"/>
            <p:cNvSpPr>
              <a:spLocks/>
            </p:cNvSpPr>
            <p:nvPr/>
          </p:nvSpPr>
          <p:spPr bwMode="auto">
            <a:xfrm flipH="1">
              <a:off x="3843" y="2798"/>
              <a:ext cx="60" cy="31"/>
            </a:xfrm>
            <a:custGeom>
              <a:avLst/>
              <a:gdLst>
                <a:gd name="T0" fmla="*/ 0 w 167"/>
                <a:gd name="T1" fmla="*/ 0 h 91"/>
                <a:gd name="T2" fmla="*/ 0 w 167"/>
                <a:gd name="T3" fmla="*/ 0 h 91"/>
                <a:gd name="T4" fmla="*/ 0 w 167"/>
                <a:gd name="T5" fmla="*/ 0 h 91"/>
                <a:gd name="T6" fmla="*/ 0 w 167"/>
                <a:gd name="T7" fmla="*/ 0 h 91"/>
                <a:gd name="T8" fmla="*/ 0 w 167"/>
                <a:gd name="T9" fmla="*/ 0 h 91"/>
                <a:gd name="T10" fmla="*/ 0 w 167"/>
                <a:gd name="T11" fmla="*/ 0 h 91"/>
                <a:gd name="T12" fmla="*/ 0 w 167"/>
                <a:gd name="T13" fmla="*/ 0 h 91"/>
                <a:gd name="T14" fmla="*/ 0 w 167"/>
                <a:gd name="T15" fmla="*/ 0 h 91"/>
                <a:gd name="T16" fmla="*/ 0 w 167"/>
                <a:gd name="T17" fmla="*/ 0 h 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67" h="91">
                  <a:moveTo>
                    <a:pt x="0" y="0"/>
                  </a:moveTo>
                  <a:lnTo>
                    <a:pt x="75" y="8"/>
                  </a:lnTo>
                  <a:lnTo>
                    <a:pt x="90" y="20"/>
                  </a:lnTo>
                  <a:lnTo>
                    <a:pt x="90" y="48"/>
                  </a:lnTo>
                  <a:lnTo>
                    <a:pt x="95" y="79"/>
                  </a:lnTo>
                  <a:lnTo>
                    <a:pt x="167" y="91"/>
                  </a:lnTo>
                  <a:lnTo>
                    <a:pt x="81" y="88"/>
                  </a:lnTo>
                  <a:lnTo>
                    <a:pt x="66" y="30"/>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Freeform 108"/>
            <p:cNvSpPr>
              <a:spLocks/>
            </p:cNvSpPr>
            <p:nvPr/>
          </p:nvSpPr>
          <p:spPr bwMode="auto">
            <a:xfrm flipH="1">
              <a:off x="3648" y="2871"/>
              <a:ext cx="195" cy="48"/>
            </a:xfrm>
            <a:custGeom>
              <a:avLst/>
              <a:gdLst>
                <a:gd name="T0" fmla="*/ 0 w 544"/>
                <a:gd name="T1" fmla="*/ 0 h 136"/>
                <a:gd name="T2" fmla="*/ 0 w 544"/>
                <a:gd name="T3" fmla="*/ 0 h 136"/>
                <a:gd name="T4" fmla="*/ 1 w 544"/>
                <a:gd name="T5" fmla="*/ 0 h 136"/>
                <a:gd name="T6" fmla="*/ 1 w 544"/>
                <a:gd name="T7" fmla="*/ 0 h 136"/>
                <a:gd name="T8" fmla="*/ 1 w 544"/>
                <a:gd name="T9" fmla="*/ 0 h 136"/>
                <a:gd name="T10" fmla="*/ 1 w 544"/>
                <a:gd name="T11" fmla="*/ 0 h 136"/>
                <a:gd name="T12" fmla="*/ 1 w 544"/>
                <a:gd name="T13" fmla="*/ 0 h 136"/>
                <a:gd name="T14" fmla="*/ 1 w 544"/>
                <a:gd name="T15" fmla="*/ 0 h 136"/>
                <a:gd name="T16" fmla="*/ 1 w 544"/>
                <a:gd name="T17" fmla="*/ 0 h 136"/>
                <a:gd name="T18" fmla="*/ 1 w 544"/>
                <a:gd name="T19" fmla="*/ 0 h 136"/>
                <a:gd name="T20" fmla="*/ 1 w 544"/>
                <a:gd name="T21" fmla="*/ 0 h 136"/>
                <a:gd name="T22" fmla="*/ 0 w 544"/>
                <a:gd name="T23" fmla="*/ 0 h 136"/>
                <a:gd name="T24" fmla="*/ 0 w 544"/>
                <a:gd name="T25" fmla="*/ 0 h 136"/>
                <a:gd name="T26" fmla="*/ 0 w 544"/>
                <a:gd name="T27" fmla="*/ 0 h 1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544" h="136">
                  <a:moveTo>
                    <a:pt x="0" y="0"/>
                  </a:moveTo>
                  <a:lnTo>
                    <a:pt x="138" y="7"/>
                  </a:lnTo>
                  <a:lnTo>
                    <a:pt x="280" y="40"/>
                  </a:lnTo>
                  <a:lnTo>
                    <a:pt x="385" y="46"/>
                  </a:lnTo>
                  <a:lnTo>
                    <a:pt x="470" y="64"/>
                  </a:lnTo>
                  <a:lnTo>
                    <a:pt x="503" y="110"/>
                  </a:lnTo>
                  <a:lnTo>
                    <a:pt x="544" y="136"/>
                  </a:lnTo>
                  <a:lnTo>
                    <a:pt x="503" y="127"/>
                  </a:lnTo>
                  <a:lnTo>
                    <a:pt x="465" y="76"/>
                  </a:lnTo>
                  <a:lnTo>
                    <a:pt x="350" y="53"/>
                  </a:lnTo>
                  <a:lnTo>
                    <a:pt x="280" y="53"/>
                  </a:lnTo>
                  <a:lnTo>
                    <a:pt x="225" y="40"/>
                  </a:lnTo>
                  <a:lnTo>
                    <a:pt x="131" y="16"/>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1" name="Freeform 109"/>
            <p:cNvSpPr>
              <a:spLocks/>
            </p:cNvSpPr>
            <p:nvPr/>
          </p:nvSpPr>
          <p:spPr bwMode="auto">
            <a:xfrm flipH="1">
              <a:off x="3868" y="2235"/>
              <a:ext cx="170" cy="179"/>
            </a:xfrm>
            <a:custGeom>
              <a:avLst/>
              <a:gdLst>
                <a:gd name="T0" fmla="*/ 1 w 472"/>
                <a:gd name="T1" fmla="*/ 0 h 520"/>
                <a:gd name="T2" fmla="*/ 1 w 472"/>
                <a:gd name="T3" fmla="*/ 0 h 520"/>
                <a:gd name="T4" fmla="*/ 1 w 472"/>
                <a:gd name="T5" fmla="*/ 0 h 520"/>
                <a:gd name="T6" fmla="*/ 1 w 472"/>
                <a:gd name="T7" fmla="*/ 0 h 520"/>
                <a:gd name="T8" fmla="*/ 1 w 472"/>
                <a:gd name="T9" fmla="*/ 0 h 520"/>
                <a:gd name="T10" fmla="*/ 1 w 472"/>
                <a:gd name="T11" fmla="*/ 0 h 520"/>
                <a:gd name="T12" fmla="*/ 1 w 472"/>
                <a:gd name="T13" fmla="*/ 0 h 520"/>
                <a:gd name="T14" fmla="*/ 1 w 472"/>
                <a:gd name="T15" fmla="*/ 0 h 520"/>
                <a:gd name="T16" fmla="*/ 1 w 472"/>
                <a:gd name="T17" fmla="*/ 0 h 520"/>
                <a:gd name="T18" fmla="*/ 1 w 472"/>
                <a:gd name="T19" fmla="*/ 0 h 520"/>
                <a:gd name="T20" fmla="*/ 1 w 472"/>
                <a:gd name="T21" fmla="*/ 0 h 520"/>
                <a:gd name="T22" fmla="*/ 1 w 472"/>
                <a:gd name="T23" fmla="*/ 0 h 520"/>
                <a:gd name="T24" fmla="*/ 1 w 472"/>
                <a:gd name="T25" fmla="*/ 0 h 520"/>
                <a:gd name="T26" fmla="*/ 1 w 472"/>
                <a:gd name="T27" fmla="*/ 0 h 520"/>
                <a:gd name="T28" fmla="*/ 1 w 472"/>
                <a:gd name="T29" fmla="*/ 0 h 520"/>
                <a:gd name="T30" fmla="*/ 1 w 472"/>
                <a:gd name="T31" fmla="*/ 1 h 520"/>
                <a:gd name="T32" fmla="*/ 1 w 472"/>
                <a:gd name="T33" fmla="*/ 1 h 520"/>
                <a:gd name="T34" fmla="*/ 1 w 472"/>
                <a:gd name="T35" fmla="*/ 1 h 520"/>
                <a:gd name="T36" fmla="*/ 1 w 472"/>
                <a:gd name="T37" fmla="*/ 1 h 520"/>
                <a:gd name="T38" fmla="*/ 1 w 472"/>
                <a:gd name="T39" fmla="*/ 1 h 520"/>
                <a:gd name="T40" fmla="*/ 1 w 472"/>
                <a:gd name="T41" fmla="*/ 1 h 520"/>
                <a:gd name="T42" fmla="*/ 1 w 472"/>
                <a:gd name="T43" fmla="*/ 1 h 520"/>
                <a:gd name="T44" fmla="*/ 1 w 472"/>
                <a:gd name="T45" fmla="*/ 1 h 520"/>
                <a:gd name="T46" fmla="*/ 1 w 472"/>
                <a:gd name="T47" fmla="*/ 1 h 520"/>
                <a:gd name="T48" fmla="*/ 1 w 472"/>
                <a:gd name="T49" fmla="*/ 1 h 520"/>
                <a:gd name="T50" fmla="*/ 1 w 472"/>
                <a:gd name="T51" fmla="*/ 1 h 520"/>
                <a:gd name="T52" fmla="*/ 0 w 472"/>
                <a:gd name="T53" fmla="*/ 1 h 520"/>
                <a:gd name="T54" fmla="*/ 0 w 472"/>
                <a:gd name="T55" fmla="*/ 1 h 520"/>
                <a:gd name="T56" fmla="*/ 0 w 472"/>
                <a:gd name="T57" fmla="*/ 1 h 520"/>
                <a:gd name="T58" fmla="*/ 0 w 472"/>
                <a:gd name="T59" fmla="*/ 0 h 520"/>
                <a:gd name="T60" fmla="*/ 0 w 472"/>
                <a:gd name="T61" fmla="*/ 0 h 520"/>
                <a:gd name="T62" fmla="*/ 0 w 472"/>
                <a:gd name="T63" fmla="*/ 0 h 520"/>
                <a:gd name="T64" fmla="*/ 0 w 472"/>
                <a:gd name="T65" fmla="*/ 0 h 520"/>
                <a:gd name="T66" fmla="*/ 0 w 472"/>
                <a:gd name="T67" fmla="*/ 0 h 520"/>
                <a:gd name="T68" fmla="*/ 0 w 472"/>
                <a:gd name="T69" fmla="*/ 0 h 520"/>
                <a:gd name="T70" fmla="*/ 1 w 472"/>
                <a:gd name="T71" fmla="*/ 0 h 520"/>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472" h="520">
                  <a:moveTo>
                    <a:pt x="318" y="17"/>
                  </a:moveTo>
                  <a:lnTo>
                    <a:pt x="359" y="47"/>
                  </a:lnTo>
                  <a:lnTo>
                    <a:pt x="381" y="84"/>
                  </a:lnTo>
                  <a:lnTo>
                    <a:pt x="402" y="124"/>
                  </a:lnTo>
                  <a:lnTo>
                    <a:pt x="414" y="144"/>
                  </a:lnTo>
                  <a:lnTo>
                    <a:pt x="414" y="167"/>
                  </a:lnTo>
                  <a:lnTo>
                    <a:pt x="404" y="193"/>
                  </a:lnTo>
                  <a:lnTo>
                    <a:pt x="424" y="214"/>
                  </a:lnTo>
                  <a:lnTo>
                    <a:pt x="456" y="270"/>
                  </a:lnTo>
                  <a:lnTo>
                    <a:pt x="472" y="300"/>
                  </a:lnTo>
                  <a:lnTo>
                    <a:pt x="472" y="310"/>
                  </a:lnTo>
                  <a:lnTo>
                    <a:pt x="469" y="320"/>
                  </a:lnTo>
                  <a:lnTo>
                    <a:pt x="455" y="323"/>
                  </a:lnTo>
                  <a:lnTo>
                    <a:pt x="434" y="324"/>
                  </a:lnTo>
                  <a:lnTo>
                    <a:pt x="423" y="328"/>
                  </a:lnTo>
                  <a:lnTo>
                    <a:pt x="424" y="351"/>
                  </a:lnTo>
                  <a:lnTo>
                    <a:pt x="430" y="377"/>
                  </a:lnTo>
                  <a:lnTo>
                    <a:pt x="418" y="392"/>
                  </a:lnTo>
                  <a:lnTo>
                    <a:pt x="422" y="411"/>
                  </a:lnTo>
                  <a:lnTo>
                    <a:pt x="412" y="424"/>
                  </a:lnTo>
                  <a:lnTo>
                    <a:pt x="403" y="458"/>
                  </a:lnTo>
                  <a:lnTo>
                    <a:pt x="388" y="469"/>
                  </a:lnTo>
                  <a:lnTo>
                    <a:pt x="366" y="469"/>
                  </a:lnTo>
                  <a:lnTo>
                    <a:pt x="335" y="463"/>
                  </a:lnTo>
                  <a:lnTo>
                    <a:pt x="302" y="458"/>
                  </a:lnTo>
                  <a:lnTo>
                    <a:pt x="305" y="520"/>
                  </a:lnTo>
                  <a:lnTo>
                    <a:pt x="54" y="438"/>
                  </a:lnTo>
                  <a:lnTo>
                    <a:pt x="74" y="390"/>
                  </a:lnTo>
                  <a:lnTo>
                    <a:pt x="69" y="353"/>
                  </a:lnTo>
                  <a:lnTo>
                    <a:pt x="0" y="283"/>
                  </a:lnTo>
                  <a:lnTo>
                    <a:pt x="0" y="99"/>
                  </a:lnTo>
                  <a:lnTo>
                    <a:pt x="46" y="49"/>
                  </a:lnTo>
                  <a:lnTo>
                    <a:pt x="105" y="22"/>
                  </a:lnTo>
                  <a:lnTo>
                    <a:pt x="166" y="0"/>
                  </a:lnTo>
                  <a:lnTo>
                    <a:pt x="246" y="11"/>
                  </a:lnTo>
                  <a:lnTo>
                    <a:pt x="318" y="17"/>
                  </a:lnTo>
                  <a:close/>
                </a:path>
              </a:pathLst>
            </a:custGeom>
            <a:solidFill>
              <a:srgbClr val="FFC080"/>
            </a:solidFill>
            <a:ln w="1588">
              <a:solidFill>
                <a:srgbClr val="402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2" name="Freeform 110"/>
            <p:cNvSpPr>
              <a:spLocks/>
            </p:cNvSpPr>
            <p:nvPr/>
          </p:nvSpPr>
          <p:spPr bwMode="auto">
            <a:xfrm flipH="1">
              <a:off x="3878" y="2342"/>
              <a:ext cx="10" cy="2"/>
            </a:xfrm>
            <a:custGeom>
              <a:avLst/>
              <a:gdLst>
                <a:gd name="T0" fmla="*/ 0 w 26"/>
                <a:gd name="T1" fmla="*/ 0 h 5"/>
                <a:gd name="T2" fmla="*/ 0 w 26"/>
                <a:gd name="T3" fmla="*/ 0 h 5"/>
                <a:gd name="T4" fmla="*/ 0 w 26"/>
                <a:gd name="T5" fmla="*/ 0 h 5"/>
                <a:gd name="T6" fmla="*/ 0 w 26"/>
                <a:gd name="T7" fmla="*/ 0 h 5"/>
                <a:gd name="T8" fmla="*/ 0 w 26"/>
                <a:gd name="T9" fmla="*/ 0 h 5"/>
                <a:gd name="T10" fmla="*/ 0 w 26"/>
                <a:gd name="T11" fmla="*/ 0 h 5"/>
                <a:gd name="T12" fmla="*/ 0 w 26"/>
                <a:gd name="T13" fmla="*/ 0 h 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6" h="5">
                  <a:moveTo>
                    <a:pt x="26" y="2"/>
                  </a:moveTo>
                  <a:lnTo>
                    <a:pt x="20" y="5"/>
                  </a:lnTo>
                  <a:lnTo>
                    <a:pt x="7" y="4"/>
                  </a:lnTo>
                  <a:lnTo>
                    <a:pt x="2" y="5"/>
                  </a:lnTo>
                  <a:lnTo>
                    <a:pt x="0" y="1"/>
                  </a:lnTo>
                  <a:lnTo>
                    <a:pt x="8" y="0"/>
                  </a:lnTo>
                  <a:lnTo>
                    <a:pt x="26"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3" name="Freeform 111"/>
            <p:cNvSpPr>
              <a:spLocks/>
            </p:cNvSpPr>
            <p:nvPr/>
          </p:nvSpPr>
          <p:spPr bwMode="auto">
            <a:xfrm flipH="1">
              <a:off x="3888" y="2334"/>
              <a:ext cx="2" cy="8"/>
            </a:xfrm>
            <a:custGeom>
              <a:avLst/>
              <a:gdLst>
                <a:gd name="T0" fmla="*/ 0 w 10"/>
                <a:gd name="T1" fmla="*/ 0 h 19"/>
                <a:gd name="T2" fmla="*/ 0 w 10"/>
                <a:gd name="T3" fmla="*/ 0 h 19"/>
                <a:gd name="T4" fmla="*/ 0 w 10"/>
                <a:gd name="T5" fmla="*/ 0 h 19"/>
                <a:gd name="T6" fmla="*/ 0 w 10"/>
                <a:gd name="T7" fmla="*/ 0 h 19"/>
                <a:gd name="T8" fmla="*/ 0 w 10"/>
                <a:gd name="T9" fmla="*/ 0 h 19"/>
                <a:gd name="T10" fmla="*/ 0 w 10"/>
                <a:gd name="T11" fmla="*/ 0 h 19"/>
                <a:gd name="T12" fmla="*/ 0 w 10"/>
                <a:gd name="T13" fmla="*/ 0 h 1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0" h="19">
                  <a:moveTo>
                    <a:pt x="10" y="0"/>
                  </a:moveTo>
                  <a:lnTo>
                    <a:pt x="3" y="5"/>
                  </a:lnTo>
                  <a:lnTo>
                    <a:pt x="3" y="10"/>
                  </a:lnTo>
                  <a:lnTo>
                    <a:pt x="2" y="19"/>
                  </a:lnTo>
                  <a:lnTo>
                    <a:pt x="0" y="7"/>
                  </a:lnTo>
                  <a:lnTo>
                    <a:pt x="0" y="1"/>
                  </a:lnTo>
                  <a:lnTo>
                    <a:pt x="1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4" name="Freeform 112"/>
            <p:cNvSpPr>
              <a:spLocks/>
            </p:cNvSpPr>
            <p:nvPr/>
          </p:nvSpPr>
          <p:spPr bwMode="auto">
            <a:xfrm flipH="1">
              <a:off x="3893" y="2312"/>
              <a:ext cx="5" cy="15"/>
            </a:xfrm>
            <a:custGeom>
              <a:avLst/>
              <a:gdLst>
                <a:gd name="T0" fmla="*/ 0 w 11"/>
                <a:gd name="T1" fmla="*/ 0 h 38"/>
                <a:gd name="T2" fmla="*/ 0 w 11"/>
                <a:gd name="T3" fmla="*/ 0 h 38"/>
                <a:gd name="T4" fmla="*/ 0 w 11"/>
                <a:gd name="T5" fmla="*/ 0 h 38"/>
                <a:gd name="T6" fmla="*/ 0 w 11"/>
                <a:gd name="T7" fmla="*/ 0 h 38"/>
                <a:gd name="T8" fmla="*/ 0 w 11"/>
                <a:gd name="T9" fmla="*/ 0 h 3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 h="38">
                  <a:moveTo>
                    <a:pt x="0" y="0"/>
                  </a:moveTo>
                  <a:lnTo>
                    <a:pt x="8" y="22"/>
                  </a:lnTo>
                  <a:lnTo>
                    <a:pt x="11" y="38"/>
                  </a:lnTo>
                  <a:lnTo>
                    <a:pt x="5" y="28"/>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5" name="Freeform 113"/>
            <p:cNvSpPr>
              <a:spLocks/>
            </p:cNvSpPr>
            <p:nvPr/>
          </p:nvSpPr>
          <p:spPr bwMode="auto">
            <a:xfrm flipH="1">
              <a:off x="3898" y="2300"/>
              <a:ext cx="17" cy="10"/>
            </a:xfrm>
            <a:custGeom>
              <a:avLst/>
              <a:gdLst>
                <a:gd name="T0" fmla="*/ 0 w 50"/>
                <a:gd name="T1" fmla="*/ 0 h 32"/>
                <a:gd name="T2" fmla="*/ 0 w 50"/>
                <a:gd name="T3" fmla="*/ 0 h 32"/>
                <a:gd name="T4" fmla="*/ 0 w 50"/>
                <a:gd name="T5" fmla="*/ 0 h 32"/>
                <a:gd name="T6" fmla="*/ 0 w 50"/>
                <a:gd name="T7" fmla="*/ 0 h 32"/>
                <a:gd name="T8" fmla="*/ 0 w 50"/>
                <a:gd name="T9" fmla="*/ 0 h 32"/>
                <a:gd name="T10" fmla="*/ 0 w 50"/>
                <a:gd name="T11" fmla="*/ 0 h 32"/>
                <a:gd name="T12" fmla="*/ 0 w 50"/>
                <a:gd name="T13" fmla="*/ 0 h 32"/>
                <a:gd name="T14" fmla="*/ 0 w 50"/>
                <a:gd name="T15" fmla="*/ 0 h 32"/>
                <a:gd name="T16" fmla="*/ 0 w 50"/>
                <a:gd name="T17" fmla="*/ 0 h 32"/>
                <a:gd name="T18" fmla="*/ 0 w 50"/>
                <a:gd name="T19" fmla="*/ 0 h 32"/>
                <a:gd name="T20" fmla="*/ 0 w 50"/>
                <a:gd name="T21" fmla="*/ 0 h 32"/>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50" h="32">
                  <a:moveTo>
                    <a:pt x="50" y="0"/>
                  </a:moveTo>
                  <a:lnTo>
                    <a:pt x="39" y="18"/>
                  </a:lnTo>
                  <a:lnTo>
                    <a:pt x="41" y="23"/>
                  </a:lnTo>
                  <a:lnTo>
                    <a:pt x="41" y="26"/>
                  </a:lnTo>
                  <a:lnTo>
                    <a:pt x="44" y="32"/>
                  </a:lnTo>
                  <a:lnTo>
                    <a:pt x="37" y="22"/>
                  </a:lnTo>
                  <a:lnTo>
                    <a:pt x="28" y="22"/>
                  </a:lnTo>
                  <a:lnTo>
                    <a:pt x="17" y="18"/>
                  </a:lnTo>
                  <a:lnTo>
                    <a:pt x="0" y="17"/>
                  </a:lnTo>
                  <a:lnTo>
                    <a:pt x="17" y="6"/>
                  </a:lnTo>
                  <a:lnTo>
                    <a:pt x="5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Freeform 114"/>
            <p:cNvSpPr>
              <a:spLocks/>
            </p:cNvSpPr>
            <p:nvPr/>
          </p:nvSpPr>
          <p:spPr bwMode="auto">
            <a:xfrm flipH="1">
              <a:off x="3893" y="2283"/>
              <a:ext cx="30" cy="10"/>
            </a:xfrm>
            <a:custGeom>
              <a:avLst/>
              <a:gdLst>
                <a:gd name="T0" fmla="*/ 0 w 86"/>
                <a:gd name="T1" fmla="*/ 0 h 31"/>
                <a:gd name="T2" fmla="*/ 0 w 86"/>
                <a:gd name="T3" fmla="*/ 0 h 31"/>
                <a:gd name="T4" fmla="*/ 0 w 86"/>
                <a:gd name="T5" fmla="*/ 0 h 31"/>
                <a:gd name="T6" fmla="*/ 0 w 86"/>
                <a:gd name="T7" fmla="*/ 0 h 31"/>
                <a:gd name="T8" fmla="*/ 0 w 86"/>
                <a:gd name="T9" fmla="*/ 0 h 31"/>
                <a:gd name="T10" fmla="*/ 0 w 86"/>
                <a:gd name="T11" fmla="*/ 0 h 31"/>
                <a:gd name="T12" fmla="*/ 0 w 86"/>
                <a:gd name="T13" fmla="*/ 0 h 31"/>
                <a:gd name="T14" fmla="*/ 0 w 86"/>
                <a:gd name="T15" fmla="*/ 0 h 31"/>
                <a:gd name="T16" fmla="*/ 0 w 86"/>
                <a:gd name="T17" fmla="*/ 0 h 31"/>
                <a:gd name="T18" fmla="*/ 0 w 86"/>
                <a:gd name="T19" fmla="*/ 0 h 31"/>
                <a:gd name="T20" fmla="*/ 0 w 86"/>
                <a:gd name="T21" fmla="*/ 0 h 31"/>
                <a:gd name="T22" fmla="*/ 0 w 86"/>
                <a:gd name="T23" fmla="*/ 0 h 31"/>
                <a:gd name="T24" fmla="*/ 0 w 86"/>
                <a:gd name="T25" fmla="*/ 0 h 31"/>
                <a:gd name="T26" fmla="*/ 0 w 86"/>
                <a:gd name="T27" fmla="*/ 0 h 31"/>
                <a:gd name="T28" fmla="*/ 0 w 86"/>
                <a:gd name="T29" fmla="*/ 0 h 3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86" h="31">
                  <a:moveTo>
                    <a:pt x="86" y="15"/>
                  </a:moveTo>
                  <a:lnTo>
                    <a:pt x="82" y="27"/>
                  </a:lnTo>
                  <a:lnTo>
                    <a:pt x="73" y="31"/>
                  </a:lnTo>
                  <a:lnTo>
                    <a:pt x="59" y="22"/>
                  </a:lnTo>
                  <a:lnTo>
                    <a:pt x="42" y="15"/>
                  </a:lnTo>
                  <a:lnTo>
                    <a:pt x="14" y="15"/>
                  </a:lnTo>
                  <a:lnTo>
                    <a:pt x="0" y="16"/>
                  </a:lnTo>
                  <a:lnTo>
                    <a:pt x="22" y="8"/>
                  </a:lnTo>
                  <a:lnTo>
                    <a:pt x="37" y="4"/>
                  </a:lnTo>
                  <a:lnTo>
                    <a:pt x="35" y="0"/>
                  </a:lnTo>
                  <a:lnTo>
                    <a:pt x="50" y="6"/>
                  </a:lnTo>
                  <a:lnTo>
                    <a:pt x="48" y="2"/>
                  </a:lnTo>
                  <a:lnTo>
                    <a:pt x="60" y="8"/>
                  </a:lnTo>
                  <a:lnTo>
                    <a:pt x="71" y="8"/>
                  </a:lnTo>
                  <a:lnTo>
                    <a:pt x="86" y="1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Freeform 115"/>
            <p:cNvSpPr>
              <a:spLocks/>
            </p:cNvSpPr>
            <p:nvPr/>
          </p:nvSpPr>
          <p:spPr bwMode="auto">
            <a:xfrm flipH="1">
              <a:off x="3963" y="2298"/>
              <a:ext cx="17" cy="34"/>
            </a:xfrm>
            <a:custGeom>
              <a:avLst/>
              <a:gdLst>
                <a:gd name="T0" fmla="*/ 0 w 49"/>
                <a:gd name="T1" fmla="*/ 0 h 101"/>
                <a:gd name="T2" fmla="*/ 0 w 49"/>
                <a:gd name="T3" fmla="*/ 0 h 101"/>
                <a:gd name="T4" fmla="*/ 0 w 49"/>
                <a:gd name="T5" fmla="*/ 0 h 101"/>
                <a:gd name="T6" fmla="*/ 0 w 49"/>
                <a:gd name="T7" fmla="*/ 0 h 101"/>
                <a:gd name="T8" fmla="*/ 0 w 49"/>
                <a:gd name="T9" fmla="*/ 0 h 101"/>
                <a:gd name="T10" fmla="*/ 0 w 49"/>
                <a:gd name="T11" fmla="*/ 0 h 101"/>
                <a:gd name="T12" fmla="*/ 0 w 49"/>
                <a:gd name="T13" fmla="*/ 0 h 101"/>
                <a:gd name="T14" fmla="*/ 0 w 49"/>
                <a:gd name="T15" fmla="*/ 0 h 101"/>
                <a:gd name="T16" fmla="*/ 0 w 49"/>
                <a:gd name="T17" fmla="*/ 0 h 101"/>
                <a:gd name="T18" fmla="*/ 0 w 49"/>
                <a:gd name="T19" fmla="*/ 0 h 101"/>
                <a:gd name="T20" fmla="*/ 0 w 49"/>
                <a:gd name="T21" fmla="*/ 0 h 101"/>
                <a:gd name="T22" fmla="*/ 0 w 49"/>
                <a:gd name="T23" fmla="*/ 0 h 101"/>
                <a:gd name="T24" fmla="*/ 0 w 49"/>
                <a:gd name="T25" fmla="*/ 0 h 101"/>
                <a:gd name="T26" fmla="*/ 0 w 49"/>
                <a:gd name="T27" fmla="*/ 0 h 101"/>
                <a:gd name="T28" fmla="*/ 0 w 49"/>
                <a:gd name="T29" fmla="*/ 0 h 101"/>
                <a:gd name="T30" fmla="*/ 0 w 49"/>
                <a:gd name="T31" fmla="*/ 0 h 101"/>
                <a:gd name="T32" fmla="*/ 0 w 49"/>
                <a:gd name="T33" fmla="*/ 0 h 101"/>
                <a:gd name="T34" fmla="*/ 0 w 49"/>
                <a:gd name="T35" fmla="*/ 0 h 101"/>
                <a:gd name="T36" fmla="*/ 0 w 49"/>
                <a:gd name="T37" fmla="*/ 0 h 101"/>
                <a:gd name="T38" fmla="*/ 0 w 49"/>
                <a:gd name="T39" fmla="*/ 0 h 101"/>
                <a:gd name="T40" fmla="*/ 0 w 49"/>
                <a:gd name="T41" fmla="*/ 0 h 101"/>
                <a:gd name="T42" fmla="*/ 0 w 49"/>
                <a:gd name="T43" fmla="*/ 0 h 101"/>
                <a:gd name="T44" fmla="*/ 0 w 49"/>
                <a:gd name="T45" fmla="*/ 0 h 101"/>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49" h="101">
                  <a:moveTo>
                    <a:pt x="49" y="19"/>
                  </a:moveTo>
                  <a:lnTo>
                    <a:pt x="34" y="7"/>
                  </a:lnTo>
                  <a:lnTo>
                    <a:pt x="16" y="10"/>
                  </a:lnTo>
                  <a:lnTo>
                    <a:pt x="7" y="27"/>
                  </a:lnTo>
                  <a:lnTo>
                    <a:pt x="5" y="50"/>
                  </a:lnTo>
                  <a:lnTo>
                    <a:pt x="7" y="68"/>
                  </a:lnTo>
                  <a:lnTo>
                    <a:pt x="13" y="82"/>
                  </a:lnTo>
                  <a:lnTo>
                    <a:pt x="21" y="59"/>
                  </a:lnTo>
                  <a:lnTo>
                    <a:pt x="30" y="47"/>
                  </a:lnTo>
                  <a:lnTo>
                    <a:pt x="46" y="38"/>
                  </a:lnTo>
                  <a:lnTo>
                    <a:pt x="33" y="56"/>
                  </a:lnTo>
                  <a:lnTo>
                    <a:pt x="19" y="72"/>
                  </a:lnTo>
                  <a:lnTo>
                    <a:pt x="18" y="86"/>
                  </a:lnTo>
                  <a:lnTo>
                    <a:pt x="24" y="99"/>
                  </a:lnTo>
                  <a:lnTo>
                    <a:pt x="32" y="101"/>
                  </a:lnTo>
                  <a:lnTo>
                    <a:pt x="12" y="96"/>
                  </a:lnTo>
                  <a:lnTo>
                    <a:pt x="1" y="75"/>
                  </a:lnTo>
                  <a:lnTo>
                    <a:pt x="0" y="47"/>
                  </a:lnTo>
                  <a:lnTo>
                    <a:pt x="1" y="22"/>
                  </a:lnTo>
                  <a:lnTo>
                    <a:pt x="13" y="5"/>
                  </a:lnTo>
                  <a:lnTo>
                    <a:pt x="28" y="0"/>
                  </a:lnTo>
                  <a:lnTo>
                    <a:pt x="42" y="3"/>
                  </a:lnTo>
                  <a:lnTo>
                    <a:pt x="49" y="19"/>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Freeform 116"/>
            <p:cNvSpPr>
              <a:spLocks/>
            </p:cNvSpPr>
            <p:nvPr/>
          </p:nvSpPr>
          <p:spPr bwMode="auto">
            <a:xfrm flipH="1">
              <a:off x="3958" y="2293"/>
              <a:ext cx="27" cy="46"/>
            </a:xfrm>
            <a:custGeom>
              <a:avLst/>
              <a:gdLst>
                <a:gd name="T0" fmla="*/ 0 w 82"/>
                <a:gd name="T1" fmla="*/ 0 h 137"/>
                <a:gd name="T2" fmla="*/ 0 w 82"/>
                <a:gd name="T3" fmla="*/ 0 h 137"/>
                <a:gd name="T4" fmla="*/ 0 w 82"/>
                <a:gd name="T5" fmla="*/ 0 h 137"/>
                <a:gd name="T6" fmla="*/ 0 w 82"/>
                <a:gd name="T7" fmla="*/ 0 h 137"/>
                <a:gd name="T8" fmla="*/ 0 w 82"/>
                <a:gd name="T9" fmla="*/ 0 h 137"/>
                <a:gd name="T10" fmla="*/ 0 w 82"/>
                <a:gd name="T11" fmla="*/ 0 h 137"/>
                <a:gd name="T12" fmla="*/ 0 w 82"/>
                <a:gd name="T13" fmla="*/ 0 h 137"/>
                <a:gd name="T14" fmla="*/ 0 w 82"/>
                <a:gd name="T15" fmla="*/ 0 h 137"/>
                <a:gd name="T16" fmla="*/ 0 w 82"/>
                <a:gd name="T17" fmla="*/ 0 h 137"/>
                <a:gd name="T18" fmla="*/ 0 w 82"/>
                <a:gd name="T19" fmla="*/ 0 h 137"/>
                <a:gd name="T20" fmla="*/ 0 w 82"/>
                <a:gd name="T21" fmla="*/ 0 h 137"/>
                <a:gd name="T22" fmla="*/ 0 w 82"/>
                <a:gd name="T23" fmla="*/ 0 h 137"/>
                <a:gd name="T24" fmla="*/ 0 w 82"/>
                <a:gd name="T25" fmla="*/ 0 h 137"/>
                <a:gd name="T26" fmla="*/ 0 w 82"/>
                <a:gd name="T27" fmla="*/ 0 h 137"/>
                <a:gd name="T28" fmla="*/ 0 w 82"/>
                <a:gd name="T29" fmla="*/ 0 h 137"/>
                <a:gd name="T30" fmla="*/ 0 w 82"/>
                <a:gd name="T31" fmla="*/ 0 h 137"/>
                <a:gd name="T32" fmla="*/ 0 w 82"/>
                <a:gd name="T33" fmla="*/ 0 h 137"/>
                <a:gd name="T34" fmla="*/ 0 w 82"/>
                <a:gd name="T35" fmla="*/ 0 h 137"/>
                <a:gd name="T36" fmla="*/ 0 w 82"/>
                <a:gd name="T37" fmla="*/ 0 h 137"/>
                <a:gd name="T38" fmla="*/ 0 w 82"/>
                <a:gd name="T39" fmla="*/ 0 h 137"/>
                <a:gd name="T40" fmla="*/ 0 w 82"/>
                <a:gd name="T41" fmla="*/ 0 h 137"/>
                <a:gd name="T42" fmla="*/ 0 w 82"/>
                <a:gd name="T43" fmla="*/ 0 h 137"/>
                <a:gd name="T44" fmla="*/ 0 w 82"/>
                <a:gd name="T45" fmla="*/ 0 h 137"/>
                <a:gd name="T46" fmla="*/ 0 w 82"/>
                <a:gd name="T47" fmla="*/ 0 h 137"/>
                <a:gd name="T48" fmla="*/ 0 w 82"/>
                <a:gd name="T49" fmla="*/ 0 h 137"/>
                <a:gd name="T50" fmla="*/ 0 w 82"/>
                <a:gd name="T51" fmla="*/ 0 h 137"/>
                <a:gd name="T52" fmla="*/ 0 w 82"/>
                <a:gd name="T53" fmla="*/ 0 h 137"/>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82" h="137">
                  <a:moveTo>
                    <a:pt x="82" y="33"/>
                  </a:moveTo>
                  <a:lnTo>
                    <a:pt x="68" y="11"/>
                  </a:lnTo>
                  <a:lnTo>
                    <a:pt x="48" y="6"/>
                  </a:lnTo>
                  <a:lnTo>
                    <a:pt x="22" y="10"/>
                  </a:lnTo>
                  <a:lnTo>
                    <a:pt x="12" y="22"/>
                  </a:lnTo>
                  <a:lnTo>
                    <a:pt x="6" y="43"/>
                  </a:lnTo>
                  <a:lnTo>
                    <a:pt x="6" y="59"/>
                  </a:lnTo>
                  <a:lnTo>
                    <a:pt x="10" y="70"/>
                  </a:lnTo>
                  <a:lnTo>
                    <a:pt x="10" y="88"/>
                  </a:lnTo>
                  <a:lnTo>
                    <a:pt x="13" y="107"/>
                  </a:lnTo>
                  <a:lnTo>
                    <a:pt x="31" y="127"/>
                  </a:lnTo>
                  <a:lnTo>
                    <a:pt x="42" y="127"/>
                  </a:lnTo>
                  <a:lnTo>
                    <a:pt x="56" y="127"/>
                  </a:lnTo>
                  <a:lnTo>
                    <a:pt x="56" y="129"/>
                  </a:lnTo>
                  <a:lnTo>
                    <a:pt x="46" y="137"/>
                  </a:lnTo>
                  <a:lnTo>
                    <a:pt x="33" y="135"/>
                  </a:lnTo>
                  <a:lnTo>
                    <a:pt x="18" y="129"/>
                  </a:lnTo>
                  <a:lnTo>
                    <a:pt x="5" y="108"/>
                  </a:lnTo>
                  <a:lnTo>
                    <a:pt x="4" y="76"/>
                  </a:lnTo>
                  <a:lnTo>
                    <a:pt x="0" y="55"/>
                  </a:lnTo>
                  <a:lnTo>
                    <a:pt x="0" y="36"/>
                  </a:lnTo>
                  <a:lnTo>
                    <a:pt x="8" y="20"/>
                  </a:lnTo>
                  <a:lnTo>
                    <a:pt x="16" y="6"/>
                  </a:lnTo>
                  <a:lnTo>
                    <a:pt x="38" y="0"/>
                  </a:lnTo>
                  <a:lnTo>
                    <a:pt x="68" y="4"/>
                  </a:lnTo>
                  <a:lnTo>
                    <a:pt x="80" y="11"/>
                  </a:lnTo>
                  <a:lnTo>
                    <a:pt x="82" y="3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117"/>
            <p:cNvSpPr>
              <a:spLocks/>
            </p:cNvSpPr>
            <p:nvPr/>
          </p:nvSpPr>
          <p:spPr bwMode="auto">
            <a:xfrm flipH="1">
              <a:off x="3943" y="2344"/>
              <a:ext cx="25" cy="39"/>
            </a:xfrm>
            <a:custGeom>
              <a:avLst/>
              <a:gdLst>
                <a:gd name="T0" fmla="*/ 0 w 74"/>
                <a:gd name="T1" fmla="*/ 0 h 115"/>
                <a:gd name="T2" fmla="*/ 0 w 74"/>
                <a:gd name="T3" fmla="*/ 0 h 115"/>
                <a:gd name="T4" fmla="*/ 0 w 74"/>
                <a:gd name="T5" fmla="*/ 0 h 115"/>
                <a:gd name="T6" fmla="*/ 0 w 74"/>
                <a:gd name="T7" fmla="*/ 0 h 115"/>
                <a:gd name="T8" fmla="*/ 0 w 74"/>
                <a:gd name="T9" fmla="*/ 0 h 115"/>
                <a:gd name="T10" fmla="*/ 0 w 74"/>
                <a:gd name="T11" fmla="*/ 0 h 115"/>
                <a:gd name="T12" fmla="*/ 0 w 74"/>
                <a:gd name="T13" fmla="*/ 0 h 115"/>
                <a:gd name="T14" fmla="*/ 0 w 74"/>
                <a:gd name="T15" fmla="*/ 0 h 115"/>
                <a:gd name="T16" fmla="*/ 0 w 74"/>
                <a:gd name="T17" fmla="*/ 0 h 115"/>
                <a:gd name="T18" fmla="*/ 0 w 74"/>
                <a:gd name="T19" fmla="*/ 0 h 115"/>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74" h="115">
                  <a:moveTo>
                    <a:pt x="0" y="0"/>
                  </a:moveTo>
                  <a:lnTo>
                    <a:pt x="9" y="25"/>
                  </a:lnTo>
                  <a:lnTo>
                    <a:pt x="24" y="51"/>
                  </a:lnTo>
                  <a:lnTo>
                    <a:pt x="41" y="75"/>
                  </a:lnTo>
                  <a:lnTo>
                    <a:pt x="63" y="105"/>
                  </a:lnTo>
                  <a:lnTo>
                    <a:pt x="74" y="115"/>
                  </a:lnTo>
                  <a:lnTo>
                    <a:pt x="49" y="101"/>
                  </a:lnTo>
                  <a:lnTo>
                    <a:pt x="30" y="74"/>
                  </a:lnTo>
                  <a:lnTo>
                    <a:pt x="11" y="4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118"/>
            <p:cNvSpPr>
              <a:spLocks/>
            </p:cNvSpPr>
            <p:nvPr/>
          </p:nvSpPr>
          <p:spPr bwMode="auto">
            <a:xfrm flipH="1">
              <a:off x="3898" y="2208"/>
              <a:ext cx="152" cy="151"/>
            </a:xfrm>
            <a:custGeom>
              <a:avLst/>
              <a:gdLst>
                <a:gd name="T0" fmla="*/ 1 w 427"/>
                <a:gd name="T1" fmla="*/ 0 h 431"/>
                <a:gd name="T2" fmla="*/ 1 w 427"/>
                <a:gd name="T3" fmla="*/ 0 h 431"/>
                <a:gd name="T4" fmla="*/ 1 w 427"/>
                <a:gd name="T5" fmla="*/ 0 h 431"/>
                <a:gd name="T6" fmla="*/ 0 w 427"/>
                <a:gd name="T7" fmla="*/ 0 h 431"/>
                <a:gd name="T8" fmla="*/ 0 w 427"/>
                <a:gd name="T9" fmla="*/ 0 h 431"/>
                <a:gd name="T10" fmla="*/ 1 w 427"/>
                <a:gd name="T11" fmla="*/ 0 h 431"/>
                <a:gd name="T12" fmla="*/ 1 w 427"/>
                <a:gd name="T13" fmla="*/ 0 h 431"/>
                <a:gd name="T14" fmla="*/ 1 w 427"/>
                <a:gd name="T15" fmla="*/ 0 h 431"/>
                <a:gd name="T16" fmla="*/ 1 w 427"/>
                <a:gd name="T17" fmla="*/ 1 h 431"/>
                <a:gd name="T18" fmla="*/ 0 w 427"/>
                <a:gd name="T19" fmla="*/ 1 h 431"/>
                <a:gd name="T20" fmla="*/ 0 w 427"/>
                <a:gd name="T21" fmla="*/ 0 h 431"/>
                <a:gd name="T22" fmla="*/ 0 w 427"/>
                <a:gd name="T23" fmla="*/ 0 h 431"/>
                <a:gd name="T24" fmla="*/ 0 w 427"/>
                <a:gd name="T25" fmla="*/ 0 h 431"/>
                <a:gd name="T26" fmla="*/ 0 w 427"/>
                <a:gd name="T27" fmla="*/ 0 h 431"/>
                <a:gd name="T28" fmla="*/ 0 w 427"/>
                <a:gd name="T29" fmla="*/ 0 h 431"/>
                <a:gd name="T30" fmla="*/ 0 w 427"/>
                <a:gd name="T31" fmla="*/ 1 h 431"/>
                <a:gd name="T32" fmla="*/ 0 w 427"/>
                <a:gd name="T33" fmla="*/ 1 h 431"/>
                <a:gd name="T34" fmla="*/ 0 w 427"/>
                <a:gd name="T35" fmla="*/ 1 h 431"/>
                <a:gd name="T36" fmla="*/ 0 w 427"/>
                <a:gd name="T37" fmla="*/ 1 h 431"/>
                <a:gd name="T38" fmla="*/ 0 w 427"/>
                <a:gd name="T39" fmla="*/ 1 h 431"/>
                <a:gd name="T40" fmla="*/ 0 w 427"/>
                <a:gd name="T41" fmla="*/ 1 h 431"/>
                <a:gd name="T42" fmla="*/ 0 w 427"/>
                <a:gd name="T43" fmla="*/ 1 h 431"/>
                <a:gd name="T44" fmla="*/ 0 w 427"/>
                <a:gd name="T45" fmla="*/ 1 h 431"/>
                <a:gd name="T46" fmla="*/ 0 w 427"/>
                <a:gd name="T47" fmla="*/ 1 h 431"/>
                <a:gd name="T48" fmla="*/ 0 w 427"/>
                <a:gd name="T49" fmla="*/ 0 h 431"/>
                <a:gd name="T50" fmla="*/ 0 w 427"/>
                <a:gd name="T51" fmla="*/ 0 h 431"/>
                <a:gd name="T52" fmla="*/ 0 w 427"/>
                <a:gd name="T53" fmla="*/ 0 h 431"/>
                <a:gd name="T54" fmla="*/ 0 w 427"/>
                <a:gd name="T55" fmla="*/ 0 h 431"/>
                <a:gd name="T56" fmla="*/ 0 w 427"/>
                <a:gd name="T57" fmla="*/ 0 h 431"/>
                <a:gd name="T58" fmla="*/ 0 w 427"/>
                <a:gd name="T59" fmla="*/ 0 h 431"/>
                <a:gd name="T60" fmla="*/ 0 w 427"/>
                <a:gd name="T61" fmla="*/ 0 h 431"/>
                <a:gd name="T62" fmla="*/ 0 w 427"/>
                <a:gd name="T63" fmla="*/ 0 h 431"/>
                <a:gd name="T64" fmla="*/ 1 w 427"/>
                <a:gd name="T65" fmla="*/ 0 h 431"/>
                <a:gd name="T66" fmla="*/ 1 w 427"/>
                <a:gd name="T67" fmla="*/ 0 h 431"/>
                <a:gd name="T68" fmla="*/ 1 w 427"/>
                <a:gd name="T69" fmla="*/ 0 h 431"/>
                <a:gd name="T70" fmla="*/ 1 w 427"/>
                <a:gd name="T71" fmla="*/ 0 h 431"/>
                <a:gd name="T72" fmla="*/ 1 w 427"/>
                <a:gd name="T73" fmla="*/ 0 h 431"/>
                <a:gd name="T74" fmla="*/ 1 w 427"/>
                <a:gd name="T75" fmla="*/ 0 h 431"/>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427" h="431">
                  <a:moveTo>
                    <a:pt x="393" y="124"/>
                  </a:moveTo>
                  <a:lnTo>
                    <a:pt x="328" y="114"/>
                  </a:lnTo>
                  <a:lnTo>
                    <a:pt x="285" y="120"/>
                  </a:lnTo>
                  <a:lnTo>
                    <a:pt x="259" y="150"/>
                  </a:lnTo>
                  <a:lnTo>
                    <a:pt x="275" y="187"/>
                  </a:lnTo>
                  <a:lnTo>
                    <a:pt x="295" y="201"/>
                  </a:lnTo>
                  <a:lnTo>
                    <a:pt x="301" y="235"/>
                  </a:lnTo>
                  <a:lnTo>
                    <a:pt x="289" y="258"/>
                  </a:lnTo>
                  <a:lnTo>
                    <a:pt x="299" y="292"/>
                  </a:lnTo>
                  <a:lnTo>
                    <a:pt x="273" y="292"/>
                  </a:lnTo>
                  <a:lnTo>
                    <a:pt x="266" y="253"/>
                  </a:lnTo>
                  <a:lnTo>
                    <a:pt x="249" y="235"/>
                  </a:lnTo>
                  <a:lnTo>
                    <a:pt x="217" y="235"/>
                  </a:lnTo>
                  <a:lnTo>
                    <a:pt x="186" y="244"/>
                  </a:lnTo>
                  <a:lnTo>
                    <a:pt x="176" y="270"/>
                  </a:lnTo>
                  <a:lnTo>
                    <a:pt x="172" y="306"/>
                  </a:lnTo>
                  <a:lnTo>
                    <a:pt x="176" y="332"/>
                  </a:lnTo>
                  <a:lnTo>
                    <a:pt x="176" y="351"/>
                  </a:lnTo>
                  <a:lnTo>
                    <a:pt x="174" y="374"/>
                  </a:lnTo>
                  <a:lnTo>
                    <a:pt x="154" y="394"/>
                  </a:lnTo>
                  <a:lnTo>
                    <a:pt x="139" y="406"/>
                  </a:lnTo>
                  <a:lnTo>
                    <a:pt x="103" y="431"/>
                  </a:lnTo>
                  <a:lnTo>
                    <a:pt x="33" y="358"/>
                  </a:lnTo>
                  <a:lnTo>
                    <a:pt x="12" y="300"/>
                  </a:lnTo>
                  <a:lnTo>
                    <a:pt x="4" y="206"/>
                  </a:lnTo>
                  <a:lnTo>
                    <a:pt x="0" y="138"/>
                  </a:lnTo>
                  <a:lnTo>
                    <a:pt x="8" y="74"/>
                  </a:lnTo>
                  <a:lnTo>
                    <a:pt x="27" y="38"/>
                  </a:lnTo>
                  <a:lnTo>
                    <a:pt x="69" y="13"/>
                  </a:lnTo>
                  <a:lnTo>
                    <a:pt x="108" y="6"/>
                  </a:lnTo>
                  <a:lnTo>
                    <a:pt x="182" y="0"/>
                  </a:lnTo>
                  <a:lnTo>
                    <a:pt x="255" y="4"/>
                  </a:lnTo>
                  <a:lnTo>
                    <a:pt x="345" y="19"/>
                  </a:lnTo>
                  <a:lnTo>
                    <a:pt x="386" y="40"/>
                  </a:lnTo>
                  <a:lnTo>
                    <a:pt x="406" y="60"/>
                  </a:lnTo>
                  <a:lnTo>
                    <a:pt x="427" y="91"/>
                  </a:lnTo>
                  <a:lnTo>
                    <a:pt x="423" y="107"/>
                  </a:lnTo>
                  <a:lnTo>
                    <a:pt x="393" y="124"/>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119"/>
            <p:cNvSpPr>
              <a:spLocks/>
            </p:cNvSpPr>
            <p:nvPr/>
          </p:nvSpPr>
          <p:spPr bwMode="auto">
            <a:xfrm flipH="1">
              <a:off x="3903" y="2210"/>
              <a:ext cx="145" cy="144"/>
            </a:xfrm>
            <a:custGeom>
              <a:avLst/>
              <a:gdLst>
                <a:gd name="T0" fmla="*/ 1 w 405"/>
                <a:gd name="T1" fmla="*/ 0 h 413"/>
                <a:gd name="T2" fmla="*/ 1 w 405"/>
                <a:gd name="T3" fmla="*/ 0 h 413"/>
                <a:gd name="T4" fmla="*/ 1 w 405"/>
                <a:gd name="T5" fmla="*/ 0 h 413"/>
                <a:gd name="T6" fmla="*/ 0 w 405"/>
                <a:gd name="T7" fmla="*/ 0 h 413"/>
                <a:gd name="T8" fmla="*/ 0 w 405"/>
                <a:gd name="T9" fmla="*/ 0 h 413"/>
                <a:gd name="T10" fmla="*/ 0 w 405"/>
                <a:gd name="T11" fmla="*/ 0 h 413"/>
                <a:gd name="T12" fmla="*/ 0 w 405"/>
                <a:gd name="T13" fmla="*/ 0 h 413"/>
                <a:gd name="T14" fmla="*/ 0 w 405"/>
                <a:gd name="T15" fmla="*/ 0 h 413"/>
                <a:gd name="T16" fmla="*/ 0 w 405"/>
                <a:gd name="T17" fmla="*/ 0 h 413"/>
                <a:gd name="T18" fmla="*/ 0 w 405"/>
                <a:gd name="T19" fmla="*/ 0 h 413"/>
                <a:gd name="T20" fmla="*/ 0 w 405"/>
                <a:gd name="T21" fmla="*/ 0 h 413"/>
                <a:gd name="T22" fmla="*/ 0 w 405"/>
                <a:gd name="T23" fmla="*/ 0 h 413"/>
                <a:gd name="T24" fmla="*/ 1 w 405"/>
                <a:gd name="T25" fmla="*/ 0 h 413"/>
                <a:gd name="T26" fmla="*/ 0 w 405"/>
                <a:gd name="T27" fmla="*/ 0 h 413"/>
                <a:gd name="T28" fmla="*/ 1 w 405"/>
                <a:gd name="T29" fmla="*/ 0 h 413"/>
                <a:gd name="T30" fmla="*/ 0 w 405"/>
                <a:gd name="T31" fmla="*/ 0 h 413"/>
                <a:gd name="T32" fmla="*/ 0 w 405"/>
                <a:gd name="T33" fmla="*/ 0 h 413"/>
                <a:gd name="T34" fmla="*/ 0 w 405"/>
                <a:gd name="T35" fmla="*/ 0 h 413"/>
                <a:gd name="T36" fmla="*/ 0 w 405"/>
                <a:gd name="T37" fmla="*/ 0 h 413"/>
                <a:gd name="T38" fmla="*/ 0 w 405"/>
                <a:gd name="T39" fmla="*/ 0 h 413"/>
                <a:gd name="T40" fmla="*/ 0 w 405"/>
                <a:gd name="T41" fmla="*/ 0 h 413"/>
                <a:gd name="T42" fmla="*/ 0 w 405"/>
                <a:gd name="T43" fmla="*/ 0 h 413"/>
                <a:gd name="T44" fmla="*/ 0 w 405"/>
                <a:gd name="T45" fmla="*/ 1 h 413"/>
                <a:gd name="T46" fmla="*/ 0 w 405"/>
                <a:gd name="T47" fmla="*/ 1 h 413"/>
                <a:gd name="T48" fmla="*/ 0 w 405"/>
                <a:gd name="T49" fmla="*/ 1 h 413"/>
                <a:gd name="T50" fmla="*/ 0 w 405"/>
                <a:gd name="T51" fmla="*/ 1 h 413"/>
                <a:gd name="T52" fmla="*/ 0 w 405"/>
                <a:gd name="T53" fmla="*/ 1 h 413"/>
                <a:gd name="T54" fmla="*/ 0 w 405"/>
                <a:gd name="T55" fmla="*/ 1 h 413"/>
                <a:gd name="T56" fmla="*/ 0 w 405"/>
                <a:gd name="T57" fmla="*/ 1 h 413"/>
                <a:gd name="T58" fmla="*/ 0 w 405"/>
                <a:gd name="T59" fmla="*/ 1 h 413"/>
                <a:gd name="T60" fmla="*/ 0 w 405"/>
                <a:gd name="T61" fmla="*/ 0 h 413"/>
                <a:gd name="T62" fmla="*/ 0 w 405"/>
                <a:gd name="T63" fmla="*/ 0 h 413"/>
                <a:gd name="T64" fmla="*/ 0 w 405"/>
                <a:gd name="T65" fmla="*/ 0 h 413"/>
                <a:gd name="T66" fmla="*/ 0 w 405"/>
                <a:gd name="T67" fmla="*/ 0 h 413"/>
                <a:gd name="T68" fmla="*/ 0 w 405"/>
                <a:gd name="T69" fmla="*/ 0 h 413"/>
                <a:gd name="T70" fmla="*/ 0 w 405"/>
                <a:gd name="T71" fmla="*/ 0 h 413"/>
                <a:gd name="T72" fmla="*/ 0 w 405"/>
                <a:gd name="T73" fmla="*/ 0 h 413"/>
                <a:gd name="T74" fmla="*/ 0 w 405"/>
                <a:gd name="T75" fmla="*/ 0 h 413"/>
                <a:gd name="T76" fmla="*/ 0 w 405"/>
                <a:gd name="T77" fmla="*/ 0 h 413"/>
                <a:gd name="T78" fmla="*/ 0 w 405"/>
                <a:gd name="T79" fmla="*/ 0 h 413"/>
                <a:gd name="T80" fmla="*/ 0 w 405"/>
                <a:gd name="T81" fmla="*/ 0 h 413"/>
                <a:gd name="T82" fmla="*/ 0 w 405"/>
                <a:gd name="T83" fmla="*/ 0 h 413"/>
                <a:gd name="T84" fmla="*/ 1 w 405"/>
                <a:gd name="T85" fmla="*/ 0 h 413"/>
                <a:gd name="T86" fmla="*/ 1 w 405"/>
                <a:gd name="T87" fmla="*/ 0 h 413"/>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405" h="413">
                  <a:moveTo>
                    <a:pt x="338" y="26"/>
                  </a:moveTo>
                  <a:lnTo>
                    <a:pt x="373" y="40"/>
                  </a:lnTo>
                  <a:lnTo>
                    <a:pt x="389" y="63"/>
                  </a:lnTo>
                  <a:lnTo>
                    <a:pt x="398" y="77"/>
                  </a:lnTo>
                  <a:lnTo>
                    <a:pt x="405" y="88"/>
                  </a:lnTo>
                  <a:lnTo>
                    <a:pt x="396" y="97"/>
                  </a:lnTo>
                  <a:lnTo>
                    <a:pt x="379" y="108"/>
                  </a:lnTo>
                  <a:lnTo>
                    <a:pt x="335" y="101"/>
                  </a:lnTo>
                  <a:lnTo>
                    <a:pt x="303" y="101"/>
                  </a:lnTo>
                  <a:lnTo>
                    <a:pt x="281" y="90"/>
                  </a:lnTo>
                  <a:lnTo>
                    <a:pt x="249" y="83"/>
                  </a:lnTo>
                  <a:lnTo>
                    <a:pt x="220" y="81"/>
                  </a:lnTo>
                  <a:lnTo>
                    <a:pt x="186" y="83"/>
                  </a:lnTo>
                  <a:lnTo>
                    <a:pt x="235" y="88"/>
                  </a:lnTo>
                  <a:lnTo>
                    <a:pt x="260" y="94"/>
                  </a:lnTo>
                  <a:lnTo>
                    <a:pt x="277" y="101"/>
                  </a:lnTo>
                  <a:lnTo>
                    <a:pt x="281" y="104"/>
                  </a:lnTo>
                  <a:lnTo>
                    <a:pt x="269" y="108"/>
                  </a:lnTo>
                  <a:lnTo>
                    <a:pt x="260" y="118"/>
                  </a:lnTo>
                  <a:lnTo>
                    <a:pt x="242" y="108"/>
                  </a:lnTo>
                  <a:lnTo>
                    <a:pt x="228" y="105"/>
                  </a:lnTo>
                  <a:lnTo>
                    <a:pt x="199" y="99"/>
                  </a:lnTo>
                  <a:lnTo>
                    <a:pt x="189" y="99"/>
                  </a:lnTo>
                  <a:lnTo>
                    <a:pt x="219" y="110"/>
                  </a:lnTo>
                  <a:lnTo>
                    <a:pt x="240" y="120"/>
                  </a:lnTo>
                  <a:lnTo>
                    <a:pt x="253" y="128"/>
                  </a:lnTo>
                  <a:lnTo>
                    <a:pt x="242" y="138"/>
                  </a:lnTo>
                  <a:lnTo>
                    <a:pt x="219" y="130"/>
                  </a:lnTo>
                  <a:lnTo>
                    <a:pt x="199" y="126"/>
                  </a:lnTo>
                  <a:lnTo>
                    <a:pt x="235" y="144"/>
                  </a:lnTo>
                  <a:lnTo>
                    <a:pt x="247" y="153"/>
                  </a:lnTo>
                  <a:lnTo>
                    <a:pt x="251" y="170"/>
                  </a:lnTo>
                  <a:lnTo>
                    <a:pt x="258" y="179"/>
                  </a:lnTo>
                  <a:lnTo>
                    <a:pt x="235" y="168"/>
                  </a:lnTo>
                  <a:lnTo>
                    <a:pt x="215" y="165"/>
                  </a:lnTo>
                  <a:lnTo>
                    <a:pt x="182" y="163"/>
                  </a:lnTo>
                  <a:lnTo>
                    <a:pt x="231" y="177"/>
                  </a:lnTo>
                  <a:lnTo>
                    <a:pt x="261" y="189"/>
                  </a:lnTo>
                  <a:lnTo>
                    <a:pt x="281" y="200"/>
                  </a:lnTo>
                  <a:lnTo>
                    <a:pt x="283" y="215"/>
                  </a:lnTo>
                  <a:lnTo>
                    <a:pt x="260" y="204"/>
                  </a:lnTo>
                  <a:lnTo>
                    <a:pt x="226" y="193"/>
                  </a:lnTo>
                  <a:lnTo>
                    <a:pt x="211" y="193"/>
                  </a:lnTo>
                  <a:lnTo>
                    <a:pt x="247" y="205"/>
                  </a:lnTo>
                  <a:lnTo>
                    <a:pt x="275" y="217"/>
                  </a:lnTo>
                  <a:lnTo>
                    <a:pt x="285" y="227"/>
                  </a:lnTo>
                  <a:lnTo>
                    <a:pt x="281" y="238"/>
                  </a:lnTo>
                  <a:lnTo>
                    <a:pt x="260" y="229"/>
                  </a:lnTo>
                  <a:lnTo>
                    <a:pt x="239" y="221"/>
                  </a:lnTo>
                  <a:lnTo>
                    <a:pt x="197" y="219"/>
                  </a:lnTo>
                  <a:lnTo>
                    <a:pt x="180" y="221"/>
                  </a:lnTo>
                  <a:lnTo>
                    <a:pt x="141" y="223"/>
                  </a:lnTo>
                  <a:lnTo>
                    <a:pt x="95" y="217"/>
                  </a:lnTo>
                  <a:lnTo>
                    <a:pt x="122" y="227"/>
                  </a:lnTo>
                  <a:lnTo>
                    <a:pt x="170" y="236"/>
                  </a:lnTo>
                  <a:lnTo>
                    <a:pt x="161" y="252"/>
                  </a:lnTo>
                  <a:lnTo>
                    <a:pt x="125" y="244"/>
                  </a:lnTo>
                  <a:lnTo>
                    <a:pt x="93" y="232"/>
                  </a:lnTo>
                  <a:lnTo>
                    <a:pt x="70" y="221"/>
                  </a:lnTo>
                  <a:lnTo>
                    <a:pt x="112" y="252"/>
                  </a:lnTo>
                  <a:lnTo>
                    <a:pt x="139" y="260"/>
                  </a:lnTo>
                  <a:lnTo>
                    <a:pt x="161" y="267"/>
                  </a:lnTo>
                  <a:lnTo>
                    <a:pt x="159" y="285"/>
                  </a:lnTo>
                  <a:lnTo>
                    <a:pt x="125" y="279"/>
                  </a:lnTo>
                  <a:lnTo>
                    <a:pt x="101" y="271"/>
                  </a:lnTo>
                  <a:lnTo>
                    <a:pt x="116" y="283"/>
                  </a:lnTo>
                  <a:lnTo>
                    <a:pt x="144" y="290"/>
                  </a:lnTo>
                  <a:lnTo>
                    <a:pt x="159" y="292"/>
                  </a:lnTo>
                  <a:lnTo>
                    <a:pt x="159" y="328"/>
                  </a:lnTo>
                  <a:lnTo>
                    <a:pt x="127" y="315"/>
                  </a:lnTo>
                  <a:lnTo>
                    <a:pt x="103" y="306"/>
                  </a:lnTo>
                  <a:lnTo>
                    <a:pt x="129" y="326"/>
                  </a:lnTo>
                  <a:lnTo>
                    <a:pt x="162" y="340"/>
                  </a:lnTo>
                  <a:lnTo>
                    <a:pt x="161" y="356"/>
                  </a:lnTo>
                  <a:lnTo>
                    <a:pt x="142" y="376"/>
                  </a:lnTo>
                  <a:lnTo>
                    <a:pt x="125" y="354"/>
                  </a:lnTo>
                  <a:lnTo>
                    <a:pt x="103" y="328"/>
                  </a:lnTo>
                  <a:lnTo>
                    <a:pt x="89" y="303"/>
                  </a:lnTo>
                  <a:lnTo>
                    <a:pt x="103" y="342"/>
                  </a:lnTo>
                  <a:lnTo>
                    <a:pt x="116" y="356"/>
                  </a:lnTo>
                  <a:lnTo>
                    <a:pt x="139" y="385"/>
                  </a:lnTo>
                  <a:lnTo>
                    <a:pt x="122" y="404"/>
                  </a:lnTo>
                  <a:lnTo>
                    <a:pt x="97" y="381"/>
                  </a:lnTo>
                  <a:lnTo>
                    <a:pt x="79" y="354"/>
                  </a:lnTo>
                  <a:lnTo>
                    <a:pt x="61" y="326"/>
                  </a:lnTo>
                  <a:lnTo>
                    <a:pt x="77" y="368"/>
                  </a:lnTo>
                  <a:lnTo>
                    <a:pt x="93" y="386"/>
                  </a:lnTo>
                  <a:lnTo>
                    <a:pt x="108" y="406"/>
                  </a:lnTo>
                  <a:lnTo>
                    <a:pt x="95" y="413"/>
                  </a:lnTo>
                  <a:lnTo>
                    <a:pt x="61" y="385"/>
                  </a:lnTo>
                  <a:lnTo>
                    <a:pt x="30" y="340"/>
                  </a:lnTo>
                  <a:lnTo>
                    <a:pt x="19" y="306"/>
                  </a:lnTo>
                  <a:lnTo>
                    <a:pt x="10" y="247"/>
                  </a:lnTo>
                  <a:lnTo>
                    <a:pt x="6" y="204"/>
                  </a:lnTo>
                  <a:lnTo>
                    <a:pt x="0" y="153"/>
                  </a:lnTo>
                  <a:lnTo>
                    <a:pt x="35" y="163"/>
                  </a:lnTo>
                  <a:lnTo>
                    <a:pt x="72" y="177"/>
                  </a:lnTo>
                  <a:lnTo>
                    <a:pt x="129" y="191"/>
                  </a:lnTo>
                  <a:lnTo>
                    <a:pt x="79" y="170"/>
                  </a:lnTo>
                  <a:lnTo>
                    <a:pt x="59" y="159"/>
                  </a:lnTo>
                  <a:lnTo>
                    <a:pt x="23" y="146"/>
                  </a:lnTo>
                  <a:lnTo>
                    <a:pt x="4" y="142"/>
                  </a:lnTo>
                  <a:lnTo>
                    <a:pt x="4" y="116"/>
                  </a:lnTo>
                  <a:lnTo>
                    <a:pt x="8" y="83"/>
                  </a:lnTo>
                  <a:lnTo>
                    <a:pt x="54" y="90"/>
                  </a:lnTo>
                  <a:lnTo>
                    <a:pt x="84" y="99"/>
                  </a:lnTo>
                  <a:lnTo>
                    <a:pt x="120" y="116"/>
                  </a:lnTo>
                  <a:lnTo>
                    <a:pt x="87" y="90"/>
                  </a:lnTo>
                  <a:lnTo>
                    <a:pt x="48" y="79"/>
                  </a:lnTo>
                  <a:lnTo>
                    <a:pt x="10" y="70"/>
                  </a:lnTo>
                  <a:lnTo>
                    <a:pt x="19" y="44"/>
                  </a:lnTo>
                  <a:lnTo>
                    <a:pt x="30" y="28"/>
                  </a:lnTo>
                  <a:lnTo>
                    <a:pt x="65" y="18"/>
                  </a:lnTo>
                  <a:lnTo>
                    <a:pt x="99" y="26"/>
                  </a:lnTo>
                  <a:lnTo>
                    <a:pt x="129" y="48"/>
                  </a:lnTo>
                  <a:lnTo>
                    <a:pt x="108" y="23"/>
                  </a:lnTo>
                  <a:lnTo>
                    <a:pt x="77" y="9"/>
                  </a:lnTo>
                  <a:lnTo>
                    <a:pt x="112" y="4"/>
                  </a:lnTo>
                  <a:lnTo>
                    <a:pt x="139" y="2"/>
                  </a:lnTo>
                  <a:lnTo>
                    <a:pt x="176" y="7"/>
                  </a:lnTo>
                  <a:lnTo>
                    <a:pt x="202" y="25"/>
                  </a:lnTo>
                  <a:lnTo>
                    <a:pt x="242" y="32"/>
                  </a:lnTo>
                  <a:lnTo>
                    <a:pt x="215" y="21"/>
                  </a:lnTo>
                  <a:lnTo>
                    <a:pt x="195" y="7"/>
                  </a:lnTo>
                  <a:lnTo>
                    <a:pt x="182" y="0"/>
                  </a:lnTo>
                  <a:lnTo>
                    <a:pt x="222" y="2"/>
                  </a:lnTo>
                  <a:lnTo>
                    <a:pt x="258" y="4"/>
                  </a:lnTo>
                  <a:lnTo>
                    <a:pt x="279" y="13"/>
                  </a:lnTo>
                  <a:lnTo>
                    <a:pt x="300" y="34"/>
                  </a:lnTo>
                  <a:lnTo>
                    <a:pt x="318" y="61"/>
                  </a:lnTo>
                  <a:lnTo>
                    <a:pt x="309" y="30"/>
                  </a:lnTo>
                  <a:lnTo>
                    <a:pt x="287" y="9"/>
                  </a:lnTo>
                  <a:lnTo>
                    <a:pt x="338" y="26"/>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32" name="Group 120"/>
            <p:cNvGrpSpPr>
              <a:grpSpLocks/>
            </p:cNvGrpSpPr>
            <p:nvPr/>
          </p:nvGrpSpPr>
          <p:grpSpPr bwMode="auto">
            <a:xfrm flipH="1">
              <a:off x="3595" y="2572"/>
              <a:ext cx="158" cy="95"/>
              <a:chOff x="2648" y="2214"/>
              <a:chExt cx="63" cy="39"/>
            </a:xfrm>
          </p:grpSpPr>
          <p:sp>
            <p:nvSpPr>
              <p:cNvPr id="54" name="Freeform 121"/>
              <p:cNvSpPr>
                <a:spLocks/>
              </p:cNvSpPr>
              <p:nvPr/>
            </p:nvSpPr>
            <p:spPr bwMode="auto">
              <a:xfrm>
                <a:off x="2648" y="2214"/>
                <a:ext cx="63" cy="39"/>
              </a:xfrm>
              <a:custGeom>
                <a:avLst/>
                <a:gdLst>
                  <a:gd name="T0" fmla="*/ 0 w 443"/>
                  <a:gd name="T1" fmla="*/ 0 h 274"/>
                  <a:gd name="T2" fmla="*/ 0 w 443"/>
                  <a:gd name="T3" fmla="*/ 0 h 274"/>
                  <a:gd name="T4" fmla="*/ 0 w 443"/>
                  <a:gd name="T5" fmla="*/ 0 h 274"/>
                  <a:gd name="T6" fmla="*/ 0 w 443"/>
                  <a:gd name="T7" fmla="*/ 0 h 274"/>
                  <a:gd name="T8" fmla="*/ 0 w 443"/>
                  <a:gd name="T9" fmla="*/ 0 h 274"/>
                  <a:gd name="T10" fmla="*/ 0 w 443"/>
                  <a:gd name="T11" fmla="*/ 0 h 274"/>
                  <a:gd name="T12" fmla="*/ 0 w 443"/>
                  <a:gd name="T13" fmla="*/ 0 h 274"/>
                  <a:gd name="T14" fmla="*/ 0 w 443"/>
                  <a:gd name="T15" fmla="*/ 0 h 274"/>
                  <a:gd name="T16" fmla="*/ 0 w 443"/>
                  <a:gd name="T17" fmla="*/ 0 h 274"/>
                  <a:gd name="T18" fmla="*/ 0 w 443"/>
                  <a:gd name="T19" fmla="*/ 0 h 274"/>
                  <a:gd name="T20" fmla="*/ 0 w 443"/>
                  <a:gd name="T21" fmla="*/ 0 h 274"/>
                  <a:gd name="T22" fmla="*/ 0 w 443"/>
                  <a:gd name="T23" fmla="*/ 0 h 274"/>
                  <a:gd name="T24" fmla="*/ 0 w 443"/>
                  <a:gd name="T25" fmla="*/ 0 h 274"/>
                  <a:gd name="T26" fmla="*/ 0 w 443"/>
                  <a:gd name="T27" fmla="*/ 0 h 274"/>
                  <a:gd name="T28" fmla="*/ 0 w 443"/>
                  <a:gd name="T29" fmla="*/ 0 h 274"/>
                  <a:gd name="T30" fmla="*/ 0 w 443"/>
                  <a:gd name="T31" fmla="*/ 0 h 274"/>
                  <a:gd name="T32" fmla="*/ 0 w 443"/>
                  <a:gd name="T33" fmla="*/ 0 h 274"/>
                  <a:gd name="T34" fmla="*/ 0 w 443"/>
                  <a:gd name="T35" fmla="*/ 0 h 274"/>
                  <a:gd name="T36" fmla="*/ 0 w 443"/>
                  <a:gd name="T37" fmla="*/ 0 h 274"/>
                  <a:gd name="T38" fmla="*/ 0 w 443"/>
                  <a:gd name="T39" fmla="*/ 0 h 274"/>
                  <a:gd name="T40" fmla="*/ 0 w 443"/>
                  <a:gd name="T41" fmla="*/ 0 h 274"/>
                  <a:gd name="T42" fmla="*/ 0 w 443"/>
                  <a:gd name="T43" fmla="*/ 0 h 274"/>
                  <a:gd name="T44" fmla="*/ 0 w 443"/>
                  <a:gd name="T45" fmla="*/ 0 h 274"/>
                  <a:gd name="T46" fmla="*/ 0 w 443"/>
                  <a:gd name="T47" fmla="*/ 0 h 274"/>
                  <a:gd name="T48" fmla="*/ 0 w 443"/>
                  <a:gd name="T49" fmla="*/ 0 h 274"/>
                  <a:gd name="T50" fmla="*/ 0 w 443"/>
                  <a:gd name="T51" fmla="*/ 0 h 274"/>
                  <a:gd name="T52" fmla="*/ 0 w 443"/>
                  <a:gd name="T53" fmla="*/ 0 h 274"/>
                  <a:gd name="T54" fmla="*/ 0 w 443"/>
                  <a:gd name="T55" fmla="*/ 0 h 274"/>
                  <a:gd name="T56" fmla="*/ 0 w 443"/>
                  <a:gd name="T57" fmla="*/ 0 h 274"/>
                  <a:gd name="T58" fmla="*/ 0 w 443"/>
                  <a:gd name="T59" fmla="*/ 0 h 274"/>
                  <a:gd name="T60" fmla="*/ 0 w 443"/>
                  <a:gd name="T61" fmla="*/ 0 h 274"/>
                  <a:gd name="T62" fmla="*/ 0 w 443"/>
                  <a:gd name="T63" fmla="*/ 0 h 274"/>
                  <a:gd name="T64" fmla="*/ 0 w 443"/>
                  <a:gd name="T65" fmla="*/ 0 h 274"/>
                  <a:gd name="T66" fmla="*/ 0 w 443"/>
                  <a:gd name="T67" fmla="*/ 0 h 274"/>
                  <a:gd name="T68" fmla="*/ 0 w 443"/>
                  <a:gd name="T69" fmla="*/ 0 h 274"/>
                  <a:gd name="T70" fmla="*/ 0 w 443"/>
                  <a:gd name="T71" fmla="*/ 0 h 274"/>
                  <a:gd name="T72" fmla="*/ 0 w 443"/>
                  <a:gd name="T73" fmla="*/ 0 h 274"/>
                  <a:gd name="T74" fmla="*/ 0 w 443"/>
                  <a:gd name="T75" fmla="*/ 0 h 274"/>
                  <a:gd name="T76" fmla="*/ 0 w 443"/>
                  <a:gd name="T77" fmla="*/ 0 h 274"/>
                  <a:gd name="T78" fmla="*/ 0 w 443"/>
                  <a:gd name="T79" fmla="*/ 0 h 274"/>
                  <a:gd name="T80" fmla="*/ 0 w 443"/>
                  <a:gd name="T81" fmla="*/ 0 h 274"/>
                  <a:gd name="T82" fmla="*/ 0 w 443"/>
                  <a:gd name="T83" fmla="*/ 0 h 274"/>
                  <a:gd name="T84" fmla="*/ 0 w 443"/>
                  <a:gd name="T85" fmla="*/ 0 h 274"/>
                  <a:gd name="T86" fmla="*/ 0 w 443"/>
                  <a:gd name="T87" fmla="*/ 0 h 274"/>
                  <a:gd name="T88" fmla="*/ 0 w 443"/>
                  <a:gd name="T89" fmla="*/ 0 h 274"/>
                  <a:gd name="T90" fmla="*/ 0 w 443"/>
                  <a:gd name="T91" fmla="*/ 0 h 274"/>
                  <a:gd name="T92" fmla="*/ 0 w 443"/>
                  <a:gd name="T93" fmla="*/ 0 h 274"/>
                  <a:gd name="T94" fmla="*/ 0 w 443"/>
                  <a:gd name="T95" fmla="*/ 0 h 274"/>
                  <a:gd name="T96" fmla="*/ 0 w 443"/>
                  <a:gd name="T97" fmla="*/ 0 h 274"/>
                  <a:gd name="T98" fmla="*/ 0 w 443"/>
                  <a:gd name="T99" fmla="*/ 0 h 274"/>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443" h="274">
                    <a:moveTo>
                      <a:pt x="0" y="163"/>
                    </a:moveTo>
                    <a:lnTo>
                      <a:pt x="55" y="151"/>
                    </a:lnTo>
                    <a:lnTo>
                      <a:pt x="75" y="147"/>
                    </a:lnTo>
                    <a:lnTo>
                      <a:pt x="87" y="135"/>
                    </a:lnTo>
                    <a:lnTo>
                      <a:pt x="100" y="117"/>
                    </a:lnTo>
                    <a:lnTo>
                      <a:pt x="127" y="92"/>
                    </a:lnTo>
                    <a:lnTo>
                      <a:pt x="176" y="51"/>
                    </a:lnTo>
                    <a:lnTo>
                      <a:pt x="184" y="37"/>
                    </a:lnTo>
                    <a:lnTo>
                      <a:pt x="197" y="25"/>
                    </a:lnTo>
                    <a:lnTo>
                      <a:pt x="223" y="21"/>
                    </a:lnTo>
                    <a:lnTo>
                      <a:pt x="300" y="8"/>
                    </a:lnTo>
                    <a:lnTo>
                      <a:pt x="321" y="0"/>
                    </a:lnTo>
                    <a:lnTo>
                      <a:pt x="341" y="10"/>
                    </a:lnTo>
                    <a:lnTo>
                      <a:pt x="351" y="18"/>
                    </a:lnTo>
                    <a:lnTo>
                      <a:pt x="396" y="33"/>
                    </a:lnTo>
                    <a:lnTo>
                      <a:pt x="414" y="40"/>
                    </a:lnTo>
                    <a:lnTo>
                      <a:pt x="420" y="47"/>
                    </a:lnTo>
                    <a:lnTo>
                      <a:pt x="429" y="73"/>
                    </a:lnTo>
                    <a:lnTo>
                      <a:pt x="433" y="86"/>
                    </a:lnTo>
                    <a:lnTo>
                      <a:pt x="437" y="94"/>
                    </a:lnTo>
                    <a:lnTo>
                      <a:pt x="443" y="107"/>
                    </a:lnTo>
                    <a:lnTo>
                      <a:pt x="443" y="116"/>
                    </a:lnTo>
                    <a:lnTo>
                      <a:pt x="434" y="123"/>
                    </a:lnTo>
                    <a:lnTo>
                      <a:pt x="416" y="122"/>
                    </a:lnTo>
                    <a:lnTo>
                      <a:pt x="387" y="109"/>
                    </a:lnTo>
                    <a:lnTo>
                      <a:pt x="351" y="102"/>
                    </a:lnTo>
                    <a:lnTo>
                      <a:pt x="317" y="107"/>
                    </a:lnTo>
                    <a:lnTo>
                      <a:pt x="353" y="115"/>
                    </a:lnTo>
                    <a:lnTo>
                      <a:pt x="376" y="123"/>
                    </a:lnTo>
                    <a:lnTo>
                      <a:pt x="405" y="135"/>
                    </a:lnTo>
                    <a:lnTo>
                      <a:pt x="412" y="145"/>
                    </a:lnTo>
                    <a:lnTo>
                      <a:pt x="412" y="155"/>
                    </a:lnTo>
                    <a:lnTo>
                      <a:pt x="401" y="163"/>
                    </a:lnTo>
                    <a:lnTo>
                      <a:pt x="388" y="161"/>
                    </a:lnTo>
                    <a:lnTo>
                      <a:pt x="349" y="151"/>
                    </a:lnTo>
                    <a:lnTo>
                      <a:pt x="313" y="149"/>
                    </a:lnTo>
                    <a:lnTo>
                      <a:pt x="286" y="151"/>
                    </a:lnTo>
                    <a:lnTo>
                      <a:pt x="270" y="161"/>
                    </a:lnTo>
                    <a:lnTo>
                      <a:pt x="252" y="180"/>
                    </a:lnTo>
                    <a:lnTo>
                      <a:pt x="238" y="200"/>
                    </a:lnTo>
                    <a:lnTo>
                      <a:pt x="224" y="220"/>
                    </a:lnTo>
                    <a:lnTo>
                      <a:pt x="211" y="236"/>
                    </a:lnTo>
                    <a:lnTo>
                      <a:pt x="190" y="251"/>
                    </a:lnTo>
                    <a:lnTo>
                      <a:pt x="170" y="255"/>
                    </a:lnTo>
                    <a:lnTo>
                      <a:pt x="147" y="257"/>
                    </a:lnTo>
                    <a:lnTo>
                      <a:pt x="121" y="255"/>
                    </a:lnTo>
                    <a:lnTo>
                      <a:pt x="100" y="253"/>
                    </a:lnTo>
                    <a:lnTo>
                      <a:pt x="73" y="260"/>
                    </a:lnTo>
                    <a:lnTo>
                      <a:pt x="0" y="274"/>
                    </a:lnTo>
                    <a:lnTo>
                      <a:pt x="0" y="163"/>
                    </a:lnTo>
                    <a:close/>
                  </a:path>
                </a:pathLst>
              </a:custGeom>
              <a:solidFill>
                <a:srgbClr val="FFC080"/>
              </a:solidFill>
              <a:ln w="1588">
                <a:solidFill>
                  <a:srgbClr val="402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5" name="Freeform 122"/>
              <p:cNvSpPr>
                <a:spLocks/>
              </p:cNvSpPr>
              <p:nvPr/>
            </p:nvSpPr>
            <p:spPr bwMode="auto">
              <a:xfrm>
                <a:off x="2688" y="2221"/>
                <a:ext cx="20" cy="5"/>
              </a:xfrm>
              <a:custGeom>
                <a:avLst/>
                <a:gdLst>
                  <a:gd name="T0" fmla="*/ 0 w 141"/>
                  <a:gd name="T1" fmla="*/ 0 h 32"/>
                  <a:gd name="T2" fmla="*/ 0 w 141"/>
                  <a:gd name="T3" fmla="*/ 0 h 32"/>
                  <a:gd name="T4" fmla="*/ 0 w 141"/>
                  <a:gd name="T5" fmla="*/ 0 h 32"/>
                  <a:gd name="T6" fmla="*/ 0 w 141"/>
                  <a:gd name="T7" fmla="*/ 0 h 32"/>
                  <a:gd name="T8" fmla="*/ 0 w 141"/>
                  <a:gd name="T9" fmla="*/ 0 h 32"/>
                  <a:gd name="T10" fmla="*/ 0 w 141"/>
                  <a:gd name="T11" fmla="*/ 0 h 32"/>
                  <a:gd name="T12" fmla="*/ 0 w 141"/>
                  <a:gd name="T13" fmla="*/ 0 h 32"/>
                  <a:gd name="T14" fmla="*/ 0 w 141"/>
                  <a:gd name="T15" fmla="*/ 0 h 32"/>
                  <a:gd name="T16" fmla="*/ 0 w 141"/>
                  <a:gd name="T17" fmla="*/ 0 h 32"/>
                  <a:gd name="T18" fmla="*/ 0 w 141"/>
                  <a:gd name="T19" fmla="*/ 0 h 32"/>
                  <a:gd name="T20" fmla="*/ 0 w 141"/>
                  <a:gd name="T21" fmla="*/ 0 h 32"/>
                  <a:gd name="T22" fmla="*/ 0 w 141"/>
                  <a:gd name="T23" fmla="*/ 0 h 32"/>
                  <a:gd name="T24" fmla="*/ 0 w 141"/>
                  <a:gd name="T25" fmla="*/ 0 h 32"/>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41" h="32">
                    <a:moveTo>
                      <a:pt x="141" y="32"/>
                    </a:moveTo>
                    <a:lnTo>
                      <a:pt x="117" y="21"/>
                    </a:lnTo>
                    <a:lnTo>
                      <a:pt x="97" y="18"/>
                    </a:lnTo>
                    <a:lnTo>
                      <a:pt x="74" y="11"/>
                    </a:lnTo>
                    <a:lnTo>
                      <a:pt x="54" y="6"/>
                    </a:lnTo>
                    <a:lnTo>
                      <a:pt x="22" y="9"/>
                    </a:lnTo>
                    <a:lnTo>
                      <a:pt x="0" y="11"/>
                    </a:lnTo>
                    <a:lnTo>
                      <a:pt x="33" y="4"/>
                    </a:lnTo>
                    <a:lnTo>
                      <a:pt x="61" y="0"/>
                    </a:lnTo>
                    <a:lnTo>
                      <a:pt x="97" y="15"/>
                    </a:lnTo>
                    <a:lnTo>
                      <a:pt x="117" y="17"/>
                    </a:lnTo>
                    <a:lnTo>
                      <a:pt x="139" y="27"/>
                    </a:lnTo>
                    <a:lnTo>
                      <a:pt x="141" y="3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6" name="Freeform 123"/>
              <p:cNvSpPr>
                <a:spLocks/>
              </p:cNvSpPr>
              <p:nvPr/>
            </p:nvSpPr>
            <p:spPr bwMode="auto">
              <a:xfrm>
                <a:off x="2680" y="2216"/>
                <a:ext cx="17" cy="3"/>
              </a:xfrm>
              <a:custGeom>
                <a:avLst/>
                <a:gdLst>
                  <a:gd name="T0" fmla="*/ 0 w 119"/>
                  <a:gd name="T1" fmla="*/ 0 h 22"/>
                  <a:gd name="T2" fmla="*/ 0 w 119"/>
                  <a:gd name="T3" fmla="*/ 0 h 22"/>
                  <a:gd name="T4" fmla="*/ 0 w 119"/>
                  <a:gd name="T5" fmla="*/ 0 h 22"/>
                  <a:gd name="T6" fmla="*/ 0 w 119"/>
                  <a:gd name="T7" fmla="*/ 0 h 22"/>
                  <a:gd name="T8" fmla="*/ 0 w 119"/>
                  <a:gd name="T9" fmla="*/ 0 h 22"/>
                  <a:gd name="T10" fmla="*/ 0 w 119"/>
                  <a:gd name="T11" fmla="*/ 0 h 22"/>
                  <a:gd name="T12" fmla="*/ 0 w 119"/>
                  <a:gd name="T13" fmla="*/ 0 h 22"/>
                  <a:gd name="T14" fmla="*/ 0 w 119"/>
                  <a:gd name="T15" fmla="*/ 0 h 22"/>
                  <a:gd name="T16" fmla="*/ 0 w 119"/>
                  <a:gd name="T17" fmla="*/ 0 h 22"/>
                  <a:gd name="T18" fmla="*/ 0 w 119"/>
                  <a:gd name="T19" fmla="*/ 0 h 22"/>
                  <a:gd name="T20" fmla="*/ 0 w 119"/>
                  <a:gd name="T21" fmla="*/ 0 h 22"/>
                  <a:gd name="T22" fmla="*/ 0 w 119"/>
                  <a:gd name="T23" fmla="*/ 0 h 2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19" h="22">
                    <a:moveTo>
                      <a:pt x="86" y="0"/>
                    </a:moveTo>
                    <a:lnTo>
                      <a:pt x="100" y="1"/>
                    </a:lnTo>
                    <a:lnTo>
                      <a:pt x="119" y="7"/>
                    </a:lnTo>
                    <a:lnTo>
                      <a:pt x="106" y="6"/>
                    </a:lnTo>
                    <a:lnTo>
                      <a:pt x="88" y="3"/>
                    </a:lnTo>
                    <a:lnTo>
                      <a:pt x="49" y="13"/>
                    </a:lnTo>
                    <a:lnTo>
                      <a:pt x="28" y="18"/>
                    </a:lnTo>
                    <a:lnTo>
                      <a:pt x="4" y="22"/>
                    </a:lnTo>
                    <a:lnTo>
                      <a:pt x="0" y="18"/>
                    </a:lnTo>
                    <a:lnTo>
                      <a:pt x="26" y="14"/>
                    </a:lnTo>
                    <a:lnTo>
                      <a:pt x="57" y="7"/>
                    </a:lnTo>
                    <a:lnTo>
                      <a:pt x="86"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7" name="Freeform 124"/>
              <p:cNvSpPr>
                <a:spLocks/>
              </p:cNvSpPr>
              <p:nvPr/>
            </p:nvSpPr>
            <p:spPr bwMode="auto">
              <a:xfrm>
                <a:off x="2687" y="2228"/>
                <a:ext cx="7" cy="2"/>
              </a:xfrm>
              <a:custGeom>
                <a:avLst/>
                <a:gdLst>
                  <a:gd name="T0" fmla="*/ 0 w 48"/>
                  <a:gd name="T1" fmla="*/ 0 h 11"/>
                  <a:gd name="T2" fmla="*/ 0 w 48"/>
                  <a:gd name="T3" fmla="*/ 0 h 11"/>
                  <a:gd name="T4" fmla="*/ 0 w 48"/>
                  <a:gd name="T5" fmla="*/ 0 h 11"/>
                  <a:gd name="T6" fmla="*/ 0 w 48"/>
                  <a:gd name="T7" fmla="*/ 0 h 11"/>
                  <a:gd name="T8" fmla="*/ 0 w 48"/>
                  <a:gd name="T9" fmla="*/ 0 h 11"/>
                  <a:gd name="T10" fmla="*/ 0 w 48"/>
                  <a:gd name="T11" fmla="*/ 0 h 11"/>
                  <a:gd name="T12" fmla="*/ 0 w 48"/>
                  <a:gd name="T13" fmla="*/ 0 h 1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8" h="11">
                    <a:moveTo>
                      <a:pt x="48" y="5"/>
                    </a:moveTo>
                    <a:lnTo>
                      <a:pt x="42" y="11"/>
                    </a:lnTo>
                    <a:lnTo>
                      <a:pt x="25" y="8"/>
                    </a:lnTo>
                    <a:lnTo>
                      <a:pt x="6" y="8"/>
                    </a:lnTo>
                    <a:lnTo>
                      <a:pt x="0" y="0"/>
                    </a:lnTo>
                    <a:lnTo>
                      <a:pt x="14" y="3"/>
                    </a:lnTo>
                    <a:lnTo>
                      <a:pt x="48"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8" name="Freeform 125"/>
              <p:cNvSpPr>
                <a:spLocks/>
              </p:cNvSpPr>
              <p:nvPr/>
            </p:nvSpPr>
            <p:spPr bwMode="auto">
              <a:xfrm>
                <a:off x="2707" y="2227"/>
                <a:ext cx="2" cy="3"/>
              </a:xfrm>
              <a:custGeom>
                <a:avLst/>
                <a:gdLst>
                  <a:gd name="T0" fmla="*/ 0 w 10"/>
                  <a:gd name="T1" fmla="*/ 0 h 21"/>
                  <a:gd name="T2" fmla="*/ 0 w 10"/>
                  <a:gd name="T3" fmla="*/ 0 h 21"/>
                  <a:gd name="T4" fmla="*/ 0 w 10"/>
                  <a:gd name="T5" fmla="*/ 0 h 21"/>
                  <a:gd name="T6" fmla="*/ 0 w 10"/>
                  <a:gd name="T7" fmla="*/ 0 h 21"/>
                  <a:gd name="T8" fmla="*/ 0 w 10"/>
                  <a:gd name="T9" fmla="*/ 0 h 2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 h="21">
                    <a:moveTo>
                      <a:pt x="0" y="0"/>
                    </a:moveTo>
                    <a:lnTo>
                      <a:pt x="0" y="6"/>
                    </a:lnTo>
                    <a:lnTo>
                      <a:pt x="2" y="16"/>
                    </a:lnTo>
                    <a:lnTo>
                      <a:pt x="10" y="2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9" name="Freeform 126"/>
              <p:cNvSpPr>
                <a:spLocks/>
              </p:cNvSpPr>
              <p:nvPr/>
            </p:nvSpPr>
            <p:spPr bwMode="auto">
              <a:xfrm>
                <a:off x="2702" y="2234"/>
                <a:ext cx="2" cy="1"/>
              </a:xfrm>
              <a:custGeom>
                <a:avLst/>
                <a:gdLst>
                  <a:gd name="T0" fmla="*/ 0 w 9"/>
                  <a:gd name="T1" fmla="*/ 0 h 11"/>
                  <a:gd name="T2" fmla="*/ 0 w 9"/>
                  <a:gd name="T3" fmla="*/ 0 h 11"/>
                  <a:gd name="T4" fmla="*/ 0 w 9"/>
                  <a:gd name="T5" fmla="*/ 0 h 11"/>
                  <a:gd name="T6" fmla="*/ 0 w 9"/>
                  <a:gd name="T7" fmla="*/ 0 h 1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11">
                    <a:moveTo>
                      <a:pt x="0" y="0"/>
                    </a:moveTo>
                    <a:lnTo>
                      <a:pt x="2" y="6"/>
                    </a:lnTo>
                    <a:lnTo>
                      <a:pt x="9" y="1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0" name="Freeform 127"/>
              <p:cNvSpPr>
                <a:spLocks/>
              </p:cNvSpPr>
              <p:nvPr/>
            </p:nvSpPr>
            <p:spPr bwMode="auto">
              <a:xfrm>
                <a:off x="2678" y="2224"/>
                <a:ext cx="3" cy="4"/>
              </a:xfrm>
              <a:custGeom>
                <a:avLst/>
                <a:gdLst>
                  <a:gd name="T0" fmla="*/ 0 w 23"/>
                  <a:gd name="T1" fmla="*/ 0 h 27"/>
                  <a:gd name="T2" fmla="*/ 0 w 23"/>
                  <a:gd name="T3" fmla="*/ 0 h 27"/>
                  <a:gd name="T4" fmla="*/ 0 w 23"/>
                  <a:gd name="T5" fmla="*/ 0 h 27"/>
                  <a:gd name="T6" fmla="*/ 0 w 23"/>
                  <a:gd name="T7" fmla="*/ 0 h 27"/>
                  <a:gd name="T8" fmla="*/ 0 w 23"/>
                  <a:gd name="T9" fmla="*/ 0 h 2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3" h="27">
                    <a:moveTo>
                      <a:pt x="23" y="0"/>
                    </a:moveTo>
                    <a:lnTo>
                      <a:pt x="19" y="8"/>
                    </a:lnTo>
                    <a:lnTo>
                      <a:pt x="19" y="15"/>
                    </a:lnTo>
                    <a:lnTo>
                      <a:pt x="0" y="27"/>
                    </a:lnTo>
                    <a:lnTo>
                      <a:pt x="23"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1" name="Freeform 128"/>
              <p:cNvSpPr>
                <a:spLocks/>
              </p:cNvSpPr>
              <p:nvPr/>
            </p:nvSpPr>
            <p:spPr bwMode="auto">
              <a:xfrm>
                <a:off x="2665" y="2224"/>
                <a:ext cx="10" cy="10"/>
              </a:xfrm>
              <a:custGeom>
                <a:avLst/>
                <a:gdLst>
                  <a:gd name="T0" fmla="*/ 0 w 71"/>
                  <a:gd name="T1" fmla="*/ 0 h 73"/>
                  <a:gd name="T2" fmla="*/ 0 w 71"/>
                  <a:gd name="T3" fmla="*/ 0 h 73"/>
                  <a:gd name="T4" fmla="*/ 0 w 71"/>
                  <a:gd name="T5" fmla="*/ 0 h 73"/>
                  <a:gd name="T6" fmla="*/ 0 w 71"/>
                  <a:gd name="T7" fmla="*/ 0 h 73"/>
                  <a:gd name="T8" fmla="*/ 0 w 71"/>
                  <a:gd name="T9" fmla="*/ 0 h 73"/>
                  <a:gd name="T10" fmla="*/ 0 w 71"/>
                  <a:gd name="T11" fmla="*/ 0 h 73"/>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1" h="73">
                    <a:moveTo>
                      <a:pt x="71" y="0"/>
                    </a:moveTo>
                    <a:lnTo>
                      <a:pt x="59" y="22"/>
                    </a:lnTo>
                    <a:lnTo>
                      <a:pt x="44" y="41"/>
                    </a:lnTo>
                    <a:lnTo>
                      <a:pt x="0" y="73"/>
                    </a:lnTo>
                    <a:lnTo>
                      <a:pt x="41" y="34"/>
                    </a:lnTo>
                    <a:lnTo>
                      <a:pt x="7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2" name="Freeform 129"/>
              <p:cNvSpPr>
                <a:spLocks/>
              </p:cNvSpPr>
              <p:nvPr/>
            </p:nvSpPr>
            <p:spPr bwMode="auto">
              <a:xfrm>
                <a:off x="2660" y="2238"/>
                <a:ext cx="2" cy="8"/>
              </a:xfrm>
              <a:custGeom>
                <a:avLst/>
                <a:gdLst>
                  <a:gd name="T0" fmla="*/ 0 w 16"/>
                  <a:gd name="T1" fmla="*/ 0 h 53"/>
                  <a:gd name="T2" fmla="*/ 0 w 16"/>
                  <a:gd name="T3" fmla="*/ 0 h 53"/>
                  <a:gd name="T4" fmla="*/ 0 w 16"/>
                  <a:gd name="T5" fmla="*/ 0 h 53"/>
                  <a:gd name="T6" fmla="*/ 0 w 16"/>
                  <a:gd name="T7" fmla="*/ 0 h 53"/>
                  <a:gd name="T8" fmla="*/ 0 w 16"/>
                  <a:gd name="T9" fmla="*/ 0 h 53"/>
                  <a:gd name="T10" fmla="*/ 0 w 16"/>
                  <a:gd name="T11" fmla="*/ 0 h 53"/>
                  <a:gd name="T12" fmla="*/ 0 w 16"/>
                  <a:gd name="T13" fmla="*/ 0 h 53"/>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6" h="53">
                    <a:moveTo>
                      <a:pt x="0" y="0"/>
                    </a:moveTo>
                    <a:lnTo>
                      <a:pt x="10" y="19"/>
                    </a:lnTo>
                    <a:lnTo>
                      <a:pt x="13" y="37"/>
                    </a:lnTo>
                    <a:lnTo>
                      <a:pt x="14" y="53"/>
                    </a:lnTo>
                    <a:lnTo>
                      <a:pt x="16" y="30"/>
                    </a:lnTo>
                    <a:lnTo>
                      <a:pt x="14" y="1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3" name="Freeform 130"/>
              <p:cNvSpPr>
                <a:spLocks/>
              </p:cNvSpPr>
              <p:nvPr/>
            </p:nvSpPr>
            <p:spPr bwMode="auto">
              <a:xfrm>
                <a:off x="2684" y="2231"/>
                <a:ext cx="1" cy="2"/>
              </a:xfrm>
              <a:custGeom>
                <a:avLst/>
                <a:gdLst>
                  <a:gd name="T0" fmla="*/ 0 w 8"/>
                  <a:gd name="T1" fmla="*/ 0 h 19"/>
                  <a:gd name="T2" fmla="*/ 0 w 8"/>
                  <a:gd name="T3" fmla="*/ 0 h 19"/>
                  <a:gd name="T4" fmla="*/ 0 w 8"/>
                  <a:gd name="T5" fmla="*/ 0 h 19"/>
                  <a:gd name="T6" fmla="*/ 0 w 8"/>
                  <a:gd name="T7" fmla="*/ 0 h 1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8" h="19">
                    <a:moveTo>
                      <a:pt x="2" y="0"/>
                    </a:moveTo>
                    <a:lnTo>
                      <a:pt x="0" y="8"/>
                    </a:lnTo>
                    <a:lnTo>
                      <a:pt x="8" y="19"/>
                    </a:lnTo>
                    <a:lnTo>
                      <a:pt x="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33" name="Group 131"/>
            <p:cNvGrpSpPr>
              <a:grpSpLocks/>
            </p:cNvGrpSpPr>
            <p:nvPr/>
          </p:nvGrpSpPr>
          <p:grpSpPr bwMode="auto">
            <a:xfrm flipH="1">
              <a:off x="3730" y="2363"/>
              <a:ext cx="365" cy="408"/>
              <a:chOff x="2511" y="2128"/>
              <a:chExt cx="146" cy="168"/>
            </a:xfrm>
          </p:grpSpPr>
          <p:sp>
            <p:nvSpPr>
              <p:cNvPr id="40" name="Freeform 132"/>
              <p:cNvSpPr>
                <a:spLocks/>
              </p:cNvSpPr>
              <p:nvPr/>
            </p:nvSpPr>
            <p:spPr bwMode="auto">
              <a:xfrm>
                <a:off x="2590" y="2128"/>
                <a:ext cx="5" cy="4"/>
              </a:xfrm>
              <a:custGeom>
                <a:avLst/>
                <a:gdLst>
                  <a:gd name="T0" fmla="*/ 0 w 32"/>
                  <a:gd name="T1" fmla="*/ 0 h 23"/>
                  <a:gd name="T2" fmla="*/ 0 w 32"/>
                  <a:gd name="T3" fmla="*/ 0 h 23"/>
                  <a:gd name="T4" fmla="*/ 0 w 32"/>
                  <a:gd name="T5" fmla="*/ 0 h 23"/>
                  <a:gd name="T6" fmla="*/ 0 w 32"/>
                  <a:gd name="T7" fmla="*/ 0 h 23"/>
                  <a:gd name="T8" fmla="*/ 0 w 32"/>
                  <a:gd name="T9" fmla="*/ 0 h 23"/>
                  <a:gd name="T10" fmla="*/ 0 w 32"/>
                  <a:gd name="T11" fmla="*/ 0 h 23"/>
                  <a:gd name="T12" fmla="*/ 0 w 32"/>
                  <a:gd name="T13" fmla="*/ 0 h 23"/>
                  <a:gd name="T14" fmla="*/ 0 w 32"/>
                  <a:gd name="T15" fmla="*/ 0 h 23"/>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2" h="23">
                    <a:moveTo>
                      <a:pt x="32" y="0"/>
                    </a:moveTo>
                    <a:lnTo>
                      <a:pt x="23" y="7"/>
                    </a:lnTo>
                    <a:lnTo>
                      <a:pt x="14" y="10"/>
                    </a:lnTo>
                    <a:lnTo>
                      <a:pt x="5" y="15"/>
                    </a:lnTo>
                    <a:lnTo>
                      <a:pt x="0" y="23"/>
                    </a:lnTo>
                    <a:lnTo>
                      <a:pt x="8" y="20"/>
                    </a:lnTo>
                    <a:lnTo>
                      <a:pt x="23" y="16"/>
                    </a:lnTo>
                    <a:lnTo>
                      <a:pt x="3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1" name="Freeform 133"/>
              <p:cNvSpPr>
                <a:spLocks/>
              </p:cNvSpPr>
              <p:nvPr/>
            </p:nvSpPr>
            <p:spPr bwMode="auto">
              <a:xfrm>
                <a:off x="2592" y="2134"/>
                <a:ext cx="2" cy="2"/>
              </a:xfrm>
              <a:custGeom>
                <a:avLst/>
                <a:gdLst>
                  <a:gd name="T0" fmla="*/ 0 w 8"/>
                  <a:gd name="T1" fmla="*/ 0 h 15"/>
                  <a:gd name="T2" fmla="*/ 0 w 8"/>
                  <a:gd name="T3" fmla="*/ 0 h 15"/>
                  <a:gd name="T4" fmla="*/ 0 w 8"/>
                  <a:gd name="T5" fmla="*/ 0 h 15"/>
                  <a:gd name="T6" fmla="*/ 0 w 8"/>
                  <a:gd name="T7" fmla="*/ 0 h 15"/>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8" h="15">
                    <a:moveTo>
                      <a:pt x="8" y="0"/>
                    </a:moveTo>
                    <a:lnTo>
                      <a:pt x="0" y="0"/>
                    </a:lnTo>
                    <a:lnTo>
                      <a:pt x="0" y="15"/>
                    </a:lnTo>
                    <a:lnTo>
                      <a:pt x="8"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2" name="Freeform 134"/>
              <p:cNvSpPr>
                <a:spLocks/>
              </p:cNvSpPr>
              <p:nvPr/>
            </p:nvSpPr>
            <p:spPr bwMode="auto">
              <a:xfrm>
                <a:off x="2574" y="2150"/>
                <a:ext cx="39" cy="99"/>
              </a:xfrm>
              <a:custGeom>
                <a:avLst/>
                <a:gdLst>
                  <a:gd name="T0" fmla="*/ 0 w 274"/>
                  <a:gd name="T1" fmla="*/ 0 h 693"/>
                  <a:gd name="T2" fmla="*/ 0 w 274"/>
                  <a:gd name="T3" fmla="*/ 0 h 693"/>
                  <a:gd name="T4" fmla="*/ 0 w 274"/>
                  <a:gd name="T5" fmla="*/ 0 h 693"/>
                  <a:gd name="T6" fmla="*/ 0 w 274"/>
                  <a:gd name="T7" fmla="*/ 0 h 693"/>
                  <a:gd name="T8" fmla="*/ 0 w 274"/>
                  <a:gd name="T9" fmla="*/ 0 h 693"/>
                  <a:gd name="T10" fmla="*/ 0 w 274"/>
                  <a:gd name="T11" fmla="*/ 0 h 693"/>
                  <a:gd name="T12" fmla="*/ 0 w 274"/>
                  <a:gd name="T13" fmla="*/ 0 h 693"/>
                  <a:gd name="T14" fmla="*/ 0 w 274"/>
                  <a:gd name="T15" fmla="*/ 0 h 693"/>
                  <a:gd name="T16" fmla="*/ 0 w 274"/>
                  <a:gd name="T17" fmla="*/ 0 h 693"/>
                  <a:gd name="T18" fmla="*/ 0 w 274"/>
                  <a:gd name="T19" fmla="*/ 0 h 69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74" h="693">
                    <a:moveTo>
                      <a:pt x="40" y="0"/>
                    </a:moveTo>
                    <a:lnTo>
                      <a:pt x="66" y="29"/>
                    </a:lnTo>
                    <a:lnTo>
                      <a:pt x="74" y="70"/>
                    </a:lnTo>
                    <a:lnTo>
                      <a:pt x="113" y="110"/>
                    </a:lnTo>
                    <a:lnTo>
                      <a:pt x="194" y="296"/>
                    </a:lnTo>
                    <a:lnTo>
                      <a:pt x="239" y="466"/>
                    </a:lnTo>
                    <a:lnTo>
                      <a:pt x="274" y="693"/>
                    </a:lnTo>
                    <a:lnTo>
                      <a:pt x="161" y="592"/>
                    </a:lnTo>
                    <a:lnTo>
                      <a:pt x="0" y="90"/>
                    </a:lnTo>
                    <a:lnTo>
                      <a:pt x="40" y="0"/>
                    </a:lnTo>
                    <a:close/>
                  </a:path>
                </a:pathLst>
              </a:custGeom>
              <a:solidFill>
                <a:srgbClr val="40000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3" name="Freeform 135"/>
              <p:cNvSpPr>
                <a:spLocks/>
              </p:cNvSpPr>
              <p:nvPr/>
            </p:nvSpPr>
            <p:spPr bwMode="auto">
              <a:xfrm>
                <a:off x="2511" y="2131"/>
                <a:ext cx="146" cy="165"/>
              </a:xfrm>
              <a:custGeom>
                <a:avLst/>
                <a:gdLst>
                  <a:gd name="T0" fmla="*/ 0 w 1023"/>
                  <a:gd name="T1" fmla="*/ 0 h 1154"/>
                  <a:gd name="T2" fmla="*/ 0 w 1023"/>
                  <a:gd name="T3" fmla="*/ 0 h 1154"/>
                  <a:gd name="T4" fmla="*/ 0 w 1023"/>
                  <a:gd name="T5" fmla="*/ 0 h 1154"/>
                  <a:gd name="T6" fmla="*/ 0 w 1023"/>
                  <a:gd name="T7" fmla="*/ 0 h 1154"/>
                  <a:gd name="T8" fmla="*/ 0 w 1023"/>
                  <a:gd name="T9" fmla="*/ 0 h 1154"/>
                  <a:gd name="T10" fmla="*/ 0 w 1023"/>
                  <a:gd name="T11" fmla="*/ 0 h 1154"/>
                  <a:gd name="T12" fmla="*/ 0 w 1023"/>
                  <a:gd name="T13" fmla="*/ 0 h 1154"/>
                  <a:gd name="T14" fmla="*/ 0 w 1023"/>
                  <a:gd name="T15" fmla="*/ 0 h 1154"/>
                  <a:gd name="T16" fmla="*/ 0 w 1023"/>
                  <a:gd name="T17" fmla="*/ 0 h 1154"/>
                  <a:gd name="T18" fmla="*/ 0 w 1023"/>
                  <a:gd name="T19" fmla="*/ 0 h 1154"/>
                  <a:gd name="T20" fmla="*/ 0 w 1023"/>
                  <a:gd name="T21" fmla="*/ 0 h 1154"/>
                  <a:gd name="T22" fmla="*/ 0 w 1023"/>
                  <a:gd name="T23" fmla="*/ 0 h 1154"/>
                  <a:gd name="T24" fmla="*/ 0 w 1023"/>
                  <a:gd name="T25" fmla="*/ 0 h 1154"/>
                  <a:gd name="T26" fmla="*/ 0 w 1023"/>
                  <a:gd name="T27" fmla="*/ 0 h 1154"/>
                  <a:gd name="T28" fmla="*/ 0 w 1023"/>
                  <a:gd name="T29" fmla="*/ 0 h 1154"/>
                  <a:gd name="T30" fmla="*/ 0 w 1023"/>
                  <a:gd name="T31" fmla="*/ 0 h 1154"/>
                  <a:gd name="T32" fmla="*/ 0 w 1023"/>
                  <a:gd name="T33" fmla="*/ 0 h 1154"/>
                  <a:gd name="T34" fmla="*/ 0 w 1023"/>
                  <a:gd name="T35" fmla="*/ 0 h 1154"/>
                  <a:gd name="T36" fmla="*/ 0 w 1023"/>
                  <a:gd name="T37" fmla="*/ 0 h 1154"/>
                  <a:gd name="T38" fmla="*/ 0 w 1023"/>
                  <a:gd name="T39" fmla="*/ 0 h 1154"/>
                  <a:gd name="T40" fmla="*/ 0 w 1023"/>
                  <a:gd name="T41" fmla="*/ 0 h 1154"/>
                  <a:gd name="T42" fmla="*/ 0 w 1023"/>
                  <a:gd name="T43" fmla="*/ 0 h 1154"/>
                  <a:gd name="T44" fmla="*/ 0 w 1023"/>
                  <a:gd name="T45" fmla="*/ 0 h 1154"/>
                  <a:gd name="T46" fmla="*/ 0 w 1023"/>
                  <a:gd name="T47" fmla="*/ 0 h 1154"/>
                  <a:gd name="T48" fmla="*/ 0 w 1023"/>
                  <a:gd name="T49" fmla="*/ 0 h 1154"/>
                  <a:gd name="T50" fmla="*/ 0 w 1023"/>
                  <a:gd name="T51" fmla="*/ 0 h 1154"/>
                  <a:gd name="T52" fmla="*/ 0 w 1023"/>
                  <a:gd name="T53" fmla="*/ 0 h 1154"/>
                  <a:gd name="T54" fmla="*/ 0 w 1023"/>
                  <a:gd name="T55" fmla="*/ 0 h 1154"/>
                  <a:gd name="T56" fmla="*/ 0 w 1023"/>
                  <a:gd name="T57" fmla="*/ 0 h 1154"/>
                  <a:gd name="T58" fmla="*/ 0 w 1023"/>
                  <a:gd name="T59" fmla="*/ 0 h 1154"/>
                  <a:gd name="T60" fmla="*/ 0 w 1023"/>
                  <a:gd name="T61" fmla="*/ 0 h 1154"/>
                  <a:gd name="T62" fmla="*/ 0 w 1023"/>
                  <a:gd name="T63" fmla="*/ 0 h 1154"/>
                  <a:gd name="T64" fmla="*/ 0 w 1023"/>
                  <a:gd name="T65" fmla="*/ 0 h 1154"/>
                  <a:gd name="T66" fmla="*/ 0 w 1023"/>
                  <a:gd name="T67" fmla="*/ 0 h 1154"/>
                  <a:gd name="T68" fmla="*/ 0 w 1023"/>
                  <a:gd name="T69" fmla="*/ 0 h 1154"/>
                  <a:gd name="T70" fmla="*/ 0 w 1023"/>
                  <a:gd name="T71" fmla="*/ 0 h 1154"/>
                  <a:gd name="T72" fmla="*/ 0 w 1023"/>
                  <a:gd name="T73" fmla="*/ 0 h 1154"/>
                  <a:gd name="T74" fmla="*/ 0 w 1023"/>
                  <a:gd name="T75" fmla="*/ 0 h 1154"/>
                  <a:gd name="T76" fmla="*/ 0 w 1023"/>
                  <a:gd name="T77" fmla="*/ 0 h 1154"/>
                  <a:gd name="T78" fmla="*/ 0 w 1023"/>
                  <a:gd name="T79" fmla="*/ 0 h 1154"/>
                  <a:gd name="T80" fmla="*/ 0 w 1023"/>
                  <a:gd name="T81" fmla="*/ 0 h 1154"/>
                  <a:gd name="T82" fmla="*/ 0 w 1023"/>
                  <a:gd name="T83" fmla="*/ 0 h 1154"/>
                  <a:gd name="T84" fmla="*/ 0 w 1023"/>
                  <a:gd name="T85" fmla="*/ 0 h 1154"/>
                  <a:gd name="T86" fmla="*/ 0 w 1023"/>
                  <a:gd name="T87" fmla="*/ 0 h 1154"/>
                  <a:gd name="T88" fmla="*/ 0 w 1023"/>
                  <a:gd name="T89" fmla="*/ 0 h 1154"/>
                  <a:gd name="T90" fmla="*/ 0 w 1023"/>
                  <a:gd name="T91" fmla="*/ 0 h 1154"/>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023" h="1154">
                    <a:moveTo>
                      <a:pt x="189" y="60"/>
                    </a:moveTo>
                    <a:lnTo>
                      <a:pt x="221" y="0"/>
                    </a:lnTo>
                    <a:lnTo>
                      <a:pt x="471" y="104"/>
                    </a:lnTo>
                    <a:lnTo>
                      <a:pt x="482" y="185"/>
                    </a:lnTo>
                    <a:lnTo>
                      <a:pt x="503" y="214"/>
                    </a:lnTo>
                    <a:lnTo>
                      <a:pt x="531" y="246"/>
                    </a:lnTo>
                    <a:lnTo>
                      <a:pt x="547" y="304"/>
                    </a:lnTo>
                    <a:lnTo>
                      <a:pt x="603" y="437"/>
                    </a:lnTo>
                    <a:lnTo>
                      <a:pt x="648" y="595"/>
                    </a:lnTo>
                    <a:lnTo>
                      <a:pt x="668" y="700"/>
                    </a:lnTo>
                    <a:lnTo>
                      <a:pt x="869" y="704"/>
                    </a:lnTo>
                    <a:lnTo>
                      <a:pt x="902" y="725"/>
                    </a:lnTo>
                    <a:lnTo>
                      <a:pt x="994" y="725"/>
                    </a:lnTo>
                    <a:lnTo>
                      <a:pt x="1020" y="766"/>
                    </a:lnTo>
                    <a:lnTo>
                      <a:pt x="1023" y="814"/>
                    </a:lnTo>
                    <a:lnTo>
                      <a:pt x="1015" y="858"/>
                    </a:lnTo>
                    <a:lnTo>
                      <a:pt x="929" y="874"/>
                    </a:lnTo>
                    <a:lnTo>
                      <a:pt x="889" y="935"/>
                    </a:lnTo>
                    <a:lnTo>
                      <a:pt x="809" y="955"/>
                    </a:lnTo>
                    <a:lnTo>
                      <a:pt x="749" y="955"/>
                    </a:lnTo>
                    <a:lnTo>
                      <a:pt x="681" y="968"/>
                    </a:lnTo>
                    <a:lnTo>
                      <a:pt x="677" y="996"/>
                    </a:lnTo>
                    <a:lnTo>
                      <a:pt x="681" y="1056"/>
                    </a:lnTo>
                    <a:lnTo>
                      <a:pt x="673" y="1097"/>
                    </a:lnTo>
                    <a:lnTo>
                      <a:pt x="636" y="1102"/>
                    </a:lnTo>
                    <a:lnTo>
                      <a:pt x="591" y="1110"/>
                    </a:lnTo>
                    <a:lnTo>
                      <a:pt x="547" y="1151"/>
                    </a:lnTo>
                    <a:lnTo>
                      <a:pt x="495" y="1151"/>
                    </a:lnTo>
                    <a:lnTo>
                      <a:pt x="447" y="1146"/>
                    </a:lnTo>
                    <a:lnTo>
                      <a:pt x="374" y="1122"/>
                    </a:lnTo>
                    <a:lnTo>
                      <a:pt x="294" y="1130"/>
                    </a:lnTo>
                    <a:lnTo>
                      <a:pt x="213" y="1154"/>
                    </a:lnTo>
                    <a:lnTo>
                      <a:pt x="136" y="1137"/>
                    </a:lnTo>
                    <a:lnTo>
                      <a:pt x="84" y="1077"/>
                    </a:lnTo>
                    <a:lnTo>
                      <a:pt x="88" y="1012"/>
                    </a:lnTo>
                    <a:lnTo>
                      <a:pt x="68" y="932"/>
                    </a:lnTo>
                    <a:lnTo>
                      <a:pt x="57" y="826"/>
                    </a:lnTo>
                    <a:lnTo>
                      <a:pt x="32" y="729"/>
                    </a:lnTo>
                    <a:lnTo>
                      <a:pt x="0" y="584"/>
                    </a:lnTo>
                    <a:lnTo>
                      <a:pt x="4" y="437"/>
                    </a:lnTo>
                    <a:lnTo>
                      <a:pt x="4" y="307"/>
                    </a:lnTo>
                    <a:lnTo>
                      <a:pt x="12" y="218"/>
                    </a:lnTo>
                    <a:lnTo>
                      <a:pt x="32" y="178"/>
                    </a:lnTo>
                    <a:lnTo>
                      <a:pt x="77" y="145"/>
                    </a:lnTo>
                    <a:lnTo>
                      <a:pt x="129" y="92"/>
                    </a:lnTo>
                    <a:lnTo>
                      <a:pt x="189" y="60"/>
                    </a:lnTo>
                    <a:close/>
                  </a:path>
                </a:pathLst>
              </a:custGeom>
              <a:solidFill>
                <a:srgbClr val="C0C0C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4" name="Freeform 136"/>
              <p:cNvSpPr>
                <a:spLocks/>
              </p:cNvSpPr>
              <p:nvPr/>
            </p:nvSpPr>
            <p:spPr bwMode="auto">
              <a:xfrm>
                <a:off x="2514" y="2141"/>
                <a:ext cx="92" cy="154"/>
              </a:xfrm>
              <a:custGeom>
                <a:avLst/>
                <a:gdLst>
                  <a:gd name="T0" fmla="*/ 0 w 646"/>
                  <a:gd name="T1" fmla="*/ 0 h 1075"/>
                  <a:gd name="T2" fmla="*/ 0 w 646"/>
                  <a:gd name="T3" fmla="*/ 0 h 1075"/>
                  <a:gd name="T4" fmla="*/ 0 w 646"/>
                  <a:gd name="T5" fmla="*/ 0 h 1075"/>
                  <a:gd name="T6" fmla="*/ 0 w 646"/>
                  <a:gd name="T7" fmla="*/ 0 h 1075"/>
                  <a:gd name="T8" fmla="*/ 0 w 646"/>
                  <a:gd name="T9" fmla="*/ 0 h 1075"/>
                  <a:gd name="T10" fmla="*/ 0 w 646"/>
                  <a:gd name="T11" fmla="*/ 0 h 1075"/>
                  <a:gd name="T12" fmla="*/ 0 w 646"/>
                  <a:gd name="T13" fmla="*/ 0 h 1075"/>
                  <a:gd name="T14" fmla="*/ 0 w 646"/>
                  <a:gd name="T15" fmla="*/ 0 h 1075"/>
                  <a:gd name="T16" fmla="*/ 0 w 646"/>
                  <a:gd name="T17" fmla="*/ 0 h 1075"/>
                  <a:gd name="T18" fmla="*/ 0 w 646"/>
                  <a:gd name="T19" fmla="*/ 0 h 1075"/>
                  <a:gd name="T20" fmla="*/ 0 w 646"/>
                  <a:gd name="T21" fmla="*/ 0 h 1075"/>
                  <a:gd name="T22" fmla="*/ 0 w 646"/>
                  <a:gd name="T23" fmla="*/ 0 h 1075"/>
                  <a:gd name="T24" fmla="*/ 0 w 646"/>
                  <a:gd name="T25" fmla="*/ 0 h 1075"/>
                  <a:gd name="T26" fmla="*/ 0 w 646"/>
                  <a:gd name="T27" fmla="*/ 0 h 1075"/>
                  <a:gd name="T28" fmla="*/ 0 w 646"/>
                  <a:gd name="T29" fmla="*/ 0 h 1075"/>
                  <a:gd name="T30" fmla="*/ 0 w 646"/>
                  <a:gd name="T31" fmla="*/ 0 h 1075"/>
                  <a:gd name="T32" fmla="*/ 0 w 646"/>
                  <a:gd name="T33" fmla="*/ 0 h 1075"/>
                  <a:gd name="T34" fmla="*/ 0 w 646"/>
                  <a:gd name="T35" fmla="*/ 0 h 1075"/>
                  <a:gd name="T36" fmla="*/ 0 w 646"/>
                  <a:gd name="T37" fmla="*/ 0 h 1075"/>
                  <a:gd name="T38" fmla="*/ 0 w 646"/>
                  <a:gd name="T39" fmla="*/ 0 h 1075"/>
                  <a:gd name="T40" fmla="*/ 0 w 646"/>
                  <a:gd name="T41" fmla="*/ 0 h 1075"/>
                  <a:gd name="T42" fmla="*/ 0 w 646"/>
                  <a:gd name="T43" fmla="*/ 0 h 1075"/>
                  <a:gd name="T44" fmla="*/ 0 w 646"/>
                  <a:gd name="T45" fmla="*/ 0 h 1075"/>
                  <a:gd name="T46" fmla="*/ 0 w 646"/>
                  <a:gd name="T47" fmla="*/ 0 h 1075"/>
                  <a:gd name="T48" fmla="*/ 0 w 646"/>
                  <a:gd name="T49" fmla="*/ 0 h 1075"/>
                  <a:gd name="T50" fmla="*/ 0 w 646"/>
                  <a:gd name="T51" fmla="*/ 0 h 1075"/>
                  <a:gd name="T52" fmla="*/ 0 w 646"/>
                  <a:gd name="T53" fmla="*/ 0 h 1075"/>
                  <a:gd name="T54" fmla="*/ 0 w 646"/>
                  <a:gd name="T55" fmla="*/ 0 h 1075"/>
                  <a:gd name="T56" fmla="*/ 0 w 646"/>
                  <a:gd name="T57" fmla="*/ 0 h 1075"/>
                  <a:gd name="T58" fmla="*/ 0 w 646"/>
                  <a:gd name="T59" fmla="*/ 0 h 1075"/>
                  <a:gd name="T60" fmla="*/ 0 w 646"/>
                  <a:gd name="T61" fmla="*/ 0 h 1075"/>
                  <a:gd name="T62" fmla="*/ 0 w 646"/>
                  <a:gd name="T63" fmla="*/ 0 h 1075"/>
                  <a:gd name="T64" fmla="*/ 0 w 646"/>
                  <a:gd name="T65" fmla="*/ 0 h 1075"/>
                  <a:gd name="T66" fmla="*/ 0 w 646"/>
                  <a:gd name="T67" fmla="*/ 0 h 1075"/>
                  <a:gd name="T68" fmla="*/ 0 w 646"/>
                  <a:gd name="T69" fmla="*/ 0 h 1075"/>
                  <a:gd name="T70" fmla="*/ 0 w 646"/>
                  <a:gd name="T71" fmla="*/ 0 h 1075"/>
                  <a:gd name="T72" fmla="*/ 0 w 646"/>
                  <a:gd name="T73" fmla="*/ 0 h 1075"/>
                  <a:gd name="T74" fmla="*/ 0 w 646"/>
                  <a:gd name="T75" fmla="*/ 0 h 1075"/>
                  <a:gd name="T76" fmla="*/ 0 w 646"/>
                  <a:gd name="T77" fmla="*/ 0 h 1075"/>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646" h="1075">
                    <a:moveTo>
                      <a:pt x="646" y="901"/>
                    </a:moveTo>
                    <a:lnTo>
                      <a:pt x="562" y="888"/>
                    </a:lnTo>
                    <a:lnTo>
                      <a:pt x="490" y="884"/>
                    </a:lnTo>
                    <a:lnTo>
                      <a:pt x="410" y="877"/>
                    </a:lnTo>
                    <a:lnTo>
                      <a:pt x="321" y="864"/>
                    </a:lnTo>
                    <a:lnTo>
                      <a:pt x="280" y="836"/>
                    </a:lnTo>
                    <a:lnTo>
                      <a:pt x="172" y="700"/>
                    </a:lnTo>
                    <a:lnTo>
                      <a:pt x="228" y="740"/>
                    </a:lnTo>
                    <a:lnTo>
                      <a:pt x="265" y="772"/>
                    </a:lnTo>
                    <a:lnTo>
                      <a:pt x="244" y="675"/>
                    </a:lnTo>
                    <a:lnTo>
                      <a:pt x="204" y="638"/>
                    </a:lnTo>
                    <a:lnTo>
                      <a:pt x="145" y="538"/>
                    </a:lnTo>
                    <a:lnTo>
                      <a:pt x="201" y="585"/>
                    </a:lnTo>
                    <a:lnTo>
                      <a:pt x="237" y="598"/>
                    </a:lnTo>
                    <a:lnTo>
                      <a:pt x="228" y="529"/>
                    </a:lnTo>
                    <a:lnTo>
                      <a:pt x="188" y="477"/>
                    </a:lnTo>
                    <a:lnTo>
                      <a:pt x="149" y="437"/>
                    </a:lnTo>
                    <a:lnTo>
                      <a:pt x="108" y="318"/>
                    </a:lnTo>
                    <a:lnTo>
                      <a:pt x="184" y="416"/>
                    </a:lnTo>
                    <a:lnTo>
                      <a:pt x="228" y="452"/>
                    </a:lnTo>
                    <a:lnTo>
                      <a:pt x="233" y="302"/>
                    </a:lnTo>
                    <a:lnTo>
                      <a:pt x="244" y="242"/>
                    </a:lnTo>
                    <a:lnTo>
                      <a:pt x="269" y="215"/>
                    </a:lnTo>
                    <a:lnTo>
                      <a:pt x="304" y="169"/>
                    </a:lnTo>
                    <a:lnTo>
                      <a:pt x="361" y="149"/>
                    </a:lnTo>
                    <a:lnTo>
                      <a:pt x="390" y="137"/>
                    </a:lnTo>
                    <a:lnTo>
                      <a:pt x="310" y="60"/>
                    </a:lnTo>
                    <a:lnTo>
                      <a:pt x="224" y="80"/>
                    </a:lnTo>
                    <a:lnTo>
                      <a:pt x="168" y="113"/>
                    </a:lnTo>
                    <a:lnTo>
                      <a:pt x="149" y="145"/>
                    </a:lnTo>
                    <a:lnTo>
                      <a:pt x="164" y="96"/>
                    </a:lnTo>
                    <a:lnTo>
                      <a:pt x="197" y="80"/>
                    </a:lnTo>
                    <a:lnTo>
                      <a:pt x="249" y="60"/>
                    </a:lnTo>
                    <a:lnTo>
                      <a:pt x="289" y="53"/>
                    </a:lnTo>
                    <a:lnTo>
                      <a:pt x="265" y="39"/>
                    </a:lnTo>
                    <a:lnTo>
                      <a:pt x="224" y="28"/>
                    </a:lnTo>
                    <a:lnTo>
                      <a:pt x="188" y="15"/>
                    </a:lnTo>
                    <a:lnTo>
                      <a:pt x="168" y="0"/>
                    </a:lnTo>
                    <a:lnTo>
                      <a:pt x="121" y="32"/>
                    </a:lnTo>
                    <a:lnTo>
                      <a:pt x="93" y="60"/>
                    </a:lnTo>
                    <a:lnTo>
                      <a:pt x="65" y="96"/>
                    </a:lnTo>
                    <a:lnTo>
                      <a:pt x="25" y="116"/>
                    </a:lnTo>
                    <a:lnTo>
                      <a:pt x="16" y="154"/>
                    </a:lnTo>
                    <a:lnTo>
                      <a:pt x="0" y="215"/>
                    </a:lnTo>
                    <a:lnTo>
                      <a:pt x="0" y="307"/>
                    </a:lnTo>
                    <a:lnTo>
                      <a:pt x="4" y="403"/>
                    </a:lnTo>
                    <a:lnTo>
                      <a:pt x="7" y="513"/>
                    </a:lnTo>
                    <a:lnTo>
                      <a:pt x="28" y="626"/>
                    </a:lnTo>
                    <a:lnTo>
                      <a:pt x="52" y="744"/>
                    </a:lnTo>
                    <a:lnTo>
                      <a:pt x="65" y="844"/>
                    </a:lnTo>
                    <a:lnTo>
                      <a:pt x="85" y="917"/>
                    </a:lnTo>
                    <a:lnTo>
                      <a:pt x="81" y="982"/>
                    </a:lnTo>
                    <a:lnTo>
                      <a:pt x="89" y="1018"/>
                    </a:lnTo>
                    <a:lnTo>
                      <a:pt x="117" y="1046"/>
                    </a:lnTo>
                    <a:lnTo>
                      <a:pt x="153" y="1070"/>
                    </a:lnTo>
                    <a:lnTo>
                      <a:pt x="201" y="1075"/>
                    </a:lnTo>
                    <a:lnTo>
                      <a:pt x="224" y="1063"/>
                    </a:lnTo>
                    <a:lnTo>
                      <a:pt x="257" y="1059"/>
                    </a:lnTo>
                    <a:lnTo>
                      <a:pt x="334" y="1043"/>
                    </a:lnTo>
                    <a:lnTo>
                      <a:pt x="300" y="1003"/>
                    </a:lnTo>
                    <a:lnTo>
                      <a:pt x="265" y="944"/>
                    </a:lnTo>
                    <a:lnTo>
                      <a:pt x="318" y="985"/>
                    </a:lnTo>
                    <a:lnTo>
                      <a:pt x="357" y="1022"/>
                    </a:lnTo>
                    <a:lnTo>
                      <a:pt x="386" y="1043"/>
                    </a:lnTo>
                    <a:lnTo>
                      <a:pt x="426" y="1063"/>
                    </a:lnTo>
                    <a:lnTo>
                      <a:pt x="470" y="1063"/>
                    </a:lnTo>
                    <a:lnTo>
                      <a:pt x="513" y="1063"/>
                    </a:lnTo>
                    <a:lnTo>
                      <a:pt x="538" y="1051"/>
                    </a:lnTo>
                    <a:lnTo>
                      <a:pt x="550" y="1039"/>
                    </a:lnTo>
                    <a:lnTo>
                      <a:pt x="494" y="1006"/>
                    </a:lnTo>
                    <a:lnTo>
                      <a:pt x="438" y="954"/>
                    </a:lnTo>
                    <a:lnTo>
                      <a:pt x="422" y="929"/>
                    </a:lnTo>
                    <a:lnTo>
                      <a:pt x="466" y="941"/>
                    </a:lnTo>
                    <a:lnTo>
                      <a:pt x="534" y="994"/>
                    </a:lnTo>
                    <a:lnTo>
                      <a:pt x="562" y="1018"/>
                    </a:lnTo>
                    <a:lnTo>
                      <a:pt x="626" y="1022"/>
                    </a:lnTo>
                    <a:lnTo>
                      <a:pt x="646" y="1010"/>
                    </a:lnTo>
                    <a:lnTo>
                      <a:pt x="646" y="982"/>
                    </a:lnTo>
                    <a:lnTo>
                      <a:pt x="646" y="90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5" name="Freeform 137"/>
              <p:cNvSpPr>
                <a:spLocks/>
              </p:cNvSpPr>
              <p:nvPr/>
            </p:nvSpPr>
            <p:spPr bwMode="auto">
              <a:xfrm>
                <a:off x="2520" y="2218"/>
                <a:ext cx="27" cy="70"/>
              </a:xfrm>
              <a:custGeom>
                <a:avLst/>
                <a:gdLst>
                  <a:gd name="T0" fmla="*/ 0 w 188"/>
                  <a:gd name="T1" fmla="*/ 0 h 496"/>
                  <a:gd name="T2" fmla="*/ 0 w 188"/>
                  <a:gd name="T3" fmla="*/ 0 h 496"/>
                  <a:gd name="T4" fmla="*/ 0 w 188"/>
                  <a:gd name="T5" fmla="*/ 0 h 496"/>
                  <a:gd name="T6" fmla="*/ 0 w 188"/>
                  <a:gd name="T7" fmla="*/ 0 h 496"/>
                  <a:gd name="T8" fmla="*/ 0 w 188"/>
                  <a:gd name="T9" fmla="*/ 0 h 496"/>
                  <a:gd name="T10" fmla="*/ 0 w 188"/>
                  <a:gd name="T11" fmla="*/ 0 h 496"/>
                  <a:gd name="T12" fmla="*/ 0 w 188"/>
                  <a:gd name="T13" fmla="*/ 0 h 496"/>
                  <a:gd name="T14" fmla="*/ 0 w 188"/>
                  <a:gd name="T15" fmla="*/ 0 h 496"/>
                  <a:gd name="T16" fmla="*/ 0 w 188"/>
                  <a:gd name="T17" fmla="*/ 0 h 496"/>
                  <a:gd name="T18" fmla="*/ 0 w 188"/>
                  <a:gd name="T19" fmla="*/ 0 h 496"/>
                  <a:gd name="T20" fmla="*/ 0 w 188"/>
                  <a:gd name="T21" fmla="*/ 0 h 496"/>
                  <a:gd name="T22" fmla="*/ 0 w 188"/>
                  <a:gd name="T23" fmla="*/ 0 h 496"/>
                  <a:gd name="T24" fmla="*/ 0 w 188"/>
                  <a:gd name="T25" fmla="*/ 0 h 496"/>
                  <a:gd name="T26" fmla="*/ 0 w 188"/>
                  <a:gd name="T27" fmla="*/ 0 h 49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188" h="496">
                    <a:moveTo>
                      <a:pt x="188" y="496"/>
                    </a:moveTo>
                    <a:lnTo>
                      <a:pt x="155" y="480"/>
                    </a:lnTo>
                    <a:lnTo>
                      <a:pt x="120" y="440"/>
                    </a:lnTo>
                    <a:lnTo>
                      <a:pt x="89" y="369"/>
                    </a:lnTo>
                    <a:lnTo>
                      <a:pt x="72" y="307"/>
                    </a:lnTo>
                    <a:lnTo>
                      <a:pt x="48" y="238"/>
                    </a:lnTo>
                    <a:lnTo>
                      <a:pt x="37" y="173"/>
                    </a:lnTo>
                    <a:lnTo>
                      <a:pt x="17" y="73"/>
                    </a:lnTo>
                    <a:lnTo>
                      <a:pt x="0" y="0"/>
                    </a:lnTo>
                    <a:lnTo>
                      <a:pt x="41" y="145"/>
                    </a:lnTo>
                    <a:lnTo>
                      <a:pt x="72" y="258"/>
                    </a:lnTo>
                    <a:lnTo>
                      <a:pt x="108" y="335"/>
                    </a:lnTo>
                    <a:lnTo>
                      <a:pt x="164" y="416"/>
                    </a:lnTo>
                    <a:lnTo>
                      <a:pt x="188" y="49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6" name="Freeform 138"/>
              <p:cNvSpPr>
                <a:spLocks/>
              </p:cNvSpPr>
              <p:nvPr/>
            </p:nvSpPr>
            <p:spPr bwMode="auto">
              <a:xfrm>
                <a:off x="2548" y="2160"/>
                <a:ext cx="107" cy="107"/>
              </a:xfrm>
              <a:custGeom>
                <a:avLst/>
                <a:gdLst>
                  <a:gd name="T0" fmla="*/ 0 w 747"/>
                  <a:gd name="T1" fmla="*/ 0 h 747"/>
                  <a:gd name="T2" fmla="*/ 0 w 747"/>
                  <a:gd name="T3" fmla="*/ 0 h 747"/>
                  <a:gd name="T4" fmla="*/ 0 w 747"/>
                  <a:gd name="T5" fmla="*/ 0 h 747"/>
                  <a:gd name="T6" fmla="*/ 0 w 747"/>
                  <a:gd name="T7" fmla="*/ 0 h 747"/>
                  <a:gd name="T8" fmla="*/ 0 w 747"/>
                  <a:gd name="T9" fmla="*/ 0 h 747"/>
                  <a:gd name="T10" fmla="*/ 0 w 747"/>
                  <a:gd name="T11" fmla="*/ 0 h 747"/>
                  <a:gd name="T12" fmla="*/ 0 w 747"/>
                  <a:gd name="T13" fmla="*/ 0 h 747"/>
                  <a:gd name="T14" fmla="*/ 0 w 747"/>
                  <a:gd name="T15" fmla="*/ 0 h 747"/>
                  <a:gd name="T16" fmla="*/ 0 w 747"/>
                  <a:gd name="T17" fmla="*/ 0 h 747"/>
                  <a:gd name="T18" fmla="*/ 0 w 747"/>
                  <a:gd name="T19" fmla="*/ 0 h 747"/>
                  <a:gd name="T20" fmla="*/ 0 w 747"/>
                  <a:gd name="T21" fmla="*/ 0 h 747"/>
                  <a:gd name="T22" fmla="*/ 0 w 747"/>
                  <a:gd name="T23" fmla="*/ 0 h 747"/>
                  <a:gd name="T24" fmla="*/ 0 w 747"/>
                  <a:gd name="T25" fmla="*/ 0 h 747"/>
                  <a:gd name="T26" fmla="*/ 0 w 747"/>
                  <a:gd name="T27" fmla="*/ 0 h 747"/>
                  <a:gd name="T28" fmla="*/ 0 w 747"/>
                  <a:gd name="T29" fmla="*/ 0 h 747"/>
                  <a:gd name="T30" fmla="*/ 0 w 747"/>
                  <a:gd name="T31" fmla="*/ 0 h 747"/>
                  <a:gd name="T32" fmla="*/ 0 w 747"/>
                  <a:gd name="T33" fmla="*/ 0 h 747"/>
                  <a:gd name="T34" fmla="*/ 0 w 747"/>
                  <a:gd name="T35" fmla="*/ 0 h 747"/>
                  <a:gd name="T36" fmla="*/ 0 w 747"/>
                  <a:gd name="T37" fmla="*/ 0 h 747"/>
                  <a:gd name="T38" fmla="*/ 0 w 747"/>
                  <a:gd name="T39" fmla="*/ 0 h 747"/>
                  <a:gd name="T40" fmla="*/ 0 w 747"/>
                  <a:gd name="T41" fmla="*/ 0 h 747"/>
                  <a:gd name="T42" fmla="*/ 0 w 747"/>
                  <a:gd name="T43" fmla="*/ 0 h 747"/>
                  <a:gd name="T44" fmla="*/ 0 w 747"/>
                  <a:gd name="T45" fmla="*/ 0 h 747"/>
                  <a:gd name="T46" fmla="*/ 0 w 747"/>
                  <a:gd name="T47" fmla="*/ 0 h 747"/>
                  <a:gd name="T48" fmla="*/ 0 w 747"/>
                  <a:gd name="T49" fmla="*/ 0 h 747"/>
                  <a:gd name="T50" fmla="*/ 0 w 747"/>
                  <a:gd name="T51" fmla="*/ 0 h 747"/>
                  <a:gd name="T52" fmla="*/ 0 w 747"/>
                  <a:gd name="T53" fmla="*/ 0 h 747"/>
                  <a:gd name="T54" fmla="*/ 0 w 747"/>
                  <a:gd name="T55" fmla="*/ 0 h 747"/>
                  <a:gd name="T56" fmla="*/ 0 w 747"/>
                  <a:gd name="T57" fmla="*/ 0 h 747"/>
                  <a:gd name="T58" fmla="*/ 0 w 747"/>
                  <a:gd name="T59" fmla="*/ 0 h 747"/>
                  <a:gd name="T60" fmla="*/ 0 w 747"/>
                  <a:gd name="T61" fmla="*/ 0 h 747"/>
                  <a:gd name="T62" fmla="*/ 0 w 747"/>
                  <a:gd name="T63" fmla="*/ 0 h 747"/>
                  <a:gd name="T64" fmla="*/ 0 w 747"/>
                  <a:gd name="T65" fmla="*/ 0 h 747"/>
                  <a:gd name="T66" fmla="*/ 0 w 747"/>
                  <a:gd name="T67" fmla="*/ 0 h 747"/>
                  <a:gd name="T68" fmla="*/ 0 w 747"/>
                  <a:gd name="T69" fmla="*/ 0 h 747"/>
                  <a:gd name="T70" fmla="*/ 0 w 747"/>
                  <a:gd name="T71" fmla="*/ 0 h 747"/>
                  <a:gd name="T72" fmla="*/ 0 w 747"/>
                  <a:gd name="T73" fmla="*/ 0 h 747"/>
                  <a:gd name="T74" fmla="*/ 0 w 747"/>
                  <a:gd name="T75" fmla="*/ 0 h 747"/>
                  <a:gd name="T76" fmla="*/ 0 w 747"/>
                  <a:gd name="T77" fmla="*/ 0 h 747"/>
                  <a:gd name="T78" fmla="*/ 0 w 747"/>
                  <a:gd name="T79" fmla="*/ 0 h 747"/>
                  <a:gd name="T80" fmla="*/ 0 w 747"/>
                  <a:gd name="T81" fmla="*/ 0 h 747"/>
                  <a:gd name="T82" fmla="*/ 0 w 747"/>
                  <a:gd name="T83" fmla="*/ 0 h 747"/>
                  <a:gd name="T84" fmla="*/ 0 w 747"/>
                  <a:gd name="T85" fmla="*/ 0 h 747"/>
                  <a:gd name="T86" fmla="*/ 0 w 747"/>
                  <a:gd name="T87" fmla="*/ 0 h 747"/>
                  <a:gd name="T88" fmla="*/ 0 w 747"/>
                  <a:gd name="T89" fmla="*/ 0 h 747"/>
                  <a:gd name="T90" fmla="*/ 0 w 747"/>
                  <a:gd name="T91" fmla="*/ 0 h 747"/>
                  <a:gd name="T92" fmla="*/ 0 w 747"/>
                  <a:gd name="T93" fmla="*/ 0 h 747"/>
                  <a:gd name="T94" fmla="*/ 0 w 747"/>
                  <a:gd name="T95" fmla="*/ 0 h 747"/>
                  <a:gd name="T96" fmla="*/ 0 w 747"/>
                  <a:gd name="T97" fmla="*/ 0 h 747"/>
                  <a:gd name="T98" fmla="*/ 0 w 747"/>
                  <a:gd name="T99" fmla="*/ 0 h 747"/>
                  <a:gd name="T100" fmla="*/ 0 w 747"/>
                  <a:gd name="T101" fmla="*/ 0 h 747"/>
                  <a:gd name="T102" fmla="*/ 0 w 747"/>
                  <a:gd name="T103" fmla="*/ 0 h 747"/>
                  <a:gd name="T104" fmla="*/ 0 w 747"/>
                  <a:gd name="T105" fmla="*/ 0 h 747"/>
                  <a:gd name="T106" fmla="*/ 0 w 747"/>
                  <a:gd name="T107" fmla="*/ 0 h 747"/>
                  <a:gd name="T108" fmla="*/ 0 w 747"/>
                  <a:gd name="T109" fmla="*/ 0 h 747"/>
                  <a:gd name="T110" fmla="*/ 0 w 747"/>
                  <a:gd name="T111" fmla="*/ 0 h 747"/>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747" h="747">
                    <a:moveTo>
                      <a:pt x="138" y="0"/>
                    </a:moveTo>
                    <a:lnTo>
                      <a:pt x="225" y="27"/>
                    </a:lnTo>
                    <a:lnTo>
                      <a:pt x="266" y="63"/>
                    </a:lnTo>
                    <a:lnTo>
                      <a:pt x="290" y="137"/>
                    </a:lnTo>
                    <a:lnTo>
                      <a:pt x="290" y="204"/>
                    </a:lnTo>
                    <a:lnTo>
                      <a:pt x="277" y="244"/>
                    </a:lnTo>
                    <a:lnTo>
                      <a:pt x="285" y="314"/>
                    </a:lnTo>
                    <a:lnTo>
                      <a:pt x="285" y="366"/>
                    </a:lnTo>
                    <a:lnTo>
                      <a:pt x="273" y="379"/>
                    </a:lnTo>
                    <a:lnTo>
                      <a:pt x="285" y="399"/>
                    </a:lnTo>
                    <a:lnTo>
                      <a:pt x="294" y="419"/>
                    </a:lnTo>
                    <a:lnTo>
                      <a:pt x="277" y="440"/>
                    </a:lnTo>
                    <a:lnTo>
                      <a:pt x="277" y="460"/>
                    </a:lnTo>
                    <a:lnTo>
                      <a:pt x="310" y="468"/>
                    </a:lnTo>
                    <a:lnTo>
                      <a:pt x="306" y="488"/>
                    </a:lnTo>
                    <a:lnTo>
                      <a:pt x="337" y="500"/>
                    </a:lnTo>
                    <a:lnTo>
                      <a:pt x="367" y="492"/>
                    </a:lnTo>
                    <a:lnTo>
                      <a:pt x="386" y="500"/>
                    </a:lnTo>
                    <a:lnTo>
                      <a:pt x="475" y="513"/>
                    </a:lnTo>
                    <a:lnTo>
                      <a:pt x="555" y="508"/>
                    </a:lnTo>
                    <a:lnTo>
                      <a:pt x="606" y="513"/>
                    </a:lnTo>
                    <a:lnTo>
                      <a:pt x="640" y="533"/>
                    </a:lnTo>
                    <a:lnTo>
                      <a:pt x="720" y="533"/>
                    </a:lnTo>
                    <a:lnTo>
                      <a:pt x="747" y="561"/>
                    </a:lnTo>
                    <a:lnTo>
                      <a:pt x="747" y="592"/>
                    </a:lnTo>
                    <a:lnTo>
                      <a:pt x="743" y="646"/>
                    </a:lnTo>
                    <a:lnTo>
                      <a:pt x="679" y="662"/>
                    </a:lnTo>
                    <a:lnTo>
                      <a:pt x="679" y="628"/>
                    </a:lnTo>
                    <a:lnTo>
                      <a:pt x="675" y="601"/>
                    </a:lnTo>
                    <a:lnTo>
                      <a:pt x="663" y="588"/>
                    </a:lnTo>
                    <a:lnTo>
                      <a:pt x="659" y="621"/>
                    </a:lnTo>
                    <a:lnTo>
                      <a:pt x="655" y="662"/>
                    </a:lnTo>
                    <a:lnTo>
                      <a:pt x="640" y="687"/>
                    </a:lnTo>
                    <a:lnTo>
                      <a:pt x="611" y="718"/>
                    </a:lnTo>
                    <a:lnTo>
                      <a:pt x="544" y="734"/>
                    </a:lnTo>
                    <a:lnTo>
                      <a:pt x="491" y="743"/>
                    </a:lnTo>
                    <a:lnTo>
                      <a:pt x="430" y="747"/>
                    </a:lnTo>
                    <a:lnTo>
                      <a:pt x="507" y="702"/>
                    </a:lnTo>
                    <a:lnTo>
                      <a:pt x="559" y="662"/>
                    </a:lnTo>
                    <a:lnTo>
                      <a:pt x="570" y="628"/>
                    </a:lnTo>
                    <a:lnTo>
                      <a:pt x="563" y="601"/>
                    </a:lnTo>
                    <a:lnTo>
                      <a:pt x="519" y="597"/>
                    </a:lnTo>
                    <a:lnTo>
                      <a:pt x="503" y="628"/>
                    </a:lnTo>
                    <a:lnTo>
                      <a:pt x="491" y="666"/>
                    </a:lnTo>
                    <a:lnTo>
                      <a:pt x="450" y="706"/>
                    </a:lnTo>
                    <a:lnTo>
                      <a:pt x="407" y="739"/>
                    </a:lnTo>
                    <a:lnTo>
                      <a:pt x="362" y="743"/>
                    </a:lnTo>
                    <a:lnTo>
                      <a:pt x="294" y="739"/>
                    </a:lnTo>
                    <a:lnTo>
                      <a:pt x="367" y="681"/>
                    </a:lnTo>
                    <a:lnTo>
                      <a:pt x="419" y="653"/>
                    </a:lnTo>
                    <a:lnTo>
                      <a:pt x="458" y="621"/>
                    </a:lnTo>
                    <a:lnTo>
                      <a:pt x="471" y="597"/>
                    </a:lnTo>
                    <a:lnTo>
                      <a:pt x="468" y="572"/>
                    </a:lnTo>
                    <a:lnTo>
                      <a:pt x="443" y="568"/>
                    </a:lnTo>
                    <a:lnTo>
                      <a:pt x="415" y="592"/>
                    </a:lnTo>
                    <a:lnTo>
                      <a:pt x="398" y="625"/>
                    </a:lnTo>
                    <a:lnTo>
                      <a:pt x="362" y="666"/>
                    </a:lnTo>
                    <a:lnTo>
                      <a:pt x="318" y="687"/>
                    </a:lnTo>
                    <a:lnTo>
                      <a:pt x="285" y="706"/>
                    </a:lnTo>
                    <a:lnTo>
                      <a:pt x="250" y="722"/>
                    </a:lnTo>
                    <a:lnTo>
                      <a:pt x="209" y="730"/>
                    </a:lnTo>
                    <a:lnTo>
                      <a:pt x="161" y="730"/>
                    </a:lnTo>
                    <a:lnTo>
                      <a:pt x="115" y="721"/>
                    </a:lnTo>
                    <a:lnTo>
                      <a:pt x="217" y="687"/>
                    </a:lnTo>
                    <a:lnTo>
                      <a:pt x="257" y="666"/>
                    </a:lnTo>
                    <a:lnTo>
                      <a:pt x="285" y="628"/>
                    </a:lnTo>
                    <a:lnTo>
                      <a:pt x="290" y="597"/>
                    </a:lnTo>
                    <a:lnTo>
                      <a:pt x="266" y="597"/>
                    </a:lnTo>
                    <a:lnTo>
                      <a:pt x="254" y="625"/>
                    </a:lnTo>
                    <a:lnTo>
                      <a:pt x="233" y="649"/>
                    </a:lnTo>
                    <a:lnTo>
                      <a:pt x="201" y="674"/>
                    </a:lnTo>
                    <a:lnTo>
                      <a:pt x="165" y="699"/>
                    </a:lnTo>
                    <a:lnTo>
                      <a:pt x="117" y="719"/>
                    </a:lnTo>
                    <a:lnTo>
                      <a:pt x="81" y="706"/>
                    </a:lnTo>
                    <a:lnTo>
                      <a:pt x="65" y="687"/>
                    </a:lnTo>
                    <a:lnTo>
                      <a:pt x="37" y="636"/>
                    </a:lnTo>
                    <a:lnTo>
                      <a:pt x="89" y="625"/>
                    </a:lnTo>
                    <a:lnTo>
                      <a:pt x="189" y="613"/>
                    </a:lnTo>
                    <a:lnTo>
                      <a:pt x="250" y="585"/>
                    </a:lnTo>
                    <a:lnTo>
                      <a:pt x="281" y="558"/>
                    </a:lnTo>
                    <a:lnTo>
                      <a:pt x="294" y="525"/>
                    </a:lnTo>
                    <a:lnTo>
                      <a:pt x="298" y="508"/>
                    </a:lnTo>
                    <a:lnTo>
                      <a:pt x="281" y="508"/>
                    </a:lnTo>
                    <a:lnTo>
                      <a:pt x="261" y="533"/>
                    </a:lnTo>
                    <a:lnTo>
                      <a:pt x="229" y="576"/>
                    </a:lnTo>
                    <a:lnTo>
                      <a:pt x="157" y="601"/>
                    </a:lnTo>
                    <a:lnTo>
                      <a:pt x="89" y="622"/>
                    </a:lnTo>
                    <a:lnTo>
                      <a:pt x="37" y="636"/>
                    </a:lnTo>
                    <a:lnTo>
                      <a:pt x="17" y="553"/>
                    </a:lnTo>
                    <a:lnTo>
                      <a:pt x="13" y="492"/>
                    </a:lnTo>
                    <a:lnTo>
                      <a:pt x="13" y="439"/>
                    </a:lnTo>
                    <a:lnTo>
                      <a:pt x="81" y="476"/>
                    </a:lnTo>
                    <a:lnTo>
                      <a:pt x="161" y="492"/>
                    </a:lnTo>
                    <a:lnTo>
                      <a:pt x="225" y="488"/>
                    </a:lnTo>
                    <a:lnTo>
                      <a:pt x="242" y="481"/>
                    </a:lnTo>
                    <a:lnTo>
                      <a:pt x="250" y="460"/>
                    </a:lnTo>
                    <a:lnTo>
                      <a:pt x="213" y="460"/>
                    </a:lnTo>
                    <a:lnTo>
                      <a:pt x="174" y="472"/>
                    </a:lnTo>
                    <a:lnTo>
                      <a:pt x="79" y="476"/>
                    </a:lnTo>
                    <a:lnTo>
                      <a:pt x="13" y="440"/>
                    </a:lnTo>
                    <a:lnTo>
                      <a:pt x="9" y="363"/>
                    </a:lnTo>
                    <a:lnTo>
                      <a:pt x="4" y="310"/>
                    </a:lnTo>
                    <a:lnTo>
                      <a:pt x="0" y="258"/>
                    </a:lnTo>
                    <a:lnTo>
                      <a:pt x="9" y="169"/>
                    </a:lnTo>
                    <a:lnTo>
                      <a:pt x="29" y="137"/>
                    </a:lnTo>
                    <a:lnTo>
                      <a:pt x="89" y="97"/>
                    </a:lnTo>
                    <a:lnTo>
                      <a:pt x="70" y="101"/>
                    </a:lnTo>
                    <a:lnTo>
                      <a:pt x="9" y="129"/>
                    </a:lnTo>
                    <a:lnTo>
                      <a:pt x="33" y="72"/>
                    </a:lnTo>
                    <a:lnTo>
                      <a:pt x="53" y="43"/>
                    </a:lnTo>
                    <a:lnTo>
                      <a:pt x="70" y="23"/>
                    </a:lnTo>
                    <a:lnTo>
                      <a:pt x="138"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7" name="Freeform 139"/>
              <p:cNvSpPr>
                <a:spLocks/>
              </p:cNvSpPr>
              <p:nvPr/>
            </p:nvSpPr>
            <p:spPr bwMode="auto">
              <a:xfrm>
                <a:off x="2555" y="2200"/>
                <a:ext cx="27" cy="24"/>
              </a:xfrm>
              <a:custGeom>
                <a:avLst/>
                <a:gdLst>
                  <a:gd name="T0" fmla="*/ 0 w 188"/>
                  <a:gd name="T1" fmla="*/ 0 h 168"/>
                  <a:gd name="T2" fmla="*/ 0 w 188"/>
                  <a:gd name="T3" fmla="*/ 0 h 168"/>
                  <a:gd name="T4" fmla="*/ 0 w 188"/>
                  <a:gd name="T5" fmla="*/ 0 h 168"/>
                  <a:gd name="T6" fmla="*/ 0 w 188"/>
                  <a:gd name="T7" fmla="*/ 0 h 168"/>
                  <a:gd name="T8" fmla="*/ 0 w 188"/>
                  <a:gd name="T9" fmla="*/ 0 h 168"/>
                  <a:gd name="T10" fmla="*/ 0 w 188"/>
                  <a:gd name="T11" fmla="*/ 0 h 168"/>
                  <a:gd name="T12" fmla="*/ 0 w 188"/>
                  <a:gd name="T13" fmla="*/ 0 h 168"/>
                  <a:gd name="T14" fmla="*/ 0 w 188"/>
                  <a:gd name="T15" fmla="*/ 0 h 168"/>
                  <a:gd name="T16" fmla="*/ 0 w 188"/>
                  <a:gd name="T17" fmla="*/ 0 h 168"/>
                  <a:gd name="T18" fmla="*/ 0 w 188"/>
                  <a:gd name="T19" fmla="*/ 0 h 168"/>
                  <a:gd name="T20" fmla="*/ 0 w 188"/>
                  <a:gd name="T21" fmla="*/ 0 h 168"/>
                  <a:gd name="T22" fmla="*/ 0 w 188"/>
                  <a:gd name="T23" fmla="*/ 0 h 168"/>
                  <a:gd name="T24" fmla="*/ 0 w 188"/>
                  <a:gd name="T25" fmla="*/ 0 h 168"/>
                  <a:gd name="T26" fmla="*/ 0 w 188"/>
                  <a:gd name="T27" fmla="*/ 0 h 168"/>
                  <a:gd name="T28" fmla="*/ 0 w 188"/>
                  <a:gd name="T29" fmla="*/ 0 h 168"/>
                  <a:gd name="T30" fmla="*/ 0 w 188"/>
                  <a:gd name="T31" fmla="*/ 0 h 168"/>
                  <a:gd name="T32" fmla="*/ 0 w 188"/>
                  <a:gd name="T33" fmla="*/ 0 h 168"/>
                  <a:gd name="T34" fmla="*/ 0 w 188"/>
                  <a:gd name="T35" fmla="*/ 0 h 168"/>
                  <a:gd name="T36" fmla="*/ 0 w 188"/>
                  <a:gd name="T37" fmla="*/ 0 h 168"/>
                  <a:gd name="T38" fmla="*/ 0 w 188"/>
                  <a:gd name="T39" fmla="*/ 0 h 168"/>
                  <a:gd name="T40" fmla="*/ 0 w 188"/>
                  <a:gd name="T41" fmla="*/ 0 h 168"/>
                  <a:gd name="T42" fmla="*/ 0 w 188"/>
                  <a:gd name="T43" fmla="*/ 0 h 168"/>
                  <a:gd name="T44" fmla="*/ 0 w 188"/>
                  <a:gd name="T45" fmla="*/ 0 h 168"/>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188" h="168">
                    <a:moveTo>
                      <a:pt x="188" y="0"/>
                    </a:moveTo>
                    <a:lnTo>
                      <a:pt x="188" y="13"/>
                    </a:lnTo>
                    <a:lnTo>
                      <a:pt x="163" y="46"/>
                    </a:lnTo>
                    <a:lnTo>
                      <a:pt x="141" y="64"/>
                    </a:lnTo>
                    <a:lnTo>
                      <a:pt x="90" y="101"/>
                    </a:lnTo>
                    <a:lnTo>
                      <a:pt x="69" y="117"/>
                    </a:lnTo>
                    <a:lnTo>
                      <a:pt x="23" y="153"/>
                    </a:lnTo>
                    <a:lnTo>
                      <a:pt x="74" y="136"/>
                    </a:lnTo>
                    <a:lnTo>
                      <a:pt x="125" y="121"/>
                    </a:lnTo>
                    <a:lnTo>
                      <a:pt x="177" y="117"/>
                    </a:lnTo>
                    <a:lnTo>
                      <a:pt x="173" y="132"/>
                    </a:lnTo>
                    <a:lnTo>
                      <a:pt x="90" y="148"/>
                    </a:lnTo>
                    <a:lnTo>
                      <a:pt x="47" y="165"/>
                    </a:lnTo>
                    <a:lnTo>
                      <a:pt x="23" y="168"/>
                    </a:lnTo>
                    <a:lnTo>
                      <a:pt x="2" y="162"/>
                    </a:lnTo>
                    <a:lnTo>
                      <a:pt x="0" y="142"/>
                    </a:lnTo>
                    <a:lnTo>
                      <a:pt x="17" y="127"/>
                    </a:lnTo>
                    <a:lnTo>
                      <a:pt x="40" y="105"/>
                    </a:lnTo>
                    <a:lnTo>
                      <a:pt x="67" y="72"/>
                    </a:lnTo>
                    <a:lnTo>
                      <a:pt x="96" y="36"/>
                    </a:lnTo>
                    <a:lnTo>
                      <a:pt x="130" y="11"/>
                    </a:lnTo>
                    <a:lnTo>
                      <a:pt x="165" y="2"/>
                    </a:lnTo>
                    <a:lnTo>
                      <a:pt x="188"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8" name="Freeform 140"/>
              <p:cNvSpPr>
                <a:spLocks/>
              </p:cNvSpPr>
              <p:nvPr/>
            </p:nvSpPr>
            <p:spPr bwMode="auto">
              <a:xfrm>
                <a:off x="2556" y="2180"/>
                <a:ext cx="25" cy="32"/>
              </a:xfrm>
              <a:custGeom>
                <a:avLst/>
                <a:gdLst>
                  <a:gd name="T0" fmla="*/ 0 w 171"/>
                  <a:gd name="T1" fmla="*/ 0 h 221"/>
                  <a:gd name="T2" fmla="*/ 0 w 171"/>
                  <a:gd name="T3" fmla="*/ 0 h 221"/>
                  <a:gd name="T4" fmla="*/ 0 w 171"/>
                  <a:gd name="T5" fmla="*/ 0 h 221"/>
                  <a:gd name="T6" fmla="*/ 0 w 171"/>
                  <a:gd name="T7" fmla="*/ 0 h 221"/>
                  <a:gd name="T8" fmla="*/ 0 w 171"/>
                  <a:gd name="T9" fmla="*/ 0 h 221"/>
                  <a:gd name="T10" fmla="*/ 0 w 171"/>
                  <a:gd name="T11" fmla="*/ 0 h 221"/>
                  <a:gd name="T12" fmla="*/ 0 w 171"/>
                  <a:gd name="T13" fmla="*/ 0 h 221"/>
                  <a:gd name="T14" fmla="*/ 0 w 171"/>
                  <a:gd name="T15" fmla="*/ 0 h 221"/>
                  <a:gd name="T16" fmla="*/ 0 w 171"/>
                  <a:gd name="T17" fmla="*/ 0 h 221"/>
                  <a:gd name="T18" fmla="*/ 0 w 171"/>
                  <a:gd name="T19" fmla="*/ 0 h 221"/>
                  <a:gd name="T20" fmla="*/ 0 w 171"/>
                  <a:gd name="T21" fmla="*/ 0 h 221"/>
                  <a:gd name="T22" fmla="*/ 0 w 171"/>
                  <a:gd name="T23" fmla="*/ 0 h 221"/>
                  <a:gd name="T24" fmla="*/ 0 w 171"/>
                  <a:gd name="T25" fmla="*/ 0 h 221"/>
                  <a:gd name="T26" fmla="*/ 0 w 171"/>
                  <a:gd name="T27" fmla="*/ 0 h 221"/>
                  <a:gd name="T28" fmla="*/ 0 w 171"/>
                  <a:gd name="T29" fmla="*/ 0 h 221"/>
                  <a:gd name="T30" fmla="*/ 0 w 171"/>
                  <a:gd name="T31" fmla="*/ 0 h 221"/>
                  <a:gd name="T32" fmla="*/ 0 w 171"/>
                  <a:gd name="T33" fmla="*/ 0 h 221"/>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71" h="221">
                    <a:moveTo>
                      <a:pt x="139" y="0"/>
                    </a:moveTo>
                    <a:lnTo>
                      <a:pt x="163" y="4"/>
                    </a:lnTo>
                    <a:lnTo>
                      <a:pt x="171" y="24"/>
                    </a:lnTo>
                    <a:lnTo>
                      <a:pt x="169" y="42"/>
                    </a:lnTo>
                    <a:lnTo>
                      <a:pt x="155" y="64"/>
                    </a:lnTo>
                    <a:lnTo>
                      <a:pt x="136" y="70"/>
                    </a:lnTo>
                    <a:lnTo>
                      <a:pt x="98" y="95"/>
                    </a:lnTo>
                    <a:lnTo>
                      <a:pt x="61" y="126"/>
                    </a:lnTo>
                    <a:lnTo>
                      <a:pt x="37" y="166"/>
                    </a:lnTo>
                    <a:lnTo>
                      <a:pt x="8" y="208"/>
                    </a:lnTo>
                    <a:lnTo>
                      <a:pt x="0" y="221"/>
                    </a:lnTo>
                    <a:lnTo>
                      <a:pt x="8" y="171"/>
                    </a:lnTo>
                    <a:lnTo>
                      <a:pt x="15" y="127"/>
                    </a:lnTo>
                    <a:lnTo>
                      <a:pt x="28" y="89"/>
                    </a:lnTo>
                    <a:lnTo>
                      <a:pt x="51" y="54"/>
                    </a:lnTo>
                    <a:lnTo>
                      <a:pt x="114" y="6"/>
                    </a:lnTo>
                    <a:lnTo>
                      <a:pt x="139"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9" name="Freeform 141"/>
              <p:cNvSpPr>
                <a:spLocks/>
              </p:cNvSpPr>
              <p:nvPr/>
            </p:nvSpPr>
            <p:spPr bwMode="auto">
              <a:xfrm>
                <a:off x="2559" y="2149"/>
                <a:ext cx="26" cy="18"/>
              </a:xfrm>
              <a:custGeom>
                <a:avLst/>
                <a:gdLst>
                  <a:gd name="T0" fmla="*/ 0 w 182"/>
                  <a:gd name="T1" fmla="*/ 0 h 127"/>
                  <a:gd name="T2" fmla="*/ 0 w 182"/>
                  <a:gd name="T3" fmla="*/ 0 h 127"/>
                  <a:gd name="T4" fmla="*/ 0 w 182"/>
                  <a:gd name="T5" fmla="*/ 0 h 127"/>
                  <a:gd name="T6" fmla="*/ 0 w 182"/>
                  <a:gd name="T7" fmla="*/ 0 h 127"/>
                  <a:gd name="T8" fmla="*/ 0 w 182"/>
                  <a:gd name="T9" fmla="*/ 0 h 127"/>
                  <a:gd name="T10" fmla="*/ 0 w 182"/>
                  <a:gd name="T11" fmla="*/ 0 h 127"/>
                  <a:gd name="T12" fmla="*/ 0 w 182"/>
                  <a:gd name="T13" fmla="*/ 0 h 127"/>
                  <a:gd name="T14" fmla="*/ 0 w 182"/>
                  <a:gd name="T15" fmla="*/ 0 h 127"/>
                  <a:gd name="T16" fmla="*/ 0 w 182"/>
                  <a:gd name="T17" fmla="*/ 0 h 127"/>
                  <a:gd name="T18" fmla="*/ 0 w 182"/>
                  <a:gd name="T19" fmla="*/ 0 h 12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82" h="127">
                    <a:moveTo>
                      <a:pt x="182" y="127"/>
                    </a:moveTo>
                    <a:lnTo>
                      <a:pt x="150" y="99"/>
                    </a:lnTo>
                    <a:lnTo>
                      <a:pt x="98" y="80"/>
                    </a:lnTo>
                    <a:lnTo>
                      <a:pt x="63" y="70"/>
                    </a:lnTo>
                    <a:lnTo>
                      <a:pt x="0" y="0"/>
                    </a:lnTo>
                    <a:lnTo>
                      <a:pt x="47" y="27"/>
                    </a:lnTo>
                    <a:lnTo>
                      <a:pt x="91" y="46"/>
                    </a:lnTo>
                    <a:lnTo>
                      <a:pt x="123" y="62"/>
                    </a:lnTo>
                    <a:lnTo>
                      <a:pt x="138" y="80"/>
                    </a:lnTo>
                    <a:lnTo>
                      <a:pt x="182" y="12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0" name="Freeform 142"/>
              <p:cNvSpPr>
                <a:spLocks/>
              </p:cNvSpPr>
              <p:nvPr/>
            </p:nvSpPr>
            <p:spPr bwMode="auto">
              <a:xfrm>
                <a:off x="2590" y="2182"/>
                <a:ext cx="15" cy="48"/>
              </a:xfrm>
              <a:custGeom>
                <a:avLst/>
                <a:gdLst>
                  <a:gd name="T0" fmla="*/ 0 w 102"/>
                  <a:gd name="T1" fmla="*/ 0 h 331"/>
                  <a:gd name="T2" fmla="*/ 0 w 102"/>
                  <a:gd name="T3" fmla="*/ 0 h 331"/>
                  <a:gd name="T4" fmla="*/ 0 w 102"/>
                  <a:gd name="T5" fmla="*/ 0 h 331"/>
                  <a:gd name="T6" fmla="*/ 0 w 102"/>
                  <a:gd name="T7" fmla="*/ 0 h 331"/>
                  <a:gd name="T8" fmla="*/ 0 w 102"/>
                  <a:gd name="T9" fmla="*/ 0 h 331"/>
                  <a:gd name="T10" fmla="*/ 0 w 102"/>
                  <a:gd name="T11" fmla="*/ 0 h 331"/>
                  <a:gd name="T12" fmla="*/ 0 w 102"/>
                  <a:gd name="T13" fmla="*/ 0 h 331"/>
                  <a:gd name="T14" fmla="*/ 0 w 102"/>
                  <a:gd name="T15" fmla="*/ 0 h 331"/>
                  <a:gd name="T16" fmla="*/ 0 w 102"/>
                  <a:gd name="T17" fmla="*/ 0 h 331"/>
                  <a:gd name="T18" fmla="*/ 0 w 102"/>
                  <a:gd name="T19" fmla="*/ 0 h 331"/>
                  <a:gd name="T20" fmla="*/ 0 w 102"/>
                  <a:gd name="T21" fmla="*/ 0 h 331"/>
                  <a:gd name="T22" fmla="*/ 0 w 102"/>
                  <a:gd name="T23" fmla="*/ 0 h 331"/>
                  <a:gd name="T24" fmla="*/ 0 w 102"/>
                  <a:gd name="T25" fmla="*/ 0 h 331"/>
                  <a:gd name="T26" fmla="*/ 0 w 102"/>
                  <a:gd name="T27" fmla="*/ 0 h 331"/>
                  <a:gd name="T28" fmla="*/ 0 w 102"/>
                  <a:gd name="T29" fmla="*/ 0 h 331"/>
                  <a:gd name="T30" fmla="*/ 0 w 102"/>
                  <a:gd name="T31" fmla="*/ 0 h 331"/>
                  <a:gd name="T32" fmla="*/ 0 w 102"/>
                  <a:gd name="T33" fmla="*/ 0 h 331"/>
                  <a:gd name="T34" fmla="*/ 0 w 102"/>
                  <a:gd name="T35" fmla="*/ 0 h 331"/>
                  <a:gd name="T36" fmla="*/ 0 w 102"/>
                  <a:gd name="T37" fmla="*/ 0 h 33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02" h="331">
                    <a:moveTo>
                      <a:pt x="102" y="331"/>
                    </a:moveTo>
                    <a:lnTo>
                      <a:pt x="51" y="331"/>
                    </a:lnTo>
                    <a:lnTo>
                      <a:pt x="35" y="327"/>
                    </a:lnTo>
                    <a:lnTo>
                      <a:pt x="35" y="314"/>
                    </a:lnTo>
                    <a:lnTo>
                      <a:pt x="24" y="302"/>
                    </a:lnTo>
                    <a:lnTo>
                      <a:pt x="8" y="290"/>
                    </a:lnTo>
                    <a:lnTo>
                      <a:pt x="16" y="278"/>
                    </a:lnTo>
                    <a:lnTo>
                      <a:pt x="16" y="261"/>
                    </a:lnTo>
                    <a:lnTo>
                      <a:pt x="4" y="242"/>
                    </a:lnTo>
                    <a:lnTo>
                      <a:pt x="4" y="221"/>
                    </a:lnTo>
                    <a:lnTo>
                      <a:pt x="12" y="197"/>
                    </a:lnTo>
                    <a:lnTo>
                      <a:pt x="12" y="145"/>
                    </a:lnTo>
                    <a:lnTo>
                      <a:pt x="0" y="96"/>
                    </a:lnTo>
                    <a:lnTo>
                      <a:pt x="4" y="61"/>
                    </a:lnTo>
                    <a:lnTo>
                      <a:pt x="4" y="0"/>
                    </a:lnTo>
                    <a:lnTo>
                      <a:pt x="35" y="91"/>
                    </a:lnTo>
                    <a:lnTo>
                      <a:pt x="63" y="177"/>
                    </a:lnTo>
                    <a:lnTo>
                      <a:pt x="82" y="269"/>
                    </a:lnTo>
                    <a:lnTo>
                      <a:pt x="102" y="33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1" name="Freeform 143"/>
              <p:cNvSpPr>
                <a:spLocks/>
              </p:cNvSpPr>
              <p:nvPr/>
            </p:nvSpPr>
            <p:spPr bwMode="auto">
              <a:xfrm>
                <a:off x="2557" y="2233"/>
                <a:ext cx="26" cy="9"/>
              </a:xfrm>
              <a:custGeom>
                <a:avLst/>
                <a:gdLst>
                  <a:gd name="T0" fmla="*/ 0 w 185"/>
                  <a:gd name="T1" fmla="*/ 0 h 62"/>
                  <a:gd name="T2" fmla="*/ 0 w 185"/>
                  <a:gd name="T3" fmla="*/ 0 h 62"/>
                  <a:gd name="T4" fmla="*/ 0 w 185"/>
                  <a:gd name="T5" fmla="*/ 0 h 62"/>
                  <a:gd name="T6" fmla="*/ 0 w 185"/>
                  <a:gd name="T7" fmla="*/ 0 h 62"/>
                  <a:gd name="T8" fmla="*/ 0 w 185"/>
                  <a:gd name="T9" fmla="*/ 0 h 62"/>
                  <a:gd name="T10" fmla="*/ 0 w 185"/>
                  <a:gd name="T11" fmla="*/ 0 h 62"/>
                  <a:gd name="T12" fmla="*/ 0 w 185"/>
                  <a:gd name="T13" fmla="*/ 0 h 62"/>
                  <a:gd name="T14" fmla="*/ 0 w 185"/>
                  <a:gd name="T15" fmla="*/ 0 h 62"/>
                  <a:gd name="T16" fmla="*/ 0 w 185"/>
                  <a:gd name="T17" fmla="*/ 0 h 62"/>
                  <a:gd name="T18" fmla="*/ 0 w 185"/>
                  <a:gd name="T19" fmla="*/ 0 h 62"/>
                  <a:gd name="T20" fmla="*/ 0 w 185"/>
                  <a:gd name="T21" fmla="*/ 0 h 62"/>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185" h="62">
                    <a:moveTo>
                      <a:pt x="38" y="30"/>
                    </a:moveTo>
                    <a:lnTo>
                      <a:pt x="78" y="13"/>
                    </a:lnTo>
                    <a:lnTo>
                      <a:pt x="115" y="3"/>
                    </a:lnTo>
                    <a:lnTo>
                      <a:pt x="164" y="0"/>
                    </a:lnTo>
                    <a:lnTo>
                      <a:pt x="185" y="4"/>
                    </a:lnTo>
                    <a:lnTo>
                      <a:pt x="176" y="23"/>
                    </a:lnTo>
                    <a:lnTo>
                      <a:pt x="156" y="38"/>
                    </a:lnTo>
                    <a:lnTo>
                      <a:pt x="113" y="51"/>
                    </a:lnTo>
                    <a:lnTo>
                      <a:pt x="45" y="62"/>
                    </a:lnTo>
                    <a:lnTo>
                      <a:pt x="0" y="58"/>
                    </a:lnTo>
                    <a:lnTo>
                      <a:pt x="38" y="3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2" name="Freeform 144"/>
              <p:cNvSpPr>
                <a:spLocks/>
              </p:cNvSpPr>
              <p:nvPr/>
            </p:nvSpPr>
            <p:spPr bwMode="auto">
              <a:xfrm>
                <a:off x="2589" y="2238"/>
                <a:ext cx="16" cy="20"/>
              </a:xfrm>
              <a:custGeom>
                <a:avLst/>
                <a:gdLst>
                  <a:gd name="T0" fmla="*/ 0 w 111"/>
                  <a:gd name="T1" fmla="*/ 0 h 138"/>
                  <a:gd name="T2" fmla="*/ 0 w 111"/>
                  <a:gd name="T3" fmla="*/ 0 h 138"/>
                  <a:gd name="T4" fmla="*/ 0 w 111"/>
                  <a:gd name="T5" fmla="*/ 0 h 138"/>
                  <a:gd name="T6" fmla="*/ 0 w 111"/>
                  <a:gd name="T7" fmla="*/ 0 h 138"/>
                  <a:gd name="T8" fmla="*/ 0 w 111"/>
                  <a:gd name="T9" fmla="*/ 0 h 138"/>
                  <a:gd name="T10" fmla="*/ 0 w 111"/>
                  <a:gd name="T11" fmla="*/ 0 h 138"/>
                  <a:gd name="T12" fmla="*/ 0 w 111"/>
                  <a:gd name="T13" fmla="*/ 0 h 138"/>
                  <a:gd name="T14" fmla="*/ 0 w 111"/>
                  <a:gd name="T15" fmla="*/ 0 h 138"/>
                  <a:gd name="T16" fmla="*/ 0 w 111"/>
                  <a:gd name="T17" fmla="*/ 0 h 138"/>
                  <a:gd name="T18" fmla="*/ 0 w 111"/>
                  <a:gd name="T19" fmla="*/ 0 h 138"/>
                  <a:gd name="T20" fmla="*/ 0 w 111"/>
                  <a:gd name="T21" fmla="*/ 0 h 138"/>
                  <a:gd name="T22" fmla="*/ 0 w 111"/>
                  <a:gd name="T23" fmla="*/ 0 h 138"/>
                  <a:gd name="T24" fmla="*/ 0 w 111"/>
                  <a:gd name="T25" fmla="*/ 0 h 138"/>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11" h="138">
                    <a:moveTo>
                      <a:pt x="60" y="38"/>
                    </a:moveTo>
                    <a:lnTo>
                      <a:pt x="74" y="8"/>
                    </a:lnTo>
                    <a:lnTo>
                      <a:pt x="95" y="0"/>
                    </a:lnTo>
                    <a:lnTo>
                      <a:pt x="109" y="6"/>
                    </a:lnTo>
                    <a:lnTo>
                      <a:pt x="111" y="23"/>
                    </a:lnTo>
                    <a:lnTo>
                      <a:pt x="102" y="49"/>
                    </a:lnTo>
                    <a:lnTo>
                      <a:pt x="85" y="74"/>
                    </a:lnTo>
                    <a:lnTo>
                      <a:pt x="66" y="97"/>
                    </a:lnTo>
                    <a:lnTo>
                      <a:pt x="40" y="119"/>
                    </a:lnTo>
                    <a:lnTo>
                      <a:pt x="0" y="138"/>
                    </a:lnTo>
                    <a:lnTo>
                      <a:pt x="36" y="99"/>
                    </a:lnTo>
                    <a:lnTo>
                      <a:pt x="47" y="70"/>
                    </a:lnTo>
                    <a:lnTo>
                      <a:pt x="6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3" name="Freeform 145"/>
              <p:cNvSpPr>
                <a:spLocks/>
              </p:cNvSpPr>
              <p:nvPr/>
            </p:nvSpPr>
            <p:spPr bwMode="auto">
              <a:xfrm>
                <a:off x="2541" y="2133"/>
                <a:ext cx="38" cy="24"/>
              </a:xfrm>
              <a:custGeom>
                <a:avLst/>
                <a:gdLst>
                  <a:gd name="T0" fmla="*/ 0 w 266"/>
                  <a:gd name="T1" fmla="*/ 0 h 167"/>
                  <a:gd name="T2" fmla="*/ 0 w 266"/>
                  <a:gd name="T3" fmla="*/ 0 h 167"/>
                  <a:gd name="T4" fmla="*/ 0 w 266"/>
                  <a:gd name="T5" fmla="*/ 0 h 167"/>
                  <a:gd name="T6" fmla="*/ 0 w 266"/>
                  <a:gd name="T7" fmla="*/ 0 h 167"/>
                  <a:gd name="T8" fmla="*/ 0 w 266"/>
                  <a:gd name="T9" fmla="*/ 0 h 167"/>
                  <a:gd name="T10" fmla="*/ 0 w 266"/>
                  <a:gd name="T11" fmla="*/ 0 h 167"/>
                  <a:gd name="T12" fmla="*/ 0 w 266"/>
                  <a:gd name="T13" fmla="*/ 0 h 167"/>
                  <a:gd name="T14" fmla="*/ 0 w 266"/>
                  <a:gd name="T15" fmla="*/ 0 h 167"/>
                  <a:gd name="T16" fmla="*/ 0 w 266"/>
                  <a:gd name="T17" fmla="*/ 0 h 167"/>
                  <a:gd name="T18" fmla="*/ 0 w 266"/>
                  <a:gd name="T19" fmla="*/ 0 h 167"/>
                  <a:gd name="T20" fmla="*/ 0 w 266"/>
                  <a:gd name="T21" fmla="*/ 0 h 167"/>
                  <a:gd name="T22" fmla="*/ 0 w 266"/>
                  <a:gd name="T23" fmla="*/ 0 h 167"/>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66" h="167">
                    <a:moveTo>
                      <a:pt x="266" y="167"/>
                    </a:moveTo>
                    <a:lnTo>
                      <a:pt x="258" y="99"/>
                    </a:lnTo>
                    <a:lnTo>
                      <a:pt x="202" y="74"/>
                    </a:lnTo>
                    <a:lnTo>
                      <a:pt x="127" y="44"/>
                    </a:lnTo>
                    <a:lnTo>
                      <a:pt x="72" y="23"/>
                    </a:lnTo>
                    <a:lnTo>
                      <a:pt x="21" y="0"/>
                    </a:lnTo>
                    <a:lnTo>
                      <a:pt x="0" y="48"/>
                    </a:lnTo>
                    <a:lnTo>
                      <a:pt x="49" y="76"/>
                    </a:lnTo>
                    <a:lnTo>
                      <a:pt x="106" y="97"/>
                    </a:lnTo>
                    <a:lnTo>
                      <a:pt x="150" y="110"/>
                    </a:lnTo>
                    <a:lnTo>
                      <a:pt x="204" y="138"/>
                    </a:lnTo>
                    <a:lnTo>
                      <a:pt x="266" y="16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34" name="Group 146"/>
            <p:cNvGrpSpPr>
              <a:grpSpLocks/>
            </p:cNvGrpSpPr>
            <p:nvPr/>
          </p:nvGrpSpPr>
          <p:grpSpPr bwMode="auto">
            <a:xfrm flipH="1">
              <a:off x="3933" y="2647"/>
              <a:ext cx="195" cy="260"/>
              <a:chOff x="2498" y="2245"/>
              <a:chExt cx="78" cy="107"/>
            </a:xfrm>
          </p:grpSpPr>
          <p:sp>
            <p:nvSpPr>
              <p:cNvPr id="38" name="Freeform 147"/>
              <p:cNvSpPr>
                <a:spLocks/>
              </p:cNvSpPr>
              <p:nvPr/>
            </p:nvSpPr>
            <p:spPr bwMode="auto">
              <a:xfrm>
                <a:off x="2498" y="2245"/>
                <a:ext cx="78" cy="107"/>
              </a:xfrm>
              <a:custGeom>
                <a:avLst/>
                <a:gdLst>
                  <a:gd name="T0" fmla="*/ 0 w 551"/>
                  <a:gd name="T1" fmla="*/ 0 h 750"/>
                  <a:gd name="T2" fmla="*/ 0 w 551"/>
                  <a:gd name="T3" fmla="*/ 0 h 750"/>
                  <a:gd name="T4" fmla="*/ 0 w 551"/>
                  <a:gd name="T5" fmla="*/ 0 h 750"/>
                  <a:gd name="T6" fmla="*/ 0 w 551"/>
                  <a:gd name="T7" fmla="*/ 0 h 750"/>
                  <a:gd name="T8" fmla="*/ 0 w 551"/>
                  <a:gd name="T9" fmla="*/ 0 h 750"/>
                  <a:gd name="T10" fmla="*/ 0 w 551"/>
                  <a:gd name="T11" fmla="*/ 0 h 750"/>
                  <a:gd name="T12" fmla="*/ 0 w 551"/>
                  <a:gd name="T13" fmla="*/ 0 h 750"/>
                  <a:gd name="T14" fmla="*/ 0 w 551"/>
                  <a:gd name="T15" fmla="*/ 0 h 750"/>
                  <a:gd name="T16" fmla="*/ 0 w 551"/>
                  <a:gd name="T17" fmla="*/ 0 h 750"/>
                  <a:gd name="T18" fmla="*/ 0 w 551"/>
                  <a:gd name="T19" fmla="*/ 0 h 750"/>
                  <a:gd name="T20" fmla="*/ 0 w 551"/>
                  <a:gd name="T21" fmla="*/ 0 h 750"/>
                  <a:gd name="T22" fmla="*/ 0 w 551"/>
                  <a:gd name="T23" fmla="*/ 0 h 750"/>
                  <a:gd name="T24" fmla="*/ 0 w 551"/>
                  <a:gd name="T25" fmla="*/ 0 h 750"/>
                  <a:gd name="T26" fmla="*/ 0 w 551"/>
                  <a:gd name="T27" fmla="*/ 0 h 750"/>
                  <a:gd name="T28" fmla="*/ 0 w 551"/>
                  <a:gd name="T29" fmla="*/ 0 h 750"/>
                  <a:gd name="T30" fmla="*/ 0 w 551"/>
                  <a:gd name="T31" fmla="*/ 0 h 750"/>
                  <a:gd name="T32" fmla="*/ 0 w 551"/>
                  <a:gd name="T33" fmla="*/ 0 h 750"/>
                  <a:gd name="T34" fmla="*/ 0 w 551"/>
                  <a:gd name="T35" fmla="*/ 0 h 750"/>
                  <a:gd name="T36" fmla="*/ 0 w 551"/>
                  <a:gd name="T37" fmla="*/ 0 h 750"/>
                  <a:gd name="T38" fmla="*/ 0 w 551"/>
                  <a:gd name="T39" fmla="*/ 0 h 750"/>
                  <a:gd name="T40" fmla="*/ 0 w 551"/>
                  <a:gd name="T41" fmla="*/ 0 h 750"/>
                  <a:gd name="T42" fmla="*/ 0 w 551"/>
                  <a:gd name="T43" fmla="*/ 0 h 750"/>
                  <a:gd name="T44" fmla="*/ 0 w 551"/>
                  <a:gd name="T45" fmla="*/ 0 h 750"/>
                  <a:gd name="T46" fmla="*/ 0 w 551"/>
                  <a:gd name="T47" fmla="*/ 0 h 750"/>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551" h="750">
                    <a:moveTo>
                      <a:pt x="306" y="111"/>
                    </a:moveTo>
                    <a:lnTo>
                      <a:pt x="205" y="102"/>
                    </a:lnTo>
                    <a:lnTo>
                      <a:pt x="144" y="86"/>
                    </a:lnTo>
                    <a:lnTo>
                      <a:pt x="124" y="58"/>
                    </a:lnTo>
                    <a:lnTo>
                      <a:pt x="124" y="34"/>
                    </a:lnTo>
                    <a:lnTo>
                      <a:pt x="108" y="14"/>
                    </a:lnTo>
                    <a:lnTo>
                      <a:pt x="52" y="0"/>
                    </a:lnTo>
                    <a:lnTo>
                      <a:pt x="0" y="5"/>
                    </a:lnTo>
                    <a:lnTo>
                      <a:pt x="63" y="584"/>
                    </a:lnTo>
                    <a:lnTo>
                      <a:pt x="108" y="637"/>
                    </a:lnTo>
                    <a:lnTo>
                      <a:pt x="164" y="689"/>
                    </a:lnTo>
                    <a:lnTo>
                      <a:pt x="244" y="730"/>
                    </a:lnTo>
                    <a:lnTo>
                      <a:pt x="337" y="743"/>
                    </a:lnTo>
                    <a:lnTo>
                      <a:pt x="462" y="750"/>
                    </a:lnTo>
                    <a:lnTo>
                      <a:pt x="535" y="739"/>
                    </a:lnTo>
                    <a:lnTo>
                      <a:pt x="551" y="698"/>
                    </a:lnTo>
                    <a:lnTo>
                      <a:pt x="543" y="644"/>
                    </a:lnTo>
                    <a:lnTo>
                      <a:pt x="491" y="483"/>
                    </a:lnTo>
                    <a:lnTo>
                      <a:pt x="447" y="321"/>
                    </a:lnTo>
                    <a:lnTo>
                      <a:pt x="427" y="199"/>
                    </a:lnTo>
                    <a:lnTo>
                      <a:pt x="427" y="167"/>
                    </a:lnTo>
                    <a:lnTo>
                      <a:pt x="398" y="122"/>
                    </a:lnTo>
                    <a:lnTo>
                      <a:pt x="366" y="111"/>
                    </a:lnTo>
                    <a:lnTo>
                      <a:pt x="306" y="111"/>
                    </a:lnTo>
                    <a:close/>
                  </a:path>
                </a:pathLst>
              </a:custGeom>
              <a:solidFill>
                <a:srgbClr val="40404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9" name="Freeform 148"/>
              <p:cNvSpPr>
                <a:spLocks/>
              </p:cNvSpPr>
              <p:nvPr/>
            </p:nvSpPr>
            <p:spPr bwMode="auto">
              <a:xfrm>
                <a:off x="2499" y="2250"/>
                <a:ext cx="68" cy="98"/>
              </a:xfrm>
              <a:custGeom>
                <a:avLst/>
                <a:gdLst>
                  <a:gd name="T0" fmla="*/ 0 w 474"/>
                  <a:gd name="T1" fmla="*/ 0 h 687"/>
                  <a:gd name="T2" fmla="*/ 0 w 474"/>
                  <a:gd name="T3" fmla="*/ 0 h 687"/>
                  <a:gd name="T4" fmla="*/ 0 w 474"/>
                  <a:gd name="T5" fmla="*/ 0 h 687"/>
                  <a:gd name="T6" fmla="*/ 0 w 474"/>
                  <a:gd name="T7" fmla="*/ 0 h 687"/>
                  <a:gd name="T8" fmla="*/ 0 w 474"/>
                  <a:gd name="T9" fmla="*/ 0 h 687"/>
                  <a:gd name="T10" fmla="*/ 0 w 474"/>
                  <a:gd name="T11" fmla="*/ 0 h 687"/>
                  <a:gd name="T12" fmla="*/ 0 w 474"/>
                  <a:gd name="T13" fmla="*/ 0 h 687"/>
                  <a:gd name="T14" fmla="*/ 0 w 474"/>
                  <a:gd name="T15" fmla="*/ 0 h 687"/>
                  <a:gd name="T16" fmla="*/ 0 w 474"/>
                  <a:gd name="T17" fmla="*/ 0 h 687"/>
                  <a:gd name="T18" fmla="*/ 0 w 474"/>
                  <a:gd name="T19" fmla="*/ 0 h 687"/>
                  <a:gd name="T20" fmla="*/ 0 w 474"/>
                  <a:gd name="T21" fmla="*/ 0 h 687"/>
                  <a:gd name="T22" fmla="*/ 0 w 474"/>
                  <a:gd name="T23" fmla="*/ 0 h 687"/>
                  <a:gd name="T24" fmla="*/ 0 w 474"/>
                  <a:gd name="T25" fmla="*/ 0 h 687"/>
                  <a:gd name="T26" fmla="*/ 0 w 474"/>
                  <a:gd name="T27" fmla="*/ 0 h 687"/>
                  <a:gd name="T28" fmla="*/ 0 w 474"/>
                  <a:gd name="T29" fmla="*/ 0 h 687"/>
                  <a:gd name="T30" fmla="*/ 0 w 474"/>
                  <a:gd name="T31" fmla="*/ 0 h 687"/>
                  <a:gd name="T32" fmla="*/ 0 w 474"/>
                  <a:gd name="T33" fmla="*/ 0 h 687"/>
                  <a:gd name="T34" fmla="*/ 0 w 474"/>
                  <a:gd name="T35" fmla="*/ 0 h 687"/>
                  <a:gd name="T36" fmla="*/ 0 w 474"/>
                  <a:gd name="T37" fmla="*/ 0 h 687"/>
                  <a:gd name="T38" fmla="*/ 0 w 474"/>
                  <a:gd name="T39" fmla="*/ 0 h 687"/>
                  <a:gd name="T40" fmla="*/ 0 w 474"/>
                  <a:gd name="T41" fmla="*/ 0 h 687"/>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474" h="687">
                    <a:moveTo>
                      <a:pt x="310" y="138"/>
                    </a:moveTo>
                    <a:lnTo>
                      <a:pt x="221" y="134"/>
                    </a:lnTo>
                    <a:lnTo>
                      <a:pt x="128" y="118"/>
                    </a:lnTo>
                    <a:lnTo>
                      <a:pt x="73" y="89"/>
                    </a:lnTo>
                    <a:lnTo>
                      <a:pt x="41" y="65"/>
                    </a:lnTo>
                    <a:lnTo>
                      <a:pt x="0" y="0"/>
                    </a:lnTo>
                    <a:lnTo>
                      <a:pt x="60" y="529"/>
                    </a:lnTo>
                    <a:lnTo>
                      <a:pt x="101" y="578"/>
                    </a:lnTo>
                    <a:lnTo>
                      <a:pt x="145" y="623"/>
                    </a:lnTo>
                    <a:lnTo>
                      <a:pt x="201" y="654"/>
                    </a:lnTo>
                    <a:lnTo>
                      <a:pt x="249" y="671"/>
                    </a:lnTo>
                    <a:lnTo>
                      <a:pt x="310" y="679"/>
                    </a:lnTo>
                    <a:lnTo>
                      <a:pt x="365" y="687"/>
                    </a:lnTo>
                    <a:lnTo>
                      <a:pt x="429" y="687"/>
                    </a:lnTo>
                    <a:lnTo>
                      <a:pt x="457" y="679"/>
                    </a:lnTo>
                    <a:lnTo>
                      <a:pt x="474" y="654"/>
                    </a:lnTo>
                    <a:lnTo>
                      <a:pt x="466" y="615"/>
                    </a:lnTo>
                    <a:lnTo>
                      <a:pt x="425" y="521"/>
                    </a:lnTo>
                    <a:lnTo>
                      <a:pt x="357" y="206"/>
                    </a:lnTo>
                    <a:lnTo>
                      <a:pt x="345" y="162"/>
                    </a:lnTo>
                    <a:lnTo>
                      <a:pt x="310" y="13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35" name="Freeform 149"/>
            <p:cNvSpPr>
              <a:spLocks/>
            </p:cNvSpPr>
            <p:nvPr/>
          </p:nvSpPr>
          <p:spPr bwMode="auto">
            <a:xfrm flipH="1">
              <a:off x="3633" y="2944"/>
              <a:ext cx="15" cy="218"/>
            </a:xfrm>
            <a:custGeom>
              <a:avLst/>
              <a:gdLst>
                <a:gd name="T0" fmla="*/ 0 w 39"/>
                <a:gd name="T1" fmla="*/ 0 h 631"/>
                <a:gd name="T2" fmla="*/ 0 w 39"/>
                <a:gd name="T3" fmla="*/ 0 h 631"/>
                <a:gd name="T4" fmla="*/ 0 w 39"/>
                <a:gd name="T5" fmla="*/ 0 h 631"/>
                <a:gd name="T6" fmla="*/ 0 w 39"/>
                <a:gd name="T7" fmla="*/ 0 h 631"/>
                <a:gd name="T8" fmla="*/ 0 w 39"/>
                <a:gd name="T9" fmla="*/ 0 h 631"/>
                <a:gd name="T10" fmla="*/ 0 w 39"/>
                <a:gd name="T11" fmla="*/ 1 h 631"/>
                <a:gd name="T12" fmla="*/ 0 w 39"/>
                <a:gd name="T13" fmla="*/ 1 h 631"/>
                <a:gd name="T14" fmla="*/ 0 w 39"/>
                <a:gd name="T15" fmla="*/ 1 h 631"/>
                <a:gd name="T16" fmla="*/ 0 w 39"/>
                <a:gd name="T17" fmla="*/ 0 h 631"/>
                <a:gd name="T18" fmla="*/ 0 w 39"/>
                <a:gd name="T19" fmla="*/ 0 h 631"/>
                <a:gd name="T20" fmla="*/ 0 w 39"/>
                <a:gd name="T21" fmla="*/ 0 h 631"/>
                <a:gd name="T22" fmla="*/ 0 w 39"/>
                <a:gd name="T23" fmla="*/ 0 h 631"/>
                <a:gd name="T24" fmla="*/ 0 w 39"/>
                <a:gd name="T25" fmla="*/ 0 h 631"/>
                <a:gd name="T26" fmla="*/ 0 w 39"/>
                <a:gd name="T27" fmla="*/ 0 h 631"/>
                <a:gd name="T28" fmla="*/ 0 w 39"/>
                <a:gd name="T29" fmla="*/ 0 h 63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39" h="631">
                  <a:moveTo>
                    <a:pt x="26" y="0"/>
                  </a:moveTo>
                  <a:lnTo>
                    <a:pt x="39" y="32"/>
                  </a:lnTo>
                  <a:lnTo>
                    <a:pt x="24" y="57"/>
                  </a:lnTo>
                  <a:lnTo>
                    <a:pt x="13" y="110"/>
                  </a:lnTo>
                  <a:lnTo>
                    <a:pt x="28" y="158"/>
                  </a:lnTo>
                  <a:lnTo>
                    <a:pt x="19" y="440"/>
                  </a:lnTo>
                  <a:lnTo>
                    <a:pt x="19" y="622"/>
                  </a:lnTo>
                  <a:lnTo>
                    <a:pt x="0" y="631"/>
                  </a:lnTo>
                  <a:lnTo>
                    <a:pt x="2" y="255"/>
                  </a:lnTo>
                  <a:lnTo>
                    <a:pt x="19" y="165"/>
                  </a:lnTo>
                  <a:lnTo>
                    <a:pt x="9" y="123"/>
                  </a:lnTo>
                  <a:lnTo>
                    <a:pt x="4" y="108"/>
                  </a:lnTo>
                  <a:lnTo>
                    <a:pt x="11" y="62"/>
                  </a:lnTo>
                  <a:lnTo>
                    <a:pt x="24" y="36"/>
                  </a:lnTo>
                  <a:lnTo>
                    <a:pt x="26"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6" name="Freeform 150"/>
            <p:cNvSpPr>
              <a:spLocks/>
            </p:cNvSpPr>
            <p:nvPr/>
          </p:nvSpPr>
          <p:spPr bwMode="auto">
            <a:xfrm flipH="1">
              <a:off x="3668" y="2946"/>
              <a:ext cx="37" cy="10"/>
            </a:xfrm>
            <a:custGeom>
              <a:avLst/>
              <a:gdLst>
                <a:gd name="T0" fmla="*/ 0 w 100"/>
                <a:gd name="T1" fmla="*/ 0 h 32"/>
                <a:gd name="T2" fmla="*/ 0 w 100"/>
                <a:gd name="T3" fmla="*/ 0 h 32"/>
                <a:gd name="T4" fmla="*/ 0 w 100"/>
                <a:gd name="T5" fmla="*/ 0 h 32"/>
                <a:gd name="T6" fmla="*/ 0 w 100"/>
                <a:gd name="T7" fmla="*/ 0 h 32"/>
                <a:gd name="T8" fmla="*/ 0 w 100"/>
                <a:gd name="T9" fmla="*/ 0 h 32"/>
                <a:gd name="T10" fmla="*/ 0 w 100"/>
                <a:gd name="T11" fmla="*/ 0 h 3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00" h="32">
                  <a:moveTo>
                    <a:pt x="100" y="0"/>
                  </a:moveTo>
                  <a:lnTo>
                    <a:pt x="51" y="24"/>
                  </a:lnTo>
                  <a:lnTo>
                    <a:pt x="8" y="32"/>
                  </a:lnTo>
                  <a:lnTo>
                    <a:pt x="0" y="32"/>
                  </a:lnTo>
                  <a:lnTo>
                    <a:pt x="25" y="10"/>
                  </a:lnTo>
                  <a:lnTo>
                    <a:pt x="10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7" name="Freeform 151"/>
            <p:cNvSpPr>
              <a:spLocks/>
            </p:cNvSpPr>
            <p:nvPr/>
          </p:nvSpPr>
          <p:spPr bwMode="auto">
            <a:xfrm flipH="1">
              <a:off x="3805" y="2376"/>
              <a:ext cx="48" cy="126"/>
            </a:xfrm>
            <a:custGeom>
              <a:avLst/>
              <a:gdLst>
                <a:gd name="T0" fmla="*/ 0 w 134"/>
                <a:gd name="T1" fmla="*/ 0 h 366"/>
                <a:gd name="T2" fmla="*/ 0 w 134"/>
                <a:gd name="T3" fmla="*/ 0 h 366"/>
                <a:gd name="T4" fmla="*/ 0 w 134"/>
                <a:gd name="T5" fmla="*/ 0 h 366"/>
                <a:gd name="T6" fmla="*/ 0 w 134"/>
                <a:gd name="T7" fmla="*/ 0 h 366"/>
                <a:gd name="T8" fmla="*/ 0 w 134"/>
                <a:gd name="T9" fmla="*/ 0 h 366"/>
                <a:gd name="T10" fmla="*/ 0 w 134"/>
                <a:gd name="T11" fmla="*/ 0 h 366"/>
                <a:gd name="T12" fmla="*/ 0 w 134"/>
                <a:gd name="T13" fmla="*/ 0 h 366"/>
                <a:gd name="T14" fmla="*/ 0 w 134"/>
                <a:gd name="T15" fmla="*/ 0 h 366"/>
                <a:gd name="T16" fmla="*/ 0 w 134"/>
                <a:gd name="T17" fmla="*/ 0 h 366"/>
                <a:gd name="T18" fmla="*/ 0 w 134"/>
                <a:gd name="T19" fmla="*/ 0 h 366"/>
                <a:gd name="T20" fmla="*/ 0 w 134"/>
                <a:gd name="T21" fmla="*/ 0 h 366"/>
                <a:gd name="T22" fmla="*/ 0 w 134"/>
                <a:gd name="T23" fmla="*/ 0 h 366"/>
                <a:gd name="T24" fmla="*/ 0 w 134"/>
                <a:gd name="T25" fmla="*/ 0 h 366"/>
                <a:gd name="T26" fmla="*/ 0 w 134"/>
                <a:gd name="T27" fmla="*/ 0 h 366"/>
                <a:gd name="T28" fmla="*/ 0 w 134"/>
                <a:gd name="T29" fmla="*/ 0 h 366"/>
                <a:gd name="T30" fmla="*/ 0 w 134"/>
                <a:gd name="T31" fmla="*/ 0 h 366"/>
                <a:gd name="T32" fmla="*/ 0 w 134"/>
                <a:gd name="T33" fmla="*/ 0 h 366"/>
                <a:gd name="T34" fmla="*/ 0 w 134"/>
                <a:gd name="T35" fmla="*/ 0 h 366"/>
                <a:gd name="T36" fmla="*/ 0 w 134"/>
                <a:gd name="T37" fmla="*/ 0 h 366"/>
                <a:gd name="T38" fmla="*/ 0 w 134"/>
                <a:gd name="T39" fmla="*/ 0 h 366"/>
                <a:gd name="T40" fmla="*/ 0 w 134"/>
                <a:gd name="T41" fmla="*/ 0 h 366"/>
                <a:gd name="T42" fmla="*/ 0 w 134"/>
                <a:gd name="T43" fmla="*/ 0 h 366"/>
                <a:gd name="T44" fmla="*/ 0 w 134"/>
                <a:gd name="T45" fmla="*/ 0 h 366"/>
                <a:gd name="T46" fmla="*/ 0 w 134"/>
                <a:gd name="T47" fmla="*/ 1 h 366"/>
                <a:gd name="T48" fmla="*/ 0 w 134"/>
                <a:gd name="T49" fmla="*/ 1 h 36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134" h="366">
                  <a:moveTo>
                    <a:pt x="0" y="0"/>
                  </a:moveTo>
                  <a:lnTo>
                    <a:pt x="18" y="9"/>
                  </a:lnTo>
                  <a:lnTo>
                    <a:pt x="15" y="31"/>
                  </a:lnTo>
                  <a:lnTo>
                    <a:pt x="32" y="21"/>
                  </a:lnTo>
                  <a:lnTo>
                    <a:pt x="29" y="45"/>
                  </a:lnTo>
                  <a:lnTo>
                    <a:pt x="52" y="42"/>
                  </a:lnTo>
                  <a:lnTo>
                    <a:pt x="34" y="63"/>
                  </a:lnTo>
                  <a:lnTo>
                    <a:pt x="81" y="66"/>
                  </a:lnTo>
                  <a:lnTo>
                    <a:pt x="55" y="91"/>
                  </a:lnTo>
                  <a:lnTo>
                    <a:pt x="93" y="91"/>
                  </a:lnTo>
                  <a:lnTo>
                    <a:pt x="67" y="117"/>
                  </a:lnTo>
                  <a:lnTo>
                    <a:pt x="108" y="115"/>
                  </a:lnTo>
                  <a:lnTo>
                    <a:pt x="82" y="151"/>
                  </a:lnTo>
                  <a:lnTo>
                    <a:pt x="119" y="148"/>
                  </a:lnTo>
                  <a:lnTo>
                    <a:pt x="87" y="179"/>
                  </a:lnTo>
                  <a:lnTo>
                    <a:pt x="134" y="185"/>
                  </a:lnTo>
                  <a:lnTo>
                    <a:pt x="93" y="213"/>
                  </a:lnTo>
                  <a:lnTo>
                    <a:pt x="134" y="225"/>
                  </a:lnTo>
                  <a:lnTo>
                    <a:pt x="90" y="240"/>
                  </a:lnTo>
                  <a:lnTo>
                    <a:pt x="130" y="263"/>
                  </a:lnTo>
                  <a:lnTo>
                    <a:pt x="87" y="281"/>
                  </a:lnTo>
                  <a:lnTo>
                    <a:pt x="125" y="308"/>
                  </a:lnTo>
                  <a:lnTo>
                    <a:pt x="87" y="320"/>
                  </a:lnTo>
                  <a:lnTo>
                    <a:pt x="108" y="343"/>
                  </a:lnTo>
                  <a:lnTo>
                    <a:pt x="78" y="366"/>
                  </a:lnTo>
                </a:path>
              </a:pathLst>
            </a:custGeom>
            <a:noFill/>
            <a:ln w="158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152" name="Line 152"/>
          <p:cNvSpPr>
            <a:spLocks noChangeShapeType="1"/>
          </p:cNvSpPr>
          <p:nvPr/>
        </p:nvSpPr>
        <p:spPr bwMode="auto">
          <a:xfrm rot="10800000" flipV="1">
            <a:off x="6428841" y="1900051"/>
            <a:ext cx="1094315"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3" name="Line 153"/>
          <p:cNvSpPr>
            <a:spLocks noChangeShapeType="1"/>
          </p:cNvSpPr>
          <p:nvPr/>
        </p:nvSpPr>
        <p:spPr bwMode="auto">
          <a:xfrm rot="5400000">
            <a:off x="5404046" y="2710481"/>
            <a:ext cx="541101" cy="0"/>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4" name="Text Box 154"/>
          <p:cNvSpPr txBox="1">
            <a:spLocks noChangeArrowheads="1"/>
          </p:cNvSpPr>
          <p:nvPr/>
        </p:nvSpPr>
        <p:spPr bwMode="auto">
          <a:xfrm>
            <a:off x="4580281" y="2950585"/>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管理站</a:t>
            </a:r>
          </a:p>
        </p:txBody>
      </p:sp>
      <p:sp>
        <p:nvSpPr>
          <p:cNvPr id="155" name="Line 155"/>
          <p:cNvSpPr>
            <a:spLocks noChangeShapeType="1"/>
          </p:cNvSpPr>
          <p:nvPr/>
        </p:nvSpPr>
        <p:spPr bwMode="auto">
          <a:xfrm rot="10800000">
            <a:off x="2268590" y="1669197"/>
            <a:ext cx="1094315" cy="230854"/>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8" name="Line 158"/>
          <p:cNvSpPr>
            <a:spLocks noChangeShapeType="1"/>
          </p:cNvSpPr>
          <p:nvPr/>
        </p:nvSpPr>
        <p:spPr bwMode="auto">
          <a:xfrm rot="5400000">
            <a:off x="6124598" y="2208467"/>
            <a:ext cx="462929"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9" name="Line 159"/>
          <p:cNvSpPr>
            <a:spLocks noChangeShapeType="1"/>
          </p:cNvSpPr>
          <p:nvPr/>
        </p:nvSpPr>
        <p:spPr bwMode="auto">
          <a:xfrm rot="5400000">
            <a:off x="3372269" y="2208467"/>
            <a:ext cx="462929"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0" name="Line 160"/>
          <p:cNvSpPr>
            <a:spLocks noChangeShapeType="1"/>
          </p:cNvSpPr>
          <p:nvPr/>
        </p:nvSpPr>
        <p:spPr bwMode="auto">
          <a:xfrm rot="5400000">
            <a:off x="4810626" y="2208467"/>
            <a:ext cx="462929"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1" name="Line 161"/>
          <p:cNvSpPr>
            <a:spLocks noChangeShapeType="1"/>
          </p:cNvSpPr>
          <p:nvPr/>
        </p:nvSpPr>
        <p:spPr bwMode="auto">
          <a:xfrm rot="5400000">
            <a:off x="2941099" y="2570626"/>
            <a:ext cx="261390"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3" name="Line 163"/>
          <p:cNvSpPr>
            <a:spLocks noChangeShapeType="1"/>
          </p:cNvSpPr>
          <p:nvPr/>
        </p:nvSpPr>
        <p:spPr bwMode="auto">
          <a:xfrm>
            <a:off x="2510742" y="2427716"/>
            <a:ext cx="5083869"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4" name="Rectangle 164"/>
          <p:cNvSpPr>
            <a:spLocks noChangeArrowheads="1"/>
          </p:cNvSpPr>
          <p:nvPr/>
        </p:nvSpPr>
        <p:spPr bwMode="auto">
          <a:xfrm>
            <a:off x="2455166" y="2391074"/>
            <a:ext cx="71455" cy="75730"/>
          </a:xfrm>
          <a:prstGeom prst="rect">
            <a:avLst/>
          </a:prstGeom>
          <a:solidFill>
            <a:schemeClr val="tx2"/>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165" name="Rectangle 165"/>
          <p:cNvSpPr>
            <a:spLocks noChangeArrowheads="1"/>
          </p:cNvSpPr>
          <p:nvPr/>
        </p:nvSpPr>
        <p:spPr bwMode="auto">
          <a:xfrm>
            <a:off x="7569470" y="2389851"/>
            <a:ext cx="71455" cy="76952"/>
          </a:xfrm>
          <a:prstGeom prst="rect">
            <a:avLst/>
          </a:prstGeom>
          <a:solidFill>
            <a:schemeClr val="tx2"/>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166" name="Text Box 166"/>
          <p:cNvSpPr txBox="1">
            <a:spLocks noChangeArrowheads="1"/>
          </p:cNvSpPr>
          <p:nvPr/>
        </p:nvSpPr>
        <p:spPr bwMode="auto">
          <a:xfrm>
            <a:off x="6277764" y="2689531"/>
            <a:ext cx="801881"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400" b="1" dirty="0">
                <a:latin typeface="微软雅黑 Light" panose="020B0502040204020203" pitchFamily="34" charset="-122"/>
                <a:ea typeface="微软雅黑 Light" panose="020B0502040204020203" pitchFamily="34" charset="-122"/>
              </a:rPr>
              <a:t>网络</a:t>
            </a:r>
          </a:p>
          <a:p>
            <a:pPr algn="ctr" eaLnBrk="1" hangingPunct="1"/>
            <a:r>
              <a:rPr kumimoji="1" lang="zh-CN" altLang="en-US" sz="1400" b="1" dirty="0">
                <a:latin typeface="微软雅黑 Light" panose="020B0502040204020203" pitchFamily="34" charset="-122"/>
                <a:ea typeface="微软雅黑 Light" panose="020B0502040204020203" pitchFamily="34" charset="-122"/>
              </a:rPr>
              <a:t>管理员      </a:t>
            </a:r>
          </a:p>
        </p:txBody>
      </p:sp>
      <p:sp>
        <p:nvSpPr>
          <p:cNvPr id="167" name="Text Box 167"/>
          <p:cNvSpPr txBox="1">
            <a:spLocks noChangeArrowheads="1"/>
          </p:cNvSpPr>
          <p:nvPr/>
        </p:nvSpPr>
        <p:spPr bwMode="auto">
          <a:xfrm>
            <a:off x="1830599" y="2788044"/>
            <a:ext cx="9557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被管设备</a:t>
            </a:r>
          </a:p>
        </p:txBody>
      </p:sp>
      <p:sp>
        <p:nvSpPr>
          <p:cNvPr id="168" name="Text Box 168"/>
          <p:cNvSpPr txBox="1">
            <a:spLocks noChangeArrowheads="1"/>
          </p:cNvSpPr>
          <p:nvPr/>
        </p:nvSpPr>
        <p:spPr bwMode="auto">
          <a:xfrm>
            <a:off x="1567467" y="3648316"/>
            <a:ext cx="298671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管理程序（运行 </a:t>
            </a:r>
            <a:r>
              <a:rPr kumimoji="1" lang="en-US" altLang="zh-CN" sz="1200" b="1" dirty="0">
                <a:solidFill>
                  <a:srgbClr val="0000FF"/>
                </a:solidFill>
                <a:latin typeface="微软雅黑 Light" panose="020B0502040204020203" pitchFamily="34" charset="-122"/>
                <a:ea typeface="微软雅黑 Light" panose="020B0502040204020203" pitchFamily="34" charset="-122"/>
              </a:rPr>
              <a:t>SNMP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客户程序）</a:t>
            </a:r>
          </a:p>
        </p:txBody>
      </p:sp>
      <p:sp>
        <p:nvSpPr>
          <p:cNvPr id="169" name="Text Box 169"/>
          <p:cNvSpPr txBox="1">
            <a:spLocks noChangeArrowheads="1"/>
          </p:cNvSpPr>
          <p:nvPr/>
        </p:nvSpPr>
        <p:spPr bwMode="auto">
          <a:xfrm>
            <a:off x="1567467" y="3942178"/>
            <a:ext cx="314060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代理程序（运行 </a:t>
            </a:r>
            <a:r>
              <a:rPr kumimoji="1" lang="en-US" altLang="zh-CN" sz="1200" b="1" dirty="0">
                <a:solidFill>
                  <a:srgbClr val="0000FF"/>
                </a:solidFill>
                <a:latin typeface="微软雅黑 Light" panose="020B0502040204020203" pitchFamily="34" charset="-122"/>
                <a:ea typeface="微软雅黑 Light" panose="020B0502040204020203" pitchFamily="34" charset="-122"/>
              </a:rPr>
              <a:t>SNMP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服务器程序）</a:t>
            </a:r>
          </a:p>
        </p:txBody>
      </p:sp>
      <p:pic>
        <p:nvPicPr>
          <p:cNvPr id="171" name="Picture 17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290128" y="1746149"/>
            <a:ext cx="641768" cy="360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2" name="Oval 172"/>
          <p:cNvSpPr>
            <a:spLocks noChangeArrowheads="1"/>
          </p:cNvSpPr>
          <p:nvPr/>
        </p:nvSpPr>
        <p:spPr bwMode="auto">
          <a:xfrm>
            <a:off x="3582563" y="1857300"/>
            <a:ext cx="314930" cy="196653"/>
          </a:xfrm>
          <a:prstGeom prst="ellipse">
            <a:avLst/>
          </a:prstGeom>
          <a:solidFill>
            <a:srgbClr val="FF66FF"/>
          </a:solidFill>
          <a:ln w="9525">
            <a:solidFill>
              <a:schemeClr val="tx1"/>
            </a:solidFill>
            <a:round/>
            <a:headEnd/>
            <a:tailEnd/>
          </a:ln>
          <a:effectLst/>
        </p:spPr>
        <p:txBody>
          <a:bodyPr wrap="none" anchor="ct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A</a:t>
            </a:r>
          </a:p>
        </p:txBody>
      </p:sp>
      <p:pic>
        <p:nvPicPr>
          <p:cNvPr id="174" name="Picture 17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05406" y="1746149"/>
            <a:ext cx="641768" cy="360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5" name="Oval 176"/>
          <p:cNvSpPr>
            <a:spLocks noChangeArrowheads="1"/>
          </p:cNvSpPr>
          <p:nvPr/>
        </p:nvSpPr>
        <p:spPr bwMode="auto">
          <a:xfrm>
            <a:off x="6078184" y="1857301"/>
            <a:ext cx="314930" cy="197875"/>
          </a:xfrm>
          <a:prstGeom prst="ellipse">
            <a:avLst/>
          </a:prstGeom>
          <a:solidFill>
            <a:srgbClr val="FF66FF"/>
          </a:solidFill>
          <a:ln w="9525">
            <a:solidFill>
              <a:schemeClr val="tx1"/>
            </a:solidFill>
            <a:round/>
            <a:headEnd/>
            <a:tailEnd/>
          </a:ln>
          <a:effectLst/>
        </p:spPr>
        <p:txBody>
          <a:bodyPr wrap="none" anchor="ct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A</a:t>
            </a:r>
          </a:p>
        </p:txBody>
      </p:sp>
      <p:sp>
        <p:nvSpPr>
          <p:cNvPr id="176" name="Oval 177"/>
          <p:cNvSpPr>
            <a:spLocks noChangeArrowheads="1"/>
          </p:cNvSpPr>
          <p:nvPr/>
        </p:nvSpPr>
        <p:spPr bwMode="auto">
          <a:xfrm>
            <a:off x="4896535" y="1845188"/>
            <a:ext cx="313606" cy="197875"/>
          </a:xfrm>
          <a:prstGeom prst="ellipse">
            <a:avLst/>
          </a:prstGeom>
          <a:solidFill>
            <a:srgbClr val="FF66FF"/>
          </a:solidFill>
          <a:ln w="9525">
            <a:solidFill>
              <a:schemeClr val="tx1"/>
            </a:solidFill>
            <a:round/>
            <a:headEnd/>
            <a:tailEnd/>
          </a:ln>
          <a:effectLst/>
        </p:spPr>
        <p:txBody>
          <a:bodyPr wrap="none" anchor="ct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A</a:t>
            </a:r>
          </a:p>
        </p:txBody>
      </p:sp>
      <p:sp>
        <p:nvSpPr>
          <p:cNvPr id="177" name="Oval 178"/>
          <p:cNvSpPr>
            <a:spLocks noChangeArrowheads="1"/>
          </p:cNvSpPr>
          <p:nvPr/>
        </p:nvSpPr>
        <p:spPr bwMode="auto">
          <a:xfrm>
            <a:off x="5407303" y="2748958"/>
            <a:ext cx="363889" cy="232075"/>
          </a:xfrm>
          <a:prstGeom prst="ellipse">
            <a:avLst/>
          </a:prstGeom>
          <a:solidFill>
            <a:srgbClr val="99FF66"/>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M</a:t>
            </a:r>
          </a:p>
        </p:txBody>
      </p:sp>
      <p:sp>
        <p:nvSpPr>
          <p:cNvPr id="179" name="Text Box 180"/>
          <p:cNvSpPr txBox="1">
            <a:spLocks noChangeArrowheads="1"/>
          </p:cNvSpPr>
          <p:nvPr/>
        </p:nvSpPr>
        <p:spPr bwMode="auto">
          <a:xfrm>
            <a:off x="3107521" y="1446894"/>
            <a:ext cx="9557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被管设备</a:t>
            </a:r>
          </a:p>
        </p:txBody>
      </p:sp>
      <p:sp>
        <p:nvSpPr>
          <p:cNvPr id="180" name="Text Box 181"/>
          <p:cNvSpPr txBox="1">
            <a:spLocks noChangeArrowheads="1"/>
          </p:cNvSpPr>
          <p:nvPr/>
        </p:nvSpPr>
        <p:spPr bwMode="auto">
          <a:xfrm>
            <a:off x="4531322" y="1345345"/>
            <a:ext cx="9557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被管设备</a:t>
            </a:r>
          </a:p>
        </p:txBody>
      </p:sp>
      <p:sp>
        <p:nvSpPr>
          <p:cNvPr id="181" name="Text Box 182"/>
          <p:cNvSpPr txBox="1">
            <a:spLocks noChangeArrowheads="1"/>
          </p:cNvSpPr>
          <p:nvPr/>
        </p:nvSpPr>
        <p:spPr bwMode="auto">
          <a:xfrm>
            <a:off x="5830739" y="1472545"/>
            <a:ext cx="9557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被管设备</a:t>
            </a:r>
          </a:p>
        </p:txBody>
      </p:sp>
      <p:sp>
        <p:nvSpPr>
          <p:cNvPr id="182" name="Oval 183"/>
          <p:cNvSpPr>
            <a:spLocks noChangeArrowheads="1"/>
          </p:cNvSpPr>
          <p:nvPr/>
        </p:nvSpPr>
        <p:spPr bwMode="auto">
          <a:xfrm>
            <a:off x="1202253" y="3678851"/>
            <a:ext cx="365213" cy="232075"/>
          </a:xfrm>
          <a:prstGeom prst="ellipse">
            <a:avLst/>
          </a:prstGeom>
          <a:solidFill>
            <a:srgbClr val="99FF66"/>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M</a:t>
            </a:r>
          </a:p>
        </p:txBody>
      </p:sp>
      <p:sp>
        <p:nvSpPr>
          <p:cNvPr id="183" name="Oval 184"/>
          <p:cNvSpPr>
            <a:spLocks noChangeArrowheads="1"/>
          </p:cNvSpPr>
          <p:nvPr/>
        </p:nvSpPr>
        <p:spPr bwMode="auto">
          <a:xfrm>
            <a:off x="1202253" y="3945842"/>
            <a:ext cx="365213" cy="232075"/>
          </a:xfrm>
          <a:prstGeom prst="ellipse">
            <a:avLst/>
          </a:prstGeom>
          <a:solidFill>
            <a:srgbClr val="FF66FF"/>
          </a:solidFill>
          <a:ln w="9525">
            <a:solidFill>
              <a:schemeClr val="tx1"/>
            </a:solidFill>
            <a:round/>
            <a:headEnd/>
            <a:tailEnd/>
          </a:ln>
          <a:effec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A</a:t>
            </a:r>
          </a:p>
        </p:txBody>
      </p:sp>
      <p:sp>
        <p:nvSpPr>
          <p:cNvPr id="185" name="Freeform 186"/>
          <p:cNvSpPr>
            <a:spLocks/>
          </p:cNvSpPr>
          <p:nvPr/>
        </p:nvSpPr>
        <p:spPr bwMode="auto">
          <a:xfrm>
            <a:off x="3886906" y="2016088"/>
            <a:ext cx="1532306" cy="797606"/>
          </a:xfrm>
          <a:custGeom>
            <a:avLst/>
            <a:gdLst>
              <a:gd name="T0" fmla="*/ 2147483646 w 1008"/>
              <a:gd name="T1" fmla="*/ 2147483646 h 496"/>
              <a:gd name="T2" fmla="*/ 0 w 1008"/>
              <a:gd name="T3" fmla="*/ 0 h 496"/>
              <a:gd name="T4" fmla="*/ 0 60000 65536"/>
              <a:gd name="T5" fmla="*/ 0 60000 65536"/>
            </a:gdLst>
            <a:ahLst/>
            <a:cxnLst>
              <a:cxn ang="T4">
                <a:pos x="T0" y="T1"/>
              </a:cxn>
              <a:cxn ang="T5">
                <a:pos x="T2" y="T3"/>
              </a:cxn>
            </a:cxnLst>
            <a:rect l="0" t="0" r="r" b="b"/>
            <a:pathLst>
              <a:path w="1008" h="496">
                <a:moveTo>
                  <a:pt x="1008" y="496"/>
                </a:moveTo>
                <a:cubicBezTo>
                  <a:pt x="841" y="413"/>
                  <a:pt x="210" y="103"/>
                  <a:pt x="0" y="0"/>
                </a:cubicBezTo>
              </a:path>
            </a:pathLst>
          </a:custGeom>
          <a:noFill/>
          <a:ln w="28575" cap="flat" cmpd="sng">
            <a:solidFill>
              <a:srgbClr val="CC00CC"/>
            </a:solidFill>
            <a:prstDash val="dash"/>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6" name="Freeform 187"/>
          <p:cNvSpPr>
            <a:spLocks/>
          </p:cNvSpPr>
          <p:nvPr/>
        </p:nvSpPr>
        <p:spPr bwMode="auto">
          <a:xfrm>
            <a:off x="5065909" y="2106476"/>
            <a:ext cx="449900" cy="681568"/>
          </a:xfrm>
          <a:custGeom>
            <a:avLst/>
            <a:gdLst>
              <a:gd name="T0" fmla="*/ 2147483646 w 296"/>
              <a:gd name="T1" fmla="*/ 2147483646 h 424"/>
              <a:gd name="T2" fmla="*/ 0 w 296"/>
              <a:gd name="T3" fmla="*/ 0 h 424"/>
              <a:gd name="T4" fmla="*/ 0 60000 65536"/>
              <a:gd name="T5" fmla="*/ 0 60000 65536"/>
            </a:gdLst>
            <a:ahLst/>
            <a:cxnLst>
              <a:cxn ang="T4">
                <a:pos x="T0" y="T1"/>
              </a:cxn>
              <a:cxn ang="T5">
                <a:pos x="T2" y="T3"/>
              </a:cxn>
            </a:cxnLst>
            <a:rect l="0" t="0" r="r" b="b"/>
            <a:pathLst>
              <a:path w="296" h="424">
                <a:moveTo>
                  <a:pt x="296" y="424"/>
                </a:moveTo>
                <a:cubicBezTo>
                  <a:pt x="245" y="354"/>
                  <a:pt x="62" y="88"/>
                  <a:pt x="0" y="0"/>
                </a:cubicBezTo>
              </a:path>
            </a:pathLst>
          </a:custGeom>
          <a:noFill/>
          <a:ln w="28575" cap="flat" cmpd="sng">
            <a:solidFill>
              <a:srgbClr val="CC00CC"/>
            </a:solidFill>
            <a:prstDash val="dash"/>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7" name="Freeform 188"/>
          <p:cNvSpPr>
            <a:spLocks/>
          </p:cNvSpPr>
          <p:nvPr/>
        </p:nvSpPr>
        <p:spPr bwMode="auto">
          <a:xfrm>
            <a:off x="5625637" y="2053954"/>
            <a:ext cx="535910" cy="695003"/>
          </a:xfrm>
          <a:custGeom>
            <a:avLst/>
            <a:gdLst>
              <a:gd name="T0" fmla="*/ 0 w 352"/>
              <a:gd name="T1" fmla="*/ 2147483646 h 432"/>
              <a:gd name="T2" fmla="*/ 2147483646 w 352"/>
              <a:gd name="T3" fmla="*/ 0 h 432"/>
              <a:gd name="T4" fmla="*/ 0 60000 65536"/>
              <a:gd name="T5" fmla="*/ 0 60000 65536"/>
            </a:gdLst>
            <a:ahLst/>
            <a:cxnLst>
              <a:cxn ang="T4">
                <a:pos x="T0" y="T1"/>
              </a:cxn>
              <a:cxn ang="T5">
                <a:pos x="T2" y="T3"/>
              </a:cxn>
            </a:cxnLst>
            <a:rect l="0" t="0" r="r" b="b"/>
            <a:pathLst>
              <a:path w="352" h="432">
                <a:moveTo>
                  <a:pt x="0" y="432"/>
                </a:moveTo>
                <a:cubicBezTo>
                  <a:pt x="59" y="360"/>
                  <a:pt x="279" y="90"/>
                  <a:pt x="352" y="0"/>
                </a:cubicBezTo>
              </a:path>
            </a:pathLst>
          </a:custGeom>
          <a:noFill/>
          <a:ln w="28575" cap="flat" cmpd="sng">
            <a:solidFill>
              <a:srgbClr val="CC00CC"/>
            </a:solidFill>
            <a:prstDash val="dash"/>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8" name="Freeform 189"/>
          <p:cNvSpPr>
            <a:spLocks/>
          </p:cNvSpPr>
          <p:nvPr/>
        </p:nvSpPr>
        <p:spPr bwMode="auto">
          <a:xfrm>
            <a:off x="5771193" y="1951352"/>
            <a:ext cx="1655367" cy="848906"/>
          </a:xfrm>
          <a:custGeom>
            <a:avLst/>
            <a:gdLst>
              <a:gd name="T0" fmla="*/ 0 w 1088"/>
              <a:gd name="T1" fmla="*/ 2147483646 h 528"/>
              <a:gd name="T2" fmla="*/ 2147483646 w 1088"/>
              <a:gd name="T3" fmla="*/ 0 h 528"/>
              <a:gd name="T4" fmla="*/ 0 60000 65536"/>
              <a:gd name="T5" fmla="*/ 0 60000 65536"/>
            </a:gdLst>
            <a:ahLst/>
            <a:cxnLst>
              <a:cxn ang="T4">
                <a:pos x="T0" y="T1"/>
              </a:cxn>
              <a:cxn ang="T5">
                <a:pos x="T2" y="T3"/>
              </a:cxn>
            </a:cxnLst>
            <a:rect l="0" t="0" r="r" b="b"/>
            <a:pathLst>
              <a:path w="1088" h="528">
                <a:moveTo>
                  <a:pt x="0" y="528"/>
                </a:moveTo>
                <a:cubicBezTo>
                  <a:pt x="181" y="441"/>
                  <a:pt x="861" y="110"/>
                  <a:pt x="1088" y="0"/>
                </a:cubicBezTo>
              </a:path>
            </a:pathLst>
          </a:custGeom>
          <a:noFill/>
          <a:ln w="28575" cap="flat" cmpd="sng">
            <a:solidFill>
              <a:srgbClr val="CC00CC"/>
            </a:solidFill>
            <a:prstDash val="dash"/>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9" name="Oval 190"/>
          <p:cNvSpPr>
            <a:spLocks noChangeArrowheads="1"/>
          </p:cNvSpPr>
          <p:nvPr/>
        </p:nvSpPr>
        <p:spPr bwMode="auto">
          <a:xfrm>
            <a:off x="7377600" y="1779128"/>
            <a:ext cx="314930" cy="197875"/>
          </a:xfrm>
          <a:prstGeom prst="ellipse">
            <a:avLst/>
          </a:prstGeom>
          <a:solidFill>
            <a:srgbClr val="FF66FF"/>
          </a:solidFill>
          <a:ln w="9525">
            <a:solidFill>
              <a:schemeClr val="tx1"/>
            </a:solidFill>
            <a:round/>
            <a:headEnd/>
            <a:tailEnd/>
          </a:ln>
          <a:effectLst/>
        </p:spPr>
        <p:txBody>
          <a:bodyPr wrap="none" anchor="ct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A</a:t>
            </a:r>
          </a:p>
        </p:txBody>
      </p:sp>
      <p:sp>
        <p:nvSpPr>
          <p:cNvPr id="190" name="Text Box 191"/>
          <p:cNvSpPr txBox="1">
            <a:spLocks noChangeArrowheads="1"/>
          </p:cNvSpPr>
          <p:nvPr/>
        </p:nvSpPr>
        <p:spPr bwMode="auto">
          <a:xfrm>
            <a:off x="7046892" y="1291534"/>
            <a:ext cx="9557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被管设备</a:t>
            </a:r>
          </a:p>
        </p:txBody>
      </p:sp>
      <p:sp>
        <p:nvSpPr>
          <p:cNvPr id="191" name="Text Box 192"/>
          <p:cNvSpPr txBox="1">
            <a:spLocks noChangeArrowheads="1"/>
          </p:cNvSpPr>
          <p:nvPr/>
        </p:nvSpPr>
        <p:spPr bwMode="auto">
          <a:xfrm rot="21072954">
            <a:off x="3704117" y="2653700"/>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网管协议</a:t>
            </a:r>
          </a:p>
        </p:txBody>
      </p:sp>
      <p:grpSp>
        <p:nvGrpSpPr>
          <p:cNvPr id="193" name="Group 10"/>
          <p:cNvGrpSpPr>
            <a:grpSpLocks/>
          </p:cNvGrpSpPr>
          <p:nvPr/>
        </p:nvGrpSpPr>
        <p:grpSpPr bwMode="auto">
          <a:xfrm>
            <a:off x="1304123" y="1121038"/>
            <a:ext cx="1052951" cy="936151"/>
            <a:chOff x="3204" y="2684"/>
            <a:chExt cx="1080" cy="854"/>
          </a:xfrm>
          <a:solidFill>
            <a:srgbClr val="99FFCC"/>
          </a:solidFill>
        </p:grpSpPr>
        <p:sp>
          <p:nvSpPr>
            <p:cNvPr id="194" name="Oval 11"/>
            <p:cNvSpPr>
              <a:spLocks noChangeArrowheads="1"/>
            </p:cNvSpPr>
            <p:nvPr/>
          </p:nvSpPr>
          <p:spPr bwMode="auto">
            <a:xfrm>
              <a:off x="3457" y="2684"/>
              <a:ext cx="464" cy="228"/>
            </a:xfrm>
            <a:prstGeom prst="ellipse">
              <a:avLst/>
            </a:prstGeom>
            <a:grpFill/>
            <a:ln w="12700">
              <a:solidFill>
                <a:srgbClr val="000000"/>
              </a:solidFill>
              <a:round/>
              <a:headEnd/>
              <a:tailEnd/>
            </a:ln>
          </p:spPr>
          <p:txBody>
            <a:bodyP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195" name="Freeform 12"/>
            <p:cNvSpPr>
              <a:spLocks/>
            </p:cNvSpPr>
            <p:nvPr/>
          </p:nvSpPr>
          <p:spPr bwMode="auto">
            <a:xfrm>
              <a:off x="3853" y="2753"/>
              <a:ext cx="312" cy="202"/>
            </a:xfrm>
            <a:custGeom>
              <a:avLst/>
              <a:gdLst>
                <a:gd name="T0" fmla="*/ 182 w 312"/>
                <a:gd name="T1" fmla="*/ 10 h 202"/>
                <a:gd name="T2" fmla="*/ 150 w 312"/>
                <a:gd name="T3" fmla="*/ 4 h 202"/>
                <a:gd name="T4" fmla="*/ 119 w 312"/>
                <a:gd name="T5" fmla="*/ 0 h 202"/>
                <a:gd name="T6" fmla="*/ 91 w 312"/>
                <a:gd name="T7" fmla="*/ 2 h 202"/>
                <a:gd name="T8" fmla="*/ 67 w 312"/>
                <a:gd name="T9" fmla="*/ 8 h 202"/>
                <a:gd name="T10" fmla="*/ 44 w 312"/>
                <a:gd name="T11" fmla="*/ 16 h 202"/>
                <a:gd name="T12" fmla="*/ 25 w 312"/>
                <a:gd name="T13" fmla="*/ 29 h 202"/>
                <a:gd name="T14" fmla="*/ 12 w 312"/>
                <a:gd name="T15" fmla="*/ 44 h 202"/>
                <a:gd name="T16" fmla="*/ 2 w 312"/>
                <a:gd name="T17" fmla="*/ 61 h 202"/>
                <a:gd name="T18" fmla="*/ 0 w 312"/>
                <a:gd name="T19" fmla="*/ 80 h 202"/>
                <a:gd name="T20" fmla="*/ 6 w 312"/>
                <a:gd name="T21" fmla="*/ 99 h 202"/>
                <a:gd name="T22" fmla="*/ 16 w 312"/>
                <a:gd name="T23" fmla="*/ 117 h 202"/>
                <a:gd name="T24" fmla="*/ 31 w 312"/>
                <a:gd name="T25" fmla="*/ 136 h 202"/>
                <a:gd name="T26" fmla="*/ 51 w 312"/>
                <a:gd name="T27" fmla="*/ 153 h 202"/>
                <a:gd name="T28" fmla="*/ 74 w 312"/>
                <a:gd name="T29" fmla="*/ 170 h 202"/>
                <a:gd name="T30" fmla="*/ 102 w 312"/>
                <a:gd name="T31" fmla="*/ 183 h 202"/>
                <a:gd name="T32" fmla="*/ 133 w 312"/>
                <a:gd name="T33" fmla="*/ 193 h 202"/>
                <a:gd name="T34" fmla="*/ 165 w 312"/>
                <a:gd name="T35" fmla="*/ 199 h 202"/>
                <a:gd name="T36" fmla="*/ 195 w 312"/>
                <a:gd name="T37" fmla="*/ 202 h 202"/>
                <a:gd name="T38" fmla="*/ 223 w 312"/>
                <a:gd name="T39" fmla="*/ 200 h 202"/>
                <a:gd name="T40" fmla="*/ 248 w 312"/>
                <a:gd name="T41" fmla="*/ 195 h 202"/>
                <a:gd name="T42" fmla="*/ 271 w 312"/>
                <a:gd name="T43" fmla="*/ 187 h 202"/>
                <a:gd name="T44" fmla="*/ 289 w 312"/>
                <a:gd name="T45" fmla="*/ 174 h 202"/>
                <a:gd name="T46" fmla="*/ 303 w 312"/>
                <a:gd name="T47" fmla="*/ 159 h 202"/>
                <a:gd name="T48" fmla="*/ 310 w 312"/>
                <a:gd name="T49" fmla="*/ 142 h 202"/>
                <a:gd name="T50" fmla="*/ 312 w 312"/>
                <a:gd name="T51" fmla="*/ 123 h 202"/>
                <a:gd name="T52" fmla="*/ 308 w 312"/>
                <a:gd name="T53" fmla="*/ 104 h 202"/>
                <a:gd name="T54" fmla="*/ 297 w 312"/>
                <a:gd name="T55" fmla="*/ 85 h 202"/>
                <a:gd name="T56" fmla="*/ 284 w 312"/>
                <a:gd name="T57" fmla="*/ 66 h 202"/>
                <a:gd name="T58" fmla="*/ 263 w 312"/>
                <a:gd name="T59" fmla="*/ 50 h 202"/>
                <a:gd name="T60" fmla="*/ 240 w 312"/>
                <a:gd name="T61" fmla="*/ 33 h 202"/>
                <a:gd name="T62" fmla="*/ 212 w 312"/>
                <a:gd name="T63" fmla="*/ 19 h 202"/>
                <a:gd name="T64" fmla="*/ 182 w 312"/>
                <a:gd name="T65" fmla="*/ 10 h 202"/>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0" t="0" r="r" b="b"/>
              <a:pathLst>
                <a:path w="312" h="202">
                  <a:moveTo>
                    <a:pt x="182" y="10"/>
                  </a:moveTo>
                  <a:lnTo>
                    <a:pt x="150" y="4"/>
                  </a:lnTo>
                  <a:lnTo>
                    <a:pt x="119" y="0"/>
                  </a:lnTo>
                  <a:lnTo>
                    <a:pt x="91" y="2"/>
                  </a:lnTo>
                  <a:lnTo>
                    <a:pt x="67" y="8"/>
                  </a:lnTo>
                  <a:lnTo>
                    <a:pt x="44" y="16"/>
                  </a:lnTo>
                  <a:lnTo>
                    <a:pt x="25" y="29"/>
                  </a:lnTo>
                  <a:lnTo>
                    <a:pt x="12" y="44"/>
                  </a:lnTo>
                  <a:lnTo>
                    <a:pt x="2" y="61"/>
                  </a:lnTo>
                  <a:lnTo>
                    <a:pt x="0" y="80"/>
                  </a:lnTo>
                  <a:lnTo>
                    <a:pt x="6" y="99"/>
                  </a:lnTo>
                  <a:lnTo>
                    <a:pt x="16" y="117"/>
                  </a:lnTo>
                  <a:lnTo>
                    <a:pt x="31" y="136"/>
                  </a:lnTo>
                  <a:lnTo>
                    <a:pt x="51" y="153"/>
                  </a:lnTo>
                  <a:lnTo>
                    <a:pt x="74" y="170"/>
                  </a:lnTo>
                  <a:lnTo>
                    <a:pt x="102" y="183"/>
                  </a:lnTo>
                  <a:lnTo>
                    <a:pt x="133" y="193"/>
                  </a:lnTo>
                  <a:lnTo>
                    <a:pt x="165" y="199"/>
                  </a:lnTo>
                  <a:lnTo>
                    <a:pt x="195" y="202"/>
                  </a:lnTo>
                  <a:lnTo>
                    <a:pt x="223" y="200"/>
                  </a:lnTo>
                  <a:lnTo>
                    <a:pt x="248" y="195"/>
                  </a:lnTo>
                  <a:lnTo>
                    <a:pt x="271" y="187"/>
                  </a:lnTo>
                  <a:lnTo>
                    <a:pt x="289" y="174"/>
                  </a:lnTo>
                  <a:lnTo>
                    <a:pt x="303" y="159"/>
                  </a:lnTo>
                  <a:lnTo>
                    <a:pt x="310" y="142"/>
                  </a:lnTo>
                  <a:lnTo>
                    <a:pt x="312" y="123"/>
                  </a:lnTo>
                  <a:lnTo>
                    <a:pt x="308" y="104"/>
                  </a:lnTo>
                  <a:lnTo>
                    <a:pt x="297" y="85"/>
                  </a:lnTo>
                  <a:lnTo>
                    <a:pt x="284" y="66"/>
                  </a:lnTo>
                  <a:lnTo>
                    <a:pt x="263" y="50"/>
                  </a:lnTo>
                  <a:lnTo>
                    <a:pt x="240" y="33"/>
                  </a:lnTo>
                  <a:lnTo>
                    <a:pt x="212" y="19"/>
                  </a:lnTo>
                  <a:lnTo>
                    <a:pt x="182" y="10"/>
                  </a:lnTo>
                  <a:close/>
                </a:path>
              </a:pathLst>
            </a:custGeom>
            <a:grpFill/>
            <a:ln w="12700">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96" name="Freeform 13"/>
            <p:cNvSpPr>
              <a:spLocks/>
            </p:cNvSpPr>
            <p:nvPr/>
          </p:nvSpPr>
          <p:spPr bwMode="auto">
            <a:xfrm>
              <a:off x="4014" y="2946"/>
              <a:ext cx="270" cy="232"/>
            </a:xfrm>
            <a:custGeom>
              <a:avLst/>
              <a:gdLst>
                <a:gd name="T0" fmla="*/ 181 w 270"/>
                <a:gd name="T1" fmla="*/ 15 h 232"/>
                <a:gd name="T2" fmla="*/ 155 w 270"/>
                <a:gd name="T3" fmla="*/ 6 h 232"/>
                <a:gd name="T4" fmla="*/ 128 w 270"/>
                <a:gd name="T5" fmla="*/ 0 h 232"/>
                <a:gd name="T6" fmla="*/ 104 w 270"/>
                <a:gd name="T7" fmla="*/ 0 h 232"/>
                <a:gd name="T8" fmla="*/ 79 w 270"/>
                <a:gd name="T9" fmla="*/ 4 h 232"/>
                <a:gd name="T10" fmla="*/ 57 w 270"/>
                <a:gd name="T11" fmla="*/ 11 h 232"/>
                <a:gd name="T12" fmla="*/ 38 w 270"/>
                <a:gd name="T13" fmla="*/ 23 h 232"/>
                <a:gd name="T14" fmla="*/ 21 w 270"/>
                <a:gd name="T15" fmla="*/ 38 h 232"/>
                <a:gd name="T16" fmla="*/ 9 w 270"/>
                <a:gd name="T17" fmla="*/ 56 h 232"/>
                <a:gd name="T18" fmla="*/ 2 w 270"/>
                <a:gd name="T19" fmla="*/ 79 h 232"/>
                <a:gd name="T20" fmla="*/ 0 w 270"/>
                <a:gd name="T21" fmla="*/ 100 h 232"/>
                <a:gd name="T22" fmla="*/ 4 w 270"/>
                <a:gd name="T23" fmla="*/ 123 h 232"/>
                <a:gd name="T24" fmla="*/ 13 w 270"/>
                <a:gd name="T25" fmla="*/ 145 h 232"/>
                <a:gd name="T26" fmla="*/ 26 w 270"/>
                <a:gd name="T27" fmla="*/ 166 h 232"/>
                <a:gd name="T28" fmla="*/ 43 w 270"/>
                <a:gd name="T29" fmla="*/ 185 h 232"/>
                <a:gd name="T30" fmla="*/ 64 w 270"/>
                <a:gd name="T31" fmla="*/ 202 h 232"/>
                <a:gd name="T32" fmla="*/ 89 w 270"/>
                <a:gd name="T33" fmla="*/ 217 h 232"/>
                <a:gd name="T34" fmla="*/ 115 w 270"/>
                <a:gd name="T35" fmla="*/ 226 h 232"/>
                <a:gd name="T36" fmla="*/ 142 w 270"/>
                <a:gd name="T37" fmla="*/ 232 h 232"/>
                <a:gd name="T38" fmla="*/ 166 w 270"/>
                <a:gd name="T39" fmla="*/ 232 h 232"/>
                <a:gd name="T40" fmla="*/ 191 w 270"/>
                <a:gd name="T41" fmla="*/ 228 h 232"/>
                <a:gd name="T42" fmla="*/ 213 w 270"/>
                <a:gd name="T43" fmla="*/ 221 h 232"/>
                <a:gd name="T44" fmla="*/ 232 w 270"/>
                <a:gd name="T45" fmla="*/ 209 h 232"/>
                <a:gd name="T46" fmla="*/ 249 w 270"/>
                <a:gd name="T47" fmla="*/ 194 h 232"/>
                <a:gd name="T48" fmla="*/ 261 w 270"/>
                <a:gd name="T49" fmla="*/ 175 h 232"/>
                <a:gd name="T50" fmla="*/ 268 w 270"/>
                <a:gd name="T51" fmla="*/ 155 h 232"/>
                <a:gd name="T52" fmla="*/ 270 w 270"/>
                <a:gd name="T53" fmla="*/ 132 h 232"/>
                <a:gd name="T54" fmla="*/ 266 w 270"/>
                <a:gd name="T55" fmla="*/ 109 h 232"/>
                <a:gd name="T56" fmla="*/ 257 w 270"/>
                <a:gd name="T57" fmla="*/ 87 h 232"/>
                <a:gd name="T58" fmla="*/ 244 w 270"/>
                <a:gd name="T59" fmla="*/ 66 h 232"/>
                <a:gd name="T60" fmla="*/ 227 w 270"/>
                <a:gd name="T61" fmla="*/ 47 h 232"/>
                <a:gd name="T62" fmla="*/ 206 w 270"/>
                <a:gd name="T63" fmla="*/ 30 h 232"/>
                <a:gd name="T64" fmla="*/ 181 w 270"/>
                <a:gd name="T65" fmla="*/ 15 h 232"/>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0" t="0" r="r" b="b"/>
              <a:pathLst>
                <a:path w="270" h="232">
                  <a:moveTo>
                    <a:pt x="181" y="15"/>
                  </a:moveTo>
                  <a:lnTo>
                    <a:pt x="155" y="6"/>
                  </a:lnTo>
                  <a:lnTo>
                    <a:pt x="128" y="0"/>
                  </a:lnTo>
                  <a:lnTo>
                    <a:pt x="104" y="0"/>
                  </a:lnTo>
                  <a:lnTo>
                    <a:pt x="79" y="4"/>
                  </a:lnTo>
                  <a:lnTo>
                    <a:pt x="57" y="11"/>
                  </a:lnTo>
                  <a:lnTo>
                    <a:pt x="38" y="23"/>
                  </a:lnTo>
                  <a:lnTo>
                    <a:pt x="21" y="38"/>
                  </a:lnTo>
                  <a:lnTo>
                    <a:pt x="9" y="56"/>
                  </a:lnTo>
                  <a:lnTo>
                    <a:pt x="2" y="79"/>
                  </a:lnTo>
                  <a:lnTo>
                    <a:pt x="0" y="100"/>
                  </a:lnTo>
                  <a:lnTo>
                    <a:pt x="4" y="123"/>
                  </a:lnTo>
                  <a:lnTo>
                    <a:pt x="13" y="145"/>
                  </a:lnTo>
                  <a:lnTo>
                    <a:pt x="26" y="166"/>
                  </a:lnTo>
                  <a:lnTo>
                    <a:pt x="43" y="185"/>
                  </a:lnTo>
                  <a:lnTo>
                    <a:pt x="64" y="202"/>
                  </a:lnTo>
                  <a:lnTo>
                    <a:pt x="89" y="217"/>
                  </a:lnTo>
                  <a:lnTo>
                    <a:pt x="115" y="226"/>
                  </a:lnTo>
                  <a:lnTo>
                    <a:pt x="142" y="232"/>
                  </a:lnTo>
                  <a:lnTo>
                    <a:pt x="166" y="232"/>
                  </a:lnTo>
                  <a:lnTo>
                    <a:pt x="191" y="228"/>
                  </a:lnTo>
                  <a:lnTo>
                    <a:pt x="213" y="221"/>
                  </a:lnTo>
                  <a:lnTo>
                    <a:pt x="232" y="209"/>
                  </a:lnTo>
                  <a:lnTo>
                    <a:pt x="249" y="194"/>
                  </a:lnTo>
                  <a:lnTo>
                    <a:pt x="261" y="175"/>
                  </a:lnTo>
                  <a:lnTo>
                    <a:pt x="268" y="155"/>
                  </a:lnTo>
                  <a:lnTo>
                    <a:pt x="270" y="132"/>
                  </a:lnTo>
                  <a:lnTo>
                    <a:pt x="266" y="109"/>
                  </a:lnTo>
                  <a:lnTo>
                    <a:pt x="257" y="87"/>
                  </a:lnTo>
                  <a:lnTo>
                    <a:pt x="244" y="66"/>
                  </a:lnTo>
                  <a:lnTo>
                    <a:pt x="227" y="47"/>
                  </a:lnTo>
                  <a:lnTo>
                    <a:pt x="206" y="30"/>
                  </a:lnTo>
                  <a:lnTo>
                    <a:pt x="181" y="15"/>
                  </a:lnTo>
                  <a:close/>
                </a:path>
              </a:pathLst>
            </a:custGeom>
            <a:grpFill/>
            <a:ln w="12700">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97" name="Freeform 14"/>
            <p:cNvSpPr>
              <a:spLocks/>
            </p:cNvSpPr>
            <p:nvPr/>
          </p:nvSpPr>
          <p:spPr bwMode="auto">
            <a:xfrm>
              <a:off x="3927" y="3165"/>
              <a:ext cx="325" cy="285"/>
            </a:xfrm>
            <a:custGeom>
              <a:avLst/>
              <a:gdLst>
                <a:gd name="T0" fmla="*/ 102 w 325"/>
                <a:gd name="T1" fmla="*/ 19 h 285"/>
                <a:gd name="T2" fmla="*/ 74 w 325"/>
                <a:gd name="T3" fmla="*/ 36 h 285"/>
                <a:gd name="T4" fmla="*/ 49 w 325"/>
                <a:gd name="T5" fmla="*/ 58 h 285"/>
                <a:gd name="T6" fmla="*/ 28 w 325"/>
                <a:gd name="T7" fmla="*/ 81 h 285"/>
                <a:gd name="T8" fmla="*/ 13 w 325"/>
                <a:gd name="T9" fmla="*/ 107 h 285"/>
                <a:gd name="T10" fmla="*/ 4 w 325"/>
                <a:gd name="T11" fmla="*/ 134 h 285"/>
                <a:gd name="T12" fmla="*/ 0 w 325"/>
                <a:gd name="T13" fmla="*/ 162 h 285"/>
                <a:gd name="T14" fmla="*/ 2 w 325"/>
                <a:gd name="T15" fmla="*/ 188 h 285"/>
                <a:gd name="T16" fmla="*/ 11 w 325"/>
                <a:gd name="T17" fmla="*/ 215 h 285"/>
                <a:gd name="T18" fmla="*/ 27 w 325"/>
                <a:gd name="T19" fmla="*/ 237 h 285"/>
                <a:gd name="T20" fmla="*/ 45 w 325"/>
                <a:gd name="T21" fmla="*/ 256 h 285"/>
                <a:gd name="T22" fmla="*/ 70 w 325"/>
                <a:gd name="T23" fmla="*/ 271 h 285"/>
                <a:gd name="T24" fmla="*/ 98 w 325"/>
                <a:gd name="T25" fmla="*/ 279 h 285"/>
                <a:gd name="T26" fmla="*/ 127 w 325"/>
                <a:gd name="T27" fmla="*/ 285 h 285"/>
                <a:gd name="T28" fmla="*/ 159 w 325"/>
                <a:gd name="T29" fmla="*/ 283 h 285"/>
                <a:gd name="T30" fmla="*/ 191 w 325"/>
                <a:gd name="T31" fmla="*/ 275 h 285"/>
                <a:gd name="T32" fmla="*/ 223 w 325"/>
                <a:gd name="T33" fmla="*/ 264 h 285"/>
                <a:gd name="T34" fmla="*/ 251 w 325"/>
                <a:gd name="T35" fmla="*/ 247 h 285"/>
                <a:gd name="T36" fmla="*/ 276 w 325"/>
                <a:gd name="T37" fmla="*/ 226 h 285"/>
                <a:gd name="T38" fmla="*/ 297 w 325"/>
                <a:gd name="T39" fmla="*/ 202 h 285"/>
                <a:gd name="T40" fmla="*/ 312 w 325"/>
                <a:gd name="T41" fmla="*/ 175 h 285"/>
                <a:gd name="T42" fmla="*/ 321 w 325"/>
                <a:gd name="T43" fmla="*/ 149 h 285"/>
                <a:gd name="T44" fmla="*/ 325 w 325"/>
                <a:gd name="T45" fmla="*/ 120 h 285"/>
                <a:gd name="T46" fmla="*/ 323 w 325"/>
                <a:gd name="T47" fmla="*/ 94 h 285"/>
                <a:gd name="T48" fmla="*/ 314 w 325"/>
                <a:gd name="T49" fmla="*/ 68 h 285"/>
                <a:gd name="T50" fmla="*/ 299 w 325"/>
                <a:gd name="T51" fmla="*/ 45 h 285"/>
                <a:gd name="T52" fmla="*/ 280 w 325"/>
                <a:gd name="T53" fmla="*/ 26 h 285"/>
                <a:gd name="T54" fmla="*/ 255 w 325"/>
                <a:gd name="T55" fmla="*/ 11 h 285"/>
                <a:gd name="T56" fmla="*/ 229 w 325"/>
                <a:gd name="T57" fmla="*/ 4 h 285"/>
                <a:gd name="T58" fmla="*/ 198 w 325"/>
                <a:gd name="T59" fmla="*/ 0 h 285"/>
                <a:gd name="T60" fmla="*/ 166 w 325"/>
                <a:gd name="T61" fmla="*/ 0 h 285"/>
                <a:gd name="T62" fmla="*/ 134 w 325"/>
                <a:gd name="T63" fmla="*/ 7 h 285"/>
                <a:gd name="T64" fmla="*/ 102 w 325"/>
                <a:gd name="T65" fmla="*/ 19 h 285"/>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0" t="0" r="r" b="b"/>
              <a:pathLst>
                <a:path w="325" h="285">
                  <a:moveTo>
                    <a:pt x="102" y="19"/>
                  </a:moveTo>
                  <a:lnTo>
                    <a:pt x="74" y="36"/>
                  </a:lnTo>
                  <a:lnTo>
                    <a:pt x="49" y="58"/>
                  </a:lnTo>
                  <a:lnTo>
                    <a:pt x="28" y="81"/>
                  </a:lnTo>
                  <a:lnTo>
                    <a:pt x="13" y="107"/>
                  </a:lnTo>
                  <a:lnTo>
                    <a:pt x="4" y="134"/>
                  </a:lnTo>
                  <a:lnTo>
                    <a:pt x="0" y="162"/>
                  </a:lnTo>
                  <a:lnTo>
                    <a:pt x="2" y="188"/>
                  </a:lnTo>
                  <a:lnTo>
                    <a:pt x="11" y="215"/>
                  </a:lnTo>
                  <a:lnTo>
                    <a:pt x="27" y="237"/>
                  </a:lnTo>
                  <a:lnTo>
                    <a:pt x="45" y="256"/>
                  </a:lnTo>
                  <a:lnTo>
                    <a:pt x="70" y="271"/>
                  </a:lnTo>
                  <a:lnTo>
                    <a:pt x="98" y="279"/>
                  </a:lnTo>
                  <a:lnTo>
                    <a:pt x="127" y="285"/>
                  </a:lnTo>
                  <a:lnTo>
                    <a:pt x="159" y="283"/>
                  </a:lnTo>
                  <a:lnTo>
                    <a:pt x="191" y="275"/>
                  </a:lnTo>
                  <a:lnTo>
                    <a:pt x="223" y="264"/>
                  </a:lnTo>
                  <a:lnTo>
                    <a:pt x="251" y="247"/>
                  </a:lnTo>
                  <a:lnTo>
                    <a:pt x="276" y="226"/>
                  </a:lnTo>
                  <a:lnTo>
                    <a:pt x="297" y="202"/>
                  </a:lnTo>
                  <a:lnTo>
                    <a:pt x="312" y="175"/>
                  </a:lnTo>
                  <a:lnTo>
                    <a:pt x="321" y="149"/>
                  </a:lnTo>
                  <a:lnTo>
                    <a:pt x="325" y="120"/>
                  </a:lnTo>
                  <a:lnTo>
                    <a:pt x="323" y="94"/>
                  </a:lnTo>
                  <a:lnTo>
                    <a:pt x="314" y="68"/>
                  </a:lnTo>
                  <a:lnTo>
                    <a:pt x="299" y="45"/>
                  </a:lnTo>
                  <a:lnTo>
                    <a:pt x="280" y="26"/>
                  </a:lnTo>
                  <a:lnTo>
                    <a:pt x="255" y="11"/>
                  </a:lnTo>
                  <a:lnTo>
                    <a:pt x="229" y="4"/>
                  </a:lnTo>
                  <a:lnTo>
                    <a:pt x="198" y="0"/>
                  </a:lnTo>
                  <a:lnTo>
                    <a:pt x="166" y="0"/>
                  </a:lnTo>
                  <a:lnTo>
                    <a:pt x="134" y="7"/>
                  </a:lnTo>
                  <a:lnTo>
                    <a:pt x="102" y="19"/>
                  </a:lnTo>
                  <a:close/>
                </a:path>
              </a:pathLst>
            </a:custGeom>
            <a:grpFill/>
            <a:ln w="12700">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98" name="Oval 15"/>
            <p:cNvSpPr>
              <a:spLocks noChangeArrowheads="1"/>
            </p:cNvSpPr>
            <p:nvPr/>
          </p:nvSpPr>
          <p:spPr bwMode="auto">
            <a:xfrm>
              <a:off x="3514" y="3201"/>
              <a:ext cx="538" cy="337"/>
            </a:xfrm>
            <a:prstGeom prst="ellipse">
              <a:avLst/>
            </a:prstGeom>
            <a:grpFill/>
            <a:ln w="12700">
              <a:solidFill>
                <a:srgbClr val="000000"/>
              </a:solidFill>
              <a:round/>
              <a:headEnd/>
              <a:tailEnd/>
            </a:ln>
          </p:spPr>
          <p:txBody>
            <a:bodyP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199" name="Freeform 16"/>
            <p:cNvSpPr>
              <a:spLocks/>
            </p:cNvSpPr>
            <p:nvPr/>
          </p:nvSpPr>
          <p:spPr bwMode="auto">
            <a:xfrm>
              <a:off x="3289" y="3193"/>
              <a:ext cx="300" cy="232"/>
            </a:xfrm>
            <a:custGeom>
              <a:avLst/>
              <a:gdLst>
                <a:gd name="T0" fmla="*/ 185 w 300"/>
                <a:gd name="T1" fmla="*/ 9 h 232"/>
                <a:gd name="T2" fmla="*/ 155 w 300"/>
                <a:gd name="T3" fmla="*/ 2 h 232"/>
                <a:gd name="T4" fmla="*/ 124 w 300"/>
                <a:gd name="T5" fmla="*/ 0 h 232"/>
                <a:gd name="T6" fmla="*/ 98 w 300"/>
                <a:gd name="T7" fmla="*/ 2 h 232"/>
                <a:gd name="T8" fmla="*/ 71 w 300"/>
                <a:gd name="T9" fmla="*/ 8 h 232"/>
                <a:gd name="T10" fmla="*/ 49 w 300"/>
                <a:gd name="T11" fmla="*/ 17 h 232"/>
                <a:gd name="T12" fmla="*/ 30 w 300"/>
                <a:gd name="T13" fmla="*/ 30 h 232"/>
                <a:gd name="T14" fmla="*/ 15 w 300"/>
                <a:gd name="T15" fmla="*/ 47 h 232"/>
                <a:gd name="T16" fmla="*/ 3 w 300"/>
                <a:gd name="T17" fmla="*/ 68 h 232"/>
                <a:gd name="T18" fmla="*/ 0 w 300"/>
                <a:gd name="T19" fmla="*/ 91 h 232"/>
                <a:gd name="T20" fmla="*/ 2 w 300"/>
                <a:gd name="T21" fmla="*/ 113 h 232"/>
                <a:gd name="T22" fmla="*/ 9 w 300"/>
                <a:gd name="T23" fmla="*/ 136 h 232"/>
                <a:gd name="T24" fmla="*/ 22 w 300"/>
                <a:gd name="T25" fmla="*/ 157 h 232"/>
                <a:gd name="T26" fmla="*/ 39 w 300"/>
                <a:gd name="T27" fmla="*/ 177 h 232"/>
                <a:gd name="T28" fmla="*/ 62 w 300"/>
                <a:gd name="T29" fmla="*/ 196 h 232"/>
                <a:gd name="T30" fmla="*/ 87 w 300"/>
                <a:gd name="T31" fmla="*/ 211 h 232"/>
                <a:gd name="T32" fmla="*/ 115 w 300"/>
                <a:gd name="T33" fmla="*/ 223 h 232"/>
                <a:gd name="T34" fmla="*/ 145 w 300"/>
                <a:gd name="T35" fmla="*/ 230 h 232"/>
                <a:gd name="T36" fmla="*/ 175 w 300"/>
                <a:gd name="T37" fmla="*/ 232 h 232"/>
                <a:gd name="T38" fmla="*/ 202 w 300"/>
                <a:gd name="T39" fmla="*/ 230 h 232"/>
                <a:gd name="T40" fmla="*/ 228 w 300"/>
                <a:gd name="T41" fmla="*/ 225 h 232"/>
                <a:gd name="T42" fmla="*/ 251 w 300"/>
                <a:gd name="T43" fmla="*/ 213 h 232"/>
                <a:gd name="T44" fmla="*/ 270 w 300"/>
                <a:gd name="T45" fmla="*/ 200 h 232"/>
                <a:gd name="T46" fmla="*/ 287 w 300"/>
                <a:gd name="T47" fmla="*/ 183 h 232"/>
                <a:gd name="T48" fmla="*/ 296 w 300"/>
                <a:gd name="T49" fmla="*/ 162 h 232"/>
                <a:gd name="T50" fmla="*/ 300 w 300"/>
                <a:gd name="T51" fmla="*/ 140 h 232"/>
                <a:gd name="T52" fmla="*/ 298 w 300"/>
                <a:gd name="T53" fmla="*/ 117 h 232"/>
                <a:gd name="T54" fmla="*/ 291 w 300"/>
                <a:gd name="T55" fmla="*/ 94 h 232"/>
                <a:gd name="T56" fmla="*/ 277 w 300"/>
                <a:gd name="T57" fmla="*/ 74 h 232"/>
                <a:gd name="T58" fmla="*/ 260 w 300"/>
                <a:gd name="T59" fmla="*/ 55 h 232"/>
                <a:gd name="T60" fmla="*/ 238 w 300"/>
                <a:gd name="T61" fmla="*/ 36 h 232"/>
                <a:gd name="T62" fmla="*/ 213 w 300"/>
                <a:gd name="T63" fmla="*/ 21 h 232"/>
                <a:gd name="T64" fmla="*/ 185 w 300"/>
                <a:gd name="T65" fmla="*/ 9 h 232"/>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0" t="0" r="r" b="b"/>
              <a:pathLst>
                <a:path w="300" h="232">
                  <a:moveTo>
                    <a:pt x="185" y="9"/>
                  </a:moveTo>
                  <a:lnTo>
                    <a:pt x="155" y="2"/>
                  </a:lnTo>
                  <a:lnTo>
                    <a:pt x="124" y="0"/>
                  </a:lnTo>
                  <a:lnTo>
                    <a:pt x="98" y="2"/>
                  </a:lnTo>
                  <a:lnTo>
                    <a:pt x="71" y="8"/>
                  </a:lnTo>
                  <a:lnTo>
                    <a:pt x="49" y="17"/>
                  </a:lnTo>
                  <a:lnTo>
                    <a:pt x="30" y="30"/>
                  </a:lnTo>
                  <a:lnTo>
                    <a:pt x="15" y="47"/>
                  </a:lnTo>
                  <a:lnTo>
                    <a:pt x="3" y="68"/>
                  </a:lnTo>
                  <a:lnTo>
                    <a:pt x="0" y="91"/>
                  </a:lnTo>
                  <a:lnTo>
                    <a:pt x="2" y="113"/>
                  </a:lnTo>
                  <a:lnTo>
                    <a:pt x="9" y="136"/>
                  </a:lnTo>
                  <a:lnTo>
                    <a:pt x="22" y="157"/>
                  </a:lnTo>
                  <a:lnTo>
                    <a:pt x="39" y="177"/>
                  </a:lnTo>
                  <a:lnTo>
                    <a:pt x="62" y="196"/>
                  </a:lnTo>
                  <a:lnTo>
                    <a:pt x="87" y="211"/>
                  </a:lnTo>
                  <a:lnTo>
                    <a:pt x="115" y="223"/>
                  </a:lnTo>
                  <a:lnTo>
                    <a:pt x="145" y="230"/>
                  </a:lnTo>
                  <a:lnTo>
                    <a:pt x="175" y="232"/>
                  </a:lnTo>
                  <a:lnTo>
                    <a:pt x="202" y="230"/>
                  </a:lnTo>
                  <a:lnTo>
                    <a:pt x="228" y="225"/>
                  </a:lnTo>
                  <a:lnTo>
                    <a:pt x="251" y="213"/>
                  </a:lnTo>
                  <a:lnTo>
                    <a:pt x="270" y="200"/>
                  </a:lnTo>
                  <a:lnTo>
                    <a:pt x="287" y="183"/>
                  </a:lnTo>
                  <a:lnTo>
                    <a:pt x="296" y="162"/>
                  </a:lnTo>
                  <a:lnTo>
                    <a:pt x="300" y="140"/>
                  </a:lnTo>
                  <a:lnTo>
                    <a:pt x="298" y="117"/>
                  </a:lnTo>
                  <a:lnTo>
                    <a:pt x="291" y="94"/>
                  </a:lnTo>
                  <a:lnTo>
                    <a:pt x="277" y="74"/>
                  </a:lnTo>
                  <a:lnTo>
                    <a:pt x="260" y="55"/>
                  </a:lnTo>
                  <a:lnTo>
                    <a:pt x="238" y="36"/>
                  </a:lnTo>
                  <a:lnTo>
                    <a:pt x="213" y="21"/>
                  </a:lnTo>
                  <a:lnTo>
                    <a:pt x="185" y="9"/>
                  </a:lnTo>
                  <a:close/>
                </a:path>
              </a:pathLst>
            </a:custGeom>
            <a:grpFill/>
            <a:ln w="12700">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0" name="Oval 17"/>
            <p:cNvSpPr>
              <a:spLocks noChangeArrowheads="1"/>
            </p:cNvSpPr>
            <p:nvPr/>
          </p:nvSpPr>
          <p:spPr bwMode="auto">
            <a:xfrm>
              <a:off x="3204" y="3023"/>
              <a:ext cx="245" cy="219"/>
            </a:xfrm>
            <a:prstGeom prst="ellipse">
              <a:avLst/>
            </a:prstGeom>
            <a:grpFill/>
            <a:ln w="12700">
              <a:solidFill>
                <a:srgbClr val="000000"/>
              </a:solidFill>
              <a:round/>
              <a:headEnd/>
              <a:tailEnd/>
            </a:ln>
          </p:spPr>
          <p:txBody>
            <a:bodyP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201" name="Freeform 18"/>
            <p:cNvSpPr>
              <a:spLocks/>
            </p:cNvSpPr>
            <p:nvPr/>
          </p:nvSpPr>
          <p:spPr bwMode="auto">
            <a:xfrm>
              <a:off x="3253" y="2827"/>
              <a:ext cx="315" cy="259"/>
            </a:xfrm>
            <a:custGeom>
              <a:avLst/>
              <a:gdLst>
                <a:gd name="T0" fmla="*/ 100 w 315"/>
                <a:gd name="T1" fmla="*/ 32 h 259"/>
                <a:gd name="T2" fmla="*/ 72 w 315"/>
                <a:gd name="T3" fmla="*/ 53 h 259"/>
                <a:gd name="T4" fmla="*/ 47 w 315"/>
                <a:gd name="T5" fmla="*/ 74 h 259"/>
                <a:gd name="T6" fmla="*/ 28 w 315"/>
                <a:gd name="T7" fmla="*/ 98 h 259"/>
                <a:gd name="T8" fmla="*/ 13 w 315"/>
                <a:gd name="T9" fmla="*/ 123 h 259"/>
                <a:gd name="T10" fmla="*/ 4 w 315"/>
                <a:gd name="T11" fmla="*/ 149 h 259"/>
                <a:gd name="T12" fmla="*/ 0 w 315"/>
                <a:gd name="T13" fmla="*/ 174 h 259"/>
                <a:gd name="T14" fmla="*/ 2 w 315"/>
                <a:gd name="T15" fmla="*/ 196 h 259"/>
                <a:gd name="T16" fmla="*/ 11 w 315"/>
                <a:gd name="T17" fmla="*/ 217 h 259"/>
                <a:gd name="T18" fmla="*/ 26 w 315"/>
                <a:gd name="T19" fmla="*/ 234 h 259"/>
                <a:gd name="T20" fmla="*/ 45 w 315"/>
                <a:gd name="T21" fmla="*/ 247 h 259"/>
                <a:gd name="T22" fmla="*/ 70 w 315"/>
                <a:gd name="T23" fmla="*/ 257 h 259"/>
                <a:gd name="T24" fmla="*/ 96 w 315"/>
                <a:gd name="T25" fmla="*/ 259 h 259"/>
                <a:gd name="T26" fmla="*/ 124 w 315"/>
                <a:gd name="T27" fmla="*/ 259 h 259"/>
                <a:gd name="T28" fmla="*/ 155 w 315"/>
                <a:gd name="T29" fmla="*/ 253 h 259"/>
                <a:gd name="T30" fmla="*/ 185 w 315"/>
                <a:gd name="T31" fmla="*/ 242 h 259"/>
                <a:gd name="T32" fmla="*/ 215 w 315"/>
                <a:gd name="T33" fmla="*/ 226 h 259"/>
                <a:gd name="T34" fmla="*/ 243 w 315"/>
                <a:gd name="T35" fmla="*/ 208 h 259"/>
                <a:gd name="T36" fmla="*/ 268 w 315"/>
                <a:gd name="T37" fmla="*/ 185 h 259"/>
                <a:gd name="T38" fmla="*/ 287 w 315"/>
                <a:gd name="T39" fmla="*/ 160 h 259"/>
                <a:gd name="T40" fmla="*/ 302 w 315"/>
                <a:gd name="T41" fmla="*/ 136 h 259"/>
                <a:gd name="T42" fmla="*/ 311 w 315"/>
                <a:gd name="T43" fmla="*/ 109 h 259"/>
                <a:gd name="T44" fmla="*/ 315 w 315"/>
                <a:gd name="T45" fmla="*/ 87 h 259"/>
                <a:gd name="T46" fmla="*/ 313 w 315"/>
                <a:gd name="T47" fmla="*/ 62 h 259"/>
                <a:gd name="T48" fmla="*/ 304 w 315"/>
                <a:gd name="T49" fmla="*/ 42 h 259"/>
                <a:gd name="T50" fmla="*/ 289 w 315"/>
                <a:gd name="T51" fmla="*/ 25 h 259"/>
                <a:gd name="T52" fmla="*/ 270 w 315"/>
                <a:gd name="T53" fmla="*/ 11 h 259"/>
                <a:gd name="T54" fmla="*/ 247 w 315"/>
                <a:gd name="T55" fmla="*/ 4 h 259"/>
                <a:gd name="T56" fmla="*/ 221 w 315"/>
                <a:gd name="T57" fmla="*/ 0 h 259"/>
                <a:gd name="T58" fmla="*/ 192 w 315"/>
                <a:gd name="T59" fmla="*/ 0 h 259"/>
                <a:gd name="T60" fmla="*/ 162 w 315"/>
                <a:gd name="T61" fmla="*/ 6 h 259"/>
                <a:gd name="T62" fmla="*/ 130 w 315"/>
                <a:gd name="T63" fmla="*/ 17 h 259"/>
                <a:gd name="T64" fmla="*/ 100 w 315"/>
                <a:gd name="T65" fmla="*/ 32 h 259"/>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0" t="0" r="r" b="b"/>
              <a:pathLst>
                <a:path w="315" h="259">
                  <a:moveTo>
                    <a:pt x="100" y="32"/>
                  </a:moveTo>
                  <a:lnTo>
                    <a:pt x="72" y="53"/>
                  </a:lnTo>
                  <a:lnTo>
                    <a:pt x="47" y="74"/>
                  </a:lnTo>
                  <a:lnTo>
                    <a:pt x="28" y="98"/>
                  </a:lnTo>
                  <a:lnTo>
                    <a:pt x="13" y="123"/>
                  </a:lnTo>
                  <a:lnTo>
                    <a:pt x="4" y="149"/>
                  </a:lnTo>
                  <a:lnTo>
                    <a:pt x="0" y="174"/>
                  </a:lnTo>
                  <a:lnTo>
                    <a:pt x="2" y="196"/>
                  </a:lnTo>
                  <a:lnTo>
                    <a:pt x="11" y="217"/>
                  </a:lnTo>
                  <a:lnTo>
                    <a:pt x="26" y="234"/>
                  </a:lnTo>
                  <a:lnTo>
                    <a:pt x="45" y="247"/>
                  </a:lnTo>
                  <a:lnTo>
                    <a:pt x="70" y="257"/>
                  </a:lnTo>
                  <a:lnTo>
                    <a:pt x="96" y="259"/>
                  </a:lnTo>
                  <a:lnTo>
                    <a:pt x="124" y="259"/>
                  </a:lnTo>
                  <a:lnTo>
                    <a:pt x="155" y="253"/>
                  </a:lnTo>
                  <a:lnTo>
                    <a:pt x="185" y="242"/>
                  </a:lnTo>
                  <a:lnTo>
                    <a:pt x="215" y="226"/>
                  </a:lnTo>
                  <a:lnTo>
                    <a:pt x="243" y="208"/>
                  </a:lnTo>
                  <a:lnTo>
                    <a:pt x="268" y="185"/>
                  </a:lnTo>
                  <a:lnTo>
                    <a:pt x="287" y="160"/>
                  </a:lnTo>
                  <a:lnTo>
                    <a:pt x="302" y="136"/>
                  </a:lnTo>
                  <a:lnTo>
                    <a:pt x="311" y="109"/>
                  </a:lnTo>
                  <a:lnTo>
                    <a:pt x="315" y="87"/>
                  </a:lnTo>
                  <a:lnTo>
                    <a:pt x="313" y="62"/>
                  </a:lnTo>
                  <a:lnTo>
                    <a:pt x="304" y="42"/>
                  </a:lnTo>
                  <a:lnTo>
                    <a:pt x="289" y="25"/>
                  </a:lnTo>
                  <a:lnTo>
                    <a:pt x="270" y="11"/>
                  </a:lnTo>
                  <a:lnTo>
                    <a:pt x="247" y="4"/>
                  </a:lnTo>
                  <a:lnTo>
                    <a:pt x="221" y="0"/>
                  </a:lnTo>
                  <a:lnTo>
                    <a:pt x="192" y="0"/>
                  </a:lnTo>
                  <a:lnTo>
                    <a:pt x="162" y="6"/>
                  </a:lnTo>
                  <a:lnTo>
                    <a:pt x="130" y="17"/>
                  </a:lnTo>
                  <a:lnTo>
                    <a:pt x="100" y="32"/>
                  </a:lnTo>
                  <a:close/>
                </a:path>
              </a:pathLst>
            </a:custGeom>
            <a:grpFill/>
            <a:ln w="12700">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2" name="Freeform 19"/>
            <p:cNvSpPr>
              <a:spLocks/>
            </p:cNvSpPr>
            <p:nvPr/>
          </p:nvSpPr>
          <p:spPr bwMode="auto">
            <a:xfrm>
              <a:off x="3319" y="2831"/>
              <a:ext cx="850" cy="583"/>
            </a:xfrm>
            <a:custGeom>
              <a:avLst/>
              <a:gdLst>
                <a:gd name="T0" fmla="*/ 125 w 850"/>
                <a:gd name="T1" fmla="*/ 117 h 583"/>
                <a:gd name="T2" fmla="*/ 166 w 850"/>
                <a:gd name="T3" fmla="*/ 109 h 583"/>
                <a:gd name="T4" fmla="*/ 210 w 850"/>
                <a:gd name="T5" fmla="*/ 102 h 583"/>
                <a:gd name="T6" fmla="*/ 247 w 850"/>
                <a:gd name="T7" fmla="*/ 96 h 583"/>
                <a:gd name="T8" fmla="*/ 272 w 850"/>
                <a:gd name="T9" fmla="*/ 66 h 583"/>
                <a:gd name="T10" fmla="*/ 234 w 850"/>
                <a:gd name="T11" fmla="*/ 58 h 583"/>
                <a:gd name="T12" fmla="*/ 198 w 850"/>
                <a:gd name="T13" fmla="*/ 66 h 583"/>
                <a:gd name="T14" fmla="*/ 179 w 850"/>
                <a:gd name="T15" fmla="*/ 66 h 583"/>
                <a:gd name="T16" fmla="*/ 217 w 850"/>
                <a:gd name="T17" fmla="*/ 36 h 583"/>
                <a:gd name="T18" fmla="*/ 261 w 850"/>
                <a:gd name="T19" fmla="*/ 21 h 583"/>
                <a:gd name="T20" fmla="*/ 296 w 850"/>
                <a:gd name="T21" fmla="*/ 13 h 583"/>
                <a:gd name="T22" fmla="*/ 334 w 850"/>
                <a:gd name="T23" fmla="*/ 5 h 583"/>
                <a:gd name="T24" fmla="*/ 372 w 850"/>
                <a:gd name="T25" fmla="*/ 0 h 583"/>
                <a:gd name="T26" fmla="*/ 410 w 850"/>
                <a:gd name="T27" fmla="*/ 0 h 583"/>
                <a:gd name="T28" fmla="*/ 446 w 850"/>
                <a:gd name="T29" fmla="*/ 0 h 583"/>
                <a:gd name="T30" fmla="*/ 534 w 850"/>
                <a:gd name="T31" fmla="*/ 0 h 583"/>
                <a:gd name="T32" fmla="*/ 584 w 850"/>
                <a:gd name="T33" fmla="*/ 0 h 583"/>
                <a:gd name="T34" fmla="*/ 627 w 850"/>
                <a:gd name="T35" fmla="*/ 21 h 583"/>
                <a:gd name="T36" fmla="*/ 657 w 850"/>
                <a:gd name="T37" fmla="*/ 51 h 583"/>
                <a:gd name="T38" fmla="*/ 695 w 850"/>
                <a:gd name="T39" fmla="*/ 72 h 583"/>
                <a:gd name="T40" fmla="*/ 733 w 850"/>
                <a:gd name="T41" fmla="*/ 81 h 583"/>
                <a:gd name="T42" fmla="*/ 771 w 850"/>
                <a:gd name="T43" fmla="*/ 109 h 583"/>
                <a:gd name="T44" fmla="*/ 801 w 850"/>
                <a:gd name="T45" fmla="*/ 139 h 583"/>
                <a:gd name="T46" fmla="*/ 825 w 850"/>
                <a:gd name="T47" fmla="*/ 183 h 583"/>
                <a:gd name="T48" fmla="*/ 833 w 850"/>
                <a:gd name="T49" fmla="*/ 234 h 583"/>
                <a:gd name="T50" fmla="*/ 839 w 850"/>
                <a:gd name="T51" fmla="*/ 279 h 583"/>
                <a:gd name="T52" fmla="*/ 839 w 850"/>
                <a:gd name="T53" fmla="*/ 324 h 583"/>
                <a:gd name="T54" fmla="*/ 839 w 850"/>
                <a:gd name="T55" fmla="*/ 368 h 583"/>
                <a:gd name="T56" fmla="*/ 850 w 850"/>
                <a:gd name="T57" fmla="*/ 413 h 583"/>
                <a:gd name="T58" fmla="*/ 850 w 850"/>
                <a:gd name="T59" fmla="*/ 456 h 583"/>
                <a:gd name="T60" fmla="*/ 825 w 850"/>
                <a:gd name="T61" fmla="*/ 500 h 583"/>
                <a:gd name="T62" fmla="*/ 782 w 850"/>
                <a:gd name="T63" fmla="*/ 524 h 583"/>
                <a:gd name="T64" fmla="*/ 746 w 850"/>
                <a:gd name="T65" fmla="*/ 545 h 583"/>
                <a:gd name="T66" fmla="*/ 708 w 850"/>
                <a:gd name="T67" fmla="*/ 568 h 583"/>
                <a:gd name="T68" fmla="*/ 670 w 850"/>
                <a:gd name="T69" fmla="*/ 575 h 583"/>
                <a:gd name="T70" fmla="*/ 621 w 850"/>
                <a:gd name="T71" fmla="*/ 583 h 583"/>
                <a:gd name="T72" fmla="*/ 576 w 850"/>
                <a:gd name="T73" fmla="*/ 583 h 583"/>
                <a:gd name="T74" fmla="*/ 540 w 850"/>
                <a:gd name="T75" fmla="*/ 583 h 583"/>
                <a:gd name="T76" fmla="*/ 502 w 850"/>
                <a:gd name="T77" fmla="*/ 583 h 583"/>
                <a:gd name="T78" fmla="*/ 465 w 850"/>
                <a:gd name="T79" fmla="*/ 583 h 583"/>
                <a:gd name="T80" fmla="*/ 427 w 850"/>
                <a:gd name="T81" fmla="*/ 583 h 583"/>
                <a:gd name="T82" fmla="*/ 391 w 850"/>
                <a:gd name="T83" fmla="*/ 583 h 583"/>
                <a:gd name="T84" fmla="*/ 353 w 850"/>
                <a:gd name="T85" fmla="*/ 583 h 583"/>
                <a:gd name="T86" fmla="*/ 310 w 850"/>
                <a:gd name="T87" fmla="*/ 583 h 583"/>
                <a:gd name="T88" fmla="*/ 272 w 850"/>
                <a:gd name="T89" fmla="*/ 583 h 583"/>
                <a:gd name="T90" fmla="*/ 234 w 850"/>
                <a:gd name="T91" fmla="*/ 583 h 583"/>
                <a:gd name="T92" fmla="*/ 198 w 850"/>
                <a:gd name="T93" fmla="*/ 560 h 583"/>
                <a:gd name="T94" fmla="*/ 160 w 850"/>
                <a:gd name="T95" fmla="*/ 545 h 583"/>
                <a:gd name="T96" fmla="*/ 125 w 850"/>
                <a:gd name="T97" fmla="*/ 524 h 583"/>
                <a:gd name="T98" fmla="*/ 92 w 850"/>
                <a:gd name="T99" fmla="*/ 487 h 583"/>
                <a:gd name="T100" fmla="*/ 68 w 850"/>
                <a:gd name="T101" fmla="*/ 456 h 583"/>
                <a:gd name="T102" fmla="*/ 43 w 850"/>
                <a:gd name="T103" fmla="*/ 413 h 583"/>
                <a:gd name="T104" fmla="*/ 17 w 850"/>
                <a:gd name="T105" fmla="*/ 360 h 583"/>
                <a:gd name="T106" fmla="*/ 0 w 850"/>
                <a:gd name="T107" fmla="*/ 309 h 583"/>
                <a:gd name="T108" fmla="*/ 0 w 850"/>
                <a:gd name="T109" fmla="*/ 264 h 583"/>
                <a:gd name="T110" fmla="*/ 6 w 850"/>
                <a:gd name="T111" fmla="*/ 213 h 583"/>
                <a:gd name="T112" fmla="*/ 30 w 850"/>
                <a:gd name="T113" fmla="*/ 175 h 583"/>
                <a:gd name="T114" fmla="*/ 62 w 850"/>
                <a:gd name="T115" fmla="*/ 155 h 583"/>
                <a:gd name="T116" fmla="*/ 98 w 850"/>
                <a:gd name="T117" fmla="*/ 139 h 583"/>
                <a:gd name="T118" fmla="*/ 130 w 850"/>
                <a:gd name="T119" fmla="*/ 117 h 583"/>
                <a:gd name="T120" fmla="*/ 147 w 850"/>
                <a:gd name="T121" fmla="*/ 139 h 583"/>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850" h="583">
                  <a:moveTo>
                    <a:pt x="104" y="117"/>
                  </a:moveTo>
                  <a:lnTo>
                    <a:pt x="125" y="117"/>
                  </a:lnTo>
                  <a:lnTo>
                    <a:pt x="142" y="117"/>
                  </a:lnTo>
                  <a:lnTo>
                    <a:pt x="166" y="109"/>
                  </a:lnTo>
                  <a:lnTo>
                    <a:pt x="185" y="109"/>
                  </a:lnTo>
                  <a:lnTo>
                    <a:pt x="210" y="102"/>
                  </a:lnTo>
                  <a:lnTo>
                    <a:pt x="228" y="102"/>
                  </a:lnTo>
                  <a:lnTo>
                    <a:pt x="247" y="96"/>
                  </a:lnTo>
                  <a:lnTo>
                    <a:pt x="266" y="88"/>
                  </a:lnTo>
                  <a:lnTo>
                    <a:pt x="272" y="66"/>
                  </a:lnTo>
                  <a:lnTo>
                    <a:pt x="255" y="58"/>
                  </a:lnTo>
                  <a:lnTo>
                    <a:pt x="234" y="58"/>
                  </a:lnTo>
                  <a:lnTo>
                    <a:pt x="217" y="66"/>
                  </a:lnTo>
                  <a:lnTo>
                    <a:pt x="198" y="66"/>
                  </a:lnTo>
                  <a:lnTo>
                    <a:pt x="179" y="88"/>
                  </a:lnTo>
                  <a:lnTo>
                    <a:pt x="179" y="66"/>
                  </a:lnTo>
                  <a:lnTo>
                    <a:pt x="198" y="51"/>
                  </a:lnTo>
                  <a:lnTo>
                    <a:pt x="217" y="36"/>
                  </a:lnTo>
                  <a:lnTo>
                    <a:pt x="242" y="28"/>
                  </a:lnTo>
                  <a:lnTo>
                    <a:pt x="261" y="21"/>
                  </a:lnTo>
                  <a:lnTo>
                    <a:pt x="279" y="21"/>
                  </a:lnTo>
                  <a:lnTo>
                    <a:pt x="296" y="13"/>
                  </a:lnTo>
                  <a:lnTo>
                    <a:pt x="315" y="13"/>
                  </a:lnTo>
                  <a:lnTo>
                    <a:pt x="334" y="5"/>
                  </a:lnTo>
                  <a:lnTo>
                    <a:pt x="353" y="5"/>
                  </a:lnTo>
                  <a:lnTo>
                    <a:pt x="372" y="0"/>
                  </a:lnTo>
                  <a:lnTo>
                    <a:pt x="391" y="0"/>
                  </a:lnTo>
                  <a:lnTo>
                    <a:pt x="410" y="0"/>
                  </a:lnTo>
                  <a:lnTo>
                    <a:pt x="427" y="0"/>
                  </a:lnTo>
                  <a:lnTo>
                    <a:pt x="446" y="0"/>
                  </a:lnTo>
                  <a:lnTo>
                    <a:pt x="483" y="0"/>
                  </a:lnTo>
                  <a:lnTo>
                    <a:pt x="534" y="0"/>
                  </a:lnTo>
                  <a:lnTo>
                    <a:pt x="559" y="0"/>
                  </a:lnTo>
                  <a:lnTo>
                    <a:pt x="584" y="0"/>
                  </a:lnTo>
                  <a:lnTo>
                    <a:pt x="608" y="5"/>
                  </a:lnTo>
                  <a:lnTo>
                    <a:pt x="627" y="21"/>
                  </a:lnTo>
                  <a:lnTo>
                    <a:pt x="638" y="43"/>
                  </a:lnTo>
                  <a:lnTo>
                    <a:pt x="657" y="51"/>
                  </a:lnTo>
                  <a:lnTo>
                    <a:pt x="676" y="66"/>
                  </a:lnTo>
                  <a:lnTo>
                    <a:pt x="695" y="72"/>
                  </a:lnTo>
                  <a:lnTo>
                    <a:pt x="714" y="72"/>
                  </a:lnTo>
                  <a:lnTo>
                    <a:pt x="733" y="81"/>
                  </a:lnTo>
                  <a:lnTo>
                    <a:pt x="752" y="96"/>
                  </a:lnTo>
                  <a:lnTo>
                    <a:pt x="771" y="109"/>
                  </a:lnTo>
                  <a:lnTo>
                    <a:pt x="782" y="132"/>
                  </a:lnTo>
                  <a:lnTo>
                    <a:pt x="801" y="139"/>
                  </a:lnTo>
                  <a:lnTo>
                    <a:pt x="806" y="162"/>
                  </a:lnTo>
                  <a:lnTo>
                    <a:pt x="825" y="183"/>
                  </a:lnTo>
                  <a:lnTo>
                    <a:pt x="833" y="213"/>
                  </a:lnTo>
                  <a:lnTo>
                    <a:pt x="833" y="234"/>
                  </a:lnTo>
                  <a:lnTo>
                    <a:pt x="839" y="258"/>
                  </a:lnTo>
                  <a:lnTo>
                    <a:pt x="839" y="279"/>
                  </a:lnTo>
                  <a:lnTo>
                    <a:pt x="839" y="302"/>
                  </a:lnTo>
                  <a:lnTo>
                    <a:pt x="839" y="324"/>
                  </a:lnTo>
                  <a:lnTo>
                    <a:pt x="839" y="347"/>
                  </a:lnTo>
                  <a:lnTo>
                    <a:pt x="839" y="368"/>
                  </a:lnTo>
                  <a:lnTo>
                    <a:pt x="850" y="390"/>
                  </a:lnTo>
                  <a:lnTo>
                    <a:pt x="850" y="413"/>
                  </a:lnTo>
                  <a:lnTo>
                    <a:pt x="850" y="434"/>
                  </a:lnTo>
                  <a:lnTo>
                    <a:pt x="850" y="456"/>
                  </a:lnTo>
                  <a:lnTo>
                    <a:pt x="844" y="479"/>
                  </a:lnTo>
                  <a:lnTo>
                    <a:pt x="825" y="500"/>
                  </a:lnTo>
                  <a:lnTo>
                    <a:pt x="801" y="517"/>
                  </a:lnTo>
                  <a:lnTo>
                    <a:pt x="782" y="524"/>
                  </a:lnTo>
                  <a:lnTo>
                    <a:pt x="765" y="537"/>
                  </a:lnTo>
                  <a:lnTo>
                    <a:pt x="746" y="545"/>
                  </a:lnTo>
                  <a:lnTo>
                    <a:pt x="725" y="553"/>
                  </a:lnTo>
                  <a:lnTo>
                    <a:pt x="708" y="568"/>
                  </a:lnTo>
                  <a:lnTo>
                    <a:pt x="689" y="575"/>
                  </a:lnTo>
                  <a:lnTo>
                    <a:pt x="670" y="575"/>
                  </a:lnTo>
                  <a:lnTo>
                    <a:pt x="644" y="583"/>
                  </a:lnTo>
                  <a:lnTo>
                    <a:pt x="621" y="583"/>
                  </a:lnTo>
                  <a:lnTo>
                    <a:pt x="602" y="583"/>
                  </a:lnTo>
                  <a:lnTo>
                    <a:pt x="576" y="583"/>
                  </a:lnTo>
                  <a:lnTo>
                    <a:pt x="559" y="583"/>
                  </a:lnTo>
                  <a:lnTo>
                    <a:pt x="540" y="583"/>
                  </a:lnTo>
                  <a:lnTo>
                    <a:pt x="521" y="583"/>
                  </a:lnTo>
                  <a:lnTo>
                    <a:pt x="502" y="583"/>
                  </a:lnTo>
                  <a:lnTo>
                    <a:pt x="483" y="583"/>
                  </a:lnTo>
                  <a:lnTo>
                    <a:pt x="465" y="583"/>
                  </a:lnTo>
                  <a:lnTo>
                    <a:pt x="446" y="583"/>
                  </a:lnTo>
                  <a:lnTo>
                    <a:pt x="427" y="583"/>
                  </a:lnTo>
                  <a:lnTo>
                    <a:pt x="410" y="583"/>
                  </a:lnTo>
                  <a:lnTo>
                    <a:pt x="391" y="583"/>
                  </a:lnTo>
                  <a:lnTo>
                    <a:pt x="372" y="583"/>
                  </a:lnTo>
                  <a:lnTo>
                    <a:pt x="353" y="583"/>
                  </a:lnTo>
                  <a:lnTo>
                    <a:pt x="329" y="583"/>
                  </a:lnTo>
                  <a:lnTo>
                    <a:pt x="310" y="583"/>
                  </a:lnTo>
                  <a:lnTo>
                    <a:pt x="291" y="583"/>
                  </a:lnTo>
                  <a:lnTo>
                    <a:pt x="272" y="583"/>
                  </a:lnTo>
                  <a:lnTo>
                    <a:pt x="255" y="583"/>
                  </a:lnTo>
                  <a:lnTo>
                    <a:pt x="234" y="583"/>
                  </a:lnTo>
                  <a:lnTo>
                    <a:pt x="217" y="568"/>
                  </a:lnTo>
                  <a:lnTo>
                    <a:pt x="198" y="560"/>
                  </a:lnTo>
                  <a:lnTo>
                    <a:pt x="179" y="553"/>
                  </a:lnTo>
                  <a:lnTo>
                    <a:pt x="160" y="545"/>
                  </a:lnTo>
                  <a:lnTo>
                    <a:pt x="142" y="537"/>
                  </a:lnTo>
                  <a:lnTo>
                    <a:pt x="125" y="524"/>
                  </a:lnTo>
                  <a:lnTo>
                    <a:pt x="104" y="509"/>
                  </a:lnTo>
                  <a:lnTo>
                    <a:pt x="92" y="487"/>
                  </a:lnTo>
                  <a:lnTo>
                    <a:pt x="74" y="479"/>
                  </a:lnTo>
                  <a:lnTo>
                    <a:pt x="68" y="456"/>
                  </a:lnTo>
                  <a:lnTo>
                    <a:pt x="49" y="434"/>
                  </a:lnTo>
                  <a:lnTo>
                    <a:pt x="43" y="413"/>
                  </a:lnTo>
                  <a:lnTo>
                    <a:pt x="24" y="390"/>
                  </a:lnTo>
                  <a:lnTo>
                    <a:pt x="17" y="360"/>
                  </a:lnTo>
                  <a:lnTo>
                    <a:pt x="6" y="330"/>
                  </a:lnTo>
                  <a:lnTo>
                    <a:pt x="0" y="309"/>
                  </a:lnTo>
                  <a:lnTo>
                    <a:pt x="0" y="287"/>
                  </a:lnTo>
                  <a:lnTo>
                    <a:pt x="0" y="264"/>
                  </a:lnTo>
                  <a:lnTo>
                    <a:pt x="0" y="243"/>
                  </a:lnTo>
                  <a:lnTo>
                    <a:pt x="6" y="213"/>
                  </a:lnTo>
                  <a:lnTo>
                    <a:pt x="11" y="192"/>
                  </a:lnTo>
                  <a:lnTo>
                    <a:pt x="30" y="175"/>
                  </a:lnTo>
                  <a:lnTo>
                    <a:pt x="43" y="155"/>
                  </a:lnTo>
                  <a:lnTo>
                    <a:pt x="62" y="155"/>
                  </a:lnTo>
                  <a:lnTo>
                    <a:pt x="79" y="147"/>
                  </a:lnTo>
                  <a:lnTo>
                    <a:pt x="98" y="139"/>
                  </a:lnTo>
                  <a:lnTo>
                    <a:pt x="117" y="139"/>
                  </a:lnTo>
                  <a:lnTo>
                    <a:pt x="130" y="117"/>
                  </a:lnTo>
                  <a:lnTo>
                    <a:pt x="130" y="96"/>
                  </a:lnTo>
                  <a:lnTo>
                    <a:pt x="147" y="139"/>
                  </a:lnTo>
                  <a:lnTo>
                    <a:pt x="104" y="11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3" name="Freeform 20"/>
            <p:cNvSpPr>
              <a:spLocks/>
            </p:cNvSpPr>
            <p:nvPr/>
          </p:nvSpPr>
          <p:spPr bwMode="auto">
            <a:xfrm>
              <a:off x="3483" y="2787"/>
              <a:ext cx="132" cy="168"/>
            </a:xfrm>
            <a:custGeom>
              <a:avLst/>
              <a:gdLst>
                <a:gd name="T0" fmla="*/ 6 w 132"/>
                <a:gd name="T1" fmla="*/ 95 h 168"/>
                <a:gd name="T2" fmla="*/ 0 w 132"/>
                <a:gd name="T3" fmla="*/ 72 h 168"/>
                <a:gd name="T4" fmla="*/ 0 w 132"/>
                <a:gd name="T5" fmla="*/ 51 h 168"/>
                <a:gd name="T6" fmla="*/ 17 w 132"/>
                <a:gd name="T7" fmla="*/ 36 h 168"/>
                <a:gd name="T8" fmla="*/ 36 w 132"/>
                <a:gd name="T9" fmla="*/ 21 h 168"/>
                <a:gd name="T10" fmla="*/ 53 w 132"/>
                <a:gd name="T11" fmla="*/ 0 h 168"/>
                <a:gd name="T12" fmla="*/ 72 w 132"/>
                <a:gd name="T13" fmla="*/ 0 h 168"/>
                <a:gd name="T14" fmla="*/ 91 w 132"/>
                <a:gd name="T15" fmla="*/ 0 h 168"/>
                <a:gd name="T16" fmla="*/ 97 w 132"/>
                <a:gd name="T17" fmla="*/ 21 h 168"/>
                <a:gd name="T18" fmla="*/ 110 w 132"/>
                <a:gd name="T19" fmla="*/ 44 h 168"/>
                <a:gd name="T20" fmla="*/ 121 w 132"/>
                <a:gd name="T21" fmla="*/ 66 h 168"/>
                <a:gd name="T22" fmla="*/ 127 w 132"/>
                <a:gd name="T23" fmla="*/ 87 h 168"/>
                <a:gd name="T24" fmla="*/ 132 w 132"/>
                <a:gd name="T25" fmla="*/ 108 h 168"/>
                <a:gd name="T26" fmla="*/ 132 w 132"/>
                <a:gd name="T27" fmla="*/ 132 h 168"/>
                <a:gd name="T28" fmla="*/ 132 w 132"/>
                <a:gd name="T29" fmla="*/ 153 h 168"/>
                <a:gd name="T30" fmla="*/ 115 w 132"/>
                <a:gd name="T31" fmla="*/ 168 h 168"/>
                <a:gd name="T32" fmla="*/ 97 w 132"/>
                <a:gd name="T33" fmla="*/ 168 h 168"/>
                <a:gd name="T34" fmla="*/ 80 w 132"/>
                <a:gd name="T35" fmla="*/ 168 h 168"/>
                <a:gd name="T36" fmla="*/ 61 w 132"/>
                <a:gd name="T37" fmla="*/ 168 h 168"/>
                <a:gd name="T38" fmla="*/ 42 w 132"/>
                <a:gd name="T39" fmla="*/ 161 h 168"/>
                <a:gd name="T40" fmla="*/ 23 w 132"/>
                <a:gd name="T41" fmla="*/ 146 h 168"/>
                <a:gd name="T42" fmla="*/ 12 w 132"/>
                <a:gd name="T43" fmla="*/ 123 h 168"/>
                <a:gd name="T44" fmla="*/ 6 w 132"/>
                <a:gd name="T45" fmla="*/ 102 h 168"/>
                <a:gd name="T46" fmla="*/ 6 w 132"/>
                <a:gd name="T47" fmla="*/ 95 h 16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32" h="168">
                  <a:moveTo>
                    <a:pt x="6" y="95"/>
                  </a:moveTo>
                  <a:lnTo>
                    <a:pt x="0" y="72"/>
                  </a:lnTo>
                  <a:lnTo>
                    <a:pt x="0" y="51"/>
                  </a:lnTo>
                  <a:lnTo>
                    <a:pt x="17" y="36"/>
                  </a:lnTo>
                  <a:lnTo>
                    <a:pt x="36" y="21"/>
                  </a:lnTo>
                  <a:lnTo>
                    <a:pt x="53" y="0"/>
                  </a:lnTo>
                  <a:lnTo>
                    <a:pt x="72" y="0"/>
                  </a:lnTo>
                  <a:lnTo>
                    <a:pt x="91" y="0"/>
                  </a:lnTo>
                  <a:lnTo>
                    <a:pt x="97" y="21"/>
                  </a:lnTo>
                  <a:lnTo>
                    <a:pt x="110" y="44"/>
                  </a:lnTo>
                  <a:lnTo>
                    <a:pt x="121" y="66"/>
                  </a:lnTo>
                  <a:lnTo>
                    <a:pt x="127" y="87"/>
                  </a:lnTo>
                  <a:lnTo>
                    <a:pt x="132" y="108"/>
                  </a:lnTo>
                  <a:lnTo>
                    <a:pt x="132" y="132"/>
                  </a:lnTo>
                  <a:lnTo>
                    <a:pt x="132" y="153"/>
                  </a:lnTo>
                  <a:lnTo>
                    <a:pt x="115" y="168"/>
                  </a:lnTo>
                  <a:lnTo>
                    <a:pt x="97" y="168"/>
                  </a:lnTo>
                  <a:lnTo>
                    <a:pt x="80" y="168"/>
                  </a:lnTo>
                  <a:lnTo>
                    <a:pt x="61" y="168"/>
                  </a:lnTo>
                  <a:lnTo>
                    <a:pt x="42" y="161"/>
                  </a:lnTo>
                  <a:lnTo>
                    <a:pt x="23" y="146"/>
                  </a:lnTo>
                  <a:lnTo>
                    <a:pt x="12" y="123"/>
                  </a:lnTo>
                  <a:lnTo>
                    <a:pt x="6" y="102"/>
                  </a:lnTo>
                  <a:lnTo>
                    <a:pt x="6" y="95"/>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4" name="Freeform 21"/>
            <p:cNvSpPr>
              <a:spLocks/>
            </p:cNvSpPr>
            <p:nvPr/>
          </p:nvSpPr>
          <p:spPr bwMode="auto">
            <a:xfrm>
              <a:off x="3802" y="2742"/>
              <a:ext cx="93" cy="123"/>
            </a:xfrm>
            <a:custGeom>
              <a:avLst/>
              <a:gdLst>
                <a:gd name="T0" fmla="*/ 0 w 93"/>
                <a:gd name="T1" fmla="*/ 0 h 123"/>
                <a:gd name="T2" fmla="*/ 17 w 93"/>
                <a:gd name="T3" fmla="*/ 15 h 123"/>
                <a:gd name="T4" fmla="*/ 36 w 93"/>
                <a:gd name="T5" fmla="*/ 28 h 123"/>
                <a:gd name="T6" fmla="*/ 55 w 93"/>
                <a:gd name="T7" fmla="*/ 28 h 123"/>
                <a:gd name="T8" fmla="*/ 74 w 93"/>
                <a:gd name="T9" fmla="*/ 44 h 123"/>
                <a:gd name="T10" fmla="*/ 87 w 93"/>
                <a:gd name="T11" fmla="*/ 66 h 123"/>
                <a:gd name="T12" fmla="*/ 93 w 93"/>
                <a:gd name="T13" fmla="*/ 87 h 123"/>
                <a:gd name="T14" fmla="*/ 93 w 93"/>
                <a:gd name="T15" fmla="*/ 110 h 123"/>
                <a:gd name="T16" fmla="*/ 74 w 93"/>
                <a:gd name="T17" fmla="*/ 123 h 123"/>
                <a:gd name="T18" fmla="*/ 55 w 93"/>
                <a:gd name="T19" fmla="*/ 123 h 123"/>
                <a:gd name="T20" fmla="*/ 31 w 93"/>
                <a:gd name="T21" fmla="*/ 115 h 123"/>
                <a:gd name="T22" fmla="*/ 12 w 93"/>
                <a:gd name="T23" fmla="*/ 102 h 123"/>
                <a:gd name="T24" fmla="*/ 6 w 93"/>
                <a:gd name="T25" fmla="*/ 79 h 123"/>
                <a:gd name="T26" fmla="*/ 0 w 93"/>
                <a:gd name="T27" fmla="*/ 57 h 123"/>
                <a:gd name="T28" fmla="*/ 0 w 93"/>
                <a:gd name="T29" fmla="*/ 36 h 123"/>
                <a:gd name="T30" fmla="*/ 12 w 93"/>
                <a:gd name="T31" fmla="*/ 15 h 123"/>
                <a:gd name="T32" fmla="*/ 0 w 93"/>
                <a:gd name="T33" fmla="*/ 0 h 12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93" h="123">
                  <a:moveTo>
                    <a:pt x="0" y="0"/>
                  </a:moveTo>
                  <a:lnTo>
                    <a:pt x="17" y="15"/>
                  </a:lnTo>
                  <a:lnTo>
                    <a:pt x="36" y="28"/>
                  </a:lnTo>
                  <a:lnTo>
                    <a:pt x="55" y="28"/>
                  </a:lnTo>
                  <a:lnTo>
                    <a:pt x="74" y="44"/>
                  </a:lnTo>
                  <a:lnTo>
                    <a:pt x="87" y="66"/>
                  </a:lnTo>
                  <a:lnTo>
                    <a:pt x="93" y="87"/>
                  </a:lnTo>
                  <a:lnTo>
                    <a:pt x="93" y="110"/>
                  </a:lnTo>
                  <a:lnTo>
                    <a:pt x="74" y="123"/>
                  </a:lnTo>
                  <a:lnTo>
                    <a:pt x="55" y="123"/>
                  </a:lnTo>
                  <a:lnTo>
                    <a:pt x="31" y="115"/>
                  </a:lnTo>
                  <a:lnTo>
                    <a:pt x="12" y="102"/>
                  </a:lnTo>
                  <a:lnTo>
                    <a:pt x="6" y="79"/>
                  </a:lnTo>
                  <a:lnTo>
                    <a:pt x="0" y="57"/>
                  </a:lnTo>
                  <a:lnTo>
                    <a:pt x="0" y="36"/>
                  </a:lnTo>
                  <a:lnTo>
                    <a:pt x="12" y="15"/>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162" name="Text Box 162"/>
          <p:cNvSpPr txBox="1">
            <a:spLocks noChangeArrowheads="1"/>
          </p:cNvSpPr>
          <p:nvPr/>
        </p:nvSpPr>
        <p:spPr bwMode="auto">
          <a:xfrm>
            <a:off x="1501962" y="1438210"/>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互联网</a:t>
            </a:r>
          </a:p>
        </p:txBody>
      </p:sp>
      <p:pic>
        <p:nvPicPr>
          <p:cNvPr id="205" name="图片 204"/>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743034" y="2589189"/>
            <a:ext cx="619871" cy="867819"/>
          </a:xfrm>
          <a:prstGeom prst="rect">
            <a:avLst/>
          </a:prstGeom>
        </p:spPr>
      </p:pic>
      <p:sp>
        <p:nvSpPr>
          <p:cNvPr id="173" name="Oval 173"/>
          <p:cNvSpPr>
            <a:spLocks noChangeArrowheads="1"/>
          </p:cNvSpPr>
          <p:nvPr/>
        </p:nvSpPr>
        <p:spPr bwMode="auto">
          <a:xfrm>
            <a:off x="2975198" y="3092185"/>
            <a:ext cx="314930" cy="197875"/>
          </a:xfrm>
          <a:prstGeom prst="ellipse">
            <a:avLst/>
          </a:prstGeom>
          <a:solidFill>
            <a:srgbClr val="FF66FF"/>
          </a:solidFill>
          <a:ln w="9525">
            <a:solidFill>
              <a:schemeClr val="tx1"/>
            </a:solidFill>
            <a:round/>
            <a:headEnd/>
            <a:tailEnd/>
          </a:ln>
          <a:effectLst/>
        </p:spPr>
        <p:txBody>
          <a:bodyPr wrap="none" anchor="ct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A</a:t>
            </a:r>
          </a:p>
        </p:txBody>
      </p:sp>
      <p:sp>
        <p:nvSpPr>
          <p:cNvPr id="184" name="Freeform 185"/>
          <p:cNvSpPr>
            <a:spLocks/>
          </p:cNvSpPr>
          <p:nvPr/>
        </p:nvSpPr>
        <p:spPr bwMode="auto">
          <a:xfrm>
            <a:off x="3290128" y="2878430"/>
            <a:ext cx="2103944" cy="333456"/>
          </a:xfrm>
          <a:custGeom>
            <a:avLst/>
            <a:gdLst>
              <a:gd name="T0" fmla="*/ 2147483646 w 1384"/>
              <a:gd name="T1" fmla="*/ 0 h 208"/>
              <a:gd name="T2" fmla="*/ 0 w 1384"/>
              <a:gd name="T3" fmla="*/ 2147483646 h 208"/>
              <a:gd name="T4" fmla="*/ 0 60000 65536"/>
              <a:gd name="T5" fmla="*/ 0 60000 65536"/>
            </a:gdLst>
            <a:ahLst/>
            <a:cxnLst>
              <a:cxn ang="T4">
                <a:pos x="T0" y="T1"/>
              </a:cxn>
              <a:cxn ang="T5">
                <a:pos x="T2" y="T3"/>
              </a:cxn>
            </a:cxnLst>
            <a:rect l="0" t="0" r="r" b="b"/>
            <a:pathLst>
              <a:path w="1384" h="208">
                <a:moveTo>
                  <a:pt x="1384" y="0"/>
                </a:moveTo>
                <a:cubicBezTo>
                  <a:pt x="1153" y="33"/>
                  <a:pt x="288" y="165"/>
                  <a:pt x="0" y="208"/>
                </a:cubicBezTo>
              </a:path>
            </a:pathLst>
          </a:custGeom>
          <a:noFill/>
          <a:ln w="28575" cap="flat" cmpd="sng">
            <a:solidFill>
              <a:srgbClr val="CC00CC"/>
            </a:solidFill>
            <a:prstDash val="dash"/>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15862801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2055"/>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911667" y="578844"/>
            <a:ext cx="333937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网络管理模型中的主要构件</a:t>
            </a:r>
          </a:p>
        </p:txBody>
      </p:sp>
      <p:sp>
        <p:nvSpPr>
          <p:cNvPr id="4" name="Rectangle 68"/>
          <p:cNvSpPr>
            <a:spLocks noChangeArrowheads="1"/>
          </p:cNvSpPr>
          <p:nvPr/>
        </p:nvSpPr>
        <p:spPr bwMode="auto">
          <a:xfrm>
            <a:off x="556962" y="973145"/>
            <a:ext cx="8048777" cy="347787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管理站</a:t>
            </a:r>
            <a:r>
              <a:rPr lang="zh-CN" altLang="en-US" sz="2000" b="1" dirty="0">
                <a:latin typeface="微软雅黑 Light" panose="020B0502040204020203" pitchFamily="34" charset="-122"/>
                <a:ea typeface="微软雅黑 Light" panose="020B0502040204020203" pitchFamily="34" charset="-122"/>
              </a:rPr>
              <a:t>也常称为</a:t>
            </a:r>
            <a:r>
              <a:rPr lang="zh-CN" altLang="en-US" sz="2000" b="1" dirty="0">
                <a:solidFill>
                  <a:srgbClr val="0000FF"/>
                </a:solidFill>
                <a:latin typeface="微软雅黑 Light" panose="020B0502040204020203" pitchFamily="34" charset="-122"/>
                <a:ea typeface="微软雅黑 Light" panose="020B0502040204020203" pitchFamily="34" charset="-122"/>
              </a:rPr>
              <a:t>网络运行中心 </a:t>
            </a:r>
            <a:r>
              <a:rPr lang="en-US" altLang="zh-CN" sz="2000" b="1" dirty="0">
                <a:latin typeface="微软雅黑 Light" panose="020B0502040204020203" pitchFamily="34" charset="-122"/>
                <a:ea typeface="微软雅黑 Light" panose="020B0502040204020203" pitchFamily="34" charset="-122"/>
              </a:rPr>
              <a:t>NOC (Network Operations Center)</a:t>
            </a:r>
            <a:r>
              <a:rPr lang="zh-CN" altLang="en-US" sz="2000" b="1" dirty="0">
                <a:latin typeface="微软雅黑 Light" panose="020B0502040204020203" pitchFamily="34" charset="-122"/>
                <a:ea typeface="微软雅黑 Light" panose="020B0502040204020203" pitchFamily="34" charset="-122"/>
              </a:rPr>
              <a:t>，是网络管理系统的核心。</a:t>
            </a:r>
          </a:p>
          <a:p>
            <a:pPr marL="342900" indent="-342900" eaLnBrk="0" hangingPunct="0">
              <a:lnSpc>
                <a:spcPts val="33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管理程序</a:t>
            </a:r>
            <a:r>
              <a:rPr lang="zh-CN" altLang="en-US" sz="2000" b="1" dirty="0">
                <a:latin typeface="微软雅黑 Light" panose="020B0502040204020203" pitchFamily="34" charset="-122"/>
                <a:ea typeface="微软雅黑 Light" panose="020B0502040204020203" pitchFamily="34" charset="-122"/>
              </a:rPr>
              <a:t>是管理站中的关键构件，在运行时就成为</a:t>
            </a:r>
            <a:r>
              <a:rPr lang="zh-CN" altLang="en-US" sz="2000" b="1" dirty="0">
                <a:solidFill>
                  <a:srgbClr val="0000FF"/>
                </a:solidFill>
                <a:latin typeface="微软雅黑 Light" panose="020B0502040204020203" pitchFamily="34" charset="-122"/>
                <a:ea typeface="微软雅黑 Light" panose="020B0502040204020203" pitchFamily="34" charset="-122"/>
              </a:rPr>
              <a:t>管理进程</a:t>
            </a:r>
            <a:r>
              <a:rPr lang="zh-CN" altLang="en-US" sz="2000" b="1" dirty="0">
                <a:latin typeface="微软雅黑 Light" panose="020B0502040204020203" pitchFamily="34" charset="-122"/>
                <a:ea typeface="微软雅黑 Light" panose="020B0502040204020203" pitchFamily="34" charset="-122"/>
              </a:rPr>
              <a:t>。</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管理站（硬件）或管理程序（软件）都可称为</a:t>
            </a:r>
            <a:r>
              <a:rPr lang="zh-CN" altLang="en-US" sz="2000" b="1" dirty="0">
                <a:solidFill>
                  <a:srgbClr val="C00000"/>
                </a:solidFill>
                <a:latin typeface="微软雅黑 Light" panose="020B0502040204020203" pitchFamily="34" charset="-122"/>
                <a:ea typeface="微软雅黑 Light" panose="020B0502040204020203" pitchFamily="34" charset="-122"/>
              </a:rPr>
              <a:t>管理者</a:t>
            </a:r>
            <a:r>
              <a:rPr lang="en-US" altLang="zh-CN" sz="2000" b="1" dirty="0">
                <a:latin typeface="微软雅黑 Light" panose="020B0502040204020203" pitchFamily="34" charset="-122"/>
                <a:ea typeface="微软雅黑 Light" panose="020B0502040204020203" pitchFamily="34" charset="-122"/>
              </a:rPr>
              <a:t>(manager)</a:t>
            </a:r>
            <a:r>
              <a:rPr lang="zh-CN" altLang="en-US" sz="2000" b="1" dirty="0">
                <a:latin typeface="微软雅黑 Light" panose="020B0502040204020203" pitchFamily="34" charset="-122"/>
                <a:ea typeface="微软雅黑 Light" panose="020B0502040204020203" pitchFamily="34" charset="-122"/>
              </a:rPr>
              <a:t>。</a:t>
            </a:r>
            <a:r>
              <a:rPr lang="en-US" altLang="zh-CN" sz="2000" b="1" dirty="0">
                <a:latin typeface="微软雅黑 Light" panose="020B0502040204020203" pitchFamily="34" charset="-122"/>
                <a:ea typeface="微软雅黑 Light" panose="020B0502040204020203" pitchFamily="34" charset="-122"/>
              </a:rPr>
              <a:t>Manager</a:t>
            </a:r>
            <a:r>
              <a:rPr lang="en-US" altLang="zh-CN" sz="2000" b="1" dirty="0">
                <a:solidFill>
                  <a:srgbClr val="0000FF"/>
                </a:solidFill>
                <a:latin typeface="微软雅黑 Light" panose="020B0502040204020203" pitchFamily="34" charset="-122"/>
                <a:ea typeface="微软雅黑 Light" panose="020B0502040204020203" pitchFamily="34" charset="-122"/>
              </a:rPr>
              <a:t> </a:t>
            </a:r>
            <a:r>
              <a:rPr lang="zh-CN" altLang="en-US" sz="2000" b="1" dirty="0">
                <a:latin typeface="微软雅黑 Light" panose="020B0502040204020203" pitchFamily="34" charset="-122"/>
                <a:ea typeface="微软雅黑 Light" panose="020B0502040204020203" pitchFamily="34" charset="-122"/>
              </a:rPr>
              <a:t>不是指人，而是指机器或软件。</a:t>
            </a:r>
          </a:p>
          <a:p>
            <a:pPr marL="342900" indent="-342900" eaLnBrk="0" hangingPunct="0">
              <a:lnSpc>
                <a:spcPts val="33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网络管理员</a:t>
            </a:r>
            <a:r>
              <a:rPr lang="zh-CN" altLang="en-US" sz="2000" b="1" dirty="0">
                <a:solidFill>
                  <a:srgbClr val="0000FF"/>
                </a:solidFill>
                <a:latin typeface="微软雅黑 Light" panose="020B0502040204020203" pitchFamily="34" charset="-122"/>
                <a:ea typeface="微软雅黑 Light" panose="020B0502040204020203" pitchFamily="34" charset="-122"/>
              </a:rPr>
              <a:t> </a:t>
            </a:r>
            <a:r>
              <a:rPr lang="en-US" altLang="zh-CN" sz="2000" b="1" dirty="0">
                <a:latin typeface="微软雅黑 Light" panose="020B0502040204020203" pitchFamily="34" charset="-122"/>
                <a:ea typeface="微软雅黑 Light" panose="020B0502040204020203" pitchFamily="34" charset="-122"/>
              </a:rPr>
              <a:t>(administrator) </a:t>
            </a:r>
            <a:r>
              <a:rPr lang="zh-CN" altLang="en-US" sz="2000" b="1" dirty="0">
                <a:latin typeface="微软雅黑 Light" panose="020B0502040204020203" pitchFamily="34" charset="-122"/>
                <a:ea typeface="微软雅黑 Light" panose="020B0502040204020203" pitchFamily="34" charset="-122"/>
              </a:rPr>
              <a:t>指的是负责网络管理的人员。</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大型网络往往实行</a:t>
            </a:r>
            <a:r>
              <a:rPr lang="zh-CN" altLang="en-US" sz="2000" b="1" dirty="0">
                <a:solidFill>
                  <a:srgbClr val="C00000"/>
                </a:solidFill>
                <a:latin typeface="微软雅黑 Light" panose="020B0502040204020203" pitchFamily="34" charset="-122"/>
                <a:ea typeface="微软雅黑 Light" panose="020B0502040204020203" pitchFamily="34" charset="-122"/>
              </a:rPr>
              <a:t>多级管理，</a:t>
            </a:r>
            <a:r>
              <a:rPr lang="zh-CN" altLang="en-US" sz="2000" b="1" dirty="0">
                <a:latin typeface="微软雅黑 Light" panose="020B0502040204020203" pitchFamily="34" charset="-122"/>
                <a:ea typeface="微软雅黑 Light" panose="020B0502040204020203" pitchFamily="34" charset="-122"/>
              </a:rPr>
              <a:t>因而有多个管理者，而一个管理者一般只管理本地网络的设备。</a:t>
            </a:r>
          </a:p>
        </p:txBody>
      </p:sp>
    </p:spTree>
    <p:extLst>
      <p:ext uri="{BB962C8B-B14F-4D97-AF65-F5344CB8AC3E}">
        <p14:creationId xmlns:p14="http://schemas.microsoft.com/office/powerpoint/2010/main" val="2845728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09892"/>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886020" y="576681"/>
            <a:ext cx="339067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被管对象 </a:t>
            </a:r>
            <a:r>
              <a:rPr lang="en-US" altLang="zh-CN" sz="2000" b="1" dirty="0">
                <a:solidFill>
                  <a:schemeClr val="bg1"/>
                </a:solidFill>
                <a:latin typeface="微软雅黑 Light" panose="020B0502040204020203" pitchFamily="34" charset="-122"/>
                <a:ea typeface="微软雅黑 Light" panose="020B0502040204020203" pitchFamily="34" charset="-122"/>
              </a:rPr>
              <a:t>(Managed Object)</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556963" y="980924"/>
            <a:ext cx="7876823"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网络的每一个被管设备（包括设备中的软件）中可能有多个</a:t>
            </a:r>
            <a:r>
              <a:rPr lang="zh-CN" altLang="en-US" sz="2000" b="1" dirty="0">
                <a:solidFill>
                  <a:srgbClr val="C00000"/>
                </a:solidFill>
                <a:latin typeface="微软雅黑 Light" panose="020B0502040204020203" pitchFamily="34" charset="-122"/>
                <a:ea typeface="微软雅黑 Light" panose="020B0502040204020203" pitchFamily="34" charset="-122"/>
              </a:rPr>
              <a:t>被管对象。</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被管设备有时可称为</a:t>
            </a:r>
            <a:r>
              <a:rPr lang="zh-CN" altLang="en-US" sz="2000" b="1" dirty="0">
                <a:solidFill>
                  <a:srgbClr val="0000FF"/>
                </a:solidFill>
                <a:latin typeface="微软雅黑 Light" panose="020B0502040204020203" pitchFamily="34" charset="-122"/>
                <a:ea typeface="微软雅黑 Light" panose="020B0502040204020203" pitchFamily="34" charset="-122"/>
              </a:rPr>
              <a:t>网络元素</a:t>
            </a:r>
            <a:r>
              <a:rPr lang="zh-CN" altLang="en-US" sz="2000" b="1" dirty="0">
                <a:latin typeface="微软雅黑 Light" panose="020B0502040204020203" pitchFamily="34" charset="-122"/>
                <a:ea typeface="微软雅黑 Light" panose="020B0502040204020203" pitchFamily="34" charset="-122"/>
              </a:rPr>
              <a:t>或</a:t>
            </a:r>
            <a:r>
              <a:rPr lang="zh-CN" altLang="en-US" sz="2000" b="1" dirty="0">
                <a:solidFill>
                  <a:srgbClr val="0000FF"/>
                </a:solidFill>
                <a:latin typeface="微软雅黑 Light" panose="020B0502040204020203" pitchFamily="34" charset="-122"/>
                <a:ea typeface="微软雅黑 Light" panose="020B0502040204020203" pitchFamily="34" charset="-122"/>
              </a:rPr>
              <a:t>网元</a:t>
            </a:r>
            <a:r>
              <a:rPr lang="zh-CN" altLang="en-US" sz="2000" b="1" dirty="0">
                <a:latin typeface="微软雅黑 Light" panose="020B0502040204020203" pitchFamily="34" charset="-122"/>
                <a:ea typeface="微软雅黑 Light" panose="020B0502040204020203" pitchFamily="34" charset="-122"/>
              </a:rPr>
              <a:t>。</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在被管设备中也会有一些不能被管的对象。 </a:t>
            </a:r>
          </a:p>
        </p:txBody>
      </p:sp>
    </p:spTree>
    <p:extLst>
      <p:ext uri="{BB962C8B-B14F-4D97-AF65-F5344CB8AC3E}">
        <p14:creationId xmlns:p14="http://schemas.microsoft.com/office/powerpoint/2010/main" val="36045589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0691"/>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785304" y="577480"/>
            <a:ext cx="159210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代理 </a:t>
            </a:r>
            <a:r>
              <a:rPr lang="en-US" altLang="zh-CN" sz="2000" b="1" dirty="0">
                <a:solidFill>
                  <a:schemeClr val="bg1"/>
                </a:solidFill>
                <a:latin typeface="微软雅黑 Light" panose="020B0502040204020203" pitchFamily="34" charset="-122"/>
                <a:ea typeface="微软雅黑 Light" panose="020B0502040204020203" pitchFamily="34" charset="-122"/>
              </a:rPr>
              <a:t>(agent)</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556962" y="980925"/>
            <a:ext cx="8160909"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在每一个被管设备中都要运行一个程序，以便和管理站中的管理程序进行通信。</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这些运行着的程序叫做</a:t>
            </a:r>
            <a:r>
              <a:rPr lang="zh-CN" altLang="en-US" sz="2000" b="1" dirty="0">
                <a:solidFill>
                  <a:srgbClr val="C00000"/>
                </a:solidFill>
                <a:latin typeface="微软雅黑 Light" panose="020B0502040204020203" pitchFamily="34" charset="-122"/>
                <a:ea typeface="微软雅黑 Light" panose="020B0502040204020203" pitchFamily="34" charset="-122"/>
              </a:rPr>
              <a:t>网络管理代理程序，</a:t>
            </a:r>
            <a:r>
              <a:rPr lang="zh-CN" altLang="en-US" sz="2000" b="1" dirty="0">
                <a:latin typeface="微软雅黑 Light" panose="020B0502040204020203" pitchFamily="34" charset="-122"/>
                <a:ea typeface="微软雅黑 Light" panose="020B0502040204020203" pitchFamily="34" charset="-122"/>
              </a:rPr>
              <a:t>或简称为</a:t>
            </a:r>
            <a:r>
              <a:rPr lang="zh-CN" altLang="en-US" sz="2000" b="1" dirty="0">
                <a:solidFill>
                  <a:srgbClr val="C00000"/>
                </a:solidFill>
                <a:latin typeface="微软雅黑 Light" panose="020B0502040204020203" pitchFamily="34" charset="-122"/>
                <a:ea typeface="微软雅黑 Light" panose="020B0502040204020203" pitchFamily="34" charset="-122"/>
              </a:rPr>
              <a:t>代理。</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代理程序在管理程序的命令和控制下在被管设备上采取本地的行动。</a:t>
            </a:r>
          </a:p>
        </p:txBody>
      </p:sp>
    </p:spTree>
    <p:extLst>
      <p:ext uri="{BB962C8B-B14F-4D97-AF65-F5344CB8AC3E}">
        <p14:creationId xmlns:p14="http://schemas.microsoft.com/office/powerpoint/2010/main" val="5084910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0018"/>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719581" y="576807"/>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网络管理协议</a:t>
            </a:r>
          </a:p>
        </p:txBody>
      </p:sp>
      <p:sp>
        <p:nvSpPr>
          <p:cNvPr id="4" name="Rectangle 68"/>
          <p:cNvSpPr>
            <a:spLocks noChangeArrowheads="1"/>
          </p:cNvSpPr>
          <p:nvPr/>
        </p:nvSpPr>
        <p:spPr bwMode="auto">
          <a:xfrm>
            <a:off x="556962" y="971108"/>
            <a:ext cx="8048777"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网络管理协议</a:t>
            </a:r>
            <a:r>
              <a:rPr lang="zh-CN" altLang="en-US" sz="2000" b="1" dirty="0">
                <a:latin typeface="微软雅黑 Light" panose="020B0502040204020203" pitchFamily="34" charset="-122"/>
                <a:ea typeface="微软雅黑 Light" panose="020B0502040204020203" pitchFamily="34" charset="-122"/>
              </a:rPr>
              <a:t>简称为</a:t>
            </a:r>
            <a:r>
              <a:rPr lang="zh-CN" altLang="en-US" sz="2000" b="1" dirty="0">
                <a:solidFill>
                  <a:srgbClr val="0000FF"/>
                </a:solidFill>
                <a:latin typeface="微软雅黑 Light" panose="020B0502040204020203" pitchFamily="34" charset="-122"/>
                <a:ea typeface="微软雅黑 Light" panose="020B0502040204020203" pitchFamily="34" charset="-122"/>
              </a:rPr>
              <a:t>网管协议。</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网络管理协议是管理程序和代理程序之间进行通信的规则。</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网络管理员利用网络管理协议，通过管理站对网络中的被管设备进行管理。 </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注意：网管协议本身不管理网络。</a:t>
            </a:r>
          </a:p>
        </p:txBody>
      </p:sp>
    </p:spTree>
    <p:extLst>
      <p:ext uri="{BB962C8B-B14F-4D97-AF65-F5344CB8AC3E}">
        <p14:creationId xmlns:p14="http://schemas.microsoft.com/office/powerpoint/2010/main" val="31194960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0662"/>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067160" y="577451"/>
            <a:ext cx="302839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简单网络管理协议 </a:t>
            </a:r>
            <a:r>
              <a:rPr lang="en-US" altLang="zh-CN" sz="2000" b="1" dirty="0">
                <a:solidFill>
                  <a:schemeClr val="bg1"/>
                </a:solidFill>
                <a:latin typeface="微软雅黑 Light" panose="020B0502040204020203" pitchFamily="34" charset="-122"/>
                <a:ea typeface="微软雅黑 Light" panose="020B0502040204020203" pitchFamily="34" charset="-122"/>
              </a:rPr>
              <a:t>SNMP</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556963" y="971752"/>
            <a:ext cx="7903456"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简单网络管理协议 </a:t>
            </a:r>
            <a:r>
              <a:rPr lang="en-US" altLang="zh-CN" sz="2000" b="1" dirty="0">
                <a:solidFill>
                  <a:srgbClr val="C00000"/>
                </a:solidFill>
                <a:latin typeface="微软雅黑 Light" panose="020B0502040204020203" pitchFamily="34" charset="-122"/>
                <a:ea typeface="微软雅黑 Light" panose="020B0502040204020203" pitchFamily="34" charset="-122"/>
              </a:rPr>
              <a:t>SNMP </a:t>
            </a:r>
            <a:r>
              <a:rPr lang="en-US" altLang="zh-CN" sz="2000" b="1" dirty="0">
                <a:latin typeface="微软雅黑 Light" panose="020B0502040204020203" pitchFamily="34" charset="-122"/>
                <a:ea typeface="微软雅黑 Light" panose="020B0502040204020203" pitchFamily="34" charset="-122"/>
              </a:rPr>
              <a:t>(Simple Network Management Protocol) </a:t>
            </a:r>
            <a:r>
              <a:rPr lang="zh-CN" altLang="en-US" sz="2000" b="1" dirty="0">
                <a:latin typeface="微软雅黑 Light" panose="020B0502040204020203" pitchFamily="34" charset="-122"/>
                <a:ea typeface="微软雅黑 Light" panose="020B0502040204020203" pitchFamily="34" charset="-122"/>
              </a:rPr>
              <a:t>中的管理程序和代理程序按</a:t>
            </a:r>
            <a:r>
              <a:rPr lang="zh-CN" altLang="en-US" sz="2000" b="1" dirty="0">
                <a:solidFill>
                  <a:srgbClr val="C00000"/>
                </a:solidFill>
                <a:latin typeface="微软雅黑 Light" panose="020B0502040204020203" pitchFamily="34" charset="-122"/>
                <a:ea typeface="微软雅黑 Light" panose="020B0502040204020203" pitchFamily="34" charset="-122"/>
              </a:rPr>
              <a:t>客户服务器</a:t>
            </a:r>
            <a:r>
              <a:rPr lang="zh-CN" altLang="en-US" sz="2000" b="1" dirty="0">
                <a:latin typeface="微软雅黑 Light" panose="020B0502040204020203" pitchFamily="34" charset="-122"/>
                <a:ea typeface="微软雅黑 Light" panose="020B0502040204020203" pitchFamily="34" charset="-122"/>
              </a:rPr>
              <a:t>方式工作。</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管理程序运行 </a:t>
            </a:r>
            <a:r>
              <a:rPr lang="en-US" altLang="zh-CN" sz="2000" b="1" dirty="0">
                <a:solidFill>
                  <a:srgbClr val="C00000"/>
                </a:solidFill>
                <a:latin typeface="微软雅黑 Light" panose="020B0502040204020203" pitchFamily="34" charset="-122"/>
                <a:ea typeface="微软雅黑 Light" panose="020B0502040204020203" pitchFamily="34" charset="-122"/>
              </a:rPr>
              <a:t>SNMP </a:t>
            </a:r>
            <a:r>
              <a:rPr lang="zh-CN" altLang="en-US" sz="2000" b="1" dirty="0">
                <a:solidFill>
                  <a:srgbClr val="C00000"/>
                </a:solidFill>
                <a:latin typeface="微软雅黑 Light" panose="020B0502040204020203" pitchFamily="34" charset="-122"/>
                <a:ea typeface="微软雅黑 Light" panose="020B0502040204020203" pitchFamily="34" charset="-122"/>
              </a:rPr>
              <a:t>客户程序，</a:t>
            </a:r>
            <a:r>
              <a:rPr lang="zh-CN" altLang="en-US" sz="2000" b="1" dirty="0">
                <a:latin typeface="微软雅黑 Light" panose="020B0502040204020203" pitchFamily="34" charset="-122"/>
                <a:ea typeface="微软雅黑 Light" panose="020B0502040204020203" pitchFamily="34" charset="-122"/>
              </a:rPr>
              <a:t>向某个代理程序发出请求 </a:t>
            </a:r>
            <a:r>
              <a:rPr lang="en-US" altLang="zh-CN" sz="2000" b="1" dirty="0">
                <a:latin typeface="微软雅黑 Light" panose="020B0502040204020203" pitchFamily="34" charset="-122"/>
                <a:ea typeface="微软雅黑 Light" panose="020B0502040204020203" pitchFamily="34" charset="-122"/>
              </a:rPr>
              <a:t>(</a:t>
            </a:r>
            <a:r>
              <a:rPr lang="zh-CN" altLang="en-US" sz="2000" b="1" dirty="0">
                <a:latin typeface="微软雅黑 Light" panose="020B0502040204020203" pitchFamily="34" charset="-122"/>
                <a:ea typeface="微软雅黑 Light" panose="020B0502040204020203" pitchFamily="34" charset="-122"/>
              </a:rPr>
              <a:t>或命令</a:t>
            </a:r>
            <a:r>
              <a:rPr lang="en-US" altLang="zh-CN" sz="2000" b="1" dirty="0">
                <a:latin typeface="微软雅黑 Light" panose="020B0502040204020203" pitchFamily="34" charset="-122"/>
                <a:ea typeface="微软雅黑 Light" panose="020B0502040204020203" pitchFamily="34" charset="-122"/>
              </a:rPr>
              <a:t>)</a:t>
            </a:r>
            <a:r>
              <a:rPr lang="zh-CN" altLang="en-US" sz="2000" b="1" dirty="0">
                <a:latin typeface="微软雅黑 Light" panose="020B0502040204020203" pitchFamily="34" charset="-122"/>
                <a:ea typeface="微软雅黑 Light" panose="020B0502040204020203" pitchFamily="34" charset="-122"/>
              </a:rPr>
              <a:t>。</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代理程序运行 </a:t>
            </a:r>
            <a:r>
              <a:rPr lang="en-US" altLang="zh-CN" sz="2000" b="1" dirty="0">
                <a:solidFill>
                  <a:srgbClr val="C00000"/>
                </a:solidFill>
                <a:latin typeface="微软雅黑 Light" panose="020B0502040204020203" pitchFamily="34" charset="-122"/>
                <a:ea typeface="微软雅黑 Light" panose="020B0502040204020203" pitchFamily="34" charset="-122"/>
              </a:rPr>
              <a:t>SNMP </a:t>
            </a:r>
            <a:r>
              <a:rPr lang="zh-CN" altLang="en-US" sz="2000" b="1" dirty="0">
                <a:solidFill>
                  <a:srgbClr val="C00000"/>
                </a:solidFill>
                <a:latin typeface="微软雅黑 Light" panose="020B0502040204020203" pitchFamily="34" charset="-122"/>
                <a:ea typeface="微软雅黑 Light" panose="020B0502040204020203" pitchFamily="34" charset="-122"/>
              </a:rPr>
              <a:t>服务器程序，</a:t>
            </a:r>
            <a:r>
              <a:rPr lang="zh-CN" altLang="en-US" sz="2000" b="1" dirty="0">
                <a:latin typeface="微软雅黑 Light" panose="020B0502040204020203" pitchFamily="34" charset="-122"/>
                <a:ea typeface="微软雅黑 Light" panose="020B0502040204020203" pitchFamily="34" charset="-122"/>
              </a:rPr>
              <a:t>返回响应 </a:t>
            </a:r>
            <a:r>
              <a:rPr lang="en-US" altLang="zh-CN" sz="2000" b="1" dirty="0">
                <a:latin typeface="微软雅黑 Light" panose="020B0502040204020203" pitchFamily="34" charset="-122"/>
                <a:ea typeface="微软雅黑 Light" panose="020B0502040204020203" pitchFamily="34" charset="-122"/>
              </a:rPr>
              <a:t>(</a:t>
            </a:r>
            <a:r>
              <a:rPr lang="zh-CN" altLang="en-US" sz="2000" b="1" dirty="0">
                <a:latin typeface="微软雅黑 Light" panose="020B0502040204020203" pitchFamily="34" charset="-122"/>
                <a:ea typeface="微软雅黑 Light" panose="020B0502040204020203" pitchFamily="34" charset="-122"/>
              </a:rPr>
              <a:t>或执行某个动作</a:t>
            </a:r>
            <a:r>
              <a:rPr lang="en-US" altLang="zh-CN" sz="2000" b="1" dirty="0">
                <a:latin typeface="微软雅黑 Light" panose="020B0502040204020203" pitchFamily="34" charset="-122"/>
                <a:ea typeface="微软雅黑 Light" panose="020B0502040204020203" pitchFamily="34" charset="-122"/>
              </a:rPr>
              <a:t>)</a:t>
            </a:r>
            <a:r>
              <a:rPr lang="zh-CN" altLang="en-US" sz="2000" b="1" dirty="0">
                <a:latin typeface="微软雅黑 Light" panose="020B0502040204020203" pitchFamily="34" charset="-122"/>
                <a:ea typeface="微软雅黑 Light" panose="020B0502040204020203" pitchFamily="34" charset="-122"/>
              </a:rPr>
              <a:t>。</a:t>
            </a:r>
          </a:p>
          <a:p>
            <a:pPr marL="342900" indent="-342900" eaLnBrk="0" hangingPunct="0">
              <a:lnSpc>
                <a:spcPts val="33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在网管系统中，往往是一个（或少数几个）客户程序与很多的服务器程序进行交互。</a:t>
            </a:r>
          </a:p>
        </p:txBody>
      </p:sp>
    </p:spTree>
    <p:extLst>
      <p:ext uri="{BB962C8B-B14F-4D97-AF65-F5344CB8AC3E}">
        <p14:creationId xmlns:p14="http://schemas.microsoft.com/office/powerpoint/2010/main" val="15307604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3620"/>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334861" y="580409"/>
            <a:ext cx="249299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网络管理的基本原理</a:t>
            </a:r>
          </a:p>
        </p:txBody>
      </p:sp>
      <p:grpSp>
        <p:nvGrpSpPr>
          <p:cNvPr id="5" name="组合 4"/>
          <p:cNvGrpSpPr/>
          <p:nvPr/>
        </p:nvGrpSpPr>
        <p:grpSpPr>
          <a:xfrm>
            <a:off x="976547" y="1395148"/>
            <a:ext cx="7270808" cy="1206008"/>
            <a:chOff x="1154100" y="3809877"/>
            <a:chExt cx="7270808" cy="795008"/>
          </a:xfrm>
        </p:grpSpPr>
        <p:sp>
          <p:nvSpPr>
            <p:cNvPr id="6" name="对角圆角矩形 5"/>
            <p:cNvSpPr/>
            <p:nvPr/>
          </p:nvSpPr>
          <p:spPr>
            <a:xfrm>
              <a:off x="1154100" y="3809877"/>
              <a:ext cx="7270808" cy="795008"/>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7" name="矩形 6"/>
            <p:cNvSpPr/>
            <p:nvPr/>
          </p:nvSpPr>
          <p:spPr>
            <a:xfrm>
              <a:off x="1482570" y="3948251"/>
              <a:ext cx="6587231" cy="534272"/>
            </a:xfrm>
            <a:prstGeom prst="rect">
              <a:avLst/>
            </a:prstGeom>
          </p:spPr>
          <p:txBody>
            <a:bodyPr wrap="square">
              <a:spAutoFit/>
            </a:bodyPr>
            <a:lstStyle/>
            <a:p>
              <a:pPr eaLnBrk="0" hangingPunct="0">
                <a:lnSpc>
                  <a:spcPts val="2800"/>
                </a:lnSpc>
                <a:buClr>
                  <a:srgbClr val="0070C0"/>
                </a:buClr>
              </a:pPr>
              <a:r>
                <a:rPr lang="zh-CN" altLang="en-US" sz="2000" b="1" dirty="0">
                  <a:solidFill>
                    <a:schemeClr val="bg1"/>
                  </a:solidFill>
                  <a:latin typeface="微软雅黑 Light" panose="020B0502040204020203" pitchFamily="34" charset="-122"/>
                  <a:ea typeface="微软雅黑 Light" panose="020B0502040204020203" pitchFamily="34" charset="-122"/>
                </a:rPr>
                <a:t>若要管理某个对象，就必然会给该对象添加一些软件或硬件，但这种“添加”必须对原有对象的影响尽量小些。</a:t>
              </a:r>
            </a:p>
          </p:txBody>
        </p:sp>
      </p:grpSp>
    </p:spTree>
    <p:extLst>
      <p:ext uri="{BB962C8B-B14F-4D97-AF65-F5344CB8AC3E}">
        <p14:creationId xmlns:p14="http://schemas.microsoft.com/office/powerpoint/2010/main" val="27139649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0924"/>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406997" y="577713"/>
            <a:ext cx="234872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SNMP </a:t>
            </a:r>
            <a:r>
              <a:rPr lang="zh-CN" altLang="en-US" sz="2000" b="1" dirty="0">
                <a:solidFill>
                  <a:schemeClr val="bg1"/>
                </a:solidFill>
                <a:latin typeface="微软雅黑 Light" panose="020B0502040204020203" pitchFamily="34" charset="-122"/>
                <a:ea typeface="微软雅黑 Light" panose="020B0502040204020203" pitchFamily="34" charset="-122"/>
              </a:rPr>
              <a:t>的基本功能</a:t>
            </a:r>
          </a:p>
        </p:txBody>
      </p:sp>
      <p:sp>
        <p:nvSpPr>
          <p:cNvPr id="4" name="Rectangle 68"/>
          <p:cNvSpPr>
            <a:spLocks noChangeArrowheads="1"/>
          </p:cNvSpPr>
          <p:nvPr/>
        </p:nvSpPr>
        <p:spPr bwMode="auto">
          <a:xfrm>
            <a:off x="556963" y="972014"/>
            <a:ext cx="8048776"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最重要的指导思想：</a:t>
            </a:r>
            <a:r>
              <a:rPr lang="zh-CN" altLang="en-US" sz="2000" b="1" dirty="0">
                <a:solidFill>
                  <a:srgbClr val="C00000"/>
                </a:solidFill>
                <a:latin typeface="微软雅黑 Light" panose="020B0502040204020203" pitchFamily="34" charset="-122"/>
                <a:ea typeface="微软雅黑 Light" panose="020B0502040204020203" pitchFamily="34" charset="-122"/>
              </a:rPr>
              <a:t>尽可能简单。</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基本功能：</a:t>
            </a:r>
            <a:endParaRPr lang="en-US" altLang="zh-CN" sz="2000" b="1" dirty="0">
              <a:latin typeface="微软雅黑 Light" panose="020B0502040204020203" pitchFamily="34" charset="-122"/>
              <a:ea typeface="微软雅黑 Light" panose="020B0502040204020203" pitchFamily="34" charset="-122"/>
            </a:endParaRPr>
          </a:p>
          <a:p>
            <a:pPr marL="714375" lvl="1" indent="-357188" eaLnBrk="0" hangingPunct="0">
              <a:lnSpc>
                <a:spcPts val="3300"/>
              </a:lnSpc>
              <a:buClr>
                <a:srgbClr val="0066FF"/>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监视网络性能</a:t>
            </a:r>
            <a:endParaRPr lang="en-US" altLang="zh-CN" sz="2000" b="1" dirty="0">
              <a:latin typeface="微软雅黑 Light" panose="020B0502040204020203" pitchFamily="34" charset="-122"/>
              <a:ea typeface="微软雅黑 Light" panose="020B0502040204020203" pitchFamily="34" charset="-122"/>
            </a:endParaRPr>
          </a:p>
          <a:p>
            <a:pPr marL="714375" lvl="1" indent="-357188" eaLnBrk="0" hangingPunct="0">
              <a:lnSpc>
                <a:spcPts val="3300"/>
              </a:lnSpc>
              <a:buClr>
                <a:srgbClr val="0066FF"/>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检测分析网络差错</a:t>
            </a:r>
            <a:endParaRPr lang="en-US" altLang="zh-CN" sz="2000" b="1" dirty="0">
              <a:latin typeface="微软雅黑 Light" panose="020B0502040204020203" pitchFamily="34" charset="-122"/>
              <a:ea typeface="微软雅黑 Light" panose="020B0502040204020203" pitchFamily="34" charset="-122"/>
            </a:endParaRPr>
          </a:p>
          <a:p>
            <a:pPr marL="714375" lvl="1" indent="-357188" eaLnBrk="0" hangingPunct="0">
              <a:lnSpc>
                <a:spcPts val="3300"/>
              </a:lnSpc>
              <a:buClr>
                <a:srgbClr val="0066FF"/>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配置网络设备等。</a:t>
            </a:r>
          </a:p>
        </p:txBody>
      </p:sp>
    </p:spTree>
    <p:extLst>
      <p:ext uri="{BB962C8B-B14F-4D97-AF65-F5344CB8AC3E}">
        <p14:creationId xmlns:p14="http://schemas.microsoft.com/office/powerpoint/2010/main" val="18695633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0992"/>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894035" y="577781"/>
            <a:ext cx="337464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SNMP </a:t>
            </a:r>
            <a:r>
              <a:rPr lang="zh-CN" altLang="en-US" sz="2000" b="1" dirty="0">
                <a:solidFill>
                  <a:schemeClr val="bg1"/>
                </a:solidFill>
                <a:latin typeface="微软雅黑 Light" panose="020B0502040204020203" pitchFamily="34" charset="-122"/>
                <a:ea typeface="微软雅黑 Light" panose="020B0502040204020203" pitchFamily="34" charset="-122"/>
              </a:rPr>
              <a:t>的管理站和委托代理</a:t>
            </a:r>
          </a:p>
        </p:txBody>
      </p:sp>
      <p:sp>
        <p:nvSpPr>
          <p:cNvPr id="4" name="Rectangle 68"/>
          <p:cNvSpPr>
            <a:spLocks noChangeArrowheads="1"/>
          </p:cNvSpPr>
          <p:nvPr/>
        </p:nvSpPr>
        <p:spPr bwMode="auto">
          <a:xfrm>
            <a:off x="556963" y="972082"/>
            <a:ext cx="8258564" cy="163121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0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整个系统必须有一个</a:t>
            </a:r>
            <a:r>
              <a:rPr lang="zh-CN" altLang="en-US" sz="2000" b="1" dirty="0">
                <a:solidFill>
                  <a:srgbClr val="C00000"/>
                </a:solidFill>
                <a:latin typeface="微软雅黑 Light" panose="020B0502040204020203" pitchFamily="34" charset="-122"/>
                <a:ea typeface="微软雅黑 Light" panose="020B0502040204020203" pitchFamily="34" charset="-122"/>
              </a:rPr>
              <a:t>管理站。</a:t>
            </a:r>
          </a:p>
          <a:p>
            <a:pPr marL="342900" indent="-342900" eaLnBrk="0" hangingPunct="0">
              <a:lnSpc>
                <a:spcPts val="30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若网络元素使用的不是 </a:t>
            </a: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而是另一种网络管理协议，</a:t>
            </a: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协议就无法控制该网络元素。这时可使用</a:t>
            </a:r>
            <a:r>
              <a:rPr lang="zh-CN" altLang="en-US" sz="2000" b="1" dirty="0">
                <a:solidFill>
                  <a:srgbClr val="C00000"/>
                </a:solidFill>
                <a:latin typeface="微软雅黑 Light" panose="020B0502040204020203" pitchFamily="34" charset="-122"/>
                <a:ea typeface="微软雅黑 Light" panose="020B0502040204020203" pitchFamily="34" charset="-122"/>
              </a:rPr>
              <a:t>委托代理 </a:t>
            </a:r>
            <a:r>
              <a:rPr lang="en-US" altLang="zh-CN" sz="2000" b="1" dirty="0">
                <a:latin typeface="微软雅黑 Light" panose="020B0502040204020203" pitchFamily="34" charset="-122"/>
                <a:ea typeface="微软雅黑 Light" panose="020B0502040204020203" pitchFamily="34" charset="-122"/>
              </a:rPr>
              <a:t>(proxy agent)</a:t>
            </a:r>
            <a:r>
              <a:rPr lang="zh-CN" altLang="en-US" sz="2000" b="1" dirty="0">
                <a:latin typeface="微软雅黑 Light" panose="020B0502040204020203" pitchFamily="34" charset="-122"/>
                <a:ea typeface="微软雅黑 Light" panose="020B0502040204020203" pitchFamily="34" charset="-122"/>
              </a:rPr>
              <a:t>。</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0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委托代理能提供协议转换和过滤操作等功能，对被管对象进行管理。</a:t>
            </a:r>
          </a:p>
        </p:txBody>
      </p:sp>
      <p:sp>
        <p:nvSpPr>
          <p:cNvPr id="6" name="矩形 5"/>
          <p:cNvSpPr/>
          <p:nvPr/>
        </p:nvSpPr>
        <p:spPr>
          <a:xfrm>
            <a:off x="1918295" y="2879677"/>
            <a:ext cx="360794" cy="1054905"/>
          </a:xfrm>
          <a:prstGeom prst="rect">
            <a:avLst/>
          </a:prstGeom>
          <a:solidFill>
            <a:srgbClr val="0000FF"/>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Light" panose="020B0502040204020203" pitchFamily="34" charset="-122"/>
                <a:ea typeface="微软雅黑 Light" panose="020B0502040204020203" pitchFamily="34" charset="-122"/>
              </a:rPr>
              <a:t>管理站</a:t>
            </a:r>
          </a:p>
        </p:txBody>
      </p:sp>
      <p:sp>
        <p:nvSpPr>
          <p:cNvPr id="8" name="矩形 7"/>
          <p:cNvSpPr/>
          <p:nvPr/>
        </p:nvSpPr>
        <p:spPr>
          <a:xfrm>
            <a:off x="3606331" y="2879677"/>
            <a:ext cx="360794" cy="1054905"/>
          </a:xfrm>
          <a:prstGeom prst="rect">
            <a:avLst/>
          </a:prstGeom>
          <a:solidFill>
            <a:srgbClr val="CC00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Light" panose="020B0502040204020203" pitchFamily="34" charset="-122"/>
                <a:ea typeface="微软雅黑 Light" panose="020B0502040204020203" pitchFamily="34" charset="-122"/>
              </a:rPr>
              <a:t>委托代理</a:t>
            </a:r>
          </a:p>
        </p:txBody>
      </p:sp>
      <p:sp>
        <p:nvSpPr>
          <p:cNvPr id="9" name="椭圆 8"/>
          <p:cNvSpPr/>
          <p:nvPr/>
        </p:nvSpPr>
        <p:spPr>
          <a:xfrm>
            <a:off x="5519058" y="2714352"/>
            <a:ext cx="685800" cy="446315"/>
          </a:xfrm>
          <a:prstGeom prst="ellipse">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b="1" dirty="0">
                <a:solidFill>
                  <a:schemeClr val="tx1"/>
                </a:solidFill>
                <a:latin typeface="微软雅黑 Light" panose="020B0502040204020203" pitchFamily="34" charset="-122"/>
                <a:ea typeface="微软雅黑 Light" panose="020B0502040204020203" pitchFamily="34" charset="-122"/>
              </a:rPr>
              <a:t>被管设备</a:t>
            </a:r>
          </a:p>
        </p:txBody>
      </p:sp>
      <p:cxnSp>
        <p:nvCxnSpPr>
          <p:cNvPr id="11" name="直接箭头连接符 10"/>
          <p:cNvCxnSpPr>
            <a:endCxn id="9" idx="2"/>
          </p:cNvCxnSpPr>
          <p:nvPr/>
        </p:nvCxnSpPr>
        <p:spPr>
          <a:xfrm flipV="1">
            <a:off x="3967125" y="2937510"/>
            <a:ext cx="1551933" cy="223157"/>
          </a:xfrm>
          <a:prstGeom prst="straightConnector1">
            <a:avLst/>
          </a:prstGeom>
          <a:ln w="19050">
            <a:solidFill>
              <a:srgbClr val="0066F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3" name="椭圆 12"/>
          <p:cNvSpPr/>
          <p:nvPr/>
        </p:nvSpPr>
        <p:spPr>
          <a:xfrm>
            <a:off x="5519058" y="3572633"/>
            <a:ext cx="685800" cy="446315"/>
          </a:xfrm>
          <a:prstGeom prst="ellipse">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b="1" dirty="0">
                <a:solidFill>
                  <a:schemeClr val="tx1"/>
                </a:solidFill>
                <a:latin typeface="微软雅黑 Light" panose="020B0502040204020203" pitchFamily="34" charset="-122"/>
                <a:ea typeface="微软雅黑 Light" panose="020B0502040204020203" pitchFamily="34" charset="-122"/>
              </a:rPr>
              <a:t>被管设备</a:t>
            </a:r>
          </a:p>
        </p:txBody>
      </p:sp>
      <p:cxnSp>
        <p:nvCxnSpPr>
          <p:cNvPr id="14" name="直接箭头连接符 13"/>
          <p:cNvCxnSpPr>
            <a:endCxn id="13" idx="2"/>
          </p:cNvCxnSpPr>
          <p:nvPr/>
        </p:nvCxnSpPr>
        <p:spPr>
          <a:xfrm>
            <a:off x="3967125" y="3660283"/>
            <a:ext cx="1551933" cy="135508"/>
          </a:xfrm>
          <a:prstGeom prst="straightConnector1">
            <a:avLst/>
          </a:prstGeom>
          <a:ln w="19050">
            <a:solidFill>
              <a:srgbClr val="0066F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7" name="椭圆 16"/>
          <p:cNvSpPr/>
          <p:nvPr/>
        </p:nvSpPr>
        <p:spPr>
          <a:xfrm>
            <a:off x="6509658" y="3183972"/>
            <a:ext cx="685800" cy="446315"/>
          </a:xfrm>
          <a:prstGeom prst="ellipse">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b="1" dirty="0">
                <a:solidFill>
                  <a:schemeClr val="tx1"/>
                </a:solidFill>
                <a:latin typeface="微软雅黑 Light" panose="020B0502040204020203" pitchFamily="34" charset="-122"/>
                <a:ea typeface="微软雅黑 Light" panose="020B0502040204020203" pitchFamily="34" charset="-122"/>
              </a:rPr>
              <a:t>被管设备</a:t>
            </a:r>
          </a:p>
        </p:txBody>
      </p:sp>
      <p:cxnSp>
        <p:nvCxnSpPr>
          <p:cNvPr id="18" name="直接箭头连接符 17"/>
          <p:cNvCxnSpPr>
            <a:stCxn id="8" idx="3"/>
            <a:endCxn id="17" idx="2"/>
          </p:cNvCxnSpPr>
          <p:nvPr/>
        </p:nvCxnSpPr>
        <p:spPr>
          <a:xfrm>
            <a:off x="3967125" y="3407130"/>
            <a:ext cx="2542533" cy="0"/>
          </a:xfrm>
          <a:prstGeom prst="straightConnector1">
            <a:avLst/>
          </a:prstGeom>
          <a:ln w="19050">
            <a:solidFill>
              <a:srgbClr val="0066F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3" name="直接箭头连接符 22"/>
          <p:cNvCxnSpPr>
            <a:stCxn id="6" idx="3"/>
            <a:endCxn id="8" idx="1"/>
          </p:cNvCxnSpPr>
          <p:nvPr/>
        </p:nvCxnSpPr>
        <p:spPr>
          <a:xfrm>
            <a:off x="2279089" y="3407130"/>
            <a:ext cx="1327242" cy="0"/>
          </a:xfrm>
          <a:prstGeom prst="straightConnector1">
            <a:avLst/>
          </a:prstGeom>
          <a:ln w="19050">
            <a:solidFill>
              <a:srgbClr val="0066F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7" name="矩形 26"/>
          <p:cNvSpPr/>
          <p:nvPr/>
        </p:nvSpPr>
        <p:spPr>
          <a:xfrm>
            <a:off x="2530138" y="3132387"/>
            <a:ext cx="686406" cy="307777"/>
          </a:xfrm>
          <a:prstGeom prst="rect">
            <a:avLst/>
          </a:prstGeom>
        </p:spPr>
        <p:txBody>
          <a:bodyPr wrap="none">
            <a:spAutoFit/>
          </a:bodyPr>
          <a:lstStyle/>
          <a:p>
            <a:r>
              <a:rPr lang="en-US" altLang="zh-CN" sz="1400" b="1" dirty="0">
                <a:latin typeface="微软雅黑 Light" panose="020B0502040204020203" pitchFamily="34" charset="-122"/>
                <a:ea typeface="微软雅黑 Light" panose="020B0502040204020203" pitchFamily="34" charset="-122"/>
              </a:rPr>
              <a:t>SNMP</a:t>
            </a:r>
            <a:endParaRPr lang="zh-CN" altLang="en-US" sz="1400" dirty="0">
              <a:latin typeface="Montserrat" panose="00000500000000000000" pitchFamily="2" charset="0"/>
              <a:ea typeface="微软雅黑 Light" panose="020B0502040204020203" pitchFamily="34" charset="-122"/>
            </a:endParaRPr>
          </a:p>
        </p:txBody>
      </p:sp>
      <p:sp>
        <p:nvSpPr>
          <p:cNvPr id="28" name="矩形 27"/>
          <p:cNvSpPr/>
          <p:nvPr/>
        </p:nvSpPr>
        <p:spPr>
          <a:xfrm>
            <a:off x="4487976" y="3111367"/>
            <a:ext cx="902811" cy="307777"/>
          </a:xfrm>
          <a:prstGeom prst="rect">
            <a:avLst/>
          </a:prstGeom>
        </p:spPr>
        <p:txBody>
          <a:bodyPr wrap="none">
            <a:spAutoFit/>
          </a:bodyPr>
          <a:lstStyle/>
          <a:p>
            <a:r>
              <a:rPr lang="zh-CN" altLang="en-US" sz="1400" b="1" dirty="0">
                <a:latin typeface="微软雅黑 Light" panose="020B0502040204020203" pitchFamily="34" charset="-122"/>
                <a:ea typeface="微软雅黑 Light" panose="020B0502040204020203" pitchFamily="34" charset="-122"/>
              </a:rPr>
              <a:t>专用协议</a:t>
            </a:r>
          </a:p>
        </p:txBody>
      </p:sp>
    </p:spTree>
    <p:extLst>
      <p:ext uri="{BB962C8B-B14F-4D97-AF65-F5344CB8AC3E}">
        <p14:creationId xmlns:p14="http://schemas.microsoft.com/office/powerpoint/2010/main" val="13277793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2378"/>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323640" y="579167"/>
            <a:ext cx="251543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SNMP </a:t>
            </a:r>
            <a:r>
              <a:rPr lang="zh-CN" altLang="en-US" sz="2000" b="1" dirty="0">
                <a:solidFill>
                  <a:schemeClr val="bg1"/>
                </a:solidFill>
                <a:latin typeface="微软雅黑 Light" panose="020B0502040204020203" pitchFamily="34" charset="-122"/>
                <a:ea typeface="微软雅黑 Light" panose="020B0502040204020203" pitchFamily="34" charset="-122"/>
              </a:rPr>
              <a:t>网络管理组成</a:t>
            </a:r>
          </a:p>
        </p:txBody>
      </p:sp>
      <p:sp>
        <p:nvSpPr>
          <p:cNvPr id="4" name="Rectangle 68"/>
          <p:cNvSpPr>
            <a:spLocks noChangeArrowheads="1"/>
          </p:cNvSpPr>
          <p:nvPr/>
        </p:nvSpPr>
        <p:spPr bwMode="auto">
          <a:xfrm>
            <a:off x="483810" y="973468"/>
            <a:ext cx="8229537"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的网络管理由三个部分组成：</a:t>
            </a:r>
          </a:p>
          <a:p>
            <a:pPr marL="720725" indent="-360363" eaLnBrk="0" hangingPunct="0">
              <a:lnSpc>
                <a:spcPts val="3300"/>
              </a:lnSpc>
              <a:buClr>
                <a:srgbClr val="9900CC"/>
              </a:buClr>
              <a:buFont typeface="+mj-lt"/>
              <a:buAutoNum type="arabicPeriod"/>
            </a:pP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本身</a:t>
            </a:r>
          </a:p>
          <a:p>
            <a:pPr marL="720725" indent="-360363" eaLnBrk="0" hangingPunct="0">
              <a:lnSpc>
                <a:spcPts val="3300"/>
              </a:lnSpc>
              <a:buClr>
                <a:srgbClr val="9900CC"/>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管理信息结构 </a:t>
            </a:r>
            <a:r>
              <a:rPr lang="en-US" altLang="zh-CN" sz="2000" b="1" dirty="0">
                <a:latin typeface="微软雅黑 Light" panose="020B0502040204020203" pitchFamily="34" charset="-122"/>
                <a:ea typeface="微软雅黑 Light" panose="020B0502040204020203" pitchFamily="34" charset="-122"/>
              </a:rPr>
              <a:t>SMI (Structure of Management Information)</a:t>
            </a:r>
          </a:p>
          <a:p>
            <a:pPr marL="720725" indent="-360363" eaLnBrk="0" hangingPunct="0">
              <a:lnSpc>
                <a:spcPts val="3300"/>
              </a:lnSpc>
              <a:buClr>
                <a:srgbClr val="9900CC"/>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管理信息库 </a:t>
            </a:r>
            <a:r>
              <a:rPr lang="en-US" altLang="zh-CN" sz="2000" b="1" dirty="0">
                <a:latin typeface="微软雅黑 Light" panose="020B0502040204020203" pitchFamily="34" charset="-122"/>
                <a:ea typeface="微软雅黑 Light" panose="020B0502040204020203" pitchFamily="34" charset="-122"/>
              </a:rPr>
              <a:t>MIB (Management Information Base)</a:t>
            </a:r>
            <a:r>
              <a:rPr lang="zh-CN" altLang="en-US" sz="2000" b="1" dirty="0">
                <a:latin typeface="微软雅黑 Light" panose="020B0502040204020203" pitchFamily="34" charset="-122"/>
                <a:ea typeface="微软雅黑 Light" panose="020B0502040204020203" pitchFamily="34" charset="-122"/>
              </a:rPr>
              <a:t>。 </a:t>
            </a:r>
          </a:p>
        </p:txBody>
      </p:sp>
    </p:spTree>
    <p:extLst>
      <p:ext uri="{BB962C8B-B14F-4D97-AF65-F5344CB8AC3E}">
        <p14:creationId xmlns:p14="http://schemas.microsoft.com/office/powerpoint/2010/main" val="36775145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0935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022276" y="576148"/>
            <a:ext cx="31181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简单网络管理协议 </a:t>
            </a:r>
            <a:r>
              <a:rPr lang="en-US" altLang="zh-CN" sz="2000" b="1" dirty="0">
                <a:solidFill>
                  <a:schemeClr val="bg1"/>
                </a:solidFill>
                <a:latin typeface="微软雅黑 Light" panose="020B0502040204020203" pitchFamily="34" charset="-122"/>
                <a:ea typeface="微软雅黑 Light" panose="020B0502040204020203" pitchFamily="34" charset="-122"/>
              </a:rPr>
              <a:t>SNMP</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483810" y="970449"/>
            <a:ext cx="8121929" cy="136191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定义了管理站和代理之间所交换的</a:t>
            </a:r>
            <a:r>
              <a:rPr lang="zh-CN" altLang="en-US" sz="2000" b="1" dirty="0">
                <a:solidFill>
                  <a:srgbClr val="C00000"/>
                </a:solidFill>
                <a:latin typeface="微软雅黑 Light" panose="020B0502040204020203" pitchFamily="34" charset="-122"/>
                <a:ea typeface="微软雅黑 Light" panose="020B0502040204020203" pitchFamily="34" charset="-122"/>
              </a:rPr>
              <a:t>分组格式。</a:t>
            </a:r>
            <a:endParaRPr lang="en-US" altLang="zh-CN" sz="2000" b="1" dirty="0">
              <a:solidFill>
                <a:srgbClr val="C00000"/>
              </a:solidFill>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所交换的分组包含各代理中的对象（</a:t>
            </a:r>
            <a:r>
              <a:rPr lang="zh-CN" altLang="en-US" sz="2000" b="1" dirty="0">
                <a:solidFill>
                  <a:srgbClr val="C00000"/>
                </a:solidFill>
                <a:latin typeface="微软雅黑 Light" panose="020B0502040204020203" pitchFamily="34" charset="-122"/>
                <a:ea typeface="微软雅黑 Light" panose="020B0502040204020203" pitchFamily="34" charset="-122"/>
              </a:rPr>
              <a:t>变量</a:t>
            </a:r>
            <a:r>
              <a:rPr lang="zh-CN" altLang="en-US" sz="2000" b="1" dirty="0">
                <a:latin typeface="微软雅黑 Light" panose="020B0502040204020203" pitchFamily="34" charset="-122"/>
                <a:ea typeface="微软雅黑 Light" panose="020B0502040204020203" pitchFamily="34" charset="-122"/>
              </a:rPr>
              <a:t>）名及其状态（</a:t>
            </a:r>
            <a:r>
              <a:rPr lang="zh-CN" altLang="en-US" sz="2000" b="1" dirty="0">
                <a:solidFill>
                  <a:srgbClr val="C00000"/>
                </a:solidFill>
                <a:latin typeface="微软雅黑 Light" panose="020B0502040204020203" pitchFamily="34" charset="-122"/>
                <a:ea typeface="微软雅黑 Light" panose="020B0502040204020203" pitchFamily="34" charset="-122"/>
              </a:rPr>
              <a:t>值</a:t>
            </a:r>
            <a:r>
              <a:rPr lang="zh-CN" altLang="en-US" sz="2000" b="1" dirty="0">
                <a:latin typeface="微软雅黑 Light" panose="020B0502040204020203" pitchFamily="34" charset="-122"/>
                <a:ea typeface="微软雅黑 Light" panose="020B0502040204020203" pitchFamily="34" charset="-122"/>
              </a:rPr>
              <a:t>）。</a:t>
            </a:r>
          </a:p>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负责读取和改变这些数值。 </a:t>
            </a:r>
          </a:p>
        </p:txBody>
      </p:sp>
    </p:spTree>
    <p:extLst>
      <p:ext uri="{BB962C8B-B14F-4D97-AF65-F5344CB8AC3E}">
        <p14:creationId xmlns:p14="http://schemas.microsoft.com/office/powerpoint/2010/main" val="77691132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3532"/>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428637" y="580321"/>
            <a:ext cx="230543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管理信息结构 </a:t>
            </a:r>
            <a:r>
              <a:rPr lang="en-US" altLang="zh-CN" sz="2000" b="1" dirty="0">
                <a:solidFill>
                  <a:schemeClr val="bg1"/>
                </a:solidFill>
                <a:latin typeface="微软雅黑 Light" panose="020B0502040204020203" pitchFamily="34" charset="-122"/>
                <a:ea typeface="微软雅黑 Light" panose="020B0502040204020203" pitchFamily="34" charset="-122"/>
              </a:rPr>
              <a:t>SMI</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556963" y="974622"/>
            <a:ext cx="8048776" cy="263149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SMI </a:t>
            </a:r>
            <a:r>
              <a:rPr lang="zh-CN" altLang="en-US" sz="2000" b="1" dirty="0">
                <a:latin typeface="微软雅黑 Light" panose="020B0502040204020203" pitchFamily="34" charset="-122"/>
                <a:ea typeface="微软雅黑 Light" panose="020B0502040204020203" pitchFamily="34" charset="-122"/>
              </a:rPr>
              <a:t>定义了命名对象和定义对象类型（包括范围和长度）的</a:t>
            </a:r>
            <a:r>
              <a:rPr lang="zh-CN" altLang="en-US" sz="2000" b="1" dirty="0">
                <a:solidFill>
                  <a:srgbClr val="C00000"/>
                </a:solidFill>
                <a:latin typeface="微软雅黑 Light" panose="020B0502040204020203" pitchFamily="34" charset="-122"/>
                <a:ea typeface="微软雅黑 Light" panose="020B0502040204020203" pitchFamily="34" charset="-122"/>
              </a:rPr>
              <a:t>通用规则，</a:t>
            </a:r>
            <a:r>
              <a:rPr lang="zh-CN" altLang="en-US" sz="2000" b="1" dirty="0">
                <a:latin typeface="微软雅黑 Light" panose="020B0502040204020203" pitchFamily="34" charset="-122"/>
                <a:ea typeface="微软雅黑 Light" panose="020B0502040204020203" pitchFamily="34" charset="-122"/>
              </a:rPr>
              <a:t>以及把对象和对象的值进行</a:t>
            </a:r>
            <a:r>
              <a:rPr lang="zh-CN" altLang="en-US" sz="2000" b="1" dirty="0">
                <a:solidFill>
                  <a:srgbClr val="C00000"/>
                </a:solidFill>
                <a:latin typeface="微软雅黑 Light" panose="020B0502040204020203" pitchFamily="34" charset="-122"/>
                <a:ea typeface="微软雅黑 Light" panose="020B0502040204020203" pitchFamily="34" charset="-122"/>
              </a:rPr>
              <a:t>编码的规则，</a:t>
            </a:r>
            <a:r>
              <a:rPr lang="zh-CN" altLang="en-US" sz="2000" b="1" dirty="0">
                <a:latin typeface="微软雅黑 Light" panose="020B0502040204020203" pitchFamily="34" charset="-122"/>
                <a:ea typeface="微软雅黑 Light" panose="020B0502040204020203" pitchFamily="34" charset="-122"/>
              </a:rPr>
              <a:t>以确保网络管理数据的语法和语义的</a:t>
            </a:r>
            <a:r>
              <a:rPr lang="zh-CN" altLang="en-US" sz="2000" b="1" dirty="0">
                <a:solidFill>
                  <a:srgbClr val="C00000"/>
                </a:solidFill>
                <a:latin typeface="微软雅黑 Light" panose="020B0502040204020203" pitchFamily="34" charset="-122"/>
                <a:ea typeface="微软雅黑 Light" panose="020B0502040204020203" pitchFamily="34" charset="-122"/>
              </a:rPr>
              <a:t>无二义性。</a:t>
            </a:r>
            <a:endParaRPr lang="en-US" altLang="zh-CN" sz="2000" b="1" dirty="0">
              <a:solidFill>
                <a:srgbClr val="C00000"/>
              </a:solidFill>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但从 </a:t>
            </a:r>
            <a:r>
              <a:rPr lang="en-US" altLang="zh-CN" sz="2000" b="1" dirty="0">
                <a:latin typeface="微软雅黑 Light" panose="020B0502040204020203" pitchFamily="34" charset="-122"/>
                <a:ea typeface="微软雅黑 Light" panose="020B0502040204020203" pitchFamily="34" charset="-122"/>
              </a:rPr>
              <a:t>SMI </a:t>
            </a:r>
            <a:r>
              <a:rPr lang="zh-CN" altLang="en-US" sz="2000" b="1" dirty="0">
                <a:latin typeface="微软雅黑 Light" panose="020B0502040204020203" pitchFamily="34" charset="-122"/>
                <a:ea typeface="微软雅黑 Light" panose="020B0502040204020203" pitchFamily="34" charset="-122"/>
              </a:rPr>
              <a:t>的名称并不能看出它的功能。</a:t>
            </a:r>
          </a:p>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SMI </a:t>
            </a:r>
            <a:r>
              <a:rPr lang="zh-CN" altLang="en-US" sz="2000" b="1" dirty="0">
                <a:latin typeface="微软雅黑 Light" panose="020B0502040204020203" pitchFamily="34" charset="-122"/>
                <a:ea typeface="微软雅黑 Light" panose="020B0502040204020203" pitchFamily="34" charset="-122"/>
              </a:rPr>
              <a:t>并不定义一个实体应管理的对象数目，也不定义被管对象名以及对象名及其值之间的关联。 </a:t>
            </a:r>
          </a:p>
        </p:txBody>
      </p:sp>
    </p:spTree>
    <p:extLst>
      <p:ext uri="{BB962C8B-B14F-4D97-AF65-F5344CB8AC3E}">
        <p14:creationId xmlns:p14="http://schemas.microsoft.com/office/powerpoint/2010/main" val="217814332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5468"/>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588136" y="582257"/>
            <a:ext cx="198644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管理信息库 </a:t>
            </a:r>
            <a:r>
              <a:rPr lang="en-US" altLang="zh-CN" sz="2000" b="1" dirty="0">
                <a:solidFill>
                  <a:schemeClr val="bg1"/>
                </a:solidFill>
                <a:latin typeface="微软雅黑 Light" panose="020B0502040204020203" pitchFamily="34" charset="-122"/>
                <a:ea typeface="微软雅黑 Light" panose="020B0502040204020203" pitchFamily="34" charset="-122"/>
              </a:rPr>
              <a:t>MIB</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556962" y="977090"/>
            <a:ext cx="8048777" cy="8939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MIB </a:t>
            </a:r>
            <a:r>
              <a:rPr lang="zh-CN" altLang="en-US" sz="2000" b="1" dirty="0">
                <a:latin typeface="微软雅黑 Light" panose="020B0502040204020203" pitchFamily="34" charset="-122"/>
                <a:ea typeface="微软雅黑 Light" panose="020B0502040204020203" pitchFamily="34" charset="-122"/>
              </a:rPr>
              <a:t>在被管理的实体中创建了命名对象，并规定了其类型。</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管理程序使用 </a:t>
            </a:r>
            <a:r>
              <a:rPr lang="en-US" altLang="zh-CN" sz="2000" b="1" dirty="0">
                <a:latin typeface="微软雅黑 Light" panose="020B0502040204020203" pitchFamily="34" charset="-122"/>
                <a:ea typeface="微软雅黑 Light" panose="020B0502040204020203" pitchFamily="34" charset="-122"/>
              </a:rPr>
              <a:t>MIB </a:t>
            </a:r>
            <a:r>
              <a:rPr lang="zh-CN" altLang="en-US" sz="2000" b="1" dirty="0">
                <a:latin typeface="微软雅黑 Light" panose="020B0502040204020203" pitchFamily="34" charset="-122"/>
                <a:ea typeface="微软雅黑 Light" panose="020B0502040204020203" pitchFamily="34" charset="-122"/>
              </a:rPr>
              <a:t>中的信息，对网络进行管理。</a:t>
            </a:r>
          </a:p>
        </p:txBody>
      </p:sp>
      <p:grpSp>
        <p:nvGrpSpPr>
          <p:cNvPr id="49" name="组合 48"/>
          <p:cNvGrpSpPr/>
          <p:nvPr/>
        </p:nvGrpSpPr>
        <p:grpSpPr>
          <a:xfrm>
            <a:off x="1835104" y="2207578"/>
            <a:ext cx="5543157" cy="1767025"/>
            <a:chOff x="1835104" y="2394925"/>
            <a:chExt cx="5543157" cy="1767025"/>
          </a:xfrm>
        </p:grpSpPr>
        <p:sp>
          <p:nvSpPr>
            <p:cNvPr id="9" name="Rectangle 6"/>
            <p:cNvSpPr>
              <a:spLocks noChangeArrowheads="1"/>
            </p:cNvSpPr>
            <p:nvPr/>
          </p:nvSpPr>
          <p:spPr bwMode="auto">
            <a:xfrm>
              <a:off x="2887011" y="2394925"/>
              <a:ext cx="3171626" cy="503798"/>
            </a:xfrm>
            <a:prstGeom prst="rect">
              <a:avLst/>
            </a:prstGeom>
            <a:solidFill>
              <a:srgbClr val="0000FF"/>
            </a:solidFill>
            <a:ln w="9525" algn="ctr">
              <a:solidFill>
                <a:srgbClr val="3333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0" name="Oval 7"/>
            <p:cNvSpPr>
              <a:spLocks noChangeArrowheads="1"/>
            </p:cNvSpPr>
            <p:nvPr/>
          </p:nvSpPr>
          <p:spPr bwMode="auto">
            <a:xfrm>
              <a:off x="3677027" y="2491209"/>
              <a:ext cx="1677835" cy="316654"/>
            </a:xfrm>
            <a:prstGeom prst="ellipse">
              <a:avLst/>
            </a:prstGeom>
            <a:solidFill>
              <a:srgbClr val="CCFFFF"/>
            </a:solidFill>
            <a:ln w="9525" algn="ctr">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zh-CN" altLang="en-US" sz="1400" b="1" dirty="0">
                  <a:latin typeface="微软雅黑 Light" panose="020B0502040204020203" pitchFamily="34" charset="-122"/>
                  <a:ea typeface="微软雅黑 Light" panose="020B0502040204020203" pitchFamily="34" charset="-122"/>
                </a:rPr>
                <a:t>管理程序</a:t>
              </a:r>
            </a:p>
          </p:txBody>
        </p:sp>
        <p:grpSp>
          <p:nvGrpSpPr>
            <p:cNvPr id="11" name="Group 8"/>
            <p:cNvGrpSpPr>
              <a:grpSpLocks/>
            </p:cNvGrpSpPr>
            <p:nvPr/>
          </p:nvGrpSpPr>
          <p:grpSpPr bwMode="auto">
            <a:xfrm>
              <a:off x="2079045" y="3572038"/>
              <a:ext cx="1452049" cy="589912"/>
              <a:chOff x="818" y="2788"/>
              <a:chExt cx="1203" cy="870"/>
            </a:xfrm>
          </p:grpSpPr>
          <p:sp>
            <p:nvSpPr>
              <p:cNvPr id="29" name="Rectangle 9"/>
              <p:cNvSpPr>
                <a:spLocks noChangeArrowheads="1"/>
              </p:cNvSpPr>
              <p:nvPr/>
            </p:nvSpPr>
            <p:spPr bwMode="auto">
              <a:xfrm>
                <a:off x="818" y="2788"/>
                <a:ext cx="1202" cy="743"/>
              </a:xfrm>
              <a:prstGeom prst="rect">
                <a:avLst/>
              </a:prstGeom>
              <a:solidFill>
                <a:srgbClr val="66CC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 name="Rectangle 10"/>
              <p:cNvSpPr>
                <a:spLocks noChangeArrowheads="1"/>
              </p:cNvSpPr>
              <p:nvPr/>
            </p:nvSpPr>
            <p:spPr bwMode="auto">
              <a:xfrm>
                <a:off x="1110" y="2788"/>
                <a:ext cx="618" cy="284"/>
              </a:xfrm>
              <a:prstGeom prst="rect">
                <a:avLst/>
              </a:prstGeom>
              <a:solidFill>
                <a:srgbClr val="CC00CC"/>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zh-CN" altLang="en-US" sz="1200" b="1" dirty="0">
                    <a:solidFill>
                      <a:schemeClr val="bg1"/>
                    </a:solidFill>
                    <a:latin typeface="微软雅黑 Light" panose="020B0502040204020203" pitchFamily="34" charset="-122"/>
                    <a:ea typeface="微软雅黑 Light" panose="020B0502040204020203" pitchFamily="34" charset="-122"/>
                  </a:rPr>
                  <a:t>代理</a:t>
                </a:r>
              </a:p>
            </p:txBody>
          </p:sp>
          <p:sp>
            <p:nvSpPr>
              <p:cNvPr id="31" name="Rectangle 11"/>
              <p:cNvSpPr>
                <a:spLocks noChangeArrowheads="1"/>
              </p:cNvSpPr>
              <p:nvPr/>
            </p:nvSpPr>
            <p:spPr bwMode="auto">
              <a:xfrm>
                <a:off x="819" y="3198"/>
                <a:ext cx="1202" cy="460"/>
              </a:xfrm>
              <a:prstGeom prst="rect">
                <a:avLst/>
              </a:prstGeom>
              <a:solidFill>
                <a:srgbClr val="009900"/>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zh-CN" altLang="en-US" sz="1200" b="1" dirty="0">
                    <a:solidFill>
                      <a:schemeClr val="bg1"/>
                    </a:solidFill>
                    <a:latin typeface="微软雅黑 Light" panose="020B0502040204020203" pitchFamily="34" charset="-122"/>
                    <a:ea typeface="微软雅黑 Light" panose="020B0502040204020203" pitchFamily="34" charset="-122"/>
                  </a:rPr>
                  <a:t>管理信息库 </a:t>
                </a:r>
                <a:r>
                  <a:rPr lang="en-US" altLang="zh-CN" sz="1200" b="1" dirty="0">
                    <a:solidFill>
                      <a:schemeClr val="bg1"/>
                    </a:solidFill>
                    <a:latin typeface="微软雅黑 Light" panose="020B0502040204020203" pitchFamily="34" charset="-122"/>
                    <a:ea typeface="微软雅黑 Light" panose="020B0502040204020203" pitchFamily="34" charset="-122"/>
                  </a:rPr>
                  <a:t>(MIB)</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p:txBody>
          </p:sp>
        </p:grpSp>
        <p:sp>
          <p:nvSpPr>
            <p:cNvPr id="14" name="Line 20"/>
            <p:cNvSpPr>
              <a:spLocks noChangeShapeType="1"/>
            </p:cNvSpPr>
            <p:nvPr/>
          </p:nvSpPr>
          <p:spPr bwMode="auto">
            <a:xfrm>
              <a:off x="1835104" y="3351667"/>
              <a:ext cx="5543157" cy="0"/>
            </a:xfrm>
            <a:prstGeom prst="line">
              <a:avLst/>
            </a:prstGeom>
            <a:noFill/>
            <a:ln w="571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 name="Line 21"/>
            <p:cNvSpPr>
              <a:spLocks noChangeShapeType="1"/>
            </p:cNvSpPr>
            <p:nvPr/>
          </p:nvSpPr>
          <p:spPr bwMode="auto">
            <a:xfrm flipH="1">
              <a:off x="2887011" y="2768536"/>
              <a:ext cx="1034520" cy="803500"/>
            </a:xfrm>
            <a:prstGeom prst="line">
              <a:avLst/>
            </a:prstGeom>
            <a:noFill/>
            <a:ln w="38100">
              <a:solidFill>
                <a:srgbClr val="CC00CC"/>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 name="Line 22"/>
            <p:cNvSpPr>
              <a:spLocks noChangeShapeType="1"/>
            </p:cNvSpPr>
            <p:nvPr/>
          </p:nvSpPr>
          <p:spPr bwMode="auto">
            <a:xfrm>
              <a:off x="4574625" y="2790912"/>
              <a:ext cx="226030" cy="775022"/>
            </a:xfrm>
            <a:prstGeom prst="line">
              <a:avLst/>
            </a:prstGeom>
            <a:noFill/>
            <a:ln w="38100">
              <a:solidFill>
                <a:srgbClr val="CC00CC"/>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7" name="Line 23"/>
            <p:cNvSpPr>
              <a:spLocks noChangeShapeType="1"/>
            </p:cNvSpPr>
            <p:nvPr/>
          </p:nvSpPr>
          <p:spPr bwMode="auto">
            <a:xfrm>
              <a:off x="5146219" y="2751584"/>
              <a:ext cx="1387691" cy="808925"/>
            </a:xfrm>
            <a:prstGeom prst="line">
              <a:avLst/>
            </a:prstGeom>
            <a:noFill/>
            <a:ln w="38100">
              <a:solidFill>
                <a:srgbClr val="CC00CC"/>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 name="Text Box 24"/>
            <p:cNvSpPr txBox="1">
              <a:spLocks noChangeArrowheads="1"/>
            </p:cNvSpPr>
            <p:nvPr/>
          </p:nvSpPr>
          <p:spPr bwMode="auto">
            <a:xfrm>
              <a:off x="2755539" y="2973988"/>
              <a:ext cx="61427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lang="en-US" altLang="zh-CN" sz="1200" b="1" dirty="0">
                  <a:latin typeface="微软雅黑 Light" panose="020B0502040204020203" pitchFamily="34" charset="-122"/>
                  <a:ea typeface="微软雅黑 Light" panose="020B0502040204020203" pitchFamily="34" charset="-122"/>
                </a:rPr>
                <a:t>SNMP</a:t>
              </a:r>
              <a:endParaRPr lang="zh-CN" altLang="en-US" sz="1200" b="1" dirty="0">
                <a:latin typeface="微软雅黑 Light" panose="020B0502040204020203" pitchFamily="34" charset="-122"/>
                <a:ea typeface="微软雅黑 Light" panose="020B0502040204020203" pitchFamily="34" charset="-122"/>
              </a:endParaRPr>
            </a:p>
          </p:txBody>
        </p:sp>
        <p:sp>
          <p:nvSpPr>
            <p:cNvPr id="19" name="Line 25"/>
            <p:cNvSpPr>
              <a:spLocks noChangeShapeType="1"/>
            </p:cNvSpPr>
            <p:nvPr/>
          </p:nvSpPr>
          <p:spPr bwMode="auto">
            <a:xfrm>
              <a:off x="4511598" y="2898723"/>
              <a:ext cx="0" cy="458368"/>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0" name="Line 26"/>
            <p:cNvSpPr>
              <a:spLocks noChangeShapeType="1"/>
            </p:cNvSpPr>
            <p:nvPr/>
          </p:nvSpPr>
          <p:spPr bwMode="auto">
            <a:xfrm>
              <a:off x="2806596" y="3351667"/>
              <a:ext cx="0" cy="22647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Line 27"/>
            <p:cNvSpPr>
              <a:spLocks noChangeShapeType="1"/>
            </p:cNvSpPr>
            <p:nvPr/>
          </p:nvSpPr>
          <p:spPr bwMode="auto">
            <a:xfrm>
              <a:off x="4875636" y="3346920"/>
              <a:ext cx="0" cy="22647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2" name="Line 28"/>
            <p:cNvSpPr>
              <a:spLocks noChangeShapeType="1"/>
            </p:cNvSpPr>
            <p:nvPr/>
          </p:nvSpPr>
          <p:spPr bwMode="auto">
            <a:xfrm>
              <a:off x="6599111" y="3353023"/>
              <a:ext cx="0" cy="22647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nvGrpSpPr>
            <p:cNvPr id="41" name="Group 8"/>
            <p:cNvGrpSpPr>
              <a:grpSpLocks/>
            </p:cNvGrpSpPr>
            <p:nvPr/>
          </p:nvGrpSpPr>
          <p:grpSpPr bwMode="auto">
            <a:xfrm>
              <a:off x="4162395" y="3572038"/>
              <a:ext cx="1452049" cy="589912"/>
              <a:chOff x="818" y="2788"/>
              <a:chExt cx="1203" cy="870"/>
            </a:xfrm>
          </p:grpSpPr>
          <p:sp>
            <p:nvSpPr>
              <p:cNvPr id="42" name="Rectangle 9"/>
              <p:cNvSpPr>
                <a:spLocks noChangeArrowheads="1"/>
              </p:cNvSpPr>
              <p:nvPr/>
            </p:nvSpPr>
            <p:spPr bwMode="auto">
              <a:xfrm>
                <a:off x="818" y="2788"/>
                <a:ext cx="1202" cy="743"/>
              </a:xfrm>
              <a:prstGeom prst="rect">
                <a:avLst/>
              </a:prstGeom>
              <a:solidFill>
                <a:srgbClr val="66CC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3" name="Rectangle 10"/>
              <p:cNvSpPr>
                <a:spLocks noChangeArrowheads="1"/>
              </p:cNvSpPr>
              <p:nvPr/>
            </p:nvSpPr>
            <p:spPr bwMode="auto">
              <a:xfrm>
                <a:off x="1110" y="2788"/>
                <a:ext cx="618" cy="284"/>
              </a:xfrm>
              <a:prstGeom prst="rect">
                <a:avLst/>
              </a:prstGeom>
              <a:solidFill>
                <a:srgbClr val="CC00CC"/>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zh-CN" altLang="en-US" sz="1200" b="1" dirty="0">
                    <a:solidFill>
                      <a:schemeClr val="bg1"/>
                    </a:solidFill>
                    <a:latin typeface="微软雅黑 Light" panose="020B0502040204020203" pitchFamily="34" charset="-122"/>
                    <a:ea typeface="微软雅黑 Light" panose="020B0502040204020203" pitchFamily="34" charset="-122"/>
                  </a:rPr>
                  <a:t>代理</a:t>
                </a:r>
              </a:p>
            </p:txBody>
          </p:sp>
          <p:sp>
            <p:nvSpPr>
              <p:cNvPr id="44" name="Rectangle 11"/>
              <p:cNvSpPr>
                <a:spLocks noChangeArrowheads="1"/>
              </p:cNvSpPr>
              <p:nvPr/>
            </p:nvSpPr>
            <p:spPr bwMode="auto">
              <a:xfrm>
                <a:off x="819" y="3198"/>
                <a:ext cx="1202" cy="460"/>
              </a:xfrm>
              <a:prstGeom prst="rect">
                <a:avLst/>
              </a:prstGeom>
              <a:solidFill>
                <a:srgbClr val="009900"/>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zh-CN" altLang="en-US" sz="1200" b="1" dirty="0">
                    <a:solidFill>
                      <a:schemeClr val="bg1"/>
                    </a:solidFill>
                    <a:latin typeface="微软雅黑 Light" panose="020B0502040204020203" pitchFamily="34" charset="-122"/>
                    <a:ea typeface="微软雅黑 Light" panose="020B0502040204020203" pitchFamily="34" charset="-122"/>
                  </a:rPr>
                  <a:t>管理信息库 </a:t>
                </a:r>
                <a:r>
                  <a:rPr lang="en-US" altLang="zh-CN" sz="1200" b="1" dirty="0">
                    <a:solidFill>
                      <a:schemeClr val="bg1"/>
                    </a:solidFill>
                    <a:latin typeface="微软雅黑 Light" panose="020B0502040204020203" pitchFamily="34" charset="-122"/>
                    <a:ea typeface="微软雅黑 Light" panose="020B0502040204020203" pitchFamily="34" charset="-122"/>
                  </a:rPr>
                  <a:t>(MIB)</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p:txBody>
          </p:sp>
        </p:grpSp>
        <p:grpSp>
          <p:nvGrpSpPr>
            <p:cNvPr id="45" name="Group 8"/>
            <p:cNvGrpSpPr>
              <a:grpSpLocks/>
            </p:cNvGrpSpPr>
            <p:nvPr/>
          </p:nvGrpSpPr>
          <p:grpSpPr bwMode="auto">
            <a:xfrm>
              <a:off x="5873086" y="3572038"/>
              <a:ext cx="1452049" cy="589912"/>
              <a:chOff x="818" y="2788"/>
              <a:chExt cx="1203" cy="870"/>
            </a:xfrm>
          </p:grpSpPr>
          <p:sp>
            <p:nvSpPr>
              <p:cNvPr id="46" name="Rectangle 9"/>
              <p:cNvSpPr>
                <a:spLocks noChangeArrowheads="1"/>
              </p:cNvSpPr>
              <p:nvPr/>
            </p:nvSpPr>
            <p:spPr bwMode="auto">
              <a:xfrm>
                <a:off x="818" y="2788"/>
                <a:ext cx="1202" cy="743"/>
              </a:xfrm>
              <a:prstGeom prst="rect">
                <a:avLst/>
              </a:prstGeom>
              <a:solidFill>
                <a:srgbClr val="66CC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7" name="Rectangle 10"/>
              <p:cNvSpPr>
                <a:spLocks noChangeArrowheads="1"/>
              </p:cNvSpPr>
              <p:nvPr/>
            </p:nvSpPr>
            <p:spPr bwMode="auto">
              <a:xfrm>
                <a:off x="1110" y="2788"/>
                <a:ext cx="618" cy="284"/>
              </a:xfrm>
              <a:prstGeom prst="rect">
                <a:avLst/>
              </a:prstGeom>
              <a:solidFill>
                <a:srgbClr val="CC00CC"/>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zh-CN" altLang="en-US" sz="1200" b="1" dirty="0">
                    <a:solidFill>
                      <a:schemeClr val="bg1"/>
                    </a:solidFill>
                    <a:latin typeface="微软雅黑 Light" panose="020B0502040204020203" pitchFamily="34" charset="-122"/>
                    <a:ea typeface="微软雅黑 Light" panose="020B0502040204020203" pitchFamily="34" charset="-122"/>
                  </a:rPr>
                  <a:t>代理</a:t>
                </a:r>
              </a:p>
            </p:txBody>
          </p:sp>
          <p:sp>
            <p:nvSpPr>
              <p:cNvPr id="48" name="Rectangle 11"/>
              <p:cNvSpPr>
                <a:spLocks noChangeArrowheads="1"/>
              </p:cNvSpPr>
              <p:nvPr/>
            </p:nvSpPr>
            <p:spPr bwMode="auto">
              <a:xfrm>
                <a:off x="819" y="3198"/>
                <a:ext cx="1202" cy="460"/>
              </a:xfrm>
              <a:prstGeom prst="rect">
                <a:avLst/>
              </a:prstGeom>
              <a:solidFill>
                <a:srgbClr val="009900"/>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zh-CN" altLang="en-US" sz="1200" b="1" dirty="0">
                    <a:solidFill>
                      <a:schemeClr val="bg1"/>
                    </a:solidFill>
                    <a:latin typeface="微软雅黑 Light" panose="020B0502040204020203" pitchFamily="34" charset="-122"/>
                    <a:ea typeface="微软雅黑 Light" panose="020B0502040204020203" pitchFamily="34" charset="-122"/>
                  </a:rPr>
                  <a:t>管理信息库 </a:t>
                </a:r>
                <a:r>
                  <a:rPr lang="en-US" altLang="zh-CN" sz="1200" b="1" dirty="0">
                    <a:solidFill>
                      <a:schemeClr val="bg1"/>
                    </a:solidFill>
                    <a:latin typeface="微软雅黑 Light" panose="020B0502040204020203" pitchFamily="34" charset="-122"/>
                    <a:ea typeface="微软雅黑 Light" panose="020B0502040204020203" pitchFamily="34" charset="-122"/>
                  </a:rPr>
                  <a:t>(MIB)</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p:txBody>
          </p:sp>
        </p:grpSp>
      </p:grpSp>
    </p:spTree>
    <p:extLst>
      <p:ext uri="{BB962C8B-B14F-4D97-AF65-F5344CB8AC3E}">
        <p14:creationId xmlns:p14="http://schemas.microsoft.com/office/powerpoint/2010/main" val="15481775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16019"/>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6" name="Rectangle 6"/>
          <p:cNvSpPr>
            <a:spLocks noChangeArrowheads="1"/>
          </p:cNvSpPr>
          <p:nvPr/>
        </p:nvSpPr>
        <p:spPr bwMode="auto">
          <a:xfrm>
            <a:off x="2786098" y="573748"/>
            <a:ext cx="357181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6.7.2   </a:t>
            </a:r>
            <a:r>
              <a:rPr lang="zh-CN" altLang="en-US" sz="2400" b="1" dirty="0">
                <a:solidFill>
                  <a:schemeClr val="bg1"/>
                </a:solidFill>
                <a:latin typeface="微软雅黑 Light" panose="020B0502040204020203" pitchFamily="34" charset="-122"/>
                <a:ea typeface="微软雅黑 Light" panose="020B0502040204020203" pitchFamily="34" charset="-122"/>
              </a:rPr>
              <a:t>管理信息结构 </a:t>
            </a:r>
            <a:r>
              <a:rPr lang="en-US" altLang="zh-CN" sz="2400" b="1" dirty="0">
                <a:solidFill>
                  <a:schemeClr val="bg1"/>
                </a:solidFill>
                <a:latin typeface="微软雅黑 Light" panose="020B0502040204020203" pitchFamily="34" charset="-122"/>
                <a:ea typeface="微软雅黑 Light" panose="020B0502040204020203" pitchFamily="34" charset="-122"/>
              </a:rPr>
              <a:t>SMI</a:t>
            </a:r>
            <a:endParaRPr lang="zh-CN" altLang="en-US" sz="2400" b="1" dirty="0">
              <a:solidFill>
                <a:schemeClr val="bg1"/>
              </a:solidFill>
              <a:latin typeface="微软雅黑 Light" panose="020B0502040204020203" pitchFamily="34" charset="-122"/>
              <a:ea typeface="微软雅黑 Light" panose="020B0502040204020203" pitchFamily="34" charset="-122"/>
            </a:endParaRPr>
          </a:p>
        </p:txBody>
      </p:sp>
      <p:sp>
        <p:nvSpPr>
          <p:cNvPr id="7" name="Rectangle 68"/>
          <p:cNvSpPr>
            <a:spLocks noChangeArrowheads="1"/>
          </p:cNvSpPr>
          <p:nvPr/>
        </p:nvSpPr>
        <p:spPr bwMode="auto">
          <a:xfrm>
            <a:off x="556963" y="1001359"/>
            <a:ext cx="8048776"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ts val="3300"/>
              </a:lnSpc>
              <a:buClr>
                <a:srgbClr val="0070C0"/>
              </a:buClr>
            </a:pPr>
            <a:r>
              <a:rPr lang="en-US" altLang="zh-CN" sz="2000" b="1" dirty="0">
                <a:latin typeface="微软雅黑 Light" panose="020B0502040204020203" pitchFamily="34" charset="-122"/>
                <a:ea typeface="微软雅黑 Light" panose="020B0502040204020203" pitchFamily="34" charset="-122"/>
              </a:rPr>
              <a:t>SMI </a:t>
            </a:r>
            <a:r>
              <a:rPr lang="zh-CN" altLang="en-US" sz="2000" b="1" dirty="0">
                <a:latin typeface="微软雅黑 Light" panose="020B0502040204020203" pitchFamily="34" charset="-122"/>
                <a:ea typeface="微软雅黑 Light" panose="020B0502040204020203" pitchFamily="34" charset="-122"/>
              </a:rPr>
              <a:t>的功能：</a:t>
            </a:r>
          </a:p>
          <a:p>
            <a:pPr marL="355600" indent="-342900" eaLnBrk="0" hangingPunct="0">
              <a:lnSpc>
                <a:spcPts val="3300"/>
              </a:lnSpc>
              <a:buClr>
                <a:srgbClr val="7030A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被管对象应怎样命名；</a:t>
            </a:r>
          </a:p>
          <a:p>
            <a:pPr marL="355600" indent="-342900" eaLnBrk="0" hangingPunct="0">
              <a:lnSpc>
                <a:spcPts val="3300"/>
              </a:lnSpc>
              <a:buClr>
                <a:srgbClr val="7030A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用来存储被管对象的数据类型有哪些种；</a:t>
            </a:r>
          </a:p>
          <a:p>
            <a:pPr marL="355600" indent="-342900" eaLnBrk="0" hangingPunct="0">
              <a:lnSpc>
                <a:spcPts val="3300"/>
              </a:lnSpc>
              <a:buClr>
                <a:srgbClr val="7030A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在网络上传送的管理数据应如何编码。 </a:t>
            </a:r>
          </a:p>
        </p:txBody>
      </p:sp>
    </p:spTree>
    <p:extLst>
      <p:ext uri="{BB962C8B-B14F-4D97-AF65-F5344CB8AC3E}">
        <p14:creationId xmlns:p14="http://schemas.microsoft.com/office/powerpoint/2010/main" val="2701905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146230" y="582898"/>
            <a:ext cx="487024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SMI </a:t>
            </a:r>
            <a:r>
              <a:rPr lang="zh-CN" altLang="en-US" sz="2000" b="1" dirty="0">
                <a:solidFill>
                  <a:schemeClr val="bg1"/>
                </a:solidFill>
                <a:latin typeface="微软雅黑 Light" panose="020B0502040204020203" pitchFamily="34" charset="-122"/>
                <a:ea typeface="微软雅黑 Light" panose="020B0502040204020203" pitchFamily="34" charset="-122"/>
              </a:rPr>
              <a:t>规定：所有被管对象必须在</a:t>
            </a:r>
            <a:r>
              <a:rPr lang="zh-CN" altLang="en-US" sz="2000" b="1" dirty="0">
                <a:solidFill>
                  <a:srgbClr val="FFFF00"/>
                </a:solidFill>
                <a:latin typeface="微软雅黑 Light" panose="020B0502040204020203" pitchFamily="34" charset="-122"/>
                <a:ea typeface="微软雅黑 Light" panose="020B0502040204020203" pitchFamily="34" charset="-122"/>
              </a:rPr>
              <a:t>命名树</a:t>
            </a:r>
            <a:r>
              <a:rPr lang="zh-CN" altLang="en-US" sz="2000" b="1" dirty="0">
                <a:solidFill>
                  <a:schemeClr val="bg1"/>
                </a:solidFill>
                <a:latin typeface="微软雅黑 Light" panose="020B0502040204020203" pitchFamily="34" charset="-122"/>
                <a:ea typeface="微软雅黑 Light" panose="020B0502040204020203" pitchFamily="34" charset="-122"/>
              </a:rPr>
              <a:t>上</a:t>
            </a:r>
          </a:p>
        </p:txBody>
      </p:sp>
      <p:grpSp>
        <p:nvGrpSpPr>
          <p:cNvPr id="86" name="组合 85"/>
          <p:cNvGrpSpPr/>
          <p:nvPr/>
        </p:nvGrpSpPr>
        <p:grpSpPr>
          <a:xfrm>
            <a:off x="1671762" y="1021028"/>
            <a:ext cx="5826927" cy="3317604"/>
            <a:chOff x="56456" y="1036082"/>
            <a:chExt cx="10454814" cy="5952524"/>
          </a:xfrm>
        </p:grpSpPr>
        <p:sp>
          <p:nvSpPr>
            <p:cNvPr id="5" name="Text Box 105"/>
            <p:cNvSpPr txBox="1">
              <a:spLocks noChangeArrowheads="1"/>
            </p:cNvSpPr>
            <p:nvPr/>
          </p:nvSpPr>
          <p:spPr bwMode="auto">
            <a:xfrm>
              <a:off x="4141616" y="1036082"/>
              <a:ext cx="607442" cy="496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zh-CN" altLang="en-US" sz="1200" b="1" dirty="0">
                  <a:solidFill>
                    <a:schemeClr val="tx1"/>
                  </a:solidFill>
                  <a:latin typeface="微软雅黑 Light" panose="020B0502040204020203" pitchFamily="34" charset="-122"/>
                  <a:ea typeface="微软雅黑 Light" panose="020B0502040204020203" pitchFamily="34" charset="-122"/>
                </a:rPr>
                <a:t>根</a:t>
              </a:r>
            </a:p>
          </p:txBody>
        </p:sp>
        <p:sp>
          <p:nvSpPr>
            <p:cNvPr id="6" name="Text Box 106"/>
            <p:cNvSpPr txBox="1">
              <a:spLocks noChangeArrowheads="1"/>
            </p:cNvSpPr>
            <p:nvPr/>
          </p:nvSpPr>
          <p:spPr bwMode="auto">
            <a:xfrm>
              <a:off x="4157825" y="1548496"/>
              <a:ext cx="9180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a:solidFill>
                    <a:schemeClr val="tx1"/>
                  </a:solidFill>
                  <a:latin typeface="微软雅黑 Light" panose="020B0502040204020203" pitchFamily="34" charset="-122"/>
                  <a:ea typeface="微软雅黑 Light" panose="020B0502040204020203" pitchFamily="34" charset="-122"/>
                </a:rPr>
                <a:t> (1)</a:t>
              </a:r>
            </a:p>
          </p:txBody>
        </p:sp>
        <p:sp>
          <p:nvSpPr>
            <p:cNvPr id="7" name="Text Box 107"/>
            <p:cNvSpPr txBox="1">
              <a:spLocks noChangeArrowheads="1"/>
            </p:cNvSpPr>
            <p:nvPr/>
          </p:nvSpPr>
          <p:spPr bwMode="auto">
            <a:xfrm>
              <a:off x="3019659" y="1601767"/>
              <a:ext cx="109926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(0)</a:t>
              </a:r>
            </a:p>
          </p:txBody>
        </p:sp>
        <p:sp>
          <p:nvSpPr>
            <p:cNvPr id="8" name="Text Box 108"/>
            <p:cNvSpPr txBox="1">
              <a:spLocks noChangeArrowheads="1"/>
            </p:cNvSpPr>
            <p:nvPr/>
          </p:nvSpPr>
          <p:spPr bwMode="auto">
            <a:xfrm>
              <a:off x="5203793" y="1601767"/>
              <a:ext cx="1481791"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9" name="Text Box 109"/>
            <p:cNvSpPr txBox="1">
              <a:spLocks noChangeArrowheads="1"/>
            </p:cNvSpPr>
            <p:nvPr/>
          </p:nvSpPr>
          <p:spPr bwMode="auto">
            <a:xfrm>
              <a:off x="3994445" y="2416859"/>
              <a:ext cx="108488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dod</a:t>
              </a:r>
              <a:r>
                <a:rPr kumimoji="1" lang="en-US" altLang="zh-CN" sz="1000" b="1" dirty="0">
                  <a:solidFill>
                    <a:schemeClr val="tx1"/>
                  </a:solidFill>
                  <a:latin typeface="微软雅黑 Light" panose="020B0502040204020203" pitchFamily="34" charset="-122"/>
                  <a:ea typeface="微软雅黑 Light" panose="020B0502040204020203" pitchFamily="34" charset="-122"/>
                </a:rPr>
                <a:t> (6)</a:t>
              </a:r>
            </a:p>
          </p:txBody>
        </p:sp>
        <p:sp>
          <p:nvSpPr>
            <p:cNvPr id="10" name="Text Box 110"/>
            <p:cNvSpPr txBox="1">
              <a:spLocks noChangeArrowheads="1"/>
            </p:cNvSpPr>
            <p:nvPr/>
          </p:nvSpPr>
          <p:spPr bwMode="auto">
            <a:xfrm>
              <a:off x="3745074" y="2859771"/>
              <a:ext cx="503383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internet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 (</a:t>
              </a:r>
              <a:r>
                <a:rPr kumimoji="1" lang="en-US" altLang="zh-CN" sz="1000" b="1" dirty="0" err="1">
                  <a:solidFill>
                    <a:schemeClr val="tx1"/>
                  </a:solidFill>
                  <a:latin typeface="微软雅黑 Light" panose="020B0502040204020203" pitchFamily="34" charset="-122"/>
                  <a:ea typeface="微软雅黑 Light" panose="020B0502040204020203" pitchFamily="34" charset="-122"/>
                  <a:sym typeface="Symbol" pitchFamily="18" charset="2"/>
                </a:rPr>
                <a:t>iso.org.dod.internet</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a:t>
              </a:r>
              <a:endParaRPr kumimoji="1" lang="en-US" altLang="zh-CN" sz="1000" b="1" dirty="0">
                <a:solidFill>
                  <a:schemeClr val="tx1"/>
                </a:solidFill>
                <a:latin typeface="微软雅黑 Light" panose="020B0502040204020203" pitchFamily="34" charset="-122"/>
                <a:ea typeface="微软雅黑 Light" panose="020B0502040204020203" pitchFamily="34" charset="-122"/>
              </a:endParaRPr>
            </a:p>
          </p:txBody>
        </p:sp>
        <p:sp>
          <p:nvSpPr>
            <p:cNvPr id="11" name="Text Box 111"/>
            <p:cNvSpPr txBox="1">
              <a:spLocks noChangeArrowheads="1"/>
            </p:cNvSpPr>
            <p:nvPr/>
          </p:nvSpPr>
          <p:spPr bwMode="auto">
            <a:xfrm>
              <a:off x="3963489" y="3304272"/>
              <a:ext cx="12890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mgmt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12" name="Text Box 112"/>
            <p:cNvSpPr txBox="1">
              <a:spLocks noChangeArrowheads="1"/>
            </p:cNvSpPr>
            <p:nvPr/>
          </p:nvSpPr>
          <p:spPr bwMode="auto">
            <a:xfrm>
              <a:off x="3978966" y="3828145"/>
              <a:ext cx="653230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mib-2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 (iso.org.dod.internet.mgmt.mib-2)</a:t>
              </a:r>
            </a:p>
          </p:txBody>
        </p:sp>
        <p:sp>
          <p:nvSpPr>
            <p:cNvPr id="13" name="Line 113"/>
            <p:cNvSpPr>
              <a:spLocks noChangeShapeType="1"/>
            </p:cNvSpPr>
            <p:nvPr/>
          </p:nvSpPr>
          <p:spPr bwMode="auto">
            <a:xfrm>
              <a:off x="4443645" y="1465242"/>
              <a:ext cx="0" cy="198438"/>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4" name="Line 114"/>
            <p:cNvSpPr>
              <a:spLocks noChangeShapeType="1"/>
            </p:cNvSpPr>
            <p:nvPr/>
          </p:nvSpPr>
          <p:spPr bwMode="auto">
            <a:xfrm flipH="1">
              <a:off x="4443646" y="2741593"/>
              <a:ext cx="1719" cy="2587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5" name="Line 115"/>
            <p:cNvSpPr>
              <a:spLocks noChangeShapeType="1"/>
            </p:cNvSpPr>
            <p:nvPr/>
          </p:nvSpPr>
          <p:spPr bwMode="auto">
            <a:xfrm flipH="1">
              <a:off x="4443645" y="3209906"/>
              <a:ext cx="0" cy="25558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6" name="Line 116"/>
            <p:cNvSpPr>
              <a:spLocks noChangeShapeType="1"/>
            </p:cNvSpPr>
            <p:nvPr/>
          </p:nvSpPr>
          <p:spPr bwMode="auto">
            <a:xfrm flipV="1">
              <a:off x="3968983" y="3209906"/>
              <a:ext cx="467783" cy="2174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7" name="Line 117"/>
            <p:cNvSpPr>
              <a:spLocks noChangeShapeType="1"/>
            </p:cNvSpPr>
            <p:nvPr/>
          </p:nvSpPr>
          <p:spPr bwMode="auto">
            <a:xfrm>
              <a:off x="4445364" y="3213080"/>
              <a:ext cx="440267" cy="1508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8" name="Text Box 118"/>
            <p:cNvSpPr txBox="1">
              <a:spLocks noChangeArrowheads="1"/>
            </p:cNvSpPr>
            <p:nvPr/>
          </p:nvSpPr>
          <p:spPr bwMode="auto">
            <a:xfrm>
              <a:off x="4030561" y="1951723"/>
              <a:ext cx="1030236"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org (3)</a:t>
              </a:r>
            </a:p>
          </p:txBody>
        </p:sp>
        <p:sp>
          <p:nvSpPr>
            <p:cNvPr id="19" name="Line 119"/>
            <p:cNvSpPr>
              <a:spLocks noChangeShapeType="1"/>
            </p:cNvSpPr>
            <p:nvPr/>
          </p:nvSpPr>
          <p:spPr bwMode="auto">
            <a:xfrm>
              <a:off x="4452243" y="1473181"/>
              <a:ext cx="1073150" cy="1793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0" name="Line 120"/>
            <p:cNvSpPr>
              <a:spLocks noChangeShapeType="1"/>
            </p:cNvSpPr>
            <p:nvPr/>
          </p:nvSpPr>
          <p:spPr bwMode="auto">
            <a:xfrm flipV="1">
              <a:off x="3430688" y="1470005"/>
              <a:ext cx="1009518" cy="2143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1" name="Line 121"/>
            <p:cNvSpPr>
              <a:spLocks noChangeShapeType="1"/>
            </p:cNvSpPr>
            <p:nvPr/>
          </p:nvSpPr>
          <p:spPr bwMode="auto">
            <a:xfrm flipH="1">
              <a:off x="4067010" y="1873231"/>
              <a:ext cx="359437" cy="111125"/>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2" name="Line 122"/>
            <p:cNvSpPr>
              <a:spLocks noChangeShapeType="1"/>
            </p:cNvSpPr>
            <p:nvPr/>
          </p:nvSpPr>
          <p:spPr bwMode="auto">
            <a:xfrm>
              <a:off x="4440206" y="1870055"/>
              <a:ext cx="407590" cy="1143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3" name="Line 123"/>
            <p:cNvSpPr>
              <a:spLocks noChangeShapeType="1"/>
            </p:cNvSpPr>
            <p:nvPr/>
          </p:nvSpPr>
          <p:spPr bwMode="auto">
            <a:xfrm flipH="1">
              <a:off x="4443645" y="1868467"/>
              <a:ext cx="0" cy="17780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4" name="Line 124"/>
            <p:cNvSpPr>
              <a:spLocks noChangeShapeType="1"/>
            </p:cNvSpPr>
            <p:nvPr/>
          </p:nvSpPr>
          <p:spPr bwMode="auto">
            <a:xfrm>
              <a:off x="4443645" y="2355831"/>
              <a:ext cx="0" cy="18573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5" name="Line 125"/>
            <p:cNvSpPr>
              <a:spLocks noChangeShapeType="1"/>
            </p:cNvSpPr>
            <p:nvPr/>
          </p:nvSpPr>
          <p:spPr bwMode="auto">
            <a:xfrm>
              <a:off x="4452244" y="2359005"/>
              <a:ext cx="390393" cy="14446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6" name="Line 126"/>
            <p:cNvSpPr>
              <a:spLocks noChangeShapeType="1"/>
            </p:cNvSpPr>
            <p:nvPr/>
          </p:nvSpPr>
          <p:spPr bwMode="auto">
            <a:xfrm flipH="1">
              <a:off x="3981020" y="2360593"/>
              <a:ext cx="454025" cy="1444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7" name="AutoShape 127"/>
            <p:cNvSpPr>
              <a:spLocks noChangeArrowheads="1"/>
            </p:cNvSpPr>
            <p:nvPr/>
          </p:nvSpPr>
          <p:spPr bwMode="auto">
            <a:xfrm>
              <a:off x="5313180" y="2997849"/>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8" name="AutoShape 128"/>
            <p:cNvSpPr>
              <a:spLocks noChangeArrowheads="1"/>
            </p:cNvSpPr>
            <p:nvPr/>
          </p:nvSpPr>
          <p:spPr bwMode="auto">
            <a:xfrm>
              <a:off x="5390570" y="3966224"/>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9" name="Line 129"/>
            <p:cNvSpPr>
              <a:spLocks noChangeShapeType="1"/>
            </p:cNvSpPr>
            <p:nvPr/>
          </p:nvSpPr>
          <p:spPr bwMode="auto">
            <a:xfrm>
              <a:off x="4448804" y="3659168"/>
              <a:ext cx="1720" cy="276225"/>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30" name="Rectangle 130"/>
            <p:cNvSpPr>
              <a:spLocks noChangeArrowheads="1"/>
            </p:cNvSpPr>
            <p:nvPr/>
          </p:nvSpPr>
          <p:spPr bwMode="auto">
            <a:xfrm>
              <a:off x="56456" y="4294167"/>
              <a:ext cx="9245600" cy="1703388"/>
            </a:xfrm>
            <a:prstGeom prst="rect">
              <a:avLst/>
            </a:prstGeom>
            <a:solidFill>
              <a:srgbClr val="00FFCC"/>
            </a:solidFill>
            <a:ln>
              <a:noFill/>
            </a:ln>
            <a:effectLst/>
            <a:extLst>
              <a:ext uri="{91240B29-F687-4F45-9708-019B960494DF}">
                <a14:hiddenLine xmlns:a14="http://schemas.microsoft.com/office/drawing/2010/main" w="1905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31" name="Text Box 131"/>
            <p:cNvSpPr txBox="1">
              <a:spLocks noChangeArrowheads="1"/>
            </p:cNvSpPr>
            <p:nvPr/>
          </p:nvSpPr>
          <p:spPr bwMode="auto">
            <a:xfrm>
              <a:off x="72398" y="5114694"/>
              <a:ext cx="1271832"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system(1)</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2" name="Text Box 132"/>
            <p:cNvSpPr txBox="1">
              <a:spLocks noChangeArrowheads="1"/>
            </p:cNvSpPr>
            <p:nvPr/>
          </p:nvSpPr>
          <p:spPr bwMode="auto">
            <a:xfrm>
              <a:off x="1290012" y="5095642"/>
              <a:ext cx="149617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interface(2)</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3" name="Text Box 133"/>
            <p:cNvSpPr txBox="1">
              <a:spLocks noChangeArrowheads="1"/>
            </p:cNvSpPr>
            <p:nvPr/>
          </p:nvSpPr>
          <p:spPr bwMode="auto">
            <a:xfrm>
              <a:off x="2707119" y="5095642"/>
              <a:ext cx="7972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at(3)</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4" name="Text Box 134"/>
            <p:cNvSpPr txBox="1">
              <a:spLocks noChangeArrowheads="1"/>
            </p:cNvSpPr>
            <p:nvPr/>
          </p:nvSpPr>
          <p:spPr bwMode="auto">
            <a:xfrm>
              <a:off x="3518860" y="5095642"/>
              <a:ext cx="79151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a:t>
              </a:r>
              <a:r>
                <a:rPr kumimoji="1" lang="en-US" altLang="zh-CN" sz="1000" b="1" dirty="0">
                  <a:solidFill>
                    <a:schemeClr val="tx1"/>
                  </a:solidFill>
                  <a:latin typeface="微软雅黑 Light" panose="020B0502040204020203" pitchFamily="34" charset="-122"/>
                  <a:ea typeface="微软雅黑 Light" panose="020B0502040204020203" pitchFamily="34" charset="-122"/>
                </a:rPr>
                <a:t>(4)</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5" name="Text Box 135"/>
            <p:cNvSpPr txBox="1">
              <a:spLocks noChangeArrowheads="1"/>
            </p:cNvSpPr>
            <p:nvPr/>
          </p:nvSpPr>
          <p:spPr bwMode="auto">
            <a:xfrm>
              <a:off x="4289327" y="5095642"/>
              <a:ext cx="110214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icmp</a:t>
              </a:r>
              <a:r>
                <a:rPr kumimoji="1" lang="en-US" altLang="zh-CN" sz="1000" b="1" dirty="0">
                  <a:solidFill>
                    <a:schemeClr val="tx1"/>
                  </a:solidFill>
                  <a:latin typeface="微软雅黑 Light" panose="020B0502040204020203" pitchFamily="34" charset="-122"/>
                  <a:ea typeface="微软雅黑 Light" panose="020B0502040204020203" pitchFamily="34" charset="-122"/>
                </a:rPr>
                <a:t>(5)</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6" name="Text Box 136"/>
            <p:cNvSpPr txBox="1">
              <a:spLocks noChangeArrowheads="1"/>
            </p:cNvSpPr>
            <p:nvPr/>
          </p:nvSpPr>
          <p:spPr bwMode="auto">
            <a:xfrm>
              <a:off x="5389994" y="5095642"/>
              <a:ext cx="92094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tcp</a:t>
              </a:r>
              <a:r>
                <a:rPr kumimoji="1" lang="en-US" altLang="zh-CN" sz="1000" b="1" dirty="0">
                  <a:solidFill>
                    <a:schemeClr val="tx1"/>
                  </a:solidFill>
                  <a:latin typeface="微软雅黑 Light" panose="020B0502040204020203" pitchFamily="34" charset="-122"/>
                  <a:ea typeface="微软雅黑 Light" panose="020B0502040204020203" pitchFamily="34" charset="-122"/>
                </a:rPr>
                <a:t>(6)</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7" name="Text Box 137"/>
            <p:cNvSpPr txBox="1">
              <a:spLocks noChangeArrowheads="1"/>
            </p:cNvSpPr>
            <p:nvPr/>
          </p:nvSpPr>
          <p:spPr bwMode="auto">
            <a:xfrm>
              <a:off x="62292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udp</a:t>
              </a:r>
              <a:r>
                <a:rPr kumimoji="1" lang="en-US" altLang="zh-CN" sz="1000" b="1" dirty="0">
                  <a:solidFill>
                    <a:schemeClr val="tx1"/>
                  </a:solidFill>
                  <a:latin typeface="微软雅黑 Light" panose="020B0502040204020203" pitchFamily="34" charset="-122"/>
                  <a:ea typeface="微软雅黑 Light" panose="020B0502040204020203" pitchFamily="34" charset="-122"/>
                </a:rPr>
                <a:t>(7)</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8" name="Text Box 138"/>
            <p:cNvSpPr txBox="1">
              <a:spLocks noChangeArrowheads="1"/>
            </p:cNvSpPr>
            <p:nvPr/>
          </p:nvSpPr>
          <p:spPr bwMode="auto">
            <a:xfrm>
              <a:off x="72198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egp</a:t>
              </a:r>
              <a:r>
                <a:rPr kumimoji="1" lang="en-US" altLang="zh-CN" sz="1000" b="1" dirty="0">
                  <a:solidFill>
                    <a:schemeClr val="tx1"/>
                  </a:solidFill>
                  <a:latin typeface="微软雅黑 Light" panose="020B0502040204020203" pitchFamily="34" charset="-122"/>
                  <a:ea typeface="微软雅黑 Light" panose="020B0502040204020203" pitchFamily="34" charset="-122"/>
                </a:rPr>
                <a:t>(8)</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9" name="Line 139"/>
            <p:cNvSpPr>
              <a:spLocks noChangeShapeType="1"/>
            </p:cNvSpPr>
            <p:nvPr/>
          </p:nvSpPr>
          <p:spPr bwMode="auto">
            <a:xfrm flipH="1">
              <a:off x="3936306" y="4452917"/>
              <a:ext cx="50390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0" name="Line 140"/>
            <p:cNvSpPr>
              <a:spLocks noChangeShapeType="1"/>
            </p:cNvSpPr>
            <p:nvPr/>
          </p:nvSpPr>
          <p:spPr bwMode="auto">
            <a:xfrm flipV="1">
              <a:off x="716856" y="4452917"/>
              <a:ext cx="37233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1" name="Line 141"/>
            <p:cNvSpPr>
              <a:spLocks noChangeShapeType="1"/>
            </p:cNvSpPr>
            <p:nvPr/>
          </p:nvSpPr>
          <p:spPr bwMode="auto">
            <a:xfrm flipV="1">
              <a:off x="2037656" y="4452917"/>
              <a:ext cx="24025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2" name="Line 142"/>
            <p:cNvSpPr>
              <a:spLocks noChangeShapeType="1"/>
            </p:cNvSpPr>
            <p:nvPr/>
          </p:nvSpPr>
          <p:spPr bwMode="auto">
            <a:xfrm flipV="1">
              <a:off x="3193356" y="4452917"/>
              <a:ext cx="12468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3" name="Line 143"/>
            <p:cNvSpPr>
              <a:spLocks noChangeShapeType="1"/>
            </p:cNvSpPr>
            <p:nvPr/>
          </p:nvSpPr>
          <p:spPr bwMode="auto">
            <a:xfrm flipH="1" flipV="1">
              <a:off x="4440205" y="4452917"/>
              <a:ext cx="4041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4" name="Line 144"/>
            <p:cNvSpPr>
              <a:spLocks noChangeShapeType="1"/>
            </p:cNvSpPr>
            <p:nvPr/>
          </p:nvSpPr>
          <p:spPr bwMode="auto">
            <a:xfrm flipH="1" flipV="1">
              <a:off x="4440205" y="4452917"/>
              <a:ext cx="13947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5" name="Line 145"/>
            <p:cNvSpPr>
              <a:spLocks noChangeShapeType="1"/>
            </p:cNvSpPr>
            <p:nvPr/>
          </p:nvSpPr>
          <p:spPr bwMode="auto">
            <a:xfrm flipH="1" flipV="1">
              <a:off x="4440205" y="4452917"/>
              <a:ext cx="23028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6" name="Line 146"/>
            <p:cNvSpPr>
              <a:spLocks noChangeShapeType="1"/>
            </p:cNvSpPr>
            <p:nvPr/>
          </p:nvSpPr>
          <p:spPr bwMode="auto">
            <a:xfrm flipH="1" flipV="1">
              <a:off x="4440205" y="4452917"/>
              <a:ext cx="32934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7" name="Line 147"/>
            <p:cNvSpPr>
              <a:spLocks noChangeShapeType="1"/>
            </p:cNvSpPr>
            <p:nvPr/>
          </p:nvSpPr>
          <p:spPr bwMode="auto">
            <a:xfrm>
              <a:off x="634306"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8" name="Line 148"/>
            <p:cNvSpPr>
              <a:spLocks noChangeShapeType="1"/>
            </p:cNvSpPr>
            <p:nvPr/>
          </p:nvSpPr>
          <p:spPr bwMode="auto">
            <a:xfrm>
              <a:off x="7168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9" name="Line 149"/>
            <p:cNvSpPr>
              <a:spLocks noChangeShapeType="1"/>
            </p:cNvSpPr>
            <p:nvPr/>
          </p:nvSpPr>
          <p:spPr bwMode="auto">
            <a:xfrm flipH="1">
              <a:off x="3866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0" name="Text Box 150"/>
            <p:cNvSpPr txBox="1">
              <a:spLocks noChangeArrowheads="1"/>
            </p:cNvSpPr>
            <p:nvPr/>
          </p:nvSpPr>
          <p:spPr bwMode="auto">
            <a:xfrm>
              <a:off x="372898"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1" name="Line 151"/>
            <p:cNvSpPr>
              <a:spLocks noChangeShapeType="1"/>
            </p:cNvSpPr>
            <p:nvPr/>
          </p:nvSpPr>
          <p:spPr bwMode="auto">
            <a:xfrm>
              <a:off x="1851918"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2" name="Line 152"/>
            <p:cNvSpPr>
              <a:spLocks noChangeShapeType="1"/>
            </p:cNvSpPr>
            <p:nvPr/>
          </p:nvSpPr>
          <p:spPr bwMode="auto">
            <a:xfrm>
              <a:off x="19344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3" name="Line 153"/>
            <p:cNvSpPr>
              <a:spLocks noChangeShapeType="1"/>
            </p:cNvSpPr>
            <p:nvPr/>
          </p:nvSpPr>
          <p:spPr bwMode="auto">
            <a:xfrm flipH="1">
              <a:off x="16042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4" name="Text Box 154"/>
            <p:cNvSpPr txBox="1">
              <a:spLocks noChangeArrowheads="1"/>
            </p:cNvSpPr>
            <p:nvPr/>
          </p:nvSpPr>
          <p:spPr bwMode="auto">
            <a:xfrm>
              <a:off x="1590511"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5" name="Line 155"/>
            <p:cNvSpPr>
              <a:spLocks noChangeShapeType="1"/>
            </p:cNvSpPr>
            <p:nvPr/>
          </p:nvSpPr>
          <p:spPr bwMode="auto">
            <a:xfrm>
              <a:off x="3069531"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6" name="Line 156"/>
            <p:cNvSpPr>
              <a:spLocks noChangeShapeType="1"/>
            </p:cNvSpPr>
            <p:nvPr/>
          </p:nvSpPr>
          <p:spPr bwMode="auto">
            <a:xfrm>
              <a:off x="31520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7" name="Line 157"/>
            <p:cNvSpPr>
              <a:spLocks noChangeShapeType="1"/>
            </p:cNvSpPr>
            <p:nvPr/>
          </p:nvSpPr>
          <p:spPr bwMode="auto">
            <a:xfrm flipH="1">
              <a:off x="28218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8" name="Text Box 158"/>
            <p:cNvSpPr txBox="1">
              <a:spLocks noChangeArrowheads="1"/>
            </p:cNvSpPr>
            <p:nvPr/>
          </p:nvSpPr>
          <p:spPr bwMode="auto">
            <a:xfrm>
              <a:off x="2808123"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9" name="Line 159"/>
            <p:cNvSpPr>
              <a:spLocks noChangeShapeType="1"/>
            </p:cNvSpPr>
            <p:nvPr/>
          </p:nvSpPr>
          <p:spPr bwMode="auto">
            <a:xfrm>
              <a:off x="40326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0" name="Line 160"/>
            <p:cNvSpPr>
              <a:spLocks noChangeShapeType="1"/>
            </p:cNvSpPr>
            <p:nvPr/>
          </p:nvSpPr>
          <p:spPr bwMode="auto">
            <a:xfrm flipH="1">
              <a:off x="37024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1" name="Text Box 161"/>
            <p:cNvSpPr txBox="1">
              <a:spLocks noChangeArrowheads="1"/>
            </p:cNvSpPr>
            <p:nvPr/>
          </p:nvSpPr>
          <p:spPr bwMode="auto">
            <a:xfrm>
              <a:off x="384859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2" name="Line 162"/>
            <p:cNvSpPr>
              <a:spLocks noChangeShapeType="1"/>
            </p:cNvSpPr>
            <p:nvPr/>
          </p:nvSpPr>
          <p:spPr bwMode="auto">
            <a:xfrm>
              <a:off x="48581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3" name="Line 163"/>
            <p:cNvSpPr>
              <a:spLocks noChangeShapeType="1"/>
            </p:cNvSpPr>
            <p:nvPr/>
          </p:nvSpPr>
          <p:spPr bwMode="auto">
            <a:xfrm>
              <a:off x="49406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4" name="Line 164"/>
            <p:cNvSpPr>
              <a:spLocks noChangeShapeType="1"/>
            </p:cNvSpPr>
            <p:nvPr/>
          </p:nvSpPr>
          <p:spPr bwMode="auto">
            <a:xfrm flipH="1">
              <a:off x="46104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5" name="Text Box 165"/>
            <p:cNvSpPr txBox="1">
              <a:spLocks noChangeArrowheads="1"/>
            </p:cNvSpPr>
            <p:nvPr/>
          </p:nvSpPr>
          <p:spPr bwMode="auto">
            <a:xfrm>
              <a:off x="459670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6" name="Line 166"/>
            <p:cNvSpPr>
              <a:spLocks noChangeShapeType="1"/>
            </p:cNvSpPr>
            <p:nvPr/>
          </p:nvSpPr>
          <p:spPr bwMode="auto">
            <a:xfrm>
              <a:off x="58487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7" name="Line 167"/>
            <p:cNvSpPr>
              <a:spLocks noChangeShapeType="1"/>
            </p:cNvSpPr>
            <p:nvPr/>
          </p:nvSpPr>
          <p:spPr bwMode="auto">
            <a:xfrm>
              <a:off x="59312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8" name="Line 168"/>
            <p:cNvSpPr>
              <a:spLocks noChangeShapeType="1"/>
            </p:cNvSpPr>
            <p:nvPr/>
          </p:nvSpPr>
          <p:spPr bwMode="auto">
            <a:xfrm flipH="1">
              <a:off x="56010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9" name="Text Box 169"/>
            <p:cNvSpPr txBox="1">
              <a:spLocks noChangeArrowheads="1"/>
            </p:cNvSpPr>
            <p:nvPr/>
          </p:nvSpPr>
          <p:spPr bwMode="auto">
            <a:xfrm>
              <a:off x="558730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0" name="Line 170"/>
            <p:cNvSpPr>
              <a:spLocks noChangeShapeType="1"/>
            </p:cNvSpPr>
            <p:nvPr/>
          </p:nvSpPr>
          <p:spPr bwMode="auto">
            <a:xfrm>
              <a:off x="77473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1" name="Line 171"/>
            <p:cNvSpPr>
              <a:spLocks noChangeShapeType="1"/>
            </p:cNvSpPr>
            <p:nvPr/>
          </p:nvSpPr>
          <p:spPr bwMode="auto">
            <a:xfrm>
              <a:off x="78299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2" name="Line 172"/>
            <p:cNvSpPr>
              <a:spLocks noChangeShapeType="1"/>
            </p:cNvSpPr>
            <p:nvPr/>
          </p:nvSpPr>
          <p:spPr bwMode="auto">
            <a:xfrm flipH="1">
              <a:off x="74997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3" name="Text Box 173"/>
            <p:cNvSpPr txBox="1">
              <a:spLocks noChangeArrowheads="1"/>
            </p:cNvSpPr>
            <p:nvPr/>
          </p:nvSpPr>
          <p:spPr bwMode="auto">
            <a:xfrm>
              <a:off x="748595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4" name="Line 174"/>
            <p:cNvSpPr>
              <a:spLocks noChangeShapeType="1"/>
            </p:cNvSpPr>
            <p:nvPr/>
          </p:nvSpPr>
          <p:spPr bwMode="auto">
            <a:xfrm>
              <a:off x="67567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5" name="Line 175"/>
            <p:cNvSpPr>
              <a:spLocks noChangeShapeType="1"/>
            </p:cNvSpPr>
            <p:nvPr/>
          </p:nvSpPr>
          <p:spPr bwMode="auto">
            <a:xfrm>
              <a:off x="68393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6" name="Line 176"/>
            <p:cNvSpPr>
              <a:spLocks noChangeShapeType="1"/>
            </p:cNvSpPr>
            <p:nvPr/>
          </p:nvSpPr>
          <p:spPr bwMode="auto">
            <a:xfrm flipH="1">
              <a:off x="65091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7" name="Text Box 177"/>
            <p:cNvSpPr txBox="1">
              <a:spLocks noChangeArrowheads="1"/>
            </p:cNvSpPr>
            <p:nvPr/>
          </p:nvSpPr>
          <p:spPr bwMode="auto">
            <a:xfrm>
              <a:off x="649535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8" name="Text Box 178"/>
            <p:cNvSpPr txBox="1">
              <a:spLocks noChangeArrowheads="1"/>
            </p:cNvSpPr>
            <p:nvPr/>
          </p:nvSpPr>
          <p:spPr bwMode="auto">
            <a:xfrm>
              <a:off x="8394006" y="5129193"/>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9" name="Line 179"/>
            <p:cNvSpPr>
              <a:spLocks noChangeShapeType="1"/>
            </p:cNvSpPr>
            <p:nvPr/>
          </p:nvSpPr>
          <p:spPr bwMode="auto">
            <a:xfrm flipH="1">
              <a:off x="4441925" y="4151293"/>
              <a:ext cx="3440" cy="3095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0" name="Line 180"/>
            <p:cNvSpPr>
              <a:spLocks noChangeShapeType="1"/>
            </p:cNvSpPr>
            <p:nvPr/>
          </p:nvSpPr>
          <p:spPr bwMode="auto">
            <a:xfrm flipH="1">
              <a:off x="3745409" y="5494318"/>
              <a:ext cx="211534" cy="6397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1" name="Text Box 181"/>
            <p:cNvSpPr txBox="1">
              <a:spLocks noChangeArrowheads="1"/>
            </p:cNvSpPr>
            <p:nvPr/>
          </p:nvSpPr>
          <p:spPr bwMode="auto">
            <a:xfrm>
              <a:off x="2785765" y="6021367"/>
              <a:ext cx="198799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ipInReceives</a:t>
              </a:r>
              <a:r>
                <a:rPr kumimoji="1" lang="en-US" altLang="zh-CN" sz="1000" b="1" dirty="0">
                  <a:solidFill>
                    <a:schemeClr val="tx1"/>
                  </a:solidFill>
                  <a:latin typeface="微软雅黑 Light" panose="020B0502040204020203" pitchFamily="34" charset="-122"/>
                  <a:ea typeface="微软雅黑 Light" panose="020B0502040204020203" pitchFamily="34" charset="-122"/>
                </a:rPr>
                <a:t>(3) </a:t>
              </a:r>
            </a:p>
          </p:txBody>
        </p:sp>
        <p:sp>
          <p:nvSpPr>
            <p:cNvPr id="82" name="AutoShape 182"/>
            <p:cNvSpPr>
              <a:spLocks noChangeArrowheads="1"/>
            </p:cNvSpPr>
            <p:nvPr/>
          </p:nvSpPr>
          <p:spPr bwMode="auto">
            <a:xfrm>
              <a:off x="4733988" y="6134963"/>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83" name="Text Box 183"/>
            <p:cNvSpPr txBox="1">
              <a:spLocks noChangeArrowheads="1"/>
            </p:cNvSpPr>
            <p:nvPr/>
          </p:nvSpPr>
          <p:spPr bwMode="auto">
            <a:xfrm>
              <a:off x="5130298" y="6021367"/>
              <a:ext cx="163135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1.3.6.1.2.1.4.3</a:t>
              </a:r>
            </a:p>
          </p:txBody>
        </p:sp>
        <p:sp>
          <p:nvSpPr>
            <p:cNvPr id="84" name="Text Box 184"/>
            <p:cNvSpPr txBox="1">
              <a:spLocks noChangeArrowheads="1"/>
            </p:cNvSpPr>
            <p:nvPr/>
          </p:nvSpPr>
          <p:spPr bwMode="auto">
            <a:xfrm>
              <a:off x="3119405" y="6546830"/>
              <a:ext cx="53645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(iso.org.dod.internet.mgmt.mib-2.ip.ipinreceives)</a:t>
              </a:r>
            </a:p>
          </p:txBody>
        </p:sp>
        <p:sp>
          <p:nvSpPr>
            <p:cNvPr id="85" name="Line 185"/>
            <p:cNvSpPr>
              <a:spLocks noChangeShapeType="1"/>
            </p:cNvSpPr>
            <p:nvPr/>
          </p:nvSpPr>
          <p:spPr bwMode="auto">
            <a:xfrm flipH="1" flipV="1">
              <a:off x="5594186" y="6346806"/>
              <a:ext cx="79110" cy="30003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grpSp>
      <p:sp>
        <p:nvSpPr>
          <p:cNvPr id="87" name="矩形 86"/>
          <p:cNvSpPr/>
          <p:nvPr/>
        </p:nvSpPr>
        <p:spPr>
          <a:xfrm>
            <a:off x="1103588" y="1070847"/>
            <a:ext cx="7020910" cy="489206"/>
          </a:xfrm>
          <a:prstGeom prst="rect">
            <a:avLst/>
          </a:prstGeom>
          <a:noFill/>
          <a:ln w="28575">
            <a:solidFill>
              <a:srgbClr val="CC00CC"/>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21796249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8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7" grpId="0" animBg="1"/>
    </p:bldLst>
  </p:timing>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146230" y="582898"/>
            <a:ext cx="487024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SMI </a:t>
            </a:r>
            <a:r>
              <a:rPr lang="zh-CN" altLang="en-US" sz="2000" b="1" dirty="0">
                <a:solidFill>
                  <a:schemeClr val="bg1"/>
                </a:solidFill>
                <a:latin typeface="微软雅黑 Light" panose="020B0502040204020203" pitchFamily="34" charset="-122"/>
                <a:ea typeface="微软雅黑 Light" panose="020B0502040204020203" pitchFamily="34" charset="-122"/>
              </a:rPr>
              <a:t>规定：所有被管对象必须在</a:t>
            </a:r>
            <a:r>
              <a:rPr lang="zh-CN" altLang="en-US" sz="2000" b="1" dirty="0">
                <a:solidFill>
                  <a:srgbClr val="FFFF00"/>
                </a:solidFill>
                <a:latin typeface="微软雅黑 Light" panose="020B0502040204020203" pitchFamily="34" charset="-122"/>
                <a:ea typeface="微软雅黑 Light" panose="020B0502040204020203" pitchFamily="34" charset="-122"/>
              </a:rPr>
              <a:t>命名树</a:t>
            </a:r>
            <a:r>
              <a:rPr lang="zh-CN" altLang="en-US" sz="2000" b="1" dirty="0">
                <a:solidFill>
                  <a:schemeClr val="bg1"/>
                </a:solidFill>
                <a:latin typeface="微软雅黑 Light" panose="020B0502040204020203" pitchFamily="34" charset="-122"/>
                <a:ea typeface="微软雅黑 Light" panose="020B0502040204020203" pitchFamily="34" charset="-122"/>
              </a:rPr>
              <a:t>上</a:t>
            </a:r>
          </a:p>
        </p:txBody>
      </p:sp>
      <p:grpSp>
        <p:nvGrpSpPr>
          <p:cNvPr id="86" name="组合 85"/>
          <p:cNvGrpSpPr/>
          <p:nvPr/>
        </p:nvGrpSpPr>
        <p:grpSpPr>
          <a:xfrm>
            <a:off x="1671762" y="1021028"/>
            <a:ext cx="5826927" cy="3317604"/>
            <a:chOff x="56456" y="1036082"/>
            <a:chExt cx="10454814" cy="5952524"/>
          </a:xfrm>
        </p:grpSpPr>
        <p:sp>
          <p:nvSpPr>
            <p:cNvPr id="5" name="Text Box 105"/>
            <p:cNvSpPr txBox="1">
              <a:spLocks noChangeArrowheads="1"/>
            </p:cNvSpPr>
            <p:nvPr/>
          </p:nvSpPr>
          <p:spPr bwMode="auto">
            <a:xfrm>
              <a:off x="4141616" y="1036082"/>
              <a:ext cx="607442" cy="496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zh-CN" altLang="en-US" sz="1200" b="1" dirty="0">
                  <a:solidFill>
                    <a:schemeClr val="tx1"/>
                  </a:solidFill>
                  <a:latin typeface="微软雅黑 Light" panose="020B0502040204020203" pitchFamily="34" charset="-122"/>
                  <a:ea typeface="微软雅黑 Light" panose="020B0502040204020203" pitchFamily="34" charset="-122"/>
                </a:rPr>
                <a:t>根</a:t>
              </a:r>
            </a:p>
          </p:txBody>
        </p:sp>
        <p:sp>
          <p:nvSpPr>
            <p:cNvPr id="6" name="Text Box 106"/>
            <p:cNvSpPr txBox="1">
              <a:spLocks noChangeArrowheads="1"/>
            </p:cNvSpPr>
            <p:nvPr/>
          </p:nvSpPr>
          <p:spPr bwMode="auto">
            <a:xfrm>
              <a:off x="4157825" y="1548496"/>
              <a:ext cx="9180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a:solidFill>
                    <a:schemeClr val="tx1"/>
                  </a:solidFill>
                  <a:latin typeface="微软雅黑 Light" panose="020B0502040204020203" pitchFamily="34" charset="-122"/>
                  <a:ea typeface="微软雅黑 Light" panose="020B0502040204020203" pitchFamily="34" charset="-122"/>
                </a:rPr>
                <a:t> (1)</a:t>
              </a:r>
            </a:p>
          </p:txBody>
        </p:sp>
        <p:sp>
          <p:nvSpPr>
            <p:cNvPr id="7" name="Text Box 107"/>
            <p:cNvSpPr txBox="1">
              <a:spLocks noChangeArrowheads="1"/>
            </p:cNvSpPr>
            <p:nvPr/>
          </p:nvSpPr>
          <p:spPr bwMode="auto">
            <a:xfrm>
              <a:off x="3019659" y="1601767"/>
              <a:ext cx="109926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(0)</a:t>
              </a:r>
            </a:p>
          </p:txBody>
        </p:sp>
        <p:sp>
          <p:nvSpPr>
            <p:cNvPr id="8" name="Text Box 108"/>
            <p:cNvSpPr txBox="1">
              <a:spLocks noChangeArrowheads="1"/>
            </p:cNvSpPr>
            <p:nvPr/>
          </p:nvSpPr>
          <p:spPr bwMode="auto">
            <a:xfrm>
              <a:off x="5203793" y="1601767"/>
              <a:ext cx="1481791"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9" name="Text Box 109"/>
            <p:cNvSpPr txBox="1">
              <a:spLocks noChangeArrowheads="1"/>
            </p:cNvSpPr>
            <p:nvPr/>
          </p:nvSpPr>
          <p:spPr bwMode="auto">
            <a:xfrm>
              <a:off x="3994445" y="2416859"/>
              <a:ext cx="108488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dod</a:t>
              </a:r>
              <a:r>
                <a:rPr kumimoji="1" lang="en-US" altLang="zh-CN" sz="1000" b="1" dirty="0">
                  <a:solidFill>
                    <a:schemeClr val="tx1"/>
                  </a:solidFill>
                  <a:latin typeface="微软雅黑 Light" panose="020B0502040204020203" pitchFamily="34" charset="-122"/>
                  <a:ea typeface="微软雅黑 Light" panose="020B0502040204020203" pitchFamily="34" charset="-122"/>
                </a:rPr>
                <a:t> (6)</a:t>
              </a:r>
            </a:p>
          </p:txBody>
        </p:sp>
        <p:sp>
          <p:nvSpPr>
            <p:cNvPr id="10" name="Text Box 110"/>
            <p:cNvSpPr txBox="1">
              <a:spLocks noChangeArrowheads="1"/>
            </p:cNvSpPr>
            <p:nvPr/>
          </p:nvSpPr>
          <p:spPr bwMode="auto">
            <a:xfrm>
              <a:off x="3745074" y="2859771"/>
              <a:ext cx="503383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internet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 (</a:t>
              </a:r>
              <a:r>
                <a:rPr kumimoji="1" lang="en-US" altLang="zh-CN" sz="1000" b="1" dirty="0" err="1">
                  <a:solidFill>
                    <a:schemeClr val="tx1"/>
                  </a:solidFill>
                  <a:latin typeface="微软雅黑 Light" panose="020B0502040204020203" pitchFamily="34" charset="-122"/>
                  <a:ea typeface="微软雅黑 Light" panose="020B0502040204020203" pitchFamily="34" charset="-122"/>
                  <a:sym typeface="Symbol" pitchFamily="18" charset="2"/>
                </a:rPr>
                <a:t>iso.org.dod.internet</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a:t>
              </a:r>
              <a:endParaRPr kumimoji="1" lang="en-US" altLang="zh-CN" sz="1000" b="1" dirty="0">
                <a:solidFill>
                  <a:schemeClr val="tx1"/>
                </a:solidFill>
                <a:latin typeface="微软雅黑 Light" panose="020B0502040204020203" pitchFamily="34" charset="-122"/>
                <a:ea typeface="微软雅黑 Light" panose="020B0502040204020203" pitchFamily="34" charset="-122"/>
              </a:endParaRPr>
            </a:p>
          </p:txBody>
        </p:sp>
        <p:sp>
          <p:nvSpPr>
            <p:cNvPr id="11" name="Text Box 111"/>
            <p:cNvSpPr txBox="1">
              <a:spLocks noChangeArrowheads="1"/>
            </p:cNvSpPr>
            <p:nvPr/>
          </p:nvSpPr>
          <p:spPr bwMode="auto">
            <a:xfrm>
              <a:off x="3963489" y="3304272"/>
              <a:ext cx="12890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mgmt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12" name="Text Box 112"/>
            <p:cNvSpPr txBox="1">
              <a:spLocks noChangeArrowheads="1"/>
            </p:cNvSpPr>
            <p:nvPr/>
          </p:nvSpPr>
          <p:spPr bwMode="auto">
            <a:xfrm>
              <a:off x="3978966" y="3828145"/>
              <a:ext cx="653230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mib-2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 (iso.org.dod.internet.mgmt.mib-2)</a:t>
              </a:r>
            </a:p>
          </p:txBody>
        </p:sp>
        <p:sp>
          <p:nvSpPr>
            <p:cNvPr id="13" name="Line 113"/>
            <p:cNvSpPr>
              <a:spLocks noChangeShapeType="1"/>
            </p:cNvSpPr>
            <p:nvPr/>
          </p:nvSpPr>
          <p:spPr bwMode="auto">
            <a:xfrm>
              <a:off x="4443645" y="1465242"/>
              <a:ext cx="0" cy="198438"/>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4" name="Line 114"/>
            <p:cNvSpPr>
              <a:spLocks noChangeShapeType="1"/>
            </p:cNvSpPr>
            <p:nvPr/>
          </p:nvSpPr>
          <p:spPr bwMode="auto">
            <a:xfrm flipH="1">
              <a:off x="4443646" y="2741593"/>
              <a:ext cx="1719" cy="2587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5" name="Line 115"/>
            <p:cNvSpPr>
              <a:spLocks noChangeShapeType="1"/>
            </p:cNvSpPr>
            <p:nvPr/>
          </p:nvSpPr>
          <p:spPr bwMode="auto">
            <a:xfrm flipH="1">
              <a:off x="4443645" y="3209906"/>
              <a:ext cx="0" cy="25558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6" name="Line 116"/>
            <p:cNvSpPr>
              <a:spLocks noChangeShapeType="1"/>
            </p:cNvSpPr>
            <p:nvPr/>
          </p:nvSpPr>
          <p:spPr bwMode="auto">
            <a:xfrm flipV="1">
              <a:off x="3968983" y="3209906"/>
              <a:ext cx="467783" cy="2174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7" name="Line 117"/>
            <p:cNvSpPr>
              <a:spLocks noChangeShapeType="1"/>
            </p:cNvSpPr>
            <p:nvPr/>
          </p:nvSpPr>
          <p:spPr bwMode="auto">
            <a:xfrm>
              <a:off x="4445364" y="3213080"/>
              <a:ext cx="440267" cy="1508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8" name="Text Box 118"/>
            <p:cNvSpPr txBox="1">
              <a:spLocks noChangeArrowheads="1"/>
            </p:cNvSpPr>
            <p:nvPr/>
          </p:nvSpPr>
          <p:spPr bwMode="auto">
            <a:xfrm>
              <a:off x="4030561" y="1951723"/>
              <a:ext cx="1030236"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org (3)</a:t>
              </a:r>
            </a:p>
          </p:txBody>
        </p:sp>
        <p:sp>
          <p:nvSpPr>
            <p:cNvPr id="19" name="Line 119"/>
            <p:cNvSpPr>
              <a:spLocks noChangeShapeType="1"/>
            </p:cNvSpPr>
            <p:nvPr/>
          </p:nvSpPr>
          <p:spPr bwMode="auto">
            <a:xfrm>
              <a:off x="4452243" y="1473181"/>
              <a:ext cx="1073150" cy="1793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0" name="Line 120"/>
            <p:cNvSpPr>
              <a:spLocks noChangeShapeType="1"/>
            </p:cNvSpPr>
            <p:nvPr/>
          </p:nvSpPr>
          <p:spPr bwMode="auto">
            <a:xfrm flipV="1">
              <a:off x="3430688" y="1470005"/>
              <a:ext cx="1009518" cy="2143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1" name="Line 121"/>
            <p:cNvSpPr>
              <a:spLocks noChangeShapeType="1"/>
            </p:cNvSpPr>
            <p:nvPr/>
          </p:nvSpPr>
          <p:spPr bwMode="auto">
            <a:xfrm flipH="1">
              <a:off x="4067010" y="1873231"/>
              <a:ext cx="359437" cy="111125"/>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2" name="Line 122"/>
            <p:cNvSpPr>
              <a:spLocks noChangeShapeType="1"/>
            </p:cNvSpPr>
            <p:nvPr/>
          </p:nvSpPr>
          <p:spPr bwMode="auto">
            <a:xfrm>
              <a:off x="4440206" y="1870055"/>
              <a:ext cx="407590" cy="1143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3" name="Line 123"/>
            <p:cNvSpPr>
              <a:spLocks noChangeShapeType="1"/>
            </p:cNvSpPr>
            <p:nvPr/>
          </p:nvSpPr>
          <p:spPr bwMode="auto">
            <a:xfrm flipH="1">
              <a:off x="4443645" y="1868467"/>
              <a:ext cx="0" cy="17780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4" name="Line 124"/>
            <p:cNvSpPr>
              <a:spLocks noChangeShapeType="1"/>
            </p:cNvSpPr>
            <p:nvPr/>
          </p:nvSpPr>
          <p:spPr bwMode="auto">
            <a:xfrm>
              <a:off x="4443645" y="2355831"/>
              <a:ext cx="0" cy="18573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5" name="Line 125"/>
            <p:cNvSpPr>
              <a:spLocks noChangeShapeType="1"/>
            </p:cNvSpPr>
            <p:nvPr/>
          </p:nvSpPr>
          <p:spPr bwMode="auto">
            <a:xfrm>
              <a:off x="4452244" y="2359005"/>
              <a:ext cx="390393" cy="14446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6" name="Line 126"/>
            <p:cNvSpPr>
              <a:spLocks noChangeShapeType="1"/>
            </p:cNvSpPr>
            <p:nvPr/>
          </p:nvSpPr>
          <p:spPr bwMode="auto">
            <a:xfrm flipH="1">
              <a:off x="3981020" y="2360593"/>
              <a:ext cx="454025" cy="1444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7" name="AutoShape 127"/>
            <p:cNvSpPr>
              <a:spLocks noChangeArrowheads="1"/>
            </p:cNvSpPr>
            <p:nvPr/>
          </p:nvSpPr>
          <p:spPr bwMode="auto">
            <a:xfrm>
              <a:off x="5313180" y="2997849"/>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8" name="AutoShape 128"/>
            <p:cNvSpPr>
              <a:spLocks noChangeArrowheads="1"/>
            </p:cNvSpPr>
            <p:nvPr/>
          </p:nvSpPr>
          <p:spPr bwMode="auto">
            <a:xfrm>
              <a:off x="5390570" y="3966224"/>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9" name="Line 129"/>
            <p:cNvSpPr>
              <a:spLocks noChangeShapeType="1"/>
            </p:cNvSpPr>
            <p:nvPr/>
          </p:nvSpPr>
          <p:spPr bwMode="auto">
            <a:xfrm>
              <a:off x="4448804" y="3659168"/>
              <a:ext cx="1720" cy="276225"/>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30" name="Rectangle 130"/>
            <p:cNvSpPr>
              <a:spLocks noChangeArrowheads="1"/>
            </p:cNvSpPr>
            <p:nvPr/>
          </p:nvSpPr>
          <p:spPr bwMode="auto">
            <a:xfrm>
              <a:off x="56456" y="4294167"/>
              <a:ext cx="9245600" cy="1703388"/>
            </a:xfrm>
            <a:prstGeom prst="rect">
              <a:avLst/>
            </a:prstGeom>
            <a:solidFill>
              <a:srgbClr val="00FFCC"/>
            </a:solidFill>
            <a:ln>
              <a:noFill/>
            </a:ln>
            <a:effectLst/>
            <a:extLst>
              <a:ext uri="{91240B29-F687-4F45-9708-019B960494DF}">
                <a14:hiddenLine xmlns:a14="http://schemas.microsoft.com/office/drawing/2010/main" w="1905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31" name="Text Box 131"/>
            <p:cNvSpPr txBox="1">
              <a:spLocks noChangeArrowheads="1"/>
            </p:cNvSpPr>
            <p:nvPr/>
          </p:nvSpPr>
          <p:spPr bwMode="auto">
            <a:xfrm>
              <a:off x="72398" y="5114694"/>
              <a:ext cx="1271832"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system(1)</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2" name="Text Box 132"/>
            <p:cNvSpPr txBox="1">
              <a:spLocks noChangeArrowheads="1"/>
            </p:cNvSpPr>
            <p:nvPr/>
          </p:nvSpPr>
          <p:spPr bwMode="auto">
            <a:xfrm>
              <a:off x="1290012" y="5095642"/>
              <a:ext cx="149617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interface(2)</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3" name="Text Box 133"/>
            <p:cNvSpPr txBox="1">
              <a:spLocks noChangeArrowheads="1"/>
            </p:cNvSpPr>
            <p:nvPr/>
          </p:nvSpPr>
          <p:spPr bwMode="auto">
            <a:xfrm>
              <a:off x="2707119" y="5095642"/>
              <a:ext cx="7972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at(3)</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4" name="Text Box 134"/>
            <p:cNvSpPr txBox="1">
              <a:spLocks noChangeArrowheads="1"/>
            </p:cNvSpPr>
            <p:nvPr/>
          </p:nvSpPr>
          <p:spPr bwMode="auto">
            <a:xfrm>
              <a:off x="3518860" y="5095642"/>
              <a:ext cx="79151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a:t>
              </a:r>
              <a:r>
                <a:rPr kumimoji="1" lang="en-US" altLang="zh-CN" sz="1000" b="1" dirty="0">
                  <a:solidFill>
                    <a:schemeClr val="tx1"/>
                  </a:solidFill>
                  <a:latin typeface="微软雅黑 Light" panose="020B0502040204020203" pitchFamily="34" charset="-122"/>
                  <a:ea typeface="微软雅黑 Light" panose="020B0502040204020203" pitchFamily="34" charset="-122"/>
                </a:rPr>
                <a:t>(4)</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5" name="Text Box 135"/>
            <p:cNvSpPr txBox="1">
              <a:spLocks noChangeArrowheads="1"/>
            </p:cNvSpPr>
            <p:nvPr/>
          </p:nvSpPr>
          <p:spPr bwMode="auto">
            <a:xfrm>
              <a:off x="4289327" y="5095642"/>
              <a:ext cx="110214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icmp</a:t>
              </a:r>
              <a:r>
                <a:rPr kumimoji="1" lang="en-US" altLang="zh-CN" sz="1000" b="1" dirty="0">
                  <a:solidFill>
                    <a:schemeClr val="tx1"/>
                  </a:solidFill>
                  <a:latin typeface="微软雅黑 Light" panose="020B0502040204020203" pitchFamily="34" charset="-122"/>
                  <a:ea typeface="微软雅黑 Light" panose="020B0502040204020203" pitchFamily="34" charset="-122"/>
                </a:rPr>
                <a:t>(5)</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6" name="Text Box 136"/>
            <p:cNvSpPr txBox="1">
              <a:spLocks noChangeArrowheads="1"/>
            </p:cNvSpPr>
            <p:nvPr/>
          </p:nvSpPr>
          <p:spPr bwMode="auto">
            <a:xfrm>
              <a:off x="5389994" y="5095642"/>
              <a:ext cx="92094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tcp</a:t>
              </a:r>
              <a:r>
                <a:rPr kumimoji="1" lang="en-US" altLang="zh-CN" sz="1000" b="1" dirty="0">
                  <a:solidFill>
                    <a:schemeClr val="tx1"/>
                  </a:solidFill>
                  <a:latin typeface="微软雅黑 Light" panose="020B0502040204020203" pitchFamily="34" charset="-122"/>
                  <a:ea typeface="微软雅黑 Light" panose="020B0502040204020203" pitchFamily="34" charset="-122"/>
                </a:rPr>
                <a:t>(6)</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7" name="Text Box 137"/>
            <p:cNvSpPr txBox="1">
              <a:spLocks noChangeArrowheads="1"/>
            </p:cNvSpPr>
            <p:nvPr/>
          </p:nvSpPr>
          <p:spPr bwMode="auto">
            <a:xfrm>
              <a:off x="62292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udp</a:t>
              </a:r>
              <a:r>
                <a:rPr kumimoji="1" lang="en-US" altLang="zh-CN" sz="1000" b="1" dirty="0">
                  <a:solidFill>
                    <a:schemeClr val="tx1"/>
                  </a:solidFill>
                  <a:latin typeface="微软雅黑 Light" panose="020B0502040204020203" pitchFamily="34" charset="-122"/>
                  <a:ea typeface="微软雅黑 Light" panose="020B0502040204020203" pitchFamily="34" charset="-122"/>
                </a:rPr>
                <a:t>(7)</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8" name="Text Box 138"/>
            <p:cNvSpPr txBox="1">
              <a:spLocks noChangeArrowheads="1"/>
            </p:cNvSpPr>
            <p:nvPr/>
          </p:nvSpPr>
          <p:spPr bwMode="auto">
            <a:xfrm>
              <a:off x="72198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egp</a:t>
              </a:r>
              <a:r>
                <a:rPr kumimoji="1" lang="en-US" altLang="zh-CN" sz="1000" b="1" dirty="0">
                  <a:solidFill>
                    <a:schemeClr val="tx1"/>
                  </a:solidFill>
                  <a:latin typeface="微软雅黑 Light" panose="020B0502040204020203" pitchFamily="34" charset="-122"/>
                  <a:ea typeface="微软雅黑 Light" panose="020B0502040204020203" pitchFamily="34" charset="-122"/>
                </a:rPr>
                <a:t>(8)</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9" name="Line 139"/>
            <p:cNvSpPr>
              <a:spLocks noChangeShapeType="1"/>
            </p:cNvSpPr>
            <p:nvPr/>
          </p:nvSpPr>
          <p:spPr bwMode="auto">
            <a:xfrm flipH="1">
              <a:off x="3936306" y="4452917"/>
              <a:ext cx="50390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0" name="Line 140"/>
            <p:cNvSpPr>
              <a:spLocks noChangeShapeType="1"/>
            </p:cNvSpPr>
            <p:nvPr/>
          </p:nvSpPr>
          <p:spPr bwMode="auto">
            <a:xfrm flipV="1">
              <a:off x="716856" y="4452917"/>
              <a:ext cx="37233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1" name="Line 141"/>
            <p:cNvSpPr>
              <a:spLocks noChangeShapeType="1"/>
            </p:cNvSpPr>
            <p:nvPr/>
          </p:nvSpPr>
          <p:spPr bwMode="auto">
            <a:xfrm flipV="1">
              <a:off x="2037656" y="4452917"/>
              <a:ext cx="24025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2" name="Line 142"/>
            <p:cNvSpPr>
              <a:spLocks noChangeShapeType="1"/>
            </p:cNvSpPr>
            <p:nvPr/>
          </p:nvSpPr>
          <p:spPr bwMode="auto">
            <a:xfrm flipV="1">
              <a:off x="3193356" y="4452917"/>
              <a:ext cx="12468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3" name="Line 143"/>
            <p:cNvSpPr>
              <a:spLocks noChangeShapeType="1"/>
            </p:cNvSpPr>
            <p:nvPr/>
          </p:nvSpPr>
          <p:spPr bwMode="auto">
            <a:xfrm flipH="1" flipV="1">
              <a:off x="4440205" y="4452917"/>
              <a:ext cx="4041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4" name="Line 144"/>
            <p:cNvSpPr>
              <a:spLocks noChangeShapeType="1"/>
            </p:cNvSpPr>
            <p:nvPr/>
          </p:nvSpPr>
          <p:spPr bwMode="auto">
            <a:xfrm flipH="1" flipV="1">
              <a:off x="4440205" y="4452917"/>
              <a:ext cx="13947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5" name="Line 145"/>
            <p:cNvSpPr>
              <a:spLocks noChangeShapeType="1"/>
            </p:cNvSpPr>
            <p:nvPr/>
          </p:nvSpPr>
          <p:spPr bwMode="auto">
            <a:xfrm flipH="1" flipV="1">
              <a:off x="4440205" y="4452917"/>
              <a:ext cx="23028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6" name="Line 146"/>
            <p:cNvSpPr>
              <a:spLocks noChangeShapeType="1"/>
            </p:cNvSpPr>
            <p:nvPr/>
          </p:nvSpPr>
          <p:spPr bwMode="auto">
            <a:xfrm flipH="1" flipV="1">
              <a:off x="4440205" y="4452917"/>
              <a:ext cx="32934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7" name="Line 147"/>
            <p:cNvSpPr>
              <a:spLocks noChangeShapeType="1"/>
            </p:cNvSpPr>
            <p:nvPr/>
          </p:nvSpPr>
          <p:spPr bwMode="auto">
            <a:xfrm>
              <a:off x="634306"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8" name="Line 148"/>
            <p:cNvSpPr>
              <a:spLocks noChangeShapeType="1"/>
            </p:cNvSpPr>
            <p:nvPr/>
          </p:nvSpPr>
          <p:spPr bwMode="auto">
            <a:xfrm>
              <a:off x="7168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9" name="Line 149"/>
            <p:cNvSpPr>
              <a:spLocks noChangeShapeType="1"/>
            </p:cNvSpPr>
            <p:nvPr/>
          </p:nvSpPr>
          <p:spPr bwMode="auto">
            <a:xfrm flipH="1">
              <a:off x="3866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0" name="Text Box 150"/>
            <p:cNvSpPr txBox="1">
              <a:spLocks noChangeArrowheads="1"/>
            </p:cNvSpPr>
            <p:nvPr/>
          </p:nvSpPr>
          <p:spPr bwMode="auto">
            <a:xfrm>
              <a:off x="372898"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1" name="Line 151"/>
            <p:cNvSpPr>
              <a:spLocks noChangeShapeType="1"/>
            </p:cNvSpPr>
            <p:nvPr/>
          </p:nvSpPr>
          <p:spPr bwMode="auto">
            <a:xfrm>
              <a:off x="1851918"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2" name="Line 152"/>
            <p:cNvSpPr>
              <a:spLocks noChangeShapeType="1"/>
            </p:cNvSpPr>
            <p:nvPr/>
          </p:nvSpPr>
          <p:spPr bwMode="auto">
            <a:xfrm>
              <a:off x="19344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3" name="Line 153"/>
            <p:cNvSpPr>
              <a:spLocks noChangeShapeType="1"/>
            </p:cNvSpPr>
            <p:nvPr/>
          </p:nvSpPr>
          <p:spPr bwMode="auto">
            <a:xfrm flipH="1">
              <a:off x="16042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4" name="Text Box 154"/>
            <p:cNvSpPr txBox="1">
              <a:spLocks noChangeArrowheads="1"/>
            </p:cNvSpPr>
            <p:nvPr/>
          </p:nvSpPr>
          <p:spPr bwMode="auto">
            <a:xfrm>
              <a:off x="1590511"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5" name="Line 155"/>
            <p:cNvSpPr>
              <a:spLocks noChangeShapeType="1"/>
            </p:cNvSpPr>
            <p:nvPr/>
          </p:nvSpPr>
          <p:spPr bwMode="auto">
            <a:xfrm>
              <a:off x="3069531"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6" name="Line 156"/>
            <p:cNvSpPr>
              <a:spLocks noChangeShapeType="1"/>
            </p:cNvSpPr>
            <p:nvPr/>
          </p:nvSpPr>
          <p:spPr bwMode="auto">
            <a:xfrm>
              <a:off x="31520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7" name="Line 157"/>
            <p:cNvSpPr>
              <a:spLocks noChangeShapeType="1"/>
            </p:cNvSpPr>
            <p:nvPr/>
          </p:nvSpPr>
          <p:spPr bwMode="auto">
            <a:xfrm flipH="1">
              <a:off x="28218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8" name="Text Box 158"/>
            <p:cNvSpPr txBox="1">
              <a:spLocks noChangeArrowheads="1"/>
            </p:cNvSpPr>
            <p:nvPr/>
          </p:nvSpPr>
          <p:spPr bwMode="auto">
            <a:xfrm>
              <a:off x="2808123"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9" name="Line 159"/>
            <p:cNvSpPr>
              <a:spLocks noChangeShapeType="1"/>
            </p:cNvSpPr>
            <p:nvPr/>
          </p:nvSpPr>
          <p:spPr bwMode="auto">
            <a:xfrm>
              <a:off x="40326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0" name="Line 160"/>
            <p:cNvSpPr>
              <a:spLocks noChangeShapeType="1"/>
            </p:cNvSpPr>
            <p:nvPr/>
          </p:nvSpPr>
          <p:spPr bwMode="auto">
            <a:xfrm flipH="1">
              <a:off x="37024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1" name="Text Box 161"/>
            <p:cNvSpPr txBox="1">
              <a:spLocks noChangeArrowheads="1"/>
            </p:cNvSpPr>
            <p:nvPr/>
          </p:nvSpPr>
          <p:spPr bwMode="auto">
            <a:xfrm>
              <a:off x="384859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2" name="Line 162"/>
            <p:cNvSpPr>
              <a:spLocks noChangeShapeType="1"/>
            </p:cNvSpPr>
            <p:nvPr/>
          </p:nvSpPr>
          <p:spPr bwMode="auto">
            <a:xfrm>
              <a:off x="48581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3" name="Line 163"/>
            <p:cNvSpPr>
              <a:spLocks noChangeShapeType="1"/>
            </p:cNvSpPr>
            <p:nvPr/>
          </p:nvSpPr>
          <p:spPr bwMode="auto">
            <a:xfrm>
              <a:off x="49406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4" name="Line 164"/>
            <p:cNvSpPr>
              <a:spLocks noChangeShapeType="1"/>
            </p:cNvSpPr>
            <p:nvPr/>
          </p:nvSpPr>
          <p:spPr bwMode="auto">
            <a:xfrm flipH="1">
              <a:off x="46104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5" name="Text Box 165"/>
            <p:cNvSpPr txBox="1">
              <a:spLocks noChangeArrowheads="1"/>
            </p:cNvSpPr>
            <p:nvPr/>
          </p:nvSpPr>
          <p:spPr bwMode="auto">
            <a:xfrm>
              <a:off x="459670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6" name="Line 166"/>
            <p:cNvSpPr>
              <a:spLocks noChangeShapeType="1"/>
            </p:cNvSpPr>
            <p:nvPr/>
          </p:nvSpPr>
          <p:spPr bwMode="auto">
            <a:xfrm>
              <a:off x="58487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7" name="Line 167"/>
            <p:cNvSpPr>
              <a:spLocks noChangeShapeType="1"/>
            </p:cNvSpPr>
            <p:nvPr/>
          </p:nvSpPr>
          <p:spPr bwMode="auto">
            <a:xfrm>
              <a:off x="59312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8" name="Line 168"/>
            <p:cNvSpPr>
              <a:spLocks noChangeShapeType="1"/>
            </p:cNvSpPr>
            <p:nvPr/>
          </p:nvSpPr>
          <p:spPr bwMode="auto">
            <a:xfrm flipH="1">
              <a:off x="56010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9" name="Text Box 169"/>
            <p:cNvSpPr txBox="1">
              <a:spLocks noChangeArrowheads="1"/>
            </p:cNvSpPr>
            <p:nvPr/>
          </p:nvSpPr>
          <p:spPr bwMode="auto">
            <a:xfrm>
              <a:off x="558730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0" name="Line 170"/>
            <p:cNvSpPr>
              <a:spLocks noChangeShapeType="1"/>
            </p:cNvSpPr>
            <p:nvPr/>
          </p:nvSpPr>
          <p:spPr bwMode="auto">
            <a:xfrm>
              <a:off x="77473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1" name="Line 171"/>
            <p:cNvSpPr>
              <a:spLocks noChangeShapeType="1"/>
            </p:cNvSpPr>
            <p:nvPr/>
          </p:nvSpPr>
          <p:spPr bwMode="auto">
            <a:xfrm>
              <a:off x="78299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2" name="Line 172"/>
            <p:cNvSpPr>
              <a:spLocks noChangeShapeType="1"/>
            </p:cNvSpPr>
            <p:nvPr/>
          </p:nvSpPr>
          <p:spPr bwMode="auto">
            <a:xfrm flipH="1">
              <a:off x="74997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3" name="Text Box 173"/>
            <p:cNvSpPr txBox="1">
              <a:spLocks noChangeArrowheads="1"/>
            </p:cNvSpPr>
            <p:nvPr/>
          </p:nvSpPr>
          <p:spPr bwMode="auto">
            <a:xfrm>
              <a:off x="748595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4" name="Line 174"/>
            <p:cNvSpPr>
              <a:spLocks noChangeShapeType="1"/>
            </p:cNvSpPr>
            <p:nvPr/>
          </p:nvSpPr>
          <p:spPr bwMode="auto">
            <a:xfrm>
              <a:off x="67567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5" name="Line 175"/>
            <p:cNvSpPr>
              <a:spLocks noChangeShapeType="1"/>
            </p:cNvSpPr>
            <p:nvPr/>
          </p:nvSpPr>
          <p:spPr bwMode="auto">
            <a:xfrm>
              <a:off x="68393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6" name="Line 176"/>
            <p:cNvSpPr>
              <a:spLocks noChangeShapeType="1"/>
            </p:cNvSpPr>
            <p:nvPr/>
          </p:nvSpPr>
          <p:spPr bwMode="auto">
            <a:xfrm flipH="1">
              <a:off x="65091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7" name="Text Box 177"/>
            <p:cNvSpPr txBox="1">
              <a:spLocks noChangeArrowheads="1"/>
            </p:cNvSpPr>
            <p:nvPr/>
          </p:nvSpPr>
          <p:spPr bwMode="auto">
            <a:xfrm>
              <a:off x="649535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8" name="Text Box 178"/>
            <p:cNvSpPr txBox="1">
              <a:spLocks noChangeArrowheads="1"/>
            </p:cNvSpPr>
            <p:nvPr/>
          </p:nvSpPr>
          <p:spPr bwMode="auto">
            <a:xfrm>
              <a:off x="8394006" y="5129193"/>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9" name="Line 179"/>
            <p:cNvSpPr>
              <a:spLocks noChangeShapeType="1"/>
            </p:cNvSpPr>
            <p:nvPr/>
          </p:nvSpPr>
          <p:spPr bwMode="auto">
            <a:xfrm flipH="1">
              <a:off x="4441925" y="4151293"/>
              <a:ext cx="3440" cy="3095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0" name="Line 180"/>
            <p:cNvSpPr>
              <a:spLocks noChangeShapeType="1"/>
            </p:cNvSpPr>
            <p:nvPr/>
          </p:nvSpPr>
          <p:spPr bwMode="auto">
            <a:xfrm flipH="1">
              <a:off x="3745409" y="5494318"/>
              <a:ext cx="211534" cy="6397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1" name="Text Box 181"/>
            <p:cNvSpPr txBox="1">
              <a:spLocks noChangeArrowheads="1"/>
            </p:cNvSpPr>
            <p:nvPr/>
          </p:nvSpPr>
          <p:spPr bwMode="auto">
            <a:xfrm>
              <a:off x="2785765" y="6021367"/>
              <a:ext cx="198799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ipInReceives</a:t>
              </a:r>
              <a:r>
                <a:rPr kumimoji="1" lang="en-US" altLang="zh-CN" sz="1000" b="1" dirty="0">
                  <a:solidFill>
                    <a:schemeClr val="tx1"/>
                  </a:solidFill>
                  <a:latin typeface="微软雅黑 Light" panose="020B0502040204020203" pitchFamily="34" charset="-122"/>
                  <a:ea typeface="微软雅黑 Light" panose="020B0502040204020203" pitchFamily="34" charset="-122"/>
                </a:rPr>
                <a:t>(3) </a:t>
              </a:r>
            </a:p>
          </p:txBody>
        </p:sp>
        <p:sp>
          <p:nvSpPr>
            <p:cNvPr id="82" name="AutoShape 182"/>
            <p:cNvSpPr>
              <a:spLocks noChangeArrowheads="1"/>
            </p:cNvSpPr>
            <p:nvPr/>
          </p:nvSpPr>
          <p:spPr bwMode="auto">
            <a:xfrm>
              <a:off x="4733988" y="6134963"/>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83" name="Text Box 183"/>
            <p:cNvSpPr txBox="1">
              <a:spLocks noChangeArrowheads="1"/>
            </p:cNvSpPr>
            <p:nvPr/>
          </p:nvSpPr>
          <p:spPr bwMode="auto">
            <a:xfrm>
              <a:off x="5130298" y="6021367"/>
              <a:ext cx="163135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1.3.6.1.2.1.4.3</a:t>
              </a:r>
            </a:p>
          </p:txBody>
        </p:sp>
        <p:sp>
          <p:nvSpPr>
            <p:cNvPr id="84" name="Text Box 184"/>
            <p:cNvSpPr txBox="1">
              <a:spLocks noChangeArrowheads="1"/>
            </p:cNvSpPr>
            <p:nvPr/>
          </p:nvSpPr>
          <p:spPr bwMode="auto">
            <a:xfrm>
              <a:off x="3119405" y="6546830"/>
              <a:ext cx="53645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(iso.org.dod.internet.mgmt.mib-2.ip.ipinreceives)</a:t>
              </a:r>
            </a:p>
          </p:txBody>
        </p:sp>
        <p:sp>
          <p:nvSpPr>
            <p:cNvPr id="85" name="Line 185"/>
            <p:cNvSpPr>
              <a:spLocks noChangeShapeType="1"/>
            </p:cNvSpPr>
            <p:nvPr/>
          </p:nvSpPr>
          <p:spPr bwMode="auto">
            <a:xfrm flipH="1" flipV="1">
              <a:off x="5594186" y="6346806"/>
              <a:ext cx="79110" cy="30003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grpSp>
      <p:sp>
        <p:nvSpPr>
          <p:cNvPr id="87" name="矩形 86"/>
          <p:cNvSpPr/>
          <p:nvPr/>
        </p:nvSpPr>
        <p:spPr>
          <a:xfrm>
            <a:off x="1103588" y="1554307"/>
            <a:ext cx="7020910" cy="764112"/>
          </a:xfrm>
          <a:prstGeom prst="rect">
            <a:avLst/>
          </a:prstGeom>
          <a:noFill/>
          <a:ln w="28575">
            <a:solidFill>
              <a:srgbClr val="CC00CC"/>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4084428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8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7" grpId="0" animBg="1"/>
    </p:bldLst>
  </p:timing>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146230" y="582898"/>
            <a:ext cx="487024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SMI </a:t>
            </a:r>
            <a:r>
              <a:rPr lang="zh-CN" altLang="en-US" sz="2000" b="1" dirty="0">
                <a:solidFill>
                  <a:schemeClr val="bg1"/>
                </a:solidFill>
                <a:latin typeface="微软雅黑 Light" panose="020B0502040204020203" pitchFamily="34" charset="-122"/>
                <a:ea typeface="微软雅黑 Light" panose="020B0502040204020203" pitchFamily="34" charset="-122"/>
              </a:rPr>
              <a:t>规定：所有被管对象必须在</a:t>
            </a:r>
            <a:r>
              <a:rPr lang="zh-CN" altLang="en-US" sz="2000" b="1" dirty="0">
                <a:solidFill>
                  <a:srgbClr val="FFFF00"/>
                </a:solidFill>
                <a:latin typeface="微软雅黑 Light" panose="020B0502040204020203" pitchFamily="34" charset="-122"/>
                <a:ea typeface="微软雅黑 Light" panose="020B0502040204020203" pitchFamily="34" charset="-122"/>
              </a:rPr>
              <a:t>命名树</a:t>
            </a:r>
            <a:r>
              <a:rPr lang="zh-CN" altLang="en-US" sz="2000" b="1" dirty="0">
                <a:solidFill>
                  <a:schemeClr val="bg1"/>
                </a:solidFill>
                <a:latin typeface="微软雅黑 Light" panose="020B0502040204020203" pitchFamily="34" charset="-122"/>
                <a:ea typeface="微软雅黑 Light" panose="020B0502040204020203" pitchFamily="34" charset="-122"/>
              </a:rPr>
              <a:t>上</a:t>
            </a:r>
          </a:p>
        </p:txBody>
      </p:sp>
      <p:grpSp>
        <p:nvGrpSpPr>
          <p:cNvPr id="86" name="组合 85"/>
          <p:cNvGrpSpPr/>
          <p:nvPr/>
        </p:nvGrpSpPr>
        <p:grpSpPr>
          <a:xfrm>
            <a:off x="1671762" y="1021028"/>
            <a:ext cx="5826927" cy="3317604"/>
            <a:chOff x="56456" y="1036082"/>
            <a:chExt cx="10454814" cy="5952524"/>
          </a:xfrm>
        </p:grpSpPr>
        <p:sp>
          <p:nvSpPr>
            <p:cNvPr id="5" name="Text Box 105"/>
            <p:cNvSpPr txBox="1">
              <a:spLocks noChangeArrowheads="1"/>
            </p:cNvSpPr>
            <p:nvPr/>
          </p:nvSpPr>
          <p:spPr bwMode="auto">
            <a:xfrm>
              <a:off x="4141616" y="1036082"/>
              <a:ext cx="607442" cy="496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zh-CN" altLang="en-US" sz="1200" b="1" dirty="0">
                  <a:solidFill>
                    <a:schemeClr val="tx1"/>
                  </a:solidFill>
                  <a:latin typeface="微软雅黑 Light" panose="020B0502040204020203" pitchFamily="34" charset="-122"/>
                  <a:ea typeface="微软雅黑 Light" panose="020B0502040204020203" pitchFamily="34" charset="-122"/>
                </a:rPr>
                <a:t>根</a:t>
              </a:r>
            </a:p>
          </p:txBody>
        </p:sp>
        <p:sp>
          <p:nvSpPr>
            <p:cNvPr id="6" name="Text Box 106"/>
            <p:cNvSpPr txBox="1">
              <a:spLocks noChangeArrowheads="1"/>
            </p:cNvSpPr>
            <p:nvPr/>
          </p:nvSpPr>
          <p:spPr bwMode="auto">
            <a:xfrm>
              <a:off x="4157825" y="1548496"/>
              <a:ext cx="9180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a:solidFill>
                    <a:schemeClr val="tx1"/>
                  </a:solidFill>
                  <a:latin typeface="微软雅黑 Light" panose="020B0502040204020203" pitchFamily="34" charset="-122"/>
                  <a:ea typeface="微软雅黑 Light" panose="020B0502040204020203" pitchFamily="34" charset="-122"/>
                </a:rPr>
                <a:t> (1)</a:t>
              </a:r>
            </a:p>
          </p:txBody>
        </p:sp>
        <p:sp>
          <p:nvSpPr>
            <p:cNvPr id="7" name="Text Box 107"/>
            <p:cNvSpPr txBox="1">
              <a:spLocks noChangeArrowheads="1"/>
            </p:cNvSpPr>
            <p:nvPr/>
          </p:nvSpPr>
          <p:spPr bwMode="auto">
            <a:xfrm>
              <a:off x="3019659" y="1601767"/>
              <a:ext cx="109926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(0)</a:t>
              </a:r>
            </a:p>
          </p:txBody>
        </p:sp>
        <p:sp>
          <p:nvSpPr>
            <p:cNvPr id="8" name="Text Box 108"/>
            <p:cNvSpPr txBox="1">
              <a:spLocks noChangeArrowheads="1"/>
            </p:cNvSpPr>
            <p:nvPr/>
          </p:nvSpPr>
          <p:spPr bwMode="auto">
            <a:xfrm>
              <a:off x="5203793" y="1601767"/>
              <a:ext cx="1481791"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9" name="Text Box 109"/>
            <p:cNvSpPr txBox="1">
              <a:spLocks noChangeArrowheads="1"/>
            </p:cNvSpPr>
            <p:nvPr/>
          </p:nvSpPr>
          <p:spPr bwMode="auto">
            <a:xfrm>
              <a:off x="3994445" y="2416859"/>
              <a:ext cx="108488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dod</a:t>
              </a:r>
              <a:r>
                <a:rPr kumimoji="1" lang="en-US" altLang="zh-CN" sz="1000" b="1" dirty="0">
                  <a:solidFill>
                    <a:schemeClr val="tx1"/>
                  </a:solidFill>
                  <a:latin typeface="微软雅黑 Light" panose="020B0502040204020203" pitchFamily="34" charset="-122"/>
                  <a:ea typeface="微软雅黑 Light" panose="020B0502040204020203" pitchFamily="34" charset="-122"/>
                </a:rPr>
                <a:t> (6)</a:t>
              </a:r>
            </a:p>
          </p:txBody>
        </p:sp>
        <p:sp>
          <p:nvSpPr>
            <p:cNvPr id="10" name="Text Box 110"/>
            <p:cNvSpPr txBox="1">
              <a:spLocks noChangeArrowheads="1"/>
            </p:cNvSpPr>
            <p:nvPr/>
          </p:nvSpPr>
          <p:spPr bwMode="auto">
            <a:xfrm>
              <a:off x="3745074" y="2859771"/>
              <a:ext cx="503383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internet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 (</a:t>
              </a:r>
              <a:r>
                <a:rPr kumimoji="1" lang="en-US" altLang="zh-CN" sz="1000" b="1" dirty="0" err="1">
                  <a:solidFill>
                    <a:schemeClr val="tx1"/>
                  </a:solidFill>
                  <a:latin typeface="微软雅黑 Light" panose="020B0502040204020203" pitchFamily="34" charset="-122"/>
                  <a:ea typeface="微软雅黑 Light" panose="020B0502040204020203" pitchFamily="34" charset="-122"/>
                  <a:sym typeface="Symbol" pitchFamily="18" charset="2"/>
                </a:rPr>
                <a:t>iso.org.dod.internet</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a:t>
              </a:r>
              <a:endParaRPr kumimoji="1" lang="en-US" altLang="zh-CN" sz="1000" b="1" dirty="0">
                <a:solidFill>
                  <a:schemeClr val="tx1"/>
                </a:solidFill>
                <a:latin typeface="微软雅黑 Light" panose="020B0502040204020203" pitchFamily="34" charset="-122"/>
                <a:ea typeface="微软雅黑 Light" panose="020B0502040204020203" pitchFamily="34" charset="-122"/>
              </a:endParaRPr>
            </a:p>
          </p:txBody>
        </p:sp>
        <p:sp>
          <p:nvSpPr>
            <p:cNvPr id="11" name="Text Box 111"/>
            <p:cNvSpPr txBox="1">
              <a:spLocks noChangeArrowheads="1"/>
            </p:cNvSpPr>
            <p:nvPr/>
          </p:nvSpPr>
          <p:spPr bwMode="auto">
            <a:xfrm>
              <a:off x="3963489" y="3304272"/>
              <a:ext cx="12890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mgmt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12" name="Text Box 112"/>
            <p:cNvSpPr txBox="1">
              <a:spLocks noChangeArrowheads="1"/>
            </p:cNvSpPr>
            <p:nvPr/>
          </p:nvSpPr>
          <p:spPr bwMode="auto">
            <a:xfrm>
              <a:off x="3978966" y="3828145"/>
              <a:ext cx="653230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mib-2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 (iso.org.dod.internet.mgmt.mib-2)</a:t>
              </a:r>
            </a:p>
          </p:txBody>
        </p:sp>
        <p:sp>
          <p:nvSpPr>
            <p:cNvPr id="13" name="Line 113"/>
            <p:cNvSpPr>
              <a:spLocks noChangeShapeType="1"/>
            </p:cNvSpPr>
            <p:nvPr/>
          </p:nvSpPr>
          <p:spPr bwMode="auto">
            <a:xfrm>
              <a:off x="4443645" y="1465242"/>
              <a:ext cx="0" cy="198438"/>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4" name="Line 114"/>
            <p:cNvSpPr>
              <a:spLocks noChangeShapeType="1"/>
            </p:cNvSpPr>
            <p:nvPr/>
          </p:nvSpPr>
          <p:spPr bwMode="auto">
            <a:xfrm flipH="1">
              <a:off x="4443646" y="2741593"/>
              <a:ext cx="1719" cy="2587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5" name="Line 115"/>
            <p:cNvSpPr>
              <a:spLocks noChangeShapeType="1"/>
            </p:cNvSpPr>
            <p:nvPr/>
          </p:nvSpPr>
          <p:spPr bwMode="auto">
            <a:xfrm flipH="1">
              <a:off x="4443645" y="3209906"/>
              <a:ext cx="0" cy="25558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6" name="Line 116"/>
            <p:cNvSpPr>
              <a:spLocks noChangeShapeType="1"/>
            </p:cNvSpPr>
            <p:nvPr/>
          </p:nvSpPr>
          <p:spPr bwMode="auto">
            <a:xfrm flipV="1">
              <a:off x="3968983" y="3209906"/>
              <a:ext cx="467783" cy="2174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7" name="Line 117"/>
            <p:cNvSpPr>
              <a:spLocks noChangeShapeType="1"/>
            </p:cNvSpPr>
            <p:nvPr/>
          </p:nvSpPr>
          <p:spPr bwMode="auto">
            <a:xfrm>
              <a:off x="4445364" y="3213080"/>
              <a:ext cx="440267" cy="1508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8" name="Text Box 118"/>
            <p:cNvSpPr txBox="1">
              <a:spLocks noChangeArrowheads="1"/>
            </p:cNvSpPr>
            <p:nvPr/>
          </p:nvSpPr>
          <p:spPr bwMode="auto">
            <a:xfrm>
              <a:off x="4030561" y="1951723"/>
              <a:ext cx="1030236"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org (3)</a:t>
              </a:r>
            </a:p>
          </p:txBody>
        </p:sp>
        <p:sp>
          <p:nvSpPr>
            <p:cNvPr id="19" name="Line 119"/>
            <p:cNvSpPr>
              <a:spLocks noChangeShapeType="1"/>
            </p:cNvSpPr>
            <p:nvPr/>
          </p:nvSpPr>
          <p:spPr bwMode="auto">
            <a:xfrm>
              <a:off x="4452243" y="1473181"/>
              <a:ext cx="1073150" cy="1793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0" name="Line 120"/>
            <p:cNvSpPr>
              <a:spLocks noChangeShapeType="1"/>
            </p:cNvSpPr>
            <p:nvPr/>
          </p:nvSpPr>
          <p:spPr bwMode="auto">
            <a:xfrm flipV="1">
              <a:off x="3430688" y="1470005"/>
              <a:ext cx="1009518" cy="2143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1" name="Line 121"/>
            <p:cNvSpPr>
              <a:spLocks noChangeShapeType="1"/>
            </p:cNvSpPr>
            <p:nvPr/>
          </p:nvSpPr>
          <p:spPr bwMode="auto">
            <a:xfrm flipH="1">
              <a:off x="4067010" y="1873231"/>
              <a:ext cx="359437" cy="111125"/>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2" name="Line 122"/>
            <p:cNvSpPr>
              <a:spLocks noChangeShapeType="1"/>
            </p:cNvSpPr>
            <p:nvPr/>
          </p:nvSpPr>
          <p:spPr bwMode="auto">
            <a:xfrm>
              <a:off x="4440206" y="1870055"/>
              <a:ext cx="407590" cy="1143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3" name="Line 123"/>
            <p:cNvSpPr>
              <a:spLocks noChangeShapeType="1"/>
            </p:cNvSpPr>
            <p:nvPr/>
          </p:nvSpPr>
          <p:spPr bwMode="auto">
            <a:xfrm flipH="1">
              <a:off x="4443645" y="1868467"/>
              <a:ext cx="0" cy="17780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4" name="Line 124"/>
            <p:cNvSpPr>
              <a:spLocks noChangeShapeType="1"/>
            </p:cNvSpPr>
            <p:nvPr/>
          </p:nvSpPr>
          <p:spPr bwMode="auto">
            <a:xfrm>
              <a:off x="4443645" y="2355831"/>
              <a:ext cx="0" cy="18573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5" name="Line 125"/>
            <p:cNvSpPr>
              <a:spLocks noChangeShapeType="1"/>
            </p:cNvSpPr>
            <p:nvPr/>
          </p:nvSpPr>
          <p:spPr bwMode="auto">
            <a:xfrm>
              <a:off x="4452244" y="2359005"/>
              <a:ext cx="390393" cy="14446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6" name="Line 126"/>
            <p:cNvSpPr>
              <a:spLocks noChangeShapeType="1"/>
            </p:cNvSpPr>
            <p:nvPr/>
          </p:nvSpPr>
          <p:spPr bwMode="auto">
            <a:xfrm flipH="1">
              <a:off x="3981020" y="2360593"/>
              <a:ext cx="454025" cy="1444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7" name="AutoShape 127"/>
            <p:cNvSpPr>
              <a:spLocks noChangeArrowheads="1"/>
            </p:cNvSpPr>
            <p:nvPr/>
          </p:nvSpPr>
          <p:spPr bwMode="auto">
            <a:xfrm>
              <a:off x="5313180" y="2997849"/>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8" name="AutoShape 128"/>
            <p:cNvSpPr>
              <a:spLocks noChangeArrowheads="1"/>
            </p:cNvSpPr>
            <p:nvPr/>
          </p:nvSpPr>
          <p:spPr bwMode="auto">
            <a:xfrm>
              <a:off x="5390570" y="3966224"/>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9" name="Line 129"/>
            <p:cNvSpPr>
              <a:spLocks noChangeShapeType="1"/>
            </p:cNvSpPr>
            <p:nvPr/>
          </p:nvSpPr>
          <p:spPr bwMode="auto">
            <a:xfrm>
              <a:off x="4448804" y="3659168"/>
              <a:ext cx="1720" cy="276225"/>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30" name="Rectangle 130"/>
            <p:cNvSpPr>
              <a:spLocks noChangeArrowheads="1"/>
            </p:cNvSpPr>
            <p:nvPr/>
          </p:nvSpPr>
          <p:spPr bwMode="auto">
            <a:xfrm>
              <a:off x="56456" y="4294167"/>
              <a:ext cx="9245600" cy="1703388"/>
            </a:xfrm>
            <a:prstGeom prst="rect">
              <a:avLst/>
            </a:prstGeom>
            <a:solidFill>
              <a:srgbClr val="00FFCC"/>
            </a:solidFill>
            <a:ln>
              <a:noFill/>
            </a:ln>
            <a:effectLst/>
            <a:extLst>
              <a:ext uri="{91240B29-F687-4F45-9708-019B960494DF}">
                <a14:hiddenLine xmlns:a14="http://schemas.microsoft.com/office/drawing/2010/main" w="1905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31" name="Text Box 131"/>
            <p:cNvSpPr txBox="1">
              <a:spLocks noChangeArrowheads="1"/>
            </p:cNvSpPr>
            <p:nvPr/>
          </p:nvSpPr>
          <p:spPr bwMode="auto">
            <a:xfrm>
              <a:off x="72398" y="5114694"/>
              <a:ext cx="1271832"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system(1)</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2" name="Text Box 132"/>
            <p:cNvSpPr txBox="1">
              <a:spLocks noChangeArrowheads="1"/>
            </p:cNvSpPr>
            <p:nvPr/>
          </p:nvSpPr>
          <p:spPr bwMode="auto">
            <a:xfrm>
              <a:off x="1290012" y="5095642"/>
              <a:ext cx="149617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interface(2)</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3" name="Text Box 133"/>
            <p:cNvSpPr txBox="1">
              <a:spLocks noChangeArrowheads="1"/>
            </p:cNvSpPr>
            <p:nvPr/>
          </p:nvSpPr>
          <p:spPr bwMode="auto">
            <a:xfrm>
              <a:off x="2707119" y="5095642"/>
              <a:ext cx="7972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at(3)</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4" name="Text Box 134"/>
            <p:cNvSpPr txBox="1">
              <a:spLocks noChangeArrowheads="1"/>
            </p:cNvSpPr>
            <p:nvPr/>
          </p:nvSpPr>
          <p:spPr bwMode="auto">
            <a:xfrm>
              <a:off x="3518860" y="5095642"/>
              <a:ext cx="79151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a:t>
              </a:r>
              <a:r>
                <a:rPr kumimoji="1" lang="en-US" altLang="zh-CN" sz="1000" b="1" dirty="0">
                  <a:solidFill>
                    <a:schemeClr val="tx1"/>
                  </a:solidFill>
                  <a:latin typeface="微软雅黑 Light" panose="020B0502040204020203" pitchFamily="34" charset="-122"/>
                  <a:ea typeface="微软雅黑 Light" panose="020B0502040204020203" pitchFamily="34" charset="-122"/>
                </a:rPr>
                <a:t>(4)</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5" name="Text Box 135"/>
            <p:cNvSpPr txBox="1">
              <a:spLocks noChangeArrowheads="1"/>
            </p:cNvSpPr>
            <p:nvPr/>
          </p:nvSpPr>
          <p:spPr bwMode="auto">
            <a:xfrm>
              <a:off x="4289327" y="5095642"/>
              <a:ext cx="110214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icmp</a:t>
              </a:r>
              <a:r>
                <a:rPr kumimoji="1" lang="en-US" altLang="zh-CN" sz="1000" b="1" dirty="0">
                  <a:solidFill>
                    <a:schemeClr val="tx1"/>
                  </a:solidFill>
                  <a:latin typeface="微软雅黑 Light" panose="020B0502040204020203" pitchFamily="34" charset="-122"/>
                  <a:ea typeface="微软雅黑 Light" panose="020B0502040204020203" pitchFamily="34" charset="-122"/>
                </a:rPr>
                <a:t>(5)</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6" name="Text Box 136"/>
            <p:cNvSpPr txBox="1">
              <a:spLocks noChangeArrowheads="1"/>
            </p:cNvSpPr>
            <p:nvPr/>
          </p:nvSpPr>
          <p:spPr bwMode="auto">
            <a:xfrm>
              <a:off x="5389994" y="5095642"/>
              <a:ext cx="92094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tcp</a:t>
              </a:r>
              <a:r>
                <a:rPr kumimoji="1" lang="en-US" altLang="zh-CN" sz="1000" b="1" dirty="0">
                  <a:solidFill>
                    <a:schemeClr val="tx1"/>
                  </a:solidFill>
                  <a:latin typeface="微软雅黑 Light" panose="020B0502040204020203" pitchFamily="34" charset="-122"/>
                  <a:ea typeface="微软雅黑 Light" panose="020B0502040204020203" pitchFamily="34" charset="-122"/>
                </a:rPr>
                <a:t>(6)</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7" name="Text Box 137"/>
            <p:cNvSpPr txBox="1">
              <a:spLocks noChangeArrowheads="1"/>
            </p:cNvSpPr>
            <p:nvPr/>
          </p:nvSpPr>
          <p:spPr bwMode="auto">
            <a:xfrm>
              <a:off x="62292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udp</a:t>
              </a:r>
              <a:r>
                <a:rPr kumimoji="1" lang="en-US" altLang="zh-CN" sz="1000" b="1" dirty="0">
                  <a:solidFill>
                    <a:schemeClr val="tx1"/>
                  </a:solidFill>
                  <a:latin typeface="微软雅黑 Light" panose="020B0502040204020203" pitchFamily="34" charset="-122"/>
                  <a:ea typeface="微软雅黑 Light" panose="020B0502040204020203" pitchFamily="34" charset="-122"/>
                </a:rPr>
                <a:t>(7)</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8" name="Text Box 138"/>
            <p:cNvSpPr txBox="1">
              <a:spLocks noChangeArrowheads="1"/>
            </p:cNvSpPr>
            <p:nvPr/>
          </p:nvSpPr>
          <p:spPr bwMode="auto">
            <a:xfrm>
              <a:off x="72198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egp</a:t>
              </a:r>
              <a:r>
                <a:rPr kumimoji="1" lang="en-US" altLang="zh-CN" sz="1000" b="1" dirty="0">
                  <a:solidFill>
                    <a:schemeClr val="tx1"/>
                  </a:solidFill>
                  <a:latin typeface="微软雅黑 Light" panose="020B0502040204020203" pitchFamily="34" charset="-122"/>
                  <a:ea typeface="微软雅黑 Light" panose="020B0502040204020203" pitchFamily="34" charset="-122"/>
                </a:rPr>
                <a:t>(8)</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9" name="Line 139"/>
            <p:cNvSpPr>
              <a:spLocks noChangeShapeType="1"/>
            </p:cNvSpPr>
            <p:nvPr/>
          </p:nvSpPr>
          <p:spPr bwMode="auto">
            <a:xfrm flipH="1">
              <a:off x="3936306" y="4452917"/>
              <a:ext cx="50390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0" name="Line 140"/>
            <p:cNvSpPr>
              <a:spLocks noChangeShapeType="1"/>
            </p:cNvSpPr>
            <p:nvPr/>
          </p:nvSpPr>
          <p:spPr bwMode="auto">
            <a:xfrm flipV="1">
              <a:off x="716856" y="4452917"/>
              <a:ext cx="37233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1" name="Line 141"/>
            <p:cNvSpPr>
              <a:spLocks noChangeShapeType="1"/>
            </p:cNvSpPr>
            <p:nvPr/>
          </p:nvSpPr>
          <p:spPr bwMode="auto">
            <a:xfrm flipV="1">
              <a:off x="2037656" y="4452917"/>
              <a:ext cx="24025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2" name="Line 142"/>
            <p:cNvSpPr>
              <a:spLocks noChangeShapeType="1"/>
            </p:cNvSpPr>
            <p:nvPr/>
          </p:nvSpPr>
          <p:spPr bwMode="auto">
            <a:xfrm flipV="1">
              <a:off x="3193356" y="4452917"/>
              <a:ext cx="12468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3" name="Line 143"/>
            <p:cNvSpPr>
              <a:spLocks noChangeShapeType="1"/>
            </p:cNvSpPr>
            <p:nvPr/>
          </p:nvSpPr>
          <p:spPr bwMode="auto">
            <a:xfrm flipH="1" flipV="1">
              <a:off x="4440205" y="4452917"/>
              <a:ext cx="4041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4" name="Line 144"/>
            <p:cNvSpPr>
              <a:spLocks noChangeShapeType="1"/>
            </p:cNvSpPr>
            <p:nvPr/>
          </p:nvSpPr>
          <p:spPr bwMode="auto">
            <a:xfrm flipH="1" flipV="1">
              <a:off x="4440205" y="4452917"/>
              <a:ext cx="13947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5" name="Line 145"/>
            <p:cNvSpPr>
              <a:spLocks noChangeShapeType="1"/>
            </p:cNvSpPr>
            <p:nvPr/>
          </p:nvSpPr>
          <p:spPr bwMode="auto">
            <a:xfrm flipH="1" flipV="1">
              <a:off x="4440205" y="4452917"/>
              <a:ext cx="23028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6" name="Line 146"/>
            <p:cNvSpPr>
              <a:spLocks noChangeShapeType="1"/>
            </p:cNvSpPr>
            <p:nvPr/>
          </p:nvSpPr>
          <p:spPr bwMode="auto">
            <a:xfrm flipH="1" flipV="1">
              <a:off x="4440205" y="4452917"/>
              <a:ext cx="32934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7" name="Line 147"/>
            <p:cNvSpPr>
              <a:spLocks noChangeShapeType="1"/>
            </p:cNvSpPr>
            <p:nvPr/>
          </p:nvSpPr>
          <p:spPr bwMode="auto">
            <a:xfrm>
              <a:off x="634306"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8" name="Line 148"/>
            <p:cNvSpPr>
              <a:spLocks noChangeShapeType="1"/>
            </p:cNvSpPr>
            <p:nvPr/>
          </p:nvSpPr>
          <p:spPr bwMode="auto">
            <a:xfrm>
              <a:off x="7168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9" name="Line 149"/>
            <p:cNvSpPr>
              <a:spLocks noChangeShapeType="1"/>
            </p:cNvSpPr>
            <p:nvPr/>
          </p:nvSpPr>
          <p:spPr bwMode="auto">
            <a:xfrm flipH="1">
              <a:off x="3866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0" name="Text Box 150"/>
            <p:cNvSpPr txBox="1">
              <a:spLocks noChangeArrowheads="1"/>
            </p:cNvSpPr>
            <p:nvPr/>
          </p:nvSpPr>
          <p:spPr bwMode="auto">
            <a:xfrm>
              <a:off x="372898"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1" name="Line 151"/>
            <p:cNvSpPr>
              <a:spLocks noChangeShapeType="1"/>
            </p:cNvSpPr>
            <p:nvPr/>
          </p:nvSpPr>
          <p:spPr bwMode="auto">
            <a:xfrm>
              <a:off x="1851918"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2" name="Line 152"/>
            <p:cNvSpPr>
              <a:spLocks noChangeShapeType="1"/>
            </p:cNvSpPr>
            <p:nvPr/>
          </p:nvSpPr>
          <p:spPr bwMode="auto">
            <a:xfrm>
              <a:off x="19344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3" name="Line 153"/>
            <p:cNvSpPr>
              <a:spLocks noChangeShapeType="1"/>
            </p:cNvSpPr>
            <p:nvPr/>
          </p:nvSpPr>
          <p:spPr bwMode="auto">
            <a:xfrm flipH="1">
              <a:off x="16042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4" name="Text Box 154"/>
            <p:cNvSpPr txBox="1">
              <a:spLocks noChangeArrowheads="1"/>
            </p:cNvSpPr>
            <p:nvPr/>
          </p:nvSpPr>
          <p:spPr bwMode="auto">
            <a:xfrm>
              <a:off x="1590511"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5" name="Line 155"/>
            <p:cNvSpPr>
              <a:spLocks noChangeShapeType="1"/>
            </p:cNvSpPr>
            <p:nvPr/>
          </p:nvSpPr>
          <p:spPr bwMode="auto">
            <a:xfrm>
              <a:off x="3069531"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6" name="Line 156"/>
            <p:cNvSpPr>
              <a:spLocks noChangeShapeType="1"/>
            </p:cNvSpPr>
            <p:nvPr/>
          </p:nvSpPr>
          <p:spPr bwMode="auto">
            <a:xfrm>
              <a:off x="31520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7" name="Line 157"/>
            <p:cNvSpPr>
              <a:spLocks noChangeShapeType="1"/>
            </p:cNvSpPr>
            <p:nvPr/>
          </p:nvSpPr>
          <p:spPr bwMode="auto">
            <a:xfrm flipH="1">
              <a:off x="28218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8" name="Text Box 158"/>
            <p:cNvSpPr txBox="1">
              <a:spLocks noChangeArrowheads="1"/>
            </p:cNvSpPr>
            <p:nvPr/>
          </p:nvSpPr>
          <p:spPr bwMode="auto">
            <a:xfrm>
              <a:off x="2808123"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9" name="Line 159"/>
            <p:cNvSpPr>
              <a:spLocks noChangeShapeType="1"/>
            </p:cNvSpPr>
            <p:nvPr/>
          </p:nvSpPr>
          <p:spPr bwMode="auto">
            <a:xfrm>
              <a:off x="40326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0" name="Line 160"/>
            <p:cNvSpPr>
              <a:spLocks noChangeShapeType="1"/>
            </p:cNvSpPr>
            <p:nvPr/>
          </p:nvSpPr>
          <p:spPr bwMode="auto">
            <a:xfrm flipH="1">
              <a:off x="37024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1" name="Text Box 161"/>
            <p:cNvSpPr txBox="1">
              <a:spLocks noChangeArrowheads="1"/>
            </p:cNvSpPr>
            <p:nvPr/>
          </p:nvSpPr>
          <p:spPr bwMode="auto">
            <a:xfrm>
              <a:off x="384859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2" name="Line 162"/>
            <p:cNvSpPr>
              <a:spLocks noChangeShapeType="1"/>
            </p:cNvSpPr>
            <p:nvPr/>
          </p:nvSpPr>
          <p:spPr bwMode="auto">
            <a:xfrm>
              <a:off x="48581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3" name="Line 163"/>
            <p:cNvSpPr>
              <a:spLocks noChangeShapeType="1"/>
            </p:cNvSpPr>
            <p:nvPr/>
          </p:nvSpPr>
          <p:spPr bwMode="auto">
            <a:xfrm>
              <a:off x="49406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4" name="Line 164"/>
            <p:cNvSpPr>
              <a:spLocks noChangeShapeType="1"/>
            </p:cNvSpPr>
            <p:nvPr/>
          </p:nvSpPr>
          <p:spPr bwMode="auto">
            <a:xfrm flipH="1">
              <a:off x="46104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5" name="Text Box 165"/>
            <p:cNvSpPr txBox="1">
              <a:spLocks noChangeArrowheads="1"/>
            </p:cNvSpPr>
            <p:nvPr/>
          </p:nvSpPr>
          <p:spPr bwMode="auto">
            <a:xfrm>
              <a:off x="459670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6" name="Line 166"/>
            <p:cNvSpPr>
              <a:spLocks noChangeShapeType="1"/>
            </p:cNvSpPr>
            <p:nvPr/>
          </p:nvSpPr>
          <p:spPr bwMode="auto">
            <a:xfrm>
              <a:off x="58487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7" name="Line 167"/>
            <p:cNvSpPr>
              <a:spLocks noChangeShapeType="1"/>
            </p:cNvSpPr>
            <p:nvPr/>
          </p:nvSpPr>
          <p:spPr bwMode="auto">
            <a:xfrm>
              <a:off x="59312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8" name="Line 168"/>
            <p:cNvSpPr>
              <a:spLocks noChangeShapeType="1"/>
            </p:cNvSpPr>
            <p:nvPr/>
          </p:nvSpPr>
          <p:spPr bwMode="auto">
            <a:xfrm flipH="1">
              <a:off x="56010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9" name="Text Box 169"/>
            <p:cNvSpPr txBox="1">
              <a:spLocks noChangeArrowheads="1"/>
            </p:cNvSpPr>
            <p:nvPr/>
          </p:nvSpPr>
          <p:spPr bwMode="auto">
            <a:xfrm>
              <a:off x="558730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0" name="Line 170"/>
            <p:cNvSpPr>
              <a:spLocks noChangeShapeType="1"/>
            </p:cNvSpPr>
            <p:nvPr/>
          </p:nvSpPr>
          <p:spPr bwMode="auto">
            <a:xfrm>
              <a:off x="77473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1" name="Line 171"/>
            <p:cNvSpPr>
              <a:spLocks noChangeShapeType="1"/>
            </p:cNvSpPr>
            <p:nvPr/>
          </p:nvSpPr>
          <p:spPr bwMode="auto">
            <a:xfrm>
              <a:off x="78299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2" name="Line 172"/>
            <p:cNvSpPr>
              <a:spLocks noChangeShapeType="1"/>
            </p:cNvSpPr>
            <p:nvPr/>
          </p:nvSpPr>
          <p:spPr bwMode="auto">
            <a:xfrm flipH="1">
              <a:off x="74997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3" name="Text Box 173"/>
            <p:cNvSpPr txBox="1">
              <a:spLocks noChangeArrowheads="1"/>
            </p:cNvSpPr>
            <p:nvPr/>
          </p:nvSpPr>
          <p:spPr bwMode="auto">
            <a:xfrm>
              <a:off x="748595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4" name="Line 174"/>
            <p:cNvSpPr>
              <a:spLocks noChangeShapeType="1"/>
            </p:cNvSpPr>
            <p:nvPr/>
          </p:nvSpPr>
          <p:spPr bwMode="auto">
            <a:xfrm>
              <a:off x="67567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5" name="Line 175"/>
            <p:cNvSpPr>
              <a:spLocks noChangeShapeType="1"/>
            </p:cNvSpPr>
            <p:nvPr/>
          </p:nvSpPr>
          <p:spPr bwMode="auto">
            <a:xfrm>
              <a:off x="68393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6" name="Line 176"/>
            <p:cNvSpPr>
              <a:spLocks noChangeShapeType="1"/>
            </p:cNvSpPr>
            <p:nvPr/>
          </p:nvSpPr>
          <p:spPr bwMode="auto">
            <a:xfrm flipH="1">
              <a:off x="65091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7" name="Text Box 177"/>
            <p:cNvSpPr txBox="1">
              <a:spLocks noChangeArrowheads="1"/>
            </p:cNvSpPr>
            <p:nvPr/>
          </p:nvSpPr>
          <p:spPr bwMode="auto">
            <a:xfrm>
              <a:off x="649535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8" name="Text Box 178"/>
            <p:cNvSpPr txBox="1">
              <a:spLocks noChangeArrowheads="1"/>
            </p:cNvSpPr>
            <p:nvPr/>
          </p:nvSpPr>
          <p:spPr bwMode="auto">
            <a:xfrm>
              <a:off x="8394006" y="5129193"/>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9" name="Line 179"/>
            <p:cNvSpPr>
              <a:spLocks noChangeShapeType="1"/>
            </p:cNvSpPr>
            <p:nvPr/>
          </p:nvSpPr>
          <p:spPr bwMode="auto">
            <a:xfrm flipH="1">
              <a:off x="4441925" y="4151293"/>
              <a:ext cx="3440" cy="3095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0" name="Line 180"/>
            <p:cNvSpPr>
              <a:spLocks noChangeShapeType="1"/>
            </p:cNvSpPr>
            <p:nvPr/>
          </p:nvSpPr>
          <p:spPr bwMode="auto">
            <a:xfrm flipH="1">
              <a:off x="3745409" y="5494318"/>
              <a:ext cx="211534" cy="6397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1" name="Text Box 181"/>
            <p:cNvSpPr txBox="1">
              <a:spLocks noChangeArrowheads="1"/>
            </p:cNvSpPr>
            <p:nvPr/>
          </p:nvSpPr>
          <p:spPr bwMode="auto">
            <a:xfrm>
              <a:off x="2785765" y="6021367"/>
              <a:ext cx="198799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ipInReceives</a:t>
              </a:r>
              <a:r>
                <a:rPr kumimoji="1" lang="en-US" altLang="zh-CN" sz="1000" b="1" dirty="0">
                  <a:solidFill>
                    <a:schemeClr val="tx1"/>
                  </a:solidFill>
                  <a:latin typeface="微软雅黑 Light" panose="020B0502040204020203" pitchFamily="34" charset="-122"/>
                  <a:ea typeface="微软雅黑 Light" panose="020B0502040204020203" pitchFamily="34" charset="-122"/>
                </a:rPr>
                <a:t>(3) </a:t>
              </a:r>
            </a:p>
          </p:txBody>
        </p:sp>
        <p:sp>
          <p:nvSpPr>
            <p:cNvPr id="82" name="AutoShape 182"/>
            <p:cNvSpPr>
              <a:spLocks noChangeArrowheads="1"/>
            </p:cNvSpPr>
            <p:nvPr/>
          </p:nvSpPr>
          <p:spPr bwMode="auto">
            <a:xfrm>
              <a:off x="4733988" y="6134963"/>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83" name="Text Box 183"/>
            <p:cNvSpPr txBox="1">
              <a:spLocks noChangeArrowheads="1"/>
            </p:cNvSpPr>
            <p:nvPr/>
          </p:nvSpPr>
          <p:spPr bwMode="auto">
            <a:xfrm>
              <a:off x="5130298" y="6021367"/>
              <a:ext cx="163135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1.3.6.1.2.1.4.3</a:t>
              </a:r>
            </a:p>
          </p:txBody>
        </p:sp>
        <p:sp>
          <p:nvSpPr>
            <p:cNvPr id="84" name="Text Box 184"/>
            <p:cNvSpPr txBox="1">
              <a:spLocks noChangeArrowheads="1"/>
            </p:cNvSpPr>
            <p:nvPr/>
          </p:nvSpPr>
          <p:spPr bwMode="auto">
            <a:xfrm>
              <a:off x="3119405" y="6546830"/>
              <a:ext cx="53645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(iso.org.dod.internet.mgmt.mib-2.ip.ipinreceives)</a:t>
              </a:r>
            </a:p>
          </p:txBody>
        </p:sp>
        <p:sp>
          <p:nvSpPr>
            <p:cNvPr id="85" name="Line 185"/>
            <p:cNvSpPr>
              <a:spLocks noChangeShapeType="1"/>
            </p:cNvSpPr>
            <p:nvPr/>
          </p:nvSpPr>
          <p:spPr bwMode="auto">
            <a:xfrm flipH="1" flipV="1">
              <a:off x="5594186" y="6346806"/>
              <a:ext cx="79110" cy="30003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grpSp>
      <p:sp>
        <p:nvSpPr>
          <p:cNvPr id="87" name="矩形 86"/>
          <p:cNvSpPr/>
          <p:nvPr/>
        </p:nvSpPr>
        <p:spPr>
          <a:xfrm>
            <a:off x="1103588" y="2314729"/>
            <a:ext cx="7020910" cy="1777682"/>
          </a:xfrm>
          <a:prstGeom prst="rect">
            <a:avLst/>
          </a:prstGeom>
          <a:noFill/>
          <a:ln w="28575">
            <a:solidFill>
              <a:srgbClr val="CC00CC"/>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0918094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8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7" grpId="0" animBg="1"/>
    </p:bldLst>
  </p:timing>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09980"/>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606569" y="576769"/>
            <a:ext cx="194957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SMI </a:t>
            </a:r>
            <a:r>
              <a:rPr lang="zh-CN" altLang="en-US" sz="2000" b="1" dirty="0">
                <a:solidFill>
                  <a:schemeClr val="bg1"/>
                </a:solidFill>
                <a:latin typeface="微软雅黑 Light" panose="020B0502040204020203" pitchFamily="34" charset="-122"/>
                <a:ea typeface="微软雅黑 Light" panose="020B0502040204020203" pitchFamily="34" charset="-122"/>
              </a:rPr>
              <a:t>使用 </a:t>
            </a:r>
            <a:r>
              <a:rPr lang="en-US" altLang="zh-CN" sz="2000" b="1" dirty="0">
                <a:solidFill>
                  <a:schemeClr val="bg1"/>
                </a:solidFill>
                <a:latin typeface="微软雅黑 Light" panose="020B0502040204020203" pitchFamily="34" charset="-122"/>
                <a:ea typeface="微软雅黑 Light" panose="020B0502040204020203" pitchFamily="34" charset="-122"/>
              </a:rPr>
              <a:t>ASN.1</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483811" y="971070"/>
            <a:ext cx="8121928"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SMI </a:t>
            </a:r>
            <a:r>
              <a:rPr lang="zh-CN" altLang="en-US" sz="2000" b="1" dirty="0">
                <a:latin typeface="微软雅黑 Light" panose="020B0502040204020203" pitchFamily="34" charset="-122"/>
                <a:ea typeface="微软雅黑 Light" panose="020B0502040204020203" pitchFamily="34" charset="-122"/>
              </a:rPr>
              <a:t>标准指明：所有的 </a:t>
            </a:r>
            <a:r>
              <a:rPr lang="en-US" altLang="zh-CN" sz="2000" b="1" dirty="0">
                <a:latin typeface="微软雅黑 Light" panose="020B0502040204020203" pitchFamily="34" charset="-122"/>
                <a:ea typeface="微软雅黑 Light" panose="020B0502040204020203" pitchFamily="34" charset="-122"/>
              </a:rPr>
              <a:t>MIB </a:t>
            </a:r>
            <a:r>
              <a:rPr lang="zh-CN" altLang="en-US" sz="2000" b="1" dirty="0">
                <a:latin typeface="微软雅黑 Light" panose="020B0502040204020203" pitchFamily="34" charset="-122"/>
                <a:ea typeface="微软雅黑 Light" panose="020B0502040204020203" pitchFamily="34" charset="-122"/>
              </a:rPr>
              <a:t>变量必须使用</a:t>
            </a:r>
            <a:r>
              <a:rPr lang="zh-CN" altLang="en-US" sz="2000" b="1" dirty="0">
                <a:solidFill>
                  <a:srgbClr val="C00000"/>
                </a:solidFill>
                <a:latin typeface="微软雅黑 Light" panose="020B0502040204020203" pitchFamily="34" charset="-122"/>
                <a:ea typeface="微软雅黑 Light" panose="020B0502040204020203" pitchFamily="34" charset="-122"/>
              </a:rPr>
              <a:t>抽象语法记法 </a:t>
            </a:r>
            <a:r>
              <a:rPr lang="en-US" altLang="zh-CN" sz="2000" b="1" dirty="0">
                <a:solidFill>
                  <a:srgbClr val="C00000"/>
                </a:solidFill>
                <a:latin typeface="微软雅黑 Light" panose="020B0502040204020203" pitchFamily="34" charset="-122"/>
                <a:ea typeface="微软雅黑 Light" panose="020B0502040204020203" pitchFamily="34" charset="-122"/>
              </a:rPr>
              <a:t>1 </a:t>
            </a:r>
            <a:r>
              <a:rPr lang="en-US" altLang="zh-CN" sz="2000" b="1" dirty="0">
                <a:latin typeface="微软雅黑 Light" panose="020B0502040204020203" pitchFamily="34" charset="-122"/>
                <a:ea typeface="微软雅黑 Light" panose="020B0502040204020203" pitchFamily="34" charset="-122"/>
              </a:rPr>
              <a:t>(</a:t>
            </a:r>
            <a:r>
              <a:rPr lang="en-US" altLang="zh-CN" sz="2000" b="1" dirty="0">
                <a:solidFill>
                  <a:srgbClr val="C00000"/>
                </a:solidFill>
                <a:latin typeface="微软雅黑 Light" panose="020B0502040204020203" pitchFamily="34" charset="-122"/>
                <a:ea typeface="微软雅黑 Light" panose="020B0502040204020203" pitchFamily="34" charset="-122"/>
              </a:rPr>
              <a:t>ASN.1</a:t>
            </a:r>
            <a:r>
              <a:rPr lang="en-US" altLang="zh-CN" sz="2000" b="1" dirty="0">
                <a:latin typeface="微软雅黑 Light" panose="020B0502040204020203" pitchFamily="34" charset="-122"/>
                <a:ea typeface="微软雅黑 Light" panose="020B0502040204020203" pitchFamily="34" charset="-122"/>
              </a:rPr>
              <a:t>) </a:t>
            </a:r>
            <a:r>
              <a:rPr lang="zh-CN" altLang="en-US" sz="2000" b="1" dirty="0">
                <a:latin typeface="微软雅黑 Light" panose="020B0502040204020203" pitchFamily="34" charset="-122"/>
                <a:ea typeface="微软雅黑 Light" panose="020B0502040204020203" pitchFamily="34" charset="-122"/>
              </a:rPr>
              <a:t>来定义。</a:t>
            </a:r>
          </a:p>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SMI </a:t>
            </a:r>
            <a:r>
              <a:rPr lang="zh-CN" altLang="en-US" sz="2000" b="1" dirty="0">
                <a:latin typeface="微软雅黑 Light" panose="020B0502040204020203" pitchFamily="34" charset="-122"/>
                <a:ea typeface="微软雅黑 Light" panose="020B0502040204020203" pitchFamily="34" charset="-122"/>
              </a:rPr>
              <a:t>既是 </a:t>
            </a:r>
            <a:r>
              <a:rPr lang="en-US" altLang="zh-CN" sz="2000" b="1" dirty="0">
                <a:latin typeface="微软雅黑 Light" panose="020B0502040204020203" pitchFamily="34" charset="-122"/>
                <a:ea typeface="微软雅黑 Light" panose="020B0502040204020203" pitchFamily="34" charset="-122"/>
              </a:rPr>
              <a:t>ASN.1 </a:t>
            </a:r>
            <a:r>
              <a:rPr lang="zh-CN" altLang="en-US" sz="2000" b="1" dirty="0">
                <a:latin typeface="微软雅黑 Light" panose="020B0502040204020203" pitchFamily="34" charset="-122"/>
                <a:ea typeface="微软雅黑 Light" panose="020B0502040204020203" pitchFamily="34" charset="-122"/>
              </a:rPr>
              <a:t>的子集，又是 </a:t>
            </a:r>
            <a:r>
              <a:rPr lang="en-US" altLang="zh-CN" sz="2000" b="1" dirty="0">
                <a:latin typeface="微软雅黑 Light" panose="020B0502040204020203" pitchFamily="34" charset="-122"/>
                <a:ea typeface="微软雅黑 Light" panose="020B0502040204020203" pitchFamily="34" charset="-122"/>
              </a:rPr>
              <a:t>ASN.1 </a:t>
            </a:r>
            <a:r>
              <a:rPr lang="zh-CN" altLang="en-US" sz="2000" b="1" dirty="0">
                <a:latin typeface="微软雅黑 Light" panose="020B0502040204020203" pitchFamily="34" charset="-122"/>
                <a:ea typeface="微软雅黑 Light" panose="020B0502040204020203" pitchFamily="34" charset="-122"/>
              </a:rPr>
              <a:t>的超集。 </a:t>
            </a:r>
          </a:p>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ASN.1 </a:t>
            </a:r>
            <a:r>
              <a:rPr lang="zh-CN" altLang="en-US" sz="2000" b="1" dirty="0">
                <a:latin typeface="微软雅黑 Light" panose="020B0502040204020203" pitchFamily="34" charset="-122"/>
                <a:ea typeface="微软雅黑 Light" panose="020B0502040204020203" pitchFamily="34" charset="-122"/>
              </a:rPr>
              <a:t>的记法很严格，使得数据的含义</a:t>
            </a:r>
            <a:r>
              <a:rPr lang="zh-CN" altLang="en-US" sz="2000" b="1" dirty="0">
                <a:solidFill>
                  <a:srgbClr val="C00000"/>
                </a:solidFill>
                <a:latin typeface="微软雅黑 Light" panose="020B0502040204020203" pitchFamily="34" charset="-122"/>
                <a:ea typeface="微软雅黑 Light" panose="020B0502040204020203" pitchFamily="34" charset="-122"/>
              </a:rPr>
              <a:t>不存在</a:t>
            </a:r>
            <a:r>
              <a:rPr lang="zh-CN" altLang="en-US" sz="2000" b="1" dirty="0">
                <a:latin typeface="微软雅黑 Light" panose="020B0502040204020203" pitchFamily="34" charset="-122"/>
                <a:ea typeface="微软雅黑 Light" panose="020B0502040204020203" pitchFamily="34" charset="-122"/>
              </a:rPr>
              <a:t>任何可能的</a:t>
            </a:r>
            <a:r>
              <a:rPr lang="zh-CN" altLang="en-US" sz="2000" b="1" dirty="0">
                <a:solidFill>
                  <a:srgbClr val="C00000"/>
                </a:solidFill>
                <a:latin typeface="微软雅黑 Light" panose="020B0502040204020203" pitchFamily="34" charset="-122"/>
                <a:ea typeface="微软雅黑 Light" panose="020B0502040204020203" pitchFamily="34" charset="-122"/>
              </a:rPr>
              <a:t>二义性</a:t>
            </a:r>
            <a:r>
              <a:rPr lang="zh-CN" altLang="en-US" sz="2000" b="1" dirty="0">
                <a:latin typeface="微软雅黑 Light" panose="020B0502040204020203" pitchFamily="34" charset="-122"/>
                <a:ea typeface="微软雅黑 Light" panose="020B0502040204020203" pitchFamily="34" charset="-122"/>
              </a:rPr>
              <a:t>。</a:t>
            </a:r>
          </a:p>
        </p:txBody>
      </p:sp>
    </p:spTree>
    <p:extLst>
      <p:ext uri="{BB962C8B-B14F-4D97-AF65-F5344CB8AC3E}">
        <p14:creationId xmlns:p14="http://schemas.microsoft.com/office/powerpoint/2010/main" val="16364589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1323"/>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722787" y="578112"/>
            <a:ext cx="171713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SMI </a:t>
            </a:r>
            <a:r>
              <a:rPr lang="zh-CN" altLang="en-US" sz="2000" b="1" dirty="0">
                <a:solidFill>
                  <a:schemeClr val="bg1"/>
                </a:solidFill>
                <a:latin typeface="微软雅黑 Light" panose="020B0502040204020203" pitchFamily="34" charset="-122"/>
                <a:ea typeface="微软雅黑 Light" panose="020B0502040204020203" pitchFamily="34" charset="-122"/>
              </a:rPr>
              <a:t>数据类型</a:t>
            </a:r>
          </a:p>
        </p:txBody>
      </p:sp>
      <p:sp>
        <p:nvSpPr>
          <p:cNvPr id="4" name="Rectangle 68"/>
          <p:cNvSpPr>
            <a:spLocks noChangeArrowheads="1"/>
          </p:cNvSpPr>
          <p:nvPr/>
        </p:nvSpPr>
        <p:spPr bwMode="auto">
          <a:xfrm>
            <a:off x="556963" y="2446042"/>
            <a:ext cx="8030709" cy="136191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SMI </a:t>
            </a:r>
            <a:r>
              <a:rPr lang="zh-CN" altLang="en-US" sz="2000" b="1" dirty="0">
                <a:solidFill>
                  <a:srgbClr val="0000FF"/>
                </a:solidFill>
                <a:latin typeface="微软雅黑 Light" panose="020B0502040204020203" pitchFamily="34" charset="-122"/>
                <a:ea typeface="微软雅黑 Light" panose="020B0502040204020203" pitchFamily="34" charset="-122"/>
              </a:rPr>
              <a:t>把数据类型分为两大类</a:t>
            </a:r>
            <a:r>
              <a:rPr lang="zh-CN" altLang="en-US" sz="2000" b="1" dirty="0">
                <a:latin typeface="微软雅黑 Light" panose="020B0502040204020203" pitchFamily="34" charset="-122"/>
                <a:ea typeface="微软雅黑 Light" panose="020B0502040204020203" pitchFamily="34" charset="-122"/>
              </a:rPr>
              <a:t>：</a:t>
            </a:r>
            <a:endParaRPr lang="en-US" altLang="zh-CN" sz="2000" b="1" dirty="0">
              <a:latin typeface="微软雅黑 Light" panose="020B0502040204020203" pitchFamily="34" charset="-122"/>
              <a:ea typeface="微软雅黑 Light" panose="020B0502040204020203" pitchFamily="34" charset="-122"/>
            </a:endParaRPr>
          </a:p>
          <a:p>
            <a:pPr marL="914400" lvl="1" indent="-457200" eaLnBrk="0" hangingPunct="0">
              <a:lnSpc>
                <a:spcPts val="3300"/>
              </a:lnSpc>
              <a:buClr>
                <a:srgbClr val="9900CC"/>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简单类型</a:t>
            </a:r>
            <a:endParaRPr lang="en-US" altLang="zh-CN" sz="2000" b="1" dirty="0">
              <a:latin typeface="微软雅黑 Light" panose="020B0502040204020203" pitchFamily="34" charset="-122"/>
              <a:ea typeface="微软雅黑 Light" panose="020B0502040204020203" pitchFamily="34" charset="-122"/>
            </a:endParaRPr>
          </a:p>
          <a:p>
            <a:pPr marL="914400" lvl="1" indent="-457200" eaLnBrk="0" hangingPunct="0">
              <a:lnSpc>
                <a:spcPts val="3300"/>
              </a:lnSpc>
              <a:buClr>
                <a:srgbClr val="9900CC"/>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结构化类型。 </a:t>
            </a:r>
          </a:p>
        </p:txBody>
      </p:sp>
      <p:grpSp>
        <p:nvGrpSpPr>
          <p:cNvPr id="9" name="组合 8"/>
          <p:cNvGrpSpPr/>
          <p:nvPr/>
        </p:nvGrpSpPr>
        <p:grpSpPr>
          <a:xfrm>
            <a:off x="2356587" y="1107030"/>
            <a:ext cx="4453041" cy="1223067"/>
            <a:chOff x="1124801" y="2309534"/>
            <a:chExt cx="4581132" cy="1223067"/>
          </a:xfrm>
        </p:grpSpPr>
        <p:sp>
          <p:nvSpPr>
            <p:cNvPr id="5" name="Text Box 4"/>
            <p:cNvSpPr txBox="1">
              <a:spLocks noChangeArrowheads="1"/>
            </p:cNvSpPr>
            <p:nvPr/>
          </p:nvSpPr>
          <p:spPr bwMode="auto">
            <a:xfrm>
              <a:off x="1124801" y="2714481"/>
              <a:ext cx="7176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2000" b="1" dirty="0">
                  <a:latin typeface="微软雅黑 Light" panose="020B0502040204020203" pitchFamily="34" charset="-122"/>
                  <a:ea typeface="微软雅黑 Light" panose="020B0502040204020203" pitchFamily="34" charset="-122"/>
                </a:rPr>
                <a:t>数据</a:t>
              </a:r>
            </a:p>
          </p:txBody>
        </p:sp>
        <p:sp>
          <p:nvSpPr>
            <p:cNvPr id="6" name="Text Box 4"/>
            <p:cNvSpPr txBox="1">
              <a:spLocks noChangeArrowheads="1"/>
            </p:cNvSpPr>
            <p:nvPr/>
          </p:nvSpPr>
          <p:spPr bwMode="auto">
            <a:xfrm>
              <a:off x="2039196" y="2309534"/>
              <a:ext cx="265884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2000" b="1" dirty="0">
                  <a:solidFill>
                    <a:srgbClr val="C00000"/>
                  </a:solidFill>
                  <a:latin typeface="微软雅黑 Light" panose="020B0502040204020203" pitchFamily="34" charset="-122"/>
                  <a:ea typeface="微软雅黑 Light" panose="020B0502040204020203" pitchFamily="34" charset="-122"/>
                </a:rPr>
                <a:t>类型：</a:t>
              </a:r>
              <a:r>
                <a:rPr lang="zh-CN" altLang="en-US" sz="2000" b="1" dirty="0">
                  <a:latin typeface="微软雅黑 Light" panose="020B0502040204020203" pitchFamily="34" charset="-122"/>
                  <a:ea typeface="微软雅黑 Light" panose="020B0502040204020203" pitchFamily="34" charset="-122"/>
                </a:rPr>
                <a:t>值集合的名字</a:t>
              </a:r>
            </a:p>
          </p:txBody>
        </p:sp>
        <p:sp>
          <p:nvSpPr>
            <p:cNvPr id="7" name="Text Box 4"/>
            <p:cNvSpPr txBox="1">
              <a:spLocks noChangeArrowheads="1"/>
            </p:cNvSpPr>
            <p:nvPr/>
          </p:nvSpPr>
          <p:spPr bwMode="auto">
            <a:xfrm>
              <a:off x="2039196" y="3132491"/>
              <a:ext cx="366673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2000" b="1" dirty="0">
                  <a:solidFill>
                    <a:srgbClr val="C00000"/>
                  </a:solidFill>
                  <a:latin typeface="微软雅黑 Light" panose="020B0502040204020203" pitchFamily="34" charset="-122"/>
                  <a:ea typeface="微软雅黑 Light" panose="020B0502040204020203" pitchFamily="34" charset="-122"/>
                </a:rPr>
                <a:t>值：</a:t>
              </a:r>
              <a:r>
                <a:rPr lang="zh-CN" altLang="en-US" sz="2000" b="1" dirty="0">
                  <a:latin typeface="微软雅黑 Light" panose="020B0502040204020203" pitchFamily="34" charset="-122"/>
                  <a:ea typeface="微软雅黑 Light" panose="020B0502040204020203" pitchFamily="34" charset="-122"/>
                </a:rPr>
                <a:t>某个值集合中的一个元素</a:t>
              </a:r>
            </a:p>
          </p:txBody>
        </p:sp>
        <p:sp>
          <p:nvSpPr>
            <p:cNvPr id="8" name="左大括号 7"/>
            <p:cNvSpPr/>
            <p:nvPr/>
          </p:nvSpPr>
          <p:spPr>
            <a:xfrm>
              <a:off x="1831347" y="2509589"/>
              <a:ext cx="184373" cy="822957"/>
            </a:xfrm>
            <a:prstGeom prst="leftBrace">
              <a:avLst>
                <a:gd name="adj1" fmla="val 27688"/>
                <a:gd name="adj2" fmla="val 50000"/>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grpSp>
    </p:spTree>
    <p:extLst>
      <p:ext uri="{BB962C8B-B14F-4D97-AF65-F5344CB8AC3E}">
        <p14:creationId xmlns:p14="http://schemas.microsoft.com/office/powerpoint/2010/main" val="21297864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6046"/>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346884" y="582835"/>
            <a:ext cx="246894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ASN.1 </a:t>
            </a:r>
            <a:r>
              <a:rPr lang="zh-CN" altLang="en-US" sz="2000" b="1" dirty="0">
                <a:solidFill>
                  <a:schemeClr val="bg1"/>
                </a:solidFill>
                <a:latin typeface="微软雅黑 Light" panose="020B0502040204020203" pitchFamily="34" charset="-122"/>
                <a:ea typeface="微软雅黑 Light" panose="020B0502040204020203" pitchFamily="34" charset="-122"/>
              </a:rPr>
              <a:t>部分数据类型</a:t>
            </a:r>
          </a:p>
        </p:txBody>
      </p:sp>
      <p:graphicFrame>
        <p:nvGraphicFramePr>
          <p:cNvPr id="5" name="Group 4"/>
          <p:cNvGraphicFramePr>
            <a:graphicFrameLocks/>
          </p:cNvGraphicFramePr>
          <p:nvPr>
            <p:extLst>
              <p:ext uri="{D42A27DB-BD31-4B8C-83A1-F6EECF244321}">
                <p14:modId xmlns:p14="http://schemas.microsoft.com/office/powerpoint/2010/main" val="1761781977"/>
              </p:ext>
            </p:extLst>
          </p:nvPr>
        </p:nvGraphicFramePr>
        <p:xfrm>
          <a:off x="556963" y="1039842"/>
          <a:ext cx="8048775" cy="3116772"/>
        </p:xfrm>
        <a:graphic>
          <a:graphicData uri="http://schemas.openxmlformats.org/drawingml/2006/table">
            <a:tbl>
              <a:tblPr firstRow="1" bandRow="1">
                <a:tableStyleId>{7DF18680-E054-41AD-8BC1-D1AEF772440D}</a:tableStyleId>
              </a:tblPr>
              <a:tblGrid>
                <a:gridCol w="986078">
                  <a:extLst>
                    <a:ext uri="{9D8B030D-6E8A-4147-A177-3AD203B41FA5}">
                      <a16:colId xmlns:a16="http://schemas.microsoft.com/office/drawing/2014/main" val="20000"/>
                    </a:ext>
                  </a:extLst>
                </a:gridCol>
                <a:gridCol w="2835764">
                  <a:extLst>
                    <a:ext uri="{9D8B030D-6E8A-4147-A177-3AD203B41FA5}">
                      <a16:colId xmlns:a16="http://schemas.microsoft.com/office/drawing/2014/main" val="20001"/>
                    </a:ext>
                  </a:extLst>
                </a:gridCol>
                <a:gridCol w="4226933">
                  <a:extLst>
                    <a:ext uri="{9D8B030D-6E8A-4147-A177-3AD203B41FA5}">
                      <a16:colId xmlns:a16="http://schemas.microsoft.com/office/drawing/2014/main" val="20002"/>
                    </a:ext>
                  </a:extLst>
                </a:gridCol>
              </a:tblGrid>
              <a:tr h="326739">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600" b="1"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rPr>
                        <a:t>分类</a:t>
                      </a:r>
                      <a:endParaRPr kumimoji="0" lang="zh-CN" altLang="en-US" sz="1600" b="1"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endParaRPr>
                    </a:p>
                  </a:txBody>
                  <a:tcPr anchor="ctr" horzOverflow="overflow">
                    <a:lnL w="1270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600" b="1"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rPr>
                        <a:t>数据类型名称</a:t>
                      </a:r>
                      <a:endParaRPr kumimoji="0" lang="zh-CN" altLang="en-US" sz="1600" b="1"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endParaRPr>
                    </a:p>
                  </a:txBody>
                  <a:tcPr anchor="ct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600" b="1"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rPr>
                        <a:t>含义</a:t>
                      </a:r>
                      <a:endParaRPr kumimoji="0" lang="zh-CN" altLang="en-US" sz="1600" b="1"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endParaRPr>
                    </a:p>
                  </a:txBody>
                  <a:tcPr anchor="ct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extLst>
                  <a:ext uri="{0D108BD9-81ED-4DB2-BD59-A6C34878D82A}">
                    <a16:rowId xmlns:a16="http://schemas.microsoft.com/office/drawing/2014/main" val="10000"/>
                  </a:ext>
                </a:extLst>
              </a:tr>
              <a:tr h="297036">
                <a:tc rowSpan="5">
                  <a:txBody>
                    <a:bodyPr/>
                    <a:lstStyle/>
                    <a:p>
                      <a:pPr marL="0" marR="0" lvl="0" indent="0" algn="ctr"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简单类型</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anchor="ctr" horzOverflow="overflow">
                    <a:lnL w="1270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CCFF"/>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INTEGER</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任意长度整数</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97036">
                <a:tc vMerge="1">
                  <a:txBody>
                    <a:bodyPr/>
                    <a:lstStyle/>
                    <a:p>
                      <a:endParaRPr lang="zh-CN" altLang="en-US"/>
                    </a:p>
                  </a:txBody>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BIT STRING</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0 </a:t>
                      </a: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位或多位组成的二进制串</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97036">
                <a:tc vMerge="1">
                  <a:txBody>
                    <a:bodyPr/>
                    <a:lstStyle/>
                    <a:p>
                      <a:endParaRPr lang="zh-CN" altLang="en-US"/>
                    </a:p>
                  </a:txBody>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OCTET STRING</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0 </a:t>
                      </a: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位或多位组成的字节串</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297036">
                <a:tc vMerge="1">
                  <a:txBody>
                    <a:bodyPr/>
                    <a:lstStyle/>
                    <a:p>
                      <a:endParaRPr lang="zh-CN" altLang="en-US"/>
                    </a:p>
                  </a:txBody>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NULL</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空值</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r h="343092">
                <a:tc vMerge="1">
                  <a:txBody>
                    <a:bodyPr/>
                    <a:lstStyle/>
                    <a:p>
                      <a:endParaRPr lang="zh-CN" altLang="en-US"/>
                    </a:p>
                  </a:txBody>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OBJECT IDENTIFIER</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定义的数据类型</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r h="297036">
                <a:tc rowSpan="4">
                  <a:txBody>
                    <a:bodyPr/>
                    <a:lstStyle/>
                    <a:p>
                      <a:pPr marL="0" marR="0" lvl="0" indent="0" algn="ctr"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结构化类型</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anchor="ctr" horzOverflow="overflow">
                    <a:lnL w="1270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CC"/>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SEQUENCE</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由多个数据类型按序组成的值</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6"/>
                  </a:ext>
                </a:extLst>
              </a:tr>
              <a:tr h="297036">
                <a:tc vMerge="1">
                  <a:txBody>
                    <a:bodyPr/>
                    <a:lstStyle/>
                    <a:p>
                      <a:endParaRPr lang="zh-CN" altLang="en-US"/>
                    </a:p>
                  </a:txBody>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SEQUENCE OF</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由同一数据类型按序组成的值</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7"/>
                  </a:ext>
                </a:extLst>
              </a:tr>
              <a:tr h="297036">
                <a:tc vMerge="1">
                  <a:txBody>
                    <a:bodyPr/>
                    <a:lstStyle/>
                    <a:p>
                      <a:endParaRPr lang="zh-CN" altLang="en-US"/>
                    </a:p>
                  </a:txBody>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CHOICE</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可以从多个数据类型中选择一个</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8"/>
                  </a:ext>
                </a:extLst>
              </a:tr>
              <a:tr h="297036">
                <a:tc vMerge="1">
                  <a:txBody>
                    <a:bodyPr/>
                    <a:lstStyle/>
                    <a:p>
                      <a:endParaRPr lang="zh-CN" altLang="en-US"/>
                    </a:p>
                  </a:txBody>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ANY</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任何数据类型</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9"/>
                  </a:ext>
                </a:extLst>
              </a:tr>
            </a:tbl>
          </a:graphicData>
        </a:graphic>
      </p:graphicFrame>
    </p:spTree>
    <p:extLst>
      <p:ext uri="{BB962C8B-B14F-4D97-AF65-F5344CB8AC3E}">
        <p14:creationId xmlns:p14="http://schemas.microsoft.com/office/powerpoint/2010/main" val="10883756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3000"/>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460697" y="579789"/>
            <a:ext cx="224131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基本编码规则 </a:t>
            </a:r>
            <a:r>
              <a:rPr lang="en-US" altLang="zh-CN" sz="2000" b="1" dirty="0">
                <a:solidFill>
                  <a:schemeClr val="bg1"/>
                </a:solidFill>
                <a:latin typeface="微软雅黑 Light" panose="020B0502040204020203" pitchFamily="34" charset="-122"/>
                <a:ea typeface="微软雅黑 Light" panose="020B0502040204020203" pitchFamily="34" charset="-122"/>
              </a:rPr>
              <a:t>BER</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483810" y="974090"/>
            <a:ext cx="8257854"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ISO </a:t>
            </a:r>
            <a:r>
              <a:rPr lang="zh-CN" altLang="en-US" sz="2000" b="1" dirty="0">
                <a:latin typeface="微软雅黑 Light" panose="020B0502040204020203" pitchFamily="34" charset="-122"/>
                <a:ea typeface="微软雅黑 Light" panose="020B0502040204020203" pitchFamily="34" charset="-122"/>
              </a:rPr>
              <a:t>在制订 </a:t>
            </a:r>
            <a:r>
              <a:rPr lang="en-US" altLang="zh-CN" sz="2000" b="1" dirty="0">
                <a:latin typeface="微软雅黑 Light" panose="020B0502040204020203" pitchFamily="34" charset="-122"/>
                <a:ea typeface="微软雅黑 Light" panose="020B0502040204020203" pitchFamily="34" charset="-122"/>
              </a:rPr>
              <a:t>ASN.1 </a:t>
            </a:r>
            <a:r>
              <a:rPr lang="zh-CN" altLang="en-US" sz="2000" b="1" dirty="0">
                <a:latin typeface="微软雅黑 Light" panose="020B0502040204020203" pitchFamily="34" charset="-122"/>
                <a:ea typeface="微软雅黑 Light" panose="020B0502040204020203" pitchFamily="34" charset="-122"/>
              </a:rPr>
              <a:t>语言的同时也为它定义了一种标准的编码方案，即</a:t>
            </a:r>
            <a:r>
              <a:rPr lang="zh-CN" altLang="en-US" sz="2000" b="1" dirty="0">
                <a:solidFill>
                  <a:srgbClr val="C00000"/>
                </a:solidFill>
                <a:latin typeface="微软雅黑 Light" panose="020B0502040204020203" pitchFamily="34" charset="-122"/>
                <a:ea typeface="微软雅黑 Light" panose="020B0502040204020203" pitchFamily="34" charset="-122"/>
              </a:rPr>
              <a:t>基本编码规则 </a:t>
            </a:r>
            <a:r>
              <a:rPr lang="en-US" altLang="zh-CN" sz="2000" b="1" dirty="0">
                <a:solidFill>
                  <a:srgbClr val="C00000"/>
                </a:solidFill>
                <a:latin typeface="微软雅黑 Light" panose="020B0502040204020203" pitchFamily="34" charset="-122"/>
                <a:ea typeface="微软雅黑 Light" panose="020B0502040204020203" pitchFamily="34" charset="-122"/>
              </a:rPr>
              <a:t>BER </a:t>
            </a:r>
            <a:r>
              <a:rPr lang="en-US" altLang="zh-CN" sz="2000" b="1" dirty="0">
                <a:latin typeface="微软雅黑 Light" panose="020B0502040204020203" pitchFamily="34" charset="-122"/>
                <a:ea typeface="微软雅黑 Light" panose="020B0502040204020203" pitchFamily="34" charset="-122"/>
              </a:rPr>
              <a:t>(Basic Encoding Rule)</a:t>
            </a:r>
            <a:r>
              <a:rPr lang="zh-CN" altLang="en-US" sz="2000" b="1" dirty="0">
                <a:latin typeface="微软雅黑 Light" panose="020B0502040204020203" pitchFamily="34" charset="-122"/>
                <a:ea typeface="微软雅黑 Light" panose="020B0502040204020203" pitchFamily="34" charset="-122"/>
              </a:rPr>
              <a:t>。</a:t>
            </a:r>
          </a:p>
          <a:p>
            <a:pPr marL="342900" indent="-342900" eaLnBrk="0" hangingPunct="0">
              <a:lnSpc>
                <a:spcPts val="33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BER </a:t>
            </a:r>
            <a:r>
              <a:rPr lang="zh-CN" altLang="en-US" sz="2000" b="1" dirty="0">
                <a:solidFill>
                  <a:srgbClr val="0000FF"/>
                </a:solidFill>
                <a:latin typeface="微软雅黑 Light" panose="020B0502040204020203" pitchFamily="34" charset="-122"/>
                <a:ea typeface="微软雅黑 Light" panose="020B0502040204020203" pitchFamily="34" charset="-122"/>
              </a:rPr>
              <a:t>指明了每种数据类型中每个数据的值的表示。</a:t>
            </a:r>
          </a:p>
          <a:p>
            <a:pPr marL="342900" indent="-342900" eaLnBrk="0" hangingPunct="0">
              <a:lnSpc>
                <a:spcPts val="3300"/>
              </a:lnSpc>
              <a:buClr>
                <a:srgbClr val="0070C0"/>
              </a:buClr>
              <a:buFont typeface="Wingdings" pitchFamily="2" charset="2"/>
              <a:buChar char="l"/>
            </a:pPr>
            <a:r>
              <a:rPr lang="en-US" altLang="zh-CN" sz="2000" b="1" dirty="0">
                <a:solidFill>
                  <a:srgbClr val="C00000"/>
                </a:solidFill>
                <a:latin typeface="微软雅黑 Light" panose="020B0502040204020203" pitchFamily="34" charset="-122"/>
                <a:ea typeface="微软雅黑 Light" panose="020B0502040204020203" pitchFamily="34" charset="-122"/>
              </a:rPr>
              <a:t>SMI </a:t>
            </a:r>
            <a:r>
              <a:rPr lang="zh-CN" altLang="en-US" sz="2000" b="1" dirty="0">
                <a:solidFill>
                  <a:srgbClr val="C00000"/>
                </a:solidFill>
                <a:latin typeface="微软雅黑 Light" panose="020B0502040204020203" pitchFamily="34" charset="-122"/>
                <a:ea typeface="微软雅黑 Light" panose="020B0502040204020203" pitchFamily="34" charset="-122"/>
              </a:rPr>
              <a:t>使用 </a:t>
            </a:r>
            <a:r>
              <a:rPr lang="en-US" altLang="zh-CN" sz="2000" b="1" dirty="0">
                <a:solidFill>
                  <a:srgbClr val="C00000"/>
                </a:solidFill>
                <a:latin typeface="微软雅黑 Light" panose="020B0502040204020203" pitchFamily="34" charset="-122"/>
                <a:ea typeface="微软雅黑 Light" panose="020B0502040204020203" pitchFamily="34" charset="-122"/>
              </a:rPr>
              <a:t>ASN.1 </a:t>
            </a:r>
            <a:r>
              <a:rPr lang="zh-CN" altLang="en-US" sz="2000" b="1" dirty="0">
                <a:solidFill>
                  <a:srgbClr val="C00000"/>
                </a:solidFill>
                <a:latin typeface="微软雅黑 Light" panose="020B0502040204020203" pitchFamily="34" charset="-122"/>
                <a:ea typeface="微软雅黑 Light" panose="020B0502040204020203" pitchFamily="34" charset="-122"/>
              </a:rPr>
              <a:t>制定的 </a:t>
            </a:r>
            <a:r>
              <a:rPr lang="en-US" altLang="zh-CN" sz="2000" b="1" dirty="0">
                <a:solidFill>
                  <a:srgbClr val="C00000"/>
                </a:solidFill>
                <a:latin typeface="微软雅黑 Light" panose="020B0502040204020203" pitchFamily="34" charset="-122"/>
                <a:ea typeface="微软雅黑 Light" panose="020B0502040204020203" pitchFamily="34" charset="-122"/>
              </a:rPr>
              <a:t>BER </a:t>
            </a:r>
            <a:r>
              <a:rPr lang="zh-CN" altLang="en-US" sz="2000" b="1" dirty="0">
                <a:solidFill>
                  <a:srgbClr val="C00000"/>
                </a:solidFill>
                <a:latin typeface="微软雅黑 Light" panose="020B0502040204020203" pitchFamily="34" charset="-122"/>
                <a:ea typeface="微软雅黑 Light" panose="020B0502040204020203" pitchFamily="34" charset="-122"/>
              </a:rPr>
              <a:t>进行数据的编码。</a:t>
            </a:r>
            <a:endParaRPr lang="en-US" altLang="zh-CN" sz="2000" b="1" dirty="0">
              <a:solidFill>
                <a:srgbClr val="C00000"/>
              </a:solidFill>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发送端用 </a:t>
            </a:r>
            <a:r>
              <a:rPr lang="en-US" altLang="zh-CN" sz="2000" b="1" dirty="0">
                <a:latin typeface="微软雅黑 Light" panose="020B0502040204020203" pitchFamily="34" charset="-122"/>
                <a:ea typeface="微软雅黑 Light" panose="020B0502040204020203" pitchFamily="34" charset="-122"/>
              </a:rPr>
              <a:t>BER </a:t>
            </a:r>
            <a:r>
              <a:rPr lang="zh-CN" altLang="en-US" sz="2000" b="1" dirty="0">
                <a:solidFill>
                  <a:srgbClr val="C00000"/>
                </a:solidFill>
                <a:latin typeface="微软雅黑 Light" panose="020B0502040204020203" pitchFamily="34" charset="-122"/>
                <a:ea typeface="微软雅黑 Light" panose="020B0502040204020203" pitchFamily="34" charset="-122"/>
              </a:rPr>
              <a:t>编码，</a:t>
            </a:r>
            <a:r>
              <a:rPr lang="zh-CN" altLang="en-US" sz="2000" b="1" dirty="0">
                <a:latin typeface="微软雅黑 Light" panose="020B0502040204020203" pitchFamily="34" charset="-122"/>
                <a:ea typeface="微软雅黑 Light" panose="020B0502040204020203" pitchFamily="34" charset="-122"/>
              </a:rPr>
              <a:t>可将用 </a:t>
            </a:r>
            <a:r>
              <a:rPr lang="en-US" altLang="zh-CN" sz="2000" b="1" dirty="0">
                <a:latin typeface="微软雅黑 Light" panose="020B0502040204020203" pitchFamily="34" charset="-122"/>
                <a:ea typeface="微软雅黑 Light" panose="020B0502040204020203" pitchFamily="34" charset="-122"/>
              </a:rPr>
              <a:t>ASN.1 </a:t>
            </a:r>
            <a:r>
              <a:rPr lang="zh-CN" altLang="en-US" sz="2000" b="1" dirty="0">
                <a:latin typeface="微软雅黑 Light" panose="020B0502040204020203" pitchFamily="34" charset="-122"/>
                <a:ea typeface="微软雅黑 Light" panose="020B0502040204020203" pitchFamily="34" charset="-122"/>
              </a:rPr>
              <a:t>所表述的报文转换成</a:t>
            </a:r>
            <a:r>
              <a:rPr lang="zh-CN" altLang="en-US" sz="2000" b="1" dirty="0">
                <a:solidFill>
                  <a:srgbClr val="C00000"/>
                </a:solidFill>
                <a:latin typeface="微软雅黑 Light" panose="020B0502040204020203" pitchFamily="34" charset="-122"/>
                <a:ea typeface="微软雅黑 Light" panose="020B0502040204020203" pitchFamily="34" charset="-122"/>
              </a:rPr>
              <a:t>唯一</a:t>
            </a:r>
            <a:r>
              <a:rPr lang="zh-CN" altLang="en-US" sz="2000" b="1" dirty="0">
                <a:latin typeface="微软雅黑 Light" panose="020B0502040204020203" pitchFamily="34" charset="-122"/>
                <a:ea typeface="微软雅黑 Light" panose="020B0502040204020203" pitchFamily="34" charset="-122"/>
              </a:rPr>
              <a:t>的比特序列。</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接收端用 </a:t>
            </a:r>
            <a:r>
              <a:rPr lang="en-US" altLang="zh-CN" sz="2000" b="1" dirty="0">
                <a:latin typeface="微软雅黑 Light" panose="020B0502040204020203" pitchFamily="34" charset="-122"/>
                <a:ea typeface="微软雅黑 Light" panose="020B0502040204020203" pitchFamily="34" charset="-122"/>
              </a:rPr>
              <a:t>BER </a:t>
            </a:r>
            <a:r>
              <a:rPr lang="zh-CN" altLang="en-US" sz="2000" b="1" dirty="0">
                <a:latin typeface="微软雅黑 Light" panose="020B0502040204020203" pitchFamily="34" charset="-122"/>
                <a:ea typeface="微软雅黑 Light" panose="020B0502040204020203" pitchFamily="34" charset="-122"/>
              </a:rPr>
              <a:t>进行</a:t>
            </a:r>
            <a:r>
              <a:rPr lang="zh-CN" altLang="en-US" sz="2000" b="1" dirty="0">
                <a:solidFill>
                  <a:srgbClr val="C00000"/>
                </a:solidFill>
                <a:latin typeface="微软雅黑 Light" panose="020B0502040204020203" pitchFamily="34" charset="-122"/>
                <a:ea typeface="微软雅黑 Light" panose="020B0502040204020203" pitchFamily="34" charset="-122"/>
              </a:rPr>
              <a:t>解码，</a:t>
            </a:r>
            <a:r>
              <a:rPr lang="zh-CN" altLang="en-US" sz="2000" b="1" dirty="0">
                <a:latin typeface="微软雅黑 Light" panose="020B0502040204020203" pitchFamily="34" charset="-122"/>
                <a:ea typeface="微软雅黑 Light" panose="020B0502040204020203" pitchFamily="34" charset="-122"/>
              </a:rPr>
              <a:t>得到该比特序列所表示的 </a:t>
            </a:r>
            <a:r>
              <a:rPr lang="en-US" altLang="zh-CN" sz="2000" b="1" dirty="0">
                <a:latin typeface="微软雅黑 Light" panose="020B0502040204020203" pitchFamily="34" charset="-122"/>
                <a:ea typeface="微软雅黑 Light" panose="020B0502040204020203" pitchFamily="34" charset="-122"/>
              </a:rPr>
              <a:t>ASN.1 </a:t>
            </a:r>
            <a:r>
              <a:rPr lang="zh-CN" altLang="en-US" sz="2000" b="1" dirty="0">
                <a:latin typeface="微软雅黑 Light" panose="020B0502040204020203" pitchFamily="34" charset="-122"/>
                <a:ea typeface="微软雅黑 Light" panose="020B0502040204020203" pitchFamily="34" charset="-122"/>
              </a:rPr>
              <a:t>报文。 </a:t>
            </a:r>
          </a:p>
        </p:txBody>
      </p:sp>
    </p:spTree>
    <p:extLst>
      <p:ext uri="{BB962C8B-B14F-4D97-AF65-F5344CB8AC3E}">
        <p14:creationId xmlns:p14="http://schemas.microsoft.com/office/powerpoint/2010/main" val="9393379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1774"/>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280295" y="578563"/>
            <a:ext cx="260212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用 </a:t>
            </a:r>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方法进行编码</a:t>
            </a:r>
          </a:p>
        </p:txBody>
      </p:sp>
      <p:sp>
        <p:nvSpPr>
          <p:cNvPr id="9" name="Rectangle 38"/>
          <p:cNvSpPr>
            <a:spLocks noChangeArrowheads="1"/>
          </p:cNvSpPr>
          <p:nvPr/>
        </p:nvSpPr>
        <p:spPr bwMode="auto">
          <a:xfrm>
            <a:off x="2298313" y="1488726"/>
            <a:ext cx="5820252" cy="432357"/>
          </a:xfrm>
          <a:prstGeom prst="rect">
            <a:avLst/>
          </a:prstGeom>
          <a:solidFill>
            <a:srgbClr val="00FFCC"/>
          </a:solidFill>
          <a:ln w="12700">
            <a:solidFill>
              <a:schemeClr val="tx1"/>
            </a:solidFill>
            <a:miter lim="800000"/>
            <a:headEnd/>
            <a:tailEnd/>
          </a:ln>
          <a:effectLst/>
        </p:spPr>
        <p:txBody>
          <a:bodyPr wrap="none" anchor="ctr"/>
          <a:lstStyle/>
          <a:p>
            <a:pPr eaLnBrk="1" hangingPunct="1"/>
            <a:endParaRPr lang="zh-CN" altLang="en-US" b="1" dirty="0">
              <a:latin typeface="微软雅黑 Light" panose="020B0502040204020203" pitchFamily="34" charset="-122"/>
              <a:ea typeface="微软雅黑 Light" panose="020B0502040204020203" pitchFamily="34" charset="-122"/>
            </a:endParaRPr>
          </a:p>
        </p:txBody>
      </p:sp>
      <p:sp>
        <p:nvSpPr>
          <p:cNvPr id="10" name="Line 39"/>
          <p:cNvSpPr>
            <a:spLocks noChangeShapeType="1"/>
          </p:cNvSpPr>
          <p:nvPr/>
        </p:nvSpPr>
        <p:spPr bwMode="auto">
          <a:xfrm>
            <a:off x="3580875" y="1501789"/>
            <a:ext cx="0" cy="43235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12" name="Line 41"/>
          <p:cNvSpPr>
            <a:spLocks noChangeShapeType="1"/>
          </p:cNvSpPr>
          <p:nvPr/>
        </p:nvSpPr>
        <p:spPr bwMode="auto">
          <a:xfrm>
            <a:off x="4764415" y="1488726"/>
            <a:ext cx="0" cy="43235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13" name="Text Box 42"/>
          <p:cNvSpPr txBox="1">
            <a:spLocks noChangeArrowheads="1"/>
          </p:cNvSpPr>
          <p:nvPr/>
        </p:nvSpPr>
        <p:spPr bwMode="auto">
          <a:xfrm>
            <a:off x="2528218" y="1520238"/>
            <a:ext cx="391164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800" b="1" dirty="0">
                <a:latin typeface="微软雅黑 Light" panose="020B0502040204020203" pitchFamily="34" charset="-122"/>
                <a:ea typeface="微软雅黑 Light" panose="020B0502040204020203" pitchFamily="34" charset="-122"/>
              </a:rPr>
              <a:t>标记 </a:t>
            </a:r>
            <a:r>
              <a:rPr lang="en-US" altLang="zh-CN" sz="1800" b="1" dirty="0">
                <a:latin typeface="微软雅黑 Light" panose="020B0502040204020203" pitchFamily="34" charset="-122"/>
                <a:ea typeface="微软雅黑 Light" panose="020B0502040204020203" pitchFamily="34" charset="-122"/>
              </a:rPr>
              <a:t>T         </a:t>
            </a:r>
            <a:r>
              <a:rPr lang="zh-CN" altLang="en-US" sz="1800" b="1" dirty="0">
                <a:latin typeface="微软雅黑 Light" panose="020B0502040204020203" pitchFamily="34" charset="-122"/>
                <a:ea typeface="微软雅黑 Light" panose="020B0502040204020203" pitchFamily="34" charset="-122"/>
              </a:rPr>
              <a:t>长度 </a:t>
            </a:r>
            <a:r>
              <a:rPr lang="en-US" altLang="zh-CN" sz="1800" b="1" dirty="0">
                <a:latin typeface="微软雅黑 Light" panose="020B0502040204020203" pitchFamily="34" charset="-122"/>
                <a:ea typeface="微软雅黑 Light" panose="020B0502040204020203" pitchFamily="34" charset="-122"/>
              </a:rPr>
              <a:t>L                   </a:t>
            </a:r>
            <a:r>
              <a:rPr lang="zh-CN" altLang="en-US" sz="1800" b="1" dirty="0">
                <a:latin typeface="微软雅黑 Light" panose="020B0502040204020203" pitchFamily="34" charset="-122"/>
                <a:ea typeface="微软雅黑 Light" panose="020B0502040204020203" pitchFamily="34" charset="-122"/>
              </a:rPr>
              <a:t>值 </a:t>
            </a:r>
            <a:r>
              <a:rPr lang="en-US" altLang="zh-CN" sz="1800" b="1" dirty="0">
                <a:latin typeface="微软雅黑 Light" panose="020B0502040204020203" pitchFamily="34" charset="-122"/>
                <a:ea typeface="微软雅黑 Light" panose="020B0502040204020203" pitchFamily="34" charset="-122"/>
              </a:rPr>
              <a:t>V</a:t>
            </a:r>
          </a:p>
        </p:txBody>
      </p:sp>
      <p:sp>
        <p:nvSpPr>
          <p:cNvPr id="19" name="Text Box 48"/>
          <p:cNvSpPr txBox="1">
            <a:spLocks noChangeArrowheads="1"/>
          </p:cNvSpPr>
          <p:nvPr/>
        </p:nvSpPr>
        <p:spPr bwMode="auto">
          <a:xfrm>
            <a:off x="1156764" y="1543868"/>
            <a:ext cx="130613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latin typeface="微软雅黑 Light" panose="020B0502040204020203" pitchFamily="34" charset="-122"/>
                <a:ea typeface="微软雅黑 Light" panose="020B0502040204020203" pitchFamily="34" charset="-122"/>
              </a:rPr>
              <a:t>数据元素</a:t>
            </a:r>
          </a:p>
        </p:txBody>
      </p:sp>
      <p:sp>
        <p:nvSpPr>
          <p:cNvPr id="20" name="矩形 19"/>
          <p:cNvSpPr/>
          <p:nvPr/>
        </p:nvSpPr>
        <p:spPr>
          <a:xfrm>
            <a:off x="5785787" y="2213950"/>
            <a:ext cx="1569660" cy="369332"/>
          </a:xfrm>
          <a:prstGeom prst="rect">
            <a:avLst/>
          </a:prstGeom>
        </p:spPr>
        <p:txBody>
          <a:bodyPr wrap="none">
            <a:spAutoFit/>
          </a:bodyPr>
          <a:lstStyle/>
          <a:p>
            <a:r>
              <a:rPr lang="zh-CN" altLang="en-US" b="1" dirty="0">
                <a:latin typeface="微软雅黑 Light" panose="020B0502040204020203" pitchFamily="34" charset="-122"/>
                <a:ea typeface="微软雅黑 Light" panose="020B0502040204020203" pitchFamily="34" charset="-122"/>
              </a:rPr>
              <a:t>定义数据的值</a:t>
            </a:r>
          </a:p>
        </p:txBody>
      </p:sp>
      <p:grpSp>
        <p:nvGrpSpPr>
          <p:cNvPr id="26" name="组合 25"/>
          <p:cNvGrpSpPr/>
          <p:nvPr/>
        </p:nvGrpSpPr>
        <p:grpSpPr>
          <a:xfrm>
            <a:off x="5208439" y="1817107"/>
            <a:ext cx="577348" cy="581509"/>
            <a:chOff x="5208439" y="1841345"/>
            <a:chExt cx="577348" cy="581509"/>
          </a:xfrm>
        </p:grpSpPr>
        <p:cxnSp>
          <p:nvCxnSpPr>
            <p:cNvPr id="22" name="直接连接符 21"/>
            <p:cNvCxnSpPr/>
            <p:nvPr/>
          </p:nvCxnSpPr>
          <p:spPr>
            <a:xfrm>
              <a:off x="5208439" y="1841345"/>
              <a:ext cx="0" cy="581509"/>
            </a:xfrm>
            <a:prstGeom prst="line">
              <a:avLst/>
            </a:prstGeom>
            <a:ln w="19050">
              <a:solidFill>
                <a:schemeClr val="tx1"/>
              </a:solidFill>
              <a:headEnd type="oval"/>
            </a:ln>
          </p:spPr>
          <p:style>
            <a:lnRef idx="1">
              <a:schemeClr val="accent1"/>
            </a:lnRef>
            <a:fillRef idx="0">
              <a:schemeClr val="accent1"/>
            </a:fillRef>
            <a:effectRef idx="0">
              <a:schemeClr val="accent1"/>
            </a:effectRef>
            <a:fontRef idx="minor">
              <a:schemeClr val="tx1"/>
            </a:fontRef>
          </p:style>
        </p:cxnSp>
        <p:cxnSp>
          <p:nvCxnSpPr>
            <p:cNvPr id="25" name="直接连接符 24"/>
            <p:cNvCxnSpPr/>
            <p:nvPr/>
          </p:nvCxnSpPr>
          <p:spPr>
            <a:xfrm>
              <a:off x="5208439" y="2422854"/>
              <a:ext cx="577348"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7" name="组合 26"/>
          <p:cNvGrpSpPr/>
          <p:nvPr/>
        </p:nvGrpSpPr>
        <p:grpSpPr>
          <a:xfrm>
            <a:off x="3759386" y="1817107"/>
            <a:ext cx="577348" cy="1017636"/>
            <a:chOff x="5208439" y="1841345"/>
            <a:chExt cx="577348" cy="581509"/>
          </a:xfrm>
        </p:grpSpPr>
        <p:cxnSp>
          <p:nvCxnSpPr>
            <p:cNvPr id="28" name="直接连接符 27"/>
            <p:cNvCxnSpPr/>
            <p:nvPr/>
          </p:nvCxnSpPr>
          <p:spPr>
            <a:xfrm>
              <a:off x="5208439" y="1841345"/>
              <a:ext cx="0" cy="581509"/>
            </a:xfrm>
            <a:prstGeom prst="line">
              <a:avLst/>
            </a:prstGeom>
            <a:ln w="19050">
              <a:solidFill>
                <a:schemeClr val="tx1"/>
              </a:solidFill>
              <a:headEnd type="ova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a:off x="5208439" y="2422854"/>
              <a:ext cx="577348"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0" name="矩形 29"/>
          <p:cNvSpPr/>
          <p:nvPr/>
        </p:nvSpPr>
        <p:spPr>
          <a:xfrm>
            <a:off x="4317078" y="2638797"/>
            <a:ext cx="2103461" cy="369332"/>
          </a:xfrm>
          <a:prstGeom prst="rect">
            <a:avLst/>
          </a:prstGeom>
        </p:spPr>
        <p:txBody>
          <a:bodyPr wrap="none">
            <a:spAutoFit/>
          </a:bodyPr>
          <a:lstStyle/>
          <a:p>
            <a:r>
              <a:rPr lang="zh-CN" altLang="en-US" b="1" dirty="0">
                <a:latin typeface="微软雅黑 Light" panose="020B0502040204020203" pitchFamily="34" charset="-122"/>
                <a:ea typeface="微软雅黑 Light" panose="020B0502040204020203" pitchFamily="34" charset="-122"/>
              </a:rPr>
              <a:t>定义 </a:t>
            </a:r>
            <a:r>
              <a:rPr lang="en-US" altLang="zh-CN" b="1" dirty="0">
                <a:latin typeface="微软雅黑 Light" panose="020B0502040204020203" pitchFamily="34" charset="-122"/>
                <a:ea typeface="微软雅黑 Light" panose="020B0502040204020203" pitchFamily="34" charset="-122"/>
              </a:rPr>
              <a:t>V </a:t>
            </a:r>
            <a:r>
              <a:rPr lang="zh-CN" altLang="en-US" b="1" dirty="0">
                <a:latin typeface="微软雅黑 Light" panose="020B0502040204020203" pitchFamily="34" charset="-122"/>
                <a:ea typeface="微软雅黑 Light" panose="020B0502040204020203" pitchFamily="34" charset="-122"/>
              </a:rPr>
              <a:t>字段的长度</a:t>
            </a:r>
          </a:p>
        </p:txBody>
      </p:sp>
      <p:grpSp>
        <p:nvGrpSpPr>
          <p:cNvPr id="31" name="组合 30"/>
          <p:cNvGrpSpPr/>
          <p:nvPr/>
        </p:nvGrpSpPr>
        <p:grpSpPr>
          <a:xfrm>
            <a:off x="2512438" y="1817106"/>
            <a:ext cx="577348" cy="1502747"/>
            <a:chOff x="5208439" y="1841345"/>
            <a:chExt cx="577348" cy="581509"/>
          </a:xfrm>
        </p:grpSpPr>
        <p:cxnSp>
          <p:nvCxnSpPr>
            <p:cNvPr id="32" name="直接连接符 31"/>
            <p:cNvCxnSpPr/>
            <p:nvPr/>
          </p:nvCxnSpPr>
          <p:spPr>
            <a:xfrm>
              <a:off x="5208439" y="1841345"/>
              <a:ext cx="0" cy="581509"/>
            </a:xfrm>
            <a:prstGeom prst="line">
              <a:avLst/>
            </a:prstGeom>
            <a:ln w="19050">
              <a:solidFill>
                <a:schemeClr val="tx1"/>
              </a:solidFill>
              <a:headEnd type="ova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a:off x="5208439" y="2422854"/>
              <a:ext cx="577348"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4" name="矩形 33"/>
          <p:cNvSpPr/>
          <p:nvPr/>
        </p:nvSpPr>
        <p:spPr>
          <a:xfrm>
            <a:off x="3045161" y="3135187"/>
            <a:ext cx="1800493" cy="369332"/>
          </a:xfrm>
          <a:prstGeom prst="rect">
            <a:avLst/>
          </a:prstGeom>
        </p:spPr>
        <p:txBody>
          <a:bodyPr wrap="none">
            <a:spAutoFit/>
          </a:bodyPr>
          <a:lstStyle/>
          <a:p>
            <a:r>
              <a:rPr lang="zh-CN" altLang="en-US" b="1" dirty="0">
                <a:latin typeface="微软雅黑 Light" panose="020B0502040204020203" pitchFamily="34" charset="-122"/>
                <a:ea typeface="微软雅黑 Light" panose="020B0502040204020203" pitchFamily="34" charset="-122"/>
              </a:rPr>
              <a:t>定义数据的类型</a:t>
            </a:r>
          </a:p>
        </p:txBody>
      </p:sp>
    </p:spTree>
    <p:extLst>
      <p:ext uri="{BB962C8B-B14F-4D97-AF65-F5344CB8AC3E}">
        <p14:creationId xmlns:p14="http://schemas.microsoft.com/office/powerpoint/2010/main" val="13149532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6771"/>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7" name="Rectangle 6"/>
          <p:cNvSpPr>
            <a:spLocks noChangeArrowheads="1"/>
          </p:cNvSpPr>
          <p:nvPr/>
        </p:nvSpPr>
        <p:spPr bwMode="auto">
          <a:xfrm>
            <a:off x="2689648" y="583560"/>
            <a:ext cx="378340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中的 </a:t>
            </a:r>
            <a:r>
              <a:rPr lang="en-US" altLang="zh-CN" sz="2000" b="1" dirty="0">
                <a:solidFill>
                  <a:schemeClr val="bg1"/>
                </a:solidFill>
                <a:latin typeface="微软雅黑 Light" panose="020B0502040204020203" pitchFamily="34" charset="-122"/>
                <a:ea typeface="微软雅黑 Light" panose="020B0502040204020203" pitchFamily="34" charset="-122"/>
              </a:rPr>
              <a:t>T </a:t>
            </a:r>
            <a:r>
              <a:rPr lang="zh-CN" altLang="en-US" sz="2000" b="1" dirty="0">
                <a:solidFill>
                  <a:schemeClr val="bg1"/>
                </a:solidFill>
                <a:latin typeface="微软雅黑 Light" panose="020B0502040204020203" pitchFamily="34" charset="-122"/>
                <a:ea typeface="微软雅黑 Light" panose="020B0502040204020203" pitchFamily="34" charset="-122"/>
              </a:rPr>
              <a:t>字段定义数据的类型</a:t>
            </a:r>
          </a:p>
        </p:txBody>
      </p:sp>
      <p:grpSp>
        <p:nvGrpSpPr>
          <p:cNvPr id="21" name="组合 20"/>
          <p:cNvGrpSpPr/>
          <p:nvPr/>
        </p:nvGrpSpPr>
        <p:grpSpPr>
          <a:xfrm>
            <a:off x="1222079" y="1494645"/>
            <a:ext cx="6961801" cy="2013559"/>
            <a:chOff x="1315153" y="2110600"/>
            <a:chExt cx="7617445" cy="2203189"/>
          </a:xfrm>
        </p:grpSpPr>
        <p:sp>
          <p:nvSpPr>
            <p:cNvPr id="8" name="Freeform 36"/>
            <p:cNvSpPr>
              <a:spLocks/>
            </p:cNvSpPr>
            <p:nvPr/>
          </p:nvSpPr>
          <p:spPr bwMode="auto">
            <a:xfrm>
              <a:off x="1915849" y="2933700"/>
              <a:ext cx="6045068" cy="566738"/>
            </a:xfrm>
            <a:custGeom>
              <a:avLst/>
              <a:gdLst>
                <a:gd name="T0" fmla="*/ 0 w 2540"/>
                <a:gd name="T1" fmla="*/ 2147483646 h 272"/>
                <a:gd name="T2" fmla="*/ 2147483646 w 2540"/>
                <a:gd name="T3" fmla="*/ 0 h 272"/>
                <a:gd name="T4" fmla="*/ 2147483646 w 2540"/>
                <a:gd name="T5" fmla="*/ 0 h 272"/>
                <a:gd name="T6" fmla="*/ 2147483646 w 2540"/>
                <a:gd name="T7" fmla="*/ 2147483646 h 272"/>
                <a:gd name="T8" fmla="*/ 0 w 2540"/>
                <a:gd name="T9" fmla="*/ 2147483646 h 27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40" h="272">
                  <a:moveTo>
                    <a:pt x="0" y="272"/>
                  </a:moveTo>
                  <a:lnTo>
                    <a:pt x="272" y="0"/>
                  </a:lnTo>
                  <a:lnTo>
                    <a:pt x="862" y="0"/>
                  </a:lnTo>
                  <a:lnTo>
                    <a:pt x="2540" y="272"/>
                  </a:lnTo>
                  <a:lnTo>
                    <a:pt x="0" y="272"/>
                  </a:lnTo>
                  <a:close/>
                </a:path>
              </a:pathLst>
            </a:custGeom>
            <a:gradFill rotWithShape="1">
              <a:gsLst>
                <a:gs pos="0">
                  <a:srgbClr val="0000FF"/>
                </a:gs>
                <a:gs pos="100000">
                  <a:srgbClr val="66FF66"/>
                </a:gs>
              </a:gsLst>
              <a:lin ang="540000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9" name="Text Box 37"/>
            <p:cNvSpPr txBox="1">
              <a:spLocks noChangeArrowheads="1"/>
            </p:cNvSpPr>
            <p:nvPr/>
          </p:nvSpPr>
          <p:spPr bwMode="auto">
            <a:xfrm>
              <a:off x="2007624" y="2110600"/>
              <a:ext cx="5220165" cy="3704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字节          </a:t>
              </a:r>
              <a:r>
                <a:rPr lang="en-US" altLang="zh-CN" sz="1600" b="1" dirty="0">
                  <a:solidFill>
                    <a:srgbClr val="0000FF"/>
                  </a:solidFill>
                  <a:latin typeface="微软雅黑 Light" panose="020B0502040204020203" pitchFamily="34" charset="-122"/>
                  <a:ea typeface="微软雅黑 Light" panose="020B0502040204020203" pitchFamily="34" charset="-122"/>
                </a:rPr>
                <a:t>1               </a:t>
              </a:r>
              <a:r>
                <a:rPr lang="zh-CN" altLang="en-US" sz="1600" b="1" dirty="0">
                  <a:solidFill>
                    <a:srgbClr val="0000FF"/>
                  </a:solidFill>
                  <a:latin typeface="微软雅黑 Light" panose="020B0502040204020203" pitchFamily="34" charset="-122"/>
                  <a:ea typeface="微软雅黑 Light" panose="020B0502040204020203" pitchFamily="34" charset="-122"/>
                </a:rPr>
                <a:t>可变                          可变</a:t>
              </a:r>
            </a:p>
          </p:txBody>
        </p:sp>
        <p:sp>
          <p:nvSpPr>
            <p:cNvPr id="10" name="Rectangle 38"/>
            <p:cNvSpPr>
              <a:spLocks noChangeArrowheads="1"/>
            </p:cNvSpPr>
            <p:nvPr/>
          </p:nvSpPr>
          <p:spPr bwMode="auto">
            <a:xfrm>
              <a:off x="2564210" y="2460626"/>
              <a:ext cx="6368388" cy="473075"/>
            </a:xfrm>
            <a:prstGeom prst="rect">
              <a:avLst/>
            </a:prstGeom>
            <a:solidFill>
              <a:srgbClr val="00FFCC"/>
            </a:solidFill>
            <a:ln w="12700">
              <a:solidFill>
                <a:schemeClr val="tx1"/>
              </a:solidFill>
              <a:miter lim="800000"/>
              <a:headEnd/>
              <a:tailEnd/>
            </a:ln>
            <a:effectLst/>
          </p:spPr>
          <p:txBody>
            <a:bodyPr wrap="none" anchor="ctr"/>
            <a:lstStyle/>
            <a:p>
              <a:pPr eaLnBrk="1" hangingPunct="1"/>
              <a:endParaRPr lang="zh-CN" altLang="en-US" b="1" dirty="0">
                <a:latin typeface="微软雅黑 Light" panose="020B0502040204020203" pitchFamily="34" charset="-122"/>
                <a:ea typeface="微软雅黑 Light" panose="020B0502040204020203" pitchFamily="34" charset="-122"/>
              </a:endParaRPr>
            </a:p>
          </p:txBody>
        </p:sp>
        <p:sp>
          <p:nvSpPr>
            <p:cNvPr id="11" name="Line 39"/>
            <p:cNvSpPr>
              <a:spLocks noChangeShapeType="1"/>
            </p:cNvSpPr>
            <p:nvPr/>
          </p:nvSpPr>
          <p:spPr bwMode="auto">
            <a:xfrm>
              <a:off x="3967560" y="2460626"/>
              <a:ext cx="0" cy="47307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12" name="Rectangle 40"/>
            <p:cNvSpPr>
              <a:spLocks noChangeArrowheads="1"/>
            </p:cNvSpPr>
            <p:nvPr/>
          </p:nvSpPr>
          <p:spPr bwMode="auto">
            <a:xfrm>
              <a:off x="2571158" y="2469552"/>
              <a:ext cx="1384431" cy="457200"/>
            </a:xfrm>
            <a:prstGeom prst="rect">
              <a:avLst/>
            </a:prstGeom>
            <a:solidFill>
              <a:srgbClr val="0066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b="1" dirty="0">
                <a:latin typeface="微软雅黑 Light" panose="020B0502040204020203" pitchFamily="34" charset="-122"/>
                <a:ea typeface="微软雅黑 Light" panose="020B0502040204020203" pitchFamily="34" charset="-122"/>
              </a:endParaRPr>
            </a:p>
          </p:txBody>
        </p:sp>
        <p:sp>
          <p:nvSpPr>
            <p:cNvPr id="13" name="Line 41"/>
            <p:cNvSpPr>
              <a:spLocks noChangeShapeType="1"/>
            </p:cNvSpPr>
            <p:nvPr/>
          </p:nvSpPr>
          <p:spPr bwMode="auto">
            <a:xfrm>
              <a:off x="5262563" y="2460626"/>
              <a:ext cx="0" cy="47307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14" name="Text Box 42"/>
            <p:cNvSpPr txBox="1">
              <a:spLocks noChangeArrowheads="1"/>
            </p:cNvSpPr>
            <p:nvPr/>
          </p:nvSpPr>
          <p:spPr bwMode="auto">
            <a:xfrm>
              <a:off x="2862665" y="2508880"/>
              <a:ext cx="4129195" cy="4041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800" b="1" dirty="0">
                  <a:solidFill>
                    <a:schemeClr val="bg1"/>
                  </a:solidFill>
                  <a:latin typeface="微软雅黑 Light" panose="020B0502040204020203" pitchFamily="34" charset="-122"/>
                  <a:ea typeface="微软雅黑 Light" panose="020B0502040204020203" pitchFamily="34" charset="-122"/>
                </a:rPr>
                <a:t>标记 </a:t>
              </a:r>
              <a:r>
                <a:rPr lang="en-US" altLang="zh-CN" sz="1800" b="1" dirty="0">
                  <a:solidFill>
                    <a:schemeClr val="bg1"/>
                  </a:solidFill>
                  <a:latin typeface="微软雅黑 Light" panose="020B0502040204020203" pitchFamily="34" charset="-122"/>
                  <a:ea typeface="微软雅黑 Light" panose="020B0502040204020203" pitchFamily="34" charset="-122"/>
                </a:rPr>
                <a:t>T       </a:t>
              </a:r>
              <a:r>
                <a:rPr lang="zh-CN" altLang="en-US" sz="1800" b="1" dirty="0">
                  <a:latin typeface="微软雅黑 Light" panose="020B0502040204020203" pitchFamily="34" charset="-122"/>
                  <a:ea typeface="微软雅黑 Light" panose="020B0502040204020203" pitchFamily="34" charset="-122"/>
                </a:rPr>
                <a:t>长度 </a:t>
              </a:r>
              <a:r>
                <a:rPr lang="en-US" altLang="zh-CN" sz="1800" b="1" dirty="0">
                  <a:latin typeface="微软雅黑 Light" panose="020B0502040204020203" pitchFamily="34" charset="-122"/>
                  <a:ea typeface="微软雅黑 Light" panose="020B0502040204020203" pitchFamily="34" charset="-122"/>
                </a:rPr>
                <a:t>L                   </a:t>
              </a:r>
              <a:r>
                <a:rPr lang="zh-CN" altLang="en-US" sz="1800" b="1" dirty="0">
                  <a:latin typeface="微软雅黑 Light" panose="020B0502040204020203" pitchFamily="34" charset="-122"/>
                  <a:ea typeface="微软雅黑 Light" panose="020B0502040204020203" pitchFamily="34" charset="-122"/>
                </a:rPr>
                <a:t>值 </a:t>
              </a:r>
              <a:r>
                <a:rPr lang="en-US" altLang="zh-CN" sz="1800" b="1" dirty="0">
                  <a:latin typeface="微软雅黑 Light" panose="020B0502040204020203" pitchFamily="34" charset="-122"/>
                  <a:ea typeface="微软雅黑 Light" panose="020B0502040204020203" pitchFamily="34" charset="-122"/>
                </a:rPr>
                <a:t>V</a:t>
              </a:r>
            </a:p>
          </p:txBody>
        </p:sp>
        <p:sp>
          <p:nvSpPr>
            <p:cNvPr id="15" name="Rectangle 43"/>
            <p:cNvSpPr>
              <a:spLocks noChangeArrowheads="1"/>
            </p:cNvSpPr>
            <p:nvPr/>
          </p:nvSpPr>
          <p:spPr bwMode="auto">
            <a:xfrm>
              <a:off x="1915849" y="3500439"/>
              <a:ext cx="6045068" cy="473075"/>
            </a:xfrm>
            <a:prstGeom prst="rect">
              <a:avLst/>
            </a:prstGeom>
            <a:solidFill>
              <a:srgbClr val="0000FF"/>
            </a:solidFill>
            <a:ln w="12700">
              <a:solidFill>
                <a:schemeClr val="tx1"/>
              </a:solidFill>
              <a:miter lim="800000"/>
              <a:headEnd/>
              <a:tailEnd/>
            </a:ln>
            <a:effectLst/>
          </p:spPr>
          <p:txBody>
            <a:bodyPr wrap="none" anchor="ctr"/>
            <a:lstStyle/>
            <a:p>
              <a:pPr eaLnBrk="1" hangingPunct="1"/>
              <a:endParaRPr lang="zh-CN" altLang="en-US" b="1" dirty="0">
                <a:latin typeface="微软雅黑 Light" panose="020B0502040204020203" pitchFamily="34" charset="-122"/>
                <a:ea typeface="微软雅黑 Light" panose="020B0502040204020203" pitchFamily="34" charset="-122"/>
              </a:endParaRPr>
            </a:p>
          </p:txBody>
        </p:sp>
        <p:sp>
          <p:nvSpPr>
            <p:cNvPr id="16" name="Text Box 44"/>
            <p:cNvSpPr txBox="1">
              <a:spLocks noChangeArrowheads="1"/>
            </p:cNvSpPr>
            <p:nvPr/>
          </p:nvSpPr>
          <p:spPr bwMode="auto">
            <a:xfrm>
              <a:off x="2344381" y="3548543"/>
              <a:ext cx="4281790" cy="4041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800" b="1" dirty="0">
                  <a:solidFill>
                    <a:schemeClr val="bg1"/>
                  </a:solidFill>
                  <a:latin typeface="微软雅黑 Light" panose="020B0502040204020203" pitchFamily="34" charset="-122"/>
                  <a:ea typeface="微软雅黑 Light" panose="020B0502040204020203" pitchFamily="34" charset="-122"/>
                </a:rPr>
                <a:t>类   别       格 式                  编     号</a:t>
              </a:r>
            </a:p>
          </p:txBody>
        </p:sp>
        <p:sp>
          <p:nvSpPr>
            <p:cNvPr id="17" name="Line 45"/>
            <p:cNvSpPr>
              <a:spLocks noChangeShapeType="1"/>
            </p:cNvSpPr>
            <p:nvPr/>
          </p:nvSpPr>
          <p:spPr bwMode="auto">
            <a:xfrm>
              <a:off x="3427545" y="3500439"/>
              <a:ext cx="0" cy="47307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18" name="Line 46"/>
            <p:cNvSpPr>
              <a:spLocks noChangeShapeType="1"/>
            </p:cNvSpPr>
            <p:nvPr/>
          </p:nvSpPr>
          <p:spPr bwMode="auto">
            <a:xfrm>
              <a:off x="4507575" y="3500439"/>
              <a:ext cx="0" cy="47307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19" name="Text Box 47"/>
            <p:cNvSpPr txBox="1">
              <a:spLocks noChangeArrowheads="1"/>
            </p:cNvSpPr>
            <p:nvPr/>
          </p:nvSpPr>
          <p:spPr bwMode="auto">
            <a:xfrm>
              <a:off x="1505902" y="3943351"/>
              <a:ext cx="4841306" cy="3704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位            </a:t>
              </a:r>
              <a:r>
                <a:rPr lang="en-US" altLang="zh-CN" sz="1600" b="1" dirty="0">
                  <a:solidFill>
                    <a:srgbClr val="0000FF"/>
                  </a:solidFill>
                  <a:latin typeface="微软雅黑 Light" panose="020B0502040204020203" pitchFamily="34" charset="-122"/>
                  <a:ea typeface="微软雅黑 Light" panose="020B0502040204020203" pitchFamily="34" charset="-122"/>
                </a:rPr>
                <a:t>2                   1                             5</a:t>
              </a:r>
            </a:p>
          </p:txBody>
        </p:sp>
        <p:sp>
          <p:nvSpPr>
            <p:cNvPr id="20" name="Text Box 48"/>
            <p:cNvSpPr txBox="1">
              <a:spLocks noChangeArrowheads="1"/>
            </p:cNvSpPr>
            <p:nvPr/>
          </p:nvSpPr>
          <p:spPr bwMode="auto">
            <a:xfrm>
              <a:off x="1315153" y="2492375"/>
              <a:ext cx="1429148" cy="3704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latin typeface="微软雅黑 Light" panose="020B0502040204020203" pitchFamily="34" charset="-122"/>
                  <a:ea typeface="微软雅黑 Light" panose="020B0502040204020203" pitchFamily="34" charset="-122"/>
                </a:rPr>
                <a:t>数据元素</a:t>
              </a:r>
            </a:p>
          </p:txBody>
        </p:sp>
      </p:grpSp>
    </p:spTree>
    <p:extLst>
      <p:ext uri="{BB962C8B-B14F-4D97-AF65-F5344CB8AC3E}">
        <p14:creationId xmlns:p14="http://schemas.microsoft.com/office/powerpoint/2010/main" val="308341625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0875"/>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7" name="Rectangle 6"/>
          <p:cNvSpPr>
            <a:spLocks noChangeArrowheads="1"/>
          </p:cNvSpPr>
          <p:nvPr/>
        </p:nvSpPr>
        <p:spPr bwMode="auto">
          <a:xfrm>
            <a:off x="2689648" y="577664"/>
            <a:ext cx="378340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中的 </a:t>
            </a:r>
            <a:r>
              <a:rPr lang="en-US" altLang="zh-CN" sz="2000" b="1" dirty="0">
                <a:solidFill>
                  <a:schemeClr val="bg1"/>
                </a:solidFill>
                <a:latin typeface="微软雅黑 Light" panose="020B0502040204020203" pitchFamily="34" charset="-122"/>
                <a:ea typeface="微软雅黑 Light" panose="020B0502040204020203" pitchFamily="34" charset="-122"/>
              </a:rPr>
              <a:t>T </a:t>
            </a:r>
            <a:r>
              <a:rPr lang="zh-CN" altLang="en-US" sz="2000" b="1" dirty="0">
                <a:solidFill>
                  <a:schemeClr val="bg1"/>
                </a:solidFill>
                <a:latin typeface="微软雅黑 Light" panose="020B0502040204020203" pitchFamily="34" charset="-122"/>
                <a:ea typeface="微软雅黑 Light" panose="020B0502040204020203" pitchFamily="34" charset="-122"/>
              </a:rPr>
              <a:t>字段定义数据的类型</a:t>
            </a:r>
          </a:p>
        </p:txBody>
      </p:sp>
      <p:graphicFrame>
        <p:nvGraphicFramePr>
          <p:cNvPr id="2" name="表格 1"/>
          <p:cNvGraphicFramePr>
            <a:graphicFrameLocks noGrp="1"/>
          </p:cNvGraphicFramePr>
          <p:nvPr>
            <p:extLst>
              <p:ext uri="{D42A27DB-BD31-4B8C-83A1-F6EECF244321}">
                <p14:modId xmlns:p14="http://schemas.microsoft.com/office/powerpoint/2010/main" val="1686844800"/>
              </p:ext>
            </p:extLst>
          </p:nvPr>
        </p:nvGraphicFramePr>
        <p:xfrm>
          <a:off x="556963" y="1065835"/>
          <a:ext cx="8048775" cy="3119501"/>
        </p:xfrm>
        <a:graphic>
          <a:graphicData uri="http://schemas.openxmlformats.org/drawingml/2006/table">
            <a:tbl>
              <a:tblPr firstRow="1" bandRow="1">
                <a:tableStyleId>{7DF18680-E054-41AD-8BC1-D1AEF772440D}</a:tableStyleId>
              </a:tblPr>
              <a:tblGrid>
                <a:gridCol w="2303476">
                  <a:extLst>
                    <a:ext uri="{9D8B030D-6E8A-4147-A177-3AD203B41FA5}">
                      <a16:colId xmlns:a16="http://schemas.microsoft.com/office/drawing/2014/main" val="20000"/>
                    </a:ext>
                  </a:extLst>
                </a:gridCol>
                <a:gridCol w="696401">
                  <a:extLst>
                    <a:ext uri="{9D8B030D-6E8A-4147-A177-3AD203B41FA5}">
                      <a16:colId xmlns:a16="http://schemas.microsoft.com/office/drawing/2014/main" val="20001"/>
                    </a:ext>
                  </a:extLst>
                </a:gridCol>
                <a:gridCol w="618378">
                  <a:extLst>
                    <a:ext uri="{9D8B030D-6E8A-4147-A177-3AD203B41FA5}">
                      <a16:colId xmlns:a16="http://schemas.microsoft.com/office/drawing/2014/main" val="20002"/>
                    </a:ext>
                  </a:extLst>
                </a:gridCol>
                <a:gridCol w="923026">
                  <a:extLst>
                    <a:ext uri="{9D8B030D-6E8A-4147-A177-3AD203B41FA5}">
                      <a16:colId xmlns:a16="http://schemas.microsoft.com/office/drawing/2014/main" val="20003"/>
                    </a:ext>
                  </a:extLst>
                </a:gridCol>
                <a:gridCol w="1661445">
                  <a:extLst>
                    <a:ext uri="{9D8B030D-6E8A-4147-A177-3AD203B41FA5}">
                      <a16:colId xmlns:a16="http://schemas.microsoft.com/office/drawing/2014/main" val="20004"/>
                    </a:ext>
                  </a:extLst>
                </a:gridCol>
                <a:gridCol w="1846049">
                  <a:extLst>
                    <a:ext uri="{9D8B030D-6E8A-4147-A177-3AD203B41FA5}">
                      <a16:colId xmlns:a16="http://schemas.microsoft.com/office/drawing/2014/main" val="20005"/>
                    </a:ext>
                  </a:extLst>
                </a:gridCol>
              </a:tblGrid>
              <a:tr h="283591">
                <a:tc>
                  <a:txBody>
                    <a:bodyPr/>
                    <a:lstStyle/>
                    <a:p>
                      <a:pPr algn="ctr" hangingPunct="0">
                        <a:lnSpc>
                          <a:spcPts val="18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数据类型</a:t>
                      </a: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tc>
                  <a:txBody>
                    <a:bodyPr/>
                    <a:lstStyle/>
                    <a:p>
                      <a:pPr algn="ctr" hangingPunct="0">
                        <a:lnSpc>
                          <a:spcPts val="18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类别</a:t>
                      </a: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tc>
                  <a:txBody>
                    <a:bodyPr/>
                    <a:lstStyle/>
                    <a:p>
                      <a:pPr algn="ctr" hangingPunct="0">
                        <a:lnSpc>
                          <a:spcPts val="18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格式</a:t>
                      </a: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tc>
                  <a:txBody>
                    <a:bodyPr/>
                    <a:lstStyle/>
                    <a:p>
                      <a:pPr algn="ctr" hangingPunct="0">
                        <a:lnSpc>
                          <a:spcPts val="18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编号</a:t>
                      </a: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tc>
                  <a:txBody>
                    <a:bodyPr/>
                    <a:lstStyle/>
                    <a:p>
                      <a:pPr algn="ctr" hangingPunct="0">
                        <a:lnSpc>
                          <a:spcPts val="1800"/>
                        </a:lnSpc>
                        <a:spcAft>
                          <a:spcPts val="0"/>
                        </a:spcAft>
                      </a:pPr>
                      <a:r>
                        <a:rPr lang="en-US" sz="1400" b="1" dirty="0">
                          <a:solidFill>
                            <a:schemeClr val="bg1"/>
                          </a:solidFill>
                          <a:effectLst/>
                          <a:latin typeface="微软雅黑 Light" panose="020B0502040204020203" pitchFamily="34" charset="-122"/>
                          <a:ea typeface="微软雅黑 Light" panose="020B0502040204020203" pitchFamily="34" charset="-122"/>
                        </a:rPr>
                        <a:t>T </a:t>
                      </a:r>
                      <a:r>
                        <a:rPr lang="zh-CN" sz="1400" b="1" dirty="0">
                          <a:solidFill>
                            <a:schemeClr val="bg1"/>
                          </a:solidFill>
                          <a:effectLst/>
                          <a:latin typeface="微软雅黑 Light" panose="020B0502040204020203" pitchFamily="34" charset="-122"/>
                          <a:ea typeface="微软雅黑 Light" panose="020B0502040204020203" pitchFamily="34" charset="-122"/>
                        </a:rPr>
                        <a:t>字段（二进制）</a:t>
                      </a: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tc>
                  <a:txBody>
                    <a:bodyPr/>
                    <a:lstStyle/>
                    <a:p>
                      <a:pPr algn="ctr" hangingPunct="0">
                        <a:lnSpc>
                          <a:spcPts val="1800"/>
                        </a:lnSpc>
                        <a:spcAft>
                          <a:spcPts val="0"/>
                        </a:spcAft>
                      </a:pPr>
                      <a:r>
                        <a:rPr lang="en-US" sz="1400" b="1" dirty="0">
                          <a:solidFill>
                            <a:schemeClr val="bg1"/>
                          </a:solidFill>
                          <a:effectLst/>
                          <a:latin typeface="微软雅黑 Light" panose="020B0502040204020203" pitchFamily="34" charset="-122"/>
                          <a:ea typeface="微软雅黑 Light" panose="020B0502040204020203" pitchFamily="34" charset="-122"/>
                        </a:rPr>
                        <a:t>T </a:t>
                      </a:r>
                      <a:r>
                        <a:rPr lang="zh-CN" sz="1400" b="1" dirty="0">
                          <a:solidFill>
                            <a:schemeClr val="bg1"/>
                          </a:solidFill>
                          <a:effectLst/>
                          <a:latin typeface="微软雅黑 Light" panose="020B0502040204020203" pitchFamily="34" charset="-122"/>
                          <a:ea typeface="微软雅黑 Light" panose="020B0502040204020203" pitchFamily="34" charset="-122"/>
                        </a:rPr>
                        <a:t>字段（十六进制）</a:t>
                      </a: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extLst>
                  <a:ext uri="{0D108BD9-81ED-4DB2-BD59-A6C34878D82A}">
                    <a16:rowId xmlns:a16="http://schemas.microsoft.com/office/drawing/2014/main" val="10000"/>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INTEGER</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00010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00000010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02</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10001"/>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OCTET STRING</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00100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00000100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04</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extLst>
                  <a:ext uri="{0D108BD9-81ED-4DB2-BD59-A6C34878D82A}">
                    <a16:rowId xmlns:a16="http://schemas.microsoft.com/office/drawing/2014/main" val="10002"/>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OBJECT IDENTIFIER</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00110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00000110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06</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10003"/>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NULL</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00101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00000101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05</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extLst>
                  <a:ext uri="{0D108BD9-81ED-4DB2-BD59-A6C34878D82A}">
                    <a16:rowId xmlns:a16="http://schemas.microsoft.com/office/drawing/2014/main" val="10004"/>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Sequence, sequence of</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10000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00110000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30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10005"/>
                  </a:ext>
                </a:extLst>
              </a:tr>
              <a:tr h="283591">
                <a:tc>
                  <a:txBody>
                    <a:bodyPr/>
                    <a:lstStyle/>
                    <a:p>
                      <a:pPr algn="l" hangingPunct="0">
                        <a:lnSpc>
                          <a:spcPts val="1800"/>
                        </a:lnSpc>
                        <a:spcAft>
                          <a:spcPts val="0"/>
                        </a:spcAft>
                      </a:pPr>
                      <a:r>
                        <a:rPr lang="en-US" sz="1400" b="1" dirty="0" err="1">
                          <a:solidFill>
                            <a:schemeClr val="tx1"/>
                          </a:solidFill>
                          <a:effectLst/>
                          <a:latin typeface="微软雅黑 Light" panose="020B0502040204020203" pitchFamily="34" charset="-122"/>
                          <a:ea typeface="微软雅黑 Light" panose="020B0502040204020203" pitchFamily="34" charset="-122"/>
                        </a:rPr>
                        <a:t>IPAddress</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01000000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40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extLst>
                  <a:ext uri="{0D108BD9-81ED-4DB2-BD59-A6C34878D82A}">
                    <a16:rowId xmlns:a16="http://schemas.microsoft.com/office/drawing/2014/main" val="10006"/>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Counter</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01000001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41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10007"/>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Gauge</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00010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01000010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42</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extLst>
                  <a:ext uri="{0D108BD9-81ED-4DB2-BD59-A6C34878D82A}">
                    <a16:rowId xmlns:a16="http://schemas.microsoft.com/office/drawing/2014/main" val="10008"/>
                  </a:ext>
                </a:extLst>
              </a:tr>
              <a:tr h="283591">
                <a:tc>
                  <a:txBody>
                    <a:bodyPr/>
                    <a:lstStyle/>
                    <a:p>
                      <a:pPr algn="l" hangingPunct="0">
                        <a:lnSpc>
                          <a:spcPts val="1800"/>
                        </a:lnSpc>
                        <a:spcAft>
                          <a:spcPts val="0"/>
                        </a:spcAft>
                      </a:pPr>
                      <a:r>
                        <a:rPr lang="en-US" sz="1400" b="1" dirty="0" err="1">
                          <a:solidFill>
                            <a:schemeClr val="tx1"/>
                          </a:solidFill>
                          <a:effectLst/>
                          <a:latin typeface="微软雅黑 Light" panose="020B0502040204020203" pitchFamily="34" charset="-122"/>
                          <a:ea typeface="微软雅黑 Light" panose="020B0502040204020203" pitchFamily="34" charset="-122"/>
                        </a:rPr>
                        <a:t>TimeTicks</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00011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01000011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43</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10009"/>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Opaque</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00100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01000100 </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44</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00FFCC"/>
                    </a:solidFill>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6803226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538164" y="582898"/>
            <a:ext cx="408637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中的 </a:t>
            </a:r>
            <a:r>
              <a:rPr lang="en-US" altLang="zh-CN" sz="2000" b="1" dirty="0">
                <a:solidFill>
                  <a:schemeClr val="bg1"/>
                </a:solidFill>
                <a:latin typeface="微软雅黑 Light" panose="020B0502040204020203" pitchFamily="34" charset="-122"/>
                <a:ea typeface="微软雅黑 Light" panose="020B0502040204020203" pitchFamily="34" charset="-122"/>
              </a:rPr>
              <a:t>L </a:t>
            </a:r>
            <a:r>
              <a:rPr lang="zh-CN" altLang="en-US" sz="2000" b="1" dirty="0">
                <a:solidFill>
                  <a:schemeClr val="bg1"/>
                </a:solidFill>
                <a:latin typeface="微软雅黑 Light" panose="020B0502040204020203" pitchFamily="34" charset="-122"/>
                <a:ea typeface="微软雅黑 Light" panose="020B0502040204020203" pitchFamily="34" charset="-122"/>
              </a:rPr>
              <a:t>字段定义 </a:t>
            </a:r>
            <a:r>
              <a:rPr lang="en-US" altLang="zh-CN" sz="2000" b="1" dirty="0">
                <a:solidFill>
                  <a:schemeClr val="bg1"/>
                </a:solidFill>
                <a:latin typeface="微软雅黑 Light" panose="020B0502040204020203" pitchFamily="34" charset="-122"/>
                <a:ea typeface="微软雅黑 Light" panose="020B0502040204020203" pitchFamily="34" charset="-122"/>
              </a:rPr>
              <a:t>V </a:t>
            </a:r>
            <a:r>
              <a:rPr lang="zh-CN" altLang="en-US" sz="2000" b="1" dirty="0">
                <a:solidFill>
                  <a:schemeClr val="bg1"/>
                </a:solidFill>
                <a:latin typeface="微软雅黑 Light" panose="020B0502040204020203" pitchFamily="34" charset="-122"/>
                <a:ea typeface="微软雅黑 Light" panose="020B0502040204020203" pitchFamily="34" charset="-122"/>
              </a:rPr>
              <a:t>字段的长度</a:t>
            </a:r>
          </a:p>
        </p:txBody>
      </p:sp>
      <p:sp>
        <p:nvSpPr>
          <p:cNvPr id="19" name="Text Box 4"/>
          <p:cNvSpPr txBox="1">
            <a:spLocks noChangeArrowheads="1"/>
          </p:cNvSpPr>
          <p:nvPr/>
        </p:nvSpPr>
        <p:spPr bwMode="auto">
          <a:xfrm>
            <a:off x="2245313" y="1521070"/>
            <a:ext cx="2560316"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指出 </a:t>
            </a:r>
            <a:r>
              <a:rPr lang="en-US" altLang="zh-CN" sz="1600" b="1" dirty="0">
                <a:solidFill>
                  <a:srgbClr val="0000FF"/>
                </a:solidFill>
                <a:latin typeface="微软雅黑 Light" panose="020B0502040204020203" pitchFamily="34" charset="-122"/>
                <a:ea typeface="微软雅黑 Light" panose="020B0502040204020203" pitchFamily="34" charset="-122"/>
              </a:rPr>
              <a:t>V </a:t>
            </a:r>
            <a:r>
              <a:rPr lang="zh-CN" altLang="en-US" sz="1600" b="1" dirty="0">
                <a:solidFill>
                  <a:srgbClr val="0000FF"/>
                </a:solidFill>
                <a:latin typeface="微软雅黑 Light" panose="020B0502040204020203" pitchFamily="34" charset="-122"/>
                <a:ea typeface="微软雅黑 Light" panose="020B0502040204020203" pitchFamily="34" charset="-122"/>
              </a:rPr>
              <a:t>字段长度 </a:t>
            </a:r>
            <a:r>
              <a:rPr lang="en-US" altLang="zh-CN" sz="1600" b="1" dirty="0">
                <a:solidFill>
                  <a:srgbClr val="0000FF"/>
                </a:solidFill>
                <a:latin typeface="微软雅黑 Light" panose="020B0502040204020203" pitchFamily="34" charset="-122"/>
                <a:ea typeface="微软雅黑 Light" panose="020B0502040204020203" pitchFamily="34" charset="-122"/>
              </a:rPr>
              <a:t>= 2 </a:t>
            </a:r>
            <a:r>
              <a:rPr lang="zh-CN" altLang="en-US" sz="1600" b="1" dirty="0">
                <a:solidFill>
                  <a:srgbClr val="0000FF"/>
                </a:solidFill>
                <a:latin typeface="微软雅黑 Light" panose="020B0502040204020203" pitchFamily="34" charset="-122"/>
                <a:ea typeface="微软雅黑 Light" panose="020B0502040204020203" pitchFamily="34" charset="-122"/>
              </a:rPr>
              <a:t>字节</a:t>
            </a:r>
          </a:p>
        </p:txBody>
      </p:sp>
      <p:sp>
        <p:nvSpPr>
          <p:cNvPr id="20" name="Rectangle 5"/>
          <p:cNvSpPr>
            <a:spLocks noChangeArrowheads="1"/>
          </p:cNvSpPr>
          <p:nvPr/>
        </p:nvSpPr>
        <p:spPr bwMode="auto">
          <a:xfrm>
            <a:off x="2524966" y="2007514"/>
            <a:ext cx="227656" cy="306136"/>
          </a:xfrm>
          <a:prstGeom prst="rect">
            <a:avLst/>
          </a:prstGeom>
          <a:solidFill>
            <a:srgbClr val="0000FF"/>
          </a:solidFill>
          <a:ln w="9525">
            <a:solidFill>
              <a:schemeClr val="tx1"/>
            </a:solidFill>
            <a:miter lim="800000"/>
            <a:headEnd/>
            <a:tailEnd/>
          </a:ln>
          <a:effectLst/>
        </p:spPr>
        <p:txBody>
          <a:bodyPr wrap="none" anchor="ctr"/>
          <a:lstStyle/>
          <a:p>
            <a:pPr algn="ctr" eaLnBrk="1" hangingPunct="1"/>
            <a:r>
              <a:rPr lang="en-US" altLang="zh-CN" sz="1600" b="1" dirty="0">
                <a:solidFill>
                  <a:schemeClr val="bg1"/>
                </a:solidFill>
                <a:latin typeface="微软雅黑 Light" panose="020B0502040204020203" pitchFamily="34" charset="-122"/>
                <a:ea typeface="微软雅黑 Light" panose="020B0502040204020203" pitchFamily="34" charset="-122"/>
              </a:rPr>
              <a:t>0</a:t>
            </a:r>
          </a:p>
        </p:txBody>
      </p:sp>
      <p:sp>
        <p:nvSpPr>
          <p:cNvPr id="21" name="Rectangle 6"/>
          <p:cNvSpPr>
            <a:spLocks noChangeArrowheads="1"/>
          </p:cNvSpPr>
          <p:nvPr/>
        </p:nvSpPr>
        <p:spPr bwMode="auto">
          <a:xfrm>
            <a:off x="2752622" y="2007514"/>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22" name="Rectangle 7"/>
          <p:cNvSpPr>
            <a:spLocks noChangeArrowheads="1"/>
          </p:cNvSpPr>
          <p:nvPr/>
        </p:nvSpPr>
        <p:spPr bwMode="auto">
          <a:xfrm>
            <a:off x="2980278" y="2007514"/>
            <a:ext cx="226250"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23" name="Rectangle 8"/>
          <p:cNvSpPr>
            <a:spLocks noChangeArrowheads="1"/>
          </p:cNvSpPr>
          <p:nvPr/>
        </p:nvSpPr>
        <p:spPr bwMode="auto">
          <a:xfrm>
            <a:off x="3206528" y="2007514"/>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24" name="Rectangle 9"/>
          <p:cNvSpPr>
            <a:spLocks noChangeArrowheads="1"/>
          </p:cNvSpPr>
          <p:nvPr/>
        </p:nvSpPr>
        <p:spPr bwMode="auto">
          <a:xfrm>
            <a:off x="3434185" y="2007514"/>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25" name="Rectangle 10"/>
          <p:cNvSpPr>
            <a:spLocks noChangeArrowheads="1"/>
          </p:cNvSpPr>
          <p:nvPr/>
        </p:nvSpPr>
        <p:spPr bwMode="auto">
          <a:xfrm>
            <a:off x="3661841" y="2007514"/>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26" name="Rectangle 11"/>
          <p:cNvSpPr>
            <a:spLocks noChangeArrowheads="1"/>
          </p:cNvSpPr>
          <p:nvPr/>
        </p:nvSpPr>
        <p:spPr bwMode="auto">
          <a:xfrm>
            <a:off x="3889496" y="2007514"/>
            <a:ext cx="226251"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1</a:t>
            </a:r>
          </a:p>
        </p:txBody>
      </p:sp>
      <p:sp>
        <p:nvSpPr>
          <p:cNvPr id="27" name="Rectangle 12"/>
          <p:cNvSpPr>
            <a:spLocks noChangeArrowheads="1"/>
          </p:cNvSpPr>
          <p:nvPr/>
        </p:nvSpPr>
        <p:spPr bwMode="auto">
          <a:xfrm>
            <a:off x="4115748" y="2007514"/>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28" name="Rectangle 13"/>
          <p:cNvSpPr>
            <a:spLocks noChangeArrowheads="1"/>
          </p:cNvSpPr>
          <p:nvPr/>
        </p:nvSpPr>
        <p:spPr bwMode="auto">
          <a:xfrm>
            <a:off x="2526371" y="3023210"/>
            <a:ext cx="227656" cy="306136"/>
          </a:xfrm>
          <a:prstGeom prst="rect">
            <a:avLst/>
          </a:prstGeom>
          <a:solidFill>
            <a:srgbClr val="CC00FF"/>
          </a:solidFill>
          <a:ln w="9525" algn="ctr">
            <a:solidFill>
              <a:schemeClr val="tx1"/>
            </a:solidFill>
            <a:miter lim="800000"/>
            <a:headEnd/>
            <a:tailEnd/>
          </a:ln>
          <a:effectLst/>
        </p:spPr>
        <p:txBody>
          <a:bodyPr wrap="none" anchor="ctr"/>
          <a:lstStyle/>
          <a:p>
            <a:pPr algn="ctr" eaLnBrk="1" hangingPunct="1"/>
            <a:r>
              <a:rPr lang="en-US" altLang="zh-CN" sz="1600" b="1" dirty="0">
                <a:solidFill>
                  <a:schemeClr val="bg1"/>
                </a:solidFill>
                <a:latin typeface="微软雅黑 Light" panose="020B0502040204020203" pitchFamily="34" charset="-122"/>
                <a:ea typeface="微软雅黑 Light" panose="020B0502040204020203" pitchFamily="34" charset="-122"/>
              </a:rPr>
              <a:t>1</a:t>
            </a:r>
          </a:p>
        </p:txBody>
      </p:sp>
      <p:sp>
        <p:nvSpPr>
          <p:cNvPr id="29" name="Rectangle 14"/>
          <p:cNvSpPr>
            <a:spLocks noChangeArrowheads="1"/>
          </p:cNvSpPr>
          <p:nvPr/>
        </p:nvSpPr>
        <p:spPr bwMode="auto">
          <a:xfrm>
            <a:off x="2754027" y="3025805"/>
            <a:ext cx="227656" cy="306136"/>
          </a:xfrm>
          <a:prstGeom prst="rect">
            <a:avLst/>
          </a:prstGeom>
          <a:solidFill>
            <a:srgbClr val="FFFF00"/>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0" name="Rectangle 15"/>
          <p:cNvSpPr>
            <a:spLocks noChangeArrowheads="1"/>
          </p:cNvSpPr>
          <p:nvPr/>
        </p:nvSpPr>
        <p:spPr bwMode="auto">
          <a:xfrm>
            <a:off x="2981683" y="3025805"/>
            <a:ext cx="226251" cy="306136"/>
          </a:xfrm>
          <a:prstGeom prst="rect">
            <a:avLst/>
          </a:prstGeom>
          <a:solidFill>
            <a:srgbClr val="FFFF00"/>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1" name="Rectangle 16"/>
          <p:cNvSpPr>
            <a:spLocks noChangeArrowheads="1"/>
          </p:cNvSpPr>
          <p:nvPr/>
        </p:nvSpPr>
        <p:spPr bwMode="auto">
          <a:xfrm>
            <a:off x="3207935" y="3025805"/>
            <a:ext cx="227656" cy="306136"/>
          </a:xfrm>
          <a:prstGeom prst="rect">
            <a:avLst/>
          </a:prstGeom>
          <a:solidFill>
            <a:srgbClr val="FFFF00"/>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2" name="Rectangle 17"/>
          <p:cNvSpPr>
            <a:spLocks noChangeArrowheads="1"/>
          </p:cNvSpPr>
          <p:nvPr/>
        </p:nvSpPr>
        <p:spPr bwMode="auto">
          <a:xfrm>
            <a:off x="3435591" y="3025805"/>
            <a:ext cx="227656" cy="306136"/>
          </a:xfrm>
          <a:prstGeom prst="rect">
            <a:avLst/>
          </a:prstGeom>
          <a:solidFill>
            <a:srgbClr val="FFFF00"/>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3" name="Rectangle 18"/>
          <p:cNvSpPr>
            <a:spLocks noChangeArrowheads="1"/>
          </p:cNvSpPr>
          <p:nvPr/>
        </p:nvSpPr>
        <p:spPr bwMode="auto">
          <a:xfrm>
            <a:off x="3663247" y="3025805"/>
            <a:ext cx="227656" cy="306136"/>
          </a:xfrm>
          <a:prstGeom prst="rect">
            <a:avLst/>
          </a:prstGeom>
          <a:solidFill>
            <a:srgbClr val="FFFF00"/>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4" name="Rectangle 19"/>
          <p:cNvSpPr>
            <a:spLocks noChangeArrowheads="1"/>
          </p:cNvSpPr>
          <p:nvPr/>
        </p:nvSpPr>
        <p:spPr bwMode="auto">
          <a:xfrm>
            <a:off x="3890902" y="3025805"/>
            <a:ext cx="227656" cy="306136"/>
          </a:xfrm>
          <a:prstGeom prst="rect">
            <a:avLst/>
          </a:prstGeom>
          <a:solidFill>
            <a:srgbClr val="FFFF00"/>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1</a:t>
            </a:r>
          </a:p>
        </p:txBody>
      </p:sp>
      <p:sp>
        <p:nvSpPr>
          <p:cNvPr id="35" name="Rectangle 20"/>
          <p:cNvSpPr>
            <a:spLocks noChangeArrowheads="1"/>
          </p:cNvSpPr>
          <p:nvPr/>
        </p:nvSpPr>
        <p:spPr bwMode="auto">
          <a:xfrm>
            <a:off x="4118559" y="3025805"/>
            <a:ext cx="226250" cy="306136"/>
          </a:xfrm>
          <a:prstGeom prst="rect">
            <a:avLst/>
          </a:prstGeom>
          <a:solidFill>
            <a:srgbClr val="FFFF00"/>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6" name="Rectangle 21"/>
          <p:cNvSpPr>
            <a:spLocks noChangeArrowheads="1"/>
          </p:cNvSpPr>
          <p:nvPr/>
        </p:nvSpPr>
        <p:spPr bwMode="auto">
          <a:xfrm>
            <a:off x="4497985" y="3025805"/>
            <a:ext cx="226250"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7" name="Rectangle 22"/>
          <p:cNvSpPr>
            <a:spLocks noChangeArrowheads="1"/>
          </p:cNvSpPr>
          <p:nvPr/>
        </p:nvSpPr>
        <p:spPr bwMode="auto">
          <a:xfrm>
            <a:off x="4724236"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8" name="Rectangle 23"/>
          <p:cNvSpPr>
            <a:spLocks noChangeArrowheads="1"/>
          </p:cNvSpPr>
          <p:nvPr/>
        </p:nvSpPr>
        <p:spPr bwMode="auto">
          <a:xfrm>
            <a:off x="4951893"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9" name="Rectangle 24"/>
          <p:cNvSpPr>
            <a:spLocks noChangeArrowheads="1"/>
          </p:cNvSpPr>
          <p:nvPr/>
        </p:nvSpPr>
        <p:spPr bwMode="auto">
          <a:xfrm>
            <a:off x="5179548"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0" name="Rectangle 25"/>
          <p:cNvSpPr>
            <a:spLocks noChangeArrowheads="1"/>
          </p:cNvSpPr>
          <p:nvPr/>
        </p:nvSpPr>
        <p:spPr bwMode="auto">
          <a:xfrm>
            <a:off x="5407204"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1" name="Rectangle 26"/>
          <p:cNvSpPr>
            <a:spLocks noChangeArrowheads="1"/>
          </p:cNvSpPr>
          <p:nvPr/>
        </p:nvSpPr>
        <p:spPr bwMode="auto">
          <a:xfrm>
            <a:off x="5634860" y="3025805"/>
            <a:ext cx="226251"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2" name="Rectangle 27"/>
          <p:cNvSpPr>
            <a:spLocks noChangeArrowheads="1"/>
          </p:cNvSpPr>
          <p:nvPr/>
        </p:nvSpPr>
        <p:spPr bwMode="auto">
          <a:xfrm>
            <a:off x="5861111"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3" name="Rectangle 28"/>
          <p:cNvSpPr>
            <a:spLocks noChangeArrowheads="1"/>
          </p:cNvSpPr>
          <p:nvPr/>
        </p:nvSpPr>
        <p:spPr bwMode="auto">
          <a:xfrm>
            <a:off x="6088768"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1</a:t>
            </a:r>
          </a:p>
        </p:txBody>
      </p:sp>
      <p:sp>
        <p:nvSpPr>
          <p:cNvPr id="44" name="Rectangle 29"/>
          <p:cNvSpPr>
            <a:spLocks noChangeArrowheads="1"/>
          </p:cNvSpPr>
          <p:nvPr/>
        </p:nvSpPr>
        <p:spPr bwMode="auto">
          <a:xfrm>
            <a:off x="6468194"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5" name="Rectangle 30"/>
          <p:cNvSpPr>
            <a:spLocks noChangeArrowheads="1"/>
          </p:cNvSpPr>
          <p:nvPr/>
        </p:nvSpPr>
        <p:spPr bwMode="auto">
          <a:xfrm>
            <a:off x="6695851"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6" name="Rectangle 31"/>
          <p:cNvSpPr>
            <a:spLocks noChangeArrowheads="1"/>
          </p:cNvSpPr>
          <p:nvPr/>
        </p:nvSpPr>
        <p:spPr bwMode="auto">
          <a:xfrm>
            <a:off x="6923507"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7" name="Rectangle 32"/>
          <p:cNvSpPr>
            <a:spLocks noChangeArrowheads="1"/>
          </p:cNvSpPr>
          <p:nvPr/>
        </p:nvSpPr>
        <p:spPr bwMode="auto">
          <a:xfrm>
            <a:off x="7151163" y="3025805"/>
            <a:ext cx="226250"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8" name="Rectangle 33"/>
          <p:cNvSpPr>
            <a:spLocks noChangeArrowheads="1"/>
          </p:cNvSpPr>
          <p:nvPr/>
        </p:nvSpPr>
        <p:spPr bwMode="auto">
          <a:xfrm>
            <a:off x="7377413"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9" name="Rectangle 34"/>
          <p:cNvSpPr>
            <a:spLocks noChangeArrowheads="1"/>
          </p:cNvSpPr>
          <p:nvPr/>
        </p:nvSpPr>
        <p:spPr bwMode="auto">
          <a:xfrm>
            <a:off x="7605069"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1</a:t>
            </a:r>
          </a:p>
        </p:txBody>
      </p:sp>
      <p:sp>
        <p:nvSpPr>
          <p:cNvPr id="50" name="Rectangle 35"/>
          <p:cNvSpPr>
            <a:spLocks noChangeArrowheads="1"/>
          </p:cNvSpPr>
          <p:nvPr/>
        </p:nvSpPr>
        <p:spPr bwMode="auto">
          <a:xfrm>
            <a:off x="7832726"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1</a:t>
            </a:r>
          </a:p>
        </p:txBody>
      </p:sp>
      <p:sp>
        <p:nvSpPr>
          <p:cNvPr id="51" name="Rectangle 36"/>
          <p:cNvSpPr>
            <a:spLocks noChangeArrowheads="1"/>
          </p:cNvSpPr>
          <p:nvPr/>
        </p:nvSpPr>
        <p:spPr bwMode="auto">
          <a:xfrm>
            <a:off x="8060381" y="3025805"/>
            <a:ext cx="226251"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52" name="Text Box 37"/>
          <p:cNvSpPr txBox="1">
            <a:spLocks noChangeArrowheads="1"/>
          </p:cNvSpPr>
          <p:nvPr/>
        </p:nvSpPr>
        <p:spPr bwMode="auto">
          <a:xfrm>
            <a:off x="779603" y="1991949"/>
            <a:ext cx="1649811"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C00000"/>
                </a:solidFill>
                <a:latin typeface="微软雅黑 Light" panose="020B0502040204020203" pitchFamily="34" charset="-122"/>
                <a:ea typeface="微软雅黑 Light" panose="020B0502040204020203" pitchFamily="34" charset="-122"/>
              </a:rPr>
              <a:t>单字节的 </a:t>
            </a:r>
            <a:r>
              <a:rPr lang="en-US" altLang="zh-CN" sz="1600" b="1" dirty="0">
                <a:solidFill>
                  <a:srgbClr val="C00000"/>
                </a:solidFill>
                <a:latin typeface="微软雅黑 Light" panose="020B0502040204020203" pitchFamily="34" charset="-122"/>
                <a:ea typeface="微软雅黑 Light" panose="020B0502040204020203" pitchFamily="34" charset="-122"/>
              </a:rPr>
              <a:t>L </a:t>
            </a:r>
            <a:r>
              <a:rPr lang="zh-CN" altLang="en-US" sz="1600" b="1" dirty="0">
                <a:solidFill>
                  <a:srgbClr val="C00000"/>
                </a:solidFill>
                <a:latin typeface="微软雅黑 Light" panose="020B0502040204020203" pitchFamily="34" charset="-122"/>
                <a:ea typeface="微软雅黑 Light" panose="020B0502040204020203" pitchFamily="34" charset="-122"/>
              </a:rPr>
              <a:t>字段</a:t>
            </a:r>
          </a:p>
        </p:txBody>
      </p:sp>
      <p:sp>
        <p:nvSpPr>
          <p:cNvPr id="53" name="AutoShape 38"/>
          <p:cNvSpPr>
            <a:spLocks/>
          </p:cNvSpPr>
          <p:nvPr/>
        </p:nvSpPr>
        <p:spPr bwMode="auto">
          <a:xfrm rot="16200000">
            <a:off x="3487153" y="1075270"/>
            <a:ext cx="175120" cy="1590782"/>
          </a:xfrm>
          <a:prstGeom prst="rightBrace">
            <a:avLst>
              <a:gd name="adj1" fmla="val 6987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b="1" dirty="0">
              <a:latin typeface="微软雅黑 Light" panose="020B0502040204020203" pitchFamily="34" charset="-122"/>
              <a:ea typeface="微软雅黑 Light" panose="020B0502040204020203" pitchFamily="34" charset="-122"/>
            </a:endParaRPr>
          </a:p>
        </p:txBody>
      </p:sp>
      <p:sp>
        <p:nvSpPr>
          <p:cNvPr id="54" name="AutoShape 39"/>
          <p:cNvSpPr>
            <a:spLocks/>
          </p:cNvSpPr>
          <p:nvPr/>
        </p:nvSpPr>
        <p:spPr bwMode="auto">
          <a:xfrm rot="16200000">
            <a:off x="6344638" y="1020464"/>
            <a:ext cx="120638" cy="3791458"/>
          </a:xfrm>
          <a:prstGeom prst="rightBrace">
            <a:avLst>
              <a:gd name="adj1" fmla="val 241757"/>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b="1" dirty="0">
              <a:latin typeface="微软雅黑 Light" panose="020B0502040204020203" pitchFamily="34" charset="-122"/>
              <a:ea typeface="微软雅黑 Light" panose="020B0502040204020203" pitchFamily="34" charset="-122"/>
            </a:endParaRPr>
          </a:p>
        </p:txBody>
      </p:sp>
      <p:sp>
        <p:nvSpPr>
          <p:cNvPr id="55" name="Text Box 40"/>
          <p:cNvSpPr txBox="1">
            <a:spLocks noChangeArrowheads="1"/>
          </p:cNvSpPr>
          <p:nvPr/>
        </p:nvSpPr>
        <p:spPr bwMode="auto">
          <a:xfrm>
            <a:off x="5119120" y="2580871"/>
            <a:ext cx="2813591"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指出 </a:t>
            </a:r>
            <a:r>
              <a:rPr lang="en-US" altLang="zh-CN" sz="1600" b="1" dirty="0">
                <a:solidFill>
                  <a:srgbClr val="0000FF"/>
                </a:solidFill>
                <a:latin typeface="微软雅黑 Light" panose="020B0502040204020203" pitchFamily="34" charset="-122"/>
                <a:ea typeface="微软雅黑 Light" panose="020B0502040204020203" pitchFamily="34" charset="-122"/>
              </a:rPr>
              <a:t>V </a:t>
            </a:r>
            <a:r>
              <a:rPr lang="zh-CN" altLang="en-US" sz="1600" b="1" dirty="0">
                <a:solidFill>
                  <a:srgbClr val="0000FF"/>
                </a:solidFill>
                <a:latin typeface="微软雅黑 Light" panose="020B0502040204020203" pitchFamily="34" charset="-122"/>
                <a:ea typeface="微软雅黑 Light" panose="020B0502040204020203" pitchFamily="34" charset="-122"/>
              </a:rPr>
              <a:t>字段长度 </a:t>
            </a:r>
            <a:r>
              <a:rPr lang="en-US" altLang="zh-CN" sz="1600" b="1" dirty="0">
                <a:solidFill>
                  <a:srgbClr val="0000FF"/>
                </a:solidFill>
                <a:latin typeface="微软雅黑 Light" panose="020B0502040204020203" pitchFamily="34" charset="-122"/>
                <a:ea typeface="微软雅黑 Light" panose="020B0502040204020203" pitchFamily="34" charset="-122"/>
              </a:rPr>
              <a:t>= 262 </a:t>
            </a:r>
            <a:r>
              <a:rPr lang="zh-CN" altLang="en-US" sz="1600" b="1" dirty="0">
                <a:solidFill>
                  <a:srgbClr val="0000FF"/>
                </a:solidFill>
                <a:latin typeface="微软雅黑 Light" panose="020B0502040204020203" pitchFamily="34" charset="-122"/>
                <a:ea typeface="微软雅黑 Light" panose="020B0502040204020203" pitchFamily="34" charset="-122"/>
              </a:rPr>
              <a:t>字节</a:t>
            </a:r>
          </a:p>
        </p:txBody>
      </p:sp>
      <p:sp>
        <p:nvSpPr>
          <p:cNvPr id="56" name="Text Box 41"/>
          <p:cNvSpPr txBox="1">
            <a:spLocks noChangeArrowheads="1"/>
          </p:cNvSpPr>
          <p:nvPr/>
        </p:nvSpPr>
        <p:spPr bwMode="auto">
          <a:xfrm>
            <a:off x="779603" y="3023211"/>
            <a:ext cx="1649811"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C00000"/>
                </a:solidFill>
                <a:latin typeface="微软雅黑 Light" panose="020B0502040204020203" pitchFamily="34" charset="-122"/>
                <a:ea typeface="微软雅黑 Light" panose="020B0502040204020203" pitchFamily="34" charset="-122"/>
              </a:rPr>
              <a:t>多字节的 </a:t>
            </a:r>
            <a:r>
              <a:rPr lang="en-US" altLang="zh-CN" sz="1600" b="1" dirty="0">
                <a:solidFill>
                  <a:srgbClr val="C00000"/>
                </a:solidFill>
                <a:latin typeface="微软雅黑 Light" panose="020B0502040204020203" pitchFamily="34" charset="-122"/>
                <a:ea typeface="微软雅黑 Light" panose="020B0502040204020203" pitchFamily="34" charset="-122"/>
              </a:rPr>
              <a:t>L </a:t>
            </a:r>
            <a:r>
              <a:rPr lang="zh-CN" altLang="en-US" sz="1600" b="1" dirty="0">
                <a:solidFill>
                  <a:srgbClr val="C00000"/>
                </a:solidFill>
                <a:latin typeface="微软雅黑 Light" panose="020B0502040204020203" pitchFamily="34" charset="-122"/>
                <a:ea typeface="微软雅黑 Light" panose="020B0502040204020203" pitchFamily="34" charset="-122"/>
              </a:rPr>
              <a:t>字段</a:t>
            </a:r>
          </a:p>
        </p:txBody>
      </p:sp>
      <p:sp>
        <p:nvSpPr>
          <p:cNvPr id="57" name="AutoShape 42"/>
          <p:cNvSpPr>
            <a:spLocks/>
          </p:cNvSpPr>
          <p:nvPr/>
        </p:nvSpPr>
        <p:spPr bwMode="auto">
          <a:xfrm rot="16200000">
            <a:off x="3476884" y="2107182"/>
            <a:ext cx="147879" cy="1590782"/>
          </a:xfrm>
          <a:prstGeom prst="rightBrace">
            <a:avLst>
              <a:gd name="adj1" fmla="val 82749"/>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b="1" dirty="0">
              <a:latin typeface="微软雅黑 Light" panose="020B0502040204020203" pitchFamily="34" charset="-122"/>
              <a:ea typeface="微软雅黑 Light" panose="020B0502040204020203" pitchFamily="34" charset="-122"/>
            </a:endParaRPr>
          </a:p>
        </p:txBody>
      </p:sp>
      <p:sp>
        <p:nvSpPr>
          <p:cNvPr id="58" name="Line 43"/>
          <p:cNvSpPr>
            <a:spLocks noChangeShapeType="1"/>
          </p:cNvSpPr>
          <p:nvPr/>
        </p:nvSpPr>
        <p:spPr bwMode="auto">
          <a:xfrm flipV="1">
            <a:off x="4495175" y="3610836"/>
            <a:ext cx="3791458"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dirty="0">
              <a:latin typeface="微软雅黑 Light" panose="020B0502040204020203" pitchFamily="34" charset="-122"/>
              <a:ea typeface="微软雅黑 Light" panose="020B0502040204020203" pitchFamily="34" charset="-122"/>
            </a:endParaRPr>
          </a:p>
        </p:txBody>
      </p:sp>
      <p:sp>
        <p:nvSpPr>
          <p:cNvPr id="59" name="Text Box 44"/>
          <p:cNvSpPr txBox="1">
            <a:spLocks noChangeArrowheads="1"/>
          </p:cNvSpPr>
          <p:nvPr/>
        </p:nvSpPr>
        <p:spPr bwMode="auto">
          <a:xfrm>
            <a:off x="2436433" y="2552333"/>
            <a:ext cx="2358067"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指出后续字节数 </a:t>
            </a:r>
            <a:r>
              <a:rPr lang="en-US" altLang="zh-CN" sz="1600" b="1" dirty="0">
                <a:solidFill>
                  <a:srgbClr val="0000FF"/>
                </a:solidFill>
                <a:latin typeface="微软雅黑 Light" panose="020B0502040204020203" pitchFamily="34" charset="-122"/>
                <a:ea typeface="微软雅黑 Light" panose="020B0502040204020203" pitchFamily="34" charset="-122"/>
              </a:rPr>
              <a:t>= 2</a:t>
            </a:r>
          </a:p>
        </p:txBody>
      </p:sp>
      <p:sp>
        <p:nvSpPr>
          <p:cNvPr id="60" name="Text Box 45"/>
          <p:cNvSpPr txBox="1">
            <a:spLocks noChangeArrowheads="1"/>
          </p:cNvSpPr>
          <p:nvPr/>
        </p:nvSpPr>
        <p:spPr bwMode="auto">
          <a:xfrm>
            <a:off x="5497143" y="3434420"/>
            <a:ext cx="1728500" cy="338554"/>
          </a:xfrm>
          <a:prstGeom prst="rect">
            <a:avLst/>
          </a:prstGeom>
          <a:solidFill>
            <a:srgbClr val="C3E3F9"/>
          </a:solidFill>
          <a:ln>
            <a:noFill/>
          </a:ln>
          <a:effec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CC00CC"/>
                </a:solidFill>
                <a:latin typeface="微软雅黑 Light" panose="020B0502040204020203" pitchFamily="34" charset="-122"/>
                <a:ea typeface="微软雅黑 Light" panose="020B0502040204020203" pitchFamily="34" charset="-122"/>
              </a:rPr>
              <a:t>后续字节数 </a:t>
            </a:r>
            <a:r>
              <a:rPr lang="en-US" altLang="zh-CN" sz="1600" b="1" dirty="0">
                <a:solidFill>
                  <a:srgbClr val="CC00CC"/>
                </a:solidFill>
                <a:latin typeface="微软雅黑 Light" panose="020B0502040204020203" pitchFamily="34" charset="-122"/>
                <a:ea typeface="微软雅黑 Light" panose="020B0502040204020203" pitchFamily="34" charset="-122"/>
              </a:rPr>
              <a:t>= 2</a:t>
            </a:r>
          </a:p>
        </p:txBody>
      </p:sp>
    </p:spTree>
    <p:extLst>
      <p:ext uri="{BB962C8B-B14F-4D97-AF65-F5344CB8AC3E}">
        <p14:creationId xmlns:p14="http://schemas.microsoft.com/office/powerpoint/2010/main" val="12428709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09686"/>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765727" y="576475"/>
            <a:ext cx="363125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中的 </a:t>
            </a:r>
            <a:r>
              <a:rPr lang="en-US" altLang="zh-CN" sz="2000" b="1" dirty="0">
                <a:solidFill>
                  <a:schemeClr val="bg1"/>
                </a:solidFill>
                <a:latin typeface="微软雅黑 Light" panose="020B0502040204020203" pitchFamily="34" charset="-122"/>
                <a:ea typeface="微软雅黑 Light" panose="020B0502040204020203" pitchFamily="34" charset="-122"/>
              </a:rPr>
              <a:t>V </a:t>
            </a:r>
            <a:r>
              <a:rPr lang="zh-CN" altLang="en-US" sz="2000" b="1" dirty="0">
                <a:solidFill>
                  <a:schemeClr val="bg1"/>
                </a:solidFill>
                <a:latin typeface="微软雅黑 Light" panose="020B0502040204020203" pitchFamily="34" charset="-122"/>
                <a:ea typeface="微软雅黑 Light" panose="020B0502040204020203" pitchFamily="34" charset="-122"/>
              </a:rPr>
              <a:t>字段定义数据的值</a:t>
            </a:r>
          </a:p>
        </p:txBody>
      </p:sp>
      <p:graphicFrame>
        <p:nvGraphicFramePr>
          <p:cNvPr id="5" name="表格 4"/>
          <p:cNvGraphicFramePr>
            <a:graphicFrameLocks noGrp="1"/>
          </p:cNvGraphicFramePr>
          <p:nvPr>
            <p:extLst>
              <p:ext uri="{D42A27DB-BD31-4B8C-83A1-F6EECF244321}">
                <p14:modId xmlns:p14="http://schemas.microsoft.com/office/powerpoint/2010/main" val="3984821246"/>
              </p:ext>
            </p:extLst>
          </p:nvPr>
        </p:nvGraphicFramePr>
        <p:xfrm>
          <a:off x="556964" y="1035483"/>
          <a:ext cx="8048775" cy="3052071"/>
        </p:xfrm>
        <a:graphic>
          <a:graphicData uri="http://schemas.openxmlformats.org/drawingml/2006/table">
            <a:tbl>
              <a:tblPr firstRow="1" bandRow="1">
                <a:tableStyleId>{BC89EF96-8CEA-46FF-86C4-4CE0E7609802}</a:tableStyleId>
              </a:tblPr>
              <a:tblGrid>
                <a:gridCol w="2199678">
                  <a:extLst>
                    <a:ext uri="{9D8B030D-6E8A-4147-A177-3AD203B41FA5}">
                      <a16:colId xmlns:a16="http://schemas.microsoft.com/office/drawing/2014/main" val="20000"/>
                    </a:ext>
                  </a:extLst>
                </a:gridCol>
                <a:gridCol w="901836">
                  <a:extLst>
                    <a:ext uri="{9D8B030D-6E8A-4147-A177-3AD203B41FA5}">
                      <a16:colId xmlns:a16="http://schemas.microsoft.com/office/drawing/2014/main" val="20001"/>
                    </a:ext>
                  </a:extLst>
                </a:gridCol>
                <a:gridCol w="4947261">
                  <a:extLst>
                    <a:ext uri="{9D8B030D-6E8A-4147-A177-3AD203B41FA5}">
                      <a16:colId xmlns:a16="http://schemas.microsoft.com/office/drawing/2014/main" val="20002"/>
                    </a:ext>
                  </a:extLst>
                </a:gridCol>
              </a:tblGrid>
              <a:tr h="277461">
                <a:tc>
                  <a:txBody>
                    <a:bodyPr/>
                    <a:lstStyle/>
                    <a:p>
                      <a:pPr marL="0" algn="ctr" defTabSz="914400" rtl="0" eaLnBrk="1" latinLnBrk="0" hangingPunct="0">
                        <a:lnSpc>
                          <a:spcPts val="1800"/>
                        </a:lnSpc>
                        <a:spcAft>
                          <a:spcPts val="0"/>
                        </a:spcAft>
                      </a:pPr>
                      <a:r>
                        <a:rPr lang="zh-CN" sz="1400" b="1" kern="1200" dirty="0">
                          <a:solidFill>
                            <a:schemeClr val="bg1"/>
                          </a:solidFill>
                          <a:effectLst/>
                          <a:latin typeface="微软雅黑 Light" panose="020B0502040204020203" pitchFamily="34" charset="-122"/>
                          <a:ea typeface="微软雅黑 Light" panose="020B0502040204020203" pitchFamily="34" charset="-122"/>
                        </a:rPr>
                        <a:t>类</a:t>
                      </a:r>
                      <a:r>
                        <a:rPr lang="en-US" sz="1400" b="1" kern="1200" dirty="0">
                          <a:solidFill>
                            <a:schemeClr val="bg1"/>
                          </a:solidFill>
                          <a:effectLst/>
                          <a:latin typeface="微软雅黑 Light" panose="020B0502040204020203" pitchFamily="34" charset="-122"/>
                          <a:ea typeface="微软雅黑 Light" panose="020B0502040204020203" pitchFamily="34" charset="-122"/>
                        </a:rPr>
                        <a:t>   </a:t>
                      </a:r>
                      <a:r>
                        <a:rPr lang="zh-CN" sz="1400" b="1" kern="1200" dirty="0">
                          <a:solidFill>
                            <a:schemeClr val="bg1"/>
                          </a:solidFill>
                          <a:effectLst/>
                          <a:latin typeface="微软雅黑 Light" panose="020B0502040204020203" pitchFamily="34" charset="-122"/>
                          <a:ea typeface="微软雅黑 Light" panose="020B0502040204020203" pitchFamily="34" charset="-122"/>
                        </a:rPr>
                        <a:t>型</a:t>
                      </a:r>
                      <a:endParaRPr lang="zh-CN" sz="1400" b="1" kern="1200" dirty="0">
                        <a:solidFill>
                          <a:schemeClr val="bg1"/>
                        </a:solidFill>
                        <a:effectLst/>
                        <a:latin typeface="微软雅黑 Light" panose="020B0502040204020203" pitchFamily="34" charset="-122"/>
                        <a:ea typeface="微软雅黑 Light" panose="020B0502040204020203"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algn="ctr" hangingPunct="0">
                        <a:lnSpc>
                          <a:spcPts val="18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大</a:t>
                      </a:r>
                      <a:r>
                        <a:rPr lang="en-US" sz="1400" b="1" dirty="0">
                          <a:solidFill>
                            <a:schemeClr val="bg1"/>
                          </a:solidFill>
                          <a:effectLst/>
                          <a:latin typeface="微软雅黑 Light" panose="020B0502040204020203" pitchFamily="34" charset="-122"/>
                          <a:ea typeface="微软雅黑 Light" panose="020B0502040204020203" pitchFamily="34" charset="-122"/>
                        </a:rPr>
                        <a:t>  </a:t>
                      </a:r>
                      <a:r>
                        <a:rPr lang="zh-CN" sz="1400" b="1" dirty="0">
                          <a:solidFill>
                            <a:schemeClr val="bg1"/>
                          </a:solidFill>
                          <a:effectLst/>
                          <a:latin typeface="微软雅黑 Light" panose="020B0502040204020203" pitchFamily="34" charset="-122"/>
                          <a:ea typeface="微软雅黑 Light" panose="020B0502040204020203" pitchFamily="34" charset="-122"/>
                        </a:rPr>
                        <a:t>小</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algn="ctr" hangingPunct="0">
                        <a:lnSpc>
                          <a:spcPts val="18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说</a:t>
                      </a:r>
                      <a:r>
                        <a:rPr lang="en-US" sz="1400" b="1" dirty="0">
                          <a:solidFill>
                            <a:schemeClr val="bg1"/>
                          </a:solidFill>
                          <a:effectLst/>
                          <a:latin typeface="微软雅黑 Light" panose="020B0502040204020203" pitchFamily="34" charset="-122"/>
                          <a:ea typeface="微软雅黑 Light" panose="020B0502040204020203" pitchFamily="34" charset="-122"/>
                        </a:rPr>
                        <a:t>           </a:t>
                      </a:r>
                      <a:r>
                        <a:rPr lang="zh-CN" sz="1400" b="1" dirty="0">
                          <a:solidFill>
                            <a:schemeClr val="bg1"/>
                          </a:solidFill>
                          <a:effectLst/>
                          <a:latin typeface="微软雅黑 Light" panose="020B0502040204020203" pitchFamily="34" charset="-122"/>
                          <a:ea typeface="微软雅黑 Light" panose="020B0502040204020203" pitchFamily="34" charset="-122"/>
                        </a:rPr>
                        <a:t>明</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10000"/>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INTEGER</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4 </a:t>
                      </a:r>
                      <a:r>
                        <a:rPr lang="zh-CN" sz="1400" b="1" dirty="0">
                          <a:effectLst/>
                          <a:latin typeface="微软雅黑 Light" panose="020B0502040204020203" pitchFamily="34" charset="-122"/>
                          <a:ea typeface="微软雅黑 Light" panose="020B0502040204020203" pitchFamily="34" charset="-122"/>
                        </a:rPr>
                        <a:t>字节</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在</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–2</a:t>
                      </a:r>
                      <a:r>
                        <a:rPr lang="en-US" sz="1400" b="1" baseline="30000" dirty="0">
                          <a:effectLst/>
                          <a:latin typeface="微软雅黑 Light" panose="020B0502040204020203" pitchFamily="34" charset="-122"/>
                          <a:ea typeface="微软雅黑 Light" panose="020B0502040204020203" pitchFamily="34" charset="-122"/>
                        </a:rPr>
                        <a:t>31 </a:t>
                      </a:r>
                      <a:r>
                        <a:rPr lang="zh-CN" sz="1400" b="1" dirty="0">
                          <a:effectLst/>
                          <a:latin typeface="微软雅黑 Light" panose="020B0502040204020203" pitchFamily="34" charset="-122"/>
                          <a:ea typeface="微软雅黑 Light" panose="020B0502040204020203" pitchFamily="34" charset="-122"/>
                        </a:rPr>
                        <a:t>到</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2</a:t>
                      </a:r>
                      <a:r>
                        <a:rPr lang="en-US" sz="1400" b="1" baseline="30000" dirty="0">
                          <a:effectLst/>
                          <a:latin typeface="微软雅黑 Light" panose="020B0502040204020203" pitchFamily="34" charset="-122"/>
                          <a:ea typeface="微软雅黑 Light" panose="020B0502040204020203" pitchFamily="34" charset="-122"/>
                        </a:rPr>
                        <a:t>31</a:t>
                      </a:r>
                      <a:r>
                        <a:rPr lang="en-US" sz="1400" b="1" dirty="0">
                          <a:effectLst/>
                          <a:latin typeface="微软雅黑 Light" panose="020B0502040204020203" pitchFamily="34" charset="-122"/>
                          <a:ea typeface="微软雅黑 Light" panose="020B0502040204020203" pitchFamily="34" charset="-122"/>
                        </a:rPr>
                        <a:t> – 1 </a:t>
                      </a:r>
                      <a:r>
                        <a:rPr lang="zh-CN" sz="1400" b="1" dirty="0">
                          <a:effectLst/>
                          <a:latin typeface="微软雅黑 Light" panose="020B0502040204020203" pitchFamily="34" charset="-122"/>
                          <a:ea typeface="微软雅黑 Light" panose="020B0502040204020203" pitchFamily="34" charset="-122"/>
                        </a:rPr>
                        <a:t>之间的整数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Interger32</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4 </a:t>
                      </a:r>
                      <a:r>
                        <a:rPr lang="zh-CN" sz="1400" b="1" dirty="0">
                          <a:effectLst/>
                          <a:latin typeface="微软雅黑 Light" panose="020B0502040204020203" pitchFamily="34" charset="-122"/>
                          <a:ea typeface="微软雅黑 Light" panose="020B0502040204020203" pitchFamily="34" charset="-122"/>
                        </a:rPr>
                        <a:t>字节</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和</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INTEGER </a:t>
                      </a:r>
                      <a:r>
                        <a:rPr lang="zh-CN" sz="1400" b="1" dirty="0">
                          <a:effectLst/>
                          <a:latin typeface="微软雅黑 Light" panose="020B0502040204020203" pitchFamily="34" charset="-122"/>
                          <a:ea typeface="微软雅黑 Light" panose="020B0502040204020203" pitchFamily="34" charset="-122"/>
                        </a:rPr>
                        <a:t>相同</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extLst>
                  <a:ext uri="{0D108BD9-81ED-4DB2-BD59-A6C34878D82A}">
                    <a16:rowId xmlns:a16="http://schemas.microsoft.com/office/drawing/2014/main" val="10002"/>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Unsigned32</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4 </a:t>
                      </a:r>
                      <a:r>
                        <a:rPr lang="zh-CN" sz="1400" b="1" dirty="0">
                          <a:effectLst/>
                          <a:latin typeface="微软雅黑 Light" panose="020B0502040204020203" pitchFamily="34" charset="-122"/>
                          <a:ea typeface="微软雅黑 Light" panose="020B0502040204020203" pitchFamily="34" charset="-122"/>
                        </a:rPr>
                        <a:t>字节</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在</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0 </a:t>
                      </a:r>
                      <a:r>
                        <a:rPr lang="zh-CN" sz="1400" b="1" dirty="0">
                          <a:effectLst/>
                          <a:latin typeface="微软雅黑 Light" panose="020B0502040204020203" pitchFamily="34" charset="-122"/>
                          <a:ea typeface="微软雅黑 Light" panose="020B0502040204020203" pitchFamily="34" charset="-122"/>
                        </a:rPr>
                        <a:t>到</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2</a:t>
                      </a:r>
                      <a:r>
                        <a:rPr lang="en-US" sz="1400" b="1" baseline="30000" dirty="0">
                          <a:effectLst/>
                          <a:latin typeface="微软雅黑 Light" panose="020B0502040204020203" pitchFamily="34" charset="-122"/>
                          <a:ea typeface="微软雅黑 Light" panose="020B0502040204020203" pitchFamily="34" charset="-122"/>
                        </a:rPr>
                        <a:t>32</a:t>
                      </a:r>
                      <a:r>
                        <a:rPr lang="en-US" sz="1400" b="1" dirty="0">
                          <a:effectLst/>
                          <a:latin typeface="微软雅黑 Light" panose="020B0502040204020203" pitchFamily="34" charset="-122"/>
                          <a:ea typeface="微软雅黑 Light" panose="020B0502040204020203" pitchFamily="34" charset="-122"/>
                        </a:rPr>
                        <a:t> – 1 </a:t>
                      </a:r>
                      <a:r>
                        <a:rPr lang="zh-CN" sz="1400" b="1" dirty="0">
                          <a:effectLst/>
                          <a:latin typeface="微软雅黑 Light" panose="020B0502040204020203" pitchFamily="34" charset="-122"/>
                          <a:ea typeface="微软雅黑 Light" panose="020B0502040204020203" pitchFamily="34" charset="-122"/>
                        </a:rPr>
                        <a:t>之间的无符号数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OCTET STRING</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可变</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不超过</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65535 </a:t>
                      </a:r>
                      <a:r>
                        <a:rPr lang="zh-CN" sz="1400" b="1" dirty="0">
                          <a:effectLst/>
                          <a:latin typeface="微软雅黑 Light" panose="020B0502040204020203" pitchFamily="34" charset="-122"/>
                          <a:ea typeface="微软雅黑 Light" panose="020B0502040204020203" pitchFamily="34" charset="-122"/>
                        </a:rPr>
                        <a:t>字节长的字节串</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extLst>
                  <a:ext uri="{0D108BD9-81ED-4DB2-BD59-A6C34878D82A}">
                    <a16:rowId xmlns:a16="http://schemas.microsoft.com/office/drawing/2014/main" val="10004"/>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OBJECT IDENTIFIER</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可变</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对象标识符</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5"/>
                  </a:ext>
                </a:extLst>
              </a:tr>
              <a:tr h="277461">
                <a:tc>
                  <a:txBody>
                    <a:bodyPr/>
                    <a:lstStyle/>
                    <a:p>
                      <a:pPr algn="l" hangingPunct="0">
                        <a:lnSpc>
                          <a:spcPts val="1800"/>
                        </a:lnSpc>
                        <a:spcAft>
                          <a:spcPts val="0"/>
                        </a:spcAft>
                      </a:pPr>
                      <a:r>
                        <a:rPr lang="en-US" sz="1400" b="1" dirty="0" err="1">
                          <a:effectLst/>
                          <a:latin typeface="微软雅黑 Light" panose="020B0502040204020203" pitchFamily="34" charset="-122"/>
                          <a:ea typeface="微软雅黑 Light" panose="020B0502040204020203" pitchFamily="34" charset="-122"/>
                        </a:rPr>
                        <a:t>IPAddress</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4 </a:t>
                      </a:r>
                      <a:r>
                        <a:rPr lang="zh-CN" sz="1400" b="1" dirty="0">
                          <a:effectLst/>
                          <a:latin typeface="微软雅黑 Light" panose="020B0502040204020203" pitchFamily="34" charset="-122"/>
                          <a:ea typeface="微软雅黑 Light" panose="020B0502040204020203" pitchFamily="34" charset="-122"/>
                        </a:rPr>
                        <a:t>字节</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由</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4 </a:t>
                      </a:r>
                      <a:r>
                        <a:rPr lang="zh-CN" sz="1400" b="1" dirty="0">
                          <a:effectLst/>
                          <a:latin typeface="微软雅黑 Light" panose="020B0502040204020203" pitchFamily="34" charset="-122"/>
                          <a:ea typeface="微软雅黑 Light" panose="020B0502040204020203" pitchFamily="34" charset="-122"/>
                        </a:rPr>
                        <a:t>个整数组成的</a:t>
                      </a:r>
                      <a:r>
                        <a:rPr lang="en-US" sz="1400" b="1" dirty="0">
                          <a:effectLst/>
                          <a:latin typeface="微软雅黑 Light" panose="020B0502040204020203" pitchFamily="34" charset="-122"/>
                          <a:ea typeface="微软雅黑 Light" panose="020B0502040204020203" pitchFamily="34" charset="-122"/>
                        </a:rPr>
                        <a:t>IP</a:t>
                      </a:r>
                      <a:r>
                        <a:rPr lang="zh-CN" sz="1400" b="1" dirty="0">
                          <a:effectLst/>
                          <a:latin typeface="微软雅黑 Light" panose="020B0502040204020203" pitchFamily="34" charset="-122"/>
                          <a:ea typeface="微软雅黑 Light" panose="020B0502040204020203" pitchFamily="34" charset="-122"/>
                        </a:rPr>
                        <a:t>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extLst>
                  <a:ext uri="{0D108BD9-81ED-4DB2-BD59-A6C34878D82A}">
                    <a16:rowId xmlns:a16="http://schemas.microsoft.com/office/drawing/2014/main" val="10006"/>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Counter32</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4 </a:t>
                      </a:r>
                      <a:r>
                        <a:rPr lang="zh-CN" sz="1400" b="1" dirty="0">
                          <a:effectLst/>
                          <a:latin typeface="微软雅黑 Light" panose="020B0502040204020203" pitchFamily="34" charset="-122"/>
                          <a:ea typeface="微软雅黑 Light" panose="020B0502040204020203" pitchFamily="34" charset="-122"/>
                        </a:rPr>
                        <a:t>字节</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可从</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0 </a:t>
                      </a:r>
                      <a:r>
                        <a:rPr lang="zh-CN" sz="1400" b="1" dirty="0">
                          <a:effectLst/>
                          <a:latin typeface="微软雅黑 Light" panose="020B0502040204020203" pitchFamily="34" charset="-122"/>
                          <a:ea typeface="微软雅黑 Light" panose="020B0502040204020203" pitchFamily="34" charset="-122"/>
                        </a:rPr>
                        <a:t>增加到</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2</a:t>
                      </a:r>
                      <a:r>
                        <a:rPr lang="en-US" sz="1400" b="1" baseline="30000" dirty="0">
                          <a:effectLst/>
                          <a:latin typeface="微软雅黑 Light" panose="020B0502040204020203" pitchFamily="34" charset="-122"/>
                          <a:ea typeface="微软雅黑 Light" panose="020B0502040204020203" pitchFamily="34" charset="-122"/>
                        </a:rPr>
                        <a:t>32 </a:t>
                      </a:r>
                      <a:r>
                        <a:rPr lang="zh-CN" sz="1400" b="1" dirty="0">
                          <a:effectLst/>
                          <a:latin typeface="微软雅黑 Light" panose="020B0502040204020203" pitchFamily="34" charset="-122"/>
                          <a:ea typeface="微软雅黑 Light" panose="020B0502040204020203" pitchFamily="34" charset="-122"/>
                        </a:rPr>
                        <a:t>的整数；当它到达最大值时就返回到</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0</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7"/>
                  </a:ext>
                </a:extLst>
              </a:tr>
              <a:tr h="277461">
                <a:tc>
                  <a:txBody>
                    <a:bodyPr/>
                    <a:lstStyle/>
                    <a:p>
                      <a:pPr algn="l" hangingPunct="0">
                        <a:lnSpc>
                          <a:spcPts val="1800"/>
                        </a:lnSpc>
                        <a:spcAft>
                          <a:spcPts val="0"/>
                        </a:spcAft>
                      </a:pPr>
                      <a:r>
                        <a:rPr lang="en-US" sz="1400" b="1" dirty="0" err="1">
                          <a:effectLst/>
                          <a:latin typeface="微软雅黑 Light" panose="020B0502040204020203" pitchFamily="34" charset="-122"/>
                          <a:ea typeface="微软雅黑 Light" panose="020B0502040204020203" pitchFamily="34" charset="-122"/>
                        </a:rPr>
                        <a:t>TimeTicks</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4 </a:t>
                      </a:r>
                      <a:r>
                        <a:rPr lang="zh-CN" sz="1400" b="1" dirty="0">
                          <a:effectLst/>
                          <a:latin typeface="微软雅黑 Light" panose="020B0502040204020203" pitchFamily="34" charset="-122"/>
                          <a:ea typeface="微软雅黑 Light" panose="020B0502040204020203" pitchFamily="34" charset="-122"/>
                        </a:rPr>
                        <a:t>字节</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记录时间的计数值，以</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1/100 </a:t>
                      </a:r>
                      <a:r>
                        <a:rPr lang="zh-CN" sz="1400" b="1" dirty="0">
                          <a:effectLst/>
                          <a:latin typeface="微软雅黑 Light" panose="020B0502040204020203" pitchFamily="34" charset="-122"/>
                          <a:ea typeface="微软雅黑 Light" panose="020B0502040204020203" pitchFamily="34" charset="-122"/>
                        </a:rPr>
                        <a:t>秒为单位</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extLst>
                  <a:ext uri="{0D108BD9-81ED-4DB2-BD59-A6C34878D82A}">
                    <a16:rowId xmlns:a16="http://schemas.microsoft.com/office/drawing/2014/main" val="10008"/>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BITS</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比特串</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9"/>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Opaque</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可变</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不解释的串</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41153502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1046"/>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805069" y="577835"/>
            <a:ext cx="355257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中的 </a:t>
            </a:r>
            <a:r>
              <a:rPr lang="en-US" altLang="zh-CN" sz="2000" b="1" dirty="0">
                <a:solidFill>
                  <a:schemeClr val="bg1"/>
                </a:solidFill>
                <a:latin typeface="微软雅黑 Light" panose="020B0502040204020203" pitchFamily="34" charset="-122"/>
                <a:ea typeface="微软雅黑 Light" panose="020B0502040204020203" pitchFamily="34" charset="-122"/>
              </a:rPr>
              <a:t>V </a:t>
            </a:r>
            <a:r>
              <a:rPr lang="zh-CN" altLang="en-US" sz="2000" b="1" dirty="0">
                <a:solidFill>
                  <a:schemeClr val="bg1"/>
                </a:solidFill>
                <a:latin typeface="微软雅黑 Light" panose="020B0502040204020203" pitchFamily="34" charset="-122"/>
                <a:ea typeface="微软雅黑 Light" panose="020B0502040204020203" pitchFamily="34" charset="-122"/>
              </a:rPr>
              <a:t>字段定义数据的值</a:t>
            </a:r>
          </a:p>
        </p:txBody>
      </p:sp>
      <p:sp>
        <p:nvSpPr>
          <p:cNvPr id="4" name="Rectangle 68"/>
          <p:cNvSpPr>
            <a:spLocks noChangeArrowheads="1"/>
          </p:cNvSpPr>
          <p:nvPr/>
        </p:nvSpPr>
        <p:spPr bwMode="auto">
          <a:xfrm>
            <a:off x="556962" y="972136"/>
            <a:ext cx="8048777" cy="8939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例如，</a:t>
            </a:r>
            <a:r>
              <a:rPr lang="en-US" altLang="zh-CN" sz="2000" b="1" dirty="0">
                <a:latin typeface="微软雅黑 Light" panose="020B0502040204020203" pitchFamily="34" charset="-122"/>
                <a:ea typeface="微软雅黑 Light" panose="020B0502040204020203" pitchFamily="34" charset="-122"/>
              </a:rPr>
              <a:t>INTEGER 15</a:t>
            </a:r>
            <a:r>
              <a:rPr lang="zh-CN" altLang="en-US" sz="2000" b="1" dirty="0">
                <a:latin typeface="微软雅黑 Light" panose="020B0502040204020203" pitchFamily="34" charset="-122"/>
                <a:ea typeface="微软雅黑 Light" panose="020B0502040204020203" pitchFamily="34" charset="-122"/>
              </a:rPr>
              <a:t>，其 </a:t>
            </a:r>
            <a:r>
              <a:rPr lang="en-US" altLang="zh-CN" sz="2000" b="1" dirty="0">
                <a:latin typeface="微软雅黑 Light" panose="020B0502040204020203" pitchFamily="34" charset="-122"/>
                <a:ea typeface="微软雅黑 Light" panose="020B0502040204020203" pitchFamily="34" charset="-122"/>
              </a:rPr>
              <a:t>T </a:t>
            </a:r>
            <a:r>
              <a:rPr lang="zh-CN" altLang="en-US" sz="2000" b="1" dirty="0">
                <a:latin typeface="微软雅黑 Light" panose="020B0502040204020203" pitchFamily="34" charset="-122"/>
                <a:ea typeface="微软雅黑 Light" panose="020B0502040204020203" pitchFamily="34" charset="-122"/>
              </a:rPr>
              <a:t>字段是 </a:t>
            </a:r>
            <a:r>
              <a:rPr lang="en-US" altLang="zh-CN" sz="2000" b="1" dirty="0">
                <a:latin typeface="微软雅黑 Light" panose="020B0502040204020203" pitchFamily="34" charset="-122"/>
                <a:ea typeface="微软雅黑 Light" panose="020B0502040204020203" pitchFamily="34" charset="-122"/>
              </a:rPr>
              <a:t>02</a:t>
            </a:r>
            <a:r>
              <a:rPr lang="zh-CN" altLang="en-US" sz="2000" b="1" dirty="0">
                <a:latin typeface="微软雅黑 Light" panose="020B0502040204020203" pitchFamily="34" charset="-122"/>
                <a:ea typeface="微软雅黑 Light" panose="020B0502040204020203" pitchFamily="34" charset="-122"/>
              </a:rPr>
              <a:t>， </a:t>
            </a:r>
            <a:r>
              <a:rPr lang="en-US" altLang="zh-CN" sz="2000" b="1" dirty="0">
                <a:latin typeface="微软雅黑 Light" panose="020B0502040204020203" pitchFamily="34" charset="-122"/>
                <a:ea typeface="微软雅黑 Light" panose="020B0502040204020203" pitchFamily="34" charset="-122"/>
              </a:rPr>
              <a:t>INTEGER </a:t>
            </a:r>
            <a:r>
              <a:rPr lang="zh-CN" altLang="en-US" sz="2000" b="1" dirty="0">
                <a:latin typeface="微软雅黑 Light" panose="020B0502040204020203" pitchFamily="34" charset="-122"/>
                <a:ea typeface="微软雅黑 Light" panose="020B0502040204020203" pitchFamily="34" charset="-122"/>
              </a:rPr>
              <a:t>类型要用 </a:t>
            </a:r>
            <a:r>
              <a:rPr lang="en-US" altLang="zh-CN" sz="2000" b="1" dirty="0">
                <a:latin typeface="微软雅黑 Light" panose="020B0502040204020203" pitchFamily="34" charset="-122"/>
                <a:ea typeface="微软雅黑 Light" panose="020B0502040204020203" pitchFamily="34" charset="-122"/>
              </a:rPr>
              <a:t>4 </a:t>
            </a:r>
            <a:r>
              <a:rPr lang="zh-CN" altLang="en-US" sz="2000" b="1" dirty="0">
                <a:latin typeface="微软雅黑 Light" panose="020B0502040204020203" pitchFamily="34" charset="-122"/>
                <a:ea typeface="微软雅黑 Light" panose="020B0502040204020203" pitchFamily="34" charset="-122"/>
              </a:rPr>
              <a:t>字节编码。最后得出 </a:t>
            </a:r>
            <a:r>
              <a:rPr lang="en-US" altLang="zh-CN" sz="2000" b="1" dirty="0">
                <a:latin typeface="微软雅黑 Light" panose="020B0502040204020203" pitchFamily="34" charset="-122"/>
                <a:ea typeface="微软雅黑 Light" panose="020B0502040204020203" pitchFamily="34" charset="-122"/>
              </a:rPr>
              <a:t>TLV </a:t>
            </a:r>
            <a:r>
              <a:rPr lang="zh-CN" altLang="en-US" sz="2000" b="1" dirty="0">
                <a:latin typeface="微软雅黑 Light" panose="020B0502040204020203" pitchFamily="34" charset="-122"/>
                <a:ea typeface="微软雅黑 Light" panose="020B0502040204020203" pitchFamily="34" charset="-122"/>
              </a:rPr>
              <a:t>编码为 </a:t>
            </a:r>
            <a:r>
              <a:rPr lang="en-US" altLang="zh-CN" sz="2000" b="1" dirty="0">
                <a:latin typeface="微软雅黑 Light" panose="020B0502040204020203" pitchFamily="34" charset="-122"/>
                <a:ea typeface="微软雅黑 Light" panose="020B0502040204020203" pitchFamily="34" charset="-122"/>
              </a:rPr>
              <a:t>02 04 00 00 00 0F</a:t>
            </a:r>
            <a:r>
              <a:rPr lang="zh-CN" altLang="en-US" sz="2000" b="1" dirty="0">
                <a:latin typeface="微软雅黑 Light" panose="020B0502040204020203" pitchFamily="34" charset="-122"/>
                <a:ea typeface="微软雅黑 Light" panose="020B0502040204020203" pitchFamily="34" charset="-122"/>
              </a:rPr>
              <a:t>。</a:t>
            </a:r>
          </a:p>
        </p:txBody>
      </p:sp>
      <p:grpSp>
        <p:nvGrpSpPr>
          <p:cNvPr id="14" name="组合 13"/>
          <p:cNvGrpSpPr/>
          <p:nvPr/>
        </p:nvGrpSpPr>
        <p:grpSpPr>
          <a:xfrm>
            <a:off x="1819921" y="2016696"/>
            <a:ext cx="5495279" cy="613023"/>
            <a:chOff x="1494111" y="2655888"/>
            <a:chExt cx="5495279" cy="812526"/>
          </a:xfrm>
        </p:grpSpPr>
        <p:sp>
          <p:nvSpPr>
            <p:cNvPr id="5" name="Rectangle 38"/>
            <p:cNvSpPr>
              <a:spLocks noChangeArrowheads="1"/>
            </p:cNvSpPr>
            <p:nvPr/>
          </p:nvSpPr>
          <p:spPr bwMode="auto">
            <a:xfrm>
              <a:off x="1494111" y="2655888"/>
              <a:ext cx="5495279" cy="812526"/>
            </a:xfrm>
            <a:prstGeom prst="rect">
              <a:avLst/>
            </a:prstGeom>
            <a:solidFill>
              <a:srgbClr val="99FFCC"/>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endParaRPr>
            </a:p>
          </p:txBody>
        </p:sp>
        <p:grpSp>
          <p:nvGrpSpPr>
            <p:cNvPr id="13" name="组合 12"/>
            <p:cNvGrpSpPr/>
            <p:nvPr/>
          </p:nvGrpSpPr>
          <p:grpSpPr>
            <a:xfrm>
              <a:off x="3031573" y="2655888"/>
              <a:ext cx="1324693" cy="812526"/>
              <a:chOff x="3031573" y="2655888"/>
              <a:chExt cx="1324693" cy="569913"/>
            </a:xfrm>
          </p:grpSpPr>
          <p:sp>
            <p:nvSpPr>
              <p:cNvPr id="6" name="Line 39"/>
              <p:cNvSpPr>
                <a:spLocks noChangeShapeType="1"/>
              </p:cNvSpPr>
              <p:nvPr/>
            </p:nvSpPr>
            <p:spPr bwMode="auto">
              <a:xfrm>
                <a:off x="3031573" y="2655888"/>
                <a:ext cx="0" cy="56991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endParaRPr>
              </a:p>
            </p:txBody>
          </p:sp>
          <p:sp>
            <p:nvSpPr>
              <p:cNvPr id="7" name="Line 40"/>
              <p:cNvSpPr>
                <a:spLocks noChangeShapeType="1"/>
              </p:cNvSpPr>
              <p:nvPr/>
            </p:nvSpPr>
            <p:spPr bwMode="auto">
              <a:xfrm>
                <a:off x="4356266" y="2655888"/>
                <a:ext cx="0" cy="56991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endParaRPr>
              </a:p>
            </p:txBody>
          </p:sp>
        </p:grpSp>
      </p:grpSp>
      <p:sp>
        <p:nvSpPr>
          <p:cNvPr id="9" name="Text Box 56"/>
          <p:cNvSpPr txBox="1">
            <a:spLocks noChangeArrowheads="1"/>
          </p:cNvSpPr>
          <p:nvPr/>
        </p:nvSpPr>
        <p:spPr bwMode="auto">
          <a:xfrm>
            <a:off x="2355526" y="2044944"/>
            <a:ext cx="412292"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gn="ctr"/>
            <a:r>
              <a:rPr kumimoji="1" lang="en-US" altLang="zh-CN" sz="1600" b="1" dirty="0">
                <a:latin typeface="微软雅黑 Light" panose="020B0502040204020203" pitchFamily="34" charset="-122"/>
                <a:ea typeface="微软雅黑 Light" panose="020B0502040204020203" pitchFamily="34" charset="-122"/>
              </a:rPr>
              <a:t>T</a:t>
            </a:r>
          </a:p>
          <a:p>
            <a:pPr algn="ctr"/>
            <a:r>
              <a:rPr kumimoji="1" lang="en-US" altLang="zh-CN" sz="1600" b="1" dirty="0">
                <a:latin typeface="微软雅黑 Light" panose="020B0502040204020203" pitchFamily="34" charset="-122"/>
                <a:ea typeface="微软雅黑 Light" panose="020B0502040204020203" pitchFamily="34" charset="-122"/>
              </a:rPr>
              <a:t>02</a:t>
            </a:r>
          </a:p>
        </p:txBody>
      </p:sp>
      <p:sp>
        <p:nvSpPr>
          <p:cNvPr id="10" name="Text Box 57"/>
          <p:cNvSpPr txBox="1">
            <a:spLocks noChangeArrowheads="1"/>
          </p:cNvSpPr>
          <p:nvPr/>
        </p:nvSpPr>
        <p:spPr bwMode="auto">
          <a:xfrm>
            <a:off x="3832879" y="2044944"/>
            <a:ext cx="415498"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gn="ctr"/>
            <a:r>
              <a:rPr kumimoji="1" lang="en-US" altLang="zh-CN" sz="1600" b="1" dirty="0">
                <a:latin typeface="微软雅黑 Light" panose="020B0502040204020203" pitchFamily="34" charset="-122"/>
                <a:ea typeface="微软雅黑 Light" panose="020B0502040204020203" pitchFamily="34" charset="-122"/>
              </a:rPr>
              <a:t>L</a:t>
            </a:r>
          </a:p>
          <a:p>
            <a:pPr algn="ctr"/>
            <a:r>
              <a:rPr kumimoji="1" lang="en-US" altLang="zh-CN" sz="1600" b="1" dirty="0">
                <a:latin typeface="微软雅黑 Light" panose="020B0502040204020203" pitchFamily="34" charset="-122"/>
                <a:ea typeface="微软雅黑 Light" panose="020B0502040204020203" pitchFamily="34" charset="-122"/>
              </a:rPr>
              <a:t>04</a:t>
            </a:r>
          </a:p>
        </p:txBody>
      </p:sp>
      <p:sp>
        <p:nvSpPr>
          <p:cNvPr id="11" name="Text Box 58"/>
          <p:cNvSpPr txBox="1">
            <a:spLocks noChangeArrowheads="1"/>
          </p:cNvSpPr>
          <p:nvPr/>
        </p:nvSpPr>
        <p:spPr bwMode="auto">
          <a:xfrm>
            <a:off x="5350287" y="2044944"/>
            <a:ext cx="1266692"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gn="ctr"/>
            <a:r>
              <a:rPr kumimoji="1" lang="en-US" altLang="zh-CN" sz="1600" b="1" dirty="0">
                <a:latin typeface="微软雅黑 Light" panose="020B0502040204020203" pitchFamily="34" charset="-122"/>
                <a:ea typeface="微软雅黑 Light" panose="020B0502040204020203" pitchFamily="34" charset="-122"/>
              </a:rPr>
              <a:t>V</a:t>
            </a:r>
          </a:p>
          <a:p>
            <a:pPr algn="ctr"/>
            <a:r>
              <a:rPr kumimoji="1" lang="en-US" altLang="zh-CN" sz="1600" b="1" dirty="0">
                <a:latin typeface="微软雅黑 Light" panose="020B0502040204020203" pitchFamily="34" charset="-122"/>
                <a:ea typeface="微软雅黑 Light" panose="020B0502040204020203" pitchFamily="34" charset="-122"/>
              </a:rPr>
              <a:t>00 00 00 0F</a:t>
            </a:r>
          </a:p>
        </p:txBody>
      </p:sp>
    </p:spTree>
    <p:extLst>
      <p:ext uri="{BB962C8B-B14F-4D97-AF65-F5344CB8AC3E}">
        <p14:creationId xmlns:p14="http://schemas.microsoft.com/office/powerpoint/2010/main" val="31612274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1046"/>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805069" y="577835"/>
            <a:ext cx="355257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中的 </a:t>
            </a:r>
            <a:r>
              <a:rPr lang="en-US" altLang="zh-CN" sz="2000" b="1" dirty="0">
                <a:solidFill>
                  <a:schemeClr val="bg1"/>
                </a:solidFill>
                <a:latin typeface="微软雅黑 Light" panose="020B0502040204020203" pitchFamily="34" charset="-122"/>
                <a:ea typeface="微软雅黑 Light" panose="020B0502040204020203" pitchFamily="34" charset="-122"/>
              </a:rPr>
              <a:t>V </a:t>
            </a:r>
            <a:r>
              <a:rPr lang="zh-CN" altLang="en-US" sz="2000" b="1" dirty="0">
                <a:solidFill>
                  <a:schemeClr val="bg1"/>
                </a:solidFill>
                <a:latin typeface="微软雅黑 Light" panose="020B0502040204020203" pitchFamily="34" charset="-122"/>
                <a:ea typeface="微软雅黑 Light" panose="020B0502040204020203" pitchFamily="34" charset="-122"/>
              </a:rPr>
              <a:t>字段定义数据的值</a:t>
            </a:r>
          </a:p>
        </p:txBody>
      </p:sp>
      <p:sp>
        <p:nvSpPr>
          <p:cNvPr id="4" name="Rectangle 68"/>
          <p:cNvSpPr>
            <a:spLocks noChangeArrowheads="1"/>
          </p:cNvSpPr>
          <p:nvPr/>
        </p:nvSpPr>
        <p:spPr bwMode="auto">
          <a:xfrm>
            <a:off x="556962" y="972136"/>
            <a:ext cx="8048777" cy="8939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例如，</a:t>
            </a:r>
            <a:r>
              <a:rPr lang="en-US" altLang="zh-CN" sz="2000" b="1" dirty="0" err="1">
                <a:latin typeface="微软雅黑 Light" panose="020B0502040204020203" pitchFamily="34" charset="-122"/>
                <a:ea typeface="微软雅黑 Light" panose="020B0502040204020203" pitchFamily="34" charset="-122"/>
              </a:rPr>
              <a:t>IPAddress</a:t>
            </a:r>
            <a:r>
              <a:rPr lang="en-US" altLang="zh-CN" sz="2000" b="1" dirty="0">
                <a:latin typeface="微软雅黑 Light" panose="020B0502040204020203" pitchFamily="34" charset="-122"/>
                <a:ea typeface="微软雅黑 Light" panose="020B0502040204020203" pitchFamily="34" charset="-122"/>
              </a:rPr>
              <a:t> = 192.1.2.3</a:t>
            </a:r>
            <a:r>
              <a:rPr lang="zh-CN" altLang="en-US" sz="2000" b="1" dirty="0">
                <a:latin typeface="微软雅黑 Light" panose="020B0502040204020203" pitchFamily="34" charset="-122"/>
                <a:ea typeface="微软雅黑 Light" panose="020B0502040204020203" pitchFamily="34" charset="-122"/>
              </a:rPr>
              <a:t>，其 </a:t>
            </a:r>
            <a:r>
              <a:rPr lang="en-US" altLang="zh-CN" sz="2000" b="1" dirty="0">
                <a:latin typeface="微软雅黑 Light" panose="020B0502040204020203" pitchFamily="34" charset="-122"/>
                <a:ea typeface="微软雅黑 Light" panose="020B0502040204020203" pitchFamily="34" charset="-122"/>
              </a:rPr>
              <a:t>T </a:t>
            </a:r>
            <a:r>
              <a:rPr lang="zh-CN" altLang="en-US" sz="2000" b="1" dirty="0">
                <a:latin typeface="微软雅黑 Light" panose="020B0502040204020203" pitchFamily="34" charset="-122"/>
                <a:ea typeface="微软雅黑 Light" panose="020B0502040204020203" pitchFamily="34" charset="-122"/>
              </a:rPr>
              <a:t>字段是 </a:t>
            </a:r>
            <a:r>
              <a:rPr lang="en-US" altLang="zh-CN" sz="2000" b="1" dirty="0">
                <a:latin typeface="微软雅黑 Light" panose="020B0502040204020203" pitchFamily="34" charset="-122"/>
                <a:ea typeface="微软雅黑 Light" panose="020B0502040204020203" pitchFamily="34" charset="-122"/>
              </a:rPr>
              <a:t>40</a:t>
            </a:r>
            <a:r>
              <a:rPr lang="zh-CN" altLang="en-US" sz="2000" b="1" dirty="0">
                <a:latin typeface="微软雅黑 Light" panose="020B0502040204020203" pitchFamily="34" charset="-122"/>
                <a:ea typeface="微软雅黑 Light" panose="020B0502040204020203" pitchFamily="34" charset="-122"/>
              </a:rPr>
              <a:t>，</a:t>
            </a:r>
            <a:r>
              <a:rPr lang="en-US" altLang="zh-CN" sz="2000" b="1" dirty="0">
                <a:latin typeface="微软雅黑 Light" panose="020B0502040204020203" pitchFamily="34" charset="-122"/>
                <a:ea typeface="微软雅黑 Light" panose="020B0502040204020203" pitchFamily="34" charset="-122"/>
              </a:rPr>
              <a:t>V </a:t>
            </a:r>
            <a:r>
              <a:rPr lang="zh-CN" altLang="en-US" sz="2000" b="1" dirty="0">
                <a:latin typeface="微软雅黑 Light" panose="020B0502040204020203" pitchFamily="34" charset="-122"/>
                <a:ea typeface="微软雅黑 Light" panose="020B0502040204020203" pitchFamily="34" charset="-122"/>
              </a:rPr>
              <a:t>字段需要 </a:t>
            </a:r>
            <a:r>
              <a:rPr lang="en-US" altLang="zh-CN" sz="2000" b="1" dirty="0">
                <a:latin typeface="微软雅黑 Light" panose="020B0502040204020203" pitchFamily="34" charset="-122"/>
                <a:ea typeface="微软雅黑 Light" panose="020B0502040204020203" pitchFamily="34" charset="-122"/>
              </a:rPr>
              <a:t>4 </a:t>
            </a:r>
            <a:r>
              <a:rPr lang="zh-CN" altLang="en-US" sz="2000" b="1" dirty="0">
                <a:latin typeface="微软雅黑 Light" panose="020B0502040204020203" pitchFamily="34" charset="-122"/>
                <a:ea typeface="微软雅黑 Light" panose="020B0502040204020203" pitchFamily="34" charset="-122"/>
              </a:rPr>
              <a:t>字节表示，因此得出 </a:t>
            </a:r>
            <a:r>
              <a:rPr lang="en-US" altLang="zh-CN" sz="2000" b="1" dirty="0">
                <a:latin typeface="微软雅黑 Light" panose="020B0502040204020203" pitchFamily="34" charset="-122"/>
                <a:ea typeface="微软雅黑 Light" panose="020B0502040204020203" pitchFamily="34" charset="-122"/>
              </a:rPr>
              <a:t>TLV </a:t>
            </a:r>
            <a:r>
              <a:rPr lang="zh-CN" altLang="en-US" sz="2000" b="1" dirty="0">
                <a:latin typeface="微软雅黑 Light" panose="020B0502040204020203" pitchFamily="34" charset="-122"/>
                <a:ea typeface="微软雅黑 Light" panose="020B0502040204020203" pitchFamily="34" charset="-122"/>
              </a:rPr>
              <a:t>编码是 </a:t>
            </a:r>
            <a:r>
              <a:rPr lang="en-US" altLang="zh-CN" sz="2000" b="1" dirty="0">
                <a:latin typeface="微软雅黑 Light" panose="020B0502040204020203" pitchFamily="34" charset="-122"/>
                <a:ea typeface="微软雅黑 Light" panose="020B0502040204020203" pitchFamily="34" charset="-122"/>
              </a:rPr>
              <a:t>40 04 C0 01 02 03</a:t>
            </a:r>
            <a:r>
              <a:rPr lang="zh-CN" altLang="en-US" sz="2000" b="1" dirty="0">
                <a:latin typeface="微软雅黑 Light" panose="020B0502040204020203" pitchFamily="34" charset="-122"/>
                <a:ea typeface="微软雅黑 Light" panose="020B0502040204020203" pitchFamily="34" charset="-122"/>
              </a:rPr>
              <a:t>。 </a:t>
            </a:r>
          </a:p>
        </p:txBody>
      </p:sp>
      <p:grpSp>
        <p:nvGrpSpPr>
          <p:cNvPr id="10" name="组合 9"/>
          <p:cNvGrpSpPr/>
          <p:nvPr/>
        </p:nvGrpSpPr>
        <p:grpSpPr>
          <a:xfrm>
            <a:off x="1819922" y="2016696"/>
            <a:ext cx="5513033" cy="613023"/>
            <a:chOff x="1494112" y="2655888"/>
            <a:chExt cx="5513033" cy="812526"/>
          </a:xfrm>
        </p:grpSpPr>
        <p:sp>
          <p:nvSpPr>
            <p:cNvPr id="11" name="Rectangle 38"/>
            <p:cNvSpPr>
              <a:spLocks noChangeArrowheads="1"/>
            </p:cNvSpPr>
            <p:nvPr/>
          </p:nvSpPr>
          <p:spPr bwMode="auto">
            <a:xfrm>
              <a:off x="1494112" y="2655888"/>
              <a:ext cx="5513033" cy="812526"/>
            </a:xfrm>
            <a:prstGeom prst="rect">
              <a:avLst/>
            </a:prstGeom>
            <a:solidFill>
              <a:srgbClr val="99FFCC"/>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endParaRPr>
            </a:p>
          </p:txBody>
        </p:sp>
        <p:grpSp>
          <p:nvGrpSpPr>
            <p:cNvPr id="12" name="组合 11"/>
            <p:cNvGrpSpPr/>
            <p:nvPr/>
          </p:nvGrpSpPr>
          <p:grpSpPr>
            <a:xfrm>
              <a:off x="3031573" y="2655888"/>
              <a:ext cx="1324693" cy="812526"/>
              <a:chOff x="3031573" y="2655888"/>
              <a:chExt cx="1324693" cy="569913"/>
            </a:xfrm>
          </p:grpSpPr>
          <p:sp>
            <p:nvSpPr>
              <p:cNvPr id="13" name="Line 39"/>
              <p:cNvSpPr>
                <a:spLocks noChangeShapeType="1"/>
              </p:cNvSpPr>
              <p:nvPr/>
            </p:nvSpPr>
            <p:spPr bwMode="auto">
              <a:xfrm>
                <a:off x="3031573" y="2655888"/>
                <a:ext cx="0" cy="56991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endParaRPr>
              </a:p>
            </p:txBody>
          </p:sp>
          <p:sp>
            <p:nvSpPr>
              <p:cNvPr id="14" name="Line 40"/>
              <p:cNvSpPr>
                <a:spLocks noChangeShapeType="1"/>
              </p:cNvSpPr>
              <p:nvPr/>
            </p:nvSpPr>
            <p:spPr bwMode="auto">
              <a:xfrm>
                <a:off x="4356266" y="2655888"/>
                <a:ext cx="0" cy="56991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endParaRPr>
              </a:p>
            </p:txBody>
          </p:sp>
        </p:grpSp>
      </p:grpSp>
      <p:sp>
        <p:nvSpPr>
          <p:cNvPr id="15" name="Text Box 56"/>
          <p:cNvSpPr txBox="1">
            <a:spLocks noChangeArrowheads="1"/>
          </p:cNvSpPr>
          <p:nvPr/>
        </p:nvSpPr>
        <p:spPr bwMode="auto">
          <a:xfrm>
            <a:off x="2353923" y="2044944"/>
            <a:ext cx="415498"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gn="ctr"/>
            <a:r>
              <a:rPr kumimoji="1" lang="en-US" altLang="zh-CN" sz="1600" b="1" dirty="0">
                <a:latin typeface="微软雅黑 Light" panose="020B0502040204020203" pitchFamily="34" charset="-122"/>
                <a:ea typeface="微软雅黑 Light" panose="020B0502040204020203" pitchFamily="34" charset="-122"/>
              </a:rPr>
              <a:t>T</a:t>
            </a:r>
          </a:p>
          <a:p>
            <a:pPr algn="ctr"/>
            <a:r>
              <a:rPr kumimoji="1" lang="en-US" altLang="zh-CN" sz="1600" b="1" dirty="0">
                <a:latin typeface="微软雅黑 Light" panose="020B0502040204020203" pitchFamily="34" charset="-122"/>
                <a:ea typeface="微软雅黑 Light" panose="020B0502040204020203" pitchFamily="34" charset="-122"/>
              </a:rPr>
              <a:t>40</a:t>
            </a:r>
          </a:p>
        </p:txBody>
      </p:sp>
      <p:sp>
        <p:nvSpPr>
          <p:cNvPr id="16" name="Text Box 57"/>
          <p:cNvSpPr txBox="1">
            <a:spLocks noChangeArrowheads="1"/>
          </p:cNvSpPr>
          <p:nvPr/>
        </p:nvSpPr>
        <p:spPr bwMode="auto">
          <a:xfrm>
            <a:off x="3832879" y="2044944"/>
            <a:ext cx="415498"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gn="ctr"/>
            <a:r>
              <a:rPr kumimoji="1" lang="en-US" altLang="zh-CN" sz="1600" b="1" dirty="0">
                <a:latin typeface="微软雅黑 Light" panose="020B0502040204020203" pitchFamily="34" charset="-122"/>
                <a:ea typeface="微软雅黑 Light" panose="020B0502040204020203" pitchFamily="34" charset="-122"/>
              </a:rPr>
              <a:t>L</a:t>
            </a:r>
          </a:p>
          <a:p>
            <a:pPr algn="ctr"/>
            <a:r>
              <a:rPr kumimoji="1" lang="en-US" altLang="zh-CN" sz="1600" b="1" dirty="0">
                <a:latin typeface="微软雅黑 Light" panose="020B0502040204020203" pitchFamily="34" charset="-122"/>
                <a:ea typeface="微软雅黑 Light" panose="020B0502040204020203" pitchFamily="34" charset="-122"/>
              </a:rPr>
              <a:t>04</a:t>
            </a:r>
          </a:p>
        </p:txBody>
      </p:sp>
      <p:sp>
        <p:nvSpPr>
          <p:cNvPr id="17" name="Text Box 58"/>
          <p:cNvSpPr txBox="1">
            <a:spLocks noChangeArrowheads="1"/>
          </p:cNvSpPr>
          <p:nvPr/>
        </p:nvSpPr>
        <p:spPr bwMode="auto">
          <a:xfrm>
            <a:off x="5350287" y="2044944"/>
            <a:ext cx="1266692"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gn="ctr"/>
            <a:r>
              <a:rPr kumimoji="1" lang="en-US" altLang="zh-CN" sz="1600" b="1" dirty="0">
                <a:latin typeface="微软雅黑 Light" panose="020B0502040204020203" pitchFamily="34" charset="-122"/>
                <a:ea typeface="微软雅黑 Light" panose="020B0502040204020203" pitchFamily="34" charset="-122"/>
              </a:rPr>
              <a:t>V</a:t>
            </a:r>
          </a:p>
          <a:p>
            <a:pPr algn="ctr"/>
            <a:r>
              <a:rPr kumimoji="1" lang="en-US" altLang="zh-CN" sz="1600" b="1" dirty="0">
                <a:latin typeface="微软雅黑 Light" panose="020B0502040204020203" pitchFamily="34" charset="-122"/>
                <a:ea typeface="微软雅黑 Light" panose="020B0502040204020203" pitchFamily="34" charset="-122"/>
              </a:rPr>
              <a:t>C0 01 02 03</a:t>
            </a:r>
          </a:p>
        </p:txBody>
      </p:sp>
    </p:spTree>
    <p:extLst>
      <p:ext uri="{BB962C8B-B14F-4D97-AF65-F5344CB8AC3E}">
        <p14:creationId xmlns:p14="http://schemas.microsoft.com/office/powerpoint/2010/main" val="7587796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375"/>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1685243" y="581164"/>
            <a:ext cx="579222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中的 </a:t>
            </a:r>
            <a:r>
              <a:rPr lang="en-US" altLang="zh-CN" sz="2000" b="1" dirty="0">
                <a:solidFill>
                  <a:schemeClr val="bg1"/>
                </a:solidFill>
                <a:latin typeface="微软雅黑 Light" panose="020B0502040204020203" pitchFamily="34" charset="-122"/>
                <a:ea typeface="微软雅黑 Light" panose="020B0502040204020203" pitchFamily="34" charset="-122"/>
              </a:rPr>
              <a:t>V </a:t>
            </a:r>
            <a:r>
              <a:rPr lang="zh-CN" altLang="en-US" sz="2000" b="1" dirty="0">
                <a:solidFill>
                  <a:schemeClr val="bg1"/>
                </a:solidFill>
                <a:latin typeface="微软雅黑 Light" panose="020B0502040204020203" pitchFamily="34" charset="-122"/>
                <a:ea typeface="微软雅黑 Light" panose="020B0502040204020203" pitchFamily="34" charset="-122"/>
              </a:rPr>
              <a:t>字段可嵌套其他数据元素的 </a:t>
            </a:r>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字段</a:t>
            </a:r>
          </a:p>
        </p:txBody>
      </p:sp>
      <p:grpSp>
        <p:nvGrpSpPr>
          <p:cNvPr id="8" name="组合 7"/>
          <p:cNvGrpSpPr/>
          <p:nvPr/>
        </p:nvGrpSpPr>
        <p:grpSpPr>
          <a:xfrm>
            <a:off x="1082567" y="2024558"/>
            <a:ext cx="6663558" cy="925513"/>
            <a:chOff x="1082567" y="2669299"/>
            <a:chExt cx="6663558" cy="925513"/>
          </a:xfrm>
        </p:grpSpPr>
        <p:sp>
          <p:nvSpPr>
            <p:cNvPr id="18" name="Freeform 5"/>
            <p:cNvSpPr>
              <a:spLocks/>
            </p:cNvSpPr>
            <p:nvPr/>
          </p:nvSpPr>
          <p:spPr bwMode="auto">
            <a:xfrm>
              <a:off x="1088006" y="2669299"/>
              <a:ext cx="6656306" cy="352425"/>
            </a:xfrm>
            <a:custGeom>
              <a:avLst/>
              <a:gdLst>
                <a:gd name="T0" fmla="*/ 0 w 3672"/>
                <a:gd name="T1" fmla="*/ 222 h 222"/>
                <a:gd name="T2" fmla="*/ 2556 w 3672"/>
                <a:gd name="T3" fmla="*/ 0 h 222"/>
                <a:gd name="T4" fmla="*/ 3564 w 3672"/>
                <a:gd name="T5" fmla="*/ 6 h 222"/>
                <a:gd name="T6" fmla="*/ 3672 w 3672"/>
                <a:gd name="T7" fmla="*/ 222 h 222"/>
                <a:gd name="T8" fmla="*/ 0 w 3672"/>
                <a:gd name="T9" fmla="*/ 222 h 222"/>
              </a:gdLst>
              <a:ahLst/>
              <a:cxnLst>
                <a:cxn ang="0">
                  <a:pos x="T0" y="T1"/>
                </a:cxn>
                <a:cxn ang="0">
                  <a:pos x="T2" y="T3"/>
                </a:cxn>
                <a:cxn ang="0">
                  <a:pos x="T4" y="T5"/>
                </a:cxn>
                <a:cxn ang="0">
                  <a:pos x="T6" y="T7"/>
                </a:cxn>
                <a:cxn ang="0">
                  <a:pos x="T8" y="T9"/>
                </a:cxn>
              </a:cxnLst>
              <a:rect l="0" t="0" r="r" b="b"/>
              <a:pathLst>
                <a:path w="3672" h="222">
                  <a:moveTo>
                    <a:pt x="0" y="222"/>
                  </a:moveTo>
                  <a:lnTo>
                    <a:pt x="2556" y="0"/>
                  </a:lnTo>
                  <a:lnTo>
                    <a:pt x="3564" y="6"/>
                  </a:lnTo>
                  <a:lnTo>
                    <a:pt x="3672" y="222"/>
                  </a:lnTo>
                  <a:lnTo>
                    <a:pt x="0" y="222"/>
                  </a:lnTo>
                  <a:close/>
                </a:path>
              </a:pathLst>
            </a:custGeom>
            <a:gradFill rotWithShape="1">
              <a:gsLst>
                <a:gs pos="0">
                  <a:srgbClr val="00CCFF"/>
                </a:gs>
                <a:gs pos="100000">
                  <a:srgbClr val="66FF66"/>
                </a:gs>
              </a:gsLst>
              <a:lin ang="5400000" scaled="1"/>
            </a:gradFill>
            <a:ln>
              <a:noFill/>
            </a:ln>
            <a:effectLst/>
            <a:extLst>
              <a:ext uri="{91240B29-F687-4F45-9708-019B960494DF}">
                <a14:hiddenLine xmlns:a14="http://schemas.microsoft.com/office/drawing/2010/main" w="19050" cap="flat" cmpd="sng">
                  <a:solidFill>
                    <a:srgbClr val="333399"/>
                  </a:solidFill>
                  <a:prstDash val="solid"/>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9" name="Rectangle 9"/>
            <p:cNvSpPr>
              <a:spLocks noChangeArrowheads="1"/>
            </p:cNvSpPr>
            <p:nvPr/>
          </p:nvSpPr>
          <p:spPr bwMode="auto">
            <a:xfrm>
              <a:off x="1102597" y="3024899"/>
              <a:ext cx="6643528" cy="569913"/>
            </a:xfrm>
            <a:prstGeom prst="rect">
              <a:avLst/>
            </a:prstGeom>
            <a:solidFill>
              <a:srgbClr val="0000FF"/>
            </a:solidFill>
            <a:ln w="19050">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1" name="Text Box 14"/>
            <p:cNvSpPr txBox="1">
              <a:spLocks noChangeArrowheads="1"/>
            </p:cNvSpPr>
            <p:nvPr/>
          </p:nvSpPr>
          <p:spPr bwMode="auto">
            <a:xfrm>
              <a:off x="3858732" y="3162514"/>
              <a:ext cx="1002198"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600" b="1" dirty="0">
                  <a:solidFill>
                    <a:schemeClr val="bg1"/>
                  </a:solidFill>
                  <a:latin typeface="微软雅黑 Light" panose="020B0502040204020203" pitchFamily="34" charset="-122"/>
                  <a:ea typeface="微软雅黑 Light" panose="020B0502040204020203" pitchFamily="34" charset="-122"/>
                </a:rPr>
                <a:t>           V</a:t>
              </a:r>
            </a:p>
          </p:txBody>
        </p:sp>
        <p:sp>
          <p:nvSpPr>
            <p:cNvPr id="22" name="Text Box 15"/>
            <p:cNvSpPr txBox="1">
              <a:spLocks noChangeArrowheads="1"/>
            </p:cNvSpPr>
            <p:nvPr/>
          </p:nvSpPr>
          <p:spPr bwMode="auto">
            <a:xfrm>
              <a:off x="3000837" y="3162514"/>
              <a:ext cx="296876"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600" b="1" dirty="0">
                  <a:solidFill>
                    <a:schemeClr val="bg1"/>
                  </a:solidFill>
                  <a:latin typeface="微软雅黑 Light" panose="020B0502040204020203" pitchFamily="34" charset="-122"/>
                  <a:ea typeface="微软雅黑 Light" panose="020B0502040204020203" pitchFamily="34" charset="-122"/>
                </a:rPr>
                <a:t>L</a:t>
              </a:r>
            </a:p>
          </p:txBody>
        </p:sp>
        <p:sp>
          <p:nvSpPr>
            <p:cNvPr id="23" name="Text Box 16"/>
            <p:cNvSpPr txBox="1">
              <a:spLocks noChangeArrowheads="1"/>
            </p:cNvSpPr>
            <p:nvPr/>
          </p:nvSpPr>
          <p:spPr bwMode="auto">
            <a:xfrm>
              <a:off x="1429427" y="3170338"/>
              <a:ext cx="922047"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chemeClr val="bg1"/>
                  </a:solidFill>
                  <a:latin typeface="微软雅黑 Light" panose="020B0502040204020203" pitchFamily="34" charset="-122"/>
                  <a:ea typeface="微软雅黑 Light" panose="020B0502040204020203" pitchFamily="34" charset="-122"/>
                </a:rPr>
                <a:t>          T</a:t>
              </a:r>
            </a:p>
          </p:txBody>
        </p:sp>
        <p:sp>
          <p:nvSpPr>
            <p:cNvPr id="24" name="Text Box 17"/>
            <p:cNvSpPr txBox="1">
              <a:spLocks noChangeArrowheads="1"/>
            </p:cNvSpPr>
            <p:nvPr/>
          </p:nvSpPr>
          <p:spPr bwMode="auto">
            <a:xfrm>
              <a:off x="6107905" y="3162514"/>
              <a:ext cx="298480"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chemeClr val="bg1"/>
                  </a:solidFill>
                  <a:latin typeface="微软雅黑 Light" panose="020B0502040204020203" pitchFamily="34" charset="-122"/>
                  <a:ea typeface="微软雅黑 Light" panose="020B0502040204020203" pitchFamily="34" charset="-122"/>
                </a:rPr>
                <a:t>T</a:t>
              </a:r>
            </a:p>
          </p:txBody>
        </p:sp>
        <p:sp>
          <p:nvSpPr>
            <p:cNvPr id="25" name="Text Box 18"/>
            <p:cNvSpPr txBox="1">
              <a:spLocks noChangeArrowheads="1"/>
            </p:cNvSpPr>
            <p:nvPr/>
          </p:nvSpPr>
          <p:spPr bwMode="auto">
            <a:xfrm>
              <a:off x="6760417" y="3162514"/>
              <a:ext cx="296876"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600" b="1" dirty="0">
                  <a:solidFill>
                    <a:schemeClr val="bg1"/>
                  </a:solidFill>
                  <a:latin typeface="微软雅黑 Light" panose="020B0502040204020203" pitchFamily="34" charset="-122"/>
                  <a:ea typeface="微软雅黑 Light" panose="020B0502040204020203" pitchFamily="34" charset="-122"/>
                </a:rPr>
                <a:t>L</a:t>
              </a:r>
            </a:p>
          </p:txBody>
        </p:sp>
        <p:sp>
          <p:nvSpPr>
            <p:cNvPr id="31" name="Line 93"/>
            <p:cNvSpPr>
              <a:spLocks noChangeShapeType="1"/>
            </p:cNvSpPr>
            <p:nvPr/>
          </p:nvSpPr>
          <p:spPr bwMode="auto">
            <a:xfrm>
              <a:off x="5855665" y="3024899"/>
              <a:ext cx="0" cy="5699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94"/>
            <p:cNvSpPr>
              <a:spLocks noChangeShapeType="1"/>
            </p:cNvSpPr>
            <p:nvPr/>
          </p:nvSpPr>
          <p:spPr bwMode="auto">
            <a:xfrm>
              <a:off x="2928124" y="3024899"/>
              <a:ext cx="0" cy="5699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95"/>
            <p:cNvSpPr>
              <a:spLocks noChangeShapeType="1"/>
            </p:cNvSpPr>
            <p:nvPr/>
          </p:nvSpPr>
          <p:spPr bwMode="auto">
            <a:xfrm>
              <a:off x="3399431" y="3024899"/>
              <a:ext cx="0" cy="5699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96"/>
            <p:cNvSpPr>
              <a:spLocks noChangeShapeType="1"/>
            </p:cNvSpPr>
            <p:nvPr/>
          </p:nvSpPr>
          <p:spPr bwMode="auto">
            <a:xfrm>
              <a:off x="6722145" y="3024899"/>
              <a:ext cx="0" cy="5699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7" name="Line 107"/>
            <p:cNvSpPr>
              <a:spLocks noChangeShapeType="1"/>
            </p:cNvSpPr>
            <p:nvPr/>
          </p:nvSpPr>
          <p:spPr bwMode="auto">
            <a:xfrm flipV="1">
              <a:off x="1082567" y="2686761"/>
              <a:ext cx="4644187" cy="33813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8" name="Line 108"/>
            <p:cNvSpPr>
              <a:spLocks noChangeShapeType="1"/>
            </p:cNvSpPr>
            <p:nvPr/>
          </p:nvSpPr>
          <p:spPr bwMode="auto">
            <a:xfrm flipH="1">
              <a:off x="5855665" y="2672474"/>
              <a:ext cx="679563" cy="3524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9" name="Line 109"/>
            <p:cNvSpPr>
              <a:spLocks noChangeShapeType="1"/>
            </p:cNvSpPr>
            <p:nvPr/>
          </p:nvSpPr>
          <p:spPr bwMode="auto">
            <a:xfrm>
              <a:off x="7544913" y="2686761"/>
              <a:ext cx="201212" cy="33813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1" name="Line 96"/>
            <p:cNvSpPr>
              <a:spLocks noChangeShapeType="1"/>
            </p:cNvSpPr>
            <p:nvPr/>
          </p:nvSpPr>
          <p:spPr bwMode="auto">
            <a:xfrm>
              <a:off x="7184601" y="3024899"/>
              <a:ext cx="0" cy="5699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2" name="Text Box 18"/>
            <p:cNvSpPr txBox="1">
              <a:spLocks noChangeArrowheads="1"/>
            </p:cNvSpPr>
            <p:nvPr/>
          </p:nvSpPr>
          <p:spPr bwMode="auto">
            <a:xfrm>
              <a:off x="7281248" y="3162514"/>
              <a:ext cx="319318"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600" b="1" dirty="0">
                  <a:solidFill>
                    <a:schemeClr val="bg1"/>
                  </a:solidFill>
                  <a:latin typeface="微软雅黑 Light" panose="020B0502040204020203" pitchFamily="34" charset="-122"/>
                  <a:ea typeface="微软雅黑 Light" panose="020B0502040204020203" pitchFamily="34" charset="-122"/>
                </a:rPr>
                <a:t>V</a:t>
              </a:r>
            </a:p>
          </p:txBody>
        </p:sp>
      </p:grpSp>
      <p:grpSp>
        <p:nvGrpSpPr>
          <p:cNvPr id="7" name="组合 6"/>
          <p:cNvGrpSpPr/>
          <p:nvPr/>
        </p:nvGrpSpPr>
        <p:grpSpPr>
          <a:xfrm>
            <a:off x="3808897" y="1484808"/>
            <a:ext cx="3736015" cy="552450"/>
            <a:chOff x="3808897" y="2129549"/>
            <a:chExt cx="3736015" cy="552450"/>
          </a:xfrm>
        </p:grpSpPr>
        <p:sp>
          <p:nvSpPr>
            <p:cNvPr id="20" name="Rectangle 10"/>
            <p:cNvSpPr>
              <a:spLocks noChangeArrowheads="1"/>
            </p:cNvSpPr>
            <p:nvPr/>
          </p:nvSpPr>
          <p:spPr bwMode="auto">
            <a:xfrm>
              <a:off x="3827024" y="2129549"/>
              <a:ext cx="3717888" cy="552450"/>
            </a:xfrm>
            <a:prstGeom prst="rect">
              <a:avLst/>
            </a:prstGeom>
            <a:solidFill>
              <a:srgbClr val="FFFF00"/>
            </a:solidFill>
            <a:ln w="19050">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Text Box 20"/>
            <p:cNvSpPr txBox="1">
              <a:spLocks noChangeArrowheads="1"/>
            </p:cNvSpPr>
            <p:nvPr/>
          </p:nvSpPr>
          <p:spPr bwMode="auto">
            <a:xfrm>
              <a:off x="3808897" y="2240779"/>
              <a:ext cx="77296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333399"/>
                  </a:solidFill>
                  <a:latin typeface="微软雅黑 Light" panose="020B0502040204020203" pitchFamily="34" charset="-122"/>
                  <a:ea typeface="微软雅黑 Light" panose="020B0502040204020203" pitchFamily="34" charset="-122"/>
                </a:rPr>
                <a:t>         T</a:t>
              </a:r>
            </a:p>
          </p:txBody>
        </p:sp>
        <p:sp>
          <p:nvSpPr>
            <p:cNvPr id="27" name="Rectangle 21"/>
            <p:cNvSpPr>
              <a:spLocks noChangeArrowheads="1"/>
            </p:cNvSpPr>
            <p:nvPr/>
          </p:nvSpPr>
          <p:spPr bwMode="auto">
            <a:xfrm>
              <a:off x="5732193" y="2142249"/>
              <a:ext cx="1812719" cy="533400"/>
            </a:xfrm>
            <a:prstGeom prst="rect">
              <a:avLst/>
            </a:prstGeom>
            <a:solidFill>
              <a:srgbClr val="00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solidFill>
                  <a:schemeClr val="bg1"/>
                </a:solidFill>
                <a:latin typeface="微软雅黑 Light" panose="020B0502040204020203" pitchFamily="34" charset="-122"/>
                <a:ea typeface="微软雅黑 Light" panose="020B0502040204020203" pitchFamily="34" charset="-122"/>
              </a:endParaRPr>
            </a:p>
          </p:txBody>
        </p:sp>
        <p:sp>
          <p:nvSpPr>
            <p:cNvPr id="28" name="Text Box 22"/>
            <p:cNvSpPr txBox="1">
              <a:spLocks noChangeArrowheads="1"/>
            </p:cNvSpPr>
            <p:nvPr/>
          </p:nvSpPr>
          <p:spPr bwMode="auto">
            <a:xfrm>
              <a:off x="5222818" y="2240779"/>
              <a:ext cx="38824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333399"/>
                  </a:solidFill>
                  <a:latin typeface="微软雅黑 Light" panose="020B0502040204020203" pitchFamily="34" charset="-122"/>
                  <a:ea typeface="微软雅黑 Light" panose="020B0502040204020203" pitchFamily="34" charset="-122"/>
                </a:rPr>
                <a:t>  L</a:t>
              </a:r>
            </a:p>
          </p:txBody>
        </p:sp>
        <p:sp>
          <p:nvSpPr>
            <p:cNvPr id="29" name="Text Box 23"/>
            <p:cNvSpPr txBox="1">
              <a:spLocks noChangeArrowheads="1"/>
            </p:cNvSpPr>
            <p:nvPr/>
          </p:nvSpPr>
          <p:spPr bwMode="auto">
            <a:xfrm>
              <a:off x="5730380" y="2220036"/>
              <a:ext cx="154401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chemeClr val="bg1"/>
                  </a:solidFill>
                  <a:latin typeface="微软雅黑 Light" panose="020B0502040204020203" pitchFamily="34" charset="-122"/>
                  <a:ea typeface="微软雅黑 Light" panose="020B0502040204020203" pitchFamily="34" charset="-122"/>
                </a:rPr>
                <a:t>  name       value</a:t>
              </a:r>
            </a:p>
          </p:txBody>
        </p:sp>
        <p:sp>
          <p:nvSpPr>
            <p:cNvPr id="30" name="Line 90"/>
            <p:cNvSpPr>
              <a:spLocks noChangeShapeType="1"/>
            </p:cNvSpPr>
            <p:nvPr/>
          </p:nvSpPr>
          <p:spPr bwMode="auto">
            <a:xfrm>
              <a:off x="5222818" y="2129549"/>
              <a:ext cx="0" cy="5524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Line 105"/>
            <p:cNvSpPr>
              <a:spLocks noChangeShapeType="1"/>
            </p:cNvSpPr>
            <p:nvPr/>
          </p:nvSpPr>
          <p:spPr bwMode="auto">
            <a:xfrm>
              <a:off x="5726754" y="2129549"/>
              <a:ext cx="0" cy="5524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6" name="Line 106"/>
            <p:cNvSpPr>
              <a:spLocks noChangeShapeType="1"/>
            </p:cNvSpPr>
            <p:nvPr/>
          </p:nvSpPr>
          <p:spPr bwMode="auto">
            <a:xfrm>
              <a:off x="6535227" y="2129549"/>
              <a:ext cx="0" cy="5524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grpSp>
    </p:spTree>
    <p:extLst>
      <p:ext uri="{BB962C8B-B14F-4D97-AF65-F5344CB8AC3E}">
        <p14:creationId xmlns:p14="http://schemas.microsoft.com/office/powerpoint/2010/main" val="8454228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up)">
                                      <p:cBhvr>
                                        <p:cTn id="7" dur="20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15129"/>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6" name="Rectangle 6"/>
          <p:cNvSpPr>
            <a:spLocks noChangeArrowheads="1"/>
          </p:cNvSpPr>
          <p:nvPr/>
        </p:nvSpPr>
        <p:spPr bwMode="auto">
          <a:xfrm>
            <a:off x="2977657" y="572858"/>
            <a:ext cx="318869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6.7.3  </a:t>
            </a:r>
            <a:r>
              <a:rPr lang="zh-CN" altLang="en-US" sz="2400" b="1" dirty="0">
                <a:solidFill>
                  <a:schemeClr val="bg1"/>
                </a:solidFill>
                <a:latin typeface="微软雅黑 Light" panose="020B0502040204020203" pitchFamily="34" charset="-122"/>
                <a:ea typeface="微软雅黑 Light" panose="020B0502040204020203" pitchFamily="34" charset="-122"/>
              </a:rPr>
              <a:t>管理信息库 </a:t>
            </a:r>
            <a:r>
              <a:rPr lang="en-US" altLang="zh-CN" sz="2400" b="1" dirty="0">
                <a:solidFill>
                  <a:schemeClr val="bg1"/>
                </a:solidFill>
                <a:latin typeface="微软雅黑 Light" panose="020B0502040204020203" pitchFamily="34" charset="-122"/>
                <a:ea typeface="微软雅黑 Light" panose="020B0502040204020203" pitchFamily="34" charset="-122"/>
              </a:rPr>
              <a:t>MIB</a:t>
            </a:r>
            <a:endParaRPr lang="zh-CN" altLang="en-US" sz="2400" b="1" dirty="0">
              <a:solidFill>
                <a:schemeClr val="bg1"/>
              </a:solidFill>
              <a:latin typeface="微软雅黑 Light" panose="020B0502040204020203" pitchFamily="34" charset="-122"/>
              <a:ea typeface="微软雅黑 Light" panose="020B0502040204020203" pitchFamily="34" charset="-122"/>
            </a:endParaRPr>
          </a:p>
        </p:txBody>
      </p:sp>
      <p:sp>
        <p:nvSpPr>
          <p:cNvPr id="7" name="Rectangle 68"/>
          <p:cNvSpPr>
            <a:spLocks noChangeArrowheads="1"/>
          </p:cNvSpPr>
          <p:nvPr/>
        </p:nvSpPr>
        <p:spPr bwMode="auto">
          <a:xfrm>
            <a:off x="556963" y="1009347"/>
            <a:ext cx="8134276"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被管对象必须维持可供管理程序读写的若干控制和状态信息。这些信息总称为</a:t>
            </a:r>
            <a:r>
              <a:rPr lang="zh-CN" altLang="en-US" sz="2000" b="1" dirty="0">
                <a:solidFill>
                  <a:srgbClr val="C00000"/>
                </a:solidFill>
                <a:latin typeface="微软雅黑 Light" panose="020B0502040204020203" pitchFamily="34" charset="-122"/>
                <a:ea typeface="微软雅黑 Light" panose="020B0502040204020203" pitchFamily="34" charset="-122"/>
              </a:rPr>
              <a:t>管理信息库 </a:t>
            </a:r>
            <a:r>
              <a:rPr lang="en-US" altLang="zh-CN" sz="2000" b="1" dirty="0">
                <a:latin typeface="微软雅黑 Light" panose="020B0502040204020203" pitchFamily="34" charset="-122"/>
                <a:ea typeface="微软雅黑 Light" panose="020B0502040204020203" pitchFamily="34" charset="-122"/>
              </a:rPr>
              <a:t>MIB (Management Information Base) </a:t>
            </a:r>
            <a:r>
              <a:rPr lang="zh-CN" altLang="en-US" sz="2000" b="1" dirty="0">
                <a:latin typeface="微软雅黑 Light" panose="020B0502040204020203" pitchFamily="34" charset="-122"/>
                <a:ea typeface="微软雅黑 Light" panose="020B0502040204020203" pitchFamily="34" charset="-122"/>
              </a:rPr>
              <a:t>。</a:t>
            </a: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管理程序使用 </a:t>
            </a:r>
            <a:r>
              <a:rPr lang="en-US" altLang="zh-CN" sz="2000" b="1" dirty="0">
                <a:latin typeface="微软雅黑 Light" panose="020B0502040204020203" pitchFamily="34" charset="-122"/>
                <a:ea typeface="微软雅黑 Light" panose="020B0502040204020203" pitchFamily="34" charset="-122"/>
              </a:rPr>
              <a:t>MIB </a:t>
            </a:r>
            <a:r>
              <a:rPr lang="zh-CN" altLang="en-US" sz="2000" b="1" dirty="0">
                <a:latin typeface="微软雅黑 Light" panose="020B0502040204020203" pitchFamily="34" charset="-122"/>
                <a:ea typeface="微软雅黑 Light" panose="020B0502040204020203" pitchFamily="34" charset="-122"/>
              </a:rPr>
              <a:t>中这些信息的</a:t>
            </a:r>
            <a:r>
              <a:rPr lang="zh-CN" altLang="en-US" sz="2000" b="1" dirty="0">
                <a:solidFill>
                  <a:srgbClr val="C00000"/>
                </a:solidFill>
                <a:latin typeface="微软雅黑 Light" panose="020B0502040204020203" pitchFamily="34" charset="-122"/>
                <a:ea typeface="微软雅黑 Light" panose="020B0502040204020203" pitchFamily="34" charset="-122"/>
              </a:rPr>
              <a:t>值</a:t>
            </a:r>
            <a:r>
              <a:rPr lang="zh-CN" altLang="en-US" sz="2000" b="1" dirty="0">
                <a:latin typeface="微软雅黑 Light" panose="020B0502040204020203" pitchFamily="34" charset="-122"/>
                <a:ea typeface="微软雅黑 Light" panose="020B0502040204020203" pitchFamily="34" charset="-122"/>
              </a:rPr>
              <a:t>对网络进行管理（如读取或重新设置这些值）。</a:t>
            </a:r>
            <a:endParaRPr lang="en-US" altLang="zh-CN" sz="2000" b="1" dirty="0">
              <a:latin typeface="微软雅黑 Light" panose="020B0502040204020203" pitchFamily="34" charset="-122"/>
              <a:ea typeface="微软雅黑 Light" panose="020B0502040204020203" pitchFamily="34" charset="-122"/>
            </a:endParaRPr>
          </a:p>
          <a:p>
            <a:pPr marL="285750" indent="-285750" eaLnBrk="0" hangingPunct="0">
              <a:lnSpc>
                <a:spcPts val="33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只有在 </a:t>
            </a:r>
            <a:r>
              <a:rPr lang="en-US" altLang="zh-CN" sz="2000" b="1" dirty="0">
                <a:solidFill>
                  <a:srgbClr val="0000FF"/>
                </a:solidFill>
                <a:latin typeface="微软雅黑 Light" panose="020B0502040204020203" pitchFamily="34" charset="-122"/>
                <a:ea typeface="微软雅黑 Light" panose="020B0502040204020203" pitchFamily="34" charset="-122"/>
              </a:rPr>
              <a:t>MIB </a:t>
            </a:r>
            <a:r>
              <a:rPr lang="zh-CN" altLang="en-US" sz="2000" b="1" dirty="0">
                <a:solidFill>
                  <a:srgbClr val="0000FF"/>
                </a:solidFill>
                <a:latin typeface="微软雅黑 Light" panose="020B0502040204020203" pitchFamily="34" charset="-122"/>
                <a:ea typeface="微软雅黑 Light" panose="020B0502040204020203" pitchFamily="34" charset="-122"/>
              </a:rPr>
              <a:t>中的对象才是 </a:t>
            </a:r>
            <a:r>
              <a:rPr lang="en-US" altLang="zh-CN" sz="2000" b="1" dirty="0">
                <a:solidFill>
                  <a:srgbClr val="0000FF"/>
                </a:solidFill>
                <a:latin typeface="微软雅黑 Light" panose="020B0502040204020203" pitchFamily="34" charset="-122"/>
                <a:ea typeface="微软雅黑 Light" panose="020B0502040204020203" pitchFamily="34" charset="-122"/>
              </a:rPr>
              <a:t>SNMP </a:t>
            </a:r>
            <a:r>
              <a:rPr lang="zh-CN" altLang="en-US" sz="2000" b="1" dirty="0">
                <a:solidFill>
                  <a:srgbClr val="0000FF"/>
                </a:solidFill>
                <a:latin typeface="微软雅黑 Light" panose="020B0502040204020203" pitchFamily="34" charset="-122"/>
                <a:ea typeface="微软雅黑 Light" panose="020B0502040204020203" pitchFamily="34" charset="-122"/>
              </a:rPr>
              <a:t>所能够管理的。</a:t>
            </a:r>
          </a:p>
        </p:txBody>
      </p:sp>
    </p:spTree>
    <p:extLst>
      <p:ext uri="{BB962C8B-B14F-4D97-AF65-F5344CB8AC3E}">
        <p14:creationId xmlns:p14="http://schemas.microsoft.com/office/powerpoint/2010/main" val="30332530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146230" y="582898"/>
            <a:ext cx="487024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SMI </a:t>
            </a:r>
            <a:r>
              <a:rPr lang="zh-CN" altLang="en-US" sz="2000" b="1" dirty="0">
                <a:solidFill>
                  <a:schemeClr val="bg1"/>
                </a:solidFill>
                <a:latin typeface="微软雅黑 Light" panose="020B0502040204020203" pitchFamily="34" charset="-122"/>
                <a:ea typeface="微软雅黑 Light" panose="020B0502040204020203" pitchFamily="34" charset="-122"/>
              </a:rPr>
              <a:t>规定：所有被管对象必须在</a:t>
            </a:r>
            <a:r>
              <a:rPr lang="zh-CN" altLang="en-US" sz="2000" b="1" dirty="0">
                <a:solidFill>
                  <a:srgbClr val="FFFF00"/>
                </a:solidFill>
                <a:latin typeface="微软雅黑 Light" panose="020B0502040204020203" pitchFamily="34" charset="-122"/>
                <a:ea typeface="微软雅黑 Light" panose="020B0502040204020203" pitchFamily="34" charset="-122"/>
              </a:rPr>
              <a:t>命名树</a:t>
            </a:r>
            <a:r>
              <a:rPr lang="zh-CN" altLang="en-US" sz="2000" b="1" dirty="0">
                <a:solidFill>
                  <a:schemeClr val="bg1"/>
                </a:solidFill>
                <a:latin typeface="微软雅黑 Light" panose="020B0502040204020203" pitchFamily="34" charset="-122"/>
                <a:ea typeface="微软雅黑 Light" panose="020B0502040204020203" pitchFamily="34" charset="-122"/>
              </a:rPr>
              <a:t>上</a:t>
            </a:r>
          </a:p>
        </p:txBody>
      </p:sp>
      <p:grpSp>
        <p:nvGrpSpPr>
          <p:cNvPr id="86" name="组合 85"/>
          <p:cNvGrpSpPr/>
          <p:nvPr/>
        </p:nvGrpSpPr>
        <p:grpSpPr>
          <a:xfrm>
            <a:off x="1671762" y="1021028"/>
            <a:ext cx="5826927" cy="3317604"/>
            <a:chOff x="56456" y="1036082"/>
            <a:chExt cx="10454814" cy="5952524"/>
          </a:xfrm>
        </p:grpSpPr>
        <p:sp>
          <p:nvSpPr>
            <p:cNvPr id="5" name="Text Box 105"/>
            <p:cNvSpPr txBox="1">
              <a:spLocks noChangeArrowheads="1"/>
            </p:cNvSpPr>
            <p:nvPr/>
          </p:nvSpPr>
          <p:spPr bwMode="auto">
            <a:xfrm>
              <a:off x="4141616" y="1036082"/>
              <a:ext cx="607442" cy="496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zh-CN" altLang="en-US" sz="1200" b="1" dirty="0">
                  <a:solidFill>
                    <a:schemeClr val="tx1"/>
                  </a:solidFill>
                  <a:latin typeface="微软雅黑 Light" panose="020B0502040204020203" pitchFamily="34" charset="-122"/>
                  <a:ea typeface="微软雅黑 Light" panose="020B0502040204020203" pitchFamily="34" charset="-122"/>
                </a:rPr>
                <a:t>根</a:t>
              </a:r>
            </a:p>
          </p:txBody>
        </p:sp>
        <p:sp>
          <p:nvSpPr>
            <p:cNvPr id="6" name="Text Box 106"/>
            <p:cNvSpPr txBox="1">
              <a:spLocks noChangeArrowheads="1"/>
            </p:cNvSpPr>
            <p:nvPr/>
          </p:nvSpPr>
          <p:spPr bwMode="auto">
            <a:xfrm>
              <a:off x="4157825" y="1548496"/>
              <a:ext cx="9180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a:solidFill>
                    <a:schemeClr val="tx1"/>
                  </a:solidFill>
                  <a:latin typeface="微软雅黑 Light" panose="020B0502040204020203" pitchFamily="34" charset="-122"/>
                  <a:ea typeface="微软雅黑 Light" panose="020B0502040204020203" pitchFamily="34" charset="-122"/>
                </a:rPr>
                <a:t> (1)</a:t>
              </a:r>
            </a:p>
          </p:txBody>
        </p:sp>
        <p:sp>
          <p:nvSpPr>
            <p:cNvPr id="7" name="Text Box 107"/>
            <p:cNvSpPr txBox="1">
              <a:spLocks noChangeArrowheads="1"/>
            </p:cNvSpPr>
            <p:nvPr/>
          </p:nvSpPr>
          <p:spPr bwMode="auto">
            <a:xfrm>
              <a:off x="3019659" y="1601767"/>
              <a:ext cx="109926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(0)</a:t>
              </a:r>
            </a:p>
          </p:txBody>
        </p:sp>
        <p:sp>
          <p:nvSpPr>
            <p:cNvPr id="8" name="Text Box 108"/>
            <p:cNvSpPr txBox="1">
              <a:spLocks noChangeArrowheads="1"/>
            </p:cNvSpPr>
            <p:nvPr/>
          </p:nvSpPr>
          <p:spPr bwMode="auto">
            <a:xfrm>
              <a:off x="5203793" y="1601767"/>
              <a:ext cx="1481791"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9" name="Text Box 109"/>
            <p:cNvSpPr txBox="1">
              <a:spLocks noChangeArrowheads="1"/>
            </p:cNvSpPr>
            <p:nvPr/>
          </p:nvSpPr>
          <p:spPr bwMode="auto">
            <a:xfrm>
              <a:off x="3994445" y="2416859"/>
              <a:ext cx="108488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dod</a:t>
              </a:r>
              <a:r>
                <a:rPr kumimoji="1" lang="en-US" altLang="zh-CN" sz="1000" b="1" dirty="0">
                  <a:solidFill>
                    <a:schemeClr val="tx1"/>
                  </a:solidFill>
                  <a:latin typeface="微软雅黑 Light" panose="020B0502040204020203" pitchFamily="34" charset="-122"/>
                  <a:ea typeface="微软雅黑 Light" panose="020B0502040204020203" pitchFamily="34" charset="-122"/>
                </a:rPr>
                <a:t> (6)</a:t>
              </a:r>
            </a:p>
          </p:txBody>
        </p:sp>
        <p:sp>
          <p:nvSpPr>
            <p:cNvPr id="10" name="Text Box 110"/>
            <p:cNvSpPr txBox="1">
              <a:spLocks noChangeArrowheads="1"/>
            </p:cNvSpPr>
            <p:nvPr/>
          </p:nvSpPr>
          <p:spPr bwMode="auto">
            <a:xfrm>
              <a:off x="3745074" y="2859771"/>
              <a:ext cx="503383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internet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 (</a:t>
              </a:r>
              <a:r>
                <a:rPr kumimoji="1" lang="en-US" altLang="zh-CN" sz="1000" b="1" dirty="0" err="1">
                  <a:solidFill>
                    <a:schemeClr val="tx1"/>
                  </a:solidFill>
                  <a:latin typeface="微软雅黑 Light" panose="020B0502040204020203" pitchFamily="34" charset="-122"/>
                  <a:ea typeface="微软雅黑 Light" panose="020B0502040204020203" pitchFamily="34" charset="-122"/>
                  <a:sym typeface="Symbol" pitchFamily="18" charset="2"/>
                </a:rPr>
                <a:t>iso.org.dod.internet</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a:t>
              </a:r>
              <a:endParaRPr kumimoji="1" lang="en-US" altLang="zh-CN" sz="1000" b="1" dirty="0">
                <a:solidFill>
                  <a:schemeClr val="tx1"/>
                </a:solidFill>
                <a:latin typeface="微软雅黑 Light" panose="020B0502040204020203" pitchFamily="34" charset="-122"/>
                <a:ea typeface="微软雅黑 Light" panose="020B0502040204020203" pitchFamily="34" charset="-122"/>
              </a:endParaRPr>
            </a:p>
          </p:txBody>
        </p:sp>
        <p:sp>
          <p:nvSpPr>
            <p:cNvPr id="11" name="Text Box 111"/>
            <p:cNvSpPr txBox="1">
              <a:spLocks noChangeArrowheads="1"/>
            </p:cNvSpPr>
            <p:nvPr/>
          </p:nvSpPr>
          <p:spPr bwMode="auto">
            <a:xfrm>
              <a:off x="3963489" y="3304272"/>
              <a:ext cx="12890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mgmt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12" name="Text Box 112"/>
            <p:cNvSpPr txBox="1">
              <a:spLocks noChangeArrowheads="1"/>
            </p:cNvSpPr>
            <p:nvPr/>
          </p:nvSpPr>
          <p:spPr bwMode="auto">
            <a:xfrm>
              <a:off x="3978966" y="3828145"/>
              <a:ext cx="653230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mib-2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 (iso.org.dod.internet.mgmt.mib-2)</a:t>
              </a:r>
            </a:p>
          </p:txBody>
        </p:sp>
        <p:sp>
          <p:nvSpPr>
            <p:cNvPr id="13" name="Line 113"/>
            <p:cNvSpPr>
              <a:spLocks noChangeShapeType="1"/>
            </p:cNvSpPr>
            <p:nvPr/>
          </p:nvSpPr>
          <p:spPr bwMode="auto">
            <a:xfrm>
              <a:off x="4443645" y="1465242"/>
              <a:ext cx="0" cy="198438"/>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4" name="Line 114"/>
            <p:cNvSpPr>
              <a:spLocks noChangeShapeType="1"/>
            </p:cNvSpPr>
            <p:nvPr/>
          </p:nvSpPr>
          <p:spPr bwMode="auto">
            <a:xfrm flipH="1">
              <a:off x="4443646" y="2741593"/>
              <a:ext cx="1719" cy="2587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5" name="Line 115"/>
            <p:cNvSpPr>
              <a:spLocks noChangeShapeType="1"/>
            </p:cNvSpPr>
            <p:nvPr/>
          </p:nvSpPr>
          <p:spPr bwMode="auto">
            <a:xfrm flipH="1">
              <a:off x="4443645" y="3209906"/>
              <a:ext cx="0" cy="25558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6" name="Line 116"/>
            <p:cNvSpPr>
              <a:spLocks noChangeShapeType="1"/>
            </p:cNvSpPr>
            <p:nvPr/>
          </p:nvSpPr>
          <p:spPr bwMode="auto">
            <a:xfrm flipV="1">
              <a:off x="3968983" y="3209906"/>
              <a:ext cx="467783" cy="2174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7" name="Line 117"/>
            <p:cNvSpPr>
              <a:spLocks noChangeShapeType="1"/>
            </p:cNvSpPr>
            <p:nvPr/>
          </p:nvSpPr>
          <p:spPr bwMode="auto">
            <a:xfrm>
              <a:off x="4445364" y="3213080"/>
              <a:ext cx="440267" cy="1508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8" name="Text Box 118"/>
            <p:cNvSpPr txBox="1">
              <a:spLocks noChangeArrowheads="1"/>
            </p:cNvSpPr>
            <p:nvPr/>
          </p:nvSpPr>
          <p:spPr bwMode="auto">
            <a:xfrm>
              <a:off x="4030561" y="1951723"/>
              <a:ext cx="1030236"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org (3)</a:t>
              </a:r>
            </a:p>
          </p:txBody>
        </p:sp>
        <p:sp>
          <p:nvSpPr>
            <p:cNvPr id="19" name="Line 119"/>
            <p:cNvSpPr>
              <a:spLocks noChangeShapeType="1"/>
            </p:cNvSpPr>
            <p:nvPr/>
          </p:nvSpPr>
          <p:spPr bwMode="auto">
            <a:xfrm>
              <a:off x="4452243" y="1473181"/>
              <a:ext cx="1073150" cy="1793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0" name="Line 120"/>
            <p:cNvSpPr>
              <a:spLocks noChangeShapeType="1"/>
            </p:cNvSpPr>
            <p:nvPr/>
          </p:nvSpPr>
          <p:spPr bwMode="auto">
            <a:xfrm flipV="1">
              <a:off x="3430688" y="1470005"/>
              <a:ext cx="1009518" cy="2143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1" name="Line 121"/>
            <p:cNvSpPr>
              <a:spLocks noChangeShapeType="1"/>
            </p:cNvSpPr>
            <p:nvPr/>
          </p:nvSpPr>
          <p:spPr bwMode="auto">
            <a:xfrm flipH="1">
              <a:off x="4067010" y="1873231"/>
              <a:ext cx="359437" cy="111125"/>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2" name="Line 122"/>
            <p:cNvSpPr>
              <a:spLocks noChangeShapeType="1"/>
            </p:cNvSpPr>
            <p:nvPr/>
          </p:nvSpPr>
          <p:spPr bwMode="auto">
            <a:xfrm>
              <a:off x="4440206" y="1870055"/>
              <a:ext cx="407590" cy="1143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3" name="Line 123"/>
            <p:cNvSpPr>
              <a:spLocks noChangeShapeType="1"/>
            </p:cNvSpPr>
            <p:nvPr/>
          </p:nvSpPr>
          <p:spPr bwMode="auto">
            <a:xfrm flipH="1">
              <a:off x="4443645" y="1868467"/>
              <a:ext cx="0" cy="17780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4" name="Line 124"/>
            <p:cNvSpPr>
              <a:spLocks noChangeShapeType="1"/>
            </p:cNvSpPr>
            <p:nvPr/>
          </p:nvSpPr>
          <p:spPr bwMode="auto">
            <a:xfrm>
              <a:off x="4443645" y="2355831"/>
              <a:ext cx="0" cy="18573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5" name="Line 125"/>
            <p:cNvSpPr>
              <a:spLocks noChangeShapeType="1"/>
            </p:cNvSpPr>
            <p:nvPr/>
          </p:nvSpPr>
          <p:spPr bwMode="auto">
            <a:xfrm>
              <a:off x="4452244" y="2359005"/>
              <a:ext cx="390393" cy="14446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6" name="Line 126"/>
            <p:cNvSpPr>
              <a:spLocks noChangeShapeType="1"/>
            </p:cNvSpPr>
            <p:nvPr/>
          </p:nvSpPr>
          <p:spPr bwMode="auto">
            <a:xfrm flipH="1">
              <a:off x="3981020" y="2360593"/>
              <a:ext cx="454025" cy="1444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7" name="AutoShape 127"/>
            <p:cNvSpPr>
              <a:spLocks noChangeArrowheads="1"/>
            </p:cNvSpPr>
            <p:nvPr/>
          </p:nvSpPr>
          <p:spPr bwMode="auto">
            <a:xfrm>
              <a:off x="5313180" y="2997849"/>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8" name="AutoShape 128"/>
            <p:cNvSpPr>
              <a:spLocks noChangeArrowheads="1"/>
            </p:cNvSpPr>
            <p:nvPr/>
          </p:nvSpPr>
          <p:spPr bwMode="auto">
            <a:xfrm>
              <a:off x="5390570" y="3966224"/>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9" name="Line 129"/>
            <p:cNvSpPr>
              <a:spLocks noChangeShapeType="1"/>
            </p:cNvSpPr>
            <p:nvPr/>
          </p:nvSpPr>
          <p:spPr bwMode="auto">
            <a:xfrm>
              <a:off x="4448804" y="3659168"/>
              <a:ext cx="1720" cy="276225"/>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30" name="Rectangle 130"/>
            <p:cNvSpPr>
              <a:spLocks noChangeArrowheads="1"/>
            </p:cNvSpPr>
            <p:nvPr/>
          </p:nvSpPr>
          <p:spPr bwMode="auto">
            <a:xfrm>
              <a:off x="56456" y="4294167"/>
              <a:ext cx="9245600" cy="1703388"/>
            </a:xfrm>
            <a:prstGeom prst="rect">
              <a:avLst/>
            </a:prstGeom>
            <a:solidFill>
              <a:srgbClr val="00FFCC"/>
            </a:solidFill>
            <a:ln>
              <a:noFill/>
            </a:ln>
            <a:effectLst/>
            <a:extLst>
              <a:ext uri="{91240B29-F687-4F45-9708-019B960494DF}">
                <a14:hiddenLine xmlns:a14="http://schemas.microsoft.com/office/drawing/2010/main" w="1905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31" name="Text Box 131"/>
            <p:cNvSpPr txBox="1">
              <a:spLocks noChangeArrowheads="1"/>
            </p:cNvSpPr>
            <p:nvPr/>
          </p:nvSpPr>
          <p:spPr bwMode="auto">
            <a:xfrm>
              <a:off x="72398" y="5114694"/>
              <a:ext cx="1271832"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system(1)</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2" name="Text Box 132"/>
            <p:cNvSpPr txBox="1">
              <a:spLocks noChangeArrowheads="1"/>
            </p:cNvSpPr>
            <p:nvPr/>
          </p:nvSpPr>
          <p:spPr bwMode="auto">
            <a:xfrm>
              <a:off x="1290012" y="5095642"/>
              <a:ext cx="149617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interface(2)</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3" name="Text Box 133"/>
            <p:cNvSpPr txBox="1">
              <a:spLocks noChangeArrowheads="1"/>
            </p:cNvSpPr>
            <p:nvPr/>
          </p:nvSpPr>
          <p:spPr bwMode="auto">
            <a:xfrm>
              <a:off x="2707119" y="5095642"/>
              <a:ext cx="7972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at(3)</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4" name="Text Box 134"/>
            <p:cNvSpPr txBox="1">
              <a:spLocks noChangeArrowheads="1"/>
            </p:cNvSpPr>
            <p:nvPr/>
          </p:nvSpPr>
          <p:spPr bwMode="auto">
            <a:xfrm>
              <a:off x="3518860" y="5095642"/>
              <a:ext cx="79151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a:t>
              </a:r>
              <a:r>
                <a:rPr kumimoji="1" lang="en-US" altLang="zh-CN" sz="1000" b="1" dirty="0">
                  <a:solidFill>
                    <a:schemeClr val="tx1"/>
                  </a:solidFill>
                  <a:latin typeface="微软雅黑 Light" panose="020B0502040204020203" pitchFamily="34" charset="-122"/>
                  <a:ea typeface="微软雅黑 Light" panose="020B0502040204020203" pitchFamily="34" charset="-122"/>
                </a:rPr>
                <a:t>(4)</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5" name="Text Box 135"/>
            <p:cNvSpPr txBox="1">
              <a:spLocks noChangeArrowheads="1"/>
            </p:cNvSpPr>
            <p:nvPr/>
          </p:nvSpPr>
          <p:spPr bwMode="auto">
            <a:xfrm>
              <a:off x="4289327" y="5095642"/>
              <a:ext cx="110214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icmp</a:t>
              </a:r>
              <a:r>
                <a:rPr kumimoji="1" lang="en-US" altLang="zh-CN" sz="1000" b="1" dirty="0">
                  <a:solidFill>
                    <a:schemeClr val="tx1"/>
                  </a:solidFill>
                  <a:latin typeface="微软雅黑 Light" panose="020B0502040204020203" pitchFamily="34" charset="-122"/>
                  <a:ea typeface="微软雅黑 Light" panose="020B0502040204020203" pitchFamily="34" charset="-122"/>
                </a:rPr>
                <a:t>(5)</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6" name="Text Box 136"/>
            <p:cNvSpPr txBox="1">
              <a:spLocks noChangeArrowheads="1"/>
            </p:cNvSpPr>
            <p:nvPr/>
          </p:nvSpPr>
          <p:spPr bwMode="auto">
            <a:xfrm>
              <a:off x="5389994" y="5095642"/>
              <a:ext cx="92094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tcp</a:t>
              </a:r>
              <a:r>
                <a:rPr kumimoji="1" lang="en-US" altLang="zh-CN" sz="1000" b="1" dirty="0">
                  <a:solidFill>
                    <a:schemeClr val="tx1"/>
                  </a:solidFill>
                  <a:latin typeface="微软雅黑 Light" panose="020B0502040204020203" pitchFamily="34" charset="-122"/>
                  <a:ea typeface="微软雅黑 Light" panose="020B0502040204020203" pitchFamily="34" charset="-122"/>
                </a:rPr>
                <a:t>(6)</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7" name="Text Box 137"/>
            <p:cNvSpPr txBox="1">
              <a:spLocks noChangeArrowheads="1"/>
            </p:cNvSpPr>
            <p:nvPr/>
          </p:nvSpPr>
          <p:spPr bwMode="auto">
            <a:xfrm>
              <a:off x="62292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udp</a:t>
              </a:r>
              <a:r>
                <a:rPr kumimoji="1" lang="en-US" altLang="zh-CN" sz="1000" b="1" dirty="0">
                  <a:solidFill>
                    <a:schemeClr val="tx1"/>
                  </a:solidFill>
                  <a:latin typeface="微软雅黑 Light" panose="020B0502040204020203" pitchFamily="34" charset="-122"/>
                  <a:ea typeface="微软雅黑 Light" panose="020B0502040204020203" pitchFamily="34" charset="-122"/>
                </a:rPr>
                <a:t>(7)</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8" name="Text Box 138"/>
            <p:cNvSpPr txBox="1">
              <a:spLocks noChangeArrowheads="1"/>
            </p:cNvSpPr>
            <p:nvPr/>
          </p:nvSpPr>
          <p:spPr bwMode="auto">
            <a:xfrm>
              <a:off x="72198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egp</a:t>
              </a:r>
              <a:r>
                <a:rPr kumimoji="1" lang="en-US" altLang="zh-CN" sz="1000" b="1" dirty="0">
                  <a:solidFill>
                    <a:schemeClr val="tx1"/>
                  </a:solidFill>
                  <a:latin typeface="微软雅黑 Light" panose="020B0502040204020203" pitchFamily="34" charset="-122"/>
                  <a:ea typeface="微软雅黑 Light" panose="020B0502040204020203" pitchFamily="34" charset="-122"/>
                </a:rPr>
                <a:t>(8)</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9" name="Line 139"/>
            <p:cNvSpPr>
              <a:spLocks noChangeShapeType="1"/>
            </p:cNvSpPr>
            <p:nvPr/>
          </p:nvSpPr>
          <p:spPr bwMode="auto">
            <a:xfrm flipH="1">
              <a:off x="3936306" y="4452917"/>
              <a:ext cx="50390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0" name="Line 140"/>
            <p:cNvSpPr>
              <a:spLocks noChangeShapeType="1"/>
            </p:cNvSpPr>
            <p:nvPr/>
          </p:nvSpPr>
          <p:spPr bwMode="auto">
            <a:xfrm flipV="1">
              <a:off x="716856" y="4452917"/>
              <a:ext cx="37233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1" name="Line 141"/>
            <p:cNvSpPr>
              <a:spLocks noChangeShapeType="1"/>
            </p:cNvSpPr>
            <p:nvPr/>
          </p:nvSpPr>
          <p:spPr bwMode="auto">
            <a:xfrm flipV="1">
              <a:off x="2037656" y="4452917"/>
              <a:ext cx="24025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2" name="Line 142"/>
            <p:cNvSpPr>
              <a:spLocks noChangeShapeType="1"/>
            </p:cNvSpPr>
            <p:nvPr/>
          </p:nvSpPr>
          <p:spPr bwMode="auto">
            <a:xfrm flipV="1">
              <a:off x="3193356" y="4452917"/>
              <a:ext cx="12468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3" name="Line 143"/>
            <p:cNvSpPr>
              <a:spLocks noChangeShapeType="1"/>
            </p:cNvSpPr>
            <p:nvPr/>
          </p:nvSpPr>
          <p:spPr bwMode="auto">
            <a:xfrm flipH="1" flipV="1">
              <a:off x="4440205" y="4452917"/>
              <a:ext cx="4041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4" name="Line 144"/>
            <p:cNvSpPr>
              <a:spLocks noChangeShapeType="1"/>
            </p:cNvSpPr>
            <p:nvPr/>
          </p:nvSpPr>
          <p:spPr bwMode="auto">
            <a:xfrm flipH="1" flipV="1">
              <a:off x="4440205" y="4452917"/>
              <a:ext cx="13947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5" name="Line 145"/>
            <p:cNvSpPr>
              <a:spLocks noChangeShapeType="1"/>
            </p:cNvSpPr>
            <p:nvPr/>
          </p:nvSpPr>
          <p:spPr bwMode="auto">
            <a:xfrm flipH="1" flipV="1">
              <a:off x="4440205" y="4452917"/>
              <a:ext cx="23028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6" name="Line 146"/>
            <p:cNvSpPr>
              <a:spLocks noChangeShapeType="1"/>
            </p:cNvSpPr>
            <p:nvPr/>
          </p:nvSpPr>
          <p:spPr bwMode="auto">
            <a:xfrm flipH="1" flipV="1">
              <a:off x="4440205" y="4452917"/>
              <a:ext cx="32934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7" name="Line 147"/>
            <p:cNvSpPr>
              <a:spLocks noChangeShapeType="1"/>
            </p:cNvSpPr>
            <p:nvPr/>
          </p:nvSpPr>
          <p:spPr bwMode="auto">
            <a:xfrm>
              <a:off x="634306"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8" name="Line 148"/>
            <p:cNvSpPr>
              <a:spLocks noChangeShapeType="1"/>
            </p:cNvSpPr>
            <p:nvPr/>
          </p:nvSpPr>
          <p:spPr bwMode="auto">
            <a:xfrm>
              <a:off x="7168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9" name="Line 149"/>
            <p:cNvSpPr>
              <a:spLocks noChangeShapeType="1"/>
            </p:cNvSpPr>
            <p:nvPr/>
          </p:nvSpPr>
          <p:spPr bwMode="auto">
            <a:xfrm flipH="1">
              <a:off x="3866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0" name="Text Box 150"/>
            <p:cNvSpPr txBox="1">
              <a:spLocks noChangeArrowheads="1"/>
            </p:cNvSpPr>
            <p:nvPr/>
          </p:nvSpPr>
          <p:spPr bwMode="auto">
            <a:xfrm>
              <a:off x="372898"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1" name="Line 151"/>
            <p:cNvSpPr>
              <a:spLocks noChangeShapeType="1"/>
            </p:cNvSpPr>
            <p:nvPr/>
          </p:nvSpPr>
          <p:spPr bwMode="auto">
            <a:xfrm>
              <a:off x="1851918"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2" name="Line 152"/>
            <p:cNvSpPr>
              <a:spLocks noChangeShapeType="1"/>
            </p:cNvSpPr>
            <p:nvPr/>
          </p:nvSpPr>
          <p:spPr bwMode="auto">
            <a:xfrm>
              <a:off x="19344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3" name="Line 153"/>
            <p:cNvSpPr>
              <a:spLocks noChangeShapeType="1"/>
            </p:cNvSpPr>
            <p:nvPr/>
          </p:nvSpPr>
          <p:spPr bwMode="auto">
            <a:xfrm flipH="1">
              <a:off x="16042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4" name="Text Box 154"/>
            <p:cNvSpPr txBox="1">
              <a:spLocks noChangeArrowheads="1"/>
            </p:cNvSpPr>
            <p:nvPr/>
          </p:nvSpPr>
          <p:spPr bwMode="auto">
            <a:xfrm>
              <a:off x="1590511"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5" name="Line 155"/>
            <p:cNvSpPr>
              <a:spLocks noChangeShapeType="1"/>
            </p:cNvSpPr>
            <p:nvPr/>
          </p:nvSpPr>
          <p:spPr bwMode="auto">
            <a:xfrm>
              <a:off x="3069531"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6" name="Line 156"/>
            <p:cNvSpPr>
              <a:spLocks noChangeShapeType="1"/>
            </p:cNvSpPr>
            <p:nvPr/>
          </p:nvSpPr>
          <p:spPr bwMode="auto">
            <a:xfrm>
              <a:off x="31520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7" name="Line 157"/>
            <p:cNvSpPr>
              <a:spLocks noChangeShapeType="1"/>
            </p:cNvSpPr>
            <p:nvPr/>
          </p:nvSpPr>
          <p:spPr bwMode="auto">
            <a:xfrm flipH="1">
              <a:off x="28218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8" name="Text Box 158"/>
            <p:cNvSpPr txBox="1">
              <a:spLocks noChangeArrowheads="1"/>
            </p:cNvSpPr>
            <p:nvPr/>
          </p:nvSpPr>
          <p:spPr bwMode="auto">
            <a:xfrm>
              <a:off x="2808123"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9" name="Line 159"/>
            <p:cNvSpPr>
              <a:spLocks noChangeShapeType="1"/>
            </p:cNvSpPr>
            <p:nvPr/>
          </p:nvSpPr>
          <p:spPr bwMode="auto">
            <a:xfrm>
              <a:off x="40326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0" name="Line 160"/>
            <p:cNvSpPr>
              <a:spLocks noChangeShapeType="1"/>
            </p:cNvSpPr>
            <p:nvPr/>
          </p:nvSpPr>
          <p:spPr bwMode="auto">
            <a:xfrm flipH="1">
              <a:off x="37024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1" name="Text Box 161"/>
            <p:cNvSpPr txBox="1">
              <a:spLocks noChangeArrowheads="1"/>
            </p:cNvSpPr>
            <p:nvPr/>
          </p:nvSpPr>
          <p:spPr bwMode="auto">
            <a:xfrm>
              <a:off x="384859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2" name="Line 162"/>
            <p:cNvSpPr>
              <a:spLocks noChangeShapeType="1"/>
            </p:cNvSpPr>
            <p:nvPr/>
          </p:nvSpPr>
          <p:spPr bwMode="auto">
            <a:xfrm>
              <a:off x="48581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3" name="Line 163"/>
            <p:cNvSpPr>
              <a:spLocks noChangeShapeType="1"/>
            </p:cNvSpPr>
            <p:nvPr/>
          </p:nvSpPr>
          <p:spPr bwMode="auto">
            <a:xfrm>
              <a:off x="49406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4" name="Line 164"/>
            <p:cNvSpPr>
              <a:spLocks noChangeShapeType="1"/>
            </p:cNvSpPr>
            <p:nvPr/>
          </p:nvSpPr>
          <p:spPr bwMode="auto">
            <a:xfrm flipH="1">
              <a:off x="46104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5" name="Text Box 165"/>
            <p:cNvSpPr txBox="1">
              <a:spLocks noChangeArrowheads="1"/>
            </p:cNvSpPr>
            <p:nvPr/>
          </p:nvSpPr>
          <p:spPr bwMode="auto">
            <a:xfrm>
              <a:off x="459670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6" name="Line 166"/>
            <p:cNvSpPr>
              <a:spLocks noChangeShapeType="1"/>
            </p:cNvSpPr>
            <p:nvPr/>
          </p:nvSpPr>
          <p:spPr bwMode="auto">
            <a:xfrm>
              <a:off x="58487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7" name="Line 167"/>
            <p:cNvSpPr>
              <a:spLocks noChangeShapeType="1"/>
            </p:cNvSpPr>
            <p:nvPr/>
          </p:nvSpPr>
          <p:spPr bwMode="auto">
            <a:xfrm>
              <a:off x="59312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8" name="Line 168"/>
            <p:cNvSpPr>
              <a:spLocks noChangeShapeType="1"/>
            </p:cNvSpPr>
            <p:nvPr/>
          </p:nvSpPr>
          <p:spPr bwMode="auto">
            <a:xfrm flipH="1">
              <a:off x="56010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9" name="Text Box 169"/>
            <p:cNvSpPr txBox="1">
              <a:spLocks noChangeArrowheads="1"/>
            </p:cNvSpPr>
            <p:nvPr/>
          </p:nvSpPr>
          <p:spPr bwMode="auto">
            <a:xfrm>
              <a:off x="558730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0" name="Line 170"/>
            <p:cNvSpPr>
              <a:spLocks noChangeShapeType="1"/>
            </p:cNvSpPr>
            <p:nvPr/>
          </p:nvSpPr>
          <p:spPr bwMode="auto">
            <a:xfrm>
              <a:off x="77473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1" name="Line 171"/>
            <p:cNvSpPr>
              <a:spLocks noChangeShapeType="1"/>
            </p:cNvSpPr>
            <p:nvPr/>
          </p:nvSpPr>
          <p:spPr bwMode="auto">
            <a:xfrm>
              <a:off x="78299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2" name="Line 172"/>
            <p:cNvSpPr>
              <a:spLocks noChangeShapeType="1"/>
            </p:cNvSpPr>
            <p:nvPr/>
          </p:nvSpPr>
          <p:spPr bwMode="auto">
            <a:xfrm flipH="1">
              <a:off x="74997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3" name="Text Box 173"/>
            <p:cNvSpPr txBox="1">
              <a:spLocks noChangeArrowheads="1"/>
            </p:cNvSpPr>
            <p:nvPr/>
          </p:nvSpPr>
          <p:spPr bwMode="auto">
            <a:xfrm>
              <a:off x="748595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4" name="Line 174"/>
            <p:cNvSpPr>
              <a:spLocks noChangeShapeType="1"/>
            </p:cNvSpPr>
            <p:nvPr/>
          </p:nvSpPr>
          <p:spPr bwMode="auto">
            <a:xfrm>
              <a:off x="67567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5" name="Line 175"/>
            <p:cNvSpPr>
              <a:spLocks noChangeShapeType="1"/>
            </p:cNvSpPr>
            <p:nvPr/>
          </p:nvSpPr>
          <p:spPr bwMode="auto">
            <a:xfrm>
              <a:off x="68393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6" name="Line 176"/>
            <p:cNvSpPr>
              <a:spLocks noChangeShapeType="1"/>
            </p:cNvSpPr>
            <p:nvPr/>
          </p:nvSpPr>
          <p:spPr bwMode="auto">
            <a:xfrm flipH="1">
              <a:off x="65091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7" name="Text Box 177"/>
            <p:cNvSpPr txBox="1">
              <a:spLocks noChangeArrowheads="1"/>
            </p:cNvSpPr>
            <p:nvPr/>
          </p:nvSpPr>
          <p:spPr bwMode="auto">
            <a:xfrm>
              <a:off x="649535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8" name="Text Box 178"/>
            <p:cNvSpPr txBox="1">
              <a:spLocks noChangeArrowheads="1"/>
            </p:cNvSpPr>
            <p:nvPr/>
          </p:nvSpPr>
          <p:spPr bwMode="auto">
            <a:xfrm>
              <a:off x="8394006" y="5129193"/>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9" name="Line 179"/>
            <p:cNvSpPr>
              <a:spLocks noChangeShapeType="1"/>
            </p:cNvSpPr>
            <p:nvPr/>
          </p:nvSpPr>
          <p:spPr bwMode="auto">
            <a:xfrm flipH="1">
              <a:off x="4441925" y="4151293"/>
              <a:ext cx="3440" cy="3095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0" name="Line 180"/>
            <p:cNvSpPr>
              <a:spLocks noChangeShapeType="1"/>
            </p:cNvSpPr>
            <p:nvPr/>
          </p:nvSpPr>
          <p:spPr bwMode="auto">
            <a:xfrm flipH="1">
              <a:off x="3745409" y="5494318"/>
              <a:ext cx="211534" cy="6397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1" name="Text Box 181"/>
            <p:cNvSpPr txBox="1">
              <a:spLocks noChangeArrowheads="1"/>
            </p:cNvSpPr>
            <p:nvPr/>
          </p:nvSpPr>
          <p:spPr bwMode="auto">
            <a:xfrm>
              <a:off x="2785765" y="6021367"/>
              <a:ext cx="198799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ipInReceives</a:t>
              </a:r>
              <a:r>
                <a:rPr kumimoji="1" lang="en-US" altLang="zh-CN" sz="1000" b="1" dirty="0">
                  <a:solidFill>
                    <a:schemeClr val="tx1"/>
                  </a:solidFill>
                  <a:latin typeface="微软雅黑 Light" panose="020B0502040204020203" pitchFamily="34" charset="-122"/>
                  <a:ea typeface="微软雅黑 Light" panose="020B0502040204020203" pitchFamily="34" charset="-122"/>
                </a:rPr>
                <a:t>(3) </a:t>
              </a:r>
            </a:p>
          </p:txBody>
        </p:sp>
        <p:sp>
          <p:nvSpPr>
            <p:cNvPr id="82" name="AutoShape 182"/>
            <p:cNvSpPr>
              <a:spLocks noChangeArrowheads="1"/>
            </p:cNvSpPr>
            <p:nvPr/>
          </p:nvSpPr>
          <p:spPr bwMode="auto">
            <a:xfrm>
              <a:off x="4733988" y="6134963"/>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83" name="Text Box 183"/>
            <p:cNvSpPr txBox="1">
              <a:spLocks noChangeArrowheads="1"/>
            </p:cNvSpPr>
            <p:nvPr/>
          </p:nvSpPr>
          <p:spPr bwMode="auto">
            <a:xfrm>
              <a:off x="5130298" y="6021367"/>
              <a:ext cx="163135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1.3.6.1.2.1.4.3</a:t>
              </a:r>
            </a:p>
          </p:txBody>
        </p:sp>
        <p:sp>
          <p:nvSpPr>
            <p:cNvPr id="84" name="Text Box 184"/>
            <p:cNvSpPr txBox="1">
              <a:spLocks noChangeArrowheads="1"/>
            </p:cNvSpPr>
            <p:nvPr/>
          </p:nvSpPr>
          <p:spPr bwMode="auto">
            <a:xfrm>
              <a:off x="3119405" y="6546830"/>
              <a:ext cx="53645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(iso.org.dod.internet.mgmt.mib-2.ip.ipinreceives)</a:t>
              </a:r>
            </a:p>
          </p:txBody>
        </p:sp>
        <p:sp>
          <p:nvSpPr>
            <p:cNvPr id="85" name="Line 185"/>
            <p:cNvSpPr>
              <a:spLocks noChangeShapeType="1"/>
            </p:cNvSpPr>
            <p:nvPr/>
          </p:nvSpPr>
          <p:spPr bwMode="auto">
            <a:xfrm flipH="1" flipV="1">
              <a:off x="5594186" y="6346806"/>
              <a:ext cx="79110" cy="30003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grpSp>
      <p:sp>
        <p:nvSpPr>
          <p:cNvPr id="87" name="矩形 86"/>
          <p:cNvSpPr/>
          <p:nvPr/>
        </p:nvSpPr>
        <p:spPr>
          <a:xfrm>
            <a:off x="1103588" y="2314729"/>
            <a:ext cx="7020910" cy="1777682"/>
          </a:xfrm>
          <a:prstGeom prst="rect">
            <a:avLst/>
          </a:prstGeom>
          <a:noFill/>
          <a:ln w="28575">
            <a:solidFill>
              <a:srgbClr val="CC00CC"/>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767755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8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7" grpId="0" animBg="1"/>
    </p:bldLst>
  </p:timing>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08471"/>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488476" y="575260"/>
            <a:ext cx="418576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节点 </a:t>
            </a:r>
            <a:r>
              <a:rPr lang="en-US" altLang="zh-CN" sz="2000" b="1" dirty="0">
                <a:solidFill>
                  <a:schemeClr val="bg1"/>
                </a:solidFill>
                <a:latin typeface="微软雅黑 Light" panose="020B0502040204020203" pitchFamily="34" charset="-122"/>
                <a:ea typeface="微软雅黑 Light" panose="020B0502040204020203" pitchFamily="34" charset="-122"/>
              </a:rPr>
              <a:t>mib-2 </a:t>
            </a:r>
            <a:r>
              <a:rPr lang="zh-CN" altLang="en-US" sz="2000" b="1" dirty="0">
                <a:solidFill>
                  <a:schemeClr val="bg1"/>
                </a:solidFill>
                <a:latin typeface="微软雅黑 Light" panose="020B0502040204020203" pitchFamily="34" charset="-122"/>
                <a:ea typeface="微软雅黑 Light" panose="020B0502040204020203" pitchFamily="34" charset="-122"/>
              </a:rPr>
              <a:t>所包含的信息类别举例</a:t>
            </a:r>
          </a:p>
        </p:txBody>
      </p:sp>
      <p:graphicFrame>
        <p:nvGraphicFramePr>
          <p:cNvPr id="4" name="内容占位符 6"/>
          <p:cNvGraphicFramePr>
            <a:graphicFrameLocks/>
          </p:cNvGraphicFramePr>
          <p:nvPr>
            <p:extLst>
              <p:ext uri="{D42A27DB-BD31-4B8C-83A1-F6EECF244321}">
                <p14:modId xmlns:p14="http://schemas.microsoft.com/office/powerpoint/2010/main" val="1976540579"/>
              </p:ext>
            </p:extLst>
          </p:nvPr>
        </p:nvGraphicFramePr>
        <p:xfrm>
          <a:off x="556964" y="1054660"/>
          <a:ext cx="8048776" cy="2819906"/>
        </p:xfrm>
        <a:graphic>
          <a:graphicData uri="http://schemas.openxmlformats.org/drawingml/2006/table">
            <a:tbl>
              <a:tblPr/>
              <a:tblGrid>
                <a:gridCol w="2465810">
                  <a:extLst>
                    <a:ext uri="{9D8B030D-6E8A-4147-A177-3AD203B41FA5}">
                      <a16:colId xmlns:a16="http://schemas.microsoft.com/office/drawing/2014/main" val="20000"/>
                    </a:ext>
                  </a:extLst>
                </a:gridCol>
                <a:gridCol w="1395741">
                  <a:extLst>
                    <a:ext uri="{9D8B030D-6E8A-4147-A177-3AD203B41FA5}">
                      <a16:colId xmlns:a16="http://schemas.microsoft.com/office/drawing/2014/main" val="20001"/>
                    </a:ext>
                  </a:extLst>
                </a:gridCol>
                <a:gridCol w="4187225">
                  <a:extLst>
                    <a:ext uri="{9D8B030D-6E8A-4147-A177-3AD203B41FA5}">
                      <a16:colId xmlns:a16="http://schemas.microsoft.com/office/drawing/2014/main" val="20002"/>
                    </a:ext>
                  </a:extLst>
                </a:gridCol>
              </a:tblGrid>
              <a:tr h="369799">
                <a:tc>
                  <a:txBody>
                    <a:bodyPr/>
                    <a:lstStyle/>
                    <a:p>
                      <a:pPr algn="ctr" hangingPunct="0">
                        <a:lnSpc>
                          <a:spcPct val="100000"/>
                        </a:lnSpc>
                        <a:spcAft>
                          <a:spcPts val="0"/>
                        </a:spcAft>
                      </a:pPr>
                      <a:r>
                        <a:rPr lang="zh-CN" sz="1600" b="1" dirty="0">
                          <a:solidFill>
                            <a:schemeClr val="bg1"/>
                          </a:solidFill>
                          <a:effectLst/>
                          <a:latin typeface="微软雅黑 Light" panose="020B0502040204020203" pitchFamily="34" charset="-122"/>
                          <a:ea typeface="微软雅黑 Light" panose="020B0502040204020203" pitchFamily="34" charset="-122"/>
                        </a:rPr>
                        <a:t>类</a:t>
                      </a:r>
                      <a:r>
                        <a:rPr lang="en-US" sz="1600" b="1" dirty="0">
                          <a:solidFill>
                            <a:schemeClr val="bg1"/>
                          </a:solidFill>
                          <a:effectLst/>
                          <a:latin typeface="微软雅黑 Light" panose="020B0502040204020203" pitchFamily="34" charset="-122"/>
                          <a:ea typeface="微软雅黑 Light" panose="020B0502040204020203" pitchFamily="34" charset="-122"/>
                        </a:rPr>
                        <a:t>   </a:t>
                      </a:r>
                      <a:r>
                        <a:rPr lang="zh-CN" sz="1600" b="1" dirty="0">
                          <a:solidFill>
                            <a:schemeClr val="bg1"/>
                          </a:solidFill>
                          <a:effectLst/>
                          <a:latin typeface="微软雅黑 Light" panose="020B0502040204020203" pitchFamily="34" charset="-122"/>
                          <a:ea typeface="微软雅黑 Light" panose="020B0502040204020203" pitchFamily="34" charset="-122"/>
                        </a:rPr>
                        <a:t>别</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pPr algn="ctr" hangingPunct="0">
                        <a:lnSpc>
                          <a:spcPct val="100000"/>
                        </a:lnSpc>
                        <a:spcAft>
                          <a:spcPts val="0"/>
                        </a:spcAft>
                      </a:pPr>
                      <a:r>
                        <a:rPr lang="zh-CN" sz="1600" b="1" dirty="0">
                          <a:solidFill>
                            <a:schemeClr val="bg1"/>
                          </a:solidFill>
                          <a:effectLst/>
                          <a:latin typeface="微软雅黑 Light" panose="020B0502040204020203" pitchFamily="34" charset="-122"/>
                          <a:ea typeface="微软雅黑 Light" panose="020B0502040204020203" pitchFamily="34" charset="-122"/>
                        </a:rPr>
                        <a:t>标</a:t>
                      </a:r>
                      <a:r>
                        <a:rPr lang="en-US" sz="1600" b="1" dirty="0">
                          <a:solidFill>
                            <a:schemeClr val="bg1"/>
                          </a:solidFill>
                          <a:effectLst/>
                          <a:latin typeface="微软雅黑 Light" panose="020B0502040204020203" pitchFamily="34" charset="-122"/>
                          <a:ea typeface="微软雅黑 Light" panose="020B0502040204020203" pitchFamily="34" charset="-122"/>
                        </a:rPr>
                        <a:t>  </a:t>
                      </a:r>
                      <a:r>
                        <a:rPr lang="zh-CN" sz="1600" b="1" dirty="0">
                          <a:solidFill>
                            <a:schemeClr val="bg1"/>
                          </a:solidFill>
                          <a:effectLst/>
                          <a:latin typeface="微软雅黑 Light" panose="020B0502040204020203" pitchFamily="34" charset="-122"/>
                          <a:ea typeface="微软雅黑 Light" panose="020B0502040204020203" pitchFamily="34" charset="-122"/>
                        </a:rPr>
                        <a:t>号</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pPr algn="ctr" hangingPunct="0">
                        <a:lnSpc>
                          <a:spcPct val="100000"/>
                        </a:lnSpc>
                        <a:spcAft>
                          <a:spcPts val="0"/>
                        </a:spcAft>
                      </a:pPr>
                      <a:r>
                        <a:rPr lang="zh-CN" sz="1600" b="1" dirty="0">
                          <a:solidFill>
                            <a:schemeClr val="bg1"/>
                          </a:solidFill>
                          <a:effectLst/>
                          <a:latin typeface="微软雅黑 Light" panose="020B0502040204020203" pitchFamily="34" charset="-122"/>
                          <a:ea typeface="微软雅黑 Light" panose="020B0502040204020203" pitchFamily="34" charset="-122"/>
                        </a:rPr>
                        <a:t>所包含的信息</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extLst>
                  <a:ext uri="{0D108BD9-81ED-4DB2-BD59-A6C34878D82A}">
                    <a16:rowId xmlns:a16="http://schemas.microsoft.com/office/drawing/2014/main" val="10000"/>
                  </a:ext>
                </a:extLst>
              </a:tr>
              <a:tr h="295839">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system</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hangingPunct="0">
                        <a:lnSpc>
                          <a:spcPct val="100000"/>
                        </a:lnSpc>
                        <a:spcAft>
                          <a:spcPts val="0"/>
                        </a:spcAft>
                        <a:tabLst>
                          <a:tab pos="2637155" algn="ctr"/>
                          <a:tab pos="5274310" algn="r"/>
                          <a:tab pos="266700" algn="l"/>
                        </a:tabLst>
                      </a:pPr>
                      <a:r>
                        <a:rPr lang="en-US" sz="1600" b="1" dirty="0">
                          <a:effectLst/>
                          <a:latin typeface="微软雅黑 Light" panose="020B0502040204020203" pitchFamily="34" charset="-122"/>
                          <a:ea typeface="微软雅黑 Light" panose="020B0502040204020203" pitchFamily="34" charset="-122"/>
                        </a:rPr>
                        <a:t>(1)</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just" hangingPunct="0">
                        <a:lnSpc>
                          <a:spcPct val="100000"/>
                        </a:lnSpc>
                        <a:spcAft>
                          <a:spcPts val="0"/>
                        </a:spcAft>
                      </a:pPr>
                      <a:r>
                        <a:rPr lang="zh-CN" sz="1600" b="1" dirty="0">
                          <a:effectLst/>
                          <a:latin typeface="微软雅黑 Light" panose="020B0502040204020203" pitchFamily="34" charset="-122"/>
                          <a:ea typeface="微软雅黑 Light" panose="020B0502040204020203" pitchFamily="34" charset="-122"/>
                        </a:rPr>
                        <a:t>主机或路由器的操作系统</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95839">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interfaces</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(2)</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ct val="100000"/>
                        </a:lnSpc>
                        <a:spcAft>
                          <a:spcPts val="0"/>
                        </a:spcAft>
                      </a:pPr>
                      <a:r>
                        <a:rPr lang="zh-CN" sz="1600" b="1" dirty="0">
                          <a:effectLst/>
                          <a:latin typeface="微软雅黑 Light" panose="020B0502040204020203" pitchFamily="34" charset="-122"/>
                          <a:ea typeface="微软雅黑 Light" panose="020B0502040204020203" pitchFamily="34" charset="-122"/>
                        </a:rPr>
                        <a:t>各种网络接口</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379234">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address translation</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(3)</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just" hangingPunct="0">
                        <a:lnSpc>
                          <a:spcPct val="100000"/>
                        </a:lnSpc>
                        <a:spcAft>
                          <a:spcPts val="0"/>
                        </a:spcAft>
                      </a:pPr>
                      <a:r>
                        <a:rPr lang="zh-CN" sz="1600" b="1" dirty="0">
                          <a:effectLst/>
                          <a:latin typeface="微软雅黑 Light" panose="020B0502040204020203" pitchFamily="34" charset="-122"/>
                          <a:ea typeface="微软雅黑 Light" panose="020B0502040204020203" pitchFamily="34" charset="-122"/>
                        </a:rPr>
                        <a:t>地址转换（例如，</a:t>
                      </a:r>
                      <a:r>
                        <a:rPr lang="en-US" sz="1600" b="1" dirty="0">
                          <a:effectLst/>
                          <a:latin typeface="微软雅黑 Light" panose="020B0502040204020203" pitchFamily="34" charset="-122"/>
                          <a:ea typeface="微软雅黑 Light" panose="020B0502040204020203" pitchFamily="34" charset="-122"/>
                        </a:rPr>
                        <a:t>ARP </a:t>
                      </a:r>
                      <a:r>
                        <a:rPr lang="zh-CN" sz="1600" b="1" dirty="0">
                          <a:effectLst/>
                          <a:latin typeface="微软雅黑 Light" panose="020B0502040204020203" pitchFamily="34" charset="-122"/>
                          <a:ea typeface="微软雅黑 Light" panose="020B0502040204020203" pitchFamily="34" charset="-122"/>
                        </a:rPr>
                        <a:t>映射）</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295839">
                <a:tc>
                  <a:txBody>
                    <a:bodyPr/>
                    <a:lstStyle/>
                    <a:p>
                      <a:pPr algn="just" hangingPunct="0">
                        <a:lnSpc>
                          <a:spcPct val="100000"/>
                        </a:lnSpc>
                        <a:spcAft>
                          <a:spcPts val="0"/>
                        </a:spcAft>
                      </a:pPr>
                      <a:r>
                        <a:rPr lang="en-US" sz="1600" b="1" dirty="0" err="1">
                          <a:effectLst/>
                          <a:latin typeface="微软雅黑 Light" panose="020B0502040204020203" pitchFamily="34" charset="-122"/>
                          <a:ea typeface="微软雅黑 Light" panose="020B0502040204020203" pitchFamily="34" charset="-122"/>
                        </a:rPr>
                        <a:t>ip</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(4)</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IP </a:t>
                      </a:r>
                      <a:r>
                        <a:rPr lang="zh-CN" sz="1600" b="1" dirty="0">
                          <a:effectLst/>
                          <a:latin typeface="微软雅黑 Light" panose="020B0502040204020203" pitchFamily="34" charset="-122"/>
                          <a:ea typeface="微软雅黑 Light" panose="020B0502040204020203" pitchFamily="34" charset="-122"/>
                        </a:rPr>
                        <a:t>软件</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r h="295839">
                <a:tc>
                  <a:txBody>
                    <a:bodyPr/>
                    <a:lstStyle/>
                    <a:p>
                      <a:pPr algn="just" hangingPunct="0">
                        <a:lnSpc>
                          <a:spcPct val="100000"/>
                        </a:lnSpc>
                        <a:spcAft>
                          <a:spcPts val="0"/>
                        </a:spcAft>
                      </a:pPr>
                      <a:r>
                        <a:rPr lang="en-US" sz="1600" b="1" dirty="0" err="1">
                          <a:effectLst/>
                          <a:latin typeface="微软雅黑 Light" panose="020B0502040204020203" pitchFamily="34" charset="-122"/>
                          <a:ea typeface="微软雅黑 Light" panose="020B0502040204020203" pitchFamily="34" charset="-122"/>
                        </a:rPr>
                        <a:t>icmp</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(5)</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ICMP </a:t>
                      </a:r>
                      <a:r>
                        <a:rPr lang="zh-CN" sz="1600" b="1" dirty="0">
                          <a:effectLst/>
                          <a:latin typeface="微软雅黑 Light" panose="020B0502040204020203" pitchFamily="34" charset="-122"/>
                          <a:ea typeface="微软雅黑 Light" panose="020B0502040204020203" pitchFamily="34" charset="-122"/>
                        </a:rPr>
                        <a:t>软件</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r h="295839">
                <a:tc>
                  <a:txBody>
                    <a:bodyPr/>
                    <a:lstStyle/>
                    <a:p>
                      <a:pPr algn="just" hangingPunct="0">
                        <a:lnSpc>
                          <a:spcPct val="100000"/>
                        </a:lnSpc>
                        <a:spcAft>
                          <a:spcPts val="0"/>
                        </a:spcAft>
                      </a:pPr>
                      <a:r>
                        <a:rPr lang="en-US" sz="1600" b="1" dirty="0" err="1">
                          <a:effectLst/>
                          <a:latin typeface="微软雅黑 Light" panose="020B0502040204020203" pitchFamily="34" charset="-122"/>
                          <a:ea typeface="微软雅黑 Light" panose="020B0502040204020203" pitchFamily="34" charset="-122"/>
                        </a:rPr>
                        <a:t>tcp</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(6)</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TCP </a:t>
                      </a:r>
                      <a:r>
                        <a:rPr lang="zh-CN" sz="1600" b="1" dirty="0">
                          <a:effectLst/>
                          <a:latin typeface="微软雅黑 Light" panose="020B0502040204020203" pitchFamily="34" charset="-122"/>
                          <a:ea typeface="微软雅黑 Light" panose="020B0502040204020203" pitchFamily="34" charset="-122"/>
                        </a:rPr>
                        <a:t>软件</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6"/>
                  </a:ext>
                </a:extLst>
              </a:tr>
              <a:tr h="295839">
                <a:tc>
                  <a:txBody>
                    <a:bodyPr/>
                    <a:lstStyle/>
                    <a:p>
                      <a:pPr algn="just" hangingPunct="0">
                        <a:lnSpc>
                          <a:spcPct val="100000"/>
                        </a:lnSpc>
                        <a:spcAft>
                          <a:spcPts val="0"/>
                        </a:spcAft>
                      </a:pPr>
                      <a:r>
                        <a:rPr lang="en-US" sz="1600" b="1" dirty="0" err="1">
                          <a:effectLst/>
                          <a:latin typeface="微软雅黑 Light" panose="020B0502040204020203" pitchFamily="34" charset="-122"/>
                          <a:ea typeface="微软雅黑 Light" panose="020B0502040204020203" pitchFamily="34" charset="-122"/>
                        </a:rPr>
                        <a:t>udp</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(7)</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UDP </a:t>
                      </a:r>
                      <a:r>
                        <a:rPr lang="zh-CN" sz="1600" b="1" dirty="0">
                          <a:effectLst/>
                          <a:latin typeface="微软雅黑 Light" panose="020B0502040204020203" pitchFamily="34" charset="-122"/>
                          <a:ea typeface="微软雅黑 Light" panose="020B0502040204020203" pitchFamily="34" charset="-122"/>
                        </a:rPr>
                        <a:t>软件</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7"/>
                  </a:ext>
                </a:extLst>
              </a:tr>
              <a:tr h="295839">
                <a:tc>
                  <a:txBody>
                    <a:bodyPr/>
                    <a:lstStyle/>
                    <a:p>
                      <a:pPr algn="just" hangingPunct="0">
                        <a:lnSpc>
                          <a:spcPct val="100000"/>
                        </a:lnSpc>
                        <a:spcAft>
                          <a:spcPts val="0"/>
                        </a:spcAft>
                      </a:pPr>
                      <a:r>
                        <a:rPr lang="en-US" sz="1600" b="1" dirty="0" err="1">
                          <a:effectLst/>
                          <a:latin typeface="微软雅黑 Light" panose="020B0502040204020203" pitchFamily="34" charset="-122"/>
                          <a:ea typeface="微软雅黑 Light" panose="020B0502040204020203" pitchFamily="34" charset="-122"/>
                        </a:rPr>
                        <a:t>egp</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(8)</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EGP </a:t>
                      </a:r>
                      <a:r>
                        <a:rPr lang="zh-CN" sz="1600" b="1" dirty="0">
                          <a:effectLst/>
                          <a:latin typeface="微软雅黑 Light" panose="020B0502040204020203" pitchFamily="34" charset="-122"/>
                          <a:ea typeface="微软雅黑 Light" panose="020B0502040204020203" pitchFamily="34" charset="-122"/>
                        </a:rPr>
                        <a:t>软件</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35153296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5975"/>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588136" y="582764"/>
            <a:ext cx="198644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MIB </a:t>
            </a:r>
            <a:r>
              <a:rPr lang="zh-CN" altLang="en-US" sz="2000" b="1" dirty="0">
                <a:solidFill>
                  <a:schemeClr val="bg1"/>
                </a:solidFill>
                <a:latin typeface="微软雅黑 Light" panose="020B0502040204020203" pitchFamily="34" charset="-122"/>
                <a:ea typeface="微软雅黑 Light" panose="020B0502040204020203" pitchFamily="34" charset="-122"/>
              </a:rPr>
              <a:t>变量的例子</a:t>
            </a:r>
          </a:p>
        </p:txBody>
      </p:sp>
      <p:graphicFrame>
        <p:nvGraphicFramePr>
          <p:cNvPr id="5" name="表格 4"/>
          <p:cNvGraphicFramePr>
            <a:graphicFrameLocks noGrp="1"/>
          </p:cNvGraphicFramePr>
          <p:nvPr>
            <p:extLst>
              <p:ext uri="{D42A27DB-BD31-4B8C-83A1-F6EECF244321}">
                <p14:modId xmlns:p14="http://schemas.microsoft.com/office/powerpoint/2010/main" val="2043738461"/>
              </p:ext>
            </p:extLst>
          </p:nvPr>
        </p:nvGraphicFramePr>
        <p:xfrm>
          <a:off x="556963" y="1005312"/>
          <a:ext cx="8048776" cy="3336607"/>
        </p:xfrm>
        <a:graphic>
          <a:graphicData uri="http://schemas.openxmlformats.org/drawingml/2006/table">
            <a:tbl>
              <a:tblPr firstRow="1" bandRow="1">
                <a:tableStyleId>{BDBED569-4797-4DF1-A0F4-6AAB3CD982D8}</a:tableStyleId>
              </a:tblPr>
              <a:tblGrid>
                <a:gridCol w="2356125">
                  <a:extLst>
                    <a:ext uri="{9D8B030D-6E8A-4147-A177-3AD203B41FA5}">
                      <a16:colId xmlns:a16="http://schemas.microsoft.com/office/drawing/2014/main" val="20000"/>
                    </a:ext>
                  </a:extLst>
                </a:gridCol>
                <a:gridCol w="1581292">
                  <a:extLst>
                    <a:ext uri="{9D8B030D-6E8A-4147-A177-3AD203B41FA5}">
                      <a16:colId xmlns:a16="http://schemas.microsoft.com/office/drawing/2014/main" val="20001"/>
                    </a:ext>
                  </a:extLst>
                </a:gridCol>
                <a:gridCol w="4111359">
                  <a:extLst>
                    <a:ext uri="{9D8B030D-6E8A-4147-A177-3AD203B41FA5}">
                      <a16:colId xmlns:a16="http://schemas.microsoft.com/office/drawing/2014/main" val="20002"/>
                    </a:ext>
                  </a:extLst>
                </a:gridCol>
              </a:tblGrid>
              <a:tr h="229552">
                <a:tc>
                  <a:txBody>
                    <a:bodyPr/>
                    <a:lstStyle/>
                    <a:p>
                      <a:pPr algn="ctr" hangingPunct="0">
                        <a:lnSpc>
                          <a:spcPts val="1500"/>
                        </a:lnSpc>
                        <a:spcAft>
                          <a:spcPts val="0"/>
                        </a:spcAft>
                      </a:pPr>
                      <a:r>
                        <a:rPr lang="en-US" sz="1400" b="1" dirty="0">
                          <a:solidFill>
                            <a:schemeClr val="bg1"/>
                          </a:solidFill>
                          <a:effectLst/>
                          <a:latin typeface="微软雅黑 Light" panose="020B0502040204020203" pitchFamily="34" charset="-122"/>
                          <a:ea typeface="微软雅黑 Light" panose="020B0502040204020203" pitchFamily="34" charset="-122"/>
                        </a:rPr>
                        <a:t>MIB </a:t>
                      </a:r>
                      <a:r>
                        <a:rPr lang="zh-CN" sz="1400" b="1" dirty="0">
                          <a:solidFill>
                            <a:schemeClr val="bg1"/>
                          </a:solidFill>
                          <a:effectLst/>
                          <a:latin typeface="微软雅黑 Light" panose="020B0502040204020203" pitchFamily="34" charset="-122"/>
                          <a:ea typeface="微软雅黑 Light" panose="020B0502040204020203" pitchFamily="34" charset="-122"/>
                        </a:rPr>
                        <a:t>变量</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pPr algn="ctr" hangingPunct="0">
                        <a:lnSpc>
                          <a:spcPts val="15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所属类别</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pPr algn="ctr" hangingPunct="0">
                        <a:lnSpc>
                          <a:spcPts val="15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意</a:t>
                      </a:r>
                      <a:r>
                        <a:rPr lang="en-US" sz="1400" b="1" dirty="0">
                          <a:solidFill>
                            <a:schemeClr val="bg1"/>
                          </a:solidFill>
                          <a:effectLst/>
                          <a:latin typeface="微软雅黑 Light" panose="020B0502040204020203" pitchFamily="34" charset="-122"/>
                          <a:ea typeface="微软雅黑 Light" panose="020B0502040204020203" pitchFamily="34" charset="-122"/>
                        </a:rPr>
                        <a:t>    </a:t>
                      </a:r>
                      <a:r>
                        <a:rPr lang="zh-CN" sz="1400" b="1" dirty="0">
                          <a:solidFill>
                            <a:schemeClr val="bg1"/>
                          </a:solidFill>
                          <a:effectLst/>
                          <a:latin typeface="微软雅黑 Light" panose="020B0502040204020203" pitchFamily="34" charset="-122"/>
                          <a:ea typeface="微软雅黑 Light" panose="020B0502040204020203" pitchFamily="34" charset="-122"/>
                        </a:rPr>
                        <a:t>义</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extLst>
                  <a:ext uri="{0D108BD9-81ED-4DB2-BD59-A6C34878D82A}">
                    <a16:rowId xmlns:a16="http://schemas.microsoft.com/office/drawing/2014/main" val="10000"/>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sysUpTime</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tabLst>
                          <a:tab pos="2637155" algn="ctr"/>
                          <a:tab pos="5274310" algn="r"/>
                          <a:tab pos="266700" algn="l"/>
                        </a:tabLst>
                      </a:pPr>
                      <a:r>
                        <a:rPr lang="en-US" sz="1200" b="1" dirty="0">
                          <a:effectLst/>
                          <a:latin typeface="微软雅黑 Light" panose="020B0502040204020203" pitchFamily="34" charset="-122"/>
                          <a:ea typeface="微软雅黑 Light" panose="020B0502040204020203" pitchFamily="34" charset="-122"/>
                        </a:rPr>
                        <a:t>system</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距上次重启动的时间</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ifNumber</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ts val="1500"/>
                        </a:lnSpc>
                        <a:spcAft>
                          <a:spcPts val="0"/>
                        </a:spcAft>
                      </a:pPr>
                      <a:r>
                        <a:rPr lang="en-US" sz="1200" b="1" dirty="0">
                          <a:effectLst/>
                          <a:latin typeface="微软雅黑 Light" panose="020B0502040204020203" pitchFamily="34" charset="-122"/>
                          <a:ea typeface="微软雅黑 Light" panose="020B0502040204020203" pitchFamily="34" charset="-122"/>
                        </a:rPr>
                        <a:t>interfaces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网络接口数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ifMtu</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pPr>
                      <a:r>
                        <a:rPr lang="en-US" sz="1200" b="1" dirty="0">
                          <a:effectLst/>
                          <a:latin typeface="微软雅黑 Light" panose="020B0502040204020203" pitchFamily="34" charset="-122"/>
                          <a:ea typeface="微软雅黑 Light" panose="020B0502040204020203" pitchFamily="34" charset="-122"/>
                        </a:rPr>
                        <a:t>interfaces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特定接口的最大传送单元</a:t>
                      </a:r>
                      <a:r>
                        <a:rPr lang="en-US" altLang="zh-CN" sz="1200" b="1" dirty="0">
                          <a:effectLst/>
                          <a:latin typeface="微软雅黑 Light" panose="020B0502040204020203" pitchFamily="34" charset="-122"/>
                          <a:ea typeface="微软雅黑 Light" panose="020B0502040204020203" pitchFamily="34" charset="-122"/>
                        </a:rPr>
                        <a:t> </a:t>
                      </a:r>
                      <a:r>
                        <a:rPr lang="en-US" sz="1200" b="1" dirty="0">
                          <a:effectLst/>
                          <a:latin typeface="微软雅黑 Light" panose="020B0502040204020203" pitchFamily="34" charset="-122"/>
                          <a:ea typeface="微软雅黑 Light" panose="020B0502040204020203" pitchFamily="34" charset="-122"/>
                        </a:rPr>
                        <a:t>MTU</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ipDefaultTTL</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ts val="1500"/>
                        </a:lnSpc>
                        <a:spcAft>
                          <a:spcPts val="0"/>
                        </a:spcAft>
                      </a:pPr>
                      <a:r>
                        <a:rPr lang="en-US" sz="1200" b="1" dirty="0">
                          <a:effectLst/>
                          <a:latin typeface="微软雅黑 Light" panose="020B0502040204020203" pitchFamily="34" charset="-122"/>
                          <a:ea typeface="微软雅黑 Light" panose="020B0502040204020203" pitchFamily="34" charset="-122"/>
                        </a:rPr>
                        <a:t>IP </a:t>
                      </a:r>
                      <a:r>
                        <a:rPr lang="zh-CN" sz="1200" b="1" dirty="0">
                          <a:effectLst/>
                          <a:latin typeface="微软雅黑 Light" panose="020B0502040204020203" pitchFamily="34" charset="-122"/>
                          <a:ea typeface="微软雅黑 Light" panose="020B0502040204020203" pitchFamily="34" charset="-122"/>
                        </a:rPr>
                        <a:t>在生存时间字段中使用的值</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ipInReceives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接收到的数据报数目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ipForwDatagrams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转发的数据报数目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6"/>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ipOutNoRoutes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路由选择失败的数目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7"/>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ipReasmOKs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重装的数据报数目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8"/>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ipFragOKs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分片的数据报数目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9"/>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ipRoutingTable</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ts val="1500"/>
                        </a:lnSpc>
                        <a:spcAft>
                          <a:spcPts val="0"/>
                        </a:spcAft>
                      </a:pPr>
                      <a:r>
                        <a:rPr lang="en-US" sz="1200" b="1" dirty="0">
                          <a:effectLst/>
                          <a:latin typeface="微软雅黑 Light" panose="020B0502040204020203" pitchFamily="34" charset="-122"/>
                          <a:ea typeface="微软雅黑 Light" panose="020B0502040204020203" pitchFamily="34" charset="-122"/>
                        </a:rPr>
                        <a:t>IP </a:t>
                      </a:r>
                      <a:r>
                        <a:rPr lang="zh-CN" sz="1200" b="1" dirty="0">
                          <a:effectLst/>
                          <a:latin typeface="微软雅黑 Light" panose="020B0502040204020203" pitchFamily="34" charset="-122"/>
                          <a:ea typeface="微软雅黑 Light" panose="020B0502040204020203" pitchFamily="34" charset="-122"/>
                        </a:rPr>
                        <a:t>路由表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10"/>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icmpInEchos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icmp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收到的</a:t>
                      </a:r>
                      <a:r>
                        <a:rPr lang="en-US" altLang="zh-CN" sz="1200" b="1" dirty="0">
                          <a:effectLst/>
                          <a:latin typeface="微软雅黑 Light" panose="020B0502040204020203" pitchFamily="34" charset="-122"/>
                          <a:ea typeface="微软雅黑 Light" panose="020B0502040204020203" pitchFamily="34" charset="-122"/>
                        </a:rPr>
                        <a:t> </a:t>
                      </a:r>
                      <a:r>
                        <a:rPr lang="en-US" sz="1200" b="1" dirty="0">
                          <a:effectLst/>
                          <a:latin typeface="微软雅黑 Light" panose="020B0502040204020203" pitchFamily="34" charset="-122"/>
                          <a:ea typeface="微软雅黑 Light" panose="020B0502040204020203" pitchFamily="34" charset="-122"/>
                        </a:rPr>
                        <a:t>ICMP </a:t>
                      </a:r>
                      <a:r>
                        <a:rPr lang="zh-CN" sz="1200" b="1" dirty="0">
                          <a:effectLst/>
                          <a:latin typeface="微软雅黑 Light" panose="020B0502040204020203" pitchFamily="34" charset="-122"/>
                          <a:ea typeface="微软雅黑 Light" panose="020B0502040204020203" pitchFamily="34" charset="-122"/>
                        </a:rPr>
                        <a:t>回送请求数目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11"/>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tcpRtoMin</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tcp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ts val="1500"/>
                        </a:lnSpc>
                        <a:spcAft>
                          <a:spcPts val="0"/>
                        </a:spcAft>
                      </a:pPr>
                      <a:r>
                        <a:rPr lang="en-US" sz="1200" b="1" dirty="0">
                          <a:effectLst/>
                          <a:latin typeface="微软雅黑 Light" panose="020B0502040204020203" pitchFamily="34" charset="-122"/>
                          <a:ea typeface="微软雅黑 Light" panose="020B0502040204020203" pitchFamily="34" charset="-122"/>
                        </a:rPr>
                        <a:t>TCP </a:t>
                      </a:r>
                      <a:r>
                        <a:rPr lang="zh-CN" sz="1200" b="1" dirty="0">
                          <a:effectLst/>
                          <a:latin typeface="微软雅黑 Light" panose="020B0502040204020203" pitchFamily="34" charset="-122"/>
                          <a:ea typeface="微软雅黑 Light" panose="020B0502040204020203" pitchFamily="34" charset="-122"/>
                        </a:rPr>
                        <a:t>允许的最小重传时间</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12"/>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tcpMaxConn</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tcp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允许的最大</a:t>
                      </a:r>
                      <a:r>
                        <a:rPr lang="en-US" altLang="zh-CN" sz="1200" b="1" dirty="0">
                          <a:effectLst/>
                          <a:latin typeface="微软雅黑 Light" panose="020B0502040204020203" pitchFamily="34" charset="-122"/>
                          <a:ea typeface="微软雅黑 Light" panose="020B0502040204020203" pitchFamily="34" charset="-122"/>
                        </a:rPr>
                        <a:t> </a:t>
                      </a:r>
                      <a:r>
                        <a:rPr lang="en-US" sz="1200" b="1" dirty="0">
                          <a:effectLst/>
                          <a:latin typeface="微软雅黑 Light" panose="020B0502040204020203" pitchFamily="34" charset="-122"/>
                          <a:ea typeface="微软雅黑 Light" panose="020B0502040204020203" pitchFamily="34" charset="-122"/>
                        </a:rPr>
                        <a:t>TCP </a:t>
                      </a:r>
                      <a:r>
                        <a:rPr lang="zh-CN" sz="1200" b="1" dirty="0">
                          <a:effectLst/>
                          <a:latin typeface="微软雅黑 Light" panose="020B0502040204020203" pitchFamily="34" charset="-122"/>
                          <a:ea typeface="微软雅黑 Light" panose="020B0502040204020203" pitchFamily="34" charset="-122"/>
                        </a:rPr>
                        <a:t>连接数目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13"/>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tcpInSegs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tcp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已收到的</a:t>
                      </a:r>
                      <a:r>
                        <a:rPr lang="en-US" altLang="zh-CN" sz="1200" b="1" dirty="0">
                          <a:effectLst/>
                          <a:latin typeface="微软雅黑 Light" panose="020B0502040204020203" pitchFamily="34" charset="-122"/>
                          <a:ea typeface="微软雅黑 Light" panose="020B0502040204020203" pitchFamily="34" charset="-122"/>
                        </a:rPr>
                        <a:t> </a:t>
                      </a:r>
                      <a:r>
                        <a:rPr lang="en-US" sz="1200" b="1" dirty="0">
                          <a:effectLst/>
                          <a:latin typeface="微软雅黑 Light" panose="020B0502040204020203" pitchFamily="34" charset="-122"/>
                          <a:ea typeface="微软雅黑 Light" panose="020B0502040204020203" pitchFamily="34" charset="-122"/>
                        </a:rPr>
                        <a:t>TCP </a:t>
                      </a:r>
                      <a:r>
                        <a:rPr lang="zh-CN" sz="1200" b="1" dirty="0">
                          <a:effectLst/>
                          <a:latin typeface="微软雅黑 Light" panose="020B0502040204020203" pitchFamily="34" charset="-122"/>
                          <a:ea typeface="微软雅黑 Light" panose="020B0502040204020203" pitchFamily="34" charset="-122"/>
                        </a:rPr>
                        <a:t>报文段数目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14"/>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udpInDatagrams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udp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已收到的</a:t>
                      </a:r>
                      <a:r>
                        <a:rPr lang="en-US" altLang="zh-CN" sz="1200" b="1" dirty="0">
                          <a:effectLst/>
                          <a:latin typeface="微软雅黑 Light" panose="020B0502040204020203" pitchFamily="34" charset="-122"/>
                          <a:ea typeface="微软雅黑 Light" panose="020B0502040204020203" pitchFamily="34" charset="-122"/>
                        </a:rPr>
                        <a:t> </a:t>
                      </a:r>
                      <a:r>
                        <a:rPr lang="en-US" sz="1200" b="1" dirty="0">
                          <a:effectLst/>
                          <a:latin typeface="微软雅黑 Light" panose="020B0502040204020203" pitchFamily="34" charset="-122"/>
                          <a:ea typeface="微软雅黑 Light" panose="020B0502040204020203" pitchFamily="34" charset="-122"/>
                        </a:rPr>
                        <a:t>UDP </a:t>
                      </a:r>
                      <a:r>
                        <a:rPr lang="zh-CN" sz="1200" b="1" dirty="0">
                          <a:effectLst/>
                          <a:latin typeface="微软雅黑 Light" panose="020B0502040204020203" pitchFamily="34" charset="-122"/>
                          <a:ea typeface="微软雅黑 Light" panose="020B0502040204020203" pitchFamily="34" charset="-122"/>
                        </a:rPr>
                        <a:t>数据报数目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15"/>
                  </a:ext>
                </a:extLst>
              </a:tr>
            </a:tbl>
          </a:graphicData>
        </a:graphic>
      </p:graphicFrame>
    </p:spTree>
    <p:extLst>
      <p:ext uri="{BB962C8B-B14F-4D97-AF65-F5344CB8AC3E}">
        <p14:creationId xmlns:p14="http://schemas.microsoft.com/office/powerpoint/2010/main" val="18627206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6285"/>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451070" y="610590"/>
            <a:ext cx="424186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Light" panose="020B0502040204020203" pitchFamily="34" charset="-122"/>
                <a:ea typeface="微软雅黑 Light" panose="020B0502040204020203" pitchFamily="34" charset="-122"/>
              </a:rPr>
              <a:t>6.7.4  SNMP </a:t>
            </a:r>
            <a:r>
              <a:rPr lang="zh-CN" altLang="en-US" sz="2000" b="1" dirty="0">
                <a:solidFill>
                  <a:schemeClr val="bg1"/>
                </a:solidFill>
                <a:latin typeface="微软雅黑 Light" panose="020B0502040204020203" pitchFamily="34" charset="-122"/>
                <a:ea typeface="微软雅黑 Light" panose="020B0502040204020203" pitchFamily="34" charset="-122"/>
              </a:rPr>
              <a:t>的协议数据单元和报文</a:t>
            </a:r>
          </a:p>
        </p:txBody>
      </p:sp>
      <p:sp>
        <p:nvSpPr>
          <p:cNvPr id="4" name="Rectangle 68"/>
          <p:cNvSpPr>
            <a:spLocks noChangeArrowheads="1"/>
          </p:cNvSpPr>
          <p:nvPr/>
        </p:nvSpPr>
        <p:spPr bwMode="auto">
          <a:xfrm>
            <a:off x="483810" y="1010503"/>
            <a:ext cx="8121929"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的操作只有</a:t>
            </a:r>
            <a:r>
              <a:rPr lang="zh-CN" altLang="en-US" sz="2000" b="1" dirty="0">
                <a:solidFill>
                  <a:srgbClr val="C00000"/>
                </a:solidFill>
                <a:latin typeface="微软雅黑 Light" panose="020B0502040204020203" pitchFamily="34" charset="-122"/>
                <a:ea typeface="微软雅黑 Light" panose="020B0502040204020203" pitchFamily="34" charset="-122"/>
              </a:rPr>
              <a:t>两种</a:t>
            </a:r>
            <a:r>
              <a:rPr lang="zh-CN" altLang="en-US" sz="2000" b="1" dirty="0">
                <a:latin typeface="微软雅黑 Light" panose="020B0502040204020203" pitchFamily="34" charset="-122"/>
                <a:ea typeface="微软雅黑 Light" panose="020B0502040204020203" pitchFamily="34" charset="-122"/>
              </a:rPr>
              <a:t>基本的管理功能：</a:t>
            </a:r>
          </a:p>
          <a:p>
            <a:pPr marL="633413" indent="-342900" eaLnBrk="0" hangingPunct="0">
              <a:lnSpc>
                <a:spcPts val="3300"/>
              </a:lnSpc>
              <a:buClr>
                <a:srgbClr val="9900CC"/>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a:t>
            </a:r>
            <a:r>
              <a:rPr lang="zh-CN" altLang="en-US" sz="2000" b="1" dirty="0">
                <a:solidFill>
                  <a:srgbClr val="0000FF"/>
                </a:solidFill>
                <a:latin typeface="微软雅黑 Light" panose="020B0502040204020203" pitchFamily="34" charset="-122"/>
                <a:ea typeface="微软雅黑 Light" panose="020B0502040204020203" pitchFamily="34" charset="-122"/>
              </a:rPr>
              <a:t>读</a:t>
            </a:r>
            <a:r>
              <a:rPr lang="zh-CN" altLang="en-US" sz="2000" b="1" dirty="0">
                <a:latin typeface="微软雅黑 Light" panose="020B0502040204020203" pitchFamily="34" charset="-122"/>
                <a:ea typeface="微软雅黑 Light" panose="020B0502040204020203" pitchFamily="34" charset="-122"/>
              </a:rPr>
              <a:t>”操作，用 </a:t>
            </a:r>
            <a:r>
              <a:rPr lang="en-US" altLang="zh-CN" sz="2000" b="1" dirty="0">
                <a:latin typeface="微软雅黑 Light" panose="020B0502040204020203" pitchFamily="34" charset="-122"/>
                <a:ea typeface="微软雅黑 Light" panose="020B0502040204020203" pitchFamily="34" charset="-122"/>
              </a:rPr>
              <a:t>get </a:t>
            </a:r>
            <a:r>
              <a:rPr lang="zh-CN" altLang="en-US" sz="2000" b="1" dirty="0">
                <a:latin typeface="微软雅黑 Light" panose="020B0502040204020203" pitchFamily="34" charset="-122"/>
                <a:ea typeface="微软雅黑 Light" panose="020B0502040204020203" pitchFamily="34" charset="-122"/>
              </a:rPr>
              <a:t>报文来检测各被管对象的状况；</a:t>
            </a:r>
          </a:p>
          <a:p>
            <a:pPr marL="633413" indent="-342900" eaLnBrk="0" hangingPunct="0">
              <a:lnSpc>
                <a:spcPts val="3300"/>
              </a:lnSpc>
              <a:buClr>
                <a:srgbClr val="9900CC"/>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a:t>
            </a:r>
            <a:r>
              <a:rPr lang="zh-CN" altLang="en-US" sz="2000" b="1" dirty="0">
                <a:solidFill>
                  <a:srgbClr val="0000FF"/>
                </a:solidFill>
                <a:latin typeface="微软雅黑 Light" panose="020B0502040204020203" pitchFamily="34" charset="-122"/>
                <a:ea typeface="微软雅黑 Light" panose="020B0502040204020203" pitchFamily="34" charset="-122"/>
              </a:rPr>
              <a:t>写</a:t>
            </a:r>
            <a:r>
              <a:rPr lang="zh-CN" altLang="en-US" sz="2000" b="1" dirty="0">
                <a:latin typeface="微软雅黑 Light" panose="020B0502040204020203" pitchFamily="34" charset="-122"/>
                <a:ea typeface="微软雅黑 Light" panose="020B0502040204020203" pitchFamily="34" charset="-122"/>
              </a:rPr>
              <a:t>”操作，用 </a:t>
            </a:r>
            <a:r>
              <a:rPr lang="en-US" altLang="zh-CN" sz="2000" b="1" dirty="0">
                <a:latin typeface="微软雅黑 Light" panose="020B0502040204020203" pitchFamily="34" charset="-122"/>
                <a:ea typeface="微软雅黑 Light" panose="020B0502040204020203" pitchFamily="34" charset="-122"/>
              </a:rPr>
              <a:t>set </a:t>
            </a:r>
            <a:r>
              <a:rPr lang="zh-CN" altLang="en-US" sz="2000" b="1" dirty="0">
                <a:latin typeface="微软雅黑 Light" panose="020B0502040204020203" pitchFamily="34" charset="-122"/>
                <a:ea typeface="微软雅黑 Light" panose="020B0502040204020203" pitchFamily="34" charset="-122"/>
              </a:rPr>
              <a:t>报文来改变各被管对象的状况。</a:t>
            </a:r>
          </a:p>
          <a:p>
            <a:pPr marL="285750" indent="-28575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的这些功能通过</a:t>
            </a:r>
            <a:r>
              <a:rPr lang="zh-CN" altLang="en-US" sz="2000" b="1" dirty="0">
                <a:solidFill>
                  <a:srgbClr val="C00000"/>
                </a:solidFill>
                <a:latin typeface="微软雅黑 Light" panose="020B0502040204020203" pitchFamily="34" charset="-122"/>
                <a:ea typeface="微软雅黑 Light" panose="020B0502040204020203" pitchFamily="34" charset="-122"/>
              </a:rPr>
              <a:t>探询</a:t>
            </a:r>
            <a:r>
              <a:rPr lang="zh-CN" altLang="en-US" sz="2000" b="1" dirty="0">
                <a:latin typeface="微软雅黑 Light" panose="020B0502040204020203" pitchFamily="34" charset="-122"/>
                <a:ea typeface="微软雅黑 Light" panose="020B0502040204020203" pitchFamily="34" charset="-122"/>
              </a:rPr>
              <a:t>操作来实现。</a:t>
            </a:r>
          </a:p>
        </p:txBody>
      </p:sp>
    </p:spTree>
    <p:extLst>
      <p:ext uri="{BB962C8B-B14F-4D97-AF65-F5344CB8AC3E}">
        <p14:creationId xmlns:p14="http://schemas.microsoft.com/office/powerpoint/2010/main" val="32135137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82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406996" y="581618"/>
            <a:ext cx="234872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SNMP </a:t>
            </a:r>
            <a:r>
              <a:rPr lang="zh-CN" altLang="en-US" sz="2000" b="1" dirty="0">
                <a:solidFill>
                  <a:schemeClr val="bg1"/>
                </a:solidFill>
                <a:latin typeface="微软雅黑 Light" panose="020B0502040204020203" pitchFamily="34" charset="-122"/>
                <a:ea typeface="微软雅黑 Light" panose="020B0502040204020203" pitchFamily="34" charset="-122"/>
              </a:rPr>
              <a:t>的探询操作</a:t>
            </a:r>
          </a:p>
        </p:txBody>
      </p:sp>
      <p:sp>
        <p:nvSpPr>
          <p:cNvPr id="4" name="Rectangle 68"/>
          <p:cNvSpPr>
            <a:spLocks noChangeArrowheads="1"/>
          </p:cNvSpPr>
          <p:nvPr/>
        </p:nvSpPr>
        <p:spPr bwMode="auto">
          <a:xfrm>
            <a:off x="483810" y="921055"/>
            <a:ext cx="8121929" cy="278537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0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管理进程</a:t>
            </a:r>
            <a:r>
              <a:rPr lang="zh-CN" altLang="en-US" sz="2000" b="1" dirty="0">
                <a:solidFill>
                  <a:srgbClr val="C00000"/>
                </a:solidFill>
                <a:latin typeface="微软雅黑 Light" panose="020B0502040204020203" pitchFamily="34" charset="-122"/>
                <a:ea typeface="微软雅黑 Light" panose="020B0502040204020203" pitchFamily="34" charset="-122"/>
              </a:rPr>
              <a:t>定时</a:t>
            </a:r>
            <a:r>
              <a:rPr lang="zh-CN" altLang="en-US" sz="2000" b="1" dirty="0">
                <a:latin typeface="微软雅黑 Light" panose="020B0502040204020203" pitchFamily="34" charset="-122"/>
                <a:ea typeface="微软雅黑 Light" panose="020B0502040204020203" pitchFamily="34" charset="-122"/>
              </a:rPr>
              <a:t>向被管理设备</a:t>
            </a:r>
            <a:r>
              <a:rPr lang="zh-CN" altLang="en-US" sz="2000" b="1" dirty="0">
                <a:solidFill>
                  <a:srgbClr val="C00000"/>
                </a:solidFill>
                <a:latin typeface="微软雅黑 Light" panose="020B0502040204020203" pitchFamily="34" charset="-122"/>
                <a:ea typeface="微软雅黑 Light" panose="020B0502040204020203" pitchFamily="34" charset="-122"/>
              </a:rPr>
              <a:t>周期性</a:t>
            </a:r>
            <a:r>
              <a:rPr lang="zh-CN" altLang="en-US" sz="2000" b="1" dirty="0">
                <a:latin typeface="微软雅黑 Light" panose="020B0502040204020203" pitchFamily="34" charset="-122"/>
                <a:ea typeface="微软雅黑 Light" panose="020B0502040204020203" pitchFamily="34" charset="-122"/>
              </a:rPr>
              <a:t>地发送探询信息。</a:t>
            </a:r>
          </a:p>
          <a:p>
            <a:pPr marL="342900" indent="-342900" eaLnBrk="0" hangingPunct="0">
              <a:lnSpc>
                <a:spcPts val="30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好处：</a:t>
            </a:r>
          </a:p>
          <a:p>
            <a:pPr marL="715963" indent="-342900" eaLnBrk="0" hangingPunct="0">
              <a:lnSpc>
                <a:spcPts val="3000"/>
              </a:lnSpc>
              <a:buClr>
                <a:srgbClr val="80008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可使系统相对简单。</a:t>
            </a:r>
          </a:p>
          <a:p>
            <a:pPr marL="715963" indent="-342900" eaLnBrk="0" hangingPunct="0">
              <a:lnSpc>
                <a:spcPts val="3000"/>
              </a:lnSpc>
              <a:buClr>
                <a:srgbClr val="80008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能限制通过网络所产生的管理信息的通信量。</a:t>
            </a:r>
          </a:p>
          <a:p>
            <a:pPr marL="342900" indent="-342900" eaLnBrk="0" hangingPunct="0">
              <a:lnSpc>
                <a:spcPts val="30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缺点：</a:t>
            </a:r>
            <a:endParaRPr lang="en-US" altLang="zh-CN" sz="2000" b="1" dirty="0">
              <a:solidFill>
                <a:srgbClr val="0000FF"/>
              </a:solidFill>
              <a:latin typeface="微软雅黑 Light" panose="020B0502040204020203" pitchFamily="34" charset="-122"/>
              <a:ea typeface="微软雅黑 Light" panose="020B0502040204020203" pitchFamily="34" charset="-122"/>
            </a:endParaRPr>
          </a:p>
          <a:p>
            <a:pPr marL="714375" lvl="1" indent="-357188" eaLnBrk="0" hangingPunct="0">
              <a:lnSpc>
                <a:spcPts val="3000"/>
              </a:lnSpc>
              <a:buClr>
                <a:srgbClr val="80008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不够灵活，而且所能管理的设备数目不能太多。</a:t>
            </a:r>
            <a:endParaRPr lang="en-US" altLang="zh-CN" sz="2000" b="1" dirty="0">
              <a:latin typeface="微软雅黑 Light" panose="020B0502040204020203" pitchFamily="34" charset="-122"/>
              <a:ea typeface="微软雅黑 Light" panose="020B0502040204020203" pitchFamily="34" charset="-122"/>
            </a:endParaRPr>
          </a:p>
          <a:p>
            <a:pPr marL="714375" lvl="1" indent="-357188" eaLnBrk="0" hangingPunct="0">
              <a:lnSpc>
                <a:spcPts val="3000"/>
              </a:lnSpc>
              <a:buClr>
                <a:srgbClr val="80008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开销也较大。</a:t>
            </a:r>
          </a:p>
        </p:txBody>
      </p:sp>
    </p:spTree>
    <p:extLst>
      <p:ext uri="{BB962C8B-B14F-4D97-AF65-F5344CB8AC3E}">
        <p14:creationId xmlns:p14="http://schemas.microsoft.com/office/powerpoint/2010/main" val="256420337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0011"/>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883889" y="576800"/>
            <a:ext cx="139493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陷阱 </a:t>
            </a:r>
            <a:r>
              <a:rPr lang="en-US" altLang="zh-CN" sz="2000" b="1" dirty="0">
                <a:solidFill>
                  <a:schemeClr val="bg1"/>
                </a:solidFill>
                <a:latin typeface="微软雅黑 Light" panose="020B0502040204020203" pitchFamily="34" charset="-122"/>
                <a:ea typeface="微软雅黑 Light" panose="020B0502040204020203" pitchFamily="34" charset="-122"/>
              </a:rPr>
              <a:t>(trap)</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556963" y="971101"/>
            <a:ext cx="7914376" cy="292336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2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允许</a:t>
            </a:r>
            <a:r>
              <a:rPr lang="zh-CN" altLang="en-US" sz="2000" b="1" dirty="0">
                <a:solidFill>
                  <a:srgbClr val="C00000"/>
                </a:solidFill>
                <a:latin typeface="微软雅黑 Light" panose="020B0502040204020203" pitchFamily="34" charset="-122"/>
                <a:ea typeface="微软雅黑 Light" panose="020B0502040204020203" pitchFamily="34" charset="-122"/>
              </a:rPr>
              <a:t>不经过询问</a:t>
            </a:r>
            <a:r>
              <a:rPr lang="zh-CN" altLang="en-US" sz="2000" b="1" dirty="0">
                <a:latin typeface="微软雅黑 Light" panose="020B0502040204020203" pitchFamily="34" charset="-122"/>
                <a:ea typeface="微软雅黑 Light" panose="020B0502040204020203" pitchFamily="34" charset="-122"/>
              </a:rPr>
              <a:t>就能发送某些信息。这种信息称为</a:t>
            </a:r>
            <a:r>
              <a:rPr lang="zh-CN" altLang="en-US" sz="2000" b="1" dirty="0">
                <a:solidFill>
                  <a:srgbClr val="C00000"/>
                </a:solidFill>
                <a:latin typeface="微软雅黑 Light" panose="020B0502040204020203" pitchFamily="34" charset="-122"/>
                <a:ea typeface="微软雅黑 Light" panose="020B0502040204020203" pitchFamily="34" charset="-122"/>
              </a:rPr>
              <a:t>陷阱，</a:t>
            </a:r>
            <a:r>
              <a:rPr lang="zh-CN" altLang="en-US" sz="2000" b="1" dirty="0">
                <a:latin typeface="微软雅黑 Light" panose="020B0502040204020203" pitchFamily="34" charset="-122"/>
                <a:ea typeface="微软雅黑 Light" panose="020B0502040204020203" pitchFamily="34" charset="-122"/>
              </a:rPr>
              <a:t>表示它能够捕捉“事件”。</a:t>
            </a:r>
          </a:p>
          <a:p>
            <a:pPr marL="342900" indent="-342900" eaLnBrk="0" hangingPunct="0">
              <a:lnSpc>
                <a:spcPts val="32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当被管对象的代理检测到有事件发生时，就检查其门限值。代理只向管理进程报告达到某些门限值的事件（即</a:t>
            </a:r>
            <a:r>
              <a:rPr lang="zh-CN" altLang="en-US" sz="2000" b="1" dirty="0">
                <a:solidFill>
                  <a:srgbClr val="C00000"/>
                </a:solidFill>
                <a:latin typeface="微软雅黑 Light" panose="020B0502040204020203" pitchFamily="34" charset="-122"/>
                <a:ea typeface="微软雅黑 Light" panose="020B0502040204020203" pitchFamily="34" charset="-122"/>
              </a:rPr>
              <a:t>过滤</a:t>
            </a:r>
            <a:r>
              <a:rPr lang="zh-CN" altLang="en-US" sz="2000" b="1" dirty="0">
                <a:latin typeface="微软雅黑 Light" panose="020B0502040204020203" pitchFamily="34" charset="-122"/>
                <a:ea typeface="微软雅黑 Light" panose="020B0502040204020203" pitchFamily="34" charset="-122"/>
              </a:rPr>
              <a:t>）。</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2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过滤的好处：</a:t>
            </a:r>
          </a:p>
          <a:p>
            <a:pPr marL="715963" indent="-342900" eaLnBrk="0" hangingPunct="0">
              <a:lnSpc>
                <a:spcPts val="3200"/>
              </a:lnSpc>
              <a:buClr>
                <a:srgbClr val="80008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仅在严重事件发生时才发送陷阱；</a:t>
            </a:r>
          </a:p>
          <a:p>
            <a:pPr marL="715963" indent="-342900" eaLnBrk="0" hangingPunct="0">
              <a:lnSpc>
                <a:spcPts val="3200"/>
              </a:lnSpc>
              <a:buClr>
                <a:srgbClr val="80008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陷阱信息很简单且所需字节数很少。 </a:t>
            </a:r>
          </a:p>
        </p:txBody>
      </p:sp>
    </p:spTree>
    <p:extLst>
      <p:ext uri="{BB962C8B-B14F-4D97-AF65-F5344CB8AC3E}">
        <p14:creationId xmlns:p14="http://schemas.microsoft.com/office/powerpoint/2010/main" val="3963091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0691"/>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765795" y="577480"/>
            <a:ext cx="363112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SNMP </a:t>
            </a:r>
            <a:r>
              <a:rPr lang="zh-CN" altLang="en-US" sz="2000" b="1" dirty="0">
                <a:solidFill>
                  <a:schemeClr val="bg1"/>
                </a:solidFill>
                <a:latin typeface="微软雅黑 Light" panose="020B0502040204020203" pitchFamily="34" charset="-122"/>
                <a:ea typeface="微软雅黑 Light" panose="020B0502040204020203" pitchFamily="34" charset="-122"/>
              </a:rPr>
              <a:t>是有效的网络管理协议</a:t>
            </a:r>
          </a:p>
        </p:txBody>
      </p:sp>
      <p:sp>
        <p:nvSpPr>
          <p:cNvPr id="4" name="Rectangle 68"/>
          <p:cNvSpPr>
            <a:spLocks noChangeArrowheads="1"/>
          </p:cNvSpPr>
          <p:nvPr/>
        </p:nvSpPr>
        <p:spPr bwMode="auto">
          <a:xfrm>
            <a:off x="556964" y="971781"/>
            <a:ext cx="8048776" cy="136191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使用</a:t>
            </a:r>
            <a:r>
              <a:rPr lang="zh-CN" altLang="en-US" sz="2000" b="1" dirty="0">
                <a:solidFill>
                  <a:srgbClr val="C00000"/>
                </a:solidFill>
                <a:latin typeface="微软雅黑 Light" panose="020B0502040204020203" pitchFamily="34" charset="-122"/>
                <a:ea typeface="微软雅黑 Light" panose="020B0502040204020203" pitchFamily="34" charset="-122"/>
              </a:rPr>
              <a:t>探询</a:t>
            </a:r>
            <a:r>
              <a:rPr lang="zh-CN" altLang="en-US" sz="2000" b="1" dirty="0">
                <a:latin typeface="微软雅黑 Light" panose="020B0502040204020203" pitchFamily="34" charset="-122"/>
                <a:ea typeface="微软雅黑 Light" panose="020B0502040204020203" pitchFamily="34" charset="-122"/>
              </a:rPr>
              <a:t>（至少是周期性地）以维持对网络资源的实时监视。</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同时也采用</a:t>
            </a:r>
            <a:r>
              <a:rPr lang="zh-CN" altLang="en-US" sz="2000" b="1" dirty="0">
                <a:solidFill>
                  <a:srgbClr val="C00000"/>
                </a:solidFill>
                <a:latin typeface="微软雅黑 Light" panose="020B0502040204020203" pitchFamily="34" charset="-122"/>
                <a:ea typeface="微软雅黑 Light" panose="020B0502040204020203" pitchFamily="34" charset="-122"/>
              </a:rPr>
              <a:t>陷阱</a:t>
            </a:r>
            <a:r>
              <a:rPr lang="zh-CN" altLang="en-US" sz="2000" b="1" dirty="0">
                <a:latin typeface="微软雅黑 Light" panose="020B0502040204020203" pitchFamily="34" charset="-122"/>
                <a:ea typeface="微软雅黑 Light" panose="020B0502040204020203" pitchFamily="34" charset="-122"/>
              </a:rPr>
              <a:t>机制报告特殊事件，使得 </a:t>
            </a: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成为一种有效的网络管理协议。 </a:t>
            </a:r>
          </a:p>
        </p:txBody>
      </p:sp>
    </p:spTree>
    <p:extLst>
      <p:ext uri="{BB962C8B-B14F-4D97-AF65-F5344CB8AC3E}">
        <p14:creationId xmlns:p14="http://schemas.microsoft.com/office/powerpoint/2010/main" val="28297158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5173"/>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027886" y="581962"/>
            <a:ext cx="310694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SNMP </a:t>
            </a:r>
            <a:r>
              <a:rPr lang="zh-CN" altLang="en-US" sz="2000" b="1" dirty="0">
                <a:solidFill>
                  <a:schemeClr val="bg1"/>
                </a:solidFill>
                <a:latin typeface="微软雅黑 Light" panose="020B0502040204020203" pitchFamily="34" charset="-122"/>
                <a:ea typeface="微软雅黑 Light" panose="020B0502040204020203" pitchFamily="34" charset="-122"/>
              </a:rPr>
              <a:t>使用无连接的 </a:t>
            </a:r>
            <a:r>
              <a:rPr lang="en-US" altLang="zh-CN" sz="2000" b="1" dirty="0">
                <a:solidFill>
                  <a:schemeClr val="bg1"/>
                </a:solidFill>
                <a:latin typeface="微软雅黑 Light" panose="020B0502040204020203" pitchFamily="34" charset="-122"/>
                <a:ea typeface="微软雅黑 Light" panose="020B0502040204020203" pitchFamily="34" charset="-122"/>
              </a:rPr>
              <a:t>UDP</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556963" y="976263"/>
            <a:ext cx="8048776"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运行</a:t>
            </a:r>
            <a:r>
              <a:rPr lang="zh-CN" altLang="en-US" sz="2000" b="1" dirty="0">
                <a:solidFill>
                  <a:srgbClr val="C00000"/>
                </a:solidFill>
                <a:latin typeface="微软雅黑 Light" panose="020B0502040204020203" pitchFamily="34" charset="-122"/>
                <a:ea typeface="微软雅黑 Light" panose="020B0502040204020203" pitchFamily="34" charset="-122"/>
              </a:rPr>
              <a:t>代理程序</a:t>
            </a:r>
            <a:r>
              <a:rPr lang="zh-CN" altLang="en-US" sz="2000" b="1" dirty="0">
                <a:latin typeface="微软雅黑 Light" panose="020B0502040204020203" pitchFamily="34" charset="-122"/>
                <a:ea typeface="微软雅黑 Light" panose="020B0502040204020203" pitchFamily="34" charset="-122"/>
              </a:rPr>
              <a:t>的</a:t>
            </a:r>
            <a:r>
              <a:rPr lang="zh-CN" altLang="en-US" sz="2000" b="1" dirty="0">
                <a:solidFill>
                  <a:srgbClr val="0000FF"/>
                </a:solidFill>
                <a:latin typeface="微软雅黑 Light" panose="020B0502040204020203" pitchFamily="34" charset="-122"/>
                <a:ea typeface="微软雅黑 Light" panose="020B0502040204020203" pitchFamily="34" charset="-122"/>
              </a:rPr>
              <a:t>服务器</a:t>
            </a:r>
            <a:r>
              <a:rPr lang="zh-CN" altLang="en-US" sz="2000" b="1" dirty="0">
                <a:latin typeface="微软雅黑 Light" panose="020B0502040204020203" pitchFamily="34" charset="-122"/>
                <a:ea typeface="微软雅黑 Light" panose="020B0502040204020203" pitchFamily="34" charset="-122"/>
              </a:rPr>
              <a:t>端用 </a:t>
            </a:r>
            <a:r>
              <a:rPr lang="en-US" altLang="zh-CN" sz="2000" b="1" dirty="0">
                <a:latin typeface="微软雅黑 Light" panose="020B0502040204020203" pitchFamily="34" charset="-122"/>
                <a:ea typeface="微软雅黑 Light" panose="020B0502040204020203" pitchFamily="34" charset="-122"/>
              </a:rPr>
              <a:t>UDP </a:t>
            </a:r>
            <a:r>
              <a:rPr lang="zh-CN" altLang="en-US" sz="2000" b="1" dirty="0">
                <a:solidFill>
                  <a:srgbClr val="C00000"/>
                </a:solidFill>
                <a:latin typeface="微软雅黑 Light" panose="020B0502040204020203" pitchFamily="34" charset="-122"/>
                <a:ea typeface="微软雅黑 Light" panose="020B0502040204020203" pitchFamily="34" charset="-122"/>
              </a:rPr>
              <a:t>熟知端口 </a:t>
            </a:r>
            <a:r>
              <a:rPr lang="en-US" altLang="zh-CN" sz="2000" b="1" dirty="0">
                <a:latin typeface="微软雅黑 Light" panose="020B0502040204020203" pitchFamily="34" charset="-122"/>
                <a:ea typeface="微软雅黑 Light" panose="020B0502040204020203" pitchFamily="34" charset="-122"/>
              </a:rPr>
              <a:t>161 </a:t>
            </a:r>
            <a:r>
              <a:rPr lang="zh-CN" altLang="en-US" sz="2000" b="1" dirty="0">
                <a:latin typeface="微软雅黑 Light" panose="020B0502040204020203" pitchFamily="34" charset="-122"/>
                <a:ea typeface="微软雅黑 Light" panose="020B0502040204020203" pitchFamily="34" charset="-122"/>
              </a:rPr>
              <a:t>接收 </a:t>
            </a:r>
            <a:r>
              <a:rPr lang="en-US" altLang="zh-CN" sz="2000" b="1" dirty="0">
                <a:latin typeface="微软雅黑 Light" panose="020B0502040204020203" pitchFamily="34" charset="-122"/>
                <a:ea typeface="微软雅黑 Light" panose="020B0502040204020203" pitchFamily="34" charset="-122"/>
              </a:rPr>
              <a:t>get </a:t>
            </a:r>
            <a:r>
              <a:rPr lang="zh-CN" altLang="en-US" sz="2000" b="1" dirty="0">
                <a:latin typeface="微软雅黑 Light" panose="020B0502040204020203" pitchFamily="34" charset="-122"/>
                <a:ea typeface="微软雅黑 Light" panose="020B0502040204020203" pitchFamily="34" charset="-122"/>
              </a:rPr>
              <a:t>或 </a:t>
            </a:r>
            <a:r>
              <a:rPr lang="en-US" altLang="zh-CN" sz="2000" b="1" dirty="0">
                <a:latin typeface="微软雅黑 Light" panose="020B0502040204020203" pitchFamily="34" charset="-122"/>
                <a:ea typeface="微软雅黑 Light" panose="020B0502040204020203" pitchFamily="34" charset="-122"/>
              </a:rPr>
              <a:t>set </a:t>
            </a:r>
            <a:r>
              <a:rPr lang="zh-CN" altLang="en-US" sz="2000" b="1" dirty="0">
                <a:latin typeface="微软雅黑 Light" panose="020B0502040204020203" pitchFamily="34" charset="-122"/>
                <a:ea typeface="微软雅黑 Light" panose="020B0502040204020203" pitchFamily="34" charset="-122"/>
              </a:rPr>
              <a:t>报文，发送响应报文。与熟知端口通信的</a:t>
            </a:r>
            <a:r>
              <a:rPr lang="zh-CN" altLang="en-US" sz="2000" b="1" dirty="0">
                <a:solidFill>
                  <a:srgbClr val="0000FF"/>
                </a:solidFill>
                <a:latin typeface="微软雅黑 Light" panose="020B0502040204020203" pitchFamily="34" charset="-122"/>
                <a:ea typeface="微软雅黑 Light" panose="020B0502040204020203" pitchFamily="34" charset="-122"/>
              </a:rPr>
              <a:t>客户端</a:t>
            </a:r>
            <a:r>
              <a:rPr lang="zh-CN" altLang="en-US" sz="2000" b="1" dirty="0">
                <a:latin typeface="微软雅黑 Light" panose="020B0502040204020203" pitchFamily="34" charset="-122"/>
                <a:ea typeface="微软雅黑 Light" panose="020B0502040204020203" pitchFamily="34" charset="-122"/>
              </a:rPr>
              <a:t>使用</a:t>
            </a:r>
            <a:r>
              <a:rPr lang="zh-CN" altLang="en-US" sz="2000" b="1" dirty="0">
                <a:solidFill>
                  <a:srgbClr val="C00000"/>
                </a:solidFill>
                <a:latin typeface="微软雅黑 Light" panose="020B0502040204020203" pitchFamily="34" charset="-122"/>
                <a:ea typeface="微软雅黑 Light" panose="020B0502040204020203" pitchFamily="34" charset="-122"/>
              </a:rPr>
              <a:t>临时端口。</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运行</a:t>
            </a:r>
            <a:r>
              <a:rPr lang="zh-CN" altLang="en-US" sz="2000" b="1" dirty="0">
                <a:solidFill>
                  <a:srgbClr val="C00000"/>
                </a:solidFill>
                <a:latin typeface="微软雅黑 Light" panose="020B0502040204020203" pitchFamily="34" charset="-122"/>
                <a:ea typeface="微软雅黑 Light" panose="020B0502040204020203" pitchFamily="34" charset="-122"/>
              </a:rPr>
              <a:t>管理程序</a:t>
            </a:r>
            <a:r>
              <a:rPr lang="zh-CN" altLang="en-US" sz="2000" b="1" dirty="0">
                <a:latin typeface="微软雅黑 Light" panose="020B0502040204020203" pitchFamily="34" charset="-122"/>
                <a:ea typeface="微软雅黑 Light" panose="020B0502040204020203" pitchFamily="34" charset="-122"/>
              </a:rPr>
              <a:t>的</a:t>
            </a:r>
            <a:r>
              <a:rPr lang="zh-CN" altLang="en-US" sz="2000" b="1" dirty="0">
                <a:solidFill>
                  <a:srgbClr val="0000FF"/>
                </a:solidFill>
                <a:latin typeface="微软雅黑 Light" panose="020B0502040204020203" pitchFamily="34" charset="-122"/>
                <a:ea typeface="微软雅黑 Light" panose="020B0502040204020203" pitchFamily="34" charset="-122"/>
              </a:rPr>
              <a:t>客户端</a:t>
            </a:r>
            <a:r>
              <a:rPr lang="zh-CN" altLang="en-US" sz="2000" b="1" dirty="0">
                <a:latin typeface="微软雅黑 Light" panose="020B0502040204020203" pitchFamily="34" charset="-122"/>
                <a:ea typeface="微软雅黑 Light" panose="020B0502040204020203" pitchFamily="34" charset="-122"/>
              </a:rPr>
              <a:t>则使用 </a:t>
            </a:r>
            <a:r>
              <a:rPr lang="en-US" altLang="zh-CN" sz="2000" b="1" dirty="0">
                <a:latin typeface="微软雅黑 Light" panose="020B0502040204020203" pitchFamily="34" charset="-122"/>
                <a:ea typeface="微软雅黑 Light" panose="020B0502040204020203" pitchFamily="34" charset="-122"/>
              </a:rPr>
              <a:t>UDP </a:t>
            </a:r>
            <a:r>
              <a:rPr lang="zh-CN" altLang="en-US" sz="2000" b="1" dirty="0">
                <a:solidFill>
                  <a:srgbClr val="C00000"/>
                </a:solidFill>
                <a:latin typeface="微软雅黑 Light" panose="020B0502040204020203" pitchFamily="34" charset="-122"/>
                <a:ea typeface="微软雅黑 Light" panose="020B0502040204020203" pitchFamily="34" charset="-122"/>
              </a:rPr>
              <a:t>熟知端口 </a:t>
            </a:r>
            <a:r>
              <a:rPr lang="en-US" altLang="zh-CN" sz="2000" b="1" dirty="0">
                <a:latin typeface="微软雅黑 Light" panose="020B0502040204020203" pitchFamily="34" charset="-122"/>
                <a:ea typeface="微软雅黑 Light" panose="020B0502040204020203" pitchFamily="34" charset="-122"/>
              </a:rPr>
              <a:t>162 </a:t>
            </a:r>
            <a:r>
              <a:rPr lang="zh-CN" altLang="en-US" sz="2000" b="1" dirty="0">
                <a:latin typeface="微软雅黑 Light" panose="020B0502040204020203" pitchFamily="34" charset="-122"/>
                <a:ea typeface="微软雅黑 Light" panose="020B0502040204020203" pitchFamily="34" charset="-122"/>
              </a:rPr>
              <a:t>来接收来自各代理的 </a:t>
            </a:r>
            <a:r>
              <a:rPr lang="en-US" altLang="zh-CN" sz="2000" b="1" dirty="0">
                <a:latin typeface="微软雅黑 Light" panose="020B0502040204020203" pitchFamily="34" charset="-122"/>
                <a:ea typeface="微软雅黑 Light" panose="020B0502040204020203" pitchFamily="34" charset="-122"/>
              </a:rPr>
              <a:t>trap </a:t>
            </a:r>
            <a:r>
              <a:rPr lang="zh-CN" altLang="en-US" sz="2000" b="1" dirty="0">
                <a:latin typeface="微软雅黑 Light" panose="020B0502040204020203" pitchFamily="34" charset="-122"/>
                <a:ea typeface="微软雅黑 Light" panose="020B0502040204020203" pitchFamily="34" charset="-122"/>
              </a:rPr>
              <a:t>报文。 </a:t>
            </a:r>
          </a:p>
        </p:txBody>
      </p:sp>
    </p:spTree>
    <p:extLst>
      <p:ext uri="{BB962C8B-B14F-4D97-AF65-F5344CB8AC3E}">
        <p14:creationId xmlns:p14="http://schemas.microsoft.com/office/powerpoint/2010/main" val="4336787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3964"/>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158257" y="580753"/>
            <a:ext cx="484619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SNMPv1 </a:t>
            </a:r>
            <a:r>
              <a:rPr lang="zh-CN" altLang="en-US" sz="2000" b="1" dirty="0">
                <a:solidFill>
                  <a:schemeClr val="bg1"/>
                </a:solidFill>
                <a:latin typeface="微软雅黑 Light" panose="020B0502040204020203" pitchFamily="34" charset="-122"/>
                <a:ea typeface="微软雅黑 Light" panose="020B0502040204020203" pitchFamily="34" charset="-122"/>
              </a:rPr>
              <a:t>定义的协议数据单元 </a:t>
            </a:r>
            <a:r>
              <a:rPr lang="en-US" altLang="zh-CN" sz="2000" b="1" dirty="0">
                <a:solidFill>
                  <a:schemeClr val="bg1"/>
                </a:solidFill>
                <a:latin typeface="微软雅黑 Light" panose="020B0502040204020203" pitchFamily="34" charset="-122"/>
                <a:ea typeface="微软雅黑 Light" panose="020B0502040204020203" pitchFamily="34" charset="-122"/>
              </a:rPr>
              <a:t>(PDU) </a:t>
            </a:r>
            <a:r>
              <a:rPr lang="zh-CN" altLang="en-US" sz="2000" b="1" dirty="0">
                <a:solidFill>
                  <a:schemeClr val="bg1"/>
                </a:solidFill>
                <a:latin typeface="微软雅黑 Light" panose="020B0502040204020203" pitchFamily="34" charset="-122"/>
                <a:ea typeface="微软雅黑 Light" panose="020B0502040204020203" pitchFamily="34" charset="-122"/>
              </a:rPr>
              <a:t>类型</a:t>
            </a:r>
          </a:p>
        </p:txBody>
      </p:sp>
      <p:sp>
        <p:nvSpPr>
          <p:cNvPr id="5" name="Text Box 4"/>
          <p:cNvSpPr txBox="1">
            <a:spLocks noChangeArrowheads="1"/>
          </p:cNvSpPr>
          <p:nvPr/>
        </p:nvSpPr>
        <p:spPr bwMode="auto">
          <a:xfrm>
            <a:off x="492955" y="1023595"/>
            <a:ext cx="8048775" cy="30654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marL="342900" indent="-342900">
              <a:tabLst>
                <a:tab pos="3676650" algn="l"/>
              </a:tabLst>
              <a:defRPr sz="3600">
                <a:solidFill>
                  <a:schemeClr val="tx1"/>
                </a:solidFill>
                <a:latin typeface="Tahoma" pitchFamily="34" charset="0"/>
                <a:ea typeface="宋体" charset="-122"/>
              </a:defRPr>
            </a:lvl1pPr>
            <a:lvl2pPr marL="800100" indent="-342900">
              <a:tabLst>
                <a:tab pos="3676650" algn="l"/>
              </a:tabLst>
              <a:defRPr sz="3600">
                <a:solidFill>
                  <a:schemeClr val="tx1"/>
                </a:solidFill>
                <a:latin typeface="Tahoma" pitchFamily="34" charset="0"/>
                <a:ea typeface="宋体" charset="-122"/>
              </a:defRPr>
            </a:lvl2pPr>
            <a:lvl3pPr marL="1257300" indent="-342900">
              <a:tabLst>
                <a:tab pos="3676650" algn="l"/>
              </a:tabLst>
              <a:defRPr sz="3600">
                <a:solidFill>
                  <a:schemeClr val="tx1"/>
                </a:solidFill>
                <a:latin typeface="Tahoma" pitchFamily="34" charset="0"/>
                <a:ea typeface="宋体" charset="-122"/>
              </a:defRPr>
            </a:lvl3pPr>
            <a:lvl4pPr marL="1714500" indent="-342900">
              <a:tabLst>
                <a:tab pos="3676650" algn="l"/>
              </a:tabLst>
              <a:defRPr sz="3600">
                <a:solidFill>
                  <a:schemeClr val="tx1"/>
                </a:solidFill>
                <a:latin typeface="Tahoma" pitchFamily="34" charset="0"/>
                <a:ea typeface="宋体" charset="-122"/>
              </a:defRPr>
            </a:lvl4pPr>
            <a:lvl5pPr marL="2171700" indent="-342900">
              <a:tabLst>
                <a:tab pos="3676650" algn="l"/>
              </a:tabLst>
              <a:defRPr sz="3600">
                <a:solidFill>
                  <a:schemeClr val="tx1"/>
                </a:solidFill>
                <a:latin typeface="Tahoma" pitchFamily="34" charset="0"/>
                <a:ea typeface="宋体" charset="-122"/>
              </a:defRPr>
            </a:lvl5pPr>
            <a:lvl6pPr marL="2628900" indent="-342900" eaLnBrk="0" fontAlgn="base" hangingPunct="0">
              <a:spcBef>
                <a:spcPct val="0"/>
              </a:spcBef>
              <a:spcAft>
                <a:spcPct val="0"/>
              </a:spcAft>
              <a:tabLst>
                <a:tab pos="3676650" algn="l"/>
              </a:tabLst>
              <a:defRPr sz="3600">
                <a:solidFill>
                  <a:schemeClr val="tx1"/>
                </a:solidFill>
                <a:latin typeface="Tahoma" pitchFamily="34" charset="0"/>
                <a:ea typeface="宋体" charset="-122"/>
              </a:defRPr>
            </a:lvl6pPr>
            <a:lvl7pPr marL="3086100" indent="-342900" eaLnBrk="0" fontAlgn="base" hangingPunct="0">
              <a:spcBef>
                <a:spcPct val="0"/>
              </a:spcBef>
              <a:spcAft>
                <a:spcPct val="0"/>
              </a:spcAft>
              <a:tabLst>
                <a:tab pos="3676650" algn="l"/>
              </a:tabLst>
              <a:defRPr sz="3600">
                <a:solidFill>
                  <a:schemeClr val="tx1"/>
                </a:solidFill>
                <a:latin typeface="Tahoma" pitchFamily="34" charset="0"/>
                <a:ea typeface="宋体" charset="-122"/>
              </a:defRPr>
            </a:lvl7pPr>
            <a:lvl8pPr marL="3543300" indent="-342900" eaLnBrk="0" fontAlgn="base" hangingPunct="0">
              <a:spcBef>
                <a:spcPct val="0"/>
              </a:spcBef>
              <a:spcAft>
                <a:spcPct val="0"/>
              </a:spcAft>
              <a:tabLst>
                <a:tab pos="3676650" algn="l"/>
              </a:tabLst>
              <a:defRPr sz="3600">
                <a:solidFill>
                  <a:schemeClr val="tx1"/>
                </a:solidFill>
                <a:latin typeface="Tahoma" pitchFamily="34" charset="0"/>
                <a:ea typeface="宋体" charset="-122"/>
              </a:defRPr>
            </a:lvl8pPr>
            <a:lvl9pPr marL="4000500" indent="-342900" eaLnBrk="0" fontAlgn="base" hangingPunct="0">
              <a:spcBef>
                <a:spcPct val="0"/>
              </a:spcBef>
              <a:spcAft>
                <a:spcPct val="0"/>
              </a:spcAft>
              <a:tabLst>
                <a:tab pos="3676650" algn="l"/>
              </a:tabLst>
              <a:defRPr sz="3600">
                <a:solidFill>
                  <a:schemeClr val="tx1"/>
                </a:solidFill>
                <a:latin typeface="Tahoma" pitchFamily="34" charset="0"/>
                <a:ea typeface="宋体" charset="-122"/>
              </a:defRPr>
            </a:lvl9pPr>
          </a:lstStyle>
          <a:p>
            <a:pPr>
              <a:lnSpc>
                <a:spcPct val="150000"/>
              </a:lnSpc>
              <a:tabLst>
                <a:tab pos="1162050" algn="l"/>
                <a:tab pos="3319463" algn="l"/>
              </a:tabLst>
            </a:pPr>
            <a:r>
              <a:rPr lang="en-US" altLang="zh-CN" sz="1400" b="1" dirty="0">
                <a:latin typeface="微软雅黑 Light" panose="020B0502040204020203" pitchFamily="34" charset="-122"/>
                <a:ea typeface="微软雅黑 Light" panose="020B0502040204020203" pitchFamily="34" charset="-122"/>
              </a:rPr>
              <a:t>    PDU </a:t>
            </a:r>
            <a:r>
              <a:rPr lang="zh-CN" altLang="en-US" sz="1400" b="1" dirty="0">
                <a:latin typeface="微软雅黑 Light" panose="020B0502040204020203" pitchFamily="34" charset="-122"/>
                <a:ea typeface="微软雅黑 Light" panose="020B0502040204020203" pitchFamily="34" charset="-122"/>
              </a:rPr>
              <a:t>编号 </a:t>
            </a:r>
            <a:r>
              <a:rPr lang="en-US" altLang="zh-CN" sz="1400" b="1" dirty="0">
                <a:latin typeface="微软雅黑 Light" panose="020B0502040204020203" pitchFamily="34" charset="-122"/>
                <a:ea typeface="微软雅黑 Light" panose="020B0502040204020203" pitchFamily="34" charset="-122"/>
              </a:rPr>
              <a:t>(T</a:t>
            </a:r>
            <a:r>
              <a:rPr lang="zh-CN" altLang="en-US" sz="1400" b="1" dirty="0">
                <a:latin typeface="微软雅黑 Light" panose="020B0502040204020203" pitchFamily="34" charset="-122"/>
                <a:ea typeface="微软雅黑 Light" panose="020B0502040204020203" pitchFamily="34" charset="-122"/>
              </a:rPr>
              <a:t>字段</a:t>
            </a:r>
            <a:r>
              <a:rPr lang="en-US" altLang="zh-CN" sz="1400" b="1" dirty="0">
                <a:latin typeface="微软雅黑 Light" panose="020B0502040204020203" pitchFamily="34" charset="-122"/>
                <a:ea typeface="微软雅黑 Light" panose="020B0502040204020203" pitchFamily="34" charset="-122"/>
              </a:rPr>
              <a:t>)           PDU </a:t>
            </a:r>
            <a:r>
              <a:rPr lang="zh-CN" altLang="en-US" sz="1400" b="1" dirty="0">
                <a:latin typeface="微软雅黑 Light" panose="020B0502040204020203" pitchFamily="34" charset="-122"/>
                <a:ea typeface="微软雅黑 Light" panose="020B0502040204020203" pitchFamily="34" charset="-122"/>
              </a:rPr>
              <a:t>名称</a:t>
            </a:r>
            <a:r>
              <a:rPr lang="en-US" altLang="zh-CN" sz="1400" b="1" dirty="0">
                <a:latin typeface="微软雅黑 Light" panose="020B0502040204020203" pitchFamily="34" charset="-122"/>
                <a:ea typeface="微软雅黑 Light" panose="020B0502040204020203" pitchFamily="34" charset="-122"/>
              </a:rPr>
              <a:t>	                             </a:t>
            </a:r>
            <a:r>
              <a:rPr lang="zh-CN" altLang="en-US" sz="1400" b="1" dirty="0">
                <a:latin typeface="微软雅黑 Light" panose="020B0502040204020203" pitchFamily="34" charset="-122"/>
                <a:ea typeface="微软雅黑 Light" panose="020B0502040204020203" pitchFamily="34" charset="-122"/>
              </a:rPr>
              <a:t>用途</a:t>
            </a:r>
          </a:p>
          <a:p>
            <a:pPr eaLnBrk="1" hangingPunct="1">
              <a:lnSpc>
                <a:spcPct val="150000"/>
              </a:lnSpc>
              <a:spcAft>
                <a:spcPct val="30000"/>
              </a:spcAft>
              <a:tabLst>
                <a:tab pos="1162050" algn="l"/>
                <a:tab pos="3319463" algn="l"/>
              </a:tabLst>
            </a:pPr>
            <a:r>
              <a:rPr lang="en-US" altLang="zh-CN" sz="1400" b="1" dirty="0">
                <a:solidFill>
                  <a:srgbClr val="0000FF"/>
                </a:solidFill>
                <a:latin typeface="微软雅黑 Light" panose="020B0502040204020203" pitchFamily="34" charset="-122"/>
                <a:ea typeface="微软雅黑 Light" panose="020B0502040204020203" pitchFamily="34" charset="-122"/>
              </a:rPr>
              <a:t>  0  (A0)       	               </a:t>
            </a:r>
            <a:r>
              <a:rPr lang="en-US" altLang="zh-CN" sz="1400" b="1" dirty="0" err="1">
                <a:solidFill>
                  <a:srgbClr val="0000FF"/>
                </a:solidFill>
                <a:latin typeface="微软雅黑 Light" panose="020B0502040204020203" pitchFamily="34" charset="-122"/>
                <a:ea typeface="微软雅黑 Light" panose="020B0502040204020203" pitchFamily="34" charset="-122"/>
              </a:rPr>
              <a:t>GetRequest</a:t>
            </a:r>
            <a:r>
              <a:rPr lang="en-US" altLang="zh-CN" sz="1400" b="1" dirty="0">
                <a:solidFill>
                  <a:srgbClr val="0000FF"/>
                </a:solidFill>
                <a:latin typeface="微软雅黑 Light" panose="020B0502040204020203" pitchFamily="34" charset="-122"/>
                <a:ea typeface="微软雅黑 Light" panose="020B0502040204020203" pitchFamily="34" charset="-122"/>
              </a:rPr>
              <a:t>            </a:t>
            </a:r>
            <a:r>
              <a:rPr lang="zh-CN" altLang="en-US" sz="1400" b="1" dirty="0">
                <a:solidFill>
                  <a:srgbClr val="0000FF"/>
                </a:solidFill>
                <a:latin typeface="微软雅黑 Light" panose="020B0502040204020203" pitchFamily="34" charset="-122"/>
                <a:ea typeface="微软雅黑 Light" panose="020B0502040204020203" pitchFamily="34" charset="-122"/>
              </a:rPr>
              <a:t>用来查询一个或一组变量的值</a:t>
            </a:r>
          </a:p>
          <a:p>
            <a:pPr eaLnBrk="1" hangingPunct="1">
              <a:lnSpc>
                <a:spcPct val="150000"/>
              </a:lnSpc>
              <a:tabLst>
                <a:tab pos="1162050" algn="l"/>
                <a:tab pos="3319463" algn="l"/>
              </a:tabLst>
            </a:pPr>
            <a:r>
              <a:rPr lang="zh-CN" altLang="en-US" sz="1400" b="1" dirty="0">
                <a:solidFill>
                  <a:srgbClr val="0000FF"/>
                </a:solidFill>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1  (A1)       	               </a:t>
            </a:r>
            <a:r>
              <a:rPr lang="en-US" altLang="zh-CN" sz="1400" b="1" dirty="0" err="1">
                <a:solidFill>
                  <a:srgbClr val="0000FF"/>
                </a:solidFill>
                <a:latin typeface="微软雅黑 Light" panose="020B0502040204020203" pitchFamily="34" charset="-122"/>
                <a:ea typeface="微软雅黑 Light" panose="020B0502040204020203" pitchFamily="34" charset="-122"/>
              </a:rPr>
              <a:t>GetNextRequest</a:t>
            </a:r>
            <a:r>
              <a:rPr lang="en-US" altLang="zh-CN" sz="1400" b="1" dirty="0">
                <a:solidFill>
                  <a:srgbClr val="0000FF"/>
                </a:solidFill>
                <a:latin typeface="微软雅黑 Light" panose="020B0502040204020203" pitchFamily="34" charset="-122"/>
                <a:ea typeface="微软雅黑 Light" panose="020B0502040204020203" pitchFamily="34" charset="-122"/>
              </a:rPr>
              <a:t>    </a:t>
            </a:r>
            <a:r>
              <a:rPr lang="zh-CN" altLang="en-US" sz="1400" b="1" dirty="0">
                <a:solidFill>
                  <a:srgbClr val="0000FF"/>
                </a:solidFill>
                <a:latin typeface="微软雅黑 Light" panose="020B0502040204020203" pitchFamily="34" charset="-122"/>
                <a:ea typeface="微软雅黑 Light" panose="020B0502040204020203" pitchFamily="34" charset="-122"/>
              </a:rPr>
              <a:t>允许在 </a:t>
            </a:r>
            <a:r>
              <a:rPr lang="en-US" altLang="zh-CN" sz="1400" b="1" dirty="0">
                <a:solidFill>
                  <a:srgbClr val="0000FF"/>
                </a:solidFill>
                <a:latin typeface="微软雅黑 Light" panose="020B0502040204020203" pitchFamily="34" charset="-122"/>
                <a:ea typeface="微软雅黑 Light" panose="020B0502040204020203" pitchFamily="34" charset="-122"/>
              </a:rPr>
              <a:t>MIB </a:t>
            </a:r>
            <a:r>
              <a:rPr lang="zh-CN" altLang="en-US" sz="1400" b="1" dirty="0">
                <a:solidFill>
                  <a:srgbClr val="0000FF"/>
                </a:solidFill>
                <a:latin typeface="微软雅黑 Light" panose="020B0502040204020203" pitchFamily="34" charset="-122"/>
                <a:ea typeface="微软雅黑 Light" panose="020B0502040204020203" pitchFamily="34" charset="-122"/>
              </a:rPr>
              <a:t>树上读取下一个变量，此操作可反复进行 </a:t>
            </a:r>
          </a:p>
          <a:p>
            <a:pPr eaLnBrk="1" hangingPunct="1">
              <a:lnSpc>
                <a:spcPct val="150000"/>
              </a:lnSpc>
              <a:tabLst>
                <a:tab pos="1162050" algn="l"/>
                <a:tab pos="3319463" algn="l"/>
              </a:tabLst>
            </a:pPr>
            <a:r>
              <a:rPr lang="zh-CN" altLang="en-US" sz="1400" b="1" dirty="0">
                <a:solidFill>
                  <a:srgbClr val="0000FF"/>
                </a:solidFill>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2  (A2)       	               </a:t>
            </a:r>
            <a:r>
              <a:rPr lang="en-US" altLang="zh-CN" sz="1400" b="1" dirty="0" err="1">
                <a:solidFill>
                  <a:srgbClr val="0000FF"/>
                </a:solidFill>
                <a:latin typeface="微软雅黑 Light" panose="020B0502040204020203" pitchFamily="34" charset="-122"/>
                <a:ea typeface="微软雅黑 Light" panose="020B0502040204020203" pitchFamily="34" charset="-122"/>
              </a:rPr>
              <a:t>Reponse</a:t>
            </a:r>
            <a:r>
              <a:rPr lang="en-US" altLang="zh-CN" sz="1400" b="1" dirty="0">
                <a:solidFill>
                  <a:srgbClr val="0000FF"/>
                </a:solidFill>
                <a:latin typeface="微软雅黑 Light" panose="020B0502040204020203" pitchFamily="34" charset="-122"/>
                <a:ea typeface="微软雅黑 Light" panose="020B0502040204020203" pitchFamily="34" charset="-122"/>
              </a:rPr>
              <a:t>        	      </a:t>
            </a:r>
            <a:r>
              <a:rPr lang="zh-CN" altLang="en-US" sz="1400" b="1" dirty="0">
                <a:solidFill>
                  <a:srgbClr val="0000FF"/>
                </a:solidFill>
                <a:latin typeface="微软雅黑 Light" panose="020B0502040204020203" pitchFamily="34" charset="-122"/>
                <a:ea typeface="微软雅黑 Light" panose="020B0502040204020203" pitchFamily="34" charset="-122"/>
              </a:rPr>
              <a:t>代理向管理者或管理者向管理者发送响应</a:t>
            </a:r>
          </a:p>
          <a:p>
            <a:pPr eaLnBrk="1" hangingPunct="1">
              <a:lnSpc>
                <a:spcPct val="150000"/>
              </a:lnSpc>
              <a:tabLst>
                <a:tab pos="1162050" algn="l"/>
                <a:tab pos="3319463" algn="l"/>
              </a:tabLst>
            </a:pPr>
            <a:r>
              <a:rPr lang="zh-CN" altLang="en-US" sz="1400" b="1" dirty="0">
                <a:solidFill>
                  <a:srgbClr val="0000FF"/>
                </a:solidFill>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3  (A3)       	               </a:t>
            </a:r>
            <a:r>
              <a:rPr lang="en-US" altLang="zh-CN" sz="1400" b="1" dirty="0" err="1">
                <a:solidFill>
                  <a:srgbClr val="0000FF"/>
                </a:solidFill>
                <a:latin typeface="微软雅黑 Light" panose="020B0502040204020203" pitchFamily="34" charset="-122"/>
                <a:ea typeface="微软雅黑 Light" panose="020B0502040204020203" pitchFamily="34" charset="-122"/>
              </a:rPr>
              <a:t>SetRequest</a:t>
            </a:r>
            <a:r>
              <a:rPr lang="en-US" altLang="zh-CN" sz="1400" b="1" dirty="0">
                <a:solidFill>
                  <a:srgbClr val="0000FF"/>
                </a:solidFill>
                <a:latin typeface="微软雅黑 Light" panose="020B0502040204020203" pitchFamily="34" charset="-122"/>
                <a:ea typeface="微软雅黑 Light" panose="020B0502040204020203" pitchFamily="34" charset="-122"/>
              </a:rPr>
              <a:t>          	</a:t>
            </a:r>
            <a:r>
              <a:rPr lang="zh-CN" altLang="en-US" sz="1400" b="1" dirty="0">
                <a:solidFill>
                  <a:srgbClr val="0000FF"/>
                </a:solidFill>
                <a:latin typeface="微软雅黑 Light" panose="020B0502040204020203" pitchFamily="34" charset="-122"/>
                <a:ea typeface="微软雅黑 Light" panose="020B0502040204020203" pitchFamily="34" charset="-122"/>
              </a:rPr>
              <a:t>对一个或多个变量值进行设置</a:t>
            </a:r>
          </a:p>
          <a:p>
            <a:pPr eaLnBrk="1" hangingPunct="1">
              <a:lnSpc>
                <a:spcPct val="150000"/>
              </a:lnSpc>
              <a:tabLst>
                <a:tab pos="1162050" algn="l"/>
                <a:tab pos="3319463" algn="l"/>
              </a:tabLst>
            </a:pPr>
            <a:r>
              <a:rPr lang="zh-CN" altLang="en-US" sz="1400" b="1" dirty="0">
                <a:solidFill>
                  <a:srgbClr val="0000FF"/>
                </a:solidFill>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5  (A5)       	               </a:t>
            </a:r>
            <a:r>
              <a:rPr lang="en-US" altLang="zh-CN" sz="1400" b="1" dirty="0" err="1">
                <a:solidFill>
                  <a:srgbClr val="0000FF"/>
                </a:solidFill>
                <a:latin typeface="微软雅黑 Light" panose="020B0502040204020203" pitchFamily="34" charset="-122"/>
                <a:ea typeface="微软雅黑 Light" panose="020B0502040204020203" pitchFamily="34" charset="-122"/>
              </a:rPr>
              <a:t>GetBulkRequest</a:t>
            </a:r>
            <a:r>
              <a:rPr lang="en-US" altLang="zh-CN" sz="1400" b="1" dirty="0">
                <a:solidFill>
                  <a:srgbClr val="0000FF"/>
                </a:solidFill>
                <a:latin typeface="微软雅黑 Light" panose="020B0502040204020203" pitchFamily="34" charset="-122"/>
                <a:ea typeface="微软雅黑 Light" panose="020B0502040204020203" pitchFamily="34" charset="-122"/>
              </a:rPr>
              <a:t>	</a:t>
            </a:r>
            <a:r>
              <a:rPr lang="zh-CN" altLang="en-US" sz="1400" b="1" dirty="0">
                <a:solidFill>
                  <a:srgbClr val="0000FF"/>
                </a:solidFill>
                <a:latin typeface="微软雅黑 Light" panose="020B0502040204020203" pitchFamily="34" charset="-122"/>
                <a:ea typeface="微软雅黑 Light" panose="020B0502040204020203" pitchFamily="34" charset="-122"/>
              </a:rPr>
              <a:t>管理者从代理读取大数据块的值</a:t>
            </a:r>
          </a:p>
          <a:p>
            <a:pPr eaLnBrk="1" hangingPunct="1">
              <a:lnSpc>
                <a:spcPct val="150000"/>
              </a:lnSpc>
              <a:tabLst>
                <a:tab pos="1162050" algn="l"/>
                <a:tab pos="3319463" algn="l"/>
              </a:tabLst>
            </a:pPr>
            <a:r>
              <a:rPr lang="zh-CN" altLang="en-US" sz="1400" b="1" dirty="0">
                <a:solidFill>
                  <a:srgbClr val="0000FF"/>
                </a:solidFill>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6  (A6)      	               </a:t>
            </a:r>
            <a:r>
              <a:rPr lang="en-US" altLang="zh-CN" sz="1400" b="1" dirty="0" err="1">
                <a:solidFill>
                  <a:srgbClr val="0000FF"/>
                </a:solidFill>
                <a:latin typeface="微软雅黑 Light" panose="020B0502040204020203" pitchFamily="34" charset="-122"/>
                <a:ea typeface="微软雅黑 Light" panose="020B0502040204020203" pitchFamily="34" charset="-122"/>
              </a:rPr>
              <a:t>InformRequest</a:t>
            </a:r>
            <a:r>
              <a:rPr lang="en-US" altLang="zh-CN" sz="1400" b="1" dirty="0">
                <a:solidFill>
                  <a:srgbClr val="0000FF"/>
                </a:solidFill>
                <a:latin typeface="微软雅黑 Light" panose="020B0502040204020203" pitchFamily="34" charset="-122"/>
                <a:ea typeface="微软雅黑 Light" panose="020B0502040204020203" pitchFamily="34" charset="-122"/>
              </a:rPr>
              <a:t>	      </a:t>
            </a:r>
            <a:r>
              <a:rPr lang="zh-CN" altLang="en-US" sz="1400" b="1" dirty="0">
                <a:solidFill>
                  <a:srgbClr val="0000FF"/>
                </a:solidFill>
                <a:latin typeface="微软雅黑 Light" panose="020B0502040204020203" pitchFamily="34" charset="-122"/>
                <a:ea typeface="微软雅黑 Light" panose="020B0502040204020203" pitchFamily="34" charset="-122"/>
              </a:rPr>
              <a:t>管理者从另一管理者读取代理的变量</a:t>
            </a:r>
          </a:p>
          <a:p>
            <a:pPr eaLnBrk="1" hangingPunct="1">
              <a:lnSpc>
                <a:spcPct val="150000"/>
              </a:lnSpc>
              <a:tabLst>
                <a:tab pos="1162050" algn="l"/>
                <a:tab pos="3319463" algn="l"/>
              </a:tabLst>
            </a:pPr>
            <a:r>
              <a:rPr lang="zh-CN" altLang="en-US" sz="1400" b="1" dirty="0">
                <a:solidFill>
                  <a:srgbClr val="0000FF"/>
                </a:solidFill>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7  (A7)      	               SNMPv2Trap	      </a:t>
            </a:r>
            <a:r>
              <a:rPr lang="zh-CN" altLang="en-US" sz="1400" b="1" dirty="0">
                <a:solidFill>
                  <a:srgbClr val="0000FF"/>
                </a:solidFill>
                <a:latin typeface="微软雅黑 Light" panose="020B0502040204020203" pitchFamily="34" charset="-122"/>
                <a:ea typeface="微软雅黑 Light" panose="020B0502040204020203" pitchFamily="34" charset="-122"/>
              </a:rPr>
              <a:t>代理向管理者报告异常事件</a:t>
            </a:r>
          </a:p>
          <a:p>
            <a:pPr eaLnBrk="1" hangingPunct="1">
              <a:lnSpc>
                <a:spcPct val="150000"/>
              </a:lnSpc>
              <a:tabLst>
                <a:tab pos="1162050" algn="l"/>
                <a:tab pos="3319463" algn="l"/>
              </a:tabLst>
            </a:pPr>
            <a:r>
              <a:rPr lang="zh-CN" altLang="en-US" sz="1400" b="1" dirty="0">
                <a:solidFill>
                  <a:srgbClr val="0000FF"/>
                </a:solidFill>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8  (A8)      	               Report	      </a:t>
            </a:r>
            <a:r>
              <a:rPr lang="zh-CN" altLang="en-US" sz="1400" b="1" dirty="0">
                <a:solidFill>
                  <a:srgbClr val="0000FF"/>
                </a:solidFill>
                <a:latin typeface="微软雅黑 Light" panose="020B0502040204020203" pitchFamily="34" charset="-122"/>
                <a:ea typeface="微软雅黑 Light" panose="020B0502040204020203" pitchFamily="34" charset="-122"/>
              </a:rPr>
              <a:t>管理者之间报告某些差错 </a:t>
            </a:r>
          </a:p>
        </p:txBody>
      </p:sp>
      <p:sp>
        <p:nvSpPr>
          <p:cNvPr id="7" name="Line 6"/>
          <p:cNvSpPr>
            <a:spLocks noChangeShapeType="1"/>
          </p:cNvSpPr>
          <p:nvPr/>
        </p:nvSpPr>
        <p:spPr bwMode="auto">
          <a:xfrm>
            <a:off x="2387591" y="1092397"/>
            <a:ext cx="0" cy="299349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endParaRPr lang="zh-CN" altLang="en-US" sz="1400" dirty="0">
              <a:latin typeface="微软雅黑 Light" panose="020B0502040204020203" pitchFamily="34" charset="-122"/>
              <a:ea typeface="微软雅黑 Light" panose="020B0502040204020203" pitchFamily="34" charset="-122"/>
            </a:endParaRPr>
          </a:p>
        </p:txBody>
      </p:sp>
      <p:sp>
        <p:nvSpPr>
          <p:cNvPr id="12" name="Line 6"/>
          <p:cNvSpPr>
            <a:spLocks noChangeShapeType="1"/>
          </p:cNvSpPr>
          <p:nvPr/>
        </p:nvSpPr>
        <p:spPr bwMode="auto">
          <a:xfrm>
            <a:off x="4113204" y="1087843"/>
            <a:ext cx="0" cy="299349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endParaRPr lang="zh-CN" altLang="en-US" sz="1400" dirty="0">
              <a:latin typeface="微软雅黑 Light" panose="020B0502040204020203" pitchFamily="34" charset="-122"/>
              <a:ea typeface="微软雅黑 Light" panose="020B0502040204020203" pitchFamily="34" charset="-122"/>
            </a:endParaRPr>
          </a:p>
        </p:txBody>
      </p:sp>
      <p:sp>
        <p:nvSpPr>
          <p:cNvPr id="13" name="Line 5"/>
          <p:cNvSpPr>
            <a:spLocks noChangeShapeType="1"/>
          </p:cNvSpPr>
          <p:nvPr/>
        </p:nvSpPr>
        <p:spPr bwMode="auto">
          <a:xfrm>
            <a:off x="585216" y="1087843"/>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endParaRPr lang="zh-CN" altLang="en-US" sz="1400" dirty="0">
              <a:latin typeface="微软雅黑 Light" panose="020B0502040204020203" pitchFamily="34" charset="-122"/>
              <a:ea typeface="微软雅黑 Light" panose="020B0502040204020203" pitchFamily="34" charset="-122"/>
            </a:endParaRPr>
          </a:p>
        </p:txBody>
      </p:sp>
      <p:sp>
        <p:nvSpPr>
          <p:cNvPr id="14" name="Line 5"/>
          <p:cNvSpPr>
            <a:spLocks noChangeShapeType="1"/>
          </p:cNvSpPr>
          <p:nvPr/>
        </p:nvSpPr>
        <p:spPr bwMode="auto">
          <a:xfrm>
            <a:off x="585216" y="4075381"/>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endParaRPr lang="zh-CN" altLang="en-US" sz="1400" dirty="0">
              <a:latin typeface="微软雅黑 Light" panose="020B0502040204020203" pitchFamily="34" charset="-122"/>
              <a:ea typeface="微软雅黑 Light" panose="020B0502040204020203" pitchFamily="34" charset="-122"/>
            </a:endParaRPr>
          </a:p>
        </p:txBody>
      </p:sp>
      <p:sp>
        <p:nvSpPr>
          <p:cNvPr id="15" name="Line 5"/>
          <p:cNvSpPr>
            <a:spLocks noChangeShapeType="1"/>
          </p:cNvSpPr>
          <p:nvPr/>
        </p:nvSpPr>
        <p:spPr bwMode="auto">
          <a:xfrm>
            <a:off x="585216" y="1394163"/>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endParaRPr lang="zh-CN" altLang="en-US" sz="1400" dirty="0">
              <a:latin typeface="微软雅黑 Light" panose="020B0502040204020203" pitchFamily="34" charset="-122"/>
              <a:ea typeface="微软雅黑 Light" panose="020B0502040204020203" pitchFamily="34" charset="-122"/>
            </a:endParaRPr>
          </a:p>
        </p:txBody>
      </p:sp>
      <p:sp>
        <p:nvSpPr>
          <p:cNvPr id="16" name="Line 6"/>
          <p:cNvSpPr>
            <a:spLocks noChangeShapeType="1"/>
          </p:cNvSpPr>
          <p:nvPr/>
        </p:nvSpPr>
        <p:spPr bwMode="auto">
          <a:xfrm>
            <a:off x="585272" y="1092397"/>
            <a:ext cx="0" cy="299349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endParaRPr lang="zh-CN" altLang="en-US" sz="1400" dirty="0">
              <a:latin typeface="微软雅黑 Light" panose="020B0502040204020203" pitchFamily="34" charset="-122"/>
              <a:ea typeface="微软雅黑 Light" panose="020B0502040204020203" pitchFamily="34" charset="-122"/>
            </a:endParaRPr>
          </a:p>
        </p:txBody>
      </p:sp>
      <p:sp>
        <p:nvSpPr>
          <p:cNvPr id="17" name="Line 6"/>
          <p:cNvSpPr>
            <a:spLocks noChangeShapeType="1"/>
          </p:cNvSpPr>
          <p:nvPr/>
        </p:nvSpPr>
        <p:spPr bwMode="auto">
          <a:xfrm>
            <a:off x="8540440" y="1092397"/>
            <a:ext cx="0" cy="299349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endParaRPr lang="zh-CN" altLang="en-US" sz="1400" dirty="0">
              <a:latin typeface="微软雅黑 Light" panose="020B0502040204020203" pitchFamily="34" charset="-122"/>
              <a:ea typeface="微软雅黑 Light" panose="020B0502040204020203" pitchFamily="34" charset="-122"/>
            </a:endParaRPr>
          </a:p>
        </p:txBody>
      </p:sp>
      <p:sp>
        <p:nvSpPr>
          <p:cNvPr id="18" name="Line 5"/>
          <p:cNvSpPr>
            <a:spLocks noChangeShapeType="1"/>
          </p:cNvSpPr>
          <p:nvPr/>
        </p:nvSpPr>
        <p:spPr bwMode="auto">
          <a:xfrm>
            <a:off x="585216" y="1743693"/>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r>
              <a:rPr lang="en-US" altLang="zh-CN" sz="1400" dirty="0">
                <a:latin typeface="微软雅黑 Light" panose="020B0502040204020203" pitchFamily="34" charset="-122"/>
                <a:ea typeface="微软雅黑 Light" panose="020B0502040204020203" pitchFamily="34" charset="-122"/>
              </a:rPr>
              <a:t> </a:t>
            </a:r>
            <a:endParaRPr lang="zh-CN" altLang="en-US" sz="1400" dirty="0">
              <a:latin typeface="微软雅黑 Light" panose="020B0502040204020203" pitchFamily="34" charset="-122"/>
              <a:ea typeface="微软雅黑 Light" panose="020B0502040204020203" pitchFamily="34" charset="-122"/>
            </a:endParaRPr>
          </a:p>
        </p:txBody>
      </p:sp>
      <p:sp>
        <p:nvSpPr>
          <p:cNvPr id="19" name="Line 5"/>
          <p:cNvSpPr>
            <a:spLocks noChangeShapeType="1"/>
          </p:cNvSpPr>
          <p:nvPr/>
        </p:nvSpPr>
        <p:spPr bwMode="auto">
          <a:xfrm>
            <a:off x="585216" y="2095733"/>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r>
              <a:rPr lang="en-US" altLang="zh-CN" sz="1400" dirty="0">
                <a:latin typeface="微软雅黑 Light" panose="020B0502040204020203" pitchFamily="34" charset="-122"/>
                <a:ea typeface="微软雅黑 Light" panose="020B0502040204020203" pitchFamily="34" charset="-122"/>
              </a:rPr>
              <a:t> </a:t>
            </a:r>
            <a:endParaRPr lang="zh-CN" altLang="en-US" sz="1400" dirty="0">
              <a:latin typeface="微软雅黑 Light" panose="020B0502040204020203" pitchFamily="34" charset="-122"/>
              <a:ea typeface="微软雅黑 Light" panose="020B0502040204020203" pitchFamily="34" charset="-122"/>
            </a:endParaRPr>
          </a:p>
        </p:txBody>
      </p:sp>
      <p:sp>
        <p:nvSpPr>
          <p:cNvPr id="20" name="Line 5"/>
          <p:cNvSpPr>
            <a:spLocks noChangeShapeType="1"/>
          </p:cNvSpPr>
          <p:nvPr/>
        </p:nvSpPr>
        <p:spPr bwMode="auto">
          <a:xfrm>
            <a:off x="585216" y="2419197"/>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r>
              <a:rPr lang="en-US" altLang="zh-CN" sz="1400" dirty="0">
                <a:latin typeface="微软雅黑 Light" panose="020B0502040204020203" pitchFamily="34" charset="-122"/>
                <a:ea typeface="微软雅黑 Light" panose="020B0502040204020203" pitchFamily="34" charset="-122"/>
              </a:rPr>
              <a:t> </a:t>
            </a:r>
            <a:endParaRPr lang="zh-CN" altLang="en-US" sz="1400" dirty="0">
              <a:latin typeface="微软雅黑 Light" panose="020B0502040204020203" pitchFamily="34" charset="-122"/>
              <a:ea typeface="微软雅黑 Light" panose="020B0502040204020203" pitchFamily="34" charset="-122"/>
            </a:endParaRPr>
          </a:p>
        </p:txBody>
      </p:sp>
      <p:sp>
        <p:nvSpPr>
          <p:cNvPr id="21" name="Line 5"/>
          <p:cNvSpPr>
            <a:spLocks noChangeShapeType="1"/>
          </p:cNvSpPr>
          <p:nvPr/>
        </p:nvSpPr>
        <p:spPr bwMode="auto">
          <a:xfrm>
            <a:off x="585216" y="2734661"/>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r>
              <a:rPr lang="en-US" altLang="zh-CN" sz="1400" dirty="0">
                <a:latin typeface="微软雅黑 Light" panose="020B0502040204020203" pitchFamily="34" charset="-122"/>
                <a:ea typeface="微软雅黑 Light" panose="020B0502040204020203" pitchFamily="34" charset="-122"/>
              </a:rPr>
              <a:t> </a:t>
            </a:r>
            <a:endParaRPr lang="zh-CN" altLang="en-US" sz="1400" dirty="0">
              <a:latin typeface="微软雅黑 Light" panose="020B0502040204020203" pitchFamily="34" charset="-122"/>
              <a:ea typeface="微软雅黑 Light" panose="020B0502040204020203" pitchFamily="34" charset="-122"/>
            </a:endParaRPr>
          </a:p>
        </p:txBody>
      </p:sp>
      <p:sp>
        <p:nvSpPr>
          <p:cNvPr id="22" name="Line 5"/>
          <p:cNvSpPr>
            <a:spLocks noChangeShapeType="1"/>
          </p:cNvSpPr>
          <p:nvPr/>
        </p:nvSpPr>
        <p:spPr bwMode="auto">
          <a:xfrm>
            <a:off x="585216" y="3048981"/>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r>
              <a:rPr lang="en-US" altLang="zh-CN" sz="1400" dirty="0">
                <a:latin typeface="微软雅黑 Light" panose="020B0502040204020203" pitchFamily="34" charset="-122"/>
                <a:ea typeface="微软雅黑 Light" panose="020B0502040204020203" pitchFamily="34" charset="-122"/>
              </a:rPr>
              <a:t> </a:t>
            </a:r>
            <a:endParaRPr lang="zh-CN" altLang="en-US" sz="1400" dirty="0">
              <a:latin typeface="微软雅黑 Light" panose="020B0502040204020203" pitchFamily="34" charset="-122"/>
              <a:ea typeface="微软雅黑 Light" panose="020B0502040204020203" pitchFamily="34" charset="-122"/>
            </a:endParaRPr>
          </a:p>
        </p:txBody>
      </p:sp>
      <p:sp>
        <p:nvSpPr>
          <p:cNvPr id="23" name="Line 5"/>
          <p:cNvSpPr>
            <a:spLocks noChangeShapeType="1"/>
          </p:cNvSpPr>
          <p:nvPr/>
        </p:nvSpPr>
        <p:spPr bwMode="auto">
          <a:xfrm>
            <a:off x="585216" y="3382733"/>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r>
              <a:rPr lang="en-US" altLang="zh-CN" sz="1400" dirty="0">
                <a:latin typeface="微软雅黑 Light" panose="020B0502040204020203" pitchFamily="34" charset="-122"/>
                <a:ea typeface="微软雅黑 Light" panose="020B0502040204020203" pitchFamily="34" charset="-122"/>
              </a:rPr>
              <a:t> </a:t>
            </a:r>
            <a:endParaRPr lang="zh-CN" altLang="en-US" sz="1400" dirty="0">
              <a:latin typeface="微软雅黑 Light" panose="020B0502040204020203" pitchFamily="34" charset="-122"/>
              <a:ea typeface="微软雅黑 Light" panose="020B0502040204020203" pitchFamily="34" charset="-122"/>
            </a:endParaRPr>
          </a:p>
        </p:txBody>
      </p:sp>
      <p:sp>
        <p:nvSpPr>
          <p:cNvPr id="24" name="Line 5"/>
          <p:cNvSpPr>
            <a:spLocks noChangeShapeType="1"/>
          </p:cNvSpPr>
          <p:nvPr/>
        </p:nvSpPr>
        <p:spPr bwMode="auto">
          <a:xfrm>
            <a:off x="585216" y="3697053"/>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r>
              <a:rPr lang="en-US" altLang="zh-CN" sz="1400" dirty="0">
                <a:latin typeface="微软雅黑 Light" panose="020B0502040204020203" pitchFamily="34" charset="-122"/>
                <a:ea typeface="微软雅黑 Light" panose="020B0502040204020203" pitchFamily="34" charset="-122"/>
              </a:rPr>
              <a:t> </a:t>
            </a:r>
            <a:endParaRPr lang="zh-CN" altLang="en-US" sz="1400"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17421772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3451875" y="582898"/>
            <a:ext cx="225895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SNMP </a:t>
            </a:r>
            <a:r>
              <a:rPr lang="zh-CN" altLang="en-US" sz="2000" b="1" dirty="0">
                <a:solidFill>
                  <a:schemeClr val="bg1"/>
                </a:solidFill>
                <a:latin typeface="微软雅黑 Light" panose="020B0502040204020203" pitchFamily="34" charset="-122"/>
                <a:ea typeface="微软雅黑 Light" panose="020B0502040204020203" pitchFamily="34" charset="-122"/>
              </a:rPr>
              <a:t>的报文格式</a:t>
            </a:r>
          </a:p>
        </p:txBody>
      </p:sp>
      <p:grpSp>
        <p:nvGrpSpPr>
          <p:cNvPr id="60" name="组合 59"/>
          <p:cNvGrpSpPr/>
          <p:nvPr/>
        </p:nvGrpSpPr>
        <p:grpSpPr>
          <a:xfrm>
            <a:off x="714611" y="1275095"/>
            <a:ext cx="7636988" cy="2750850"/>
            <a:chOff x="284287" y="1433308"/>
            <a:chExt cx="9493249" cy="3419476"/>
          </a:xfrm>
        </p:grpSpPr>
        <p:grpSp>
          <p:nvGrpSpPr>
            <p:cNvPr id="5" name="Group 142"/>
            <p:cNvGrpSpPr>
              <a:grpSpLocks/>
            </p:cNvGrpSpPr>
            <p:nvPr/>
          </p:nvGrpSpPr>
          <p:grpSpPr bwMode="auto">
            <a:xfrm>
              <a:off x="7266640" y="4061197"/>
              <a:ext cx="2510896" cy="344488"/>
              <a:chOff x="4177" y="2324"/>
              <a:chExt cx="1460" cy="217"/>
            </a:xfrm>
          </p:grpSpPr>
          <p:sp>
            <p:nvSpPr>
              <p:cNvPr id="6" name="Line 119"/>
              <p:cNvSpPr>
                <a:spLocks noChangeShapeType="1"/>
              </p:cNvSpPr>
              <p:nvPr/>
            </p:nvSpPr>
            <p:spPr bwMode="auto">
              <a:xfrm flipV="1">
                <a:off x="4177" y="2444"/>
                <a:ext cx="1460"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7" name="Rectangle 122"/>
              <p:cNvSpPr>
                <a:spLocks noChangeArrowheads="1"/>
              </p:cNvSpPr>
              <p:nvPr/>
            </p:nvSpPr>
            <p:spPr bwMode="auto">
              <a:xfrm>
                <a:off x="4593" y="2324"/>
                <a:ext cx="579" cy="21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zh-CN" altLang="en-US" sz="1200" b="1" dirty="0">
                    <a:solidFill>
                      <a:srgbClr val="0000FF"/>
                    </a:solidFill>
                    <a:latin typeface="微软雅黑 Light" panose="020B0502040204020203" pitchFamily="34" charset="-122"/>
                    <a:ea typeface="微软雅黑 Light" panose="020B0502040204020203" pitchFamily="34" charset="-122"/>
                  </a:rPr>
                  <a:t>变量绑定</a:t>
                </a:r>
              </a:p>
            </p:txBody>
          </p:sp>
        </p:grpSp>
        <p:grpSp>
          <p:nvGrpSpPr>
            <p:cNvPr id="8" name="Group 141"/>
            <p:cNvGrpSpPr>
              <a:grpSpLocks/>
            </p:cNvGrpSpPr>
            <p:nvPr/>
          </p:nvGrpSpPr>
          <p:grpSpPr bwMode="auto">
            <a:xfrm>
              <a:off x="4100504" y="4061197"/>
              <a:ext cx="3154098" cy="344488"/>
              <a:chOff x="2336" y="2324"/>
              <a:chExt cx="1834" cy="217"/>
            </a:xfrm>
          </p:grpSpPr>
          <p:sp>
            <p:nvSpPr>
              <p:cNvPr id="9" name="Line 138"/>
              <p:cNvSpPr>
                <a:spLocks noChangeShapeType="1"/>
              </p:cNvSpPr>
              <p:nvPr/>
            </p:nvSpPr>
            <p:spPr bwMode="auto">
              <a:xfrm flipV="1">
                <a:off x="2336" y="2444"/>
                <a:ext cx="1834"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0" name="Rectangle 139"/>
              <p:cNvSpPr>
                <a:spLocks noChangeArrowheads="1"/>
              </p:cNvSpPr>
              <p:nvPr/>
            </p:nvSpPr>
            <p:spPr bwMode="auto">
              <a:xfrm>
                <a:off x="3032" y="2324"/>
                <a:ext cx="357" cy="21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zh-CN" altLang="en-US" sz="1200" b="1" dirty="0">
                    <a:solidFill>
                      <a:srgbClr val="0000FF"/>
                    </a:solidFill>
                    <a:latin typeface="微软雅黑 Light" panose="020B0502040204020203" pitchFamily="34" charset="-122"/>
                    <a:ea typeface="微软雅黑 Light" panose="020B0502040204020203" pitchFamily="34" charset="-122"/>
                  </a:rPr>
                  <a:t>首部</a:t>
                </a:r>
              </a:p>
            </p:txBody>
          </p:sp>
        </p:grpSp>
        <p:sp>
          <p:nvSpPr>
            <p:cNvPr id="11" name="Rectangle 88"/>
            <p:cNvSpPr>
              <a:spLocks noChangeArrowheads="1"/>
            </p:cNvSpPr>
            <p:nvPr/>
          </p:nvSpPr>
          <p:spPr bwMode="auto">
            <a:xfrm>
              <a:off x="299764" y="3567478"/>
              <a:ext cx="9458854" cy="441325"/>
            </a:xfrm>
            <a:prstGeom prst="rect">
              <a:avLst/>
            </a:prstGeom>
            <a:solidFill>
              <a:srgbClr val="00FFCC"/>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2" name="Rectangle 109"/>
            <p:cNvSpPr>
              <a:spLocks noChangeArrowheads="1"/>
            </p:cNvSpPr>
            <p:nvPr/>
          </p:nvSpPr>
          <p:spPr bwMode="auto">
            <a:xfrm>
              <a:off x="2968881" y="3562715"/>
              <a:ext cx="6791458" cy="446090"/>
            </a:xfrm>
            <a:prstGeom prst="rect">
              <a:avLst/>
            </a:prstGeom>
            <a:solidFill>
              <a:srgbClr val="00B050"/>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3" name="Rectangle 111"/>
            <p:cNvSpPr>
              <a:spLocks noChangeArrowheads="1"/>
            </p:cNvSpPr>
            <p:nvPr/>
          </p:nvSpPr>
          <p:spPr bwMode="auto">
            <a:xfrm>
              <a:off x="284287" y="3642089"/>
              <a:ext cx="9164115" cy="31069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lnSpc>
                  <a:spcPct val="85000"/>
                </a:lnSpc>
              </a:pPr>
              <a:r>
                <a:rPr kumimoji="1" lang="zh-CN" altLang="en-US" sz="1200" b="1" dirty="0">
                  <a:latin typeface="微软雅黑 Light" panose="020B0502040204020203" pitchFamily="34" charset="-122"/>
                  <a:ea typeface="微软雅黑 Light" panose="020B0502040204020203" pitchFamily="34" charset="-122"/>
                </a:rPr>
                <a:t>上下文引擎 </a:t>
              </a:r>
              <a:r>
                <a:rPr kumimoji="1" lang="en-US" altLang="zh-CN" sz="1200" b="1" dirty="0">
                  <a:latin typeface="微软雅黑 Light" panose="020B0502040204020203" pitchFamily="34" charset="-122"/>
                  <a:ea typeface="微软雅黑 Light" panose="020B0502040204020203" pitchFamily="34" charset="-122"/>
                </a:rPr>
                <a:t>ID      </a:t>
              </a:r>
              <a:r>
                <a:rPr kumimoji="1" lang="zh-CN" altLang="en-US" sz="1200" b="1" dirty="0">
                  <a:latin typeface="微软雅黑 Light" panose="020B0502040204020203" pitchFamily="34" charset="-122"/>
                  <a:ea typeface="微软雅黑 Light" panose="020B0502040204020203" pitchFamily="34" charset="-122"/>
                </a:rPr>
                <a:t>上下文名      </a:t>
              </a:r>
              <a:r>
                <a:rPr kumimoji="1" lang="en-US" altLang="zh-CN" sz="1200" b="1" dirty="0">
                  <a:solidFill>
                    <a:schemeClr val="bg1"/>
                  </a:solidFill>
                  <a:latin typeface="微软雅黑 Light" panose="020B0502040204020203" pitchFamily="34" charset="-122"/>
                  <a:ea typeface="微软雅黑 Light" panose="020B0502040204020203" pitchFamily="34" charset="-122"/>
                </a:rPr>
                <a:t>PDU </a:t>
              </a:r>
              <a:r>
                <a:rPr kumimoji="1" lang="zh-CN" altLang="en-US" sz="1200" b="1" dirty="0">
                  <a:solidFill>
                    <a:schemeClr val="bg1"/>
                  </a:solidFill>
                  <a:latin typeface="微软雅黑 Light" panose="020B0502040204020203" pitchFamily="34" charset="-122"/>
                  <a:ea typeface="微软雅黑 Light" panose="020B0502040204020203" pitchFamily="34" charset="-122"/>
                </a:rPr>
                <a:t>类型     请求 </a:t>
              </a:r>
              <a:r>
                <a:rPr kumimoji="1" lang="en-US" altLang="zh-CN" sz="1200" b="1" dirty="0">
                  <a:solidFill>
                    <a:schemeClr val="bg1"/>
                  </a:solidFill>
                  <a:latin typeface="微软雅黑 Light" panose="020B0502040204020203" pitchFamily="34" charset="-122"/>
                  <a:ea typeface="微软雅黑 Light" panose="020B0502040204020203" pitchFamily="34" charset="-122"/>
                </a:rPr>
                <a:t>ID      </a:t>
              </a:r>
              <a:r>
                <a:rPr kumimoji="1" lang="zh-CN" altLang="en-US" sz="1200" b="1" dirty="0">
                  <a:solidFill>
                    <a:schemeClr val="bg1"/>
                  </a:solidFill>
                  <a:latin typeface="微软雅黑 Light" panose="020B0502040204020203" pitchFamily="34" charset="-122"/>
                  <a:ea typeface="微软雅黑 Light" panose="020B0502040204020203" pitchFamily="34" charset="-122"/>
                </a:rPr>
                <a:t>差错状态      差错索引       名      值      名     值  </a:t>
              </a:r>
            </a:p>
          </p:txBody>
        </p:sp>
        <p:sp>
          <p:nvSpPr>
            <p:cNvPr id="14" name="Line 89"/>
            <p:cNvSpPr>
              <a:spLocks noChangeShapeType="1"/>
            </p:cNvSpPr>
            <p:nvPr/>
          </p:nvSpPr>
          <p:spPr bwMode="auto">
            <a:xfrm>
              <a:off x="2074589" y="2005377"/>
              <a:ext cx="7187010"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 name="Line 90"/>
            <p:cNvSpPr>
              <a:spLocks noChangeShapeType="1"/>
            </p:cNvSpPr>
            <p:nvPr/>
          </p:nvSpPr>
          <p:spPr bwMode="auto">
            <a:xfrm>
              <a:off x="2741869" y="2370502"/>
              <a:ext cx="6504252"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 name="Line 91"/>
            <p:cNvSpPr>
              <a:spLocks noChangeShapeType="1"/>
            </p:cNvSpPr>
            <p:nvPr/>
          </p:nvSpPr>
          <p:spPr bwMode="auto">
            <a:xfrm>
              <a:off x="2759066" y="2238739"/>
              <a:ext cx="0" cy="311150"/>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7" name="Line 92"/>
            <p:cNvSpPr>
              <a:spLocks noChangeShapeType="1"/>
            </p:cNvSpPr>
            <p:nvPr/>
          </p:nvSpPr>
          <p:spPr bwMode="auto">
            <a:xfrm>
              <a:off x="9261599" y="1537065"/>
              <a:ext cx="0" cy="993775"/>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 name="Rectangle 93"/>
            <p:cNvSpPr>
              <a:spLocks noChangeArrowheads="1"/>
            </p:cNvSpPr>
            <p:nvPr/>
          </p:nvSpPr>
          <p:spPr bwMode="auto">
            <a:xfrm>
              <a:off x="4726508" y="1830179"/>
              <a:ext cx="1289233" cy="345125"/>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en-US" altLang="zh-CN" sz="1200" b="1" dirty="0">
                  <a:solidFill>
                    <a:srgbClr val="0000FF"/>
                  </a:solidFill>
                  <a:latin typeface="微软雅黑 Light" panose="020B0502040204020203" pitchFamily="34" charset="-122"/>
                  <a:ea typeface="微软雅黑 Light" panose="020B0502040204020203" pitchFamily="34" charset="-122"/>
                </a:rPr>
                <a:t>UDP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数据报</a:t>
              </a:r>
            </a:p>
          </p:txBody>
        </p:sp>
        <p:sp>
          <p:nvSpPr>
            <p:cNvPr id="19" name="Line 94"/>
            <p:cNvSpPr>
              <a:spLocks noChangeShapeType="1"/>
            </p:cNvSpPr>
            <p:nvPr/>
          </p:nvSpPr>
          <p:spPr bwMode="auto">
            <a:xfrm>
              <a:off x="1390112" y="1459277"/>
              <a:ext cx="0" cy="1090612"/>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0" name="Line 95"/>
            <p:cNvSpPr>
              <a:spLocks noChangeShapeType="1"/>
            </p:cNvSpPr>
            <p:nvPr/>
          </p:nvSpPr>
          <p:spPr bwMode="auto">
            <a:xfrm flipV="1">
              <a:off x="1391832" y="1619614"/>
              <a:ext cx="7871486" cy="0"/>
            </a:xfrm>
            <a:prstGeom prst="line">
              <a:avLst/>
            </a:prstGeom>
            <a:noFill/>
            <a:ln w="12700">
              <a:solidFill>
                <a:schemeClr val="tx1"/>
              </a:solidFill>
              <a:round/>
              <a:headEnd type="stealth" w="sm" len="med"/>
              <a:tailEnd type="stealth"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Rectangle 96"/>
            <p:cNvSpPr>
              <a:spLocks noChangeArrowheads="1"/>
            </p:cNvSpPr>
            <p:nvPr/>
          </p:nvSpPr>
          <p:spPr bwMode="auto">
            <a:xfrm>
              <a:off x="4451343" y="1433308"/>
              <a:ext cx="1052110" cy="345125"/>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en-US" altLang="zh-CN" sz="1200" b="1" dirty="0">
                  <a:solidFill>
                    <a:srgbClr val="0000FF"/>
                  </a:solidFill>
                  <a:latin typeface="微软雅黑 Light" panose="020B0502040204020203" pitchFamily="34" charset="-122"/>
                  <a:ea typeface="微软雅黑 Light" panose="020B0502040204020203" pitchFamily="34" charset="-122"/>
                </a:rPr>
                <a:t>IP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数据报</a:t>
              </a:r>
            </a:p>
          </p:txBody>
        </p:sp>
        <p:sp>
          <p:nvSpPr>
            <p:cNvPr id="22" name="Rectangle 97"/>
            <p:cNvSpPr>
              <a:spLocks noChangeArrowheads="1"/>
            </p:cNvSpPr>
            <p:nvPr/>
          </p:nvSpPr>
          <p:spPr bwMode="auto">
            <a:xfrm>
              <a:off x="5208052" y="2190545"/>
              <a:ext cx="1203550" cy="345125"/>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en-US" altLang="zh-CN" sz="1200" b="1" dirty="0">
                  <a:solidFill>
                    <a:srgbClr val="CC00FF"/>
                  </a:solidFill>
                  <a:latin typeface="微软雅黑 Light" panose="020B0502040204020203" pitchFamily="34" charset="-122"/>
                  <a:ea typeface="微软雅黑 Light" panose="020B0502040204020203" pitchFamily="34" charset="-122"/>
                </a:rPr>
                <a:t>SNMP </a:t>
              </a:r>
              <a:r>
                <a:rPr kumimoji="1" lang="zh-CN" altLang="en-US" sz="1200" b="1" dirty="0">
                  <a:solidFill>
                    <a:srgbClr val="CC00FF"/>
                  </a:solidFill>
                  <a:latin typeface="微软雅黑 Light" panose="020B0502040204020203" pitchFamily="34" charset="-122"/>
                  <a:ea typeface="微软雅黑 Light" panose="020B0502040204020203" pitchFamily="34" charset="-122"/>
                </a:rPr>
                <a:t>报文</a:t>
              </a:r>
            </a:p>
          </p:txBody>
        </p:sp>
        <p:sp>
          <p:nvSpPr>
            <p:cNvPr id="23" name="Line 98"/>
            <p:cNvSpPr>
              <a:spLocks noChangeShapeType="1"/>
            </p:cNvSpPr>
            <p:nvPr/>
          </p:nvSpPr>
          <p:spPr bwMode="auto">
            <a:xfrm>
              <a:off x="2074589" y="1849802"/>
              <a:ext cx="0" cy="685800"/>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4" name="Rectangle 99"/>
            <p:cNvSpPr>
              <a:spLocks noChangeArrowheads="1"/>
            </p:cNvSpPr>
            <p:nvPr/>
          </p:nvSpPr>
          <p:spPr bwMode="auto">
            <a:xfrm>
              <a:off x="1390112" y="2602277"/>
              <a:ext cx="7871487" cy="563562"/>
            </a:xfrm>
            <a:prstGeom prst="rect">
              <a:avLst/>
            </a:prstGeom>
            <a:solidFill>
              <a:srgbClr val="99FFCC"/>
            </a:solidFill>
            <a:ln w="9525">
              <a:solidFill>
                <a:schemeClr val="folHlink"/>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25" name="Rectangle 100"/>
            <p:cNvSpPr>
              <a:spLocks noChangeArrowheads="1"/>
            </p:cNvSpPr>
            <p:nvPr/>
          </p:nvSpPr>
          <p:spPr bwMode="auto">
            <a:xfrm>
              <a:off x="1410749" y="2602276"/>
              <a:ext cx="613731" cy="52876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lnSpc>
                  <a:spcPct val="90000"/>
                </a:lnSpc>
              </a:pPr>
              <a:r>
                <a:rPr kumimoji="1" lang="en-US" altLang="zh-CN" sz="1200" b="1" dirty="0">
                  <a:latin typeface="微软雅黑 Light" panose="020B0502040204020203" pitchFamily="34" charset="-122"/>
                  <a:ea typeface="微软雅黑 Light" panose="020B0502040204020203" pitchFamily="34" charset="-122"/>
                </a:rPr>
                <a:t>  IP </a:t>
              </a:r>
            </a:p>
            <a:p>
              <a:pPr defTabSz="762000">
                <a:lnSpc>
                  <a:spcPct val="90000"/>
                </a:lnSpc>
              </a:pPr>
              <a:r>
                <a:rPr kumimoji="1" lang="zh-CN" altLang="en-US" sz="1200" b="1" dirty="0">
                  <a:latin typeface="微软雅黑 Light" panose="020B0502040204020203" pitchFamily="34" charset="-122"/>
                  <a:ea typeface="微软雅黑 Light" panose="020B0502040204020203" pitchFamily="34" charset="-122"/>
                </a:rPr>
                <a:t>首部</a:t>
              </a:r>
            </a:p>
          </p:txBody>
        </p:sp>
        <p:sp>
          <p:nvSpPr>
            <p:cNvPr id="26" name="Rectangle 101"/>
            <p:cNvSpPr>
              <a:spLocks noChangeArrowheads="1"/>
            </p:cNvSpPr>
            <p:nvPr/>
          </p:nvSpPr>
          <p:spPr bwMode="auto">
            <a:xfrm>
              <a:off x="2088347" y="2603864"/>
              <a:ext cx="671517" cy="52876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lnSpc>
                  <a:spcPct val="90000"/>
                </a:lnSpc>
              </a:pPr>
              <a:r>
                <a:rPr kumimoji="1" lang="en-US" altLang="zh-CN" sz="1200" b="1" dirty="0">
                  <a:latin typeface="微软雅黑 Light" panose="020B0502040204020203" pitchFamily="34" charset="-122"/>
                  <a:ea typeface="微软雅黑 Light" panose="020B0502040204020203" pitchFamily="34" charset="-122"/>
                </a:rPr>
                <a:t>UDP </a:t>
              </a:r>
            </a:p>
            <a:p>
              <a:pPr defTabSz="762000">
                <a:lnSpc>
                  <a:spcPct val="90000"/>
                </a:lnSpc>
              </a:pPr>
              <a:r>
                <a:rPr kumimoji="1" lang="zh-CN" altLang="en-US" sz="1200" b="1" dirty="0">
                  <a:latin typeface="微软雅黑 Light" panose="020B0502040204020203" pitchFamily="34" charset="-122"/>
                  <a:ea typeface="微软雅黑 Light" panose="020B0502040204020203" pitchFamily="34" charset="-122"/>
                </a:rPr>
                <a:t>首部</a:t>
              </a:r>
            </a:p>
          </p:txBody>
        </p:sp>
        <p:sp>
          <p:nvSpPr>
            <p:cNvPr id="27" name="Line 102"/>
            <p:cNvSpPr>
              <a:spLocks noChangeShapeType="1"/>
            </p:cNvSpPr>
            <p:nvPr/>
          </p:nvSpPr>
          <p:spPr bwMode="auto">
            <a:xfrm flipH="1">
              <a:off x="4666315" y="2602277"/>
              <a:ext cx="0" cy="563562"/>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8" name="Line 103"/>
            <p:cNvSpPr>
              <a:spLocks noChangeShapeType="1"/>
            </p:cNvSpPr>
            <p:nvPr/>
          </p:nvSpPr>
          <p:spPr bwMode="auto">
            <a:xfrm flipH="1">
              <a:off x="2074589" y="2602277"/>
              <a:ext cx="0" cy="563562"/>
            </a:xfrm>
            <a:prstGeom prst="line">
              <a:avLst/>
            </a:prstGeom>
            <a:noFill/>
            <a:ln w="12700">
              <a:solidFill>
                <a:schemeClr val="tx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 name="Line 104"/>
            <p:cNvSpPr>
              <a:spLocks noChangeShapeType="1"/>
            </p:cNvSpPr>
            <p:nvPr/>
          </p:nvSpPr>
          <p:spPr bwMode="auto">
            <a:xfrm flipH="1">
              <a:off x="2759066" y="2602277"/>
              <a:ext cx="0" cy="563562"/>
            </a:xfrm>
            <a:prstGeom prst="line">
              <a:avLst/>
            </a:prstGeom>
            <a:noFill/>
            <a:ln w="12700">
              <a:solidFill>
                <a:schemeClr val="tx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 name="Rectangle 105"/>
            <p:cNvSpPr>
              <a:spLocks noChangeArrowheads="1"/>
            </p:cNvSpPr>
            <p:nvPr/>
          </p:nvSpPr>
          <p:spPr bwMode="auto">
            <a:xfrm>
              <a:off x="5555448" y="2729276"/>
              <a:ext cx="2285550" cy="322171"/>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lnSpc>
                  <a:spcPct val="90000"/>
                </a:lnSpc>
              </a:pPr>
              <a:r>
                <a:rPr kumimoji="1" lang="en-US" altLang="zh-CN" sz="1200" b="1" dirty="0">
                  <a:solidFill>
                    <a:schemeClr val="bg1"/>
                  </a:solidFill>
                  <a:latin typeface="微软雅黑 Light" panose="020B0502040204020203" pitchFamily="34" charset="-122"/>
                  <a:ea typeface="微软雅黑 Light" panose="020B0502040204020203" pitchFamily="34" charset="-122"/>
                </a:rPr>
                <a:t>SNMP </a:t>
              </a:r>
              <a:r>
                <a:rPr kumimoji="1" lang="zh-CN" altLang="en-US" sz="1200" b="1" dirty="0">
                  <a:solidFill>
                    <a:schemeClr val="bg1"/>
                  </a:solidFill>
                  <a:latin typeface="微软雅黑 Light" panose="020B0502040204020203" pitchFamily="34" charset="-122"/>
                  <a:ea typeface="微软雅黑 Light" panose="020B0502040204020203" pitchFamily="34" charset="-122"/>
                </a:rPr>
                <a:t>报文的数据部分 </a:t>
              </a:r>
            </a:p>
          </p:txBody>
        </p:sp>
        <p:sp>
          <p:nvSpPr>
            <p:cNvPr id="32" name="Rectangle 145"/>
            <p:cNvSpPr>
              <a:spLocks noChangeArrowheads="1"/>
            </p:cNvSpPr>
            <p:nvPr/>
          </p:nvSpPr>
          <p:spPr bwMode="auto">
            <a:xfrm>
              <a:off x="2759065" y="2602276"/>
              <a:ext cx="1918473" cy="563563"/>
            </a:xfrm>
            <a:prstGeom prst="rect">
              <a:avLst/>
            </a:prstGeom>
            <a:solidFill>
              <a:srgbClr val="CC00CC"/>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33" name="Line 106"/>
            <p:cNvSpPr>
              <a:spLocks noChangeShapeType="1"/>
            </p:cNvSpPr>
            <p:nvPr/>
          </p:nvSpPr>
          <p:spPr bwMode="auto">
            <a:xfrm flipH="1">
              <a:off x="3371312" y="2602277"/>
              <a:ext cx="0" cy="563562"/>
            </a:xfrm>
            <a:prstGeom prst="line">
              <a:avLst/>
            </a:prstGeom>
            <a:noFill/>
            <a:ln w="12700">
              <a:solidFill>
                <a:schemeClr val="tx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4" name="Rectangle 107"/>
            <p:cNvSpPr>
              <a:spLocks noChangeArrowheads="1"/>
            </p:cNvSpPr>
            <p:nvPr/>
          </p:nvSpPr>
          <p:spPr bwMode="auto">
            <a:xfrm>
              <a:off x="2726390" y="2749914"/>
              <a:ext cx="613731" cy="322171"/>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lnSpc>
                  <a:spcPct val="90000"/>
                </a:lnSpc>
              </a:pPr>
              <a:r>
                <a:rPr kumimoji="1" lang="zh-CN" altLang="en-US" sz="1200" b="1" dirty="0">
                  <a:solidFill>
                    <a:schemeClr val="bg1"/>
                  </a:solidFill>
                  <a:latin typeface="微软雅黑 Light" panose="020B0502040204020203" pitchFamily="34" charset="-122"/>
                  <a:ea typeface="微软雅黑 Light" panose="020B0502040204020203" pitchFamily="34" charset="-122"/>
                </a:rPr>
                <a:t>版本</a:t>
              </a:r>
            </a:p>
          </p:txBody>
        </p:sp>
        <p:sp>
          <p:nvSpPr>
            <p:cNvPr id="35" name="Rectangle 108"/>
            <p:cNvSpPr>
              <a:spLocks noChangeArrowheads="1"/>
            </p:cNvSpPr>
            <p:nvPr/>
          </p:nvSpPr>
          <p:spPr bwMode="auto">
            <a:xfrm>
              <a:off x="3355835" y="2738803"/>
              <a:ext cx="613731" cy="322171"/>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lnSpc>
                  <a:spcPct val="90000"/>
                </a:lnSpc>
              </a:pPr>
              <a:r>
                <a:rPr kumimoji="1" lang="zh-CN" altLang="en-US" sz="1200" b="1" dirty="0">
                  <a:solidFill>
                    <a:schemeClr val="bg1"/>
                  </a:solidFill>
                  <a:latin typeface="微软雅黑 Light" panose="020B0502040204020203" pitchFamily="34" charset="-122"/>
                  <a:ea typeface="微软雅黑 Light" panose="020B0502040204020203" pitchFamily="34" charset="-122"/>
                </a:rPr>
                <a:t>首部</a:t>
              </a:r>
            </a:p>
          </p:txBody>
        </p:sp>
        <p:sp>
          <p:nvSpPr>
            <p:cNvPr id="36" name="Line 110"/>
            <p:cNvSpPr>
              <a:spLocks noChangeShapeType="1"/>
            </p:cNvSpPr>
            <p:nvPr/>
          </p:nvSpPr>
          <p:spPr bwMode="auto">
            <a:xfrm>
              <a:off x="9349308" y="3567477"/>
              <a:ext cx="6879" cy="442912"/>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7" name="Text Box 112"/>
            <p:cNvSpPr txBox="1">
              <a:spLocks noChangeArrowheads="1"/>
            </p:cNvSpPr>
            <p:nvPr/>
          </p:nvSpPr>
          <p:spPr bwMode="auto">
            <a:xfrm>
              <a:off x="9342804" y="3563478"/>
              <a:ext cx="367044" cy="344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38" name="Rectangle 113"/>
            <p:cNvSpPr>
              <a:spLocks noChangeArrowheads="1"/>
            </p:cNvSpPr>
            <p:nvPr/>
          </p:nvSpPr>
          <p:spPr bwMode="auto">
            <a:xfrm>
              <a:off x="1304122" y="2291127"/>
              <a:ext cx="906648" cy="3451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en-US" altLang="zh-CN" sz="1200" b="1" dirty="0">
                  <a:latin typeface="微软雅黑 Light" panose="020B0502040204020203" pitchFamily="34" charset="-122"/>
                  <a:ea typeface="微软雅黑 Light" panose="020B0502040204020203" pitchFamily="34" charset="-122"/>
                </a:rPr>
                <a:t>20 </a:t>
              </a:r>
              <a:r>
                <a:rPr kumimoji="1" lang="zh-CN" altLang="en-US" sz="1200" b="1" dirty="0">
                  <a:latin typeface="微软雅黑 Light" panose="020B0502040204020203" pitchFamily="34" charset="-122"/>
                  <a:ea typeface="微软雅黑 Light" panose="020B0502040204020203" pitchFamily="34" charset="-122"/>
                </a:rPr>
                <a:t>字节</a:t>
              </a:r>
            </a:p>
          </p:txBody>
        </p:sp>
        <p:sp>
          <p:nvSpPr>
            <p:cNvPr id="39" name="Rectangle 114"/>
            <p:cNvSpPr>
              <a:spLocks noChangeArrowheads="1"/>
            </p:cNvSpPr>
            <p:nvPr/>
          </p:nvSpPr>
          <p:spPr bwMode="auto">
            <a:xfrm>
              <a:off x="2050511" y="2291127"/>
              <a:ext cx="789082" cy="3451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folHlink"/>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en-US" altLang="zh-CN" sz="1200" b="1" dirty="0">
                  <a:latin typeface="微软雅黑 Light" panose="020B0502040204020203" pitchFamily="34" charset="-122"/>
                  <a:ea typeface="微软雅黑 Light" panose="020B0502040204020203" pitchFamily="34" charset="-122"/>
                </a:rPr>
                <a:t>8 </a:t>
              </a:r>
              <a:r>
                <a:rPr kumimoji="1" lang="zh-CN" altLang="en-US" sz="1200" b="1" dirty="0">
                  <a:latin typeface="微软雅黑 Light" panose="020B0502040204020203" pitchFamily="34" charset="-122"/>
                  <a:ea typeface="微软雅黑 Light" panose="020B0502040204020203" pitchFamily="34" charset="-122"/>
                </a:rPr>
                <a:t>字节</a:t>
              </a:r>
            </a:p>
          </p:txBody>
        </p:sp>
        <p:sp>
          <p:nvSpPr>
            <p:cNvPr id="40" name="Line 115"/>
            <p:cNvSpPr>
              <a:spLocks noChangeShapeType="1"/>
            </p:cNvSpPr>
            <p:nvPr/>
          </p:nvSpPr>
          <p:spPr bwMode="auto">
            <a:xfrm flipH="1">
              <a:off x="9760338" y="4083415"/>
              <a:ext cx="0" cy="4413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1" name="Line 118"/>
            <p:cNvSpPr>
              <a:spLocks noChangeShapeType="1"/>
            </p:cNvSpPr>
            <p:nvPr/>
          </p:nvSpPr>
          <p:spPr bwMode="auto">
            <a:xfrm flipV="1">
              <a:off x="3003277" y="4499339"/>
              <a:ext cx="6772540"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2" name="Line 120"/>
            <p:cNvSpPr>
              <a:spLocks noChangeShapeType="1"/>
            </p:cNvSpPr>
            <p:nvPr/>
          </p:nvSpPr>
          <p:spPr bwMode="auto">
            <a:xfrm>
              <a:off x="2968880"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3" name="Rectangle 121"/>
            <p:cNvSpPr>
              <a:spLocks noChangeArrowheads="1"/>
            </p:cNvSpPr>
            <p:nvPr/>
          </p:nvSpPr>
          <p:spPr bwMode="auto">
            <a:xfrm>
              <a:off x="5834054" y="4386058"/>
              <a:ext cx="1205543" cy="345125"/>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en-US" altLang="zh-CN" sz="1200" b="1" dirty="0">
                  <a:solidFill>
                    <a:srgbClr val="C00000"/>
                  </a:solidFill>
                  <a:latin typeface="微软雅黑 Light" panose="020B0502040204020203" pitchFamily="34" charset="-122"/>
                  <a:ea typeface="微软雅黑 Light" panose="020B0502040204020203" pitchFamily="34" charset="-122"/>
                </a:rPr>
                <a:t>SNMP PDU</a:t>
              </a:r>
            </a:p>
          </p:txBody>
        </p:sp>
        <p:sp>
          <p:nvSpPr>
            <p:cNvPr id="44" name="Line 123"/>
            <p:cNvSpPr>
              <a:spLocks noChangeShapeType="1"/>
            </p:cNvSpPr>
            <p:nvPr/>
          </p:nvSpPr>
          <p:spPr bwMode="auto">
            <a:xfrm flipH="1">
              <a:off x="4019674" y="2610215"/>
              <a:ext cx="0" cy="563563"/>
            </a:xfrm>
            <a:prstGeom prst="line">
              <a:avLst/>
            </a:prstGeom>
            <a:noFill/>
            <a:ln w="12700">
              <a:solidFill>
                <a:schemeClr val="tx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6" name="Line 125"/>
            <p:cNvSpPr>
              <a:spLocks noChangeShapeType="1"/>
            </p:cNvSpPr>
            <p:nvPr/>
          </p:nvSpPr>
          <p:spPr bwMode="auto">
            <a:xfrm>
              <a:off x="4100503"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7" name="Line 126"/>
            <p:cNvSpPr>
              <a:spLocks noChangeShapeType="1"/>
            </p:cNvSpPr>
            <p:nvPr/>
          </p:nvSpPr>
          <p:spPr bwMode="auto">
            <a:xfrm>
              <a:off x="5070466"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8" name="Line 127"/>
            <p:cNvSpPr>
              <a:spLocks noChangeShapeType="1"/>
            </p:cNvSpPr>
            <p:nvPr/>
          </p:nvSpPr>
          <p:spPr bwMode="auto">
            <a:xfrm>
              <a:off x="6202089"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9" name="Line 128"/>
            <p:cNvSpPr>
              <a:spLocks noChangeShapeType="1"/>
            </p:cNvSpPr>
            <p:nvPr/>
          </p:nvSpPr>
          <p:spPr bwMode="auto">
            <a:xfrm>
              <a:off x="7254601"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0" name="Line 129"/>
            <p:cNvSpPr>
              <a:spLocks noChangeShapeType="1"/>
            </p:cNvSpPr>
            <p:nvPr/>
          </p:nvSpPr>
          <p:spPr bwMode="auto">
            <a:xfrm>
              <a:off x="7820413"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1" name="Line 130"/>
            <p:cNvSpPr>
              <a:spLocks noChangeShapeType="1"/>
            </p:cNvSpPr>
            <p:nvPr/>
          </p:nvSpPr>
          <p:spPr bwMode="auto">
            <a:xfrm>
              <a:off x="8386224"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2" name="Line 131"/>
            <p:cNvSpPr>
              <a:spLocks noChangeShapeType="1"/>
            </p:cNvSpPr>
            <p:nvPr/>
          </p:nvSpPr>
          <p:spPr bwMode="auto">
            <a:xfrm>
              <a:off x="8871205"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3" name="Line 132"/>
            <p:cNvSpPr>
              <a:spLocks noChangeShapeType="1"/>
            </p:cNvSpPr>
            <p:nvPr/>
          </p:nvSpPr>
          <p:spPr bwMode="auto">
            <a:xfrm flipH="1">
              <a:off x="7254601" y="4083414"/>
              <a:ext cx="0" cy="298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4" name="Line 133"/>
            <p:cNvSpPr>
              <a:spLocks noChangeShapeType="1"/>
            </p:cNvSpPr>
            <p:nvPr/>
          </p:nvSpPr>
          <p:spPr bwMode="auto">
            <a:xfrm flipH="1">
              <a:off x="2968880" y="4083415"/>
              <a:ext cx="0" cy="4413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5" name="Line 134"/>
            <p:cNvSpPr>
              <a:spLocks noChangeShapeType="1"/>
            </p:cNvSpPr>
            <p:nvPr/>
          </p:nvSpPr>
          <p:spPr bwMode="auto">
            <a:xfrm>
              <a:off x="1916368"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6" name="Rectangle 135"/>
            <p:cNvSpPr>
              <a:spLocks noChangeArrowheads="1"/>
            </p:cNvSpPr>
            <p:nvPr/>
          </p:nvSpPr>
          <p:spPr bwMode="auto">
            <a:xfrm>
              <a:off x="903595" y="4278108"/>
              <a:ext cx="1378901" cy="574676"/>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algn="ctr" defTabSz="762000"/>
              <a:r>
                <a:rPr kumimoji="1" lang="zh-CN" altLang="en-US" sz="1200" b="1" dirty="0">
                  <a:solidFill>
                    <a:srgbClr val="0000FF"/>
                  </a:solidFill>
                  <a:latin typeface="微软雅黑 Light" panose="020B0502040204020203" pitchFamily="34" charset="-122"/>
                  <a:ea typeface="微软雅黑 Light" panose="020B0502040204020203" pitchFamily="34" charset="-122"/>
                </a:rPr>
                <a:t>有关加密信息</a:t>
              </a:r>
            </a:p>
            <a:p>
              <a:pPr algn="ctr" defTabSz="762000"/>
              <a:r>
                <a:rPr kumimoji="1" lang="zh-CN" altLang="en-US" sz="1200" b="1" dirty="0">
                  <a:solidFill>
                    <a:srgbClr val="0000FF"/>
                  </a:solidFill>
                  <a:latin typeface="微软雅黑 Light" panose="020B0502040204020203" pitchFamily="34" charset="-122"/>
                  <a:ea typeface="微软雅黑 Light" panose="020B0502040204020203" pitchFamily="34" charset="-122"/>
                </a:rPr>
                <a:t>的字段</a:t>
              </a:r>
            </a:p>
          </p:txBody>
        </p:sp>
        <p:sp>
          <p:nvSpPr>
            <p:cNvPr id="57" name="AutoShape 136"/>
            <p:cNvSpPr>
              <a:spLocks/>
            </p:cNvSpPr>
            <p:nvPr/>
          </p:nvSpPr>
          <p:spPr bwMode="auto">
            <a:xfrm rot="-5400000">
              <a:off x="1500972" y="2877444"/>
              <a:ext cx="225425" cy="2627842"/>
            </a:xfrm>
            <a:prstGeom prst="leftBrace">
              <a:avLst>
                <a:gd name="adj1" fmla="val 89671"/>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58" name="Line 137"/>
            <p:cNvSpPr>
              <a:spLocks noChangeShapeType="1"/>
            </p:cNvSpPr>
            <p:nvPr/>
          </p:nvSpPr>
          <p:spPr bwMode="auto">
            <a:xfrm flipH="1">
              <a:off x="4100503" y="4083414"/>
              <a:ext cx="0" cy="298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9" name="Freeform 143"/>
            <p:cNvSpPr>
              <a:spLocks/>
            </p:cNvSpPr>
            <p:nvPr/>
          </p:nvSpPr>
          <p:spPr bwMode="auto">
            <a:xfrm>
              <a:off x="320400" y="3153141"/>
              <a:ext cx="9431338" cy="409574"/>
            </a:xfrm>
            <a:custGeom>
              <a:avLst/>
              <a:gdLst>
                <a:gd name="T0" fmla="*/ 0 w 5484"/>
                <a:gd name="T1" fmla="*/ 2147483646 h 240"/>
                <a:gd name="T2" fmla="*/ 2147483646 w 5484"/>
                <a:gd name="T3" fmla="*/ 2147483646 h 240"/>
                <a:gd name="T4" fmla="*/ 2147483646 w 5484"/>
                <a:gd name="T5" fmla="*/ 0 h 240"/>
                <a:gd name="T6" fmla="*/ 2147483646 w 5484"/>
                <a:gd name="T7" fmla="*/ 2147483646 h 240"/>
                <a:gd name="T8" fmla="*/ 0 w 5484"/>
                <a:gd name="T9" fmla="*/ 2147483646 h 2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84" h="240">
                  <a:moveTo>
                    <a:pt x="0" y="240"/>
                  </a:moveTo>
                  <a:lnTo>
                    <a:pt x="2526" y="12"/>
                  </a:lnTo>
                  <a:lnTo>
                    <a:pt x="5202" y="0"/>
                  </a:lnTo>
                  <a:lnTo>
                    <a:pt x="5484" y="240"/>
                  </a:lnTo>
                  <a:lnTo>
                    <a:pt x="0" y="240"/>
                  </a:lnTo>
                  <a:close/>
                </a:path>
              </a:pathLst>
            </a:custGeom>
            <a:gradFill flip="none" rotWithShape="1">
              <a:gsLst>
                <a:gs pos="0">
                  <a:srgbClr val="00B0F0">
                    <a:shade val="30000"/>
                    <a:satMod val="115000"/>
                  </a:srgbClr>
                </a:gs>
                <a:gs pos="50000">
                  <a:srgbClr val="00B0F0">
                    <a:shade val="67500"/>
                    <a:satMod val="115000"/>
                  </a:srgbClr>
                </a:gs>
                <a:gs pos="100000">
                  <a:srgbClr val="00B0F0">
                    <a:shade val="100000"/>
                    <a:satMod val="115000"/>
                  </a:srgbClr>
                </a:gs>
              </a:gsLst>
              <a:lin ang="5400000" scaled="1"/>
              <a:tileRect/>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 name="Rectangle 144"/>
            <p:cNvSpPr>
              <a:spLocks noChangeArrowheads="1"/>
            </p:cNvSpPr>
            <p:nvPr/>
          </p:nvSpPr>
          <p:spPr bwMode="auto">
            <a:xfrm>
              <a:off x="4683513" y="2602276"/>
              <a:ext cx="4572926" cy="550864"/>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solidFill>
                  <a:schemeClr val="bg1"/>
                </a:solidFill>
                <a:latin typeface="微软雅黑 Light" panose="020B0502040204020203" pitchFamily="34" charset="-122"/>
                <a:ea typeface="微软雅黑 Light" panose="020B0502040204020203" pitchFamily="34" charset="-122"/>
              </a:endParaRPr>
            </a:p>
          </p:txBody>
        </p:sp>
      </p:grpSp>
      <p:sp>
        <p:nvSpPr>
          <p:cNvPr id="61" name="Rectangle 124"/>
          <p:cNvSpPr>
            <a:spLocks noChangeArrowheads="1"/>
          </p:cNvSpPr>
          <p:nvPr/>
        </p:nvSpPr>
        <p:spPr bwMode="auto">
          <a:xfrm>
            <a:off x="3748055" y="2229538"/>
            <a:ext cx="493725" cy="42537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algn="ctr" defTabSz="762000">
              <a:lnSpc>
                <a:spcPct val="90000"/>
              </a:lnSpc>
            </a:pPr>
            <a:r>
              <a:rPr kumimoji="1" lang="zh-CN" altLang="en-US" sz="1200" b="1" dirty="0">
                <a:solidFill>
                  <a:schemeClr val="bg1"/>
                </a:solidFill>
                <a:latin typeface="微软雅黑 Light" panose="020B0502040204020203" pitchFamily="34" charset="-122"/>
                <a:ea typeface="微软雅黑 Light" panose="020B0502040204020203" pitchFamily="34" charset="-122"/>
              </a:rPr>
              <a:t>安全</a:t>
            </a:r>
          </a:p>
          <a:p>
            <a:pPr algn="ctr" defTabSz="762000">
              <a:lnSpc>
                <a:spcPct val="90000"/>
              </a:lnSpc>
            </a:pPr>
            <a:r>
              <a:rPr kumimoji="1" lang="zh-CN" altLang="en-US" sz="1200" b="1" dirty="0">
                <a:solidFill>
                  <a:schemeClr val="bg1"/>
                </a:solidFill>
                <a:latin typeface="微软雅黑 Light" panose="020B0502040204020203" pitchFamily="34" charset="-122"/>
                <a:ea typeface="微软雅黑 Light" panose="020B0502040204020203" pitchFamily="34" charset="-122"/>
              </a:rPr>
              <a:t>参数</a:t>
            </a:r>
          </a:p>
        </p:txBody>
      </p:sp>
    </p:spTree>
    <p:extLst>
      <p:ext uri="{BB962C8B-B14F-4D97-AF65-F5344CB8AC3E}">
        <p14:creationId xmlns:p14="http://schemas.microsoft.com/office/powerpoint/2010/main" val="33599791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4943"/>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775761" y="581732"/>
            <a:ext cx="361118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Get-request </a:t>
            </a:r>
            <a:r>
              <a:rPr lang="zh-CN" altLang="en-US" sz="2000" b="1" dirty="0">
                <a:solidFill>
                  <a:schemeClr val="bg1"/>
                </a:solidFill>
                <a:latin typeface="微软雅黑 Light" panose="020B0502040204020203" pitchFamily="34" charset="-122"/>
                <a:ea typeface="微软雅黑 Light" panose="020B0502040204020203" pitchFamily="34" charset="-122"/>
              </a:rPr>
              <a:t>报文 </a:t>
            </a:r>
            <a:r>
              <a:rPr lang="en-US" altLang="zh-CN" sz="2000" b="1" dirty="0">
                <a:solidFill>
                  <a:schemeClr val="bg1"/>
                </a:solidFill>
                <a:latin typeface="微软雅黑 Light" panose="020B0502040204020203" pitchFamily="34" charset="-122"/>
                <a:ea typeface="微软雅黑 Light" panose="020B0502040204020203" pitchFamily="34" charset="-122"/>
              </a:rPr>
              <a:t>ASN.1 </a:t>
            </a:r>
            <a:r>
              <a:rPr lang="zh-CN" altLang="en-US" sz="2000" b="1" dirty="0">
                <a:solidFill>
                  <a:schemeClr val="bg1"/>
                </a:solidFill>
                <a:latin typeface="微软雅黑 Light" panose="020B0502040204020203" pitchFamily="34" charset="-122"/>
                <a:ea typeface="微软雅黑 Light" panose="020B0502040204020203" pitchFamily="34" charset="-122"/>
              </a:rPr>
              <a:t>定义</a:t>
            </a:r>
          </a:p>
        </p:txBody>
      </p:sp>
      <p:sp>
        <p:nvSpPr>
          <p:cNvPr id="5" name="矩形 4"/>
          <p:cNvSpPr/>
          <p:nvPr/>
        </p:nvSpPr>
        <p:spPr>
          <a:xfrm>
            <a:off x="903285" y="1246382"/>
            <a:ext cx="7533684" cy="1938992"/>
          </a:xfrm>
          <a:prstGeom prst="rect">
            <a:avLst/>
          </a:prstGeom>
        </p:spPr>
        <p:txBody>
          <a:bodyPr wrap="square">
            <a:spAutoFit/>
          </a:bodyPr>
          <a:lstStyle/>
          <a:p>
            <a:pPr hangingPunct="0">
              <a:lnSpc>
                <a:spcPts val="2400"/>
              </a:lnSpc>
            </a:pPr>
            <a:r>
              <a:rPr lang="en-US" altLang="zh-CN" sz="1400" b="1" dirty="0">
                <a:latin typeface="微软雅黑 Light" panose="020B0502040204020203" pitchFamily="34" charset="-122"/>
                <a:ea typeface="微软雅黑 Light" panose="020B0502040204020203" pitchFamily="34" charset="-122"/>
              </a:rPr>
              <a:t>Get-request-PDU ::</a:t>
            </a:r>
            <a:r>
              <a:rPr lang="en-US" altLang="zh-CN" sz="1400" b="1" dirty="0">
                <a:latin typeface="微软雅黑 Light" panose="020B0502040204020203" pitchFamily="34" charset="-122"/>
                <a:ea typeface="微软雅黑 Light" panose="020B0502040204020203" pitchFamily="34" charset="-122"/>
                <a:sym typeface="Symbol"/>
              </a:rPr>
              <a:t></a:t>
            </a:r>
            <a:r>
              <a:rPr lang="en-US" altLang="zh-CN" sz="1400" b="1" dirty="0">
                <a:latin typeface="微软雅黑 Light" panose="020B0502040204020203" pitchFamily="34" charset="-122"/>
                <a:ea typeface="微软雅黑 Light" panose="020B0502040204020203" pitchFamily="34" charset="-122"/>
              </a:rPr>
              <a:t> [0]                      --[0] </a:t>
            </a:r>
            <a:r>
              <a:rPr lang="zh-CN" altLang="zh-CN" sz="1400" b="1" dirty="0">
                <a:latin typeface="微软雅黑 Light" panose="020B0502040204020203" pitchFamily="34" charset="-122"/>
                <a:ea typeface="微软雅黑 Light" panose="020B0502040204020203" pitchFamily="34" charset="-122"/>
              </a:rPr>
              <a:t>表示上下文类，编号为</a:t>
            </a:r>
            <a:r>
              <a:rPr lang="en-US" altLang="zh-CN" sz="1400" b="1" dirty="0">
                <a:latin typeface="微软雅黑 Light" panose="020B0502040204020203" pitchFamily="34" charset="-122"/>
                <a:ea typeface="微软雅黑 Light" panose="020B0502040204020203" pitchFamily="34" charset="-122"/>
              </a:rPr>
              <a:t> 0</a:t>
            </a:r>
            <a:endParaRPr lang="zh-CN" altLang="zh-CN" sz="1400" b="1" dirty="0">
              <a:latin typeface="微软雅黑 Light" panose="020B0502040204020203" pitchFamily="34" charset="-122"/>
              <a:ea typeface="微软雅黑 Light" panose="020B0502040204020203" pitchFamily="34" charset="-122"/>
            </a:endParaRPr>
          </a:p>
          <a:p>
            <a:pPr hangingPunct="0">
              <a:lnSpc>
                <a:spcPts val="2400"/>
              </a:lnSpc>
            </a:pPr>
            <a:r>
              <a:rPr lang="en-US" altLang="zh-CN" sz="1400" b="1" dirty="0">
                <a:latin typeface="微软雅黑 Light" panose="020B0502040204020203" pitchFamily="34" charset="-122"/>
                <a:ea typeface="微软雅黑 Light" panose="020B0502040204020203" pitchFamily="34" charset="-122"/>
              </a:rPr>
              <a:t>  IMPLICIT SEQUENCE {                      --</a:t>
            </a:r>
            <a:r>
              <a:rPr lang="zh-CN" altLang="zh-CN" sz="1400" b="1" dirty="0">
                <a:latin typeface="微软雅黑 Light" panose="020B0502040204020203" pitchFamily="34" charset="-122"/>
                <a:ea typeface="微软雅黑 Light" panose="020B0502040204020203" pitchFamily="34" charset="-122"/>
              </a:rPr>
              <a:t>类型是</a:t>
            </a:r>
            <a:r>
              <a:rPr lang="en-US" altLang="zh-CN" sz="1400" b="1" dirty="0">
                <a:latin typeface="微软雅黑 Light" panose="020B0502040204020203" pitchFamily="34" charset="-122"/>
                <a:ea typeface="微软雅黑 Light" panose="020B0502040204020203" pitchFamily="34" charset="-122"/>
              </a:rPr>
              <a:t> SEQUENCE</a:t>
            </a:r>
            <a:endParaRPr lang="zh-CN" altLang="zh-CN" sz="1400" b="1" dirty="0">
              <a:latin typeface="微软雅黑 Light" panose="020B0502040204020203" pitchFamily="34" charset="-122"/>
              <a:ea typeface="微软雅黑 Light" panose="020B0502040204020203" pitchFamily="34" charset="-122"/>
            </a:endParaRPr>
          </a:p>
          <a:p>
            <a:pPr hangingPunct="0">
              <a:lnSpc>
                <a:spcPts val="2400"/>
              </a:lnSpc>
            </a:pPr>
            <a:r>
              <a:rPr lang="en-US" altLang="zh-CN" sz="1400" b="1" dirty="0">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request-id</a:t>
            </a:r>
            <a:r>
              <a:rPr lang="en-US" altLang="zh-CN" sz="1400" b="1" dirty="0">
                <a:latin typeface="微软雅黑 Light" panose="020B0502040204020203" pitchFamily="34" charset="-122"/>
                <a:ea typeface="微软雅黑 Light" panose="020B0502040204020203" pitchFamily="34" charset="-122"/>
              </a:rPr>
              <a:t>      integer32,                --</a:t>
            </a:r>
            <a:r>
              <a:rPr lang="zh-CN" altLang="zh-CN" sz="1400" b="1" dirty="0">
                <a:latin typeface="微软雅黑 Light" panose="020B0502040204020203" pitchFamily="34" charset="-122"/>
                <a:ea typeface="微软雅黑 Light" panose="020B0502040204020203" pitchFamily="34" charset="-122"/>
              </a:rPr>
              <a:t>变量</a:t>
            </a:r>
            <a:r>
              <a:rPr lang="en-US" altLang="zh-CN" sz="1400" b="1" dirty="0">
                <a:latin typeface="微软雅黑 Light" panose="020B0502040204020203" pitchFamily="34" charset="-122"/>
                <a:ea typeface="微软雅黑 Light" panose="020B0502040204020203" pitchFamily="34" charset="-122"/>
              </a:rPr>
              <a:t> request-id </a:t>
            </a:r>
            <a:r>
              <a:rPr lang="zh-CN" altLang="zh-CN" sz="1400" b="1" dirty="0">
                <a:latin typeface="微软雅黑 Light" panose="020B0502040204020203" pitchFamily="34" charset="-122"/>
                <a:ea typeface="微软雅黑 Light" panose="020B0502040204020203" pitchFamily="34" charset="-122"/>
              </a:rPr>
              <a:t>的类型是</a:t>
            </a:r>
            <a:r>
              <a:rPr lang="en-US" altLang="zh-CN" sz="1400" b="1" dirty="0">
                <a:latin typeface="微软雅黑 Light" panose="020B0502040204020203" pitchFamily="34" charset="-122"/>
                <a:ea typeface="微软雅黑 Light" panose="020B0502040204020203" pitchFamily="34" charset="-122"/>
              </a:rPr>
              <a:t> integer32</a:t>
            </a:r>
            <a:endParaRPr lang="zh-CN" altLang="zh-CN" sz="1400" b="1" dirty="0">
              <a:latin typeface="微软雅黑 Light" panose="020B0502040204020203" pitchFamily="34" charset="-122"/>
              <a:ea typeface="微软雅黑 Light" panose="020B0502040204020203" pitchFamily="34" charset="-122"/>
            </a:endParaRPr>
          </a:p>
          <a:p>
            <a:pPr hangingPunct="0">
              <a:lnSpc>
                <a:spcPts val="2400"/>
              </a:lnSpc>
            </a:pPr>
            <a:r>
              <a:rPr lang="en-US" altLang="zh-CN" sz="1400" b="1" dirty="0">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error-status</a:t>
            </a:r>
            <a:r>
              <a:rPr lang="en-US" altLang="zh-CN" sz="1400" b="1" dirty="0">
                <a:latin typeface="微软雅黑 Light" panose="020B0502040204020203" pitchFamily="34" charset="-122"/>
                <a:ea typeface="微软雅黑 Light" panose="020B0502040204020203" pitchFamily="34" charset="-122"/>
              </a:rPr>
              <a:t>   INTEGER {0..18},     --</a:t>
            </a:r>
            <a:r>
              <a:rPr lang="zh-CN" altLang="zh-CN" sz="1400" b="1" dirty="0">
                <a:latin typeface="微软雅黑 Light" panose="020B0502040204020203" pitchFamily="34" charset="-122"/>
                <a:ea typeface="微软雅黑 Light" panose="020B0502040204020203" pitchFamily="34" charset="-122"/>
              </a:rPr>
              <a:t>变量</a:t>
            </a:r>
            <a:r>
              <a:rPr lang="en-US" altLang="zh-CN" sz="1400" b="1" dirty="0">
                <a:latin typeface="微软雅黑 Light" panose="020B0502040204020203" pitchFamily="34" charset="-122"/>
                <a:ea typeface="微软雅黑 Light" panose="020B0502040204020203" pitchFamily="34" charset="-122"/>
              </a:rPr>
              <a:t> error-status </a:t>
            </a:r>
            <a:r>
              <a:rPr lang="zh-CN" altLang="zh-CN" sz="1400" b="1" dirty="0">
                <a:latin typeface="微软雅黑 Light" panose="020B0502040204020203" pitchFamily="34" charset="-122"/>
                <a:ea typeface="微软雅黑 Light" panose="020B0502040204020203" pitchFamily="34" charset="-122"/>
              </a:rPr>
              <a:t>取值为</a:t>
            </a:r>
            <a:r>
              <a:rPr lang="en-US" altLang="zh-CN" sz="1400" b="1" dirty="0">
                <a:latin typeface="微软雅黑 Light" panose="020B0502040204020203" pitchFamily="34" charset="-122"/>
                <a:ea typeface="微软雅黑 Light" panose="020B0502040204020203" pitchFamily="34" charset="-122"/>
              </a:rPr>
              <a:t> 0 ~ 18 </a:t>
            </a:r>
            <a:r>
              <a:rPr lang="zh-CN" altLang="zh-CN" sz="1400" b="1" dirty="0">
                <a:latin typeface="微软雅黑 Light" panose="020B0502040204020203" pitchFamily="34" charset="-122"/>
                <a:ea typeface="微软雅黑 Light" panose="020B0502040204020203" pitchFamily="34" charset="-122"/>
              </a:rPr>
              <a:t>的整数</a:t>
            </a:r>
          </a:p>
          <a:p>
            <a:pPr hangingPunct="0">
              <a:lnSpc>
                <a:spcPts val="2400"/>
              </a:lnSpc>
            </a:pPr>
            <a:r>
              <a:rPr lang="en-US" altLang="zh-CN" sz="1400" b="1" dirty="0">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error-index</a:t>
            </a:r>
            <a:r>
              <a:rPr lang="en-US" altLang="zh-CN" sz="1400" b="1" dirty="0">
                <a:latin typeface="微软雅黑 Light" panose="020B0502040204020203" pitchFamily="34" charset="-122"/>
                <a:ea typeface="微软雅黑 Light" panose="020B0502040204020203" pitchFamily="34" charset="-122"/>
              </a:rPr>
              <a:t>    INTEGER {0..max-bindings}, </a:t>
            </a:r>
            <a:r>
              <a:rPr lang="en-US" altLang="zh-CN" sz="1050" b="1" dirty="0">
                <a:latin typeface="微软雅黑 Light" panose="020B0502040204020203" pitchFamily="34" charset="-122"/>
                <a:ea typeface="微软雅黑 Light" panose="020B0502040204020203" pitchFamily="34" charset="-122"/>
              </a:rPr>
              <a:t>--</a:t>
            </a:r>
            <a:r>
              <a:rPr lang="zh-CN" altLang="zh-CN" sz="1050" b="1" dirty="0">
                <a:latin typeface="微软雅黑 Light" panose="020B0502040204020203" pitchFamily="34" charset="-122"/>
                <a:ea typeface="微软雅黑 Light" panose="020B0502040204020203" pitchFamily="34" charset="-122"/>
              </a:rPr>
              <a:t>变量</a:t>
            </a:r>
            <a:r>
              <a:rPr lang="en-US" altLang="zh-CN" sz="1050" b="1" dirty="0">
                <a:latin typeface="微软雅黑 Light" panose="020B0502040204020203" pitchFamily="34" charset="-122"/>
                <a:ea typeface="微软雅黑 Light" panose="020B0502040204020203" pitchFamily="34" charset="-122"/>
              </a:rPr>
              <a:t> error-index </a:t>
            </a:r>
            <a:r>
              <a:rPr lang="zh-CN" altLang="zh-CN" sz="1050" b="1" dirty="0">
                <a:latin typeface="微软雅黑 Light" panose="020B0502040204020203" pitchFamily="34" charset="-122"/>
                <a:ea typeface="微软雅黑 Light" panose="020B0502040204020203" pitchFamily="34" charset="-122"/>
              </a:rPr>
              <a:t>取值为</a:t>
            </a:r>
            <a:r>
              <a:rPr lang="en-US" altLang="zh-CN" sz="1050" b="1" dirty="0">
                <a:latin typeface="微软雅黑 Light" panose="020B0502040204020203" pitchFamily="34" charset="-122"/>
                <a:ea typeface="微软雅黑 Light" panose="020B0502040204020203" pitchFamily="34" charset="-122"/>
              </a:rPr>
              <a:t> 0 ~ max-bindings</a:t>
            </a:r>
            <a:r>
              <a:rPr lang="zh-CN" altLang="zh-CN" sz="1050" b="1" dirty="0">
                <a:latin typeface="微软雅黑 Light" panose="020B0502040204020203" pitchFamily="34" charset="-122"/>
                <a:ea typeface="微软雅黑 Light" panose="020B0502040204020203" pitchFamily="34" charset="-122"/>
              </a:rPr>
              <a:t>的整数</a:t>
            </a:r>
          </a:p>
          <a:p>
            <a:pPr hangingPunct="0">
              <a:lnSpc>
                <a:spcPts val="2400"/>
              </a:lnSpc>
            </a:pPr>
            <a:r>
              <a:rPr lang="en-US" altLang="zh-CN" sz="1400" b="1" dirty="0">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variable-bindings</a:t>
            </a:r>
            <a:r>
              <a:rPr lang="en-US" altLang="zh-CN" sz="1400" b="1" dirty="0">
                <a:latin typeface="微软雅黑 Light" panose="020B0502040204020203" pitchFamily="34" charset="-122"/>
                <a:ea typeface="微软雅黑 Light" panose="020B0502040204020203" pitchFamily="34" charset="-122"/>
              </a:rPr>
              <a:t>  </a:t>
            </a:r>
            <a:r>
              <a:rPr lang="en-US" altLang="zh-CN" sz="1400" b="1" dirty="0" err="1">
                <a:latin typeface="微软雅黑 Light" panose="020B0502040204020203" pitchFamily="34" charset="-122"/>
                <a:ea typeface="微软雅黑 Light" panose="020B0502040204020203" pitchFamily="34" charset="-122"/>
              </a:rPr>
              <a:t>VarBindList</a:t>
            </a:r>
            <a:r>
              <a:rPr lang="en-US" altLang="zh-CN" sz="1400" b="1" dirty="0">
                <a:latin typeface="微软雅黑 Light" panose="020B0502040204020203" pitchFamily="34" charset="-122"/>
                <a:ea typeface="微软雅黑 Light" panose="020B0502040204020203" pitchFamily="34" charset="-122"/>
              </a:rPr>
              <a:t> }   --</a:t>
            </a:r>
            <a:r>
              <a:rPr lang="zh-CN" altLang="zh-CN" sz="1400" b="1" dirty="0">
                <a:latin typeface="微软雅黑 Light" panose="020B0502040204020203" pitchFamily="34" charset="-122"/>
                <a:ea typeface="微软雅黑 Light" panose="020B0502040204020203" pitchFamily="34" charset="-122"/>
              </a:rPr>
              <a:t>变量</a:t>
            </a:r>
            <a:r>
              <a:rPr lang="en-US" altLang="zh-CN" sz="1400" b="1" dirty="0">
                <a:latin typeface="微软雅黑 Light" panose="020B0502040204020203" pitchFamily="34" charset="-122"/>
                <a:ea typeface="微软雅黑 Light" panose="020B0502040204020203" pitchFamily="34" charset="-122"/>
              </a:rPr>
              <a:t> variable-binding </a:t>
            </a:r>
            <a:r>
              <a:rPr lang="zh-CN" altLang="zh-CN" sz="1400" b="1" dirty="0">
                <a:latin typeface="微软雅黑 Light" panose="020B0502040204020203" pitchFamily="34" charset="-122"/>
                <a:ea typeface="微软雅黑 Light" panose="020B0502040204020203" pitchFamily="34" charset="-122"/>
              </a:rPr>
              <a:t>的类型是</a:t>
            </a:r>
            <a:r>
              <a:rPr lang="en-US" altLang="zh-CN" sz="1400" b="1" dirty="0">
                <a:latin typeface="微软雅黑 Light" panose="020B0502040204020203" pitchFamily="34" charset="-122"/>
                <a:ea typeface="微软雅黑 Light" panose="020B0502040204020203" pitchFamily="34" charset="-122"/>
              </a:rPr>
              <a:t> </a:t>
            </a:r>
            <a:r>
              <a:rPr lang="en-US" altLang="zh-CN" sz="1400" b="1" dirty="0" err="1">
                <a:latin typeface="微软雅黑 Light" panose="020B0502040204020203" pitchFamily="34" charset="-122"/>
                <a:ea typeface="微软雅黑 Light" panose="020B0502040204020203" pitchFamily="34" charset="-122"/>
              </a:rPr>
              <a:t>VarBindList</a:t>
            </a:r>
            <a:endParaRPr lang="zh-CN" altLang="zh-CN" sz="14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11655708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795799" y="582898"/>
            <a:ext cx="357110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Get-request </a:t>
            </a:r>
            <a:r>
              <a:rPr lang="zh-CN" altLang="en-US" sz="2000" b="1" dirty="0">
                <a:solidFill>
                  <a:schemeClr val="bg1"/>
                </a:solidFill>
                <a:latin typeface="微软雅黑 Light" panose="020B0502040204020203" pitchFamily="34" charset="-122"/>
                <a:ea typeface="微软雅黑 Light" panose="020B0502040204020203" pitchFamily="34" charset="-122"/>
              </a:rPr>
              <a:t>报文的 </a:t>
            </a:r>
            <a:r>
              <a:rPr lang="en-US" altLang="zh-CN" sz="2000" b="1" dirty="0">
                <a:solidFill>
                  <a:schemeClr val="bg1"/>
                </a:solidFill>
                <a:latin typeface="微软雅黑 Light" panose="020B0502040204020203" pitchFamily="34" charset="-122"/>
                <a:ea typeface="微软雅黑 Light" panose="020B0502040204020203" pitchFamily="34" charset="-122"/>
              </a:rPr>
              <a:t>BER </a:t>
            </a:r>
            <a:r>
              <a:rPr lang="zh-CN" altLang="en-US" sz="2000" b="1" dirty="0">
                <a:solidFill>
                  <a:schemeClr val="bg1"/>
                </a:solidFill>
                <a:latin typeface="微软雅黑 Light" panose="020B0502040204020203" pitchFamily="34" charset="-122"/>
                <a:ea typeface="微软雅黑 Light" panose="020B0502040204020203" pitchFamily="34" charset="-122"/>
              </a:rPr>
              <a:t>编码</a:t>
            </a:r>
          </a:p>
        </p:txBody>
      </p:sp>
      <p:sp>
        <p:nvSpPr>
          <p:cNvPr id="61" name="Freeform 200"/>
          <p:cNvSpPr>
            <a:spLocks/>
          </p:cNvSpPr>
          <p:nvPr/>
        </p:nvSpPr>
        <p:spPr bwMode="auto">
          <a:xfrm>
            <a:off x="1163991" y="2087402"/>
            <a:ext cx="6375405" cy="189560"/>
          </a:xfrm>
          <a:custGeom>
            <a:avLst/>
            <a:gdLst>
              <a:gd name="T0" fmla="*/ 0 w 5464"/>
              <a:gd name="T1" fmla="*/ 2147483646 h 176"/>
              <a:gd name="T2" fmla="*/ 2147483646 w 5464"/>
              <a:gd name="T3" fmla="*/ 0 h 176"/>
              <a:gd name="T4" fmla="*/ 2147483646 w 5464"/>
              <a:gd name="T5" fmla="*/ 2147483646 h 176"/>
              <a:gd name="T6" fmla="*/ 2147483646 w 5464"/>
              <a:gd name="T7" fmla="*/ 2147483646 h 176"/>
              <a:gd name="T8" fmla="*/ 0 w 5464"/>
              <a:gd name="T9" fmla="*/ 2147483646 h 17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64" h="176">
                <a:moveTo>
                  <a:pt x="0" y="176"/>
                </a:moveTo>
                <a:lnTo>
                  <a:pt x="1534" y="0"/>
                </a:lnTo>
                <a:lnTo>
                  <a:pt x="5152" y="6"/>
                </a:lnTo>
                <a:lnTo>
                  <a:pt x="5464" y="174"/>
                </a:lnTo>
                <a:lnTo>
                  <a:pt x="0" y="176"/>
                </a:lnTo>
                <a:close/>
              </a:path>
            </a:pathLst>
          </a:custGeom>
          <a:gradFill rotWithShape="1">
            <a:gsLst>
              <a:gs pos="0">
                <a:schemeClr val="tx2">
                  <a:lumMod val="60000"/>
                  <a:lumOff val="40000"/>
                </a:schemeClr>
              </a:gs>
              <a:gs pos="100000">
                <a:srgbClr val="00FFCC"/>
              </a:gs>
            </a:gsLst>
            <a:lin ang="5400000" scaled="1"/>
          </a:gradFill>
          <a:ln>
            <a:noFill/>
          </a:ln>
          <a:effec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62" name="Rectangle 195"/>
          <p:cNvSpPr>
            <a:spLocks noChangeArrowheads="1"/>
          </p:cNvSpPr>
          <p:nvPr/>
        </p:nvSpPr>
        <p:spPr bwMode="auto">
          <a:xfrm>
            <a:off x="6846316" y="3599577"/>
            <a:ext cx="847098" cy="414664"/>
          </a:xfrm>
          <a:prstGeom prst="rect">
            <a:avLst/>
          </a:prstGeom>
          <a:solidFill>
            <a:srgbClr val="FF99FF"/>
          </a:solidFill>
          <a:ln>
            <a:no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63" name="Rectangle 168"/>
          <p:cNvSpPr>
            <a:spLocks noChangeArrowheads="1"/>
          </p:cNvSpPr>
          <p:nvPr/>
        </p:nvSpPr>
        <p:spPr bwMode="auto">
          <a:xfrm>
            <a:off x="5141618" y="2930731"/>
            <a:ext cx="2425780" cy="412509"/>
          </a:xfrm>
          <a:prstGeom prst="rect">
            <a:avLst/>
          </a:prstGeom>
          <a:solidFill>
            <a:srgbClr val="CC00CC"/>
          </a:solidFill>
          <a:ln w="19050">
            <a:solidFill>
              <a:schemeClr val="tx1"/>
            </a:solidFill>
            <a:miter lim="800000"/>
            <a:headEnd/>
            <a:tailEnd/>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197"/>
          <p:cNvSpPr>
            <a:spLocks noChangeArrowheads="1"/>
          </p:cNvSpPr>
          <p:nvPr/>
        </p:nvSpPr>
        <p:spPr bwMode="auto">
          <a:xfrm>
            <a:off x="6913989" y="2947963"/>
            <a:ext cx="648742" cy="382352"/>
          </a:xfrm>
          <a:prstGeom prst="rect">
            <a:avLst/>
          </a:prstGeom>
          <a:solidFill>
            <a:srgbClr val="FF99FF"/>
          </a:solidFill>
          <a:ln>
            <a:no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65" name="Rectangle 198"/>
          <p:cNvSpPr>
            <a:spLocks noChangeArrowheads="1"/>
          </p:cNvSpPr>
          <p:nvPr/>
        </p:nvSpPr>
        <p:spPr bwMode="auto">
          <a:xfrm>
            <a:off x="6380762" y="2941501"/>
            <a:ext cx="512226" cy="388814"/>
          </a:xfrm>
          <a:prstGeom prst="rect">
            <a:avLst/>
          </a:prstGeom>
          <a:solidFill>
            <a:srgbClr val="00FFCC"/>
          </a:solidFill>
          <a:ln>
            <a:no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66" name="Rectangle 134"/>
          <p:cNvSpPr>
            <a:spLocks noChangeArrowheads="1"/>
          </p:cNvSpPr>
          <p:nvPr/>
        </p:nvSpPr>
        <p:spPr bwMode="auto">
          <a:xfrm>
            <a:off x="1154656" y="2274809"/>
            <a:ext cx="6412743" cy="412510"/>
          </a:xfrm>
          <a:prstGeom prst="rect">
            <a:avLst/>
          </a:prstGeom>
          <a:solidFill>
            <a:srgbClr val="0000FF"/>
          </a:solidFill>
          <a:ln w="19050">
            <a:solidFill>
              <a:schemeClr val="tx1"/>
            </a:solidFill>
            <a:miter lim="800000"/>
            <a:headEnd/>
            <a:tailEnd/>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68" name="Freeform 190"/>
          <p:cNvSpPr>
            <a:spLocks/>
          </p:cNvSpPr>
          <p:nvPr/>
        </p:nvSpPr>
        <p:spPr bwMode="auto">
          <a:xfrm>
            <a:off x="2963198" y="1531646"/>
            <a:ext cx="4191152" cy="305881"/>
          </a:xfrm>
          <a:custGeom>
            <a:avLst/>
            <a:gdLst>
              <a:gd name="T0" fmla="*/ 0 w 3592"/>
              <a:gd name="T1" fmla="*/ 2147483646 h 284"/>
              <a:gd name="T2" fmla="*/ 2147483646 w 3592"/>
              <a:gd name="T3" fmla="*/ 0 h 284"/>
              <a:gd name="T4" fmla="*/ 2147483646 w 3592"/>
              <a:gd name="T5" fmla="*/ 0 h 284"/>
              <a:gd name="T6" fmla="*/ 2147483646 w 3592"/>
              <a:gd name="T7" fmla="*/ 2147483646 h 284"/>
              <a:gd name="T8" fmla="*/ 0 w 3592"/>
              <a:gd name="T9" fmla="*/ 2147483646 h 28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92" h="284">
                <a:moveTo>
                  <a:pt x="0" y="284"/>
                </a:moveTo>
                <a:lnTo>
                  <a:pt x="1354" y="0"/>
                </a:lnTo>
                <a:lnTo>
                  <a:pt x="2044" y="0"/>
                </a:lnTo>
                <a:lnTo>
                  <a:pt x="3592" y="282"/>
                </a:lnTo>
                <a:lnTo>
                  <a:pt x="0" y="284"/>
                </a:lnTo>
                <a:close/>
              </a:path>
            </a:pathLst>
          </a:custGeom>
          <a:gradFill rotWithShape="1">
            <a:gsLst>
              <a:gs pos="0">
                <a:srgbClr val="0070C0"/>
              </a:gs>
              <a:gs pos="100000">
                <a:srgbClr val="00CCFF"/>
              </a:gs>
            </a:gsLst>
            <a:lin ang="5400000" scaled="1"/>
          </a:gradFill>
          <a:ln>
            <a:noFill/>
          </a:ln>
          <a:effectLst/>
        </p:spPr>
        <p:txBody>
          <a:bodyP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69" name="Rectangle 192"/>
          <p:cNvSpPr>
            <a:spLocks noChangeArrowheads="1"/>
          </p:cNvSpPr>
          <p:nvPr/>
        </p:nvSpPr>
        <p:spPr bwMode="auto">
          <a:xfrm>
            <a:off x="3240898" y="3603885"/>
            <a:ext cx="3599584" cy="400662"/>
          </a:xfrm>
          <a:prstGeom prst="rect">
            <a:avLst/>
          </a:prstGeom>
          <a:solidFill>
            <a:srgbClr val="00FFCC"/>
          </a:solidFill>
          <a:ln>
            <a:no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71" name="Text Box 119"/>
          <p:cNvSpPr txBox="1">
            <a:spLocks noChangeArrowheads="1"/>
          </p:cNvSpPr>
          <p:nvPr/>
        </p:nvSpPr>
        <p:spPr bwMode="auto">
          <a:xfrm>
            <a:off x="4741252" y="3590962"/>
            <a:ext cx="34176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L</a:t>
            </a:r>
          </a:p>
          <a:p>
            <a:pPr algn="ctr" eaLnBrk="1" hangingPunct="1"/>
            <a:r>
              <a:rPr kumimoji="1" lang="en-US" altLang="zh-CN" sz="1100" b="1" dirty="0">
                <a:latin typeface="微软雅黑 Light" panose="020B0502040204020203" pitchFamily="34" charset="-122"/>
                <a:ea typeface="微软雅黑 Light" panose="020B0502040204020203" pitchFamily="34" charset="-122"/>
              </a:rPr>
              <a:t>09</a:t>
            </a:r>
          </a:p>
        </p:txBody>
      </p:sp>
      <p:sp>
        <p:nvSpPr>
          <p:cNvPr id="72" name="Text Box 120"/>
          <p:cNvSpPr txBox="1">
            <a:spLocks noChangeArrowheads="1"/>
          </p:cNvSpPr>
          <p:nvPr/>
        </p:nvSpPr>
        <p:spPr bwMode="auto">
          <a:xfrm>
            <a:off x="3261623" y="3590962"/>
            <a:ext cx="1428596"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T</a:t>
            </a:r>
          </a:p>
          <a:p>
            <a:pPr algn="ctr" eaLnBrk="1" hangingPunct="1"/>
            <a:r>
              <a:rPr kumimoji="1" lang="en-US" altLang="zh-CN" sz="1100" b="1" dirty="0">
                <a:latin typeface="微软雅黑 Light" panose="020B0502040204020203" pitchFamily="34" charset="-122"/>
                <a:ea typeface="微软雅黑 Light" panose="020B0502040204020203" pitchFamily="34" charset="-122"/>
              </a:rPr>
              <a:t>OBJECT IDENTIFIER</a:t>
            </a:r>
          </a:p>
        </p:txBody>
      </p:sp>
      <p:sp>
        <p:nvSpPr>
          <p:cNvPr id="82" name="Rectangle 136"/>
          <p:cNvSpPr>
            <a:spLocks noChangeArrowheads="1"/>
          </p:cNvSpPr>
          <p:nvPr/>
        </p:nvSpPr>
        <p:spPr bwMode="auto">
          <a:xfrm>
            <a:off x="2955032" y="1849376"/>
            <a:ext cx="4216822" cy="243413"/>
          </a:xfrm>
          <a:prstGeom prst="rect">
            <a:avLst/>
          </a:prstGeom>
          <a:solidFill>
            <a:srgbClr val="0066FF"/>
          </a:solidFill>
          <a:ln w="19050">
            <a:solidFill>
              <a:schemeClr val="tx2"/>
            </a:solidFill>
            <a:miter lim="800000"/>
            <a:headEnd/>
            <a:tailEnd/>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83" name="Line 137"/>
          <p:cNvSpPr>
            <a:spLocks noChangeShapeType="1"/>
          </p:cNvSpPr>
          <p:nvPr/>
        </p:nvSpPr>
        <p:spPr bwMode="auto">
          <a:xfrm>
            <a:off x="3876806" y="1849376"/>
            <a:ext cx="1166" cy="2434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84" name="Line 138"/>
          <p:cNvSpPr>
            <a:spLocks noChangeShapeType="1"/>
          </p:cNvSpPr>
          <p:nvPr/>
        </p:nvSpPr>
        <p:spPr bwMode="auto">
          <a:xfrm>
            <a:off x="4865086" y="1849376"/>
            <a:ext cx="1167" cy="2434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85" name="Line 139"/>
          <p:cNvSpPr>
            <a:spLocks noChangeShapeType="1"/>
          </p:cNvSpPr>
          <p:nvPr/>
        </p:nvSpPr>
        <p:spPr bwMode="auto">
          <a:xfrm>
            <a:off x="5854534" y="1849376"/>
            <a:ext cx="1167" cy="2434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86" name="Text Box 141"/>
          <p:cNvSpPr txBox="1">
            <a:spLocks noChangeArrowheads="1"/>
          </p:cNvSpPr>
          <p:nvPr/>
        </p:nvSpPr>
        <p:spPr bwMode="auto">
          <a:xfrm>
            <a:off x="2983812" y="1837528"/>
            <a:ext cx="83708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request-id</a:t>
            </a:r>
          </a:p>
        </p:txBody>
      </p:sp>
      <p:sp>
        <p:nvSpPr>
          <p:cNvPr id="87" name="Text Box 142"/>
          <p:cNvSpPr txBox="1">
            <a:spLocks noChangeArrowheads="1"/>
          </p:cNvSpPr>
          <p:nvPr/>
        </p:nvSpPr>
        <p:spPr bwMode="auto">
          <a:xfrm>
            <a:off x="3886659" y="1837528"/>
            <a:ext cx="92204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error-status</a:t>
            </a:r>
          </a:p>
        </p:txBody>
      </p:sp>
      <p:sp>
        <p:nvSpPr>
          <p:cNvPr id="88" name="Text Box 143"/>
          <p:cNvSpPr txBox="1">
            <a:spLocks noChangeArrowheads="1"/>
          </p:cNvSpPr>
          <p:nvPr/>
        </p:nvSpPr>
        <p:spPr bwMode="auto">
          <a:xfrm>
            <a:off x="4894730" y="1837528"/>
            <a:ext cx="89639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error-index</a:t>
            </a:r>
          </a:p>
        </p:txBody>
      </p:sp>
      <p:sp>
        <p:nvSpPr>
          <p:cNvPr id="89" name="Text Box 144"/>
          <p:cNvSpPr txBox="1">
            <a:spLocks noChangeArrowheads="1"/>
          </p:cNvSpPr>
          <p:nvPr/>
        </p:nvSpPr>
        <p:spPr bwMode="auto">
          <a:xfrm>
            <a:off x="5870558" y="1837528"/>
            <a:ext cx="1282723"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variable-bindings</a:t>
            </a:r>
          </a:p>
        </p:txBody>
      </p:sp>
      <p:sp>
        <p:nvSpPr>
          <p:cNvPr id="90" name="Line 145"/>
          <p:cNvSpPr>
            <a:spLocks noChangeShapeType="1"/>
          </p:cNvSpPr>
          <p:nvPr/>
        </p:nvSpPr>
        <p:spPr bwMode="auto">
          <a:xfrm flipH="1">
            <a:off x="4273517" y="2274809"/>
            <a:ext cx="0" cy="39527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91" name="Line 146"/>
          <p:cNvSpPr>
            <a:spLocks noChangeShapeType="1"/>
          </p:cNvSpPr>
          <p:nvPr/>
        </p:nvSpPr>
        <p:spPr bwMode="auto">
          <a:xfrm>
            <a:off x="3119550" y="2274808"/>
            <a:ext cx="0" cy="4103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92" name="Line 147"/>
          <p:cNvSpPr>
            <a:spLocks noChangeShapeType="1"/>
          </p:cNvSpPr>
          <p:nvPr/>
        </p:nvSpPr>
        <p:spPr bwMode="auto">
          <a:xfrm flipH="1">
            <a:off x="1875740" y="2274808"/>
            <a:ext cx="3501" cy="40497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93" name="Line 148"/>
          <p:cNvSpPr>
            <a:spLocks noChangeShapeType="1"/>
          </p:cNvSpPr>
          <p:nvPr/>
        </p:nvSpPr>
        <p:spPr bwMode="auto">
          <a:xfrm>
            <a:off x="2208278" y="2274809"/>
            <a:ext cx="0" cy="40281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94" name="Line 149"/>
          <p:cNvSpPr>
            <a:spLocks noChangeShapeType="1"/>
          </p:cNvSpPr>
          <p:nvPr/>
        </p:nvSpPr>
        <p:spPr bwMode="auto">
          <a:xfrm>
            <a:off x="6579118" y="2274809"/>
            <a:ext cx="0" cy="40281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95" name="Line 150"/>
          <p:cNvSpPr>
            <a:spLocks noChangeShapeType="1"/>
          </p:cNvSpPr>
          <p:nvPr/>
        </p:nvSpPr>
        <p:spPr bwMode="auto">
          <a:xfrm>
            <a:off x="6908156" y="2274808"/>
            <a:ext cx="0" cy="4103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0" name="Line 155"/>
          <p:cNvSpPr>
            <a:spLocks noChangeShapeType="1"/>
          </p:cNvSpPr>
          <p:nvPr/>
        </p:nvSpPr>
        <p:spPr bwMode="auto">
          <a:xfrm>
            <a:off x="3823132" y="2274808"/>
            <a:ext cx="0" cy="4103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1" name="Line 156"/>
          <p:cNvSpPr>
            <a:spLocks noChangeShapeType="1"/>
          </p:cNvSpPr>
          <p:nvPr/>
        </p:nvSpPr>
        <p:spPr bwMode="auto">
          <a:xfrm>
            <a:off x="4064660" y="2274809"/>
            <a:ext cx="0" cy="39527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3" name="Line 158"/>
          <p:cNvSpPr>
            <a:spLocks noChangeShapeType="1"/>
          </p:cNvSpPr>
          <p:nvPr/>
        </p:nvSpPr>
        <p:spPr bwMode="auto">
          <a:xfrm>
            <a:off x="5453154" y="2282348"/>
            <a:ext cx="0" cy="39527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5" name="Line 160"/>
          <p:cNvSpPr>
            <a:spLocks noChangeShapeType="1"/>
          </p:cNvSpPr>
          <p:nvPr/>
        </p:nvSpPr>
        <p:spPr bwMode="auto">
          <a:xfrm>
            <a:off x="4986433" y="2274809"/>
            <a:ext cx="0" cy="39527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6" name="Line 161"/>
          <p:cNvSpPr>
            <a:spLocks noChangeShapeType="1"/>
          </p:cNvSpPr>
          <p:nvPr/>
        </p:nvSpPr>
        <p:spPr bwMode="auto">
          <a:xfrm>
            <a:off x="5227962" y="2274809"/>
            <a:ext cx="0" cy="40281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7" name="Line 162"/>
          <p:cNvSpPr>
            <a:spLocks noChangeShapeType="1"/>
          </p:cNvSpPr>
          <p:nvPr/>
        </p:nvSpPr>
        <p:spPr bwMode="auto">
          <a:xfrm flipV="1">
            <a:off x="1154656" y="2092788"/>
            <a:ext cx="1800375" cy="17986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8" name="Line 163"/>
          <p:cNvSpPr>
            <a:spLocks noChangeShapeType="1"/>
          </p:cNvSpPr>
          <p:nvPr/>
        </p:nvSpPr>
        <p:spPr bwMode="auto">
          <a:xfrm flipV="1">
            <a:off x="3119550" y="2092788"/>
            <a:ext cx="758421" cy="17663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9" name="Line 164"/>
          <p:cNvSpPr>
            <a:spLocks noChangeShapeType="1"/>
          </p:cNvSpPr>
          <p:nvPr/>
        </p:nvSpPr>
        <p:spPr bwMode="auto">
          <a:xfrm flipV="1">
            <a:off x="4273517" y="2092788"/>
            <a:ext cx="592735" cy="18202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10" name="Line 165"/>
          <p:cNvSpPr>
            <a:spLocks noChangeShapeType="1"/>
          </p:cNvSpPr>
          <p:nvPr/>
        </p:nvSpPr>
        <p:spPr bwMode="auto">
          <a:xfrm flipV="1">
            <a:off x="5448487" y="2092788"/>
            <a:ext cx="406047" cy="18202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11" name="Rectangle 199"/>
          <p:cNvSpPr>
            <a:spLocks noChangeArrowheads="1"/>
          </p:cNvSpPr>
          <p:nvPr/>
        </p:nvSpPr>
        <p:spPr bwMode="auto">
          <a:xfrm>
            <a:off x="6910490" y="2279117"/>
            <a:ext cx="649908" cy="404970"/>
          </a:xfrm>
          <a:prstGeom prst="rect">
            <a:avLst/>
          </a:prstGeom>
          <a:solidFill>
            <a:srgbClr val="CC00CC"/>
          </a:solidFill>
          <a:ln>
            <a:no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13" name="Line 167"/>
          <p:cNvSpPr>
            <a:spLocks noChangeShapeType="1"/>
          </p:cNvSpPr>
          <p:nvPr/>
        </p:nvSpPr>
        <p:spPr bwMode="auto">
          <a:xfrm>
            <a:off x="7171853" y="2092788"/>
            <a:ext cx="395546" cy="19279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14" name="Line 169"/>
          <p:cNvSpPr>
            <a:spLocks noChangeShapeType="1"/>
          </p:cNvSpPr>
          <p:nvPr/>
        </p:nvSpPr>
        <p:spPr bwMode="auto">
          <a:xfrm>
            <a:off x="6051724" y="2930731"/>
            <a:ext cx="0" cy="41250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15" name="Line 170"/>
          <p:cNvSpPr>
            <a:spLocks noChangeShapeType="1"/>
          </p:cNvSpPr>
          <p:nvPr/>
        </p:nvSpPr>
        <p:spPr bwMode="auto">
          <a:xfrm flipV="1">
            <a:off x="5134618" y="2687318"/>
            <a:ext cx="1771205" cy="24772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16" name="Line 171"/>
          <p:cNvSpPr>
            <a:spLocks noChangeShapeType="1"/>
          </p:cNvSpPr>
          <p:nvPr/>
        </p:nvSpPr>
        <p:spPr bwMode="auto">
          <a:xfrm>
            <a:off x="7559232" y="2687319"/>
            <a:ext cx="0" cy="2434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17" name="Rectangle 172"/>
          <p:cNvSpPr>
            <a:spLocks noChangeArrowheads="1"/>
          </p:cNvSpPr>
          <p:nvPr/>
        </p:nvSpPr>
        <p:spPr bwMode="auto">
          <a:xfrm>
            <a:off x="3239731" y="3598500"/>
            <a:ext cx="4459517" cy="425433"/>
          </a:xfrm>
          <a:prstGeom prst="rect">
            <a:avLst/>
          </a:prstGeom>
          <a:noFill/>
          <a:ln w="19050">
            <a:solidFill>
              <a:schemeClr val="tx2"/>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18" name="Line 173"/>
          <p:cNvSpPr>
            <a:spLocks noChangeShapeType="1"/>
          </p:cNvSpPr>
          <p:nvPr/>
        </p:nvSpPr>
        <p:spPr bwMode="auto">
          <a:xfrm>
            <a:off x="6842815" y="3598500"/>
            <a:ext cx="0" cy="42543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19" name="Line 174"/>
          <p:cNvSpPr>
            <a:spLocks noChangeShapeType="1"/>
          </p:cNvSpPr>
          <p:nvPr/>
        </p:nvSpPr>
        <p:spPr bwMode="auto">
          <a:xfrm>
            <a:off x="4734404" y="3598500"/>
            <a:ext cx="0" cy="42543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20" name="Rectangle 201"/>
          <p:cNvSpPr>
            <a:spLocks noChangeArrowheads="1"/>
          </p:cNvSpPr>
          <p:nvPr/>
        </p:nvSpPr>
        <p:spPr bwMode="auto">
          <a:xfrm>
            <a:off x="3688950" y="1166527"/>
            <a:ext cx="420049" cy="365119"/>
          </a:xfrm>
          <a:prstGeom prst="rect">
            <a:avLst/>
          </a:prstGeom>
          <a:solidFill>
            <a:srgbClr val="009900"/>
          </a:solidFill>
          <a:ln>
            <a:no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21" name="Line 175"/>
          <p:cNvSpPr>
            <a:spLocks noChangeShapeType="1"/>
          </p:cNvSpPr>
          <p:nvPr/>
        </p:nvSpPr>
        <p:spPr bwMode="auto">
          <a:xfrm>
            <a:off x="5045940" y="3598500"/>
            <a:ext cx="0" cy="42543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22" name="Line 176"/>
          <p:cNvSpPr>
            <a:spLocks noChangeShapeType="1"/>
          </p:cNvSpPr>
          <p:nvPr/>
        </p:nvSpPr>
        <p:spPr bwMode="auto">
          <a:xfrm>
            <a:off x="7408714" y="3598500"/>
            <a:ext cx="0" cy="42543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23" name="Rectangle 202"/>
          <p:cNvSpPr>
            <a:spLocks noChangeArrowheads="1"/>
          </p:cNvSpPr>
          <p:nvPr/>
        </p:nvSpPr>
        <p:spPr bwMode="auto">
          <a:xfrm>
            <a:off x="4120666" y="1172990"/>
            <a:ext cx="420049" cy="358656"/>
          </a:xfrm>
          <a:prstGeom prst="rect">
            <a:avLst/>
          </a:prstGeom>
          <a:solidFill>
            <a:srgbClr val="CC00CC"/>
          </a:solidFill>
          <a:ln>
            <a:no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25" name="Rectangle 189"/>
          <p:cNvSpPr>
            <a:spLocks noChangeArrowheads="1"/>
          </p:cNvSpPr>
          <p:nvPr/>
        </p:nvSpPr>
        <p:spPr bwMode="auto">
          <a:xfrm>
            <a:off x="4550049" y="1176221"/>
            <a:ext cx="997199" cy="355426"/>
          </a:xfrm>
          <a:prstGeom prst="rect">
            <a:avLst/>
          </a:prstGeom>
          <a:solidFill>
            <a:srgbClr val="0066FF"/>
          </a:solidFill>
          <a:ln>
            <a:solidFill>
              <a:schemeClr val="tx1"/>
            </a:solid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28" name="Rectangle 135"/>
          <p:cNvSpPr>
            <a:spLocks noChangeArrowheads="1"/>
          </p:cNvSpPr>
          <p:nvPr/>
        </p:nvSpPr>
        <p:spPr bwMode="auto">
          <a:xfrm>
            <a:off x="3676116" y="1168681"/>
            <a:ext cx="1871132" cy="365119"/>
          </a:xfrm>
          <a:prstGeom prst="rect">
            <a:avLst/>
          </a:prstGeom>
          <a:noFill/>
          <a:ln w="1905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29" name="Line 177"/>
          <p:cNvSpPr>
            <a:spLocks noChangeShapeType="1"/>
          </p:cNvSpPr>
          <p:nvPr/>
        </p:nvSpPr>
        <p:spPr bwMode="auto">
          <a:xfrm>
            <a:off x="4547716" y="1170836"/>
            <a:ext cx="0" cy="36296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30" name="Line 178"/>
          <p:cNvSpPr>
            <a:spLocks noChangeShapeType="1"/>
          </p:cNvSpPr>
          <p:nvPr/>
        </p:nvSpPr>
        <p:spPr bwMode="auto">
          <a:xfrm>
            <a:off x="4111332" y="1170836"/>
            <a:ext cx="0" cy="36296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31" name="Line 179"/>
          <p:cNvSpPr>
            <a:spLocks noChangeShapeType="1"/>
          </p:cNvSpPr>
          <p:nvPr/>
        </p:nvSpPr>
        <p:spPr bwMode="auto">
          <a:xfrm>
            <a:off x="6381928" y="2930731"/>
            <a:ext cx="0" cy="41250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32" name="Line 180"/>
          <p:cNvSpPr>
            <a:spLocks noChangeShapeType="1"/>
          </p:cNvSpPr>
          <p:nvPr/>
        </p:nvSpPr>
        <p:spPr bwMode="auto">
          <a:xfrm>
            <a:off x="6908156" y="2930731"/>
            <a:ext cx="0" cy="412509"/>
          </a:xfrm>
          <a:prstGeom prst="line">
            <a:avLst/>
          </a:prstGeom>
          <a:noFill/>
          <a:ln w="9525">
            <a:solidFill>
              <a:schemeClr val="folHlink"/>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33" name="Line 181"/>
          <p:cNvSpPr>
            <a:spLocks noChangeShapeType="1"/>
          </p:cNvSpPr>
          <p:nvPr/>
        </p:nvSpPr>
        <p:spPr bwMode="auto">
          <a:xfrm flipV="1">
            <a:off x="3239732" y="3345394"/>
            <a:ext cx="3142197" cy="25095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34" name="Line 182"/>
          <p:cNvSpPr>
            <a:spLocks noChangeShapeType="1"/>
          </p:cNvSpPr>
          <p:nvPr/>
        </p:nvSpPr>
        <p:spPr bwMode="auto">
          <a:xfrm flipH="1">
            <a:off x="6853316" y="3335701"/>
            <a:ext cx="54840" cy="25310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35" name="Line 183"/>
          <p:cNvSpPr>
            <a:spLocks noChangeShapeType="1"/>
          </p:cNvSpPr>
          <p:nvPr/>
        </p:nvSpPr>
        <p:spPr bwMode="auto">
          <a:xfrm>
            <a:off x="7567399" y="3345394"/>
            <a:ext cx="131849" cy="25310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36" name="Text Box 184"/>
          <p:cNvSpPr txBox="1">
            <a:spLocks noChangeArrowheads="1"/>
          </p:cNvSpPr>
          <p:nvPr/>
        </p:nvSpPr>
        <p:spPr bwMode="auto">
          <a:xfrm>
            <a:off x="2119600" y="2643160"/>
            <a:ext cx="104002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request-ID</a:t>
            </a:r>
          </a:p>
        </p:txBody>
      </p:sp>
      <p:sp>
        <p:nvSpPr>
          <p:cNvPr id="137" name="Text Box 185"/>
          <p:cNvSpPr txBox="1">
            <a:spLocks noChangeArrowheads="1"/>
          </p:cNvSpPr>
          <p:nvPr/>
        </p:nvSpPr>
        <p:spPr bwMode="auto">
          <a:xfrm>
            <a:off x="5114811" y="4004547"/>
            <a:ext cx="1661032"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050" b="1" dirty="0">
                <a:latin typeface="微软雅黑 Light" panose="020B0502040204020203" pitchFamily="34" charset="-122"/>
                <a:ea typeface="微软雅黑 Light" panose="020B0502040204020203" pitchFamily="34" charset="-122"/>
              </a:rPr>
              <a:t>1.  3.  6.  1.  2.  1.  7.  1.  0</a:t>
            </a:r>
          </a:p>
        </p:txBody>
      </p:sp>
      <p:sp>
        <p:nvSpPr>
          <p:cNvPr id="138" name="Text Box 186"/>
          <p:cNvSpPr txBox="1">
            <a:spLocks noChangeArrowheads="1"/>
          </p:cNvSpPr>
          <p:nvPr/>
        </p:nvSpPr>
        <p:spPr bwMode="auto">
          <a:xfrm>
            <a:off x="2057161" y="1211314"/>
            <a:ext cx="159851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b="1" dirty="0" err="1">
                <a:latin typeface="微软雅黑 Light" panose="020B0502040204020203" pitchFamily="34" charset="-122"/>
                <a:ea typeface="微软雅黑 Light" panose="020B0502040204020203" pitchFamily="34" charset="-122"/>
              </a:rPr>
              <a:t>GetRequest</a:t>
            </a:r>
            <a:r>
              <a:rPr kumimoji="1" lang="en-US" altLang="zh-CN" sz="1400" b="1" dirty="0">
                <a:latin typeface="微软雅黑 Light" panose="020B0502040204020203" pitchFamily="34" charset="-122"/>
                <a:ea typeface="微软雅黑 Light" panose="020B0502040204020203" pitchFamily="34" charset="-122"/>
              </a:rPr>
              <a:t>-PDU</a:t>
            </a:r>
          </a:p>
        </p:txBody>
      </p:sp>
      <p:sp>
        <p:nvSpPr>
          <p:cNvPr id="139" name="Freeform 193"/>
          <p:cNvSpPr>
            <a:spLocks/>
          </p:cNvSpPr>
          <p:nvPr/>
        </p:nvSpPr>
        <p:spPr bwMode="auto">
          <a:xfrm>
            <a:off x="5145119" y="2681932"/>
            <a:ext cx="2429281" cy="245567"/>
          </a:xfrm>
          <a:custGeom>
            <a:avLst/>
            <a:gdLst>
              <a:gd name="T0" fmla="*/ 0 w 2082"/>
              <a:gd name="T1" fmla="*/ 2147483646 h 228"/>
              <a:gd name="T2" fmla="*/ 2147483646 w 2082"/>
              <a:gd name="T3" fmla="*/ 0 h 228"/>
              <a:gd name="T4" fmla="*/ 2147483646 w 2082"/>
              <a:gd name="T5" fmla="*/ 2147483646 h 228"/>
              <a:gd name="T6" fmla="*/ 2147483646 w 2082"/>
              <a:gd name="T7" fmla="*/ 2147483646 h 228"/>
              <a:gd name="T8" fmla="*/ 0 w 2082"/>
              <a:gd name="T9" fmla="*/ 2147483646 h 22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82" h="228">
                <a:moveTo>
                  <a:pt x="0" y="228"/>
                </a:moveTo>
                <a:lnTo>
                  <a:pt x="1512" y="0"/>
                </a:lnTo>
                <a:lnTo>
                  <a:pt x="2076" y="6"/>
                </a:lnTo>
                <a:lnTo>
                  <a:pt x="2082" y="222"/>
                </a:lnTo>
                <a:lnTo>
                  <a:pt x="0" y="228"/>
                </a:lnTo>
                <a:close/>
              </a:path>
            </a:pathLst>
          </a:custGeom>
          <a:gradFill rotWithShape="1">
            <a:gsLst>
              <a:gs pos="0">
                <a:srgbClr val="5E4776"/>
              </a:gs>
              <a:gs pos="100000">
                <a:srgbClr val="FF66FF"/>
              </a:gs>
            </a:gsLst>
            <a:lin ang="5400000" scaled="1"/>
          </a:gradFill>
          <a:ln>
            <a:noFill/>
          </a:ln>
          <a:effectLst/>
        </p:spPr>
        <p:txBody>
          <a:bodyP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40" name="Freeform 194"/>
          <p:cNvSpPr>
            <a:spLocks/>
          </p:cNvSpPr>
          <p:nvPr/>
        </p:nvSpPr>
        <p:spPr bwMode="auto">
          <a:xfrm>
            <a:off x="3228064" y="3341085"/>
            <a:ext cx="3674258" cy="258491"/>
          </a:xfrm>
          <a:custGeom>
            <a:avLst/>
            <a:gdLst>
              <a:gd name="T0" fmla="*/ 0 w 3149"/>
              <a:gd name="T1" fmla="*/ 2147483646 h 240"/>
              <a:gd name="T2" fmla="*/ 2147483646 w 3149"/>
              <a:gd name="T3" fmla="*/ 0 h 240"/>
              <a:gd name="T4" fmla="*/ 2147483646 w 3149"/>
              <a:gd name="T5" fmla="*/ 0 h 240"/>
              <a:gd name="T6" fmla="*/ 2147483646 w 3149"/>
              <a:gd name="T7" fmla="*/ 2147483646 h 240"/>
              <a:gd name="T8" fmla="*/ 0 w 3149"/>
              <a:gd name="T9" fmla="*/ 2147483646 h 2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149" h="240">
                <a:moveTo>
                  <a:pt x="0" y="237"/>
                </a:moveTo>
                <a:lnTo>
                  <a:pt x="2693" y="0"/>
                </a:lnTo>
                <a:lnTo>
                  <a:pt x="3149" y="0"/>
                </a:lnTo>
                <a:lnTo>
                  <a:pt x="3101" y="240"/>
                </a:lnTo>
                <a:lnTo>
                  <a:pt x="0" y="237"/>
                </a:lnTo>
                <a:close/>
              </a:path>
            </a:pathLst>
          </a:custGeom>
          <a:gradFill rotWithShape="1">
            <a:gsLst>
              <a:gs pos="0">
                <a:srgbClr val="00B0F0"/>
              </a:gs>
              <a:gs pos="100000">
                <a:srgbClr val="99FFCC"/>
              </a:gs>
            </a:gsLst>
            <a:lin ang="5400000" scaled="1"/>
          </a:gradFill>
          <a:ln>
            <a:noFill/>
          </a:ln>
          <a:effectLst/>
        </p:spPr>
        <p:txBody>
          <a:bodyP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41" name="Freeform 196"/>
          <p:cNvSpPr>
            <a:spLocks/>
          </p:cNvSpPr>
          <p:nvPr/>
        </p:nvSpPr>
        <p:spPr bwMode="auto">
          <a:xfrm>
            <a:off x="6853316" y="3341085"/>
            <a:ext cx="840097" cy="258491"/>
          </a:xfrm>
          <a:custGeom>
            <a:avLst/>
            <a:gdLst>
              <a:gd name="T0" fmla="*/ 0 w 720"/>
              <a:gd name="T1" fmla="*/ 2147483646 h 240"/>
              <a:gd name="T2" fmla="*/ 2147483646 w 720"/>
              <a:gd name="T3" fmla="*/ 2147483646 h 240"/>
              <a:gd name="T4" fmla="*/ 2147483646 w 720"/>
              <a:gd name="T5" fmla="*/ 0 h 240"/>
              <a:gd name="T6" fmla="*/ 2147483646 w 720"/>
              <a:gd name="T7" fmla="*/ 2147483646 h 240"/>
              <a:gd name="T8" fmla="*/ 0 w 720"/>
              <a:gd name="T9" fmla="*/ 2147483646 h 2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20" h="240">
                <a:moveTo>
                  <a:pt x="0" y="240"/>
                </a:moveTo>
                <a:lnTo>
                  <a:pt x="48" y="12"/>
                </a:lnTo>
                <a:lnTo>
                  <a:pt x="606" y="0"/>
                </a:lnTo>
                <a:lnTo>
                  <a:pt x="720" y="240"/>
                </a:lnTo>
                <a:lnTo>
                  <a:pt x="0" y="240"/>
                </a:lnTo>
                <a:close/>
              </a:path>
            </a:pathLst>
          </a:custGeom>
          <a:gradFill rotWithShape="1">
            <a:gsLst>
              <a:gs pos="0">
                <a:srgbClr val="7030A0"/>
              </a:gs>
              <a:gs pos="100000">
                <a:srgbClr val="FF00FF"/>
              </a:gs>
            </a:gsLst>
            <a:lin ang="5400000" scaled="1"/>
          </a:gradFill>
          <a:ln>
            <a:noFill/>
          </a:ln>
          <a:effectLst/>
        </p:spPr>
        <p:txBody>
          <a:bodyP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43" name="Text Box 127"/>
          <p:cNvSpPr txBox="1">
            <a:spLocks noChangeArrowheads="1"/>
          </p:cNvSpPr>
          <p:nvPr/>
        </p:nvSpPr>
        <p:spPr bwMode="auto">
          <a:xfrm>
            <a:off x="3721371" y="1128203"/>
            <a:ext cx="359394"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 T</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A0</a:t>
            </a:r>
          </a:p>
        </p:txBody>
      </p:sp>
      <p:sp>
        <p:nvSpPr>
          <p:cNvPr id="144" name="Text Box 128"/>
          <p:cNvSpPr txBox="1">
            <a:spLocks noChangeArrowheads="1"/>
          </p:cNvSpPr>
          <p:nvPr/>
        </p:nvSpPr>
        <p:spPr bwMode="auto">
          <a:xfrm>
            <a:off x="4160825" y="1128203"/>
            <a:ext cx="34176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  L</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1D</a:t>
            </a:r>
          </a:p>
        </p:txBody>
      </p:sp>
      <p:sp>
        <p:nvSpPr>
          <p:cNvPr id="146" name="Text Box 129"/>
          <p:cNvSpPr txBox="1">
            <a:spLocks noChangeArrowheads="1"/>
          </p:cNvSpPr>
          <p:nvPr/>
        </p:nvSpPr>
        <p:spPr bwMode="auto">
          <a:xfrm>
            <a:off x="4600474" y="1134553"/>
            <a:ext cx="918841"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err="1">
                <a:solidFill>
                  <a:schemeClr val="bg1"/>
                </a:solidFill>
                <a:latin typeface="微软雅黑 Light" panose="020B0502040204020203" pitchFamily="34" charset="-122"/>
                <a:ea typeface="微软雅黑 Light" panose="020B0502040204020203" pitchFamily="34" charset="-122"/>
              </a:rPr>
              <a:t>GetRequest</a:t>
            </a:r>
            <a:endParaRPr kumimoji="1" lang="en-US" altLang="zh-CN" sz="1100" b="1" dirty="0">
              <a:solidFill>
                <a:schemeClr val="bg1"/>
              </a:solidFill>
              <a:latin typeface="微软雅黑 Light" panose="020B0502040204020203" pitchFamily="34" charset="-122"/>
              <a:ea typeface="微软雅黑 Light" panose="020B0502040204020203" pitchFamily="34" charset="-122"/>
            </a:endParaRP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-PDU</a:t>
            </a:r>
          </a:p>
        </p:txBody>
      </p:sp>
      <p:sp>
        <p:nvSpPr>
          <p:cNvPr id="147" name="Text Box 123"/>
          <p:cNvSpPr txBox="1">
            <a:spLocks noChangeArrowheads="1"/>
          </p:cNvSpPr>
          <p:nvPr/>
        </p:nvSpPr>
        <p:spPr bwMode="auto">
          <a:xfrm>
            <a:off x="4965251" y="2264039"/>
            <a:ext cx="317715"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L</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01</a:t>
            </a:r>
          </a:p>
        </p:txBody>
      </p:sp>
      <p:sp>
        <p:nvSpPr>
          <p:cNvPr id="148" name="Text Box 130"/>
          <p:cNvSpPr txBox="1">
            <a:spLocks noChangeArrowheads="1"/>
          </p:cNvSpPr>
          <p:nvPr/>
        </p:nvSpPr>
        <p:spPr bwMode="auto">
          <a:xfrm>
            <a:off x="6587133" y="2264039"/>
            <a:ext cx="333746"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L</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0F</a:t>
            </a:r>
          </a:p>
        </p:txBody>
      </p:sp>
      <p:sp>
        <p:nvSpPr>
          <p:cNvPr id="150" name="Text Box 132"/>
          <p:cNvSpPr txBox="1">
            <a:spLocks noChangeArrowheads="1"/>
          </p:cNvSpPr>
          <p:nvPr/>
        </p:nvSpPr>
        <p:spPr bwMode="auto">
          <a:xfrm>
            <a:off x="3106035" y="2264039"/>
            <a:ext cx="74732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T</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INTEGER</a:t>
            </a:r>
          </a:p>
        </p:txBody>
      </p:sp>
      <p:sp>
        <p:nvSpPr>
          <p:cNvPr id="151" name="Text Box 133"/>
          <p:cNvSpPr txBox="1">
            <a:spLocks noChangeArrowheads="1"/>
          </p:cNvSpPr>
          <p:nvPr/>
        </p:nvSpPr>
        <p:spPr bwMode="auto">
          <a:xfrm>
            <a:off x="3795599" y="2264039"/>
            <a:ext cx="317715"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L</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01</a:t>
            </a:r>
          </a:p>
        </p:txBody>
      </p:sp>
      <p:sp>
        <p:nvSpPr>
          <p:cNvPr id="153" name="Text Box 152"/>
          <p:cNvSpPr txBox="1">
            <a:spLocks noChangeArrowheads="1"/>
          </p:cNvSpPr>
          <p:nvPr/>
        </p:nvSpPr>
        <p:spPr bwMode="auto">
          <a:xfrm>
            <a:off x="2193770" y="2264039"/>
            <a:ext cx="954107"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V</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05 AE 56 02</a:t>
            </a:r>
          </a:p>
        </p:txBody>
      </p:sp>
      <p:sp>
        <p:nvSpPr>
          <p:cNvPr id="154" name="Text Box 153"/>
          <p:cNvSpPr txBox="1">
            <a:spLocks noChangeArrowheads="1"/>
          </p:cNvSpPr>
          <p:nvPr/>
        </p:nvSpPr>
        <p:spPr bwMode="auto">
          <a:xfrm>
            <a:off x="4008771" y="2264039"/>
            <a:ext cx="34176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V</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00</a:t>
            </a:r>
          </a:p>
        </p:txBody>
      </p:sp>
      <p:sp>
        <p:nvSpPr>
          <p:cNvPr id="155" name="Text Box 154"/>
          <p:cNvSpPr txBox="1">
            <a:spLocks noChangeArrowheads="1"/>
          </p:cNvSpPr>
          <p:nvPr/>
        </p:nvSpPr>
        <p:spPr bwMode="auto">
          <a:xfrm>
            <a:off x="5455046" y="2264039"/>
            <a:ext cx="1176924"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T</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SEQUENCE OF </a:t>
            </a:r>
          </a:p>
        </p:txBody>
      </p:sp>
      <p:sp>
        <p:nvSpPr>
          <p:cNvPr id="156" name="Text Box 157"/>
          <p:cNvSpPr txBox="1">
            <a:spLocks noChangeArrowheads="1"/>
          </p:cNvSpPr>
          <p:nvPr/>
        </p:nvSpPr>
        <p:spPr bwMode="auto">
          <a:xfrm>
            <a:off x="4269334" y="2264039"/>
            <a:ext cx="74732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T</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INTEGER</a:t>
            </a:r>
          </a:p>
        </p:txBody>
      </p:sp>
      <p:sp>
        <p:nvSpPr>
          <p:cNvPr id="157" name="Text Box 159"/>
          <p:cNvSpPr txBox="1">
            <a:spLocks noChangeArrowheads="1"/>
          </p:cNvSpPr>
          <p:nvPr/>
        </p:nvSpPr>
        <p:spPr bwMode="auto">
          <a:xfrm>
            <a:off x="5165723" y="2264039"/>
            <a:ext cx="34176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V</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00</a:t>
            </a:r>
          </a:p>
        </p:txBody>
      </p:sp>
      <p:sp>
        <p:nvSpPr>
          <p:cNvPr id="159" name="Text Box 118"/>
          <p:cNvSpPr txBox="1">
            <a:spLocks noChangeArrowheads="1"/>
          </p:cNvSpPr>
          <p:nvPr/>
        </p:nvSpPr>
        <p:spPr bwMode="auto">
          <a:xfrm>
            <a:off x="5123007" y="3590962"/>
            <a:ext cx="167866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000" b="1" dirty="0">
                <a:latin typeface="微软雅黑 Light" panose="020B0502040204020203" pitchFamily="34" charset="-122"/>
                <a:ea typeface="微软雅黑 Light" panose="020B0502040204020203" pitchFamily="34" charset="-122"/>
              </a:rPr>
              <a:t>V</a:t>
            </a:r>
          </a:p>
          <a:p>
            <a:pPr algn="ctr" eaLnBrk="1" hangingPunct="1"/>
            <a:r>
              <a:rPr kumimoji="1" lang="en-US" altLang="zh-CN" sz="1000" b="1" dirty="0">
                <a:latin typeface="微软雅黑 Light" panose="020B0502040204020203" pitchFamily="34" charset="-122"/>
                <a:ea typeface="微软雅黑 Light" panose="020B0502040204020203" pitchFamily="34" charset="-122"/>
              </a:rPr>
              <a:t>01 03 06 01 02 01 01 01 00</a:t>
            </a:r>
          </a:p>
        </p:txBody>
      </p:sp>
      <p:sp>
        <p:nvSpPr>
          <p:cNvPr id="162" name="Text Box 131"/>
          <p:cNvSpPr txBox="1">
            <a:spLocks noChangeArrowheads="1"/>
          </p:cNvSpPr>
          <p:nvPr/>
        </p:nvSpPr>
        <p:spPr bwMode="auto">
          <a:xfrm>
            <a:off x="1876872" y="2264039"/>
            <a:ext cx="343363"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L</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04</a:t>
            </a:r>
          </a:p>
        </p:txBody>
      </p:sp>
      <p:sp>
        <p:nvSpPr>
          <p:cNvPr id="163" name="Text Box 151"/>
          <p:cNvSpPr txBox="1">
            <a:spLocks noChangeArrowheads="1"/>
          </p:cNvSpPr>
          <p:nvPr/>
        </p:nvSpPr>
        <p:spPr bwMode="auto">
          <a:xfrm>
            <a:off x="1139973" y="2264039"/>
            <a:ext cx="74732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T</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INTEGER</a:t>
            </a:r>
          </a:p>
        </p:txBody>
      </p:sp>
      <p:sp>
        <p:nvSpPr>
          <p:cNvPr id="96" name="Text Box 124"/>
          <p:cNvSpPr txBox="1">
            <a:spLocks noChangeArrowheads="1"/>
          </p:cNvSpPr>
          <p:nvPr/>
        </p:nvSpPr>
        <p:spPr bwMode="auto">
          <a:xfrm>
            <a:off x="5150790" y="2911344"/>
            <a:ext cx="90762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T</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SEQUENCE</a:t>
            </a:r>
          </a:p>
        </p:txBody>
      </p:sp>
      <p:sp>
        <p:nvSpPr>
          <p:cNvPr id="97" name="Text Box 125"/>
          <p:cNvSpPr txBox="1">
            <a:spLocks noChangeArrowheads="1"/>
          </p:cNvSpPr>
          <p:nvPr/>
        </p:nvSpPr>
        <p:spPr bwMode="auto">
          <a:xfrm>
            <a:off x="6060540" y="2911344"/>
            <a:ext cx="365806"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L</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0D</a:t>
            </a:r>
          </a:p>
        </p:txBody>
      </p:sp>
      <p:sp>
        <p:nvSpPr>
          <p:cNvPr id="98" name="Text Box 166"/>
          <p:cNvSpPr txBox="1">
            <a:spLocks noChangeArrowheads="1"/>
          </p:cNvSpPr>
          <p:nvPr/>
        </p:nvSpPr>
        <p:spPr bwMode="auto">
          <a:xfrm>
            <a:off x="6910681" y="2348048"/>
            <a:ext cx="68320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err="1">
                <a:solidFill>
                  <a:schemeClr val="bg1"/>
                </a:solidFill>
                <a:latin typeface="微软雅黑 Light" panose="020B0502040204020203" pitchFamily="34" charset="-122"/>
                <a:ea typeface="微软雅黑 Light" panose="020B0502040204020203" pitchFamily="34" charset="-122"/>
              </a:rPr>
              <a:t>VarBind</a:t>
            </a:r>
            <a:endParaRPr kumimoji="1" lang="en-US" altLang="zh-CN" sz="1100" b="1" dirty="0">
              <a:solidFill>
                <a:schemeClr val="bg1"/>
              </a:solidFill>
              <a:latin typeface="微软雅黑 Light" panose="020B0502040204020203" pitchFamily="34" charset="-122"/>
              <a:ea typeface="微软雅黑 Light" panose="020B0502040204020203" pitchFamily="34" charset="-122"/>
            </a:endParaRPr>
          </a:p>
        </p:txBody>
      </p:sp>
      <p:sp>
        <p:nvSpPr>
          <p:cNvPr id="99" name="Text Box 126"/>
          <p:cNvSpPr txBox="1">
            <a:spLocks noChangeArrowheads="1"/>
          </p:cNvSpPr>
          <p:nvPr/>
        </p:nvSpPr>
        <p:spPr bwMode="auto">
          <a:xfrm>
            <a:off x="6413366" y="3010433"/>
            <a:ext cx="1087156"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name     value</a:t>
            </a:r>
          </a:p>
        </p:txBody>
      </p:sp>
      <p:sp>
        <p:nvSpPr>
          <p:cNvPr id="102" name="Text Box 121"/>
          <p:cNvSpPr txBox="1">
            <a:spLocks noChangeArrowheads="1"/>
          </p:cNvSpPr>
          <p:nvPr/>
        </p:nvSpPr>
        <p:spPr bwMode="auto">
          <a:xfrm>
            <a:off x="6860448" y="3590962"/>
            <a:ext cx="532518"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T</a:t>
            </a:r>
          </a:p>
          <a:p>
            <a:pPr algn="ctr" eaLnBrk="1" hangingPunct="1"/>
            <a:r>
              <a:rPr kumimoji="1" lang="en-US" altLang="zh-CN" sz="1100" b="1" dirty="0">
                <a:latin typeface="微软雅黑 Light" panose="020B0502040204020203" pitchFamily="34" charset="-122"/>
                <a:ea typeface="微软雅黑 Light" panose="020B0502040204020203" pitchFamily="34" charset="-122"/>
              </a:rPr>
              <a:t>NULL</a:t>
            </a:r>
          </a:p>
        </p:txBody>
      </p:sp>
      <p:sp>
        <p:nvSpPr>
          <p:cNvPr id="104" name="Text Box 122"/>
          <p:cNvSpPr txBox="1">
            <a:spLocks noChangeArrowheads="1"/>
          </p:cNvSpPr>
          <p:nvPr/>
        </p:nvSpPr>
        <p:spPr bwMode="auto">
          <a:xfrm>
            <a:off x="7394561" y="3590962"/>
            <a:ext cx="34176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L</a:t>
            </a:r>
          </a:p>
          <a:p>
            <a:pPr algn="ctr" eaLnBrk="1" hangingPunct="1"/>
            <a:r>
              <a:rPr kumimoji="1" lang="en-US" altLang="zh-CN" sz="1100" b="1" dirty="0">
                <a:latin typeface="微软雅黑 Light" panose="020B0502040204020203" pitchFamily="34" charset="-122"/>
                <a:ea typeface="微软雅黑 Light" panose="020B0502040204020203" pitchFamily="34" charset="-122"/>
              </a:rPr>
              <a:t>00</a:t>
            </a:r>
          </a:p>
        </p:txBody>
      </p:sp>
    </p:spTree>
    <p:extLst>
      <p:ext uri="{BB962C8B-B14F-4D97-AF65-F5344CB8AC3E}">
        <p14:creationId xmlns:p14="http://schemas.microsoft.com/office/powerpoint/2010/main" val="34313518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3835"/>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533901" y="580624"/>
            <a:ext cx="409490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Get-request </a:t>
            </a:r>
            <a:r>
              <a:rPr lang="zh-CN" altLang="en-US" sz="2000" b="1" dirty="0">
                <a:solidFill>
                  <a:schemeClr val="bg1"/>
                </a:solidFill>
                <a:latin typeface="微软雅黑 Light" panose="020B0502040204020203" pitchFamily="34" charset="-122"/>
                <a:ea typeface="微软雅黑 Light" panose="020B0502040204020203" pitchFamily="34" charset="-122"/>
              </a:rPr>
              <a:t>报文的十六进制编码</a:t>
            </a:r>
          </a:p>
        </p:txBody>
      </p:sp>
      <p:sp>
        <p:nvSpPr>
          <p:cNvPr id="5" name="Rectangle 1"/>
          <p:cNvSpPr>
            <a:spLocks noChangeArrowheads="1"/>
          </p:cNvSpPr>
          <p:nvPr/>
        </p:nvSpPr>
        <p:spPr bwMode="auto">
          <a:xfrm>
            <a:off x="819807" y="1122955"/>
            <a:ext cx="7785932" cy="2554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114300" algn="l" defTabSz="914400" rtl="0" eaLnBrk="1" fontAlgn="base" latinLnBrk="0" hangingPunct="1">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A0 1D                          -- </a:t>
            </a:r>
            <a:r>
              <a:rPr kumimoji="0" lang="en-US" altLang="zh-CN" sz="1400" b="1" i="0" u="none" strike="noStrike" cap="none" normalizeH="0" baseline="0" dirty="0" err="1">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GetRequest</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-PDU</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，上下文类型，长度</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1D</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 = 29</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p>
            <a:pPr marL="0" marR="0" lvl="0" indent="114300" algn="l" defTabSz="914400" rtl="0" eaLnBrk="0" fontAlgn="base" latinLnBrk="0" hangingPunct="0">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02 04 05 AE 56 02      -- INTEGER</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类型，长度</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04</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request-id = 05 AE 56 02 </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p>
            <a:pPr marL="0" marR="0" lvl="0" indent="114300" algn="l" defTabSz="914400" rtl="0" eaLnBrk="0" fontAlgn="base" latinLnBrk="0" hangingPunct="0">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02 01 00                      -- INTEGER</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类型，长度</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01</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error status = 00</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p>
            <a:pPr marL="0" marR="0" lvl="0" indent="114300" algn="l" defTabSz="914400" rtl="0" eaLnBrk="0" fontAlgn="base" latinLnBrk="0" hangingPunct="0">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02 01 00                      -- INTEGER</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类型，长度</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01</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error index = 00</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p>
            <a:pPr marL="0" marR="0" lvl="0" indent="114300" algn="l" defTabSz="914400" rtl="0" eaLnBrk="0" fontAlgn="base" latinLnBrk="0" hangingPunct="0">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30 0F                           -- SEQUENCE OF</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类型，长度</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0F</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 = 15</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p>
            <a:pPr marL="0" marR="0" lvl="0" indent="114300" algn="l" defTabSz="914400" rtl="0" eaLnBrk="0" fontAlgn="base" latinLnBrk="0" hangingPunct="0">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30 0D                   	    -- SEQUENCE</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类型，长度</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0D</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 = 13</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p>
            <a:pPr marL="0" marR="0" lvl="0" indent="114300" algn="l" defTabSz="914400" rtl="0" eaLnBrk="0" fontAlgn="base" latinLnBrk="0" hangingPunct="0">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06 09 01 03 06 01 02 01 07 01 00    </a:t>
            </a:r>
            <a:r>
              <a:rPr kumimoji="0" lang="en-US" altLang="zh-CN" sz="12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 OBJECT IDENTIFIER</a:t>
            </a:r>
            <a:r>
              <a:rPr kumimoji="0" lang="zh-CN" altLang="en-US" sz="12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类型，长度</a:t>
            </a:r>
            <a:r>
              <a:rPr kumimoji="0" lang="en-US" altLang="zh-CN" sz="12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09</a:t>
            </a:r>
            <a:r>
              <a:rPr kumimoji="0" lang="en-US" altLang="zh-CN" sz="12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r>
              <a:rPr kumimoji="0" lang="zh-CN" altLang="en-US" sz="12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a:t>
            </a:r>
            <a:r>
              <a:rPr kumimoji="0" lang="en-US" altLang="zh-CN" sz="1200" b="1" i="0" u="none" strike="noStrike" cap="none" normalizeH="0" baseline="0" dirty="0" err="1">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udpInDatagrams</a:t>
            </a:r>
            <a:endParaRPr kumimoji="0" lang="en-US" altLang="zh-CN" sz="12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p>
            <a:pPr marL="0" marR="0" lvl="0" indent="114300" algn="l" defTabSz="914400" rtl="0" eaLnBrk="0" fontAlgn="base" latinLnBrk="0" hangingPunct="0">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05 00                       	</a:t>
            </a:r>
            <a:r>
              <a:rPr kumimoji="0" lang="en-US" altLang="zh-CN" sz="1400" b="1" i="0" u="none" strike="noStrike" cap="none" normalizeH="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    </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 NULL</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类型，长度</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00</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4482312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9"/>
          <p:cNvSpPr>
            <a:spLocks noChangeArrowheads="1"/>
          </p:cNvSpPr>
          <p:nvPr/>
        </p:nvSpPr>
        <p:spPr bwMode="auto">
          <a:xfrm>
            <a:off x="2629135" y="1294176"/>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微软雅黑 Light" panose="020B0502040204020203" pitchFamily="34" charset="-122"/>
            </a:endParaRPr>
          </a:p>
        </p:txBody>
      </p:sp>
      <p:sp>
        <p:nvSpPr>
          <p:cNvPr id="5" name="Rectangle 10"/>
          <p:cNvSpPr>
            <a:spLocks noChangeArrowheads="1"/>
          </p:cNvSpPr>
          <p:nvPr/>
        </p:nvSpPr>
        <p:spPr bwMode="auto">
          <a:xfrm>
            <a:off x="2629135" y="1757931"/>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微软雅黑 Light" panose="020B0502040204020203" pitchFamily="34" charset="-122"/>
            </a:endParaRPr>
          </a:p>
        </p:txBody>
      </p:sp>
      <p:sp>
        <p:nvSpPr>
          <p:cNvPr id="6" name="Line 16"/>
          <p:cNvSpPr>
            <a:spLocks noChangeShapeType="1"/>
          </p:cNvSpPr>
          <p:nvPr/>
        </p:nvSpPr>
        <p:spPr bwMode="auto">
          <a:xfrm>
            <a:off x="3637198" y="1222738"/>
            <a:ext cx="0" cy="2150510"/>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7" name="Rectangle 27"/>
          <p:cNvSpPr>
            <a:spLocks noChangeArrowheads="1"/>
          </p:cNvSpPr>
          <p:nvPr/>
        </p:nvSpPr>
        <p:spPr bwMode="auto">
          <a:xfrm>
            <a:off x="639730" y="1294176"/>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dirty="0">
              <a:latin typeface="微软雅黑 Light" panose="020B0502040204020203" pitchFamily="34" charset="-122"/>
            </a:endParaRPr>
          </a:p>
        </p:txBody>
      </p:sp>
      <p:sp>
        <p:nvSpPr>
          <p:cNvPr id="8" name="Rectangle 29"/>
          <p:cNvSpPr>
            <a:spLocks noChangeArrowheads="1"/>
          </p:cNvSpPr>
          <p:nvPr/>
        </p:nvSpPr>
        <p:spPr bwMode="auto">
          <a:xfrm>
            <a:off x="648619" y="1389108"/>
            <a:ext cx="1627651" cy="132343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b="1" dirty="0">
                <a:solidFill>
                  <a:srgbClr val="FFFF00"/>
                </a:solidFill>
                <a:latin typeface="微软雅黑 Light" panose="020B0502040204020203" pitchFamily="34" charset="-122"/>
                <a:ea typeface="微软雅黑 Light" panose="020B0502040204020203" pitchFamily="34" charset="-122"/>
              </a:rPr>
              <a:t>6.8</a:t>
            </a:r>
          </a:p>
          <a:p>
            <a:pP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应用进程跨越网络的</a:t>
            </a:r>
            <a:endParaRPr lang="en-US" altLang="zh-CN" sz="2000" b="1" dirty="0">
              <a:solidFill>
                <a:schemeClr val="bg1"/>
              </a:solidFill>
              <a:latin typeface="微软雅黑 Light" panose="020B0502040204020203" pitchFamily="34" charset="-122"/>
              <a:ea typeface="微软雅黑 Light" panose="020B0502040204020203" pitchFamily="34" charset="-122"/>
            </a:endParaRPr>
          </a:p>
          <a:p>
            <a:pP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通信</a:t>
            </a:r>
            <a:endParaRPr lang="zh-CN" altLang="fr-FR" sz="2000" b="1" dirty="0">
              <a:solidFill>
                <a:schemeClr val="bg1"/>
              </a:solidFill>
              <a:latin typeface="微软雅黑 Light" panose="020B0502040204020203" pitchFamily="34" charset="-122"/>
              <a:ea typeface="微软雅黑 Light" panose="020B0502040204020203" pitchFamily="34" charset="-122"/>
            </a:endParaRPr>
          </a:p>
        </p:txBody>
      </p:sp>
      <p:sp>
        <p:nvSpPr>
          <p:cNvPr id="9" name="Rectangle 8"/>
          <p:cNvSpPr>
            <a:spLocks noChangeArrowheads="1"/>
          </p:cNvSpPr>
          <p:nvPr/>
        </p:nvSpPr>
        <p:spPr bwMode="auto">
          <a:xfrm>
            <a:off x="2700573" y="1169875"/>
            <a:ext cx="5756006" cy="9612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2000" b="1" dirty="0">
                <a:solidFill>
                  <a:schemeClr val="bg1"/>
                </a:solidFill>
                <a:latin typeface="微软雅黑 Light" panose="020B0502040204020203" pitchFamily="34" charset="-122"/>
                <a:ea typeface="微软雅黑 Light" panose="020B0502040204020203" pitchFamily="34" charset="-122"/>
              </a:rPr>
              <a:t>6.8.1                           </a:t>
            </a:r>
            <a:r>
              <a:rPr lang="zh-CN" altLang="en-US" sz="2000" b="1" dirty="0">
                <a:solidFill>
                  <a:schemeClr val="bg1"/>
                </a:solidFill>
                <a:latin typeface="微软雅黑 Light" panose="020B0502040204020203" pitchFamily="34" charset="-122"/>
                <a:ea typeface="微软雅黑 Light" panose="020B0502040204020203" pitchFamily="34" charset="-122"/>
              </a:rPr>
              <a:t>系统调用和应用编程接口</a:t>
            </a:r>
          </a:p>
          <a:p>
            <a:pPr eaLnBrk="0" hangingPunct="0">
              <a:lnSpc>
                <a:spcPct val="150000"/>
              </a:lnSpc>
            </a:pPr>
            <a:r>
              <a:rPr lang="en-US" altLang="zh-CN" sz="2000" b="1" dirty="0">
                <a:solidFill>
                  <a:schemeClr val="bg1"/>
                </a:solidFill>
                <a:latin typeface="微软雅黑 Light" panose="020B0502040204020203" pitchFamily="34" charset="-122"/>
                <a:ea typeface="微软雅黑 Light" panose="020B0502040204020203" pitchFamily="34" charset="-122"/>
              </a:rPr>
              <a:t>6.8.2                                  </a:t>
            </a:r>
            <a:r>
              <a:rPr lang="zh-CN" altLang="en-US" sz="2000" b="1" dirty="0">
                <a:solidFill>
                  <a:schemeClr val="bg1"/>
                </a:solidFill>
                <a:latin typeface="微软雅黑 Light" panose="020B0502040204020203" pitchFamily="34" charset="-122"/>
                <a:ea typeface="微软雅黑 Light" panose="020B0502040204020203" pitchFamily="34" charset="-122"/>
              </a:rPr>
              <a:t>几种常用的系统调用</a:t>
            </a:r>
          </a:p>
        </p:txBody>
      </p:sp>
    </p:spTree>
    <p:extLst>
      <p:ext uri="{BB962C8B-B14F-4D97-AF65-F5344CB8AC3E}">
        <p14:creationId xmlns:p14="http://schemas.microsoft.com/office/powerpoint/2010/main" val="5033898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953"/>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323631" y="572682"/>
            <a:ext cx="4496745"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6.8.1  </a:t>
            </a:r>
            <a:r>
              <a:rPr lang="zh-CN" altLang="en-US" sz="2400" b="1" dirty="0">
                <a:solidFill>
                  <a:schemeClr val="bg1"/>
                </a:solidFill>
                <a:latin typeface="微软雅黑 Light" panose="020B0502040204020203" pitchFamily="34" charset="-122"/>
                <a:ea typeface="微软雅黑 Light" panose="020B0502040204020203" pitchFamily="34" charset="-122"/>
              </a:rPr>
              <a:t>系统调用和应用编程接口</a:t>
            </a:r>
          </a:p>
        </p:txBody>
      </p:sp>
      <p:sp>
        <p:nvSpPr>
          <p:cNvPr id="4" name="Rectangle 68"/>
          <p:cNvSpPr>
            <a:spLocks noChangeArrowheads="1"/>
          </p:cNvSpPr>
          <p:nvPr/>
        </p:nvSpPr>
        <p:spPr bwMode="auto">
          <a:xfrm>
            <a:off x="556963" y="1009171"/>
            <a:ext cx="8048776"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大多数操作系统使用</a:t>
            </a:r>
            <a:r>
              <a:rPr lang="zh-CN" altLang="en-US" sz="2000" b="1" dirty="0">
                <a:solidFill>
                  <a:srgbClr val="C00000"/>
                </a:solidFill>
                <a:latin typeface="微软雅黑 Light" panose="020B0502040204020203" pitchFamily="34" charset="-122"/>
                <a:ea typeface="微软雅黑 Light" panose="020B0502040204020203" pitchFamily="34" charset="-122"/>
              </a:rPr>
              <a:t>系统调用 </a:t>
            </a:r>
            <a:r>
              <a:rPr lang="en-US" altLang="zh-CN" sz="2000" b="1" dirty="0">
                <a:latin typeface="微软雅黑 Light" panose="020B0502040204020203" pitchFamily="34" charset="-122"/>
                <a:ea typeface="微软雅黑 Light" panose="020B0502040204020203" pitchFamily="34" charset="-122"/>
              </a:rPr>
              <a:t>(system call ) </a:t>
            </a:r>
            <a:r>
              <a:rPr lang="zh-CN" altLang="en-US" sz="2000" b="1" dirty="0">
                <a:latin typeface="微软雅黑 Light" panose="020B0502040204020203" pitchFamily="34" charset="-122"/>
                <a:ea typeface="微软雅黑 Light" panose="020B0502040204020203" pitchFamily="34" charset="-122"/>
              </a:rPr>
              <a:t>的机制在应用程序和操作系统之间传递控制权。</a:t>
            </a: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对程序员来说，每一个系统调用和一般程序设计中的函数调用非常相似，只是系统调用是将控制权传递给了操作系统。 </a:t>
            </a:r>
          </a:p>
        </p:txBody>
      </p:sp>
    </p:spTree>
    <p:extLst>
      <p:ext uri="{BB962C8B-B14F-4D97-AF65-F5344CB8AC3E}">
        <p14:creationId xmlns:p14="http://schemas.microsoft.com/office/powerpoint/2010/main" val="2269490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526943" y="582898"/>
            <a:ext cx="410881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多个应用进程使用系统调用的机制 </a:t>
            </a:r>
          </a:p>
        </p:txBody>
      </p:sp>
      <p:sp>
        <p:nvSpPr>
          <p:cNvPr id="5" name="Rectangle 3"/>
          <p:cNvSpPr>
            <a:spLocks noChangeArrowheads="1"/>
          </p:cNvSpPr>
          <p:nvPr/>
        </p:nvSpPr>
        <p:spPr bwMode="auto">
          <a:xfrm>
            <a:off x="1384729" y="1509223"/>
            <a:ext cx="4452402" cy="2393411"/>
          </a:xfrm>
          <a:prstGeom prst="rect">
            <a:avLst/>
          </a:prstGeom>
          <a:solidFill>
            <a:srgbClr val="99FFCC"/>
          </a:solidFill>
          <a:ln w="63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6" name="Oval 4"/>
          <p:cNvSpPr>
            <a:spLocks noChangeArrowheads="1"/>
          </p:cNvSpPr>
          <p:nvPr/>
        </p:nvSpPr>
        <p:spPr bwMode="auto">
          <a:xfrm>
            <a:off x="1590938" y="1659023"/>
            <a:ext cx="1099374" cy="523734"/>
          </a:xfrm>
          <a:prstGeom prst="ellipse">
            <a:avLst/>
          </a:prstGeom>
          <a:solidFill>
            <a:srgbClr val="0066FF"/>
          </a:solidFill>
          <a:ln w="9525">
            <a:solidFill>
              <a:srgbClr val="333399"/>
            </a:solidFill>
            <a:round/>
            <a:headEnd/>
            <a:tailEnd/>
          </a:ln>
          <a:effectLst/>
        </p:spPr>
        <p:txBody>
          <a:bodyPr wrap="none" anchor="ct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应用程序 </a:t>
            </a:r>
            <a:r>
              <a:rPr kumimoji="1" lang="en-US" altLang="zh-CN" sz="1400" b="1" dirty="0">
                <a:solidFill>
                  <a:schemeClr val="bg1"/>
                </a:solidFill>
                <a:latin typeface="微软雅黑 Light" panose="020B0502040204020203" pitchFamily="34" charset="-122"/>
                <a:ea typeface="微软雅黑 Light" panose="020B0502040204020203" pitchFamily="34" charset="-122"/>
              </a:rPr>
              <a:t>1</a:t>
            </a:r>
          </a:p>
        </p:txBody>
      </p:sp>
      <p:sp>
        <p:nvSpPr>
          <p:cNvPr id="7" name="Oval 5"/>
          <p:cNvSpPr>
            <a:spLocks noChangeArrowheads="1"/>
          </p:cNvSpPr>
          <p:nvPr/>
        </p:nvSpPr>
        <p:spPr bwMode="auto">
          <a:xfrm>
            <a:off x="2896520" y="1659023"/>
            <a:ext cx="1099374" cy="523734"/>
          </a:xfrm>
          <a:prstGeom prst="ellipse">
            <a:avLst/>
          </a:prstGeom>
          <a:solidFill>
            <a:srgbClr val="0066FF"/>
          </a:solidFill>
          <a:ln w="9525">
            <a:solidFill>
              <a:srgbClr val="333399"/>
            </a:solidFill>
            <a:round/>
            <a:headEnd/>
            <a:tailEnd/>
          </a:ln>
          <a:effectLst/>
        </p:spPr>
        <p:txBody>
          <a:bodyPr wrap="none" anchor="ct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应用程序 </a:t>
            </a:r>
            <a:r>
              <a:rPr kumimoji="1" lang="en-US" altLang="zh-CN" sz="1400" b="1" dirty="0">
                <a:solidFill>
                  <a:schemeClr val="bg1"/>
                </a:solidFill>
                <a:latin typeface="微软雅黑 Light" panose="020B0502040204020203" pitchFamily="34" charset="-122"/>
                <a:ea typeface="微软雅黑 Light" panose="020B0502040204020203" pitchFamily="34" charset="-122"/>
              </a:rPr>
              <a:t>2</a:t>
            </a:r>
          </a:p>
        </p:txBody>
      </p:sp>
      <p:sp>
        <p:nvSpPr>
          <p:cNvPr id="8" name="Oval 6"/>
          <p:cNvSpPr>
            <a:spLocks noChangeArrowheads="1"/>
          </p:cNvSpPr>
          <p:nvPr/>
        </p:nvSpPr>
        <p:spPr bwMode="auto">
          <a:xfrm>
            <a:off x="4544971" y="1659023"/>
            <a:ext cx="1099373" cy="523734"/>
          </a:xfrm>
          <a:prstGeom prst="ellipse">
            <a:avLst/>
          </a:prstGeom>
          <a:solidFill>
            <a:srgbClr val="0066FF"/>
          </a:solidFill>
          <a:ln w="9525">
            <a:solidFill>
              <a:srgbClr val="333399"/>
            </a:solidFill>
            <a:round/>
            <a:headEnd/>
            <a:tailEnd/>
          </a:ln>
          <a:effectLst/>
        </p:spPr>
        <p:txBody>
          <a:bodyPr wrap="none" anchor="ct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应用程序 </a:t>
            </a:r>
            <a:r>
              <a:rPr kumimoji="1" lang="en-US" altLang="zh-CN" sz="1400" b="1" dirty="0">
                <a:solidFill>
                  <a:schemeClr val="bg1"/>
                </a:solidFill>
                <a:latin typeface="微软雅黑 Light" panose="020B0502040204020203" pitchFamily="34" charset="-122"/>
                <a:ea typeface="微软雅黑 Light" panose="020B0502040204020203" pitchFamily="34" charset="-122"/>
              </a:rPr>
              <a:t>n</a:t>
            </a:r>
          </a:p>
        </p:txBody>
      </p:sp>
      <p:sp>
        <p:nvSpPr>
          <p:cNvPr id="9" name="Text Box 7"/>
          <p:cNvSpPr txBox="1">
            <a:spLocks noChangeArrowheads="1"/>
          </p:cNvSpPr>
          <p:nvPr/>
        </p:nvSpPr>
        <p:spPr bwMode="auto">
          <a:xfrm>
            <a:off x="4064223" y="1652266"/>
            <a:ext cx="3145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a:t>
            </a:r>
          </a:p>
        </p:txBody>
      </p:sp>
      <p:sp>
        <p:nvSpPr>
          <p:cNvPr id="10" name="Line 8"/>
          <p:cNvSpPr>
            <a:spLocks noChangeShapeType="1"/>
          </p:cNvSpPr>
          <p:nvPr/>
        </p:nvSpPr>
        <p:spPr bwMode="auto">
          <a:xfrm>
            <a:off x="1384729" y="2706492"/>
            <a:ext cx="44658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 name="Rectangle 9"/>
          <p:cNvSpPr>
            <a:spLocks noChangeArrowheads="1"/>
          </p:cNvSpPr>
          <p:nvPr/>
        </p:nvSpPr>
        <p:spPr bwMode="auto">
          <a:xfrm>
            <a:off x="1401812" y="2720008"/>
            <a:ext cx="4435319" cy="275946"/>
          </a:xfrm>
          <a:prstGeom prst="rect">
            <a:avLst/>
          </a:prstGeom>
          <a:solidFill>
            <a:srgbClr val="CC00CC"/>
          </a:solidFill>
          <a:ln w="9525">
            <a:solidFill>
              <a:schemeClr val="tx1"/>
            </a:solidFill>
            <a:miter lim="800000"/>
            <a:headEnd/>
            <a:tailEnd/>
          </a:ln>
          <a:effec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12" name="Line 10"/>
          <p:cNvSpPr>
            <a:spLocks noChangeShapeType="1"/>
          </p:cNvSpPr>
          <p:nvPr/>
        </p:nvSpPr>
        <p:spPr bwMode="auto">
          <a:xfrm>
            <a:off x="1384729" y="3004964"/>
            <a:ext cx="44658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 name="Text Box 11"/>
          <p:cNvSpPr txBox="1">
            <a:spLocks noChangeArrowheads="1"/>
          </p:cNvSpPr>
          <p:nvPr/>
        </p:nvSpPr>
        <p:spPr bwMode="auto">
          <a:xfrm>
            <a:off x="2391625" y="2690724"/>
            <a:ext cx="2646878"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600" b="1" dirty="0">
                <a:solidFill>
                  <a:schemeClr val="bg1"/>
                </a:solidFill>
                <a:latin typeface="微软雅黑 Light" panose="020B0502040204020203" pitchFamily="34" charset="-122"/>
                <a:ea typeface="微软雅黑 Light" panose="020B0502040204020203" pitchFamily="34" charset="-122"/>
              </a:rPr>
              <a:t>由应用程序调用的系统函数</a:t>
            </a:r>
          </a:p>
        </p:txBody>
      </p:sp>
      <p:sp>
        <p:nvSpPr>
          <p:cNvPr id="14" name="Line 12"/>
          <p:cNvSpPr>
            <a:spLocks noChangeShapeType="1"/>
          </p:cNvSpPr>
          <p:nvPr/>
        </p:nvSpPr>
        <p:spPr bwMode="auto">
          <a:xfrm>
            <a:off x="2140014" y="2182757"/>
            <a:ext cx="0" cy="523735"/>
          </a:xfrm>
          <a:prstGeom prst="line">
            <a:avLst/>
          </a:prstGeom>
          <a:noFill/>
          <a:ln w="28575">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3"/>
          <p:cNvSpPr>
            <a:spLocks noChangeShapeType="1"/>
          </p:cNvSpPr>
          <p:nvPr/>
        </p:nvSpPr>
        <p:spPr bwMode="auto">
          <a:xfrm>
            <a:off x="3445597" y="2182757"/>
            <a:ext cx="0" cy="523735"/>
          </a:xfrm>
          <a:prstGeom prst="line">
            <a:avLst/>
          </a:prstGeom>
          <a:noFill/>
          <a:ln w="28575">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4"/>
          <p:cNvSpPr>
            <a:spLocks noChangeShapeType="1"/>
          </p:cNvSpPr>
          <p:nvPr/>
        </p:nvSpPr>
        <p:spPr bwMode="auto">
          <a:xfrm>
            <a:off x="5095267" y="2182757"/>
            <a:ext cx="0" cy="523735"/>
          </a:xfrm>
          <a:prstGeom prst="line">
            <a:avLst/>
          </a:prstGeom>
          <a:noFill/>
          <a:ln w="28575">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5"/>
          <p:cNvSpPr>
            <a:spLocks noChangeShapeType="1"/>
          </p:cNvSpPr>
          <p:nvPr/>
        </p:nvSpPr>
        <p:spPr bwMode="auto">
          <a:xfrm>
            <a:off x="2415773" y="2182757"/>
            <a:ext cx="1029824" cy="523735"/>
          </a:xfrm>
          <a:prstGeom prst="line">
            <a:avLst/>
          </a:prstGeom>
          <a:noFill/>
          <a:ln w="28575">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6"/>
          <p:cNvSpPr>
            <a:spLocks noChangeShapeType="1"/>
          </p:cNvSpPr>
          <p:nvPr/>
        </p:nvSpPr>
        <p:spPr bwMode="auto">
          <a:xfrm flipH="1">
            <a:off x="3531008" y="2157978"/>
            <a:ext cx="1226271" cy="553019"/>
          </a:xfrm>
          <a:prstGeom prst="line">
            <a:avLst/>
          </a:prstGeom>
          <a:noFill/>
          <a:ln w="28575">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9" name="Line 17"/>
          <p:cNvSpPr>
            <a:spLocks noChangeShapeType="1"/>
          </p:cNvSpPr>
          <p:nvPr/>
        </p:nvSpPr>
        <p:spPr bwMode="auto">
          <a:xfrm flipH="1">
            <a:off x="2171739" y="2029579"/>
            <a:ext cx="2413497" cy="661145"/>
          </a:xfrm>
          <a:prstGeom prst="line">
            <a:avLst/>
          </a:prstGeom>
          <a:noFill/>
          <a:ln w="28575">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Line 18"/>
          <p:cNvSpPr>
            <a:spLocks noChangeShapeType="1"/>
          </p:cNvSpPr>
          <p:nvPr/>
        </p:nvSpPr>
        <p:spPr bwMode="auto">
          <a:xfrm>
            <a:off x="3745759" y="2168115"/>
            <a:ext cx="539315" cy="530492"/>
          </a:xfrm>
          <a:prstGeom prst="line">
            <a:avLst/>
          </a:prstGeom>
          <a:noFill/>
          <a:ln w="28575">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21" name="Group 26"/>
          <p:cNvGrpSpPr>
            <a:grpSpLocks/>
          </p:cNvGrpSpPr>
          <p:nvPr/>
        </p:nvGrpSpPr>
        <p:grpSpPr bwMode="auto">
          <a:xfrm>
            <a:off x="5868854" y="1749130"/>
            <a:ext cx="1703357" cy="479809"/>
            <a:chOff x="4004" y="1563"/>
            <a:chExt cx="1396" cy="426"/>
          </a:xfrm>
        </p:grpSpPr>
        <p:sp>
          <p:nvSpPr>
            <p:cNvPr id="22" name="Text Box 19"/>
            <p:cNvSpPr txBox="1">
              <a:spLocks noChangeArrowheads="1"/>
            </p:cNvSpPr>
            <p:nvPr/>
          </p:nvSpPr>
          <p:spPr bwMode="auto">
            <a:xfrm>
              <a:off x="4366" y="1563"/>
              <a:ext cx="1034" cy="4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90000"/>
                </a:lnSpc>
              </a:pPr>
              <a:r>
                <a:rPr kumimoji="1" lang="zh-CN" altLang="en-US" sz="1400" b="1" dirty="0">
                  <a:latin typeface="微软雅黑 Light" panose="020B0502040204020203" pitchFamily="34" charset="-122"/>
                  <a:ea typeface="微软雅黑 Light" panose="020B0502040204020203" pitchFamily="34" charset="-122"/>
                </a:rPr>
                <a:t>用户地址空间</a:t>
              </a:r>
            </a:p>
            <a:p>
              <a:pPr eaLnBrk="1" hangingPunct="1">
                <a:lnSpc>
                  <a:spcPct val="90000"/>
                </a:lnSpc>
              </a:pPr>
              <a:r>
                <a:rPr kumimoji="1" lang="zh-CN" altLang="en-US" sz="1400" b="1" dirty="0">
                  <a:latin typeface="微软雅黑 Light" panose="020B0502040204020203" pitchFamily="34" charset="-122"/>
                  <a:ea typeface="微软雅黑 Light" panose="020B0502040204020203" pitchFamily="34" charset="-122"/>
                </a:rPr>
                <a:t>中的应用程序</a:t>
              </a:r>
            </a:p>
          </p:txBody>
        </p:sp>
        <p:sp>
          <p:nvSpPr>
            <p:cNvPr id="23" name="Line 20"/>
            <p:cNvSpPr>
              <a:spLocks noChangeShapeType="1"/>
            </p:cNvSpPr>
            <p:nvPr/>
          </p:nvSpPr>
          <p:spPr bwMode="auto">
            <a:xfrm rot="5400000">
              <a:off x="4201" y="1551"/>
              <a:ext cx="0" cy="394"/>
            </a:xfrm>
            <a:prstGeom prst="line">
              <a:avLst/>
            </a:prstGeom>
            <a:noFill/>
            <a:ln w="28575">
              <a:solidFill>
                <a:srgbClr val="00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24" name="Group 27"/>
          <p:cNvGrpSpPr>
            <a:grpSpLocks/>
          </p:cNvGrpSpPr>
          <p:nvPr/>
        </p:nvGrpSpPr>
        <p:grpSpPr bwMode="auto">
          <a:xfrm>
            <a:off x="5868854" y="2704243"/>
            <a:ext cx="1703357" cy="307483"/>
            <a:chOff x="4004" y="2411"/>
            <a:chExt cx="1396" cy="273"/>
          </a:xfrm>
        </p:grpSpPr>
        <p:sp>
          <p:nvSpPr>
            <p:cNvPr id="25" name="Line 21"/>
            <p:cNvSpPr>
              <a:spLocks noChangeShapeType="1"/>
            </p:cNvSpPr>
            <p:nvPr/>
          </p:nvSpPr>
          <p:spPr bwMode="auto">
            <a:xfrm rot="5400000">
              <a:off x="4201" y="2348"/>
              <a:ext cx="0" cy="394"/>
            </a:xfrm>
            <a:prstGeom prst="line">
              <a:avLst/>
            </a:prstGeom>
            <a:noFill/>
            <a:ln w="28575">
              <a:solidFill>
                <a:srgbClr val="00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Text Box 23"/>
            <p:cNvSpPr txBox="1">
              <a:spLocks noChangeArrowheads="1"/>
            </p:cNvSpPr>
            <p:nvPr/>
          </p:nvSpPr>
          <p:spPr bwMode="auto">
            <a:xfrm>
              <a:off x="4366" y="2411"/>
              <a:ext cx="1034" cy="2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系统调用接口</a:t>
              </a:r>
            </a:p>
          </p:txBody>
        </p:sp>
      </p:grpSp>
      <p:grpSp>
        <p:nvGrpSpPr>
          <p:cNvPr id="27" name="Group 28"/>
          <p:cNvGrpSpPr>
            <a:grpSpLocks/>
          </p:cNvGrpSpPr>
          <p:nvPr/>
        </p:nvGrpSpPr>
        <p:grpSpPr bwMode="auto">
          <a:xfrm>
            <a:off x="5868854" y="3193062"/>
            <a:ext cx="1703357" cy="479809"/>
            <a:chOff x="4004" y="2845"/>
            <a:chExt cx="1396" cy="426"/>
          </a:xfrm>
        </p:grpSpPr>
        <p:sp>
          <p:nvSpPr>
            <p:cNvPr id="28" name="Line 22"/>
            <p:cNvSpPr>
              <a:spLocks noChangeShapeType="1"/>
            </p:cNvSpPr>
            <p:nvPr/>
          </p:nvSpPr>
          <p:spPr bwMode="auto">
            <a:xfrm rot="5400000">
              <a:off x="4201" y="2845"/>
              <a:ext cx="0" cy="394"/>
            </a:xfrm>
            <a:prstGeom prst="line">
              <a:avLst/>
            </a:prstGeom>
            <a:noFill/>
            <a:ln w="28575">
              <a:solidFill>
                <a:srgbClr val="00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Text Box 24"/>
            <p:cNvSpPr txBox="1">
              <a:spLocks noChangeArrowheads="1"/>
            </p:cNvSpPr>
            <p:nvPr/>
          </p:nvSpPr>
          <p:spPr bwMode="auto">
            <a:xfrm>
              <a:off x="4366" y="2845"/>
              <a:ext cx="1034" cy="4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90000"/>
                </a:lnSpc>
              </a:pPr>
              <a:r>
                <a:rPr kumimoji="1" lang="zh-CN" altLang="en-US" sz="1400" b="1" dirty="0">
                  <a:latin typeface="微软雅黑 Light" panose="020B0502040204020203" pitchFamily="34" charset="-122"/>
                  <a:ea typeface="微软雅黑 Light" panose="020B0502040204020203" pitchFamily="34" charset="-122"/>
                </a:rPr>
                <a:t>系统地址空间</a:t>
              </a:r>
            </a:p>
            <a:p>
              <a:pPr eaLnBrk="1" hangingPunct="1">
                <a:lnSpc>
                  <a:spcPct val="90000"/>
                </a:lnSpc>
              </a:pPr>
              <a:r>
                <a:rPr kumimoji="1" lang="zh-CN" altLang="en-US" sz="1400" b="1" dirty="0">
                  <a:latin typeface="微软雅黑 Light" panose="020B0502040204020203" pitchFamily="34" charset="-122"/>
                  <a:ea typeface="微软雅黑 Light" panose="020B0502040204020203" pitchFamily="34" charset="-122"/>
                </a:rPr>
                <a:t>中的协议软件</a:t>
              </a:r>
            </a:p>
          </p:txBody>
        </p:sp>
      </p:grpSp>
      <p:sp>
        <p:nvSpPr>
          <p:cNvPr id="30" name="Text Box 25"/>
          <p:cNvSpPr txBox="1">
            <a:spLocks noChangeArrowheads="1"/>
          </p:cNvSpPr>
          <p:nvPr/>
        </p:nvSpPr>
        <p:spPr bwMode="auto">
          <a:xfrm>
            <a:off x="1938687" y="3264016"/>
            <a:ext cx="323300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包括 </a:t>
            </a:r>
            <a:r>
              <a:rPr kumimoji="1" lang="en-US" altLang="zh-CN" sz="1400" b="1" dirty="0">
                <a:latin typeface="微软雅黑 Light" panose="020B0502040204020203" pitchFamily="34" charset="-122"/>
                <a:ea typeface="微软雅黑 Light" panose="020B0502040204020203" pitchFamily="34" charset="-122"/>
              </a:rPr>
              <a:t>TCP/IP </a:t>
            </a:r>
            <a:r>
              <a:rPr kumimoji="1" lang="zh-CN" altLang="en-US" sz="1400" b="1" dirty="0">
                <a:latin typeface="微软雅黑 Light" panose="020B0502040204020203" pitchFamily="34" charset="-122"/>
                <a:ea typeface="微软雅黑 Light" panose="020B0502040204020203" pitchFamily="34" charset="-122"/>
              </a:rPr>
              <a:t>协议软件的操作系统内核</a:t>
            </a:r>
          </a:p>
        </p:txBody>
      </p:sp>
    </p:spTree>
    <p:extLst>
      <p:ext uri="{BB962C8B-B14F-4D97-AF65-F5344CB8AC3E}">
        <p14:creationId xmlns:p14="http://schemas.microsoft.com/office/powerpoint/2010/main" val="4109779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1000"/>
                                  </p:stCondLst>
                                  <p:childTnLst>
                                    <p:set>
                                      <p:cBhvr>
                                        <p:cTn id="6" dur="1" fill="hold">
                                          <p:stCondLst>
                                            <p:cond delay="0"/>
                                          </p:stCondLst>
                                        </p:cTn>
                                        <p:tgtEl>
                                          <p:spTgt spid="21"/>
                                        </p:tgtEl>
                                        <p:attrNameLst>
                                          <p:attrName>style.visibility</p:attrName>
                                        </p:attrNameLst>
                                      </p:cBhvr>
                                      <p:to>
                                        <p:strVal val="visible"/>
                                      </p:to>
                                    </p:set>
                                  </p:childTnLst>
                                </p:cTn>
                              </p:par>
                            </p:childTnLst>
                          </p:cTn>
                        </p:par>
                        <p:par>
                          <p:cTn id="7" fill="hold">
                            <p:stCondLst>
                              <p:cond delay="1000"/>
                            </p:stCondLst>
                            <p:childTnLst>
                              <p:par>
                                <p:cTn id="8" presetID="35" presetClass="emph" presetSubtype="0" repeatCount="3000" fill="hold" nodeType="afterEffect">
                                  <p:stCondLst>
                                    <p:cond delay="0"/>
                                  </p:stCondLst>
                                  <p:childTnLst>
                                    <p:anim calcmode="discrete" valueType="str">
                                      <p:cBhvr>
                                        <p:cTn id="9" dur="1000" fill="hold"/>
                                        <p:tgtEl>
                                          <p:spTgt spid="21"/>
                                        </p:tgtEl>
                                        <p:attrNameLst>
                                          <p:attrName>style.visibility</p:attrName>
                                        </p:attrNameLst>
                                      </p:cBhvr>
                                      <p:tavLst>
                                        <p:tav tm="0">
                                          <p:val>
                                            <p:strVal val="hidden"/>
                                          </p:val>
                                        </p:tav>
                                        <p:tav tm="50000">
                                          <p:val>
                                            <p:strVal val="visible"/>
                                          </p:val>
                                        </p:tav>
                                      </p:tavLst>
                                    </p:anim>
                                  </p:childTnLst>
                                </p:cTn>
                              </p:par>
                            </p:childTnLst>
                          </p:cTn>
                        </p:par>
                        <p:par>
                          <p:cTn id="10" fill="hold">
                            <p:stCondLst>
                              <p:cond delay="4000"/>
                            </p:stCondLst>
                            <p:childTnLst>
                              <p:par>
                                <p:cTn id="11" presetID="1" presetClass="entr" presetSubtype="0" fill="hold" nodeType="afterEffect">
                                  <p:stCondLst>
                                    <p:cond delay="1000"/>
                                  </p:stCondLst>
                                  <p:childTnLst>
                                    <p:set>
                                      <p:cBhvr>
                                        <p:cTn id="12" dur="1" fill="hold">
                                          <p:stCondLst>
                                            <p:cond delay="0"/>
                                          </p:stCondLst>
                                        </p:cTn>
                                        <p:tgtEl>
                                          <p:spTgt spid="24"/>
                                        </p:tgtEl>
                                        <p:attrNameLst>
                                          <p:attrName>style.visibility</p:attrName>
                                        </p:attrNameLst>
                                      </p:cBhvr>
                                      <p:to>
                                        <p:strVal val="visible"/>
                                      </p:to>
                                    </p:set>
                                  </p:childTnLst>
                                </p:cTn>
                              </p:par>
                            </p:childTnLst>
                          </p:cTn>
                        </p:par>
                        <p:par>
                          <p:cTn id="13" fill="hold">
                            <p:stCondLst>
                              <p:cond delay="5000"/>
                            </p:stCondLst>
                            <p:childTnLst>
                              <p:par>
                                <p:cTn id="14" presetID="35" presetClass="emph" presetSubtype="0" repeatCount="3000" fill="hold" nodeType="afterEffect">
                                  <p:stCondLst>
                                    <p:cond delay="0"/>
                                  </p:stCondLst>
                                  <p:childTnLst>
                                    <p:anim calcmode="discrete" valueType="str">
                                      <p:cBhvr>
                                        <p:cTn id="15" dur="1000" fill="hold"/>
                                        <p:tgtEl>
                                          <p:spTgt spid="24"/>
                                        </p:tgtEl>
                                        <p:attrNameLst>
                                          <p:attrName>style.visibility</p:attrName>
                                        </p:attrNameLst>
                                      </p:cBhvr>
                                      <p:tavLst>
                                        <p:tav tm="0">
                                          <p:val>
                                            <p:strVal val="hidden"/>
                                          </p:val>
                                        </p:tav>
                                        <p:tav tm="50000">
                                          <p:val>
                                            <p:strVal val="visible"/>
                                          </p:val>
                                        </p:tav>
                                      </p:tavLst>
                                    </p:anim>
                                  </p:childTnLst>
                                </p:cTn>
                              </p:par>
                            </p:childTnLst>
                          </p:cTn>
                        </p:par>
                        <p:par>
                          <p:cTn id="16" fill="hold">
                            <p:stCondLst>
                              <p:cond delay="8000"/>
                            </p:stCondLst>
                            <p:childTnLst>
                              <p:par>
                                <p:cTn id="17" presetID="1" presetClass="entr" presetSubtype="0" fill="hold" nodeType="afterEffect">
                                  <p:stCondLst>
                                    <p:cond delay="1000"/>
                                  </p:stCondLst>
                                  <p:childTnLst>
                                    <p:set>
                                      <p:cBhvr>
                                        <p:cTn id="18" dur="1" fill="hold">
                                          <p:stCondLst>
                                            <p:cond delay="0"/>
                                          </p:stCondLst>
                                        </p:cTn>
                                        <p:tgtEl>
                                          <p:spTgt spid="27"/>
                                        </p:tgtEl>
                                        <p:attrNameLst>
                                          <p:attrName>style.visibility</p:attrName>
                                        </p:attrNameLst>
                                      </p:cBhvr>
                                      <p:to>
                                        <p:strVal val="visible"/>
                                      </p:to>
                                    </p:set>
                                  </p:childTnLst>
                                </p:cTn>
                              </p:par>
                            </p:childTnLst>
                          </p:cTn>
                        </p:par>
                        <p:par>
                          <p:cTn id="19" fill="hold">
                            <p:stCondLst>
                              <p:cond delay="9000"/>
                            </p:stCondLst>
                            <p:childTnLst>
                              <p:par>
                                <p:cTn id="20" presetID="35" presetClass="emph" presetSubtype="0" repeatCount="3000" fill="hold" nodeType="afterEffect">
                                  <p:stCondLst>
                                    <p:cond delay="0"/>
                                  </p:stCondLst>
                                  <p:childTnLst>
                                    <p:anim calcmode="discrete" valueType="str">
                                      <p:cBhvr>
                                        <p:cTn id="21" dur="1000" fill="hold"/>
                                        <p:tgtEl>
                                          <p:spTgt spid="2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5640"/>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457491" y="582429"/>
            <a:ext cx="224773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应用编程接口 </a:t>
            </a:r>
            <a:r>
              <a:rPr lang="en-US" altLang="zh-CN" sz="2000" b="1" dirty="0">
                <a:solidFill>
                  <a:schemeClr val="bg1"/>
                </a:solidFill>
                <a:latin typeface="微软雅黑 Light" panose="020B0502040204020203" pitchFamily="34" charset="-122"/>
                <a:ea typeface="微软雅黑 Light" panose="020B0502040204020203" pitchFamily="34" charset="-122"/>
              </a:rPr>
              <a:t>API</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474666" y="931010"/>
            <a:ext cx="8276142"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系统调用接口</a:t>
            </a:r>
            <a:r>
              <a:rPr lang="zh-CN" altLang="en-US" sz="2000" b="1" dirty="0">
                <a:latin typeface="微软雅黑 Light" panose="020B0502040204020203" pitchFamily="34" charset="-122"/>
                <a:ea typeface="微软雅黑 Light" panose="020B0502040204020203" pitchFamily="34" charset="-122"/>
              </a:rPr>
              <a:t>实际上就是应用进程的控制权和操作系统的控制权进行转换的一个接口。</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使用系统调用之前要编写一些程序，特别是需要设置系统调用中的许多参数，因此这种系统调用接口又称为</a:t>
            </a:r>
            <a:r>
              <a:rPr lang="zh-CN" altLang="en-US" sz="2000" b="1" dirty="0">
                <a:solidFill>
                  <a:srgbClr val="C00000"/>
                </a:solidFill>
                <a:latin typeface="微软雅黑 Light" panose="020B0502040204020203" pitchFamily="34" charset="-122"/>
                <a:ea typeface="微软雅黑 Light" panose="020B0502040204020203" pitchFamily="34" charset="-122"/>
              </a:rPr>
              <a:t>应用编程接口 </a:t>
            </a:r>
            <a:r>
              <a:rPr lang="en-US" altLang="zh-CN" sz="2000" b="1" dirty="0">
                <a:solidFill>
                  <a:srgbClr val="C00000"/>
                </a:solidFill>
                <a:latin typeface="微软雅黑 Light" panose="020B0502040204020203" pitchFamily="34" charset="-122"/>
                <a:ea typeface="微软雅黑 Light" panose="020B0502040204020203" pitchFamily="34" charset="-122"/>
              </a:rPr>
              <a:t>API </a:t>
            </a:r>
            <a:r>
              <a:rPr lang="en-US" altLang="zh-CN" sz="2000" b="1" dirty="0">
                <a:latin typeface="微软雅黑 Light" panose="020B0502040204020203" pitchFamily="34" charset="-122"/>
                <a:ea typeface="微软雅黑 Light" panose="020B0502040204020203" pitchFamily="34" charset="-122"/>
              </a:rPr>
              <a:t>(Application Programming Interface) </a:t>
            </a:r>
            <a:r>
              <a:rPr lang="zh-CN" altLang="en-US" sz="2000" b="1" dirty="0">
                <a:latin typeface="微软雅黑 Light" panose="020B0502040204020203" pitchFamily="34" charset="-122"/>
                <a:ea typeface="微软雅黑 Light" panose="020B0502040204020203" pitchFamily="34" charset="-122"/>
              </a:rPr>
              <a:t>。</a:t>
            </a:r>
            <a:endParaRPr lang="en-US" altLang="zh-CN" sz="20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480462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2602"/>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231467" y="579391"/>
            <a:ext cx="269977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几种应用编程接口 </a:t>
            </a:r>
            <a:r>
              <a:rPr lang="en-US" altLang="zh-CN" sz="2000" b="1" dirty="0">
                <a:solidFill>
                  <a:schemeClr val="bg1"/>
                </a:solidFill>
                <a:latin typeface="微软雅黑 Light" panose="020B0502040204020203" pitchFamily="34" charset="-122"/>
                <a:ea typeface="微软雅黑 Light" panose="020B0502040204020203" pitchFamily="34" charset="-122"/>
              </a:rPr>
              <a:t>API</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556963" y="973692"/>
            <a:ext cx="8048776" cy="263149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Berkeley </a:t>
            </a:r>
            <a:r>
              <a:rPr lang="en-US" altLang="zh-CN" sz="2000" b="1" dirty="0">
                <a:latin typeface="微软雅黑 Light" panose="020B0502040204020203" pitchFamily="34" charset="-122"/>
                <a:ea typeface="微软雅黑 Light" panose="020B0502040204020203" pitchFamily="34" charset="-122"/>
              </a:rPr>
              <a:t>UNIX </a:t>
            </a:r>
            <a:r>
              <a:rPr lang="zh-CN" altLang="en-US" sz="2000" b="1" dirty="0">
                <a:latin typeface="微软雅黑 Light" panose="020B0502040204020203" pitchFamily="34" charset="-122"/>
                <a:ea typeface="微软雅黑 Light" panose="020B0502040204020203" pitchFamily="34" charset="-122"/>
              </a:rPr>
              <a:t>操作系统定义了一种 </a:t>
            </a:r>
            <a:r>
              <a:rPr lang="en-US" altLang="zh-CN" sz="2000" b="1" dirty="0">
                <a:latin typeface="微软雅黑 Light" panose="020B0502040204020203" pitchFamily="34" charset="-122"/>
                <a:ea typeface="微软雅黑 Light" panose="020B0502040204020203" pitchFamily="34" charset="-122"/>
              </a:rPr>
              <a:t>API</a:t>
            </a:r>
            <a:r>
              <a:rPr lang="zh-CN" altLang="en-US" sz="2000" b="1" dirty="0">
                <a:latin typeface="微软雅黑 Light" panose="020B0502040204020203" pitchFamily="34" charset="-122"/>
                <a:ea typeface="微软雅黑 Light" panose="020B0502040204020203" pitchFamily="34" charset="-122"/>
              </a:rPr>
              <a:t>，它又称为</a:t>
            </a:r>
            <a:r>
              <a:rPr lang="zh-CN" altLang="en-US" sz="2000" b="1" dirty="0">
                <a:solidFill>
                  <a:srgbClr val="C00000"/>
                </a:solidFill>
                <a:latin typeface="微软雅黑 Light" panose="020B0502040204020203" pitchFamily="34" charset="-122"/>
                <a:ea typeface="微软雅黑 Light" panose="020B0502040204020203" pitchFamily="34" charset="-122"/>
              </a:rPr>
              <a:t>套接字接口 </a:t>
            </a:r>
            <a:r>
              <a:rPr lang="en-US" altLang="zh-CN" sz="2000" b="1" dirty="0">
                <a:latin typeface="微软雅黑 Light" panose="020B0502040204020203" pitchFamily="34" charset="-122"/>
                <a:ea typeface="微软雅黑 Light" panose="020B0502040204020203" pitchFamily="34" charset="-122"/>
              </a:rPr>
              <a:t>(socket interface)</a:t>
            </a:r>
            <a:r>
              <a:rPr lang="zh-CN" altLang="en-US" sz="2000" b="1" dirty="0">
                <a:latin typeface="微软雅黑 Light" panose="020B0502040204020203" pitchFamily="34" charset="-122"/>
                <a:ea typeface="微软雅黑 Light" panose="020B0502040204020203" pitchFamily="34" charset="-122"/>
              </a:rPr>
              <a:t>。</a:t>
            </a:r>
          </a:p>
          <a:p>
            <a:pPr marL="342900" indent="-342900" eaLnBrk="0" hangingPunct="0">
              <a:lnSpc>
                <a:spcPts val="33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微软</a:t>
            </a:r>
            <a:r>
              <a:rPr lang="zh-CN" altLang="en-US" sz="2000" b="1" dirty="0">
                <a:latin typeface="微软雅黑 Light" panose="020B0502040204020203" pitchFamily="34" charset="-122"/>
                <a:ea typeface="微软雅黑 Light" panose="020B0502040204020203" pitchFamily="34" charset="-122"/>
              </a:rPr>
              <a:t>公司在其操作系统中采用了套接字接口  </a:t>
            </a:r>
            <a:r>
              <a:rPr lang="en-US" altLang="zh-CN" sz="2000" b="1" dirty="0">
                <a:latin typeface="微软雅黑 Light" panose="020B0502040204020203" pitchFamily="34" charset="-122"/>
                <a:ea typeface="微软雅黑 Light" panose="020B0502040204020203" pitchFamily="34" charset="-122"/>
              </a:rPr>
              <a:t>API</a:t>
            </a:r>
            <a:r>
              <a:rPr lang="zh-CN" altLang="en-US" sz="2000" b="1" dirty="0">
                <a:latin typeface="微软雅黑 Light" panose="020B0502040204020203" pitchFamily="34" charset="-122"/>
                <a:ea typeface="微软雅黑 Light" panose="020B0502040204020203" pitchFamily="34" charset="-122"/>
              </a:rPr>
              <a:t>，形成了一个稍有不同的 </a:t>
            </a:r>
            <a:r>
              <a:rPr lang="en-US" altLang="zh-CN" sz="2000" b="1" dirty="0">
                <a:latin typeface="微软雅黑 Light" panose="020B0502040204020203" pitchFamily="34" charset="-122"/>
                <a:ea typeface="微软雅黑 Light" panose="020B0502040204020203" pitchFamily="34" charset="-122"/>
              </a:rPr>
              <a:t>API</a:t>
            </a:r>
            <a:r>
              <a:rPr lang="zh-CN" altLang="en-US" sz="2000" b="1" dirty="0">
                <a:latin typeface="微软雅黑 Light" panose="020B0502040204020203" pitchFamily="34" charset="-122"/>
                <a:ea typeface="微软雅黑 Light" panose="020B0502040204020203" pitchFamily="34" charset="-122"/>
              </a:rPr>
              <a:t>，并称之为  </a:t>
            </a:r>
            <a:r>
              <a:rPr lang="en-US" altLang="zh-CN" sz="2000" b="1" dirty="0">
                <a:solidFill>
                  <a:srgbClr val="C00000"/>
                </a:solidFill>
                <a:latin typeface="微软雅黑 Light" panose="020B0502040204020203" pitchFamily="34" charset="-122"/>
                <a:ea typeface="微软雅黑 Light" panose="020B0502040204020203" pitchFamily="34" charset="-122"/>
              </a:rPr>
              <a:t>Windows Socket</a:t>
            </a:r>
            <a:r>
              <a:rPr lang="zh-CN" altLang="en-US" sz="2000" b="1" dirty="0">
                <a:solidFill>
                  <a:srgbClr val="C00000"/>
                </a:solidFill>
                <a:latin typeface="微软雅黑 Light" panose="020B0502040204020203" pitchFamily="34" charset="-122"/>
                <a:ea typeface="微软雅黑 Light" panose="020B0502040204020203" pitchFamily="34" charset="-122"/>
              </a:rPr>
              <a:t>。</a:t>
            </a:r>
          </a:p>
          <a:p>
            <a:pPr marL="342900" indent="-342900" eaLnBrk="0" hangingPunct="0">
              <a:lnSpc>
                <a:spcPts val="33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AT&amp;T </a:t>
            </a:r>
            <a:r>
              <a:rPr lang="zh-CN" altLang="en-US" sz="2000" b="1" dirty="0">
                <a:latin typeface="微软雅黑 Light" panose="020B0502040204020203" pitchFamily="34" charset="-122"/>
                <a:ea typeface="微软雅黑 Light" panose="020B0502040204020203" pitchFamily="34" charset="-122"/>
              </a:rPr>
              <a:t>为其 </a:t>
            </a:r>
            <a:r>
              <a:rPr lang="en-US" altLang="zh-CN" sz="2000" b="1" dirty="0">
                <a:latin typeface="微软雅黑 Light" panose="020B0502040204020203" pitchFamily="34" charset="-122"/>
                <a:ea typeface="微软雅黑 Light" panose="020B0502040204020203" pitchFamily="34" charset="-122"/>
              </a:rPr>
              <a:t>UNIX </a:t>
            </a:r>
            <a:r>
              <a:rPr lang="zh-CN" altLang="en-US" sz="2000" b="1" dirty="0">
                <a:latin typeface="微软雅黑 Light" panose="020B0502040204020203" pitchFamily="34" charset="-122"/>
                <a:ea typeface="微软雅黑 Light" panose="020B0502040204020203" pitchFamily="34" charset="-122"/>
              </a:rPr>
              <a:t>系统 </a:t>
            </a:r>
            <a:r>
              <a:rPr lang="en-US" altLang="zh-CN" sz="2000" b="1" dirty="0">
                <a:latin typeface="微软雅黑 Light" panose="020B0502040204020203" pitchFamily="34" charset="-122"/>
                <a:ea typeface="微软雅黑 Light" panose="020B0502040204020203" pitchFamily="34" charset="-122"/>
              </a:rPr>
              <a:t>V </a:t>
            </a:r>
            <a:r>
              <a:rPr lang="zh-CN" altLang="en-US" sz="2000" b="1" dirty="0">
                <a:latin typeface="微软雅黑 Light" panose="020B0502040204020203" pitchFamily="34" charset="-122"/>
                <a:ea typeface="微软雅黑 Light" panose="020B0502040204020203" pitchFamily="34" charset="-122"/>
              </a:rPr>
              <a:t>定义了一种 </a:t>
            </a:r>
            <a:r>
              <a:rPr lang="en-US" altLang="zh-CN" sz="2000" b="1" dirty="0">
                <a:latin typeface="微软雅黑 Light" panose="020B0502040204020203" pitchFamily="34" charset="-122"/>
                <a:ea typeface="微软雅黑 Light" panose="020B0502040204020203" pitchFamily="34" charset="-122"/>
              </a:rPr>
              <a:t>API</a:t>
            </a:r>
            <a:r>
              <a:rPr lang="zh-CN" altLang="en-US" sz="2000" b="1" dirty="0">
                <a:latin typeface="微软雅黑 Light" panose="020B0502040204020203" pitchFamily="34" charset="-122"/>
                <a:ea typeface="微软雅黑 Light" panose="020B0502040204020203" pitchFamily="34" charset="-122"/>
              </a:rPr>
              <a:t>，简写为 </a:t>
            </a:r>
            <a:r>
              <a:rPr lang="en-US" altLang="zh-CN" sz="2000" b="1" dirty="0">
                <a:solidFill>
                  <a:srgbClr val="C00000"/>
                </a:solidFill>
                <a:latin typeface="微软雅黑 Light" panose="020B0502040204020203" pitchFamily="34" charset="-122"/>
                <a:ea typeface="微软雅黑 Light" panose="020B0502040204020203" pitchFamily="34" charset="-122"/>
              </a:rPr>
              <a:t>TLI</a:t>
            </a:r>
            <a:r>
              <a:rPr lang="en-US" altLang="zh-CN" sz="2000" b="1" dirty="0">
                <a:latin typeface="微软雅黑 Light" panose="020B0502040204020203" pitchFamily="34" charset="-122"/>
                <a:ea typeface="微软雅黑 Light" panose="020B0502040204020203" pitchFamily="34" charset="-122"/>
              </a:rPr>
              <a:t> (Transport Layer Interface)</a:t>
            </a:r>
            <a:r>
              <a:rPr lang="zh-CN" altLang="en-US" sz="2000" b="1" dirty="0">
                <a:latin typeface="微软雅黑 Light" panose="020B0502040204020203" pitchFamily="34" charset="-122"/>
                <a:ea typeface="微软雅黑 Light" panose="020B0502040204020203" pitchFamily="34" charset="-122"/>
              </a:rPr>
              <a:t>。 </a:t>
            </a:r>
          </a:p>
        </p:txBody>
      </p:sp>
    </p:spTree>
    <p:extLst>
      <p:ext uri="{BB962C8B-B14F-4D97-AF65-F5344CB8AC3E}">
        <p14:creationId xmlns:p14="http://schemas.microsoft.com/office/powerpoint/2010/main" val="15693426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655183" y="582898"/>
            <a:ext cx="385233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应用进程通过套接字接入到网络</a:t>
            </a:r>
          </a:p>
        </p:txBody>
      </p:sp>
      <p:sp>
        <p:nvSpPr>
          <p:cNvPr id="5" name="AutoShape 71"/>
          <p:cNvSpPr>
            <a:spLocks noChangeArrowheads="1"/>
          </p:cNvSpPr>
          <p:nvPr/>
        </p:nvSpPr>
        <p:spPr bwMode="auto">
          <a:xfrm>
            <a:off x="1977318" y="1694767"/>
            <a:ext cx="372733" cy="972704"/>
          </a:xfrm>
          <a:prstGeom prst="upArrow">
            <a:avLst>
              <a:gd name="adj1" fmla="val 50000"/>
              <a:gd name="adj2" fmla="val 70678"/>
            </a:avLst>
          </a:prstGeom>
          <a:solidFill>
            <a:srgbClr val="00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graphicFrame>
        <p:nvGraphicFramePr>
          <p:cNvPr id="6" name="Object 72"/>
          <p:cNvGraphicFramePr>
            <a:graphicFrameLocks noChangeAspect="1"/>
          </p:cNvGraphicFramePr>
          <p:nvPr>
            <p:extLst>
              <p:ext uri="{D42A27DB-BD31-4B8C-83A1-F6EECF244321}">
                <p14:modId xmlns:p14="http://schemas.microsoft.com/office/powerpoint/2010/main" val="4206705044"/>
              </p:ext>
            </p:extLst>
          </p:nvPr>
        </p:nvGraphicFramePr>
        <p:xfrm>
          <a:off x="4158128" y="2372394"/>
          <a:ext cx="2448672" cy="1651498"/>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7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158128" y="2372394"/>
                        <a:ext cx="2448672" cy="16514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7" name="Rectangle 73"/>
          <p:cNvSpPr>
            <a:spLocks noChangeArrowheads="1"/>
          </p:cNvSpPr>
          <p:nvPr/>
        </p:nvSpPr>
        <p:spPr bwMode="auto">
          <a:xfrm>
            <a:off x="2673509" y="2181120"/>
            <a:ext cx="1394909" cy="534171"/>
          </a:xfrm>
          <a:prstGeom prst="rect">
            <a:avLst/>
          </a:prstGeom>
          <a:solidFill>
            <a:srgbClr val="00FFCC"/>
          </a:solidFill>
          <a:ln w="12700">
            <a:solidFill>
              <a:schemeClr val="tx1"/>
            </a:solidFill>
            <a:miter lim="800000"/>
            <a:headEnd/>
            <a:tailEnd/>
          </a:ln>
          <a:effectLst/>
        </p:spPr>
        <p:txBody>
          <a:bodyPr wrap="none" anchor="ctr"/>
          <a:lstStyle/>
          <a:p>
            <a:pPr algn="ctr" eaLnBrk="1" hangingPunct="1"/>
            <a:r>
              <a:rPr kumimoji="1" lang="zh-CN" altLang="en-US" sz="1400" b="1" dirty="0">
                <a:latin typeface="微软雅黑 Light" panose="020B0502040204020203" pitchFamily="34" charset="-122"/>
                <a:ea typeface="微软雅黑 Light" panose="020B0502040204020203" pitchFamily="34" charset="-122"/>
              </a:rPr>
              <a:t>应用进程</a:t>
            </a:r>
          </a:p>
        </p:txBody>
      </p:sp>
      <p:sp>
        <p:nvSpPr>
          <p:cNvPr id="8" name="Rectangle 74"/>
          <p:cNvSpPr>
            <a:spLocks noChangeArrowheads="1"/>
          </p:cNvSpPr>
          <p:nvPr/>
        </p:nvSpPr>
        <p:spPr bwMode="auto">
          <a:xfrm>
            <a:off x="2673509" y="3058186"/>
            <a:ext cx="1394909" cy="825749"/>
          </a:xfrm>
          <a:prstGeom prst="rect">
            <a:avLst/>
          </a:prstGeom>
          <a:solidFill>
            <a:srgbClr val="0000FF"/>
          </a:solidFill>
          <a:ln w="12700">
            <a:solidFill>
              <a:schemeClr val="tx1"/>
            </a:solidFill>
            <a:miter lim="800000"/>
            <a:headEnd/>
            <a:tailEnd/>
          </a:ln>
          <a:effectLst/>
        </p:spPr>
        <p:txBody>
          <a:bodyPr wrap="none" anchor="ctr"/>
          <a:lstStyle/>
          <a:p>
            <a:pPr algn="ctr" eaLnBrk="1" hangingPunct="1">
              <a:spcAft>
                <a:spcPct val="30000"/>
              </a:spcAft>
            </a:pPr>
            <a:endParaRPr kumimoji="1" lang="en-US" altLang="zh-CN" sz="1400" b="1" dirty="0">
              <a:solidFill>
                <a:schemeClr val="bg1"/>
              </a:solidFill>
              <a:latin typeface="微软雅黑 Light" panose="020B0502040204020203" pitchFamily="34" charset="-122"/>
              <a:ea typeface="微软雅黑 Light" panose="020B0502040204020203" pitchFamily="34" charset="-122"/>
            </a:endParaRPr>
          </a:p>
          <a:p>
            <a:pPr algn="ctr" eaLnBrk="1" hangingPunct="1">
              <a:spcAft>
                <a:spcPct val="30000"/>
              </a:spcAft>
            </a:pPr>
            <a:r>
              <a:rPr kumimoji="1" lang="en-US" altLang="zh-CN" sz="1400" b="1" dirty="0">
                <a:solidFill>
                  <a:schemeClr val="bg1"/>
                </a:solidFill>
                <a:latin typeface="微软雅黑 Light" panose="020B0502040204020203" pitchFamily="34" charset="-122"/>
                <a:ea typeface="微软雅黑 Light" panose="020B0502040204020203" pitchFamily="34" charset="-122"/>
              </a:rPr>
              <a:t>TCP</a:t>
            </a:r>
          </a:p>
          <a:p>
            <a:pPr algn="ctr" eaLnBrk="1" hangingPunct="1"/>
            <a:endParaRPr kumimoji="1" lang="en-US" altLang="zh-CN" sz="1400" b="1" dirty="0">
              <a:solidFill>
                <a:schemeClr val="bg1"/>
              </a:solidFill>
              <a:latin typeface="微软雅黑 Light" panose="020B0502040204020203" pitchFamily="34" charset="-122"/>
              <a:ea typeface="微软雅黑 Light" panose="020B0502040204020203" pitchFamily="34" charset="-122"/>
            </a:endParaRPr>
          </a:p>
        </p:txBody>
      </p:sp>
      <p:sp>
        <p:nvSpPr>
          <p:cNvPr id="9" name="Line 75"/>
          <p:cNvSpPr>
            <a:spLocks noChangeShapeType="1"/>
          </p:cNvSpPr>
          <p:nvPr/>
        </p:nvSpPr>
        <p:spPr bwMode="auto">
          <a:xfrm>
            <a:off x="4068418" y="3396417"/>
            <a:ext cx="2634408" cy="5831"/>
          </a:xfrm>
          <a:prstGeom prst="line">
            <a:avLst/>
          </a:prstGeom>
          <a:noFill/>
          <a:ln w="5715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7" name="Text Box 103"/>
          <p:cNvSpPr txBox="1">
            <a:spLocks noChangeArrowheads="1"/>
          </p:cNvSpPr>
          <p:nvPr/>
        </p:nvSpPr>
        <p:spPr bwMode="auto">
          <a:xfrm>
            <a:off x="913053" y="1893040"/>
            <a:ext cx="1082348" cy="52322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400" b="1" dirty="0">
                <a:latin typeface="微软雅黑 Light" panose="020B0502040204020203" pitchFamily="34" charset="-122"/>
                <a:ea typeface="微软雅黑 Light" panose="020B0502040204020203" pitchFamily="34" charset="-122"/>
              </a:rPr>
              <a:t>由应用程序</a:t>
            </a:r>
          </a:p>
          <a:p>
            <a:pPr algn="ctr" eaLnBrk="1" hangingPunct="1"/>
            <a:r>
              <a:rPr kumimoji="1" lang="zh-CN" altLang="en-US" sz="1400" b="1" dirty="0">
                <a:latin typeface="微软雅黑 Light" panose="020B0502040204020203" pitchFamily="34" charset="-122"/>
                <a:ea typeface="微软雅黑 Light" panose="020B0502040204020203" pitchFamily="34" charset="-122"/>
              </a:rPr>
              <a:t>控制</a:t>
            </a:r>
          </a:p>
        </p:txBody>
      </p:sp>
      <p:sp>
        <p:nvSpPr>
          <p:cNvPr id="38" name="Text Box 104"/>
          <p:cNvSpPr txBox="1">
            <a:spLocks noChangeArrowheads="1"/>
          </p:cNvSpPr>
          <p:nvPr/>
        </p:nvSpPr>
        <p:spPr bwMode="auto">
          <a:xfrm>
            <a:off x="5023984" y="2963388"/>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互联网</a:t>
            </a:r>
          </a:p>
        </p:txBody>
      </p:sp>
      <p:sp>
        <p:nvSpPr>
          <p:cNvPr id="39" name="Text Box 105"/>
          <p:cNvSpPr txBox="1">
            <a:spLocks noChangeArrowheads="1"/>
          </p:cNvSpPr>
          <p:nvPr/>
        </p:nvSpPr>
        <p:spPr bwMode="auto">
          <a:xfrm>
            <a:off x="913053" y="3108337"/>
            <a:ext cx="108234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400" b="1" dirty="0">
                <a:latin typeface="微软雅黑 Light" panose="020B0502040204020203" pitchFamily="34" charset="-122"/>
                <a:ea typeface="微软雅黑 Light" panose="020B0502040204020203" pitchFamily="34" charset="-122"/>
              </a:rPr>
              <a:t>由操作系统</a:t>
            </a:r>
          </a:p>
          <a:p>
            <a:pPr algn="ctr" eaLnBrk="1" hangingPunct="1"/>
            <a:r>
              <a:rPr kumimoji="1" lang="zh-CN" altLang="en-US" sz="1400" b="1" dirty="0">
                <a:latin typeface="微软雅黑 Light" panose="020B0502040204020203" pitchFamily="34" charset="-122"/>
                <a:ea typeface="微软雅黑 Light" panose="020B0502040204020203" pitchFamily="34" charset="-122"/>
              </a:rPr>
              <a:t>控制</a:t>
            </a:r>
          </a:p>
        </p:txBody>
      </p:sp>
      <p:sp>
        <p:nvSpPr>
          <p:cNvPr id="40" name="Text Box 106"/>
          <p:cNvSpPr txBox="1">
            <a:spLocks noChangeArrowheads="1"/>
          </p:cNvSpPr>
          <p:nvPr/>
        </p:nvSpPr>
        <p:spPr bwMode="auto">
          <a:xfrm>
            <a:off x="3119460" y="1511656"/>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客户</a:t>
            </a:r>
          </a:p>
        </p:txBody>
      </p:sp>
      <p:sp>
        <p:nvSpPr>
          <p:cNvPr id="41" name="Text Box 107"/>
          <p:cNvSpPr txBox="1">
            <a:spLocks noChangeArrowheads="1"/>
          </p:cNvSpPr>
          <p:nvPr/>
        </p:nvSpPr>
        <p:spPr bwMode="auto">
          <a:xfrm>
            <a:off x="7025253" y="1203879"/>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服务器</a:t>
            </a:r>
          </a:p>
        </p:txBody>
      </p:sp>
      <p:sp>
        <p:nvSpPr>
          <p:cNvPr id="42" name="Rectangle 108"/>
          <p:cNvSpPr>
            <a:spLocks noChangeArrowheads="1"/>
          </p:cNvSpPr>
          <p:nvPr/>
        </p:nvSpPr>
        <p:spPr bwMode="auto">
          <a:xfrm>
            <a:off x="2996966" y="2675635"/>
            <a:ext cx="747995" cy="429203"/>
          </a:xfrm>
          <a:prstGeom prst="rect">
            <a:avLst/>
          </a:prstGeom>
          <a:solidFill>
            <a:srgbClr val="CC00CC"/>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套接字</a:t>
            </a:r>
          </a:p>
        </p:txBody>
      </p:sp>
      <p:sp>
        <p:nvSpPr>
          <p:cNvPr id="43" name="Rectangle 109"/>
          <p:cNvSpPr>
            <a:spLocks noChangeArrowheads="1"/>
          </p:cNvSpPr>
          <p:nvPr/>
        </p:nvSpPr>
        <p:spPr bwMode="auto">
          <a:xfrm>
            <a:off x="6692718" y="3073347"/>
            <a:ext cx="1396172" cy="82574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spcAft>
                <a:spcPct val="30000"/>
              </a:spcAft>
            </a:pPr>
            <a:endParaRPr kumimoji="1" lang="en-US" altLang="zh-CN" sz="1400" b="1" dirty="0">
              <a:solidFill>
                <a:schemeClr val="bg1"/>
              </a:solidFill>
              <a:latin typeface="微软雅黑 Light" panose="020B0502040204020203" pitchFamily="34" charset="-122"/>
              <a:ea typeface="微软雅黑 Light" panose="020B0502040204020203" pitchFamily="34" charset="-122"/>
            </a:endParaRPr>
          </a:p>
          <a:p>
            <a:pPr algn="ctr" eaLnBrk="1" hangingPunct="1">
              <a:spcAft>
                <a:spcPct val="30000"/>
              </a:spcAft>
            </a:pPr>
            <a:r>
              <a:rPr kumimoji="1" lang="en-US" altLang="zh-CN" sz="1400" b="1" dirty="0">
                <a:solidFill>
                  <a:schemeClr val="bg1"/>
                </a:solidFill>
                <a:latin typeface="微软雅黑 Light" panose="020B0502040204020203" pitchFamily="34" charset="-122"/>
                <a:ea typeface="微软雅黑 Light" panose="020B0502040204020203" pitchFamily="34" charset="-122"/>
              </a:rPr>
              <a:t>TCP</a:t>
            </a:r>
          </a:p>
          <a:p>
            <a:pPr algn="ctr" eaLnBrk="1" hangingPunct="1">
              <a:spcAft>
                <a:spcPct val="30000"/>
              </a:spcAft>
            </a:pPr>
            <a:endParaRPr kumimoji="1" lang="en-US" altLang="zh-CN" sz="1400" b="1" dirty="0">
              <a:solidFill>
                <a:schemeClr val="bg1"/>
              </a:solidFill>
              <a:latin typeface="微软雅黑 Light" panose="020B0502040204020203" pitchFamily="34" charset="-122"/>
              <a:ea typeface="微软雅黑 Light" panose="020B0502040204020203" pitchFamily="34" charset="-122"/>
            </a:endParaRPr>
          </a:p>
        </p:txBody>
      </p:sp>
      <p:sp>
        <p:nvSpPr>
          <p:cNvPr id="44" name="Rectangle 110"/>
          <p:cNvSpPr>
            <a:spLocks noChangeArrowheads="1"/>
          </p:cNvSpPr>
          <p:nvPr/>
        </p:nvSpPr>
        <p:spPr bwMode="auto">
          <a:xfrm>
            <a:off x="6692718" y="2181120"/>
            <a:ext cx="1396172" cy="534171"/>
          </a:xfrm>
          <a:prstGeom prst="rect">
            <a:avLst/>
          </a:prstGeom>
          <a:solidFill>
            <a:srgbClr val="00FFCC"/>
          </a:solidFill>
          <a:ln w="12700" algn="ctr">
            <a:solidFill>
              <a:schemeClr val="tx1"/>
            </a:solidFill>
            <a:miter lim="800000"/>
            <a:headEnd/>
            <a:tailEnd/>
          </a:ln>
          <a:effectLst/>
        </p:spPr>
        <p:txBody>
          <a:bodyPr wrap="none" anchor="ctr"/>
          <a:lstStyle/>
          <a:p>
            <a:pPr algn="ctr" eaLnBrk="1" hangingPunct="1"/>
            <a:r>
              <a:rPr kumimoji="1" lang="zh-CN" altLang="en-US" sz="1400" b="1" dirty="0">
                <a:latin typeface="微软雅黑 Light" panose="020B0502040204020203" pitchFamily="34" charset="-122"/>
                <a:ea typeface="微软雅黑 Light" panose="020B0502040204020203" pitchFamily="34" charset="-122"/>
              </a:rPr>
              <a:t>应用进程</a:t>
            </a:r>
          </a:p>
        </p:txBody>
      </p:sp>
      <p:sp>
        <p:nvSpPr>
          <p:cNvPr id="45" name="Rectangle 111"/>
          <p:cNvSpPr>
            <a:spLocks noChangeArrowheads="1"/>
          </p:cNvSpPr>
          <p:nvPr/>
        </p:nvSpPr>
        <p:spPr bwMode="auto">
          <a:xfrm>
            <a:off x="7017438" y="2675635"/>
            <a:ext cx="746731" cy="429203"/>
          </a:xfrm>
          <a:prstGeom prst="rect">
            <a:avLst/>
          </a:prstGeom>
          <a:solidFill>
            <a:srgbClr val="CC00CC"/>
          </a:solidFill>
          <a:ln w="2857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套接字</a:t>
            </a:r>
          </a:p>
        </p:txBody>
      </p:sp>
      <p:sp>
        <p:nvSpPr>
          <p:cNvPr id="73" name="Line 139"/>
          <p:cNvSpPr>
            <a:spLocks noChangeShapeType="1"/>
          </p:cNvSpPr>
          <p:nvPr/>
        </p:nvSpPr>
        <p:spPr bwMode="auto">
          <a:xfrm>
            <a:off x="933664" y="3073347"/>
            <a:ext cx="1790386" cy="0"/>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4" name="AutoShape 140"/>
          <p:cNvSpPr>
            <a:spLocks noChangeArrowheads="1"/>
          </p:cNvSpPr>
          <p:nvPr/>
        </p:nvSpPr>
        <p:spPr bwMode="auto">
          <a:xfrm flipV="1">
            <a:off x="1978582" y="3074514"/>
            <a:ext cx="373997" cy="889896"/>
          </a:xfrm>
          <a:prstGeom prst="upArrow">
            <a:avLst>
              <a:gd name="adj1" fmla="val 50000"/>
              <a:gd name="adj2" fmla="val 64443"/>
            </a:avLst>
          </a:prstGeom>
          <a:solidFill>
            <a:srgbClr val="0000FF"/>
          </a:solidFill>
          <a:ln w="12700" algn="ctr">
            <a:solidFill>
              <a:schemeClr val="tx1"/>
            </a:solidFill>
            <a:miter lim="800000"/>
            <a:headEnd/>
            <a:tailEnd/>
          </a:ln>
          <a:effec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75" name="Line 141"/>
          <p:cNvSpPr>
            <a:spLocks noChangeShapeType="1"/>
          </p:cNvSpPr>
          <p:nvPr/>
        </p:nvSpPr>
        <p:spPr bwMode="auto">
          <a:xfrm>
            <a:off x="933664" y="2667471"/>
            <a:ext cx="1715839" cy="0"/>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pic>
        <p:nvPicPr>
          <p:cNvPr id="77" name="Picture 197"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088017" y="1762850"/>
            <a:ext cx="565891" cy="565892"/>
          </a:xfrm>
          <a:prstGeom prst="rect">
            <a:avLst/>
          </a:prstGeom>
          <a:noFill/>
          <a:extLst>
            <a:ext uri="{909E8E84-426E-40DD-AFC4-6F175D3DCCD1}">
              <a14:hiddenFill xmlns:a14="http://schemas.microsoft.com/office/drawing/2010/main">
                <a:solidFill>
                  <a:srgbClr val="FFFFFF"/>
                </a:solidFill>
              </a14:hiddenFill>
            </a:ext>
          </a:extLst>
        </p:spPr>
      </p:pic>
      <p:pic>
        <p:nvPicPr>
          <p:cNvPr id="78" name="图片 77"/>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082937" y="1480714"/>
            <a:ext cx="619871" cy="867819"/>
          </a:xfrm>
          <a:prstGeom prst="rect">
            <a:avLst/>
          </a:prstGeom>
        </p:spPr>
      </p:pic>
    </p:spTree>
    <p:extLst>
      <p:ext uri="{BB962C8B-B14F-4D97-AF65-F5344CB8AC3E}">
        <p14:creationId xmlns:p14="http://schemas.microsoft.com/office/powerpoint/2010/main" val="319131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1218"/>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719581" y="578007"/>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套接字的作用</a:t>
            </a:r>
          </a:p>
        </p:txBody>
      </p:sp>
      <p:sp>
        <p:nvSpPr>
          <p:cNvPr id="4" name="Rectangle 68"/>
          <p:cNvSpPr>
            <a:spLocks noChangeArrowheads="1"/>
          </p:cNvSpPr>
          <p:nvPr/>
        </p:nvSpPr>
        <p:spPr bwMode="auto">
          <a:xfrm>
            <a:off x="556962" y="971244"/>
            <a:ext cx="8048777"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当应用进程需要使用网络进行通信时就发出系统调用，请求操作系统为其</a:t>
            </a:r>
            <a:r>
              <a:rPr lang="zh-CN" altLang="en-US" sz="2000" b="1" dirty="0">
                <a:solidFill>
                  <a:srgbClr val="0000FF"/>
                </a:solidFill>
                <a:latin typeface="微软雅黑 Light" panose="020B0502040204020203" pitchFamily="34" charset="-122"/>
                <a:ea typeface="微软雅黑 Light" panose="020B0502040204020203" pitchFamily="34" charset="-122"/>
              </a:rPr>
              <a:t>创建</a:t>
            </a:r>
            <a:r>
              <a:rPr lang="zh-CN" altLang="en-US" sz="2000" b="1" dirty="0">
                <a:solidFill>
                  <a:srgbClr val="C00000"/>
                </a:solidFill>
                <a:latin typeface="微软雅黑 Light" panose="020B0502040204020203" pitchFamily="34" charset="-122"/>
                <a:ea typeface="微软雅黑 Light" panose="020B0502040204020203" pitchFamily="34" charset="-122"/>
              </a:rPr>
              <a:t>套接字</a:t>
            </a:r>
            <a:r>
              <a:rPr lang="zh-CN" altLang="en-US" sz="2000" b="1" dirty="0">
                <a:latin typeface="微软雅黑 Light" panose="020B0502040204020203" pitchFamily="34" charset="-122"/>
                <a:ea typeface="微软雅黑 Light" panose="020B0502040204020203" pitchFamily="34" charset="-122"/>
              </a:rPr>
              <a:t>，以便把网络通信所需要的系统资源分配给该应用进程。</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操作系统为这些资源的总和用一个</a:t>
            </a:r>
            <a:r>
              <a:rPr lang="zh-CN" altLang="en-US" sz="2000" b="1" dirty="0">
                <a:solidFill>
                  <a:srgbClr val="C00000"/>
                </a:solidFill>
                <a:latin typeface="微软雅黑 Light" panose="020B0502040204020203" pitchFamily="34" charset="-122"/>
                <a:ea typeface="微软雅黑 Light" panose="020B0502040204020203" pitchFamily="34" charset="-122"/>
              </a:rPr>
              <a:t>套接字描述符</a:t>
            </a:r>
            <a:r>
              <a:rPr lang="zh-CN" altLang="en-US" sz="2000" b="1" dirty="0">
                <a:latin typeface="微软雅黑 Light" panose="020B0502040204020203" pitchFamily="34" charset="-122"/>
                <a:ea typeface="微软雅黑 Light" panose="020B0502040204020203" pitchFamily="34" charset="-122"/>
              </a:rPr>
              <a:t>的号码来表示。</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应用进程所进行的网络操作都必须使用这个套接字描述符。</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通信完毕后，应用进程通过一个</a:t>
            </a:r>
            <a:r>
              <a:rPr lang="zh-CN" altLang="en-US" sz="2000" b="1" dirty="0">
                <a:solidFill>
                  <a:srgbClr val="0000FF"/>
                </a:solidFill>
                <a:latin typeface="微软雅黑 Light" panose="020B0502040204020203" pitchFamily="34" charset="-122"/>
                <a:ea typeface="微软雅黑 Light" panose="020B0502040204020203" pitchFamily="34" charset="-122"/>
              </a:rPr>
              <a:t>关闭</a:t>
            </a:r>
            <a:r>
              <a:rPr lang="zh-CN" altLang="en-US" sz="2000" b="1" dirty="0">
                <a:latin typeface="微软雅黑 Light" panose="020B0502040204020203" pitchFamily="34" charset="-122"/>
                <a:ea typeface="微软雅黑 Light" panose="020B0502040204020203" pitchFamily="34" charset="-122"/>
              </a:rPr>
              <a:t>套接字的系统调用通知操作系统回收与该套接字描述符相关的所有资源。</a:t>
            </a:r>
          </a:p>
        </p:txBody>
      </p:sp>
    </p:spTree>
    <p:extLst>
      <p:ext uri="{BB962C8B-B14F-4D97-AF65-F5344CB8AC3E}">
        <p14:creationId xmlns:p14="http://schemas.microsoft.com/office/powerpoint/2010/main" val="19437556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3150511" y="582898"/>
            <a:ext cx="286168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调用 </a:t>
            </a:r>
            <a:r>
              <a:rPr lang="en-US" altLang="zh-CN" sz="2000" b="1" dirty="0">
                <a:solidFill>
                  <a:schemeClr val="bg1"/>
                </a:solidFill>
                <a:latin typeface="微软雅黑 Light" panose="020B0502040204020203" pitchFamily="34" charset="-122"/>
                <a:ea typeface="微软雅黑 Light" panose="020B0502040204020203" pitchFamily="34" charset="-122"/>
              </a:rPr>
              <a:t>socket </a:t>
            </a:r>
            <a:r>
              <a:rPr lang="zh-CN" altLang="en-US" sz="2000" b="1" dirty="0">
                <a:solidFill>
                  <a:schemeClr val="bg1"/>
                </a:solidFill>
                <a:latin typeface="微软雅黑 Light" panose="020B0502040204020203" pitchFamily="34" charset="-122"/>
                <a:ea typeface="微软雅黑 Light" panose="020B0502040204020203" pitchFamily="34" charset="-122"/>
              </a:rPr>
              <a:t>创建套接字</a:t>
            </a:r>
          </a:p>
        </p:txBody>
      </p:sp>
      <p:sp>
        <p:nvSpPr>
          <p:cNvPr id="5" name="Rectangle 4"/>
          <p:cNvSpPr>
            <a:spLocks noChangeArrowheads="1"/>
          </p:cNvSpPr>
          <p:nvPr/>
        </p:nvSpPr>
        <p:spPr bwMode="auto">
          <a:xfrm>
            <a:off x="1835081" y="1837418"/>
            <a:ext cx="1979702" cy="2055845"/>
          </a:xfrm>
          <a:prstGeom prst="rect">
            <a:avLst/>
          </a:prstGeom>
          <a:solidFill>
            <a:srgbClr val="99FFCC"/>
          </a:solidFill>
          <a:ln w="19050">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6" name="Text Box 5"/>
          <p:cNvSpPr txBox="1">
            <a:spLocks noChangeArrowheads="1"/>
          </p:cNvSpPr>
          <p:nvPr/>
        </p:nvSpPr>
        <p:spPr bwMode="auto">
          <a:xfrm>
            <a:off x="1792263" y="1385976"/>
            <a:ext cx="2031325" cy="461665"/>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solidFill>
                  <a:srgbClr val="0000FF"/>
                </a:solidFill>
                <a:latin typeface="微软雅黑 Light" panose="020B0502040204020203" pitchFamily="34" charset="-122"/>
                <a:ea typeface="微软雅黑 Light" panose="020B0502040204020203" pitchFamily="34" charset="-122"/>
              </a:rPr>
              <a:t>套接字描述符表</a:t>
            </a:r>
          </a:p>
          <a:p>
            <a:pPr algn="ctr" eaLnBrk="1" hangingPunct="1"/>
            <a:r>
              <a:rPr lang="zh-CN" altLang="en-US" sz="1200" b="1" dirty="0">
                <a:solidFill>
                  <a:srgbClr val="0000FF"/>
                </a:solidFill>
                <a:latin typeface="微软雅黑 Light" panose="020B0502040204020203" pitchFamily="34" charset="-122"/>
                <a:ea typeface="微软雅黑 Light" panose="020B0502040204020203" pitchFamily="34" charset="-122"/>
              </a:rPr>
              <a:t>（每一个进程一个描述符）</a:t>
            </a:r>
          </a:p>
        </p:txBody>
      </p:sp>
      <p:sp>
        <p:nvSpPr>
          <p:cNvPr id="7" name="Line 6"/>
          <p:cNvSpPr>
            <a:spLocks noChangeShapeType="1"/>
          </p:cNvSpPr>
          <p:nvPr/>
        </p:nvSpPr>
        <p:spPr bwMode="auto">
          <a:xfrm>
            <a:off x="1835081" y="2123222"/>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8" name="Line 7"/>
          <p:cNvSpPr>
            <a:spLocks noChangeShapeType="1"/>
          </p:cNvSpPr>
          <p:nvPr/>
        </p:nvSpPr>
        <p:spPr bwMode="auto">
          <a:xfrm>
            <a:off x="1835081" y="2409026"/>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9" name="Line 8"/>
          <p:cNvSpPr>
            <a:spLocks noChangeShapeType="1"/>
          </p:cNvSpPr>
          <p:nvPr/>
        </p:nvSpPr>
        <p:spPr bwMode="auto">
          <a:xfrm>
            <a:off x="1835081" y="2694831"/>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0" name="Line 9"/>
          <p:cNvSpPr>
            <a:spLocks noChangeShapeType="1"/>
          </p:cNvSpPr>
          <p:nvPr/>
        </p:nvSpPr>
        <p:spPr bwMode="auto">
          <a:xfrm>
            <a:off x="1835081" y="2980636"/>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1" name="Line 10"/>
          <p:cNvSpPr>
            <a:spLocks noChangeShapeType="1"/>
          </p:cNvSpPr>
          <p:nvPr/>
        </p:nvSpPr>
        <p:spPr bwMode="auto">
          <a:xfrm>
            <a:off x="1835081" y="3266440"/>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2" name="Text Box 11"/>
          <p:cNvSpPr txBox="1">
            <a:spLocks noChangeArrowheads="1"/>
          </p:cNvSpPr>
          <p:nvPr/>
        </p:nvSpPr>
        <p:spPr bwMode="auto">
          <a:xfrm>
            <a:off x="1433840" y="1813330"/>
            <a:ext cx="474810" cy="1465401"/>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130000"/>
              </a:lnSpc>
            </a:pPr>
            <a:r>
              <a:rPr lang="en-US" altLang="zh-CN" sz="1400" b="1" dirty="0">
                <a:latin typeface="微软雅黑 Light" panose="020B0502040204020203" pitchFamily="34" charset="-122"/>
                <a:ea typeface="微软雅黑 Light" panose="020B0502040204020203" pitchFamily="34" charset="-122"/>
              </a:rPr>
              <a:t>0</a:t>
            </a:r>
            <a:r>
              <a:rPr lang="zh-CN" altLang="en-US" sz="1400" b="1" dirty="0">
                <a:latin typeface="微软雅黑 Light" panose="020B0502040204020203" pitchFamily="34" charset="-122"/>
                <a:ea typeface="微软雅黑 Light" panose="020B0502040204020203" pitchFamily="34" charset="-122"/>
              </a:rPr>
              <a:t>：</a:t>
            </a:r>
          </a:p>
          <a:p>
            <a:pPr eaLnBrk="1" hangingPunct="1">
              <a:lnSpc>
                <a:spcPct val="130000"/>
              </a:lnSpc>
            </a:pPr>
            <a:r>
              <a:rPr lang="en-US" altLang="zh-CN" sz="1400" b="1" dirty="0">
                <a:latin typeface="微软雅黑 Light" panose="020B0502040204020203" pitchFamily="34" charset="-122"/>
                <a:ea typeface="微软雅黑 Light" panose="020B0502040204020203" pitchFamily="34" charset="-122"/>
              </a:rPr>
              <a:t>1</a:t>
            </a:r>
            <a:r>
              <a:rPr lang="zh-CN" altLang="en-US" sz="1400" b="1" dirty="0">
                <a:latin typeface="微软雅黑 Light" panose="020B0502040204020203" pitchFamily="34" charset="-122"/>
                <a:ea typeface="微软雅黑 Light" panose="020B0502040204020203" pitchFamily="34" charset="-122"/>
              </a:rPr>
              <a:t>：</a:t>
            </a:r>
          </a:p>
          <a:p>
            <a:pPr eaLnBrk="1" hangingPunct="1">
              <a:lnSpc>
                <a:spcPct val="130000"/>
              </a:lnSpc>
            </a:pPr>
            <a:r>
              <a:rPr lang="en-US" altLang="zh-CN" sz="1400" b="1" dirty="0">
                <a:latin typeface="微软雅黑 Light" panose="020B0502040204020203" pitchFamily="34" charset="-122"/>
                <a:ea typeface="微软雅黑 Light" panose="020B0502040204020203" pitchFamily="34" charset="-122"/>
              </a:rPr>
              <a:t>2</a:t>
            </a:r>
            <a:r>
              <a:rPr lang="zh-CN" altLang="en-US" sz="1400" b="1" dirty="0">
                <a:latin typeface="微软雅黑 Light" panose="020B0502040204020203" pitchFamily="34" charset="-122"/>
                <a:ea typeface="微软雅黑 Light" panose="020B0502040204020203" pitchFamily="34" charset="-122"/>
              </a:rPr>
              <a:t>：</a:t>
            </a:r>
          </a:p>
          <a:p>
            <a:pPr eaLnBrk="1" hangingPunct="1">
              <a:lnSpc>
                <a:spcPct val="130000"/>
              </a:lnSpc>
            </a:pPr>
            <a:r>
              <a:rPr lang="en-US" altLang="zh-CN" sz="1400" b="1" dirty="0">
                <a:latin typeface="微软雅黑 Light" panose="020B0502040204020203" pitchFamily="34" charset="-122"/>
                <a:ea typeface="微软雅黑 Light" panose="020B0502040204020203" pitchFamily="34" charset="-122"/>
              </a:rPr>
              <a:t>3</a:t>
            </a:r>
            <a:r>
              <a:rPr lang="zh-CN" altLang="en-US" sz="1400" b="1" dirty="0">
                <a:latin typeface="微软雅黑 Light" panose="020B0502040204020203" pitchFamily="34" charset="-122"/>
                <a:ea typeface="微软雅黑 Light" panose="020B0502040204020203" pitchFamily="34" charset="-122"/>
              </a:rPr>
              <a:t>：</a:t>
            </a:r>
          </a:p>
          <a:p>
            <a:pPr eaLnBrk="1" hangingPunct="1">
              <a:lnSpc>
                <a:spcPct val="130000"/>
              </a:lnSpc>
            </a:pPr>
            <a:r>
              <a:rPr lang="en-US" altLang="zh-CN" sz="1400" b="1" dirty="0">
                <a:latin typeface="微软雅黑 Light" panose="020B0502040204020203" pitchFamily="34" charset="-122"/>
                <a:ea typeface="微软雅黑 Light" panose="020B0502040204020203" pitchFamily="34" charset="-122"/>
              </a:rPr>
              <a:t>4</a:t>
            </a:r>
            <a:r>
              <a:rPr lang="zh-CN" altLang="en-US" sz="1400" b="1" dirty="0">
                <a:latin typeface="微软雅黑 Light" panose="020B0502040204020203" pitchFamily="34" charset="-122"/>
                <a:ea typeface="微软雅黑 Light" panose="020B0502040204020203" pitchFamily="34" charset="-122"/>
              </a:rPr>
              <a:t>：</a:t>
            </a:r>
          </a:p>
        </p:txBody>
      </p:sp>
      <p:sp>
        <p:nvSpPr>
          <p:cNvPr id="15" name="Rectangle 15"/>
          <p:cNvSpPr>
            <a:spLocks noChangeArrowheads="1"/>
          </p:cNvSpPr>
          <p:nvPr/>
        </p:nvSpPr>
        <p:spPr bwMode="auto">
          <a:xfrm>
            <a:off x="5454370" y="1837417"/>
            <a:ext cx="1979702" cy="2399027"/>
          </a:xfrm>
          <a:prstGeom prst="rect">
            <a:avLst/>
          </a:prstGeom>
          <a:solidFill>
            <a:srgbClr val="00CCFF"/>
          </a:solidFill>
          <a:ln w="19050">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6" name="Rectangle 16"/>
          <p:cNvSpPr>
            <a:spLocks noChangeArrowheads="1"/>
          </p:cNvSpPr>
          <p:nvPr/>
        </p:nvSpPr>
        <p:spPr bwMode="auto">
          <a:xfrm>
            <a:off x="5461407" y="2409027"/>
            <a:ext cx="1970320" cy="1136723"/>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7" name="Line 17"/>
          <p:cNvSpPr>
            <a:spLocks noChangeShapeType="1"/>
          </p:cNvSpPr>
          <p:nvPr/>
        </p:nvSpPr>
        <p:spPr bwMode="auto">
          <a:xfrm>
            <a:off x="5454370" y="2123222"/>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 name="Line 18"/>
          <p:cNvSpPr>
            <a:spLocks noChangeShapeType="1"/>
          </p:cNvSpPr>
          <p:nvPr/>
        </p:nvSpPr>
        <p:spPr bwMode="auto">
          <a:xfrm>
            <a:off x="5454370" y="2409026"/>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 name="Line 19"/>
          <p:cNvSpPr>
            <a:spLocks noChangeShapeType="1"/>
          </p:cNvSpPr>
          <p:nvPr/>
        </p:nvSpPr>
        <p:spPr bwMode="auto">
          <a:xfrm>
            <a:off x="5454370" y="2694831"/>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0" name="Line 20"/>
          <p:cNvSpPr>
            <a:spLocks noChangeShapeType="1"/>
          </p:cNvSpPr>
          <p:nvPr/>
        </p:nvSpPr>
        <p:spPr bwMode="auto">
          <a:xfrm>
            <a:off x="5454370" y="2980636"/>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Line 21"/>
          <p:cNvSpPr>
            <a:spLocks noChangeShapeType="1"/>
          </p:cNvSpPr>
          <p:nvPr/>
        </p:nvSpPr>
        <p:spPr bwMode="auto">
          <a:xfrm>
            <a:off x="5454370" y="3266440"/>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2" name="Line 22"/>
          <p:cNvSpPr>
            <a:spLocks noChangeShapeType="1"/>
          </p:cNvSpPr>
          <p:nvPr/>
        </p:nvSpPr>
        <p:spPr bwMode="auto">
          <a:xfrm>
            <a:off x="5454370" y="3551163"/>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nvGrpSpPr>
          <p:cNvPr id="41" name="组合 40"/>
          <p:cNvGrpSpPr/>
          <p:nvPr/>
        </p:nvGrpSpPr>
        <p:grpSpPr>
          <a:xfrm>
            <a:off x="2797956" y="1985733"/>
            <a:ext cx="1406182" cy="863909"/>
            <a:chOff x="2797956" y="2003489"/>
            <a:chExt cx="1243178" cy="863909"/>
          </a:xfrm>
        </p:grpSpPr>
        <p:sp>
          <p:nvSpPr>
            <p:cNvPr id="13" name="Line 13"/>
            <p:cNvSpPr>
              <a:spLocks noChangeShapeType="1"/>
            </p:cNvSpPr>
            <p:nvPr/>
          </p:nvSpPr>
          <p:spPr bwMode="auto">
            <a:xfrm>
              <a:off x="2797956" y="2003489"/>
              <a:ext cx="1243178"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3" name="Line 24"/>
            <p:cNvSpPr>
              <a:spLocks noChangeShapeType="1"/>
            </p:cNvSpPr>
            <p:nvPr/>
          </p:nvSpPr>
          <p:spPr bwMode="auto">
            <a:xfrm>
              <a:off x="2797956" y="2290376"/>
              <a:ext cx="1243178"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5" name="Line 27"/>
            <p:cNvSpPr>
              <a:spLocks noChangeShapeType="1"/>
            </p:cNvSpPr>
            <p:nvPr/>
          </p:nvSpPr>
          <p:spPr bwMode="auto">
            <a:xfrm>
              <a:off x="2797956" y="2579428"/>
              <a:ext cx="1243178"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7" name="Line 30"/>
            <p:cNvSpPr>
              <a:spLocks noChangeShapeType="1"/>
            </p:cNvSpPr>
            <p:nvPr/>
          </p:nvSpPr>
          <p:spPr bwMode="auto">
            <a:xfrm>
              <a:off x="2797956" y="2867398"/>
              <a:ext cx="1243178"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29" name="Text Box 33"/>
          <p:cNvSpPr txBox="1">
            <a:spLocks noChangeArrowheads="1"/>
          </p:cNvSpPr>
          <p:nvPr/>
        </p:nvSpPr>
        <p:spPr bwMode="auto">
          <a:xfrm>
            <a:off x="4027352" y="1150664"/>
            <a:ext cx="1107997" cy="369332"/>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800" b="1" dirty="0">
                <a:latin typeface="微软雅黑 Light" panose="020B0502040204020203" pitchFamily="34" charset="-122"/>
                <a:ea typeface="微软雅黑 Light" panose="020B0502040204020203" pitchFamily="34" charset="-122"/>
              </a:rPr>
              <a:t>操作系统</a:t>
            </a:r>
          </a:p>
        </p:txBody>
      </p:sp>
      <p:sp>
        <p:nvSpPr>
          <p:cNvPr id="30" name="Text Box 34"/>
          <p:cNvSpPr txBox="1">
            <a:spLocks noChangeArrowheads="1"/>
          </p:cNvSpPr>
          <p:nvPr/>
        </p:nvSpPr>
        <p:spPr bwMode="auto">
          <a:xfrm>
            <a:off x="5710405" y="1533209"/>
            <a:ext cx="1415772"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solidFill>
                  <a:srgbClr val="0000FF"/>
                </a:solidFill>
                <a:latin typeface="微软雅黑 Light" panose="020B0502040204020203" pitchFamily="34" charset="-122"/>
                <a:ea typeface="微软雅黑 Light" panose="020B0502040204020203" pitchFamily="34" charset="-122"/>
              </a:rPr>
              <a:t>套接字的数据结构</a:t>
            </a:r>
          </a:p>
        </p:txBody>
      </p:sp>
      <p:sp>
        <p:nvSpPr>
          <p:cNvPr id="31" name="Text Box 35"/>
          <p:cNvSpPr txBox="1">
            <a:spLocks noChangeArrowheads="1"/>
          </p:cNvSpPr>
          <p:nvPr/>
        </p:nvSpPr>
        <p:spPr bwMode="auto">
          <a:xfrm>
            <a:off x="5538406" y="1849327"/>
            <a:ext cx="1361270"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协议族：</a:t>
            </a:r>
            <a:r>
              <a:rPr lang="en-US" altLang="zh-CN" sz="1200" b="1" dirty="0">
                <a:latin typeface="微软雅黑 Light" panose="020B0502040204020203" pitchFamily="34" charset="-122"/>
                <a:ea typeface="微软雅黑 Light" panose="020B0502040204020203" pitchFamily="34" charset="-122"/>
              </a:rPr>
              <a:t>PF_INET</a:t>
            </a:r>
          </a:p>
        </p:txBody>
      </p:sp>
      <p:sp>
        <p:nvSpPr>
          <p:cNvPr id="32" name="Text Box 36"/>
          <p:cNvSpPr txBox="1">
            <a:spLocks noChangeArrowheads="1"/>
          </p:cNvSpPr>
          <p:nvPr/>
        </p:nvSpPr>
        <p:spPr bwMode="auto">
          <a:xfrm>
            <a:off x="5587001" y="2128635"/>
            <a:ext cx="1702710"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服务：</a:t>
            </a:r>
            <a:r>
              <a:rPr lang="en-US" altLang="zh-CN" sz="1200" b="1" dirty="0">
                <a:latin typeface="微软雅黑 Light" panose="020B0502040204020203" pitchFamily="34" charset="-122"/>
                <a:ea typeface="微软雅黑 Light" panose="020B0502040204020203" pitchFamily="34" charset="-122"/>
              </a:rPr>
              <a:t>SOCK_STREAM</a:t>
            </a:r>
          </a:p>
        </p:txBody>
      </p:sp>
      <p:sp>
        <p:nvSpPr>
          <p:cNvPr id="33" name="Text Box 37"/>
          <p:cNvSpPr txBox="1">
            <a:spLocks noChangeArrowheads="1"/>
          </p:cNvSpPr>
          <p:nvPr/>
        </p:nvSpPr>
        <p:spPr bwMode="auto">
          <a:xfrm>
            <a:off x="5539205" y="2407944"/>
            <a:ext cx="1199367"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200" b="1" dirty="0">
                <a:latin typeface="微软雅黑 Light" panose="020B0502040204020203" pitchFamily="34" charset="-122"/>
                <a:ea typeface="微软雅黑 Light" panose="020B0502040204020203" pitchFamily="34" charset="-122"/>
              </a:rPr>
              <a:t>本地 </a:t>
            </a:r>
            <a:r>
              <a:rPr lang="en-US" altLang="zh-CN" sz="1200" b="1" dirty="0">
                <a:latin typeface="微软雅黑 Light" panose="020B0502040204020203" pitchFamily="34" charset="-122"/>
                <a:ea typeface="微软雅黑 Light" panose="020B0502040204020203" pitchFamily="34" charset="-122"/>
              </a:rPr>
              <a:t>IP </a:t>
            </a:r>
            <a:r>
              <a:rPr lang="zh-CN" altLang="en-US" sz="1200" b="1" dirty="0">
                <a:latin typeface="微软雅黑 Light" panose="020B0502040204020203" pitchFamily="34" charset="-122"/>
                <a:ea typeface="微软雅黑 Light" panose="020B0502040204020203" pitchFamily="34" charset="-122"/>
              </a:rPr>
              <a:t>地址：</a:t>
            </a:r>
          </a:p>
        </p:txBody>
      </p:sp>
      <p:sp>
        <p:nvSpPr>
          <p:cNvPr id="34" name="Text Box 38"/>
          <p:cNvSpPr txBox="1">
            <a:spLocks noChangeArrowheads="1"/>
          </p:cNvSpPr>
          <p:nvPr/>
        </p:nvSpPr>
        <p:spPr bwMode="auto">
          <a:xfrm>
            <a:off x="5539205" y="2687254"/>
            <a:ext cx="1199367"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200" b="1" dirty="0">
                <a:latin typeface="微软雅黑 Light" panose="020B0502040204020203" pitchFamily="34" charset="-122"/>
                <a:ea typeface="微软雅黑 Light" panose="020B0502040204020203" pitchFamily="34" charset="-122"/>
              </a:rPr>
              <a:t>远地 </a:t>
            </a:r>
            <a:r>
              <a:rPr lang="en-US" altLang="zh-CN" sz="1200" b="1" dirty="0">
                <a:latin typeface="微软雅黑 Light" panose="020B0502040204020203" pitchFamily="34" charset="-122"/>
                <a:ea typeface="微软雅黑 Light" panose="020B0502040204020203" pitchFamily="34" charset="-122"/>
              </a:rPr>
              <a:t>IP </a:t>
            </a:r>
            <a:r>
              <a:rPr lang="zh-CN" altLang="en-US" sz="1200" b="1" dirty="0">
                <a:latin typeface="微软雅黑 Light" panose="020B0502040204020203" pitchFamily="34" charset="-122"/>
                <a:ea typeface="微软雅黑 Light" panose="020B0502040204020203" pitchFamily="34" charset="-122"/>
              </a:rPr>
              <a:t>地址：</a:t>
            </a:r>
          </a:p>
        </p:txBody>
      </p:sp>
      <p:sp>
        <p:nvSpPr>
          <p:cNvPr id="35" name="Text Box 39"/>
          <p:cNvSpPr txBox="1">
            <a:spLocks noChangeArrowheads="1"/>
          </p:cNvSpPr>
          <p:nvPr/>
        </p:nvSpPr>
        <p:spPr bwMode="auto">
          <a:xfrm>
            <a:off x="5539205" y="2965480"/>
            <a:ext cx="954107"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200" b="1" dirty="0">
                <a:latin typeface="微软雅黑 Light" panose="020B0502040204020203" pitchFamily="34" charset="-122"/>
                <a:ea typeface="微软雅黑 Light" panose="020B0502040204020203" pitchFamily="34" charset="-122"/>
              </a:rPr>
              <a:t>本地端口：</a:t>
            </a:r>
          </a:p>
        </p:txBody>
      </p:sp>
      <p:sp>
        <p:nvSpPr>
          <p:cNvPr id="36" name="Text Box 40"/>
          <p:cNvSpPr txBox="1">
            <a:spLocks noChangeArrowheads="1"/>
          </p:cNvSpPr>
          <p:nvPr/>
        </p:nvSpPr>
        <p:spPr bwMode="auto">
          <a:xfrm>
            <a:off x="5539205" y="3246954"/>
            <a:ext cx="954107"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200" b="1" dirty="0">
                <a:latin typeface="微软雅黑 Light" panose="020B0502040204020203" pitchFamily="34" charset="-122"/>
                <a:ea typeface="微软雅黑 Light" panose="020B0502040204020203" pitchFamily="34" charset="-122"/>
              </a:rPr>
              <a:t>远地端口：</a:t>
            </a:r>
          </a:p>
        </p:txBody>
      </p:sp>
      <p:sp>
        <p:nvSpPr>
          <p:cNvPr id="37" name="Text Box 41"/>
          <p:cNvSpPr txBox="1">
            <a:spLocks noChangeArrowheads="1"/>
          </p:cNvSpPr>
          <p:nvPr/>
        </p:nvSpPr>
        <p:spPr bwMode="auto">
          <a:xfrm rot="5400000">
            <a:off x="2645580" y="3317973"/>
            <a:ext cx="492444" cy="461665"/>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2400" b="1" dirty="0">
                <a:latin typeface="微软雅黑 Light" panose="020B0502040204020203" pitchFamily="34" charset="-122"/>
                <a:ea typeface="微软雅黑 Light" panose="020B0502040204020203" pitchFamily="34" charset="-122"/>
                <a:sym typeface="Symbol" pitchFamily="18" charset="2"/>
              </a:rPr>
              <a:t></a:t>
            </a:r>
          </a:p>
        </p:txBody>
      </p:sp>
      <p:sp>
        <p:nvSpPr>
          <p:cNvPr id="38" name="Text Box 42"/>
          <p:cNvSpPr txBox="1">
            <a:spLocks noChangeArrowheads="1"/>
          </p:cNvSpPr>
          <p:nvPr/>
        </p:nvSpPr>
        <p:spPr bwMode="auto">
          <a:xfrm rot="5400000">
            <a:off x="6319991" y="3660073"/>
            <a:ext cx="492444" cy="461665"/>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2400" b="1" dirty="0">
                <a:latin typeface="微软雅黑 Light" panose="020B0502040204020203" pitchFamily="34" charset="-122"/>
                <a:ea typeface="微软雅黑 Light" panose="020B0502040204020203" pitchFamily="34" charset="-122"/>
                <a:sym typeface="Symbol" pitchFamily="18" charset="2"/>
              </a:rPr>
              <a:t></a:t>
            </a:r>
          </a:p>
        </p:txBody>
      </p:sp>
      <p:sp>
        <p:nvSpPr>
          <p:cNvPr id="39" name="Freeform 43"/>
          <p:cNvSpPr>
            <a:spLocks/>
          </p:cNvSpPr>
          <p:nvPr/>
        </p:nvSpPr>
        <p:spPr bwMode="auto">
          <a:xfrm>
            <a:off x="2797957" y="1984650"/>
            <a:ext cx="2658759" cy="1151879"/>
          </a:xfrm>
          <a:custGeom>
            <a:avLst/>
            <a:gdLst>
              <a:gd name="T0" fmla="*/ 0 w 2133"/>
              <a:gd name="T1" fmla="*/ 2147483646 h 915"/>
              <a:gd name="T2" fmla="*/ 2147483646 w 2133"/>
              <a:gd name="T3" fmla="*/ 2147483646 h 915"/>
              <a:gd name="T4" fmla="*/ 2147483646 w 2133"/>
              <a:gd name="T5" fmla="*/ 2147483646 h 915"/>
              <a:gd name="T6" fmla="*/ 2147483646 w 2133"/>
              <a:gd name="T7" fmla="*/ 2147483646 h 915"/>
              <a:gd name="T8" fmla="*/ 2147483646 w 2133"/>
              <a:gd name="T9" fmla="*/ 2147483646 h 915"/>
              <a:gd name="T10" fmla="*/ 2147483646 w 2133"/>
              <a:gd name="T11" fmla="*/ 2147483646 h 915"/>
              <a:gd name="T12" fmla="*/ 2147483646 w 2133"/>
              <a:gd name="T13" fmla="*/ 2147483646 h 915"/>
              <a:gd name="T14" fmla="*/ 2147483646 w 2133"/>
              <a:gd name="T15" fmla="*/ 2147483646 h 91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133" h="915">
                <a:moveTo>
                  <a:pt x="0" y="899"/>
                </a:moveTo>
                <a:lnTo>
                  <a:pt x="724" y="899"/>
                </a:lnTo>
                <a:cubicBezTo>
                  <a:pt x="912" y="899"/>
                  <a:pt x="1019" y="915"/>
                  <a:pt x="1131" y="901"/>
                </a:cubicBezTo>
                <a:cubicBezTo>
                  <a:pt x="1243" y="887"/>
                  <a:pt x="1341" y="890"/>
                  <a:pt x="1395" y="817"/>
                </a:cubicBezTo>
                <a:cubicBezTo>
                  <a:pt x="1449" y="744"/>
                  <a:pt x="1438" y="568"/>
                  <a:pt x="1455" y="463"/>
                </a:cubicBezTo>
                <a:cubicBezTo>
                  <a:pt x="1472" y="358"/>
                  <a:pt x="1468" y="259"/>
                  <a:pt x="1497" y="187"/>
                </a:cubicBezTo>
                <a:cubicBezTo>
                  <a:pt x="1526" y="115"/>
                  <a:pt x="1523" y="62"/>
                  <a:pt x="1629" y="31"/>
                </a:cubicBezTo>
                <a:cubicBezTo>
                  <a:pt x="1735" y="0"/>
                  <a:pt x="2028" y="7"/>
                  <a:pt x="2133" y="1"/>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rgbClr val="CCEC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4" name="Oval 14"/>
          <p:cNvSpPr>
            <a:spLocks noChangeArrowheads="1"/>
          </p:cNvSpPr>
          <p:nvPr/>
        </p:nvSpPr>
        <p:spPr bwMode="auto">
          <a:xfrm>
            <a:off x="2747526" y="1925108"/>
            <a:ext cx="112590" cy="113672"/>
          </a:xfrm>
          <a:prstGeom prst="ellipse">
            <a:avLst/>
          </a:prstGeom>
          <a:solidFill>
            <a:srgbClr val="FFFF00"/>
          </a:solidFill>
          <a:ln w="9525">
            <a:solidFill>
              <a:schemeClr val="tx1"/>
            </a:solidFill>
            <a:round/>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24" name="Oval 25"/>
          <p:cNvSpPr>
            <a:spLocks noChangeArrowheads="1"/>
          </p:cNvSpPr>
          <p:nvPr/>
        </p:nvSpPr>
        <p:spPr bwMode="auto">
          <a:xfrm>
            <a:off x="2747526" y="2213077"/>
            <a:ext cx="112590" cy="112590"/>
          </a:xfrm>
          <a:prstGeom prst="ellipse">
            <a:avLst/>
          </a:prstGeom>
          <a:solidFill>
            <a:srgbClr val="FFFF00"/>
          </a:solidFill>
          <a:ln w="9525">
            <a:solidFill>
              <a:schemeClr val="tx1"/>
            </a:solidFill>
            <a:round/>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26" name="Oval 28"/>
          <p:cNvSpPr>
            <a:spLocks noChangeArrowheads="1"/>
          </p:cNvSpPr>
          <p:nvPr/>
        </p:nvSpPr>
        <p:spPr bwMode="auto">
          <a:xfrm>
            <a:off x="2747526" y="2501047"/>
            <a:ext cx="112590" cy="113672"/>
          </a:xfrm>
          <a:prstGeom prst="ellipse">
            <a:avLst/>
          </a:prstGeom>
          <a:solidFill>
            <a:srgbClr val="FFFF00"/>
          </a:solidFill>
          <a:ln w="9525">
            <a:solidFill>
              <a:schemeClr val="tx1"/>
            </a:solidFill>
            <a:round/>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28" name="Oval 31"/>
          <p:cNvSpPr>
            <a:spLocks noChangeArrowheads="1"/>
          </p:cNvSpPr>
          <p:nvPr/>
        </p:nvSpPr>
        <p:spPr bwMode="auto">
          <a:xfrm>
            <a:off x="2747526" y="2789018"/>
            <a:ext cx="112590" cy="113672"/>
          </a:xfrm>
          <a:prstGeom prst="ellipse">
            <a:avLst/>
          </a:prstGeom>
          <a:solidFill>
            <a:srgbClr val="FFFF00"/>
          </a:solidFill>
          <a:ln w="9525">
            <a:solidFill>
              <a:schemeClr val="tx1"/>
            </a:solidFill>
            <a:round/>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40" name="Oval 44"/>
          <p:cNvSpPr>
            <a:spLocks noChangeArrowheads="1"/>
          </p:cNvSpPr>
          <p:nvPr/>
        </p:nvSpPr>
        <p:spPr bwMode="auto">
          <a:xfrm>
            <a:off x="2747526" y="3056417"/>
            <a:ext cx="112590" cy="113673"/>
          </a:xfrm>
          <a:prstGeom prst="ellipse">
            <a:avLst/>
          </a:prstGeom>
          <a:solidFill>
            <a:srgbClr val="FFFF00"/>
          </a:solidFill>
          <a:ln w="9525">
            <a:solidFill>
              <a:schemeClr val="tx1"/>
            </a:solidFill>
            <a:round/>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15186401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13111"/>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6" name="Rectangle 6"/>
          <p:cNvSpPr>
            <a:spLocks noChangeArrowheads="1"/>
          </p:cNvSpPr>
          <p:nvPr/>
        </p:nvSpPr>
        <p:spPr bwMode="auto">
          <a:xfrm>
            <a:off x="2631407" y="570840"/>
            <a:ext cx="388119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6.8.2  </a:t>
            </a:r>
            <a:r>
              <a:rPr lang="zh-CN" altLang="en-US" sz="2400" b="1" dirty="0">
                <a:solidFill>
                  <a:schemeClr val="bg1"/>
                </a:solidFill>
                <a:latin typeface="微软雅黑 Light" panose="020B0502040204020203" pitchFamily="34" charset="-122"/>
                <a:ea typeface="微软雅黑 Light" panose="020B0502040204020203" pitchFamily="34" charset="-122"/>
              </a:rPr>
              <a:t>几种常用的系统调用</a:t>
            </a:r>
          </a:p>
        </p:txBody>
      </p:sp>
      <p:sp>
        <p:nvSpPr>
          <p:cNvPr id="9" name="Rectangle 68"/>
          <p:cNvSpPr>
            <a:spLocks noChangeArrowheads="1"/>
          </p:cNvSpPr>
          <p:nvPr/>
        </p:nvSpPr>
        <p:spPr bwMode="auto">
          <a:xfrm>
            <a:off x="557380" y="1009867"/>
            <a:ext cx="7777321"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当应用进程需要使用网络进行通信时，就发出系统调用。</a:t>
            </a:r>
            <a:endParaRPr lang="en-US" altLang="zh-CN" sz="2000" b="1" dirty="0">
              <a:latin typeface="微软雅黑 Light" panose="020B0502040204020203" pitchFamily="34" charset="-122"/>
              <a:ea typeface="微软雅黑 Light" panose="020B0502040204020203" pitchFamily="34" charset="-122"/>
            </a:endParaRP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使用 </a:t>
            </a:r>
            <a:r>
              <a:rPr lang="en-US" altLang="zh-CN" sz="2000" b="1" dirty="0">
                <a:latin typeface="微软雅黑 Light" panose="020B0502040204020203" pitchFamily="34" charset="-122"/>
                <a:ea typeface="微软雅黑 Light" panose="020B0502040204020203" pitchFamily="34" charset="-122"/>
              </a:rPr>
              <a:t>TCP/IP</a:t>
            </a:r>
            <a:r>
              <a:rPr lang="zh-CN" altLang="en-US" sz="2000" b="1" dirty="0">
                <a:latin typeface="微软雅黑 Light" panose="020B0502040204020203" pitchFamily="34" charset="-122"/>
                <a:ea typeface="微软雅黑 Light" panose="020B0502040204020203" pitchFamily="34" charset="-122"/>
              </a:rPr>
              <a:t> 应用编程接口 </a:t>
            </a:r>
            <a:r>
              <a:rPr lang="en-US" altLang="zh-CN" sz="2000" b="1" dirty="0">
                <a:latin typeface="微软雅黑 Light" panose="020B0502040204020203" pitchFamily="34" charset="-122"/>
                <a:ea typeface="微软雅黑 Light" panose="020B0502040204020203" pitchFamily="34" charset="-122"/>
              </a:rPr>
              <a:t>API</a:t>
            </a:r>
            <a:r>
              <a:rPr lang="zh-CN" altLang="en-US" sz="2000" b="1" dirty="0">
                <a:latin typeface="微软雅黑 Light" panose="020B0502040204020203" pitchFamily="34" charset="-122"/>
                <a:ea typeface="微软雅黑 Light" panose="020B0502040204020203" pitchFamily="34" charset="-122"/>
              </a:rPr>
              <a:t>，就可以编写基于互联网的网络应用程序了。</a:t>
            </a:r>
            <a:endParaRPr lang="en-US" altLang="zh-CN" sz="2000" b="1" dirty="0">
              <a:latin typeface="微软雅黑 Light" panose="020B0502040204020203" pitchFamily="34" charset="-122"/>
              <a:ea typeface="微软雅黑 Light" panose="020B0502040204020203" pitchFamily="34" charset="-122"/>
            </a:endParaRP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调用 </a:t>
            </a:r>
            <a:r>
              <a:rPr lang="en-US" altLang="zh-CN" sz="2000" b="1" dirty="0">
                <a:latin typeface="微软雅黑 Light" panose="020B0502040204020203" pitchFamily="34" charset="-122"/>
                <a:ea typeface="微软雅黑 Light" panose="020B0502040204020203" pitchFamily="34" charset="-122"/>
              </a:rPr>
              <a:t>API </a:t>
            </a:r>
            <a:r>
              <a:rPr lang="zh-CN" altLang="en-US" sz="2000" b="1" dirty="0">
                <a:latin typeface="微软雅黑 Light" panose="020B0502040204020203" pitchFamily="34" charset="-122"/>
                <a:ea typeface="微软雅黑 Light" panose="020B0502040204020203" pitchFamily="34" charset="-122"/>
              </a:rPr>
              <a:t>时，用户可以使用 </a:t>
            </a:r>
            <a:r>
              <a:rPr lang="en-US" altLang="zh-CN" sz="2000" b="1" dirty="0">
                <a:latin typeface="微软雅黑 Light" panose="020B0502040204020203" pitchFamily="34" charset="-122"/>
                <a:ea typeface="微软雅黑 Light" panose="020B0502040204020203" pitchFamily="34" charset="-122"/>
              </a:rPr>
              <a:t>TCP </a:t>
            </a:r>
            <a:r>
              <a:rPr lang="zh-CN" altLang="en-US" sz="2000" b="1" dirty="0">
                <a:latin typeface="微软雅黑 Light" panose="020B0502040204020203" pitchFamily="34" charset="-122"/>
                <a:ea typeface="微软雅黑 Light" panose="020B0502040204020203" pitchFamily="34" charset="-122"/>
              </a:rPr>
              <a:t>服务，也可以使用 </a:t>
            </a:r>
            <a:r>
              <a:rPr lang="en-US" altLang="zh-CN" sz="2000" b="1" dirty="0">
                <a:latin typeface="微软雅黑 Light" panose="020B0502040204020203" pitchFamily="34" charset="-122"/>
                <a:ea typeface="微软雅黑 Light" panose="020B0502040204020203" pitchFamily="34" charset="-122"/>
              </a:rPr>
              <a:t>UDP </a:t>
            </a:r>
            <a:r>
              <a:rPr lang="zh-CN" altLang="en-US" sz="2000" b="1" dirty="0">
                <a:latin typeface="微软雅黑 Light" panose="020B0502040204020203" pitchFamily="34" charset="-122"/>
                <a:ea typeface="微软雅黑 Light" panose="020B0502040204020203" pitchFamily="34" charset="-122"/>
              </a:rPr>
              <a:t>等其他服务。</a:t>
            </a:r>
          </a:p>
        </p:txBody>
      </p:sp>
    </p:spTree>
    <p:extLst>
      <p:ext uri="{BB962C8B-B14F-4D97-AF65-F5344CB8AC3E}">
        <p14:creationId xmlns:p14="http://schemas.microsoft.com/office/powerpoint/2010/main" val="25914130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13868"/>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6" name="Rectangle 6"/>
          <p:cNvSpPr>
            <a:spLocks noChangeArrowheads="1"/>
          </p:cNvSpPr>
          <p:nvPr/>
        </p:nvSpPr>
        <p:spPr bwMode="auto">
          <a:xfrm>
            <a:off x="2631407" y="562719"/>
            <a:ext cx="388119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6.8.2  </a:t>
            </a:r>
            <a:r>
              <a:rPr lang="zh-CN" altLang="en-US" sz="2400" b="1" dirty="0">
                <a:solidFill>
                  <a:schemeClr val="bg1"/>
                </a:solidFill>
                <a:latin typeface="微软雅黑 Light" panose="020B0502040204020203" pitchFamily="34" charset="-122"/>
                <a:ea typeface="微软雅黑 Light" panose="020B0502040204020203" pitchFamily="34" charset="-122"/>
              </a:rPr>
              <a:t>几种常用的系统调用</a:t>
            </a:r>
          </a:p>
        </p:txBody>
      </p:sp>
      <p:sp>
        <p:nvSpPr>
          <p:cNvPr id="9" name="Rectangle 68"/>
          <p:cNvSpPr>
            <a:spLocks noChangeArrowheads="1"/>
          </p:cNvSpPr>
          <p:nvPr/>
        </p:nvSpPr>
        <p:spPr bwMode="auto">
          <a:xfrm>
            <a:off x="557380" y="1010624"/>
            <a:ext cx="7777321"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TCP </a:t>
            </a:r>
            <a:r>
              <a:rPr lang="zh-CN" altLang="en-US" sz="2000" b="1" dirty="0">
                <a:latin typeface="微软雅黑 Light" panose="020B0502040204020203" pitchFamily="34" charset="-122"/>
                <a:ea typeface="微软雅黑 Light" panose="020B0502040204020203" pitchFamily="34" charset="-122"/>
              </a:rPr>
              <a:t>提供</a:t>
            </a:r>
            <a:r>
              <a:rPr lang="zh-CN" altLang="en-US" sz="2000" b="1" dirty="0">
                <a:solidFill>
                  <a:srgbClr val="C00000"/>
                </a:solidFill>
                <a:latin typeface="微软雅黑 Light" panose="020B0502040204020203" pitchFamily="34" charset="-122"/>
                <a:ea typeface="微软雅黑 Light" panose="020B0502040204020203" pitchFamily="34" charset="-122"/>
              </a:rPr>
              <a:t>面向连接</a:t>
            </a:r>
            <a:r>
              <a:rPr lang="zh-CN" altLang="en-US" sz="2000" b="1" dirty="0">
                <a:latin typeface="微软雅黑 Light" panose="020B0502040204020203" pitchFamily="34" charset="-122"/>
                <a:ea typeface="微软雅黑 Light" panose="020B0502040204020203" pitchFamily="34" charset="-122"/>
              </a:rPr>
              <a:t>的服务。</a:t>
            </a: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使用 </a:t>
            </a:r>
            <a:r>
              <a:rPr lang="en-US" altLang="zh-CN" sz="2000" b="1" dirty="0">
                <a:latin typeface="微软雅黑 Light" panose="020B0502040204020203" pitchFamily="34" charset="-122"/>
                <a:ea typeface="微软雅黑 Light" panose="020B0502040204020203" pitchFamily="34" charset="-122"/>
              </a:rPr>
              <a:t>TCP </a:t>
            </a:r>
            <a:r>
              <a:rPr lang="zh-CN" altLang="en-US" sz="2000" b="1" dirty="0">
                <a:latin typeface="微软雅黑 Light" panose="020B0502040204020203" pitchFamily="34" charset="-122"/>
                <a:ea typeface="微软雅黑 Light" panose="020B0502040204020203" pitchFamily="34" charset="-122"/>
              </a:rPr>
              <a:t>服务需要经历 </a:t>
            </a:r>
            <a:r>
              <a:rPr lang="en-US" altLang="zh-CN" sz="2000" b="1" dirty="0">
                <a:solidFill>
                  <a:srgbClr val="C00000"/>
                </a:solidFill>
                <a:latin typeface="微软雅黑 Light" panose="020B0502040204020203" pitchFamily="34" charset="-122"/>
                <a:ea typeface="微软雅黑 Light" panose="020B0502040204020203" pitchFamily="34" charset="-122"/>
              </a:rPr>
              <a:t>3 </a:t>
            </a:r>
            <a:r>
              <a:rPr lang="zh-CN" altLang="en-US" sz="2000" b="1" dirty="0">
                <a:solidFill>
                  <a:srgbClr val="C00000"/>
                </a:solidFill>
                <a:latin typeface="微软雅黑 Light" panose="020B0502040204020203" pitchFamily="34" charset="-122"/>
                <a:ea typeface="微软雅黑 Light" panose="020B0502040204020203" pitchFamily="34" charset="-122"/>
              </a:rPr>
              <a:t>个阶段：</a:t>
            </a:r>
          </a:p>
          <a:p>
            <a:pPr marL="630238" lvl="1" indent="-357188" eaLnBrk="0" hangingPunct="0">
              <a:lnSpc>
                <a:spcPts val="3300"/>
              </a:lnSpc>
              <a:buClr>
                <a:srgbClr val="7030A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连接建立阶段</a:t>
            </a:r>
          </a:p>
          <a:p>
            <a:pPr marL="630238" lvl="1" indent="-357188" eaLnBrk="0" hangingPunct="0">
              <a:lnSpc>
                <a:spcPts val="3300"/>
              </a:lnSpc>
              <a:buClr>
                <a:srgbClr val="7030A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数据传送阶段</a:t>
            </a:r>
          </a:p>
          <a:p>
            <a:pPr marL="630238" lvl="1" indent="-357188" eaLnBrk="0" hangingPunct="0">
              <a:lnSpc>
                <a:spcPts val="3300"/>
              </a:lnSpc>
              <a:buClr>
                <a:srgbClr val="7030A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和 连接释放阶段</a:t>
            </a:r>
          </a:p>
        </p:txBody>
      </p:sp>
    </p:spTree>
    <p:extLst>
      <p:ext uri="{BB962C8B-B14F-4D97-AF65-F5344CB8AC3E}">
        <p14:creationId xmlns:p14="http://schemas.microsoft.com/office/powerpoint/2010/main" val="16915135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Box 4"/>
          <p:cNvSpPr txBox="1">
            <a:spLocks noChangeArrowheads="1"/>
          </p:cNvSpPr>
          <p:nvPr/>
        </p:nvSpPr>
        <p:spPr bwMode="auto">
          <a:xfrm>
            <a:off x="5193856" y="1019340"/>
            <a:ext cx="100540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服务器端</a:t>
            </a:r>
          </a:p>
        </p:txBody>
      </p:sp>
      <p:sp>
        <p:nvSpPr>
          <p:cNvPr id="19" name="Text Box 18"/>
          <p:cNvSpPr txBox="1">
            <a:spLocks noChangeArrowheads="1"/>
          </p:cNvSpPr>
          <p:nvPr/>
        </p:nvSpPr>
        <p:spPr bwMode="auto">
          <a:xfrm>
            <a:off x="2492362" y="101934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客户端</a:t>
            </a:r>
          </a:p>
        </p:txBody>
      </p:sp>
      <p:sp>
        <p:nvSpPr>
          <p:cNvPr id="38" name="AutoShape 5"/>
          <p:cNvSpPr>
            <a:spLocks noChangeArrowheads="1"/>
          </p:cNvSpPr>
          <p:nvPr/>
        </p:nvSpPr>
        <p:spPr bwMode="auto">
          <a:xfrm>
            <a:off x="556963" y="60897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9" name="Rectangle 6"/>
          <p:cNvSpPr>
            <a:spLocks noChangeArrowheads="1"/>
          </p:cNvSpPr>
          <p:nvPr/>
        </p:nvSpPr>
        <p:spPr bwMode="auto">
          <a:xfrm>
            <a:off x="3564892" y="575768"/>
            <a:ext cx="203292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1. </a:t>
            </a:r>
            <a:r>
              <a:rPr lang="zh-CN" altLang="en-US" sz="2000" b="1" dirty="0">
                <a:solidFill>
                  <a:schemeClr val="bg1"/>
                </a:solidFill>
                <a:latin typeface="微软雅黑 Light" panose="020B0502040204020203" pitchFamily="34" charset="-122"/>
                <a:ea typeface="微软雅黑 Light" panose="020B0502040204020203" pitchFamily="34" charset="-122"/>
              </a:rPr>
              <a:t>连接建立阶段</a:t>
            </a:r>
          </a:p>
        </p:txBody>
      </p:sp>
      <p:sp>
        <p:nvSpPr>
          <p:cNvPr id="36" name="矩形 35"/>
          <p:cNvSpPr/>
          <p:nvPr/>
        </p:nvSpPr>
        <p:spPr>
          <a:xfrm>
            <a:off x="1481959" y="1306976"/>
            <a:ext cx="6358758" cy="1613262"/>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0" name="矩形 39"/>
          <p:cNvSpPr/>
          <p:nvPr/>
        </p:nvSpPr>
        <p:spPr>
          <a:xfrm>
            <a:off x="1481959" y="2922086"/>
            <a:ext cx="6358758" cy="964357"/>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1" name="矩形 40"/>
          <p:cNvSpPr/>
          <p:nvPr/>
        </p:nvSpPr>
        <p:spPr>
          <a:xfrm>
            <a:off x="1481959" y="3886444"/>
            <a:ext cx="6358758" cy="447650"/>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Text Box 5"/>
          <p:cNvSpPr txBox="1">
            <a:spLocks noChangeArrowheads="1"/>
          </p:cNvSpPr>
          <p:nvPr/>
        </p:nvSpPr>
        <p:spPr bwMode="auto">
          <a:xfrm>
            <a:off x="5383990" y="127059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socket</a:t>
            </a:r>
          </a:p>
        </p:txBody>
      </p:sp>
      <p:sp>
        <p:nvSpPr>
          <p:cNvPr id="7" name="Text Box 6"/>
          <p:cNvSpPr txBox="1">
            <a:spLocks noChangeArrowheads="1"/>
          </p:cNvSpPr>
          <p:nvPr/>
        </p:nvSpPr>
        <p:spPr bwMode="auto">
          <a:xfrm>
            <a:off x="5455683" y="1703694"/>
            <a:ext cx="5469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bind</a:t>
            </a:r>
          </a:p>
        </p:txBody>
      </p:sp>
      <p:sp>
        <p:nvSpPr>
          <p:cNvPr id="8" name="Text Box 7"/>
          <p:cNvSpPr txBox="1">
            <a:spLocks noChangeArrowheads="1"/>
          </p:cNvSpPr>
          <p:nvPr/>
        </p:nvSpPr>
        <p:spPr bwMode="auto">
          <a:xfrm>
            <a:off x="5425585" y="2172307"/>
            <a:ext cx="59984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listen</a:t>
            </a:r>
          </a:p>
        </p:txBody>
      </p:sp>
      <p:sp>
        <p:nvSpPr>
          <p:cNvPr id="9" name="Text Box 8"/>
          <p:cNvSpPr txBox="1">
            <a:spLocks noChangeArrowheads="1"/>
          </p:cNvSpPr>
          <p:nvPr/>
        </p:nvSpPr>
        <p:spPr bwMode="auto">
          <a:xfrm>
            <a:off x="5362628" y="2640919"/>
            <a:ext cx="7184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accept</a:t>
            </a:r>
          </a:p>
        </p:txBody>
      </p:sp>
      <p:sp>
        <p:nvSpPr>
          <p:cNvPr id="10" name="Text Box 9"/>
          <p:cNvSpPr txBox="1">
            <a:spLocks noChangeArrowheads="1"/>
          </p:cNvSpPr>
          <p:nvPr/>
        </p:nvSpPr>
        <p:spPr bwMode="auto">
          <a:xfrm>
            <a:off x="5459487" y="3109532"/>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11" name="Text Box 10"/>
          <p:cNvSpPr txBox="1">
            <a:spLocks noChangeArrowheads="1"/>
          </p:cNvSpPr>
          <p:nvPr/>
        </p:nvSpPr>
        <p:spPr bwMode="auto">
          <a:xfrm>
            <a:off x="5429067" y="3578146"/>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12" name="Text Box 11"/>
          <p:cNvSpPr txBox="1">
            <a:spLocks noChangeArrowheads="1"/>
          </p:cNvSpPr>
          <p:nvPr/>
        </p:nvSpPr>
        <p:spPr bwMode="auto">
          <a:xfrm>
            <a:off x="5414806"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13" name="Line 12"/>
          <p:cNvSpPr>
            <a:spLocks noChangeShapeType="1"/>
          </p:cNvSpPr>
          <p:nvPr/>
        </p:nvSpPr>
        <p:spPr bwMode="auto">
          <a:xfrm>
            <a:off x="5730372" y="153721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13"/>
          <p:cNvSpPr>
            <a:spLocks noChangeShapeType="1"/>
          </p:cNvSpPr>
          <p:nvPr/>
        </p:nvSpPr>
        <p:spPr bwMode="auto">
          <a:xfrm>
            <a:off x="5730372" y="1984862"/>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a:off x="5730372" y="2432511"/>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5"/>
          <p:cNvSpPr>
            <a:spLocks noChangeShapeType="1"/>
          </p:cNvSpPr>
          <p:nvPr/>
        </p:nvSpPr>
        <p:spPr bwMode="auto">
          <a:xfrm>
            <a:off x="5730372" y="293565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6"/>
          <p:cNvSpPr>
            <a:spLocks noChangeShapeType="1"/>
          </p:cNvSpPr>
          <p:nvPr/>
        </p:nvSpPr>
        <p:spPr bwMode="auto">
          <a:xfrm>
            <a:off x="5730372" y="3438796"/>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7"/>
          <p:cNvSpPr>
            <a:spLocks noChangeShapeType="1"/>
          </p:cNvSpPr>
          <p:nvPr/>
        </p:nvSpPr>
        <p:spPr bwMode="auto">
          <a:xfrm>
            <a:off x="5730372" y="388644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19"/>
          <p:cNvSpPr txBox="1">
            <a:spLocks noChangeArrowheads="1"/>
          </p:cNvSpPr>
          <p:nvPr/>
        </p:nvSpPr>
        <p:spPr bwMode="auto">
          <a:xfrm>
            <a:off x="2572385" y="221398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socket</a:t>
            </a:r>
          </a:p>
        </p:txBody>
      </p:sp>
      <p:sp>
        <p:nvSpPr>
          <p:cNvPr id="21" name="Text Box 20"/>
          <p:cNvSpPr txBox="1">
            <a:spLocks noChangeArrowheads="1"/>
          </p:cNvSpPr>
          <p:nvPr/>
        </p:nvSpPr>
        <p:spPr bwMode="auto">
          <a:xfrm>
            <a:off x="2662476" y="3578146"/>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22" name="Text Box 21"/>
          <p:cNvSpPr txBox="1">
            <a:spLocks noChangeArrowheads="1"/>
          </p:cNvSpPr>
          <p:nvPr/>
        </p:nvSpPr>
        <p:spPr bwMode="auto">
          <a:xfrm>
            <a:off x="2635705" y="3109532"/>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23" name="Text Box 22"/>
          <p:cNvSpPr txBox="1">
            <a:spLocks noChangeArrowheads="1"/>
          </p:cNvSpPr>
          <p:nvPr/>
        </p:nvSpPr>
        <p:spPr bwMode="auto">
          <a:xfrm>
            <a:off x="2625091"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24" name="Text Box 23"/>
          <p:cNvSpPr txBox="1">
            <a:spLocks noChangeArrowheads="1"/>
          </p:cNvSpPr>
          <p:nvPr/>
        </p:nvSpPr>
        <p:spPr bwMode="auto">
          <a:xfrm>
            <a:off x="2506469" y="2645853"/>
            <a:ext cx="83067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connect</a:t>
            </a:r>
          </a:p>
        </p:txBody>
      </p:sp>
      <p:sp>
        <p:nvSpPr>
          <p:cNvPr id="25" name="Line 24"/>
          <p:cNvSpPr>
            <a:spLocks noChangeShapeType="1"/>
          </p:cNvSpPr>
          <p:nvPr/>
        </p:nvSpPr>
        <p:spPr bwMode="auto">
          <a:xfrm>
            <a:off x="2921200" y="247443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Line 25"/>
          <p:cNvSpPr>
            <a:spLocks noChangeShapeType="1"/>
          </p:cNvSpPr>
          <p:nvPr/>
        </p:nvSpPr>
        <p:spPr bwMode="auto">
          <a:xfrm>
            <a:off x="2921200" y="292208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Line 26"/>
          <p:cNvSpPr>
            <a:spLocks noChangeShapeType="1"/>
          </p:cNvSpPr>
          <p:nvPr/>
        </p:nvSpPr>
        <p:spPr bwMode="auto">
          <a:xfrm>
            <a:off x="2921200" y="336973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7"/>
          <p:cNvSpPr>
            <a:spLocks noChangeShapeType="1"/>
          </p:cNvSpPr>
          <p:nvPr/>
        </p:nvSpPr>
        <p:spPr bwMode="auto">
          <a:xfrm>
            <a:off x="2921200" y="387287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28"/>
          <p:cNvSpPr>
            <a:spLocks/>
          </p:cNvSpPr>
          <p:nvPr/>
        </p:nvSpPr>
        <p:spPr bwMode="auto">
          <a:xfrm flipH="1">
            <a:off x="1997574" y="3280835"/>
            <a:ext cx="656690" cy="462447"/>
          </a:xfrm>
          <a:custGeom>
            <a:avLst/>
            <a:gdLst>
              <a:gd name="T0" fmla="*/ 0 w 540"/>
              <a:gd name="T1" fmla="*/ 2147483646 h 391"/>
              <a:gd name="T2" fmla="*/ 2147483646 w 540"/>
              <a:gd name="T3" fmla="*/ 2147483646 h 391"/>
              <a:gd name="T4" fmla="*/ 2147483646 w 540"/>
              <a:gd name="T5" fmla="*/ 2147483646 h 391"/>
              <a:gd name="T6" fmla="*/ 2147483646 w 540"/>
              <a:gd name="T7" fmla="*/ 2147483646 h 391"/>
              <a:gd name="T8" fmla="*/ 2147483646 w 540"/>
              <a:gd name="T9" fmla="*/ 2147483646 h 391"/>
              <a:gd name="T10" fmla="*/ 2147483646 w 540"/>
              <a:gd name="T11" fmla="*/ 2147483646 h 391"/>
              <a:gd name="T12" fmla="*/ 2147483646 w 540"/>
              <a:gd name="T13" fmla="*/ 2147483646 h 391"/>
              <a:gd name="T14" fmla="*/ 2147483646 w 540"/>
              <a:gd name="T15" fmla="*/ 2147483646 h 391"/>
              <a:gd name="T16" fmla="*/ 0 w 540"/>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40" h="391">
                <a:moveTo>
                  <a:pt x="0" y="384"/>
                </a:moveTo>
                <a:cubicBezTo>
                  <a:pt x="52" y="385"/>
                  <a:pt x="240" y="389"/>
                  <a:pt x="311" y="389"/>
                </a:cubicBezTo>
                <a:cubicBezTo>
                  <a:pt x="382" y="389"/>
                  <a:pt x="397" y="391"/>
                  <a:pt x="427" y="385"/>
                </a:cubicBezTo>
                <a:cubicBezTo>
                  <a:pt x="457" y="379"/>
                  <a:pt x="477" y="372"/>
                  <a:pt x="494" y="355"/>
                </a:cubicBezTo>
                <a:cubicBezTo>
                  <a:pt x="511" y="338"/>
                  <a:pt x="523" y="324"/>
                  <a:pt x="529" y="284"/>
                </a:cubicBezTo>
                <a:cubicBezTo>
                  <a:pt x="535" y="244"/>
                  <a:pt x="540" y="155"/>
                  <a:pt x="533" y="113"/>
                </a:cubicBezTo>
                <a:cubicBezTo>
                  <a:pt x="526" y="71"/>
                  <a:pt x="515" y="52"/>
                  <a:pt x="488" y="34"/>
                </a:cubicBezTo>
                <a:cubicBezTo>
                  <a:pt x="461" y="16"/>
                  <a:pt x="451" y="10"/>
                  <a:pt x="370" y="5"/>
                </a:cubicBezTo>
                <a:cubicBezTo>
                  <a:pt x="289" y="0"/>
                  <a:pt x="77" y="6"/>
                  <a:pt x="0" y="6"/>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29"/>
          <p:cNvSpPr>
            <a:spLocks/>
          </p:cNvSpPr>
          <p:nvPr/>
        </p:nvSpPr>
        <p:spPr bwMode="auto">
          <a:xfrm>
            <a:off x="5995317" y="3261693"/>
            <a:ext cx="378204" cy="482177"/>
          </a:xfrm>
          <a:custGeom>
            <a:avLst/>
            <a:gdLst>
              <a:gd name="T0" fmla="*/ 0 w 311"/>
              <a:gd name="T1" fmla="*/ 2147483646 h 391"/>
              <a:gd name="T2" fmla="*/ 2147483646 w 311"/>
              <a:gd name="T3" fmla="*/ 2147483646 h 391"/>
              <a:gd name="T4" fmla="*/ 2147483646 w 311"/>
              <a:gd name="T5" fmla="*/ 2147483646 h 391"/>
              <a:gd name="T6" fmla="*/ 2147483646 w 311"/>
              <a:gd name="T7" fmla="*/ 2147483646 h 391"/>
              <a:gd name="T8" fmla="*/ 2147483646 w 311"/>
              <a:gd name="T9" fmla="*/ 2147483646 h 391"/>
              <a:gd name="T10" fmla="*/ 2147483646 w 311"/>
              <a:gd name="T11" fmla="*/ 2147483646 h 391"/>
              <a:gd name="T12" fmla="*/ 2147483646 w 311"/>
              <a:gd name="T13" fmla="*/ 2147483646 h 391"/>
              <a:gd name="T14" fmla="*/ 2147483646 w 311"/>
              <a:gd name="T15" fmla="*/ 2147483646 h 391"/>
              <a:gd name="T16" fmla="*/ 0 w 311"/>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11" h="391">
                <a:moveTo>
                  <a:pt x="0" y="387"/>
                </a:moveTo>
                <a:cubicBezTo>
                  <a:pt x="30" y="387"/>
                  <a:pt x="139" y="391"/>
                  <a:pt x="182" y="389"/>
                </a:cubicBezTo>
                <a:cubicBezTo>
                  <a:pt x="225" y="387"/>
                  <a:pt x="238" y="382"/>
                  <a:pt x="256" y="373"/>
                </a:cubicBezTo>
                <a:cubicBezTo>
                  <a:pt x="274" y="364"/>
                  <a:pt x="284" y="354"/>
                  <a:pt x="293" y="337"/>
                </a:cubicBezTo>
                <a:cubicBezTo>
                  <a:pt x="302" y="320"/>
                  <a:pt x="306" y="304"/>
                  <a:pt x="308" y="269"/>
                </a:cubicBezTo>
                <a:cubicBezTo>
                  <a:pt x="310" y="234"/>
                  <a:pt x="311" y="160"/>
                  <a:pt x="308" y="124"/>
                </a:cubicBezTo>
                <a:cubicBezTo>
                  <a:pt x="305" y="88"/>
                  <a:pt x="305" y="70"/>
                  <a:pt x="289" y="50"/>
                </a:cubicBezTo>
                <a:cubicBezTo>
                  <a:pt x="273" y="30"/>
                  <a:pt x="259" y="14"/>
                  <a:pt x="211" y="7"/>
                </a:cubicBezTo>
                <a:cubicBezTo>
                  <a:pt x="163" y="0"/>
                  <a:pt x="44" y="9"/>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30"/>
          <p:cNvSpPr>
            <a:spLocks/>
          </p:cNvSpPr>
          <p:nvPr/>
        </p:nvSpPr>
        <p:spPr bwMode="auto">
          <a:xfrm>
            <a:off x="6085478" y="2779571"/>
            <a:ext cx="654258" cy="1442834"/>
          </a:xfrm>
          <a:custGeom>
            <a:avLst/>
            <a:gdLst>
              <a:gd name="T0" fmla="*/ 0 w 538"/>
              <a:gd name="T1" fmla="*/ 2147483646 h 1175"/>
              <a:gd name="T2" fmla="*/ 2147483646 w 538"/>
              <a:gd name="T3" fmla="*/ 2147483646 h 1175"/>
              <a:gd name="T4" fmla="*/ 2147483646 w 538"/>
              <a:gd name="T5" fmla="*/ 2147483646 h 1175"/>
              <a:gd name="T6" fmla="*/ 2147483646 w 538"/>
              <a:gd name="T7" fmla="*/ 2147483646 h 1175"/>
              <a:gd name="T8" fmla="*/ 2147483646 w 538"/>
              <a:gd name="T9" fmla="*/ 2147483646 h 1175"/>
              <a:gd name="T10" fmla="*/ 2147483646 w 538"/>
              <a:gd name="T11" fmla="*/ 2147483646 h 1175"/>
              <a:gd name="T12" fmla="*/ 2147483646 w 538"/>
              <a:gd name="T13" fmla="*/ 2147483646 h 1175"/>
              <a:gd name="T14" fmla="*/ 2147483646 w 538"/>
              <a:gd name="T15" fmla="*/ 2147483646 h 1175"/>
              <a:gd name="T16" fmla="*/ 0 w 538"/>
              <a:gd name="T17" fmla="*/ 2147483646 h 117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38" h="1175">
                <a:moveTo>
                  <a:pt x="0" y="1171"/>
                </a:moveTo>
                <a:cubicBezTo>
                  <a:pt x="51" y="1171"/>
                  <a:pt x="237" y="1175"/>
                  <a:pt x="306" y="1168"/>
                </a:cubicBezTo>
                <a:cubicBezTo>
                  <a:pt x="375" y="1161"/>
                  <a:pt x="386" y="1151"/>
                  <a:pt x="417" y="1129"/>
                </a:cubicBezTo>
                <a:cubicBezTo>
                  <a:pt x="448" y="1107"/>
                  <a:pt x="472" y="1080"/>
                  <a:pt x="489" y="1036"/>
                </a:cubicBezTo>
                <a:cubicBezTo>
                  <a:pt x="506" y="992"/>
                  <a:pt x="515" y="980"/>
                  <a:pt x="522" y="865"/>
                </a:cubicBezTo>
                <a:cubicBezTo>
                  <a:pt x="529" y="750"/>
                  <a:pt x="538" y="472"/>
                  <a:pt x="534" y="348"/>
                </a:cubicBezTo>
                <a:cubicBezTo>
                  <a:pt x="530" y="224"/>
                  <a:pt x="529" y="176"/>
                  <a:pt x="501" y="121"/>
                </a:cubicBezTo>
                <a:cubicBezTo>
                  <a:pt x="473" y="66"/>
                  <a:pt x="448" y="38"/>
                  <a:pt x="365" y="19"/>
                </a:cubicBezTo>
                <a:cubicBezTo>
                  <a:pt x="282" y="0"/>
                  <a:pt x="76" y="11"/>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31"/>
          <p:cNvSpPr>
            <a:spLocks noChangeShapeType="1"/>
          </p:cNvSpPr>
          <p:nvPr/>
        </p:nvSpPr>
        <p:spPr bwMode="auto">
          <a:xfrm>
            <a:off x="3170499" y="338823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32"/>
          <p:cNvSpPr>
            <a:spLocks noChangeShapeType="1"/>
          </p:cNvSpPr>
          <p:nvPr/>
        </p:nvSpPr>
        <p:spPr bwMode="auto">
          <a:xfrm flipH="1">
            <a:off x="3051321" y="385931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34"/>
          <p:cNvSpPr>
            <a:spLocks noChangeShapeType="1"/>
          </p:cNvSpPr>
          <p:nvPr/>
        </p:nvSpPr>
        <p:spPr bwMode="auto">
          <a:xfrm rot="186387" flipV="1">
            <a:off x="3322510" y="2917156"/>
            <a:ext cx="2280172" cy="6165"/>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Text Box 35"/>
          <p:cNvSpPr txBox="1">
            <a:spLocks noChangeArrowheads="1"/>
          </p:cNvSpPr>
          <p:nvPr/>
        </p:nvSpPr>
        <p:spPr bwMode="auto">
          <a:xfrm rot="186387">
            <a:off x="3809156" y="2614862"/>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连接建立请求</a:t>
            </a:r>
          </a:p>
        </p:txBody>
      </p:sp>
      <p:sp>
        <p:nvSpPr>
          <p:cNvPr id="42" name="Text Box 18"/>
          <p:cNvSpPr txBox="1">
            <a:spLocks noChangeArrowheads="1"/>
          </p:cNvSpPr>
          <p:nvPr/>
        </p:nvSpPr>
        <p:spPr bwMode="auto">
          <a:xfrm>
            <a:off x="6855413" y="202911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连接建立</a:t>
            </a:r>
          </a:p>
        </p:txBody>
      </p:sp>
      <p:sp>
        <p:nvSpPr>
          <p:cNvPr id="43" name="Text Box 18"/>
          <p:cNvSpPr txBox="1">
            <a:spLocks noChangeArrowheads="1"/>
          </p:cNvSpPr>
          <p:nvPr/>
        </p:nvSpPr>
        <p:spPr bwMode="auto">
          <a:xfrm>
            <a:off x="6855413" y="325167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数据传送</a:t>
            </a:r>
          </a:p>
        </p:txBody>
      </p:sp>
      <p:sp>
        <p:nvSpPr>
          <p:cNvPr id="44" name="Text Box 18"/>
          <p:cNvSpPr txBox="1">
            <a:spLocks noChangeArrowheads="1"/>
          </p:cNvSpPr>
          <p:nvPr/>
        </p:nvSpPr>
        <p:spPr bwMode="auto">
          <a:xfrm>
            <a:off x="6855413" y="393967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连接释放</a:t>
            </a:r>
          </a:p>
        </p:txBody>
      </p:sp>
      <p:grpSp>
        <p:nvGrpSpPr>
          <p:cNvPr id="52" name="组合 51"/>
          <p:cNvGrpSpPr/>
          <p:nvPr/>
        </p:nvGrpSpPr>
        <p:grpSpPr>
          <a:xfrm>
            <a:off x="2441293" y="1366814"/>
            <a:ext cx="2903178" cy="905585"/>
            <a:chOff x="2492362" y="1366814"/>
            <a:chExt cx="2903178" cy="905585"/>
          </a:xfrm>
        </p:grpSpPr>
        <p:cxnSp>
          <p:nvCxnSpPr>
            <p:cNvPr id="37" name="直接箭头连接符 36"/>
            <p:cNvCxnSpPr/>
            <p:nvPr/>
          </p:nvCxnSpPr>
          <p:spPr>
            <a:xfrm flipH="1">
              <a:off x="3102390" y="1936773"/>
              <a:ext cx="270776" cy="33562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6" name="直接箭头连接符 45"/>
            <p:cNvCxnSpPr>
              <a:stCxn id="3" idx="3"/>
            </p:cNvCxnSpPr>
            <p:nvPr/>
          </p:nvCxnSpPr>
          <p:spPr>
            <a:xfrm flipV="1">
              <a:off x="4702003" y="1473451"/>
              <a:ext cx="693537" cy="18575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 name="矩形 2"/>
            <p:cNvSpPr/>
            <p:nvPr/>
          </p:nvSpPr>
          <p:spPr>
            <a:xfrm>
              <a:off x="2492362" y="1366814"/>
              <a:ext cx="2209641" cy="584775"/>
            </a:xfrm>
            <a:prstGeom prst="rect">
              <a:avLst/>
            </a:prstGeom>
          </p:spPr>
          <p:style>
            <a:lnRef idx="1">
              <a:schemeClr val="accent5"/>
            </a:lnRef>
            <a:fillRef idx="2">
              <a:schemeClr val="accent5"/>
            </a:fillRef>
            <a:effectRef idx="1">
              <a:schemeClr val="accent5"/>
            </a:effectRef>
            <a:fontRef idx="minor">
              <a:schemeClr val="dk1"/>
            </a:fontRef>
          </p:style>
          <p:txBody>
            <a:bodyPr wrap="square">
              <a:spAutoFit/>
            </a:bodyPr>
            <a:lstStyle/>
            <a:p>
              <a:pPr algn="ctr"/>
              <a:r>
                <a:rPr lang="zh-CN" altLang="en-US" sz="1600" b="1" dirty="0">
                  <a:latin typeface="微软雅黑 Light" panose="020B0502040204020203" pitchFamily="34" charset="-122"/>
                  <a:ea typeface="微软雅黑 Light" panose="020B0502040204020203" pitchFamily="34" charset="-122"/>
                </a:rPr>
                <a:t>通信之前，</a:t>
              </a:r>
              <a:r>
                <a:rPr lang="zh-CN" altLang="en-US" sz="1600" b="1" dirty="0">
                  <a:solidFill>
                    <a:srgbClr val="C00000"/>
                  </a:solidFill>
                  <a:latin typeface="微软雅黑 Light" panose="020B0502040204020203" pitchFamily="34" charset="-122"/>
                  <a:ea typeface="微软雅黑 Light" panose="020B0502040204020203" pitchFamily="34" charset="-122"/>
                </a:rPr>
                <a:t>客户</a:t>
              </a:r>
              <a:r>
                <a:rPr lang="zh-CN" altLang="en-US" sz="1600" b="1" dirty="0">
                  <a:latin typeface="微软雅黑 Light" panose="020B0502040204020203" pitchFamily="34" charset="-122"/>
                  <a:ea typeface="微软雅黑 Light" panose="020B0502040204020203" pitchFamily="34" charset="-122"/>
                </a:rPr>
                <a:t>和</a:t>
              </a:r>
              <a:r>
                <a:rPr lang="zh-CN" altLang="en-US" sz="1600" b="1" dirty="0">
                  <a:solidFill>
                    <a:srgbClr val="C00000"/>
                  </a:solidFill>
                  <a:latin typeface="微软雅黑 Light" panose="020B0502040204020203" pitchFamily="34" charset="-122"/>
                  <a:ea typeface="微软雅黑 Light" panose="020B0502040204020203" pitchFamily="34" charset="-122"/>
                </a:rPr>
                <a:t>服务器</a:t>
              </a:r>
              <a:r>
                <a:rPr lang="zh-CN" altLang="en-US" sz="1600" b="1" dirty="0">
                  <a:latin typeface="微软雅黑 Light" panose="020B0502040204020203" pitchFamily="34" charset="-122"/>
                  <a:ea typeface="微软雅黑 Light" panose="020B0502040204020203" pitchFamily="34" charset="-122"/>
                </a:rPr>
                <a:t>先创建套接字</a:t>
              </a:r>
            </a:p>
          </p:txBody>
        </p:sp>
      </p:grpSp>
    </p:spTree>
    <p:extLst>
      <p:ext uri="{BB962C8B-B14F-4D97-AF65-F5344CB8AC3E}">
        <p14:creationId xmlns:p14="http://schemas.microsoft.com/office/powerpoint/2010/main" val="10955375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20"/>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20" grpId="0"/>
    </p:bldLst>
  </p:timing>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Box 4"/>
          <p:cNvSpPr txBox="1">
            <a:spLocks noChangeArrowheads="1"/>
          </p:cNvSpPr>
          <p:nvPr/>
        </p:nvSpPr>
        <p:spPr bwMode="auto">
          <a:xfrm>
            <a:off x="5193856" y="1019340"/>
            <a:ext cx="100540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服务器端</a:t>
            </a:r>
          </a:p>
        </p:txBody>
      </p:sp>
      <p:sp>
        <p:nvSpPr>
          <p:cNvPr id="19" name="Text Box 18"/>
          <p:cNvSpPr txBox="1">
            <a:spLocks noChangeArrowheads="1"/>
          </p:cNvSpPr>
          <p:nvPr/>
        </p:nvSpPr>
        <p:spPr bwMode="auto">
          <a:xfrm>
            <a:off x="2492362" y="101934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客户端</a:t>
            </a:r>
          </a:p>
        </p:txBody>
      </p:sp>
      <p:sp>
        <p:nvSpPr>
          <p:cNvPr id="38" name="AutoShape 5"/>
          <p:cNvSpPr>
            <a:spLocks noChangeArrowheads="1"/>
          </p:cNvSpPr>
          <p:nvPr/>
        </p:nvSpPr>
        <p:spPr bwMode="auto">
          <a:xfrm>
            <a:off x="556963" y="60897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9" name="Rectangle 6"/>
          <p:cNvSpPr>
            <a:spLocks noChangeArrowheads="1"/>
          </p:cNvSpPr>
          <p:nvPr/>
        </p:nvSpPr>
        <p:spPr bwMode="auto">
          <a:xfrm>
            <a:off x="3564892" y="575768"/>
            <a:ext cx="203292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1. </a:t>
            </a:r>
            <a:r>
              <a:rPr lang="zh-CN" altLang="en-US" sz="2000" b="1" dirty="0">
                <a:solidFill>
                  <a:schemeClr val="bg1"/>
                </a:solidFill>
                <a:latin typeface="微软雅黑 Light" panose="020B0502040204020203" pitchFamily="34" charset="-122"/>
                <a:ea typeface="微软雅黑 Light" panose="020B0502040204020203" pitchFamily="34" charset="-122"/>
              </a:rPr>
              <a:t>连接建立阶段</a:t>
            </a:r>
          </a:p>
        </p:txBody>
      </p:sp>
      <p:sp>
        <p:nvSpPr>
          <p:cNvPr id="36" name="矩形 35"/>
          <p:cNvSpPr/>
          <p:nvPr/>
        </p:nvSpPr>
        <p:spPr>
          <a:xfrm>
            <a:off x="1481959" y="1306976"/>
            <a:ext cx="6358758" cy="1613262"/>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0" name="矩形 39"/>
          <p:cNvSpPr/>
          <p:nvPr/>
        </p:nvSpPr>
        <p:spPr>
          <a:xfrm>
            <a:off x="1481959" y="2922086"/>
            <a:ext cx="6358758" cy="964357"/>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1" name="矩形 40"/>
          <p:cNvSpPr/>
          <p:nvPr/>
        </p:nvSpPr>
        <p:spPr>
          <a:xfrm>
            <a:off x="1481959" y="3886444"/>
            <a:ext cx="6358758" cy="447650"/>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Text Box 5"/>
          <p:cNvSpPr txBox="1">
            <a:spLocks noChangeArrowheads="1"/>
          </p:cNvSpPr>
          <p:nvPr/>
        </p:nvSpPr>
        <p:spPr bwMode="auto">
          <a:xfrm>
            <a:off x="5383990" y="127059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7" name="Text Box 6"/>
          <p:cNvSpPr txBox="1">
            <a:spLocks noChangeArrowheads="1"/>
          </p:cNvSpPr>
          <p:nvPr/>
        </p:nvSpPr>
        <p:spPr bwMode="auto">
          <a:xfrm>
            <a:off x="5455683" y="1703694"/>
            <a:ext cx="5469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bind</a:t>
            </a:r>
          </a:p>
        </p:txBody>
      </p:sp>
      <p:sp>
        <p:nvSpPr>
          <p:cNvPr id="8" name="Text Box 7"/>
          <p:cNvSpPr txBox="1">
            <a:spLocks noChangeArrowheads="1"/>
          </p:cNvSpPr>
          <p:nvPr/>
        </p:nvSpPr>
        <p:spPr bwMode="auto">
          <a:xfrm>
            <a:off x="5425585" y="2172307"/>
            <a:ext cx="59984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listen</a:t>
            </a:r>
          </a:p>
        </p:txBody>
      </p:sp>
      <p:sp>
        <p:nvSpPr>
          <p:cNvPr id="9" name="Text Box 8"/>
          <p:cNvSpPr txBox="1">
            <a:spLocks noChangeArrowheads="1"/>
          </p:cNvSpPr>
          <p:nvPr/>
        </p:nvSpPr>
        <p:spPr bwMode="auto">
          <a:xfrm>
            <a:off x="5362628" y="2640919"/>
            <a:ext cx="7184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accept</a:t>
            </a:r>
          </a:p>
        </p:txBody>
      </p:sp>
      <p:sp>
        <p:nvSpPr>
          <p:cNvPr id="10" name="Text Box 9"/>
          <p:cNvSpPr txBox="1">
            <a:spLocks noChangeArrowheads="1"/>
          </p:cNvSpPr>
          <p:nvPr/>
        </p:nvSpPr>
        <p:spPr bwMode="auto">
          <a:xfrm>
            <a:off x="5459487" y="3109532"/>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11" name="Text Box 10"/>
          <p:cNvSpPr txBox="1">
            <a:spLocks noChangeArrowheads="1"/>
          </p:cNvSpPr>
          <p:nvPr/>
        </p:nvSpPr>
        <p:spPr bwMode="auto">
          <a:xfrm>
            <a:off x="5429067" y="3578146"/>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12" name="Text Box 11"/>
          <p:cNvSpPr txBox="1">
            <a:spLocks noChangeArrowheads="1"/>
          </p:cNvSpPr>
          <p:nvPr/>
        </p:nvSpPr>
        <p:spPr bwMode="auto">
          <a:xfrm>
            <a:off x="5414806"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13" name="Line 12"/>
          <p:cNvSpPr>
            <a:spLocks noChangeShapeType="1"/>
          </p:cNvSpPr>
          <p:nvPr/>
        </p:nvSpPr>
        <p:spPr bwMode="auto">
          <a:xfrm>
            <a:off x="5730372" y="153721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13"/>
          <p:cNvSpPr>
            <a:spLocks noChangeShapeType="1"/>
          </p:cNvSpPr>
          <p:nvPr/>
        </p:nvSpPr>
        <p:spPr bwMode="auto">
          <a:xfrm>
            <a:off x="5730372" y="1984862"/>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a:off x="5730372" y="2432511"/>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5"/>
          <p:cNvSpPr>
            <a:spLocks noChangeShapeType="1"/>
          </p:cNvSpPr>
          <p:nvPr/>
        </p:nvSpPr>
        <p:spPr bwMode="auto">
          <a:xfrm>
            <a:off x="5730372" y="293565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6"/>
          <p:cNvSpPr>
            <a:spLocks noChangeShapeType="1"/>
          </p:cNvSpPr>
          <p:nvPr/>
        </p:nvSpPr>
        <p:spPr bwMode="auto">
          <a:xfrm>
            <a:off x="5730372" y="3438796"/>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7"/>
          <p:cNvSpPr>
            <a:spLocks noChangeShapeType="1"/>
          </p:cNvSpPr>
          <p:nvPr/>
        </p:nvSpPr>
        <p:spPr bwMode="auto">
          <a:xfrm>
            <a:off x="5730372" y="388644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19"/>
          <p:cNvSpPr txBox="1">
            <a:spLocks noChangeArrowheads="1"/>
          </p:cNvSpPr>
          <p:nvPr/>
        </p:nvSpPr>
        <p:spPr bwMode="auto">
          <a:xfrm>
            <a:off x="2572385" y="221398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21" name="Text Box 20"/>
          <p:cNvSpPr txBox="1">
            <a:spLocks noChangeArrowheads="1"/>
          </p:cNvSpPr>
          <p:nvPr/>
        </p:nvSpPr>
        <p:spPr bwMode="auto">
          <a:xfrm>
            <a:off x="2662476" y="3578146"/>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22" name="Text Box 21"/>
          <p:cNvSpPr txBox="1">
            <a:spLocks noChangeArrowheads="1"/>
          </p:cNvSpPr>
          <p:nvPr/>
        </p:nvSpPr>
        <p:spPr bwMode="auto">
          <a:xfrm>
            <a:off x="2635705" y="3109532"/>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23" name="Text Box 22"/>
          <p:cNvSpPr txBox="1">
            <a:spLocks noChangeArrowheads="1"/>
          </p:cNvSpPr>
          <p:nvPr/>
        </p:nvSpPr>
        <p:spPr bwMode="auto">
          <a:xfrm>
            <a:off x="2625091"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24" name="Text Box 23"/>
          <p:cNvSpPr txBox="1">
            <a:spLocks noChangeArrowheads="1"/>
          </p:cNvSpPr>
          <p:nvPr/>
        </p:nvSpPr>
        <p:spPr bwMode="auto">
          <a:xfrm>
            <a:off x="2506469" y="2645853"/>
            <a:ext cx="83067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connect</a:t>
            </a:r>
          </a:p>
        </p:txBody>
      </p:sp>
      <p:sp>
        <p:nvSpPr>
          <p:cNvPr id="25" name="Line 24"/>
          <p:cNvSpPr>
            <a:spLocks noChangeShapeType="1"/>
          </p:cNvSpPr>
          <p:nvPr/>
        </p:nvSpPr>
        <p:spPr bwMode="auto">
          <a:xfrm>
            <a:off x="2921200" y="247443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Line 25"/>
          <p:cNvSpPr>
            <a:spLocks noChangeShapeType="1"/>
          </p:cNvSpPr>
          <p:nvPr/>
        </p:nvSpPr>
        <p:spPr bwMode="auto">
          <a:xfrm>
            <a:off x="2921200" y="292208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Line 26"/>
          <p:cNvSpPr>
            <a:spLocks noChangeShapeType="1"/>
          </p:cNvSpPr>
          <p:nvPr/>
        </p:nvSpPr>
        <p:spPr bwMode="auto">
          <a:xfrm>
            <a:off x="2921200" y="336973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7"/>
          <p:cNvSpPr>
            <a:spLocks noChangeShapeType="1"/>
          </p:cNvSpPr>
          <p:nvPr/>
        </p:nvSpPr>
        <p:spPr bwMode="auto">
          <a:xfrm>
            <a:off x="2921200" y="387287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28"/>
          <p:cNvSpPr>
            <a:spLocks/>
          </p:cNvSpPr>
          <p:nvPr/>
        </p:nvSpPr>
        <p:spPr bwMode="auto">
          <a:xfrm flipH="1">
            <a:off x="1997574" y="3280835"/>
            <a:ext cx="656690" cy="462447"/>
          </a:xfrm>
          <a:custGeom>
            <a:avLst/>
            <a:gdLst>
              <a:gd name="T0" fmla="*/ 0 w 540"/>
              <a:gd name="T1" fmla="*/ 2147483646 h 391"/>
              <a:gd name="T2" fmla="*/ 2147483646 w 540"/>
              <a:gd name="T3" fmla="*/ 2147483646 h 391"/>
              <a:gd name="T4" fmla="*/ 2147483646 w 540"/>
              <a:gd name="T5" fmla="*/ 2147483646 h 391"/>
              <a:gd name="T6" fmla="*/ 2147483646 w 540"/>
              <a:gd name="T7" fmla="*/ 2147483646 h 391"/>
              <a:gd name="T8" fmla="*/ 2147483646 w 540"/>
              <a:gd name="T9" fmla="*/ 2147483646 h 391"/>
              <a:gd name="T10" fmla="*/ 2147483646 w 540"/>
              <a:gd name="T11" fmla="*/ 2147483646 h 391"/>
              <a:gd name="T12" fmla="*/ 2147483646 w 540"/>
              <a:gd name="T13" fmla="*/ 2147483646 h 391"/>
              <a:gd name="T14" fmla="*/ 2147483646 w 540"/>
              <a:gd name="T15" fmla="*/ 2147483646 h 391"/>
              <a:gd name="T16" fmla="*/ 0 w 540"/>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40" h="391">
                <a:moveTo>
                  <a:pt x="0" y="384"/>
                </a:moveTo>
                <a:cubicBezTo>
                  <a:pt x="52" y="385"/>
                  <a:pt x="240" y="389"/>
                  <a:pt x="311" y="389"/>
                </a:cubicBezTo>
                <a:cubicBezTo>
                  <a:pt x="382" y="389"/>
                  <a:pt x="397" y="391"/>
                  <a:pt x="427" y="385"/>
                </a:cubicBezTo>
                <a:cubicBezTo>
                  <a:pt x="457" y="379"/>
                  <a:pt x="477" y="372"/>
                  <a:pt x="494" y="355"/>
                </a:cubicBezTo>
                <a:cubicBezTo>
                  <a:pt x="511" y="338"/>
                  <a:pt x="523" y="324"/>
                  <a:pt x="529" y="284"/>
                </a:cubicBezTo>
                <a:cubicBezTo>
                  <a:pt x="535" y="244"/>
                  <a:pt x="540" y="155"/>
                  <a:pt x="533" y="113"/>
                </a:cubicBezTo>
                <a:cubicBezTo>
                  <a:pt x="526" y="71"/>
                  <a:pt x="515" y="52"/>
                  <a:pt x="488" y="34"/>
                </a:cubicBezTo>
                <a:cubicBezTo>
                  <a:pt x="461" y="16"/>
                  <a:pt x="451" y="10"/>
                  <a:pt x="370" y="5"/>
                </a:cubicBezTo>
                <a:cubicBezTo>
                  <a:pt x="289" y="0"/>
                  <a:pt x="77" y="6"/>
                  <a:pt x="0" y="6"/>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29"/>
          <p:cNvSpPr>
            <a:spLocks/>
          </p:cNvSpPr>
          <p:nvPr/>
        </p:nvSpPr>
        <p:spPr bwMode="auto">
          <a:xfrm>
            <a:off x="5995317" y="3261693"/>
            <a:ext cx="378204" cy="482177"/>
          </a:xfrm>
          <a:custGeom>
            <a:avLst/>
            <a:gdLst>
              <a:gd name="T0" fmla="*/ 0 w 311"/>
              <a:gd name="T1" fmla="*/ 2147483646 h 391"/>
              <a:gd name="T2" fmla="*/ 2147483646 w 311"/>
              <a:gd name="T3" fmla="*/ 2147483646 h 391"/>
              <a:gd name="T4" fmla="*/ 2147483646 w 311"/>
              <a:gd name="T5" fmla="*/ 2147483646 h 391"/>
              <a:gd name="T6" fmla="*/ 2147483646 w 311"/>
              <a:gd name="T7" fmla="*/ 2147483646 h 391"/>
              <a:gd name="T8" fmla="*/ 2147483646 w 311"/>
              <a:gd name="T9" fmla="*/ 2147483646 h 391"/>
              <a:gd name="T10" fmla="*/ 2147483646 w 311"/>
              <a:gd name="T11" fmla="*/ 2147483646 h 391"/>
              <a:gd name="T12" fmla="*/ 2147483646 w 311"/>
              <a:gd name="T13" fmla="*/ 2147483646 h 391"/>
              <a:gd name="T14" fmla="*/ 2147483646 w 311"/>
              <a:gd name="T15" fmla="*/ 2147483646 h 391"/>
              <a:gd name="T16" fmla="*/ 0 w 311"/>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11" h="391">
                <a:moveTo>
                  <a:pt x="0" y="387"/>
                </a:moveTo>
                <a:cubicBezTo>
                  <a:pt x="30" y="387"/>
                  <a:pt x="139" y="391"/>
                  <a:pt x="182" y="389"/>
                </a:cubicBezTo>
                <a:cubicBezTo>
                  <a:pt x="225" y="387"/>
                  <a:pt x="238" y="382"/>
                  <a:pt x="256" y="373"/>
                </a:cubicBezTo>
                <a:cubicBezTo>
                  <a:pt x="274" y="364"/>
                  <a:pt x="284" y="354"/>
                  <a:pt x="293" y="337"/>
                </a:cubicBezTo>
                <a:cubicBezTo>
                  <a:pt x="302" y="320"/>
                  <a:pt x="306" y="304"/>
                  <a:pt x="308" y="269"/>
                </a:cubicBezTo>
                <a:cubicBezTo>
                  <a:pt x="310" y="234"/>
                  <a:pt x="311" y="160"/>
                  <a:pt x="308" y="124"/>
                </a:cubicBezTo>
                <a:cubicBezTo>
                  <a:pt x="305" y="88"/>
                  <a:pt x="305" y="70"/>
                  <a:pt x="289" y="50"/>
                </a:cubicBezTo>
                <a:cubicBezTo>
                  <a:pt x="273" y="30"/>
                  <a:pt x="259" y="14"/>
                  <a:pt x="211" y="7"/>
                </a:cubicBezTo>
                <a:cubicBezTo>
                  <a:pt x="163" y="0"/>
                  <a:pt x="44" y="9"/>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30"/>
          <p:cNvSpPr>
            <a:spLocks/>
          </p:cNvSpPr>
          <p:nvPr/>
        </p:nvSpPr>
        <p:spPr bwMode="auto">
          <a:xfrm>
            <a:off x="6085478" y="2779571"/>
            <a:ext cx="654258" cy="1442834"/>
          </a:xfrm>
          <a:custGeom>
            <a:avLst/>
            <a:gdLst>
              <a:gd name="T0" fmla="*/ 0 w 538"/>
              <a:gd name="T1" fmla="*/ 2147483646 h 1175"/>
              <a:gd name="T2" fmla="*/ 2147483646 w 538"/>
              <a:gd name="T3" fmla="*/ 2147483646 h 1175"/>
              <a:gd name="T4" fmla="*/ 2147483646 w 538"/>
              <a:gd name="T5" fmla="*/ 2147483646 h 1175"/>
              <a:gd name="T6" fmla="*/ 2147483646 w 538"/>
              <a:gd name="T7" fmla="*/ 2147483646 h 1175"/>
              <a:gd name="T8" fmla="*/ 2147483646 w 538"/>
              <a:gd name="T9" fmla="*/ 2147483646 h 1175"/>
              <a:gd name="T10" fmla="*/ 2147483646 w 538"/>
              <a:gd name="T11" fmla="*/ 2147483646 h 1175"/>
              <a:gd name="T12" fmla="*/ 2147483646 w 538"/>
              <a:gd name="T13" fmla="*/ 2147483646 h 1175"/>
              <a:gd name="T14" fmla="*/ 2147483646 w 538"/>
              <a:gd name="T15" fmla="*/ 2147483646 h 1175"/>
              <a:gd name="T16" fmla="*/ 0 w 538"/>
              <a:gd name="T17" fmla="*/ 2147483646 h 117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38" h="1175">
                <a:moveTo>
                  <a:pt x="0" y="1171"/>
                </a:moveTo>
                <a:cubicBezTo>
                  <a:pt x="51" y="1171"/>
                  <a:pt x="237" y="1175"/>
                  <a:pt x="306" y="1168"/>
                </a:cubicBezTo>
                <a:cubicBezTo>
                  <a:pt x="375" y="1161"/>
                  <a:pt x="386" y="1151"/>
                  <a:pt x="417" y="1129"/>
                </a:cubicBezTo>
                <a:cubicBezTo>
                  <a:pt x="448" y="1107"/>
                  <a:pt x="472" y="1080"/>
                  <a:pt x="489" y="1036"/>
                </a:cubicBezTo>
                <a:cubicBezTo>
                  <a:pt x="506" y="992"/>
                  <a:pt x="515" y="980"/>
                  <a:pt x="522" y="865"/>
                </a:cubicBezTo>
                <a:cubicBezTo>
                  <a:pt x="529" y="750"/>
                  <a:pt x="538" y="472"/>
                  <a:pt x="534" y="348"/>
                </a:cubicBezTo>
                <a:cubicBezTo>
                  <a:pt x="530" y="224"/>
                  <a:pt x="529" y="176"/>
                  <a:pt x="501" y="121"/>
                </a:cubicBezTo>
                <a:cubicBezTo>
                  <a:pt x="473" y="66"/>
                  <a:pt x="448" y="38"/>
                  <a:pt x="365" y="19"/>
                </a:cubicBezTo>
                <a:cubicBezTo>
                  <a:pt x="282" y="0"/>
                  <a:pt x="76" y="11"/>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31"/>
          <p:cNvSpPr>
            <a:spLocks noChangeShapeType="1"/>
          </p:cNvSpPr>
          <p:nvPr/>
        </p:nvSpPr>
        <p:spPr bwMode="auto">
          <a:xfrm>
            <a:off x="3170499" y="338823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32"/>
          <p:cNvSpPr>
            <a:spLocks noChangeShapeType="1"/>
          </p:cNvSpPr>
          <p:nvPr/>
        </p:nvSpPr>
        <p:spPr bwMode="auto">
          <a:xfrm flipH="1">
            <a:off x="3051321" y="385931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34"/>
          <p:cNvSpPr>
            <a:spLocks noChangeShapeType="1"/>
          </p:cNvSpPr>
          <p:nvPr/>
        </p:nvSpPr>
        <p:spPr bwMode="auto">
          <a:xfrm rot="186387" flipV="1">
            <a:off x="3322510" y="2917156"/>
            <a:ext cx="2280172" cy="6165"/>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Text Box 35"/>
          <p:cNvSpPr txBox="1">
            <a:spLocks noChangeArrowheads="1"/>
          </p:cNvSpPr>
          <p:nvPr/>
        </p:nvSpPr>
        <p:spPr bwMode="auto">
          <a:xfrm rot="186387">
            <a:off x="3809156" y="2614862"/>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连接建立请求</a:t>
            </a:r>
          </a:p>
        </p:txBody>
      </p:sp>
      <p:sp>
        <p:nvSpPr>
          <p:cNvPr id="42" name="Text Box 18"/>
          <p:cNvSpPr txBox="1">
            <a:spLocks noChangeArrowheads="1"/>
          </p:cNvSpPr>
          <p:nvPr/>
        </p:nvSpPr>
        <p:spPr bwMode="auto">
          <a:xfrm>
            <a:off x="6855413" y="202911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连接建立</a:t>
            </a:r>
          </a:p>
        </p:txBody>
      </p:sp>
      <p:sp>
        <p:nvSpPr>
          <p:cNvPr id="43" name="Text Box 18"/>
          <p:cNvSpPr txBox="1">
            <a:spLocks noChangeArrowheads="1"/>
          </p:cNvSpPr>
          <p:nvPr/>
        </p:nvSpPr>
        <p:spPr bwMode="auto">
          <a:xfrm>
            <a:off x="6855413" y="325167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数据传送</a:t>
            </a:r>
          </a:p>
        </p:txBody>
      </p:sp>
      <p:sp>
        <p:nvSpPr>
          <p:cNvPr id="44" name="Text Box 18"/>
          <p:cNvSpPr txBox="1">
            <a:spLocks noChangeArrowheads="1"/>
          </p:cNvSpPr>
          <p:nvPr/>
        </p:nvSpPr>
        <p:spPr bwMode="auto">
          <a:xfrm>
            <a:off x="6855413" y="393967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连接释放</a:t>
            </a:r>
          </a:p>
        </p:txBody>
      </p:sp>
      <p:grpSp>
        <p:nvGrpSpPr>
          <p:cNvPr id="48" name="组合 47"/>
          <p:cNvGrpSpPr/>
          <p:nvPr/>
        </p:nvGrpSpPr>
        <p:grpSpPr>
          <a:xfrm>
            <a:off x="1648624" y="1371358"/>
            <a:ext cx="3741746" cy="830997"/>
            <a:chOff x="1648624" y="1371358"/>
            <a:chExt cx="3741746" cy="830997"/>
          </a:xfrm>
        </p:grpSpPr>
        <p:cxnSp>
          <p:nvCxnSpPr>
            <p:cNvPr id="46" name="直接箭头连接符 45"/>
            <p:cNvCxnSpPr/>
            <p:nvPr/>
          </p:nvCxnSpPr>
          <p:spPr>
            <a:xfrm>
              <a:off x="4773046" y="1858323"/>
              <a:ext cx="617324"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5" name="矩形 44"/>
            <p:cNvSpPr/>
            <p:nvPr/>
          </p:nvSpPr>
          <p:spPr>
            <a:xfrm>
              <a:off x="1648624" y="1371358"/>
              <a:ext cx="3139984" cy="830997"/>
            </a:xfrm>
            <a:prstGeom prst="rect">
              <a:avLst/>
            </a:prstGeom>
          </p:spPr>
          <p:style>
            <a:lnRef idx="1">
              <a:schemeClr val="accent3"/>
            </a:lnRef>
            <a:fillRef idx="2">
              <a:schemeClr val="accent3"/>
            </a:fillRef>
            <a:effectRef idx="1">
              <a:schemeClr val="accent3"/>
            </a:effectRef>
            <a:fontRef idx="minor">
              <a:schemeClr val="dk1"/>
            </a:fontRef>
          </p:style>
          <p:txBody>
            <a:bodyPr wrap="square">
              <a:spAutoFit/>
            </a:bodyPr>
            <a:lstStyle/>
            <a:p>
              <a:pPr algn="ctr"/>
              <a:r>
                <a:rPr lang="zh-CN" altLang="en-US" sz="1600" b="1" dirty="0">
                  <a:solidFill>
                    <a:srgbClr val="C00000"/>
                  </a:solidFill>
                  <a:latin typeface="微软雅黑 Light" panose="020B0502040204020203" pitchFamily="34" charset="-122"/>
                  <a:ea typeface="微软雅黑 Light" panose="020B0502040204020203" pitchFamily="34" charset="-122"/>
                </a:rPr>
                <a:t>服务器端</a:t>
              </a:r>
              <a:r>
                <a:rPr lang="zh-CN" altLang="en-US" sz="1600" b="1" dirty="0">
                  <a:latin typeface="微软雅黑 Light" panose="020B0502040204020203" pitchFamily="34" charset="-122"/>
                  <a:ea typeface="微软雅黑 Light" panose="020B0502040204020203" pitchFamily="34" charset="-122"/>
                </a:rPr>
                <a:t>调用 </a:t>
              </a:r>
              <a:r>
                <a:rPr lang="en-US" altLang="zh-CN" sz="1600" b="1" dirty="0">
                  <a:latin typeface="微软雅黑 Light" panose="020B0502040204020203" pitchFamily="34" charset="-122"/>
                  <a:ea typeface="微软雅黑 Light" panose="020B0502040204020203" pitchFamily="34" charset="-122"/>
                </a:rPr>
                <a:t>bind</a:t>
              </a:r>
              <a:r>
                <a:rPr lang="zh-CN" altLang="en-US" sz="1600" b="1" dirty="0">
                  <a:latin typeface="微软雅黑 Light" panose="020B0502040204020203" pitchFamily="34" charset="-122"/>
                  <a:ea typeface="微软雅黑 Light" panose="020B0502040204020203" pitchFamily="34" charset="-122"/>
                </a:rPr>
                <a:t>，把熟知端口号和本地 </a:t>
              </a:r>
              <a:r>
                <a:rPr lang="en-US" altLang="zh-CN" sz="1600" b="1" dirty="0">
                  <a:latin typeface="微软雅黑 Light" panose="020B0502040204020203" pitchFamily="34" charset="-122"/>
                  <a:ea typeface="微软雅黑 Light" panose="020B0502040204020203" pitchFamily="34" charset="-122"/>
                </a:rPr>
                <a:t>IP </a:t>
              </a:r>
              <a:r>
                <a:rPr lang="zh-CN" altLang="en-US" sz="1600" b="1" dirty="0">
                  <a:latin typeface="微软雅黑 Light" panose="020B0502040204020203" pitchFamily="34" charset="-122"/>
                  <a:ea typeface="微软雅黑 Light" panose="020B0502040204020203" pitchFamily="34" charset="-122"/>
                </a:rPr>
                <a:t>地址填写到已创建的套接字中。</a:t>
              </a:r>
            </a:p>
          </p:txBody>
        </p:sp>
      </p:grpSp>
    </p:spTree>
    <p:extLst>
      <p:ext uri="{BB962C8B-B14F-4D97-AF65-F5344CB8AC3E}">
        <p14:creationId xmlns:p14="http://schemas.microsoft.com/office/powerpoint/2010/main" val="39030394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Box 4"/>
          <p:cNvSpPr txBox="1">
            <a:spLocks noChangeArrowheads="1"/>
          </p:cNvSpPr>
          <p:nvPr/>
        </p:nvSpPr>
        <p:spPr bwMode="auto">
          <a:xfrm>
            <a:off x="5193856" y="1019340"/>
            <a:ext cx="100540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服务器端</a:t>
            </a:r>
          </a:p>
        </p:txBody>
      </p:sp>
      <p:sp>
        <p:nvSpPr>
          <p:cNvPr id="19" name="Text Box 18"/>
          <p:cNvSpPr txBox="1">
            <a:spLocks noChangeArrowheads="1"/>
          </p:cNvSpPr>
          <p:nvPr/>
        </p:nvSpPr>
        <p:spPr bwMode="auto">
          <a:xfrm>
            <a:off x="2492362" y="101934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客户端</a:t>
            </a:r>
          </a:p>
        </p:txBody>
      </p:sp>
      <p:sp>
        <p:nvSpPr>
          <p:cNvPr id="38" name="AutoShape 5"/>
          <p:cNvSpPr>
            <a:spLocks noChangeArrowheads="1"/>
          </p:cNvSpPr>
          <p:nvPr/>
        </p:nvSpPr>
        <p:spPr bwMode="auto">
          <a:xfrm>
            <a:off x="556963" y="60897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9" name="Rectangle 6"/>
          <p:cNvSpPr>
            <a:spLocks noChangeArrowheads="1"/>
          </p:cNvSpPr>
          <p:nvPr/>
        </p:nvSpPr>
        <p:spPr bwMode="auto">
          <a:xfrm>
            <a:off x="3564892" y="575768"/>
            <a:ext cx="203292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1. </a:t>
            </a:r>
            <a:r>
              <a:rPr lang="zh-CN" altLang="en-US" sz="2000" b="1" dirty="0">
                <a:solidFill>
                  <a:schemeClr val="bg1"/>
                </a:solidFill>
                <a:latin typeface="微软雅黑 Light" panose="020B0502040204020203" pitchFamily="34" charset="-122"/>
                <a:ea typeface="微软雅黑 Light" panose="020B0502040204020203" pitchFamily="34" charset="-122"/>
              </a:rPr>
              <a:t>连接建立阶段</a:t>
            </a:r>
          </a:p>
        </p:txBody>
      </p:sp>
      <p:sp>
        <p:nvSpPr>
          <p:cNvPr id="36" name="矩形 35"/>
          <p:cNvSpPr/>
          <p:nvPr/>
        </p:nvSpPr>
        <p:spPr>
          <a:xfrm>
            <a:off x="1481959" y="1306976"/>
            <a:ext cx="6358758" cy="1613262"/>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0" name="矩形 39"/>
          <p:cNvSpPr/>
          <p:nvPr/>
        </p:nvSpPr>
        <p:spPr>
          <a:xfrm>
            <a:off x="1481959" y="2922086"/>
            <a:ext cx="6358758" cy="964357"/>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1" name="矩形 40"/>
          <p:cNvSpPr/>
          <p:nvPr/>
        </p:nvSpPr>
        <p:spPr>
          <a:xfrm>
            <a:off x="1481959" y="3886444"/>
            <a:ext cx="6358758" cy="447650"/>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Text Box 5"/>
          <p:cNvSpPr txBox="1">
            <a:spLocks noChangeArrowheads="1"/>
          </p:cNvSpPr>
          <p:nvPr/>
        </p:nvSpPr>
        <p:spPr bwMode="auto">
          <a:xfrm>
            <a:off x="5383990" y="127059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7" name="Text Box 6"/>
          <p:cNvSpPr txBox="1">
            <a:spLocks noChangeArrowheads="1"/>
          </p:cNvSpPr>
          <p:nvPr/>
        </p:nvSpPr>
        <p:spPr bwMode="auto">
          <a:xfrm>
            <a:off x="5455683" y="1703694"/>
            <a:ext cx="5469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bind</a:t>
            </a:r>
          </a:p>
        </p:txBody>
      </p:sp>
      <p:sp>
        <p:nvSpPr>
          <p:cNvPr id="8" name="Text Box 7"/>
          <p:cNvSpPr txBox="1">
            <a:spLocks noChangeArrowheads="1"/>
          </p:cNvSpPr>
          <p:nvPr/>
        </p:nvSpPr>
        <p:spPr bwMode="auto">
          <a:xfrm>
            <a:off x="5425585" y="2172307"/>
            <a:ext cx="59984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listen</a:t>
            </a:r>
          </a:p>
        </p:txBody>
      </p:sp>
      <p:sp>
        <p:nvSpPr>
          <p:cNvPr id="9" name="Text Box 8"/>
          <p:cNvSpPr txBox="1">
            <a:spLocks noChangeArrowheads="1"/>
          </p:cNvSpPr>
          <p:nvPr/>
        </p:nvSpPr>
        <p:spPr bwMode="auto">
          <a:xfrm>
            <a:off x="5362628" y="2640919"/>
            <a:ext cx="7184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accept</a:t>
            </a:r>
          </a:p>
        </p:txBody>
      </p:sp>
      <p:sp>
        <p:nvSpPr>
          <p:cNvPr id="10" name="Text Box 9"/>
          <p:cNvSpPr txBox="1">
            <a:spLocks noChangeArrowheads="1"/>
          </p:cNvSpPr>
          <p:nvPr/>
        </p:nvSpPr>
        <p:spPr bwMode="auto">
          <a:xfrm>
            <a:off x="5459487" y="3109532"/>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11" name="Text Box 10"/>
          <p:cNvSpPr txBox="1">
            <a:spLocks noChangeArrowheads="1"/>
          </p:cNvSpPr>
          <p:nvPr/>
        </p:nvSpPr>
        <p:spPr bwMode="auto">
          <a:xfrm>
            <a:off x="5429067" y="3578146"/>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12" name="Text Box 11"/>
          <p:cNvSpPr txBox="1">
            <a:spLocks noChangeArrowheads="1"/>
          </p:cNvSpPr>
          <p:nvPr/>
        </p:nvSpPr>
        <p:spPr bwMode="auto">
          <a:xfrm>
            <a:off x="5414806"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13" name="Line 12"/>
          <p:cNvSpPr>
            <a:spLocks noChangeShapeType="1"/>
          </p:cNvSpPr>
          <p:nvPr/>
        </p:nvSpPr>
        <p:spPr bwMode="auto">
          <a:xfrm>
            <a:off x="5730372" y="153721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13"/>
          <p:cNvSpPr>
            <a:spLocks noChangeShapeType="1"/>
          </p:cNvSpPr>
          <p:nvPr/>
        </p:nvSpPr>
        <p:spPr bwMode="auto">
          <a:xfrm>
            <a:off x="5730372" y="1984862"/>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a:off x="5730372" y="2432511"/>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5"/>
          <p:cNvSpPr>
            <a:spLocks noChangeShapeType="1"/>
          </p:cNvSpPr>
          <p:nvPr/>
        </p:nvSpPr>
        <p:spPr bwMode="auto">
          <a:xfrm>
            <a:off x="5730372" y="293565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6"/>
          <p:cNvSpPr>
            <a:spLocks noChangeShapeType="1"/>
          </p:cNvSpPr>
          <p:nvPr/>
        </p:nvSpPr>
        <p:spPr bwMode="auto">
          <a:xfrm>
            <a:off x="5730372" y="3438796"/>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7"/>
          <p:cNvSpPr>
            <a:spLocks noChangeShapeType="1"/>
          </p:cNvSpPr>
          <p:nvPr/>
        </p:nvSpPr>
        <p:spPr bwMode="auto">
          <a:xfrm>
            <a:off x="5730372" y="388644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19"/>
          <p:cNvSpPr txBox="1">
            <a:spLocks noChangeArrowheads="1"/>
          </p:cNvSpPr>
          <p:nvPr/>
        </p:nvSpPr>
        <p:spPr bwMode="auto">
          <a:xfrm>
            <a:off x="2572385" y="221398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21" name="Text Box 20"/>
          <p:cNvSpPr txBox="1">
            <a:spLocks noChangeArrowheads="1"/>
          </p:cNvSpPr>
          <p:nvPr/>
        </p:nvSpPr>
        <p:spPr bwMode="auto">
          <a:xfrm>
            <a:off x="2662476" y="3578146"/>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22" name="Text Box 21"/>
          <p:cNvSpPr txBox="1">
            <a:spLocks noChangeArrowheads="1"/>
          </p:cNvSpPr>
          <p:nvPr/>
        </p:nvSpPr>
        <p:spPr bwMode="auto">
          <a:xfrm>
            <a:off x="2635705" y="3109532"/>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23" name="Text Box 22"/>
          <p:cNvSpPr txBox="1">
            <a:spLocks noChangeArrowheads="1"/>
          </p:cNvSpPr>
          <p:nvPr/>
        </p:nvSpPr>
        <p:spPr bwMode="auto">
          <a:xfrm>
            <a:off x="2625091"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24" name="Text Box 23"/>
          <p:cNvSpPr txBox="1">
            <a:spLocks noChangeArrowheads="1"/>
          </p:cNvSpPr>
          <p:nvPr/>
        </p:nvSpPr>
        <p:spPr bwMode="auto">
          <a:xfrm>
            <a:off x="2506469" y="2645853"/>
            <a:ext cx="83067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connect</a:t>
            </a:r>
          </a:p>
        </p:txBody>
      </p:sp>
      <p:sp>
        <p:nvSpPr>
          <p:cNvPr id="25" name="Line 24"/>
          <p:cNvSpPr>
            <a:spLocks noChangeShapeType="1"/>
          </p:cNvSpPr>
          <p:nvPr/>
        </p:nvSpPr>
        <p:spPr bwMode="auto">
          <a:xfrm>
            <a:off x="2921200" y="247443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Line 25"/>
          <p:cNvSpPr>
            <a:spLocks noChangeShapeType="1"/>
          </p:cNvSpPr>
          <p:nvPr/>
        </p:nvSpPr>
        <p:spPr bwMode="auto">
          <a:xfrm>
            <a:off x="2921200" y="292208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Line 26"/>
          <p:cNvSpPr>
            <a:spLocks noChangeShapeType="1"/>
          </p:cNvSpPr>
          <p:nvPr/>
        </p:nvSpPr>
        <p:spPr bwMode="auto">
          <a:xfrm>
            <a:off x="2921200" y="336973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7"/>
          <p:cNvSpPr>
            <a:spLocks noChangeShapeType="1"/>
          </p:cNvSpPr>
          <p:nvPr/>
        </p:nvSpPr>
        <p:spPr bwMode="auto">
          <a:xfrm>
            <a:off x="2921200" y="387287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28"/>
          <p:cNvSpPr>
            <a:spLocks/>
          </p:cNvSpPr>
          <p:nvPr/>
        </p:nvSpPr>
        <p:spPr bwMode="auto">
          <a:xfrm flipH="1">
            <a:off x="1997574" y="3280835"/>
            <a:ext cx="656690" cy="462447"/>
          </a:xfrm>
          <a:custGeom>
            <a:avLst/>
            <a:gdLst>
              <a:gd name="T0" fmla="*/ 0 w 540"/>
              <a:gd name="T1" fmla="*/ 2147483646 h 391"/>
              <a:gd name="T2" fmla="*/ 2147483646 w 540"/>
              <a:gd name="T3" fmla="*/ 2147483646 h 391"/>
              <a:gd name="T4" fmla="*/ 2147483646 w 540"/>
              <a:gd name="T5" fmla="*/ 2147483646 h 391"/>
              <a:gd name="T6" fmla="*/ 2147483646 w 540"/>
              <a:gd name="T7" fmla="*/ 2147483646 h 391"/>
              <a:gd name="T8" fmla="*/ 2147483646 w 540"/>
              <a:gd name="T9" fmla="*/ 2147483646 h 391"/>
              <a:gd name="T10" fmla="*/ 2147483646 w 540"/>
              <a:gd name="T11" fmla="*/ 2147483646 h 391"/>
              <a:gd name="T12" fmla="*/ 2147483646 w 540"/>
              <a:gd name="T13" fmla="*/ 2147483646 h 391"/>
              <a:gd name="T14" fmla="*/ 2147483646 w 540"/>
              <a:gd name="T15" fmla="*/ 2147483646 h 391"/>
              <a:gd name="T16" fmla="*/ 0 w 540"/>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40" h="391">
                <a:moveTo>
                  <a:pt x="0" y="384"/>
                </a:moveTo>
                <a:cubicBezTo>
                  <a:pt x="52" y="385"/>
                  <a:pt x="240" y="389"/>
                  <a:pt x="311" y="389"/>
                </a:cubicBezTo>
                <a:cubicBezTo>
                  <a:pt x="382" y="389"/>
                  <a:pt x="397" y="391"/>
                  <a:pt x="427" y="385"/>
                </a:cubicBezTo>
                <a:cubicBezTo>
                  <a:pt x="457" y="379"/>
                  <a:pt x="477" y="372"/>
                  <a:pt x="494" y="355"/>
                </a:cubicBezTo>
                <a:cubicBezTo>
                  <a:pt x="511" y="338"/>
                  <a:pt x="523" y="324"/>
                  <a:pt x="529" y="284"/>
                </a:cubicBezTo>
                <a:cubicBezTo>
                  <a:pt x="535" y="244"/>
                  <a:pt x="540" y="155"/>
                  <a:pt x="533" y="113"/>
                </a:cubicBezTo>
                <a:cubicBezTo>
                  <a:pt x="526" y="71"/>
                  <a:pt x="515" y="52"/>
                  <a:pt x="488" y="34"/>
                </a:cubicBezTo>
                <a:cubicBezTo>
                  <a:pt x="461" y="16"/>
                  <a:pt x="451" y="10"/>
                  <a:pt x="370" y="5"/>
                </a:cubicBezTo>
                <a:cubicBezTo>
                  <a:pt x="289" y="0"/>
                  <a:pt x="77" y="6"/>
                  <a:pt x="0" y="6"/>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29"/>
          <p:cNvSpPr>
            <a:spLocks/>
          </p:cNvSpPr>
          <p:nvPr/>
        </p:nvSpPr>
        <p:spPr bwMode="auto">
          <a:xfrm>
            <a:off x="5995317" y="3261693"/>
            <a:ext cx="378204" cy="482177"/>
          </a:xfrm>
          <a:custGeom>
            <a:avLst/>
            <a:gdLst>
              <a:gd name="T0" fmla="*/ 0 w 311"/>
              <a:gd name="T1" fmla="*/ 2147483646 h 391"/>
              <a:gd name="T2" fmla="*/ 2147483646 w 311"/>
              <a:gd name="T3" fmla="*/ 2147483646 h 391"/>
              <a:gd name="T4" fmla="*/ 2147483646 w 311"/>
              <a:gd name="T5" fmla="*/ 2147483646 h 391"/>
              <a:gd name="T6" fmla="*/ 2147483646 w 311"/>
              <a:gd name="T7" fmla="*/ 2147483646 h 391"/>
              <a:gd name="T8" fmla="*/ 2147483646 w 311"/>
              <a:gd name="T9" fmla="*/ 2147483646 h 391"/>
              <a:gd name="T10" fmla="*/ 2147483646 w 311"/>
              <a:gd name="T11" fmla="*/ 2147483646 h 391"/>
              <a:gd name="T12" fmla="*/ 2147483646 w 311"/>
              <a:gd name="T13" fmla="*/ 2147483646 h 391"/>
              <a:gd name="T14" fmla="*/ 2147483646 w 311"/>
              <a:gd name="T15" fmla="*/ 2147483646 h 391"/>
              <a:gd name="T16" fmla="*/ 0 w 311"/>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11" h="391">
                <a:moveTo>
                  <a:pt x="0" y="387"/>
                </a:moveTo>
                <a:cubicBezTo>
                  <a:pt x="30" y="387"/>
                  <a:pt x="139" y="391"/>
                  <a:pt x="182" y="389"/>
                </a:cubicBezTo>
                <a:cubicBezTo>
                  <a:pt x="225" y="387"/>
                  <a:pt x="238" y="382"/>
                  <a:pt x="256" y="373"/>
                </a:cubicBezTo>
                <a:cubicBezTo>
                  <a:pt x="274" y="364"/>
                  <a:pt x="284" y="354"/>
                  <a:pt x="293" y="337"/>
                </a:cubicBezTo>
                <a:cubicBezTo>
                  <a:pt x="302" y="320"/>
                  <a:pt x="306" y="304"/>
                  <a:pt x="308" y="269"/>
                </a:cubicBezTo>
                <a:cubicBezTo>
                  <a:pt x="310" y="234"/>
                  <a:pt x="311" y="160"/>
                  <a:pt x="308" y="124"/>
                </a:cubicBezTo>
                <a:cubicBezTo>
                  <a:pt x="305" y="88"/>
                  <a:pt x="305" y="70"/>
                  <a:pt x="289" y="50"/>
                </a:cubicBezTo>
                <a:cubicBezTo>
                  <a:pt x="273" y="30"/>
                  <a:pt x="259" y="14"/>
                  <a:pt x="211" y="7"/>
                </a:cubicBezTo>
                <a:cubicBezTo>
                  <a:pt x="163" y="0"/>
                  <a:pt x="44" y="9"/>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30"/>
          <p:cNvSpPr>
            <a:spLocks/>
          </p:cNvSpPr>
          <p:nvPr/>
        </p:nvSpPr>
        <p:spPr bwMode="auto">
          <a:xfrm>
            <a:off x="6085478" y="2779571"/>
            <a:ext cx="654258" cy="1442834"/>
          </a:xfrm>
          <a:custGeom>
            <a:avLst/>
            <a:gdLst>
              <a:gd name="T0" fmla="*/ 0 w 538"/>
              <a:gd name="T1" fmla="*/ 2147483646 h 1175"/>
              <a:gd name="T2" fmla="*/ 2147483646 w 538"/>
              <a:gd name="T3" fmla="*/ 2147483646 h 1175"/>
              <a:gd name="T4" fmla="*/ 2147483646 w 538"/>
              <a:gd name="T5" fmla="*/ 2147483646 h 1175"/>
              <a:gd name="T6" fmla="*/ 2147483646 w 538"/>
              <a:gd name="T7" fmla="*/ 2147483646 h 1175"/>
              <a:gd name="T8" fmla="*/ 2147483646 w 538"/>
              <a:gd name="T9" fmla="*/ 2147483646 h 1175"/>
              <a:gd name="T10" fmla="*/ 2147483646 w 538"/>
              <a:gd name="T11" fmla="*/ 2147483646 h 1175"/>
              <a:gd name="T12" fmla="*/ 2147483646 w 538"/>
              <a:gd name="T13" fmla="*/ 2147483646 h 1175"/>
              <a:gd name="T14" fmla="*/ 2147483646 w 538"/>
              <a:gd name="T15" fmla="*/ 2147483646 h 1175"/>
              <a:gd name="T16" fmla="*/ 0 w 538"/>
              <a:gd name="T17" fmla="*/ 2147483646 h 117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38" h="1175">
                <a:moveTo>
                  <a:pt x="0" y="1171"/>
                </a:moveTo>
                <a:cubicBezTo>
                  <a:pt x="51" y="1171"/>
                  <a:pt x="237" y="1175"/>
                  <a:pt x="306" y="1168"/>
                </a:cubicBezTo>
                <a:cubicBezTo>
                  <a:pt x="375" y="1161"/>
                  <a:pt x="386" y="1151"/>
                  <a:pt x="417" y="1129"/>
                </a:cubicBezTo>
                <a:cubicBezTo>
                  <a:pt x="448" y="1107"/>
                  <a:pt x="472" y="1080"/>
                  <a:pt x="489" y="1036"/>
                </a:cubicBezTo>
                <a:cubicBezTo>
                  <a:pt x="506" y="992"/>
                  <a:pt x="515" y="980"/>
                  <a:pt x="522" y="865"/>
                </a:cubicBezTo>
                <a:cubicBezTo>
                  <a:pt x="529" y="750"/>
                  <a:pt x="538" y="472"/>
                  <a:pt x="534" y="348"/>
                </a:cubicBezTo>
                <a:cubicBezTo>
                  <a:pt x="530" y="224"/>
                  <a:pt x="529" y="176"/>
                  <a:pt x="501" y="121"/>
                </a:cubicBezTo>
                <a:cubicBezTo>
                  <a:pt x="473" y="66"/>
                  <a:pt x="448" y="38"/>
                  <a:pt x="365" y="19"/>
                </a:cubicBezTo>
                <a:cubicBezTo>
                  <a:pt x="282" y="0"/>
                  <a:pt x="76" y="11"/>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31"/>
          <p:cNvSpPr>
            <a:spLocks noChangeShapeType="1"/>
          </p:cNvSpPr>
          <p:nvPr/>
        </p:nvSpPr>
        <p:spPr bwMode="auto">
          <a:xfrm>
            <a:off x="3170499" y="338823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32"/>
          <p:cNvSpPr>
            <a:spLocks noChangeShapeType="1"/>
          </p:cNvSpPr>
          <p:nvPr/>
        </p:nvSpPr>
        <p:spPr bwMode="auto">
          <a:xfrm flipH="1">
            <a:off x="3051321" y="385931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34"/>
          <p:cNvSpPr>
            <a:spLocks noChangeShapeType="1"/>
          </p:cNvSpPr>
          <p:nvPr/>
        </p:nvSpPr>
        <p:spPr bwMode="auto">
          <a:xfrm rot="186387" flipV="1">
            <a:off x="3322510" y="2917156"/>
            <a:ext cx="2280172" cy="6165"/>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Text Box 35"/>
          <p:cNvSpPr txBox="1">
            <a:spLocks noChangeArrowheads="1"/>
          </p:cNvSpPr>
          <p:nvPr/>
        </p:nvSpPr>
        <p:spPr bwMode="auto">
          <a:xfrm rot="186387">
            <a:off x="3809156" y="2614862"/>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连接建立请求</a:t>
            </a:r>
          </a:p>
        </p:txBody>
      </p:sp>
      <p:sp>
        <p:nvSpPr>
          <p:cNvPr id="42" name="Text Box 18"/>
          <p:cNvSpPr txBox="1">
            <a:spLocks noChangeArrowheads="1"/>
          </p:cNvSpPr>
          <p:nvPr/>
        </p:nvSpPr>
        <p:spPr bwMode="auto">
          <a:xfrm>
            <a:off x="6855413" y="202911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连接建立</a:t>
            </a:r>
          </a:p>
        </p:txBody>
      </p:sp>
      <p:sp>
        <p:nvSpPr>
          <p:cNvPr id="43" name="Text Box 18"/>
          <p:cNvSpPr txBox="1">
            <a:spLocks noChangeArrowheads="1"/>
          </p:cNvSpPr>
          <p:nvPr/>
        </p:nvSpPr>
        <p:spPr bwMode="auto">
          <a:xfrm>
            <a:off x="6855413" y="325167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数据传送</a:t>
            </a:r>
          </a:p>
        </p:txBody>
      </p:sp>
      <p:sp>
        <p:nvSpPr>
          <p:cNvPr id="44" name="Text Box 18"/>
          <p:cNvSpPr txBox="1">
            <a:spLocks noChangeArrowheads="1"/>
          </p:cNvSpPr>
          <p:nvPr/>
        </p:nvSpPr>
        <p:spPr bwMode="auto">
          <a:xfrm>
            <a:off x="6855413" y="393967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连接释放</a:t>
            </a:r>
          </a:p>
        </p:txBody>
      </p:sp>
      <p:grpSp>
        <p:nvGrpSpPr>
          <p:cNvPr id="45" name="组合 44"/>
          <p:cNvGrpSpPr/>
          <p:nvPr/>
        </p:nvGrpSpPr>
        <p:grpSpPr>
          <a:xfrm>
            <a:off x="1074198" y="1371358"/>
            <a:ext cx="4314903" cy="1077218"/>
            <a:chOff x="1074198" y="1371358"/>
            <a:chExt cx="4314903" cy="1077218"/>
          </a:xfrm>
        </p:grpSpPr>
        <p:cxnSp>
          <p:nvCxnSpPr>
            <p:cNvPr id="47" name="直接箭头连接符 46"/>
            <p:cNvCxnSpPr/>
            <p:nvPr/>
          </p:nvCxnSpPr>
          <p:spPr>
            <a:xfrm>
              <a:off x="4773046" y="1858323"/>
              <a:ext cx="616055" cy="40647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6" name="矩形 45"/>
            <p:cNvSpPr/>
            <p:nvPr/>
          </p:nvSpPr>
          <p:spPr>
            <a:xfrm>
              <a:off x="1074198" y="1371358"/>
              <a:ext cx="3714410" cy="1077218"/>
            </a:xfrm>
            <a:prstGeom prst="rect">
              <a:avLst/>
            </a:prstGeom>
          </p:spPr>
          <p:style>
            <a:lnRef idx="1">
              <a:schemeClr val="accent3"/>
            </a:lnRef>
            <a:fillRef idx="2">
              <a:schemeClr val="accent3"/>
            </a:fillRef>
            <a:effectRef idx="1">
              <a:schemeClr val="accent3"/>
            </a:effectRef>
            <a:fontRef idx="minor">
              <a:schemeClr val="dk1"/>
            </a:fontRef>
          </p:style>
          <p:txBody>
            <a:bodyPr wrap="square">
              <a:spAutoFit/>
            </a:bodyPr>
            <a:lstStyle/>
            <a:p>
              <a:pPr algn="ctr"/>
              <a:r>
                <a:rPr lang="zh-CN" altLang="en-US" sz="1600" b="1" dirty="0">
                  <a:solidFill>
                    <a:srgbClr val="C00000"/>
                  </a:solidFill>
                  <a:latin typeface="微软雅黑 Light" panose="020B0502040204020203" pitchFamily="34" charset="-122"/>
                  <a:ea typeface="微软雅黑 Light" panose="020B0502040204020203" pitchFamily="34" charset="-122"/>
                </a:rPr>
                <a:t>服务器端</a:t>
              </a:r>
              <a:r>
                <a:rPr lang="zh-CN" altLang="en-US" sz="1600" b="1" dirty="0">
                  <a:latin typeface="微软雅黑 Light" panose="020B0502040204020203" pitchFamily="34" charset="-122"/>
                  <a:ea typeface="微软雅黑 Light" panose="020B0502040204020203" pitchFamily="34" charset="-122"/>
                </a:rPr>
                <a:t>调用 </a:t>
              </a:r>
              <a:r>
                <a:rPr lang="en-US" altLang="zh-CN" sz="1600" b="1" dirty="0">
                  <a:latin typeface="微软雅黑 Light" panose="020B0502040204020203" pitchFamily="34" charset="-122"/>
                  <a:ea typeface="微软雅黑 Light" panose="020B0502040204020203" pitchFamily="34" charset="-122"/>
                </a:rPr>
                <a:t>listen</a:t>
              </a:r>
              <a:r>
                <a:rPr lang="zh-CN" altLang="en-US" sz="1600" b="1" dirty="0">
                  <a:latin typeface="微软雅黑 Light" panose="020B0502040204020203" pitchFamily="34" charset="-122"/>
                  <a:ea typeface="微软雅黑 Light" panose="020B0502040204020203" pitchFamily="34" charset="-122"/>
                </a:rPr>
                <a:t>（收听），把套接字设置为被动方式，以便随时接受客户的服务请求。</a:t>
              </a:r>
              <a:r>
                <a:rPr lang="en-US" altLang="zh-CN" sz="1600" b="1" dirty="0">
                  <a:latin typeface="微软雅黑 Light" panose="020B0502040204020203" pitchFamily="34" charset="-122"/>
                  <a:ea typeface="微软雅黑 Light" panose="020B0502040204020203" pitchFamily="34" charset="-122"/>
                </a:rPr>
                <a:t>UDP </a:t>
              </a:r>
              <a:r>
                <a:rPr lang="zh-CN" altLang="en-US" sz="1600" b="1" dirty="0">
                  <a:latin typeface="微软雅黑 Light" panose="020B0502040204020203" pitchFamily="34" charset="-122"/>
                  <a:ea typeface="微软雅黑 Light" panose="020B0502040204020203" pitchFamily="34" charset="-122"/>
                </a:rPr>
                <a:t>服务器不使用 </a:t>
              </a:r>
              <a:r>
                <a:rPr lang="en-US" altLang="zh-CN" sz="1600" b="1" dirty="0">
                  <a:latin typeface="微软雅黑 Light" panose="020B0502040204020203" pitchFamily="34" charset="-122"/>
                  <a:ea typeface="微软雅黑 Light" panose="020B0502040204020203" pitchFamily="34" charset="-122"/>
                </a:rPr>
                <a:t>listen </a:t>
              </a:r>
              <a:r>
                <a:rPr lang="zh-CN" altLang="en-US" sz="1600" b="1" dirty="0">
                  <a:latin typeface="微软雅黑 Light" panose="020B0502040204020203" pitchFamily="34" charset="-122"/>
                  <a:ea typeface="微软雅黑 Light" panose="020B0502040204020203" pitchFamily="34" charset="-122"/>
                </a:rPr>
                <a:t>系统调用。</a:t>
              </a:r>
            </a:p>
          </p:txBody>
        </p:sp>
      </p:grpSp>
    </p:spTree>
    <p:extLst>
      <p:ext uri="{BB962C8B-B14F-4D97-AF65-F5344CB8AC3E}">
        <p14:creationId xmlns:p14="http://schemas.microsoft.com/office/powerpoint/2010/main" val="10316814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Box 4"/>
          <p:cNvSpPr txBox="1">
            <a:spLocks noChangeArrowheads="1"/>
          </p:cNvSpPr>
          <p:nvPr/>
        </p:nvSpPr>
        <p:spPr bwMode="auto">
          <a:xfrm>
            <a:off x="5193856" y="1019340"/>
            <a:ext cx="100540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服务器端</a:t>
            </a:r>
          </a:p>
        </p:txBody>
      </p:sp>
      <p:sp>
        <p:nvSpPr>
          <p:cNvPr id="19" name="Text Box 18"/>
          <p:cNvSpPr txBox="1">
            <a:spLocks noChangeArrowheads="1"/>
          </p:cNvSpPr>
          <p:nvPr/>
        </p:nvSpPr>
        <p:spPr bwMode="auto">
          <a:xfrm>
            <a:off x="2492362" y="101934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客户端</a:t>
            </a:r>
          </a:p>
        </p:txBody>
      </p:sp>
      <p:sp>
        <p:nvSpPr>
          <p:cNvPr id="38" name="AutoShape 5"/>
          <p:cNvSpPr>
            <a:spLocks noChangeArrowheads="1"/>
          </p:cNvSpPr>
          <p:nvPr/>
        </p:nvSpPr>
        <p:spPr bwMode="auto">
          <a:xfrm>
            <a:off x="556963" y="60897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9" name="Rectangle 6"/>
          <p:cNvSpPr>
            <a:spLocks noChangeArrowheads="1"/>
          </p:cNvSpPr>
          <p:nvPr/>
        </p:nvSpPr>
        <p:spPr bwMode="auto">
          <a:xfrm>
            <a:off x="3564892" y="575768"/>
            <a:ext cx="203292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1. </a:t>
            </a:r>
            <a:r>
              <a:rPr lang="zh-CN" altLang="en-US" sz="2000" b="1" dirty="0">
                <a:solidFill>
                  <a:schemeClr val="bg1"/>
                </a:solidFill>
                <a:latin typeface="微软雅黑 Light" panose="020B0502040204020203" pitchFamily="34" charset="-122"/>
                <a:ea typeface="微软雅黑 Light" panose="020B0502040204020203" pitchFamily="34" charset="-122"/>
              </a:rPr>
              <a:t>连接建立阶段</a:t>
            </a:r>
          </a:p>
        </p:txBody>
      </p:sp>
      <p:sp>
        <p:nvSpPr>
          <p:cNvPr id="36" name="矩形 35"/>
          <p:cNvSpPr/>
          <p:nvPr/>
        </p:nvSpPr>
        <p:spPr>
          <a:xfrm>
            <a:off x="1481959" y="1306976"/>
            <a:ext cx="6358758" cy="1613262"/>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0" name="矩形 39"/>
          <p:cNvSpPr/>
          <p:nvPr/>
        </p:nvSpPr>
        <p:spPr>
          <a:xfrm>
            <a:off x="1481959" y="2922086"/>
            <a:ext cx="6358758" cy="964357"/>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1" name="矩形 40"/>
          <p:cNvSpPr/>
          <p:nvPr/>
        </p:nvSpPr>
        <p:spPr>
          <a:xfrm>
            <a:off x="1481959" y="3886444"/>
            <a:ext cx="6358758" cy="447650"/>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Text Box 5"/>
          <p:cNvSpPr txBox="1">
            <a:spLocks noChangeArrowheads="1"/>
          </p:cNvSpPr>
          <p:nvPr/>
        </p:nvSpPr>
        <p:spPr bwMode="auto">
          <a:xfrm>
            <a:off x="5383990" y="127059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7" name="Text Box 6"/>
          <p:cNvSpPr txBox="1">
            <a:spLocks noChangeArrowheads="1"/>
          </p:cNvSpPr>
          <p:nvPr/>
        </p:nvSpPr>
        <p:spPr bwMode="auto">
          <a:xfrm>
            <a:off x="5455683" y="1703694"/>
            <a:ext cx="5469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bind</a:t>
            </a:r>
          </a:p>
        </p:txBody>
      </p:sp>
      <p:sp>
        <p:nvSpPr>
          <p:cNvPr id="8" name="Text Box 7"/>
          <p:cNvSpPr txBox="1">
            <a:spLocks noChangeArrowheads="1"/>
          </p:cNvSpPr>
          <p:nvPr/>
        </p:nvSpPr>
        <p:spPr bwMode="auto">
          <a:xfrm>
            <a:off x="5425585" y="2172307"/>
            <a:ext cx="59984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listen</a:t>
            </a:r>
          </a:p>
        </p:txBody>
      </p:sp>
      <p:sp>
        <p:nvSpPr>
          <p:cNvPr id="9" name="Text Box 8"/>
          <p:cNvSpPr txBox="1">
            <a:spLocks noChangeArrowheads="1"/>
          </p:cNvSpPr>
          <p:nvPr/>
        </p:nvSpPr>
        <p:spPr bwMode="auto">
          <a:xfrm>
            <a:off x="5362628" y="2640919"/>
            <a:ext cx="7184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accept</a:t>
            </a:r>
          </a:p>
        </p:txBody>
      </p:sp>
      <p:sp>
        <p:nvSpPr>
          <p:cNvPr id="10" name="Text Box 9"/>
          <p:cNvSpPr txBox="1">
            <a:spLocks noChangeArrowheads="1"/>
          </p:cNvSpPr>
          <p:nvPr/>
        </p:nvSpPr>
        <p:spPr bwMode="auto">
          <a:xfrm>
            <a:off x="5459487" y="3109532"/>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11" name="Text Box 10"/>
          <p:cNvSpPr txBox="1">
            <a:spLocks noChangeArrowheads="1"/>
          </p:cNvSpPr>
          <p:nvPr/>
        </p:nvSpPr>
        <p:spPr bwMode="auto">
          <a:xfrm>
            <a:off x="5429067" y="3578146"/>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12" name="Text Box 11"/>
          <p:cNvSpPr txBox="1">
            <a:spLocks noChangeArrowheads="1"/>
          </p:cNvSpPr>
          <p:nvPr/>
        </p:nvSpPr>
        <p:spPr bwMode="auto">
          <a:xfrm>
            <a:off x="5414806"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13" name="Line 12"/>
          <p:cNvSpPr>
            <a:spLocks noChangeShapeType="1"/>
          </p:cNvSpPr>
          <p:nvPr/>
        </p:nvSpPr>
        <p:spPr bwMode="auto">
          <a:xfrm>
            <a:off x="5730372" y="153721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13"/>
          <p:cNvSpPr>
            <a:spLocks noChangeShapeType="1"/>
          </p:cNvSpPr>
          <p:nvPr/>
        </p:nvSpPr>
        <p:spPr bwMode="auto">
          <a:xfrm>
            <a:off x="5730372" y="1984862"/>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a:off x="5730372" y="2432511"/>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5"/>
          <p:cNvSpPr>
            <a:spLocks noChangeShapeType="1"/>
          </p:cNvSpPr>
          <p:nvPr/>
        </p:nvSpPr>
        <p:spPr bwMode="auto">
          <a:xfrm>
            <a:off x="5730372" y="293565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6"/>
          <p:cNvSpPr>
            <a:spLocks noChangeShapeType="1"/>
          </p:cNvSpPr>
          <p:nvPr/>
        </p:nvSpPr>
        <p:spPr bwMode="auto">
          <a:xfrm>
            <a:off x="5730372" y="3438796"/>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7"/>
          <p:cNvSpPr>
            <a:spLocks noChangeShapeType="1"/>
          </p:cNvSpPr>
          <p:nvPr/>
        </p:nvSpPr>
        <p:spPr bwMode="auto">
          <a:xfrm>
            <a:off x="5730372" y="388644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19"/>
          <p:cNvSpPr txBox="1">
            <a:spLocks noChangeArrowheads="1"/>
          </p:cNvSpPr>
          <p:nvPr/>
        </p:nvSpPr>
        <p:spPr bwMode="auto">
          <a:xfrm>
            <a:off x="2572385" y="221398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21" name="Text Box 20"/>
          <p:cNvSpPr txBox="1">
            <a:spLocks noChangeArrowheads="1"/>
          </p:cNvSpPr>
          <p:nvPr/>
        </p:nvSpPr>
        <p:spPr bwMode="auto">
          <a:xfrm>
            <a:off x="2662476" y="3578146"/>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22" name="Text Box 21"/>
          <p:cNvSpPr txBox="1">
            <a:spLocks noChangeArrowheads="1"/>
          </p:cNvSpPr>
          <p:nvPr/>
        </p:nvSpPr>
        <p:spPr bwMode="auto">
          <a:xfrm>
            <a:off x="2635705" y="3109532"/>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23" name="Text Box 22"/>
          <p:cNvSpPr txBox="1">
            <a:spLocks noChangeArrowheads="1"/>
          </p:cNvSpPr>
          <p:nvPr/>
        </p:nvSpPr>
        <p:spPr bwMode="auto">
          <a:xfrm>
            <a:off x="2625091"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24" name="Text Box 23"/>
          <p:cNvSpPr txBox="1">
            <a:spLocks noChangeArrowheads="1"/>
          </p:cNvSpPr>
          <p:nvPr/>
        </p:nvSpPr>
        <p:spPr bwMode="auto">
          <a:xfrm>
            <a:off x="2506469" y="2645853"/>
            <a:ext cx="83067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connect</a:t>
            </a:r>
          </a:p>
        </p:txBody>
      </p:sp>
      <p:sp>
        <p:nvSpPr>
          <p:cNvPr id="25" name="Line 24"/>
          <p:cNvSpPr>
            <a:spLocks noChangeShapeType="1"/>
          </p:cNvSpPr>
          <p:nvPr/>
        </p:nvSpPr>
        <p:spPr bwMode="auto">
          <a:xfrm>
            <a:off x="2921200" y="247443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Line 25"/>
          <p:cNvSpPr>
            <a:spLocks noChangeShapeType="1"/>
          </p:cNvSpPr>
          <p:nvPr/>
        </p:nvSpPr>
        <p:spPr bwMode="auto">
          <a:xfrm>
            <a:off x="2921200" y="292208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Line 26"/>
          <p:cNvSpPr>
            <a:spLocks noChangeShapeType="1"/>
          </p:cNvSpPr>
          <p:nvPr/>
        </p:nvSpPr>
        <p:spPr bwMode="auto">
          <a:xfrm>
            <a:off x="2921200" y="336973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7"/>
          <p:cNvSpPr>
            <a:spLocks noChangeShapeType="1"/>
          </p:cNvSpPr>
          <p:nvPr/>
        </p:nvSpPr>
        <p:spPr bwMode="auto">
          <a:xfrm>
            <a:off x="2921200" y="387287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28"/>
          <p:cNvSpPr>
            <a:spLocks/>
          </p:cNvSpPr>
          <p:nvPr/>
        </p:nvSpPr>
        <p:spPr bwMode="auto">
          <a:xfrm flipH="1">
            <a:off x="1997574" y="3280835"/>
            <a:ext cx="656690" cy="462447"/>
          </a:xfrm>
          <a:custGeom>
            <a:avLst/>
            <a:gdLst>
              <a:gd name="T0" fmla="*/ 0 w 540"/>
              <a:gd name="T1" fmla="*/ 2147483646 h 391"/>
              <a:gd name="T2" fmla="*/ 2147483646 w 540"/>
              <a:gd name="T3" fmla="*/ 2147483646 h 391"/>
              <a:gd name="T4" fmla="*/ 2147483646 w 540"/>
              <a:gd name="T5" fmla="*/ 2147483646 h 391"/>
              <a:gd name="T6" fmla="*/ 2147483646 w 540"/>
              <a:gd name="T7" fmla="*/ 2147483646 h 391"/>
              <a:gd name="T8" fmla="*/ 2147483646 w 540"/>
              <a:gd name="T9" fmla="*/ 2147483646 h 391"/>
              <a:gd name="T10" fmla="*/ 2147483646 w 540"/>
              <a:gd name="T11" fmla="*/ 2147483646 h 391"/>
              <a:gd name="T12" fmla="*/ 2147483646 w 540"/>
              <a:gd name="T13" fmla="*/ 2147483646 h 391"/>
              <a:gd name="T14" fmla="*/ 2147483646 w 540"/>
              <a:gd name="T15" fmla="*/ 2147483646 h 391"/>
              <a:gd name="T16" fmla="*/ 0 w 540"/>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40" h="391">
                <a:moveTo>
                  <a:pt x="0" y="384"/>
                </a:moveTo>
                <a:cubicBezTo>
                  <a:pt x="52" y="385"/>
                  <a:pt x="240" y="389"/>
                  <a:pt x="311" y="389"/>
                </a:cubicBezTo>
                <a:cubicBezTo>
                  <a:pt x="382" y="389"/>
                  <a:pt x="397" y="391"/>
                  <a:pt x="427" y="385"/>
                </a:cubicBezTo>
                <a:cubicBezTo>
                  <a:pt x="457" y="379"/>
                  <a:pt x="477" y="372"/>
                  <a:pt x="494" y="355"/>
                </a:cubicBezTo>
                <a:cubicBezTo>
                  <a:pt x="511" y="338"/>
                  <a:pt x="523" y="324"/>
                  <a:pt x="529" y="284"/>
                </a:cubicBezTo>
                <a:cubicBezTo>
                  <a:pt x="535" y="244"/>
                  <a:pt x="540" y="155"/>
                  <a:pt x="533" y="113"/>
                </a:cubicBezTo>
                <a:cubicBezTo>
                  <a:pt x="526" y="71"/>
                  <a:pt x="515" y="52"/>
                  <a:pt x="488" y="34"/>
                </a:cubicBezTo>
                <a:cubicBezTo>
                  <a:pt x="461" y="16"/>
                  <a:pt x="451" y="10"/>
                  <a:pt x="370" y="5"/>
                </a:cubicBezTo>
                <a:cubicBezTo>
                  <a:pt x="289" y="0"/>
                  <a:pt x="77" y="6"/>
                  <a:pt x="0" y="6"/>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29"/>
          <p:cNvSpPr>
            <a:spLocks/>
          </p:cNvSpPr>
          <p:nvPr/>
        </p:nvSpPr>
        <p:spPr bwMode="auto">
          <a:xfrm>
            <a:off x="5995317" y="3261693"/>
            <a:ext cx="378204" cy="482177"/>
          </a:xfrm>
          <a:custGeom>
            <a:avLst/>
            <a:gdLst>
              <a:gd name="T0" fmla="*/ 0 w 311"/>
              <a:gd name="T1" fmla="*/ 2147483646 h 391"/>
              <a:gd name="T2" fmla="*/ 2147483646 w 311"/>
              <a:gd name="T3" fmla="*/ 2147483646 h 391"/>
              <a:gd name="T4" fmla="*/ 2147483646 w 311"/>
              <a:gd name="T5" fmla="*/ 2147483646 h 391"/>
              <a:gd name="T6" fmla="*/ 2147483646 w 311"/>
              <a:gd name="T7" fmla="*/ 2147483646 h 391"/>
              <a:gd name="T8" fmla="*/ 2147483646 w 311"/>
              <a:gd name="T9" fmla="*/ 2147483646 h 391"/>
              <a:gd name="T10" fmla="*/ 2147483646 w 311"/>
              <a:gd name="T11" fmla="*/ 2147483646 h 391"/>
              <a:gd name="T12" fmla="*/ 2147483646 w 311"/>
              <a:gd name="T13" fmla="*/ 2147483646 h 391"/>
              <a:gd name="T14" fmla="*/ 2147483646 w 311"/>
              <a:gd name="T15" fmla="*/ 2147483646 h 391"/>
              <a:gd name="T16" fmla="*/ 0 w 311"/>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11" h="391">
                <a:moveTo>
                  <a:pt x="0" y="387"/>
                </a:moveTo>
                <a:cubicBezTo>
                  <a:pt x="30" y="387"/>
                  <a:pt x="139" y="391"/>
                  <a:pt x="182" y="389"/>
                </a:cubicBezTo>
                <a:cubicBezTo>
                  <a:pt x="225" y="387"/>
                  <a:pt x="238" y="382"/>
                  <a:pt x="256" y="373"/>
                </a:cubicBezTo>
                <a:cubicBezTo>
                  <a:pt x="274" y="364"/>
                  <a:pt x="284" y="354"/>
                  <a:pt x="293" y="337"/>
                </a:cubicBezTo>
                <a:cubicBezTo>
                  <a:pt x="302" y="320"/>
                  <a:pt x="306" y="304"/>
                  <a:pt x="308" y="269"/>
                </a:cubicBezTo>
                <a:cubicBezTo>
                  <a:pt x="310" y="234"/>
                  <a:pt x="311" y="160"/>
                  <a:pt x="308" y="124"/>
                </a:cubicBezTo>
                <a:cubicBezTo>
                  <a:pt x="305" y="88"/>
                  <a:pt x="305" y="70"/>
                  <a:pt x="289" y="50"/>
                </a:cubicBezTo>
                <a:cubicBezTo>
                  <a:pt x="273" y="30"/>
                  <a:pt x="259" y="14"/>
                  <a:pt x="211" y="7"/>
                </a:cubicBezTo>
                <a:cubicBezTo>
                  <a:pt x="163" y="0"/>
                  <a:pt x="44" y="9"/>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30"/>
          <p:cNvSpPr>
            <a:spLocks/>
          </p:cNvSpPr>
          <p:nvPr/>
        </p:nvSpPr>
        <p:spPr bwMode="auto">
          <a:xfrm>
            <a:off x="6085478" y="2779571"/>
            <a:ext cx="654258" cy="1442834"/>
          </a:xfrm>
          <a:custGeom>
            <a:avLst/>
            <a:gdLst>
              <a:gd name="T0" fmla="*/ 0 w 538"/>
              <a:gd name="T1" fmla="*/ 2147483646 h 1175"/>
              <a:gd name="T2" fmla="*/ 2147483646 w 538"/>
              <a:gd name="T3" fmla="*/ 2147483646 h 1175"/>
              <a:gd name="T4" fmla="*/ 2147483646 w 538"/>
              <a:gd name="T5" fmla="*/ 2147483646 h 1175"/>
              <a:gd name="T6" fmla="*/ 2147483646 w 538"/>
              <a:gd name="T7" fmla="*/ 2147483646 h 1175"/>
              <a:gd name="T8" fmla="*/ 2147483646 w 538"/>
              <a:gd name="T9" fmla="*/ 2147483646 h 1175"/>
              <a:gd name="T10" fmla="*/ 2147483646 w 538"/>
              <a:gd name="T11" fmla="*/ 2147483646 h 1175"/>
              <a:gd name="T12" fmla="*/ 2147483646 w 538"/>
              <a:gd name="T13" fmla="*/ 2147483646 h 1175"/>
              <a:gd name="T14" fmla="*/ 2147483646 w 538"/>
              <a:gd name="T15" fmla="*/ 2147483646 h 1175"/>
              <a:gd name="T16" fmla="*/ 0 w 538"/>
              <a:gd name="T17" fmla="*/ 2147483646 h 117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38" h="1175">
                <a:moveTo>
                  <a:pt x="0" y="1171"/>
                </a:moveTo>
                <a:cubicBezTo>
                  <a:pt x="51" y="1171"/>
                  <a:pt x="237" y="1175"/>
                  <a:pt x="306" y="1168"/>
                </a:cubicBezTo>
                <a:cubicBezTo>
                  <a:pt x="375" y="1161"/>
                  <a:pt x="386" y="1151"/>
                  <a:pt x="417" y="1129"/>
                </a:cubicBezTo>
                <a:cubicBezTo>
                  <a:pt x="448" y="1107"/>
                  <a:pt x="472" y="1080"/>
                  <a:pt x="489" y="1036"/>
                </a:cubicBezTo>
                <a:cubicBezTo>
                  <a:pt x="506" y="992"/>
                  <a:pt x="515" y="980"/>
                  <a:pt x="522" y="865"/>
                </a:cubicBezTo>
                <a:cubicBezTo>
                  <a:pt x="529" y="750"/>
                  <a:pt x="538" y="472"/>
                  <a:pt x="534" y="348"/>
                </a:cubicBezTo>
                <a:cubicBezTo>
                  <a:pt x="530" y="224"/>
                  <a:pt x="529" y="176"/>
                  <a:pt x="501" y="121"/>
                </a:cubicBezTo>
                <a:cubicBezTo>
                  <a:pt x="473" y="66"/>
                  <a:pt x="448" y="38"/>
                  <a:pt x="365" y="19"/>
                </a:cubicBezTo>
                <a:cubicBezTo>
                  <a:pt x="282" y="0"/>
                  <a:pt x="76" y="11"/>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31"/>
          <p:cNvSpPr>
            <a:spLocks noChangeShapeType="1"/>
          </p:cNvSpPr>
          <p:nvPr/>
        </p:nvSpPr>
        <p:spPr bwMode="auto">
          <a:xfrm>
            <a:off x="3170499" y="338823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32"/>
          <p:cNvSpPr>
            <a:spLocks noChangeShapeType="1"/>
          </p:cNvSpPr>
          <p:nvPr/>
        </p:nvSpPr>
        <p:spPr bwMode="auto">
          <a:xfrm flipH="1">
            <a:off x="3051321" y="385931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34"/>
          <p:cNvSpPr>
            <a:spLocks noChangeShapeType="1"/>
          </p:cNvSpPr>
          <p:nvPr/>
        </p:nvSpPr>
        <p:spPr bwMode="auto">
          <a:xfrm rot="186387" flipV="1">
            <a:off x="3322510" y="2917156"/>
            <a:ext cx="2280172" cy="6165"/>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Text Box 35"/>
          <p:cNvSpPr txBox="1">
            <a:spLocks noChangeArrowheads="1"/>
          </p:cNvSpPr>
          <p:nvPr/>
        </p:nvSpPr>
        <p:spPr bwMode="auto">
          <a:xfrm rot="186387">
            <a:off x="3809156" y="2614862"/>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连接建立请求</a:t>
            </a:r>
          </a:p>
        </p:txBody>
      </p:sp>
      <p:sp>
        <p:nvSpPr>
          <p:cNvPr id="42" name="Text Box 18"/>
          <p:cNvSpPr txBox="1">
            <a:spLocks noChangeArrowheads="1"/>
          </p:cNvSpPr>
          <p:nvPr/>
        </p:nvSpPr>
        <p:spPr bwMode="auto">
          <a:xfrm>
            <a:off x="6855413" y="202911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连接建立</a:t>
            </a:r>
          </a:p>
        </p:txBody>
      </p:sp>
      <p:sp>
        <p:nvSpPr>
          <p:cNvPr id="43" name="Text Box 18"/>
          <p:cNvSpPr txBox="1">
            <a:spLocks noChangeArrowheads="1"/>
          </p:cNvSpPr>
          <p:nvPr/>
        </p:nvSpPr>
        <p:spPr bwMode="auto">
          <a:xfrm>
            <a:off x="6855413" y="325167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数据传送</a:t>
            </a:r>
          </a:p>
        </p:txBody>
      </p:sp>
      <p:sp>
        <p:nvSpPr>
          <p:cNvPr id="44" name="Text Box 18"/>
          <p:cNvSpPr txBox="1">
            <a:spLocks noChangeArrowheads="1"/>
          </p:cNvSpPr>
          <p:nvPr/>
        </p:nvSpPr>
        <p:spPr bwMode="auto">
          <a:xfrm>
            <a:off x="6855413" y="393967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连接释放</a:t>
            </a:r>
          </a:p>
        </p:txBody>
      </p:sp>
      <p:grpSp>
        <p:nvGrpSpPr>
          <p:cNvPr id="45" name="组合 44"/>
          <p:cNvGrpSpPr/>
          <p:nvPr/>
        </p:nvGrpSpPr>
        <p:grpSpPr>
          <a:xfrm>
            <a:off x="1597982" y="1365082"/>
            <a:ext cx="3810246" cy="1347363"/>
            <a:chOff x="1597982" y="1425503"/>
            <a:chExt cx="3810246" cy="1347363"/>
          </a:xfrm>
        </p:grpSpPr>
        <p:cxnSp>
          <p:nvCxnSpPr>
            <p:cNvPr id="47" name="直接箭头连接符 46"/>
            <p:cNvCxnSpPr/>
            <p:nvPr/>
          </p:nvCxnSpPr>
          <p:spPr>
            <a:xfrm>
              <a:off x="4773046" y="2201507"/>
              <a:ext cx="635182" cy="57135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6" name="矩形 45"/>
            <p:cNvSpPr/>
            <p:nvPr/>
          </p:nvSpPr>
          <p:spPr>
            <a:xfrm>
              <a:off x="1597982" y="1425503"/>
              <a:ext cx="3196442" cy="1077218"/>
            </a:xfrm>
            <a:prstGeom prst="rect">
              <a:avLst/>
            </a:prstGeom>
          </p:spPr>
          <p:style>
            <a:lnRef idx="1">
              <a:schemeClr val="accent3"/>
            </a:lnRef>
            <a:fillRef idx="2">
              <a:schemeClr val="accent3"/>
            </a:fillRef>
            <a:effectRef idx="1">
              <a:schemeClr val="accent3"/>
            </a:effectRef>
            <a:fontRef idx="minor">
              <a:schemeClr val="dk1"/>
            </a:fontRef>
          </p:style>
          <p:txBody>
            <a:bodyPr wrap="square">
              <a:spAutoFit/>
            </a:bodyPr>
            <a:lstStyle/>
            <a:p>
              <a:pPr algn="ctr"/>
              <a:r>
                <a:rPr lang="zh-CN" altLang="en-US" sz="1600" b="1" dirty="0">
                  <a:solidFill>
                    <a:srgbClr val="C00000"/>
                  </a:solidFill>
                  <a:latin typeface="微软雅黑 Light" panose="020B0502040204020203" pitchFamily="34" charset="-122"/>
                  <a:ea typeface="微软雅黑 Light" panose="020B0502040204020203" pitchFamily="34" charset="-122"/>
                </a:rPr>
                <a:t>服务器端</a:t>
              </a:r>
              <a:r>
                <a:rPr lang="zh-CN" altLang="en-US" sz="1600" b="1" dirty="0">
                  <a:latin typeface="微软雅黑 Light" panose="020B0502040204020203" pitchFamily="34" charset="-122"/>
                  <a:ea typeface="微软雅黑 Light" panose="020B0502040204020203" pitchFamily="34" charset="-122"/>
                </a:rPr>
                <a:t>调用 </a:t>
              </a:r>
              <a:r>
                <a:rPr lang="en-US" altLang="zh-CN" sz="1600" b="1" dirty="0">
                  <a:latin typeface="微软雅黑 Light" panose="020B0502040204020203" pitchFamily="34" charset="-122"/>
                  <a:ea typeface="微软雅黑 Light" panose="020B0502040204020203" pitchFamily="34" charset="-122"/>
                </a:rPr>
                <a:t>accept</a:t>
              </a:r>
              <a:r>
                <a:rPr lang="zh-CN" altLang="en-US" sz="1600" b="1" dirty="0">
                  <a:latin typeface="微软雅黑 Light" panose="020B0502040204020203" pitchFamily="34" charset="-122"/>
                  <a:ea typeface="微软雅黑 Light" panose="020B0502040204020203" pitchFamily="34" charset="-122"/>
                </a:rPr>
                <a:t>（接受），以便把远地客户进程发来的连接请求提取出来。</a:t>
              </a:r>
              <a:r>
                <a:rPr lang="en-US" altLang="zh-CN" sz="1600" b="1" dirty="0">
                  <a:latin typeface="微软雅黑 Light" panose="020B0502040204020203" pitchFamily="34" charset="-122"/>
                  <a:ea typeface="微软雅黑 Light" panose="020B0502040204020203" pitchFamily="34" charset="-122"/>
                </a:rPr>
                <a:t>UDP </a:t>
              </a:r>
              <a:r>
                <a:rPr lang="zh-CN" altLang="en-US" sz="1600" b="1" dirty="0">
                  <a:latin typeface="微软雅黑 Light" panose="020B0502040204020203" pitchFamily="34" charset="-122"/>
                  <a:ea typeface="微软雅黑 Light" panose="020B0502040204020203" pitchFamily="34" charset="-122"/>
                </a:rPr>
                <a:t>服务器不使用 </a:t>
              </a:r>
              <a:r>
                <a:rPr lang="en-US" altLang="zh-CN" sz="1600" b="1" dirty="0">
                  <a:latin typeface="微软雅黑 Light" panose="020B0502040204020203" pitchFamily="34" charset="-122"/>
                  <a:ea typeface="微软雅黑 Light" panose="020B0502040204020203" pitchFamily="34" charset="-122"/>
                </a:rPr>
                <a:t>accept </a:t>
              </a:r>
              <a:r>
                <a:rPr lang="zh-CN" altLang="en-US" sz="1600" b="1" dirty="0">
                  <a:latin typeface="微软雅黑 Light" panose="020B0502040204020203" pitchFamily="34" charset="-122"/>
                  <a:ea typeface="微软雅黑 Light" panose="020B0502040204020203" pitchFamily="34" charset="-122"/>
                </a:rPr>
                <a:t>系统调用</a:t>
              </a:r>
            </a:p>
          </p:txBody>
        </p:sp>
      </p:grpSp>
    </p:spTree>
    <p:extLst>
      <p:ext uri="{BB962C8B-B14F-4D97-AF65-F5344CB8AC3E}">
        <p14:creationId xmlns:p14="http://schemas.microsoft.com/office/powerpoint/2010/main" val="41208679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1454"/>
            <a:ext cx="8041893"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4" name="矩形 3"/>
          <p:cNvSpPr/>
          <p:nvPr/>
        </p:nvSpPr>
        <p:spPr>
          <a:xfrm>
            <a:off x="645268" y="560070"/>
            <a:ext cx="2749471"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2000" b="1" dirty="0">
                <a:latin typeface="微软雅黑 Light" panose="020B0502040204020203" pitchFamily="34" charset="-122"/>
                <a:ea typeface="微软雅黑 Light" panose="020B0502040204020203" pitchFamily="34" charset="-122"/>
              </a:rPr>
              <a:t>并发方式工作的服务器</a:t>
            </a:r>
          </a:p>
        </p:txBody>
      </p:sp>
      <p:grpSp>
        <p:nvGrpSpPr>
          <p:cNvPr id="38" name="组合 37"/>
          <p:cNvGrpSpPr/>
          <p:nvPr/>
        </p:nvGrpSpPr>
        <p:grpSpPr>
          <a:xfrm>
            <a:off x="2225985" y="1756712"/>
            <a:ext cx="5132411" cy="2493859"/>
            <a:chOff x="896012" y="2273448"/>
            <a:chExt cx="8602292" cy="4179888"/>
          </a:xfrm>
        </p:grpSpPr>
        <p:sp>
          <p:nvSpPr>
            <p:cNvPr id="5" name="Text Box 4"/>
            <p:cNvSpPr txBox="1">
              <a:spLocks noChangeArrowheads="1"/>
            </p:cNvSpPr>
            <p:nvPr/>
          </p:nvSpPr>
          <p:spPr bwMode="auto">
            <a:xfrm>
              <a:off x="1193681" y="5170635"/>
              <a:ext cx="1857081" cy="7737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接受连接请求</a:t>
              </a:r>
            </a:p>
            <a:p>
              <a:pPr algn="ctr" eaLnBrk="1" hangingPunct="1"/>
              <a:r>
                <a:rPr lang="zh-CN" altLang="en-US" sz="1200" b="1" dirty="0">
                  <a:latin typeface="微软雅黑 Light" panose="020B0502040204020203" pitchFamily="34" charset="-122"/>
                  <a:ea typeface="微软雅黑 Light" panose="020B0502040204020203" pitchFamily="34" charset="-122"/>
                </a:rPr>
                <a:t>的套接字</a:t>
              </a:r>
            </a:p>
          </p:txBody>
        </p:sp>
        <p:sp>
          <p:nvSpPr>
            <p:cNvPr id="6" name="Rectangle 5"/>
            <p:cNvSpPr>
              <a:spLocks noChangeArrowheads="1"/>
            </p:cNvSpPr>
            <p:nvPr/>
          </p:nvSpPr>
          <p:spPr bwMode="auto">
            <a:xfrm>
              <a:off x="1081750" y="2273448"/>
              <a:ext cx="6462977" cy="41798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7" name="Rectangle 36"/>
            <p:cNvSpPr>
              <a:spLocks noChangeArrowheads="1"/>
            </p:cNvSpPr>
            <p:nvPr/>
          </p:nvSpPr>
          <p:spPr bwMode="auto">
            <a:xfrm>
              <a:off x="1085189" y="4940448"/>
              <a:ext cx="2013876" cy="1504950"/>
            </a:xfrm>
            <a:prstGeom prst="rect">
              <a:avLst/>
            </a:prstGeom>
            <a:solidFill>
              <a:srgbClr val="0066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8" name="Oval 6"/>
            <p:cNvSpPr>
              <a:spLocks noChangeArrowheads="1"/>
            </p:cNvSpPr>
            <p:nvPr/>
          </p:nvSpPr>
          <p:spPr bwMode="auto">
            <a:xfrm>
              <a:off x="1635523" y="2735387"/>
              <a:ext cx="923528" cy="836612"/>
            </a:xfrm>
            <a:prstGeom prst="ellipse">
              <a:avLst/>
            </a:prstGeom>
            <a:solidFill>
              <a:srgbClr val="FF66FF"/>
            </a:solidFill>
            <a:ln w="38100" cmpd="dbl">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lang="en-US" altLang="zh-CN" sz="1200" b="1" dirty="0">
                  <a:latin typeface="微软雅黑 Light" panose="020B0502040204020203" pitchFamily="34" charset="-122"/>
                  <a:ea typeface="微软雅黑 Light" panose="020B0502040204020203" pitchFamily="34" charset="-122"/>
                </a:rPr>
                <a:t>M</a:t>
              </a:r>
            </a:p>
          </p:txBody>
        </p:sp>
        <p:sp>
          <p:nvSpPr>
            <p:cNvPr id="9" name="Oval 7"/>
            <p:cNvSpPr>
              <a:spLocks noChangeArrowheads="1"/>
            </p:cNvSpPr>
            <p:nvPr/>
          </p:nvSpPr>
          <p:spPr bwMode="auto">
            <a:xfrm>
              <a:off x="3389710" y="3694260"/>
              <a:ext cx="646642" cy="585788"/>
            </a:xfrm>
            <a:prstGeom prst="ellipse">
              <a:avLst/>
            </a:prstGeom>
            <a:solidFill>
              <a:srgbClr val="66FF66"/>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lang="en-US" altLang="zh-CN" sz="1200" b="1" dirty="0">
                  <a:latin typeface="微软雅黑 Light" panose="020B0502040204020203" pitchFamily="34" charset="-122"/>
                  <a:ea typeface="微软雅黑 Light" panose="020B0502040204020203" pitchFamily="34" charset="-122"/>
                </a:rPr>
                <a:t>S</a:t>
              </a:r>
              <a:r>
                <a:rPr lang="en-US" altLang="zh-CN" sz="1200" b="1" baseline="-25000" dirty="0">
                  <a:latin typeface="微软雅黑 Light" panose="020B0502040204020203" pitchFamily="34" charset="-122"/>
                  <a:ea typeface="微软雅黑 Light" panose="020B0502040204020203" pitchFamily="34" charset="-122"/>
                </a:rPr>
                <a:t>1</a:t>
              </a:r>
            </a:p>
          </p:txBody>
        </p:sp>
        <p:sp>
          <p:nvSpPr>
            <p:cNvPr id="10" name="Rectangle 37"/>
            <p:cNvSpPr>
              <a:spLocks noChangeArrowheads="1"/>
            </p:cNvSpPr>
            <p:nvPr/>
          </p:nvSpPr>
          <p:spPr bwMode="auto">
            <a:xfrm>
              <a:off x="3086702" y="4938861"/>
              <a:ext cx="4447381" cy="1504950"/>
            </a:xfrm>
            <a:prstGeom prst="rect">
              <a:avLst/>
            </a:prstGeom>
            <a:solidFill>
              <a:srgbClr val="FFFF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1" name="Rectangle 8"/>
            <p:cNvSpPr>
              <a:spLocks noChangeArrowheads="1"/>
            </p:cNvSpPr>
            <p:nvPr/>
          </p:nvSpPr>
          <p:spPr bwMode="auto">
            <a:xfrm>
              <a:off x="3480858" y="4946799"/>
              <a:ext cx="462625" cy="250825"/>
            </a:xfrm>
            <a:prstGeom prst="rect">
              <a:avLst/>
            </a:prstGeom>
            <a:solidFill>
              <a:srgbClr val="00CCFF"/>
            </a:solidFill>
            <a:ln w="9525" algn="ctr">
              <a:solidFill>
                <a:schemeClr val="folHlink"/>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2" name="Rectangle 9"/>
            <p:cNvSpPr>
              <a:spLocks noChangeArrowheads="1"/>
            </p:cNvSpPr>
            <p:nvPr/>
          </p:nvSpPr>
          <p:spPr bwMode="auto">
            <a:xfrm>
              <a:off x="4820577" y="4946799"/>
              <a:ext cx="462623" cy="250825"/>
            </a:xfrm>
            <a:prstGeom prst="rect">
              <a:avLst/>
            </a:prstGeom>
            <a:solidFill>
              <a:srgbClr val="00CCFF"/>
            </a:solidFill>
            <a:ln w="9525" algn="ctr">
              <a:solidFill>
                <a:schemeClr val="folHlink"/>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3" name="Rectangle 10"/>
            <p:cNvSpPr>
              <a:spLocks noChangeArrowheads="1"/>
            </p:cNvSpPr>
            <p:nvPr/>
          </p:nvSpPr>
          <p:spPr bwMode="auto">
            <a:xfrm>
              <a:off x="6160294" y="4946799"/>
              <a:ext cx="460904" cy="250825"/>
            </a:xfrm>
            <a:prstGeom prst="rect">
              <a:avLst/>
            </a:prstGeom>
            <a:solidFill>
              <a:srgbClr val="00CCFF"/>
            </a:solidFill>
            <a:ln w="9525" algn="ctr">
              <a:solidFill>
                <a:schemeClr val="folHlink"/>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4" name="Text Box 11"/>
            <p:cNvSpPr txBox="1">
              <a:spLocks noChangeArrowheads="1"/>
            </p:cNvSpPr>
            <p:nvPr/>
          </p:nvSpPr>
          <p:spPr bwMode="auto">
            <a:xfrm>
              <a:off x="3169659" y="5170635"/>
              <a:ext cx="1083297" cy="7737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连接</a:t>
              </a:r>
            </a:p>
            <a:p>
              <a:pPr algn="ctr" eaLnBrk="1" hangingPunct="1"/>
              <a:r>
                <a:rPr lang="zh-CN" altLang="en-US" sz="1200" b="1" dirty="0">
                  <a:latin typeface="微软雅黑 Light" panose="020B0502040204020203" pitchFamily="34" charset="-122"/>
                  <a:ea typeface="微软雅黑 Light" panose="020B0502040204020203" pitchFamily="34" charset="-122"/>
                </a:rPr>
                <a:t>套接字</a:t>
              </a:r>
            </a:p>
          </p:txBody>
        </p:sp>
        <p:sp>
          <p:nvSpPr>
            <p:cNvPr id="15" name="Text Box 12"/>
            <p:cNvSpPr txBox="1">
              <a:spLocks noChangeArrowheads="1"/>
            </p:cNvSpPr>
            <p:nvPr/>
          </p:nvSpPr>
          <p:spPr bwMode="auto">
            <a:xfrm>
              <a:off x="4555811" y="5170635"/>
              <a:ext cx="1083297" cy="7737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连接</a:t>
              </a:r>
            </a:p>
            <a:p>
              <a:pPr algn="ctr" eaLnBrk="1" hangingPunct="1"/>
              <a:r>
                <a:rPr lang="zh-CN" altLang="en-US" sz="1200" b="1" dirty="0">
                  <a:latin typeface="微软雅黑 Light" panose="020B0502040204020203" pitchFamily="34" charset="-122"/>
                  <a:ea typeface="微软雅黑 Light" panose="020B0502040204020203" pitchFamily="34" charset="-122"/>
                </a:rPr>
                <a:t>套接字</a:t>
              </a:r>
            </a:p>
          </p:txBody>
        </p:sp>
        <p:sp>
          <p:nvSpPr>
            <p:cNvPr id="16" name="Text Box 13"/>
            <p:cNvSpPr txBox="1">
              <a:spLocks noChangeArrowheads="1"/>
            </p:cNvSpPr>
            <p:nvPr/>
          </p:nvSpPr>
          <p:spPr bwMode="auto">
            <a:xfrm>
              <a:off x="5936806" y="5170635"/>
              <a:ext cx="1083297" cy="7737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连接</a:t>
              </a:r>
            </a:p>
            <a:p>
              <a:pPr algn="ctr" eaLnBrk="1" hangingPunct="1"/>
              <a:r>
                <a:rPr lang="zh-CN" altLang="en-US" sz="1200" b="1" dirty="0">
                  <a:latin typeface="微软雅黑 Light" panose="020B0502040204020203" pitchFamily="34" charset="-122"/>
                  <a:ea typeface="微软雅黑 Light" panose="020B0502040204020203" pitchFamily="34" charset="-122"/>
                </a:rPr>
                <a:t>套接字</a:t>
              </a:r>
            </a:p>
          </p:txBody>
        </p:sp>
        <p:sp>
          <p:nvSpPr>
            <p:cNvPr id="17" name="Line 14"/>
            <p:cNvSpPr>
              <a:spLocks noChangeShapeType="1"/>
            </p:cNvSpPr>
            <p:nvPr/>
          </p:nvSpPr>
          <p:spPr bwMode="auto">
            <a:xfrm>
              <a:off x="1081750" y="4946798"/>
              <a:ext cx="6462977" cy="0"/>
            </a:xfrm>
            <a:prstGeom prst="line">
              <a:avLst/>
            </a:prstGeom>
            <a:noFill/>
            <a:ln w="9525">
              <a:solidFill>
                <a:schemeClr val="folHlink"/>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 name="Line 15"/>
            <p:cNvSpPr>
              <a:spLocks noChangeShapeType="1"/>
            </p:cNvSpPr>
            <p:nvPr/>
          </p:nvSpPr>
          <p:spPr bwMode="auto">
            <a:xfrm>
              <a:off x="3713031" y="4278460"/>
              <a:ext cx="0" cy="668338"/>
            </a:xfrm>
            <a:prstGeom prst="line">
              <a:avLst/>
            </a:prstGeom>
            <a:noFill/>
            <a:ln w="9525">
              <a:solidFill>
                <a:schemeClr val="folHlink"/>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 name="Line 16"/>
            <p:cNvSpPr>
              <a:spLocks noChangeShapeType="1"/>
            </p:cNvSpPr>
            <p:nvPr/>
          </p:nvSpPr>
          <p:spPr bwMode="auto">
            <a:xfrm>
              <a:off x="5052748" y="4278460"/>
              <a:ext cx="0" cy="668338"/>
            </a:xfrm>
            <a:prstGeom prst="line">
              <a:avLst/>
            </a:prstGeom>
            <a:noFill/>
            <a:ln w="9525">
              <a:solidFill>
                <a:schemeClr val="folHlink"/>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0" name="Line 17"/>
            <p:cNvSpPr>
              <a:spLocks noChangeShapeType="1"/>
            </p:cNvSpPr>
            <p:nvPr/>
          </p:nvSpPr>
          <p:spPr bwMode="auto">
            <a:xfrm>
              <a:off x="6392466" y="4278460"/>
              <a:ext cx="0" cy="668338"/>
            </a:xfrm>
            <a:prstGeom prst="line">
              <a:avLst/>
            </a:prstGeom>
            <a:noFill/>
            <a:ln w="9525">
              <a:solidFill>
                <a:schemeClr val="folHlink"/>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Rectangle 18"/>
            <p:cNvSpPr>
              <a:spLocks noChangeArrowheads="1"/>
            </p:cNvSpPr>
            <p:nvPr/>
          </p:nvSpPr>
          <p:spPr bwMode="auto">
            <a:xfrm>
              <a:off x="1864254" y="4946799"/>
              <a:ext cx="462625" cy="250825"/>
            </a:xfrm>
            <a:prstGeom prst="rect">
              <a:avLst/>
            </a:prstGeom>
            <a:solidFill>
              <a:srgbClr val="00CCFF"/>
            </a:solidFill>
            <a:ln w="9525">
              <a:solidFill>
                <a:schemeClr val="folHlink"/>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22" name="Line 19"/>
            <p:cNvSpPr>
              <a:spLocks noChangeShapeType="1"/>
            </p:cNvSpPr>
            <p:nvPr/>
          </p:nvSpPr>
          <p:spPr bwMode="auto">
            <a:xfrm flipV="1">
              <a:off x="2096427" y="3571998"/>
              <a:ext cx="0" cy="1374800"/>
            </a:xfrm>
            <a:prstGeom prst="line">
              <a:avLst/>
            </a:prstGeom>
            <a:noFill/>
            <a:ln w="9525">
              <a:solidFill>
                <a:schemeClr val="folHlink"/>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3" name="Oval 20"/>
            <p:cNvSpPr>
              <a:spLocks noChangeArrowheads="1"/>
            </p:cNvSpPr>
            <p:nvPr/>
          </p:nvSpPr>
          <p:spPr bwMode="auto">
            <a:xfrm>
              <a:off x="4719108" y="3694260"/>
              <a:ext cx="646642" cy="585788"/>
            </a:xfrm>
            <a:prstGeom prst="ellipse">
              <a:avLst/>
            </a:prstGeom>
            <a:solidFill>
              <a:srgbClr val="66FF66"/>
            </a:solidFill>
            <a:ln w="12700" algn="ctr">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lang="en-US" altLang="zh-CN" sz="1200" b="1" dirty="0">
                  <a:latin typeface="微软雅黑 Light" panose="020B0502040204020203" pitchFamily="34" charset="-122"/>
                  <a:ea typeface="微软雅黑 Light" panose="020B0502040204020203" pitchFamily="34" charset="-122"/>
                </a:rPr>
                <a:t>S</a:t>
              </a:r>
              <a:r>
                <a:rPr lang="en-US" altLang="zh-CN" sz="1200" b="1" baseline="-25000" dirty="0">
                  <a:latin typeface="微软雅黑 Light" panose="020B0502040204020203" pitchFamily="34" charset="-122"/>
                  <a:ea typeface="微软雅黑 Light" panose="020B0502040204020203" pitchFamily="34" charset="-122"/>
                </a:rPr>
                <a:t>2</a:t>
              </a:r>
            </a:p>
          </p:txBody>
        </p:sp>
        <p:sp>
          <p:nvSpPr>
            <p:cNvPr id="24" name="Oval 21"/>
            <p:cNvSpPr>
              <a:spLocks noChangeArrowheads="1"/>
            </p:cNvSpPr>
            <p:nvPr/>
          </p:nvSpPr>
          <p:spPr bwMode="auto">
            <a:xfrm>
              <a:off x="6048508" y="3694260"/>
              <a:ext cx="646642" cy="585788"/>
            </a:xfrm>
            <a:prstGeom prst="ellipse">
              <a:avLst/>
            </a:prstGeom>
            <a:solidFill>
              <a:srgbClr val="66FF66"/>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lang="en-US" altLang="zh-CN" sz="1200" b="1" dirty="0">
                  <a:latin typeface="微软雅黑 Light" panose="020B0502040204020203" pitchFamily="34" charset="-122"/>
                  <a:ea typeface="微软雅黑 Light" panose="020B0502040204020203" pitchFamily="34" charset="-122"/>
                </a:rPr>
                <a:t>S</a:t>
              </a:r>
              <a:r>
                <a:rPr lang="en-US" altLang="zh-CN" sz="1200" b="1" baseline="-25000" dirty="0">
                  <a:latin typeface="微软雅黑 Light" panose="020B0502040204020203" pitchFamily="34" charset="-122"/>
                  <a:ea typeface="微软雅黑 Light" panose="020B0502040204020203" pitchFamily="34" charset="-122"/>
                </a:rPr>
                <a:t>3</a:t>
              </a:r>
            </a:p>
          </p:txBody>
        </p:sp>
        <p:sp>
          <p:nvSpPr>
            <p:cNvPr id="25" name="Line 22"/>
            <p:cNvSpPr>
              <a:spLocks noChangeShapeType="1"/>
            </p:cNvSpPr>
            <p:nvPr/>
          </p:nvSpPr>
          <p:spPr bwMode="auto">
            <a:xfrm>
              <a:off x="2467902" y="3442750"/>
              <a:ext cx="1012957" cy="334061"/>
            </a:xfrm>
            <a:prstGeom prst="line">
              <a:avLst/>
            </a:prstGeom>
            <a:noFill/>
            <a:ln w="9525">
              <a:solidFill>
                <a:schemeClr val="folHlink"/>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6" name="Line 23"/>
            <p:cNvSpPr>
              <a:spLocks noChangeShapeType="1"/>
            </p:cNvSpPr>
            <p:nvPr/>
          </p:nvSpPr>
          <p:spPr bwMode="auto">
            <a:xfrm>
              <a:off x="2528094" y="3325959"/>
              <a:ext cx="2240889" cy="492125"/>
            </a:xfrm>
            <a:prstGeom prst="line">
              <a:avLst/>
            </a:prstGeom>
            <a:noFill/>
            <a:ln w="9525">
              <a:solidFill>
                <a:schemeClr val="folHlink"/>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7" name="Line 24"/>
            <p:cNvSpPr>
              <a:spLocks noChangeShapeType="1"/>
            </p:cNvSpPr>
            <p:nvPr/>
          </p:nvSpPr>
          <p:spPr bwMode="auto">
            <a:xfrm>
              <a:off x="2559050" y="3153693"/>
              <a:ext cx="3508375" cy="708842"/>
            </a:xfrm>
            <a:prstGeom prst="line">
              <a:avLst/>
            </a:prstGeom>
            <a:noFill/>
            <a:ln w="9525">
              <a:solidFill>
                <a:schemeClr val="folHlink"/>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8" name="Text Box 25"/>
            <p:cNvSpPr txBox="1">
              <a:spLocks noChangeArrowheads="1"/>
            </p:cNvSpPr>
            <p:nvPr/>
          </p:nvSpPr>
          <p:spPr bwMode="auto">
            <a:xfrm>
              <a:off x="8157079" y="5450036"/>
              <a:ext cx="1341225" cy="46427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操作系统</a:t>
              </a:r>
            </a:p>
          </p:txBody>
        </p:sp>
        <p:sp>
          <p:nvSpPr>
            <p:cNvPr id="29" name="Line 26"/>
            <p:cNvSpPr>
              <a:spLocks noChangeShapeType="1"/>
            </p:cNvSpPr>
            <p:nvPr/>
          </p:nvSpPr>
          <p:spPr bwMode="auto">
            <a:xfrm flipH="1">
              <a:off x="7637596" y="5699273"/>
              <a:ext cx="553773" cy="0"/>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 name="Line 27"/>
            <p:cNvSpPr>
              <a:spLocks noChangeShapeType="1"/>
            </p:cNvSpPr>
            <p:nvPr/>
          </p:nvSpPr>
          <p:spPr bwMode="auto">
            <a:xfrm flipH="1">
              <a:off x="7637596" y="3443435"/>
              <a:ext cx="553773" cy="0"/>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 name="Text Box 28"/>
            <p:cNvSpPr txBox="1">
              <a:spLocks noChangeArrowheads="1"/>
            </p:cNvSpPr>
            <p:nvPr/>
          </p:nvSpPr>
          <p:spPr bwMode="auto">
            <a:xfrm>
              <a:off x="8112365" y="3119585"/>
              <a:ext cx="1341225" cy="7737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服务器</a:t>
              </a:r>
            </a:p>
            <a:p>
              <a:pPr algn="ctr" eaLnBrk="1" hangingPunct="1"/>
              <a:r>
                <a:rPr lang="zh-CN" altLang="en-US" sz="1200" b="1" dirty="0">
                  <a:latin typeface="微软雅黑 Light" panose="020B0502040204020203" pitchFamily="34" charset="-122"/>
                  <a:ea typeface="微软雅黑 Light" panose="020B0502040204020203" pitchFamily="34" charset="-122"/>
                </a:rPr>
                <a:t>应用进程</a:t>
              </a:r>
            </a:p>
          </p:txBody>
        </p:sp>
        <p:sp>
          <p:nvSpPr>
            <p:cNvPr id="32" name="Text Box 29"/>
            <p:cNvSpPr txBox="1">
              <a:spLocks noChangeArrowheads="1"/>
            </p:cNvSpPr>
            <p:nvPr/>
          </p:nvSpPr>
          <p:spPr bwMode="auto">
            <a:xfrm>
              <a:off x="4607993" y="3142838"/>
              <a:ext cx="2115009" cy="4797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105000"/>
                </a:lnSpc>
              </a:pPr>
              <a:r>
                <a:rPr lang="zh-CN" altLang="en-US" sz="1200" b="1" dirty="0">
                  <a:latin typeface="微软雅黑 Light" panose="020B0502040204020203" pitchFamily="34" charset="-122"/>
                  <a:ea typeface="微软雅黑 Light" panose="020B0502040204020203" pitchFamily="34" charset="-122"/>
                </a:rPr>
                <a:t>从属服务器进程</a:t>
              </a:r>
            </a:p>
          </p:txBody>
        </p:sp>
        <p:sp>
          <p:nvSpPr>
            <p:cNvPr id="33" name="Text Box 30"/>
            <p:cNvSpPr txBox="1">
              <a:spLocks noChangeArrowheads="1"/>
            </p:cNvSpPr>
            <p:nvPr/>
          </p:nvSpPr>
          <p:spPr bwMode="auto">
            <a:xfrm>
              <a:off x="1172500" y="2289448"/>
              <a:ext cx="1857081" cy="4797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105000"/>
                </a:lnSpc>
              </a:pPr>
              <a:r>
                <a:rPr lang="zh-CN" altLang="en-US" sz="1200" b="1" dirty="0">
                  <a:latin typeface="微软雅黑 Light" panose="020B0502040204020203" pitchFamily="34" charset="-122"/>
                  <a:ea typeface="微软雅黑 Light" panose="020B0502040204020203" pitchFamily="34" charset="-122"/>
                </a:rPr>
                <a:t>主服务器进程</a:t>
              </a:r>
            </a:p>
          </p:txBody>
        </p:sp>
        <p:sp>
          <p:nvSpPr>
            <p:cNvPr id="34" name="Text Box 31"/>
            <p:cNvSpPr txBox="1">
              <a:spLocks noChangeArrowheads="1"/>
            </p:cNvSpPr>
            <p:nvPr/>
          </p:nvSpPr>
          <p:spPr bwMode="auto">
            <a:xfrm>
              <a:off x="896012" y="5853260"/>
              <a:ext cx="2372936" cy="4598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105000"/>
                </a:lnSpc>
              </a:pPr>
              <a:r>
                <a:rPr lang="zh-CN" altLang="en-US" sz="1200" b="1" dirty="0">
                  <a:solidFill>
                    <a:schemeClr val="bg1"/>
                  </a:solidFill>
                  <a:latin typeface="微软雅黑 Light" panose="020B0502040204020203" pitchFamily="34" charset="-122"/>
                  <a:ea typeface="微软雅黑 Light" panose="020B0502040204020203" pitchFamily="34" charset="-122"/>
                </a:rPr>
                <a:t>（原来的套接字）</a:t>
              </a:r>
            </a:p>
          </p:txBody>
        </p:sp>
        <p:sp>
          <p:nvSpPr>
            <p:cNvPr id="35" name="Line 32"/>
            <p:cNvSpPr>
              <a:spLocks noChangeShapeType="1"/>
            </p:cNvSpPr>
            <p:nvPr/>
          </p:nvSpPr>
          <p:spPr bwMode="auto">
            <a:xfrm>
              <a:off x="3389709" y="6145953"/>
              <a:ext cx="3324357"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6" name="Text Box 33"/>
            <p:cNvSpPr txBox="1">
              <a:spLocks noChangeArrowheads="1"/>
            </p:cNvSpPr>
            <p:nvPr/>
          </p:nvSpPr>
          <p:spPr bwMode="auto">
            <a:xfrm>
              <a:off x="3943484" y="5895943"/>
              <a:ext cx="2313828" cy="479746"/>
            </a:xfrm>
            <a:prstGeom prst="rect">
              <a:avLst/>
            </a:prstGeom>
            <a:solidFill>
              <a:srgbClr val="FFFF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fontAlgn="ctr" hangingPunct="1">
                <a:lnSpc>
                  <a:spcPct val="105000"/>
                </a:lnSpc>
              </a:pPr>
              <a:r>
                <a:rPr lang="en-US" altLang="zh-CN" sz="1200" b="1" dirty="0">
                  <a:solidFill>
                    <a:srgbClr val="0000CC"/>
                  </a:solidFill>
                  <a:latin typeface="微软雅黑 Light" panose="020B0502040204020203" pitchFamily="34" charset="-122"/>
                  <a:ea typeface="微软雅黑 Light" panose="020B0502040204020203" pitchFamily="34" charset="-122"/>
                </a:rPr>
                <a:t>(</a:t>
              </a:r>
              <a:r>
                <a:rPr lang="zh-CN" altLang="en-US" sz="1200" b="1" dirty="0">
                  <a:solidFill>
                    <a:srgbClr val="0000CC"/>
                  </a:solidFill>
                  <a:latin typeface="微软雅黑 Light" panose="020B0502040204020203" pitchFamily="34" charset="-122"/>
                  <a:ea typeface="微软雅黑 Light" panose="020B0502040204020203" pitchFamily="34" charset="-122"/>
                </a:rPr>
                <a:t>新创建的套接字</a:t>
              </a:r>
              <a:r>
                <a:rPr lang="en-US" altLang="zh-CN" sz="1200" b="1" dirty="0">
                  <a:solidFill>
                    <a:srgbClr val="0000CC"/>
                  </a:solidFill>
                  <a:latin typeface="微软雅黑 Light" panose="020B0502040204020203" pitchFamily="34" charset="-122"/>
                  <a:ea typeface="微软雅黑 Light" panose="020B0502040204020203" pitchFamily="34" charset="-122"/>
                </a:rPr>
                <a:t>)</a:t>
              </a:r>
            </a:p>
          </p:txBody>
        </p:sp>
        <p:sp>
          <p:nvSpPr>
            <p:cNvPr id="37" name="Line 34"/>
            <p:cNvSpPr>
              <a:spLocks noChangeShapeType="1"/>
            </p:cNvSpPr>
            <p:nvPr/>
          </p:nvSpPr>
          <p:spPr bwMode="auto">
            <a:xfrm>
              <a:off x="3097498" y="4946798"/>
              <a:ext cx="0" cy="1506538"/>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39" name="矩形 38"/>
          <p:cNvSpPr/>
          <p:nvPr/>
        </p:nvSpPr>
        <p:spPr>
          <a:xfrm>
            <a:off x="1273621" y="1136438"/>
            <a:ext cx="6805059" cy="584775"/>
          </a:xfrm>
          <a:prstGeom prst="rect">
            <a:avLst/>
          </a:prstGeom>
          <a:solidFill>
            <a:srgbClr val="FFFF99"/>
          </a:solidFill>
          <a:ln>
            <a:solidFill>
              <a:schemeClr val="tx1"/>
            </a:solidFill>
          </a:ln>
        </p:spPr>
        <p:txBody>
          <a:bodyPr wrap="square">
            <a:spAutoFit/>
          </a:bodyPr>
          <a:lstStyle/>
          <a:p>
            <a:r>
              <a:rPr kumimoji="1" lang="zh-CN" altLang="en-US" sz="1600" b="1" dirty="0">
                <a:latin typeface="微软雅黑 Light" panose="020B0502040204020203" pitchFamily="34" charset="-122"/>
                <a:ea typeface="微软雅黑 Light" panose="020B0502040204020203" pitchFamily="34" charset="-122"/>
              </a:rPr>
              <a:t>调用 </a:t>
            </a:r>
            <a:r>
              <a:rPr kumimoji="1" lang="en-US" altLang="zh-CN" sz="1600" b="1" dirty="0">
                <a:latin typeface="微软雅黑 Light" panose="020B0502040204020203" pitchFamily="34" charset="-122"/>
                <a:ea typeface="微软雅黑 Light" panose="020B0502040204020203" pitchFamily="34" charset="-122"/>
              </a:rPr>
              <a:t>accept </a:t>
            </a:r>
            <a:r>
              <a:rPr kumimoji="1" lang="zh-CN" altLang="en-US" sz="1600" b="1" dirty="0">
                <a:latin typeface="微软雅黑 Light" panose="020B0502040204020203" pitchFamily="34" charset="-122"/>
                <a:ea typeface="微软雅黑 Light" panose="020B0502040204020203" pitchFamily="34" charset="-122"/>
              </a:rPr>
              <a:t>要完成的动作较多。这是因为一个服务器必须能够</a:t>
            </a:r>
            <a:r>
              <a:rPr kumimoji="1" lang="zh-CN" altLang="en-US" sz="1600" b="1" dirty="0">
                <a:solidFill>
                  <a:srgbClr val="C00000"/>
                </a:solidFill>
                <a:latin typeface="微软雅黑 Light" panose="020B0502040204020203" pitchFamily="34" charset="-122"/>
                <a:ea typeface="微软雅黑 Light" panose="020B0502040204020203" pitchFamily="34" charset="-122"/>
              </a:rPr>
              <a:t>同时</a:t>
            </a:r>
            <a:r>
              <a:rPr kumimoji="1" lang="zh-CN" altLang="en-US" sz="1600" b="1" dirty="0">
                <a:latin typeface="微软雅黑 Light" panose="020B0502040204020203" pitchFamily="34" charset="-122"/>
                <a:ea typeface="微软雅黑 Light" panose="020B0502040204020203" pitchFamily="34" charset="-122"/>
              </a:rPr>
              <a:t>处理多个连接。这样的服务器常称为</a:t>
            </a:r>
            <a:r>
              <a:rPr kumimoji="1" lang="zh-CN" altLang="en-US" sz="1600" b="1" dirty="0">
                <a:solidFill>
                  <a:srgbClr val="C00000"/>
                </a:solidFill>
                <a:latin typeface="微软雅黑 Light" panose="020B0502040204020203" pitchFamily="34" charset="-122"/>
                <a:ea typeface="微软雅黑 Light" panose="020B0502040204020203" pitchFamily="34" charset="-122"/>
              </a:rPr>
              <a:t>并发方式 </a:t>
            </a:r>
            <a:r>
              <a:rPr kumimoji="1" lang="en-US" altLang="zh-CN" sz="1600" b="1" dirty="0">
                <a:latin typeface="微软雅黑 Light" panose="020B0502040204020203" pitchFamily="34" charset="-122"/>
                <a:ea typeface="微软雅黑 Light" panose="020B0502040204020203" pitchFamily="34" charset="-122"/>
              </a:rPr>
              <a:t>(concurrent) </a:t>
            </a:r>
            <a:r>
              <a:rPr kumimoji="1" lang="zh-CN" altLang="en-US" sz="1600" b="1" dirty="0">
                <a:latin typeface="微软雅黑 Light" panose="020B0502040204020203" pitchFamily="34" charset="-122"/>
                <a:ea typeface="微软雅黑 Light" panose="020B0502040204020203" pitchFamily="34" charset="-122"/>
              </a:rPr>
              <a:t>工作的服务器。</a:t>
            </a:r>
          </a:p>
        </p:txBody>
      </p:sp>
    </p:spTree>
    <p:extLst>
      <p:ext uri="{BB962C8B-B14F-4D97-AF65-F5344CB8AC3E}">
        <p14:creationId xmlns:p14="http://schemas.microsoft.com/office/powerpoint/2010/main" val="384694643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Box 4"/>
          <p:cNvSpPr txBox="1">
            <a:spLocks noChangeArrowheads="1"/>
          </p:cNvSpPr>
          <p:nvPr/>
        </p:nvSpPr>
        <p:spPr bwMode="auto">
          <a:xfrm>
            <a:off x="5193856" y="1019340"/>
            <a:ext cx="100540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服务器端</a:t>
            </a:r>
          </a:p>
        </p:txBody>
      </p:sp>
      <p:sp>
        <p:nvSpPr>
          <p:cNvPr id="19" name="Text Box 18"/>
          <p:cNvSpPr txBox="1">
            <a:spLocks noChangeArrowheads="1"/>
          </p:cNvSpPr>
          <p:nvPr/>
        </p:nvSpPr>
        <p:spPr bwMode="auto">
          <a:xfrm>
            <a:off x="2492362" y="101934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客户端</a:t>
            </a:r>
          </a:p>
        </p:txBody>
      </p:sp>
      <p:sp>
        <p:nvSpPr>
          <p:cNvPr id="38" name="AutoShape 5"/>
          <p:cNvSpPr>
            <a:spLocks noChangeArrowheads="1"/>
          </p:cNvSpPr>
          <p:nvPr/>
        </p:nvSpPr>
        <p:spPr bwMode="auto">
          <a:xfrm>
            <a:off x="556963" y="60897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9" name="Rectangle 6"/>
          <p:cNvSpPr>
            <a:spLocks noChangeArrowheads="1"/>
          </p:cNvSpPr>
          <p:nvPr/>
        </p:nvSpPr>
        <p:spPr bwMode="auto">
          <a:xfrm>
            <a:off x="3564892" y="575768"/>
            <a:ext cx="203292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1. </a:t>
            </a:r>
            <a:r>
              <a:rPr lang="zh-CN" altLang="en-US" sz="2000" b="1" dirty="0">
                <a:solidFill>
                  <a:schemeClr val="bg1"/>
                </a:solidFill>
                <a:latin typeface="微软雅黑 Light" panose="020B0502040204020203" pitchFamily="34" charset="-122"/>
                <a:ea typeface="微软雅黑 Light" panose="020B0502040204020203" pitchFamily="34" charset="-122"/>
              </a:rPr>
              <a:t>连接建立阶段</a:t>
            </a:r>
          </a:p>
        </p:txBody>
      </p:sp>
      <p:sp>
        <p:nvSpPr>
          <p:cNvPr id="36" name="矩形 35"/>
          <p:cNvSpPr/>
          <p:nvPr/>
        </p:nvSpPr>
        <p:spPr>
          <a:xfrm>
            <a:off x="1481959" y="1306976"/>
            <a:ext cx="6358758" cy="1613262"/>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0" name="矩形 39"/>
          <p:cNvSpPr/>
          <p:nvPr/>
        </p:nvSpPr>
        <p:spPr>
          <a:xfrm>
            <a:off x="1481959" y="2922086"/>
            <a:ext cx="6358758" cy="964357"/>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1" name="矩形 40"/>
          <p:cNvSpPr/>
          <p:nvPr/>
        </p:nvSpPr>
        <p:spPr>
          <a:xfrm>
            <a:off x="1481959" y="3886444"/>
            <a:ext cx="6358758" cy="447650"/>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Text Box 5"/>
          <p:cNvSpPr txBox="1">
            <a:spLocks noChangeArrowheads="1"/>
          </p:cNvSpPr>
          <p:nvPr/>
        </p:nvSpPr>
        <p:spPr bwMode="auto">
          <a:xfrm>
            <a:off x="5383990" y="127059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7" name="Text Box 6"/>
          <p:cNvSpPr txBox="1">
            <a:spLocks noChangeArrowheads="1"/>
          </p:cNvSpPr>
          <p:nvPr/>
        </p:nvSpPr>
        <p:spPr bwMode="auto">
          <a:xfrm>
            <a:off x="5455683" y="1703694"/>
            <a:ext cx="5469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bind</a:t>
            </a:r>
          </a:p>
        </p:txBody>
      </p:sp>
      <p:sp>
        <p:nvSpPr>
          <p:cNvPr id="8" name="Text Box 7"/>
          <p:cNvSpPr txBox="1">
            <a:spLocks noChangeArrowheads="1"/>
          </p:cNvSpPr>
          <p:nvPr/>
        </p:nvSpPr>
        <p:spPr bwMode="auto">
          <a:xfrm>
            <a:off x="5425585" y="2172307"/>
            <a:ext cx="59984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listen</a:t>
            </a:r>
          </a:p>
        </p:txBody>
      </p:sp>
      <p:sp>
        <p:nvSpPr>
          <p:cNvPr id="9" name="Text Box 8"/>
          <p:cNvSpPr txBox="1">
            <a:spLocks noChangeArrowheads="1"/>
          </p:cNvSpPr>
          <p:nvPr/>
        </p:nvSpPr>
        <p:spPr bwMode="auto">
          <a:xfrm>
            <a:off x="5362628" y="2640919"/>
            <a:ext cx="7184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accept</a:t>
            </a:r>
          </a:p>
        </p:txBody>
      </p:sp>
      <p:sp>
        <p:nvSpPr>
          <p:cNvPr id="10" name="Text Box 9"/>
          <p:cNvSpPr txBox="1">
            <a:spLocks noChangeArrowheads="1"/>
          </p:cNvSpPr>
          <p:nvPr/>
        </p:nvSpPr>
        <p:spPr bwMode="auto">
          <a:xfrm>
            <a:off x="5459487" y="3109532"/>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11" name="Text Box 10"/>
          <p:cNvSpPr txBox="1">
            <a:spLocks noChangeArrowheads="1"/>
          </p:cNvSpPr>
          <p:nvPr/>
        </p:nvSpPr>
        <p:spPr bwMode="auto">
          <a:xfrm>
            <a:off x="5429067" y="3578146"/>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12" name="Text Box 11"/>
          <p:cNvSpPr txBox="1">
            <a:spLocks noChangeArrowheads="1"/>
          </p:cNvSpPr>
          <p:nvPr/>
        </p:nvSpPr>
        <p:spPr bwMode="auto">
          <a:xfrm>
            <a:off x="5414806"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13" name="Line 12"/>
          <p:cNvSpPr>
            <a:spLocks noChangeShapeType="1"/>
          </p:cNvSpPr>
          <p:nvPr/>
        </p:nvSpPr>
        <p:spPr bwMode="auto">
          <a:xfrm>
            <a:off x="5730372" y="153721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13"/>
          <p:cNvSpPr>
            <a:spLocks noChangeShapeType="1"/>
          </p:cNvSpPr>
          <p:nvPr/>
        </p:nvSpPr>
        <p:spPr bwMode="auto">
          <a:xfrm>
            <a:off x="5730372" y="1984862"/>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a:off x="5730372" y="2432511"/>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5"/>
          <p:cNvSpPr>
            <a:spLocks noChangeShapeType="1"/>
          </p:cNvSpPr>
          <p:nvPr/>
        </p:nvSpPr>
        <p:spPr bwMode="auto">
          <a:xfrm>
            <a:off x="5730372" y="293565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6"/>
          <p:cNvSpPr>
            <a:spLocks noChangeShapeType="1"/>
          </p:cNvSpPr>
          <p:nvPr/>
        </p:nvSpPr>
        <p:spPr bwMode="auto">
          <a:xfrm>
            <a:off x="5730372" y="3438796"/>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7"/>
          <p:cNvSpPr>
            <a:spLocks noChangeShapeType="1"/>
          </p:cNvSpPr>
          <p:nvPr/>
        </p:nvSpPr>
        <p:spPr bwMode="auto">
          <a:xfrm>
            <a:off x="5730372" y="388644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19"/>
          <p:cNvSpPr txBox="1">
            <a:spLocks noChangeArrowheads="1"/>
          </p:cNvSpPr>
          <p:nvPr/>
        </p:nvSpPr>
        <p:spPr bwMode="auto">
          <a:xfrm>
            <a:off x="2572385" y="221398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21" name="Text Box 20"/>
          <p:cNvSpPr txBox="1">
            <a:spLocks noChangeArrowheads="1"/>
          </p:cNvSpPr>
          <p:nvPr/>
        </p:nvSpPr>
        <p:spPr bwMode="auto">
          <a:xfrm>
            <a:off x="2662476" y="3578146"/>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22" name="Text Box 21"/>
          <p:cNvSpPr txBox="1">
            <a:spLocks noChangeArrowheads="1"/>
          </p:cNvSpPr>
          <p:nvPr/>
        </p:nvSpPr>
        <p:spPr bwMode="auto">
          <a:xfrm>
            <a:off x="2635705" y="3109532"/>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23" name="Text Box 22"/>
          <p:cNvSpPr txBox="1">
            <a:spLocks noChangeArrowheads="1"/>
          </p:cNvSpPr>
          <p:nvPr/>
        </p:nvSpPr>
        <p:spPr bwMode="auto">
          <a:xfrm>
            <a:off x="2625091"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24" name="Text Box 23"/>
          <p:cNvSpPr txBox="1">
            <a:spLocks noChangeArrowheads="1"/>
          </p:cNvSpPr>
          <p:nvPr/>
        </p:nvSpPr>
        <p:spPr bwMode="auto">
          <a:xfrm>
            <a:off x="2506469" y="2645853"/>
            <a:ext cx="83067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connect</a:t>
            </a:r>
          </a:p>
        </p:txBody>
      </p:sp>
      <p:sp>
        <p:nvSpPr>
          <p:cNvPr id="25" name="Line 24"/>
          <p:cNvSpPr>
            <a:spLocks noChangeShapeType="1"/>
          </p:cNvSpPr>
          <p:nvPr/>
        </p:nvSpPr>
        <p:spPr bwMode="auto">
          <a:xfrm>
            <a:off x="2921200" y="247443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Line 25"/>
          <p:cNvSpPr>
            <a:spLocks noChangeShapeType="1"/>
          </p:cNvSpPr>
          <p:nvPr/>
        </p:nvSpPr>
        <p:spPr bwMode="auto">
          <a:xfrm>
            <a:off x="2921200" y="292208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Line 26"/>
          <p:cNvSpPr>
            <a:spLocks noChangeShapeType="1"/>
          </p:cNvSpPr>
          <p:nvPr/>
        </p:nvSpPr>
        <p:spPr bwMode="auto">
          <a:xfrm>
            <a:off x="2921200" y="336973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7"/>
          <p:cNvSpPr>
            <a:spLocks noChangeShapeType="1"/>
          </p:cNvSpPr>
          <p:nvPr/>
        </p:nvSpPr>
        <p:spPr bwMode="auto">
          <a:xfrm>
            <a:off x="2921200" y="387287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28"/>
          <p:cNvSpPr>
            <a:spLocks/>
          </p:cNvSpPr>
          <p:nvPr/>
        </p:nvSpPr>
        <p:spPr bwMode="auto">
          <a:xfrm flipH="1">
            <a:off x="1997574" y="3280835"/>
            <a:ext cx="656690" cy="462447"/>
          </a:xfrm>
          <a:custGeom>
            <a:avLst/>
            <a:gdLst>
              <a:gd name="T0" fmla="*/ 0 w 540"/>
              <a:gd name="T1" fmla="*/ 2147483646 h 391"/>
              <a:gd name="T2" fmla="*/ 2147483646 w 540"/>
              <a:gd name="T3" fmla="*/ 2147483646 h 391"/>
              <a:gd name="T4" fmla="*/ 2147483646 w 540"/>
              <a:gd name="T5" fmla="*/ 2147483646 h 391"/>
              <a:gd name="T6" fmla="*/ 2147483646 w 540"/>
              <a:gd name="T7" fmla="*/ 2147483646 h 391"/>
              <a:gd name="T8" fmla="*/ 2147483646 w 540"/>
              <a:gd name="T9" fmla="*/ 2147483646 h 391"/>
              <a:gd name="T10" fmla="*/ 2147483646 w 540"/>
              <a:gd name="T11" fmla="*/ 2147483646 h 391"/>
              <a:gd name="T12" fmla="*/ 2147483646 w 540"/>
              <a:gd name="T13" fmla="*/ 2147483646 h 391"/>
              <a:gd name="T14" fmla="*/ 2147483646 w 540"/>
              <a:gd name="T15" fmla="*/ 2147483646 h 391"/>
              <a:gd name="T16" fmla="*/ 0 w 540"/>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40" h="391">
                <a:moveTo>
                  <a:pt x="0" y="384"/>
                </a:moveTo>
                <a:cubicBezTo>
                  <a:pt x="52" y="385"/>
                  <a:pt x="240" y="389"/>
                  <a:pt x="311" y="389"/>
                </a:cubicBezTo>
                <a:cubicBezTo>
                  <a:pt x="382" y="389"/>
                  <a:pt x="397" y="391"/>
                  <a:pt x="427" y="385"/>
                </a:cubicBezTo>
                <a:cubicBezTo>
                  <a:pt x="457" y="379"/>
                  <a:pt x="477" y="372"/>
                  <a:pt x="494" y="355"/>
                </a:cubicBezTo>
                <a:cubicBezTo>
                  <a:pt x="511" y="338"/>
                  <a:pt x="523" y="324"/>
                  <a:pt x="529" y="284"/>
                </a:cubicBezTo>
                <a:cubicBezTo>
                  <a:pt x="535" y="244"/>
                  <a:pt x="540" y="155"/>
                  <a:pt x="533" y="113"/>
                </a:cubicBezTo>
                <a:cubicBezTo>
                  <a:pt x="526" y="71"/>
                  <a:pt x="515" y="52"/>
                  <a:pt x="488" y="34"/>
                </a:cubicBezTo>
                <a:cubicBezTo>
                  <a:pt x="461" y="16"/>
                  <a:pt x="451" y="10"/>
                  <a:pt x="370" y="5"/>
                </a:cubicBezTo>
                <a:cubicBezTo>
                  <a:pt x="289" y="0"/>
                  <a:pt x="77" y="6"/>
                  <a:pt x="0" y="6"/>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29"/>
          <p:cNvSpPr>
            <a:spLocks/>
          </p:cNvSpPr>
          <p:nvPr/>
        </p:nvSpPr>
        <p:spPr bwMode="auto">
          <a:xfrm>
            <a:off x="5995317" y="3261693"/>
            <a:ext cx="378204" cy="482177"/>
          </a:xfrm>
          <a:custGeom>
            <a:avLst/>
            <a:gdLst>
              <a:gd name="T0" fmla="*/ 0 w 311"/>
              <a:gd name="T1" fmla="*/ 2147483646 h 391"/>
              <a:gd name="T2" fmla="*/ 2147483646 w 311"/>
              <a:gd name="T3" fmla="*/ 2147483646 h 391"/>
              <a:gd name="T4" fmla="*/ 2147483646 w 311"/>
              <a:gd name="T5" fmla="*/ 2147483646 h 391"/>
              <a:gd name="T6" fmla="*/ 2147483646 w 311"/>
              <a:gd name="T7" fmla="*/ 2147483646 h 391"/>
              <a:gd name="T8" fmla="*/ 2147483646 w 311"/>
              <a:gd name="T9" fmla="*/ 2147483646 h 391"/>
              <a:gd name="T10" fmla="*/ 2147483646 w 311"/>
              <a:gd name="T11" fmla="*/ 2147483646 h 391"/>
              <a:gd name="T12" fmla="*/ 2147483646 w 311"/>
              <a:gd name="T13" fmla="*/ 2147483646 h 391"/>
              <a:gd name="T14" fmla="*/ 2147483646 w 311"/>
              <a:gd name="T15" fmla="*/ 2147483646 h 391"/>
              <a:gd name="T16" fmla="*/ 0 w 311"/>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11" h="391">
                <a:moveTo>
                  <a:pt x="0" y="387"/>
                </a:moveTo>
                <a:cubicBezTo>
                  <a:pt x="30" y="387"/>
                  <a:pt x="139" y="391"/>
                  <a:pt x="182" y="389"/>
                </a:cubicBezTo>
                <a:cubicBezTo>
                  <a:pt x="225" y="387"/>
                  <a:pt x="238" y="382"/>
                  <a:pt x="256" y="373"/>
                </a:cubicBezTo>
                <a:cubicBezTo>
                  <a:pt x="274" y="364"/>
                  <a:pt x="284" y="354"/>
                  <a:pt x="293" y="337"/>
                </a:cubicBezTo>
                <a:cubicBezTo>
                  <a:pt x="302" y="320"/>
                  <a:pt x="306" y="304"/>
                  <a:pt x="308" y="269"/>
                </a:cubicBezTo>
                <a:cubicBezTo>
                  <a:pt x="310" y="234"/>
                  <a:pt x="311" y="160"/>
                  <a:pt x="308" y="124"/>
                </a:cubicBezTo>
                <a:cubicBezTo>
                  <a:pt x="305" y="88"/>
                  <a:pt x="305" y="70"/>
                  <a:pt x="289" y="50"/>
                </a:cubicBezTo>
                <a:cubicBezTo>
                  <a:pt x="273" y="30"/>
                  <a:pt x="259" y="14"/>
                  <a:pt x="211" y="7"/>
                </a:cubicBezTo>
                <a:cubicBezTo>
                  <a:pt x="163" y="0"/>
                  <a:pt x="44" y="9"/>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30"/>
          <p:cNvSpPr>
            <a:spLocks/>
          </p:cNvSpPr>
          <p:nvPr/>
        </p:nvSpPr>
        <p:spPr bwMode="auto">
          <a:xfrm>
            <a:off x="6085478" y="2779571"/>
            <a:ext cx="654258" cy="1442834"/>
          </a:xfrm>
          <a:custGeom>
            <a:avLst/>
            <a:gdLst>
              <a:gd name="T0" fmla="*/ 0 w 538"/>
              <a:gd name="T1" fmla="*/ 2147483646 h 1175"/>
              <a:gd name="T2" fmla="*/ 2147483646 w 538"/>
              <a:gd name="T3" fmla="*/ 2147483646 h 1175"/>
              <a:gd name="T4" fmla="*/ 2147483646 w 538"/>
              <a:gd name="T5" fmla="*/ 2147483646 h 1175"/>
              <a:gd name="T6" fmla="*/ 2147483646 w 538"/>
              <a:gd name="T7" fmla="*/ 2147483646 h 1175"/>
              <a:gd name="T8" fmla="*/ 2147483646 w 538"/>
              <a:gd name="T9" fmla="*/ 2147483646 h 1175"/>
              <a:gd name="T10" fmla="*/ 2147483646 w 538"/>
              <a:gd name="T11" fmla="*/ 2147483646 h 1175"/>
              <a:gd name="T12" fmla="*/ 2147483646 w 538"/>
              <a:gd name="T13" fmla="*/ 2147483646 h 1175"/>
              <a:gd name="T14" fmla="*/ 2147483646 w 538"/>
              <a:gd name="T15" fmla="*/ 2147483646 h 1175"/>
              <a:gd name="T16" fmla="*/ 0 w 538"/>
              <a:gd name="T17" fmla="*/ 2147483646 h 117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38" h="1175">
                <a:moveTo>
                  <a:pt x="0" y="1171"/>
                </a:moveTo>
                <a:cubicBezTo>
                  <a:pt x="51" y="1171"/>
                  <a:pt x="237" y="1175"/>
                  <a:pt x="306" y="1168"/>
                </a:cubicBezTo>
                <a:cubicBezTo>
                  <a:pt x="375" y="1161"/>
                  <a:pt x="386" y="1151"/>
                  <a:pt x="417" y="1129"/>
                </a:cubicBezTo>
                <a:cubicBezTo>
                  <a:pt x="448" y="1107"/>
                  <a:pt x="472" y="1080"/>
                  <a:pt x="489" y="1036"/>
                </a:cubicBezTo>
                <a:cubicBezTo>
                  <a:pt x="506" y="992"/>
                  <a:pt x="515" y="980"/>
                  <a:pt x="522" y="865"/>
                </a:cubicBezTo>
                <a:cubicBezTo>
                  <a:pt x="529" y="750"/>
                  <a:pt x="538" y="472"/>
                  <a:pt x="534" y="348"/>
                </a:cubicBezTo>
                <a:cubicBezTo>
                  <a:pt x="530" y="224"/>
                  <a:pt x="529" y="176"/>
                  <a:pt x="501" y="121"/>
                </a:cubicBezTo>
                <a:cubicBezTo>
                  <a:pt x="473" y="66"/>
                  <a:pt x="448" y="38"/>
                  <a:pt x="365" y="19"/>
                </a:cubicBezTo>
                <a:cubicBezTo>
                  <a:pt x="282" y="0"/>
                  <a:pt x="76" y="11"/>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31"/>
          <p:cNvSpPr>
            <a:spLocks noChangeShapeType="1"/>
          </p:cNvSpPr>
          <p:nvPr/>
        </p:nvSpPr>
        <p:spPr bwMode="auto">
          <a:xfrm>
            <a:off x="3170499" y="338823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32"/>
          <p:cNvSpPr>
            <a:spLocks noChangeShapeType="1"/>
          </p:cNvSpPr>
          <p:nvPr/>
        </p:nvSpPr>
        <p:spPr bwMode="auto">
          <a:xfrm flipH="1">
            <a:off x="3051321" y="385931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34"/>
          <p:cNvSpPr>
            <a:spLocks noChangeShapeType="1"/>
          </p:cNvSpPr>
          <p:nvPr/>
        </p:nvSpPr>
        <p:spPr bwMode="auto">
          <a:xfrm rot="186387" flipV="1">
            <a:off x="3322510" y="2917156"/>
            <a:ext cx="2280172" cy="6165"/>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Text Box 35"/>
          <p:cNvSpPr txBox="1">
            <a:spLocks noChangeArrowheads="1"/>
          </p:cNvSpPr>
          <p:nvPr/>
        </p:nvSpPr>
        <p:spPr bwMode="auto">
          <a:xfrm rot="186387">
            <a:off x="3809156" y="2614862"/>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连接建立请求</a:t>
            </a:r>
          </a:p>
        </p:txBody>
      </p:sp>
      <p:sp>
        <p:nvSpPr>
          <p:cNvPr id="42" name="Text Box 18"/>
          <p:cNvSpPr txBox="1">
            <a:spLocks noChangeArrowheads="1"/>
          </p:cNvSpPr>
          <p:nvPr/>
        </p:nvSpPr>
        <p:spPr bwMode="auto">
          <a:xfrm>
            <a:off x="6855413" y="202911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连接建立</a:t>
            </a:r>
          </a:p>
        </p:txBody>
      </p:sp>
      <p:sp>
        <p:nvSpPr>
          <p:cNvPr id="43" name="Text Box 18"/>
          <p:cNvSpPr txBox="1">
            <a:spLocks noChangeArrowheads="1"/>
          </p:cNvSpPr>
          <p:nvPr/>
        </p:nvSpPr>
        <p:spPr bwMode="auto">
          <a:xfrm>
            <a:off x="6855413" y="325167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数据传送</a:t>
            </a:r>
          </a:p>
        </p:txBody>
      </p:sp>
      <p:sp>
        <p:nvSpPr>
          <p:cNvPr id="44" name="Text Box 18"/>
          <p:cNvSpPr txBox="1">
            <a:spLocks noChangeArrowheads="1"/>
          </p:cNvSpPr>
          <p:nvPr/>
        </p:nvSpPr>
        <p:spPr bwMode="auto">
          <a:xfrm>
            <a:off x="6855413" y="393967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连接释放</a:t>
            </a:r>
          </a:p>
        </p:txBody>
      </p:sp>
      <p:grpSp>
        <p:nvGrpSpPr>
          <p:cNvPr id="45" name="组合 44"/>
          <p:cNvGrpSpPr/>
          <p:nvPr/>
        </p:nvGrpSpPr>
        <p:grpSpPr>
          <a:xfrm>
            <a:off x="2614866" y="1365082"/>
            <a:ext cx="2679394" cy="1327664"/>
            <a:chOff x="2614866" y="1425503"/>
            <a:chExt cx="2679394" cy="1327664"/>
          </a:xfrm>
        </p:grpSpPr>
        <p:cxnSp>
          <p:nvCxnSpPr>
            <p:cNvPr id="47" name="直接箭头连接符 46"/>
            <p:cNvCxnSpPr/>
            <p:nvPr/>
          </p:nvCxnSpPr>
          <p:spPr>
            <a:xfrm flipH="1">
              <a:off x="3227534" y="2248102"/>
              <a:ext cx="265478" cy="50506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6" name="矩形 45"/>
            <p:cNvSpPr/>
            <p:nvPr/>
          </p:nvSpPr>
          <p:spPr>
            <a:xfrm>
              <a:off x="2614866" y="1425503"/>
              <a:ext cx="2679394" cy="830997"/>
            </a:xfrm>
            <a:prstGeom prst="rect">
              <a:avLst/>
            </a:prstGeom>
          </p:spPr>
          <p:style>
            <a:lnRef idx="1">
              <a:schemeClr val="accent4"/>
            </a:lnRef>
            <a:fillRef idx="2">
              <a:schemeClr val="accent4"/>
            </a:fillRef>
            <a:effectRef idx="1">
              <a:schemeClr val="accent4"/>
            </a:effectRef>
            <a:fontRef idx="minor">
              <a:schemeClr val="dk1"/>
            </a:fontRef>
          </p:style>
          <p:txBody>
            <a:bodyPr wrap="square">
              <a:spAutoFit/>
            </a:bodyPr>
            <a:lstStyle/>
            <a:p>
              <a:pPr algn="ctr"/>
              <a:r>
                <a:rPr lang="zh-CN" altLang="en-US" sz="1600" b="1" dirty="0">
                  <a:solidFill>
                    <a:srgbClr val="C00000"/>
                  </a:solidFill>
                  <a:latin typeface="微软雅黑 Light" panose="020B0502040204020203" pitchFamily="34" charset="-122"/>
                  <a:ea typeface="微软雅黑 Light" panose="020B0502040204020203" pitchFamily="34" charset="-122"/>
                </a:rPr>
                <a:t>客户进程</a:t>
              </a:r>
              <a:r>
                <a:rPr lang="zh-CN" altLang="en-US" sz="1600" b="1" dirty="0">
                  <a:latin typeface="微软雅黑 Light" panose="020B0502040204020203" pitchFamily="34" charset="-122"/>
                  <a:ea typeface="微软雅黑 Light" panose="020B0502040204020203" pitchFamily="34" charset="-122"/>
                </a:rPr>
                <a:t>调用 </a:t>
              </a:r>
              <a:r>
                <a:rPr lang="en-US" altLang="zh-CN" sz="1600" b="1" dirty="0">
                  <a:latin typeface="微软雅黑 Light" panose="020B0502040204020203" pitchFamily="34" charset="-122"/>
                  <a:ea typeface="微软雅黑 Light" panose="020B0502040204020203" pitchFamily="34" charset="-122"/>
                </a:rPr>
                <a:t>connect</a:t>
              </a:r>
              <a:r>
                <a:rPr lang="zh-CN" altLang="en-US" sz="1600" b="1" dirty="0">
                  <a:latin typeface="微软雅黑 Light" panose="020B0502040204020203" pitchFamily="34" charset="-122"/>
                  <a:ea typeface="微软雅黑 Light" panose="020B0502040204020203" pitchFamily="34" charset="-122"/>
                </a:rPr>
                <a:t>，以便和远地服务器建立连接（这就是主动打开）。</a:t>
              </a:r>
            </a:p>
          </p:txBody>
        </p:sp>
      </p:grpSp>
    </p:spTree>
    <p:extLst>
      <p:ext uri="{BB962C8B-B14F-4D97-AF65-F5344CB8AC3E}">
        <p14:creationId xmlns:p14="http://schemas.microsoft.com/office/powerpoint/2010/main" val="19048551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2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p:bldLst>
  </p:timing>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Box 4"/>
          <p:cNvSpPr txBox="1">
            <a:spLocks noChangeArrowheads="1"/>
          </p:cNvSpPr>
          <p:nvPr/>
        </p:nvSpPr>
        <p:spPr bwMode="auto">
          <a:xfrm>
            <a:off x="5193856" y="1019340"/>
            <a:ext cx="100540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服务器端</a:t>
            </a:r>
          </a:p>
        </p:txBody>
      </p:sp>
      <p:sp>
        <p:nvSpPr>
          <p:cNvPr id="19" name="Text Box 18"/>
          <p:cNvSpPr txBox="1">
            <a:spLocks noChangeArrowheads="1"/>
          </p:cNvSpPr>
          <p:nvPr/>
        </p:nvSpPr>
        <p:spPr bwMode="auto">
          <a:xfrm>
            <a:off x="2492362" y="101934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客户端</a:t>
            </a:r>
          </a:p>
        </p:txBody>
      </p:sp>
      <p:sp>
        <p:nvSpPr>
          <p:cNvPr id="38" name="AutoShape 5"/>
          <p:cNvSpPr>
            <a:spLocks noChangeArrowheads="1"/>
          </p:cNvSpPr>
          <p:nvPr/>
        </p:nvSpPr>
        <p:spPr bwMode="auto">
          <a:xfrm>
            <a:off x="556963" y="60897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9" name="Rectangle 6"/>
          <p:cNvSpPr>
            <a:spLocks noChangeArrowheads="1"/>
          </p:cNvSpPr>
          <p:nvPr/>
        </p:nvSpPr>
        <p:spPr bwMode="auto">
          <a:xfrm>
            <a:off x="3821372" y="575768"/>
            <a:ext cx="15199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2. </a:t>
            </a:r>
            <a:r>
              <a:rPr lang="zh-CN" altLang="en-US" sz="2000" b="1" dirty="0">
                <a:solidFill>
                  <a:schemeClr val="bg1"/>
                </a:solidFill>
                <a:latin typeface="微软雅黑 Light" panose="020B0502040204020203" pitchFamily="34" charset="-122"/>
                <a:ea typeface="微软雅黑 Light" panose="020B0502040204020203" pitchFamily="34" charset="-122"/>
              </a:rPr>
              <a:t>传送阶段</a:t>
            </a:r>
          </a:p>
        </p:txBody>
      </p:sp>
      <p:sp>
        <p:nvSpPr>
          <p:cNvPr id="36" name="矩形 35"/>
          <p:cNvSpPr/>
          <p:nvPr/>
        </p:nvSpPr>
        <p:spPr>
          <a:xfrm>
            <a:off x="1481959" y="1306976"/>
            <a:ext cx="6358758" cy="1613262"/>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0" name="矩形 39"/>
          <p:cNvSpPr/>
          <p:nvPr/>
        </p:nvSpPr>
        <p:spPr>
          <a:xfrm>
            <a:off x="1481959" y="2922086"/>
            <a:ext cx="6358758" cy="964357"/>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1" name="矩形 40"/>
          <p:cNvSpPr/>
          <p:nvPr/>
        </p:nvSpPr>
        <p:spPr>
          <a:xfrm>
            <a:off x="1481959" y="3886444"/>
            <a:ext cx="6358758" cy="447650"/>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Text Box 5"/>
          <p:cNvSpPr txBox="1">
            <a:spLocks noChangeArrowheads="1"/>
          </p:cNvSpPr>
          <p:nvPr/>
        </p:nvSpPr>
        <p:spPr bwMode="auto">
          <a:xfrm>
            <a:off x="5383990" y="127059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7" name="Text Box 6"/>
          <p:cNvSpPr txBox="1">
            <a:spLocks noChangeArrowheads="1"/>
          </p:cNvSpPr>
          <p:nvPr/>
        </p:nvSpPr>
        <p:spPr bwMode="auto">
          <a:xfrm>
            <a:off x="5455683" y="1703694"/>
            <a:ext cx="5469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bind</a:t>
            </a:r>
          </a:p>
        </p:txBody>
      </p:sp>
      <p:sp>
        <p:nvSpPr>
          <p:cNvPr id="8" name="Text Box 7"/>
          <p:cNvSpPr txBox="1">
            <a:spLocks noChangeArrowheads="1"/>
          </p:cNvSpPr>
          <p:nvPr/>
        </p:nvSpPr>
        <p:spPr bwMode="auto">
          <a:xfrm>
            <a:off x="5425585" y="2172307"/>
            <a:ext cx="59984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listen</a:t>
            </a:r>
          </a:p>
        </p:txBody>
      </p:sp>
      <p:sp>
        <p:nvSpPr>
          <p:cNvPr id="9" name="Text Box 8"/>
          <p:cNvSpPr txBox="1">
            <a:spLocks noChangeArrowheads="1"/>
          </p:cNvSpPr>
          <p:nvPr/>
        </p:nvSpPr>
        <p:spPr bwMode="auto">
          <a:xfrm>
            <a:off x="5362628" y="2640919"/>
            <a:ext cx="7184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accept</a:t>
            </a:r>
          </a:p>
        </p:txBody>
      </p:sp>
      <p:sp>
        <p:nvSpPr>
          <p:cNvPr id="10" name="Text Box 9"/>
          <p:cNvSpPr txBox="1">
            <a:spLocks noChangeArrowheads="1"/>
          </p:cNvSpPr>
          <p:nvPr/>
        </p:nvSpPr>
        <p:spPr bwMode="auto">
          <a:xfrm>
            <a:off x="5459487" y="3109532"/>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solidFill>
                  <a:srgbClr val="0000FF"/>
                </a:solidFill>
                <a:latin typeface="微软雅黑 Light" panose="020B0502040204020203" pitchFamily="34" charset="-122"/>
                <a:ea typeface="微软雅黑 Light" panose="020B0502040204020203" pitchFamily="34" charset="-122"/>
              </a:rPr>
              <a:t>recv</a:t>
            </a:r>
            <a:endParaRPr lang="en-US" altLang="zh-CN" sz="1400" b="1" dirty="0">
              <a:solidFill>
                <a:srgbClr val="0000FF"/>
              </a:solidFill>
              <a:latin typeface="微软雅黑 Light" panose="020B0502040204020203" pitchFamily="34" charset="-122"/>
              <a:ea typeface="微软雅黑 Light" panose="020B0502040204020203" pitchFamily="34" charset="-122"/>
            </a:endParaRPr>
          </a:p>
        </p:txBody>
      </p:sp>
      <p:sp>
        <p:nvSpPr>
          <p:cNvPr id="11" name="Text Box 10"/>
          <p:cNvSpPr txBox="1">
            <a:spLocks noChangeArrowheads="1"/>
          </p:cNvSpPr>
          <p:nvPr/>
        </p:nvSpPr>
        <p:spPr bwMode="auto">
          <a:xfrm>
            <a:off x="5429066" y="3578146"/>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send</a:t>
            </a:r>
          </a:p>
        </p:txBody>
      </p:sp>
      <p:sp>
        <p:nvSpPr>
          <p:cNvPr id="12" name="Text Box 11"/>
          <p:cNvSpPr txBox="1">
            <a:spLocks noChangeArrowheads="1"/>
          </p:cNvSpPr>
          <p:nvPr/>
        </p:nvSpPr>
        <p:spPr bwMode="auto">
          <a:xfrm>
            <a:off x="5414806"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13" name="Line 12"/>
          <p:cNvSpPr>
            <a:spLocks noChangeShapeType="1"/>
          </p:cNvSpPr>
          <p:nvPr/>
        </p:nvSpPr>
        <p:spPr bwMode="auto">
          <a:xfrm>
            <a:off x="5730372" y="153721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13"/>
          <p:cNvSpPr>
            <a:spLocks noChangeShapeType="1"/>
          </p:cNvSpPr>
          <p:nvPr/>
        </p:nvSpPr>
        <p:spPr bwMode="auto">
          <a:xfrm>
            <a:off x="5730372" y="1984862"/>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a:off x="5730372" y="2432511"/>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5"/>
          <p:cNvSpPr>
            <a:spLocks noChangeShapeType="1"/>
          </p:cNvSpPr>
          <p:nvPr/>
        </p:nvSpPr>
        <p:spPr bwMode="auto">
          <a:xfrm>
            <a:off x="5730372" y="293565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6"/>
          <p:cNvSpPr>
            <a:spLocks noChangeShapeType="1"/>
          </p:cNvSpPr>
          <p:nvPr/>
        </p:nvSpPr>
        <p:spPr bwMode="auto">
          <a:xfrm>
            <a:off x="5730372" y="3438796"/>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7"/>
          <p:cNvSpPr>
            <a:spLocks noChangeShapeType="1"/>
          </p:cNvSpPr>
          <p:nvPr/>
        </p:nvSpPr>
        <p:spPr bwMode="auto">
          <a:xfrm>
            <a:off x="5730372" y="388644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19"/>
          <p:cNvSpPr txBox="1">
            <a:spLocks noChangeArrowheads="1"/>
          </p:cNvSpPr>
          <p:nvPr/>
        </p:nvSpPr>
        <p:spPr bwMode="auto">
          <a:xfrm>
            <a:off x="2572385" y="221398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21" name="Text Box 20"/>
          <p:cNvSpPr txBox="1">
            <a:spLocks noChangeArrowheads="1"/>
          </p:cNvSpPr>
          <p:nvPr/>
        </p:nvSpPr>
        <p:spPr bwMode="auto">
          <a:xfrm>
            <a:off x="2662476" y="3578146"/>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solidFill>
                  <a:srgbClr val="0000FF"/>
                </a:solidFill>
                <a:latin typeface="微软雅黑 Light" panose="020B0502040204020203" pitchFamily="34" charset="-122"/>
                <a:ea typeface="微软雅黑 Light" panose="020B0502040204020203" pitchFamily="34" charset="-122"/>
              </a:rPr>
              <a:t>recv</a:t>
            </a:r>
            <a:endParaRPr lang="en-US" altLang="zh-CN" sz="1400" b="1" dirty="0">
              <a:solidFill>
                <a:srgbClr val="0000FF"/>
              </a:solidFill>
              <a:latin typeface="微软雅黑 Light" panose="020B0502040204020203" pitchFamily="34" charset="-122"/>
              <a:ea typeface="微软雅黑 Light" panose="020B0502040204020203" pitchFamily="34" charset="-122"/>
            </a:endParaRPr>
          </a:p>
        </p:txBody>
      </p:sp>
      <p:sp>
        <p:nvSpPr>
          <p:cNvPr id="22" name="Text Box 21"/>
          <p:cNvSpPr txBox="1">
            <a:spLocks noChangeArrowheads="1"/>
          </p:cNvSpPr>
          <p:nvPr/>
        </p:nvSpPr>
        <p:spPr bwMode="auto">
          <a:xfrm>
            <a:off x="2635704" y="3109532"/>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send</a:t>
            </a:r>
          </a:p>
        </p:txBody>
      </p:sp>
      <p:sp>
        <p:nvSpPr>
          <p:cNvPr id="23" name="Text Box 22"/>
          <p:cNvSpPr txBox="1">
            <a:spLocks noChangeArrowheads="1"/>
          </p:cNvSpPr>
          <p:nvPr/>
        </p:nvSpPr>
        <p:spPr bwMode="auto">
          <a:xfrm>
            <a:off x="2625091"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24" name="Text Box 23"/>
          <p:cNvSpPr txBox="1">
            <a:spLocks noChangeArrowheads="1"/>
          </p:cNvSpPr>
          <p:nvPr/>
        </p:nvSpPr>
        <p:spPr bwMode="auto">
          <a:xfrm>
            <a:off x="2506469" y="2645853"/>
            <a:ext cx="83067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connect</a:t>
            </a:r>
          </a:p>
        </p:txBody>
      </p:sp>
      <p:sp>
        <p:nvSpPr>
          <p:cNvPr id="25" name="Line 24"/>
          <p:cNvSpPr>
            <a:spLocks noChangeShapeType="1"/>
          </p:cNvSpPr>
          <p:nvPr/>
        </p:nvSpPr>
        <p:spPr bwMode="auto">
          <a:xfrm>
            <a:off x="2921200" y="247443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Line 25"/>
          <p:cNvSpPr>
            <a:spLocks noChangeShapeType="1"/>
          </p:cNvSpPr>
          <p:nvPr/>
        </p:nvSpPr>
        <p:spPr bwMode="auto">
          <a:xfrm>
            <a:off x="2921200" y="292208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Line 26"/>
          <p:cNvSpPr>
            <a:spLocks noChangeShapeType="1"/>
          </p:cNvSpPr>
          <p:nvPr/>
        </p:nvSpPr>
        <p:spPr bwMode="auto">
          <a:xfrm>
            <a:off x="2921200" y="336973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7"/>
          <p:cNvSpPr>
            <a:spLocks noChangeShapeType="1"/>
          </p:cNvSpPr>
          <p:nvPr/>
        </p:nvSpPr>
        <p:spPr bwMode="auto">
          <a:xfrm>
            <a:off x="2921200" y="387287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28"/>
          <p:cNvSpPr>
            <a:spLocks/>
          </p:cNvSpPr>
          <p:nvPr/>
        </p:nvSpPr>
        <p:spPr bwMode="auto">
          <a:xfrm flipH="1">
            <a:off x="1997574" y="3280835"/>
            <a:ext cx="656690" cy="462447"/>
          </a:xfrm>
          <a:custGeom>
            <a:avLst/>
            <a:gdLst>
              <a:gd name="T0" fmla="*/ 0 w 540"/>
              <a:gd name="T1" fmla="*/ 2147483646 h 391"/>
              <a:gd name="T2" fmla="*/ 2147483646 w 540"/>
              <a:gd name="T3" fmla="*/ 2147483646 h 391"/>
              <a:gd name="T4" fmla="*/ 2147483646 w 540"/>
              <a:gd name="T5" fmla="*/ 2147483646 h 391"/>
              <a:gd name="T6" fmla="*/ 2147483646 w 540"/>
              <a:gd name="T7" fmla="*/ 2147483646 h 391"/>
              <a:gd name="T8" fmla="*/ 2147483646 w 540"/>
              <a:gd name="T9" fmla="*/ 2147483646 h 391"/>
              <a:gd name="T10" fmla="*/ 2147483646 w 540"/>
              <a:gd name="T11" fmla="*/ 2147483646 h 391"/>
              <a:gd name="T12" fmla="*/ 2147483646 w 540"/>
              <a:gd name="T13" fmla="*/ 2147483646 h 391"/>
              <a:gd name="T14" fmla="*/ 2147483646 w 540"/>
              <a:gd name="T15" fmla="*/ 2147483646 h 391"/>
              <a:gd name="T16" fmla="*/ 0 w 540"/>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40" h="391">
                <a:moveTo>
                  <a:pt x="0" y="384"/>
                </a:moveTo>
                <a:cubicBezTo>
                  <a:pt x="52" y="385"/>
                  <a:pt x="240" y="389"/>
                  <a:pt x="311" y="389"/>
                </a:cubicBezTo>
                <a:cubicBezTo>
                  <a:pt x="382" y="389"/>
                  <a:pt x="397" y="391"/>
                  <a:pt x="427" y="385"/>
                </a:cubicBezTo>
                <a:cubicBezTo>
                  <a:pt x="457" y="379"/>
                  <a:pt x="477" y="372"/>
                  <a:pt x="494" y="355"/>
                </a:cubicBezTo>
                <a:cubicBezTo>
                  <a:pt x="511" y="338"/>
                  <a:pt x="523" y="324"/>
                  <a:pt x="529" y="284"/>
                </a:cubicBezTo>
                <a:cubicBezTo>
                  <a:pt x="535" y="244"/>
                  <a:pt x="540" y="155"/>
                  <a:pt x="533" y="113"/>
                </a:cubicBezTo>
                <a:cubicBezTo>
                  <a:pt x="526" y="71"/>
                  <a:pt x="515" y="52"/>
                  <a:pt x="488" y="34"/>
                </a:cubicBezTo>
                <a:cubicBezTo>
                  <a:pt x="461" y="16"/>
                  <a:pt x="451" y="10"/>
                  <a:pt x="370" y="5"/>
                </a:cubicBezTo>
                <a:cubicBezTo>
                  <a:pt x="289" y="0"/>
                  <a:pt x="77" y="6"/>
                  <a:pt x="0" y="6"/>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29"/>
          <p:cNvSpPr>
            <a:spLocks/>
          </p:cNvSpPr>
          <p:nvPr/>
        </p:nvSpPr>
        <p:spPr bwMode="auto">
          <a:xfrm>
            <a:off x="5995317" y="3261693"/>
            <a:ext cx="378204" cy="482177"/>
          </a:xfrm>
          <a:custGeom>
            <a:avLst/>
            <a:gdLst>
              <a:gd name="T0" fmla="*/ 0 w 311"/>
              <a:gd name="T1" fmla="*/ 2147483646 h 391"/>
              <a:gd name="T2" fmla="*/ 2147483646 w 311"/>
              <a:gd name="T3" fmla="*/ 2147483646 h 391"/>
              <a:gd name="T4" fmla="*/ 2147483646 w 311"/>
              <a:gd name="T5" fmla="*/ 2147483646 h 391"/>
              <a:gd name="T6" fmla="*/ 2147483646 w 311"/>
              <a:gd name="T7" fmla="*/ 2147483646 h 391"/>
              <a:gd name="T8" fmla="*/ 2147483646 w 311"/>
              <a:gd name="T9" fmla="*/ 2147483646 h 391"/>
              <a:gd name="T10" fmla="*/ 2147483646 w 311"/>
              <a:gd name="T11" fmla="*/ 2147483646 h 391"/>
              <a:gd name="T12" fmla="*/ 2147483646 w 311"/>
              <a:gd name="T13" fmla="*/ 2147483646 h 391"/>
              <a:gd name="T14" fmla="*/ 2147483646 w 311"/>
              <a:gd name="T15" fmla="*/ 2147483646 h 391"/>
              <a:gd name="T16" fmla="*/ 0 w 311"/>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11" h="391">
                <a:moveTo>
                  <a:pt x="0" y="387"/>
                </a:moveTo>
                <a:cubicBezTo>
                  <a:pt x="30" y="387"/>
                  <a:pt x="139" y="391"/>
                  <a:pt x="182" y="389"/>
                </a:cubicBezTo>
                <a:cubicBezTo>
                  <a:pt x="225" y="387"/>
                  <a:pt x="238" y="382"/>
                  <a:pt x="256" y="373"/>
                </a:cubicBezTo>
                <a:cubicBezTo>
                  <a:pt x="274" y="364"/>
                  <a:pt x="284" y="354"/>
                  <a:pt x="293" y="337"/>
                </a:cubicBezTo>
                <a:cubicBezTo>
                  <a:pt x="302" y="320"/>
                  <a:pt x="306" y="304"/>
                  <a:pt x="308" y="269"/>
                </a:cubicBezTo>
                <a:cubicBezTo>
                  <a:pt x="310" y="234"/>
                  <a:pt x="311" y="160"/>
                  <a:pt x="308" y="124"/>
                </a:cubicBezTo>
                <a:cubicBezTo>
                  <a:pt x="305" y="88"/>
                  <a:pt x="305" y="70"/>
                  <a:pt x="289" y="50"/>
                </a:cubicBezTo>
                <a:cubicBezTo>
                  <a:pt x="273" y="30"/>
                  <a:pt x="259" y="14"/>
                  <a:pt x="211" y="7"/>
                </a:cubicBezTo>
                <a:cubicBezTo>
                  <a:pt x="163" y="0"/>
                  <a:pt x="44" y="9"/>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30"/>
          <p:cNvSpPr>
            <a:spLocks/>
          </p:cNvSpPr>
          <p:nvPr/>
        </p:nvSpPr>
        <p:spPr bwMode="auto">
          <a:xfrm>
            <a:off x="6085478" y="2779571"/>
            <a:ext cx="654258" cy="1442834"/>
          </a:xfrm>
          <a:custGeom>
            <a:avLst/>
            <a:gdLst>
              <a:gd name="T0" fmla="*/ 0 w 538"/>
              <a:gd name="T1" fmla="*/ 2147483646 h 1175"/>
              <a:gd name="T2" fmla="*/ 2147483646 w 538"/>
              <a:gd name="T3" fmla="*/ 2147483646 h 1175"/>
              <a:gd name="T4" fmla="*/ 2147483646 w 538"/>
              <a:gd name="T5" fmla="*/ 2147483646 h 1175"/>
              <a:gd name="T6" fmla="*/ 2147483646 w 538"/>
              <a:gd name="T7" fmla="*/ 2147483646 h 1175"/>
              <a:gd name="T8" fmla="*/ 2147483646 w 538"/>
              <a:gd name="T9" fmla="*/ 2147483646 h 1175"/>
              <a:gd name="T10" fmla="*/ 2147483646 w 538"/>
              <a:gd name="T11" fmla="*/ 2147483646 h 1175"/>
              <a:gd name="T12" fmla="*/ 2147483646 w 538"/>
              <a:gd name="T13" fmla="*/ 2147483646 h 1175"/>
              <a:gd name="T14" fmla="*/ 2147483646 w 538"/>
              <a:gd name="T15" fmla="*/ 2147483646 h 1175"/>
              <a:gd name="T16" fmla="*/ 0 w 538"/>
              <a:gd name="T17" fmla="*/ 2147483646 h 117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38" h="1175">
                <a:moveTo>
                  <a:pt x="0" y="1171"/>
                </a:moveTo>
                <a:cubicBezTo>
                  <a:pt x="51" y="1171"/>
                  <a:pt x="237" y="1175"/>
                  <a:pt x="306" y="1168"/>
                </a:cubicBezTo>
                <a:cubicBezTo>
                  <a:pt x="375" y="1161"/>
                  <a:pt x="386" y="1151"/>
                  <a:pt x="417" y="1129"/>
                </a:cubicBezTo>
                <a:cubicBezTo>
                  <a:pt x="448" y="1107"/>
                  <a:pt x="472" y="1080"/>
                  <a:pt x="489" y="1036"/>
                </a:cubicBezTo>
                <a:cubicBezTo>
                  <a:pt x="506" y="992"/>
                  <a:pt x="515" y="980"/>
                  <a:pt x="522" y="865"/>
                </a:cubicBezTo>
                <a:cubicBezTo>
                  <a:pt x="529" y="750"/>
                  <a:pt x="538" y="472"/>
                  <a:pt x="534" y="348"/>
                </a:cubicBezTo>
                <a:cubicBezTo>
                  <a:pt x="530" y="224"/>
                  <a:pt x="529" y="176"/>
                  <a:pt x="501" y="121"/>
                </a:cubicBezTo>
                <a:cubicBezTo>
                  <a:pt x="473" y="66"/>
                  <a:pt x="448" y="38"/>
                  <a:pt x="365" y="19"/>
                </a:cubicBezTo>
                <a:cubicBezTo>
                  <a:pt x="282" y="0"/>
                  <a:pt x="76" y="11"/>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31"/>
          <p:cNvSpPr>
            <a:spLocks noChangeShapeType="1"/>
          </p:cNvSpPr>
          <p:nvPr/>
        </p:nvSpPr>
        <p:spPr bwMode="auto">
          <a:xfrm>
            <a:off x="3170499" y="338823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32"/>
          <p:cNvSpPr>
            <a:spLocks noChangeShapeType="1"/>
          </p:cNvSpPr>
          <p:nvPr/>
        </p:nvSpPr>
        <p:spPr bwMode="auto">
          <a:xfrm flipH="1">
            <a:off x="3051321" y="385931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34"/>
          <p:cNvSpPr>
            <a:spLocks noChangeShapeType="1"/>
          </p:cNvSpPr>
          <p:nvPr/>
        </p:nvSpPr>
        <p:spPr bwMode="auto">
          <a:xfrm rot="186387" flipV="1">
            <a:off x="3322510" y="2917156"/>
            <a:ext cx="2280172" cy="6165"/>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Text Box 35"/>
          <p:cNvSpPr txBox="1">
            <a:spLocks noChangeArrowheads="1"/>
          </p:cNvSpPr>
          <p:nvPr/>
        </p:nvSpPr>
        <p:spPr bwMode="auto">
          <a:xfrm rot="186387">
            <a:off x="3809156" y="2614862"/>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连接建立请求</a:t>
            </a:r>
          </a:p>
        </p:txBody>
      </p:sp>
      <p:sp>
        <p:nvSpPr>
          <p:cNvPr id="42" name="Text Box 18"/>
          <p:cNvSpPr txBox="1">
            <a:spLocks noChangeArrowheads="1"/>
          </p:cNvSpPr>
          <p:nvPr/>
        </p:nvSpPr>
        <p:spPr bwMode="auto">
          <a:xfrm>
            <a:off x="6855413" y="202911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连接建立</a:t>
            </a:r>
          </a:p>
        </p:txBody>
      </p:sp>
      <p:sp>
        <p:nvSpPr>
          <p:cNvPr id="43" name="Text Box 18"/>
          <p:cNvSpPr txBox="1">
            <a:spLocks noChangeArrowheads="1"/>
          </p:cNvSpPr>
          <p:nvPr/>
        </p:nvSpPr>
        <p:spPr bwMode="auto">
          <a:xfrm>
            <a:off x="6855413" y="325167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数据传送</a:t>
            </a:r>
          </a:p>
        </p:txBody>
      </p:sp>
      <p:sp>
        <p:nvSpPr>
          <p:cNvPr id="44" name="Text Box 18"/>
          <p:cNvSpPr txBox="1">
            <a:spLocks noChangeArrowheads="1"/>
          </p:cNvSpPr>
          <p:nvPr/>
        </p:nvSpPr>
        <p:spPr bwMode="auto">
          <a:xfrm>
            <a:off x="6855413" y="393967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连接释放</a:t>
            </a:r>
          </a:p>
        </p:txBody>
      </p:sp>
      <p:grpSp>
        <p:nvGrpSpPr>
          <p:cNvPr id="45" name="组合 44"/>
          <p:cNvGrpSpPr/>
          <p:nvPr/>
        </p:nvGrpSpPr>
        <p:grpSpPr>
          <a:xfrm>
            <a:off x="2614866" y="1365082"/>
            <a:ext cx="2927724" cy="1812832"/>
            <a:chOff x="2614866" y="1425503"/>
            <a:chExt cx="2927724" cy="1812832"/>
          </a:xfrm>
        </p:grpSpPr>
        <p:cxnSp>
          <p:nvCxnSpPr>
            <p:cNvPr id="47" name="直接箭头连接符 46"/>
            <p:cNvCxnSpPr/>
            <p:nvPr/>
          </p:nvCxnSpPr>
          <p:spPr>
            <a:xfrm flipH="1">
              <a:off x="3108983" y="2243423"/>
              <a:ext cx="691938" cy="94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8" name="直接箭头连接符 47"/>
            <p:cNvCxnSpPr/>
            <p:nvPr/>
          </p:nvCxnSpPr>
          <p:spPr>
            <a:xfrm>
              <a:off x="4778029" y="2243423"/>
              <a:ext cx="764561" cy="99491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6" name="矩形 45"/>
            <p:cNvSpPr/>
            <p:nvPr/>
          </p:nvSpPr>
          <p:spPr>
            <a:xfrm>
              <a:off x="2614866" y="1425503"/>
              <a:ext cx="2679394" cy="830997"/>
            </a:xfrm>
            <a:prstGeom prst="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gn="ctr"/>
              <a:r>
                <a:rPr lang="zh-CN" altLang="en-US" sz="1600" b="1" dirty="0">
                  <a:solidFill>
                    <a:srgbClr val="C00000"/>
                  </a:solidFill>
                  <a:latin typeface="微软雅黑 Light" panose="020B0502040204020203" pitchFamily="34" charset="-122"/>
                  <a:ea typeface="微软雅黑 Light" panose="020B0502040204020203" pitchFamily="34" charset="-122"/>
                </a:rPr>
                <a:t>客户</a:t>
              </a:r>
              <a:r>
                <a:rPr lang="zh-CN" altLang="en-US" sz="1600" b="1" dirty="0">
                  <a:latin typeface="微软雅黑 Light" panose="020B0502040204020203" pitchFamily="34" charset="-122"/>
                  <a:ea typeface="微软雅黑 Light" panose="020B0502040204020203" pitchFamily="34" charset="-122"/>
                </a:rPr>
                <a:t>和</a:t>
              </a:r>
              <a:r>
                <a:rPr lang="zh-CN" altLang="en-US" sz="1600" b="1" dirty="0">
                  <a:solidFill>
                    <a:srgbClr val="C00000"/>
                  </a:solidFill>
                  <a:latin typeface="微软雅黑 Light" panose="020B0502040204020203" pitchFamily="34" charset="-122"/>
                  <a:ea typeface="微软雅黑 Light" panose="020B0502040204020203" pitchFamily="34" charset="-122"/>
                </a:rPr>
                <a:t>服务器</a:t>
              </a:r>
              <a:r>
                <a:rPr lang="zh-CN" altLang="en-US" sz="1600" b="1" dirty="0">
                  <a:latin typeface="微软雅黑 Light" panose="020B0502040204020203" pitchFamily="34" charset="-122"/>
                  <a:ea typeface="微软雅黑 Light" panose="020B0502040204020203" pitchFamily="34" charset="-122"/>
                </a:rPr>
                <a:t>在 </a:t>
              </a:r>
              <a:r>
                <a:rPr lang="en-US" altLang="zh-CN" sz="1600" b="1" dirty="0">
                  <a:latin typeface="微软雅黑 Light" panose="020B0502040204020203" pitchFamily="34" charset="-122"/>
                  <a:ea typeface="微软雅黑 Light" panose="020B0502040204020203" pitchFamily="34" charset="-122"/>
                </a:rPr>
                <a:t>TCP </a:t>
              </a:r>
              <a:r>
                <a:rPr lang="zh-CN" altLang="en-US" sz="1600" b="1" dirty="0">
                  <a:latin typeface="微软雅黑 Light" panose="020B0502040204020203" pitchFamily="34" charset="-122"/>
                  <a:ea typeface="微软雅黑 Light" panose="020B0502040204020203" pitchFamily="34" charset="-122"/>
                </a:rPr>
                <a:t>连接上使用 </a:t>
              </a:r>
              <a:r>
                <a:rPr lang="en-US" altLang="zh-CN" sz="1600" b="1" dirty="0">
                  <a:latin typeface="微软雅黑 Light" panose="020B0502040204020203" pitchFamily="34" charset="-122"/>
                  <a:ea typeface="微软雅黑 Light" panose="020B0502040204020203" pitchFamily="34" charset="-122"/>
                </a:rPr>
                <a:t>send </a:t>
              </a:r>
              <a:r>
                <a:rPr lang="zh-CN" altLang="en-US" sz="1600" b="1" dirty="0">
                  <a:latin typeface="微软雅黑 Light" panose="020B0502040204020203" pitchFamily="34" charset="-122"/>
                  <a:ea typeface="微软雅黑 Light" panose="020B0502040204020203" pitchFamily="34" charset="-122"/>
                </a:rPr>
                <a:t>传送数据，使用 </a:t>
              </a:r>
              <a:r>
                <a:rPr lang="en-US" altLang="zh-CN" sz="1600" b="1" dirty="0" err="1">
                  <a:latin typeface="微软雅黑 Light" panose="020B0502040204020203" pitchFamily="34" charset="-122"/>
                  <a:ea typeface="微软雅黑 Light" panose="020B0502040204020203" pitchFamily="34" charset="-122"/>
                </a:rPr>
                <a:t>recv</a:t>
              </a:r>
              <a:r>
                <a:rPr lang="en-US" altLang="zh-CN" sz="1600" b="1" dirty="0">
                  <a:latin typeface="微软雅黑 Light" panose="020B0502040204020203" pitchFamily="34" charset="-122"/>
                  <a:ea typeface="微软雅黑 Light" panose="020B0502040204020203" pitchFamily="34" charset="-122"/>
                </a:rPr>
                <a:t> </a:t>
              </a:r>
              <a:r>
                <a:rPr lang="zh-CN" altLang="en-US" sz="1600" b="1" dirty="0">
                  <a:latin typeface="微软雅黑 Light" panose="020B0502040204020203" pitchFamily="34" charset="-122"/>
                  <a:ea typeface="微软雅黑 Light" panose="020B0502040204020203" pitchFamily="34" charset="-122"/>
                </a:rPr>
                <a:t>接收数据。</a:t>
              </a:r>
            </a:p>
          </p:txBody>
        </p:sp>
      </p:grpSp>
    </p:spTree>
    <p:extLst>
      <p:ext uri="{BB962C8B-B14F-4D97-AF65-F5344CB8AC3E}">
        <p14:creationId xmlns:p14="http://schemas.microsoft.com/office/powerpoint/2010/main" val="31732763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22"/>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21"/>
                                        </p:tgtEl>
                                        <p:attrNameLst>
                                          <p:attrName>style.visibility</p:attrName>
                                        </p:attrNameLst>
                                      </p:cBhvr>
                                      <p:tavLst>
                                        <p:tav tm="0">
                                          <p:val>
                                            <p:strVal val="hidden"/>
                                          </p:val>
                                        </p:tav>
                                        <p:tav tm="50000">
                                          <p:val>
                                            <p:strVal val="visible"/>
                                          </p:val>
                                        </p:tav>
                                      </p:tavLst>
                                    </p:anim>
                                  </p:childTnLst>
                                </p:cTn>
                              </p:par>
                              <p:par>
                                <p:cTn id="9" presetID="35" presetClass="emph" presetSubtype="0" repeatCount="3000" fill="hold" grpId="0" nodeType="withEffect">
                                  <p:stCondLst>
                                    <p:cond delay="0"/>
                                  </p:stCondLst>
                                  <p:childTnLst>
                                    <p:anim calcmode="discrete" valueType="str">
                                      <p:cBhvr>
                                        <p:cTn id="10" dur="1000" fill="hold"/>
                                        <p:tgtEl>
                                          <p:spTgt spid="10"/>
                                        </p:tgtEl>
                                        <p:attrNameLst>
                                          <p:attrName>style.visibility</p:attrName>
                                        </p:attrNameLst>
                                      </p:cBhvr>
                                      <p:tavLst>
                                        <p:tav tm="0">
                                          <p:val>
                                            <p:strVal val="hidden"/>
                                          </p:val>
                                        </p:tav>
                                        <p:tav tm="50000">
                                          <p:val>
                                            <p:strVal val="visible"/>
                                          </p:val>
                                        </p:tav>
                                      </p:tavLst>
                                    </p:anim>
                                  </p:childTnLst>
                                </p:cTn>
                              </p:par>
                              <p:par>
                                <p:cTn id="11" presetID="35" presetClass="emph" presetSubtype="0" repeatCount="3000" fill="hold" grpId="0" nodeType="withEffect">
                                  <p:stCondLst>
                                    <p:cond delay="0"/>
                                  </p:stCondLst>
                                  <p:childTnLst>
                                    <p:anim calcmode="discrete" valueType="str">
                                      <p:cBhvr>
                                        <p:cTn id="12" dur="1000" fill="hold"/>
                                        <p:tgtEl>
                                          <p:spTgt spid="1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P spid="21" grpId="0"/>
      <p:bldP spid="22" grpId="0"/>
    </p:bldLst>
  </p:timing>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Box 4"/>
          <p:cNvSpPr txBox="1">
            <a:spLocks noChangeArrowheads="1"/>
          </p:cNvSpPr>
          <p:nvPr/>
        </p:nvSpPr>
        <p:spPr bwMode="auto">
          <a:xfrm>
            <a:off x="5193856" y="1019340"/>
            <a:ext cx="100540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服务器端</a:t>
            </a:r>
          </a:p>
        </p:txBody>
      </p:sp>
      <p:sp>
        <p:nvSpPr>
          <p:cNvPr id="19" name="Text Box 18"/>
          <p:cNvSpPr txBox="1">
            <a:spLocks noChangeArrowheads="1"/>
          </p:cNvSpPr>
          <p:nvPr/>
        </p:nvSpPr>
        <p:spPr bwMode="auto">
          <a:xfrm>
            <a:off x="2492362" y="101934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客户端</a:t>
            </a:r>
          </a:p>
        </p:txBody>
      </p:sp>
      <p:sp>
        <p:nvSpPr>
          <p:cNvPr id="38" name="AutoShape 5"/>
          <p:cNvSpPr>
            <a:spLocks noChangeArrowheads="1"/>
          </p:cNvSpPr>
          <p:nvPr/>
        </p:nvSpPr>
        <p:spPr bwMode="auto">
          <a:xfrm>
            <a:off x="556963" y="60897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9" name="Rectangle 6"/>
          <p:cNvSpPr>
            <a:spLocks noChangeArrowheads="1"/>
          </p:cNvSpPr>
          <p:nvPr/>
        </p:nvSpPr>
        <p:spPr bwMode="auto">
          <a:xfrm>
            <a:off x="3564892" y="575768"/>
            <a:ext cx="203292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3. </a:t>
            </a:r>
            <a:r>
              <a:rPr lang="zh-CN" altLang="en-US" sz="2000" b="1" dirty="0">
                <a:solidFill>
                  <a:schemeClr val="bg1"/>
                </a:solidFill>
                <a:latin typeface="微软雅黑 Light" panose="020B0502040204020203" pitchFamily="34" charset="-122"/>
                <a:ea typeface="微软雅黑 Light" panose="020B0502040204020203" pitchFamily="34" charset="-122"/>
              </a:rPr>
              <a:t>连接释放阶段</a:t>
            </a:r>
          </a:p>
        </p:txBody>
      </p:sp>
      <p:sp>
        <p:nvSpPr>
          <p:cNvPr id="36" name="矩形 35"/>
          <p:cNvSpPr/>
          <p:nvPr/>
        </p:nvSpPr>
        <p:spPr>
          <a:xfrm>
            <a:off x="1481959" y="1306976"/>
            <a:ext cx="6358758" cy="1613262"/>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0" name="矩形 39"/>
          <p:cNvSpPr/>
          <p:nvPr/>
        </p:nvSpPr>
        <p:spPr>
          <a:xfrm>
            <a:off x="1481959" y="2922086"/>
            <a:ext cx="6358758" cy="964357"/>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1" name="矩形 40"/>
          <p:cNvSpPr/>
          <p:nvPr/>
        </p:nvSpPr>
        <p:spPr>
          <a:xfrm>
            <a:off x="1481959" y="3886444"/>
            <a:ext cx="6358758" cy="447650"/>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Text Box 5"/>
          <p:cNvSpPr txBox="1">
            <a:spLocks noChangeArrowheads="1"/>
          </p:cNvSpPr>
          <p:nvPr/>
        </p:nvSpPr>
        <p:spPr bwMode="auto">
          <a:xfrm>
            <a:off x="5383990" y="127059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7" name="Text Box 6"/>
          <p:cNvSpPr txBox="1">
            <a:spLocks noChangeArrowheads="1"/>
          </p:cNvSpPr>
          <p:nvPr/>
        </p:nvSpPr>
        <p:spPr bwMode="auto">
          <a:xfrm>
            <a:off x="5455683" y="1703694"/>
            <a:ext cx="5469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bind</a:t>
            </a:r>
          </a:p>
        </p:txBody>
      </p:sp>
      <p:sp>
        <p:nvSpPr>
          <p:cNvPr id="8" name="Text Box 7"/>
          <p:cNvSpPr txBox="1">
            <a:spLocks noChangeArrowheads="1"/>
          </p:cNvSpPr>
          <p:nvPr/>
        </p:nvSpPr>
        <p:spPr bwMode="auto">
          <a:xfrm>
            <a:off x="5425585" y="2172307"/>
            <a:ext cx="59984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listen</a:t>
            </a:r>
          </a:p>
        </p:txBody>
      </p:sp>
      <p:sp>
        <p:nvSpPr>
          <p:cNvPr id="9" name="Text Box 8"/>
          <p:cNvSpPr txBox="1">
            <a:spLocks noChangeArrowheads="1"/>
          </p:cNvSpPr>
          <p:nvPr/>
        </p:nvSpPr>
        <p:spPr bwMode="auto">
          <a:xfrm>
            <a:off x="5362628" y="2640919"/>
            <a:ext cx="7184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accept</a:t>
            </a:r>
          </a:p>
        </p:txBody>
      </p:sp>
      <p:sp>
        <p:nvSpPr>
          <p:cNvPr id="10" name="Text Box 9"/>
          <p:cNvSpPr txBox="1">
            <a:spLocks noChangeArrowheads="1"/>
          </p:cNvSpPr>
          <p:nvPr/>
        </p:nvSpPr>
        <p:spPr bwMode="auto">
          <a:xfrm>
            <a:off x="5459487" y="3109532"/>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11" name="Text Box 10"/>
          <p:cNvSpPr txBox="1">
            <a:spLocks noChangeArrowheads="1"/>
          </p:cNvSpPr>
          <p:nvPr/>
        </p:nvSpPr>
        <p:spPr bwMode="auto">
          <a:xfrm>
            <a:off x="5429066" y="3578146"/>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12" name="Text Box 11"/>
          <p:cNvSpPr txBox="1">
            <a:spLocks noChangeArrowheads="1"/>
          </p:cNvSpPr>
          <p:nvPr/>
        </p:nvSpPr>
        <p:spPr bwMode="auto">
          <a:xfrm>
            <a:off x="5414805"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close</a:t>
            </a:r>
          </a:p>
        </p:txBody>
      </p:sp>
      <p:sp>
        <p:nvSpPr>
          <p:cNvPr id="13" name="Line 12"/>
          <p:cNvSpPr>
            <a:spLocks noChangeShapeType="1"/>
          </p:cNvSpPr>
          <p:nvPr/>
        </p:nvSpPr>
        <p:spPr bwMode="auto">
          <a:xfrm>
            <a:off x="5730372" y="153721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13"/>
          <p:cNvSpPr>
            <a:spLocks noChangeShapeType="1"/>
          </p:cNvSpPr>
          <p:nvPr/>
        </p:nvSpPr>
        <p:spPr bwMode="auto">
          <a:xfrm>
            <a:off x="5730372" y="1984862"/>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a:off x="5730372" y="2432511"/>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5"/>
          <p:cNvSpPr>
            <a:spLocks noChangeShapeType="1"/>
          </p:cNvSpPr>
          <p:nvPr/>
        </p:nvSpPr>
        <p:spPr bwMode="auto">
          <a:xfrm>
            <a:off x="5730372" y="293565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6"/>
          <p:cNvSpPr>
            <a:spLocks noChangeShapeType="1"/>
          </p:cNvSpPr>
          <p:nvPr/>
        </p:nvSpPr>
        <p:spPr bwMode="auto">
          <a:xfrm>
            <a:off x="5730372" y="3438796"/>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7"/>
          <p:cNvSpPr>
            <a:spLocks noChangeShapeType="1"/>
          </p:cNvSpPr>
          <p:nvPr/>
        </p:nvSpPr>
        <p:spPr bwMode="auto">
          <a:xfrm>
            <a:off x="5730372" y="388644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19"/>
          <p:cNvSpPr txBox="1">
            <a:spLocks noChangeArrowheads="1"/>
          </p:cNvSpPr>
          <p:nvPr/>
        </p:nvSpPr>
        <p:spPr bwMode="auto">
          <a:xfrm>
            <a:off x="2572385" y="221398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21" name="Text Box 20"/>
          <p:cNvSpPr txBox="1">
            <a:spLocks noChangeArrowheads="1"/>
          </p:cNvSpPr>
          <p:nvPr/>
        </p:nvSpPr>
        <p:spPr bwMode="auto">
          <a:xfrm>
            <a:off x="2662476" y="3578146"/>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22" name="Text Box 21"/>
          <p:cNvSpPr txBox="1">
            <a:spLocks noChangeArrowheads="1"/>
          </p:cNvSpPr>
          <p:nvPr/>
        </p:nvSpPr>
        <p:spPr bwMode="auto">
          <a:xfrm>
            <a:off x="2635704" y="3109532"/>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23" name="Text Box 22"/>
          <p:cNvSpPr txBox="1">
            <a:spLocks noChangeArrowheads="1"/>
          </p:cNvSpPr>
          <p:nvPr/>
        </p:nvSpPr>
        <p:spPr bwMode="auto">
          <a:xfrm>
            <a:off x="2625090"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close</a:t>
            </a:r>
          </a:p>
        </p:txBody>
      </p:sp>
      <p:sp>
        <p:nvSpPr>
          <p:cNvPr id="24" name="Text Box 23"/>
          <p:cNvSpPr txBox="1">
            <a:spLocks noChangeArrowheads="1"/>
          </p:cNvSpPr>
          <p:nvPr/>
        </p:nvSpPr>
        <p:spPr bwMode="auto">
          <a:xfrm>
            <a:off x="2506469" y="2645853"/>
            <a:ext cx="83067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connect</a:t>
            </a:r>
          </a:p>
        </p:txBody>
      </p:sp>
      <p:sp>
        <p:nvSpPr>
          <p:cNvPr id="25" name="Line 24"/>
          <p:cNvSpPr>
            <a:spLocks noChangeShapeType="1"/>
          </p:cNvSpPr>
          <p:nvPr/>
        </p:nvSpPr>
        <p:spPr bwMode="auto">
          <a:xfrm>
            <a:off x="2921200" y="247443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Line 25"/>
          <p:cNvSpPr>
            <a:spLocks noChangeShapeType="1"/>
          </p:cNvSpPr>
          <p:nvPr/>
        </p:nvSpPr>
        <p:spPr bwMode="auto">
          <a:xfrm>
            <a:off x="2921200" y="292208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Line 26"/>
          <p:cNvSpPr>
            <a:spLocks noChangeShapeType="1"/>
          </p:cNvSpPr>
          <p:nvPr/>
        </p:nvSpPr>
        <p:spPr bwMode="auto">
          <a:xfrm>
            <a:off x="2921200" y="336973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7"/>
          <p:cNvSpPr>
            <a:spLocks noChangeShapeType="1"/>
          </p:cNvSpPr>
          <p:nvPr/>
        </p:nvSpPr>
        <p:spPr bwMode="auto">
          <a:xfrm>
            <a:off x="2921200" y="387287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28"/>
          <p:cNvSpPr>
            <a:spLocks/>
          </p:cNvSpPr>
          <p:nvPr/>
        </p:nvSpPr>
        <p:spPr bwMode="auto">
          <a:xfrm flipH="1">
            <a:off x="1997574" y="3280835"/>
            <a:ext cx="656690" cy="462447"/>
          </a:xfrm>
          <a:custGeom>
            <a:avLst/>
            <a:gdLst>
              <a:gd name="T0" fmla="*/ 0 w 540"/>
              <a:gd name="T1" fmla="*/ 2147483646 h 391"/>
              <a:gd name="T2" fmla="*/ 2147483646 w 540"/>
              <a:gd name="T3" fmla="*/ 2147483646 h 391"/>
              <a:gd name="T4" fmla="*/ 2147483646 w 540"/>
              <a:gd name="T5" fmla="*/ 2147483646 h 391"/>
              <a:gd name="T6" fmla="*/ 2147483646 w 540"/>
              <a:gd name="T7" fmla="*/ 2147483646 h 391"/>
              <a:gd name="T8" fmla="*/ 2147483646 w 540"/>
              <a:gd name="T9" fmla="*/ 2147483646 h 391"/>
              <a:gd name="T10" fmla="*/ 2147483646 w 540"/>
              <a:gd name="T11" fmla="*/ 2147483646 h 391"/>
              <a:gd name="T12" fmla="*/ 2147483646 w 540"/>
              <a:gd name="T13" fmla="*/ 2147483646 h 391"/>
              <a:gd name="T14" fmla="*/ 2147483646 w 540"/>
              <a:gd name="T15" fmla="*/ 2147483646 h 391"/>
              <a:gd name="T16" fmla="*/ 0 w 540"/>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40" h="391">
                <a:moveTo>
                  <a:pt x="0" y="384"/>
                </a:moveTo>
                <a:cubicBezTo>
                  <a:pt x="52" y="385"/>
                  <a:pt x="240" y="389"/>
                  <a:pt x="311" y="389"/>
                </a:cubicBezTo>
                <a:cubicBezTo>
                  <a:pt x="382" y="389"/>
                  <a:pt x="397" y="391"/>
                  <a:pt x="427" y="385"/>
                </a:cubicBezTo>
                <a:cubicBezTo>
                  <a:pt x="457" y="379"/>
                  <a:pt x="477" y="372"/>
                  <a:pt x="494" y="355"/>
                </a:cubicBezTo>
                <a:cubicBezTo>
                  <a:pt x="511" y="338"/>
                  <a:pt x="523" y="324"/>
                  <a:pt x="529" y="284"/>
                </a:cubicBezTo>
                <a:cubicBezTo>
                  <a:pt x="535" y="244"/>
                  <a:pt x="540" y="155"/>
                  <a:pt x="533" y="113"/>
                </a:cubicBezTo>
                <a:cubicBezTo>
                  <a:pt x="526" y="71"/>
                  <a:pt x="515" y="52"/>
                  <a:pt x="488" y="34"/>
                </a:cubicBezTo>
                <a:cubicBezTo>
                  <a:pt x="461" y="16"/>
                  <a:pt x="451" y="10"/>
                  <a:pt x="370" y="5"/>
                </a:cubicBezTo>
                <a:cubicBezTo>
                  <a:pt x="289" y="0"/>
                  <a:pt x="77" y="6"/>
                  <a:pt x="0" y="6"/>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29"/>
          <p:cNvSpPr>
            <a:spLocks/>
          </p:cNvSpPr>
          <p:nvPr/>
        </p:nvSpPr>
        <p:spPr bwMode="auto">
          <a:xfrm>
            <a:off x="5995317" y="3261693"/>
            <a:ext cx="378204" cy="482177"/>
          </a:xfrm>
          <a:custGeom>
            <a:avLst/>
            <a:gdLst>
              <a:gd name="T0" fmla="*/ 0 w 311"/>
              <a:gd name="T1" fmla="*/ 2147483646 h 391"/>
              <a:gd name="T2" fmla="*/ 2147483646 w 311"/>
              <a:gd name="T3" fmla="*/ 2147483646 h 391"/>
              <a:gd name="T4" fmla="*/ 2147483646 w 311"/>
              <a:gd name="T5" fmla="*/ 2147483646 h 391"/>
              <a:gd name="T6" fmla="*/ 2147483646 w 311"/>
              <a:gd name="T7" fmla="*/ 2147483646 h 391"/>
              <a:gd name="T8" fmla="*/ 2147483646 w 311"/>
              <a:gd name="T9" fmla="*/ 2147483646 h 391"/>
              <a:gd name="T10" fmla="*/ 2147483646 w 311"/>
              <a:gd name="T11" fmla="*/ 2147483646 h 391"/>
              <a:gd name="T12" fmla="*/ 2147483646 w 311"/>
              <a:gd name="T13" fmla="*/ 2147483646 h 391"/>
              <a:gd name="T14" fmla="*/ 2147483646 w 311"/>
              <a:gd name="T15" fmla="*/ 2147483646 h 391"/>
              <a:gd name="T16" fmla="*/ 0 w 311"/>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11" h="391">
                <a:moveTo>
                  <a:pt x="0" y="387"/>
                </a:moveTo>
                <a:cubicBezTo>
                  <a:pt x="30" y="387"/>
                  <a:pt x="139" y="391"/>
                  <a:pt x="182" y="389"/>
                </a:cubicBezTo>
                <a:cubicBezTo>
                  <a:pt x="225" y="387"/>
                  <a:pt x="238" y="382"/>
                  <a:pt x="256" y="373"/>
                </a:cubicBezTo>
                <a:cubicBezTo>
                  <a:pt x="274" y="364"/>
                  <a:pt x="284" y="354"/>
                  <a:pt x="293" y="337"/>
                </a:cubicBezTo>
                <a:cubicBezTo>
                  <a:pt x="302" y="320"/>
                  <a:pt x="306" y="304"/>
                  <a:pt x="308" y="269"/>
                </a:cubicBezTo>
                <a:cubicBezTo>
                  <a:pt x="310" y="234"/>
                  <a:pt x="311" y="160"/>
                  <a:pt x="308" y="124"/>
                </a:cubicBezTo>
                <a:cubicBezTo>
                  <a:pt x="305" y="88"/>
                  <a:pt x="305" y="70"/>
                  <a:pt x="289" y="50"/>
                </a:cubicBezTo>
                <a:cubicBezTo>
                  <a:pt x="273" y="30"/>
                  <a:pt x="259" y="14"/>
                  <a:pt x="211" y="7"/>
                </a:cubicBezTo>
                <a:cubicBezTo>
                  <a:pt x="163" y="0"/>
                  <a:pt x="44" y="9"/>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30"/>
          <p:cNvSpPr>
            <a:spLocks/>
          </p:cNvSpPr>
          <p:nvPr/>
        </p:nvSpPr>
        <p:spPr bwMode="auto">
          <a:xfrm>
            <a:off x="6085478" y="2779571"/>
            <a:ext cx="654258" cy="1442834"/>
          </a:xfrm>
          <a:custGeom>
            <a:avLst/>
            <a:gdLst>
              <a:gd name="T0" fmla="*/ 0 w 538"/>
              <a:gd name="T1" fmla="*/ 2147483646 h 1175"/>
              <a:gd name="T2" fmla="*/ 2147483646 w 538"/>
              <a:gd name="T3" fmla="*/ 2147483646 h 1175"/>
              <a:gd name="T4" fmla="*/ 2147483646 w 538"/>
              <a:gd name="T5" fmla="*/ 2147483646 h 1175"/>
              <a:gd name="T6" fmla="*/ 2147483646 w 538"/>
              <a:gd name="T7" fmla="*/ 2147483646 h 1175"/>
              <a:gd name="T8" fmla="*/ 2147483646 w 538"/>
              <a:gd name="T9" fmla="*/ 2147483646 h 1175"/>
              <a:gd name="T10" fmla="*/ 2147483646 w 538"/>
              <a:gd name="T11" fmla="*/ 2147483646 h 1175"/>
              <a:gd name="T12" fmla="*/ 2147483646 w 538"/>
              <a:gd name="T13" fmla="*/ 2147483646 h 1175"/>
              <a:gd name="T14" fmla="*/ 2147483646 w 538"/>
              <a:gd name="T15" fmla="*/ 2147483646 h 1175"/>
              <a:gd name="T16" fmla="*/ 0 w 538"/>
              <a:gd name="T17" fmla="*/ 2147483646 h 117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38" h="1175">
                <a:moveTo>
                  <a:pt x="0" y="1171"/>
                </a:moveTo>
                <a:cubicBezTo>
                  <a:pt x="51" y="1171"/>
                  <a:pt x="237" y="1175"/>
                  <a:pt x="306" y="1168"/>
                </a:cubicBezTo>
                <a:cubicBezTo>
                  <a:pt x="375" y="1161"/>
                  <a:pt x="386" y="1151"/>
                  <a:pt x="417" y="1129"/>
                </a:cubicBezTo>
                <a:cubicBezTo>
                  <a:pt x="448" y="1107"/>
                  <a:pt x="472" y="1080"/>
                  <a:pt x="489" y="1036"/>
                </a:cubicBezTo>
                <a:cubicBezTo>
                  <a:pt x="506" y="992"/>
                  <a:pt x="515" y="980"/>
                  <a:pt x="522" y="865"/>
                </a:cubicBezTo>
                <a:cubicBezTo>
                  <a:pt x="529" y="750"/>
                  <a:pt x="538" y="472"/>
                  <a:pt x="534" y="348"/>
                </a:cubicBezTo>
                <a:cubicBezTo>
                  <a:pt x="530" y="224"/>
                  <a:pt x="529" y="176"/>
                  <a:pt x="501" y="121"/>
                </a:cubicBezTo>
                <a:cubicBezTo>
                  <a:pt x="473" y="66"/>
                  <a:pt x="448" y="38"/>
                  <a:pt x="365" y="19"/>
                </a:cubicBezTo>
                <a:cubicBezTo>
                  <a:pt x="282" y="0"/>
                  <a:pt x="76" y="11"/>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31"/>
          <p:cNvSpPr>
            <a:spLocks noChangeShapeType="1"/>
          </p:cNvSpPr>
          <p:nvPr/>
        </p:nvSpPr>
        <p:spPr bwMode="auto">
          <a:xfrm>
            <a:off x="3170499" y="338823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32"/>
          <p:cNvSpPr>
            <a:spLocks noChangeShapeType="1"/>
          </p:cNvSpPr>
          <p:nvPr/>
        </p:nvSpPr>
        <p:spPr bwMode="auto">
          <a:xfrm flipH="1">
            <a:off x="3051321" y="385931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34"/>
          <p:cNvSpPr>
            <a:spLocks noChangeShapeType="1"/>
          </p:cNvSpPr>
          <p:nvPr/>
        </p:nvSpPr>
        <p:spPr bwMode="auto">
          <a:xfrm rot="186387" flipV="1">
            <a:off x="3322510" y="2917156"/>
            <a:ext cx="2280172" cy="6165"/>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Text Box 35"/>
          <p:cNvSpPr txBox="1">
            <a:spLocks noChangeArrowheads="1"/>
          </p:cNvSpPr>
          <p:nvPr/>
        </p:nvSpPr>
        <p:spPr bwMode="auto">
          <a:xfrm rot="186387">
            <a:off x="3809156" y="2614862"/>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连接建立请求</a:t>
            </a:r>
          </a:p>
        </p:txBody>
      </p:sp>
      <p:sp>
        <p:nvSpPr>
          <p:cNvPr id="42" name="Text Box 18"/>
          <p:cNvSpPr txBox="1">
            <a:spLocks noChangeArrowheads="1"/>
          </p:cNvSpPr>
          <p:nvPr/>
        </p:nvSpPr>
        <p:spPr bwMode="auto">
          <a:xfrm>
            <a:off x="6855413" y="202911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连接建立</a:t>
            </a:r>
          </a:p>
        </p:txBody>
      </p:sp>
      <p:sp>
        <p:nvSpPr>
          <p:cNvPr id="43" name="Text Box 18"/>
          <p:cNvSpPr txBox="1">
            <a:spLocks noChangeArrowheads="1"/>
          </p:cNvSpPr>
          <p:nvPr/>
        </p:nvSpPr>
        <p:spPr bwMode="auto">
          <a:xfrm>
            <a:off x="6855413" y="325167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数据传送</a:t>
            </a:r>
          </a:p>
        </p:txBody>
      </p:sp>
      <p:sp>
        <p:nvSpPr>
          <p:cNvPr id="44" name="Text Box 18"/>
          <p:cNvSpPr txBox="1">
            <a:spLocks noChangeArrowheads="1"/>
          </p:cNvSpPr>
          <p:nvPr/>
        </p:nvSpPr>
        <p:spPr bwMode="auto">
          <a:xfrm>
            <a:off x="6855413" y="393967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连接释放</a:t>
            </a:r>
          </a:p>
        </p:txBody>
      </p:sp>
      <p:grpSp>
        <p:nvGrpSpPr>
          <p:cNvPr id="45" name="组合 44"/>
          <p:cNvGrpSpPr/>
          <p:nvPr/>
        </p:nvGrpSpPr>
        <p:grpSpPr>
          <a:xfrm>
            <a:off x="2228295" y="1365082"/>
            <a:ext cx="3337380" cy="2787731"/>
            <a:chOff x="2228295" y="1425503"/>
            <a:chExt cx="3337380" cy="2787731"/>
          </a:xfrm>
        </p:grpSpPr>
        <p:cxnSp>
          <p:nvCxnSpPr>
            <p:cNvPr id="47" name="直接箭头连接符 46"/>
            <p:cNvCxnSpPr/>
            <p:nvPr/>
          </p:nvCxnSpPr>
          <p:spPr>
            <a:xfrm flipH="1">
              <a:off x="3082773" y="2010278"/>
              <a:ext cx="519829" cy="22029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8" name="直接箭头连接符 47"/>
            <p:cNvCxnSpPr/>
            <p:nvPr/>
          </p:nvCxnSpPr>
          <p:spPr>
            <a:xfrm>
              <a:off x="4666774" y="2010278"/>
              <a:ext cx="898901" cy="22029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6" name="矩形 45"/>
            <p:cNvSpPr/>
            <p:nvPr/>
          </p:nvSpPr>
          <p:spPr>
            <a:xfrm>
              <a:off x="2228295" y="1425503"/>
              <a:ext cx="3065965" cy="584775"/>
            </a:xfrm>
            <a:prstGeom prst="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gn="ctr"/>
              <a:r>
                <a:rPr lang="zh-CN" altLang="en-US" sz="1600" b="1" dirty="0">
                  <a:solidFill>
                    <a:srgbClr val="C00000"/>
                  </a:solidFill>
                  <a:latin typeface="微软雅黑 Light" panose="020B0502040204020203" pitchFamily="34" charset="-122"/>
                  <a:ea typeface="微软雅黑 Light" panose="020B0502040204020203" pitchFamily="34" charset="-122"/>
                </a:rPr>
                <a:t>客户</a:t>
              </a:r>
              <a:r>
                <a:rPr lang="zh-CN" altLang="en-US" sz="1600" b="1" dirty="0">
                  <a:latin typeface="微软雅黑 Light" panose="020B0502040204020203" pitchFamily="34" charset="-122"/>
                  <a:ea typeface="微软雅黑 Light" panose="020B0502040204020203" pitchFamily="34" charset="-122"/>
                </a:rPr>
                <a:t>或</a:t>
              </a:r>
              <a:r>
                <a:rPr lang="zh-CN" altLang="en-US" sz="1600" b="1" dirty="0">
                  <a:solidFill>
                    <a:srgbClr val="C00000"/>
                  </a:solidFill>
                  <a:latin typeface="微软雅黑 Light" panose="020B0502040204020203" pitchFamily="34" charset="-122"/>
                  <a:ea typeface="微软雅黑 Light" panose="020B0502040204020203" pitchFamily="34" charset="-122"/>
                </a:rPr>
                <a:t>服务器</a:t>
              </a:r>
              <a:r>
                <a:rPr lang="zh-CN" altLang="en-US" sz="1600" b="1" dirty="0">
                  <a:latin typeface="微软雅黑 Light" panose="020B0502040204020203" pitchFamily="34" charset="-122"/>
                  <a:ea typeface="微软雅黑 Light" panose="020B0502040204020203" pitchFamily="34" charset="-122"/>
                </a:rPr>
                <a:t>通信结束，调用 </a:t>
              </a:r>
              <a:r>
                <a:rPr lang="en-US" altLang="zh-CN" sz="1600" b="1" dirty="0">
                  <a:latin typeface="微软雅黑 Light" panose="020B0502040204020203" pitchFamily="34" charset="-122"/>
                  <a:ea typeface="微软雅黑 Light" panose="020B0502040204020203" pitchFamily="34" charset="-122"/>
                </a:rPr>
                <a:t>close </a:t>
              </a:r>
              <a:r>
                <a:rPr lang="zh-CN" altLang="en-US" sz="1600" b="1" dirty="0">
                  <a:latin typeface="微软雅黑 Light" panose="020B0502040204020203" pitchFamily="34" charset="-122"/>
                  <a:ea typeface="微软雅黑 Light" panose="020B0502040204020203" pitchFamily="34" charset="-122"/>
                </a:rPr>
                <a:t>释放连接和撤销套接字。</a:t>
              </a:r>
            </a:p>
          </p:txBody>
        </p:sp>
      </p:grpSp>
    </p:spTree>
    <p:extLst>
      <p:ext uri="{BB962C8B-B14F-4D97-AF65-F5344CB8AC3E}">
        <p14:creationId xmlns:p14="http://schemas.microsoft.com/office/powerpoint/2010/main" val="11245807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23"/>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1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23" grpId="0"/>
    </p:bldLst>
  </p:timing>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组合 15">
            <a:extLst>
              <a:ext uri="{FF2B5EF4-FFF2-40B4-BE49-F238E27FC236}">
                <a16:creationId xmlns:a16="http://schemas.microsoft.com/office/drawing/2014/main" id="{8BFD196E-853C-A362-FFD4-CF806991107A}"/>
              </a:ext>
            </a:extLst>
          </p:cNvPr>
          <p:cNvGrpSpPr/>
          <p:nvPr/>
        </p:nvGrpSpPr>
        <p:grpSpPr>
          <a:xfrm>
            <a:off x="3631653" y="2257126"/>
            <a:ext cx="4173259" cy="338554"/>
            <a:chOff x="4243545" y="874787"/>
            <a:chExt cx="4173259" cy="338554"/>
          </a:xfrm>
        </p:grpSpPr>
        <p:sp>
          <p:nvSpPr>
            <p:cNvPr id="14" name="文本框 13">
              <a:extLst>
                <a:ext uri="{FF2B5EF4-FFF2-40B4-BE49-F238E27FC236}">
                  <a16:creationId xmlns:a16="http://schemas.microsoft.com/office/drawing/2014/main" id="{155457A7-C0F1-C270-0401-5256AC73C294}"/>
                </a:ext>
              </a:extLst>
            </p:cNvPr>
            <p:cNvSpPr txBox="1"/>
            <p:nvPr/>
          </p:nvSpPr>
          <p:spPr>
            <a:xfrm>
              <a:off x="4243545" y="874787"/>
              <a:ext cx="595035" cy="338554"/>
            </a:xfrm>
            <a:prstGeom prst="rect">
              <a:avLst/>
            </a:prstGeom>
            <a:noFill/>
          </p:spPr>
          <p:txBody>
            <a:bodyPr wrap="none" rtlCol="0">
              <a:spAutoFit/>
            </a:bodyPr>
            <a:lstStyle/>
            <a:p>
              <a:r>
                <a:rPr lang="en-US" altLang="zh-CN" sz="1600" dirty="0">
                  <a:solidFill>
                    <a:srgbClr val="FF0000"/>
                  </a:solidFill>
                  <a:latin typeface="Montserrat" panose="00000500000000000000" pitchFamily="2" charset="0"/>
                  <a:ea typeface="微软雅黑 Light" panose="020B0502040204020203" pitchFamily="34" charset="-122"/>
                </a:rPr>
                <a:t>6.9.1</a:t>
              </a:r>
              <a:endParaRPr lang="zh-CN" altLang="en-US" sz="1600" dirty="0">
                <a:solidFill>
                  <a:srgbClr val="FF0000"/>
                </a:solidFill>
                <a:latin typeface="Montserrat" panose="00000500000000000000" pitchFamily="2" charset="0"/>
                <a:ea typeface="微软雅黑 Light" panose="020B0502040204020203" pitchFamily="34" charset="-122"/>
              </a:endParaRPr>
            </a:p>
          </p:txBody>
        </p:sp>
        <p:sp>
          <p:nvSpPr>
            <p:cNvPr id="15" name="文本框 14">
              <a:extLst>
                <a:ext uri="{FF2B5EF4-FFF2-40B4-BE49-F238E27FC236}">
                  <a16:creationId xmlns:a16="http://schemas.microsoft.com/office/drawing/2014/main" id="{9B1DF647-2352-6C72-D1FA-8B6F48732A73}"/>
                </a:ext>
              </a:extLst>
            </p:cNvPr>
            <p:cNvSpPr txBox="1"/>
            <p:nvPr/>
          </p:nvSpPr>
          <p:spPr>
            <a:xfrm>
              <a:off x="4838580" y="874787"/>
              <a:ext cx="3578224" cy="338554"/>
            </a:xfrm>
            <a:prstGeom prst="rect">
              <a:avLst/>
            </a:prstGeom>
            <a:noFill/>
          </p:spPr>
          <p:txBody>
            <a:bodyPr wrap="none" rtlCol="0">
              <a:spAutoFit/>
            </a:bodyPr>
            <a:lstStyle/>
            <a:p>
              <a:r>
                <a:rPr lang="zh-CN" altLang="en-US" sz="1600" dirty="0">
                  <a:latin typeface="Montserrat" panose="00000500000000000000" pitchFamily="2" charset="0"/>
                  <a:ea typeface="微软雅黑 Light" panose="020B0502040204020203" pitchFamily="34" charset="-122"/>
                </a:rPr>
                <a:t>具有集中目录服务器的 </a:t>
              </a:r>
              <a:r>
                <a:rPr lang="en-US" altLang="zh-CN" sz="1600" dirty="0">
                  <a:latin typeface="Montserrat" panose="00000500000000000000" pitchFamily="2" charset="0"/>
                  <a:ea typeface="微软雅黑 Light" panose="020B0502040204020203" pitchFamily="34" charset="-122"/>
                </a:rPr>
                <a:t>P2P </a:t>
              </a:r>
              <a:r>
                <a:rPr lang="zh-CN" altLang="en-US" sz="1600" dirty="0">
                  <a:latin typeface="Montserrat" panose="00000500000000000000" pitchFamily="2" charset="0"/>
                  <a:ea typeface="微软雅黑 Light" panose="020B0502040204020203" pitchFamily="34" charset="-122"/>
                </a:rPr>
                <a:t>工作方式</a:t>
              </a:r>
            </a:p>
          </p:txBody>
        </p:sp>
      </p:grpSp>
      <p:grpSp>
        <p:nvGrpSpPr>
          <p:cNvPr id="17" name="组合 16">
            <a:extLst>
              <a:ext uri="{FF2B5EF4-FFF2-40B4-BE49-F238E27FC236}">
                <a16:creationId xmlns:a16="http://schemas.microsoft.com/office/drawing/2014/main" id="{B33EC8D0-1CDF-FEF3-C525-D61D266C36D2}"/>
              </a:ext>
            </a:extLst>
          </p:cNvPr>
          <p:cNvGrpSpPr/>
          <p:nvPr/>
        </p:nvGrpSpPr>
        <p:grpSpPr>
          <a:xfrm>
            <a:off x="3631653" y="2659534"/>
            <a:ext cx="4333559" cy="338554"/>
            <a:chOff x="4243545" y="874787"/>
            <a:chExt cx="4333559" cy="338554"/>
          </a:xfrm>
        </p:grpSpPr>
        <p:sp>
          <p:nvSpPr>
            <p:cNvPr id="18" name="文本框 17">
              <a:extLst>
                <a:ext uri="{FF2B5EF4-FFF2-40B4-BE49-F238E27FC236}">
                  <a16:creationId xmlns:a16="http://schemas.microsoft.com/office/drawing/2014/main" id="{60A565A3-CA8E-CA71-13E0-949F20EFDD47}"/>
                </a:ext>
              </a:extLst>
            </p:cNvPr>
            <p:cNvSpPr txBox="1"/>
            <p:nvPr/>
          </p:nvSpPr>
          <p:spPr>
            <a:xfrm>
              <a:off x="4243545" y="874787"/>
              <a:ext cx="638316" cy="338554"/>
            </a:xfrm>
            <a:prstGeom prst="rect">
              <a:avLst/>
            </a:prstGeom>
            <a:noFill/>
          </p:spPr>
          <p:txBody>
            <a:bodyPr wrap="none" rtlCol="0">
              <a:spAutoFit/>
            </a:bodyPr>
            <a:lstStyle/>
            <a:p>
              <a:r>
                <a:rPr lang="en-US" altLang="zh-CN" sz="1600" dirty="0">
                  <a:solidFill>
                    <a:srgbClr val="FF0000"/>
                  </a:solidFill>
                  <a:latin typeface="Montserrat" panose="00000500000000000000" pitchFamily="2" charset="0"/>
                  <a:ea typeface="微软雅黑 Light" panose="020B0502040204020203" pitchFamily="34" charset="-122"/>
                </a:rPr>
                <a:t>6.9.2</a:t>
              </a:r>
              <a:endParaRPr lang="zh-CN" altLang="en-US" sz="1600" dirty="0">
                <a:solidFill>
                  <a:srgbClr val="FF0000"/>
                </a:solidFill>
                <a:latin typeface="Montserrat" panose="00000500000000000000" pitchFamily="2" charset="0"/>
                <a:ea typeface="微软雅黑 Light" panose="020B0502040204020203" pitchFamily="34" charset="-122"/>
              </a:endParaRPr>
            </a:p>
          </p:txBody>
        </p:sp>
        <p:sp>
          <p:nvSpPr>
            <p:cNvPr id="19" name="文本框 18">
              <a:extLst>
                <a:ext uri="{FF2B5EF4-FFF2-40B4-BE49-F238E27FC236}">
                  <a16:creationId xmlns:a16="http://schemas.microsoft.com/office/drawing/2014/main" id="{A4A6B20E-8B7A-B3C1-A85A-AF1952068185}"/>
                </a:ext>
              </a:extLst>
            </p:cNvPr>
            <p:cNvSpPr txBox="1"/>
            <p:nvPr/>
          </p:nvSpPr>
          <p:spPr>
            <a:xfrm>
              <a:off x="4838580" y="874787"/>
              <a:ext cx="3738524" cy="338554"/>
            </a:xfrm>
            <a:prstGeom prst="rect">
              <a:avLst/>
            </a:prstGeom>
            <a:noFill/>
          </p:spPr>
          <p:txBody>
            <a:bodyPr wrap="none" rtlCol="0">
              <a:spAutoFit/>
            </a:bodyPr>
            <a:lstStyle/>
            <a:p>
              <a:r>
                <a:rPr lang="zh-CN" altLang="en-US" sz="1600" dirty="0">
                  <a:latin typeface="微软雅黑 Light" panose="020B0502040204020203" pitchFamily="34" charset="-122"/>
                  <a:ea typeface="微软雅黑 Light" panose="020B0502040204020203" pitchFamily="34" charset="-122"/>
                </a:rPr>
                <a:t>具有全分布式结构的 </a:t>
              </a:r>
              <a:r>
                <a:rPr lang="en-US" altLang="zh-CN" sz="1600" dirty="0">
                  <a:latin typeface="微软雅黑 Light" panose="020B0502040204020203" pitchFamily="34" charset="-122"/>
                  <a:ea typeface="微软雅黑 Light" panose="020B0502040204020203" pitchFamily="34" charset="-122"/>
                </a:rPr>
                <a:t>P2P </a:t>
              </a:r>
              <a:r>
                <a:rPr lang="zh-CN" altLang="en-US" sz="1600" dirty="0">
                  <a:latin typeface="微软雅黑 Light" panose="020B0502040204020203" pitchFamily="34" charset="-122"/>
                  <a:ea typeface="微软雅黑 Light" panose="020B0502040204020203" pitchFamily="34" charset="-122"/>
                </a:rPr>
                <a:t>文件共享程序</a:t>
              </a:r>
              <a:endParaRPr lang="zh-CN" altLang="en-US" sz="1600" dirty="0">
                <a:latin typeface="Montserrat" panose="00000500000000000000" pitchFamily="2" charset="0"/>
                <a:ea typeface="微软雅黑 Light" panose="020B0502040204020203" pitchFamily="34" charset="-122"/>
              </a:endParaRPr>
            </a:p>
          </p:txBody>
        </p:sp>
      </p:grpSp>
      <p:grpSp>
        <p:nvGrpSpPr>
          <p:cNvPr id="20" name="组合 19">
            <a:extLst>
              <a:ext uri="{FF2B5EF4-FFF2-40B4-BE49-F238E27FC236}">
                <a16:creationId xmlns:a16="http://schemas.microsoft.com/office/drawing/2014/main" id="{09AE20DD-8F7F-4719-315B-22F9045B4015}"/>
              </a:ext>
            </a:extLst>
          </p:cNvPr>
          <p:cNvGrpSpPr/>
          <p:nvPr/>
        </p:nvGrpSpPr>
        <p:grpSpPr>
          <a:xfrm>
            <a:off x="3631653" y="3061942"/>
            <a:ext cx="2631170" cy="338554"/>
            <a:chOff x="4243545" y="874787"/>
            <a:chExt cx="2631170" cy="338554"/>
          </a:xfrm>
        </p:grpSpPr>
        <p:sp>
          <p:nvSpPr>
            <p:cNvPr id="21" name="文本框 20">
              <a:extLst>
                <a:ext uri="{FF2B5EF4-FFF2-40B4-BE49-F238E27FC236}">
                  <a16:creationId xmlns:a16="http://schemas.microsoft.com/office/drawing/2014/main" id="{C85E86BD-9C09-12D7-FC2E-C200FD0DA80A}"/>
                </a:ext>
              </a:extLst>
            </p:cNvPr>
            <p:cNvSpPr txBox="1"/>
            <p:nvPr/>
          </p:nvSpPr>
          <p:spPr>
            <a:xfrm>
              <a:off x="4243545" y="874787"/>
              <a:ext cx="636713" cy="338554"/>
            </a:xfrm>
            <a:prstGeom prst="rect">
              <a:avLst/>
            </a:prstGeom>
            <a:noFill/>
          </p:spPr>
          <p:txBody>
            <a:bodyPr wrap="none" rtlCol="0">
              <a:spAutoFit/>
            </a:bodyPr>
            <a:lstStyle/>
            <a:p>
              <a:r>
                <a:rPr lang="en-US" altLang="zh-CN" sz="1600" dirty="0">
                  <a:solidFill>
                    <a:srgbClr val="FF0000"/>
                  </a:solidFill>
                  <a:latin typeface="Montserrat" panose="00000500000000000000" pitchFamily="2" charset="0"/>
                  <a:ea typeface="微软雅黑 Light" panose="020B0502040204020203" pitchFamily="34" charset="-122"/>
                </a:rPr>
                <a:t>6.9.3</a:t>
              </a:r>
              <a:endParaRPr lang="zh-CN" altLang="en-US" sz="1600" dirty="0">
                <a:solidFill>
                  <a:srgbClr val="FF0000"/>
                </a:solidFill>
                <a:latin typeface="Montserrat" panose="00000500000000000000" pitchFamily="2" charset="0"/>
                <a:ea typeface="微软雅黑 Light" panose="020B0502040204020203" pitchFamily="34" charset="-122"/>
              </a:endParaRPr>
            </a:p>
          </p:txBody>
        </p:sp>
        <p:sp>
          <p:nvSpPr>
            <p:cNvPr id="22" name="文本框 21">
              <a:extLst>
                <a:ext uri="{FF2B5EF4-FFF2-40B4-BE49-F238E27FC236}">
                  <a16:creationId xmlns:a16="http://schemas.microsoft.com/office/drawing/2014/main" id="{7FF3C563-AB68-A3C4-2CF8-F238BD6EDA14}"/>
                </a:ext>
              </a:extLst>
            </p:cNvPr>
            <p:cNvSpPr txBox="1"/>
            <p:nvPr/>
          </p:nvSpPr>
          <p:spPr>
            <a:xfrm>
              <a:off x="4838580" y="874787"/>
              <a:ext cx="2036135" cy="338554"/>
            </a:xfrm>
            <a:prstGeom prst="rect">
              <a:avLst/>
            </a:prstGeom>
            <a:noFill/>
          </p:spPr>
          <p:txBody>
            <a:bodyPr wrap="none" rtlCol="0">
              <a:spAutoFit/>
            </a:bodyPr>
            <a:lstStyle/>
            <a:p>
              <a:r>
                <a:rPr lang="en-US" altLang="zh-CN" sz="1600" dirty="0">
                  <a:latin typeface="微软雅黑 Light" panose="020B0502040204020203" pitchFamily="34" charset="-122"/>
                  <a:ea typeface="微软雅黑 Light" panose="020B0502040204020203" pitchFamily="34" charset="-122"/>
                </a:rPr>
                <a:t>P2P </a:t>
              </a:r>
              <a:r>
                <a:rPr lang="zh-CN" altLang="en-US" sz="1600" dirty="0">
                  <a:latin typeface="微软雅黑 Light" panose="020B0502040204020203" pitchFamily="34" charset="-122"/>
                  <a:ea typeface="微软雅黑 Light" panose="020B0502040204020203" pitchFamily="34" charset="-122"/>
                </a:rPr>
                <a:t>文件分发的分析</a:t>
              </a:r>
              <a:endParaRPr lang="zh-CN" altLang="en-US" sz="1600" dirty="0">
                <a:latin typeface="Montserrat" panose="00000500000000000000" pitchFamily="2" charset="0"/>
                <a:ea typeface="微软雅黑 Light" panose="020B0502040204020203" pitchFamily="34" charset="-122"/>
              </a:endParaRPr>
            </a:p>
          </p:txBody>
        </p:sp>
      </p:grpSp>
      <p:grpSp>
        <p:nvGrpSpPr>
          <p:cNvPr id="23" name="组合 22">
            <a:extLst>
              <a:ext uri="{FF2B5EF4-FFF2-40B4-BE49-F238E27FC236}">
                <a16:creationId xmlns:a16="http://schemas.microsoft.com/office/drawing/2014/main" id="{E3909E45-E775-CE7C-1E71-6DE720AF26BE}"/>
              </a:ext>
            </a:extLst>
          </p:cNvPr>
          <p:cNvGrpSpPr/>
          <p:nvPr/>
        </p:nvGrpSpPr>
        <p:grpSpPr>
          <a:xfrm>
            <a:off x="3631653" y="3464348"/>
            <a:ext cx="3102453" cy="338554"/>
            <a:chOff x="4243545" y="874787"/>
            <a:chExt cx="3102453" cy="338554"/>
          </a:xfrm>
        </p:grpSpPr>
        <p:sp>
          <p:nvSpPr>
            <p:cNvPr id="24" name="文本框 23">
              <a:extLst>
                <a:ext uri="{FF2B5EF4-FFF2-40B4-BE49-F238E27FC236}">
                  <a16:creationId xmlns:a16="http://schemas.microsoft.com/office/drawing/2014/main" id="{8842A888-5140-58EF-8191-D2060D873274}"/>
                </a:ext>
              </a:extLst>
            </p:cNvPr>
            <p:cNvSpPr txBox="1"/>
            <p:nvPr/>
          </p:nvSpPr>
          <p:spPr>
            <a:xfrm>
              <a:off x="4243545" y="874787"/>
              <a:ext cx="657552" cy="338554"/>
            </a:xfrm>
            <a:prstGeom prst="rect">
              <a:avLst/>
            </a:prstGeom>
            <a:noFill/>
          </p:spPr>
          <p:txBody>
            <a:bodyPr wrap="none" rtlCol="0">
              <a:spAutoFit/>
            </a:bodyPr>
            <a:lstStyle/>
            <a:p>
              <a:r>
                <a:rPr lang="en-US" altLang="zh-CN" sz="1600" dirty="0">
                  <a:solidFill>
                    <a:srgbClr val="FF0000"/>
                  </a:solidFill>
                  <a:latin typeface="Montserrat" panose="00000500000000000000" pitchFamily="2" charset="0"/>
                  <a:ea typeface="微软雅黑 Light" panose="020B0502040204020203" pitchFamily="34" charset="-122"/>
                </a:rPr>
                <a:t>6.9.4</a:t>
              </a:r>
              <a:endParaRPr lang="zh-CN" altLang="en-US" sz="1600" dirty="0">
                <a:solidFill>
                  <a:srgbClr val="FF0000"/>
                </a:solidFill>
                <a:latin typeface="Montserrat" panose="00000500000000000000" pitchFamily="2" charset="0"/>
                <a:ea typeface="微软雅黑 Light" panose="020B0502040204020203" pitchFamily="34" charset="-122"/>
              </a:endParaRPr>
            </a:p>
          </p:txBody>
        </p:sp>
        <p:sp>
          <p:nvSpPr>
            <p:cNvPr id="25" name="文本框 24">
              <a:extLst>
                <a:ext uri="{FF2B5EF4-FFF2-40B4-BE49-F238E27FC236}">
                  <a16:creationId xmlns:a16="http://schemas.microsoft.com/office/drawing/2014/main" id="{88ED28D2-B49F-3712-CADD-A6882B2099A4}"/>
                </a:ext>
              </a:extLst>
            </p:cNvPr>
            <p:cNvSpPr txBox="1"/>
            <p:nvPr/>
          </p:nvSpPr>
          <p:spPr>
            <a:xfrm>
              <a:off x="4838580" y="874787"/>
              <a:ext cx="2507418" cy="338554"/>
            </a:xfrm>
            <a:prstGeom prst="rect">
              <a:avLst/>
            </a:prstGeom>
            <a:noFill/>
          </p:spPr>
          <p:txBody>
            <a:bodyPr wrap="none" rtlCol="0">
              <a:spAutoFit/>
            </a:bodyPr>
            <a:lstStyle/>
            <a:p>
              <a:r>
                <a:rPr lang="zh-CN" altLang="en-US" sz="1600" dirty="0">
                  <a:latin typeface="微软雅黑 Light" panose="020B0502040204020203" pitchFamily="34" charset="-122"/>
                  <a:ea typeface="微软雅黑 Light" panose="020B0502040204020203" pitchFamily="34" charset="-122"/>
                </a:rPr>
                <a:t>在 </a:t>
              </a:r>
              <a:r>
                <a:rPr lang="en-US" altLang="zh-CN" sz="1600" dirty="0">
                  <a:latin typeface="微软雅黑 Light" panose="020B0502040204020203" pitchFamily="34" charset="-122"/>
                  <a:ea typeface="微软雅黑 Light" panose="020B0502040204020203" pitchFamily="34" charset="-122"/>
                </a:rPr>
                <a:t>P2P </a:t>
              </a:r>
              <a:r>
                <a:rPr lang="zh-CN" altLang="en-US" sz="1600" dirty="0">
                  <a:latin typeface="微软雅黑 Light" panose="020B0502040204020203" pitchFamily="34" charset="-122"/>
                  <a:ea typeface="微软雅黑 Light" panose="020B0502040204020203" pitchFamily="34" charset="-122"/>
                </a:rPr>
                <a:t>对等方中搜索对象</a:t>
              </a:r>
              <a:endParaRPr lang="zh-CN" altLang="en-US" sz="1600" dirty="0">
                <a:latin typeface="Montserrat" panose="00000500000000000000" pitchFamily="2" charset="0"/>
                <a:ea typeface="微软雅黑 Light" panose="020B0502040204020203" pitchFamily="34" charset="-122"/>
              </a:endParaRPr>
            </a:p>
          </p:txBody>
        </p:sp>
      </p:grpSp>
      <p:sp>
        <p:nvSpPr>
          <p:cNvPr id="26" name="Rectangle 29">
            <a:extLst>
              <a:ext uri="{FF2B5EF4-FFF2-40B4-BE49-F238E27FC236}">
                <a16:creationId xmlns:a16="http://schemas.microsoft.com/office/drawing/2014/main" id="{6C47C291-1EFF-A69F-CA05-F26CA1F6C8FD}"/>
              </a:ext>
            </a:extLst>
          </p:cNvPr>
          <p:cNvSpPr>
            <a:spLocks noChangeArrowheads="1"/>
          </p:cNvSpPr>
          <p:nvPr/>
        </p:nvSpPr>
        <p:spPr bwMode="auto">
          <a:xfrm>
            <a:off x="3631653" y="1277784"/>
            <a:ext cx="2506071"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solidFill>
                  <a:srgbClr val="C00000"/>
                </a:solidFill>
                <a:latin typeface="Montserrat" panose="00000500000000000000" pitchFamily="2" charset="0"/>
                <a:ea typeface="微软雅黑 Light" panose="020B0502040204020203" pitchFamily="34" charset="-122"/>
              </a:rPr>
              <a:t>6.9</a:t>
            </a:r>
            <a:r>
              <a:rPr lang="en-US" altLang="zh-CN" sz="2000" dirty="0">
                <a:latin typeface="Montserrat" panose="00000500000000000000" pitchFamily="2" charset="0"/>
                <a:ea typeface="微软雅黑 Light" panose="020B0502040204020203" pitchFamily="34" charset="-122"/>
              </a:rPr>
              <a:t> P2P </a:t>
            </a:r>
            <a:r>
              <a:rPr lang="zh-CN" altLang="en-US" sz="2000" dirty="0">
                <a:latin typeface="Montserrat" panose="00000500000000000000" pitchFamily="2" charset="0"/>
                <a:ea typeface="微软雅黑 Light" panose="020B0502040204020203" pitchFamily="34" charset="-122"/>
              </a:rPr>
              <a:t>应用</a:t>
            </a:r>
            <a:endParaRPr lang="zh-CN" altLang="fr-FR" sz="2000" dirty="0">
              <a:latin typeface="Montserrat" panose="00000500000000000000" pitchFamily="2" charset="0"/>
              <a:ea typeface="微软雅黑 Light" panose="020B0502040204020203" pitchFamily="34" charset="-122"/>
            </a:endParaRPr>
          </a:p>
        </p:txBody>
      </p:sp>
      <p:grpSp>
        <p:nvGrpSpPr>
          <p:cNvPr id="27" name="组合 26">
            <a:extLst>
              <a:ext uri="{FF2B5EF4-FFF2-40B4-BE49-F238E27FC236}">
                <a16:creationId xmlns:a16="http://schemas.microsoft.com/office/drawing/2014/main" id="{7E2D8212-BDFA-ACFC-C137-4CAFFBFF2E30}"/>
              </a:ext>
            </a:extLst>
          </p:cNvPr>
          <p:cNvGrpSpPr/>
          <p:nvPr/>
        </p:nvGrpSpPr>
        <p:grpSpPr>
          <a:xfrm>
            <a:off x="3631653" y="1854718"/>
            <a:ext cx="1191673" cy="338554"/>
            <a:chOff x="4243545" y="874787"/>
            <a:chExt cx="1191673" cy="338554"/>
          </a:xfrm>
        </p:grpSpPr>
        <p:sp>
          <p:nvSpPr>
            <p:cNvPr id="28" name="文本框 27">
              <a:extLst>
                <a:ext uri="{FF2B5EF4-FFF2-40B4-BE49-F238E27FC236}">
                  <a16:creationId xmlns:a16="http://schemas.microsoft.com/office/drawing/2014/main" id="{6A8FF59E-A946-BC24-6CC3-7E67A67D922E}"/>
                </a:ext>
              </a:extLst>
            </p:cNvPr>
            <p:cNvSpPr txBox="1"/>
            <p:nvPr/>
          </p:nvSpPr>
          <p:spPr>
            <a:xfrm>
              <a:off x="4243545" y="874787"/>
              <a:ext cx="657552" cy="338554"/>
            </a:xfrm>
            <a:prstGeom prst="rect">
              <a:avLst/>
            </a:prstGeom>
            <a:noFill/>
          </p:spPr>
          <p:txBody>
            <a:bodyPr wrap="none" rtlCol="0">
              <a:spAutoFit/>
            </a:bodyPr>
            <a:lstStyle/>
            <a:p>
              <a:r>
                <a:rPr lang="en-US" altLang="zh-CN" sz="1600" dirty="0">
                  <a:solidFill>
                    <a:srgbClr val="FF0000"/>
                  </a:solidFill>
                  <a:latin typeface="Montserrat" panose="00000500000000000000" pitchFamily="2" charset="0"/>
                  <a:ea typeface="微软雅黑 Light" panose="020B0502040204020203" pitchFamily="34" charset="-122"/>
                </a:rPr>
                <a:t>6.9.0</a:t>
              </a:r>
              <a:endParaRPr lang="zh-CN" altLang="en-US" sz="1600" dirty="0">
                <a:solidFill>
                  <a:srgbClr val="FF0000"/>
                </a:solidFill>
                <a:latin typeface="Montserrat" panose="00000500000000000000" pitchFamily="2" charset="0"/>
                <a:ea typeface="微软雅黑 Light" panose="020B0502040204020203" pitchFamily="34" charset="-122"/>
              </a:endParaRPr>
            </a:p>
          </p:txBody>
        </p:sp>
        <p:sp>
          <p:nvSpPr>
            <p:cNvPr id="29" name="文本框 28">
              <a:extLst>
                <a:ext uri="{FF2B5EF4-FFF2-40B4-BE49-F238E27FC236}">
                  <a16:creationId xmlns:a16="http://schemas.microsoft.com/office/drawing/2014/main" id="{C108C08C-6731-B8D6-8EAE-D34385B286D3}"/>
                </a:ext>
              </a:extLst>
            </p:cNvPr>
            <p:cNvSpPr txBox="1"/>
            <p:nvPr/>
          </p:nvSpPr>
          <p:spPr>
            <a:xfrm>
              <a:off x="4838580" y="874787"/>
              <a:ext cx="596638" cy="338554"/>
            </a:xfrm>
            <a:prstGeom prst="rect">
              <a:avLst/>
            </a:prstGeom>
            <a:noFill/>
          </p:spPr>
          <p:txBody>
            <a:bodyPr wrap="none" rtlCol="0">
              <a:spAutoFit/>
            </a:bodyPr>
            <a:lstStyle/>
            <a:p>
              <a:r>
                <a:rPr lang="en-US" altLang="zh-CN" sz="1600" dirty="0">
                  <a:latin typeface="Montserrat" panose="00000500000000000000" pitchFamily="2" charset="0"/>
                  <a:ea typeface="微软雅黑 Light" panose="020B0502040204020203" pitchFamily="34" charset="-122"/>
                </a:rPr>
                <a:t>P2P</a:t>
              </a:r>
              <a:endParaRPr lang="zh-CN" altLang="en-US" sz="1600" dirty="0">
                <a:latin typeface="Montserrat" panose="00000500000000000000" pitchFamily="2" charset="0"/>
                <a:ea typeface="微软雅黑 Light" panose="020B0502040204020203" pitchFamily="34" charset="-122"/>
              </a:endParaRPr>
            </a:p>
          </p:txBody>
        </p:sp>
      </p:grpSp>
    </p:spTree>
    <p:extLst>
      <p:ext uri="{BB962C8B-B14F-4D97-AF65-F5344CB8AC3E}">
        <p14:creationId xmlns:p14="http://schemas.microsoft.com/office/powerpoint/2010/main" val="16488890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Line 6">
            <a:extLst>
              <a:ext uri="{FF2B5EF4-FFF2-40B4-BE49-F238E27FC236}">
                <a16:creationId xmlns:a16="http://schemas.microsoft.com/office/drawing/2014/main" id="{F8FAFB5A-AC43-C234-948E-17670A18F530}"/>
              </a:ext>
            </a:extLst>
          </p:cNvPr>
          <p:cNvSpPr>
            <a:spLocks noChangeShapeType="1"/>
          </p:cNvSpPr>
          <p:nvPr/>
        </p:nvSpPr>
        <p:spPr bwMode="auto">
          <a:xfrm flipH="1" flipV="1">
            <a:off x="2985500" y="3078136"/>
            <a:ext cx="772509" cy="269821"/>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Montserrat" panose="00000500000000000000" pitchFamily="2" charset="0"/>
              <a:ea typeface="微软雅黑 Light" panose="020B0502040204020203" pitchFamily="34" charset="-122"/>
            </a:endParaRPr>
          </a:p>
        </p:txBody>
      </p:sp>
      <p:sp>
        <p:nvSpPr>
          <p:cNvPr id="11" name="Line 7">
            <a:extLst>
              <a:ext uri="{FF2B5EF4-FFF2-40B4-BE49-F238E27FC236}">
                <a16:creationId xmlns:a16="http://schemas.microsoft.com/office/drawing/2014/main" id="{C272F48E-7F83-69E7-848B-1C35AFEE4CFF}"/>
              </a:ext>
            </a:extLst>
          </p:cNvPr>
          <p:cNvSpPr>
            <a:spLocks noChangeShapeType="1"/>
          </p:cNvSpPr>
          <p:nvPr/>
        </p:nvSpPr>
        <p:spPr bwMode="auto">
          <a:xfrm flipH="1">
            <a:off x="5414021" y="3356730"/>
            <a:ext cx="783490" cy="0"/>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Montserrat" panose="00000500000000000000" pitchFamily="2" charset="0"/>
              <a:ea typeface="微软雅黑 Light" panose="020B0502040204020203" pitchFamily="34" charset="-122"/>
            </a:endParaRPr>
          </a:p>
        </p:txBody>
      </p:sp>
      <p:sp>
        <p:nvSpPr>
          <p:cNvPr id="12" name="Line 8">
            <a:extLst>
              <a:ext uri="{FF2B5EF4-FFF2-40B4-BE49-F238E27FC236}">
                <a16:creationId xmlns:a16="http://schemas.microsoft.com/office/drawing/2014/main" id="{DB3D1EAE-3555-D06E-FEF9-56C2D0E3FDD4}"/>
              </a:ext>
            </a:extLst>
          </p:cNvPr>
          <p:cNvSpPr>
            <a:spLocks noChangeShapeType="1"/>
          </p:cNvSpPr>
          <p:nvPr/>
        </p:nvSpPr>
        <p:spPr bwMode="auto">
          <a:xfrm flipH="1">
            <a:off x="4893439" y="2410822"/>
            <a:ext cx="449997" cy="669683"/>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Montserrat" panose="00000500000000000000" pitchFamily="2" charset="0"/>
              <a:ea typeface="微软雅黑 Light" panose="020B0502040204020203" pitchFamily="34" charset="-122"/>
            </a:endParaRPr>
          </a:p>
        </p:txBody>
      </p:sp>
      <p:sp>
        <p:nvSpPr>
          <p:cNvPr id="13" name="Line 9">
            <a:extLst>
              <a:ext uri="{FF2B5EF4-FFF2-40B4-BE49-F238E27FC236}">
                <a16:creationId xmlns:a16="http://schemas.microsoft.com/office/drawing/2014/main" id="{44C30A27-53DD-7298-8FD1-50A83B2CCBB1}"/>
              </a:ext>
            </a:extLst>
          </p:cNvPr>
          <p:cNvSpPr>
            <a:spLocks noChangeShapeType="1"/>
          </p:cNvSpPr>
          <p:nvPr/>
        </p:nvSpPr>
        <p:spPr bwMode="auto">
          <a:xfrm flipH="1" flipV="1">
            <a:off x="4888716" y="3827203"/>
            <a:ext cx="397570" cy="394714"/>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Montserrat" panose="00000500000000000000" pitchFamily="2" charset="0"/>
              <a:ea typeface="微软雅黑 Light" panose="020B0502040204020203" pitchFamily="34" charset="-122"/>
            </a:endParaRPr>
          </a:p>
        </p:txBody>
      </p:sp>
      <p:sp>
        <p:nvSpPr>
          <p:cNvPr id="14" name="Line 10">
            <a:extLst>
              <a:ext uri="{FF2B5EF4-FFF2-40B4-BE49-F238E27FC236}">
                <a16:creationId xmlns:a16="http://schemas.microsoft.com/office/drawing/2014/main" id="{6B4F092D-C0D3-CA58-1BD2-50E68D96CE30}"/>
              </a:ext>
            </a:extLst>
          </p:cNvPr>
          <p:cNvSpPr>
            <a:spLocks noChangeShapeType="1"/>
          </p:cNvSpPr>
          <p:nvPr/>
        </p:nvSpPr>
        <p:spPr bwMode="auto">
          <a:xfrm>
            <a:off x="3574359" y="2505016"/>
            <a:ext cx="451453" cy="483413"/>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Montserrat" panose="00000500000000000000" pitchFamily="2" charset="0"/>
              <a:ea typeface="微软雅黑 Light" panose="020B0502040204020203" pitchFamily="34" charset="-122"/>
            </a:endParaRPr>
          </a:p>
        </p:txBody>
      </p:sp>
      <p:sp>
        <p:nvSpPr>
          <p:cNvPr id="15" name="Line 11">
            <a:extLst>
              <a:ext uri="{FF2B5EF4-FFF2-40B4-BE49-F238E27FC236}">
                <a16:creationId xmlns:a16="http://schemas.microsoft.com/office/drawing/2014/main" id="{E158CAD3-0E5A-A773-76CD-F45B45AAF6DF}"/>
              </a:ext>
            </a:extLst>
          </p:cNvPr>
          <p:cNvSpPr>
            <a:spLocks noChangeShapeType="1"/>
          </p:cNvSpPr>
          <p:nvPr/>
        </p:nvSpPr>
        <p:spPr bwMode="auto">
          <a:xfrm flipV="1">
            <a:off x="3965814" y="3782995"/>
            <a:ext cx="91747" cy="548460"/>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Montserrat" panose="00000500000000000000" pitchFamily="2" charset="0"/>
              <a:ea typeface="微软雅黑 Light" panose="020B0502040204020203" pitchFamily="34" charset="-122"/>
            </a:endParaRPr>
          </a:p>
        </p:txBody>
      </p:sp>
      <p:sp>
        <p:nvSpPr>
          <p:cNvPr id="52" name="云形 51">
            <a:extLst>
              <a:ext uri="{FF2B5EF4-FFF2-40B4-BE49-F238E27FC236}">
                <a16:creationId xmlns:a16="http://schemas.microsoft.com/office/drawing/2014/main" id="{7B232DDD-B483-200B-026F-155B951FF70C}"/>
              </a:ext>
            </a:extLst>
          </p:cNvPr>
          <p:cNvSpPr/>
          <p:nvPr/>
        </p:nvSpPr>
        <p:spPr>
          <a:xfrm>
            <a:off x="3321003" y="2690913"/>
            <a:ext cx="2347402" cy="1246103"/>
          </a:xfrm>
          <a:prstGeom prst="cloud">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A3D903DF-B419-8C7C-6467-60EF15D5F893}"/>
              </a:ext>
            </a:extLst>
          </p:cNvPr>
          <p:cNvSpPr>
            <a:spLocks noGrp="1"/>
          </p:cNvSpPr>
          <p:nvPr>
            <p:ph type="title"/>
          </p:nvPr>
        </p:nvSpPr>
        <p:spPr>
          <a:xfrm>
            <a:off x="485999" y="144000"/>
            <a:ext cx="8171999" cy="338554"/>
          </a:xfrm>
        </p:spPr>
        <p:txBody>
          <a:bodyPr/>
          <a:lstStyle/>
          <a:p>
            <a:r>
              <a:rPr lang="en-US" altLang="zh-CN" dirty="0"/>
              <a:t>6.9.0 P2P</a:t>
            </a:r>
            <a:endParaRPr lang="zh-CN" altLang="en-US" dirty="0"/>
          </a:p>
        </p:txBody>
      </p:sp>
      <p:sp>
        <p:nvSpPr>
          <p:cNvPr id="3" name="内容占位符 2">
            <a:extLst>
              <a:ext uri="{FF2B5EF4-FFF2-40B4-BE49-F238E27FC236}">
                <a16:creationId xmlns:a16="http://schemas.microsoft.com/office/drawing/2014/main" id="{162ADCCB-9777-D965-EC11-7B42BB555E22}"/>
              </a:ext>
            </a:extLst>
          </p:cNvPr>
          <p:cNvSpPr>
            <a:spLocks noGrp="1"/>
          </p:cNvSpPr>
          <p:nvPr>
            <p:ph sz="quarter" idx="11"/>
          </p:nvPr>
        </p:nvSpPr>
        <p:spPr>
          <a:xfrm>
            <a:off x="486000" y="687518"/>
            <a:ext cx="8172000" cy="4079035"/>
          </a:xfrm>
        </p:spPr>
        <p:txBody>
          <a:bodyPr/>
          <a:lstStyle/>
          <a:p>
            <a:r>
              <a:rPr lang="zh-CN" altLang="en-US" dirty="0"/>
              <a:t>两台主机在通信时不区分服务请求方和服务提供方</a:t>
            </a:r>
          </a:p>
          <a:p>
            <a:r>
              <a:rPr lang="zh-CN" altLang="en-US" dirty="0"/>
              <a:t>运行 </a:t>
            </a:r>
            <a:r>
              <a:rPr lang="en-US" altLang="zh-CN" dirty="0"/>
              <a:t>P2P </a:t>
            </a:r>
            <a:r>
              <a:rPr lang="zh-CN" altLang="en-US" dirty="0"/>
              <a:t>软件</a:t>
            </a:r>
            <a:endParaRPr lang="en-US" altLang="zh-CN" dirty="0"/>
          </a:p>
          <a:p>
            <a:r>
              <a:rPr lang="zh-CN" altLang="en-US" dirty="0"/>
              <a:t>对等连接通信</a:t>
            </a:r>
            <a:endParaRPr lang="en-US" altLang="zh-CN" dirty="0"/>
          </a:p>
          <a:p>
            <a:pPr lvl="1"/>
            <a:r>
              <a:rPr lang="zh-CN" altLang="en-US" dirty="0"/>
              <a:t>对等连接方式从本质上看仍然是使用客户服务器方式</a:t>
            </a:r>
            <a:endParaRPr lang="en-US" altLang="zh-CN" dirty="0"/>
          </a:p>
          <a:p>
            <a:pPr lvl="1"/>
            <a:r>
              <a:rPr lang="zh-CN" altLang="en-US" dirty="0"/>
              <a:t>对等连接中的每一个主机既是客户又是服务器</a:t>
            </a:r>
          </a:p>
          <a:p>
            <a:endParaRPr lang="zh-CN" altLang="en-US" dirty="0"/>
          </a:p>
          <a:p>
            <a:endParaRPr lang="zh-CN" altLang="en-US" dirty="0"/>
          </a:p>
        </p:txBody>
      </p:sp>
      <p:sp>
        <p:nvSpPr>
          <p:cNvPr id="8" name="Oval 4">
            <a:extLst>
              <a:ext uri="{FF2B5EF4-FFF2-40B4-BE49-F238E27FC236}">
                <a16:creationId xmlns:a16="http://schemas.microsoft.com/office/drawing/2014/main" id="{6196F85F-EFC0-BCDE-6EF0-F465734B1A2C}"/>
              </a:ext>
            </a:extLst>
          </p:cNvPr>
          <p:cNvSpPr>
            <a:spLocks noChangeArrowheads="1"/>
          </p:cNvSpPr>
          <p:nvPr/>
        </p:nvSpPr>
        <p:spPr bwMode="auto">
          <a:xfrm>
            <a:off x="2351314" y="1950294"/>
            <a:ext cx="4441371" cy="2816969"/>
          </a:xfrm>
          <a:prstGeom prst="ellipse">
            <a:avLst/>
          </a:prstGeom>
          <a:noFill/>
          <a:ln w="9525">
            <a:solidFill>
              <a:schemeClr val="tx1"/>
            </a:solidFill>
            <a:prstDash val="lgDash"/>
          </a:ln>
          <a:effectLst/>
          <a:scene3d>
            <a:camera prst="orthographicFront">
              <a:rot lat="0" lon="0" rev="0"/>
            </a:camera>
            <a:lightRig rig="contrasting" dir="t">
              <a:rot lat="0" lon="0" rev="7800000"/>
            </a:lightRig>
          </a:scene3d>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latin typeface="Montserrat" panose="00000500000000000000" pitchFamily="2" charset="0"/>
              <a:ea typeface="微软雅黑 Light" panose="020B0502040204020203" pitchFamily="34" charset="-122"/>
            </a:endParaRPr>
          </a:p>
        </p:txBody>
      </p:sp>
      <p:sp>
        <p:nvSpPr>
          <p:cNvPr id="9" name="Line 5">
            <a:extLst>
              <a:ext uri="{FF2B5EF4-FFF2-40B4-BE49-F238E27FC236}">
                <a16:creationId xmlns:a16="http://schemas.microsoft.com/office/drawing/2014/main" id="{4F5DBDF3-5F55-0651-D87A-67739DA46227}"/>
              </a:ext>
            </a:extLst>
          </p:cNvPr>
          <p:cNvSpPr>
            <a:spLocks noChangeShapeType="1"/>
          </p:cNvSpPr>
          <p:nvPr/>
        </p:nvSpPr>
        <p:spPr bwMode="auto">
          <a:xfrm flipV="1">
            <a:off x="3235382" y="3634142"/>
            <a:ext cx="512618" cy="338537"/>
          </a:xfrm>
          <a:prstGeom prst="line">
            <a:avLst/>
          </a:prstGeom>
          <a:noFill/>
          <a:ln w="28575">
            <a:solidFill>
              <a:srgbClr val="0080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Montserrat" panose="00000500000000000000" pitchFamily="2" charset="0"/>
              <a:ea typeface="微软雅黑 Light" panose="020B0502040204020203" pitchFamily="34" charset="-122"/>
            </a:endParaRPr>
          </a:p>
        </p:txBody>
      </p:sp>
      <p:sp>
        <p:nvSpPr>
          <p:cNvPr id="27" name="Text Box 28">
            <a:extLst>
              <a:ext uri="{FF2B5EF4-FFF2-40B4-BE49-F238E27FC236}">
                <a16:creationId xmlns:a16="http://schemas.microsoft.com/office/drawing/2014/main" id="{4D7A48C8-9F9B-F7C8-756B-B8D5C9850655}"/>
              </a:ext>
            </a:extLst>
          </p:cNvPr>
          <p:cNvSpPr txBox="1">
            <a:spLocks noChangeArrowheads="1"/>
          </p:cNvSpPr>
          <p:nvPr/>
        </p:nvSpPr>
        <p:spPr bwMode="auto">
          <a:xfrm>
            <a:off x="4142331" y="3321876"/>
            <a:ext cx="1090078" cy="307777"/>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400" dirty="0">
                <a:latin typeface="Montserrat" panose="00000500000000000000" pitchFamily="2" charset="0"/>
                <a:ea typeface="微软雅黑 Light" panose="020B0502040204020203" pitchFamily="34" charset="-122"/>
              </a:rPr>
              <a:t>网络核心</a:t>
            </a:r>
          </a:p>
        </p:txBody>
      </p:sp>
      <p:sp>
        <p:nvSpPr>
          <p:cNvPr id="28" name="Text Box 30">
            <a:extLst>
              <a:ext uri="{FF2B5EF4-FFF2-40B4-BE49-F238E27FC236}">
                <a16:creationId xmlns:a16="http://schemas.microsoft.com/office/drawing/2014/main" id="{B5026941-0CFD-3946-D3D8-A710CE4B138F}"/>
              </a:ext>
            </a:extLst>
          </p:cNvPr>
          <p:cNvSpPr txBox="1">
            <a:spLocks noChangeArrowheads="1"/>
          </p:cNvSpPr>
          <p:nvPr/>
        </p:nvSpPr>
        <p:spPr bwMode="auto">
          <a:xfrm>
            <a:off x="5541300" y="2482375"/>
            <a:ext cx="1370528" cy="261610"/>
          </a:xfrm>
          <a:prstGeom prst="rect">
            <a:avLst/>
          </a:prstGeom>
          <a:solidFill>
            <a:schemeClr val="bg1"/>
          </a:solid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100" dirty="0">
                <a:latin typeface="Montserrat" panose="00000500000000000000" pitchFamily="2" charset="0"/>
                <a:ea typeface="微软雅黑 Light" panose="020B0502040204020203" pitchFamily="34" charset="-122"/>
              </a:rPr>
              <a:t>运行</a:t>
            </a:r>
            <a:r>
              <a:rPr kumimoji="1" lang="en-US" altLang="zh-CN" sz="1100" dirty="0">
                <a:latin typeface="Montserrat" panose="00000500000000000000" pitchFamily="2" charset="0"/>
                <a:ea typeface="微软雅黑 Light" panose="020B0502040204020203" pitchFamily="34" charset="-122"/>
              </a:rPr>
              <a:t>P2P </a:t>
            </a:r>
            <a:r>
              <a:rPr kumimoji="1" lang="zh-CN" altLang="en-US" sz="1100" dirty="0">
                <a:latin typeface="Montserrat" panose="00000500000000000000" pitchFamily="2" charset="0"/>
                <a:ea typeface="微软雅黑 Light" panose="020B0502040204020203" pitchFamily="34" charset="-122"/>
              </a:rPr>
              <a:t>程序</a:t>
            </a:r>
          </a:p>
        </p:txBody>
      </p:sp>
      <p:sp>
        <p:nvSpPr>
          <p:cNvPr id="29" name="Text Box 31">
            <a:extLst>
              <a:ext uri="{FF2B5EF4-FFF2-40B4-BE49-F238E27FC236}">
                <a16:creationId xmlns:a16="http://schemas.microsoft.com/office/drawing/2014/main" id="{D3AC7E9B-A6DF-AD23-02F2-508AE5090317}"/>
              </a:ext>
            </a:extLst>
          </p:cNvPr>
          <p:cNvSpPr txBox="1">
            <a:spLocks noChangeArrowheads="1"/>
          </p:cNvSpPr>
          <p:nvPr/>
        </p:nvSpPr>
        <p:spPr bwMode="auto">
          <a:xfrm>
            <a:off x="5580908" y="3990642"/>
            <a:ext cx="1162535" cy="261610"/>
          </a:xfrm>
          <a:prstGeom prst="rect">
            <a:avLst/>
          </a:prstGeom>
          <a:solidFill>
            <a:schemeClr val="bg1"/>
          </a:solidFill>
          <a:ln>
            <a:noFill/>
          </a:ln>
          <a:effectLst/>
        </p:spPr>
        <p:txBody>
          <a:bodyPr wrap="square">
            <a:spAutoFit/>
          </a:bodyPr>
          <a:lstStyle>
            <a:defPPr>
              <a:defRPr lang="zh-CN"/>
            </a:defPPr>
            <a:lvl1pPr algn="ctr">
              <a:defRPr kumimoji="1" sz="1100">
                <a:latin typeface="Montserrat" panose="00000500000000000000" pitchFamily="2" charset="0"/>
                <a:ea typeface="微软雅黑 Light" panose="020B0502040204020203" pitchFamily="34" charset="-122"/>
              </a:defRPr>
            </a:lvl1pPr>
            <a:lvl2pPr marL="742950" indent="-285750">
              <a:defRPr>
                <a:latin typeface="Calibri" panose="020F0502020204030204" pitchFamily="34" charset="0"/>
                <a:ea typeface="宋体" panose="02010600030101010101" pitchFamily="2" charset="-122"/>
              </a:defRPr>
            </a:lvl2pPr>
            <a:lvl3pPr marL="1143000" indent="-228600">
              <a:defRPr>
                <a:latin typeface="Calibri" panose="020F0502020204030204" pitchFamily="34" charset="0"/>
                <a:ea typeface="宋体" panose="02010600030101010101" pitchFamily="2" charset="-122"/>
              </a:defRPr>
            </a:lvl3pPr>
            <a:lvl4pPr marL="1600200" indent="-228600">
              <a:defRPr>
                <a:latin typeface="Calibri" panose="020F0502020204030204" pitchFamily="34" charset="0"/>
                <a:ea typeface="宋体" panose="02010600030101010101" pitchFamily="2" charset="-122"/>
              </a:defRPr>
            </a:lvl4pPr>
            <a:lvl5pPr marL="2057400" indent="-228600">
              <a:defRPr>
                <a:latin typeface="Calibri" panose="020F0502020204030204" pitchFamily="34" charset="0"/>
                <a:ea typeface="宋体" panose="02010600030101010101" pitchFamily="2" charset="-122"/>
              </a:defRPr>
            </a:lvl5pPr>
            <a:lvl6pPr marL="2514600" indent="-228600" fontAlgn="base">
              <a:spcBef>
                <a:spcPct val="0"/>
              </a:spcBef>
              <a:spcAft>
                <a:spcPct val="0"/>
              </a:spcAft>
              <a:defRPr>
                <a:latin typeface="Calibri" panose="020F0502020204030204" pitchFamily="34" charset="0"/>
                <a:ea typeface="宋体" panose="02010600030101010101" pitchFamily="2" charset="-122"/>
              </a:defRPr>
            </a:lvl6pPr>
            <a:lvl7pPr marL="2971800" indent="-228600" fontAlgn="base">
              <a:spcBef>
                <a:spcPct val="0"/>
              </a:spcBef>
              <a:spcAft>
                <a:spcPct val="0"/>
              </a:spcAft>
              <a:defRPr>
                <a:latin typeface="Calibri" panose="020F0502020204030204" pitchFamily="34" charset="0"/>
                <a:ea typeface="宋体" panose="02010600030101010101" pitchFamily="2" charset="-122"/>
              </a:defRPr>
            </a:lvl7pPr>
            <a:lvl8pPr marL="3429000" indent="-228600" fontAlgn="base">
              <a:spcBef>
                <a:spcPct val="0"/>
              </a:spcBef>
              <a:spcAft>
                <a:spcPct val="0"/>
              </a:spcAft>
              <a:defRPr>
                <a:latin typeface="Calibri" panose="020F0502020204030204" pitchFamily="34" charset="0"/>
                <a:ea typeface="宋体" panose="02010600030101010101" pitchFamily="2" charset="-122"/>
              </a:defRPr>
            </a:lvl8pPr>
            <a:lvl9pPr marL="3886200" indent="-228600" fontAlgn="base">
              <a:spcBef>
                <a:spcPct val="0"/>
              </a:spcBef>
              <a:spcAft>
                <a:spcPct val="0"/>
              </a:spcAft>
              <a:defRPr>
                <a:latin typeface="Calibri" panose="020F0502020204030204" pitchFamily="34" charset="0"/>
                <a:ea typeface="宋体" panose="02010600030101010101" pitchFamily="2" charset="-122"/>
              </a:defRPr>
            </a:lvl9pPr>
          </a:lstStyle>
          <a:p>
            <a:r>
              <a:rPr lang="zh-CN" altLang="en-US" dirty="0"/>
              <a:t>运行</a:t>
            </a:r>
            <a:r>
              <a:rPr lang="en-US" altLang="zh-CN" dirty="0"/>
              <a:t>P2P </a:t>
            </a:r>
            <a:r>
              <a:rPr lang="zh-CN" altLang="en-US" dirty="0"/>
              <a:t>程序</a:t>
            </a:r>
          </a:p>
        </p:txBody>
      </p:sp>
      <p:sp>
        <p:nvSpPr>
          <p:cNvPr id="30" name="Line 32">
            <a:extLst>
              <a:ext uri="{FF2B5EF4-FFF2-40B4-BE49-F238E27FC236}">
                <a16:creationId xmlns:a16="http://schemas.microsoft.com/office/drawing/2014/main" id="{18816B48-6758-661A-81AF-2DEC503D477F}"/>
              </a:ext>
            </a:extLst>
          </p:cNvPr>
          <p:cNvSpPr>
            <a:spLocks noChangeShapeType="1"/>
          </p:cNvSpPr>
          <p:nvPr/>
        </p:nvSpPr>
        <p:spPr bwMode="auto">
          <a:xfrm flipH="1">
            <a:off x="5363348" y="2599140"/>
            <a:ext cx="0" cy="1577377"/>
          </a:xfrm>
          <a:prstGeom prst="line">
            <a:avLst/>
          </a:prstGeom>
          <a:noFill/>
          <a:ln w="28575">
            <a:solidFill>
              <a:srgbClr val="CC00CC">
                <a:alpha val="79999"/>
              </a:srgbClr>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latin typeface="Montserrat" panose="00000500000000000000" pitchFamily="2" charset="0"/>
              <a:ea typeface="微软雅黑 Light" panose="020B0502040204020203" pitchFamily="34" charset="-122"/>
            </a:endParaRPr>
          </a:p>
        </p:txBody>
      </p:sp>
      <p:sp>
        <p:nvSpPr>
          <p:cNvPr id="31" name="Line 33">
            <a:extLst>
              <a:ext uri="{FF2B5EF4-FFF2-40B4-BE49-F238E27FC236}">
                <a16:creationId xmlns:a16="http://schemas.microsoft.com/office/drawing/2014/main" id="{51B02DC5-B80E-DCA0-A1E9-71B02ADBD78F}"/>
              </a:ext>
            </a:extLst>
          </p:cNvPr>
          <p:cNvSpPr>
            <a:spLocks noChangeShapeType="1"/>
          </p:cNvSpPr>
          <p:nvPr/>
        </p:nvSpPr>
        <p:spPr bwMode="auto">
          <a:xfrm flipH="1" flipV="1">
            <a:off x="5542118" y="2410288"/>
            <a:ext cx="231860" cy="132613"/>
          </a:xfrm>
          <a:prstGeom prst="line">
            <a:avLst/>
          </a:prstGeom>
          <a:noFill/>
          <a:ln w="19050">
            <a:solidFill>
              <a:schemeClr val="tx1"/>
            </a:solidFill>
            <a:prstDash val="sysDash"/>
            <a:round/>
            <a:headEnd type="triangle"/>
            <a:tailEnd type="none"/>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latin typeface="Montserrat" panose="00000500000000000000" pitchFamily="2" charset="0"/>
              <a:ea typeface="微软雅黑 Light" panose="020B0502040204020203" pitchFamily="34" charset="-122"/>
            </a:endParaRPr>
          </a:p>
        </p:txBody>
      </p:sp>
      <p:sp>
        <p:nvSpPr>
          <p:cNvPr id="32" name="Line 34">
            <a:extLst>
              <a:ext uri="{FF2B5EF4-FFF2-40B4-BE49-F238E27FC236}">
                <a16:creationId xmlns:a16="http://schemas.microsoft.com/office/drawing/2014/main" id="{19CC8C87-ECFF-878E-7E8C-5CC5287D3CD0}"/>
              </a:ext>
            </a:extLst>
          </p:cNvPr>
          <p:cNvSpPr>
            <a:spLocks noChangeShapeType="1"/>
          </p:cNvSpPr>
          <p:nvPr/>
        </p:nvSpPr>
        <p:spPr bwMode="auto">
          <a:xfrm flipH="1">
            <a:off x="5567793" y="4201725"/>
            <a:ext cx="232938" cy="129730"/>
          </a:xfrm>
          <a:prstGeom prst="line">
            <a:avLst/>
          </a:prstGeom>
          <a:noFill/>
          <a:ln w="19050">
            <a:solidFill>
              <a:schemeClr val="tx1"/>
            </a:solidFill>
            <a:prstDash val="sysDash"/>
            <a:round/>
            <a:headEnd type="triangle"/>
            <a:tailEnd type="none"/>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latin typeface="Montserrat" panose="00000500000000000000" pitchFamily="2" charset="0"/>
              <a:ea typeface="微软雅黑 Light" panose="020B0502040204020203" pitchFamily="34" charset="-122"/>
            </a:endParaRPr>
          </a:p>
        </p:txBody>
      </p:sp>
      <p:sp>
        <p:nvSpPr>
          <p:cNvPr id="33" name="Text Box 35">
            <a:extLst>
              <a:ext uri="{FF2B5EF4-FFF2-40B4-BE49-F238E27FC236}">
                <a16:creationId xmlns:a16="http://schemas.microsoft.com/office/drawing/2014/main" id="{A12B16B7-E42B-B582-2C52-8454E558ED50}"/>
              </a:ext>
            </a:extLst>
          </p:cNvPr>
          <p:cNvSpPr txBox="1">
            <a:spLocks noChangeArrowheads="1"/>
          </p:cNvSpPr>
          <p:nvPr/>
        </p:nvSpPr>
        <p:spPr bwMode="auto">
          <a:xfrm>
            <a:off x="4893439" y="4237781"/>
            <a:ext cx="288517" cy="338554"/>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dirty="0">
                <a:latin typeface="Montserrat" panose="00000500000000000000" pitchFamily="2" charset="0"/>
                <a:ea typeface="微软雅黑 Light" panose="020B0502040204020203" pitchFamily="34" charset="-122"/>
              </a:rPr>
              <a:t>D</a:t>
            </a:r>
          </a:p>
        </p:txBody>
      </p:sp>
      <p:sp>
        <p:nvSpPr>
          <p:cNvPr id="34" name="Text Box 36">
            <a:extLst>
              <a:ext uri="{FF2B5EF4-FFF2-40B4-BE49-F238E27FC236}">
                <a16:creationId xmlns:a16="http://schemas.microsoft.com/office/drawing/2014/main" id="{E920EFC0-7C9B-3750-7E5F-A3BF75975F41}"/>
              </a:ext>
            </a:extLst>
          </p:cNvPr>
          <p:cNvSpPr txBox="1">
            <a:spLocks noChangeArrowheads="1"/>
          </p:cNvSpPr>
          <p:nvPr/>
        </p:nvSpPr>
        <p:spPr bwMode="auto">
          <a:xfrm>
            <a:off x="5465715" y="2128690"/>
            <a:ext cx="269400" cy="338554"/>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dirty="0">
                <a:latin typeface="Montserrat" panose="00000500000000000000" pitchFamily="2" charset="0"/>
                <a:ea typeface="微软雅黑 Light" panose="020B0502040204020203" pitchFamily="34" charset="-122"/>
              </a:rPr>
              <a:t>C</a:t>
            </a:r>
          </a:p>
        </p:txBody>
      </p:sp>
      <p:sp>
        <p:nvSpPr>
          <p:cNvPr id="35" name="Line 38">
            <a:extLst>
              <a:ext uri="{FF2B5EF4-FFF2-40B4-BE49-F238E27FC236}">
                <a16:creationId xmlns:a16="http://schemas.microsoft.com/office/drawing/2014/main" id="{7785B140-5F1A-B8E7-27AB-1AD8804E694A}"/>
              </a:ext>
            </a:extLst>
          </p:cNvPr>
          <p:cNvSpPr>
            <a:spLocks noChangeShapeType="1"/>
          </p:cNvSpPr>
          <p:nvPr/>
        </p:nvSpPr>
        <p:spPr bwMode="auto">
          <a:xfrm flipH="1">
            <a:off x="3329405" y="2669284"/>
            <a:ext cx="263066" cy="1113712"/>
          </a:xfrm>
          <a:prstGeom prst="line">
            <a:avLst/>
          </a:prstGeom>
          <a:noFill/>
          <a:ln w="28575">
            <a:solidFill>
              <a:srgbClr val="CC00CC">
                <a:alpha val="79999"/>
              </a:srgbClr>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latin typeface="Montserrat" panose="00000500000000000000" pitchFamily="2" charset="0"/>
              <a:ea typeface="微软雅黑 Light" panose="020B0502040204020203" pitchFamily="34" charset="-122"/>
            </a:endParaRPr>
          </a:p>
        </p:txBody>
      </p:sp>
      <p:sp>
        <p:nvSpPr>
          <p:cNvPr id="36" name="Text Box 39">
            <a:extLst>
              <a:ext uri="{FF2B5EF4-FFF2-40B4-BE49-F238E27FC236}">
                <a16:creationId xmlns:a16="http://schemas.microsoft.com/office/drawing/2014/main" id="{A378B0E8-0159-A601-D693-BD7BCCCB26AF}"/>
              </a:ext>
            </a:extLst>
          </p:cNvPr>
          <p:cNvSpPr txBox="1">
            <a:spLocks noChangeArrowheads="1"/>
          </p:cNvSpPr>
          <p:nvPr/>
        </p:nvSpPr>
        <p:spPr bwMode="auto">
          <a:xfrm>
            <a:off x="3647089" y="2064613"/>
            <a:ext cx="260577" cy="338554"/>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dirty="0">
                <a:latin typeface="Montserrat" panose="00000500000000000000" pitchFamily="2" charset="0"/>
                <a:ea typeface="微软雅黑 Light" panose="020B0502040204020203" pitchFamily="34" charset="-122"/>
              </a:rPr>
              <a:t>E</a:t>
            </a:r>
          </a:p>
        </p:txBody>
      </p:sp>
      <p:sp>
        <p:nvSpPr>
          <p:cNvPr id="37" name="Text Box 40">
            <a:extLst>
              <a:ext uri="{FF2B5EF4-FFF2-40B4-BE49-F238E27FC236}">
                <a16:creationId xmlns:a16="http://schemas.microsoft.com/office/drawing/2014/main" id="{827A4F61-8B87-3D7E-0333-1FE38CD60C7A}"/>
              </a:ext>
            </a:extLst>
          </p:cNvPr>
          <p:cNvSpPr txBox="1">
            <a:spLocks noChangeArrowheads="1"/>
          </p:cNvSpPr>
          <p:nvPr/>
        </p:nvSpPr>
        <p:spPr bwMode="auto">
          <a:xfrm>
            <a:off x="2893303" y="3997434"/>
            <a:ext cx="256166" cy="338554"/>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dirty="0">
                <a:latin typeface="Montserrat" panose="00000500000000000000" pitchFamily="2" charset="0"/>
                <a:ea typeface="微软雅黑 Light" panose="020B0502040204020203" pitchFamily="34" charset="-122"/>
              </a:rPr>
              <a:t>F</a:t>
            </a:r>
          </a:p>
        </p:txBody>
      </p:sp>
      <p:sp>
        <p:nvSpPr>
          <p:cNvPr id="38" name="Text Box 41">
            <a:extLst>
              <a:ext uri="{FF2B5EF4-FFF2-40B4-BE49-F238E27FC236}">
                <a16:creationId xmlns:a16="http://schemas.microsoft.com/office/drawing/2014/main" id="{5D7E9807-00AD-5097-D27D-61F86C244E0E}"/>
              </a:ext>
            </a:extLst>
          </p:cNvPr>
          <p:cNvSpPr txBox="1">
            <a:spLocks noChangeArrowheads="1"/>
          </p:cNvSpPr>
          <p:nvPr/>
        </p:nvSpPr>
        <p:spPr bwMode="auto">
          <a:xfrm>
            <a:off x="2166582" y="2466034"/>
            <a:ext cx="1170349" cy="261610"/>
          </a:xfrm>
          <a:prstGeom prst="rect">
            <a:avLst/>
          </a:prstGeom>
          <a:solidFill>
            <a:schemeClr val="bg1"/>
          </a:solid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100" dirty="0">
                <a:latin typeface="Montserrat" panose="00000500000000000000" pitchFamily="2" charset="0"/>
                <a:ea typeface="微软雅黑 Light" panose="020B0502040204020203" pitchFamily="34" charset="-122"/>
              </a:rPr>
              <a:t>运行</a:t>
            </a:r>
            <a:r>
              <a:rPr kumimoji="1" lang="en-US" altLang="zh-CN" sz="1100" dirty="0">
                <a:latin typeface="Montserrat" panose="00000500000000000000" pitchFamily="2" charset="0"/>
                <a:ea typeface="微软雅黑 Light" panose="020B0502040204020203" pitchFamily="34" charset="-122"/>
              </a:rPr>
              <a:t>P2P </a:t>
            </a:r>
            <a:r>
              <a:rPr kumimoji="1" lang="zh-CN" altLang="en-US" sz="1100" dirty="0">
                <a:latin typeface="Montserrat" panose="00000500000000000000" pitchFamily="2" charset="0"/>
                <a:ea typeface="微软雅黑 Light" panose="020B0502040204020203" pitchFamily="34" charset="-122"/>
              </a:rPr>
              <a:t>程序</a:t>
            </a:r>
          </a:p>
        </p:txBody>
      </p:sp>
      <p:sp>
        <p:nvSpPr>
          <p:cNvPr id="39" name="Text Box 42">
            <a:extLst>
              <a:ext uri="{FF2B5EF4-FFF2-40B4-BE49-F238E27FC236}">
                <a16:creationId xmlns:a16="http://schemas.microsoft.com/office/drawing/2014/main" id="{08349959-9A18-E6BD-C077-7945617E2EF6}"/>
              </a:ext>
            </a:extLst>
          </p:cNvPr>
          <p:cNvSpPr txBox="1">
            <a:spLocks noChangeArrowheads="1"/>
          </p:cNvSpPr>
          <p:nvPr/>
        </p:nvSpPr>
        <p:spPr bwMode="auto">
          <a:xfrm>
            <a:off x="1836338" y="3613742"/>
            <a:ext cx="1073837" cy="261610"/>
          </a:xfrm>
          <a:prstGeom prst="rect">
            <a:avLst/>
          </a:prstGeom>
          <a:solidFill>
            <a:schemeClr val="bg1"/>
          </a:solidFill>
          <a:ln>
            <a:noFill/>
          </a:ln>
          <a:effectLst/>
        </p:spPr>
        <p:txBody>
          <a:bodyPr wrap="square">
            <a:spAutoFit/>
          </a:bodyPr>
          <a:lstStyle>
            <a:defPPr>
              <a:defRPr lang="zh-CN"/>
            </a:defPPr>
            <a:lvl1pPr algn="ctr">
              <a:defRPr kumimoji="1" sz="1100">
                <a:latin typeface="Montserrat" panose="00000500000000000000" pitchFamily="2" charset="0"/>
                <a:ea typeface="微软雅黑 Light" panose="020B0502040204020203" pitchFamily="34" charset="-122"/>
              </a:defRPr>
            </a:lvl1pPr>
            <a:lvl2pPr marL="742950" indent="-285750">
              <a:defRPr>
                <a:latin typeface="Calibri" panose="020F0502020204030204" pitchFamily="34" charset="0"/>
                <a:ea typeface="宋体" panose="02010600030101010101" pitchFamily="2" charset="-122"/>
              </a:defRPr>
            </a:lvl2pPr>
            <a:lvl3pPr marL="1143000" indent="-228600">
              <a:defRPr>
                <a:latin typeface="Calibri" panose="020F0502020204030204" pitchFamily="34" charset="0"/>
                <a:ea typeface="宋体" panose="02010600030101010101" pitchFamily="2" charset="-122"/>
              </a:defRPr>
            </a:lvl3pPr>
            <a:lvl4pPr marL="1600200" indent="-228600">
              <a:defRPr>
                <a:latin typeface="Calibri" panose="020F0502020204030204" pitchFamily="34" charset="0"/>
                <a:ea typeface="宋体" panose="02010600030101010101" pitchFamily="2" charset="-122"/>
              </a:defRPr>
            </a:lvl4pPr>
            <a:lvl5pPr marL="2057400" indent="-228600">
              <a:defRPr>
                <a:latin typeface="Calibri" panose="020F0502020204030204" pitchFamily="34" charset="0"/>
                <a:ea typeface="宋体" panose="02010600030101010101" pitchFamily="2" charset="-122"/>
              </a:defRPr>
            </a:lvl5pPr>
            <a:lvl6pPr marL="2514600" indent="-228600" fontAlgn="base">
              <a:spcBef>
                <a:spcPct val="0"/>
              </a:spcBef>
              <a:spcAft>
                <a:spcPct val="0"/>
              </a:spcAft>
              <a:defRPr>
                <a:latin typeface="Calibri" panose="020F0502020204030204" pitchFamily="34" charset="0"/>
                <a:ea typeface="宋体" panose="02010600030101010101" pitchFamily="2" charset="-122"/>
              </a:defRPr>
            </a:lvl6pPr>
            <a:lvl7pPr marL="2971800" indent="-228600" fontAlgn="base">
              <a:spcBef>
                <a:spcPct val="0"/>
              </a:spcBef>
              <a:spcAft>
                <a:spcPct val="0"/>
              </a:spcAft>
              <a:defRPr>
                <a:latin typeface="Calibri" panose="020F0502020204030204" pitchFamily="34" charset="0"/>
                <a:ea typeface="宋体" panose="02010600030101010101" pitchFamily="2" charset="-122"/>
              </a:defRPr>
            </a:lvl7pPr>
            <a:lvl8pPr marL="3429000" indent="-228600" fontAlgn="base">
              <a:spcBef>
                <a:spcPct val="0"/>
              </a:spcBef>
              <a:spcAft>
                <a:spcPct val="0"/>
              </a:spcAft>
              <a:defRPr>
                <a:latin typeface="Calibri" panose="020F0502020204030204" pitchFamily="34" charset="0"/>
                <a:ea typeface="宋体" panose="02010600030101010101" pitchFamily="2" charset="-122"/>
              </a:defRPr>
            </a:lvl8pPr>
            <a:lvl9pPr marL="3886200" indent="-228600" fontAlgn="base">
              <a:spcBef>
                <a:spcPct val="0"/>
              </a:spcBef>
              <a:spcAft>
                <a:spcPct val="0"/>
              </a:spcAft>
              <a:defRPr>
                <a:latin typeface="Calibri" panose="020F0502020204030204" pitchFamily="34" charset="0"/>
                <a:ea typeface="宋体" panose="02010600030101010101" pitchFamily="2" charset="-122"/>
              </a:defRPr>
            </a:lvl9pPr>
          </a:lstStyle>
          <a:p>
            <a:r>
              <a:rPr lang="zh-CN" altLang="en-US" dirty="0"/>
              <a:t>运行</a:t>
            </a:r>
            <a:r>
              <a:rPr lang="en-US" altLang="zh-CN" dirty="0"/>
              <a:t>P2P </a:t>
            </a:r>
            <a:r>
              <a:rPr lang="zh-CN" altLang="en-US" dirty="0"/>
              <a:t>程序</a:t>
            </a:r>
          </a:p>
        </p:txBody>
      </p:sp>
      <p:sp>
        <p:nvSpPr>
          <p:cNvPr id="40" name="Line 43">
            <a:extLst>
              <a:ext uri="{FF2B5EF4-FFF2-40B4-BE49-F238E27FC236}">
                <a16:creationId xmlns:a16="http://schemas.microsoft.com/office/drawing/2014/main" id="{A202D064-15EC-7216-3B3A-512A32E8DB80}"/>
              </a:ext>
            </a:extLst>
          </p:cNvPr>
          <p:cNvSpPr>
            <a:spLocks noChangeShapeType="1"/>
          </p:cNvSpPr>
          <p:nvPr/>
        </p:nvSpPr>
        <p:spPr bwMode="auto">
          <a:xfrm flipV="1">
            <a:off x="3233896" y="2425145"/>
            <a:ext cx="401939" cy="159660"/>
          </a:xfrm>
          <a:prstGeom prst="line">
            <a:avLst/>
          </a:prstGeom>
          <a:noFill/>
          <a:ln w="19050">
            <a:solidFill>
              <a:schemeClr val="tx1"/>
            </a:solidFill>
            <a:prstDash val="sysDash"/>
            <a:round/>
            <a:headEnd type="triangle"/>
            <a:tailEnd type="none"/>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latin typeface="Montserrat" panose="00000500000000000000" pitchFamily="2" charset="0"/>
              <a:ea typeface="微软雅黑 Light" panose="020B0502040204020203" pitchFamily="34" charset="-122"/>
            </a:endParaRPr>
          </a:p>
        </p:txBody>
      </p:sp>
      <p:sp>
        <p:nvSpPr>
          <p:cNvPr id="41" name="Line 44">
            <a:extLst>
              <a:ext uri="{FF2B5EF4-FFF2-40B4-BE49-F238E27FC236}">
                <a16:creationId xmlns:a16="http://schemas.microsoft.com/office/drawing/2014/main" id="{0B688781-323E-51F0-011F-227B1A214946}"/>
              </a:ext>
            </a:extLst>
          </p:cNvPr>
          <p:cNvSpPr>
            <a:spLocks noChangeShapeType="1"/>
          </p:cNvSpPr>
          <p:nvPr/>
        </p:nvSpPr>
        <p:spPr bwMode="auto">
          <a:xfrm>
            <a:off x="2861730" y="3733767"/>
            <a:ext cx="240625" cy="189198"/>
          </a:xfrm>
          <a:prstGeom prst="line">
            <a:avLst/>
          </a:prstGeom>
          <a:noFill/>
          <a:ln w="19050">
            <a:solidFill>
              <a:schemeClr val="tx1"/>
            </a:solidFill>
            <a:prstDash val="sysDash"/>
            <a:round/>
            <a:headEnd type="triangle"/>
            <a:tailEnd type="none"/>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latin typeface="Montserrat" panose="00000500000000000000" pitchFamily="2" charset="0"/>
              <a:ea typeface="微软雅黑 Light" panose="020B0502040204020203" pitchFamily="34" charset="-122"/>
            </a:endParaRPr>
          </a:p>
        </p:txBody>
      </p:sp>
      <p:sp>
        <p:nvSpPr>
          <p:cNvPr id="42" name="Line 45">
            <a:extLst>
              <a:ext uri="{FF2B5EF4-FFF2-40B4-BE49-F238E27FC236}">
                <a16:creationId xmlns:a16="http://schemas.microsoft.com/office/drawing/2014/main" id="{A339371D-2AEE-E1B9-2874-8A3334DFCDE8}"/>
              </a:ext>
            </a:extLst>
          </p:cNvPr>
          <p:cNvSpPr>
            <a:spLocks noChangeShapeType="1"/>
          </p:cNvSpPr>
          <p:nvPr/>
        </p:nvSpPr>
        <p:spPr bwMode="auto">
          <a:xfrm flipH="1">
            <a:off x="3439966" y="2501462"/>
            <a:ext cx="1753518" cy="1275179"/>
          </a:xfrm>
          <a:prstGeom prst="line">
            <a:avLst/>
          </a:prstGeom>
          <a:noFill/>
          <a:ln w="28575">
            <a:solidFill>
              <a:srgbClr val="CC00CC">
                <a:alpha val="79999"/>
              </a:srgbClr>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latin typeface="Montserrat" panose="00000500000000000000" pitchFamily="2" charset="0"/>
              <a:ea typeface="微软雅黑 Light" panose="020B0502040204020203" pitchFamily="34" charset="-122"/>
            </a:endParaRPr>
          </a:p>
        </p:txBody>
      </p:sp>
      <p:pic>
        <p:nvPicPr>
          <p:cNvPr id="43" name="Picture 246" descr="jisuanji">
            <a:extLst>
              <a:ext uri="{FF2B5EF4-FFF2-40B4-BE49-F238E27FC236}">
                <a16:creationId xmlns:a16="http://schemas.microsoft.com/office/drawing/2014/main" id="{63A12B60-2A93-E1FA-4FD5-79ED0E8739A0}"/>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463321" y="2307515"/>
            <a:ext cx="360000" cy="360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4" name="图片 38">
            <a:extLst>
              <a:ext uri="{FF2B5EF4-FFF2-40B4-BE49-F238E27FC236}">
                <a16:creationId xmlns:a16="http://schemas.microsoft.com/office/drawing/2014/main" id="{14BBF761-0504-A8E5-2C07-B53056B714B7}"/>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74335" y="3034761"/>
            <a:ext cx="484846" cy="678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5" name="Picture 246" descr="jisuanji">
            <a:extLst>
              <a:ext uri="{FF2B5EF4-FFF2-40B4-BE49-F238E27FC236}">
                <a16:creationId xmlns:a16="http://schemas.microsoft.com/office/drawing/2014/main" id="{514EE9D9-F751-B360-C3B8-A2945C29BCFE}"/>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12372" y="2949859"/>
            <a:ext cx="360000" cy="360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6" name="Picture 246" descr="jisuanji">
            <a:extLst>
              <a:ext uri="{FF2B5EF4-FFF2-40B4-BE49-F238E27FC236}">
                <a16:creationId xmlns:a16="http://schemas.microsoft.com/office/drawing/2014/main" id="{5E5D0280-256D-0518-1393-096751329BF1}"/>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15524" y="3807736"/>
            <a:ext cx="360000" cy="360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7" name="Picture 246" descr="jisuanji">
            <a:extLst>
              <a:ext uri="{FF2B5EF4-FFF2-40B4-BE49-F238E27FC236}">
                <a16:creationId xmlns:a16="http://schemas.microsoft.com/office/drawing/2014/main" id="{840E078F-8844-1BF6-7CD2-64AC8CF5EB2A}"/>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800975" y="4125280"/>
            <a:ext cx="360000" cy="3585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8" name="Picture 246" descr="jisuanji">
            <a:extLst>
              <a:ext uri="{FF2B5EF4-FFF2-40B4-BE49-F238E27FC236}">
                <a16:creationId xmlns:a16="http://schemas.microsoft.com/office/drawing/2014/main" id="{6D82C318-310E-B571-BC41-91AA417B17EC}"/>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159127" y="4193094"/>
            <a:ext cx="360000" cy="360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9" name="Picture 246" descr="jisuanji">
            <a:extLst>
              <a:ext uri="{FF2B5EF4-FFF2-40B4-BE49-F238E27FC236}">
                <a16:creationId xmlns:a16="http://schemas.microsoft.com/office/drawing/2014/main" id="{9405DF62-28E2-7EEE-6E8A-14523F3D3FE6}"/>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124291" y="2234353"/>
            <a:ext cx="360000" cy="360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0" name="Text Box 39">
            <a:extLst>
              <a:ext uri="{FF2B5EF4-FFF2-40B4-BE49-F238E27FC236}">
                <a16:creationId xmlns:a16="http://schemas.microsoft.com/office/drawing/2014/main" id="{1081EF23-A2B8-7432-0297-E42E0D6D61B9}"/>
              </a:ext>
            </a:extLst>
          </p:cNvPr>
          <p:cNvSpPr txBox="1">
            <a:spLocks noChangeArrowheads="1"/>
          </p:cNvSpPr>
          <p:nvPr/>
        </p:nvSpPr>
        <p:spPr bwMode="auto">
          <a:xfrm>
            <a:off x="2615703" y="2997929"/>
            <a:ext cx="260577" cy="338554"/>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dirty="0">
                <a:latin typeface="Montserrat" panose="00000500000000000000" pitchFamily="2" charset="0"/>
                <a:ea typeface="微软雅黑 Light" panose="020B0502040204020203" pitchFamily="34" charset="-122"/>
              </a:rPr>
              <a:t>A</a:t>
            </a:r>
          </a:p>
        </p:txBody>
      </p:sp>
      <p:sp>
        <p:nvSpPr>
          <p:cNvPr id="51" name="Text Box 39">
            <a:extLst>
              <a:ext uri="{FF2B5EF4-FFF2-40B4-BE49-F238E27FC236}">
                <a16:creationId xmlns:a16="http://schemas.microsoft.com/office/drawing/2014/main" id="{A738514F-D984-29BF-E0D9-559588017523}"/>
              </a:ext>
            </a:extLst>
          </p:cNvPr>
          <p:cNvSpPr txBox="1">
            <a:spLocks noChangeArrowheads="1"/>
          </p:cNvSpPr>
          <p:nvPr/>
        </p:nvSpPr>
        <p:spPr bwMode="auto">
          <a:xfrm>
            <a:off x="4130556" y="4210086"/>
            <a:ext cx="260577" cy="338554"/>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dirty="0">
                <a:latin typeface="Montserrat" panose="00000500000000000000" pitchFamily="2" charset="0"/>
                <a:ea typeface="微软雅黑 Light" panose="020B0502040204020203" pitchFamily="34" charset="-122"/>
              </a:rPr>
              <a:t>B</a:t>
            </a:r>
          </a:p>
        </p:txBody>
      </p:sp>
    </p:spTree>
    <p:extLst>
      <p:ext uri="{BB962C8B-B14F-4D97-AF65-F5344CB8AC3E}">
        <p14:creationId xmlns:p14="http://schemas.microsoft.com/office/powerpoint/2010/main" val="1241473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6" presetClass="entr" presetSubtype="42" fill="hold" grpId="0" nodeType="after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barn(outHorizontal)">
                                      <p:cBhvr>
                                        <p:cTn id="7" dur="2000"/>
                                        <p:tgtEl>
                                          <p:spTgt spid="30"/>
                                        </p:tgtEl>
                                      </p:cBhvr>
                                    </p:animEffect>
                                  </p:childTnLst>
                                </p:cTn>
                              </p:par>
                            </p:childTnLst>
                          </p:cTn>
                        </p:par>
                        <p:par>
                          <p:cTn id="8" fill="hold">
                            <p:stCondLst>
                              <p:cond delay="2000"/>
                            </p:stCondLst>
                            <p:childTnLst>
                              <p:par>
                                <p:cTn id="9" presetID="16" presetClass="entr" presetSubtype="42" fill="hold" grpId="0" nodeType="afterEffect">
                                  <p:stCondLst>
                                    <p:cond delay="500"/>
                                  </p:stCondLst>
                                  <p:childTnLst>
                                    <p:set>
                                      <p:cBhvr>
                                        <p:cTn id="10" dur="1" fill="hold">
                                          <p:stCondLst>
                                            <p:cond delay="0"/>
                                          </p:stCondLst>
                                        </p:cTn>
                                        <p:tgtEl>
                                          <p:spTgt spid="42"/>
                                        </p:tgtEl>
                                        <p:attrNameLst>
                                          <p:attrName>style.visibility</p:attrName>
                                        </p:attrNameLst>
                                      </p:cBhvr>
                                      <p:to>
                                        <p:strVal val="visible"/>
                                      </p:to>
                                    </p:set>
                                    <p:animEffect transition="in" filter="barn(outHorizontal)">
                                      <p:cBhvr>
                                        <p:cTn id="11" dur="2000"/>
                                        <p:tgtEl>
                                          <p:spTgt spid="42"/>
                                        </p:tgtEl>
                                      </p:cBhvr>
                                    </p:animEffect>
                                  </p:childTnLst>
                                </p:cTn>
                              </p:par>
                            </p:childTnLst>
                          </p:cTn>
                        </p:par>
                        <p:par>
                          <p:cTn id="12" fill="hold">
                            <p:stCondLst>
                              <p:cond delay="4500"/>
                            </p:stCondLst>
                            <p:childTnLst>
                              <p:par>
                                <p:cTn id="13" presetID="16" presetClass="entr" presetSubtype="42" fill="hold" grpId="0" nodeType="afterEffect">
                                  <p:stCondLst>
                                    <p:cond delay="500"/>
                                  </p:stCondLst>
                                  <p:childTnLst>
                                    <p:set>
                                      <p:cBhvr>
                                        <p:cTn id="14" dur="1" fill="hold">
                                          <p:stCondLst>
                                            <p:cond delay="0"/>
                                          </p:stCondLst>
                                        </p:cTn>
                                        <p:tgtEl>
                                          <p:spTgt spid="35"/>
                                        </p:tgtEl>
                                        <p:attrNameLst>
                                          <p:attrName>style.visibility</p:attrName>
                                        </p:attrNameLst>
                                      </p:cBhvr>
                                      <p:to>
                                        <p:strVal val="visible"/>
                                      </p:to>
                                    </p:set>
                                    <p:animEffect transition="in" filter="barn(outHorizontal)">
                                      <p:cBhvr>
                                        <p:cTn id="15" dur="20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35" grpId="0" animBg="1"/>
      <p:bldP spid="42" grpId="0" animBg="1"/>
    </p:bldLst>
  </p:timing>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87C824-8E02-0A90-D361-BC8B9C2ABCFD}"/>
              </a:ext>
            </a:extLst>
          </p:cNvPr>
          <p:cNvSpPr>
            <a:spLocks noGrp="1"/>
          </p:cNvSpPr>
          <p:nvPr>
            <p:ph type="title"/>
          </p:nvPr>
        </p:nvSpPr>
        <p:spPr>
          <a:xfrm>
            <a:off x="485999" y="174482"/>
            <a:ext cx="8171999" cy="338554"/>
          </a:xfrm>
        </p:spPr>
        <p:txBody>
          <a:bodyPr/>
          <a:lstStyle/>
          <a:p>
            <a:r>
              <a:rPr lang="en-US" altLang="zh-CN" dirty="0"/>
              <a:t>6.9.0 P2P – </a:t>
            </a:r>
            <a:r>
              <a:rPr lang="zh-CN" altLang="en-US" dirty="0"/>
              <a:t>应用</a:t>
            </a:r>
          </a:p>
        </p:txBody>
      </p:sp>
      <p:sp>
        <p:nvSpPr>
          <p:cNvPr id="3" name="内容占位符 2">
            <a:extLst>
              <a:ext uri="{FF2B5EF4-FFF2-40B4-BE49-F238E27FC236}">
                <a16:creationId xmlns:a16="http://schemas.microsoft.com/office/drawing/2014/main" id="{7EC0004E-7192-CD97-7940-2D62574868EB}"/>
              </a:ext>
            </a:extLst>
          </p:cNvPr>
          <p:cNvSpPr>
            <a:spLocks noGrp="1"/>
          </p:cNvSpPr>
          <p:nvPr>
            <p:ph sz="quarter" idx="11"/>
          </p:nvPr>
        </p:nvSpPr>
        <p:spPr>
          <a:xfrm>
            <a:off x="486000" y="687518"/>
            <a:ext cx="8172000" cy="4079035"/>
          </a:xfrm>
        </p:spPr>
        <p:txBody>
          <a:bodyPr/>
          <a:lstStyle/>
          <a:p>
            <a:r>
              <a:rPr lang="zh-CN" altLang="en-US" dirty="0"/>
              <a:t>文件分发⭐</a:t>
            </a:r>
            <a:endParaRPr lang="en-US" altLang="zh-CN" dirty="0"/>
          </a:p>
          <a:p>
            <a:pPr lvl="1"/>
            <a:r>
              <a:rPr lang="zh-CN" altLang="en-US" dirty="0"/>
              <a:t>文件都是在普通</a:t>
            </a:r>
            <a:r>
              <a:rPr lang="en-US" altLang="zh-CN" dirty="0"/>
              <a:t>/</a:t>
            </a:r>
            <a:r>
              <a:rPr lang="zh-CN" altLang="en-US" dirty="0"/>
              <a:t>对等互联网用户之间传输</a:t>
            </a:r>
            <a:endParaRPr lang="en-US" altLang="zh-CN" dirty="0"/>
          </a:p>
          <a:p>
            <a:r>
              <a:rPr lang="zh-CN" altLang="en-US" dirty="0"/>
              <a:t>实时音频视频</a:t>
            </a:r>
            <a:endParaRPr lang="en-US" altLang="zh-CN" dirty="0"/>
          </a:p>
          <a:p>
            <a:r>
              <a:rPr lang="zh-CN" altLang="en-US" dirty="0"/>
              <a:t>视频会议</a:t>
            </a:r>
            <a:endParaRPr lang="en-US" altLang="zh-CN" dirty="0"/>
          </a:p>
          <a:p>
            <a:r>
              <a:rPr lang="zh-CN" altLang="en-US" dirty="0"/>
              <a:t>数据库系统</a:t>
            </a:r>
            <a:endParaRPr lang="en-US" altLang="zh-CN" dirty="0"/>
          </a:p>
          <a:p>
            <a:r>
              <a:rPr lang="zh-CN" altLang="en-US" dirty="0"/>
              <a:t>特定的应用</a:t>
            </a:r>
            <a:endParaRPr lang="en-US" altLang="zh-CN" dirty="0"/>
          </a:p>
          <a:p>
            <a:pPr lvl="1"/>
            <a:r>
              <a:rPr lang="zh-CN" altLang="en-US" dirty="0"/>
              <a:t>各种</a:t>
            </a:r>
            <a:r>
              <a:rPr lang="en-US" altLang="zh-CN" dirty="0"/>
              <a:t>P2P</a:t>
            </a:r>
            <a:r>
              <a:rPr lang="zh-CN" altLang="en-US" dirty="0"/>
              <a:t>软件</a:t>
            </a:r>
          </a:p>
        </p:txBody>
      </p:sp>
      <p:sp>
        <p:nvSpPr>
          <p:cNvPr id="14" name="云形 13">
            <a:extLst>
              <a:ext uri="{FF2B5EF4-FFF2-40B4-BE49-F238E27FC236}">
                <a16:creationId xmlns:a16="http://schemas.microsoft.com/office/drawing/2014/main" id="{73F97386-65DB-321B-D994-A96C053B1BD8}"/>
              </a:ext>
            </a:extLst>
          </p:cNvPr>
          <p:cNvSpPr/>
          <p:nvPr/>
        </p:nvSpPr>
        <p:spPr>
          <a:xfrm>
            <a:off x="3949066" y="2430925"/>
            <a:ext cx="2636266" cy="1348590"/>
          </a:xfrm>
          <a:prstGeom prst="cloud">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zh-CN" altLang="en-US" sz="1600" dirty="0">
                <a:solidFill>
                  <a:sysClr val="windowText" lastClr="000000"/>
                </a:solidFill>
                <a:latin typeface="Montserrat" panose="00000500000000000000" pitchFamily="2" charset="0"/>
                <a:ea typeface="微软雅黑 Light" panose="020B0502040204020203" pitchFamily="34" charset="-122"/>
              </a:rPr>
              <a:t>互联网</a:t>
            </a:r>
          </a:p>
        </p:txBody>
      </p:sp>
      <p:pic>
        <p:nvPicPr>
          <p:cNvPr id="15" name="Picture 197" descr="jisuanji">
            <a:extLst>
              <a:ext uri="{FF2B5EF4-FFF2-40B4-BE49-F238E27FC236}">
                <a16:creationId xmlns:a16="http://schemas.microsoft.com/office/drawing/2014/main" id="{978AB398-1D55-C76D-684B-EABA0486F8E0}"/>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674235" y="2621269"/>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197" descr="jisuanji">
            <a:extLst>
              <a:ext uri="{FF2B5EF4-FFF2-40B4-BE49-F238E27FC236}">
                <a16:creationId xmlns:a16="http://schemas.microsoft.com/office/drawing/2014/main" id="{FBC53155-4AC8-BEF2-B203-7B6D0789E997}"/>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836161" y="1787726"/>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197" descr="jisuanji">
            <a:extLst>
              <a:ext uri="{FF2B5EF4-FFF2-40B4-BE49-F238E27FC236}">
                <a16:creationId xmlns:a16="http://schemas.microsoft.com/office/drawing/2014/main" id="{BB176D14-883C-AE81-D413-9AAF43915DFD}"/>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50483" y="1989485"/>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197" descr="jisuanji">
            <a:extLst>
              <a:ext uri="{FF2B5EF4-FFF2-40B4-BE49-F238E27FC236}">
                <a16:creationId xmlns:a16="http://schemas.microsoft.com/office/drawing/2014/main" id="{C74E20B4-3AF2-0E82-C980-AC44A91C080F}"/>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42712" y="3907246"/>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197" descr="jisuanji">
            <a:extLst>
              <a:ext uri="{FF2B5EF4-FFF2-40B4-BE49-F238E27FC236}">
                <a16:creationId xmlns:a16="http://schemas.microsoft.com/office/drawing/2014/main" id="{AD99B913-CA86-A8F7-8B81-020D9F34B471}"/>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711714" y="4455999"/>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20" name="Picture 197" descr="jisuanji">
            <a:extLst>
              <a:ext uri="{FF2B5EF4-FFF2-40B4-BE49-F238E27FC236}">
                <a16:creationId xmlns:a16="http://schemas.microsoft.com/office/drawing/2014/main" id="{F0188CFA-B6A4-CCDF-9CFA-FA8ECCB058E9}"/>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101223" y="3854850"/>
            <a:ext cx="359999" cy="360000"/>
          </a:xfrm>
          <a:prstGeom prst="rect">
            <a:avLst/>
          </a:prstGeom>
          <a:noFill/>
          <a:extLst>
            <a:ext uri="{909E8E84-426E-40DD-AFC4-6F175D3DCCD1}">
              <a14:hiddenFill xmlns:a14="http://schemas.microsoft.com/office/drawing/2010/main">
                <a:solidFill>
                  <a:srgbClr val="FFFFFF"/>
                </a:solidFill>
              </a14:hiddenFill>
            </a:ext>
          </a:extLst>
        </p:spPr>
      </p:pic>
      <p:sp>
        <p:nvSpPr>
          <p:cNvPr id="21" name="Line 479">
            <a:extLst>
              <a:ext uri="{FF2B5EF4-FFF2-40B4-BE49-F238E27FC236}">
                <a16:creationId xmlns:a16="http://schemas.microsoft.com/office/drawing/2014/main" id="{08FB34E9-753C-AFA4-5C6C-C436B7E32F05}"/>
              </a:ext>
            </a:extLst>
          </p:cNvPr>
          <p:cNvSpPr>
            <a:spLocks noChangeShapeType="1"/>
          </p:cNvSpPr>
          <p:nvPr/>
        </p:nvSpPr>
        <p:spPr bwMode="auto">
          <a:xfrm>
            <a:off x="3039211" y="2889067"/>
            <a:ext cx="820078" cy="172699"/>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srgbClr val="000099"/>
              </a:solidFill>
              <a:latin typeface="Montserrat" panose="00000500000000000000" pitchFamily="2" charset="0"/>
              <a:ea typeface="微软雅黑 Light" panose="020B0502040204020203" pitchFamily="34" charset="-122"/>
            </a:endParaRPr>
          </a:p>
        </p:txBody>
      </p:sp>
      <p:sp>
        <p:nvSpPr>
          <p:cNvPr id="22" name="Line 480">
            <a:extLst>
              <a:ext uri="{FF2B5EF4-FFF2-40B4-BE49-F238E27FC236}">
                <a16:creationId xmlns:a16="http://schemas.microsoft.com/office/drawing/2014/main" id="{B72C982F-73BF-201F-07BB-312171B8C07A}"/>
              </a:ext>
            </a:extLst>
          </p:cNvPr>
          <p:cNvSpPr>
            <a:spLocks noChangeShapeType="1"/>
          </p:cNvSpPr>
          <p:nvPr/>
        </p:nvSpPr>
        <p:spPr bwMode="auto">
          <a:xfrm rot="10800000">
            <a:off x="2936418" y="2975894"/>
            <a:ext cx="872038" cy="17269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srgbClr val="000099"/>
              </a:solidFill>
              <a:latin typeface="Montserrat" panose="00000500000000000000" pitchFamily="2" charset="0"/>
              <a:ea typeface="微软雅黑 Light" panose="020B0502040204020203" pitchFamily="34" charset="-122"/>
            </a:endParaRPr>
          </a:p>
        </p:txBody>
      </p:sp>
      <p:sp>
        <p:nvSpPr>
          <p:cNvPr id="23" name="Text Box 2748">
            <a:extLst>
              <a:ext uri="{FF2B5EF4-FFF2-40B4-BE49-F238E27FC236}">
                <a16:creationId xmlns:a16="http://schemas.microsoft.com/office/drawing/2014/main" id="{336F0EEE-BA08-84F5-94BF-99AA20D8BACA}"/>
              </a:ext>
            </a:extLst>
          </p:cNvPr>
          <p:cNvSpPr txBox="1">
            <a:spLocks noChangeArrowheads="1"/>
          </p:cNvSpPr>
          <p:nvPr/>
        </p:nvSpPr>
        <p:spPr bwMode="auto">
          <a:xfrm>
            <a:off x="6897721" y="2816692"/>
            <a:ext cx="44114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2000" dirty="0">
                <a:solidFill>
                  <a:srgbClr val="0000FF"/>
                </a:solidFill>
                <a:latin typeface="Montserrat" panose="00000500000000000000" pitchFamily="2" charset="0"/>
                <a:ea typeface="微软雅黑 Light" panose="020B0502040204020203" pitchFamily="34" charset="-122"/>
                <a:sym typeface="Symbol" pitchFamily="18" charset="2"/>
              </a:rPr>
              <a:t></a:t>
            </a:r>
          </a:p>
        </p:txBody>
      </p:sp>
      <p:sp>
        <p:nvSpPr>
          <p:cNvPr id="24" name="Line 2750">
            <a:extLst>
              <a:ext uri="{FF2B5EF4-FFF2-40B4-BE49-F238E27FC236}">
                <a16:creationId xmlns:a16="http://schemas.microsoft.com/office/drawing/2014/main" id="{2778F15F-B8AD-CB78-E400-F29785585846}"/>
              </a:ext>
            </a:extLst>
          </p:cNvPr>
          <p:cNvSpPr>
            <a:spLocks noChangeShapeType="1"/>
          </p:cNvSpPr>
          <p:nvPr/>
        </p:nvSpPr>
        <p:spPr bwMode="auto">
          <a:xfrm rot="816166">
            <a:off x="4176700" y="2163925"/>
            <a:ext cx="820078" cy="172699"/>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25" name="Line 2751">
            <a:extLst>
              <a:ext uri="{FF2B5EF4-FFF2-40B4-BE49-F238E27FC236}">
                <a16:creationId xmlns:a16="http://schemas.microsoft.com/office/drawing/2014/main" id="{13D0AF3E-B583-3500-3EBF-E8ADB90797BC}"/>
              </a:ext>
            </a:extLst>
          </p:cNvPr>
          <p:cNvSpPr>
            <a:spLocks noChangeShapeType="1"/>
          </p:cNvSpPr>
          <p:nvPr/>
        </p:nvSpPr>
        <p:spPr bwMode="auto">
          <a:xfrm rot="11616166">
            <a:off x="4051317" y="2233578"/>
            <a:ext cx="872038" cy="17269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26" name="Line 2753">
            <a:extLst>
              <a:ext uri="{FF2B5EF4-FFF2-40B4-BE49-F238E27FC236}">
                <a16:creationId xmlns:a16="http://schemas.microsoft.com/office/drawing/2014/main" id="{7D3E14B4-A254-6520-8D87-3F2434455634}"/>
              </a:ext>
            </a:extLst>
          </p:cNvPr>
          <p:cNvSpPr>
            <a:spLocks noChangeShapeType="1"/>
          </p:cNvSpPr>
          <p:nvPr/>
        </p:nvSpPr>
        <p:spPr bwMode="auto">
          <a:xfrm rot="18950026">
            <a:off x="3491449" y="3673938"/>
            <a:ext cx="820078" cy="172698"/>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27" name="Line 2754">
            <a:extLst>
              <a:ext uri="{FF2B5EF4-FFF2-40B4-BE49-F238E27FC236}">
                <a16:creationId xmlns:a16="http://schemas.microsoft.com/office/drawing/2014/main" id="{FD11B8AA-6DF7-E379-12B2-4AF3DED89272}"/>
              </a:ext>
            </a:extLst>
          </p:cNvPr>
          <p:cNvSpPr>
            <a:spLocks noChangeShapeType="1"/>
          </p:cNvSpPr>
          <p:nvPr/>
        </p:nvSpPr>
        <p:spPr bwMode="auto">
          <a:xfrm rot="8150026">
            <a:off x="3482412" y="3781754"/>
            <a:ext cx="872038" cy="172699"/>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28" name="Line 2756">
            <a:extLst>
              <a:ext uri="{FF2B5EF4-FFF2-40B4-BE49-F238E27FC236}">
                <a16:creationId xmlns:a16="http://schemas.microsoft.com/office/drawing/2014/main" id="{BFAF52CC-EE54-034D-DEE2-3F1C904323AF}"/>
              </a:ext>
            </a:extLst>
          </p:cNvPr>
          <p:cNvSpPr>
            <a:spLocks noChangeShapeType="1"/>
          </p:cNvSpPr>
          <p:nvPr/>
        </p:nvSpPr>
        <p:spPr bwMode="auto">
          <a:xfrm rot="13567995">
            <a:off x="5268795" y="4004047"/>
            <a:ext cx="692701" cy="204455"/>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29" name="Line 2757">
            <a:extLst>
              <a:ext uri="{FF2B5EF4-FFF2-40B4-BE49-F238E27FC236}">
                <a16:creationId xmlns:a16="http://schemas.microsoft.com/office/drawing/2014/main" id="{2D6138AA-208D-9497-D7E4-2485995291A6}"/>
              </a:ext>
            </a:extLst>
          </p:cNvPr>
          <p:cNvSpPr>
            <a:spLocks noChangeShapeType="1"/>
          </p:cNvSpPr>
          <p:nvPr/>
        </p:nvSpPr>
        <p:spPr bwMode="auto">
          <a:xfrm rot="2767995">
            <a:off x="5374493" y="3990689"/>
            <a:ext cx="736591" cy="204454"/>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30" name="Line 2759">
            <a:extLst>
              <a:ext uri="{FF2B5EF4-FFF2-40B4-BE49-F238E27FC236}">
                <a16:creationId xmlns:a16="http://schemas.microsoft.com/office/drawing/2014/main" id="{544865B1-D4B5-9DAC-4010-6ED995861EFD}"/>
              </a:ext>
            </a:extLst>
          </p:cNvPr>
          <p:cNvSpPr>
            <a:spLocks noChangeShapeType="1"/>
          </p:cNvSpPr>
          <p:nvPr/>
        </p:nvSpPr>
        <p:spPr bwMode="auto">
          <a:xfrm rot="18997895">
            <a:off x="6195231" y="2179305"/>
            <a:ext cx="820078" cy="172699"/>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31" name="Line 2760">
            <a:extLst>
              <a:ext uri="{FF2B5EF4-FFF2-40B4-BE49-F238E27FC236}">
                <a16:creationId xmlns:a16="http://schemas.microsoft.com/office/drawing/2014/main" id="{07F4C451-03A8-7F3D-BB64-D4A0B8A08E37}"/>
              </a:ext>
            </a:extLst>
          </p:cNvPr>
          <p:cNvSpPr>
            <a:spLocks noChangeShapeType="1"/>
          </p:cNvSpPr>
          <p:nvPr/>
        </p:nvSpPr>
        <p:spPr bwMode="auto">
          <a:xfrm rot="8197895">
            <a:off x="6267223" y="2298686"/>
            <a:ext cx="704860" cy="140257"/>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32" name="Line 2762">
            <a:extLst>
              <a:ext uri="{FF2B5EF4-FFF2-40B4-BE49-F238E27FC236}">
                <a16:creationId xmlns:a16="http://schemas.microsoft.com/office/drawing/2014/main" id="{1CD21D00-38E3-2350-7692-E0C41B3C1865}"/>
              </a:ext>
            </a:extLst>
          </p:cNvPr>
          <p:cNvSpPr>
            <a:spLocks noChangeShapeType="1"/>
          </p:cNvSpPr>
          <p:nvPr/>
        </p:nvSpPr>
        <p:spPr bwMode="auto">
          <a:xfrm rot="1048487">
            <a:off x="6370352" y="3566343"/>
            <a:ext cx="820078" cy="17269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33" name="Line 2763">
            <a:extLst>
              <a:ext uri="{FF2B5EF4-FFF2-40B4-BE49-F238E27FC236}">
                <a16:creationId xmlns:a16="http://schemas.microsoft.com/office/drawing/2014/main" id="{E4DA1144-FEF8-F539-8B52-43C3770C2C02}"/>
              </a:ext>
            </a:extLst>
          </p:cNvPr>
          <p:cNvSpPr>
            <a:spLocks noChangeShapeType="1"/>
          </p:cNvSpPr>
          <p:nvPr/>
        </p:nvSpPr>
        <p:spPr bwMode="auto">
          <a:xfrm rot="11848487">
            <a:off x="6240449" y="3629316"/>
            <a:ext cx="872038" cy="172698"/>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34" name="Text Box 2767">
            <a:extLst>
              <a:ext uri="{FF2B5EF4-FFF2-40B4-BE49-F238E27FC236}">
                <a16:creationId xmlns:a16="http://schemas.microsoft.com/office/drawing/2014/main" id="{9EC2162E-FECA-137B-8C82-BAEE74381D7F}"/>
              </a:ext>
            </a:extLst>
          </p:cNvPr>
          <p:cNvSpPr txBox="1">
            <a:spLocks noChangeArrowheads="1"/>
          </p:cNvSpPr>
          <p:nvPr/>
        </p:nvSpPr>
        <p:spPr bwMode="auto">
          <a:xfrm>
            <a:off x="6573504" y="2263145"/>
            <a:ext cx="40267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err="1">
                <a:solidFill>
                  <a:srgbClr val="0000FF"/>
                </a:solidFill>
                <a:latin typeface="Montserrat" panose="00000500000000000000" pitchFamily="2" charset="0"/>
                <a:ea typeface="微软雅黑 Light" panose="020B0502040204020203" pitchFamily="34" charset="-122"/>
              </a:rPr>
              <a:t>u</a:t>
            </a:r>
            <a:r>
              <a:rPr kumimoji="1" lang="en-US" altLang="zh-CN" sz="1400" i="1" baseline="-25000" dirty="0" err="1">
                <a:solidFill>
                  <a:srgbClr val="0000FF"/>
                </a:solidFill>
                <a:latin typeface="Montserrat" panose="00000500000000000000" pitchFamily="2" charset="0"/>
                <a:ea typeface="微软雅黑 Light" panose="020B0502040204020203" pitchFamily="34" charset="-122"/>
              </a:rPr>
              <a:t>N</a:t>
            </a:r>
            <a:endParaRPr kumimoji="1" lang="en-US" altLang="zh-CN" sz="1400" i="1" baseline="-25000" dirty="0">
              <a:solidFill>
                <a:srgbClr val="0000FF"/>
              </a:solidFill>
              <a:latin typeface="Montserrat" panose="00000500000000000000" pitchFamily="2" charset="0"/>
              <a:ea typeface="微软雅黑 Light" panose="020B0502040204020203" pitchFamily="34" charset="-122"/>
            </a:endParaRPr>
          </a:p>
        </p:txBody>
      </p:sp>
      <p:sp>
        <p:nvSpPr>
          <p:cNvPr id="35" name="Text Box 2768">
            <a:extLst>
              <a:ext uri="{FF2B5EF4-FFF2-40B4-BE49-F238E27FC236}">
                <a16:creationId xmlns:a16="http://schemas.microsoft.com/office/drawing/2014/main" id="{0E9B2B8E-A995-C9DD-5509-4C48F7EE76A1}"/>
              </a:ext>
            </a:extLst>
          </p:cNvPr>
          <p:cNvSpPr txBox="1">
            <a:spLocks noChangeArrowheads="1"/>
          </p:cNvSpPr>
          <p:nvPr/>
        </p:nvSpPr>
        <p:spPr bwMode="auto">
          <a:xfrm>
            <a:off x="6421182" y="3608325"/>
            <a:ext cx="3722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u</a:t>
            </a:r>
            <a:r>
              <a:rPr kumimoji="1" lang="en-US" altLang="zh-CN" sz="1400" baseline="-25000" dirty="0">
                <a:solidFill>
                  <a:srgbClr val="0000FF"/>
                </a:solidFill>
                <a:latin typeface="Montserrat" panose="00000500000000000000" pitchFamily="2" charset="0"/>
                <a:ea typeface="微软雅黑 Light" panose="020B0502040204020203" pitchFamily="34" charset="-122"/>
              </a:rPr>
              <a:t>5</a:t>
            </a:r>
          </a:p>
        </p:txBody>
      </p:sp>
      <p:sp>
        <p:nvSpPr>
          <p:cNvPr id="36" name="Text Box 2769">
            <a:extLst>
              <a:ext uri="{FF2B5EF4-FFF2-40B4-BE49-F238E27FC236}">
                <a16:creationId xmlns:a16="http://schemas.microsoft.com/office/drawing/2014/main" id="{EC020583-59EF-DE1C-C7A4-349BB5B01C0E}"/>
              </a:ext>
            </a:extLst>
          </p:cNvPr>
          <p:cNvSpPr txBox="1">
            <a:spLocks noChangeArrowheads="1"/>
          </p:cNvSpPr>
          <p:nvPr/>
        </p:nvSpPr>
        <p:spPr bwMode="auto">
          <a:xfrm>
            <a:off x="5316748" y="3989870"/>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u</a:t>
            </a:r>
            <a:r>
              <a:rPr kumimoji="1" lang="en-US" altLang="zh-CN" sz="1400" baseline="-25000" dirty="0">
                <a:solidFill>
                  <a:srgbClr val="0000FF"/>
                </a:solidFill>
                <a:latin typeface="Montserrat" panose="00000500000000000000" pitchFamily="2" charset="0"/>
                <a:ea typeface="微软雅黑 Light" panose="020B0502040204020203" pitchFamily="34" charset="-122"/>
              </a:rPr>
              <a:t>4</a:t>
            </a:r>
          </a:p>
        </p:txBody>
      </p:sp>
      <p:sp>
        <p:nvSpPr>
          <p:cNvPr id="37" name="Text Box 2770">
            <a:extLst>
              <a:ext uri="{FF2B5EF4-FFF2-40B4-BE49-F238E27FC236}">
                <a16:creationId xmlns:a16="http://schemas.microsoft.com/office/drawing/2014/main" id="{347B2BA2-68CE-454D-D2A5-30B7534CCAE3}"/>
              </a:ext>
            </a:extLst>
          </p:cNvPr>
          <p:cNvSpPr txBox="1">
            <a:spLocks noChangeArrowheads="1"/>
          </p:cNvSpPr>
          <p:nvPr/>
        </p:nvSpPr>
        <p:spPr bwMode="auto">
          <a:xfrm>
            <a:off x="3643943" y="3474124"/>
            <a:ext cx="3722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u</a:t>
            </a:r>
            <a:r>
              <a:rPr kumimoji="1" lang="en-US" altLang="zh-CN" sz="1400" baseline="-25000" dirty="0">
                <a:solidFill>
                  <a:srgbClr val="0000FF"/>
                </a:solidFill>
                <a:latin typeface="Montserrat" panose="00000500000000000000" pitchFamily="2" charset="0"/>
                <a:ea typeface="微软雅黑 Light" panose="020B0502040204020203" pitchFamily="34" charset="-122"/>
              </a:rPr>
              <a:t>3</a:t>
            </a:r>
          </a:p>
        </p:txBody>
      </p:sp>
      <p:sp>
        <p:nvSpPr>
          <p:cNvPr id="38" name="Text Box 2771">
            <a:extLst>
              <a:ext uri="{FF2B5EF4-FFF2-40B4-BE49-F238E27FC236}">
                <a16:creationId xmlns:a16="http://schemas.microsoft.com/office/drawing/2014/main" id="{FC9BFE53-531C-2FB1-CEBC-80E27F82D399}"/>
              </a:ext>
            </a:extLst>
          </p:cNvPr>
          <p:cNvSpPr txBox="1">
            <a:spLocks noChangeArrowheads="1"/>
          </p:cNvSpPr>
          <p:nvPr/>
        </p:nvSpPr>
        <p:spPr bwMode="auto">
          <a:xfrm>
            <a:off x="3244794" y="2683052"/>
            <a:ext cx="3722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u</a:t>
            </a:r>
            <a:r>
              <a:rPr kumimoji="1" lang="en-US" altLang="zh-CN" sz="1400" baseline="-25000" dirty="0">
                <a:solidFill>
                  <a:srgbClr val="0000FF"/>
                </a:solidFill>
                <a:latin typeface="Montserrat" panose="00000500000000000000" pitchFamily="2" charset="0"/>
                <a:ea typeface="微软雅黑 Light" panose="020B0502040204020203" pitchFamily="34" charset="-122"/>
              </a:rPr>
              <a:t>2</a:t>
            </a:r>
          </a:p>
        </p:txBody>
      </p:sp>
      <p:sp>
        <p:nvSpPr>
          <p:cNvPr id="39" name="Text Box 2772">
            <a:extLst>
              <a:ext uri="{FF2B5EF4-FFF2-40B4-BE49-F238E27FC236}">
                <a16:creationId xmlns:a16="http://schemas.microsoft.com/office/drawing/2014/main" id="{0F3B79B5-E782-0530-9EB9-96BFC880A8B6}"/>
              </a:ext>
            </a:extLst>
          </p:cNvPr>
          <p:cNvSpPr txBox="1">
            <a:spLocks noChangeArrowheads="1"/>
          </p:cNvSpPr>
          <p:nvPr/>
        </p:nvSpPr>
        <p:spPr bwMode="auto">
          <a:xfrm>
            <a:off x="4372118" y="1956560"/>
            <a:ext cx="34817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u</a:t>
            </a:r>
            <a:r>
              <a:rPr kumimoji="1" lang="en-US" altLang="zh-CN" sz="1400" baseline="-25000" dirty="0">
                <a:solidFill>
                  <a:srgbClr val="0000FF"/>
                </a:solidFill>
                <a:latin typeface="Montserrat" panose="00000500000000000000" pitchFamily="2" charset="0"/>
                <a:ea typeface="微软雅黑 Light" panose="020B0502040204020203" pitchFamily="34" charset="-122"/>
              </a:rPr>
              <a:t>1</a:t>
            </a:r>
          </a:p>
        </p:txBody>
      </p:sp>
      <p:sp>
        <p:nvSpPr>
          <p:cNvPr id="40" name="Text Box 2773">
            <a:extLst>
              <a:ext uri="{FF2B5EF4-FFF2-40B4-BE49-F238E27FC236}">
                <a16:creationId xmlns:a16="http://schemas.microsoft.com/office/drawing/2014/main" id="{082F591C-7938-28D3-91F0-43EE7933F3B9}"/>
              </a:ext>
            </a:extLst>
          </p:cNvPr>
          <p:cNvSpPr txBox="1">
            <a:spLocks noChangeArrowheads="1"/>
          </p:cNvSpPr>
          <p:nvPr/>
        </p:nvSpPr>
        <p:spPr bwMode="auto">
          <a:xfrm>
            <a:off x="6305342" y="1967726"/>
            <a:ext cx="40427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err="1">
                <a:solidFill>
                  <a:srgbClr val="0000FF"/>
                </a:solidFill>
                <a:latin typeface="Montserrat" panose="00000500000000000000" pitchFamily="2" charset="0"/>
                <a:ea typeface="微软雅黑 Light" panose="020B0502040204020203" pitchFamily="34" charset="-122"/>
              </a:rPr>
              <a:t>d</a:t>
            </a:r>
            <a:r>
              <a:rPr kumimoji="1" lang="en-US" altLang="zh-CN" sz="1400" i="1" baseline="-25000" dirty="0" err="1">
                <a:solidFill>
                  <a:srgbClr val="0000FF"/>
                </a:solidFill>
                <a:latin typeface="Montserrat" panose="00000500000000000000" pitchFamily="2" charset="0"/>
                <a:ea typeface="微软雅黑 Light" panose="020B0502040204020203" pitchFamily="34" charset="-122"/>
              </a:rPr>
              <a:t>N</a:t>
            </a:r>
            <a:endParaRPr kumimoji="1" lang="en-US" altLang="zh-CN" sz="1400" i="1" baseline="-25000" dirty="0">
              <a:solidFill>
                <a:srgbClr val="0000FF"/>
              </a:solidFill>
              <a:latin typeface="Montserrat" panose="00000500000000000000" pitchFamily="2" charset="0"/>
              <a:ea typeface="微软雅黑 Light" panose="020B0502040204020203" pitchFamily="34" charset="-122"/>
            </a:endParaRPr>
          </a:p>
        </p:txBody>
      </p:sp>
      <p:sp>
        <p:nvSpPr>
          <p:cNvPr id="41" name="Text Box 2774">
            <a:extLst>
              <a:ext uri="{FF2B5EF4-FFF2-40B4-BE49-F238E27FC236}">
                <a16:creationId xmlns:a16="http://schemas.microsoft.com/office/drawing/2014/main" id="{3BD4AE0E-7817-229B-9102-5C53CCA3DDC2}"/>
              </a:ext>
            </a:extLst>
          </p:cNvPr>
          <p:cNvSpPr txBox="1">
            <a:spLocks noChangeArrowheads="1"/>
          </p:cNvSpPr>
          <p:nvPr/>
        </p:nvSpPr>
        <p:spPr bwMode="auto">
          <a:xfrm>
            <a:off x="4120814" y="2228012"/>
            <a:ext cx="34977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d</a:t>
            </a:r>
            <a:r>
              <a:rPr kumimoji="1" lang="en-US" altLang="zh-CN" sz="1400" baseline="-25000" dirty="0">
                <a:solidFill>
                  <a:srgbClr val="0000FF"/>
                </a:solidFill>
                <a:latin typeface="Montserrat" panose="00000500000000000000" pitchFamily="2" charset="0"/>
                <a:ea typeface="微软雅黑 Light" panose="020B0502040204020203" pitchFamily="34" charset="-122"/>
              </a:rPr>
              <a:t>1</a:t>
            </a:r>
          </a:p>
        </p:txBody>
      </p:sp>
      <p:sp>
        <p:nvSpPr>
          <p:cNvPr id="42" name="Text Box 2775">
            <a:extLst>
              <a:ext uri="{FF2B5EF4-FFF2-40B4-BE49-F238E27FC236}">
                <a16:creationId xmlns:a16="http://schemas.microsoft.com/office/drawing/2014/main" id="{DA4D93F4-A0A7-A1B9-F67A-1BFB5D1037EE}"/>
              </a:ext>
            </a:extLst>
          </p:cNvPr>
          <p:cNvSpPr txBox="1">
            <a:spLocks noChangeArrowheads="1"/>
          </p:cNvSpPr>
          <p:nvPr/>
        </p:nvSpPr>
        <p:spPr bwMode="auto">
          <a:xfrm>
            <a:off x="6643925" y="3391736"/>
            <a:ext cx="3738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d</a:t>
            </a:r>
            <a:r>
              <a:rPr kumimoji="1" lang="en-US" altLang="zh-CN" sz="1400" baseline="-25000" dirty="0">
                <a:solidFill>
                  <a:srgbClr val="0000FF"/>
                </a:solidFill>
                <a:latin typeface="Montserrat" panose="00000500000000000000" pitchFamily="2" charset="0"/>
                <a:ea typeface="微软雅黑 Light" panose="020B0502040204020203" pitchFamily="34" charset="-122"/>
              </a:rPr>
              <a:t>5</a:t>
            </a:r>
          </a:p>
        </p:txBody>
      </p:sp>
      <p:sp>
        <p:nvSpPr>
          <p:cNvPr id="43" name="Text Box 2776">
            <a:extLst>
              <a:ext uri="{FF2B5EF4-FFF2-40B4-BE49-F238E27FC236}">
                <a16:creationId xmlns:a16="http://schemas.microsoft.com/office/drawing/2014/main" id="{EC813D1D-50FA-0FA8-B813-8B701AC2D4FD}"/>
              </a:ext>
            </a:extLst>
          </p:cNvPr>
          <p:cNvSpPr txBox="1">
            <a:spLocks noChangeArrowheads="1"/>
          </p:cNvSpPr>
          <p:nvPr/>
        </p:nvSpPr>
        <p:spPr bwMode="auto">
          <a:xfrm>
            <a:off x="5688003" y="3903998"/>
            <a:ext cx="38504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d</a:t>
            </a:r>
            <a:r>
              <a:rPr kumimoji="1" lang="en-US" altLang="zh-CN" sz="1400" baseline="-25000" dirty="0">
                <a:solidFill>
                  <a:srgbClr val="0000FF"/>
                </a:solidFill>
                <a:latin typeface="Montserrat" panose="00000500000000000000" pitchFamily="2" charset="0"/>
                <a:ea typeface="微软雅黑 Light" panose="020B0502040204020203" pitchFamily="34" charset="-122"/>
              </a:rPr>
              <a:t>4</a:t>
            </a:r>
          </a:p>
        </p:txBody>
      </p:sp>
      <p:sp>
        <p:nvSpPr>
          <p:cNvPr id="44" name="Text Box 2777">
            <a:extLst>
              <a:ext uri="{FF2B5EF4-FFF2-40B4-BE49-F238E27FC236}">
                <a16:creationId xmlns:a16="http://schemas.microsoft.com/office/drawing/2014/main" id="{F3DDE3C4-199E-9401-BC2E-3111D380F402}"/>
              </a:ext>
            </a:extLst>
          </p:cNvPr>
          <p:cNvSpPr txBox="1">
            <a:spLocks noChangeArrowheads="1"/>
          </p:cNvSpPr>
          <p:nvPr/>
        </p:nvSpPr>
        <p:spPr bwMode="auto">
          <a:xfrm>
            <a:off x="3859749" y="3756550"/>
            <a:ext cx="3738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d</a:t>
            </a:r>
            <a:r>
              <a:rPr kumimoji="1" lang="en-US" altLang="zh-CN" sz="1400" baseline="-25000" dirty="0">
                <a:solidFill>
                  <a:srgbClr val="0000FF"/>
                </a:solidFill>
                <a:latin typeface="Montserrat" panose="00000500000000000000" pitchFamily="2" charset="0"/>
                <a:ea typeface="微软雅黑 Light" panose="020B0502040204020203" pitchFamily="34" charset="-122"/>
              </a:rPr>
              <a:t>3</a:t>
            </a:r>
          </a:p>
        </p:txBody>
      </p:sp>
      <p:sp>
        <p:nvSpPr>
          <p:cNvPr id="45" name="Text Box 2778">
            <a:extLst>
              <a:ext uri="{FF2B5EF4-FFF2-40B4-BE49-F238E27FC236}">
                <a16:creationId xmlns:a16="http://schemas.microsoft.com/office/drawing/2014/main" id="{01949736-7421-1B32-47D8-F540304FDCF2}"/>
              </a:ext>
            </a:extLst>
          </p:cNvPr>
          <p:cNvSpPr txBox="1">
            <a:spLocks noChangeArrowheads="1"/>
          </p:cNvSpPr>
          <p:nvPr/>
        </p:nvSpPr>
        <p:spPr bwMode="auto">
          <a:xfrm>
            <a:off x="3192834" y="3039186"/>
            <a:ext cx="3738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d</a:t>
            </a:r>
            <a:r>
              <a:rPr kumimoji="1" lang="en-US" altLang="zh-CN" sz="1400" baseline="-25000" dirty="0">
                <a:solidFill>
                  <a:srgbClr val="0000FF"/>
                </a:solidFill>
                <a:latin typeface="Montserrat" panose="00000500000000000000" pitchFamily="2" charset="0"/>
                <a:ea typeface="微软雅黑 Light" panose="020B0502040204020203" pitchFamily="34" charset="-122"/>
              </a:rPr>
              <a:t>2</a:t>
            </a:r>
          </a:p>
        </p:txBody>
      </p:sp>
    </p:spTree>
    <p:extLst>
      <p:ext uri="{BB962C8B-B14F-4D97-AF65-F5344CB8AC3E}">
        <p14:creationId xmlns:p14="http://schemas.microsoft.com/office/powerpoint/2010/main" val="11229203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7567EA21-EADF-B64E-9DC5-75556FADA4B5}"/>
              </a:ext>
            </a:extLst>
          </p:cNvPr>
          <p:cNvSpPr>
            <a:spLocks noGrp="1"/>
          </p:cNvSpPr>
          <p:nvPr>
            <p:ph type="title"/>
          </p:nvPr>
        </p:nvSpPr>
        <p:spPr>
          <a:xfrm>
            <a:off x="485999" y="174482"/>
            <a:ext cx="8171999" cy="338554"/>
          </a:xfrm>
        </p:spPr>
        <p:txBody>
          <a:bodyPr/>
          <a:lstStyle/>
          <a:p>
            <a:r>
              <a:rPr lang="en-US" altLang="zh-CN" dirty="0"/>
              <a:t>6.9.1 </a:t>
            </a:r>
            <a:r>
              <a:rPr lang="zh-CN" altLang="en-US" dirty="0"/>
              <a:t>集中目录服务器</a:t>
            </a:r>
          </a:p>
        </p:txBody>
      </p:sp>
      <p:sp>
        <p:nvSpPr>
          <p:cNvPr id="6" name="内容占位符 5">
            <a:extLst>
              <a:ext uri="{FF2B5EF4-FFF2-40B4-BE49-F238E27FC236}">
                <a16:creationId xmlns:a16="http://schemas.microsoft.com/office/drawing/2014/main" id="{763DD7E0-6160-A3B8-0823-26B40C6FCF8A}"/>
              </a:ext>
            </a:extLst>
          </p:cNvPr>
          <p:cNvSpPr>
            <a:spLocks noGrp="1"/>
          </p:cNvSpPr>
          <p:nvPr>
            <p:ph sz="quarter" idx="11"/>
          </p:nvPr>
        </p:nvSpPr>
        <p:spPr>
          <a:xfrm>
            <a:off x="486000" y="687518"/>
            <a:ext cx="8172000" cy="4079035"/>
          </a:xfrm>
        </p:spPr>
        <p:txBody>
          <a:bodyPr/>
          <a:lstStyle/>
          <a:p>
            <a:r>
              <a:rPr lang="en-US" altLang="zh-CN" dirty="0"/>
              <a:t>Napster </a:t>
            </a:r>
            <a:r>
              <a:rPr lang="zh-CN" altLang="en-US" dirty="0"/>
              <a:t>最早使用 </a:t>
            </a:r>
            <a:r>
              <a:rPr lang="en-US" altLang="zh-CN" dirty="0"/>
              <a:t>P2P </a:t>
            </a:r>
            <a:r>
              <a:rPr lang="zh-CN" altLang="en-US" dirty="0"/>
              <a:t>技术，提供免费下载 </a:t>
            </a:r>
            <a:r>
              <a:rPr lang="en-US" altLang="zh-CN" dirty="0"/>
              <a:t>MP3 </a:t>
            </a:r>
            <a:r>
              <a:rPr lang="zh-CN" altLang="en-US" dirty="0"/>
              <a:t>音乐</a:t>
            </a:r>
          </a:p>
          <a:p>
            <a:r>
              <a:rPr lang="en-US" altLang="zh-CN" dirty="0"/>
              <a:t>Napster </a:t>
            </a:r>
            <a:r>
              <a:rPr lang="zh-CN" altLang="en-US" dirty="0"/>
              <a:t>将所有音乐文件的索引信息都集中存放在 </a:t>
            </a:r>
            <a:r>
              <a:rPr lang="en-US" altLang="zh-CN" dirty="0"/>
              <a:t>Napster </a:t>
            </a:r>
            <a:r>
              <a:rPr lang="zh-CN" altLang="en-US" dirty="0"/>
              <a:t>目录服务器中</a:t>
            </a:r>
            <a:endParaRPr lang="en-US" altLang="zh-CN" dirty="0"/>
          </a:p>
          <a:p>
            <a:r>
              <a:rPr lang="zh-CN" altLang="en-US" dirty="0"/>
              <a:t>使用者只要查找目录服务器，就可知道应从何处下载所要的 </a:t>
            </a:r>
            <a:r>
              <a:rPr lang="en-US" altLang="zh-CN" dirty="0"/>
              <a:t>MP3 </a:t>
            </a:r>
            <a:r>
              <a:rPr lang="zh-CN" altLang="en-US" dirty="0"/>
              <a:t>文件</a:t>
            </a:r>
            <a:endParaRPr lang="en-US" altLang="zh-CN" dirty="0"/>
          </a:p>
          <a:p>
            <a:r>
              <a:rPr lang="zh-CN" altLang="en-US" dirty="0"/>
              <a:t>用户要及时向 </a:t>
            </a:r>
            <a:r>
              <a:rPr lang="en-US" altLang="zh-CN" dirty="0"/>
              <a:t>Napster </a:t>
            </a:r>
            <a:r>
              <a:rPr lang="zh-CN" altLang="en-US" dirty="0"/>
              <a:t>的目录服务器报告自己存有的音乐文件</a:t>
            </a:r>
            <a:endParaRPr lang="en-US" altLang="zh-CN" dirty="0"/>
          </a:p>
          <a:p>
            <a:r>
              <a:rPr lang="en-US" altLang="zh-CN" dirty="0"/>
              <a:t>Napster </a:t>
            </a:r>
            <a:r>
              <a:rPr lang="zh-CN" altLang="en-US" dirty="0"/>
              <a:t>的文件传输是分散的，文件的定位则是集中的</a:t>
            </a:r>
            <a:endParaRPr lang="en-US" altLang="zh-CN" dirty="0"/>
          </a:p>
          <a:p>
            <a:endParaRPr lang="zh-CN" altLang="en-US" dirty="0"/>
          </a:p>
          <a:p>
            <a:endParaRPr lang="zh-CN" altLang="en-US" dirty="0"/>
          </a:p>
        </p:txBody>
      </p:sp>
    </p:spTree>
    <p:extLst>
      <p:ext uri="{BB962C8B-B14F-4D97-AF65-F5344CB8AC3E}">
        <p14:creationId xmlns:p14="http://schemas.microsoft.com/office/powerpoint/2010/main" val="3853425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标题 42">
            <a:extLst>
              <a:ext uri="{FF2B5EF4-FFF2-40B4-BE49-F238E27FC236}">
                <a16:creationId xmlns:a16="http://schemas.microsoft.com/office/drawing/2014/main" id="{9FC0E9F2-3C51-DA69-387C-7459FEE1956E}"/>
              </a:ext>
            </a:extLst>
          </p:cNvPr>
          <p:cNvSpPr>
            <a:spLocks noGrp="1"/>
          </p:cNvSpPr>
          <p:nvPr>
            <p:ph type="title"/>
          </p:nvPr>
        </p:nvSpPr>
        <p:spPr>
          <a:xfrm>
            <a:off x="485999" y="174482"/>
            <a:ext cx="8171999" cy="338554"/>
          </a:xfrm>
        </p:spPr>
        <p:txBody>
          <a:bodyPr/>
          <a:lstStyle/>
          <a:p>
            <a:r>
              <a:rPr lang="en-US" altLang="zh-CN" dirty="0"/>
              <a:t>6.9.1 </a:t>
            </a:r>
            <a:r>
              <a:rPr lang="zh-CN" altLang="en-US" dirty="0"/>
              <a:t>集中目录服务器 </a:t>
            </a:r>
            <a:r>
              <a:rPr lang="en-US" altLang="zh-CN" dirty="0"/>
              <a:t>- </a:t>
            </a:r>
            <a:r>
              <a:rPr lang="zh-CN" altLang="en-US" dirty="0"/>
              <a:t>工作过程</a:t>
            </a:r>
          </a:p>
        </p:txBody>
      </p:sp>
      <p:sp>
        <p:nvSpPr>
          <p:cNvPr id="52" name="内容占位符 51">
            <a:extLst>
              <a:ext uri="{FF2B5EF4-FFF2-40B4-BE49-F238E27FC236}">
                <a16:creationId xmlns:a16="http://schemas.microsoft.com/office/drawing/2014/main" id="{898DDF5B-3D6E-97E1-ABB7-9A2DAD02666D}"/>
              </a:ext>
            </a:extLst>
          </p:cNvPr>
          <p:cNvSpPr>
            <a:spLocks noGrp="1"/>
          </p:cNvSpPr>
          <p:nvPr>
            <p:ph sz="quarter" idx="11"/>
          </p:nvPr>
        </p:nvSpPr>
        <p:spPr/>
        <p:txBody>
          <a:bodyPr/>
          <a:lstStyle/>
          <a:p>
            <a:endParaRPr lang="zh-CN" altLang="en-US"/>
          </a:p>
        </p:txBody>
      </p:sp>
      <p:sp>
        <p:nvSpPr>
          <p:cNvPr id="9" name="Text Box 6"/>
          <p:cNvSpPr txBox="1">
            <a:spLocks noChangeArrowheads="1"/>
          </p:cNvSpPr>
          <p:nvPr/>
        </p:nvSpPr>
        <p:spPr bwMode="auto">
          <a:xfrm>
            <a:off x="1715462" y="1659754"/>
            <a:ext cx="1484702" cy="523220"/>
          </a:xfrm>
          <a:prstGeom prst="rect">
            <a:avLst/>
          </a:prstGeom>
          <a:noFill/>
          <a:ln w="9525">
            <a:noFill/>
            <a:miter lim="800000"/>
            <a:headEnd/>
            <a:tailEnd/>
          </a:ln>
        </p:spPr>
        <p:txBody>
          <a:bodyPr wrap="none">
            <a:spAutoFit/>
          </a:bodyPr>
          <a:lstStyle/>
          <a:p>
            <a:pPr algn="ctr"/>
            <a:r>
              <a:rPr kumimoji="1" lang="en-US" altLang="zh-CN" sz="1400" dirty="0">
                <a:latin typeface="Montserrat" panose="00000500000000000000" pitchFamily="2" charset="0"/>
                <a:ea typeface="微软雅黑 Light" panose="020B0502040204020203" pitchFamily="34" charset="-122"/>
                <a:cs typeface="Times New Roman" pitchFamily="18" charset="0"/>
              </a:rPr>
              <a:t>Napster </a:t>
            </a:r>
            <a:r>
              <a:rPr kumimoji="1" lang="zh-CN" altLang="en-US" sz="1400" dirty="0">
                <a:latin typeface="Montserrat" panose="00000500000000000000" pitchFamily="2" charset="0"/>
                <a:ea typeface="微软雅黑 Light" panose="020B0502040204020203" pitchFamily="34" charset="-122"/>
                <a:cs typeface="Times New Roman" pitchFamily="18" charset="0"/>
              </a:rPr>
              <a:t>集中式</a:t>
            </a:r>
          </a:p>
          <a:p>
            <a:pPr algn="ctr"/>
            <a:r>
              <a:rPr kumimoji="1" lang="zh-CN" altLang="en-US" sz="1400" dirty="0">
                <a:latin typeface="Montserrat" panose="00000500000000000000" pitchFamily="2" charset="0"/>
                <a:ea typeface="微软雅黑 Light" panose="020B0502040204020203" pitchFamily="34" charset="-122"/>
                <a:cs typeface="Times New Roman" pitchFamily="18" charset="0"/>
              </a:rPr>
              <a:t>目录服务器</a:t>
            </a:r>
          </a:p>
        </p:txBody>
      </p:sp>
      <p:sp>
        <p:nvSpPr>
          <p:cNvPr id="11" name="Text Box 13"/>
          <p:cNvSpPr txBox="1">
            <a:spLocks noChangeArrowheads="1"/>
          </p:cNvSpPr>
          <p:nvPr/>
        </p:nvSpPr>
        <p:spPr bwMode="auto">
          <a:xfrm>
            <a:off x="5581165" y="3673572"/>
            <a:ext cx="285656" cy="276999"/>
          </a:xfrm>
          <a:prstGeom prst="rect">
            <a:avLst/>
          </a:prstGeom>
          <a:noFill/>
          <a:ln w="9525">
            <a:noFill/>
            <a:miter lim="800000"/>
            <a:headEnd/>
            <a:tailEnd/>
          </a:ln>
        </p:spPr>
        <p:txBody>
          <a:bodyPr wrap="none">
            <a:spAutoFit/>
          </a:bodyPr>
          <a:lstStyle/>
          <a:p>
            <a:r>
              <a:rPr lang="en-US" altLang="zh-CN" sz="1200" dirty="0">
                <a:latin typeface="Montserrat" panose="00000500000000000000" pitchFamily="2" charset="0"/>
                <a:ea typeface="微软雅黑 Light" panose="020B0502040204020203" pitchFamily="34" charset="-122"/>
                <a:cs typeface="Times New Roman" pitchFamily="18" charset="0"/>
              </a:rPr>
              <a:t>X</a:t>
            </a:r>
          </a:p>
        </p:txBody>
      </p:sp>
      <p:sp>
        <p:nvSpPr>
          <p:cNvPr id="17" name="Text Box 13"/>
          <p:cNvSpPr txBox="1">
            <a:spLocks noChangeArrowheads="1"/>
          </p:cNvSpPr>
          <p:nvPr/>
        </p:nvSpPr>
        <p:spPr bwMode="auto">
          <a:xfrm>
            <a:off x="3852968" y="3784426"/>
            <a:ext cx="295274" cy="276999"/>
          </a:xfrm>
          <a:prstGeom prst="rect">
            <a:avLst/>
          </a:prstGeom>
          <a:noFill/>
          <a:ln w="9525">
            <a:noFill/>
            <a:miter lim="800000"/>
            <a:headEnd/>
            <a:tailEnd/>
          </a:ln>
        </p:spPr>
        <p:txBody>
          <a:bodyPr wrap="none">
            <a:spAutoFit/>
          </a:bodyPr>
          <a:lstStyle/>
          <a:p>
            <a:r>
              <a:rPr lang="en-US" altLang="zh-CN" sz="1200" dirty="0">
                <a:latin typeface="Montserrat" panose="00000500000000000000" pitchFamily="2" charset="0"/>
                <a:ea typeface="微软雅黑 Light" panose="020B0502040204020203" pitchFamily="34" charset="-122"/>
                <a:cs typeface="Times New Roman" pitchFamily="18" charset="0"/>
              </a:rPr>
              <a:t>C</a:t>
            </a:r>
          </a:p>
        </p:txBody>
      </p:sp>
      <p:sp>
        <p:nvSpPr>
          <p:cNvPr id="18" name="Text Box 13"/>
          <p:cNvSpPr txBox="1">
            <a:spLocks noChangeArrowheads="1"/>
          </p:cNvSpPr>
          <p:nvPr/>
        </p:nvSpPr>
        <p:spPr bwMode="auto">
          <a:xfrm>
            <a:off x="6445256" y="2654880"/>
            <a:ext cx="300082" cy="276999"/>
          </a:xfrm>
          <a:prstGeom prst="rect">
            <a:avLst/>
          </a:prstGeom>
          <a:noFill/>
          <a:ln w="9525">
            <a:noFill/>
            <a:miter lim="800000"/>
            <a:headEnd/>
            <a:tailEnd/>
          </a:ln>
        </p:spPr>
        <p:txBody>
          <a:bodyPr wrap="none">
            <a:spAutoFit/>
          </a:bodyPr>
          <a:lstStyle/>
          <a:p>
            <a:r>
              <a:rPr lang="en-US" altLang="zh-CN" sz="1200" dirty="0">
                <a:latin typeface="Montserrat" panose="00000500000000000000" pitchFamily="2" charset="0"/>
                <a:ea typeface="微软雅黑 Light" panose="020B0502040204020203" pitchFamily="34" charset="-122"/>
                <a:cs typeface="Times New Roman" pitchFamily="18" charset="0"/>
              </a:rPr>
              <a:t>B</a:t>
            </a:r>
          </a:p>
        </p:txBody>
      </p:sp>
      <p:sp>
        <p:nvSpPr>
          <p:cNvPr id="19" name="Text Box 13"/>
          <p:cNvSpPr txBox="1">
            <a:spLocks noChangeArrowheads="1"/>
          </p:cNvSpPr>
          <p:nvPr/>
        </p:nvSpPr>
        <p:spPr bwMode="auto">
          <a:xfrm>
            <a:off x="4600946" y="1379756"/>
            <a:ext cx="300082" cy="276999"/>
          </a:xfrm>
          <a:prstGeom prst="rect">
            <a:avLst/>
          </a:prstGeom>
          <a:noFill/>
          <a:ln w="9525">
            <a:noFill/>
            <a:miter lim="800000"/>
            <a:headEnd/>
            <a:tailEnd/>
          </a:ln>
        </p:spPr>
        <p:txBody>
          <a:bodyPr wrap="none">
            <a:spAutoFit/>
          </a:bodyPr>
          <a:lstStyle/>
          <a:p>
            <a:r>
              <a:rPr lang="en-US" altLang="zh-CN" sz="1200" dirty="0">
                <a:latin typeface="Montserrat" panose="00000500000000000000" pitchFamily="2" charset="0"/>
                <a:ea typeface="微软雅黑 Light" panose="020B0502040204020203" pitchFamily="34" charset="-122"/>
                <a:cs typeface="Times New Roman" pitchFamily="18" charset="0"/>
              </a:rPr>
              <a:t>A</a:t>
            </a:r>
          </a:p>
        </p:txBody>
      </p:sp>
      <p:cxnSp>
        <p:nvCxnSpPr>
          <p:cNvPr id="20" name="直接箭头连接符 19"/>
          <p:cNvCxnSpPr/>
          <p:nvPr/>
        </p:nvCxnSpPr>
        <p:spPr>
          <a:xfrm flipH="1" flipV="1">
            <a:off x="2840283" y="2881484"/>
            <a:ext cx="2376264" cy="792088"/>
          </a:xfrm>
          <a:prstGeom prst="straightConnector1">
            <a:avLst/>
          </a:prstGeom>
          <a:noFill/>
          <a:ln w="19050" cap="flat" cmpd="sng" algn="ctr">
            <a:solidFill>
              <a:sysClr val="windowText" lastClr="000000"/>
            </a:solidFill>
            <a:prstDash val="solid"/>
            <a:headEnd type="none" w="med" len="med"/>
            <a:tailEnd type="triangle" w="med" len="lg"/>
          </a:ln>
          <a:effectLst/>
        </p:spPr>
      </p:cxnSp>
      <p:cxnSp>
        <p:nvCxnSpPr>
          <p:cNvPr id="21" name="直接箭头连接符 20"/>
          <p:cNvCxnSpPr/>
          <p:nvPr/>
        </p:nvCxnSpPr>
        <p:spPr>
          <a:xfrm rot="10800000" flipH="1" flipV="1">
            <a:off x="2876432" y="2980386"/>
            <a:ext cx="2376264" cy="792088"/>
          </a:xfrm>
          <a:prstGeom prst="straightConnector1">
            <a:avLst/>
          </a:prstGeom>
          <a:noFill/>
          <a:ln w="19050" cap="flat" cmpd="sng" algn="ctr">
            <a:solidFill>
              <a:sysClr val="windowText" lastClr="000000"/>
            </a:solidFill>
            <a:prstDash val="solid"/>
            <a:headEnd type="none" w="med" len="med"/>
            <a:tailEnd type="triangle" w="med" len="lg"/>
          </a:ln>
          <a:effectLst/>
        </p:spPr>
      </p:cxnSp>
      <p:sp>
        <p:nvSpPr>
          <p:cNvPr id="22" name="TextBox 21"/>
          <p:cNvSpPr txBox="1"/>
          <p:nvPr/>
        </p:nvSpPr>
        <p:spPr>
          <a:xfrm rot="1111699">
            <a:off x="3303204" y="3002304"/>
            <a:ext cx="1419187" cy="276999"/>
          </a:xfrm>
          <a:prstGeom prst="rect">
            <a:avLst/>
          </a:prstGeom>
          <a:noFill/>
        </p:spPr>
        <p:txBody>
          <a:bodyPr wrap="square" rtlCol="0">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谁有文件 </a:t>
            </a:r>
            <a:r>
              <a:rPr kumimoji="0" lang="en-US" altLang="zh-CN"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MP3#</a:t>
            </a:r>
            <a:r>
              <a:rPr kumimoji="0" lang="zh-CN" altLang="en-US"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a:t>
            </a: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23" name="TextBox 22"/>
          <p:cNvSpPr txBox="1"/>
          <p:nvPr/>
        </p:nvSpPr>
        <p:spPr>
          <a:xfrm rot="3660000">
            <a:off x="4473374" y="2433250"/>
            <a:ext cx="1435291" cy="276999"/>
          </a:xfrm>
          <a:prstGeom prst="rect">
            <a:avLst/>
          </a:prstGeom>
          <a:noFill/>
        </p:spPr>
        <p:txBody>
          <a:bodyPr wrap="square" rtlCol="0">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请求文件 </a:t>
            </a:r>
            <a:r>
              <a:rPr kumimoji="0" lang="en-US" altLang="zh-CN"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MP3#</a:t>
            </a:r>
            <a:endParaRPr kumimoji="0" lang="zh-CN" altLang="en-US"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24" name="TextBox 23"/>
          <p:cNvSpPr txBox="1"/>
          <p:nvPr/>
        </p:nvSpPr>
        <p:spPr>
          <a:xfrm>
            <a:off x="4933088" y="3374960"/>
            <a:ext cx="389850"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i="0" u="none" strike="noStrike" kern="0" cap="none" spc="0" normalizeH="0" baseline="0" noProof="0" dirty="0">
                <a:ln>
                  <a:noFill/>
                </a:ln>
                <a:solidFill>
                  <a:srgbClr val="CC00CC"/>
                </a:solidFill>
                <a:effectLst/>
                <a:uLnTx/>
                <a:uFillTx/>
                <a:latin typeface="Montserrat" panose="00000500000000000000" pitchFamily="2" charset="0"/>
                <a:ea typeface="微软雅黑 Light" panose="020B0502040204020203" pitchFamily="34" charset="-122"/>
                <a:sym typeface="Wingdings"/>
              </a:rPr>
              <a:t></a:t>
            </a:r>
            <a:endParaRPr kumimoji="0" lang="zh-CN" altLang="en-US" i="0" u="none" strike="noStrike" kern="0" cap="none" spc="0" normalizeH="0" baseline="0" noProof="0" dirty="0">
              <a:ln>
                <a:noFill/>
              </a:ln>
              <a:solidFill>
                <a:srgbClr val="CC00CC"/>
              </a:solidFill>
              <a:effectLst/>
              <a:uLnTx/>
              <a:uFillTx/>
              <a:latin typeface="Montserrat" panose="00000500000000000000" pitchFamily="2" charset="0"/>
              <a:ea typeface="微软雅黑 Light" panose="020B0502040204020203" pitchFamily="34" charset="-122"/>
            </a:endParaRPr>
          </a:p>
        </p:txBody>
      </p:sp>
      <p:sp>
        <p:nvSpPr>
          <p:cNvPr id="25" name="TextBox 24"/>
          <p:cNvSpPr txBox="1"/>
          <p:nvPr/>
        </p:nvSpPr>
        <p:spPr>
          <a:xfrm>
            <a:off x="5407334" y="3221652"/>
            <a:ext cx="389850"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i="0" u="none" strike="noStrike" kern="0" cap="none" spc="0" normalizeH="0" baseline="0" noProof="0" dirty="0">
                <a:ln>
                  <a:noFill/>
                </a:ln>
                <a:solidFill>
                  <a:srgbClr val="CC00CC"/>
                </a:solidFill>
                <a:effectLst/>
                <a:uLnTx/>
                <a:uFillTx/>
                <a:latin typeface="Montserrat" panose="00000500000000000000" pitchFamily="2" charset="0"/>
                <a:ea typeface="微软雅黑 Light" panose="020B0502040204020203" pitchFamily="34" charset="-122"/>
                <a:sym typeface="Wingdings"/>
              </a:rPr>
              <a:t></a:t>
            </a:r>
            <a:endParaRPr kumimoji="0" lang="zh-CN" altLang="en-US" i="0" u="none" strike="noStrike" kern="0" cap="none" spc="0" normalizeH="0" baseline="0" noProof="0" dirty="0">
              <a:ln>
                <a:noFill/>
              </a:ln>
              <a:solidFill>
                <a:srgbClr val="CC00CC"/>
              </a:solidFill>
              <a:effectLst/>
              <a:uLnTx/>
              <a:uFillTx/>
              <a:latin typeface="Montserrat" panose="00000500000000000000" pitchFamily="2" charset="0"/>
              <a:ea typeface="微软雅黑 Light" panose="020B0502040204020203" pitchFamily="34" charset="-122"/>
            </a:endParaRPr>
          </a:p>
        </p:txBody>
      </p:sp>
      <p:sp>
        <p:nvSpPr>
          <p:cNvPr id="26" name="TextBox 25"/>
          <p:cNvSpPr txBox="1"/>
          <p:nvPr/>
        </p:nvSpPr>
        <p:spPr>
          <a:xfrm>
            <a:off x="2700840" y="2956289"/>
            <a:ext cx="389850"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i="0" u="none" strike="noStrike" kern="0" cap="none" spc="0" normalizeH="0" baseline="0" noProof="0" dirty="0">
                <a:ln>
                  <a:noFill/>
                </a:ln>
                <a:solidFill>
                  <a:srgbClr val="CC00CC"/>
                </a:solidFill>
                <a:effectLst/>
                <a:uLnTx/>
                <a:uFillTx/>
                <a:latin typeface="Montserrat" panose="00000500000000000000" pitchFamily="2" charset="0"/>
                <a:ea typeface="微软雅黑 Light" panose="020B0502040204020203" pitchFamily="34" charset="-122"/>
                <a:sym typeface="Wingdings"/>
              </a:rPr>
              <a:t></a:t>
            </a:r>
            <a:endParaRPr kumimoji="0" lang="zh-CN" altLang="en-US" i="0" u="none" strike="noStrike" kern="0" cap="none" spc="0" normalizeH="0" baseline="0" noProof="0" dirty="0">
              <a:ln>
                <a:noFill/>
              </a:ln>
              <a:solidFill>
                <a:srgbClr val="CC00CC"/>
              </a:solidFill>
              <a:effectLst/>
              <a:uLnTx/>
              <a:uFillTx/>
              <a:latin typeface="Montserrat" panose="00000500000000000000" pitchFamily="2" charset="0"/>
              <a:ea typeface="微软雅黑 Light" panose="020B0502040204020203" pitchFamily="34" charset="-122"/>
            </a:endParaRPr>
          </a:p>
        </p:txBody>
      </p:sp>
      <p:sp>
        <p:nvSpPr>
          <p:cNvPr id="27" name="TextBox 26"/>
          <p:cNvSpPr txBox="1"/>
          <p:nvPr/>
        </p:nvSpPr>
        <p:spPr>
          <a:xfrm>
            <a:off x="4213008" y="1790784"/>
            <a:ext cx="389850"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i="0" u="none" strike="noStrike" kern="0" cap="none" spc="0" normalizeH="0" baseline="0" noProof="0" dirty="0">
                <a:ln>
                  <a:noFill/>
                </a:ln>
                <a:solidFill>
                  <a:srgbClr val="CC00CC"/>
                </a:solidFill>
                <a:effectLst/>
                <a:uLnTx/>
                <a:uFillTx/>
                <a:latin typeface="Montserrat" panose="00000500000000000000" pitchFamily="2" charset="0"/>
                <a:ea typeface="微软雅黑 Light" panose="020B0502040204020203" pitchFamily="34" charset="-122"/>
                <a:sym typeface="Wingdings"/>
              </a:rPr>
              <a:t></a:t>
            </a:r>
            <a:endParaRPr kumimoji="0" lang="zh-CN" altLang="en-US" i="0" u="none" strike="noStrike" kern="0" cap="none" spc="0" normalizeH="0" baseline="0" noProof="0" dirty="0">
              <a:ln>
                <a:noFill/>
              </a:ln>
              <a:solidFill>
                <a:srgbClr val="CC00CC"/>
              </a:solidFill>
              <a:effectLst/>
              <a:uLnTx/>
              <a:uFillTx/>
              <a:latin typeface="Montserrat" panose="00000500000000000000" pitchFamily="2" charset="0"/>
              <a:ea typeface="微软雅黑 Light" panose="020B0502040204020203" pitchFamily="34" charset="-122"/>
            </a:endParaRPr>
          </a:p>
        </p:txBody>
      </p:sp>
      <p:sp>
        <p:nvSpPr>
          <p:cNvPr id="28" name="TextBox 27"/>
          <p:cNvSpPr txBox="1"/>
          <p:nvPr/>
        </p:nvSpPr>
        <p:spPr>
          <a:xfrm rot="1111699">
            <a:off x="3146416" y="3347402"/>
            <a:ext cx="1376824" cy="276999"/>
          </a:xfrm>
          <a:prstGeom prst="rect">
            <a:avLst/>
          </a:prstGeom>
          <a:noFill/>
        </p:spPr>
        <p:txBody>
          <a:bodyPr wrap="square" rtlCol="0">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A</a:t>
            </a:r>
            <a:r>
              <a:rPr kumimoji="0" lang="zh-CN" altLang="en-US"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有，</a:t>
            </a:r>
            <a:r>
              <a:rPr kumimoji="0" lang="en-US" altLang="zh-CN"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B</a:t>
            </a:r>
            <a:r>
              <a:rPr kumimoji="0" lang="zh-CN" altLang="en-US"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有，</a:t>
            </a:r>
            <a:r>
              <a:rPr kumimoji="0" lang="en-US" altLang="zh-CN"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C</a:t>
            </a:r>
            <a:r>
              <a:rPr kumimoji="0" lang="zh-CN" altLang="en-US"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有</a:t>
            </a: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cxnSp>
        <p:nvCxnSpPr>
          <p:cNvPr id="29" name="直接箭头连接符 28"/>
          <p:cNvCxnSpPr/>
          <p:nvPr/>
        </p:nvCxnSpPr>
        <p:spPr>
          <a:xfrm flipH="1" flipV="1">
            <a:off x="4573048" y="1790784"/>
            <a:ext cx="936314" cy="1656184"/>
          </a:xfrm>
          <a:prstGeom prst="straightConnector1">
            <a:avLst/>
          </a:prstGeom>
          <a:noFill/>
          <a:ln w="19050" cap="flat" cmpd="sng" algn="ctr">
            <a:solidFill>
              <a:sysClr val="windowText" lastClr="000000"/>
            </a:solidFill>
            <a:prstDash val="solid"/>
            <a:headEnd type="none" w="med" len="med"/>
            <a:tailEnd type="triangle" w="med" len="lg"/>
          </a:ln>
          <a:effectLst/>
        </p:spPr>
      </p:cxnSp>
      <p:grpSp>
        <p:nvGrpSpPr>
          <p:cNvPr id="30" name="组合 29"/>
          <p:cNvGrpSpPr/>
          <p:nvPr/>
        </p:nvGrpSpPr>
        <p:grpSpPr>
          <a:xfrm rot="3622659">
            <a:off x="4079917" y="2618995"/>
            <a:ext cx="1584176" cy="288032"/>
            <a:chOff x="5796136" y="1484784"/>
            <a:chExt cx="1584176" cy="288032"/>
          </a:xfrm>
        </p:grpSpPr>
        <p:sp>
          <p:nvSpPr>
            <p:cNvPr id="31" name="矩形 30"/>
            <p:cNvSpPr/>
            <p:nvPr/>
          </p:nvSpPr>
          <p:spPr>
            <a:xfrm>
              <a:off x="5796136" y="1484784"/>
              <a:ext cx="1080120" cy="288032"/>
            </a:xfrm>
            <a:prstGeom prst="rect">
              <a:avLst/>
            </a:prstGeom>
            <a:solidFill>
              <a:srgbClr val="00B0F0"/>
            </a:solidFill>
            <a:ln w="9525" cap="flat" cmpd="sng" algn="ctr">
              <a:solidFill>
                <a:srgbClr val="00B0F0"/>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200" i="0" u="none" strike="noStrike" kern="0" cap="none" spc="0" normalizeH="0" baseline="0" noProof="0" dirty="0">
                  <a:ln>
                    <a:noFill/>
                  </a:ln>
                  <a:solidFill>
                    <a:schemeClr val="bg1"/>
                  </a:solidFill>
                  <a:effectLst/>
                  <a:uLnTx/>
                  <a:uFillTx/>
                  <a:latin typeface="Montserrat" panose="00000500000000000000" pitchFamily="2" charset="0"/>
                  <a:ea typeface="微软雅黑 Light" panose="020B0502040204020203" pitchFamily="34" charset="-122"/>
                  <a:cs typeface="Times New Roman" pitchFamily="18" charset="0"/>
                </a:rPr>
                <a:t>MP3#</a:t>
              </a:r>
              <a:endParaRPr kumimoji="0" lang="zh-CN" altLang="en-US" sz="1200" i="0" u="none" strike="noStrike" kern="0" cap="none" spc="0" normalizeH="0" baseline="0" noProof="0" dirty="0">
                <a:ln>
                  <a:noFill/>
                </a:ln>
                <a:solidFill>
                  <a:schemeClr val="bg1"/>
                </a:solidFill>
                <a:effectLst/>
                <a:uLnTx/>
                <a:uFillTx/>
                <a:latin typeface="Montserrat" panose="00000500000000000000" pitchFamily="2" charset="0"/>
                <a:ea typeface="微软雅黑 Light" panose="020B0502040204020203" pitchFamily="34" charset="-122"/>
                <a:cs typeface="Times New Roman" pitchFamily="18" charset="0"/>
              </a:endParaRPr>
            </a:p>
          </p:txBody>
        </p:sp>
        <p:sp>
          <p:nvSpPr>
            <p:cNvPr id="32" name="右箭头 31"/>
            <p:cNvSpPr/>
            <p:nvPr/>
          </p:nvSpPr>
          <p:spPr>
            <a:xfrm>
              <a:off x="6876256" y="1556792"/>
              <a:ext cx="504056" cy="144016"/>
            </a:xfrm>
            <a:prstGeom prst="rightArrow">
              <a:avLst>
                <a:gd name="adj1" fmla="val 50000"/>
                <a:gd name="adj2" fmla="val 162395"/>
              </a:avLst>
            </a:prstGeom>
            <a:solidFill>
              <a:srgbClr val="00B0F0"/>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 lastClr="FFFFFF"/>
                </a:solidFill>
                <a:effectLst/>
                <a:uLnTx/>
                <a:uFillTx/>
                <a:latin typeface="Montserrat" panose="00000500000000000000" pitchFamily="2" charset="0"/>
                <a:ea typeface="微软雅黑 Light" panose="020B0502040204020203" pitchFamily="34" charset="-122"/>
              </a:endParaRPr>
            </a:p>
          </p:txBody>
        </p:sp>
      </p:grpSp>
      <p:pic>
        <p:nvPicPr>
          <p:cNvPr id="2" name="Picture 197" descr="jisuanji">
            <a:extLst>
              <a:ext uri="{FF2B5EF4-FFF2-40B4-BE49-F238E27FC236}">
                <a16:creationId xmlns:a16="http://schemas.microsoft.com/office/drawing/2014/main" id="{B0F5756B-B769-41A0-C83B-0E3CAB521DB6}"/>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77140" y="1421755"/>
            <a:ext cx="360000" cy="360001"/>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197" descr="jisuanji">
            <a:extLst>
              <a:ext uri="{FF2B5EF4-FFF2-40B4-BE49-F238E27FC236}">
                <a16:creationId xmlns:a16="http://schemas.microsoft.com/office/drawing/2014/main" id="{7FB37288-3501-CF80-EA5D-05D944B19BF0}"/>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253259" y="3634601"/>
            <a:ext cx="360000" cy="360001"/>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197" descr="jisuanji">
            <a:extLst>
              <a:ext uri="{FF2B5EF4-FFF2-40B4-BE49-F238E27FC236}">
                <a16:creationId xmlns:a16="http://schemas.microsoft.com/office/drawing/2014/main" id="{4A4E0EB8-3066-B0E8-4CFA-0A686D8D25E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66502" y="1757996"/>
            <a:ext cx="360000" cy="360001"/>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197" descr="jisuanji">
            <a:extLst>
              <a:ext uri="{FF2B5EF4-FFF2-40B4-BE49-F238E27FC236}">
                <a16:creationId xmlns:a16="http://schemas.microsoft.com/office/drawing/2014/main" id="{1DB2F33D-689D-7CC1-BF70-34945A03C9FB}"/>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32020" y="2613378"/>
            <a:ext cx="360000" cy="360001"/>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197" descr="jisuanji">
            <a:extLst>
              <a:ext uri="{FF2B5EF4-FFF2-40B4-BE49-F238E27FC236}">
                <a16:creationId xmlns:a16="http://schemas.microsoft.com/office/drawing/2014/main" id="{6C2597C3-D1E3-3FF2-EB66-2D5D4F0F18ED}"/>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46189" y="3525463"/>
            <a:ext cx="360000" cy="360001"/>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197" descr="jisuanji">
            <a:extLst>
              <a:ext uri="{FF2B5EF4-FFF2-40B4-BE49-F238E27FC236}">
                <a16:creationId xmlns:a16="http://schemas.microsoft.com/office/drawing/2014/main" id="{2312335A-2EBE-E2A2-F8E0-1F6696397C69}"/>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2968" y="3744292"/>
            <a:ext cx="360000" cy="360001"/>
          </a:xfrm>
          <a:prstGeom prst="rect">
            <a:avLst/>
          </a:prstGeom>
          <a:noFill/>
          <a:extLst>
            <a:ext uri="{909E8E84-426E-40DD-AFC4-6F175D3DCCD1}">
              <a14:hiddenFill xmlns:a14="http://schemas.microsoft.com/office/drawing/2010/main">
                <a:solidFill>
                  <a:srgbClr val="FFFFFF"/>
                </a:solidFill>
              </a14:hiddenFill>
            </a:ext>
          </a:extLst>
        </p:spPr>
      </p:pic>
      <p:sp>
        <p:nvSpPr>
          <p:cNvPr id="38" name="文本框 37">
            <a:extLst>
              <a:ext uri="{FF2B5EF4-FFF2-40B4-BE49-F238E27FC236}">
                <a16:creationId xmlns:a16="http://schemas.microsoft.com/office/drawing/2014/main" id="{9C1347A0-1E85-0AA1-439B-5615DA1C7FAD}"/>
              </a:ext>
            </a:extLst>
          </p:cNvPr>
          <p:cNvSpPr txBox="1"/>
          <p:nvPr/>
        </p:nvSpPr>
        <p:spPr>
          <a:xfrm>
            <a:off x="2720216" y="3744292"/>
            <a:ext cx="311304" cy="276999"/>
          </a:xfrm>
          <a:prstGeom prst="rect">
            <a:avLst/>
          </a:prstGeom>
          <a:noFill/>
        </p:spPr>
        <p:txBody>
          <a:bodyPr wrap="none" rtlCol="0">
            <a:spAutoFit/>
          </a:bodyPr>
          <a:lstStyle/>
          <a:p>
            <a:pPr algn="just"/>
            <a:r>
              <a:rPr lang="en-US" altLang="zh-CN" sz="1200" dirty="0">
                <a:latin typeface="Montserrat" panose="00000500000000000000" pitchFamily="2" charset="0"/>
                <a:ea typeface="微软雅黑 Light" panose="020B0502040204020203" pitchFamily="34" charset="-122"/>
              </a:rPr>
              <a:t>D</a:t>
            </a:r>
            <a:endParaRPr lang="zh-CN" altLang="en-US" sz="1200" dirty="0">
              <a:latin typeface="Montserrat" panose="00000500000000000000" pitchFamily="2" charset="0"/>
              <a:ea typeface="微软雅黑 Light" panose="020B0502040204020203" pitchFamily="34" charset="-122"/>
            </a:endParaRPr>
          </a:p>
        </p:txBody>
      </p:sp>
      <p:sp>
        <p:nvSpPr>
          <p:cNvPr id="39" name="文本框 38">
            <a:extLst>
              <a:ext uri="{FF2B5EF4-FFF2-40B4-BE49-F238E27FC236}">
                <a16:creationId xmlns:a16="http://schemas.microsoft.com/office/drawing/2014/main" id="{7FBF82A1-149B-CFB5-3105-E7BC03ED9965}"/>
              </a:ext>
            </a:extLst>
          </p:cNvPr>
          <p:cNvSpPr txBox="1"/>
          <p:nvPr/>
        </p:nvSpPr>
        <p:spPr>
          <a:xfrm>
            <a:off x="5813182" y="1799496"/>
            <a:ext cx="287258" cy="276999"/>
          </a:xfrm>
          <a:prstGeom prst="rect">
            <a:avLst/>
          </a:prstGeom>
          <a:noFill/>
        </p:spPr>
        <p:txBody>
          <a:bodyPr wrap="none" rtlCol="0">
            <a:spAutoFit/>
          </a:bodyPr>
          <a:lstStyle/>
          <a:p>
            <a:pPr algn="just"/>
            <a:r>
              <a:rPr lang="en-US" altLang="zh-CN" sz="1200" dirty="0">
                <a:latin typeface="Montserrat" panose="00000500000000000000" pitchFamily="2" charset="0"/>
                <a:ea typeface="微软雅黑 Light" panose="020B0502040204020203" pitchFamily="34" charset="-122"/>
              </a:rPr>
              <a:t>E</a:t>
            </a:r>
            <a:endParaRPr lang="zh-CN" altLang="en-US" sz="1200" dirty="0">
              <a:latin typeface="Montserrat" panose="00000500000000000000" pitchFamily="2" charset="0"/>
              <a:ea typeface="微软雅黑 Light" panose="020B0502040204020203" pitchFamily="34" charset="-122"/>
            </a:endParaRPr>
          </a:p>
        </p:txBody>
      </p:sp>
      <p:pic>
        <p:nvPicPr>
          <p:cNvPr id="42" name="图片 38">
            <a:extLst>
              <a:ext uri="{FF2B5EF4-FFF2-40B4-BE49-F238E27FC236}">
                <a16:creationId xmlns:a16="http://schemas.microsoft.com/office/drawing/2014/main" id="{6C68A815-2E63-D4CB-32F6-3229AA8CFABC}"/>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356464" y="2315715"/>
            <a:ext cx="484846" cy="678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5770579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F0290A-1DA9-2EBC-1E58-B02C44449FCF}"/>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2CA09A38-570D-0D05-1496-F9BEEDF1A0FE}"/>
              </a:ext>
            </a:extLst>
          </p:cNvPr>
          <p:cNvSpPr>
            <a:spLocks noGrp="1"/>
          </p:cNvSpPr>
          <p:nvPr>
            <p:ph type="title"/>
          </p:nvPr>
        </p:nvSpPr>
        <p:spPr>
          <a:xfrm>
            <a:off x="485999" y="174482"/>
            <a:ext cx="8171999" cy="338554"/>
          </a:xfrm>
        </p:spPr>
        <p:txBody>
          <a:bodyPr/>
          <a:lstStyle/>
          <a:p>
            <a:r>
              <a:rPr lang="en-US" altLang="zh-CN" dirty="0"/>
              <a:t>6.9.1 </a:t>
            </a:r>
            <a:r>
              <a:rPr lang="zh-CN" altLang="en-US" dirty="0"/>
              <a:t>集中目录服务器 </a:t>
            </a:r>
            <a:r>
              <a:rPr lang="en-US" altLang="zh-CN" dirty="0"/>
              <a:t>- </a:t>
            </a:r>
            <a:r>
              <a:rPr lang="zh-CN" altLang="en-US" dirty="0"/>
              <a:t>缺点</a:t>
            </a:r>
          </a:p>
        </p:txBody>
      </p:sp>
      <p:sp>
        <p:nvSpPr>
          <p:cNvPr id="6" name="内容占位符 5">
            <a:extLst>
              <a:ext uri="{FF2B5EF4-FFF2-40B4-BE49-F238E27FC236}">
                <a16:creationId xmlns:a16="http://schemas.microsoft.com/office/drawing/2014/main" id="{9112FE62-C0FC-9E07-D0C8-30E7C0DDC009}"/>
              </a:ext>
            </a:extLst>
          </p:cNvPr>
          <p:cNvSpPr>
            <a:spLocks noGrp="1"/>
          </p:cNvSpPr>
          <p:nvPr>
            <p:ph sz="quarter" idx="11"/>
          </p:nvPr>
        </p:nvSpPr>
        <p:spPr>
          <a:xfrm>
            <a:off x="486000" y="687518"/>
            <a:ext cx="8172000" cy="4079035"/>
          </a:xfrm>
        </p:spPr>
        <p:txBody>
          <a:bodyPr/>
          <a:lstStyle/>
          <a:p>
            <a:r>
              <a:rPr lang="zh-CN" altLang="en-US" dirty="0"/>
              <a:t>可靠性差 </a:t>
            </a:r>
            <a:r>
              <a:rPr lang="en-US" altLang="zh-CN" dirty="0"/>
              <a:t>Reliability Issues</a:t>
            </a:r>
          </a:p>
          <a:p>
            <a:r>
              <a:rPr lang="zh-CN" altLang="en-US" dirty="0"/>
              <a:t>性能瓶颈 </a:t>
            </a:r>
            <a:r>
              <a:rPr lang="en-US" altLang="zh-CN" dirty="0"/>
              <a:t>Scalability and Performance Bottleneck</a:t>
            </a:r>
            <a:endParaRPr lang="zh-CN" altLang="en-US" dirty="0"/>
          </a:p>
          <a:p>
            <a:r>
              <a:rPr lang="zh-CN" altLang="en-US" dirty="0"/>
              <a:t>知识产权侵权 </a:t>
            </a:r>
            <a:r>
              <a:rPr lang="en-US" altLang="zh-CN" dirty="0"/>
              <a:t>Copyright Infringement</a:t>
            </a:r>
            <a:endParaRPr lang="zh-CN" altLang="en-US" dirty="0"/>
          </a:p>
          <a:p>
            <a:endParaRPr lang="zh-CN" altLang="en-US" dirty="0"/>
          </a:p>
        </p:txBody>
      </p:sp>
    </p:spTree>
    <p:extLst>
      <p:ext uri="{BB962C8B-B14F-4D97-AF65-F5344CB8AC3E}">
        <p14:creationId xmlns:p14="http://schemas.microsoft.com/office/powerpoint/2010/main" val="29302263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AB163A2F-097E-5983-AB7D-A840DBF7A8D7}"/>
              </a:ext>
            </a:extLst>
          </p:cNvPr>
          <p:cNvSpPr>
            <a:spLocks noGrp="1"/>
          </p:cNvSpPr>
          <p:nvPr>
            <p:ph type="title"/>
          </p:nvPr>
        </p:nvSpPr>
        <p:spPr>
          <a:xfrm>
            <a:off x="485999" y="174482"/>
            <a:ext cx="8171999" cy="338554"/>
          </a:xfrm>
        </p:spPr>
        <p:txBody>
          <a:bodyPr/>
          <a:lstStyle/>
          <a:p>
            <a:r>
              <a:rPr lang="en-US" altLang="zh-CN" dirty="0"/>
              <a:t>6.9.2 </a:t>
            </a:r>
            <a:r>
              <a:rPr lang="zh-CN" altLang="en-US" dirty="0"/>
              <a:t>全分布式结构</a:t>
            </a:r>
          </a:p>
        </p:txBody>
      </p:sp>
      <p:sp>
        <p:nvSpPr>
          <p:cNvPr id="6" name="内容占位符 5">
            <a:extLst>
              <a:ext uri="{FF2B5EF4-FFF2-40B4-BE49-F238E27FC236}">
                <a16:creationId xmlns:a16="http://schemas.microsoft.com/office/drawing/2014/main" id="{D279A7E6-C069-1154-8DB6-9C207BB2DC88}"/>
              </a:ext>
            </a:extLst>
          </p:cNvPr>
          <p:cNvSpPr>
            <a:spLocks noGrp="1"/>
          </p:cNvSpPr>
          <p:nvPr>
            <p:ph sz="quarter" idx="11"/>
          </p:nvPr>
        </p:nvSpPr>
        <p:spPr>
          <a:xfrm>
            <a:off x="486000" y="687518"/>
            <a:ext cx="8172000" cy="4079035"/>
          </a:xfrm>
        </p:spPr>
        <p:txBody>
          <a:bodyPr/>
          <a:lstStyle/>
          <a:p>
            <a:r>
              <a:rPr lang="en-US" altLang="zh-CN" dirty="0"/>
              <a:t>Gnutella </a:t>
            </a:r>
            <a:r>
              <a:rPr lang="zh-CN" altLang="en-US" dirty="0"/>
              <a:t>是第二代 </a:t>
            </a:r>
            <a:r>
              <a:rPr lang="en-US" altLang="zh-CN" dirty="0"/>
              <a:t>P2P </a:t>
            </a:r>
            <a:r>
              <a:rPr lang="zh-CN" altLang="en-US" dirty="0"/>
              <a:t>文件共享程序</a:t>
            </a:r>
            <a:endParaRPr lang="en-US" altLang="zh-CN" dirty="0"/>
          </a:p>
          <a:p>
            <a:pPr lvl="1"/>
            <a:r>
              <a:rPr lang="zh-CN" altLang="en-US" dirty="0"/>
              <a:t>采用全分布方法定位内容的 </a:t>
            </a:r>
            <a:r>
              <a:rPr lang="en-US" altLang="zh-CN" dirty="0"/>
              <a:t>P2P </a:t>
            </a:r>
            <a:r>
              <a:rPr lang="zh-CN" altLang="en-US" dirty="0"/>
              <a:t>文件共享应用程序</a:t>
            </a:r>
          </a:p>
          <a:p>
            <a:r>
              <a:rPr lang="en-US" altLang="zh-CN" dirty="0"/>
              <a:t>Gnutella </a:t>
            </a:r>
            <a:r>
              <a:rPr lang="zh-CN" altLang="en-US" dirty="0"/>
              <a:t>与 </a:t>
            </a:r>
            <a:r>
              <a:rPr lang="en-US" altLang="zh-CN" dirty="0"/>
              <a:t>Napster </a:t>
            </a:r>
            <a:r>
              <a:rPr lang="zh-CN" altLang="en-US" dirty="0"/>
              <a:t>最大的区别</a:t>
            </a:r>
            <a:endParaRPr lang="en-US" altLang="zh-CN" dirty="0"/>
          </a:p>
          <a:p>
            <a:pPr lvl="1"/>
            <a:r>
              <a:rPr lang="zh-CN" altLang="en-US" dirty="0"/>
              <a:t>不使用集中式的目录服务器</a:t>
            </a:r>
            <a:endParaRPr lang="en-US" altLang="zh-CN" dirty="0"/>
          </a:p>
          <a:p>
            <a:pPr lvl="1"/>
            <a:r>
              <a:rPr lang="zh-CN" altLang="en-US" dirty="0"/>
              <a:t>使用洪泛法在大量 </a:t>
            </a:r>
            <a:r>
              <a:rPr lang="en-US" altLang="zh-CN" dirty="0"/>
              <a:t>Gnutella </a:t>
            </a:r>
            <a:r>
              <a:rPr lang="zh-CN" altLang="en-US" dirty="0"/>
              <a:t>用户之间进行查询</a:t>
            </a:r>
          </a:p>
          <a:p>
            <a:r>
              <a:rPr lang="zh-CN" altLang="en-US" dirty="0"/>
              <a:t>为了不使查询的通信量过大，</a:t>
            </a:r>
            <a:r>
              <a:rPr lang="en-US" altLang="zh-CN" dirty="0"/>
              <a:t>Gnutella </a:t>
            </a:r>
            <a:r>
              <a:rPr lang="zh-CN" altLang="en-US" dirty="0"/>
              <a:t>设计了一种有限范围的洪泛查询，减少了倾注到互联网的查询流量，但也影响到查询定位的准确性</a:t>
            </a:r>
            <a:endParaRPr lang="en-US" altLang="zh-CN" dirty="0"/>
          </a:p>
          <a:p>
            <a:r>
              <a:rPr lang="zh-CN" altLang="en-US" dirty="0"/>
              <a:t>第三代 </a:t>
            </a:r>
            <a:r>
              <a:rPr lang="en-US" altLang="zh-CN" dirty="0"/>
              <a:t>P2P </a:t>
            </a:r>
            <a:r>
              <a:rPr lang="zh-CN" altLang="en-US" dirty="0"/>
              <a:t>文件共享程序采用分散定位和分散传输技术</a:t>
            </a:r>
            <a:endParaRPr lang="en-US" altLang="zh-CN" dirty="0"/>
          </a:p>
          <a:p>
            <a:endParaRPr lang="zh-CN" altLang="en-US" dirty="0"/>
          </a:p>
        </p:txBody>
      </p:sp>
    </p:spTree>
    <p:extLst>
      <p:ext uri="{BB962C8B-B14F-4D97-AF65-F5344CB8AC3E}">
        <p14:creationId xmlns:p14="http://schemas.microsoft.com/office/powerpoint/2010/main" val="12225524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E7BFB4-6496-BD2C-91E7-A385BA5DE176}"/>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5950782A-CA50-A7AE-5CE1-87B14C34624E}"/>
              </a:ext>
            </a:extLst>
          </p:cNvPr>
          <p:cNvSpPr>
            <a:spLocks noGrp="1"/>
          </p:cNvSpPr>
          <p:nvPr>
            <p:ph type="title"/>
          </p:nvPr>
        </p:nvSpPr>
        <p:spPr>
          <a:xfrm>
            <a:off x="485999" y="174482"/>
            <a:ext cx="8171999" cy="338554"/>
          </a:xfrm>
        </p:spPr>
        <p:txBody>
          <a:bodyPr/>
          <a:lstStyle/>
          <a:p>
            <a:r>
              <a:rPr lang="en-US" altLang="zh-CN" dirty="0"/>
              <a:t>6.9.2 </a:t>
            </a:r>
            <a:r>
              <a:rPr lang="zh-CN" altLang="en-US" dirty="0"/>
              <a:t>全分布式结构 </a:t>
            </a:r>
            <a:r>
              <a:rPr lang="en-US" altLang="zh-CN" dirty="0"/>
              <a:t>– </a:t>
            </a:r>
            <a:r>
              <a:rPr lang="zh-CN" altLang="en-US" dirty="0"/>
              <a:t>应用</a:t>
            </a:r>
          </a:p>
        </p:txBody>
      </p:sp>
      <p:sp>
        <p:nvSpPr>
          <p:cNvPr id="6" name="内容占位符 5">
            <a:extLst>
              <a:ext uri="{FF2B5EF4-FFF2-40B4-BE49-F238E27FC236}">
                <a16:creationId xmlns:a16="http://schemas.microsoft.com/office/drawing/2014/main" id="{63048B14-783E-9055-E4C8-5FFB1B3C429A}"/>
              </a:ext>
            </a:extLst>
          </p:cNvPr>
          <p:cNvSpPr>
            <a:spLocks noGrp="1"/>
          </p:cNvSpPr>
          <p:nvPr>
            <p:ph sz="quarter" idx="11"/>
          </p:nvPr>
        </p:nvSpPr>
        <p:spPr>
          <a:xfrm>
            <a:off x="486000" y="687518"/>
            <a:ext cx="8172000" cy="4079035"/>
          </a:xfrm>
        </p:spPr>
        <p:txBody>
          <a:bodyPr/>
          <a:lstStyle/>
          <a:p>
            <a:endParaRPr lang="en-US" altLang="zh-CN" dirty="0"/>
          </a:p>
          <a:p>
            <a:r>
              <a:rPr lang="zh-CN" altLang="en-US" dirty="0"/>
              <a:t>电骡 </a:t>
            </a:r>
            <a:r>
              <a:rPr lang="en-US" altLang="zh-CN" dirty="0" err="1"/>
              <a:t>eMule</a:t>
            </a:r>
            <a:endParaRPr lang="en-US" altLang="zh-CN" dirty="0"/>
          </a:p>
          <a:p>
            <a:endParaRPr lang="en-US" altLang="zh-CN" dirty="0"/>
          </a:p>
          <a:p>
            <a:r>
              <a:rPr lang="zh-CN" altLang="en-US" dirty="0"/>
              <a:t>比特洪流 </a:t>
            </a:r>
            <a:r>
              <a:rPr lang="en-US" altLang="zh-CN" dirty="0"/>
              <a:t>BT (Bit Torrent) </a:t>
            </a:r>
          </a:p>
          <a:p>
            <a:endParaRPr lang="en-US" altLang="zh-CN" dirty="0"/>
          </a:p>
          <a:p>
            <a:r>
              <a:rPr lang="zh-CN" altLang="en-US" dirty="0"/>
              <a:t>马子 </a:t>
            </a:r>
            <a:r>
              <a:rPr lang="en-US" altLang="zh-CN" dirty="0"/>
              <a:t>Maze</a:t>
            </a:r>
          </a:p>
          <a:p>
            <a:endParaRPr lang="zh-CN" altLang="en-US" dirty="0"/>
          </a:p>
          <a:p>
            <a:r>
              <a:rPr lang="en-US" altLang="zh-CN" dirty="0" err="1"/>
              <a:t>KaZaA</a:t>
            </a:r>
            <a:endParaRPr lang="en-US" altLang="zh-CN" dirty="0"/>
          </a:p>
          <a:p>
            <a:endParaRPr lang="en-US" altLang="zh-CN" dirty="0"/>
          </a:p>
          <a:p>
            <a:r>
              <a:rPr lang="zh-CN" altLang="en-US" dirty="0"/>
              <a:t>迅雷</a:t>
            </a:r>
            <a:endParaRPr lang="en-US" altLang="zh-CN" dirty="0"/>
          </a:p>
          <a:p>
            <a:endParaRPr lang="zh-CN" altLang="en-US" dirty="0"/>
          </a:p>
        </p:txBody>
      </p:sp>
      <p:pic>
        <p:nvPicPr>
          <p:cNvPr id="1026" name="Picture 2">
            <a:extLst>
              <a:ext uri="{FF2B5EF4-FFF2-40B4-BE49-F238E27FC236}">
                <a16:creationId xmlns:a16="http://schemas.microsoft.com/office/drawing/2014/main" id="{F60B2411-1DD4-DB40-32AD-9B754C8C852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17610" y="936382"/>
            <a:ext cx="457200" cy="4572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050FFBF8-9DFA-690D-0F09-27C6A3035EDF}"/>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38331" y="3518733"/>
            <a:ext cx="503434" cy="457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230576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654"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347371" y="4317080"/>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3655"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347371" y="2372864"/>
            <a:ext cx="359999" cy="360000"/>
          </a:xfrm>
          <a:prstGeom prst="rect">
            <a:avLst/>
          </a:prstGeom>
          <a:noFill/>
          <a:extLst>
            <a:ext uri="{909E8E84-426E-40DD-AFC4-6F175D3DCCD1}">
              <a14:hiddenFill xmlns:a14="http://schemas.microsoft.com/office/drawing/2010/main">
                <a:solidFill>
                  <a:srgbClr val="FFFFFF"/>
                </a:solidFill>
              </a14:hiddenFill>
            </a:ext>
          </a:extLst>
        </p:spPr>
      </p:pic>
      <p:sp>
        <p:nvSpPr>
          <p:cNvPr id="5" name="标题 4">
            <a:extLst>
              <a:ext uri="{FF2B5EF4-FFF2-40B4-BE49-F238E27FC236}">
                <a16:creationId xmlns:a16="http://schemas.microsoft.com/office/drawing/2014/main" id="{931A9957-7F1A-DB85-512C-D816C26F2022}"/>
              </a:ext>
            </a:extLst>
          </p:cNvPr>
          <p:cNvSpPr>
            <a:spLocks noGrp="1"/>
          </p:cNvSpPr>
          <p:nvPr>
            <p:ph type="title"/>
          </p:nvPr>
        </p:nvSpPr>
        <p:spPr>
          <a:xfrm>
            <a:off x="485999" y="174482"/>
            <a:ext cx="8171999" cy="338554"/>
          </a:xfrm>
        </p:spPr>
        <p:txBody>
          <a:bodyPr/>
          <a:lstStyle/>
          <a:p>
            <a:r>
              <a:rPr lang="en-US" altLang="zh-CN" dirty="0"/>
              <a:t>6.9.2 </a:t>
            </a:r>
            <a:r>
              <a:rPr lang="zh-CN" altLang="en-US" dirty="0"/>
              <a:t>全分布式结构 </a:t>
            </a:r>
            <a:r>
              <a:rPr lang="en-US" altLang="zh-CN" dirty="0"/>
              <a:t>– </a:t>
            </a:r>
            <a:r>
              <a:rPr lang="zh-CN" altLang="en-US" dirty="0"/>
              <a:t> </a:t>
            </a:r>
            <a:r>
              <a:rPr lang="en-US" altLang="zh-CN" dirty="0"/>
              <a:t>BT</a:t>
            </a:r>
            <a:endParaRPr lang="zh-CN" altLang="en-US" dirty="0"/>
          </a:p>
        </p:txBody>
      </p:sp>
      <p:sp>
        <p:nvSpPr>
          <p:cNvPr id="6" name="内容占位符 5">
            <a:extLst>
              <a:ext uri="{FF2B5EF4-FFF2-40B4-BE49-F238E27FC236}">
                <a16:creationId xmlns:a16="http://schemas.microsoft.com/office/drawing/2014/main" id="{7B70764B-C301-1896-D6BB-62FF60D32718}"/>
              </a:ext>
            </a:extLst>
          </p:cNvPr>
          <p:cNvSpPr>
            <a:spLocks noGrp="1"/>
          </p:cNvSpPr>
          <p:nvPr>
            <p:ph sz="quarter" idx="11"/>
          </p:nvPr>
        </p:nvSpPr>
        <p:spPr>
          <a:xfrm>
            <a:off x="486000" y="687518"/>
            <a:ext cx="8172000" cy="4079035"/>
          </a:xfrm>
        </p:spPr>
        <p:txBody>
          <a:bodyPr/>
          <a:lstStyle/>
          <a:p>
            <a:r>
              <a:rPr lang="zh-CN" altLang="en-US" dirty="0"/>
              <a:t>洪流 </a:t>
            </a:r>
            <a:r>
              <a:rPr lang="en-US" altLang="zh-CN" dirty="0"/>
              <a:t>torrent </a:t>
            </a:r>
            <a:r>
              <a:rPr lang="zh-CN" altLang="en-US" dirty="0"/>
              <a:t>：</a:t>
            </a:r>
            <a:r>
              <a:rPr lang="en-US" altLang="zh-CN" dirty="0"/>
              <a:t>BitTorrent </a:t>
            </a:r>
            <a:r>
              <a:rPr lang="zh-CN" altLang="en-US" dirty="0"/>
              <a:t>所有对等方集合</a:t>
            </a:r>
            <a:endParaRPr lang="en-US" altLang="zh-CN" dirty="0"/>
          </a:p>
          <a:p>
            <a:r>
              <a:rPr lang="zh-CN" altLang="en-US" dirty="0"/>
              <a:t>文件块 </a:t>
            </a:r>
            <a:r>
              <a:rPr lang="en-US" altLang="zh-CN" dirty="0"/>
              <a:t>chunk</a:t>
            </a:r>
            <a:r>
              <a:rPr lang="zh-CN" altLang="en-US" dirty="0"/>
              <a:t>：下载文件的数据单元，长度固定不变</a:t>
            </a:r>
            <a:endParaRPr lang="en-US" altLang="zh-CN" dirty="0"/>
          </a:p>
          <a:p>
            <a:r>
              <a:rPr lang="zh-CN" altLang="en-US" dirty="0"/>
              <a:t>追踪器 </a:t>
            </a:r>
            <a:r>
              <a:rPr lang="en-US" altLang="zh-CN" dirty="0"/>
              <a:t>tracker</a:t>
            </a:r>
            <a:r>
              <a:rPr lang="zh-CN" altLang="en-US" dirty="0"/>
              <a:t>：基础设施结点；管理对等用户</a:t>
            </a:r>
            <a:endParaRPr lang="en-US" altLang="zh-CN" dirty="0"/>
          </a:p>
          <a:p>
            <a:r>
              <a:rPr lang="zh-CN" altLang="en-US" dirty="0"/>
              <a:t>相邻对等方 </a:t>
            </a:r>
            <a:r>
              <a:rPr lang="en-US" altLang="zh-CN" dirty="0"/>
              <a:t>neighboring peers</a:t>
            </a:r>
            <a:r>
              <a:rPr lang="zh-CN" altLang="en-US" dirty="0"/>
              <a:t>：所有与 </a:t>
            </a:r>
            <a:r>
              <a:rPr lang="en-US" altLang="zh-CN" dirty="0"/>
              <a:t>A </a:t>
            </a:r>
            <a:r>
              <a:rPr lang="zh-CN" altLang="en-US" dirty="0"/>
              <a:t>建立了 </a:t>
            </a:r>
            <a:r>
              <a:rPr lang="en-US" altLang="zh-CN" dirty="0"/>
              <a:t>TCP </a:t>
            </a:r>
            <a:r>
              <a:rPr lang="zh-CN" altLang="en-US" dirty="0"/>
              <a:t>连接的对等方</a:t>
            </a:r>
            <a:endParaRPr lang="en-US" altLang="zh-CN" dirty="0"/>
          </a:p>
          <a:p>
            <a:pPr lvl="1"/>
            <a:r>
              <a:rPr lang="zh-CN" altLang="en-US" dirty="0"/>
              <a:t>登记</a:t>
            </a:r>
            <a:endParaRPr lang="en-US" altLang="zh-CN" dirty="0"/>
          </a:p>
          <a:p>
            <a:pPr lvl="1"/>
            <a:r>
              <a:rPr lang="zh-CN" altLang="en-US" dirty="0"/>
              <a:t>汇报</a:t>
            </a:r>
            <a:endParaRPr lang="en-US" altLang="zh-CN" dirty="0"/>
          </a:p>
          <a:p>
            <a:pPr lvl="1"/>
            <a:r>
              <a:rPr lang="zh-CN" altLang="en-US" dirty="0"/>
              <a:t>加入离开任意</a:t>
            </a:r>
            <a:endParaRPr lang="en-US" altLang="zh-CN" dirty="0"/>
          </a:p>
          <a:p>
            <a:pPr lvl="1"/>
            <a:r>
              <a:rPr lang="zh-CN" altLang="en-US" dirty="0"/>
              <a:t>无私用户</a:t>
            </a:r>
            <a:endParaRPr lang="en-US" altLang="zh-CN" dirty="0"/>
          </a:p>
          <a:p>
            <a:pPr lvl="1"/>
            <a:r>
              <a:rPr lang="zh-CN" altLang="en-US" dirty="0"/>
              <a:t>自私用户</a:t>
            </a:r>
          </a:p>
        </p:txBody>
      </p:sp>
      <p:pic>
        <p:nvPicPr>
          <p:cNvPr id="3649"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740237" y="3080827"/>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3651"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894522" y="4317080"/>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3652"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187131" y="4173064"/>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3653"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123235" y="3813024"/>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3656"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19379" y="3164952"/>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3657"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785856" y="2114187"/>
            <a:ext cx="360000" cy="360001"/>
          </a:xfrm>
          <a:prstGeom prst="rect">
            <a:avLst/>
          </a:prstGeom>
          <a:noFill/>
          <a:extLst>
            <a:ext uri="{909E8E84-426E-40DD-AFC4-6F175D3DCCD1}">
              <a14:hiddenFill xmlns:a14="http://schemas.microsoft.com/office/drawing/2010/main">
                <a:solidFill>
                  <a:srgbClr val="FFFFFF"/>
                </a:solidFill>
              </a14:hiddenFill>
            </a:ext>
          </a:extLst>
        </p:spPr>
      </p:pic>
      <p:pic>
        <p:nvPicPr>
          <p:cNvPr id="3650" name="图片 3649"/>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537706" y="2032391"/>
            <a:ext cx="485811" cy="680135"/>
          </a:xfrm>
          <a:prstGeom prst="rect">
            <a:avLst/>
          </a:prstGeom>
        </p:spPr>
      </p:pic>
      <p:sp>
        <p:nvSpPr>
          <p:cNvPr id="459" name="Text Box 457"/>
          <p:cNvSpPr txBox="1">
            <a:spLocks noChangeArrowheads="1"/>
          </p:cNvSpPr>
          <p:nvPr/>
        </p:nvSpPr>
        <p:spPr bwMode="auto">
          <a:xfrm rot="475942">
            <a:off x="6429351" y="2131022"/>
            <a:ext cx="7569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lang="en-US" altLang="zh-CN" sz="1400" dirty="0">
                <a:latin typeface="Montserrat" panose="00000500000000000000" pitchFamily="2" charset="0"/>
              </a:rPr>
              <a:t>chunk</a:t>
            </a:r>
            <a:endParaRPr kumimoji="1" lang="zh-CN" altLang="en-US" sz="1400" dirty="0">
              <a:solidFill>
                <a:sysClr val="windowText" lastClr="000000"/>
              </a:solidFill>
              <a:latin typeface="Montserrat" panose="00000500000000000000" pitchFamily="2" charset="0"/>
              <a:ea typeface="微软雅黑 Light" panose="020B0502040204020203" pitchFamily="34" charset="-122"/>
            </a:endParaRPr>
          </a:p>
        </p:txBody>
      </p:sp>
      <p:sp>
        <p:nvSpPr>
          <p:cNvPr id="461" name="Text Box 459"/>
          <p:cNvSpPr txBox="1">
            <a:spLocks noChangeArrowheads="1"/>
          </p:cNvSpPr>
          <p:nvPr/>
        </p:nvSpPr>
        <p:spPr bwMode="auto">
          <a:xfrm>
            <a:off x="3971685" y="2246999"/>
            <a:ext cx="8242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lang="en-US" altLang="zh-CN" sz="1400" dirty="0">
                <a:latin typeface="Montserrat" panose="00000500000000000000" pitchFamily="2" charset="0"/>
              </a:rPr>
              <a:t>tracker</a:t>
            </a:r>
            <a:endParaRPr kumimoji="1" lang="zh-CN" altLang="en-US" sz="1400" dirty="0">
              <a:solidFill>
                <a:sysClr val="windowText" lastClr="000000"/>
              </a:solidFill>
              <a:latin typeface="Montserrat" panose="00000500000000000000" pitchFamily="2" charset="0"/>
              <a:ea typeface="微软雅黑 Light" panose="020B0502040204020203" pitchFamily="34" charset="-122"/>
            </a:endParaRPr>
          </a:p>
        </p:txBody>
      </p:sp>
      <p:sp>
        <p:nvSpPr>
          <p:cNvPr id="2727" name="Line 2725"/>
          <p:cNvSpPr>
            <a:spLocks noChangeShapeType="1"/>
          </p:cNvSpPr>
          <p:nvPr/>
        </p:nvSpPr>
        <p:spPr bwMode="auto">
          <a:xfrm rot="816166">
            <a:off x="3248626" y="3747467"/>
            <a:ext cx="2015690" cy="248572"/>
          </a:xfrm>
          <a:prstGeom prst="line">
            <a:avLst/>
          </a:prstGeom>
          <a:noFill/>
          <a:ln w="19050">
            <a:solidFill>
              <a:srgbClr val="5780CA"/>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2728" name="Text Box 2726"/>
          <p:cNvSpPr txBox="1">
            <a:spLocks noChangeArrowheads="1"/>
          </p:cNvSpPr>
          <p:nvPr/>
        </p:nvSpPr>
        <p:spPr bwMode="auto">
          <a:xfrm>
            <a:off x="2504840" y="3080827"/>
            <a:ext cx="31290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ysClr val="windowText" lastClr="000000"/>
                </a:solidFill>
                <a:latin typeface="Montserrat" panose="00000500000000000000" pitchFamily="2" charset="0"/>
                <a:ea typeface="微软雅黑 Light" panose="020B0502040204020203" pitchFamily="34" charset="-122"/>
              </a:rPr>
              <a:t>A</a:t>
            </a:r>
            <a:endParaRPr kumimoji="1" lang="en-US" altLang="zh-CN" sz="1400" i="1" dirty="0">
              <a:solidFill>
                <a:sysClr val="windowText" lastClr="000000"/>
              </a:solidFill>
              <a:latin typeface="Montserrat" panose="00000500000000000000" pitchFamily="2" charset="0"/>
              <a:ea typeface="微软雅黑 Light" panose="020B0502040204020203" pitchFamily="34" charset="-122"/>
            </a:endParaRPr>
          </a:p>
        </p:txBody>
      </p:sp>
      <p:sp>
        <p:nvSpPr>
          <p:cNvPr id="2729" name="Line 2727"/>
          <p:cNvSpPr>
            <a:spLocks noChangeShapeType="1"/>
          </p:cNvSpPr>
          <p:nvPr/>
        </p:nvSpPr>
        <p:spPr bwMode="auto">
          <a:xfrm rot="816166" flipV="1">
            <a:off x="3425329" y="2989678"/>
            <a:ext cx="3996187" cy="821086"/>
          </a:xfrm>
          <a:prstGeom prst="line">
            <a:avLst/>
          </a:prstGeom>
          <a:noFill/>
          <a:ln w="19050">
            <a:solidFill>
              <a:srgbClr val="5780CA"/>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2730" name="Line 2728"/>
          <p:cNvSpPr>
            <a:spLocks noChangeShapeType="1"/>
          </p:cNvSpPr>
          <p:nvPr/>
        </p:nvSpPr>
        <p:spPr bwMode="auto">
          <a:xfrm rot="816166" flipV="1">
            <a:off x="3417579" y="2252529"/>
            <a:ext cx="2258355" cy="1194749"/>
          </a:xfrm>
          <a:prstGeom prst="line">
            <a:avLst/>
          </a:prstGeom>
          <a:noFill/>
          <a:ln w="19050">
            <a:solidFill>
              <a:srgbClr val="5780CA"/>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2731" name="Line 2729"/>
          <p:cNvSpPr>
            <a:spLocks noChangeShapeType="1"/>
          </p:cNvSpPr>
          <p:nvPr/>
        </p:nvSpPr>
        <p:spPr bwMode="auto">
          <a:xfrm rot="816166" flipV="1">
            <a:off x="2961698" y="2518082"/>
            <a:ext cx="441805" cy="574543"/>
          </a:xfrm>
          <a:prstGeom prst="line">
            <a:avLst/>
          </a:prstGeom>
          <a:noFill/>
          <a:ln w="381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38" name="Line 3637"/>
          <p:cNvSpPr>
            <a:spLocks noChangeShapeType="1"/>
          </p:cNvSpPr>
          <p:nvPr/>
        </p:nvSpPr>
        <p:spPr bwMode="auto">
          <a:xfrm rot="816166">
            <a:off x="5867585" y="2756884"/>
            <a:ext cx="1703238" cy="1349082"/>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39" name="Line 3638"/>
          <p:cNvSpPr>
            <a:spLocks noChangeShapeType="1"/>
          </p:cNvSpPr>
          <p:nvPr/>
        </p:nvSpPr>
        <p:spPr bwMode="auto">
          <a:xfrm rot="816166" flipV="1">
            <a:off x="6257173" y="2427701"/>
            <a:ext cx="1090939" cy="107523"/>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40" name="Line 3639"/>
          <p:cNvSpPr>
            <a:spLocks noChangeShapeType="1"/>
          </p:cNvSpPr>
          <p:nvPr/>
        </p:nvSpPr>
        <p:spPr bwMode="auto">
          <a:xfrm rot="816166" flipH="1">
            <a:off x="4568785" y="2442731"/>
            <a:ext cx="1152312" cy="2142376"/>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41" name="Line 3640"/>
          <p:cNvSpPr>
            <a:spLocks noChangeShapeType="1"/>
          </p:cNvSpPr>
          <p:nvPr/>
        </p:nvSpPr>
        <p:spPr bwMode="auto">
          <a:xfrm rot="816166">
            <a:off x="6208902" y="2670726"/>
            <a:ext cx="1277756" cy="419728"/>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42" name="Line 3641"/>
          <p:cNvSpPr>
            <a:spLocks noChangeShapeType="1"/>
          </p:cNvSpPr>
          <p:nvPr/>
        </p:nvSpPr>
        <p:spPr bwMode="auto">
          <a:xfrm rot="816166" flipV="1">
            <a:off x="5729864" y="4081020"/>
            <a:ext cx="462178" cy="297134"/>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43" name="Line 3642"/>
          <p:cNvSpPr>
            <a:spLocks noChangeShapeType="1"/>
          </p:cNvSpPr>
          <p:nvPr/>
        </p:nvSpPr>
        <p:spPr bwMode="auto">
          <a:xfrm rot="816166" flipV="1">
            <a:off x="4342080" y="4378154"/>
            <a:ext cx="807871" cy="298291"/>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44" name="Line 3643"/>
          <p:cNvSpPr>
            <a:spLocks noChangeShapeType="1"/>
          </p:cNvSpPr>
          <p:nvPr/>
        </p:nvSpPr>
        <p:spPr bwMode="auto">
          <a:xfrm rot="816166">
            <a:off x="6497655" y="4341156"/>
            <a:ext cx="884274" cy="159551"/>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45" name="Line 3644"/>
          <p:cNvSpPr>
            <a:spLocks noChangeShapeType="1"/>
          </p:cNvSpPr>
          <p:nvPr/>
        </p:nvSpPr>
        <p:spPr bwMode="auto">
          <a:xfrm rot="816166" flipH="1" flipV="1">
            <a:off x="7542836" y="3612320"/>
            <a:ext cx="173033" cy="706903"/>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46" name="Line 3645"/>
          <p:cNvSpPr>
            <a:spLocks noChangeShapeType="1"/>
          </p:cNvSpPr>
          <p:nvPr/>
        </p:nvSpPr>
        <p:spPr bwMode="auto">
          <a:xfrm rot="816166" flipH="1">
            <a:off x="6779470" y="2736397"/>
            <a:ext cx="457168" cy="1152698"/>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47" name="Text Box 3646"/>
          <p:cNvSpPr txBox="1">
            <a:spLocks noChangeArrowheads="1"/>
          </p:cNvSpPr>
          <p:nvPr/>
        </p:nvSpPr>
        <p:spPr bwMode="auto">
          <a:xfrm>
            <a:off x="1765703" y="3606006"/>
            <a:ext cx="173280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zh-CN" altLang="en-US" sz="1400" dirty="0">
                <a:solidFill>
                  <a:sysClr val="windowText" lastClr="000000"/>
                </a:solidFill>
                <a:latin typeface="Montserrat" panose="00000500000000000000" pitchFamily="2" charset="0"/>
                <a:ea typeface="微软雅黑 Light" panose="020B0502040204020203" pitchFamily="34" charset="-122"/>
              </a:rPr>
              <a:t>获得对等方列表</a:t>
            </a:r>
          </a:p>
        </p:txBody>
      </p:sp>
      <p:sp>
        <p:nvSpPr>
          <p:cNvPr id="3" name="Text Box 2726">
            <a:extLst>
              <a:ext uri="{FF2B5EF4-FFF2-40B4-BE49-F238E27FC236}">
                <a16:creationId xmlns:a16="http://schemas.microsoft.com/office/drawing/2014/main" id="{DC42EAAD-E93D-F07E-0EA0-86D626B7E65C}"/>
              </a:ext>
            </a:extLst>
          </p:cNvPr>
          <p:cNvSpPr txBox="1">
            <a:spLocks noChangeArrowheads="1"/>
          </p:cNvSpPr>
          <p:nvPr/>
        </p:nvSpPr>
        <p:spPr bwMode="auto">
          <a:xfrm>
            <a:off x="5395374" y="2189777"/>
            <a:ext cx="31931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ysClr val="windowText" lastClr="000000"/>
                </a:solidFill>
                <a:latin typeface="Montserrat" panose="00000500000000000000" pitchFamily="2" charset="0"/>
                <a:ea typeface="微软雅黑 Light" panose="020B0502040204020203" pitchFamily="34" charset="-122"/>
              </a:rPr>
              <a:t>B</a:t>
            </a:r>
            <a:endParaRPr kumimoji="1" lang="en-US" altLang="zh-CN" sz="1400" i="1" dirty="0">
              <a:solidFill>
                <a:sysClr val="windowText" lastClr="000000"/>
              </a:solidFill>
              <a:latin typeface="Montserrat" panose="00000500000000000000" pitchFamily="2" charset="0"/>
              <a:ea typeface="微软雅黑 Light" panose="020B0502040204020203" pitchFamily="34" charset="-122"/>
            </a:endParaRPr>
          </a:p>
        </p:txBody>
      </p:sp>
      <p:sp>
        <p:nvSpPr>
          <p:cNvPr id="4" name="Text Box 2726">
            <a:extLst>
              <a:ext uri="{FF2B5EF4-FFF2-40B4-BE49-F238E27FC236}">
                <a16:creationId xmlns:a16="http://schemas.microsoft.com/office/drawing/2014/main" id="{5D055E71-7EB4-BB84-0C21-6DB58FE24D92}"/>
              </a:ext>
            </a:extLst>
          </p:cNvPr>
          <p:cNvSpPr txBox="1">
            <a:spLocks noChangeArrowheads="1"/>
          </p:cNvSpPr>
          <p:nvPr/>
        </p:nvSpPr>
        <p:spPr bwMode="auto">
          <a:xfrm>
            <a:off x="5236083" y="3866752"/>
            <a:ext cx="33374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ysClr val="windowText" lastClr="000000"/>
                </a:solidFill>
                <a:latin typeface="Montserrat" panose="00000500000000000000" pitchFamily="2" charset="0"/>
                <a:ea typeface="微软雅黑 Light" panose="020B0502040204020203" pitchFamily="34" charset="-122"/>
              </a:rPr>
              <a:t>D</a:t>
            </a:r>
            <a:endParaRPr kumimoji="1" lang="en-US" altLang="zh-CN" sz="1400" i="1" dirty="0">
              <a:solidFill>
                <a:sysClr val="windowText" lastClr="000000"/>
              </a:solidFill>
              <a:latin typeface="Montserrat" panose="00000500000000000000" pitchFamily="2" charset="0"/>
              <a:ea typeface="微软雅黑 Light" panose="020B0502040204020203" pitchFamily="34" charset="-122"/>
            </a:endParaRPr>
          </a:p>
        </p:txBody>
      </p:sp>
      <p:sp>
        <p:nvSpPr>
          <p:cNvPr id="7" name="Text Box 2726">
            <a:extLst>
              <a:ext uri="{FF2B5EF4-FFF2-40B4-BE49-F238E27FC236}">
                <a16:creationId xmlns:a16="http://schemas.microsoft.com/office/drawing/2014/main" id="{F3EA9EC4-4C41-C23D-EB53-4F4A04779374}"/>
              </a:ext>
            </a:extLst>
          </p:cNvPr>
          <p:cNvSpPr txBox="1">
            <a:spLocks noChangeArrowheads="1"/>
          </p:cNvSpPr>
          <p:nvPr/>
        </p:nvSpPr>
        <p:spPr bwMode="auto">
          <a:xfrm>
            <a:off x="7761796" y="3229531"/>
            <a:ext cx="31450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ysClr val="windowText" lastClr="000000"/>
                </a:solidFill>
                <a:latin typeface="Montserrat" panose="00000500000000000000" pitchFamily="2" charset="0"/>
                <a:ea typeface="微软雅黑 Light" panose="020B0502040204020203" pitchFamily="34" charset="-122"/>
              </a:rPr>
              <a:t>C</a:t>
            </a:r>
            <a:endParaRPr kumimoji="1" lang="en-US" altLang="zh-CN" sz="1400" i="1" dirty="0">
              <a:solidFill>
                <a:sysClr val="windowText" lastClr="000000"/>
              </a:solidFill>
              <a:latin typeface="Montserrat" panose="00000500000000000000" pitchFamily="2" charset="0"/>
              <a:ea typeface="微软雅黑 Light" panose="020B0502040204020203" pitchFamily="34" charset="-122"/>
            </a:endParaRPr>
          </a:p>
        </p:txBody>
      </p:sp>
      <p:sp>
        <p:nvSpPr>
          <p:cNvPr id="8" name="Text Box 459">
            <a:extLst>
              <a:ext uri="{FF2B5EF4-FFF2-40B4-BE49-F238E27FC236}">
                <a16:creationId xmlns:a16="http://schemas.microsoft.com/office/drawing/2014/main" id="{371001F1-9165-A850-425D-955CFE269FF4}"/>
              </a:ext>
            </a:extLst>
          </p:cNvPr>
          <p:cNvSpPr txBox="1">
            <a:spLocks noChangeArrowheads="1"/>
          </p:cNvSpPr>
          <p:nvPr/>
        </p:nvSpPr>
        <p:spPr bwMode="auto">
          <a:xfrm rot="20697272">
            <a:off x="4296073" y="2593350"/>
            <a:ext cx="54534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rgbClr val="5780CA"/>
                </a:solidFill>
                <a:latin typeface="Montserrat" panose="00000500000000000000" pitchFamily="2" charset="0"/>
                <a:ea typeface="微软雅黑 Light" panose="020B0502040204020203" pitchFamily="34" charset="-122"/>
              </a:rPr>
              <a:t>TCP</a:t>
            </a:r>
            <a:endParaRPr kumimoji="1" lang="zh-CN" altLang="en-US" sz="1400" dirty="0">
              <a:solidFill>
                <a:srgbClr val="5780CA"/>
              </a:solidFill>
              <a:latin typeface="Montserrat" panose="00000500000000000000" pitchFamily="2" charset="0"/>
              <a:ea typeface="微软雅黑 Light" panose="020B0502040204020203" pitchFamily="34" charset="-122"/>
            </a:endParaRPr>
          </a:p>
        </p:txBody>
      </p:sp>
      <p:sp>
        <p:nvSpPr>
          <p:cNvPr id="9" name="Text Box 459">
            <a:extLst>
              <a:ext uri="{FF2B5EF4-FFF2-40B4-BE49-F238E27FC236}">
                <a16:creationId xmlns:a16="http://schemas.microsoft.com/office/drawing/2014/main" id="{0674DFE7-3860-AFC2-0B01-98E1C15E585B}"/>
              </a:ext>
            </a:extLst>
          </p:cNvPr>
          <p:cNvSpPr txBox="1">
            <a:spLocks noChangeArrowheads="1"/>
          </p:cNvSpPr>
          <p:nvPr/>
        </p:nvSpPr>
        <p:spPr bwMode="auto">
          <a:xfrm rot="1053266">
            <a:off x="4174026" y="3667410"/>
            <a:ext cx="54534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rgbClr val="5780CA"/>
                </a:solidFill>
                <a:latin typeface="Montserrat" panose="00000500000000000000" pitchFamily="2" charset="0"/>
                <a:ea typeface="微软雅黑 Light" panose="020B0502040204020203" pitchFamily="34" charset="-122"/>
              </a:rPr>
              <a:t>TCP</a:t>
            </a:r>
            <a:endParaRPr kumimoji="1" lang="zh-CN" altLang="en-US" sz="1400" dirty="0">
              <a:solidFill>
                <a:srgbClr val="5780CA"/>
              </a:solidFill>
              <a:latin typeface="Montserrat" panose="00000500000000000000" pitchFamily="2" charset="0"/>
              <a:ea typeface="微软雅黑 Light" panose="020B0502040204020203" pitchFamily="34" charset="-122"/>
            </a:endParaRPr>
          </a:p>
        </p:txBody>
      </p:sp>
      <p:sp>
        <p:nvSpPr>
          <p:cNvPr id="10" name="Text Box 459">
            <a:extLst>
              <a:ext uri="{FF2B5EF4-FFF2-40B4-BE49-F238E27FC236}">
                <a16:creationId xmlns:a16="http://schemas.microsoft.com/office/drawing/2014/main" id="{BBCC7909-921B-9910-411C-912179737511}"/>
              </a:ext>
            </a:extLst>
          </p:cNvPr>
          <p:cNvSpPr txBox="1">
            <a:spLocks noChangeArrowheads="1"/>
          </p:cNvSpPr>
          <p:nvPr/>
        </p:nvSpPr>
        <p:spPr bwMode="auto">
          <a:xfrm rot="193254">
            <a:off x="4546102" y="3098951"/>
            <a:ext cx="54534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rgbClr val="5780CA"/>
                </a:solidFill>
                <a:latin typeface="Montserrat" panose="00000500000000000000" pitchFamily="2" charset="0"/>
                <a:ea typeface="微软雅黑 Light" panose="020B0502040204020203" pitchFamily="34" charset="-122"/>
              </a:rPr>
              <a:t>TCP</a:t>
            </a:r>
            <a:endParaRPr kumimoji="1" lang="zh-CN" altLang="en-US" sz="1400" dirty="0">
              <a:solidFill>
                <a:srgbClr val="5780CA"/>
              </a:solidFill>
              <a:latin typeface="Montserrat" panose="00000500000000000000" pitchFamily="2" charset="0"/>
              <a:ea typeface="微软雅黑 Light" panose="020B0502040204020203" pitchFamily="34" charset="-122"/>
            </a:endParaRPr>
          </a:p>
        </p:txBody>
      </p:sp>
      <p:sp>
        <p:nvSpPr>
          <p:cNvPr id="11" name="Text Box 2726">
            <a:extLst>
              <a:ext uri="{FF2B5EF4-FFF2-40B4-BE49-F238E27FC236}">
                <a16:creationId xmlns:a16="http://schemas.microsoft.com/office/drawing/2014/main" id="{15589E71-14A9-EF49-968F-83D6C39323A4}"/>
              </a:ext>
            </a:extLst>
          </p:cNvPr>
          <p:cNvSpPr txBox="1">
            <a:spLocks noChangeArrowheads="1"/>
          </p:cNvSpPr>
          <p:nvPr/>
        </p:nvSpPr>
        <p:spPr bwMode="auto">
          <a:xfrm>
            <a:off x="3552504" y="4420931"/>
            <a:ext cx="30489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ysClr val="windowText" lastClr="000000"/>
                </a:solidFill>
                <a:latin typeface="Montserrat" panose="00000500000000000000" pitchFamily="2" charset="0"/>
                <a:ea typeface="微软雅黑 Light" panose="020B0502040204020203" pitchFamily="34" charset="-122"/>
              </a:rPr>
              <a:t>E</a:t>
            </a:r>
            <a:endParaRPr kumimoji="1" lang="en-US" altLang="zh-CN" sz="1400" i="1" dirty="0">
              <a:solidFill>
                <a:sysClr val="windowText" lastClr="000000"/>
              </a:solidFill>
              <a:latin typeface="Montserrat" panose="00000500000000000000" pitchFamily="2" charset="0"/>
              <a:ea typeface="微软雅黑 Light" panose="020B0502040204020203" pitchFamily="34" charset="-122"/>
            </a:endParaRPr>
          </a:p>
        </p:txBody>
      </p:sp>
      <p:sp>
        <p:nvSpPr>
          <p:cNvPr id="12" name="Text Box 2726">
            <a:extLst>
              <a:ext uri="{FF2B5EF4-FFF2-40B4-BE49-F238E27FC236}">
                <a16:creationId xmlns:a16="http://schemas.microsoft.com/office/drawing/2014/main" id="{52951546-F18F-B238-B7D8-9B091F868A8B}"/>
              </a:ext>
            </a:extLst>
          </p:cNvPr>
          <p:cNvSpPr txBox="1">
            <a:spLocks noChangeArrowheads="1"/>
          </p:cNvSpPr>
          <p:nvPr/>
        </p:nvSpPr>
        <p:spPr bwMode="auto">
          <a:xfrm>
            <a:off x="7705040" y="2263194"/>
            <a:ext cx="30489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ysClr val="windowText" lastClr="000000"/>
                </a:solidFill>
                <a:latin typeface="Montserrat" panose="00000500000000000000" pitchFamily="2" charset="0"/>
                <a:ea typeface="微软雅黑 Light" panose="020B0502040204020203" pitchFamily="34" charset="-122"/>
              </a:rPr>
              <a:t>F</a:t>
            </a:r>
            <a:endParaRPr kumimoji="1" lang="en-US" altLang="zh-CN" sz="1400" i="1" dirty="0">
              <a:solidFill>
                <a:sysClr val="windowText" lastClr="000000"/>
              </a:solidFill>
              <a:latin typeface="Montserrat" panose="00000500000000000000" pitchFamily="2" charset="0"/>
              <a:ea typeface="微软雅黑 Light" panose="020B0502040204020203" pitchFamily="34" charset="-122"/>
            </a:endParaRPr>
          </a:p>
        </p:txBody>
      </p:sp>
      <p:sp>
        <p:nvSpPr>
          <p:cNvPr id="13" name="Text Box 2726">
            <a:extLst>
              <a:ext uri="{FF2B5EF4-FFF2-40B4-BE49-F238E27FC236}">
                <a16:creationId xmlns:a16="http://schemas.microsoft.com/office/drawing/2014/main" id="{FE182B66-418E-4EAD-D618-25C02EEC19BA}"/>
              </a:ext>
            </a:extLst>
          </p:cNvPr>
          <p:cNvSpPr txBox="1">
            <a:spLocks noChangeArrowheads="1"/>
          </p:cNvSpPr>
          <p:nvPr/>
        </p:nvSpPr>
        <p:spPr bwMode="auto">
          <a:xfrm>
            <a:off x="7718477" y="4360434"/>
            <a:ext cx="32412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ysClr val="windowText" lastClr="000000"/>
                </a:solidFill>
                <a:latin typeface="Montserrat" panose="00000500000000000000" pitchFamily="2" charset="0"/>
                <a:ea typeface="微软雅黑 Light" panose="020B0502040204020203" pitchFamily="34" charset="-122"/>
              </a:rPr>
              <a:t>G</a:t>
            </a:r>
            <a:endParaRPr kumimoji="1" lang="en-US" altLang="zh-CN" sz="1400" i="1" dirty="0">
              <a:solidFill>
                <a:sysClr val="windowText" lastClr="000000"/>
              </a:solidFill>
              <a:latin typeface="Montserrat" panose="00000500000000000000" pitchFamily="2" charset="0"/>
              <a:ea typeface="微软雅黑 Light" panose="020B0502040204020203" pitchFamily="34" charset="-122"/>
            </a:endParaRPr>
          </a:p>
        </p:txBody>
      </p:sp>
      <p:sp>
        <p:nvSpPr>
          <p:cNvPr id="14" name="Text Box 2726">
            <a:extLst>
              <a:ext uri="{FF2B5EF4-FFF2-40B4-BE49-F238E27FC236}">
                <a16:creationId xmlns:a16="http://schemas.microsoft.com/office/drawing/2014/main" id="{5DC469F7-CFD1-4899-9B5E-6256C9B02AE5}"/>
              </a:ext>
            </a:extLst>
          </p:cNvPr>
          <p:cNvSpPr txBox="1">
            <a:spLocks noChangeArrowheads="1"/>
          </p:cNvSpPr>
          <p:nvPr/>
        </p:nvSpPr>
        <p:spPr bwMode="auto">
          <a:xfrm>
            <a:off x="6199791" y="4167437"/>
            <a:ext cx="33054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ysClr val="windowText" lastClr="000000"/>
                </a:solidFill>
                <a:latin typeface="Montserrat" panose="00000500000000000000" pitchFamily="2" charset="0"/>
                <a:ea typeface="微软雅黑 Light" panose="020B0502040204020203" pitchFamily="34" charset="-122"/>
              </a:rPr>
              <a:t>H</a:t>
            </a:r>
            <a:endParaRPr kumimoji="1" lang="en-US" altLang="zh-CN" sz="1400" i="1" dirty="0">
              <a:solidFill>
                <a:sysClr val="windowText" lastClr="000000"/>
              </a:solidFill>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3214329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p:cNvGrpSpPr/>
          <p:nvPr/>
        </p:nvGrpSpPr>
        <p:grpSpPr>
          <a:xfrm>
            <a:off x="1012053" y="1189440"/>
            <a:ext cx="7199791" cy="2805511"/>
            <a:chOff x="107950" y="117307"/>
            <a:chExt cx="8928100" cy="4607093"/>
          </a:xfrm>
        </p:grpSpPr>
        <p:sp>
          <p:nvSpPr>
            <p:cNvPr id="32" name="平行四边形 5697"/>
            <p:cNvSpPr>
              <a:spLocks noChangeArrowheads="1"/>
            </p:cNvSpPr>
            <p:nvPr/>
          </p:nvSpPr>
          <p:spPr bwMode="auto">
            <a:xfrm>
              <a:off x="107950" y="2565400"/>
              <a:ext cx="8928100" cy="2159000"/>
            </a:xfrm>
            <a:prstGeom prst="parallelogram">
              <a:avLst>
                <a:gd name="adj" fmla="val 76618"/>
              </a:avLst>
            </a:prstGeom>
            <a:solidFill>
              <a:schemeClr val="bg1">
                <a:lumMod val="95000"/>
              </a:schemeClr>
            </a:solidFill>
            <a:ln w="9525" algn="ctr">
              <a:solidFill>
                <a:schemeClr val="tx1"/>
              </a:solidFill>
              <a:round/>
              <a:headEnd/>
              <a:tailEnd/>
            </a:ln>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sp>
          <p:nvSpPr>
            <p:cNvPr id="33" name="平行四边形 5697"/>
            <p:cNvSpPr>
              <a:spLocks noChangeArrowheads="1"/>
            </p:cNvSpPr>
            <p:nvPr/>
          </p:nvSpPr>
          <p:spPr bwMode="auto">
            <a:xfrm>
              <a:off x="107950" y="260350"/>
              <a:ext cx="8928100" cy="2160588"/>
            </a:xfrm>
            <a:prstGeom prst="parallelogram">
              <a:avLst>
                <a:gd name="adj" fmla="val 76561"/>
              </a:avLst>
            </a:prstGeom>
            <a:solidFill>
              <a:srgbClr val="66FF66"/>
            </a:solidFill>
            <a:ln w="9525" algn="ctr">
              <a:solidFill>
                <a:schemeClr val="tx1"/>
              </a:solidFill>
              <a:round/>
              <a:headEnd/>
              <a:tailEnd/>
            </a:ln>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cxnSp>
          <p:nvCxnSpPr>
            <p:cNvPr id="34" name="直接连接符 8002"/>
            <p:cNvCxnSpPr>
              <a:cxnSpLocks noChangeShapeType="1"/>
              <a:stCxn id="518" idx="1"/>
            </p:cNvCxnSpPr>
            <p:nvPr/>
          </p:nvCxnSpPr>
          <p:spPr bwMode="auto">
            <a:xfrm flipH="1" flipV="1">
              <a:off x="2987675" y="3933825"/>
              <a:ext cx="176213" cy="463550"/>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35" name="直接连接符 8006"/>
            <p:cNvCxnSpPr>
              <a:cxnSpLocks noChangeShapeType="1"/>
              <a:stCxn id="521" idx="2"/>
            </p:cNvCxnSpPr>
            <p:nvPr/>
          </p:nvCxnSpPr>
          <p:spPr bwMode="auto">
            <a:xfrm flipH="1">
              <a:off x="5076825" y="3249613"/>
              <a:ext cx="1150938" cy="107950"/>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36" name="直接连接符 8000"/>
            <p:cNvCxnSpPr>
              <a:cxnSpLocks noChangeShapeType="1"/>
              <a:stCxn id="516" idx="6"/>
            </p:cNvCxnSpPr>
            <p:nvPr/>
          </p:nvCxnSpPr>
          <p:spPr bwMode="auto">
            <a:xfrm flipV="1">
              <a:off x="1042988" y="3860800"/>
              <a:ext cx="1368425" cy="539750"/>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37" name="直接连接符 7998"/>
            <p:cNvCxnSpPr>
              <a:cxnSpLocks noChangeShapeType="1"/>
              <a:stCxn id="517" idx="5"/>
            </p:cNvCxnSpPr>
            <p:nvPr/>
          </p:nvCxnSpPr>
          <p:spPr bwMode="auto">
            <a:xfrm>
              <a:off x="2163763" y="3036888"/>
              <a:ext cx="392112" cy="536575"/>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38" name="直接连接符 8004"/>
            <p:cNvCxnSpPr>
              <a:cxnSpLocks noChangeShapeType="1"/>
              <a:stCxn id="518" idx="3"/>
            </p:cNvCxnSpPr>
            <p:nvPr/>
          </p:nvCxnSpPr>
          <p:spPr bwMode="auto">
            <a:xfrm flipV="1">
              <a:off x="3163888" y="3500438"/>
              <a:ext cx="1552575" cy="1049337"/>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39" name="直接连接符 8015"/>
            <p:cNvCxnSpPr>
              <a:cxnSpLocks noChangeShapeType="1"/>
              <a:stCxn id="519" idx="2"/>
            </p:cNvCxnSpPr>
            <p:nvPr/>
          </p:nvCxnSpPr>
          <p:spPr bwMode="auto">
            <a:xfrm flipH="1" flipV="1">
              <a:off x="4932363" y="3429000"/>
              <a:ext cx="792162" cy="900113"/>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40" name="直接连接符 8013"/>
            <p:cNvCxnSpPr>
              <a:cxnSpLocks noChangeShapeType="1"/>
              <a:stCxn id="519" idx="7"/>
            </p:cNvCxnSpPr>
            <p:nvPr/>
          </p:nvCxnSpPr>
          <p:spPr bwMode="auto">
            <a:xfrm flipV="1">
              <a:off x="5908675" y="3933825"/>
              <a:ext cx="750888" cy="319088"/>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41" name="直接连接符 8011"/>
            <p:cNvCxnSpPr>
              <a:cxnSpLocks noChangeShapeType="1"/>
              <a:stCxn id="522" idx="2"/>
            </p:cNvCxnSpPr>
            <p:nvPr/>
          </p:nvCxnSpPr>
          <p:spPr bwMode="auto">
            <a:xfrm flipH="1">
              <a:off x="7308850" y="3536950"/>
              <a:ext cx="503238" cy="252413"/>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42" name="直接连接符 8008"/>
            <p:cNvCxnSpPr>
              <a:cxnSpLocks noChangeShapeType="1"/>
              <a:stCxn id="520" idx="4"/>
            </p:cNvCxnSpPr>
            <p:nvPr/>
          </p:nvCxnSpPr>
          <p:spPr bwMode="auto">
            <a:xfrm flipH="1">
              <a:off x="7019925" y="3070225"/>
              <a:ext cx="180975" cy="646113"/>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sp>
          <p:nvSpPr>
            <p:cNvPr id="43" name="Text Box 510"/>
            <p:cNvSpPr txBox="1">
              <a:spLocks noChangeArrowheads="1"/>
            </p:cNvSpPr>
            <p:nvPr/>
          </p:nvSpPr>
          <p:spPr bwMode="auto">
            <a:xfrm rot="20956220">
              <a:off x="2819913" y="661909"/>
              <a:ext cx="1154806"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TCP </a:t>
              </a:r>
              <a:r>
                <a:rPr lang="zh-CN" altLang="en-US" sz="1100" dirty="0">
                  <a:latin typeface="微软雅黑 Light" panose="020B0502040204020203" pitchFamily="34" charset="-122"/>
                  <a:ea typeface="微软雅黑 Light" panose="020B0502040204020203" pitchFamily="34" charset="-122"/>
                </a:rPr>
                <a:t>连接</a:t>
              </a:r>
            </a:p>
          </p:txBody>
        </p:sp>
        <p:graphicFrame>
          <p:nvGraphicFramePr>
            <p:cNvPr id="44" name="Object 1188">
              <a:hlinkClick r:id="" action="ppaction://ole?verb=0"/>
            </p:cNvPr>
            <p:cNvGraphicFramePr>
              <a:graphicFrameLocks/>
            </p:cNvGraphicFramePr>
            <p:nvPr>
              <p:extLst>
                <p:ext uri="{D42A27DB-BD31-4B8C-83A1-F6EECF244321}">
                  <p14:modId xmlns:p14="http://schemas.microsoft.com/office/powerpoint/2010/main" val="1214934849"/>
                </p:ext>
              </p:extLst>
            </p:nvPr>
          </p:nvGraphicFramePr>
          <p:xfrm>
            <a:off x="1979613" y="404813"/>
            <a:ext cx="360362" cy="647700"/>
          </p:xfrm>
          <a:graphic>
            <a:graphicData uri="http://schemas.openxmlformats.org/presentationml/2006/ole">
              <mc:AlternateContent xmlns:mc="http://schemas.openxmlformats.org/markup-compatibility/2006">
                <mc:Choice xmlns:v="urn:schemas-microsoft-com:vml" Requires="v">
                  <p:oleObj name="Microsoft ClipArt Gallery" r:id="rId3" imgW="2735263" imgH="3825875" progId="">
                    <p:embed/>
                  </p:oleObj>
                </mc:Choice>
                <mc:Fallback>
                  <p:oleObj name="Microsoft ClipArt Gallery" r:id="rId3" imgW="2735263" imgH="3825875" progId="">
                    <p:embed/>
                    <p:pic>
                      <p:nvPicPr>
                        <p:cNvPr id="0" name="Picture 97"/>
                        <p:cNvPicPr>
                          <a:picLocks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979613" y="404813"/>
                          <a:ext cx="360362" cy="6477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45" name="Text Box 1189"/>
            <p:cNvSpPr txBox="1">
              <a:spLocks noChangeArrowheads="1"/>
            </p:cNvSpPr>
            <p:nvPr/>
          </p:nvSpPr>
          <p:spPr bwMode="auto">
            <a:xfrm>
              <a:off x="2268539" y="333375"/>
              <a:ext cx="913458"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100" dirty="0">
                  <a:latin typeface="微软雅黑 Light" panose="020B0502040204020203" pitchFamily="34" charset="-122"/>
                  <a:ea typeface="微软雅黑 Light" panose="020B0502040204020203" pitchFamily="34" charset="-122"/>
                </a:rPr>
                <a:t>追踪器</a:t>
              </a:r>
            </a:p>
          </p:txBody>
        </p:sp>
        <p:grpSp>
          <p:nvGrpSpPr>
            <p:cNvPr id="46" name="Group 2096"/>
            <p:cNvGrpSpPr>
              <a:grpSpLocks/>
            </p:cNvGrpSpPr>
            <p:nvPr/>
          </p:nvGrpSpPr>
          <p:grpSpPr bwMode="auto">
            <a:xfrm>
              <a:off x="6659563" y="549275"/>
              <a:ext cx="433387" cy="328613"/>
              <a:chOff x="624" y="2968"/>
              <a:chExt cx="1331" cy="920"/>
            </a:xfrm>
          </p:grpSpPr>
          <p:sp>
            <p:nvSpPr>
              <p:cNvPr id="47" name="Freeform 2097"/>
              <p:cNvSpPr>
                <a:spLocks/>
              </p:cNvSpPr>
              <p:nvPr/>
            </p:nvSpPr>
            <p:spPr bwMode="auto">
              <a:xfrm>
                <a:off x="1238" y="2968"/>
                <a:ext cx="713" cy="770"/>
              </a:xfrm>
              <a:custGeom>
                <a:avLst/>
                <a:gdLst>
                  <a:gd name="T0" fmla="*/ 7 w 1426"/>
                  <a:gd name="T1" fmla="*/ 1 h 2309"/>
                  <a:gd name="T2" fmla="*/ 7 w 1426"/>
                  <a:gd name="T3" fmla="*/ 1 h 2309"/>
                  <a:gd name="T4" fmla="*/ 0 w 1426"/>
                  <a:gd name="T5" fmla="*/ 1 h 2309"/>
                  <a:gd name="T6" fmla="*/ 3 w 1426"/>
                  <a:gd name="T7" fmla="*/ 0 h 2309"/>
                  <a:gd name="T8" fmla="*/ 3 w 1426"/>
                  <a:gd name="T9" fmla="*/ 0 h 2309"/>
                  <a:gd name="T10" fmla="*/ 3 w 1426"/>
                  <a:gd name="T11" fmla="*/ 0 h 2309"/>
                  <a:gd name="T12" fmla="*/ 3 w 1426"/>
                  <a:gd name="T13" fmla="*/ 0 h 2309"/>
                  <a:gd name="T14" fmla="*/ 11 w 1426"/>
                  <a:gd name="T15" fmla="*/ 0 h 2309"/>
                  <a:gd name="T16" fmla="*/ 11 w 1426"/>
                  <a:gd name="T17" fmla="*/ 0 h 2309"/>
                  <a:gd name="T18" fmla="*/ 11 w 1426"/>
                  <a:gd name="T19" fmla="*/ 0 h 2309"/>
                  <a:gd name="T20" fmla="*/ 11 w 1426"/>
                  <a:gd name="T21" fmla="*/ 0 h 2309"/>
                  <a:gd name="T22" fmla="*/ 7 w 1426"/>
                  <a:gd name="T23" fmla="*/ 1 h 2309"/>
                  <a:gd name="T24" fmla="*/ 7 w 1426"/>
                  <a:gd name="T25" fmla="*/ 1 h 230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2309"/>
                  <a:gd name="T41" fmla="*/ 1426 w 1426"/>
                  <a:gd name="T42" fmla="*/ 2309 h 230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2309">
                    <a:moveTo>
                      <a:pt x="992" y="2292"/>
                    </a:moveTo>
                    <a:lnTo>
                      <a:pt x="964" y="2309"/>
                    </a:lnTo>
                    <a:lnTo>
                      <a:pt x="0" y="1462"/>
                    </a:lnTo>
                    <a:lnTo>
                      <a:pt x="326" y="59"/>
                    </a:lnTo>
                    <a:lnTo>
                      <a:pt x="369" y="18"/>
                    </a:lnTo>
                    <a:lnTo>
                      <a:pt x="414" y="0"/>
                    </a:lnTo>
                    <a:lnTo>
                      <a:pt x="457" y="9"/>
                    </a:lnTo>
                    <a:lnTo>
                      <a:pt x="1381" y="400"/>
                    </a:lnTo>
                    <a:lnTo>
                      <a:pt x="1411" y="421"/>
                    </a:lnTo>
                    <a:lnTo>
                      <a:pt x="1422" y="425"/>
                    </a:lnTo>
                    <a:lnTo>
                      <a:pt x="1426" y="445"/>
                    </a:lnTo>
                    <a:lnTo>
                      <a:pt x="1017" y="2306"/>
                    </a:lnTo>
                    <a:lnTo>
                      <a:pt x="992" y="2292"/>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8" name="Freeform 2098"/>
              <p:cNvSpPr>
                <a:spLocks/>
              </p:cNvSpPr>
              <p:nvPr/>
            </p:nvSpPr>
            <p:spPr bwMode="auto">
              <a:xfrm>
                <a:off x="1668" y="3087"/>
                <a:ext cx="286" cy="660"/>
              </a:xfrm>
              <a:custGeom>
                <a:avLst/>
                <a:gdLst>
                  <a:gd name="T0" fmla="*/ 4 w 573"/>
                  <a:gd name="T1" fmla="*/ 0 h 1980"/>
                  <a:gd name="T2" fmla="*/ 4 w 573"/>
                  <a:gd name="T3" fmla="*/ 0 h 1980"/>
                  <a:gd name="T4" fmla="*/ 1 w 573"/>
                  <a:gd name="T5" fmla="*/ 1 h 1980"/>
                  <a:gd name="T6" fmla="*/ 1 w 573"/>
                  <a:gd name="T7" fmla="*/ 1 h 1980"/>
                  <a:gd name="T8" fmla="*/ 1 w 573"/>
                  <a:gd name="T9" fmla="*/ 1 h 1980"/>
                  <a:gd name="T10" fmla="*/ 0 w 573"/>
                  <a:gd name="T11" fmla="*/ 1 h 1980"/>
                  <a:gd name="T12" fmla="*/ 0 w 573"/>
                  <a:gd name="T13" fmla="*/ 1 h 1980"/>
                  <a:gd name="T14" fmla="*/ 0 w 573"/>
                  <a:gd name="T15" fmla="*/ 1 h 1980"/>
                  <a:gd name="T16" fmla="*/ 0 w 573"/>
                  <a:gd name="T17" fmla="*/ 1 h 1980"/>
                  <a:gd name="T18" fmla="*/ 3 w 573"/>
                  <a:gd name="T19" fmla="*/ 0 h 1980"/>
                  <a:gd name="T20" fmla="*/ 3 w 573"/>
                  <a:gd name="T21" fmla="*/ 0 h 1980"/>
                  <a:gd name="T22" fmla="*/ 3 w 573"/>
                  <a:gd name="T23" fmla="*/ 0 h 1980"/>
                  <a:gd name="T24" fmla="*/ 3 w 573"/>
                  <a:gd name="T25" fmla="*/ 0 h 1980"/>
                  <a:gd name="T26" fmla="*/ 4 w 573"/>
                  <a:gd name="T27" fmla="*/ 0 h 1980"/>
                  <a:gd name="T28" fmla="*/ 4 w 573"/>
                  <a:gd name="T29" fmla="*/ 0 h 1980"/>
                  <a:gd name="T30" fmla="*/ 4 w 573"/>
                  <a:gd name="T31" fmla="*/ 0 h 19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573"/>
                  <a:gd name="T49" fmla="*/ 0 h 1980"/>
                  <a:gd name="T50" fmla="*/ 573 w 573"/>
                  <a:gd name="T51" fmla="*/ 1980 h 19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573" h="1980">
                    <a:moveTo>
                      <a:pt x="573" y="86"/>
                    </a:moveTo>
                    <a:lnTo>
                      <a:pt x="568" y="132"/>
                    </a:lnTo>
                    <a:lnTo>
                      <a:pt x="155" y="1923"/>
                    </a:lnTo>
                    <a:lnTo>
                      <a:pt x="151" y="1955"/>
                    </a:lnTo>
                    <a:lnTo>
                      <a:pt x="140" y="1972"/>
                    </a:lnTo>
                    <a:lnTo>
                      <a:pt x="125" y="1980"/>
                    </a:lnTo>
                    <a:lnTo>
                      <a:pt x="111" y="1975"/>
                    </a:lnTo>
                    <a:lnTo>
                      <a:pt x="86" y="1955"/>
                    </a:lnTo>
                    <a:lnTo>
                      <a:pt x="0" y="1880"/>
                    </a:lnTo>
                    <a:lnTo>
                      <a:pt x="425" y="39"/>
                    </a:lnTo>
                    <a:lnTo>
                      <a:pt x="420" y="27"/>
                    </a:lnTo>
                    <a:lnTo>
                      <a:pt x="396" y="0"/>
                    </a:lnTo>
                    <a:lnTo>
                      <a:pt x="445" y="20"/>
                    </a:lnTo>
                    <a:lnTo>
                      <a:pt x="541" y="61"/>
                    </a:lnTo>
                    <a:lnTo>
                      <a:pt x="559" y="75"/>
                    </a:lnTo>
                    <a:lnTo>
                      <a:pt x="573" y="86"/>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9" name="Freeform 2099"/>
              <p:cNvSpPr>
                <a:spLocks/>
              </p:cNvSpPr>
              <p:nvPr/>
            </p:nvSpPr>
            <p:spPr bwMode="auto">
              <a:xfrm>
                <a:off x="1432" y="2970"/>
                <a:ext cx="523" cy="147"/>
              </a:xfrm>
              <a:custGeom>
                <a:avLst/>
                <a:gdLst>
                  <a:gd name="T0" fmla="*/ 0 w 1045"/>
                  <a:gd name="T1" fmla="*/ 0 h 441"/>
                  <a:gd name="T2" fmla="*/ 1 w 1045"/>
                  <a:gd name="T3" fmla="*/ 0 h 441"/>
                  <a:gd name="T4" fmla="*/ 1 w 1045"/>
                  <a:gd name="T5" fmla="*/ 0 h 441"/>
                  <a:gd name="T6" fmla="*/ 8 w 1045"/>
                  <a:gd name="T7" fmla="*/ 0 h 441"/>
                  <a:gd name="T8" fmla="*/ 9 w 1045"/>
                  <a:gd name="T9" fmla="*/ 0 h 441"/>
                  <a:gd name="T10" fmla="*/ 9 w 1045"/>
                  <a:gd name="T11" fmla="*/ 0 h 441"/>
                  <a:gd name="T12" fmla="*/ 0 w 1045"/>
                  <a:gd name="T13" fmla="*/ 0 h 441"/>
                  <a:gd name="T14" fmla="*/ 0 60000 65536"/>
                  <a:gd name="T15" fmla="*/ 0 60000 65536"/>
                  <a:gd name="T16" fmla="*/ 0 60000 65536"/>
                  <a:gd name="T17" fmla="*/ 0 60000 65536"/>
                  <a:gd name="T18" fmla="*/ 0 60000 65536"/>
                  <a:gd name="T19" fmla="*/ 0 60000 65536"/>
                  <a:gd name="T20" fmla="*/ 0 60000 65536"/>
                  <a:gd name="T21" fmla="*/ 0 w 1045"/>
                  <a:gd name="T22" fmla="*/ 0 h 441"/>
                  <a:gd name="T23" fmla="*/ 1045 w 1045"/>
                  <a:gd name="T24" fmla="*/ 441 h 44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45" h="441">
                    <a:moveTo>
                      <a:pt x="0" y="0"/>
                    </a:moveTo>
                    <a:lnTo>
                      <a:pt x="31" y="1"/>
                    </a:lnTo>
                    <a:lnTo>
                      <a:pt x="62" y="10"/>
                    </a:lnTo>
                    <a:lnTo>
                      <a:pt x="1005" y="409"/>
                    </a:lnTo>
                    <a:lnTo>
                      <a:pt x="1037" y="427"/>
                    </a:lnTo>
                    <a:lnTo>
                      <a:pt x="1045" y="441"/>
                    </a:lnTo>
                    <a:lnTo>
                      <a:pt x="0" y="0"/>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 name="Freeform 2100"/>
              <p:cNvSpPr>
                <a:spLocks/>
              </p:cNvSpPr>
              <p:nvPr/>
            </p:nvSpPr>
            <p:spPr bwMode="auto">
              <a:xfrm>
                <a:off x="1315" y="3056"/>
                <a:ext cx="478" cy="573"/>
              </a:xfrm>
              <a:custGeom>
                <a:avLst/>
                <a:gdLst>
                  <a:gd name="T0" fmla="*/ 5 w 955"/>
                  <a:gd name="T1" fmla="*/ 1 h 1719"/>
                  <a:gd name="T2" fmla="*/ 0 w 955"/>
                  <a:gd name="T3" fmla="*/ 1 h 1719"/>
                  <a:gd name="T4" fmla="*/ 3 w 955"/>
                  <a:gd name="T5" fmla="*/ 0 h 1719"/>
                  <a:gd name="T6" fmla="*/ 8 w 955"/>
                  <a:gd name="T7" fmla="*/ 0 h 1719"/>
                  <a:gd name="T8" fmla="*/ 5 w 955"/>
                  <a:gd name="T9" fmla="*/ 1 h 1719"/>
                  <a:gd name="T10" fmla="*/ 0 60000 65536"/>
                  <a:gd name="T11" fmla="*/ 0 60000 65536"/>
                  <a:gd name="T12" fmla="*/ 0 60000 65536"/>
                  <a:gd name="T13" fmla="*/ 0 60000 65536"/>
                  <a:gd name="T14" fmla="*/ 0 60000 65536"/>
                  <a:gd name="T15" fmla="*/ 0 w 955"/>
                  <a:gd name="T16" fmla="*/ 0 h 1719"/>
                  <a:gd name="T17" fmla="*/ 955 w 955"/>
                  <a:gd name="T18" fmla="*/ 1719 h 1719"/>
                </a:gdLst>
                <a:ahLst/>
                <a:cxnLst>
                  <a:cxn ang="T10">
                    <a:pos x="T0" y="T1"/>
                  </a:cxn>
                  <a:cxn ang="T11">
                    <a:pos x="T2" y="T3"/>
                  </a:cxn>
                  <a:cxn ang="T12">
                    <a:pos x="T4" y="T5"/>
                  </a:cxn>
                  <a:cxn ang="T13">
                    <a:pos x="T6" y="T7"/>
                  </a:cxn>
                  <a:cxn ang="T14">
                    <a:pos x="T8" y="T9"/>
                  </a:cxn>
                </a:cxnLst>
                <a:rect l="T15" t="T16" r="T17" b="T18"/>
                <a:pathLst>
                  <a:path w="955" h="1719">
                    <a:moveTo>
                      <a:pt x="619" y="1719"/>
                    </a:moveTo>
                    <a:lnTo>
                      <a:pt x="0" y="1212"/>
                    </a:lnTo>
                    <a:lnTo>
                      <a:pt x="290" y="0"/>
                    </a:lnTo>
                    <a:lnTo>
                      <a:pt x="955" y="313"/>
                    </a:lnTo>
                    <a:lnTo>
                      <a:pt x="619" y="1719"/>
                    </a:lnTo>
                    <a:close/>
                  </a:path>
                </a:pathLst>
              </a:custGeom>
              <a:solidFill>
                <a:srgbClr val="000000"/>
              </a:solidFill>
              <a:ln w="7938">
                <a:solidFill>
                  <a:srgbClr val="80808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1" name="Freeform 2101"/>
              <p:cNvSpPr>
                <a:spLocks/>
              </p:cNvSpPr>
              <p:nvPr/>
            </p:nvSpPr>
            <p:spPr bwMode="auto">
              <a:xfrm>
                <a:off x="1337" y="3076"/>
                <a:ext cx="431" cy="529"/>
              </a:xfrm>
              <a:custGeom>
                <a:avLst/>
                <a:gdLst>
                  <a:gd name="T0" fmla="*/ 5 w 862"/>
                  <a:gd name="T1" fmla="*/ 1 h 1587"/>
                  <a:gd name="T2" fmla="*/ 0 w 862"/>
                  <a:gd name="T3" fmla="*/ 1 h 1587"/>
                  <a:gd name="T4" fmla="*/ 3 w 862"/>
                  <a:gd name="T5" fmla="*/ 0 h 1587"/>
                  <a:gd name="T6" fmla="*/ 7 w 862"/>
                  <a:gd name="T7" fmla="*/ 0 h 1587"/>
                  <a:gd name="T8" fmla="*/ 5 w 862"/>
                  <a:gd name="T9" fmla="*/ 1 h 1587"/>
                  <a:gd name="T10" fmla="*/ 0 60000 65536"/>
                  <a:gd name="T11" fmla="*/ 0 60000 65536"/>
                  <a:gd name="T12" fmla="*/ 0 60000 65536"/>
                  <a:gd name="T13" fmla="*/ 0 60000 65536"/>
                  <a:gd name="T14" fmla="*/ 0 60000 65536"/>
                  <a:gd name="T15" fmla="*/ 0 w 862"/>
                  <a:gd name="T16" fmla="*/ 0 h 1587"/>
                  <a:gd name="T17" fmla="*/ 862 w 862"/>
                  <a:gd name="T18" fmla="*/ 1587 h 1587"/>
                </a:gdLst>
                <a:ahLst/>
                <a:cxnLst>
                  <a:cxn ang="T10">
                    <a:pos x="T0" y="T1"/>
                  </a:cxn>
                  <a:cxn ang="T11">
                    <a:pos x="T2" y="T3"/>
                  </a:cxn>
                  <a:cxn ang="T12">
                    <a:pos x="T4" y="T5"/>
                  </a:cxn>
                  <a:cxn ang="T13">
                    <a:pos x="T6" y="T7"/>
                  </a:cxn>
                  <a:cxn ang="T14">
                    <a:pos x="T8" y="T9"/>
                  </a:cxn>
                </a:cxnLst>
                <a:rect l="T15" t="T16" r="T17" b="T18"/>
                <a:pathLst>
                  <a:path w="862" h="1587">
                    <a:moveTo>
                      <a:pt x="546" y="1587"/>
                    </a:moveTo>
                    <a:lnTo>
                      <a:pt x="0" y="1134"/>
                    </a:lnTo>
                    <a:lnTo>
                      <a:pt x="272" y="0"/>
                    </a:lnTo>
                    <a:lnTo>
                      <a:pt x="862" y="268"/>
                    </a:lnTo>
                    <a:lnTo>
                      <a:pt x="546" y="1587"/>
                    </a:lnTo>
                    <a:close/>
                  </a:path>
                </a:pathLst>
              </a:custGeom>
              <a:solidFill>
                <a:srgbClr val="C7C7C7"/>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2" name="Freeform 2102"/>
              <p:cNvSpPr>
                <a:spLocks/>
              </p:cNvSpPr>
              <p:nvPr/>
            </p:nvSpPr>
            <p:spPr bwMode="auto">
              <a:xfrm>
                <a:off x="1233" y="2968"/>
                <a:ext cx="203" cy="494"/>
              </a:xfrm>
              <a:custGeom>
                <a:avLst/>
                <a:gdLst>
                  <a:gd name="T0" fmla="*/ 3 w 408"/>
                  <a:gd name="T1" fmla="*/ 0 h 1480"/>
                  <a:gd name="T2" fmla="*/ 2 w 408"/>
                  <a:gd name="T3" fmla="*/ 0 h 1480"/>
                  <a:gd name="T4" fmla="*/ 2 w 408"/>
                  <a:gd name="T5" fmla="*/ 0 h 1480"/>
                  <a:gd name="T6" fmla="*/ 2 w 408"/>
                  <a:gd name="T7" fmla="*/ 0 h 1480"/>
                  <a:gd name="T8" fmla="*/ 2 w 408"/>
                  <a:gd name="T9" fmla="*/ 0 h 1480"/>
                  <a:gd name="T10" fmla="*/ 2 w 408"/>
                  <a:gd name="T11" fmla="*/ 0 h 1480"/>
                  <a:gd name="T12" fmla="*/ 0 w 408"/>
                  <a:gd name="T13" fmla="*/ 1 h 1480"/>
                  <a:gd name="T14" fmla="*/ 0 w 408"/>
                  <a:gd name="T15" fmla="*/ 1 h 1480"/>
                  <a:gd name="T16" fmla="*/ 2 w 408"/>
                  <a:gd name="T17" fmla="*/ 0 h 1480"/>
                  <a:gd name="T18" fmla="*/ 2 w 408"/>
                  <a:gd name="T19" fmla="*/ 0 h 1480"/>
                  <a:gd name="T20" fmla="*/ 2 w 408"/>
                  <a:gd name="T21" fmla="*/ 0 h 1480"/>
                  <a:gd name="T22" fmla="*/ 2 w 408"/>
                  <a:gd name="T23" fmla="*/ 0 h 1480"/>
                  <a:gd name="T24" fmla="*/ 2 w 408"/>
                  <a:gd name="T25" fmla="*/ 0 h 1480"/>
                  <a:gd name="T26" fmla="*/ 3 w 408"/>
                  <a:gd name="T27" fmla="*/ 0 h 1480"/>
                  <a:gd name="T28" fmla="*/ 3 w 408"/>
                  <a:gd name="T29" fmla="*/ 0 h 1480"/>
                  <a:gd name="T30" fmla="*/ 3 w 408"/>
                  <a:gd name="T31" fmla="*/ 0 h 14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408"/>
                  <a:gd name="T49" fmla="*/ 0 h 1480"/>
                  <a:gd name="T50" fmla="*/ 408 w 408"/>
                  <a:gd name="T51" fmla="*/ 1480 h 14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408" h="1480">
                    <a:moveTo>
                      <a:pt x="393" y="0"/>
                    </a:moveTo>
                    <a:lnTo>
                      <a:pt x="370" y="11"/>
                    </a:lnTo>
                    <a:lnTo>
                      <a:pt x="356" y="19"/>
                    </a:lnTo>
                    <a:lnTo>
                      <a:pt x="338" y="37"/>
                    </a:lnTo>
                    <a:lnTo>
                      <a:pt x="325" y="59"/>
                    </a:lnTo>
                    <a:lnTo>
                      <a:pt x="320" y="77"/>
                    </a:lnTo>
                    <a:lnTo>
                      <a:pt x="0" y="1459"/>
                    </a:lnTo>
                    <a:lnTo>
                      <a:pt x="12" y="1480"/>
                    </a:lnTo>
                    <a:lnTo>
                      <a:pt x="337" y="77"/>
                    </a:lnTo>
                    <a:lnTo>
                      <a:pt x="346" y="57"/>
                    </a:lnTo>
                    <a:lnTo>
                      <a:pt x="355" y="43"/>
                    </a:lnTo>
                    <a:lnTo>
                      <a:pt x="368" y="30"/>
                    </a:lnTo>
                    <a:lnTo>
                      <a:pt x="384" y="19"/>
                    </a:lnTo>
                    <a:lnTo>
                      <a:pt x="400" y="12"/>
                    </a:lnTo>
                    <a:lnTo>
                      <a:pt x="408" y="5"/>
                    </a:lnTo>
                    <a:lnTo>
                      <a:pt x="393" y="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3" name="Freeform 2103"/>
              <p:cNvSpPr>
                <a:spLocks/>
              </p:cNvSpPr>
              <p:nvPr/>
            </p:nvSpPr>
            <p:spPr bwMode="auto">
              <a:xfrm>
                <a:off x="1204" y="3479"/>
                <a:ext cx="532" cy="321"/>
              </a:xfrm>
              <a:custGeom>
                <a:avLst/>
                <a:gdLst>
                  <a:gd name="T0" fmla="*/ 8 w 1065"/>
                  <a:gd name="T1" fmla="*/ 0 h 963"/>
                  <a:gd name="T2" fmla="*/ 8 w 1065"/>
                  <a:gd name="T3" fmla="*/ 0 h 963"/>
                  <a:gd name="T4" fmla="*/ 7 w 1065"/>
                  <a:gd name="T5" fmla="*/ 0 h 963"/>
                  <a:gd name="T6" fmla="*/ 1 w 1065"/>
                  <a:gd name="T7" fmla="*/ 0 h 963"/>
                  <a:gd name="T8" fmla="*/ 0 w 1065"/>
                  <a:gd name="T9" fmla="*/ 0 h 963"/>
                  <a:gd name="T10" fmla="*/ 0 w 1065"/>
                  <a:gd name="T11" fmla="*/ 0 h 963"/>
                  <a:gd name="T12" fmla="*/ 0 w 1065"/>
                  <a:gd name="T13" fmla="*/ 0 h 963"/>
                  <a:gd name="T14" fmla="*/ 0 w 1065"/>
                  <a:gd name="T15" fmla="*/ 0 h 963"/>
                  <a:gd name="T16" fmla="*/ 6 w 1065"/>
                  <a:gd name="T17" fmla="*/ 0 h 963"/>
                  <a:gd name="T18" fmla="*/ 8 w 1065"/>
                  <a:gd name="T19" fmla="*/ 0 h 96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065"/>
                  <a:gd name="T31" fmla="*/ 0 h 963"/>
                  <a:gd name="T32" fmla="*/ 1065 w 1065"/>
                  <a:gd name="T33" fmla="*/ 963 h 963"/>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065" h="963">
                    <a:moveTo>
                      <a:pt x="1065" y="963"/>
                    </a:moveTo>
                    <a:lnTo>
                      <a:pt x="1047" y="833"/>
                    </a:lnTo>
                    <a:lnTo>
                      <a:pt x="1015" y="776"/>
                    </a:lnTo>
                    <a:lnTo>
                      <a:pt x="137" y="3"/>
                    </a:lnTo>
                    <a:lnTo>
                      <a:pt x="96" y="0"/>
                    </a:lnTo>
                    <a:lnTo>
                      <a:pt x="59" y="3"/>
                    </a:lnTo>
                    <a:lnTo>
                      <a:pt x="32" y="42"/>
                    </a:lnTo>
                    <a:lnTo>
                      <a:pt x="0" y="145"/>
                    </a:lnTo>
                    <a:lnTo>
                      <a:pt x="865" y="954"/>
                    </a:lnTo>
                    <a:lnTo>
                      <a:pt x="1065" y="963"/>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4" name="Freeform 2104"/>
              <p:cNvSpPr>
                <a:spLocks/>
              </p:cNvSpPr>
              <p:nvPr/>
            </p:nvSpPr>
            <p:spPr bwMode="auto">
              <a:xfrm>
                <a:off x="642" y="3519"/>
                <a:ext cx="985" cy="288"/>
              </a:xfrm>
              <a:custGeom>
                <a:avLst/>
                <a:gdLst>
                  <a:gd name="T0" fmla="*/ 0 w 1969"/>
                  <a:gd name="T1" fmla="*/ 0 h 862"/>
                  <a:gd name="T2" fmla="*/ 9 w 1969"/>
                  <a:gd name="T3" fmla="*/ 0 h 862"/>
                  <a:gd name="T4" fmla="*/ 16 w 1969"/>
                  <a:gd name="T5" fmla="*/ 0 h 862"/>
                  <a:gd name="T6" fmla="*/ 4 w 1969"/>
                  <a:gd name="T7" fmla="*/ 0 h 862"/>
                  <a:gd name="T8" fmla="*/ 0 w 1969"/>
                  <a:gd name="T9" fmla="*/ 0 h 862"/>
                  <a:gd name="T10" fmla="*/ 0 60000 65536"/>
                  <a:gd name="T11" fmla="*/ 0 60000 65536"/>
                  <a:gd name="T12" fmla="*/ 0 60000 65536"/>
                  <a:gd name="T13" fmla="*/ 0 60000 65536"/>
                  <a:gd name="T14" fmla="*/ 0 60000 65536"/>
                  <a:gd name="T15" fmla="*/ 0 w 1969"/>
                  <a:gd name="T16" fmla="*/ 0 h 862"/>
                  <a:gd name="T17" fmla="*/ 1969 w 1969"/>
                  <a:gd name="T18" fmla="*/ 862 h 862"/>
                </a:gdLst>
                <a:ahLst/>
                <a:cxnLst>
                  <a:cxn ang="T10">
                    <a:pos x="T0" y="T1"/>
                  </a:cxn>
                  <a:cxn ang="T11">
                    <a:pos x="T2" y="T3"/>
                  </a:cxn>
                  <a:cxn ang="T12">
                    <a:pos x="T4" y="T5"/>
                  </a:cxn>
                  <a:cxn ang="T13">
                    <a:pos x="T6" y="T7"/>
                  </a:cxn>
                  <a:cxn ang="T14">
                    <a:pos x="T8" y="T9"/>
                  </a:cxn>
                </a:cxnLst>
                <a:rect l="T15" t="T16" r="T17" b="T18"/>
                <a:pathLst>
                  <a:path w="1969" h="862">
                    <a:moveTo>
                      <a:pt x="0" y="0"/>
                    </a:moveTo>
                    <a:lnTo>
                      <a:pt x="1121" y="24"/>
                    </a:lnTo>
                    <a:lnTo>
                      <a:pt x="1969" y="814"/>
                    </a:lnTo>
                    <a:lnTo>
                      <a:pt x="478" y="862"/>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 name="Freeform 2105"/>
              <p:cNvSpPr>
                <a:spLocks/>
              </p:cNvSpPr>
              <p:nvPr/>
            </p:nvSpPr>
            <p:spPr bwMode="auto">
              <a:xfrm>
                <a:off x="852" y="3789"/>
                <a:ext cx="889" cy="99"/>
              </a:xfrm>
              <a:custGeom>
                <a:avLst/>
                <a:gdLst>
                  <a:gd name="T0" fmla="*/ 1 w 1777"/>
                  <a:gd name="T1" fmla="*/ 0 h 297"/>
                  <a:gd name="T2" fmla="*/ 0 w 1777"/>
                  <a:gd name="T3" fmla="*/ 0 h 297"/>
                  <a:gd name="T4" fmla="*/ 14 w 1777"/>
                  <a:gd name="T5" fmla="*/ 0 h 297"/>
                  <a:gd name="T6" fmla="*/ 14 w 1777"/>
                  <a:gd name="T7" fmla="*/ 0 h 297"/>
                  <a:gd name="T8" fmla="*/ 14 w 1777"/>
                  <a:gd name="T9" fmla="*/ 0 h 297"/>
                  <a:gd name="T10" fmla="*/ 14 w 1777"/>
                  <a:gd name="T11" fmla="*/ 0 h 297"/>
                  <a:gd name="T12" fmla="*/ 1 w 1777"/>
                  <a:gd name="T13" fmla="*/ 0 h 297"/>
                  <a:gd name="T14" fmla="*/ 0 60000 65536"/>
                  <a:gd name="T15" fmla="*/ 0 60000 65536"/>
                  <a:gd name="T16" fmla="*/ 0 60000 65536"/>
                  <a:gd name="T17" fmla="*/ 0 60000 65536"/>
                  <a:gd name="T18" fmla="*/ 0 60000 65536"/>
                  <a:gd name="T19" fmla="*/ 0 60000 65536"/>
                  <a:gd name="T20" fmla="*/ 0 60000 65536"/>
                  <a:gd name="T21" fmla="*/ 0 w 1777"/>
                  <a:gd name="T22" fmla="*/ 0 h 297"/>
                  <a:gd name="T23" fmla="*/ 1777 w 1777"/>
                  <a:gd name="T24" fmla="*/ 297 h 29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77" h="297">
                    <a:moveTo>
                      <a:pt x="54" y="52"/>
                    </a:moveTo>
                    <a:lnTo>
                      <a:pt x="0" y="297"/>
                    </a:lnTo>
                    <a:lnTo>
                      <a:pt x="1759" y="257"/>
                    </a:lnTo>
                    <a:lnTo>
                      <a:pt x="1777" y="173"/>
                    </a:lnTo>
                    <a:lnTo>
                      <a:pt x="1773" y="74"/>
                    </a:lnTo>
                    <a:lnTo>
                      <a:pt x="1768" y="0"/>
                    </a:lnTo>
                    <a:lnTo>
                      <a:pt x="54" y="52"/>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6" name="Freeform 2106"/>
              <p:cNvSpPr>
                <a:spLocks/>
              </p:cNvSpPr>
              <p:nvPr/>
            </p:nvSpPr>
            <p:spPr bwMode="auto">
              <a:xfrm>
                <a:off x="624" y="3519"/>
                <a:ext cx="256" cy="369"/>
              </a:xfrm>
              <a:custGeom>
                <a:avLst/>
                <a:gdLst>
                  <a:gd name="T0" fmla="*/ 0 w 513"/>
                  <a:gd name="T1" fmla="*/ 0 h 1106"/>
                  <a:gd name="T2" fmla="*/ 0 w 513"/>
                  <a:gd name="T3" fmla="*/ 0 h 1106"/>
                  <a:gd name="T4" fmla="*/ 3 w 513"/>
                  <a:gd name="T5" fmla="*/ 1 h 1106"/>
                  <a:gd name="T6" fmla="*/ 4 w 513"/>
                  <a:gd name="T7" fmla="*/ 0 h 1106"/>
                  <a:gd name="T8" fmla="*/ 0 w 513"/>
                  <a:gd name="T9" fmla="*/ 0 h 1106"/>
                  <a:gd name="T10" fmla="*/ 0 60000 65536"/>
                  <a:gd name="T11" fmla="*/ 0 60000 65536"/>
                  <a:gd name="T12" fmla="*/ 0 60000 65536"/>
                  <a:gd name="T13" fmla="*/ 0 60000 65536"/>
                  <a:gd name="T14" fmla="*/ 0 60000 65536"/>
                  <a:gd name="T15" fmla="*/ 0 w 513"/>
                  <a:gd name="T16" fmla="*/ 0 h 1106"/>
                  <a:gd name="T17" fmla="*/ 513 w 513"/>
                  <a:gd name="T18" fmla="*/ 1106 h 1106"/>
                </a:gdLst>
                <a:ahLst/>
                <a:cxnLst>
                  <a:cxn ang="T10">
                    <a:pos x="T0" y="T1"/>
                  </a:cxn>
                  <a:cxn ang="T11">
                    <a:pos x="T2" y="T3"/>
                  </a:cxn>
                  <a:cxn ang="T12">
                    <a:pos x="T4" y="T5"/>
                  </a:cxn>
                  <a:cxn ang="T13">
                    <a:pos x="T6" y="T7"/>
                  </a:cxn>
                  <a:cxn ang="T14">
                    <a:pos x="T8" y="T9"/>
                  </a:cxn>
                </a:cxnLst>
                <a:rect l="T15" t="T16" r="T17" b="T18"/>
                <a:pathLst>
                  <a:path w="513" h="1106">
                    <a:moveTo>
                      <a:pt x="37" y="0"/>
                    </a:moveTo>
                    <a:lnTo>
                      <a:pt x="0" y="200"/>
                    </a:lnTo>
                    <a:lnTo>
                      <a:pt x="457" y="1106"/>
                    </a:lnTo>
                    <a:lnTo>
                      <a:pt x="513" y="862"/>
                    </a:lnTo>
                    <a:lnTo>
                      <a:pt x="37"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7" name="Freeform 2107"/>
              <p:cNvSpPr>
                <a:spLocks/>
              </p:cNvSpPr>
              <p:nvPr/>
            </p:nvSpPr>
            <p:spPr bwMode="auto">
              <a:xfrm>
                <a:off x="1206" y="3791"/>
                <a:ext cx="132" cy="8"/>
              </a:xfrm>
              <a:custGeom>
                <a:avLst/>
                <a:gdLst>
                  <a:gd name="T0" fmla="*/ 1 w 262"/>
                  <a:gd name="T1" fmla="*/ 0 h 25"/>
                  <a:gd name="T2" fmla="*/ 0 w 262"/>
                  <a:gd name="T3" fmla="*/ 0 h 25"/>
                  <a:gd name="T4" fmla="*/ 2 w 262"/>
                  <a:gd name="T5" fmla="*/ 0 h 25"/>
                  <a:gd name="T6" fmla="*/ 3 w 262"/>
                  <a:gd name="T7" fmla="*/ 0 h 25"/>
                  <a:gd name="T8" fmla="*/ 1 w 262"/>
                  <a:gd name="T9" fmla="*/ 0 h 25"/>
                  <a:gd name="T10" fmla="*/ 0 60000 65536"/>
                  <a:gd name="T11" fmla="*/ 0 60000 65536"/>
                  <a:gd name="T12" fmla="*/ 0 60000 65536"/>
                  <a:gd name="T13" fmla="*/ 0 60000 65536"/>
                  <a:gd name="T14" fmla="*/ 0 60000 65536"/>
                  <a:gd name="T15" fmla="*/ 0 w 262"/>
                  <a:gd name="T16" fmla="*/ 0 h 25"/>
                  <a:gd name="T17" fmla="*/ 262 w 262"/>
                  <a:gd name="T18" fmla="*/ 25 h 25"/>
                </a:gdLst>
                <a:ahLst/>
                <a:cxnLst>
                  <a:cxn ang="T10">
                    <a:pos x="T0" y="T1"/>
                  </a:cxn>
                  <a:cxn ang="T11">
                    <a:pos x="T2" y="T3"/>
                  </a:cxn>
                  <a:cxn ang="T12">
                    <a:pos x="T4" y="T5"/>
                  </a:cxn>
                  <a:cxn ang="T13">
                    <a:pos x="T6" y="T7"/>
                  </a:cxn>
                  <a:cxn ang="T14">
                    <a:pos x="T8" y="T9"/>
                  </a:cxn>
                </a:cxnLst>
                <a:rect l="T15" t="T16" r="T17" b="T18"/>
                <a:pathLst>
                  <a:path w="262" h="25">
                    <a:moveTo>
                      <a:pt x="2" y="25"/>
                    </a:moveTo>
                    <a:lnTo>
                      <a:pt x="0" y="0"/>
                    </a:lnTo>
                    <a:lnTo>
                      <a:pt x="249" y="0"/>
                    </a:lnTo>
                    <a:lnTo>
                      <a:pt x="262" y="19"/>
                    </a:lnTo>
                    <a:lnTo>
                      <a:pt x="2" y="2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8" name="Freeform 2108"/>
              <p:cNvSpPr>
                <a:spLocks/>
              </p:cNvSpPr>
              <p:nvPr/>
            </p:nvSpPr>
            <p:spPr bwMode="auto">
              <a:xfrm>
                <a:off x="927" y="3521"/>
                <a:ext cx="281" cy="279"/>
              </a:xfrm>
              <a:custGeom>
                <a:avLst/>
                <a:gdLst>
                  <a:gd name="T0" fmla="*/ 5 w 561"/>
                  <a:gd name="T1" fmla="*/ 0 h 836"/>
                  <a:gd name="T2" fmla="*/ 0 w 561"/>
                  <a:gd name="T3" fmla="*/ 0 h 836"/>
                  <a:gd name="T4" fmla="*/ 5 w 561"/>
                  <a:gd name="T5" fmla="*/ 0 h 836"/>
                  <a:gd name="T6" fmla="*/ 5 w 561"/>
                  <a:gd name="T7" fmla="*/ 0 h 836"/>
                  <a:gd name="T8" fmla="*/ 0 60000 65536"/>
                  <a:gd name="T9" fmla="*/ 0 60000 65536"/>
                  <a:gd name="T10" fmla="*/ 0 60000 65536"/>
                  <a:gd name="T11" fmla="*/ 0 60000 65536"/>
                  <a:gd name="T12" fmla="*/ 0 w 561"/>
                  <a:gd name="T13" fmla="*/ 0 h 836"/>
                  <a:gd name="T14" fmla="*/ 561 w 561"/>
                  <a:gd name="T15" fmla="*/ 836 h 836"/>
                </a:gdLst>
                <a:ahLst/>
                <a:cxnLst>
                  <a:cxn ang="T8">
                    <a:pos x="T0" y="T1"/>
                  </a:cxn>
                  <a:cxn ang="T9">
                    <a:pos x="T2" y="T3"/>
                  </a:cxn>
                  <a:cxn ang="T10">
                    <a:pos x="T4" y="T5"/>
                  </a:cxn>
                  <a:cxn ang="T11">
                    <a:pos x="T6" y="T7"/>
                  </a:cxn>
                </a:cxnLst>
                <a:rect l="T12" t="T13" r="T14" b="T15"/>
                <a:pathLst>
                  <a:path w="561" h="836">
                    <a:moveTo>
                      <a:pt x="557" y="801"/>
                    </a:moveTo>
                    <a:lnTo>
                      <a:pt x="0" y="0"/>
                    </a:lnTo>
                    <a:lnTo>
                      <a:pt x="561" y="836"/>
                    </a:lnTo>
                    <a:lnTo>
                      <a:pt x="557" y="801"/>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59" name="Group 2109"/>
              <p:cNvGrpSpPr>
                <a:grpSpLocks/>
              </p:cNvGrpSpPr>
              <p:nvPr/>
            </p:nvGrpSpPr>
            <p:grpSpPr bwMode="auto">
              <a:xfrm>
                <a:off x="700" y="3526"/>
                <a:ext cx="515" cy="270"/>
                <a:chOff x="700" y="3526"/>
                <a:chExt cx="515" cy="270"/>
              </a:xfrm>
            </p:grpSpPr>
            <p:grpSp>
              <p:nvGrpSpPr>
                <p:cNvPr id="85" name="Group 2110"/>
                <p:cNvGrpSpPr>
                  <a:grpSpLocks/>
                </p:cNvGrpSpPr>
                <p:nvPr/>
              </p:nvGrpSpPr>
              <p:grpSpPr bwMode="auto">
                <a:xfrm>
                  <a:off x="737" y="3534"/>
                  <a:ext cx="49" cy="23"/>
                  <a:chOff x="737" y="3534"/>
                  <a:chExt cx="49" cy="23"/>
                </a:xfrm>
              </p:grpSpPr>
              <p:sp>
                <p:nvSpPr>
                  <p:cNvPr id="498" name="Freeform 2111"/>
                  <p:cNvSpPr>
                    <a:spLocks/>
                  </p:cNvSpPr>
                  <p:nvPr/>
                </p:nvSpPr>
                <p:spPr bwMode="auto">
                  <a:xfrm>
                    <a:off x="737" y="3534"/>
                    <a:ext cx="11" cy="23"/>
                  </a:xfrm>
                  <a:custGeom>
                    <a:avLst/>
                    <a:gdLst>
                      <a:gd name="T0" fmla="*/ 1 w 22"/>
                      <a:gd name="T1" fmla="*/ 0 h 67"/>
                      <a:gd name="T2" fmla="*/ 0 w 22"/>
                      <a:gd name="T3" fmla="*/ 0 h 67"/>
                      <a:gd name="T4" fmla="*/ 1 w 22"/>
                      <a:gd name="T5" fmla="*/ 0 h 67"/>
                      <a:gd name="T6" fmla="*/ 1 w 22"/>
                      <a:gd name="T7" fmla="*/ 0 h 67"/>
                      <a:gd name="T8" fmla="*/ 1 w 22"/>
                      <a:gd name="T9" fmla="*/ 0 h 67"/>
                      <a:gd name="T10" fmla="*/ 0 60000 65536"/>
                      <a:gd name="T11" fmla="*/ 0 60000 65536"/>
                      <a:gd name="T12" fmla="*/ 0 60000 65536"/>
                      <a:gd name="T13" fmla="*/ 0 60000 65536"/>
                      <a:gd name="T14" fmla="*/ 0 60000 65536"/>
                      <a:gd name="T15" fmla="*/ 0 w 22"/>
                      <a:gd name="T16" fmla="*/ 0 h 67"/>
                      <a:gd name="T17" fmla="*/ 22 w 22"/>
                      <a:gd name="T18" fmla="*/ 67 h 67"/>
                    </a:gdLst>
                    <a:ahLst/>
                    <a:cxnLst>
                      <a:cxn ang="T10">
                        <a:pos x="T0" y="T1"/>
                      </a:cxn>
                      <a:cxn ang="T11">
                        <a:pos x="T2" y="T3"/>
                      </a:cxn>
                      <a:cxn ang="T12">
                        <a:pos x="T4" y="T5"/>
                      </a:cxn>
                      <a:cxn ang="T13">
                        <a:pos x="T6" y="T7"/>
                      </a:cxn>
                      <a:cxn ang="T14">
                        <a:pos x="T8" y="T9"/>
                      </a:cxn>
                    </a:cxnLst>
                    <a:rect l="T15" t="T16" r="T17" b="T18"/>
                    <a:pathLst>
                      <a:path w="22" h="67">
                        <a:moveTo>
                          <a:pt x="13" y="67"/>
                        </a:moveTo>
                        <a:lnTo>
                          <a:pt x="0" y="26"/>
                        </a:lnTo>
                        <a:lnTo>
                          <a:pt x="9" y="0"/>
                        </a:lnTo>
                        <a:lnTo>
                          <a:pt x="22" y="30"/>
                        </a:lnTo>
                        <a:lnTo>
                          <a:pt x="13"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99" name="Freeform 2112"/>
                  <p:cNvSpPr>
                    <a:spLocks/>
                  </p:cNvSpPr>
                  <p:nvPr/>
                </p:nvSpPr>
                <p:spPr bwMode="auto">
                  <a:xfrm>
                    <a:off x="742" y="3535"/>
                    <a:ext cx="36" cy="9"/>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2" y="2"/>
                        </a:lnTo>
                        <a:lnTo>
                          <a:pt x="55" y="11"/>
                        </a:lnTo>
                        <a:lnTo>
                          <a:pt x="73" y="29"/>
                        </a:lnTo>
                        <a:lnTo>
                          <a:pt x="17" y="29"/>
                        </a:lnTo>
                        <a:lnTo>
                          <a:pt x="8"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0" name="Freeform 2113"/>
                  <p:cNvSpPr>
                    <a:spLocks/>
                  </p:cNvSpPr>
                  <p:nvPr/>
                </p:nvSpPr>
                <p:spPr bwMode="auto">
                  <a:xfrm>
                    <a:off x="744" y="3545"/>
                    <a:ext cx="42"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7"/>
                        </a:lnTo>
                        <a:lnTo>
                          <a:pt x="10" y="0"/>
                        </a:lnTo>
                        <a:lnTo>
                          <a:pt x="67" y="0"/>
                        </a:lnTo>
                        <a:lnTo>
                          <a:pt x="82"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6" name="Group 2114"/>
                <p:cNvGrpSpPr>
                  <a:grpSpLocks/>
                </p:cNvGrpSpPr>
                <p:nvPr/>
              </p:nvGrpSpPr>
              <p:grpSpPr bwMode="auto">
                <a:xfrm>
                  <a:off x="748" y="3547"/>
                  <a:ext cx="50" cy="23"/>
                  <a:chOff x="748" y="3547"/>
                  <a:chExt cx="50" cy="23"/>
                </a:xfrm>
              </p:grpSpPr>
              <p:sp>
                <p:nvSpPr>
                  <p:cNvPr id="495" name="Freeform 2115"/>
                  <p:cNvSpPr>
                    <a:spLocks/>
                  </p:cNvSpPr>
                  <p:nvPr/>
                </p:nvSpPr>
                <p:spPr bwMode="auto">
                  <a:xfrm>
                    <a:off x="748"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96" name="Freeform 2116"/>
                  <p:cNvSpPr>
                    <a:spLocks/>
                  </p:cNvSpPr>
                  <p:nvPr/>
                </p:nvSpPr>
                <p:spPr bwMode="auto">
                  <a:xfrm>
                    <a:off x="753" y="3548"/>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97" name="Freeform 2117"/>
                  <p:cNvSpPr>
                    <a:spLocks/>
                  </p:cNvSpPr>
                  <p:nvPr/>
                </p:nvSpPr>
                <p:spPr bwMode="auto">
                  <a:xfrm>
                    <a:off x="757" y="3558"/>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87" name="Freeform 2118"/>
                <p:cNvSpPr>
                  <a:spLocks/>
                </p:cNvSpPr>
                <p:nvPr/>
              </p:nvSpPr>
              <p:spPr bwMode="auto">
                <a:xfrm>
                  <a:off x="952" y="3538"/>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8" name="Freeform 2119"/>
                <p:cNvSpPr>
                  <a:spLocks/>
                </p:cNvSpPr>
                <p:nvPr/>
              </p:nvSpPr>
              <p:spPr bwMode="auto">
                <a:xfrm>
                  <a:off x="861" y="3535"/>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9" name="Freeform 2120"/>
                <p:cNvSpPr>
                  <a:spLocks/>
                </p:cNvSpPr>
                <p:nvPr/>
              </p:nvSpPr>
              <p:spPr bwMode="auto">
                <a:xfrm>
                  <a:off x="867" y="3535"/>
                  <a:ext cx="34" cy="10"/>
                </a:xfrm>
                <a:custGeom>
                  <a:avLst/>
                  <a:gdLst>
                    <a:gd name="T0" fmla="*/ 0 w 70"/>
                    <a:gd name="T1" fmla="*/ 0 h 30"/>
                    <a:gd name="T2" fmla="*/ 0 w 70"/>
                    <a:gd name="T3" fmla="*/ 0 h 30"/>
                    <a:gd name="T4" fmla="*/ 0 w 70"/>
                    <a:gd name="T5" fmla="*/ 0 h 30"/>
                    <a:gd name="T6" fmla="*/ 0 w 70"/>
                    <a:gd name="T7" fmla="*/ 0 h 30"/>
                    <a:gd name="T8" fmla="*/ 0 w 70"/>
                    <a:gd name="T9" fmla="*/ 0 h 30"/>
                    <a:gd name="T10" fmla="*/ 0 w 70"/>
                    <a:gd name="T11" fmla="*/ 0 h 30"/>
                    <a:gd name="T12" fmla="*/ 0 w 70"/>
                    <a:gd name="T13" fmla="*/ 0 h 30"/>
                    <a:gd name="T14" fmla="*/ 0 w 70"/>
                    <a:gd name="T15" fmla="*/ 0 h 30"/>
                    <a:gd name="T16" fmla="*/ 0 w 70"/>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0"/>
                    <a:gd name="T28" fmla="*/ 0 h 30"/>
                    <a:gd name="T29" fmla="*/ 70 w 70"/>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0" h="30">
                      <a:moveTo>
                        <a:pt x="0" y="0"/>
                      </a:moveTo>
                      <a:lnTo>
                        <a:pt x="49" y="0"/>
                      </a:lnTo>
                      <a:lnTo>
                        <a:pt x="50" y="3"/>
                      </a:lnTo>
                      <a:lnTo>
                        <a:pt x="54" y="13"/>
                      </a:lnTo>
                      <a:lnTo>
                        <a:pt x="70" y="30"/>
                      </a:lnTo>
                      <a:lnTo>
                        <a:pt x="16" y="30"/>
                      </a:lnTo>
                      <a:lnTo>
                        <a:pt x="7" y="21"/>
                      </a:lnTo>
                      <a:lnTo>
                        <a:pt x="0" y="7"/>
                      </a:lnTo>
                      <a:lnTo>
                        <a:pt x="0"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0" name="Freeform 2121"/>
                <p:cNvSpPr>
                  <a:spLocks/>
                </p:cNvSpPr>
                <p:nvPr/>
              </p:nvSpPr>
              <p:spPr bwMode="auto">
                <a:xfrm>
                  <a:off x="868" y="354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91" name="Group 2122"/>
                <p:cNvGrpSpPr>
                  <a:grpSpLocks/>
                </p:cNvGrpSpPr>
                <p:nvPr/>
              </p:nvGrpSpPr>
              <p:grpSpPr bwMode="auto">
                <a:xfrm>
                  <a:off x="872" y="3547"/>
                  <a:ext cx="50" cy="23"/>
                  <a:chOff x="872" y="3547"/>
                  <a:chExt cx="50" cy="23"/>
                </a:xfrm>
              </p:grpSpPr>
              <p:sp>
                <p:nvSpPr>
                  <p:cNvPr id="492" name="Freeform 2123"/>
                  <p:cNvSpPr>
                    <a:spLocks/>
                  </p:cNvSpPr>
                  <p:nvPr/>
                </p:nvSpPr>
                <p:spPr bwMode="auto">
                  <a:xfrm>
                    <a:off x="872"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93" name="Freeform 2124"/>
                  <p:cNvSpPr>
                    <a:spLocks/>
                  </p:cNvSpPr>
                  <p:nvPr/>
                </p:nvSpPr>
                <p:spPr bwMode="auto">
                  <a:xfrm>
                    <a:off x="878" y="3547"/>
                    <a:ext cx="36" cy="10"/>
                  </a:xfrm>
                  <a:custGeom>
                    <a:avLst/>
                    <a:gdLst>
                      <a:gd name="T0" fmla="*/ 0 w 73"/>
                      <a:gd name="T1" fmla="*/ 0 h 30"/>
                      <a:gd name="T2" fmla="*/ 0 w 73"/>
                      <a:gd name="T3" fmla="*/ 0 h 30"/>
                      <a:gd name="T4" fmla="*/ 0 w 73"/>
                      <a:gd name="T5" fmla="*/ 0 h 30"/>
                      <a:gd name="T6" fmla="*/ 0 w 73"/>
                      <a:gd name="T7" fmla="*/ 0 h 30"/>
                      <a:gd name="T8" fmla="*/ 0 w 73"/>
                      <a:gd name="T9" fmla="*/ 0 h 30"/>
                      <a:gd name="T10" fmla="*/ 0 w 73"/>
                      <a:gd name="T11" fmla="*/ 0 h 30"/>
                      <a:gd name="T12" fmla="*/ 0 w 73"/>
                      <a:gd name="T13" fmla="*/ 0 h 30"/>
                      <a:gd name="T14" fmla="*/ 0 w 73"/>
                      <a:gd name="T15" fmla="*/ 0 h 30"/>
                      <a:gd name="T16" fmla="*/ 0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2" y="0"/>
                        </a:moveTo>
                        <a:lnTo>
                          <a:pt x="49" y="0"/>
                        </a:lnTo>
                        <a:lnTo>
                          <a:pt x="50" y="3"/>
                        </a:lnTo>
                        <a:lnTo>
                          <a:pt x="57" y="12"/>
                        </a:lnTo>
                        <a:lnTo>
                          <a:pt x="73"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94" name="Freeform 2125"/>
                  <p:cNvSpPr>
                    <a:spLocks/>
                  </p:cNvSpPr>
                  <p:nvPr/>
                </p:nvSpPr>
                <p:spPr bwMode="auto">
                  <a:xfrm>
                    <a:off x="880" y="3558"/>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2" name="Group 2126"/>
                <p:cNvGrpSpPr>
                  <a:grpSpLocks/>
                </p:cNvGrpSpPr>
                <p:nvPr/>
              </p:nvGrpSpPr>
              <p:grpSpPr bwMode="auto">
                <a:xfrm>
                  <a:off x="885" y="3559"/>
                  <a:ext cx="50" cy="23"/>
                  <a:chOff x="885" y="3559"/>
                  <a:chExt cx="50" cy="23"/>
                </a:xfrm>
              </p:grpSpPr>
              <p:sp>
                <p:nvSpPr>
                  <p:cNvPr id="489" name="Freeform 2127"/>
                  <p:cNvSpPr>
                    <a:spLocks/>
                  </p:cNvSpPr>
                  <p:nvPr/>
                </p:nvSpPr>
                <p:spPr bwMode="auto">
                  <a:xfrm>
                    <a:off x="885" y="3559"/>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90" name="Freeform 2128"/>
                  <p:cNvSpPr>
                    <a:spLocks/>
                  </p:cNvSpPr>
                  <p:nvPr/>
                </p:nvSpPr>
                <p:spPr bwMode="auto">
                  <a:xfrm>
                    <a:off x="890" y="3560"/>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3" y="0"/>
                        </a:moveTo>
                        <a:lnTo>
                          <a:pt x="49" y="0"/>
                        </a:lnTo>
                        <a:lnTo>
                          <a:pt x="52" y="3"/>
                        </a:lnTo>
                        <a:lnTo>
                          <a:pt x="57" y="12"/>
                        </a:lnTo>
                        <a:lnTo>
                          <a:pt x="74" y="30"/>
                        </a:lnTo>
                        <a:lnTo>
                          <a:pt x="19" y="30"/>
                        </a:lnTo>
                        <a:lnTo>
                          <a:pt x="10"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91" name="Freeform 2129"/>
                  <p:cNvSpPr>
                    <a:spLocks/>
                  </p:cNvSpPr>
                  <p:nvPr/>
                </p:nvSpPr>
                <p:spPr bwMode="auto">
                  <a:xfrm>
                    <a:off x="893" y="357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3" name="Group 2130"/>
                <p:cNvGrpSpPr>
                  <a:grpSpLocks/>
                </p:cNvGrpSpPr>
                <p:nvPr/>
              </p:nvGrpSpPr>
              <p:grpSpPr bwMode="auto">
                <a:xfrm>
                  <a:off x="898" y="3571"/>
                  <a:ext cx="49" cy="23"/>
                  <a:chOff x="898" y="3571"/>
                  <a:chExt cx="49" cy="23"/>
                </a:xfrm>
              </p:grpSpPr>
              <p:sp>
                <p:nvSpPr>
                  <p:cNvPr id="486" name="Freeform 2131"/>
                  <p:cNvSpPr>
                    <a:spLocks/>
                  </p:cNvSpPr>
                  <p:nvPr/>
                </p:nvSpPr>
                <p:spPr bwMode="auto">
                  <a:xfrm>
                    <a:off x="898" y="3571"/>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87" name="Freeform 2132"/>
                  <p:cNvSpPr>
                    <a:spLocks/>
                  </p:cNvSpPr>
                  <p:nvPr/>
                </p:nvSpPr>
                <p:spPr bwMode="auto">
                  <a:xfrm>
                    <a:off x="903" y="3572"/>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2"/>
                        </a:lnTo>
                        <a:lnTo>
                          <a:pt x="57" y="11"/>
                        </a:lnTo>
                        <a:lnTo>
                          <a:pt x="75" y="29"/>
                        </a:lnTo>
                        <a:lnTo>
                          <a:pt x="19" y="29"/>
                        </a:lnTo>
                        <a:lnTo>
                          <a:pt x="11"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88" name="Freeform 2133"/>
                  <p:cNvSpPr>
                    <a:spLocks/>
                  </p:cNvSpPr>
                  <p:nvPr/>
                </p:nvSpPr>
                <p:spPr bwMode="auto">
                  <a:xfrm>
                    <a:off x="907" y="3582"/>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4" name="Group 2134"/>
                <p:cNvGrpSpPr>
                  <a:grpSpLocks/>
                </p:cNvGrpSpPr>
                <p:nvPr/>
              </p:nvGrpSpPr>
              <p:grpSpPr bwMode="auto">
                <a:xfrm>
                  <a:off x="911" y="3585"/>
                  <a:ext cx="49" cy="23"/>
                  <a:chOff x="911" y="3585"/>
                  <a:chExt cx="49" cy="23"/>
                </a:xfrm>
              </p:grpSpPr>
              <p:sp>
                <p:nvSpPr>
                  <p:cNvPr id="483" name="Freeform 2135"/>
                  <p:cNvSpPr>
                    <a:spLocks/>
                  </p:cNvSpPr>
                  <p:nvPr/>
                </p:nvSpPr>
                <p:spPr bwMode="auto">
                  <a:xfrm>
                    <a:off x="911" y="3585"/>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0"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84" name="Freeform 2136"/>
                  <p:cNvSpPr>
                    <a:spLocks/>
                  </p:cNvSpPr>
                  <p:nvPr/>
                </p:nvSpPr>
                <p:spPr bwMode="auto">
                  <a:xfrm>
                    <a:off x="915" y="3585"/>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2" y="0"/>
                        </a:lnTo>
                        <a:lnTo>
                          <a:pt x="53" y="3"/>
                        </a:lnTo>
                        <a:lnTo>
                          <a:pt x="57" y="12"/>
                        </a:lnTo>
                        <a:lnTo>
                          <a:pt x="75" y="30"/>
                        </a:lnTo>
                        <a:lnTo>
                          <a:pt x="19" y="30"/>
                        </a:lnTo>
                        <a:lnTo>
                          <a:pt x="11"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85" name="Freeform 2137"/>
                  <p:cNvSpPr>
                    <a:spLocks/>
                  </p:cNvSpPr>
                  <p:nvPr/>
                </p:nvSpPr>
                <p:spPr bwMode="auto">
                  <a:xfrm>
                    <a:off x="919" y="359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5" name="Group 2138"/>
                <p:cNvGrpSpPr>
                  <a:grpSpLocks/>
                </p:cNvGrpSpPr>
                <p:nvPr/>
              </p:nvGrpSpPr>
              <p:grpSpPr bwMode="auto">
                <a:xfrm>
                  <a:off x="923" y="3600"/>
                  <a:ext cx="99" cy="73"/>
                  <a:chOff x="923" y="3600"/>
                  <a:chExt cx="99" cy="73"/>
                </a:xfrm>
              </p:grpSpPr>
              <p:grpSp>
                <p:nvGrpSpPr>
                  <p:cNvPr id="463" name="Group 2139"/>
                  <p:cNvGrpSpPr>
                    <a:grpSpLocks/>
                  </p:cNvGrpSpPr>
                  <p:nvPr/>
                </p:nvGrpSpPr>
                <p:grpSpPr bwMode="auto">
                  <a:xfrm>
                    <a:off x="923" y="3600"/>
                    <a:ext cx="49" cy="23"/>
                    <a:chOff x="923" y="3600"/>
                    <a:chExt cx="49" cy="23"/>
                  </a:xfrm>
                </p:grpSpPr>
                <p:sp>
                  <p:nvSpPr>
                    <p:cNvPr id="480" name="Freeform 2140"/>
                    <p:cNvSpPr>
                      <a:spLocks/>
                    </p:cNvSpPr>
                    <p:nvPr/>
                  </p:nvSpPr>
                  <p:spPr bwMode="auto">
                    <a:xfrm>
                      <a:off x="923" y="3600"/>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0"/>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81" name="Freeform 2141"/>
                    <p:cNvSpPr>
                      <a:spLocks/>
                    </p:cNvSpPr>
                    <p:nvPr/>
                  </p:nvSpPr>
                  <p:spPr bwMode="auto">
                    <a:xfrm>
                      <a:off x="928" y="3600"/>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3"/>
                          </a:lnTo>
                          <a:lnTo>
                            <a:pt x="57" y="12"/>
                          </a:lnTo>
                          <a:lnTo>
                            <a:pt x="75" y="29"/>
                          </a:lnTo>
                          <a:lnTo>
                            <a:pt x="19" y="29"/>
                          </a:lnTo>
                          <a:lnTo>
                            <a:pt x="9"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82" name="Freeform 2142"/>
                    <p:cNvSpPr>
                      <a:spLocks/>
                    </p:cNvSpPr>
                    <p:nvPr/>
                  </p:nvSpPr>
                  <p:spPr bwMode="auto">
                    <a:xfrm>
                      <a:off x="930" y="3610"/>
                      <a:ext cx="42" cy="13"/>
                    </a:xfrm>
                    <a:custGeom>
                      <a:avLst/>
                      <a:gdLst>
                        <a:gd name="T0" fmla="*/ 0 w 82"/>
                        <a:gd name="T1" fmla="*/ 0 h 37"/>
                        <a:gd name="T2" fmla="*/ 1 w 82"/>
                        <a:gd name="T3" fmla="*/ 0 h 37"/>
                        <a:gd name="T4" fmla="*/ 1 w 82"/>
                        <a:gd name="T5" fmla="*/ 0 h 37"/>
                        <a:gd name="T6" fmla="*/ 1 w 82"/>
                        <a:gd name="T7" fmla="*/ 0 h 37"/>
                        <a:gd name="T8" fmla="*/ 1 w 82"/>
                        <a:gd name="T9" fmla="*/ 0 h 37"/>
                        <a:gd name="T10" fmla="*/ 1 w 82"/>
                        <a:gd name="T11" fmla="*/ 0 h 37"/>
                        <a:gd name="T12" fmla="*/ 0 w 82"/>
                        <a:gd name="T13" fmla="*/ 0 h 37"/>
                        <a:gd name="T14" fmla="*/ 0 60000 65536"/>
                        <a:gd name="T15" fmla="*/ 0 60000 65536"/>
                        <a:gd name="T16" fmla="*/ 0 60000 65536"/>
                        <a:gd name="T17" fmla="*/ 0 60000 65536"/>
                        <a:gd name="T18" fmla="*/ 0 60000 65536"/>
                        <a:gd name="T19" fmla="*/ 0 60000 65536"/>
                        <a:gd name="T20" fmla="*/ 0 60000 65536"/>
                        <a:gd name="T21" fmla="*/ 0 w 82"/>
                        <a:gd name="T22" fmla="*/ 0 h 37"/>
                        <a:gd name="T23" fmla="*/ 82 w 82"/>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7">
                          <a:moveTo>
                            <a:pt x="0" y="37"/>
                          </a:moveTo>
                          <a:lnTo>
                            <a:pt x="2" y="22"/>
                          </a:lnTo>
                          <a:lnTo>
                            <a:pt x="7" y="7"/>
                          </a:lnTo>
                          <a:lnTo>
                            <a:pt x="13" y="0"/>
                          </a:lnTo>
                          <a:lnTo>
                            <a:pt x="69" y="0"/>
                          </a:lnTo>
                          <a:lnTo>
                            <a:pt x="82"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64" name="Group 2143"/>
                  <p:cNvGrpSpPr>
                    <a:grpSpLocks/>
                  </p:cNvGrpSpPr>
                  <p:nvPr/>
                </p:nvGrpSpPr>
                <p:grpSpPr bwMode="auto">
                  <a:xfrm>
                    <a:off x="935" y="3612"/>
                    <a:ext cx="48" cy="23"/>
                    <a:chOff x="935" y="3612"/>
                    <a:chExt cx="48" cy="23"/>
                  </a:xfrm>
                </p:grpSpPr>
                <p:sp>
                  <p:nvSpPr>
                    <p:cNvPr id="477" name="Freeform 2144"/>
                    <p:cNvSpPr>
                      <a:spLocks/>
                    </p:cNvSpPr>
                    <p:nvPr/>
                  </p:nvSpPr>
                  <p:spPr bwMode="auto">
                    <a:xfrm>
                      <a:off x="935"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78" name="Freeform 2145"/>
                    <p:cNvSpPr>
                      <a:spLocks/>
                    </p:cNvSpPr>
                    <p:nvPr/>
                  </p:nvSpPr>
                  <p:spPr bwMode="auto">
                    <a:xfrm>
                      <a:off x="939" y="3612"/>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3" y="3"/>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79" name="Freeform 2146"/>
                    <p:cNvSpPr>
                      <a:spLocks/>
                    </p:cNvSpPr>
                    <p:nvPr/>
                  </p:nvSpPr>
                  <p:spPr bwMode="auto">
                    <a:xfrm>
                      <a:off x="943"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65" name="Group 2147"/>
                  <p:cNvGrpSpPr>
                    <a:grpSpLocks/>
                  </p:cNvGrpSpPr>
                  <p:nvPr/>
                </p:nvGrpSpPr>
                <p:grpSpPr bwMode="auto">
                  <a:xfrm>
                    <a:off x="947" y="3625"/>
                    <a:ext cx="50" cy="22"/>
                    <a:chOff x="947" y="3625"/>
                    <a:chExt cx="50" cy="22"/>
                  </a:xfrm>
                </p:grpSpPr>
                <p:sp>
                  <p:nvSpPr>
                    <p:cNvPr id="474" name="Freeform 2148"/>
                    <p:cNvSpPr>
                      <a:spLocks/>
                    </p:cNvSpPr>
                    <p:nvPr/>
                  </p:nvSpPr>
                  <p:spPr bwMode="auto">
                    <a:xfrm>
                      <a:off x="947" y="3625"/>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75" name="Freeform 2149"/>
                    <p:cNvSpPr>
                      <a:spLocks/>
                    </p:cNvSpPr>
                    <p:nvPr/>
                  </p:nvSpPr>
                  <p:spPr bwMode="auto">
                    <a:xfrm>
                      <a:off x="953" y="3625"/>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1" y="2"/>
                          </a:lnTo>
                          <a:lnTo>
                            <a:pt x="57" y="11"/>
                          </a:lnTo>
                          <a:lnTo>
                            <a:pt x="73" y="29"/>
                          </a:lnTo>
                          <a:lnTo>
                            <a:pt x="19"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76" name="Freeform 2150"/>
                    <p:cNvSpPr>
                      <a:spLocks/>
                    </p:cNvSpPr>
                    <p:nvPr/>
                  </p:nvSpPr>
                  <p:spPr bwMode="auto">
                    <a:xfrm>
                      <a:off x="955" y="363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0"/>
                          </a:lnTo>
                          <a:lnTo>
                            <a:pt x="7" y="8"/>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66" name="Group 2151"/>
                  <p:cNvGrpSpPr>
                    <a:grpSpLocks/>
                  </p:cNvGrpSpPr>
                  <p:nvPr/>
                </p:nvGrpSpPr>
                <p:grpSpPr bwMode="auto">
                  <a:xfrm>
                    <a:off x="960" y="3637"/>
                    <a:ext cx="50" cy="23"/>
                    <a:chOff x="960" y="3637"/>
                    <a:chExt cx="50" cy="23"/>
                  </a:xfrm>
                </p:grpSpPr>
                <p:sp>
                  <p:nvSpPr>
                    <p:cNvPr id="471" name="Freeform 2152"/>
                    <p:cNvSpPr>
                      <a:spLocks/>
                    </p:cNvSpPr>
                    <p:nvPr/>
                  </p:nvSpPr>
                  <p:spPr bwMode="auto">
                    <a:xfrm>
                      <a:off x="960" y="363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7"/>
                          </a:lnTo>
                          <a:lnTo>
                            <a:pt x="12"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72" name="Freeform 2153"/>
                    <p:cNvSpPr>
                      <a:spLocks/>
                    </p:cNvSpPr>
                    <p:nvPr/>
                  </p:nvSpPr>
                  <p:spPr bwMode="auto">
                    <a:xfrm>
                      <a:off x="965" y="3638"/>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3" y="0"/>
                          </a:moveTo>
                          <a:lnTo>
                            <a:pt x="49" y="0"/>
                          </a:lnTo>
                          <a:lnTo>
                            <a:pt x="53" y="2"/>
                          </a:lnTo>
                          <a:lnTo>
                            <a:pt x="57" y="11"/>
                          </a:lnTo>
                          <a:lnTo>
                            <a:pt x="74" y="29"/>
                          </a:lnTo>
                          <a:lnTo>
                            <a:pt x="19"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73" name="Freeform 2154"/>
                    <p:cNvSpPr>
                      <a:spLocks/>
                    </p:cNvSpPr>
                    <p:nvPr/>
                  </p:nvSpPr>
                  <p:spPr bwMode="auto">
                    <a:xfrm>
                      <a:off x="968" y="3648"/>
                      <a:ext cx="42" cy="12"/>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1" y="19"/>
                          </a:lnTo>
                          <a:lnTo>
                            <a:pt x="6" y="7"/>
                          </a:lnTo>
                          <a:lnTo>
                            <a:pt x="10"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67" name="Group 2155"/>
                  <p:cNvGrpSpPr>
                    <a:grpSpLocks/>
                  </p:cNvGrpSpPr>
                  <p:nvPr/>
                </p:nvGrpSpPr>
                <p:grpSpPr bwMode="auto">
                  <a:xfrm>
                    <a:off x="973" y="3650"/>
                    <a:ext cx="49" cy="23"/>
                    <a:chOff x="973" y="3650"/>
                    <a:chExt cx="49" cy="23"/>
                  </a:xfrm>
                </p:grpSpPr>
                <p:sp>
                  <p:nvSpPr>
                    <p:cNvPr id="468" name="Freeform 2156"/>
                    <p:cNvSpPr>
                      <a:spLocks/>
                    </p:cNvSpPr>
                    <p:nvPr/>
                  </p:nvSpPr>
                  <p:spPr bwMode="auto">
                    <a:xfrm>
                      <a:off x="973" y="3650"/>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69" name="Freeform 2157"/>
                    <p:cNvSpPr>
                      <a:spLocks/>
                    </p:cNvSpPr>
                    <p:nvPr/>
                  </p:nvSpPr>
                  <p:spPr bwMode="auto">
                    <a:xfrm>
                      <a:off x="978"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49" y="0"/>
                          </a:lnTo>
                          <a:lnTo>
                            <a:pt x="50" y="2"/>
                          </a:lnTo>
                          <a:lnTo>
                            <a:pt x="57" y="11"/>
                          </a:lnTo>
                          <a:lnTo>
                            <a:pt x="74" y="29"/>
                          </a:lnTo>
                          <a:lnTo>
                            <a:pt x="19" y="29"/>
                          </a:lnTo>
                          <a:lnTo>
                            <a:pt x="10"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70" name="Freeform 2158"/>
                    <p:cNvSpPr>
                      <a:spLocks/>
                    </p:cNvSpPr>
                    <p:nvPr/>
                  </p:nvSpPr>
                  <p:spPr bwMode="auto">
                    <a:xfrm>
                      <a:off x="982" y="3661"/>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5"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96" name="Group 2159"/>
                <p:cNvGrpSpPr>
                  <a:grpSpLocks/>
                </p:cNvGrpSpPr>
                <p:nvPr/>
              </p:nvGrpSpPr>
              <p:grpSpPr bwMode="auto">
                <a:xfrm>
                  <a:off x="985" y="3665"/>
                  <a:ext cx="100" cy="73"/>
                  <a:chOff x="985" y="3665"/>
                  <a:chExt cx="100" cy="73"/>
                </a:xfrm>
              </p:grpSpPr>
              <p:grpSp>
                <p:nvGrpSpPr>
                  <p:cNvPr id="441" name="Group 2160"/>
                  <p:cNvGrpSpPr>
                    <a:grpSpLocks/>
                  </p:cNvGrpSpPr>
                  <p:nvPr/>
                </p:nvGrpSpPr>
                <p:grpSpPr bwMode="auto">
                  <a:xfrm>
                    <a:off x="985" y="3665"/>
                    <a:ext cx="50" cy="23"/>
                    <a:chOff x="985" y="3665"/>
                    <a:chExt cx="50" cy="23"/>
                  </a:xfrm>
                </p:grpSpPr>
                <p:sp>
                  <p:nvSpPr>
                    <p:cNvPr id="458" name="Freeform 2161"/>
                    <p:cNvSpPr>
                      <a:spLocks/>
                    </p:cNvSpPr>
                    <p:nvPr/>
                  </p:nvSpPr>
                  <p:spPr bwMode="auto">
                    <a:xfrm>
                      <a:off x="985" y="366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60" name="Freeform 2162"/>
                    <p:cNvSpPr>
                      <a:spLocks/>
                    </p:cNvSpPr>
                    <p:nvPr/>
                  </p:nvSpPr>
                  <p:spPr bwMode="auto">
                    <a:xfrm>
                      <a:off x="989" y="3665"/>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62" name="Freeform 2163"/>
                    <p:cNvSpPr>
                      <a:spLocks/>
                    </p:cNvSpPr>
                    <p:nvPr/>
                  </p:nvSpPr>
                  <p:spPr bwMode="auto">
                    <a:xfrm>
                      <a:off x="993"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42" name="Group 2164"/>
                  <p:cNvGrpSpPr>
                    <a:grpSpLocks/>
                  </p:cNvGrpSpPr>
                  <p:nvPr/>
                </p:nvGrpSpPr>
                <p:grpSpPr bwMode="auto">
                  <a:xfrm>
                    <a:off x="997" y="3677"/>
                    <a:ext cx="49" cy="23"/>
                    <a:chOff x="997" y="3677"/>
                    <a:chExt cx="49" cy="23"/>
                  </a:xfrm>
                </p:grpSpPr>
                <p:sp>
                  <p:nvSpPr>
                    <p:cNvPr id="455" name="Freeform 2165"/>
                    <p:cNvSpPr>
                      <a:spLocks/>
                    </p:cNvSpPr>
                    <p:nvPr/>
                  </p:nvSpPr>
                  <p:spPr bwMode="auto">
                    <a:xfrm>
                      <a:off x="997" y="367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1"/>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56" name="Freeform 2166"/>
                    <p:cNvSpPr>
                      <a:spLocks/>
                    </p:cNvSpPr>
                    <p:nvPr/>
                  </p:nvSpPr>
                  <p:spPr bwMode="auto">
                    <a:xfrm>
                      <a:off x="1002" y="367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10"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57" name="Freeform 2167"/>
                    <p:cNvSpPr>
                      <a:spLocks/>
                    </p:cNvSpPr>
                    <p:nvPr/>
                  </p:nvSpPr>
                  <p:spPr bwMode="auto">
                    <a:xfrm>
                      <a:off x="1005" y="3688"/>
                      <a:ext cx="41" cy="12"/>
                    </a:xfrm>
                    <a:custGeom>
                      <a:avLst/>
                      <a:gdLst>
                        <a:gd name="T0" fmla="*/ 0 w 83"/>
                        <a:gd name="T1" fmla="*/ 0 h 37"/>
                        <a:gd name="T2" fmla="*/ 0 w 83"/>
                        <a:gd name="T3" fmla="*/ 0 h 37"/>
                        <a:gd name="T4" fmla="*/ 0 w 83"/>
                        <a:gd name="T5" fmla="*/ 0 h 37"/>
                        <a:gd name="T6" fmla="*/ 0 w 83"/>
                        <a:gd name="T7" fmla="*/ 0 h 37"/>
                        <a:gd name="T8" fmla="*/ 0 w 83"/>
                        <a:gd name="T9" fmla="*/ 0 h 37"/>
                        <a:gd name="T10" fmla="*/ 0 w 83"/>
                        <a:gd name="T11" fmla="*/ 0 h 37"/>
                        <a:gd name="T12" fmla="*/ 0 w 83"/>
                        <a:gd name="T13" fmla="*/ 0 h 37"/>
                        <a:gd name="T14" fmla="*/ 0 60000 65536"/>
                        <a:gd name="T15" fmla="*/ 0 60000 65536"/>
                        <a:gd name="T16" fmla="*/ 0 60000 65536"/>
                        <a:gd name="T17" fmla="*/ 0 60000 65536"/>
                        <a:gd name="T18" fmla="*/ 0 60000 65536"/>
                        <a:gd name="T19" fmla="*/ 0 60000 65536"/>
                        <a:gd name="T20" fmla="*/ 0 60000 65536"/>
                        <a:gd name="T21" fmla="*/ 0 w 83"/>
                        <a:gd name="T22" fmla="*/ 0 h 37"/>
                        <a:gd name="T23" fmla="*/ 83 w 83"/>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7">
                          <a:moveTo>
                            <a:pt x="0" y="37"/>
                          </a:moveTo>
                          <a:lnTo>
                            <a:pt x="4" y="19"/>
                          </a:lnTo>
                          <a:lnTo>
                            <a:pt x="8" y="8"/>
                          </a:lnTo>
                          <a:lnTo>
                            <a:pt x="13" y="0"/>
                          </a:lnTo>
                          <a:lnTo>
                            <a:pt x="68" y="0"/>
                          </a:lnTo>
                          <a:lnTo>
                            <a:pt x="83"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43" name="Group 2168"/>
                  <p:cNvGrpSpPr>
                    <a:grpSpLocks/>
                  </p:cNvGrpSpPr>
                  <p:nvPr/>
                </p:nvGrpSpPr>
                <p:grpSpPr bwMode="auto">
                  <a:xfrm>
                    <a:off x="1010" y="3690"/>
                    <a:ext cx="48" cy="23"/>
                    <a:chOff x="1010" y="3690"/>
                    <a:chExt cx="48" cy="23"/>
                  </a:xfrm>
                </p:grpSpPr>
                <p:sp>
                  <p:nvSpPr>
                    <p:cNvPr id="452" name="Freeform 2169"/>
                    <p:cNvSpPr>
                      <a:spLocks/>
                    </p:cNvSpPr>
                    <p:nvPr/>
                  </p:nvSpPr>
                  <p:spPr bwMode="auto">
                    <a:xfrm>
                      <a:off x="1010" y="3690"/>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53" name="Freeform 2170"/>
                    <p:cNvSpPr>
                      <a:spLocks/>
                    </p:cNvSpPr>
                    <p:nvPr/>
                  </p:nvSpPr>
                  <p:spPr bwMode="auto">
                    <a:xfrm>
                      <a:off x="1014" y="369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3"/>
                          </a:lnTo>
                          <a:lnTo>
                            <a:pt x="56" y="12"/>
                          </a:lnTo>
                          <a:lnTo>
                            <a:pt x="75" y="31"/>
                          </a:lnTo>
                          <a:lnTo>
                            <a:pt x="18" y="31"/>
                          </a:lnTo>
                          <a:lnTo>
                            <a:pt x="9" y="22"/>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54" name="Freeform 2171"/>
                    <p:cNvSpPr>
                      <a:spLocks/>
                    </p:cNvSpPr>
                    <p:nvPr/>
                  </p:nvSpPr>
                  <p:spPr bwMode="auto">
                    <a:xfrm>
                      <a:off x="1018" y="3701"/>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8" y="7"/>
                          </a:lnTo>
                          <a:lnTo>
                            <a:pt x="12" y="0"/>
                          </a:lnTo>
                          <a:lnTo>
                            <a:pt x="69"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44" name="Group 2172"/>
                  <p:cNvGrpSpPr>
                    <a:grpSpLocks/>
                  </p:cNvGrpSpPr>
                  <p:nvPr/>
                </p:nvGrpSpPr>
                <p:grpSpPr bwMode="auto">
                  <a:xfrm>
                    <a:off x="1023" y="3703"/>
                    <a:ext cx="49" cy="22"/>
                    <a:chOff x="1023" y="3703"/>
                    <a:chExt cx="49" cy="22"/>
                  </a:xfrm>
                </p:grpSpPr>
                <p:sp>
                  <p:nvSpPr>
                    <p:cNvPr id="449" name="Freeform 2173"/>
                    <p:cNvSpPr>
                      <a:spLocks/>
                    </p:cNvSpPr>
                    <p:nvPr/>
                  </p:nvSpPr>
                  <p:spPr bwMode="auto">
                    <a:xfrm>
                      <a:off x="1023" y="3703"/>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3" y="68"/>
                          </a:moveTo>
                          <a:lnTo>
                            <a:pt x="0" y="27"/>
                          </a:lnTo>
                          <a:lnTo>
                            <a:pt x="9" y="0"/>
                          </a:lnTo>
                          <a:lnTo>
                            <a:pt x="25"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50" name="Freeform 2174"/>
                    <p:cNvSpPr>
                      <a:spLocks/>
                    </p:cNvSpPr>
                    <p:nvPr/>
                  </p:nvSpPr>
                  <p:spPr bwMode="auto">
                    <a:xfrm>
                      <a:off x="1028" y="3703"/>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51" name="Freeform 2175"/>
                    <p:cNvSpPr>
                      <a:spLocks/>
                    </p:cNvSpPr>
                    <p:nvPr/>
                  </p:nvSpPr>
                  <p:spPr bwMode="auto">
                    <a:xfrm>
                      <a:off x="1030" y="371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3" y="0"/>
                          </a:lnTo>
                          <a:lnTo>
                            <a:pt x="70"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45" name="Group 2176"/>
                  <p:cNvGrpSpPr>
                    <a:grpSpLocks/>
                  </p:cNvGrpSpPr>
                  <p:nvPr/>
                </p:nvGrpSpPr>
                <p:grpSpPr bwMode="auto">
                  <a:xfrm>
                    <a:off x="1036" y="3716"/>
                    <a:ext cx="49" cy="22"/>
                    <a:chOff x="1036" y="3716"/>
                    <a:chExt cx="49" cy="22"/>
                  </a:xfrm>
                </p:grpSpPr>
                <p:sp>
                  <p:nvSpPr>
                    <p:cNvPr id="446" name="Freeform 2177"/>
                    <p:cNvSpPr>
                      <a:spLocks/>
                    </p:cNvSpPr>
                    <p:nvPr/>
                  </p:nvSpPr>
                  <p:spPr bwMode="auto">
                    <a:xfrm>
                      <a:off x="1036" y="3716"/>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47" name="Freeform 2178"/>
                    <p:cNvSpPr>
                      <a:spLocks/>
                    </p:cNvSpPr>
                    <p:nvPr/>
                  </p:nvSpPr>
                  <p:spPr bwMode="auto">
                    <a:xfrm>
                      <a:off x="1040" y="371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3" y="0"/>
                          </a:moveTo>
                          <a:lnTo>
                            <a:pt x="51" y="0"/>
                          </a:lnTo>
                          <a:lnTo>
                            <a:pt x="53" y="2"/>
                          </a:lnTo>
                          <a:lnTo>
                            <a:pt x="57" y="11"/>
                          </a:lnTo>
                          <a:lnTo>
                            <a:pt x="75" y="29"/>
                          </a:lnTo>
                          <a:lnTo>
                            <a:pt x="18"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48" name="Freeform 2179"/>
                    <p:cNvSpPr>
                      <a:spLocks/>
                    </p:cNvSpPr>
                    <p:nvPr/>
                  </p:nvSpPr>
                  <p:spPr bwMode="auto">
                    <a:xfrm>
                      <a:off x="1043" y="3726"/>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6" y="8"/>
                          </a:lnTo>
                          <a:lnTo>
                            <a:pt x="10"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97" name="Group 2180"/>
                <p:cNvGrpSpPr>
                  <a:grpSpLocks/>
                </p:cNvGrpSpPr>
                <p:nvPr/>
              </p:nvGrpSpPr>
              <p:grpSpPr bwMode="auto">
                <a:xfrm>
                  <a:off x="1046" y="3727"/>
                  <a:ext cx="49" cy="23"/>
                  <a:chOff x="1046" y="3727"/>
                  <a:chExt cx="49" cy="23"/>
                </a:xfrm>
              </p:grpSpPr>
              <p:sp>
                <p:nvSpPr>
                  <p:cNvPr id="438" name="Freeform 2181"/>
                  <p:cNvSpPr>
                    <a:spLocks/>
                  </p:cNvSpPr>
                  <p:nvPr/>
                </p:nvSpPr>
                <p:spPr bwMode="auto">
                  <a:xfrm>
                    <a:off x="1046" y="372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2"/>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39" name="Freeform 2182"/>
                  <p:cNvSpPr>
                    <a:spLocks/>
                  </p:cNvSpPr>
                  <p:nvPr/>
                </p:nvSpPr>
                <p:spPr bwMode="auto">
                  <a:xfrm>
                    <a:off x="1051" y="3727"/>
                    <a:ext cx="36" cy="11"/>
                  </a:xfrm>
                  <a:custGeom>
                    <a:avLst/>
                    <a:gdLst>
                      <a:gd name="T0" fmla="*/ 0 w 73"/>
                      <a:gd name="T1" fmla="*/ 0 h 31"/>
                      <a:gd name="T2" fmla="*/ 0 w 73"/>
                      <a:gd name="T3" fmla="*/ 0 h 31"/>
                      <a:gd name="T4" fmla="*/ 0 w 73"/>
                      <a:gd name="T5" fmla="*/ 0 h 31"/>
                      <a:gd name="T6" fmla="*/ 0 w 73"/>
                      <a:gd name="T7" fmla="*/ 0 h 31"/>
                      <a:gd name="T8" fmla="*/ 0 w 73"/>
                      <a:gd name="T9" fmla="*/ 0 h 31"/>
                      <a:gd name="T10" fmla="*/ 0 w 73"/>
                      <a:gd name="T11" fmla="*/ 0 h 31"/>
                      <a:gd name="T12" fmla="*/ 0 w 73"/>
                      <a:gd name="T13" fmla="*/ 0 h 31"/>
                      <a:gd name="T14" fmla="*/ 0 w 73"/>
                      <a:gd name="T15" fmla="*/ 0 h 31"/>
                      <a:gd name="T16" fmla="*/ 0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9" y="0"/>
                        </a:lnTo>
                        <a:lnTo>
                          <a:pt x="50" y="4"/>
                        </a:lnTo>
                        <a:lnTo>
                          <a:pt x="57" y="13"/>
                        </a:lnTo>
                        <a:lnTo>
                          <a:pt x="73" y="31"/>
                        </a:lnTo>
                        <a:lnTo>
                          <a:pt x="17"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40" name="Freeform 2183"/>
                  <p:cNvSpPr>
                    <a:spLocks/>
                  </p:cNvSpPr>
                  <p:nvPr/>
                </p:nvSpPr>
                <p:spPr bwMode="auto">
                  <a:xfrm>
                    <a:off x="1054" y="3738"/>
                    <a:ext cx="41"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6"/>
                        </a:lnTo>
                        <a:lnTo>
                          <a:pt x="10"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8" name="Group 2184"/>
                <p:cNvGrpSpPr>
                  <a:grpSpLocks/>
                </p:cNvGrpSpPr>
                <p:nvPr/>
              </p:nvGrpSpPr>
              <p:grpSpPr bwMode="auto">
                <a:xfrm>
                  <a:off x="1058" y="3739"/>
                  <a:ext cx="50" cy="23"/>
                  <a:chOff x="1058" y="3739"/>
                  <a:chExt cx="50" cy="23"/>
                </a:xfrm>
              </p:grpSpPr>
              <p:sp>
                <p:nvSpPr>
                  <p:cNvPr id="435" name="Freeform 2185"/>
                  <p:cNvSpPr>
                    <a:spLocks/>
                  </p:cNvSpPr>
                  <p:nvPr/>
                </p:nvSpPr>
                <p:spPr bwMode="auto">
                  <a:xfrm>
                    <a:off x="1058" y="3739"/>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36" name="Freeform 2186"/>
                  <p:cNvSpPr>
                    <a:spLocks/>
                  </p:cNvSpPr>
                  <p:nvPr/>
                </p:nvSpPr>
                <p:spPr bwMode="auto">
                  <a:xfrm>
                    <a:off x="1063" y="3740"/>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0" y="0"/>
                        </a:lnTo>
                        <a:lnTo>
                          <a:pt x="51" y="3"/>
                        </a:lnTo>
                        <a:lnTo>
                          <a:pt x="58" y="12"/>
                        </a:lnTo>
                        <a:lnTo>
                          <a:pt x="75" y="30"/>
                        </a:lnTo>
                        <a:lnTo>
                          <a:pt x="18" y="30"/>
                        </a:lnTo>
                        <a:lnTo>
                          <a:pt x="11" y="21"/>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37" name="Freeform 2187"/>
                  <p:cNvSpPr>
                    <a:spLocks/>
                  </p:cNvSpPr>
                  <p:nvPr/>
                </p:nvSpPr>
                <p:spPr bwMode="auto">
                  <a:xfrm>
                    <a:off x="1067" y="3750"/>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9" name="Group 2188"/>
                <p:cNvGrpSpPr>
                  <a:grpSpLocks/>
                </p:cNvGrpSpPr>
                <p:nvPr/>
              </p:nvGrpSpPr>
              <p:grpSpPr bwMode="auto">
                <a:xfrm>
                  <a:off x="1072" y="3753"/>
                  <a:ext cx="48" cy="22"/>
                  <a:chOff x="1072" y="3753"/>
                  <a:chExt cx="48" cy="22"/>
                </a:xfrm>
              </p:grpSpPr>
              <p:sp>
                <p:nvSpPr>
                  <p:cNvPr id="432" name="Freeform 2189"/>
                  <p:cNvSpPr>
                    <a:spLocks/>
                  </p:cNvSpPr>
                  <p:nvPr/>
                </p:nvSpPr>
                <p:spPr bwMode="auto">
                  <a:xfrm>
                    <a:off x="1072" y="3753"/>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9"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33" name="Freeform 2190"/>
                  <p:cNvSpPr>
                    <a:spLocks/>
                  </p:cNvSpPr>
                  <p:nvPr/>
                </p:nvSpPr>
                <p:spPr bwMode="auto">
                  <a:xfrm>
                    <a:off x="1076" y="3753"/>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0" y="0"/>
                        </a:lnTo>
                        <a:lnTo>
                          <a:pt x="52" y="4"/>
                        </a:lnTo>
                        <a:lnTo>
                          <a:pt x="57" y="13"/>
                        </a:lnTo>
                        <a:lnTo>
                          <a:pt x="74" y="31"/>
                        </a:lnTo>
                        <a:lnTo>
                          <a:pt x="19" y="31"/>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34" name="Freeform 2191"/>
                  <p:cNvSpPr>
                    <a:spLocks/>
                  </p:cNvSpPr>
                  <p:nvPr/>
                </p:nvSpPr>
                <p:spPr bwMode="auto">
                  <a:xfrm>
                    <a:off x="1079" y="376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3" y="20"/>
                        </a:lnTo>
                        <a:lnTo>
                          <a:pt x="6"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00" name="Freeform 2192"/>
                <p:cNvSpPr>
                  <a:spLocks/>
                </p:cNvSpPr>
                <p:nvPr/>
              </p:nvSpPr>
              <p:spPr bwMode="auto">
                <a:xfrm>
                  <a:off x="820" y="3535"/>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1"/>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1" name="Freeform 2193"/>
                <p:cNvSpPr>
                  <a:spLocks/>
                </p:cNvSpPr>
                <p:nvPr/>
              </p:nvSpPr>
              <p:spPr bwMode="auto">
                <a:xfrm>
                  <a:off x="825" y="3535"/>
                  <a:ext cx="36" cy="9"/>
                </a:xfrm>
                <a:custGeom>
                  <a:avLst/>
                  <a:gdLst>
                    <a:gd name="T0" fmla="*/ 0 w 71"/>
                    <a:gd name="T1" fmla="*/ 0 h 27"/>
                    <a:gd name="T2" fmla="*/ 1 w 71"/>
                    <a:gd name="T3" fmla="*/ 0 h 27"/>
                    <a:gd name="T4" fmla="*/ 1 w 71"/>
                    <a:gd name="T5" fmla="*/ 0 h 27"/>
                    <a:gd name="T6" fmla="*/ 1 w 71"/>
                    <a:gd name="T7" fmla="*/ 0 h 27"/>
                    <a:gd name="T8" fmla="*/ 1 w 71"/>
                    <a:gd name="T9" fmla="*/ 0 h 27"/>
                    <a:gd name="T10" fmla="*/ 1 w 71"/>
                    <a:gd name="T11" fmla="*/ 0 h 27"/>
                    <a:gd name="T12" fmla="*/ 1 w 71"/>
                    <a:gd name="T13" fmla="*/ 0 h 27"/>
                    <a:gd name="T14" fmla="*/ 0 w 71"/>
                    <a:gd name="T15" fmla="*/ 0 h 27"/>
                    <a:gd name="T16" fmla="*/ 0 w 71"/>
                    <a:gd name="T17" fmla="*/ 0 h 2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1"/>
                    <a:gd name="T28" fmla="*/ 0 h 27"/>
                    <a:gd name="T29" fmla="*/ 71 w 71"/>
                    <a:gd name="T30" fmla="*/ 27 h 2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1" h="27">
                      <a:moveTo>
                        <a:pt x="0" y="0"/>
                      </a:moveTo>
                      <a:lnTo>
                        <a:pt x="49" y="0"/>
                      </a:lnTo>
                      <a:lnTo>
                        <a:pt x="51" y="2"/>
                      </a:lnTo>
                      <a:lnTo>
                        <a:pt x="55" y="12"/>
                      </a:lnTo>
                      <a:lnTo>
                        <a:pt x="71" y="27"/>
                      </a:lnTo>
                      <a:lnTo>
                        <a:pt x="17" y="27"/>
                      </a:lnTo>
                      <a:lnTo>
                        <a:pt x="8" y="20"/>
                      </a:lnTo>
                      <a:lnTo>
                        <a:pt x="0" y="6"/>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2" name="Freeform 2194"/>
                <p:cNvSpPr>
                  <a:spLocks/>
                </p:cNvSpPr>
                <p:nvPr/>
              </p:nvSpPr>
              <p:spPr bwMode="auto">
                <a:xfrm>
                  <a:off x="828" y="354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8"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03" name="Group 2195"/>
                <p:cNvGrpSpPr>
                  <a:grpSpLocks/>
                </p:cNvGrpSpPr>
                <p:nvPr/>
              </p:nvGrpSpPr>
              <p:grpSpPr bwMode="auto">
                <a:xfrm>
                  <a:off x="832" y="3547"/>
                  <a:ext cx="49" cy="23"/>
                  <a:chOff x="832" y="3547"/>
                  <a:chExt cx="49" cy="23"/>
                </a:xfrm>
              </p:grpSpPr>
              <p:sp>
                <p:nvSpPr>
                  <p:cNvPr id="429" name="Freeform 2196"/>
                  <p:cNvSpPr>
                    <a:spLocks/>
                  </p:cNvSpPr>
                  <p:nvPr/>
                </p:nvSpPr>
                <p:spPr bwMode="auto">
                  <a:xfrm>
                    <a:off x="832" y="354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30" name="Freeform 2197"/>
                  <p:cNvSpPr>
                    <a:spLocks/>
                  </p:cNvSpPr>
                  <p:nvPr/>
                </p:nvSpPr>
                <p:spPr bwMode="auto">
                  <a:xfrm>
                    <a:off x="837" y="3548"/>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31" name="Freeform 2198"/>
                  <p:cNvSpPr>
                    <a:spLocks/>
                  </p:cNvSpPr>
                  <p:nvPr/>
                </p:nvSpPr>
                <p:spPr bwMode="auto">
                  <a:xfrm>
                    <a:off x="840" y="355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4" name="Group 2199"/>
                <p:cNvGrpSpPr>
                  <a:grpSpLocks/>
                </p:cNvGrpSpPr>
                <p:nvPr/>
              </p:nvGrpSpPr>
              <p:grpSpPr bwMode="auto">
                <a:xfrm>
                  <a:off x="844" y="3560"/>
                  <a:ext cx="49" cy="22"/>
                  <a:chOff x="844" y="3560"/>
                  <a:chExt cx="49" cy="22"/>
                </a:xfrm>
              </p:grpSpPr>
              <p:sp>
                <p:nvSpPr>
                  <p:cNvPr id="426" name="Freeform 2200"/>
                  <p:cNvSpPr>
                    <a:spLocks/>
                  </p:cNvSpPr>
                  <p:nvPr/>
                </p:nvSpPr>
                <p:spPr bwMode="auto">
                  <a:xfrm>
                    <a:off x="844" y="3560"/>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27" name="Freeform 2201"/>
                  <p:cNvSpPr>
                    <a:spLocks/>
                  </p:cNvSpPr>
                  <p:nvPr/>
                </p:nvSpPr>
                <p:spPr bwMode="auto">
                  <a:xfrm>
                    <a:off x="849" y="3560"/>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28" name="Freeform 2202"/>
                  <p:cNvSpPr>
                    <a:spLocks/>
                  </p:cNvSpPr>
                  <p:nvPr/>
                </p:nvSpPr>
                <p:spPr bwMode="auto">
                  <a:xfrm>
                    <a:off x="853" y="3571"/>
                    <a:ext cx="40" cy="11"/>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6"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5" name="Group 2203"/>
                <p:cNvGrpSpPr>
                  <a:grpSpLocks/>
                </p:cNvGrpSpPr>
                <p:nvPr/>
              </p:nvGrpSpPr>
              <p:grpSpPr bwMode="auto">
                <a:xfrm>
                  <a:off x="857" y="3572"/>
                  <a:ext cx="50" cy="23"/>
                  <a:chOff x="857" y="3572"/>
                  <a:chExt cx="50" cy="23"/>
                </a:xfrm>
              </p:grpSpPr>
              <p:sp>
                <p:nvSpPr>
                  <p:cNvPr id="423" name="Freeform 2204"/>
                  <p:cNvSpPr>
                    <a:spLocks/>
                  </p:cNvSpPr>
                  <p:nvPr/>
                </p:nvSpPr>
                <p:spPr bwMode="auto">
                  <a:xfrm>
                    <a:off x="857" y="3572"/>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5"/>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24" name="Freeform 2205"/>
                  <p:cNvSpPr>
                    <a:spLocks/>
                  </p:cNvSpPr>
                  <p:nvPr/>
                </p:nvSpPr>
                <p:spPr bwMode="auto">
                  <a:xfrm>
                    <a:off x="862" y="3573"/>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25" name="Freeform 2206"/>
                  <p:cNvSpPr>
                    <a:spLocks/>
                  </p:cNvSpPr>
                  <p:nvPr/>
                </p:nvSpPr>
                <p:spPr bwMode="auto">
                  <a:xfrm>
                    <a:off x="865" y="358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 name="Group 2207"/>
                <p:cNvGrpSpPr>
                  <a:grpSpLocks/>
                </p:cNvGrpSpPr>
                <p:nvPr/>
              </p:nvGrpSpPr>
              <p:grpSpPr bwMode="auto">
                <a:xfrm>
                  <a:off x="870" y="3585"/>
                  <a:ext cx="48" cy="23"/>
                  <a:chOff x="870" y="3585"/>
                  <a:chExt cx="48" cy="23"/>
                </a:xfrm>
              </p:grpSpPr>
              <p:sp>
                <p:nvSpPr>
                  <p:cNvPr id="420" name="Freeform 2208"/>
                  <p:cNvSpPr>
                    <a:spLocks/>
                  </p:cNvSpPr>
                  <p:nvPr/>
                </p:nvSpPr>
                <p:spPr bwMode="auto">
                  <a:xfrm>
                    <a:off x="870" y="358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6"/>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21" name="Freeform 2209"/>
                  <p:cNvSpPr>
                    <a:spLocks/>
                  </p:cNvSpPr>
                  <p:nvPr/>
                </p:nvSpPr>
                <p:spPr bwMode="auto">
                  <a:xfrm>
                    <a:off x="874" y="3586"/>
                    <a:ext cx="38" cy="10"/>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22" name="Freeform 2210"/>
                  <p:cNvSpPr>
                    <a:spLocks/>
                  </p:cNvSpPr>
                  <p:nvPr/>
                </p:nvSpPr>
                <p:spPr bwMode="auto">
                  <a:xfrm>
                    <a:off x="878"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6"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 name="Group 2211"/>
                <p:cNvGrpSpPr>
                  <a:grpSpLocks/>
                </p:cNvGrpSpPr>
                <p:nvPr/>
              </p:nvGrpSpPr>
              <p:grpSpPr bwMode="auto">
                <a:xfrm>
                  <a:off x="882" y="3600"/>
                  <a:ext cx="100" cy="73"/>
                  <a:chOff x="882" y="3600"/>
                  <a:chExt cx="100" cy="73"/>
                </a:xfrm>
              </p:grpSpPr>
              <p:grpSp>
                <p:nvGrpSpPr>
                  <p:cNvPr id="400" name="Group 2212"/>
                  <p:cNvGrpSpPr>
                    <a:grpSpLocks/>
                  </p:cNvGrpSpPr>
                  <p:nvPr/>
                </p:nvGrpSpPr>
                <p:grpSpPr bwMode="auto">
                  <a:xfrm>
                    <a:off x="882" y="3600"/>
                    <a:ext cx="49" cy="23"/>
                    <a:chOff x="882" y="3600"/>
                    <a:chExt cx="49" cy="23"/>
                  </a:xfrm>
                </p:grpSpPr>
                <p:sp>
                  <p:nvSpPr>
                    <p:cNvPr id="417" name="Freeform 2213"/>
                    <p:cNvSpPr>
                      <a:spLocks/>
                    </p:cNvSpPr>
                    <p:nvPr/>
                  </p:nvSpPr>
                  <p:spPr bwMode="auto">
                    <a:xfrm>
                      <a:off x="882" y="3600"/>
                      <a:ext cx="12" cy="23"/>
                    </a:xfrm>
                    <a:custGeom>
                      <a:avLst/>
                      <a:gdLst>
                        <a:gd name="T0" fmla="*/ 1 w 23"/>
                        <a:gd name="T1" fmla="*/ 0 h 70"/>
                        <a:gd name="T2" fmla="*/ 0 w 23"/>
                        <a:gd name="T3" fmla="*/ 0 h 70"/>
                        <a:gd name="T4" fmla="*/ 1 w 23"/>
                        <a:gd name="T5" fmla="*/ 0 h 70"/>
                        <a:gd name="T6" fmla="*/ 1 w 23"/>
                        <a:gd name="T7" fmla="*/ 0 h 70"/>
                        <a:gd name="T8" fmla="*/ 1 w 23"/>
                        <a:gd name="T9" fmla="*/ 0 h 70"/>
                        <a:gd name="T10" fmla="*/ 0 60000 65536"/>
                        <a:gd name="T11" fmla="*/ 0 60000 65536"/>
                        <a:gd name="T12" fmla="*/ 0 60000 65536"/>
                        <a:gd name="T13" fmla="*/ 0 60000 65536"/>
                        <a:gd name="T14" fmla="*/ 0 60000 65536"/>
                        <a:gd name="T15" fmla="*/ 0 w 23"/>
                        <a:gd name="T16" fmla="*/ 0 h 70"/>
                        <a:gd name="T17" fmla="*/ 23 w 23"/>
                        <a:gd name="T18" fmla="*/ 70 h 70"/>
                      </a:gdLst>
                      <a:ahLst/>
                      <a:cxnLst>
                        <a:cxn ang="T10">
                          <a:pos x="T0" y="T1"/>
                        </a:cxn>
                        <a:cxn ang="T11">
                          <a:pos x="T2" y="T3"/>
                        </a:cxn>
                        <a:cxn ang="T12">
                          <a:pos x="T4" y="T5"/>
                        </a:cxn>
                        <a:cxn ang="T13">
                          <a:pos x="T6" y="T7"/>
                        </a:cxn>
                        <a:cxn ang="T14">
                          <a:pos x="T8" y="T9"/>
                        </a:cxn>
                      </a:cxnLst>
                      <a:rect l="T15" t="T16" r="T17" b="T18"/>
                      <a:pathLst>
                        <a:path w="23" h="70">
                          <a:moveTo>
                            <a:pt x="13" y="70"/>
                          </a:moveTo>
                          <a:lnTo>
                            <a:pt x="0" y="27"/>
                          </a:lnTo>
                          <a:lnTo>
                            <a:pt x="9" y="0"/>
                          </a:lnTo>
                          <a:lnTo>
                            <a:pt x="23"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18" name="Freeform 2214"/>
                    <p:cNvSpPr>
                      <a:spLocks/>
                    </p:cNvSpPr>
                    <p:nvPr/>
                  </p:nvSpPr>
                  <p:spPr bwMode="auto">
                    <a:xfrm>
                      <a:off x="887" y="3600"/>
                      <a:ext cx="37" cy="11"/>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50" y="0"/>
                          </a:lnTo>
                          <a:lnTo>
                            <a:pt x="51"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19" name="Freeform 2215"/>
                    <p:cNvSpPr>
                      <a:spLocks/>
                    </p:cNvSpPr>
                    <p:nvPr/>
                  </p:nvSpPr>
                  <p:spPr bwMode="auto">
                    <a:xfrm>
                      <a:off x="890" y="3611"/>
                      <a:ext cx="41" cy="12"/>
                    </a:xfrm>
                    <a:custGeom>
                      <a:avLst/>
                      <a:gdLst>
                        <a:gd name="T0" fmla="*/ 0 w 83"/>
                        <a:gd name="T1" fmla="*/ 0 h 38"/>
                        <a:gd name="T2" fmla="*/ 0 w 83"/>
                        <a:gd name="T3" fmla="*/ 0 h 38"/>
                        <a:gd name="T4" fmla="*/ 0 w 83"/>
                        <a:gd name="T5" fmla="*/ 0 h 38"/>
                        <a:gd name="T6" fmla="*/ 0 w 83"/>
                        <a:gd name="T7" fmla="*/ 0 h 38"/>
                        <a:gd name="T8" fmla="*/ 0 w 83"/>
                        <a:gd name="T9" fmla="*/ 0 h 38"/>
                        <a:gd name="T10" fmla="*/ 0 w 83"/>
                        <a:gd name="T11" fmla="*/ 0 h 38"/>
                        <a:gd name="T12" fmla="*/ 0 w 83"/>
                        <a:gd name="T13" fmla="*/ 0 h 38"/>
                        <a:gd name="T14" fmla="*/ 0 60000 65536"/>
                        <a:gd name="T15" fmla="*/ 0 60000 65536"/>
                        <a:gd name="T16" fmla="*/ 0 60000 65536"/>
                        <a:gd name="T17" fmla="*/ 0 60000 65536"/>
                        <a:gd name="T18" fmla="*/ 0 60000 65536"/>
                        <a:gd name="T19" fmla="*/ 0 60000 65536"/>
                        <a:gd name="T20" fmla="*/ 0 60000 65536"/>
                        <a:gd name="T21" fmla="*/ 0 w 83"/>
                        <a:gd name="T22" fmla="*/ 0 h 38"/>
                        <a:gd name="T23" fmla="*/ 83 w 83"/>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8">
                          <a:moveTo>
                            <a:pt x="0" y="38"/>
                          </a:moveTo>
                          <a:lnTo>
                            <a:pt x="1" y="22"/>
                          </a:lnTo>
                          <a:lnTo>
                            <a:pt x="8" y="8"/>
                          </a:lnTo>
                          <a:lnTo>
                            <a:pt x="12" y="0"/>
                          </a:lnTo>
                          <a:lnTo>
                            <a:pt x="68" y="0"/>
                          </a:lnTo>
                          <a:lnTo>
                            <a:pt x="83"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01" name="Group 2216"/>
                  <p:cNvGrpSpPr>
                    <a:grpSpLocks/>
                  </p:cNvGrpSpPr>
                  <p:nvPr/>
                </p:nvGrpSpPr>
                <p:grpSpPr bwMode="auto">
                  <a:xfrm>
                    <a:off x="894" y="3612"/>
                    <a:ext cx="49" cy="23"/>
                    <a:chOff x="894" y="3612"/>
                    <a:chExt cx="49" cy="23"/>
                  </a:xfrm>
                </p:grpSpPr>
                <p:sp>
                  <p:nvSpPr>
                    <p:cNvPr id="414" name="Freeform 2217"/>
                    <p:cNvSpPr>
                      <a:spLocks/>
                    </p:cNvSpPr>
                    <p:nvPr/>
                  </p:nvSpPr>
                  <p:spPr bwMode="auto">
                    <a:xfrm>
                      <a:off x="894" y="3612"/>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9"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15" name="Freeform 2218"/>
                    <p:cNvSpPr>
                      <a:spLocks/>
                    </p:cNvSpPr>
                    <p:nvPr/>
                  </p:nvSpPr>
                  <p:spPr bwMode="auto">
                    <a:xfrm>
                      <a:off x="899" y="3613"/>
                      <a:ext cx="37" cy="10"/>
                    </a:xfrm>
                    <a:custGeom>
                      <a:avLst/>
                      <a:gdLst>
                        <a:gd name="T0" fmla="*/ 0 w 75"/>
                        <a:gd name="T1" fmla="*/ 0 h 32"/>
                        <a:gd name="T2" fmla="*/ 0 w 75"/>
                        <a:gd name="T3" fmla="*/ 0 h 32"/>
                        <a:gd name="T4" fmla="*/ 0 w 75"/>
                        <a:gd name="T5" fmla="*/ 0 h 32"/>
                        <a:gd name="T6" fmla="*/ 0 w 75"/>
                        <a:gd name="T7" fmla="*/ 0 h 32"/>
                        <a:gd name="T8" fmla="*/ 0 w 75"/>
                        <a:gd name="T9" fmla="*/ 0 h 32"/>
                        <a:gd name="T10" fmla="*/ 0 w 75"/>
                        <a:gd name="T11" fmla="*/ 0 h 32"/>
                        <a:gd name="T12" fmla="*/ 0 w 75"/>
                        <a:gd name="T13" fmla="*/ 0 h 32"/>
                        <a:gd name="T14" fmla="*/ 0 w 75"/>
                        <a:gd name="T15" fmla="*/ 0 h 32"/>
                        <a:gd name="T16" fmla="*/ 0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2" y="0"/>
                          </a:moveTo>
                          <a:lnTo>
                            <a:pt x="50" y="0"/>
                          </a:lnTo>
                          <a:lnTo>
                            <a:pt x="52" y="3"/>
                          </a:lnTo>
                          <a:lnTo>
                            <a:pt x="57" y="15"/>
                          </a:lnTo>
                          <a:lnTo>
                            <a:pt x="75" y="32"/>
                          </a:lnTo>
                          <a:lnTo>
                            <a:pt x="19" y="32"/>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16" name="Freeform 2219"/>
                    <p:cNvSpPr>
                      <a:spLocks/>
                    </p:cNvSpPr>
                    <p:nvPr/>
                  </p:nvSpPr>
                  <p:spPr bwMode="auto">
                    <a:xfrm>
                      <a:off x="902" y="362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1"/>
                          </a:lnTo>
                          <a:lnTo>
                            <a:pt x="5" y="8"/>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02" name="Group 2220"/>
                  <p:cNvGrpSpPr>
                    <a:grpSpLocks/>
                  </p:cNvGrpSpPr>
                  <p:nvPr/>
                </p:nvGrpSpPr>
                <p:grpSpPr bwMode="auto">
                  <a:xfrm>
                    <a:off x="907" y="3625"/>
                    <a:ext cx="49" cy="23"/>
                    <a:chOff x="907" y="3625"/>
                    <a:chExt cx="49" cy="23"/>
                  </a:xfrm>
                </p:grpSpPr>
                <p:sp>
                  <p:nvSpPr>
                    <p:cNvPr id="411" name="Freeform 2221"/>
                    <p:cNvSpPr>
                      <a:spLocks/>
                    </p:cNvSpPr>
                    <p:nvPr/>
                  </p:nvSpPr>
                  <p:spPr bwMode="auto">
                    <a:xfrm>
                      <a:off x="907" y="3625"/>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12" name="Freeform 2222"/>
                    <p:cNvSpPr>
                      <a:spLocks/>
                    </p:cNvSpPr>
                    <p:nvPr/>
                  </p:nvSpPr>
                  <p:spPr bwMode="auto">
                    <a:xfrm>
                      <a:off x="912" y="3626"/>
                      <a:ext cx="36" cy="9"/>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13" name="Freeform 2223"/>
                    <p:cNvSpPr>
                      <a:spLocks/>
                    </p:cNvSpPr>
                    <p:nvPr/>
                  </p:nvSpPr>
                  <p:spPr bwMode="auto">
                    <a:xfrm>
                      <a:off x="914" y="363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03" name="Group 2224"/>
                  <p:cNvGrpSpPr>
                    <a:grpSpLocks/>
                  </p:cNvGrpSpPr>
                  <p:nvPr/>
                </p:nvGrpSpPr>
                <p:grpSpPr bwMode="auto">
                  <a:xfrm>
                    <a:off x="919" y="3638"/>
                    <a:ext cx="49" cy="22"/>
                    <a:chOff x="919" y="3638"/>
                    <a:chExt cx="49" cy="22"/>
                  </a:xfrm>
                </p:grpSpPr>
                <p:sp>
                  <p:nvSpPr>
                    <p:cNvPr id="408" name="Freeform 2225"/>
                    <p:cNvSpPr>
                      <a:spLocks/>
                    </p:cNvSpPr>
                    <p:nvPr/>
                  </p:nvSpPr>
                  <p:spPr bwMode="auto">
                    <a:xfrm>
                      <a:off x="919" y="3638"/>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09" name="Freeform 2226"/>
                    <p:cNvSpPr>
                      <a:spLocks/>
                    </p:cNvSpPr>
                    <p:nvPr/>
                  </p:nvSpPr>
                  <p:spPr bwMode="auto">
                    <a:xfrm>
                      <a:off x="924" y="363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48" y="0"/>
                          </a:lnTo>
                          <a:lnTo>
                            <a:pt x="52" y="3"/>
                          </a:lnTo>
                          <a:lnTo>
                            <a:pt x="56" y="12"/>
                          </a:lnTo>
                          <a:lnTo>
                            <a:pt x="73"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10" name="Freeform 2227"/>
                    <p:cNvSpPr>
                      <a:spLocks/>
                    </p:cNvSpPr>
                    <p:nvPr/>
                  </p:nvSpPr>
                  <p:spPr bwMode="auto">
                    <a:xfrm>
                      <a:off x="928" y="364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04" name="Group 2228"/>
                  <p:cNvGrpSpPr>
                    <a:grpSpLocks/>
                  </p:cNvGrpSpPr>
                  <p:nvPr/>
                </p:nvGrpSpPr>
                <p:grpSpPr bwMode="auto">
                  <a:xfrm>
                    <a:off x="932" y="3651"/>
                    <a:ext cx="50" cy="22"/>
                    <a:chOff x="932" y="3651"/>
                    <a:chExt cx="50" cy="22"/>
                  </a:xfrm>
                </p:grpSpPr>
                <p:sp>
                  <p:nvSpPr>
                    <p:cNvPr id="405" name="Freeform 2229"/>
                    <p:cNvSpPr>
                      <a:spLocks/>
                    </p:cNvSpPr>
                    <p:nvPr/>
                  </p:nvSpPr>
                  <p:spPr bwMode="auto">
                    <a:xfrm>
                      <a:off x="932" y="36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11" y="0"/>
                          </a:lnTo>
                          <a:lnTo>
                            <a:pt x="24"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06" name="Freeform 2230"/>
                    <p:cNvSpPr>
                      <a:spLocks/>
                    </p:cNvSpPr>
                    <p:nvPr/>
                  </p:nvSpPr>
                  <p:spPr bwMode="auto">
                    <a:xfrm>
                      <a:off x="937" y="3651"/>
                      <a:ext cx="37"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07" name="Freeform 2231"/>
                    <p:cNvSpPr>
                      <a:spLocks/>
                    </p:cNvSpPr>
                    <p:nvPr/>
                  </p:nvSpPr>
                  <p:spPr bwMode="auto">
                    <a:xfrm>
                      <a:off x="940" y="3662"/>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8" name="Group 2232"/>
                <p:cNvGrpSpPr>
                  <a:grpSpLocks/>
                </p:cNvGrpSpPr>
                <p:nvPr/>
              </p:nvGrpSpPr>
              <p:grpSpPr bwMode="auto">
                <a:xfrm>
                  <a:off x="944" y="3665"/>
                  <a:ext cx="99" cy="74"/>
                  <a:chOff x="944" y="3665"/>
                  <a:chExt cx="99" cy="74"/>
                </a:xfrm>
              </p:grpSpPr>
              <p:grpSp>
                <p:nvGrpSpPr>
                  <p:cNvPr id="380" name="Group 2233"/>
                  <p:cNvGrpSpPr>
                    <a:grpSpLocks/>
                  </p:cNvGrpSpPr>
                  <p:nvPr/>
                </p:nvGrpSpPr>
                <p:grpSpPr bwMode="auto">
                  <a:xfrm>
                    <a:off x="944" y="3665"/>
                    <a:ext cx="49" cy="23"/>
                    <a:chOff x="944" y="3665"/>
                    <a:chExt cx="49" cy="23"/>
                  </a:xfrm>
                </p:grpSpPr>
                <p:sp>
                  <p:nvSpPr>
                    <p:cNvPr id="397" name="Freeform 2234"/>
                    <p:cNvSpPr>
                      <a:spLocks/>
                    </p:cNvSpPr>
                    <p:nvPr/>
                  </p:nvSpPr>
                  <p:spPr bwMode="auto">
                    <a:xfrm>
                      <a:off x="944" y="3665"/>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98" name="Freeform 2235"/>
                    <p:cNvSpPr>
                      <a:spLocks/>
                    </p:cNvSpPr>
                    <p:nvPr/>
                  </p:nvSpPr>
                  <p:spPr bwMode="auto">
                    <a:xfrm>
                      <a:off x="949" y="3666"/>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4"/>
                          </a:lnTo>
                          <a:lnTo>
                            <a:pt x="57" y="13"/>
                          </a:lnTo>
                          <a:lnTo>
                            <a:pt x="75" y="31"/>
                          </a:lnTo>
                          <a:lnTo>
                            <a:pt x="19" y="31"/>
                          </a:lnTo>
                          <a:lnTo>
                            <a:pt x="11"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99" name="Freeform 2236"/>
                    <p:cNvSpPr>
                      <a:spLocks/>
                    </p:cNvSpPr>
                    <p:nvPr/>
                  </p:nvSpPr>
                  <p:spPr bwMode="auto">
                    <a:xfrm>
                      <a:off x="953" y="367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81" name="Group 2237"/>
                  <p:cNvGrpSpPr>
                    <a:grpSpLocks/>
                  </p:cNvGrpSpPr>
                  <p:nvPr/>
                </p:nvGrpSpPr>
                <p:grpSpPr bwMode="auto">
                  <a:xfrm>
                    <a:off x="957" y="3678"/>
                    <a:ext cx="48" cy="23"/>
                    <a:chOff x="957" y="3678"/>
                    <a:chExt cx="48" cy="23"/>
                  </a:xfrm>
                </p:grpSpPr>
                <p:sp>
                  <p:nvSpPr>
                    <p:cNvPr id="394" name="Freeform 2238"/>
                    <p:cNvSpPr>
                      <a:spLocks/>
                    </p:cNvSpPr>
                    <p:nvPr/>
                  </p:nvSpPr>
                  <p:spPr bwMode="auto">
                    <a:xfrm>
                      <a:off x="957" y="3678"/>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3" y="70"/>
                          </a:moveTo>
                          <a:lnTo>
                            <a:pt x="0" y="27"/>
                          </a:lnTo>
                          <a:lnTo>
                            <a:pt x="9" y="0"/>
                          </a:lnTo>
                          <a:lnTo>
                            <a:pt x="24"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95" name="Freeform 2239"/>
                    <p:cNvSpPr>
                      <a:spLocks/>
                    </p:cNvSpPr>
                    <p:nvPr/>
                  </p:nvSpPr>
                  <p:spPr bwMode="auto">
                    <a:xfrm>
                      <a:off x="961" y="3678"/>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3"/>
                          </a:lnTo>
                          <a:lnTo>
                            <a:pt x="56" y="12"/>
                          </a:lnTo>
                          <a:lnTo>
                            <a:pt x="74"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96" name="Freeform 2240"/>
                    <p:cNvSpPr>
                      <a:spLocks/>
                    </p:cNvSpPr>
                    <p:nvPr/>
                  </p:nvSpPr>
                  <p:spPr bwMode="auto">
                    <a:xfrm>
                      <a:off x="964" y="3688"/>
                      <a:ext cx="41"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1"/>
                          </a:lnTo>
                          <a:lnTo>
                            <a:pt x="7" y="8"/>
                          </a:lnTo>
                          <a:lnTo>
                            <a:pt x="11" y="0"/>
                          </a:lnTo>
                          <a:lnTo>
                            <a:pt x="68"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82" name="Group 2241"/>
                  <p:cNvGrpSpPr>
                    <a:grpSpLocks/>
                  </p:cNvGrpSpPr>
                  <p:nvPr/>
                </p:nvGrpSpPr>
                <p:grpSpPr bwMode="auto">
                  <a:xfrm>
                    <a:off x="969" y="3690"/>
                    <a:ext cx="49" cy="23"/>
                    <a:chOff x="969" y="3690"/>
                    <a:chExt cx="49" cy="23"/>
                  </a:xfrm>
                </p:grpSpPr>
                <p:sp>
                  <p:nvSpPr>
                    <p:cNvPr id="391" name="Freeform 2242"/>
                    <p:cNvSpPr>
                      <a:spLocks/>
                    </p:cNvSpPr>
                    <p:nvPr/>
                  </p:nvSpPr>
                  <p:spPr bwMode="auto">
                    <a:xfrm>
                      <a:off x="969" y="369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9"/>
                          </a:lnTo>
                          <a:lnTo>
                            <a:pt x="9" y="0"/>
                          </a:lnTo>
                          <a:lnTo>
                            <a:pt x="25" y="33"/>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92" name="Freeform 2243"/>
                    <p:cNvSpPr>
                      <a:spLocks/>
                    </p:cNvSpPr>
                    <p:nvPr/>
                  </p:nvSpPr>
                  <p:spPr bwMode="auto">
                    <a:xfrm>
                      <a:off x="974" y="3691"/>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9"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93" name="Freeform 2244"/>
                    <p:cNvSpPr>
                      <a:spLocks/>
                    </p:cNvSpPr>
                    <p:nvPr/>
                  </p:nvSpPr>
                  <p:spPr bwMode="auto">
                    <a:xfrm>
                      <a:off x="977" y="370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6" y="7"/>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83" name="Group 2245"/>
                  <p:cNvGrpSpPr>
                    <a:grpSpLocks/>
                  </p:cNvGrpSpPr>
                  <p:nvPr/>
                </p:nvGrpSpPr>
                <p:grpSpPr bwMode="auto">
                  <a:xfrm>
                    <a:off x="982" y="3703"/>
                    <a:ext cx="49" cy="23"/>
                    <a:chOff x="982" y="3703"/>
                    <a:chExt cx="49" cy="23"/>
                  </a:xfrm>
                </p:grpSpPr>
                <p:sp>
                  <p:nvSpPr>
                    <p:cNvPr id="388" name="Freeform 2246"/>
                    <p:cNvSpPr>
                      <a:spLocks/>
                    </p:cNvSpPr>
                    <p:nvPr/>
                  </p:nvSpPr>
                  <p:spPr bwMode="auto">
                    <a:xfrm>
                      <a:off x="982"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89" name="Freeform 2247"/>
                    <p:cNvSpPr>
                      <a:spLocks/>
                    </p:cNvSpPr>
                    <p:nvPr/>
                  </p:nvSpPr>
                  <p:spPr bwMode="auto">
                    <a:xfrm>
                      <a:off x="987" y="3703"/>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90" name="Freeform 2248"/>
                    <p:cNvSpPr>
                      <a:spLocks/>
                    </p:cNvSpPr>
                    <p:nvPr/>
                  </p:nvSpPr>
                  <p:spPr bwMode="auto">
                    <a:xfrm>
                      <a:off x="989" y="3714"/>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84" name="Group 2249"/>
                  <p:cNvGrpSpPr>
                    <a:grpSpLocks/>
                  </p:cNvGrpSpPr>
                  <p:nvPr/>
                </p:nvGrpSpPr>
                <p:grpSpPr bwMode="auto">
                  <a:xfrm>
                    <a:off x="995" y="3716"/>
                    <a:ext cx="48" cy="23"/>
                    <a:chOff x="995" y="3716"/>
                    <a:chExt cx="48" cy="23"/>
                  </a:xfrm>
                </p:grpSpPr>
                <p:sp>
                  <p:nvSpPr>
                    <p:cNvPr id="385" name="Freeform 2250"/>
                    <p:cNvSpPr>
                      <a:spLocks/>
                    </p:cNvSpPr>
                    <p:nvPr/>
                  </p:nvSpPr>
                  <p:spPr bwMode="auto">
                    <a:xfrm>
                      <a:off x="995" y="3716"/>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0"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86" name="Freeform 2251"/>
                    <p:cNvSpPr>
                      <a:spLocks/>
                    </p:cNvSpPr>
                    <p:nvPr/>
                  </p:nvSpPr>
                  <p:spPr bwMode="auto">
                    <a:xfrm>
                      <a:off x="999" y="3717"/>
                      <a:ext cx="38"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2" y="3"/>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87" name="Freeform 2252"/>
                    <p:cNvSpPr>
                      <a:spLocks/>
                    </p:cNvSpPr>
                    <p:nvPr/>
                  </p:nvSpPr>
                  <p:spPr bwMode="auto">
                    <a:xfrm>
                      <a:off x="1003" y="3727"/>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5" y="7"/>
                          </a:lnTo>
                          <a:lnTo>
                            <a:pt x="11"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9" name="Group 2253"/>
                <p:cNvGrpSpPr>
                  <a:grpSpLocks/>
                </p:cNvGrpSpPr>
                <p:nvPr/>
              </p:nvGrpSpPr>
              <p:grpSpPr bwMode="auto">
                <a:xfrm>
                  <a:off x="1005" y="3727"/>
                  <a:ext cx="49" cy="23"/>
                  <a:chOff x="1005" y="3727"/>
                  <a:chExt cx="49" cy="23"/>
                </a:xfrm>
              </p:grpSpPr>
              <p:sp>
                <p:nvSpPr>
                  <p:cNvPr id="377" name="Freeform 2254"/>
                  <p:cNvSpPr>
                    <a:spLocks/>
                  </p:cNvSpPr>
                  <p:nvPr/>
                </p:nvSpPr>
                <p:spPr bwMode="auto">
                  <a:xfrm>
                    <a:off x="1005" y="372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2"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78" name="Freeform 2255"/>
                  <p:cNvSpPr>
                    <a:spLocks/>
                  </p:cNvSpPr>
                  <p:nvPr/>
                </p:nvSpPr>
                <p:spPr bwMode="auto">
                  <a:xfrm>
                    <a:off x="1010"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8" y="0"/>
                        </a:lnTo>
                        <a:lnTo>
                          <a:pt x="51" y="4"/>
                        </a:lnTo>
                        <a:lnTo>
                          <a:pt x="56" y="13"/>
                        </a:lnTo>
                        <a:lnTo>
                          <a:pt x="73" y="31"/>
                        </a:lnTo>
                        <a:lnTo>
                          <a:pt x="18" y="31"/>
                        </a:lnTo>
                        <a:lnTo>
                          <a:pt x="9"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79" name="Freeform 2256"/>
                  <p:cNvSpPr>
                    <a:spLocks/>
                  </p:cNvSpPr>
                  <p:nvPr/>
                </p:nvSpPr>
                <p:spPr bwMode="auto">
                  <a:xfrm>
                    <a:off x="1013"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0" name="Group 2257"/>
                <p:cNvGrpSpPr>
                  <a:grpSpLocks/>
                </p:cNvGrpSpPr>
                <p:nvPr/>
              </p:nvGrpSpPr>
              <p:grpSpPr bwMode="auto">
                <a:xfrm>
                  <a:off x="1018" y="3740"/>
                  <a:ext cx="49" cy="22"/>
                  <a:chOff x="1018" y="3740"/>
                  <a:chExt cx="49" cy="22"/>
                </a:xfrm>
              </p:grpSpPr>
              <p:sp>
                <p:nvSpPr>
                  <p:cNvPr id="374" name="Freeform 2258"/>
                  <p:cNvSpPr>
                    <a:spLocks/>
                  </p:cNvSpPr>
                  <p:nvPr/>
                </p:nvSpPr>
                <p:spPr bwMode="auto">
                  <a:xfrm>
                    <a:off x="1018" y="374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75" name="Freeform 2259"/>
                  <p:cNvSpPr>
                    <a:spLocks/>
                  </p:cNvSpPr>
                  <p:nvPr/>
                </p:nvSpPr>
                <p:spPr bwMode="auto">
                  <a:xfrm>
                    <a:off x="1022" y="3740"/>
                    <a:ext cx="38"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49" y="0"/>
                        </a:lnTo>
                        <a:lnTo>
                          <a:pt x="51" y="4"/>
                        </a:lnTo>
                        <a:lnTo>
                          <a:pt x="57"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76" name="Freeform 2260"/>
                  <p:cNvSpPr>
                    <a:spLocks/>
                  </p:cNvSpPr>
                  <p:nvPr/>
                </p:nvSpPr>
                <p:spPr bwMode="auto">
                  <a:xfrm>
                    <a:off x="1026" y="3750"/>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1" name="Group 2261"/>
                <p:cNvGrpSpPr>
                  <a:grpSpLocks/>
                </p:cNvGrpSpPr>
                <p:nvPr/>
              </p:nvGrpSpPr>
              <p:grpSpPr bwMode="auto">
                <a:xfrm>
                  <a:off x="1030" y="3753"/>
                  <a:ext cx="49" cy="23"/>
                  <a:chOff x="1030" y="3753"/>
                  <a:chExt cx="49" cy="23"/>
                </a:xfrm>
              </p:grpSpPr>
              <p:sp>
                <p:nvSpPr>
                  <p:cNvPr id="371" name="Freeform 2262"/>
                  <p:cNvSpPr>
                    <a:spLocks/>
                  </p:cNvSpPr>
                  <p:nvPr/>
                </p:nvSpPr>
                <p:spPr bwMode="auto">
                  <a:xfrm>
                    <a:off x="1030" y="375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2"/>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72" name="Freeform 2263"/>
                  <p:cNvSpPr>
                    <a:spLocks/>
                  </p:cNvSpPr>
                  <p:nvPr/>
                </p:nvSpPr>
                <p:spPr bwMode="auto">
                  <a:xfrm>
                    <a:off x="1035" y="3753"/>
                    <a:ext cx="37" cy="11"/>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1" y="0"/>
                        </a:lnTo>
                        <a:lnTo>
                          <a:pt x="52" y="4"/>
                        </a:lnTo>
                        <a:lnTo>
                          <a:pt x="56"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73" name="Freeform 2264"/>
                  <p:cNvSpPr>
                    <a:spLocks/>
                  </p:cNvSpPr>
                  <p:nvPr/>
                </p:nvSpPr>
                <p:spPr bwMode="auto">
                  <a:xfrm>
                    <a:off x="1039" y="3764"/>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7"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12" name="Freeform 2265"/>
                <p:cNvSpPr>
                  <a:spLocks/>
                </p:cNvSpPr>
                <p:nvPr/>
              </p:nvSpPr>
              <p:spPr bwMode="auto">
                <a:xfrm>
                  <a:off x="778" y="353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3" y="68"/>
                      </a:moveTo>
                      <a:lnTo>
                        <a:pt x="0" y="27"/>
                      </a:lnTo>
                      <a:lnTo>
                        <a:pt x="9" y="0"/>
                      </a:lnTo>
                      <a:lnTo>
                        <a:pt x="24"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3" name="Freeform 2266"/>
                <p:cNvSpPr>
                  <a:spLocks/>
                </p:cNvSpPr>
                <p:nvPr/>
              </p:nvSpPr>
              <p:spPr bwMode="auto">
                <a:xfrm>
                  <a:off x="783" y="3535"/>
                  <a:ext cx="36" cy="11"/>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50" y="0"/>
                      </a:lnTo>
                      <a:lnTo>
                        <a:pt x="51" y="4"/>
                      </a:lnTo>
                      <a:lnTo>
                        <a:pt x="57" y="13"/>
                      </a:lnTo>
                      <a:lnTo>
                        <a:pt x="72" y="31"/>
                      </a:lnTo>
                      <a:lnTo>
                        <a:pt x="18" y="31"/>
                      </a:lnTo>
                      <a:lnTo>
                        <a:pt x="9" y="22"/>
                      </a:lnTo>
                      <a:lnTo>
                        <a:pt x="0" y="7"/>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4" name="Freeform 2267"/>
                <p:cNvSpPr>
                  <a:spLocks/>
                </p:cNvSpPr>
                <p:nvPr/>
              </p:nvSpPr>
              <p:spPr bwMode="auto">
                <a:xfrm>
                  <a:off x="786" y="3546"/>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1"/>
                      </a:lnTo>
                      <a:lnTo>
                        <a:pt x="7" y="8"/>
                      </a:lnTo>
                      <a:lnTo>
                        <a:pt x="12"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15" name="Group 2268"/>
                <p:cNvGrpSpPr>
                  <a:grpSpLocks/>
                </p:cNvGrpSpPr>
                <p:nvPr/>
              </p:nvGrpSpPr>
              <p:grpSpPr bwMode="auto">
                <a:xfrm>
                  <a:off x="790" y="3547"/>
                  <a:ext cx="49" cy="23"/>
                  <a:chOff x="790" y="3547"/>
                  <a:chExt cx="49" cy="23"/>
                </a:xfrm>
              </p:grpSpPr>
              <p:sp>
                <p:nvSpPr>
                  <p:cNvPr id="368" name="Freeform 2269"/>
                  <p:cNvSpPr>
                    <a:spLocks/>
                  </p:cNvSpPr>
                  <p:nvPr/>
                </p:nvSpPr>
                <p:spPr bwMode="auto">
                  <a:xfrm>
                    <a:off x="790" y="3547"/>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69" name="Freeform 2270"/>
                  <p:cNvSpPr>
                    <a:spLocks/>
                  </p:cNvSpPr>
                  <p:nvPr/>
                </p:nvSpPr>
                <p:spPr bwMode="auto">
                  <a:xfrm>
                    <a:off x="795" y="3548"/>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70" name="Freeform 2271"/>
                  <p:cNvSpPr>
                    <a:spLocks/>
                  </p:cNvSpPr>
                  <p:nvPr/>
                </p:nvSpPr>
                <p:spPr bwMode="auto">
                  <a:xfrm>
                    <a:off x="798" y="355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6" name="Group 2272"/>
                <p:cNvGrpSpPr>
                  <a:grpSpLocks/>
                </p:cNvGrpSpPr>
                <p:nvPr/>
              </p:nvGrpSpPr>
              <p:grpSpPr bwMode="auto">
                <a:xfrm>
                  <a:off x="803" y="3560"/>
                  <a:ext cx="49" cy="22"/>
                  <a:chOff x="803" y="3560"/>
                  <a:chExt cx="49" cy="22"/>
                </a:xfrm>
              </p:grpSpPr>
              <p:sp>
                <p:nvSpPr>
                  <p:cNvPr id="365" name="Freeform 2273"/>
                  <p:cNvSpPr>
                    <a:spLocks/>
                  </p:cNvSpPr>
                  <p:nvPr/>
                </p:nvSpPr>
                <p:spPr bwMode="auto">
                  <a:xfrm>
                    <a:off x="803" y="3560"/>
                    <a:ext cx="12" cy="22"/>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66" name="Freeform 2274"/>
                  <p:cNvSpPr>
                    <a:spLocks/>
                  </p:cNvSpPr>
                  <p:nvPr/>
                </p:nvSpPr>
                <p:spPr bwMode="auto">
                  <a:xfrm>
                    <a:off x="808" y="356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67" name="Freeform 2275"/>
                  <p:cNvSpPr>
                    <a:spLocks/>
                  </p:cNvSpPr>
                  <p:nvPr/>
                </p:nvSpPr>
                <p:spPr bwMode="auto">
                  <a:xfrm>
                    <a:off x="811" y="3571"/>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2"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7" name="Group 2276"/>
                <p:cNvGrpSpPr>
                  <a:grpSpLocks/>
                </p:cNvGrpSpPr>
                <p:nvPr/>
              </p:nvGrpSpPr>
              <p:grpSpPr bwMode="auto">
                <a:xfrm>
                  <a:off x="815" y="3572"/>
                  <a:ext cx="50" cy="23"/>
                  <a:chOff x="815" y="3572"/>
                  <a:chExt cx="50" cy="23"/>
                </a:xfrm>
              </p:grpSpPr>
              <p:sp>
                <p:nvSpPr>
                  <p:cNvPr id="362" name="Freeform 2277"/>
                  <p:cNvSpPr>
                    <a:spLocks/>
                  </p:cNvSpPr>
                  <p:nvPr/>
                </p:nvSpPr>
                <p:spPr bwMode="auto">
                  <a:xfrm>
                    <a:off x="815" y="3572"/>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0"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63" name="Freeform 2278"/>
                  <p:cNvSpPr>
                    <a:spLocks/>
                  </p:cNvSpPr>
                  <p:nvPr/>
                </p:nvSpPr>
                <p:spPr bwMode="auto">
                  <a:xfrm>
                    <a:off x="820" y="3573"/>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64" name="Freeform 2279"/>
                  <p:cNvSpPr>
                    <a:spLocks/>
                  </p:cNvSpPr>
                  <p:nvPr/>
                </p:nvSpPr>
                <p:spPr bwMode="auto">
                  <a:xfrm>
                    <a:off x="824" y="3583"/>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6" y="7"/>
                        </a:lnTo>
                        <a:lnTo>
                          <a:pt x="10"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8" name="Group 2280"/>
                <p:cNvGrpSpPr>
                  <a:grpSpLocks/>
                </p:cNvGrpSpPr>
                <p:nvPr/>
              </p:nvGrpSpPr>
              <p:grpSpPr bwMode="auto">
                <a:xfrm>
                  <a:off x="828" y="3585"/>
                  <a:ext cx="49" cy="23"/>
                  <a:chOff x="828" y="3585"/>
                  <a:chExt cx="49" cy="23"/>
                </a:xfrm>
              </p:grpSpPr>
              <p:sp>
                <p:nvSpPr>
                  <p:cNvPr id="359" name="Freeform 2281"/>
                  <p:cNvSpPr>
                    <a:spLocks/>
                  </p:cNvSpPr>
                  <p:nvPr/>
                </p:nvSpPr>
                <p:spPr bwMode="auto">
                  <a:xfrm>
                    <a:off x="828" y="358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9"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60" name="Freeform 2282"/>
                  <p:cNvSpPr>
                    <a:spLocks/>
                  </p:cNvSpPr>
                  <p:nvPr/>
                </p:nvSpPr>
                <p:spPr bwMode="auto">
                  <a:xfrm>
                    <a:off x="833" y="358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61" name="Freeform 2283"/>
                  <p:cNvSpPr>
                    <a:spLocks/>
                  </p:cNvSpPr>
                  <p:nvPr/>
                </p:nvSpPr>
                <p:spPr bwMode="auto">
                  <a:xfrm>
                    <a:off x="837"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5"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9" name="Group 2284"/>
                <p:cNvGrpSpPr>
                  <a:grpSpLocks/>
                </p:cNvGrpSpPr>
                <p:nvPr/>
              </p:nvGrpSpPr>
              <p:grpSpPr bwMode="auto">
                <a:xfrm>
                  <a:off x="840" y="3600"/>
                  <a:ext cx="100" cy="73"/>
                  <a:chOff x="840" y="3600"/>
                  <a:chExt cx="100" cy="73"/>
                </a:xfrm>
              </p:grpSpPr>
              <p:grpSp>
                <p:nvGrpSpPr>
                  <p:cNvPr id="339" name="Group 2285"/>
                  <p:cNvGrpSpPr>
                    <a:grpSpLocks/>
                  </p:cNvGrpSpPr>
                  <p:nvPr/>
                </p:nvGrpSpPr>
                <p:grpSpPr bwMode="auto">
                  <a:xfrm>
                    <a:off x="840" y="3600"/>
                    <a:ext cx="49" cy="23"/>
                    <a:chOff x="840" y="3600"/>
                    <a:chExt cx="49" cy="23"/>
                  </a:xfrm>
                </p:grpSpPr>
                <p:sp>
                  <p:nvSpPr>
                    <p:cNvPr id="356" name="Freeform 2286"/>
                    <p:cNvSpPr>
                      <a:spLocks/>
                    </p:cNvSpPr>
                    <p:nvPr/>
                  </p:nvSpPr>
                  <p:spPr bwMode="auto">
                    <a:xfrm>
                      <a:off x="840" y="360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7"/>
                          </a:lnTo>
                          <a:lnTo>
                            <a:pt x="10" y="0"/>
                          </a:lnTo>
                          <a:lnTo>
                            <a:pt x="25" y="31"/>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57" name="Freeform 2287"/>
                    <p:cNvSpPr>
                      <a:spLocks/>
                    </p:cNvSpPr>
                    <p:nvPr/>
                  </p:nvSpPr>
                  <p:spPr bwMode="auto">
                    <a:xfrm>
                      <a:off x="845" y="3600"/>
                      <a:ext cx="37" cy="11"/>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58" name="Freeform 2288"/>
                    <p:cNvSpPr>
                      <a:spLocks/>
                    </p:cNvSpPr>
                    <p:nvPr/>
                  </p:nvSpPr>
                  <p:spPr bwMode="auto">
                    <a:xfrm>
                      <a:off x="848" y="3611"/>
                      <a:ext cx="41" cy="12"/>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8"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40" name="Group 2289"/>
                  <p:cNvGrpSpPr>
                    <a:grpSpLocks/>
                  </p:cNvGrpSpPr>
                  <p:nvPr/>
                </p:nvGrpSpPr>
                <p:grpSpPr bwMode="auto">
                  <a:xfrm>
                    <a:off x="853" y="3612"/>
                    <a:ext cx="48" cy="23"/>
                    <a:chOff x="853" y="3612"/>
                    <a:chExt cx="48" cy="23"/>
                  </a:xfrm>
                </p:grpSpPr>
                <p:sp>
                  <p:nvSpPr>
                    <p:cNvPr id="353" name="Freeform 2290"/>
                    <p:cNvSpPr>
                      <a:spLocks/>
                    </p:cNvSpPr>
                    <p:nvPr/>
                  </p:nvSpPr>
                  <p:spPr bwMode="auto">
                    <a:xfrm>
                      <a:off x="853"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10"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54" name="Freeform 2291"/>
                    <p:cNvSpPr>
                      <a:spLocks/>
                    </p:cNvSpPr>
                    <p:nvPr/>
                  </p:nvSpPr>
                  <p:spPr bwMode="auto">
                    <a:xfrm>
                      <a:off x="857" y="3613"/>
                      <a:ext cx="37" cy="10"/>
                    </a:xfrm>
                    <a:custGeom>
                      <a:avLst/>
                      <a:gdLst>
                        <a:gd name="T0" fmla="*/ 1 w 73"/>
                        <a:gd name="T1" fmla="*/ 0 h 32"/>
                        <a:gd name="T2" fmla="*/ 1 w 73"/>
                        <a:gd name="T3" fmla="*/ 0 h 32"/>
                        <a:gd name="T4" fmla="*/ 1 w 73"/>
                        <a:gd name="T5" fmla="*/ 0 h 32"/>
                        <a:gd name="T6" fmla="*/ 1 w 73"/>
                        <a:gd name="T7" fmla="*/ 0 h 32"/>
                        <a:gd name="T8" fmla="*/ 1 w 73"/>
                        <a:gd name="T9" fmla="*/ 0 h 32"/>
                        <a:gd name="T10" fmla="*/ 1 w 73"/>
                        <a:gd name="T11" fmla="*/ 0 h 32"/>
                        <a:gd name="T12" fmla="*/ 1 w 73"/>
                        <a:gd name="T13" fmla="*/ 0 h 32"/>
                        <a:gd name="T14" fmla="*/ 0 w 73"/>
                        <a:gd name="T15" fmla="*/ 0 h 32"/>
                        <a:gd name="T16" fmla="*/ 1 w 73"/>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2"/>
                        <a:gd name="T29" fmla="*/ 73 w 73"/>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2">
                          <a:moveTo>
                            <a:pt x="1" y="0"/>
                          </a:moveTo>
                          <a:lnTo>
                            <a:pt x="50" y="0"/>
                          </a:lnTo>
                          <a:lnTo>
                            <a:pt x="51" y="3"/>
                          </a:lnTo>
                          <a:lnTo>
                            <a:pt x="56" y="15"/>
                          </a:lnTo>
                          <a:lnTo>
                            <a:pt x="73" y="32"/>
                          </a:lnTo>
                          <a:lnTo>
                            <a:pt x="18" y="32"/>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55" name="Freeform 2292"/>
                    <p:cNvSpPr>
                      <a:spLocks/>
                    </p:cNvSpPr>
                    <p:nvPr/>
                  </p:nvSpPr>
                  <p:spPr bwMode="auto">
                    <a:xfrm>
                      <a:off x="860" y="362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41" name="Group 2293"/>
                  <p:cNvGrpSpPr>
                    <a:grpSpLocks/>
                  </p:cNvGrpSpPr>
                  <p:nvPr/>
                </p:nvGrpSpPr>
                <p:grpSpPr bwMode="auto">
                  <a:xfrm>
                    <a:off x="865" y="3625"/>
                    <a:ext cx="49" cy="23"/>
                    <a:chOff x="865" y="3625"/>
                    <a:chExt cx="49" cy="23"/>
                  </a:xfrm>
                </p:grpSpPr>
                <p:sp>
                  <p:nvSpPr>
                    <p:cNvPr id="350" name="Freeform 2294"/>
                    <p:cNvSpPr>
                      <a:spLocks/>
                    </p:cNvSpPr>
                    <p:nvPr/>
                  </p:nvSpPr>
                  <p:spPr bwMode="auto">
                    <a:xfrm>
                      <a:off x="865" y="362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51" name="Freeform 2295"/>
                    <p:cNvSpPr>
                      <a:spLocks/>
                    </p:cNvSpPr>
                    <p:nvPr/>
                  </p:nvSpPr>
                  <p:spPr bwMode="auto">
                    <a:xfrm>
                      <a:off x="870"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2"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52" name="Freeform 2296"/>
                    <p:cNvSpPr>
                      <a:spLocks/>
                    </p:cNvSpPr>
                    <p:nvPr/>
                  </p:nvSpPr>
                  <p:spPr bwMode="auto">
                    <a:xfrm>
                      <a:off x="873" y="363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42" name="Group 2297"/>
                  <p:cNvGrpSpPr>
                    <a:grpSpLocks/>
                  </p:cNvGrpSpPr>
                  <p:nvPr/>
                </p:nvGrpSpPr>
                <p:grpSpPr bwMode="auto">
                  <a:xfrm>
                    <a:off x="878" y="3638"/>
                    <a:ext cx="49" cy="22"/>
                    <a:chOff x="878" y="3638"/>
                    <a:chExt cx="49" cy="22"/>
                  </a:xfrm>
                </p:grpSpPr>
                <p:sp>
                  <p:nvSpPr>
                    <p:cNvPr id="347" name="Freeform 2298"/>
                    <p:cNvSpPr>
                      <a:spLocks/>
                    </p:cNvSpPr>
                    <p:nvPr/>
                  </p:nvSpPr>
                  <p:spPr bwMode="auto">
                    <a:xfrm>
                      <a:off x="878"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48" name="Freeform 2299"/>
                    <p:cNvSpPr>
                      <a:spLocks/>
                    </p:cNvSpPr>
                    <p:nvPr/>
                  </p:nvSpPr>
                  <p:spPr bwMode="auto">
                    <a:xfrm>
                      <a:off x="883"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6" y="12"/>
                          </a:lnTo>
                          <a:lnTo>
                            <a:pt x="72"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49" name="Freeform 2300"/>
                    <p:cNvSpPr>
                      <a:spLocks/>
                    </p:cNvSpPr>
                    <p:nvPr/>
                  </p:nvSpPr>
                  <p:spPr bwMode="auto">
                    <a:xfrm>
                      <a:off x="886" y="364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43" name="Group 2301"/>
                  <p:cNvGrpSpPr>
                    <a:grpSpLocks/>
                  </p:cNvGrpSpPr>
                  <p:nvPr/>
                </p:nvGrpSpPr>
                <p:grpSpPr bwMode="auto">
                  <a:xfrm>
                    <a:off x="890" y="3651"/>
                    <a:ext cx="50" cy="22"/>
                    <a:chOff x="890" y="3651"/>
                    <a:chExt cx="50" cy="22"/>
                  </a:xfrm>
                </p:grpSpPr>
                <p:sp>
                  <p:nvSpPr>
                    <p:cNvPr id="344" name="Freeform 2302"/>
                    <p:cNvSpPr>
                      <a:spLocks/>
                    </p:cNvSpPr>
                    <p:nvPr/>
                  </p:nvSpPr>
                  <p:spPr bwMode="auto">
                    <a:xfrm>
                      <a:off x="890" y="3651"/>
                      <a:ext cx="13" cy="22"/>
                    </a:xfrm>
                    <a:custGeom>
                      <a:avLst/>
                      <a:gdLst>
                        <a:gd name="T0" fmla="*/ 1 w 25"/>
                        <a:gd name="T1" fmla="*/ 0 h 67"/>
                        <a:gd name="T2" fmla="*/ 0 w 25"/>
                        <a:gd name="T3" fmla="*/ 0 h 67"/>
                        <a:gd name="T4" fmla="*/ 1 w 25"/>
                        <a:gd name="T5" fmla="*/ 0 h 67"/>
                        <a:gd name="T6" fmla="*/ 1 w 25"/>
                        <a:gd name="T7" fmla="*/ 0 h 67"/>
                        <a:gd name="T8" fmla="*/ 1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6" y="67"/>
                          </a:moveTo>
                          <a:lnTo>
                            <a:pt x="0" y="26"/>
                          </a:lnTo>
                          <a:lnTo>
                            <a:pt x="12" y="0"/>
                          </a:lnTo>
                          <a:lnTo>
                            <a:pt x="25" y="30"/>
                          </a:lnTo>
                          <a:lnTo>
                            <a:pt x="16"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45" name="Freeform 2303"/>
                    <p:cNvSpPr>
                      <a:spLocks/>
                    </p:cNvSpPr>
                    <p:nvPr/>
                  </p:nvSpPr>
                  <p:spPr bwMode="auto">
                    <a:xfrm>
                      <a:off x="895" y="3651"/>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8" y="0"/>
                          </a:lnTo>
                          <a:lnTo>
                            <a:pt x="51" y="2"/>
                          </a:lnTo>
                          <a:lnTo>
                            <a:pt x="56" y="11"/>
                          </a:lnTo>
                          <a:lnTo>
                            <a:pt x="73" y="29"/>
                          </a:lnTo>
                          <a:lnTo>
                            <a:pt x="18"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46" name="Freeform 2304"/>
                    <p:cNvSpPr>
                      <a:spLocks/>
                    </p:cNvSpPr>
                    <p:nvPr/>
                  </p:nvSpPr>
                  <p:spPr bwMode="auto">
                    <a:xfrm>
                      <a:off x="899" y="3662"/>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20" name="Group 2305"/>
                <p:cNvGrpSpPr>
                  <a:grpSpLocks/>
                </p:cNvGrpSpPr>
                <p:nvPr/>
              </p:nvGrpSpPr>
              <p:grpSpPr bwMode="auto">
                <a:xfrm>
                  <a:off x="903" y="3665"/>
                  <a:ext cx="99" cy="74"/>
                  <a:chOff x="903" y="3665"/>
                  <a:chExt cx="99" cy="74"/>
                </a:xfrm>
              </p:grpSpPr>
              <p:grpSp>
                <p:nvGrpSpPr>
                  <p:cNvPr id="319" name="Group 2306"/>
                  <p:cNvGrpSpPr>
                    <a:grpSpLocks/>
                  </p:cNvGrpSpPr>
                  <p:nvPr/>
                </p:nvGrpSpPr>
                <p:grpSpPr bwMode="auto">
                  <a:xfrm>
                    <a:off x="903" y="3665"/>
                    <a:ext cx="49" cy="23"/>
                    <a:chOff x="903" y="3665"/>
                    <a:chExt cx="49" cy="23"/>
                  </a:xfrm>
                </p:grpSpPr>
                <p:sp>
                  <p:nvSpPr>
                    <p:cNvPr id="336" name="Freeform 2307"/>
                    <p:cNvSpPr>
                      <a:spLocks/>
                    </p:cNvSpPr>
                    <p:nvPr/>
                  </p:nvSpPr>
                  <p:spPr bwMode="auto">
                    <a:xfrm>
                      <a:off x="903"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0"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37" name="Freeform 2308"/>
                    <p:cNvSpPr>
                      <a:spLocks/>
                    </p:cNvSpPr>
                    <p:nvPr/>
                  </p:nvSpPr>
                  <p:spPr bwMode="auto">
                    <a:xfrm>
                      <a:off x="907" y="3666"/>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9" y="0"/>
                          </a:lnTo>
                          <a:lnTo>
                            <a:pt x="51" y="4"/>
                          </a:lnTo>
                          <a:lnTo>
                            <a:pt x="56" y="13"/>
                          </a:lnTo>
                          <a:lnTo>
                            <a:pt x="73"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38" name="Freeform 2309"/>
                    <p:cNvSpPr>
                      <a:spLocks/>
                    </p:cNvSpPr>
                    <p:nvPr/>
                  </p:nvSpPr>
                  <p:spPr bwMode="auto">
                    <a:xfrm>
                      <a:off x="911" y="367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0" name="Group 2310"/>
                  <p:cNvGrpSpPr>
                    <a:grpSpLocks/>
                  </p:cNvGrpSpPr>
                  <p:nvPr/>
                </p:nvGrpSpPr>
                <p:grpSpPr bwMode="auto">
                  <a:xfrm>
                    <a:off x="914" y="3678"/>
                    <a:ext cx="49" cy="23"/>
                    <a:chOff x="914" y="3678"/>
                    <a:chExt cx="49" cy="23"/>
                  </a:xfrm>
                </p:grpSpPr>
                <p:sp>
                  <p:nvSpPr>
                    <p:cNvPr id="333" name="Freeform 2311"/>
                    <p:cNvSpPr>
                      <a:spLocks/>
                    </p:cNvSpPr>
                    <p:nvPr/>
                  </p:nvSpPr>
                  <p:spPr bwMode="auto">
                    <a:xfrm>
                      <a:off x="914"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34" name="Freeform 2312"/>
                    <p:cNvSpPr>
                      <a:spLocks/>
                    </p:cNvSpPr>
                    <p:nvPr/>
                  </p:nvSpPr>
                  <p:spPr bwMode="auto">
                    <a:xfrm>
                      <a:off x="919" y="3678"/>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7" y="12"/>
                          </a:lnTo>
                          <a:lnTo>
                            <a:pt x="75" y="30"/>
                          </a:lnTo>
                          <a:lnTo>
                            <a:pt x="19" y="30"/>
                          </a:lnTo>
                          <a:lnTo>
                            <a:pt x="11"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35" name="Freeform 2313"/>
                    <p:cNvSpPr>
                      <a:spLocks/>
                    </p:cNvSpPr>
                    <p:nvPr/>
                  </p:nvSpPr>
                  <p:spPr bwMode="auto">
                    <a:xfrm>
                      <a:off x="922" y="3688"/>
                      <a:ext cx="41" cy="13"/>
                    </a:xfrm>
                    <a:custGeom>
                      <a:avLst/>
                      <a:gdLst>
                        <a:gd name="T0" fmla="*/ 0 w 81"/>
                        <a:gd name="T1" fmla="*/ 0 h 38"/>
                        <a:gd name="T2" fmla="*/ 1 w 81"/>
                        <a:gd name="T3" fmla="*/ 0 h 38"/>
                        <a:gd name="T4" fmla="*/ 1 w 81"/>
                        <a:gd name="T5" fmla="*/ 0 h 38"/>
                        <a:gd name="T6" fmla="*/ 1 w 81"/>
                        <a:gd name="T7" fmla="*/ 0 h 38"/>
                        <a:gd name="T8" fmla="*/ 1 w 81"/>
                        <a:gd name="T9" fmla="*/ 0 h 38"/>
                        <a:gd name="T10" fmla="*/ 1 w 81"/>
                        <a:gd name="T11" fmla="*/ 0 h 38"/>
                        <a:gd name="T12" fmla="*/ 0 w 81"/>
                        <a:gd name="T13" fmla="*/ 0 h 38"/>
                        <a:gd name="T14" fmla="*/ 0 60000 65536"/>
                        <a:gd name="T15" fmla="*/ 0 60000 65536"/>
                        <a:gd name="T16" fmla="*/ 0 60000 65536"/>
                        <a:gd name="T17" fmla="*/ 0 60000 65536"/>
                        <a:gd name="T18" fmla="*/ 0 60000 65536"/>
                        <a:gd name="T19" fmla="*/ 0 60000 65536"/>
                        <a:gd name="T20" fmla="*/ 0 60000 65536"/>
                        <a:gd name="T21" fmla="*/ 0 w 81"/>
                        <a:gd name="T22" fmla="*/ 0 h 38"/>
                        <a:gd name="T23" fmla="*/ 81 w 81"/>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8">
                          <a:moveTo>
                            <a:pt x="0" y="38"/>
                          </a:moveTo>
                          <a:lnTo>
                            <a:pt x="2" y="21"/>
                          </a:lnTo>
                          <a:lnTo>
                            <a:pt x="8" y="8"/>
                          </a:lnTo>
                          <a:lnTo>
                            <a:pt x="12" y="0"/>
                          </a:lnTo>
                          <a:lnTo>
                            <a:pt x="68" y="0"/>
                          </a:lnTo>
                          <a:lnTo>
                            <a:pt x="81"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1" name="Group 2314"/>
                  <p:cNvGrpSpPr>
                    <a:grpSpLocks/>
                  </p:cNvGrpSpPr>
                  <p:nvPr/>
                </p:nvGrpSpPr>
                <p:grpSpPr bwMode="auto">
                  <a:xfrm>
                    <a:off x="928" y="3690"/>
                    <a:ext cx="48" cy="23"/>
                    <a:chOff x="928" y="3690"/>
                    <a:chExt cx="48" cy="23"/>
                  </a:xfrm>
                </p:grpSpPr>
                <p:sp>
                  <p:nvSpPr>
                    <p:cNvPr id="330" name="Freeform 2315"/>
                    <p:cNvSpPr>
                      <a:spLocks/>
                    </p:cNvSpPr>
                    <p:nvPr/>
                  </p:nvSpPr>
                  <p:spPr bwMode="auto">
                    <a:xfrm>
                      <a:off x="928" y="369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9"/>
                          </a:lnTo>
                          <a:lnTo>
                            <a:pt x="9" y="0"/>
                          </a:lnTo>
                          <a:lnTo>
                            <a:pt x="25" y="33"/>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31" name="Freeform 2316"/>
                    <p:cNvSpPr>
                      <a:spLocks/>
                    </p:cNvSpPr>
                    <p:nvPr/>
                  </p:nvSpPr>
                  <p:spPr bwMode="auto">
                    <a:xfrm>
                      <a:off x="932"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32" name="Freeform 2317"/>
                    <p:cNvSpPr>
                      <a:spLocks/>
                    </p:cNvSpPr>
                    <p:nvPr/>
                  </p:nvSpPr>
                  <p:spPr bwMode="auto">
                    <a:xfrm>
                      <a:off x="935" y="3701"/>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8" y="7"/>
                          </a:lnTo>
                          <a:lnTo>
                            <a:pt x="13"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2" name="Group 2318"/>
                  <p:cNvGrpSpPr>
                    <a:grpSpLocks/>
                  </p:cNvGrpSpPr>
                  <p:nvPr/>
                </p:nvGrpSpPr>
                <p:grpSpPr bwMode="auto">
                  <a:xfrm>
                    <a:off x="940" y="3703"/>
                    <a:ext cx="49" cy="23"/>
                    <a:chOff x="940" y="3703"/>
                    <a:chExt cx="49" cy="23"/>
                  </a:xfrm>
                </p:grpSpPr>
                <p:sp>
                  <p:nvSpPr>
                    <p:cNvPr id="327" name="Freeform 2319"/>
                    <p:cNvSpPr>
                      <a:spLocks/>
                    </p:cNvSpPr>
                    <p:nvPr/>
                  </p:nvSpPr>
                  <p:spPr bwMode="auto">
                    <a:xfrm>
                      <a:off x="940"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8" name="Freeform 2320"/>
                    <p:cNvSpPr>
                      <a:spLocks/>
                    </p:cNvSpPr>
                    <p:nvPr/>
                  </p:nvSpPr>
                  <p:spPr bwMode="auto">
                    <a:xfrm>
                      <a:off x="945" y="3703"/>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2" y="0"/>
                          </a:lnTo>
                          <a:lnTo>
                            <a:pt x="53" y="3"/>
                          </a:lnTo>
                          <a:lnTo>
                            <a:pt x="57" y="12"/>
                          </a:lnTo>
                          <a:lnTo>
                            <a:pt x="75"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9" name="Freeform 2321"/>
                    <p:cNvSpPr>
                      <a:spLocks/>
                    </p:cNvSpPr>
                    <p:nvPr/>
                  </p:nvSpPr>
                  <p:spPr bwMode="auto">
                    <a:xfrm>
                      <a:off x="948" y="3714"/>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3" name="Group 2322"/>
                  <p:cNvGrpSpPr>
                    <a:grpSpLocks/>
                  </p:cNvGrpSpPr>
                  <p:nvPr/>
                </p:nvGrpSpPr>
                <p:grpSpPr bwMode="auto">
                  <a:xfrm>
                    <a:off x="953" y="3716"/>
                    <a:ext cx="49" cy="23"/>
                    <a:chOff x="953" y="3716"/>
                    <a:chExt cx="49" cy="23"/>
                  </a:xfrm>
                </p:grpSpPr>
                <p:sp>
                  <p:nvSpPr>
                    <p:cNvPr id="324" name="Freeform 2323"/>
                    <p:cNvSpPr>
                      <a:spLocks/>
                    </p:cNvSpPr>
                    <p:nvPr/>
                  </p:nvSpPr>
                  <p:spPr bwMode="auto">
                    <a:xfrm>
                      <a:off x="953" y="3716"/>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5" name="Freeform 2324"/>
                    <p:cNvSpPr>
                      <a:spLocks/>
                    </p:cNvSpPr>
                    <p:nvPr/>
                  </p:nvSpPr>
                  <p:spPr bwMode="auto">
                    <a:xfrm>
                      <a:off x="958" y="3717"/>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3"/>
                          </a:lnTo>
                          <a:lnTo>
                            <a:pt x="56" y="11"/>
                          </a:lnTo>
                          <a:lnTo>
                            <a:pt x="75"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6" name="Freeform 2325"/>
                    <p:cNvSpPr>
                      <a:spLocks/>
                    </p:cNvSpPr>
                    <p:nvPr/>
                  </p:nvSpPr>
                  <p:spPr bwMode="auto">
                    <a:xfrm>
                      <a:off x="961" y="372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21" name="Group 2326"/>
                <p:cNvGrpSpPr>
                  <a:grpSpLocks/>
                </p:cNvGrpSpPr>
                <p:nvPr/>
              </p:nvGrpSpPr>
              <p:grpSpPr bwMode="auto">
                <a:xfrm>
                  <a:off x="963" y="3727"/>
                  <a:ext cx="49" cy="23"/>
                  <a:chOff x="963" y="3727"/>
                  <a:chExt cx="49" cy="23"/>
                </a:xfrm>
              </p:grpSpPr>
              <p:sp>
                <p:nvSpPr>
                  <p:cNvPr id="316" name="Freeform 2327"/>
                  <p:cNvSpPr>
                    <a:spLocks/>
                  </p:cNvSpPr>
                  <p:nvPr/>
                </p:nvSpPr>
                <p:spPr bwMode="auto">
                  <a:xfrm>
                    <a:off x="963" y="372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7" name="Freeform 2328"/>
                  <p:cNvSpPr>
                    <a:spLocks/>
                  </p:cNvSpPr>
                  <p:nvPr/>
                </p:nvSpPr>
                <p:spPr bwMode="auto">
                  <a:xfrm>
                    <a:off x="968"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8" y="0"/>
                        </a:lnTo>
                        <a:lnTo>
                          <a:pt x="50"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8" name="Freeform 2329"/>
                  <p:cNvSpPr>
                    <a:spLocks/>
                  </p:cNvSpPr>
                  <p:nvPr/>
                </p:nvSpPr>
                <p:spPr bwMode="auto">
                  <a:xfrm>
                    <a:off x="972" y="373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2" name="Group 2330"/>
                <p:cNvGrpSpPr>
                  <a:grpSpLocks/>
                </p:cNvGrpSpPr>
                <p:nvPr/>
              </p:nvGrpSpPr>
              <p:grpSpPr bwMode="auto">
                <a:xfrm>
                  <a:off x="976" y="3740"/>
                  <a:ext cx="50" cy="22"/>
                  <a:chOff x="976" y="3740"/>
                  <a:chExt cx="50" cy="22"/>
                </a:xfrm>
              </p:grpSpPr>
              <p:sp>
                <p:nvSpPr>
                  <p:cNvPr id="313" name="Freeform 2331"/>
                  <p:cNvSpPr>
                    <a:spLocks/>
                  </p:cNvSpPr>
                  <p:nvPr/>
                </p:nvSpPr>
                <p:spPr bwMode="auto">
                  <a:xfrm>
                    <a:off x="976" y="3740"/>
                    <a:ext cx="12" cy="22"/>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10" y="0"/>
                        </a:lnTo>
                        <a:lnTo>
                          <a:pt x="23"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4" name="Freeform 2332"/>
                  <p:cNvSpPr>
                    <a:spLocks/>
                  </p:cNvSpPr>
                  <p:nvPr/>
                </p:nvSpPr>
                <p:spPr bwMode="auto">
                  <a:xfrm>
                    <a:off x="980" y="374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4" y="0"/>
                        </a:moveTo>
                        <a:lnTo>
                          <a:pt x="52" y="0"/>
                        </a:lnTo>
                        <a:lnTo>
                          <a:pt x="53" y="4"/>
                        </a:lnTo>
                        <a:lnTo>
                          <a:pt x="60" y="13"/>
                        </a:lnTo>
                        <a:lnTo>
                          <a:pt x="75" y="31"/>
                        </a:lnTo>
                        <a:lnTo>
                          <a:pt x="19" y="31"/>
                        </a:lnTo>
                        <a:lnTo>
                          <a:pt x="12" y="22"/>
                        </a:lnTo>
                        <a:lnTo>
                          <a:pt x="0" y="7"/>
                        </a:lnTo>
                        <a:lnTo>
                          <a:pt x="4"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5" name="Freeform 2333"/>
                  <p:cNvSpPr>
                    <a:spLocks/>
                  </p:cNvSpPr>
                  <p:nvPr/>
                </p:nvSpPr>
                <p:spPr bwMode="auto">
                  <a:xfrm>
                    <a:off x="984" y="375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1"/>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3" name="Group 2334"/>
                <p:cNvGrpSpPr>
                  <a:grpSpLocks/>
                </p:cNvGrpSpPr>
                <p:nvPr/>
              </p:nvGrpSpPr>
              <p:grpSpPr bwMode="auto">
                <a:xfrm>
                  <a:off x="761" y="3560"/>
                  <a:ext cx="50" cy="22"/>
                  <a:chOff x="761" y="3560"/>
                  <a:chExt cx="50" cy="22"/>
                </a:xfrm>
              </p:grpSpPr>
              <p:sp>
                <p:nvSpPr>
                  <p:cNvPr id="310" name="Freeform 2335"/>
                  <p:cNvSpPr>
                    <a:spLocks/>
                  </p:cNvSpPr>
                  <p:nvPr/>
                </p:nvSpPr>
                <p:spPr bwMode="auto">
                  <a:xfrm>
                    <a:off x="761" y="356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1" name="Freeform 2336"/>
                  <p:cNvSpPr>
                    <a:spLocks/>
                  </p:cNvSpPr>
                  <p:nvPr/>
                </p:nvSpPr>
                <p:spPr bwMode="auto">
                  <a:xfrm>
                    <a:off x="767" y="3560"/>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9" y="0"/>
                        </a:lnTo>
                        <a:lnTo>
                          <a:pt x="50" y="2"/>
                        </a:lnTo>
                        <a:lnTo>
                          <a:pt x="55" y="11"/>
                        </a:lnTo>
                        <a:lnTo>
                          <a:pt x="73" y="29"/>
                        </a:lnTo>
                        <a:lnTo>
                          <a:pt x="17" y="29"/>
                        </a:lnTo>
                        <a:lnTo>
                          <a:pt x="8"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2" name="Freeform 2337"/>
                  <p:cNvSpPr>
                    <a:spLocks/>
                  </p:cNvSpPr>
                  <p:nvPr/>
                </p:nvSpPr>
                <p:spPr bwMode="auto">
                  <a:xfrm>
                    <a:off x="769" y="3571"/>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8"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4" name="Group 2338"/>
                <p:cNvGrpSpPr>
                  <a:grpSpLocks/>
                </p:cNvGrpSpPr>
                <p:nvPr/>
              </p:nvGrpSpPr>
              <p:grpSpPr bwMode="auto">
                <a:xfrm>
                  <a:off x="774" y="3572"/>
                  <a:ext cx="49" cy="23"/>
                  <a:chOff x="774" y="3572"/>
                  <a:chExt cx="49" cy="23"/>
                </a:xfrm>
              </p:grpSpPr>
              <p:sp>
                <p:nvSpPr>
                  <p:cNvPr id="307" name="Freeform 2339"/>
                  <p:cNvSpPr>
                    <a:spLocks/>
                  </p:cNvSpPr>
                  <p:nvPr/>
                </p:nvSpPr>
                <p:spPr bwMode="auto">
                  <a:xfrm>
                    <a:off x="774" y="3572"/>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5"/>
                        </a:lnTo>
                        <a:lnTo>
                          <a:pt x="9" y="0"/>
                        </a:lnTo>
                        <a:lnTo>
                          <a:pt x="25"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8" name="Freeform 2340"/>
                  <p:cNvSpPr>
                    <a:spLocks/>
                  </p:cNvSpPr>
                  <p:nvPr/>
                </p:nvSpPr>
                <p:spPr bwMode="auto">
                  <a:xfrm>
                    <a:off x="778" y="3573"/>
                    <a:ext cx="38" cy="9"/>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9" name="Freeform 2341"/>
                  <p:cNvSpPr>
                    <a:spLocks/>
                  </p:cNvSpPr>
                  <p:nvPr/>
                </p:nvSpPr>
                <p:spPr bwMode="auto">
                  <a:xfrm>
                    <a:off x="782" y="358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5" name="Group 2342"/>
                <p:cNvGrpSpPr>
                  <a:grpSpLocks/>
                </p:cNvGrpSpPr>
                <p:nvPr/>
              </p:nvGrpSpPr>
              <p:grpSpPr bwMode="auto">
                <a:xfrm>
                  <a:off x="787" y="3585"/>
                  <a:ext cx="49" cy="23"/>
                  <a:chOff x="787" y="3585"/>
                  <a:chExt cx="49" cy="23"/>
                </a:xfrm>
              </p:grpSpPr>
              <p:sp>
                <p:nvSpPr>
                  <p:cNvPr id="304" name="Freeform 2343"/>
                  <p:cNvSpPr>
                    <a:spLocks/>
                  </p:cNvSpPr>
                  <p:nvPr/>
                </p:nvSpPr>
                <p:spPr bwMode="auto">
                  <a:xfrm>
                    <a:off x="787" y="358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6"/>
                        </a:lnTo>
                        <a:lnTo>
                          <a:pt x="9"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5" name="Freeform 2344"/>
                  <p:cNvSpPr>
                    <a:spLocks/>
                  </p:cNvSpPr>
                  <p:nvPr/>
                </p:nvSpPr>
                <p:spPr bwMode="auto">
                  <a:xfrm>
                    <a:off x="792" y="3586"/>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2"/>
                        </a:lnTo>
                        <a:lnTo>
                          <a:pt x="55" y="11"/>
                        </a:lnTo>
                        <a:lnTo>
                          <a:pt x="74" y="29"/>
                        </a:lnTo>
                        <a:lnTo>
                          <a:pt x="19"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6" name="Freeform 2345"/>
                  <p:cNvSpPr>
                    <a:spLocks/>
                  </p:cNvSpPr>
                  <p:nvPr/>
                </p:nvSpPr>
                <p:spPr bwMode="auto">
                  <a:xfrm>
                    <a:off x="795" y="3596"/>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6"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6" name="Group 2346"/>
                <p:cNvGrpSpPr>
                  <a:grpSpLocks/>
                </p:cNvGrpSpPr>
                <p:nvPr/>
              </p:nvGrpSpPr>
              <p:grpSpPr bwMode="auto">
                <a:xfrm>
                  <a:off x="799" y="3600"/>
                  <a:ext cx="99" cy="73"/>
                  <a:chOff x="799" y="3600"/>
                  <a:chExt cx="99" cy="73"/>
                </a:xfrm>
              </p:grpSpPr>
              <p:grpSp>
                <p:nvGrpSpPr>
                  <p:cNvPr id="284" name="Group 2347"/>
                  <p:cNvGrpSpPr>
                    <a:grpSpLocks/>
                  </p:cNvGrpSpPr>
                  <p:nvPr/>
                </p:nvGrpSpPr>
                <p:grpSpPr bwMode="auto">
                  <a:xfrm>
                    <a:off x="799" y="3600"/>
                    <a:ext cx="48" cy="23"/>
                    <a:chOff x="799" y="3600"/>
                    <a:chExt cx="48" cy="23"/>
                  </a:xfrm>
                </p:grpSpPr>
                <p:sp>
                  <p:nvSpPr>
                    <p:cNvPr id="301" name="Freeform 2348"/>
                    <p:cNvSpPr>
                      <a:spLocks/>
                    </p:cNvSpPr>
                    <p:nvPr/>
                  </p:nvSpPr>
                  <p:spPr bwMode="auto">
                    <a:xfrm>
                      <a:off x="799" y="360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2" name="Freeform 2349"/>
                    <p:cNvSpPr>
                      <a:spLocks/>
                    </p:cNvSpPr>
                    <p:nvPr/>
                  </p:nvSpPr>
                  <p:spPr bwMode="auto">
                    <a:xfrm>
                      <a:off x="803" y="3600"/>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1"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3" name="Freeform 2350"/>
                    <p:cNvSpPr>
                      <a:spLocks/>
                    </p:cNvSpPr>
                    <p:nvPr/>
                  </p:nvSpPr>
                  <p:spPr bwMode="auto">
                    <a:xfrm>
                      <a:off x="807" y="3611"/>
                      <a:ext cx="40" cy="12"/>
                    </a:xfrm>
                    <a:custGeom>
                      <a:avLst/>
                      <a:gdLst>
                        <a:gd name="T0" fmla="*/ 0 w 82"/>
                        <a:gd name="T1" fmla="*/ 0 h 38"/>
                        <a:gd name="T2" fmla="*/ 0 w 82"/>
                        <a:gd name="T3" fmla="*/ 0 h 38"/>
                        <a:gd name="T4" fmla="*/ 0 w 82"/>
                        <a:gd name="T5" fmla="*/ 0 h 38"/>
                        <a:gd name="T6" fmla="*/ 0 w 82"/>
                        <a:gd name="T7" fmla="*/ 0 h 38"/>
                        <a:gd name="T8" fmla="*/ 0 w 82"/>
                        <a:gd name="T9" fmla="*/ 0 h 38"/>
                        <a:gd name="T10" fmla="*/ 0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7"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5" name="Group 2351"/>
                  <p:cNvGrpSpPr>
                    <a:grpSpLocks/>
                  </p:cNvGrpSpPr>
                  <p:nvPr/>
                </p:nvGrpSpPr>
                <p:grpSpPr bwMode="auto">
                  <a:xfrm>
                    <a:off x="811" y="3612"/>
                    <a:ext cx="48" cy="23"/>
                    <a:chOff x="811" y="3612"/>
                    <a:chExt cx="48" cy="23"/>
                  </a:xfrm>
                </p:grpSpPr>
                <p:sp>
                  <p:nvSpPr>
                    <p:cNvPr id="298" name="Freeform 2352"/>
                    <p:cNvSpPr>
                      <a:spLocks/>
                    </p:cNvSpPr>
                    <p:nvPr/>
                  </p:nvSpPr>
                  <p:spPr bwMode="auto">
                    <a:xfrm>
                      <a:off x="811"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11"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9" name="Freeform 2353"/>
                    <p:cNvSpPr>
                      <a:spLocks/>
                    </p:cNvSpPr>
                    <p:nvPr/>
                  </p:nvSpPr>
                  <p:spPr bwMode="auto">
                    <a:xfrm>
                      <a:off x="815" y="3613"/>
                      <a:ext cx="38" cy="10"/>
                    </a:xfrm>
                    <a:custGeom>
                      <a:avLst/>
                      <a:gdLst>
                        <a:gd name="T0" fmla="*/ 1 w 75"/>
                        <a:gd name="T1" fmla="*/ 0 h 32"/>
                        <a:gd name="T2" fmla="*/ 1 w 75"/>
                        <a:gd name="T3" fmla="*/ 0 h 32"/>
                        <a:gd name="T4" fmla="*/ 1 w 75"/>
                        <a:gd name="T5" fmla="*/ 0 h 32"/>
                        <a:gd name="T6" fmla="*/ 1 w 75"/>
                        <a:gd name="T7" fmla="*/ 0 h 32"/>
                        <a:gd name="T8" fmla="*/ 1 w 75"/>
                        <a:gd name="T9" fmla="*/ 0 h 32"/>
                        <a:gd name="T10" fmla="*/ 1 w 75"/>
                        <a:gd name="T11" fmla="*/ 0 h 32"/>
                        <a:gd name="T12" fmla="*/ 1 w 75"/>
                        <a:gd name="T13" fmla="*/ 0 h 32"/>
                        <a:gd name="T14" fmla="*/ 0 w 75"/>
                        <a:gd name="T15" fmla="*/ 0 h 32"/>
                        <a:gd name="T16" fmla="*/ 1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3" y="0"/>
                          </a:moveTo>
                          <a:lnTo>
                            <a:pt x="52" y="0"/>
                          </a:lnTo>
                          <a:lnTo>
                            <a:pt x="53" y="3"/>
                          </a:lnTo>
                          <a:lnTo>
                            <a:pt x="57" y="15"/>
                          </a:lnTo>
                          <a:lnTo>
                            <a:pt x="75" y="32"/>
                          </a:lnTo>
                          <a:lnTo>
                            <a:pt x="19" y="32"/>
                          </a:lnTo>
                          <a:lnTo>
                            <a:pt x="10"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0" name="Freeform 2354"/>
                    <p:cNvSpPr>
                      <a:spLocks/>
                    </p:cNvSpPr>
                    <p:nvPr/>
                  </p:nvSpPr>
                  <p:spPr bwMode="auto">
                    <a:xfrm>
                      <a:off x="819"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1"/>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6" name="Group 2355"/>
                  <p:cNvGrpSpPr>
                    <a:grpSpLocks/>
                  </p:cNvGrpSpPr>
                  <p:nvPr/>
                </p:nvGrpSpPr>
                <p:grpSpPr bwMode="auto">
                  <a:xfrm>
                    <a:off x="823" y="3625"/>
                    <a:ext cx="49" cy="23"/>
                    <a:chOff x="823" y="3625"/>
                    <a:chExt cx="49" cy="23"/>
                  </a:xfrm>
                </p:grpSpPr>
                <p:sp>
                  <p:nvSpPr>
                    <p:cNvPr id="295" name="Freeform 2356"/>
                    <p:cNvSpPr>
                      <a:spLocks/>
                    </p:cNvSpPr>
                    <p:nvPr/>
                  </p:nvSpPr>
                  <p:spPr bwMode="auto">
                    <a:xfrm>
                      <a:off x="823" y="362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6" name="Freeform 2357"/>
                    <p:cNvSpPr>
                      <a:spLocks/>
                    </p:cNvSpPr>
                    <p:nvPr/>
                  </p:nvSpPr>
                  <p:spPr bwMode="auto">
                    <a:xfrm>
                      <a:off x="828"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7" name="Freeform 2358"/>
                    <p:cNvSpPr>
                      <a:spLocks/>
                    </p:cNvSpPr>
                    <p:nvPr/>
                  </p:nvSpPr>
                  <p:spPr bwMode="auto">
                    <a:xfrm>
                      <a:off x="832" y="363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7" name="Group 2359"/>
                  <p:cNvGrpSpPr>
                    <a:grpSpLocks/>
                  </p:cNvGrpSpPr>
                  <p:nvPr/>
                </p:nvGrpSpPr>
                <p:grpSpPr bwMode="auto">
                  <a:xfrm>
                    <a:off x="836" y="3638"/>
                    <a:ext cx="50" cy="22"/>
                    <a:chOff x="836" y="3638"/>
                    <a:chExt cx="50" cy="22"/>
                  </a:xfrm>
                </p:grpSpPr>
                <p:sp>
                  <p:nvSpPr>
                    <p:cNvPr id="292" name="Freeform 2360"/>
                    <p:cNvSpPr>
                      <a:spLocks/>
                    </p:cNvSpPr>
                    <p:nvPr/>
                  </p:nvSpPr>
                  <p:spPr bwMode="auto">
                    <a:xfrm>
                      <a:off x="836"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3" name="Freeform 2361"/>
                    <p:cNvSpPr>
                      <a:spLocks/>
                    </p:cNvSpPr>
                    <p:nvPr/>
                  </p:nvSpPr>
                  <p:spPr bwMode="auto">
                    <a:xfrm>
                      <a:off x="842"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5" y="12"/>
                          </a:lnTo>
                          <a:lnTo>
                            <a:pt x="72" y="30"/>
                          </a:lnTo>
                          <a:lnTo>
                            <a:pt x="17" y="30"/>
                          </a:lnTo>
                          <a:lnTo>
                            <a:pt x="8"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4" name="Freeform 2362"/>
                    <p:cNvSpPr>
                      <a:spLocks/>
                    </p:cNvSpPr>
                    <p:nvPr/>
                  </p:nvSpPr>
                  <p:spPr bwMode="auto">
                    <a:xfrm>
                      <a:off x="844" y="3648"/>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8" name="Group 2363"/>
                  <p:cNvGrpSpPr>
                    <a:grpSpLocks/>
                  </p:cNvGrpSpPr>
                  <p:nvPr/>
                </p:nvGrpSpPr>
                <p:grpSpPr bwMode="auto">
                  <a:xfrm>
                    <a:off x="849" y="3651"/>
                    <a:ext cx="49" cy="22"/>
                    <a:chOff x="849" y="3651"/>
                    <a:chExt cx="49" cy="22"/>
                  </a:xfrm>
                </p:grpSpPr>
                <p:sp>
                  <p:nvSpPr>
                    <p:cNvPr id="289" name="Freeform 2364"/>
                    <p:cNvSpPr>
                      <a:spLocks/>
                    </p:cNvSpPr>
                    <p:nvPr/>
                  </p:nvSpPr>
                  <p:spPr bwMode="auto">
                    <a:xfrm>
                      <a:off x="849" y="3651"/>
                      <a:ext cx="12" cy="22"/>
                    </a:xfrm>
                    <a:custGeom>
                      <a:avLst/>
                      <a:gdLst>
                        <a:gd name="T0" fmla="*/ 0 w 25"/>
                        <a:gd name="T1" fmla="*/ 0 h 67"/>
                        <a:gd name="T2" fmla="*/ 0 w 25"/>
                        <a:gd name="T3" fmla="*/ 0 h 67"/>
                        <a:gd name="T4" fmla="*/ 0 w 25"/>
                        <a:gd name="T5" fmla="*/ 0 h 67"/>
                        <a:gd name="T6" fmla="*/ 0 w 25"/>
                        <a:gd name="T7" fmla="*/ 0 h 67"/>
                        <a:gd name="T8" fmla="*/ 0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5" y="67"/>
                          </a:moveTo>
                          <a:lnTo>
                            <a:pt x="0" y="26"/>
                          </a:lnTo>
                          <a:lnTo>
                            <a:pt x="10" y="0"/>
                          </a:lnTo>
                          <a:lnTo>
                            <a:pt x="25"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 name="Freeform 2365"/>
                    <p:cNvSpPr>
                      <a:spLocks/>
                    </p:cNvSpPr>
                    <p:nvPr/>
                  </p:nvSpPr>
                  <p:spPr bwMode="auto">
                    <a:xfrm>
                      <a:off x="854"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7" y="11"/>
                          </a:lnTo>
                          <a:lnTo>
                            <a:pt x="74"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1" name="Freeform 2366"/>
                    <p:cNvSpPr>
                      <a:spLocks/>
                    </p:cNvSpPr>
                    <p:nvPr/>
                  </p:nvSpPr>
                  <p:spPr bwMode="auto">
                    <a:xfrm>
                      <a:off x="857" y="36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27" name="Group 2367"/>
                <p:cNvGrpSpPr>
                  <a:grpSpLocks/>
                </p:cNvGrpSpPr>
                <p:nvPr/>
              </p:nvGrpSpPr>
              <p:grpSpPr bwMode="auto">
                <a:xfrm>
                  <a:off x="861" y="3665"/>
                  <a:ext cx="99" cy="74"/>
                  <a:chOff x="861" y="3665"/>
                  <a:chExt cx="99" cy="74"/>
                </a:xfrm>
              </p:grpSpPr>
              <p:grpSp>
                <p:nvGrpSpPr>
                  <p:cNvPr id="264" name="Group 2368"/>
                  <p:cNvGrpSpPr>
                    <a:grpSpLocks/>
                  </p:cNvGrpSpPr>
                  <p:nvPr/>
                </p:nvGrpSpPr>
                <p:grpSpPr bwMode="auto">
                  <a:xfrm>
                    <a:off x="861" y="3665"/>
                    <a:ext cx="50" cy="23"/>
                    <a:chOff x="861" y="3665"/>
                    <a:chExt cx="50" cy="23"/>
                  </a:xfrm>
                </p:grpSpPr>
                <p:sp>
                  <p:nvSpPr>
                    <p:cNvPr id="281" name="Freeform 2369"/>
                    <p:cNvSpPr>
                      <a:spLocks/>
                    </p:cNvSpPr>
                    <p:nvPr/>
                  </p:nvSpPr>
                  <p:spPr bwMode="auto">
                    <a:xfrm>
                      <a:off x="861"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 name="Freeform 2370"/>
                    <p:cNvSpPr>
                      <a:spLocks/>
                    </p:cNvSpPr>
                    <p:nvPr/>
                  </p:nvSpPr>
                  <p:spPr bwMode="auto">
                    <a:xfrm>
                      <a:off x="865" y="3666"/>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4"/>
                          </a:lnTo>
                          <a:lnTo>
                            <a:pt x="57" y="13"/>
                          </a:lnTo>
                          <a:lnTo>
                            <a:pt x="75" y="31"/>
                          </a:lnTo>
                          <a:lnTo>
                            <a:pt x="19" y="31"/>
                          </a:lnTo>
                          <a:lnTo>
                            <a:pt x="11"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3" name="Freeform 2371"/>
                    <p:cNvSpPr>
                      <a:spLocks/>
                    </p:cNvSpPr>
                    <p:nvPr/>
                  </p:nvSpPr>
                  <p:spPr bwMode="auto">
                    <a:xfrm>
                      <a:off x="869"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5" name="Group 2372"/>
                  <p:cNvGrpSpPr>
                    <a:grpSpLocks/>
                  </p:cNvGrpSpPr>
                  <p:nvPr/>
                </p:nvGrpSpPr>
                <p:grpSpPr bwMode="auto">
                  <a:xfrm>
                    <a:off x="873" y="3678"/>
                    <a:ext cx="49" cy="23"/>
                    <a:chOff x="873" y="3678"/>
                    <a:chExt cx="49" cy="23"/>
                  </a:xfrm>
                </p:grpSpPr>
                <p:sp>
                  <p:nvSpPr>
                    <p:cNvPr id="278" name="Freeform 2373"/>
                    <p:cNvSpPr>
                      <a:spLocks/>
                    </p:cNvSpPr>
                    <p:nvPr/>
                  </p:nvSpPr>
                  <p:spPr bwMode="auto">
                    <a:xfrm>
                      <a:off x="873"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7"/>
                          </a:lnTo>
                          <a:lnTo>
                            <a:pt x="9" y="0"/>
                          </a:lnTo>
                          <a:lnTo>
                            <a:pt x="25"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9" name="Freeform 2374"/>
                    <p:cNvSpPr>
                      <a:spLocks/>
                    </p:cNvSpPr>
                    <p:nvPr/>
                  </p:nvSpPr>
                  <p:spPr bwMode="auto">
                    <a:xfrm>
                      <a:off x="878" y="3678"/>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0" y="0"/>
                          </a:lnTo>
                          <a:lnTo>
                            <a:pt x="52" y="3"/>
                          </a:lnTo>
                          <a:lnTo>
                            <a:pt x="57" y="12"/>
                          </a:lnTo>
                          <a:lnTo>
                            <a:pt x="75"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 name="Freeform 2375"/>
                    <p:cNvSpPr>
                      <a:spLocks/>
                    </p:cNvSpPr>
                    <p:nvPr/>
                  </p:nvSpPr>
                  <p:spPr bwMode="auto">
                    <a:xfrm>
                      <a:off x="880" y="3688"/>
                      <a:ext cx="42"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4" y="21"/>
                          </a:lnTo>
                          <a:lnTo>
                            <a:pt x="8" y="8"/>
                          </a:lnTo>
                          <a:lnTo>
                            <a:pt x="13"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6" name="Group 2376"/>
                  <p:cNvGrpSpPr>
                    <a:grpSpLocks/>
                  </p:cNvGrpSpPr>
                  <p:nvPr/>
                </p:nvGrpSpPr>
                <p:grpSpPr bwMode="auto">
                  <a:xfrm>
                    <a:off x="886" y="3690"/>
                    <a:ext cx="49" cy="23"/>
                    <a:chOff x="886" y="3690"/>
                    <a:chExt cx="49" cy="23"/>
                  </a:xfrm>
                </p:grpSpPr>
                <p:sp>
                  <p:nvSpPr>
                    <p:cNvPr id="275" name="Freeform 2377"/>
                    <p:cNvSpPr>
                      <a:spLocks/>
                    </p:cNvSpPr>
                    <p:nvPr/>
                  </p:nvSpPr>
                  <p:spPr bwMode="auto">
                    <a:xfrm>
                      <a:off x="886" y="3690"/>
                      <a:ext cx="12" cy="23"/>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4" y="70"/>
                          </a:moveTo>
                          <a:lnTo>
                            <a:pt x="0" y="29"/>
                          </a:lnTo>
                          <a:lnTo>
                            <a:pt x="10" y="0"/>
                          </a:lnTo>
                          <a:lnTo>
                            <a:pt x="24" y="33"/>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6" name="Freeform 2378"/>
                    <p:cNvSpPr>
                      <a:spLocks/>
                    </p:cNvSpPr>
                    <p:nvPr/>
                  </p:nvSpPr>
                  <p:spPr bwMode="auto">
                    <a:xfrm>
                      <a:off x="890"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2"/>
                          </a:lnTo>
                          <a:lnTo>
                            <a:pt x="57" y="11"/>
                          </a:lnTo>
                          <a:lnTo>
                            <a:pt x="75" y="31"/>
                          </a:lnTo>
                          <a:lnTo>
                            <a:pt x="19" y="31"/>
                          </a:lnTo>
                          <a:lnTo>
                            <a:pt x="10" y="22"/>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7" name="Freeform 2379"/>
                    <p:cNvSpPr>
                      <a:spLocks/>
                    </p:cNvSpPr>
                    <p:nvPr/>
                  </p:nvSpPr>
                  <p:spPr bwMode="auto">
                    <a:xfrm>
                      <a:off x="893" y="3701"/>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8" y="7"/>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7" name="Group 2380"/>
                  <p:cNvGrpSpPr>
                    <a:grpSpLocks/>
                  </p:cNvGrpSpPr>
                  <p:nvPr/>
                </p:nvGrpSpPr>
                <p:grpSpPr bwMode="auto">
                  <a:xfrm>
                    <a:off x="899" y="3703"/>
                    <a:ext cx="48" cy="23"/>
                    <a:chOff x="899" y="3703"/>
                    <a:chExt cx="48" cy="23"/>
                  </a:xfrm>
                </p:grpSpPr>
                <p:sp>
                  <p:nvSpPr>
                    <p:cNvPr id="272" name="Freeform 2381"/>
                    <p:cNvSpPr>
                      <a:spLocks/>
                    </p:cNvSpPr>
                    <p:nvPr/>
                  </p:nvSpPr>
                  <p:spPr bwMode="auto">
                    <a:xfrm>
                      <a:off x="899" y="3703"/>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10"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3" name="Freeform 2382"/>
                    <p:cNvSpPr>
                      <a:spLocks/>
                    </p:cNvSpPr>
                    <p:nvPr/>
                  </p:nvSpPr>
                  <p:spPr bwMode="auto">
                    <a:xfrm>
                      <a:off x="903" y="3703"/>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6" y="12"/>
                          </a:lnTo>
                          <a:lnTo>
                            <a:pt x="75"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4" name="Freeform 2383"/>
                    <p:cNvSpPr>
                      <a:spLocks/>
                    </p:cNvSpPr>
                    <p:nvPr/>
                  </p:nvSpPr>
                  <p:spPr bwMode="auto">
                    <a:xfrm>
                      <a:off x="907" y="3714"/>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5"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8" name="Group 2384"/>
                  <p:cNvGrpSpPr>
                    <a:grpSpLocks/>
                  </p:cNvGrpSpPr>
                  <p:nvPr/>
                </p:nvGrpSpPr>
                <p:grpSpPr bwMode="auto">
                  <a:xfrm>
                    <a:off x="912" y="3716"/>
                    <a:ext cx="48" cy="23"/>
                    <a:chOff x="912" y="3716"/>
                    <a:chExt cx="48" cy="23"/>
                  </a:xfrm>
                </p:grpSpPr>
                <p:sp>
                  <p:nvSpPr>
                    <p:cNvPr id="269" name="Freeform 2385"/>
                    <p:cNvSpPr>
                      <a:spLocks/>
                    </p:cNvSpPr>
                    <p:nvPr/>
                  </p:nvSpPr>
                  <p:spPr bwMode="auto">
                    <a:xfrm>
                      <a:off x="912" y="3716"/>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0" name="Freeform 2386"/>
                    <p:cNvSpPr>
                      <a:spLocks/>
                    </p:cNvSpPr>
                    <p:nvPr/>
                  </p:nvSpPr>
                  <p:spPr bwMode="auto">
                    <a:xfrm>
                      <a:off x="916" y="3717"/>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3"/>
                          </a:lnTo>
                          <a:lnTo>
                            <a:pt x="55" y="11"/>
                          </a:lnTo>
                          <a:lnTo>
                            <a:pt x="74" y="29"/>
                          </a:lnTo>
                          <a:lnTo>
                            <a:pt x="18" y="29"/>
                          </a:lnTo>
                          <a:lnTo>
                            <a:pt x="8"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1" name="Freeform 2387"/>
                    <p:cNvSpPr>
                      <a:spLocks/>
                    </p:cNvSpPr>
                    <p:nvPr/>
                  </p:nvSpPr>
                  <p:spPr bwMode="auto">
                    <a:xfrm>
                      <a:off x="919" y="3727"/>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1"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28" name="Group 2388"/>
                <p:cNvGrpSpPr>
                  <a:grpSpLocks/>
                </p:cNvGrpSpPr>
                <p:nvPr/>
              </p:nvGrpSpPr>
              <p:grpSpPr bwMode="auto">
                <a:xfrm>
                  <a:off x="922" y="3727"/>
                  <a:ext cx="49" cy="23"/>
                  <a:chOff x="922" y="3727"/>
                  <a:chExt cx="49" cy="23"/>
                </a:xfrm>
              </p:grpSpPr>
              <p:sp>
                <p:nvSpPr>
                  <p:cNvPr id="261" name="Freeform 2389"/>
                  <p:cNvSpPr>
                    <a:spLocks/>
                  </p:cNvSpPr>
                  <p:nvPr/>
                </p:nvSpPr>
                <p:spPr bwMode="auto">
                  <a:xfrm>
                    <a:off x="922" y="3727"/>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1"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2" name="Freeform 2390"/>
                  <p:cNvSpPr>
                    <a:spLocks/>
                  </p:cNvSpPr>
                  <p:nvPr/>
                </p:nvSpPr>
                <p:spPr bwMode="auto">
                  <a:xfrm>
                    <a:off x="927" y="3728"/>
                    <a:ext cx="36" cy="10"/>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49" y="0"/>
                        </a:lnTo>
                        <a:lnTo>
                          <a:pt x="50" y="4"/>
                        </a:lnTo>
                        <a:lnTo>
                          <a:pt x="56" y="13"/>
                        </a:lnTo>
                        <a:lnTo>
                          <a:pt x="72"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3" name="Freeform 2391"/>
                  <p:cNvSpPr>
                    <a:spLocks/>
                  </p:cNvSpPr>
                  <p:nvPr/>
                </p:nvSpPr>
                <p:spPr bwMode="auto">
                  <a:xfrm>
                    <a:off x="930"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9" name="Group 2392"/>
                <p:cNvGrpSpPr>
                  <a:grpSpLocks/>
                </p:cNvGrpSpPr>
                <p:nvPr/>
              </p:nvGrpSpPr>
              <p:grpSpPr bwMode="auto">
                <a:xfrm>
                  <a:off x="895" y="3526"/>
                  <a:ext cx="44" cy="23"/>
                  <a:chOff x="895" y="3526"/>
                  <a:chExt cx="44" cy="23"/>
                </a:xfrm>
              </p:grpSpPr>
              <p:sp>
                <p:nvSpPr>
                  <p:cNvPr id="258" name="Freeform 2393"/>
                  <p:cNvSpPr>
                    <a:spLocks/>
                  </p:cNvSpPr>
                  <p:nvPr/>
                </p:nvSpPr>
                <p:spPr bwMode="auto">
                  <a:xfrm>
                    <a:off x="895" y="3526"/>
                    <a:ext cx="19" cy="23"/>
                  </a:xfrm>
                  <a:custGeom>
                    <a:avLst/>
                    <a:gdLst>
                      <a:gd name="T0" fmla="*/ 1 w 38"/>
                      <a:gd name="T1" fmla="*/ 0 h 69"/>
                      <a:gd name="T2" fmla="*/ 0 w 38"/>
                      <a:gd name="T3" fmla="*/ 0 h 69"/>
                      <a:gd name="T4" fmla="*/ 1 w 38"/>
                      <a:gd name="T5" fmla="*/ 0 h 69"/>
                      <a:gd name="T6" fmla="*/ 1 w 38"/>
                      <a:gd name="T7" fmla="*/ 0 h 69"/>
                      <a:gd name="T8" fmla="*/ 1 w 38"/>
                      <a:gd name="T9" fmla="*/ 0 h 69"/>
                      <a:gd name="T10" fmla="*/ 0 60000 65536"/>
                      <a:gd name="T11" fmla="*/ 0 60000 65536"/>
                      <a:gd name="T12" fmla="*/ 0 60000 65536"/>
                      <a:gd name="T13" fmla="*/ 0 60000 65536"/>
                      <a:gd name="T14" fmla="*/ 0 60000 65536"/>
                      <a:gd name="T15" fmla="*/ 0 w 38"/>
                      <a:gd name="T16" fmla="*/ 0 h 69"/>
                      <a:gd name="T17" fmla="*/ 38 w 38"/>
                      <a:gd name="T18" fmla="*/ 69 h 69"/>
                    </a:gdLst>
                    <a:ahLst/>
                    <a:cxnLst>
                      <a:cxn ang="T10">
                        <a:pos x="T0" y="T1"/>
                      </a:cxn>
                      <a:cxn ang="T11">
                        <a:pos x="T2" y="T3"/>
                      </a:cxn>
                      <a:cxn ang="T12">
                        <a:pos x="T4" y="T5"/>
                      </a:cxn>
                      <a:cxn ang="T13">
                        <a:pos x="T6" y="T7"/>
                      </a:cxn>
                      <a:cxn ang="T14">
                        <a:pos x="T8" y="T9"/>
                      </a:cxn>
                    </a:cxnLst>
                    <a:rect l="T15" t="T16" r="T17" b="T18"/>
                    <a:pathLst>
                      <a:path w="38" h="69">
                        <a:moveTo>
                          <a:pt x="22" y="69"/>
                        </a:moveTo>
                        <a:lnTo>
                          <a:pt x="0" y="34"/>
                        </a:lnTo>
                        <a:lnTo>
                          <a:pt x="11" y="0"/>
                        </a:lnTo>
                        <a:lnTo>
                          <a:pt x="38"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9" name="Freeform 2394"/>
                  <p:cNvSpPr>
                    <a:spLocks/>
                  </p:cNvSpPr>
                  <p:nvPr/>
                </p:nvSpPr>
                <p:spPr bwMode="auto">
                  <a:xfrm>
                    <a:off x="901" y="3526"/>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0" y="0"/>
                        </a:lnTo>
                        <a:lnTo>
                          <a:pt x="64" y="35"/>
                        </a:lnTo>
                        <a:lnTo>
                          <a:pt x="23"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0" name="Freeform 2395"/>
                  <p:cNvSpPr>
                    <a:spLocks/>
                  </p:cNvSpPr>
                  <p:nvPr/>
                </p:nvSpPr>
                <p:spPr bwMode="auto">
                  <a:xfrm>
                    <a:off x="907" y="3538"/>
                    <a:ext cx="32" cy="11"/>
                  </a:xfrm>
                  <a:custGeom>
                    <a:avLst/>
                    <a:gdLst>
                      <a:gd name="T0" fmla="*/ 0 w 65"/>
                      <a:gd name="T1" fmla="*/ 0 h 31"/>
                      <a:gd name="T2" fmla="*/ 0 w 65"/>
                      <a:gd name="T3" fmla="*/ 0 h 31"/>
                      <a:gd name="T4" fmla="*/ 0 w 65"/>
                      <a:gd name="T5" fmla="*/ 0 h 31"/>
                      <a:gd name="T6" fmla="*/ 0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3" y="0"/>
                        </a:lnTo>
                        <a:lnTo>
                          <a:pt x="54"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0" name="Group 2396"/>
                <p:cNvGrpSpPr>
                  <a:grpSpLocks/>
                </p:cNvGrpSpPr>
                <p:nvPr/>
              </p:nvGrpSpPr>
              <p:grpSpPr bwMode="auto">
                <a:xfrm>
                  <a:off x="907" y="3540"/>
                  <a:ext cx="45" cy="22"/>
                  <a:chOff x="907" y="3540"/>
                  <a:chExt cx="45" cy="22"/>
                </a:xfrm>
              </p:grpSpPr>
              <p:sp>
                <p:nvSpPr>
                  <p:cNvPr id="255" name="Freeform 2397"/>
                  <p:cNvSpPr>
                    <a:spLocks/>
                  </p:cNvSpPr>
                  <p:nvPr/>
                </p:nvSpPr>
                <p:spPr bwMode="auto">
                  <a:xfrm>
                    <a:off x="907" y="3540"/>
                    <a:ext cx="20" cy="22"/>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4"/>
                        </a:lnTo>
                        <a:lnTo>
                          <a:pt x="11" y="0"/>
                        </a:lnTo>
                        <a:lnTo>
                          <a:pt x="39" y="34"/>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6" name="Freeform 2398"/>
                  <p:cNvSpPr>
                    <a:spLocks/>
                  </p:cNvSpPr>
                  <p:nvPr/>
                </p:nvSpPr>
                <p:spPr bwMode="auto">
                  <a:xfrm>
                    <a:off x="914" y="3540"/>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7" name="Freeform 2399"/>
                  <p:cNvSpPr>
                    <a:spLocks/>
                  </p:cNvSpPr>
                  <p:nvPr/>
                </p:nvSpPr>
                <p:spPr bwMode="auto">
                  <a:xfrm>
                    <a:off x="919" y="3552"/>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1" name="Group 2400"/>
                <p:cNvGrpSpPr>
                  <a:grpSpLocks/>
                </p:cNvGrpSpPr>
                <p:nvPr/>
              </p:nvGrpSpPr>
              <p:grpSpPr bwMode="auto">
                <a:xfrm>
                  <a:off x="920" y="3553"/>
                  <a:ext cx="45" cy="23"/>
                  <a:chOff x="920" y="3553"/>
                  <a:chExt cx="45" cy="23"/>
                </a:xfrm>
              </p:grpSpPr>
              <p:sp>
                <p:nvSpPr>
                  <p:cNvPr id="252" name="Freeform 2401"/>
                  <p:cNvSpPr>
                    <a:spLocks/>
                  </p:cNvSpPr>
                  <p:nvPr/>
                </p:nvSpPr>
                <p:spPr bwMode="auto">
                  <a:xfrm>
                    <a:off x="920" y="3553"/>
                    <a:ext cx="20" cy="23"/>
                  </a:xfrm>
                  <a:custGeom>
                    <a:avLst/>
                    <a:gdLst>
                      <a:gd name="T0" fmla="*/ 0 w 41"/>
                      <a:gd name="T1" fmla="*/ 0 h 68"/>
                      <a:gd name="T2" fmla="*/ 0 w 41"/>
                      <a:gd name="T3" fmla="*/ 0 h 68"/>
                      <a:gd name="T4" fmla="*/ 0 w 41"/>
                      <a:gd name="T5" fmla="*/ 0 h 68"/>
                      <a:gd name="T6" fmla="*/ 0 w 41"/>
                      <a:gd name="T7" fmla="*/ 0 h 68"/>
                      <a:gd name="T8" fmla="*/ 0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4"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3" name="Freeform 2402"/>
                  <p:cNvSpPr>
                    <a:spLocks/>
                  </p:cNvSpPr>
                  <p:nvPr/>
                </p:nvSpPr>
                <p:spPr bwMode="auto">
                  <a:xfrm>
                    <a:off x="927" y="3554"/>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39"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4" name="Freeform 2403"/>
                  <p:cNvSpPr>
                    <a:spLocks/>
                  </p:cNvSpPr>
                  <p:nvPr/>
                </p:nvSpPr>
                <p:spPr bwMode="auto">
                  <a:xfrm>
                    <a:off x="932" y="3566"/>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3"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2" name="Group 2404"/>
                <p:cNvGrpSpPr>
                  <a:grpSpLocks/>
                </p:cNvGrpSpPr>
                <p:nvPr/>
              </p:nvGrpSpPr>
              <p:grpSpPr bwMode="auto">
                <a:xfrm>
                  <a:off x="934" y="3566"/>
                  <a:ext cx="44" cy="23"/>
                  <a:chOff x="934" y="3566"/>
                  <a:chExt cx="44" cy="23"/>
                </a:xfrm>
              </p:grpSpPr>
              <p:sp>
                <p:nvSpPr>
                  <p:cNvPr id="249" name="Freeform 2405"/>
                  <p:cNvSpPr>
                    <a:spLocks/>
                  </p:cNvSpPr>
                  <p:nvPr/>
                </p:nvSpPr>
                <p:spPr bwMode="auto">
                  <a:xfrm>
                    <a:off x="934" y="356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2" y="68"/>
                        </a:moveTo>
                        <a:lnTo>
                          <a:pt x="0" y="33"/>
                        </a:lnTo>
                        <a:lnTo>
                          <a:pt x="12" y="0"/>
                        </a:lnTo>
                        <a:lnTo>
                          <a:pt x="40"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0" name="Freeform 2406"/>
                  <p:cNvSpPr>
                    <a:spLocks/>
                  </p:cNvSpPr>
                  <p:nvPr/>
                </p:nvSpPr>
                <p:spPr bwMode="auto">
                  <a:xfrm>
                    <a:off x="940" y="3567"/>
                    <a:ext cx="32" cy="11"/>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1"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1" name="Freeform 2407"/>
                  <p:cNvSpPr>
                    <a:spLocks/>
                  </p:cNvSpPr>
                  <p:nvPr/>
                </p:nvSpPr>
                <p:spPr bwMode="auto">
                  <a:xfrm>
                    <a:off x="945" y="3579"/>
                    <a:ext cx="33" cy="9"/>
                  </a:xfrm>
                  <a:custGeom>
                    <a:avLst/>
                    <a:gdLst>
                      <a:gd name="T0" fmla="*/ 0 w 65"/>
                      <a:gd name="T1" fmla="*/ 0 h 28"/>
                      <a:gd name="T2" fmla="*/ 1 w 65"/>
                      <a:gd name="T3" fmla="*/ 0 h 28"/>
                      <a:gd name="T4" fmla="*/ 1 w 65"/>
                      <a:gd name="T5" fmla="*/ 0 h 28"/>
                      <a:gd name="T6" fmla="*/ 1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3" y="0"/>
                        </a:lnTo>
                        <a:lnTo>
                          <a:pt x="54"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3" name="Group 2408"/>
                <p:cNvGrpSpPr>
                  <a:grpSpLocks/>
                </p:cNvGrpSpPr>
                <p:nvPr/>
              </p:nvGrpSpPr>
              <p:grpSpPr bwMode="auto">
                <a:xfrm>
                  <a:off x="949" y="3579"/>
                  <a:ext cx="83" cy="63"/>
                  <a:chOff x="949" y="3579"/>
                  <a:chExt cx="83" cy="63"/>
                </a:xfrm>
              </p:grpSpPr>
              <p:grpSp>
                <p:nvGrpSpPr>
                  <p:cNvPr id="233" name="Group 2409"/>
                  <p:cNvGrpSpPr>
                    <a:grpSpLocks/>
                  </p:cNvGrpSpPr>
                  <p:nvPr/>
                </p:nvGrpSpPr>
                <p:grpSpPr bwMode="auto">
                  <a:xfrm>
                    <a:off x="949" y="3579"/>
                    <a:ext cx="44" cy="23"/>
                    <a:chOff x="949" y="3579"/>
                    <a:chExt cx="44" cy="23"/>
                  </a:xfrm>
                </p:grpSpPr>
                <p:sp>
                  <p:nvSpPr>
                    <p:cNvPr id="246" name="Freeform 2410"/>
                    <p:cNvSpPr>
                      <a:spLocks/>
                    </p:cNvSpPr>
                    <p:nvPr/>
                  </p:nvSpPr>
                  <p:spPr bwMode="auto">
                    <a:xfrm>
                      <a:off x="949" y="3579"/>
                      <a:ext cx="19" cy="23"/>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2"/>
                          </a:lnTo>
                          <a:lnTo>
                            <a:pt x="11" y="0"/>
                          </a:lnTo>
                          <a:lnTo>
                            <a:pt x="38" y="32"/>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7" name="Freeform 2411"/>
                    <p:cNvSpPr>
                      <a:spLocks/>
                    </p:cNvSpPr>
                    <p:nvPr/>
                  </p:nvSpPr>
                  <p:spPr bwMode="auto">
                    <a:xfrm>
                      <a:off x="955" y="3579"/>
                      <a:ext cx="32" cy="11"/>
                    </a:xfrm>
                    <a:custGeom>
                      <a:avLst/>
                      <a:gdLst>
                        <a:gd name="T0" fmla="*/ 0 w 66"/>
                        <a:gd name="T1" fmla="*/ 0 h 32"/>
                        <a:gd name="T2" fmla="*/ 0 w 66"/>
                        <a:gd name="T3" fmla="*/ 0 h 32"/>
                        <a:gd name="T4" fmla="*/ 0 w 66"/>
                        <a:gd name="T5" fmla="*/ 0 h 32"/>
                        <a:gd name="T6" fmla="*/ 0 w 66"/>
                        <a:gd name="T7" fmla="*/ 0 h 32"/>
                        <a:gd name="T8" fmla="*/ 0 w 66"/>
                        <a:gd name="T9" fmla="*/ 0 h 32"/>
                        <a:gd name="T10" fmla="*/ 0 60000 65536"/>
                        <a:gd name="T11" fmla="*/ 0 60000 65536"/>
                        <a:gd name="T12" fmla="*/ 0 60000 65536"/>
                        <a:gd name="T13" fmla="*/ 0 60000 65536"/>
                        <a:gd name="T14" fmla="*/ 0 60000 65536"/>
                        <a:gd name="T15" fmla="*/ 0 w 66"/>
                        <a:gd name="T16" fmla="*/ 0 h 32"/>
                        <a:gd name="T17" fmla="*/ 66 w 66"/>
                        <a:gd name="T18" fmla="*/ 32 h 32"/>
                      </a:gdLst>
                      <a:ahLst/>
                      <a:cxnLst>
                        <a:cxn ang="T10">
                          <a:pos x="T0" y="T1"/>
                        </a:cxn>
                        <a:cxn ang="T11">
                          <a:pos x="T2" y="T3"/>
                        </a:cxn>
                        <a:cxn ang="T12">
                          <a:pos x="T4" y="T5"/>
                        </a:cxn>
                        <a:cxn ang="T13">
                          <a:pos x="T6" y="T7"/>
                        </a:cxn>
                        <a:cxn ang="T14">
                          <a:pos x="T8" y="T9"/>
                        </a:cxn>
                      </a:cxnLst>
                      <a:rect l="T15" t="T16" r="T17" b="T18"/>
                      <a:pathLst>
                        <a:path w="66" h="32">
                          <a:moveTo>
                            <a:pt x="0" y="0"/>
                          </a:moveTo>
                          <a:lnTo>
                            <a:pt x="42" y="0"/>
                          </a:lnTo>
                          <a:lnTo>
                            <a:pt x="66" y="32"/>
                          </a:lnTo>
                          <a:lnTo>
                            <a:pt x="25"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8" name="Freeform 2412"/>
                    <p:cNvSpPr>
                      <a:spLocks/>
                    </p:cNvSpPr>
                    <p:nvPr/>
                  </p:nvSpPr>
                  <p:spPr bwMode="auto">
                    <a:xfrm>
                      <a:off x="960" y="3591"/>
                      <a:ext cx="33" cy="10"/>
                    </a:xfrm>
                    <a:custGeom>
                      <a:avLst/>
                      <a:gdLst>
                        <a:gd name="T0" fmla="*/ 0 w 65"/>
                        <a:gd name="T1" fmla="*/ 0 h 31"/>
                        <a:gd name="T2" fmla="*/ 1 w 65"/>
                        <a:gd name="T3" fmla="*/ 0 h 31"/>
                        <a:gd name="T4" fmla="*/ 1 w 65"/>
                        <a:gd name="T5" fmla="*/ 0 h 31"/>
                        <a:gd name="T6" fmla="*/ 1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4" y="0"/>
                          </a:lnTo>
                          <a:lnTo>
                            <a:pt x="55"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4" name="Group 2413"/>
                  <p:cNvGrpSpPr>
                    <a:grpSpLocks/>
                  </p:cNvGrpSpPr>
                  <p:nvPr/>
                </p:nvGrpSpPr>
                <p:grpSpPr bwMode="auto">
                  <a:xfrm>
                    <a:off x="961" y="3592"/>
                    <a:ext cx="45" cy="23"/>
                    <a:chOff x="961" y="3592"/>
                    <a:chExt cx="45" cy="23"/>
                  </a:xfrm>
                </p:grpSpPr>
                <p:sp>
                  <p:nvSpPr>
                    <p:cNvPr id="243" name="Freeform 2414"/>
                    <p:cNvSpPr>
                      <a:spLocks/>
                    </p:cNvSpPr>
                    <p:nvPr/>
                  </p:nvSpPr>
                  <p:spPr bwMode="auto">
                    <a:xfrm>
                      <a:off x="961" y="3592"/>
                      <a:ext cx="20" cy="23"/>
                    </a:xfrm>
                    <a:custGeom>
                      <a:avLst/>
                      <a:gdLst>
                        <a:gd name="T0" fmla="*/ 1 w 40"/>
                        <a:gd name="T1" fmla="*/ 0 h 69"/>
                        <a:gd name="T2" fmla="*/ 0 w 40"/>
                        <a:gd name="T3" fmla="*/ 0 h 69"/>
                        <a:gd name="T4" fmla="*/ 1 w 40"/>
                        <a:gd name="T5" fmla="*/ 0 h 69"/>
                        <a:gd name="T6" fmla="*/ 1 w 40"/>
                        <a:gd name="T7" fmla="*/ 0 h 69"/>
                        <a:gd name="T8" fmla="*/ 1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3"/>
                          </a:lnTo>
                          <a:lnTo>
                            <a:pt x="12" y="0"/>
                          </a:lnTo>
                          <a:lnTo>
                            <a:pt x="40"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 name="Freeform 2415"/>
                    <p:cNvSpPr>
                      <a:spLocks/>
                    </p:cNvSpPr>
                    <p:nvPr/>
                  </p:nvSpPr>
                  <p:spPr bwMode="auto">
                    <a:xfrm>
                      <a:off x="968" y="3593"/>
                      <a:ext cx="33" cy="11"/>
                    </a:xfrm>
                    <a:custGeom>
                      <a:avLst/>
                      <a:gdLst>
                        <a:gd name="T0" fmla="*/ 0 w 66"/>
                        <a:gd name="T1" fmla="*/ 0 h 35"/>
                        <a:gd name="T2" fmla="*/ 1 w 66"/>
                        <a:gd name="T3" fmla="*/ 0 h 35"/>
                        <a:gd name="T4" fmla="*/ 1 w 66"/>
                        <a:gd name="T5" fmla="*/ 0 h 35"/>
                        <a:gd name="T6" fmla="*/ 1 w 66"/>
                        <a:gd name="T7" fmla="*/ 0 h 35"/>
                        <a:gd name="T8" fmla="*/ 0 w 66"/>
                        <a:gd name="T9" fmla="*/ 0 h 35"/>
                        <a:gd name="T10" fmla="*/ 0 60000 65536"/>
                        <a:gd name="T11" fmla="*/ 0 60000 65536"/>
                        <a:gd name="T12" fmla="*/ 0 60000 65536"/>
                        <a:gd name="T13" fmla="*/ 0 60000 65536"/>
                        <a:gd name="T14" fmla="*/ 0 60000 65536"/>
                        <a:gd name="T15" fmla="*/ 0 w 66"/>
                        <a:gd name="T16" fmla="*/ 0 h 35"/>
                        <a:gd name="T17" fmla="*/ 66 w 66"/>
                        <a:gd name="T18" fmla="*/ 35 h 35"/>
                      </a:gdLst>
                      <a:ahLst/>
                      <a:cxnLst>
                        <a:cxn ang="T10">
                          <a:pos x="T0" y="T1"/>
                        </a:cxn>
                        <a:cxn ang="T11">
                          <a:pos x="T2" y="T3"/>
                        </a:cxn>
                        <a:cxn ang="T12">
                          <a:pos x="T4" y="T5"/>
                        </a:cxn>
                        <a:cxn ang="T13">
                          <a:pos x="T6" y="T7"/>
                        </a:cxn>
                        <a:cxn ang="T14">
                          <a:pos x="T8" y="T9"/>
                        </a:cxn>
                      </a:cxnLst>
                      <a:rect l="T15" t="T16" r="T17" b="T18"/>
                      <a:pathLst>
                        <a:path w="66" h="35">
                          <a:moveTo>
                            <a:pt x="0" y="0"/>
                          </a:moveTo>
                          <a:lnTo>
                            <a:pt x="41" y="0"/>
                          </a:lnTo>
                          <a:lnTo>
                            <a:pt x="66"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5" name="Freeform 2416"/>
                    <p:cNvSpPr>
                      <a:spLocks/>
                    </p:cNvSpPr>
                    <p:nvPr/>
                  </p:nvSpPr>
                  <p:spPr bwMode="auto">
                    <a:xfrm>
                      <a:off x="973" y="3605"/>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3" y="0"/>
                          </a:lnTo>
                          <a:lnTo>
                            <a:pt x="55"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5" name="Group 2417"/>
                  <p:cNvGrpSpPr>
                    <a:grpSpLocks/>
                  </p:cNvGrpSpPr>
                  <p:nvPr/>
                </p:nvGrpSpPr>
                <p:grpSpPr bwMode="auto">
                  <a:xfrm>
                    <a:off x="974" y="3606"/>
                    <a:ext cx="44" cy="23"/>
                    <a:chOff x="974" y="3606"/>
                    <a:chExt cx="44" cy="23"/>
                  </a:xfrm>
                </p:grpSpPr>
                <p:sp>
                  <p:nvSpPr>
                    <p:cNvPr id="240" name="Freeform 2418"/>
                    <p:cNvSpPr>
                      <a:spLocks/>
                    </p:cNvSpPr>
                    <p:nvPr/>
                  </p:nvSpPr>
                  <p:spPr bwMode="auto">
                    <a:xfrm>
                      <a:off x="974" y="360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5"/>
                          </a:lnTo>
                          <a:lnTo>
                            <a:pt x="12" y="0"/>
                          </a:lnTo>
                          <a:lnTo>
                            <a:pt x="40" y="35"/>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1" name="Freeform 2419"/>
                    <p:cNvSpPr>
                      <a:spLocks/>
                    </p:cNvSpPr>
                    <p:nvPr/>
                  </p:nvSpPr>
                  <p:spPr bwMode="auto">
                    <a:xfrm>
                      <a:off x="980" y="3606"/>
                      <a:ext cx="32" cy="12"/>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2"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2" name="Freeform 2420"/>
                    <p:cNvSpPr>
                      <a:spLocks/>
                    </p:cNvSpPr>
                    <p:nvPr/>
                  </p:nvSpPr>
                  <p:spPr bwMode="auto">
                    <a:xfrm>
                      <a:off x="986" y="3619"/>
                      <a:ext cx="32" cy="9"/>
                    </a:xfrm>
                    <a:custGeom>
                      <a:avLst/>
                      <a:gdLst>
                        <a:gd name="T0" fmla="*/ 0 w 65"/>
                        <a:gd name="T1" fmla="*/ 0 h 29"/>
                        <a:gd name="T2" fmla="*/ 0 w 65"/>
                        <a:gd name="T3" fmla="*/ 0 h 29"/>
                        <a:gd name="T4" fmla="*/ 0 w 65"/>
                        <a:gd name="T5" fmla="*/ 0 h 29"/>
                        <a:gd name="T6" fmla="*/ 0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2"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6" name="Group 2421"/>
                  <p:cNvGrpSpPr>
                    <a:grpSpLocks/>
                  </p:cNvGrpSpPr>
                  <p:nvPr/>
                </p:nvGrpSpPr>
                <p:grpSpPr bwMode="auto">
                  <a:xfrm>
                    <a:off x="987" y="3619"/>
                    <a:ext cx="45" cy="23"/>
                    <a:chOff x="987" y="3619"/>
                    <a:chExt cx="45" cy="23"/>
                  </a:xfrm>
                </p:grpSpPr>
                <p:sp>
                  <p:nvSpPr>
                    <p:cNvPr id="237" name="Freeform 2422"/>
                    <p:cNvSpPr>
                      <a:spLocks/>
                    </p:cNvSpPr>
                    <p:nvPr/>
                  </p:nvSpPr>
                  <p:spPr bwMode="auto">
                    <a:xfrm>
                      <a:off x="987" y="3619"/>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3"/>
                          </a:lnTo>
                          <a:lnTo>
                            <a:pt x="12" y="0"/>
                          </a:lnTo>
                          <a:lnTo>
                            <a:pt x="39"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8" name="Freeform 2423"/>
                    <p:cNvSpPr>
                      <a:spLocks/>
                    </p:cNvSpPr>
                    <p:nvPr/>
                  </p:nvSpPr>
                  <p:spPr bwMode="auto">
                    <a:xfrm>
                      <a:off x="994" y="3620"/>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5"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9" name="Freeform 2424"/>
                    <p:cNvSpPr>
                      <a:spLocks/>
                    </p:cNvSpPr>
                    <p:nvPr/>
                  </p:nvSpPr>
                  <p:spPr bwMode="auto">
                    <a:xfrm>
                      <a:off x="999" y="3632"/>
                      <a:ext cx="33" cy="9"/>
                    </a:xfrm>
                    <a:custGeom>
                      <a:avLst/>
                      <a:gdLst>
                        <a:gd name="T0" fmla="*/ 0 w 65"/>
                        <a:gd name="T1" fmla="*/ 0 h 29"/>
                        <a:gd name="T2" fmla="*/ 1 w 65"/>
                        <a:gd name="T3" fmla="*/ 0 h 29"/>
                        <a:gd name="T4" fmla="*/ 1 w 65"/>
                        <a:gd name="T5" fmla="*/ 0 h 29"/>
                        <a:gd name="T6" fmla="*/ 1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4"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34" name="Group 2425"/>
                <p:cNvGrpSpPr>
                  <a:grpSpLocks/>
                </p:cNvGrpSpPr>
                <p:nvPr/>
              </p:nvGrpSpPr>
              <p:grpSpPr bwMode="auto">
                <a:xfrm>
                  <a:off x="1002" y="3632"/>
                  <a:ext cx="83" cy="63"/>
                  <a:chOff x="1002" y="3632"/>
                  <a:chExt cx="83" cy="63"/>
                </a:xfrm>
              </p:grpSpPr>
              <p:grpSp>
                <p:nvGrpSpPr>
                  <p:cNvPr id="217" name="Group 2426"/>
                  <p:cNvGrpSpPr>
                    <a:grpSpLocks/>
                  </p:cNvGrpSpPr>
                  <p:nvPr/>
                </p:nvGrpSpPr>
                <p:grpSpPr bwMode="auto">
                  <a:xfrm>
                    <a:off x="1002" y="3632"/>
                    <a:ext cx="44" cy="22"/>
                    <a:chOff x="1002" y="3632"/>
                    <a:chExt cx="44" cy="22"/>
                  </a:xfrm>
                </p:grpSpPr>
                <p:sp>
                  <p:nvSpPr>
                    <p:cNvPr id="230" name="Freeform 2427"/>
                    <p:cNvSpPr>
                      <a:spLocks/>
                    </p:cNvSpPr>
                    <p:nvPr/>
                  </p:nvSpPr>
                  <p:spPr bwMode="auto">
                    <a:xfrm>
                      <a:off x="1002" y="3632"/>
                      <a:ext cx="19" cy="22"/>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3"/>
                          </a:lnTo>
                          <a:lnTo>
                            <a:pt x="10" y="0"/>
                          </a:lnTo>
                          <a:lnTo>
                            <a:pt x="38" y="33"/>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1" name="Freeform 2428"/>
                    <p:cNvSpPr>
                      <a:spLocks/>
                    </p:cNvSpPr>
                    <p:nvPr/>
                  </p:nvSpPr>
                  <p:spPr bwMode="auto">
                    <a:xfrm>
                      <a:off x="1008" y="3632"/>
                      <a:ext cx="33" cy="12"/>
                    </a:xfrm>
                    <a:custGeom>
                      <a:avLst/>
                      <a:gdLst>
                        <a:gd name="T0" fmla="*/ 0 w 65"/>
                        <a:gd name="T1" fmla="*/ 0 h 35"/>
                        <a:gd name="T2" fmla="*/ 1 w 65"/>
                        <a:gd name="T3" fmla="*/ 0 h 35"/>
                        <a:gd name="T4" fmla="*/ 1 w 65"/>
                        <a:gd name="T5" fmla="*/ 0 h 35"/>
                        <a:gd name="T6" fmla="*/ 1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0"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2" name="Freeform 2429"/>
                    <p:cNvSpPr>
                      <a:spLocks/>
                    </p:cNvSpPr>
                    <p:nvPr/>
                  </p:nvSpPr>
                  <p:spPr bwMode="auto">
                    <a:xfrm>
                      <a:off x="1013" y="3644"/>
                      <a:ext cx="33" cy="10"/>
                    </a:xfrm>
                    <a:custGeom>
                      <a:avLst/>
                      <a:gdLst>
                        <a:gd name="T0" fmla="*/ 0 w 66"/>
                        <a:gd name="T1" fmla="*/ 0 h 28"/>
                        <a:gd name="T2" fmla="*/ 1 w 66"/>
                        <a:gd name="T3" fmla="*/ 0 h 28"/>
                        <a:gd name="T4" fmla="*/ 1 w 66"/>
                        <a:gd name="T5" fmla="*/ 0 h 28"/>
                        <a:gd name="T6" fmla="*/ 1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3" y="0"/>
                          </a:lnTo>
                          <a:lnTo>
                            <a:pt x="55"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8" name="Group 2430"/>
                  <p:cNvGrpSpPr>
                    <a:grpSpLocks/>
                  </p:cNvGrpSpPr>
                  <p:nvPr/>
                </p:nvGrpSpPr>
                <p:grpSpPr bwMode="auto">
                  <a:xfrm>
                    <a:off x="1014" y="3645"/>
                    <a:ext cx="44" cy="23"/>
                    <a:chOff x="1014" y="3645"/>
                    <a:chExt cx="44" cy="23"/>
                  </a:xfrm>
                </p:grpSpPr>
                <p:sp>
                  <p:nvSpPr>
                    <p:cNvPr id="227" name="Freeform 2431"/>
                    <p:cNvSpPr>
                      <a:spLocks/>
                    </p:cNvSpPr>
                    <p:nvPr/>
                  </p:nvSpPr>
                  <p:spPr bwMode="auto">
                    <a:xfrm>
                      <a:off x="1014" y="3645"/>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4"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8" name="Freeform 2432"/>
                    <p:cNvSpPr>
                      <a:spLocks/>
                    </p:cNvSpPr>
                    <p:nvPr/>
                  </p:nvSpPr>
                  <p:spPr bwMode="auto">
                    <a:xfrm>
                      <a:off x="1021" y="3646"/>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41"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9" name="Freeform 2433"/>
                    <p:cNvSpPr>
                      <a:spLocks/>
                    </p:cNvSpPr>
                    <p:nvPr/>
                  </p:nvSpPr>
                  <p:spPr bwMode="auto">
                    <a:xfrm>
                      <a:off x="1026" y="3658"/>
                      <a:ext cx="32" cy="10"/>
                    </a:xfrm>
                    <a:custGeom>
                      <a:avLst/>
                      <a:gdLst>
                        <a:gd name="T0" fmla="*/ 0 w 65"/>
                        <a:gd name="T1" fmla="*/ 0 h 30"/>
                        <a:gd name="T2" fmla="*/ 0 w 65"/>
                        <a:gd name="T3" fmla="*/ 0 h 30"/>
                        <a:gd name="T4" fmla="*/ 0 w 65"/>
                        <a:gd name="T5" fmla="*/ 0 h 30"/>
                        <a:gd name="T6" fmla="*/ 0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2"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9" name="Group 2434"/>
                  <p:cNvGrpSpPr>
                    <a:grpSpLocks/>
                  </p:cNvGrpSpPr>
                  <p:nvPr/>
                </p:nvGrpSpPr>
                <p:grpSpPr bwMode="auto">
                  <a:xfrm>
                    <a:off x="1027" y="3659"/>
                    <a:ext cx="45" cy="23"/>
                    <a:chOff x="1027" y="3659"/>
                    <a:chExt cx="45" cy="23"/>
                  </a:xfrm>
                </p:grpSpPr>
                <p:sp>
                  <p:nvSpPr>
                    <p:cNvPr id="224" name="Freeform 2435"/>
                    <p:cNvSpPr>
                      <a:spLocks/>
                    </p:cNvSpPr>
                    <p:nvPr/>
                  </p:nvSpPr>
                  <p:spPr bwMode="auto">
                    <a:xfrm>
                      <a:off x="1027" y="3659"/>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2" y="70"/>
                          </a:moveTo>
                          <a:lnTo>
                            <a:pt x="0" y="34"/>
                          </a:lnTo>
                          <a:lnTo>
                            <a:pt x="12" y="0"/>
                          </a:lnTo>
                          <a:lnTo>
                            <a:pt x="39" y="34"/>
                          </a:lnTo>
                          <a:lnTo>
                            <a:pt x="22"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5" name="Freeform 2436"/>
                    <p:cNvSpPr>
                      <a:spLocks/>
                    </p:cNvSpPr>
                    <p:nvPr/>
                  </p:nvSpPr>
                  <p:spPr bwMode="auto">
                    <a:xfrm>
                      <a:off x="1033" y="3659"/>
                      <a:ext cx="33"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6" name="Freeform 2437"/>
                    <p:cNvSpPr>
                      <a:spLocks/>
                    </p:cNvSpPr>
                    <p:nvPr/>
                  </p:nvSpPr>
                  <p:spPr bwMode="auto">
                    <a:xfrm>
                      <a:off x="1039" y="3671"/>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0" name="Group 2438"/>
                  <p:cNvGrpSpPr>
                    <a:grpSpLocks/>
                  </p:cNvGrpSpPr>
                  <p:nvPr/>
                </p:nvGrpSpPr>
                <p:grpSpPr bwMode="auto">
                  <a:xfrm>
                    <a:off x="1040" y="3672"/>
                    <a:ext cx="45" cy="23"/>
                    <a:chOff x="1040" y="3672"/>
                    <a:chExt cx="45" cy="23"/>
                  </a:xfrm>
                </p:grpSpPr>
                <p:sp>
                  <p:nvSpPr>
                    <p:cNvPr id="221" name="Freeform 2439"/>
                    <p:cNvSpPr>
                      <a:spLocks/>
                    </p:cNvSpPr>
                    <p:nvPr/>
                  </p:nvSpPr>
                  <p:spPr bwMode="auto">
                    <a:xfrm>
                      <a:off x="1040" y="3672"/>
                      <a:ext cx="20" cy="23"/>
                    </a:xfrm>
                    <a:custGeom>
                      <a:avLst/>
                      <a:gdLst>
                        <a:gd name="T0" fmla="*/ 0 w 41"/>
                        <a:gd name="T1" fmla="*/ 0 h 70"/>
                        <a:gd name="T2" fmla="*/ 0 w 41"/>
                        <a:gd name="T3" fmla="*/ 0 h 70"/>
                        <a:gd name="T4" fmla="*/ 0 w 41"/>
                        <a:gd name="T5" fmla="*/ 0 h 70"/>
                        <a:gd name="T6" fmla="*/ 0 w 41"/>
                        <a:gd name="T7" fmla="*/ 0 h 70"/>
                        <a:gd name="T8" fmla="*/ 0 w 41"/>
                        <a:gd name="T9" fmla="*/ 0 h 70"/>
                        <a:gd name="T10" fmla="*/ 0 60000 65536"/>
                        <a:gd name="T11" fmla="*/ 0 60000 65536"/>
                        <a:gd name="T12" fmla="*/ 0 60000 65536"/>
                        <a:gd name="T13" fmla="*/ 0 60000 65536"/>
                        <a:gd name="T14" fmla="*/ 0 60000 65536"/>
                        <a:gd name="T15" fmla="*/ 0 w 41"/>
                        <a:gd name="T16" fmla="*/ 0 h 70"/>
                        <a:gd name="T17" fmla="*/ 41 w 41"/>
                        <a:gd name="T18" fmla="*/ 70 h 70"/>
                      </a:gdLst>
                      <a:ahLst/>
                      <a:cxnLst>
                        <a:cxn ang="T10">
                          <a:pos x="T0" y="T1"/>
                        </a:cxn>
                        <a:cxn ang="T11">
                          <a:pos x="T2" y="T3"/>
                        </a:cxn>
                        <a:cxn ang="T12">
                          <a:pos x="T4" y="T5"/>
                        </a:cxn>
                        <a:cxn ang="T13">
                          <a:pos x="T6" y="T7"/>
                        </a:cxn>
                        <a:cxn ang="T14">
                          <a:pos x="T8" y="T9"/>
                        </a:cxn>
                      </a:cxnLst>
                      <a:rect l="T15" t="T16" r="T17" b="T18"/>
                      <a:pathLst>
                        <a:path w="41" h="70">
                          <a:moveTo>
                            <a:pt x="24" y="70"/>
                          </a:moveTo>
                          <a:lnTo>
                            <a:pt x="0" y="35"/>
                          </a:lnTo>
                          <a:lnTo>
                            <a:pt x="13" y="0"/>
                          </a:lnTo>
                          <a:lnTo>
                            <a:pt x="41" y="35"/>
                          </a:lnTo>
                          <a:lnTo>
                            <a:pt x="24"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2" name="Freeform 2440"/>
                    <p:cNvSpPr>
                      <a:spLocks/>
                    </p:cNvSpPr>
                    <p:nvPr/>
                  </p:nvSpPr>
                  <p:spPr bwMode="auto">
                    <a:xfrm>
                      <a:off x="1047" y="3672"/>
                      <a:ext cx="32" cy="12"/>
                    </a:xfrm>
                    <a:custGeom>
                      <a:avLst/>
                      <a:gdLst>
                        <a:gd name="T0" fmla="*/ 0 w 65"/>
                        <a:gd name="T1" fmla="*/ 0 h 34"/>
                        <a:gd name="T2" fmla="*/ 0 w 65"/>
                        <a:gd name="T3" fmla="*/ 0 h 34"/>
                        <a:gd name="T4" fmla="*/ 0 w 65"/>
                        <a:gd name="T5" fmla="*/ 0 h 34"/>
                        <a:gd name="T6" fmla="*/ 0 w 65"/>
                        <a:gd name="T7" fmla="*/ 0 h 34"/>
                        <a:gd name="T8" fmla="*/ 0 w 65"/>
                        <a:gd name="T9" fmla="*/ 0 h 34"/>
                        <a:gd name="T10" fmla="*/ 0 60000 65536"/>
                        <a:gd name="T11" fmla="*/ 0 60000 65536"/>
                        <a:gd name="T12" fmla="*/ 0 60000 65536"/>
                        <a:gd name="T13" fmla="*/ 0 60000 65536"/>
                        <a:gd name="T14" fmla="*/ 0 60000 65536"/>
                        <a:gd name="T15" fmla="*/ 0 w 65"/>
                        <a:gd name="T16" fmla="*/ 0 h 34"/>
                        <a:gd name="T17" fmla="*/ 65 w 65"/>
                        <a:gd name="T18" fmla="*/ 34 h 34"/>
                      </a:gdLst>
                      <a:ahLst/>
                      <a:cxnLst>
                        <a:cxn ang="T10">
                          <a:pos x="T0" y="T1"/>
                        </a:cxn>
                        <a:cxn ang="T11">
                          <a:pos x="T2" y="T3"/>
                        </a:cxn>
                        <a:cxn ang="T12">
                          <a:pos x="T4" y="T5"/>
                        </a:cxn>
                        <a:cxn ang="T13">
                          <a:pos x="T6" y="T7"/>
                        </a:cxn>
                        <a:cxn ang="T14">
                          <a:pos x="T8" y="T9"/>
                        </a:cxn>
                      </a:cxnLst>
                      <a:rect l="T15" t="T16" r="T17" b="T18"/>
                      <a:pathLst>
                        <a:path w="65" h="34">
                          <a:moveTo>
                            <a:pt x="0" y="0"/>
                          </a:moveTo>
                          <a:lnTo>
                            <a:pt x="41" y="0"/>
                          </a:lnTo>
                          <a:lnTo>
                            <a:pt x="65" y="34"/>
                          </a:lnTo>
                          <a:lnTo>
                            <a:pt x="2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3" name="Freeform 2441"/>
                    <p:cNvSpPr>
                      <a:spLocks/>
                    </p:cNvSpPr>
                    <p:nvPr/>
                  </p:nvSpPr>
                  <p:spPr bwMode="auto">
                    <a:xfrm>
                      <a:off x="1053" y="3685"/>
                      <a:ext cx="32" cy="9"/>
                    </a:xfrm>
                    <a:custGeom>
                      <a:avLst/>
                      <a:gdLst>
                        <a:gd name="T0" fmla="*/ 0 w 66"/>
                        <a:gd name="T1" fmla="*/ 0 h 28"/>
                        <a:gd name="T2" fmla="*/ 0 w 66"/>
                        <a:gd name="T3" fmla="*/ 0 h 28"/>
                        <a:gd name="T4" fmla="*/ 0 w 66"/>
                        <a:gd name="T5" fmla="*/ 0 h 28"/>
                        <a:gd name="T6" fmla="*/ 0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2" y="0"/>
                          </a:lnTo>
                          <a:lnTo>
                            <a:pt x="54"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35" name="Group 2442"/>
                <p:cNvGrpSpPr>
                  <a:grpSpLocks/>
                </p:cNvGrpSpPr>
                <p:nvPr/>
              </p:nvGrpSpPr>
              <p:grpSpPr bwMode="auto">
                <a:xfrm>
                  <a:off x="1054" y="3685"/>
                  <a:ext cx="45" cy="23"/>
                  <a:chOff x="1054" y="3685"/>
                  <a:chExt cx="45" cy="23"/>
                </a:xfrm>
              </p:grpSpPr>
              <p:sp>
                <p:nvSpPr>
                  <p:cNvPr id="214" name="Freeform 2443"/>
                  <p:cNvSpPr>
                    <a:spLocks/>
                  </p:cNvSpPr>
                  <p:nvPr/>
                </p:nvSpPr>
                <p:spPr bwMode="auto">
                  <a:xfrm>
                    <a:off x="1054" y="3685"/>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3" y="70"/>
                        </a:moveTo>
                        <a:lnTo>
                          <a:pt x="0" y="34"/>
                        </a:lnTo>
                        <a:lnTo>
                          <a:pt x="13" y="0"/>
                        </a:lnTo>
                        <a:lnTo>
                          <a:pt x="39" y="34"/>
                        </a:lnTo>
                        <a:lnTo>
                          <a:pt x="23"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5" name="Freeform 2444"/>
                  <p:cNvSpPr>
                    <a:spLocks/>
                  </p:cNvSpPr>
                  <p:nvPr/>
                </p:nvSpPr>
                <p:spPr bwMode="auto">
                  <a:xfrm>
                    <a:off x="1061" y="3685"/>
                    <a:ext cx="32" cy="12"/>
                  </a:xfrm>
                  <a:custGeom>
                    <a:avLst/>
                    <a:gdLst>
                      <a:gd name="T0" fmla="*/ 0 w 63"/>
                      <a:gd name="T1" fmla="*/ 0 h 35"/>
                      <a:gd name="T2" fmla="*/ 1 w 63"/>
                      <a:gd name="T3" fmla="*/ 0 h 35"/>
                      <a:gd name="T4" fmla="*/ 1 w 63"/>
                      <a:gd name="T5" fmla="*/ 0 h 35"/>
                      <a:gd name="T6" fmla="*/ 1 w 63"/>
                      <a:gd name="T7" fmla="*/ 0 h 35"/>
                      <a:gd name="T8" fmla="*/ 0 w 63"/>
                      <a:gd name="T9" fmla="*/ 0 h 35"/>
                      <a:gd name="T10" fmla="*/ 0 60000 65536"/>
                      <a:gd name="T11" fmla="*/ 0 60000 65536"/>
                      <a:gd name="T12" fmla="*/ 0 60000 65536"/>
                      <a:gd name="T13" fmla="*/ 0 60000 65536"/>
                      <a:gd name="T14" fmla="*/ 0 60000 65536"/>
                      <a:gd name="T15" fmla="*/ 0 w 63"/>
                      <a:gd name="T16" fmla="*/ 0 h 35"/>
                      <a:gd name="T17" fmla="*/ 63 w 63"/>
                      <a:gd name="T18" fmla="*/ 35 h 35"/>
                    </a:gdLst>
                    <a:ahLst/>
                    <a:cxnLst>
                      <a:cxn ang="T10">
                        <a:pos x="T0" y="T1"/>
                      </a:cxn>
                      <a:cxn ang="T11">
                        <a:pos x="T2" y="T3"/>
                      </a:cxn>
                      <a:cxn ang="T12">
                        <a:pos x="T4" y="T5"/>
                      </a:cxn>
                      <a:cxn ang="T13">
                        <a:pos x="T6" y="T7"/>
                      </a:cxn>
                      <a:cxn ang="T14">
                        <a:pos x="T8" y="T9"/>
                      </a:cxn>
                    </a:cxnLst>
                    <a:rect l="T15" t="T16" r="T17" b="T18"/>
                    <a:pathLst>
                      <a:path w="63" h="35">
                        <a:moveTo>
                          <a:pt x="0" y="0"/>
                        </a:moveTo>
                        <a:lnTo>
                          <a:pt x="41" y="0"/>
                        </a:lnTo>
                        <a:lnTo>
                          <a:pt x="63"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6" name="Freeform 2445"/>
                  <p:cNvSpPr>
                    <a:spLocks/>
                  </p:cNvSpPr>
                  <p:nvPr/>
                </p:nvSpPr>
                <p:spPr bwMode="auto">
                  <a:xfrm>
                    <a:off x="1066" y="3697"/>
                    <a:ext cx="33" cy="10"/>
                  </a:xfrm>
                  <a:custGeom>
                    <a:avLst/>
                    <a:gdLst>
                      <a:gd name="T0" fmla="*/ 0 w 64"/>
                      <a:gd name="T1" fmla="*/ 0 h 30"/>
                      <a:gd name="T2" fmla="*/ 1 w 64"/>
                      <a:gd name="T3" fmla="*/ 0 h 30"/>
                      <a:gd name="T4" fmla="*/ 1 w 64"/>
                      <a:gd name="T5" fmla="*/ 0 h 30"/>
                      <a:gd name="T6" fmla="*/ 1 w 64"/>
                      <a:gd name="T7" fmla="*/ 0 h 30"/>
                      <a:gd name="T8" fmla="*/ 0 w 64"/>
                      <a:gd name="T9" fmla="*/ 0 h 30"/>
                      <a:gd name="T10" fmla="*/ 0 60000 65536"/>
                      <a:gd name="T11" fmla="*/ 0 60000 65536"/>
                      <a:gd name="T12" fmla="*/ 0 60000 65536"/>
                      <a:gd name="T13" fmla="*/ 0 60000 65536"/>
                      <a:gd name="T14" fmla="*/ 0 60000 65536"/>
                      <a:gd name="T15" fmla="*/ 0 w 64"/>
                      <a:gd name="T16" fmla="*/ 0 h 30"/>
                      <a:gd name="T17" fmla="*/ 64 w 64"/>
                      <a:gd name="T18" fmla="*/ 30 h 30"/>
                    </a:gdLst>
                    <a:ahLst/>
                    <a:cxnLst>
                      <a:cxn ang="T10">
                        <a:pos x="T0" y="T1"/>
                      </a:cxn>
                      <a:cxn ang="T11">
                        <a:pos x="T2" y="T3"/>
                      </a:cxn>
                      <a:cxn ang="T12">
                        <a:pos x="T4" y="T5"/>
                      </a:cxn>
                      <a:cxn ang="T13">
                        <a:pos x="T6" y="T7"/>
                      </a:cxn>
                      <a:cxn ang="T14">
                        <a:pos x="T8" y="T9"/>
                      </a:cxn>
                    </a:cxnLst>
                    <a:rect l="T15" t="T16" r="T17" b="T18"/>
                    <a:pathLst>
                      <a:path w="64" h="30">
                        <a:moveTo>
                          <a:pt x="0" y="30"/>
                        </a:moveTo>
                        <a:lnTo>
                          <a:pt x="13" y="0"/>
                        </a:lnTo>
                        <a:lnTo>
                          <a:pt x="52" y="0"/>
                        </a:lnTo>
                        <a:lnTo>
                          <a:pt x="64"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6" name="Group 2446"/>
                <p:cNvGrpSpPr>
                  <a:grpSpLocks/>
                </p:cNvGrpSpPr>
                <p:nvPr/>
              </p:nvGrpSpPr>
              <p:grpSpPr bwMode="auto">
                <a:xfrm>
                  <a:off x="1067" y="3698"/>
                  <a:ext cx="45" cy="23"/>
                  <a:chOff x="1067" y="3698"/>
                  <a:chExt cx="45" cy="23"/>
                </a:xfrm>
              </p:grpSpPr>
              <p:sp>
                <p:nvSpPr>
                  <p:cNvPr id="211" name="Freeform 2447"/>
                  <p:cNvSpPr>
                    <a:spLocks/>
                  </p:cNvSpPr>
                  <p:nvPr/>
                </p:nvSpPr>
                <p:spPr bwMode="auto">
                  <a:xfrm>
                    <a:off x="1067" y="3698"/>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2" y="69"/>
                        </a:moveTo>
                        <a:lnTo>
                          <a:pt x="0" y="34"/>
                        </a:lnTo>
                        <a:lnTo>
                          <a:pt x="12" y="0"/>
                        </a:lnTo>
                        <a:lnTo>
                          <a:pt x="39"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2" name="Freeform 2448"/>
                  <p:cNvSpPr>
                    <a:spLocks/>
                  </p:cNvSpPr>
                  <p:nvPr/>
                </p:nvSpPr>
                <p:spPr bwMode="auto">
                  <a:xfrm>
                    <a:off x="1074" y="3699"/>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3" name="Freeform 2449"/>
                  <p:cNvSpPr>
                    <a:spLocks/>
                  </p:cNvSpPr>
                  <p:nvPr/>
                </p:nvSpPr>
                <p:spPr bwMode="auto">
                  <a:xfrm>
                    <a:off x="1079" y="3711"/>
                    <a:ext cx="33" cy="10"/>
                  </a:xfrm>
                  <a:custGeom>
                    <a:avLst/>
                    <a:gdLst>
                      <a:gd name="T0" fmla="*/ 0 w 65"/>
                      <a:gd name="T1" fmla="*/ 0 h 30"/>
                      <a:gd name="T2" fmla="*/ 1 w 65"/>
                      <a:gd name="T3" fmla="*/ 0 h 30"/>
                      <a:gd name="T4" fmla="*/ 1 w 65"/>
                      <a:gd name="T5" fmla="*/ 0 h 30"/>
                      <a:gd name="T6" fmla="*/ 1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1"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7" name="Group 2450"/>
                <p:cNvGrpSpPr>
                  <a:grpSpLocks/>
                </p:cNvGrpSpPr>
                <p:nvPr/>
              </p:nvGrpSpPr>
              <p:grpSpPr bwMode="auto">
                <a:xfrm>
                  <a:off x="1079" y="3712"/>
                  <a:ext cx="44" cy="23"/>
                  <a:chOff x="1079" y="3712"/>
                  <a:chExt cx="44" cy="23"/>
                </a:xfrm>
              </p:grpSpPr>
              <p:sp>
                <p:nvSpPr>
                  <p:cNvPr id="208" name="Freeform 2451"/>
                  <p:cNvSpPr>
                    <a:spLocks/>
                  </p:cNvSpPr>
                  <p:nvPr/>
                </p:nvSpPr>
                <p:spPr bwMode="auto">
                  <a:xfrm>
                    <a:off x="1079" y="3712"/>
                    <a:ext cx="21" cy="23"/>
                  </a:xfrm>
                  <a:custGeom>
                    <a:avLst/>
                    <a:gdLst>
                      <a:gd name="T0" fmla="*/ 1 w 41"/>
                      <a:gd name="T1" fmla="*/ 0 h 68"/>
                      <a:gd name="T2" fmla="*/ 0 w 41"/>
                      <a:gd name="T3" fmla="*/ 0 h 68"/>
                      <a:gd name="T4" fmla="*/ 1 w 41"/>
                      <a:gd name="T5" fmla="*/ 0 h 68"/>
                      <a:gd name="T6" fmla="*/ 1 w 41"/>
                      <a:gd name="T7" fmla="*/ 0 h 68"/>
                      <a:gd name="T8" fmla="*/ 1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3"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9" name="Freeform 2452"/>
                  <p:cNvSpPr>
                    <a:spLocks/>
                  </p:cNvSpPr>
                  <p:nvPr/>
                </p:nvSpPr>
                <p:spPr bwMode="auto">
                  <a:xfrm>
                    <a:off x="1087" y="3713"/>
                    <a:ext cx="31" cy="10"/>
                  </a:xfrm>
                  <a:custGeom>
                    <a:avLst/>
                    <a:gdLst>
                      <a:gd name="T0" fmla="*/ 0 w 63"/>
                      <a:gd name="T1" fmla="*/ 0 h 32"/>
                      <a:gd name="T2" fmla="*/ 0 w 63"/>
                      <a:gd name="T3" fmla="*/ 0 h 32"/>
                      <a:gd name="T4" fmla="*/ 0 w 63"/>
                      <a:gd name="T5" fmla="*/ 0 h 32"/>
                      <a:gd name="T6" fmla="*/ 0 w 63"/>
                      <a:gd name="T7" fmla="*/ 0 h 32"/>
                      <a:gd name="T8" fmla="*/ 0 w 63"/>
                      <a:gd name="T9" fmla="*/ 0 h 32"/>
                      <a:gd name="T10" fmla="*/ 0 60000 65536"/>
                      <a:gd name="T11" fmla="*/ 0 60000 65536"/>
                      <a:gd name="T12" fmla="*/ 0 60000 65536"/>
                      <a:gd name="T13" fmla="*/ 0 60000 65536"/>
                      <a:gd name="T14" fmla="*/ 0 60000 65536"/>
                      <a:gd name="T15" fmla="*/ 0 w 63"/>
                      <a:gd name="T16" fmla="*/ 0 h 32"/>
                      <a:gd name="T17" fmla="*/ 63 w 63"/>
                      <a:gd name="T18" fmla="*/ 32 h 32"/>
                    </a:gdLst>
                    <a:ahLst/>
                    <a:cxnLst>
                      <a:cxn ang="T10">
                        <a:pos x="T0" y="T1"/>
                      </a:cxn>
                      <a:cxn ang="T11">
                        <a:pos x="T2" y="T3"/>
                      </a:cxn>
                      <a:cxn ang="T12">
                        <a:pos x="T4" y="T5"/>
                      </a:cxn>
                      <a:cxn ang="T13">
                        <a:pos x="T6" y="T7"/>
                      </a:cxn>
                      <a:cxn ang="T14">
                        <a:pos x="T8" y="T9"/>
                      </a:cxn>
                    </a:cxnLst>
                    <a:rect l="T15" t="T16" r="T17" b="T18"/>
                    <a:pathLst>
                      <a:path w="63" h="32">
                        <a:moveTo>
                          <a:pt x="0" y="0"/>
                        </a:moveTo>
                        <a:lnTo>
                          <a:pt x="40" y="0"/>
                        </a:lnTo>
                        <a:lnTo>
                          <a:pt x="63" y="32"/>
                        </a:lnTo>
                        <a:lnTo>
                          <a:pt x="23"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0" name="Freeform 2453"/>
                  <p:cNvSpPr>
                    <a:spLocks/>
                  </p:cNvSpPr>
                  <p:nvPr/>
                </p:nvSpPr>
                <p:spPr bwMode="auto">
                  <a:xfrm>
                    <a:off x="1092" y="3724"/>
                    <a:ext cx="31" cy="11"/>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2"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8" name="Group 2454"/>
                <p:cNvGrpSpPr>
                  <a:grpSpLocks/>
                </p:cNvGrpSpPr>
                <p:nvPr/>
              </p:nvGrpSpPr>
              <p:grpSpPr bwMode="auto">
                <a:xfrm>
                  <a:off x="1093" y="3725"/>
                  <a:ext cx="45" cy="23"/>
                  <a:chOff x="1093" y="3725"/>
                  <a:chExt cx="45" cy="23"/>
                </a:xfrm>
              </p:grpSpPr>
              <p:sp>
                <p:nvSpPr>
                  <p:cNvPr id="205" name="Freeform 2455"/>
                  <p:cNvSpPr>
                    <a:spLocks/>
                  </p:cNvSpPr>
                  <p:nvPr/>
                </p:nvSpPr>
                <p:spPr bwMode="auto">
                  <a:xfrm>
                    <a:off x="1093" y="3725"/>
                    <a:ext cx="20" cy="23"/>
                  </a:xfrm>
                  <a:custGeom>
                    <a:avLst/>
                    <a:gdLst>
                      <a:gd name="T0" fmla="*/ 1 w 40"/>
                      <a:gd name="T1" fmla="*/ 0 h 68"/>
                      <a:gd name="T2" fmla="*/ 0 w 40"/>
                      <a:gd name="T3" fmla="*/ 0 h 68"/>
                      <a:gd name="T4" fmla="*/ 1 w 40"/>
                      <a:gd name="T5" fmla="*/ 0 h 68"/>
                      <a:gd name="T6" fmla="*/ 1 w 40"/>
                      <a:gd name="T7" fmla="*/ 0 h 68"/>
                      <a:gd name="T8" fmla="*/ 1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2"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6" name="Freeform 2456"/>
                  <p:cNvSpPr>
                    <a:spLocks/>
                  </p:cNvSpPr>
                  <p:nvPr/>
                </p:nvSpPr>
                <p:spPr bwMode="auto">
                  <a:xfrm>
                    <a:off x="1100" y="3726"/>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7" name="Freeform 2457"/>
                  <p:cNvSpPr>
                    <a:spLocks/>
                  </p:cNvSpPr>
                  <p:nvPr/>
                </p:nvSpPr>
                <p:spPr bwMode="auto">
                  <a:xfrm>
                    <a:off x="1106" y="3738"/>
                    <a:ext cx="32" cy="9"/>
                  </a:xfrm>
                  <a:custGeom>
                    <a:avLst/>
                    <a:gdLst>
                      <a:gd name="T0" fmla="*/ 0 w 65"/>
                      <a:gd name="T1" fmla="*/ 0 h 28"/>
                      <a:gd name="T2" fmla="*/ 0 w 65"/>
                      <a:gd name="T3" fmla="*/ 0 h 28"/>
                      <a:gd name="T4" fmla="*/ 0 w 65"/>
                      <a:gd name="T5" fmla="*/ 0 h 28"/>
                      <a:gd name="T6" fmla="*/ 0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2" y="0"/>
                        </a:lnTo>
                        <a:lnTo>
                          <a:pt x="53"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9" name="Group 2458"/>
                <p:cNvGrpSpPr>
                  <a:grpSpLocks/>
                </p:cNvGrpSpPr>
                <p:nvPr/>
              </p:nvGrpSpPr>
              <p:grpSpPr bwMode="auto">
                <a:xfrm>
                  <a:off x="1108" y="3739"/>
                  <a:ext cx="44" cy="23"/>
                  <a:chOff x="1108" y="3739"/>
                  <a:chExt cx="44" cy="23"/>
                </a:xfrm>
              </p:grpSpPr>
              <p:sp>
                <p:nvSpPr>
                  <p:cNvPr id="202" name="Freeform 2459"/>
                  <p:cNvSpPr>
                    <a:spLocks/>
                  </p:cNvSpPr>
                  <p:nvPr/>
                </p:nvSpPr>
                <p:spPr bwMode="auto">
                  <a:xfrm>
                    <a:off x="1108" y="3739"/>
                    <a:ext cx="19" cy="23"/>
                  </a:xfrm>
                  <a:custGeom>
                    <a:avLst/>
                    <a:gdLst>
                      <a:gd name="T0" fmla="*/ 0 w 40"/>
                      <a:gd name="T1" fmla="*/ 0 h 69"/>
                      <a:gd name="T2" fmla="*/ 0 w 40"/>
                      <a:gd name="T3" fmla="*/ 0 h 69"/>
                      <a:gd name="T4" fmla="*/ 0 w 40"/>
                      <a:gd name="T5" fmla="*/ 0 h 69"/>
                      <a:gd name="T6" fmla="*/ 0 w 40"/>
                      <a:gd name="T7" fmla="*/ 0 h 69"/>
                      <a:gd name="T8" fmla="*/ 0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4"/>
                        </a:lnTo>
                        <a:lnTo>
                          <a:pt x="12" y="0"/>
                        </a:lnTo>
                        <a:lnTo>
                          <a:pt x="40" y="34"/>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3" name="Freeform 2460"/>
                  <p:cNvSpPr>
                    <a:spLocks/>
                  </p:cNvSpPr>
                  <p:nvPr/>
                </p:nvSpPr>
                <p:spPr bwMode="auto">
                  <a:xfrm>
                    <a:off x="1114" y="3740"/>
                    <a:ext cx="32" cy="11"/>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2" y="0"/>
                        </a:lnTo>
                        <a:lnTo>
                          <a:pt x="64"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4" name="Freeform 2461"/>
                  <p:cNvSpPr>
                    <a:spLocks/>
                  </p:cNvSpPr>
                  <p:nvPr/>
                </p:nvSpPr>
                <p:spPr bwMode="auto">
                  <a:xfrm>
                    <a:off x="1120" y="3752"/>
                    <a:ext cx="32" cy="10"/>
                  </a:xfrm>
                  <a:custGeom>
                    <a:avLst/>
                    <a:gdLst>
                      <a:gd name="T0" fmla="*/ 0 w 66"/>
                      <a:gd name="T1" fmla="*/ 0 h 30"/>
                      <a:gd name="T2" fmla="*/ 0 w 66"/>
                      <a:gd name="T3" fmla="*/ 0 h 30"/>
                      <a:gd name="T4" fmla="*/ 0 w 66"/>
                      <a:gd name="T5" fmla="*/ 0 h 30"/>
                      <a:gd name="T6" fmla="*/ 0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5"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0" name="Group 2462"/>
                <p:cNvGrpSpPr>
                  <a:grpSpLocks/>
                </p:cNvGrpSpPr>
                <p:nvPr/>
              </p:nvGrpSpPr>
              <p:grpSpPr bwMode="auto">
                <a:xfrm>
                  <a:off x="1121" y="3753"/>
                  <a:ext cx="45" cy="23"/>
                  <a:chOff x="1121" y="3753"/>
                  <a:chExt cx="45" cy="23"/>
                </a:xfrm>
              </p:grpSpPr>
              <p:sp>
                <p:nvSpPr>
                  <p:cNvPr id="199" name="Freeform 2463"/>
                  <p:cNvSpPr>
                    <a:spLocks/>
                  </p:cNvSpPr>
                  <p:nvPr/>
                </p:nvSpPr>
                <p:spPr bwMode="auto">
                  <a:xfrm>
                    <a:off x="1121" y="3753"/>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5"/>
                        </a:lnTo>
                        <a:lnTo>
                          <a:pt x="12" y="0"/>
                        </a:lnTo>
                        <a:lnTo>
                          <a:pt x="39" y="35"/>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0" name="Freeform 2464"/>
                  <p:cNvSpPr>
                    <a:spLocks/>
                  </p:cNvSpPr>
                  <p:nvPr/>
                </p:nvSpPr>
                <p:spPr bwMode="auto">
                  <a:xfrm>
                    <a:off x="1127" y="3753"/>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39" y="0"/>
                        </a:lnTo>
                        <a:lnTo>
                          <a:pt x="64"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1" name="Freeform 2465"/>
                  <p:cNvSpPr>
                    <a:spLocks/>
                  </p:cNvSpPr>
                  <p:nvPr/>
                </p:nvSpPr>
                <p:spPr bwMode="auto">
                  <a:xfrm>
                    <a:off x="1133" y="3766"/>
                    <a:ext cx="33" cy="9"/>
                  </a:xfrm>
                  <a:custGeom>
                    <a:avLst/>
                    <a:gdLst>
                      <a:gd name="T0" fmla="*/ 0 w 66"/>
                      <a:gd name="T1" fmla="*/ 0 h 29"/>
                      <a:gd name="T2" fmla="*/ 1 w 66"/>
                      <a:gd name="T3" fmla="*/ 0 h 29"/>
                      <a:gd name="T4" fmla="*/ 1 w 66"/>
                      <a:gd name="T5" fmla="*/ 0 h 29"/>
                      <a:gd name="T6" fmla="*/ 1 w 66"/>
                      <a:gd name="T7" fmla="*/ 0 h 29"/>
                      <a:gd name="T8" fmla="*/ 0 w 66"/>
                      <a:gd name="T9" fmla="*/ 0 h 29"/>
                      <a:gd name="T10" fmla="*/ 0 60000 65536"/>
                      <a:gd name="T11" fmla="*/ 0 60000 65536"/>
                      <a:gd name="T12" fmla="*/ 0 60000 65536"/>
                      <a:gd name="T13" fmla="*/ 0 60000 65536"/>
                      <a:gd name="T14" fmla="*/ 0 60000 65536"/>
                      <a:gd name="T15" fmla="*/ 0 w 66"/>
                      <a:gd name="T16" fmla="*/ 0 h 29"/>
                      <a:gd name="T17" fmla="*/ 66 w 66"/>
                      <a:gd name="T18" fmla="*/ 29 h 29"/>
                    </a:gdLst>
                    <a:ahLst/>
                    <a:cxnLst>
                      <a:cxn ang="T10">
                        <a:pos x="T0" y="T1"/>
                      </a:cxn>
                      <a:cxn ang="T11">
                        <a:pos x="T2" y="T3"/>
                      </a:cxn>
                      <a:cxn ang="T12">
                        <a:pos x="T4" y="T5"/>
                      </a:cxn>
                      <a:cxn ang="T13">
                        <a:pos x="T6" y="T7"/>
                      </a:cxn>
                      <a:cxn ang="T14">
                        <a:pos x="T8" y="T9"/>
                      </a:cxn>
                    </a:cxnLst>
                    <a:rect l="T15" t="T16" r="T17" b="T18"/>
                    <a:pathLst>
                      <a:path w="66" h="29">
                        <a:moveTo>
                          <a:pt x="0" y="29"/>
                        </a:moveTo>
                        <a:lnTo>
                          <a:pt x="12" y="0"/>
                        </a:lnTo>
                        <a:lnTo>
                          <a:pt x="54" y="0"/>
                        </a:lnTo>
                        <a:lnTo>
                          <a:pt x="66"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1" name="Group 2466"/>
                <p:cNvGrpSpPr>
                  <a:grpSpLocks/>
                </p:cNvGrpSpPr>
                <p:nvPr/>
              </p:nvGrpSpPr>
              <p:grpSpPr bwMode="auto">
                <a:xfrm>
                  <a:off x="1133" y="3767"/>
                  <a:ext cx="44" cy="23"/>
                  <a:chOff x="1133" y="3767"/>
                  <a:chExt cx="44" cy="23"/>
                </a:xfrm>
              </p:grpSpPr>
              <p:sp>
                <p:nvSpPr>
                  <p:cNvPr id="196" name="Freeform 2467"/>
                  <p:cNvSpPr>
                    <a:spLocks/>
                  </p:cNvSpPr>
                  <p:nvPr/>
                </p:nvSpPr>
                <p:spPr bwMode="auto">
                  <a:xfrm>
                    <a:off x="1133" y="3767"/>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3" y="69"/>
                        </a:moveTo>
                        <a:lnTo>
                          <a:pt x="0" y="33"/>
                        </a:lnTo>
                        <a:lnTo>
                          <a:pt x="12" y="0"/>
                        </a:lnTo>
                        <a:lnTo>
                          <a:pt x="39"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7" name="Freeform 2468"/>
                  <p:cNvSpPr>
                    <a:spLocks/>
                  </p:cNvSpPr>
                  <p:nvPr/>
                </p:nvSpPr>
                <p:spPr bwMode="auto">
                  <a:xfrm>
                    <a:off x="1140" y="3767"/>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3"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8" name="Freeform 2469"/>
                  <p:cNvSpPr>
                    <a:spLocks/>
                  </p:cNvSpPr>
                  <p:nvPr/>
                </p:nvSpPr>
                <p:spPr bwMode="auto">
                  <a:xfrm>
                    <a:off x="1146" y="3779"/>
                    <a:ext cx="31" cy="10"/>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1"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42" name="Freeform 2470"/>
                <p:cNvSpPr>
                  <a:spLocks/>
                </p:cNvSpPr>
                <p:nvPr/>
              </p:nvSpPr>
              <p:spPr bwMode="auto">
                <a:xfrm>
                  <a:off x="972" y="3556"/>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7"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3" name="Freeform 2471"/>
                <p:cNvSpPr>
                  <a:spLocks/>
                </p:cNvSpPr>
                <p:nvPr/>
              </p:nvSpPr>
              <p:spPr bwMode="auto">
                <a:xfrm>
                  <a:off x="993" y="3576"/>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 name="Freeform 2472"/>
                <p:cNvSpPr>
                  <a:spLocks/>
                </p:cNvSpPr>
                <p:nvPr/>
              </p:nvSpPr>
              <p:spPr bwMode="auto">
                <a:xfrm>
                  <a:off x="1012" y="3594"/>
                  <a:ext cx="39" cy="12"/>
                </a:xfrm>
                <a:custGeom>
                  <a:avLst/>
                  <a:gdLst>
                    <a:gd name="T0" fmla="*/ 0 w 78"/>
                    <a:gd name="T1" fmla="*/ 0 h 36"/>
                    <a:gd name="T2" fmla="*/ 1 w 78"/>
                    <a:gd name="T3" fmla="*/ 0 h 36"/>
                    <a:gd name="T4" fmla="*/ 1 w 78"/>
                    <a:gd name="T5" fmla="*/ 0 h 36"/>
                    <a:gd name="T6" fmla="*/ 1 w 78"/>
                    <a:gd name="T7" fmla="*/ 0 h 36"/>
                    <a:gd name="T8" fmla="*/ 0 w 78"/>
                    <a:gd name="T9" fmla="*/ 0 h 36"/>
                    <a:gd name="T10" fmla="*/ 0 60000 65536"/>
                    <a:gd name="T11" fmla="*/ 0 60000 65536"/>
                    <a:gd name="T12" fmla="*/ 0 60000 65536"/>
                    <a:gd name="T13" fmla="*/ 0 60000 65536"/>
                    <a:gd name="T14" fmla="*/ 0 60000 65536"/>
                    <a:gd name="T15" fmla="*/ 0 w 78"/>
                    <a:gd name="T16" fmla="*/ 0 h 36"/>
                    <a:gd name="T17" fmla="*/ 78 w 78"/>
                    <a:gd name="T18" fmla="*/ 36 h 36"/>
                  </a:gdLst>
                  <a:ahLst/>
                  <a:cxnLst>
                    <a:cxn ang="T10">
                      <a:pos x="T0" y="T1"/>
                    </a:cxn>
                    <a:cxn ang="T11">
                      <a:pos x="T2" y="T3"/>
                    </a:cxn>
                    <a:cxn ang="T12">
                      <a:pos x="T4" y="T5"/>
                    </a:cxn>
                    <a:cxn ang="T13">
                      <a:pos x="T6" y="T7"/>
                    </a:cxn>
                    <a:cxn ang="T14">
                      <a:pos x="T8" y="T9"/>
                    </a:cxn>
                  </a:cxnLst>
                  <a:rect l="T15" t="T16" r="T17" b="T18"/>
                  <a:pathLst>
                    <a:path w="78" h="36">
                      <a:moveTo>
                        <a:pt x="0" y="0"/>
                      </a:moveTo>
                      <a:lnTo>
                        <a:pt x="27" y="36"/>
                      </a:lnTo>
                      <a:lnTo>
                        <a:pt x="78" y="36"/>
                      </a:lnTo>
                      <a:lnTo>
                        <a:pt x="49"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5" name="Freeform 2473"/>
                <p:cNvSpPr>
                  <a:spLocks/>
                </p:cNvSpPr>
                <p:nvPr/>
              </p:nvSpPr>
              <p:spPr bwMode="auto">
                <a:xfrm>
                  <a:off x="1032" y="3613"/>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 name="Freeform 2474"/>
                <p:cNvSpPr>
                  <a:spLocks/>
                </p:cNvSpPr>
                <p:nvPr/>
              </p:nvSpPr>
              <p:spPr bwMode="auto">
                <a:xfrm>
                  <a:off x="1053" y="3632"/>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7" name="Freeform 2475"/>
                <p:cNvSpPr>
                  <a:spLocks/>
                </p:cNvSpPr>
                <p:nvPr/>
              </p:nvSpPr>
              <p:spPr bwMode="auto">
                <a:xfrm>
                  <a:off x="1074" y="3651"/>
                  <a:ext cx="40" cy="12"/>
                </a:xfrm>
                <a:custGeom>
                  <a:avLst/>
                  <a:gdLst>
                    <a:gd name="T0" fmla="*/ 0 w 79"/>
                    <a:gd name="T1" fmla="*/ 0 h 35"/>
                    <a:gd name="T2" fmla="*/ 1 w 79"/>
                    <a:gd name="T3" fmla="*/ 0 h 35"/>
                    <a:gd name="T4" fmla="*/ 1 w 79"/>
                    <a:gd name="T5" fmla="*/ 0 h 35"/>
                    <a:gd name="T6" fmla="*/ 1 w 79"/>
                    <a:gd name="T7" fmla="*/ 0 h 35"/>
                    <a:gd name="T8" fmla="*/ 0 w 79"/>
                    <a:gd name="T9" fmla="*/ 0 h 35"/>
                    <a:gd name="T10" fmla="*/ 0 60000 65536"/>
                    <a:gd name="T11" fmla="*/ 0 60000 65536"/>
                    <a:gd name="T12" fmla="*/ 0 60000 65536"/>
                    <a:gd name="T13" fmla="*/ 0 60000 65536"/>
                    <a:gd name="T14" fmla="*/ 0 60000 65536"/>
                    <a:gd name="T15" fmla="*/ 0 w 79"/>
                    <a:gd name="T16" fmla="*/ 0 h 35"/>
                    <a:gd name="T17" fmla="*/ 79 w 79"/>
                    <a:gd name="T18" fmla="*/ 35 h 35"/>
                  </a:gdLst>
                  <a:ahLst/>
                  <a:cxnLst>
                    <a:cxn ang="T10">
                      <a:pos x="T0" y="T1"/>
                    </a:cxn>
                    <a:cxn ang="T11">
                      <a:pos x="T2" y="T3"/>
                    </a:cxn>
                    <a:cxn ang="T12">
                      <a:pos x="T4" y="T5"/>
                    </a:cxn>
                    <a:cxn ang="T13">
                      <a:pos x="T6" y="T7"/>
                    </a:cxn>
                    <a:cxn ang="T14">
                      <a:pos x="T8" y="T9"/>
                    </a:cxn>
                  </a:cxnLst>
                  <a:rect l="T15" t="T16" r="T17" b="T18"/>
                  <a:pathLst>
                    <a:path w="79" h="35">
                      <a:moveTo>
                        <a:pt x="0" y="0"/>
                      </a:moveTo>
                      <a:lnTo>
                        <a:pt x="28" y="35"/>
                      </a:lnTo>
                      <a:lnTo>
                        <a:pt x="79" y="35"/>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8" name="Freeform 2476"/>
                <p:cNvSpPr>
                  <a:spLocks/>
                </p:cNvSpPr>
                <p:nvPr/>
              </p:nvSpPr>
              <p:spPr bwMode="auto">
                <a:xfrm>
                  <a:off x="1095" y="3669"/>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8"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9" name="Freeform 2477"/>
                <p:cNvSpPr>
                  <a:spLocks/>
                </p:cNvSpPr>
                <p:nvPr/>
              </p:nvSpPr>
              <p:spPr bwMode="auto">
                <a:xfrm>
                  <a:off x="1115" y="3688"/>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0" name="Freeform 2478"/>
                <p:cNvSpPr>
                  <a:spLocks/>
                </p:cNvSpPr>
                <p:nvPr/>
              </p:nvSpPr>
              <p:spPr bwMode="auto">
                <a:xfrm>
                  <a:off x="1134" y="3707"/>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1" name="Freeform 2479"/>
                <p:cNvSpPr>
                  <a:spLocks/>
                </p:cNvSpPr>
                <p:nvPr/>
              </p:nvSpPr>
              <p:spPr bwMode="auto">
                <a:xfrm>
                  <a:off x="1154" y="3726"/>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2" name="Freeform 2480"/>
                <p:cNvSpPr>
                  <a:spLocks/>
                </p:cNvSpPr>
                <p:nvPr/>
              </p:nvSpPr>
              <p:spPr bwMode="auto">
                <a:xfrm>
                  <a:off x="1175" y="3745"/>
                  <a:ext cx="40" cy="12"/>
                </a:xfrm>
                <a:custGeom>
                  <a:avLst/>
                  <a:gdLst>
                    <a:gd name="T0" fmla="*/ 0 w 81"/>
                    <a:gd name="T1" fmla="*/ 0 h 36"/>
                    <a:gd name="T2" fmla="*/ 0 w 81"/>
                    <a:gd name="T3" fmla="*/ 0 h 36"/>
                    <a:gd name="T4" fmla="*/ 0 w 81"/>
                    <a:gd name="T5" fmla="*/ 0 h 36"/>
                    <a:gd name="T6" fmla="*/ 0 w 81"/>
                    <a:gd name="T7" fmla="*/ 0 h 36"/>
                    <a:gd name="T8" fmla="*/ 0 w 81"/>
                    <a:gd name="T9" fmla="*/ 0 h 36"/>
                    <a:gd name="T10" fmla="*/ 0 60000 65536"/>
                    <a:gd name="T11" fmla="*/ 0 60000 65536"/>
                    <a:gd name="T12" fmla="*/ 0 60000 65536"/>
                    <a:gd name="T13" fmla="*/ 0 60000 65536"/>
                    <a:gd name="T14" fmla="*/ 0 60000 65536"/>
                    <a:gd name="T15" fmla="*/ 0 w 81"/>
                    <a:gd name="T16" fmla="*/ 0 h 36"/>
                    <a:gd name="T17" fmla="*/ 81 w 81"/>
                    <a:gd name="T18" fmla="*/ 36 h 36"/>
                  </a:gdLst>
                  <a:ahLst/>
                  <a:cxnLst>
                    <a:cxn ang="T10">
                      <a:pos x="T0" y="T1"/>
                    </a:cxn>
                    <a:cxn ang="T11">
                      <a:pos x="T2" y="T3"/>
                    </a:cxn>
                    <a:cxn ang="T12">
                      <a:pos x="T4" y="T5"/>
                    </a:cxn>
                    <a:cxn ang="T13">
                      <a:pos x="T6" y="T7"/>
                    </a:cxn>
                    <a:cxn ang="T14">
                      <a:pos x="T8" y="T9"/>
                    </a:cxn>
                  </a:cxnLst>
                  <a:rect l="T15" t="T16" r="T17" b="T18"/>
                  <a:pathLst>
                    <a:path w="81" h="36">
                      <a:moveTo>
                        <a:pt x="0" y="0"/>
                      </a:moveTo>
                      <a:lnTo>
                        <a:pt x="28" y="36"/>
                      </a:lnTo>
                      <a:lnTo>
                        <a:pt x="81" y="36"/>
                      </a:lnTo>
                      <a:lnTo>
                        <a:pt x="52"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53" name="Group 2481"/>
                <p:cNvGrpSpPr>
                  <a:grpSpLocks/>
                </p:cNvGrpSpPr>
                <p:nvPr/>
              </p:nvGrpSpPr>
              <p:grpSpPr bwMode="auto">
                <a:xfrm>
                  <a:off x="700" y="3535"/>
                  <a:ext cx="49" cy="24"/>
                  <a:chOff x="700" y="3535"/>
                  <a:chExt cx="49" cy="24"/>
                </a:xfrm>
              </p:grpSpPr>
              <p:sp>
                <p:nvSpPr>
                  <p:cNvPr id="193" name="Freeform 2482"/>
                  <p:cNvSpPr>
                    <a:spLocks/>
                  </p:cNvSpPr>
                  <p:nvPr/>
                </p:nvSpPr>
                <p:spPr bwMode="auto">
                  <a:xfrm>
                    <a:off x="700" y="3535"/>
                    <a:ext cx="12" cy="24"/>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10"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4" name="Freeform 2483"/>
                  <p:cNvSpPr>
                    <a:spLocks/>
                  </p:cNvSpPr>
                  <p:nvPr/>
                </p:nvSpPr>
                <p:spPr bwMode="auto">
                  <a:xfrm>
                    <a:off x="705" y="3536"/>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2" y="4"/>
                        </a:lnTo>
                        <a:lnTo>
                          <a:pt x="56" y="12"/>
                        </a:lnTo>
                        <a:lnTo>
                          <a:pt x="73"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5" name="Freeform 2484"/>
                  <p:cNvSpPr>
                    <a:spLocks/>
                  </p:cNvSpPr>
                  <p:nvPr/>
                </p:nvSpPr>
                <p:spPr bwMode="auto">
                  <a:xfrm>
                    <a:off x="708" y="354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6"/>
                        </a:lnTo>
                        <a:lnTo>
                          <a:pt x="11" y="0"/>
                        </a:lnTo>
                        <a:lnTo>
                          <a:pt x="67"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4" name="Group 2485"/>
                <p:cNvGrpSpPr>
                  <a:grpSpLocks/>
                </p:cNvGrpSpPr>
                <p:nvPr/>
              </p:nvGrpSpPr>
              <p:grpSpPr bwMode="auto">
                <a:xfrm>
                  <a:off x="714" y="3551"/>
                  <a:ext cx="49" cy="22"/>
                  <a:chOff x="714" y="3551"/>
                  <a:chExt cx="49" cy="22"/>
                </a:xfrm>
              </p:grpSpPr>
              <p:sp>
                <p:nvSpPr>
                  <p:cNvPr id="190" name="Freeform 2486"/>
                  <p:cNvSpPr>
                    <a:spLocks/>
                  </p:cNvSpPr>
                  <p:nvPr/>
                </p:nvSpPr>
                <p:spPr bwMode="auto">
                  <a:xfrm>
                    <a:off x="714" y="35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9" y="0"/>
                        </a:lnTo>
                        <a:lnTo>
                          <a:pt x="24" y="30"/>
                        </a:lnTo>
                        <a:lnTo>
                          <a:pt x="15"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 name="Freeform 2487"/>
                  <p:cNvSpPr>
                    <a:spLocks/>
                  </p:cNvSpPr>
                  <p:nvPr/>
                </p:nvSpPr>
                <p:spPr bwMode="auto">
                  <a:xfrm>
                    <a:off x="719" y="3551"/>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50" y="0"/>
                        </a:lnTo>
                        <a:lnTo>
                          <a:pt x="52" y="2"/>
                        </a:lnTo>
                        <a:lnTo>
                          <a:pt x="57" y="13"/>
                        </a:lnTo>
                        <a:lnTo>
                          <a:pt x="74" y="29"/>
                        </a:lnTo>
                        <a:lnTo>
                          <a:pt x="19" y="29"/>
                        </a:lnTo>
                        <a:lnTo>
                          <a:pt x="9"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2" name="Freeform 2488"/>
                  <p:cNvSpPr>
                    <a:spLocks/>
                  </p:cNvSpPr>
                  <p:nvPr/>
                </p:nvSpPr>
                <p:spPr bwMode="auto">
                  <a:xfrm>
                    <a:off x="722" y="35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5" name="Group 2489"/>
                <p:cNvGrpSpPr>
                  <a:grpSpLocks/>
                </p:cNvGrpSpPr>
                <p:nvPr/>
              </p:nvGrpSpPr>
              <p:grpSpPr bwMode="auto">
                <a:xfrm>
                  <a:off x="728" y="3564"/>
                  <a:ext cx="48" cy="23"/>
                  <a:chOff x="728" y="3564"/>
                  <a:chExt cx="48" cy="23"/>
                </a:xfrm>
              </p:grpSpPr>
              <p:sp>
                <p:nvSpPr>
                  <p:cNvPr id="187" name="Freeform 2490"/>
                  <p:cNvSpPr>
                    <a:spLocks/>
                  </p:cNvSpPr>
                  <p:nvPr/>
                </p:nvSpPr>
                <p:spPr bwMode="auto">
                  <a:xfrm>
                    <a:off x="728" y="3564"/>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8" name="Freeform 2491"/>
                  <p:cNvSpPr>
                    <a:spLocks/>
                  </p:cNvSpPr>
                  <p:nvPr/>
                </p:nvSpPr>
                <p:spPr bwMode="auto">
                  <a:xfrm>
                    <a:off x="732" y="3565"/>
                    <a:ext cx="37"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50" y="0"/>
                        </a:lnTo>
                        <a:lnTo>
                          <a:pt x="51" y="3"/>
                        </a:lnTo>
                        <a:lnTo>
                          <a:pt x="56" y="12"/>
                        </a:lnTo>
                        <a:lnTo>
                          <a:pt x="72"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 name="Freeform 2492"/>
                  <p:cNvSpPr>
                    <a:spLocks/>
                  </p:cNvSpPr>
                  <p:nvPr/>
                </p:nvSpPr>
                <p:spPr bwMode="auto">
                  <a:xfrm>
                    <a:off x="735" y="3575"/>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6" name="Group 2493"/>
                <p:cNvGrpSpPr>
                  <a:grpSpLocks/>
                </p:cNvGrpSpPr>
                <p:nvPr/>
              </p:nvGrpSpPr>
              <p:grpSpPr bwMode="auto">
                <a:xfrm>
                  <a:off x="742" y="3582"/>
                  <a:ext cx="49" cy="23"/>
                  <a:chOff x="742" y="3582"/>
                  <a:chExt cx="49" cy="23"/>
                </a:xfrm>
              </p:grpSpPr>
              <p:sp>
                <p:nvSpPr>
                  <p:cNvPr id="184" name="Freeform 2494"/>
                  <p:cNvSpPr>
                    <a:spLocks/>
                  </p:cNvSpPr>
                  <p:nvPr/>
                </p:nvSpPr>
                <p:spPr bwMode="auto">
                  <a:xfrm>
                    <a:off x="742" y="3582"/>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6"/>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5" name="Freeform 2495"/>
                  <p:cNvSpPr>
                    <a:spLocks/>
                  </p:cNvSpPr>
                  <p:nvPr/>
                </p:nvSpPr>
                <p:spPr bwMode="auto">
                  <a:xfrm>
                    <a:off x="747" y="3582"/>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8" y="0"/>
                        </a:lnTo>
                        <a:lnTo>
                          <a:pt x="50" y="3"/>
                        </a:lnTo>
                        <a:lnTo>
                          <a:pt x="56" y="12"/>
                        </a:lnTo>
                        <a:lnTo>
                          <a:pt x="72" y="30"/>
                        </a:lnTo>
                        <a:lnTo>
                          <a:pt x="17" y="30"/>
                        </a:lnTo>
                        <a:lnTo>
                          <a:pt x="8" y="21"/>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6" name="Freeform 2496"/>
                  <p:cNvSpPr>
                    <a:spLocks/>
                  </p:cNvSpPr>
                  <p:nvPr/>
                </p:nvSpPr>
                <p:spPr bwMode="auto">
                  <a:xfrm>
                    <a:off x="750" y="359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7" name="Group 2497"/>
                <p:cNvGrpSpPr>
                  <a:grpSpLocks/>
                </p:cNvGrpSpPr>
                <p:nvPr/>
              </p:nvGrpSpPr>
              <p:grpSpPr bwMode="auto">
                <a:xfrm>
                  <a:off x="752" y="3597"/>
                  <a:ext cx="133" cy="106"/>
                  <a:chOff x="752" y="3597"/>
                  <a:chExt cx="133" cy="106"/>
                </a:xfrm>
              </p:grpSpPr>
              <p:sp>
                <p:nvSpPr>
                  <p:cNvPr id="181" name="Freeform 2498"/>
                  <p:cNvSpPr>
                    <a:spLocks/>
                  </p:cNvSpPr>
                  <p:nvPr/>
                </p:nvSpPr>
                <p:spPr bwMode="auto">
                  <a:xfrm>
                    <a:off x="752" y="3598"/>
                    <a:ext cx="91" cy="105"/>
                  </a:xfrm>
                  <a:custGeom>
                    <a:avLst/>
                    <a:gdLst>
                      <a:gd name="T0" fmla="*/ 1 w 182"/>
                      <a:gd name="T1" fmla="*/ 0 h 314"/>
                      <a:gd name="T2" fmla="*/ 0 w 182"/>
                      <a:gd name="T3" fmla="*/ 0 h 314"/>
                      <a:gd name="T4" fmla="*/ 1 w 182"/>
                      <a:gd name="T5" fmla="*/ 0 h 314"/>
                      <a:gd name="T6" fmla="*/ 1 w 182"/>
                      <a:gd name="T7" fmla="*/ 0 h 314"/>
                      <a:gd name="T8" fmla="*/ 1 w 182"/>
                      <a:gd name="T9" fmla="*/ 0 h 314"/>
                      <a:gd name="T10" fmla="*/ 0 60000 65536"/>
                      <a:gd name="T11" fmla="*/ 0 60000 65536"/>
                      <a:gd name="T12" fmla="*/ 0 60000 65536"/>
                      <a:gd name="T13" fmla="*/ 0 60000 65536"/>
                      <a:gd name="T14" fmla="*/ 0 60000 65536"/>
                      <a:gd name="T15" fmla="*/ 0 w 182"/>
                      <a:gd name="T16" fmla="*/ 0 h 314"/>
                      <a:gd name="T17" fmla="*/ 182 w 182"/>
                      <a:gd name="T18" fmla="*/ 314 h 314"/>
                    </a:gdLst>
                    <a:ahLst/>
                    <a:cxnLst>
                      <a:cxn ang="T10">
                        <a:pos x="T0" y="T1"/>
                      </a:cxn>
                      <a:cxn ang="T11">
                        <a:pos x="T2" y="T3"/>
                      </a:cxn>
                      <a:cxn ang="T12">
                        <a:pos x="T4" y="T5"/>
                      </a:cxn>
                      <a:cxn ang="T13">
                        <a:pos x="T6" y="T7"/>
                      </a:cxn>
                      <a:cxn ang="T14">
                        <a:pos x="T8" y="T9"/>
                      </a:cxn>
                    </a:cxnLst>
                    <a:rect l="T15" t="T16" r="T17" b="T18"/>
                    <a:pathLst>
                      <a:path w="182" h="314">
                        <a:moveTo>
                          <a:pt x="171" y="314"/>
                        </a:moveTo>
                        <a:lnTo>
                          <a:pt x="0" y="27"/>
                        </a:lnTo>
                        <a:lnTo>
                          <a:pt x="13" y="0"/>
                        </a:lnTo>
                        <a:lnTo>
                          <a:pt x="182" y="278"/>
                        </a:lnTo>
                        <a:lnTo>
                          <a:pt x="171" y="31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2" name="Freeform 2499"/>
                  <p:cNvSpPr>
                    <a:spLocks/>
                  </p:cNvSpPr>
                  <p:nvPr/>
                </p:nvSpPr>
                <p:spPr bwMode="auto">
                  <a:xfrm>
                    <a:off x="759" y="3597"/>
                    <a:ext cx="118" cy="94"/>
                  </a:xfrm>
                  <a:custGeom>
                    <a:avLst/>
                    <a:gdLst>
                      <a:gd name="T0" fmla="*/ 1 w 235"/>
                      <a:gd name="T1" fmla="*/ 0 h 281"/>
                      <a:gd name="T2" fmla="*/ 1 w 235"/>
                      <a:gd name="T3" fmla="*/ 0 h 281"/>
                      <a:gd name="T4" fmla="*/ 1 w 235"/>
                      <a:gd name="T5" fmla="*/ 0 h 281"/>
                      <a:gd name="T6" fmla="*/ 1 w 235"/>
                      <a:gd name="T7" fmla="*/ 0 h 281"/>
                      <a:gd name="T8" fmla="*/ 2 w 235"/>
                      <a:gd name="T9" fmla="*/ 0 h 281"/>
                      <a:gd name="T10" fmla="*/ 2 w 235"/>
                      <a:gd name="T11" fmla="*/ 0 h 281"/>
                      <a:gd name="T12" fmla="*/ 1 w 235"/>
                      <a:gd name="T13" fmla="*/ 0 h 281"/>
                      <a:gd name="T14" fmla="*/ 0 w 235"/>
                      <a:gd name="T15" fmla="*/ 0 h 281"/>
                      <a:gd name="T16" fmla="*/ 1 w 235"/>
                      <a:gd name="T17" fmla="*/ 0 h 28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35"/>
                      <a:gd name="T28" fmla="*/ 0 h 281"/>
                      <a:gd name="T29" fmla="*/ 235 w 235"/>
                      <a:gd name="T30" fmla="*/ 281 h 28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35" h="281">
                        <a:moveTo>
                          <a:pt x="1" y="0"/>
                        </a:moveTo>
                        <a:lnTo>
                          <a:pt x="56" y="0"/>
                        </a:lnTo>
                        <a:lnTo>
                          <a:pt x="58" y="0"/>
                        </a:lnTo>
                        <a:lnTo>
                          <a:pt x="65" y="10"/>
                        </a:lnTo>
                        <a:lnTo>
                          <a:pt x="235" y="281"/>
                        </a:lnTo>
                        <a:lnTo>
                          <a:pt x="165" y="277"/>
                        </a:lnTo>
                        <a:lnTo>
                          <a:pt x="9" y="19"/>
                        </a:lnTo>
                        <a:lnTo>
                          <a:pt x="0" y="4"/>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3" name="Freeform 2500"/>
                  <p:cNvSpPr>
                    <a:spLocks/>
                  </p:cNvSpPr>
                  <p:nvPr/>
                </p:nvSpPr>
                <p:spPr bwMode="auto">
                  <a:xfrm>
                    <a:off x="838" y="3691"/>
                    <a:ext cx="47" cy="12"/>
                  </a:xfrm>
                  <a:custGeom>
                    <a:avLst/>
                    <a:gdLst>
                      <a:gd name="T0" fmla="*/ 0 w 95"/>
                      <a:gd name="T1" fmla="*/ 0 h 36"/>
                      <a:gd name="T2" fmla="*/ 0 w 95"/>
                      <a:gd name="T3" fmla="*/ 0 h 36"/>
                      <a:gd name="T4" fmla="*/ 0 w 95"/>
                      <a:gd name="T5" fmla="*/ 0 h 36"/>
                      <a:gd name="T6" fmla="*/ 0 w 95"/>
                      <a:gd name="T7" fmla="*/ 0 h 36"/>
                      <a:gd name="T8" fmla="*/ 0 w 95"/>
                      <a:gd name="T9" fmla="*/ 0 h 36"/>
                      <a:gd name="T10" fmla="*/ 0 w 95"/>
                      <a:gd name="T11" fmla="*/ 0 h 36"/>
                      <a:gd name="T12" fmla="*/ 0 w 95"/>
                      <a:gd name="T13" fmla="*/ 0 h 36"/>
                      <a:gd name="T14" fmla="*/ 0 60000 65536"/>
                      <a:gd name="T15" fmla="*/ 0 60000 65536"/>
                      <a:gd name="T16" fmla="*/ 0 60000 65536"/>
                      <a:gd name="T17" fmla="*/ 0 60000 65536"/>
                      <a:gd name="T18" fmla="*/ 0 60000 65536"/>
                      <a:gd name="T19" fmla="*/ 0 60000 65536"/>
                      <a:gd name="T20" fmla="*/ 0 60000 65536"/>
                      <a:gd name="T21" fmla="*/ 0 w 95"/>
                      <a:gd name="T22" fmla="*/ 0 h 36"/>
                      <a:gd name="T23" fmla="*/ 95 w 95"/>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95" h="36">
                        <a:moveTo>
                          <a:pt x="0" y="36"/>
                        </a:moveTo>
                        <a:lnTo>
                          <a:pt x="2" y="19"/>
                        </a:lnTo>
                        <a:lnTo>
                          <a:pt x="8" y="7"/>
                        </a:lnTo>
                        <a:lnTo>
                          <a:pt x="12" y="0"/>
                        </a:lnTo>
                        <a:lnTo>
                          <a:pt x="76" y="0"/>
                        </a:lnTo>
                        <a:lnTo>
                          <a:pt x="95"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8" name="Group 2501"/>
                <p:cNvGrpSpPr>
                  <a:grpSpLocks/>
                </p:cNvGrpSpPr>
                <p:nvPr/>
              </p:nvGrpSpPr>
              <p:grpSpPr bwMode="auto">
                <a:xfrm>
                  <a:off x="844" y="3694"/>
                  <a:ext cx="48" cy="23"/>
                  <a:chOff x="844" y="3694"/>
                  <a:chExt cx="48" cy="23"/>
                </a:xfrm>
              </p:grpSpPr>
              <p:sp>
                <p:nvSpPr>
                  <p:cNvPr id="178" name="Freeform 2502"/>
                  <p:cNvSpPr>
                    <a:spLocks/>
                  </p:cNvSpPr>
                  <p:nvPr/>
                </p:nvSpPr>
                <p:spPr bwMode="auto">
                  <a:xfrm>
                    <a:off x="844" y="3694"/>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9" y="0"/>
                        </a:lnTo>
                        <a:lnTo>
                          <a:pt x="24" y="32"/>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9" name="Freeform 2503"/>
                  <p:cNvSpPr>
                    <a:spLocks/>
                  </p:cNvSpPr>
                  <p:nvPr/>
                </p:nvSpPr>
                <p:spPr bwMode="auto">
                  <a:xfrm>
                    <a:off x="848" y="369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1" y="3"/>
                        </a:lnTo>
                        <a:lnTo>
                          <a:pt x="57" y="12"/>
                        </a:lnTo>
                        <a:lnTo>
                          <a:pt x="74" y="30"/>
                        </a:lnTo>
                        <a:lnTo>
                          <a:pt x="19" y="30"/>
                        </a:lnTo>
                        <a:lnTo>
                          <a:pt x="9" y="21"/>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0" name="Freeform 2504"/>
                  <p:cNvSpPr>
                    <a:spLocks/>
                  </p:cNvSpPr>
                  <p:nvPr/>
                </p:nvSpPr>
                <p:spPr bwMode="auto">
                  <a:xfrm>
                    <a:off x="851" y="3706"/>
                    <a:ext cx="41" cy="11"/>
                  </a:xfrm>
                  <a:custGeom>
                    <a:avLst/>
                    <a:gdLst>
                      <a:gd name="T0" fmla="*/ 0 w 81"/>
                      <a:gd name="T1" fmla="*/ 0 h 34"/>
                      <a:gd name="T2" fmla="*/ 1 w 81"/>
                      <a:gd name="T3" fmla="*/ 0 h 34"/>
                      <a:gd name="T4" fmla="*/ 1 w 81"/>
                      <a:gd name="T5" fmla="*/ 0 h 34"/>
                      <a:gd name="T6" fmla="*/ 1 w 81"/>
                      <a:gd name="T7" fmla="*/ 0 h 34"/>
                      <a:gd name="T8" fmla="*/ 1 w 81"/>
                      <a:gd name="T9" fmla="*/ 0 h 34"/>
                      <a:gd name="T10" fmla="*/ 1 w 81"/>
                      <a:gd name="T11" fmla="*/ 0 h 34"/>
                      <a:gd name="T12" fmla="*/ 0 w 81"/>
                      <a:gd name="T13" fmla="*/ 0 h 34"/>
                      <a:gd name="T14" fmla="*/ 0 60000 65536"/>
                      <a:gd name="T15" fmla="*/ 0 60000 65536"/>
                      <a:gd name="T16" fmla="*/ 0 60000 65536"/>
                      <a:gd name="T17" fmla="*/ 0 60000 65536"/>
                      <a:gd name="T18" fmla="*/ 0 60000 65536"/>
                      <a:gd name="T19" fmla="*/ 0 60000 65536"/>
                      <a:gd name="T20" fmla="*/ 0 60000 65536"/>
                      <a:gd name="T21" fmla="*/ 0 w 81"/>
                      <a:gd name="T22" fmla="*/ 0 h 34"/>
                      <a:gd name="T23" fmla="*/ 81 w 81"/>
                      <a:gd name="T24" fmla="*/ 34 h 3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4">
                        <a:moveTo>
                          <a:pt x="0" y="34"/>
                        </a:moveTo>
                        <a:lnTo>
                          <a:pt x="1" y="19"/>
                        </a:lnTo>
                        <a:lnTo>
                          <a:pt x="5" y="6"/>
                        </a:lnTo>
                        <a:lnTo>
                          <a:pt x="10" y="0"/>
                        </a:lnTo>
                        <a:lnTo>
                          <a:pt x="67" y="0"/>
                        </a:lnTo>
                        <a:lnTo>
                          <a:pt x="81" y="34"/>
                        </a:lnTo>
                        <a:lnTo>
                          <a:pt x="0" y="34"/>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9" name="Group 2505"/>
                <p:cNvGrpSpPr>
                  <a:grpSpLocks/>
                </p:cNvGrpSpPr>
                <p:nvPr/>
              </p:nvGrpSpPr>
              <p:grpSpPr bwMode="auto">
                <a:xfrm>
                  <a:off x="857" y="3710"/>
                  <a:ext cx="49" cy="22"/>
                  <a:chOff x="857" y="3710"/>
                  <a:chExt cx="49" cy="22"/>
                </a:xfrm>
              </p:grpSpPr>
              <p:sp>
                <p:nvSpPr>
                  <p:cNvPr id="175" name="Freeform 2506"/>
                  <p:cNvSpPr>
                    <a:spLocks/>
                  </p:cNvSpPr>
                  <p:nvPr/>
                </p:nvSpPr>
                <p:spPr bwMode="auto">
                  <a:xfrm>
                    <a:off x="857" y="3710"/>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6" name="Freeform 2507"/>
                  <p:cNvSpPr>
                    <a:spLocks/>
                  </p:cNvSpPr>
                  <p:nvPr/>
                </p:nvSpPr>
                <p:spPr bwMode="auto">
                  <a:xfrm>
                    <a:off x="862" y="371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7" name="Freeform 2508"/>
                  <p:cNvSpPr>
                    <a:spLocks/>
                  </p:cNvSpPr>
                  <p:nvPr/>
                </p:nvSpPr>
                <p:spPr bwMode="auto">
                  <a:xfrm>
                    <a:off x="865" y="3720"/>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0" name="Group 2509"/>
                <p:cNvGrpSpPr>
                  <a:grpSpLocks/>
                </p:cNvGrpSpPr>
                <p:nvPr/>
              </p:nvGrpSpPr>
              <p:grpSpPr bwMode="auto">
                <a:xfrm>
                  <a:off x="1086" y="3766"/>
                  <a:ext cx="49" cy="23"/>
                  <a:chOff x="1086" y="3766"/>
                  <a:chExt cx="49" cy="23"/>
                </a:xfrm>
              </p:grpSpPr>
              <p:sp>
                <p:nvSpPr>
                  <p:cNvPr id="172" name="Freeform 2510"/>
                  <p:cNvSpPr>
                    <a:spLocks/>
                  </p:cNvSpPr>
                  <p:nvPr/>
                </p:nvSpPr>
                <p:spPr bwMode="auto">
                  <a:xfrm>
                    <a:off x="1086" y="3766"/>
                    <a:ext cx="11" cy="23"/>
                  </a:xfrm>
                  <a:custGeom>
                    <a:avLst/>
                    <a:gdLst>
                      <a:gd name="T0" fmla="*/ 1 w 22"/>
                      <a:gd name="T1" fmla="*/ 0 h 69"/>
                      <a:gd name="T2" fmla="*/ 0 w 22"/>
                      <a:gd name="T3" fmla="*/ 0 h 69"/>
                      <a:gd name="T4" fmla="*/ 1 w 22"/>
                      <a:gd name="T5" fmla="*/ 0 h 69"/>
                      <a:gd name="T6" fmla="*/ 1 w 22"/>
                      <a:gd name="T7" fmla="*/ 0 h 69"/>
                      <a:gd name="T8" fmla="*/ 1 w 22"/>
                      <a:gd name="T9" fmla="*/ 0 h 69"/>
                      <a:gd name="T10" fmla="*/ 0 60000 65536"/>
                      <a:gd name="T11" fmla="*/ 0 60000 65536"/>
                      <a:gd name="T12" fmla="*/ 0 60000 65536"/>
                      <a:gd name="T13" fmla="*/ 0 60000 65536"/>
                      <a:gd name="T14" fmla="*/ 0 60000 65536"/>
                      <a:gd name="T15" fmla="*/ 0 w 22"/>
                      <a:gd name="T16" fmla="*/ 0 h 69"/>
                      <a:gd name="T17" fmla="*/ 22 w 22"/>
                      <a:gd name="T18" fmla="*/ 69 h 69"/>
                    </a:gdLst>
                    <a:ahLst/>
                    <a:cxnLst>
                      <a:cxn ang="T10">
                        <a:pos x="T0" y="T1"/>
                      </a:cxn>
                      <a:cxn ang="T11">
                        <a:pos x="T2" y="T3"/>
                      </a:cxn>
                      <a:cxn ang="T12">
                        <a:pos x="T4" y="T5"/>
                      </a:cxn>
                      <a:cxn ang="T13">
                        <a:pos x="T6" y="T7"/>
                      </a:cxn>
                      <a:cxn ang="T14">
                        <a:pos x="T8" y="T9"/>
                      </a:cxn>
                    </a:cxnLst>
                    <a:rect l="T15" t="T16" r="T17" b="T18"/>
                    <a:pathLst>
                      <a:path w="22" h="69">
                        <a:moveTo>
                          <a:pt x="13" y="69"/>
                        </a:moveTo>
                        <a:lnTo>
                          <a:pt x="0" y="27"/>
                        </a:lnTo>
                        <a:lnTo>
                          <a:pt x="9" y="0"/>
                        </a:lnTo>
                        <a:lnTo>
                          <a:pt x="22" y="32"/>
                        </a:lnTo>
                        <a:lnTo>
                          <a:pt x="13" y="69"/>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3" name="Freeform 2511"/>
                  <p:cNvSpPr>
                    <a:spLocks/>
                  </p:cNvSpPr>
                  <p:nvPr/>
                </p:nvSpPr>
                <p:spPr bwMode="auto">
                  <a:xfrm>
                    <a:off x="1090" y="3767"/>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3" y="0"/>
                        </a:moveTo>
                        <a:lnTo>
                          <a:pt x="51" y="0"/>
                        </a:lnTo>
                        <a:lnTo>
                          <a:pt x="53" y="4"/>
                        </a:lnTo>
                        <a:lnTo>
                          <a:pt x="56" y="13"/>
                        </a:lnTo>
                        <a:lnTo>
                          <a:pt x="74" y="31"/>
                        </a:lnTo>
                        <a:lnTo>
                          <a:pt x="18" y="31"/>
                        </a:lnTo>
                        <a:lnTo>
                          <a:pt x="9" y="22"/>
                        </a:lnTo>
                        <a:lnTo>
                          <a:pt x="0" y="6"/>
                        </a:lnTo>
                        <a:lnTo>
                          <a:pt x="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4" name="Freeform 2512"/>
                  <p:cNvSpPr>
                    <a:spLocks/>
                  </p:cNvSpPr>
                  <p:nvPr/>
                </p:nvSpPr>
                <p:spPr bwMode="auto">
                  <a:xfrm>
                    <a:off x="1093" y="3777"/>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6"/>
                        </a:lnTo>
                        <a:lnTo>
                          <a:pt x="11" y="0"/>
                        </a:lnTo>
                        <a:lnTo>
                          <a:pt x="68"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1" name="Group 2513"/>
                <p:cNvGrpSpPr>
                  <a:grpSpLocks/>
                </p:cNvGrpSpPr>
                <p:nvPr/>
              </p:nvGrpSpPr>
              <p:grpSpPr bwMode="auto">
                <a:xfrm>
                  <a:off x="934" y="3740"/>
                  <a:ext cx="48" cy="23"/>
                  <a:chOff x="934" y="3740"/>
                  <a:chExt cx="48" cy="23"/>
                </a:xfrm>
              </p:grpSpPr>
              <p:sp>
                <p:nvSpPr>
                  <p:cNvPr id="169" name="Freeform 2514"/>
                  <p:cNvSpPr>
                    <a:spLocks/>
                  </p:cNvSpPr>
                  <p:nvPr/>
                </p:nvSpPr>
                <p:spPr bwMode="auto">
                  <a:xfrm>
                    <a:off x="934" y="3740"/>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9"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0" name="Freeform 2515"/>
                  <p:cNvSpPr>
                    <a:spLocks/>
                  </p:cNvSpPr>
                  <p:nvPr/>
                </p:nvSpPr>
                <p:spPr bwMode="auto">
                  <a:xfrm>
                    <a:off x="938" y="3741"/>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4"/>
                        </a:lnTo>
                        <a:lnTo>
                          <a:pt x="57" y="13"/>
                        </a:lnTo>
                        <a:lnTo>
                          <a:pt x="74" y="30"/>
                        </a:lnTo>
                        <a:lnTo>
                          <a:pt x="19" y="30"/>
                        </a:lnTo>
                        <a:lnTo>
                          <a:pt x="9" y="22"/>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1" name="Freeform 2516"/>
                  <p:cNvSpPr>
                    <a:spLocks/>
                  </p:cNvSpPr>
                  <p:nvPr/>
                </p:nvSpPr>
                <p:spPr bwMode="auto">
                  <a:xfrm>
                    <a:off x="941" y="375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6"/>
                        </a:lnTo>
                        <a:lnTo>
                          <a:pt x="10" y="0"/>
                        </a:lnTo>
                        <a:lnTo>
                          <a:pt x="67" y="0"/>
                        </a:lnTo>
                        <a:lnTo>
                          <a:pt x="81"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2" name="Group 2517"/>
                <p:cNvGrpSpPr>
                  <a:grpSpLocks/>
                </p:cNvGrpSpPr>
                <p:nvPr/>
              </p:nvGrpSpPr>
              <p:grpSpPr bwMode="auto">
                <a:xfrm>
                  <a:off x="943" y="3754"/>
                  <a:ext cx="49" cy="23"/>
                  <a:chOff x="943" y="3754"/>
                  <a:chExt cx="49" cy="23"/>
                </a:xfrm>
              </p:grpSpPr>
              <p:sp>
                <p:nvSpPr>
                  <p:cNvPr id="166" name="Freeform 2518"/>
                  <p:cNvSpPr>
                    <a:spLocks/>
                  </p:cNvSpPr>
                  <p:nvPr/>
                </p:nvSpPr>
                <p:spPr bwMode="auto">
                  <a:xfrm>
                    <a:off x="943" y="3754"/>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7" name="Freeform 2519"/>
                  <p:cNvSpPr>
                    <a:spLocks/>
                  </p:cNvSpPr>
                  <p:nvPr/>
                </p:nvSpPr>
                <p:spPr bwMode="auto">
                  <a:xfrm>
                    <a:off x="948" y="375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1" y="0"/>
                        </a:moveTo>
                        <a:lnTo>
                          <a:pt x="49" y="0"/>
                        </a:lnTo>
                        <a:lnTo>
                          <a:pt x="50" y="3"/>
                        </a:lnTo>
                        <a:lnTo>
                          <a:pt x="57" y="12"/>
                        </a:lnTo>
                        <a:lnTo>
                          <a:pt x="74"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8" name="Freeform 2520"/>
                  <p:cNvSpPr>
                    <a:spLocks/>
                  </p:cNvSpPr>
                  <p:nvPr/>
                </p:nvSpPr>
                <p:spPr bwMode="auto">
                  <a:xfrm>
                    <a:off x="951" y="3765"/>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63" name="Freeform 2521"/>
                <p:cNvSpPr>
                  <a:spLocks/>
                </p:cNvSpPr>
                <p:nvPr/>
              </p:nvSpPr>
              <p:spPr bwMode="auto">
                <a:xfrm>
                  <a:off x="987" y="3753"/>
                  <a:ext cx="25" cy="43"/>
                </a:xfrm>
                <a:custGeom>
                  <a:avLst/>
                  <a:gdLst>
                    <a:gd name="T0" fmla="*/ 0 w 51"/>
                    <a:gd name="T1" fmla="*/ 0 h 128"/>
                    <a:gd name="T2" fmla="*/ 0 w 51"/>
                    <a:gd name="T3" fmla="*/ 0 h 128"/>
                    <a:gd name="T4" fmla="*/ 0 w 51"/>
                    <a:gd name="T5" fmla="*/ 0 h 128"/>
                    <a:gd name="T6" fmla="*/ 0 w 51"/>
                    <a:gd name="T7" fmla="*/ 0 h 128"/>
                    <a:gd name="T8" fmla="*/ 0 w 51"/>
                    <a:gd name="T9" fmla="*/ 0 h 128"/>
                    <a:gd name="T10" fmla="*/ 0 w 51"/>
                    <a:gd name="T11" fmla="*/ 0 h 128"/>
                    <a:gd name="T12" fmla="*/ 0 w 51"/>
                    <a:gd name="T13" fmla="*/ 0 h 128"/>
                    <a:gd name="T14" fmla="*/ 0 60000 65536"/>
                    <a:gd name="T15" fmla="*/ 0 60000 65536"/>
                    <a:gd name="T16" fmla="*/ 0 60000 65536"/>
                    <a:gd name="T17" fmla="*/ 0 60000 65536"/>
                    <a:gd name="T18" fmla="*/ 0 60000 65536"/>
                    <a:gd name="T19" fmla="*/ 0 60000 65536"/>
                    <a:gd name="T20" fmla="*/ 0 60000 65536"/>
                    <a:gd name="T21" fmla="*/ 0 w 51"/>
                    <a:gd name="T22" fmla="*/ 0 h 128"/>
                    <a:gd name="T23" fmla="*/ 51 w 51"/>
                    <a:gd name="T24" fmla="*/ 128 h 12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1" h="128">
                      <a:moveTo>
                        <a:pt x="40" y="128"/>
                      </a:moveTo>
                      <a:lnTo>
                        <a:pt x="0" y="29"/>
                      </a:lnTo>
                      <a:lnTo>
                        <a:pt x="0" y="20"/>
                      </a:lnTo>
                      <a:lnTo>
                        <a:pt x="2" y="11"/>
                      </a:lnTo>
                      <a:lnTo>
                        <a:pt x="10" y="0"/>
                      </a:lnTo>
                      <a:lnTo>
                        <a:pt x="51" y="91"/>
                      </a:lnTo>
                      <a:lnTo>
                        <a:pt x="40" y="12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4" name="Freeform 2522"/>
                <p:cNvSpPr>
                  <a:spLocks/>
                </p:cNvSpPr>
                <p:nvPr/>
              </p:nvSpPr>
              <p:spPr bwMode="auto">
                <a:xfrm>
                  <a:off x="992" y="3753"/>
                  <a:ext cx="91" cy="29"/>
                </a:xfrm>
                <a:custGeom>
                  <a:avLst/>
                  <a:gdLst>
                    <a:gd name="T0" fmla="*/ 0 w 183"/>
                    <a:gd name="T1" fmla="*/ 0 h 85"/>
                    <a:gd name="T2" fmla="*/ 0 w 183"/>
                    <a:gd name="T3" fmla="*/ 0 h 85"/>
                    <a:gd name="T4" fmla="*/ 0 w 183"/>
                    <a:gd name="T5" fmla="*/ 0 h 85"/>
                    <a:gd name="T6" fmla="*/ 0 w 183"/>
                    <a:gd name="T7" fmla="*/ 0 h 85"/>
                    <a:gd name="T8" fmla="*/ 0 w 183"/>
                    <a:gd name="T9" fmla="*/ 0 h 85"/>
                    <a:gd name="T10" fmla="*/ 1 w 183"/>
                    <a:gd name="T11" fmla="*/ 0 h 85"/>
                    <a:gd name="T12" fmla="*/ 1 w 183"/>
                    <a:gd name="T13" fmla="*/ 0 h 85"/>
                    <a:gd name="T14" fmla="*/ 1 w 183"/>
                    <a:gd name="T15" fmla="*/ 0 h 85"/>
                    <a:gd name="T16" fmla="*/ 1 w 183"/>
                    <a:gd name="T17" fmla="*/ 0 h 85"/>
                    <a:gd name="T18" fmla="*/ 0 w 183"/>
                    <a:gd name="T19" fmla="*/ 0 h 85"/>
                    <a:gd name="T20" fmla="*/ 0 w 183"/>
                    <a:gd name="T21" fmla="*/ 0 h 85"/>
                    <a:gd name="T22" fmla="*/ 0 w 183"/>
                    <a:gd name="T23" fmla="*/ 0 h 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83"/>
                    <a:gd name="T37" fmla="*/ 0 h 85"/>
                    <a:gd name="T38" fmla="*/ 183 w 183"/>
                    <a:gd name="T39" fmla="*/ 85 h 8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83" h="85">
                      <a:moveTo>
                        <a:pt x="0" y="0"/>
                      </a:moveTo>
                      <a:lnTo>
                        <a:pt x="64" y="0"/>
                      </a:lnTo>
                      <a:lnTo>
                        <a:pt x="67" y="13"/>
                      </a:lnTo>
                      <a:lnTo>
                        <a:pt x="75" y="28"/>
                      </a:lnTo>
                      <a:lnTo>
                        <a:pt x="84" y="42"/>
                      </a:lnTo>
                      <a:lnTo>
                        <a:pt x="158" y="42"/>
                      </a:lnTo>
                      <a:lnTo>
                        <a:pt x="163" y="55"/>
                      </a:lnTo>
                      <a:lnTo>
                        <a:pt x="172" y="67"/>
                      </a:lnTo>
                      <a:lnTo>
                        <a:pt x="183" y="85"/>
                      </a:lnTo>
                      <a:lnTo>
                        <a:pt x="64" y="85"/>
                      </a:lnTo>
                      <a:lnTo>
                        <a:pt x="41" y="85"/>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5" name="Freeform 2523"/>
                <p:cNvSpPr>
                  <a:spLocks/>
                </p:cNvSpPr>
                <p:nvPr/>
              </p:nvSpPr>
              <p:spPr bwMode="auto">
                <a:xfrm>
                  <a:off x="1008" y="3782"/>
                  <a:ext cx="81" cy="12"/>
                </a:xfrm>
                <a:custGeom>
                  <a:avLst/>
                  <a:gdLst>
                    <a:gd name="T0" fmla="*/ 0 w 160"/>
                    <a:gd name="T1" fmla="*/ 0 h 36"/>
                    <a:gd name="T2" fmla="*/ 1 w 160"/>
                    <a:gd name="T3" fmla="*/ 0 h 36"/>
                    <a:gd name="T4" fmla="*/ 1 w 160"/>
                    <a:gd name="T5" fmla="*/ 0 h 36"/>
                    <a:gd name="T6" fmla="*/ 1 w 160"/>
                    <a:gd name="T7" fmla="*/ 0 h 36"/>
                    <a:gd name="T8" fmla="*/ 2 w 160"/>
                    <a:gd name="T9" fmla="*/ 0 h 36"/>
                    <a:gd name="T10" fmla="*/ 2 w 160"/>
                    <a:gd name="T11" fmla="*/ 0 h 36"/>
                    <a:gd name="T12" fmla="*/ 0 w 160"/>
                    <a:gd name="T13" fmla="*/ 0 h 36"/>
                    <a:gd name="T14" fmla="*/ 0 60000 65536"/>
                    <a:gd name="T15" fmla="*/ 0 60000 65536"/>
                    <a:gd name="T16" fmla="*/ 0 60000 65536"/>
                    <a:gd name="T17" fmla="*/ 0 60000 65536"/>
                    <a:gd name="T18" fmla="*/ 0 60000 65536"/>
                    <a:gd name="T19" fmla="*/ 0 60000 65536"/>
                    <a:gd name="T20" fmla="*/ 0 60000 65536"/>
                    <a:gd name="T21" fmla="*/ 0 w 160"/>
                    <a:gd name="T22" fmla="*/ 0 h 36"/>
                    <a:gd name="T23" fmla="*/ 160 w 16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60" h="36">
                      <a:moveTo>
                        <a:pt x="0" y="36"/>
                      </a:moveTo>
                      <a:lnTo>
                        <a:pt x="1" y="20"/>
                      </a:lnTo>
                      <a:lnTo>
                        <a:pt x="7" y="8"/>
                      </a:lnTo>
                      <a:lnTo>
                        <a:pt x="10" y="0"/>
                      </a:lnTo>
                      <a:lnTo>
                        <a:pt x="150" y="0"/>
                      </a:lnTo>
                      <a:lnTo>
                        <a:pt x="160"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0" name="Group 2524"/>
              <p:cNvGrpSpPr>
                <a:grpSpLocks/>
              </p:cNvGrpSpPr>
              <p:nvPr/>
            </p:nvGrpSpPr>
            <p:grpSpPr bwMode="auto">
              <a:xfrm>
                <a:off x="920" y="3821"/>
                <a:ext cx="413" cy="50"/>
                <a:chOff x="920" y="3821"/>
                <a:chExt cx="413" cy="50"/>
              </a:xfrm>
            </p:grpSpPr>
            <p:sp>
              <p:nvSpPr>
                <p:cNvPr id="81" name="Freeform 2525"/>
                <p:cNvSpPr>
                  <a:spLocks/>
                </p:cNvSpPr>
                <p:nvPr/>
              </p:nvSpPr>
              <p:spPr bwMode="auto">
                <a:xfrm>
                  <a:off x="920" y="3821"/>
                  <a:ext cx="413" cy="50"/>
                </a:xfrm>
                <a:custGeom>
                  <a:avLst/>
                  <a:gdLst>
                    <a:gd name="T0" fmla="*/ 1 w 825"/>
                    <a:gd name="T1" fmla="*/ 0 h 151"/>
                    <a:gd name="T2" fmla="*/ 1 w 825"/>
                    <a:gd name="T3" fmla="*/ 0 h 151"/>
                    <a:gd name="T4" fmla="*/ 1 w 825"/>
                    <a:gd name="T5" fmla="*/ 0 h 151"/>
                    <a:gd name="T6" fmla="*/ 0 w 825"/>
                    <a:gd name="T7" fmla="*/ 0 h 151"/>
                    <a:gd name="T8" fmla="*/ 1 w 825"/>
                    <a:gd name="T9" fmla="*/ 0 h 151"/>
                    <a:gd name="T10" fmla="*/ 1 w 825"/>
                    <a:gd name="T11" fmla="*/ 0 h 151"/>
                    <a:gd name="T12" fmla="*/ 1 w 825"/>
                    <a:gd name="T13" fmla="*/ 0 h 151"/>
                    <a:gd name="T14" fmla="*/ 7 w 825"/>
                    <a:gd name="T15" fmla="*/ 0 h 151"/>
                    <a:gd name="T16" fmla="*/ 7 w 825"/>
                    <a:gd name="T17" fmla="*/ 0 h 151"/>
                    <a:gd name="T18" fmla="*/ 7 w 825"/>
                    <a:gd name="T19" fmla="*/ 0 h 151"/>
                    <a:gd name="T20" fmla="*/ 7 w 825"/>
                    <a:gd name="T21" fmla="*/ 0 h 151"/>
                    <a:gd name="T22" fmla="*/ 7 w 825"/>
                    <a:gd name="T23" fmla="*/ 0 h 151"/>
                    <a:gd name="T24" fmla="*/ 7 w 825"/>
                    <a:gd name="T25" fmla="*/ 0 h 151"/>
                    <a:gd name="T26" fmla="*/ 7 w 825"/>
                    <a:gd name="T27" fmla="*/ 0 h 151"/>
                    <a:gd name="T28" fmla="*/ 1 w 825"/>
                    <a:gd name="T29" fmla="*/ 0 h 15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825"/>
                    <a:gd name="T46" fmla="*/ 0 h 151"/>
                    <a:gd name="T47" fmla="*/ 825 w 825"/>
                    <a:gd name="T48" fmla="*/ 151 h 15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825" h="151">
                      <a:moveTo>
                        <a:pt x="35" y="13"/>
                      </a:moveTo>
                      <a:lnTo>
                        <a:pt x="17" y="27"/>
                      </a:lnTo>
                      <a:lnTo>
                        <a:pt x="9" y="48"/>
                      </a:lnTo>
                      <a:lnTo>
                        <a:pt x="0" y="97"/>
                      </a:lnTo>
                      <a:lnTo>
                        <a:pt x="4" y="124"/>
                      </a:lnTo>
                      <a:lnTo>
                        <a:pt x="13" y="138"/>
                      </a:lnTo>
                      <a:lnTo>
                        <a:pt x="26" y="151"/>
                      </a:lnTo>
                      <a:lnTo>
                        <a:pt x="783" y="142"/>
                      </a:lnTo>
                      <a:lnTo>
                        <a:pt x="807" y="128"/>
                      </a:lnTo>
                      <a:lnTo>
                        <a:pt x="816" y="107"/>
                      </a:lnTo>
                      <a:lnTo>
                        <a:pt x="825" y="61"/>
                      </a:lnTo>
                      <a:lnTo>
                        <a:pt x="821" y="27"/>
                      </a:lnTo>
                      <a:lnTo>
                        <a:pt x="806" y="9"/>
                      </a:lnTo>
                      <a:lnTo>
                        <a:pt x="785" y="0"/>
                      </a:lnTo>
                      <a:lnTo>
                        <a:pt x="35" y="13"/>
                      </a:lnTo>
                      <a:close/>
                    </a:path>
                  </a:pathLst>
                </a:custGeom>
                <a:solidFill>
                  <a:srgbClr val="202020"/>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2" name="Freeform 2526"/>
                <p:cNvSpPr>
                  <a:spLocks/>
                </p:cNvSpPr>
                <p:nvPr/>
              </p:nvSpPr>
              <p:spPr bwMode="auto">
                <a:xfrm>
                  <a:off x="972" y="3833"/>
                  <a:ext cx="330" cy="27"/>
                </a:xfrm>
                <a:custGeom>
                  <a:avLst/>
                  <a:gdLst>
                    <a:gd name="T0" fmla="*/ 1 w 658"/>
                    <a:gd name="T1" fmla="*/ 0 h 79"/>
                    <a:gd name="T2" fmla="*/ 0 w 658"/>
                    <a:gd name="T3" fmla="*/ 0 h 79"/>
                    <a:gd name="T4" fmla="*/ 2 w 658"/>
                    <a:gd name="T5" fmla="*/ 0 h 79"/>
                    <a:gd name="T6" fmla="*/ 2 w 658"/>
                    <a:gd name="T7" fmla="*/ 0 h 79"/>
                    <a:gd name="T8" fmla="*/ 4 w 658"/>
                    <a:gd name="T9" fmla="*/ 0 h 79"/>
                    <a:gd name="T10" fmla="*/ 4 w 658"/>
                    <a:gd name="T11" fmla="*/ 0 h 79"/>
                    <a:gd name="T12" fmla="*/ 6 w 658"/>
                    <a:gd name="T13" fmla="*/ 0 h 79"/>
                    <a:gd name="T14" fmla="*/ 6 w 658"/>
                    <a:gd name="T15" fmla="*/ 0 h 79"/>
                    <a:gd name="T16" fmla="*/ 4 w 658"/>
                    <a:gd name="T17" fmla="*/ 0 h 79"/>
                    <a:gd name="T18" fmla="*/ 4 w 658"/>
                    <a:gd name="T19" fmla="*/ 0 h 79"/>
                    <a:gd name="T20" fmla="*/ 2 w 658"/>
                    <a:gd name="T21" fmla="*/ 0 h 79"/>
                    <a:gd name="T22" fmla="*/ 2 w 658"/>
                    <a:gd name="T23" fmla="*/ 0 h 79"/>
                    <a:gd name="T24" fmla="*/ 1 w 658"/>
                    <a:gd name="T25" fmla="*/ 0 h 7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658"/>
                    <a:gd name="T40" fmla="*/ 0 h 79"/>
                    <a:gd name="T41" fmla="*/ 658 w 658"/>
                    <a:gd name="T42" fmla="*/ 79 h 7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658" h="79">
                      <a:moveTo>
                        <a:pt x="4" y="23"/>
                      </a:moveTo>
                      <a:lnTo>
                        <a:pt x="0" y="50"/>
                      </a:lnTo>
                      <a:lnTo>
                        <a:pt x="153" y="50"/>
                      </a:lnTo>
                      <a:lnTo>
                        <a:pt x="153" y="79"/>
                      </a:lnTo>
                      <a:lnTo>
                        <a:pt x="500" y="73"/>
                      </a:lnTo>
                      <a:lnTo>
                        <a:pt x="500" y="50"/>
                      </a:lnTo>
                      <a:lnTo>
                        <a:pt x="656" y="50"/>
                      </a:lnTo>
                      <a:lnTo>
                        <a:pt x="658" y="23"/>
                      </a:lnTo>
                      <a:lnTo>
                        <a:pt x="504" y="23"/>
                      </a:lnTo>
                      <a:lnTo>
                        <a:pt x="504" y="0"/>
                      </a:lnTo>
                      <a:lnTo>
                        <a:pt x="153" y="8"/>
                      </a:lnTo>
                      <a:lnTo>
                        <a:pt x="153" y="23"/>
                      </a:lnTo>
                      <a:lnTo>
                        <a:pt x="4"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3" name="Rectangle 2527"/>
                <p:cNvSpPr>
                  <a:spLocks noChangeArrowheads="1"/>
                </p:cNvSpPr>
                <p:nvPr/>
              </p:nvSpPr>
              <p:spPr bwMode="auto">
                <a:xfrm>
                  <a:off x="982" y="3856"/>
                  <a:ext cx="26" cy="7"/>
                </a:xfrm>
                <a:prstGeom prst="rect">
                  <a:avLst/>
                </a:prstGeom>
                <a:solidFill>
                  <a:srgbClr val="00A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84" name="Rectangle 2528"/>
                <p:cNvSpPr>
                  <a:spLocks noChangeArrowheads="1"/>
                </p:cNvSpPr>
                <p:nvPr/>
              </p:nvSpPr>
              <p:spPr bwMode="auto">
                <a:xfrm>
                  <a:off x="1237" y="3855"/>
                  <a:ext cx="53" cy="6"/>
                </a:xfrm>
                <a:prstGeom prst="rect">
                  <a:avLst/>
                </a:prstGeom>
                <a:solidFill>
                  <a:srgbClr val="202020"/>
                </a:solidFill>
                <a:ln w="7938">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nvGrpSpPr>
              <p:cNvPr id="61" name="Group 2529"/>
              <p:cNvGrpSpPr>
                <a:grpSpLocks/>
              </p:cNvGrpSpPr>
              <p:nvPr/>
            </p:nvGrpSpPr>
            <p:grpSpPr bwMode="auto">
              <a:xfrm>
                <a:off x="1227" y="3477"/>
                <a:ext cx="508" cy="321"/>
                <a:chOff x="1227" y="3477"/>
                <a:chExt cx="508" cy="321"/>
              </a:xfrm>
            </p:grpSpPr>
            <p:sp>
              <p:nvSpPr>
                <p:cNvPr id="62" name="Freeform 2530"/>
                <p:cNvSpPr>
                  <a:spLocks/>
                </p:cNvSpPr>
                <p:nvPr/>
              </p:nvSpPr>
              <p:spPr bwMode="auto">
                <a:xfrm>
                  <a:off x="1640" y="3731"/>
                  <a:ext cx="95" cy="66"/>
                </a:xfrm>
                <a:custGeom>
                  <a:avLst/>
                  <a:gdLst>
                    <a:gd name="T0" fmla="*/ 0 w 191"/>
                    <a:gd name="T1" fmla="*/ 0 h 200"/>
                    <a:gd name="T2" fmla="*/ 0 w 191"/>
                    <a:gd name="T3" fmla="*/ 0 h 200"/>
                    <a:gd name="T4" fmla="*/ 0 w 191"/>
                    <a:gd name="T5" fmla="*/ 0 h 200"/>
                    <a:gd name="T6" fmla="*/ 0 w 191"/>
                    <a:gd name="T7" fmla="*/ 0 h 200"/>
                    <a:gd name="T8" fmla="*/ 0 w 191"/>
                    <a:gd name="T9" fmla="*/ 0 h 200"/>
                    <a:gd name="T10" fmla="*/ 0 w 191"/>
                    <a:gd name="T11" fmla="*/ 0 h 200"/>
                    <a:gd name="T12" fmla="*/ 0 w 191"/>
                    <a:gd name="T13" fmla="*/ 0 h 200"/>
                    <a:gd name="T14" fmla="*/ 0 w 191"/>
                    <a:gd name="T15" fmla="*/ 0 h 200"/>
                    <a:gd name="T16" fmla="*/ 1 w 191"/>
                    <a:gd name="T17" fmla="*/ 0 h 200"/>
                    <a:gd name="T18" fmla="*/ 1 w 191"/>
                    <a:gd name="T19" fmla="*/ 0 h 200"/>
                    <a:gd name="T20" fmla="*/ 1 w 191"/>
                    <a:gd name="T21" fmla="*/ 0 h 200"/>
                    <a:gd name="T22" fmla="*/ 0 w 191"/>
                    <a:gd name="T23" fmla="*/ 0 h 20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91"/>
                    <a:gd name="T37" fmla="*/ 0 h 200"/>
                    <a:gd name="T38" fmla="*/ 191 w 191"/>
                    <a:gd name="T39" fmla="*/ 200 h 200"/>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91" h="200">
                      <a:moveTo>
                        <a:pt x="126" y="9"/>
                      </a:moveTo>
                      <a:lnTo>
                        <a:pt x="93" y="0"/>
                      </a:lnTo>
                      <a:lnTo>
                        <a:pt x="59" y="5"/>
                      </a:lnTo>
                      <a:lnTo>
                        <a:pt x="32" y="17"/>
                      </a:lnTo>
                      <a:lnTo>
                        <a:pt x="9" y="45"/>
                      </a:lnTo>
                      <a:lnTo>
                        <a:pt x="0" y="94"/>
                      </a:lnTo>
                      <a:lnTo>
                        <a:pt x="0" y="137"/>
                      </a:lnTo>
                      <a:lnTo>
                        <a:pt x="0" y="200"/>
                      </a:lnTo>
                      <a:lnTo>
                        <a:pt x="191" y="200"/>
                      </a:lnTo>
                      <a:lnTo>
                        <a:pt x="181" y="81"/>
                      </a:lnTo>
                      <a:lnTo>
                        <a:pt x="157" y="30"/>
                      </a:lnTo>
                      <a:lnTo>
                        <a:pt x="126" y="9"/>
                      </a:lnTo>
                      <a:close/>
                    </a:path>
                  </a:pathLst>
                </a:custGeom>
                <a:solidFill>
                  <a:schemeClr val="bg2"/>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 name="Freeform 2531"/>
                <p:cNvSpPr>
                  <a:spLocks/>
                </p:cNvSpPr>
                <p:nvPr/>
              </p:nvSpPr>
              <p:spPr bwMode="auto">
                <a:xfrm>
                  <a:off x="1227" y="3477"/>
                  <a:ext cx="429" cy="264"/>
                </a:xfrm>
                <a:custGeom>
                  <a:avLst/>
                  <a:gdLst>
                    <a:gd name="T0" fmla="*/ 0 w 860"/>
                    <a:gd name="T1" fmla="*/ 0 h 791"/>
                    <a:gd name="T2" fmla="*/ 6 w 860"/>
                    <a:gd name="T3" fmla="*/ 0 h 791"/>
                    <a:gd name="T4" fmla="*/ 6 w 860"/>
                    <a:gd name="T5" fmla="*/ 0 h 791"/>
                    <a:gd name="T6" fmla="*/ 6 w 860"/>
                    <a:gd name="T7" fmla="*/ 0 h 791"/>
                    <a:gd name="T8" fmla="*/ 0 w 860"/>
                    <a:gd name="T9" fmla="*/ 0 h 791"/>
                    <a:gd name="T10" fmla="*/ 0 60000 65536"/>
                    <a:gd name="T11" fmla="*/ 0 60000 65536"/>
                    <a:gd name="T12" fmla="*/ 0 60000 65536"/>
                    <a:gd name="T13" fmla="*/ 0 60000 65536"/>
                    <a:gd name="T14" fmla="*/ 0 60000 65536"/>
                    <a:gd name="T15" fmla="*/ 0 w 860"/>
                    <a:gd name="T16" fmla="*/ 0 h 791"/>
                    <a:gd name="T17" fmla="*/ 860 w 860"/>
                    <a:gd name="T18" fmla="*/ 791 h 791"/>
                  </a:gdLst>
                  <a:ahLst/>
                  <a:cxnLst>
                    <a:cxn ang="T10">
                      <a:pos x="T0" y="T1"/>
                    </a:cxn>
                    <a:cxn ang="T11">
                      <a:pos x="T2" y="T3"/>
                    </a:cxn>
                    <a:cxn ang="T12">
                      <a:pos x="T4" y="T5"/>
                    </a:cxn>
                    <a:cxn ang="T13">
                      <a:pos x="T6" y="T7"/>
                    </a:cxn>
                    <a:cxn ang="T14">
                      <a:pos x="T8" y="T9"/>
                    </a:cxn>
                  </a:cxnLst>
                  <a:rect l="T15" t="T16" r="T17" b="T18"/>
                  <a:pathLst>
                    <a:path w="860" h="791">
                      <a:moveTo>
                        <a:pt x="0" y="0"/>
                      </a:moveTo>
                      <a:lnTo>
                        <a:pt x="860" y="764"/>
                      </a:lnTo>
                      <a:lnTo>
                        <a:pt x="849" y="777"/>
                      </a:lnTo>
                      <a:lnTo>
                        <a:pt x="838" y="791"/>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4" name="Freeform 2532"/>
                <p:cNvSpPr>
                  <a:spLocks/>
                </p:cNvSpPr>
                <p:nvPr/>
              </p:nvSpPr>
              <p:spPr bwMode="auto">
                <a:xfrm>
                  <a:off x="1521" y="3650"/>
                  <a:ext cx="141" cy="122"/>
                </a:xfrm>
                <a:custGeom>
                  <a:avLst/>
                  <a:gdLst>
                    <a:gd name="T0" fmla="*/ 1 w 281"/>
                    <a:gd name="T1" fmla="*/ 0 h 366"/>
                    <a:gd name="T2" fmla="*/ 1 w 281"/>
                    <a:gd name="T3" fmla="*/ 0 h 366"/>
                    <a:gd name="T4" fmla="*/ 1 w 281"/>
                    <a:gd name="T5" fmla="*/ 0 h 366"/>
                    <a:gd name="T6" fmla="*/ 1 w 281"/>
                    <a:gd name="T7" fmla="*/ 0 h 366"/>
                    <a:gd name="T8" fmla="*/ 1 w 281"/>
                    <a:gd name="T9" fmla="*/ 0 h 366"/>
                    <a:gd name="T10" fmla="*/ 2 w 281"/>
                    <a:gd name="T11" fmla="*/ 0 h 366"/>
                    <a:gd name="T12" fmla="*/ 3 w 281"/>
                    <a:gd name="T13" fmla="*/ 0 h 366"/>
                    <a:gd name="T14" fmla="*/ 3 w 281"/>
                    <a:gd name="T15" fmla="*/ 0 h 366"/>
                    <a:gd name="T16" fmla="*/ 2 w 281"/>
                    <a:gd name="T17" fmla="*/ 0 h 366"/>
                    <a:gd name="T18" fmla="*/ 2 w 281"/>
                    <a:gd name="T19" fmla="*/ 0 h 366"/>
                    <a:gd name="T20" fmla="*/ 2 w 281"/>
                    <a:gd name="T21" fmla="*/ 0 h 366"/>
                    <a:gd name="T22" fmla="*/ 2 w 281"/>
                    <a:gd name="T23" fmla="*/ 0 h 366"/>
                    <a:gd name="T24" fmla="*/ 2 w 281"/>
                    <a:gd name="T25" fmla="*/ 0 h 366"/>
                    <a:gd name="T26" fmla="*/ 2 w 281"/>
                    <a:gd name="T27" fmla="*/ 0 h 366"/>
                    <a:gd name="T28" fmla="*/ 2 w 281"/>
                    <a:gd name="T29" fmla="*/ 0 h 366"/>
                    <a:gd name="T30" fmla="*/ 0 w 281"/>
                    <a:gd name="T31" fmla="*/ 0 h 366"/>
                    <a:gd name="T32" fmla="*/ 0 w 281"/>
                    <a:gd name="T33" fmla="*/ 0 h 366"/>
                    <a:gd name="T34" fmla="*/ 1 w 281"/>
                    <a:gd name="T35" fmla="*/ 0 h 36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81"/>
                    <a:gd name="T55" fmla="*/ 0 h 366"/>
                    <a:gd name="T56" fmla="*/ 281 w 281"/>
                    <a:gd name="T57" fmla="*/ 366 h 36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81" h="366">
                      <a:moveTo>
                        <a:pt x="4" y="95"/>
                      </a:moveTo>
                      <a:lnTo>
                        <a:pt x="24" y="62"/>
                      </a:lnTo>
                      <a:lnTo>
                        <a:pt x="54" y="43"/>
                      </a:lnTo>
                      <a:lnTo>
                        <a:pt x="78" y="42"/>
                      </a:lnTo>
                      <a:lnTo>
                        <a:pt x="128" y="43"/>
                      </a:lnTo>
                      <a:lnTo>
                        <a:pt x="132" y="0"/>
                      </a:lnTo>
                      <a:lnTo>
                        <a:pt x="281" y="130"/>
                      </a:lnTo>
                      <a:lnTo>
                        <a:pt x="272" y="179"/>
                      </a:lnTo>
                      <a:lnTo>
                        <a:pt x="228" y="170"/>
                      </a:lnTo>
                      <a:lnTo>
                        <a:pt x="191" y="184"/>
                      </a:lnTo>
                      <a:lnTo>
                        <a:pt x="158" y="210"/>
                      </a:lnTo>
                      <a:lnTo>
                        <a:pt x="150" y="232"/>
                      </a:lnTo>
                      <a:lnTo>
                        <a:pt x="149" y="295"/>
                      </a:lnTo>
                      <a:lnTo>
                        <a:pt x="149" y="338"/>
                      </a:lnTo>
                      <a:lnTo>
                        <a:pt x="150" y="366"/>
                      </a:lnTo>
                      <a:lnTo>
                        <a:pt x="0" y="229"/>
                      </a:lnTo>
                      <a:lnTo>
                        <a:pt x="0" y="139"/>
                      </a:lnTo>
                      <a:lnTo>
                        <a:pt x="4" y="95"/>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5" name="Line 2533"/>
                <p:cNvSpPr>
                  <a:spLocks noChangeShapeType="1"/>
                </p:cNvSpPr>
                <p:nvPr/>
              </p:nvSpPr>
              <p:spPr bwMode="auto">
                <a:xfrm>
                  <a:off x="1586" y="3665"/>
                  <a:ext cx="76" cy="44"/>
                </a:xfrm>
                <a:prstGeom prst="line">
                  <a:avLst/>
                </a:prstGeom>
                <a:noFill/>
                <a:ln w="793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6" name="Freeform 2534"/>
                <p:cNvSpPr>
                  <a:spLocks/>
                </p:cNvSpPr>
                <p:nvPr/>
              </p:nvSpPr>
              <p:spPr bwMode="auto">
                <a:xfrm>
                  <a:off x="1242" y="3486"/>
                  <a:ext cx="111" cy="96"/>
                </a:xfrm>
                <a:custGeom>
                  <a:avLst/>
                  <a:gdLst>
                    <a:gd name="T0" fmla="*/ 1 w 222"/>
                    <a:gd name="T1" fmla="*/ 0 h 289"/>
                    <a:gd name="T2" fmla="*/ 1 w 222"/>
                    <a:gd name="T3" fmla="*/ 0 h 289"/>
                    <a:gd name="T4" fmla="*/ 1 w 222"/>
                    <a:gd name="T5" fmla="*/ 0 h 289"/>
                    <a:gd name="T6" fmla="*/ 1 w 222"/>
                    <a:gd name="T7" fmla="*/ 0 h 289"/>
                    <a:gd name="T8" fmla="*/ 2 w 222"/>
                    <a:gd name="T9" fmla="*/ 0 h 289"/>
                    <a:gd name="T10" fmla="*/ 2 w 222"/>
                    <a:gd name="T11" fmla="*/ 0 h 289"/>
                    <a:gd name="T12" fmla="*/ 2 w 222"/>
                    <a:gd name="T13" fmla="*/ 0 h 289"/>
                    <a:gd name="T14" fmla="*/ 2 w 222"/>
                    <a:gd name="T15" fmla="*/ 0 h 289"/>
                    <a:gd name="T16" fmla="*/ 2 w 222"/>
                    <a:gd name="T17" fmla="*/ 0 h 289"/>
                    <a:gd name="T18" fmla="*/ 2 w 222"/>
                    <a:gd name="T19" fmla="*/ 0 h 289"/>
                    <a:gd name="T20" fmla="*/ 2 w 222"/>
                    <a:gd name="T21" fmla="*/ 0 h 289"/>
                    <a:gd name="T22" fmla="*/ 1 w 222"/>
                    <a:gd name="T23" fmla="*/ 0 h 289"/>
                    <a:gd name="T24" fmla="*/ 1 w 222"/>
                    <a:gd name="T25" fmla="*/ 0 h 289"/>
                    <a:gd name="T26" fmla="*/ 1 w 222"/>
                    <a:gd name="T27" fmla="*/ 0 h 289"/>
                    <a:gd name="T28" fmla="*/ 1 w 222"/>
                    <a:gd name="T29" fmla="*/ 0 h 289"/>
                    <a:gd name="T30" fmla="*/ 0 w 222"/>
                    <a:gd name="T31" fmla="*/ 0 h 289"/>
                    <a:gd name="T32" fmla="*/ 1 w 222"/>
                    <a:gd name="T33" fmla="*/ 0 h 289"/>
                    <a:gd name="T34" fmla="*/ 1 w 222"/>
                    <a:gd name="T35" fmla="*/ 0 h 2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22"/>
                    <a:gd name="T55" fmla="*/ 0 h 289"/>
                    <a:gd name="T56" fmla="*/ 222 w 222"/>
                    <a:gd name="T57" fmla="*/ 289 h 2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22" h="289">
                      <a:moveTo>
                        <a:pt x="10" y="98"/>
                      </a:moveTo>
                      <a:lnTo>
                        <a:pt x="27" y="64"/>
                      </a:lnTo>
                      <a:lnTo>
                        <a:pt x="53" y="45"/>
                      </a:lnTo>
                      <a:lnTo>
                        <a:pt x="81" y="41"/>
                      </a:lnTo>
                      <a:lnTo>
                        <a:pt x="131" y="42"/>
                      </a:lnTo>
                      <a:lnTo>
                        <a:pt x="135" y="0"/>
                      </a:lnTo>
                      <a:lnTo>
                        <a:pt x="222" y="80"/>
                      </a:lnTo>
                      <a:lnTo>
                        <a:pt x="218" y="120"/>
                      </a:lnTo>
                      <a:lnTo>
                        <a:pt x="190" y="118"/>
                      </a:lnTo>
                      <a:lnTo>
                        <a:pt x="168" y="116"/>
                      </a:lnTo>
                      <a:lnTo>
                        <a:pt x="135" y="125"/>
                      </a:lnTo>
                      <a:lnTo>
                        <a:pt x="118" y="137"/>
                      </a:lnTo>
                      <a:lnTo>
                        <a:pt x="102" y="161"/>
                      </a:lnTo>
                      <a:lnTo>
                        <a:pt x="98" y="192"/>
                      </a:lnTo>
                      <a:lnTo>
                        <a:pt x="93" y="289"/>
                      </a:lnTo>
                      <a:lnTo>
                        <a:pt x="0" y="197"/>
                      </a:lnTo>
                      <a:lnTo>
                        <a:pt x="4" y="138"/>
                      </a:lnTo>
                      <a:lnTo>
                        <a:pt x="10" y="98"/>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7" name="Freeform 2535"/>
                <p:cNvSpPr>
                  <a:spLocks/>
                </p:cNvSpPr>
                <p:nvPr/>
              </p:nvSpPr>
              <p:spPr bwMode="auto">
                <a:xfrm>
                  <a:off x="1456" y="3626"/>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5"/>
                      </a:moveTo>
                      <a:lnTo>
                        <a:pt x="59" y="0"/>
                      </a:lnTo>
                      <a:lnTo>
                        <a:pt x="30" y="14"/>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8" name="Freeform 2536"/>
                <p:cNvSpPr>
                  <a:spLocks/>
                </p:cNvSpPr>
                <p:nvPr/>
              </p:nvSpPr>
              <p:spPr bwMode="auto">
                <a:xfrm>
                  <a:off x="1440" y="3615"/>
                  <a:ext cx="63" cy="61"/>
                </a:xfrm>
                <a:custGeom>
                  <a:avLst/>
                  <a:gdLst>
                    <a:gd name="T0" fmla="*/ 1 w 126"/>
                    <a:gd name="T1" fmla="*/ 0 h 185"/>
                    <a:gd name="T2" fmla="*/ 1 w 126"/>
                    <a:gd name="T3" fmla="*/ 0 h 185"/>
                    <a:gd name="T4" fmla="*/ 1 w 126"/>
                    <a:gd name="T5" fmla="*/ 0 h 185"/>
                    <a:gd name="T6" fmla="*/ 1 w 126"/>
                    <a:gd name="T7" fmla="*/ 0 h 185"/>
                    <a:gd name="T8" fmla="*/ 0 w 126"/>
                    <a:gd name="T9" fmla="*/ 0 h 185"/>
                    <a:gd name="T10" fmla="*/ 0 w 126"/>
                    <a:gd name="T11" fmla="*/ 0 h 185"/>
                    <a:gd name="T12" fmla="*/ 0 w 126"/>
                    <a:gd name="T13" fmla="*/ 0 h 185"/>
                    <a:gd name="T14" fmla="*/ 0 60000 65536"/>
                    <a:gd name="T15" fmla="*/ 0 60000 65536"/>
                    <a:gd name="T16" fmla="*/ 0 60000 65536"/>
                    <a:gd name="T17" fmla="*/ 0 60000 65536"/>
                    <a:gd name="T18" fmla="*/ 0 60000 65536"/>
                    <a:gd name="T19" fmla="*/ 0 60000 65536"/>
                    <a:gd name="T20" fmla="*/ 0 60000 65536"/>
                    <a:gd name="T21" fmla="*/ 0 w 126"/>
                    <a:gd name="T22" fmla="*/ 0 h 185"/>
                    <a:gd name="T23" fmla="*/ 126 w 126"/>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5">
                      <a:moveTo>
                        <a:pt x="126" y="3"/>
                      </a:moveTo>
                      <a:lnTo>
                        <a:pt x="59" y="0"/>
                      </a:lnTo>
                      <a:lnTo>
                        <a:pt x="24" y="15"/>
                      </a:lnTo>
                      <a:lnTo>
                        <a:pt x="9" y="39"/>
                      </a:lnTo>
                      <a:lnTo>
                        <a:pt x="0" y="88"/>
                      </a:lnTo>
                      <a:lnTo>
                        <a:pt x="0" y="185"/>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9" name="Freeform 2537"/>
                <p:cNvSpPr>
                  <a:spLocks/>
                </p:cNvSpPr>
                <p:nvPr/>
              </p:nvSpPr>
              <p:spPr bwMode="auto">
                <a:xfrm>
                  <a:off x="1422" y="3604"/>
                  <a:ext cx="64" cy="62"/>
                </a:xfrm>
                <a:custGeom>
                  <a:avLst/>
                  <a:gdLst>
                    <a:gd name="T0" fmla="*/ 1 w 127"/>
                    <a:gd name="T1" fmla="*/ 0 h 185"/>
                    <a:gd name="T2" fmla="*/ 1 w 127"/>
                    <a:gd name="T3" fmla="*/ 0 h 185"/>
                    <a:gd name="T4" fmla="*/ 1 w 127"/>
                    <a:gd name="T5" fmla="*/ 0 h 185"/>
                    <a:gd name="T6" fmla="*/ 1 w 127"/>
                    <a:gd name="T7" fmla="*/ 0 h 185"/>
                    <a:gd name="T8" fmla="*/ 0 w 127"/>
                    <a:gd name="T9" fmla="*/ 0 h 185"/>
                    <a:gd name="T10" fmla="*/ 0 w 127"/>
                    <a:gd name="T11" fmla="*/ 0 h 185"/>
                    <a:gd name="T12" fmla="*/ 0 w 127"/>
                    <a:gd name="T13" fmla="*/ 0 h 185"/>
                    <a:gd name="T14" fmla="*/ 0 60000 65536"/>
                    <a:gd name="T15" fmla="*/ 0 60000 65536"/>
                    <a:gd name="T16" fmla="*/ 0 60000 65536"/>
                    <a:gd name="T17" fmla="*/ 0 60000 65536"/>
                    <a:gd name="T18" fmla="*/ 0 60000 65536"/>
                    <a:gd name="T19" fmla="*/ 0 60000 65536"/>
                    <a:gd name="T20" fmla="*/ 0 60000 65536"/>
                    <a:gd name="T21" fmla="*/ 0 w 127"/>
                    <a:gd name="T22" fmla="*/ 0 h 185"/>
                    <a:gd name="T23" fmla="*/ 127 w 127"/>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5">
                      <a:moveTo>
                        <a:pt x="127" y="5"/>
                      </a:moveTo>
                      <a:lnTo>
                        <a:pt x="59" y="0"/>
                      </a:lnTo>
                      <a:lnTo>
                        <a:pt x="30" y="14"/>
                      </a:lnTo>
                      <a:lnTo>
                        <a:pt x="9" y="39"/>
                      </a:lnTo>
                      <a:lnTo>
                        <a:pt x="0" y="88"/>
                      </a:lnTo>
                      <a:lnTo>
                        <a:pt x="0" y="185"/>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0" name="Freeform 2538"/>
                <p:cNvSpPr>
                  <a:spLocks/>
                </p:cNvSpPr>
                <p:nvPr/>
              </p:nvSpPr>
              <p:spPr bwMode="auto">
                <a:xfrm>
                  <a:off x="1401" y="3594"/>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2" y="10"/>
                      </a:lnTo>
                      <a:lnTo>
                        <a:pt x="9" y="39"/>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1" name="Freeform 2539"/>
                <p:cNvSpPr>
                  <a:spLocks/>
                </p:cNvSpPr>
                <p:nvPr/>
              </p:nvSpPr>
              <p:spPr bwMode="auto">
                <a:xfrm>
                  <a:off x="1383" y="3583"/>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4"/>
                      </a:moveTo>
                      <a:lnTo>
                        <a:pt x="59" y="0"/>
                      </a:lnTo>
                      <a:lnTo>
                        <a:pt x="32" y="13"/>
                      </a:lnTo>
                      <a:lnTo>
                        <a:pt x="9" y="40"/>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2" name="Freeform 2540"/>
                <p:cNvSpPr>
                  <a:spLocks/>
                </p:cNvSpPr>
                <p:nvPr/>
              </p:nvSpPr>
              <p:spPr bwMode="auto">
                <a:xfrm>
                  <a:off x="1365" y="3570"/>
                  <a:ext cx="63" cy="62"/>
                </a:xfrm>
                <a:custGeom>
                  <a:avLst/>
                  <a:gdLst>
                    <a:gd name="T0" fmla="*/ 1 w 126"/>
                    <a:gd name="T1" fmla="*/ 0 h 186"/>
                    <a:gd name="T2" fmla="*/ 1 w 126"/>
                    <a:gd name="T3" fmla="*/ 0 h 186"/>
                    <a:gd name="T4" fmla="*/ 1 w 126"/>
                    <a:gd name="T5" fmla="*/ 0 h 186"/>
                    <a:gd name="T6" fmla="*/ 1 w 126"/>
                    <a:gd name="T7" fmla="*/ 0 h 186"/>
                    <a:gd name="T8" fmla="*/ 0 w 126"/>
                    <a:gd name="T9" fmla="*/ 0 h 186"/>
                    <a:gd name="T10" fmla="*/ 0 w 126"/>
                    <a:gd name="T11" fmla="*/ 0 h 186"/>
                    <a:gd name="T12" fmla="*/ 0 w 126"/>
                    <a:gd name="T13" fmla="*/ 0 h 186"/>
                    <a:gd name="T14" fmla="*/ 0 60000 65536"/>
                    <a:gd name="T15" fmla="*/ 0 60000 65536"/>
                    <a:gd name="T16" fmla="*/ 0 60000 65536"/>
                    <a:gd name="T17" fmla="*/ 0 60000 65536"/>
                    <a:gd name="T18" fmla="*/ 0 60000 65536"/>
                    <a:gd name="T19" fmla="*/ 0 60000 65536"/>
                    <a:gd name="T20" fmla="*/ 0 60000 65536"/>
                    <a:gd name="T21" fmla="*/ 0 w 126"/>
                    <a:gd name="T22" fmla="*/ 0 h 186"/>
                    <a:gd name="T23" fmla="*/ 126 w 126"/>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6">
                      <a:moveTo>
                        <a:pt x="126" y="4"/>
                      </a:moveTo>
                      <a:lnTo>
                        <a:pt x="58" y="0"/>
                      </a:lnTo>
                      <a:lnTo>
                        <a:pt x="31" y="14"/>
                      </a:lnTo>
                      <a:lnTo>
                        <a:pt x="8"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3" name="Freeform 2541"/>
                <p:cNvSpPr>
                  <a:spLocks/>
                </p:cNvSpPr>
                <p:nvPr/>
              </p:nvSpPr>
              <p:spPr bwMode="auto">
                <a:xfrm>
                  <a:off x="1349" y="3558"/>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3" y="16"/>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4" name="Freeform 2542"/>
                <p:cNvSpPr>
                  <a:spLocks/>
                </p:cNvSpPr>
                <p:nvPr/>
              </p:nvSpPr>
              <p:spPr bwMode="auto">
                <a:xfrm>
                  <a:off x="1331" y="3550"/>
                  <a:ext cx="63" cy="62"/>
                </a:xfrm>
                <a:custGeom>
                  <a:avLst/>
                  <a:gdLst>
                    <a:gd name="T0" fmla="*/ 0 w 127"/>
                    <a:gd name="T1" fmla="*/ 0 h 186"/>
                    <a:gd name="T2" fmla="*/ 0 w 127"/>
                    <a:gd name="T3" fmla="*/ 0 h 186"/>
                    <a:gd name="T4" fmla="*/ 0 w 127"/>
                    <a:gd name="T5" fmla="*/ 0 h 186"/>
                    <a:gd name="T6" fmla="*/ 0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4"/>
                      </a:moveTo>
                      <a:lnTo>
                        <a:pt x="59" y="0"/>
                      </a:lnTo>
                      <a:lnTo>
                        <a:pt x="32" y="13"/>
                      </a:lnTo>
                      <a:lnTo>
                        <a:pt x="10" y="39"/>
                      </a:lnTo>
                      <a:lnTo>
                        <a:pt x="0" y="88"/>
                      </a:lnTo>
                      <a:lnTo>
                        <a:pt x="0" y="186"/>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5" name="Freeform 2543"/>
                <p:cNvSpPr>
                  <a:spLocks/>
                </p:cNvSpPr>
                <p:nvPr/>
              </p:nvSpPr>
              <p:spPr bwMode="auto">
                <a:xfrm>
                  <a:off x="1308" y="3501"/>
                  <a:ext cx="47" cy="25"/>
                </a:xfrm>
                <a:custGeom>
                  <a:avLst/>
                  <a:gdLst>
                    <a:gd name="T0" fmla="*/ 0 w 96"/>
                    <a:gd name="T1" fmla="*/ 0 h 74"/>
                    <a:gd name="T2" fmla="*/ 0 w 96"/>
                    <a:gd name="T3" fmla="*/ 0 h 74"/>
                    <a:gd name="T4" fmla="*/ 0 w 96"/>
                    <a:gd name="T5" fmla="*/ 0 h 74"/>
                    <a:gd name="T6" fmla="*/ 0 w 96"/>
                    <a:gd name="T7" fmla="*/ 0 h 74"/>
                    <a:gd name="T8" fmla="*/ 0 60000 65536"/>
                    <a:gd name="T9" fmla="*/ 0 60000 65536"/>
                    <a:gd name="T10" fmla="*/ 0 60000 65536"/>
                    <a:gd name="T11" fmla="*/ 0 60000 65536"/>
                    <a:gd name="T12" fmla="*/ 0 w 96"/>
                    <a:gd name="T13" fmla="*/ 0 h 74"/>
                    <a:gd name="T14" fmla="*/ 96 w 96"/>
                    <a:gd name="T15" fmla="*/ 74 h 74"/>
                  </a:gdLst>
                  <a:ahLst/>
                  <a:cxnLst>
                    <a:cxn ang="T8">
                      <a:pos x="T0" y="T1"/>
                    </a:cxn>
                    <a:cxn ang="T9">
                      <a:pos x="T2" y="T3"/>
                    </a:cxn>
                    <a:cxn ang="T10">
                      <a:pos x="T4" y="T5"/>
                    </a:cxn>
                    <a:cxn ang="T11">
                      <a:pos x="T6" y="T7"/>
                    </a:cxn>
                  </a:cxnLst>
                  <a:rect l="T12" t="T13" r="T14" b="T15"/>
                  <a:pathLst>
                    <a:path w="96" h="74">
                      <a:moveTo>
                        <a:pt x="0" y="0"/>
                      </a:moveTo>
                      <a:lnTo>
                        <a:pt x="89" y="74"/>
                      </a:lnTo>
                      <a:lnTo>
                        <a:pt x="96" y="74"/>
                      </a:lnTo>
                      <a:lnTo>
                        <a:pt x="93" y="74"/>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6" name="Oval 2544"/>
                <p:cNvSpPr>
                  <a:spLocks noChangeArrowheads="1"/>
                </p:cNvSpPr>
                <p:nvPr/>
              </p:nvSpPr>
              <p:spPr bwMode="auto">
                <a:xfrm>
                  <a:off x="1339" y="3772"/>
                  <a:ext cx="78" cy="26"/>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77" name="Oval 2545"/>
                <p:cNvSpPr>
                  <a:spLocks noChangeArrowheads="1"/>
                </p:cNvSpPr>
                <p:nvPr/>
              </p:nvSpPr>
              <p:spPr bwMode="auto">
                <a:xfrm>
                  <a:off x="1432" y="3771"/>
                  <a:ext cx="78"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78" name="Freeform 2546"/>
                <p:cNvSpPr>
                  <a:spLocks/>
                </p:cNvSpPr>
                <p:nvPr/>
              </p:nvSpPr>
              <p:spPr bwMode="auto">
                <a:xfrm>
                  <a:off x="1511" y="3785"/>
                  <a:ext cx="94" cy="8"/>
                </a:xfrm>
                <a:custGeom>
                  <a:avLst/>
                  <a:gdLst>
                    <a:gd name="T0" fmla="*/ 0 w 188"/>
                    <a:gd name="T1" fmla="*/ 0 h 25"/>
                    <a:gd name="T2" fmla="*/ 1 w 188"/>
                    <a:gd name="T3" fmla="*/ 0 h 25"/>
                    <a:gd name="T4" fmla="*/ 1 w 188"/>
                    <a:gd name="T5" fmla="*/ 0 h 25"/>
                    <a:gd name="T6" fmla="*/ 1 w 188"/>
                    <a:gd name="T7" fmla="*/ 0 h 25"/>
                    <a:gd name="T8" fmla="*/ 0 w 188"/>
                    <a:gd name="T9" fmla="*/ 0 h 25"/>
                    <a:gd name="T10" fmla="*/ 0 60000 65536"/>
                    <a:gd name="T11" fmla="*/ 0 60000 65536"/>
                    <a:gd name="T12" fmla="*/ 0 60000 65536"/>
                    <a:gd name="T13" fmla="*/ 0 60000 65536"/>
                    <a:gd name="T14" fmla="*/ 0 60000 65536"/>
                    <a:gd name="T15" fmla="*/ 0 w 188"/>
                    <a:gd name="T16" fmla="*/ 0 h 25"/>
                    <a:gd name="T17" fmla="*/ 188 w 188"/>
                    <a:gd name="T18" fmla="*/ 25 h 25"/>
                  </a:gdLst>
                  <a:ahLst/>
                  <a:cxnLst>
                    <a:cxn ang="T10">
                      <a:pos x="T0" y="T1"/>
                    </a:cxn>
                    <a:cxn ang="T11">
                      <a:pos x="T2" y="T3"/>
                    </a:cxn>
                    <a:cxn ang="T12">
                      <a:pos x="T4" y="T5"/>
                    </a:cxn>
                    <a:cxn ang="T13">
                      <a:pos x="T6" y="T7"/>
                    </a:cxn>
                    <a:cxn ang="T14">
                      <a:pos x="T8" y="T9"/>
                    </a:cxn>
                  </a:cxnLst>
                  <a:rect l="T15" t="T16" r="T17" b="T18"/>
                  <a:pathLst>
                    <a:path w="188" h="25">
                      <a:moveTo>
                        <a:pt x="0" y="25"/>
                      </a:moveTo>
                      <a:lnTo>
                        <a:pt x="6" y="0"/>
                      </a:lnTo>
                      <a:lnTo>
                        <a:pt x="175" y="0"/>
                      </a:lnTo>
                      <a:lnTo>
                        <a:pt x="188" y="19"/>
                      </a:lnTo>
                      <a:lnTo>
                        <a:pt x="0" y="25"/>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9" name="Oval 2547"/>
                <p:cNvSpPr>
                  <a:spLocks noChangeArrowheads="1"/>
                </p:cNvSpPr>
                <p:nvPr/>
              </p:nvSpPr>
              <p:spPr bwMode="auto">
                <a:xfrm>
                  <a:off x="1338" y="3767"/>
                  <a:ext cx="78" cy="27"/>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80" name="Oval 2548"/>
                <p:cNvSpPr>
                  <a:spLocks noChangeArrowheads="1"/>
                </p:cNvSpPr>
                <p:nvPr/>
              </p:nvSpPr>
              <p:spPr bwMode="auto">
                <a:xfrm>
                  <a:off x="1431" y="3766"/>
                  <a:ext cx="77"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sp>
          <p:nvSpPr>
            <p:cNvPr id="501" name="Line 3458"/>
            <p:cNvSpPr>
              <a:spLocks noChangeShapeType="1"/>
            </p:cNvSpPr>
            <p:nvPr/>
          </p:nvSpPr>
          <p:spPr bwMode="auto">
            <a:xfrm rot="816166" flipV="1">
              <a:off x="1373235" y="1425345"/>
              <a:ext cx="3117942" cy="691145"/>
            </a:xfrm>
            <a:prstGeom prst="line">
              <a:avLst/>
            </a:prstGeom>
            <a:noFill/>
            <a:ln w="19050">
              <a:solidFill>
                <a:srgbClr val="0000CC"/>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2" name="Text Box 3475"/>
            <p:cNvSpPr txBox="1">
              <a:spLocks noChangeArrowheads="1"/>
            </p:cNvSpPr>
            <p:nvPr/>
          </p:nvSpPr>
          <p:spPr bwMode="auto">
            <a:xfrm>
              <a:off x="900112" y="1341437"/>
              <a:ext cx="348263"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A</a:t>
              </a:r>
              <a:endParaRPr lang="en-US" altLang="zh-CN" sz="1100" i="1" dirty="0">
                <a:latin typeface="微软雅黑 Light" panose="020B0502040204020203" pitchFamily="34" charset="-122"/>
                <a:ea typeface="微软雅黑 Light" panose="020B0502040204020203" pitchFamily="34" charset="-122"/>
              </a:endParaRPr>
            </a:p>
          </p:txBody>
        </p:sp>
        <p:sp>
          <p:nvSpPr>
            <p:cNvPr id="503" name="Line 3490"/>
            <p:cNvSpPr>
              <a:spLocks noChangeShapeType="1"/>
            </p:cNvSpPr>
            <p:nvPr/>
          </p:nvSpPr>
          <p:spPr bwMode="auto">
            <a:xfrm rot="816166" flipV="1">
              <a:off x="1503461" y="721166"/>
              <a:ext cx="4194552" cy="1476844"/>
            </a:xfrm>
            <a:prstGeom prst="line">
              <a:avLst/>
            </a:prstGeom>
            <a:noFill/>
            <a:ln w="19050">
              <a:solidFill>
                <a:srgbClr val="0000CC"/>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4" name="Line 3491"/>
            <p:cNvSpPr>
              <a:spLocks noChangeShapeType="1"/>
            </p:cNvSpPr>
            <p:nvPr/>
          </p:nvSpPr>
          <p:spPr bwMode="auto">
            <a:xfrm rot="816166" flipV="1">
              <a:off x="1607792" y="117307"/>
              <a:ext cx="3250921" cy="1899473"/>
            </a:xfrm>
            <a:prstGeom prst="line">
              <a:avLst/>
            </a:prstGeom>
            <a:noFill/>
            <a:ln w="19050">
              <a:solidFill>
                <a:srgbClr val="0000CC"/>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5" name="Line 3492"/>
            <p:cNvSpPr>
              <a:spLocks noChangeShapeType="1"/>
            </p:cNvSpPr>
            <p:nvPr/>
          </p:nvSpPr>
          <p:spPr bwMode="auto">
            <a:xfrm rot="816166" flipV="1">
              <a:off x="1392238" y="838200"/>
              <a:ext cx="506412" cy="744538"/>
            </a:xfrm>
            <a:prstGeom prst="line">
              <a:avLst/>
            </a:prstGeom>
            <a:noFill/>
            <a:ln w="38100">
              <a:solidFill>
                <a:srgbClr val="9900CC"/>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6" name="Line 4401"/>
            <p:cNvSpPr>
              <a:spLocks noChangeShapeType="1"/>
            </p:cNvSpPr>
            <p:nvPr/>
          </p:nvSpPr>
          <p:spPr bwMode="auto">
            <a:xfrm rot="816166" flipV="1">
              <a:off x="5429250" y="528638"/>
              <a:ext cx="1381125" cy="112712"/>
            </a:xfrm>
            <a:prstGeom prst="line">
              <a:avLst/>
            </a:prstGeom>
            <a:noFill/>
            <a:ln w="19050">
              <a:solidFill>
                <a:srgbClr val="777777"/>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7" name="Line 4402"/>
            <p:cNvSpPr>
              <a:spLocks noChangeShapeType="1"/>
            </p:cNvSpPr>
            <p:nvPr/>
          </p:nvSpPr>
          <p:spPr bwMode="auto">
            <a:xfrm rot="816166" flipH="1">
              <a:off x="3189288" y="438150"/>
              <a:ext cx="1752600" cy="1927225"/>
            </a:xfrm>
            <a:prstGeom prst="line">
              <a:avLst/>
            </a:prstGeom>
            <a:noFill/>
            <a:ln w="19050">
              <a:solidFill>
                <a:srgbClr val="777777"/>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8" name="Line 4403"/>
            <p:cNvSpPr>
              <a:spLocks noChangeShapeType="1"/>
            </p:cNvSpPr>
            <p:nvPr/>
          </p:nvSpPr>
          <p:spPr bwMode="auto">
            <a:xfrm rot="816166">
              <a:off x="5305425" y="641350"/>
              <a:ext cx="836613" cy="390525"/>
            </a:xfrm>
            <a:prstGeom prst="line">
              <a:avLst/>
            </a:prstGeom>
            <a:noFill/>
            <a:ln w="19050">
              <a:solidFill>
                <a:srgbClr val="777777"/>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9" name="Line 4404"/>
            <p:cNvSpPr>
              <a:spLocks noChangeShapeType="1"/>
            </p:cNvSpPr>
            <p:nvPr/>
          </p:nvSpPr>
          <p:spPr bwMode="auto">
            <a:xfrm rot="816166" flipV="1">
              <a:off x="4945063" y="2055813"/>
              <a:ext cx="1173162" cy="15875"/>
            </a:xfrm>
            <a:prstGeom prst="line">
              <a:avLst/>
            </a:prstGeom>
            <a:noFill/>
            <a:ln w="19050">
              <a:solidFill>
                <a:srgbClr val="777777"/>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10" name="Line 4408"/>
            <p:cNvSpPr>
              <a:spLocks noChangeShapeType="1"/>
            </p:cNvSpPr>
            <p:nvPr/>
          </p:nvSpPr>
          <p:spPr bwMode="auto">
            <a:xfrm rot="816166" flipH="1">
              <a:off x="6443663" y="860425"/>
              <a:ext cx="228600" cy="1243013"/>
            </a:xfrm>
            <a:prstGeom prst="line">
              <a:avLst/>
            </a:prstGeom>
            <a:noFill/>
            <a:ln w="19050">
              <a:solidFill>
                <a:srgbClr val="777777"/>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11" name="Text Box 3475"/>
            <p:cNvSpPr txBox="1">
              <a:spLocks noChangeArrowheads="1"/>
            </p:cNvSpPr>
            <p:nvPr/>
          </p:nvSpPr>
          <p:spPr bwMode="auto">
            <a:xfrm>
              <a:off x="4467224" y="1603084"/>
              <a:ext cx="386609"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D</a:t>
              </a:r>
              <a:endParaRPr lang="en-US" altLang="zh-CN" sz="1100" i="1" dirty="0">
                <a:latin typeface="微软雅黑 Light" panose="020B0502040204020203" pitchFamily="34" charset="-122"/>
                <a:ea typeface="微软雅黑 Light" panose="020B0502040204020203" pitchFamily="34" charset="-122"/>
              </a:endParaRPr>
            </a:p>
          </p:txBody>
        </p:sp>
        <p:sp>
          <p:nvSpPr>
            <p:cNvPr id="512" name="Text Box 3475"/>
            <p:cNvSpPr txBox="1">
              <a:spLocks noChangeArrowheads="1"/>
            </p:cNvSpPr>
            <p:nvPr/>
          </p:nvSpPr>
          <p:spPr bwMode="auto">
            <a:xfrm>
              <a:off x="5678712" y="991925"/>
              <a:ext cx="480483"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C</a:t>
              </a:r>
              <a:endParaRPr lang="en-US" altLang="zh-CN" sz="1100" i="1" dirty="0">
                <a:latin typeface="微软雅黑 Light" panose="020B0502040204020203" pitchFamily="34" charset="-122"/>
                <a:ea typeface="微软雅黑 Light" panose="020B0502040204020203" pitchFamily="34" charset="-122"/>
              </a:endParaRPr>
            </a:p>
          </p:txBody>
        </p:sp>
        <p:sp>
          <p:nvSpPr>
            <p:cNvPr id="513" name="Text Box 3475"/>
            <p:cNvSpPr txBox="1">
              <a:spLocks noChangeArrowheads="1"/>
            </p:cNvSpPr>
            <p:nvPr/>
          </p:nvSpPr>
          <p:spPr bwMode="auto">
            <a:xfrm>
              <a:off x="4932363" y="188913"/>
              <a:ext cx="332361"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B</a:t>
              </a:r>
            </a:p>
          </p:txBody>
        </p:sp>
        <p:sp>
          <p:nvSpPr>
            <p:cNvPr id="514" name="Line 4406"/>
            <p:cNvSpPr>
              <a:spLocks noChangeShapeType="1"/>
            </p:cNvSpPr>
            <p:nvPr/>
          </p:nvSpPr>
          <p:spPr bwMode="auto">
            <a:xfrm rot="816166" flipV="1">
              <a:off x="5060950" y="1389063"/>
              <a:ext cx="752475" cy="558800"/>
            </a:xfrm>
            <a:prstGeom prst="line">
              <a:avLst/>
            </a:prstGeom>
            <a:noFill/>
            <a:ln w="19050">
              <a:solidFill>
                <a:srgbClr val="777777"/>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15" name="Line 4406"/>
            <p:cNvSpPr>
              <a:spLocks noChangeShapeType="1"/>
            </p:cNvSpPr>
            <p:nvPr/>
          </p:nvSpPr>
          <p:spPr bwMode="auto">
            <a:xfrm rot="816166" flipH="1">
              <a:off x="5062538" y="674688"/>
              <a:ext cx="26987" cy="1116012"/>
            </a:xfrm>
            <a:prstGeom prst="line">
              <a:avLst/>
            </a:prstGeom>
            <a:noFill/>
            <a:ln w="19050">
              <a:solidFill>
                <a:srgbClr val="777777"/>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16" name="椭圆 515"/>
            <p:cNvSpPr/>
            <p:nvPr/>
          </p:nvSpPr>
          <p:spPr bwMode="auto">
            <a:xfrm>
              <a:off x="827088" y="4292600"/>
              <a:ext cx="215900" cy="215900"/>
            </a:xfrm>
            <a:prstGeom prst="ellipse">
              <a:avLst/>
            </a:prstGeom>
            <a:solidFill>
              <a:schemeClr val="bg2">
                <a:lumMod val="40000"/>
                <a:lumOff val="60000"/>
              </a:schemeClr>
            </a:solidFill>
            <a:ln w="9525" cap="flat" cmpd="sng" algn="ctr">
              <a:solidFill>
                <a:schemeClr val="tx1"/>
              </a:solidFill>
              <a:prstDash val="solid"/>
              <a:round/>
              <a:headEnd type="none" w="med" len="med"/>
              <a:tailEnd type="none" w="med" len="med"/>
            </a:ln>
            <a:effectLst/>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sp>
          <p:nvSpPr>
            <p:cNvPr id="517" name="椭圆 516"/>
            <p:cNvSpPr/>
            <p:nvPr/>
          </p:nvSpPr>
          <p:spPr bwMode="auto">
            <a:xfrm>
              <a:off x="1979613" y="2852738"/>
              <a:ext cx="215900" cy="215900"/>
            </a:xfrm>
            <a:prstGeom prst="ellipse">
              <a:avLst/>
            </a:prstGeom>
            <a:solidFill>
              <a:schemeClr val="bg2">
                <a:lumMod val="40000"/>
                <a:lumOff val="60000"/>
              </a:schemeClr>
            </a:solidFill>
            <a:ln w="9525" cap="flat" cmpd="sng" algn="ctr">
              <a:solidFill>
                <a:schemeClr val="tx1"/>
              </a:solidFill>
              <a:prstDash val="solid"/>
              <a:round/>
              <a:headEnd type="none" w="med" len="med"/>
              <a:tailEnd type="none" w="med" len="med"/>
            </a:ln>
            <a:effectLst/>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sp>
          <p:nvSpPr>
            <p:cNvPr id="518" name="椭圆 517"/>
            <p:cNvSpPr/>
            <p:nvPr/>
          </p:nvSpPr>
          <p:spPr bwMode="auto">
            <a:xfrm>
              <a:off x="3132138" y="4365625"/>
              <a:ext cx="215900" cy="215900"/>
            </a:xfrm>
            <a:prstGeom prst="ellipse">
              <a:avLst/>
            </a:prstGeom>
            <a:solidFill>
              <a:schemeClr val="bg2">
                <a:lumMod val="40000"/>
                <a:lumOff val="60000"/>
              </a:schemeClr>
            </a:solidFill>
            <a:ln w="9525" cap="flat" cmpd="sng" algn="ctr">
              <a:solidFill>
                <a:schemeClr val="tx1"/>
              </a:solidFill>
              <a:prstDash val="solid"/>
              <a:round/>
              <a:headEnd type="none" w="med" len="med"/>
              <a:tailEnd type="none" w="med" len="med"/>
            </a:ln>
            <a:effectLst/>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sp>
          <p:nvSpPr>
            <p:cNvPr id="519" name="椭圆 518"/>
            <p:cNvSpPr/>
            <p:nvPr/>
          </p:nvSpPr>
          <p:spPr bwMode="auto">
            <a:xfrm>
              <a:off x="5724525" y="4221163"/>
              <a:ext cx="215900" cy="215900"/>
            </a:xfrm>
            <a:prstGeom prst="ellipse">
              <a:avLst/>
            </a:prstGeom>
            <a:solidFill>
              <a:schemeClr val="bg2">
                <a:lumMod val="40000"/>
                <a:lumOff val="60000"/>
              </a:schemeClr>
            </a:solidFill>
            <a:ln w="9525" cap="flat" cmpd="sng" algn="ctr">
              <a:solidFill>
                <a:schemeClr val="tx1"/>
              </a:solidFill>
              <a:prstDash val="solid"/>
              <a:round/>
              <a:headEnd type="none" w="med" len="med"/>
              <a:tailEnd type="none" w="med" len="med"/>
            </a:ln>
            <a:effectLst/>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sp>
          <p:nvSpPr>
            <p:cNvPr id="520" name="椭圆 519"/>
            <p:cNvSpPr/>
            <p:nvPr/>
          </p:nvSpPr>
          <p:spPr bwMode="auto">
            <a:xfrm>
              <a:off x="7092950" y="2852738"/>
              <a:ext cx="215900" cy="217487"/>
            </a:xfrm>
            <a:prstGeom prst="ellipse">
              <a:avLst/>
            </a:prstGeom>
            <a:solidFill>
              <a:schemeClr val="bg2">
                <a:lumMod val="40000"/>
                <a:lumOff val="60000"/>
              </a:schemeClr>
            </a:solidFill>
            <a:ln w="9525" cap="flat" cmpd="sng" algn="ctr">
              <a:solidFill>
                <a:schemeClr val="tx1"/>
              </a:solidFill>
              <a:prstDash val="solid"/>
              <a:round/>
              <a:headEnd type="none" w="med" len="med"/>
              <a:tailEnd type="none" w="med" len="med"/>
            </a:ln>
            <a:effectLst/>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sp>
          <p:nvSpPr>
            <p:cNvPr id="521" name="椭圆 520"/>
            <p:cNvSpPr/>
            <p:nvPr/>
          </p:nvSpPr>
          <p:spPr bwMode="auto">
            <a:xfrm>
              <a:off x="6227763" y="3141663"/>
              <a:ext cx="215900" cy="215900"/>
            </a:xfrm>
            <a:prstGeom prst="ellipse">
              <a:avLst/>
            </a:prstGeom>
            <a:solidFill>
              <a:schemeClr val="bg2">
                <a:lumMod val="40000"/>
                <a:lumOff val="60000"/>
              </a:schemeClr>
            </a:solidFill>
            <a:ln w="9525" cap="flat" cmpd="sng" algn="ctr">
              <a:solidFill>
                <a:schemeClr val="tx1"/>
              </a:solidFill>
              <a:prstDash val="solid"/>
              <a:round/>
              <a:headEnd type="none" w="med" len="med"/>
              <a:tailEnd type="none" w="med" len="med"/>
            </a:ln>
            <a:effectLst/>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sp>
          <p:nvSpPr>
            <p:cNvPr id="522" name="椭圆 521"/>
            <p:cNvSpPr/>
            <p:nvPr/>
          </p:nvSpPr>
          <p:spPr bwMode="auto">
            <a:xfrm>
              <a:off x="7812088" y="3429000"/>
              <a:ext cx="215900" cy="215900"/>
            </a:xfrm>
            <a:prstGeom prst="ellipse">
              <a:avLst/>
            </a:prstGeom>
            <a:solidFill>
              <a:schemeClr val="bg2">
                <a:lumMod val="40000"/>
                <a:lumOff val="60000"/>
              </a:schemeClr>
            </a:solidFill>
            <a:ln w="9525" cap="flat" cmpd="sng" algn="ctr">
              <a:solidFill>
                <a:schemeClr val="tx1"/>
              </a:solidFill>
              <a:prstDash val="solid"/>
              <a:round/>
              <a:headEnd type="none" w="med" len="med"/>
              <a:tailEnd type="none" w="med" len="med"/>
            </a:ln>
            <a:effectLst/>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cxnSp>
          <p:nvCxnSpPr>
            <p:cNvPr id="523" name="直接连接符 5708"/>
            <p:cNvCxnSpPr>
              <a:cxnSpLocks noChangeShapeType="1"/>
              <a:endCxn id="516" idx="0"/>
            </p:cNvCxnSpPr>
            <p:nvPr/>
          </p:nvCxnSpPr>
          <p:spPr bwMode="auto">
            <a:xfrm flipH="1">
              <a:off x="935038" y="1844675"/>
              <a:ext cx="252412" cy="2447925"/>
            </a:xfrm>
            <a:prstGeom prst="line">
              <a:avLst/>
            </a:prstGeom>
            <a:noFill/>
            <a:ln w="9525"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524" name="直接连接符 5709"/>
            <p:cNvCxnSpPr>
              <a:cxnSpLocks noChangeShapeType="1"/>
              <a:stCxn id="2835" idx="7"/>
              <a:endCxn id="521" idx="0"/>
            </p:cNvCxnSpPr>
            <p:nvPr/>
          </p:nvCxnSpPr>
          <p:spPr bwMode="auto">
            <a:xfrm>
              <a:off x="6223000" y="2347913"/>
              <a:ext cx="112713" cy="793750"/>
            </a:xfrm>
            <a:prstGeom prst="line">
              <a:avLst/>
            </a:prstGeom>
            <a:noFill/>
            <a:ln w="9525"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525" name="直接连接符 5710"/>
            <p:cNvCxnSpPr>
              <a:cxnSpLocks noChangeShapeType="1"/>
              <a:endCxn id="518" idx="7"/>
            </p:cNvCxnSpPr>
            <p:nvPr/>
          </p:nvCxnSpPr>
          <p:spPr bwMode="auto">
            <a:xfrm flipH="1">
              <a:off x="3316288" y="2060575"/>
              <a:ext cx="1327150" cy="2336800"/>
            </a:xfrm>
            <a:prstGeom prst="line">
              <a:avLst/>
            </a:prstGeom>
            <a:noFill/>
            <a:ln w="9525"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526" name="直接连接符 5711"/>
            <p:cNvCxnSpPr>
              <a:cxnSpLocks noChangeShapeType="1"/>
              <a:stCxn id="1473" idx="7"/>
              <a:endCxn id="517" idx="7"/>
            </p:cNvCxnSpPr>
            <p:nvPr/>
          </p:nvCxnSpPr>
          <p:spPr bwMode="auto">
            <a:xfrm flipH="1">
              <a:off x="2163763" y="2225675"/>
              <a:ext cx="584200" cy="658813"/>
            </a:xfrm>
            <a:prstGeom prst="line">
              <a:avLst/>
            </a:prstGeom>
            <a:noFill/>
            <a:ln w="9525"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527" name="直接连接符 5712"/>
            <p:cNvCxnSpPr>
              <a:cxnSpLocks noChangeShapeType="1"/>
              <a:endCxn id="522" idx="1"/>
            </p:cNvCxnSpPr>
            <p:nvPr/>
          </p:nvCxnSpPr>
          <p:spPr bwMode="auto">
            <a:xfrm>
              <a:off x="6948488" y="908050"/>
              <a:ext cx="895350" cy="2552700"/>
            </a:xfrm>
            <a:prstGeom prst="line">
              <a:avLst/>
            </a:prstGeom>
            <a:noFill/>
            <a:ln w="9525"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528" name="直接连接符 5713"/>
            <p:cNvCxnSpPr>
              <a:cxnSpLocks noChangeShapeType="1"/>
              <a:endCxn id="519" idx="0"/>
            </p:cNvCxnSpPr>
            <p:nvPr/>
          </p:nvCxnSpPr>
          <p:spPr bwMode="auto">
            <a:xfrm>
              <a:off x="5292725" y="549275"/>
              <a:ext cx="539750" cy="3671888"/>
            </a:xfrm>
            <a:prstGeom prst="line">
              <a:avLst/>
            </a:prstGeom>
            <a:noFill/>
            <a:ln w="9525"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529" name="直接连接符 5714"/>
            <p:cNvCxnSpPr>
              <a:cxnSpLocks noChangeShapeType="1"/>
              <a:endCxn id="520" idx="1"/>
            </p:cNvCxnSpPr>
            <p:nvPr/>
          </p:nvCxnSpPr>
          <p:spPr bwMode="auto">
            <a:xfrm>
              <a:off x="6084888" y="1484313"/>
              <a:ext cx="1039812" cy="1400175"/>
            </a:xfrm>
            <a:prstGeom prst="line">
              <a:avLst/>
            </a:prstGeom>
            <a:noFill/>
            <a:ln w="9525" algn="ctr">
              <a:solidFill>
                <a:schemeClr val="tx1"/>
              </a:solidFill>
              <a:prstDash val="dash"/>
              <a:round/>
              <a:headEnd/>
              <a:tailEnd/>
            </a:ln>
            <a:extLst>
              <a:ext uri="{909E8E84-426E-40DD-AFC4-6F175D3DCCD1}">
                <a14:hiddenFill xmlns:a14="http://schemas.microsoft.com/office/drawing/2010/main">
                  <a:noFill/>
                </a14:hiddenFill>
              </a:ext>
            </a:extLst>
          </p:spPr>
        </p:cxnSp>
        <p:graphicFrame>
          <p:nvGraphicFramePr>
            <p:cNvPr id="530" name="Object 58"/>
            <p:cNvGraphicFramePr>
              <a:graphicFrameLocks noChangeAspect="1"/>
            </p:cNvGraphicFramePr>
            <p:nvPr>
              <p:extLst>
                <p:ext uri="{D42A27DB-BD31-4B8C-83A1-F6EECF244321}">
                  <p14:modId xmlns:p14="http://schemas.microsoft.com/office/powerpoint/2010/main" val="3542672907"/>
                </p:ext>
              </p:extLst>
            </p:nvPr>
          </p:nvGraphicFramePr>
          <p:xfrm>
            <a:off x="4284663" y="3068638"/>
            <a:ext cx="957262" cy="693737"/>
          </p:xfrm>
          <a:graphic>
            <a:graphicData uri="http://schemas.openxmlformats.org/presentationml/2006/ole">
              <mc:AlternateContent xmlns:mc="http://schemas.openxmlformats.org/markup-compatibility/2006">
                <mc:Choice xmlns:v="urn:schemas-microsoft-com:vml" Requires="v">
                  <p:oleObj name="VISIO" r:id="rId5" imgW="1687068" imgH="964692" progId="">
                    <p:embed/>
                  </p:oleObj>
                </mc:Choice>
                <mc:Fallback>
                  <p:oleObj name="VISIO" r:id="rId5" imgW="1687068" imgH="964692" progId="">
                    <p:embed/>
                    <p:pic>
                      <p:nvPicPr>
                        <p:cNvPr id="0" name="Picture 98"/>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284663" y="3068638"/>
                          <a:ext cx="957262" cy="69373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pSp>
          <p:nvGrpSpPr>
            <p:cNvPr id="531" name="Group 2096"/>
            <p:cNvGrpSpPr>
              <a:grpSpLocks/>
            </p:cNvGrpSpPr>
            <p:nvPr/>
          </p:nvGrpSpPr>
          <p:grpSpPr bwMode="auto">
            <a:xfrm>
              <a:off x="971550" y="1484313"/>
              <a:ext cx="431800" cy="330200"/>
              <a:chOff x="624" y="2968"/>
              <a:chExt cx="1331" cy="920"/>
            </a:xfrm>
          </p:grpSpPr>
          <p:sp>
            <p:nvSpPr>
              <p:cNvPr id="532" name="Freeform 2097"/>
              <p:cNvSpPr>
                <a:spLocks/>
              </p:cNvSpPr>
              <p:nvPr/>
            </p:nvSpPr>
            <p:spPr bwMode="auto">
              <a:xfrm>
                <a:off x="1238" y="2968"/>
                <a:ext cx="713" cy="770"/>
              </a:xfrm>
              <a:custGeom>
                <a:avLst/>
                <a:gdLst>
                  <a:gd name="T0" fmla="*/ 7 w 1426"/>
                  <a:gd name="T1" fmla="*/ 1 h 2309"/>
                  <a:gd name="T2" fmla="*/ 7 w 1426"/>
                  <a:gd name="T3" fmla="*/ 1 h 2309"/>
                  <a:gd name="T4" fmla="*/ 0 w 1426"/>
                  <a:gd name="T5" fmla="*/ 1 h 2309"/>
                  <a:gd name="T6" fmla="*/ 3 w 1426"/>
                  <a:gd name="T7" fmla="*/ 0 h 2309"/>
                  <a:gd name="T8" fmla="*/ 3 w 1426"/>
                  <a:gd name="T9" fmla="*/ 0 h 2309"/>
                  <a:gd name="T10" fmla="*/ 3 w 1426"/>
                  <a:gd name="T11" fmla="*/ 0 h 2309"/>
                  <a:gd name="T12" fmla="*/ 3 w 1426"/>
                  <a:gd name="T13" fmla="*/ 0 h 2309"/>
                  <a:gd name="T14" fmla="*/ 11 w 1426"/>
                  <a:gd name="T15" fmla="*/ 0 h 2309"/>
                  <a:gd name="T16" fmla="*/ 11 w 1426"/>
                  <a:gd name="T17" fmla="*/ 0 h 2309"/>
                  <a:gd name="T18" fmla="*/ 11 w 1426"/>
                  <a:gd name="T19" fmla="*/ 0 h 2309"/>
                  <a:gd name="T20" fmla="*/ 11 w 1426"/>
                  <a:gd name="T21" fmla="*/ 0 h 2309"/>
                  <a:gd name="T22" fmla="*/ 7 w 1426"/>
                  <a:gd name="T23" fmla="*/ 1 h 2309"/>
                  <a:gd name="T24" fmla="*/ 7 w 1426"/>
                  <a:gd name="T25" fmla="*/ 1 h 230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2309"/>
                  <a:gd name="T41" fmla="*/ 1426 w 1426"/>
                  <a:gd name="T42" fmla="*/ 2309 h 230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2309">
                    <a:moveTo>
                      <a:pt x="992" y="2292"/>
                    </a:moveTo>
                    <a:lnTo>
                      <a:pt x="964" y="2309"/>
                    </a:lnTo>
                    <a:lnTo>
                      <a:pt x="0" y="1462"/>
                    </a:lnTo>
                    <a:lnTo>
                      <a:pt x="326" y="59"/>
                    </a:lnTo>
                    <a:lnTo>
                      <a:pt x="369" y="18"/>
                    </a:lnTo>
                    <a:lnTo>
                      <a:pt x="414" y="0"/>
                    </a:lnTo>
                    <a:lnTo>
                      <a:pt x="457" y="9"/>
                    </a:lnTo>
                    <a:lnTo>
                      <a:pt x="1381" y="400"/>
                    </a:lnTo>
                    <a:lnTo>
                      <a:pt x="1411" y="421"/>
                    </a:lnTo>
                    <a:lnTo>
                      <a:pt x="1422" y="425"/>
                    </a:lnTo>
                    <a:lnTo>
                      <a:pt x="1426" y="445"/>
                    </a:lnTo>
                    <a:lnTo>
                      <a:pt x="1017" y="2306"/>
                    </a:lnTo>
                    <a:lnTo>
                      <a:pt x="992" y="2292"/>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33" name="Freeform 2098"/>
              <p:cNvSpPr>
                <a:spLocks/>
              </p:cNvSpPr>
              <p:nvPr/>
            </p:nvSpPr>
            <p:spPr bwMode="auto">
              <a:xfrm>
                <a:off x="1668" y="3087"/>
                <a:ext cx="286" cy="660"/>
              </a:xfrm>
              <a:custGeom>
                <a:avLst/>
                <a:gdLst>
                  <a:gd name="T0" fmla="*/ 4 w 573"/>
                  <a:gd name="T1" fmla="*/ 0 h 1980"/>
                  <a:gd name="T2" fmla="*/ 4 w 573"/>
                  <a:gd name="T3" fmla="*/ 0 h 1980"/>
                  <a:gd name="T4" fmla="*/ 1 w 573"/>
                  <a:gd name="T5" fmla="*/ 1 h 1980"/>
                  <a:gd name="T6" fmla="*/ 1 w 573"/>
                  <a:gd name="T7" fmla="*/ 1 h 1980"/>
                  <a:gd name="T8" fmla="*/ 1 w 573"/>
                  <a:gd name="T9" fmla="*/ 1 h 1980"/>
                  <a:gd name="T10" fmla="*/ 0 w 573"/>
                  <a:gd name="T11" fmla="*/ 1 h 1980"/>
                  <a:gd name="T12" fmla="*/ 0 w 573"/>
                  <a:gd name="T13" fmla="*/ 1 h 1980"/>
                  <a:gd name="T14" fmla="*/ 0 w 573"/>
                  <a:gd name="T15" fmla="*/ 1 h 1980"/>
                  <a:gd name="T16" fmla="*/ 0 w 573"/>
                  <a:gd name="T17" fmla="*/ 1 h 1980"/>
                  <a:gd name="T18" fmla="*/ 3 w 573"/>
                  <a:gd name="T19" fmla="*/ 0 h 1980"/>
                  <a:gd name="T20" fmla="*/ 3 w 573"/>
                  <a:gd name="T21" fmla="*/ 0 h 1980"/>
                  <a:gd name="T22" fmla="*/ 3 w 573"/>
                  <a:gd name="T23" fmla="*/ 0 h 1980"/>
                  <a:gd name="T24" fmla="*/ 3 w 573"/>
                  <a:gd name="T25" fmla="*/ 0 h 1980"/>
                  <a:gd name="T26" fmla="*/ 4 w 573"/>
                  <a:gd name="T27" fmla="*/ 0 h 1980"/>
                  <a:gd name="T28" fmla="*/ 4 w 573"/>
                  <a:gd name="T29" fmla="*/ 0 h 1980"/>
                  <a:gd name="T30" fmla="*/ 4 w 573"/>
                  <a:gd name="T31" fmla="*/ 0 h 19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573"/>
                  <a:gd name="T49" fmla="*/ 0 h 1980"/>
                  <a:gd name="T50" fmla="*/ 573 w 573"/>
                  <a:gd name="T51" fmla="*/ 1980 h 19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573" h="1980">
                    <a:moveTo>
                      <a:pt x="573" y="86"/>
                    </a:moveTo>
                    <a:lnTo>
                      <a:pt x="568" y="132"/>
                    </a:lnTo>
                    <a:lnTo>
                      <a:pt x="155" y="1923"/>
                    </a:lnTo>
                    <a:lnTo>
                      <a:pt x="151" y="1955"/>
                    </a:lnTo>
                    <a:lnTo>
                      <a:pt x="140" y="1972"/>
                    </a:lnTo>
                    <a:lnTo>
                      <a:pt x="125" y="1980"/>
                    </a:lnTo>
                    <a:lnTo>
                      <a:pt x="111" y="1975"/>
                    </a:lnTo>
                    <a:lnTo>
                      <a:pt x="86" y="1955"/>
                    </a:lnTo>
                    <a:lnTo>
                      <a:pt x="0" y="1880"/>
                    </a:lnTo>
                    <a:lnTo>
                      <a:pt x="425" y="39"/>
                    </a:lnTo>
                    <a:lnTo>
                      <a:pt x="420" y="27"/>
                    </a:lnTo>
                    <a:lnTo>
                      <a:pt x="396" y="0"/>
                    </a:lnTo>
                    <a:lnTo>
                      <a:pt x="445" y="20"/>
                    </a:lnTo>
                    <a:lnTo>
                      <a:pt x="541" y="61"/>
                    </a:lnTo>
                    <a:lnTo>
                      <a:pt x="559" y="75"/>
                    </a:lnTo>
                    <a:lnTo>
                      <a:pt x="573" y="86"/>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34" name="Freeform 2099"/>
              <p:cNvSpPr>
                <a:spLocks/>
              </p:cNvSpPr>
              <p:nvPr/>
            </p:nvSpPr>
            <p:spPr bwMode="auto">
              <a:xfrm>
                <a:off x="1432" y="2970"/>
                <a:ext cx="523" cy="147"/>
              </a:xfrm>
              <a:custGeom>
                <a:avLst/>
                <a:gdLst>
                  <a:gd name="T0" fmla="*/ 0 w 1045"/>
                  <a:gd name="T1" fmla="*/ 0 h 441"/>
                  <a:gd name="T2" fmla="*/ 1 w 1045"/>
                  <a:gd name="T3" fmla="*/ 0 h 441"/>
                  <a:gd name="T4" fmla="*/ 1 w 1045"/>
                  <a:gd name="T5" fmla="*/ 0 h 441"/>
                  <a:gd name="T6" fmla="*/ 8 w 1045"/>
                  <a:gd name="T7" fmla="*/ 0 h 441"/>
                  <a:gd name="T8" fmla="*/ 9 w 1045"/>
                  <a:gd name="T9" fmla="*/ 0 h 441"/>
                  <a:gd name="T10" fmla="*/ 9 w 1045"/>
                  <a:gd name="T11" fmla="*/ 0 h 441"/>
                  <a:gd name="T12" fmla="*/ 0 w 1045"/>
                  <a:gd name="T13" fmla="*/ 0 h 441"/>
                  <a:gd name="T14" fmla="*/ 0 60000 65536"/>
                  <a:gd name="T15" fmla="*/ 0 60000 65536"/>
                  <a:gd name="T16" fmla="*/ 0 60000 65536"/>
                  <a:gd name="T17" fmla="*/ 0 60000 65536"/>
                  <a:gd name="T18" fmla="*/ 0 60000 65536"/>
                  <a:gd name="T19" fmla="*/ 0 60000 65536"/>
                  <a:gd name="T20" fmla="*/ 0 60000 65536"/>
                  <a:gd name="T21" fmla="*/ 0 w 1045"/>
                  <a:gd name="T22" fmla="*/ 0 h 441"/>
                  <a:gd name="T23" fmla="*/ 1045 w 1045"/>
                  <a:gd name="T24" fmla="*/ 441 h 44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45" h="441">
                    <a:moveTo>
                      <a:pt x="0" y="0"/>
                    </a:moveTo>
                    <a:lnTo>
                      <a:pt x="31" y="1"/>
                    </a:lnTo>
                    <a:lnTo>
                      <a:pt x="62" y="10"/>
                    </a:lnTo>
                    <a:lnTo>
                      <a:pt x="1005" y="409"/>
                    </a:lnTo>
                    <a:lnTo>
                      <a:pt x="1037" y="427"/>
                    </a:lnTo>
                    <a:lnTo>
                      <a:pt x="1045" y="441"/>
                    </a:lnTo>
                    <a:lnTo>
                      <a:pt x="0" y="0"/>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35" name="Freeform 2100"/>
              <p:cNvSpPr>
                <a:spLocks/>
              </p:cNvSpPr>
              <p:nvPr/>
            </p:nvSpPr>
            <p:spPr bwMode="auto">
              <a:xfrm>
                <a:off x="1315" y="3056"/>
                <a:ext cx="478" cy="573"/>
              </a:xfrm>
              <a:custGeom>
                <a:avLst/>
                <a:gdLst>
                  <a:gd name="T0" fmla="*/ 5 w 955"/>
                  <a:gd name="T1" fmla="*/ 1 h 1719"/>
                  <a:gd name="T2" fmla="*/ 0 w 955"/>
                  <a:gd name="T3" fmla="*/ 1 h 1719"/>
                  <a:gd name="T4" fmla="*/ 3 w 955"/>
                  <a:gd name="T5" fmla="*/ 0 h 1719"/>
                  <a:gd name="T6" fmla="*/ 8 w 955"/>
                  <a:gd name="T7" fmla="*/ 0 h 1719"/>
                  <a:gd name="T8" fmla="*/ 5 w 955"/>
                  <a:gd name="T9" fmla="*/ 1 h 1719"/>
                  <a:gd name="T10" fmla="*/ 0 60000 65536"/>
                  <a:gd name="T11" fmla="*/ 0 60000 65536"/>
                  <a:gd name="T12" fmla="*/ 0 60000 65536"/>
                  <a:gd name="T13" fmla="*/ 0 60000 65536"/>
                  <a:gd name="T14" fmla="*/ 0 60000 65536"/>
                  <a:gd name="T15" fmla="*/ 0 w 955"/>
                  <a:gd name="T16" fmla="*/ 0 h 1719"/>
                  <a:gd name="T17" fmla="*/ 955 w 955"/>
                  <a:gd name="T18" fmla="*/ 1719 h 1719"/>
                </a:gdLst>
                <a:ahLst/>
                <a:cxnLst>
                  <a:cxn ang="T10">
                    <a:pos x="T0" y="T1"/>
                  </a:cxn>
                  <a:cxn ang="T11">
                    <a:pos x="T2" y="T3"/>
                  </a:cxn>
                  <a:cxn ang="T12">
                    <a:pos x="T4" y="T5"/>
                  </a:cxn>
                  <a:cxn ang="T13">
                    <a:pos x="T6" y="T7"/>
                  </a:cxn>
                  <a:cxn ang="T14">
                    <a:pos x="T8" y="T9"/>
                  </a:cxn>
                </a:cxnLst>
                <a:rect l="T15" t="T16" r="T17" b="T18"/>
                <a:pathLst>
                  <a:path w="955" h="1719">
                    <a:moveTo>
                      <a:pt x="619" y="1719"/>
                    </a:moveTo>
                    <a:lnTo>
                      <a:pt x="0" y="1212"/>
                    </a:lnTo>
                    <a:lnTo>
                      <a:pt x="290" y="0"/>
                    </a:lnTo>
                    <a:lnTo>
                      <a:pt x="955" y="313"/>
                    </a:lnTo>
                    <a:lnTo>
                      <a:pt x="619" y="1719"/>
                    </a:lnTo>
                    <a:close/>
                  </a:path>
                </a:pathLst>
              </a:custGeom>
              <a:solidFill>
                <a:srgbClr val="000000"/>
              </a:solidFill>
              <a:ln w="7938">
                <a:solidFill>
                  <a:srgbClr val="80808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36" name="Freeform 2101"/>
              <p:cNvSpPr>
                <a:spLocks/>
              </p:cNvSpPr>
              <p:nvPr/>
            </p:nvSpPr>
            <p:spPr bwMode="auto">
              <a:xfrm>
                <a:off x="1337" y="3076"/>
                <a:ext cx="431" cy="529"/>
              </a:xfrm>
              <a:custGeom>
                <a:avLst/>
                <a:gdLst>
                  <a:gd name="T0" fmla="*/ 5 w 862"/>
                  <a:gd name="T1" fmla="*/ 1 h 1587"/>
                  <a:gd name="T2" fmla="*/ 0 w 862"/>
                  <a:gd name="T3" fmla="*/ 1 h 1587"/>
                  <a:gd name="T4" fmla="*/ 3 w 862"/>
                  <a:gd name="T5" fmla="*/ 0 h 1587"/>
                  <a:gd name="T6" fmla="*/ 7 w 862"/>
                  <a:gd name="T7" fmla="*/ 0 h 1587"/>
                  <a:gd name="T8" fmla="*/ 5 w 862"/>
                  <a:gd name="T9" fmla="*/ 1 h 1587"/>
                  <a:gd name="T10" fmla="*/ 0 60000 65536"/>
                  <a:gd name="T11" fmla="*/ 0 60000 65536"/>
                  <a:gd name="T12" fmla="*/ 0 60000 65536"/>
                  <a:gd name="T13" fmla="*/ 0 60000 65536"/>
                  <a:gd name="T14" fmla="*/ 0 60000 65536"/>
                  <a:gd name="T15" fmla="*/ 0 w 862"/>
                  <a:gd name="T16" fmla="*/ 0 h 1587"/>
                  <a:gd name="T17" fmla="*/ 862 w 862"/>
                  <a:gd name="T18" fmla="*/ 1587 h 1587"/>
                </a:gdLst>
                <a:ahLst/>
                <a:cxnLst>
                  <a:cxn ang="T10">
                    <a:pos x="T0" y="T1"/>
                  </a:cxn>
                  <a:cxn ang="T11">
                    <a:pos x="T2" y="T3"/>
                  </a:cxn>
                  <a:cxn ang="T12">
                    <a:pos x="T4" y="T5"/>
                  </a:cxn>
                  <a:cxn ang="T13">
                    <a:pos x="T6" y="T7"/>
                  </a:cxn>
                  <a:cxn ang="T14">
                    <a:pos x="T8" y="T9"/>
                  </a:cxn>
                </a:cxnLst>
                <a:rect l="T15" t="T16" r="T17" b="T18"/>
                <a:pathLst>
                  <a:path w="862" h="1587">
                    <a:moveTo>
                      <a:pt x="546" y="1587"/>
                    </a:moveTo>
                    <a:lnTo>
                      <a:pt x="0" y="1134"/>
                    </a:lnTo>
                    <a:lnTo>
                      <a:pt x="272" y="0"/>
                    </a:lnTo>
                    <a:lnTo>
                      <a:pt x="862" y="268"/>
                    </a:lnTo>
                    <a:lnTo>
                      <a:pt x="546" y="1587"/>
                    </a:lnTo>
                    <a:close/>
                  </a:path>
                </a:pathLst>
              </a:custGeom>
              <a:solidFill>
                <a:srgbClr val="C7C7C7"/>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37" name="Freeform 2102"/>
              <p:cNvSpPr>
                <a:spLocks/>
              </p:cNvSpPr>
              <p:nvPr/>
            </p:nvSpPr>
            <p:spPr bwMode="auto">
              <a:xfrm>
                <a:off x="1233" y="2968"/>
                <a:ext cx="203" cy="494"/>
              </a:xfrm>
              <a:custGeom>
                <a:avLst/>
                <a:gdLst>
                  <a:gd name="T0" fmla="*/ 3 w 408"/>
                  <a:gd name="T1" fmla="*/ 0 h 1480"/>
                  <a:gd name="T2" fmla="*/ 2 w 408"/>
                  <a:gd name="T3" fmla="*/ 0 h 1480"/>
                  <a:gd name="T4" fmla="*/ 2 w 408"/>
                  <a:gd name="T5" fmla="*/ 0 h 1480"/>
                  <a:gd name="T6" fmla="*/ 2 w 408"/>
                  <a:gd name="T7" fmla="*/ 0 h 1480"/>
                  <a:gd name="T8" fmla="*/ 2 w 408"/>
                  <a:gd name="T9" fmla="*/ 0 h 1480"/>
                  <a:gd name="T10" fmla="*/ 2 w 408"/>
                  <a:gd name="T11" fmla="*/ 0 h 1480"/>
                  <a:gd name="T12" fmla="*/ 0 w 408"/>
                  <a:gd name="T13" fmla="*/ 1 h 1480"/>
                  <a:gd name="T14" fmla="*/ 0 w 408"/>
                  <a:gd name="T15" fmla="*/ 1 h 1480"/>
                  <a:gd name="T16" fmla="*/ 2 w 408"/>
                  <a:gd name="T17" fmla="*/ 0 h 1480"/>
                  <a:gd name="T18" fmla="*/ 2 w 408"/>
                  <a:gd name="T19" fmla="*/ 0 h 1480"/>
                  <a:gd name="T20" fmla="*/ 2 w 408"/>
                  <a:gd name="T21" fmla="*/ 0 h 1480"/>
                  <a:gd name="T22" fmla="*/ 2 w 408"/>
                  <a:gd name="T23" fmla="*/ 0 h 1480"/>
                  <a:gd name="T24" fmla="*/ 2 w 408"/>
                  <a:gd name="T25" fmla="*/ 0 h 1480"/>
                  <a:gd name="T26" fmla="*/ 3 w 408"/>
                  <a:gd name="T27" fmla="*/ 0 h 1480"/>
                  <a:gd name="T28" fmla="*/ 3 w 408"/>
                  <a:gd name="T29" fmla="*/ 0 h 1480"/>
                  <a:gd name="T30" fmla="*/ 3 w 408"/>
                  <a:gd name="T31" fmla="*/ 0 h 14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408"/>
                  <a:gd name="T49" fmla="*/ 0 h 1480"/>
                  <a:gd name="T50" fmla="*/ 408 w 408"/>
                  <a:gd name="T51" fmla="*/ 1480 h 14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408" h="1480">
                    <a:moveTo>
                      <a:pt x="393" y="0"/>
                    </a:moveTo>
                    <a:lnTo>
                      <a:pt x="370" y="11"/>
                    </a:lnTo>
                    <a:lnTo>
                      <a:pt x="356" y="19"/>
                    </a:lnTo>
                    <a:lnTo>
                      <a:pt x="338" y="37"/>
                    </a:lnTo>
                    <a:lnTo>
                      <a:pt x="325" y="59"/>
                    </a:lnTo>
                    <a:lnTo>
                      <a:pt x="320" y="77"/>
                    </a:lnTo>
                    <a:lnTo>
                      <a:pt x="0" y="1459"/>
                    </a:lnTo>
                    <a:lnTo>
                      <a:pt x="12" y="1480"/>
                    </a:lnTo>
                    <a:lnTo>
                      <a:pt x="337" y="77"/>
                    </a:lnTo>
                    <a:lnTo>
                      <a:pt x="346" y="57"/>
                    </a:lnTo>
                    <a:lnTo>
                      <a:pt x="355" y="43"/>
                    </a:lnTo>
                    <a:lnTo>
                      <a:pt x="368" y="30"/>
                    </a:lnTo>
                    <a:lnTo>
                      <a:pt x="384" y="19"/>
                    </a:lnTo>
                    <a:lnTo>
                      <a:pt x="400" y="12"/>
                    </a:lnTo>
                    <a:lnTo>
                      <a:pt x="408" y="5"/>
                    </a:lnTo>
                    <a:lnTo>
                      <a:pt x="393" y="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38" name="Freeform 2103"/>
              <p:cNvSpPr>
                <a:spLocks/>
              </p:cNvSpPr>
              <p:nvPr/>
            </p:nvSpPr>
            <p:spPr bwMode="auto">
              <a:xfrm>
                <a:off x="1204" y="3479"/>
                <a:ext cx="532" cy="321"/>
              </a:xfrm>
              <a:custGeom>
                <a:avLst/>
                <a:gdLst>
                  <a:gd name="T0" fmla="*/ 8 w 1065"/>
                  <a:gd name="T1" fmla="*/ 0 h 963"/>
                  <a:gd name="T2" fmla="*/ 8 w 1065"/>
                  <a:gd name="T3" fmla="*/ 0 h 963"/>
                  <a:gd name="T4" fmla="*/ 7 w 1065"/>
                  <a:gd name="T5" fmla="*/ 0 h 963"/>
                  <a:gd name="T6" fmla="*/ 1 w 1065"/>
                  <a:gd name="T7" fmla="*/ 0 h 963"/>
                  <a:gd name="T8" fmla="*/ 0 w 1065"/>
                  <a:gd name="T9" fmla="*/ 0 h 963"/>
                  <a:gd name="T10" fmla="*/ 0 w 1065"/>
                  <a:gd name="T11" fmla="*/ 0 h 963"/>
                  <a:gd name="T12" fmla="*/ 0 w 1065"/>
                  <a:gd name="T13" fmla="*/ 0 h 963"/>
                  <a:gd name="T14" fmla="*/ 0 w 1065"/>
                  <a:gd name="T15" fmla="*/ 0 h 963"/>
                  <a:gd name="T16" fmla="*/ 6 w 1065"/>
                  <a:gd name="T17" fmla="*/ 0 h 963"/>
                  <a:gd name="T18" fmla="*/ 8 w 1065"/>
                  <a:gd name="T19" fmla="*/ 0 h 96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065"/>
                  <a:gd name="T31" fmla="*/ 0 h 963"/>
                  <a:gd name="T32" fmla="*/ 1065 w 1065"/>
                  <a:gd name="T33" fmla="*/ 963 h 963"/>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065" h="963">
                    <a:moveTo>
                      <a:pt x="1065" y="963"/>
                    </a:moveTo>
                    <a:lnTo>
                      <a:pt x="1047" y="833"/>
                    </a:lnTo>
                    <a:lnTo>
                      <a:pt x="1015" y="776"/>
                    </a:lnTo>
                    <a:lnTo>
                      <a:pt x="137" y="3"/>
                    </a:lnTo>
                    <a:lnTo>
                      <a:pt x="96" y="0"/>
                    </a:lnTo>
                    <a:lnTo>
                      <a:pt x="59" y="3"/>
                    </a:lnTo>
                    <a:lnTo>
                      <a:pt x="32" y="42"/>
                    </a:lnTo>
                    <a:lnTo>
                      <a:pt x="0" y="145"/>
                    </a:lnTo>
                    <a:lnTo>
                      <a:pt x="865" y="954"/>
                    </a:lnTo>
                    <a:lnTo>
                      <a:pt x="1065" y="963"/>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39" name="Freeform 2104"/>
              <p:cNvSpPr>
                <a:spLocks/>
              </p:cNvSpPr>
              <p:nvPr/>
            </p:nvSpPr>
            <p:spPr bwMode="auto">
              <a:xfrm>
                <a:off x="642" y="3519"/>
                <a:ext cx="985" cy="288"/>
              </a:xfrm>
              <a:custGeom>
                <a:avLst/>
                <a:gdLst>
                  <a:gd name="T0" fmla="*/ 0 w 1969"/>
                  <a:gd name="T1" fmla="*/ 0 h 862"/>
                  <a:gd name="T2" fmla="*/ 9 w 1969"/>
                  <a:gd name="T3" fmla="*/ 0 h 862"/>
                  <a:gd name="T4" fmla="*/ 16 w 1969"/>
                  <a:gd name="T5" fmla="*/ 0 h 862"/>
                  <a:gd name="T6" fmla="*/ 4 w 1969"/>
                  <a:gd name="T7" fmla="*/ 0 h 862"/>
                  <a:gd name="T8" fmla="*/ 0 w 1969"/>
                  <a:gd name="T9" fmla="*/ 0 h 862"/>
                  <a:gd name="T10" fmla="*/ 0 60000 65536"/>
                  <a:gd name="T11" fmla="*/ 0 60000 65536"/>
                  <a:gd name="T12" fmla="*/ 0 60000 65536"/>
                  <a:gd name="T13" fmla="*/ 0 60000 65536"/>
                  <a:gd name="T14" fmla="*/ 0 60000 65536"/>
                  <a:gd name="T15" fmla="*/ 0 w 1969"/>
                  <a:gd name="T16" fmla="*/ 0 h 862"/>
                  <a:gd name="T17" fmla="*/ 1969 w 1969"/>
                  <a:gd name="T18" fmla="*/ 862 h 862"/>
                </a:gdLst>
                <a:ahLst/>
                <a:cxnLst>
                  <a:cxn ang="T10">
                    <a:pos x="T0" y="T1"/>
                  </a:cxn>
                  <a:cxn ang="T11">
                    <a:pos x="T2" y="T3"/>
                  </a:cxn>
                  <a:cxn ang="T12">
                    <a:pos x="T4" y="T5"/>
                  </a:cxn>
                  <a:cxn ang="T13">
                    <a:pos x="T6" y="T7"/>
                  </a:cxn>
                  <a:cxn ang="T14">
                    <a:pos x="T8" y="T9"/>
                  </a:cxn>
                </a:cxnLst>
                <a:rect l="T15" t="T16" r="T17" b="T18"/>
                <a:pathLst>
                  <a:path w="1969" h="862">
                    <a:moveTo>
                      <a:pt x="0" y="0"/>
                    </a:moveTo>
                    <a:lnTo>
                      <a:pt x="1121" y="24"/>
                    </a:lnTo>
                    <a:lnTo>
                      <a:pt x="1969" y="814"/>
                    </a:lnTo>
                    <a:lnTo>
                      <a:pt x="478" y="862"/>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40" name="Freeform 2105"/>
              <p:cNvSpPr>
                <a:spLocks/>
              </p:cNvSpPr>
              <p:nvPr/>
            </p:nvSpPr>
            <p:spPr bwMode="auto">
              <a:xfrm>
                <a:off x="852" y="3789"/>
                <a:ext cx="889" cy="99"/>
              </a:xfrm>
              <a:custGeom>
                <a:avLst/>
                <a:gdLst>
                  <a:gd name="T0" fmla="*/ 1 w 1777"/>
                  <a:gd name="T1" fmla="*/ 0 h 297"/>
                  <a:gd name="T2" fmla="*/ 0 w 1777"/>
                  <a:gd name="T3" fmla="*/ 0 h 297"/>
                  <a:gd name="T4" fmla="*/ 14 w 1777"/>
                  <a:gd name="T5" fmla="*/ 0 h 297"/>
                  <a:gd name="T6" fmla="*/ 14 w 1777"/>
                  <a:gd name="T7" fmla="*/ 0 h 297"/>
                  <a:gd name="T8" fmla="*/ 14 w 1777"/>
                  <a:gd name="T9" fmla="*/ 0 h 297"/>
                  <a:gd name="T10" fmla="*/ 14 w 1777"/>
                  <a:gd name="T11" fmla="*/ 0 h 297"/>
                  <a:gd name="T12" fmla="*/ 1 w 1777"/>
                  <a:gd name="T13" fmla="*/ 0 h 297"/>
                  <a:gd name="T14" fmla="*/ 0 60000 65536"/>
                  <a:gd name="T15" fmla="*/ 0 60000 65536"/>
                  <a:gd name="T16" fmla="*/ 0 60000 65536"/>
                  <a:gd name="T17" fmla="*/ 0 60000 65536"/>
                  <a:gd name="T18" fmla="*/ 0 60000 65536"/>
                  <a:gd name="T19" fmla="*/ 0 60000 65536"/>
                  <a:gd name="T20" fmla="*/ 0 60000 65536"/>
                  <a:gd name="T21" fmla="*/ 0 w 1777"/>
                  <a:gd name="T22" fmla="*/ 0 h 297"/>
                  <a:gd name="T23" fmla="*/ 1777 w 1777"/>
                  <a:gd name="T24" fmla="*/ 297 h 29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77" h="297">
                    <a:moveTo>
                      <a:pt x="54" y="52"/>
                    </a:moveTo>
                    <a:lnTo>
                      <a:pt x="0" y="297"/>
                    </a:lnTo>
                    <a:lnTo>
                      <a:pt x="1759" y="257"/>
                    </a:lnTo>
                    <a:lnTo>
                      <a:pt x="1777" y="173"/>
                    </a:lnTo>
                    <a:lnTo>
                      <a:pt x="1773" y="74"/>
                    </a:lnTo>
                    <a:lnTo>
                      <a:pt x="1768" y="0"/>
                    </a:lnTo>
                    <a:lnTo>
                      <a:pt x="54" y="52"/>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41" name="Freeform 2106"/>
              <p:cNvSpPr>
                <a:spLocks/>
              </p:cNvSpPr>
              <p:nvPr/>
            </p:nvSpPr>
            <p:spPr bwMode="auto">
              <a:xfrm>
                <a:off x="624" y="3519"/>
                <a:ext cx="256" cy="369"/>
              </a:xfrm>
              <a:custGeom>
                <a:avLst/>
                <a:gdLst>
                  <a:gd name="T0" fmla="*/ 0 w 513"/>
                  <a:gd name="T1" fmla="*/ 0 h 1106"/>
                  <a:gd name="T2" fmla="*/ 0 w 513"/>
                  <a:gd name="T3" fmla="*/ 0 h 1106"/>
                  <a:gd name="T4" fmla="*/ 3 w 513"/>
                  <a:gd name="T5" fmla="*/ 1 h 1106"/>
                  <a:gd name="T6" fmla="*/ 4 w 513"/>
                  <a:gd name="T7" fmla="*/ 0 h 1106"/>
                  <a:gd name="T8" fmla="*/ 0 w 513"/>
                  <a:gd name="T9" fmla="*/ 0 h 1106"/>
                  <a:gd name="T10" fmla="*/ 0 60000 65536"/>
                  <a:gd name="T11" fmla="*/ 0 60000 65536"/>
                  <a:gd name="T12" fmla="*/ 0 60000 65536"/>
                  <a:gd name="T13" fmla="*/ 0 60000 65536"/>
                  <a:gd name="T14" fmla="*/ 0 60000 65536"/>
                  <a:gd name="T15" fmla="*/ 0 w 513"/>
                  <a:gd name="T16" fmla="*/ 0 h 1106"/>
                  <a:gd name="T17" fmla="*/ 513 w 513"/>
                  <a:gd name="T18" fmla="*/ 1106 h 1106"/>
                </a:gdLst>
                <a:ahLst/>
                <a:cxnLst>
                  <a:cxn ang="T10">
                    <a:pos x="T0" y="T1"/>
                  </a:cxn>
                  <a:cxn ang="T11">
                    <a:pos x="T2" y="T3"/>
                  </a:cxn>
                  <a:cxn ang="T12">
                    <a:pos x="T4" y="T5"/>
                  </a:cxn>
                  <a:cxn ang="T13">
                    <a:pos x="T6" y="T7"/>
                  </a:cxn>
                  <a:cxn ang="T14">
                    <a:pos x="T8" y="T9"/>
                  </a:cxn>
                </a:cxnLst>
                <a:rect l="T15" t="T16" r="T17" b="T18"/>
                <a:pathLst>
                  <a:path w="513" h="1106">
                    <a:moveTo>
                      <a:pt x="37" y="0"/>
                    </a:moveTo>
                    <a:lnTo>
                      <a:pt x="0" y="200"/>
                    </a:lnTo>
                    <a:lnTo>
                      <a:pt x="457" y="1106"/>
                    </a:lnTo>
                    <a:lnTo>
                      <a:pt x="513" y="862"/>
                    </a:lnTo>
                    <a:lnTo>
                      <a:pt x="37"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42" name="Freeform 2107"/>
              <p:cNvSpPr>
                <a:spLocks/>
              </p:cNvSpPr>
              <p:nvPr/>
            </p:nvSpPr>
            <p:spPr bwMode="auto">
              <a:xfrm>
                <a:off x="1206" y="3791"/>
                <a:ext cx="132" cy="8"/>
              </a:xfrm>
              <a:custGeom>
                <a:avLst/>
                <a:gdLst>
                  <a:gd name="T0" fmla="*/ 1 w 262"/>
                  <a:gd name="T1" fmla="*/ 0 h 25"/>
                  <a:gd name="T2" fmla="*/ 0 w 262"/>
                  <a:gd name="T3" fmla="*/ 0 h 25"/>
                  <a:gd name="T4" fmla="*/ 2 w 262"/>
                  <a:gd name="T5" fmla="*/ 0 h 25"/>
                  <a:gd name="T6" fmla="*/ 3 w 262"/>
                  <a:gd name="T7" fmla="*/ 0 h 25"/>
                  <a:gd name="T8" fmla="*/ 1 w 262"/>
                  <a:gd name="T9" fmla="*/ 0 h 25"/>
                  <a:gd name="T10" fmla="*/ 0 60000 65536"/>
                  <a:gd name="T11" fmla="*/ 0 60000 65536"/>
                  <a:gd name="T12" fmla="*/ 0 60000 65536"/>
                  <a:gd name="T13" fmla="*/ 0 60000 65536"/>
                  <a:gd name="T14" fmla="*/ 0 60000 65536"/>
                  <a:gd name="T15" fmla="*/ 0 w 262"/>
                  <a:gd name="T16" fmla="*/ 0 h 25"/>
                  <a:gd name="T17" fmla="*/ 262 w 262"/>
                  <a:gd name="T18" fmla="*/ 25 h 25"/>
                </a:gdLst>
                <a:ahLst/>
                <a:cxnLst>
                  <a:cxn ang="T10">
                    <a:pos x="T0" y="T1"/>
                  </a:cxn>
                  <a:cxn ang="T11">
                    <a:pos x="T2" y="T3"/>
                  </a:cxn>
                  <a:cxn ang="T12">
                    <a:pos x="T4" y="T5"/>
                  </a:cxn>
                  <a:cxn ang="T13">
                    <a:pos x="T6" y="T7"/>
                  </a:cxn>
                  <a:cxn ang="T14">
                    <a:pos x="T8" y="T9"/>
                  </a:cxn>
                </a:cxnLst>
                <a:rect l="T15" t="T16" r="T17" b="T18"/>
                <a:pathLst>
                  <a:path w="262" h="25">
                    <a:moveTo>
                      <a:pt x="2" y="25"/>
                    </a:moveTo>
                    <a:lnTo>
                      <a:pt x="0" y="0"/>
                    </a:lnTo>
                    <a:lnTo>
                      <a:pt x="249" y="0"/>
                    </a:lnTo>
                    <a:lnTo>
                      <a:pt x="262" y="19"/>
                    </a:lnTo>
                    <a:lnTo>
                      <a:pt x="2" y="2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43" name="Freeform 2108"/>
              <p:cNvSpPr>
                <a:spLocks/>
              </p:cNvSpPr>
              <p:nvPr/>
            </p:nvSpPr>
            <p:spPr bwMode="auto">
              <a:xfrm>
                <a:off x="927" y="3521"/>
                <a:ext cx="281" cy="279"/>
              </a:xfrm>
              <a:custGeom>
                <a:avLst/>
                <a:gdLst>
                  <a:gd name="T0" fmla="*/ 5 w 561"/>
                  <a:gd name="T1" fmla="*/ 0 h 836"/>
                  <a:gd name="T2" fmla="*/ 0 w 561"/>
                  <a:gd name="T3" fmla="*/ 0 h 836"/>
                  <a:gd name="T4" fmla="*/ 5 w 561"/>
                  <a:gd name="T5" fmla="*/ 0 h 836"/>
                  <a:gd name="T6" fmla="*/ 5 w 561"/>
                  <a:gd name="T7" fmla="*/ 0 h 836"/>
                  <a:gd name="T8" fmla="*/ 0 60000 65536"/>
                  <a:gd name="T9" fmla="*/ 0 60000 65536"/>
                  <a:gd name="T10" fmla="*/ 0 60000 65536"/>
                  <a:gd name="T11" fmla="*/ 0 60000 65536"/>
                  <a:gd name="T12" fmla="*/ 0 w 561"/>
                  <a:gd name="T13" fmla="*/ 0 h 836"/>
                  <a:gd name="T14" fmla="*/ 561 w 561"/>
                  <a:gd name="T15" fmla="*/ 836 h 836"/>
                </a:gdLst>
                <a:ahLst/>
                <a:cxnLst>
                  <a:cxn ang="T8">
                    <a:pos x="T0" y="T1"/>
                  </a:cxn>
                  <a:cxn ang="T9">
                    <a:pos x="T2" y="T3"/>
                  </a:cxn>
                  <a:cxn ang="T10">
                    <a:pos x="T4" y="T5"/>
                  </a:cxn>
                  <a:cxn ang="T11">
                    <a:pos x="T6" y="T7"/>
                  </a:cxn>
                </a:cxnLst>
                <a:rect l="T12" t="T13" r="T14" b="T15"/>
                <a:pathLst>
                  <a:path w="561" h="836">
                    <a:moveTo>
                      <a:pt x="557" y="801"/>
                    </a:moveTo>
                    <a:lnTo>
                      <a:pt x="0" y="0"/>
                    </a:lnTo>
                    <a:lnTo>
                      <a:pt x="561" y="836"/>
                    </a:lnTo>
                    <a:lnTo>
                      <a:pt x="557" y="801"/>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544" name="Group 2109"/>
              <p:cNvGrpSpPr>
                <a:grpSpLocks/>
              </p:cNvGrpSpPr>
              <p:nvPr/>
            </p:nvGrpSpPr>
            <p:grpSpPr bwMode="auto">
              <a:xfrm>
                <a:off x="700" y="3526"/>
                <a:ext cx="515" cy="270"/>
                <a:chOff x="700" y="3526"/>
                <a:chExt cx="515" cy="270"/>
              </a:xfrm>
            </p:grpSpPr>
            <p:grpSp>
              <p:nvGrpSpPr>
                <p:cNvPr id="570" name="Group 2110"/>
                <p:cNvGrpSpPr>
                  <a:grpSpLocks/>
                </p:cNvGrpSpPr>
                <p:nvPr/>
              </p:nvGrpSpPr>
              <p:grpSpPr bwMode="auto">
                <a:xfrm>
                  <a:off x="737" y="3534"/>
                  <a:ext cx="49" cy="23"/>
                  <a:chOff x="737" y="3534"/>
                  <a:chExt cx="49" cy="23"/>
                </a:xfrm>
              </p:grpSpPr>
              <p:sp>
                <p:nvSpPr>
                  <p:cNvPr id="981" name="Freeform 2111"/>
                  <p:cNvSpPr>
                    <a:spLocks/>
                  </p:cNvSpPr>
                  <p:nvPr/>
                </p:nvSpPr>
                <p:spPr bwMode="auto">
                  <a:xfrm>
                    <a:off x="737" y="3534"/>
                    <a:ext cx="11" cy="23"/>
                  </a:xfrm>
                  <a:custGeom>
                    <a:avLst/>
                    <a:gdLst>
                      <a:gd name="T0" fmla="*/ 1 w 22"/>
                      <a:gd name="T1" fmla="*/ 0 h 67"/>
                      <a:gd name="T2" fmla="*/ 0 w 22"/>
                      <a:gd name="T3" fmla="*/ 0 h 67"/>
                      <a:gd name="T4" fmla="*/ 1 w 22"/>
                      <a:gd name="T5" fmla="*/ 0 h 67"/>
                      <a:gd name="T6" fmla="*/ 1 w 22"/>
                      <a:gd name="T7" fmla="*/ 0 h 67"/>
                      <a:gd name="T8" fmla="*/ 1 w 22"/>
                      <a:gd name="T9" fmla="*/ 0 h 67"/>
                      <a:gd name="T10" fmla="*/ 0 60000 65536"/>
                      <a:gd name="T11" fmla="*/ 0 60000 65536"/>
                      <a:gd name="T12" fmla="*/ 0 60000 65536"/>
                      <a:gd name="T13" fmla="*/ 0 60000 65536"/>
                      <a:gd name="T14" fmla="*/ 0 60000 65536"/>
                      <a:gd name="T15" fmla="*/ 0 w 22"/>
                      <a:gd name="T16" fmla="*/ 0 h 67"/>
                      <a:gd name="T17" fmla="*/ 22 w 22"/>
                      <a:gd name="T18" fmla="*/ 67 h 67"/>
                    </a:gdLst>
                    <a:ahLst/>
                    <a:cxnLst>
                      <a:cxn ang="T10">
                        <a:pos x="T0" y="T1"/>
                      </a:cxn>
                      <a:cxn ang="T11">
                        <a:pos x="T2" y="T3"/>
                      </a:cxn>
                      <a:cxn ang="T12">
                        <a:pos x="T4" y="T5"/>
                      </a:cxn>
                      <a:cxn ang="T13">
                        <a:pos x="T6" y="T7"/>
                      </a:cxn>
                      <a:cxn ang="T14">
                        <a:pos x="T8" y="T9"/>
                      </a:cxn>
                    </a:cxnLst>
                    <a:rect l="T15" t="T16" r="T17" b="T18"/>
                    <a:pathLst>
                      <a:path w="22" h="67">
                        <a:moveTo>
                          <a:pt x="13" y="67"/>
                        </a:moveTo>
                        <a:lnTo>
                          <a:pt x="0" y="26"/>
                        </a:lnTo>
                        <a:lnTo>
                          <a:pt x="9" y="0"/>
                        </a:lnTo>
                        <a:lnTo>
                          <a:pt x="22" y="30"/>
                        </a:lnTo>
                        <a:lnTo>
                          <a:pt x="13"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82" name="Freeform 2112"/>
                  <p:cNvSpPr>
                    <a:spLocks/>
                  </p:cNvSpPr>
                  <p:nvPr/>
                </p:nvSpPr>
                <p:spPr bwMode="auto">
                  <a:xfrm>
                    <a:off x="742" y="3535"/>
                    <a:ext cx="36" cy="9"/>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2" y="2"/>
                        </a:lnTo>
                        <a:lnTo>
                          <a:pt x="55" y="11"/>
                        </a:lnTo>
                        <a:lnTo>
                          <a:pt x="73" y="29"/>
                        </a:lnTo>
                        <a:lnTo>
                          <a:pt x="17" y="29"/>
                        </a:lnTo>
                        <a:lnTo>
                          <a:pt x="8"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83" name="Freeform 2113"/>
                  <p:cNvSpPr>
                    <a:spLocks/>
                  </p:cNvSpPr>
                  <p:nvPr/>
                </p:nvSpPr>
                <p:spPr bwMode="auto">
                  <a:xfrm>
                    <a:off x="744" y="3545"/>
                    <a:ext cx="42"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7"/>
                        </a:lnTo>
                        <a:lnTo>
                          <a:pt x="10" y="0"/>
                        </a:lnTo>
                        <a:lnTo>
                          <a:pt x="67" y="0"/>
                        </a:lnTo>
                        <a:lnTo>
                          <a:pt x="82"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71" name="Group 2114"/>
                <p:cNvGrpSpPr>
                  <a:grpSpLocks/>
                </p:cNvGrpSpPr>
                <p:nvPr/>
              </p:nvGrpSpPr>
              <p:grpSpPr bwMode="auto">
                <a:xfrm>
                  <a:off x="748" y="3547"/>
                  <a:ext cx="50" cy="23"/>
                  <a:chOff x="748" y="3547"/>
                  <a:chExt cx="50" cy="23"/>
                </a:xfrm>
              </p:grpSpPr>
              <p:sp>
                <p:nvSpPr>
                  <p:cNvPr id="978" name="Freeform 2115"/>
                  <p:cNvSpPr>
                    <a:spLocks/>
                  </p:cNvSpPr>
                  <p:nvPr/>
                </p:nvSpPr>
                <p:spPr bwMode="auto">
                  <a:xfrm>
                    <a:off x="748"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79" name="Freeform 2116"/>
                  <p:cNvSpPr>
                    <a:spLocks/>
                  </p:cNvSpPr>
                  <p:nvPr/>
                </p:nvSpPr>
                <p:spPr bwMode="auto">
                  <a:xfrm>
                    <a:off x="753" y="3548"/>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80" name="Freeform 2117"/>
                  <p:cNvSpPr>
                    <a:spLocks/>
                  </p:cNvSpPr>
                  <p:nvPr/>
                </p:nvSpPr>
                <p:spPr bwMode="auto">
                  <a:xfrm>
                    <a:off x="757" y="3558"/>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572" name="Freeform 2118"/>
                <p:cNvSpPr>
                  <a:spLocks/>
                </p:cNvSpPr>
                <p:nvPr/>
              </p:nvSpPr>
              <p:spPr bwMode="auto">
                <a:xfrm>
                  <a:off x="952" y="3538"/>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73" name="Freeform 2119"/>
                <p:cNvSpPr>
                  <a:spLocks/>
                </p:cNvSpPr>
                <p:nvPr/>
              </p:nvSpPr>
              <p:spPr bwMode="auto">
                <a:xfrm>
                  <a:off x="861" y="3535"/>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74" name="Freeform 2120"/>
                <p:cNvSpPr>
                  <a:spLocks/>
                </p:cNvSpPr>
                <p:nvPr/>
              </p:nvSpPr>
              <p:spPr bwMode="auto">
                <a:xfrm>
                  <a:off x="867" y="3535"/>
                  <a:ext cx="34" cy="10"/>
                </a:xfrm>
                <a:custGeom>
                  <a:avLst/>
                  <a:gdLst>
                    <a:gd name="T0" fmla="*/ 0 w 70"/>
                    <a:gd name="T1" fmla="*/ 0 h 30"/>
                    <a:gd name="T2" fmla="*/ 0 w 70"/>
                    <a:gd name="T3" fmla="*/ 0 h 30"/>
                    <a:gd name="T4" fmla="*/ 0 w 70"/>
                    <a:gd name="T5" fmla="*/ 0 h 30"/>
                    <a:gd name="T6" fmla="*/ 0 w 70"/>
                    <a:gd name="T7" fmla="*/ 0 h 30"/>
                    <a:gd name="T8" fmla="*/ 0 w 70"/>
                    <a:gd name="T9" fmla="*/ 0 h 30"/>
                    <a:gd name="T10" fmla="*/ 0 w 70"/>
                    <a:gd name="T11" fmla="*/ 0 h 30"/>
                    <a:gd name="T12" fmla="*/ 0 w 70"/>
                    <a:gd name="T13" fmla="*/ 0 h 30"/>
                    <a:gd name="T14" fmla="*/ 0 w 70"/>
                    <a:gd name="T15" fmla="*/ 0 h 30"/>
                    <a:gd name="T16" fmla="*/ 0 w 70"/>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0"/>
                    <a:gd name="T28" fmla="*/ 0 h 30"/>
                    <a:gd name="T29" fmla="*/ 70 w 70"/>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0" h="30">
                      <a:moveTo>
                        <a:pt x="0" y="0"/>
                      </a:moveTo>
                      <a:lnTo>
                        <a:pt x="49" y="0"/>
                      </a:lnTo>
                      <a:lnTo>
                        <a:pt x="50" y="3"/>
                      </a:lnTo>
                      <a:lnTo>
                        <a:pt x="54" y="13"/>
                      </a:lnTo>
                      <a:lnTo>
                        <a:pt x="70" y="30"/>
                      </a:lnTo>
                      <a:lnTo>
                        <a:pt x="16" y="30"/>
                      </a:lnTo>
                      <a:lnTo>
                        <a:pt x="7" y="21"/>
                      </a:lnTo>
                      <a:lnTo>
                        <a:pt x="0" y="7"/>
                      </a:lnTo>
                      <a:lnTo>
                        <a:pt x="0"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75" name="Freeform 2121"/>
                <p:cNvSpPr>
                  <a:spLocks/>
                </p:cNvSpPr>
                <p:nvPr/>
              </p:nvSpPr>
              <p:spPr bwMode="auto">
                <a:xfrm>
                  <a:off x="868" y="354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576" name="Group 2122"/>
                <p:cNvGrpSpPr>
                  <a:grpSpLocks/>
                </p:cNvGrpSpPr>
                <p:nvPr/>
              </p:nvGrpSpPr>
              <p:grpSpPr bwMode="auto">
                <a:xfrm>
                  <a:off x="872" y="3547"/>
                  <a:ext cx="50" cy="23"/>
                  <a:chOff x="872" y="3547"/>
                  <a:chExt cx="50" cy="23"/>
                </a:xfrm>
              </p:grpSpPr>
              <p:sp>
                <p:nvSpPr>
                  <p:cNvPr id="975" name="Freeform 2123"/>
                  <p:cNvSpPr>
                    <a:spLocks/>
                  </p:cNvSpPr>
                  <p:nvPr/>
                </p:nvSpPr>
                <p:spPr bwMode="auto">
                  <a:xfrm>
                    <a:off x="872"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76" name="Freeform 2124"/>
                  <p:cNvSpPr>
                    <a:spLocks/>
                  </p:cNvSpPr>
                  <p:nvPr/>
                </p:nvSpPr>
                <p:spPr bwMode="auto">
                  <a:xfrm>
                    <a:off x="878" y="3547"/>
                    <a:ext cx="36" cy="10"/>
                  </a:xfrm>
                  <a:custGeom>
                    <a:avLst/>
                    <a:gdLst>
                      <a:gd name="T0" fmla="*/ 0 w 73"/>
                      <a:gd name="T1" fmla="*/ 0 h 30"/>
                      <a:gd name="T2" fmla="*/ 0 w 73"/>
                      <a:gd name="T3" fmla="*/ 0 h 30"/>
                      <a:gd name="T4" fmla="*/ 0 w 73"/>
                      <a:gd name="T5" fmla="*/ 0 h 30"/>
                      <a:gd name="T6" fmla="*/ 0 w 73"/>
                      <a:gd name="T7" fmla="*/ 0 h 30"/>
                      <a:gd name="T8" fmla="*/ 0 w 73"/>
                      <a:gd name="T9" fmla="*/ 0 h 30"/>
                      <a:gd name="T10" fmla="*/ 0 w 73"/>
                      <a:gd name="T11" fmla="*/ 0 h 30"/>
                      <a:gd name="T12" fmla="*/ 0 w 73"/>
                      <a:gd name="T13" fmla="*/ 0 h 30"/>
                      <a:gd name="T14" fmla="*/ 0 w 73"/>
                      <a:gd name="T15" fmla="*/ 0 h 30"/>
                      <a:gd name="T16" fmla="*/ 0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2" y="0"/>
                        </a:moveTo>
                        <a:lnTo>
                          <a:pt x="49" y="0"/>
                        </a:lnTo>
                        <a:lnTo>
                          <a:pt x="50" y="3"/>
                        </a:lnTo>
                        <a:lnTo>
                          <a:pt x="57" y="12"/>
                        </a:lnTo>
                        <a:lnTo>
                          <a:pt x="73"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77" name="Freeform 2125"/>
                  <p:cNvSpPr>
                    <a:spLocks/>
                  </p:cNvSpPr>
                  <p:nvPr/>
                </p:nvSpPr>
                <p:spPr bwMode="auto">
                  <a:xfrm>
                    <a:off x="880" y="3558"/>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77" name="Group 2126"/>
                <p:cNvGrpSpPr>
                  <a:grpSpLocks/>
                </p:cNvGrpSpPr>
                <p:nvPr/>
              </p:nvGrpSpPr>
              <p:grpSpPr bwMode="auto">
                <a:xfrm>
                  <a:off x="885" y="3559"/>
                  <a:ext cx="50" cy="23"/>
                  <a:chOff x="885" y="3559"/>
                  <a:chExt cx="50" cy="23"/>
                </a:xfrm>
              </p:grpSpPr>
              <p:sp>
                <p:nvSpPr>
                  <p:cNvPr id="972" name="Freeform 2127"/>
                  <p:cNvSpPr>
                    <a:spLocks/>
                  </p:cNvSpPr>
                  <p:nvPr/>
                </p:nvSpPr>
                <p:spPr bwMode="auto">
                  <a:xfrm>
                    <a:off x="885" y="3559"/>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73" name="Freeform 2128"/>
                  <p:cNvSpPr>
                    <a:spLocks/>
                  </p:cNvSpPr>
                  <p:nvPr/>
                </p:nvSpPr>
                <p:spPr bwMode="auto">
                  <a:xfrm>
                    <a:off x="890" y="3560"/>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3" y="0"/>
                        </a:moveTo>
                        <a:lnTo>
                          <a:pt x="49" y="0"/>
                        </a:lnTo>
                        <a:lnTo>
                          <a:pt x="52" y="3"/>
                        </a:lnTo>
                        <a:lnTo>
                          <a:pt x="57" y="12"/>
                        </a:lnTo>
                        <a:lnTo>
                          <a:pt x="74" y="30"/>
                        </a:lnTo>
                        <a:lnTo>
                          <a:pt x="19" y="30"/>
                        </a:lnTo>
                        <a:lnTo>
                          <a:pt x="10"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74" name="Freeform 2129"/>
                  <p:cNvSpPr>
                    <a:spLocks/>
                  </p:cNvSpPr>
                  <p:nvPr/>
                </p:nvSpPr>
                <p:spPr bwMode="auto">
                  <a:xfrm>
                    <a:off x="893" y="357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78" name="Group 2130"/>
                <p:cNvGrpSpPr>
                  <a:grpSpLocks/>
                </p:cNvGrpSpPr>
                <p:nvPr/>
              </p:nvGrpSpPr>
              <p:grpSpPr bwMode="auto">
                <a:xfrm>
                  <a:off x="898" y="3571"/>
                  <a:ext cx="49" cy="23"/>
                  <a:chOff x="898" y="3571"/>
                  <a:chExt cx="49" cy="23"/>
                </a:xfrm>
              </p:grpSpPr>
              <p:sp>
                <p:nvSpPr>
                  <p:cNvPr id="969" name="Freeform 2131"/>
                  <p:cNvSpPr>
                    <a:spLocks/>
                  </p:cNvSpPr>
                  <p:nvPr/>
                </p:nvSpPr>
                <p:spPr bwMode="auto">
                  <a:xfrm>
                    <a:off x="898" y="3571"/>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70" name="Freeform 2132"/>
                  <p:cNvSpPr>
                    <a:spLocks/>
                  </p:cNvSpPr>
                  <p:nvPr/>
                </p:nvSpPr>
                <p:spPr bwMode="auto">
                  <a:xfrm>
                    <a:off x="903" y="3572"/>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2"/>
                        </a:lnTo>
                        <a:lnTo>
                          <a:pt x="57" y="11"/>
                        </a:lnTo>
                        <a:lnTo>
                          <a:pt x="75" y="29"/>
                        </a:lnTo>
                        <a:lnTo>
                          <a:pt x="19" y="29"/>
                        </a:lnTo>
                        <a:lnTo>
                          <a:pt x="11"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71" name="Freeform 2133"/>
                  <p:cNvSpPr>
                    <a:spLocks/>
                  </p:cNvSpPr>
                  <p:nvPr/>
                </p:nvSpPr>
                <p:spPr bwMode="auto">
                  <a:xfrm>
                    <a:off x="907" y="3582"/>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79" name="Group 2134"/>
                <p:cNvGrpSpPr>
                  <a:grpSpLocks/>
                </p:cNvGrpSpPr>
                <p:nvPr/>
              </p:nvGrpSpPr>
              <p:grpSpPr bwMode="auto">
                <a:xfrm>
                  <a:off x="911" y="3585"/>
                  <a:ext cx="49" cy="23"/>
                  <a:chOff x="911" y="3585"/>
                  <a:chExt cx="49" cy="23"/>
                </a:xfrm>
              </p:grpSpPr>
              <p:sp>
                <p:nvSpPr>
                  <p:cNvPr id="966" name="Freeform 2135"/>
                  <p:cNvSpPr>
                    <a:spLocks/>
                  </p:cNvSpPr>
                  <p:nvPr/>
                </p:nvSpPr>
                <p:spPr bwMode="auto">
                  <a:xfrm>
                    <a:off x="911" y="3585"/>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0"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67" name="Freeform 2136"/>
                  <p:cNvSpPr>
                    <a:spLocks/>
                  </p:cNvSpPr>
                  <p:nvPr/>
                </p:nvSpPr>
                <p:spPr bwMode="auto">
                  <a:xfrm>
                    <a:off x="915" y="3585"/>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2" y="0"/>
                        </a:lnTo>
                        <a:lnTo>
                          <a:pt x="53" y="3"/>
                        </a:lnTo>
                        <a:lnTo>
                          <a:pt x="57" y="12"/>
                        </a:lnTo>
                        <a:lnTo>
                          <a:pt x="75" y="30"/>
                        </a:lnTo>
                        <a:lnTo>
                          <a:pt x="19" y="30"/>
                        </a:lnTo>
                        <a:lnTo>
                          <a:pt x="11"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68" name="Freeform 2137"/>
                  <p:cNvSpPr>
                    <a:spLocks/>
                  </p:cNvSpPr>
                  <p:nvPr/>
                </p:nvSpPr>
                <p:spPr bwMode="auto">
                  <a:xfrm>
                    <a:off x="919" y="359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80" name="Group 2138"/>
                <p:cNvGrpSpPr>
                  <a:grpSpLocks/>
                </p:cNvGrpSpPr>
                <p:nvPr/>
              </p:nvGrpSpPr>
              <p:grpSpPr bwMode="auto">
                <a:xfrm>
                  <a:off x="923" y="3600"/>
                  <a:ext cx="99" cy="73"/>
                  <a:chOff x="923" y="3600"/>
                  <a:chExt cx="99" cy="73"/>
                </a:xfrm>
              </p:grpSpPr>
              <p:grpSp>
                <p:nvGrpSpPr>
                  <p:cNvPr id="946" name="Group 2139"/>
                  <p:cNvGrpSpPr>
                    <a:grpSpLocks/>
                  </p:cNvGrpSpPr>
                  <p:nvPr/>
                </p:nvGrpSpPr>
                <p:grpSpPr bwMode="auto">
                  <a:xfrm>
                    <a:off x="923" y="3600"/>
                    <a:ext cx="49" cy="23"/>
                    <a:chOff x="923" y="3600"/>
                    <a:chExt cx="49" cy="23"/>
                  </a:xfrm>
                </p:grpSpPr>
                <p:sp>
                  <p:nvSpPr>
                    <p:cNvPr id="963" name="Freeform 2140"/>
                    <p:cNvSpPr>
                      <a:spLocks/>
                    </p:cNvSpPr>
                    <p:nvPr/>
                  </p:nvSpPr>
                  <p:spPr bwMode="auto">
                    <a:xfrm>
                      <a:off x="923" y="3600"/>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0"/>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64" name="Freeform 2141"/>
                    <p:cNvSpPr>
                      <a:spLocks/>
                    </p:cNvSpPr>
                    <p:nvPr/>
                  </p:nvSpPr>
                  <p:spPr bwMode="auto">
                    <a:xfrm>
                      <a:off x="928" y="3600"/>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3"/>
                          </a:lnTo>
                          <a:lnTo>
                            <a:pt x="57" y="12"/>
                          </a:lnTo>
                          <a:lnTo>
                            <a:pt x="75" y="29"/>
                          </a:lnTo>
                          <a:lnTo>
                            <a:pt x="19" y="29"/>
                          </a:lnTo>
                          <a:lnTo>
                            <a:pt x="9"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65" name="Freeform 2142"/>
                    <p:cNvSpPr>
                      <a:spLocks/>
                    </p:cNvSpPr>
                    <p:nvPr/>
                  </p:nvSpPr>
                  <p:spPr bwMode="auto">
                    <a:xfrm>
                      <a:off x="930" y="3610"/>
                      <a:ext cx="42" cy="13"/>
                    </a:xfrm>
                    <a:custGeom>
                      <a:avLst/>
                      <a:gdLst>
                        <a:gd name="T0" fmla="*/ 0 w 82"/>
                        <a:gd name="T1" fmla="*/ 0 h 37"/>
                        <a:gd name="T2" fmla="*/ 1 w 82"/>
                        <a:gd name="T3" fmla="*/ 0 h 37"/>
                        <a:gd name="T4" fmla="*/ 1 w 82"/>
                        <a:gd name="T5" fmla="*/ 0 h 37"/>
                        <a:gd name="T6" fmla="*/ 1 w 82"/>
                        <a:gd name="T7" fmla="*/ 0 h 37"/>
                        <a:gd name="T8" fmla="*/ 1 w 82"/>
                        <a:gd name="T9" fmla="*/ 0 h 37"/>
                        <a:gd name="T10" fmla="*/ 1 w 82"/>
                        <a:gd name="T11" fmla="*/ 0 h 37"/>
                        <a:gd name="T12" fmla="*/ 0 w 82"/>
                        <a:gd name="T13" fmla="*/ 0 h 37"/>
                        <a:gd name="T14" fmla="*/ 0 60000 65536"/>
                        <a:gd name="T15" fmla="*/ 0 60000 65536"/>
                        <a:gd name="T16" fmla="*/ 0 60000 65536"/>
                        <a:gd name="T17" fmla="*/ 0 60000 65536"/>
                        <a:gd name="T18" fmla="*/ 0 60000 65536"/>
                        <a:gd name="T19" fmla="*/ 0 60000 65536"/>
                        <a:gd name="T20" fmla="*/ 0 60000 65536"/>
                        <a:gd name="T21" fmla="*/ 0 w 82"/>
                        <a:gd name="T22" fmla="*/ 0 h 37"/>
                        <a:gd name="T23" fmla="*/ 82 w 82"/>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7">
                          <a:moveTo>
                            <a:pt x="0" y="37"/>
                          </a:moveTo>
                          <a:lnTo>
                            <a:pt x="2" y="22"/>
                          </a:lnTo>
                          <a:lnTo>
                            <a:pt x="7" y="7"/>
                          </a:lnTo>
                          <a:lnTo>
                            <a:pt x="13" y="0"/>
                          </a:lnTo>
                          <a:lnTo>
                            <a:pt x="69" y="0"/>
                          </a:lnTo>
                          <a:lnTo>
                            <a:pt x="82"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47" name="Group 2143"/>
                  <p:cNvGrpSpPr>
                    <a:grpSpLocks/>
                  </p:cNvGrpSpPr>
                  <p:nvPr/>
                </p:nvGrpSpPr>
                <p:grpSpPr bwMode="auto">
                  <a:xfrm>
                    <a:off x="935" y="3612"/>
                    <a:ext cx="48" cy="23"/>
                    <a:chOff x="935" y="3612"/>
                    <a:chExt cx="48" cy="23"/>
                  </a:xfrm>
                </p:grpSpPr>
                <p:sp>
                  <p:nvSpPr>
                    <p:cNvPr id="960" name="Freeform 2144"/>
                    <p:cNvSpPr>
                      <a:spLocks/>
                    </p:cNvSpPr>
                    <p:nvPr/>
                  </p:nvSpPr>
                  <p:spPr bwMode="auto">
                    <a:xfrm>
                      <a:off x="935"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61" name="Freeform 2145"/>
                    <p:cNvSpPr>
                      <a:spLocks/>
                    </p:cNvSpPr>
                    <p:nvPr/>
                  </p:nvSpPr>
                  <p:spPr bwMode="auto">
                    <a:xfrm>
                      <a:off x="939" y="3612"/>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3" y="3"/>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62" name="Freeform 2146"/>
                    <p:cNvSpPr>
                      <a:spLocks/>
                    </p:cNvSpPr>
                    <p:nvPr/>
                  </p:nvSpPr>
                  <p:spPr bwMode="auto">
                    <a:xfrm>
                      <a:off x="943"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48" name="Group 2147"/>
                  <p:cNvGrpSpPr>
                    <a:grpSpLocks/>
                  </p:cNvGrpSpPr>
                  <p:nvPr/>
                </p:nvGrpSpPr>
                <p:grpSpPr bwMode="auto">
                  <a:xfrm>
                    <a:off x="947" y="3625"/>
                    <a:ext cx="50" cy="22"/>
                    <a:chOff x="947" y="3625"/>
                    <a:chExt cx="50" cy="22"/>
                  </a:xfrm>
                </p:grpSpPr>
                <p:sp>
                  <p:nvSpPr>
                    <p:cNvPr id="957" name="Freeform 2148"/>
                    <p:cNvSpPr>
                      <a:spLocks/>
                    </p:cNvSpPr>
                    <p:nvPr/>
                  </p:nvSpPr>
                  <p:spPr bwMode="auto">
                    <a:xfrm>
                      <a:off x="947" y="3625"/>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58" name="Freeform 2149"/>
                    <p:cNvSpPr>
                      <a:spLocks/>
                    </p:cNvSpPr>
                    <p:nvPr/>
                  </p:nvSpPr>
                  <p:spPr bwMode="auto">
                    <a:xfrm>
                      <a:off x="953" y="3625"/>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1" y="2"/>
                          </a:lnTo>
                          <a:lnTo>
                            <a:pt x="57" y="11"/>
                          </a:lnTo>
                          <a:lnTo>
                            <a:pt x="73" y="29"/>
                          </a:lnTo>
                          <a:lnTo>
                            <a:pt x="19"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59" name="Freeform 2150"/>
                    <p:cNvSpPr>
                      <a:spLocks/>
                    </p:cNvSpPr>
                    <p:nvPr/>
                  </p:nvSpPr>
                  <p:spPr bwMode="auto">
                    <a:xfrm>
                      <a:off x="955" y="363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0"/>
                          </a:lnTo>
                          <a:lnTo>
                            <a:pt x="7" y="8"/>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49" name="Group 2151"/>
                  <p:cNvGrpSpPr>
                    <a:grpSpLocks/>
                  </p:cNvGrpSpPr>
                  <p:nvPr/>
                </p:nvGrpSpPr>
                <p:grpSpPr bwMode="auto">
                  <a:xfrm>
                    <a:off x="960" y="3637"/>
                    <a:ext cx="50" cy="23"/>
                    <a:chOff x="960" y="3637"/>
                    <a:chExt cx="50" cy="23"/>
                  </a:xfrm>
                </p:grpSpPr>
                <p:sp>
                  <p:nvSpPr>
                    <p:cNvPr id="954" name="Freeform 2152"/>
                    <p:cNvSpPr>
                      <a:spLocks/>
                    </p:cNvSpPr>
                    <p:nvPr/>
                  </p:nvSpPr>
                  <p:spPr bwMode="auto">
                    <a:xfrm>
                      <a:off x="960" y="363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7"/>
                          </a:lnTo>
                          <a:lnTo>
                            <a:pt x="12"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55" name="Freeform 2153"/>
                    <p:cNvSpPr>
                      <a:spLocks/>
                    </p:cNvSpPr>
                    <p:nvPr/>
                  </p:nvSpPr>
                  <p:spPr bwMode="auto">
                    <a:xfrm>
                      <a:off x="965" y="3638"/>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3" y="0"/>
                          </a:moveTo>
                          <a:lnTo>
                            <a:pt x="49" y="0"/>
                          </a:lnTo>
                          <a:lnTo>
                            <a:pt x="53" y="2"/>
                          </a:lnTo>
                          <a:lnTo>
                            <a:pt x="57" y="11"/>
                          </a:lnTo>
                          <a:lnTo>
                            <a:pt x="74" y="29"/>
                          </a:lnTo>
                          <a:lnTo>
                            <a:pt x="19"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56" name="Freeform 2154"/>
                    <p:cNvSpPr>
                      <a:spLocks/>
                    </p:cNvSpPr>
                    <p:nvPr/>
                  </p:nvSpPr>
                  <p:spPr bwMode="auto">
                    <a:xfrm>
                      <a:off x="968" y="3648"/>
                      <a:ext cx="42" cy="12"/>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1" y="19"/>
                          </a:lnTo>
                          <a:lnTo>
                            <a:pt x="6" y="7"/>
                          </a:lnTo>
                          <a:lnTo>
                            <a:pt x="10"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50" name="Group 2155"/>
                  <p:cNvGrpSpPr>
                    <a:grpSpLocks/>
                  </p:cNvGrpSpPr>
                  <p:nvPr/>
                </p:nvGrpSpPr>
                <p:grpSpPr bwMode="auto">
                  <a:xfrm>
                    <a:off x="973" y="3650"/>
                    <a:ext cx="49" cy="23"/>
                    <a:chOff x="973" y="3650"/>
                    <a:chExt cx="49" cy="23"/>
                  </a:xfrm>
                </p:grpSpPr>
                <p:sp>
                  <p:nvSpPr>
                    <p:cNvPr id="951" name="Freeform 2156"/>
                    <p:cNvSpPr>
                      <a:spLocks/>
                    </p:cNvSpPr>
                    <p:nvPr/>
                  </p:nvSpPr>
                  <p:spPr bwMode="auto">
                    <a:xfrm>
                      <a:off x="973" y="3650"/>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52" name="Freeform 2157"/>
                    <p:cNvSpPr>
                      <a:spLocks/>
                    </p:cNvSpPr>
                    <p:nvPr/>
                  </p:nvSpPr>
                  <p:spPr bwMode="auto">
                    <a:xfrm>
                      <a:off x="978"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49" y="0"/>
                          </a:lnTo>
                          <a:lnTo>
                            <a:pt x="50" y="2"/>
                          </a:lnTo>
                          <a:lnTo>
                            <a:pt x="57" y="11"/>
                          </a:lnTo>
                          <a:lnTo>
                            <a:pt x="74" y="29"/>
                          </a:lnTo>
                          <a:lnTo>
                            <a:pt x="19" y="29"/>
                          </a:lnTo>
                          <a:lnTo>
                            <a:pt x="10"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53" name="Freeform 2158"/>
                    <p:cNvSpPr>
                      <a:spLocks/>
                    </p:cNvSpPr>
                    <p:nvPr/>
                  </p:nvSpPr>
                  <p:spPr bwMode="auto">
                    <a:xfrm>
                      <a:off x="982" y="3661"/>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5"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581" name="Group 2159"/>
                <p:cNvGrpSpPr>
                  <a:grpSpLocks/>
                </p:cNvGrpSpPr>
                <p:nvPr/>
              </p:nvGrpSpPr>
              <p:grpSpPr bwMode="auto">
                <a:xfrm>
                  <a:off x="985" y="3665"/>
                  <a:ext cx="100" cy="73"/>
                  <a:chOff x="985" y="3665"/>
                  <a:chExt cx="100" cy="73"/>
                </a:xfrm>
              </p:grpSpPr>
              <p:grpSp>
                <p:nvGrpSpPr>
                  <p:cNvPr id="926" name="Group 2160"/>
                  <p:cNvGrpSpPr>
                    <a:grpSpLocks/>
                  </p:cNvGrpSpPr>
                  <p:nvPr/>
                </p:nvGrpSpPr>
                <p:grpSpPr bwMode="auto">
                  <a:xfrm>
                    <a:off x="985" y="3665"/>
                    <a:ext cx="50" cy="23"/>
                    <a:chOff x="985" y="3665"/>
                    <a:chExt cx="50" cy="23"/>
                  </a:xfrm>
                </p:grpSpPr>
                <p:sp>
                  <p:nvSpPr>
                    <p:cNvPr id="943" name="Freeform 2161"/>
                    <p:cNvSpPr>
                      <a:spLocks/>
                    </p:cNvSpPr>
                    <p:nvPr/>
                  </p:nvSpPr>
                  <p:spPr bwMode="auto">
                    <a:xfrm>
                      <a:off x="985" y="366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44" name="Freeform 2162"/>
                    <p:cNvSpPr>
                      <a:spLocks/>
                    </p:cNvSpPr>
                    <p:nvPr/>
                  </p:nvSpPr>
                  <p:spPr bwMode="auto">
                    <a:xfrm>
                      <a:off x="989" y="3665"/>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45" name="Freeform 2163"/>
                    <p:cNvSpPr>
                      <a:spLocks/>
                    </p:cNvSpPr>
                    <p:nvPr/>
                  </p:nvSpPr>
                  <p:spPr bwMode="auto">
                    <a:xfrm>
                      <a:off x="993"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27" name="Group 2164"/>
                  <p:cNvGrpSpPr>
                    <a:grpSpLocks/>
                  </p:cNvGrpSpPr>
                  <p:nvPr/>
                </p:nvGrpSpPr>
                <p:grpSpPr bwMode="auto">
                  <a:xfrm>
                    <a:off x="997" y="3677"/>
                    <a:ext cx="49" cy="23"/>
                    <a:chOff x="997" y="3677"/>
                    <a:chExt cx="49" cy="23"/>
                  </a:xfrm>
                </p:grpSpPr>
                <p:sp>
                  <p:nvSpPr>
                    <p:cNvPr id="940" name="Freeform 2165"/>
                    <p:cNvSpPr>
                      <a:spLocks/>
                    </p:cNvSpPr>
                    <p:nvPr/>
                  </p:nvSpPr>
                  <p:spPr bwMode="auto">
                    <a:xfrm>
                      <a:off x="997" y="367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1"/>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41" name="Freeform 2166"/>
                    <p:cNvSpPr>
                      <a:spLocks/>
                    </p:cNvSpPr>
                    <p:nvPr/>
                  </p:nvSpPr>
                  <p:spPr bwMode="auto">
                    <a:xfrm>
                      <a:off x="1002" y="367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10"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42" name="Freeform 2167"/>
                    <p:cNvSpPr>
                      <a:spLocks/>
                    </p:cNvSpPr>
                    <p:nvPr/>
                  </p:nvSpPr>
                  <p:spPr bwMode="auto">
                    <a:xfrm>
                      <a:off x="1005" y="3688"/>
                      <a:ext cx="41" cy="12"/>
                    </a:xfrm>
                    <a:custGeom>
                      <a:avLst/>
                      <a:gdLst>
                        <a:gd name="T0" fmla="*/ 0 w 83"/>
                        <a:gd name="T1" fmla="*/ 0 h 37"/>
                        <a:gd name="T2" fmla="*/ 0 w 83"/>
                        <a:gd name="T3" fmla="*/ 0 h 37"/>
                        <a:gd name="T4" fmla="*/ 0 w 83"/>
                        <a:gd name="T5" fmla="*/ 0 h 37"/>
                        <a:gd name="T6" fmla="*/ 0 w 83"/>
                        <a:gd name="T7" fmla="*/ 0 h 37"/>
                        <a:gd name="T8" fmla="*/ 0 w 83"/>
                        <a:gd name="T9" fmla="*/ 0 h 37"/>
                        <a:gd name="T10" fmla="*/ 0 w 83"/>
                        <a:gd name="T11" fmla="*/ 0 h 37"/>
                        <a:gd name="T12" fmla="*/ 0 w 83"/>
                        <a:gd name="T13" fmla="*/ 0 h 37"/>
                        <a:gd name="T14" fmla="*/ 0 60000 65536"/>
                        <a:gd name="T15" fmla="*/ 0 60000 65536"/>
                        <a:gd name="T16" fmla="*/ 0 60000 65536"/>
                        <a:gd name="T17" fmla="*/ 0 60000 65536"/>
                        <a:gd name="T18" fmla="*/ 0 60000 65536"/>
                        <a:gd name="T19" fmla="*/ 0 60000 65536"/>
                        <a:gd name="T20" fmla="*/ 0 60000 65536"/>
                        <a:gd name="T21" fmla="*/ 0 w 83"/>
                        <a:gd name="T22" fmla="*/ 0 h 37"/>
                        <a:gd name="T23" fmla="*/ 83 w 83"/>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7">
                          <a:moveTo>
                            <a:pt x="0" y="37"/>
                          </a:moveTo>
                          <a:lnTo>
                            <a:pt x="4" y="19"/>
                          </a:lnTo>
                          <a:lnTo>
                            <a:pt x="8" y="8"/>
                          </a:lnTo>
                          <a:lnTo>
                            <a:pt x="13" y="0"/>
                          </a:lnTo>
                          <a:lnTo>
                            <a:pt x="68" y="0"/>
                          </a:lnTo>
                          <a:lnTo>
                            <a:pt x="83"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28" name="Group 2168"/>
                  <p:cNvGrpSpPr>
                    <a:grpSpLocks/>
                  </p:cNvGrpSpPr>
                  <p:nvPr/>
                </p:nvGrpSpPr>
                <p:grpSpPr bwMode="auto">
                  <a:xfrm>
                    <a:off x="1010" y="3690"/>
                    <a:ext cx="48" cy="23"/>
                    <a:chOff x="1010" y="3690"/>
                    <a:chExt cx="48" cy="23"/>
                  </a:xfrm>
                </p:grpSpPr>
                <p:sp>
                  <p:nvSpPr>
                    <p:cNvPr id="937" name="Freeform 2169"/>
                    <p:cNvSpPr>
                      <a:spLocks/>
                    </p:cNvSpPr>
                    <p:nvPr/>
                  </p:nvSpPr>
                  <p:spPr bwMode="auto">
                    <a:xfrm>
                      <a:off x="1010" y="3690"/>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38" name="Freeform 2170"/>
                    <p:cNvSpPr>
                      <a:spLocks/>
                    </p:cNvSpPr>
                    <p:nvPr/>
                  </p:nvSpPr>
                  <p:spPr bwMode="auto">
                    <a:xfrm>
                      <a:off x="1014" y="369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3"/>
                          </a:lnTo>
                          <a:lnTo>
                            <a:pt x="56" y="12"/>
                          </a:lnTo>
                          <a:lnTo>
                            <a:pt x="75" y="31"/>
                          </a:lnTo>
                          <a:lnTo>
                            <a:pt x="18" y="31"/>
                          </a:lnTo>
                          <a:lnTo>
                            <a:pt x="9" y="22"/>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39" name="Freeform 2171"/>
                    <p:cNvSpPr>
                      <a:spLocks/>
                    </p:cNvSpPr>
                    <p:nvPr/>
                  </p:nvSpPr>
                  <p:spPr bwMode="auto">
                    <a:xfrm>
                      <a:off x="1018" y="3701"/>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8" y="7"/>
                          </a:lnTo>
                          <a:lnTo>
                            <a:pt x="12" y="0"/>
                          </a:lnTo>
                          <a:lnTo>
                            <a:pt x="69"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29" name="Group 2172"/>
                  <p:cNvGrpSpPr>
                    <a:grpSpLocks/>
                  </p:cNvGrpSpPr>
                  <p:nvPr/>
                </p:nvGrpSpPr>
                <p:grpSpPr bwMode="auto">
                  <a:xfrm>
                    <a:off x="1023" y="3703"/>
                    <a:ext cx="49" cy="22"/>
                    <a:chOff x="1023" y="3703"/>
                    <a:chExt cx="49" cy="22"/>
                  </a:xfrm>
                </p:grpSpPr>
                <p:sp>
                  <p:nvSpPr>
                    <p:cNvPr id="934" name="Freeform 2173"/>
                    <p:cNvSpPr>
                      <a:spLocks/>
                    </p:cNvSpPr>
                    <p:nvPr/>
                  </p:nvSpPr>
                  <p:spPr bwMode="auto">
                    <a:xfrm>
                      <a:off x="1023" y="3703"/>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3" y="68"/>
                          </a:moveTo>
                          <a:lnTo>
                            <a:pt x="0" y="27"/>
                          </a:lnTo>
                          <a:lnTo>
                            <a:pt x="9" y="0"/>
                          </a:lnTo>
                          <a:lnTo>
                            <a:pt x="25"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35" name="Freeform 2174"/>
                    <p:cNvSpPr>
                      <a:spLocks/>
                    </p:cNvSpPr>
                    <p:nvPr/>
                  </p:nvSpPr>
                  <p:spPr bwMode="auto">
                    <a:xfrm>
                      <a:off x="1028" y="3703"/>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36" name="Freeform 2175"/>
                    <p:cNvSpPr>
                      <a:spLocks/>
                    </p:cNvSpPr>
                    <p:nvPr/>
                  </p:nvSpPr>
                  <p:spPr bwMode="auto">
                    <a:xfrm>
                      <a:off x="1030" y="371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3" y="0"/>
                          </a:lnTo>
                          <a:lnTo>
                            <a:pt x="70"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30" name="Group 2176"/>
                  <p:cNvGrpSpPr>
                    <a:grpSpLocks/>
                  </p:cNvGrpSpPr>
                  <p:nvPr/>
                </p:nvGrpSpPr>
                <p:grpSpPr bwMode="auto">
                  <a:xfrm>
                    <a:off x="1036" y="3716"/>
                    <a:ext cx="49" cy="22"/>
                    <a:chOff x="1036" y="3716"/>
                    <a:chExt cx="49" cy="22"/>
                  </a:xfrm>
                </p:grpSpPr>
                <p:sp>
                  <p:nvSpPr>
                    <p:cNvPr id="931" name="Freeform 2177"/>
                    <p:cNvSpPr>
                      <a:spLocks/>
                    </p:cNvSpPr>
                    <p:nvPr/>
                  </p:nvSpPr>
                  <p:spPr bwMode="auto">
                    <a:xfrm>
                      <a:off x="1036" y="3716"/>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32" name="Freeform 2178"/>
                    <p:cNvSpPr>
                      <a:spLocks/>
                    </p:cNvSpPr>
                    <p:nvPr/>
                  </p:nvSpPr>
                  <p:spPr bwMode="auto">
                    <a:xfrm>
                      <a:off x="1040" y="371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3" y="0"/>
                          </a:moveTo>
                          <a:lnTo>
                            <a:pt x="51" y="0"/>
                          </a:lnTo>
                          <a:lnTo>
                            <a:pt x="53" y="2"/>
                          </a:lnTo>
                          <a:lnTo>
                            <a:pt x="57" y="11"/>
                          </a:lnTo>
                          <a:lnTo>
                            <a:pt x="75" y="29"/>
                          </a:lnTo>
                          <a:lnTo>
                            <a:pt x="18"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33" name="Freeform 2179"/>
                    <p:cNvSpPr>
                      <a:spLocks/>
                    </p:cNvSpPr>
                    <p:nvPr/>
                  </p:nvSpPr>
                  <p:spPr bwMode="auto">
                    <a:xfrm>
                      <a:off x="1043" y="3726"/>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6" y="8"/>
                          </a:lnTo>
                          <a:lnTo>
                            <a:pt x="10"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582" name="Group 2180"/>
                <p:cNvGrpSpPr>
                  <a:grpSpLocks/>
                </p:cNvGrpSpPr>
                <p:nvPr/>
              </p:nvGrpSpPr>
              <p:grpSpPr bwMode="auto">
                <a:xfrm>
                  <a:off x="1046" y="3727"/>
                  <a:ext cx="49" cy="23"/>
                  <a:chOff x="1046" y="3727"/>
                  <a:chExt cx="49" cy="23"/>
                </a:xfrm>
              </p:grpSpPr>
              <p:sp>
                <p:nvSpPr>
                  <p:cNvPr id="923" name="Freeform 2181"/>
                  <p:cNvSpPr>
                    <a:spLocks/>
                  </p:cNvSpPr>
                  <p:nvPr/>
                </p:nvSpPr>
                <p:spPr bwMode="auto">
                  <a:xfrm>
                    <a:off x="1046" y="372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2"/>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24" name="Freeform 2182"/>
                  <p:cNvSpPr>
                    <a:spLocks/>
                  </p:cNvSpPr>
                  <p:nvPr/>
                </p:nvSpPr>
                <p:spPr bwMode="auto">
                  <a:xfrm>
                    <a:off x="1051" y="3727"/>
                    <a:ext cx="36" cy="11"/>
                  </a:xfrm>
                  <a:custGeom>
                    <a:avLst/>
                    <a:gdLst>
                      <a:gd name="T0" fmla="*/ 0 w 73"/>
                      <a:gd name="T1" fmla="*/ 0 h 31"/>
                      <a:gd name="T2" fmla="*/ 0 w 73"/>
                      <a:gd name="T3" fmla="*/ 0 h 31"/>
                      <a:gd name="T4" fmla="*/ 0 w 73"/>
                      <a:gd name="T5" fmla="*/ 0 h 31"/>
                      <a:gd name="T6" fmla="*/ 0 w 73"/>
                      <a:gd name="T7" fmla="*/ 0 h 31"/>
                      <a:gd name="T8" fmla="*/ 0 w 73"/>
                      <a:gd name="T9" fmla="*/ 0 h 31"/>
                      <a:gd name="T10" fmla="*/ 0 w 73"/>
                      <a:gd name="T11" fmla="*/ 0 h 31"/>
                      <a:gd name="T12" fmla="*/ 0 w 73"/>
                      <a:gd name="T13" fmla="*/ 0 h 31"/>
                      <a:gd name="T14" fmla="*/ 0 w 73"/>
                      <a:gd name="T15" fmla="*/ 0 h 31"/>
                      <a:gd name="T16" fmla="*/ 0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9" y="0"/>
                        </a:lnTo>
                        <a:lnTo>
                          <a:pt x="50" y="4"/>
                        </a:lnTo>
                        <a:lnTo>
                          <a:pt x="57" y="13"/>
                        </a:lnTo>
                        <a:lnTo>
                          <a:pt x="73" y="31"/>
                        </a:lnTo>
                        <a:lnTo>
                          <a:pt x="17"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25" name="Freeform 2183"/>
                  <p:cNvSpPr>
                    <a:spLocks/>
                  </p:cNvSpPr>
                  <p:nvPr/>
                </p:nvSpPr>
                <p:spPr bwMode="auto">
                  <a:xfrm>
                    <a:off x="1054" y="3738"/>
                    <a:ext cx="41"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6"/>
                        </a:lnTo>
                        <a:lnTo>
                          <a:pt x="10"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83" name="Group 2184"/>
                <p:cNvGrpSpPr>
                  <a:grpSpLocks/>
                </p:cNvGrpSpPr>
                <p:nvPr/>
              </p:nvGrpSpPr>
              <p:grpSpPr bwMode="auto">
                <a:xfrm>
                  <a:off x="1058" y="3739"/>
                  <a:ext cx="50" cy="23"/>
                  <a:chOff x="1058" y="3739"/>
                  <a:chExt cx="50" cy="23"/>
                </a:xfrm>
              </p:grpSpPr>
              <p:sp>
                <p:nvSpPr>
                  <p:cNvPr id="920" name="Freeform 2185"/>
                  <p:cNvSpPr>
                    <a:spLocks/>
                  </p:cNvSpPr>
                  <p:nvPr/>
                </p:nvSpPr>
                <p:spPr bwMode="auto">
                  <a:xfrm>
                    <a:off x="1058" y="3739"/>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21" name="Freeform 2186"/>
                  <p:cNvSpPr>
                    <a:spLocks/>
                  </p:cNvSpPr>
                  <p:nvPr/>
                </p:nvSpPr>
                <p:spPr bwMode="auto">
                  <a:xfrm>
                    <a:off x="1063" y="3740"/>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0" y="0"/>
                        </a:lnTo>
                        <a:lnTo>
                          <a:pt x="51" y="3"/>
                        </a:lnTo>
                        <a:lnTo>
                          <a:pt x="58" y="12"/>
                        </a:lnTo>
                        <a:lnTo>
                          <a:pt x="75" y="30"/>
                        </a:lnTo>
                        <a:lnTo>
                          <a:pt x="18" y="30"/>
                        </a:lnTo>
                        <a:lnTo>
                          <a:pt x="11" y="21"/>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22" name="Freeform 2187"/>
                  <p:cNvSpPr>
                    <a:spLocks/>
                  </p:cNvSpPr>
                  <p:nvPr/>
                </p:nvSpPr>
                <p:spPr bwMode="auto">
                  <a:xfrm>
                    <a:off x="1067" y="3750"/>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84" name="Group 2188"/>
                <p:cNvGrpSpPr>
                  <a:grpSpLocks/>
                </p:cNvGrpSpPr>
                <p:nvPr/>
              </p:nvGrpSpPr>
              <p:grpSpPr bwMode="auto">
                <a:xfrm>
                  <a:off x="1072" y="3753"/>
                  <a:ext cx="48" cy="22"/>
                  <a:chOff x="1072" y="3753"/>
                  <a:chExt cx="48" cy="22"/>
                </a:xfrm>
              </p:grpSpPr>
              <p:sp>
                <p:nvSpPr>
                  <p:cNvPr id="917" name="Freeform 2189"/>
                  <p:cNvSpPr>
                    <a:spLocks/>
                  </p:cNvSpPr>
                  <p:nvPr/>
                </p:nvSpPr>
                <p:spPr bwMode="auto">
                  <a:xfrm>
                    <a:off x="1072" y="3753"/>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9"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18" name="Freeform 2190"/>
                  <p:cNvSpPr>
                    <a:spLocks/>
                  </p:cNvSpPr>
                  <p:nvPr/>
                </p:nvSpPr>
                <p:spPr bwMode="auto">
                  <a:xfrm>
                    <a:off x="1076" y="3753"/>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0" y="0"/>
                        </a:lnTo>
                        <a:lnTo>
                          <a:pt x="52" y="4"/>
                        </a:lnTo>
                        <a:lnTo>
                          <a:pt x="57" y="13"/>
                        </a:lnTo>
                        <a:lnTo>
                          <a:pt x="74" y="31"/>
                        </a:lnTo>
                        <a:lnTo>
                          <a:pt x="19" y="31"/>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19" name="Freeform 2191"/>
                  <p:cNvSpPr>
                    <a:spLocks/>
                  </p:cNvSpPr>
                  <p:nvPr/>
                </p:nvSpPr>
                <p:spPr bwMode="auto">
                  <a:xfrm>
                    <a:off x="1079" y="376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3" y="20"/>
                        </a:lnTo>
                        <a:lnTo>
                          <a:pt x="6"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585" name="Freeform 2192"/>
                <p:cNvSpPr>
                  <a:spLocks/>
                </p:cNvSpPr>
                <p:nvPr/>
              </p:nvSpPr>
              <p:spPr bwMode="auto">
                <a:xfrm>
                  <a:off x="820" y="3535"/>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1"/>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86" name="Freeform 2193"/>
                <p:cNvSpPr>
                  <a:spLocks/>
                </p:cNvSpPr>
                <p:nvPr/>
              </p:nvSpPr>
              <p:spPr bwMode="auto">
                <a:xfrm>
                  <a:off x="825" y="3535"/>
                  <a:ext cx="36" cy="9"/>
                </a:xfrm>
                <a:custGeom>
                  <a:avLst/>
                  <a:gdLst>
                    <a:gd name="T0" fmla="*/ 0 w 71"/>
                    <a:gd name="T1" fmla="*/ 0 h 27"/>
                    <a:gd name="T2" fmla="*/ 1 w 71"/>
                    <a:gd name="T3" fmla="*/ 0 h 27"/>
                    <a:gd name="T4" fmla="*/ 1 w 71"/>
                    <a:gd name="T5" fmla="*/ 0 h 27"/>
                    <a:gd name="T6" fmla="*/ 1 w 71"/>
                    <a:gd name="T7" fmla="*/ 0 h 27"/>
                    <a:gd name="T8" fmla="*/ 1 w 71"/>
                    <a:gd name="T9" fmla="*/ 0 h 27"/>
                    <a:gd name="T10" fmla="*/ 1 w 71"/>
                    <a:gd name="T11" fmla="*/ 0 h 27"/>
                    <a:gd name="T12" fmla="*/ 1 w 71"/>
                    <a:gd name="T13" fmla="*/ 0 h 27"/>
                    <a:gd name="T14" fmla="*/ 0 w 71"/>
                    <a:gd name="T15" fmla="*/ 0 h 27"/>
                    <a:gd name="T16" fmla="*/ 0 w 71"/>
                    <a:gd name="T17" fmla="*/ 0 h 2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1"/>
                    <a:gd name="T28" fmla="*/ 0 h 27"/>
                    <a:gd name="T29" fmla="*/ 71 w 71"/>
                    <a:gd name="T30" fmla="*/ 27 h 2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1" h="27">
                      <a:moveTo>
                        <a:pt x="0" y="0"/>
                      </a:moveTo>
                      <a:lnTo>
                        <a:pt x="49" y="0"/>
                      </a:lnTo>
                      <a:lnTo>
                        <a:pt x="51" y="2"/>
                      </a:lnTo>
                      <a:lnTo>
                        <a:pt x="55" y="12"/>
                      </a:lnTo>
                      <a:lnTo>
                        <a:pt x="71" y="27"/>
                      </a:lnTo>
                      <a:lnTo>
                        <a:pt x="17" y="27"/>
                      </a:lnTo>
                      <a:lnTo>
                        <a:pt x="8" y="20"/>
                      </a:lnTo>
                      <a:lnTo>
                        <a:pt x="0" y="6"/>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87" name="Freeform 2194"/>
                <p:cNvSpPr>
                  <a:spLocks/>
                </p:cNvSpPr>
                <p:nvPr/>
              </p:nvSpPr>
              <p:spPr bwMode="auto">
                <a:xfrm>
                  <a:off x="828" y="354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8"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588" name="Group 2195"/>
                <p:cNvGrpSpPr>
                  <a:grpSpLocks/>
                </p:cNvGrpSpPr>
                <p:nvPr/>
              </p:nvGrpSpPr>
              <p:grpSpPr bwMode="auto">
                <a:xfrm>
                  <a:off x="832" y="3547"/>
                  <a:ext cx="49" cy="23"/>
                  <a:chOff x="832" y="3547"/>
                  <a:chExt cx="49" cy="23"/>
                </a:xfrm>
              </p:grpSpPr>
              <p:sp>
                <p:nvSpPr>
                  <p:cNvPr id="914" name="Freeform 2196"/>
                  <p:cNvSpPr>
                    <a:spLocks/>
                  </p:cNvSpPr>
                  <p:nvPr/>
                </p:nvSpPr>
                <p:spPr bwMode="auto">
                  <a:xfrm>
                    <a:off x="832" y="354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15" name="Freeform 2197"/>
                  <p:cNvSpPr>
                    <a:spLocks/>
                  </p:cNvSpPr>
                  <p:nvPr/>
                </p:nvSpPr>
                <p:spPr bwMode="auto">
                  <a:xfrm>
                    <a:off x="837" y="3548"/>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16" name="Freeform 2198"/>
                  <p:cNvSpPr>
                    <a:spLocks/>
                  </p:cNvSpPr>
                  <p:nvPr/>
                </p:nvSpPr>
                <p:spPr bwMode="auto">
                  <a:xfrm>
                    <a:off x="840" y="355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89" name="Group 2199"/>
                <p:cNvGrpSpPr>
                  <a:grpSpLocks/>
                </p:cNvGrpSpPr>
                <p:nvPr/>
              </p:nvGrpSpPr>
              <p:grpSpPr bwMode="auto">
                <a:xfrm>
                  <a:off x="844" y="3560"/>
                  <a:ext cx="49" cy="22"/>
                  <a:chOff x="844" y="3560"/>
                  <a:chExt cx="49" cy="22"/>
                </a:xfrm>
              </p:grpSpPr>
              <p:sp>
                <p:nvSpPr>
                  <p:cNvPr id="911" name="Freeform 2200"/>
                  <p:cNvSpPr>
                    <a:spLocks/>
                  </p:cNvSpPr>
                  <p:nvPr/>
                </p:nvSpPr>
                <p:spPr bwMode="auto">
                  <a:xfrm>
                    <a:off x="844" y="3560"/>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12" name="Freeform 2201"/>
                  <p:cNvSpPr>
                    <a:spLocks/>
                  </p:cNvSpPr>
                  <p:nvPr/>
                </p:nvSpPr>
                <p:spPr bwMode="auto">
                  <a:xfrm>
                    <a:off x="849" y="3560"/>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13" name="Freeform 2202"/>
                  <p:cNvSpPr>
                    <a:spLocks/>
                  </p:cNvSpPr>
                  <p:nvPr/>
                </p:nvSpPr>
                <p:spPr bwMode="auto">
                  <a:xfrm>
                    <a:off x="853" y="3571"/>
                    <a:ext cx="40" cy="11"/>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6"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90" name="Group 2203"/>
                <p:cNvGrpSpPr>
                  <a:grpSpLocks/>
                </p:cNvGrpSpPr>
                <p:nvPr/>
              </p:nvGrpSpPr>
              <p:grpSpPr bwMode="auto">
                <a:xfrm>
                  <a:off x="857" y="3572"/>
                  <a:ext cx="50" cy="23"/>
                  <a:chOff x="857" y="3572"/>
                  <a:chExt cx="50" cy="23"/>
                </a:xfrm>
              </p:grpSpPr>
              <p:sp>
                <p:nvSpPr>
                  <p:cNvPr id="908" name="Freeform 2204"/>
                  <p:cNvSpPr>
                    <a:spLocks/>
                  </p:cNvSpPr>
                  <p:nvPr/>
                </p:nvSpPr>
                <p:spPr bwMode="auto">
                  <a:xfrm>
                    <a:off x="857" y="3572"/>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5"/>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09" name="Freeform 2205"/>
                  <p:cNvSpPr>
                    <a:spLocks/>
                  </p:cNvSpPr>
                  <p:nvPr/>
                </p:nvSpPr>
                <p:spPr bwMode="auto">
                  <a:xfrm>
                    <a:off x="862" y="3573"/>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10" name="Freeform 2206"/>
                  <p:cNvSpPr>
                    <a:spLocks/>
                  </p:cNvSpPr>
                  <p:nvPr/>
                </p:nvSpPr>
                <p:spPr bwMode="auto">
                  <a:xfrm>
                    <a:off x="865" y="358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91" name="Group 2207"/>
                <p:cNvGrpSpPr>
                  <a:grpSpLocks/>
                </p:cNvGrpSpPr>
                <p:nvPr/>
              </p:nvGrpSpPr>
              <p:grpSpPr bwMode="auto">
                <a:xfrm>
                  <a:off x="870" y="3585"/>
                  <a:ext cx="48" cy="23"/>
                  <a:chOff x="870" y="3585"/>
                  <a:chExt cx="48" cy="23"/>
                </a:xfrm>
              </p:grpSpPr>
              <p:sp>
                <p:nvSpPr>
                  <p:cNvPr id="905" name="Freeform 2208"/>
                  <p:cNvSpPr>
                    <a:spLocks/>
                  </p:cNvSpPr>
                  <p:nvPr/>
                </p:nvSpPr>
                <p:spPr bwMode="auto">
                  <a:xfrm>
                    <a:off x="870" y="358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6"/>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06" name="Freeform 2209"/>
                  <p:cNvSpPr>
                    <a:spLocks/>
                  </p:cNvSpPr>
                  <p:nvPr/>
                </p:nvSpPr>
                <p:spPr bwMode="auto">
                  <a:xfrm>
                    <a:off x="874" y="3586"/>
                    <a:ext cx="38" cy="10"/>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07" name="Freeform 2210"/>
                  <p:cNvSpPr>
                    <a:spLocks/>
                  </p:cNvSpPr>
                  <p:nvPr/>
                </p:nvSpPr>
                <p:spPr bwMode="auto">
                  <a:xfrm>
                    <a:off x="878"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6"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92" name="Group 2211"/>
                <p:cNvGrpSpPr>
                  <a:grpSpLocks/>
                </p:cNvGrpSpPr>
                <p:nvPr/>
              </p:nvGrpSpPr>
              <p:grpSpPr bwMode="auto">
                <a:xfrm>
                  <a:off x="882" y="3600"/>
                  <a:ext cx="100" cy="73"/>
                  <a:chOff x="882" y="3600"/>
                  <a:chExt cx="100" cy="73"/>
                </a:xfrm>
              </p:grpSpPr>
              <p:grpSp>
                <p:nvGrpSpPr>
                  <p:cNvPr id="885" name="Group 2212"/>
                  <p:cNvGrpSpPr>
                    <a:grpSpLocks/>
                  </p:cNvGrpSpPr>
                  <p:nvPr/>
                </p:nvGrpSpPr>
                <p:grpSpPr bwMode="auto">
                  <a:xfrm>
                    <a:off x="882" y="3600"/>
                    <a:ext cx="49" cy="23"/>
                    <a:chOff x="882" y="3600"/>
                    <a:chExt cx="49" cy="23"/>
                  </a:xfrm>
                </p:grpSpPr>
                <p:sp>
                  <p:nvSpPr>
                    <p:cNvPr id="902" name="Freeform 2213"/>
                    <p:cNvSpPr>
                      <a:spLocks/>
                    </p:cNvSpPr>
                    <p:nvPr/>
                  </p:nvSpPr>
                  <p:spPr bwMode="auto">
                    <a:xfrm>
                      <a:off x="882" y="3600"/>
                      <a:ext cx="12" cy="23"/>
                    </a:xfrm>
                    <a:custGeom>
                      <a:avLst/>
                      <a:gdLst>
                        <a:gd name="T0" fmla="*/ 1 w 23"/>
                        <a:gd name="T1" fmla="*/ 0 h 70"/>
                        <a:gd name="T2" fmla="*/ 0 w 23"/>
                        <a:gd name="T3" fmla="*/ 0 h 70"/>
                        <a:gd name="T4" fmla="*/ 1 w 23"/>
                        <a:gd name="T5" fmla="*/ 0 h 70"/>
                        <a:gd name="T6" fmla="*/ 1 w 23"/>
                        <a:gd name="T7" fmla="*/ 0 h 70"/>
                        <a:gd name="T8" fmla="*/ 1 w 23"/>
                        <a:gd name="T9" fmla="*/ 0 h 70"/>
                        <a:gd name="T10" fmla="*/ 0 60000 65536"/>
                        <a:gd name="T11" fmla="*/ 0 60000 65536"/>
                        <a:gd name="T12" fmla="*/ 0 60000 65536"/>
                        <a:gd name="T13" fmla="*/ 0 60000 65536"/>
                        <a:gd name="T14" fmla="*/ 0 60000 65536"/>
                        <a:gd name="T15" fmla="*/ 0 w 23"/>
                        <a:gd name="T16" fmla="*/ 0 h 70"/>
                        <a:gd name="T17" fmla="*/ 23 w 23"/>
                        <a:gd name="T18" fmla="*/ 70 h 70"/>
                      </a:gdLst>
                      <a:ahLst/>
                      <a:cxnLst>
                        <a:cxn ang="T10">
                          <a:pos x="T0" y="T1"/>
                        </a:cxn>
                        <a:cxn ang="T11">
                          <a:pos x="T2" y="T3"/>
                        </a:cxn>
                        <a:cxn ang="T12">
                          <a:pos x="T4" y="T5"/>
                        </a:cxn>
                        <a:cxn ang="T13">
                          <a:pos x="T6" y="T7"/>
                        </a:cxn>
                        <a:cxn ang="T14">
                          <a:pos x="T8" y="T9"/>
                        </a:cxn>
                      </a:cxnLst>
                      <a:rect l="T15" t="T16" r="T17" b="T18"/>
                      <a:pathLst>
                        <a:path w="23" h="70">
                          <a:moveTo>
                            <a:pt x="13" y="70"/>
                          </a:moveTo>
                          <a:lnTo>
                            <a:pt x="0" y="27"/>
                          </a:lnTo>
                          <a:lnTo>
                            <a:pt x="9" y="0"/>
                          </a:lnTo>
                          <a:lnTo>
                            <a:pt x="23"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03" name="Freeform 2214"/>
                    <p:cNvSpPr>
                      <a:spLocks/>
                    </p:cNvSpPr>
                    <p:nvPr/>
                  </p:nvSpPr>
                  <p:spPr bwMode="auto">
                    <a:xfrm>
                      <a:off x="887" y="3600"/>
                      <a:ext cx="37" cy="11"/>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50" y="0"/>
                          </a:lnTo>
                          <a:lnTo>
                            <a:pt x="51"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04" name="Freeform 2215"/>
                    <p:cNvSpPr>
                      <a:spLocks/>
                    </p:cNvSpPr>
                    <p:nvPr/>
                  </p:nvSpPr>
                  <p:spPr bwMode="auto">
                    <a:xfrm>
                      <a:off x="890" y="3611"/>
                      <a:ext cx="41" cy="12"/>
                    </a:xfrm>
                    <a:custGeom>
                      <a:avLst/>
                      <a:gdLst>
                        <a:gd name="T0" fmla="*/ 0 w 83"/>
                        <a:gd name="T1" fmla="*/ 0 h 38"/>
                        <a:gd name="T2" fmla="*/ 0 w 83"/>
                        <a:gd name="T3" fmla="*/ 0 h 38"/>
                        <a:gd name="T4" fmla="*/ 0 w 83"/>
                        <a:gd name="T5" fmla="*/ 0 h 38"/>
                        <a:gd name="T6" fmla="*/ 0 w 83"/>
                        <a:gd name="T7" fmla="*/ 0 h 38"/>
                        <a:gd name="T8" fmla="*/ 0 w 83"/>
                        <a:gd name="T9" fmla="*/ 0 h 38"/>
                        <a:gd name="T10" fmla="*/ 0 w 83"/>
                        <a:gd name="T11" fmla="*/ 0 h 38"/>
                        <a:gd name="T12" fmla="*/ 0 w 83"/>
                        <a:gd name="T13" fmla="*/ 0 h 38"/>
                        <a:gd name="T14" fmla="*/ 0 60000 65536"/>
                        <a:gd name="T15" fmla="*/ 0 60000 65536"/>
                        <a:gd name="T16" fmla="*/ 0 60000 65536"/>
                        <a:gd name="T17" fmla="*/ 0 60000 65536"/>
                        <a:gd name="T18" fmla="*/ 0 60000 65536"/>
                        <a:gd name="T19" fmla="*/ 0 60000 65536"/>
                        <a:gd name="T20" fmla="*/ 0 60000 65536"/>
                        <a:gd name="T21" fmla="*/ 0 w 83"/>
                        <a:gd name="T22" fmla="*/ 0 h 38"/>
                        <a:gd name="T23" fmla="*/ 83 w 83"/>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8">
                          <a:moveTo>
                            <a:pt x="0" y="38"/>
                          </a:moveTo>
                          <a:lnTo>
                            <a:pt x="1" y="22"/>
                          </a:lnTo>
                          <a:lnTo>
                            <a:pt x="8" y="8"/>
                          </a:lnTo>
                          <a:lnTo>
                            <a:pt x="12" y="0"/>
                          </a:lnTo>
                          <a:lnTo>
                            <a:pt x="68" y="0"/>
                          </a:lnTo>
                          <a:lnTo>
                            <a:pt x="83"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86" name="Group 2216"/>
                  <p:cNvGrpSpPr>
                    <a:grpSpLocks/>
                  </p:cNvGrpSpPr>
                  <p:nvPr/>
                </p:nvGrpSpPr>
                <p:grpSpPr bwMode="auto">
                  <a:xfrm>
                    <a:off x="894" y="3612"/>
                    <a:ext cx="49" cy="23"/>
                    <a:chOff x="894" y="3612"/>
                    <a:chExt cx="49" cy="23"/>
                  </a:xfrm>
                </p:grpSpPr>
                <p:sp>
                  <p:nvSpPr>
                    <p:cNvPr id="899" name="Freeform 2217"/>
                    <p:cNvSpPr>
                      <a:spLocks/>
                    </p:cNvSpPr>
                    <p:nvPr/>
                  </p:nvSpPr>
                  <p:spPr bwMode="auto">
                    <a:xfrm>
                      <a:off x="894" y="3612"/>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9"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00" name="Freeform 2218"/>
                    <p:cNvSpPr>
                      <a:spLocks/>
                    </p:cNvSpPr>
                    <p:nvPr/>
                  </p:nvSpPr>
                  <p:spPr bwMode="auto">
                    <a:xfrm>
                      <a:off x="899" y="3613"/>
                      <a:ext cx="37" cy="10"/>
                    </a:xfrm>
                    <a:custGeom>
                      <a:avLst/>
                      <a:gdLst>
                        <a:gd name="T0" fmla="*/ 0 w 75"/>
                        <a:gd name="T1" fmla="*/ 0 h 32"/>
                        <a:gd name="T2" fmla="*/ 0 w 75"/>
                        <a:gd name="T3" fmla="*/ 0 h 32"/>
                        <a:gd name="T4" fmla="*/ 0 w 75"/>
                        <a:gd name="T5" fmla="*/ 0 h 32"/>
                        <a:gd name="T6" fmla="*/ 0 w 75"/>
                        <a:gd name="T7" fmla="*/ 0 h 32"/>
                        <a:gd name="T8" fmla="*/ 0 w 75"/>
                        <a:gd name="T9" fmla="*/ 0 h 32"/>
                        <a:gd name="T10" fmla="*/ 0 w 75"/>
                        <a:gd name="T11" fmla="*/ 0 h 32"/>
                        <a:gd name="T12" fmla="*/ 0 w 75"/>
                        <a:gd name="T13" fmla="*/ 0 h 32"/>
                        <a:gd name="T14" fmla="*/ 0 w 75"/>
                        <a:gd name="T15" fmla="*/ 0 h 32"/>
                        <a:gd name="T16" fmla="*/ 0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2" y="0"/>
                          </a:moveTo>
                          <a:lnTo>
                            <a:pt x="50" y="0"/>
                          </a:lnTo>
                          <a:lnTo>
                            <a:pt x="52" y="3"/>
                          </a:lnTo>
                          <a:lnTo>
                            <a:pt x="57" y="15"/>
                          </a:lnTo>
                          <a:lnTo>
                            <a:pt x="75" y="32"/>
                          </a:lnTo>
                          <a:lnTo>
                            <a:pt x="19" y="32"/>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01" name="Freeform 2219"/>
                    <p:cNvSpPr>
                      <a:spLocks/>
                    </p:cNvSpPr>
                    <p:nvPr/>
                  </p:nvSpPr>
                  <p:spPr bwMode="auto">
                    <a:xfrm>
                      <a:off x="902" y="362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1"/>
                          </a:lnTo>
                          <a:lnTo>
                            <a:pt x="5" y="8"/>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87" name="Group 2220"/>
                  <p:cNvGrpSpPr>
                    <a:grpSpLocks/>
                  </p:cNvGrpSpPr>
                  <p:nvPr/>
                </p:nvGrpSpPr>
                <p:grpSpPr bwMode="auto">
                  <a:xfrm>
                    <a:off x="907" y="3625"/>
                    <a:ext cx="49" cy="23"/>
                    <a:chOff x="907" y="3625"/>
                    <a:chExt cx="49" cy="23"/>
                  </a:xfrm>
                </p:grpSpPr>
                <p:sp>
                  <p:nvSpPr>
                    <p:cNvPr id="896" name="Freeform 2221"/>
                    <p:cNvSpPr>
                      <a:spLocks/>
                    </p:cNvSpPr>
                    <p:nvPr/>
                  </p:nvSpPr>
                  <p:spPr bwMode="auto">
                    <a:xfrm>
                      <a:off x="907" y="3625"/>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97" name="Freeform 2222"/>
                    <p:cNvSpPr>
                      <a:spLocks/>
                    </p:cNvSpPr>
                    <p:nvPr/>
                  </p:nvSpPr>
                  <p:spPr bwMode="auto">
                    <a:xfrm>
                      <a:off x="912" y="3626"/>
                      <a:ext cx="36" cy="9"/>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98" name="Freeform 2223"/>
                    <p:cNvSpPr>
                      <a:spLocks/>
                    </p:cNvSpPr>
                    <p:nvPr/>
                  </p:nvSpPr>
                  <p:spPr bwMode="auto">
                    <a:xfrm>
                      <a:off x="914" y="363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88" name="Group 2224"/>
                  <p:cNvGrpSpPr>
                    <a:grpSpLocks/>
                  </p:cNvGrpSpPr>
                  <p:nvPr/>
                </p:nvGrpSpPr>
                <p:grpSpPr bwMode="auto">
                  <a:xfrm>
                    <a:off x="919" y="3638"/>
                    <a:ext cx="49" cy="22"/>
                    <a:chOff x="919" y="3638"/>
                    <a:chExt cx="49" cy="22"/>
                  </a:xfrm>
                </p:grpSpPr>
                <p:sp>
                  <p:nvSpPr>
                    <p:cNvPr id="893" name="Freeform 2225"/>
                    <p:cNvSpPr>
                      <a:spLocks/>
                    </p:cNvSpPr>
                    <p:nvPr/>
                  </p:nvSpPr>
                  <p:spPr bwMode="auto">
                    <a:xfrm>
                      <a:off x="919" y="3638"/>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94" name="Freeform 2226"/>
                    <p:cNvSpPr>
                      <a:spLocks/>
                    </p:cNvSpPr>
                    <p:nvPr/>
                  </p:nvSpPr>
                  <p:spPr bwMode="auto">
                    <a:xfrm>
                      <a:off x="924" y="363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48" y="0"/>
                          </a:lnTo>
                          <a:lnTo>
                            <a:pt x="52" y="3"/>
                          </a:lnTo>
                          <a:lnTo>
                            <a:pt x="56" y="12"/>
                          </a:lnTo>
                          <a:lnTo>
                            <a:pt x="73"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95" name="Freeform 2227"/>
                    <p:cNvSpPr>
                      <a:spLocks/>
                    </p:cNvSpPr>
                    <p:nvPr/>
                  </p:nvSpPr>
                  <p:spPr bwMode="auto">
                    <a:xfrm>
                      <a:off x="928" y="364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89" name="Group 2228"/>
                  <p:cNvGrpSpPr>
                    <a:grpSpLocks/>
                  </p:cNvGrpSpPr>
                  <p:nvPr/>
                </p:nvGrpSpPr>
                <p:grpSpPr bwMode="auto">
                  <a:xfrm>
                    <a:off x="932" y="3651"/>
                    <a:ext cx="50" cy="22"/>
                    <a:chOff x="932" y="3651"/>
                    <a:chExt cx="50" cy="22"/>
                  </a:xfrm>
                </p:grpSpPr>
                <p:sp>
                  <p:nvSpPr>
                    <p:cNvPr id="890" name="Freeform 2229"/>
                    <p:cNvSpPr>
                      <a:spLocks/>
                    </p:cNvSpPr>
                    <p:nvPr/>
                  </p:nvSpPr>
                  <p:spPr bwMode="auto">
                    <a:xfrm>
                      <a:off x="932" y="36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11" y="0"/>
                          </a:lnTo>
                          <a:lnTo>
                            <a:pt x="24"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91" name="Freeform 2230"/>
                    <p:cNvSpPr>
                      <a:spLocks/>
                    </p:cNvSpPr>
                    <p:nvPr/>
                  </p:nvSpPr>
                  <p:spPr bwMode="auto">
                    <a:xfrm>
                      <a:off x="937" y="3651"/>
                      <a:ext cx="37"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92" name="Freeform 2231"/>
                    <p:cNvSpPr>
                      <a:spLocks/>
                    </p:cNvSpPr>
                    <p:nvPr/>
                  </p:nvSpPr>
                  <p:spPr bwMode="auto">
                    <a:xfrm>
                      <a:off x="940" y="3662"/>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593" name="Group 2232"/>
                <p:cNvGrpSpPr>
                  <a:grpSpLocks/>
                </p:cNvGrpSpPr>
                <p:nvPr/>
              </p:nvGrpSpPr>
              <p:grpSpPr bwMode="auto">
                <a:xfrm>
                  <a:off x="944" y="3665"/>
                  <a:ext cx="99" cy="74"/>
                  <a:chOff x="944" y="3665"/>
                  <a:chExt cx="99" cy="74"/>
                </a:xfrm>
              </p:grpSpPr>
              <p:grpSp>
                <p:nvGrpSpPr>
                  <p:cNvPr id="865" name="Group 2233"/>
                  <p:cNvGrpSpPr>
                    <a:grpSpLocks/>
                  </p:cNvGrpSpPr>
                  <p:nvPr/>
                </p:nvGrpSpPr>
                <p:grpSpPr bwMode="auto">
                  <a:xfrm>
                    <a:off x="944" y="3665"/>
                    <a:ext cx="49" cy="23"/>
                    <a:chOff x="944" y="3665"/>
                    <a:chExt cx="49" cy="23"/>
                  </a:xfrm>
                </p:grpSpPr>
                <p:sp>
                  <p:nvSpPr>
                    <p:cNvPr id="882" name="Freeform 2234"/>
                    <p:cNvSpPr>
                      <a:spLocks/>
                    </p:cNvSpPr>
                    <p:nvPr/>
                  </p:nvSpPr>
                  <p:spPr bwMode="auto">
                    <a:xfrm>
                      <a:off x="944" y="3665"/>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83" name="Freeform 2235"/>
                    <p:cNvSpPr>
                      <a:spLocks/>
                    </p:cNvSpPr>
                    <p:nvPr/>
                  </p:nvSpPr>
                  <p:spPr bwMode="auto">
                    <a:xfrm>
                      <a:off x="949" y="3666"/>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4"/>
                          </a:lnTo>
                          <a:lnTo>
                            <a:pt x="57" y="13"/>
                          </a:lnTo>
                          <a:lnTo>
                            <a:pt x="75" y="31"/>
                          </a:lnTo>
                          <a:lnTo>
                            <a:pt x="19" y="31"/>
                          </a:lnTo>
                          <a:lnTo>
                            <a:pt x="11"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84" name="Freeform 2236"/>
                    <p:cNvSpPr>
                      <a:spLocks/>
                    </p:cNvSpPr>
                    <p:nvPr/>
                  </p:nvSpPr>
                  <p:spPr bwMode="auto">
                    <a:xfrm>
                      <a:off x="953" y="367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66" name="Group 2237"/>
                  <p:cNvGrpSpPr>
                    <a:grpSpLocks/>
                  </p:cNvGrpSpPr>
                  <p:nvPr/>
                </p:nvGrpSpPr>
                <p:grpSpPr bwMode="auto">
                  <a:xfrm>
                    <a:off x="957" y="3678"/>
                    <a:ext cx="48" cy="23"/>
                    <a:chOff x="957" y="3678"/>
                    <a:chExt cx="48" cy="23"/>
                  </a:xfrm>
                </p:grpSpPr>
                <p:sp>
                  <p:nvSpPr>
                    <p:cNvPr id="879" name="Freeform 2238"/>
                    <p:cNvSpPr>
                      <a:spLocks/>
                    </p:cNvSpPr>
                    <p:nvPr/>
                  </p:nvSpPr>
                  <p:spPr bwMode="auto">
                    <a:xfrm>
                      <a:off x="957" y="3678"/>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3" y="70"/>
                          </a:moveTo>
                          <a:lnTo>
                            <a:pt x="0" y="27"/>
                          </a:lnTo>
                          <a:lnTo>
                            <a:pt x="9" y="0"/>
                          </a:lnTo>
                          <a:lnTo>
                            <a:pt x="24"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80" name="Freeform 2239"/>
                    <p:cNvSpPr>
                      <a:spLocks/>
                    </p:cNvSpPr>
                    <p:nvPr/>
                  </p:nvSpPr>
                  <p:spPr bwMode="auto">
                    <a:xfrm>
                      <a:off x="961" y="3678"/>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3"/>
                          </a:lnTo>
                          <a:lnTo>
                            <a:pt x="56" y="12"/>
                          </a:lnTo>
                          <a:lnTo>
                            <a:pt x="74"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81" name="Freeform 2240"/>
                    <p:cNvSpPr>
                      <a:spLocks/>
                    </p:cNvSpPr>
                    <p:nvPr/>
                  </p:nvSpPr>
                  <p:spPr bwMode="auto">
                    <a:xfrm>
                      <a:off x="964" y="3688"/>
                      <a:ext cx="41"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1"/>
                          </a:lnTo>
                          <a:lnTo>
                            <a:pt x="7" y="8"/>
                          </a:lnTo>
                          <a:lnTo>
                            <a:pt x="11" y="0"/>
                          </a:lnTo>
                          <a:lnTo>
                            <a:pt x="68"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67" name="Group 2241"/>
                  <p:cNvGrpSpPr>
                    <a:grpSpLocks/>
                  </p:cNvGrpSpPr>
                  <p:nvPr/>
                </p:nvGrpSpPr>
                <p:grpSpPr bwMode="auto">
                  <a:xfrm>
                    <a:off x="969" y="3690"/>
                    <a:ext cx="49" cy="23"/>
                    <a:chOff x="969" y="3690"/>
                    <a:chExt cx="49" cy="23"/>
                  </a:xfrm>
                </p:grpSpPr>
                <p:sp>
                  <p:nvSpPr>
                    <p:cNvPr id="876" name="Freeform 2242"/>
                    <p:cNvSpPr>
                      <a:spLocks/>
                    </p:cNvSpPr>
                    <p:nvPr/>
                  </p:nvSpPr>
                  <p:spPr bwMode="auto">
                    <a:xfrm>
                      <a:off x="969" y="369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9"/>
                          </a:lnTo>
                          <a:lnTo>
                            <a:pt x="9" y="0"/>
                          </a:lnTo>
                          <a:lnTo>
                            <a:pt x="25" y="33"/>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77" name="Freeform 2243"/>
                    <p:cNvSpPr>
                      <a:spLocks/>
                    </p:cNvSpPr>
                    <p:nvPr/>
                  </p:nvSpPr>
                  <p:spPr bwMode="auto">
                    <a:xfrm>
                      <a:off x="974" y="3691"/>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9"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78" name="Freeform 2244"/>
                    <p:cNvSpPr>
                      <a:spLocks/>
                    </p:cNvSpPr>
                    <p:nvPr/>
                  </p:nvSpPr>
                  <p:spPr bwMode="auto">
                    <a:xfrm>
                      <a:off x="977" y="370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6" y="7"/>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68" name="Group 2245"/>
                  <p:cNvGrpSpPr>
                    <a:grpSpLocks/>
                  </p:cNvGrpSpPr>
                  <p:nvPr/>
                </p:nvGrpSpPr>
                <p:grpSpPr bwMode="auto">
                  <a:xfrm>
                    <a:off x="982" y="3703"/>
                    <a:ext cx="49" cy="23"/>
                    <a:chOff x="982" y="3703"/>
                    <a:chExt cx="49" cy="23"/>
                  </a:xfrm>
                </p:grpSpPr>
                <p:sp>
                  <p:nvSpPr>
                    <p:cNvPr id="873" name="Freeform 2246"/>
                    <p:cNvSpPr>
                      <a:spLocks/>
                    </p:cNvSpPr>
                    <p:nvPr/>
                  </p:nvSpPr>
                  <p:spPr bwMode="auto">
                    <a:xfrm>
                      <a:off x="982"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74" name="Freeform 2247"/>
                    <p:cNvSpPr>
                      <a:spLocks/>
                    </p:cNvSpPr>
                    <p:nvPr/>
                  </p:nvSpPr>
                  <p:spPr bwMode="auto">
                    <a:xfrm>
                      <a:off x="987" y="3703"/>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75" name="Freeform 2248"/>
                    <p:cNvSpPr>
                      <a:spLocks/>
                    </p:cNvSpPr>
                    <p:nvPr/>
                  </p:nvSpPr>
                  <p:spPr bwMode="auto">
                    <a:xfrm>
                      <a:off x="989" y="3714"/>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69" name="Group 2249"/>
                  <p:cNvGrpSpPr>
                    <a:grpSpLocks/>
                  </p:cNvGrpSpPr>
                  <p:nvPr/>
                </p:nvGrpSpPr>
                <p:grpSpPr bwMode="auto">
                  <a:xfrm>
                    <a:off x="995" y="3716"/>
                    <a:ext cx="48" cy="23"/>
                    <a:chOff x="995" y="3716"/>
                    <a:chExt cx="48" cy="23"/>
                  </a:xfrm>
                </p:grpSpPr>
                <p:sp>
                  <p:nvSpPr>
                    <p:cNvPr id="870" name="Freeform 2250"/>
                    <p:cNvSpPr>
                      <a:spLocks/>
                    </p:cNvSpPr>
                    <p:nvPr/>
                  </p:nvSpPr>
                  <p:spPr bwMode="auto">
                    <a:xfrm>
                      <a:off x="995" y="3716"/>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0"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71" name="Freeform 2251"/>
                    <p:cNvSpPr>
                      <a:spLocks/>
                    </p:cNvSpPr>
                    <p:nvPr/>
                  </p:nvSpPr>
                  <p:spPr bwMode="auto">
                    <a:xfrm>
                      <a:off x="999" y="3717"/>
                      <a:ext cx="38"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2" y="3"/>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72" name="Freeform 2252"/>
                    <p:cNvSpPr>
                      <a:spLocks/>
                    </p:cNvSpPr>
                    <p:nvPr/>
                  </p:nvSpPr>
                  <p:spPr bwMode="auto">
                    <a:xfrm>
                      <a:off x="1003" y="3727"/>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5" y="7"/>
                          </a:lnTo>
                          <a:lnTo>
                            <a:pt x="11"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594" name="Group 2253"/>
                <p:cNvGrpSpPr>
                  <a:grpSpLocks/>
                </p:cNvGrpSpPr>
                <p:nvPr/>
              </p:nvGrpSpPr>
              <p:grpSpPr bwMode="auto">
                <a:xfrm>
                  <a:off x="1005" y="3727"/>
                  <a:ext cx="49" cy="23"/>
                  <a:chOff x="1005" y="3727"/>
                  <a:chExt cx="49" cy="23"/>
                </a:xfrm>
              </p:grpSpPr>
              <p:sp>
                <p:nvSpPr>
                  <p:cNvPr id="862" name="Freeform 2254"/>
                  <p:cNvSpPr>
                    <a:spLocks/>
                  </p:cNvSpPr>
                  <p:nvPr/>
                </p:nvSpPr>
                <p:spPr bwMode="auto">
                  <a:xfrm>
                    <a:off x="1005" y="372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2"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63" name="Freeform 2255"/>
                  <p:cNvSpPr>
                    <a:spLocks/>
                  </p:cNvSpPr>
                  <p:nvPr/>
                </p:nvSpPr>
                <p:spPr bwMode="auto">
                  <a:xfrm>
                    <a:off x="1010"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8" y="0"/>
                        </a:lnTo>
                        <a:lnTo>
                          <a:pt x="51" y="4"/>
                        </a:lnTo>
                        <a:lnTo>
                          <a:pt x="56" y="13"/>
                        </a:lnTo>
                        <a:lnTo>
                          <a:pt x="73" y="31"/>
                        </a:lnTo>
                        <a:lnTo>
                          <a:pt x="18" y="31"/>
                        </a:lnTo>
                        <a:lnTo>
                          <a:pt x="9"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64" name="Freeform 2256"/>
                  <p:cNvSpPr>
                    <a:spLocks/>
                  </p:cNvSpPr>
                  <p:nvPr/>
                </p:nvSpPr>
                <p:spPr bwMode="auto">
                  <a:xfrm>
                    <a:off x="1013"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95" name="Group 2257"/>
                <p:cNvGrpSpPr>
                  <a:grpSpLocks/>
                </p:cNvGrpSpPr>
                <p:nvPr/>
              </p:nvGrpSpPr>
              <p:grpSpPr bwMode="auto">
                <a:xfrm>
                  <a:off x="1018" y="3740"/>
                  <a:ext cx="49" cy="22"/>
                  <a:chOff x="1018" y="3740"/>
                  <a:chExt cx="49" cy="22"/>
                </a:xfrm>
              </p:grpSpPr>
              <p:sp>
                <p:nvSpPr>
                  <p:cNvPr id="859" name="Freeform 2258"/>
                  <p:cNvSpPr>
                    <a:spLocks/>
                  </p:cNvSpPr>
                  <p:nvPr/>
                </p:nvSpPr>
                <p:spPr bwMode="auto">
                  <a:xfrm>
                    <a:off x="1018" y="374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60" name="Freeform 2259"/>
                  <p:cNvSpPr>
                    <a:spLocks/>
                  </p:cNvSpPr>
                  <p:nvPr/>
                </p:nvSpPr>
                <p:spPr bwMode="auto">
                  <a:xfrm>
                    <a:off x="1022" y="3740"/>
                    <a:ext cx="38"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49" y="0"/>
                        </a:lnTo>
                        <a:lnTo>
                          <a:pt x="51" y="4"/>
                        </a:lnTo>
                        <a:lnTo>
                          <a:pt x="57"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61" name="Freeform 2260"/>
                  <p:cNvSpPr>
                    <a:spLocks/>
                  </p:cNvSpPr>
                  <p:nvPr/>
                </p:nvSpPr>
                <p:spPr bwMode="auto">
                  <a:xfrm>
                    <a:off x="1026" y="3750"/>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96" name="Group 2261"/>
                <p:cNvGrpSpPr>
                  <a:grpSpLocks/>
                </p:cNvGrpSpPr>
                <p:nvPr/>
              </p:nvGrpSpPr>
              <p:grpSpPr bwMode="auto">
                <a:xfrm>
                  <a:off x="1030" y="3753"/>
                  <a:ext cx="49" cy="23"/>
                  <a:chOff x="1030" y="3753"/>
                  <a:chExt cx="49" cy="23"/>
                </a:xfrm>
              </p:grpSpPr>
              <p:sp>
                <p:nvSpPr>
                  <p:cNvPr id="856" name="Freeform 2262"/>
                  <p:cNvSpPr>
                    <a:spLocks/>
                  </p:cNvSpPr>
                  <p:nvPr/>
                </p:nvSpPr>
                <p:spPr bwMode="auto">
                  <a:xfrm>
                    <a:off x="1030" y="375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2"/>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57" name="Freeform 2263"/>
                  <p:cNvSpPr>
                    <a:spLocks/>
                  </p:cNvSpPr>
                  <p:nvPr/>
                </p:nvSpPr>
                <p:spPr bwMode="auto">
                  <a:xfrm>
                    <a:off x="1035" y="3753"/>
                    <a:ext cx="37" cy="11"/>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1" y="0"/>
                        </a:lnTo>
                        <a:lnTo>
                          <a:pt x="52" y="4"/>
                        </a:lnTo>
                        <a:lnTo>
                          <a:pt x="56"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58" name="Freeform 2264"/>
                  <p:cNvSpPr>
                    <a:spLocks/>
                  </p:cNvSpPr>
                  <p:nvPr/>
                </p:nvSpPr>
                <p:spPr bwMode="auto">
                  <a:xfrm>
                    <a:off x="1039" y="3764"/>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7"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597" name="Freeform 2265"/>
                <p:cNvSpPr>
                  <a:spLocks/>
                </p:cNvSpPr>
                <p:nvPr/>
              </p:nvSpPr>
              <p:spPr bwMode="auto">
                <a:xfrm>
                  <a:off x="778" y="353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3" y="68"/>
                      </a:moveTo>
                      <a:lnTo>
                        <a:pt x="0" y="27"/>
                      </a:lnTo>
                      <a:lnTo>
                        <a:pt x="9" y="0"/>
                      </a:lnTo>
                      <a:lnTo>
                        <a:pt x="24"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98" name="Freeform 2266"/>
                <p:cNvSpPr>
                  <a:spLocks/>
                </p:cNvSpPr>
                <p:nvPr/>
              </p:nvSpPr>
              <p:spPr bwMode="auto">
                <a:xfrm>
                  <a:off x="783" y="3535"/>
                  <a:ext cx="36" cy="11"/>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50" y="0"/>
                      </a:lnTo>
                      <a:lnTo>
                        <a:pt x="51" y="4"/>
                      </a:lnTo>
                      <a:lnTo>
                        <a:pt x="57" y="13"/>
                      </a:lnTo>
                      <a:lnTo>
                        <a:pt x="72" y="31"/>
                      </a:lnTo>
                      <a:lnTo>
                        <a:pt x="18" y="31"/>
                      </a:lnTo>
                      <a:lnTo>
                        <a:pt x="9" y="22"/>
                      </a:lnTo>
                      <a:lnTo>
                        <a:pt x="0" y="7"/>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99" name="Freeform 2267"/>
                <p:cNvSpPr>
                  <a:spLocks/>
                </p:cNvSpPr>
                <p:nvPr/>
              </p:nvSpPr>
              <p:spPr bwMode="auto">
                <a:xfrm>
                  <a:off x="786" y="3546"/>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1"/>
                      </a:lnTo>
                      <a:lnTo>
                        <a:pt x="7" y="8"/>
                      </a:lnTo>
                      <a:lnTo>
                        <a:pt x="12"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600" name="Group 2268"/>
                <p:cNvGrpSpPr>
                  <a:grpSpLocks/>
                </p:cNvGrpSpPr>
                <p:nvPr/>
              </p:nvGrpSpPr>
              <p:grpSpPr bwMode="auto">
                <a:xfrm>
                  <a:off x="790" y="3547"/>
                  <a:ext cx="49" cy="23"/>
                  <a:chOff x="790" y="3547"/>
                  <a:chExt cx="49" cy="23"/>
                </a:xfrm>
              </p:grpSpPr>
              <p:sp>
                <p:nvSpPr>
                  <p:cNvPr id="853" name="Freeform 2269"/>
                  <p:cNvSpPr>
                    <a:spLocks/>
                  </p:cNvSpPr>
                  <p:nvPr/>
                </p:nvSpPr>
                <p:spPr bwMode="auto">
                  <a:xfrm>
                    <a:off x="790" y="3547"/>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54" name="Freeform 2270"/>
                  <p:cNvSpPr>
                    <a:spLocks/>
                  </p:cNvSpPr>
                  <p:nvPr/>
                </p:nvSpPr>
                <p:spPr bwMode="auto">
                  <a:xfrm>
                    <a:off x="795" y="3548"/>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55" name="Freeform 2271"/>
                  <p:cNvSpPr>
                    <a:spLocks/>
                  </p:cNvSpPr>
                  <p:nvPr/>
                </p:nvSpPr>
                <p:spPr bwMode="auto">
                  <a:xfrm>
                    <a:off x="798" y="355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01" name="Group 2272"/>
                <p:cNvGrpSpPr>
                  <a:grpSpLocks/>
                </p:cNvGrpSpPr>
                <p:nvPr/>
              </p:nvGrpSpPr>
              <p:grpSpPr bwMode="auto">
                <a:xfrm>
                  <a:off x="803" y="3560"/>
                  <a:ext cx="49" cy="22"/>
                  <a:chOff x="803" y="3560"/>
                  <a:chExt cx="49" cy="22"/>
                </a:xfrm>
              </p:grpSpPr>
              <p:sp>
                <p:nvSpPr>
                  <p:cNvPr id="850" name="Freeform 2273"/>
                  <p:cNvSpPr>
                    <a:spLocks/>
                  </p:cNvSpPr>
                  <p:nvPr/>
                </p:nvSpPr>
                <p:spPr bwMode="auto">
                  <a:xfrm>
                    <a:off x="803" y="3560"/>
                    <a:ext cx="12" cy="22"/>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51" name="Freeform 2274"/>
                  <p:cNvSpPr>
                    <a:spLocks/>
                  </p:cNvSpPr>
                  <p:nvPr/>
                </p:nvSpPr>
                <p:spPr bwMode="auto">
                  <a:xfrm>
                    <a:off x="808" y="356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52" name="Freeform 2275"/>
                  <p:cNvSpPr>
                    <a:spLocks/>
                  </p:cNvSpPr>
                  <p:nvPr/>
                </p:nvSpPr>
                <p:spPr bwMode="auto">
                  <a:xfrm>
                    <a:off x="811" y="3571"/>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2"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02" name="Group 2276"/>
                <p:cNvGrpSpPr>
                  <a:grpSpLocks/>
                </p:cNvGrpSpPr>
                <p:nvPr/>
              </p:nvGrpSpPr>
              <p:grpSpPr bwMode="auto">
                <a:xfrm>
                  <a:off x="815" y="3572"/>
                  <a:ext cx="50" cy="23"/>
                  <a:chOff x="815" y="3572"/>
                  <a:chExt cx="50" cy="23"/>
                </a:xfrm>
              </p:grpSpPr>
              <p:sp>
                <p:nvSpPr>
                  <p:cNvPr id="847" name="Freeform 2277"/>
                  <p:cNvSpPr>
                    <a:spLocks/>
                  </p:cNvSpPr>
                  <p:nvPr/>
                </p:nvSpPr>
                <p:spPr bwMode="auto">
                  <a:xfrm>
                    <a:off x="815" y="3572"/>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0"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48" name="Freeform 2278"/>
                  <p:cNvSpPr>
                    <a:spLocks/>
                  </p:cNvSpPr>
                  <p:nvPr/>
                </p:nvSpPr>
                <p:spPr bwMode="auto">
                  <a:xfrm>
                    <a:off x="820" y="3573"/>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49" name="Freeform 2279"/>
                  <p:cNvSpPr>
                    <a:spLocks/>
                  </p:cNvSpPr>
                  <p:nvPr/>
                </p:nvSpPr>
                <p:spPr bwMode="auto">
                  <a:xfrm>
                    <a:off x="824" y="3583"/>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6" y="7"/>
                        </a:lnTo>
                        <a:lnTo>
                          <a:pt x="10"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03" name="Group 2280"/>
                <p:cNvGrpSpPr>
                  <a:grpSpLocks/>
                </p:cNvGrpSpPr>
                <p:nvPr/>
              </p:nvGrpSpPr>
              <p:grpSpPr bwMode="auto">
                <a:xfrm>
                  <a:off x="828" y="3585"/>
                  <a:ext cx="49" cy="23"/>
                  <a:chOff x="828" y="3585"/>
                  <a:chExt cx="49" cy="23"/>
                </a:xfrm>
              </p:grpSpPr>
              <p:sp>
                <p:nvSpPr>
                  <p:cNvPr id="844" name="Freeform 2281"/>
                  <p:cNvSpPr>
                    <a:spLocks/>
                  </p:cNvSpPr>
                  <p:nvPr/>
                </p:nvSpPr>
                <p:spPr bwMode="auto">
                  <a:xfrm>
                    <a:off x="828" y="358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9"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45" name="Freeform 2282"/>
                  <p:cNvSpPr>
                    <a:spLocks/>
                  </p:cNvSpPr>
                  <p:nvPr/>
                </p:nvSpPr>
                <p:spPr bwMode="auto">
                  <a:xfrm>
                    <a:off x="833" y="358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46" name="Freeform 2283"/>
                  <p:cNvSpPr>
                    <a:spLocks/>
                  </p:cNvSpPr>
                  <p:nvPr/>
                </p:nvSpPr>
                <p:spPr bwMode="auto">
                  <a:xfrm>
                    <a:off x="837"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5"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04" name="Group 2284"/>
                <p:cNvGrpSpPr>
                  <a:grpSpLocks/>
                </p:cNvGrpSpPr>
                <p:nvPr/>
              </p:nvGrpSpPr>
              <p:grpSpPr bwMode="auto">
                <a:xfrm>
                  <a:off x="840" y="3600"/>
                  <a:ext cx="100" cy="73"/>
                  <a:chOff x="840" y="3600"/>
                  <a:chExt cx="100" cy="73"/>
                </a:xfrm>
              </p:grpSpPr>
              <p:grpSp>
                <p:nvGrpSpPr>
                  <p:cNvPr id="824" name="Group 2285"/>
                  <p:cNvGrpSpPr>
                    <a:grpSpLocks/>
                  </p:cNvGrpSpPr>
                  <p:nvPr/>
                </p:nvGrpSpPr>
                <p:grpSpPr bwMode="auto">
                  <a:xfrm>
                    <a:off x="840" y="3600"/>
                    <a:ext cx="49" cy="23"/>
                    <a:chOff x="840" y="3600"/>
                    <a:chExt cx="49" cy="23"/>
                  </a:xfrm>
                </p:grpSpPr>
                <p:sp>
                  <p:nvSpPr>
                    <p:cNvPr id="841" name="Freeform 2286"/>
                    <p:cNvSpPr>
                      <a:spLocks/>
                    </p:cNvSpPr>
                    <p:nvPr/>
                  </p:nvSpPr>
                  <p:spPr bwMode="auto">
                    <a:xfrm>
                      <a:off x="840" y="360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7"/>
                          </a:lnTo>
                          <a:lnTo>
                            <a:pt x="10" y="0"/>
                          </a:lnTo>
                          <a:lnTo>
                            <a:pt x="25" y="31"/>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42" name="Freeform 2287"/>
                    <p:cNvSpPr>
                      <a:spLocks/>
                    </p:cNvSpPr>
                    <p:nvPr/>
                  </p:nvSpPr>
                  <p:spPr bwMode="auto">
                    <a:xfrm>
                      <a:off x="845" y="3600"/>
                      <a:ext cx="37" cy="11"/>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43" name="Freeform 2288"/>
                    <p:cNvSpPr>
                      <a:spLocks/>
                    </p:cNvSpPr>
                    <p:nvPr/>
                  </p:nvSpPr>
                  <p:spPr bwMode="auto">
                    <a:xfrm>
                      <a:off x="848" y="3611"/>
                      <a:ext cx="41" cy="12"/>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8"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25" name="Group 2289"/>
                  <p:cNvGrpSpPr>
                    <a:grpSpLocks/>
                  </p:cNvGrpSpPr>
                  <p:nvPr/>
                </p:nvGrpSpPr>
                <p:grpSpPr bwMode="auto">
                  <a:xfrm>
                    <a:off x="853" y="3612"/>
                    <a:ext cx="48" cy="23"/>
                    <a:chOff x="853" y="3612"/>
                    <a:chExt cx="48" cy="23"/>
                  </a:xfrm>
                </p:grpSpPr>
                <p:sp>
                  <p:nvSpPr>
                    <p:cNvPr id="838" name="Freeform 2290"/>
                    <p:cNvSpPr>
                      <a:spLocks/>
                    </p:cNvSpPr>
                    <p:nvPr/>
                  </p:nvSpPr>
                  <p:spPr bwMode="auto">
                    <a:xfrm>
                      <a:off x="853"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10"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39" name="Freeform 2291"/>
                    <p:cNvSpPr>
                      <a:spLocks/>
                    </p:cNvSpPr>
                    <p:nvPr/>
                  </p:nvSpPr>
                  <p:spPr bwMode="auto">
                    <a:xfrm>
                      <a:off x="857" y="3613"/>
                      <a:ext cx="37" cy="10"/>
                    </a:xfrm>
                    <a:custGeom>
                      <a:avLst/>
                      <a:gdLst>
                        <a:gd name="T0" fmla="*/ 1 w 73"/>
                        <a:gd name="T1" fmla="*/ 0 h 32"/>
                        <a:gd name="T2" fmla="*/ 1 w 73"/>
                        <a:gd name="T3" fmla="*/ 0 h 32"/>
                        <a:gd name="T4" fmla="*/ 1 w 73"/>
                        <a:gd name="T5" fmla="*/ 0 h 32"/>
                        <a:gd name="T6" fmla="*/ 1 w 73"/>
                        <a:gd name="T7" fmla="*/ 0 h 32"/>
                        <a:gd name="T8" fmla="*/ 1 w 73"/>
                        <a:gd name="T9" fmla="*/ 0 h 32"/>
                        <a:gd name="T10" fmla="*/ 1 w 73"/>
                        <a:gd name="T11" fmla="*/ 0 h 32"/>
                        <a:gd name="T12" fmla="*/ 1 w 73"/>
                        <a:gd name="T13" fmla="*/ 0 h 32"/>
                        <a:gd name="T14" fmla="*/ 0 w 73"/>
                        <a:gd name="T15" fmla="*/ 0 h 32"/>
                        <a:gd name="T16" fmla="*/ 1 w 73"/>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2"/>
                        <a:gd name="T29" fmla="*/ 73 w 73"/>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2">
                          <a:moveTo>
                            <a:pt x="1" y="0"/>
                          </a:moveTo>
                          <a:lnTo>
                            <a:pt x="50" y="0"/>
                          </a:lnTo>
                          <a:lnTo>
                            <a:pt x="51" y="3"/>
                          </a:lnTo>
                          <a:lnTo>
                            <a:pt x="56" y="15"/>
                          </a:lnTo>
                          <a:lnTo>
                            <a:pt x="73" y="32"/>
                          </a:lnTo>
                          <a:lnTo>
                            <a:pt x="18" y="32"/>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40" name="Freeform 2292"/>
                    <p:cNvSpPr>
                      <a:spLocks/>
                    </p:cNvSpPr>
                    <p:nvPr/>
                  </p:nvSpPr>
                  <p:spPr bwMode="auto">
                    <a:xfrm>
                      <a:off x="860" y="362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26" name="Group 2293"/>
                  <p:cNvGrpSpPr>
                    <a:grpSpLocks/>
                  </p:cNvGrpSpPr>
                  <p:nvPr/>
                </p:nvGrpSpPr>
                <p:grpSpPr bwMode="auto">
                  <a:xfrm>
                    <a:off x="865" y="3625"/>
                    <a:ext cx="49" cy="23"/>
                    <a:chOff x="865" y="3625"/>
                    <a:chExt cx="49" cy="23"/>
                  </a:xfrm>
                </p:grpSpPr>
                <p:sp>
                  <p:nvSpPr>
                    <p:cNvPr id="835" name="Freeform 2294"/>
                    <p:cNvSpPr>
                      <a:spLocks/>
                    </p:cNvSpPr>
                    <p:nvPr/>
                  </p:nvSpPr>
                  <p:spPr bwMode="auto">
                    <a:xfrm>
                      <a:off x="865" y="362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36" name="Freeform 2295"/>
                    <p:cNvSpPr>
                      <a:spLocks/>
                    </p:cNvSpPr>
                    <p:nvPr/>
                  </p:nvSpPr>
                  <p:spPr bwMode="auto">
                    <a:xfrm>
                      <a:off x="870"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2"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37" name="Freeform 2296"/>
                    <p:cNvSpPr>
                      <a:spLocks/>
                    </p:cNvSpPr>
                    <p:nvPr/>
                  </p:nvSpPr>
                  <p:spPr bwMode="auto">
                    <a:xfrm>
                      <a:off x="873" y="363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27" name="Group 2297"/>
                  <p:cNvGrpSpPr>
                    <a:grpSpLocks/>
                  </p:cNvGrpSpPr>
                  <p:nvPr/>
                </p:nvGrpSpPr>
                <p:grpSpPr bwMode="auto">
                  <a:xfrm>
                    <a:off x="878" y="3638"/>
                    <a:ext cx="49" cy="22"/>
                    <a:chOff x="878" y="3638"/>
                    <a:chExt cx="49" cy="22"/>
                  </a:xfrm>
                </p:grpSpPr>
                <p:sp>
                  <p:nvSpPr>
                    <p:cNvPr id="832" name="Freeform 2298"/>
                    <p:cNvSpPr>
                      <a:spLocks/>
                    </p:cNvSpPr>
                    <p:nvPr/>
                  </p:nvSpPr>
                  <p:spPr bwMode="auto">
                    <a:xfrm>
                      <a:off x="878"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33" name="Freeform 2299"/>
                    <p:cNvSpPr>
                      <a:spLocks/>
                    </p:cNvSpPr>
                    <p:nvPr/>
                  </p:nvSpPr>
                  <p:spPr bwMode="auto">
                    <a:xfrm>
                      <a:off x="883"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6" y="12"/>
                          </a:lnTo>
                          <a:lnTo>
                            <a:pt x="72"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34" name="Freeform 2300"/>
                    <p:cNvSpPr>
                      <a:spLocks/>
                    </p:cNvSpPr>
                    <p:nvPr/>
                  </p:nvSpPr>
                  <p:spPr bwMode="auto">
                    <a:xfrm>
                      <a:off x="886" y="364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28" name="Group 2301"/>
                  <p:cNvGrpSpPr>
                    <a:grpSpLocks/>
                  </p:cNvGrpSpPr>
                  <p:nvPr/>
                </p:nvGrpSpPr>
                <p:grpSpPr bwMode="auto">
                  <a:xfrm>
                    <a:off x="890" y="3651"/>
                    <a:ext cx="50" cy="22"/>
                    <a:chOff x="890" y="3651"/>
                    <a:chExt cx="50" cy="22"/>
                  </a:xfrm>
                </p:grpSpPr>
                <p:sp>
                  <p:nvSpPr>
                    <p:cNvPr id="829" name="Freeform 2302"/>
                    <p:cNvSpPr>
                      <a:spLocks/>
                    </p:cNvSpPr>
                    <p:nvPr/>
                  </p:nvSpPr>
                  <p:spPr bwMode="auto">
                    <a:xfrm>
                      <a:off x="890" y="3651"/>
                      <a:ext cx="13" cy="22"/>
                    </a:xfrm>
                    <a:custGeom>
                      <a:avLst/>
                      <a:gdLst>
                        <a:gd name="T0" fmla="*/ 1 w 25"/>
                        <a:gd name="T1" fmla="*/ 0 h 67"/>
                        <a:gd name="T2" fmla="*/ 0 w 25"/>
                        <a:gd name="T3" fmla="*/ 0 h 67"/>
                        <a:gd name="T4" fmla="*/ 1 w 25"/>
                        <a:gd name="T5" fmla="*/ 0 h 67"/>
                        <a:gd name="T6" fmla="*/ 1 w 25"/>
                        <a:gd name="T7" fmla="*/ 0 h 67"/>
                        <a:gd name="T8" fmla="*/ 1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6" y="67"/>
                          </a:moveTo>
                          <a:lnTo>
                            <a:pt x="0" y="26"/>
                          </a:lnTo>
                          <a:lnTo>
                            <a:pt x="12" y="0"/>
                          </a:lnTo>
                          <a:lnTo>
                            <a:pt x="25" y="30"/>
                          </a:lnTo>
                          <a:lnTo>
                            <a:pt x="16"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30" name="Freeform 2303"/>
                    <p:cNvSpPr>
                      <a:spLocks/>
                    </p:cNvSpPr>
                    <p:nvPr/>
                  </p:nvSpPr>
                  <p:spPr bwMode="auto">
                    <a:xfrm>
                      <a:off x="895" y="3651"/>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8" y="0"/>
                          </a:lnTo>
                          <a:lnTo>
                            <a:pt x="51" y="2"/>
                          </a:lnTo>
                          <a:lnTo>
                            <a:pt x="56" y="11"/>
                          </a:lnTo>
                          <a:lnTo>
                            <a:pt x="73" y="29"/>
                          </a:lnTo>
                          <a:lnTo>
                            <a:pt x="18"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31" name="Freeform 2304"/>
                    <p:cNvSpPr>
                      <a:spLocks/>
                    </p:cNvSpPr>
                    <p:nvPr/>
                  </p:nvSpPr>
                  <p:spPr bwMode="auto">
                    <a:xfrm>
                      <a:off x="899" y="3662"/>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605" name="Group 2305"/>
                <p:cNvGrpSpPr>
                  <a:grpSpLocks/>
                </p:cNvGrpSpPr>
                <p:nvPr/>
              </p:nvGrpSpPr>
              <p:grpSpPr bwMode="auto">
                <a:xfrm>
                  <a:off x="903" y="3665"/>
                  <a:ext cx="99" cy="74"/>
                  <a:chOff x="903" y="3665"/>
                  <a:chExt cx="99" cy="74"/>
                </a:xfrm>
              </p:grpSpPr>
              <p:grpSp>
                <p:nvGrpSpPr>
                  <p:cNvPr id="804" name="Group 2306"/>
                  <p:cNvGrpSpPr>
                    <a:grpSpLocks/>
                  </p:cNvGrpSpPr>
                  <p:nvPr/>
                </p:nvGrpSpPr>
                <p:grpSpPr bwMode="auto">
                  <a:xfrm>
                    <a:off x="903" y="3665"/>
                    <a:ext cx="49" cy="23"/>
                    <a:chOff x="903" y="3665"/>
                    <a:chExt cx="49" cy="23"/>
                  </a:xfrm>
                </p:grpSpPr>
                <p:sp>
                  <p:nvSpPr>
                    <p:cNvPr id="821" name="Freeform 2307"/>
                    <p:cNvSpPr>
                      <a:spLocks/>
                    </p:cNvSpPr>
                    <p:nvPr/>
                  </p:nvSpPr>
                  <p:spPr bwMode="auto">
                    <a:xfrm>
                      <a:off x="903"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0"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22" name="Freeform 2308"/>
                    <p:cNvSpPr>
                      <a:spLocks/>
                    </p:cNvSpPr>
                    <p:nvPr/>
                  </p:nvSpPr>
                  <p:spPr bwMode="auto">
                    <a:xfrm>
                      <a:off x="907" y="3666"/>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9" y="0"/>
                          </a:lnTo>
                          <a:lnTo>
                            <a:pt x="51" y="4"/>
                          </a:lnTo>
                          <a:lnTo>
                            <a:pt x="56" y="13"/>
                          </a:lnTo>
                          <a:lnTo>
                            <a:pt x="73"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23" name="Freeform 2309"/>
                    <p:cNvSpPr>
                      <a:spLocks/>
                    </p:cNvSpPr>
                    <p:nvPr/>
                  </p:nvSpPr>
                  <p:spPr bwMode="auto">
                    <a:xfrm>
                      <a:off x="911" y="367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05" name="Group 2310"/>
                  <p:cNvGrpSpPr>
                    <a:grpSpLocks/>
                  </p:cNvGrpSpPr>
                  <p:nvPr/>
                </p:nvGrpSpPr>
                <p:grpSpPr bwMode="auto">
                  <a:xfrm>
                    <a:off x="914" y="3678"/>
                    <a:ext cx="49" cy="23"/>
                    <a:chOff x="914" y="3678"/>
                    <a:chExt cx="49" cy="23"/>
                  </a:xfrm>
                </p:grpSpPr>
                <p:sp>
                  <p:nvSpPr>
                    <p:cNvPr id="818" name="Freeform 2311"/>
                    <p:cNvSpPr>
                      <a:spLocks/>
                    </p:cNvSpPr>
                    <p:nvPr/>
                  </p:nvSpPr>
                  <p:spPr bwMode="auto">
                    <a:xfrm>
                      <a:off x="914"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19" name="Freeform 2312"/>
                    <p:cNvSpPr>
                      <a:spLocks/>
                    </p:cNvSpPr>
                    <p:nvPr/>
                  </p:nvSpPr>
                  <p:spPr bwMode="auto">
                    <a:xfrm>
                      <a:off x="919" y="3678"/>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7" y="12"/>
                          </a:lnTo>
                          <a:lnTo>
                            <a:pt x="75" y="30"/>
                          </a:lnTo>
                          <a:lnTo>
                            <a:pt x="19" y="30"/>
                          </a:lnTo>
                          <a:lnTo>
                            <a:pt x="11"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20" name="Freeform 2313"/>
                    <p:cNvSpPr>
                      <a:spLocks/>
                    </p:cNvSpPr>
                    <p:nvPr/>
                  </p:nvSpPr>
                  <p:spPr bwMode="auto">
                    <a:xfrm>
                      <a:off x="922" y="3688"/>
                      <a:ext cx="41" cy="13"/>
                    </a:xfrm>
                    <a:custGeom>
                      <a:avLst/>
                      <a:gdLst>
                        <a:gd name="T0" fmla="*/ 0 w 81"/>
                        <a:gd name="T1" fmla="*/ 0 h 38"/>
                        <a:gd name="T2" fmla="*/ 1 w 81"/>
                        <a:gd name="T3" fmla="*/ 0 h 38"/>
                        <a:gd name="T4" fmla="*/ 1 w 81"/>
                        <a:gd name="T5" fmla="*/ 0 h 38"/>
                        <a:gd name="T6" fmla="*/ 1 w 81"/>
                        <a:gd name="T7" fmla="*/ 0 h 38"/>
                        <a:gd name="T8" fmla="*/ 1 w 81"/>
                        <a:gd name="T9" fmla="*/ 0 h 38"/>
                        <a:gd name="T10" fmla="*/ 1 w 81"/>
                        <a:gd name="T11" fmla="*/ 0 h 38"/>
                        <a:gd name="T12" fmla="*/ 0 w 81"/>
                        <a:gd name="T13" fmla="*/ 0 h 38"/>
                        <a:gd name="T14" fmla="*/ 0 60000 65536"/>
                        <a:gd name="T15" fmla="*/ 0 60000 65536"/>
                        <a:gd name="T16" fmla="*/ 0 60000 65536"/>
                        <a:gd name="T17" fmla="*/ 0 60000 65536"/>
                        <a:gd name="T18" fmla="*/ 0 60000 65536"/>
                        <a:gd name="T19" fmla="*/ 0 60000 65536"/>
                        <a:gd name="T20" fmla="*/ 0 60000 65536"/>
                        <a:gd name="T21" fmla="*/ 0 w 81"/>
                        <a:gd name="T22" fmla="*/ 0 h 38"/>
                        <a:gd name="T23" fmla="*/ 81 w 81"/>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8">
                          <a:moveTo>
                            <a:pt x="0" y="38"/>
                          </a:moveTo>
                          <a:lnTo>
                            <a:pt x="2" y="21"/>
                          </a:lnTo>
                          <a:lnTo>
                            <a:pt x="8" y="8"/>
                          </a:lnTo>
                          <a:lnTo>
                            <a:pt x="12" y="0"/>
                          </a:lnTo>
                          <a:lnTo>
                            <a:pt x="68" y="0"/>
                          </a:lnTo>
                          <a:lnTo>
                            <a:pt x="81"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06" name="Group 2314"/>
                  <p:cNvGrpSpPr>
                    <a:grpSpLocks/>
                  </p:cNvGrpSpPr>
                  <p:nvPr/>
                </p:nvGrpSpPr>
                <p:grpSpPr bwMode="auto">
                  <a:xfrm>
                    <a:off x="928" y="3690"/>
                    <a:ext cx="48" cy="23"/>
                    <a:chOff x="928" y="3690"/>
                    <a:chExt cx="48" cy="23"/>
                  </a:xfrm>
                </p:grpSpPr>
                <p:sp>
                  <p:nvSpPr>
                    <p:cNvPr id="815" name="Freeform 2315"/>
                    <p:cNvSpPr>
                      <a:spLocks/>
                    </p:cNvSpPr>
                    <p:nvPr/>
                  </p:nvSpPr>
                  <p:spPr bwMode="auto">
                    <a:xfrm>
                      <a:off x="928" y="369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9"/>
                          </a:lnTo>
                          <a:lnTo>
                            <a:pt x="9" y="0"/>
                          </a:lnTo>
                          <a:lnTo>
                            <a:pt x="25" y="33"/>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16" name="Freeform 2316"/>
                    <p:cNvSpPr>
                      <a:spLocks/>
                    </p:cNvSpPr>
                    <p:nvPr/>
                  </p:nvSpPr>
                  <p:spPr bwMode="auto">
                    <a:xfrm>
                      <a:off x="932"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17" name="Freeform 2317"/>
                    <p:cNvSpPr>
                      <a:spLocks/>
                    </p:cNvSpPr>
                    <p:nvPr/>
                  </p:nvSpPr>
                  <p:spPr bwMode="auto">
                    <a:xfrm>
                      <a:off x="935" y="3701"/>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8" y="7"/>
                          </a:lnTo>
                          <a:lnTo>
                            <a:pt x="13"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07" name="Group 2318"/>
                  <p:cNvGrpSpPr>
                    <a:grpSpLocks/>
                  </p:cNvGrpSpPr>
                  <p:nvPr/>
                </p:nvGrpSpPr>
                <p:grpSpPr bwMode="auto">
                  <a:xfrm>
                    <a:off x="940" y="3703"/>
                    <a:ext cx="49" cy="23"/>
                    <a:chOff x="940" y="3703"/>
                    <a:chExt cx="49" cy="23"/>
                  </a:xfrm>
                </p:grpSpPr>
                <p:sp>
                  <p:nvSpPr>
                    <p:cNvPr id="812" name="Freeform 2319"/>
                    <p:cNvSpPr>
                      <a:spLocks/>
                    </p:cNvSpPr>
                    <p:nvPr/>
                  </p:nvSpPr>
                  <p:spPr bwMode="auto">
                    <a:xfrm>
                      <a:off x="940"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13" name="Freeform 2320"/>
                    <p:cNvSpPr>
                      <a:spLocks/>
                    </p:cNvSpPr>
                    <p:nvPr/>
                  </p:nvSpPr>
                  <p:spPr bwMode="auto">
                    <a:xfrm>
                      <a:off x="945" y="3703"/>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2" y="0"/>
                          </a:lnTo>
                          <a:lnTo>
                            <a:pt x="53" y="3"/>
                          </a:lnTo>
                          <a:lnTo>
                            <a:pt x="57" y="12"/>
                          </a:lnTo>
                          <a:lnTo>
                            <a:pt x="75"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14" name="Freeform 2321"/>
                    <p:cNvSpPr>
                      <a:spLocks/>
                    </p:cNvSpPr>
                    <p:nvPr/>
                  </p:nvSpPr>
                  <p:spPr bwMode="auto">
                    <a:xfrm>
                      <a:off x="948" y="3714"/>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08" name="Group 2322"/>
                  <p:cNvGrpSpPr>
                    <a:grpSpLocks/>
                  </p:cNvGrpSpPr>
                  <p:nvPr/>
                </p:nvGrpSpPr>
                <p:grpSpPr bwMode="auto">
                  <a:xfrm>
                    <a:off x="953" y="3716"/>
                    <a:ext cx="49" cy="23"/>
                    <a:chOff x="953" y="3716"/>
                    <a:chExt cx="49" cy="23"/>
                  </a:xfrm>
                </p:grpSpPr>
                <p:sp>
                  <p:nvSpPr>
                    <p:cNvPr id="809" name="Freeform 2323"/>
                    <p:cNvSpPr>
                      <a:spLocks/>
                    </p:cNvSpPr>
                    <p:nvPr/>
                  </p:nvSpPr>
                  <p:spPr bwMode="auto">
                    <a:xfrm>
                      <a:off x="953" y="3716"/>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10" name="Freeform 2324"/>
                    <p:cNvSpPr>
                      <a:spLocks/>
                    </p:cNvSpPr>
                    <p:nvPr/>
                  </p:nvSpPr>
                  <p:spPr bwMode="auto">
                    <a:xfrm>
                      <a:off x="958" y="3717"/>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3"/>
                          </a:lnTo>
                          <a:lnTo>
                            <a:pt x="56" y="11"/>
                          </a:lnTo>
                          <a:lnTo>
                            <a:pt x="75"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11" name="Freeform 2325"/>
                    <p:cNvSpPr>
                      <a:spLocks/>
                    </p:cNvSpPr>
                    <p:nvPr/>
                  </p:nvSpPr>
                  <p:spPr bwMode="auto">
                    <a:xfrm>
                      <a:off x="961" y="372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606" name="Group 2326"/>
                <p:cNvGrpSpPr>
                  <a:grpSpLocks/>
                </p:cNvGrpSpPr>
                <p:nvPr/>
              </p:nvGrpSpPr>
              <p:grpSpPr bwMode="auto">
                <a:xfrm>
                  <a:off x="963" y="3727"/>
                  <a:ext cx="49" cy="23"/>
                  <a:chOff x="963" y="3727"/>
                  <a:chExt cx="49" cy="23"/>
                </a:xfrm>
              </p:grpSpPr>
              <p:sp>
                <p:nvSpPr>
                  <p:cNvPr id="801" name="Freeform 2327"/>
                  <p:cNvSpPr>
                    <a:spLocks/>
                  </p:cNvSpPr>
                  <p:nvPr/>
                </p:nvSpPr>
                <p:spPr bwMode="auto">
                  <a:xfrm>
                    <a:off x="963" y="372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02" name="Freeform 2328"/>
                  <p:cNvSpPr>
                    <a:spLocks/>
                  </p:cNvSpPr>
                  <p:nvPr/>
                </p:nvSpPr>
                <p:spPr bwMode="auto">
                  <a:xfrm>
                    <a:off x="968"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8" y="0"/>
                        </a:lnTo>
                        <a:lnTo>
                          <a:pt x="50"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03" name="Freeform 2329"/>
                  <p:cNvSpPr>
                    <a:spLocks/>
                  </p:cNvSpPr>
                  <p:nvPr/>
                </p:nvSpPr>
                <p:spPr bwMode="auto">
                  <a:xfrm>
                    <a:off x="972" y="373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07" name="Group 2330"/>
                <p:cNvGrpSpPr>
                  <a:grpSpLocks/>
                </p:cNvGrpSpPr>
                <p:nvPr/>
              </p:nvGrpSpPr>
              <p:grpSpPr bwMode="auto">
                <a:xfrm>
                  <a:off x="976" y="3740"/>
                  <a:ext cx="50" cy="22"/>
                  <a:chOff x="976" y="3740"/>
                  <a:chExt cx="50" cy="22"/>
                </a:xfrm>
              </p:grpSpPr>
              <p:sp>
                <p:nvSpPr>
                  <p:cNvPr id="798" name="Freeform 2331"/>
                  <p:cNvSpPr>
                    <a:spLocks/>
                  </p:cNvSpPr>
                  <p:nvPr/>
                </p:nvSpPr>
                <p:spPr bwMode="auto">
                  <a:xfrm>
                    <a:off x="976" y="3740"/>
                    <a:ext cx="12" cy="22"/>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10" y="0"/>
                        </a:lnTo>
                        <a:lnTo>
                          <a:pt x="23"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99" name="Freeform 2332"/>
                  <p:cNvSpPr>
                    <a:spLocks/>
                  </p:cNvSpPr>
                  <p:nvPr/>
                </p:nvSpPr>
                <p:spPr bwMode="auto">
                  <a:xfrm>
                    <a:off x="980" y="374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4" y="0"/>
                        </a:moveTo>
                        <a:lnTo>
                          <a:pt x="52" y="0"/>
                        </a:lnTo>
                        <a:lnTo>
                          <a:pt x="53" y="4"/>
                        </a:lnTo>
                        <a:lnTo>
                          <a:pt x="60" y="13"/>
                        </a:lnTo>
                        <a:lnTo>
                          <a:pt x="75" y="31"/>
                        </a:lnTo>
                        <a:lnTo>
                          <a:pt x="19" y="31"/>
                        </a:lnTo>
                        <a:lnTo>
                          <a:pt x="12" y="22"/>
                        </a:lnTo>
                        <a:lnTo>
                          <a:pt x="0" y="7"/>
                        </a:lnTo>
                        <a:lnTo>
                          <a:pt x="4"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00" name="Freeform 2333"/>
                  <p:cNvSpPr>
                    <a:spLocks/>
                  </p:cNvSpPr>
                  <p:nvPr/>
                </p:nvSpPr>
                <p:spPr bwMode="auto">
                  <a:xfrm>
                    <a:off x="984" y="375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1"/>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08" name="Group 2334"/>
                <p:cNvGrpSpPr>
                  <a:grpSpLocks/>
                </p:cNvGrpSpPr>
                <p:nvPr/>
              </p:nvGrpSpPr>
              <p:grpSpPr bwMode="auto">
                <a:xfrm>
                  <a:off x="761" y="3560"/>
                  <a:ext cx="50" cy="22"/>
                  <a:chOff x="761" y="3560"/>
                  <a:chExt cx="50" cy="22"/>
                </a:xfrm>
              </p:grpSpPr>
              <p:sp>
                <p:nvSpPr>
                  <p:cNvPr id="795" name="Freeform 2335"/>
                  <p:cNvSpPr>
                    <a:spLocks/>
                  </p:cNvSpPr>
                  <p:nvPr/>
                </p:nvSpPr>
                <p:spPr bwMode="auto">
                  <a:xfrm>
                    <a:off x="761" y="356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96" name="Freeform 2336"/>
                  <p:cNvSpPr>
                    <a:spLocks/>
                  </p:cNvSpPr>
                  <p:nvPr/>
                </p:nvSpPr>
                <p:spPr bwMode="auto">
                  <a:xfrm>
                    <a:off x="767" y="3560"/>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9" y="0"/>
                        </a:lnTo>
                        <a:lnTo>
                          <a:pt x="50" y="2"/>
                        </a:lnTo>
                        <a:lnTo>
                          <a:pt x="55" y="11"/>
                        </a:lnTo>
                        <a:lnTo>
                          <a:pt x="73" y="29"/>
                        </a:lnTo>
                        <a:lnTo>
                          <a:pt x="17" y="29"/>
                        </a:lnTo>
                        <a:lnTo>
                          <a:pt x="8"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97" name="Freeform 2337"/>
                  <p:cNvSpPr>
                    <a:spLocks/>
                  </p:cNvSpPr>
                  <p:nvPr/>
                </p:nvSpPr>
                <p:spPr bwMode="auto">
                  <a:xfrm>
                    <a:off x="769" y="3571"/>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8"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09" name="Group 2338"/>
                <p:cNvGrpSpPr>
                  <a:grpSpLocks/>
                </p:cNvGrpSpPr>
                <p:nvPr/>
              </p:nvGrpSpPr>
              <p:grpSpPr bwMode="auto">
                <a:xfrm>
                  <a:off x="774" y="3572"/>
                  <a:ext cx="49" cy="23"/>
                  <a:chOff x="774" y="3572"/>
                  <a:chExt cx="49" cy="23"/>
                </a:xfrm>
              </p:grpSpPr>
              <p:sp>
                <p:nvSpPr>
                  <p:cNvPr id="792" name="Freeform 2339"/>
                  <p:cNvSpPr>
                    <a:spLocks/>
                  </p:cNvSpPr>
                  <p:nvPr/>
                </p:nvSpPr>
                <p:spPr bwMode="auto">
                  <a:xfrm>
                    <a:off x="774" y="3572"/>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5"/>
                        </a:lnTo>
                        <a:lnTo>
                          <a:pt x="9" y="0"/>
                        </a:lnTo>
                        <a:lnTo>
                          <a:pt x="25"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93" name="Freeform 2340"/>
                  <p:cNvSpPr>
                    <a:spLocks/>
                  </p:cNvSpPr>
                  <p:nvPr/>
                </p:nvSpPr>
                <p:spPr bwMode="auto">
                  <a:xfrm>
                    <a:off x="778" y="3573"/>
                    <a:ext cx="38" cy="9"/>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94" name="Freeform 2341"/>
                  <p:cNvSpPr>
                    <a:spLocks/>
                  </p:cNvSpPr>
                  <p:nvPr/>
                </p:nvSpPr>
                <p:spPr bwMode="auto">
                  <a:xfrm>
                    <a:off x="782" y="358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10" name="Group 2342"/>
                <p:cNvGrpSpPr>
                  <a:grpSpLocks/>
                </p:cNvGrpSpPr>
                <p:nvPr/>
              </p:nvGrpSpPr>
              <p:grpSpPr bwMode="auto">
                <a:xfrm>
                  <a:off x="787" y="3585"/>
                  <a:ext cx="49" cy="23"/>
                  <a:chOff x="787" y="3585"/>
                  <a:chExt cx="49" cy="23"/>
                </a:xfrm>
              </p:grpSpPr>
              <p:sp>
                <p:nvSpPr>
                  <p:cNvPr id="789" name="Freeform 2343"/>
                  <p:cNvSpPr>
                    <a:spLocks/>
                  </p:cNvSpPr>
                  <p:nvPr/>
                </p:nvSpPr>
                <p:spPr bwMode="auto">
                  <a:xfrm>
                    <a:off x="787" y="358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6"/>
                        </a:lnTo>
                        <a:lnTo>
                          <a:pt x="9"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90" name="Freeform 2344"/>
                  <p:cNvSpPr>
                    <a:spLocks/>
                  </p:cNvSpPr>
                  <p:nvPr/>
                </p:nvSpPr>
                <p:spPr bwMode="auto">
                  <a:xfrm>
                    <a:off x="792" y="3586"/>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2"/>
                        </a:lnTo>
                        <a:lnTo>
                          <a:pt x="55" y="11"/>
                        </a:lnTo>
                        <a:lnTo>
                          <a:pt x="74" y="29"/>
                        </a:lnTo>
                        <a:lnTo>
                          <a:pt x="19"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91" name="Freeform 2345"/>
                  <p:cNvSpPr>
                    <a:spLocks/>
                  </p:cNvSpPr>
                  <p:nvPr/>
                </p:nvSpPr>
                <p:spPr bwMode="auto">
                  <a:xfrm>
                    <a:off x="795" y="3596"/>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6"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11" name="Group 2346"/>
                <p:cNvGrpSpPr>
                  <a:grpSpLocks/>
                </p:cNvGrpSpPr>
                <p:nvPr/>
              </p:nvGrpSpPr>
              <p:grpSpPr bwMode="auto">
                <a:xfrm>
                  <a:off x="799" y="3600"/>
                  <a:ext cx="99" cy="73"/>
                  <a:chOff x="799" y="3600"/>
                  <a:chExt cx="99" cy="73"/>
                </a:xfrm>
              </p:grpSpPr>
              <p:grpSp>
                <p:nvGrpSpPr>
                  <p:cNvPr id="769" name="Group 2347"/>
                  <p:cNvGrpSpPr>
                    <a:grpSpLocks/>
                  </p:cNvGrpSpPr>
                  <p:nvPr/>
                </p:nvGrpSpPr>
                <p:grpSpPr bwMode="auto">
                  <a:xfrm>
                    <a:off x="799" y="3600"/>
                    <a:ext cx="48" cy="23"/>
                    <a:chOff x="799" y="3600"/>
                    <a:chExt cx="48" cy="23"/>
                  </a:xfrm>
                </p:grpSpPr>
                <p:sp>
                  <p:nvSpPr>
                    <p:cNvPr id="786" name="Freeform 2348"/>
                    <p:cNvSpPr>
                      <a:spLocks/>
                    </p:cNvSpPr>
                    <p:nvPr/>
                  </p:nvSpPr>
                  <p:spPr bwMode="auto">
                    <a:xfrm>
                      <a:off x="799" y="360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87" name="Freeform 2349"/>
                    <p:cNvSpPr>
                      <a:spLocks/>
                    </p:cNvSpPr>
                    <p:nvPr/>
                  </p:nvSpPr>
                  <p:spPr bwMode="auto">
                    <a:xfrm>
                      <a:off x="803" y="3600"/>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1"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88" name="Freeform 2350"/>
                    <p:cNvSpPr>
                      <a:spLocks/>
                    </p:cNvSpPr>
                    <p:nvPr/>
                  </p:nvSpPr>
                  <p:spPr bwMode="auto">
                    <a:xfrm>
                      <a:off x="807" y="3611"/>
                      <a:ext cx="40" cy="12"/>
                    </a:xfrm>
                    <a:custGeom>
                      <a:avLst/>
                      <a:gdLst>
                        <a:gd name="T0" fmla="*/ 0 w 82"/>
                        <a:gd name="T1" fmla="*/ 0 h 38"/>
                        <a:gd name="T2" fmla="*/ 0 w 82"/>
                        <a:gd name="T3" fmla="*/ 0 h 38"/>
                        <a:gd name="T4" fmla="*/ 0 w 82"/>
                        <a:gd name="T5" fmla="*/ 0 h 38"/>
                        <a:gd name="T6" fmla="*/ 0 w 82"/>
                        <a:gd name="T7" fmla="*/ 0 h 38"/>
                        <a:gd name="T8" fmla="*/ 0 w 82"/>
                        <a:gd name="T9" fmla="*/ 0 h 38"/>
                        <a:gd name="T10" fmla="*/ 0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7"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70" name="Group 2351"/>
                  <p:cNvGrpSpPr>
                    <a:grpSpLocks/>
                  </p:cNvGrpSpPr>
                  <p:nvPr/>
                </p:nvGrpSpPr>
                <p:grpSpPr bwMode="auto">
                  <a:xfrm>
                    <a:off x="811" y="3612"/>
                    <a:ext cx="48" cy="23"/>
                    <a:chOff x="811" y="3612"/>
                    <a:chExt cx="48" cy="23"/>
                  </a:xfrm>
                </p:grpSpPr>
                <p:sp>
                  <p:nvSpPr>
                    <p:cNvPr id="783" name="Freeform 2352"/>
                    <p:cNvSpPr>
                      <a:spLocks/>
                    </p:cNvSpPr>
                    <p:nvPr/>
                  </p:nvSpPr>
                  <p:spPr bwMode="auto">
                    <a:xfrm>
                      <a:off x="811"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11"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84" name="Freeform 2353"/>
                    <p:cNvSpPr>
                      <a:spLocks/>
                    </p:cNvSpPr>
                    <p:nvPr/>
                  </p:nvSpPr>
                  <p:spPr bwMode="auto">
                    <a:xfrm>
                      <a:off x="815" y="3613"/>
                      <a:ext cx="38" cy="10"/>
                    </a:xfrm>
                    <a:custGeom>
                      <a:avLst/>
                      <a:gdLst>
                        <a:gd name="T0" fmla="*/ 1 w 75"/>
                        <a:gd name="T1" fmla="*/ 0 h 32"/>
                        <a:gd name="T2" fmla="*/ 1 w 75"/>
                        <a:gd name="T3" fmla="*/ 0 h 32"/>
                        <a:gd name="T4" fmla="*/ 1 w 75"/>
                        <a:gd name="T5" fmla="*/ 0 h 32"/>
                        <a:gd name="T6" fmla="*/ 1 w 75"/>
                        <a:gd name="T7" fmla="*/ 0 h 32"/>
                        <a:gd name="T8" fmla="*/ 1 w 75"/>
                        <a:gd name="T9" fmla="*/ 0 h 32"/>
                        <a:gd name="T10" fmla="*/ 1 w 75"/>
                        <a:gd name="T11" fmla="*/ 0 h 32"/>
                        <a:gd name="T12" fmla="*/ 1 w 75"/>
                        <a:gd name="T13" fmla="*/ 0 h 32"/>
                        <a:gd name="T14" fmla="*/ 0 w 75"/>
                        <a:gd name="T15" fmla="*/ 0 h 32"/>
                        <a:gd name="T16" fmla="*/ 1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3" y="0"/>
                          </a:moveTo>
                          <a:lnTo>
                            <a:pt x="52" y="0"/>
                          </a:lnTo>
                          <a:lnTo>
                            <a:pt x="53" y="3"/>
                          </a:lnTo>
                          <a:lnTo>
                            <a:pt x="57" y="15"/>
                          </a:lnTo>
                          <a:lnTo>
                            <a:pt x="75" y="32"/>
                          </a:lnTo>
                          <a:lnTo>
                            <a:pt x="19" y="32"/>
                          </a:lnTo>
                          <a:lnTo>
                            <a:pt x="10"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85" name="Freeform 2354"/>
                    <p:cNvSpPr>
                      <a:spLocks/>
                    </p:cNvSpPr>
                    <p:nvPr/>
                  </p:nvSpPr>
                  <p:spPr bwMode="auto">
                    <a:xfrm>
                      <a:off x="819"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1"/>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71" name="Group 2355"/>
                  <p:cNvGrpSpPr>
                    <a:grpSpLocks/>
                  </p:cNvGrpSpPr>
                  <p:nvPr/>
                </p:nvGrpSpPr>
                <p:grpSpPr bwMode="auto">
                  <a:xfrm>
                    <a:off x="823" y="3625"/>
                    <a:ext cx="49" cy="23"/>
                    <a:chOff x="823" y="3625"/>
                    <a:chExt cx="49" cy="23"/>
                  </a:xfrm>
                </p:grpSpPr>
                <p:sp>
                  <p:nvSpPr>
                    <p:cNvPr id="780" name="Freeform 2356"/>
                    <p:cNvSpPr>
                      <a:spLocks/>
                    </p:cNvSpPr>
                    <p:nvPr/>
                  </p:nvSpPr>
                  <p:spPr bwMode="auto">
                    <a:xfrm>
                      <a:off x="823" y="362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81" name="Freeform 2357"/>
                    <p:cNvSpPr>
                      <a:spLocks/>
                    </p:cNvSpPr>
                    <p:nvPr/>
                  </p:nvSpPr>
                  <p:spPr bwMode="auto">
                    <a:xfrm>
                      <a:off x="828"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82" name="Freeform 2358"/>
                    <p:cNvSpPr>
                      <a:spLocks/>
                    </p:cNvSpPr>
                    <p:nvPr/>
                  </p:nvSpPr>
                  <p:spPr bwMode="auto">
                    <a:xfrm>
                      <a:off x="832" y="363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72" name="Group 2359"/>
                  <p:cNvGrpSpPr>
                    <a:grpSpLocks/>
                  </p:cNvGrpSpPr>
                  <p:nvPr/>
                </p:nvGrpSpPr>
                <p:grpSpPr bwMode="auto">
                  <a:xfrm>
                    <a:off x="836" y="3638"/>
                    <a:ext cx="50" cy="22"/>
                    <a:chOff x="836" y="3638"/>
                    <a:chExt cx="50" cy="22"/>
                  </a:xfrm>
                </p:grpSpPr>
                <p:sp>
                  <p:nvSpPr>
                    <p:cNvPr id="777" name="Freeform 2360"/>
                    <p:cNvSpPr>
                      <a:spLocks/>
                    </p:cNvSpPr>
                    <p:nvPr/>
                  </p:nvSpPr>
                  <p:spPr bwMode="auto">
                    <a:xfrm>
                      <a:off x="836"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78" name="Freeform 2361"/>
                    <p:cNvSpPr>
                      <a:spLocks/>
                    </p:cNvSpPr>
                    <p:nvPr/>
                  </p:nvSpPr>
                  <p:spPr bwMode="auto">
                    <a:xfrm>
                      <a:off x="842"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5" y="12"/>
                          </a:lnTo>
                          <a:lnTo>
                            <a:pt x="72" y="30"/>
                          </a:lnTo>
                          <a:lnTo>
                            <a:pt x="17" y="30"/>
                          </a:lnTo>
                          <a:lnTo>
                            <a:pt x="8"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79" name="Freeform 2362"/>
                    <p:cNvSpPr>
                      <a:spLocks/>
                    </p:cNvSpPr>
                    <p:nvPr/>
                  </p:nvSpPr>
                  <p:spPr bwMode="auto">
                    <a:xfrm>
                      <a:off x="844" y="3648"/>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73" name="Group 2363"/>
                  <p:cNvGrpSpPr>
                    <a:grpSpLocks/>
                  </p:cNvGrpSpPr>
                  <p:nvPr/>
                </p:nvGrpSpPr>
                <p:grpSpPr bwMode="auto">
                  <a:xfrm>
                    <a:off x="849" y="3651"/>
                    <a:ext cx="49" cy="22"/>
                    <a:chOff x="849" y="3651"/>
                    <a:chExt cx="49" cy="22"/>
                  </a:xfrm>
                </p:grpSpPr>
                <p:sp>
                  <p:nvSpPr>
                    <p:cNvPr id="774" name="Freeform 2364"/>
                    <p:cNvSpPr>
                      <a:spLocks/>
                    </p:cNvSpPr>
                    <p:nvPr/>
                  </p:nvSpPr>
                  <p:spPr bwMode="auto">
                    <a:xfrm>
                      <a:off x="849" y="3651"/>
                      <a:ext cx="12" cy="22"/>
                    </a:xfrm>
                    <a:custGeom>
                      <a:avLst/>
                      <a:gdLst>
                        <a:gd name="T0" fmla="*/ 0 w 25"/>
                        <a:gd name="T1" fmla="*/ 0 h 67"/>
                        <a:gd name="T2" fmla="*/ 0 w 25"/>
                        <a:gd name="T3" fmla="*/ 0 h 67"/>
                        <a:gd name="T4" fmla="*/ 0 w 25"/>
                        <a:gd name="T5" fmla="*/ 0 h 67"/>
                        <a:gd name="T6" fmla="*/ 0 w 25"/>
                        <a:gd name="T7" fmla="*/ 0 h 67"/>
                        <a:gd name="T8" fmla="*/ 0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5" y="67"/>
                          </a:moveTo>
                          <a:lnTo>
                            <a:pt x="0" y="26"/>
                          </a:lnTo>
                          <a:lnTo>
                            <a:pt x="10" y="0"/>
                          </a:lnTo>
                          <a:lnTo>
                            <a:pt x="25"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75" name="Freeform 2365"/>
                    <p:cNvSpPr>
                      <a:spLocks/>
                    </p:cNvSpPr>
                    <p:nvPr/>
                  </p:nvSpPr>
                  <p:spPr bwMode="auto">
                    <a:xfrm>
                      <a:off x="854"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7" y="11"/>
                          </a:lnTo>
                          <a:lnTo>
                            <a:pt x="74"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76" name="Freeform 2366"/>
                    <p:cNvSpPr>
                      <a:spLocks/>
                    </p:cNvSpPr>
                    <p:nvPr/>
                  </p:nvSpPr>
                  <p:spPr bwMode="auto">
                    <a:xfrm>
                      <a:off x="857" y="36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612" name="Group 2367"/>
                <p:cNvGrpSpPr>
                  <a:grpSpLocks/>
                </p:cNvGrpSpPr>
                <p:nvPr/>
              </p:nvGrpSpPr>
              <p:grpSpPr bwMode="auto">
                <a:xfrm>
                  <a:off x="861" y="3665"/>
                  <a:ext cx="99" cy="74"/>
                  <a:chOff x="861" y="3665"/>
                  <a:chExt cx="99" cy="74"/>
                </a:xfrm>
              </p:grpSpPr>
              <p:grpSp>
                <p:nvGrpSpPr>
                  <p:cNvPr id="749" name="Group 2368"/>
                  <p:cNvGrpSpPr>
                    <a:grpSpLocks/>
                  </p:cNvGrpSpPr>
                  <p:nvPr/>
                </p:nvGrpSpPr>
                <p:grpSpPr bwMode="auto">
                  <a:xfrm>
                    <a:off x="861" y="3665"/>
                    <a:ext cx="50" cy="23"/>
                    <a:chOff x="861" y="3665"/>
                    <a:chExt cx="50" cy="23"/>
                  </a:xfrm>
                </p:grpSpPr>
                <p:sp>
                  <p:nvSpPr>
                    <p:cNvPr id="766" name="Freeform 2369"/>
                    <p:cNvSpPr>
                      <a:spLocks/>
                    </p:cNvSpPr>
                    <p:nvPr/>
                  </p:nvSpPr>
                  <p:spPr bwMode="auto">
                    <a:xfrm>
                      <a:off x="861"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67" name="Freeform 2370"/>
                    <p:cNvSpPr>
                      <a:spLocks/>
                    </p:cNvSpPr>
                    <p:nvPr/>
                  </p:nvSpPr>
                  <p:spPr bwMode="auto">
                    <a:xfrm>
                      <a:off x="865" y="3666"/>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4"/>
                          </a:lnTo>
                          <a:lnTo>
                            <a:pt x="57" y="13"/>
                          </a:lnTo>
                          <a:lnTo>
                            <a:pt x="75" y="31"/>
                          </a:lnTo>
                          <a:lnTo>
                            <a:pt x="19" y="31"/>
                          </a:lnTo>
                          <a:lnTo>
                            <a:pt x="11"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68" name="Freeform 2371"/>
                    <p:cNvSpPr>
                      <a:spLocks/>
                    </p:cNvSpPr>
                    <p:nvPr/>
                  </p:nvSpPr>
                  <p:spPr bwMode="auto">
                    <a:xfrm>
                      <a:off x="869"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50" name="Group 2372"/>
                  <p:cNvGrpSpPr>
                    <a:grpSpLocks/>
                  </p:cNvGrpSpPr>
                  <p:nvPr/>
                </p:nvGrpSpPr>
                <p:grpSpPr bwMode="auto">
                  <a:xfrm>
                    <a:off x="873" y="3678"/>
                    <a:ext cx="49" cy="23"/>
                    <a:chOff x="873" y="3678"/>
                    <a:chExt cx="49" cy="23"/>
                  </a:xfrm>
                </p:grpSpPr>
                <p:sp>
                  <p:nvSpPr>
                    <p:cNvPr id="763" name="Freeform 2373"/>
                    <p:cNvSpPr>
                      <a:spLocks/>
                    </p:cNvSpPr>
                    <p:nvPr/>
                  </p:nvSpPr>
                  <p:spPr bwMode="auto">
                    <a:xfrm>
                      <a:off x="873"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7"/>
                          </a:lnTo>
                          <a:lnTo>
                            <a:pt x="9" y="0"/>
                          </a:lnTo>
                          <a:lnTo>
                            <a:pt x="25"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64" name="Freeform 2374"/>
                    <p:cNvSpPr>
                      <a:spLocks/>
                    </p:cNvSpPr>
                    <p:nvPr/>
                  </p:nvSpPr>
                  <p:spPr bwMode="auto">
                    <a:xfrm>
                      <a:off x="878" y="3678"/>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0" y="0"/>
                          </a:lnTo>
                          <a:lnTo>
                            <a:pt x="52" y="3"/>
                          </a:lnTo>
                          <a:lnTo>
                            <a:pt x="57" y="12"/>
                          </a:lnTo>
                          <a:lnTo>
                            <a:pt x="75"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65" name="Freeform 2375"/>
                    <p:cNvSpPr>
                      <a:spLocks/>
                    </p:cNvSpPr>
                    <p:nvPr/>
                  </p:nvSpPr>
                  <p:spPr bwMode="auto">
                    <a:xfrm>
                      <a:off x="880" y="3688"/>
                      <a:ext cx="42"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4" y="21"/>
                          </a:lnTo>
                          <a:lnTo>
                            <a:pt x="8" y="8"/>
                          </a:lnTo>
                          <a:lnTo>
                            <a:pt x="13"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51" name="Group 2376"/>
                  <p:cNvGrpSpPr>
                    <a:grpSpLocks/>
                  </p:cNvGrpSpPr>
                  <p:nvPr/>
                </p:nvGrpSpPr>
                <p:grpSpPr bwMode="auto">
                  <a:xfrm>
                    <a:off x="886" y="3690"/>
                    <a:ext cx="49" cy="23"/>
                    <a:chOff x="886" y="3690"/>
                    <a:chExt cx="49" cy="23"/>
                  </a:xfrm>
                </p:grpSpPr>
                <p:sp>
                  <p:nvSpPr>
                    <p:cNvPr id="760" name="Freeform 2377"/>
                    <p:cNvSpPr>
                      <a:spLocks/>
                    </p:cNvSpPr>
                    <p:nvPr/>
                  </p:nvSpPr>
                  <p:spPr bwMode="auto">
                    <a:xfrm>
                      <a:off x="886" y="3690"/>
                      <a:ext cx="12" cy="23"/>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4" y="70"/>
                          </a:moveTo>
                          <a:lnTo>
                            <a:pt x="0" y="29"/>
                          </a:lnTo>
                          <a:lnTo>
                            <a:pt x="10" y="0"/>
                          </a:lnTo>
                          <a:lnTo>
                            <a:pt x="24" y="33"/>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61" name="Freeform 2378"/>
                    <p:cNvSpPr>
                      <a:spLocks/>
                    </p:cNvSpPr>
                    <p:nvPr/>
                  </p:nvSpPr>
                  <p:spPr bwMode="auto">
                    <a:xfrm>
                      <a:off x="890"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2"/>
                          </a:lnTo>
                          <a:lnTo>
                            <a:pt x="57" y="11"/>
                          </a:lnTo>
                          <a:lnTo>
                            <a:pt x="75" y="31"/>
                          </a:lnTo>
                          <a:lnTo>
                            <a:pt x="19" y="31"/>
                          </a:lnTo>
                          <a:lnTo>
                            <a:pt x="10" y="22"/>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62" name="Freeform 2379"/>
                    <p:cNvSpPr>
                      <a:spLocks/>
                    </p:cNvSpPr>
                    <p:nvPr/>
                  </p:nvSpPr>
                  <p:spPr bwMode="auto">
                    <a:xfrm>
                      <a:off x="893" y="3701"/>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8" y="7"/>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52" name="Group 2380"/>
                  <p:cNvGrpSpPr>
                    <a:grpSpLocks/>
                  </p:cNvGrpSpPr>
                  <p:nvPr/>
                </p:nvGrpSpPr>
                <p:grpSpPr bwMode="auto">
                  <a:xfrm>
                    <a:off x="899" y="3703"/>
                    <a:ext cx="48" cy="23"/>
                    <a:chOff x="899" y="3703"/>
                    <a:chExt cx="48" cy="23"/>
                  </a:xfrm>
                </p:grpSpPr>
                <p:sp>
                  <p:nvSpPr>
                    <p:cNvPr id="757" name="Freeform 2381"/>
                    <p:cNvSpPr>
                      <a:spLocks/>
                    </p:cNvSpPr>
                    <p:nvPr/>
                  </p:nvSpPr>
                  <p:spPr bwMode="auto">
                    <a:xfrm>
                      <a:off x="899" y="3703"/>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10"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58" name="Freeform 2382"/>
                    <p:cNvSpPr>
                      <a:spLocks/>
                    </p:cNvSpPr>
                    <p:nvPr/>
                  </p:nvSpPr>
                  <p:spPr bwMode="auto">
                    <a:xfrm>
                      <a:off x="903" y="3703"/>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6" y="12"/>
                          </a:lnTo>
                          <a:lnTo>
                            <a:pt x="75"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59" name="Freeform 2383"/>
                    <p:cNvSpPr>
                      <a:spLocks/>
                    </p:cNvSpPr>
                    <p:nvPr/>
                  </p:nvSpPr>
                  <p:spPr bwMode="auto">
                    <a:xfrm>
                      <a:off x="907" y="3714"/>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5"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53" name="Group 2384"/>
                  <p:cNvGrpSpPr>
                    <a:grpSpLocks/>
                  </p:cNvGrpSpPr>
                  <p:nvPr/>
                </p:nvGrpSpPr>
                <p:grpSpPr bwMode="auto">
                  <a:xfrm>
                    <a:off x="912" y="3716"/>
                    <a:ext cx="48" cy="23"/>
                    <a:chOff x="912" y="3716"/>
                    <a:chExt cx="48" cy="23"/>
                  </a:xfrm>
                </p:grpSpPr>
                <p:sp>
                  <p:nvSpPr>
                    <p:cNvPr id="754" name="Freeform 2385"/>
                    <p:cNvSpPr>
                      <a:spLocks/>
                    </p:cNvSpPr>
                    <p:nvPr/>
                  </p:nvSpPr>
                  <p:spPr bwMode="auto">
                    <a:xfrm>
                      <a:off x="912" y="3716"/>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55" name="Freeform 2386"/>
                    <p:cNvSpPr>
                      <a:spLocks/>
                    </p:cNvSpPr>
                    <p:nvPr/>
                  </p:nvSpPr>
                  <p:spPr bwMode="auto">
                    <a:xfrm>
                      <a:off x="916" y="3717"/>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3"/>
                          </a:lnTo>
                          <a:lnTo>
                            <a:pt x="55" y="11"/>
                          </a:lnTo>
                          <a:lnTo>
                            <a:pt x="74" y="29"/>
                          </a:lnTo>
                          <a:lnTo>
                            <a:pt x="18" y="29"/>
                          </a:lnTo>
                          <a:lnTo>
                            <a:pt x="8"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56" name="Freeform 2387"/>
                    <p:cNvSpPr>
                      <a:spLocks/>
                    </p:cNvSpPr>
                    <p:nvPr/>
                  </p:nvSpPr>
                  <p:spPr bwMode="auto">
                    <a:xfrm>
                      <a:off x="919" y="3727"/>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1"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613" name="Group 2388"/>
                <p:cNvGrpSpPr>
                  <a:grpSpLocks/>
                </p:cNvGrpSpPr>
                <p:nvPr/>
              </p:nvGrpSpPr>
              <p:grpSpPr bwMode="auto">
                <a:xfrm>
                  <a:off x="922" y="3727"/>
                  <a:ext cx="49" cy="23"/>
                  <a:chOff x="922" y="3727"/>
                  <a:chExt cx="49" cy="23"/>
                </a:xfrm>
              </p:grpSpPr>
              <p:sp>
                <p:nvSpPr>
                  <p:cNvPr id="746" name="Freeform 2389"/>
                  <p:cNvSpPr>
                    <a:spLocks/>
                  </p:cNvSpPr>
                  <p:nvPr/>
                </p:nvSpPr>
                <p:spPr bwMode="auto">
                  <a:xfrm>
                    <a:off x="922" y="3727"/>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1"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47" name="Freeform 2390"/>
                  <p:cNvSpPr>
                    <a:spLocks/>
                  </p:cNvSpPr>
                  <p:nvPr/>
                </p:nvSpPr>
                <p:spPr bwMode="auto">
                  <a:xfrm>
                    <a:off x="927" y="3728"/>
                    <a:ext cx="36" cy="10"/>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49" y="0"/>
                        </a:lnTo>
                        <a:lnTo>
                          <a:pt x="50" y="4"/>
                        </a:lnTo>
                        <a:lnTo>
                          <a:pt x="56" y="13"/>
                        </a:lnTo>
                        <a:lnTo>
                          <a:pt x="72"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48" name="Freeform 2391"/>
                  <p:cNvSpPr>
                    <a:spLocks/>
                  </p:cNvSpPr>
                  <p:nvPr/>
                </p:nvSpPr>
                <p:spPr bwMode="auto">
                  <a:xfrm>
                    <a:off x="930"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14" name="Group 2392"/>
                <p:cNvGrpSpPr>
                  <a:grpSpLocks/>
                </p:cNvGrpSpPr>
                <p:nvPr/>
              </p:nvGrpSpPr>
              <p:grpSpPr bwMode="auto">
                <a:xfrm>
                  <a:off x="895" y="3526"/>
                  <a:ext cx="44" cy="23"/>
                  <a:chOff x="895" y="3526"/>
                  <a:chExt cx="44" cy="23"/>
                </a:xfrm>
              </p:grpSpPr>
              <p:sp>
                <p:nvSpPr>
                  <p:cNvPr id="743" name="Freeform 2393"/>
                  <p:cNvSpPr>
                    <a:spLocks/>
                  </p:cNvSpPr>
                  <p:nvPr/>
                </p:nvSpPr>
                <p:spPr bwMode="auto">
                  <a:xfrm>
                    <a:off x="895" y="3526"/>
                    <a:ext cx="19" cy="23"/>
                  </a:xfrm>
                  <a:custGeom>
                    <a:avLst/>
                    <a:gdLst>
                      <a:gd name="T0" fmla="*/ 1 w 38"/>
                      <a:gd name="T1" fmla="*/ 0 h 69"/>
                      <a:gd name="T2" fmla="*/ 0 w 38"/>
                      <a:gd name="T3" fmla="*/ 0 h 69"/>
                      <a:gd name="T4" fmla="*/ 1 w 38"/>
                      <a:gd name="T5" fmla="*/ 0 h 69"/>
                      <a:gd name="T6" fmla="*/ 1 w 38"/>
                      <a:gd name="T7" fmla="*/ 0 h 69"/>
                      <a:gd name="T8" fmla="*/ 1 w 38"/>
                      <a:gd name="T9" fmla="*/ 0 h 69"/>
                      <a:gd name="T10" fmla="*/ 0 60000 65536"/>
                      <a:gd name="T11" fmla="*/ 0 60000 65536"/>
                      <a:gd name="T12" fmla="*/ 0 60000 65536"/>
                      <a:gd name="T13" fmla="*/ 0 60000 65536"/>
                      <a:gd name="T14" fmla="*/ 0 60000 65536"/>
                      <a:gd name="T15" fmla="*/ 0 w 38"/>
                      <a:gd name="T16" fmla="*/ 0 h 69"/>
                      <a:gd name="T17" fmla="*/ 38 w 38"/>
                      <a:gd name="T18" fmla="*/ 69 h 69"/>
                    </a:gdLst>
                    <a:ahLst/>
                    <a:cxnLst>
                      <a:cxn ang="T10">
                        <a:pos x="T0" y="T1"/>
                      </a:cxn>
                      <a:cxn ang="T11">
                        <a:pos x="T2" y="T3"/>
                      </a:cxn>
                      <a:cxn ang="T12">
                        <a:pos x="T4" y="T5"/>
                      </a:cxn>
                      <a:cxn ang="T13">
                        <a:pos x="T6" y="T7"/>
                      </a:cxn>
                      <a:cxn ang="T14">
                        <a:pos x="T8" y="T9"/>
                      </a:cxn>
                    </a:cxnLst>
                    <a:rect l="T15" t="T16" r="T17" b="T18"/>
                    <a:pathLst>
                      <a:path w="38" h="69">
                        <a:moveTo>
                          <a:pt x="22" y="69"/>
                        </a:moveTo>
                        <a:lnTo>
                          <a:pt x="0" y="34"/>
                        </a:lnTo>
                        <a:lnTo>
                          <a:pt x="11" y="0"/>
                        </a:lnTo>
                        <a:lnTo>
                          <a:pt x="38"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44" name="Freeform 2394"/>
                  <p:cNvSpPr>
                    <a:spLocks/>
                  </p:cNvSpPr>
                  <p:nvPr/>
                </p:nvSpPr>
                <p:spPr bwMode="auto">
                  <a:xfrm>
                    <a:off x="901" y="3526"/>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0" y="0"/>
                        </a:lnTo>
                        <a:lnTo>
                          <a:pt x="64" y="35"/>
                        </a:lnTo>
                        <a:lnTo>
                          <a:pt x="23"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45" name="Freeform 2395"/>
                  <p:cNvSpPr>
                    <a:spLocks/>
                  </p:cNvSpPr>
                  <p:nvPr/>
                </p:nvSpPr>
                <p:spPr bwMode="auto">
                  <a:xfrm>
                    <a:off x="907" y="3538"/>
                    <a:ext cx="32" cy="11"/>
                  </a:xfrm>
                  <a:custGeom>
                    <a:avLst/>
                    <a:gdLst>
                      <a:gd name="T0" fmla="*/ 0 w 65"/>
                      <a:gd name="T1" fmla="*/ 0 h 31"/>
                      <a:gd name="T2" fmla="*/ 0 w 65"/>
                      <a:gd name="T3" fmla="*/ 0 h 31"/>
                      <a:gd name="T4" fmla="*/ 0 w 65"/>
                      <a:gd name="T5" fmla="*/ 0 h 31"/>
                      <a:gd name="T6" fmla="*/ 0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3" y="0"/>
                        </a:lnTo>
                        <a:lnTo>
                          <a:pt x="54"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15" name="Group 2396"/>
                <p:cNvGrpSpPr>
                  <a:grpSpLocks/>
                </p:cNvGrpSpPr>
                <p:nvPr/>
              </p:nvGrpSpPr>
              <p:grpSpPr bwMode="auto">
                <a:xfrm>
                  <a:off x="907" y="3540"/>
                  <a:ext cx="45" cy="22"/>
                  <a:chOff x="907" y="3540"/>
                  <a:chExt cx="45" cy="22"/>
                </a:xfrm>
              </p:grpSpPr>
              <p:sp>
                <p:nvSpPr>
                  <p:cNvPr id="740" name="Freeform 2397"/>
                  <p:cNvSpPr>
                    <a:spLocks/>
                  </p:cNvSpPr>
                  <p:nvPr/>
                </p:nvSpPr>
                <p:spPr bwMode="auto">
                  <a:xfrm>
                    <a:off x="907" y="3540"/>
                    <a:ext cx="20" cy="22"/>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4"/>
                        </a:lnTo>
                        <a:lnTo>
                          <a:pt x="11" y="0"/>
                        </a:lnTo>
                        <a:lnTo>
                          <a:pt x="39" y="34"/>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41" name="Freeform 2398"/>
                  <p:cNvSpPr>
                    <a:spLocks/>
                  </p:cNvSpPr>
                  <p:nvPr/>
                </p:nvSpPr>
                <p:spPr bwMode="auto">
                  <a:xfrm>
                    <a:off x="914" y="3540"/>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42" name="Freeform 2399"/>
                  <p:cNvSpPr>
                    <a:spLocks/>
                  </p:cNvSpPr>
                  <p:nvPr/>
                </p:nvSpPr>
                <p:spPr bwMode="auto">
                  <a:xfrm>
                    <a:off x="919" y="3552"/>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16" name="Group 2400"/>
                <p:cNvGrpSpPr>
                  <a:grpSpLocks/>
                </p:cNvGrpSpPr>
                <p:nvPr/>
              </p:nvGrpSpPr>
              <p:grpSpPr bwMode="auto">
                <a:xfrm>
                  <a:off x="920" y="3553"/>
                  <a:ext cx="45" cy="23"/>
                  <a:chOff x="920" y="3553"/>
                  <a:chExt cx="45" cy="23"/>
                </a:xfrm>
              </p:grpSpPr>
              <p:sp>
                <p:nvSpPr>
                  <p:cNvPr id="737" name="Freeform 2401"/>
                  <p:cNvSpPr>
                    <a:spLocks/>
                  </p:cNvSpPr>
                  <p:nvPr/>
                </p:nvSpPr>
                <p:spPr bwMode="auto">
                  <a:xfrm>
                    <a:off x="920" y="3553"/>
                    <a:ext cx="20" cy="23"/>
                  </a:xfrm>
                  <a:custGeom>
                    <a:avLst/>
                    <a:gdLst>
                      <a:gd name="T0" fmla="*/ 0 w 41"/>
                      <a:gd name="T1" fmla="*/ 0 h 68"/>
                      <a:gd name="T2" fmla="*/ 0 w 41"/>
                      <a:gd name="T3" fmla="*/ 0 h 68"/>
                      <a:gd name="T4" fmla="*/ 0 w 41"/>
                      <a:gd name="T5" fmla="*/ 0 h 68"/>
                      <a:gd name="T6" fmla="*/ 0 w 41"/>
                      <a:gd name="T7" fmla="*/ 0 h 68"/>
                      <a:gd name="T8" fmla="*/ 0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4"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38" name="Freeform 2402"/>
                  <p:cNvSpPr>
                    <a:spLocks/>
                  </p:cNvSpPr>
                  <p:nvPr/>
                </p:nvSpPr>
                <p:spPr bwMode="auto">
                  <a:xfrm>
                    <a:off x="927" y="3554"/>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39"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39" name="Freeform 2403"/>
                  <p:cNvSpPr>
                    <a:spLocks/>
                  </p:cNvSpPr>
                  <p:nvPr/>
                </p:nvSpPr>
                <p:spPr bwMode="auto">
                  <a:xfrm>
                    <a:off x="932" y="3566"/>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3"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17" name="Group 2404"/>
                <p:cNvGrpSpPr>
                  <a:grpSpLocks/>
                </p:cNvGrpSpPr>
                <p:nvPr/>
              </p:nvGrpSpPr>
              <p:grpSpPr bwMode="auto">
                <a:xfrm>
                  <a:off x="934" y="3566"/>
                  <a:ext cx="44" cy="23"/>
                  <a:chOff x="934" y="3566"/>
                  <a:chExt cx="44" cy="23"/>
                </a:xfrm>
              </p:grpSpPr>
              <p:sp>
                <p:nvSpPr>
                  <p:cNvPr id="734" name="Freeform 2405"/>
                  <p:cNvSpPr>
                    <a:spLocks/>
                  </p:cNvSpPr>
                  <p:nvPr/>
                </p:nvSpPr>
                <p:spPr bwMode="auto">
                  <a:xfrm>
                    <a:off x="934" y="356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2" y="68"/>
                        </a:moveTo>
                        <a:lnTo>
                          <a:pt x="0" y="33"/>
                        </a:lnTo>
                        <a:lnTo>
                          <a:pt x="12" y="0"/>
                        </a:lnTo>
                        <a:lnTo>
                          <a:pt x="40"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35" name="Freeform 2406"/>
                  <p:cNvSpPr>
                    <a:spLocks/>
                  </p:cNvSpPr>
                  <p:nvPr/>
                </p:nvSpPr>
                <p:spPr bwMode="auto">
                  <a:xfrm>
                    <a:off x="940" y="3567"/>
                    <a:ext cx="32" cy="11"/>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1"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36" name="Freeform 2407"/>
                  <p:cNvSpPr>
                    <a:spLocks/>
                  </p:cNvSpPr>
                  <p:nvPr/>
                </p:nvSpPr>
                <p:spPr bwMode="auto">
                  <a:xfrm>
                    <a:off x="945" y="3579"/>
                    <a:ext cx="33" cy="9"/>
                  </a:xfrm>
                  <a:custGeom>
                    <a:avLst/>
                    <a:gdLst>
                      <a:gd name="T0" fmla="*/ 0 w 65"/>
                      <a:gd name="T1" fmla="*/ 0 h 28"/>
                      <a:gd name="T2" fmla="*/ 1 w 65"/>
                      <a:gd name="T3" fmla="*/ 0 h 28"/>
                      <a:gd name="T4" fmla="*/ 1 w 65"/>
                      <a:gd name="T5" fmla="*/ 0 h 28"/>
                      <a:gd name="T6" fmla="*/ 1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3" y="0"/>
                        </a:lnTo>
                        <a:lnTo>
                          <a:pt x="54"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18" name="Group 2408"/>
                <p:cNvGrpSpPr>
                  <a:grpSpLocks/>
                </p:cNvGrpSpPr>
                <p:nvPr/>
              </p:nvGrpSpPr>
              <p:grpSpPr bwMode="auto">
                <a:xfrm>
                  <a:off x="949" y="3579"/>
                  <a:ext cx="83" cy="63"/>
                  <a:chOff x="949" y="3579"/>
                  <a:chExt cx="83" cy="63"/>
                </a:xfrm>
              </p:grpSpPr>
              <p:grpSp>
                <p:nvGrpSpPr>
                  <p:cNvPr id="718" name="Group 2409"/>
                  <p:cNvGrpSpPr>
                    <a:grpSpLocks/>
                  </p:cNvGrpSpPr>
                  <p:nvPr/>
                </p:nvGrpSpPr>
                <p:grpSpPr bwMode="auto">
                  <a:xfrm>
                    <a:off x="949" y="3579"/>
                    <a:ext cx="44" cy="23"/>
                    <a:chOff x="949" y="3579"/>
                    <a:chExt cx="44" cy="23"/>
                  </a:xfrm>
                </p:grpSpPr>
                <p:sp>
                  <p:nvSpPr>
                    <p:cNvPr id="731" name="Freeform 2410"/>
                    <p:cNvSpPr>
                      <a:spLocks/>
                    </p:cNvSpPr>
                    <p:nvPr/>
                  </p:nvSpPr>
                  <p:spPr bwMode="auto">
                    <a:xfrm>
                      <a:off x="949" y="3579"/>
                      <a:ext cx="19" cy="23"/>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2"/>
                          </a:lnTo>
                          <a:lnTo>
                            <a:pt x="11" y="0"/>
                          </a:lnTo>
                          <a:lnTo>
                            <a:pt x="38" y="32"/>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32" name="Freeform 2411"/>
                    <p:cNvSpPr>
                      <a:spLocks/>
                    </p:cNvSpPr>
                    <p:nvPr/>
                  </p:nvSpPr>
                  <p:spPr bwMode="auto">
                    <a:xfrm>
                      <a:off x="955" y="3579"/>
                      <a:ext cx="32" cy="11"/>
                    </a:xfrm>
                    <a:custGeom>
                      <a:avLst/>
                      <a:gdLst>
                        <a:gd name="T0" fmla="*/ 0 w 66"/>
                        <a:gd name="T1" fmla="*/ 0 h 32"/>
                        <a:gd name="T2" fmla="*/ 0 w 66"/>
                        <a:gd name="T3" fmla="*/ 0 h 32"/>
                        <a:gd name="T4" fmla="*/ 0 w 66"/>
                        <a:gd name="T5" fmla="*/ 0 h 32"/>
                        <a:gd name="T6" fmla="*/ 0 w 66"/>
                        <a:gd name="T7" fmla="*/ 0 h 32"/>
                        <a:gd name="T8" fmla="*/ 0 w 66"/>
                        <a:gd name="T9" fmla="*/ 0 h 32"/>
                        <a:gd name="T10" fmla="*/ 0 60000 65536"/>
                        <a:gd name="T11" fmla="*/ 0 60000 65536"/>
                        <a:gd name="T12" fmla="*/ 0 60000 65536"/>
                        <a:gd name="T13" fmla="*/ 0 60000 65536"/>
                        <a:gd name="T14" fmla="*/ 0 60000 65536"/>
                        <a:gd name="T15" fmla="*/ 0 w 66"/>
                        <a:gd name="T16" fmla="*/ 0 h 32"/>
                        <a:gd name="T17" fmla="*/ 66 w 66"/>
                        <a:gd name="T18" fmla="*/ 32 h 32"/>
                      </a:gdLst>
                      <a:ahLst/>
                      <a:cxnLst>
                        <a:cxn ang="T10">
                          <a:pos x="T0" y="T1"/>
                        </a:cxn>
                        <a:cxn ang="T11">
                          <a:pos x="T2" y="T3"/>
                        </a:cxn>
                        <a:cxn ang="T12">
                          <a:pos x="T4" y="T5"/>
                        </a:cxn>
                        <a:cxn ang="T13">
                          <a:pos x="T6" y="T7"/>
                        </a:cxn>
                        <a:cxn ang="T14">
                          <a:pos x="T8" y="T9"/>
                        </a:cxn>
                      </a:cxnLst>
                      <a:rect l="T15" t="T16" r="T17" b="T18"/>
                      <a:pathLst>
                        <a:path w="66" h="32">
                          <a:moveTo>
                            <a:pt x="0" y="0"/>
                          </a:moveTo>
                          <a:lnTo>
                            <a:pt x="42" y="0"/>
                          </a:lnTo>
                          <a:lnTo>
                            <a:pt x="66" y="32"/>
                          </a:lnTo>
                          <a:lnTo>
                            <a:pt x="25"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33" name="Freeform 2412"/>
                    <p:cNvSpPr>
                      <a:spLocks/>
                    </p:cNvSpPr>
                    <p:nvPr/>
                  </p:nvSpPr>
                  <p:spPr bwMode="auto">
                    <a:xfrm>
                      <a:off x="960" y="3591"/>
                      <a:ext cx="33" cy="10"/>
                    </a:xfrm>
                    <a:custGeom>
                      <a:avLst/>
                      <a:gdLst>
                        <a:gd name="T0" fmla="*/ 0 w 65"/>
                        <a:gd name="T1" fmla="*/ 0 h 31"/>
                        <a:gd name="T2" fmla="*/ 1 w 65"/>
                        <a:gd name="T3" fmla="*/ 0 h 31"/>
                        <a:gd name="T4" fmla="*/ 1 w 65"/>
                        <a:gd name="T5" fmla="*/ 0 h 31"/>
                        <a:gd name="T6" fmla="*/ 1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4" y="0"/>
                          </a:lnTo>
                          <a:lnTo>
                            <a:pt x="55"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19" name="Group 2413"/>
                  <p:cNvGrpSpPr>
                    <a:grpSpLocks/>
                  </p:cNvGrpSpPr>
                  <p:nvPr/>
                </p:nvGrpSpPr>
                <p:grpSpPr bwMode="auto">
                  <a:xfrm>
                    <a:off x="961" y="3592"/>
                    <a:ext cx="45" cy="23"/>
                    <a:chOff x="961" y="3592"/>
                    <a:chExt cx="45" cy="23"/>
                  </a:xfrm>
                </p:grpSpPr>
                <p:sp>
                  <p:nvSpPr>
                    <p:cNvPr id="728" name="Freeform 2414"/>
                    <p:cNvSpPr>
                      <a:spLocks/>
                    </p:cNvSpPr>
                    <p:nvPr/>
                  </p:nvSpPr>
                  <p:spPr bwMode="auto">
                    <a:xfrm>
                      <a:off x="961" y="3592"/>
                      <a:ext cx="20" cy="23"/>
                    </a:xfrm>
                    <a:custGeom>
                      <a:avLst/>
                      <a:gdLst>
                        <a:gd name="T0" fmla="*/ 1 w 40"/>
                        <a:gd name="T1" fmla="*/ 0 h 69"/>
                        <a:gd name="T2" fmla="*/ 0 w 40"/>
                        <a:gd name="T3" fmla="*/ 0 h 69"/>
                        <a:gd name="T4" fmla="*/ 1 w 40"/>
                        <a:gd name="T5" fmla="*/ 0 h 69"/>
                        <a:gd name="T6" fmla="*/ 1 w 40"/>
                        <a:gd name="T7" fmla="*/ 0 h 69"/>
                        <a:gd name="T8" fmla="*/ 1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3"/>
                          </a:lnTo>
                          <a:lnTo>
                            <a:pt x="12" y="0"/>
                          </a:lnTo>
                          <a:lnTo>
                            <a:pt x="40"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29" name="Freeform 2415"/>
                    <p:cNvSpPr>
                      <a:spLocks/>
                    </p:cNvSpPr>
                    <p:nvPr/>
                  </p:nvSpPr>
                  <p:spPr bwMode="auto">
                    <a:xfrm>
                      <a:off x="968" y="3593"/>
                      <a:ext cx="33" cy="11"/>
                    </a:xfrm>
                    <a:custGeom>
                      <a:avLst/>
                      <a:gdLst>
                        <a:gd name="T0" fmla="*/ 0 w 66"/>
                        <a:gd name="T1" fmla="*/ 0 h 35"/>
                        <a:gd name="T2" fmla="*/ 1 w 66"/>
                        <a:gd name="T3" fmla="*/ 0 h 35"/>
                        <a:gd name="T4" fmla="*/ 1 w 66"/>
                        <a:gd name="T5" fmla="*/ 0 h 35"/>
                        <a:gd name="T6" fmla="*/ 1 w 66"/>
                        <a:gd name="T7" fmla="*/ 0 h 35"/>
                        <a:gd name="T8" fmla="*/ 0 w 66"/>
                        <a:gd name="T9" fmla="*/ 0 h 35"/>
                        <a:gd name="T10" fmla="*/ 0 60000 65536"/>
                        <a:gd name="T11" fmla="*/ 0 60000 65536"/>
                        <a:gd name="T12" fmla="*/ 0 60000 65536"/>
                        <a:gd name="T13" fmla="*/ 0 60000 65536"/>
                        <a:gd name="T14" fmla="*/ 0 60000 65536"/>
                        <a:gd name="T15" fmla="*/ 0 w 66"/>
                        <a:gd name="T16" fmla="*/ 0 h 35"/>
                        <a:gd name="T17" fmla="*/ 66 w 66"/>
                        <a:gd name="T18" fmla="*/ 35 h 35"/>
                      </a:gdLst>
                      <a:ahLst/>
                      <a:cxnLst>
                        <a:cxn ang="T10">
                          <a:pos x="T0" y="T1"/>
                        </a:cxn>
                        <a:cxn ang="T11">
                          <a:pos x="T2" y="T3"/>
                        </a:cxn>
                        <a:cxn ang="T12">
                          <a:pos x="T4" y="T5"/>
                        </a:cxn>
                        <a:cxn ang="T13">
                          <a:pos x="T6" y="T7"/>
                        </a:cxn>
                        <a:cxn ang="T14">
                          <a:pos x="T8" y="T9"/>
                        </a:cxn>
                      </a:cxnLst>
                      <a:rect l="T15" t="T16" r="T17" b="T18"/>
                      <a:pathLst>
                        <a:path w="66" h="35">
                          <a:moveTo>
                            <a:pt x="0" y="0"/>
                          </a:moveTo>
                          <a:lnTo>
                            <a:pt x="41" y="0"/>
                          </a:lnTo>
                          <a:lnTo>
                            <a:pt x="66"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30" name="Freeform 2416"/>
                    <p:cNvSpPr>
                      <a:spLocks/>
                    </p:cNvSpPr>
                    <p:nvPr/>
                  </p:nvSpPr>
                  <p:spPr bwMode="auto">
                    <a:xfrm>
                      <a:off x="973" y="3605"/>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3" y="0"/>
                          </a:lnTo>
                          <a:lnTo>
                            <a:pt x="55"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20" name="Group 2417"/>
                  <p:cNvGrpSpPr>
                    <a:grpSpLocks/>
                  </p:cNvGrpSpPr>
                  <p:nvPr/>
                </p:nvGrpSpPr>
                <p:grpSpPr bwMode="auto">
                  <a:xfrm>
                    <a:off x="974" y="3606"/>
                    <a:ext cx="44" cy="23"/>
                    <a:chOff x="974" y="3606"/>
                    <a:chExt cx="44" cy="23"/>
                  </a:xfrm>
                </p:grpSpPr>
                <p:sp>
                  <p:nvSpPr>
                    <p:cNvPr id="725" name="Freeform 2418"/>
                    <p:cNvSpPr>
                      <a:spLocks/>
                    </p:cNvSpPr>
                    <p:nvPr/>
                  </p:nvSpPr>
                  <p:spPr bwMode="auto">
                    <a:xfrm>
                      <a:off x="974" y="360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5"/>
                          </a:lnTo>
                          <a:lnTo>
                            <a:pt x="12" y="0"/>
                          </a:lnTo>
                          <a:lnTo>
                            <a:pt x="40" y="35"/>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26" name="Freeform 2419"/>
                    <p:cNvSpPr>
                      <a:spLocks/>
                    </p:cNvSpPr>
                    <p:nvPr/>
                  </p:nvSpPr>
                  <p:spPr bwMode="auto">
                    <a:xfrm>
                      <a:off x="980" y="3606"/>
                      <a:ext cx="32" cy="12"/>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2"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27" name="Freeform 2420"/>
                    <p:cNvSpPr>
                      <a:spLocks/>
                    </p:cNvSpPr>
                    <p:nvPr/>
                  </p:nvSpPr>
                  <p:spPr bwMode="auto">
                    <a:xfrm>
                      <a:off x="986" y="3619"/>
                      <a:ext cx="32" cy="9"/>
                    </a:xfrm>
                    <a:custGeom>
                      <a:avLst/>
                      <a:gdLst>
                        <a:gd name="T0" fmla="*/ 0 w 65"/>
                        <a:gd name="T1" fmla="*/ 0 h 29"/>
                        <a:gd name="T2" fmla="*/ 0 w 65"/>
                        <a:gd name="T3" fmla="*/ 0 h 29"/>
                        <a:gd name="T4" fmla="*/ 0 w 65"/>
                        <a:gd name="T5" fmla="*/ 0 h 29"/>
                        <a:gd name="T6" fmla="*/ 0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2"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21" name="Group 2421"/>
                  <p:cNvGrpSpPr>
                    <a:grpSpLocks/>
                  </p:cNvGrpSpPr>
                  <p:nvPr/>
                </p:nvGrpSpPr>
                <p:grpSpPr bwMode="auto">
                  <a:xfrm>
                    <a:off x="987" y="3619"/>
                    <a:ext cx="45" cy="23"/>
                    <a:chOff x="987" y="3619"/>
                    <a:chExt cx="45" cy="23"/>
                  </a:xfrm>
                </p:grpSpPr>
                <p:sp>
                  <p:nvSpPr>
                    <p:cNvPr id="722" name="Freeform 2422"/>
                    <p:cNvSpPr>
                      <a:spLocks/>
                    </p:cNvSpPr>
                    <p:nvPr/>
                  </p:nvSpPr>
                  <p:spPr bwMode="auto">
                    <a:xfrm>
                      <a:off x="987" y="3619"/>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3"/>
                          </a:lnTo>
                          <a:lnTo>
                            <a:pt x="12" y="0"/>
                          </a:lnTo>
                          <a:lnTo>
                            <a:pt x="39"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23" name="Freeform 2423"/>
                    <p:cNvSpPr>
                      <a:spLocks/>
                    </p:cNvSpPr>
                    <p:nvPr/>
                  </p:nvSpPr>
                  <p:spPr bwMode="auto">
                    <a:xfrm>
                      <a:off x="994" y="3620"/>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5"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24" name="Freeform 2424"/>
                    <p:cNvSpPr>
                      <a:spLocks/>
                    </p:cNvSpPr>
                    <p:nvPr/>
                  </p:nvSpPr>
                  <p:spPr bwMode="auto">
                    <a:xfrm>
                      <a:off x="999" y="3632"/>
                      <a:ext cx="33" cy="9"/>
                    </a:xfrm>
                    <a:custGeom>
                      <a:avLst/>
                      <a:gdLst>
                        <a:gd name="T0" fmla="*/ 0 w 65"/>
                        <a:gd name="T1" fmla="*/ 0 h 29"/>
                        <a:gd name="T2" fmla="*/ 1 w 65"/>
                        <a:gd name="T3" fmla="*/ 0 h 29"/>
                        <a:gd name="T4" fmla="*/ 1 w 65"/>
                        <a:gd name="T5" fmla="*/ 0 h 29"/>
                        <a:gd name="T6" fmla="*/ 1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4"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619" name="Group 2425"/>
                <p:cNvGrpSpPr>
                  <a:grpSpLocks/>
                </p:cNvGrpSpPr>
                <p:nvPr/>
              </p:nvGrpSpPr>
              <p:grpSpPr bwMode="auto">
                <a:xfrm>
                  <a:off x="1002" y="3632"/>
                  <a:ext cx="83" cy="63"/>
                  <a:chOff x="1002" y="3632"/>
                  <a:chExt cx="83" cy="63"/>
                </a:xfrm>
              </p:grpSpPr>
              <p:grpSp>
                <p:nvGrpSpPr>
                  <p:cNvPr id="702" name="Group 2426"/>
                  <p:cNvGrpSpPr>
                    <a:grpSpLocks/>
                  </p:cNvGrpSpPr>
                  <p:nvPr/>
                </p:nvGrpSpPr>
                <p:grpSpPr bwMode="auto">
                  <a:xfrm>
                    <a:off x="1002" y="3632"/>
                    <a:ext cx="44" cy="22"/>
                    <a:chOff x="1002" y="3632"/>
                    <a:chExt cx="44" cy="22"/>
                  </a:xfrm>
                </p:grpSpPr>
                <p:sp>
                  <p:nvSpPr>
                    <p:cNvPr id="715" name="Freeform 2427"/>
                    <p:cNvSpPr>
                      <a:spLocks/>
                    </p:cNvSpPr>
                    <p:nvPr/>
                  </p:nvSpPr>
                  <p:spPr bwMode="auto">
                    <a:xfrm>
                      <a:off x="1002" y="3632"/>
                      <a:ext cx="19" cy="22"/>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3"/>
                          </a:lnTo>
                          <a:lnTo>
                            <a:pt x="10" y="0"/>
                          </a:lnTo>
                          <a:lnTo>
                            <a:pt x="38" y="33"/>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16" name="Freeform 2428"/>
                    <p:cNvSpPr>
                      <a:spLocks/>
                    </p:cNvSpPr>
                    <p:nvPr/>
                  </p:nvSpPr>
                  <p:spPr bwMode="auto">
                    <a:xfrm>
                      <a:off x="1008" y="3632"/>
                      <a:ext cx="33" cy="12"/>
                    </a:xfrm>
                    <a:custGeom>
                      <a:avLst/>
                      <a:gdLst>
                        <a:gd name="T0" fmla="*/ 0 w 65"/>
                        <a:gd name="T1" fmla="*/ 0 h 35"/>
                        <a:gd name="T2" fmla="*/ 1 w 65"/>
                        <a:gd name="T3" fmla="*/ 0 h 35"/>
                        <a:gd name="T4" fmla="*/ 1 w 65"/>
                        <a:gd name="T5" fmla="*/ 0 h 35"/>
                        <a:gd name="T6" fmla="*/ 1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0"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17" name="Freeform 2429"/>
                    <p:cNvSpPr>
                      <a:spLocks/>
                    </p:cNvSpPr>
                    <p:nvPr/>
                  </p:nvSpPr>
                  <p:spPr bwMode="auto">
                    <a:xfrm>
                      <a:off x="1013" y="3644"/>
                      <a:ext cx="33" cy="10"/>
                    </a:xfrm>
                    <a:custGeom>
                      <a:avLst/>
                      <a:gdLst>
                        <a:gd name="T0" fmla="*/ 0 w 66"/>
                        <a:gd name="T1" fmla="*/ 0 h 28"/>
                        <a:gd name="T2" fmla="*/ 1 w 66"/>
                        <a:gd name="T3" fmla="*/ 0 h 28"/>
                        <a:gd name="T4" fmla="*/ 1 w 66"/>
                        <a:gd name="T5" fmla="*/ 0 h 28"/>
                        <a:gd name="T6" fmla="*/ 1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3" y="0"/>
                          </a:lnTo>
                          <a:lnTo>
                            <a:pt x="55"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03" name="Group 2430"/>
                  <p:cNvGrpSpPr>
                    <a:grpSpLocks/>
                  </p:cNvGrpSpPr>
                  <p:nvPr/>
                </p:nvGrpSpPr>
                <p:grpSpPr bwMode="auto">
                  <a:xfrm>
                    <a:off x="1014" y="3645"/>
                    <a:ext cx="44" cy="23"/>
                    <a:chOff x="1014" y="3645"/>
                    <a:chExt cx="44" cy="23"/>
                  </a:xfrm>
                </p:grpSpPr>
                <p:sp>
                  <p:nvSpPr>
                    <p:cNvPr id="712" name="Freeform 2431"/>
                    <p:cNvSpPr>
                      <a:spLocks/>
                    </p:cNvSpPr>
                    <p:nvPr/>
                  </p:nvSpPr>
                  <p:spPr bwMode="auto">
                    <a:xfrm>
                      <a:off x="1014" y="3645"/>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4"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13" name="Freeform 2432"/>
                    <p:cNvSpPr>
                      <a:spLocks/>
                    </p:cNvSpPr>
                    <p:nvPr/>
                  </p:nvSpPr>
                  <p:spPr bwMode="auto">
                    <a:xfrm>
                      <a:off x="1021" y="3646"/>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41"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14" name="Freeform 2433"/>
                    <p:cNvSpPr>
                      <a:spLocks/>
                    </p:cNvSpPr>
                    <p:nvPr/>
                  </p:nvSpPr>
                  <p:spPr bwMode="auto">
                    <a:xfrm>
                      <a:off x="1026" y="3658"/>
                      <a:ext cx="32" cy="10"/>
                    </a:xfrm>
                    <a:custGeom>
                      <a:avLst/>
                      <a:gdLst>
                        <a:gd name="T0" fmla="*/ 0 w 65"/>
                        <a:gd name="T1" fmla="*/ 0 h 30"/>
                        <a:gd name="T2" fmla="*/ 0 w 65"/>
                        <a:gd name="T3" fmla="*/ 0 h 30"/>
                        <a:gd name="T4" fmla="*/ 0 w 65"/>
                        <a:gd name="T5" fmla="*/ 0 h 30"/>
                        <a:gd name="T6" fmla="*/ 0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2"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04" name="Group 2434"/>
                  <p:cNvGrpSpPr>
                    <a:grpSpLocks/>
                  </p:cNvGrpSpPr>
                  <p:nvPr/>
                </p:nvGrpSpPr>
                <p:grpSpPr bwMode="auto">
                  <a:xfrm>
                    <a:off x="1027" y="3659"/>
                    <a:ext cx="45" cy="23"/>
                    <a:chOff x="1027" y="3659"/>
                    <a:chExt cx="45" cy="23"/>
                  </a:xfrm>
                </p:grpSpPr>
                <p:sp>
                  <p:nvSpPr>
                    <p:cNvPr id="709" name="Freeform 2435"/>
                    <p:cNvSpPr>
                      <a:spLocks/>
                    </p:cNvSpPr>
                    <p:nvPr/>
                  </p:nvSpPr>
                  <p:spPr bwMode="auto">
                    <a:xfrm>
                      <a:off x="1027" y="3659"/>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2" y="70"/>
                          </a:moveTo>
                          <a:lnTo>
                            <a:pt x="0" y="34"/>
                          </a:lnTo>
                          <a:lnTo>
                            <a:pt x="12" y="0"/>
                          </a:lnTo>
                          <a:lnTo>
                            <a:pt x="39" y="34"/>
                          </a:lnTo>
                          <a:lnTo>
                            <a:pt x="22"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10" name="Freeform 2436"/>
                    <p:cNvSpPr>
                      <a:spLocks/>
                    </p:cNvSpPr>
                    <p:nvPr/>
                  </p:nvSpPr>
                  <p:spPr bwMode="auto">
                    <a:xfrm>
                      <a:off x="1033" y="3659"/>
                      <a:ext cx="33"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11" name="Freeform 2437"/>
                    <p:cNvSpPr>
                      <a:spLocks/>
                    </p:cNvSpPr>
                    <p:nvPr/>
                  </p:nvSpPr>
                  <p:spPr bwMode="auto">
                    <a:xfrm>
                      <a:off x="1039" y="3671"/>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05" name="Group 2438"/>
                  <p:cNvGrpSpPr>
                    <a:grpSpLocks/>
                  </p:cNvGrpSpPr>
                  <p:nvPr/>
                </p:nvGrpSpPr>
                <p:grpSpPr bwMode="auto">
                  <a:xfrm>
                    <a:off x="1040" y="3672"/>
                    <a:ext cx="45" cy="23"/>
                    <a:chOff x="1040" y="3672"/>
                    <a:chExt cx="45" cy="23"/>
                  </a:xfrm>
                </p:grpSpPr>
                <p:sp>
                  <p:nvSpPr>
                    <p:cNvPr id="706" name="Freeform 2439"/>
                    <p:cNvSpPr>
                      <a:spLocks/>
                    </p:cNvSpPr>
                    <p:nvPr/>
                  </p:nvSpPr>
                  <p:spPr bwMode="auto">
                    <a:xfrm>
                      <a:off x="1040" y="3672"/>
                      <a:ext cx="20" cy="23"/>
                    </a:xfrm>
                    <a:custGeom>
                      <a:avLst/>
                      <a:gdLst>
                        <a:gd name="T0" fmla="*/ 0 w 41"/>
                        <a:gd name="T1" fmla="*/ 0 h 70"/>
                        <a:gd name="T2" fmla="*/ 0 w 41"/>
                        <a:gd name="T3" fmla="*/ 0 h 70"/>
                        <a:gd name="T4" fmla="*/ 0 w 41"/>
                        <a:gd name="T5" fmla="*/ 0 h 70"/>
                        <a:gd name="T6" fmla="*/ 0 w 41"/>
                        <a:gd name="T7" fmla="*/ 0 h 70"/>
                        <a:gd name="T8" fmla="*/ 0 w 41"/>
                        <a:gd name="T9" fmla="*/ 0 h 70"/>
                        <a:gd name="T10" fmla="*/ 0 60000 65536"/>
                        <a:gd name="T11" fmla="*/ 0 60000 65536"/>
                        <a:gd name="T12" fmla="*/ 0 60000 65536"/>
                        <a:gd name="T13" fmla="*/ 0 60000 65536"/>
                        <a:gd name="T14" fmla="*/ 0 60000 65536"/>
                        <a:gd name="T15" fmla="*/ 0 w 41"/>
                        <a:gd name="T16" fmla="*/ 0 h 70"/>
                        <a:gd name="T17" fmla="*/ 41 w 41"/>
                        <a:gd name="T18" fmla="*/ 70 h 70"/>
                      </a:gdLst>
                      <a:ahLst/>
                      <a:cxnLst>
                        <a:cxn ang="T10">
                          <a:pos x="T0" y="T1"/>
                        </a:cxn>
                        <a:cxn ang="T11">
                          <a:pos x="T2" y="T3"/>
                        </a:cxn>
                        <a:cxn ang="T12">
                          <a:pos x="T4" y="T5"/>
                        </a:cxn>
                        <a:cxn ang="T13">
                          <a:pos x="T6" y="T7"/>
                        </a:cxn>
                        <a:cxn ang="T14">
                          <a:pos x="T8" y="T9"/>
                        </a:cxn>
                      </a:cxnLst>
                      <a:rect l="T15" t="T16" r="T17" b="T18"/>
                      <a:pathLst>
                        <a:path w="41" h="70">
                          <a:moveTo>
                            <a:pt x="24" y="70"/>
                          </a:moveTo>
                          <a:lnTo>
                            <a:pt x="0" y="35"/>
                          </a:lnTo>
                          <a:lnTo>
                            <a:pt x="13" y="0"/>
                          </a:lnTo>
                          <a:lnTo>
                            <a:pt x="41" y="35"/>
                          </a:lnTo>
                          <a:lnTo>
                            <a:pt x="24"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07" name="Freeform 2440"/>
                    <p:cNvSpPr>
                      <a:spLocks/>
                    </p:cNvSpPr>
                    <p:nvPr/>
                  </p:nvSpPr>
                  <p:spPr bwMode="auto">
                    <a:xfrm>
                      <a:off x="1047" y="3672"/>
                      <a:ext cx="32" cy="12"/>
                    </a:xfrm>
                    <a:custGeom>
                      <a:avLst/>
                      <a:gdLst>
                        <a:gd name="T0" fmla="*/ 0 w 65"/>
                        <a:gd name="T1" fmla="*/ 0 h 34"/>
                        <a:gd name="T2" fmla="*/ 0 w 65"/>
                        <a:gd name="T3" fmla="*/ 0 h 34"/>
                        <a:gd name="T4" fmla="*/ 0 w 65"/>
                        <a:gd name="T5" fmla="*/ 0 h 34"/>
                        <a:gd name="T6" fmla="*/ 0 w 65"/>
                        <a:gd name="T7" fmla="*/ 0 h 34"/>
                        <a:gd name="T8" fmla="*/ 0 w 65"/>
                        <a:gd name="T9" fmla="*/ 0 h 34"/>
                        <a:gd name="T10" fmla="*/ 0 60000 65536"/>
                        <a:gd name="T11" fmla="*/ 0 60000 65536"/>
                        <a:gd name="T12" fmla="*/ 0 60000 65536"/>
                        <a:gd name="T13" fmla="*/ 0 60000 65536"/>
                        <a:gd name="T14" fmla="*/ 0 60000 65536"/>
                        <a:gd name="T15" fmla="*/ 0 w 65"/>
                        <a:gd name="T16" fmla="*/ 0 h 34"/>
                        <a:gd name="T17" fmla="*/ 65 w 65"/>
                        <a:gd name="T18" fmla="*/ 34 h 34"/>
                      </a:gdLst>
                      <a:ahLst/>
                      <a:cxnLst>
                        <a:cxn ang="T10">
                          <a:pos x="T0" y="T1"/>
                        </a:cxn>
                        <a:cxn ang="T11">
                          <a:pos x="T2" y="T3"/>
                        </a:cxn>
                        <a:cxn ang="T12">
                          <a:pos x="T4" y="T5"/>
                        </a:cxn>
                        <a:cxn ang="T13">
                          <a:pos x="T6" y="T7"/>
                        </a:cxn>
                        <a:cxn ang="T14">
                          <a:pos x="T8" y="T9"/>
                        </a:cxn>
                      </a:cxnLst>
                      <a:rect l="T15" t="T16" r="T17" b="T18"/>
                      <a:pathLst>
                        <a:path w="65" h="34">
                          <a:moveTo>
                            <a:pt x="0" y="0"/>
                          </a:moveTo>
                          <a:lnTo>
                            <a:pt x="41" y="0"/>
                          </a:lnTo>
                          <a:lnTo>
                            <a:pt x="65" y="34"/>
                          </a:lnTo>
                          <a:lnTo>
                            <a:pt x="2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08" name="Freeform 2441"/>
                    <p:cNvSpPr>
                      <a:spLocks/>
                    </p:cNvSpPr>
                    <p:nvPr/>
                  </p:nvSpPr>
                  <p:spPr bwMode="auto">
                    <a:xfrm>
                      <a:off x="1053" y="3685"/>
                      <a:ext cx="32" cy="9"/>
                    </a:xfrm>
                    <a:custGeom>
                      <a:avLst/>
                      <a:gdLst>
                        <a:gd name="T0" fmla="*/ 0 w 66"/>
                        <a:gd name="T1" fmla="*/ 0 h 28"/>
                        <a:gd name="T2" fmla="*/ 0 w 66"/>
                        <a:gd name="T3" fmla="*/ 0 h 28"/>
                        <a:gd name="T4" fmla="*/ 0 w 66"/>
                        <a:gd name="T5" fmla="*/ 0 h 28"/>
                        <a:gd name="T6" fmla="*/ 0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2" y="0"/>
                          </a:lnTo>
                          <a:lnTo>
                            <a:pt x="54"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620" name="Group 2442"/>
                <p:cNvGrpSpPr>
                  <a:grpSpLocks/>
                </p:cNvGrpSpPr>
                <p:nvPr/>
              </p:nvGrpSpPr>
              <p:grpSpPr bwMode="auto">
                <a:xfrm>
                  <a:off x="1054" y="3685"/>
                  <a:ext cx="45" cy="23"/>
                  <a:chOff x="1054" y="3685"/>
                  <a:chExt cx="45" cy="23"/>
                </a:xfrm>
              </p:grpSpPr>
              <p:sp>
                <p:nvSpPr>
                  <p:cNvPr id="699" name="Freeform 2443"/>
                  <p:cNvSpPr>
                    <a:spLocks/>
                  </p:cNvSpPr>
                  <p:nvPr/>
                </p:nvSpPr>
                <p:spPr bwMode="auto">
                  <a:xfrm>
                    <a:off x="1054" y="3685"/>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3" y="70"/>
                        </a:moveTo>
                        <a:lnTo>
                          <a:pt x="0" y="34"/>
                        </a:lnTo>
                        <a:lnTo>
                          <a:pt x="13" y="0"/>
                        </a:lnTo>
                        <a:lnTo>
                          <a:pt x="39" y="34"/>
                        </a:lnTo>
                        <a:lnTo>
                          <a:pt x="23"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00" name="Freeform 2444"/>
                  <p:cNvSpPr>
                    <a:spLocks/>
                  </p:cNvSpPr>
                  <p:nvPr/>
                </p:nvSpPr>
                <p:spPr bwMode="auto">
                  <a:xfrm>
                    <a:off x="1061" y="3685"/>
                    <a:ext cx="32" cy="12"/>
                  </a:xfrm>
                  <a:custGeom>
                    <a:avLst/>
                    <a:gdLst>
                      <a:gd name="T0" fmla="*/ 0 w 63"/>
                      <a:gd name="T1" fmla="*/ 0 h 35"/>
                      <a:gd name="T2" fmla="*/ 1 w 63"/>
                      <a:gd name="T3" fmla="*/ 0 h 35"/>
                      <a:gd name="T4" fmla="*/ 1 w 63"/>
                      <a:gd name="T5" fmla="*/ 0 h 35"/>
                      <a:gd name="T6" fmla="*/ 1 w 63"/>
                      <a:gd name="T7" fmla="*/ 0 h 35"/>
                      <a:gd name="T8" fmla="*/ 0 w 63"/>
                      <a:gd name="T9" fmla="*/ 0 h 35"/>
                      <a:gd name="T10" fmla="*/ 0 60000 65536"/>
                      <a:gd name="T11" fmla="*/ 0 60000 65536"/>
                      <a:gd name="T12" fmla="*/ 0 60000 65536"/>
                      <a:gd name="T13" fmla="*/ 0 60000 65536"/>
                      <a:gd name="T14" fmla="*/ 0 60000 65536"/>
                      <a:gd name="T15" fmla="*/ 0 w 63"/>
                      <a:gd name="T16" fmla="*/ 0 h 35"/>
                      <a:gd name="T17" fmla="*/ 63 w 63"/>
                      <a:gd name="T18" fmla="*/ 35 h 35"/>
                    </a:gdLst>
                    <a:ahLst/>
                    <a:cxnLst>
                      <a:cxn ang="T10">
                        <a:pos x="T0" y="T1"/>
                      </a:cxn>
                      <a:cxn ang="T11">
                        <a:pos x="T2" y="T3"/>
                      </a:cxn>
                      <a:cxn ang="T12">
                        <a:pos x="T4" y="T5"/>
                      </a:cxn>
                      <a:cxn ang="T13">
                        <a:pos x="T6" y="T7"/>
                      </a:cxn>
                      <a:cxn ang="T14">
                        <a:pos x="T8" y="T9"/>
                      </a:cxn>
                    </a:cxnLst>
                    <a:rect l="T15" t="T16" r="T17" b="T18"/>
                    <a:pathLst>
                      <a:path w="63" h="35">
                        <a:moveTo>
                          <a:pt x="0" y="0"/>
                        </a:moveTo>
                        <a:lnTo>
                          <a:pt x="41" y="0"/>
                        </a:lnTo>
                        <a:lnTo>
                          <a:pt x="63"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01" name="Freeform 2445"/>
                  <p:cNvSpPr>
                    <a:spLocks/>
                  </p:cNvSpPr>
                  <p:nvPr/>
                </p:nvSpPr>
                <p:spPr bwMode="auto">
                  <a:xfrm>
                    <a:off x="1066" y="3697"/>
                    <a:ext cx="33" cy="10"/>
                  </a:xfrm>
                  <a:custGeom>
                    <a:avLst/>
                    <a:gdLst>
                      <a:gd name="T0" fmla="*/ 0 w 64"/>
                      <a:gd name="T1" fmla="*/ 0 h 30"/>
                      <a:gd name="T2" fmla="*/ 1 w 64"/>
                      <a:gd name="T3" fmla="*/ 0 h 30"/>
                      <a:gd name="T4" fmla="*/ 1 w 64"/>
                      <a:gd name="T5" fmla="*/ 0 h 30"/>
                      <a:gd name="T6" fmla="*/ 1 w 64"/>
                      <a:gd name="T7" fmla="*/ 0 h 30"/>
                      <a:gd name="T8" fmla="*/ 0 w 64"/>
                      <a:gd name="T9" fmla="*/ 0 h 30"/>
                      <a:gd name="T10" fmla="*/ 0 60000 65536"/>
                      <a:gd name="T11" fmla="*/ 0 60000 65536"/>
                      <a:gd name="T12" fmla="*/ 0 60000 65536"/>
                      <a:gd name="T13" fmla="*/ 0 60000 65536"/>
                      <a:gd name="T14" fmla="*/ 0 60000 65536"/>
                      <a:gd name="T15" fmla="*/ 0 w 64"/>
                      <a:gd name="T16" fmla="*/ 0 h 30"/>
                      <a:gd name="T17" fmla="*/ 64 w 64"/>
                      <a:gd name="T18" fmla="*/ 30 h 30"/>
                    </a:gdLst>
                    <a:ahLst/>
                    <a:cxnLst>
                      <a:cxn ang="T10">
                        <a:pos x="T0" y="T1"/>
                      </a:cxn>
                      <a:cxn ang="T11">
                        <a:pos x="T2" y="T3"/>
                      </a:cxn>
                      <a:cxn ang="T12">
                        <a:pos x="T4" y="T5"/>
                      </a:cxn>
                      <a:cxn ang="T13">
                        <a:pos x="T6" y="T7"/>
                      </a:cxn>
                      <a:cxn ang="T14">
                        <a:pos x="T8" y="T9"/>
                      </a:cxn>
                    </a:cxnLst>
                    <a:rect l="T15" t="T16" r="T17" b="T18"/>
                    <a:pathLst>
                      <a:path w="64" h="30">
                        <a:moveTo>
                          <a:pt x="0" y="30"/>
                        </a:moveTo>
                        <a:lnTo>
                          <a:pt x="13" y="0"/>
                        </a:lnTo>
                        <a:lnTo>
                          <a:pt x="52" y="0"/>
                        </a:lnTo>
                        <a:lnTo>
                          <a:pt x="64"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21" name="Group 2446"/>
                <p:cNvGrpSpPr>
                  <a:grpSpLocks/>
                </p:cNvGrpSpPr>
                <p:nvPr/>
              </p:nvGrpSpPr>
              <p:grpSpPr bwMode="auto">
                <a:xfrm>
                  <a:off x="1067" y="3698"/>
                  <a:ext cx="45" cy="23"/>
                  <a:chOff x="1067" y="3698"/>
                  <a:chExt cx="45" cy="23"/>
                </a:xfrm>
              </p:grpSpPr>
              <p:sp>
                <p:nvSpPr>
                  <p:cNvPr id="696" name="Freeform 2447"/>
                  <p:cNvSpPr>
                    <a:spLocks/>
                  </p:cNvSpPr>
                  <p:nvPr/>
                </p:nvSpPr>
                <p:spPr bwMode="auto">
                  <a:xfrm>
                    <a:off x="1067" y="3698"/>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2" y="69"/>
                        </a:moveTo>
                        <a:lnTo>
                          <a:pt x="0" y="34"/>
                        </a:lnTo>
                        <a:lnTo>
                          <a:pt x="12" y="0"/>
                        </a:lnTo>
                        <a:lnTo>
                          <a:pt x="39"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97" name="Freeform 2448"/>
                  <p:cNvSpPr>
                    <a:spLocks/>
                  </p:cNvSpPr>
                  <p:nvPr/>
                </p:nvSpPr>
                <p:spPr bwMode="auto">
                  <a:xfrm>
                    <a:off x="1074" y="3699"/>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98" name="Freeform 2449"/>
                  <p:cNvSpPr>
                    <a:spLocks/>
                  </p:cNvSpPr>
                  <p:nvPr/>
                </p:nvSpPr>
                <p:spPr bwMode="auto">
                  <a:xfrm>
                    <a:off x="1079" y="3711"/>
                    <a:ext cx="33" cy="10"/>
                  </a:xfrm>
                  <a:custGeom>
                    <a:avLst/>
                    <a:gdLst>
                      <a:gd name="T0" fmla="*/ 0 w 65"/>
                      <a:gd name="T1" fmla="*/ 0 h 30"/>
                      <a:gd name="T2" fmla="*/ 1 w 65"/>
                      <a:gd name="T3" fmla="*/ 0 h 30"/>
                      <a:gd name="T4" fmla="*/ 1 w 65"/>
                      <a:gd name="T5" fmla="*/ 0 h 30"/>
                      <a:gd name="T6" fmla="*/ 1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1"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22" name="Group 2450"/>
                <p:cNvGrpSpPr>
                  <a:grpSpLocks/>
                </p:cNvGrpSpPr>
                <p:nvPr/>
              </p:nvGrpSpPr>
              <p:grpSpPr bwMode="auto">
                <a:xfrm>
                  <a:off x="1079" y="3712"/>
                  <a:ext cx="44" cy="23"/>
                  <a:chOff x="1079" y="3712"/>
                  <a:chExt cx="44" cy="23"/>
                </a:xfrm>
              </p:grpSpPr>
              <p:sp>
                <p:nvSpPr>
                  <p:cNvPr id="693" name="Freeform 2451"/>
                  <p:cNvSpPr>
                    <a:spLocks/>
                  </p:cNvSpPr>
                  <p:nvPr/>
                </p:nvSpPr>
                <p:spPr bwMode="auto">
                  <a:xfrm>
                    <a:off x="1079" y="3712"/>
                    <a:ext cx="21" cy="23"/>
                  </a:xfrm>
                  <a:custGeom>
                    <a:avLst/>
                    <a:gdLst>
                      <a:gd name="T0" fmla="*/ 1 w 41"/>
                      <a:gd name="T1" fmla="*/ 0 h 68"/>
                      <a:gd name="T2" fmla="*/ 0 w 41"/>
                      <a:gd name="T3" fmla="*/ 0 h 68"/>
                      <a:gd name="T4" fmla="*/ 1 w 41"/>
                      <a:gd name="T5" fmla="*/ 0 h 68"/>
                      <a:gd name="T6" fmla="*/ 1 w 41"/>
                      <a:gd name="T7" fmla="*/ 0 h 68"/>
                      <a:gd name="T8" fmla="*/ 1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3"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94" name="Freeform 2452"/>
                  <p:cNvSpPr>
                    <a:spLocks/>
                  </p:cNvSpPr>
                  <p:nvPr/>
                </p:nvSpPr>
                <p:spPr bwMode="auto">
                  <a:xfrm>
                    <a:off x="1087" y="3713"/>
                    <a:ext cx="31" cy="10"/>
                  </a:xfrm>
                  <a:custGeom>
                    <a:avLst/>
                    <a:gdLst>
                      <a:gd name="T0" fmla="*/ 0 w 63"/>
                      <a:gd name="T1" fmla="*/ 0 h 32"/>
                      <a:gd name="T2" fmla="*/ 0 w 63"/>
                      <a:gd name="T3" fmla="*/ 0 h 32"/>
                      <a:gd name="T4" fmla="*/ 0 w 63"/>
                      <a:gd name="T5" fmla="*/ 0 h 32"/>
                      <a:gd name="T6" fmla="*/ 0 w 63"/>
                      <a:gd name="T7" fmla="*/ 0 h 32"/>
                      <a:gd name="T8" fmla="*/ 0 w 63"/>
                      <a:gd name="T9" fmla="*/ 0 h 32"/>
                      <a:gd name="T10" fmla="*/ 0 60000 65536"/>
                      <a:gd name="T11" fmla="*/ 0 60000 65536"/>
                      <a:gd name="T12" fmla="*/ 0 60000 65536"/>
                      <a:gd name="T13" fmla="*/ 0 60000 65536"/>
                      <a:gd name="T14" fmla="*/ 0 60000 65536"/>
                      <a:gd name="T15" fmla="*/ 0 w 63"/>
                      <a:gd name="T16" fmla="*/ 0 h 32"/>
                      <a:gd name="T17" fmla="*/ 63 w 63"/>
                      <a:gd name="T18" fmla="*/ 32 h 32"/>
                    </a:gdLst>
                    <a:ahLst/>
                    <a:cxnLst>
                      <a:cxn ang="T10">
                        <a:pos x="T0" y="T1"/>
                      </a:cxn>
                      <a:cxn ang="T11">
                        <a:pos x="T2" y="T3"/>
                      </a:cxn>
                      <a:cxn ang="T12">
                        <a:pos x="T4" y="T5"/>
                      </a:cxn>
                      <a:cxn ang="T13">
                        <a:pos x="T6" y="T7"/>
                      </a:cxn>
                      <a:cxn ang="T14">
                        <a:pos x="T8" y="T9"/>
                      </a:cxn>
                    </a:cxnLst>
                    <a:rect l="T15" t="T16" r="T17" b="T18"/>
                    <a:pathLst>
                      <a:path w="63" h="32">
                        <a:moveTo>
                          <a:pt x="0" y="0"/>
                        </a:moveTo>
                        <a:lnTo>
                          <a:pt x="40" y="0"/>
                        </a:lnTo>
                        <a:lnTo>
                          <a:pt x="63" y="32"/>
                        </a:lnTo>
                        <a:lnTo>
                          <a:pt x="23"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95" name="Freeform 2453"/>
                  <p:cNvSpPr>
                    <a:spLocks/>
                  </p:cNvSpPr>
                  <p:nvPr/>
                </p:nvSpPr>
                <p:spPr bwMode="auto">
                  <a:xfrm>
                    <a:off x="1092" y="3724"/>
                    <a:ext cx="31" cy="11"/>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2"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23" name="Group 2454"/>
                <p:cNvGrpSpPr>
                  <a:grpSpLocks/>
                </p:cNvGrpSpPr>
                <p:nvPr/>
              </p:nvGrpSpPr>
              <p:grpSpPr bwMode="auto">
                <a:xfrm>
                  <a:off x="1093" y="3725"/>
                  <a:ext cx="45" cy="23"/>
                  <a:chOff x="1093" y="3725"/>
                  <a:chExt cx="45" cy="23"/>
                </a:xfrm>
              </p:grpSpPr>
              <p:sp>
                <p:nvSpPr>
                  <p:cNvPr id="690" name="Freeform 2455"/>
                  <p:cNvSpPr>
                    <a:spLocks/>
                  </p:cNvSpPr>
                  <p:nvPr/>
                </p:nvSpPr>
                <p:spPr bwMode="auto">
                  <a:xfrm>
                    <a:off x="1093" y="3725"/>
                    <a:ext cx="20" cy="23"/>
                  </a:xfrm>
                  <a:custGeom>
                    <a:avLst/>
                    <a:gdLst>
                      <a:gd name="T0" fmla="*/ 1 w 40"/>
                      <a:gd name="T1" fmla="*/ 0 h 68"/>
                      <a:gd name="T2" fmla="*/ 0 w 40"/>
                      <a:gd name="T3" fmla="*/ 0 h 68"/>
                      <a:gd name="T4" fmla="*/ 1 w 40"/>
                      <a:gd name="T5" fmla="*/ 0 h 68"/>
                      <a:gd name="T6" fmla="*/ 1 w 40"/>
                      <a:gd name="T7" fmla="*/ 0 h 68"/>
                      <a:gd name="T8" fmla="*/ 1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2"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91" name="Freeform 2456"/>
                  <p:cNvSpPr>
                    <a:spLocks/>
                  </p:cNvSpPr>
                  <p:nvPr/>
                </p:nvSpPr>
                <p:spPr bwMode="auto">
                  <a:xfrm>
                    <a:off x="1100" y="3726"/>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92" name="Freeform 2457"/>
                  <p:cNvSpPr>
                    <a:spLocks/>
                  </p:cNvSpPr>
                  <p:nvPr/>
                </p:nvSpPr>
                <p:spPr bwMode="auto">
                  <a:xfrm>
                    <a:off x="1106" y="3738"/>
                    <a:ext cx="32" cy="9"/>
                  </a:xfrm>
                  <a:custGeom>
                    <a:avLst/>
                    <a:gdLst>
                      <a:gd name="T0" fmla="*/ 0 w 65"/>
                      <a:gd name="T1" fmla="*/ 0 h 28"/>
                      <a:gd name="T2" fmla="*/ 0 w 65"/>
                      <a:gd name="T3" fmla="*/ 0 h 28"/>
                      <a:gd name="T4" fmla="*/ 0 w 65"/>
                      <a:gd name="T5" fmla="*/ 0 h 28"/>
                      <a:gd name="T6" fmla="*/ 0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2" y="0"/>
                        </a:lnTo>
                        <a:lnTo>
                          <a:pt x="53"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24" name="Group 2458"/>
                <p:cNvGrpSpPr>
                  <a:grpSpLocks/>
                </p:cNvGrpSpPr>
                <p:nvPr/>
              </p:nvGrpSpPr>
              <p:grpSpPr bwMode="auto">
                <a:xfrm>
                  <a:off x="1108" y="3739"/>
                  <a:ext cx="44" cy="23"/>
                  <a:chOff x="1108" y="3739"/>
                  <a:chExt cx="44" cy="23"/>
                </a:xfrm>
              </p:grpSpPr>
              <p:sp>
                <p:nvSpPr>
                  <p:cNvPr id="687" name="Freeform 2459"/>
                  <p:cNvSpPr>
                    <a:spLocks/>
                  </p:cNvSpPr>
                  <p:nvPr/>
                </p:nvSpPr>
                <p:spPr bwMode="auto">
                  <a:xfrm>
                    <a:off x="1108" y="3739"/>
                    <a:ext cx="19" cy="23"/>
                  </a:xfrm>
                  <a:custGeom>
                    <a:avLst/>
                    <a:gdLst>
                      <a:gd name="T0" fmla="*/ 0 w 40"/>
                      <a:gd name="T1" fmla="*/ 0 h 69"/>
                      <a:gd name="T2" fmla="*/ 0 w 40"/>
                      <a:gd name="T3" fmla="*/ 0 h 69"/>
                      <a:gd name="T4" fmla="*/ 0 w 40"/>
                      <a:gd name="T5" fmla="*/ 0 h 69"/>
                      <a:gd name="T6" fmla="*/ 0 w 40"/>
                      <a:gd name="T7" fmla="*/ 0 h 69"/>
                      <a:gd name="T8" fmla="*/ 0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4"/>
                        </a:lnTo>
                        <a:lnTo>
                          <a:pt x="12" y="0"/>
                        </a:lnTo>
                        <a:lnTo>
                          <a:pt x="40" y="34"/>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88" name="Freeform 2460"/>
                  <p:cNvSpPr>
                    <a:spLocks/>
                  </p:cNvSpPr>
                  <p:nvPr/>
                </p:nvSpPr>
                <p:spPr bwMode="auto">
                  <a:xfrm>
                    <a:off x="1114" y="3740"/>
                    <a:ext cx="32" cy="11"/>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2" y="0"/>
                        </a:lnTo>
                        <a:lnTo>
                          <a:pt x="64"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89" name="Freeform 2461"/>
                  <p:cNvSpPr>
                    <a:spLocks/>
                  </p:cNvSpPr>
                  <p:nvPr/>
                </p:nvSpPr>
                <p:spPr bwMode="auto">
                  <a:xfrm>
                    <a:off x="1120" y="3752"/>
                    <a:ext cx="32" cy="10"/>
                  </a:xfrm>
                  <a:custGeom>
                    <a:avLst/>
                    <a:gdLst>
                      <a:gd name="T0" fmla="*/ 0 w 66"/>
                      <a:gd name="T1" fmla="*/ 0 h 30"/>
                      <a:gd name="T2" fmla="*/ 0 w 66"/>
                      <a:gd name="T3" fmla="*/ 0 h 30"/>
                      <a:gd name="T4" fmla="*/ 0 w 66"/>
                      <a:gd name="T5" fmla="*/ 0 h 30"/>
                      <a:gd name="T6" fmla="*/ 0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5"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25" name="Group 2462"/>
                <p:cNvGrpSpPr>
                  <a:grpSpLocks/>
                </p:cNvGrpSpPr>
                <p:nvPr/>
              </p:nvGrpSpPr>
              <p:grpSpPr bwMode="auto">
                <a:xfrm>
                  <a:off x="1121" y="3753"/>
                  <a:ext cx="45" cy="23"/>
                  <a:chOff x="1121" y="3753"/>
                  <a:chExt cx="45" cy="23"/>
                </a:xfrm>
              </p:grpSpPr>
              <p:sp>
                <p:nvSpPr>
                  <p:cNvPr id="684" name="Freeform 2463"/>
                  <p:cNvSpPr>
                    <a:spLocks/>
                  </p:cNvSpPr>
                  <p:nvPr/>
                </p:nvSpPr>
                <p:spPr bwMode="auto">
                  <a:xfrm>
                    <a:off x="1121" y="3753"/>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5"/>
                        </a:lnTo>
                        <a:lnTo>
                          <a:pt x="12" y="0"/>
                        </a:lnTo>
                        <a:lnTo>
                          <a:pt x="39" y="35"/>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85" name="Freeform 2464"/>
                  <p:cNvSpPr>
                    <a:spLocks/>
                  </p:cNvSpPr>
                  <p:nvPr/>
                </p:nvSpPr>
                <p:spPr bwMode="auto">
                  <a:xfrm>
                    <a:off x="1127" y="3753"/>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39" y="0"/>
                        </a:lnTo>
                        <a:lnTo>
                          <a:pt x="64"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86" name="Freeform 2465"/>
                  <p:cNvSpPr>
                    <a:spLocks/>
                  </p:cNvSpPr>
                  <p:nvPr/>
                </p:nvSpPr>
                <p:spPr bwMode="auto">
                  <a:xfrm>
                    <a:off x="1133" y="3766"/>
                    <a:ext cx="33" cy="9"/>
                  </a:xfrm>
                  <a:custGeom>
                    <a:avLst/>
                    <a:gdLst>
                      <a:gd name="T0" fmla="*/ 0 w 66"/>
                      <a:gd name="T1" fmla="*/ 0 h 29"/>
                      <a:gd name="T2" fmla="*/ 1 w 66"/>
                      <a:gd name="T3" fmla="*/ 0 h 29"/>
                      <a:gd name="T4" fmla="*/ 1 w 66"/>
                      <a:gd name="T5" fmla="*/ 0 h 29"/>
                      <a:gd name="T6" fmla="*/ 1 w 66"/>
                      <a:gd name="T7" fmla="*/ 0 h 29"/>
                      <a:gd name="T8" fmla="*/ 0 w 66"/>
                      <a:gd name="T9" fmla="*/ 0 h 29"/>
                      <a:gd name="T10" fmla="*/ 0 60000 65536"/>
                      <a:gd name="T11" fmla="*/ 0 60000 65536"/>
                      <a:gd name="T12" fmla="*/ 0 60000 65536"/>
                      <a:gd name="T13" fmla="*/ 0 60000 65536"/>
                      <a:gd name="T14" fmla="*/ 0 60000 65536"/>
                      <a:gd name="T15" fmla="*/ 0 w 66"/>
                      <a:gd name="T16" fmla="*/ 0 h 29"/>
                      <a:gd name="T17" fmla="*/ 66 w 66"/>
                      <a:gd name="T18" fmla="*/ 29 h 29"/>
                    </a:gdLst>
                    <a:ahLst/>
                    <a:cxnLst>
                      <a:cxn ang="T10">
                        <a:pos x="T0" y="T1"/>
                      </a:cxn>
                      <a:cxn ang="T11">
                        <a:pos x="T2" y="T3"/>
                      </a:cxn>
                      <a:cxn ang="T12">
                        <a:pos x="T4" y="T5"/>
                      </a:cxn>
                      <a:cxn ang="T13">
                        <a:pos x="T6" y="T7"/>
                      </a:cxn>
                      <a:cxn ang="T14">
                        <a:pos x="T8" y="T9"/>
                      </a:cxn>
                    </a:cxnLst>
                    <a:rect l="T15" t="T16" r="T17" b="T18"/>
                    <a:pathLst>
                      <a:path w="66" h="29">
                        <a:moveTo>
                          <a:pt x="0" y="29"/>
                        </a:moveTo>
                        <a:lnTo>
                          <a:pt x="12" y="0"/>
                        </a:lnTo>
                        <a:lnTo>
                          <a:pt x="54" y="0"/>
                        </a:lnTo>
                        <a:lnTo>
                          <a:pt x="66"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26" name="Group 2466"/>
                <p:cNvGrpSpPr>
                  <a:grpSpLocks/>
                </p:cNvGrpSpPr>
                <p:nvPr/>
              </p:nvGrpSpPr>
              <p:grpSpPr bwMode="auto">
                <a:xfrm>
                  <a:off x="1133" y="3767"/>
                  <a:ext cx="44" cy="23"/>
                  <a:chOff x="1133" y="3767"/>
                  <a:chExt cx="44" cy="23"/>
                </a:xfrm>
              </p:grpSpPr>
              <p:sp>
                <p:nvSpPr>
                  <p:cNvPr id="681" name="Freeform 2467"/>
                  <p:cNvSpPr>
                    <a:spLocks/>
                  </p:cNvSpPr>
                  <p:nvPr/>
                </p:nvSpPr>
                <p:spPr bwMode="auto">
                  <a:xfrm>
                    <a:off x="1133" y="3767"/>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3" y="69"/>
                        </a:moveTo>
                        <a:lnTo>
                          <a:pt x="0" y="33"/>
                        </a:lnTo>
                        <a:lnTo>
                          <a:pt x="12" y="0"/>
                        </a:lnTo>
                        <a:lnTo>
                          <a:pt x="39"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82" name="Freeform 2468"/>
                  <p:cNvSpPr>
                    <a:spLocks/>
                  </p:cNvSpPr>
                  <p:nvPr/>
                </p:nvSpPr>
                <p:spPr bwMode="auto">
                  <a:xfrm>
                    <a:off x="1140" y="3767"/>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3"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83" name="Freeform 2469"/>
                  <p:cNvSpPr>
                    <a:spLocks/>
                  </p:cNvSpPr>
                  <p:nvPr/>
                </p:nvSpPr>
                <p:spPr bwMode="auto">
                  <a:xfrm>
                    <a:off x="1146" y="3779"/>
                    <a:ext cx="31" cy="10"/>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1"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627" name="Freeform 2470"/>
                <p:cNvSpPr>
                  <a:spLocks/>
                </p:cNvSpPr>
                <p:nvPr/>
              </p:nvSpPr>
              <p:spPr bwMode="auto">
                <a:xfrm>
                  <a:off x="972" y="3556"/>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7"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28" name="Freeform 2471"/>
                <p:cNvSpPr>
                  <a:spLocks/>
                </p:cNvSpPr>
                <p:nvPr/>
              </p:nvSpPr>
              <p:spPr bwMode="auto">
                <a:xfrm>
                  <a:off x="993" y="3576"/>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29" name="Freeform 2472"/>
                <p:cNvSpPr>
                  <a:spLocks/>
                </p:cNvSpPr>
                <p:nvPr/>
              </p:nvSpPr>
              <p:spPr bwMode="auto">
                <a:xfrm>
                  <a:off x="1012" y="3594"/>
                  <a:ext cx="39" cy="12"/>
                </a:xfrm>
                <a:custGeom>
                  <a:avLst/>
                  <a:gdLst>
                    <a:gd name="T0" fmla="*/ 0 w 78"/>
                    <a:gd name="T1" fmla="*/ 0 h 36"/>
                    <a:gd name="T2" fmla="*/ 1 w 78"/>
                    <a:gd name="T3" fmla="*/ 0 h 36"/>
                    <a:gd name="T4" fmla="*/ 1 w 78"/>
                    <a:gd name="T5" fmla="*/ 0 h 36"/>
                    <a:gd name="T6" fmla="*/ 1 w 78"/>
                    <a:gd name="T7" fmla="*/ 0 h 36"/>
                    <a:gd name="T8" fmla="*/ 0 w 78"/>
                    <a:gd name="T9" fmla="*/ 0 h 36"/>
                    <a:gd name="T10" fmla="*/ 0 60000 65536"/>
                    <a:gd name="T11" fmla="*/ 0 60000 65536"/>
                    <a:gd name="T12" fmla="*/ 0 60000 65536"/>
                    <a:gd name="T13" fmla="*/ 0 60000 65536"/>
                    <a:gd name="T14" fmla="*/ 0 60000 65536"/>
                    <a:gd name="T15" fmla="*/ 0 w 78"/>
                    <a:gd name="T16" fmla="*/ 0 h 36"/>
                    <a:gd name="T17" fmla="*/ 78 w 78"/>
                    <a:gd name="T18" fmla="*/ 36 h 36"/>
                  </a:gdLst>
                  <a:ahLst/>
                  <a:cxnLst>
                    <a:cxn ang="T10">
                      <a:pos x="T0" y="T1"/>
                    </a:cxn>
                    <a:cxn ang="T11">
                      <a:pos x="T2" y="T3"/>
                    </a:cxn>
                    <a:cxn ang="T12">
                      <a:pos x="T4" y="T5"/>
                    </a:cxn>
                    <a:cxn ang="T13">
                      <a:pos x="T6" y="T7"/>
                    </a:cxn>
                    <a:cxn ang="T14">
                      <a:pos x="T8" y="T9"/>
                    </a:cxn>
                  </a:cxnLst>
                  <a:rect l="T15" t="T16" r="T17" b="T18"/>
                  <a:pathLst>
                    <a:path w="78" h="36">
                      <a:moveTo>
                        <a:pt x="0" y="0"/>
                      </a:moveTo>
                      <a:lnTo>
                        <a:pt x="27" y="36"/>
                      </a:lnTo>
                      <a:lnTo>
                        <a:pt x="78" y="36"/>
                      </a:lnTo>
                      <a:lnTo>
                        <a:pt x="49"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0" name="Freeform 2473"/>
                <p:cNvSpPr>
                  <a:spLocks/>
                </p:cNvSpPr>
                <p:nvPr/>
              </p:nvSpPr>
              <p:spPr bwMode="auto">
                <a:xfrm>
                  <a:off x="1032" y="3613"/>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1" name="Freeform 2474"/>
                <p:cNvSpPr>
                  <a:spLocks/>
                </p:cNvSpPr>
                <p:nvPr/>
              </p:nvSpPr>
              <p:spPr bwMode="auto">
                <a:xfrm>
                  <a:off x="1053" y="3632"/>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2" name="Freeform 2475"/>
                <p:cNvSpPr>
                  <a:spLocks/>
                </p:cNvSpPr>
                <p:nvPr/>
              </p:nvSpPr>
              <p:spPr bwMode="auto">
                <a:xfrm>
                  <a:off x="1074" y="3651"/>
                  <a:ext cx="40" cy="12"/>
                </a:xfrm>
                <a:custGeom>
                  <a:avLst/>
                  <a:gdLst>
                    <a:gd name="T0" fmla="*/ 0 w 79"/>
                    <a:gd name="T1" fmla="*/ 0 h 35"/>
                    <a:gd name="T2" fmla="*/ 1 w 79"/>
                    <a:gd name="T3" fmla="*/ 0 h 35"/>
                    <a:gd name="T4" fmla="*/ 1 w 79"/>
                    <a:gd name="T5" fmla="*/ 0 h 35"/>
                    <a:gd name="T6" fmla="*/ 1 w 79"/>
                    <a:gd name="T7" fmla="*/ 0 h 35"/>
                    <a:gd name="T8" fmla="*/ 0 w 79"/>
                    <a:gd name="T9" fmla="*/ 0 h 35"/>
                    <a:gd name="T10" fmla="*/ 0 60000 65536"/>
                    <a:gd name="T11" fmla="*/ 0 60000 65536"/>
                    <a:gd name="T12" fmla="*/ 0 60000 65536"/>
                    <a:gd name="T13" fmla="*/ 0 60000 65536"/>
                    <a:gd name="T14" fmla="*/ 0 60000 65536"/>
                    <a:gd name="T15" fmla="*/ 0 w 79"/>
                    <a:gd name="T16" fmla="*/ 0 h 35"/>
                    <a:gd name="T17" fmla="*/ 79 w 79"/>
                    <a:gd name="T18" fmla="*/ 35 h 35"/>
                  </a:gdLst>
                  <a:ahLst/>
                  <a:cxnLst>
                    <a:cxn ang="T10">
                      <a:pos x="T0" y="T1"/>
                    </a:cxn>
                    <a:cxn ang="T11">
                      <a:pos x="T2" y="T3"/>
                    </a:cxn>
                    <a:cxn ang="T12">
                      <a:pos x="T4" y="T5"/>
                    </a:cxn>
                    <a:cxn ang="T13">
                      <a:pos x="T6" y="T7"/>
                    </a:cxn>
                    <a:cxn ang="T14">
                      <a:pos x="T8" y="T9"/>
                    </a:cxn>
                  </a:cxnLst>
                  <a:rect l="T15" t="T16" r="T17" b="T18"/>
                  <a:pathLst>
                    <a:path w="79" h="35">
                      <a:moveTo>
                        <a:pt x="0" y="0"/>
                      </a:moveTo>
                      <a:lnTo>
                        <a:pt x="28" y="35"/>
                      </a:lnTo>
                      <a:lnTo>
                        <a:pt x="79" y="35"/>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3" name="Freeform 2476"/>
                <p:cNvSpPr>
                  <a:spLocks/>
                </p:cNvSpPr>
                <p:nvPr/>
              </p:nvSpPr>
              <p:spPr bwMode="auto">
                <a:xfrm>
                  <a:off x="1095" y="3669"/>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8"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4" name="Freeform 2477"/>
                <p:cNvSpPr>
                  <a:spLocks/>
                </p:cNvSpPr>
                <p:nvPr/>
              </p:nvSpPr>
              <p:spPr bwMode="auto">
                <a:xfrm>
                  <a:off x="1115" y="3688"/>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5" name="Freeform 2478"/>
                <p:cNvSpPr>
                  <a:spLocks/>
                </p:cNvSpPr>
                <p:nvPr/>
              </p:nvSpPr>
              <p:spPr bwMode="auto">
                <a:xfrm>
                  <a:off x="1134" y="3707"/>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6" name="Freeform 2479"/>
                <p:cNvSpPr>
                  <a:spLocks/>
                </p:cNvSpPr>
                <p:nvPr/>
              </p:nvSpPr>
              <p:spPr bwMode="auto">
                <a:xfrm>
                  <a:off x="1154" y="3726"/>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7" name="Freeform 2480"/>
                <p:cNvSpPr>
                  <a:spLocks/>
                </p:cNvSpPr>
                <p:nvPr/>
              </p:nvSpPr>
              <p:spPr bwMode="auto">
                <a:xfrm>
                  <a:off x="1175" y="3745"/>
                  <a:ext cx="40" cy="12"/>
                </a:xfrm>
                <a:custGeom>
                  <a:avLst/>
                  <a:gdLst>
                    <a:gd name="T0" fmla="*/ 0 w 81"/>
                    <a:gd name="T1" fmla="*/ 0 h 36"/>
                    <a:gd name="T2" fmla="*/ 0 w 81"/>
                    <a:gd name="T3" fmla="*/ 0 h 36"/>
                    <a:gd name="T4" fmla="*/ 0 w 81"/>
                    <a:gd name="T5" fmla="*/ 0 h 36"/>
                    <a:gd name="T6" fmla="*/ 0 w 81"/>
                    <a:gd name="T7" fmla="*/ 0 h 36"/>
                    <a:gd name="T8" fmla="*/ 0 w 81"/>
                    <a:gd name="T9" fmla="*/ 0 h 36"/>
                    <a:gd name="T10" fmla="*/ 0 60000 65536"/>
                    <a:gd name="T11" fmla="*/ 0 60000 65536"/>
                    <a:gd name="T12" fmla="*/ 0 60000 65536"/>
                    <a:gd name="T13" fmla="*/ 0 60000 65536"/>
                    <a:gd name="T14" fmla="*/ 0 60000 65536"/>
                    <a:gd name="T15" fmla="*/ 0 w 81"/>
                    <a:gd name="T16" fmla="*/ 0 h 36"/>
                    <a:gd name="T17" fmla="*/ 81 w 81"/>
                    <a:gd name="T18" fmla="*/ 36 h 36"/>
                  </a:gdLst>
                  <a:ahLst/>
                  <a:cxnLst>
                    <a:cxn ang="T10">
                      <a:pos x="T0" y="T1"/>
                    </a:cxn>
                    <a:cxn ang="T11">
                      <a:pos x="T2" y="T3"/>
                    </a:cxn>
                    <a:cxn ang="T12">
                      <a:pos x="T4" y="T5"/>
                    </a:cxn>
                    <a:cxn ang="T13">
                      <a:pos x="T6" y="T7"/>
                    </a:cxn>
                    <a:cxn ang="T14">
                      <a:pos x="T8" y="T9"/>
                    </a:cxn>
                  </a:cxnLst>
                  <a:rect l="T15" t="T16" r="T17" b="T18"/>
                  <a:pathLst>
                    <a:path w="81" h="36">
                      <a:moveTo>
                        <a:pt x="0" y="0"/>
                      </a:moveTo>
                      <a:lnTo>
                        <a:pt x="28" y="36"/>
                      </a:lnTo>
                      <a:lnTo>
                        <a:pt x="81" y="36"/>
                      </a:lnTo>
                      <a:lnTo>
                        <a:pt x="52"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638" name="Group 2481"/>
                <p:cNvGrpSpPr>
                  <a:grpSpLocks/>
                </p:cNvGrpSpPr>
                <p:nvPr/>
              </p:nvGrpSpPr>
              <p:grpSpPr bwMode="auto">
                <a:xfrm>
                  <a:off x="700" y="3535"/>
                  <a:ext cx="49" cy="24"/>
                  <a:chOff x="700" y="3535"/>
                  <a:chExt cx="49" cy="24"/>
                </a:xfrm>
              </p:grpSpPr>
              <p:sp>
                <p:nvSpPr>
                  <p:cNvPr id="678" name="Freeform 2482"/>
                  <p:cNvSpPr>
                    <a:spLocks/>
                  </p:cNvSpPr>
                  <p:nvPr/>
                </p:nvSpPr>
                <p:spPr bwMode="auto">
                  <a:xfrm>
                    <a:off x="700" y="3535"/>
                    <a:ext cx="12" cy="24"/>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10"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79" name="Freeform 2483"/>
                  <p:cNvSpPr>
                    <a:spLocks/>
                  </p:cNvSpPr>
                  <p:nvPr/>
                </p:nvSpPr>
                <p:spPr bwMode="auto">
                  <a:xfrm>
                    <a:off x="705" y="3536"/>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2" y="4"/>
                        </a:lnTo>
                        <a:lnTo>
                          <a:pt x="56" y="12"/>
                        </a:lnTo>
                        <a:lnTo>
                          <a:pt x="73"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80" name="Freeform 2484"/>
                  <p:cNvSpPr>
                    <a:spLocks/>
                  </p:cNvSpPr>
                  <p:nvPr/>
                </p:nvSpPr>
                <p:spPr bwMode="auto">
                  <a:xfrm>
                    <a:off x="708" y="354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6"/>
                        </a:lnTo>
                        <a:lnTo>
                          <a:pt x="11" y="0"/>
                        </a:lnTo>
                        <a:lnTo>
                          <a:pt x="67"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39" name="Group 2485"/>
                <p:cNvGrpSpPr>
                  <a:grpSpLocks/>
                </p:cNvGrpSpPr>
                <p:nvPr/>
              </p:nvGrpSpPr>
              <p:grpSpPr bwMode="auto">
                <a:xfrm>
                  <a:off x="714" y="3551"/>
                  <a:ext cx="49" cy="22"/>
                  <a:chOff x="714" y="3551"/>
                  <a:chExt cx="49" cy="22"/>
                </a:xfrm>
              </p:grpSpPr>
              <p:sp>
                <p:nvSpPr>
                  <p:cNvPr id="675" name="Freeform 2486"/>
                  <p:cNvSpPr>
                    <a:spLocks/>
                  </p:cNvSpPr>
                  <p:nvPr/>
                </p:nvSpPr>
                <p:spPr bwMode="auto">
                  <a:xfrm>
                    <a:off x="714" y="35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9" y="0"/>
                        </a:lnTo>
                        <a:lnTo>
                          <a:pt x="24" y="30"/>
                        </a:lnTo>
                        <a:lnTo>
                          <a:pt x="15"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76" name="Freeform 2487"/>
                  <p:cNvSpPr>
                    <a:spLocks/>
                  </p:cNvSpPr>
                  <p:nvPr/>
                </p:nvSpPr>
                <p:spPr bwMode="auto">
                  <a:xfrm>
                    <a:off x="719" y="3551"/>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50" y="0"/>
                        </a:lnTo>
                        <a:lnTo>
                          <a:pt x="52" y="2"/>
                        </a:lnTo>
                        <a:lnTo>
                          <a:pt x="57" y="13"/>
                        </a:lnTo>
                        <a:lnTo>
                          <a:pt x="74" y="29"/>
                        </a:lnTo>
                        <a:lnTo>
                          <a:pt x="19" y="29"/>
                        </a:lnTo>
                        <a:lnTo>
                          <a:pt x="9"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77" name="Freeform 2488"/>
                  <p:cNvSpPr>
                    <a:spLocks/>
                  </p:cNvSpPr>
                  <p:nvPr/>
                </p:nvSpPr>
                <p:spPr bwMode="auto">
                  <a:xfrm>
                    <a:off x="722" y="35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40" name="Group 2489"/>
                <p:cNvGrpSpPr>
                  <a:grpSpLocks/>
                </p:cNvGrpSpPr>
                <p:nvPr/>
              </p:nvGrpSpPr>
              <p:grpSpPr bwMode="auto">
                <a:xfrm>
                  <a:off x="728" y="3564"/>
                  <a:ext cx="48" cy="23"/>
                  <a:chOff x="728" y="3564"/>
                  <a:chExt cx="48" cy="23"/>
                </a:xfrm>
              </p:grpSpPr>
              <p:sp>
                <p:nvSpPr>
                  <p:cNvPr id="672" name="Freeform 2490"/>
                  <p:cNvSpPr>
                    <a:spLocks/>
                  </p:cNvSpPr>
                  <p:nvPr/>
                </p:nvSpPr>
                <p:spPr bwMode="auto">
                  <a:xfrm>
                    <a:off x="728" y="3564"/>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73" name="Freeform 2491"/>
                  <p:cNvSpPr>
                    <a:spLocks/>
                  </p:cNvSpPr>
                  <p:nvPr/>
                </p:nvSpPr>
                <p:spPr bwMode="auto">
                  <a:xfrm>
                    <a:off x="732" y="3565"/>
                    <a:ext cx="37"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50" y="0"/>
                        </a:lnTo>
                        <a:lnTo>
                          <a:pt x="51" y="3"/>
                        </a:lnTo>
                        <a:lnTo>
                          <a:pt x="56" y="12"/>
                        </a:lnTo>
                        <a:lnTo>
                          <a:pt x="72"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74" name="Freeform 2492"/>
                  <p:cNvSpPr>
                    <a:spLocks/>
                  </p:cNvSpPr>
                  <p:nvPr/>
                </p:nvSpPr>
                <p:spPr bwMode="auto">
                  <a:xfrm>
                    <a:off x="735" y="3575"/>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41" name="Group 2493"/>
                <p:cNvGrpSpPr>
                  <a:grpSpLocks/>
                </p:cNvGrpSpPr>
                <p:nvPr/>
              </p:nvGrpSpPr>
              <p:grpSpPr bwMode="auto">
                <a:xfrm>
                  <a:off x="742" y="3582"/>
                  <a:ext cx="49" cy="23"/>
                  <a:chOff x="742" y="3582"/>
                  <a:chExt cx="49" cy="23"/>
                </a:xfrm>
              </p:grpSpPr>
              <p:sp>
                <p:nvSpPr>
                  <p:cNvPr id="669" name="Freeform 2494"/>
                  <p:cNvSpPr>
                    <a:spLocks/>
                  </p:cNvSpPr>
                  <p:nvPr/>
                </p:nvSpPr>
                <p:spPr bwMode="auto">
                  <a:xfrm>
                    <a:off x="742" y="3582"/>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6"/>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70" name="Freeform 2495"/>
                  <p:cNvSpPr>
                    <a:spLocks/>
                  </p:cNvSpPr>
                  <p:nvPr/>
                </p:nvSpPr>
                <p:spPr bwMode="auto">
                  <a:xfrm>
                    <a:off x="747" y="3582"/>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8" y="0"/>
                        </a:lnTo>
                        <a:lnTo>
                          <a:pt x="50" y="3"/>
                        </a:lnTo>
                        <a:lnTo>
                          <a:pt x="56" y="12"/>
                        </a:lnTo>
                        <a:lnTo>
                          <a:pt x="72" y="30"/>
                        </a:lnTo>
                        <a:lnTo>
                          <a:pt x="17" y="30"/>
                        </a:lnTo>
                        <a:lnTo>
                          <a:pt x="8" y="21"/>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71" name="Freeform 2496"/>
                  <p:cNvSpPr>
                    <a:spLocks/>
                  </p:cNvSpPr>
                  <p:nvPr/>
                </p:nvSpPr>
                <p:spPr bwMode="auto">
                  <a:xfrm>
                    <a:off x="750" y="359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42" name="Group 2497"/>
                <p:cNvGrpSpPr>
                  <a:grpSpLocks/>
                </p:cNvGrpSpPr>
                <p:nvPr/>
              </p:nvGrpSpPr>
              <p:grpSpPr bwMode="auto">
                <a:xfrm>
                  <a:off x="752" y="3597"/>
                  <a:ext cx="133" cy="106"/>
                  <a:chOff x="752" y="3597"/>
                  <a:chExt cx="133" cy="106"/>
                </a:xfrm>
              </p:grpSpPr>
              <p:sp>
                <p:nvSpPr>
                  <p:cNvPr id="666" name="Freeform 2498"/>
                  <p:cNvSpPr>
                    <a:spLocks/>
                  </p:cNvSpPr>
                  <p:nvPr/>
                </p:nvSpPr>
                <p:spPr bwMode="auto">
                  <a:xfrm>
                    <a:off x="752" y="3598"/>
                    <a:ext cx="91" cy="105"/>
                  </a:xfrm>
                  <a:custGeom>
                    <a:avLst/>
                    <a:gdLst>
                      <a:gd name="T0" fmla="*/ 1 w 182"/>
                      <a:gd name="T1" fmla="*/ 0 h 314"/>
                      <a:gd name="T2" fmla="*/ 0 w 182"/>
                      <a:gd name="T3" fmla="*/ 0 h 314"/>
                      <a:gd name="T4" fmla="*/ 1 w 182"/>
                      <a:gd name="T5" fmla="*/ 0 h 314"/>
                      <a:gd name="T6" fmla="*/ 1 w 182"/>
                      <a:gd name="T7" fmla="*/ 0 h 314"/>
                      <a:gd name="T8" fmla="*/ 1 w 182"/>
                      <a:gd name="T9" fmla="*/ 0 h 314"/>
                      <a:gd name="T10" fmla="*/ 0 60000 65536"/>
                      <a:gd name="T11" fmla="*/ 0 60000 65536"/>
                      <a:gd name="T12" fmla="*/ 0 60000 65536"/>
                      <a:gd name="T13" fmla="*/ 0 60000 65536"/>
                      <a:gd name="T14" fmla="*/ 0 60000 65536"/>
                      <a:gd name="T15" fmla="*/ 0 w 182"/>
                      <a:gd name="T16" fmla="*/ 0 h 314"/>
                      <a:gd name="T17" fmla="*/ 182 w 182"/>
                      <a:gd name="T18" fmla="*/ 314 h 314"/>
                    </a:gdLst>
                    <a:ahLst/>
                    <a:cxnLst>
                      <a:cxn ang="T10">
                        <a:pos x="T0" y="T1"/>
                      </a:cxn>
                      <a:cxn ang="T11">
                        <a:pos x="T2" y="T3"/>
                      </a:cxn>
                      <a:cxn ang="T12">
                        <a:pos x="T4" y="T5"/>
                      </a:cxn>
                      <a:cxn ang="T13">
                        <a:pos x="T6" y="T7"/>
                      </a:cxn>
                      <a:cxn ang="T14">
                        <a:pos x="T8" y="T9"/>
                      </a:cxn>
                    </a:cxnLst>
                    <a:rect l="T15" t="T16" r="T17" b="T18"/>
                    <a:pathLst>
                      <a:path w="182" h="314">
                        <a:moveTo>
                          <a:pt x="171" y="314"/>
                        </a:moveTo>
                        <a:lnTo>
                          <a:pt x="0" y="27"/>
                        </a:lnTo>
                        <a:lnTo>
                          <a:pt x="13" y="0"/>
                        </a:lnTo>
                        <a:lnTo>
                          <a:pt x="182" y="278"/>
                        </a:lnTo>
                        <a:lnTo>
                          <a:pt x="171" y="31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67" name="Freeform 2499"/>
                  <p:cNvSpPr>
                    <a:spLocks/>
                  </p:cNvSpPr>
                  <p:nvPr/>
                </p:nvSpPr>
                <p:spPr bwMode="auto">
                  <a:xfrm>
                    <a:off x="759" y="3597"/>
                    <a:ext cx="118" cy="94"/>
                  </a:xfrm>
                  <a:custGeom>
                    <a:avLst/>
                    <a:gdLst>
                      <a:gd name="T0" fmla="*/ 1 w 235"/>
                      <a:gd name="T1" fmla="*/ 0 h 281"/>
                      <a:gd name="T2" fmla="*/ 1 w 235"/>
                      <a:gd name="T3" fmla="*/ 0 h 281"/>
                      <a:gd name="T4" fmla="*/ 1 w 235"/>
                      <a:gd name="T5" fmla="*/ 0 h 281"/>
                      <a:gd name="T6" fmla="*/ 1 w 235"/>
                      <a:gd name="T7" fmla="*/ 0 h 281"/>
                      <a:gd name="T8" fmla="*/ 2 w 235"/>
                      <a:gd name="T9" fmla="*/ 0 h 281"/>
                      <a:gd name="T10" fmla="*/ 2 w 235"/>
                      <a:gd name="T11" fmla="*/ 0 h 281"/>
                      <a:gd name="T12" fmla="*/ 1 w 235"/>
                      <a:gd name="T13" fmla="*/ 0 h 281"/>
                      <a:gd name="T14" fmla="*/ 0 w 235"/>
                      <a:gd name="T15" fmla="*/ 0 h 281"/>
                      <a:gd name="T16" fmla="*/ 1 w 235"/>
                      <a:gd name="T17" fmla="*/ 0 h 28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35"/>
                      <a:gd name="T28" fmla="*/ 0 h 281"/>
                      <a:gd name="T29" fmla="*/ 235 w 235"/>
                      <a:gd name="T30" fmla="*/ 281 h 28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35" h="281">
                        <a:moveTo>
                          <a:pt x="1" y="0"/>
                        </a:moveTo>
                        <a:lnTo>
                          <a:pt x="56" y="0"/>
                        </a:lnTo>
                        <a:lnTo>
                          <a:pt x="58" y="0"/>
                        </a:lnTo>
                        <a:lnTo>
                          <a:pt x="65" y="10"/>
                        </a:lnTo>
                        <a:lnTo>
                          <a:pt x="235" y="281"/>
                        </a:lnTo>
                        <a:lnTo>
                          <a:pt x="165" y="277"/>
                        </a:lnTo>
                        <a:lnTo>
                          <a:pt x="9" y="19"/>
                        </a:lnTo>
                        <a:lnTo>
                          <a:pt x="0" y="4"/>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68" name="Freeform 2500"/>
                  <p:cNvSpPr>
                    <a:spLocks/>
                  </p:cNvSpPr>
                  <p:nvPr/>
                </p:nvSpPr>
                <p:spPr bwMode="auto">
                  <a:xfrm>
                    <a:off x="838" y="3691"/>
                    <a:ext cx="47" cy="12"/>
                  </a:xfrm>
                  <a:custGeom>
                    <a:avLst/>
                    <a:gdLst>
                      <a:gd name="T0" fmla="*/ 0 w 95"/>
                      <a:gd name="T1" fmla="*/ 0 h 36"/>
                      <a:gd name="T2" fmla="*/ 0 w 95"/>
                      <a:gd name="T3" fmla="*/ 0 h 36"/>
                      <a:gd name="T4" fmla="*/ 0 w 95"/>
                      <a:gd name="T5" fmla="*/ 0 h 36"/>
                      <a:gd name="T6" fmla="*/ 0 w 95"/>
                      <a:gd name="T7" fmla="*/ 0 h 36"/>
                      <a:gd name="T8" fmla="*/ 0 w 95"/>
                      <a:gd name="T9" fmla="*/ 0 h 36"/>
                      <a:gd name="T10" fmla="*/ 0 w 95"/>
                      <a:gd name="T11" fmla="*/ 0 h 36"/>
                      <a:gd name="T12" fmla="*/ 0 w 95"/>
                      <a:gd name="T13" fmla="*/ 0 h 36"/>
                      <a:gd name="T14" fmla="*/ 0 60000 65536"/>
                      <a:gd name="T15" fmla="*/ 0 60000 65536"/>
                      <a:gd name="T16" fmla="*/ 0 60000 65536"/>
                      <a:gd name="T17" fmla="*/ 0 60000 65536"/>
                      <a:gd name="T18" fmla="*/ 0 60000 65536"/>
                      <a:gd name="T19" fmla="*/ 0 60000 65536"/>
                      <a:gd name="T20" fmla="*/ 0 60000 65536"/>
                      <a:gd name="T21" fmla="*/ 0 w 95"/>
                      <a:gd name="T22" fmla="*/ 0 h 36"/>
                      <a:gd name="T23" fmla="*/ 95 w 95"/>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95" h="36">
                        <a:moveTo>
                          <a:pt x="0" y="36"/>
                        </a:moveTo>
                        <a:lnTo>
                          <a:pt x="2" y="19"/>
                        </a:lnTo>
                        <a:lnTo>
                          <a:pt x="8" y="7"/>
                        </a:lnTo>
                        <a:lnTo>
                          <a:pt x="12" y="0"/>
                        </a:lnTo>
                        <a:lnTo>
                          <a:pt x="76" y="0"/>
                        </a:lnTo>
                        <a:lnTo>
                          <a:pt x="95"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43" name="Group 2501"/>
                <p:cNvGrpSpPr>
                  <a:grpSpLocks/>
                </p:cNvGrpSpPr>
                <p:nvPr/>
              </p:nvGrpSpPr>
              <p:grpSpPr bwMode="auto">
                <a:xfrm>
                  <a:off x="844" y="3694"/>
                  <a:ext cx="48" cy="23"/>
                  <a:chOff x="844" y="3694"/>
                  <a:chExt cx="48" cy="23"/>
                </a:xfrm>
              </p:grpSpPr>
              <p:sp>
                <p:nvSpPr>
                  <p:cNvPr id="663" name="Freeform 2502"/>
                  <p:cNvSpPr>
                    <a:spLocks/>
                  </p:cNvSpPr>
                  <p:nvPr/>
                </p:nvSpPr>
                <p:spPr bwMode="auto">
                  <a:xfrm>
                    <a:off x="844" y="3694"/>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9" y="0"/>
                        </a:lnTo>
                        <a:lnTo>
                          <a:pt x="24" y="32"/>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64" name="Freeform 2503"/>
                  <p:cNvSpPr>
                    <a:spLocks/>
                  </p:cNvSpPr>
                  <p:nvPr/>
                </p:nvSpPr>
                <p:spPr bwMode="auto">
                  <a:xfrm>
                    <a:off x="848" y="369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1" y="3"/>
                        </a:lnTo>
                        <a:lnTo>
                          <a:pt x="57" y="12"/>
                        </a:lnTo>
                        <a:lnTo>
                          <a:pt x="74" y="30"/>
                        </a:lnTo>
                        <a:lnTo>
                          <a:pt x="19" y="30"/>
                        </a:lnTo>
                        <a:lnTo>
                          <a:pt x="9" y="21"/>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65" name="Freeform 2504"/>
                  <p:cNvSpPr>
                    <a:spLocks/>
                  </p:cNvSpPr>
                  <p:nvPr/>
                </p:nvSpPr>
                <p:spPr bwMode="auto">
                  <a:xfrm>
                    <a:off x="851" y="3706"/>
                    <a:ext cx="41" cy="11"/>
                  </a:xfrm>
                  <a:custGeom>
                    <a:avLst/>
                    <a:gdLst>
                      <a:gd name="T0" fmla="*/ 0 w 81"/>
                      <a:gd name="T1" fmla="*/ 0 h 34"/>
                      <a:gd name="T2" fmla="*/ 1 w 81"/>
                      <a:gd name="T3" fmla="*/ 0 h 34"/>
                      <a:gd name="T4" fmla="*/ 1 w 81"/>
                      <a:gd name="T5" fmla="*/ 0 h 34"/>
                      <a:gd name="T6" fmla="*/ 1 w 81"/>
                      <a:gd name="T7" fmla="*/ 0 h 34"/>
                      <a:gd name="T8" fmla="*/ 1 w 81"/>
                      <a:gd name="T9" fmla="*/ 0 h 34"/>
                      <a:gd name="T10" fmla="*/ 1 w 81"/>
                      <a:gd name="T11" fmla="*/ 0 h 34"/>
                      <a:gd name="T12" fmla="*/ 0 w 81"/>
                      <a:gd name="T13" fmla="*/ 0 h 34"/>
                      <a:gd name="T14" fmla="*/ 0 60000 65536"/>
                      <a:gd name="T15" fmla="*/ 0 60000 65536"/>
                      <a:gd name="T16" fmla="*/ 0 60000 65536"/>
                      <a:gd name="T17" fmla="*/ 0 60000 65536"/>
                      <a:gd name="T18" fmla="*/ 0 60000 65536"/>
                      <a:gd name="T19" fmla="*/ 0 60000 65536"/>
                      <a:gd name="T20" fmla="*/ 0 60000 65536"/>
                      <a:gd name="T21" fmla="*/ 0 w 81"/>
                      <a:gd name="T22" fmla="*/ 0 h 34"/>
                      <a:gd name="T23" fmla="*/ 81 w 81"/>
                      <a:gd name="T24" fmla="*/ 34 h 3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4">
                        <a:moveTo>
                          <a:pt x="0" y="34"/>
                        </a:moveTo>
                        <a:lnTo>
                          <a:pt x="1" y="19"/>
                        </a:lnTo>
                        <a:lnTo>
                          <a:pt x="5" y="6"/>
                        </a:lnTo>
                        <a:lnTo>
                          <a:pt x="10" y="0"/>
                        </a:lnTo>
                        <a:lnTo>
                          <a:pt x="67" y="0"/>
                        </a:lnTo>
                        <a:lnTo>
                          <a:pt x="81" y="34"/>
                        </a:lnTo>
                        <a:lnTo>
                          <a:pt x="0" y="34"/>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44" name="Group 2505"/>
                <p:cNvGrpSpPr>
                  <a:grpSpLocks/>
                </p:cNvGrpSpPr>
                <p:nvPr/>
              </p:nvGrpSpPr>
              <p:grpSpPr bwMode="auto">
                <a:xfrm>
                  <a:off x="857" y="3710"/>
                  <a:ext cx="49" cy="22"/>
                  <a:chOff x="857" y="3710"/>
                  <a:chExt cx="49" cy="22"/>
                </a:xfrm>
              </p:grpSpPr>
              <p:sp>
                <p:nvSpPr>
                  <p:cNvPr id="660" name="Freeform 2506"/>
                  <p:cNvSpPr>
                    <a:spLocks/>
                  </p:cNvSpPr>
                  <p:nvPr/>
                </p:nvSpPr>
                <p:spPr bwMode="auto">
                  <a:xfrm>
                    <a:off x="857" y="3710"/>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61" name="Freeform 2507"/>
                  <p:cNvSpPr>
                    <a:spLocks/>
                  </p:cNvSpPr>
                  <p:nvPr/>
                </p:nvSpPr>
                <p:spPr bwMode="auto">
                  <a:xfrm>
                    <a:off x="862" y="371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62" name="Freeform 2508"/>
                  <p:cNvSpPr>
                    <a:spLocks/>
                  </p:cNvSpPr>
                  <p:nvPr/>
                </p:nvSpPr>
                <p:spPr bwMode="auto">
                  <a:xfrm>
                    <a:off x="865" y="3720"/>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45" name="Group 2509"/>
                <p:cNvGrpSpPr>
                  <a:grpSpLocks/>
                </p:cNvGrpSpPr>
                <p:nvPr/>
              </p:nvGrpSpPr>
              <p:grpSpPr bwMode="auto">
                <a:xfrm>
                  <a:off x="1086" y="3766"/>
                  <a:ext cx="49" cy="23"/>
                  <a:chOff x="1086" y="3766"/>
                  <a:chExt cx="49" cy="23"/>
                </a:xfrm>
              </p:grpSpPr>
              <p:sp>
                <p:nvSpPr>
                  <p:cNvPr id="657" name="Freeform 2510"/>
                  <p:cNvSpPr>
                    <a:spLocks/>
                  </p:cNvSpPr>
                  <p:nvPr/>
                </p:nvSpPr>
                <p:spPr bwMode="auto">
                  <a:xfrm>
                    <a:off x="1086" y="3766"/>
                    <a:ext cx="11" cy="23"/>
                  </a:xfrm>
                  <a:custGeom>
                    <a:avLst/>
                    <a:gdLst>
                      <a:gd name="T0" fmla="*/ 1 w 22"/>
                      <a:gd name="T1" fmla="*/ 0 h 69"/>
                      <a:gd name="T2" fmla="*/ 0 w 22"/>
                      <a:gd name="T3" fmla="*/ 0 h 69"/>
                      <a:gd name="T4" fmla="*/ 1 w 22"/>
                      <a:gd name="T5" fmla="*/ 0 h 69"/>
                      <a:gd name="T6" fmla="*/ 1 w 22"/>
                      <a:gd name="T7" fmla="*/ 0 h 69"/>
                      <a:gd name="T8" fmla="*/ 1 w 22"/>
                      <a:gd name="T9" fmla="*/ 0 h 69"/>
                      <a:gd name="T10" fmla="*/ 0 60000 65536"/>
                      <a:gd name="T11" fmla="*/ 0 60000 65536"/>
                      <a:gd name="T12" fmla="*/ 0 60000 65536"/>
                      <a:gd name="T13" fmla="*/ 0 60000 65536"/>
                      <a:gd name="T14" fmla="*/ 0 60000 65536"/>
                      <a:gd name="T15" fmla="*/ 0 w 22"/>
                      <a:gd name="T16" fmla="*/ 0 h 69"/>
                      <a:gd name="T17" fmla="*/ 22 w 22"/>
                      <a:gd name="T18" fmla="*/ 69 h 69"/>
                    </a:gdLst>
                    <a:ahLst/>
                    <a:cxnLst>
                      <a:cxn ang="T10">
                        <a:pos x="T0" y="T1"/>
                      </a:cxn>
                      <a:cxn ang="T11">
                        <a:pos x="T2" y="T3"/>
                      </a:cxn>
                      <a:cxn ang="T12">
                        <a:pos x="T4" y="T5"/>
                      </a:cxn>
                      <a:cxn ang="T13">
                        <a:pos x="T6" y="T7"/>
                      </a:cxn>
                      <a:cxn ang="T14">
                        <a:pos x="T8" y="T9"/>
                      </a:cxn>
                    </a:cxnLst>
                    <a:rect l="T15" t="T16" r="T17" b="T18"/>
                    <a:pathLst>
                      <a:path w="22" h="69">
                        <a:moveTo>
                          <a:pt x="13" y="69"/>
                        </a:moveTo>
                        <a:lnTo>
                          <a:pt x="0" y="27"/>
                        </a:lnTo>
                        <a:lnTo>
                          <a:pt x="9" y="0"/>
                        </a:lnTo>
                        <a:lnTo>
                          <a:pt x="22" y="32"/>
                        </a:lnTo>
                        <a:lnTo>
                          <a:pt x="13" y="69"/>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58" name="Freeform 2511"/>
                  <p:cNvSpPr>
                    <a:spLocks/>
                  </p:cNvSpPr>
                  <p:nvPr/>
                </p:nvSpPr>
                <p:spPr bwMode="auto">
                  <a:xfrm>
                    <a:off x="1090" y="3767"/>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3" y="0"/>
                        </a:moveTo>
                        <a:lnTo>
                          <a:pt x="51" y="0"/>
                        </a:lnTo>
                        <a:lnTo>
                          <a:pt x="53" y="4"/>
                        </a:lnTo>
                        <a:lnTo>
                          <a:pt x="56" y="13"/>
                        </a:lnTo>
                        <a:lnTo>
                          <a:pt x="74" y="31"/>
                        </a:lnTo>
                        <a:lnTo>
                          <a:pt x="18" y="31"/>
                        </a:lnTo>
                        <a:lnTo>
                          <a:pt x="9" y="22"/>
                        </a:lnTo>
                        <a:lnTo>
                          <a:pt x="0" y="6"/>
                        </a:lnTo>
                        <a:lnTo>
                          <a:pt x="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59" name="Freeform 2512"/>
                  <p:cNvSpPr>
                    <a:spLocks/>
                  </p:cNvSpPr>
                  <p:nvPr/>
                </p:nvSpPr>
                <p:spPr bwMode="auto">
                  <a:xfrm>
                    <a:off x="1093" y="3777"/>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6"/>
                        </a:lnTo>
                        <a:lnTo>
                          <a:pt x="11" y="0"/>
                        </a:lnTo>
                        <a:lnTo>
                          <a:pt x="68"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46" name="Group 2513"/>
                <p:cNvGrpSpPr>
                  <a:grpSpLocks/>
                </p:cNvGrpSpPr>
                <p:nvPr/>
              </p:nvGrpSpPr>
              <p:grpSpPr bwMode="auto">
                <a:xfrm>
                  <a:off x="934" y="3740"/>
                  <a:ext cx="48" cy="23"/>
                  <a:chOff x="934" y="3740"/>
                  <a:chExt cx="48" cy="23"/>
                </a:xfrm>
              </p:grpSpPr>
              <p:sp>
                <p:nvSpPr>
                  <p:cNvPr id="654" name="Freeform 2514"/>
                  <p:cNvSpPr>
                    <a:spLocks/>
                  </p:cNvSpPr>
                  <p:nvPr/>
                </p:nvSpPr>
                <p:spPr bwMode="auto">
                  <a:xfrm>
                    <a:off x="934" y="3740"/>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9"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55" name="Freeform 2515"/>
                  <p:cNvSpPr>
                    <a:spLocks/>
                  </p:cNvSpPr>
                  <p:nvPr/>
                </p:nvSpPr>
                <p:spPr bwMode="auto">
                  <a:xfrm>
                    <a:off x="938" y="3741"/>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4"/>
                        </a:lnTo>
                        <a:lnTo>
                          <a:pt x="57" y="13"/>
                        </a:lnTo>
                        <a:lnTo>
                          <a:pt x="74" y="30"/>
                        </a:lnTo>
                        <a:lnTo>
                          <a:pt x="19" y="30"/>
                        </a:lnTo>
                        <a:lnTo>
                          <a:pt x="9" y="22"/>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56" name="Freeform 2516"/>
                  <p:cNvSpPr>
                    <a:spLocks/>
                  </p:cNvSpPr>
                  <p:nvPr/>
                </p:nvSpPr>
                <p:spPr bwMode="auto">
                  <a:xfrm>
                    <a:off x="941" y="375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6"/>
                        </a:lnTo>
                        <a:lnTo>
                          <a:pt x="10" y="0"/>
                        </a:lnTo>
                        <a:lnTo>
                          <a:pt x="67" y="0"/>
                        </a:lnTo>
                        <a:lnTo>
                          <a:pt x="81"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47" name="Group 2517"/>
                <p:cNvGrpSpPr>
                  <a:grpSpLocks/>
                </p:cNvGrpSpPr>
                <p:nvPr/>
              </p:nvGrpSpPr>
              <p:grpSpPr bwMode="auto">
                <a:xfrm>
                  <a:off x="943" y="3754"/>
                  <a:ext cx="49" cy="23"/>
                  <a:chOff x="943" y="3754"/>
                  <a:chExt cx="49" cy="23"/>
                </a:xfrm>
              </p:grpSpPr>
              <p:sp>
                <p:nvSpPr>
                  <p:cNvPr id="651" name="Freeform 2518"/>
                  <p:cNvSpPr>
                    <a:spLocks/>
                  </p:cNvSpPr>
                  <p:nvPr/>
                </p:nvSpPr>
                <p:spPr bwMode="auto">
                  <a:xfrm>
                    <a:off x="943" y="3754"/>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52" name="Freeform 2519"/>
                  <p:cNvSpPr>
                    <a:spLocks/>
                  </p:cNvSpPr>
                  <p:nvPr/>
                </p:nvSpPr>
                <p:spPr bwMode="auto">
                  <a:xfrm>
                    <a:off x="948" y="375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1" y="0"/>
                        </a:moveTo>
                        <a:lnTo>
                          <a:pt x="49" y="0"/>
                        </a:lnTo>
                        <a:lnTo>
                          <a:pt x="50" y="3"/>
                        </a:lnTo>
                        <a:lnTo>
                          <a:pt x="57" y="12"/>
                        </a:lnTo>
                        <a:lnTo>
                          <a:pt x="74"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53" name="Freeform 2520"/>
                  <p:cNvSpPr>
                    <a:spLocks/>
                  </p:cNvSpPr>
                  <p:nvPr/>
                </p:nvSpPr>
                <p:spPr bwMode="auto">
                  <a:xfrm>
                    <a:off x="951" y="3765"/>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648" name="Freeform 2521"/>
                <p:cNvSpPr>
                  <a:spLocks/>
                </p:cNvSpPr>
                <p:nvPr/>
              </p:nvSpPr>
              <p:spPr bwMode="auto">
                <a:xfrm>
                  <a:off x="987" y="3753"/>
                  <a:ext cx="25" cy="43"/>
                </a:xfrm>
                <a:custGeom>
                  <a:avLst/>
                  <a:gdLst>
                    <a:gd name="T0" fmla="*/ 0 w 51"/>
                    <a:gd name="T1" fmla="*/ 0 h 128"/>
                    <a:gd name="T2" fmla="*/ 0 w 51"/>
                    <a:gd name="T3" fmla="*/ 0 h 128"/>
                    <a:gd name="T4" fmla="*/ 0 w 51"/>
                    <a:gd name="T5" fmla="*/ 0 h 128"/>
                    <a:gd name="T6" fmla="*/ 0 w 51"/>
                    <a:gd name="T7" fmla="*/ 0 h 128"/>
                    <a:gd name="T8" fmla="*/ 0 w 51"/>
                    <a:gd name="T9" fmla="*/ 0 h 128"/>
                    <a:gd name="T10" fmla="*/ 0 w 51"/>
                    <a:gd name="T11" fmla="*/ 0 h 128"/>
                    <a:gd name="T12" fmla="*/ 0 w 51"/>
                    <a:gd name="T13" fmla="*/ 0 h 128"/>
                    <a:gd name="T14" fmla="*/ 0 60000 65536"/>
                    <a:gd name="T15" fmla="*/ 0 60000 65536"/>
                    <a:gd name="T16" fmla="*/ 0 60000 65536"/>
                    <a:gd name="T17" fmla="*/ 0 60000 65536"/>
                    <a:gd name="T18" fmla="*/ 0 60000 65536"/>
                    <a:gd name="T19" fmla="*/ 0 60000 65536"/>
                    <a:gd name="T20" fmla="*/ 0 60000 65536"/>
                    <a:gd name="T21" fmla="*/ 0 w 51"/>
                    <a:gd name="T22" fmla="*/ 0 h 128"/>
                    <a:gd name="T23" fmla="*/ 51 w 51"/>
                    <a:gd name="T24" fmla="*/ 128 h 12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1" h="128">
                      <a:moveTo>
                        <a:pt x="40" y="128"/>
                      </a:moveTo>
                      <a:lnTo>
                        <a:pt x="0" y="29"/>
                      </a:lnTo>
                      <a:lnTo>
                        <a:pt x="0" y="20"/>
                      </a:lnTo>
                      <a:lnTo>
                        <a:pt x="2" y="11"/>
                      </a:lnTo>
                      <a:lnTo>
                        <a:pt x="10" y="0"/>
                      </a:lnTo>
                      <a:lnTo>
                        <a:pt x="51" y="91"/>
                      </a:lnTo>
                      <a:lnTo>
                        <a:pt x="40" y="12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49" name="Freeform 2522"/>
                <p:cNvSpPr>
                  <a:spLocks/>
                </p:cNvSpPr>
                <p:nvPr/>
              </p:nvSpPr>
              <p:spPr bwMode="auto">
                <a:xfrm>
                  <a:off x="992" y="3753"/>
                  <a:ext cx="91" cy="29"/>
                </a:xfrm>
                <a:custGeom>
                  <a:avLst/>
                  <a:gdLst>
                    <a:gd name="T0" fmla="*/ 0 w 183"/>
                    <a:gd name="T1" fmla="*/ 0 h 85"/>
                    <a:gd name="T2" fmla="*/ 0 w 183"/>
                    <a:gd name="T3" fmla="*/ 0 h 85"/>
                    <a:gd name="T4" fmla="*/ 0 w 183"/>
                    <a:gd name="T5" fmla="*/ 0 h 85"/>
                    <a:gd name="T6" fmla="*/ 0 w 183"/>
                    <a:gd name="T7" fmla="*/ 0 h 85"/>
                    <a:gd name="T8" fmla="*/ 0 w 183"/>
                    <a:gd name="T9" fmla="*/ 0 h 85"/>
                    <a:gd name="T10" fmla="*/ 1 w 183"/>
                    <a:gd name="T11" fmla="*/ 0 h 85"/>
                    <a:gd name="T12" fmla="*/ 1 w 183"/>
                    <a:gd name="T13" fmla="*/ 0 h 85"/>
                    <a:gd name="T14" fmla="*/ 1 w 183"/>
                    <a:gd name="T15" fmla="*/ 0 h 85"/>
                    <a:gd name="T16" fmla="*/ 1 w 183"/>
                    <a:gd name="T17" fmla="*/ 0 h 85"/>
                    <a:gd name="T18" fmla="*/ 0 w 183"/>
                    <a:gd name="T19" fmla="*/ 0 h 85"/>
                    <a:gd name="T20" fmla="*/ 0 w 183"/>
                    <a:gd name="T21" fmla="*/ 0 h 85"/>
                    <a:gd name="T22" fmla="*/ 0 w 183"/>
                    <a:gd name="T23" fmla="*/ 0 h 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83"/>
                    <a:gd name="T37" fmla="*/ 0 h 85"/>
                    <a:gd name="T38" fmla="*/ 183 w 183"/>
                    <a:gd name="T39" fmla="*/ 85 h 8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83" h="85">
                      <a:moveTo>
                        <a:pt x="0" y="0"/>
                      </a:moveTo>
                      <a:lnTo>
                        <a:pt x="64" y="0"/>
                      </a:lnTo>
                      <a:lnTo>
                        <a:pt x="67" y="13"/>
                      </a:lnTo>
                      <a:lnTo>
                        <a:pt x="75" y="28"/>
                      </a:lnTo>
                      <a:lnTo>
                        <a:pt x="84" y="42"/>
                      </a:lnTo>
                      <a:lnTo>
                        <a:pt x="158" y="42"/>
                      </a:lnTo>
                      <a:lnTo>
                        <a:pt x="163" y="55"/>
                      </a:lnTo>
                      <a:lnTo>
                        <a:pt x="172" y="67"/>
                      </a:lnTo>
                      <a:lnTo>
                        <a:pt x="183" y="85"/>
                      </a:lnTo>
                      <a:lnTo>
                        <a:pt x="64" y="85"/>
                      </a:lnTo>
                      <a:lnTo>
                        <a:pt x="41" y="85"/>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50" name="Freeform 2523"/>
                <p:cNvSpPr>
                  <a:spLocks/>
                </p:cNvSpPr>
                <p:nvPr/>
              </p:nvSpPr>
              <p:spPr bwMode="auto">
                <a:xfrm>
                  <a:off x="1008" y="3782"/>
                  <a:ext cx="81" cy="12"/>
                </a:xfrm>
                <a:custGeom>
                  <a:avLst/>
                  <a:gdLst>
                    <a:gd name="T0" fmla="*/ 0 w 160"/>
                    <a:gd name="T1" fmla="*/ 0 h 36"/>
                    <a:gd name="T2" fmla="*/ 1 w 160"/>
                    <a:gd name="T3" fmla="*/ 0 h 36"/>
                    <a:gd name="T4" fmla="*/ 1 w 160"/>
                    <a:gd name="T5" fmla="*/ 0 h 36"/>
                    <a:gd name="T6" fmla="*/ 1 w 160"/>
                    <a:gd name="T7" fmla="*/ 0 h 36"/>
                    <a:gd name="T8" fmla="*/ 2 w 160"/>
                    <a:gd name="T9" fmla="*/ 0 h 36"/>
                    <a:gd name="T10" fmla="*/ 2 w 160"/>
                    <a:gd name="T11" fmla="*/ 0 h 36"/>
                    <a:gd name="T12" fmla="*/ 0 w 160"/>
                    <a:gd name="T13" fmla="*/ 0 h 36"/>
                    <a:gd name="T14" fmla="*/ 0 60000 65536"/>
                    <a:gd name="T15" fmla="*/ 0 60000 65536"/>
                    <a:gd name="T16" fmla="*/ 0 60000 65536"/>
                    <a:gd name="T17" fmla="*/ 0 60000 65536"/>
                    <a:gd name="T18" fmla="*/ 0 60000 65536"/>
                    <a:gd name="T19" fmla="*/ 0 60000 65536"/>
                    <a:gd name="T20" fmla="*/ 0 60000 65536"/>
                    <a:gd name="T21" fmla="*/ 0 w 160"/>
                    <a:gd name="T22" fmla="*/ 0 h 36"/>
                    <a:gd name="T23" fmla="*/ 160 w 16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60" h="36">
                      <a:moveTo>
                        <a:pt x="0" y="36"/>
                      </a:moveTo>
                      <a:lnTo>
                        <a:pt x="1" y="20"/>
                      </a:lnTo>
                      <a:lnTo>
                        <a:pt x="7" y="8"/>
                      </a:lnTo>
                      <a:lnTo>
                        <a:pt x="10" y="0"/>
                      </a:lnTo>
                      <a:lnTo>
                        <a:pt x="150" y="0"/>
                      </a:lnTo>
                      <a:lnTo>
                        <a:pt x="160"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45" name="Group 2524"/>
              <p:cNvGrpSpPr>
                <a:grpSpLocks/>
              </p:cNvGrpSpPr>
              <p:nvPr/>
            </p:nvGrpSpPr>
            <p:grpSpPr bwMode="auto">
              <a:xfrm>
                <a:off x="920" y="3821"/>
                <a:ext cx="413" cy="50"/>
                <a:chOff x="920" y="3821"/>
                <a:chExt cx="413" cy="50"/>
              </a:xfrm>
            </p:grpSpPr>
            <p:sp>
              <p:nvSpPr>
                <p:cNvPr id="566" name="Freeform 2525"/>
                <p:cNvSpPr>
                  <a:spLocks/>
                </p:cNvSpPr>
                <p:nvPr/>
              </p:nvSpPr>
              <p:spPr bwMode="auto">
                <a:xfrm>
                  <a:off x="920" y="3821"/>
                  <a:ext cx="413" cy="50"/>
                </a:xfrm>
                <a:custGeom>
                  <a:avLst/>
                  <a:gdLst>
                    <a:gd name="T0" fmla="*/ 1 w 825"/>
                    <a:gd name="T1" fmla="*/ 0 h 151"/>
                    <a:gd name="T2" fmla="*/ 1 w 825"/>
                    <a:gd name="T3" fmla="*/ 0 h 151"/>
                    <a:gd name="T4" fmla="*/ 1 w 825"/>
                    <a:gd name="T5" fmla="*/ 0 h 151"/>
                    <a:gd name="T6" fmla="*/ 0 w 825"/>
                    <a:gd name="T7" fmla="*/ 0 h 151"/>
                    <a:gd name="T8" fmla="*/ 1 w 825"/>
                    <a:gd name="T9" fmla="*/ 0 h 151"/>
                    <a:gd name="T10" fmla="*/ 1 w 825"/>
                    <a:gd name="T11" fmla="*/ 0 h 151"/>
                    <a:gd name="T12" fmla="*/ 1 w 825"/>
                    <a:gd name="T13" fmla="*/ 0 h 151"/>
                    <a:gd name="T14" fmla="*/ 7 w 825"/>
                    <a:gd name="T15" fmla="*/ 0 h 151"/>
                    <a:gd name="T16" fmla="*/ 7 w 825"/>
                    <a:gd name="T17" fmla="*/ 0 h 151"/>
                    <a:gd name="T18" fmla="*/ 7 w 825"/>
                    <a:gd name="T19" fmla="*/ 0 h 151"/>
                    <a:gd name="T20" fmla="*/ 7 w 825"/>
                    <a:gd name="T21" fmla="*/ 0 h 151"/>
                    <a:gd name="T22" fmla="*/ 7 w 825"/>
                    <a:gd name="T23" fmla="*/ 0 h 151"/>
                    <a:gd name="T24" fmla="*/ 7 w 825"/>
                    <a:gd name="T25" fmla="*/ 0 h 151"/>
                    <a:gd name="T26" fmla="*/ 7 w 825"/>
                    <a:gd name="T27" fmla="*/ 0 h 151"/>
                    <a:gd name="T28" fmla="*/ 1 w 825"/>
                    <a:gd name="T29" fmla="*/ 0 h 15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825"/>
                    <a:gd name="T46" fmla="*/ 0 h 151"/>
                    <a:gd name="T47" fmla="*/ 825 w 825"/>
                    <a:gd name="T48" fmla="*/ 151 h 15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825" h="151">
                      <a:moveTo>
                        <a:pt x="35" y="13"/>
                      </a:moveTo>
                      <a:lnTo>
                        <a:pt x="17" y="27"/>
                      </a:lnTo>
                      <a:lnTo>
                        <a:pt x="9" y="48"/>
                      </a:lnTo>
                      <a:lnTo>
                        <a:pt x="0" y="97"/>
                      </a:lnTo>
                      <a:lnTo>
                        <a:pt x="4" y="124"/>
                      </a:lnTo>
                      <a:lnTo>
                        <a:pt x="13" y="138"/>
                      </a:lnTo>
                      <a:lnTo>
                        <a:pt x="26" y="151"/>
                      </a:lnTo>
                      <a:lnTo>
                        <a:pt x="783" y="142"/>
                      </a:lnTo>
                      <a:lnTo>
                        <a:pt x="807" y="128"/>
                      </a:lnTo>
                      <a:lnTo>
                        <a:pt x="816" y="107"/>
                      </a:lnTo>
                      <a:lnTo>
                        <a:pt x="825" y="61"/>
                      </a:lnTo>
                      <a:lnTo>
                        <a:pt x="821" y="27"/>
                      </a:lnTo>
                      <a:lnTo>
                        <a:pt x="806" y="9"/>
                      </a:lnTo>
                      <a:lnTo>
                        <a:pt x="785" y="0"/>
                      </a:lnTo>
                      <a:lnTo>
                        <a:pt x="35" y="13"/>
                      </a:lnTo>
                      <a:close/>
                    </a:path>
                  </a:pathLst>
                </a:custGeom>
                <a:solidFill>
                  <a:srgbClr val="202020"/>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67" name="Freeform 2526"/>
                <p:cNvSpPr>
                  <a:spLocks/>
                </p:cNvSpPr>
                <p:nvPr/>
              </p:nvSpPr>
              <p:spPr bwMode="auto">
                <a:xfrm>
                  <a:off x="972" y="3833"/>
                  <a:ext cx="330" cy="27"/>
                </a:xfrm>
                <a:custGeom>
                  <a:avLst/>
                  <a:gdLst>
                    <a:gd name="T0" fmla="*/ 1 w 658"/>
                    <a:gd name="T1" fmla="*/ 0 h 79"/>
                    <a:gd name="T2" fmla="*/ 0 w 658"/>
                    <a:gd name="T3" fmla="*/ 0 h 79"/>
                    <a:gd name="T4" fmla="*/ 2 w 658"/>
                    <a:gd name="T5" fmla="*/ 0 h 79"/>
                    <a:gd name="T6" fmla="*/ 2 w 658"/>
                    <a:gd name="T7" fmla="*/ 0 h 79"/>
                    <a:gd name="T8" fmla="*/ 4 w 658"/>
                    <a:gd name="T9" fmla="*/ 0 h 79"/>
                    <a:gd name="T10" fmla="*/ 4 w 658"/>
                    <a:gd name="T11" fmla="*/ 0 h 79"/>
                    <a:gd name="T12" fmla="*/ 6 w 658"/>
                    <a:gd name="T13" fmla="*/ 0 h 79"/>
                    <a:gd name="T14" fmla="*/ 6 w 658"/>
                    <a:gd name="T15" fmla="*/ 0 h 79"/>
                    <a:gd name="T16" fmla="*/ 4 w 658"/>
                    <a:gd name="T17" fmla="*/ 0 h 79"/>
                    <a:gd name="T18" fmla="*/ 4 w 658"/>
                    <a:gd name="T19" fmla="*/ 0 h 79"/>
                    <a:gd name="T20" fmla="*/ 2 w 658"/>
                    <a:gd name="T21" fmla="*/ 0 h 79"/>
                    <a:gd name="T22" fmla="*/ 2 w 658"/>
                    <a:gd name="T23" fmla="*/ 0 h 79"/>
                    <a:gd name="T24" fmla="*/ 1 w 658"/>
                    <a:gd name="T25" fmla="*/ 0 h 7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658"/>
                    <a:gd name="T40" fmla="*/ 0 h 79"/>
                    <a:gd name="T41" fmla="*/ 658 w 658"/>
                    <a:gd name="T42" fmla="*/ 79 h 7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658" h="79">
                      <a:moveTo>
                        <a:pt x="4" y="23"/>
                      </a:moveTo>
                      <a:lnTo>
                        <a:pt x="0" y="50"/>
                      </a:lnTo>
                      <a:lnTo>
                        <a:pt x="153" y="50"/>
                      </a:lnTo>
                      <a:lnTo>
                        <a:pt x="153" y="79"/>
                      </a:lnTo>
                      <a:lnTo>
                        <a:pt x="500" y="73"/>
                      </a:lnTo>
                      <a:lnTo>
                        <a:pt x="500" y="50"/>
                      </a:lnTo>
                      <a:lnTo>
                        <a:pt x="656" y="50"/>
                      </a:lnTo>
                      <a:lnTo>
                        <a:pt x="658" y="23"/>
                      </a:lnTo>
                      <a:lnTo>
                        <a:pt x="504" y="23"/>
                      </a:lnTo>
                      <a:lnTo>
                        <a:pt x="504" y="0"/>
                      </a:lnTo>
                      <a:lnTo>
                        <a:pt x="153" y="8"/>
                      </a:lnTo>
                      <a:lnTo>
                        <a:pt x="153" y="23"/>
                      </a:lnTo>
                      <a:lnTo>
                        <a:pt x="4"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68" name="Rectangle 2527"/>
                <p:cNvSpPr>
                  <a:spLocks noChangeArrowheads="1"/>
                </p:cNvSpPr>
                <p:nvPr/>
              </p:nvSpPr>
              <p:spPr bwMode="auto">
                <a:xfrm>
                  <a:off x="982" y="3856"/>
                  <a:ext cx="26" cy="7"/>
                </a:xfrm>
                <a:prstGeom prst="rect">
                  <a:avLst/>
                </a:prstGeom>
                <a:solidFill>
                  <a:srgbClr val="00A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569" name="Rectangle 2528"/>
                <p:cNvSpPr>
                  <a:spLocks noChangeArrowheads="1"/>
                </p:cNvSpPr>
                <p:nvPr/>
              </p:nvSpPr>
              <p:spPr bwMode="auto">
                <a:xfrm>
                  <a:off x="1237" y="3855"/>
                  <a:ext cx="53" cy="6"/>
                </a:xfrm>
                <a:prstGeom prst="rect">
                  <a:avLst/>
                </a:prstGeom>
                <a:solidFill>
                  <a:srgbClr val="202020"/>
                </a:solidFill>
                <a:ln w="7938">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nvGrpSpPr>
              <p:cNvPr id="546" name="Group 2529"/>
              <p:cNvGrpSpPr>
                <a:grpSpLocks/>
              </p:cNvGrpSpPr>
              <p:nvPr/>
            </p:nvGrpSpPr>
            <p:grpSpPr bwMode="auto">
              <a:xfrm>
                <a:off x="1227" y="3477"/>
                <a:ext cx="508" cy="321"/>
                <a:chOff x="1227" y="3477"/>
                <a:chExt cx="508" cy="321"/>
              </a:xfrm>
            </p:grpSpPr>
            <p:sp>
              <p:nvSpPr>
                <p:cNvPr id="547" name="Freeform 2530"/>
                <p:cNvSpPr>
                  <a:spLocks/>
                </p:cNvSpPr>
                <p:nvPr/>
              </p:nvSpPr>
              <p:spPr bwMode="auto">
                <a:xfrm>
                  <a:off x="1640" y="3731"/>
                  <a:ext cx="95" cy="66"/>
                </a:xfrm>
                <a:custGeom>
                  <a:avLst/>
                  <a:gdLst>
                    <a:gd name="T0" fmla="*/ 0 w 191"/>
                    <a:gd name="T1" fmla="*/ 0 h 200"/>
                    <a:gd name="T2" fmla="*/ 0 w 191"/>
                    <a:gd name="T3" fmla="*/ 0 h 200"/>
                    <a:gd name="T4" fmla="*/ 0 w 191"/>
                    <a:gd name="T5" fmla="*/ 0 h 200"/>
                    <a:gd name="T6" fmla="*/ 0 w 191"/>
                    <a:gd name="T7" fmla="*/ 0 h 200"/>
                    <a:gd name="T8" fmla="*/ 0 w 191"/>
                    <a:gd name="T9" fmla="*/ 0 h 200"/>
                    <a:gd name="T10" fmla="*/ 0 w 191"/>
                    <a:gd name="T11" fmla="*/ 0 h 200"/>
                    <a:gd name="T12" fmla="*/ 0 w 191"/>
                    <a:gd name="T13" fmla="*/ 0 h 200"/>
                    <a:gd name="T14" fmla="*/ 0 w 191"/>
                    <a:gd name="T15" fmla="*/ 0 h 200"/>
                    <a:gd name="T16" fmla="*/ 1 w 191"/>
                    <a:gd name="T17" fmla="*/ 0 h 200"/>
                    <a:gd name="T18" fmla="*/ 1 w 191"/>
                    <a:gd name="T19" fmla="*/ 0 h 200"/>
                    <a:gd name="T20" fmla="*/ 1 w 191"/>
                    <a:gd name="T21" fmla="*/ 0 h 200"/>
                    <a:gd name="T22" fmla="*/ 0 w 191"/>
                    <a:gd name="T23" fmla="*/ 0 h 20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91"/>
                    <a:gd name="T37" fmla="*/ 0 h 200"/>
                    <a:gd name="T38" fmla="*/ 191 w 191"/>
                    <a:gd name="T39" fmla="*/ 200 h 200"/>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91" h="200">
                      <a:moveTo>
                        <a:pt x="126" y="9"/>
                      </a:moveTo>
                      <a:lnTo>
                        <a:pt x="93" y="0"/>
                      </a:lnTo>
                      <a:lnTo>
                        <a:pt x="59" y="5"/>
                      </a:lnTo>
                      <a:lnTo>
                        <a:pt x="32" y="17"/>
                      </a:lnTo>
                      <a:lnTo>
                        <a:pt x="9" y="45"/>
                      </a:lnTo>
                      <a:lnTo>
                        <a:pt x="0" y="94"/>
                      </a:lnTo>
                      <a:lnTo>
                        <a:pt x="0" y="137"/>
                      </a:lnTo>
                      <a:lnTo>
                        <a:pt x="0" y="200"/>
                      </a:lnTo>
                      <a:lnTo>
                        <a:pt x="191" y="200"/>
                      </a:lnTo>
                      <a:lnTo>
                        <a:pt x="181" y="81"/>
                      </a:lnTo>
                      <a:lnTo>
                        <a:pt x="157" y="30"/>
                      </a:lnTo>
                      <a:lnTo>
                        <a:pt x="126" y="9"/>
                      </a:lnTo>
                      <a:close/>
                    </a:path>
                  </a:pathLst>
                </a:custGeom>
                <a:solidFill>
                  <a:schemeClr val="bg2"/>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48" name="Freeform 2531"/>
                <p:cNvSpPr>
                  <a:spLocks/>
                </p:cNvSpPr>
                <p:nvPr/>
              </p:nvSpPr>
              <p:spPr bwMode="auto">
                <a:xfrm>
                  <a:off x="1227" y="3477"/>
                  <a:ext cx="429" cy="264"/>
                </a:xfrm>
                <a:custGeom>
                  <a:avLst/>
                  <a:gdLst>
                    <a:gd name="T0" fmla="*/ 0 w 860"/>
                    <a:gd name="T1" fmla="*/ 0 h 791"/>
                    <a:gd name="T2" fmla="*/ 6 w 860"/>
                    <a:gd name="T3" fmla="*/ 0 h 791"/>
                    <a:gd name="T4" fmla="*/ 6 w 860"/>
                    <a:gd name="T5" fmla="*/ 0 h 791"/>
                    <a:gd name="T6" fmla="*/ 6 w 860"/>
                    <a:gd name="T7" fmla="*/ 0 h 791"/>
                    <a:gd name="T8" fmla="*/ 0 w 860"/>
                    <a:gd name="T9" fmla="*/ 0 h 791"/>
                    <a:gd name="T10" fmla="*/ 0 60000 65536"/>
                    <a:gd name="T11" fmla="*/ 0 60000 65536"/>
                    <a:gd name="T12" fmla="*/ 0 60000 65536"/>
                    <a:gd name="T13" fmla="*/ 0 60000 65536"/>
                    <a:gd name="T14" fmla="*/ 0 60000 65536"/>
                    <a:gd name="T15" fmla="*/ 0 w 860"/>
                    <a:gd name="T16" fmla="*/ 0 h 791"/>
                    <a:gd name="T17" fmla="*/ 860 w 860"/>
                    <a:gd name="T18" fmla="*/ 791 h 791"/>
                  </a:gdLst>
                  <a:ahLst/>
                  <a:cxnLst>
                    <a:cxn ang="T10">
                      <a:pos x="T0" y="T1"/>
                    </a:cxn>
                    <a:cxn ang="T11">
                      <a:pos x="T2" y="T3"/>
                    </a:cxn>
                    <a:cxn ang="T12">
                      <a:pos x="T4" y="T5"/>
                    </a:cxn>
                    <a:cxn ang="T13">
                      <a:pos x="T6" y="T7"/>
                    </a:cxn>
                    <a:cxn ang="T14">
                      <a:pos x="T8" y="T9"/>
                    </a:cxn>
                  </a:cxnLst>
                  <a:rect l="T15" t="T16" r="T17" b="T18"/>
                  <a:pathLst>
                    <a:path w="860" h="791">
                      <a:moveTo>
                        <a:pt x="0" y="0"/>
                      </a:moveTo>
                      <a:lnTo>
                        <a:pt x="860" y="764"/>
                      </a:lnTo>
                      <a:lnTo>
                        <a:pt x="849" y="777"/>
                      </a:lnTo>
                      <a:lnTo>
                        <a:pt x="838" y="791"/>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49" name="Freeform 2532"/>
                <p:cNvSpPr>
                  <a:spLocks/>
                </p:cNvSpPr>
                <p:nvPr/>
              </p:nvSpPr>
              <p:spPr bwMode="auto">
                <a:xfrm>
                  <a:off x="1521" y="3650"/>
                  <a:ext cx="141" cy="122"/>
                </a:xfrm>
                <a:custGeom>
                  <a:avLst/>
                  <a:gdLst>
                    <a:gd name="T0" fmla="*/ 1 w 281"/>
                    <a:gd name="T1" fmla="*/ 0 h 366"/>
                    <a:gd name="T2" fmla="*/ 1 w 281"/>
                    <a:gd name="T3" fmla="*/ 0 h 366"/>
                    <a:gd name="T4" fmla="*/ 1 w 281"/>
                    <a:gd name="T5" fmla="*/ 0 h 366"/>
                    <a:gd name="T6" fmla="*/ 1 w 281"/>
                    <a:gd name="T7" fmla="*/ 0 h 366"/>
                    <a:gd name="T8" fmla="*/ 1 w 281"/>
                    <a:gd name="T9" fmla="*/ 0 h 366"/>
                    <a:gd name="T10" fmla="*/ 2 w 281"/>
                    <a:gd name="T11" fmla="*/ 0 h 366"/>
                    <a:gd name="T12" fmla="*/ 3 w 281"/>
                    <a:gd name="T13" fmla="*/ 0 h 366"/>
                    <a:gd name="T14" fmla="*/ 3 w 281"/>
                    <a:gd name="T15" fmla="*/ 0 h 366"/>
                    <a:gd name="T16" fmla="*/ 2 w 281"/>
                    <a:gd name="T17" fmla="*/ 0 h 366"/>
                    <a:gd name="T18" fmla="*/ 2 w 281"/>
                    <a:gd name="T19" fmla="*/ 0 h 366"/>
                    <a:gd name="T20" fmla="*/ 2 w 281"/>
                    <a:gd name="T21" fmla="*/ 0 h 366"/>
                    <a:gd name="T22" fmla="*/ 2 w 281"/>
                    <a:gd name="T23" fmla="*/ 0 h 366"/>
                    <a:gd name="T24" fmla="*/ 2 w 281"/>
                    <a:gd name="T25" fmla="*/ 0 h 366"/>
                    <a:gd name="T26" fmla="*/ 2 w 281"/>
                    <a:gd name="T27" fmla="*/ 0 h 366"/>
                    <a:gd name="T28" fmla="*/ 2 w 281"/>
                    <a:gd name="T29" fmla="*/ 0 h 366"/>
                    <a:gd name="T30" fmla="*/ 0 w 281"/>
                    <a:gd name="T31" fmla="*/ 0 h 366"/>
                    <a:gd name="T32" fmla="*/ 0 w 281"/>
                    <a:gd name="T33" fmla="*/ 0 h 366"/>
                    <a:gd name="T34" fmla="*/ 1 w 281"/>
                    <a:gd name="T35" fmla="*/ 0 h 36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81"/>
                    <a:gd name="T55" fmla="*/ 0 h 366"/>
                    <a:gd name="T56" fmla="*/ 281 w 281"/>
                    <a:gd name="T57" fmla="*/ 366 h 36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81" h="366">
                      <a:moveTo>
                        <a:pt x="4" y="95"/>
                      </a:moveTo>
                      <a:lnTo>
                        <a:pt x="24" y="62"/>
                      </a:lnTo>
                      <a:lnTo>
                        <a:pt x="54" y="43"/>
                      </a:lnTo>
                      <a:lnTo>
                        <a:pt x="78" y="42"/>
                      </a:lnTo>
                      <a:lnTo>
                        <a:pt x="128" y="43"/>
                      </a:lnTo>
                      <a:lnTo>
                        <a:pt x="132" y="0"/>
                      </a:lnTo>
                      <a:lnTo>
                        <a:pt x="281" y="130"/>
                      </a:lnTo>
                      <a:lnTo>
                        <a:pt x="272" y="179"/>
                      </a:lnTo>
                      <a:lnTo>
                        <a:pt x="228" y="170"/>
                      </a:lnTo>
                      <a:lnTo>
                        <a:pt x="191" y="184"/>
                      </a:lnTo>
                      <a:lnTo>
                        <a:pt x="158" y="210"/>
                      </a:lnTo>
                      <a:lnTo>
                        <a:pt x="150" y="232"/>
                      </a:lnTo>
                      <a:lnTo>
                        <a:pt x="149" y="295"/>
                      </a:lnTo>
                      <a:lnTo>
                        <a:pt x="149" y="338"/>
                      </a:lnTo>
                      <a:lnTo>
                        <a:pt x="150" y="366"/>
                      </a:lnTo>
                      <a:lnTo>
                        <a:pt x="0" y="229"/>
                      </a:lnTo>
                      <a:lnTo>
                        <a:pt x="0" y="139"/>
                      </a:lnTo>
                      <a:lnTo>
                        <a:pt x="4" y="95"/>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0" name="Line 2533"/>
                <p:cNvSpPr>
                  <a:spLocks noChangeShapeType="1"/>
                </p:cNvSpPr>
                <p:nvPr/>
              </p:nvSpPr>
              <p:spPr bwMode="auto">
                <a:xfrm>
                  <a:off x="1586" y="3665"/>
                  <a:ext cx="76" cy="44"/>
                </a:xfrm>
                <a:prstGeom prst="line">
                  <a:avLst/>
                </a:prstGeom>
                <a:noFill/>
                <a:ln w="793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1" name="Freeform 2534"/>
                <p:cNvSpPr>
                  <a:spLocks/>
                </p:cNvSpPr>
                <p:nvPr/>
              </p:nvSpPr>
              <p:spPr bwMode="auto">
                <a:xfrm>
                  <a:off x="1242" y="3486"/>
                  <a:ext cx="111" cy="96"/>
                </a:xfrm>
                <a:custGeom>
                  <a:avLst/>
                  <a:gdLst>
                    <a:gd name="T0" fmla="*/ 1 w 222"/>
                    <a:gd name="T1" fmla="*/ 0 h 289"/>
                    <a:gd name="T2" fmla="*/ 1 w 222"/>
                    <a:gd name="T3" fmla="*/ 0 h 289"/>
                    <a:gd name="T4" fmla="*/ 1 w 222"/>
                    <a:gd name="T5" fmla="*/ 0 h 289"/>
                    <a:gd name="T6" fmla="*/ 1 w 222"/>
                    <a:gd name="T7" fmla="*/ 0 h 289"/>
                    <a:gd name="T8" fmla="*/ 2 w 222"/>
                    <a:gd name="T9" fmla="*/ 0 h 289"/>
                    <a:gd name="T10" fmla="*/ 2 w 222"/>
                    <a:gd name="T11" fmla="*/ 0 h 289"/>
                    <a:gd name="T12" fmla="*/ 2 w 222"/>
                    <a:gd name="T13" fmla="*/ 0 h 289"/>
                    <a:gd name="T14" fmla="*/ 2 w 222"/>
                    <a:gd name="T15" fmla="*/ 0 h 289"/>
                    <a:gd name="T16" fmla="*/ 2 w 222"/>
                    <a:gd name="T17" fmla="*/ 0 h 289"/>
                    <a:gd name="T18" fmla="*/ 2 w 222"/>
                    <a:gd name="T19" fmla="*/ 0 h 289"/>
                    <a:gd name="T20" fmla="*/ 2 w 222"/>
                    <a:gd name="T21" fmla="*/ 0 h 289"/>
                    <a:gd name="T22" fmla="*/ 1 w 222"/>
                    <a:gd name="T23" fmla="*/ 0 h 289"/>
                    <a:gd name="T24" fmla="*/ 1 w 222"/>
                    <a:gd name="T25" fmla="*/ 0 h 289"/>
                    <a:gd name="T26" fmla="*/ 1 w 222"/>
                    <a:gd name="T27" fmla="*/ 0 h 289"/>
                    <a:gd name="T28" fmla="*/ 1 w 222"/>
                    <a:gd name="T29" fmla="*/ 0 h 289"/>
                    <a:gd name="T30" fmla="*/ 0 w 222"/>
                    <a:gd name="T31" fmla="*/ 0 h 289"/>
                    <a:gd name="T32" fmla="*/ 1 w 222"/>
                    <a:gd name="T33" fmla="*/ 0 h 289"/>
                    <a:gd name="T34" fmla="*/ 1 w 222"/>
                    <a:gd name="T35" fmla="*/ 0 h 2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22"/>
                    <a:gd name="T55" fmla="*/ 0 h 289"/>
                    <a:gd name="T56" fmla="*/ 222 w 222"/>
                    <a:gd name="T57" fmla="*/ 289 h 2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22" h="289">
                      <a:moveTo>
                        <a:pt x="10" y="98"/>
                      </a:moveTo>
                      <a:lnTo>
                        <a:pt x="27" y="64"/>
                      </a:lnTo>
                      <a:lnTo>
                        <a:pt x="53" y="45"/>
                      </a:lnTo>
                      <a:lnTo>
                        <a:pt x="81" y="41"/>
                      </a:lnTo>
                      <a:lnTo>
                        <a:pt x="131" y="42"/>
                      </a:lnTo>
                      <a:lnTo>
                        <a:pt x="135" y="0"/>
                      </a:lnTo>
                      <a:lnTo>
                        <a:pt x="222" y="80"/>
                      </a:lnTo>
                      <a:lnTo>
                        <a:pt x="218" y="120"/>
                      </a:lnTo>
                      <a:lnTo>
                        <a:pt x="190" y="118"/>
                      </a:lnTo>
                      <a:lnTo>
                        <a:pt x="168" y="116"/>
                      </a:lnTo>
                      <a:lnTo>
                        <a:pt x="135" y="125"/>
                      </a:lnTo>
                      <a:lnTo>
                        <a:pt x="118" y="137"/>
                      </a:lnTo>
                      <a:lnTo>
                        <a:pt x="102" y="161"/>
                      </a:lnTo>
                      <a:lnTo>
                        <a:pt x="98" y="192"/>
                      </a:lnTo>
                      <a:lnTo>
                        <a:pt x="93" y="289"/>
                      </a:lnTo>
                      <a:lnTo>
                        <a:pt x="0" y="197"/>
                      </a:lnTo>
                      <a:lnTo>
                        <a:pt x="4" y="138"/>
                      </a:lnTo>
                      <a:lnTo>
                        <a:pt x="10" y="98"/>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2" name="Freeform 2535"/>
                <p:cNvSpPr>
                  <a:spLocks/>
                </p:cNvSpPr>
                <p:nvPr/>
              </p:nvSpPr>
              <p:spPr bwMode="auto">
                <a:xfrm>
                  <a:off x="1456" y="3626"/>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5"/>
                      </a:moveTo>
                      <a:lnTo>
                        <a:pt x="59" y="0"/>
                      </a:lnTo>
                      <a:lnTo>
                        <a:pt x="30" y="14"/>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3" name="Freeform 2536"/>
                <p:cNvSpPr>
                  <a:spLocks/>
                </p:cNvSpPr>
                <p:nvPr/>
              </p:nvSpPr>
              <p:spPr bwMode="auto">
                <a:xfrm>
                  <a:off x="1440" y="3615"/>
                  <a:ext cx="63" cy="61"/>
                </a:xfrm>
                <a:custGeom>
                  <a:avLst/>
                  <a:gdLst>
                    <a:gd name="T0" fmla="*/ 1 w 126"/>
                    <a:gd name="T1" fmla="*/ 0 h 185"/>
                    <a:gd name="T2" fmla="*/ 1 w 126"/>
                    <a:gd name="T3" fmla="*/ 0 h 185"/>
                    <a:gd name="T4" fmla="*/ 1 w 126"/>
                    <a:gd name="T5" fmla="*/ 0 h 185"/>
                    <a:gd name="T6" fmla="*/ 1 w 126"/>
                    <a:gd name="T7" fmla="*/ 0 h 185"/>
                    <a:gd name="T8" fmla="*/ 0 w 126"/>
                    <a:gd name="T9" fmla="*/ 0 h 185"/>
                    <a:gd name="T10" fmla="*/ 0 w 126"/>
                    <a:gd name="T11" fmla="*/ 0 h 185"/>
                    <a:gd name="T12" fmla="*/ 0 w 126"/>
                    <a:gd name="T13" fmla="*/ 0 h 185"/>
                    <a:gd name="T14" fmla="*/ 0 60000 65536"/>
                    <a:gd name="T15" fmla="*/ 0 60000 65536"/>
                    <a:gd name="T16" fmla="*/ 0 60000 65536"/>
                    <a:gd name="T17" fmla="*/ 0 60000 65536"/>
                    <a:gd name="T18" fmla="*/ 0 60000 65536"/>
                    <a:gd name="T19" fmla="*/ 0 60000 65536"/>
                    <a:gd name="T20" fmla="*/ 0 60000 65536"/>
                    <a:gd name="T21" fmla="*/ 0 w 126"/>
                    <a:gd name="T22" fmla="*/ 0 h 185"/>
                    <a:gd name="T23" fmla="*/ 126 w 126"/>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5">
                      <a:moveTo>
                        <a:pt x="126" y="3"/>
                      </a:moveTo>
                      <a:lnTo>
                        <a:pt x="59" y="0"/>
                      </a:lnTo>
                      <a:lnTo>
                        <a:pt x="24" y="15"/>
                      </a:lnTo>
                      <a:lnTo>
                        <a:pt x="9" y="39"/>
                      </a:lnTo>
                      <a:lnTo>
                        <a:pt x="0" y="88"/>
                      </a:lnTo>
                      <a:lnTo>
                        <a:pt x="0" y="185"/>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4" name="Freeform 2537"/>
                <p:cNvSpPr>
                  <a:spLocks/>
                </p:cNvSpPr>
                <p:nvPr/>
              </p:nvSpPr>
              <p:spPr bwMode="auto">
                <a:xfrm>
                  <a:off x="1422" y="3604"/>
                  <a:ext cx="64" cy="62"/>
                </a:xfrm>
                <a:custGeom>
                  <a:avLst/>
                  <a:gdLst>
                    <a:gd name="T0" fmla="*/ 1 w 127"/>
                    <a:gd name="T1" fmla="*/ 0 h 185"/>
                    <a:gd name="T2" fmla="*/ 1 w 127"/>
                    <a:gd name="T3" fmla="*/ 0 h 185"/>
                    <a:gd name="T4" fmla="*/ 1 w 127"/>
                    <a:gd name="T5" fmla="*/ 0 h 185"/>
                    <a:gd name="T6" fmla="*/ 1 w 127"/>
                    <a:gd name="T7" fmla="*/ 0 h 185"/>
                    <a:gd name="T8" fmla="*/ 0 w 127"/>
                    <a:gd name="T9" fmla="*/ 0 h 185"/>
                    <a:gd name="T10" fmla="*/ 0 w 127"/>
                    <a:gd name="T11" fmla="*/ 0 h 185"/>
                    <a:gd name="T12" fmla="*/ 0 w 127"/>
                    <a:gd name="T13" fmla="*/ 0 h 185"/>
                    <a:gd name="T14" fmla="*/ 0 60000 65536"/>
                    <a:gd name="T15" fmla="*/ 0 60000 65536"/>
                    <a:gd name="T16" fmla="*/ 0 60000 65536"/>
                    <a:gd name="T17" fmla="*/ 0 60000 65536"/>
                    <a:gd name="T18" fmla="*/ 0 60000 65536"/>
                    <a:gd name="T19" fmla="*/ 0 60000 65536"/>
                    <a:gd name="T20" fmla="*/ 0 60000 65536"/>
                    <a:gd name="T21" fmla="*/ 0 w 127"/>
                    <a:gd name="T22" fmla="*/ 0 h 185"/>
                    <a:gd name="T23" fmla="*/ 127 w 127"/>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5">
                      <a:moveTo>
                        <a:pt x="127" y="5"/>
                      </a:moveTo>
                      <a:lnTo>
                        <a:pt x="59" y="0"/>
                      </a:lnTo>
                      <a:lnTo>
                        <a:pt x="30" y="14"/>
                      </a:lnTo>
                      <a:lnTo>
                        <a:pt x="9" y="39"/>
                      </a:lnTo>
                      <a:lnTo>
                        <a:pt x="0" y="88"/>
                      </a:lnTo>
                      <a:lnTo>
                        <a:pt x="0" y="185"/>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5" name="Freeform 2538"/>
                <p:cNvSpPr>
                  <a:spLocks/>
                </p:cNvSpPr>
                <p:nvPr/>
              </p:nvSpPr>
              <p:spPr bwMode="auto">
                <a:xfrm>
                  <a:off x="1401" y="3594"/>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2" y="10"/>
                      </a:lnTo>
                      <a:lnTo>
                        <a:pt x="9" y="39"/>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6" name="Freeform 2539"/>
                <p:cNvSpPr>
                  <a:spLocks/>
                </p:cNvSpPr>
                <p:nvPr/>
              </p:nvSpPr>
              <p:spPr bwMode="auto">
                <a:xfrm>
                  <a:off x="1383" y="3583"/>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4"/>
                      </a:moveTo>
                      <a:lnTo>
                        <a:pt x="59" y="0"/>
                      </a:lnTo>
                      <a:lnTo>
                        <a:pt x="32" y="13"/>
                      </a:lnTo>
                      <a:lnTo>
                        <a:pt x="9" y="40"/>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7" name="Freeform 2540"/>
                <p:cNvSpPr>
                  <a:spLocks/>
                </p:cNvSpPr>
                <p:nvPr/>
              </p:nvSpPr>
              <p:spPr bwMode="auto">
                <a:xfrm>
                  <a:off x="1365" y="3570"/>
                  <a:ext cx="63" cy="62"/>
                </a:xfrm>
                <a:custGeom>
                  <a:avLst/>
                  <a:gdLst>
                    <a:gd name="T0" fmla="*/ 1 w 126"/>
                    <a:gd name="T1" fmla="*/ 0 h 186"/>
                    <a:gd name="T2" fmla="*/ 1 w 126"/>
                    <a:gd name="T3" fmla="*/ 0 h 186"/>
                    <a:gd name="T4" fmla="*/ 1 w 126"/>
                    <a:gd name="T5" fmla="*/ 0 h 186"/>
                    <a:gd name="T6" fmla="*/ 1 w 126"/>
                    <a:gd name="T7" fmla="*/ 0 h 186"/>
                    <a:gd name="T8" fmla="*/ 0 w 126"/>
                    <a:gd name="T9" fmla="*/ 0 h 186"/>
                    <a:gd name="T10" fmla="*/ 0 w 126"/>
                    <a:gd name="T11" fmla="*/ 0 h 186"/>
                    <a:gd name="T12" fmla="*/ 0 w 126"/>
                    <a:gd name="T13" fmla="*/ 0 h 186"/>
                    <a:gd name="T14" fmla="*/ 0 60000 65536"/>
                    <a:gd name="T15" fmla="*/ 0 60000 65536"/>
                    <a:gd name="T16" fmla="*/ 0 60000 65536"/>
                    <a:gd name="T17" fmla="*/ 0 60000 65536"/>
                    <a:gd name="T18" fmla="*/ 0 60000 65536"/>
                    <a:gd name="T19" fmla="*/ 0 60000 65536"/>
                    <a:gd name="T20" fmla="*/ 0 60000 65536"/>
                    <a:gd name="T21" fmla="*/ 0 w 126"/>
                    <a:gd name="T22" fmla="*/ 0 h 186"/>
                    <a:gd name="T23" fmla="*/ 126 w 126"/>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6">
                      <a:moveTo>
                        <a:pt x="126" y="4"/>
                      </a:moveTo>
                      <a:lnTo>
                        <a:pt x="58" y="0"/>
                      </a:lnTo>
                      <a:lnTo>
                        <a:pt x="31" y="14"/>
                      </a:lnTo>
                      <a:lnTo>
                        <a:pt x="8"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8" name="Freeform 2541"/>
                <p:cNvSpPr>
                  <a:spLocks/>
                </p:cNvSpPr>
                <p:nvPr/>
              </p:nvSpPr>
              <p:spPr bwMode="auto">
                <a:xfrm>
                  <a:off x="1349" y="3558"/>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3" y="16"/>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9" name="Freeform 2542"/>
                <p:cNvSpPr>
                  <a:spLocks/>
                </p:cNvSpPr>
                <p:nvPr/>
              </p:nvSpPr>
              <p:spPr bwMode="auto">
                <a:xfrm>
                  <a:off x="1331" y="3550"/>
                  <a:ext cx="63" cy="62"/>
                </a:xfrm>
                <a:custGeom>
                  <a:avLst/>
                  <a:gdLst>
                    <a:gd name="T0" fmla="*/ 0 w 127"/>
                    <a:gd name="T1" fmla="*/ 0 h 186"/>
                    <a:gd name="T2" fmla="*/ 0 w 127"/>
                    <a:gd name="T3" fmla="*/ 0 h 186"/>
                    <a:gd name="T4" fmla="*/ 0 w 127"/>
                    <a:gd name="T5" fmla="*/ 0 h 186"/>
                    <a:gd name="T6" fmla="*/ 0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4"/>
                      </a:moveTo>
                      <a:lnTo>
                        <a:pt x="59" y="0"/>
                      </a:lnTo>
                      <a:lnTo>
                        <a:pt x="32" y="13"/>
                      </a:lnTo>
                      <a:lnTo>
                        <a:pt x="10" y="39"/>
                      </a:lnTo>
                      <a:lnTo>
                        <a:pt x="0" y="88"/>
                      </a:lnTo>
                      <a:lnTo>
                        <a:pt x="0" y="186"/>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60" name="Freeform 2543"/>
                <p:cNvSpPr>
                  <a:spLocks/>
                </p:cNvSpPr>
                <p:nvPr/>
              </p:nvSpPr>
              <p:spPr bwMode="auto">
                <a:xfrm>
                  <a:off x="1308" y="3501"/>
                  <a:ext cx="47" cy="25"/>
                </a:xfrm>
                <a:custGeom>
                  <a:avLst/>
                  <a:gdLst>
                    <a:gd name="T0" fmla="*/ 0 w 96"/>
                    <a:gd name="T1" fmla="*/ 0 h 74"/>
                    <a:gd name="T2" fmla="*/ 0 w 96"/>
                    <a:gd name="T3" fmla="*/ 0 h 74"/>
                    <a:gd name="T4" fmla="*/ 0 w 96"/>
                    <a:gd name="T5" fmla="*/ 0 h 74"/>
                    <a:gd name="T6" fmla="*/ 0 w 96"/>
                    <a:gd name="T7" fmla="*/ 0 h 74"/>
                    <a:gd name="T8" fmla="*/ 0 60000 65536"/>
                    <a:gd name="T9" fmla="*/ 0 60000 65536"/>
                    <a:gd name="T10" fmla="*/ 0 60000 65536"/>
                    <a:gd name="T11" fmla="*/ 0 60000 65536"/>
                    <a:gd name="T12" fmla="*/ 0 w 96"/>
                    <a:gd name="T13" fmla="*/ 0 h 74"/>
                    <a:gd name="T14" fmla="*/ 96 w 96"/>
                    <a:gd name="T15" fmla="*/ 74 h 74"/>
                  </a:gdLst>
                  <a:ahLst/>
                  <a:cxnLst>
                    <a:cxn ang="T8">
                      <a:pos x="T0" y="T1"/>
                    </a:cxn>
                    <a:cxn ang="T9">
                      <a:pos x="T2" y="T3"/>
                    </a:cxn>
                    <a:cxn ang="T10">
                      <a:pos x="T4" y="T5"/>
                    </a:cxn>
                    <a:cxn ang="T11">
                      <a:pos x="T6" y="T7"/>
                    </a:cxn>
                  </a:cxnLst>
                  <a:rect l="T12" t="T13" r="T14" b="T15"/>
                  <a:pathLst>
                    <a:path w="96" h="74">
                      <a:moveTo>
                        <a:pt x="0" y="0"/>
                      </a:moveTo>
                      <a:lnTo>
                        <a:pt x="89" y="74"/>
                      </a:lnTo>
                      <a:lnTo>
                        <a:pt x="96" y="74"/>
                      </a:lnTo>
                      <a:lnTo>
                        <a:pt x="93" y="74"/>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61" name="Oval 2544"/>
                <p:cNvSpPr>
                  <a:spLocks noChangeArrowheads="1"/>
                </p:cNvSpPr>
                <p:nvPr/>
              </p:nvSpPr>
              <p:spPr bwMode="auto">
                <a:xfrm>
                  <a:off x="1339" y="3772"/>
                  <a:ext cx="78" cy="26"/>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562" name="Oval 2545"/>
                <p:cNvSpPr>
                  <a:spLocks noChangeArrowheads="1"/>
                </p:cNvSpPr>
                <p:nvPr/>
              </p:nvSpPr>
              <p:spPr bwMode="auto">
                <a:xfrm>
                  <a:off x="1432" y="3771"/>
                  <a:ext cx="78"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563" name="Freeform 2546"/>
                <p:cNvSpPr>
                  <a:spLocks/>
                </p:cNvSpPr>
                <p:nvPr/>
              </p:nvSpPr>
              <p:spPr bwMode="auto">
                <a:xfrm>
                  <a:off x="1511" y="3785"/>
                  <a:ext cx="94" cy="8"/>
                </a:xfrm>
                <a:custGeom>
                  <a:avLst/>
                  <a:gdLst>
                    <a:gd name="T0" fmla="*/ 0 w 188"/>
                    <a:gd name="T1" fmla="*/ 0 h 25"/>
                    <a:gd name="T2" fmla="*/ 1 w 188"/>
                    <a:gd name="T3" fmla="*/ 0 h 25"/>
                    <a:gd name="T4" fmla="*/ 1 w 188"/>
                    <a:gd name="T5" fmla="*/ 0 h 25"/>
                    <a:gd name="T6" fmla="*/ 1 w 188"/>
                    <a:gd name="T7" fmla="*/ 0 h 25"/>
                    <a:gd name="T8" fmla="*/ 0 w 188"/>
                    <a:gd name="T9" fmla="*/ 0 h 25"/>
                    <a:gd name="T10" fmla="*/ 0 60000 65536"/>
                    <a:gd name="T11" fmla="*/ 0 60000 65536"/>
                    <a:gd name="T12" fmla="*/ 0 60000 65536"/>
                    <a:gd name="T13" fmla="*/ 0 60000 65536"/>
                    <a:gd name="T14" fmla="*/ 0 60000 65536"/>
                    <a:gd name="T15" fmla="*/ 0 w 188"/>
                    <a:gd name="T16" fmla="*/ 0 h 25"/>
                    <a:gd name="T17" fmla="*/ 188 w 188"/>
                    <a:gd name="T18" fmla="*/ 25 h 25"/>
                  </a:gdLst>
                  <a:ahLst/>
                  <a:cxnLst>
                    <a:cxn ang="T10">
                      <a:pos x="T0" y="T1"/>
                    </a:cxn>
                    <a:cxn ang="T11">
                      <a:pos x="T2" y="T3"/>
                    </a:cxn>
                    <a:cxn ang="T12">
                      <a:pos x="T4" y="T5"/>
                    </a:cxn>
                    <a:cxn ang="T13">
                      <a:pos x="T6" y="T7"/>
                    </a:cxn>
                    <a:cxn ang="T14">
                      <a:pos x="T8" y="T9"/>
                    </a:cxn>
                  </a:cxnLst>
                  <a:rect l="T15" t="T16" r="T17" b="T18"/>
                  <a:pathLst>
                    <a:path w="188" h="25">
                      <a:moveTo>
                        <a:pt x="0" y="25"/>
                      </a:moveTo>
                      <a:lnTo>
                        <a:pt x="6" y="0"/>
                      </a:lnTo>
                      <a:lnTo>
                        <a:pt x="175" y="0"/>
                      </a:lnTo>
                      <a:lnTo>
                        <a:pt x="188" y="19"/>
                      </a:lnTo>
                      <a:lnTo>
                        <a:pt x="0" y="25"/>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64" name="Oval 2547"/>
                <p:cNvSpPr>
                  <a:spLocks noChangeArrowheads="1"/>
                </p:cNvSpPr>
                <p:nvPr/>
              </p:nvSpPr>
              <p:spPr bwMode="auto">
                <a:xfrm>
                  <a:off x="1338" y="3767"/>
                  <a:ext cx="78" cy="27"/>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565" name="Oval 2548"/>
                <p:cNvSpPr>
                  <a:spLocks noChangeArrowheads="1"/>
                </p:cNvSpPr>
                <p:nvPr/>
              </p:nvSpPr>
              <p:spPr bwMode="auto">
                <a:xfrm>
                  <a:off x="1431" y="3766"/>
                  <a:ext cx="77"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984" name="Group 2096"/>
            <p:cNvGrpSpPr>
              <a:grpSpLocks/>
            </p:cNvGrpSpPr>
            <p:nvPr/>
          </p:nvGrpSpPr>
          <p:grpSpPr bwMode="auto">
            <a:xfrm>
              <a:off x="5795963" y="1125538"/>
              <a:ext cx="431800" cy="330200"/>
              <a:chOff x="624" y="2968"/>
              <a:chExt cx="1331" cy="920"/>
            </a:xfrm>
          </p:grpSpPr>
          <p:sp>
            <p:nvSpPr>
              <p:cNvPr id="985" name="Freeform 2097"/>
              <p:cNvSpPr>
                <a:spLocks/>
              </p:cNvSpPr>
              <p:nvPr/>
            </p:nvSpPr>
            <p:spPr bwMode="auto">
              <a:xfrm>
                <a:off x="1238" y="2968"/>
                <a:ext cx="713" cy="770"/>
              </a:xfrm>
              <a:custGeom>
                <a:avLst/>
                <a:gdLst>
                  <a:gd name="T0" fmla="*/ 7 w 1426"/>
                  <a:gd name="T1" fmla="*/ 1 h 2309"/>
                  <a:gd name="T2" fmla="*/ 7 w 1426"/>
                  <a:gd name="T3" fmla="*/ 1 h 2309"/>
                  <a:gd name="T4" fmla="*/ 0 w 1426"/>
                  <a:gd name="T5" fmla="*/ 1 h 2309"/>
                  <a:gd name="T6" fmla="*/ 3 w 1426"/>
                  <a:gd name="T7" fmla="*/ 0 h 2309"/>
                  <a:gd name="T8" fmla="*/ 3 w 1426"/>
                  <a:gd name="T9" fmla="*/ 0 h 2309"/>
                  <a:gd name="T10" fmla="*/ 3 w 1426"/>
                  <a:gd name="T11" fmla="*/ 0 h 2309"/>
                  <a:gd name="T12" fmla="*/ 3 w 1426"/>
                  <a:gd name="T13" fmla="*/ 0 h 2309"/>
                  <a:gd name="T14" fmla="*/ 11 w 1426"/>
                  <a:gd name="T15" fmla="*/ 0 h 2309"/>
                  <a:gd name="T16" fmla="*/ 11 w 1426"/>
                  <a:gd name="T17" fmla="*/ 0 h 2309"/>
                  <a:gd name="T18" fmla="*/ 11 w 1426"/>
                  <a:gd name="T19" fmla="*/ 0 h 2309"/>
                  <a:gd name="T20" fmla="*/ 11 w 1426"/>
                  <a:gd name="T21" fmla="*/ 0 h 2309"/>
                  <a:gd name="T22" fmla="*/ 7 w 1426"/>
                  <a:gd name="T23" fmla="*/ 1 h 2309"/>
                  <a:gd name="T24" fmla="*/ 7 w 1426"/>
                  <a:gd name="T25" fmla="*/ 1 h 230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2309"/>
                  <a:gd name="T41" fmla="*/ 1426 w 1426"/>
                  <a:gd name="T42" fmla="*/ 2309 h 230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2309">
                    <a:moveTo>
                      <a:pt x="992" y="2292"/>
                    </a:moveTo>
                    <a:lnTo>
                      <a:pt x="964" y="2309"/>
                    </a:lnTo>
                    <a:lnTo>
                      <a:pt x="0" y="1462"/>
                    </a:lnTo>
                    <a:lnTo>
                      <a:pt x="326" y="59"/>
                    </a:lnTo>
                    <a:lnTo>
                      <a:pt x="369" y="18"/>
                    </a:lnTo>
                    <a:lnTo>
                      <a:pt x="414" y="0"/>
                    </a:lnTo>
                    <a:lnTo>
                      <a:pt x="457" y="9"/>
                    </a:lnTo>
                    <a:lnTo>
                      <a:pt x="1381" y="400"/>
                    </a:lnTo>
                    <a:lnTo>
                      <a:pt x="1411" y="421"/>
                    </a:lnTo>
                    <a:lnTo>
                      <a:pt x="1422" y="425"/>
                    </a:lnTo>
                    <a:lnTo>
                      <a:pt x="1426" y="445"/>
                    </a:lnTo>
                    <a:lnTo>
                      <a:pt x="1017" y="2306"/>
                    </a:lnTo>
                    <a:lnTo>
                      <a:pt x="992" y="2292"/>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86" name="Freeform 2098"/>
              <p:cNvSpPr>
                <a:spLocks/>
              </p:cNvSpPr>
              <p:nvPr/>
            </p:nvSpPr>
            <p:spPr bwMode="auto">
              <a:xfrm>
                <a:off x="1668" y="3087"/>
                <a:ext cx="286" cy="660"/>
              </a:xfrm>
              <a:custGeom>
                <a:avLst/>
                <a:gdLst>
                  <a:gd name="T0" fmla="*/ 4 w 573"/>
                  <a:gd name="T1" fmla="*/ 0 h 1980"/>
                  <a:gd name="T2" fmla="*/ 4 w 573"/>
                  <a:gd name="T3" fmla="*/ 0 h 1980"/>
                  <a:gd name="T4" fmla="*/ 1 w 573"/>
                  <a:gd name="T5" fmla="*/ 1 h 1980"/>
                  <a:gd name="T6" fmla="*/ 1 w 573"/>
                  <a:gd name="T7" fmla="*/ 1 h 1980"/>
                  <a:gd name="T8" fmla="*/ 1 w 573"/>
                  <a:gd name="T9" fmla="*/ 1 h 1980"/>
                  <a:gd name="T10" fmla="*/ 0 w 573"/>
                  <a:gd name="T11" fmla="*/ 1 h 1980"/>
                  <a:gd name="T12" fmla="*/ 0 w 573"/>
                  <a:gd name="T13" fmla="*/ 1 h 1980"/>
                  <a:gd name="T14" fmla="*/ 0 w 573"/>
                  <a:gd name="T15" fmla="*/ 1 h 1980"/>
                  <a:gd name="T16" fmla="*/ 0 w 573"/>
                  <a:gd name="T17" fmla="*/ 1 h 1980"/>
                  <a:gd name="T18" fmla="*/ 3 w 573"/>
                  <a:gd name="T19" fmla="*/ 0 h 1980"/>
                  <a:gd name="T20" fmla="*/ 3 w 573"/>
                  <a:gd name="T21" fmla="*/ 0 h 1980"/>
                  <a:gd name="T22" fmla="*/ 3 w 573"/>
                  <a:gd name="T23" fmla="*/ 0 h 1980"/>
                  <a:gd name="T24" fmla="*/ 3 w 573"/>
                  <a:gd name="T25" fmla="*/ 0 h 1980"/>
                  <a:gd name="T26" fmla="*/ 4 w 573"/>
                  <a:gd name="T27" fmla="*/ 0 h 1980"/>
                  <a:gd name="T28" fmla="*/ 4 w 573"/>
                  <a:gd name="T29" fmla="*/ 0 h 1980"/>
                  <a:gd name="T30" fmla="*/ 4 w 573"/>
                  <a:gd name="T31" fmla="*/ 0 h 19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573"/>
                  <a:gd name="T49" fmla="*/ 0 h 1980"/>
                  <a:gd name="T50" fmla="*/ 573 w 573"/>
                  <a:gd name="T51" fmla="*/ 1980 h 19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573" h="1980">
                    <a:moveTo>
                      <a:pt x="573" y="86"/>
                    </a:moveTo>
                    <a:lnTo>
                      <a:pt x="568" y="132"/>
                    </a:lnTo>
                    <a:lnTo>
                      <a:pt x="155" y="1923"/>
                    </a:lnTo>
                    <a:lnTo>
                      <a:pt x="151" y="1955"/>
                    </a:lnTo>
                    <a:lnTo>
                      <a:pt x="140" y="1972"/>
                    </a:lnTo>
                    <a:lnTo>
                      <a:pt x="125" y="1980"/>
                    </a:lnTo>
                    <a:lnTo>
                      <a:pt x="111" y="1975"/>
                    </a:lnTo>
                    <a:lnTo>
                      <a:pt x="86" y="1955"/>
                    </a:lnTo>
                    <a:lnTo>
                      <a:pt x="0" y="1880"/>
                    </a:lnTo>
                    <a:lnTo>
                      <a:pt x="425" y="39"/>
                    </a:lnTo>
                    <a:lnTo>
                      <a:pt x="420" y="27"/>
                    </a:lnTo>
                    <a:lnTo>
                      <a:pt x="396" y="0"/>
                    </a:lnTo>
                    <a:lnTo>
                      <a:pt x="445" y="20"/>
                    </a:lnTo>
                    <a:lnTo>
                      <a:pt x="541" y="61"/>
                    </a:lnTo>
                    <a:lnTo>
                      <a:pt x="559" y="75"/>
                    </a:lnTo>
                    <a:lnTo>
                      <a:pt x="573" y="86"/>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87" name="Freeform 2099"/>
              <p:cNvSpPr>
                <a:spLocks/>
              </p:cNvSpPr>
              <p:nvPr/>
            </p:nvSpPr>
            <p:spPr bwMode="auto">
              <a:xfrm>
                <a:off x="1432" y="2970"/>
                <a:ext cx="523" cy="147"/>
              </a:xfrm>
              <a:custGeom>
                <a:avLst/>
                <a:gdLst>
                  <a:gd name="T0" fmla="*/ 0 w 1045"/>
                  <a:gd name="T1" fmla="*/ 0 h 441"/>
                  <a:gd name="T2" fmla="*/ 1 w 1045"/>
                  <a:gd name="T3" fmla="*/ 0 h 441"/>
                  <a:gd name="T4" fmla="*/ 1 w 1045"/>
                  <a:gd name="T5" fmla="*/ 0 h 441"/>
                  <a:gd name="T6" fmla="*/ 8 w 1045"/>
                  <a:gd name="T7" fmla="*/ 0 h 441"/>
                  <a:gd name="T8" fmla="*/ 9 w 1045"/>
                  <a:gd name="T9" fmla="*/ 0 h 441"/>
                  <a:gd name="T10" fmla="*/ 9 w 1045"/>
                  <a:gd name="T11" fmla="*/ 0 h 441"/>
                  <a:gd name="T12" fmla="*/ 0 w 1045"/>
                  <a:gd name="T13" fmla="*/ 0 h 441"/>
                  <a:gd name="T14" fmla="*/ 0 60000 65536"/>
                  <a:gd name="T15" fmla="*/ 0 60000 65536"/>
                  <a:gd name="T16" fmla="*/ 0 60000 65536"/>
                  <a:gd name="T17" fmla="*/ 0 60000 65536"/>
                  <a:gd name="T18" fmla="*/ 0 60000 65536"/>
                  <a:gd name="T19" fmla="*/ 0 60000 65536"/>
                  <a:gd name="T20" fmla="*/ 0 60000 65536"/>
                  <a:gd name="T21" fmla="*/ 0 w 1045"/>
                  <a:gd name="T22" fmla="*/ 0 h 441"/>
                  <a:gd name="T23" fmla="*/ 1045 w 1045"/>
                  <a:gd name="T24" fmla="*/ 441 h 44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45" h="441">
                    <a:moveTo>
                      <a:pt x="0" y="0"/>
                    </a:moveTo>
                    <a:lnTo>
                      <a:pt x="31" y="1"/>
                    </a:lnTo>
                    <a:lnTo>
                      <a:pt x="62" y="10"/>
                    </a:lnTo>
                    <a:lnTo>
                      <a:pt x="1005" y="409"/>
                    </a:lnTo>
                    <a:lnTo>
                      <a:pt x="1037" y="427"/>
                    </a:lnTo>
                    <a:lnTo>
                      <a:pt x="1045" y="441"/>
                    </a:lnTo>
                    <a:lnTo>
                      <a:pt x="0" y="0"/>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88" name="Freeform 2100"/>
              <p:cNvSpPr>
                <a:spLocks/>
              </p:cNvSpPr>
              <p:nvPr/>
            </p:nvSpPr>
            <p:spPr bwMode="auto">
              <a:xfrm>
                <a:off x="1315" y="3056"/>
                <a:ext cx="478" cy="573"/>
              </a:xfrm>
              <a:custGeom>
                <a:avLst/>
                <a:gdLst>
                  <a:gd name="T0" fmla="*/ 5 w 955"/>
                  <a:gd name="T1" fmla="*/ 1 h 1719"/>
                  <a:gd name="T2" fmla="*/ 0 w 955"/>
                  <a:gd name="T3" fmla="*/ 1 h 1719"/>
                  <a:gd name="T4" fmla="*/ 3 w 955"/>
                  <a:gd name="T5" fmla="*/ 0 h 1719"/>
                  <a:gd name="T6" fmla="*/ 8 w 955"/>
                  <a:gd name="T7" fmla="*/ 0 h 1719"/>
                  <a:gd name="T8" fmla="*/ 5 w 955"/>
                  <a:gd name="T9" fmla="*/ 1 h 1719"/>
                  <a:gd name="T10" fmla="*/ 0 60000 65536"/>
                  <a:gd name="T11" fmla="*/ 0 60000 65536"/>
                  <a:gd name="T12" fmla="*/ 0 60000 65536"/>
                  <a:gd name="T13" fmla="*/ 0 60000 65536"/>
                  <a:gd name="T14" fmla="*/ 0 60000 65536"/>
                  <a:gd name="T15" fmla="*/ 0 w 955"/>
                  <a:gd name="T16" fmla="*/ 0 h 1719"/>
                  <a:gd name="T17" fmla="*/ 955 w 955"/>
                  <a:gd name="T18" fmla="*/ 1719 h 1719"/>
                </a:gdLst>
                <a:ahLst/>
                <a:cxnLst>
                  <a:cxn ang="T10">
                    <a:pos x="T0" y="T1"/>
                  </a:cxn>
                  <a:cxn ang="T11">
                    <a:pos x="T2" y="T3"/>
                  </a:cxn>
                  <a:cxn ang="T12">
                    <a:pos x="T4" y="T5"/>
                  </a:cxn>
                  <a:cxn ang="T13">
                    <a:pos x="T6" y="T7"/>
                  </a:cxn>
                  <a:cxn ang="T14">
                    <a:pos x="T8" y="T9"/>
                  </a:cxn>
                </a:cxnLst>
                <a:rect l="T15" t="T16" r="T17" b="T18"/>
                <a:pathLst>
                  <a:path w="955" h="1719">
                    <a:moveTo>
                      <a:pt x="619" y="1719"/>
                    </a:moveTo>
                    <a:lnTo>
                      <a:pt x="0" y="1212"/>
                    </a:lnTo>
                    <a:lnTo>
                      <a:pt x="290" y="0"/>
                    </a:lnTo>
                    <a:lnTo>
                      <a:pt x="955" y="313"/>
                    </a:lnTo>
                    <a:lnTo>
                      <a:pt x="619" y="1719"/>
                    </a:lnTo>
                    <a:close/>
                  </a:path>
                </a:pathLst>
              </a:custGeom>
              <a:solidFill>
                <a:srgbClr val="000000"/>
              </a:solidFill>
              <a:ln w="7938">
                <a:solidFill>
                  <a:srgbClr val="80808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89" name="Freeform 2101"/>
              <p:cNvSpPr>
                <a:spLocks/>
              </p:cNvSpPr>
              <p:nvPr/>
            </p:nvSpPr>
            <p:spPr bwMode="auto">
              <a:xfrm>
                <a:off x="1337" y="3076"/>
                <a:ext cx="431" cy="529"/>
              </a:xfrm>
              <a:custGeom>
                <a:avLst/>
                <a:gdLst>
                  <a:gd name="T0" fmla="*/ 5 w 862"/>
                  <a:gd name="T1" fmla="*/ 1 h 1587"/>
                  <a:gd name="T2" fmla="*/ 0 w 862"/>
                  <a:gd name="T3" fmla="*/ 1 h 1587"/>
                  <a:gd name="T4" fmla="*/ 3 w 862"/>
                  <a:gd name="T5" fmla="*/ 0 h 1587"/>
                  <a:gd name="T6" fmla="*/ 7 w 862"/>
                  <a:gd name="T7" fmla="*/ 0 h 1587"/>
                  <a:gd name="T8" fmla="*/ 5 w 862"/>
                  <a:gd name="T9" fmla="*/ 1 h 1587"/>
                  <a:gd name="T10" fmla="*/ 0 60000 65536"/>
                  <a:gd name="T11" fmla="*/ 0 60000 65536"/>
                  <a:gd name="T12" fmla="*/ 0 60000 65536"/>
                  <a:gd name="T13" fmla="*/ 0 60000 65536"/>
                  <a:gd name="T14" fmla="*/ 0 60000 65536"/>
                  <a:gd name="T15" fmla="*/ 0 w 862"/>
                  <a:gd name="T16" fmla="*/ 0 h 1587"/>
                  <a:gd name="T17" fmla="*/ 862 w 862"/>
                  <a:gd name="T18" fmla="*/ 1587 h 1587"/>
                </a:gdLst>
                <a:ahLst/>
                <a:cxnLst>
                  <a:cxn ang="T10">
                    <a:pos x="T0" y="T1"/>
                  </a:cxn>
                  <a:cxn ang="T11">
                    <a:pos x="T2" y="T3"/>
                  </a:cxn>
                  <a:cxn ang="T12">
                    <a:pos x="T4" y="T5"/>
                  </a:cxn>
                  <a:cxn ang="T13">
                    <a:pos x="T6" y="T7"/>
                  </a:cxn>
                  <a:cxn ang="T14">
                    <a:pos x="T8" y="T9"/>
                  </a:cxn>
                </a:cxnLst>
                <a:rect l="T15" t="T16" r="T17" b="T18"/>
                <a:pathLst>
                  <a:path w="862" h="1587">
                    <a:moveTo>
                      <a:pt x="546" y="1587"/>
                    </a:moveTo>
                    <a:lnTo>
                      <a:pt x="0" y="1134"/>
                    </a:lnTo>
                    <a:lnTo>
                      <a:pt x="272" y="0"/>
                    </a:lnTo>
                    <a:lnTo>
                      <a:pt x="862" y="268"/>
                    </a:lnTo>
                    <a:lnTo>
                      <a:pt x="546" y="1587"/>
                    </a:lnTo>
                    <a:close/>
                  </a:path>
                </a:pathLst>
              </a:custGeom>
              <a:solidFill>
                <a:srgbClr val="C7C7C7"/>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90" name="Freeform 2102"/>
              <p:cNvSpPr>
                <a:spLocks/>
              </p:cNvSpPr>
              <p:nvPr/>
            </p:nvSpPr>
            <p:spPr bwMode="auto">
              <a:xfrm>
                <a:off x="1233" y="2968"/>
                <a:ext cx="203" cy="494"/>
              </a:xfrm>
              <a:custGeom>
                <a:avLst/>
                <a:gdLst>
                  <a:gd name="T0" fmla="*/ 3 w 408"/>
                  <a:gd name="T1" fmla="*/ 0 h 1480"/>
                  <a:gd name="T2" fmla="*/ 2 w 408"/>
                  <a:gd name="T3" fmla="*/ 0 h 1480"/>
                  <a:gd name="T4" fmla="*/ 2 w 408"/>
                  <a:gd name="T5" fmla="*/ 0 h 1480"/>
                  <a:gd name="T6" fmla="*/ 2 w 408"/>
                  <a:gd name="T7" fmla="*/ 0 h 1480"/>
                  <a:gd name="T8" fmla="*/ 2 w 408"/>
                  <a:gd name="T9" fmla="*/ 0 h 1480"/>
                  <a:gd name="T10" fmla="*/ 2 w 408"/>
                  <a:gd name="T11" fmla="*/ 0 h 1480"/>
                  <a:gd name="T12" fmla="*/ 0 w 408"/>
                  <a:gd name="T13" fmla="*/ 1 h 1480"/>
                  <a:gd name="T14" fmla="*/ 0 w 408"/>
                  <a:gd name="T15" fmla="*/ 1 h 1480"/>
                  <a:gd name="T16" fmla="*/ 2 w 408"/>
                  <a:gd name="T17" fmla="*/ 0 h 1480"/>
                  <a:gd name="T18" fmla="*/ 2 w 408"/>
                  <a:gd name="T19" fmla="*/ 0 h 1480"/>
                  <a:gd name="T20" fmla="*/ 2 w 408"/>
                  <a:gd name="T21" fmla="*/ 0 h 1480"/>
                  <a:gd name="T22" fmla="*/ 2 w 408"/>
                  <a:gd name="T23" fmla="*/ 0 h 1480"/>
                  <a:gd name="T24" fmla="*/ 2 w 408"/>
                  <a:gd name="T25" fmla="*/ 0 h 1480"/>
                  <a:gd name="T26" fmla="*/ 3 w 408"/>
                  <a:gd name="T27" fmla="*/ 0 h 1480"/>
                  <a:gd name="T28" fmla="*/ 3 w 408"/>
                  <a:gd name="T29" fmla="*/ 0 h 1480"/>
                  <a:gd name="T30" fmla="*/ 3 w 408"/>
                  <a:gd name="T31" fmla="*/ 0 h 14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408"/>
                  <a:gd name="T49" fmla="*/ 0 h 1480"/>
                  <a:gd name="T50" fmla="*/ 408 w 408"/>
                  <a:gd name="T51" fmla="*/ 1480 h 14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408" h="1480">
                    <a:moveTo>
                      <a:pt x="393" y="0"/>
                    </a:moveTo>
                    <a:lnTo>
                      <a:pt x="370" y="11"/>
                    </a:lnTo>
                    <a:lnTo>
                      <a:pt x="356" y="19"/>
                    </a:lnTo>
                    <a:lnTo>
                      <a:pt x="338" y="37"/>
                    </a:lnTo>
                    <a:lnTo>
                      <a:pt x="325" y="59"/>
                    </a:lnTo>
                    <a:lnTo>
                      <a:pt x="320" y="77"/>
                    </a:lnTo>
                    <a:lnTo>
                      <a:pt x="0" y="1459"/>
                    </a:lnTo>
                    <a:lnTo>
                      <a:pt x="12" y="1480"/>
                    </a:lnTo>
                    <a:lnTo>
                      <a:pt x="337" y="77"/>
                    </a:lnTo>
                    <a:lnTo>
                      <a:pt x="346" y="57"/>
                    </a:lnTo>
                    <a:lnTo>
                      <a:pt x="355" y="43"/>
                    </a:lnTo>
                    <a:lnTo>
                      <a:pt x="368" y="30"/>
                    </a:lnTo>
                    <a:lnTo>
                      <a:pt x="384" y="19"/>
                    </a:lnTo>
                    <a:lnTo>
                      <a:pt x="400" y="12"/>
                    </a:lnTo>
                    <a:lnTo>
                      <a:pt x="408" y="5"/>
                    </a:lnTo>
                    <a:lnTo>
                      <a:pt x="393" y="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91" name="Freeform 2103"/>
              <p:cNvSpPr>
                <a:spLocks/>
              </p:cNvSpPr>
              <p:nvPr/>
            </p:nvSpPr>
            <p:spPr bwMode="auto">
              <a:xfrm>
                <a:off x="1204" y="3479"/>
                <a:ext cx="532" cy="321"/>
              </a:xfrm>
              <a:custGeom>
                <a:avLst/>
                <a:gdLst>
                  <a:gd name="T0" fmla="*/ 8 w 1065"/>
                  <a:gd name="T1" fmla="*/ 0 h 963"/>
                  <a:gd name="T2" fmla="*/ 8 w 1065"/>
                  <a:gd name="T3" fmla="*/ 0 h 963"/>
                  <a:gd name="T4" fmla="*/ 7 w 1065"/>
                  <a:gd name="T5" fmla="*/ 0 h 963"/>
                  <a:gd name="T6" fmla="*/ 1 w 1065"/>
                  <a:gd name="T7" fmla="*/ 0 h 963"/>
                  <a:gd name="T8" fmla="*/ 0 w 1065"/>
                  <a:gd name="T9" fmla="*/ 0 h 963"/>
                  <a:gd name="T10" fmla="*/ 0 w 1065"/>
                  <a:gd name="T11" fmla="*/ 0 h 963"/>
                  <a:gd name="T12" fmla="*/ 0 w 1065"/>
                  <a:gd name="T13" fmla="*/ 0 h 963"/>
                  <a:gd name="T14" fmla="*/ 0 w 1065"/>
                  <a:gd name="T15" fmla="*/ 0 h 963"/>
                  <a:gd name="T16" fmla="*/ 6 w 1065"/>
                  <a:gd name="T17" fmla="*/ 0 h 963"/>
                  <a:gd name="T18" fmla="*/ 8 w 1065"/>
                  <a:gd name="T19" fmla="*/ 0 h 96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065"/>
                  <a:gd name="T31" fmla="*/ 0 h 963"/>
                  <a:gd name="T32" fmla="*/ 1065 w 1065"/>
                  <a:gd name="T33" fmla="*/ 963 h 963"/>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065" h="963">
                    <a:moveTo>
                      <a:pt x="1065" y="963"/>
                    </a:moveTo>
                    <a:lnTo>
                      <a:pt x="1047" y="833"/>
                    </a:lnTo>
                    <a:lnTo>
                      <a:pt x="1015" y="776"/>
                    </a:lnTo>
                    <a:lnTo>
                      <a:pt x="137" y="3"/>
                    </a:lnTo>
                    <a:lnTo>
                      <a:pt x="96" y="0"/>
                    </a:lnTo>
                    <a:lnTo>
                      <a:pt x="59" y="3"/>
                    </a:lnTo>
                    <a:lnTo>
                      <a:pt x="32" y="42"/>
                    </a:lnTo>
                    <a:lnTo>
                      <a:pt x="0" y="145"/>
                    </a:lnTo>
                    <a:lnTo>
                      <a:pt x="865" y="954"/>
                    </a:lnTo>
                    <a:lnTo>
                      <a:pt x="1065" y="963"/>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92" name="Freeform 2104"/>
              <p:cNvSpPr>
                <a:spLocks/>
              </p:cNvSpPr>
              <p:nvPr/>
            </p:nvSpPr>
            <p:spPr bwMode="auto">
              <a:xfrm>
                <a:off x="642" y="3519"/>
                <a:ext cx="985" cy="288"/>
              </a:xfrm>
              <a:custGeom>
                <a:avLst/>
                <a:gdLst>
                  <a:gd name="T0" fmla="*/ 0 w 1969"/>
                  <a:gd name="T1" fmla="*/ 0 h 862"/>
                  <a:gd name="T2" fmla="*/ 9 w 1969"/>
                  <a:gd name="T3" fmla="*/ 0 h 862"/>
                  <a:gd name="T4" fmla="*/ 16 w 1969"/>
                  <a:gd name="T5" fmla="*/ 0 h 862"/>
                  <a:gd name="T6" fmla="*/ 4 w 1969"/>
                  <a:gd name="T7" fmla="*/ 0 h 862"/>
                  <a:gd name="T8" fmla="*/ 0 w 1969"/>
                  <a:gd name="T9" fmla="*/ 0 h 862"/>
                  <a:gd name="T10" fmla="*/ 0 60000 65536"/>
                  <a:gd name="T11" fmla="*/ 0 60000 65536"/>
                  <a:gd name="T12" fmla="*/ 0 60000 65536"/>
                  <a:gd name="T13" fmla="*/ 0 60000 65536"/>
                  <a:gd name="T14" fmla="*/ 0 60000 65536"/>
                  <a:gd name="T15" fmla="*/ 0 w 1969"/>
                  <a:gd name="T16" fmla="*/ 0 h 862"/>
                  <a:gd name="T17" fmla="*/ 1969 w 1969"/>
                  <a:gd name="T18" fmla="*/ 862 h 862"/>
                </a:gdLst>
                <a:ahLst/>
                <a:cxnLst>
                  <a:cxn ang="T10">
                    <a:pos x="T0" y="T1"/>
                  </a:cxn>
                  <a:cxn ang="T11">
                    <a:pos x="T2" y="T3"/>
                  </a:cxn>
                  <a:cxn ang="T12">
                    <a:pos x="T4" y="T5"/>
                  </a:cxn>
                  <a:cxn ang="T13">
                    <a:pos x="T6" y="T7"/>
                  </a:cxn>
                  <a:cxn ang="T14">
                    <a:pos x="T8" y="T9"/>
                  </a:cxn>
                </a:cxnLst>
                <a:rect l="T15" t="T16" r="T17" b="T18"/>
                <a:pathLst>
                  <a:path w="1969" h="862">
                    <a:moveTo>
                      <a:pt x="0" y="0"/>
                    </a:moveTo>
                    <a:lnTo>
                      <a:pt x="1121" y="24"/>
                    </a:lnTo>
                    <a:lnTo>
                      <a:pt x="1969" y="814"/>
                    </a:lnTo>
                    <a:lnTo>
                      <a:pt x="478" y="862"/>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93" name="Freeform 2105"/>
              <p:cNvSpPr>
                <a:spLocks/>
              </p:cNvSpPr>
              <p:nvPr/>
            </p:nvSpPr>
            <p:spPr bwMode="auto">
              <a:xfrm>
                <a:off x="852" y="3789"/>
                <a:ext cx="889" cy="99"/>
              </a:xfrm>
              <a:custGeom>
                <a:avLst/>
                <a:gdLst>
                  <a:gd name="T0" fmla="*/ 1 w 1777"/>
                  <a:gd name="T1" fmla="*/ 0 h 297"/>
                  <a:gd name="T2" fmla="*/ 0 w 1777"/>
                  <a:gd name="T3" fmla="*/ 0 h 297"/>
                  <a:gd name="T4" fmla="*/ 14 w 1777"/>
                  <a:gd name="T5" fmla="*/ 0 h 297"/>
                  <a:gd name="T6" fmla="*/ 14 w 1777"/>
                  <a:gd name="T7" fmla="*/ 0 h 297"/>
                  <a:gd name="T8" fmla="*/ 14 w 1777"/>
                  <a:gd name="T9" fmla="*/ 0 h 297"/>
                  <a:gd name="T10" fmla="*/ 14 w 1777"/>
                  <a:gd name="T11" fmla="*/ 0 h 297"/>
                  <a:gd name="T12" fmla="*/ 1 w 1777"/>
                  <a:gd name="T13" fmla="*/ 0 h 297"/>
                  <a:gd name="T14" fmla="*/ 0 60000 65536"/>
                  <a:gd name="T15" fmla="*/ 0 60000 65536"/>
                  <a:gd name="T16" fmla="*/ 0 60000 65536"/>
                  <a:gd name="T17" fmla="*/ 0 60000 65536"/>
                  <a:gd name="T18" fmla="*/ 0 60000 65536"/>
                  <a:gd name="T19" fmla="*/ 0 60000 65536"/>
                  <a:gd name="T20" fmla="*/ 0 60000 65536"/>
                  <a:gd name="T21" fmla="*/ 0 w 1777"/>
                  <a:gd name="T22" fmla="*/ 0 h 297"/>
                  <a:gd name="T23" fmla="*/ 1777 w 1777"/>
                  <a:gd name="T24" fmla="*/ 297 h 29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77" h="297">
                    <a:moveTo>
                      <a:pt x="54" y="52"/>
                    </a:moveTo>
                    <a:lnTo>
                      <a:pt x="0" y="297"/>
                    </a:lnTo>
                    <a:lnTo>
                      <a:pt x="1759" y="257"/>
                    </a:lnTo>
                    <a:lnTo>
                      <a:pt x="1777" y="173"/>
                    </a:lnTo>
                    <a:lnTo>
                      <a:pt x="1773" y="74"/>
                    </a:lnTo>
                    <a:lnTo>
                      <a:pt x="1768" y="0"/>
                    </a:lnTo>
                    <a:lnTo>
                      <a:pt x="54" y="52"/>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94" name="Freeform 2106"/>
              <p:cNvSpPr>
                <a:spLocks/>
              </p:cNvSpPr>
              <p:nvPr/>
            </p:nvSpPr>
            <p:spPr bwMode="auto">
              <a:xfrm>
                <a:off x="624" y="3519"/>
                <a:ext cx="256" cy="369"/>
              </a:xfrm>
              <a:custGeom>
                <a:avLst/>
                <a:gdLst>
                  <a:gd name="T0" fmla="*/ 0 w 513"/>
                  <a:gd name="T1" fmla="*/ 0 h 1106"/>
                  <a:gd name="T2" fmla="*/ 0 w 513"/>
                  <a:gd name="T3" fmla="*/ 0 h 1106"/>
                  <a:gd name="T4" fmla="*/ 3 w 513"/>
                  <a:gd name="T5" fmla="*/ 1 h 1106"/>
                  <a:gd name="T6" fmla="*/ 4 w 513"/>
                  <a:gd name="T7" fmla="*/ 0 h 1106"/>
                  <a:gd name="T8" fmla="*/ 0 w 513"/>
                  <a:gd name="T9" fmla="*/ 0 h 1106"/>
                  <a:gd name="T10" fmla="*/ 0 60000 65536"/>
                  <a:gd name="T11" fmla="*/ 0 60000 65536"/>
                  <a:gd name="T12" fmla="*/ 0 60000 65536"/>
                  <a:gd name="T13" fmla="*/ 0 60000 65536"/>
                  <a:gd name="T14" fmla="*/ 0 60000 65536"/>
                  <a:gd name="T15" fmla="*/ 0 w 513"/>
                  <a:gd name="T16" fmla="*/ 0 h 1106"/>
                  <a:gd name="T17" fmla="*/ 513 w 513"/>
                  <a:gd name="T18" fmla="*/ 1106 h 1106"/>
                </a:gdLst>
                <a:ahLst/>
                <a:cxnLst>
                  <a:cxn ang="T10">
                    <a:pos x="T0" y="T1"/>
                  </a:cxn>
                  <a:cxn ang="T11">
                    <a:pos x="T2" y="T3"/>
                  </a:cxn>
                  <a:cxn ang="T12">
                    <a:pos x="T4" y="T5"/>
                  </a:cxn>
                  <a:cxn ang="T13">
                    <a:pos x="T6" y="T7"/>
                  </a:cxn>
                  <a:cxn ang="T14">
                    <a:pos x="T8" y="T9"/>
                  </a:cxn>
                </a:cxnLst>
                <a:rect l="T15" t="T16" r="T17" b="T18"/>
                <a:pathLst>
                  <a:path w="513" h="1106">
                    <a:moveTo>
                      <a:pt x="37" y="0"/>
                    </a:moveTo>
                    <a:lnTo>
                      <a:pt x="0" y="200"/>
                    </a:lnTo>
                    <a:lnTo>
                      <a:pt x="457" y="1106"/>
                    </a:lnTo>
                    <a:lnTo>
                      <a:pt x="513" y="862"/>
                    </a:lnTo>
                    <a:lnTo>
                      <a:pt x="37"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95" name="Freeform 2107"/>
              <p:cNvSpPr>
                <a:spLocks/>
              </p:cNvSpPr>
              <p:nvPr/>
            </p:nvSpPr>
            <p:spPr bwMode="auto">
              <a:xfrm>
                <a:off x="1206" y="3791"/>
                <a:ext cx="132" cy="8"/>
              </a:xfrm>
              <a:custGeom>
                <a:avLst/>
                <a:gdLst>
                  <a:gd name="T0" fmla="*/ 1 w 262"/>
                  <a:gd name="T1" fmla="*/ 0 h 25"/>
                  <a:gd name="T2" fmla="*/ 0 w 262"/>
                  <a:gd name="T3" fmla="*/ 0 h 25"/>
                  <a:gd name="T4" fmla="*/ 2 w 262"/>
                  <a:gd name="T5" fmla="*/ 0 h 25"/>
                  <a:gd name="T6" fmla="*/ 3 w 262"/>
                  <a:gd name="T7" fmla="*/ 0 h 25"/>
                  <a:gd name="T8" fmla="*/ 1 w 262"/>
                  <a:gd name="T9" fmla="*/ 0 h 25"/>
                  <a:gd name="T10" fmla="*/ 0 60000 65536"/>
                  <a:gd name="T11" fmla="*/ 0 60000 65536"/>
                  <a:gd name="T12" fmla="*/ 0 60000 65536"/>
                  <a:gd name="T13" fmla="*/ 0 60000 65536"/>
                  <a:gd name="T14" fmla="*/ 0 60000 65536"/>
                  <a:gd name="T15" fmla="*/ 0 w 262"/>
                  <a:gd name="T16" fmla="*/ 0 h 25"/>
                  <a:gd name="T17" fmla="*/ 262 w 262"/>
                  <a:gd name="T18" fmla="*/ 25 h 25"/>
                </a:gdLst>
                <a:ahLst/>
                <a:cxnLst>
                  <a:cxn ang="T10">
                    <a:pos x="T0" y="T1"/>
                  </a:cxn>
                  <a:cxn ang="T11">
                    <a:pos x="T2" y="T3"/>
                  </a:cxn>
                  <a:cxn ang="T12">
                    <a:pos x="T4" y="T5"/>
                  </a:cxn>
                  <a:cxn ang="T13">
                    <a:pos x="T6" y="T7"/>
                  </a:cxn>
                  <a:cxn ang="T14">
                    <a:pos x="T8" y="T9"/>
                  </a:cxn>
                </a:cxnLst>
                <a:rect l="T15" t="T16" r="T17" b="T18"/>
                <a:pathLst>
                  <a:path w="262" h="25">
                    <a:moveTo>
                      <a:pt x="2" y="25"/>
                    </a:moveTo>
                    <a:lnTo>
                      <a:pt x="0" y="0"/>
                    </a:lnTo>
                    <a:lnTo>
                      <a:pt x="249" y="0"/>
                    </a:lnTo>
                    <a:lnTo>
                      <a:pt x="262" y="19"/>
                    </a:lnTo>
                    <a:lnTo>
                      <a:pt x="2" y="2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96" name="Freeform 2108"/>
              <p:cNvSpPr>
                <a:spLocks/>
              </p:cNvSpPr>
              <p:nvPr/>
            </p:nvSpPr>
            <p:spPr bwMode="auto">
              <a:xfrm>
                <a:off x="927" y="3521"/>
                <a:ext cx="281" cy="279"/>
              </a:xfrm>
              <a:custGeom>
                <a:avLst/>
                <a:gdLst>
                  <a:gd name="T0" fmla="*/ 5 w 561"/>
                  <a:gd name="T1" fmla="*/ 0 h 836"/>
                  <a:gd name="T2" fmla="*/ 0 w 561"/>
                  <a:gd name="T3" fmla="*/ 0 h 836"/>
                  <a:gd name="T4" fmla="*/ 5 w 561"/>
                  <a:gd name="T5" fmla="*/ 0 h 836"/>
                  <a:gd name="T6" fmla="*/ 5 w 561"/>
                  <a:gd name="T7" fmla="*/ 0 h 836"/>
                  <a:gd name="T8" fmla="*/ 0 60000 65536"/>
                  <a:gd name="T9" fmla="*/ 0 60000 65536"/>
                  <a:gd name="T10" fmla="*/ 0 60000 65536"/>
                  <a:gd name="T11" fmla="*/ 0 60000 65536"/>
                  <a:gd name="T12" fmla="*/ 0 w 561"/>
                  <a:gd name="T13" fmla="*/ 0 h 836"/>
                  <a:gd name="T14" fmla="*/ 561 w 561"/>
                  <a:gd name="T15" fmla="*/ 836 h 836"/>
                </a:gdLst>
                <a:ahLst/>
                <a:cxnLst>
                  <a:cxn ang="T8">
                    <a:pos x="T0" y="T1"/>
                  </a:cxn>
                  <a:cxn ang="T9">
                    <a:pos x="T2" y="T3"/>
                  </a:cxn>
                  <a:cxn ang="T10">
                    <a:pos x="T4" y="T5"/>
                  </a:cxn>
                  <a:cxn ang="T11">
                    <a:pos x="T6" y="T7"/>
                  </a:cxn>
                </a:cxnLst>
                <a:rect l="T12" t="T13" r="T14" b="T15"/>
                <a:pathLst>
                  <a:path w="561" h="836">
                    <a:moveTo>
                      <a:pt x="557" y="801"/>
                    </a:moveTo>
                    <a:lnTo>
                      <a:pt x="0" y="0"/>
                    </a:lnTo>
                    <a:lnTo>
                      <a:pt x="561" y="836"/>
                    </a:lnTo>
                    <a:lnTo>
                      <a:pt x="557" y="801"/>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997" name="Group 2109"/>
              <p:cNvGrpSpPr>
                <a:grpSpLocks/>
              </p:cNvGrpSpPr>
              <p:nvPr/>
            </p:nvGrpSpPr>
            <p:grpSpPr bwMode="auto">
              <a:xfrm>
                <a:off x="700" y="3526"/>
                <a:ext cx="515" cy="270"/>
                <a:chOff x="700" y="3526"/>
                <a:chExt cx="515" cy="270"/>
              </a:xfrm>
            </p:grpSpPr>
            <p:grpSp>
              <p:nvGrpSpPr>
                <p:cNvPr id="1023" name="Group 2110"/>
                <p:cNvGrpSpPr>
                  <a:grpSpLocks/>
                </p:cNvGrpSpPr>
                <p:nvPr/>
              </p:nvGrpSpPr>
              <p:grpSpPr bwMode="auto">
                <a:xfrm>
                  <a:off x="737" y="3534"/>
                  <a:ext cx="49" cy="23"/>
                  <a:chOff x="737" y="3534"/>
                  <a:chExt cx="49" cy="23"/>
                </a:xfrm>
              </p:grpSpPr>
              <p:sp>
                <p:nvSpPr>
                  <p:cNvPr id="1434" name="Freeform 2111"/>
                  <p:cNvSpPr>
                    <a:spLocks/>
                  </p:cNvSpPr>
                  <p:nvPr/>
                </p:nvSpPr>
                <p:spPr bwMode="auto">
                  <a:xfrm>
                    <a:off x="737" y="3534"/>
                    <a:ext cx="11" cy="23"/>
                  </a:xfrm>
                  <a:custGeom>
                    <a:avLst/>
                    <a:gdLst>
                      <a:gd name="T0" fmla="*/ 1 w 22"/>
                      <a:gd name="T1" fmla="*/ 0 h 67"/>
                      <a:gd name="T2" fmla="*/ 0 w 22"/>
                      <a:gd name="T3" fmla="*/ 0 h 67"/>
                      <a:gd name="T4" fmla="*/ 1 w 22"/>
                      <a:gd name="T5" fmla="*/ 0 h 67"/>
                      <a:gd name="T6" fmla="*/ 1 w 22"/>
                      <a:gd name="T7" fmla="*/ 0 h 67"/>
                      <a:gd name="T8" fmla="*/ 1 w 22"/>
                      <a:gd name="T9" fmla="*/ 0 h 67"/>
                      <a:gd name="T10" fmla="*/ 0 60000 65536"/>
                      <a:gd name="T11" fmla="*/ 0 60000 65536"/>
                      <a:gd name="T12" fmla="*/ 0 60000 65536"/>
                      <a:gd name="T13" fmla="*/ 0 60000 65536"/>
                      <a:gd name="T14" fmla="*/ 0 60000 65536"/>
                      <a:gd name="T15" fmla="*/ 0 w 22"/>
                      <a:gd name="T16" fmla="*/ 0 h 67"/>
                      <a:gd name="T17" fmla="*/ 22 w 22"/>
                      <a:gd name="T18" fmla="*/ 67 h 67"/>
                    </a:gdLst>
                    <a:ahLst/>
                    <a:cxnLst>
                      <a:cxn ang="T10">
                        <a:pos x="T0" y="T1"/>
                      </a:cxn>
                      <a:cxn ang="T11">
                        <a:pos x="T2" y="T3"/>
                      </a:cxn>
                      <a:cxn ang="T12">
                        <a:pos x="T4" y="T5"/>
                      </a:cxn>
                      <a:cxn ang="T13">
                        <a:pos x="T6" y="T7"/>
                      </a:cxn>
                      <a:cxn ang="T14">
                        <a:pos x="T8" y="T9"/>
                      </a:cxn>
                    </a:cxnLst>
                    <a:rect l="T15" t="T16" r="T17" b="T18"/>
                    <a:pathLst>
                      <a:path w="22" h="67">
                        <a:moveTo>
                          <a:pt x="13" y="67"/>
                        </a:moveTo>
                        <a:lnTo>
                          <a:pt x="0" y="26"/>
                        </a:lnTo>
                        <a:lnTo>
                          <a:pt x="9" y="0"/>
                        </a:lnTo>
                        <a:lnTo>
                          <a:pt x="22" y="30"/>
                        </a:lnTo>
                        <a:lnTo>
                          <a:pt x="13"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35" name="Freeform 2112"/>
                  <p:cNvSpPr>
                    <a:spLocks/>
                  </p:cNvSpPr>
                  <p:nvPr/>
                </p:nvSpPr>
                <p:spPr bwMode="auto">
                  <a:xfrm>
                    <a:off x="742" y="3535"/>
                    <a:ext cx="36" cy="9"/>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2" y="2"/>
                        </a:lnTo>
                        <a:lnTo>
                          <a:pt x="55" y="11"/>
                        </a:lnTo>
                        <a:lnTo>
                          <a:pt x="73" y="29"/>
                        </a:lnTo>
                        <a:lnTo>
                          <a:pt x="17" y="29"/>
                        </a:lnTo>
                        <a:lnTo>
                          <a:pt x="8"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36" name="Freeform 2113"/>
                  <p:cNvSpPr>
                    <a:spLocks/>
                  </p:cNvSpPr>
                  <p:nvPr/>
                </p:nvSpPr>
                <p:spPr bwMode="auto">
                  <a:xfrm>
                    <a:off x="744" y="3545"/>
                    <a:ext cx="42"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7"/>
                        </a:lnTo>
                        <a:lnTo>
                          <a:pt x="10" y="0"/>
                        </a:lnTo>
                        <a:lnTo>
                          <a:pt x="67" y="0"/>
                        </a:lnTo>
                        <a:lnTo>
                          <a:pt x="82"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24" name="Group 2114"/>
                <p:cNvGrpSpPr>
                  <a:grpSpLocks/>
                </p:cNvGrpSpPr>
                <p:nvPr/>
              </p:nvGrpSpPr>
              <p:grpSpPr bwMode="auto">
                <a:xfrm>
                  <a:off x="748" y="3547"/>
                  <a:ext cx="50" cy="23"/>
                  <a:chOff x="748" y="3547"/>
                  <a:chExt cx="50" cy="23"/>
                </a:xfrm>
              </p:grpSpPr>
              <p:sp>
                <p:nvSpPr>
                  <p:cNvPr id="1431" name="Freeform 2115"/>
                  <p:cNvSpPr>
                    <a:spLocks/>
                  </p:cNvSpPr>
                  <p:nvPr/>
                </p:nvSpPr>
                <p:spPr bwMode="auto">
                  <a:xfrm>
                    <a:off x="748"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32" name="Freeform 2116"/>
                  <p:cNvSpPr>
                    <a:spLocks/>
                  </p:cNvSpPr>
                  <p:nvPr/>
                </p:nvSpPr>
                <p:spPr bwMode="auto">
                  <a:xfrm>
                    <a:off x="753" y="3548"/>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33" name="Freeform 2117"/>
                  <p:cNvSpPr>
                    <a:spLocks/>
                  </p:cNvSpPr>
                  <p:nvPr/>
                </p:nvSpPr>
                <p:spPr bwMode="auto">
                  <a:xfrm>
                    <a:off x="757" y="3558"/>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025" name="Freeform 2118"/>
                <p:cNvSpPr>
                  <a:spLocks/>
                </p:cNvSpPr>
                <p:nvPr/>
              </p:nvSpPr>
              <p:spPr bwMode="auto">
                <a:xfrm>
                  <a:off x="952" y="3538"/>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26" name="Freeform 2119"/>
                <p:cNvSpPr>
                  <a:spLocks/>
                </p:cNvSpPr>
                <p:nvPr/>
              </p:nvSpPr>
              <p:spPr bwMode="auto">
                <a:xfrm>
                  <a:off x="861" y="3535"/>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27" name="Freeform 2120"/>
                <p:cNvSpPr>
                  <a:spLocks/>
                </p:cNvSpPr>
                <p:nvPr/>
              </p:nvSpPr>
              <p:spPr bwMode="auto">
                <a:xfrm>
                  <a:off x="867" y="3535"/>
                  <a:ext cx="34" cy="10"/>
                </a:xfrm>
                <a:custGeom>
                  <a:avLst/>
                  <a:gdLst>
                    <a:gd name="T0" fmla="*/ 0 w 70"/>
                    <a:gd name="T1" fmla="*/ 0 h 30"/>
                    <a:gd name="T2" fmla="*/ 0 w 70"/>
                    <a:gd name="T3" fmla="*/ 0 h 30"/>
                    <a:gd name="T4" fmla="*/ 0 w 70"/>
                    <a:gd name="T5" fmla="*/ 0 h 30"/>
                    <a:gd name="T6" fmla="*/ 0 w 70"/>
                    <a:gd name="T7" fmla="*/ 0 h 30"/>
                    <a:gd name="T8" fmla="*/ 0 w 70"/>
                    <a:gd name="T9" fmla="*/ 0 h 30"/>
                    <a:gd name="T10" fmla="*/ 0 w 70"/>
                    <a:gd name="T11" fmla="*/ 0 h 30"/>
                    <a:gd name="T12" fmla="*/ 0 w 70"/>
                    <a:gd name="T13" fmla="*/ 0 h 30"/>
                    <a:gd name="T14" fmla="*/ 0 w 70"/>
                    <a:gd name="T15" fmla="*/ 0 h 30"/>
                    <a:gd name="T16" fmla="*/ 0 w 70"/>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0"/>
                    <a:gd name="T28" fmla="*/ 0 h 30"/>
                    <a:gd name="T29" fmla="*/ 70 w 70"/>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0" h="30">
                      <a:moveTo>
                        <a:pt x="0" y="0"/>
                      </a:moveTo>
                      <a:lnTo>
                        <a:pt x="49" y="0"/>
                      </a:lnTo>
                      <a:lnTo>
                        <a:pt x="50" y="3"/>
                      </a:lnTo>
                      <a:lnTo>
                        <a:pt x="54" y="13"/>
                      </a:lnTo>
                      <a:lnTo>
                        <a:pt x="70" y="30"/>
                      </a:lnTo>
                      <a:lnTo>
                        <a:pt x="16" y="30"/>
                      </a:lnTo>
                      <a:lnTo>
                        <a:pt x="7" y="21"/>
                      </a:lnTo>
                      <a:lnTo>
                        <a:pt x="0" y="7"/>
                      </a:lnTo>
                      <a:lnTo>
                        <a:pt x="0"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28" name="Freeform 2121"/>
                <p:cNvSpPr>
                  <a:spLocks/>
                </p:cNvSpPr>
                <p:nvPr/>
              </p:nvSpPr>
              <p:spPr bwMode="auto">
                <a:xfrm>
                  <a:off x="868" y="354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029" name="Group 2122"/>
                <p:cNvGrpSpPr>
                  <a:grpSpLocks/>
                </p:cNvGrpSpPr>
                <p:nvPr/>
              </p:nvGrpSpPr>
              <p:grpSpPr bwMode="auto">
                <a:xfrm>
                  <a:off x="872" y="3547"/>
                  <a:ext cx="50" cy="23"/>
                  <a:chOff x="872" y="3547"/>
                  <a:chExt cx="50" cy="23"/>
                </a:xfrm>
              </p:grpSpPr>
              <p:sp>
                <p:nvSpPr>
                  <p:cNvPr id="1428" name="Freeform 2123"/>
                  <p:cNvSpPr>
                    <a:spLocks/>
                  </p:cNvSpPr>
                  <p:nvPr/>
                </p:nvSpPr>
                <p:spPr bwMode="auto">
                  <a:xfrm>
                    <a:off x="872"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29" name="Freeform 2124"/>
                  <p:cNvSpPr>
                    <a:spLocks/>
                  </p:cNvSpPr>
                  <p:nvPr/>
                </p:nvSpPr>
                <p:spPr bwMode="auto">
                  <a:xfrm>
                    <a:off x="878" y="3547"/>
                    <a:ext cx="36" cy="10"/>
                  </a:xfrm>
                  <a:custGeom>
                    <a:avLst/>
                    <a:gdLst>
                      <a:gd name="T0" fmla="*/ 0 w 73"/>
                      <a:gd name="T1" fmla="*/ 0 h 30"/>
                      <a:gd name="T2" fmla="*/ 0 w 73"/>
                      <a:gd name="T3" fmla="*/ 0 h 30"/>
                      <a:gd name="T4" fmla="*/ 0 w 73"/>
                      <a:gd name="T5" fmla="*/ 0 h 30"/>
                      <a:gd name="T6" fmla="*/ 0 w 73"/>
                      <a:gd name="T7" fmla="*/ 0 h 30"/>
                      <a:gd name="T8" fmla="*/ 0 w 73"/>
                      <a:gd name="T9" fmla="*/ 0 h 30"/>
                      <a:gd name="T10" fmla="*/ 0 w 73"/>
                      <a:gd name="T11" fmla="*/ 0 h 30"/>
                      <a:gd name="T12" fmla="*/ 0 w 73"/>
                      <a:gd name="T13" fmla="*/ 0 h 30"/>
                      <a:gd name="T14" fmla="*/ 0 w 73"/>
                      <a:gd name="T15" fmla="*/ 0 h 30"/>
                      <a:gd name="T16" fmla="*/ 0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2" y="0"/>
                        </a:moveTo>
                        <a:lnTo>
                          <a:pt x="49" y="0"/>
                        </a:lnTo>
                        <a:lnTo>
                          <a:pt x="50" y="3"/>
                        </a:lnTo>
                        <a:lnTo>
                          <a:pt x="57" y="12"/>
                        </a:lnTo>
                        <a:lnTo>
                          <a:pt x="73"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30" name="Freeform 2125"/>
                  <p:cNvSpPr>
                    <a:spLocks/>
                  </p:cNvSpPr>
                  <p:nvPr/>
                </p:nvSpPr>
                <p:spPr bwMode="auto">
                  <a:xfrm>
                    <a:off x="880" y="3558"/>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30" name="Group 2126"/>
                <p:cNvGrpSpPr>
                  <a:grpSpLocks/>
                </p:cNvGrpSpPr>
                <p:nvPr/>
              </p:nvGrpSpPr>
              <p:grpSpPr bwMode="auto">
                <a:xfrm>
                  <a:off x="885" y="3559"/>
                  <a:ext cx="50" cy="23"/>
                  <a:chOff x="885" y="3559"/>
                  <a:chExt cx="50" cy="23"/>
                </a:xfrm>
              </p:grpSpPr>
              <p:sp>
                <p:nvSpPr>
                  <p:cNvPr id="1425" name="Freeform 2127"/>
                  <p:cNvSpPr>
                    <a:spLocks/>
                  </p:cNvSpPr>
                  <p:nvPr/>
                </p:nvSpPr>
                <p:spPr bwMode="auto">
                  <a:xfrm>
                    <a:off x="885" y="3559"/>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26" name="Freeform 2128"/>
                  <p:cNvSpPr>
                    <a:spLocks/>
                  </p:cNvSpPr>
                  <p:nvPr/>
                </p:nvSpPr>
                <p:spPr bwMode="auto">
                  <a:xfrm>
                    <a:off x="890" y="3560"/>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3" y="0"/>
                        </a:moveTo>
                        <a:lnTo>
                          <a:pt x="49" y="0"/>
                        </a:lnTo>
                        <a:lnTo>
                          <a:pt x="52" y="3"/>
                        </a:lnTo>
                        <a:lnTo>
                          <a:pt x="57" y="12"/>
                        </a:lnTo>
                        <a:lnTo>
                          <a:pt x="74" y="30"/>
                        </a:lnTo>
                        <a:lnTo>
                          <a:pt x="19" y="30"/>
                        </a:lnTo>
                        <a:lnTo>
                          <a:pt x="10"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27" name="Freeform 2129"/>
                  <p:cNvSpPr>
                    <a:spLocks/>
                  </p:cNvSpPr>
                  <p:nvPr/>
                </p:nvSpPr>
                <p:spPr bwMode="auto">
                  <a:xfrm>
                    <a:off x="893" y="357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31" name="Group 2130"/>
                <p:cNvGrpSpPr>
                  <a:grpSpLocks/>
                </p:cNvGrpSpPr>
                <p:nvPr/>
              </p:nvGrpSpPr>
              <p:grpSpPr bwMode="auto">
                <a:xfrm>
                  <a:off x="898" y="3571"/>
                  <a:ext cx="49" cy="23"/>
                  <a:chOff x="898" y="3571"/>
                  <a:chExt cx="49" cy="23"/>
                </a:xfrm>
              </p:grpSpPr>
              <p:sp>
                <p:nvSpPr>
                  <p:cNvPr id="1422" name="Freeform 2131"/>
                  <p:cNvSpPr>
                    <a:spLocks/>
                  </p:cNvSpPr>
                  <p:nvPr/>
                </p:nvSpPr>
                <p:spPr bwMode="auto">
                  <a:xfrm>
                    <a:off x="898" y="3571"/>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23" name="Freeform 2132"/>
                  <p:cNvSpPr>
                    <a:spLocks/>
                  </p:cNvSpPr>
                  <p:nvPr/>
                </p:nvSpPr>
                <p:spPr bwMode="auto">
                  <a:xfrm>
                    <a:off x="903" y="3572"/>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2"/>
                        </a:lnTo>
                        <a:lnTo>
                          <a:pt x="57" y="11"/>
                        </a:lnTo>
                        <a:lnTo>
                          <a:pt x="75" y="29"/>
                        </a:lnTo>
                        <a:lnTo>
                          <a:pt x="19" y="29"/>
                        </a:lnTo>
                        <a:lnTo>
                          <a:pt x="11"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24" name="Freeform 2133"/>
                  <p:cNvSpPr>
                    <a:spLocks/>
                  </p:cNvSpPr>
                  <p:nvPr/>
                </p:nvSpPr>
                <p:spPr bwMode="auto">
                  <a:xfrm>
                    <a:off x="907" y="3582"/>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32" name="Group 2134"/>
                <p:cNvGrpSpPr>
                  <a:grpSpLocks/>
                </p:cNvGrpSpPr>
                <p:nvPr/>
              </p:nvGrpSpPr>
              <p:grpSpPr bwMode="auto">
                <a:xfrm>
                  <a:off x="911" y="3585"/>
                  <a:ext cx="49" cy="23"/>
                  <a:chOff x="911" y="3585"/>
                  <a:chExt cx="49" cy="23"/>
                </a:xfrm>
              </p:grpSpPr>
              <p:sp>
                <p:nvSpPr>
                  <p:cNvPr id="1419" name="Freeform 2135"/>
                  <p:cNvSpPr>
                    <a:spLocks/>
                  </p:cNvSpPr>
                  <p:nvPr/>
                </p:nvSpPr>
                <p:spPr bwMode="auto">
                  <a:xfrm>
                    <a:off x="911" y="3585"/>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0"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20" name="Freeform 2136"/>
                  <p:cNvSpPr>
                    <a:spLocks/>
                  </p:cNvSpPr>
                  <p:nvPr/>
                </p:nvSpPr>
                <p:spPr bwMode="auto">
                  <a:xfrm>
                    <a:off x="915" y="3585"/>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2" y="0"/>
                        </a:lnTo>
                        <a:lnTo>
                          <a:pt x="53" y="3"/>
                        </a:lnTo>
                        <a:lnTo>
                          <a:pt x="57" y="12"/>
                        </a:lnTo>
                        <a:lnTo>
                          <a:pt x="75" y="30"/>
                        </a:lnTo>
                        <a:lnTo>
                          <a:pt x="19" y="30"/>
                        </a:lnTo>
                        <a:lnTo>
                          <a:pt x="11"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21" name="Freeform 2137"/>
                  <p:cNvSpPr>
                    <a:spLocks/>
                  </p:cNvSpPr>
                  <p:nvPr/>
                </p:nvSpPr>
                <p:spPr bwMode="auto">
                  <a:xfrm>
                    <a:off x="919" y="359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33" name="Group 2138"/>
                <p:cNvGrpSpPr>
                  <a:grpSpLocks/>
                </p:cNvGrpSpPr>
                <p:nvPr/>
              </p:nvGrpSpPr>
              <p:grpSpPr bwMode="auto">
                <a:xfrm>
                  <a:off x="923" y="3600"/>
                  <a:ext cx="99" cy="73"/>
                  <a:chOff x="923" y="3600"/>
                  <a:chExt cx="99" cy="73"/>
                </a:xfrm>
              </p:grpSpPr>
              <p:grpSp>
                <p:nvGrpSpPr>
                  <p:cNvPr id="1399" name="Group 2139"/>
                  <p:cNvGrpSpPr>
                    <a:grpSpLocks/>
                  </p:cNvGrpSpPr>
                  <p:nvPr/>
                </p:nvGrpSpPr>
                <p:grpSpPr bwMode="auto">
                  <a:xfrm>
                    <a:off x="923" y="3600"/>
                    <a:ext cx="49" cy="23"/>
                    <a:chOff x="923" y="3600"/>
                    <a:chExt cx="49" cy="23"/>
                  </a:xfrm>
                </p:grpSpPr>
                <p:sp>
                  <p:nvSpPr>
                    <p:cNvPr id="1416" name="Freeform 2140"/>
                    <p:cNvSpPr>
                      <a:spLocks/>
                    </p:cNvSpPr>
                    <p:nvPr/>
                  </p:nvSpPr>
                  <p:spPr bwMode="auto">
                    <a:xfrm>
                      <a:off x="923" y="3600"/>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0"/>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17" name="Freeform 2141"/>
                    <p:cNvSpPr>
                      <a:spLocks/>
                    </p:cNvSpPr>
                    <p:nvPr/>
                  </p:nvSpPr>
                  <p:spPr bwMode="auto">
                    <a:xfrm>
                      <a:off x="928" y="3600"/>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3"/>
                          </a:lnTo>
                          <a:lnTo>
                            <a:pt x="57" y="12"/>
                          </a:lnTo>
                          <a:lnTo>
                            <a:pt x="75" y="29"/>
                          </a:lnTo>
                          <a:lnTo>
                            <a:pt x="19" y="29"/>
                          </a:lnTo>
                          <a:lnTo>
                            <a:pt x="9"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18" name="Freeform 2142"/>
                    <p:cNvSpPr>
                      <a:spLocks/>
                    </p:cNvSpPr>
                    <p:nvPr/>
                  </p:nvSpPr>
                  <p:spPr bwMode="auto">
                    <a:xfrm>
                      <a:off x="930" y="3610"/>
                      <a:ext cx="42" cy="13"/>
                    </a:xfrm>
                    <a:custGeom>
                      <a:avLst/>
                      <a:gdLst>
                        <a:gd name="T0" fmla="*/ 0 w 82"/>
                        <a:gd name="T1" fmla="*/ 0 h 37"/>
                        <a:gd name="T2" fmla="*/ 1 w 82"/>
                        <a:gd name="T3" fmla="*/ 0 h 37"/>
                        <a:gd name="T4" fmla="*/ 1 w 82"/>
                        <a:gd name="T5" fmla="*/ 0 h 37"/>
                        <a:gd name="T6" fmla="*/ 1 w 82"/>
                        <a:gd name="T7" fmla="*/ 0 h 37"/>
                        <a:gd name="T8" fmla="*/ 1 w 82"/>
                        <a:gd name="T9" fmla="*/ 0 h 37"/>
                        <a:gd name="T10" fmla="*/ 1 w 82"/>
                        <a:gd name="T11" fmla="*/ 0 h 37"/>
                        <a:gd name="T12" fmla="*/ 0 w 82"/>
                        <a:gd name="T13" fmla="*/ 0 h 37"/>
                        <a:gd name="T14" fmla="*/ 0 60000 65536"/>
                        <a:gd name="T15" fmla="*/ 0 60000 65536"/>
                        <a:gd name="T16" fmla="*/ 0 60000 65536"/>
                        <a:gd name="T17" fmla="*/ 0 60000 65536"/>
                        <a:gd name="T18" fmla="*/ 0 60000 65536"/>
                        <a:gd name="T19" fmla="*/ 0 60000 65536"/>
                        <a:gd name="T20" fmla="*/ 0 60000 65536"/>
                        <a:gd name="T21" fmla="*/ 0 w 82"/>
                        <a:gd name="T22" fmla="*/ 0 h 37"/>
                        <a:gd name="T23" fmla="*/ 82 w 82"/>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7">
                          <a:moveTo>
                            <a:pt x="0" y="37"/>
                          </a:moveTo>
                          <a:lnTo>
                            <a:pt x="2" y="22"/>
                          </a:lnTo>
                          <a:lnTo>
                            <a:pt x="7" y="7"/>
                          </a:lnTo>
                          <a:lnTo>
                            <a:pt x="13" y="0"/>
                          </a:lnTo>
                          <a:lnTo>
                            <a:pt x="69" y="0"/>
                          </a:lnTo>
                          <a:lnTo>
                            <a:pt x="82"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00" name="Group 2143"/>
                  <p:cNvGrpSpPr>
                    <a:grpSpLocks/>
                  </p:cNvGrpSpPr>
                  <p:nvPr/>
                </p:nvGrpSpPr>
                <p:grpSpPr bwMode="auto">
                  <a:xfrm>
                    <a:off x="935" y="3612"/>
                    <a:ext cx="48" cy="23"/>
                    <a:chOff x="935" y="3612"/>
                    <a:chExt cx="48" cy="23"/>
                  </a:xfrm>
                </p:grpSpPr>
                <p:sp>
                  <p:nvSpPr>
                    <p:cNvPr id="1413" name="Freeform 2144"/>
                    <p:cNvSpPr>
                      <a:spLocks/>
                    </p:cNvSpPr>
                    <p:nvPr/>
                  </p:nvSpPr>
                  <p:spPr bwMode="auto">
                    <a:xfrm>
                      <a:off x="935"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14" name="Freeform 2145"/>
                    <p:cNvSpPr>
                      <a:spLocks/>
                    </p:cNvSpPr>
                    <p:nvPr/>
                  </p:nvSpPr>
                  <p:spPr bwMode="auto">
                    <a:xfrm>
                      <a:off x="939" y="3612"/>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3" y="3"/>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15" name="Freeform 2146"/>
                    <p:cNvSpPr>
                      <a:spLocks/>
                    </p:cNvSpPr>
                    <p:nvPr/>
                  </p:nvSpPr>
                  <p:spPr bwMode="auto">
                    <a:xfrm>
                      <a:off x="943"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01" name="Group 2147"/>
                  <p:cNvGrpSpPr>
                    <a:grpSpLocks/>
                  </p:cNvGrpSpPr>
                  <p:nvPr/>
                </p:nvGrpSpPr>
                <p:grpSpPr bwMode="auto">
                  <a:xfrm>
                    <a:off x="947" y="3625"/>
                    <a:ext cx="50" cy="22"/>
                    <a:chOff x="947" y="3625"/>
                    <a:chExt cx="50" cy="22"/>
                  </a:xfrm>
                </p:grpSpPr>
                <p:sp>
                  <p:nvSpPr>
                    <p:cNvPr id="1410" name="Freeform 2148"/>
                    <p:cNvSpPr>
                      <a:spLocks/>
                    </p:cNvSpPr>
                    <p:nvPr/>
                  </p:nvSpPr>
                  <p:spPr bwMode="auto">
                    <a:xfrm>
                      <a:off x="947" y="3625"/>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11" name="Freeform 2149"/>
                    <p:cNvSpPr>
                      <a:spLocks/>
                    </p:cNvSpPr>
                    <p:nvPr/>
                  </p:nvSpPr>
                  <p:spPr bwMode="auto">
                    <a:xfrm>
                      <a:off x="953" y="3625"/>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1" y="2"/>
                          </a:lnTo>
                          <a:lnTo>
                            <a:pt x="57" y="11"/>
                          </a:lnTo>
                          <a:lnTo>
                            <a:pt x="73" y="29"/>
                          </a:lnTo>
                          <a:lnTo>
                            <a:pt x="19"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12" name="Freeform 2150"/>
                    <p:cNvSpPr>
                      <a:spLocks/>
                    </p:cNvSpPr>
                    <p:nvPr/>
                  </p:nvSpPr>
                  <p:spPr bwMode="auto">
                    <a:xfrm>
                      <a:off x="955" y="363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0"/>
                          </a:lnTo>
                          <a:lnTo>
                            <a:pt x="7" y="8"/>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02" name="Group 2151"/>
                  <p:cNvGrpSpPr>
                    <a:grpSpLocks/>
                  </p:cNvGrpSpPr>
                  <p:nvPr/>
                </p:nvGrpSpPr>
                <p:grpSpPr bwMode="auto">
                  <a:xfrm>
                    <a:off x="960" y="3637"/>
                    <a:ext cx="50" cy="23"/>
                    <a:chOff x="960" y="3637"/>
                    <a:chExt cx="50" cy="23"/>
                  </a:xfrm>
                </p:grpSpPr>
                <p:sp>
                  <p:nvSpPr>
                    <p:cNvPr id="1407" name="Freeform 2152"/>
                    <p:cNvSpPr>
                      <a:spLocks/>
                    </p:cNvSpPr>
                    <p:nvPr/>
                  </p:nvSpPr>
                  <p:spPr bwMode="auto">
                    <a:xfrm>
                      <a:off x="960" y="363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7"/>
                          </a:lnTo>
                          <a:lnTo>
                            <a:pt x="12"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08" name="Freeform 2153"/>
                    <p:cNvSpPr>
                      <a:spLocks/>
                    </p:cNvSpPr>
                    <p:nvPr/>
                  </p:nvSpPr>
                  <p:spPr bwMode="auto">
                    <a:xfrm>
                      <a:off x="965" y="3638"/>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3" y="0"/>
                          </a:moveTo>
                          <a:lnTo>
                            <a:pt x="49" y="0"/>
                          </a:lnTo>
                          <a:lnTo>
                            <a:pt x="53" y="2"/>
                          </a:lnTo>
                          <a:lnTo>
                            <a:pt x="57" y="11"/>
                          </a:lnTo>
                          <a:lnTo>
                            <a:pt x="74" y="29"/>
                          </a:lnTo>
                          <a:lnTo>
                            <a:pt x="19"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09" name="Freeform 2154"/>
                    <p:cNvSpPr>
                      <a:spLocks/>
                    </p:cNvSpPr>
                    <p:nvPr/>
                  </p:nvSpPr>
                  <p:spPr bwMode="auto">
                    <a:xfrm>
                      <a:off x="968" y="3648"/>
                      <a:ext cx="42" cy="12"/>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1" y="19"/>
                          </a:lnTo>
                          <a:lnTo>
                            <a:pt x="6" y="7"/>
                          </a:lnTo>
                          <a:lnTo>
                            <a:pt x="10"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03" name="Group 2155"/>
                  <p:cNvGrpSpPr>
                    <a:grpSpLocks/>
                  </p:cNvGrpSpPr>
                  <p:nvPr/>
                </p:nvGrpSpPr>
                <p:grpSpPr bwMode="auto">
                  <a:xfrm>
                    <a:off x="973" y="3650"/>
                    <a:ext cx="49" cy="23"/>
                    <a:chOff x="973" y="3650"/>
                    <a:chExt cx="49" cy="23"/>
                  </a:xfrm>
                </p:grpSpPr>
                <p:sp>
                  <p:nvSpPr>
                    <p:cNvPr id="1404" name="Freeform 2156"/>
                    <p:cNvSpPr>
                      <a:spLocks/>
                    </p:cNvSpPr>
                    <p:nvPr/>
                  </p:nvSpPr>
                  <p:spPr bwMode="auto">
                    <a:xfrm>
                      <a:off x="973" y="3650"/>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05" name="Freeform 2157"/>
                    <p:cNvSpPr>
                      <a:spLocks/>
                    </p:cNvSpPr>
                    <p:nvPr/>
                  </p:nvSpPr>
                  <p:spPr bwMode="auto">
                    <a:xfrm>
                      <a:off x="978"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49" y="0"/>
                          </a:lnTo>
                          <a:lnTo>
                            <a:pt x="50" y="2"/>
                          </a:lnTo>
                          <a:lnTo>
                            <a:pt x="57" y="11"/>
                          </a:lnTo>
                          <a:lnTo>
                            <a:pt x="74" y="29"/>
                          </a:lnTo>
                          <a:lnTo>
                            <a:pt x="19" y="29"/>
                          </a:lnTo>
                          <a:lnTo>
                            <a:pt x="10"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06" name="Freeform 2158"/>
                    <p:cNvSpPr>
                      <a:spLocks/>
                    </p:cNvSpPr>
                    <p:nvPr/>
                  </p:nvSpPr>
                  <p:spPr bwMode="auto">
                    <a:xfrm>
                      <a:off x="982" y="3661"/>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5"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34" name="Group 2159"/>
                <p:cNvGrpSpPr>
                  <a:grpSpLocks/>
                </p:cNvGrpSpPr>
                <p:nvPr/>
              </p:nvGrpSpPr>
              <p:grpSpPr bwMode="auto">
                <a:xfrm>
                  <a:off x="985" y="3665"/>
                  <a:ext cx="100" cy="73"/>
                  <a:chOff x="985" y="3665"/>
                  <a:chExt cx="100" cy="73"/>
                </a:xfrm>
              </p:grpSpPr>
              <p:grpSp>
                <p:nvGrpSpPr>
                  <p:cNvPr id="1379" name="Group 2160"/>
                  <p:cNvGrpSpPr>
                    <a:grpSpLocks/>
                  </p:cNvGrpSpPr>
                  <p:nvPr/>
                </p:nvGrpSpPr>
                <p:grpSpPr bwMode="auto">
                  <a:xfrm>
                    <a:off x="985" y="3665"/>
                    <a:ext cx="50" cy="23"/>
                    <a:chOff x="985" y="3665"/>
                    <a:chExt cx="50" cy="23"/>
                  </a:xfrm>
                </p:grpSpPr>
                <p:sp>
                  <p:nvSpPr>
                    <p:cNvPr id="1396" name="Freeform 2161"/>
                    <p:cNvSpPr>
                      <a:spLocks/>
                    </p:cNvSpPr>
                    <p:nvPr/>
                  </p:nvSpPr>
                  <p:spPr bwMode="auto">
                    <a:xfrm>
                      <a:off x="985" y="366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97" name="Freeform 2162"/>
                    <p:cNvSpPr>
                      <a:spLocks/>
                    </p:cNvSpPr>
                    <p:nvPr/>
                  </p:nvSpPr>
                  <p:spPr bwMode="auto">
                    <a:xfrm>
                      <a:off x="989" y="3665"/>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98" name="Freeform 2163"/>
                    <p:cNvSpPr>
                      <a:spLocks/>
                    </p:cNvSpPr>
                    <p:nvPr/>
                  </p:nvSpPr>
                  <p:spPr bwMode="auto">
                    <a:xfrm>
                      <a:off x="993"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80" name="Group 2164"/>
                  <p:cNvGrpSpPr>
                    <a:grpSpLocks/>
                  </p:cNvGrpSpPr>
                  <p:nvPr/>
                </p:nvGrpSpPr>
                <p:grpSpPr bwMode="auto">
                  <a:xfrm>
                    <a:off x="997" y="3677"/>
                    <a:ext cx="49" cy="23"/>
                    <a:chOff x="997" y="3677"/>
                    <a:chExt cx="49" cy="23"/>
                  </a:xfrm>
                </p:grpSpPr>
                <p:sp>
                  <p:nvSpPr>
                    <p:cNvPr id="1393" name="Freeform 2165"/>
                    <p:cNvSpPr>
                      <a:spLocks/>
                    </p:cNvSpPr>
                    <p:nvPr/>
                  </p:nvSpPr>
                  <p:spPr bwMode="auto">
                    <a:xfrm>
                      <a:off x="997" y="367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1"/>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94" name="Freeform 2166"/>
                    <p:cNvSpPr>
                      <a:spLocks/>
                    </p:cNvSpPr>
                    <p:nvPr/>
                  </p:nvSpPr>
                  <p:spPr bwMode="auto">
                    <a:xfrm>
                      <a:off x="1002" y="367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10"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95" name="Freeform 2167"/>
                    <p:cNvSpPr>
                      <a:spLocks/>
                    </p:cNvSpPr>
                    <p:nvPr/>
                  </p:nvSpPr>
                  <p:spPr bwMode="auto">
                    <a:xfrm>
                      <a:off x="1005" y="3688"/>
                      <a:ext cx="41" cy="12"/>
                    </a:xfrm>
                    <a:custGeom>
                      <a:avLst/>
                      <a:gdLst>
                        <a:gd name="T0" fmla="*/ 0 w 83"/>
                        <a:gd name="T1" fmla="*/ 0 h 37"/>
                        <a:gd name="T2" fmla="*/ 0 w 83"/>
                        <a:gd name="T3" fmla="*/ 0 h 37"/>
                        <a:gd name="T4" fmla="*/ 0 w 83"/>
                        <a:gd name="T5" fmla="*/ 0 h 37"/>
                        <a:gd name="T6" fmla="*/ 0 w 83"/>
                        <a:gd name="T7" fmla="*/ 0 h 37"/>
                        <a:gd name="T8" fmla="*/ 0 w 83"/>
                        <a:gd name="T9" fmla="*/ 0 h 37"/>
                        <a:gd name="T10" fmla="*/ 0 w 83"/>
                        <a:gd name="T11" fmla="*/ 0 h 37"/>
                        <a:gd name="T12" fmla="*/ 0 w 83"/>
                        <a:gd name="T13" fmla="*/ 0 h 37"/>
                        <a:gd name="T14" fmla="*/ 0 60000 65536"/>
                        <a:gd name="T15" fmla="*/ 0 60000 65536"/>
                        <a:gd name="T16" fmla="*/ 0 60000 65536"/>
                        <a:gd name="T17" fmla="*/ 0 60000 65536"/>
                        <a:gd name="T18" fmla="*/ 0 60000 65536"/>
                        <a:gd name="T19" fmla="*/ 0 60000 65536"/>
                        <a:gd name="T20" fmla="*/ 0 60000 65536"/>
                        <a:gd name="T21" fmla="*/ 0 w 83"/>
                        <a:gd name="T22" fmla="*/ 0 h 37"/>
                        <a:gd name="T23" fmla="*/ 83 w 83"/>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7">
                          <a:moveTo>
                            <a:pt x="0" y="37"/>
                          </a:moveTo>
                          <a:lnTo>
                            <a:pt x="4" y="19"/>
                          </a:lnTo>
                          <a:lnTo>
                            <a:pt x="8" y="8"/>
                          </a:lnTo>
                          <a:lnTo>
                            <a:pt x="13" y="0"/>
                          </a:lnTo>
                          <a:lnTo>
                            <a:pt x="68" y="0"/>
                          </a:lnTo>
                          <a:lnTo>
                            <a:pt x="83"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81" name="Group 2168"/>
                  <p:cNvGrpSpPr>
                    <a:grpSpLocks/>
                  </p:cNvGrpSpPr>
                  <p:nvPr/>
                </p:nvGrpSpPr>
                <p:grpSpPr bwMode="auto">
                  <a:xfrm>
                    <a:off x="1010" y="3690"/>
                    <a:ext cx="48" cy="23"/>
                    <a:chOff x="1010" y="3690"/>
                    <a:chExt cx="48" cy="23"/>
                  </a:xfrm>
                </p:grpSpPr>
                <p:sp>
                  <p:nvSpPr>
                    <p:cNvPr id="1390" name="Freeform 2169"/>
                    <p:cNvSpPr>
                      <a:spLocks/>
                    </p:cNvSpPr>
                    <p:nvPr/>
                  </p:nvSpPr>
                  <p:spPr bwMode="auto">
                    <a:xfrm>
                      <a:off x="1010" y="3690"/>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91" name="Freeform 2170"/>
                    <p:cNvSpPr>
                      <a:spLocks/>
                    </p:cNvSpPr>
                    <p:nvPr/>
                  </p:nvSpPr>
                  <p:spPr bwMode="auto">
                    <a:xfrm>
                      <a:off x="1014" y="369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3"/>
                          </a:lnTo>
                          <a:lnTo>
                            <a:pt x="56" y="12"/>
                          </a:lnTo>
                          <a:lnTo>
                            <a:pt x="75" y="31"/>
                          </a:lnTo>
                          <a:lnTo>
                            <a:pt x="18" y="31"/>
                          </a:lnTo>
                          <a:lnTo>
                            <a:pt x="9" y="22"/>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92" name="Freeform 2171"/>
                    <p:cNvSpPr>
                      <a:spLocks/>
                    </p:cNvSpPr>
                    <p:nvPr/>
                  </p:nvSpPr>
                  <p:spPr bwMode="auto">
                    <a:xfrm>
                      <a:off x="1018" y="3701"/>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8" y="7"/>
                          </a:lnTo>
                          <a:lnTo>
                            <a:pt x="12" y="0"/>
                          </a:lnTo>
                          <a:lnTo>
                            <a:pt x="69"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82" name="Group 2172"/>
                  <p:cNvGrpSpPr>
                    <a:grpSpLocks/>
                  </p:cNvGrpSpPr>
                  <p:nvPr/>
                </p:nvGrpSpPr>
                <p:grpSpPr bwMode="auto">
                  <a:xfrm>
                    <a:off x="1023" y="3703"/>
                    <a:ext cx="49" cy="22"/>
                    <a:chOff x="1023" y="3703"/>
                    <a:chExt cx="49" cy="22"/>
                  </a:xfrm>
                </p:grpSpPr>
                <p:sp>
                  <p:nvSpPr>
                    <p:cNvPr id="1387" name="Freeform 2173"/>
                    <p:cNvSpPr>
                      <a:spLocks/>
                    </p:cNvSpPr>
                    <p:nvPr/>
                  </p:nvSpPr>
                  <p:spPr bwMode="auto">
                    <a:xfrm>
                      <a:off x="1023" y="3703"/>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3" y="68"/>
                          </a:moveTo>
                          <a:lnTo>
                            <a:pt x="0" y="27"/>
                          </a:lnTo>
                          <a:lnTo>
                            <a:pt x="9" y="0"/>
                          </a:lnTo>
                          <a:lnTo>
                            <a:pt x="25"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88" name="Freeform 2174"/>
                    <p:cNvSpPr>
                      <a:spLocks/>
                    </p:cNvSpPr>
                    <p:nvPr/>
                  </p:nvSpPr>
                  <p:spPr bwMode="auto">
                    <a:xfrm>
                      <a:off x="1028" y="3703"/>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89" name="Freeform 2175"/>
                    <p:cNvSpPr>
                      <a:spLocks/>
                    </p:cNvSpPr>
                    <p:nvPr/>
                  </p:nvSpPr>
                  <p:spPr bwMode="auto">
                    <a:xfrm>
                      <a:off x="1030" y="371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3" y="0"/>
                          </a:lnTo>
                          <a:lnTo>
                            <a:pt x="70"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83" name="Group 2176"/>
                  <p:cNvGrpSpPr>
                    <a:grpSpLocks/>
                  </p:cNvGrpSpPr>
                  <p:nvPr/>
                </p:nvGrpSpPr>
                <p:grpSpPr bwMode="auto">
                  <a:xfrm>
                    <a:off x="1036" y="3716"/>
                    <a:ext cx="49" cy="22"/>
                    <a:chOff x="1036" y="3716"/>
                    <a:chExt cx="49" cy="22"/>
                  </a:xfrm>
                </p:grpSpPr>
                <p:sp>
                  <p:nvSpPr>
                    <p:cNvPr id="1384" name="Freeform 2177"/>
                    <p:cNvSpPr>
                      <a:spLocks/>
                    </p:cNvSpPr>
                    <p:nvPr/>
                  </p:nvSpPr>
                  <p:spPr bwMode="auto">
                    <a:xfrm>
                      <a:off x="1036" y="3716"/>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85" name="Freeform 2178"/>
                    <p:cNvSpPr>
                      <a:spLocks/>
                    </p:cNvSpPr>
                    <p:nvPr/>
                  </p:nvSpPr>
                  <p:spPr bwMode="auto">
                    <a:xfrm>
                      <a:off x="1040" y="371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3" y="0"/>
                          </a:moveTo>
                          <a:lnTo>
                            <a:pt x="51" y="0"/>
                          </a:lnTo>
                          <a:lnTo>
                            <a:pt x="53" y="2"/>
                          </a:lnTo>
                          <a:lnTo>
                            <a:pt x="57" y="11"/>
                          </a:lnTo>
                          <a:lnTo>
                            <a:pt x="75" y="29"/>
                          </a:lnTo>
                          <a:lnTo>
                            <a:pt x="18"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86" name="Freeform 2179"/>
                    <p:cNvSpPr>
                      <a:spLocks/>
                    </p:cNvSpPr>
                    <p:nvPr/>
                  </p:nvSpPr>
                  <p:spPr bwMode="auto">
                    <a:xfrm>
                      <a:off x="1043" y="3726"/>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6" y="8"/>
                          </a:lnTo>
                          <a:lnTo>
                            <a:pt x="10"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35" name="Group 2180"/>
                <p:cNvGrpSpPr>
                  <a:grpSpLocks/>
                </p:cNvGrpSpPr>
                <p:nvPr/>
              </p:nvGrpSpPr>
              <p:grpSpPr bwMode="auto">
                <a:xfrm>
                  <a:off x="1046" y="3727"/>
                  <a:ext cx="49" cy="23"/>
                  <a:chOff x="1046" y="3727"/>
                  <a:chExt cx="49" cy="23"/>
                </a:xfrm>
              </p:grpSpPr>
              <p:sp>
                <p:nvSpPr>
                  <p:cNvPr id="1376" name="Freeform 2181"/>
                  <p:cNvSpPr>
                    <a:spLocks/>
                  </p:cNvSpPr>
                  <p:nvPr/>
                </p:nvSpPr>
                <p:spPr bwMode="auto">
                  <a:xfrm>
                    <a:off x="1046" y="372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2"/>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77" name="Freeform 2182"/>
                  <p:cNvSpPr>
                    <a:spLocks/>
                  </p:cNvSpPr>
                  <p:nvPr/>
                </p:nvSpPr>
                <p:spPr bwMode="auto">
                  <a:xfrm>
                    <a:off x="1051" y="3727"/>
                    <a:ext cx="36" cy="11"/>
                  </a:xfrm>
                  <a:custGeom>
                    <a:avLst/>
                    <a:gdLst>
                      <a:gd name="T0" fmla="*/ 0 w 73"/>
                      <a:gd name="T1" fmla="*/ 0 h 31"/>
                      <a:gd name="T2" fmla="*/ 0 w 73"/>
                      <a:gd name="T3" fmla="*/ 0 h 31"/>
                      <a:gd name="T4" fmla="*/ 0 w 73"/>
                      <a:gd name="T5" fmla="*/ 0 h 31"/>
                      <a:gd name="T6" fmla="*/ 0 w 73"/>
                      <a:gd name="T7" fmla="*/ 0 h 31"/>
                      <a:gd name="T8" fmla="*/ 0 w 73"/>
                      <a:gd name="T9" fmla="*/ 0 h 31"/>
                      <a:gd name="T10" fmla="*/ 0 w 73"/>
                      <a:gd name="T11" fmla="*/ 0 h 31"/>
                      <a:gd name="T12" fmla="*/ 0 w 73"/>
                      <a:gd name="T13" fmla="*/ 0 h 31"/>
                      <a:gd name="T14" fmla="*/ 0 w 73"/>
                      <a:gd name="T15" fmla="*/ 0 h 31"/>
                      <a:gd name="T16" fmla="*/ 0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9" y="0"/>
                        </a:lnTo>
                        <a:lnTo>
                          <a:pt x="50" y="4"/>
                        </a:lnTo>
                        <a:lnTo>
                          <a:pt x="57" y="13"/>
                        </a:lnTo>
                        <a:lnTo>
                          <a:pt x="73" y="31"/>
                        </a:lnTo>
                        <a:lnTo>
                          <a:pt x="17"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78" name="Freeform 2183"/>
                  <p:cNvSpPr>
                    <a:spLocks/>
                  </p:cNvSpPr>
                  <p:nvPr/>
                </p:nvSpPr>
                <p:spPr bwMode="auto">
                  <a:xfrm>
                    <a:off x="1054" y="3738"/>
                    <a:ext cx="41"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6"/>
                        </a:lnTo>
                        <a:lnTo>
                          <a:pt x="10"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36" name="Group 2184"/>
                <p:cNvGrpSpPr>
                  <a:grpSpLocks/>
                </p:cNvGrpSpPr>
                <p:nvPr/>
              </p:nvGrpSpPr>
              <p:grpSpPr bwMode="auto">
                <a:xfrm>
                  <a:off x="1058" y="3739"/>
                  <a:ext cx="50" cy="23"/>
                  <a:chOff x="1058" y="3739"/>
                  <a:chExt cx="50" cy="23"/>
                </a:xfrm>
              </p:grpSpPr>
              <p:sp>
                <p:nvSpPr>
                  <p:cNvPr id="1373" name="Freeform 2185"/>
                  <p:cNvSpPr>
                    <a:spLocks/>
                  </p:cNvSpPr>
                  <p:nvPr/>
                </p:nvSpPr>
                <p:spPr bwMode="auto">
                  <a:xfrm>
                    <a:off x="1058" y="3739"/>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74" name="Freeform 2186"/>
                  <p:cNvSpPr>
                    <a:spLocks/>
                  </p:cNvSpPr>
                  <p:nvPr/>
                </p:nvSpPr>
                <p:spPr bwMode="auto">
                  <a:xfrm>
                    <a:off x="1063" y="3740"/>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0" y="0"/>
                        </a:lnTo>
                        <a:lnTo>
                          <a:pt x="51" y="3"/>
                        </a:lnTo>
                        <a:lnTo>
                          <a:pt x="58" y="12"/>
                        </a:lnTo>
                        <a:lnTo>
                          <a:pt x="75" y="30"/>
                        </a:lnTo>
                        <a:lnTo>
                          <a:pt x="18" y="30"/>
                        </a:lnTo>
                        <a:lnTo>
                          <a:pt x="11" y="21"/>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75" name="Freeform 2187"/>
                  <p:cNvSpPr>
                    <a:spLocks/>
                  </p:cNvSpPr>
                  <p:nvPr/>
                </p:nvSpPr>
                <p:spPr bwMode="auto">
                  <a:xfrm>
                    <a:off x="1067" y="3750"/>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37" name="Group 2188"/>
                <p:cNvGrpSpPr>
                  <a:grpSpLocks/>
                </p:cNvGrpSpPr>
                <p:nvPr/>
              </p:nvGrpSpPr>
              <p:grpSpPr bwMode="auto">
                <a:xfrm>
                  <a:off x="1072" y="3753"/>
                  <a:ext cx="48" cy="22"/>
                  <a:chOff x="1072" y="3753"/>
                  <a:chExt cx="48" cy="22"/>
                </a:xfrm>
              </p:grpSpPr>
              <p:sp>
                <p:nvSpPr>
                  <p:cNvPr id="1370" name="Freeform 2189"/>
                  <p:cNvSpPr>
                    <a:spLocks/>
                  </p:cNvSpPr>
                  <p:nvPr/>
                </p:nvSpPr>
                <p:spPr bwMode="auto">
                  <a:xfrm>
                    <a:off x="1072" y="3753"/>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9"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71" name="Freeform 2190"/>
                  <p:cNvSpPr>
                    <a:spLocks/>
                  </p:cNvSpPr>
                  <p:nvPr/>
                </p:nvSpPr>
                <p:spPr bwMode="auto">
                  <a:xfrm>
                    <a:off x="1076" y="3753"/>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0" y="0"/>
                        </a:lnTo>
                        <a:lnTo>
                          <a:pt x="52" y="4"/>
                        </a:lnTo>
                        <a:lnTo>
                          <a:pt x="57" y="13"/>
                        </a:lnTo>
                        <a:lnTo>
                          <a:pt x="74" y="31"/>
                        </a:lnTo>
                        <a:lnTo>
                          <a:pt x="19" y="31"/>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72" name="Freeform 2191"/>
                  <p:cNvSpPr>
                    <a:spLocks/>
                  </p:cNvSpPr>
                  <p:nvPr/>
                </p:nvSpPr>
                <p:spPr bwMode="auto">
                  <a:xfrm>
                    <a:off x="1079" y="376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3" y="20"/>
                        </a:lnTo>
                        <a:lnTo>
                          <a:pt x="6"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038" name="Freeform 2192"/>
                <p:cNvSpPr>
                  <a:spLocks/>
                </p:cNvSpPr>
                <p:nvPr/>
              </p:nvSpPr>
              <p:spPr bwMode="auto">
                <a:xfrm>
                  <a:off x="820" y="3535"/>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1"/>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39" name="Freeform 2193"/>
                <p:cNvSpPr>
                  <a:spLocks/>
                </p:cNvSpPr>
                <p:nvPr/>
              </p:nvSpPr>
              <p:spPr bwMode="auto">
                <a:xfrm>
                  <a:off x="825" y="3535"/>
                  <a:ext cx="36" cy="9"/>
                </a:xfrm>
                <a:custGeom>
                  <a:avLst/>
                  <a:gdLst>
                    <a:gd name="T0" fmla="*/ 0 w 71"/>
                    <a:gd name="T1" fmla="*/ 0 h 27"/>
                    <a:gd name="T2" fmla="*/ 1 w 71"/>
                    <a:gd name="T3" fmla="*/ 0 h 27"/>
                    <a:gd name="T4" fmla="*/ 1 w 71"/>
                    <a:gd name="T5" fmla="*/ 0 h 27"/>
                    <a:gd name="T6" fmla="*/ 1 w 71"/>
                    <a:gd name="T7" fmla="*/ 0 h 27"/>
                    <a:gd name="T8" fmla="*/ 1 w 71"/>
                    <a:gd name="T9" fmla="*/ 0 h 27"/>
                    <a:gd name="T10" fmla="*/ 1 w 71"/>
                    <a:gd name="T11" fmla="*/ 0 h 27"/>
                    <a:gd name="T12" fmla="*/ 1 w 71"/>
                    <a:gd name="T13" fmla="*/ 0 h 27"/>
                    <a:gd name="T14" fmla="*/ 0 w 71"/>
                    <a:gd name="T15" fmla="*/ 0 h 27"/>
                    <a:gd name="T16" fmla="*/ 0 w 71"/>
                    <a:gd name="T17" fmla="*/ 0 h 2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1"/>
                    <a:gd name="T28" fmla="*/ 0 h 27"/>
                    <a:gd name="T29" fmla="*/ 71 w 71"/>
                    <a:gd name="T30" fmla="*/ 27 h 2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1" h="27">
                      <a:moveTo>
                        <a:pt x="0" y="0"/>
                      </a:moveTo>
                      <a:lnTo>
                        <a:pt x="49" y="0"/>
                      </a:lnTo>
                      <a:lnTo>
                        <a:pt x="51" y="2"/>
                      </a:lnTo>
                      <a:lnTo>
                        <a:pt x="55" y="12"/>
                      </a:lnTo>
                      <a:lnTo>
                        <a:pt x="71" y="27"/>
                      </a:lnTo>
                      <a:lnTo>
                        <a:pt x="17" y="27"/>
                      </a:lnTo>
                      <a:lnTo>
                        <a:pt x="8" y="20"/>
                      </a:lnTo>
                      <a:lnTo>
                        <a:pt x="0" y="6"/>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40" name="Freeform 2194"/>
                <p:cNvSpPr>
                  <a:spLocks/>
                </p:cNvSpPr>
                <p:nvPr/>
              </p:nvSpPr>
              <p:spPr bwMode="auto">
                <a:xfrm>
                  <a:off x="828" y="354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8"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041" name="Group 2195"/>
                <p:cNvGrpSpPr>
                  <a:grpSpLocks/>
                </p:cNvGrpSpPr>
                <p:nvPr/>
              </p:nvGrpSpPr>
              <p:grpSpPr bwMode="auto">
                <a:xfrm>
                  <a:off x="832" y="3547"/>
                  <a:ext cx="49" cy="23"/>
                  <a:chOff x="832" y="3547"/>
                  <a:chExt cx="49" cy="23"/>
                </a:xfrm>
              </p:grpSpPr>
              <p:sp>
                <p:nvSpPr>
                  <p:cNvPr id="1367" name="Freeform 2196"/>
                  <p:cNvSpPr>
                    <a:spLocks/>
                  </p:cNvSpPr>
                  <p:nvPr/>
                </p:nvSpPr>
                <p:spPr bwMode="auto">
                  <a:xfrm>
                    <a:off x="832" y="354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68" name="Freeform 2197"/>
                  <p:cNvSpPr>
                    <a:spLocks/>
                  </p:cNvSpPr>
                  <p:nvPr/>
                </p:nvSpPr>
                <p:spPr bwMode="auto">
                  <a:xfrm>
                    <a:off x="837" y="3548"/>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69" name="Freeform 2198"/>
                  <p:cNvSpPr>
                    <a:spLocks/>
                  </p:cNvSpPr>
                  <p:nvPr/>
                </p:nvSpPr>
                <p:spPr bwMode="auto">
                  <a:xfrm>
                    <a:off x="840" y="355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42" name="Group 2199"/>
                <p:cNvGrpSpPr>
                  <a:grpSpLocks/>
                </p:cNvGrpSpPr>
                <p:nvPr/>
              </p:nvGrpSpPr>
              <p:grpSpPr bwMode="auto">
                <a:xfrm>
                  <a:off x="844" y="3560"/>
                  <a:ext cx="49" cy="22"/>
                  <a:chOff x="844" y="3560"/>
                  <a:chExt cx="49" cy="22"/>
                </a:xfrm>
              </p:grpSpPr>
              <p:sp>
                <p:nvSpPr>
                  <p:cNvPr id="1364" name="Freeform 2200"/>
                  <p:cNvSpPr>
                    <a:spLocks/>
                  </p:cNvSpPr>
                  <p:nvPr/>
                </p:nvSpPr>
                <p:spPr bwMode="auto">
                  <a:xfrm>
                    <a:off x="844" y="3560"/>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65" name="Freeform 2201"/>
                  <p:cNvSpPr>
                    <a:spLocks/>
                  </p:cNvSpPr>
                  <p:nvPr/>
                </p:nvSpPr>
                <p:spPr bwMode="auto">
                  <a:xfrm>
                    <a:off x="849" y="3560"/>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66" name="Freeform 2202"/>
                  <p:cNvSpPr>
                    <a:spLocks/>
                  </p:cNvSpPr>
                  <p:nvPr/>
                </p:nvSpPr>
                <p:spPr bwMode="auto">
                  <a:xfrm>
                    <a:off x="853" y="3571"/>
                    <a:ext cx="40" cy="11"/>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6"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43" name="Group 2203"/>
                <p:cNvGrpSpPr>
                  <a:grpSpLocks/>
                </p:cNvGrpSpPr>
                <p:nvPr/>
              </p:nvGrpSpPr>
              <p:grpSpPr bwMode="auto">
                <a:xfrm>
                  <a:off x="857" y="3572"/>
                  <a:ext cx="50" cy="23"/>
                  <a:chOff x="857" y="3572"/>
                  <a:chExt cx="50" cy="23"/>
                </a:xfrm>
              </p:grpSpPr>
              <p:sp>
                <p:nvSpPr>
                  <p:cNvPr id="1361" name="Freeform 2204"/>
                  <p:cNvSpPr>
                    <a:spLocks/>
                  </p:cNvSpPr>
                  <p:nvPr/>
                </p:nvSpPr>
                <p:spPr bwMode="auto">
                  <a:xfrm>
                    <a:off x="857" y="3572"/>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5"/>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62" name="Freeform 2205"/>
                  <p:cNvSpPr>
                    <a:spLocks/>
                  </p:cNvSpPr>
                  <p:nvPr/>
                </p:nvSpPr>
                <p:spPr bwMode="auto">
                  <a:xfrm>
                    <a:off x="862" y="3573"/>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63" name="Freeform 2206"/>
                  <p:cNvSpPr>
                    <a:spLocks/>
                  </p:cNvSpPr>
                  <p:nvPr/>
                </p:nvSpPr>
                <p:spPr bwMode="auto">
                  <a:xfrm>
                    <a:off x="865" y="358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44" name="Group 2207"/>
                <p:cNvGrpSpPr>
                  <a:grpSpLocks/>
                </p:cNvGrpSpPr>
                <p:nvPr/>
              </p:nvGrpSpPr>
              <p:grpSpPr bwMode="auto">
                <a:xfrm>
                  <a:off x="870" y="3585"/>
                  <a:ext cx="48" cy="23"/>
                  <a:chOff x="870" y="3585"/>
                  <a:chExt cx="48" cy="23"/>
                </a:xfrm>
              </p:grpSpPr>
              <p:sp>
                <p:nvSpPr>
                  <p:cNvPr id="1358" name="Freeform 2208"/>
                  <p:cNvSpPr>
                    <a:spLocks/>
                  </p:cNvSpPr>
                  <p:nvPr/>
                </p:nvSpPr>
                <p:spPr bwMode="auto">
                  <a:xfrm>
                    <a:off x="870" y="358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6"/>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59" name="Freeform 2209"/>
                  <p:cNvSpPr>
                    <a:spLocks/>
                  </p:cNvSpPr>
                  <p:nvPr/>
                </p:nvSpPr>
                <p:spPr bwMode="auto">
                  <a:xfrm>
                    <a:off x="874" y="3586"/>
                    <a:ext cx="38" cy="10"/>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60" name="Freeform 2210"/>
                  <p:cNvSpPr>
                    <a:spLocks/>
                  </p:cNvSpPr>
                  <p:nvPr/>
                </p:nvSpPr>
                <p:spPr bwMode="auto">
                  <a:xfrm>
                    <a:off x="878"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6"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45" name="Group 2211"/>
                <p:cNvGrpSpPr>
                  <a:grpSpLocks/>
                </p:cNvGrpSpPr>
                <p:nvPr/>
              </p:nvGrpSpPr>
              <p:grpSpPr bwMode="auto">
                <a:xfrm>
                  <a:off x="882" y="3600"/>
                  <a:ext cx="100" cy="73"/>
                  <a:chOff x="882" y="3600"/>
                  <a:chExt cx="100" cy="73"/>
                </a:xfrm>
              </p:grpSpPr>
              <p:grpSp>
                <p:nvGrpSpPr>
                  <p:cNvPr id="1338" name="Group 2212"/>
                  <p:cNvGrpSpPr>
                    <a:grpSpLocks/>
                  </p:cNvGrpSpPr>
                  <p:nvPr/>
                </p:nvGrpSpPr>
                <p:grpSpPr bwMode="auto">
                  <a:xfrm>
                    <a:off x="882" y="3600"/>
                    <a:ext cx="49" cy="23"/>
                    <a:chOff x="882" y="3600"/>
                    <a:chExt cx="49" cy="23"/>
                  </a:xfrm>
                </p:grpSpPr>
                <p:sp>
                  <p:nvSpPr>
                    <p:cNvPr id="1355" name="Freeform 2213"/>
                    <p:cNvSpPr>
                      <a:spLocks/>
                    </p:cNvSpPr>
                    <p:nvPr/>
                  </p:nvSpPr>
                  <p:spPr bwMode="auto">
                    <a:xfrm>
                      <a:off x="882" y="3600"/>
                      <a:ext cx="12" cy="23"/>
                    </a:xfrm>
                    <a:custGeom>
                      <a:avLst/>
                      <a:gdLst>
                        <a:gd name="T0" fmla="*/ 1 w 23"/>
                        <a:gd name="T1" fmla="*/ 0 h 70"/>
                        <a:gd name="T2" fmla="*/ 0 w 23"/>
                        <a:gd name="T3" fmla="*/ 0 h 70"/>
                        <a:gd name="T4" fmla="*/ 1 w 23"/>
                        <a:gd name="T5" fmla="*/ 0 h 70"/>
                        <a:gd name="T6" fmla="*/ 1 w 23"/>
                        <a:gd name="T7" fmla="*/ 0 h 70"/>
                        <a:gd name="T8" fmla="*/ 1 w 23"/>
                        <a:gd name="T9" fmla="*/ 0 h 70"/>
                        <a:gd name="T10" fmla="*/ 0 60000 65536"/>
                        <a:gd name="T11" fmla="*/ 0 60000 65536"/>
                        <a:gd name="T12" fmla="*/ 0 60000 65536"/>
                        <a:gd name="T13" fmla="*/ 0 60000 65536"/>
                        <a:gd name="T14" fmla="*/ 0 60000 65536"/>
                        <a:gd name="T15" fmla="*/ 0 w 23"/>
                        <a:gd name="T16" fmla="*/ 0 h 70"/>
                        <a:gd name="T17" fmla="*/ 23 w 23"/>
                        <a:gd name="T18" fmla="*/ 70 h 70"/>
                      </a:gdLst>
                      <a:ahLst/>
                      <a:cxnLst>
                        <a:cxn ang="T10">
                          <a:pos x="T0" y="T1"/>
                        </a:cxn>
                        <a:cxn ang="T11">
                          <a:pos x="T2" y="T3"/>
                        </a:cxn>
                        <a:cxn ang="T12">
                          <a:pos x="T4" y="T5"/>
                        </a:cxn>
                        <a:cxn ang="T13">
                          <a:pos x="T6" y="T7"/>
                        </a:cxn>
                        <a:cxn ang="T14">
                          <a:pos x="T8" y="T9"/>
                        </a:cxn>
                      </a:cxnLst>
                      <a:rect l="T15" t="T16" r="T17" b="T18"/>
                      <a:pathLst>
                        <a:path w="23" h="70">
                          <a:moveTo>
                            <a:pt x="13" y="70"/>
                          </a:moveTo>
                          <a:lnTo>
                            <a:pt x="0" y="27"/>
                          </a:lnTo>
                          <a:lnTo>
                            <a:pt x="9" y="0"/>
                          </a:lnTo>
                          <a:lnTo>
                            <a:pt x="23"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56" name="Freeform 2214"/>
                    <p:cNvSpPr>
                      <a:spLocks/>
                    </p:cNvSpPr>
                    <p:nvPr/>
                  </p:nvSpPr>
                  <p:spPr bwMode="auto">
                    <a:xfrm>
                      <a:off x="887" y="3600"/>
                      <a:ext cx="37" cy="11"/>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50" y="0"/>
                          </a:lnTo>
                          <a:lnTo>
                            <a:pt x="51"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57" name="Freeform 2215"/>
                    <p:cNvSpPr>
                      <a:spLocks/>
                    </p:cNvSpPr>
                    <p:nvPr/>
                  </p:nvSpPr>
                  <p:spPr bwMode="auto">
                    <a:xfrm>
                      <a:off x="890" y="3611"/>
                      <a:ext cx="41" cy="12"/>
                    </a:xfrm>
                    <a:custGeom>
                      <a:avLst/>
                      <a:gdLst>
                        <a:gd name="T0" fmla="*/ 0 w 83"/>
                        <a:gd name="T1" fmla="*/ 0 h 38"/>
                        <a:gd name="T2" fmla="*/ 0 w 83"/>
                        <a:gd name="T3" fmla="*/ 0 h 38"/>
                        <a:gd name="T4" fmla="*/ 0 w 83"/>
                        <a:gd name="T5" fmla="*/ 0 h 38"/>
                        <a:gd name="T6" fmla="*/ 0 w 83"/>
                        <a:gd name="T7" fmla="*/ 0 h 38"/>
                        <a:gd name="T8" fmla="*/ 0 w 83"/>
                        <a:gd name="T9" fmla="*/ 0 h 38"/>
                        <a:gd name="T10" fmla="*/ 0 w 83"/>
                        <a:gd name="T11" fmla="*/ 0 h 38"/>
                        <a:gd name="T12" fmla="*/ 0 w 83"/>
                        <a:gd name="T13" fmla="*/ 0 h 38"/>
                        <a:gd name="T14" fmla="*/ 0 60000 65536"/>
                        <a:gd name="T15" fmla="*/ 0 60000 65536"/>
                        <a:gd name="T16" fmla="*/ 0 60000 65536"/>
                        <a:gd name="T17" fmla="*/ 0 60000 65536"/>
                        <a:gd name="T18" fmla="*/ 0 60000 65536"/>
                        <a:gd name="T19" fmla="*/ 0 60000 65536"/>
                        <a:gd name="T20" fmla="*/ 0 60000 65536"/>
                        <a:gd name="T21" fmla="*/ 0 w 83"/>
                        <a:gd name="T22" fmla="*/ 0 h 38"/>
                        <a:gd name="T23" fmla="*/ 83 w 83"/>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8">
                          <a:moveTo>
                            <a:pt x="0" y="38"/>
                          </a:moveTo>
                          <a:lnTo>
                            <a:pt x="1" y="22"/>
                          </a:lnTo>
                          <a:lnTo>
                            <a:pt x="8" y="8"/>
                          </a:lnTo>
                          <a:lnTo>
                            <a:pt x="12" y="0"/>
                          </a:lnTo>
                          <a:lnTo>
                            <a:pt x="68" y="0"/>
                          </a:lnTo>
                          <a:lnTo>
                            <a:pt x="83"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39" name="Group 2216"/>
                  <p:cNvGrpSpPr>
                    <a:grpSpLocks/>
                  </p:cNvGrpSpPr>
                  <p:nvPr/>
                </p:nvGrpSpPr>
                <p:grpSpPr bwMode="auto">
                  <a:xfrm>
                    <a:off x="894" y="3612"/>
                    <a:ext cx="49" cy="23"/>
                    <a:chOff x="894" y="3612"/>
                    <a:chExt cx="49" cy="23"/>
                  </a:xfrm>
                </p:grpSpPr>
                <p:sp>
                  <p:nvSpPr>
                    <p:cNvPr id="1352" name="Freeform 2217"/>
                    <p:cNvSpPr>
                      <a:spLocks/>
                    </p:cNvSpPr>
                    <p:nvPr/>
                  </p:nvSpPr>
                  <p:spPr bwMode="auto">
                    <a:xfrm>
                      <a:off x="894" y="3612"/>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9"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53" name="Freeform 2218"/>
                    <p:cNvSpPr>
                      <a:spLocks/>
                    </p:cNvSpPr>
                    <p:nvPr/>
                  </p:nvSpPr>
                  <p:spPr bwMode="auto">
                    <a:xfrm>
                      <a:off x="899" y="3613"/>
                      <a:ext cx="37" cy="10"/>
                    </a:xfrm>
                    <a:custGeom>
                      <a:avLst/>
                      <a:gdLst>
                        <a:gd name="T0" fmla="*/ 0 w 75"/>
                        <a:gd name="T1" fmla="*/ 0 h 32"/>
                        <a:gd name="T2" fmla="*/ 0 w 75"/>
                        <a:gd name="T3" fmla="*/ 0 h 32"/>
                        <a:gd name="T4" fmla="*/ 0 w 75"/>
                        <a:gd name="T5" fmla="*/ 0 h 32"/>
                        <a:gd name="T6" fmla="*/ 0 w 75"/>
                        <a:gd name="T7" fmla="*/ 0 h 32"/>
                        <a:gd name="T8" fmla="*/ 0 w 75"/>
                        <a:gd name="T9" fmla="*/ 0 h 32"/>
                        <a:gd name="T10" fmla="*/ 0 w 75"/>
                        <a:gd name="T11" fmla="*/ 0 h 32"/>
                        <a:gd name="T12" fmla="*/ 0 w 75"/>
                        <a:gd name="T13" fmla="*/ 0 h 32"/>
                        <a:gd name="T14" fmla="*/ 0 w 75"/>
                        <a:gd name="T15" fmla="*/ 0 h 32"/>
                        <a:gd name="T16" fmla="*/ 0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2" y="0"/>
                          </a:moveTo>
                          <a:lnTo>
                            <a:pt x="50" y="0"/>
                          </a:lnTo>
                          <a:lnTo>
                            <a:pt x="52" y="3"/>
                          </a:lnTo>
                          <a:lnTo>
                            <a:pt x="57" y="15"/>
                          </a:lnTo>
                          <a:lnTo>
                            <a:pt x="75" y="32"/>
                          </a:lnTo>
                          <a:lnTo>
                            <a:pt x="19" y="32"/>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54" name="Freeform 2219"/>
                    <p:cNvSpPr>
                      <a:spLocks/>
                    </p:cNvSpPr>
                    <p:nvPr/>
                  </p:nvSpPr>
                  <p:spPr bwMode="auto">
                    <a:xfrm>
                      <a:off x="902" y="362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1"/>
                          </a:lnTo>
                          <a:lnTo>
                            <a:pt x="5" y="8"/>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40" name="Group 2220"/>
                  <p:cNvGrpSpPr>
                    <a:grpSpLocks/>
                  </p:cNvGrpSpPr>
                  <p:nvPr/>
                </p:nvGrpSpPr>
                <p:grpSpPr bwMode="auto">
                  <a:xfrm>
                    <a:off x="907" y="3625"/>
                    <a:ext cx="49" cy="23"/>
                    <a:chOff x="907" y="3625"/>
                    <a:chExt cx="49" cy="23"/>
                  </a:xfrm>
                </p:grpSpPr>
                <p:sp>
                  <p:nvSpPr>
                    <p:cNvPr id="1349" name="Freeform 2221"/>
                    <p:cNvSpPr>
                      <a:spLocks/>
                    </p:cNvSpPr>
                    <p:nvPr/>
                  </p:nvSpPr>
                  <p:spPr bwMode="auto">
                    <a:xfrm>
                      <a:off x="907" y="3625"/>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50" name="Freeform 2222"/>
                    <p:cNvSpPr>
                      <a:spLocks/>
                    </p:cNvSpPr>
                    <p:nvPr/>
                  </p:nvSpPr>
                  <p:spPr bwMode="auto">
                    <a:xfrm>
                      <a:off x="912" y="3626"/>
                      <a:ext cx="36" cy="9"/>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51" name="Freeform 2223"/>
                    <p:cNvSpPr>
                      <a:spLocks/>
                    </p:cNvSpPr>
                    <p:nvPr/>
                  </p:nvSpPr>
                  <p:spPr bwMode="auto">
                    <a:xfrm>
                      <a:off x="914" y="363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41" name="Group 2224"/>
                  <p:cNvGrpSpPr>
                    <a:grpSpLocks/>
                  </p:cNvGrpSpPr>
                  <p:nvPr/>
                </p:nvGrpSpPr>
                <p:grpSpPr bwMode="auto">
                  <a:xfrm>
                    <a:off x="919" y="3638"/>
                    <a:ext cx="49" cy="22"/>
                    <a:chOff x="919" y="3638"/>
                    <a:chExt cx="49" cy="22"/>
                  </a:xfrm>
                </p:grpSpPr>
                <p:sp>
                  <p:nvSpPr>
                    <p:cNvPr id="1346" name="Freeform 2225"/>
                    <p:cNvSpPr>
                      <a:spLocks/>
                    </p:cNvSpPr>
                    <p:nvPr/>
                  </p:nvSpPr>
                  <p:spPr bwMode="auto">
                    <a:xfrm>
                      <a:off x="919" y="3638"/>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47" name="Freeform 2226"/>
                    <p:cNvSpPr>
                      <a:spLocks/>
                    </p:cNvSpPr>
                    <p:nvPr/>
                  </p:nvSpPr>
                  <p:spPr bwMode="auto">
                    <a:xfrm>
                      <a:off x="924" y="363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48" y="0"/>
                          </a:lnTo>
                          <a:lnTo>
                            <a:pt x="52" y="3"/>
                          </a:lnTo>
                          <a:lnTo>
                            <a:pt x="56" y="12"/>
                          </a:lnTo>
                          <a:lnTo>
                            <a:pt x="73"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48" name="Freeform 2227"/>
                    <p:cNvSpPr>
                      <a:spLocks/>
                    </p:cNvSpPr>
                    <p:nvPr/>
                  </p:nvSpPr>
                  <p:spPr bwMode="auto">
                    <a:xfrm>
                      <a:off x="928" y="364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42" name="Group 2228"/>
                  <p:cNvGrpSpPr>
                    <a:grpSpLocks/>
                  </p:cNvGrpSpPr>
                  <p:nvPr/>
                </p:nvGrpSpPr>
                <p:grpSpPr bwMode="auto">
                  <a:xfrm>
                    <a:off x="932" y="3651"/>
                    <a:ext cx="50" cy="22"/>
                    <a:chOff x="932" y="3651"/>
                    <a:chExt cx="50" cy="22"/>
                  </a:xfrm>
                </p:grpSpPr>
                <p:sp>
                  <p:nvSpPr>
                    <p:cNvPr id="1343" name="Freeform 2229"/>
                    <p:cNvSpPr>
                      <a:spLocks/>
                    </p:cNvSpPr>
                    <p:nvPr/>
                  </p:nvSpPr>
                  <p:spPr bwMode="auto">
                    <a:xfrm>
                      <a:off x="932" y="36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11" y="0"/>
                          </a:lnTo>
                          <a:lnTo>
                            <a:pt x="24"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44" name="Freeform 2230"/>
                    <p:cNvSpPr>
                      <a:spLocks/>
                    </p:cNvSpPr>
                    <p:nvPr/>
                  </p:nvSpPr>
                  <p:spPr bwMode="auto">
                    <a:xfrm>
                      <a:off x="937" y="3651"/>
                      <a:ext cx="37"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45" name="Freeform 2231"/>
                    <p:cNvSpPr>
                      <a:spLocks/>
                    </p:cNvSpPr>
                    <p:nvPr/>
                  </p:nvSpPr>
                  <p:spPr bwMode="auto">
                    <a:xfrm>
                      <a:off x="940" y="3662"/>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46" name="Group 2232"/>
                <p:cNvGrpSpPr>
                  <a:grpSpLocks/>
                </p:cNvGrpSpPr>
                <p:nvPr/>
              </p:nvGrpSpPr>
              <p:grpSpPr bwMode="auto">
                <a:xfrm>
                  <a:off x="944" y="3665"/>
                  <a:ext cx="99" cy="74"/>
                  <a:chOff x="944" y="3665"/>
                  <a:chExt cx="99" cy="74"/>
                </a:xfrm>
              </p:grpSpPr>
              <p:grpSp>
                <p:nvGrpSpPr>
                  <p:cNvPr id="1318" name="Group 2233"/>
                  <p:cNvGrpSpPr>
                    <a:grpSpLocks/>
                  </p:cNvGrpSpPr>
                  <p:nvPr/>
                </p:nvGrpSpPr>
                <p:grpSpPr bwMode="auto">
                  <a:xfrm>
                    <a:off x="944" y="3665"/>
                    <a:ext cx="49" cy="23"/>
                    <a:chOff x="944" y="3665"/>
                    <a:chExt cx="49" cy="23"/>
                  </a:xfrm>
                </p:grpSpPr>
                <p:sp>
                  <p:nvSpPr>
                    <p:cNvPr id="1335" name="Freeform 2234"/>
                    <p:cNvSpPr>
                      <a:spLocks/>
                    </p:cNvSpPr>
                    <p:nvPr/>
                  </p:nvSpPr>
                  <p:spPr bwMode="auto">
                    <a:xfrm>
                      <a:off x="944" y="3665"/>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36" name="Freeform 2235"/>
                    <p:cNvSpPr>
                      <a:spLocks/>
                    </p:cNvSpPr>
                    <p:nvPr/>
                  </p:nvSpPr>
                  <p:spPr bwMode="auto">
                    <a:xfrm>
                      <a:off x="949" y="3666"/>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4"/>
                          </a:lnTo>
                          <a:lnTo>
                            <a:pt x="57" y="13"/>
                          </a:lnTo>
                          <a:lnTo>
                            <a:pt x="75" y="31"/>
                          </a:lnTo>
                          <a:lnTo>
                            <a:pt x="19" y="31"/>
                          </a:lnTo>
                          <a:lnTo>
                            <a:pt x="11"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37" name="Freeform 2236"/>
                    <p:cNvSpPr>
                      <a:spLocks/>
                    </p:cNvSpPr>
                    <p:nvPr/>
                  </p:nvSpPr>
                  <p:spPr bwMode="auto">
                    <a:xfrm>
                      <a:off x="953" y="367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19" name="Group 2237"/>
                  <p:cNvGrpSpPr>
                    <a:grpSpLocks/>
                  </p:cNvGrpSpPr>
                  <p:nvPr/>
                </p:nvGrpSpPr>
                <p:grpSpPr bwMode="auto">
                  <a:xfrm>
                    <a:off x="957" y="3678"/>
                    <a:ext cx="48" cy="23"/>
                    <a:chOff x="957" y="3678"/>
                    <a:chExt cx="48" cy="23"/>
                  </a:xfrm>
                </p:grpSpPr>
                <p:sp>
                  <p:nvSpPr>
                    <p:cNvPr id="1332" name="Freeform 2238"/>
                    <p:cNvSpPr>
                      <a:spLocks/>
                    </p:cNvSpPr>
                    <p:nvPr/>
                  </p:nvSpPr>
                  <p:spPr bwMode="auto">
                    <a:xfrm>
                      <a:off x="957" y="3678"/>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3" y="70"/>
                          </a:moveTo>
                          <a:lnTo>
                            <a:pt x="0" y="27"/>
                          </a:lnTo>
                          <a:lnTo>
                            <a:pt x="9" y="0"/>
                          </a:lnTo>
                          <a:lnTo>
                            <a:pt x="24"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33" name="Freeform 2239"/>
                    <p:cNvSpPr>
                      <a:spLocks/>
                    </p:cNvSpPr>
                    <p:nvPr/>
                  </p:nvSpPr>
                  <p:spPr bwMode="auto">
                    <a:xfrm>
                      <a:off x="961" y="3678"/>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3"/>
                          </a:lnTo>
                          <a:lnTo>
                            <a:pt x="56" y="12"/>
                          </a:lnTo>
                          <a:lnTo>
                            <a:pt x="74"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34" name="Freeform 2240"/>
                    <p:cNvSpPr>
                      <a:spLocks/>
                    </p:cNvSpPr>
                    <p:nvPr/>
                  </p:nvSpPr>
                  <p:spPr bwMode="auto">
                    <a:xfrm>
                      <a:off x="964" y="3688"/>
                      <a:ext cx="41"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1"/>
                          </a:lnTo>
                          <a:lnTo>
                            <a:pt x="7" y="8"/>
                          </a:lnTo>
                          <a:lnTo>
                            <a:pt x="11" y="0"/>
                          </a:lnTo>
                          <a:lnTo>
                            <a:pt x="68"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20" name="Group 2241"/>
                  <p:cNvGrpSpPr>
                    <a:grpSpLocks/>
                  </p:cNvGrpSpPr>
                  <p:nvPr/>
                </p:nvGrpSpPr>
                <p:grpSpPr bwMode="auto">
                  <a:xfrm>
                    <a:off x="969" y="3690"/>
                    <a:ext cx="49" cy="23"/>
                    <a:chOff x="969" y="3690"/>
                    <a:chExt cx="49" cy="23"/>
                  </a:xfrm>
                </p:grpSpPr>
                <p:sp>
                  <p:nvSpPr>
                    <p:cNvPr id="1329" name="Freeform 2242"/>
                    <p:cNvSpPr>
                      <a:spLocks/>
                    </p:cNvSpPr>
                    <p:nvPr/>
                  </p:nvSpPr>
                  <p:spPr bwMode="auto">
                    <a:xfrm>
                      <a:off x="969" y="369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9"/>
                          </a:lnTo>
                          <a:lnTo>
                            <a:pt x="9" y="0"/>
                          </a:lnTo>
                          <a:lnTo>
                            <a:pt x="25" y="33"/>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30" name="Freeform 2243"/>
                    <p:cNvSpPr>
                      <a:spLocks/>
                    </p:cNvSpPr>
                    <p:nvPr/>
                  </p:nvSpPr>
                  <p:spPr bwMode="auto">
                    <a:xfrm>
                      <a:off x="974" y="3691"/>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9"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31" name="Freeform 2244"/>
                    <p:cNvSpPr>
                      <a:spLocks/>
                    </p:cNvSpPr>
                    <p:nvPr/>
                  </p:nvSpPr>
                  <p:spPr bwMode="auto">
                    <a:xfrm>
                      <a:off x="977" y="370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6" y="7"/>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21" name="Group 2245"/>
                  <p:cNvGrpSpPr>
                    <a:grpSpLocks/>
                  </p:cNvGrpSpPr>
                  <p:nvPr/>
                </p:nvGrpSpPr>
                <p:grpSpPr bwMode="auto">
                  <a:xfrm>
                    <a:off x="982" y="3703"/>
                    <a:ext cx="49" cy="23"/>
                    <a:chOff x="982" y="3703"/>
                    <a:chExt cx="49" cy="23"/>
                  </a:xfrm>
                </p:grpSpPr>
                <p:sp>
                  <p:nvSpPr>
                    <p:cNvPr id="1326" name="Freeform 2246"/>
                    <p:cNvSpPr>
                      <a:spLocks/>
                    </p:cNvSpPr>
                    <p:nvPr/>
                  </p:nvSpPr>
                  <p:spPr bwMode="auto">
                    <a:xfrm>
                      <a:off x="982"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27" name="Freeform 2247"/>
                    <p:cNvSpPr>
                      <a:spLocks/>
                    </p:cNvSpPr>
                    <p:nvPr/>
                  </p:nvSpPr>
                  <p:spPr bwMode="auto">
                    <a:xfrm>
                      <a:off x="987" y="3703"/>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28" name="Freeform 2248"/>
                    <p:cNvSpPr>
                      <a:spLocks/>
                    </p:cNvSpPr>
                    <p:nvPr/>
                  </p:nvSpPr>
                  <p:spPr bwMode="auto">
                    <a:xfrm>
                      <a:off x="989" y="3714"/>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22" name="Group 2249"/>
                  <p:cNvGrpSpPr>
                    <a:grpSpLocks/>
                  </p:cNvGrpSpPr>
                  <p:nvPr/>
                </p:nvGrpSpPr>
                <p:grpSpPr bwMode="auto">
                  <a:xfrm>
                    <a:off x="995" y="3716"/>
                    <a:ext cx="48" cy="23"/>
                    <a:chOff x="995" y="3716"/>
                    <a:chExt cx="48" cy="23"/>
                  </a:xfrm>
                </p:grpSpPr>
                <p:sp>
                  <p:nvSpPr>
                    <p:cNvPr id="1323" name="Freeform 2250"/>
                    <p:cNvSpPr>
                      <a:spLocks/>
                    </p:cNvSpPr>
                    <p:nvPr/>
                  </p:nvSpPr>
                  <p:spPr bwMode="auto">
                    <a:xfrm>
                      <a:off x="995" y="3716"/>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0"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24" name="Freeform 2251"/>
                    <p:cNvSpPr>
                      <a:spLocks/>
                    </p:cNvSpPr>
                    <p:nvPr/>
                  </p:nvSpPr>
                  <p:spPr bwMode="auto">
                    <a:xfrm>
                      <a:off x="999" y="3717"/>
                      <a:ext cx="38"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2" y="3"/>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25" name="Freeform 2252"/>
                    <p:cNvSpPr>
                      <a:spLocks/>
                    </p:cNvSpPr>
                    <p:nvPr/>
                  </p:nvSpPr>
                  <p:spPr bwMode="auto">
                    <a:xfrm>
                      <a:off x="1003" y="3727"/>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5" y="7"/>
                          </a:lnTo>
                          <a:lnTo>
                            <a:pt x="11"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47" name="Group 2253"/>
                <p:cNvGrpSpPr>
                  <a:grpSpLocks/>
                </p:cNvGrpSpPr>
                <p:nvPr/>
              </p:nvGrpSpPr>
              <p:grpSpPr bwMode="auto">
                <a:xfrm>
                  <a:off x="1005" y="3727"/>
                  <a:ext cx="49" cy="23"/>
                  <a:chOff x="1005" y="3727"/>
                  <a:chExt cx="49" cy="23"/>
                </a:xfrm>
              </p:grpSpPr>
              <p:sp>
                <p:nvSpPr>
                  <p:cNvPr id="1315" name="Freeform 2254"/>
                  <p:cNvSpPr>
                    <a:spLocks/>
                  </p:cNvSpPr>
                  <p:nvPr/>
                </p:nvSpPr>
                <p:spPr bwMode="auto">
                  <a:xfrm>
                    <a:off x="1005" y="372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2"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16" name="Freeform 2255"/>
                  <p:cNvSpPr>
                    <a:spLocks/>
                  </p:cNvSpPr>
                  <p:nvPr/>
                </p:nvSpPr>
                <p:spPr bwMode="auto">
                  <a:xfrm>
                    <a:off x="1010"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8" y="0"/>
                        </a:lnTo>
                        <a:lnTo>
                          <a:pt x="51" y="4"/>
                        </a:lnTo>
                        <a:lnTo>
                          <a:pt x="56" y="13"/>
                        </a:lnTo>
                        <a:lnTo>
                          <a:pt x="73" y="31"/>
                        </a:lnTo>
                        <a:lnTo>
                          <a:pt x="18" y="31"/>
                        </a:lnTo>
                        <a:lnTo>
                          <a:pt x="9"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17" name="Freeform 2256"/>
                  <p:cNvSpPr>
                    <a:spLocks/>
                  </p:cNvSpPr>
                  <p:nvPr/>
                </p:nvSpPr>
                <p:spPr bwMode="auto">
                  <a:xfrm>
                    <a:off x="1013"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48" name="Group 2257"/>
                <p:cNvGrpSpPr>
                  <a:grpSpLocks/>
                </p:cNvGrpSpPr>
                <p:nvPr/>
              </p:nvGrpSpPr>
              <p:grpSpPr bwMode="auto">
                <a:xfrm>
                  <a:off x="1018" y="3740"/>
                  <a:ext cx="49" cy="22"/>
                  <a:chOff x="1018" y="3740"/>
                  <a:chExt cx="49" cy="22"/>
                </a:xfrm>
              </p:grpSpPr>
              <p:sp>
                <p:nvSpPr>
                  <p:cNvPr id="1312" name="Freeform 2258"/>
                  <p:cNvSpPr>
                    <a:spLocks/>
                  </p:cNvSpPr>
                  <p:nvPr/>
                </p:nvSpPr>
                <p:spPr bwMode="auto">
                  <a:xfrm>
                    <a:off x="1018" y="374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13" name="Freeform 2259"/>
                  <p:cNvSpPr>
                    <a:spLocks/>
                  </p:cNvSpPr>
                  <p:nvPr/>
                </p:nvSpPr>
                <p:spPr bwMode="auto">
                  <a:xfrm>
                    <a:off x="1022" y="3740"/>
                    <a:ext cx="38"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49" y="0"/>
                        </a:lnTo>
                        <a:lnTo>
                          <a:pt x="51" y="4"/>
                        </a:lnTo>
                        <a:lnTo>
                          <a:pt x="57"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14" name="Freeform 2260"/>
                  <p:cNvSpPr>
                    <a:spLocks/>
                  </p:cNvSpPr>
                  <p:nvPr/>
                </p:nvSpPr>
                <p:spPr bwMode="auto">
                  <a:xfrm>
                    <a:off x="1026" y="3750"/>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49" name="Group 2261"/>
                <p:cNvGrpSpPr>
                  <a:grpSpLocks/>
                </p:cNvGrpSpPr>
                <p:nvPr/>
              </p:nvGrpSpPr>
              <p:grpSpPr bwMode="auto">
                <a:xfrm>
                  <a:off x="1030" y="3753"/>
                  <a:ext cx="49" cy="23"/>
                  <a:chOff x="1030" y="3753"/>
                  <a:chExt cx="49" cy="23"/>
                </a:xfrm>
              </p:grpSpPr>
              <p:sp>
                <p:nvSpPr>
                  <p:cNvPr id="1309" name="Freeform 2262"/>
                  <p:cNvSpPr>
                    <a:spLocks/>
                  </p:cNvSpPr>
                  <p:nvPr/>
                </p:nvSpPr>
                <p:spPr bwMode="auto">
                  <a:xfrm>
                    <a:off x="1030" y="375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2"/>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10" name="Freeform 2263"/>
                  <p:cNvSpPr>
                    <a:spLocks/>
                  </p:cNvSpPr>
                  <p:nvPr/>
                </p:nvSpPr>
                <p:spPr bwMode="auto">
                  <a:xfrm>
                    <a:off x="1035" y="3753"/>
                    <a:ext cx="37" cy="11"/>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1" y="0"/>
                        </a:lnTo>
                        <a:lnTo>
                          <a:pt x="52" y="4"/>
                        </a:lnTo>
                        <a:lnTo>
                          <a:pt x="56"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11" name="Freeform 2264"/>
                  <p:cNvSpPr>
                    <a:spLocks/>
                  </p:cNvSpPr>
                  <p:nvPr/>
                </p:nvSpPr>
                <p:spPr bwMode="auto">
                  <a:xfrm>
                    <a:off x="1039" y="3764"/>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7"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050" name="Freeform 2265"/>
                <p:cNvSpPr>
                  <a:spLocks/>
                </p:cNvSpPr>
                <p:nvPr/>
              </p:nvSpPr>
              <p:spPr bwMode="auto">
                <a:xfrm>
                  <a:off x="778" y="353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3" y="68"/>
                      </a:moveTo>
                      <a:lnTo>
                        <a:pt x="0" y="27"/>
                      </a:lnTo>
                      <a:lnTo>
                        <a:pt x="9" y="0"/>
                      </a:lnTo>
                      <a:lnTo>
                        <a:pt x="24"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51" name="Freeform 2266"/>
                <p:cNvSpPr>
                  <a:spLocks/>
                </p:cNvSpPr>
                <p:nvPr/>
              </p:nvSpPr>
              <p:spPr bwMode="auto">
                <a:xfrm>
                  <a:off x="783" y="3535"/>
                  <a:ext cx="36" cy="11"/>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50" y="0"/>
                      </a:lnTo>
                      <a:lnTo>
                        <a:pt x="51" y="4"/>
                      </a:lnTo>
                      <a:lnTo>
                        <a:pt x="57" y="13"/>
                      </a:lnTo>
                      <a:lnTo>
                        <a:pt x="72" y="31"/>
                      </a:lnTo>
                      <a:lnTo>
                        <a:pt x="18" y="31"/>
                      </a:lnTo>
                      <a:lnTo>
                        <a:pt x="9" y="22"/>
                      </a:lnTo>
                      <a:lnTo>
                        <a:pt x="0" y="7"/>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52" name="Freeform 2267"/>
                <p:cNvSpPr>
                  <a:spLocks/>
                </p:cNvSpPr>
                <p:nvPr/>
              </p:nvSpPr>
              <p:spPr bwMode="auto">
                <a:xfrm>
                  <a:off x="786" y="3546"/>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1"/>
                      </a:lnTo>
                      <a:lnTo>
                        <a:pt x="7" y="8"/>
                      </a:lnTo>
                      <a:lnTo>
                        <a:pt x="12"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053" name="Group 2268"/>
                <p:cNvGrpSpPr>
                  <a:grpSpLocks/>
                </p:cNvGrpSpPr>
                <p:nvPr/>
              </p:nvGrpSpPr>
              <p:grpSpPr bwMode="auto">
                <a:xfrm>
                  <a:off x="790" y="3547"/>
                  <a:ext cx="49" cy="23"/>
                  <a:chOff x="790" y="3547"/>
                  <a:chExt cx="49" cy="23"/>
                </a:xfrm>
              </p:grpSpPr>
              <p:sp>
                <p:nvSpPr>
                  <p:cNvPr id="1306" name="Freeform 2269"/>
                  <p:cNvSpPr>
                    <a:spLocks/>
                  </p:cNvSpPr>
                  <p:nvPr/>
                </p:nvSpPr>
                <p:spPr bwMode="auto">
                  <a:xfrm>
                    <a:off x="790" y="3547"/>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07" name="Freeform 2270"/>
                  <p:cNvSpPr>
                    <a:spLocks/>
                  </p:cNvSpPr>
                  <p:nvPr/>
                </p:nvSpPr>
                <p:spPr bwMode="auto">
                  <a:xfrm>
                    <a:off x="795" y="3548"/>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08" name="Freeform 2271"/>
                  <p:cNvSpPr>
                    <a:spLocks/>
                  </p:cNvSpPr>
                  <p:nvPr/>
                </p:nvSpPr>
                <p:spPr bwMode="auto">
                  <a:xfrm>
                    <a:off x="798" y="355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54" name="Group 2272"/>
                <p:cNvGrpSpPr>
                  <a:grpSpLocks/>
                </p:cNvGrpSpPr>
                <p:nvPr/>
              </p:nvGrpSpPr>
              <p:grpSpPr bwMode="auto">
                <a:xfrm>
                  <a:off x="803" y="3560"/>
                  <a:ext cx="49" cy="22"/>
                  <a:chOff x="803" y="3560"/>
                  <a:chExt cx="49" cy="22"/>
                </a:xfrm>
              </p:grpSpPr>
              <p:sp>
                <p:nvSpPr>
                  <p:cNvPr id="1303" name="Freeform 2273"/>
                  <p:cNvSpPr>
                    <a:spLocks/>
                  </p:cNvSpPr>
                  <p:nvPr/>
                </p:nvSpPr>
                <p:spPr bwMode="auto">
                  <a:xfrm>
                    <a:off x="803" y="3560"/>
                    <a:ext cx="12" cy="22"/>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04" name="Freeform 2274"/>
                  <p:cNvSpPr>
                    <a:spLocks/>
                  </p:cNvSpPr>
                  <p:nvPr/>
                </p:nvSpPr>
                <p:spPr bwMode="auto">
                  <a:xfrm>
                    <a:off x="808" y="356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05" name="Freeform 2275"/>
                  <p:cNvSpPr>
                    <a:spLocks/>
                  </p:cNvSpPr>
                  <p:nvPr/>
                </p:nvSpPr>
                <p:spPr bwMode="auto">
                  <a:xfrm>
                    <a:off x="811" y="3571"/>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2"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55" name="Group 2276"/>
                <p:cNvGrpSpPr>
                  <a:grpSpLocks/>
                </p:cNvGrpSpPr>
                <p:nvPr/>
              </p:nvGrpSpPr>
              <p:grpSpPr bwMode="auto">
                <a:xfrm>
                  <a:off x="815" y="3572"/>
                  <a:ext cx="50" cy="23"/>
                  <a:chOff x="815" y="3572"/>
                  <a:chExt cx="50" cy="23"/>
                </a:xfrm>
              </p:grpSpPr>
              <p:sp>
                <p:nvSpPr>
                  <p:cNvPr id="1300" name="Freeform 2277"/>
                  <p:cNvSpPr>
                    <a:spLocks/>
                  </p:cNvSpPr>
                  <p:nvPr/>
                </p:nvSpPr>
                <p:spPr bwMode="auto">
                  <a:xfrm>
                    <a:off x="815" y="3572"/>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0"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01" name="Freeform 2278"/>
                  <p:cNvSpPr>
                    <a:spLocks/>
                  </p:cNvSpPr>
                  <p:nvPr/>
                </p:nvSpPr>
                <p:spPr bwMode="auto">
                  <a:xfrm>
                    <a:off x="820" y="3573"/>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02" name="Freeform 2279"/>
                  <p:cNvSpPr>
                    <a:spLocks/>
                  </p:cNvSpPr>
                  <p:nvPr/>
                </p:nvSpPr>
                <p:spPr bwMode="auto">
                  <a:xfrm>
                    <a:off x="824" y="3583"/>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6" y="7"/>
                        </a:lnTo>
                        <a:lnTo>
                          <a:pt x="10"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56" name="Group 2280"/>
                <p:cNvGrpSpPr>
                  <a:grpSpLocks/>
                </p:cNvGrpSpPr>
                <p:nvPr/>
              </p:nvGrpSpPr>
              <p:grpSpPr bwMode="auto">
                <a:xfrm>
                  <a:off x="828" y="3585"/>
                  <a:ext cx="49" cy="23"/>
                  <a:chOff x="828" y="3585"/>
                  <a:chExt cx="49" cy="23"/>
                </a:xfrm>
              </p:grpSpPr>
              <p:sp>
                <p:nvSpPr>
                  <p:cNvPr id="1297" name="Freeform 2281"/>
                  <p:cNvSpPr>
                    <a:spLocks/>
                  </p:cNvSpPr>
                  <p:nvPr/>
                </p:nvSpPr>
                <p:spPr bwMode="auto">
                  <a:xfrm>
                    <a:off x="828" y="358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9"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98" name="Freeform 2282"/>
                  <p:cNvSpPr>
                    <a:spLocks/>
                  </p:cNvSpPr>
                  <p:nvPr/>
                </p:nvSpPr>
                <p:spPr bwMode="auto">
                  <a:xfrm>
                    <a:off x="833" y="358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99" name="Freeform 2283"/>
                  <p:cNvSpPr>
                    <a:spLocks/>
                  </p:cNvSpPr>
                  <p:nvPr/>
                </p:nvSpPr>
                <p:spPr bwMode="auto">
                  <a:xfrm>
                    <a:off x="837"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5"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57" name="Group 2284"/>
                <p:cNvGrpSpPr>
                  <a:grpSpLocks/>
                </p:cNvGrpSpPr>
                <p:nvPr/>
              </p:nvGrpSpPr>
              <p:grpSpPr bwMode="auto">
                <a:xfrm>
                  <a:off x="840" y="3600"/>
                  <a:ext cx="100" cy="73"/>
                  <a:chOff x="840" y="3600"/>
                  <a:chExt cx="100" cy="73"/>
                </a:xfrm>
              </p:grpSpPr>
              <p:grpSp>
                <p:nvGrpSpPr>
                  <p:cNvPr id="1277" name="Group 2285"/>
                  <p:cNvGrpSpPr>
                    <a:grpSpLocks/>
                  </p:cNvGrpSpPr>
                  <p:nvPr/>
                </p:nvGrpSpPr>
                <p:grpSpPr bwMode="auto">
                  <a:xfrm>
                    <a:off x="840" y="3600"/>
                    <a:ext cx="49" cy="23"/>
                    <a:chOff x="840" y="3600"/>
                    <a:chExt cx="49" cy="23"/>
                  </a:xfrm>
                </p:grpSpPr>
                <p:sp>
                  <p:nvSpPr>
                    <p:cNvPr id="1294" name="Freeform 2286"/>
                    <p:cNvSpPr>
                      <a:spLocks/>
                    </p:cNvSpPr>
                    <p:nvPr/>
                  </p:nvSpPr>
                  <p:spPr bwMode="auto">
                    <a:xfrm>
                      <a:off x="840" y="360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7"/>
                          </a:lnTo>
                          <a:lnTo>
                            <a:pt x="10" y="0"/>
                          </a:lnTo>
                          <a:lnTo>
                            <a:pt x="25" y="31"/>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95" name="Freeform 2287"/>
                    <p:cNvSpPr>
                      <a:spLocks/>
                    </p:cNvSpPr>
                    <p:nvPr/>
                  </p:nvSpPr>
                  <p:spPr bwMode="auto">
                    <a:xfrm>
                      <a:off x="845" y="3600"/>
                      <a:ext cx="37" cy="11"/>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96" name="Freeform 2288"/>
                    <p:cNvSpPr>
                      <a:spLocks/>
                    </p:cNvSpPr>
                    <p:nvPr/>
                  </p:nvSpPr>
                  <p:spPr bwMode="auto">
                    <a:xfrm>
                      <a:off x="848" y="3611"/>
                      <a:ext cx="41" cy="12"/>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8"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78" name="Group 2289"/>
                  <p:cNvGrpSpPr>
                    <a:grpSpLocks/>
                  </p:cNvGrpSpPr>
                  <p:nvPr/>
                </p:nvGrpSpPr>
                <p:grpSpPr bwMode="auto">
                  <a:xfrm>
                    <a:off x="853" y="3612"/>
                    <a:ext cx="48" cy="23"/>
                    <a:chOff x="853" y="3612"/>
                    <a:chExt cx="48" cy="23"/>
                  </a:xfrm>
                </p:grpSpPr>
                <p:sp>
                  <p:nvSpPr>
                    <p:cNvPr id="1291" name="Freeform 2290"/>
                    <p:cNvSpPr>
                      <a:spLocks/>
                    </p:cNvSpPr>
                    <p:nvPr/>
                  </p:nvSpPr>
                  <p:spPr bwMode="auto">
                    <a:xfrm>
                      <a:off x="853"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10"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92" name="Freeform 2291"/>
                    <p:cNvSpPr>
                      <a:spLocks/>
                    </p:cNvSpPr>
                    <p:nvPr/>
                  </p:nvSpPr>
                  <p:spPr bwMode="auto">
                    <a:xfrm>
                      <a:off x="857" y="3613"/>
                      <a:ext cx="37" cy="10"/>
                    </a:xfrm>
                    <a:custGeom>
                      <a:avLst/>
                      <a:gdLst>
                        <a:gd name="T0" fmla="*/ 1 w 73"/>
                        <a:gd name="T1" fmla="*/ 0 h 32"/>
                        <a:gd name="T2" fmla="*/ 1 w 73"/>
                        <a:gd name="T3" fmla="*/ 0 h 32"/>
                        <a:gd name="T4" fmla="*/ 1 w 73"/>
                        <a:gd name="T5" fmla="*/ 0 h 32"/>
                        <a:gd name="T6" fmla="*/ 1 w 73"/>
                        <a:gd name="T7" fmla="*/ 0 h 32"/>
                        <a:gd name="T8" fmla="*/ 1 w 73"/>
                        <a:gd name="T9" fmla="*/ 0 h 32"/>
                        <a:gd name="T10" fmla="*/ 1 w 73"/>
                        <a:gd name="T11" fmla="*/ 0 h 32"/>
                        <a:gd name="T12" fmla="*/ 1 w 73"/>
                        <a:gd name="T13" fmla="*/ 0 h 32"/>
                        <a:gd name="T14" fmla="*/ 0 w 73"/>
                        <a:gd name="T15" fmla="*/ 0 h 32"/>
                        <a:gd name="T16" fmla="*/ 1 w 73"/>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2"/>
                        <a:gd name="T29" fmla="*/ 73 w 73"/>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2">
                          <a:moveTo>
                            <a:pt x="1" y="0"/>
                          </a:moveTo>
                          <a:lnTo>
                            <a:pt x="50" y="0"/>
                          </a:lnTo>
                          <a:lnTo>
                            <a:pt x="51" y="3"/>
                          </a:lnTo>
                          <a:lnTo>
                            <a:pt x="56" y="15"/>
                          </a:lnTo>
                          <a:lnTo>
                            <a:pt x="73" y="32"/>
                          </a:lnTo>
                          <a:lnTo>
                            <a:pt x="18" y="32"/>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93" name="Freeform 2292"/>
                    <p:cNvSpPr>
                      <a:spLocks/>
                    </p:cNvSpPr>
                    <p:nvPr/>
                  </p:nvSpPr>
                  <p:spPr bwMode="auto">
                    <a:xfrm>
                      <a:off x="860" y="362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79" name="Group 2293"/>
                  <p:cNvGrpSpPr>
                    <a:grpSpLocks/>
                  </p:cNvGrpSpPr>
                  <p:nvPr/>
                </p:nvGrpSpPr>
                <p:grpSpPr bwMode="auto">
                  <a:xfrm>
                    <a:off x="865" y="3625"/>
                    <a:ext cx="49" cy="23"/>
                    <a:chOff x="865" y="3625"/>
                    <a:chExt cx="49" cy="23"/>
                  </a:xfrm>
                </p:grpSpPr>
                <p:sp>
                  <p:nvSpPr>
                    <p:cNvPr id="1288" name="Freeform 2294"/>
                    <p:cNvSpPr>
                      <a:spLocks/>
                    </p:cNvSpPr>
                    <p:nvPr/>
                  </p:nvSpPr>
                  <p:spPr bwMode="auto">
                    <a:xfrm>
                      <a:off x="865" y="362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89" name="Freeform 2295"/>
                    <p:cNvSpPr>
                      <a:spLocks/>
                    </p:cNvSpPr>
                    <p:nvPr/>
                  </p:nvSpPr>
                  <p:spPr bwMode="auto">
                    <a:xfrm>
                      <a:off x="870"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2"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90" name="Freeform 2296"/>
                    <p:cNvSpPr>
                      <a:spLocks/>
                    </p:cNvSpPr>
                    <p:nvPr/>
                  </p:nvSpPr>
                  <p:spPr bwMode="auto">
                    <a:xfrm>
                      <a:off x="873" y="363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80" name="Group 2297"/>
                  <p:cNvGrpSpPr>
                    <a:grpSpLocks/>
                  </p:cNvGrpSpPr>
                  <p:nvPr/>
                </p:nvGrpSpPr>
                <p:grpSpPr bwMode="auto">
                  <a:xfrm>
                    <a:off x="878" y="3638"/>
                    <a:ext cx="49" cy="22"/>
                    <a:chOff x="878" y="3638"/>
                    <a:chExt cx="49" cy="22"/>
                  </a:xfrm>
                </p:grpSpPr>
                <p:sp>
                  <p:nvSpPr>
                    <p:cNvPr id="1285" name="Freeform 2298"/>
                    <p:cNvSpPr>
                      <a:spLocks/>
                    </p:cNvSpPr>
                    <p:nvPr/>
                  </p:nvSpPr>
                  <p:spPr bwMode="auto">
                    <a:xfrm>
                      <a:off x="878"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86" name="Freeform 2299"/>
                    <p:cNvSpPr>
                      <a:spLocks/>
                    </p:cNvSpPr>
                    <p:nvPr/>
                  </p:nvSpPr>
                  <p:spPr bwMode="auto">
                    <a:xfrm>
                      <a:off x="883"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6" y="12"/>
                          </a:lnTo>
                          <a:lnTo>
                            <a:pt x="72"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87" name="Freeform 2300"/>
                    <p:cNvSpPr>
                      <a:spLocks/>
                    </p:cNvSpPr>
                    <p:nvPr/>
                  </p:nvSpPr>
                  <p:spPr bwMode="auto">
                    <a:xfrm>
                      <a:off x="886" y="364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81" name="Group 2301"/>
                  <p:cNvGrpSpPr>
                    <a:grpSpLocks/>
                  </p:cNvGrpSpPr>
                  <p:nvPr/>
                </p:nvGrpSpPr>
                <p:grpSpPr bwMode="auto">
                  <a:xfrm>
                    <a:off x="890" y="3651"/>
                    <a:ext cx="50" cy="22"/>
                    <a:chOff x="890" y="3651"/>
                    <a:chExt cx="50" cy="22"/>
                  </a:xfrm>
                </p:grpSpPr>
                <p:sp>
                  <p:nvSpPr>
                    <p:cNvPr id="1282" name="Freeform 2302"/>
                    <p:cNvSpPr>
                      <a:spLocks/>
                    </p:cNvSpPr>
                    <p:nvPr/>
                  </p:nvSpPr>
                  <p:spPr bwMode="auto">
                    <a:xfrm>
                      <a:off x="890" y="3651"/>
                      <a:ext cx="13" cy="22"/>
                    </a:xfrm>
                    <a:custGeom>
                      <a:avLst/>
                      <a:gdLst>
                        <a:gd name="T0" fmla="*/ 1 w 25"/>
                        <a:gd name="T1" fmla="*/ 0 h 67"/>
                        <a:gd name="T2" fmla="*/ 0 w 25"/>
                        <a:gd name="T3" fmla="*/ 0 h 67"/>
                        <a:gd name="T4" fmla="*/ 1 w 25"/>
                        <a:gd name="T5" fmla="*/ 0 h 67"/>
                        <a:gd name="T6" fmla="*/ 1 w 25"/>
                        <a:gd name="T7" fmla="*/ 0 h 67"/>
                        <a:gd name="T8" fmla="*/ 1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6" y="67"/>
                          </a:moveTo>
                          <a:lnTo>
                            <a:pt x="0" y="26"/>
                          </a:lnTo>
                          <a:lnTo>
                            <a:pt x="12" y="0"/>
                          </a:lnTo>
                          <a:lnTo>
                            <a:pt x="25" y="30"/>
                          </a:lnTo>
                          <a:lnTo>
                            <a:pt x="16"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83" name="Freeform 2303"/>
                    <p:cNvSpPr>
                      <a:spLocks/>
                    </p:cNvSpPr>
                    <p:nvPr/>
                  </p:nvSpPr>
                  <p:spPr bwMode="auto">
                    <a:xfrm>
                      <a:off x="895" y="3651"/>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8" y="0"/>
                          </a:lnTo>
                          <a:lnTo>
                            <a:pt x="51" y="2"/>
                          </a:lnTo>
                          <a:lnTo>
                            <a:pt x="56" y="11"/>
                          </a:lnTo>
                          <a:lnTo>
                            <a:pt x="73" y="29"/>
                          </a:lnTo>
                          <a:lnTo>
                            <a:pt x="18"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84" name="Freeform 2304"/>
                    <p:cNvSpPr>
                      <a:spLocks/>
                    </p:cNvSpPr>
                    <p:nvPr/>
                  </p:nvSpPr>
                  <p:spPr bwMode="auto">
                    <a:xfrm>
                      <a:off x="899" y="3662"/>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58" name="Group 2305"/>
                <p:cNvGrpSpPr>
                  <a:grpSpLocks/>
                </p:cNvGrpSpPr>
                <p:nvPr/>
              </p:nvGrpSpPr>
              <p:grpSpPr bwMode="auto">
                <a:xfrm>
                  <a:off x="903" y="3665"/>
                  <a:ext cx="99" cy="74"/>
                  <a:chOff x="903" y="3665"/>
                  <a:chExt cx="99" cy="74"/>
                </a:xfrm>
              </p:grpSpPr>
              <p:grpSp>
                <p:nvGrpSpPr>
                  <p:cNvPr id="1257" name="Group 2306"/>
                  <p:cNvGrpSpPr>
                    <a:grpSpLocks/>
                  </p:cNvGrpSpPr>
                  <p:nvPr/>
                </p:nvGrpSpPr>
                <p:grpSpPr bwMode="auto">
                  <a:xfrm>
                    <a:off x="903" y="3665"/>
                    <a:ext cx="49" cy="23"/>
                    <a:chOff x="903" y="3665"/>
                    <a:chExt cx="49" cy="23"/>
                  </a:xfrm>
                </p:grpSpPr>
                <p:sp>
                  <p:nvSpPr>
                    <p:cNvPr id="1274" name="Freeform 2307"/>
                    <p:cNvSpPr>
                      <a:spLocks/>
                    </p:cNvSpPr>
                    <p:nvPr/>
                  </p:nvSpPr>
                  <p:spPr bwMode="auto">
                    <a:xfrm>
                      <a:off x="903"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0"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75" name="Freeform 2308"/>
                    <p:cNvSpPr>
                      <a:spLocks/>
                    </p:cNvSpPr>
                    <p:nvPr/>
                  </p:nvSpPr>
                  <p:spPr bwMode="auto">
                    <a:xfrm>
                      <a:off x="907" y="3666"/>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9" y="0"/>
                          </a:lnTo>
                          <a:lnTo>
                            <a:pt x="51" y="4"/>
                          </a:lnTo>
                          <a:lnTo>
                            <a:pt x="56" y="13"/>
                          </a:lnTo>
                          <a:lnTo>
                            <a:pt x="73"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76" name="Freeform 2309"/>
                    <p:cNvSpPr>
                      <a:spLocks/>
                    </p:cNvSpPr>
                    <p:nvPr/>
                  </p:nvSpPr>
                  <p:spPr bwMode="auto">
                    <a:xfrm>
                      <a:off x="911" y="367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58" name="Group 2310"/>
                  <p:cNvGrpSpPr>
                    <a:grpSpLocks/>
                  </p:cNvGrpSpPr>
                  <p:nvPr/>
                </p:nvGrpSpPr>
                <p:grpSpPr bwMode="auto">
                  <a:xfrm>
                    <a:off x="914" y="3678"/>
                    <a:ext cx="49" cy="23"/>
                    <a:chOff x="914" y="3678"/>
                    <a:chExt cx="49" cy="23"/>
                  </a:xfrm>
                </p:grpSpPr>
                <p:sp>
                  <p:nvSpPr>
                    <p:cNvPr id="1271" name="Freeform 2311"/>
                    <p:cNvSpPr>
                      <a:spLocks/>
                    </p:cNvSpPr>
                    <p:nvPr/>
                  </p:nvSpPr>
                  <p:spPr bwMode="auto">
                    <a:xfrm>
                      <a:off x="914"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72" name="Freeform 2312"/>
                    <p:cNvSpPr>
                      <a:spLocks/>
                    </p:cNvSpPr>
                    <p:nvPr/>
                  </p:nvSpPr>
                  <p:spPr bwMode="auto">
                    <a:xfrm>
                      <a:off x="919" y="3678"/>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7" y="12"/>
                          </a:lnTo>
                          <a:lnTo>
                            <a:pt x="75" y="30"/>
                          </a:lnTo>
                          <a:lnTo>
                            <a:pt x="19" y="30"/>
                          </a:lnTo>
                          <a:lnTo>
                            <a:pt x="11"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73" name="Freeform 2313"/>
                    <p:cNvSpPr>
                      <a:spLocks/>
                    </p:cNvSpPr>
                    <p:nvPr/>
                  </p:nvSpPr>
                  <p:spPr bwMode="auto">
                    <a:xfrm>
                      <a:off x="922" y="3688"/>
                      <a:ext cx="41" cy="13"/>
                    </a:xfrm>
                    <a:custGeom>
                      <a:avLst/>
                      <a:gdLst>
                        <a:gd name="T0" fmla="*/ 0 w 81"/>
                        <a:gd name="T1" fmla="*/ 0 h 38"/>
                        <a:gd name="T2" fmla="*/ 1 w 81"/>
                        <a:gd name="T3" fmla="*/ 0 h 38"/>
                        <a:gd name="T4" fmla="*/ 1 w 81"/>
                        <a:gd name="T5" fmla="*/ 0 h 38"/>
                        <a:gd name="T6" fmla="*/ 1 w 81"/>
                        <a:gd name="T7" fmla="*/ 0 h 38"/>
                        <a:gd name="T8" fmla="*/ 1 w 81"/>
                        <a:gd name="T9" fmla="*/ 0 h 38"/>
                        <a:gd name="T10" fmla="*/ 1 w 81"/>
                        <a:gd name="T11" fmla="*/ 0 h 38"/>
                        <a:gd name="T12" fmla="*/ 0 w 81"/>
                        <a:gd name="T13" fmla="*/ 0 h 38"/>
                        <a:gd name="T14" fmla="*/ 0 60000 65536"/>
                        <a:gd name="T15" fmla="*/ 0 60000 65536"/>
                        <a:gd name="T16" fmla="*/ 0 60000 65536"/>
                        <a:gd name="T17" fmla="*/ 0 60000 65536"/>
                        <a:gd name="T18" fmla="*/ 0 60000 65536"/>
                        <a:gd name="T19" fmla="*/ 0 60000 65536"/>
                        <a:gd name="T20" fmla="*/ 0 60000 65536"/>
                        <a:gd name="T21" fmla="*/ 0 w 81"/>
                        <a:gd name="T22" fmla="*/ 0 h 38"/>
                        <a:gd name="T23" fmla="*/ 81 w 81"/>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8">
                          <a:moveTo>
                            <a:pt x="0" y="38"/>
                          </a:moveTo>
                          <a:lnTo>
                            <a:pt x="2" y="21"/>
                          </a:lnTo>
                          <a:lnTo>
                            <a:pt x="8" y="8"/>
                          </a:lnTo>
                          <a:lnTo>
                            <a:pt x="12" y="0"/>
                          </a:lnTo>
                          <a:lnTo>
                            <a:pt x="68" y="0"/>
                          </a:lnTo>
                          <a:lnTo>
                            <a:pt x="81"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59" name="Group 2314"/>
                  <p:cNvGrpSpPr>
                    <a:grpSpLocks/>
                  </p:cNvGrpSpPr>
                  <p:nvPr/>
                </p:nvGrpSpPr>
                <p:grpSpPr bwMode="auto">
                  <a:xfrm>
                    <a:off x="928" y="3690"/>
                    <a:ext cx="48" cy="23"/>
                    <a:chOff x="928" y="3690"/>
                    <a:chExt cx="48" cy="23"/>
                  </a:xfrm>
                </p:grpSpPr>
                <p:sp>
                  <p:nvSpPr>
                    <p:cNvPr id="1268" name="Freeform 2315"/>
                    <p:cNvSpPr>
                      <a:spLocks/>
                    </p:cNvSpPr>
                    <p:nvPr/>
                  </p:nvSpPr>
                  <p:spPr bwMode="auto">
                    <a:xfrm>
                      <a:off x="928" y="369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9"/>
                          </a:lnTo>
                          <a:lnTo>
                            <a:pt x="9" y="0"/>
                          </a:lnTo>
                          <a:lnTo>
                            <a:pt x="25" y="33"/>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69" name="Freeform 2316"/>
                    <p:cNvSpPr>
                      <a:spLocks/>
                    </p:cNvSpPr>
                    <p:nvPr/>
                  </p:nvSpPr>
                  <p:spPr bwMode="auto">
                    <a:xfrm>
                      <a:off x="932"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70" name="Freeform 2317"/>
                    <p:cNvSpPr>
                      <a:spLocks/>
                    </p:cNvSpPr>
                    <p:nvPr/>
                  </p:nvSpPr>
                  <p:spPr bwMode="auto">
                    <a:xfrm>
                      <a:off x="935" y="3701"/>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8" y="7"/>
                          </a:lnTo>
                          <a:lnTo>
                            <a:pt x="13"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60" name="Group 2318"/>
                  <p:cNvGrpSpPr>
                    <a:grpSpLocks/>
                  </p:cNvGrpSpPr>
                  <p:nvPr/>
                </p:nvGrpSpPr>
                <p:grpSpPr bwMode="auto">
                  <a:xfrm>
                    <a:off x="940" y="3703"/>
                    <a:ext cx="49" cy="23"/>
                    <a:chOff x="940" y="3703"/>
                    <a:chExt cx="49" cy="23"/>
                  </a:xfrm>
                </p:grpSpPr>
                <p:sp>
                  <p:nvSpPr>
                    <p:cNvPr id="1265" name="Freeform 2319"/>
                    <p:cNvSpPr>
                      <a:spLocks/>
                    </p:cNvSpPr>
                    <p:nvPr/>
                  </p:nvSpPr>
                  <p:spPr bwMode="auto">
                    <a:xfrm>
                      <a:off x="940"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66" name="Freeform 2320"/>
                    <p:cNvSpPr>
                      <a:spLocks/>
                    </p:cNvSpPr>
                    <p:nvPr/>
                  </p:nvSpPr>
                  <p:spPr bwMode="auto">
                    <a:xfrm>
                      <a:off x="945" y="3703"/>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2" y="0"/>
                          </a:lnTo>
                          <a:lnTo>
                            <a:pt x="53" y="3"/>
                          </a:lnTo>
                          <a:lnTo>
                            <a:pt x="57" y="12"/>
                          </a:lnTo>
                          <a:lnTo>
                            <a:pt x="75"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67" name="Freeform 2321"/>
                    <p:cNvSpPr>
                      <a:spLocks/>
                    </p:cNvSpPr>
                    <p:nvPr/>
                  </p:nvSpPr>
                  <p:spPr bwMode="auto">
                    <a:xfrm>
                      <a:off x="948" y="3714"/>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61" name="Group 2322"/>
                  <p:cNvGrpSpPr>
                    <a:grpSpLocks/>
                  </p:cNvGrpSpPr>
                  <p:nvPr/>
                </p:nvGrpSpPr>
                <p:grpSpPr bwMode="auto">
                  <a:xfrm>
                    <a:off x="953" y="3716"/>
                    <a:ext cx="49" cy="23"/>
                    <a:chOff x="953" y="3716"/>
                    <a:chExt cx="49" cy="23"/>
                  </a:xfrm>
                </p:grpSpPr>
                <p:sp>
                  <p:nvSpPr>
                    <p:cNvPr id="1262" name="Freeform 2323"/>
                    <p:cNvSpPr>
                      <a:spLocks/>
                    </p:cNvSpPr>
                    <p:nvPr/>
                  </p:nvSpPr>
                  <p:spPr bwMode="auto">
                    <a:xfrm>
                      <a:off x="953" y="3716"/>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63" name="Freeform 2324"/>
                    <p:cNvSpPr>
                      <a:spLocks/>
                    </p:cNvSpPr>
                    <p:nvPr/>
                  </p:nvSpPr>
                  <p:spPr bwMode="auto">
                    <a:xfrm>
                      <a:off x="958" y="3717"/>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3"/>
                          </a:lnTo>
                          <a:lnTo>
                            <a:pt x="56" y="11"/>
                          </a:lnTo>
                          <a:lnTo>
                            <a:pt x="75"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64" name="Freeform 2325"/>
                    <p:cNvSpPr>
                      <a:spLocks/>
                    </p:cNvSpPr>
                    <p:nvPr/>
                  </p:nvSpPr>
                  <p:spPr bwMode="auto">
                    <a:xfrm>
                      <a:off x="961" y="372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59" name="Group 2326"/>
                <p:cNvGrpSpPr>
                  <a:grpSpLocks/>
                </p:cNvGrpSpPr>
                <p:nvPr/>
              </p:nvGrpSpPr>
              <p:grpSpPr bwMode="auto">
                <a:xfrm>
                  <a:off x="963" y="3727"/>
                  <a:ext cx="49" cy="23"/>
                  <a:chOff x="963" y="3727"/>
                  <a:chExt cx="49" cy="23"/>
                </a:xfrm>
              </p:grpSpPr>
              <p:sp>
                <p:nvSpPr>
                  <p:cNvPr id="1254" name="Freeform 2327"/>
                  <p:cNvSpPr>
                    <a:spLocks/>
                  </p:cNvSpPr>
                  <p:nvPr/>
                </p:nvSpPr>
                <p:spPr bwMode="auto">
                  <a:xfrm>
                    <a:off x="963" y="372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55" name="Freeform 2328"/>
                  <p:cNvSpPr>
                    <a:spLocks/>
                  </p:cNvSpPr>
                  <p:nvPr/>
                </p:nvSpPr>
                <p:spPr bwMode="auto">
                  <a:xfrm>
                    <a:off x="968"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8" y="0"/>
                        </a:lnTo>
                        <a:lnTo>
                          <a:pt x="50"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56" name="Freeform 2329"/>
                  <p:cNvSpPr>
                    <a:spLocks/>
                  </p:cNvSpPr>
                  <p:nvPr/>
                </p:nvSpPr>
                <p:spPr bwMode="auto">
                  <a:xfrm>
                    <a:off x="972" y="373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0" name="Group 2330"/>
                <p:cNvGrpSpPr>
                  <a:grpSpLocks/>
                </p:cNvGrpSpPr>
                <p:nvPr/>
              </p:nvGrpSpPr>
              <p:grpSpPr bwMode="auto">
                <a:xfrm>
                  <a:off x="976" y="3740"/>
                  <a:ext cx="50" cy="22"/>
                  <a:chOff x="976" y="3740"/>
                  <a:chExt cx="50" cy="22"/>
                </a:xfrm>
              </p:grpSpPr>
              <p:sp>
                <p:nvSpPr>
                  <p:cNvPr id="1251" name="Freeform 2331"/>
                  <p:cNvSpPr>
                    <a:spLocks/>
                  </p:cNvSpPr>
                  <p:nvPr/>
                </p:nvSpPr>
                <p:spPr bwMode="auto">
                  <a:xfrm>
                    <a:off x="976" y="3740"/>
                    <a:ext cx="12" cy="22"/>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10" y="0"/>
                        </a:lnTo>
                        <a:lnTo>
                          <a:pt x="23"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52" name="Freeform 2332"/>
                  <p:cNvSpPr>
                    <a:spLocks/>
                  </p:cNvSpPr>
                  <p:nvPr/>
                </p:nvSpPr>
                <p:spPr bwMode="auto">
                  <a:xfrm>
                    <a:off x="980" y="374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4" y="0"/>
                        </a:moveTo>
                        <a:lnTo>
                          <a:pt x="52" y="0"/>
                        </a:lnTo>
                        <a:lnTo>
                          <a:pt x="53" y="4"/>
                        </a:lnTo>
                        <a:lnTo>
                          <a:pt x="60" y="13"/>
                        </a:lnTo>
                        <a:lnTo>
                          <a:pt x="75" y="31"/>
                        </a:lnTo>
                        <a:lnTo>
                          <a:pt x="19" y="31"/>
                        </a:lnTo>
                        <a:lnTo>
                          <a:pt x="12" y="22"/>
                        </a:lnTo>
                        <a:lnTo>
                          <a:pt x="0" y="7"/>
                        </a:lnTo>
                        <a:lnTo>
                          <a:pt x="4"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53" name="Freeform 2333"/>
                  <p:cNvSpPr>
                    <a:spLocks/>
                  </p:cNvSpPr>
                  <p:nvPr/>
                </p:nvSpPr>
                <p:spPr bwMode="auto">
                  <a:xfrm>
                    <a:off x="984" y="375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1"/>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1" name="Group 2334"/>
                <p:cNvGrpSpPr>
                  <a:grpSpLocks/>
                </p:cNvGrpSpPr>
                <p:nvPr/>
              </p:nvGrpSpPr>
              <p:grpSpPr bwMode="auto">
                <a:xfrm>
                  <a:off x="761" y="3560"/>
                  <a:ext cx="50" cy="22"/>
                  <a:chOff x="761" y="3560"/>
                  <a:chExt cx="50" cy="22"/>
                </a:xfrm>
              </p:grpSpPr>
              <p:sp>
                <p:nvSpPr>
                  <p:cNvPr id="1248" name="Freeform 2335"/>
                  <p:cNvSpPr>
                    <a:spLocks/>
                  </p:cNvSpPr>
                  <p:nvPr/>
                </p:nvSpPr>
                <p:spPr bwMode="auto">
                  <a:xfrm>
                    <a:off x="761" y="356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49" name="Freeform 2336"/>
                  <p:cNvSpPr>
                    <a:spLocks/>
                  </p:cNvSpPr>
                  <p:nvPr/>
                </p:nvSpPr>
                <p:spPr bwMode="auto">
                  <a:xfrm>
                    <a:off x="767" y="3560"/>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9" y="0"/>
                        </a:lnTo>
                        <a:lnTo>
                          <a:pt x="50" y="2"/>
                        </a:lnTo>
                        <a:lnTo>
                          <a:pt x="55" y="11"/>
                        </a:lnTo>
                        <a:lnTo>
                          <a:pt x="73" y="29"/>
                        </a:lnTo>
                        <a:lnTo>
                          <a:pt x="17" y="29"/>
                        </a:lnTo>
                        <a:lnTo>
                          <a:pt x="8"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50" name="Freeform 2337"/>
                  <p:cNvSpPr>
                    <a:spLocks/>
                  </p:cNvSpPr>
                  <p:nvPr/>
                </p:nvSpPr>
                <p:spPr bwMode="auto">
                  <a:xfrm>
                    <a:off x="769" y="3571"/>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8"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2" name="Group 2338"/>
                <p:cNvGrpSpPr>
                  <a:grpSpLocks/>
                </p:cNvGrpSpPr>
                <p:nvPr/>
              </p:nvGrpSpPr>
              <p:grpSpPr bwMode="auto">
                <a:xfrm>
                  <a:off x="774" y="3572"/>
                  <a:ext cx="49" cy="23"/>
                  <a:chOff x="774" y="3572"/>
                  <a:chExt cx="49" cy="23"/>
                </a:xfrm>
              </p:grpSpPr>
              <p:sp>
                <p:nvSpPr>
                  <p:cNvPr id="1245" name="Freeform 2339"/>
                  <p:cNvSpPr>
                    <a:spLocks/>
                  </p:cNvSpPr>
                  <p:nvPr/>
                </p:nvSpPr>
                <p:spPr bwMode="auto">
                  <a:xfrm>
                    <a:off x="774" y="3572"/>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5"/>
                        </a:lnTo>
                        <a:lnTo>
                          <a:pt x="9" y="0"/>
                        </a:lnTo>
                        <a:lnTo>
                          <a:pt x="25"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46" name="Freeform 2340"/>
                  <p:cNvSpPr>
                    <a:spLocks/>
                  </p:cNvSpPr>
                  <p:nvPr/>
                </p:nvSpPr>
                <p:spPr bwMode="auto">
                  <a:xfrm>
                    <a:off x="778" y="3573"/>
                    <a:ext cx="38" cy="9"/>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47" name="Freeform 2341"/>
                  <p:cNvSpPr>
                    <a:spLocks/>
                  </p:cNvSpPr>
                  <p:nvPr/>
                </p:nvSpPr>
                <p:spPr bwMode="auto">
                  <a:xfrm>
                    <a:off x="782" y="358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3" name="Group 2342"/>
                <p:cNvGrpSpPr>
                  <a:grpSpLocks/>
                </p:cNvGrpSpPr>
                <p:nvPr/>
              </p:nvGrpSpPr>
              <p:grpSpPr bwMode="auto">
                <a:xfrm>
                  <a:off x="787" y="3585"/>
                  <a:ext cx="49" cy="23"/>
                  <a:chOff x="787" y="3585"/>
                  <a:chExt cx="49" cy="23"/>
                </a:xfrm>
              </p:grpSpPr>
              <p:sp>
                <p:nvSpPr>
                  <p:cNvPr id="1242" name="Freeform 2343"/>
                  <p:cNvSpPr>
                    <a:spLocks/>
                  </p:cNvSpPr>
                  <p:nvPr/>
                </p:nvSpPr>
                <p:spPr bwMode="auto">
                  <a:xfrm>
                    <a:off x="787" y="358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6"/>
                        </a:lnTo>
                        <a:lnTo>
                          <a:pt x="9"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43" name="Freeform 2344"/>
                  <p:cNvSpPr>
                    <a:spLocks/>
                  </p:cNvSpPr>
                  <p:nvPr/>
                </p:nvSpPr>
                <p:spPr bwMode="auto">
                  <a:xfrm>
                    <a:off x="792" y="3586"/>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2"/>
                        </a:lnTo>
                        <a:lnTo>
                          <a:pt x="55" y="11"/>
                        </a:lnTo>
                        <a:lnTo>
                          <a:pt x="74" y="29"/>
                        </a:lnTo>
                        <a:lnTo>
                          <a:pt x="19"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44" name="Freeform 2345"/>
                  <p:cNvSpPr>
                    <a:spLocks/>
                  </p:cNvSpPr>
                  <p:nvPr/>
                </p:nvSpPr>
                <p:spPr bwMode="auto">
                  <a:xfrm>
                    <a:off x="795" y="3596"/>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6"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4" name="Group 2346"/>
                <p:cNvGrpSpPr>
                  <a:grpSpLocks/>
                </p:cNvGrpSpPr>
                <p:nvPr/>
              </p:nvGrpSpPr>
              <p:grpSpPr bwMode="auto">
                <a:xfrm>
                  <a:off x="799" y="3600"/>
                  <a:ext cx="99" cy="73"/>
                  <a:chOff x="799" y="3600"/>
                  <a:chExt cx="99" cy="73"/>
                </a:xfrm>
              </p:grpSpPr>
              <p:grpSp>
                <p:nvGrpSpPr>
                  <p:cNvPr id="1222" name="Group 2347"/>
                  <p:cNvGrpSpPr>
                    <a:grpSpLocks/>
                  </p:cNvGrpSpPr>
                  <p:nvPr/>
                </p:nvGrpSpPr>
                <p:grpSpPr bwMode="auto">
                  <a:xfrm>
                    <a:off x="799" y="3600"/>
                    <a:ext cx="48" cy="23"/>
                    <a:chOff x="799" y="3600"/>
                    <a:chExt cx="48" cy="23"/>
                  </a:xfrm>
                </p:grpSpPr>
                <p:sp>
                  <p:nvSpPr>
                    <p:cNvPr id="1239" name="Freeform 2348"/>
                    <p:cNvSpPr>
                      <a:spLocks/>
                    </p:cNvSpPr>
                    <p:nvPr/>
                  </p:nvSpPr>
                  <p:spPr bwMode="auto">
                    <a:xfrm>
                      <a:off x="799" y="360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40" name="Freeform 2349"/>
                    <p:cNvSpPr>
                      <a:spLocks/>
                    </p:cNvSpPr>
                    <p:nvPr/>
                  </p:nvSpPr>
                  <p:spPr bwMode="auto">
                    <a:xfrm>
                      <a:off x="803" y="3600"/>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1"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41" name="Freeform 2350"/>
                    <p:cNvSpPr>
                      <a:spLocks/>
                    </p:cNvSpPr>
                    <p:nvPr/>
                  </p:nvSpPr>
                  <p:spPr bwMode="auto">
                    <a:xfrm>
                      <a:off x="807" y="3611"/>
                      <a:ext cx="40" cy="12"/>
                    </a:xfrm>
                    <a:custGeom>
                      <a:avLst/>
                      <a:gdLst>
                        <a:gd name="T0" fmla="*/ 0 w 82"/>
                        <a:gd name="T1" fmla="*/ 0 h 38"/>
                        <a:gd name="T2" fmla="*/ 0 w 82"/>
                        <a:gd name="T3" fmla="*/ 0 h 38"/>
                        <a:gd name="T4" fmla="*/ 0 w 82"/>
                        <a:gd name="T5" fmla="*/ 0 h 38"/>
                        <a:gd name="T6" fmla="*/ 0 w 82"/>
                        <a:gd name="T7" fmla="*/ 0 h 38"/>
                        <a:gd name="T8" fmla="*/ 0 w 82"/>
                        <a:gd name="T9" fmla="*/ 0 h 38"/>
                        <a:gd name="T10" fmla="*/ 0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7"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23" name="Group 2351"/>
                  <p:cNvGrpSpPr>
                    <a:grpSpLocks/>
                  </p:cNvGrpSpPr>
                  <p:nvPr/>
                </p:nvGrpSpPr>
                <p:grpSpPr bwMode="auto">
                  <a:xfrm>
                    <a:off x="811" y="3612"/>
                    <a:ext cx="48" cy="23"/>
                    <a:chOff x="811" y="3612"/>
                    <a:chExt cx="48" cy="23"/>
                  </a:xfrm>
                </p:grpSpPr>
                <p:sp>
                  <p:nvSpPr>
                    <p:cNvPr id="1236" name="Freeform 2352"/>
                    <p:cNvSpPr>
                      <a:spLocks/>
                    </p:cNvSpPr>
                    <p:nvPr/>
                  </p:nvSpPr>
                  <p:spPr bwMode="auto">
                    <a:xfrm>
                      <a:off x="811"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11"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37" name="Freeform 2353"/>
                    <p:cNvSpPr>
                      <a:spLocks/>
                    </p:cNvSpPr>
                    <p:nvPr/>
                  </p:nvSpPr>
                  <p:spPr bwMode="auto">
                    <a:xfrm>
                      <a:off x="815" y="3613"/>
                      <a:ext cx="38" cy="10"/>
                    </a:xfrm>
                    <a:custGeom>
                      <a:avLst/>
                      <a:gdLst>
                        <a:gd name="T0" fmla="*/ 1 w 75"/>
                        <a:gd name="T1" fmla="*/ 0 h 32"/>
                        <a:gd name="T2" fmla="*/ 1 w 75"/>
                        <a:gd name="T3" fmla="*/ 0 h 32"/>
                        <a:gd name="T4" fmla="*/ 1 w 75"/>
                        <a:gd name="T5" fmla="*/ 0 h 32"/>
                        <a:gd name="T6" fmla="*/ 1 w 75"/>
                        <a:gd name="T7" fmla="*/ 0 h 32"/>
                        <a:gd name="T8" fmla="*/ 1 w 75"/>
                        <a:gd name="T9" fmla="*/ 0 h 32"/>
                        <a:gd name="T10" fmla="*/ 1 w 75"/>
                        <a:gd name="T11" fmla="*/ 0 h 32"/>
                        <a:gd name="T12" fmla="*/ 1 w 75"/>
                        <a:gd name="T13" fmla="*/ 0 h 32"/>
                        <a:gd name="T14" fmla="*/ 0 w 75"/>
                        <a:gd name="T15" fmla="*/ 0 h 32"/>
                        <a:gd name="T16" fmla="*/ 1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3" y="0"/>
                          </a:moveTo>
                          <a:lnTo>
                            <a:pt x="52" y="0"/>
                          </a:lnTo>
                          <a:lnTo>
                            <a:pt x="53" y="3"/>
                          </a:lnTo>
                          <a:lnTo>
                            <a:pt x="57" y="15"/>
                          </a:lnTo>
                          <a:lnTo>
                            <a:pt x="75" y="32"/>
                          </a:lnTo>
                          <a:lnTo>
                            <a:pt x="19" y="32"/>
                          </a:lnTo>
                          <a:lnTo>
                            <a:pt x="10"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38" name="Freeform 2354"/>
                    <p:cNvSpPr>
                      <a:spLocks/>
                    </p:cNvSpPr>
                    <p:nvPr/>
                  </p:nvSpPr>
                  <p:spPr bwMode="auto">
                    <a:xfrm>
                      <a:off x="819"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1"/>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24" name="Group 2355"/>
                  <p:cNvGrpSpPr>
                    <a:grpSpLocks/>
                  </p:cNvGrpSpPr>
                  <p:nvPr/>
                </p:nvGrpSpPr>
                <p:grpSpPr bwMode="auto">
                  <a:xfrm>
                    <a:off x="823" y="3625"/>
                    <a:ext cx="49" cy="23"/>
                    <a:chOff x="823" y="3625"/>
                    <a:chExt cx="49" cy="23"/>
                  </a:xfrm>
                </p:grpSpPr>
                <p:sp>
                  <p:nvSpPr>
                    <p:cNvPr id="1233" name="Freeform 2356"/>
                    <p:cNvSpPr>
                      <a:spLocks/>
                    </p:cNvSpPr>
                    <p:nvPr/>
                  </p:nvSpPr>
                  <p:spPr bwMode="auto">
                    <a:xfrm>
                      <a:off x="823" y="362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34" name="Freeform 2357"/>
                    <p:cNvSpPr>
                      <a:spLocks/>
                    </p:cNvSpPr>
                    <p:nvPr/>
                  </p:nvSpPr>
                  <p:spPr bwMode="auto">
                    <a:xfrm>
                      <a:off x="828"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35" name="Freeform 2358"/>
                    <p:cNvSpPr>
                      <a:spLocks/>
                    </p:cNvSpPr>
                    <p:nvPr/>
                  </p:nvSpPr>
                  <p:spPr bwMode="auto">
                    <a:xfrm>
                      <a:off x="832" y="363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25" name="Group 2359"/>
                  <p:cNvGrpSpPr>
                    <a:grpSpLocks/>
                  </p:cNvGrpSpPr>
                  <p:nvPr/>
                </p:nvGrpSpPr>
                <p:grpSpPr bwMode="auto">
                  <a:xfrm>
                    <a:off x="836" y="3638"/>
                    <a:ext cx="50" cy="22"/>
                    <a:chOff x="836" y="3638"/>
                    <a:chExt cx="50" cy="22"/>
                  </a:xfrm>
                </p:grpSpPr>
                <p:sp>
                  <p:nvSpPr>
                    <p:cNvPr id="1230" name="Freeform 2360"/>
                    <p:cNvSpPr>
                      <a:spLocks/>
                    </p:cNvSpPr>
                    <p:nvPr/>
                  </p:nvSpPr>
                  <p:spPr bwMode="auto">
                    <a:xfrm>
                      <a:off x="836"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31" name="Freeform 2361"/>
                    <p:cNvSpPr>
                      <a:spLocks/>
                    </p:cNvSpPr>
                    <p:nvPr/>
                  </p:nvSpPr>
                  <p:spPr bwMode="auto">
                    <a:xfrm>
                      <a:off x="842"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5" y="12"/>
                          </a:lnTo>
                          <a:lnTo>
                            <a:pt x="72" y="30"/>
                          </a:lnTo>
                          <a:lnTo>
                            <a:pt x="17" y="30"/>
                          </a:lnTo>
                          <a:lnTo>
                            <a:pt x="8"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32" name="Freeform 2362"/>
                    <p:cNvSpPr>
                      <a:spLocks/>
                    </p:cNvSpPr>
                    <p:nvPr/>
                  </p:nvSpPr>
                  <p:spPr bwMode="auto">
                    <a:xfrm>
                      <a:off x="844" y="3648"/>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26" name="Group 2363"/>
                  <p:cNvGrpSpPr>
                    <a:grpSpLocks/>
                  </p:cNvGrpSpPr>
                  <p:nvPr/>
                </p:nvGrpSpPr>
                <p:grpSpPr bwMode="auto">
                  <a:xfrm>
                    <a:off x="849" y="3651"/>
                    <a:ext cx="49" cy="22"/>
                    <a:chOff x="849" y="3651"/>
                    <a:chExt cx="49" cy="22"/>
                  </a:xfrm>
                </p:grpSpPr>
                <p:sp>
                  <p:nvSpPr>
                    <p:cNvPr id="1227" name="Freeform 2364"/>
                    <p:cNvSpPr>
                      <a:spLocks/>
                    </p:cNvSpPr>
                    <p:nvPr/>
                  </p:nvSpPr>
                  <p:spPr bwMode="auto">
                    <a:xfrm>
                      <a:off x="849" y="3651"/>
                      <a:ext cx="12" cy="22"/>
                    </a:xfrm>
                    <a:custGeom>
                      <a:avLst/>
                      <a:gdLst>
                        <a:gd name="T0" fmla="*/ 0 w 25"/>
                        <a:gd name="T1" fmla="*/ 0 h 67"/>
                        <a:gd name="T2" fmla="*/ 0 w 25"/>
                        <a:gd name="T3" fmla="*/ 0 h 67"/>
                        <a:gd name="T4" fmla="*/ 0 w 25"/>
                        <a:gd name="T5" fmla="*/ 0 h 67"/>
                        <a:gd name="T6" fmla="*/ 0 w 25"/>
                        <a:gd name="T7" fmla="*/ 0 h 67"/>
                        <a:gd name="T8" fmla="*/ 0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5" y="67"/>
                          </a:moveTo>
                          <a:lnTo>
                            <a:pt x="0" y="26"/>
                          </a:lnTo>
                          <a:lnTo>
                            <a:pt x="10" y="0"/>
                          </a:lnTo>
                          <a:lnTo>
                            <a:pt x="25"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28" name="Freeform 2365"/>
                    <p:cNvSpPr>
                      <a:spLocks/>
                    </p:cNvSpPr>
                    <p:nvPr/>
                  </p:nvSpPr>
                  <p:spPr bwMode="auto">
                    <a:xfrm>
                      <a:off x="854"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7" y="11"/>
                          </a:lnTo>
                          <a:lnTo>
                            <a:pt x="74"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29" name="Freeform 2366"/>
                    <p:cNvSpPr>
                      <a:spLocks/>
                    </p:cNvSpPr>
                    <p:nvPr/>
                  </p:nvSpPr>
                  <p:spPr bwMode="auto">
                    <a:xfrm>
                      <a:off x="857" y="36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65" name="Group 2367"/>
                <p:cNvGrpSpPr>
                  <a:grpSpLocks/>
                </p:cNvGrpSpPr>
                <p:nvPr/>
              </p:nvGrpSpPr>
              <p:grpSpPr bwMode="auto">
                <a:xfrm>
                  <a:off x="861" y="3665"/>
                  <a:ext cx="99" cy="74"/>
                  <a:chOff x="861" y="3665"/>
                  <a:chExt cx="99" cy="74"/>
                </a:xfrm>
              </p:grpSpPr>
              <p:grpSp>
                <p:nvGrpSpPr>
                  <p:cNvPr id="1202" name="Group 2368"/>
                  <p:cNvGrpSpPr>
                    <a:grpSpLocks/>
                  </p:cNvGrpSpPr>
                  <p:nvPr/>
                </p:nvGrpSpPr>
                <p:grpSpPr bwMode="auto">
                  <a:xfrm>
                    <a:off x="861" y="3665"/>
                    <a:ext cx="50" cy="23"/>
                    <a:chOff x="861" y="3665"/>
                    <a:chExt cx="50" cy="23"/>
                  </a:xfrm>
                </p:grpSpPr>
                <p:sp>
                  <p:nvSpPr>
                    <p:cNvPr id="1219" name="Freeform 2369"/>
                    <p:cNvSpPr>
                      <a:spLocks/>
                    </p:cNvSpPr>
                    <p:nvPr/>
                  </p:nvSpPr>
                  <p:spPr bwMode="auto">
                    <a:xfrm>
                      <a:off x="861"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20" name="Freeform 2370"/>
                    <p:cNvSpPr>
                      <a:spLocks/>
                    </p:cNvSpPr>
                    <p:nvPr/>
                  </p:nvSpPr>
                  <p:spPr bwMode="auto">
                    <a:xfrm>
                      <a:off x="865" y="3666"/>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4"/>
                          </a:lnTo>
                          <a:lnTo>
                            <a:pt x="57" y="13"/>
                          </a:lnTo>
                          <a:lnTo>
                            <a:pt x="75" y="31"/>
                          </a:lnTo>
                          <a:lnTo>
                            <a:pt x="19" y="31"/>
                          </a:lnTo>
                          <a:lnTo>
                            <a:pt x="11"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21" name="Freeform 2371"/>
                    <p:cNvSpPr>
                      <a:spLocks/>
                    </p:cNvSpPr>
                    <p:nvPr/>
                  </p:nvSpPr>
                  <p:spPr bwMode="auto">
                    <a:xfrm>
                      <a:off x="869"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03" name="Group 2372"/>
                  <p:cNvGrpSpPr>
                    <a:grpSpLocks/>
                  </p:cNvGrpSpPr>
                  <p:nvPr/>
                </p:nvGrpSpPr>
                <p:grpSpPr bwMode="auto">
                  <a:xfrm>
                    <a:off x="873" y="3678"/>
                    <a:ext cx="49" cy="23"/>
                    <a:chOff x="873" y="3678"/>
                    <a:chExt cx="49" cy="23"/>
                  </a:xfrm>
                </p:grpSpPr>
                <p:sp>
                  <p:nvSpPr>
                    <p:cNvPr id="1216" name="Freeform 2373"/>
                    <p:cNvSpPr>
                      <a:spLocks/>
                    </p:cNvSpPr>
                    <p:nvPr/>
                  </p:nvSpPr>
                  <p:spPr bwMode="auto">
                    <a:xfrm>
                      <a:off x="873"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7"/>
                          </a:lnTo>
                          <a:lnTo>
                            <a:pt x="9" y="0"/>
                          </a:lnTo>
                          <a:lnTo>
                            <a:pt x="25"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17" name="Freeform 2374"/>
                    <p:cNvSpPr>
                      <a:spLocks/>
                    </p:cNvSpPr>
                    <p:nvPr/>
                  </p:nvSpPr>
                  <p:spPr bwMode="auto">
                    <a:xfrm>
                      <a:off x="878" y="3678"/>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0" y="0"/>
                          </a:lnTo>
                          <a:lnTo>
                            <a:pt x="52" y="3"/>
                          </a:lnTo>
                          <a:lnTo>
                            <a:pt x="57" y="12"/>
                          </a:lnTo>
                          <a:lnTo>
                            <a:pt x="75"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18" name="Freeform 2375"/>
                    <p:cNvSpPr>
                      <a:spLocks/>
                    </p:cNvSpPr>
                    <p:nvPr/>
                  </p:nvSpPr>
                  <p:spPr bwMode="auto">
                    <a:xfrm>
                      <a:off x="880" y="3688"/>
                      <a:ext cx="42"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4" y="21"/>
                          </a:lnTo>
                          <a:lnTo>
                            <a:pt x="8" y="8"/>
                          </a:lnTo>
                          <a:lnTo>
                            <a:pt x="13"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04" name="Group 2376"/>
                  <p:cNvGrpSpPr>
                    <a:grpSpLocks/>
                  </p:cNvGrpSpPr>
                  <p:nvPr/>
                </p:nvGrpSpPr>
                <p:grpSpPr bwMode="auto">
                  <a:xfrm>
                    <a:off x="886" y="3690"/>
                    <a:ext cx="49" cy="23"/>
                    <a:chOff x="886" y="3690"/>
                    <a:chExt cx="49" cy="23"/>
                  </a:xfrm>
                </p:grpSpPr>
                <p:sp>
                  <p:nvSpPr>
                    <p:cNvPr id="1213" name="Freeform 2377"/>
                    <p:cNvSpPr>
                      <a:spLocks/>
                    </p:cNvSpPr>
                    <p:nvPr/>
                  </p:nvSpPr>
                  <p:spPr bwMode="auto">
                    <a:xfrm>
                      <a:off x="886" y="3690"/>
                      <a:ext cx="12" cy="23"/>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4" y="70"/>
                          </a:moveTo>
                          <a:lnTo>
                            <a:pt x="0" y="29"/>
                          </a:lnTo>
                          <a:lnTo>
                            <a:pt x="10" y="0"/>
                          </a:lnTo>
                          <a:lnTo>
                            <a:pt x="24" y="33"/>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14" name="Freeform 2378"/>
                    <p:cNvSpPr>
                      <a:spLocks/>
                    </p:cNvSpPr>
                    <p:nvPr/>
                  </p:nvSpPr>
                  <p:spPr bwMode="auto">
                    <a:xfrm>
                      <a:off x="890"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2"/>
                          </a:lnTo>
                          <a:lnTo>
                            <a:pt x="57" y="11"/>
                          </a:lnTo>
                          <a:lnTo>
                            <a:pt x="75" y="31"/>
                          </a:lnTo>
                          <a:lnTo>
                            <a:pt x="19" y="31"/>
                          </a:lnTo>
                          <a:lnTo>
                            <a:pt x="10" y="22"/>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15" name="Freeform 2379"/>
                    <p:cNvSpPr>
                      <a:spLocks/>
                    </p:cNvSpPr>
                    <p:nvPr/>
                  </p:nvSpPr>
                  <p:spPr bwMode="auto">
                    <a:xfrm>
                      <a:off x="893" y="3701"/>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8" y="7"/>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05" name="Group 2380"/>
                  <p:cNvGrpSpPr>
                    <a:grpSpLocks/>
                  </p:cNvGrpSpPr>
                  <p:nvPr/>
                </p:nvGrpSpPr>
                <p:grpSpPr bwMode="auto">
                  <a:xfrm>
                    <a:off x="899" y="3703"/>
                    <a:ext cx="48" cy="23"/>
                    <a:chOff x="899" y="3703"/>
                    <a:chExt cx="48" cy="23"/>
                  </a:xfrm>
                </p:grpSpPr>
                <p:sp>
                  <p:nvSpPr>
                    <p:cNvPr id="1210" name="Freeform 2381"/>
                    <p:cNvSpPr>
                      <a:spLocks/>
                    </p:cNvSpPr>
                    <p:nvPr/>
                  </p:nvSpPr>
                  <p:spPr bwMode="auto">
                    <a:xfrm>
                      <a:off x="899" y="3703"/>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10"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11" name="Freeform 2382"/>
                    <p:cNvSpPr>
                      <a:spLocks/>
                    </p:cNvSpPr>
                    <p:nvPr/>
                  </p:nvSpPr>
                  <p:spPr bwMode="auto">
                    <a:xfrm>
                      <a:off x="903" y="3703"/>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6" y="12"/>
                          </a:lnTo>
                          <a:lnTo>
                            <a:pt x="75"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12" name="Freeform 2383"/>
                    <p:cNvSpPr>
                      <a:spLocks/>
                    </p:cNvSpPr>
                    <p:nvPr/>
                  </p:nvSpPr>
                  <p:spPr bwMode="auto">
                    <a:xfrm>
                      <a:off x="907" y="3714"/>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5"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06" name="Group 2384"/>
                  <p:cNvGrpSpPr>
                    <a:grpSpLocks/>
                  </p:cNvGrpSpPr>
                  <p:nvPr/>
                </p:nvGrpSpPr>
                <p:grpSpPr bwMode="auto">
                  <a:xfrm>
                    <a:off x="912" y="3716"/>
                    <a:ext cx="48" cy="23"/>
                    <a:chOff x="912" y="3716"/>
                    <a:chExt cx="48" cy="23"/>
                  </a:xfrm>
                </p:grpSpPr>
                <p:sp>
                  <p:nvSpPr>
                    <p:cNvPr id="1207" name="Freeform 2385"/>
                    <p:cNvSpPr>
                      <a:spLocks/>
                    </p:cNvSpPr>
                    <p:nvPr/>
                  </p:nvSpPr>
                  <p:spPr bwMode="auto">
                    <a:xfrm>
                      <a:off x="912" y="3716"/>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08" name="Freeform 2386"/>
                    <p:cNvSpPr>
                      <a:spLocks/>
                    </p:cNvSpPr>
                    <p:nvPr/>
                  </p:nvSpPr>
                  <p:spPr bwMode="auto">
                    <a:xfrm>
                      <a:off x="916" y="3717"/>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3"/>
                          </a:lnTo>
                          <a:lnTo>
                            <a:pt x="55" y="11"/>
                          </a:lnTo>
                          <a:lnTo>
                            <a:pt x="74" y="29"/>
                          </a:lnTo>
                          <a:lnTo>
                            <a:pt x="18" y="29"/>
                          </a:lnTo>
                          <a:lnTo>
                            <a:pt x="8"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09" name="Freeform 2387"/>
                    <p:cNvSpPr>
                      <a:spLocks/>
                    </p:cNvSpPr>
                    <p:nvPr/>
                  </p:nvSpPr>
                  <p:spPr bwMode="auto">
                    <a:xfrm>
                      <a:off x="919" y="3727"/>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1"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66" name="Group 2388"/>
                <p:cNvGrpSpPr>
                  <a:grpSpLocks/>
                </p:cNvGrpSpPr>
                <p:nvPr/>
              </p:nvGrpSpPr>
              <p:grpSpPr bwMode="auto">
                <a:xfrm>
                  <a:off x="922" y="3727"/>
                  <a:ext cx="49" cy="23"/>
                  <a:chOff x="922" y="3727"/>
                  <a:chExt cx="49" cy="23"/>
                </a:xfrm>
              </p:grpSpPr>
              <p:sp>
                <p:nvSpPr>
                  <p:cNvPr id="1199" name="Freeform 2389"/>
                  <p:cNvSpPr>
                    <a:spLocks/>
                  </p:cNvSpPr>
                  <p:nvPr/>
                </p:nvSpPr>
                <p:spPr bwMode="auto">
                  <a:xfrm>
                    <a:off x="922" y="3727"/>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1"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00" name="Freeform 2390"/>
                  <p:cNvSpPr>
                    <a:spLocks/>
                  </p:cNvSpPr>
                  <p:nvPr/>
                </p:nvSpPr>
                <p:spPr bwMode="auto">
                  <a:xfrm>
                    <a:off x="927" y="3728"/>
                    <a:ext cx="36" cy="10"/>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49" y="0"/>
                        </a:lnTo>
                        <a:lnTo>
                          <a:pt x="50" y="4"/>
                        </a:lnTo>
                        <a:lnTo>
                          <a:pt x="56" y="13"/>
                        </a:lnTo>
                        <a:lnTo>
                          <a:pt x="72"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01" name="Freeform 2391"/>
                  <p:cNvSpPr>
                    <a:spLocks/>
                  </p:cNvSpPr>
                  <p:nvPr/>
                </p:nvSpPr>
                <p:spPr bwMode="auto">
                  <a:xfrm>
                    <a:off x="930"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7" name="Group 2392"/>
                <p:cNvGrpSpPr>
                  <a:grpSpLocks/>
                </p:cNvGrpSpPr>
                <p:nvPr/>
              </p:nvGrpSpPr>
              <p:grpSpPr bwMode="auto">
                <a:xfrm>
                  <a:off x="895" y="3526"/>
                  <a:ext cx="44" cy="23"/>
                  <a:chOff x="895" y="3526"/>
                  <a:chExt cx="44" cy="23"/>
                </a:xfrm>
              </p:grpSpPr>
              <p:sp>
                <p:nvSpPr>
                  <p:cNvPr id="1196" name="Freeform 2393"/>
                  <p:cNvSpPr>
                    <a:spLocks/>
                  </p:cNvSpPr>
                  <p:nvPr/>
                </p:nvSpPr>
                <p:spPr bwMode="auto">
                  <a:xfrm>
                    <a:off x="895" y="3526"/>
                    <a:ext cx="19" cy="23"/>
                  </a:xfrm>
                  <a:custGeom>
                    <a:avLst/>
                    <a:gdLst>
                      <a:gd name="T0" fmla="*/ 1 w 38"/>
                      <a:gd name="T1" fmla="*/ 0 h 69"/>
                      <a:gd name="T2" fmla="*/ 0 w 38"/>
                      <a:gd name="T3" fmla="*/ 0 h 69"/>
                      <a:gd name="T4" fmla="*/ 1 w 38"/>
                      <a:gd name="T5" fmla="*/ 0 h 69"/>
                      <a:gd name="T6" fmla="*/ 1 w 38"/>
                      <a:gd name="T7" fmla="*/ 0 h 69"/>
                      <a:gd name="T8" fmla="*/ 1 w 38"/>
                      <a:gd name="T9" fmla="*/ 0 h 69"/>
                      <a:gd name="T10" fmla="*/ 0 60000 65536"/>
                      <a:gd name="T11" fmla="*/ 0 60000 65536"/>
                      <a:gd name="T12" fmla="*/ 0 60000 65536"/>
                      <a:gd name="T13" fmla="*/ 0 60000 65536"/>
                      <a:gd name="T14" fmla="*/ 0 60000 65536"/>
                      <a:gd name="T15" fmla="*/ 0 w 38"/>
                      <a:gd name="T16" fmla="*/ 0 h 69"/>
                      <a:gd name="T17" fmla="*/ 38 w 38"/>
                      <a:gd name="T18" fmla="*/ 69 h 69"/>
                    </a:gdLst>
                    <a:ahLst/>
                    <a:cxnLst>
                      <a:cxn ang="T10">
                        <a:pos x="T0" y="T1"/>
                      </a:cxn>
                      <a:cxn ang="T11">
                        <a:pos x="T2" y="T3"/>
                      </a:cxn>
                      <a:cxn ang="T12">
                        <a:pos x="T4" y="T5"/>
                      </a:cxn>
                      <a:cxn ang="T13">
                        <a:pos x="T6" y="T7"/>
                      </a:cxn>
                      <a:cxn ang="T14">
                        <a:pos x="T8" y="T9"/>
                      </a:cxn>
                    </a:cxnLst>
                    <a:rect l="T15" t="T16" r="T17" b="T18"/>
                    <a:pathLst>
                      <a:path w="38" h="69">
                        <a:moveTo>
                          <a:pt x="22" y="69"/>
                        </a:moveTo>
                        <a:lnTo>
                          <a:pt x="0" y="34"/>
                        </a:lnTo>
                        <a:lnTo>
                          <a:pt x="11" y="0"/>
                        </a:lnTo>
                        <a:lnTo>
                          <a:pt x="38"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97" name="Freeform 2394"/>
                  <p:cNvSpPr>
                    <a:spLocks/>
                  </p:cNvSpPr>
                  <p:nvPr/>
                </p:nvSpPr>
                <p:spPr bwMode="auto">
                  <a:xfrm>
                    <a:off x="901" y="3526"/>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0" y="0"/>
                        </a:lnTo>
                        <a:lnTo>
                          <a:pt x="64" y="35"/>
                        </a:lnTo>
                        <a:lnTo>
                          <a:pt x="23"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98" name="Freeform 2395"/>
                  <p:cNvSpPr>
                    <a:spLocks/>
                  </p:cNvSpPr>
                  <p:nvPr/>
                </p:nvSpPr>
                <p:spPr bwMode="auto">
                  <a:xfrm>
                    <a:off x="907" y="3538"/>
                    <a:ext cx="32" cy="11"/>
                  </a:xfrm>
                  <a:custGeom>
                    <a:avLst/>
                    <a:gdLst>
                      <a:gd name="T0" fmla="*/ 0 w 65"/>
                      <a:gd name="T1" fmla="*/ 0 h 31"/>
                      <a:gd name="T2" fmla="*/ 0 w 65"/>
                      <a:gd name="T3" fmla="*/ 0 h 31"/>
                      <a:gd name="T4" fmla="*/ 0 w 65"/>
                      <a:gd name="T5" fmla="*/ 0 h 31"/>
                      <a:gd name="T6" fmla="*/ 0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3" y="0"/>
                        </a:lnTo>
                        <a:lnTo>
                          <a:pt x="54"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8" name="Group 2396"/>
                <p:cNvGrpSpPr>
                  <a:grpSpLocks/>
                </p:cNvGrpSpPr>
                <p:nvPr/>
              </p:nvGrpSpPr>
              <p:grpSpPr bwMode="auto">
                <a:xfrm>
                  <a:off x="907" y="3540"/>
                  <a:ext cx="45" cy="22"/>
                  <a:chOff x="907" y="3540"/>
                  <a:chExt cx="45" cy="22"/>
                </a:xfrm>
              </p:grpSpPr>
              <p:sp>
                <p:nvSpPr>
                  <p:cNvPr id="1193" name="Freeform 2397"/>
                  <p:cNvSpPr>
                    <a:spLocks/>
                  </p:cNvSpPr>
                  <p:nvPr/>
                </p:nvSpPr>
                <p:spPr bwMode="auto">
                  <a:xfrm>
                    <a:off x="907" y="3540"/>
                    <a:ext cx="20" cy="22"/>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4"/>
                        </a:lnTo>
                        <a:lnTo>
                          <a:pt x="11" y="0"/>
                        </a:lnTo>
                        <a:lnTo>
                          <a:pt x="39" y="34"/>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94" name="Freeform 2398"/>
                  <p:cNvSpPr>
                    <a:spLocks/>
                  </p:cNvSpPr>
                  <p:nvPr/>
                </p:nvSpPr>
                <p:spPr bwMode="auto">
                  <a:xfrm>
                    <a:off x="914" y="3540"/>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95" name="Freeform 2399"/>
                  <p:cNvSpPr>
                    <a:spLocks/>
                  </p:cNvSpPr>
                  <p:nvPr/>
                </p:nvSpPr>
                <p:spPr bwMode="auto">
                  <a:xfrm>
                    <a:off x="919" y="3552"/>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9" name="Group 2400"/>
                <p:cNvGrpSpPr>
                  <a:grpSpLocks/>
                </p:cNvGrpSpPr>
                <p:nvPr/>
              </p:nvGrpSpPr>
              <p:grpSpPr bwMode="auto">
                <a:xfrm>
                  <a:off x="920" y="3553"/>
                  <a:ext cx="45" cy="23"/>
                  <a:chOff x="920" y="3553"/>
                  <a:chExt cx="45" cy="23"/>
                </a:xfrm>
              </p:grpSpPr>
              <p:sp>
                <p:nvSpPr>
                  <p:cNvPr id="1190" name="Freeform 2401"/>
                  <p:cNvSpPr>
                    <a:spLocks/>
                  </p:cNvSpPr>
                  <p:nvPr/>
                </p:nvSpPr>
                <p:spPr bwMode="auto">
                  <a:xfrm>
                    <a:off x="920" y="3553"/>
                    <a:ext cx="20" cy="23"/>
                  </a:xfrm>
                  <a:custGeom>
                    <a:avLst/>
                    <a:gdLst>
                      <a:gd name="T0" fmla="*/ 0 w 41"/>
                      <a:gd name="T1" fmla="*/ 0 h 68"/>
                      <a:gd name="T2" fmla="*/ 0 w 41"/>
                      <a:gd name="T3" fmla="*/ 0 h 68"/>
                      <a:gd name="T4" fmla="*/ 0 w 41"/>
                      <a:gd name="T5" fmla="*/ 0 h 68"/>
                      <a:gd name="T6" fmla="*/ 0 w 41"/>
                      <a:gd name="T7" fmla="*/ 0 h 68"/>
                      <a:gd name="T8" fmla="*/ 0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4"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91" name="Freeform 2402"/>
                  <p:cNvSpPr>
                    <a:spLocks/>
                  </p:cNvSpPr>
                  <p:nvPr/>
                </p:nvSpPr>
                <p:spPr bwMode="auto">
                  <a:xfrm>
                    <a:off x="927" y="3554"/>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39"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92" name="Freeform 2403"/>
                  <p:cNvSpPr>
                    <a:spLocks/>
                  </p:cNvSpPr>
                  <p:nvPr/>
                </p:nvSpPr>
                <p:spPr bwMode="auto">
                  <a:xfrm>
                    <a:off x="932" y="3566"/>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3"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0" name="Group 2404"/>
                <p:cNvGrpSpPr>
                  <a:grpSpLocks/>
                </p:cNvGrpSpPr>
                <p:nvPr/>
              </p:nvGrpSpPr>
              <p:grpSpPr bwMode="auto">
                <a:xfrm>
                  <a:off x="934" y="3566"/>
                  <a:ext cx="44" cy="23"/>
                  <a:chOff x="934" y="3566"/>
                  <a:chExt cx="44" cy="23"/>
                </a:xfrm>
              </p:grpSpPr>
              <p:sp>
                <p:nvSpPr>
                  <p:cNvPr id="1187" name="Freeform 2405"/>
                  <p:cNvSpPr>
                    <a:spLocks/>
                  </p:cNvSpPr>
                  <p:nvPr/>
                </p:nvSpPr>
                <p:spPr bwMode="auto">
                  <a:xfrm>
                    <a:off x="934" y="356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2" y="68"/>
                        </a:moveTo>
                        <a:lnTo>
                          <a:pt x="0" y="33"/>
                        </a:lnTo>
                        <a:lnTo>
                          <a:pt x="12" y="0"/>
                        </a:lnTo>
                        <a:lnTo>
                          <a:pt x="40"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88" name="Freeform 2406"/>
                  <p:cNvSpPr>
                    <a:spLocks/>
                  </p:cNvSpPr>
                  <p:nvPr/>
                </p:nvSpPr>
                <p:spPr bwMode="auto">
                  <a:xfrm>
                    <a:off x="940" y="3567"/>
                    <a:ext cx="32" cy="11"/>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1"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89" name="Freeform 2407"/>
                  <p:cNvSpPr>
                    <a:spLocks/>
                  </p:cNvSpPr>
                  <p:nvPr/>
                </p:nvSpPr>
                <p:spPr bwMode="auto">
                  <a:xfrm>
                    <a:off x="945" y="3579"/>
                    <a:ext cx="33" cy="9"/>
                  </a:xfrm>
                  <a:custGeom>
                    <a:avLst/>
                    <a:gdLst>
                      <a:gd name="T0" fmla="*/ 0 w 65"/>
                      <a:gd name="T1" fmla="*/ 0 h 28"/>
                      <a:gd name="T2" fmla="*/ 1 w 65"/>
                      <a:gd name="T3" fmla="*/ 0 h 28"/>
                      <a:gd name="T4" fmla="*/ 1 w 65"/>
                      <a:gd name="T5" fmla="*/ 0 h 28"/>
                      <a:gd name="T6" fmla="*/ 1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3" y="0"/>
                        </a:lnTo>
                        <a:lnTo>
                          <a:pt x="54"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1" name="Group 2408"/>
                <p:cNvGrpSpPr>
                  <a:grpSpLocks/>
                </p:cNvGrpSpPr>
                <p:nvPr/>
              </p:nvGrpSpPr>
              <p:grpSpPr bwMode="auto">
                <a:xfrm>
                  <a:off x="949" y="3579"/>
                  <a:ext cx="83" cy="63"/>
                  <a:chOff x="949" y="3579"/>
                  <a:chExt cx="83" cy="63"/>
                </a:xfrm>
              </p:grpSpPr>
              <p:grpSp>
                <p:nvGrpSpPr>
                  <p:cNvPr id="1171" name="Group 2409"/>
                  <p:cNvGrpSpPr>
                    <a:grpSpLocks/>
                  </p:cNvGrpSpPr>
                  <p:nvPr/>
                </p:nvGrpSpPr>
                <p:grpSpPr bwMode="auto">
                  <a:xfrm>
                    <a:off x="949" y="3579"/>
                    <a:ext cx="44" cy="23"/>
                    <a:chOff x="949" y="3579"/>
                    <a:chExt cx="44" cy="23"/>
                  </a:xfrm>
                </p:grpSpPr>
                <p:sp>
                  <p:nvSpPr>
                    <p:cNvPr id="1184" name="Freeform 2410"/>
                    <p:cNvSpPr>
                      <a:spLocks/>
                    </p:cNvSpPr>
                    <p:nvPr/>
                  </p:nvSpPr>
                  <p:spPr bwMode="auto">
                    <a:xfrm>
                      <a:off x="949" y="3579"/>
                      <a:ext cx="19" cy="23"/>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2"/>
                          </a:lnTo>
                          <a:lnTo>
                            <a:pt x="11" y="0"/>
                          </a:lnTo>
                          <a:lnTo>
                            <a:pt x="38" y="32"/>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85" name="Freeform 2411"/>
                    <p:cNvSpPr>
                      <a:spLocks/>
                    </p:cNvSpPr>
                    <p:nvPr/>
                  </p:nvSpPr>
                  <p:spPr bwMode="auto">
                    <a:xfrm>
                      <a:off x="955" y="3579"/>
                      <a:ext cx="32" cy="11"/>
                    </a:xfrm>
                    <a:custGeom>
                      <a:avLst/>
                      <a:gdLst>
                        <a:gd name="T0" fmla="*/ 0 w 66"/>
                        <a:gd name="T1" fmla="*/ 0 h 32"/>
                        <a:gd name="T2" fmla="*/ 0 w 66"/>
                        <a:gd name="T3" fmla="*/ 0 h 32"/>
                        <a:gd name="T4" fmla="*/ 0 w 66"/>
                        <a:gd name="T5" fmla="*/ 0 h 32"/>
                        <a:gd name="T6" fmla="*/ 0 w 66"/>
                        <a:gd name="T7" fmla="*/ 0 h 32"/>
                        <a:gd name="T8" fmla="*/ 0 w 66"/>
                        <a:gd name="T9" fmla="*/ 0 h 32"/>
                        <a:gd name="T10" fmla="*/ 0 60000 65536"/>
                        <a:gd name="T11" fmla="*/ 0 60000 65536"/>
                        <a:gd name="T12" fmla="*/ 0 60000 65536"/>
                        <a:gd name="T13" fmla="*/ 0 60000 65536"/>
                        <a:gd name="T14" fmla="*/ 0 60000 65536"/>
                        <a:gd name="T15" fmla="*/ 0 w 66"/>
                        <a:gd name="T16" fmla="*/ 0 h 32"/>
                        <a:gd name="T17" fmla="*/ 66 w 66"/>
                        <a:gd name="T18" fmla="*/ 32 h 32"/>
                      </a:gdLst>
                      <a:ahLst/>
                      <a:cxnLst>
                        <a:cxn ang="T10">
                          <a:pos x="T0" y="T1"/>
                        </a:cxn>
                        <a:cxn ang="T11">
                          <a:pos x="T2" y="T3"/>
                        </a:cxn>
                        <a:cxn ang="T12">
                          <a:pos x="T4" y="T5"/>
                        </a:cxn>
                        <a:cxn ang="T13">
                          <a:pos x="T6" y="T7"/>
                        </a:cxn>
                        <a:cxn ang="T14">
                          <a:pos x="T8" y="T9"/>
                        </a:cxn>
                      </a:cxnLst>
                      <a:rect l="T15" t="T16" r="T17" b="T18"/>
                      <a:pathLst>
                        <a:path w="66" h="32">
                          <a:moveTo>
                            <a:pt x="0" y="0"/>
                          </a:moveTo>
                          <a:lnTo>
                            <a:pt x="42" y="0"/>
                          </a:lnTo>
                          <a:lnTo>
                            <a:pt x="66" y="32"/>
                          </a:lnTo>
                          <a:lnTo>
                            <a:pt x="25"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86" name="Freeform 2412"/>
                    <p:cNvSpPr>
                      <a:spLocks/>
                    </p:cNvSpPr>
                    <p:nvPr/>
                  </p:nvSpPr>
                  <p:spPr bwMode="auto">
                    <a:xfrm>
                      <a:off x="960" y="3591"/>
                      <a:ext cx="33" cy="10"/>
                    </a:xfrm>
                    <a:custGeom>
                      <a:avLst/>
                      <a:gdLst>
                        <a:gd name="T0" fmla="*/ 0 w 65"/>
                        <a:gd name="T1" fmla="*/ 0 h 31"/>
                        <a:gd name="T2" fmla="*/ 1 w 65"/>
                        <a:gd name="T3" fmla="*/ 0 h 31"/>
                        <a:gd name="T4" fmla="*/ 1 w 65"/>
                        <a:gd name="T5" fmla="*/ 0 h 31"/>
                        <a:gd name="T6" fmla="*/ 1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4" y="0"/>
                          </a:lnTo>
                          <a:lnTo>
                            <a:pt x="55"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72" name="Group 2413"/>
                  <p:cNvGrpSpPr>
                    <a:grpSpLocks/>
                  </p:cNvGrpSpPr>
                  <p:nvPr/>
                </p:nvGrpSpPr>
                <p:grpSpPr bwMode="auto">
                  <a:xfrm>
                    <a:off x="961" y="3592"/>
                    <a:ext cx="45" cy="23"/>
                    <a:chOff x="961" y="3592"/>
                    <a:chExt cx="45" cy="23"/>
                  </a:xfrm>
                </p:grpSpPr>
                <p:sp>
                  <p:nvSpPr>
                    <p:cNvPr id="1181" name="Freeform 2414"/>
                    <p:cNvSpPr>
                      <a:spLocks/>
                    </p:cNvSpPr>
                    <p:nvPr/>
                  </p:nvSpPr>
                  <p:spPr bwMode="auto">
                    <a:xfrm>
                      <a:off x="961" y="3592"/>
                      <a:ext cx="20" cy="23"/>
                    </a:xfrm>
                    <a:custGeom>
                      <a:avLst/>
                      <a:gdLst>
                        <a:gd name="T0" fmla="*/ 1 w 40"/>
                        <a:gd name="T1" fmla="*/ 0 h 69"/>
                        <a:gd name="T2" fmla="*/ 0 w 40"/>
                        <a:gd name="T3" fmla="*/ 0 h 69"/>
                        <a:gd name="T4" fmla="*/ 1 w 40"/>
                        <a:gd name="T5" fmla="*/ 0 h 69"/>
                        <a:gd name="T6" fmla="*/ 1 w 40"/>
                        <a:gd name="T7" fmla="*/ 0 h 69"/>
                        <a:gd name="T8" fmla="*/ 1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3"/>
                          </a:lnTo>
                          <a:lnTo>
                            <a:pt x="12" y="0"/>
                          </a:lnTo>
                          <a:lnTo>
                            <a:pt x="40"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82" name="Freeform 2415"/>
                    <p:cNvSpPr>
                      <a:spLocks/>
                    </p:cNvSpPr>
                    <p:nvPr/>
                  </p:nvSpPr>
                  <p:spPr bwMode="auto">
                    <a:xfrm>
                      <a:off x="968" y="3593"/>
                      <a:ext cx="33" cy="11"/>
                    </a:xfrm>
                    <a:custGeom>
                      <a:avLst/>
                      <a:gdLst>
                        <a:gd name="T0" fmla="*/ 0 w 66"/>
                        <a:gd name="T1" fmla="*/ 0 h 35"/>
                        <a:gd name="T2" fmla="*/ 1 w 66"/>
                        <a:gd name="T3" fmla="*/ 0 h 35"/>
                        <a:gd name="T4" fmla="*/ 1 w 66"/>
                        <a:gd name="T5" fmla="*/ 0 h 35"/>
                        <a:gd name="T6" fmla="*/ 1 w 66"/>
                        <a:gd name="T7" fmla="*/ 0 h 35"/>
                        <a:gd name="T8" fmla="*/ 0 w 66"/>
                        <a:gd name="T9" fmla="*/ 0 h 35"/>
                        <a:gd name="T10" fmla="*/ 0 60000 65536"/>
                        <a:gd name="T11" fmla="*/ 0 60000 65536"/>
                        <a:gd name="T12" fmla="*/ 0 60000 65536"/>
                        <a:gd name="T13" fmla="*/ 0 60000 65536"/>
                        <a:gd name="T14" fmla="*/ 0 60000 65536"/>
                        <a:gd name="T15" fmla="*/ 0 w 66"/>
                        <a:gd name="T16" fmla="*/ 0 h 35"/>
                        <a:gd name="T17" fmla="*/ 66 w 66"/>
                        <a:gd name="T18" fmla="*/ 35 h 35"/>
                      </a:gdLst>
                      <a:ahLst/>
                      <a:cxnLst>
                        <a:cxn ang="T10">
                          <a:pos x="T0" y="T1"/>
                        </a:cxn>
                        <a:cxn ang="T11">
                          <a:pos x="T2" y="T3"/>
                        </a:cxn>
                        <a:cxn ang="T12">
                          <a:pos x="T4" y="T5"/>
                        </a:cxn>
                        <a:cxn ang="T13">
                          <a:pos x="T6" y="T7"/>
                        </a:cxn>
                        <a:cxn ang="T14">
                          <a:pos x="T8" y="T9"/>
                        </a:cxn>
                      </a:cxnLst>
                      <a:rect l="T15" t="T16" r="T17" b="T18"/>
                      <a:pathLst>
                        <a:path w="66" h="35">
                          <a:moveTo>
                            <a:pt x="0" y="0"/>
                          </a:moveTo>
                          <a:lnTo>
                            <a:pt x="41" y="0"/>
                          </a:lnTo>
                          <a:lnTo>
                            <a:pt x="66"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83" name="Freeform 2416"/>
                    <p:cNvSpPr>
                      <a:spLocks/>
                    </p:cNvSpPr>
                    <p:nvPr/>
                  </p:nvSpPr>
                  <p:spPr bwMode="auto">
                    <a:xfrm>
                      <a:off x="973" y="3605"/>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3" y="0"/>
                          </a:lnTo>
                          <a:lnTo>
                            <a:pt x="55"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73" name="Group 2417"/>
                  <p:cNvGrpSpPr>
                    <a:grpSpLocks/>
                  </p:cNvGrpSpPr>
                  <p:nvPr/>
                </p:nvGrpSpPr>
                <p:grpSpPr bwMode="auto">
                  <a:xfrm>
                    <a:off x="974" y="3606"/>
                    <a:ext cx="44" cy="23"/>
                    <a:chOff x="974" y="3606"/>
                    <a:chExt cx="44" cy="23"/>
                  </a:xfrm>
                </p:grpSpPr>
                <p:sp>
                  <p:nvSpPr>
                    <p:cNvPr id="1178" name="Freeform 2418"/>
                    <p:cNvSpPr>
                      <a:spLocks/>
                    </p:cNvSpPr>
                    <p:nvPr/>
                  </p:nvSpPr>
                  <p:spPr bwMode="auto">
                    <a:xfrm>
                      <a:off x="974" y="360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5"/>
                          </a:lnTo>
                          <a:lnTo>
                            <a:pt x="12" y="0"/>
                          </a:lnTo>
                          <a:lnTo>
                            <a:pt x="40" y="35"/>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79" name="Freeform 2419"/>
                    <p:cNvSpPr>
                      <a:spLocks/>
                    </p:cNvSpPr>
                    <p:nvPr/>
                  </p:nvSpPr>
                  <p:spPr bwMode="auto">
                    <a:xfrm>
                      <a:off x="980" y="3606"/>
                      <a:ext cx="32" cy="12"/>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2"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80" name="Freeform 2420"/>
                    <p:cNvSpPr>
                      <a:spLocks/>
                    </p:cNvSpPr>
                    <p:nvPr/>
                  </p:nvSpPr>
                  <p:spPr bwMode="auto">
                    <a:xfrm>
                      <a:off x="986" y="3619"/>
                      <a:ext cx="32" cy="9"/>
                    </a:xfrm>
                    <a:custGeom>
                      <a:avLst/>
                      <a:gdLst>
                        <a:gd name="T0" fmla="*/ 0 w 65"/>
                        <a:gd name="T1" fmla="*/ 0 h 29"/>
                        <a:gd name="T2" fmla="*/ 0 w 65"/>
                        <a:gd name="T3" fmla="*/ 0 h 29"/>
                        <a:gd name="T4" fmla="*/ 0 w 65"/>
                        <a:gd name="T5" fmla="*/ 0 h 29"/>
                        <a:gd name="T6" fmla="*/ 0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2"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74" name="Group 2421"/>
                  <p:cNvGrpSpPr>
                    <a:grpSpLocks/>
                  </p:cNvGrpSpPr>
                  <p:nvPr/>
                </p:nvGrpSpPr>
                <p:grpSpPr bwMode="auto">
                  <a:xfrm>
                    <a:off x="987" y="3619"/>
                    <a:ext cx="45" cy="23"/>
                    <a:chOff x="987" y="3619"/>
                    <a:chExt cx="45" cy="23"/>
                  </a:xfrm>
                </p:grpSpPr>
                <p:sp>
                  <p:nvSpPr>
                    <p:cNvPr id="1175" name="Freeform 2422"/>
                    <p:cNvSpPr>
                      <a:spLocks/>
                    </p:cNvSpPr>
                    <p:nvPr/>
                  </p:nvSpPr>
                  <p:spPr bwMode="auto">
                    <a:xfrm>
                      <a:off x="987" y="3619"/>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3"/>
                          </a:lnTo>
                          <a:lnTo>
                            <a:pt x="12" y="0"/>
                          </a:lnTo>
                          <a:lnTo>
                            <a:pt x="39"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76" name="Freeform 2423"/>
                    <p:cNvSpPr>
                      <a:spLocks/>
                    </p:cNvSpPr>
                    <p:nvPr/>
                  </p:nvSpPr>
                  <p:spPr bwMode="auto">
                    <a:xfrm>
                      <a:off x="994" y="3620"/>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5"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77" name="Freeform 2424"/>
                    <p:cNvSpPr>
                      <a:spLocks/>
                    </p:cNvSpPr>
                    <p:nvPr/>
                  </p:nvSpPr>
                  <p:spPr bwMode="auto">
                    <a:xfrm>
                      <a:off x="999" y="3632"/>
                      <a:ext cx="33" cy="9"/>
                    </a:xfrm>
                    <a:custGeom>
                      <a:avLst/>
                      <a:gdLst>
                        <a:gd name="T0" fmla="*/ 0 w 65"/>
                        <a:gd name="T1" fmla="*/ 0 h 29"/>
                        <a:gd name="T2" fmla="*/ 1 w 65"/>
                        <a:gd name="T3" fmla="*/ 0 h 29"/>
                        <a:gd name="T4" fmla="*/ 1 w 65"/>
                        <a:gd name="T5" fmla="*/ 0 h 29"/>
                        <a:gd name="T6" fmla="*/ 1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4"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72" name="Group 2425"/>
                <p:cNvGrpSpPr>
                  <a:grpSpLocks/>
                </p:cNvGrpSpPr>
                <p:nvPr/>
              </p:nvGrpSpPr>
              <p:grpSpPr bwMode="auto">
                <a:xfrm>
                  <a:off x="1002" y="3632"/>
                  <a:ext cx="83" cy="63"/>
                  <a:chOff x="1002" y="3632"/>
                  <a:chExt cx="83" cy="63"/>
                </a:xfrm>
              </p:grpSpPr>
              <p:grpSp>
                <p:nvGrpSpPr>
                  <p:cNvPr id="1155" name="Group 2426"/>
                  <p:cNvGrpSpPr>
                    <a:grpSpLocks/>
                  </p:cNvGrpSpPr>
                  <p:nvPr/>
                </p:nvGrpSpPr>
                <p:grpSpPr bwMode="auto">
                  <a:xfrm>
                    <a:off x="1002" y="3632"/>
                    <a:ext cx="44" cy="22"/>
                    <a:chOff x="1002" y="3632"/>
                    <a:chExt cx="44" cy="22"/>
                  </a:xfrm>
                </p:grpSpPr>
                <p:sp>
                  <p:nvSpPr>
                    <p:cNvPr id="1168" name="Freeform 2427"/>
                    <p:cNvSpPr>
                      <a:spLocks/>
                    </p:cNvSpPr>
                    <p:nvPr/>
                  </p:nvSpPr>
                  <p:spPr bwMode="auto">
                    <a:xfrm>
                      <a:off x="1002" y="3632"/>
                      <a:ext cx="19" cy="22"/>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3"/>
                          </a:lnTo>
                          <a:lnTo>
                            <a:pt x="10" y="0"/>
                          </a:lnTo>
                          <a:lnTo>
                            <a:pt x="38" y="33"/>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69" name="Freeform 2428"/>
                    <p:cNvSpPr>
                      <a:spLocks/>
                    </p:cNvSpPr>
                    <p:nvPr/>
                  </p:nvSpPr>
                  <p:spPr bwMode="auto">
                    <a:xfrm>
                      <a:off x="1008" y="3632"/>
                      <a:ext cx="33" cy="12"/>
                    </a:xfrm>
                    <a:custGeom>
                      <a:avLst/>
                      <a:gdLst>
                        <a:gd name="T0" fmla="*/ 0 w 65"/>
                        <a:gd name="T1" fmla="*/ 0 h 35"/>
                        <a:gd name="T2" fmla="*/ 1 w 65"/>
                        <a:gd name="T3" fmla="*/ 0 h 35"/>
                        <a:gd name="T4" fmla="*/ 1 w 65"/>
                        <a:gd name="T5" fmla="*/ 0 h 35"/>
                        <a:gd name="T6" fmla="*/ 1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0"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70" name="Freeform 2429"/>
                    <p:cNvSpPr>
                      <a:spLocks/>
                    </p:cNvSpPr>
                    <p:nvPr/>
                  </p:nvSpPr>
                  <p:spPr bwMode="auto">
                    <a:xfrm>
                      <a:off x="1013" y="3644"/>
                      <a:ext cx="33" cy="10"/>
                    </a:xfrm>
                    <a:custGeom>
                      <a:avLst/>
                      <a:gdLst>
                        <a:gd name="T0" fmla="*/ 0 w 66"/>
                        <a:gd name="T1" fmla="*/ 0 h 28"/>
                        <a:gd name="T2" fmla="*/ 1 w 66"/>
                        <a:gd name="T3" fmla="*/ 0 h 28"/>
                        <a:gd name="T4" fmla="*/ 1 w 66"/>
                        <a:gd name="T5" fmla="*/ 0 h 28"/>
                        <a:gd name="T6" fmla="*/ 1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3" y="0"/>
                          </a:lnTo>
                          <a:lnTo>
                            <a:pt x="55"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56" name="Group 2430"/>
                  <p:cNvGrpSpPr>
                    <a:grpSpLocks/>
                  </p:cNvGrpSpPr>
                  <p:nvPr/>
                </p:nvGrpSpPr>
                <p:grpSpPr bwMode="auto">
                  <a:xfrm>
                    <a:off x="1014" y="3645"/>
                    <a:ext cx="44" cy="23"/>
                    <a:chOff x="1014" y="3645"/>
                    <a:chExt cx="44" cy="23"/>
                  </a:xfrm>
                </p:grpSpPr>
                <p:sp>
                  <p:nvSpPr>
                    <p:cNvPr id="1165" name="Freeform 2431"/>
                    <p:cNvSpPr>
                      <a:spLocks/>
                    </p:cNvSpPr>
                    <p:nvPr/>
                  </p:nvSpPr>
                  <p:spPr bwMode="auto">
                    <a:xfrm>
                      <a:off x="1014" y="3645"/>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4"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66" name="Freeform 2432"/>
                    <p:cNvSpPr>
                      <a:spLocks/>
                    </p:cNvSpPr>
                    <p:nvPr/>
                  </p:nvSpPr>
                  <p:spPr bwMode="auto">
                    <a:xfrm>
                      <a:off x="1021" y="3646"/>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41"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67" name="Freeform 2433"/>
                    <p:cNvSpPr>
                      <a:spLocks/>
                    </p:cNvSpPr>
                    <p:nvPr/>
                  </p:nvSpPr>
                  <p:spPr bwMode="auto">
                    <a:xfrm>
                      <a:off x="1026" y="3658"/>
                      <a:ext cx="32" cy="10"/>
                    </a:xfrm>
                    <a:custGeom>
                      <a:avLst/>
                      <a:gdLst>
                        <a:gd name="T0" fmla="*/ 0 w 65"/>
                        <a:gd name="T1" fmla="*/ 0 h 30"/>
                        <a:gd name="T2" fmla="*/ 0 w 65"/>
                        <a:gd name="T3" fmla="*/ 0 h 30"/>
                        <a:gd name="T4" fmla="*/ 0 w 65"/>
                        <a:gd name="T5" fmla="*/ 0 h 30"/>
                        <a:gd name="T6" fmla="*/ 0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2"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57" name="Group 2434"/>
                  <p:cNvGrpSpPr>
                    <a:grpSpLocks/>
                  </p:cNvGrpSpPr>
                  <p:nvPr/>
                </p:nvGrpSpPr>
                <p:grpSpPr bwMode="auto">
                  <a:xfrm>
                    <a:off x="1027" y="3659"/>
                    <a:ext cx="45" cy="23"/>
                    <a:chOff x="1027" y="3659"/>
                    <a:chExt cx="45" cy="23"/>
                  </a:xfrm>
                </p:grpSpPr>
                <p:sp>
                  <p:nvSpPr>
                    <p:cNvPr id="1162" name="Freeform 2435"/>
                    <p:cNvSpPr>
                      <a:spLocks/>
                    </p:cNvSpPr>
                    <p:nvPr/>
                  </p:nvSpPr>
                  <p:spPr bwMode="auto">
                    <a:xfrm>
                      <a:off x="1027" y="3659"/>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2" y="70"/>
                          </a:moveTo>
                          <a:lnTo>
                            <a:pt x="0" y="34"/>
                          </a:lnTo>
                          <a:lnTo>
                            <a:pt x="12" y="0"/>
                          </a:lnTo>
                          <a:lnTo>
                            <a:pt x="39" y="34"/>
                          </a:lnTo>
                          <a:lnTo>
                            <a:pt x="22"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63" name="Freeform 2436"/>
                    <p:cNvSpPr>
                      <a:spLocks/>
                    </p:cNvSpPr>
                    <p:nvPr/>
                  </p:nvSpPr>
                  <p:spPr bwMode="auto">
                    <a:xfrm>
                      <a:off x="1033" y="3659"/>
                      <a:ext cx="33"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64" name="Freeform 2437"/>
                    <p:cNvSpPr>
                      <a:spLocks/>
                    </p:cNvSpPr>
                    <p:nvPr/>
                  </p:nvSpPr>
                  <p:spPr bwMode="auto">
                    <a:xfrm>
                      <a:off x="1039" y="3671"/>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58" name="Group 2438"/>
                  <p:cNvGrpSpPr>
                    <a:grpSpLocks/>
                  </p:cNvGrpSpPr>
                  <p:nvPr/>
                </p:nvGrpSpPr>
                <p:grpSpPr bwMode="auto">
                  <a:xfrm>
                    <a:off x="1040" y="3672"/>
                    <a:ext cx="45" cy="23"/>
                    <a:chOff x="1040" y="3672"/>
                    <a:chExt cx="45" cy="23"/>
                  </a:xfrm>
                </p:grpSpPr>
                <p:sp>
                  <p:nvSpPr>
                    <p:cNvPr id="1159" name="Freeform 2439"/>
                    <p:cNvSpPr>
                      <a:spLocks/>
                    </p:cNvSpPr>
                    <p:nvPr/>
                  </p:nvSpPr>
                  <p:spPr bwMode="auto">
                    <a:xfrm>
                      <a:off x="1040" y="3672"/>
                      <a:ext cx="20" cy="23"/>
                    </a:xfrm>
                    <a:custGeom>
                      <a:avLst/>
                      <a:gdLst>
                        <a:gd name="T0" fmla="*/ 0 w 41"/>
                        <a:gd name="T1" fmla="*/ 0 h 70"/>
                        <a:gd name="T2" fmla="*/ 0 w 41"/>
                        <a:gd name="T3" fmla="*/ 0 h 70"/>
                        <a:gd name="T4" fmla="*/ 0 w 41"/>
                        <a:gd name="T5" fmla="*/ 0 h 70"/>
                        <a:gd name="T6" fmla="*/ 0 w 41"/>
                        <a:gd name="T7" fmla="*/ 0 h 70"/>
                        <a:gd name="T8" fmla="*/ 0 w 41"/>
                        <a:gd name="T9" fmla="*/ 0 h 70"/>
                        <a:gd name="T10" fmla="*/ 0 60000 65536"/>
                        <a:gd name="T11" fmla="*/ 0 60000 65536"/>
                        <a:gd name="T12" fmla="*/ 0 60000 65536"/>
                        <a:gd name="T13" fmla="*/ 0 60000 65536"/>
                        <a:gd name="T14" fmla="*/ 0 60000 65536"/>
                        <a:gd name="T15" fmla="*/ 0 w 41"/>
                        <a:gd name="T16" fmla="*/ 0 h 70"/>
                        <a:gd name="T17" fmla="*/ 41 w 41"/>
                        <a:gd name="T18" fmla="*/ 70 h 70"/>
                      </a:gdLst>
                      <a:ahLst/>
                      <a:cxnLst>
                        <a:cxn ang="T10">
                          <a:pos x="T0" y="T1"/>
                        </a:cxn>
                        <a:cxn ang="T11">
                          <a:pos x="T2" y="T3"/>
                        </a:cxn>
                        <a:cxn ang="T12">
                          <a:pos x="T4" y="T5"/>
                        </a:cxn>
                        <a:cxn ang="T13">
                          <a:pos x="T6" y="T7"/>
                        </a:cxn>
                        <a:cxn ang="T14">
                          <a:pos x="T8" y="T9"/>
                        </a:cxn>
                      </a:cxnLst>
                      <a:rect l="T15" t="T16" r="T17" b="T18"/>
                      <a:pathLst>
                        <a:path w="41" h="70">
                          <a:moveTo>
                            <a:pt x="24" y="70"/>
                          </a:moveTo>
                          <a:lnTo>
                            <a:pt x="0" y="35"/>
                          </a:lnTo>
                          <a:lnTo>
                            <a:pt x="13" y="0"/>
                          </a:lnTo>
                          <a:lnTo>
                            <a:pt x="41" y="35"/>
                          </a:lnTo>
                          <a:lnTo>
                            <a:pt x="24"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60" name="Freeform 2440"/>
                    <p:cNvSpPr>
                      <a:spLocks/>
                    </p:cNvSpPr>
                    <p:nvPr/>
                  </p:nvSpPr>
                  <p:spPr bwMode="auto">
                    <a:xfrm>
                      <a:off x="1047" y="3672"/>
                      <a:ext cx="32" cy="12"/>
                    </a:xfrm>
                    <a:custGeom>
                      <a:avLst/>
                      <a:gdLst>
                        <a:gd name="T0" fmla="*/ 0 w 65"/>
                        <a:gd name="T1" fmla="*/ 0 h 34"/>
                        <a:gd name="T2" fmla="*/ 0 w 65"/>
                        <a:gd name="T3" fmla="*/ 0 h 34"/>
                        <a:gd name="T4" fmla="*/ 0 w 65"/>
                        <a:gd name="T5" fmla="*/ 0 h 34"/>
                        <a:gd name="T6" fmla="*/ 0 w 65"/>
                        <a:gd name="T7" fmla="*/ 0 h 34"/>
                        <a:gd name="T8" fmla="*/ 0 w 65"/>
                        <a:gd name="T9" fmla="*/ 0 h 34"/>
                        <a:gd name="T10" fmla="*/ 0 60000 65536"/>
                        <a:gd name="T11" fmla="*/ 0 60000 65536"/>
                        <a:gd name="T12" fmla="*/ 0 60000 65536"/>
                        <a:gd name="T13" fmla="*/ 0 60000 65536"/>
                        <a:gd name="T14" fmla="*/ 0 60000 65536"/>
                        <a:gd name="T15" fmla="*/ 0 w 65"/>
                        <a:gd name="T16" fmla="*/ 0 h 34"/>
                        <a:gd name="T17" fmla="*/ 65 w 65"/>
                        <a:gd name="T18" fmla="*/ 34 h 34"/>
                      </a:gdLst>
                      <a:ahLst/>
                      <a:cxnLst>
                        <a:cxn ang="T10">
                          <a:pos x="T0" y="T1"/>
                        </a:cxn>
                        <a:cxn ang="T11">
                          <a:pos x="T2" y="T3"/>
                        </a:cxn>
                        <a:cxn ang="T12">
                          <a:pos x="T4" y="T5"/>
                        </a:cxn>
                        <a:cxn ang="T13">
                          <a:pos x="T6" y="T7"/>
                        </a:cxn>
                        <a:cxn ang="T14">
                          <a:pos x="T8" y="T9"/>
                        </a:cxn>
                      </a:cxnLst>
                      <a:rect l="T15" t="T16" r="T17" b="T18"/>
                      <a:pathLst>
                        <a:path w="65" h="34">
                          <a:moveTo>
                            <a:pt x="0" y="0"/>
                          </a:moveTo>
                          <a:lnTo>
                            <a:pt x="41" y="0"/>
                          </a:lnTo>
                          <a:lnTo>
                            <a:pt x="65" y="34"/>
                          </a:lnTo>
                          <a:lnTo>
                            <a:pt x="2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61" name="Freeform 2441"/>
                    <p:cNvSpPr>
                      <a:spLocks/>
                    </p:cNvSpPr>
                    <p:nvPr/>
                  </p:nvSpPr>
                  <p:spPr bwMode="auto">
                    <a:xfrm>
                      <a:off x="1053" y="3685"/>
                      <a:ext cx="32" cy="9"/>
                    </a:xfrm>
                    <a:custGeom>
                      <a:avLst/>
                      <a:gdLst>
                        <a:gd name="T0" fmla="*/ 0 w 66"/>
                        <a:gd name="T1" fmla="*/ 0 h 28"/>
                        <a:gd name="T2" fmla="*/ 0 w 66"/>
                        <a:gd name="T3" fmla="*/ 0 h 28"/>
                        <a:gd name="T4" fmla="*/ 0 w 66"/>
                        <a:gd name="T5" fmla="*/ 0 h 28"/>
                        <a:gd name="T6" fmla="*/ 0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2" y="0"/>
                          </a:lnTo>
                          <a:lnTo>
                            <a:pt x="54"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73" name="Group 2442"/>
                <p:cNvGrpSpPr>
                  <a:grpSpLocks/>
                </p:cNvGrpSpPr>
                <p:nvPr/>
              </p:nvGrpSpPr>
              <p:grpSpPr bwMode="auto">
                <a:xfrm>
                  <a:off x="1054" y="3685"/>
                  <a:ext cx="45" cy="23"/>
                  <a:chOff x="1054" y="3685"/>
                  <a:chExt cx="45" cy="23"/>
                </a:xfrm>
              </p:grpSpPr>
              <p:sp>
                <p:nvSpPr>
                  <p:cNvPr id="1152" name="Freeform 2443"/>
                  <p:cNvSpPr>
                    <a:spLocks/>
                  </p:cNvSpPr>
                  <p:nvPr/>
                </p:nvSpPr>
                <p:spPr bwMode="auto">
                  <a:xfrm>
                    <a:off x="1054" y="3685"/>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3" y="70"/>
                        </a:moveTo>
                        <a:lnTo>
                          <a:pt x="0" y="34"/>
                        </a:lnTo>
                        <a:lnTo>
                          <a:pt x="13" y="0"/>
                        </a:lnTo>
                        <a:lnTo>
                          <a:pt x="39" y="34"/>
                        </a:lnTo>
                        <a:lnTo>
                          <a:pt x="23"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53" name="Freeform 2444"/>
                  <p:cNvSpPr>
                    <a:spLocks/>
                  </p:cNvSpPr>
                  <p:nvPr/>
                </p:nvSpPr>
                <p:spPr bwMode="auto">
                  <a:xfrm>
                    <a:off x="1061" y="3685"/>
                    <a:ext cx="32" cy="12"/>
                  </a:xfrm>
                  <a:custGeom>
                    <a:avLst/>
                    <a:gdLst>
                      <a:gd name="T0" fmla="*/ 0 w 63"/>
                      <a:gd name="T1" fmla="*/ 0 h 35"/>
                      <a:gd name="T2" fmla="*/ 1 w 63"/>
                      <a:gd name="T3" fmla="*/ 0 h 35"/>
                      <a:gd name="T4" fmla="*/ 1 w 63"/>
                      <a:gd name="T5" fmla="*/ 0 h 35"/>
                      <a:gd name="T6" fmla="*/ 1 w 63"/>
                      <a:gd name="T7" fmla="*/ 0 h 35"/>
                      <a:gd name="T8" fmla="*/ 0 w 63"/>
                      <a:gd name="T9" fmla="*/ 0 h 35"/>
                      <a:gd name="T10" fmla="*/ 0 60000 65536"/>
                      <a:gd name="T11" fmla="*/ 0 60000 65536"/>
                      <a:gd name="T12" fmla="*/ 0 60000 65536"/>
                      <a:gd name="T13" fmla="*/ 0 60000 65536"/>
                      <a:gd name="T14" fmla="*/ 0 60000 65536"/>
                      <a:gd name="T15" fmla="*/ 0 w 63"/>
                      <a:gd name="T16" fmla="*/ 0 h 35"/>
                      <a:gd name="T17" fmla="*/ 63 w 63"/>
                      <a:gd name="T18" fmla="*/ 35 h 35"/>
                    </a:gdLst>
                    <a:ahLst/>
                    <a:cxnLst>
                      <a:cxn ang="T10">
                        <a:pos x="T0" y="T1"/>
                      </a:cxn>
                      <a:cxn ang="T11">
                        <a:pos x="T2" y="T3"/>
                      </a:cxn>
                      <a:cxn ang="T12">
                        <a:pos x="T4" y="T5"/>
                      </a:cxn>
                      <a:cxn ang="T13">
                        <a:pos x="T6" y="T7"/>
                      </a:cxn>
                      <a:cxn ang="T14">
                        <a:pos x="T8" y="T9"/>
                      </a:cxn>
                    </a:cxnLst>
                    <a:rect l="T15" t="T16" r="T17" b="T18"/>
                    <a:pathLst>
                      <a:path w="63" h="35">
                        <a:moveTo>
                          <a:pt x="0" y="0"/>
                        </a:moveTo>
                        <a:lnTo>
                          <a:pt x="41" y="0"/>
                        </a:lnTo>
                        <a:lnTo>
                          <a:pt x="63"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54" name="Freeform 2445"/>
                  <p:cNvSpPr>
                    <a:spLocks/>
                  </p:cNvSpPr>
                  <p:nvPr/>
                </p:nvSpPr>
                <p:spPr bwMode="auto">
                  <a:xfrm>
                    <a:off x="1066" y="3697"/>
                    <a:ext cx="33" cy="10"/>
                  </a:xfrm>
                  <a:custGeom>
                    <a:avLst/>
                    <a:gdLst>
                      <a:gd name="T0" fmla="*/ 0 w 64"/>
                      <a:gd name="T1" fmla="*/ 0 h 30"/>
                      <a:gd name="T2" fmla="*/ 1 w 64"/>
                      <a:gd name="T3" fmla="*/ 0 h 30"/>
                      <a:gd name="T4" fmla="*/ 1 w 64"/>
                      <a:gd name="T5" fmla="*/ 0 h 30"/>
                      <a:gd name="T6" fmla="*/ 1 w 64"/>
                      <a:gd name="T7" fmla="*/ 0 h 30"/>
                      <a:gd name="T8" fmla="*/ 0 w 64"/>
                      <a:gd name="T9" fmla="*/ 0 h 30"/>
                      <a:gd name="T10" fmla="*/ 0 60000 65536"/>
                      <a:gd name="T11" fmla="*/ 0 60000 65536"/>
                      <a:gd name="T12" fmla="*/ 0 60000 65536"/>
                      <a:gd name="T13" fmla="*/ 0 60000 65536"/>
                      <a:gd name="T14" fmla="*/ 0 60000 65536"/>
                      <a:gd name="T15" fmla="*/ 0 w 64"/>
                      <a:gd name="T16" fmla="*/ 0 h 30"/>
                      <a:gd name="T17" fmla="*/ 64 w 64"/>
                      <a:gd name="T18" fmla="*/ 30 h 30"/>
                    </a:gdLst>
                    <a:ahLst/>
                    <a:cxnLst>
                      <a:cxn ang="T10">
                        <a:pos x="T0" y="T1"/>
                      </a:cxn>
                      <a:cxn ang="T11">
                        <a:pos x="T2" y="T3"/>
                      </a:cxn>
                      <a:cxn ang="T12">
                        <a:pos x="T4" y="T5"/>
                      </a:cxn>
                      <a:cxn ang="T13">
                        <a:pos x="T6" y="T7"/>
                      </a:cxn>
                      <a:cxn ang="T14">
                        <a:pos x="T8" y="T9"/>
                      </a:cxn>
                    </a:cxnLst>
                    <a:rect l="T15" t="T16" r="T17" b="T18"/>
                    <a:pathLst>
                      <a:path w="64" h="30">
                        <a:moveTo>
                          <a:pt x="0" y="30"/>
                        </a:moveTo>
                        <a:lnTo>
                          <a:pt x="13" y="0"/>
                        </a:lnTo>
                        <a:lnTo>
                          <a:pt x="52" y="0"/>
                        </a:lnTo>
                        <a:lnTo>
                          <a:pt x="64"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4" name="Group 2446"/>
                <p:cNvGrpSpPr>
                  <a:grpSpLocks/>
                </p:cNvGrpSpPr>
                <p:nvPr/>
              </p:nvGrpSpPr>
              <p:grpSpPr bwMode="auto">
                <a:xfrm>
                  <a:off x="1067" y="3698"/>
                  <a:ext cx="45" cy="23"/>
                  <a:chOff x="1067" y="3698"/>
                  <a:chExt cx="45" cy="23"/>
                </a:xfrm>
              </p:grpSpPr>
              <p:sp>
                <p:nvSpPr>
                  <p:cNvPr id="1149" name="Freeform 2447"/>
                  <p:cNvSpPr>
                    <a:spLocks/>
                  </p:cNvSpPr>
                  <p:nvPr/>
                </p:nvSpPr>
                <p:spPr bwMode="auto">
                  <a:xfrm>
                    <a:off x="1067" y="3698"/>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2" y="69"/>
                        </a:moveTo>
                        <a:lnTo>
                          <a:pt x="0" y="34"/>
                        </a:lnTo>
                        <a:lnTo>
                          <a:pt x="12" y="0"/>
                        </a:lnTo>
                        <a:lnTo>
                          <a:pt x="39"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50" name="Freeform 2448"/>
                  <p:cNvSpPr>
                    <a:spLocks/>
                  </p:cNvSpPr>
                  <p:nvPr/>
                </p:nvSpPr>
                <p:spPr bwMode="auto">
                  <a:xfrm>
                    <a:off x="1074" y="3699"/>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51" name="Freeform 2449"/>
                  <p:cNvSpPr>
                    <a:spLocks/>
                  </p:cNvSpPr>
                  <p:nvPr/>
                </p:nvSpPr>
                <p:spPr bwMode="auto">
                  <a:xfrm>
                    <a:off x="1079" y="3711"/>
                    <a:ext cx="33" cy="10"/>
                  </a:xfrm>
                  <a:custGeom>
                    <a:avLst/>
                    <a:gdLst>
                      <a:gd name="T0" fmla="*/ 0 w 65"/>
                      <a:gd name="T1" fmla="*/ 0 h 30"/>
                      <a:gd name="T2" fmla="*/ 1 w 65"/>
                      <a:gd name="T3" fmla="*/ 0 h 30"/>
                      <a:gd name="T4" fmla="*/ 1 w 65"/>
                      <a:gd name="T5" fmla="*/ 0 h 30"/>
                      <a:gd name="T6" fmla="*/ 1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1"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5" name="Group 2450"/>
                <p:cNvGrpSpPr>
                  <a:grpSpLocks/>
                </p:cNvGrpSpPr>
                <p:nvPr/>
              </p:nvGrpSpPr>
              <p:grpSpPr bwMode="auto">
                <a:xfrm>
                  <a:off x="1079" y="3712"/>
                  <a:ext cx="44" cy="23"/>
                  <a:chOff x="1079" y="3712"/>
                  <a:chExt cx="44" cy="23"/>
                </a:xfrm>
              </p:grpSpPr>
              <p:sp>
                <p:nvSpPr>
                  <p:cNvPr id="1146" name="Freeform 2451"/>
                  <p:cNvSpPr>
                    <a:spLocks/>
                  </p:cNvSpPr>
                  <p:nvPr/>
                </p:nvSpPr>
                <p:spPr bwMode="auto">
                  <a:xfrm>
                    <a:off x="1079" y="3712"/>
                    <a:ext cx="21" cy="23"/>
                  </a:xfrm>
                  <a:custGeom>
                    <a:avLst/>
                    <a:gdLst>
                      <a:gd name="T0" fmla="*/ 1 w 41"/>
                      <a:gd name="T1" fmla="*/ 0 h 68"/>
                      <a:gd name="T2" fmla="*/ 0 w 41"/>
                      <a:gd name="T3" fmla="*/ 0 h 68"/>
                      <a:gd name="T4" fmla="*/ 1 w 41"/>
                      <a:gd name="T5" fmla="*/ 0 h 68"/>
                      <a:gd name="T6" fmla="*/ 1 w 41"/>
                      <a:gd name="T7" fmla="*/ 0 h 68"/>
                      <a:gd name="T8" fmla="*/ 1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3"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47" name="Freeform 2452"/>
                  <p:cNvSpPr>
                    <a:spLocks/>
                  </p:cNvSpPr>
                  <p:nvPr/>
                </p:nvSpPr>
                <p:spPr bwMode="auto">
                  <a:xfrm>
                    <a:off x="1087" y="3713"/>
                    <a:ext cx="31" cy="10"/>
                  </a:xfrm>
                  <a:custGeom>
                    <a:avLst/>
                    <a:gdLst>
                      <a:gd name="T0" fmla="*/ 0 w 63"/>
                      <a:gd name="T1" fmla="*/ 0 h 32"/>
                      <a:gd name="T2" fmla="*/ 0 w 63"/>
                      <a:gd name="T3" fmla="*/ 0 h 32"/>
                      <a:gd name="T4" fmla="*/ 0 w 63"/>
                      <a:gd name="T5" fmla="*/ 0 h 32"/>
                      <a:gd name="T6" fmla="*/ 0 w 63"/>
                      <a:gd name="T7" fmla="*/ 0 h 32"/>
                      <a:gd name="T8" fmla="*/ 0 w 63"/>
                      <a:gd name="T9" fmla="*/ 0 h 32"/>
                      <a:gd name="T10" fmla="*/ 0 60000 65536"/>
                      <a:gd name="T11" fmla="*/ 0 60000 65536"/>
                      <a:gd name="T12" fmla="*/ 0 60000 65536"/>
                      <a:gd name="T13" fmla="*/ 0 60000 65536"/>
                      <a:gd name="T14" fmla="*/ 0 60000 65536"/>
                      <a:gd name="T15" fmla="*/ 0 w 63"/>
                      <a:gd name="T16" fmla="*/ 0 h 32"/>
                      <a:gd name="T17" fmla="*/ 63 w 63"/>
                      <a:gd name="T18" fmla="*/ 32 h 32"/>
                    </a:gdLst>
                    <a:ahLst/>
                    <a:cxnLst>
                      <a:cxn ang="T10">
                        <a:pos x="T0" y="T1"/>
                      </a:cxn>
                      <a:cxn ang="T11">
                        <a:pos x="T2" y="T3"/>
                      </a:cxn>
                      <a:cxn ang="T12">
                        <a:pos x="T4" y="T5"/>
                      </a:cxn>
                      <a:cxn ang="T13">
                        <a:pos x="T6" y="T7"/>
                      </a:cxn>
                      <a:cxn ang="T14">
                        <a:pos x="T8" y="T9"/>
                      </a:cxn>
                    </a:cxnLst>
                    <a:rect l="T15" t="T16" r="T17" b="T18"/>
                    <a:pathLst>
                      <a:path w="63" h="32">
                        <a:moveTo>
                          <a:pt x="0" y="0"/>
                        </a:moveTo>
                        <a:lnTo>
                          <a:pt x="40" y="0"/>
                        </a:lnTo>
                        <a:lnTo>
                          <a:pt x="63" y="32"/>
                        </a:lnTo>
                        <a:lnTo>
                          <a:pt x="23"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48" name="Freeform 2453"/>
                  <p:cNvSpPr>
                    <a:spLocks/>
                  </p:cNvSpPr>
                  <p:nvPr/>
                </p:nvSpPr>
                <p:spPr bwMode="auto">
                  <a:xfrm>
                    <a:off x="1092" y="3724"/>
                    <a:ext cx="31" cy="11"/>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2"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6" name="Group 2454"/>
                <p:cNvGrpSpPr>
                  <a:grpSpLocks/>
                </p:cNvGrpSpPr>
                <p:nvPr/>
              </p:nvGrpSpPr>
              <p:grpSpPr bwMode="auto">
                <a:xfrm>
                  <a:off x="1093" y="3725"/>
                  <a:ext cx="45" cy="23"/>
                  <a:chOff x="1093" y="3725"/>
                  <a:chExt cx="45" cy="23"/>
                </a:xfrm>
              </p:grpSpPr>
              <p:sp>
                <p:nvSpPr>
                  <p:cNvPr id="1143" name="Freeform 2455"/>
                  <p:cNvSpPr>
                    <a:spLocks/>
                  </p:cNvSpPr>
                  <p:nvPr/>
                </p:nvSpPr>
                <p:spPr bwMode="auto">
                  <a:xfrm>
                    <a:off x="1093" y="3725"/>
                    <a:ext cx="20" cy="23"/>
                  </a:xfrm>
                  <a:custGeom>
                    <a:avLst/>
                    <a:gdLst>
                      <a:gd name="T0" fmla="*/ 1 w 40"/>
                      <a:gd name="T1" fmla="*/ 0 h 68"/>
                      <a:gd name="T2" fmla="*/ 0 w 40"/>
                      <a:gd name="T3" fmla="*/ 0 h 68"/>
                      <a:gd name="T4" fmla="*/ 1 w 40"/>
                      <a:gd name="T5" fmla="*/ 0 h 68"/>
                      <a:gd name="T6" fmla="*/ 1 w 40"/>
                      <a:gd name="T7" fmla="*/ 0 h 68"/>
                      <a:gd name="T8" fmla="*/ 1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2"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44" name="Freeform 2456"/>
                  <p:cNvSpPr>
                    <a:spLocks/>
                  </p:cNvSpPr>
                  <p:nvPr/>
                </p:nvSpPr>
                <p:spPr bwMode="auto">
                  <a:xfrm>
                    <a:off x="1100" y="3726"/>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45" name="Freeform 2457"/>
                  <p:cNvSpPr>
                    <a:spLocks/>
                  </p:cNvSpPr>
                  <p:nvPr/>
                </p:nvSpPr>
                <p:spPr bwMode="auto">
                  <a:xfrm>
                    <a:off x="1106" y="3738"/>
                    <a:ext cx="32" cy="9"/>
                  </a:xfrm>
                  <a:custGeom>
                    <a:avLst/>
                    <a:gdLst>
                      <a:gd name="T0" fmla="*/ 0 w 65"/>
                      <a:gd name="T1" fmla="*/ 0 h 28"/>
                      <a:gd name="T2" fmla="*/ 0 w 65"/>
                      <a:gd name="T3" fmla="*/ 0 h 28"/>
                      <a:gd name="T4" fmla="*/ 0 w 65"/>
                      <a:gd name="T5" fmla="*/ 0 h 28"/>
                      <a:gd name="T6" fmla="*/ 0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2" y="0"/>
                        </a:lnTo>
                        <a:lnTo>
                          <a:pt x="53"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7" name="Group 2458"/>
                <p:cNvGrpSpPr>
                  <a:grpSpLocks/>
                </p:cNvGrpSpPr>
                <p:nvPr/>
              </p:nvGrpSpPr>
              <p:grpSpPr bwMode="auto">
                <a:xfrm>
                  <a:off x="1108" y="3739"/>
                  <a:ext cx="44" cy="23"/>
                  <a:chOff x="1108" y="3739"/>
                  <a:chExt cx="44" cy="23"/>
                </a:xfrm>
              </p:grpSpPr>
              <p:sp>
                <p:nvSpPr>
                  <p:cNvPr id="1140" name="Freeform 2459"/>
                  <p:cNvSpPr>
                    <a:spLocks/>
                  </p:cNvSpPr>
                  <p:nvPr/>
                </p:nvSpPr>
                <p:spPr bwMode="auto">
                  <a:xfrm>
                    <a:off x="1108" y="3739"/>
                    <a:ext cx="19" cy="23"/>
                  </a:xfrm>
                  <a:custGeom>
                    <a:avLst/>
                    <a:gdLst>
                      <a:gd name="T0" fmla="*/ 0 w 40"/>
                      <a:gd name="T1" fmla="*/ 0 h 69"/>
                      <a:gd name="T2" fmla="*/ 0 w 40"/>
                      <a:gd name="T3" fmla="*/ 0 h 69"/>
                      <a:gd name="T4" fmla="*/ 0 w 40"/>
                      <a:gd name="T5" fmla="*/ 0 h 69"/>
                      <a:gd name="T6" fmla="*/ 0 w 40"/>
                      <a:gd name="T7" fmla="*/ 0 h 69"/>
                      <a:gd name="T8" fmla="*/ 0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4"/>
                        </a:lnTo>
                        <a:lnTo>
                          <a:pt x="12" y="0"/>
                        </a:lnTo>
                        <a:lnTo>
                          <a:pt x="40" y="34"/>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41" name="Freeform 2460"/>
                  <p:cNvSpPr>
                    <a:spLocks/>
                  </p:cNvSpPr>
                  <p:nvPr/>
                </p:nvSpPr>
                <p:spPr bwMode="auto">
                  <a:xfrm>
                    <a:off x="1114" y="3740"/>
                    <a:ext cx="32" cy="11"/>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2" y="0"/>
                        </a:lnTo>
                        <a:lnTo>
                          <a:pt x="64"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42" name="Freeform 2461"/>
                  <p:cNvSpPr>
                    <a:spLocks/>
                  </p:cNvSpPr>
                  <p:nvPr/>
                </p:nvSpPr>
                <p:spPr bwMode="auto">
                  <a:xfrm>
                    <a:off x="1120" y="3752"/>
                    <a:ext cx="32" cy="10"/>
                  </a:xfrm>
                  <a:custGeom>
                    <a:avLst/>
                    <a:gdLst>
                      <a:gd name="T0" fmla="*/ 0 w 66"/>
                      <a:gd name="T1" fmla="*/ 0 h 30"/>
                      <a:gd name="T2" fmla="*/ 0 w 66"/>
                      <a:gd name="T3" fmla="*/ 0 h 30"/>
                      <a:gd name="T4" fmla="*/ 0 w 66"/>
                      <a:gd name="T5" fmla="*/ 0 h 30"/>
                      <a:gd name="T6" fmla="*/ 0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5"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8" name="Group 2462"/>
                <p:cNvGrpSpPr>
                  <a:grpSpLocks/>
                </p:cNvGrpSpPr>
                <p:nvPr/>
              </p:nvGrpSpPr>
              <p:grpSpPr bwMode="auto">
                <a:xfrm>
                  <a:off x="1121" y="3753"/>
                  <a:ext cx="45" cy="23"/>
                  <a:chOff x="1121" y="3753"/>
                  <a:chExt cx="45" cy="23"/>
                </a:xfrm>
              </p:grpSpPr>
              <p:sp>
                <p:nvSpPr>
                  <p:cNvPr id="1137" name="Freeform 2463"/>
                  <p:cNvSpPr>
                    <a:spLocks/>
                  </p:cNvSpPr>
                  <p:nvPr/>
                </p:nvSpPr>
                <p:spPr bwMode="auto">
                  <a:xfrm>
                    <a:off x="1121" y="3753"/>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5"/>
                        </a:lnTo>
                        <a:lnTo>
                          <a:pt x="12" y="0"/>
                        </a:lnTo>
                        <a:lnTo>
                          <a:pt x="39" y="35"/>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38" name="Freeform 2464"/>
                  <p:cNvSpPr>
                    <a:spLocks/>
                  </p:cNvSpPr>
                  <p:nvPr/>
                </p:nvSpPr>
                <p:spPr bwMode="auto">
                  <a:xfrm>
                    <a:off x="1127" y="3753"/>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39" y="0"/>
                        </a:lnTo>
                        <a:lnTo>
                          <a:pt x="64"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39" name="Freeform 2465"/>
                  <p:cNvSpPr>
                    <a:spLocks/>
                  </p:cNvSpPr>
                  <p:nvPr/>
                </p:nvSpPr>
                <p:spPr bwMode="auto">
                  <a:xfrm>
                    <a:off x="1133" y="3766"/>
                    <a:ext cx="33" cy="9"/>
                  </a:xfrm>
                  <a:custGeom>
                    <a:avLst/>
                    <a:gdLst>
                      <a:gd name="T0" fmla="*/ 0 w 66"/>
                      <a:gd name="T1" fmla="*/ 0 h 29"/>
                      <a:gd name="T2" fmla="*/ 1 w 66"/>
                      <a:gd name="T3" fmla="*/ 0 h 29"/>
                      <a:gd name="T4" fmla="*/ 1 w 66"/>
                      <a:gd name="T5" fmla="*/ 0 h 29"/>
                      <a:gd name="T6" fmla="*/ 1 w 66"/>
                      <a:gd name="T7" fmla="*/ 0 h 29"/>
                      <a:gd name="T8" fmla="*/ 0 w 66"/>
                      <a:gd name="T9" fmla="*/ 0 h 29"/>
                      <a:gd name="T10" fmla="*/ 0 60000 65536"/>
                      <a:gd name="T11" fmla="*/ 0 60000 65536"/>
                      <a:gd name="T12" fmla="*/ 0 60000 65536"/>
                      <a:gd name="T13" fmla="*/ 0 60000 65536"/>
                      <a:gd name="T14" fmla="*/ 0 60000 65536"/>
                      <a:gd name="T15" fmla="*/ 0 w 66"/>
                      <a:gd name="T16" fmla="*/ 0 h 29"/>
                      <a:gd name="T17" fmla="*/ 66 w 66"/>
                      <a:gd name="T18" fmla="*/ 29 h 29"/>
                    </a:gdLst>
                    <a:ahLst/>
                    <a:cxnLst>
                      <a:cxn ang="T10">
                        <a:pos x="T0" y="T1"/>
                      </a:cxn>
                      <a:cxn ang="T11">
                        <a:pos x="T2" y="T3"/>
                      </a:cxn>
                      <a:cxn ang="T12">
                        <a:pos x="T4" y="T5"/>
                      </a:cxn>
                      <a:cxn ang="T13">
                        <a:pos x="T6" y="T7"/>
                      </a:cxn>
                      <a:cxn ang="T14">
                        <a:pos x="T8" y="T9"/>
                      </a:cxn>
                    </a:cxnLst>
                    <a:rect l="T15" t="T16" r="T17" b="T18"/>
                    <a:pathLst>
                      <a:path w="66" h="29">
                        <a:moveTo>
                          <a:pt x="0" y="29"/>
                        </a:moveTo>
                        <a:lnTo>
                          <a:pt x="12" y="0"/>
                        </a:lnTo>
                        <a:lnTo>
                          <a:pt x="54" y="0"/>
                        </a:lnTo>
                        <a:lnTo>
                          <a:pt x="66"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9" name="Group 2466"/>
                <p:cNvGrpSpPr>
                  <a:grpSpLocks/>
                </p:cNvGrpSpPr>
                <p:nvPr/>
              </p:nvGrpSpPr>
              <p:grpSpPr bwMode="auto">
                <a:xfrm>
                  <a:off x="1133" y="3767"/>
                  <a:ext cx="44" cy="23"/>
                  <a:chOff x="1133" y="3767"/>
                  <a:chExt cx="44" cy="23"/>
                </a:xfrm>
              </p:grpSpPr>
              <p:sp>
                <p:nvSpPr>
                  <p:cNvPr id="1134" name="Freeform 2467"/>
                  <p:cNvSpPr>
                    <a:spLocks/>
                  </p:cNvSpPr>
                  <p:nvPr/>
                </p:nvSpPr>
                <p:spPr bwMode="auto">
                  <a:xfrm>
                    <a:off x="1133" y="3767"/>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3" y="69"/>
                        </a:moveTo>
                        <a:lnTo>
                          <a:pt x="0" y="33"/>
                        </a:lnTo>
                        <a:lnTo>
                          <a:pt x="12" y="0"/>
                        </a:lnTo>
                        <a:lnTo>
                          <a:pt x="39"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35" name="Freeform 2468"/>
                  <p:cNvSpPr>
                    <a:spLocks/>
                  </p:cNvSpPr>
                  <p:nvPr/>
                </p:nvSpPr>
                <p:spPr bwMode="auto">
                  <a:xfrm>
                    <a:off x="1140" y="3767"/>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3"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36" name="Freeform 2469"/>
                  <p:cNvSpPr>
                    <a:spLocks/>
                  </p:cNvSpPr>
                  <p:nvPr/>
                </p:nvSpPr>
                <p:spPr bwMode="auto">
                  <a:xfrm>
                    <a:off x="1146" y="3779"/>
                    <a:ext cx="31" cy="10"/>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1"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080" name="Freeform 2470"/>
                <p:cNvSpPr>
                  <a:spLocks/>
                </p:cNvSpPr>
                <p:nvPr/>
              </p:nvSpPr>
              <p:spPr bwMode="auto">
                <a:xfrm>
                  <a:off x="972" y="3556"/>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7"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1" name="Freeform 2471"/>
                <p:cNvSpPr>
                  <a:spLocks/>
                </p:cNvSpPr>
                <p:nvPr/>
              </p:nvSpPr>
              <p:spPr bwMode="auto">
                <a:xfrm>
                  <a:off x="993" y="3576"/>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2" name="Freeform 2472"/>
                <p:cNvSpPr>
                  <a:spLocks/>
                </p:cNvSpPr>
                <p:nvPr/>
              </p:nvSpPr>
              <p:spPr bwMode="auto">
                <a:xfrm>
                  <a:off x="1012" y="3594"/>
                  <a:ext cx="39" cy="12"/>
                </a:xfrm>
                <a:custGeom>
                  <a:avLst/>
                  <a:gdLst>
                    <a:gd name="T0" fmla="*/ 0 w 78"/>
                    <a:gd name="T1" fmla="*/ 0 h 36"/>
                    <a:gd name="T2" fmla="*/ 1 w 78"/>
                    <a:gd name="T3" fmla="*/ 0 h 36"/>
                    <a:gd name="T4" fmla="*/ 1 w 78"/>
                    <a:gd name="T5" fmla="*/ 0 h 36"/>
                    <a:gd name="T6" fmla="*/ 1 w 78"/>
                    <a:gd name="T7" fmla="*/ 0 h 36"/>
                    <a:gd name="T8" fmla="*/ 0 w 78"/>
                    <a:gd name="T9" fmla="*/ 0 h 36"/>
                    <a:gd name="T10" fmla="*/ 0 60000 65536"/>
                    <a:gd name="T11" fmla="*/ 0 60000 65536"/>
                    <a:gd name="T12" fmla="*/ 0 60000 65536"/>
                    <a:gd name="T13" fmla="*/ 0 60000 65536"/>
                    <a:gd name="T14" fmla="*/ 0 60000 65536"/>
                    <a:gd name="T15" fmla="*/ 0 w 78"/>
                    <a:gd name="T16" fmla="*/ 0 h 36"/>
                    <a:gd name="T17" fmla="*/ 78 w 78"/>
                    <a:gd name="T18" fmla="*/ 36 h 36"/>
                  </a:gdLst>
                  <a:ahLst/>
                  <a:cxnLst>
                    <a:cxn ang="T10">
                      <a:pos x="T0" y="T1"/>
                    </a:cxn>
                    <a:cxn ang="T11">
                      <a:pos x="T2" y="T3"/>
                    </a:cxn>
                    <a:cxn ang="T12">
                      <a:pos x="T4" y="T5"/>
                    </a:cxn>
                    <a:cxn ang="T13">
                      <a:pos x="T6" y="T7"/>
                    </a:cxn>
                    <a:cxn ang="T14">
                      <a:pos x="T8" y="T9"/>
                    </a:cxn>
                  </a:cxnLst>
                  <a:rect l="T15" t="T16" r="T17" b="T18"/>
                  <a:pathLst>
                    <a:path w="78" h="36">
                      <a:moveTo>
                        <a:pt x="0" y="0"/>
                      </a:moveTo>
                      <a:lnTo>
                        <a:pt x="27" y="36"/>
                      </a:lnTo>
                      <a:lnTo>
                        <a:pt x="78" y="36"/>
                      </a:lnTo>
                      <a:lnTo>
                        <a:pt x="49"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3" name="Freeform 2473"/>
                <p:cNvSpPr>
                  <a:spLocks/>
                </p:cNvSpPr>
                <p:nvPr/>
              </p:nvSpPr>
              <p:spPr bwMode="auto">
                <a:xfrm>
                  <a:off x="1032" y="3613"/>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4" name="Freeform 2474"/>
                <p:cNvSpPr>
                  <a:spLocks/>
                </p:cNvSpPr>
                <p:nvPr/>
              </p:nvSpPr>
              <p:spPr bwMode="auto">
                <a:xfrm>
                  <a:off x="1053" y="3632"/>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5" name="Freeform 2475"/>
                <p:cNvSpPr>
                  <a:spLocks/>
                </p:cNvSpPr>
                <p:nvPr/>
              </p:nvSpPr>
              <p:spPr bwMode="auto">
                <a:xfrm>
                  <a:off x="1074" y="3651"/>
                  <a:ext cx="40" cy="12"/>
                </a:xfrm>
                <a:custGeom>
                  <a:avLst/>
                  <a:gdLst>
                    <a:gd name="T0" fmla="*/ 0 w 79"/>
                    <a:gd name="T1" fmla="*/ 0 h 35"/>
                    <a:gd name="T2" fmla="*/ 1 w 79"/>
                    <a:gd name="T3" fmla="*/ 0 h 35"/>
                    <a:gd name="T4" fmla="*/ 1 w 79"/>
                    <a:gd name="T5" fmla="*/ 0 h 35"/>
                    <a:gd name="T6" fmla="*/ 1 w 79"/>
                    <a:gd name="T7" fmla="*/ 0 h 35"/>
                    <a:gd name="T8" fmla="*/ 0 w 79"/>
                    <a:gd name="T9" fmla="*/ 0 h 35"/>
                    <a:gd name="T10" fmla="*/ 0 60000 65536"/>
                    <a:gd name="T11" fmla="*/ 0 60000 65536"/>
                    <a:gd name="T12" fmla="*/ 0 60000 65536"/>
                    <a:gd name="T13" fmla="*/ 0 60000 65536"/>
                    <a:gd name="T14" fmla="*/ 0 60000 65536"/>
                    <a:gd name="T15" fmla="*/ 0 w 79"/>
                    <a:gd name="T16" fmla="*/ 0 h 35"/>
                    <a:gd name="T17" fmla="*/ 79 w 79"/>
                    <a:gd name="T18" fmla="*/ 35 h 35"/>
                  </a:gdLst>
                  <a:ahLst/>
                  <a:cxnLst>
                    <a:cxn ang="T10">
                      <a:pos x="T0" y="T1"/>
                    </a:cxn>
                    <a:cxn ang="T11">
                      <a:pos x="T2" y="T3"/>
                    </a:cxn>
                    <a:cxn ang="T12">
                      <a:pos x="T4" y="T5"/>
                    </a:cxn>
                    <a:cxn ang="T13">
                      <a:pos x="T6" y="T7"/>
                    </a:cxn>
                    <a:cxn ang="T14">
                      <a:pos x="T8" y="T9"/>
                    </a:cxn>
                  </a:cxnLst>
                  <a:rect l="T15" t="T16" r="T17" b="T18"/>
                  <a:pathLst>
                    <a:path w="79" h="35">
                      <a:moveTo>
                        <a:pt x="0" y="0"/>
                      </a:moveTo>
                      <a:lnTo>
                        <a:pt x="28" y="35"/>
                      </a:lnTo>
                      <a:lnTo>
                        <a:pt x="79" y="35"/>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6" name="Freeform 2476"/>
                <p:cNvSpPr>
                  <a:spLocks/>
                </p:cNvSpPr>
                <p:nvPr/>
              </p:nvSpPr>
              <p:spPr bwMode="auto">
                <a:xfrm>
                  <a:off x="1095" y="3669"/>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8"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7" name="Freeform 2477"/>
                <p:cNvSpPr>
                  <a:spLocks/>
                </p:cNvSpPr>
                <p:nvPr/>
              </p:nvSpPr>
              <p:spPr bwMode="auto">
                <a:xfrm>
                  <a:off x="1115" y="3688"/>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8" name="Freeform 2478"/>
                <p:cNvSpPr>
                  <a:spLocks/>
                </p:cNvSpPr>
                <p:nvPr/>
              </p:nvSpPr>
              <p:spPr bwMode="auto">
                <a:xfrm>
                  <a:off x="1134" y="3707"/>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9" name="Freeform 2479"/>
                <p:cNvSpPr>
                  <a:spLocks/>
                </p:cNvSpPr>
                <p:nvPr/>
              </p:nvSpPr>
              <p:spPr bwMode="auto">
                <a:xfrm>
                  <a:off x="1154" y="3726"/>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90" name="Freeform 2480"/>
                <p:cNvSpPr>
                  <a:spLocks/>
                </p:cNvSpPr>
                <p:nvPr/>
              </p:nvSpPr>
              <p:spPr bwMode="auto">
                <a:xfrm>
                  <a:off x="1175" y="3745"/>
                  <a:ext cx="40" cy="12"/>
                </a:xfrm>
                <a:custGeom>
                  <a:avLst/>
                  <a:gdLst>
                    <a:gd name="T0" fmla="*/ 0 w 81"/>
                    <a:gd name="T1" fmla="*/ 0 h 36"/>
                    <a:gd name="T2" fmla="*/ 0 w 81"/>
                    <a:gd name="T3" fmla="*/ 0 h 36"/>
                    <a:gd name="T4" fmla="*/ 0 w 81"/>
                    <a:gd name="T5" fmla="*/ 0 h 36"/>
                    <a:gd name="T6" fmla="*/ 0 w 81"/>
                    <a:gd name="T7" fmla="*/ 0 h 36"/>
                    <a:gd name="T8" fmla="*/ 0 w 81"/>
                    <a:gd name="T9" fmla="*/ 0 h 36"/>
                    <a:gd name="T10" fmla="*/ 0 60000 65536"/>
                    <a:gd name="T11" fmla="*/ 0 60000 65536"/>
                    <a:gd name="T12" fmla="*/ 0 60000 65536"/>
                    <a:gd name="T13" fmla="*/ 0 60000 65536"/>
                    <a:gd name="T14" fmla="*/ 0 60000 65536"/>
                    <a:gd name="T15" fmla="*/ 0 w 81"/>
                    <a:gd name="T16" fmla="*/ 0 h 36"/>
                    <a:gd name="T17" fmla="*/ 81 w 81"/>
                    <a:gd name="T18" fmla="*/ 36 h 36"/>
                  </a:gdLst>
                  <a:ahLst/>
                  <a:cxnLst>
                    <a:cxn ang="T10">
                      <a:pos x="T0" y="T1"/>
                    </a:cxn>
                    <a:cxn ang="T11">
                      <a:pos x="T2" y="T3"/>
                    </a:cxn>
                    <a:cxn ang="T12">
                      <a:pos x="T4" y="T5"/>
                    </a:cxn>
                    <a:cxn ang="T13">
                      <a:pos x="T6" y="T7"/>
                    </a:cxn>
                    <a:cxn ang="T14">
                      <a:pos x="T8" y="T9"/>
                    </a:cxn>
                  </a:cxnLst>
                  <a:rect l="T15" t="T16" r="T17" b="T18"/>
                  <a:pathLst>
                    <a:path w="81" h="36">
                      <a:moveTo>
                        <a:pt x="0" y="0"/>
                      </a:moveTo>
                      <a:lnTo>
                        <a:pt x="28" y="36"/>
                      </a:lnTo>
                      <a:lnTo>
                        <a:pt x="81" y="36"/>
                      </a:lnTo>
                      <a:lnTo>
                        <a:pt x="52"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091" name="Group 2481"/>
                <p:cNvGrpSpPr>
                  <a:grpSpLocks/>
                </p:cNvGrpSpPr>
                <p:nvPr/>
              </p:nvGrpSpPr>
              <p:grpSpPr bwMode="auto">
                <a:xfrm>
                  <a:off x="700" y="3535"/>
                  <a:ext cx="49" cy="24"/>
                  <a:chOff x="700" y="3535"/>
                  <a:chExt cx="49" cy="24"/>
                </a:xfrm>
              </p:grpSpPr>
              <p:sp>
                <p:nvSpPr>
                  <p:cNvPr id="1131" name="Freeform 2482"/>
                  <p:cNvSpPr>
                    <a:spLocks/>
                  </p:cNvSpPr>
                  <p:nvPr/>
                </p:nvSpPr>
                <p:spPr bwMode="auto">
                  <a:xfrm>
                    <a:off x="700" y="3535"/>
                    <a:ext cx="12" cy="24"/>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10"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32" name="Freeform 2483"/>
                  <p:cNvSpPr>
                    <a:spLocks/>
                  </p:cNvSpPr>
                  <p:nvPr/>
                </p:nvSpPr>
                <p:spPr bwMode="auto">
                  <a:xfrm>
                    <a:off x="705" y="3536"/>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2" y="4"/>
                        </a:lnTo>
                        <a:lnTo>
                          <a:pt x="56" y="12"/>
                        </a:lnTo>
                        <a:lnTo>
                          <a:pt x="73"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33" name="Freeform 2484"/>
                  <p:cNvSpPr>
                    <a:spLocks/>
                  </p:cNvSpPr>
                  <p:nvPr/>
                </p:nvSpPr>
                <p:spPr bwMode="auto">
                  <a:xfrm>
                    <a:off x="708" y="354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6"/>
                        </a:lnTo>
                        <a:lnTo>
                          <a:pt x="11" y="0"/>
                        </a:lnTo>
                        <a:lnTo>
                          <a:pt x="67"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92" name="Group 2485"/>
                <p:cNvGrpSpPr>
                  <a:grpSpLocks/>
                </p:cNvGrpSpPr>
                <p:nvPr/>
              </p:nvGrpSpPr>
              <p:grpSpPr bwMode="auto">
                <a:xfrm>
                  <a:off x="714" y="3551"/>
                  <a:ext cx="49" cy="22"/>
                  <a:chOff x="714" y="3551"/>
                  <a:chExt cx="49" cy="22"/>
                </a:xfrm>
              </p:grpSpPr>
              <p:sp>
                <p:nvSpPr>
                  <p:cNvPr id="1128" name="Freeform 2486"/>
                  <p:cNvSpPr>
                    <a:spLocks/>
                  </p:cNvSpPr>
                  <p:nvPr/>
                </p:nvSpPr>
                <p:spPr bwMode="auto">
                  <a:xfrm>
                    <a:off x="714" y="35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9" y="0"/>
                        </a:lnTo>
                        <a:lnTo>
                          <a:pt x="24" y="30"/>
                        </a:lnTo>
                        <a:lnTo>
                          <a:pt x="15"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29" name="Freeform 2487"/>
                  <p:cNvSpPr>
                    <a:spLocks/>
                  </p:cNvSpPr>
                  <p:nvPr/>
                </p:nvSpPr>
                <p:spPr bwMode="auto">
                  <a:xfrm>
                    <a:off x="719" y="3551"/>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50" y="0"/>
                        </a:lnTo>
                        <a:lnTo>
                          <a:pt x="52" y="2"/>
                        </a:lnTo>
                        <a:lnTo>
                          <a:pt x="57" y="13"/>
                        </a:lnTo>
                        <a:lnTo>
                          <a:pt x="74" y="29"/>
                        </a:lnTo>
                        <a:lnTo>
                          <a:pt x="19" y="29"/>
                        </a:lnTo>
                        <a:lnTo>
                          <a:pt x="9"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30" name="Freeform 2488"/>
                  <p:cNvSpPr>
                    <a:spLocks/>
                  </p:cNvSpPr>
                  <p:nvPr/>
                </p:nvSpPr>
                <p:spPr bwMode="auto">
                  <a:xfrm>
                    <a:off x="722" y="35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93" name="Group 2489"/>
                <p:cNvGrpSpPr>
                  <a:grpSpLocks/>
                </p:cNvGrpSpPr>
                <p:nvPr/>
              </p:nvGrpSpPr>
              <p:grpSpPr bwMode="auto">
                <a:xfrm>
                  <a:off x="728" y="3564"/>
                  <a:ext cx="48" cy="23"/>
                  <a:chOff x="728" y="3564"/>
                  <a:chExt cx="48" cy="23"/>
                </a:xfrm>
              </p:grpSpPr>
              <p:sp>
                <p:nvSpPr>
                  <p:cNvPr id="1125" name="Freeform 2490"/>
                  <p:cNvSpPr>
                    <a:spLocks/>
                  </p:cNvSpPr>
                  <p:nvPr/>
                </p:nvSpPr>
                <p:spPr bwMode="auto">
                  <a:xfrm>
                    <a:off x="728" y="3564"/>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26" name="Freeform 2491"/>
                  <p:cNvSpPr>
                    <a:spLocks/>
                  </p:cNvSpPr>
                  <p:nvPr/>
                </p:nvSpPr>
                <p:spPr bwMode="auto">
                  <a:xfrm>
                    <a:off x="732" y="3565"/>
                    <a:ext cx="37"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50" y="0"/>
                        </a:lnTo>
                        <a:lnTo>
                          <a:pt x="51" y="3"/>
                        </a:lnTo>
                        <a:lnTo>
                          <a:pt x="56" y="12"/>
                        </a:lnTo>
                        <a:lnTo>
                          <a:pt x="72"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27" name="Freeform 2492"/>
                  <p:cNvSpPr>
                    <a:spLocks/>
                  </p:cNvSpPr>
                  <p:nvPr/>
                </p:nvSpPr>
                <p:spPr bwMode="auto">
                  <a:xfrm>
                    <a:off x="735" y="3575"/>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94" name="Group 2493"/>
                <p:cNvGrpSpPr>
                  <a:grpSpLocks/>
                </p:cNvGrpSpPr>
                <p:nvPr/>
              </p:nvGrpSpPr>
              <p:grpSpPr bwMode="auto">
                <a:xfrm>
                  <a:off x="742" y="3582"/>
                  <a:ext cx="49" cy="23"/>
                  <a:chOff x="742" y="3582"/>
                  <a:chExt cx="49" cy="23"/>
                </a:xfrm>
              </p:grpSpPr>
              <p:sp>
                <p:nvSpPr>
                  <p:cNvPr id="1122" name="Freeform 2494"/>
                  <p:cNvSpPr>
                    <a:spLocks/>
                  </p:cNvSpPr>
                  <p:nvPr/>
                </p:nvSpPr>
                <p:spPr bwMode="auto">
                  <a:xfrm>
                    <a:off x="742" y="3582"/>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6"/>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23" name="Freeform 2495"/>
                  <p:cNvSpPr>
                    <a:spLocks/>
                  </p:cNvSpPr>
                  <p:nvPr/>
                </p:nvSpPr>
                <p:spPr bwMode="auto">
                  <a:xfrm>
                    <a:off x="747" y="3582"/>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8" y="0"/>
                        </a:lnTo>
                        <a:lnTo>
                          <a:pt x="50" y="3"/>
                        </a:lnTo>
                        <a:lnTo>
                          <a:pt x="56" y="12"/>
                        </a:lnTo>
                        <a:lnTo>
                          <a:pt x="72" y="30"/>
                        </a:lnTo>
                        <a:lnTo>
                          <a:pt x="17" y="30"/>
                        </a:lnTo>
                        <a:lnTo>
                          <a:pt x="8" y="21"/>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24" name="Freeform 2496"/>
                  <p:cNvSpPr>
                    <a:spLocks/>
                  </p:cNvSpPr>
                  <p:nvPr/>
                </p:nvSpPr>
                <p:spPr bwMode="auto">
                  <a:xfrm>
                    <a:off x="750" y="359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95" name="Group 2497"/>
                <p:cNvGrpSpPr>
                  <a:grpSpLocks/>
                </p:cNvGrpSpPr>
                <p:nvPr/>
              </p:nvGrpSpPr>
              <p:grpSpPr bwMode="auto">
                <a:xfrm>
                  <a:off x="752" y="3597"/>
                  <a:ext cx="133" cy="106"/>
                  <a:chOff x="752" y="3597"/>
                  <a:chExt cx="133" cy="106"/>
                </a:xfrm>
              </p:grpSpPr>
              <p:sp>
                <p:nvSpPr>
                  <p:cNvPr id="1119" name="Freeform 2498"/>
                  <p:cNvSpPr>
                    <a:spLocks/>
                  </p:cNvSpPr>
                  <p:nvPr/>
                </p:nvSpPr>
                <p:spPr bwMode="auto">
                  <a:xfrm>
                    <a:off x="752" y="3598"/>
                    <a:ext cx="91" cy="105"/>
                  </a:xfrm>
                  <a:custGeom>
                    <a:avLst/>
                    <a:gdLst>
                      <a:gd name="T0" fmla="*/ 1 w 182"/>
                      <a:gd name="T1" fmla="*/ 0 h 314"/>
                      <a:gd name="T2" fmla="*/ 0 w 182"/>
                      <a:gd name="T3" fmla="*/ 0 h 314"/>
                      <a:gd name="T4" fmla="*/ 1 w 182"/>
                      <a:gd name="T5" fmla="*/ 0 h 314"/>
                      <a:gd name="T6" fmla="*/ 1 w 182"/>
                      <a:gd name="T7" fmla="*/ 0 h 314"/>
                      <a:gd name="T8" fmla="*/ 1 w 182"/>
                      <a:gd name="T9" fmla="*/ 0 h 314"/>
                      <a:gd name="T10" fmla="*/ 0 60000 65536"/>
                      <a:gd name="T11" fmla="*/ 0 60000 65536"/>
                      <a:gd name="T12" fmla="*/ 0 60000 65536"/>
                      <a:gd name="T13" fmla="*/ 0 60000 65536"/>
                      <a:gd name="T14" fmla="*/ 0 60000 65536"/>
                      <a:gd name="T15" fmla="*/ 0 w 182"/>
                      <a:gd name="T16" fmla="*/ 0 h 314"/>
                      <a:gd name="T17" fmla="*/ 182 w 182"/>
                      <a:gd name="T18" fmla="*/ 314 h 314"/>
                    </a:gdLst>
                    <a:ahLst/>
                    <a:cxnLst>
                      <a:cxn ang="T10">
                        <a:pos x="T0" y="T1"/>
                      </a:cxn>
                      <a:cxn ang="T11">
                        <a:pos x="T2" y="T3"/>
                      </a:cxn>
                      <a:cxn ang="T12">
                        <a:pos x="T4" y="T5"/>
                      </a:cxn>
                      <a:cxn ang="T13">
                        <a:pos x="T6" y="T7"/>
                      </a:cxn>
                      <a:cxn ang="T14">
                        <a:pos x="T8" y="T9"/>
                      </a:cxn>
                    </a:cxnLst>
                    <a:rect l="T15" t="T16" r="T17" b="T18"/>
                    <a:pathLst>
                      <a:path w="182" h="314">
                        <a:moveTo>
                          <a:pt x="171" y="314"/>
                        </a:moveTo>
                        <a:lnTo>
                          <a:pt x="0" y="27"/>
                        </a:lnTo>
                        <a:lnTo>
                          <a:pt x="13" y="0"/>
                        </a:lnTo>
                        <a:lnTo>
                          <a:pt x="182" y="278"/>
                        </a:lnTo>
                        <a:lnTo>
                          <a:pt x="171" y="31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20" name="Freeform 2499"/>
                  <p:cNvSpPr>
                    <a:spLocks/>
                  </p:cNvSpPr>
                  <p:nvPr/>
                </p:nvSpPr>
                <p:spPr bwMode="auto">
                  <a:xfrm>
                    <a:off x="759" y="3597"/>
                    <a:ext cx="118" cy="94"/>
                  </a:xfrm>
                  <a:custGeom>
                    <a:avLst/>
                    <a:gdLst>
                      <a:gd name="T0" fmla="*/ 1 w 235"/>
                      <a:gd name="T1" fmla="*/ 0 h 281"/>
                      <a:gd name="T2" fmla="*/ 1 w 235"/>
                      <a:gd name="T3" fmla="*/ 0 h 281"/>
                      <a:gd name="T4" fmla="*/ 1 w 235"/>
                      <a:gd name="T5" fmla="*/ 0 h 281"/>
                      <a:gd name="T6" fmla="*/ 1 w 235"/>
                      <a:gd name="T7" fmla="*/ 0 h 281"/>
                      <a:gd name="T8" fmla="*/ 2 w 235"/>
                      <a:gd name="T9" fmla="*/ 0 h 281"/>
                      <a:gd name="T10" fmla="*/ 2 w 235"/>
                      <a:gd name="T11" fmla="*/ 0 h 281"/>
                      <a:gd name="T12" fmla="*/ 1 w 235"/>
                      <a:gd name="T13" fmla="*/ 0 h 281"/>
                      <a:gd name="T14" fmla="*/ 0 w 235"/>
                      <a:gd name="T15" fmla="*/ 0 h 281"/>
                      <a:gd name="T16" fmla="*/ 1 w 235"/>
                      <a:gd name="T17" fmla="*/ 0 h 28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35"/>
                      <a:gd name="T28" fmla="*/ 0 h 281"/>
                      <a:gd name="T29" fmla="*/ 235 w 235"/>
                      <a:gd name="T30" fmla="*/ 281 h 28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35" h="281">
                        <a:moveTo>
                          <a:pt x="1" y="0"/>
                        </a:moveTo>
                        <a:lnTo>
                          <a:pt x="56" y="0"/>
                        </a:lnTo>
                        <a:lnTo>
                          <a:pt x="58" y="0"/>
                        </a:lnTo>
                        <a:lnTo>
                          <a:pt x="65" y="10"/>
                        </a:lnTo>
                        <a:lnTo>
                          <a:pt x="235" y="281"/>
                        </a:lnTo>
                        <a:lnTo>
                          <a:pt x="165" y="277"/>
                        </a:lnTo>
                        <a:lnTo>
                          <a:pt x="9" y="19"/>
                        </a:lnTo>
                        <a:lnTo>
                          <a:pt x="0" y="4"/>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21" name="Freeform 2500"/>
                  <p:cNvSpPr>
                    <a:spLocks/>
                  </p:cNvSpPr>
                  <p:nvPr/>
                </p:nvSpPr>
                <p:spPr bwMode="auto">
                  <a:xfrm>
                    <a:off x="838" y="3691"/>
                    <a:ext cx="47" cy="12"/>
                  </a:xfrm>
                  <a:custGeom>
                    <a:avLst/>
                    <a:gdLst>
                      <a:gd name="T0" fmla="*/ 0 w 95"/>
                      <a:gd name="T1" fmla="*/ 0 h 36"/>
                      <a:gd name="T2" fmla="*/ 0 w 95"/>
                      <a:gd name="T3" fmla="*/ 0 h 36"/>
                      <a:gd name="T4" fmla="*/ 0 w 95"/>
                      <a:gd name="T5" fmla="*/ 0 h 36"/>
                      <a:gd name="T6" fmla="*/ 0 w 95"/>
                      <a:gd name="T7" fmla="*/ 0 h 36"/>
                      <a:gd name="T8" fmla="*/ 0 w 95"/>
                      <a:gd name="T9" fmla="*/ 0 h 36"/>
                      <a:gd name="T10" fmla="*/ 0 w 95"/>
                      <a:gd name="T11" fmla="*/ 0 h 36"/>
                      <a:gd name="T12" fmla="*/ 0 w 95"/>
                      <a:gd name="T13" fmla="*/ 0 h 36"/>
                      <a:gd name="T14" fmla="*/ 0 60000 65536"/>
                      <a:gd name="T15" fmla="*/ 0 60000 65536"/>
                      <a:gd name="T16" fmla="*/ 0 60000 65536"/>
                      <a:gd name="T17" fmla="*/ 0 60000 65536"/>
                      <a:gd name="T18" fmla="*/ 0 60000 65536"/>
                      <a:gd name="T19" fmla="*/ 0 60000 65536"/>
                      <a:gd name="T20" fmla="*/ 0 60000 65536"/>
                      <a:gd name="T21" fmla="*/ 0 w 95"/>
                      <a:gd name="T22" fmla="*/ 0 h 36"/>
                      <a:gd name="T23" fmla="*/ 95 w 95"/>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95" h="36">
                        <a:moveTo>
                          <a:pt x="0" y="36"/>
                        </a:moveTo>
                        <a:lnTo>
                          <a:pt x="2" y="19"/>
                        </a:lnTo>
                        <a:lnTo>
                          <a:pt x="8" y="7"/>
                        </a:lnTo>
                        <a:lnTo>
                          <a:pt x="12" y="0"/>
                        </a:lnTo>
                        <a:lnTo>
                          <a:pt x="76" y="0"/>
                        </a:lnTo>
                        <a:lnTo>
                          <a:pt x="95"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96" name="Group 2501"/>
                <p:cNvGrpSpPr>
                  <a:grpSpLocks/>
                </p:cNvGrpSpPr>
                <p:nvPr/>
              </p:nvGrpSpPr>
              <p:grpSpPr bwMode="auto">
                <a:xfrm>
                  <a:off x="844" y="3694"/>
                  <a:ext cx="48" cy="23"/>
                  <a:chOff x="844" y="3694"/>
                  <a:chExt cx="48" cy="23"/>
                </a:xfrm>
              </p:grpSpPr>
              <p:sp>
                <p:nvSpPr>
                  <p:cNvPr id="1116" name="Freeform 2502"/>
                  <p:cNvSpPr>
                    <a:spLocks/>
                  </p:cNvSpPr>
                  <p:nvPr/>
                </p:nvSpPr>
                <p:spPr bwMode="auto">
                  <a:xfrm>
                    <a:off x="844" y="3694"/>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9" y="0"/>
                        </a:lnTo>
                        <a:lnTo>
                          <a:pt x="24" y="32"/>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17" name="Freeform 2503"/>
                  <p:cNvSpPr>
                    <a:spLocks/>
                  </p:cNvSpPr>
                  <p:nvPr/>
                </p:nvSpPr>
                <p:spPr bwMode="auto">
                  <a:xfrm>
                    <a:off x="848" y="369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1" y="3"/>
                        </a:lnTo>
                        <a:lnTo>
                          <a:pt x="57" y="12"/>
                        </a:lnTo>
                        <a:lnTo>
                          <a:pt x="74" y="30"/>
                        </a:lnTo>
                        <a:lnTo>
                          <a:pt x="19" y="30"/>
                        </a:lnTo>
                        <a:lnTo>
                          <a:pt x="9" y="21"/>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18" name="Freeform 2504"/>
                  <p:cNvSpPr>
                    <a:spLocks/>
                  </p:cNvSpPr>
                  <p:nvPr/>
                </p:nvSpPr>
                <p:spPr bwMode="auto">
                  <a:xfrm>
                    <a:off x="851" y="3706"/>
                    <a:ext cx="41" cy="11"/>
                  </a:xfrm>
                  <a:custGeom>
                    <a:avLst/>
                    <a:gdLst>
                      <a:gd name="T0" fmla="*/ 0 w 81"/>
                      <a:gd name="T1" fmla="*/ 0 h 34"/>
                      <a:gd name="T2" fmla="*/ 1 w 81"/>
                      <a:gd name="T3" fmla="*/ 0 h 34"/>
                      <a:gd name="T4" fmla="*/ 1 w 81"/>
                      <a:gd name="T5" fmla="*/ 0 h 34"/>
                      <a:gd name="T6" fmla="*/ 1 w 81"/>
                      <a:gd name="T7" fmla="*/ 0 h 34"/>
                      <a:gd name="T8" fmla="*/ 1 w 81"/>
                      <a:gd name="T9" fmla="*/ 0 h 34"/>
                      <a:gd name="T10" fmla="*/ 1 w 81"/>
                      <a:gd name="T11" fmla="*/ 0 h 34"/>
                      <a:gd name="T12" fmla="*/ 0 w 81"/>
                      <a:gd name="T13" fmla="*/ 0 h 34"/>
                      <a:gd name="T14" fmla="*/ 0 60000 65536"/>
                      <a:gd name="T15" fmla="*/ 0 60000 65536"/>
                      <a:gd name="T16" fmla="*/ 0 60000 65536"/>
                      <a:gd name="T17" fmla="*/ 0 60000 65536"/>
                      <a:gd name="T18" fmla="*/ 0 60000 65536"/>
                      <a:gd name="T19" fmla="*/ 0 60000 65536"/>
                      <a:gd name="T20" fmla="*/ 0 60000 65536"/>
                      <a:gd name="T21" fmla="*/ 0 w 81"/>
                      <a:gd name="T22" fmla="*/ 0 h 34"/>
                      <a:gd name="T23" fmla="*/ 81 w 81"/>
                      <a:gd name="T24" fmla="*/ 34 h 3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4">
                        <a:moveTo>
                          <a:pt x="0" y="34"/>
                        </a:moveTo>
                        <a:lnTo>
                          <a:pt x="1" y="19"/>
                        </a:lnTo>
                        <a:lnTo>
                          <a:pt x="5" y="6"/>
                        </a:lnTo>
                        <a:lnTo>
                          <a:pt x="10" y="0"/>
                        </a:lnTo>
                        <a:lnTo>
                          <a:pt x="67" y="0"/>
                        </a:lnTo>
                        <a:lnTo>
                          <a:pt x="81" y="34"/>
                        </a:lnTo>
                        <a:lnTo>
                          <a:pt x="0" y="34"/>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97" name="Group 2505"/>
                <p:cNvGrpSpPr>
                  <a:grpSpLocks/>
                </p:cNvGrpSpPr>
                <p:nvPr/>
              </p:nvGrpSpPr>
              <p:grpSpPr bwMode="auto">
                <a:xfrm>
                  <a:off x="857" y="3710"/>
                  <a:ext cx="49" cy="22"/>
                  <a:chOff x="857" y="3710"/>
                  <a:chExt cx="49" cy="22"/>
                </a:xfrm>
              </p:grpSpPr>
              <p:sp>
                <p:nvSpPr>
                  <p:cNvPr id="1113" name="Freeform 2506"/>
                  <p:cNvSpPr>
                    <a:spLocks/>
                  </p:cNvSpPr>
                  <p:nvPr/>
                </p:nvSpPr>
                <p:spPr bwMode="auto">
                  <a:xfrm>
                    <a:off x="857" y="3710"/>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14" name="Freeform 2507"/>
                  <p:cNvSpPr>
                    <a:spLocks/>
                  </p:cNvSpPr>
                  <p:nvPr/>
                </p:nvSpPr>
                <p:spPr bwMode="auto">
                  <a:xfrm>
                    <a:off x="862" y="371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15" name="Freeform 2508"/>
                  <p:cNvSpPr>
                    <a:spLocks/>
                  </p:cNvSpPr>
                  <p:nvPr/>
                </p:nvSpPr>
                <p:spPr bwMode="auto">
                  <a:xfrm>
                    <a:off x="865" y="3720"/>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98" name="Group 2509"/>
                <p:cNvGrpSpPr>
                  <a:grpSpLocks/>
                </p:cNvGrpSpPr>
                <p:nvPr/>
              </p:nvGrpSpPr>
              <p:grpSpPr bwMode="auto">
                <a:xfrm>
                  <a:off x="1086" y="3766"/>
                  <a:ext cx="49" cy="23"/>
                  <a:chOff x="1086" y="3766"/>
                  <a:chExt cx="49" cy="23"/>
                </a:xfrm>
              </p:grpSpPr>
              <p:sp>
                <p:nvSpPr>
                  <p:cNvPr id="1110" name="Freeform 2510"/>
                  <p:cNvSpPr>
                    <a:spLocks/>
                  </p:cNvSpPr>
                  <p:nvPr/>
                </p:nvSpPr>
                <p:spPr bwMode="auto">
                  <a:xfrm>
                    <a:off x="1086" y="3766"/>
                    <a:ext cx="11" cy="23"/>
                  </a:xfrm>
                  <a:custGeom>
                    <a:avLst/>
                    <a:gdLst>
                      <a:gd name="T0" fmla="*/ 1 w 22"/>
                      <a:gd name="T1" fmla="*/ 0 h 69"/>
                      <a:gd name="T2" fmla="*/ 0 w 22"/>
                      <a:gd name="T3" fmla="*/ 0 h 69"/>
                      <a:gd name="T4" fmla="*/ 1 w 22"/>
                      <a:gd name="T5" fmla="*/ 0 h 69"/>
                      <a:gd name="T6" fmla="*/ 1 w 22"/>
                      <a:gd name="T7" fmla="*/ 0 h 69"/>
                      <a:gd name="T8" fmla="*/ 1 w 22"/>
                      <a:gd name="T9" fmla="*/ 0 h 69"/>
                      <a:gd name="T10" fmla="*/ 0 60000 65536"/>
                      <a:gd name="T11" fmla="*/ 0 60000 65536"/>
                      <a:gd name="T12" fmla="*/ 0 60000 65536"/>
                      <a:gd name="T13" fmla="*/ 0 60000 65536"/>
                      <a:gd name="T14" fmla="*/ 0 60000 65536"/>
                      <a:gd name="T15" fmla="*/ 0 w 22"/>
                      <a:gd name="T16" fmla="*/ 0 h 69"/>
                      <a:gd name="T17" fmla="*/ 22 w 22"/>
                      <a:gd name="T18" fmla="*/ 69 h 69"/>
                    </a:gdLst>
                    <a:ahLst/>
                    <a:cxnLst>
                      <a:cxn ang="T10">
                        <a:pos x="T0" y="T1"/>
                      </a:cxn>
                      <a:cxn ang="T11">
                        <a:pos x="T2" y="T3"/>
                      </a:cxn>
                      <a:cxn ang="T12">
                        <a:pos x="T4" y="T5"/>
                      </a:cxn>
                      <a:cxn ang="T13">
                        <a:pos x="T6" y="T7"/>
                      </a:cxn>
                      <a:cxn ang="T14">
                        <a:pos x="T8" y="T9"/>
                      </a:cxn>
                    </a:cxnLst>
                    <a:rect l="T15" t="T16" r="T17" b="T18"/>
                    <a:pathLst>
                      <a:path w="22" h="69">
                        <a:moveTo>
                          <a:pt x="13" y="69"/>
                        </a:moveTo>
                        <a:lnTo>
                          <a:pt x="0" y="27"/>
                        </a:lnTo>
                        <a:lnTo>
                          <a:pt x="9" y="0"/>
                        </a:lnTo>
                        <a:lnTo>
                          <a:pt x="22" y="32"/>
                        </a:lnTo>
                        <a:lnTo>
                          <a:pt x="13" y="69"/>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11" name="Freeform 2511"/>
                  <p:cNvSpPr>
                    <a:spLocks/>
                  </p:cNvSpPr>
                  <p:nvPr/>
                </p:nvSpPr>
                <p:spPr bwMode="auto">
                  <a:xfrm>
                    <a:off x="1090" y="3767"/>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3" y="0"/>
                        </a:moveTo>
                        <a:lnTo>
                          <a:pt x="51" y="0"/>
                        </a:lnTo>
                        <a:lnTo>
                          <a:pt x="53" y="4"/>
                        </a:lnTo>
                        <a:lnTo>
                          <a:pt x="56" y="13"/>
                        </a:lnTo>
                        <a:lnTo>
                          <a:pt x="74" y="31"/>
                        </a:lnTo>
                        <a:lnTo>
                          <a:pt x="18" y="31"/>
                        </a:lnTo>
                        <a:lnTo>
                          <a:pt x="9" y="22"/>
                        </a:lnTo>
                        <a:lnTo>
                          <a:pt x="0" y="6"/>
                        </a:lnTo>
                        <a:lnTo>
                          <a:pt x="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12" name="Freeform 2512"/>
                  <p:cNvSpPr>
                    <a:spLocks/>
                  </p:cNvSpPr>
                  <p:nvPr/>
                </p:nvSpPr>
                <p:spPr bwMode="auto">
                  <a:xfrm>
                    <a:off x="1093" y="3777"/>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6"/>
                        </a:lnTo>
                        <a:lnTo>
                          <a:pt x="11" y="0"/>
                        </a:lnTo>
                        <a:lnTo>
                          <a:pt x="68"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99" name="Group 2513"/>
                <p:cNvGrpSpPr>
                  <a:grpSpLocks/>
                </p:cNvGrpSpPr>
                <p:nvPr/>
              </p:nvGrpSpPr>
              <p:grpSpPr bwMode="auto">
                <a:xfrm>
                  <a:off x="934" y="3740"/>
                  <a:ext cx="48" cy="23"/>
                  <a:chOff x="934" y="3740"/>
                  <a:chExt cx="48" cy="23"/>
                </a:xfrm>
              </p:grpSpPr>
              <p:sp>
                <p:nvSpPr>
                  <p:cNvPr id="1107" name="Freeform 2514"/>
                  <p:cNvSpPr>
                    <a:spLocks/>
                  </p:cNvSpPr>
                  <p:nvPr/>
                </p:nvSpPr>
                <p:spPr bwMode="auto">
                  <a:xfrm>
                    <a:off x="934" y="3740"/>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9"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08" name="Freeform 2515"/>
                  <p:cNvSpPr>
                    <a:spLocks/>
                  </p:cNvSpPr>
                  <p:nvPr/>
                </p:nvSpPr>
                <p:spPr bwMode="auto">
                  <a:xfrm>
                    <a:off x="938" y="3741"/>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4"/>
                        </a:lnTo>
                        <a:lnTo>
                          <a:pt x="57" y="13"/>
                        </a:lnTo>
                        <a:lnTo>
                          <a:pt x="74" y="30"/>
                        </a:lnTo>
                        <a:lnTo>
                          <a:pt x="19" y="30"/>
                        </a:lnTo>
                        <a:lnTo>
                          <a:pt x="9" y="22"/>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09" name="Freeform 2516"/>
                  <p:cNvSpPr>
                    <a:spLocks/>
                  </p:cNvSpPr>
                  <p:nvPr/>
                </p:nvSpPr>
                <p:spPr bwMode="auto">
                  <a:xfrm>
                    <a:off x="941" y="375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6"/>
                        </a:lnTo>
                        <a:lnTo>
                          <a:pt x="10" y="0"/>
                        </a:lnTo>
                        <a:lnTo>
                          <a:pt x="67" y="0"/>
                        </a:lnTo>
                        <a:lnTo>
                          <a:pt x="81"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00" name="Group 2517"/>
                <p:cNvGrpSpPr>
                  <a:grpSpLocks/>
                </p:cNvGrpSpPr>
                <p:nvPr/>
              </p:nvGrpSpPr>
              <p:grpSpPr bwMode="auto">
                <a:xfrm>
                  <a:off x="943" y="3754"/>
                  <a:ext cx="49" cy="23"/>
                  <a:chOff x="943" y="3754"/>
                  <a:chExt cx="49" cy="23"/>
                </a:xfrm>
              </p:grpSpPr>
              <p:sp>
                <p:nvSpPr>
                  <p:cNvPr id="1104" name="Freeform 2518"/>
                  <p:cNvSpPr>
                    <a:spLocks/>
                  </p:cNvSpPr>
                  <p:nvPr/>
                </p:nvSpPr>
                <p:spPr bwMode="auto">
                  <a:xfrm>
                    <a:off x="943" y="3754"/>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05" name="Freeform 2519"/>
                  <p:cNvSpPr>
                    <a:spLocks/>
                  </p:cNvSpPr>
                  <p:nvPr/>
                </p:nvSpPr>
                <p:spPr bwMode="auto">
                  <a:xfrm>
                    <a:off x="948" y="375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1" y="0"/>
                        </a:moveTo>
                        <a:lnTo>
                          <a:pt x="49" y="0"/>
                        </a:lnTo>
                        <a:lnTo>
                          <a:pt x="50" y="3"/>
                        </a:lnTo>
                        <a:lnTo>
                          <a:pt x="57" y="12"/>
                        </a:lnTo>
                        <a:lnTo>
                          <a:pt x="74"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06" name="Freeform 2520"/>
                  <p:cNvSpPr>
                    <a:spLocks/>
                  </p:cNvSpPr>
                  <p:nvPr/>
                </p:nvSpPr>
                <p:spPr bwMode="auto">
                  <a:xfrm>
                    <a:off x="951" y="3765"/>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101" name="Freeform 2521"/>
                <p:cNvSpPr>
                  <a:spLocks/>
                </p:cNvSpPr>
                <p:nvPr/>
              </p:nvSpPr>
              <p:spPr bwMode="auto">
                <a:xfrm>
                  <a:off x="987" y="3753"/>
                  <a:ext cx="25" cy="43"/>
                </a:xfrm>
                <a:custGeom>
                  <a:avLst/>
                  <a:gdLst>
                    <a:gd name="T0" fmla="*/ 0 w 51"/>
                    <a:gd name="T1" fmla="*/ 0 h 128"/>
                    <a:gd name="T2" fmla="*/ 0 w 51"/>
                    <a:gd name="T3" fmla="*/ 0 h 128"/>
                    <a:gd name="T4" fmla="*/ 0 w 51"/>
                    <a:gd name="T5" fmla="*/ 0 h 128"/>
                    <a:gd name="T6" fmla="*/ 0 w 51"/>
                    <a:gd name="T7" fmla="*/ 0 h 128"/>
                    <a:gd name="T8" fmla="*/ 0 w 51"/>
                    <a:gd name="T9" fmla="*/ 0 h 128"/>
                    <a:gd name="T10" fmla="*/ 0 w 51"/>
                    <a:gd name="T11" fmla="*/ 0 h 128"/>
                    <a:gd name="T12" fmla="*/ 0 w 51"/>
                    <a:gd name="T13" fmla="*/ 0 h 128"/>
                    <a:gd name="T14" fmla="*/ 0 60000 65536"/>
                    <a:gd name="T15" fmla="*/ 0 60000 65536"/>
                    <a:gd name="T16" fmla="*/ 0 60000 65536"/>
                    <a:gd name="T17" fmla="*/ 0 60000 65536"/>
                    <a:gd name="T18" fmla="*/ 0 60000 65536"/>
                    <a:gd name="T19" fmla="*/ 0 60000 65536"/>
                    <a:gd name="T20" fmla="*/ 0 60000 65536"/>
                    <a:gd name="T21" fmla="*/ 0 w 51"/>
                    <a:gd name="T22" fmla="*/ 0 h 128"/>
                    <a:gd name="T23" fmla="*/ 51 w 51"/>
                    <a:gd name="T24" fmla="*/ 128 h 12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1" h="128">
                      <a:moveTo>
                        <a:pt x="40" y="128"/>
                      </a:moveTo>
                      <a:lnTo>
                        <a:pt x="0" y="29"/>
                      </a:lnTo>
                      <a:lnTo>
                        <a:pt x="0" y="20"/>
                      </a:lnTo>
                      <a:lnTo>
                        <a:pt x="2" y="11"/>
                      </a:lnTo>
                      <a:lnTo>
                        <a:pt x="10" y="0"/>
                      </a:lnTo>
                      <a:lnTo>
                        <a:pt x="51" y="91"/>
                      </a:lnTo>
                      <a:lnTo>
                        <a:pt x="40" y="12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02" name="Freeform 2522"/>
                <p:cNvSpPr>
                  <a:spLocks/>
                </p:cNvSpPr>
                <p:nvPr/>
              </p:nvSpPr>
              <p:spPr bwMode="auto">
                <a:xfrm>
                  <a:off x="992" y="3753"/>
                  <a:ext cx="91" cy="29"/>
                </a:xfrm>
                <a:custGeom>
                  <a:avLst/>
                  <a:gdLst>
                    <a:gd name="T0" fmla="*/ 0 w 183"/>
                    <a:gd name="T1" fmla="*/ 0 h 85"/>
                    <a:gd name="T2" fmla="*/ 0 w 183"/>
                    <a:gd name="T3" fmla="*/ 0 h 85"/>
                    <a:gd name="T4" fmla="*/ 0 w 183"/>
                    <a:gd name="T5" fmla="*/ 0 h 85"/>
                    <a:gd name="T6" fmla="*/ 0 w 183"/>
                    <a:gd name="T7" fmla="*/ 0 h 85"/>
                    <a:gd name="T8" fmla="*/ 0 w 183"/>
                    <a:gd name="T9" fmla="*/ 0 h 85"/>
                    <a:gd name="T10" fmla="*/ 1 w 183"/>
                    <a:gd name="T11" fmla="*/ 0 h 85"/>
                    <a:gd name="T12" fmla="*/ 1 w 183"/>
                    <a:gd name="T13" fmla="*/ 0 h 85"/>
                    <a:gd name="T14" fmla="*/ 1 w 183"/>
                    <a:gd name="T15" fmla="*/ 0 h 85"/>
                    <a:gd name="T16" fmla="*/ 1 w 183"/>
                    <a:gd name="T17" fmla="*/ 0 h 85"/>
                    <a:gd name="T18" fmla="*/ 0 w 183"/>
                    <a:gd name="T19" fmla="*/ 0 h 85"/>
                    <a:gd name="T20" fmla="*/ 0 w 183"/>
                    <a:gd name="T21" fmla="*/ 0 h 85"/>
                    <a:gd name="T22" fmla="*/ 0 w 183"/>
                    <a:gd name="T23" fmla="*/ 0 h 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83"/>
                    <a:gd name="T37" fmla="*/ 0 h 85"/>
                    <a:gd name="T38" fmla="*/ 183 w 183"/>
                    <a:gd name="T39" fmla="*/ 85 h 8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83" h="85">
                      <a:moveTo>
                        <a:pt x="0" y="0"/>
                      </a:moveTo>
                      <a:lnTo>
                        <a:pt x="64" y="0"/>
                      </a:lnTo>
                      <a:lnTo>
                        <a:pt x="67" y="13"/>
                      </a:lnTo>
                      <a:lnTo>
                        <a:pt x="75" y="28"/>
                      </a:lnTo>
                      <a:lnTo>
                        <a:pt x="84" y="42"/>
                      </a:lnTo>
                      <a:lnTo>
                        <a:pt x="158" y="42"/>
                      </a:lnTo>
                      <a:lnTo>
                        <a:pt x="163" y="55"/>
                      </a:lnTo>
                      <a:lnTo>
                        <a:pt x="172" y="67"/>
                      </a:lnTo>
                      <a:lnTo>
                        <a:pt x="183" y="85"/>
                      </a:lnTo>
                      <a:lnTo>
                        <a:pt x="64" y="85"/>
                      </a:lnTo>
                      <a:lnTo>
                        <a:pt x="41" y="85"/>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03" name="Freeform 2523"/>
                <p:cNvSpPr>
                  <a:spLocks/>
                </p:cNvSpPr>
                <p:nvPr/>
              </p:nvSpPr>
              <p:spPr bwMode="auto">
                <a:xfrm>
                  <a:off x="1008" y="3782"/>
                  <a:ext cx="81" cy="12"/>
                </a:xfrm>
                <a:custGeom>
                  <a:avLst/>
                  <a:gdLst>
                    <a:gd name="T0" fmla="*/ 0 w 160"/>
                    <a:gd name="T1" fmla="*/ 0 h 36"/>
                    <a:gd name="T2" fmla="*/ 1 w 160"/>
                    <a:gd name="T3" fmla="*/ 0 h 36"/>
                    <a:gd name="T4" fmla="*/ 1 w 160"/>
                    <a:gd name="T5" fmla="*/ 0 h 36"/>
                    <a:gd name="T6" fmla="*/ 1 w 160"/>
                    <a:gd name="T7" fmla="*/ 0 h 36"/>
                    <a:gd name="T8" fmla="*/ 2 w 160"/>
                    <a:gd name="T9" fmla="*/ 0 h 36"/>
                    <a:gd name="T10" fmla="*/ 2 w 160"/>
                    <a:gd name="T11" fmla="*/ 0 h 36"/>
                    <a:gd name="T12" fmla="*/ 0 w 160"/>
                    <a:gd name="T13" fmla="*/ 0 h 36"/>
                    <a:gd name="T14" fmla="*/ 0 60000 65536"/>
                    <a:gd name="T15" fmla="*/ 0 60000 65536"/>
                    <a:gd name="T16" fmla="*/ 0 60000 65536"/>
                    <a:gd name="T17" fmla="*/ 0 60000 65536"/>
                    <a:gd name="T18" fmla="*/ 0 60000 65536"/>
                    <a:gd name="T19" fmla="*/ 0 60000 65536"/>
                    <a:gd name="T20" fmla="*/ 0 60000 65536"/>
                    <a:gd name="T21" fmla="*/ 0 w 160"/>
                    <a:gd name="T22" fmla="*/ 0 h 36"/>
                    <a:gd name="T23" fmla="*/ 160 w 16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60" h="36">
                      <a:moveTo>
                        <a:pt x="0" y="36"/>
                      </a:moveTo>
                      <a:lnTo>
                        <a:pt x="1" y="20"/>
                      </a:lnTo>
                      <a:lnTo>
                        <a:pt x="7" y="8"/>
                      </a:lnTo>
                      <a:lnTo>
                        <a:pt x="10" y="0"/>
                      </a:lnTo>
                      <a:lnTo>
                        <a:pt x="150" y="0"/>
                      </a:lnTo>
                      <a:lnTo>
                        <a:pt x="160"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98" name="Group 2524"/>
              <p:cNvGrpSpPr>
                <a:grpSpLocks/>
              </p:cNvGrpSpPr>
              <p:nvPr/>
            </p:nvGrpSpPr>
            <p:grpSpPr bwMode="auto">
              <a:xfrm>
                <a:off x="920" y="3821"/>
                <a:ext cx="413" cy="50"/>
                <a:chOff x="920" y="3821"/>
                <a:chExt cx="413" cy="50"/>
              </a:xfrm>
            </p:grpSpPr>
            <p:sp>
              <p:nvSpPr>
                <p:cNvPr id="1019" name="Freeform 2525"/>
                <p:cNvSpPr>
                  <a:spLocks/>
                </p:cNvSpPr>
                <p:nvPr/>
              </p:nvSpPr>
              <p:spPr bwMode="auto">
                <a:xfrm>
                  <a:off x="920" y="3821"/>
                  <a:ext cx="413" cy="50"/>
                </a:xfrm>
                <a:custGeom>
                  <a:avLst/>
                  <a:gdLst>
                    <a:gd name="T0" fmla="*/ 1 w 825"/>
                    <a:gd name="T1" fmla="*/ 0 h 151"/>
                    <a:gd name="T2" fmla="*/ 1 w 825"/>
                    <a:gd name="T3" fmla="*/ 0 h 151"/>
                    <a:gd name="T4" fmla="*/ 1 w 825"/>
                    <a:gd name="T5" fmla="*/ 0 h 151"/>
                    <a:gd name="T6" fmla="*/ 0 w 825"/>
                    <a:gd name="T7" fmla="*/ 0 h 151"/>
                    <a:gd name="T8" fmla="*/ 1 w 825"/>
                    <a:gd name="T9" fmla="*/ 0 h 151"/>
                    <a:gd name="T10" fmla="*/ 1 w 825"/>
                    <a:gd name="T11" fmla="*/ 0 h 151"/>
                    <a:gd name="T12" fmla="*/ 1 w 825"/>
                    <a:gd name="T13" fmla="*/ 0 h 151"/>
                    <a:gd name="T14" fmla="*/ 7 w 825"/>
                    <a:gd name="T15" fmla="*/ 0 h 151"/>
                    <a:gd name="T16" fmla="*/ 7 w 825"/>
                    <a:gd name="T17" fmla="*/ 0 h 151"/>
                    <a:gd name="T18" fmla="*/ 7 w 825"/>
                    <a:gd name="T19" fmla="*/ 0 h 151"/>
                    <a:gd name="T20" fmla="*/ 7 w 825"/>
                    <a:gd name="T21" fmla="*/ 0 h 151"/>
                    <a:gd name="T22" fmla="*/ 7 w 825"/>
                    <a:gd name="T23" fmla="*/ 0 h 151"/>
                    <a:gd name="T24" fmla="*/ 7 w 825"/>
                    <a:gd name="T25" fmla="*/ 0 h 151"/>
                    <a:gd name="T26" fmla="*/ 7 w 825"/>
                    <a:gd name="T27" fmla="*/ 0 h 151"/>
                    <a:gd name="T28" fmla="*/ 1 w 825"/>
                    <a:gd name="T29" fmla="*/ 0 h 15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825"/>
                    <a:gd name="T46" fmla="*/ 0 h 151"/>
                    <a:gd name="T47" fmla="*/ 825 w 825"/>
                    <a:gd name="T48" fmla="*/ 151 h 15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825" h="151">
                      <a:moveTo>
                        <a:pt x="35" y="13"/>
                      </a:moveTo>
                      <a:lnTo>
                        <a:pt x="17" y="27"/>
                      </a:lnTo>
                      <a:lnTo>
                        <a:pt x="9" y="48"/>
                      </a:lnTo>
                      <a:lnTo>
                        <a:pt x="0" y="97"/>
                      </a:lnTo>
                      <a:lnTo>
                        <a:pt x="4" y="124"/>
                      </a:lnTo>
                      <a:lnTo>
                        <a:pt x="13" y="138"/>
                      </a:lnTo>
                      <a:lnTo>
                        <a:pt x="26" y="151"/>
                      </a:lnTo>
                      <a:lnTo>
                        <a:pt x="783" y="142"/>
                      </a:lnTo>
                      <a:lnTo>
                        <a:pt x="807" y="128"/>
                      </a:lnTo>
                      <a:lnTo>
                        <a:pt x="816" y="107"/>
                      </a:lnTo>
                      <a:lnTo>
                        <a:pt x="825" y="61"/>
                      </a:lnTo>
                      <a:lnTo>
                        <a:pt x="821" y="27"/>
                      </a:lnTo>
                      <a:lnTo>
                        <a:pt x="806" y="9"/>
                      </a:lnTo>
                      <a:lnTo>
                        <a:pt x="785" y="0"/>
                      </a:lnTo>
                      <a:lnTo>
                        <a:pt x="35" y="13"/>
                      </a:lnTo>
                      <a:close/>
                    </a:path>
                  </a:pathLst>
                </a:custGeom>
                <a:solidFill>
                  <a:srgbClr val="202020"/>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20" name="Freeform 2526"/>
                <p:cNvSpPr>
                  <a:spLocks/>
                </p:cNvSpPr>
                <p:nvPr/>
              </p:nvSpPr>
              <p:spPr bwMode="auto">
                <a:xfrm>
                  <a:off x="972" y="3833"/>
                  <a:ext cx="330" cy="27"/>
                </a:xfrm>
                <a:custGeom>
                  <a:avLst/>
                  <a:gdLst>
                    <a:gd name="T0" fmla="*/ 1 w 658"/>
                    <a:gd name="T1" fmla="*/ 0 h 79"/>
                    <a:gd name="T2" fmla="*/ 0 w 658"/>
                    <a:gd name="T3" fmla="*/ 0 h 79"/>
                    <a:gd name="T4" fmla="*/ 2 w 658"/>
                    <a:gd name="T5" fmla="*/ 0 h 79"/>
                    <a:gd name="T6" fmla="*/ 2 w 658"/>
                    <a:gd name="T7" fmla="*/ 0 h 79"/>
                    <a:gd name="T8" fmla="*/ 4 w 658"/>
                    <a:gd name="T9" fmla="*/ 0 h 79"/>
                    <a:gd name="T10" fmla="*/ 4 w 658"/>
                    <a:gd name="T11" fmla="*/ 0 h 79"/>
                    <a:gd name="T12" fmla="*/ 6 w 658"/>
                    <a:gd name="T13" fmla="*/ 0 h 79"/>
                    <a:gd name="T14" fmla="*/ 6 w 658"/>
                    <a:gd name="T15" fmla="*/ 0 h 79"/>
                    <a:gd name="T16" fmla="*/ 4 w 658"/>
                    <a:gd name="T17" fmla="*/ 0 h 79"/>
                    <a:gd name="T18" fmla="*/ 4 w 658"/>
                    <a:gd name="T19" fmla="*/ 0 h 79"/>
                    <a:gd name="T20" fmla="*/ 2 w 658"/>
                    <a:gd name="T21" fmla="*/ 0 h 79"/>
                    <a:gd name="T22" fmla="*/ 2 w 658"/>
                    <a:gd name="T23" fmla="*/ 0 h 79"/>
                    <a:gd name="T24" fmla="*/ 1 w 658"/>
                    <a:gd name="T25" fmla="*/ 0 h 7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658"/>
                    <a:gd name="T40" fmla="*/ 0 h 79"/>
                    <a:gd name="T41" fmla="*/ 658 w 658"/>
                    <a:gd name="T42" fmla="*/ 79 h 7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658" h="79">
                      <a:moveTo>
                        <a:pt x="4" y="23"/>
                      </a:moveTo>
                      <a:lnTo>
                        <a:pt x="0" y="50"/>
                      </a:lnTo>
                      <a:lnTo>
                        <a:pt x="153" y="50"/>
                      </a:lnTo>
                      <a:lnTo>
                        <a:pt x="153" y="79"/>
                      </a:lnTo>
                      <a:lnTo>
                        <a:pt x="500" y="73"/>
                      </a:lnTo>
                      <a:lnTo>
                        <a:pt x="500" y="50"/>
                      </a:lnTo>
                      <a:lnTo>
                        <a:pt x="656" y="50"/>
                      </a:lnTo>
                      <a:lnTo>
                        <a:pt x="658" y="23"/>
                      </a:lnTo>
                      <a:lnTo>
                        <a:pt x="504" y="23"/>
                      </a:lnTo>
                      <a:lnTo>
                        <a:pt x="504" y="0"/>
                      </a:lnTo>
                      <a:lnTo>
                        <a:pt x="153" y="8"/>
                      </a:lnTo>
                      <a:lnTo>
                        <a:pt x="153" y="23"/>
                      </a:lnTo>
                      <a:lnTo>
                        <a:pt x="4"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21" name="Rectangle 2527"/>
                <p:cNvSpPr>
                  <a:spLocks noChangeArrowheads="1"/>
                </p:cNvSpPr>
                <p:nvPr/>
              </p:nvSpPr>
              <p:spPr bwMode="auto">
                <a:xfrm>
                  <a:off x="982" y="3856"/>
                  <a:ext cx="26" cy="7"/>
                </a:xfrm>
                <a:prstGeom prst="rect">
                  <a:avLst/>
                </a:prstGeom>
                <a:solidFill>
                  <a:srgbClr val="00A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022" name="Rectangle 2528"/>
                <p:cNvSpPr>
                  <a:spLocks noChangeArrowheads="1"/>
                </p:cNvSpPr>
                <p:nvPr/>
              </p:nvSpPr>
              <p:spPr bwMode="auto">
                <a:xfrm>
                  <a:off x="1237" y="3855"/>
                  <a:ext cx="53" cy="6"/>
                </a:xfrm>
                <a:prstGeom prst="rect">
                  <a:avLst/>
                </a:prstGeom>
                <a:solidFill>
                  <a:srgbClr val="202020"/>
                </a:solidFill>
                <a:ln w="7938">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nvGrpSpPr>
              <p:cNvPr id="999" name="Group 2529"/>
              <p:cNvGrpSpPr>
                <a:grpSpLocks/>
              </p:cNvGrpSpPr>
              <p:nvPr/>
            </p:nvGrpSpPr>
            <p:grpSpPr bwMode="auto">
              <a:xfrm>
                <a:off x="1227" y="3477"/>
                <a:ext cx="508" cy="321"/>
                <a:chOff x="1227" y="3477"/>
                <a:chExt cx="508" cy="321"/>
              </a:xfrm>
            </p:grpSpPr>
            <p:sp>
              <p:nvSpPr>
                <p:cNvPr id="1000" name="Freeform 2530"/>
                <p:cNvSpPr>
                  <a:spLocks/>
                </p:cNvSpPr>
                <p:nvPr/>
              </p:nvSpPr>
              <p:spPr bwMode="auto">
                <a:xfrm>
                  <a:off x="1640" y="3731"/>
                  <a:ext cx="95" cy="66"/>
                </a:xfrm>
                <a:custGeom>
                  <a:avLst/>
                  <a:gdLst>
                    <a:gd name="T0" fmla="*/ 0 w 191"/>
                    <a:gd name="T1" fmla="*/ 0 h 200"/>
                    <a:gd name="T2" fmla="*/ 0 w 191"/>
                    <a:gd name="T3" fmla="*/ 0 h 200"/>
                    <a:gd name="T4" fmla="*/ 0 w 191"/>
                    <a:gd name="T5" fmla="*/ 0 h 200"/>
                    <a:gd name="T6" fmla="*/ 0 w 191"/>
                    <a:gd name="T7" fmla="*/ 0 h 200"/>
                    <a:gd name="T8" fmla="*/ 0 w 191"/>
                    <a:gd name="T9" fmla="*/ 0 h 200"/>
                    <a:gd name="T10" fmla="*/ 0 w 191"/>
                    <a:gd name="T11" fmla="*/ 0 h 200"/>
                    <a:gd name="T12" fmla="*/ 0 w 191"/>
                    <a:gd name="T13" fmla="*/ 0 h 200"/>
                    <a:gd name="T14" fmla="*/ 0 w 191"/>
                    <a:gd name="T15" fmla="*/ 0 h 200"/>
                    <a:gd name="T16" fmla="*/ 1 w 191"/>
                    <a:gd name="T17" fmla="*/ 0 h 200"/>
                    <a:gd name="T18" fmla="*/ 1 w 191"/>
                    <a:gd name="T19" fmla="*/ 0 h 200"/>
                    <a:gd name="T20" fmla="*/ 1 w 191"/>
                    <a:gd name="T21" fmla="*/ 0 h 200"/>
                    <a:gd name="T22" fmla="*/ 0 w 191"/>
                    <a:gd name="T23" fmla="*/ 0 h 20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91"/>
                    <a:gd name="T37" fmla="*/ 0 h 200"/>
                    <a:gd name="T38" fmla="*/ 191 w 191"/>
                    <a:gd name="T39" fmla="*/ 200 h 200"/>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91" h="200">
                      <a:moveTo>
                        <a:pt x="126" y="9"/>
                      </a:moveTo>
                      <a:lnTo>
                        <a:pt x="93" y="0"/>
                      </a:lnTo>
                      <a:lnTo>
                        <a:pt x="59" y="5"/>
                      </a:lnTo>
                      <a:lnTo>
                        <a:pt x="32" y="17"/>
                      </a:lnTo>
                      <a:lnTo>
                        <a:pt x="9" y="45"/>
                      </a:lnTo>
                      <a:lnTo>
                        <a:pt x="0" y="94"/>
                      </a:lnTo>
                      <a:lnTo>
                        <a:pt x="0" y="137"/>
                      </a:lnTo>
                      <a:lnTo>
                        <a:pt x="0" y="200"/>
                      </a:lnTo>
                      <a:lnTo>
                        <a:pt x="191" y="200"/>
                      </a:lnTo>
                      <a:lnTo>
                        <a:pt x="181" y="81"/>
                      </a:lnTo>
                      <a:lnTo>
                        <a:pt x="157" y="30"/>
                      </a:lnTo>
                      <a:lnTo>
                        <a:pt x="126" y="9"/>
                      </a:lnTo>
                      <a:close/>
                    </a:path>
                  </a:pathLst>
                </a:custGeom>
                <a:solidFill>
                  <a:schemeClr val="bg2"/>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1" name="Freeform 2531"/>
                <p:cNvSpPr>
                  <a:spLocks/>
                </p:cNvSpPr>
                <p:nvPr/>
              </p:nvSpPr>
              <p:spPr bwMode="auto">
                <a:xfrm>
                  <a:off x="1227" y="3477"/>
                  <a:ext cx="429" cy="264"/>
                </a:xfrm>
                <a:custGeom>
                  <a:avLst/>
                  <a:gdLst>
                    <a:gd name="T0" fmla="*/ 0 w 860"/>
                    <a:gd name="T1" fmla="*/ 0 h 791"/>
                    <a:gd name="T2" fmla="*/ 6 w 860"/>
                    <a:gd name="T3" fmla="*/ 0 h 791"/>
                    <a:gd name="T4" fmla="*/ 6 w 860"/>
                    <a:gd name="T5" fmla="*/ 0 h 791"/>
                    <a:gd name="T6" fmla="*/ 6 w 860"/>
                    <a:gd name="T7" fmla="*/ 0 h 791"/>
                    <a:gd name="T8" fmla="*/ 0 w 860"/>
                    <a:gd name="T9" fmla="*/ 0 h 791"/>
                    <a:gd name="T10" fmla="*/ 0 60000 65536"/>
                    <a:gd name="T11" fmla="*/ 0 60000 65536"/>
                    <a:gd name="T12" fmla="*/ 0 60000 65536"/>
                    <a:gd name="T13" fmla="*/ 0 60000 65536"/>
                    <a:gd name="T14" fmla="*/ 0 60000 65536"/>
                    <a:gd name="T15" fmla="*/ 0 w 860"/>
                    <a:gd name="T16" fmla="*/ 0 h 791"/>
                    <a:gd name="T17" fmla="*/ 860 w 860"/>
                    <a:gd name="T18" fmla="*/ 791 h 791"/>
                  </a:gdLst>
                  <a:ahLst/>
                  <a:cxnLst>
                    <a:cxn ang="T10">
                      <a:pos x="T0" y="T1"/>
                    </a:cxn>
                    <a:cxn ang="T11">
                      <a:pos x="T2" y="T3"/>
                    </a:cxn>
                    <a:cxn ang="T12">
                      <a:pos x="T4" y="T5"/>
                    </a:cxn>
                    <a:cxn ang="T13">
                      <a:pos x="T6" y="T7"/>
                    </a:cxn>
                    <a:cxn ang="T14">
                      <a:pos x="T8" y="T9"/>
                    </a:cxn>
                  </a:cxnLst>
                  <a:rect l="T15" t="T16" r="T17" b="T18"/>
                  <a:pathLst>
                    <a:path w="860" h="791">
                      <a:moveTo>
                        <a:pt x="0" y="0"/>
                      </a:moveTo>
                      <a:lnTo>
                        <a:pt x="860" y="764"/>
                      </a:lnTo>
                      <a:lnTo>
                        <a:pt x="849" y="777"/>
                      </a:lnTo>
                      <a:lnTo>
                        <a:pt x="838" y="791"/>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2" name="Freeform 2532"/>
                <p:cNvSpPr>
                  <a:spLocks/>
                </p:cNvSpPr>
                <p:nvPr/>
              </p:nvSpPr>
              <p:spPr bwMode="auto">
                <a:xfrm>
                  <a:off x="1521" y="3650"/>
                  <a:ext cx="141" cy="122"/>
                </a:xfrm>
                <a:custGeom>
                  <a:avLst/>
                  <a:gdLst>
                    <a:gd name="T0" fmla="*/ 1 w 281"/>
                    <a:gd name="T1" fmla="*/ 0 h 366"/>
                    <a:gd name="T2" fmla="*/ 1 w 281"/>
                    <a:gd name="T3" fmla="*/ 0 h 366"/>
                    <a:gd name="T4" fmla="*/ 1 w 281"/>
                    <a:gd name="T5" fmla="*/ 0 h 366"/>
                    <a:gd name="T6" fmla="*/ 1 w 281"/>
                    <a:gd name="T7" fmla="*/ 0 h 366"/>
                    <a:gd name="T8" fmla="*/ 1 w 281"/>
                    <a:gd name="T9" fmla="*/ 0 h 366"/>
                    <a:gd name="T10" fmla="*/ 2 w 281"/>
                    <a:gd name="T11" fmla="*/ 0 h 366"/>
                    <a:gd name="T12" fmla="*/ 3 w 281"/>
                    <a:gd name="T13" fmla="*/ 0 h 366"/>
                    <a:gd name="T14" fmla="*/ 3 w 281"/>
                    <a:gd name="T15" fmla="*/ 0 h 366"/>
                    <a:gd name="T16" fmla="*/ 2 w 281"/>
                    <a:gd name="T17" fmla="*/ 0 h 366"/>
                    <a:gd name="T18" fmla="*/ 2 w 281"/>
                    <a:gd name="T19" fmla="*/ 0 h 366"/>
                    <a:gd name="T20" fmla="*/ 2 w 281"/>
                    <a:gd name="T21" fmla="*/ 0 h 366"/>
                    <a:gd name="T22" fmla="*/ 2 w 281"/>
                    <a:gd name="T23" fmla="*/ 0 h 366"/>
                    <a:gd name="T24" fmla="*/ 2 w 281"/>
                    <a:gd name="T25" fmla="*/ 0 h 366"/>
                    <a:gd name="T26" fmla="*/ 2 w 281"/>
                    <a:gd name="T27" fmla="*/ 0 h 366"/>
                    <a:gd name="T28" fmla="*/ 2 w 281"/>
                    <a:gd name="T29" fmla="*/ 0 h 366"/>
                    <a:gd name="T30" fmla="*/ 0 w 281"/>
                    <a:gd name="T31" fmla="*/ 0 h 366"/>
                    <a:gd name="T32" fmla="*/ 0 w 281"/>
                    <a:gd name="T33" fmla="*/ 0 h 366"/>
                    <a:gd name="T34" fmla="*/ 1 w 281"/>
                    <a:gd name="T35" fmla="*/ 0 h 36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81"/>
                    <a:gd name="T55" fmla="*/ 0 h 366"/>
                    <a:gd name="T56" fmla="*/ 281 w 281"/>
                    <a:gd name="T57" fmla="*/ 366 h 36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81" h="366">
                      <a:moveTo>
                        <a:pt x="4" y="95"/>
                      </a:moveTo>
                      <a:lnTo>
                        <a:pt x="24" y="62"/>
                      </a:lnTo>
                      <a:lnTo>
                        <a:pt x="54" y="43"/>
                      </a:lnTo>
                      <a:lnTo>
                        <a:pt x="78" y="42"/>
                      </a:lnTo>
                      <a:lnTo>
                        <a:pt x="128" y="43"/>
                      </a:lnTo>
                      <a:lnTo>
                        <a:pt x="132" y="0"/>
                      </a:lnTo>
                      <a:lnTo>
                        <a:pt x="281" y="130"/>
                      </a:lnTo>
                      <a:lnTo>
                        <a:pt x="272" y="179"/>
                      </a:lnTo>
                      <a:lnTo>
                        <a:pt x="228" y="170"/>
                      </a:lnTo>
                      <a:lnTo>
                        <a:pt x="191" y="184"/>
                      </a:lnTo>
                      <a:lnTo>
                        <a:pt x="158" y="210"/>
                      </a:lnTo>
                      <a:lnTo>
                        <a:pt x="150" y="232"/>
                      </a:lnTo>
                      <a:lnTo>
                        <a:pt x="149" y="295"/>
                      </a:lnTo>
                      <a:lnTo>
                        <a:pt x="149" y="338"/>
                      </a:lnTo>
                      <a:lnTo>
                        <a:pt x="150" y="366"/>
                      </a:lnTo>
                      <a:lnTo>
                        <a:pt x="0" y="229"/>
                      </a:lnTo>
                      <a:lnTo>
                        <a:pt x="0" y="139"/>
                      </a:lnTo>
                      <a:lnTo>
                        <a:pt x="4" y="95"/>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3" name="Line 2533"/>
                <p:cNvSpPr>
                  <a:spLocks noChangeShapeType="1"/>
                </p:cNvSpPr>
                <p:nvPr/>
              </p:nvSpPr>
              <p:spPr bwMode="auto">
                <a:xfrm>
                  <a:off x="1586" y="3665"/>
                  <a:ext cx="76" cy="44"/>
                </a:xfrm>
                <a:prstGeom prst="line">
                  <a:avLst/>
                </a:prstGeom>
                <a:noFill/>
                <a:ln w="793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4" name="Freeform 2534"/>
                <p:cNvSpPr>
                  <a:spLocks/>
                </p:cNvSpPr>
                <p:nvPr/>
              </p:nvSpPr>
              <p:spPr bwMode="auto">
                <a:xfrm>
                  <a:off x="1242" y="3486"/>
                  <a:ext cx="111" cy="96"/>
                </a:xfrm>
                <a:custGeom>
                  <a:avLst/>
                  <a:gdLst>
                    <a:gd name="T0" fmla="*/ 1 w 222"/>
                    <a:gd name="T1" fmla="*/ 0 h 289"/>
                    <a:gd name="T2" fmla="*/ 1 w 222"/>
                    <a:gd name="T3" fmla="*/ 0 h 289"/>
                    <a:gd name="T4" fmla="*/ 1 w 222"/>
                    <a:gd name="T5" fmla="*/ 0 h 289"/>
                    <a:gd name="T6" fmla="*/ 1 w 222"/>
                    <a:gd name="T7" fmla="*/ 0 h 289"/>
                    <a:gd name="T8" fmla="*/ 2 w 222"/>
                    <a:gd name="T9" fmla="*/ 0 h 289"/>
                    <a:gd name="T10" fmla="*/ 2 w 222"/>
                    <a:gd name="T11" fmla="*/ 0 h 289"/>
                    <a:gd name="T12" fmla="*/ 2 w 222"/>
                    <a:gd name="T13" fmla="*/ 0 h 289"/>
                    <a:gd name="T14" fmla="*/ 2 w 222"/>
                    <a:gd name="T15" fmla="*/ 0 h 289"/>
                    <a:gd name="T16" fmla="*/ 2 w 222"/>
                    <a:gd name="T17" fmla="*/ 0 h 289"/>
                    <a:gd name="T18" fmla="*/ 2 w 222"/>
                    <a:gd name="T19" fmla="*/ 0 h 289"/>
                    <a:gd name="T20" fmla="*/ 2 w 222"/>
                    <a:gd name="T21" fmla="*/ 0 h 289"/>
                    <a:gd name="T22" fmla="*/ 1 w 222"/>
                    <a:gd name="T23" fmla="*/ 0 h 289"/>
                    <a:gd name="T24" fmla="*/ 1 w 222"/>
                    <a:gd name="T25" fmla="*/ 0 h 289"/>
                    <a:gd name="T26" fmla="*/ 1 w 222"/>
                    <a:gd name="T27" fmla="*/ 0 h 289"/>
                    <a:gd name="T28" fmla="*/ 1 w 222"/>
                    <a:gd name="T29" fmla="*/ 0 h 289"/>
                    <a:gd name="T30" fmla="*/ 0 w 222"/>
                    <a:gd name="T31" fmla="*/ 0 h 289"/>
                    <a:gd name="T32" fmla="*/ 1 w 222"/>
                    <a:gd name="T33" fmla="*/ 0 h 289"/>
                    <a:gd name="T34" fmla="*/ 1 w 222"/>
                    <a:gd name="T35" fmla="*/ 0 h 2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22"/>
                    <a:gd name="T55" fmla="*/ 0 h 289"/>
                    <a:gd name="T56" fmla="*/ 222 w 222"/>
                    <a:gd name="T57" fmla="*/ 289 h 2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22" h="289">
                      <a:moveTo>
                        <a:pt x="10" y="98"/>
                      </a:moveTo>
                      <a:lnTo>
                        <a:pt x="27" y="64"/>
                      </a:lnTo>
                      <a:lnTo>
                        <a:pt x="53" y="45"/>
                      </a:lnTo>
                      <a:lnTo>
                        <a:pt x="81" y="41"/>
                      </a:lnTo>
                      <a:lnTo>
                        <a:pt x="131" y="42"/>
                      </a:lnTo>
                      <a:lnTo>
                        <a:pt x="135" y="0"/>
                      </a:lnTo>
                      <a:lnTo>
                        <a:pt x="222" y="80"/>
                      </a:lnTo>
                      <a:lnTo>
                        <a:pt x="218" y="120"/>
                      </a:lnTo>
                      <a:lnTo>
                        <a:pt x="190" y="118"/>
                      </a:lnTo>
                      <a:lnTo>
                        <a:pt x="168" y="116"/>
                      </a:lnTo>
                      <a:lnTo>
                        <a:pt x="135" y="125"/>
                      </a:lnTo>
                      <a:lnTo>
                        <a:pt x="118" y="137"/>
                      </a:lnTo>
                      <a:lnTo>
                        <a:pt x="102" y="161"/>
                      </a:lnTo>
                      <a:lnTo>
                        <a:pt x="98" y="192"/>
                      </a:lnTo>
                      <a:lnTo>
                        <a:pt x="93" y="289"/>
                      </a:lnTo>
                      <a:lnTo>
                        <a:pt x="0" y="197"/>
                      </a:lnTo>
                      <a:lnTo>
                        <a:pt x="4" y="138"/>
                      </a:lnTo>
                      <a:lnTo>
                        <a:pt x="10" y="98"/>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5" name="Freeform 2535"/>
                <p:cNvSpPr>
                  <a:spLocks/>
                </p:cNvSpPr>
                <p:nvPr/>
              </p:nvSpPr>
              <p:spPr bwMode="auto">
                <a:xfrm>
                  <a:off x="1456" y="3626"/>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5"/>
                      </a:moveTo>
                      <a:lnTo>
                        <a:pt x="59" y="0"/>
                      </a:lnTo>
                      <a:lnTo>
                        <a:pt x="30" y="14"/>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6" name="Freeform 2536"/>
                <p:cNvSpPr>
                  <a:spLocks/>
                </p:cNvSpPr>
                <p:nvPr/>
              </p:nvSpPr>
              <p:spPr bwMode="auto">
                <a:xfrm>
                  <a:off x="1440" y="3615"/>
                  <a:ext cx="63" cy="61"/>
                </a:xfrm>
                <a:custGeom>
                  <a:avLst/>
                  <a:gdLst>
                    <a:gd name="T0" fmla="*/ 1 w 126"/>
                    <a:gd name="T1" fmla="*/ 0 h 185"/>
                    <a:gd name="T2" fmla="*/ 1 w 126"/>
                    <a:gd name="T3" fmla="*/ 0 h 185"/>
                    <a:gd name="T4" fmla="*/ 1 w 126"/>
                    <a:gd name="T5" fmla="*/ 0 h 185"/>
                    <a:gd name="T6" fmla="*/ 1 w 126"/>
                    <a:gd name="T7" fmla="*/ 0 h 185"/>
                    <a:gd name="T8" fmla="*/ 0 w 126"/>
                    <a:gd name="T9" fmla="*/ 0 h 185"/>
                    <a:gd name="T10" fmla="*/ 0 w 126"/>
                    <a:gd name="T11" fmla="*/ 0 h 185"/>
                    <a:gd name="T12" fmla="*/ 0 w 126"/>
                    <a:gd name="T13" fmla="*/ 0 h 185"/>
                    <a:gd name="T14" fmla="*/ 0 60000 65536"/>
                    <a:gd name="T15" fmla="*/ 0 60000 65536"/>
                    <a:gd name="T16" fmla="*/ 0 60000 65536"/>
                    <a:gd name="T17" fmla="*/ 0 60000 65536"/>
                    <a:gd name="T18" fmla="*/ 0 60000 65536"/>
                    <a:gd name="T19" fmla="*/ 0 60000 65536"/>
                    <a:gd name="T20" fmla="*/ 0 60000 65536"/>
                    <a:gd name="T21" fmla="*/ 0 w 126"/>
                    <a:gd name="T22" fmla="*/ 0 h 185"/>
                    <a:gd name="T23" fmla="*/ 126 w 126"/>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5">
                      <a:moveTo>
                        <a:pt x="126" y="3"/>
                      </a:moveTo>
                      <a:lnTo>
                        <a:pt x="59" y="0"/>
                      </a:lnTo>
                      <a:lnTo>
                        <a:pt x="24" y="15"/>
                      </a:lnTo>
                      <a:lnTo>
                        <a:pt x="9" y="39"/>
                      </a:lnTo>
                      <a:lnTo>
                        <a:pt x="0" y="88"/>
                      </a:lnTo>
                      <a:lnTo>
                        <a:pt x="0" y="185"/>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7" name="Freeform 2537"/>
                <p:cNvSpPr>
                  <a:spLocks/>
                </p:cNvSpPr>
                <p:nvPr/>
              </p:nvSpPr>
              <p:spPr bwMode="auto">
                <a:xfrm>
                  <a:off x="1422" y="3604"/>
                  <a:ext cx="64" cy="62"/>
                </a:xfrm>
                <a:custGeom>
                  <a:avLst/>
                  <a:gdLst>
                    <a:gd name="T0" fmla="*/ 1 w 127"/>
                    <a:gd name="T1" fmla="*/ 0 h 185"/>
                    <a:gd name="T2" fmla="*/ 1 w 127"/>
                    <a:gd name="T3" fmla="*/ 0 h 185"/>
                    <a:gd name="T4" fmla="*/ 1 w 127"/>
                    <a:gd name="T5" fmla="*/ 0 h 185"/>
                    <a:gd name="T6" fmla="*/ 1 w 127"/>
                    <a:gd name="T7" fmla="*/ 0 h 185"/>
                    <a:gd name="T8" fmla="*/ 0 w 127"/>
                    <a:gd name="T9" fmla="*/ 0 h 185"/>
                    <a:gd name="T10" fmla="*/ 0 w 127"/>
                    <a:gd name="T11" fmla="*/ 0 h 185"/>
                    <a:gd name="T12" fmla="*/ 0 w 127"/>
                    <a:gd name="T13" fmla="*/ 0 h 185"/>
                    <a:gd name="T14" fmla="*/ 0 60000 65536"/>
                    <a:gd name="T15" fmla="*/ 0 60000 65536"/>
                    <a:gd name="T16" fmla="*/ 0 60000 65536"/>
                    <a:gd name="T17" fmla="*/ 0 60000 65536"/>
                    <a:gd name="T18" fmla="*/ 0 60000 65536"/>
                    <a:gd name="T19" fmla="*/ 0 60000 65536"/>
                    <a:gd name="T20" fmla="*/ 0 60000 65536"/>
                    <a:gd name="T21" fmla="*/ 0 w 127"/>
                    <a:gd name="T22" fmla="*/ 0 h 185"/>
                    <a:gd name="T23" fmla="*/ 127 w 127"/>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5">
                      <a:moveTo>
                        <a:pt x="127" y="5"/>
                      </a:moveTo>
                      <a:lnTo>
                        <a:pt x="59" y="0"/>
                      </a:lnTo>
                      <a:lnTo>
                        <a:pt x="30" y="14"/>
                      </a:lnTo>
                      <a:lnTo>
                        <a:pt x="9" y="39"/>
                      </a:lnTo>
                      <a:lnTo>
                        <a:pt x="0" y="88"/>
                      </a:lnTo>
                      <a:lnTo>
                        <a:pt x="0" y="185"/>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8" name="Freeform 2538"/>
                <p:cNvSpPr>
                  <a:spLocks/>
                </p:cNvSpPr>
                <p:nvPr/>
              </p:nvSpPr>
              <p:spPr bwMode="auto">
                <a:xfrm>
                  <a:off x="1401" y="3594"/>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2" y="10"/>
                      </a:lnTo>
                      <a:lnTo>
                        <a:pt x="9" y="39"/>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9" name="Freeform 2539"/>
                <p:cNvSpPr>
                  <a:spLocks/>
                </p:cNvSpPr>
                <p:nvPr/>
              </p:nvSpPr>
              <p:spPr bwMode="auto">
                <a:xfrm>
                  <a:off x="1383" y="3583"/>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4"/>
                      </a:moveTo>
                      <a:lnTo>
                        <a:pt x="59" y="0"/>
                      </a:lnTo>
                      <a:lnTo>
                        <a:pt x="32" y="13"/>
                      </a:lnTo>
                      <a:lnTo>
                        <a:pt x="9" y="40"/>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10" name="Freeform 2540"/>
                <p:cNvSpPr>
                  <a:spLocks/>
                </p:cNvSpPr>
                <p:nvPr/>
              </p:nvSpPr>
              <p:spPr bwMode="auto">
                <a:xfrm>
                  <a:off x="1365" y="3570"/>
                  <a:ext cx="63" cy="62"/>
                </a:xfrm>
                <a:custGeom>
                  <a:avLst/>
                  <a:gdLst>
                    <a:gd name="T0" fmla="*/ 1 w 126"/>
                    <a:gd name="T1" fmla="*/ 0 h 186"/>
                    <a:gd name="T2" fmla="*/ 1 w 126"/>
                    <a:gd name="T3" fmla="*/ 0 h 186"/>
                    <a:gd name="T4" fmla="*/ 1 w 126"/>
                    <a:gd name="T5" fmla="*/ 0 h 186"/>
                    <a:gd name="T6" fmla="*/ 1 w 126"/>
                    <a:gd name="T7" fmla="*/ 0 h 186"/>
                    <a:gd name="T8" fmla="*/ 0 w 126"/>
                    <a:gd name="T9" fmla="*/ 0 h 186"/>
                    <a:gd name="T10" fmla="*/ 0 w 126"/>
                    <a:gd name="T11" fmla="*/ 0 h 186"/>
                    <a:gd name="T12" fmla="*/ 0 w 126"/>
                    <a:gd name="T13" fmla="*/ 0 h 186"/>
                    <a:gd name="T14" fmla="*/ 0 60000 65536"/>
                    <a:gd name="T15" fmla="*/ 0 60000 65536"/>
                    <a:gd name="T16" fmla="*/ 0 60000 65536"/>
                    <a:gd name="T17" fmla="*/ 0 60000 65536"/>
                    <a:gd name="T18" fmla="*/ 0 60000 65536"/>
                    <a:gd name="T19" fmla="*/ 0 60000 65536"/>
                    <a:gd name="T20" fmla="*/ 0 60000 65536"/>
                    <a:gd name="T21" fmla="*/ 0 w 126"/>
                    <a:gd name="T22" fmla="*/ 0 h 186"/>
                    <a:gd name="T23" fmla="*/ 126 w 126"/>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6">
                      <a:moveTo>
                        <a:pt x="126" y="4"/>
                      </a:moveTo>
                      <a:lnTo>
                        <a:pt x="58" y="0"/>
                      </a:lnTo>
                      <a:lnTo>
                        <a:pt x="31" y="14"/>
                      </a:lnTo>
                      <a:lnTo>
                        <a:pt x="8"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11" name="Freeform 2541"/>
                <p:cNvSpPr>
                  <a:spLocks/>
                </p:cNvSpPr>
                <p:nvPr/>
              </p:nvSpPr>
              <p:spPr bwMode="auto">
                <a:xfrm>
                  <a:off x="1349" y="3558"/>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3" y="16"/>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12" name="Freeform 2542"/>
                <p:cNvSpPr>
                  <a:spLocks/>
                </p:cNvSpPr>
                <p:nvPr/>
              </p:nvSpPr>
              <p:spPr bwMode="auto">
                <a:xfrm>
                  <a:off x="1331" y="3550"/>
                  <a:ext cx="63" cy="62"/>
                </a:xfrm>
                <a:custGeom>
                  <a:avLst/>
                  <a:gdLst>
                    <a:gd name="T0" fmla="*/ 0 w 127"/>
                    <a:gd name="T1" fmla="*/ 0 h 186"/>
                    <a:gd name="T2" fmla="*/ 0 w 127"/>
                    <a:gd name="T3" fmla="*/ 0 h 186"/>
                    <a:gd name="T4" fmla="*/ 0 w 127"/>
                    <a:gd name="T5" fmla="*/ 0 h 186"/>
                    <a:gd name="T6" fmla="*/ 0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4"/>
                      </a:moveTo>
                      <a:lnTo>
                        <a:pt x="59" y="0"/>
                      </a:lnTo>
                      <a:lnTo>
                        <a:pt x="32" y="13"/>
                      </a:lnTo>
                      <a:lnTo>
                        <a:pt x="10" y="39"/>
                      </a:lnTo>
                      <a:lnTo>
                        <a:pt x="0" y="88"/>
                      </a:lnTo>
                      <a:lnTo>
                        <a:pt x="0" y="186"/>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13" name="Freeform 2543"/>
                <p:cNvSpPr>
                  <a:spLocks/>
                </p:cNvSpPr>
                <p:nvPr/>
              </p:nvSpPr>
              <p:spPr bwMode="auto">
                <a:xfrm>
                  <a:off x="1308" y="3501"/>
                  <a:ext cx="47" cy="25"/>
                </a:xfrm>
                <a:custGeom>
                  <a:avLst/>
                  <a:gdLst>
                    <a:gd name="T0" fmla="*/ 0 w 96"/>
                    <a:gd name="T1" fmla="*/ 0 h 74"/>
                    <a:gd name="T2" fmla="*/ 0 w 96"/>
                    <a:gd name="T3" fmla="*/ 0 h 74"/>
                    <a:gd name="T4" fmla="*/ 0 w 96"/>
                    <a:gd name="T5" fmla="*/ 0 h 74"/>
                    <a:gd name="T6" fmla="*/ 0 w 96"/>
                    <a:gd name="T7" fmla="*/ 0 h 74"/>
                    <a:gd name="T8" fmla="*/ 0 60000 65536"/>
                    <a:gd name="T9" fmla="*/ 0 60000 65536"/>
                    <a:gd name="T10" fmla="*/ 0 60000 65536"/>
                    <a:gd name="T11" fmla="*/ 0 60000 65536"/>
                    <a:gd name="T12" fmla="*/ 0 w 96"/>
                    <a:gd name="T13" fmla="*/ 0 h 74"/>
                    <a:gd name="T14" fmla="*/ 96 w 96"/>
                    <a:gd name="T15" fmla="*/ 74 h 74"/>
                  </a:gdLst>
                  <a:ahLst/>
                  <a:cxnLst>
                    <a:cxn ang="T8">
                      <a:pos x="T0" y="T1"/>
                    </a:cxn>
                    <a:cxn ang="T9">
                      <a:pos x="T2" y="T3"/>
                    </a:cxn>
                    <a:cxn ang="T10">
                      <a:pos x="T4" y="T5"/>
                    </a:cxn>
                    <a:cxn ang="T11">
                      <a:pos x="T6" y="T7"/>
                    </a:cxn>
                  </a:cxnLst>
                  <a:rect l="T12" t="T13" r="T14" b="T15"/>
                  <a:pathLst>
                    <a:path w="96" h="74">
                      <a:moveTo>
                        <a:pt x="0" y="0"/>
                      </a:moveTo>
                      <a:lnTo>
                        <a:pt x="89" y="74"/>
                      </a:lnTo>
                      <a:lnTo>
                        <a:pt x="96" y="74"/>
                      </a:lnTo>
                      <a:lnTo>
                        <a:pt x="93" y="74"/>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14" name="Oval 2544"/>
                <p:cNvSpPr>
                  <a:spLocks noChangeArrowheads="1"/>
                </p:cNvSpPr>
                <p:nvPr/>
              </p:nvSpPr>
              <p:spPr bwMode="auto">
                <a:xfrm>
                  <a:off x="1339" y="3772"/>
                  <a:ext cx="78" cy="26"/>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015" name="Oval 2545"/>
                <p:cNvSpPr>
                  <a:spLocks noChangeArrowheads="1"/>
                </p:cNvSpPr>
                <p:nvPr/>
              </p:nvSpPr>
              <p:spPr bwMode="auto">
                <a:xfrm>
                  <a:off x="1432" y="3771"/>
                  <a:ext cx="78"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016" name="Freeform 2546"/>
                <p:cNvSpPr>
                  <a:spLocks/>
                </p:cNvSpPr>
                <p:nvPr/>
              </p:nvSpPr>
              <p:spPr bwMode="auto">
                <a:xfrm>
                  <a:off x="1511" y="3785"/>
                  <a:ext cx="94" cy="8"/>
                </a:xfrm>
                <a:custGeom>
                  <a:avLst/>
                  <a:gdLst>
                    <a:gd name="T0" fmla="*/ 0 w 188"/>
                    <a:gd name="T1" fmla="*/ 0 h 25"/>
                    <a:gd name="T2" fmla="*/ 1 w 188"/>
                    <a:gd name="T3" fmla="*/ 0 h 25"/>
                    <a:gd name="T4" fmla="*/ 1 w 188"/>
                    <a:gd name="T5" fmla="*/ 0 h 25"/>
                    <a:gd name="T6" fmla="*/ 1 w 188"/>
                    <a:gd name="T7" fmla="*/ 0 h 25"/>
                    <a:gd name="T8" fmla="*/ 0 w 188"/>
                    <a:gd name="T9" fmla="*/ 0 h 25"/>
                    <a:gd name="T10" fmla="*/ 0 60000 65536"/>
                    <a:gd name="T11" fmla="*/ 0 60000 65536"/>
                    <a:gd name="T12" fmla="*/ 0 60000 65536"/>
                    <a:gd name="T13" fmla="*/ 0 60000 65536"/>
                    <a:gd name="T14" fmla="*/ 0 60000 65536"/>
                    <a:gd name="T15" fmla="*/ 0 w 188"/>
                    <a:gd name="T16" fmla="*/ 0 h 25"/>
                    <a:gd name="T17" fmla="*/ 188 w 188"/>
                    <a:gd name="T18" fmla="*/ 25 h 25"/>
                  </a:gdLst>
                  <a:ahLst/>
                  <a:cxnLst>
                    <a:cxn ang="T10">
                      <a:pos x="T0" y="T1"/>
                    </a:cxn>
                    <a:cxn ang="T11">
                      <a:pos x="T2" y="T3"/>
                    </a:cxn>
                    <a:cxn ang="T12">
                      <a:pos x="T4" y="T5"/>
                    </a:cxn>
                    <a:cxn ang="T13">
                      <a:pos x="T6" y="T7"/>
                    </a:cxn>
                    <a:cxn ang="T14">
                      <a:pos x="T8" y="T9"/>
                    </a:cxn>
                  </a:cxnLst>
                  <a:rect l="T15" t="T16" r="T17" b="T18"/>
                  <a:pathLst>
                    <a:path w="188" h="25">
                      <a:moveTo>
                        <a:pt x="0" y="25"/>
                      </a:moveTo>
                      <a:lnTo>
                        <a:pt x="6" y="0"/>
                      </a:lnTo>
                      <a:lnTo>
                        <a:pt x="175" y="0"/>
                      </a:lnTo>
                      <a:lnTo>
                        <a:pt x="188" y="19"/>
                      </a:lnTo>
                      <a:lnTo>
                        <a:pt x="0" y="25"/>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17" name="Oval 2547"/>
                <p:cNvSpPr>
                  <a:spLocks noChangeArrowheads="1"/>
                </p:cNvSpPr>
                <p:nvPr/>
              </p:nvSpPr>
              <p:spPr bwMode="auto">
                <a:xfrm>
                  <a:off x="1338" y="3767"/>
                  <a:ext cx="78" cy="27"/>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018" name="Oval 2548"/>
                <p:cNvSpPr>
                  <a:spLocks noChangeArrowheads="1"/>
                </p:cNvSpPr>
                <p:nvPr/>
              </p:nvSpPr>
              <p:spPr bwMode="auto">
                <a:xfrm>
                  <a:off x="1431" y="3766"/>
                  <a:ext cx="77"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437" name="Group 2096"/>
            <p:cNvGrpSpPr>
              <a:grpSpLocks/>
            </p:cNvGrpSpPr>
            <p:nvPr/>
          </p:nvGrpSpPr>
          <p:grpSpPr bwMode="auto">
            <a:xfrm>
              <a:off x="2627313" y="1916113"/>
              <a:ext cx="431800" cy="330200"/>
              <a:chOff x="624" y="2968"/>
              <a:chExt cx="1331" cy="920"/>
            </a:xfrm>
          </p:grpSpPr>
          <p:sp>
            <p:nvSpPr>
              <p:cNvPr id="1438" name="Freeform 2097"/>
              <p:cNvSpPr>
                <a:spLocks/>
              </p:cNvSpPr>
              <p:nvPr/>
            </p:nvSpPr>
            <p:spPr bwMode="auto">
              <a:xfrm>
                <a:off x="1238" y="2968"/>
                <a:ext cx="713" cy="770"/>
              </a:xfrm>
              <a:custGeom>
                <a:avLst/>
                <a:gdLst>
                  <a:gd name="T0" fmla="*/ 7 w 1426"/>
                  <a:gd name="T1" fmla="*/ 1 h 2309"/>
                  <a:gd name="T2" fmla="*/ 7 w 1426"/>
                  <a:gd name="T3" fmla="*/ 1 h 2309"/>
                  <a:gd name="T4" fmla="*/ 0 w 1426"/>
                  <a:gd name="T5" fmla="*/ 1 h 2309"/>
                  <a:gd name="T6" fmla="*/ 3 w 1426"/>
                  <a:gd name="T7" fmla="*/ 0 h 2309"/>
                  <a:gd name="T8" fmla="*/ 3 w 1426"/>
                  <a:gd name="T9" fmla="*/ 0 h 2309"/>
                  <a:gd name="T10" fmla="*/ 3 w 1426"/>
                  <a:gd name="T11" fmla="*/ 0 h 2309"/>
                  <a:gd name="T12" fmla="*/ 3 w 1426"/>
                  <a:gd name="T13" fmla="*/ 0 h 2309"/>
                  <a:gd name="T14" fmla="*/ 11 w 1426"/>
                  <a:gd name="T15" fmla="*/ 0 h 2309"/>
                  <a:gd name="T16" fmla="*/ 11 w 1426"/>
                  <a:gd name="T17" fmla="*/ 0 h 2309"/>
                  <a:gd name="T18" fmla="*/ 11 w 1426"/>
                  <a:gd name="T19" fmla="*/ 0 h 2309"/>
                  <a:gd name="T20" fmla="*/ 11 w 1426"/>
                  <a:gd name="T21" fmla="*/ 0 h 2309"/>
                  <a:gd name="T22" fmla="*/ 7 w 1426"/>
                  <a:gd name="T23" fmla="*/ 1 h 2309"/>
                  <a:gd name="T24" fmla="*/ 7 w 1426"/>
                  <a:gd name="T25" fmla="*/ 1 h 230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2309"/>
                  <a:gd name="T41" fmla="*/ 1426 w 1426"/>
                  <a:gd name="T42" fmla="*/ 2309 h 230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2309">
                    <a:moveTo>
                      <a:pt x="992" y="2292"/>
                    </a:moveTo>
                    <a:lnTo>
                      <a:pt x="964" y="2309"/>
                    </a:lnTo>
                    <a:lnTo>
                      <a:pt x="0" y="1462"/>
                    </a:lnTo>
                    <a:lnTo>
                      <a:pt x="326" y="59"/>
                    </a:lnTo>
                    <a:lnTo>
                      <a:pt x="369" y="18"/>
                    </a:lnTo>
                    <a:lnTo>
                      <a:pt x="414" y="0"/>
                    </a:lnTo>
                    <a:lnTo>
                      <a:pt x="457" y="9"/>
                    </a:lnTo>
                    <a:lnTo>
                      <a:pt x="1381" y="400"/>
                    </a:lnTo>
                    <a:lnTo>
                      <a:pt x="1411" y="421"/>
                    </a:lnTo>
                    <a:lnTo>
                      <a:pt x="1422" y="425"/>
                    </a:lnTo>
                    <a:lnTo>
                      <a:pt x="1426" y="445"/>
                    </a:lnTo>
                    <a:lnTo>
                      <a:pt x="1017" y="2306"/>
                    </a:lnTo>
                    <a:lnTo>
                      <a:pt x="992" y="2292"/>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39" name="Freeform 2098"/>
              <p:cNvSpPr>
                <a:spLocks/>
              </p:cNvSpPr>
              <p:nvPr/>
            </p:nvSpPr>
            <p:spPr bwMode="auto">
              <a:xfrm>
                <a:off x="1668" y="3087"/>
                <a:ext cx="286" cy="660"/>
              </a:xfrm>
              <a:custGeom>
                <a:avLst/>
                <a:gdLst>
                  <a:gd name="T0" fmla="*/ 4 w 573"/>
                  <a:gd name="T1" fmla="*/ 0 h 1980"/>
                  <a:gd name="T2" fmla="*/ 4 w 573"/>
                  <a:gd name="T3" fmla="*/ 0 h 1980"/>
                  <a:gd name="T4" fmla="*/ 1 w 573"/>
                  <a:gd name="T5" fmla="*/ 1 h 1980"/>
                  <a:gd name="T6" fmla="*/ 1 w 573"/>
                  <a:gd name="T7" fmla="*/ 1 h 1980"/>
                  <a:gd name="T8" fmla="*/ 1 w 573"/>
                  <a:gd name="T9" fmla="*/ 1 h 1980"/>
                  <a:gd name="T10" fmla="*/ 0 w 573"/>
                  <a:gd name="T11" fmla="*/ 1 h 1980"/>
                  <a:gd name="T12" fmla="*/ 0 w 573"/>
                  <a:gd name="T13" fmla="*/ 1 h 1980"/>
                  <a:gd name="T14" fmla="*/ 0 w 573"/>
                  <a:gd name="T15" fmla="*/ 1 h 1980"/>
                  <a:gd name="T16" fmla="*/ 0 w 573"/>
                  <a:gd name="T17" fmla="*/ 1 h 1980"/>
                  <a:gd name="T18" fmla="*/ 3 w 573"/>
                  <a:gd name="T19" fmla="*/ 0 h 1980"/>
                  <a:gd name="T20" fmla="*/ 3 w 573"/>
                  <a:gd name="T21" fmla="*/ 0 h 1980"/>
                  <a:gd name="T22" fmla="*/ 3 w 573"/>
                  <a:gd name="T23" fmla="*/ 0 h 1980"/>
                  <a:gd name="T24" fmla="*/ 3 w 573"/>
                  <a:gd name="T25" fmla="*/ 0 h 1980"/>
                  <a:gd name="T26" fmla="*/ 4 w 573"/>
                  <a:gd name="T27" fmla="*/ 0 h 1980"/>
                  <a:gd name="T28" fmla="*/ 4 w 573"/>
                  <a:gd name="T29" fmla="*/ 0 h 1980"/>
                  <a:gd name="T30" fmla="*/ 4 w 573"/>
                  <a:gd name="T31" fmla="*/ 0 h 19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573"/>
                  <a:gd name="T49" fmla="*/ 0 h 1980"/>
                  <a:gd name="T50" fmla="*/ 573 w 573"/>
                  <a:gd name="T51" fmla="*/ 1980 h 19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573" h="1980">
                    <a:moveTo>
                      <a:pt x="573" y="86"/>
                    </a:moveTo>
                    <a:lnTo>
                      <a:pt x="568" y="132"/>
                    </a:lnTo>
                    <a:lnTo>
                      <a:pt x="155" y="1923"/>
                    </a:lnTo>
                    <a:lnTo>
                      <a:pt x="151" y="1955"/>
                    </a:lnTo>
                    <a:lnTo>
                      <a:pt x="140" y="1972"/>
                    </a:lnTo>
                    <a:lnTo>
                      <a:pt x="125" y="1980"/>
                    </a:lnTo>
                    <a:lnTo>
                      <a:pt x="111" y="1975"/>
                    </a:lnTo>
                    <a:lnTo>
                      <a:pt x="86" y="1955"/>
                    </a:lnTo>
                    <a:lnTo>
                      <a:pt x="0" y="1880"/>
                    </a:lnTo>
                    <a:lnTo>
                      <a:pt x="425" y="39"/>
                    </a:lnTo>
                    <a:lnTo>
                      <a:pt x="420" y="27"/>
                    </a:lnTo>
                    <a:lnTo>
                      <a:pt x="396" y="0"/>
                    </a:lnTo>
                    <a:lnTo>
                      <a:pt x="445" y="20"/>
                    </a:lnTo>
                    <a:lnTo>
                      <a:pt x="541" y="61"/>
                    </a:lnTo>
                    <a:lnTo>
                      <a:pt x="559" y="75"/>
                    </a:lnTo>
                    <a:lnTo>
                      <a:pt x="573" y="86"/>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0" name="Freeform 2099"/>
              <p:cNvSpPr>
                <a:spLocks/>
              </p:cNvSpPr>
              <p:nvPr/>
            </p:nvSpPr>
            <p:spPr bwMode="auto">
              <a:xfrm>
                <a:off x="1432" y="2970"/>
                <a:ext cx="523" cy="147"/>
              </a:xfrm>
              <a:custGeom>
                <a:avLst/>
                <a:gdLst>
                  <a:gd name="T0" fmla="*/ 0 w 1045"/>
                  <a:gd name="T1" fmla="*/ 0 h 441"/>
                  <a:gd name="T2" fmla="*/ 1 w 1045"/>
                  <a:gd name="T3" fmla="*/ 0 h 441"/>
                  <a:gd name="T4" fmla="*/ 1 w 1045"/>
                  <a:gd name="T5" fmla="*/ 0 h 441"/>
                  <a:gd name="T6" fmla="*/ 8 w 1045"/>
                  <a:gd name="T7" fmla="*/ 0 h 441"/>
                  <a:gd name="T8" fmla="*/ 9 w 1045"/>
                  <a:gd name="T9" fmla="*/ 0 h 441"/>
                  <a:gd name="T10" fmla="*/ 9 w 1045"/>
                  <a:gd name="T11" fmla="*/ 0 h 441"/>
                  <a:gd name="T12" fmla="*/ 0 w 1045"/>
                  <a:gd name="T13" fmla="*/ 0 h 441"/>
                  <a:gd name="T14" fmla="*/ 0 60000 65536"/>
                  <a:gd name="T15" fmla="*/ 0 60000 65536"/>
                  <a:gd name="T16" fmla="*/ 0 60000 65536"/>
                  <a:gd name="T17" fmla="*/ 0 60000 65536"/>
                  <a:gd name="T18" fmla="*/ 0 60000 65536"/>
                  <a:gd name="T19" fmla="*/ 0 60000 65536"/>
                  <a:gd name="T20" fmla="*/ 0 60000 65536"/>
                  <a:gd name="T21" fmla="*/ 0 w 1045"/>
                  <a:gd name="T22" fmla="*/ 0 h 441"/>
                  <a:gd name="T23" fmla="*/ 1045 w 1045"/>
                  <a:gd name="T24" fmla="*/ 441 h 44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45" h="441">
                    <a:moveTo>
                      <a:pt x="0" y="0"/>
                    </a:moveTo>
                    <a:lnTo>
                      <a:pt x="31" y="1"/>
                    </a:lnTo>
                    <a:lnTo>
                      <a:pt x="62" y="10"/>
                    </a:lnTo>
                    <a:lnTo>
                      <a:pt x="1005" y="409"/>
                    </a:lnTo>
                    <a:lnTo>
                      <a:pt x="1037" y="427"/>
                    </a:lnTo>
                    <a:lnTo>
                      <a:pt x="1045" y="441"/>
                    </a:lnTo>
                    <a:lnTo>
                      <a:pt x="0" y="0"/>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1" name="Freeform 2100"/>
              <p:cNvSpPr>
                <a:spLocks/>
              </p:cNvSpPr>
              <p:nvPr/>
            </p:nvSpPr>
            <p:spPr bwMode="auto">
              <a:xfrm>
                <a:off x="1315" y="3056"/>
                <a:ext cx="478" cy="573"/>
              </a:xfrm>
              <a:custGeom>
                <a:avLst/>
                <a:gdLst>
                  <a:gd name="T0" fmla="*/ 5 w 955"/>
                  <a:gd name="T1" fmla="*/ 1 h 1719"/>
                  <a:gd name="T2" fmla="*/ 0 w 955"/>
                  <a:gd name="T3" fmla="*/ 1 h 1719"/>
                  <a:gd name="T4" fmla="*/ 3 w 955"/>
                  <a:gd name="T5" fmla="*/ 0 h 1719"/>
                  <a:gd name="T6" fmla="*/ 8 w 955"/>
                  <a:gd name="T7" fmla="*/ 0 h 1719"/>
                  <a:gd name="T8" fmla="*/ 5 w 955"/>
                  <a:gd name="T9" fmla="*/ 1 h 1719"/>
                  <a:gd name="T10" fmla="*/ 0 60000 65536"/>
                  <a:gd name="T11" fmla="*/ 0 60000 65536"/>
                  <a:gd name="T12" fmla="*/ 0 60000 65536"/>
                  <a:gd name="T13" fmla="*/ 0 60000 65536"/>
                  <a:gd name="T14" fmla="*/ 0 60000 65536"/>
                  <a:gd name="T15" fmla="*/ 0 w 955"/>
                  <a:gd name="T16" fmla="*/ 0 h 1719"/>
                  <a:gd name="T17" fmla="*/ 955 w 955"/>
                  <a:gd name="T18" fmla="*/ 1719 h 1719"/>
                </a:gdLst>
                <a:ahLst/>
                <a:cxnLst>
                  <a:cxn ang="T10">
                    <a:pos x="T0" y="T1"/>
                  </a:cxn>
                  <a:cxn ang="T11">
                    <a:pos x="T2" y="T3"/>
                  </a:cxn>
                  <a:cxn ang="T12">
                    <a:pos x="T4" y="T5"/>
                  </a:cxn>
                  <a:cxn ang="T13">
                    <a:pos x="T6" y="T7"/>
                  </a:cxn>
                  <a:cxn ang="T14">
                    <a:pos x="T8" y="T9"/>
                  </a:cxn>
                </a:cxnLst>
                <a:rect l="T15" t="T16" r="T17" b="T18"/>
                <a:pathLst>
                  <a:path w="955" h="1719">
                    <a:moveTo>
                      <a:pt x="619" y="1719"/>
                    </a:moveTo>
                    <a:lnTo>
                      <a:pt x="0" y="1212"/>
                    </a:lnTo>
                    <a:lnTo>
                      <a:pt x="290" y="0"/>
                    </a:lnTo>
                    <a:lnTo>
                      <a:pt x="955" y="313"/>
                    </a:lnTo>
                    <a:lnTo>
                      <a:pt x="619" y="1719"/>
                    </a:lnTo>
                    <a:close/>
                  </a:path>
                </a:pathLst>
              </a:custGeom>
              <a:solidFill>
                <a:srgbClr val="000000"/>
              </a:solidFill>
              <a:ln w="7938">
                <a:solidFill>
                  <a:srgbClr val="80808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2" name="Freeform 2101"/>
              <p:cNvSpPr>
                <a:spLocks/>
              </p:cNvSpPr>
              <p:nvPr/>
            </p:nvSpPr>
            <p:spPr bwMode="auto">
              <a:xfrm>
                <a:off x="1337" y="3076"/>
                <a:ext cx="431" cy="529"/>
              </a:xfrm>
              <a:custGeom>
                <a:avLst/>
                <a:gdLst>
                  <a:gd name="T0" fmla="*/ 5 w 862"/>
                  <a:gd name="T1" fmla="*/ 1 h 1587"/>
                  <a:gd name="T2" fmla="*/ 0 w 862"/>
                  <a:gd name="T3" fmla="*/ 1 h 1587"/>
                  <a:gd name="T4" fmla="*/ 3 w 862"/>
                  <a:gd name="T5" fmla="*/ 0 h 1587"/>
                  <a:gd name="T6" fmla="*/ 7 w 862"/>
                  <a:gd name="T7" fmla="*/ 0 h 1587"/>
                  <a:gd name="T8" fmla="*/ 5 w 862"/>
                  <a:gd name="T9" fmla="*/ 1 h 1587"/>
                  <a:gd name="T10" fmla="*/ 0 60000 65536"/>
                  <a:gd name="T11" fmla="*/ 0 60000 65536"/>
                  <a:gd name="T12" fmla="*/ 0 60000 65536"/>
                  <a:gd name="T13" fmla="*/ 0 60000 65536"/>
                  <a:gd name="T14" fmla="*/ 0 60000 65536"/>
                  <a:gd name="T15" fmla="*/ 0 w 862"/>
                  <a:gd name="T16" fmla="*/ 0 h 1587"/>
                  <a:gd name="T17" fmla="*/ 862 w 862"/>
                  <a:gd name="T18" fmla="*/ 1587 h 1587"/>
                </a:gdLst>
                <a:ahLst/>
                <a:cxnLst>
                  <a:cxn ang="T10">
                    <a:pos x="T0" y="T1"/>
                  </a:cxn>
                  <a:cxn ang="T11">
                    <a:pos x="T2" y="T3"/>
                  </a:cxn>
                  <a:cxn ang="T12">
                    <a:pos x="T4" y="T5"/>
                  </a:cxn>
                  <a:cxn ang="T13">
                    <a:pos x="T6" y="T7"/>
                  </a:cxn>
                  <a:cxn ang="T14">
                    <a:pos x="T8" y="T9"/>
                  </a:cxn>
                </a:cxnLst>
                <a:rect l="T15" t="T16" r="T17" b="T18"/>
                <a:pathLst>
                  <a:path w="862" h="1587">
                    <a:moveTo>
                      <a:pt x="546" y="1587"/>
                    </a:moveTo>
                    <a:lnTo>
                      <a:pt x="0" y="1134"/>
                    </a:lnTo>
                    <a:lnTo>
                      <a:pt x="272" y="0"/>
                    </a:lnTo>
                    <a:lnTo>
                      <a:pt x="862" y="268"/>
                    </a:lnTo>
                    <a:lnTo>
                      <a:pt x="546" y="1587"/>
                    </a:lnTo>
                    <a:close/>
                  </a:path>
                </a:pathLst>
              </a:custGeom>
              <a:solidFill>
                <a:srgbClr val="C7C7C7"/>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3" name="Freeform 2102"/>
              <p:cNvSpPr>
                <a:spLocks/>
              </p:cNvSpPr>
              <p:nvPr/>
            </p:nvSpPr>
            <p:spPr bwMode="auto">
              <a:xfrm>
                <a:off x="1233" y="2968"/>
                <a:ext cx="203" cy="494"/>
              </a:xfrm>
              <a:custGeom>
                <a:avLst/>
                <a:gdLst>
                  <a:gd name="T0" fmla="*/ 3 w 408"/>
                  <a:gd name="T1" fmla="*/ 0 h 1480"/>
                  <a:gd name="T2" fmla="*/ 2 w 408"/>
                  <a:gd name="T3" fmla="*/ 0 h 1480"/>
                  <a:gd name="T4" fmla="*/ 2 w 408"/>
                  <a:gd name="T5" fmla="*/ 0 h 1480"/>
                  <a:gd name="T6" fmla="*/ 2 w 408"/>
                  <a:gd name="T7" fmla="*/ 0 h 1480"/>
                  <a:gd name="T8" fmla="*/ 2 w 408"/>
                  <a:gd name="T9" fmla="*/ 0 h 1480"/>
                  <a:gd name="T10" fmla="*/ 2 w 408"/>
                  <a:gd name="T11" fmla="*/ 0 h 1480"/>
                  <a:gd name="T12" fmla="*/ 0 w 408"/>
                  <a:gd name="T13" fmla="*/ 1 h 1480"/>
                  <a:gd name="T14" fmla="*/ 0 w 408"/>
                  <a:gd name="T15" fmla="*/ 1 h 1480"/>
                  <a:gd name="T16" fmla="*/ 2 w 408"/>
                  <a:gd name="T17" fmla="*/ 0 h 1480"/>
                  <a:gd name="T18" fmla="*/ 2 w 408"/>
                  <a:gd name="T19" fmla="*/ 0 h 1480"/>
                  <a:gd name="T20" fmla="*/ 2 w 408"/>
                  <a:gd name="T21" fmla="*/ 0 h 1480"/>
                  <a:gd name="T22" fmla="*/ 2 w 408"/>
                  <a:gd name="T23" fmla="*/ 0 h 1480"/>
                  <a:gd name="T24" fmla="*/ 2 w 408"/>
                  <a:gd name="T25" fmla="*/ 0 h 1480"/>
                  <a:gd name="T26" fmla="*/ 3 w 408"/>
                  <a:gd name="T27" fmla="*/ 0 h 1480"/>
                  <a:gd name="T28" fmla="*/ 3 w 408"/>
                  <a:gd name="T29" fmla="*/ 0 h 1480"/>
                  <a:gd name="T30" fmla="*/ 3 w 408"/>
                  <a:gd name="T31" fmla="*/ 0 h 14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408"/>
                  <a:gd name="T49" fmla="*/ 0 h 1480"/>
                  <a:gd name="T50" fmla="*/ 408 w 408"/>
                  <a:gd name="T51" fmla="*/ 1480 h 14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408" h="1480">
                    <a:moveTo>
                      <a:pt x="393" y="0"/>
                    </a:moveTo>
                    <a:lnTo>
                      <a:pt x="370" y="11"/>
                    </a:lnTo>
                    <a:lnTo>
                      <a:pt x="356" y="19"/>
                    </a:lnTo>
                    <a:lnTo>
                      <a:pt x="338" y="37"/>
                    </a:lnTo>
                    <a:lnTo>
                      <a:pt x="325" y="59"/>
                    </a:lnTo>
                    <a:lnTo>
                      <a:pt x="320" y="77"/>
                    </a:lnTo>
                    <a:lnTo>
                      <a:pt x="0" y="1459"/>
                    </a:lnTo>
                    <a:lnTo>
                      <a:pt x="12" y="1480"/>
                    </a:lnTo>
                    <a:lnTo>
                      <a:pt x="337" y="77"/>
                    </a:lnTo>
                    <a:lnTo>
                      <a:pt x="346" y="57"/>
                    </a:lnTo>
                    <a:lnTo>
                      <a:pt x="355" y="43"/>
                    </a:lnTo>
                    <a:lnTo>
                      <a:pt x="368" y="30"/>
                    </a:lnTo>
                    <a:lnTo>
                      <a:pt x="384" y="19"/>
                    </a:lnTo>
                    <a:lnTo>
                      <a:pt x="400" y="12"/>
                    </a:lnTo>
                    <a:lnTo>
                      <a:pt x="408" y="5"/>
                    </a:lnTo>
                    <a:lnTo>
                      <a:pt x="393" y="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4" name="Freeform 2103"/>
              <p:cNvSpPr>
                <a:spLocks/>
              </p:cNvSpPr>
              <p:nvPr/>
            </p:nvSpPr>
            <p:spPr bwMode="auto">
              <a:xfrm>
                <a:off x="1204" y="3479"/>
                <a:ext cx="532" cy="321"/>
              </a:xfrm>
              <a:custGeom>
                <a:avLst/>
                <a:gdLst>
                  <a:gd name="T0" fmla="*/ 8 w 1065"/>
                  <a:gd name="T1" fmla="*/ 0 h 963"/>
                  <a:gd name="T2" fmla="*/ 8 w 1065"/>
                  <a:gd name="T3" fmla="*/ 0 h 963"/>
                  <a:gd name="T4" fmla="*/ 7 w 1065"/>
                  <a:gd name="T5" fmla="*/ 0 h 963"/>
                  <a:gd name="T6" fmla="*/ 1 w 1065"/>
                  <a:gd name="T7" fmla="*/ 0 h 963"/>
                  <a:gd name="T8" fmla="*/ 0 w 1065"/>
                  <a:gd name="T9" fmla="*/ 0 h 963"/>
                  <a:gd name="T10" fmla="*/ 0 w 1065"/>
                  <a:gd name="T11" fmla="*/ 0 h 963"/>
                  <a:gd name="T12" fmla="*/ 0 w 1065"/>
                  <a:gd name="T13" fmla="*/ 0 h 963"/>
                  <a:gd name="T14" fmla="*/ 0 w 1065"/>
                  <a:gd name="T15" fmla="*/ 0 h 963"/>
                  <a:gd name="T16" fmla="*/ 6 w 1065"/>
                  <a:gd name="T17" fmla="*/ 0 h 963"/>
                  <a:gd name="T18" fmla="*/ 8 w 1065"/>
                  <a:gd name="T19" fmla="*/ 0 h 96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065"/>
                  <a:gd name="T31" fmla="*/ 0 h 963"/>
                  <a:gd name="T32" fmla="*/ 1065 w 1065"/>
                  <a:gd name="T33" fmla="*/ 963 h 963"/>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065" h="963">
                    <a:moveTo>
                      <a:pt x="1065" y="963"/>
                    </a:moveTo>
                    <a:lnTo>
                      <a:pt x="1047" y="833"/>
                    </a:lnTo>
                    <a:lnTo>
                      <a:pt x="1015" y="776"/>
                    </a:lnTo>
                    <a:lnTo>
                      <a:pt x="137" y="3"/>
                    </a:lnTo>
                    <a:lnTo>
                      <a:pt x="96" y="0"/>
                    </a:lnTo>
                    <a:lnTo>
                      <a:pt x="59" y="3"/>
                    </a:lnTo>
                    <a:lnTo>
                      <a:pt x="32" y="42"/>
                    </a:lnTo>
                    <a:lnTo>
                      <a:pt x="0" y="145"/>
                    </a:lnTo>
                    <a:lnTo>
                      <a:pt x="865" y="954"/>
                    </a:lnTo>
                    <a:lnTo>
                      <a:pt x="1065" y="963"/>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5" name="Freeform 2104"/>
              <p:cNvSpPr>
                <a:spLocks/>
              </p:cNvSpPr>
              <p:nvPr/>
            </p:nvSpPr>
            <p:spPr bwMode="auto">
              <a:xfrm>
                <a:off x="642" y="3519"/>
                <a:ext cx="985" cy="288"/>
              </a:xfrm>
              <a:custGeom>
                <a:avLst/>
                <a:gdLst>
                  <a:gd name="T0" fmla="*/ 0 w 1969"/>
                  <a:gd name="T1" fmla="*/ 0 h 862"/>
                  <a:gd name="T2" fmla="*/ 9 w 1969"/>
                  <a:gd name="T3" fmla="*/ 0 h 862"/>
                  <a:gd name="T4" fmla="*/ 16 w 1969"/>
                  <a:gd name="T5" fmla="*/ 0 h 862"/>
                  <a:gd name="T6" fmla="*/ 4 w 1969"/>
                  <a:gd name="T7" fmla="*/ 0 h 862"/>
                  <a:gd name="T8" fmla="*/ 0 w 1969"/>
                  <a:gd name="T9" fmla="*/ 0 h 862"/>
                  <a:gd name="T10" fmla="*/ 0 60000 65536"/>
                  <a:gd name="T11" fmla="*/ 0 60000 65536"/>
                  <a:gd name="T12" fmla="*/ 0 60000 65536"/>
                  <a:gd name="T13" fmla="*/ 0 60000 65536"/>
                  <a:gd name="T14" fmla="*/ 0 60000 65536"/>
                  <a:gd name="T15" fmla="*/ 0 w 1969"/>
                  <a:gd name="T16" fmla="*/ 0 h 862"/>
                  <a:gd name="T17" fmla="*/ 1969 w 1969"/>
                  <a:gd name="T18" fmla="*/ 862 h 862"/>
                </a:gdLst>
                <a:ahLst/>
                <a:cxnLst>
                  <a:cxn ang="T10">
                    <a:pos x="T0" y="T1"/>
                  </a:cxn>
                  <a:cxn ang="T11">
                    <a:pos x="T2" y="T3"/>
                  </a:cxn>
                  <a:cxn ang="T12">
                    <a:pos x="T4" y="T5"/>
                  </a:cxn>
                  <a:cxn ang="T13">
                    <a:pos x="T6" y="T7"/>
                  </a:cxn>
                  <a:cxn ang="T14">
                    <a:pos x="T8" y="T9"/>
                  </a:cxn>
                </a:cxnLst>
                <a:rect l="T15" t="T16" r="T17" b="T18"/>
                <a:pathLst>
                  <a:path w="1969" h="862">
                    <a:moveTo>
                      <a:pt x="0" y="0"/>
                    </a:moveTo>
                    <a:lnTo>
                      <a:pt x="1121" y="24"/>
                    </a:lnTo>
                    <a:lnTo>
                      <a:pt x="1969" y="814"/>
                    </a:lnTo>
                    <a:lnTo>
                      <a:pt x="478" y="862"/>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6" name="Freeform 2105"/>
              <p:cNvSpPr>
                <a:spLocks/>
              </p:cNvSpPr>
              <p:nvPr/>
            </p:nvSpPr>
            <p:spPr bwMode="auto">
              <a:xfrm>
                <a:off x="852" y="3789"/>
                <a:ext cx="889" cy="99"/>
              </a:xfrm>
              <a:custGeom>
                <a:avLst/>
                <a:gdLst>
                  <a:gd name="T0" fmla="*/ 1 w 1777"/>
                  <a:gd name="T1" fmla="*/ 0 h 297"/>
                  <a:gd name="T2" fmla="*/ 0 w 1777"/>
                  <a:gd name="T3" fmla="*/ 0 h 297"/>
                  <a:gd name="T4" fmla="*/ 14 w 1777"/>
                  <a:gd name="T5" fmla="*/ 0 h 297"/>
                  <a:gd name="T6" fmla="*/ 14 w 1777"/>
                  <a:gd name="T7" fmla="*/ 0 h 297"/>
                  <a:gd name="T8" fmla="*/ 14 w 1777"/>
                  <a:gd name="T9" fmla="*/ 0 h 297"/>
                  <a:gd name="T10" fmla="*/ 14 w 1777"/>
                  <a:gd name="T11" fmla="*/ 0 h 297"/>
                  <a:gd name="T12" fmla="*/ 1 w 1777"/>
                  <a:gd name="T13" fmla="*/ 0 h 297"/>
                  <a:gd name="T14" fmla="*/ 0 60000 65536"/>
                  <a:gd name="T15" fmla="*/ 0 60000 65536"/>
                  <a:gd name="T16" fmla="*/ 0 60000 65536"/>
                  <a:gd name="T17" fmla="*/ 0 60000 65536"/>
                  <a:gd name="T18" fmla="*/ 0 60000 65536"/>
                  <a:gd name="T19" fmla="*/ 0 60000 65536"/>
                  <a:gd name="T20" fmla="*/ 0 60000 65536"/>
                  <a:gd name="T21" fmla="*/ 0 w 1777"/>
                  <a:gd name="T22" fmla="*/ 0 h 297"/>
                  <a:gd name="T23" fmla="*/ 1777 w 1777"/>
                  <a:gd name="T24" fmla="*/ 297 h 29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77" h="297">
                    <a:moveTo>
                      <a:pt x="54" y="52"/>
                    </a:moveTo>
                    <a:lnTo>
                      <a:pt x="0" y="297"/>
                    </a:lnTo>
                    <a:lnTo>
                      <a:pt x="1759" y="257"/>
                    </a:lnTo>
                    <a:lnTo>
                      <a:pt x="1777" y="173"/>
                    </a:lnTo>
                    <a:lnTo>
                      <a:pt x="1773" y="74"/>
                    </a:lnTo>
                    <a:lnTo>
                      <a:pt x="1768" y="0"/>
                    </a:lnTo>
                    <a:lnTo>
                      <a:pt x="54" y="52"/>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7" name="Freeform 2106"/>
              <p:cNvSpPr>
                <a:spLocks/>
              </p:cNvSpPr>
              <p:nvPr/>
            </p:nvSpPr>
            <p:spPr bwMode="auto">
              <a:xfrm>
                <a:off x="624" y="3519"/>
                <a:ext cx="256" cy="369"/>
              </a:xfrm>
              <a:custGeom>
                <a:avLst/>
                <a:gdLst>
                  <a:gd name="T0" fmla="*/ 0 w 513"/>
                  <a:gd name="T1" fmla="*/ 0 h 1106"/>
                  <a:gd name="T2" fmla="*/ 0 w 513"/>
                  <a:gd name="T3" fmla="*/ 0 h 1106"/>
                  <a:gd name="T4" fmla="*/ 3 w 513"/>
                  <a:gd name="T5" fmla="*/ 1 h 1106"/>
                  <a:gd name="T6" fmla="*/ 4 w 513"/>
                  <a:gd name="T7" fmla="*/ 0 h 1106"/>
                  <a:gd name="T8" fmla="*/ 0 w 513"/>
                  <a:gd name="T9" fmla="*/ 0 h 1106"/>
                  <a:gd name="T10" fmla="*/ 0 60000 65536"/>
                  <a:gd name="T11" fmla="*/ 0 60000 65536"/>
                  <a:gd name="T12" fmla="*/ 0 60000 65536"/>
                  <a:gd name="T13" fmla="*/ 0 60000 65536"/>
                  <a:gd name="T14" fmla="*/ 0 60000 65536"/>
                  <a:gd name="T15" fmla="*/ 0 w 513"/>
                  <a:gd name="T16" fmla="*/ 0 h 1106"/>
                  <a:gd name="T17" fmla="*/ 513 w 513"/>
                  <a:gd name="T18" fmla="*/ 1106 h 1106"/>
                </a:gdLst>
                <a:ahLst/>
                <a:cxnLst>
                  <a:cxn ang="T10">
                    <a:pos x="T0" y="T1"/>
                  </a:cxn>
                  <a:cxn ang="T11">
                    <a:pos x="T2" y="T3"/>
                  </a:cxn>
                  <a:cxn ang="T12">
                    <a:pos x="T4" y="T5"/>
                  </a:cxn>
                  <a:cxn ang="T13">
                    <a:pos x="T6" y="T7"/>
                  </a:cxn>
                  <a:cxn ang="T14">
                    <a:pos x="T8" y="T9"/>
                  </a:cxn>
                </a:cxnLst>
                <a:rect l="T15" t="T16" r="T17" b="T18"/>
                <a:pathLst>
                  <a:path w="513" h="1106">
                    <a:moveTo>
                      <a:pt x="37" y="0"/>
                    </a:moveTo>
                    <a:lnTo>
                      <a:pt x="0" y="200"/>
                    </a:lnTo>
                    <a:lnTo>
                      <a:pt x="457" y="1106"/>
                    </a:lnTo>
                    <a:lnTo>
                      <a:pt x="513" y="862"/>
                    </a:lnTo>
                    <a:lnTo>
                      <a:pt x="37"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8" name="Freeform 2107"/>
              <p:cNvSpPr>
                <a:spLocks/>
              </p:cNvSpPr>
              <p:nvPr/>
            </p:nvSpPr>
            <p:spPr bwMode="auto">
              <a:xfrm>
                <a:off x="1206" y="3791"/>
                <a:ext cx="132" cy="8"/>
              </a:xfrm>
              <a:custGeom>
                <a:avLst/>
                <a:gdLst>
                  <a:gd name="T0" fmla="*/ 1 w 262"/>
                  <a:gd name="T1" fmla="*/ 0 h 25"/>
                  <a:gd name="T2" fmla="*/ 0 w 262"/>
                  <a:gd name="T3" fmla="*/ 0 h 25"/>
                  <a:gd name="T4" fmla="*/ 2 w 262"/>
                  <a:gd name="T5" fmla="*/ 0 h 25"/>
                  <a:gd name="T6" fmla="*/ 3 w 262"/>
                  <a:gd name="T7" fmla="*/ 0 h 25"/>
                  <a:gd name="T8" fmla="*/ 1 w 262"/>
                  <a:gd name="T9" fmla="*/ 0 h 25"/>
                  <a:gd name="T10" fmla="*/ 0 60000 65536"/>
                  <a:gd name="T11" fmla="*/ 0 60000 65536"/>
                  <a:gd name="T12" fmla="*/ 0 60000 65536"/>
                  <a:gd name="T13" fmla="*/ 0 60000 65536"/>
                  <a:gd name="T14" fmla="*/ 0 60000 65536"/>
                  <a:gd name="T15" fmla="*/ 0 w 262"/>
                  <a:gd name="T16" fmla="*/ 0 h 25"/>
                  <a:gd name="T17" fmla="*/ 262 w 262"/>
                  <a:gd name="T18" fmla="*/ 25 h 25"/>
                </a:gdLst>
                <a:ahLst/>
                <a:cxnLst>
                  <a:cxn ang="T10">
                    <a:pos x="T0" y="T1"/>
                  </a:cxn>
                  <a:cxn ang="T11">
                    <a:pos x="T2" y="T3"/>
                  </a:cxn>
                  <a:cxn ang="T12">
                    <a:pos x="T4" y="T5"/>
                  </a:cxn>
                  <a:cxn ang="T13">
                    <a:pos x="T6" y="T7"/>
                  </a:cxn>
                  <a:cxn ang="T14">
                    <a:pos x="T8" y="T9"/>
                  </a:cxn>
                </a:cxnLst>
                <a:rect l="T15" t="T16" r="T17" b="T18"/>
                <a:pathLst>
                  <a:path w="262" h="25">
                    <a:moveTo>
                      <a:pt x="2" y="25"/>
                    </a:moveTo>
                    <a:lnTo>
                      <a:pt x="0" y="0"/>
                    </a:lnTo>
                    <a:lnTo>
                      <a:pt x="249" y="0"/>
                    </a:lnTo>
                    <a:lnTo>
                      <a:pt x="262" y="19"/>
                    </a:lnTo>
                    <a:lnTo>
                      <a:pt x="2" y="2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9" name="Freeform 2108"/>
              <p:cNvSpPr>
                <a:spLocks/>
              </p:cNvSpPr>
              <p:nvPr/>
            </p:nvSpPr>
            <p:spPr bwMode="auto">
              <a:xfrm>
                <a:off x="927" y="3521"/>
                <a:ext cx="281" cy="279"/>
              </a:xfrm>
              <a:custGeom>
                <a:avLst/>
                <a:gdLst>
                  <a:gd name="T0" fmla="*/ 5 w 561"/>
                  <a:gd name="T1" fmla="*/ 0 h 836"/>
                  <a:gd name="T2" fmla="*/ 0 w 561"/>
                  <a:gd name="T3" fmla="*/ 0 h 836"/>
                  <a:gd name="T4" fmla="*/ 5 w 561"/>
                  <a:gd name="T5" fmla="*/ 0 h 836"/>
                  <a:gd name="T6" fmla="*/ 5 w 561"/>
                  <a:gd name="T7" fmla="*/ 0 h 836"/>
                  <a:gd name="T8" fmla="*/ 0 60000 65536"/>
                  <a:gd name="T9" fmla="*/ 0 60000 65536"/>
                  <a:gd name="T10" fmla="*/ 0 60000 65536"/>
                  <a:gd name="T11" fmla="*/ 0 60000 65536"/>
                  <a:gd name="T12" fmla="*/ 0 w 561"/>
                  <a:gd name="T13" fmla="*/ 0 h 836"/>
                  <a:gd name="T14" fmla="*/ 561 w 561"/>
                  <a:gd name="T15" fmla="*/ 836 h 836"/>
                </a:gdLst>
                <a:ahLst/>
                <a:cxnLst>
                  <a:cxn ang="T8">
                    <a:pos x="T0" y="T1"/>
                  </a:cxn>
                  <a:cxn ang="T9">
                    <a:pos x="T2" y="T3"/>
                  </a:cxn>
                  <a:cxn ang="T10">
                    <a:pos x="T4" y="T5"/>
                  </a:cxn>
                  <a:cxn ang="T11">
                    <a:pos x="T6" y="T7"/>
                  </a:cxn>
                </a:cxnLst>
                <a:rect l="T12" t="T13" r="T14" b="T15"/>
                <a:pathLst>
                  <a:path w="561" h="836">
                    <a:moveTo>
                      <a:pt x="557" y="801"/>
                    </a:moveTo>
                    <a:lnTo>
                      <a:pt x="0" y="0"/>
                    </a:lnTo>
                    <a:lnTo>
                      <a:pt x="561" y="836"/>
                    </a:lnTo>
                    <a:lnTo>
                      <a:pt x="557" y="801"/>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450" name="Group 2109"/>
              <p:cNvGrpSpPr>
                <a:grpSpLocks/>
              </p:cNvGrpSpPr>
              <p:nvPr/>
            </p:nvGrpSpPr>
            <p:grpSpPr bwMode="auto">
              <a:xfrm>
                <a:off x="700" y="3526"/>
                <a:ext cx="515" cy="270"/>
                <a:chOff x="700" y="3526"/>
                <a:chExt cx="515" cy="270"/>
              </a:xfrm>
            </p:grpSpPr>
            <p:grpSp>
              <p:nvGrpSpPr>
                <p:cNvPr id="1476" name="Group 2110"/>
                <p:cNvGrpSpPr>
                  <a:grpSpLocks/>
                </p:cNvGrpSpPr>
                <p:nvPr/>
              </p:nvGrpSpPr>
              <p:grpSpPr bwMode="auto">
                <a:xfrm>
                  <a:off x="737" y="3534"/>
                  <a:ext cx="49" cy="23"/>
                  <a:chOff x="737" y="3534"/>
                  <a:chExt cx="49" cy="23"/>
                </a:xfrm>
              </p:grpSpPr>
              <p:sp>
                <p:nvSpPr>
                  <p:cNvPr id="1887" name="Freeform 2111"/>
                  <p:cNvSpPr>
                    <a:spLocks/>
                  </p:cNvSpPr>
                  <p:nvPr/>
                </p:nvSpPr>
                <p:spPr bwMode="auto">
                  <a:xfrm>
                    <a:off x="737" y="3534"/>
                    <a:ext cx="11" cy="23"/>
                  </a:xfrm>
                  <a:custGeom>
                    <a:avLst/>
                    <a:gdLst>
                      <a:gd name="T0" fmla="*/ 1 w 22"/>
                      <a:gd name="T1" fmla="*/ 0 h 67"/>
                      <a:gd name="T2" fmla="*/ 0 w 22"/>
                      <a:gd name="T3" fmla="*/ 0 h 67"/>
                      <a:gd name="T4" fmla="*/ 1 w 22"/>
                      <a:gd name="T5" fmla="*/ 0 h 67"/>
                      <a:gd name="T6" fmla="*/ 1 w 22"/>
                      <a:gd name="T7" fmla="*/ 0 h 67"/>
                      <a:gd name="T8" fmla="*/ 1 w 22"/>
                      <a:gd name="T9" fmla="*/ 0 h 67"/>
                      <a:gd name="T10" fmla="*/ 0 60000 65536"/>
                      <a:gd name="T11" fmla="*/ 0 60000 65536"/>
                      <a:gd name="T12" fmla="*/ 0 60000 65536"/>
                      <a:gd name="T13" fmla="*/ 0 60000 65536"/>
                      <a:gd name="T14" fmla="*/ 0 60000 65536"/>
                      <a:gd name="T15" fmla="*/ 0 w 22"/>
                      <a:gd name="T16" fmla="*/ 0 h 67"/>
                      <a:gd name="T17" fmla="*/ 22 w 22"/>
                      <a:gd name="T18" fmla="*/ 67 h 67"/>
                    </a:gdLst>
                    <a:ahLst/>
                    <a:cxnLst>
                      <a:cxn ang="T10">
                        <a:pos x="T0" y="T1"/>
                      </a:cxn>
                      <a:cxn ang="T11">
                        <a:pos x="T2" y="T3"/>
                      </a:cxn>
                      <a:cxn ang="T12">
                        <a:pos x="T4" y="T5"/>
                      </a:cxn>
                      <a:cxn ang="T13">
                        <a:pos x="T6" y="T7"/>
                      </a:cxn>
                      <a:cxn ang="T14">
                        <a:pos x="T8" y="T9"/>
                      </a:cxn>
                    </a:cxnLst>
                    <a:rect l="T15" t="T16" r="T17" b="T18"/>
                    <a:pathLst>
                      <a:path w="22" h="67">
                        <a:moveTo>
                          <a:pt x="13" y="67"/>
                        </a:moveTo>
                        <a:lnTo>
                          <a:pt x="0" y="26"/>
                        </a:lnTo>
                        <a:lnTo>
                          <a:pt x="9" y="0"/>
                        </a:lnTo>
                        <a:lnTo>
                          <a:pt x="22" y="30"/>
                        </a:lnTo>
                        <a:lnTo>
                          <a:pt x="13"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88" name="Freeform 2112"/>
                  <p:cNvSpPr>
                    <a:spLocks/>
                  </p:cNvSpPr>
                  <p:nvPr/>
                </p:nvSpPr>
                <p:spPr bwMode="auto">
                  <a:xfrm>
                    <a:off x="742" y="3535"/>
                    <a:ext cx="36" cy="9"/>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2" y="2"/>
                        </a:lnTo>
                        <a:lnTo>
                          <a:pt x="55" y="11"/>
                        </a:lnTo>
                        <a:lnTo>
                          <a:pt x="73" y="29"/>
                        </a:lnTo>
                        <a:lnTo>
                          <a:pt x="17" y="29"/>
                        </a:lnTo>
                        <a:lnTo>
                          <a:pt x="8"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89" name="Freeform 2113"/>
                  <p:cNvSpPr>
                    <a:spLocks/>
                  </p:cNvSpPr>
                  <p:nvPr/>
                </p:nvSpPr>
                <p:spPr bwMode="auto">
                  <a:xfrm>
                    <a:off x="744" y="3545"/>
                    <a:ext cx="42"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7"/>
                        </a:lnTo>
                        <a:lnTo>
                          <a:pt x="10" y="0"/>
                        </a:lnTo>
                        <a:lnTo>
                          <a:pt x="67" y="0"/>
                        </a:lnTo>
                        <a:lnTo>
                          <a:pt x="82"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77" name="Group 2114"/>
                <p:cNvGrpSpPr>
                  <a:grpSpLocks/>
                </p:cNvGrpSpPr>
                <p:nvPr/>
              </p:nvGrpSpPr>
              <p:grpSpPr bwMode="auto">
                <a:xfrm>
                  <a:off x="748" y="3547"/>
                  <a:ext cx="50" cy="23"/>
                  <a:chOff x="748" y="3547"/>
                  <a:chExt cx="50" cy="23"/>
                </a:xfrm>
              </p:grpSpPr>
              <p:sp>
                <p:nvSpPr>
                  <p:cNvPr id="1884" name="Freeform 2115"/>
                  <p:cNvSpPr>
                    <a:spLocks/>
                  </p:cNvSpPr>
                  <p:nvPr/>
                </p:nvSpPr>
                <p:spPr bwMode="auto">
                  <a:xfrm>
                    <a:off x="748"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85" name="Freeform 2116"/>
                  <p:cNvSpPr>
                    <a:spLocks/>
                  </p:cNvSpPr>
                  <p:nvPr/>
                </p:nvSpPr>
                <p:spPr bwMode="auto">
                  <a:xfrm>
                    <a:off x="753" y="3548"/>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86" name="Freeform 2117"/>
                  <p:cNvSpPr>
                    <a:spLocks/>
                  </p:cNvSpPr>
                  <p:nvPr/>
                </p:nvSpPr>
                <p:spPr bwMode="auto">
                  <a:xfrm>
                    <a:off x="757" y="3558"/>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478" name="Freeform 2118"/>
                <p:cNvSpPr>
                  <a:spLocks/>
                </p:cNvSpPr>
                <p:nvPr/>
              </p:nvSpPr>
              <p:spPr bwMode="auto">
                <a:xfrm>
                  <a:off x="952" y="3538"/>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79" name="Freeform 2119"/>
                <p:cNvSpPr>
                  <a:spLocks/>
                </p:cNvSpPr>
                <p:nvPr/>
              </p:nvSpPr>
              <p:spPr bwMode="auto">
                <a:xfrm>
                  <a:off x="861" y="3535"/>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80" name="Freeform 2120"/>
                <p:cNvSpPr>
                  <a:spLocks/>
                </p:cNvSpPr>
                <p:nvPr/>
              </p:nvSpPr>
              <p:spPr bwMode="auto">
                <a:xfrm>
                  <a:off x="867" y="3535"/>
                  <a:ext cx="34" cy="10"/>
                </a:xfrm>
                <a:custGeom>
                  <a:avLst/>
                  <a:gdLst>
                    <a:gd name="T0" fmla="*/ 0 w 70"/>
                    <a:gd name="T1" fmla="*/ 0 h 30"/>
                    <a:gd name="T2" fmla="*/ 0 w 70"/>
                    <a:gd name="T3" fmla="*/ 0 h 30"/>
                    <a:gd name="T4" fmla="*/ 0 w 70"/>
                    <a:gd name="T5" fmla="*/ 0 h 30"/>
                    <a:gd name="T6" fmla="*/ 0 w 70"/>
                    <a:gd name="T7" fmla="*/ 0 h 30"/>
                    <a:gd name="T8" fmla="*/ 0 w 70"/>
                    <a:gd name="T9" fmla="*/ 0 h 30"/>
                    <a:gd name="T10" fmla="*/ 0 w 70"/>
                    <a:gd name="T11" fmla="*/ 0 h 30"/>
                    <a:gd name="T12" fmla="*/ 0 w 70"/>
                    <a:gd name="T13" fmla="*/ 0 h 30"/>
                    <a:gd name="T14" fmla="*/ 0 w 70"/>
                    <a:gd name="T15" fmla="*/ 0 h 30"/>
                    <a:gd name="T16" fmla="*/ 0 w 70"/>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0"/>
                    <a:gd name="T28" fmla="*/ 0 h 30"/>
                    <a:gd name="T29" fmla="*/ 70 w 70"/>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0" h="30">
                      <a:moveTo>
                        <a:pt x="0" y="0"/>
                      </a:moveTo>
                      <a:lnTo>
                        <a:pt x="49" y="0"/>
                      </a:lnTo>
                      <a:lnTo>
                        <a:pt x="50" y="3"/>
                      </a:lnTo>
                      <a:lnTo>
                        <a:pt x="54" y="13"/>
                      </a:lnTo>
                      <a:lnTo>
                        <a:pt x="70" y="30"/>
                      </a:lnTo>
                      <a:lnTo>
                        <a:pt x="16" y="30"/>
                      </a:lnTo>
                      <a:lnTo>
                        <a:pt x="7" y="21"/>
                      </a:lnTo>
                      <a:lnTo>
                        <a:pt x="0" y="7"/>
                      </a:lnTo>
                      <a:lnTo>
                        <a:pt x="0"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81" name="Freeform 2121"/>
                <p:cNvSpPr>
                  <a:spLocks/>
                </p:cNvSpPr>
                <p:nvPr/>
              </p:nvSpPr>
              <p:spPr bwMode="auto">
                <a:xfrm>
                  <a:off x="868" y="354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482" name="Group 2122"/>
                <p:cNvGrpSpPr>
                  <a:grpSpLocks/>
                </p:cNvGrpSpPr>
                <p:nvPr/>
              </p:nvGrpSpPr>
              <p:grpSpPr bwMode="auto">
                <a:xfrm>
                  <a:off x="872" y="3547"/>
                  <a:ext cx="50" cy="23"/>
                  <a:chOff x="872" y="3547"/>
                  <a:chExt cx="50" cy="23"/>
                </a:xfrm>
              </p:grpSpPr>
              <p:sp>
                <p:nvSpPr>
                  <p:cNvPr id="1881" name="Freeform 2123"/>
                  <p:cNvSpPr>
                    <a:spLocks/>
                  </p:cNvSpPr>
                  <p:nvPr/>
                </p:nvSpPr>
                <p:spPr bwMode="auto">
                  <a:xfrm>
                    <a:off x="872"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82" name="Freeform 2124"/>
                  <p:cNvSpPr>
                    <a:spLocks/>
                  </p:cNvSpPr>
                  <p:nvPr/>
                </p:nvSpPr>
                <p:spPr bwMode="auto">
                  <a:xfrm>
                    <a:off x="878" y="3547"/>
                    <a:ext cx="36" cy="10"/>
                  </a:xfrm>
                  <a:custGeom>
                    <a:avLst/>
                    <a:gdLst>
                      <a:gd name="T0" fmla="*/ 0 w 73"/>
                      <a:gd name="T1" fmla="*/ 0 h 30"/>
                      <a:gd name="T2" fmla="*/ 0 w 73"/>
                      <a:gd name="T3" fmla="*/ 0 h 30"/>
                      <a:gd name="T4" fmla="*/ 0 w 73"/>
                      <a:gd name="T5" fmla="*/ 0 h 30"/>
                      <a:gd name="T6" fmla="*/ 0 w 73"/>
                      <a:gd name="T7" fmla="*/ 0 h 30"/>
                      <a:gd name="T8" fmla="*/ 0 w 73"/>
                      <a:gd name="T9" fmla="*/ 0 h 30"/>
                      <a:gd name="T10" fmla="*/ 0 w 73"/>
                      <a:gd name="T11" fmla="*/ 0 h 30"/>
                      <a:gd name="T12" fmla="*/ 0 w 73"/>
                      <a:gd name="T13" fmla="*/ 0 h 30"/>
                      <a:gd name="T14" fmla="*/ 0 w 73"/>
                      <a:gd name="T15" fmla="*/ 0 h 30"/>
                      <a:gd name="T16" fmla="*/ 0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2" y="0"/>
                        </a:moveTo>
                        <a:lnTo>
                          <a:pt x="49" y="0"/>
                        </a:lnTo>
                        <a:lnTo>
                          <a:pt x="50" y="3"/>
                        </a:lnTo>
                        <a:lnTo>
                          <a:pt x="57" y="12"/>
                        </a:lnTo>
                        <a:lnTo>
                          <a:pt x="73"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83" name="Freeform 2125"/>
                  <p:cNvSpPr>
                    <a:spLocks/>
                  </p:cNvSpPr>
                  <p:nvPr/>
                </p:nvSpPr>
                <p:spPr bwMode="auto">
                  <a:xfrm>
                    <a:off x="880" y="3558"/>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83" name="Group 2126"/>
                <p:cNvGrpSpPr>
                  <a:grpSpLocks/>
                </p:cNvGrpSpPr>
                <p:nvPr/>
              </p:nvGrpSpPr>
              <p:grpSpPr bwMode="auto">
                <a:xfrm>
                  <a:off x="885" y="3559"/>
                  <a:ext cx="50" cy="23"/>
                  <a:chOff x="885" y="3559"/>
                  <a:chExt cx="50" cy="23"/>
                </a:xfrm>
              </p:grpSpPr>
              <p:sp>
                <p:nvSpPr>
                  <p:cNvPr id="1878" name="Freeform 2127"/>
                  <p:cNvSpPr>
                    <a:spLocks/>
                  </p:cNvSpPr>
                  <p:nvPr/>
                </p:nvSpPr>
                <p:spPr bwMode="auto">
                  <a:xfrm>
                    <a:off x="885" y="3559"/>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79" name="Freeform 2128"/>
                  <p:cNvSpPr>
                    <a:spLocks/>
                  </p:cNvSpPr>
                  <p:nvPr/>
                </p:nvSpPr>
                <p:spPr bwMode="auto">
                  <a:xfrm>
                    <a:off x="890" y="3560"/>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3" y="0"/>
                        </a:moveTo>
                        <a:lnTo>
                          <a:pt x="49" y="0"/>
                        </a:lnTo>
                        <a:lnTo>
                          <a:pt x="52" y="3"/>
                        </a:lnTo>
                        <a:lnTo>
                          <a:pt x="57" y="12"/>
                        </a:lnTo>
                        <a:lnTo>
                          <a:pt x="74" y="30"/>
                        </a:lnTo>
                        <a:lnTo>
                          <a:pt x="19" y="30"/>
                        </a:lnTo>
                        <a:lnTo>
                          <a:pt x="10"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80" name="Freeform 2129"/>
                  <p:cNvSpPr>
                    <a:spLocks/>
                  </p:cNvSpPr>
                  <p:nvPr/>
                </p:nvSpPr>
                <p:spPr bwMode="auto">
                  <a:xfrm>
                    <a:off x="893" y="357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84" name="Group 2130"/>
                <p:cNvGrpSpPr>
                  <a:grpSpLocks/>
                </p:cNvGrpSpPr>
                <p:nvPr/>
              </p:nvGrpSpPr>
              <p:grpSpPr bwMode="auto">
                <a:xfrm>
                  <a:off x="898" y="3571"/>
                  <a:ext cx="49" cy="23"/>
                  <a:chOff x="898" y="3571"/>
                  <a:chExt cx="49" cy="23"/>
                </a:xfrm>
              </p:grpSpPr>
              <p:sp>
                <p:nvSpPr>
                  <p:cNvPr id="1875" name="Freeform 2131"/>
                  <p:cNvSpPr>
                    <a:spLocks/>
                  </p:cNvSpPr>
                  <p:nvPr/>
                </p:nvSpPr>
                <p:spPr bwMode="auto">
                  <a:xfrm>
                    <a:off x="898" y="3571"/>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76" name="Freeform 2132"/>
                  <p:cNvSpPr>
                    <a:spLocks/>
                  </p:cNvSpPr>
                  <p:nvPr/>
                </p:nvSpPr>
                <p:spPr bwMode="auto">
                  <a:xfrm>
                    <a:off x="903" y="3572"/>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2"/>
                        </a:lnTo>
                        <a:lnTo>
                          <a:pt x="57" y="11"/>
                        </a:lnTo>
                        <a:lnTo>
                          <a:pt x="75" y="29"/>
                        </a:lnTo>
                        <a:lnTo>
                          <a:pt x="19" y="29"/>
                        </a:lnTo>
                        <a:lnTo>
                          <a:pt x="11"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77" name="Freeform 2133"/>
                  <p:cNvSpPr>
                    <a:spLocks/>
                  </p:cNvSpPr>
                  <p:nvPr/>
                </p:nvSpPr>
                <p:spPr bwMode="auto">
                  <a:xfrm>
                    <a:off x="907" y="3582"/>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85" name="Group 2134"/>
                <p:cNvGrpSpPr>
                  <a:grpSpLocks/>
                </p:cNvGrpSpPr>
                <p:nvPr/>
              </p:nvGrpSpPr>
              <p:grpSpPr bwMode="auto">
                <a:xfrm>
                  <a:off x="911" y="3585"/>
                  <a:ext cx="49" cy="23"/>
                  <a:chOff x="911" y="3585"/>
                  <a:chExt cx="49" cy="23"/>
                </a:xfrm>
              </p:grpSpPr>
              <p:sp>
                <p:nvSpPr>
                  <p:cNvPr id="1872" name="Freeform 2135"/>
                  <p:cNvSpPr>
                    <a:spLocks/>
                  </p:cNvSpPr>
                  <p:nvPr/>
                </p:nvSpPr>
                <p:spPr bwMode="auto">
                  <a:xfrm>
                    <a:off x="911" y="3585"/>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0"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73" name="Freeform 2136"/>
                  <p:cNvSpPr>
                    <a:spLocks/>
                  </p:cNvSpPr>
                  <p:nvPr/>
                </p:nvSpPr>
                <p:spPr bwMode="auto">
                  <a:xfrm>
                    <a:off x="915" y="3585"/>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2" y="0"/>
                        </a:lnTo>
                        <a:lnTo>
                          <a:pt x="53" y="3"/>
                        </a:lnTo>
                        <a:lnTo>
                          <a:pt x="57" y="12"/>
                        </a:lnTo>
                        <a:lnTo>
                          <a:pt x="75" y="30"/>
                        </a:lnTo>
                        <a:lnTo>
                          <a:pt x="19" y="30"/>
                        </a:lnTo>
                        <a:lnTo>
                          <a:pt x="11"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74" name="Freeform 2137"/>
                  <p:cNvSpPr>
                    <a:spLocks/>
                  </p:cNvSpPr>
                  <p:nvPr/>
                </p:nvSpPr>
                <p:spPr bwMode="auto">
                  <a:xfrm>
                    <a:off x="919" y="359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86" name="Group 2138"/>
                <p:cNvGrpSpPr>
                  <a:grpSpLocks/>
                </p:cNvGrpSpPr>
                <p:nvPr/>
              </p:nvGrpSpPr>
              <p:grpSpPr bwMode="auto">
                <a:xfrm>
                  <a:off x="923" y="3600"/>
                  <a:ext cx="99" cy="73"/>
                  <a:chOff x="923" y="3600"/>
                  <a:chExt cx="99" cy="73"/>
                </a:xfrm>
              </p:grpSpPr>
              <p:grpSp>
                <p:nvGrpSpPr>
                  <p:cNvPr id="1852" name="Group 2139"/>
                  <p:cNvGrpSpPr>
                    <a:grpSpLocks/>
                  </p:cNvGrpSpPr>
                  <p:nvPr/>
                </p:nvGrpSpPr>
                <p:grpSpPr bwMode="auto">
                  <a:xfrm>
                    <a:off x="923" y="3600"/>
                    <a:ext cx="49" cy="23"/>
                    <a:chOff x="923" y="3600"/>
                    <a:chExt cx="49" cy="23"/>
                  </a:xfrm>
                </p:grpSpPr>
                <p:sp>
                  <p:nvSpPr>
                    <p:cNvPr id="1869" name="Freeform 2140"/>
                    <p:cNvSpPr>
                      <a:spLocks/>
                    </p:cNvSpPr>
                    <p:nvPr/>
                  </p:nvSpPr>
                  <p:spPr bwMode="auto">
                    <a:xfrm>
                      <a:off x="923" y="3600"/>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0"/>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70" name="Freeform 2141"/>
                    <p:cNvSpPr>
                      <a:spLocks/>
                    </p:cNvSpPr>
                    <p:nvPr/>
                  </p:nvSpPr>
                  <p:spPr bwMode="auto">
                    <a:xfrm>
                      <a:off x="928" y="3600"/>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3"/>
                          </a:lnTo>
                          <a:lnTo>
                            <a:pt x="57" y="12"/>
                          </a:lnTo>
                          <a:lnTo>
                            <a:pt x="75" y="29"/>
                          </a:lnTo>
                          <a:lnTo>
                            <a:pt x="19" y="29"/>
                          </a:lnTo>
                          <a:lnTo>
                            <a:pt x="9"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71" name="Freeform 2142"/>
                    <p:cNvSpPr>
                      <a:spLocks/>
                    </p:cNvSpPr>
                    <p:nvPr/>
                  </p:nvSpPr>
                  <p:spPr bwMode="auto">
                    <a:xfrm>
                      <a:off x="930" y="3610"/>
                      <a:ext cx="42" cy="13"/>
                    </a:xfrm>
                    <a:custGeom>
                      <a:avLst/>
                      <a:gdLst>
                        <a:gd name="T0" fmla="*/ 0 w 82"/>
                        <a:gd name="T1" fmla="*/ 0 h 37"/>
                        <a:gd name="T2" fmla="*/ 1 w 82"/>
                        <a:gd name="T3" fmla="*/ 0 h 37"/>
                        <a:gd name="T4" fmla="*/ 1 w 82"/>
                        <a:gd name="T5" fmla="*/ 0 h 37"/>
                        <a:gd name="T6" fmla="*/ 1 w 82"/>
                        <a:gd name="T7" fmla="*/ 0 h 37"/>
                        <a:gd name="T8" fmla="*/ 1 w 82"/>
                        <a:gd name="T9" fmla="*/ 0 h 37"/>
                        <a:gd name="T10" fmla="*/ 1 w 82"/>
                        <a:gd name="T11" fmla="*/ 0 h 37"/>
                        <a:gd name="T12" fmla="*/ 0 w 82"/>
                        <a:gd name="T13" fmla="*/ 0 h 37"/>
                        <a:gd name="T14" fmla="*/ 0 60000 65536"/>
                        <a:gd name="T15" fmla="*/ 0 60000 65536"/>
                        <a:gd name="T16" fmla="*/ 0 60000 65536"/>
                        <a:gd name="T17" fmla="*/ 0 60000 65536"/>
                        <a:gd name="T18" fmla="*/ 0 60000 65536"/>
                        <a:gd name="T19" fmla="*/ 0 60000 65536"/>
                        <a:gd name="T20" fmla="*/ 0 60000 65536"/>
                        <a:gd name="T21" fmla="*/ 0 w 82"/>
                        <a:gd name="T22" fmla="*/ 0 h 37"/>
                        <a:gd name="T23" fmla="*/ 82 w 82"/>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7">
                          <a:moveTo>
                            <a:pt x="0" y="37"/>
                          </a:moveTo>
                          <a:lnTo>
                            <a:pt x="2" y="22"/>
                          </a:lnTo>
                          <a:lnTo>
                            <a:pt x="7" y="7"/>
                          </a:lnTo>
                          <a:lnTo>
                            <a:pt x="13" y="0"/>
                          </a:lnTo>
                          <a:lnTo>
                            <a:pt x="69" y="0"/>
                          </a:lnTo>
                          <a:lnTo>
                            <a:pt x="82"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853" name="Group 2143"/>
                  <p:cNvGrpSpPr>
                    <a:grpSpLocks/>
                  </p:cNvGrpSpPr>
                  <p:nvPr/>
                </p:nvGrpSpPr>
                <p:grpSpPr bwMode="auto">
                  <a:xfrm>
                    <a:off x="935" y="3612"/>
                    <a:ext cx="48" cy="23"/>
                    <a:chOff x="935" y="3612"/>
                    <a:chExt cx="48" cy="23"/>
                  </a:xfrm>
                </p:grpSpPr>
                <p:sp>
                  <p:nvSpPr>
                    <p:cNvPr id="1866" name="Freeform 2144"/>
                    <p:cNvSpPr>
                      <a:spLocks/>
                    </p:cNvSpPr>
                    <p:nvPr/>
                  </p:nvSpPr>
                  <p:spPr bwMode="auto">
                    <a:xfrm>
                      <a:off x="935"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67" name="Freeform 2145"/>
                    <p:cNvSpPr>
                      <a:spLocks/>
                    </p:cNvSpPr>
                    <p:nvPr/>
                  </p:nvSpPr>
                  <p:spPr bwMode="auto">
                    <a:xfrm>
                      <a:off x="939" y="3612"/>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3" y="3"/>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68" name="Freeform 2146"/>
                    <p:cNvSpPr>
                      <a:spLocks/>
                    </p:cNvSpPr>
                    <p:nvPr/>
                  </p:nvSpPr>
                  <p:spPr bwMode="auto">
                    <a:xfrm>
                      <a:off x="943"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854" name="Group 2147"/>
                  <p:cNvGrpSpPr>
                    <a:grpSpLocks/>
                  </p:cNvGrpSpPr>
                  <p:nvPr/>
                </p:nvGrpSpPr>
                <p:grpSpPr bwMode="auto">
                  <a:xfrm>
                    <a:off x="947" y="3625"/>
                    <a:ext cx="50" cy="22"/>
                    <a:chOff x="947" y="3625"/>
                    <a:chExt cx="50" cy="22"/>
                  </a:xfrm>
                </p:grpSpPr>
                <p:sp>
                  <p:nvSpPr>
                    <p:cNvPr id="1863" name="Freeform 2148"/>
                    <p:cNvSpPr>
                      <a:spLocks/>
                    </p:cNvSpPr>
                    <p:nvPr/>
                  </p:nvSpPr>
                  <p:spPr bwMode="auto">
                    <a:xfrm>
                      <a:off x="947" y="3625"/>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64" name="Freeform 2149"/>
                    <p:cNvSpPr>
                      <a:spLocks/>
                    </p:cNvSpPr>
                    <p:nvPr/>
                  </p:nvSpPr>
                  <p:spPr bwMode="auto">
                    <a:xfrm>
                      <a:off x="953" y="3625"/>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1" y="2"/>
                          </a:lnTo>
                          <a:lnTo>
                            <a:pt x="57" y="11"/>
                          </a:lnTo>
                          <a:lnTo>
                            <a:pt x="73" y="29"/>
                          </a:lnTo>
                          <a:lnTo>
                            <a:pt x="19"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65" name="Freeform 2150"/>
                    <p:cNvSpPr>
                      <a:spLocks/>
                    </p:cNvSpPr>
                    <p:nvPr/>
                  </p:nvSpPr>
                  <p:spPr bwMode="auto">
                    <a:xfrm>
                      <a:off x="955" y="363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0"/>
                          </a:lnTo>
                          <a:lnTo>
                            <a:pt x="7" y="8"/>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855" name="Group 2151"/>
                  <p:cNvGrpSpPr>
                    <a:grpSpLocks/>
                  </p:cNvGrpSpPr>
                  <p:nvPr/>
                </p:nvGrpSpPr>
                <p:grpSpPr bwMode="auto">
                  <a:xfrm>
                    <a:off x="960" y="3637"/>
                    <a:ext cx="50" cy="23"/>
                    <a:chOff x="960" y="3637"/>
                    <a:chExt cx="50" cy="23"/>
                  </a:xfrm>
                </p:grpSpPr>
                <p:sp>
                  <p:nvSpPr>
                    <p:cNvPr id="1860" name="Freeform 2152"/>
                    <p:cNvSpPr>
                      <a:spLocks/>
                    </p:cNvSpPr>
                    <p:nvPr/>
                  </p:nvSpPr>
                  <p:spPr bwMode="auto">
                    <a:xfrm>
                      <a:off x="960" y="363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7"/>
                          </a:lnTo>
                          <a:lnTo>
                            <a:pt x="12"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61" name="Freeform 2153"/>
                    <p:cNvSpPr>
                      <a:spLocks/>
                    </p:cNvSpPr>
                    <p:nvPr/>
                  </p:nvSpPr>
                  <p:spPr bwMode="auto">
                    <a:xfrm>
                      <a:off x="965" y="3638"/>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3" y="0"/>
                          </a:moveTo>
                          <a:lnTo>
                            <a:pt x="49" y="0"/>
                          </a:lnTo>
                          <a:lnTo>
                            <a:pt x="53" y="2"/>
                          </a:lnTo>
                          <a:lnTo>
                            <a:pt x="57" y="11"/>
                          </a:lnTo>
                          <a:lnTo>
                            <a:pt x="74" y="29"/>
                          </a:lnTo>
                          <a:lnTo>
                            <a:pt x="19"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62" name="Freeform 2154"/>
                    <p:cNvSpPr>
                      <a:spLocks/>
                    </p:cNvSpPr>
                    <p:nvPr/>
                  </p:nvSpPr>
                  <p:spPr bwMode="auto">
                    <a:xfrm>
                      <a:off x="968" y="3648"/>
                      <a:ext cx="42" cy="12"/>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1" y="19"/>
                          </a:lnTo>
                          <a:lnTo>
                            <a:pt x="6" y="7"/>
                          </a:lnTo>
                          <a:lnTo>
                            <a:pt x="10"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856" name="Group 2155"/>
                  <p:cNvGrpSpPr>
                    <a:grpSpLocks/>
                  </p:cNvGrpSpPr>
                  <p:nvPr/>
                </p:nvGrpSpPr>
                <p:grpSpPr bwMode="auto">
                  <a:xfrm>
                    <a:off x="973" y="3650"/>
                    <a:ext cx="49" cy="23"/>
                    <a:chOff x="973" y="3650"/>
                    <a:chExt cx="49" cy="23"/>
                  </a:xfrm>
                </p:grpSpPr>
                <p:sp>
                  <p:nvSpPr>
                    <p:cNvPr id="1857" name="Freeform 2156"/>
                    <p:cNvSpPr>
                      <a:spLocks/>
                    </p:cNvSpPr>
                    <p:nvPr/>
                  </p:nvSpPr>
                  <p:spPr bwMode="auto">
                    <a:xfrm>
                      <a:off x="973" y="3650"/>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58" name="Freeform 2157"/>
                    <p:cNvSpPr>
                      <a:spLocks/>
                    </p:cNvSpPr>
                    <p:nvPr/>
                  </p:nvSpPr>
                  <p:spPr bwMode="auto">
                    <a:xfrm>
                      <a:off x="978"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49" y="0"/>
                          </a:lnTo>
                          <a:lnTo>
                            <a:pt x="50" y="2"/>
                          </a:lnTo>
                          <a:lnTo>
                            <a:pt x="57" y="11"/>
                          </a:lnTo>
                          <a:lnTo>
                            <a:pt x="74" y="29"/>
                          </a:lnTo>
                          <a:lnTo>
                            <a:pt x="19" y="29"/>
                          </a:lnTo>
                          <a:lnTo>
                            <a:pt x="10"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59" name="Freeform 2158"/>
                    <p:cNvSpPr>
                      <a:spLocks/>
                    </p:cNvSpPr>
                    <p:nvPr/>
                  </p:nvSpPr>
                  <p:spPr bwMode="auto">
                    <a:xfrm>
                      <a:off x="982" y="3661"/>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5"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487" name="Group 2159"/>
                <p:cNvGrpSpPr>
                  <a:grpSpLocks/>
                </p:cNvGrpSpPr>
                <p:nvPr/>
              </p:nvGrpSpPr>
              <p:grpSpPr bwMode="auto">
                <a:xfrm>
                  <a:off x="985" y="3665"/>
                  <a:ext cx="100" cy="73"/>
                  <a:chOff x="985" y="3665"/>
                  <a:chExt cx="100" cy="73"/>
                </a:xfrm>
              </p:grpSpPr>
              <p:grpSp>
                <p:nvGrpSpPr>
                  <p:cNvPr id="1832" name="Group 2160"/>
                  <p:cNvGrpSpPr>
                    <a:grpSpLocks/>
                  </p:cNvGrpSpPr>
                  <p:nvPr/>
                </p:nvGrpSpPr>
                <p:grpSpPr bwMode="auto">
                  <a:xfrm>
                    <a:off x="985" y="3665"/>
                    <a:ext cx="50" cy="23"/>
                    <a:chOff x="985" y="3665"/>
                    <a:chExt cx="50" cy="23"/>
                  </a:xfrm>
                </p:grpSpPr>
                <p:sp>
                  <p:nvSpPr>
                    <p:cNvPr id="1849" name="Freeform 2161"/>
                    <p:cNvSpPr>
                      <a:spLocks/>
                    </p:cNvSpPr>
                    <p:nvPr/>
                  </p:nvSpPr>
                  <p:spPr bwMode="auto">
                    <a:xfrm>
                      <a:off x="985" y="366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50" name="Freeform 2162"/>
                    <p:cNvSpPr>
                      <a:spLocks/>
                    </p:cNvSpPr>
                    <p:nvPr/>
                  </p:nvSpPr>
                  <p:spPr bwMode="auto">
                    <a:xfrm>
                      <a:off x="989" y="3665"/>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51" name="Freeform 2163"/>
                    <p:cNvSpPr>
                      <a:spLocks/>
                    </p:cNvSpPr>
                    <p:nvPr/>
                  </p:nvSpPr>
                  <p:spPr bwMode="auto">
                    <a:xfrm>
                      <a:off x="993"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833" name="Group 2164"/>
                  <p:cNvGrpSpPr>
                    <a:grpSpLocks/>
                  </p:cNvGrpSpPr>
                  <p:nvPr/>
                </p:nvGrpSpPr>
                <p:grpSpPr bwMode="auto">
                  <a:xfrm>
                    <a:off x="997" y="3677"/>
                    <a:ext cx="49" cy="23"/>
                    <a:chOff x="997" y="3677"/>
                    <a:chExt cx="49" cy="23"/>
                  </a:xfrm>
                </p:grpSpPr>
                <p:sp>
                  <p:nvSpPr>
                    <p:cNvPr id="1846" name="Freeform 2165"/>
                    <p:cNvSpPr>
                      <a:spLocks/>
                    </p:cNvSpPr>
                    <p:nvPr/>
                  </p:nvSpPr>
                  <p:spPr bwMode="auto">
                    <a:xfrm>
                      <a:off x="997" y="367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1"/>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47" name="Freeform 2166"/>
                    <p:cNvSpPr>
                      <a:spLocks/>
                    </p:cNvSpPr>
                    <p:nvPr/>
                  </p:nvSpPr>
                  <p:spPr bwMode="auto">
                    <a:xfrm>
                      <a:off x="1002" y="367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10"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48" name="Freeform 2167"/>
                    <p:cNvSpPr>
                      <a:spLocks/>
                    </p:cNvSpPr>
                    <p:nvPr/>
                  </p:nvSpPr>
                  <p:spPr bwMode="auto">
                    <a:xfrm>
                      <a:off x="1005" y="3688"/>
                      <a:ext cx="41" cy="12"/>
                    </a:xfrm>
                    <a:custGeom>
                      <a:avLst/>
                      <a:gdLst>
                        <a:gd name="T0" fmla="*/ 0 w 83"/>
                        <a:gd name="T1" fmla="*/ 0 h 37"/>
                        <a:gd name="T2" fmla="*/ 0 w 83"/>
                        <a:gd name="T3" fmla="*/ 0 h 37"/>
                        <a:gd name="T4" fmla="*/ 0 w 83"/>
                        <a:gd name="T5" fmla="*/ 0 h 37"/>
                        <a:gd name="T6" fmla="*/ 0 w 83"/>
                        <a:gd name="T7" fmla="*/ 0 h 37"/>
                        <a:gd name="T8" fmla="*/ 0 w 83"/>
                        <a:gd name="T9" fmla="*/ 0 h 37"/>
                        <a:gd name="T10" fmla="*/ 0 w 83"/>
                        <a:gd name="T11" fmla="*/ 0 h 37"/>
                        <a:gd name="T12" fmla="*/ 0 w 83"/>
                        <a:gd name="T13" fmla="*/ 0 h 37"/>
                        <a:gd name="T14" fmla="*/ 0 60000 65536"/>
                        <a:gd name="T15" fmla="*/ 0 60000 65536"/>
                        <a:gd name="T16" fmla="*/ 0 60000 65536"/>
                        <a:gd name="T17" fmla="*/ 0 60000 65536"/>
                        <a:gd name="T18" fmla="*/ 0 60000 65536"/>
                        <a:gd name="T19" fmla="*/ 0 60000 65536"/>
                        <a:gd name="T20" fmla="*/ 0 60000 65536"/>
                        <a:gd name="T21" fmla="*/ 0 w 83"/>
                        <a:gd name="T22" fmla="*/ 0 h 37"/>
                        <a:gd name="T23" fmla="*/ 83 w 83"/>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7">
                          <a:moveTo>
                            <a:pt x="0" y="37"/>
                          </a:moveTo>
                          <a:lnTo>
                            <a:pt x="4" y="19"/>
                          </a:lnTo>
                          <a:lnTo>
                            <a:pt x="8" y="8"/>
                          </a:lnTo>
                          <a:lnTo>
                            <a:pt x="13" y="0"/>
                          </a:lnTo>
                          <a:lnTo>
                            <a:pt x="68" y="0"/>
                          </a:lnTo>
                          <a:lnTo>
                            <a:pt x="83"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834" name="Group 2168"/>
                  <p:cNvGrpSpPr>
                    <a:grpSpLocks/>
                  </p:cNvGrpSpPr>
                  <p:nvPr/>
                </p:nvGrpSpPr>
                <p:grpSpPr bwMode="auto">
                  <a:xfrm>
                    <a:off x="1010" y="3690"/>
                    <a:ext cx="48" cy="23"/>
                    <a:chOff x="1010" y="3690"/>
                    <a:chExt cx="48" cy="23"/>
                  </a:xfrm>
                </p:grpSpPr>
                <p:sp>
                  <p:nvSpPr>
                    <p:cNvPr id="1843" name="Freeform 2169"/>
                    <p:cNvSpPr>
                      <a:spLocks/>
                    </p:cNvSpPr>
                    <p:nvPr/>
                  </p:nvSpPr>
                  <p:spPr bwMode="auto">
                    <a:xfrm>
                      <a:off x="1010" y="3690"/>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44" name="Freeform 2170"/>
                    <p:cNvSpPr>
                      <a:spLocks/>
                    </p:cNvSpPr>
                    <p:nvPr/>
                  </p:nvSpPr>
                  <p:spPr bwMode="auto">
                    <a:xfrm>
                      <a:off x="1014" y="369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3"/>
                          </a:lnTo>
                          <a:lnTo>
                            <a:pt x="56" y="12"/>
                          </a:lnTo>
                          <a:lnTo>
                            <a:pt x="75" y="31"/>
                          </a:lnTo>
                          <a:lnTo>
                            <a:pt x="18" y="31"/>
                          </a:lnTo>
                          <a:lnTo>
                            <a:pt x="9" y="22"/>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45" name="Freeform 2171"/>
                    <p:cNvSpPr>
                      <a:spLocks/>
                    </p:cNvSpPr>
                    <p:nvPr/>
                  </p:nvSpPr>
                  <p:spPr bwMode="auto">
                    <a:xfrm>
                      <a:off x="1018" y="3701"/>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8" y="7"/>
                          </a:lnTo>
                          <a:lnTo>
                            <a:pt x="12" y="0"/>
                          </a:lnTo>
                          <a:lnTo>
                            <a:pt x="69"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835" name="Group 2172"/>
                  <p:cNvGrpSpPr>
                    <a:grpSpLocks/>
                  </p:cNvGrpSpPr>
                  <p:nvPr/>
                </p:nvGrpSpPr>
                <p:grpSpPr bwMode="auto">
                  <a:xfrm>
                    <a:off x="1023" y="3703"/>
                    <a:ext cx="49" cy="22"/>
                    <a:chOff x="1023" y="3703"/>
                    <a:chExt cx="49" cy="22"/>
                  </a:xfrm>
                </p:grpSpPr>
                <p:sp>
                  <p:nvSpPr>
                    <p:cNvPr id="1840" name="Freeform 2173"/>
                    <p:cNvSpPr>
                      <a:spLocks/>
                    </p:cNvSpPr>
                    <p:nvPr/>
                  </p:nvSpPr>
                  <p:spPr bwMode="auto">
                    <a:xfrm>
                      <a:off x="1023" y="3703"/>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3" y="68"/>
                          </a:moveTo>
                          <a:lnTo>
                            <a:pt x="0" y="27"/>
                          </a:lnTo>
                          <a:lnTo>
                            <a:pt x="9" y="0"/>
                          </a:lnTo>
                          <a:lnTo>
                            <a:pt x="25"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41" name="Freeform 2174"/>
                    <p:cNvSpPr>
                      <a:spLocks/>
                    </p:cNvSpPr>
                    <p:nvPr/>
                  </p:nvSpPr>
                  <p:spPr bwMode="auto">
                    <a:xfrm>
                      <a:off x="1028" y="3703"/>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42" name="Freeform 2175"/>
                    <p:cNvSpPr>
                      <a:spLocks/>
                    </p:cNvSpPr>
                    <p:nvPr/>
                  </p:nvSpPr>
                  <p:spPr bwMode="auto">
                    <a:xfrm>
                      <a:off x="1030" y="371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3" y="0"/>
                          </a:lnTo>
                          <a:lnTo>
                            <a:pt x="70"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836" name="Group 2176"/>
                  <p:cNvGrpSpPr>
                    <a:grpSpLocks/>
                  </p:cNvGrpSpPr>
                  <p:nvPr/>
                </p:nvGrpSpPr>
                <p:grpSpPr bwMode="auto">
                  <a:xfrm>
                    <a:off x="1036" y="3716"/>
                    <a:ext cx="49" cy="22"/>
                    <a:chOff x="1036" y="3716"/>
                    <a:chExt cx="49" cy="22"/>
                  </a:xfrm>
                </p:grpSpPr>
                <p:sp>
                  <p:nvSpPr>
                    <p:cNvPr id="1837" name="Freeform 2177"/>
                    <p:cNvSpPr>
                      <a:spLocks/>
                    </p:cNvSpPr>
                    <p:nvPr/>
                  </p:nvSpPr>
                  <p:spPr bwMode="auto">
                    <a:xfrm>
                      <a:off x="1036" y="3716"/>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38" name="Freeform 2178"/>
                    <p:cNvSpPr>
                      <a:spLocks/>
                    </p:cNvSpPr>
                    <p:nvPr/>
                  </p:nvSpPr>
                  <p:spPr bwMode="auto">
                    <a:xfrm>
                      <a:off x="1040" y="371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3" y="0"/>
                          </a:moveTo>
                          <a:lnTo>
                            <a:pt x="51" y="0"/>
                          </a:lnTo>
                          <a:lnTo>
                            <a:pt x="53" y="2"/>
                          </a:lnTo>
                          <a:lnTo>
                            <a:pt x="57" y="11"/>
                          </a:lnTo>
                          <a:lnTo>
                            <a:pt x="75" y="29"/>
                          </a:lnTo>
                          <a:lnTo>
                            <a:pt x="18"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39" name="Freeform 2179"/>
                    <p:cNvSpPr>
                      <a:spLocks/>
                    </p:cNvSpPr>
                    <p:nvPr/>
                  </p:nvSpPr>
                  <p:spPr bwMode="auto">
                    <a:xfrm>
                      <a:off x="1043" y="3726"/>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6" y="8"/>
                          </a:lnTo>
                          <a:lnTo>
                            <a:pt x="10"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488" name="Group 2180"/>
                <p:cNvGrpSpPr>
                  <a:grpSpLocks/>
                </p:cNvGrpSpPr>
                <p:nvPr/>
              </p:nvGrpSpPr>
              <p:grpSpPr bwMode="auto">
                <a:xfrm>
                  <a:off x="1046" y="3727"/>
                  <a:ext cx="49" cy="23"/>
                  <a:chOff x="1046" y="3727"/>
                  <a:chExt cx="49" cy="23"/>
                </a:xfrm>
              </p:grpSpPr>
              <p:sp>
                <p:nvSpPr>
                  <p:cNvPr id="1829" name="Freeform 2181"/>
                  <p:cNvSpPr>
                    <a:spLocks/>
                  </p:cNvSpPr>
                  <p:nvPr/>
                </p:nvSpPr>
                <p:spPr bwMode="auto">
                  <a:xfrm>
                    <a:off x="1046" y="372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2"/>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30" name="Freeform 2182"/>
                  <p:cNvSpPr>
                    <a:spLocks/>
                  </p:cNvSpPr>
                  <p:nvPr/>
                </p:nvSpPr>
                <p:spPr bwMode="auto">
                  <a:xfrm>
                    <a:off x="1051" y="3727"/>
                    <a:ext cx="36" cy="11"/>
                  </a:xfrm>
                  <a:custGeom>
                    <a:avLst/>
                    <a:gdLst>
                      <a:gd name="T0" fmla="*/ 0 w 73"/>
                      <a:gd name="T1" fmla="*/ 0 h 31"/>
                      <a:gd name="T2" fmla="*/ 0 w 73"/>
                      <a:gd name="T3" fmla="*/ 0 h 31"/>
                      <a:gd name="T4" fmla="*/ 0 w 73"/>
                      <a:gd name="T5" fmla="*/ 0 h 31"/>
                      <a:gd name="T6" fmla="*/ 0 w 73"/>
                      <a:gd name="T7" fmla="*/ 0 h 31"/>
                      <a:gd name="T8" fmla="*/ 0 w 73"/>
                      <a:gd name="T9" fmla="*/ 0 h 31"/>
                      <a:gd name="T10" fmla="*/ 0 w 73"/>
                      <a:gd name="T11" fmla="*/ 0 h 31"/>
                      <a:gd name="T12" fmla="*/ 0 w 73"/>
                      <a:gd name="T13" fmla="*/ 0 h 31"/>
                      <a:gd name="T14" fmla="*/ 0 w 73"/>
                      <a:gd name="T15" fmla="*/ 0 h 31"/>
                      <a:gd name="T16" fmla="*/ 0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9" y="0"/>
                        </a:lnTo>
                        <a:lnTo>
                          <a:pt x="50" y="4"/>
                        </a:lnTo>
                        <a:lnTo>
                          <a:pt x="57" y="13"/>
                        </a:lnTo>
                        <a:lnTo>
                          <a:pt x="73" y="31"/>
                        </a:lnTo>
                        <a:lnTo>
                          <a:pt x="17"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31" name="Freeform 2183"/>
                  <p:cNvSpPr>
                    <a:spLocks/>
                  </p:cNvSpPr>
                  <p:nvPr/>
                </p:nvSpPr>
                <p:spPr bwMode="auto">
                  <a:xfrm>
                    <a:off x="1054" y="3738"/>
                    <a:ext cx="41"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6"/>
                        </a:lnTo>
                        <a:lnTo>
                          <a:pt x="10"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89" name="Group 2184"/>
                <p:cNvGrpSpPr>
                  <a:grpSpLocks/>
                </p:cNvGrpSpPr>
                <p:nvPr/>
              </p:nvGrpSpPr>
              <p:grpSpPr bwMode="auto">
                <a:xfrm>
                  <a:off x="1058" y="3739"/>
                  <a:ext cx="50" cy="23"/>
                  <a:chOff x="1058" y="3739"/>
                  <a:chExt cx="50" cy="23"/>
                </a:xfrm>
              </p:grpSpPr>
              <p:sp>
                <p:nvSpPr>
                  <p:cNvPr id="1826" name="Freeform 2185"/>
                  <p:cNvSpPr>
                    <a:spLocks/>
                  </p:cNvSpPr>
                  <p:nvPr/>
                </p:nvSpPr>
                <p:spPr bwMode="auto">
                  <a:xfrm>
                    <a:off x="1058" y="3739"/>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27" name="Freeform 2186"/>
                  <p:cNvSpPr>
                    <a:spLocks/>
                  </p:cNvSpPr>
                  <p:nvPr/>
                </p:nvSpPr>
                <p:spPr bwMode="auto">
                  <a:xfrm>
                    <a:off x="1063" y="3740"/>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0" y="0"/>
                        </a:lnTo>
                        <a:lnTo>
                          <a:pt x="51" y="3"/>
                        </a:lnTo>
                        <a:lnTo>
                          <a:pt x="58" y="12"/>
                        </a:lnTo>
                        <a:lnTo>
                          <a:pt x="75" y="30"/>
                        </a:lnTo>
                        <a:lnTo>
                          <a:pt x="18" y="30"/>
                        </a:lnTo>
                        <a:lnTo>
                          <a:pt x="11" y="21"/>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28" name="Freeform 2187"/>
                  <p:cNvSpPr>
                    <a:spLocks/>
                  </p:cNvSpPr>
                  <p:nvPr/>
                </p:nvSpPr>
                <p:spPr bwMode="auto">
                  <a:xfrm>
                    <a:off x="1067" y="3750"/>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90" name="Group 2188"/>
                <p:cNvGrpSpPr>
                  <a:grpSpLocks/>
                </p:cNvGrpSpPr>
                <p:nvPr/>
              </p:nvGrpSpPr>
              <p:grpSpPr bwMode="auto">
                <a:xfrm>
                  <a:off x="1072" y="3753"/>
                  <a:ext cx="48" cy="22"/>
                  <a:chOff x="1072" y="3753"/>
                  <a:chExt cx="48" cy="22"/>
                </a:xfrm>
              </p:grpSpPr>
              <p:sp>
                <p:nvSpPr>
                  <p:cNvPr id="1823" name="Freeform 2189"/>
                  <p:cNvSpPr>
                    <a:spLocks/>
                  </p:cNvSpPr>
                  <p:nvPr/>
                </p:nvSpPr>
                <p:spPr bwMode="auto">
                  <a:xfrm>
                    <a:off x="1072" y="3753"/>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9"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24" name="Freeform 2190"/>
                  <p:cNvSpPr>
                    <a:spLocks/>
                  </p:cNvSpPr>
                  <p:nvPr/>
                </p:nvSpPr>
                <p:spPr bwMode="auto">
                  <a:xfrm>
                    <a:off x="1076" y="3753"/>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0" y="0"/>
                        </a:lnTo>
                        <a:lnTo>
                          <a:pt x="52" y="4"/>
                        </a:lnTo>
                        <a:lnTo>
                          <a:pt x="57" y="13"/>
                        </a:lnTo>
                        <a:lnTo>
                          <a:pt x="74" y="31"/>
                        </a:lnTo>
                        <a:lnTo>
                          <a:pt x="19" y="31"/>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25" name="Freeform 2191"/>
                  <p:cNvSpPr>
                    <a:spLocks/>
                  </p:cNvSpPr>
                  <p:nvPr/>
                </p:nvSpPr>
                <p:spPr bwMode="auto">
                  <a:xfrm>
                    <a:off x="1079" y="376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3" y="20"/>
                        </a:lnTo>
                        <a:lnTo>
                          <a:pt x="6"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491" name="Freeform 2192"/>
                <p:cNvSpPr>
                  <a:spLocks/>
                </p:cNvSpPr>
                <p:nvPr/>
              </p:nvSpPr>
              <p:spPr bwMode="auto">
                <a:xfrm>
                  <a:off x="820" y="3535"/>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1"/>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92" name="Freeform 2193"/>
                <p:cNvSpPr>
                  <a:spLocks/>
                </p:cNvSpPr>
                <p:nvPr/>
              </p:nvSpPr>
              <p:spPr bwMode="auto">
                <a:xfrm>
                  <a:off x="825" y="3535"/>
                  <a:ext cx="36" cy="9"/>
                </a:xfrm>
                <a:custGeom>
                  <a:avLst/>
                  <a:gdLst>
                    <a:gd name="T0" fmla="*/ 0 w 71"/>
                    <a:gd name="T1" fmla="*/ 0 h 27"/>
                    <a:gd name="T2" fmla="*/ 1 w 71"/>
                    <a:gd name="T3" fmla="*/ 0 h 27"/>
                    <a:gd name="T4" fmla="*/ 1 w 71"/>
                    <a:gd name="T5" fmla="*/ 0 h 27"/>
                    <a:gd name="T6" fmla="*/ 1 w 71"/>
                    <a:gd name="T7" fmla="*/ 0 h 27"/>
                    <a:gd name="T8" fmla="*/ 1 w 71"/>
                    <a:gd name="T9" fmla="*/ 0 h 27"/>
                    <a:gd name="T10" fmla="*/ 1 w 71"/>
                    <a:gd name="T11" fmla="*/ 0 h 27"/>
                    <a:gd name="T12" fmla="*/ 1 w 71"/>
                    <a:gd name="T13" fmla="*/ 0 h 27"/>
                    <a:gd name="T14" fmla="*/ 0 w 71"/>
                    <a:gd name="T15" fmla="*/ 0 h 27"/>
                    <a:gd name="T16" fmla="*/ 0 w 71"/>
                    <a:gd name="T17" fmla="*/ 0 h 2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1"/>
                    <a:gd name="T28" fmla="*/ 0 h 27"/>
                    <a:gd name="T29" fmla="*/ 71 w 71"/>
                    <a:gd name="T30" fmla="*/ 27 h 2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1" h="27">
                      <a:moveTo>
                        <a:pt x="0" y="0"/>
                      </a:moveTo>
                      <a:lnTo>
                        <a:pt x="49" y="0"/>
                      </a:lnTo>
                      <a:lnTo>
                        <a:pt x="51" y="2"/>
                      </a:lnTo>
                      <a:lnTo>
                        <a:pt x="55" y="12"/>
                      </a:lnTo>
                      <a:lnTo>
                        <a:pt x="71" y="27"/>
                      </a:lnTo>
                      <a:lnTo>
                        <a:pt x="17" y="27"/>
                      </a:lnTo>
                      <a:lnTo>
                        <a:pt x="8" y="20"/>
                      </a:lnTo>
                      <a:lnTo>
                        <a:pt x="0" y="6"/>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93" name="Freeform 2194"/>
                <p:cNvSpPr>
                  <a:spLocks/>
                </p:cNvSpPr>
                <p:nvPr/>
              </p:nvSpPr>
              <p:spPr bwMode="auto">
                <a:xfrm>
                  <a:off x="828" y="354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8"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494" name="Group 2195"/>
                <p:cNvGrpSpPr>
                  <a:grpSpLocks/>
                </p:cNvGrpSpPr>
                <p:nvPr/>
              </p:nvGrpSpPr>
              <p:grpSpPr bwMode="auto">
                <a:xfrm>
                  <a:off x="832" y="3547"/>
                  <a:ext cx="49" cy="23"/>
                  <a:chOff x="832" y="3547"/>
                  <a:chExt cx="49" cy="23"/>
                </a:xfrm>
              </p:grpSpPr>
              <p:sp>
                <p:nvSpPr>
                  <p:cNvPr id="1820" name="Freeform 2196"/>
                  <p:cNvSpPr>
                    <a:spLocks/>
                  </p:cNvSpPr>
                  <p:nvPr/>
                </p:nvSpPr>
                <p:spPr bwMode="auto">
                  <a:xfrm>
                    <a:off x="832" y="354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21" name="Freeform 2197"/>
                  <p:cNvSpPr>
                    <a:spLocks/>
                  </p:cNvSpPr>
                  <p:nvPr/>
                </p:nvSpPr>
                <p:spPr bwMode="auto">
                  <a:xfrm>
                    <a:off x="837" y="3548"/>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22" name="Freeform 2198"/>
                  <p:cNvSpPr>
                    <a:spLocks/>
                  </p:cNvSpPr>
                  <p:nvPr/>
                </p:nvSpPr>
                <p:spPr bwMode="auto">
                  <a:xfrm>
                    <a:off x="840" y="355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95" name="Group 2199"/>
                <p:cNvGrpSpPr>
                  <a:grpSpLocks/>
                </p:cNvGrpSpPr>
                <p:nvPr/>
              </p:nvGrpSpPr>
              <p:grpSpPr bwMode="auto">
                <a:xfrm>
                  <a:off x="844" y="3560"/>
                  <a:ext cx="49" cy="22"/>
                  <a:chOff x="844" y="3560"/>
                  <a:chExt cx="49" cy="22"/>
                </a:xfrm>
              </p:grpSpPr>
              <p:sp>
                <p:nvSpPr>
                  <p:cNvPr id="1817" name="Freeform 2200"/>
                  <p:cNvSpPr>
                    <a:spLocks/>
                  </p:cNvSpPr>
                  <p:nvPr/>
                </p:nvSpPr>
                <p:spPr bwMode="auto">
                  <a:xfrm>
                    <a:off x="844" y="3560"/>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18" name="Freeform 2201"/>
                  <p:cNvSpPr>
                    <a:spLocks/>
                  </p:cNvSpPr>
                  <p:nvPr/>
                </p:nvSpPr>
                <p:spPr bwMode="auto">
                  <a:xfrm>
                    <a:off x="849" y="3560"/>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19" name="Freeform 2202"/>
                  <p:cNvSpPr>
                    <a:spLocks/>
                  </p:cNvSpPr>
                  <p:nvPr/>
                </p:nvSpPr>
                <p:spPr bwMode="auto">
                  <a:xfrm>
                    <a:off x="853" y="3571"/>
                    <a:ext cx="40" cy="11"/>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6"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96" name="Group 2203"/>
                <p:cNvGrpSpPr>
                  <a:grpSpLocks/>
                </p:cNvGrpSpPr>
                <p:nvPr/>
              </p:nvGrpSpPr>
              <p:grpSpPr bwMode="auto">
                <a:xfrm>
                  <a:off x="857" y="3572"/>
                  <a:ext cx="50" cy="23"/>
                  <a:chOff x="857" y="3572"/>
                  <a:chExt cx="50" cy="23"/>
                </a:xfrm>
              </p:grpSpPr>
              <p:sp>
                <p:nvSpPr>
                  <p:cNvPr id="1814" name="Freeform 2204"/>
                  <p:cNvSpPr>
                    <a:spLocks/>
                  </p:cNvSpPr>
                  <p:nvPr/>
                </p:nvSpPr>
                <p:spPr bwMode="auto">
                  <a:xfrm>
                    <a:off x="857" y="3572"/>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5"/>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15" name="Freeform 2205"/>
                  <p:cNvSpPr>
                    <a:spLocks/>
                  </p:cNvSpPr>
                  <p:nvPr/>
                </p:nvSpPr>
                <p:spPr bwMode="auto">
                  <a:xfrm>
                    <a:off x="862" y="3573"/>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16" name="Freeform 2206"/>
                  <p:cNvSpPr>
                    <a:spLocks/>
                  </p:cNvSpPr>
                  <p:nvPr/>
                </p:nvSpPr>
                <p:spPr bwMode="auto">
                  <a:xfrm>
                    <a:off x="865" y="358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97" name="Group 2207"/>
                <p:cNvGrpSpPr>
                  <a:grpSpLocks/>
                </p:cNvGrpSpPr>
                <p:nvPr/>
              </p:nvGrpSpPr>
              <p:grpSpPr bwMode="auto">
                <a:xfrm>
                  <a:off x="870" y="3585"/>
                  <a:ext cx="48" cy="23"/>
                  <a:chOff x="870" y="3585"/>
                  <a:chExt cx="48" cy="23"/>
                </a:xfrm>
              </p:grpSpPr>
              <p:sp>
                <p:nvSpPr>
                  <p:cNvPr id="1811" name="Freeform 2208"/>
                  <p:cNvSpPr>
                    <a:spLocks/>
                  </p:cNvSpPr>
                  <p:nvPr/>
                </p:nvSpPr>
                <p:spPr bwMode="auto">
                  <a:xfrm>
                    <a:off x="870" y="358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6"/>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12" name="Freeform 2209"/>
                  <p:cNvSpPr>
                    <a:spLocks/>
                  </p:cNvSpPr>
                  <p:nvPr/>
                </p:nvSpPr>
                <p:spPr bwMode="auto">
                  <a:xfrm>
                    <a:off x="874" y="3586"/>
                    <a:ext cx="38" cy="10"/>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13" name="Freeform 2210"/>
                  <p:cNvSpPr>
                    <a:spLocks/>
                  </p:cNvSpPr>
                  <p:nvPr/>
                </p:nvSpPr>
                <p:spPr bwMode="auto">
                  <a:xfrm>
                    <a:off x="878"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6"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98" name="Group 2211"/>
                <p:cNvGrpSpPr>
                  <a:grpSpLocks/>
                </p:cNvGrpSpPr>
                <p:nvPr/>
              </p:nvGrpSpPr>
              <p:grpSpPr bwMode="auto">
                <a:xfrm>
                  <a:off x="882" y="3600"/>
                  <a:ext cx="100" cy="73"/>
                  <a:chOff x="882" y="3600"/>
                  <a:chExt cx="100" cy="73"/>
                </a:xfrm>
              </p:grpSpPr>
              <p:grpSp>
                <p:nvGrpSpPr>
                  <p:cNvPr id="1791" name="Group 2212"/>
                  <p:cNvGrpSpPr>
                    <a:grpSpLocks/>
                  </p:cNvGrpSpPr>
                  <p:nvPr/>
                </p:nvGrpSpPr>
                <p:grpSpPr bwMode="auto">
                  <a:xfrm>
                    <a:off x="882" y="3600"/>
                    <a:ext cx="49" cy="23"/>
                    <a:chOff x="882" y="3600"/>
                    <a:chExt cx="49" cy="23"/>
                  </a:xfrm>
                </p:grpSpPr>
                <p:sp>
                  <p:nvSpPr>
                    <p:cNvPr id="1808" name="Freeform 2213"/>
                    <p:cNvSpPr>
                      <a:spLocks/>
                    </p:cNvSpPr>
                    <p:nvPr/>
                  </p:nvSpPr>
                  <p:spPr bwMode="auto">
                    <a:xfrm>
                      <a:off x="882" y="3600"/>
                      <a:ext cx="12" cy="23"/>
                    </a:xfrm>
                    <a:custGeom>
                      <a:avLst/>
                      <a:gdLst>
                        <a:gd name="T0" fmla="*/ 1 w 23"/>
                        <a:gd name="T1" fmla="*/ 0 h 70"/>
                        <a:gd name="T2" fmla="*/ 0 w 23"/>
                        <a:gd name="T3" fmla="*/ 0 h 70"/>
                        <a:gd name="T4" fmla="*/ 1 w 23"/>
                        <a:gd name="T5" fmla="*/ 0 h 70"/>
                        <a:gd name="T6" fmla="*/ 1 w 23"/>
                        <a:gd name="T7" fmla="*/ 0 h 70"/>
                        <a:gd name="T8" fmla="*/ 1 w 23"/>
                        <a:gd name="T9" fmla="*/ 0 h 70"/>
                        <a:gd name="T10" fmla="*/ 0 60000 65536"/>
                        <a:gd name="T11" fmla="*/ 0 60000 65536"/>
                        <a:gd name="T12" fmla="*/ 0 60000 65536"/>
                        <a:gd name="T13" fmla="*/ 0 60000 65536"/>
                        <a:gd name="T14" fmla="*/ 0 60000 65536"/>
                        <a:gd name="T15" fmla="*/ 0 w 23"/>
                        <a:gd name="T16" fmla="*/ 0 h 70"/>
                        <a:gd name="T17" fmla="*/ 23 w 23"/>
                        <a:gd name="T18" fmla="*/ 70 h 70"/>
                      </a:gdLst>
                      <a:ahLst/>
                      <a:cxnLst>
                        <a:cxn ang="T10">
                          <a:pos x="T0" y="T1"/>
                        </a:cxn>
                        <a:cxn ang="T11">
                          <a:pos x="T2" y="T3"/>
                        </a:cxn>
                        <a:cxn ang="T12">
                          <a:pos x="T4" y="T5"/>
                        </a:cxn>
                        <a:cxn ang="T13">
                          <a:pos x="T6" y="T7"/>
                        </a:cxn>
                        <a:cxn ang="T14">
                          <a:pos x="T8" y="T9"/>
                        </a:cxn>
                      </a:cxnLst>
                      <a:rect l="T15" t="T16" r="T17" b="T18"/>
                      <a:pathLst>
                        <a:path w="23" h="70">
                          <a:moveTo>
                            <a:pt x="13" y="70"/>
                          </a:moveTo>
                          <a:lnTo>
                            <a:pt x="0" y="27"/>
                          </a:lnTo>
                          <a:lnTo>
                            <a:pt x="9" y="0"/>
                          </a:lnTo>
                          <a:lnTo>
                            <a:pt x="23"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09" name="Freeform 2214"/>
                    <p:cNvSpPr>
                      <a:spLocks/>
                    </p:cNvSpPr>
                    <p:nvPr/>
                  </p:nvSpPr>
                  <p:spPr bwMode="auto">
                    <a:xfrm>
                      <a:off x="887" y="3600"/>
                      <a:ext cx="37" cy="11"/>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50" y="0"/>
                          </a:lnTo>
                          <a:lnTo>
                            <a:pt x="51"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10" name="Freeform 2215"/>
                    <p:cNvSpPr>
                      <a:spLocks/>
                    </p:cNvSpPr>
                    <p:nvPr/>
                  </p:nvSpPr>
                  <p:spPr bwMode="auto">
                    <a:xfrm>
                      <a:off x="890" y="3611"/>
                      <a:ext cx="41" cy="12"/>
                    </a:xfrm>
                    <a:custGeom>
                      <a:avLst/>
                      <a:gdLst>
                        <a:gd name="T0" fmla="*/ 0 w 83"/>
                        <a:gd name="T1" fmla="*/ 0 h 38"/>
                        <a:gd name="T2" fmla="*/ 0 w 83"/>
                        <a:gd name="T3" fmla="*/ 0 h 38"/>
                        <a:gd name="T4" fmla="*/ 0 w 83"/>
                        <a:gd name="T5" fmla="*/ 0 h 38"/>
                        <a:gd name="T6" fmla="*/ 0 w 83"/>
                        <a:gd name="T7" fmla="*/ 0 h 38"/>
                        <a:gd name="T8" fmla="*/ 0 w 83"/>
                        <a:gd name="T9" fmla="*/ 0 h 38"/>
                        <a:gd name="T10" fmla="*/ 0 w 83"/>
                        <a:gd name="T11" fmla="*/ 0 h 38"/>
                        <a:gd name="T12" fmla="*/ 0 w 83"/>
                        <a:gd name="T13" fmla="*/ 0 h 38"/>
                        <a:gd name="T14" fmla="*/ 0 60000 65536"/>
                        <a:gd name="T15" fmla="*/ 0 60000 65536"/>
                        <a:gd name="T16" fmla="*/ 0 60000 65536"/>
                        <a:gd name="T17" fmla="*/ 0 60000 65536"/>
                        <a:gd name="T18" fmla="*/ 0 60000 65536"/>
                        <a:gd name="T19" fmla="*/ 0 60000 65536"/>
                        <a:gd name="T20" fmla="*/ 0 60000 65536"/>
                        <a:gd name="T21" fmla="*/ 0 w 83"/>
                        <a:gd name="T22" fmla="*/ 0 h 38"/>
                        <a:gd name="T23" fmla="*/ 83 w 83"/>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8">
                          <a:moveTo>
                            <a:pt x="0" y="38"/>
                          </a:moveTo>
                          <a:lnTo>
                            <a:pt x="1" y="22"/>
                          </a:lnTo>
                          <a:lnTo>
                            <a:pt x="8" y="8"/>
                          </a:lnTo>
                          <a:lnTo>
                            <a:pt x="12" y="0"/>
                          </a:lnTo>
                          <a:lnTo>
                            <a:pt x="68" y="0"/>
                          </a:lnTo>
                          <a:lnTo>
                            <a:pt x="83"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92" name="Group 2216"/>
                  <p:cNvGrpSpPr>
                    <a:grpSpLocks/>
                  </p:cNvGrpSpPr>
                  <p:nvPr/>
                </p:nvGrpSpPr>
                <p:grpSpPr bwMode="auto">
                  <a:xfrm>
                    <a:off x="894" y="3612"/>
                    <a:ext cx="49" cy="23"/>
                    <a:chOff x="894" y="3612"/>
                    <a:chExt cx="49" cy="23"/>
                  </a:xfrm>
                </p:grpSpPr>
                <p:sp>
                  <p:nvSpPr>
                    <p:cNvPr id="1805" name="Freeform 2217"/>
                    <p:cNvSpPr>
                      <a:spLocks/>
                    </p:cNvSpPr>
                    <p:nvPr/>
                  </p:nvSpPr>
                  <p:spPr bwMode="auto">
                    <a:xfrm>
                      <a:off x="894" y="3612"/>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9"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06" name="Freeform 2218"/>
                    <p:cNvSpPr>
                      <a:spLocks/>
                    </p:cNvSpPr>
                    <p:nvPr/>
                  </p:nvSpPr>
                  <p:spPr bwMode="auto">
                    <a:xfrm>
                      <a:off x="899" y="3613"/>
                      <a:ext cx="37" cy="10"/>
                    </a:xfrm>
                    <a:custGeom>
                      <a:avLst/>
                      <a:gdLst>
                        <a:gd name="T0" fmla="*/ 0 w 75"/>
                        <a:gd name="T1" fmla="*/ 0 h 32"/>
                        <a:gd name="T2" fmla="*/ 0 w 75"/>
                        <a:gd name="T3" fmla="*/ 0 h 32"/>
                        <a:gd name="T4" fmla="*/ 0 w 75"/>
                        <a:gd name="T5" fmla="*/ 0 h 32"/>
                        <a:gd name="T6" fmla="*/ 0 w 75"/>
                        <a:gd name="T7" fmla="*/ 0 h 32"/>
                        <a:gd name="T8" fmla="*/ 0 w 75"/>
                        <a:gd name="T9" fmla="*/ 0 h 32"/>
                        <a:gd name="T10" fmla="*/ 0 w 75"/>
                        <a:gd name="T11" fmla="*/ 0 h 32"/>
                        <a:gd name="T12" fmla="*/ 0 w 75"/>
                        <a:gd name="T13" fmla="*/ 0 h 32"/>
                        <a:gd name="T14" fmla="*/ 0 w 75"/>
                        <a:gd name="T15" fmla="*/ 0 h 32"/>
                        <a:gd name="T16" fmla="*/ 0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2" y="0"/>
                          </a:moveTo>
                          <a:lnTo>
                            <a:pt x="50" y="0"/>
                          </a:lnTo>
                          <a:lnTo>
                            <a:pt x="52" y="3"/>
                          </a:lnTo>
                          <a:lnTo>
                            <a:pt x="57" y="15"/>
                          </a:lnTo>
                          <a:lnTo>
                            <a:pt x="75" y="32"/>
                          </a:lnTo>
                          <a:lnTo>
                            <a:pt x="19" y="32"/>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07" name="Freeform 2219"/>
                    <p:cNvSpPr>
                      <a:spLocks/>
                    </p:cNvSpPr>
                    <p:nvPr/>
                  </p:nvSpPr>
                  <p:spPr bwMode="auto">
                    <a:xfrm>
                      <a:off x="902" y="362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1"/>
                          </a:lnTo>
                          <a:lnTo>
                            <a:pt x="5" y="8"/>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93" name="Group 2220"/>
                  <p:cNvGrpSpPr>
                    <a:grpSpLocks/>
                  </p:cNvGrpSpPr>
                  <p:nvPr/>
                </p:nvGrpSpPr>
                <p:grpSpPr bwMode="auto">
                  <a:xfrm>
                    <a:off x="907" y="3625"/>
                    <a:ext cx="49" cy="23"/>
                    <a:chOff x="907" y="3625"/>
                    <a:chExt cx="49" cy="23"/>
                  </a:xfrm>
                </p:grpSpPr>
                <p:sp>
                  <p:nvSpPr>
                    <p:cNvPr id="1802" name="Freeform 2221"/>
                    <p:cNvSpPr>
                      <a:spLocks/>
                    </p:cNvSpPr>
                    <p:nvPr/>
                  </p:nvSpPr>
                  <p:spPr bwMode="auto">
                    <a:xfrm>
                      <a:off x="907" y="3625"/>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03" name="Freeform 2222"/>
                    <p:cNvSpPr>
                      <a:spLocks/>
                    </p:cNvSpPr>
                    <p:nvPr/>
                  </p:nvSpPr>
                  <p:spPr bwMode="auto">
                    <a:xfrm>
                      <a:off x="912" y="3626"/>
                      <a:ext cx="36" cy="9"/>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04" name="Freeform 2223"/>
                    <p:cNvSpPr>
                      <a:spLocks/>
                    </p:cNvSpPr>
                    <p:nvPr/>
                  </p:nvSpPr>
                  <p:spPr bwMode="auto">
                    <a:xfrm>
                      <a:off x="914" y="363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94" name="Group 2224"/>
                  <p:cNvGrpSpPr>
                    <a:grpSpLocks/>
                  </p:cNvGrpSpPr>
                  <p:nvPr/>
                </p:nvGrpSpPr>
                <p:grpSpPr bwMode="auto">
                  <a:xfrm>
                    <a:off x="919" y="3638"/>
                    <a:ext cx="49" cy="22"/>
                    <a:chOff x="919" y="3638"/>
                    <a:chExt cx="49" cy="22"/>
                  </a:xfrm>
                </p:grpSpPr>
                <p:sp>
                  <p:nvSpPr>
                    <p:cNvPr id="1799" name="Freeform 2225"/>
                    <p:cNvSpPr>
                      <a:spLocks/>
                    </p:cNvSpPr>
                    <p:nvPr/>
                  </p:nvSpPr>
                  <p:spPr bwMode="auto">
                    <a:xfrm>
                      <a:off x="919" y="3638"/>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00" name="Freeform 2226"/>
                    <p:cNvSpPr>
                      <a:spLocks/>
                    </p:cNvSpPr>
                    <p:nvPr/>
                  </p:nvSpPr>
                  <p:spPr bwMode="auto">
                    <a:xfrm>
                      <a:off x="924" y="363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48" y="0"/>
                          </a:lnTo>
                          <a:lnTo>
                            <a:pt x="52" y="3"/>
                          </a:lnTo>
                          <a:lnTo>
                            <a:pt x="56" y="12"/>
                          </a:lnTo>
                          <a:lnTo>
                            <a:pt x="73"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01" name="Freeform 2227"/>
                    <p:cNvSpPr>
                      <a:spLocks/>
                    </p:cNvSpPr>
                    <p:nvPr/>
                  </p:nvSpPr>
                  <p:spPr bwMode="auto">
                    <a:xfrm>
                      <a:off x="928" y="364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95" name="Group 2228"/>
                  <p:cNvGrpSpPr>
                    <a:grpSpLocks/>
                  </p:cNvGrpSpPr>
                  <p:nvPr/>
                </p:nvGrpSpPr>
                <p:grpSpPr bwMode="auto">
                  <a:xfrm>
                    <a:off x="932" y="3651"/>
                    <a:ext cx="50" cy="22"/>
                    <a:chOff x="932" y="3651"/>
                    <a:chExt cx="50" cy="22"/>
                  </a:xfrm>
                </p:grpSpPr>
                <p:sp>
                  <p:nvSpPr>
                    <p:cNvPr id="1796" name="Freeform 2229"/>
                    <p:cNvSpPr>
                      <a:spLocks/>
                    </p:cNvSpPr>
                    <p:nvPr/>
                  </p:nvSpPr>
                  <p:spPr bwMode="auto">
                    <a:xfrm>
                      <a:off x="932" y="36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11" y="0"/>
                          </a:lnTo>
                          <a:lnTo>
                            <a:pt x="24"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97" name="Freeform 2230"/>
                    <p:cNvSpPr>
                      <a:spLocks/>
                    </p:cNvSpPr>
                    <p:nvPr/>
                  </p:nvSpPr>
                  <p:spPr bwMode="auto">
                    <a:xfrm>
                      <a:off x="937" y="3651"/>
                      <a:ext cx="37"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98" name="Freeform 2231"/>
                    <p:cNvSpPr>
                      <a:spLocks/>
                    </p:cNvSpPr>
                    <p:nvPr/>
                  </p:nvSpPr>
                  <p:spPr bwMode="auto">
                    <a:xfrm>
                      <a:off x="940" y="3662"/>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499" name="Group 2232"/>
                <p:cNvGrpSpPr>
                  <a:grpSpLocks/>
                </p:cNvGrpSpPr>
                <p:nvPr/>
              </p:nvGrpSpPr>
              <p:grpSpPr bwMode="auto">
                <a:xfrm>
                  <a:off x="944" y="3665"/>
                  <a:ext cx="99" cy="74"/>
                  <a:chOff x="944" y="3665"/>
                  <a:chExt cx="99" cy="74"/>
                </a:xfrm>
              </p:grpSpPr>
              <p:grpSp>
                <p:nvGrpSpPr>
                  <p:cNvPr id="1771" name="Group 2233"/>
                  <p:cNvGrpSpPr>
                    <a:grpSpLocks/>
                  </p:cNvGrpSpPr>
                  <p:nvPr/>
                </p:nvGrpSpPr>
                <p:grpSpPr bwMode="auto">
                  <a:xfrm>
                    <a:off x="944" y="3665"/>
                    <a:ext cx="49" cy="23"/>
                    <a:chOff x="944" y="3665"/>
                    <a:chExt cx="49" cy="23"/>
                  </a:xfrm>
                </p:grpSpPr>
                <p:sp>
                  <p:nvSpPr>
                    <p:cNvPr id="1788" name="Freeform 2234"/>
                    <p:cNvSpPr>
                      <a:spLocks/>
                    </p:cNvSpPr>
                    <p:nvPr/>
                  </p:nvSpPr>
                  <p:spPr bwMode="auto">
                    <a:xfrm>
                      <a:off x="944" y="3665"/>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89" name="Freeform 2235"/>
                    <p:cNvSpPr>
                      <a:spLocks/>
                    </p:cNvSpPr>
                    <p:nvPr/>
                  </p:nvSpPr>
                  <p:spPr bwMode="auto">
                    <a:xfrm>
                      <a:off x="949" y="3666"/>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4"/>
                          </a:lnTo>
                          <a:lnTo>
                            <a:pt x="57" y="13"/>
                          </a:lnTo>
                          <a:lnTo>
                            <a:pt x="75" y="31"/>
                          </a:lnTo>
                          <a:lnTo>
                            <a:pt x="19" y="31"/>
                          </a:lnTo>
                          <a:lnTo>
                            <a:pt x="11"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90" name="Freeform 2236"/>
                    <p:cNvSpPr>
                      <a:spLocks/>
                    </p:cNvSpPr>
                    <p:nvPr/>
                  </p:nvSpPr>
                  <p:spPr bwMode="auto">
                    <a:xfrm>
                      <a:off x="953" y="367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72" name="Group 2237"/>
                  <p:cNvGrpSpPr>
                    <a:grpSpLocks/>
                  </p:cNvGrpSpPr>
                  <p:nvPr/>
                </p:nvGrpSpPr>
                <p:grpSpPr bwMode="auto">
                  <a:xfrm>
                    <a:off x="957" y="3678"/>
                    <a:ext cx="48" cy="23"/>
                    <a:chOff x="957" y="3678"/>
                    <a:chExt cx="48" cy="23"/>
                  </a:xfrm>
                </p:grpSpPr>
                <p:sp>
                  <p:nvSpPr>
                    <p:cNvPr id="1785" name="Freeform 2238"/>
                    <p:cNvSpPr>
                      <a:spLocks/>
                    </p:cNvSpPr>
                    <p:nvPr/>
                  </p:nvSpPr>
                  <p:spPr bwMode="auto">
                    <a:xfrm>
                      <a:off x="957" y="3678"/>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3" y="70"/>
                          </a:moveTo>
                          <a:lnTo>
                            <a:pt x="0" y="27"/>
                          </a:lnTo>
                          <a:lnTo>
                            <a:pt x="9" y="0"/>
                          </a:lnTo>
                          <a:lnTo>
                            <a:pt x="24"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86" name="Freeform 2239"/>
                    <p:cNvSpPr>
                      <a:spLocks/>
                    </p:cNvSpPr>
                    <p:nvPr/>
                  </p:nvSpPr>
                  <p:spPr bwMode="auto">
                    <a:xfrm>
                      <a:off x="961" y="3678"/>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3"/>
                          </a:lnTo>
                          <a:lnTo>
                            <a:pt x="56" y="12"/>
                          </a:lnTo>
                          <a:lnTo>
                            <a:pt x="74"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87" name="Freeform 2240"/>
                    <p:cNvSpPr>
                      <a:spLocks/>
                    </p:cNvSpPr>
                    <p:nvPr/>
                  </p:nvSpPr>
                  <p:spPr bwMode="auto">
                    <a:xfrm>
                      <a:off x="964" y="3688"/>
                      <a:ext cx="41"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1"/>
                          </a:lnTo>
                          <a:lnTo>
                            <a:pt x="7" y="8"/>
                          </a:lnTo>
                          <a:lnTo>
                            <a:pt x="11" y="0"/>
                          </a:lnTo>
                          <a:lnTo>
                            <a:pt x="68"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73" name="Group 2241"/>
                  <p:cNvGrpSpPr>
                    <a:grpSpLocks/>
                  </p:cNvGrpSpPr>
                  <p:nvPr/>
                </p:nvGrpSpPr>
                <p:grpSpPr bwMode="auto">
                  <a:xfrm>
                    <a:off x="969" y="3690"/>
                    <a:ext cx="49" cy="23"/>
                    <a:chOff x="969" y="3690"/>
                    <a:chExt cx="49" cy="23"/>
                  </a:xfrm>
                </p:grpSpPr>
                <p:sp>
                  <p:nvSpPr>
                    <p:cNvPr id="1782" name="Freeform 2242"/>
                    <p:cNvSpPr>
                      <a:spLocks/>
                    </p:cNvSpPr>
                    <p:nvPr/>
                  </p:nvSpPr>
                  <p:spPr bwMode="auto">
                    <a:xfrm>
                      <a:off x="969" y="369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9"/>
                          </a:lnTo>
                          <a:lnTo>
                            <a:pt x="9" y="0"/>
                          </a:lnTo>
                          <a:lnTo>
                            <a:pt x="25" y="33"/>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83" name="Freeform 2243"/>
                    <p:cNvSpPr>
                      <a:spLocks/>
                    </p:cNvSpPr>
                    <p:nvPr/>
                  </p:nvSpPr>
                  <p:spPr bwMode="auto">
                    <a:xfrm>
                      <a:off x="974" y="3691"/>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9"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84" name="Freeform 2244"/>
                    <p:cNvSpPr>
                      <a:spLocks/>
                    </p:cNvSpPr>
                    <p:nvPr/>
                  </p:nvSpPr>
                  <p:spPr bwMode="auto">
                    <a:xfrm>
                      <a:off x="977" y="370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6" y="7"/>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74" name="Group 2245"/>
                  <p:cNvGrpSpPr>
                    <a:grpSpLocks/>
                  </p:cNvGrpSpPr>
                  <p:nvPr/>
                </p:nvGrpSpPr>
                <p:grpSpPr bwMode="auto">
                  <a:xfrm>
                    <a:off x="982" y="3703"/>
                    <a:ext cx="49" cy="23"/>
                    <a:chOff x="982" y="3703"/>
                    <a:chExt cx="49" cy="23"/>
                  </a:xfrm>
                </p:grpSpPr>
                <p:sp>
                  <p:nvSpPr>
                    <p:cNvPr id="1779" name="Freeform 2246"/>
                    <p:cNvSpPr>
                      <a:spLocks/>
                    </p:cNvSpPr>
                    <p:nvPr/>
                  </p:nvSpPr>
                  <p:spPr bwMode="auto">
                    <a:xfrm>
                      <a:off x="982"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80" name="Freeform 2247"/>
                    <p:cNvSpPr>
                      <a:spLocks/>
                    </p:cNvSpPr>
                    <p:nvPr/>
                  </p:nvSpPr>
                  <p:spPr bwMode="auto">
                    <a:xfrm>
                      <a:off x="987" y="3703"/>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81" name="Freeform 2248"/>
                    <p:cNvSpPr>
                      <a:spLocks/>
                    </p:cNvSpPr>
                    <p:nvPr/>
                  </p:nvSpPr>
                  <p:spPr bwMode="auto">
                    <a:xfrm>
                      <a:off x="989" y="3714"/>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75" name="Group 2249"/>
                  <p:cNvGrpSpPr>
                    <a:grpSpLocks/>
                  </p:cNvGrpSpPr>
                  <p:nvPr/>
                </p:nvGrpSpPr>
                <p:grpSpPr bwMode="auto">
                  <a:xfrm>
                    <a:off x="995" y="3716"/>
                    <a:ext cx="48" cy="23"/>
                    <a:chOff x="995" y="3716"/>
                    <a:chExt cx="48" cy="23"/>
                  </a:xfrm>
                </p:grpSpPr>
                <p:sp>
                  <p:nvSpPr>
                    <p:cNvPr id="1776" name="Freeform 2250"/>
                    <p:cNvSpPr>
                      <a:spLocks/>
                    </p:cNvSpPr>
                    <p:nvPr/>
                  </p:nvSpPr>
                  <p:spPr bwMode="auto">
                    <a:xfrm>
                      <a:off x="995" y="3716"/>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0"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77" name="Freeform 2251"/>
                    <p:cNvSpPr>
                      <a:spLocks/>
                    </p:cNvSpPr>
                    <p:nvPr/>
                  </p:nvSpPr>
                  <p:spPr bwMode="auto">
                    <a:xfrm>
                      <a:off x="999" y="3717"/>
                      <a:ext cx="38"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2" y="3"/>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78" name="Freeform 2252"/>
                    <p:cNvSpPr>
                      <a:spLocks/>
                    </p:cNvSpPr>
                    <p:nvPr/>
                  </p:nvSpPr>
                  <p:spPr bwMode="auto">
                    <a:xfrm>
                      <a:off x="1003" y="3727"/>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5" y="7"/>
                          </a:lnTo>
                          <a:lnTo>
                            <a:pt x="11"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500" name="Group 2253"/>
                <p:cNvGrpSpPr>
                  <a:grpSpLocks/>
                </p:cNvGrpSpPr>
                <p:nvPr/>
              </p:nvGrpSpPr>
              <p:grpSpPr bwMode="auto">
                <a:xfrm>
                  <a:off x="1005" y="3727"/>
                  <a:ext cx="49" cy="23"/>
                  <a:chOff x="1005" y="3727"/>
                  <a:chExt cx="49" cy="23"/>
                </a:xfrm>
              </p:grpSpPr>
              <p:sp>
                <p:nvSpPr>
                  <p:cNvPr id="1768" name="Freeform 2254"/>
                  <p:cNvSpPr>
                    <a:spLocks/>
                  </p:cNvSpPr>
                  <p:nvPr/>
                </p:nvSpPr>
                <p:spPr bwMode="auto">
                  <a:xfrm>
                    <a:off x="1005" y="372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2"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69" name="Freeform 2255"/>
                  <p:cNvSpPr>
                    <a:spLocks/>
                  </p:cNvSpPr>
                  <p:nvPr/>
                </p:nvSpPr>
                <p:spPr bwMode="auto">
                  <a:xfrm>
                    <a:off x="1010"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8" y="0"/>
                        </a:lnTo>
                        <a:lnTo>
                          <a:pt x="51" y="4"/>
                        </a:lnTo>
                        <a:lnTo>
                          <a:pt x="56" y="13"/>
                        </a:lnTo>
                        <a:lnTo>
                          <a:pt x="73" y="31"/>
                        </a:lnTo>
                        <a:lnTo>
                          <a:pt x="18" y="31"/>
                        </a:lnTo>
                        <a:lnTo>
                          <a:pt x="9"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70" name="Freeform 2256"/>
                  <p:cNvSpPr>
                    <a:spLocks/>
                  </p:cNvSpPr>
                  <p:nvPr/>
                </p:nvSpPr>
                <p:spPr bwMode="auto">
                  <a:xfrm>
                    <a:off x="1013"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01" name="Group 2257"/>
                <p:cNvGrpSpPr>
                  <a:grpSpLocks/>
                </p:cNvGrpSpPr>
                <p:nvPr/>
              </p:nvGrpSpPr>
              <p:grpSpPr bwMode="auto">
                <a:xfrm>
                  <a:off x="1018" y="3740"/>
                  <a:ext cx="49" cy="22"/>
                  <a:chOff x="1018" y="3740"/>
                  <a:chExt cx="49" cy="22"/>
                </a:xfrm>
              </p:grpSpPr>
              <p:sp>
                <p:nvSpPr>
                  <p:cNvPr id="1765" name="Freeform 2258"/>
                  <p:cNvSpPr>
                    <a:spLocks/>
                  </p:cNvSpPr>
                  <p:nvPr/>
                </p:nvSpPr>
                <p:spPr bwMode="auto">
                  <a:xfrm>
                    <a:off x="1018" y="374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66" name="Freeform 2259"/>
                  <p:cNvSpPr>
                    <a:spLocks/>
                  </p:cNvSpPr>
                  <p:nvPr/>
                </p:nvSpPr>
                <p:spPr bwMode="auto">
                  <a:xfrm>
                    <a:off x="1022" y="3740"/>
                    <a:ext cx="38"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49" y="0"/>
                        </a:lnTo>
                        <a:lnTo>
                          <a:pt x="51" y="4"/>
                        </a:lnTo>
                        <a:lnTo>
                          <a:pt x="57"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67" name="Freeform 2260"/>
                  <p:cNvSpPr>
                    <a:spLocks/>
                  </p:cNvSpPr>
                  <p:nvPr/>
                </p:nvSpPr>
                <p:spPr bwMode="auto">
                  <a:xfrm>
                    <a:off x="1026" y="3750"/>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02" name="Group 2261"/>
                <p:cNvGrpSpPr>
                  <a:grpSpLocks/>
                </p:cNvGrpSpPr>
                <p:nvPr/>
              </p:nvGrpSpPr>
              <p:grpSpPr bwMode="auto">
                <a:xfrm>
                  <a:off x="1030" y="3753"/>
                  <a:ext cx="49" cy="23"/>
                  <a:chOff x="1030" y="3753"/>
                  <a:chExt cx="49" cy="23"/>
                </a:xfrm>
              </p:grpSpPr>
              <p:sp>
                <p:nvSpPr>
                  <p:cNvPr id="1762" name="Freeform 2262"/>
                  <p:cNvSpPr>
                    <a:spLocks/>
                  </p:cNvSpPr>
                  <p:nvPr/>
                </p:nvSpPr>
                <p:spPr bwMode="auto">
                  <a:xfrm>
                    <a:off x="1030" y="375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2"/>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63" name="Freeform 2263"/>
                  <p:cNvSpPr>
                    <a:spLocks/>
                  </p:cNvSpPr>
                  <p:nvPr/>
                </p:nvSpPr>
                <p:spPr bwMode="auto">
                  <a:xfrm>
                    <a:off x="1035" y="3753"/>
                    <a:ext cx="37" cy="11"/>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1" y="0"/>
                        </a:lnTo>
                        <a:lnTo>
                          <a:pt x="52" y="4"/>
                        </a:lnTo>
                        <a:lnTo>
                          <a:pt x="56"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64" name="Freeform 2264"/>
                  <p:cNvSpPr>
                    <a:spLocks/>
                  </p:cNvSpPr>
                  <p:nvPr/>
                </p:nvSpPr>
                <p:spPr bwMode="auto">
                  <a:xfrm>
                    <a:off x="1039" y="3764"/>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7"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503" name="Freeform 2265"/>
                <p:cNvSpPr>
                  <a:spLocks/>
                </p:cNvSpPr>
                <p:nvPr/>
              </p:nvSpPr>
              <p:spPr bwMode="auto">
                <a:xfrm>
                  <a:off x="778" y="353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3" y="68"/>
                      </a:moveTo>
                      <a:lnTo>
                        <a:pt x="0" y="27"/>
                      </a:lnTo>
                      <a:lnTo>
                        <a:pt x="9" y="0"/>
                      </a:lnTo>
                      <a:lnTo>
                        <a:pt x="24"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04" name="Freeform 2266"/>
                <p:cNvSpPr>
                  <a:spLocks/>
                </p:cNvSpPr>
                <p:nvPr/>
              </p:nvSpPr>
              <p:spPr bwMode="auto">
                <a:xfrm>
                  <a:off x="783" y="3535"/>
                  <a:ext cx="36" cy="11"/>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50" y="0"/>
                      </a:lnTo>
                      <a:lnTo>
                        <a:pt x="51" y="4"/>
                      </a:lnTo>
                      <a:lnTo>
                        <a:pt x="57" y="13"/>
                      </a:lnTo>
                      <a:lnTo>
                        <a:pt x="72" y="31"/>
                      </a:lnTo>
                      <a:lnTo>
                        <a:pt x="18" y="31"/>
                      </a:lnTo>
                      <a:lnTo>
                        <a:pt x="9" y="22"/>
                      </a:lnTo>
                      <a:lnTo>
                        <a:pt x="0" y="7"/>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05" name="Freeform 2267"/>
                <p:cNvSpPr>
                  <a:spLocks/>
                </p:cNvSpPr>
                <p:nvPr/>
              </p:nvSpPr>
              <p:spPr bwMode="auto">
                <a:xfrm>
                  <a:off x="786" y="3546"/>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1"/>
                      </a:lnTo>
                      <a:lnTo>
                        <a:pt x="7" y="8"/>
                      </a:lnTo>
                      <a:lnTo>
                        <a:pt x="12"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506" name="Group 2268"/>
                <p:cNvGrpSpPr>
                  <a:grpSpLocks/>
                </p:cNvGrpSpPr>
                <p:nvPr/>
              </p:nvGrpSpPr>
              <p:grpSpPr bwMode="auto">
                <a:xfrm>
                  <a:off x="790" y="3547"/>
                  <a:ext cx="49" cy="23"/>
                  <a:chOff x="790" y="3547"/>
                  <a:chExt cx="49" cy="23"/>
                </a:xfrm>
              </p:grpSpPr>
              <p:sp>
                <p:nvSpPr>
                  <p:cNvPr id="1759" name="Freeform 2269"/>
                  <p:cNvSpPr>
                    <a:spLocks/>
                  </p:cNvSpPr>
                  <p:nvPr/>
                </p:nvSpPr>
                <p:spPr bwMode="auto">
                  <a:xfrm>
                    <a:off x="790" y="3547"/>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60" name="Freeform 2270"/>
                  <p:cNvSpPr>
                    <a:spLocks/>
                  </p:cNvSpPr>
                  <p:nvPr/>
                </p:nvSpPr>
                <p:spPr bwMode="auto">
                  <a:xfrm>
                    <a:off x="795" y="3548"/>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61" name="Freeform 2271"/>
                  <p:cNvSpPr>
                    <a:spLocks/>
                  </p:cNvSpPr>
                  <p:nvPr/>
                </p:nvSpPr>
                <p:spPr bwMode="auto">
                  <a:xfrm>
                    <a:off x="798" y="355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07" name="Group 2272"/>
                <p:cNvGrpSpPr>
                  <a:grpSpLocks/>
                </p:cNvGrpSpPr>
                <p:nvPr/>
              </p:nvGrpSpPr>
              <p:grpSpPr bwMode="auto">
                <a:xfrm>
                  <a:off x="803" y="3560"/>
                  <a:ext cx="49" cy="22"/>
                  <a:chOff x="803" y="3560"/>
                  <a:chExt cx="49" cy="22"/>
                </a:xfrm>
              </p:grpSpPr>
              <p:sp>
                <p:nvSpPr>
                  <p:cNvPr id="1756" name="Freeform 2273"/>
                  <p:cNvSpPr>
                    <a:spLocks/>
                  </p:cNvSpPr>
                  <p:nvPr/>
                </p:nvSpPr>
                <p:spPr bwMode="auto">
                  <a:xfrm>
                    <a:off x="803" y="3560"/>
                    <a:ext cx="12" cy="22"/>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57" name="Freeform 2274"/>
                  <p:cNvSpPr>
                    <a:spLocks/>
                  </p:cNvSpPr>
                  <p:nvPr/>
                </p:nvSpPr>
                <p:spPr bwMode="auto">
                  <a:xfrm>
                    <a:off x="808" y="356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58" name="Freeform 2275"/>
                  <p:cNvSpPr>
                    <a:spLocks/>
                  </p:cNvSpPr>
                  <p:nvPr/>
                </p:nvSpPr>
                <p:spPr bwMode="auto">
                  <a:xfrm>
                    <a:off x="811" y="3571"/>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2"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08" name="Group 2276"/>
                <p:cNvGrpSpPr>
                  <a:grpSpLocks/>
                </p:cNvGrpSpPr>
                <p:nvPr/>
              </p:nvGrpSpPr>
              <p:grpSpPr bwMode="auto">
                <a:xfrm>
                  <a:off x="815" y="3572"/>
                  <a:ext cx="50" cy="23"/>
                  <a:chOff x="815" y="3572"/>
                  <a:chExt cx="50" cy="23"/>
                </a:xfrm>
              </p:grpSpPr>
              <p:sp>
                <p:nvSpPr>
                  <p:cNvPr id="1753" name="Freeform 2277"/>
                  <p:cNvSpPr>
                    <a:spLocks/>
                  </p:cNvSpPr>
                  <p:nvPr/>
                </p:nvSpPr>
                <p:spPr bwMode="auto">
                  <a:xfrm>
                    <a:off x="815" y="3572"/>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0"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54" name="Freeform 2278"/>
                  <p:cNvSpPr>
                    <a:spLocks/>
                  </p:cNvSpPr>
                  <p:nvPr/>
                </p:nvSpPr>
                <p:spPr bwMode="auto">
                  <a:xfrm>
                    <a:off x="820" y="3573"/>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55" name="Freeform 2279"/>
                  <p:cNvSpPr>
                    <a:spLocks/>
                  </p:cNvSpPr>
                  <p:nvPr/>
                </p:nvSpPr>
                <p:spPr bwMode="auto">
                  <a:xfrm>
                    <a:off x="824" y="3583"/>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6" y="7"/>
                        </a:lnTo>
                        <a:lnTo>
                          <a:pt x="10"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09" name="Group 2280"/>
                <p:cNvGrpSpPr>
                  <a:grpSpLocks/>
                </p:cNvGrpSpPr>
                <p:nvPr/>
              </p:nvGrpSpPr>
              <p:grpSpPr bwMode="auto">
                <a:xfrm>
                  <a:off x="828" y="3585"/>
                  <a:ext cx="49" cy="23"/>
                  <a:chOff x="828" y="3585"/>
                  <a:chExt cx="49" cy="23"/>
                </a:xfrm>
              </p:grpSpPr>
              <p:sp>
                <p:nvSpPr>
                  <p:cNvPr id="1750" name="Freeform 2281"/>
                  <p:cNvSpPr>
                    <a:spLocks/>
                  </p:cNvSpPr>
                  <p:nvPr/>
                </p:nvSpPr>
                <p:spPr bwMode="auto">
                  <a:xfrm>
                    <a:off x="828" y="358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9"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51" name="Freeform 2282"/>
                  <p:cNvSpPr>
                    <a:spLocks/>
                  </p:cNvSpPr>
                  <p:nvPr/>
                </p:nvSpPr>
                <p:spPr bwMode="auto">
                  <a:xfrm>
                    <a:off x="833" y="358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52" name="Freeform 2283"/>
                  <p:cNvSpPr>
                    <a:spLocks/>
                  </p:cNvSpPr>
                  <p:nvPr/>
                </p:nvSpPr>
                <p:spPr bwMode="auto">
                  <a:xfrm>
                    <a:off x="837"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5"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10" name="Group 2284"/>
                <p:cNvGrpSpPr>
                  <a:grpSpLocks/>
                </p:cNvGrpSpPr>
                <p:nvPr/>
              </p:nvGrpSpPr>
              <p:grpSpPr bwMode="auto">
                <a:xfrm>
                  <a:off x="840" y="3600"/>
                  <a:ext cx="100" cy="73"/>
                  <a:chOff x="840" y="3600"/>
                  <a:chExt cx="100" cy="73"/>
                </a:xfrm>
              </p:grpSpPr>
              <p:grpSp>
                <p:nvGrpSpPr>
                  <p:cNvPr id="1730" name="Group 2285"/>
                  <p:cNvGrpSpPr>
                    <a:grpSpLocks/>
                  </p:cNvGrpSpPr>
                  <p:nvPr/>
                </p:nvGrpSpPr>
                <p:grpSpPr bwMode="auto">
                  <a:xfrm>
                    <a:off x="840" y="3600"/>
                    <a:ext cx="49" cy="23"/>
                    <a:chOff x="840" y="3600"/>
                    <a:chExt cx="49" cy="23"/>
                  </a:xfrm>
                </p:grpSpPr>
                <p:sp>
                  <p:nvSpPr>
                    <p:cNvPr id="1747" name="Freeform 2286"/>
                    <p:cNvSpPr>
                      <a:spLocks/>
                    </p:cNvSpPr>
                    <p:nvPr/>
                  </p:nvSpPr>
                  <p:spPr bwMode="auto">
                    <a:xfrm>
                      <a:off x="840" y="360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7"/>
                          </a:lnTo>
                          <a:lnTo>
                            <a:pt x="10" y="0"/>
                          </a:lnTo>
                          <a:lnTo>
                            <a:pt x="25" y="31"/>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48" name="Freeform 2287"/>
                    <p:cNvSpPr>
                      <a:spLocks/>
                    </p:cNvSpPr>
                    <p:nvPr/>
                  </p:nvSpPr>
                  <p:spPr bwMode="auto">
                    <a:xfrm>
                      <a:off x="845" y="3600"/>
                      <a:ext cx="37" cy="11"/>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49" name="Freeform 2288"/>
                    <p:cNvSpPr>
                      <a:spLocks/>
                    </p:cNvSpPr>
                    <p:nvPr/>
                  </p:nvSpPr>
                  <p:spPr bwMode="auto">
                    <a:xfrm>
                      <a:off x="848" y="3611"/>
                      <a:ext cx="41" cy="12"/>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8"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31" name="Group 2289"/>
                  <p:cNvGrpSpPr>
                    <a:grpSpLocks/>
                  </p:cNvGrpSpPr>
                  <p:nvPr/>
                </p:nvGrpSpPr>
                <p:grpSpPr bwMode="auto">
                  <a:xfrm>
                    <a:off x="853" y="3612"/>
                    <a:ext cx="48" cy="23"/>
                    <a:chOff x="853" y="3612"/>
                    <a:chExt cx="48" cy="23"/>
                  </a:xfrm>
                </p:grpSpPr>
                <p:sp>
                  <p:nvSpPr>
                    <p:cNvPr id="1744" name="Freeform 2290"/>
                    <p:cNvSpPr>
                      <a:spLocks/>
                    </p:cNvSpPr>
                    <p:nvPr/>
                  </p:nvSpPr>
                  <p:spPr bwMode="auto">
                    <a:xfrm>
                      <a:off x="853"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10"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45" name="Freeform 2291"/>
                    <p:cNvSpPr>
                      <a:spLocks/>
                    </p:cNvSpPr>
                    <p:nvPr/>
                  </p:nvSpPr>
                  <p:spPr bwMode="auto">
                    <a:xfrm>
                      <a:off x="857" y="3613"/>
                      <a:ext cx="37" cy="10"/>
                    </a:xfrm>
                    <a:custGeom>
                      <a:avLst/>
                      <a:gdLst>
                        <a:gd name="T0" fmla="*/ 1 w 73"/>
                        <a:gd name="T1" fmla="*/ 0 h 32"/>
                        <a:gd name="T2" fmla="*/ 1 w 73"/>
                        <a:gd name="T3" fmla="*/ 0 h 32"/>
                        <a:gd name="T4" fmla="*/ 1 w 73"/>
                        <a:gd name="T5" fmla="*/ 0 h 32"/>
                        <a:gd name="T6" fmla="*/ 1 w 73"/>
                        <a:gd name="T7" fmla="*/ 0 h 32"/>
                        <a:gd name="T8" fmla="*/ 1 w 73"/>
                        <a:gd name="T9" fmla="*/ 0 h 32"/>
                        <a:gd name="T10" fmla="*/ 1 w 73"/>
                        <a:gd name="T11" fmla="*/ 0 h 32"/>
                        <a:gd name="T12" fmla="*/ 1 w 73"/>
                        <a:gd name="T13" fmla="*/ 0 h 32"/>
                        <a:gd name="T14" fmla="*/ 0 w 73"/>
                        <a:gd name="T15" fmla="*/ 0 h 32"/>
                        <a:gd name="T16" fmla="*/ 1 w 73"/>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2"/>
                        <a:gd name="T29" fmla="*/ 73 w 73"/>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2">
                          <a:moveTo>
                            <a:pt x="1" y="0"/>
                          </a:moveTo>
                          <a:lnTo>
                            <a:pt x="50" y="0"/>
                          </a:lnTo>
                          <a:lnTo>
                            <a:pt x="51" y="3"/>
                          </a:lnTo>
                          <a:lnTo>
                            <a:pt x="56" y="15"/>
                          </a:lnTo>
                          <a:lnTo>
                            <a:pt x="73" y="32"/>
                          </a:lnTo>
                          <a:lnTo>
                            <a:pt x="18" y="32"/>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46" name="Freeform 2292"/>
                    <p:cNvSpPr>
                      <a:spLocks/>
                    </p:cNvSpPr>
                    <p:nvPr/>
                  </p:nvSpPr>
                  <p:spPr bwMode="auto">
                    <a:xfrm>
                      <a:off x="860" y="362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32" name="Group 2293"/>
                  <p:cNvGrpSpPr>
                    <a:grpSpLocks/>
                  </p:cNvGrpSpPr>
                  <p:nvPr/>
                </p:nvGrpSpPr>
                <p:grpSpPr bwMode="auto">
                  <a:xfrm>
                    <a:off x="865" y="3625"/>
                    <a:ext cx="49" cy="23"/>
                    <a:chOff x="865" y="3625"/>
                    <a:chExt cx="49" cy="23"/>
                  </a:xfrm>
                </p:grpSpPr>
                <p:sp>
                  <p:nvSpPr>
                    <p:cNvPr id="1741" name="Freeform 2294"/>
                    <p:cNvSpPr>
                      <a:spLocks/>
                    </p:cNvSpPr>
                    <p:nvPr/>
                  </p:nvSpPr>
                  <p:spPr bwMode="auto">
                    <a:xfrm>
                      <a:off x="865" y="362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42" name="Freeform 2295"/>
                    <p:cNvSpPr>
                      <a:spLocks/>
                    </p:cNvSpPr>
                    <p:nvPr/>
                  </p:nvSpPr>
                  <p:spPr bwMode="auto">
                    <a:xfrm>
                      <a:off x="870"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2"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43" name="Freeform 2296"/>
                    <p:cNvSpPr>
                      <a:spLocks/>
                    </p:cNvSpPr>
                    <p:nvPr/>
                  </p:nvSpPr>
                  <p:spPr bwMode="auto">
                    <a:xfrm>
                      <a:off x="873" y="363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33" name="Group 2297"/>
                  <p:cNvGrpSpPr>
                    <a:grpSpLocks/>
                  </p:cNvGrpSpPr>
                  <p:nvPr/>
                </p:nvGrpSpPr>
                <p:grpSpPr bwMode="auto">
                  <a:xfrm>
                    <a:off x="878" y="3638"/>
                    <a:ext cx="49" cy="22"/>
                    <a:chOff x="878" y="3638"/>
                    <a:chExt cx="49" cy="22"/>
                  </a:xfrm>
                </p:grpSpPr>
                <p:sp>
                  <p:nvSpPr>
                    <p:cNvPr id="1738" name="Freeform 2298"/>
                    <p:cNvSpPr>
                      <a:spLocks/>
                    </p:cNvSpPr>
                    <p:nvPr/>
                  </p:nvSpPr>
                  <p:spPr bwMode="auto">
                    <a:xfrm>
                      <a:off x="878"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39" name="Freeform 2299"/>
                    <p:cNvSpPr>
                      <a:spLocks/>
                    </p:cNvSpPr>
                    <p:nvPr/>
                  </p:nvSpPr>
                  <p:spPr bwMode="auto">
                    <a:xfrm>
                      <a:off x="883"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6" y="12"/>
                          </a:lnTo>
                          <a:lnTo>
                            <a:pt x="72"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40" name="Freeform 2300"/>
                    <p:cNvSpPr>
                      <a:spLocks/>
                    </p:cNvSpPr>
                    <p:nvPr/>
                  </p:nvSpPr>
                  <p:spPr bwMode="auto">
                    <a:xfrm>
                      <a:off x="886" y="364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34" name="Group 2301"/>
                  <p:cNvGrpSpPr>
                    <a:grpSpLocks/>
                  </p:cNvGrpSpPr>
                  <p:nvPr/>
                </p:nvGrpSpPr>
                <p:grpSpPr bwMode="auto">
                  <a:xfrm>
                    <a:off x="890" y="3651"/>
                    <a:ext cx="50" cy="22"/>
                    <a:chOff x="890" y="3651"/>
                    <a:chExt cx="50" cy="22"/>
                  </a:xfrm>
                </p:grpSpPr>
                <p:sp>
                  <p:nvSpPr>
                    <p:cNvPr id="1735" name="Freeform 2302"/>
                    <p:cNvSpPr>
                      <a:spLocks/>
                    </p:cNvSpPr>
                    <p:nvPr/>
                  </p:nvSpPr>
                  <p:spPr bwMode="auto">
                    <a:xfrm>
                      <a:off x="890" y="3651"/>
                      <a:ext cx="13" cy="22"/>
                    </a:xfrm>
                    <a:custGeom>
                      <a:avLst/>
                      <a:gdLst>
                        <a:gd name="T0" fmla="*/ 1 w 25"/>
                        <a:gd name="T1" fmla="*/ 0 h 67"/>
                        <a:gd name="T2" fmla="*/ 0 w 25"/>
                        <a:gd name="T3" fmla="*/ 0 h 67"/>
                        <a:gd name="T4" fmla="*/ 1 w 25"/>
                        <a:gd name="T5" fmla="*/ 0 h 67"/>
                        <a:gd name="T6" fmla="*/ 1 w 25"/>
                        <a:gd name="T7" fmla="*/ 0 h 67"/>
                        <a:gd name="T8" fmla="*/ 1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6" y="67"/>
                          </a:moveTo>
                          <a:lnTo>
                            <a:pt x="0" y="26"/>
                          </a:lnTo>
                          <a:lnTo>
                            <a:pt x="12" y="0"/>
                          </a:lnTo>
                          <a:lnTo>
                            <a:pt x="25" y="30"/>
                          </a:lnTo>
                          <a:lnTo>
                            <a:pt x="16"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36" name="Freeform 2303"/>
                    <p:cNvSpPr>
                      <a:spLocks/>
                    </p:cNvSpPr>
                    <p:nvPr/>
                  </p:nvSpPr>
                  <p:spPr bwMode="auto">
                    <a:xfrm>
                      <a:off x="895" y="3651"/>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8" y="0"/>
                          </a:lnTo>
                          <a:lnTo>
                            <a:pt x="51" y="2"/>
                          </a:lnTo>
                          <a:lnTo>
                            <a:pt x="56" y="11"/>
                          </a:lnTo>
                          <a:lnTo>
                            <a:pt x="73" y="29"/>
                          </a:lnTo>
                          <a:lnTo>
                            <a:pt x="18"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37" name="Freeform 2304"/>
                    <p:cNvSpPr>
                      <a:spLocks/>
                    </p:cNvSpPr>
                    <p:nvPr/>
                  </p:nvSpPr>
                  <p:spPr bwMode="auto">
                    <a:xfrm>
                      <a:off x="899" y="3662"/>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511" name="Group 2305"/>
                <p:cNvGrpSpPr>
                  <a:grpSpLocks/>
                </p:cNvGrpSpPr>
                <p:nvPr/>
              </p:nvGrpSpPr>
              <p:grpSpPr bwMode="auto">
                <a:xfrm>
                  <a:off x="903" y="3665"/>
                  <a:ext cx="99" cy="74"/>
                  <a:chOff x="903" y="3665"/>
                  <a:chExt cx="99" cy="74"/>
                </a:xfrm>
              </p:grpSpPr>
              <p:grpSp>
                <p:nvGrpSpPr>
                  <p:cNvPr id="1710" name="Group 2306"/>
                  <p:cNvGrpSpPr>
                    <a:grpSpLocks/>
                  </p:cNvGrpSpPr>
                  <p:nvPr/>
                </p:nvGrpSpPr>
                <p:grpSpPr bwMode="auto">
                  <a:xfrm>
                    <a:off x="903" y="3665"/>
                    <a:ext cx="49" cy="23"/>
                    <a:chOff x="903" y="3665"/>
                    <a:chExt cx="49" cy="23"/>
                  </a:xfrm>
                </p:grpSpPr>
                <p:sp>
                  <p:nvSpPr>
                    <p:cNvPr id="1727" name="Freeform 2307"/>
                    <p:cNvSpPr>
                      <a:spLocks/>
                    </p:cNvSpPr>
                    <p:nvPr/>
                  </p:nvSpPr>
                  <p:spPr bwMode="auto">
                    <a:xfrm>
                      <a:off x="903"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0"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28" name="Freeform 2308"/>
                    <p:cNvSpPr>
                      <a:spLocks/>
                    </p:cNvSpPr>
                    <p:nvPr/>
                  </p:nvSpPr>
                  <p:spPr bwMode="auto">
                    <a:xfrm>
                      <a:off x="907" y="3666"/>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9" y="0"/>
                          </a:lnTo>
                          <a:lnTo>
                            <a:pt x="51" y="4"/>
                          </a:lnTo>
                          <a:lnTo>
                            <a:pt x="56" y="13"/>
                          </a:lnTo>
                          <a:lnTo>
                            <a:pt x="73"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29" name="Freeform 2309"/>
                    <p:cNvSpPr>
                      <a:spLocks/>
                    </p:cNvSpPr>
                    <p:nvPr/>
                  </p:nvSpPr>
                  <p:spPr bwMode="auto">
                    <a:xfrm>
                      <a:off x="911" y="367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11" name="Group 2310"/>
                  <p:cNvGrpSpPr>
                    <a:grpSpLocks/>
                  </p:cNvGrpSpPr>
                  <p:nvPr/>
                </p:nvGrpSpPr>
                <p:grpSpPr bwMode="auto">
                  <a:xfrm>
                    <a:off x="914" y="3678"/>
                    <a:ext cx="49" cy="23"/>
                    <a:chOff x="914" y="3678"/>
                    <a:chExt cx="49" cy="23"/>
                  </a:xfrm>
                </p:grpSpPr>
                <p:sp>
                  <p:nvSpPr>
                    <p:cNvPr id="1724" name="Freeform 2311"/>
                    <p:cNvSpPr>
                      <a:spLocks/>
                    </p:cNvSpPr>
                    <p:nvPr/>
                  </p:nvSpPr>
                  <p:spPr bwMode="auto">
                    <a:xfrm>
                      <a:off x="914"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25" name="Freeform 2312"/>
                    <p:cNvSpPr>
                      <a:spLocks/>
                    </p:cNvSpPr>
                    <p:nvPr/>
                  </p:nvSpPr>
                  <p:spPr bwMode="auto">
                    <a:xfrm>
                      <a:off x="919" y="3678"/>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7" y="12"/>
                          </a:lnTo>
                          <a:lnTo>
                            <a:pt x="75" y="30"/>
                          </a:lnTo>
                          <a:lnTo>
                            <a:pt x="19" y="30"/>
                          </a:lnTo>
                          <a:lnTo>
                            <a:pt x="11"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26" name="Freeform 2313"/>
                    <p:cNvSpPr>
                      <a:spLocks/>
                    </p:cNvSpPr>
                    <p:nvPr/>
                  </p:nvSpPr>
                  <p:spPr bwMode="auto">
                    <a:xfrm>
                      <a:off x="922" y="3688"/>
                      <a:ext cx="41" cy="13"/>
                    </a:xfrm>
                    <a:custGeom>
                      <a:avLst/>
                      <a:gdLst>
                        <a:gd name="T0" fmla="*/ 0 w 81"/>
                        <a:gd name="T1" fmla="*/ 0 h 38"/>
                        <a:gd name="T2" fmla="*/ 1 w 81"/>
                        <a:gd name="T3" fmla="*/ 0 h 38"/>
                        <a:gd name="T4" fmla="*/ 1 w 81"/>
                        <a:gd name="T5" fmla="*/ 0 h 38"/>
                        <a:gd name="T6" fmla="*/ 1 w 81"/>
                        <a:gd name="T7" fmla="*/ 0 h 38"/>
                        <a:gd name="T8" fmla="*/ 1 w 81"/>
                        <a:gd name="T9" fmla="*/ 0 h 38"/>
                        <a:gd name="T10" fmla="*/ 1 w 81"/>
                        <a:gd name="T11" fmla="*/ 0 h 38"/>
                        <a:gd name="T12" fmla="*/ 0 w 81"/>
                        <a:gd name="T13" fmla="*/ 0 h 38"/>
                        <a:gd name="T14" fmla="*/ 0 60000 65536"/>
                        <a:gd name="T15" fmla="*/ 0 60000 65536"/>
                        <a:gd name="T16" fmla="*/ 0 60000 65536"/>
                        <a:gd name="T17" fmla="*/ 0 60000 65536"/>
                        <a:gd name="T18" fmla="*/ 0 60000 65536"/>
                        <a:gd name="T19" fmla="*/ 0 60000 65536"/>
                        <a:gd name="T20" fmla="*/ 0 60000 65536"/>
                        <a:gd name="T21" fmla="*/ 0 w 81"/>
                        <a:gd name="T22" fmla="*/ 0 h 38"/>
                        <a:gd name="T23" fmla="*/ 81 w 81"/>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8">
                          <a:moveTo>
                            <a:pt x="0" y="38"/>
                          </a:moveTo>
                          <a:lnTo>
                            <a:pt x="2" y="21"/>
                          </a:lnTo>
                          <a:lnTo>
                            <a:pt x="8" y="8"/>
                          </a:lnTo>
                          <a:lnTo>
                            <a:pt x="12" y="0"/>
                          </a:lnTo>
                          <a:lnTo>
                            <a:pt x="68" y="0"/>
                          </a:lnTo>
                          <a:lnTo>
                            <a:pt x="81"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12" name="Group 2314"/>
                  <p:cNvGrpSpPr>
                    <a:grpSpLocks/>
                  </p:cNvGrpSpPr>
                  <p:nvPr/>
                </p:nvGrpSpPr>
                <p:grpSpPr bwMode="auto">
                  <a:xfrm>
                    <a:off x="928" y="3690"/>
                    <a:ext cx="48" cy="23"/>
                    <a:chOff x="928" y="3690"/>
                    <a:chExt cx="48" cy="23"/>
                  </a:xfrm>
                </p:grpSpPr>
                <p:sp>
                  <p:nvSpPr>
                    <p:cNvPr id="1721" name="Freeform 2315"/>
                    <p:cNvSpPr>
                      <a:spLocks/>
                    </p:cNvSpPr>
                    <p:nvPr/>
                  </p:nvSpPr>
                  <p:spPr bwMode="auto">
                    <a:xfrm>
                      <a:off x="928" y="369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9"/>
                          </a:lnTo>
                          <a:lnTo>
                            <a:pt x="9" y="0"/>
                          </a:lnTo>
                          <a:lnTo>
                            <a:pt x="25" y="33"/>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22" name="Freeform 2316"/>
                    <p:cNvSpPr>
                      <a:spLocks/>
                    </p:cNvSpPr>
                    <p:nvPr/>
                  </p:nvSpPr>
                  <p:spPr bwMode="auto">
                    <a:xfrm>
                      <a:off x="932"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23" name="Freeform 2317"/>
                    <p:cNvSpPr>
                      <a:spLocks/>
                    </p:cNvSpPr>
                    <p:nvPr/>
                  </p:nvSpPr>
                  <p:spPr bwMode="auto">
                    <a:xfrm>
                      <a:off x="935" y="3701"/>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8" y="7"/>
                          </a:lnTo>
                          <a:lnTo>
                            <a:pt x="13"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13" name="Group 2318"/>
                  <p:cNvGrpSpPr>
                    <a:grpSpLocks/>
                  </p:cNvGrpSpPr>
                  <p:nvPr/>
                </p:nvGrpSpPr>
                <p:grpSpPr bwMode="auto">
                  <a:xfrm>
                    <a:off x="940" y="3703"/>
                    <a:ext cx="49" cy="23"/>
                    <a:chOff x="940" y="3703"/>
                    <a:chExt cx="49" cy="23"/>
                  </a:xfrm>
                </p:grpSpPr>
                <p:sp>
                  <p:nvSpPr>
                    <p:cNvPr id="1718" name="Freeform 2319"/>
                    <p:cNvSpPr>
                      <a:spLocks/>
                    </p:cNvSpPr>
                    <p:nvPr/>
                  </p:nvSpPr>
                  <p:spPr bwMode="auto">
                    <a:xfrm>
                      <a:off x="940"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19" name="Freeform 2320"/>
                    <p:cNvSpPr>
                      <a:spLocks/>
                    </p:cNvSpPr>
                    <p:nvPr/>
                  </p:nvSpPr>
                  <p:spPr bwMode="auto">
                    <a:xfrm>
                      <a:off x="945" y="3703"/>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2" y="0"/>
                          </a:lnTo>
                          <a:lnTo>
                            <a:pt x="53" y="3"/>
                          </a:lnTo>
                          <a:lnTo>
                            <a:pt x="57" y="12"/>
                          </a:lnTo>
                          <a:lnTo>
                            <a:pt x="75"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20" name="Freeform 2321"/>
                    <p:cNvSpPr>
                      <a:spLocks/>
                    </p:cNvSpPr>
                    <p:nvPr/>
                  </p:nvSpPr>
                  <p:spPr bwMode="auto">
                    <a:xfrm>
                      <a:off x="948" y="3714"/>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14" name="Group 2322"/>
                  <p:cNvGrpSpPr>
                    <a:grpSpLocks/>
                  </p:cNvGrpSpPr>
                  <p:nvPr/>
                </p:nvGrpSpPr>
                <p:grpSpPr bwMode="auto">
                  <a:xfrm>
                    <a:off x="953" y="3716"/>
                    <a:ext cx="49" cy="23"/>
                    <a:chOff x="953" y="3716"/>
                    <a:chExt cx="49" cy="23"/>
                  </a:xfrm>
                </p:grpSpPr>
                <p:sp>
                  <p:nvSpPr>
                    <p:cNvPr id="1715" name="Freeform 2323"/>
                    <p:cNvSpPr>
                      <a:spLocks/>
                    </p:cNvSpPr>
                    <p:nvPr/>
                  </p:nvSpPr>
                  <p:spPr bwMode="auto">
                    <a:xfrm>
                      <a:off x="953" y="3716"/>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16" name="Freeform 2324"/>
                    <p:cNvSpPr>
                      <a:spLocks/>
                    </p:cNvSpPr>
                    <p:nvPr/>
                  </p:nvSpPr>
                  <p:spPr bwMode="auto">
                    <a:xfrm>
                      <a:off x="958" y="3717"/>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3"/>
                          </a:lnTo>
                          <a:lnTo>
                            <a:pt x="56" y="11"/>
                          </a:lnTo>
                          <a:lnTo>
                            <a:pt x="75"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17" name="Freeform 2325"/>
                    <p:cNvSpPr>
                      <a:spLocks/>
                    </p:cNvSpPr>
                    <p:nvPr/>
                  </p:nvSpPr>
                  <p:spPr bwMode="auto">
                    <a:xfrm>
                      <a:off x="961" y="372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512" name="Group 2326"/>
                <p:cNvGrpSpPr>
                  <a:grpSpLocks/>
                </p:cNvGrpSpPr>
                <p:nvPr/>
              </p:nvGrpSpPr>
              <p:grpSpPr bwMode="auto">
                <a:xfrm>
                  <a:off x="963" y="3727"/>
                  <a:ext cx="49" cy="23"/>
                  <a:chOff x="963" y="3727"/>
                  <a:chExt cx="49" cy="23"/>
                </a:xfrm>
              </p:grpSpPr>
              <p:sp>
                <p:nvSpPr>
                  <p:cNvPr id="1707" name="Freeform 2327"/>
                  <p:cNvSpPr>
                    <a:spLocks/>
                  </p:cNvSpPr>
                  <p:nvPr/>
                </p:nvSpPr>
                <p:spPr bwMode="auto">
                  <a:xfrm>
                    <a:off x="963" y="372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08" name="Freeform 2328"/>
                  <p:cNvSpPr>
                    <a:spLocks/>
                  </p:cNvSpPr>
                  <p:nvPr/>
                </p:nvSpPr>
                <p:spPr bwMode="auto">
                  <a:xfrm>
                    <a:off x="968"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8" y="0"/>
                        </a:lnTo>
                        <a:lnTo>
                          <a:pt x="50"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09" name="Freeform 2329"/>
                  <p:cNvSpPr>
                    <a:spLocks/>
                  </p:cNvSpPr>
                  <p:nvPr/>
                </p:nvSpPr>
                <p:spPr bwMode="auto">
                  <a:xfrm>
                    <a:off x="972" y="373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13" name="Group 2330"/>
                <p:cNvGrpSpPr>
                  <a:grpSpLocks/>
                </p:cNvGrpSpPr>
                <p:nvPr/>
              </p:nvGrpSpPr>
              <p:grpSpPr bwMode="auto">
                <a:xfrm>
                  <a:off x="976" y="3740"/>
                  <a:ext cx="50" cy="22"/>
                  <a:chOff x="976" y="3740"/>
                  <a:chExt cx="50" cy="22"/>
                </a:xfrm>
              </p:grpSpPr>
              <p:sp>
                <p:nvSpPr>
                  <p:cNvPr id="1704" name="Freeform 2331"/>
                  <p:cNvSpPr>
                    <a:spLocks/>
                  </p:cNvSpPr>
                  <p:nvPr/>
                </p:nvSpPr>
                <p:spPr bwMode="auto">
                  <a:xfrm>
                    <a:off x="976" y="3740"/>
                    <a:ext cx="12" cy="22"/>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10" y="0"/>
                        </a:lnTo>
                        <a:lnTo>
                          <a:pt x="23"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05" name="Freeform 2332"/>
                  <p:cNvSpPr>
                    <a:spLocks/>
                  </p:cNvSpPr>
                  <p:nvPr/>
                </p:nvSpPr>
                <p:spPr bwMode="auto">
                  <a:xfrm>
                    <a:off x="980" y="374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4" y="0"/>
                        </a:moveTo>
                        <a:lnTo>
                          <a:pt x="52" y="0"/>
                        </a:lnTo>
                        <a:lnTo>
                          <a:pt x="53" y="4"/>
                        </a:lnTo>
                        <a:lnTo>
                          <a:pt x="60" y="13"/>
                        </a:lnTo>
                        <a:lnTo>
                          <a:pt x="75" y="31"/>
                        </a:lnTo>
                        <a:lnTo>
                          <a:pt x="19" y="31"/>
                        </a:lnTo>
                        <a:lnTo>
                          <a:pt x="12" y="22"/>
                        </a:lnTo>
                        <a:lnTo>
                          <a:pt x="0" y="7"/>
                        </a:lnTo>
                        <a:lnTo>
                          <a:pt x="4"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06" name="Freeform 2333"/>
                  <p:cNvSpPr>
                    <a:spLocks/>
                  </p:cNvSpPr>
                  <p:nvPr/>
                </p:nvSpPr>
                <p:spPr bwMode="auto">
                  <a:xfrm>
                    <a:off x="984" y="375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1"/>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14" name="Group 2334"/>
                <p:cNvGrpSpPr>
                  <a:grpSpLocks/>
                </p:cNvGrpSpPr>
                <p:nvPr/>
              </p:nvGrpSpPr>
              <p:grpSpPr bwMode="auto">
                <a:xfrm>
                  <a:off x="761" y="3560"/>
                  <a:ext cx="50" cy="22"/>
                  <a:chOff x="761" y="3560"/>
                  <a:chExt cx="50" cy="22"/>
                </a:xfrm>
              </p:grpSpPr>
              <p:sp>
                <p:nvSpPr>
                  <p:cNvPr id="1701" name="Freeform 2335"/>
                  <p:cNvSpPr>
                    <a:spLocks/>
                  </p:cNvSpPr>
                  <p:nvPr/>
                </p:nvSpPr>
                <p:spPr bwMode="auto">
                  <a:xfrm>
                    <a:off x="761" y="356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02" name="Freeform 2336"/>
                  <p:cNvSpPr>
                    <a:spLocks/>
                  </p:cNvSpPr>
                  <p:nvPr/>
                </p:nvSpPr>
                <p:spPr bwMode="auto">
                  <a:xfrm>
                    <a:off x="767" y="3560"/>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9" y="0"/>
                        </a:lnTo>
                        <a:lnTo>
                          <a:pt x="50" y="2"/>
                        </a:lnTo>
                        <a:lnTo>
                          <a:pt x="55" y="11"/>
                        </a:lnTo>
                        <a:lnTo>
                          <a:pt x="73" y="29"/>
                        </a:lnTo>
                        <a:lnTo>
                          <a:pt x="17" y="29"/>
                        </a:lnTo>
                        <a:lnTo>
                          <a:pt x="8"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03" name="Freeform 2337"/>
                  <p:cNvSpPr>
                    <a:spLocks/>
                  </p:cNvSpPr>
                  <p:nvPr/>
                </p:nvSpPr>
                <p:spPr bwMode="auto">
                  <a:xfrm>
                    <a:off x="769" y="3571"/>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8"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15" name="Group 2338"/>
                <p:cNvGrpSpPr>
                  <a:grpSpLocks/>
                </p:cNvGrpSpPr>
                <p:nvPr/>
              </p:nvGrpSpPr>
              <p:grpSpPr bwMode="auto">
                <a:xfrm>
                  <a:off x="774" y="3572"/>
                  <a:ext cx="49" cy="23"/>
                  <a:chOff x="774" y="3572"/>
                  <a:chExt cx="49" cy="23"/>
                </a:xfrm>
              </p:grpSpPr>
              <p:sp>
                <p:nvSpPr>
                  <p:cNvPr id="1698" name="Freeform 2339"/>
                  <p:cNvSpPr>
                    <a:spLocks/>
                  </p:cNvSpPr>
                  <p:nvPr/>
                </p:nvSpPr>
                <p:spPr bwMode="auto">
                  <a:xfrm>
                    <a:off x="774" y="3572"/>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5"/>
                        </a:lnTo>
                        <a:lnTo>
                          <a:pt x="9" y="0"/>
                        </a:lnTo>
                        <a:lnTo>
                          <a:pt x="25"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99" name="Freeform 2340"/>
                  <p:cNvSpPr>
                    <a:spLocks/>
                  </p:cNvSpPr>
                  <p:nvPr/>
                </p:nvSpPr>
                <p:spPr bwMode="auto">
                  <a:xfrm>
                    <a:off x="778" y="3573"/>
                    <a:ext cx="38" cy="9"/>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00" name="Freeform 2341"/>
                  <p:cNvSpPr>
                    <a:spLocks/>
                  </p:cNvSpPr>
                  <p:nvPr/>
                </p:nvSpPr>
                <p:spPr bwMode="auto">
                  <a:xfrm>
                    <a:off x="782" y="358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16" name="Group 2342"/>
                <p:cNvGrpSpPr>
                  <a:grpSpLocks/>
                </p:cNvGrpSpPr>
                <p:nvPr/>
              </p:nvGrpSpPr>
              <p:grpSpPr bwMode="auto">
                <a:xfrm>
                  <a:off x="787" y="3585"/>
                  <a:ext cx="49" cy="23"/>
                  <a:chOff x="787" y="3585"/>
                  <a:chExt cx="49" cy="23"/>
                </a:xfrm>
              </p:grpSpPr>
              <p:sp>
                <p:nvSpPr>
                  <p:cNvPr id="1695" name="Freeform 2343"/>
                  <p:cNvSpPr>
                    <a:spLocks/>
                  </p:cNvSpPr>
                  <p:nvPr/>
                </p:nvSpPr>
                <p:spPr bwMode="auto">
                  <a:xfrm>
                    <a:off x="787" y="358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6"/>
                        </a:lnTo>
                        <a:lnTo>
                          <a:pt x="9"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96" name="Freeform 2344"/>
                  <p:cNvSpPr>
                    <a:spLocks/>
                  </p:cNvSpPr>
                  <p:nvPr/>
                </p:nvSpPr>
                <p:spPr bwMode="auto">
                  <a:xfrm>
                    <a:off x="792" y="3586"/>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2"/>
                        </a:lnTo>
                        <a:lnTo>
                          <a:pt x="55" y="11"/>
                        </a:lnTo>
                        <a:lnTo>
                          <a:pt x="74" y="29"/>
                        </a:lnTo>
                        <a:lnTo>
                          <a:pt x="19"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97" name="Freeform 2345"/>
                  <p:cNvSpPr>
                    <a:spLocks/>
                  </p:cNvSpPr>
                  <p:nvPr/>
                </p:nvSpPr>
                <p:spPr bwMode="auto">
                  <a:xfrm>
                    <a:off x="795" y="3596"/>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6"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17" name="Group 2346"/>
                <p:cNvGrpSpPr>
                  <a:grpSpLocks/>
                </p:cNvGrpSpPr>
                <p:nvPr/>
              </p:nvGrpSpPr>
              <p:grpSpPr bwMode="auto">
                <a:xfrm>
                  <a:off x="799" y="3600"/>
                  <a:ext cx="99" cy="73"/>
                  <a:chOff x="799" y="3600"/>
                  <a:chExt cx="99" cy="73"/>
                </a:xfrm>
              </p:grpSpPr>
              <p:grpSp>
                <p:nvGrpSpPr>
                  <p:cNvPr id="1675" name="Group 2347"/>
                  <p:cNvGrpSpPr>
                    <a:grpSpLocks/>
                  </p:cNvGrpSpPr>
                  <p:nvPr/>
                </p:nvGrpSpPr>
                <p:grpSpPr bwMode="auto">
                  <a:xfrm>
                    <a:off x="799" y="3600"/>
                    <a:ext cx="48" cy="23"/>
                    <a:chOff x="799" y="3600"/>
                    <a:chExt cx="48" cy="23"/>
                  </a:xfrm>
                </p:grpSpPr>
                <p:sp>
                  <p:nvSpPr>
                    <p:cNvPr id="1692" name="Freeform 2348"/>
                    <p:cNvSpPr>
                      <a:spLocks/>
                    </p:cNvSpPr>
                    <p:nvPr/>
                  </p:nvSpPr>
                  <p:spPr bwMode="auto">
                    <a:xfrm>
                      <a:off x="799" y="360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93" name="Freeform 2349"/>
                    <p:cNvSpPr>
                      <a:spLocks/>
                    </p:cNvSpPr>
                    <p:nvPr/>
                  </p:nvSpPr>
                  <p:spPr bwMode="auto">
                    <a:xfrm>
                      <a:off x="803" y="3600"/>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1"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94" name="Freeform 2350"/>
                    <p:cNvSpPr>
                      <a:spLocks/>
                    </p:cNvSpPr>
                    <p:nvPr/>
                  </p:nvSpPr>
                  <p:spPr bwMode="auto">
                    <a:xfrm>
                      <a:off x="807" y="3611"/>
                      <a:ext cx="40" cy="12"/>
                    </a:xfrm>
                    <a:custGeom>
                      <a:avLst/>
                      <a:gdLst>
                        <a:gd name="T0" fmla="*/ 0 w 82"/>
                        <a:gd name="T1" fmla="*/ 0 h 38"/>
                        <a:gd name="T2" fmla="*/ 0 w 82"/>
                        <a:gd name="T3" fmla="*/ 0 h 38"/>
                        <a:gd name="T4" fmla="*/ 0 w 82"/>
                        <a:gd name="T5" fmla="*/ 0 h 38"/>
                        <a:gd name="T6" fmla="*/ 0 w 82"/>
                        <a:gd name="T7" fmla="*/ 0 h 38"/>
                        <a:gd name="T8" fmla="*/ 0 w 82"/>
                        <a:gd name="T9" fmla="*/ 0 h 38"/>
                        <a:gd name="T10" fmla="*/ 0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7"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76" name="Group 2351"/>
                  <p:cNvGrpSpPr>
                    <a:grpSpLocks/>
                  </p:cNvGrpSpPr>
                  <p:nvPr/>
                </p:nvGrpSpPr>
                <p:grpSpPr bwMode="auto">
                  <a:xfrm>
                    <a:off x="811" y="3612"/>
                    <a:ext cx="48" cy="23"/>
                    <a:chOff x="811" y="3612"/>
                    <a:chExt cx="48" cy="23"/>
                  </a:xfrm>
                </p:grpSpPr>
                <p:sp>
                  <p:nvSpPr>
                    <p:cNvPr id="1689" name="Freeform 2352"/>
                    <p:cNvSpPr>
                      <a:spLocks/>
                    </p:cNvSpPr>
                    <p:nvPr/>
                  </p:nvSpPr>
                  <p:spPr bwMode="auto">
                    <a:xfrm>
                      <a:off x="811"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11"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90" name="Freeform 2353"/>
                    <p:cNvSpPr>
                      <a:spLocks/>
                    </p:cNvSpPr>
                    <p:nvPr/>
                  </p:nvSpPr>
                  <p:spPr bwMode="auto">
                    <a:xfrm>
                      <a:off x="815" y="3613"/>
                      <a:ext cx="38" cy="10"/>
                    </a:xfrm>
                    <a:custGeom>
                      <a:avLst/>
                      <a:gdLst>
                        <a:gd name="T0" fmla="*/ 1 w 75"/>
                        <a:gd name="T1" fmla="*/ 0 h 32"/>
                        <a:gd name="T2" fmla="*/ 1 w 75"/>
                        <a:gd name="T3" fmla="*/ 0 h 32"/>
                        <a:gd name="T4" fmla="*/ 1 w 75"/>
                        <a:gd name="T5" fmla="*/ 0 h 32"/>
                        <a:gd name="T6" fmla="*/ 1 w 75"/>
                        <a:gd name="T7" fmla="*/ 0 h 32"/>
                        <a:gd name="T8" fmla="*/ 1 w 75"/>
                        <a:gd name="T9" fmla="*/ 0 h 32"/>
                        <a:gd name="T10" fmla="*/ 1 w 75"/>
                        <a:gd name="T11" fmla="*/ 0 h 32"/>
                        <a:gd name="T12" fmla="*/ 1 w 75"/>
                        <a:gd name="T13" fmla="*/ 0 h 32"/>
                        <a:gd name="T14" fmla="*/ 0 w 75"/>
                        <a:gd name="T15" fmla="*/ 0 h 32"/>
                        <a:gd name="T16" fmla="*/ 1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3" y="0"/>
                          </a:moveTo>
                          <a:lnTo>
                            <a:pt x="52" y="0"/>
                          </a:lnTo>
                          <a:lnTo>
                            <a:pt x="53" y="3"/>
                          </a:lnTo>
                          <a:lnTo>
                            <a:pt x="57" y="15"/>
                          </a:lnTo>
                          <a:lnTo>
                            <a:pt x="75" y="32"/>
                          </a:lnTo>
                          <a:lnTo>
                            <a:pt x="19" y="32"/>
                          </a:lnTo>
                          <a:lnTo>
                            <a:pt x="10"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91" name="Freeform 2354"/>
                    <p:cNvSpPr>
                      <a:spLocks/>
                    </p:cNvSpPr>
                    <p:nvPr/>
                  </p:nvSpPr>
                  <p:spPr bwMode="auto">
                    <a:xfrm>
                      <a:off x="819"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1"/>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77" name="Group 2355"/>
                  <p:cNvGrpSpPr>
                    <a:grpSpLocks/>
                  </p:cNvGrpSpPr>
                  <p:nvPr/>
                </p:nvGrpSpPr>
                <p:grpSpPr bwMode="auto">
                  <a:xfrm>
                    <a:off x="823" y="3625"/>
                    <a:ext cx="49" cy="23"/>
                    <a:chOff x="823" y="3625"/>
                    <a:chExt cx="49" cy="23"/>
                  </a:xfrm>
                </p:grpSpPr>
                <p:sp>
                  <p:nvSpPr>
                    <p:cNvPr id="1686" name="Freeform 2356"/>
                    <p:cNvSpPr>
                      <a:spLocks/>
                    </p:cNvSpPr>
                    <p:nvPr/>
                  </p:nvSpPr>
                  <p:spPr bwMode="auto">
                    <a:xfrm>
                      <a:off x="823" y="362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87" name="Freeform 2357"/>
                    <p:cNvSpPr>
                      <a:spLocks/>
                    </p:cNvSpPr>
                    <p:nvPr/>
                  </p:nvSpPr>
                  <p:spPr bwMode="auto">
                    <a:xfrm>
                      <a:off x="828"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88" name="Freeform 2358"/>
                    <p:cNvSpPr>
                      <a:spLocks/>
                    </p:cNvSpPr>
                    <p:nvPr/>
                  </p:nvSpPr>
                  <p:spPr bwMode="auto">
                    <a:xfrm>
                      <a:off x="832" y="363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78" name="Group 2359"/>
                  <p:cNvGrpSpPr>
                    <a:grpSpLocks/>
                  </p:cNvGrpSpPr>
                  <p:nvPr/>
                </p:nvGrpSpPr>
                <p:grpSpPr bwMode="auto">
                  <a:xfrm>
                    <a:off x="836" y="3638"/>
                    <a:ext cx="50" cy="22"/>
                    <a:chOff x="836" y="3638"/>
                    <a:chExt cx="50" cy="22"/>
                  </a:xfrm>
                </p:grpSpPr>
                <p:sp>
                  <p:nvSpPr>
                    <p:cNvPr id="1683" name="Freeform 2360"/>
                    <p:cNvSpPr>
                      <a:spLocks/>
                    </p:cNvSpPr>
                    <p:nvPr/>
                  </p:nvSpPr>
                  <p:spPr bwMode="auto">
                    <a:xfrm>
                      <a:off x="836"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84" name="Freeform 2361"/>
                    <p:cNvSpPr>
                      <a:spLocks/>
                    </p:cNvSpPr>
                    <p:nvPr/>
                  </p:nvSpPr>
                  <p:spPr bwMode="auto">
                    <a:xfrm>
                      <a:off x="842"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5" y="12"/>
                          </a:lnTo>
                          <a:lnTo>
                            <a:pt x="72" y="30"/>
                          </a:lnTo>
                          <a:lnTo>
                            <a:pt x="17" y="30"/>
                          </a:lnTo>
                          <a:lnTo>
                            <a:pt x="8"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85" name="Freeform 2362"/>
                    <p:cNvSpPr>
                      <a:spLocks/>
                    </p:cNvSpPr>
                    <p:nvPr/>
                  </p:nvSpPr>
                  <p:spPr bwMode="auto">
                    <a:xfrm>
                      <a:off x="844" y="3648"/>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79" name="Group 2363"/>
                  <p:cNvGrpSpPr>
                    <a:grpSpLocks/>
                  </p:cNvGrpSpPr>
                  <p:nvPr/>
                </p:nvGrpSpPr>
                <p:grpSpPr bwMode="auto">
                  <a:xfrm>
                    <a:off x="849" y="3651"/>
                    <a:ext cx="49" cy="22"/>
                    <a:chOff x="849" y="3651"/>
                    <a:chExt cx="49" cy="22"/>
                  </a:xfrm>
                </p:grpSpPr>
                <p:sp>
                  <p:nvSpPr>
                    <p:cNvPr id="1680" name="Freeform 2364"/>
                    <p:cNvSpPr>
                      <a:spLocks/>
                    </p:cNvSpPr>
                    <p:nvPr/>
                  </p:nvSpPr>
                  <p:spPr bwMode="auto">
                    <a:xfrm>
                      <a:off x="849" y="3651"/>
                      <a:ext cx="12" cy="22"/>
                    </a:xfrm>
                    <a:custGeom>
                      <a:avLst/>
                      <a:gdLst>
                        <a:gd name="T0" fmla="*/ 0 w 25"/>
                        <a:gd name="T1" fmla="*/ 0 h 67"/>
                        <a:gd name="T2" fmla="*/ 0 w 25"/>
                        <a:gd name="T3" fmla="*/ 0 h 67"/>
                        <a:gd name="T4" fmla="*/ 0 w 25"/>
                        <a:gd name="T5" fmla="*/ 0 h 67"/>
                        <a:gd name="T6" fmla="*/ 0 w 25"/>
                        <a:gd name="T7" fmla="*/ 0 h 67"/>
                        <a:gd name="T8" fmla="*/ 0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5" y="67"/>
                          </a:moveTo>
                          <a:lnTo>
                            <a:pt x="0" y="26"/>
                          </a:lnTo>
                          <a:lnTo>
                            <a:pt x="10" y="0"/>
                          </a:lnTo>
                          <a:lnTo>
                            <a:pt x="25"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81" name="Freeform 2365"/>
                    <p:cNvSpPr>
                      <a:spLocks/>
                    </p:cNvSpPr>
                    <p:nvPr/>
                  </p:nvSpPr>
                  <p:spPr bwMode="auto">
                    <a:xfrm>
                      <a:off x="854"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7" y="11"/>
                          </a:lnTo>
                          <a:lnTo>
                            <a:pt x="74"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82" name="Freeform 2366"/>
                    <p:cNvSpPr>
                      <a:spLocks/>
                    </p:cNvSpPr>
                    <p:nvPr/>
                  </p:nvSpPr>
                  <p:spPr bwMode="auto">
                    <a:xfrm>
                      <a:off x="857" y="36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518" name="Group 2367"/>
                <p:cNvGrpSpPr>
                  <a:grpSpLocks/>
                </p:cNvGrpSpPr>
                <p:nvPr/>
              </p:nvGrpSpPr>
              <p:grpSpPr bwMode="auto">
                <a:xfrm>
                  <a:off x="861" y="3665"/>
                  <a:ext cx="99" cy="74"/>
                  <a:chOff x="861" y="3665"/>
                  <a:chExt cx="99" cy="74"/>
                </a:xfrm>
              </p:grpSpPr>
              <p:grpSp>
                <p:nvGrpSpPr>
                  <p:cNvPr id="1655" name="Group 2368"/>
                  <p:cNvGrpSpPr>
                    <a:grpSpLocks/>
                  </p:cNvGrpSpPr>
                  <p:nvPr/>
                </p:nvGrpSpPr>
                <p:grpSpPr bwMode="auto">
                  <a:xfrm>
                    <a:off x="861" y="3665"/>
                    <a:ext cx="50" cy="23"/>
                    <a:chOff x="861" y="3665"/>
                    <a:chExt cx="50" cy="23"/>
                  </a:xfrm>
                </p:grpSpPr>
                <p:sp>
                  <p:nvSpPr>
                    <p:cNvPr id="1672" name="Freeform 2369"/>
                    <p:cNvSpPr>
                      <a:spLocks/>
                    </p:cNvSpPr>
                    <p:nvPr/>
                  </p:nvSpPr>
                  <p:spPr bwMode="auto">
                    <a:xfrm>
                      <a:off x="861"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73" name="Freeform 2370"/>
                    <p:cNvSpPr>
                      <a:spLocks/>
                    </p:cNvSpPr>
                    <p:nvPr/>
                  </p:nvSpPr>
                  <p:spPr bwMode="auto">
                    <a:xfrm>
                      <a:off x="865" y="3666"/>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4"/>
                          </a:lnTo>
                          <a:lnTo>
                            <a:pt x="57" y="13"/>
                          </a:lnTo>
                          <a:lnTo>
                            <a:pt x="75" y="31"/>
                          </a:lnTo>
                          <a:lnTo>
                            <a:pt x="19" y="31"/>
                          </a:lnTo>
                          <a:lnTo>
                            <a:pt x="11"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74" name="Freeform 2371"/>
                    <p:cNvSpPr>
                      <a:spLocks/>
                    </p:cNvSpPr>
                    <p:nvPr/>
                  </p:nvSpPr>
                  <p:spPr bwMode="auto">
                    <a:xfrm>
                      <a:off x="869"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56" name="Group 2372"/>
                  <p:cNvGrpSpPr>
                    <a:grpSpLocks/>
                  </p:cNvGrpSpPr>
                  <p:nvPr/>
                </p:nvGrpSpPr>
                <p:grpSpPr bwMode="auto">
                  <a:xfrm>
                    <a:off x="873" y="3678"/>
                    <a:ext cx="49" cy="23"/>
                    <a:chOff x="873" y="3678"/>
                    <a:chExt cx="49" cy="23"/>
                  </a:xfrm>
                </p:grpSpPr>
                <p:sp>
                  <p:nvSpPr>
                    <p:cNvPr id="1669" name="Freeform 2373"/>
                    <p:cNvSpPr>
                      <a:spLocks/>
                    </p:cNvSpPr>
                    <p:nvPr/>
                  </p:nvSpPr>
                  <p:spPr bwMode="auto">
                    <a:xfrm>
                      <a:off x="873"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7"/>
                          </a:lnTo>
                          <a:lnTo>
                            <a:pt x="9" y="0"/>
                          </a:lnTo>
                          <a:lnTo>
                            <a:pt x="25"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70" name="Freeform 2374"/>
                    <p:cNvSpPr>
                      <a:spLocks/>
                    </p:cNvSpPr>
                    <p:nvPr/>
                  </p:nvSpPr>
                  <p:spPr bwMode="auto">
                    <a:xfrm>
                      <a:off x="878" y="3678"/>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0" y="0"/>
                          </a:lnTo>
                          <a:lnTo>
                            <a:pt x="52" y="3"/>
                          </a:lnTo>
                          <a:lnTo>
                            <a:pt x="57" y="12"/>
                          </a:lnTo>
                          <a:lnTo>
                            <a:pt x="75"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71" name="Freeform 2375"/>
                    <p:cNvSpPr>
                      <a:spLocks/>
                    </p:cNvSpPr>
                    <p:nvPr/>
                  </p:nvSpPr>
                  <p:spPr bwMode="auto">
                    <a:xfrm>
                      <a:off x="880" y="3688"/>
                      <a:ext cx="42"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4" y="21"/>
                          </a:lnTo>
                          <a:lnTo>
                            <a:pt x="8" y="8"/>
                          </a:lnTo>
                          <a:lnTo>
                            <a:pt x="13"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57" name="Group 2376"/>
                  <p:cNvGrpSpPr>
                    <a:grpSpLocks/>
                  </p:cNvGrpSpPr>
                  <p:nvPr/>
                </p:nvGrpSpPr>
                <p:grpSpPr bwMode="auto">
                  <a:xfrm>
                    <a:off x="886" y="3690"/>
                    <a:ext cx="49" cy="23"/>
                    <a:chOff x="886" y="3690"/>
                    <a:chExt cx="49" cy="23"/>
                  </a:xfrm>
                </p:grpSpPr>
                <p:sp>
                  <p:nvSpPr>
                    <p:cNvPr id="1666" name="Freeform 2377"/>
                    <p:cNvSpPr>
                      <a:spLocks/>
                    </p:cNvSpPr>
                    <p:nvPr/>
                  </p:nvSpPr>
                  <p:spPr bwMode="auto">
                    <a:xfrm>
                      <a:off x="886" y="3690"/>
                      <a:ext cx="12" cy="23"/>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4" y="70"/>
                          </a:moveTo>
                          <a:lnTo>
                            <a:pt x="0" y="29"/>
                          </a:lnTo>
                          <a:lnTo>
                            <a:pt x="10" y="0"/>
                          </a:lnTo>
                          <a:lnTo>
                            <a:pt x="24" y="33"/>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67" name="Freeform 2378"/>
                    <p:cNvSpPr>
                      <a:spLocks/>
                    </p:cNvSpPr>
                    <p:nvPr/>
                  </p:nvSpPr>
                  <p:spPr bwMode="auto">
                    <a:xfrm>
                      <a:off x="890"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2"/>
                          </a:lnTo>
                          <a:lnTo>
                            <a:pt x="57" y="11"/>
                          </a:lnTo>
                          <a:lnTo>
                            <a:pt x="75" y="31"/>
                          </a:lnTo>
                          <a:lnTo>
                            <a:pt x="19" y="31"/>
                          </a:lnTo>
                          <a:lnTo>
                            <a:pt x="10" y="22"/>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68" name="Freeform 2379"/>
                    <p:cNvSpPr>
                      <a:spLocks/>
                    </p:cNvSpPr>
                    <p:nvPr/>
                  </p:nvSpPr>
                  <p:spPr bwMode="auto">
                    <a:xfrm>
                      <a:off x="893" y="3701"/>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8" y="7"/>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58" name="Group 2380"/>
                  <p:cNvGrpSpPr>
                    <a:grpSpLocks/>
                  </p:cNvGrpSpPr>
                  <p:nvPr/>
                </p:nvGrpSpPr>
                <p:grpSpPr bwMode="auto">
                  <a:xfrm>
                    <a:off x="899" y="3703"/>
                    <a:ext cx="48" cy="23"/>
                    <a:chOff x="899" y="3703"/>
                    <a:chExt cx="48" cy="23"/>
                  </a:xfrm>
                </p:grpSpPr>
                <p:sp>
                  <p:nvSpPr>
                    <p:cNvPr id="1663" name="Freeform 2381"/>
                    <p:cNvSpPr>
                      <a:spLocks/>
                    </p:cNvSpPr>
                    <p:nvPr/>
                  </p:nvSpPr>
                  <p:spPr bwMode="auto">
                    <a:xfrm>
                      <a:off x="899" y="3703"/>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10"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64" name="Freeform 2382"/>
                    <p:cNvSpPr>
                      <a:spLocks/>
                    </p:cNvSpPr>
                    <p:nvPr/>
                  </p:nvSpPr>
                  <p:spPr bwMode="auto">
                    <a:xfrm>
                      <a:off x="903" y="3703"/>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6" y="12"/>
                          </a:lnTo>
                          <a:lnTo>
                            <a:pt x="75"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65" name="Freeform 2383"/>
                    <p:cNvSpPr>
                      <a:spLocks/>
                    </p:cNvSpPr>
                    <p:nvPr/>
                  </p:nvSpPr>
                  <p:spPr bwMode="auto">
                    <a:xfrm>
                      <a:off x="907" y="3714"/>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5"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59" name="Group 2384"/>
                  <p:cNvGrpSpPr>
                    <a:grpSpLocks/>
                  </p:cNvGrpSpPr>
                  <p:nvPr/>
                </p:nvGrpSpPr>
                <p:grpSpPr bwMode="auto">
                  <a:xfrm>
                    <a:off x="912" y="3716"/>
                    <a:ext cx="48" cy="23"/>
                    <a:chOff x="912" y="3716"/>
                    <a:chExt cx="48" cy="23"/>
                  </a:xfrm>
                </p:grpSpPr>
                <p:sp>
                  <p:nvSpPr>
                    <p:cNvPr id="1660" name="Freeform 2385"/>
                    <p:cNvSpPr>
                      <a:spLocks/>
                    </p:cNvSpPr>
                    <p:nvPr/>
                  </p:nvSpPr>
                  <p:spPr bwMode="auto">
                    <a:xfrm>
                      <a:off x="912" y="3716"/>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61" name="Freeform 2386"/>
                    <p:cNvSpPr>
                      <a:spLocks/>
                    </p:cNvSpPr>
                    <p:nvPr/>
                  </p:nvSpPr>
                  <p:spPr bwMode="auto">
                    <a:xfrm>
                      <a:off x="916" y="3717"/>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3"/>
                          </a:lnTo>
                          <a:lnTo>
                            <a:pt x="55" y="11"/>
                          </a:lnTo>
                          <a:lnTo>
                            <a:pt x="74" y="29"/>
                          </a:lnTo>
                          <a:lnTo>
                            <a:pt x="18" y="29"/>
                          </a:lnTo>
                          <a:lnTo>
                            <a:pt x="8"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62" name="Freeform 2387"/>
                    <p:cNvSpPr>
                      <a:spLocks/>
                    </p:cNvSpPr>
                    <p:nvPr/>
                  </p:nvSpPr>
                  <p:spPr bwMode="auto">
                    <a:xfrm>
                      <a:off x="919" y="3727"/>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1"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519" name="Group 2388"/>
                <p:cNvGrpSpPr>
                  <a:grpSpLocks/>
                </p:cNvGrpSpPr>
                <p:nvPr/>
              </p:nvGrpSpPr>
              <p:grpSpPr bwMode="auto">
                <a:xfrm>
                  <a:off x="922" y="3727"/>
                  <a:ext cx="49" cy="23"/>
                  <a:chOff x="922" y="3727"/>
                  <a:chExt cx="49" cy="23"/>
                </a:xfrm>
              </p:grpSpPr>
              <p:sp>
                <p:nvSpPr>
                  <p:cNvPr id="1652" name="Freeform 2389"/>
                  <p:cNvSpPr>
                    <a:spLocks/>
                  </p:cNvSpPr>
                  <p:nvPr/>
                </p:nvSpPr>
                <p:spPr bwMode="auto">
                  <a:xfrm>
                    <a:off x="922" y="3727"/>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1"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53" name="Freeform 2390"/>
                  <p:cNvSpPr>
                    <a:spLocks/>
                  </p:cNvSpPr>
                  <p:nvPr/>
                </p:nvSpPr>
                <p:spPr bwMode="auto">
                  <a:xfrm>
                    <a:off x="927" y="3728"/>
                    <a:ext cx="36" cy="10"/>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49" y="0"/>
                        </a:lnTo>
                        <a:lnTo>
                          <a:pt x="50" y="4"/>
                        </a:lnTo>
                        <a:lnTo>
                          <a:pt x="56" y="13"/>
                        </a:lnTo>
                        <a:lnTo>
                          <a:pt x="72"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54" name="Freeform 2391"/>
                  <p:cNvSpPr>
                    <a:spLocks/>
                  </p:cNvSpPr>
                  <p:nvPr/>
                </p:nvSpPr>
                <p:spPr bwMode="auto">
                  <a:xfrm>
                    <a:off x="930"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20" name="Group 2392"/>
                <p:cNvGrpSpPr>
                  <a:grpSpLocks/>
                </p:cNvGrpSpPr>
                <p:nvPr/>
              </p:nvGrpSpPr>
              <p:grpSpPr bwMode="auto">
                <a:xfrm>
                  <a:off x="895" y="3526"/>
                  <a:ext cx="44" cy="23"/>
                  <a:chOff x="895" y="3526"/>
                  <a:chExt cx="44" cy="23"/>
                </a:xfrm>
              </p:grpSpPr>
              <p:sp>
                <p:nvSpPr>
                  <p:cNvPr id="1649" name="Freeform 2393"/>
                  <p:cNvSpPr>
                    <a:spLocks/>
                  </p:cNvSpPr>
                  <p:nvPr/>
                </p:nvSpPr>
                <p:spPr bwMode="auto">
                  <a:xfrm>
                    <a:off x="895" y="3526"/>
                    <a:ext cx="19" cy="23"/>
                  </a:xfrm>
                  <a:custGeom>
                    <a:avLst/>
                    <a:gdLst>
                      <a:gd name="T0" fmla="*/ 1 w 38"/>
                      <a:gd name="T1" fmla="*/ 0 h 69"/>
                      <a:gd name="T2" fmla="*/ 0 w 38"/>
                      <a:gd name="T3" fmla="*/ 0 h 69"/>
                      <a:gd name="T4" fmla="*/ 1 w 38"/>
                      <a:gd name="T5" fmla="*/ 0 h 69"/>
                      <a:gd name="T6" fmla="*/ 1 w 38"/>
                      <a:gd name="T7" fmla="*/ 0 h 69"/>
                      <a:gd name="T8" fmla="*/ 1 w 38"/>
                      <a:gd name="T9" fmla="*/ 0 h 69"/>
                      <a:gd name="T10" fmla="*/ 0 60000 65536"/>
                      <a:gd name="T11" fmla="*/ 0 60000 65536"/>
                      <a:gd name="T12" fmla="*/ 0 60000 65536"/>
                      <a:gd name="T13" fmla="*/ 0 60000 65536"/>
                      <a:gd name="T14" fmla="*/ 0 60000 65536"/>
                      <a:gd name="T15" fmla="*/ 0 w 38"/>
                      <a:gd name="T16" fmla="*/ 0 h 69"/>
                      <a:gd name="T17" fmla="*/ 38 w 38"/>
                      <a:gd name="T18" fmla="*/ 69 h 69"/>
                    </a:gdLst>
                    <a:ahLst/>
                    <a:cxnLst>
                      <a:cxn ang="T10">
                        <a:pos x="T0" y="T1"/>
                      </a:cxn>
                      <a:cxn ang="T11">
                        <a:pos x="T2" y="T3"/>
                      </a:cxn>
                      <a:cxn ang="T12">
                        <a:pos x="T4" y="T5"/>
                      </a:cxn>
                      <a:cxn ang="T13">
                        <a:pos x="T6" y="T7"/>
                      </a:cxn>
                      <a:cxn ang="T14">
                        <a:pos x="T8" y="T9"/>
                      </a:cxn>
                    </a:cxnLst>
                    <a:rect l="T15" t="T16" r="T17" b="T18"/>
                    <a:pathLst>
                      <a:path w="38" h="69">
                        <a:moveTo>
                          <a:pt x="22" y="69"/>
                        </a:moveTo>
                        <a:lnTo>
                          <a:pt x="0" y="34"/>
                        </a:lnTo>
                        <a:lnTo>
                          <a:pt x="11" y="0"/>
                        </a:lnTo>
                        <a:lnTo>
                          <a:pt x="38"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50" name="Freeform 2394"/>
                  <p:cNvSpPr>
                    <a:spLocks/>
                  </p:cNvSpPr>
                  <p:nvPr/>
                </p:nvSpPr>
                <p:spPr bwMode="auto">
                  <a:xfrm>
                    <a:off x="901" y="3526"/>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0" y="0"/>
                        </a:lnTo>
                        <a:lnTo>
                          <a:pt x="64" y="35"/>
                        </a:lnTo>
                        <a:lnTo>
                          <a:pt x="23"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51" name="Freeform 2395"/>
                  <p:cNvSpPr>
                    <a:spLocks/>
                  </p:cNvSpPr>
                  <p:nvPr/>
                </p:nvSpPr>
                <p:spPr bwMode="auto">
                  <a:xfrm>
                    <a:off x="907" y="3538"/>
                    <a:ext cx="32" cy="11"/>
                  </a:xfrm>
                  <a:custGeom>
                    <a:avLst/>
                    <a:gdLst>
                      <a:gd name="T0" fmla="*/ 0 w 65"/>
                      <a:gd name="T1" fmla="*/ 0 h 31"/>
                      <a:gd name="T2" fmla="*/ 0 w 65"/>
                      <a:gd name="T3" fmla="*/ 0 h 31"/>
                      <a:gd name="T4" fmla="*/ 0 w 65"/>
                      <a:gd name="T5" fmla="*/ 0 h 31"/>
                      <a:gd name="T6" fmla="*/ 0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3" y="0"/>
                        </a:lnTo>
                        <a:lnTo>
                          <a:pt x="54"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21" name="Group 2396"/>
                <p:cNvGrpSpPr>
                  <a:grpSpLocks/>
                </p:cNvGrpSpPr>
                <p:nvPr/>
              </p:nvGrpSpPr>
              <p:grpSpPr bwMode="auto">
                <a:xfrm>
                  <a:off x="907" y="3540"/>
                  <a:ext cx="45" cy="22"/>
                  <a:chOff x="907" y="3540"/>
                  <a:chExt cx="45" cy="22"/>
                </a:xfrm>
              </p:grpSpPr>
              <p:sp>
                <p:nvSpPr>
                  <p:cNvPr id="1646" name="Freeform 2397"/>
                  <p:cNvSpPr>
                    <a:spLocks/>
                  </p:cNvSpPr>
                  <p:nvPr/>
                </p:nvSpPr>
                <p:spPr bwMode="auto">
                  <a:xfrm>
                    <a:off x="907" y="3540"/>
                    <a:ext cx="20" cy="22"/>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4"/>
                        </a:lnTo>
                        <a:lnTo>
                          <a:pt x="11" y="0"/>
                        </a:lnTo>
                        <a:lnTo>
                          <a:pt x="39" y="34"/>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47" name="Freeform 2398"/>
                  <p:cNvSpPr>
                    <a:spLocks/>
                  </p:cNvSpPr>
                  <p:nvPr/>
                </p:nvSpPr>
                <p:spPr bwMode="auto">
                  <a:xfrm>
                    <a:off x="914" y="3540"/>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48" name="Freeform 2399"/>
                  <p:cNvSpPr>
                    <a:spLocks/>
                  </p:cNvSpPr>
                  <p:nvPr/>
                </p:nvSpPr>
                <p:spPr bwMode="auto">
                  <a:xfrm>
                    <a:off x="919" y="3552"/>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22" name="Group 2400"/>
                <p:cNvGrpSpPr>
                  <a:grpSpLocks/>
                </p:cNvGrpSpPr>
                <p:nvPr/>
              </p:nvGrpSpPr>
              <p:grpSpPr bwMode="auto">
                <a:xfrm>
                  <a:off x="920" y="3553"/>
                  <a:ext cx="45" cy="23"/>
                  <a:chOff x="920" y="3553"/>
                  <a:chExt cx="45" cy="23"/>
                </a:xfrm>
              </p:grpSpPr>
              <p:sp>
                <p:nvSpPr>
                  <p:cNvPr id="1643" name="Freeform 2401"/>
                  <p:cNvSpPr>
                    <a:spLocks/>
                  </p:cNvSpPr>
                  <p:nvPr/>
                </p:nvSpPr>
                <p:spPr bwMode="auto">
                  <a:xfrm>
                    <a:off x="920" y="3553"/>
                    <a:ext cx="20" cy="23"/>
                  </a:xfrm>
                  <a:custGeom>
                    <a:avLst/>
                    <a:gdLst>
                      <a:gd name="T0" fmla="*/ 0 w 41"/>
                      <a:gd name="T1" fmla="*/ 0 h 68"/>
                      <a:gd name="T2" fmla="*/ 0 w 41"/>
                      <a:gd name="T3" fmla="*/ 0 h 68"/>
                      <a:gd name="T4" fmla="*/ 0 w 41"/>
                      <a:gd name="T5" fmla="*/ 0 h 68"/>
                      <a:gd name="T6" fmla="*/ 0 w 41"/>
                      <a:gd name="T7" fmla="*/ 0 h 68"/>
                      <a:gd name="T8" fmla="*/ 0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4"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44" name="Freeform 2402"/>
                  <p:cNvSpPr>
                    <a:spLocks/>
                  </p:cNvSpPr>
                  <p:nvPr/>
                </p:nvSpPr>
                <p:spPr bwMode="auto">
                  <a:xfrm>
                    <a:off x="927" y="3554"/>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39"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45" name="Freeform 2403"/>
                  <p:cNvSpPr>
                    <a:spLocks/>
                  </p:cNvSpPr>
                  <p:nvPr/>
                </p:nvSpPr>
                <p:spPr bwMode="auto">
                  <a:xfrm>
                    <a:off x="932" y="3566"/>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3"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23" name="Group 2404"/>
                <p:cNvGrpSpPr>
                  <a:grpSpLocks/>
                </p:cNvGrpSpPr>
                <p:nvPr/>
              </p:nvGrpSpPr>
              <p:grpSpPr bwMode="auto">
                <a:xfrm>
                  <a:off x="934" y="3566"/>
                  <a:ext cx="44" cy="23"/>
                  <a:chOff x="934" y="3566"/>
                  <a:chExt cx="44" cy="23"/>
                </a:xfrm>
              </p:grpSpPr>
              <p:sp>
                <p:nvSpPr>
                  <p:cNvPr id="1640" name="Freeform 2405"/>
                  <p:cNvSpPr>
                    <a:spLocks/>
                  </p:cNvSpPr>
                  <p:nvPr/>
                </p:nvSpPr>
                <p:spPr bwMode="auto">
                  <a:xfrm>
                    <a:off x="934" y="356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2" y="68"/>
                        </a:moveTo>
                        <a:lnTo>
                          <a:pt x="0" y="33"/>
                        </a:lnTo>
                        <a:lnTo>
                          <a:pt x="12" y="0"/>
                        </a:lnTo>
                        <a:lnTo>
                          <a:pt x="40"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41" name="Freeform 2406"/>
                  <p:cNvSpPr>
                    <a:spLocks/>
                  </p:cNvSpPr>
                  <p:nvPr/>
                </p:nvSpPr>
                <p:spPr bwMode="auto">
                  <a:xfrm>
                    <a:off x="940" y="3567"/>
                    <a:ext cx="32" cy="11"/>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1"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42" name="Freeform 2407"/>
                  <p:cNvSpPr>
                    <a:spLocks/>
                  </p:cNvSpPr>
                  <p:nvPr/>
                </p:nvSpPr>
                <p:spPr bwMode="auto">
                  <a:xfrm>
                    <a:off x="945" y="3579"/>
                    <a:ext cx="33" cy="9"/>
                  </a:xfrm>
                  <a:custGeom>
                    <a:avLst/>
                    <a:gdLst>
                      <a:gd name="T0" fmla="*/ 0 w 65"/>
                      <a:gd name="T1" fmla="*/ 0 h 28"/>
                      <a:gd name="T2" fmla="*/ 1 w 65"/>
                      <a:gd name="T3" fmla="*/ 0 h 28"/>
                      <a:gd name="T4" fmla="*/ 1 w 65"/>
                      <a:gd name="T5" fmla="*/ 0 h 28"/>
                      <a:gd name="T6" fmla="*/ 1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3" y="0"/>
                        </a:lnTo>
                        <a:lnTo>
                          <a:pt x="54"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24" name="Group 2408"/>
                <p:cNvGrpSpPr>
                  <a:grpSpLocks/>
                </p:cNvGrpSpPr>
                <p:nvPr/>
              </p:nvGrpSpPr>
              <p:grpSpPr bwMode="auto">
                <a:xfrm>
                  <a:off x="949" y="3579"/>
                  <a:ext cx="83" cy="63"/>
                  <a:chOff x="949" y="3579"/>
                  <a:chExt cx="83" cy="63"/>
                </a:xfrm>
              </p:grpSpPr>
              <p:grpSp>
                <p:nvGrpSpPr>
                  <p:cNvPr id="1624" name="Group 2409"/>
                  <p:cNvGrpSpPr>
                    <a:grpSpLocks/>
                  </p:cNvGrpSpPr>
                  <p:nvPr/>
                </p:nvGrpSpPr>
                <p:grpSpPr bwMode="auto">
                  <a:xfrm>
                    <a:off x="949" y="3579"/>
                    <a:ext cx="44" cy="23"/>
                    <a:chOff x="949" y="3579"/>
                    <a:chExt cx="44" cy="23"/>
                  </a:xfrm>
                </p:grpSpPr>
                <p:sp>
                  <p:nvSpPr>
                    <p:cNvPr id="1637" name="Freeform 2410"/>
                    <p:cNvSpPr>
                      <a:spLocks/>
                    </p:cNvSpPr>
                    <p:nvPr/>
                  </p:nvSpPr>
                  <p:spPr bwMode="auto">
                    <a:xfrm>
                      <a:off x="949" y="3579"/>
                      <a:ext cx="19" cy="23"/>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2"/>
                          </a:lnTo>
                          <a:lnTo>
                            <a:pt x="11" y="0"/>
                          </a:lnTo>
                          <a:lnTo>
                            <a:pt x="38" y="32"/>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38" name="Freeform 2411"/>
                    <p:cNvSpPr>
                      <a:spLocks/>
                    </p:cNvSpPr>
                    <p:nvPr/>
                  </p:nvSpPr>
                  <p:spPr bwMode="auto">
                    <a:xfrm>
                      <a:off x="955" y="3579"/>
                      <a:ext cx="32" cy="11"/>
                    </a:xfrm>
                    <a:custGeom>
                      <a:avLst/>
                      <a:gdLst>
                        <a:gd name="T0" fmla="*/ 0 w 66"/>
                        <a:gd name="T1" fmla="*/ 0 h 32"/>
                        <a:gd name="T2" fmla="*/ 0 w 66"/>
                        <a:gd name="T3" fmla="*/ 0 h 32"/>
                        <a:gd name="T4" fmla="*/ 0 w 66"/>
                        <a:gd name="T5" fmla="*/ 0 h 32"/>
                        <a:gd name="T6" fmla="*/ 0 w 66"/>
                        <a:gd name="T7" fmla="*/ 0 h 32"/>
                        <a:gd name="T8" fmla="*/ 0 w 66"/>
                        <a:gd name="T9" fmla="*/ 0 h 32"/>
                        <a:gd name="T10" fmla="*/ 0 60000 65536"/>
                        <a:gd name="T11" fmla="*/ 0 60000 65536"/>
                        <a:gd name="T12" fmla="*/ 0 60000 65536"/>
                        <a:gd name="T13" fmla="*/ 0 60000 65536"/>
                        <a:gd name="T14" fmla="*/ 0 60000 65536"/>
                        <a:gd name="T15" fmla="*/ 0 w 66"/>
                        <a:gd name="T16" fmla="*/ 0 h 32"/>
                        <a:gd name="T17" fmla="*/ 66 w 66"/>
                        <a:gd name="T18" fmla="*/ 32 h 32"/>
                      </a:gdLst>
                      <a:ahLst/>
                      <a:cxnLst>
                        <a:cxn ang="T10">
                          <a:pos x="T0" y="T1"/>
                        </a:cxn>
                        <a:cxn ang="T11">
                          <a:pos x="T2" y="T3"/>
                        </a:cxn>
                        <a:cxn ang="T12">
                          <a:pos x="T4" y="T5"/>
                        </a:cxn>
                        <a:cxn ang="T13">
                          <a:pos x="T6" y="T7"/>
                        </a:cxn>
                        <a:cxn ang="T14">
                          <a:pos x="T8" y="T9"/>
                        </a:cxn>
                      </a:cxnLst>
                      <a:rect l="T15" t="T16" r="T17" b="T18"/>
                      <a:pathLst>
                        <a:path w="66" h="32">
                          <a:moveTo>
                            <a:pt x="0" y="0"/>
                          </a:moveTo>
                          <a:lnTo>
                            <a:pt x="42" y="0"/>
                          </a:lnTo>
                          <a:lnTo>
                            <a:pt x="66" y="32"/>
                          </a:lnTo>
                          <a:lnTo>
                            <a:pt x="25"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39" name="Freeform 2412"/>
                    <p:cNvSpPr>
                      <a:spLocks/>
                    </p:cNvSpPr>
                    <p:nvPr/>
                  </p:nvSpPr>
                  <p:spPr bwMode="auto">
                    <a:xfrm>
                      <a:off x="960" y="3591"/>
                      <a:ext cx="33" cy="10"/>
                    </a:xfrm>
                    <a:custGeom>
                      <a:avLst/>
                      <a:gdLst>
                        <a:gd name="T0" fmla="*/ 0 w 65"/>
                        <a:gd name="T1" fmla="*/ 0 h 31"/>
                        <a:gd name="T2" fmla="*/ 1 w 65"/>
                        <a:gd name="T3" fmla="*/ 0 h 31"/>
                        <a:gd name="T4" fmla="*/ 1 w 65"/>
                        <a:gd name="T5" fmla="*/ 0 h 31"/>
                        <a:gd name="T6" fmla="*/ 1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4" y="0"/>
                          </a:lnTo>
                          <a:lnTo>
                            <a:pt x="55"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25" name="Group 2413"/>
                  <p:cNvGrpSpPr>
                    <a:grpSpLocks/>
                  </p:cNvGrpSpPr>
                  <p:nvPr/>
                </p:nvGrpSpPr>
                <p:grpSpPr bwMode="auto">
                  <a:xfrm>
                    <a:off x="961" y="3592"/>
                    <a:ext cx="45" cy="23"/>
                    <a:chOff x="961" y="3592"/>
                    <a:chExt cx="45" cy="23"/>
                  </a:xfrm>
                </p:grpSpPr>
                <p:sp>
                  <p:nvSpPr>
                    <p:cNvPr id="1634" name="Freeform 2414"/>
                    <p:cNvSpPr>
                      <a:spLocks/>
                    </p:cNvSpPr>
                    <p:nvPr/>
                  </p:nvSpPr>
                  <p:spPr bwMode="auto">
                    <a:xfrm>
                      <a:off x="961" y="3592"/>
                      <a:ext cx="20" cy="23"/>
                    </a:xfrm>
                    <a:custGeom>
                      <a:avLst/>
                      <a:gdLst>
                        <a:gd name="T0" fmla="*/ 1 w 40"/>
                        <a:gd name="T1" fmla="*/ 0 h 69"/>
                        <a:gd name="T2" fmla="*/ 0 w 40"/>
                        <a:gd name="T3" fmla="*/ 0 h 69"/>
                        <a:gd name="T4" fmla="*/ 1 w 40"/>
                        <a:gd name="T5" fmla="*/ 0 h 69"/>
                        <a:gd name="T6" fmla="*/ 1 w 40"/>
                        <a:gd name="T7" fmla="*/ 0 h 69"/>
                        <a:gd name="T8" fmla="*/ 1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3"/>
                          </a:lnTo>
                          <a:lnTo>
                            <a:pt x="12" y="0"/>
                          </a:lnTo>
                          <a:lnTo>
                            <a:pt x="40"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35" name="Freeform 2415"/>
                    <p:cNvSpPr>
                      <a:spLocks/>
                    </p:cNvSpPr>
                    <p:nvPr/>
                  </p:nvSpPr>
                  <p:spPr bwMode="auto">
                    <a:xfrm>
                      <a:off x="968" y="3593"/>
                      <a:ext cx="33" cy="11"/>
                    </a:xfrm>
                    <a:custGeom>
                      <a:avLst/>
                      <a:gdLst>
                        <a:gd name="T0" fmla="*/ 0 w 66"/>
                        <a:gd name="T1" fmla="*/ 0 h 35"/>
                        <a:gd name="T2" fmla="*/ 1 w 66"/>
                        <a:gd name="T3" fmla="*/ 0 h 35"/>
                        <a:gd name="T4" fmla="*/ 1 w 66"/>
                        <a:gd name="T5" fmla="*/ 0 h 35"/>
                        <a:gd name="T6" fmla="*/ 1 w 66"/>
                        <a:gd name="T7" fmla="*/ 0 h 35"/>
                        <a:gd name="T8" fmla="*/ 0 w 66"/>
                        <a:gd name="T9" fmla="*/ 0 h 35"/>
                        <a:gd name="T10" fmla="*/ 0 60000 65536"/>
                        <a:gd name="T11" fmla="*/ 0 60000 65536"/>
                        <a:gd name="T12" fmla="*/ 0 60000 65536"/>
                        <a:gd name="T13" fmla="*/ 0 60000 65536"/>
                        <a:gd name="T14" fmla="*/ 0 60000 65536"/>
                        <a:gd name="T15" fmla="*/ 0 w 66"/>
                        <a:gd name="T16" fmla="*/ 0 h 35"/>
                        <a:gd name="T17" fmla="*/ 66 w 66"/>
                        <a:gd name="T18" fmla="*/ 35 h 35"/>
                      </a:gdLst>
                      <a:ahLst/>
                      <a:cxnLst>
                        <a:cxn ang="T10">
                          <a:pos x="T0" y="T1"/>
                        </a:cxn>
                        <a:cxn ang="T11">
                          <a:pos x="T2" y="T3"/>
                        </a:cxn>
                        <a:cxn ang="T12">
                          <a:pos x="T4" y="T5"/>
                        </a:cxn>
                        <a:cxn ang="T13">
                          <a:pos x="T6" y="T7"/>
                        </a:cxn>
                        <a:cxn ang="T14">
                          <a:pos x="T8" y="T9"/>
                        </a:cxn>
                      </a:cxnLst>
                      <a:rect l="T15" t="T16" r="T17" b="T18"/>
                      <a:pathLst>
                        <a:path w="66" h="35">
                          <a:moveTo>
                            <a:pt x="0" y="0"/>
                          </a:moveTo>
                          <a:lnTo>
                            <a:pt x="41" y="0"/>
                          </a:lnTo>
                          <a:lnTo>
                            <a:pt x="66"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36" name="Freeform 2416"/>
                    <p:cNvSpPr>
                      <a:spLocks/>
                    </p:cNvSpPr>
                    <p:nvPr/>
                  </p:nvSpPr>
                  <p:spPr bwMode="auto">
                    <a:xfrm>
                      <a:off x="973" y="3605"/>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3" y="0"/>
                          </a:lnTo>
                          <a:lnTo>
                            <a:pt x="55"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26" name="Group 2417"/>
                  <p:cNvGrpSpPr>
                    <a:grpSpLocks/>
                  </p:cNvGrpSpPr>
                  <p:nvPr/>
                </p:nvGrpSpPr>
                <p:grpSpPr bwMode="auto">
                  <a:xfrm>
                    <a:off x="974" y="3606"/>
                    <a:ext cx="44" cy="23"/>
                    <a:chOff x="974" y="3606"/>
                    <a:chExt cx="44" cy="23"/>
                  </a:xfrm>
                </p:grpSpPr>
                <p:sp>
                  <p:nvSpPr>
                    <p:cNvPr id="1631" name="Freeform 2418"/>
                    <p:cNvSpPr>
                      <a:spLocks/>
                    </p:cNvSpPr>
                    <p:nvPr/>
                  </p:nvSpPr>
                  <p:spPr bwMode="auto">
                    <a:xfrm>
                      <a:off x="974" y="360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5"/>
                          </a:lnTo>
                          <a:lnTo>
                            <a:pt x="12" y="0"/>
                          </a:lnTo>
                          <a:lnTo>
                            <a:pt x="40" y="35"/>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32" name="Freeform 2419"/>
                    <p:cNvSpPr>
                      <a:spLocks/>
                    </p:cNvSpPr>
                    <p:nvPr/>
                  </p:nvSpPr>
                  <p:spPr bwMode="auto">
                    <a:xfrm>
                      <a:off x="980" y="3606"/>
                      <a:ext cx="32" cy="12"/>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2"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33" name="Freeform 2420"/>
                    <p:cNvSpPr>
                      <a:spLocks/>
                    </p:cNvSpPr>
                    <p:nvPr/>
                  </p:nvSpPr>
                  <p:spPr bwMode="auto">
                    <a:xfrm>
                      <a:off x="986" y="3619"/>
                      <a:ext cx="32" cy="9"/>
                    </a:xfrm>
                    <a:custGeom>
                      <a:avLst/>
                      <a:gdLst>
                        <a:gd name="T0" fmla="*/ 0 w 65"/>
                        <a:gd name="T1" fmla="*/ 0 h 29"/>
                        <a:gd name="T2" fmla="*/ 0 w 65"/>
                        <a:gd name="T3" fmla="*/ 0 h 29"/>
                        <a:gd name="T4" fmla="*/ 0 w 65"/>
                        <a:gd name="T5" fmla="*/ 0 h 29"/>
                        <a:gd name="T6" fmla="*/ 0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2"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27" name="Group 2421"/>
                  <p:cNvGrpSpPr>
                    <a:grpSpLocks/>
                  </p:cNvGrpSpPr>
                  <p:nvPr/>
                </p:nvGrpSpPr>
                <p:grpSpPr bwMode="auto">
                  <a:xfrm>
                    <a:off x="987" y="3619"/>
                    <a:ext cx="45" cy="23"/>
                    <a:chOff x="987" y="3619"/>
                    <a:chExt cx="45" cy="23"/>
                  </a:xfrm>
                </p:grpSpPr>
                <p:sp>
                  <p:nvSpPr>
                    <p:cNvPr id="1628" name="Freeform 2422"/>
                    <p:cNvSpPr>
                      <a:spLocks/>
                    </p:cNvSpPr>
                    <p:nvPr/>
                  </p:nvSpPr>
                  <p:spPr bwMode="auto">
                    <a:xfrm>
                      <a:off x="987" y="3619"/>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3"/>
                          </a:lnTo>
                          <a:lnTo>
                            <a:pt x="12" y="0"/>
                          </a:lnTo>
                          <a:lnTo>
                            <a:pt x="39"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29" name="Freeform 2423"/>
                    <p:cNvSpPr>
                      <a:spLocks/>
                    </p:cNvSpPr>
                    <p:nvPr/>
                  </p:nvSpPr>
                  <p:spPr bwMode="auto">
                    <a:xfrm>
                      <a:off x="994" y="3620"/>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5"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30" name="Freeform 2424"/>
                    <p:cNvSpPr>
                      <a:spLocks/>
                    </p:cNvSpPr>
                    <p:nvPr/>
                  </p:nvSpPr>
                  <p:spPr bwMode="auto">
                    <a:xfrm>
                      <a:off x="999" y="3632"/>
                      <a:ext cx="33" cy="9"/>
                    </a:xfrm>
                    <a:custGeom>
                      <a:avLst/>
                      <a:gdLst>
                        <a:gd name="T0" fmla="*/ 0 w 65"/>
                        <a:gd name="T1" fmla="*/ 0 h 29"/>
                        <a:gd name="T2" fmla="*/ 1 w 65"/>
                        <a:gd name="T3" fmla="*/ 0 h 29"/>
                        <a:gd name="T4" fmla="*/ 1 w 65"/>
                        <a:gd name="T5" fmla="*/ 0 h 29"/>
                        <a:gd name="T6" fmla="*/ 1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4"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525" name="Group 2425"/>
                <p:cNvGrpSpPr>
                  <a:grpSpLocks/>
                </p:cNvGrpSpPr>
                <p:nvPr/>
              </p:nvGrpSpPr>
              <p:grpSpPr bwMode="auto">
                <a:xfrm>
                  <a:off x="1002" y="3632"/>
                  <a:ext cx="83" cy="63"/>
                  <a:chOff x="1002" y="3632"/>
                  <a:chExt cx="83" cy="63"/>
                </a:xfrm>
              </p:grpSpPr>
              <p:grpSp>
                <p:nvGrpSpPr>
                  <p:cNvPr id="1608" name="Group 2426"/>
                  <p:cNvGrpSpPr>
                    <a:grpSpLocks/>
                  </p:cNvGrpSpPr>
                  <p:nvPr/>
                </p:nvGrpSpPr>
                <p:grpSpPr bwMode="auto">
                  <a:xfrm>
                    <a:off x="1002" y="3632"/>
                    <a:ext cx="44" cy="22"/>
                    <a:chOff x="1002" y="3632"/>
                    <a:chExt cx="44" cy="22"/>
                  </a:xfrm>
                </p:grpSpPr>
                <p:sp>
                  <p:nvSpPr>
                    <p:cNvPr id="1621" name="Freeform 2427"/>
                    <p:cNvSpPr>
                      <a:spLocks/>
                    </p:cNvSpPr>
                    <p:nvPr/>
                  </p:nvSpPr>
                  <p:spPr bwMode="auto">
                    <a:xfrm>
                      <a:off x="1002" y="3632"/>
                      <a:ext cx="19" cy="22"/>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3"/>
                          </a:lnTo>
                          <a:lnTo>
                            <a:pt x="10" y="0"/>
                          </a:lnTo>
                          <a:lnTo>
                            <a:pt x="38" y="33"/>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22" name="Freeform 2428"/>
                    <p:cNvSpPr>
                      <a:spLocks/>
                    </p:cNvSpPr>
                    <p:nvPr/>
                  </p:nvSpPr>
                  <p:spPr bwMode="auto">
                    <a:xfrm>
                      <a:off x="1008" y="3632"/>
                      <a:ext cx="33" cy="12"/>
                    </a:xfrm>
                    <a:custGeom>
                      <a:avLst/>
                      <a:gdLst>
                        <a:gd name="T0" fmla="*/ 0 w 65"/>
                        <a:gd name="T1" fmla="*/ 0 h 35"/>
                        <a:gd name="T2" fmla="*/ 1 w 65"/>
                        <a:gd name="T3" fmla="*/ 0 h 35"/>
                        <a:gd name="T4" fmla="*/ 1 w 65"/>
                        <a:gd name="T5" fmla="*/ 0 h 35"/>
                        <a:gd name="T6" fmla="*/ 1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0"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23" name="Freeform 2429"/>
                    <p:cNvSpPr>
                      <a:spLocks/>
                    </p:cNvSpPr>
                    <p:nvPr/>
                  </p:nvSpPr>
                  <p:spPr bwMode="auto">
                    <a:xfrm>
                      <a:off x="1013" y="3644"/>
                      <a:ext cx="33" cy="10"/>
                    </a:xfrm>
                    <a:custGeom>
                      <a:avLst/>
                      <a:gdLst>
                        <a:gd name="T0" fmla="*/ 0 w 66"/>
                        <a:gd name="T1" fmla="*/ 0 h 28"/>
                        <a:gd name="T2" fmla="*/ 1 w 66"/>
                        <a:gd name="T3" fmla="*/ 0 h 28"/>
                        <a:gd name="T4" fmla="*/ 1 w 66"/>
                        <a:gd name="T5" fmla="*/ 0 h 28"/>
                        <a:gd name="T6" fmla="*/ 1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3" y="0"/>
                          </a:lnTo>
                          <a:lnTo>
                            <a:pt x="55"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09" name="Group 2430"/>
                  <p:cNvGrpSpPr>
                    <a:grpSpLocks/>
                  </p:cNvGrpSpPr>
                  <p:nvPr/>
                </p:nvGrpSpPr>
                <p:grpSpPr bwMode="auto">
                  <a:xfrm>
                    <a:off x="1014" y="3645"/>
                    <a:ext cx="44" cy="23"/>
                    <a:chOff x="1014" y="3645"/>
                    <a:chExt cx="44" cy="23"/>
                  </a:xfrm>
                </p:grpSpPr>
                <p:sp>
                  <p:nvSpPr>
                    <p:cNvPr id="1618" name="Freeform 2431"/>
                    <p:cNvSpPr>
                      <a:spLocks/>
                    </p:cNvSpPr>
                    <p:nvPr/>
                  </p:nvSpPr>
                  <p:spPr bwMode="auto">
                    <a:xfrm>
                      <a:off x="1014" y="3645"/>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4"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19" name="Freeform 2432"/>
                    <p:cNvSpPr>
                      <a:spLocks/>
                    </p:cNvSpPr>
                    <p:nvPr/>
                  </p:nvSpPr>
                  <p:spPr bwMode="auto">
                    <a:xfrm>
                      <a:off x="1021" y="3646"/>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41"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20" name="Freeform 2433"/>
                    <p:cNvSpPr>
                      <a:spLocks/>
                    </p:cNvSpPr>
                    <p:nvPr/>
                  </p:nvSpPr>
                  <p:spPr bwMode="auto">
                    <a:xfrm>
                      <a:off x="1026" y="3658"/>
                      <a:ext cx="32" cy="10"/>
                    </a:xfrm>
                    <a:custGeom>
                      <a:avLst/>
                      <a:gdLst>
                        <a:gd name="T0" fmla="*/ 0 w 65"/>
                        <a:gd name="T1" fmla="*/ 0 h 30"/>
                        <a:gd name="T2" fmla="*/ 0 w 65"/>
                        <a:gd name="T3" fmla="*/ 0 h 30"/>
                        <a:gd name="T4" fmla="*/ 0 w 65"/>
                        <a:gd name="T5" fmla="*/ 0 h 30"/>
                        <a:gd name="T6" fmla="*/ 0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2"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10" name="Group 2434"/>
                  <p:cNvGrpSpPr>
                    <a:grpSpLocks/>
                  </p:cNvGrpSpPr>
                  <p:nvPr/>
                </p:nvGrpSpPr>
                <p:grpSpPr bwMode="auto">
                  <a:xfrm>
                    <a:off x="1027" y="3659"/>
                    <a:ext cx="45" cy="23"/>
                    <a:chOff x="1027" y="3659"/>
                    <a:chExt cx="45" cy="23"/>
                  </a:xfrm>
                </p:grpSpPr>
                <p:sp>
                  <p:nvSpPr>
                    <p:cNvPr id="1615" name="Freeform 2435"/>
                    <p:cNvSpPr>
                      <a:spLocks/>
                    </p:cNvSpPr>
                    <p:nvPr/>
                  </p:nvSpPr>
                  <p:spPr bwMode="auto">
                    <a:xfrm>
                      <a:off x="1027" y="3659"/>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2" y="70"/>
                          </a:moveTo>
                          <a:lnTo>
                            <a:pt x="0" y="34"/>
                          </a:lnTo>
                          <a:lnTo>
                            <a:pt x="12" y="0"/>
                          </a:lnTo>
                          <a:lnTo>
                            <a:pt x="39" y="34"/>
                          </a:lnTo>
                          <a:lnTo>
                            <a:pt x="22"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16" name="Freeform 2436"/>
                    <p:cNvSpPr>
                      <a:spLocks/>
                    </p:cNvSpPr>
                    <p:nvPr/>
                  </p:nvSpPr>
                  <p:spPr bwMode="auto">
                    <a:xfrm>
                      <a:off x="1033" y="3659"/>
                      <a:ext cx="33"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17" name="Freeform 2437"/>
                    <p:cNvSpPr>
                      <a:spLocks/>
                    </p:cNvSpPr>
                    <p:nvPr/>
                  </p:nvSpPr>
                  <p:spPr bwMode="auto">
                    <a:xfrm>
                      <a:off x="1039" y="3671"/>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11" name="Group 2438"/>
                  <p:cNvGrpSpPr>
                    <a:grpSpLocks/>
                  </p:cNvGrpSpPr>
                  <p:nvPr/>
                </p:nvGrpSpPr>
                <p:grpSpPr bwMode="auto">
                  <a:xfrm>
                    <a:off x="1040" y="3672"/>
                    <a:ext cx="45" cy="23"/>
                    <a:chOff x="1040" y="3672"/>
                    <a:chExt cx="45" cy="23"/>
                  </a:xfrm>
                </p:grpSpPr>
                <p:sp>
                  <p:nvSpPr>
                    <p:cNvPr id="1612" name="Freeform 2439"/>
                    <p:cNvSpPr>
                      <a:spLocks/>
                    </p:cNvSpPr>
                    <p:nvPr/>
                  </p:nvSpPr>
                  <p:spPr bwMode="auto">
                    <a:xfrm>
                      <a:off x="1040" y="3672"/>
                      <a:ext cx="20" cy="23"/>
                    </a:xfrm>
                    <a:custGeom>
                      <a:avLst/>
                      <a:gdLst>
                        <a:gd name="T0" fmla="*/ 0 w 41"/>
                        <a:gd name="T1" fmla="*/ 0 h 70"/>
                        <a:gd name="T2" fmla="*/ 0 w 41"/>
                        <a:gd name="T3" fmla="*/ 0 h 70"/>
                        <a:gd name="T4" fmla="*/ 0 w 41"/>
                        <a:gd name="T5" fmla="*/ 0 h 70"/>
                        <a:gd name="T6" fmla="*/ 0 w 41"/>
                        <a:gd name="T7" fmla="*/ 0 h 70"/>
                        <a:gd name="T8" fmla="*/ 0 w 41"/>
                        <a:gd name="T9" fmla="*/ 0 h 70"/>
                        <a:gd name="T10" fmla="*/ 0 60000 65536"/>
                        <a:gd name="T11" fmla="*/ 0 60000 65536"/>
                        <a:gd name="T12" fmla="*/ 0 60000 65536"/>
                        <a:gd name="T13" fmla="*/ 0 60000 65536"/>
                        <a:gd name="T14" fmla="*/ 0 60000 65536"/>
                        <a:gd name="T15" fmla="*/ 0 w 41"/>
                        <a:gd name="T16" fmla="*/ 0 h 70"/>
                        <a:gd name="T17" fmla="*/ 41 w 41"/>
                        <a:gd name="T18" fmla="*/ 70 h 70"/>
                      </a:gdLst>
                      <a:ahLst/>
                      <a:cxnLst>
                        <a:cxn ang="T10">
                          <a:pos x="T0" y="T1"/>
                        </a:cxn>
                        <a:cxn ang="T11">
                          <a:pos x="T2" y="T3"/>
                        </a:cxn>
                        <a:cxn ang="T12">
                          <a:pos x="T4" y="T5"/>
                        </a:cxn>
                        <a:cxn ang="T13">
                          <a:pos x="T6" y="T7"/>
                        </a:cxn>
                        <a:cxn ang="T14">
                          <a:pos x="T8" y="T9"/>
                        </a:cxn>
                      </a:cxnLst>
                      <a:rect l="T15" t="T16" r="T17" b="T18"/>
                      <a:pathLst>
                        <a:path w="41" h="70">
                          <a:moveTo>
                            <a:pt x="24" y="70"/>
                          </a:moveTo>
                          <a:lnTo>
                            <a:pt x="0" y="35"/>
                          </a:lnTo>
                          <a:lnTo>
                            <a:pt x="13" y="0"/>
                          </a:lnTo>
                          <a:lnTo>
                            <a:pt x="41" y="35"/>
                          </a:lnTo>
                          <a:lnTo>
                            <a:pt x="24"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13" name="Freeform 2440"/>
                    <p:cNvSpPr>
                      <a:spLocks/>
                    </p:cNvSpPr>
                    <p:nvPr/>
                  </p:nvSpPr>
                  <p:spPr bwMode="auto">
                    <a:xfrm>
                      <a:off x="1047" y="3672"/>
                      <a:ext cx="32" cy="12"/>
                    </a:xfrm>
                    <a:custGeom>
                      <a:avLst/>
                      <a:gdLst>
                        <a:gd name="T0" fmla="*/ 0 w 65"/>
                        <a:gd name="T1" fmla="*/ 0 h 34"/>
                        <a:gd name="T2" fmla="*/ 0 w 65"/>
                        <a:gd name="T3" fmla="*/ 0 h 34"/>
                        <a:gd name="T4" fmla="*/ 0 w 65"/>
                        <a:gd name="T5" fmla="*/ 0 h 34"/>
                        <a:gd name="T6" fmla="*/ 0 w 65"/>
                        <a:gd name="T7" fmla="*/ 0 h 34"/>
                        <a:gd name="T8" fmla="*/ 0 w 65"/>
                        <a:gd name="T9" fmla="*/ 0 h 34"/>
                        <a:gd name="T10" fmla="*/ 0 60000 65536"/>
                        <a:gd name="T11" fmla="*/ 0 60000 65536"/>
                        <a:gd name="T12" fmla="*/ 0 60000 65536"/>
                        <a:gd name="T13" fmla="*/ 0 60000 65536"/>
                        <a:gd name="T14" fmla="*/ 0 60000 65536"/>
                        <a:gd name="T15" fmla="*/ 0 w 65"/>
                        <a:gd name="T16" fmla="*/ 0 h 34"/>
                        <a:gd name="T17" fmla="*/ 65 w 65"/>
                        <a:gd name="T18" fmla="*/ 34 h 34"/>
                      </a:gdLst>
                      <a:ahLst/>
                      <a:cxnLst>
                        <a:cxn ang="T10">
                          <a:pos x="T0" y="T1"/>
                        </a:cxn>
                        <a:cxn ang="T11">
                          <a:pos x="T2" y="T3"/>
                        </a:cxn>
                        <a:cxn ang="T12">
                          <a:pos x="T4" y="T5"/>
                        </a:cxn>
                        <a:cxn ang="T13">
                          <a:pos x="T6" y="T7"/>
                        </a:cxn>
                        <a:cxn ang="T14">
                          <a:pos x="T8" y="T9"/>
                        </a:cxn>
                      </a:cxnLst>
                      <a:rect l="T15" t="T16" r="T17" b="T18"/>
                      <a:pathLst>
                        <a:path w="65" h="34">
                          <a:moveTo>
                            <a:pt x="0" y="0"/>
                          </a:moveTo>
                          <a:lnTo>
                            <a:pt x="41" y="0"/>
                          </a:lnTo>
                          <a:lnTo>
                            <a:pt x="65" y="34"/>
                          </a:lnTo>
                          <a:lnTo>
                            <a:pt x="2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14" name="Freeform 2441"/>
                    <p:cNvSpPr>
                      <a:spLocks/>
                    </p:cNvSpPr>
                    <p:nvPr/>
                  </p:nvSpPr>
                  <p:spPr bwMode="auto">
                    <a:xfrm>
                      <a:off x="1053" y="3685"/>
                      <a:ext cx="32" cy="9"/>
                    </a:xfrm>
                    <a:custGeom>
                      <a:avLst/>
                      <a:gdLst>
                        <a:gd name="T0" fmla="*/ 0 w 66"/>
                        <a:gd name="T1" fmla="*/ 0 h 28"/>
                        <a:gd name="T2" fmla="*/ 0 w 66"/>
                        <a:gd name="T3" fmla="*/ 0 h 28"/>
                        <a:gd name="T4" fmla="*/ 0 w 66"/>
                        <a:gd name="T5" fmla="*/ 0 h 28"/>
                        <a:gd name="T6" fmla="*/ 0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2" y="0"/>
                          </a:lnTo>
                          <a:lnTo>
                            <a:pt x="54"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526" name="Group 2442"/>
                <p:cNvGrpSpPr>
                  <a:grpSpLocks/>
                </p:cNvGrpSpPr>
                <p:nvPr/>
              </p:nvGrpSpPr>
              <p:grpSpPr bwMode="auto">
                <a:xfrm>
                  <a:off x="1054" y="3685"/>
                  <a:ext cx="45" cy="23"/>
                  <a:chOff x="1054" y="3685"/>
                  <a:chExt cx="45" cy="23"/>
                </a:xfrm>
              </p:grpSpPr>
              <p:sp>
                <p:nvSpPr>
                  <p:cNvPr id="1605" name="Freeform 2443"/>
                  <p:cNvSpPr>
                    <a:spLocks/>
                  </p:cNvSpPr>
                  <p:nvPr/>
                </p:nvSpPr>
                <p:spPr bwMode="auto">
                  <a:xfrm>
                    <a:off x="1054" y="3685"/>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3" y="70"/>
                        </a:moveTo>
                        <a:lnTo>
                          <a:pt x="0" y="34"/>
                        </a:lnTo>
                        <a:lnTo>
                          <a:pt x="13" y="0"/>
                        </a:lnTo>
                        <a:lnTo>
                          <a:pt x="39" y="34"/>
                        </a:lnTo>
                        <a:lnTo>
                          <a:pt x="23"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06" name="Freeform 2444"/>
                  <p:cNvSpPr>
                    <a:spLocks/>
                  </p:cNvSpPr>
                  <p:nvPr/>
                </p:nvSpPr>
                <p:spPr bwMode="auto">
                  <a:xfrm>
                    <a:off x="1061" y="3685"/>
                    <a:ext cx="32" cy="12"/>
                  </a:xfrm>
                  <a:custGeom>
                    <a:avLst/>
                    <a:gdLst>
                      <a:gd name="T0" fmla="*/ 0 w 63"/>
                      <a:gd name="T1" fmla="*/ 0 h 35"/>
                      <a:gd name="T2" fmla="*/ 1 w 63"/>
                      <a:gd name="T3" fmla="*/ 0 h 35"/>
                      <a:gd name="T4" fmla="*/ 1 w 63"/>
                      <a:gd name="T5" fmla="*/ 0 h 35"/>
                      <a:gd name="T6" fmla="*/ 1 w 63"/>
                      <a:gd name="T7" fmla="*/ 0 h 35"/>
                      <a:gd name="T8" fmla="*/ 0 w 63"/>
                      <a:gd name="T9" fmla="*/ 0 h 35"/>
                      <a:gd name="T10" fmla="*/ 0 60000 65536"/>
                      <a:gd name="T11" fmla="*/ 0 60000 65536"/>
                      <a:gd name="T12" fmla="*/ 0 60000 65536"/>
                      <a:gd name="T13" fmla="*/ 0 60000 65536"/>
                      <a:gd name="T14" fmla="*/ 0 60000 65536"/>
                      <a:gd name="T15" fmla="*/ 0 w 63"/>
                      <a:gd name="T16" fmla="*/ 0 h 35"/>
                      <a:gd name="T17" fmla="*/ 63 w 63"/>
                      <a:gd name="T18" fmla="*/ 35 h 35"/>
                    </a:gdLst>
                    <a:ahLst/>
                    <a:cxnLst>
                      <a:cxn ang="T10">
                        <a:pos x="T0" y="T1"/>
                      </a:cxn>
                      <a:cxn ang="T11">
                        <a:pos x="T2" y="T3"/>
                      </a:cxn>
                      <a:cxn ang="T12">
                        <a:pos x="T4" y="T5"/>
                      </a:cxn>
                      <a:cxn ang="T13">
                        <a:pos x="T6" y="T7"/>
                      </a:cxn>
                      <a:cxn ang="T14">
                        <a:pos x="T8" y="T9"/>
                      </a:cxn>
                    </a:cxnLst>
                    <a:rect l="T15" t="T16" r="T17" b="T18"/>
                    <a:pathLst>
                      <a:path w="63" h="35">
                        <a:moveTo>
                          <a:pt x="0" y="0"/>
                        </a:moveTo>
                        <a:lnTo>
                          <a:pt x="41" y="0"/>
                        </a:lnTo>
                        <a:lnTo>
                          <a:pt x="63"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07" name="Freeform 2445"/>
                  <p:cNvSpPr>
                    <a:spLocks/>
                  </p:cNvSpPr>
                  <p:nvPr/>
                </p:nvSpPr>
                <p:spPr bwMode="auto">
                  <a:xfrm>
                    <a:off x="1066" y="3697"/>
                    <a:ext cx="33" cy="10"/>
                  </a:xfrm>
                  <a:custGeom>
                    <a:avLst/>
                    <a:gdLst>
                      <a:gd name="T0" fmla="*/ 0 w 64"/>
                      <a:gd name="T1" fmla="*/ 0 h 30"/>
                      <a:gd name="T2" fmla="*/ 1 w 64"/>
                      <a:gd name="T3" fmla="*/ 0 h 30"/>
                      <a:gd name="T4" fmla="*/ 1 w 64"/>
                      <a:gd name="T5" fmla="*/ 0 h 30"/>
                      <a:gd name="T6" fmla="*/ 1 w 64"/>
                      <a:gd name="T7" fmla="*/ 0 h 30"/>
                      <a:gd name="T8" fmla="*/ 0 w 64"/>
                      <a:gd name="T9" fmla="*/ 0 h 30"/>
                      <a:gd name="T10" fmla="*/ 0 60000 65536"/>
                      <a:gd name="T11" fmla="*/ 0 60000 65536"/>
                      <a:gd name="T12" fmla="*/ 0 60000 65536"/>
                      <a:gd name="T13" fmla="*/ 0 60000 65536"/>
                      <a:gd name="T14" fmla="*/ 0 60000 65536"/>
                      <a:gd name="T15" fmla="*/ 0 w 64"/>
                      <a:gd name="T16" fmla="*/ 0 h 30"/>
                      <a:gd name="T17" fmla="*/ 64 w 64"/>
                      <a:gd name="T18" fmla="*/ 30 h 30"/>
                    </a:gdLst>
                    <a:ahLst/>
                    <a:cxnLst>
                      <a:cxn ang="T10">
                        <a:pos x="T0" y="T1"/>
                      </a:cxn>
                      <a:cxn ang="T11">
                        <a:pos x="T2" y="T3"/>
                      </a:cxn>
                      <a:cxn ang="T12">
                        <a:pos x="T4" y="T5"/>
                      </a:cxn>
                      <a:cxn ang="T13">
                        <a:pos x="T6" y="T7"/>
                      </a:cxn>
                      <a:cxn ang="T14">
                        <a:pos x="T8" y="T9"/>
                      </a:cxn>
                    </a:cxnLst>
                    <a:rect l="T15" t="T16" r="T17" b="T18"/>
                    <a:pathLst>
                      <a:path w="64" h="30">
                        <a:moveTo>
                          <a:pt x="0" y="30"/>
                        </a:moveTo>
                        <a:lnTo>
                          <a:pt x="13" y="0"/>
                        </a:lnTo>
                        <a:lnTo>
                          <a:pt x="52" y="0"/>
                        </a:lnTo>
                        <a:lnTo>
                          <a:pt x="64"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27" name="Group 2446"/>
                <p:cNvGrpSpPr>
                  <a:grpSpLocks/>
                </p:cNvGrpSpPr>
                <p:nvPr/>
              </p:nvGrpSpPr>
              <p:grpSpPr bwMode="auto">
                <a:xfrm>
                  <a:off x="1067" y="3698"/>
                  <a:ext cx="45" cy="23"/>
                  <a:chOff x="1067" y="3698"/>
                  <a:chExt cx="45" cy="23"/>
                </a:xfrm>
              </p:grpSpPr>
              <p:sp>
                <p:nvSpPr>
                  <p:cNvPr id="1602" name="Freeform 2447"/>
                  <p:cNvSpPr>
                    <a:spLocks/>
                  </p:cNvSpPr>
                  <p:nvPr/>
                </p:nvSpPr>
                <p:spPr bwMode="auto">
                  <a:xfrm>
                    <a:off x="1067" y="3698"/>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2" y="69"/>
                        </a:moveTo>
                        <a:lnTo>
                          <a:pt x="0" y="34"/>
                        </a:lnTo>
                        <a:lnTo>
                          <a:pt x="12" y="0"/>
                        </a:lnTo>
                        <a:lnTo>
                          <a:pt x="39"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03" name="Freeform 2448"/>
                  <p:cNvSpPr>
                    <a:spLocks/>
                  </p:cNvSpPr>
                  <p:nvPr/>
                </p:nvSpPr>
                <p:spPr bwMode="auto">
                  <a:xfrm>
                    <a:off x="1074" y="3699"/>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04" name="Freeform 2449"/>
                  <p:cNvSpPr>
                    <a:spLocks/>
                  </p:cNvSpPr>
                  <p:nvPr/>
                </p:nvSpPr>
                <p:spPr bwMode="auto">
                  <a:xfrm>
                    <a:off x="1079" y="3711"/>
                    <a:ext cx="33" cy="10"/>
                  </a:xfrm>
                  <a:custGeom>
                    <a:avLst/>
                    <a:gdLst>
                      <a:gd name="T0" fmla="*/ 0 w 65"/>
                      <a:gd name="T1" fmla="*/ 0 h 30"/>
                      <a:gd name="T2" fmla="*/ 1 w 65"/>
                      <a:gd name="T3" fmla="*/ 0 h 30"/>
                      <a:gd name="T4" fmla="*/ 1 w 65"/>
                      <a:gd name="T5" fmla="*/ 0 h 30"/>
                      <a:gd name="T6" fmla="*/ 1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1"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28" name="Group 2450"/>
                <p:cNvGrpSpPr>
                  <a:grpSpLocks/>
                </p:cNvGrpSpPr>
                <p:nvPr/>
              </p:nvGrpSpPr>
              <p:grpSpPr bwMode="auto">
                <a:xfrm>
                  <a:off x="1079" y="3712"/>
                  <a:ext cx="44" cy="23"/>
                  <a:chOff x="1079" y="3712"/>
                  <a:chExt cx="44" cy="23"/>
                </a:xfrm>
              </p:grpSpPr>
              <p:sp>
                <p:nvSpPr>
                  <p:cNvPr id="1599" name="Freeform 2451"/>
                  <p:cNvSpPr>
                    <a:spLocks/>
                  </p:cNvSpPr>
                  <p:nvPr/>
                </p:nvSpPr>
                <p:spPr bwMode="auto">
                  <a:xfrm>
                    <a:off x="1079" y="3712"/>
                    <a:ext cx="21" cy="23"/>
                  </a:xfrm>
                  <a:custGeom>
                    <a:avLst/>
                    <a:gdLst>
                      <a:gd name="T0" fmla="*/ 1 w 41"/>
                      <a:gd name="T1" fmla="*/ 0 h 68"/>
                      <a:gd name="T2" fmla="*/ 0 w 41"/>
                      <a:gd name="T3" fmla="*/ 0 h 68"/>
                      <a:gd name="T4" fmla="*/ 1 w 41"/>
                      <a:gd name="T5" fmla="*/ 0 h 68"/>
                      <a:gd name="T6" fmla="*/ 1 w 41"/>
                      <a:gd name="T7" fmla="*/ 0 h 68"/>
                      <a:gd name="T8" fmla="*/ 1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3"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00" name="Freeform 2452"/>
                  <p:cNvSpPr>
                    <a:spLocks/>
                  </p:cNvSpPr>
                  <p:nvPr/>
                </p:nvSpPr>
                <p:spPr bwMode="auto">
                  <a:xfrm>
                    <a:off x="1087" y="3713"/>
                    <a:ext cx="31" cy="10"/>
                  </a:xfrm>
                  <a:custGeom>
                    <a:avLst/>
                    <a:gdLst>
                      <a:gd name="T0" fmla="*/ 0 w 63"/>
                      <a:gd name="T1" fmla="*/ 0 h 32"/>
                      <a:gd name="T2" fmla="*/ 0 w 63"/>
                      <a:gd name="T3" fmla="*/ 0 h 32"/>
                      <a:gd name="T4" fmla="*/ 0 w 63"/>
                      <a:gd name="T5" fmla="*/ 0 h 32"/>
                      <a:gd name="T6" fmla="*/ 0 w 63"/>
                      <a:gd name="T7" fmla="*/ 0 h 32"/>
                      <a:gd name="T8" fmla="*/ 0 w 63"/>
                      <a:gd name="T9" fmla="*/ 0 h 32"/>
                      <a:gd name="T10" fmla="*/ 0 60000 65536"/>
                      <a:gd name="T11" fmla="*/ 0 60000 65536"/>
                      <a:gd name="T12" fmla="*/ 0 60000 65536"/>
                      <a:gd name="T13" fmla="*/ 0 60000 65536"/>
                      <a:gd name="T14" fmla="*/ 0 60000 65536"/>
                      <a:gd name="T15" fmla="*/ 0 w 63"/>
                      <a:gd name="T16" fmla="*/ 0 h 32"/>
                      <a:gd name="T17" fmla="*/ 63 w 63"/>
                      <a:gd name="T18" fmla="*/ 32 h 32"/>
                    </a:gdLst>
                    <a:ahLst/>
                    <a:cxnLst>
                      <a:cxn ang="T10">
                        <a:pos x="T0" y="T1"/>
                      </a:cxn>
                      <a:cxn ang="T11">
                        <a:pos x="T2" y="T3"/>
                      </a:cxn>
                      <a:cxn ang="T12">
                        <a:pos x="T4" y="T5"/>
                      </a:cxn>
                      <a:cxn ang="T13">
                        <a:pos x="T6" y="T7"/>
                      </a:cxn>
                      <a:cxn ang="T14">
                        <a:pos x="T8" y="T9"/>
                      </a:cxn>
                    </a:cxnLst>
                    <a:rect l="T15" t="T16" r="T17" b="T18"/>
                    <a:pathLst>
                      <a:path w="63" h="32">
                        <a:moveTo>
                          <a:pt x="0" y="0"/>
                        </a:moveTo>
                        <a:lnTo>
                          <a:pt x="40" y="0"/>
                        </a:lnTo>
                        <a:lnTo>
                          <a:pt x="63" y="32"/>
                        </a:lnTo>
                        <a:lnTo>
                          <a:pt x="23"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01" name="Freeform 2453"/>
                  <p:cNvSpPr>
                    <a:spLocks/>
                  </p:cNvSpPr>
                  <p:nvPr/>
                </p:nvSpPr>
                <p:spPr bwMode="auto">
                  <a:xfrm>
                    <a:off x="1092" y="3724"/>
                    <a:ext cx="31" cy="11"/>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2"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29" name="Group 2454"/>
                <p:cNvGrpSpPr>
                  <a:grpSpLocks/>
                </p:cNvGrpSpPr>
                <p:nvPr/>
              </p:nvGrpSpPr>
              <p:grpSpPr bwMode="auto">
                <a:xfrm>
                  <a:off x="1093" y="3725"/>
                  <a:ext cx="45" cy="23"/>
                  <a:chOff x="1093" y="3725"/>
                  <a:chExt cx="45" cy="23"/>
                </a:xfrm>
              </p:grpSpPr>
              <p:sp>
                <p:nvSpPr>
                  <p:cNvPr id="1596" name="Freeform 2455"/>
                  <p:cNvSpPr>
                    <a:spLocks/>
                  </p:cNvSpPr>
                  <p:nvPr/>
                </p:nvSpPr>
                <p:spPr bwMode="auto">
                  <a:xfrm>
                    <a:off x="1093" y="3725"/>
                    <a:ext cx="20" cy="23"/>
                  </a:xfrm>
                  <a:custGeom>
                    <a:avLst/>
                    <a:gdLst>
                      <a:gd name="T0" fmla="*/ 1 w 40"/>
                      <a:gd name="T1" fmla="*/ 0 h 68"/>
                      <a:gd name="T2" fmla="*/ 0 w 40"/>
                      <a:gd name="T3" fmla="*/ 0 h 68"/>
                      <a:gd name="T4" fmla="*/ 1 w 40"/>
                      <a:gd name="T5" fmla="*/ 0 h 68"/>
                      <a:gd name="T6" fmla="*/ 1 w 40"/>
                      <a:gd name="T7" fmla="*/ 0 h 68"/>
                      <a:gd name="T8" fmla="*/ 1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2"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97" name="Freeform 2456"/>
                  <p:cNvSpPr>
                    <a:spLocks/>
                  </p:cNvSpPr>
                  <p:nvPr/>
                </p:nvSpPr>
                <p:spPr bwMode="auto">
                  <a:xfrm>
                    <a:off x="1100" y="3726"/>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98" name="Freeform 2457"/>
                  <p:cNvSpPr>
                    <a:spLocks/>
                  </p:cNvSpPr>
                  <p:nvPr/>
                </p:nvSpPr>
                <p:spPr bwMode="auto">
                  <a:xfrm>
                    <a:off x="1106" y="3738"/>
                    <a:ext cx="32" cy="9"/>
                  </a:xfrm>
                  <a:custGeom>
                    <a:avLst/>
                    <a:gdLst>
                      <a:gd name="T0" fmla="*/ 0 w 65"/>
                      <a:gd name="T1" fmla="*/ 0 h 28"/>
                      <a:gd name="T2" fmla="*/ 0 w 65"/>
                      <a:gd name="T3" fmla="*/ 0 h 28"/>
                      <a:gd name="T4" fmla="*/ 0 w 65"/>
                      <a:gd name="T5" fmla="*/ 0 h 28"/>
                      <a:gd name="T6" fmla="*/ 0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2" y="0"/>
                        </a:lnTo>
                        <a:lnTo>
                          <a:pt x="53"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30" name="Group 2458"/>
                <p:cNvGrpSpPr>
                  <a:grpSpLocks/>
                </p:cNvGrpSpPr>
                <p:nvPr/>
              </p:nvGrpSpPr>
              <p:grpSpPr bwMode="auto">
                <a:xfrm>
                  <a:off x="1108" y="3739"/>
                  <a:ext cx="44" cy="23"/>
                  <a:chOff x="1108" y="3739"/>
                  <a:chExt cx="44" cy="23"/>
                </a:xfrm>
              </p:grpSpPr>
              <p:sp>
                <p:nvSpPr>
                  <p:cNvPr id="1593" name="Freeform 2459"/>
                  <p:cNvSpPr>
                    <a:spLocks/>
                  </p:cNvSpPr>
                  <p:nvPr/>
                </p:nvSpPr>
                <p:spPr bwMode="auto">
                  <a:xfrm>
                    <a:off x="1108" y="3739"/>
                    <a:ext cx="19" cy="23"/>
                  </a:xfrm>
                  <a:custGeom>
                    <a:avLst/>
                    <a:gdLst>
                      <a:gd name="T0" fmla="*/ 0 w 40"/>
                      <a:gd name="T1" fmla="*/ 0 h 69"/>
                      <a:gd name="T2" fmla="*/ 0 w 40"/>
                      <a:gd name="T3" fmla="*/ 0 h 69"/>
                      <a:gd name="T4" fmla="*/ 0 w 40"/>
                      <a:gd name="T5" fmla="*/ 0 h 69"/>
                      <a:gd name="T6" fmla="*/ 0 w 40"/>
                      <a:gd name="T7" fmla="*/ 0 h 69"/>
                      <a:gd name="T8" fmla="*/ 0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4"/>
                        </a:lnTo>
                        <a:lnTo>
                          <a:pt x="12" y="0"/>
                        </a:lnTo>
                        <a:lnTo>
                          <a:pt x="40" y="34"/>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94" name="Freeform 2460"/>
                  <p:cNvSpPr>
                    <a:spLocks/>
                  </p:cNvSpPr>
                  <p:nvPr/>
                </p:nvSpPr>
                <p:spPr bwMode="auto">
                  <a:xfrm>
                    <a:off x="1114" y="3740"/>
                    <a:ext cx="32" cy="11"/>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2" y="0"/>
                        </a:lnTo>
                        <a:lnTo>
                          <a:pt x="64"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95" name="Freeform 2461"/>
                  <p:cNvSpPr>
                    <a:spLocks/>
                  </p:cNvSpPr>
                  <p:nvPr/>
                </p:nvSpPr>
                <p:spPr bwMode="auto">
                  <a:xfrm>
                    <a:off x="1120" y="3752"/>
                    <a:ext cx="32" cy="10"/>
                  </a:xfrm>
                  <a:custGeom>
                    <a:avLst/>
                    <a:gdLst>
                      <a:gd name="T0" fmla="*/ 0 w 66"/>
                      <a:gd name="T1" fmla="*/ 0 h 30"/>
                      <a:gd name="T2" fmla="*/ 0 w 66"/>
                      <a:gd name="T3" fmla="*/ 0 h 30"/>
                      <a:gd name="T4" fmla="*/ 0 w 66"/>
                      <a:gd name="T5" fmla="*/ 0 h 30"/>
                      <a:gd name="T6" fmla="*/ 0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5"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31" name="Group 2462"/>
                <p:cNvGrpSpPr>
                  <a:grpSpLocks/>
                </p:cNvGrpSpPr>
                <p:nvPr/>
              </p:nvGrpSpPr>
              <p:grpSpPr bwMode="auto">
                <a:xfrm>
                  <a:off x="1121" y="3753"/>
                  <a:ext cx="45" cy="23"/>
                  <a:chOff x="1121" y="3753"/>
                  <a:chExt cx="45" cy="23"/>
                </a:xfrm>
              </p:grpSpPr>
              <p:sp>
                <p:nvSpPr>
                  <p:cNvPr id="1590" name="Freeform 2463"/>
                  <p:cNvSpPr>
                    <a:spLocks/>
                  </p:cNvSpPr>
                  <p:nvPr/>
                </p:nvSpPr>
                <p:spPr bwMode="auto">
                  <a:xfrm>
                    <a:off x="1121" y="3753"/>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5"/>
                        </a:lnTo>
                        <a:lnTo>
                          <a:pt x="12" y="0"/>
                        </a:lnTo>
                        <a:lnTo>
                          <a:pt x="39" y="35"/>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91" name="Freeform 2464"/>
                  <p:cNvSpPr>
                    <a:spLocks/>
                  </p:cNvSpPr>
                  <p:nvPr/>
                </p:nvSpPr>
                <p:spPr bwMode="auto">
                  <a:xfrm>
                    <a:off x="1127" y="3753"/>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39" y="0"/>
                        </a:lnTo>
                        <a:lnTo>
                          <a:pt x="64"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92" name="Freeform 2465"/>
                  <p:cNvSpPr>
                    <a:spLocks/>
                  </p:cNvSpPr>
                  <p:nvPr/>
                </p:nvSpPr>
                <p:spPr bwMode="auto">
                  <a:xfrm>
                    <a:off x="1133" y="3766"/>
                    <a:ext cx="33" cy="9"/>
                  </a:xfrm>
                  <a:custGeom>
                    <a:avLst/>
                    <a:gdLst>
                      <a:gd name="T0" fmla="*/ 0 w 66"/>
                      <a:gd name="T1" fmla="*/ 0 h 29"/>
                      <a:gd name="T2" fmla="*/ 1 w 66"/>
                      <a:gd name="T3" fmla="*/ 0 h 29"/>
                      <a:gd name="T4" fmla="*/ 1 w 66"/>
                      <a:gd name="T5" fmla="*/ 0 h 29"/>
                      <a:gd name="T6" fmla="*/ 1 w 66"/>
                      <a:gd name="T7" fmla="*/ 0 h 29"/>
                      <a:gd name="T8" fmla="*/ 0 w 66"/>
                      <a:gd name="T9" fmla="*/ 0 h 29"/>
                      <a:gd name="T10" fmla="*/ 0 60000 65536"/>
                      <a:gd name="T11" fmla="*/ 0 60000 65536"/>
                      <a:gd name="T12" fmla="*/ 0 60000 65536"/>
                      <a:gd name="T13" fmla="*/ 0 60000 65536"/>
                      <a:gd name="T14" fmla="*/ 0 60000 65536"/>
                      <a:gd name="T15" fmla="*/ 0 w 66"/>
                      <a:gd name="T16" fmla="*/ 0 h 29"/>
                      <a:gd name="T17" fmla="*/ 66 w 66"/>
                      <a:gd name="T18" fmla="*/ 29 h 29"/>
                    </a:gdLst>
                    <a:ahLst/>
                    <a:cxnLst>
                      <a:cxn ang="T10">
                        <a:pos x="T0" y="T1"/>
                      </a:cxn>
                      <a:cxn ang="T11">
                        <a:pos x="T2" y="T3"/>
                      </a:cxn>
                      <a:cxn ang="T12">
                        <a:pos x="T4" y="T5"/>
                      </a:cxn>
                      <a:cxn ang="T13">
                        <a:pos x="T6" y="T7"/>
                      </a:cxn>
                      <a:cxn ang="T14">
                        <a:pos x="T8" y="T9"/>
                      </a:cxn>
                    </a:cxnLst>
                    <a:rect l="T15" t="T16" r="T17" b="T18"/>
                    <a:pathLst>
                      <a:path w="66" h="29">
                        <a:moveTo>
                          <a:pt x="0" y="29"/>
                        </a:moveTo>
                        <a:lnTo>
                          <a:pt x="12" y="0"/>
                        </a:lnTo>
                        <a:lnTo>
                          <a:pt x="54" y="0"/>
                        </a:lnTo>
                        <a:lnTo>
                          <a:pt x="66"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32" name="Group 2466"/>
                <p:cNvGrpSpPr>
                  <a:grpSpLocks/>
                </p:cNvGrpSpPr>
                <p:nvPr/>
              </p:nvGrpSpPr>
              <p:grpSpPr bwMode="auto">
                <a:xfrm>
                  <a:off x="1133" y="3767"/>
                  <a:ext cx="44" cy="23"/>
                  <a:chOff x="1133" y="3767"/>
                  <a:chExt cx="44" cy="23"/>
                </a:xfrm>
              </p:grpSpPr>
              <p:sp>
                <p:nvSpPr>
                  <p:cNvPr id="1587" name="Freeform 2467"/>
                  <p:cNvSpPr>
                    <a:spLocks/>
                  </p:cNvSpPr>
                  <p:nvPr/>
                </p:nvSpPr>
                <p:spPr bwMode="auto">
                  <a:xfrm>
                    <a:off x="1133" y="3767"/>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3" y="69"/>
                        </a:moveTo>
                        <a:lnTo>
                          <a:pt x="0" y="33"/>
                        </a:lnTo>
                        <a:lnTo>
                          <a:pt x="12" y="0"/>
                        </a:lnTo>
                        <a:lnTo>
                          <a:pt x="39"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88" name="Freeform 2468"/>
                  <p:cNvSpPr>
                    <a:spLocks/>
                  </p:cNvSpPr>
                  <p:nvPr/>
                </p:nvSpPr>
                <p:spPr bwMode="auto">
                  <a:xfrm>
                    <a:off x="1140" y="3767"/>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3"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89" name="Freeform 2469"/>
                  <p:cNvSpPr>
                    <a:spLocks/>
                  </p:cNvSpPr>
                  <p:nvPr/>
                </p:nvSpPr>
                <p:spPr bwMode="auto">
                  <a:xfrm>
                    <a:off x="1146" y="3779"/>
                    <a:ext cx="31" cy="10"/>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1"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533" name="Freeform 2470"/>
                <p:cNvSpPr>
                  <a:spLocks/>
                </p:cNvSpPr>
                <p:nvPr/>
              </p:nvSpPr>
              <p:spPr bwMode="auto">
                <a:xfrm>
                  <a:off x="972" y="3556"/>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7"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34" name="Freeform 2471"/>
                <p:cNvSpPr>
                  <a:spLocks/>
                </p:cNvSpPr>
                <p:nvPr/>
              </p:nvSpPr>
              <p:spPr bwMode="auto">
                <a:xfrm>
                  <a:off x="993" y="3576"/>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35" name="Freeform 2472"/>
                <p:cNvSpPr>
                  <a:spLocks/>
                </p:cNvSpPr>
                <p:nvPr/>
              </p:nvSpPr>
              <p:spPr bwMode="auto">
                <a:xfrm>
                  <a:off x="1012" y="3594"/>
                  <a:ext cx="39" cy="12"/>
                </a:xfrm>
                <a:custGeom>
                  <a:avLst/>
                  <a:gdLst>
                    <a:gd name="T0" fmla="*/ 0 w 78"/>
                    <a:gd name="T1" fmla="*/ 0 h 36"/>
                    <a:gd name="T2" fmla="*/ 1 w 78"/>
                    <a:gd name="T3" fmla="*/ 0 h 36"/>
                    <a:gd name="T4" fmla="*/ 1 w 78"/>
                    <a:gd name="T5" fmla="*/ 0 h 36"/>
                    <a:gd name="T6" fmla="*/ 1 w 78"/>
                    <a:gd name="T7" fmla="*/ 0 h 36"/>
                    <a:gd name="T8" fmla="*/ 0 w 78"/>
                    <a:gd name="T9" fmla="*/ 0 h 36"/>
                    <a:gd name="T10" fmla="*/ 0 60000 65536"/>
                    <a:gd name="T11" fmla="*/ 0 60000 65536"/>
                    <a:gd name="T12" fmla="*/ 0 60000 65536"/>
                    <a:gd name="T13" fmla="*/ 0 60000 65536"/>
                    <a:gd name="T14" fmla="*/ 0 60000 65536"/>
                    <a:gd name="T15" fmla="*/ 0 w 78"/>
                    <a:gd name="T16" fmla="*/ 0 h 36"/>
                    <a:gd name="T17" fmla="*/ 78 w 78"/>
                    <a:gd name="T18" fmla="*/ 36 h 36"/>
                  </a:gdLst>
                  <a:ahLst/>
                  <a:cxnLst>
                    <a:cxn ang="T10">
                      <a:pos x="T0" y="T1"/>
                    </a:cxn>
                    <a:cxn ang="T11">
                      <a:pos x="T2" y="T3"/>
                    </a:cxn>
                    <a:cxn ang="T12">
                      <a:pos x="T4" y="T5"/>
                    </a:cxn>
                    <a:cxn ang="T13">
                      <a:pos x="T6" y="T7"/>
                    </a:cxn>
                    <a:cxn ang="T14">
                      <a:pos x="T8" y="T9"/>
                    </a:cxn>
                  </a:cxnLst>
                  <a:rect l="T15" t="T16" r="T17" b="T18"/>
                  <a:pathLst>
                    <a:path w="78" h="36">
                      <a:moveTo>
                        <a:pt x="0" y="0"/>
                      </a:moveTo>
                      <a:lnTo>
                        <a:pt x="27" y="36"/>
                      </a:lnTo>
                      <a:lnTo>
                        <a:pt x="78" y="36"/>
                      </a:lnTo>
                      <a:lnTo>
                        <a:pt x="49"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36" name="Freeform 2473"/>
                <p:cNvSpPr>
                  <a:spLocks/>
                </p:cNvSpPr>
                <p:nvPr/>
              </p:nvSpPr>
              <p:spPr bwMode="auto">
                <a:xfrm>
                  <a:off x="1032" y="3613"/>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37" name="Freeform 2474"/>
                <p:cNvSpPr>
                  <a:spLocks/>
                </p:cNvSpPr>
                <p:nvPr/>
              </p:nvSpPr>
              <p:spPr bwMode="auto">
                <a:xfrm>
                  <a:off x="1053" y="3632"/>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38" name="Freeform 2475"/>
                <p:cNvSpPr>
                  <a:spLocks/>
                </p:cNvSpPr>
                <p:nvPr/>
              </p:nvSpPr>
              <p:spPr bwMode="auto">
                <a:xfrm>
                  <a:off x="1074" y="3651"/>
                  <a:ext cx="40" cy="12"/>
                </a:xfrm>
                <a:custGeom>
                  <a:avLst/>
                  <a:gdLst>
                    <a:gd name="T0" fmla="*/ 0 w 79"/>
                    <a:gd name="T1" fmla="*/ 0 h 35"/>
                    <a:gd name="T2" fmla="*/ 1 w 79"/>
                    <a:gd name="T3" fmla="*/ 0 h 35"/>
                    <a:gd name="T4" fmla="*/ 1 w 79"/>
                    <a:gd name="T5" fmla="*/ 0 h 35"/>
                    <a:gd name="T6" fmla="*/ 1 w 79"/>
                    <a:gd name="T7" fmla="*/ 0 h 35"/>
                    <a:gd name="T8" fmla="*/ 0 w 79"/>
                    <a:gd name="T9" fmla="*/ 0 h 35"/>
                    <a:gd name="T10" fmla="*/ 0 60000 65536"/>
                    <a:gd name="T11" fmla="*/ 0 60000 65536"/>
                    <a:gd name="T12" fmla="*/ 0 60000 65536"/>
                    <a:gd name="T13" fmla="*/ 0 60000 65536"/>
                    <a:gd name="T14" fmla="*/ 0 60000 65536"/>
                    <a:gd name="T15" fmla="*/ 0 w 79"/>
                    <a:gd name="T16" fmla="*/ 0 h 35"/>
                    <a:gd name="T17" fmla="*/ 79 w 79"/>
                    <a:gd name="T18" fmla="*/ 35 h 35"/>
                  </a:gdLst>
                  <a:ahLst/>
                  <a:cxnLst>
                    <a:cxn ang="T10">
                      <a:pos x="T0" y="T1"/>
                    </a:cxn>
                    <a:cxn ang="T11">
                      <a:pos x="T2" y="T3"/>
                    </a:cxn>
                    <a:cxn ang="T12">
                      <a:pos x="T4" y="T5"/>
                    </a:cxn>
                    <a:cxn ang="T13">
                      <a:pos x="T6" y="T7"/>
                    </a:cxn>
                    <a:cxn ang="T14">
                      <a:pos x="T8" y="T9"/>
                    </a:cxn>
                  </a:cxnLst>
                  <a:rect l="T15" t="T16" r="T17" b="T18"/>
                  <a:pathLst>
                    <a:path w="79" h="35">
                      <a:moveTo>
                        <a:pt x="0" y="0"/>
                      </a:moveTo>
                      <a:lnTo>
                        <a:pt x="28" y="35"/>
                      </a:lnTo>
                      <a:lnTo>
                        <a:pt x="79" y="35"/>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39" name="Freeform 2476"/>
                <p:cNvSpPr>
                  <a:spLocks/>
                </p:cNvSpPr>
                <p:nvPr/>
              </p:nvSpPr>
              <p:spPr bwMode="auto">
                <a:xfrm>
                  <a:off x="1095" y="3669"/>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8"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40" name="Freeform 2477"/>
                <p:cNvSpPr>
                  <a:spLocks/>
                </p:cNvSpPr>
                <p:nvPr/>
              </p:nvSpPr>
              <p:spPr bwMode="auto">
                <a:xfrm>
                  <a:off x="1115" y="3688"/>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41" name="Freeform 2478"/>
                <p:cNvSpPr>
                  <a:spLocks/>
                </p:cNvSpPr>
                <p:nvPr/>
              </p:nvSpPr>
              <p:spPr bwMode="auto">
                <a:xfrm>
                  <a:off x="1134" y="3707"/>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42" name="Freeform 2479"/>
                <p:cNvSpPr>
                  <a:spLocks/>
                </p:cNvSpPr>
                <p:nvPr/>
              </p:nvSpPr>
              <p:spPr bwMode="auto">
                <a:xfrm>
                  <a:off x="1154" y="3726"/>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43" name="Freeform 2480"/>
                <p:cNvSpPr>
                  <a:spLocks/>
                </p:cNvSpPr>
                <p:nvPr/>
              </p:nvSpPr>
              <p:spPr bwMode="auto">
                <a:xfrm>
                  <a:off x="1175" y="3745"/>
                  <a:ext cx="40" cy="12"/>
                </a:xfrm>
                <a:custGeom>
                  <a:avLst/>
                  <a:gdLst>
                    <a:gd name="T0" fmla="*/ 0 w 81"/>
                    <a:gd name="T1" fmla="*/ 0 h 36"/>
                    <a:gd name="T2" fmla="*/ 0 w 81"/>
                    <a:gd name="T3" fmla="*/ 0 h 36"/>
                    <a:gd name="T4" fmla="*/ 0 w 81"/>
                    <a:gd name="T5" fmla="*/ 0 h 36"/>
                    <a:gd name="T6" fmla="*/ 0 w 81"/>
                    <a:gd name="T7" fmla="*/ 0 h 36"/>
                    <a:gd name="T8" fmla="*/ 0 w 81"/>
                    <a:gd name="T9" fmla="*/ 0 h 36"/>
                    <a:gd name="T10" fmla="*/ 0 60000 65536"/>
                    <a:gd name="T11" fmla="*/ 0 60000 65536"/>
                    <a:gd name="T12" fmla="*/ 0 60000 65536"/>
                    <a:gd name="T13" fmla="*/ 0 60000 65536"/>
                    <a:gd name="T14" fmla="*/ 0 60000 65536"/>
                    <a:gd name="T15" fmla="*/ 0 w 81"/>
                    <a:gd name="T16" fmla="*/ 0 h 36"/>
                    <a:gd name="T17" fmla="*/ 81 w 81"/>
                    <a:gd name="T18" fmla="*/ 36 h 36"/>
                  </a:gdLst>
                  <a:ahLst/>
                  <a:cxnLst>
                    <a:cxn ang="T10">
                      <a:pos x="T0" y="T1"/>
                    </a:cxn>
                    <a:cxn ang="T11">
                      <a:pos x="T2" y="T3"/>
                    </a:cxn>
                    <a:cxn ang="T12">
                      <a:pos x="T4" y="T5"/>
                    </a:cxn>
                    <a:cxn ang="T13">
                      <a:pos x="T6" y="T7"/>
                    </a:cxn>
                    <a:cxn ang="T14">
                      <a:pos x="T8" y="T9"/>
                    </a:cxn>
                  </a:cxnLst>
                  <a:rect l="T15" t="T16" r="T17" b="T18"/>
                  <a:pathLst>
                    <a:path w="81" h="36">
                      <a:moveTo>
                        <a:pt x="0" y="0"/>
                      </a:moveTo>
                      <a:lnTo>
                        <a:pt x="28" y="36"/>
                      </a:lnTo>
                      <a:lnTo>
                        <a:pt x="81" y="36"/>
                      </a:lnTo>
                      <a:lnTo>
                        <a:pt x="52"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544" name="Group 2481"/>
                <p:cNvGrpSpPr>
                  <a:grpSpLocks/>
                </p:cNvGrpSpPr>
                <p:nvPr/>
              </p:nvGrpSpPr>
              <p:grpSpPr bwMode="auto">
                <a:xfrm>
                  <a:off x="700" y="3535"/>
                  <a:ext cx="49" cy="24"/>
                  <a:chOff x="700" y="3535"/>
                  <a:chExt cx="49" cy="24"/>
                </a:xfrm>
              </p:grpSpPr>
              <p:sp>
                <p:nvSpPr>
                  <p:cNvPr id="1584" name="Freeform 2482"/>
                  <p:cNvSpPr>
                    <a:spLocks/>
                  </p:cNvSpPr>
                  <p:nvPr/>
                </p:nvSpPr>
                <p:spPr bwMode="auto">
                  <a:xfrm>
                    <a:off x="700" y="3535"/>
                    <a:ext cx="12" cy="24"/>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10"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85" name="Freeform 2483"/>
                  <p:cNvSpPr>
                    <a:spLocks/>
                  </p:cNvSpPr>
                  <p:nvPr/>
                </p:nvSpPr>
                <p:spPr bwMode="auto">
                  <a:xfrm>
                    <a:off x="705" y="3536"/>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2" y="4"/>
                        </a:lnTo>
                        <a:lnTo>
                          <a:pt x="56" y="12"/>
                        </a:lnTo>
                        <a:lnTo>
                          <a:pt x="73"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86" name="Freeform 2484"/>
                  <p:cNvSpPr>
                    <a:spLocks/>
                  </p:cNvSpPr>
                  <p:nvPr/>
                </p:nvSpPr>
                <p:spPr bwMode="auto">
                  <a:xfrm>
                    <a:off x="708" y="354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6"/>
                        </a:lnTo>
                        <a:lnTo>
                          <a:pt x="11" y="0"/>
                        </a:lnTo>
                        <a:lnTo>
                          <a:pt x="67"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45" name="Group 2485"/>
                <p:cNvGrpSpPr>
                  <a:grpSpLocks/>
                </p:cNvGrpSpPr>
                <p:nvPr/>
              </p:nvGrpSpPr>
              <p:grpSpPr bwMode="auto">
                <a:xfrm>
                  <a:off x="714" y="3551"/>
                  <a:ext cx="49" cy="22"/>
                  <a:chOff x="714" y="3551"/>
                  <a:chExt cx="49" cy="22"/>
                </a:xfrm>
              </p:grpSpPr>
              <p:sp>
                <p:nvSpPr>
                  <p:cNvPr id="1581" name="Freeform 2486"/>
                  <p:cNvSpPr>
                    <a:spLocks/>
                  </p:cNvSpPr>
                  <p:nvPr/>
                </p:nvSpPr>
                <p:spPr bwMode="auto">
                  <a:xfrm>
                    <a:off x="714" y="35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9" y="0"/>
                        </a:lnTo>
                        <a:lnTo>
                          <a:pt x="24" y="30"/>
                        </a:lnTo>
                        <a:lnTo>
                          <a:pt x="15"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82" name="Freeform 2487"/>
                  <p:cNvSpPr>
                    <a:spLocks/>
                  </p:cNvSpPr>
                  <p:nvPr/>
                </p:nvSpPr>
                <p:spPr bwMode="auto">
                  <a:xfrm>
                    <a:off x="719" y="3551"/>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50" y="0"/>
                        </a:lnTo>
                        <a:lnTo>
                          <a:pt x="52" y="2"/>
                        </a:lnTo>
                        <a:lnTo>
                          <a:pt x="57" y="13"/>
                        </a:lnTo>
                        <a:lnTo>
                          <a:pt x="74" y="29"/>
                        </a:lnTo>
                        <a:lnTo>
                          <a:pt x="19" y="29"/>
                        </a:lnTo>
                        <a:lnTo>
                          <a:pt x="9"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83" name="Freeform 2488"/>
                  <p:cNvSpPr>
                    <a:spLocks/>
                  </p:cNvSpPr>
                  <p:nvPr/>
                </p:nvSpPr>
                <p:spPr bwMode="auto">
                  <a:xfrm>
                    <a:off x="722" y="35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46" name="Group 2489"/>
                <p:cNvGrpSpPr>
                  <a:grpSpLocks/>
                </p:cNvGrpSpPr>
                <p:nvPr/>
              </p:nvGrpSpPr>
              <p:grpSpPr bwMode="auto">
                <a:xfrm>
                  <a:off x="728" y="3564"/>
                  <a:ext cx="48" cy="23"/>
                  <a:chOff x="728" y="3564"/>
                  <a:chExt cx="48" cy="23"/>
                </a:xfrm>
              </p:grpSpPr>
              <p:sp>
                <p:nvSpPr>
                  <p:cNvPr id="1578" name="Freeform 2490"/>
                  <p:cNvSpPr>
                    <a:spLocks/>
                  </p:cNvSpPr>
                  <p:nvPr/>
                </p:nvSpPr>
                <p:spPr bwMode="auto">
                  <a:xfrm>
                    <a:off x="728" y="3564"/>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79" name="Freeform 2491"/>
                  <p:cNvSpPr>
                    <a:spLocks/>
                  </p:cNvSpPr>
                  <p:nvPr/>
                </p:nvSpPr>
                <p:spPr bwMode="auto">
                  <a:xfrm>
                    <a:off x="732" y="3565"/>
                    <a:ext cx="37"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50" y="0"/>
                        </a:lnTo>
                        <a:lnTo>
                          <a:pt x="51" y="3"/>
                        </a:lnTo>
                        <a:lnTo>
                          <a:pt x="56" y="12"/>
                        </a:lnTo>
                        <a:lnTo>
                          <a:pt x="72"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80" name="Freeform 2492"/>
                  <p:cNvSpPr>
                    <a:spLocks/>
                  </p:cNvSpPr>
                  <p:nvPr/>
                </p:nvSpPr>
                <p:spPr bwMode="auto">
                  <a:xfrm>
                    <a:off x="735" y="3575"/>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47" name="Group 2493"/>
                <p:cNvGrpSpPr>
                  <a:grpSpLocks/>
                </p:cNvGrpSpPr>
                <p:nvPr/>
              </p:nvGrpSpPr>
              <p:grpSpPr bwMode="auto">
                <a:xfrm>
                  <a:off x="742" y="3582"/>
                  <a:ext cx="49" cy="23"/>
                  <a:chOff x="742" y="3582"/>
                  <a:chExt cx="49" cy="23"/>
                </a:xfrm>
              </p:grpSpPr>
              <p:sp>
                <p:nvSpPr>
                  <p:cNvPr id="1575" name="Freeform 2494"/>
                  <p:cNvSpPr>
                    <a:spLocks/>
                  </p:cNvSpPr>
                  <p:nvPr/>
                </p:nvSpPr>
                <p:spPr bwMode="auto">
                  <a:xfrm>
                    <a:off x="742" y="3582"/>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6"/>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76" name="Freeform 2495"/>
                  <p:cNvSpPr>
                    <a:spLocks/>
                  </p:cNvSpPr>
                  <p:nvPr/>
                </p:nvSpPr>
                <p:spPr bwMode="auto">
                  <a:xfrm>
                    <a:off x="747" y="3582"/>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8" y="0"/>
                        </a:lnTo>
                        <a:lnTo>
                          <a:pt x="50" y="3"/>
                        </a:lnTo>
                        <a:lnTo>
                          <a:pt x="56" y="12"/>
                        </a:lnTo>
                        <a:lnTo>
                          <a:pt x="72" y="30"/>
                        </a:lnTo>
                        <a:lnTo>
                          <a:pt x="17" y="30"/>
                        </a:lnTo>
                        <a:lnTo>
                          <a:pt x="8" y="21"/>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77" name="Freeform 2496"/>
                  <p:cNvSpPr>
                    <a:spLocks/>
                  </p:cNvSpPr>
                  <p:nvPr/>
                </p:nvSpPr>
                <p:spPr bwMode="auto">
                  <a:xfrm>
                    <a:off x="750" y="359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48" name="Group 2497"/>
                <p:cNvGrpSpPr>
                  <a:grpSpLocks/>
                </p:cNvGrpSpPr>
                <p:nvPr/>
              </p:nvGrpSpPr>
              <p:grpSpPr bwMode="auto">
                <a:xfrm>
                  <a:off x="752" y="3597"/>
                  <a:ext cx="133" cy="106"/>
                  <a:chOff x="752" y="3597"/>
                  <a:chExt cx="133" cy="106"/>
                </a:xfrm>
              </p:grpSpPr>
              <p:sp>
                <p:nvSpPr>
                  <p:cNvPr id="1572" name="Freeform 2498"/>
                  <p:cNvSpPr>
                    <a:spLocks/>
                  </p:cNvSpPr>
                  <p:nvPr/>
                </p:nvSpPr>
                <p:spPr bwMode="auto">
                  <a:xfrm>
                    <a:off x="752" y="3598"/>
                    <a:ext cx="91" cy="105"/>
                  </a:xfrm>
                  <a:custGeom>
                    <a:avLst/>
                    <a:gdLst>
                      <a:gd name="T0" fmla="*/ 1 w 182"/>
                      <a:gd name="T1" fmla="*/ 0 h 314"/>
                      <a:gd name="T2" fmla="*/ 0 w 182"/>
                      <a:gd name="T3" fmla="*/ 0 h 314"/>
                      <a:gd name="T4" fmla="*/ 1 w 182"/>
                      <a:gd name="T5" fmla="*/ 0 h 314"/>
                      <a:gd name="T6" fmla="*/ 1 w 182"/>
                      <a:gd name="T7" fmla="*/ 0 h 314"/>
                      <a:gd name="T8" fmla="*/ 1 w 182"/>
                      <a:gd name="T9" fmla="*/ 0 h 314"/>
                      <a:gd name="T10" fmla="*/ 0 60000 65536"/>
                      <a:gd name="T11" fmla="*/ 0 60000 65536"/>
                      <a:gd name="T12" fmla="*/ 0 60000 65536"/>
                      <a:gd name="T13" fmla="*/ 0 60000 65536"/>
                      <a:gd name="T14" fmla="*/ 0 60000 65536"/>
                      <a:gd name="T15" fmla="*/ 0 w 182"/>
                      <a:gd name="T16" fmla="*/ 0 h 314"/>
                      <a:gd name="T17" fmla="*/ 182 w 182"/>
                      <a:gd name="T18" fmla="*/ 314 h 314"/>
                    </a:gdLst>
                    <a:ahLst/>
                    <a:cxnLst>
                      <a:cxn ang="T10">
                        <a:pos x="T0" y="T1"/>
                      </a:cxn>
                      <a:cxn ang="T11">
                        <a:pos x="T2" y="T3"/>
                      </a:cxn>
                      <a:cxn ang="T12">
                        <a:pos x="T4" y="T5"/>
                      </a:cxn>
                      <a:cxn ang="T13">
                        <a:pos x="T6" y="T7"/>
                      </a:cxn>
                      <a:cxn ang="T14">
                        <a:pos x="T8" y="T9"/>
                      </a:cxn>
                    </a:cxnLst>
                    <a:rect l="T15" t="T16" r="T17" b="T18"/>
                    <a:pathLst>
                      <a:path w="182" h="314">
                        <a:moveTo>
                          <a:pt x="171" y="314"/>
                        </a:moveTo>
                        <a:lnTo>
                          <a:pt x="0" y="27"/>
                        </a:lnTo>
                        <a:lnTo>
                          <a:pt x="13" y="0"/>
                        </a:lnTo>
                        <a:lnTo>
                          <a:pt x="182" y="278"/>
                        </a:lnTo>
                        <a:lnTo>
                          <a:pt x="171" y="31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73" name="Freeform 2499"/>
                  <p:cNvSpPr>
                    <a:spLocks/>
                  </p:cNvSpPr>
                  <p:nvPr/>
                </p:nvSpPr>
                <p:spPr bwMode="auto">
                  <a:xfrm>
                    <a:off x="759" y="3597"/>
                    <a:ext cx="118" cy="94"/>
                  </a:xfrm>
                  <a:custGeom>
                    <a:avLst/>
                    <a:gdLst>
                      <a:gd name="T0" fmla="*/ 1 w 235"/>
                      <a:gd name="T1" fmla="*/ 0 h 281"/>
                      <a:gd name="T2" fmla="*/ 1 w 235"/>
                      <a:gd name="T3" fmla="*/ 0 h 281"/>
                      <a:gd name="T4" fmla="*/ 1 w 235"/>
                      <a:gd name="T5" fmla="*/ 0 h 281"/>
                      <a:gd name="T6" fmla="*/ 1 w 235"/>
                      <a:gd name="T7" fmla="*/ 0 h 281"/>
                      <a:gd name="T8" fmla="*/ 2 w 235"/>
                      <a:gd name="T9" fmla="*/ 0 h 281"/>
                      <a:gd name="T10" fmla="*/ 2 w 235"/>
                      <a:gd name="T11" fmla="*/ 0 h 281"/>
                      <a:gd name="T12" fmla="*/ 1 w 235"/>
                      <a:gd name="T13" fmla="*/ 0 h 281"/>
                      <a:gd name="T14" fmla="*/ 0 w 235"/>
                      <a:gd name="T15" fmla="*/ 0 h 281"/>
                      <a:gd name="T16" fmla="*/ 1 w 235"/>
                      <a:gd name="T17" fmla="*/ 0 h 28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35"/>
                      <a:gd name="T28" fmla="*/ 0 h 281"/>
                      <a:gd name="T29" fmla="*/ 235 w 235"/>
                      <a:gd name="T30" fmla="*/ 281 h 28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35" h="281">
                        <a:moveTo>
                          <a:pt x="1" y="0"/>
                        </a:moveTo>
                        <a:lnTo>
                          <a:pt x="56" y="0"/>
                        </a:lnTo>
                        <a:lnTo>
                          <a:pt x="58" y="0"/>
                        </a:lnTo>
                        <a:lnTo>
                          <a:pt x="65" y="10"/>
                        </a:lnTo>
                        <a:lnTo>
                          <a:pt x="235" y="281"/>
                        </a:lnTo>
                        <a:lnTo>
                          <a:pt x="165" y="277"/>
                        </a:lnTo>
                        <a:lnTo>
                          <a:pt x="9" y="19"/>
                        </a:lnTo>
                        <a:lnTo>
                          <a:pt x="0" y="4"/>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74" name="Freeform 2500"/>
                  <p:cNvSpPr>
                    <a:spLocks/>
                  </p:cNvSpPr>
                  <p:nvPr/>
                </p:nvSpPr>
                <p:spPr bwMode="auto">
                  <a:xfrm>
                    <a:off x="838" y="3691"/>
                    <a:ext cx="47" cy="12"/>
                  </a:xfrm>
                  <a:custGeom>
                    <a:avLst/>
                    <a:gdLst>
                      <a:gd name="T0" fmla="*/ 0 w 95"/>
                      <a:gd name="T1" fmla="*/ 0 h 36"/>
                      <a:gd name="T2" fmla="*/ 0 w 95"/>
                      <a:gd name="T3" fmla="*/ 0 h 36"/>
                      <a:gd name="T4" fmla="*/ 0 w 95"/>
                      <a:gd name="T5" fmla="*/ 0 h 36"/>
                      <a:gd name="T6" fmla="*/ 0 w 95"/>
                      <a:gd name="T7" fmla="*/ 0 h 36"/>
                      <a:gd name="T8" fmla="*/ 0 w 95"/>
                      <a:gd name="T9" fmla="*/ 0 h 36"/>
                      <a:gd name="T10" fmla="*/ 0 w 95"/>
                      <a:gd name="T11" fmla="*/ 0 h 36"/>
                      <a:gd name="T12" fmla="*/ 0 w 95"/>
                      <a:gd name="T13" fmla="*/ 0 h 36"/>
                      <a:gd name="T14" fmla="*/ 0 60000 65536"/>
                      <a:gd name="T15" fmla="*/ 0 60000 65536"/>
                      <a:gd name="T16" fmla="*/ 0 60000 65536"/>
                      <a:gd name="T17" fmla="*/ 0 60000 65536"/>
                      <a:gd name="T18" fmla="*/ 0 60000 65536"/>
                      <a:gd name="T19" fmla="*/ 0 60000 65536"/>
                      <a:gd name="T20" fmla="*/ 0 60000 65536"/>
                      <a:gd name="T21" fmla="*/ 0 w 95"/>
                      <a:gd name="T22" fmla="*/ 0 h 36"/>
                      <a:gd name="T23" fmla="*/ 95 w 95"/>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95" h="36">
                        <a:moveTo>
                          <a:pt x="0" y="36"/>
                        </a:moveTo>
                        <a:lnTo>
                          <a:pt x="2" y="19"/>
                        </a:lnTo>
                        <a:lnTo>
                          <a:pt x="8" y="7"/>
                        </a:lnTo>
                        <a:lnTo>
                          <a:pt x="12" y="0"/>
                        </a:lnTo>
                        <a:lnTo>
                          <a:pt x="76" y="0"/>
                        </a:lnTo>
                        <a:lnTo>
                          <a:pt x="95"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49" name="Group 2501"/>
                <p:cNvGrpSpPr>
                  <a:grpSpLocks/>
                </p:cNvGrpSpPr>
                <p:nvPr/>
              </p:nvGrpSpPr>
              <p:grpSpPr bwMode="auto">
                <a:xfrm>
                  <a:off x="844" y="3694"/>
                  <a:ext cx="48" cy="23"/>
                  <a:chOff x="844" y="3694"/>
                  <a:chExt cx="48" cy="23"/>
                </a:xfrm>
              </p:grpSpPr>
              <p:sp>
                <p:nvSpPr>
                  <p:cNvPr id="1569" name="Freeform 2502"/>
                  <p:cNvSpPr>
                    <a:spLocks/>
                  </p:cNvSpPr>
                  <p:nvPr/>
                </p:nvSpPr>
                <p:spPr bwMode="auto">
                  <a:xfrm>
                    <a:off x="844" y="3694"/>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9" y="0"/>
                        </a:lnTo>
                        <a:lnTo>
                          <a:pt x="24" y="32"/>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70" name="Freeform 2503"/>
                  <p:cNvSpPr>
                    <a:spLocks/>
                  </p:cNvSpPr>
                  <p:nvPr/>
                </p:nvSpPr>
                <p:spPr bwMode="auto">
                  <a:xfrm>
                    <a:off x="848" y="369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1" y="3"/>
                        </a:lnTo>
                        <a:lnTo>
                          <a:pt x="57" y="12"/>
                        </a:lnTo>
                        <a:lnTo>
                          <a:pt x="74" y="30"/>
                        </a:lnTo>
                        <a:lnTo>
                          <a:pt x="19" y="30"/>
                        </a:lnTo>
                        <a:lnTo>
                          <a:pt x="9" y="21"/>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71" name="Freeform 2504"/>
                  <p:cNvSpPr>
                    <a:spLocks/>
                  </p:cNvSpPr>
                  <p:nvPr/>
                </p:nvSpPr>
                <p:spPr bwMode="auto">
                  <a:xfrm>
                    <a:off x="851" y="3706"/>
                    <a:ext cx="41" cy="11"/>
                  </a:xfrm>
                  <a:custGeom>
                    <a:avLst/>
                    <a:gdLst>
                      <a:gd name="T0" fmla="*/ 0 w 81"/>
                      <a:gd name="T1" fmla="*/ 0 h 34"/>
                      <a:gd name="T2" fmla="*/ 1 w 81"/>
                      <a:gd name="T3" fmla="*/ 0 h 34"/>
                      <a:gd name="T4" fmla="*/ 1 w 81"/>
                      <a:gd name="T5" fmla="*/ 0 h 34"/>
                      <a:gd name="T6" fmla="*/ 1 w 81"/>
                      <a:gd name="T7" fmla="*/ 0 h 34"/>
                      <a:gd name="T8" fmla="*/ 1 w 81"/>
                      <a:gd name="T9" fmla="*/ 0 h 34"/>
                      <a:gd name="T10" fmla="*/ 1 w 81"/>
                      <a:gd name="T11" fmla="*/ 0 h 34"/>
                      <a:gd name="T12" fmla="*/ 0 w 81"/>
                      <a:gd name="T13" fmla="*/ 0 h 34"/>
                      <a:gd name="T14" fmla="*/ 0 60000 65536"/>
                      <a:gd name="T15" fmla="*/ 0 60000 65536"/>
                      <a:gd name="T16" fmla="*/ 0 60000 65536"/>
                      <a:gd name="T17" fmla="*/ 0 60000 65536"/>
                      <a:gd name="T18" fmla="*/ 0 60000 65536"/>
                      <a:gd name="T19" fmla="*/ 0 60000 65536"/>
                      <a:gd name="T20" fmla="*/ 0 60000 65536"/>
                      <a:gd name="T21" fmla="*/ 0 w 81"/>
                      <a:gd name="T22" fmla="*/ 0 h 34"/>
                      <a:gd name="T23" fmla="*/ 81 w 81"/>
                      <a:gd name="T24" fmla="*/ 34 h 3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4">
                        <a:moveTo>
                          <a:pt x="0" y="34"/>
                        </a:moveTo>
                        <a:lnTo>
                          <a:pt x="1" y="19"/>
                        </a:lnTo>
                        <a:lnTo>
                          <a:pt x="5" y="6"/>
                        </a:lnTo>
                        <a:lnTo>
                          <a:pt x="10" y="0"/>
                        </a:lnTo>
                        <a:lnTo>
                          <a:pt x="67" y="0"/>
                        </a:lnTo>
                        <a:lnTo>
                          <a:pt x="81" y="34"/>
                        </a:lnTo>
                        <a:lnTo>
                          <a:pt x="0" y="34"/>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50" name="Group 2505"/>
                <p:cNvGrpSpPr>
                  <a:grpSpLocks/>
                </p:cNvGrpSpPr>
                <p:nvPr/>
              </p:nvGrpSpPr>
              <p:grpSpPr bwMode="auto">
                <a:xfrm>
                  <a:off x="857" y="3710"/>
                  <a:ext cx="49" cy="22"/>
                  <a:chOff x="857" y="3710"/>
                  <a:chExt cx="49" cy="22"/>
                </a:xfrm>
              </p:grpSpPr>
              <p:sp>
                <p:nvSpPr>
                  <p:cNvPr id="1566" name="Freeform 2506"/>
                  <p:cNvSpPr>
                    <a:spLocks/>
                  </p:cNvSpPr>
                  <p:nvPr/>
                </p:nvSpPr>
                <p:spPr bwMode="auto">
                  <a:xfrm>
                    <a:off x="857" y="3710"/>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67" name="Freeform 2507"/>
                  <p:cNvSpPr>
                    <a:spLocks/>
                  </p:cNvSpPr>
                  <p:nvPr/>
                </p:nvSpPr>
                <p:spPr bwMode="auto">
                  <a:xfrm>
                    <a:off x="862" y="371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68" name="Freeform 2508"/>
                  <p:cNvSpPr>
                    <a:spLocks/>
                  </p:cNvSpPr>
                  <p:nvPr/>
                </p:nvSpPr>
                <p:spPr bwMode="auto">
                  <a:xfrm>
                    <a:off x="865" y="3720"/>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51" name="Group 2509"/>
                <p:cNvGrpSpPr>
                  <a:grpSpLocks/>
                </p:cNvGrpSpPr>
                <p:nvPr/>
              </p:nvGrpSpPr>
              <p:grpSpPr bwMode="auto">
                <a:xfrm>
                  <a:off x="1086" y="3766"/>
                  <a:ext cx="49" cy="23"/>
                  <a:chOff x="1086" y="3766"/>
                  <a:chExt cx="49" cy="23"/>
                </a:xfrm>
              </p:grpSpPr>
              <p:sp>
                <p:nvSpPr>
                  <p:cNvPr id="1563" name="Freeform 2510"/>
                  <p:cNvSpPr>
                    <a:spLocks/>
                  </p:cNvSpPr>
                  <p:nvPr/>
                </p:nvSpPr>
                <p:spPr bwMode="auto">
                  <a:xfrm>
                    <a:off x="1086" y="3766"/>
                    <a:ext cx="11" cy="23"/>
                  </a:xfrm>
                  <a:custGeom>
                    <a:avLst/>
                    <a:gdLst>
                      <a:gd name="T0" fmla="*/ 1 w 22"/>
                      <a:gd name="T1" fmla="*/ 0 h 69"/>
                      <a:gd name="T2" fmla="*/ 0 w 22"/>
                      <a:gd name="T3" fmla="*/ 0 h 69"/>
                      <a:gd name="T4" fmla="*/ 1 w 22"/>
                      <a:gd name="T5" fmla="*/ 0 h 69"/>
                      <a:gd name="T6" fmla="*/ 1 w 22"/>
                      <a:gd name="T7" fmla="*/ 0 h 69"/>
                      <a:gd name="T8" fmla="*/ 1 w 22"/>
                      <a:gd name="T9" fmla="*/ 0 h 69"/>
                      <a:gd name="T10" fmla="*/ 0 60000 65536"/>
                      <a:gd name="T11" fmla="*/ 0 60000 65536"/>
                      <a:gd name="T12" fmla="*/ 0 60000 65536"/>
                      <a:gd name="T13" fmla="*/ 0 60000 65536"/>
                      <a:gd name="T14" fmla="*/ 0 60000 65536"/>
                      <a:gd name="T15" fmla="*/ 0 w 22"/>
                      <a:gd name="T16" fmla="*/ 0 h 69"/>
                      <a:gd name="T17" fmla="*/ 22 w 22"/>
                      <a:gd name="T18" fmla="*/ 69 h 69"/>
                    </a:gdLst>
                    <a:ahLst/>
                    <a:cxnLst>
                      <a:cxn ang="T10">
                        <a:pos x="T0" y="T1"/>
                      </a:cxn>
                      <a:cxn ang="T11">
                        <a:pos x="T2" y="T3"/>
                      </a:cxn>
                      <a:cxn ang="T12">
                        <a:pos x="T4" y="T5"/>
                      </a:cxn>
                      <a:cxn ang="T13">
                        <a:pos x="T6" y="T7"/>
                      </a:cxn>
                      <a:cxn ang="T14">
                        <a:pos x="T8" y="T9"/>
                      </a:cxn>
                    </a:cxnLst>
                    <a:rect l="T15" t="T16" r="T17" b="T18"/>
                    <a:pathLst>
                      <a:path w="22" h="69">
                        <a:moveTo>
                          <a:pt x="13" y="69"/>
                        </a:moveTo>
                        <a:lnTo>
                          <a:pt x="0" y="27"/>
                        </a:lnTo>
                        <a:lnTo>
                          <a:pt x="9" y="0"/>
                        </a:lnTo>
                        <a:lnTo>
                          <a:pt x="22" y="32"/>
                        </a:lnTo>
                        <a:lnTo>
                          <a:pt x="13" y="69"/>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64" name="Freeform 2511"/>
                  <p:cNvSpPr>
                    <a:spLocks/>
                  </p:cNvSpPr>
                  <p:nvPr/>
                </p:nvSpPr>
                <p:spPr bwMode="auto">
                  <a:xfrm>
                    <a:off x="1090" y="3767"/>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3" y="0"/>
                        </a:moveTo>
                        <a:lnTo>
                          <a:pt x="51" y="0"/>
                        </a:lnTo>
                        <a:lnTo>
                          <a:pt x="53" y="4"/>
                        </a:lnTo>
                        <a:lnTo>
                          <a:pt x="56" y="13"/>
                        </a:lnTo>
                        <a:lnTo>
                          <a:pt x="74" y="31"/>
                        </a:lnTo>
                        <a:lnTo>
                          <a:pt x="18" y="31"/>
                        </a:lnTo>
                        <a:lnTo>
                          <a:pt x="9" y="22"/>
                        </a:lnTo>
                        <a:lnTo>
                          <a:pt x="0" y="6"/>
                        </a:lnTo>
                        <a:lnTo>
                          <a:pt x="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65" name="Freeform 2512"/>
                  <p:cNvSpPr>
                    <a:spLocks/>
                  </p:cNvSpPr>
                  <p:nvPr/>
                </p:nvSpPr>
                <p:spPr bwMode="auto">
                  <a:xfrm>
                    <a:off x="1093" y="3777"/>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6"/>
                        </a:lnTo>
                        <a:lnTo>
                          <a:pt x="11" y="0"/>
                        </a:lnTo>
                        <a:lnTo>
                          <a:pt x="68"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52" name="Group 2513"/>
                <p:cNvGrpSpPr>
                  <a:grpSpLocks/>
                </p:cNvGrpSpPr>
                <p:nvPr/>
              </p:nvGrpSpPr>
              <p:grpSpPr bwMode="auto">
                <a:xfrm>
                  <a:off x="934" y="3740"/>
                  <a:ext cx="48" cy="23"/>
                  <a:chOff x="934" y="3740"/>
                  <a:chExt cx="48" cy="23"/>
                </a:xfrm>
              </p:grpSpPr>
              <p:sp>
                <p:nvSpPr>
                  <p:cNvPr id="1560" name="Freeform 2514"/>
                  <p:cNvSpPr>
                    <a:spLocks/>
                  </p:cNvSpPr>
                  <p:nvPr/>
                </p:nvSpPr>
                <p:spPr bwMode="auto">
                  <a:xfrm>
                    <a:off x="934" y="3740"/>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9"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61" name="Freeform 2515"/>
                  <p:cNvSpPr>
                    <a:spLocks/>
                  </p:cNvSpPr>
                  <p:nvPr/>
                </p:nvSpPr>
                <p:spPr bwMode="auto">
                  <a:xfrm>
                    <a:off x="938" y="3741"/>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4"/>
                        </a:lnTo>
                        <a:lnTo>
                          <a:pt x="57" y="13"/>
                        </a:lnTo>
                        <a:lnTo>
                          <a:pt x="74" y="30"/>
                        </a:lnTo>
                        <a:lnTo>
                          <a:pt x="19" y="30"/>
                        </a:lnTo>
                        <a:lnTo>
                          <a:pt x="9" y="22"/>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62" name="Freeform 2516"/>
                  <p:cNvSpPr>
                    <a:spLocks/>
                  </p:cNvSpPr>
                  <p:nvPr/>
                </p:nvSpPr>
                <p:spPr bwMode="auto">
                  <a:xfrm>
                    <a:off x="941" y="375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6"/>
                        </a:lnTo>
                        <a:lnTo>
                          <a:pt x="10" y="0"/>
                        </a:lnTo>
                        <a:lnTo>
                          <a:pt x="67" y="0"/>
                        </a:lnTo>
                        <a:lnTo>
                          <a:pt x="81"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53" name="Group 2517"/>
                <p:cNvGrpSpPr>
                  <a:grpSpLocks/>
                </p:cNvGrpSpPr>
                <p:nvPr/>
              </p:nvGrpSpPr>
              <p:grpSpPr bwMode="auto">
                <a:xfrm>
                  <a:off x="943" y="3754"/>
                  <a:ext cx="49" cy="23"/>
                  <a:chOff x="943" y="3754"/>
                  <a:chExt cx="49" cy="23"/>
                </a:xfrm>
              </p:grpSpPr>
              <p:sp>
                <p:nvSpPr>
                  <p:cNvPr id="1557" name="Freeform 2518"/>
                  <p:cNvSpPr>
                    <a:spLocks/>
                  </p:cNvSpPr>
                  <p:nvPr/>
                </p:nvSpPr>
                <p:spPr bwMode="auto">
                  <a:xfrm>
                    <a:off x="943" y="3754"/>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58" name="Freeform 2519"/>
                  <p:cNvSpPr>
                    <a:spLocks/>
                  </p:cNvSpPr>
                  <p:nvPr/>
                </p:nvSpPr>
                <p:spPr bwMode="auto">
                  <a:xfrm>
                    <a:off x="948" y="375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1" y="0"/>
                        </a:moveTo>
                        <a:lnTo>
                          <a:pt x="49" y="0"/>
                        </a:lnTo>
                        <a:lnTo>
                          <a:pt x="50" y="3"/>
                        </a:lnTo>
                        <a:lnTo>
                          <a:pt x="57" y="12"/>
                        </a:lnTo>
                        <a:lnTo>
                          <a:pt x="74"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59" name="Freeform 2520"/>
                  <p:cNvSpPr>
                    <a:spLocks/>
                  </p:cNvSpPr>
                  <p:nvPr/>
                </p:nvSpPr>
                <p:spPr bwMode="auto">
                  <a:xfrm>
                    <a:off x="951" y="3765"/>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554" name="Freeform 2521"/>
                <p:cNvSpPr>
                  <a:spLocks/>
                </p:cNvSpPr>
                <p:nvPr/>
              </p:nvSpPr>
              <p:spPr bwMode="auto">
                <a:xfrm>
                  <a:off x="987" y="3753"/>
                  <a:ext cx="25" cy="43"/>
                </a:xfrm>
                <a:custGeom>
                  <a:avLst/>
                  <a:gdLst>
                    <a:gd name="T0" fmla="*/ 0 w 51"/>
                    <a:gd name="T1" fmla="*/ 0 h 128"/>
                    <a:gd name="T2" fmla="*/ 0 w 51"/>
                    <a:gd name="T3" fmla="*/ 0 h 128"/>
                    <a:gd name="T4" fmla="*/ 0 w 51"/>
                    <a:gd name="T5" fmla="*/ 0 h 128"/>
                    <a:gd name="T6" fmla="*/ 0 w 51"/>
                    <a:gd name="T7" fmla="*/ 0 h 128"/>
                    <a:gd name="T8" fmla="*/ 0 w 51"/>
                    <a:gd name="T9" fmla="*/ 0 h 128"/>
                    <a:gd name="T10" fmla="*/ 0 w 51"/>
                    <a:gd name="T11" fmla="*/ 0 h 128"/>
                    <a:gd name="T12" fmla="*/ 0 w 51"/>
                    <a:gd name="T13" fmla="*/ 0 h 128"/>
                    <a:gd name="T14" fmla="*/ 0 60000 65536"/>
                    <a:gd name="T15" fmla="*/ 0 60000 65536"/>
                    <a:gd name="T16" fmla="*/ 0 60000 65536"/>
                    <a:gd name="T17" fmla="*/ 0 60000 65536"/>
                    <a:gd name="T18" fmla="*/ 0 60000 65536"/>
                    <a:gd name="T19" fmla="*/ 0 60000 65536"/>
                    <a:gd name="T20" fmla="*/ 0 60000 65536"/>
                    <a:gd name="T21" fmla="*/ 0 w 51"/>
                    <a:gd name="T22" fmla="*/ 0 h 128"/>
                    <a:gd name="T23" fmla="*/ 51 w 51"/>
                    <a:gd name="T24" fmla="*/ 128 h 12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1" h="128">
                      <a:moveTo>
                        <a:pt x="40" y="128"/>
                      </a:moveTo>
                      <a:lnTo>
                        <a:pt x="0" y="29"/>
                      </a:lnTo>
                      <a:lnTo>
                        <a:pt x="0" y="20"/>
                      </a:lnTo>
                      <a:lnTo>
                        <a:pt x="2" y="11"/>
                      </a:lnTo>
                      <a:lnTo>
                        <a:pt x="10" y="0"/>
                      </a:lnTo>
                      <a:lnTo>
                        <a:pt x="51" y="91"/>
                      </a:lnTo>
                      <a:lnTo>
                        <a:pt x="40" y="12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55" name="Freeform 2522"/>
                <p:cNvSpPr>
                  <a:spLocks/>
                </p:cNvSpPr>
                <p:nvPr/>
              </p:nvSpPr>
              <p:spPr bwMode="auto">
                <a:xfrm>
                  <a:off x="992" y="3753"/>
                  <a:ext cx="91" cy="29"/>
                </a:xfrm>
                <a:custGeom>
                  <a:avLst/>
                  <a:gdLst>
                    <a:gd name="T0" fmla="*/ 0 w 183"/>
                    <a:gd name="T1" fmla="*/ 0 h 85"/>
                    <a:gd name="T2" fmla="*/ 0 w 183"/>
                    <a:gd name="T3" fmla="*/ 0 h 85"/>
                    <a:gd name="T4" fmla="*/ 0 w 183"/>
                    <a:gd name="T5" fmla="*/ 0 h 85"/>
                    <a:gd name="T6" fmla="*/ 0 w 183"/>
                    <a:gd name="T7" fmla="*/ 0 h 85"/>
                    <a:gd name="T8" fmla="*/ 0 w 183"/>
                    <a:gd name="T9" fmla="*/ 0 h 85"/>
                    <a:gd name="T10" fmla="*/ 1 w 183"/>
                    <a:gd name="T11" fmla="*/ 0 h 85"/>
                    <a:gd name="T12" fmla="*/ 1 w 183"/>
                    <a:gd name="T13" fmla="*/ 0 h 85"/>
                    <a:gd name="T14" fmla="*/ 1 w 183"/>
                    <a:gd name="T15" fmla="*/ 0 h 85"/>
                    <a:gd name="T16" fmla="*/ 1 w 183"/>
                    <a:gd name="T17" fmla="*/ 0 h 85"/>
                    <a:gd name="T18" fmla="*/ 0 w 183"/>
                    <a:gd name="T19" fmla="*/ 0 h 85"/>
                    <a:gd name="T20" fmla="*/ 0 w 183"/>
                    <a:gd name="T21" fmla="*/ 0 h 85"/>
                    <a:gd name="T22" fmla="*/ 0 w 183"/>
                    <a:gd name="T23" fmla="*/ 0 h 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83"/>
                    <a:gd name="T37" fmla="*/ 0 h 85"/>
                    <a:gd name="T38" fmla="*/ 183 w 183"/>
                    <a:gd name="T39" fmla="*/ 85 h 8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83" h="85">
                      <a:moveTo>
                        <a:pt x="0" y="0"/>
                      </a:moveTo>
                      <a:lnTo>
                        <a:pt x="64" y="0"/>
                      </a:lnTo>
                      <a:lnTo>
                        <a:pt x="67" y="13"/>
                      </a:lnTo>
                      <a:lnTo>
                        <a:pt x="75" y="28"/>
                      </a:lnTo>
                      <a:lnTo>
                        <a:pt x="84" y="42"/>
                      </a:lnTo>
                      <a:lnTo>
                        <a:pt x="158" y="42"/>
                      </a:lnTo>
                      <a:lnTo>
                        <a:pt x="163" y="55"/>
                      </a:lnTo>
                      <a:lnTo>
                        <a:pt x="172" y="67"/>
                      </a:lnTo>
                      <a:lnTo>
                        <a:pt x="183" y="85"/>
                      </a:lnTo>
                      <a:lnTo>
                        <a:pt x="64" y="85"/>
                      </a:lnTo>
                      <a:lnTo>
                        <a:pt x="41" y="85"/>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56" name="Freeform 2523"/>
                <p:cNvSpPr>
                  <a:spLocks/>
                </p:cNvSpPr>
                <p:nvPr/>
              </p:nvSpPr>
              <p:spPr bwMode="auto">
                <a:xfrm>
                  <a:off x="1008" y="3782"/>
                  <a:ext cx="81" cy="12"/>
                </a:xfrm>
                <a:custGeom>
                  <a:avLst/>
                  <a:gdLst>
                    <a:gd name="T0" fmla="*/ 0 w 160"/>
                    <a:gd name="T1" fmla="*/ 0 h 36"/>
                    <a:gd name="T2" fmla="*/ 1 w 160"/>
                    <a:gd name="T3" fmla="*/ 0 h 36"/>
                    <a:gd name="T4" fmla="*/ 1 w 160"/>
                    <a:gd name="T5" fmla="*/ 0 h 36"/>
                    <a:gd name="T6" fmla="*/ 1 w 160"/>
                    <a:gd name="T7" fmla="*/ 0 h 36"/>
                    <a:gd name="T8" fmla="*/ 2 w 160"/>
                    <a:gd name="T9" fmla="*/ 0 h 36"/>
                    <a:gd name="T10" fmla="*/ 2 w 160"/>
                    <a:gd name="T11" fmla="*/ 0 h 36"/>
                    <a:gd name="T12" fmla="*/ 0 w 160"/>
                    <a:gd name="T13" fmla="*/ 0 h 36"/>
                    <a:gd name="T14" fmla="*/ 0 60000 65536"/>
                    <a:gd name="T15" fmla="*/ 0 60000 65536"/>
                    <a:gd name="T16" fmla="*/ 0 60000 65536"/>
                    <a:gd name="T17" fmla="*/ 0 60000 65536"/>
                    <a:gd name="T18" fmla="*/ 0 60000 65536"/>
                    <a:gd name="T19" fmla="*/ 0 60000 65536"/>
                    <a:gd name="T20" fmla="*/ 0 60000 65536"/>
                    <a:gd name="T21" fmla="*/ 0 w 160"/>
                    <a:gd name="T22" fmla="*/ 0 h 36"/>
                    <a:gd name="T23" fmla="*/ 160 w 16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60" h="36">
                      <a:moveTo>
                        <a:pt x="0" y="36"/>
                      </a:moveTo>
                      <a:lnTo>
                        <a:pt x="1" y="20"/>
                      </a:lnTo>
                      <a:lnTo>
                        <a:pt x="7" y="8"/>
                      </a:lnTo>
                      <a:lnTo>
                        <a:pt x="10" y="0"/>
                      </a:lnTo>
                      <a:lnTo>
                        <a:pt x="150" y="0"/>
                      </a:lnTo>
                      <a:lnTo>
                        <a:pt x="160"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51" name="Group 2524"/>
              <p:cNvGrpSpPr>
                <a:grpSpLocks/>
              </p:cNvGrpSpPr>
              <p:nvPr/>
            </p:nvGrpSpPr>
            <p:grpSpPr bwMode="auto">
              <a:xfrm>
                <a:off x="920" y="3821"/>
                <a:ext cx="413" cy="50"/>
                <a:chOff x="920" y="3821"/>
                <a:chExt cx="413" cy="50"/>
              </a:xfrm>
            </p:grpSpPr>
            <p:sp>
              <p:nvSpPr>
                <p:cNvPr id="1472" name="Freeform 2525"/>
                <p:cNvSpPr>
                  <a:spLocks/>
                </p:cNvSpPr>
                <p:nvPr/>
              </p:nvSpPr>
              <p:spPr bwMode="auto">
                <a:xfrm>
                  <a:off x="920" y="3821"/>
                  <a:ext cx="413" cy="50"/>
                </a:xfrm>
                <a:custGeom>
                  <a:avLst/>
                  <a:gdLst>
                    <a:gd name="T0" fmla="*/ 1 w 825"/>
                    <a:gd name="T1" fmla="*/ 0 h 151"/>
                    <a:gd name="T2" fmla="*/ 1 w 825"/>
                    <a:gd name="T3" fmla="*/ 0 h 151"/>
                    <a:gd name="T4" fmla="*/ 1 w 825"/>
                    <a:gd name="T5" fmla="*/ 0 h 151"/>
                    <a:gd name="T6" fmla="*/ 0 w 825"/>
                    <a:gd name="T7" fmla="*/ 0 h 151"/>
                    <a:gd name="T8" fmla="*/ 1 w 825"/>
                    <a:gd name="T9" fmla="*/ 0 h 151"/>
                    <a:gd name="T10" fmla="*/ 1 w 825"/>
                    <a:gd name="T11" fmla="*/ 0 h 151"/>
                    <a:gd name="T12" fmla="*/ 1 w 825"/>
                    <a:gd name="T13" fmla="*/ 0 h 151"/>
                    <a:gd name="T14" fmla="*/ 7 w 825"/>
                    <a:gd name="T15" fmla="*/ 0 h 151"/>
                    <a:gd name="T16" fmla="*/ 7 w 825"/>
                    <a:gd name="T17" fmla="*/ 0 h 151"/>
                    <a:gd name="T18" fmla="*/ 7 w 825"/>
                    <a:gd name="T19" fmla="*/ 0 h 151"/>
                    <a:gd name="T20" fmla="*/ 7 w 825"/>
                    <a:gd name="T21" fmla="*/ 0 h 151"/>
                    <a:gd name="T22" fmla="*/ 7 w 825"/>
                    <a:gd name="T23" fmla="*/ 0 h 151"/>
                    <a:gd name="T24" fmla="*/ 7 w 825"/>
                    <a:gd name="T25" fmla="*/ 0 h 151"/>
                    <a:gd name="T26" fmla="*/ 7 w 825"/>
                    <a:gd name="T27" fmla="*/ 0 h 151"/>
                    <a:gd name="T28" fmla="*/ 1 w 825"/>
                    <a:gd name="T29" fmla="*/ 0 h 15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825"/>
                    <a:gd name="T46" fmla="*/ 0 h 151"/>
                    <a:gd name="T47" fmla="*/ 825 w 825"/>
                    <a:gd name="T48" fmla="*/ 151 h 15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825" h="151">
                      <a:moveTo>
                        <a:pt x="35" y="13"/>
                      </a:moveTo>
                      <a:lnTo>
                        <a:pt x="17" y="27"/>
                      </a:lnTo>
                      <a:lnTo>
                        <a:pt x="9" y="48"/>
                      </a:lnTo>
                      <a:lnTo>
                        <a:pt x="0" y="97"/>
                      </a:lnTo>
                      <a:lnTo>
                        <a:pt x="4" y="124"/>
                      </a:lnTo>
                      <a:lnTo>
                        <a:pt x="13" y="138"/>
                      </a:lnTo>
                      <a:lnTo>
                        <a:pt x="26" y="151"/>
                      </a:lnTo>
                      <a:lnTo>
                        <a:pt x="783" y="142"/>
                      </a:lnTo>
                      <a:lnTo>
                        <a:pt x="807" y="128"/>
                      </a:lnTo>
                      <a:lnTo>
                        <a:pt x="816" y="107"/>
                      </a:lnTo>
                      <a:lnTo>
                        <a:pt x="825" y="61"/>
                      </a:lnTo>
                      <a:lnTo>
                        <a:pt x="821" y="27"/>
                      </a:lnTo>
                      <a:lnTo>
                        <a:pt x="806" y="9"/>
                      </a:lnTo>
                      <a:lnTo>
                        <a:pt x="785" y="0"/>
                      </a:lnTo>
                      <a:lnTo>
                        <a:pt x="35" y="13"/>
                      </a:lnTo>
                      <a:close/>
                    </a:path>
                  </a:pathLst>
                </a:custGeom>
                <a:solidFill>
                  <a:srgbClr val="202020"/>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73" name="Freeform 2526"/>
                <p:cNvSpPr>
                  <a:spLocks/>
                </p:cNvSpPr>
                <p:nvPr/>
              </p:nvSpPr>
              <p:spPr bwMode="auto">
                <a:xfrm>
                  <a:off x="972" y="3833"/>
                  <a:ext cx="330" cy="27"/>
                </a:xfrm>
                <a:custGeom>
                  <a:avLst/>
                  <a:gdLst>
                    <a:gd name="T0" fmla="*/ 1 w 658"/>
                    <a:gd name="T1" fmla="*/ 0 h 79"/>
                    <a:gd name="T2" fmla="*/ 0 w 658"/>
                    <a:gd name="T3" fmla="*/ 0 h 79"/>
                    <a:gd name="T4" fmla="*/ 2 w 658"/>
                    <a:gd name="T5" fmla="*/ 0 h 79"/>
                    <a:gd name="T6" fmla="*/ 2 w 658"/>
                    <a:gd name="T7" fmla="*/ 0 h 79"/>
                    <a:gd name="T8" fmla="*/ 4 w 658"/>
                    <a:gd name="T9" fmla="*/ 0 h 79"/>
                    <a:gd name="T10" fmla="*/ 4 w 658"/>
                    <a:gd name="T11" fmla="*/ 0 h 79"/>
                    <a:gd name="T12" fmla="*/ 6 w 658"/>
                    <a:gd name="T13" fmla="*/ 0 h 79"/>
                    <a:gd name="T14" fmla="*/ 6 w 658"/>
                    <a:gd name="T15" fmla="*/ 0 h 79"/>
                    <a:gd name="T16" fmla="*/ 4 w 658"/>
                    <a:gd name="T17" fmla="*/ 0 h 79"/>
                    <a:gd name="T18" fmla="*/ 4 w 658"/>
                    <a:gd name="T19" fmla="*/ 0 h 79"/>
                    <a:gd name="T20" fmla="*/ 2 w 658"/>
                    <a:gd name="T21" fmla="*/ 0 h 79"/>
                    <a:gd name="T22" fmla="*/ 2 w 658"/>
                    <a:gd name="T23" fmla="*/ 0 h 79"/>
                    <a:gd name="T24" fmla="*/ 1 w 658"/>
                    <a:gd name="T25" fmla="*/ 0 h 7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658"/>
                    <a:gd name="T40" fmla="*/ 0 h 79"/>
                    <a:gd name="T41" fmla="*/ 658 w 658"/>
                    <a:gd name="T42" fmla="*/ 79 h 7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658" h="79">
                      <a:moveTo>
                        <a:pt x="4" y="23"/>
                      </a:moveTo>
                      <a:lnTo>
                        <a:pt x="0" y="50"/>
                      </a:lnTo>
                      <a:lnTo>
                        <a:pt x="153" y="50"/>
                      </a:lnTo>
                      <a:lnTo>
                        <a:pt x="153" y="79"/>
                      </a:lnTo>
                      <a:lnTo>
                        <a:pt x="500" y="73"/>
                      </a:lnTo>
                      <a:lnTo>
                        <a:pt x="500" y="50"/>
                      </a:lnTo>
                      <a:lnTo>
                        <a:pt x="656" y="50"/>
                      </a:lnTo>
                      <a:lnTo>
                        <a:pt x="658" y="23"/>
                      </a:lnTo>
                      <a:lnTo>
                        <a:pt x="504" y="23"/>
                      </a:lnTo>
                      <a:lnTo>
                        <a:pt x="504" y="0"/>
                      </a:lnTo>
                      <a:lnTo>
                        <a:pt x="153" y="8"/>
                      </a:lnTo>
                      <a:lnTo>
                        <a:pt x="153" y="23"/>
                      </a:lnTo>
                      <a:lnTo>
                        <a:pt x="4"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74" name="Rectangle 2527"/>
                <p:cNvSpPr>
                  <a:spLocks noChangeArrowheads="1"/>
                </p:cNvSpPr>
                <p:nvPr/>
              </p:nvSpPr>
              <p:spPr bwMode="auto">
                <a:xfrm>
                  <a:off x="982" y="3856"/>
                  <a:ext cx="26" cy="7"/>
                </a:xfrm>
                <a:prstGeom prst="rect">
                  <a:avLst/>
                </a:prstGeom>
                <a:solidFill>
                  <a:srgbClr val="00A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475" name="Rectangle 2528"/>
                <p:cNvSpPr>
                  <a:spLocks noChangeArrowheads="1"/>
                </p:cNvSpPr>
                <p:nvPr/>
              </p:nvSpPr>
              <p:spPr bwMode="auto">
                <a:xfrm>
                  <a:off x="1237" y="3855"/>
                  <a:ext cx="53" cy="6"/>
                </a:xfrm>
                <a:prstGeom prst="rect">
                  <a:avLst/>
                </a:prstGeom>
                <a:solidFill>
                  <a:srgbClr val="202020"/>
                </a:solidFill>
                <a:ln w="7938">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52" name="Group 2529"/>
              <p:cNvGrpSpPr>
                <a:grpSpLocks/>
              </p:cNvGrpSpPr>
              <p:nvPr/>
            </p:nvGrpSpPr>
            <p:grpSpPr bwMode="auto">
              <a:xfrm>
                <a:off x="1227" y="3477"/>
                <a:ext cx="508" cy="321"/>
                <a:chOff x="1227" y="3477"/>
                <a:chExt cx="508" cy="321"/>
              </a:xfrm>
            </p:grpSpPr>
            <p:sp>
              <p:nvSpPr>
                <p:cNvPr id="1453" name="Freeform 2530"/>
                <p:cNvSpPr>
                  <a:spLocks/>
                </p:cNvSpPr>
                <p:nvPr/>
              </p:nvSpPr>
              <p:spPr bwMode="auto">
                <a:xfrm>
                  <a:off x="1640" y="3731"/>
                  <a:ext cx="95" cy="66"/>
                </a:xfrm>
                <a:custGeom>
                  <a:avLst/>
                  <a:gdLst>
                    <a:gd name="T0" fmla="*/ 0 w 191"/>
                    <a:gd name="T1" fmla="*/ 0 h 200"/>
                    <a:gd name="T2" fmla="*/ 0 w 191"/>
                    <a:gd name="T3" fmla="*/ 0 h 200"/>
                    <a:gd name="T4" fmla="*/ 0 w 191"/>
                    <a:gd name="T5" fmla="*/ 0 h 200"/>
                    <a:gd name="T6" fmla="*/ 0 w 191"/>
                    <a:gd name="T7" fmla="*/ 0 h 200"/>
                    <a:gd name="T8" fmla="*/ 0 w 191"/>
                    <a:gd name="T9" fmla="*/ 0 h 200"/>
                    <a:gd name="T10" fmla="*/ 0 w 191"/>
                    <a:gd name="T11" fmla="*/ 0 h 200"/>
                    <a:gd name="T12" fmla="*/ 0 w 191"/>
                    <a:gd name="T13" fmla="*/ 0 h 200"/>
                    <a:gd name="T14" fmla="*/ 0 w 191"/>
                    <a:gd name="T15" fmla="*/ 0 h 200"/>
                    <a:gd name="T16" fmla="*/ 1 w 191"/>
                    <a:gd name="T17" fmla="*/ 0 h 200"/>
                    <a:gd name="T18" fmla="*/ 1 w 191"/>
                    <a:gd name="T19" fmla="*/ 0 h 200"/>
                    <a:gd name="T20" fmla="*/ 1 w 191"/>
                    <a:gd name="T21" fmla="*/ 0 h 200"/>
                    <a:gd name="T22" fmla="*/ 0 w 191"/>
                    <a:gd name="T23" fmla="*/ 0 h 20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91"/>
                    <a:gd name="T37" fmla="*/ 0 h 200"/>
                    <a:gd name="T38" fmla="*/ 191 w 191"/>
                    <a:gd name="T39" fmla="*/ 200 h 200"/>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91" h="200">
                      <a:moveTo>
                        <a:pt x="126" y="9"/>
                      </a:moveTo>
                      <a:lnTo>
                        <a:pt x="93" y="0"/>
                      </a:lnTo>
                      <a:lnTo>
                        <a:pt x="59" y="5"/>
                      </a:lnTo>
                      <a:lnTo>
                        <a:pt x="32" y="17"/>
                      </a:lnTo>
                      <a:lnTo>
                        <a:pt x="9" y="45"/>
                      </a:lnTo>
                      <a:lnTo>
                        <a:pt x="0" y="94"/>
                      </a:lnTo>
                      <a:lnTo>
                        <a:pt x="0" y="137"/>
                      </a:lnTo>
                      <a:lnTo>
                        <a:pt x="0" y="200"/>
                      </a:lnTo>
                      <a:lnTo>
                        <a:pt x="191" y="200"/>
                      </a:lnTo>
                      <a:lnTo>
                        <a:pt x="181" y="81"/>
                      </a:lnTo>
                      <a:lnTo>
                        <a:pt x="157" y="30"/>
                      </a:lnTo>
                      <a:lnTo>
                        <a:pt x="126" y="9"/>
                      </a:lnTo>
                      <a:close/>
                    </a:path>
                  </a:pathLst>
                </a:custGeom>
                <a:solidFill>
                  <a:schemeClr val="bg2"/>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54" name="Freeform 2531"/>
                <p:cNvSpPr>
                  <a:spLocks/>
                </p:cNvSpPr>
                <p:nvPr/>
              </p:nvSpPr>
              <p:spPr bwMode="auto">
                <a:xfrm>
                  <a:off x="1227" y="3477"/>
                  <a:ext cx="429" cy="264"/>
                </a:xfrm>
                <a:custGeom>
                  <a:avLst/>
                  <a:gdLst>
                    <a:gd name="T0" fmla="*/ 0 w 860"/>
                    <a:gd name="T1" fmla="*/ 0 h 791"/>
                    <a:gd name="T2" fmla="*/ 6 w 860"/>
                    <a:gd name="T3" fmla="*/ 0 h 791"/>
                    <a:gd name="T4" fmla="*/ 6 w 860"/>
                    <a:gd name="T5" fmla="*/ 0 h 791"/>
                    <a:gd name="T6" fmla="*/ 6 w 860"/>
                    <a:gd name="T7" fmla="*/ 0 h 791"/>
                    <a:gd name="T8" fmla="*/ 0 w 860"/>
                    <a:gd name="T9" fmla="*/ 0 h 791"/>
                    <a:gd name="T10" fmla="*/ 0 60000 65536"/>
                    <a:gd name="T11" fmla="*/ 0 60000 65536"/>
                    <a:gd name="T12" fmla="*/ 0 60000 65536"/>
                    <a:gd name="T13" fmla="*/ 0 60000 65536"/>
                    <a:gd name="T14" fmla="*/ 0 60000 65536"/>
                    <a:gd name="T15" fmla="*/ 0 w 860"/>
                    <a:gd name="T16" fmla="*/ 0 h 791"/>
                    <a:gd name="T17" fmla="*/ 860 w 860"/>
                    <a:gd name="T18" fmla="*/ 791 h 791"/>
                  </a:gdLst>
                  <a:ahLst/>
                  <a:cxnLst>
                    <a:cxn ang="T10">
                      <a:pos x="T0" y="T1"/>
                    </a:cxn>
                    <a:cxn ang="T11">
                      <a:pos x="T2" y="T3"/>
                    </a:cxn>
                    <a:cxn ang="T12">
                      <a:pos x="T4" y="T5"/>
                    </a:cxn>
                    <a:cxn ang="T13">
                      <a:pos x="T6" y="T7"/>
                    </a:cxn>
                    <a:cxn ang="T14">
                      <a:pos x="T8" y="T9"/>
                    </a:cxn>
                  </a:cxnLst>
                  <a:rect l="T15" t="T16" r="T17" b="T18"/>
                  <a:pathLst>
                    <a:path w="860" h="791">
                      <a:moveTo>
                        <a:pt x="0" y="0"/>
                      </a:moveTo>
                      <a:lnTo>
                        <a:pt x="860" y="764"/>
                      </a:lnTo>
                      <a:lnTo>
                        <a:pt x="849" y="777"/>
                      </a:lnTo>
                      <a:lnTo>
                        <a:pt x="838" y="791"/>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55" name="Freeform 2532"/>
                <p:cNvSpPr>
                  <a:spLocks/>
                </p:cNvSpPr>
                <p:nvPr/>
              </p:nvSpPr>
              <p:spPr bwMode="auto">
                <a:xfrm>
                  <a:off x="1521" y="3650"/>
                  <a:ext cx="141" cy="122"/>
                </a:xfrm>
                <a:custGeom>
                  <a:avLst/>
                  <a:gdLst>
                    <a:gd name="T0" fmla="*/ 1 w 281"/>
                    <a:gd name="T1" fmla="*/ 0 h 366"/>
                    <a:gd name="T2" fmla="*/ 1 w 281"/>
                    <a:gd name="T3" fmla="*/ 0 h 366"/>
                    <a:gd name="T4" fmla="*/ 1 w 281"/>
                    <a:gd name="T5" fmla="*/ 0 h 366"/>
                    <a:gd name="T6" fmla="*/ 1 w 281"/>
                    <a:gd name="T7" fmla="*/ 0 h 366"/>
                    <a:gd name="T8" fmla="*/ 1 w 281"/>
                    <a:gd name="T9" fmla="*/ 0 h 366"/>
                    <a:gd name="T10" fmla="*/ 2 w 281"/>
                    <a:gd name="T11" fmla="*/ 0 h 366"/>
                    <a:gd name="T12" fmla="*/ 3 w 281"/>
                    <a:gd name="T13" fmla="*/ 0 h 366"/>
                    <a:gd name="T14" fmla="*/ 3 w 281"/>
                    <a:gd name="T15" fmla="*/ 0 h 366"/>
                    <a:gd name="T16" fmla="*/ 2 w 281"/>
                    <a:gd name="T17" fmla="*/ 0 h 366"/>
                    <a:gd name="T18" fmla="*/ 2 w 281"/>
                    <a:gd name="T19" fmla="*/ 0 h 366"/>
                    <a:gd name="T20" fmla="*/ 2 w 281"/>
                    <a:gd name="T21" fmla="*/ 0 h 366"/>
                    <a:gd name="T22" fmla="*/ 2 w 281"/>
                    <a:gd name="T23" fmla="*/ 0 h 366"/>
                    <a:gd name="T24" fmla="*/ 2 w 281"/>
                    <a:gd name="T25" fmla="*/ 0 h 366"/>
                    <a:gd name="T26" fmla="*/ 2 w 281"/>
                    <a:gd name="T27" fmla="*/ 0 h 366"/>
                    <a:gd name="T28" fmla="*/ 2 w 281"/>
                    <a:gd name="T29" fmla="*/ 0 h 366"/>
                    <a:gd name="T30" fmla="*/ 0 w 281"/>
                    <a:gd name="T31" fmla="*/ 0 h 366"/>
                    <a:gd name="T32" fmla="*/ 0 w 281"/>
                    <a:gd name="T33" fmla="*/ 0 h 366"/>
                    <a:gd name="T34" fmla="*/ 1 w 281"/>
                    <a:gd name="T35" fmla="*/ 0 h 36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81"/>
                    <a:gd name="T55" fmla="*/ 0 h 366"/>
                    <a:gd name="T56" fmla="*/ 281 w 281"/>
                    <a:gd name="T57" fmla="*/ 366 h 36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81" h="366">
                      <a:moveTo>
                        <a:pt x="4" y="95"/>
                      </a:moveTo>
                      <a:lnTo>
                        <a:pt x="24" y="62"/>
                      </a:lnTo>
                      <a:lnTo>
                        <a:pt x="54" y="43"/>
                      </a:lnTo>
                      <a:lnTo>
                        <a:pt x="78" y="42"/>
                      </a:lnTo>
                      <a:lnTo>
                        <a:pt x="128" y="43"/>
                      </a:lnTo>
                      <a:lnTo>
                        <a:pt x="132" y="0"/>
                      </a:lnTo>
                      <a:lnTo>
                        <a:pt x="281" y="130"/>
                      </a:lnTo>
                      <a:lnTo>
                        <a:pt x="272" y="179"/>
                      </a:lnTo>
                      <a:lnTo>
                        <a:pt x="228" y="170"/>
                      </a:lnTo>
                      <a:lnTo>
                        <a:pt x="191" y="184"/>
                      </a:lnTo>
                      <a:lnTo>
                        <a:pt x="158" y="210"/>
                      </a:lnTo>
                      <a:lnTo>
                        <a:pt x="150" y="232"/>
                      </a:lnTo>
                      <a:lnTo>
                        <a:pt x="149" y="295"/>
                      </a:lnTo>
                      <a:lnTo>
                        <a:pt x="149" y="338"/>
                      </a:lnTo>
                      <a:lnTo>
                        <a:pt x="150" y="366"/>
                      </a:lnTo>
                      <a:lnTo>
                        <a:pt x="0" y="229"/>
                      </a:lnTo>
                      <a:lnTo>
                        <a:pt x="0" y="139"/>
                      </a:lnTo>
                      <a:lnTo>
                        <a:pt x="4" y="95"/>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56" name="Line 2533"/>
                <p:cNvSpPr>
                  <a:spLocks noChangeShapeType="1"/>
                </p:cNvSpPr>
                <p:nvPr/>
              </p:nvSpPr>
              <p:spPr bwMode="auto">
                <a:xfrm>
                  <a:off x="1586" y="3665"/>
                  <a:ext cx="76" cy="44"/>
                </a:xfrm>
                <a:prstGeom prst="line">
                  <a:avLst/>
                </a:prstGeom>
                <a:noFill/>
                <a:ln w="793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57" name="Freeform 2534"/>
                <p:cNvSpPr>
                  <a:spLocks/>
                </p:cNvSpPr>
                <p:nvPr/>
              </p:nvSpPr>
              <p:spPr bwMode="auto">
                <a:xfrm>
                  <a:off x="1242" y="3486"/>
                  <a:ext cx="111" cy="96"/>
                </a:xfrm>
                <a:custGeom>
                  <a:avLst/>
                  <a:gdLst>
                    <a:gd name="T0" fmla="*/ 1 w 222"/>
                    <a:gd name="T1" fmla="*/ 0 h 289"/>
                    <a:gd name="T2" fmla="*/ 1 w 222"/>
                    <a:gd name="T3" fmla="*/ 0 h 289"/>
                    <a:gd name="T4" fmla="*/ 1 w 222"/>
                    <a:gd name="T5" fmla="*/ 0 h 289"/>
                    <a:gd name="T6" fmla="*/ 1 w 222"/>
                    <a:gd name="T7" fmla="*/ 0 h 289"/>
                    <a:gd name="T8" fmla="*/ 2 w 222"/>
                    <a:gd name="T9" fmla="*/ 0 h 289"/>
                    <a:gd name="T10" fmla="*/ 2 w 222"/>
                    <a:gd name="T11" fmla="*/ 0 h 289"/>
                    <a:gd name="T12" fmla="*/ 2 w 222"/>
                    <a:gd name="T13" fmla="*/ 0 h 289"/>
                    <a:gd name="T14" fmla="*/ 2 w 222"/>
                    <a:gd name="T15" fmla="*/ 0 h 289"/>
                    <a:gd name="T16" fmla="*/ 2 w 222"/>
                    <a:gd name="T17" fmla="*/ 0 h 289"/>
                    <a:gd name="T18" fmla="*/ 2 w 222"/>
                    <a:gd name="T19" fmla="*/ 0 h 289"/>
                    <a:gd name="T20" fmla="*/ 2 w 222"/>
                    <a:gd name="T21" fmla="*/ 0 h 289"/>
                    <a:gd name="T22" fmla="*/ 1 w 222"/>
                    <a:gd name="T23" fmla="*/ 0 h 289"/>
                    <a:gd name="T24" fmla="*/ 1 w 222"/>
                    <a:gd name="T25" fmla="*/ 0 h 289"/>
                    <a:gd name="T26" fmla="*/ 1 w 222"/>
                    <a:gd name="T27" fmla="*/ 0 h 289"/>
                    <a:gd name="T28" fmla="*/ 1 w 222"/>
                    <a:gd name="T29" fmla="*/ 0 h 289"/>
                    <a:gd name="T30" fmla="*/ 0 w 222"/>
                    <a:gd name="T31" fmla="*/ 0 h 289"/>
                    <a:gd name="T32" fmla="*/ 1 w 222"/>
                    <a:gd name="T33" fmla="*/ 0 h 289"/>
                    <a:gd name="T34" fmla="*/ 1 w 222"/>
                    <a:gd name="T35" fmla="*/ 0 h 2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22"/>
                    <a:gd name="T55" fmla="*/ 0 h 289"/>
                    <a:gd name="T56" fmla="*/ 222 w 222"/>
                    <a:gd name="T57" fmla="*/ 289 h 2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22" h="289">
                      <a:moveTo>
                        <a:pt x="10" y="98"/>
                      </a:moveTo>
                      <a:lnTo>
                        <a:pt x="27" y="64"/>
                      </a:lnTo>
                      <a:lnTo>
                        <a:pt x="53" y="45"/>
                      </a:lnTo>
                      <a:lnTo>
                        <a:pt x="81" y="41"/>
                      </a:lnTo>
                      <a:lnTo>
                        <a:pt x="131" y="42"/>
                      </a:lnTo>
                      <a:lnTo>
                        <a:pt x="135" y="0"/>
                      </a:lnTo>
                      <a:lnTo>
                        <a:pt x="222" y="80"/>
                      </a:lnTo>
                      <a:lnTo>
                        <a:pt x="218" y="120"/>
                      </a:lnTo>
                      <a:lnTo>
                        <a:pt x="190" y="118"/>
                      </a:lnTo>
                      <a:lnTo>
                        <a:pt x="168" y="116"/>
                      </a:lnTo>
                      <a:lnTo>
                        <a:pt x="135" y="125"/>
                      </a:lnTo>
                      <a:lnTo>
                        <a:pt x="118" y="137"/>
                      </a:lnTo>
                      <a:lnTo>
                        <a:pt x="102" y="161"/>
                      </a:lnTo>
                      <a:lnTo>
                        <a:pt x="98" y="192"/>
                      </a:lnTo>
                      <a:lnTo>
                        <a:pt x="93" y="289"/>
                      </a:lnTo>
                      <a:lnTo>
                        <a:pt x="0" y="197"/>
                      </a:lnTo>
                      <a:lnTo>
                        <a:pt x="4" y="138"/>
                      </a:lnTo>
                      <a:lnTo>
                        <a:pt x="10" y="98"/>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58" name="Freeform 2535"/>
                <p:cNvSpPr>
                  <a:spLocks/>
                </p:cNvSpPr>
                <p:nvPr/>
              </p:nvSpPr>
              <p:spPr bwMode="auto">
                <a:xfrm>
                  <a:off x="1456" y="3626"/>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5"/>
                      </a:moveTo>
                      <a:lnTo>
                        <a:pt x="59" y="0"/>
                      </a:lnTo>
                      <a:lnTo>
                        <a:pt x="30" y="14"/>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59" name="Freeform 2536"/>
                <p:cNvSpPr>
                  <a:spLocks/>
                </p:cNvSpPr>
                <p:nvPr/>
              </p:nvSpPr>
              <p:spPr bwMode="auto">
                <a:xfrm>
                  <a:off x="1440" y="3615"/>
                  <a:ext cx="63" cy="61"/>
                </a:xfrm>
                <a:custGeom>
                  <a:avLst/>
                  <a:gdLst>
                    <a:gd name="T0" fmla="*/ 1 w 126"/>
                    <a:gd name="T1" fmla="*/ 0 h 185"/>
                    <a:gd name="T2" fmla="*/ 1 w 126"/>
                    <a:gd name="T3" fmla="*/ 0 h 185"/>
                    <a:gd name="T4" fmla="*/ 1 w 126"/>
                    <a:gd name="T5" fmla="*/ 0 h 185"/>
                    <a:gd name="T6" fmla="*/ 1 w 126"/>
                    <a:gd name="T7" fmla="*/ 0 h 185"/>
                    <a:gd name="T8" fmla="*/ 0 w 126"/>
                    <a:gd name="T9" fmla="*/ 0 h 185"/>
                    <a:gd name="T10" fmla="*/ 0 w 126"/>
                    <a:gd name="T11" fmla="*/ 0 h 185"/>
                    <a:gd name="T12" fmla="*/ 0 w 126"/>
                    <a:gd name="T13" fmla="*/ 0 h 185"/>
                    <a:gd name="T14" fmla="*/ 0 60000 65536"/>
                    <a:gd name="T15" fmla="*/ 0 60000 65536"/>
                    <a:gd name="T16" fmla="*/ 0 60000 65536"/>
                    <a:gd name="T17" fmla="*/ 0 60000 65536"/>
                    <a:gd name="T18" fmla="*/ 0 60000 65536"/>
                    <a:gd name="T19" fmla="*/ 0 60000 65536"/>
                    <a:gd name="T20" fmla="*/ 0 60000 65536"/>
                    <a:gd name="T21" fmla="*/ 0 w 126"/>
                    <a:gd name="T22" fmla="*/ 0 h 185"/>
                    <a:gd name="T23" fmla="*/ 126 w 126"/>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5">
                      <a:moveTo>
                        <a:pt x="126" y="3"/>
                      </a:moveTo>
                      <a:lnTo>
                        <a:pt x="59" y="0"/>
                      </a:lnTo>
                      <a:lnTo>
                        <a:pt x="24" y="15"/>
                      </a:lnTo>
                      <a:lnTo>
                        <a:pt x="9" y="39"/>
                      </a:lnTo>
                      <a:lnTo>
                        <a:pt x="0" y="88"/>
                      </a:lnTo>
                      <a:lnTo>
                        <a:pt x="0" y="185"/>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0" name="Freeform 2537"/>
                <p:cNvSpPr>
                  <a:spLocks/>
                </p:cNvSpPr>
                <p:nvPr/>
              </p:nvSpPr>
              <p:spPr bwMode="auto">
                <a:xfrm>
                  <a:off x="1422" y="3604"/>
                  <a:ext cx="64" cy="62"/>
                </a:xfrm>
                <a:custGeom>
                  <a:avLst/>
                  <a:gdLst>
                    <a:gd name="T0" fmla="*/ 1 w 127"/>
                    <a:gd name="T1" fmla="*/ 0 h 185"/>
                    <a:gd name="T2" fmla="*/ 1 w 127"/>
                    <a:gd name="T3" fmla="*/ 0 h 185"/>
                    <a:gd name="T4" fmla="*/ 1 w 127"/>
                    <a:gd name="T5" fmla="*/ 0 h 185"/>
                    <a:gd name="T6" fmla="*/ 1 w 127"/>
                    <a:gd name="T7" fmla="*/ 0 h 185"/>
                    <a:gd name="T8" fmla="*/ 0 w 127"/>
                    <a:gd name="T9" fmla="*/ 0 h 185"/>
                    <a:gd name="T10" fmla="*/ 0 w 127"/>
                    <a:gd name="T11" fmla="*/ 0 h 185"/>
                    <a:gd name="T12" fmla="*/ 0 w 127"/>
                    <a:gd name="T13" fmla="*/ 0 h 185"/>
                    <a:gd name="T14" fmla="*/ 0 60000 65536"/>
                    <a:gd name="T15" fmla="*/ 0 60000 65536"/>
                    <a:gd name="T16" fmla="*/ 0 60000 65536"/>
                    <a:gd name="T17" fmla="*/ 0 60000 65536"/>
                    <a:gd name="T18" fmla="*/ 0 60000 65536"/>
                    <a:gd name="T19" fmla="*/ 0 60000 65536"/>
                    <a:gd name="T20" fmla="*/ 0 60000 65536"/>
                    <a:gd name="T21" fmla="*/ 0 w 127"/>
                    <a:gd name="T22" fmla="*/ 0 h 185"/>
                    <a:gd name="T23" fmla="*/ 127 w 127"/>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5">
                      <a:moveTo>
                        <a:pt x="127" y="5"/>
                      </a:moveTo>
                      <a:lnTo>
                        <a:pt x="59" y="0"/>
                      </a:lnTo>
                      <a:lnTo>
                        <a:pt x="30" y="14"/>
                      </a:lnTo>
                      <a:lnTo>
                        <a:pt x="9" y="39"/>
                      </a:lnTo>
                      <a:lnTo>
                        <a:pt x="0" y="88"/>
                      </a:lnTo>
                      <a:lnTo>
                        <a:pt x="0" y="185"/>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1" name="Freeform 2538"/>
                <p:cNvSpPr>
                  <a:spLocks/>
                </p:cNvSpPr>
                <p:nvPr/>
              </p:nvSpPr>
              <p:spPr bwMode="auto">
                <a:xfrm>
                  <a:off x="1401" y="3594"/>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2" y="10"/>
                      </a:lnTo>
                      <a:lnTo>
                        <a:pt x="9" y="39"/>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2" name="Freeform 2539"/>
                <p:cNvSpPr>
                  <a:spLocks/>
                </p:cNvSpPr>
                <p:nvPr/>
              </p:nvSpPr>
              <p:spPr bwMode="auto">
                <a:xfrm>
                  <a:off x="1383" y="3583"/>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4"/>
                      </a:moveTo>
                      <a:lnTo>
                        <a:pt x="59" y="0"/>
                      </a:lnTo>
                      <a:lnTo>
                        <a:pt x="32" y="13"/>
                      </a:lnTo>
                      <a:lnTo>
                        <a:pt x="9" y="40"/>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3" name="Freeform 2540"/>
                <p:cNvSpPr>
                  <a:spLocks/>
                </p:cNvSpPr>
                <p:nvPr/>
              </p:nvSpPr>
              <p:spPr bwMode="auto">
                <a:xfrm>
                  <a:off x="1365" y="3570"/>
                  <a:ext cx="63" cy="62"/>
                </a:xfrm>
                <a:custGeom>
                  <a:avLst/>
                  <a:gdLst>
                    <a:gd name="T0" fmla="*/ 1 w 126"/>
                    <a:gd name="T1" fmla="*/ 0 h 186"/>
                    <a:gd name="T2" fmla="*/ 1 w 126"/>
                    <a:gd name="T3" fmla="*/ 0 h 186"/>
                    <a:gd name="T4" fmla="*/ 1 w 126"/>
                    <a:gd name="T5" fmla="*/ 0 h 186"/>
                    <a:gd name="T6" fmla="*/ 1 w 126"/>
                    <a:gd name="T7" fmla="*/ 0 h 186"/>
                    <a:gd name="T8" fmla="*/ 0 w 126"/>
                    <a:gd name="T9" fmla="*/ 0 h 186"/>
                    <a:gd name="T10" fmla="*/ 0 w 126"/>
                    <a:gd name="T11" fmla="*/ 0 h 186"/>
                    <a:gd name="T12" fmla="*/ 0 w 126"/>
                    <a:gd name="T13" fmla="*/ 0 h 186"/>
                    <a:gd name="T14" fmla="*/ 0 60000 65536"/>
                    <a:gd name="T15" fmla="*/ 0 60000 65536"/>
                    <a:gd name="T16" fmla="*/ 0 60000 65536"/>
                    <a:gd name="T17" fmla="*/ 0 60000 65536"/>
                    <a:gd name="T18" fmla="*/ 0 60000 65536"/>
                    <a:gd name="T19" fmla="*/ 0 60000 65536"/>
                    <a:gd name="T20" fmla="*/ 0 60000 65536"/>
                    <a:gd name="T21" fmla="*/ 0 w 126"/>
                    <a:gd name="T22" fmla="*/ 0 h 186"/>
                    <a:gd name="T23" fmla="*/ 126 w 126"/>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6">
                      <a:moveTo>
                        <a:pt x="126" y="4"/>
                      </a:moveTo>
                      <a:lnTo>
                        <a:pt x="58" y="0"/>
                      </a:lnTo>
                      <a:lnTo>
                        <a:pt x="31" y="14"/>
                      </a:lnTo>
                      <a:lnTo>
                        <a:pt x="8"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4" name="Freeform 2541"/>
                <p:cNvSpPr>
                  <a:spLocks/>
                </p:cNvSpPr>
                <p:nvPr/>
              </p:nvSpPr>
              <p:spPr bwMode="auto">
                <a:xfrm>
                  <a:off x="1349" y="3558"/>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3" y="16"/>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5" name="Freeform 2542"/>
                <p:cNvSpPr>
                  <a:spLocks/>
                </p:cNvSpPr>
                <p:nvPr/>
              </p:nvSpPr>
              <p:spPr bwMode="auto">
                <a:xfrm>
                  <a:off x="1331" y="3550"/>
                  <a:ext cx="63" cy="62"/>
                </a:xfrm>
                <a:custGeom>
                  <a:avLst/>
                  <a:gdLst>
                    <a:gd name="T0" fmla="*/ 0 w 127"/>
                    <a:gd name="T1" fmla="*/ 0 h 186"/>
                    <a:gd name="T2" fmla="*/ 0 w 127"/>
                    <a:gd name="T3" fmla="*/ 0 h 186"/>
                    <a:gd name="T4" fmla="*/ 0 w 127"/>
                    <a:gd name="T5" fmla="*/ 0 h 186"/>
                    <a:gd name="T6" fmla="*/ 0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4"/>
                      </a:moveTo>
                      <a:lnTo>
                        <a:pt x="59" y="0"/>
                      </a:lnTo>
                      <a:lnTo>
                        <a:pt x="32" y="13"/>
                      </a:lnTo>
                      <a:lnTo>
                        <a:pt x="10" y="39"/>
                      </a:lnTo>
                      <a:lnTo>
                        <a:pt x="0" y="88"/>
                      </a:lnTo>
                      <a:lnTo>
                        <a:pt x="0" y="186"/>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6" name="Freeform 2543"/>
                <p:cNvSpPr>
                  <a:spLocks/>
                </p:cNvSpPr>
                <p:nvPr/>
              </p:nvSpPr>
              <p:spPr bwMode="auto">
                <a:xfrm>
                  <a:off x="1308" y="3501"/>
                  <a:ext cx="47" cy="25"/>
                </a:xfrm>
                <a:custGeom>
                  <a:avLst/>
                  <a:gdLst>
                    <a:gd name="T0" fmla="*/ 0 w 96"/>
                    <a:gd name="T1" fmla="*/ 0 h 74"/>
                    <a:gd name="T2" fmla="*/ 0 w 96"/>
                    <a:gd name="T3" fmla="*/ 0 h 74"/>
                    <a:gd name="T4" fmla="*/ 0 w 96"/>
                    <a:gd name="T5" fmla="*/ 0 h 74"/>
                    <a:gd name="T6" fmla="*/ 0 w 96"/>
                    <a:gd name="T7" fmla="*/ 0 h 74"/>
                    <a:gd name="T8" fmla="*/ 0 60000 65536"/>
                    <a:gd name="T9" fmla="*/ 0 60000 65536"/>
                    <a:gd name="T10" fmla="*/ 0 60000 65536"/>
                    <a:gd name="T11" fmla="*/ 0 60000 65536"/>
                    <a:gd name="T12" fmla="*/ 0 w 96"/>
                    <a:gd name="T13" fmla="*/ 0 h 74"/>
                    <a:gd name="T14" fmla="*/ 96 w 96"/>
                    <a:gd name="T15" fmla="*/ 74 h 74"/>
                  </a:gdLst>
                  <a:ahLst/>
                  <a:cxnLst>
                    <a:cxn ang="T8">
                      <a:pos x="T0" y="T1"/>
                    </a:cxn>
                    <a:cxn ang="T9">
                      <a:pos x="T2" y="T3"/>
                    </a:cxn>
                    <a:cxn ang="T10">
                      <a:pos x="T4" y="T5"/>
                    </a:cxn>
                    <a:cxn ang="T11">
                      <a:pos x="T6" y="T7"/>
                    </a:cxn>
                  </a:cxnLst>
                  <a:rect l="T12" t="T13" r="T14" b="T15"/>
                  <a:pathLst>
                    <a:path w="96" h="74">
                      <a:moveTo>
                        <a:pt x="0" y="0"/>
                      </a:moveTo>
                      <a:lnTo>
                        <a:pt x="89" y="74"/>
                      </a:lnTo>
                      <a:lnTo>
                        <a:pt x="96" y="74"/>
                      </a:lnTo>
                      <a:lnTo>
                        <a:pt x="93" y="74"/>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7" name="Oval 2544"/>
                <p:cNvSpPr>
                  <a:spLocks noChangeArrowheads="1"/>
                </p:cNvSpPr>
                <p:nvPr/>
              </p:nvSpPr>
              <p:spPr bwMode="auto">
                <a:xfrm>
                  <a:off x="1339" y="3772"/>
                  <a:ext cx="78" cy="26"/>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468" name="Oval 2545"/>
                <p:cNvSpPr>
                  <a:spLocks noChangeArrowheads="1"/>
                </p:cNvSpPr>
                <p:nvPr/>
              </p:nvSpPr>
              <p:spPr bwMode="auto">
                <a:xfrm>
                  <a:off x="1432" y="3771"/>
                  <a:ext cx="78"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469" name="Freeform 2546"/>
                <p:cNvSpPr>
                  <a:spLocks/>
                </p:cNvSpPr>
                <p:nvPr/>
              </p:nvSpPr>
              <p:spPr bwMode="auto">
                <a:xfrm>
                  <a:off x="1511" y="3785"/>
                  <a:ext cx="94" cy="8"/>
                </a:xfrm>
                <a:custGeom>
                  <a:avLst/>
                  <a:gdLst>
                    <a:gd name="T0" fmla="*/ 0 w 188"/>
                    <a:gd name="T1" fmla="*/ 0 h 25"/>
                    <a:gd name="T2" fmla="*/ 1 w 188"/>
                    <a:gd name="T3" fmla="*/ 0 h 25"/>
                    <a:gd name="T4" fmla="*/ 1 w 188"/>
                    <a:gd name="T5" fmla="*/ 0 h 25"/>
                    <a:gd name="T6" fmla="*/ 1 w 188"/>
                    <a:gd name="T7" fmla="*/ 0 h 25"/>
                    <a:gd name="T8" fmla="*/ 0 w 188"/>
                    <a:gd name="T9" fmla="*/ 0 h 25"/>
                    <a:gd name="T10" fmla="*/ 0 60000 65536"/>
                    <a:gd name="T11" fmla="*/ 0 60000 65536"/>
                    <a:gd name="T12" fmla="*/ 0 60000 65536"/>
                    <a:gd name="T13" fmla="*/ 0 60000 65536"/>
                    <a:gd name="T14" fmla="*/ 0 60000 65536"/>
                    <a:gd name="T15" fmla="*/ 0 w 188"/>
                    <a:gd name="T16" fmla="*/ 0 h 25"/>
                    <a:gd name="T17" fmla="*/ 188 w 188"/>
                    <a:gd name="T18" fmla="*/ 25 h 25"/>
                  </a:gdLst>
                  <a:ahLst/>
                  <a:cxnLst>
                    <a:cxn ang="T10">
                      <a:pos x="T0" y="T1"/>
                    </a:cxn>
                    <a:cxn ang="T11">
                      <a:pos x="T2" y="T3"/>
                    </a:cxn>
                    <a:cxn ang="T12">
                      <a:pos x="T4" y="T5"/>
                    </a:cxn>
                    <a:cxn ang="T13">
                      <a:pos x="T6" y="T7"/>
                    </a:cxn>
                    <a:cxn ang="T14">
                      <a:pos x="T8" y="T9"/>
                    </a:cxn>
                  </a:cxnLst>
                  <a:rect l="T15" t="T16" r="T17" b="T18"/>
                  <a:pathLst>
                    <a:path w="188" h="25">
                      <a:moveTo>
                        <a:pt x="0" y="25"/>
                      </a:moveTo>
                      <a:lnTo>
                        <a:pt x="6" y="0"/>
                      </a:lnTo>
                      <a:lnTo>
                        <a:pt x="175" y="0"/>
                      </a:lnTo>
                      <a:lnTo>
                        <a:pt x="188" y="19"/>
                      </a:lnTo>
                      <a:lnTo>
                        <a:pt x="0" y="25"/>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70" name="Oval 2547"/>
                <p:cNvSpPr>
                  <a:spLocks noChangeArrowheads="1"/>
                </p:cNvSpPr>
                <p:nvPr/>
              </p:nvSpPr>
              <p:spPr bwMode="auto">
                <a:xfrm>
                  <a:off x="1338" y="3767"/>
                  <a:ext cx="78" cy="27"/>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471" name="Oval 2548"/>
                <p:cNvSpPr>
                  <a:spLocks noChangeArrowheads="1"/>
                </p:cNvSpPr>
                <p:nvPr/>
              </p:nvSpPr>
              <p:spPr bwMode="auto">
                <a:xfrm>
                  <a:off x="1431" y="3766"/>
                  <a:ext cx="77"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890" name="Group 2096"/>
            <p:cNvGrpSpPr>
              <a:grpSpLocks/>
            </p:cNvGrpSpPr>
            <p:nvPr/>
          </p:nvGrpSpPr>
          <p:grpSpPr bwMode="auto">
            <a:xfrm>
              <a:off x="4572000" y="1700213"/>
              <a:ext cx="431800" cy="330200"/>
              <a:chOff x="624" y="2968"/>
              <a:chExt cx="1331" cy="920"/>
            </a:xfrm>
          </p:grpSpPr>
          <p:sp>
            <p:nvSpPr>
              <p:cNvPr id="1891" name="Freeform 2097"/>
              <p:cNvSpPr>
                <a:spLocks/>
              </p:cNvSpPr>
              <p:nvPr/>
            </p:nvSpPr>
            <p:spPr bwMode="auto">
              <a:xfrm>
                <a:off x="1238" y="2968"/>
                <a:ext cx="713" cy="770"/>
              </a:xfrm>
              <a:custGeom>
                <a:avLst/>
                <a:gdLst>
                  <a:gd name="T0" fmla="*/ 7 w 1426"/>
                  <a:gd name="T1" fmla="*/ 1 h 2309"/>
                  <a:gd name="T2" fmla="*/ 7 w 1426"/>
                  <a:gd name="T3" fmla="*/ 1 h 2309"/>
                  <a:gd name="T4" fmla="*/ 0 w 1426"/>
                  <a:gd name="T5" fmla="*/ 1 h 2309"/>
                  <a:gd name="T6" fmla="*/ 3 w 1426"/>
                  <a:gd name="T7" fmla="*/ 0 h 2309"/>
                  <a:gd name="T8" fmla="*/ 3 w 1426"/>
                  <a:gd name="T9" fmla="*/ 0 h 2309"/>
                  <a:gd name="T10" fmla="*/ 3 w 1426"/>
                  <a:gd name="T11" fmla="*/ 0 h 2309"/>
                  <a:gd name="T12" fmla="*/ 3 w 1426"/>
                  <a:gd name="T13" fmla="*/ 0 h 2309"/>
                  <a:gd name="T14" fmla="*/ 11 w 1426"/>
                  <a:gd name="T15" fmla="*/ 0 h 2309"/>
                  <a:gd name="T16" fmla="*/ 11 w 1426"/>
                  <a:gd name="T17" fmla="*/ 0 h 2309"/>
                  <a:gd name="T18" fmla="*/ 11 w 1426"/>
                  <a:gd name="T19" fmla="*/ 0 h 2309"/>
                  <a:gd name="T20" fmla="*/ 11 w 1426"/>
                  <a:gd name="T21" fmla="*/ 0 h 2309"/>
                  <a:gd name="T22" fmla="*/ 7 w 1426"/>
                  <a:gd name="T23" fmla="*/ 1 h 2309"/>
                  <a:gd name="T24" fmla="*/ 7 w 1426"/>
                  <a:gd name="T25" fmla="*/ 1 h 230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2309"/>
                  <a:gd name="T41" fmla="*/ 1426 w 1426"/>
                  <a:gd name="T42" fmla="*/ 2309 h 230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2309">
                    <a:moveTo>
                      <a:pt x="992" y="2292"/>
                    </a:moveTo>
                    <a:lnTo>
                      <a:pt x="964" y="2309"/>
                    </a:lnTo>
                    <a:lnTo>
                      <a:pt x="0" y="1462"/>
                    </a:lnTo>
                    <a:lnTo>
                      <a:pt x="326" y="59"/>
                    </a:lnTo>
                    <a:lnTo>
                      <a:pt x="369" y="18"/>
                    </a:lnTo>
                    <a:lnTo>
                      <a:pt x="414" y="0"/>
                    </a:lnTo>
                    <a:lnTo>
                      <a:pt x="457" y="9"/>
                    </a:lnTo>
                    <a:lnTo>
                      <a:pt x="1381" y="400"/>
                    </a:lnTo>
                    <a:lnTo>
                      <a:pt x="1411" y="421"/>
                    </a:lnTo>
                    <a:lnTo>
                      <a:pt x="1422" y="425"/>
                    </a:lnTo>
                    <a:lnTo>
                      <a:pt x="1426" y="445"/>
                    </a:lnTo>
                    <a:lnTo>
                      <a:pt x="1017" y="2306"/>
                    </a:lnTo>
                    <a:lnTo>
                      <a:pt x="992" y="2292"/>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2" name="Freeform 2098"/>
              <p:cNvSpPr>
                <a:spLocks/>
              </p:cNvSpPr>
              <p:nvPr/>
            </p:nvSpPr>
            <p:spPr bwMode="auto">
              <a:xfrm>
                <a:off x="1668" y="3087"/>
                <a:ext cx="286" cy="660"/>
              </a:xfrm>
              <a:custGeom>
                <a:avLst/>
                <a:gdLst>
                  <a:gd name="T0" fmla="*/ 4 w 573"/>
                  <a:gd name="T1" fmla="*/ 0 h 1980"/>
                  <a:gd name="T2" fmla="*/ 4 w 573"/>
                  <a:gd name="T3" fmla="*/ 0 h 1980"/>
                  <a:gd name="T4" fmla="*/ 1 w 573"/>
                  <a:gd name="T5" fmla="*/ 1 h 1980"/>
                  <a:gd name="T6" fmla="*/ 1 w 573"/>
                  <a:gd name="T7" fmla="*/ 1 h 1980"/>
                  <a:gd name="T8" fmla="*/ 1 w 573"/>
                  <a:gd name="T9" fmla="*/ 1 h 1980"/>
                  <a:gd name="T10" fmla="*/ 0 w 573"/>
                  <a:gd name="T11" fmla="*/ 1 h 1980"/>
                  <a:gd name="T12" fmla="*/ 0 w 573"/>
                  <a:gd name="T13" fmla="*/ 1 h 1980"/>
                  <a:gd name="T14" fmla="*/ 0 w 573"/>
                  <a:gd name="T15" fmla="*/ 1 h 1980"/>
                  <a:gd name="T16" fmla="*/ 0 w 573"/>
                  <a:gd name="T17" fmla="*/ 1 h 1980"/>
                  <a:gd name="T18" fmla="*/ 3 w 573"/>
                  <a:gd name="T19" fmla="*/ 0 h 1980"/>
                  <a:gd name="T20" fmla="*/ 3 w 573"/>
                  <a:gd name="T21" fmla="*/ 0 h 1980"/>
                  <a:gd name="T22" fmla="*/ 3 w 573"/>
                  <a:gd name="T23" fmla="*/ 0 h 1980"/>
                  <a:gd name="T24" fmla="*/ 3 w 573"/>
                  <a:gd name="T25" fmla="*/ 0 h 1980"/>
                  <a:gd name="T26" fmla="*/ 4 w 573"/>
                  <a:gd name="T27" fmla="*/ 0 h 1980"/>
                  <a:gd name="T28" fmla="*/ 4 w 573"/>
                  <a:gd name="T29" fmla="*/ 0 h 1980"/>
                  <a:gd name="T30" fmla="*/ 4 w 573"/>
                  <a:gd name="T31" fmla="*/ 0 h 19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573"/>
                  <a:gd name="T49" fmla="*/ 0 h 1980"/>
                  <a:gd name="T50" fmla="*/ 573 w 573"/>
                  <a:gd name="T51" fmla="*/ 1980 h 19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573" h="1980">
                    <a:moveTo>
                      <a:pt x="573" y="86"/>
                    </a:moveTo>
                    <a:lnTo>
                      <a:pt x="568" y="132"/>
                    </a:lnTo>
                    <a:lnTo>
                      <a:pt x="155" y="1923"/>
                    </a:lnTo>
                    <a:lnTo>
                      <a:pt x="151" y="1955"/>
                    </a:lnTo>
                    <a:lnTo>
                      <a:pt x="140" y="1972"/>
                    </a:lnTo>
                    <a:lnTo>
                      <a:pt x="125" y="1980"/>
                    </a:lnTo>
                    <a:lnTo>
                      <a:pt x="111" y="1975"/>
                    </a:lnTo>
                    <a:lnTo>
                      <a:pt x="86" y="1955"/>
                    </a:lnTo>
                    <a:lnTo>
                      <a:pt x="0" y="1880"/>
                    </a:lnTo>
                    <a:lnTo>
                      <a:pt x="425" y="39"/>
                    </a:lnTo>
                    <a:lnTo>
                      <a:pt x="420" y="27"/>
                    </a:lnTo>
                    <a:lnTo>
                      <a:pt x="396" y="0"/>
                    </a:lnTo>
                    <a:lnTo>
                      <a:pt x="445" y="20"/>
                    </a:lnTo>
                    <a:lnTo>
                      <a:pt x="541" y="61"/>
                    </a:lnTo>
                    <a:lnTo>
                      <a:pt x="559" y="75"/>
                    </a:lnTo>
                    <a:lnTo>
                      <a:pt x="573" y="86"/>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3" name="Freeform 2099"/>
              <p:cNvSpPr>
                <a:spLocks/>
              </p:cNvSpPr>
              <p:nvPr/>
            </p:nvSpPr>
            <p:spPr bwMode="auto">
              <a:xfrm>
                <a:off x="1432" y="2970"/>
                <a:ext cx="523" cy="147"/>
              </a:xfrm>
              <a:custGeom>
                <a:avLst/>
                <a:gdLst>
                  <a:gd name="T0" fmla="*/ 0 w 1045"/>
                  <a:gd name="T1" fmla="*/ 0 h 441"/>
                  <a:gd name="T2" fmla="*/ 1 w 1045"/>
                  <a:gd name="T3" fmla="*/ 0 h 441"/>
                  <a:gd name="T4" fmla="*/ 1 w 1045"/>
                  <a:gd name="T5" fmla="*/ 0 h 441"/>
                  <a:gd name="T6" fmla="*/ 8 w 1045"/>
                  <a:gd name="T7" fmla="*/ 0 h 441"/>
                  <a:gd name="T8" fmla="*/ 9 w 1045"/>
                  <a:gd name="T9" fmla="*/ 0 h 441"/>
                  <a:gd name="T10" fmla="*/ 9 w 1045"/>
                  <a:gd name="T11" fmla="*/ 0 h 441"/>
                  <a:gd name="T12" fmla="*/ 0 w 1045"/>
                  <a:gd name="T13" fmla="*/ 0 h 441"/>
                  <a:gd name="T14" fmla="*/ 0 60000 65536"/>
                  <a:gd name="T15" fmla="*/ 0 60000 65536"/>
                  <a:gd name="T16" fmla="*/ 0 60000 65536"/>
                  <a:gd name="T17" fmla="*/ 0 60000 65536"/>
                  <a:gd name="T18" fmla="*/ 0 60000 65536"/>
                  <a:gd name="T19" fmla="*/ 0 60000 65536"/>
                  <a:gd name="T20" fmla="*/ 0 60000 65536"/>
                  <a:gd name="T21" fmla="*/ 0 w 1045"/>
                  <a:gd name="T22" fmla="*/ 0 h 441"/>
                  <a:gd name="T23" fmla="*/ 1045 w 1045"/>
                  <a:gd name="T24" fmla="*/ 441 h 44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45" h="441">
                    <a:moveTo>
                      <a:pt x="0" y="0"/>
                    </a:moveTo>
                    <a:lnTo>
                      <a:pt x="31" y="1"/>
                    </a:lnTo>
                    <a:lnTo>
                      <a:pt x="62" y="10"/>
                    </a:lnTo>
                    <a:lnTo>
                      <a:pt x="1005" y="409"/>
                    </a:lnTo>
                    <a:lnTo>
                      <a:pt x="1037" y="427"/>
                    </a:lnTo>
                    <a:lnTo>
                      <a:pt x="1045" y="441"/>
                    </a:lnTo>
                    <a:lnTo>
                      <a:pt x="0" y="0"/>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4" name="Freeform 2100"/>
              <p:cNvSpPr>
                <a:spLocks/>
              </p:cNvSpPr>
              <p:nvPr/>
            </p:nvSpPr>
            <p:spPr bwMode="auto">
              <a:xfrm>
                <a:off x="1315" y="3056"/>
                <a:ext cx="478" cy="573"/>
              </a:xfrm>
              <a:custGeom>
                <a:avLst/>
                <a:gdLst>
                  <a:gd name="T0" fmla="*/ 5 w 955"/>
                  <a:gd name="T1" fmla="*/ 1 h 1719"/>
                  <a:gd name="T2" fmla="*/ 0 w 955"/>
                  <a:gd name="T3" fmla="*/ 1 h 1719"/>
                  <a:gd name="T4" fmla="*/ 3 w 955"/>
                  <a:gd name="T5" fmla="*/ 0 h 1719"/>
                  <a:gd name="T6" fmla="*/ 8 w 955"/>
                  <a:gd name="T7" fmla="*/ 0 h 1719"/>
                  <a:gd name="T8" fmla="*/ 5 w 955"/>
                  <a:gd name="T9" fmla="*/ 1 h 1719"/>
                  <a:gd name="T10" fmla="*/ 0 60000 65536"/>
                  <a:gd name="T11" fmla="*/ 0 60000 65536"/>
                  <a:gd name="T12" fmla="*/ 0 60000 65536"/>
                  <a:gd name="T13" fmla="*/ 0 60000 65536"/>
                  <a:gd name="T14" fmla="*/ 0 60000 65536"/>
                  <a:gd name="T15" fmla="*/ 0 w 955"/>
                  <a:gd name="T16" fmla="*/ 0 h 1719"/>
                  <a:gd name="T17" fmla="*/ 955 w 955"/>
                  <a:gd name="T18" fmla="*/ 1719 h 1719"/>
                </a:gdLst>
                <a:ahLst/>
                <a:cxnLst>
                  <a:cxn ang="T10">
                    <a:pos x="T0" y="T1"/>
                  </a:cxn>
                  <a:cxn ang="T11">
                    <a:pos x="T2" y="T3"/>
                  </a:cxn>
                  <a:cxn ang="T12">
                    <a:pos x="T4" y="T5"/>
                  </a:cxn>
                  <a:cxn ang="T13">
                    <a:pos x="T6" y="T7"/>
                  </a:cxn>
                  <a:cxn ang="T14">
                    <a:pos x="T8" y="T9"/>
                  </a:cxn>
                </a:cxnLst>
                <a:rect l="T15" t="T16" r="T17" b="T18"/>
                <a:pathLst>
                  <a:path w="955" h="1719">
                    <a:moveTo>
                      <a:pt x="619" y="1719"/>
                    </a:moveTo>
                    <a:lnTo>
                      <a:pt x="0" y="1212"/>
                    </a:lnTo>
                    <a:lnTo>
                      <a:pt x="290" y="0"/>
                    </a:lnTo>
                    <a:lnTo>
                      <a:pt x="955" y="313"/>
                    </a:lnTo>
                    <a:lnTo>
                      <a:pt x="619" y="1719"/>
                    </a:lnTo>
                    <a:close/>
                  </a:path>
                </a:pathLst>
              </a:custGeom>
              <a:solidFill>
                <a:srgbClr val="000000"/>
              </a:solidFill>
              <a:ln w="7938">
                <a:solidFill>
                  <a:srgbClr val="80808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5" name="Freeform 2101"/>
              <p:cNvSpPr>
                <a:spLocks/>
              </p:cNvSpPr>
              <p:nvPr/>
            </p:nvSpPr>
            <p:spPr bwMode="auto">
              <a:xfrm>
                <a:off x="1337" y="3076"/>
                <a:ext cx="431" cy="529"/>
              </a:xfrm>
              <a:custGeom>
                <a:avLst/>
                <a:gdLst>
                  <a:gd name="T0" fmla="*/ 5 w 862"/>
                  <a:gd name="T1" fmla="*/ 1 h 1587"/>
                  <a:gd name="T2" fmla="*/ 0 w 862"/>
                  <a:gd name="T3" fmla="*/ 1 h 1587"/>
                  <a:gd name="T4" fmla="*/ 3 w 862"/>
                  <a:gd name="T5" fmla="*/ 0 h 1587"/>
                  <a:gd name="T6" fmla="*/ 7 w 862"/>
                  <a:gd name="T7" fmla="*/ 0 h 1587"/>
                  <a:gd name="T8" fmla="*/ 5 w 862"/>
                  <a:gd name="T9" fmla="*/ 1 h 1587"/>
                  <a:gd name="T10" fmla="*/ 0 60000 65536"/>
                  <a:gd name="T11" fmla="*/ 0 60000 65536"/>
                  <a:gd name="T12" fmla="*/ 0 60000 65536"/>
                  <a:gd name="T13" fmla="*/ 0 60000 65536"/>
                  <a:gd name="T14" fmla="*/ 0 60000 65536"/>
                  <a:gd name="T15" fmla="*/ 0 w 862"/>
                  <a:gd name="T16" fmla="*/ 0 h 1587"/>
                  <a:gd name="T17" fmla="*/ 862 w 862"/>
                  <a:gd name="T18" fmla="*/ 1587 h 1587"/>
                </a:gdLst>
                <a:ahLst/>
                <a:cxnLst>
                  <a:cxn ang="T10">
                    <a:pos x="T0" y="T1"/>
                  </a:cxn>
                  <a:cxn ang="T11">
                    <a:pos x="T2" y="T3"/>
                  </a:cxn>
                  <a:cxn ang="T12">
                    <a:pos x="T4" y="T5"/>
                  </a:cxn>
                  <a:cxn ang="T13">
                    <a:pos x="T6" y="T7"/>
                  </a:cxn>
                  <a:cxn ang="T14">
                    <a:pos x="T8" y="T9"/>
                  </a:cxn>
                </a:cxnLst>
                <a:rect l="T15" t="T16" r="T17" b="T18"/>
                <a:pathLst>
                  <a:path w="862" h="1587">
                    <a:moveTo>
                      <a:pt x="546" y="1587"/>
                    </a:moveTo>
                    <a:lnTo>
                      <a:pt x="0" y="1134"/>
                    </a:lnTo>
                    <a:lnTo>
                      <a:pt x="272" y="0"/>
                    </a:lnTo>
                    <a:lnTo>
                      <a:pt x="862" y="268"/>
                    </a:lnTo>
                    <a:lnTo>
                      <a:pt x="546" y="1587"/>
                    </a:lnTo>
                    <a:close/>
                  </a:path>
                </a:pathLst>
              </a:custGeom>
              <a:solidFill>
                <a:srgbClr val="C7C7C7"/>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6" name="Freeform 2102"/>
              <p:cNvSpPr>
                <a:spLocks/>
              </p:cNvSpPr>
              <p:nvPr/>
            </p:nvSpPr>
            <p:spPr bwMode="auto">
              <a:xfrm>
                <a:off x="1233" y="2968"/>
                <a:ext cx="203" cy="494"/>
              </a:xfrm>
              <a:custGeom>
                <a:avLst/>
                <a:gdLst>
                  <a:gd name="T0" fmla="*/ 3 w 408"/>
                  <a:gd name="T1" fmla="*/ 0 h 1480"/>
                  <a:gd name="T2" fmla="*/ 2 w 408"/>
                  <a:gd name="T3" fmla="*/ 0 h 1480"/>
                  <a:gd name="T4" fmla="*/ 2 w 408"/>
                  <a:gd name="T5" fmla="*/ 0 h 1480"/>
                  <a:gd name="T6" fmla="*/ 2 w 408"/>
                  <a:gd name="T7" fmla="*/ 0 h 1480"/>
                  <a:gd name="T8" fmla="*/ 2 w 408"/>
                  <a:gd name="T9" fmla="*/ 0 h 1480"/>
                  <a:gd name="T10" fmla="*/ 2 w 408"/>
                  <a:gd name="T11" fmla="*/ 0 h 1480"/>
                  <a:gd name="T12" fmla="*/ 0 w 408"/>
                  <a:gd name="T13" fmla="*/ 1 h 1480"/>
                  <a:gd name="T14" fmla="*/ 0 w 408"/>
                  <a:gd name="T15" fmla="*/ 1 h 1480"/>
                  <a:gd name="T16" fmla="*/ 2 w 408"/>
                  <a:gd name="T17" fmla="*/ 0 h 1480"/>
                  <a:gd name="T18" fmla="*/ 2 w 408"/>
                  <a:gd name="T19" fmla="*/ 0 h 1480"/>
                  <a:gd name="T20" fmla="*/ 2 w 408"/>
                  <a:gd name="T21" fmla="*/ 0 h 1480"/>
                  <a:gd name="T22" fmla="*/ 2 w 408"/>
                  <a:gd name="T23" fmla="*/ 0 h 1480"/>
                  <a:gd name="T24" fmla="*/ 2 w 408"/>
                  <a:gd name="T25" fmla="*/ 0 h 1480"/>
                  <a:gd name="T26" fmla="*/ 3 w 408"/>
                  <a:gd name="T27" fmla="*/ 0 h 1480"/>
                  <a:gd name="T28" fmla="*/ 3 w 408"/>
                  <a:gd name="T29" fmla="*/ 0 h 1480"/>
                  <a:gd name="T30" fmla="*/ 3 w 408"/>
                  <a:gd name="T31" fmla="*/ 0 h 14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408"/>
                  <a:gd name="T49" fmla="*/ 0 h 1480"/>
                  <a:gd name="T50" fmla="*/ 408 w 408"/>
                  <a:gd name="T51" fmla="*/ 1480 h 14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408" h="1480">
                    <a:moveTo>
                      <a:pt x="393" y="0"/>
                    </a:moveTo>
                    <a:lnTo>
                      <a:pt x="370" y="11"/>
                    </a:lnTo>
                    <a:lnTo>
                      <a:pt x="356" y="19"/>
                    </a:lnTo>
                    <a:lnTo>
                      <a:pt x="338" y="37"/>
                    </a:lnTo>
                    <a:lnTo>
                      <a:pt x="325" y="59"/>
                    </a:lnTo>
                    <a:lnTo>
                      <a:pt x="320" y="77"/>
                    </a:lnTo>
                    <a:lnTo>
                      <a:pt x="0" y="1459"/>
                    </a:lnTo>
                    <a:lnTo>
                      <a:pt x="12" y="1480"/>
                    </a:lnTo>
                    <a:lnTo>
                      <a:pt x="337" y="77"/>
                    </a:lnTo>
                    <a:lnTo>
                      <a:pt x="346" y="57"/>
                    </a:lnTo>
                    <a:lnTo>
                      <a:pt x="355" y="43"/>
                    </a:lnTo>
                    <a:lnTo>
                      <a:pt x="368" y="30"/>
                    </a:lnTo>
                    <a:lnTo>
                      <a:pt x="384" y="19"/>
                    </a:lnTo>
                    <a:lnTo>
                      <a:pt x="400" y="12"/>
                    </a:lnTo>
                    <a:lnTo>
                      <a:pt x="408" y="5"/>
                    </a:lnTo>
                    <a:lnTo>
                      <a:pt x="393" y="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7" name="Freeform 2103"/>
              <p:cNvSpPr>
                <a:spLocks/>
              </p:cNvSpPr>
              <p:nvPr/>
            </p:nvSpPr>
            <p:spPr bwMode="auto">
              <a:xfrm>
                <a:off x="1204" y="3479"/>
                <a:ext cx="532" cy="321"/>
              </a:xfrm>
              <a:custGeom>
                <a:avLst/>
                <a:gdLst>
                  <a:gd name="T0" fmla="*/ 8 w 1065"/>
                  <a:gd name="T1" fmla="*/ 0 h 963"/>
                  <a:gd name="T2" fmla="*/ 8 w 1065"/>
                  <a:gd name="T3" fmla="*/ 0 h 963"/>
                  <a:gd name="T4" fmla="*/ 7 w 1065"/>
                  <a:gd name="T5" fmla="*/ 0 h 963"/>
                  <a:gd name="T6" fmla="*/ 1 w 1065"/>
                  <a:gd name="T7" fmla="*/ 0 h 963"/>
                  <a:gd name="T8" fmla="*/ 0 w 1065"/>
                  <a:gd name="T9" fmla="*/ 0 h 963"/>
                  <a:gd name="T10" fmla="*/ 0 w 1065"/>
                  <a:gd name="T11" fmla="*/ 0 h 963"/>
                  <a:gd name="T12" fmla="*/ 0 w 1065"/>
                  <a:gd name="T13" fmla="*/ 0 h 963"/>
                  <a:gd name="T14" fmla="*/ 0 w 1065"/>
                  <a:gd name="T15" fmla="*/ 0 h 963"/>
                  <a:gd name="T16" fmla="*/ 6 w 1065"/>
                  <a:gd name="T17" fmla="*/ 0 h 963"/>
                  <a:gd name="T18" fmla="*/ 8 w 1065"/>
                  <a:gd name="T19" fmla="*/ 0 h 96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065"/>
                  <a:gd name="T31" fmla="*/ 0 h 963"/>
                  <a:gd name="T32" fmla="*/ 1065 w 1065"/>
                  <a:gd name="T33" fmla="*/ 963 h 963"/>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065" h="963">
                    <a:moveTo>
                      <a:pt x="1065" y="963"/>
                    </a:moveTo>
                    <a:lnTo>
                      <a:pt x="1047" y="833"/>
                    </a:lnTo>
                    <a:lnTo>
                      <a:pt x="1015" y="776"/>
                    </a:lnTo>
                    <a:lnTo>
                      <a:pt x="137" y="3"/>
                    </a:lnTo>
                    <a:lnTo>
                      <a:pt x="96" y="0"/>
                    </a:lnTo>
                    <a:lnTo>
                      <a:pt x="59" y="3"/>
                    </a:lnTo>
                    <a:lnTo>
                      <a:pt x="32" y="42"/>
                    </a:lnTo>
                    <a:lnTo>
                      <a:pt x="0" y="145"/>
                    </a:lnTo>
                    <a:lnTo>
                      <a:pt x="865" y="954"/>
                    </a:lnTo>
                    <a:lnTo>
                      <a:pt x="1065" y="963"/>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8" name="Freeform 2104"/>
              <p:cNvSpPr>
                <a:spLocks/>
              </p:cNvSpPr>
              <p:nvPr/>
            </p:nvSpPr>
            <p:spPr bwMode="auto">
              <a:xfrm>
                <a:off x="642" y="3519"/>
                <a:ext cx="985" cy="288"/>
              </a:xfrm>
              <a:custGeom>
                <a:avLst/>
                <a:gdLst>
                  <a:gd name="T0" fmla="*/ 0 w 1969"/>
                  <a:gd name="T1" fmla="*/ 0 h 862"/>
                  <a:gd name="T2" fmla="*/ 9 w 1969"/>
                  <a:gd name="T3" fmla="*/ 0 h 862"/>
                  <a:gd name="T4" fmla="*/ 16 w 1969"/>
                  <a:gd name="T5" fmla="*/ 0 h 862"/>
                  <a:gd name="T6" fmla="*/ 4 w 1969"/>
                  <a:gd name="T7" fmla="*/ 0 h 862"/>
                  <a:gd name="T8" fmla="*/ 0 w 1969"/>
                  <a:gd name="T9" fmla="*/ 0 h 862"/>
                  <a:gd name="T10" fmla="*/ 0 60000 65536"/>
                  <a:gd name="T11" fmla="*/ 0 60000 65536"/>
                  <a:gd name="T12" fmla="*/ 0 60000 65536"/>
                  <a:gd name="T13" fmla="*/ 0 60000 65536"/>
                  <a:gd name="T14" fmla="*/ 0 60000 65536"/>
                  <a:gd name="T15" fmla="*/ 0 w 1969"/>
                  <a:gd name="T16" fmla="*/ 0 h 862"/>
                  <a:gd name="T17" fmla="*/ 1969 w 1969"/>
                  <a:gd name="T18" fmla="*/ 862 h 862"/>
                </a:gdLst>
                <a:ahLst/>
                <a:cxnLst>
                  <a:cxn ang="T10">
                    <a:pos x="T0" y="T1"/>
                  </a:cxn>
                  <a:cxn ang="T11">
                    <a:pos x="T2" y="T3"/>
                  </a:cxn>
                  <a:cxn ang="T12">
                    <a:pos x="T4" y="T5"/>
                  </a:cxn>
                  <a:cxn ang="T13">
                    <a:pos x="T6" y="T7"/>
                  </a:cxn>
                  <a:cxn ang="T14">
                    <a:pos x="T8" y="T9"/>
                  </a:cxn>
                </a:cxnLst>
                <a:rect l="T15" t="T16" r="T17" b="T18"/>
                <a:pathLst>
                  <a:path w="1969" h="862">
                    <a:moveTo>
                      <a:pt x="0" y="0"/>
                    </a:moveTo>
                    <a:lnTo>
                      <a:pt x="1121" y="24"/>
                    </a:lnTo>
                    <a:lnTo>
                      <a:pt x="1969" y="814"/>
                    </a:lnTo>
                    <a:lnTo>
                      <a:pt x="478" y="862"/>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9" name="Freeform 2105"/>
              <p:cNvSpPr>
                <a:spLocks/>
              </p:cNvSpPr>
              <p:nvPr/>
            </p:nvSpPr>
            <p:spPr bwMode="auto">
              <a:xfrm>
                <a:off x="852" y="3789"/>
                <a:ext cx="889" cy="99"/>
              </a:xfrm>
              <a:custGeom>
                <a:avLst/>
                <a:gdLst>
                  <a:gd name="T0" fmla="*/ 1 w 1777"/>
                  <a:gd name="T1" fmla="*/ 0 h 297"/>
                  <a:gd name="T2" fmla="*/ 0 w 1777"/>
                  <a:gd name="T3" fmla="*/ 0 h 297"/>
                  <a:gd name="T4" fmla="*/ 14 w 1777"/>
                  <a:gd name="T5" fmla="*/ 0 h 297"/>
                  <a:gd name="T6" fmla="*/ 14 w 1777"/>
                  <a:gd name="T7" fmla="*/ 0 h 297"/>
                  <a:gd name="T8" fmla="*/ 14 w 1777"/>
                  <a:gd name="T9" fmla="*/ 0 h 297"/>
                  <a:gd name="T10" fmla="*/ 14 w 1777"/>
                  <a:gd name="T11" fmla="*/ 0 h 297"/>
                  <a:gd name="T12" fmla="*/ 1 w 1777"/>
                  <a:gd name="T13" fmla="*/ 0 h 297"/>
                  <a:gd name="T14" fmla="*/ 0 60000 65536"/>
                  <a:gd name="T15" fmla="*/ 0 60000 65536"/>
                  <a:gd name="T16" fmla="*/ 0 60000 65536"/>
                  <a:gd name="T17" fmla="*/ 0 60000 65536"/>
                  <a:gd name="T18" fmla="*/ 0 60000 65536"/>
                  <a:gd name="T19" fmla="*/ 0 60000 65536"/>
                  <a:gd name="T20" fmla="*/ 0 60000 65536"/>
                  <a:gd name="T21" fmla="*/ 0 w 1777"/>
                  <a:gd name="T22" fmla="*/ 0 h 297"/>
                  <a:gd name="T23" fmla="*/ 1777 w 1777"/>
                  <a:gd name="T24" fmla="*/ 297 h 29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77" h="297">
                    <a:moveTo>
                      <a:pt x="54" y="52"/>
                    </a:moveTo>
                    <a:lnTo>
                      <a:pt x="0" y="297"/>
                    </a:lnTo>
                    <a:lnTo>
                      <a:pt x="1759" y="257"/>
                    </a:lnTo>
                    <a:lnTo>
                      <a:pt x="1777" y="173"/>
                    </a:lnTo>
                    <a:lnTo>
                      <a:pt x="1773" y="74"/>
                    </a:lnTo>
                    <a:lnTo>
                      <a:pt x="1768" y="0"/>
                    </a:lnTo>
                    <a:lnTo>
                      <a:pt x="54" y="52"/>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00" name="Freeform 2106"/>
              <p:cNvSpPr>
                <a:spLocks/>
              </p:cNvSpPr>
              <p:nvPr/>
            </p:nvSpPr>
            <p:spPr bwMode="auto">
              <a:xfrm>
                <a:off x="624" y="3519"/>
                <a:ext cx="256" cy="369"/>
              </a:xfrm>
              <a:custGeom>
                <a:avLst/>
                <a:gdLst>
                  <a:gd name="T0" fmla="*/ 0 w 513"/>
                  <a:gd name="T1" fmla="*/ 0 h 1106"/>
                  <a:gd name="T2" fmla="*/ 0 w 513"/>
                  <a:gd name="T3" fmla="*/ 0 h 1106"/>
                  <a:gd name="T4" fmla="*/ 3 w 513"/>
                  <a:gd name="T5" fmla="*/ 1 h 1106"/>
                  <a:gd name="T6" fmla="*/ 4 w 513"/>
                  <a:gd name="T7" fmla="*/ 0 h 1106"/>
                  <a:gd name="T8" fmla="*/ 0 w 513"/>
                  <a:gd name="T9" fmla="*/ 0 h 1106"/>
                  <a:gd name="T10" fmla="*/ 0 60000 65536"/>
                  <a:gd name="T11" fmla="*/ 0 60000 65536"/>
                  <a:gd name="T12" fmla="*/ 0 60000 65536"/>
                  <a:gd name="T13" fmla="*/ 0 60000 65536"/>
                  <a:gd name="T14" fmla="*/ 0 60000 65536"/>
                  <a:gd name="T15" fmla="*/ 0 w 513"/>
                  <a:gd name="T16" fmla="*/ 0 h 1106"/>
                  <a:gd name="T17" fmla="*/ 513 w 513"/>
                  <a:gd name="T18" fmla="*/ 1106 h 1106"/>
                </a:gdLst>
                <a:ahLst/>
                <a:cxnLst>
                  <a:cxn ang="T10">
                    <a:pos x="T0" y="T1"/>
                  </a:cxn>
                  <a:cxn ang="T11">
                    <a:pos x="T2" y="T3"/>
                  </a:cxn>
                  <a:cxn ang="T12">
                    <a:pos x="T4" y="T5"/>
                  </a:cxn>
                  <a:cxn ang="T13">
                    <a:pos x="T6" y="T7"/>
                  </a:cxn>
                  <a:cxn ang="T14">
                    <a:pos x="T8" y="T9"/>
                  </a:cxn>
                </a:cxnLst>
                <a:rect l="T15" t="T16" r="T17" b="T18"/>
                <a:pathLst>
                  <a:path w="513" h="1106">
                    <a:moveTo>
                      <a:pt x="37" y="0"/>
                    </a:moveTo>
                    <a:lnTo>
                      <a:pt x="0" y="200"/>
                    </a:lnTo>
                    <a:lnTo>
                      <a:pt x="457" y="1106"/>
                    </a:lnTo>
                    <a:lnTo>
                      <a:pt x="513" y="862"/>
                    </a:lnTo>
                    <a:lnTo>
                      <a:pt x="37"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01" name="Freeform 2107"/>
              <p:cNvSpPr>
                <a:spLocks/>
              </p:cNvSpPr>
              <p:nvPr/>
            </p:nvSpPr>
            <p:spPr bwMode="auto">
              <a:xfrm>
                <a:off x="1206" y="3791"/>
                <a:ext cx="132" cy="8"/>
              </a:xfrm>
              <a:custGeom>
                <a:avLst/>
                <a:gdLst>
                  <a:gd name="T0" fmla="*/ 1 w 262"/>
                  <a:gd name="T1" fmla="*/ 0 h 25"/>
                  <a:gd name="T2" fmla="*/ 0 w 262"/>
                  <a:gd name="T3" fmla="*/ 0 h 25"/>
                  <a:gd name="T4" fmla="*/ 2 w 262"/>
                  <a:gd name="T5" fmla="*/ 0 h 25"/>
                  <a:gd name="T6" fmla="*/ 3 w 262"/>
                  <a:gd name="T7" fmla="*/ 0 h 25"/>
                  <a:gd name="T8" fmla="*/ 1 w 262"/>
                  <a:gd name="T9" fmla="*/ 0 h 25"/>
                  <a:gd name="T10" fmla="*/ 0 60000 65536"/>
                  <a:gd name="T11" fmla="*/ 0 60000 65536"/>
                  <a:gd name="T12" fmla="*/ 0 60000 65536"/>
                  <a:gd name="T13" fmla="*/ 0 60000 65536"/>
                  <a:gd name="T14" fmla="*/ 0 60000 65536"/>
                  <a:gd name="T15" fmla="*/ 0 w 262"/>
                  <a:gd name="T16" fmla="*/ 0 h 25"/>
                  <a:gd name="T17" fmla="*/ 262 w 262"/>
                  <a:gd name="T18" fmla="*/ 25 h 25"/>
                </a:gdLst>
                <a:ahLst/>
                <a:cxnLst>
                  <a:cxn ang="T10">
                    <a:pos x="T0" y="T1"/>
                  </a:cxn>
                  <a:cxn ang="T11">
                    <a:pos x="T2" y="T3"/>
                  </a:cxn>
                  <a:cxn ang="T12">
                    <a:pos x="T4" y="T5"/>
                  </a:cxn>
                  <a:cxn ang="T13">
                    <a:pos x="T6" y="T7"/>
                  </a:cxn>
                  <a:cxn ang="T14">
                    <a:pos x="T8" y="T9"/>
                  </a:cxn>
                </a:cxnLst>
                <a:rect l="T15" t="T16" r="T17" b="T18"/>
                <a:pathLst>
                  <a:path w="262" h="25">
                    <a:moveTo>
                      <a:pt x="2" y="25"/>
                    </a:moveTo>
                    <a:lnTo>
                      <a:pt x="0" y="0"/>
                    </a:lnTo>
                    <a:lnTo>
                      <a:pt x="249" y="0"/>
                    </a:lnTo>
                    <a:lnTo>
                      <a:pt x="262" y="19"/>
                    </a:lnTo>
                    <a:lnTo>
                      <a:pt x="2" y="2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02" name="Freeform 2108"/>
              <p:cNvSpPr>
                <a:spLocks/>
              </p:cNvSpPr>
              <p:nvPr/>
            </p:nvSpPr>
            <p:spPr bwMode="auto">
              <a:xfrm>
                <a:off x="927" y="3521"/>
                <a:ext cx="281" cy="279"/>
              </a:xfrm>
              <a:custGeom>
                <a:avLst/>
                <a:gdLst>
                  <a:gd name="T0" fmla="*/ 5 w 561"/>
                  <a:gd name="T1" fmla="*/ 0 h 836"/>
                  <a:gd name="T2" fmla="*/ 0 w 561"/>
                  <a:gd name="T3" fmla="*/ 0 h 836"/>
                  <a:gd name="T4" fmla="*/ 5 w 561"/>
                  <a:gd name="T5" fmla="*/ 0 h 836"/>
                  <a:gd name="T6" fmla="*/ 5 w 561"/>
                  <a:gd name="T7" fmla="*/ 0 h 836"/>
                  <a:gd name="T8" fmla="*/ 0 60000 65536"/>
                  <a:gd name="T9" fmla="*/ 0 60000 65536"/>
                  <a:gd name="T10" fmla="*/ 0 60000 65536"/>
                  <a:gd name="T11" fmla="*/ 0 60000 65536"/>
                  <a:gd name="T12" fmla="*/ 0 w 561"/>
                  <a:gd name="T13" fmla="*/ 0 h 836"/>
                  <a:gd name="T14" fmla="*/ 561 w 561"/>
                  <a:gd name="T15" fmla="*/ 836 h 836"/>
                </a:gdLst>
                <a:ahLst/>
                <a:cxnLst>
                  <a:cxn ang="T8">
                    <a:pos x="T0" y="T1"/>
                  </a:cxn>
                  <a:cxn ang="T9">
                    <a:pos x="T2" y="T3"/>
                  </a:cxn>
                  <a:cxn ang="T10">
                    <a:pos x="T4" y="T5"/>
                  </a:cxn>
                  <a:cxn ang="T11">
                    <a:pos x="T6" y="T7"/>
                  </a:cxn>
                </a:cxnLst>
                <a:rect l="T12" t="T13" r="T14" b="T15"/>
                <a:pathLst>
                  <a:path w="561" h="836">
                    <a:moveTo>
                      <a:pt x="557" y="801"/>
                    </a:moveTo>
                    <a:lnTo>
                      <a:pt x="0" y="0"/>
                    </a:lnTo>
                    <a:lnTo>
                      <a:pt x="561" y="836"/>
                    </a:lnTo>
                    <a:lnTo>
                      <a:pt x="557" y="801"/>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903" name="Group 2109"/>
              <p:cNvGrpSpPr>
                <a:grpSpLocks/>
              </p:cNvGrpSpPr>
              <p:nvPr/>
            </p:nvGrpSpPr>
            <p:grpSpPr bwMode="auto">
              <a:xfrm>
                <a:off x="700" y="3526"/>
                <a:ext cx="515" cy="270"/>
                <a:chOff x="700" y="3526"/>
                <a:chExt cx="515" cy="270"/>
              </a:xfrm>
            </p:grpSpPr>
            <p:grpSp>
              <p:nvGrpSpPr>
                <p:cNvPr id="1929" name="Group 2110"/>
                <p:cNvGrpSpPr>
                  <a:grpSpLocks/>
                </p:cNvGrpSpPr>
                <p:nvPr/>
              </p:nvGrpSpPr>
              <p:grpSpPr bwMode="auto">
                <a:xfrm>
                  <a:off x="737" y="3534"/>
                  <a:ext cx="49" cy="23"/>
                  <a:chOff x="737" y="3534"/>
                  <a:chExt cx="49" cy="23"/>
                </a:xfrm>
              </p:grpSpPr>
              <p:sp>
                <p:nvSpPr>
                  <p:cNvPr id="2340" name="Freeform 2111"/>
                  <p:cNvSpPr>
                    <a:spLocks/>
                  </p:cNvSpPr>
                  <p:nvPr/>
                </p:nvSpPr>
                <p:spPr bwMode="auto">
                  <a:xfrm>
                    <a:off x="737" y="3534"/>
                    <a:ext cx="11" cy="23"/>
                  </a:xfrm>
                  <a:custGeom>
                    <a:avLst/>
                    <a:gdLst>
                      <a:gd name="T0" fmla="*/ 1 w 22"/>
                      <a:gd name="T1" fmla="*/ 0 h 67"/>
                      <a:gd name="T2" fmla="*/ 0 w 22"/>
                      <a:gd name="T3" fmla="*/ 0 h 67"/>
                      <a:gd name="T4" fmla="*/ 1 w 22"/>
                      <a:gd name="T5" fmla="*/ 0 h 67"/>
                      <a:gd name="T6" fmla="*/ 1 w 22"/>
                      <a:gd name="T7" fmla="*/ 0 h 67"/>
                      <a:gd name="T8" fmla="*/ 1 w 22"/>
                      <a:gd name="T9" fmla="*/ 0 h 67"/>
                      <a:gd name="T10" fmla="*/ 0 60000 65536"/>
                      <a:gd name="T11" fmla="*/ 0 60000 65536"/>
                      <a:gd name="T12" fmla="*/ 0 60000 65536"/>
                      <a:gd name="T13" fmla="*/ 0 60000 65536"/>
                      <a:gd name="T14" fmla="*/ 0 60000 65536"/>
                      <a:gd name="T15" fmla="*/ 0 w 22"/>
                      <a:gd name="T16" fmla="*/ 0 h 67"/>
                      <a:gd name="T17" fmla="*/ 22 w 22"/>
                      <a:gd name="T18" fmla="*/ 67 h 67"/>
                    </a:gdLst>
                    <a:ahLst/>
                    <a:cxnLst>
                      <a:cxn ang="T10">
                        <a:pos x="T0" y="T1"/>
                      </a:cxn>
                      <a:cxn ang="T11">
                        <a:pos x="T2" y="T3"/>
                      </a:cxn>
                      <a:cxn ang="T12">
                        <a:pos x="T4" y="T5"/>
                      </a:cxn>
                      <a:cxn ang="T13">
                        <a:pos x="T6" y="T7"/>
                      </a:cxn>
                      <a:cxn ang="T14">
                        <a:pos x="T8" y="T9"/>
                      </a:cxn>
                    </a:cxnLst>
                    <a:rect l="T15" t="T16" r="T17" b="T18"/>
                    <a:pathLst>
                      <a:path w="22" h="67">
                        <a:moveTo>
                          <a:pt x="13" y="67"/>
                        </a:moveTo>
                        <a:lnTo>
                          <a:pt x="0" y="26"/>
                        </a:lnTo>
                        <a:lnTo>
                          <a:pt x="9" y="0"/>
                        </a:lnTo>
                        <a:lnTo>
                          <a:pt x="22" y="30"/>
                        </a:lnTo>
                        <a:lnTo>
                          <a:pt x="13"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41" name="Freeform 2112"/>
                  <p:cNvSpPr>
                    <a:spLocks/>
                  </p:cNvSpPr>
                  <p:nvPr/>
                </p:nvSpPr>
                <p:spPr bwMode="auto">
                  <a:xfrm>
                    <a:off x="742" y="3535"/>
                    <a:ext cx="36" cy="9"/>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2" y="2"/>
                        </a:lnTo>
                        <a:lnTo>
                          <a:pt x="55" y="11"/>
                        </a:lnTo>
                        <a:lnTo>
                          <a:pt x="73" y="29"/>
                        </a:lnTo>
                        <a:lnTo>
                          <a:pt x="17" y="29"/>
                        </a:lnTo>
                        <a:lnTo>
                          <a:pt x="8"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42" name="Freeform 2113"/>
                  <p:cNvSpPr>
                    <a:spLocks/>
                  </p:cNvSpPr>
                  <p:nvPr/>
                </p:nvSpPr>
                <p:spPr bwMode="auto">
                  <a:xfrm>
                    <a:off x="744" y="3545"/>
                    <a:ext cx="42"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7"/>
                        </a:lnTo>
                        <a:lnTo>
                          <a:pt x="10" y="0"/>
                        </a:lnTo>
                        <a:lnTo>
                          <a:pt x="67" y="0"/>
                        </a:lnTo>
                        <a:lnTo>
                          <a:pt x="82"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30" name="Group 2114"/>
                <p:cNvGrpSpPr>
                  <a:grpSpLocks/>
                </p:cNvGrpSpPr>
                <p:nvPr/>
              </p:nvGrpSpPr>
              <p:grpSpPr bwMode="auto">
                <a:xfrm>
                  <a:off x="748" y="3547"/>
                  <a:ext cx="50" cy="23"/>
                  <a:chOff x="748" y="3547"/>
                  <a:chExt cx="50" cy="23"/>
                </a:xfrm>
              </p:grpSpPr>
              <p:sp>
                <p:nvSpPr>
                  <p:cNvPr id="2337" name="Freeform 2115"/>
                  <p:cNvSpPr>
                    <a:spLocks/>
                  </p:cNvSpPr>
                  <p:nvPr/>
                </p:nvSpPr>
                <p:spPr bwMode="auto">
                  <a:xfrm>
                    <a:off x="748"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38" name="Freeform 2116"/>
                  <p:cNvSpPr>
                    <a:spLocks/>
                  </p:cNvSpPr>
                  <p:nvPr/>
                </p:nvSpPr>
                <p:spPr bwMode="auto">
                  <a:xfrm>
                    <a:off x="753" y="3548"/>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39" name="Freeform 2117"/>
                  <p:cNvSpPr>
                    <a:spLocks/>
                  </p:cNvSpPr>
                  <p:nvPr/>
                </p:nvSpPr>
                <p:spPr bwMode="auto">
                  <a:xfrm>
                    <a:off x="757" y="3558"/>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931" name="Freeform 2118"/>
                <p:cNvSpPr>
                  <a:spLocks/>
                </p:cNvSpPr>
                <p:nvPr/>
              </p:nvSpPr>
              <p:spPr bwMode="auto">
                <a:xfrm>
                  <a:off x="952" y="3538"/>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32" name="Freeform 2119"/>
                <p:cNvSpPr>
                  <a:spLocks/>
                </p:cNvSpPr>
                <p:nvPr/>
              </p:nvSpPr>
              <p:spPr bwMode="auto">
                <a:xfrm>
                  <a:off x="861" y="3535"/>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33" name="Freeform 2120"/>
                <p:cNvSpPr>
                  <a:spLocks/>
                </p:cNvSpPr>
                <p:nvPr/>
              </p:nvSpPr>
              <p:spPr bwMode="auto">
                <a:xfrm>
                  <a:off x="867" y="3535"/>
                  <a:ext cx="34" cy="10"/>
                </a:xfrm>
                <a:custGeom>
                  <a:avLst/>
                  <a:gdLst>
                    <a:gd name="T0" fmla="*/ 0 w 70"/>
                    <a:gd name="T1" fmla="*/ 0 h 30"/>
                    <a:gd name="T2" fmla="*/ 0 w 70"/>
                    <a:gd name="T3" fmla="*/ 0 h 30"/>
                    <a:gd name="T4" fmla="*/ 0 w 70"/>
                    <a:gd name="T5" fmla="*/ 0 h 30"/>
                    <a:gd name="T6" fmla="*/ 0 w 70"/>
                    <a:gd name="T7" fmla="*/ 0 h 30"/>
                    <a:gd name="T8" fmla="*/ 0 w 70"/>
                    <a:gd name="T9" fmla="*/ 0 h 30"/>
                    <a:gd name="T10" fmla="*/ 0 w 70"/>
                    <a:gd name="T11" fmla="*/ 0 h 30"/>
                    <a:gd name="T12" fmla="*/ 0 w 70"/>
                    <a:gd name="T13" fmla="*/ 0 h 30"/>
                    <a:gd name="T14" fmla="*/ 0 w 70"/>
                    <a:gd name="T15" fmla="*/ 0 h 30"/>
                    <a:gd name="T16" fmla="*/ 0 w 70"/>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0"/>
                    <a:gd name="T28" fmla="*/ 0 h 30"/>
                    <a:gd name="T29" fmla="*/ 70 w 70"/>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0" h="30">
                      <a:moveTo>
                        <a:pt x="0" y="0"/>
                      </a:moveTo>
                      <a:lnTo>
                        <a:pt x="49" y="0"/>
                      </a:lnTo>
                      <a:lnTo>
                        <a:pt x="50" y="3"/>
                      </a:lnTo>
                      <a:lnTo>
                        <a:pt x="54" y="13"/>
                      </a:lnTo>
                      <a:lnTo>
                        <a:pt x="70" y="30"/>
                      </a:lnTo>
                      <a:lnTo>
                        <a:pt x="16" y="30"/>
                      </a:lnTo>
                      <a:lnTo>
                        <a:pt x="7" y="21"/>
                      </a:lnTo>
                      <a:lnTo>
                        <a:pt x="0" y="7"/>
                      </a:lnTo>
                      <a:lnTo>
                        <a:pt x="0"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34" name="Freeform 2121"/>
                <p:cNvSpPr>
                  <a:spLocks/>
                </p:cNvSpPr>
                <p:nvPr/>
              </p:nvSpPr>
              <p:spPr bwMode="auto">
                <a:xfrm>
                  <a:off x="868" y="354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935" name="Group 2122"/>
                <p:cNvGrpSpPr>
                  <a:grpSpLocks/>
                </p:cNvGrpSpPr>
                <p:nvPr/>
              </p:nvGrpSpPr>
              <p:grpSpPr bwMode="auto">
                <a:xfrm>
                  <a:off x="872" y="3547"/>
                  <a:ext cx="50" cy="23"/>
                  <a:chOff x="872" y="3547"/>
                  <a:chExt cx="50" cy="23"/>
                </a:xfrm>
              </p:grpSpPr>
              <p:sp>
                <p:nvSpPr>
                  <p:cNvPr id="2334" name="Freeform 2123"/>
                  <p:cNvSpPr>
                    <a:spLocks/>
                  </p:cNvSpPr>
                  <p:nvPr/>
                </p:nvSpPr>
                <p:spPr bwMode="auto">
                  <a:xfrm>
                    <a:off x="872"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35" name="Freeform 2124"/>
                  <p:cNvSpPr>
                    <a:spLocks/>
                  </p:cNvSpPr>
                  <p:nvPr/>
                </p:nvSpPr>
                <p:spPr bwMode="auto">
                  <a:xfrm>
                    <a:off x="878" y="3547"/>
                    <a:ext cx="36" cy="10"/>
                  </a:xfrm>
                  <a:custGeom>
                    <a:avLst/>
                    <a:gdLst>
                      <a:gd name="T0" fmla="*/ 0 w 73"/>
                      <a:gd name="T1" fmla="*/ 0 h 30"/>
                      <a:gd name="T2" fmla="*/ 0 w 73"/>
                      <a:gd name="T3" fmla="*/ 0 h 30"/>
                      <a:gd name="T4" fmla="*/ 0 w 73"/>
                      <a:gd name="T5" fmla="*/ 0 h 30"/>
                      <a:gd name="T6" fmla="*/ 0 w 73"/>
                      <a:gd name="T7" fmla="*/ 0 h 30"/>
                      <a:gd name="T8" fmla="*/ 0 w 73"/>
                      <a:gd name="T9" fmla="*/ 0 h 30"/>
                      <a:gd name="T10" fmla="*/ 0 w 73"/>
                      <a:gd name="T11" fmla="*/ 0 h 30"/>
                      <a:gd name="T12" fmla="*/ 0 w 73"/>
                      <a:gd name="T13" fmla="*/ 0 h 30"/>
                      <a:gd name="T14" fmla="*/ 0 w 73"/>
                      <a:gd name="T15" fmla="*/ 0 h 30"/>
                      <a:gd name="T16" fmla="*/ 0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2" y="0"/>
                        </a:moveTo>
                        <a:lnTo>
                          <a:pt x="49" y="0"/>
                        </a:lnTo>
                        <a:lnTo>
                          <a:pt x="50" y="3"/>
                        </a:lnTo>
                        <a:lnTo>
                          <a:pt x="57" y="12"/>
                        </a:lnTo>
                        <a:lnTo>
                          <a:pt x="73"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36" name="Freeform 2125"/>
                  <p:cNvSpPr>
                    <a:spLocks/>
                  </p:cNvSpPr>
                  <p:nvPr/>
                </p:nvSpPr>
                <p:spPr bwMode="auto">
                  <a:xfrm>
                    <a:off x="880" y="3558"/>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36" name="Group 2126"/>
                <p:cNvGrpSpPr>
                  <a:grpSpLocks/>
                </p:cNvGrpSpPr>
                <p:nvPr/>
              </p:nvGrpSpPr>
              <p:grpSpPr bwMode="auto">
                <a:xfrm>
                  <a:off x="885" y="3559"/>
                  <a:ext cx="50" cy="23"/>
                  <a:chOff x="885" y="3559"/>
                  <a:chExt cx="50" cy="23"/>
                </a:xfrm>
              </p:grpSpPr>
              <p:sp>
                <p:nvSpPr>
                  <p:cNvPr id="2331" name="Freeform 2127"/>
                  <p:cNvSpPr>
                    <a:spLocks/>
                  </p:cNvSpPr>
                  <p:nvPr/>
                </p:nvSpPr>
                <p:spPr bwMode="auto">
                  <a:xfrm>
                    <a:off x="885" y="3559"/>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32" name="Freeform 2128"/>
                  <p:cNvSpPr>
                    <a:spLocks/>
                  </p:cNvSpPr>
                  <p:nvPr/>
                </p:nvSpPr>
                <p:spPr bwMode="auto">
                  <a:xfrm>
                    <a:off x="890" y="3560"/>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3" y="0"/>
                        </a:moveTo>
                        <a:lnTo>
                          <a:pt x="49" y="0"/>
                        </a:lnTo>
                        <a:lnTo>
                          <a:pt x="52" y="3"/>
                        </a:lnTo>
                        <a:lnTo>
                          <a:pt x="57" y="12"/>
                        </a:lnTo>
                        <a:lnTo>
                          <a:pt x="74" y="30"/>
                        </a:lnTo>
                        <a:lnTo>
                          <a:pt x="19" y="30"/>
                        </a:lnTo>
                        <a:lnTo>
                          <a:pt x="10"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33" name="Freeform 2129"/>
                  <p:cNvSpPr>
                    <a:spLocks/>
                  </p:cNvSpPr>
                  <p:nvPr/>
                </p:nvSpPr>
                <p:spPr bwMode="auto">
                  <a:xfrm>
                    <a:off x="893" y="357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37" name="Group 2130"/>
                <p:cNvGrpSpPr>
                  <a:grpSpLocks/>
                </p:cNvGrpSpPr>
                <p:nvPr/>
              </p:nvGrpSpPr>
              <p:grpSpPr bwMode="auto">
                <a:xfrm>
                  <a:off x="898" y="3571"/>
                  <a:ext cx="49" cy="23"/>
                  <a:chOff x="898" y="3571"/>
                  <a:chExt cx="49" cy="23"/>
                </a:xfrm>
              </p:grpSpPr>
              <p:sp>
                <p:nvSpPr>
                  <p:cNvPr id="2328" name="Freeform 2131"/>
                  <p:cNvSpPr>
                    <a:spLocks/>
                  </p:cNvSpPr>
                  <p:nvPr/>
                </p:nvSpPr>
                <p:spPr bwMode="auto">
                  <a:xfrm>
                    <a:off x="898" y="3571"/>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29" name="Freeform 2132"/>
                  <p:cNvSpPr>
                    <a:spLocks/>
                  </p:cNvSpPr>
                  <p:nvPr/>
                </p:nvSpPr>
                <p:spPr bwMode="auto">
                  <a:xfrm>
                    <a:off x="903" y="3572"/>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2"/>
                        </a:lnTo>
                        <a:lnTo>
                          <a:pt x="57" y="11"/>
                        </a:lnTo>
                        <a:lnTo>
                          <a:pt x="75" y="29"/>
                        </a:lnTo>
                        <a:lnTo>
                          <a:pt x="19" y="29"/>
                        </a:lnTo>
                        <a:lnTo>
                          <a:pt x="11"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30" name="Freeform 2133"/>
                  <p:cNvSpPr>
                    <a:spLocks/>
                  </p:cNvSpPr>
                  <p:nvPr/>
                </p:nvSpPr>
                <p:spPr bwMode="auto">
                  <a:xfrm>
                    <a:off x="907" y="3582"/>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38" name="Group 2134"/>
                <p:cNvGrpSpPr>
                  <a:grpSpLocks/>
                </p:cNvGrpSpPr>
                <p:nvPr/>
              </p:nvGrpSpPr>
              <p:grpSpPr bwMode="auto">
                <a:xfrm>
                  <a:off x="911" y="3585"/>
                  <a:ext cx="49" cy="23"/>
                  <a:chOff x="911" y="3585"/>
                  <a:chExt cx="49" cy="23"/>
                </a:xfrm>
              </p:grpSpPr>
              <p:sp>
                <p:nvSpPr>
                  <p:cNvPr id="2325" name="Freeform 2135"/>
                  <p:cNvSpPr>
                    <a:spLocks/>
                  </p:cNvSpPr>
                  <p:nvPr/>
                </p:nvSpPr>
                <p:spPr bwMode="auto">
                  <a:xfrm>
                    <a:off x="911" y="3585"/>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0"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26" name="Freeform 2136"/>
                  <p:cNvSpPr>
                    <a:spLocks/>
                  </p:cNvSpPr>
                  <p:nvPr/>
                </p:nvSpPr>
                <p:spPr bwMode="auto">
                  <a:xfrm>
                    <a:off x="915" y="3585"/>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2" y="0"/>
                        </a:lnTo>
                        <a:lnTo>
                          <a:pt x="53" y="3"/>
                        </a:lnTo>
                        <a:lnTo>
                          <a:pt x="57" y="12"/>
                        </a:lnTo>
                        <a:lnTo>
                          <a:pt x="75" y="30"/>
                        </a:lnTo>
                        <a:lnTo>
                          <a:pt x="19" y="30"/>
                        </a:lnTo>
                        <a:lnTo>
                          <a:pt x="11"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27" name="Freeform 2137"/>
                  <p:cNvSpPr>
                    <a:spLocks/>
                  </p:cNvSpPr>
                  <p:nvPr/>
                </p:nvSpPr>
                <p:spPr bwMode="auto">
                  <a:xfrm>
                    <a:off x="919" y="359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39" name="Group 2138"/>
                <p:cNvGrpSpPr>
                  <a:grpSpLocks/>
                </p:cNvGrpSpPr>
                <p:nvPr/>
              </p:nvGrpSpPr>
              <p:grpSpPr bwMode="auto">
                <a:xfrm>
                  <a:off x="923" y="3600"/>
                  <a:ext cx="99" cy="73"/>
                  <a:chOff x="923" y="3600"/>
                  <a:chExt cx="99" cy="73"/>
                </a:xfrm>
              </p:grpSpPr>
              <p:grpSp>
                <p:nvGrpSpPr>
                  <p:cNvPr id="2305" name="Group 2139"/>
                  <p:cNvGrpSpPr>
                    <a:grpSpLocks/>
                  </p:cNvGrpSpPr>
                  <p:nvPr/>
                </p:nvGrpSpPr>
                <p:grpSpPr bwMode="auto">
                  <a:xfrm>
                    <a:off x="923" y="3600"/>
                    <a:ext cx="49" cy="23"/>
                    <a:chOff x="923" y="3600"/>
                    <a:chExt cx="49" cy="23"/>
                  </a:xfrm>
                </p:grpSpPr>
                <p:sp>
                  <p:nvSpPr>
                    <p:cNvPr id="2322" name="Freeform 2140"/>
                    <p:cNvSpPr>
                      <a:spLocks/>
                    </p:cNvSpPr>
                    <p:nvPr/>
                  </p:nvSpPr>
                  <p:spPr bwMode="auto">
                    <a:xfrm>
                      <a:off x="923" y="3600"/>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0"/>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23" name="Freeform 2141"/>
                    <p:cNvSpPr>
                      <a:spLocks/>
                    </p:cNvSpPr>
                    <p:nvPr/>
                  </p:nvSpPr>
                  <p:spPr bwMode="auto">
                    <a:xfrm>
                      <a:off x="928" y="3600"/>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3"/>
                          </a:lnTo>
                          <a:lnTo>
                            <a:pt x="57" y="12"/>
                          </a:lnTo>
                          <a:lnTo>
                            <a:pt x="75" y="29"/>
                          </a:lnTo>
                          <a:lnTo>
                            <a:pt x="19" y="29"/>
                          </a:lnTo>
                          <a:lnTo>
                            <a:pt x="9"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24" name="Freeform 2142"/>
                    <p:cNvSpPr>
                      <a:spLocks/>
                    </p:cNvSpPr>
                    <p:nvPr/>
                  </p:nvSpPr>
                  <p:spPr bwMode="auto">
                    <a:xfrm>
                      <a:off x="930" y="3610"/>
                      <a:ext cx="42" cy="13"/>
                    </a:xfrm>
                    <a:custGeom>
                      <a:avLst/>
                      <a:gdLst>
                        <a:gd name="T0" fmla="*/ 0 w 82"/>
                        <a:gd name="T1" fmla="*/ 0 h 37"/>
                        <a:gd name="T2" fmla="*/ 1 w 82"/>
                        <a:gd name="T3" fmla="*/ 0 h 37"/>
                        <a:gd name="T4" fmla="*/ 1 w 82"/>
                        <a:gd name="T5" fmla="*/ 0 h 37"/>
                        <a:gd name="T6" fmla="*/ 1 w 82"/>
                        <a:gd name="T7" fmla="*/ 0 h 37"/>
                        <a:gd name="T8" fmla="*/ 1 w 82"/>
                        <a:gd name="T9" fmla="*/ 0 h 37"/>
                        <a:gd name="T10" fmla="*/ 1 w 82"/>
                        <a:gd name="T11" fmla="*/ 0 h 37"/>
                        <a:gd name="T12" fmla="*/ 0 w 82"/>
                        <a:gd name="T13" fmla="*/ 0 h 37"/>
                        <a:gd name="T14" fmla="*/ 0 60000 65536"/>
                        <a:gd name="T15" fmla="*/ 0 60000 65536"/>
                        <a:gd name="T16" fmla="*/ 0 60000 65536"/>
                        <a:gd name="T17" fmla="*/ 0 60000 65536"/>
                        <a:gd name="T18" fmla="*/ 0 60000 65536"/>
                        <a:gd name="T19" fmla="*/ 0 60000 65536"/>
                        <a:gd name="T20" fmla="*/ 0 60000 65536"/>
                        <a:gd name="T21" fmla="*/ 0 w 82"/>
                        <a:gd name="T22" fmla="*/ 0 h 37"/>
                        <a:gd name="T23" fmla="*/ 82 w 82"/>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7">
                          <a:moveTo>
                            <a:pt x="0" y="37"/>
                          </a:moveTo>
                          <a:lnTo>
                            <a:pt x="2" y="22"/>
                          </a:lnTo>
                          <a:lnTo>
                            <a:pt x="7" y="7"/>
                          </a:lnTo>
                          <a:lnTo>
                            <a:pt x="13" y="0"/>
                          </a:lnTo>
                          <a:lnTo>
                            <a:pt x="69" y="0"/>
                          </a:lnTo>
                          <a:lnTo>
                            <a:pt x="82"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06" name="Group 2143"/>
                  <p:cNvGrpSpPr>
                    <a:grpSpLocks/>
                  </p:cNvGrpSpPr>
                  <p:nvPr/>
                </p:nvGrpSpPr>
                <p:grpSpPr bwMode="auto">
                  <a:xfrm>
                    <a:off x="935" y="3612"/>
                    <a:ext cx="48" cy="23"/>
                    <a:chOff x="935" y="3612"/>
                    <a:chExt cx="48" cy="23"/>
                  </a:xfrm>
                </p:grpSpPr>
                <p:sp>
                  <p:nvSpPr>
                    <p:cNvPr id="2319" name="Freeform 2144"/>
                    <p:cNvSpPr>
                      <a:spLocks/>
                    </p:cNvSpPr>
                    <p:nvPr/>
                  </p:nvSpPr>
                  <p:spPr bwMode="auto">
                    <a:xfrm>
                      <a:off x="935"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20" name="Freeform 2145"/>
                    <p:cNvSpPr>
                      <a:spLocks/>
                    </p:cNvSpPr>
                    <p:nvPr/>
                  </p:nvSpPr>
                  <p:spPr bwMode="auto">
                    <a:xfrm>
                      <a:off x="939" y="3612"/>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3" y="3"/>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21" name="Freeform 2146"/>
                    <p:cNvSpPr>
                      <a:spLocks/>
                    </p:cNvSpPr>
                    <p:nvPr/>
                  </p:nvSpPr>
                  <p:spPr bwMode="auto">
                    <a:xfrm>
                      <a:off x="943"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07" name="Group 2147"/>
                  <p:cNvGrpSpPr>
                    <a:grpSpLocks/>
                  </p:cNvGrpSpPr>
                  <p:nvPr/>
                </p:nvGrpSpPr>
                <p:grpSpPr bwMode="auto">
                  <a:xfrm>
                    <a:off x="947" y="3625"/>
                    <a:ext cx="50" cy="22"/>
                    <a:chOff x="947" y="3625"/>
                    <a:chExt cx="50" cy="22"/>
                  </a:xfrm>
                </p:grpSpPr>
                <p:sp>
                  <p:nvSpPr>
                    <p:cNvPr id="2316" name="Freeform 2148"/>
                    <p:cNvSpPr>
                      <a:spLocks/>
                    </p:cNvSpPr>
                    <p:nvPr/>
                  </p:nvSpPr>
                  <p:spPr bwMode="auto">
                    <a:xfrm>
                      <a:off x="947" y="3625"/>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17" name="Freeform 2149"/>
                    <p:cNvSpPr>
                      <a:spLocks/>
                    </p:cNvSpPr>
                    <p:nvPr/>
                  </p:nvSpPr>
                  <p:spPr bwMode="auto">
                    <a:xfrm>
                      <a:off x="953" y="3625"/>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1" y="2"/>
                          </a:lnTo>
                          <a:lnTo>
                            <a:pt x="57" y="11"/>
                          </a:lnTo>
                          <a:lnTo>
                            <a:pt x="73" y="29"/>
                          </a:lnTo>
                          <a:lnTo>
                            <a:pt x="19"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18" name="Freeform 2150"/>
                    <p:cNvSpPr>
                      <a:spLocks/>
                    </p:cNvSpPr>
                    <p:nvPr/>
                  </p:nvSpPr>
                  <p:spPr bwMode="auto">
                    <a:xfrm>
                      <a:off x="955" y="363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0"/>
                          </a:lnTo>
                          <a:lnTo>
                            <a:pt x="7" y="8"/>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08" name="Group 2151"/>
                  <p:cNvGrpSpPr>
                    <a:grpSpLocks/>
                  </p:cNvGrpSpPr>
                  <p:nvPr/>
                </p:nvGrpSpPr>
                <p:grpSpPr bwMode="auto">
                  <a:xfrm>
                    <a:off x="960" y="3637"/>
                    <a:ext cx="50" cy="23"/>
                    <a:chOff x="960" y="3637"/>
                    <a:chExt cx="50" cy="23"/>
                  </a:xfrm>
                </p:grpSpPr>
                <p:sp>
                  <p:nvSpPr>
                    <p:cNvPr id="2313" name="Freeform 2152"/>
                    <p:cNvSpPr>
                      <a:spLocks/>
                    </p:cNvSpPr>
                    <p:nvPr/>
                  </p:nvSpPr>
                  <p:spPr bwMode="auto">
                    <a:xfrm>
                      <a:off x="960" y="363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7"/>
                          </a:lnTo>
                          <a:lnTo>
                            <a:pt x="12"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14" name="Freeform 2153"/>
                    <p:cNvSpPr>
                      <a:spLocks/>
                    </p:cNvSpPr>
                    <p:nvPr/>
                  </p:nvSpPr>
                  <p:spPr bwMode="auto">
                    <a:xfrm>
                      <a:off x="965" y="3638"/>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3" y="0"/>
                          </a:moveTo>
                          <a:lnTo>
                            <a:pt x="49" y="0"/>
                          </a:lnTo>
                          <a:lnTo>
                            <a:pt x="53" y="2"/>
                          </a:lnTo>
                          <a:lnTo>
                            <a:pt x="57" y="11"/>
                          </a:lnTo>
                          <a:lnTo>
                            <a:pt x="74" y="29"/>
                          </a:lnTo>
                          <a:lnTo>
                            <a:pt x="19"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15" name="Freeform 2154"/>
                    <p:cNvSpPr>
                      <a:spLocks/>
                    </p:cNvSpPr>
                    <p:nvPr/>
                  </p:nvSpPr>
                  <p:spPr bwMode="auto">
                    <a:xfrm>
                      <a:off x="968" y="3648"/>
                      <a:ext cx="42" cy="12"/>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1" y="19"/>
                          </a:lnTo>
                          <a:lnTo>
                            <a:pt x="6" y="7"/>
                          </a:lnTo>
                          <a:lnTo>
                            <a:pt x="10"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09" name="Group 2155"/>
                  <p:cNvGrpSpPr>
                    <a:grpSpLocks/>
                  </p:cNvGrpSpPr>
                  <p:nvPr/>
                </p:nvGrpSpPr>
                <p:grpSpPr bwMode="auto">
                  <a:xfrm>
                    <a:off x="973" y="3650"/>
                    <a:ext cx="49" cy="23"/>
                    <a:chOff x="973" y="3650"/>
                    <a:chExt cx="49" cy="23"/>
                  </a:xfrm>
                </p:grpSpPr>
                <p:sp>
                  <p:nvSpPr>
                    <p:cNvPr id="2310" name="Freeform 2156"/>
                    <p:cNvSpPr>
                      <a:spLocks/>
                    </p:cNvSpPr>
                    <p:nvPr/>
                  </p:nvSpPr>
                  <p:spPr bwMode="auto">
                    <a:xfrm>
                      <a:off x="973" y="3650"/>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11" name="Freeform 2157"/>
                    <p:cNvSpPr>
                      <a:spLocks/>
                    </p:cNvSpPr>
                    <p:nvPr/>
                  </p:nvSpPr>
                  <p:spPr bwMode="auto">
                    <a:xfrm>
                      <a:off x="978"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49" y="0"/>
                          </a:lnTo>
                          <a:lnTo>
                            <a:pt x="50" y="2"/>
                          </a:lnTo>
                          <a:lnTo>
                            <a:pt x="57" y="11"/>
                          </a:lnTo>
                          <a:lnTo>
                            <a:pt x="74" y="29"/>
                          </a:lnTo>
                          <a:lnTo>
                            <a:pt x="19" y="29"/>
                          </a:lnTo>
                          <a:lnTo>
                            <a:pt x="10"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12" name="Freeform 2158"/>
                    <p:cNvSpPr>
                      <a:spLocks/>
                    </p:cNvSpPr>
                    <p:nvPr/>
                  </p:nvSpPr>
                  <p:spPr bwMode="auto">
                    <a:xfrm>
                      <a:off x="982" y="3661"/>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5"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40" name="Group 2159"/>
                <p:cNvGrpSpPr>
                  <a:grpSpLocks/>
                </p:cNvGrpSpPr>
                <p:nvPr/>
              </p:nvGrpSpPr>
              <p:grpSpPr bwMode="auto">
                <a:xfrm>
                  <a:off x="985" y="3665"/>
                  <a:ext cx="100" cy="73"/>
                  <a:chOff x="985" y="3665"/>
                  <a:chExt cx="100" cy="73"/>
                </a:xfrm>
              </p:grpSpPr>
              <p:grpSp>
                <p:nvGrpSpPr>
                  <p:cNvPr id="2285" name="Group 2160"/>
                  <p:cNvGrpSpPr>
                    <a:grpSpLocks/>
                  </p:cNvGrpSpPr>
                  <p:nvPr/>
                </p:nvGrpSpPr>
                <p:grpSpPr bwMode="auto">
                  <a:xfrm>
                    <a:off x="985" y="3665"/>
                    <a:ext cx="50" cy="23"/>
                    <a:chOff x="985" y="3665"/>
                    <a:chExt cx="50" cy="23"/>
                  </a:xfrm>
                </p:grpSpPr>
                <p:sp>
                  <p:nvSpPr>
                    <p:cNvPr id="2302" name="Freeform 2161"/>
                    <p:cNvSpPr>
                      <a:spLocks/>
                    </p:cNvSpPr>
                    <p:nvPr/>
                  </p:nvSpPr>
                  <p:spPr bwMode="auto">
                    <a:xfrm>
                      <a:off x="985" y="366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03" name="Freeform 2162"/>
                    <p:cNvSpPr>
                      <a:spLocks/>
                    </p:cNvSpPr>
                    <p:nvPr/>
                  </p:nvSpPr>
                  <p:spPr bwMode="auto">
                    <a:xfrm>
                      <a:off x="989" y="3665"/>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04" name="Freeform 2163"/>
                    <p:cNvSpPr>
                      <a:spLocks/>
                    </p:cNvSpPr>
                    <p:nvPr/>
                  </p:nvSpPr>
                  <p:spPr bwMode="auto">
                    <a:xfrm>
                      <a:off x="993"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86" name="Group 2164"/>
                  <p:cNvGrpSpPr>
                    <a:grpSpLocks/>
                  </p:cNvGrpSpPr>
                  <p:nvPr/>
                </p:nvGrpSpPr>
                <p:grpSpPr bwMode="auto">
                  <a:xfrm>
                    <a:off x="997" y="3677"/>
                    <a:ext cx="49" cy="23"/>
                    <a:chOff x="997" y="3677"/>
                    <a:chExt cx="49" cy="23"/>
                  </a:xfrm>
                </p:grpSpPr>
                <p:sp>
                  <p:nvSpPr>
                    <p:cNvPr id="2299" name="Freeform 2165"/>
                    <p:cNvSpPr>
                      <a:spLocks/>
                    </p:cNvSpPr>
                    <p:nvPr/>
                  </p:nvSpPr>
                  <p:spPr bwMode="auto">
                    <a:xfrm>
                      <a:off x="997" y="367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1"/>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00" name="Freeform 2166"/>
                    <p:cNvSpPr>
                      <a:spLocks/>
                    </p:cNvSpPr>
                    <p:nvPr/>
                  </p:nvSpPr>
                  <p:spPr bwMode="auto">
                    <a:xfrm>
                      <a:off x="1002" y="367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10"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01" name="Freeform 2167"/>
                    <p:cNvSpPr>
                      <a:spLocks/>
                    </p:cNvSpPr>
                    <p:nvPr/>
                  </p:nvSpPr>
                  <p:spPr bwMode="auto">
                    <a:xfrm>
                      <a:off x="1005" y="3688"/>
                      <a:ext cx="41" cy="12"/>
                    </a:xfrm>
                    <a:custGeom>
                      <a:avLst/>
                      <a:gdLst>
                        <a:gd name="T0" fmla="*/ 0 w 83"/>
                        <a:gd name="T1" fmla="*/ 0 h 37"/>
                        <a:gd name="T2" fmla="*/ 0 w 83"/>
                        <a:gd name="T3" fmla="*/ 0 h 37"/>
                        <a:gd name="T4" fmla="*/ 0 w 83"/>
                        <a:gd name="T5" fmla="*/ 0 h 37"/>
                        <a:gd name="T6" fmla="*/ 0 w 83"/>
                        <a:gd name="T7" fmla="*/ 0 h 37"/>
                        <a:gd name="T8" fmla="*/ 0 w 83"/>
                        <a:gd name="T9" fmla="*/ 0 h 37"/>
                        <a:gd name="T10" fmla="*/ 0 w 83"/>
                        <a:gd name="T11" fmla="*/ 0 h 37"/>
                        <a:gd name="T12" fmla="*/ 0 w 83"/>
                        <a:gd name="T13" fmla="*/ 0 h 37"/>
                        <a:gd name="T14" fmla="*/ 0 60000 65536"/>
                        <a:gd name="T15" fmla="*/ 0 60000 65536"/>
                        <a:gd name="T16" fmla="*/ 0 60000 65536"/>
                        <a:gd name="T17" fmla="*/ 0 60000 65536"/>
                        <a:gd name="T18" fmla="*/ 0 60000 65536"/>
                        <a:gd name="T19" fmla="*/ 0 60000 65536"/>
                        <a:gd name="T20" fmla="*/ 0 60000 65536"/>
                        <a:gd name="T21" fmla="*/ 0 w 83"/>
                        <a:gd name="T22" fmla="*/ 0 h 37"/>
                        <a:gd name="T23" fmla="*/ 83 w 83"/>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7">
                          <a:moveTo>
                            <a:pt x="0" y="37"/>
                          </a:moveTo>
                          <a:lnTo>
                            <a:pt x="4" y="19"/>
                          </a:lnTo>
                          <a:lnTo>
                            <a:pt x="8" y="8"/>
                          </a:lnTo>
                          <a:lnTo>
                            <a:pt x="13" y="0"/>
                          </a:lnTo>
                          <a:lnTo>
                            <a:pt x="68" y="0"/>
                          </a:lnTo>
                          <a:lnTo>
                            <a:pt x="83"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87" name="Group 2168"/>
                  <p:cNvGrpSpPr>
                    <a:grpSpLocks/>
                  </p:cNvGrpSpPr>
                  <p:nvPr/>
                </p:nvGrpSpPr>
                <p:grpSpPr bwMode="auto">
                  <a:xfrm>
                    <a:off x="1010" y="3690"/>
                    <a:ext cx="48" cy="23"/>
                    <a:chOff x="1010" y="3690"/>
                    <a:chExt cx="48" cy="23"/>
                  </a:xfrm>
                </p:grpSpPr>
                <p:sp>
                  <p:nvSpPr>
                    <p:cNvPr id="2296" name="Freeform 2169"/>
                    <p:cNvSpPr>
                      <a:spLocks/>
                    </p:cNvSpPr>
                    <p:nvPr/>
                  </p:nvSpPr>
                  <p:spPr bwMode="auto">
                    <a:xfrm>
                      <a:off x="1010" y="3690"/>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97" name="Freeform 2170"/>
                    <p:cNvSpPr>
                      <a:spLocks/>
                    </p:cNvSpPr>
                    <p:nvPr/>
                  </p:nvSpPr>
                  <p:spPr bwMode="auto">
                    <a:xfrm>
                      <a:off x="1014" y="369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3"/>
                          </a:lnTo>
                          <a:lnTo>
                            <a:pt x="56" y="12"/>
                          </a:lnTo>
                          <a:lnTo>
                            <a:pt x="75" y="31"/>
                          </a:lnTo>
                          <a:lnTo>
                            <a:pt x="18" y="31"/>
                          </a:lnTo>
                          <a:lnTo>
                            <a:pt x="9" y="22"/>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98" name="Freeform 2171"/>
                    <p:cNvSpPr>
                      <a:spLocks/>
                    </p:cNvSpPr>
                    <p:nvPr/>
                  </p:nvSpPr>
                  <p:spPr bwMode="auto">
                    <a:xfrm>
                      <a:off x="1018" y="3701"/>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8" y="7"/>
                          </a:lnTo>
                          <a:lnTo>
                            <a:pt x="12" y="0"/>
                          </a:lnTo>
                          <a:lnTo>
                            <a:pt x="69"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88" name="Group 2172"/>
                  <p:cNvGrpSpPr>
                    <a:grpSpLocks/>
                  </p:cNvGrpSpPr>
                  <p:nvPr/>
                </p:nvGrpSpPr>
                <p:grpSpPr bwMode="auto">
                  <a:xfrm>
                    <a:off x="1023" y="3703"/>
                    <a:ext cx="49" cy="22"/>
                    <a:chOff x="1023" y="3703"/>
                    <a:chExt cx="49" cy="22"/>
                  </a:xfrm>
                </p:grpSpPr>
                <p:sp>
                  <p:nvSpPr>
                    <p:cNvPr id="2293" name="Freeform 2173"/>
                    <p:cNvSpPr>
                      <a:spLocks/>
                    </p:cNvSpPr>
                    <p:nvPr/>
                  </p:nvSpPr>
                  <p:spPr bwMode="auto">
                    <a:xfrm>
                      <a:off x="1023" y="3703"/>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3" y="68"/>
                          </a:moveTo>
                          <a:lnTo>
                            <a:pt x="0" y="27"/>
                          </a:lnTo>
                          <a:lnTo>
                            <a:pt x="9" y="0"/>
                          </a:lnTo>
                          <a:lnTo>
                            <a:pt x="25"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94" name="Freeform 2174"/>
                    <p:cNvSpPr>
                      <a:spLocks/>
                    </p:cNvSpPr>
                    <p:nvPr/>
                  </p:nvSpPr>
                  <p:spPr bwMode="auto">
                    <a:xfrm>
                      <a:off x="1028" y="3703"/>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95" name="Freeform 2175"/>
                    <p:cNvSpPr>
                      <a:spLocks/>
                    </p:cNvSpPr>
                    <p:nvPr/>
                  </p:nvSpPr>
                  <p:spPr bwMode="auto">
                    <a:xfrm>
                      <a:off x="1030" y="371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3" y="0"/>
                          </a:lnTo>
                          <a:lnTo>
                            <a:pt x="70"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89" name="Group 2176"/>
                  <p:cNvGrpSpPr>
                    <a:grpSpLocks/>
                  </p:cNvGrpSpPr>
                  <p:nvPr/>
                </p:nvGrpSpPr>
                <p:grpSpPr bwMode="auto">
                  <a:xfrm>
                    <a:off x="1036" y="3716"/>
                    <a:ext cx="49" cy="22"/>
                    <a:chOff x="1036" y="3716"/>
                    <a:chExt cx="49" cy="22"/>
                  </a:xfrm>
                </p:grpSpPr>
                <p:sp>
                  <p:nvSpPr>
                    <p:cNvPr id="2290" name="Freeform 2177"/>
                    <p:cNvSpPr>
                      <a:spLocks/>
                    </p:cNvSpPr>
                    <p:nvPr/>
                  </p:nvSpPr>
                  <p:spPr bwMode="auto">
                    <a:xfrm>
                      <a:off x="1036" y="3716"/>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91" name="Freeform 2178"/>
                    <p:cNvSpPr>
                      <a:spLocks/>
                    </p:cNvSpPr>
                    <p:nvPr/>
                  </p:nvSpPr>
                  <p:spPr bwMode="auto">
                    <a:xfrm>
                      <a:off x="1040" y="371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3" y="0"/>
                          </a:moveTo>
                          <a:lnTo>
                            <a:pt x="51" y="0"/>
                          </a:lnTo>
                          <a:lnTo>
                            <a:pt x="53" y="2"/>
                          </a:lnTo>
                          <a:lnTo>
                            <a:pt x="57" y="11"/>
                          </a:lnTo>
                          <a:lnTo>
                            <a:pt x="75" y="29"/>
                          </a:lnTo>
                          <a:lnTo>
                            <a:pt x="18"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92" name="Freeform 2179"/>
                    <p:cNvSpPr>
                      <a:spLocks/>
                    </p:cNvSpPr>
                    <p:nvPr/>
                  </p:nvSpPr>
                  <p:spPr bwMode="auto">
                    <a:xfrm>
                      <a:off x="1043" y="3726"/>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6" y="8"/>
                          </a:lnTo>
                          <a:lnTo>
                            <a:pt x="10"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41" name="Group 2180"/>
                <p:cNvGrpSpPr>
                  <a:grpSpLocks/>
                </p:cNvGrpSpPr>
                <p:nvPr/>
              </p:nvGrpSpPr>
              <p:grpSpPr bwMode="auto">
                <a:xfrm>
                  <a:off x="1046" y="3727"/>
                  <a:ext cx="49" cy="23"/>
                  <a:chOff x="1046" y="3727"/>
                  <a:chExt cx="49" cy="23"/>
                </a:xfrm>
              </p:grpSpPr>
              <p:sp>
                <p:nvSpPr>
                  <p:cNvPr id="2282" name="Freeform 2181"/>
                  <p:cNvSpPr>
                    <a:spLocks/>
                  </p:cNvSpPr>
                  <p:nvPr/>
                </p:nvSpPr>
                <p:spPr bwMode="auto">
                  <a:xfrm>
                    <a:off x="1046" y="372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2"/>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83" name="Freeform 2182"/>
                  <p:cNvSpPr>
                    <a:spLocks/>
                  </p:cNvSpPr>
                  <p:nvPr/>
                </p:nvSpPr>
                <p:spPr bwMode="auto">
                  <a:xfrm>
                    <a:off x="1051" y="3727"/>
                    <a:ext cx="36" cy="11"/>
                  </a:xfrm>
                  <a:custGeom>
                    <a:avLst/>
                    <a:gdLst>
                      <a:gd name="T0" fmla="*/ 0 w 73"/>
                      <a:gd name="T1" fmla="*/ 0 h 31"/>
                      <a:gd name="T2" fmla="*/ 0 w 73"/>
                      <a:gd name="T3" fmla="*/ 0 h 31"/>
                      <a:gd name="T4" fmla="*/ 0 w 73"/>
                      <a:gd name="T5" fmla="*/ 0 h 31"/>
                      <a:gd name="T6" fmla="*/ 0 w 73"/>
                      <a:gd name="T7" fmla="*/ 0 h 31"/>
                      <a:gd name="T8" fmla="*/ 0 w 73"/>
                      <a:gd name="T9" fmla="*/ 0 h 31"/>
                      <a:gd name="T10" fmla="*/ 0 w 73"/>
                      <a:gd name="T11" fmla="*/ 0 h 31"/>
                      <a:gd name="T12" fmla="*/ 0 w 73"/>
                      <a:gd name="T13" fmla="*/ 0 h 31"/>
                      <a:gd name="T14" fmla="*/ 0 w 73"/>
                      <a:gd name="T15" fmla="*/ 0 h 31"/>
                      <a:gd name="T16" fmla="*/ 0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9" y="0"/>
                        </a:lnTo>
                        <a:lnTo>
                          <a:pt x="50" y="4"/>
                        </a:lnTo>
                        <a:lnTo>
                          <a:pt x="57" y="13"/>
                        </a:lnTo>
                        <a:lnTo>
                          <a:pt x="73" y="31"/>
                        </a:lnTo>
                        <a:lnTo>
                          <a:pt x="17"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84" name="Freeform 2183"/>
                  <p:cNvSpPr>
                    <a:spLocks/>
                  </p:cNvSpPr>
                  <p:nvPr/>
                </p:nvSpPr>
                <p:spPr bwMode="auto">
                  <a:xfrm>
                    <a:off x="1054" y="3738"/>
                    <a:ext cx="41"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6"/>
                        </a:lnTo>
                        <a:lnTo>
                          <a:pt x="10"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42" name="Group 2184"/>
                <p:cNvGrpSpPr>
                  <a:grpSpLocks/>
                </p:cNvGrpSpPr>
                <p:nvPr/>
              </p:nvGrpSpPr>
              <p:grpSpPr bwMode="auto">
                <a:xfrm>
                  <a:off x="1058" y="3739"/>
                  <a:ext cx="50" cy="23"/>
                  <a:chOff x="1058" y="3739"/>
                  <a:chExt cx="50" cy="23"/>
                </a:xfrm>
              </p:grpSpPr>
              <p:sp>
                <p:nvSpPr>
                  <p:cNvPr id="2279" name="Freeform 2185"/>
                  <p:cNvSpPr>
                    <a:spLocks/>
                  </p:cNvSpPr>
                  <p:nvPr/>
                </p:nvSpPr>
                <p:spPr bwMode="auto">
                  <a:xfrm>
                    <a:off x="1058" y="3739"/>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80" name="Freeform 2186"/>
                  <p:cNvSpPr>
                    <a:spLocks/>
                  </p:cNvSpPr>
                  <p:nvPr/>
                </p:nvSpPr>
                <p:spPr bwMode="auto">
                  <a:xfrm>
                    <a:off x="1063" y="3740"/>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0" y="0"/>
                        </a:lnTo>
                        <a:lnTo>
                          <a:pt x="51" y="3"/>
                        </a:lnTo>
                        <a:lnTo>
                          <a:pt x="58" y="12"/>
                        </a:lnTo>
                        <a:lnTo>
                          <a:pt x="75" y="30"/>
                        </a:lnTo>
                        <a:lnTo>
                          <a:pt x="18" y="30"/>
                        </a:lnTo>
                        <a:lnTo>
                          <a:pt x="11" y="21"/>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81" name="Freeform 2187"/>
                  <p:cNvSpPr>
                    <a:spLocks/>
                  </p:cNvSpPr>
                  <p:nvPr/>
                </p:nvSpPr>
                <p:spPr bwMode="auto">
                  <a:xfrm>
                    <a:off x="1067" y="3750"/>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43" name="Group 2188"/>
                <p:cNvGrpSpPr>
                  <a:grpSpLocks/>
                </p:cNvGrpSpPr>
                <p:nvPr/>
              </p:nvGrpSpPr>
              <p:grpSpPr bwMode="auto">
                <a:xfrm>
                  <a:off x="1072" y="3753"/>
                  <a:ext cx="48" cy="22"/>
                  <a:chOff x="1072" y="3753"/>
                  <a:chExt cx="48" cy="22"/>
                </a:xfrm>
              </p:grpSpPr>
              <p:sp>
                <p:nvSpPr>
                  <p:cNvPr id="2276" name="Freeform 2189"/>
                  <p:cNvSpPr>
                    <a:spLocks/>
                  </p:cNvSpPr>
                  <p:nvPr/>
                </p:nvSpPr>
                <p:spPr bwMode="auto">
                  <a:xfrm>
                    <a:off x="1072" y="3753"/>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9"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77" name="Freeform 2190"/>
                  <p:cNvSpPr>
                    <a:spLocks/>
                  </p:cNvSpPr>
                  <p:nvPr/>
                </p:nvSpPr>
                <p:spPr bwMode="auto">
                  <a:xfrm>
                    <a:off x="1076" y="3753"/>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0" y="0"/>
                        </a:lnTo>
                        <a:lnTo>
                          <a:pt x="52" y="4"/>
                        </a:lnTo>
                        <a:lnTo>
                          <a:pt x="57" y="13"/>
                        </a:lnTo>
                        <a:lnTo>
                          <a:pt x="74" y="31"/>
                        </a:lnTo>
                        <a:lnTo>
                          <a:pt x="19" y="31"/>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78" name="Freeform 2191"/>
                  <p:cNvSpPr>
                    <a:spLocks/>
                  </p:cNvSpPr>
                  <p:nvPr/>
                </p:nvSpPr>
                <p:spPr bwMode="auto">
                  <a:xfrm>
                    <a:off x="1079" y="376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3" y="20"/>
                        </a:lnTo>
                        <a:lnTo>
                          <a:pt x="6"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944" name="Freeform 2192"/>
                <p:cNvSpPr>
                  <a:spLocks/>
                </p:cNvSpPr>
                <p:nvPr/>
              </p:nvSpPr>
              <p:spPr bwMode="auto">
                <a:xfrm>
                  <a:off x="820" y="3535"/>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1"/>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45" name="Freeform 2193"/>
                <p:cNvSpPr>
                  <a:spLocks/>
                </p:cNvSpPr>
                <p:nvPr/>
              </p:nvSpPr>
              <p:spPr bwMode="auto">
                <a:xfrm>
                  <a:off x="825" y="3535"/>
                  <a:ext cx="36" cy="9"/>
                </a:xfrm>
                <a:custGeom>
                  <a:avLst/>
                  <a:gdLst>
                    <a:gd name="T0" fmla="*/ 0 w 71"/>
                    <a:gd name="T1" fmla="*/ 0 h 27"/>
                    <a:gd name="T2" fmla="*/ 1 w 71"/>
                    <a:gd name="T3" fmla="*/ 0 h 27"/>
                    <a:gd name="T4" fmla="*/ 1 w 71"/>
                    <a:gd name="T5" fmla="*/ 0 h 27"/>
                    <a:gd name="T6" fmla="*/ 1 w 71"/>
                    <a:gd name="T7" fmla="*/ 0 h 27"/>
                    <a:gd name="T8" fmla="*/ 1 w 71"/>
                    <a:gd name="T9" fmla="*/ 0 h 27"/>
                    <a:gd name="T10" fmla="*/ 1 w 71"/>
                    <a:gd name="T11" fmla="*/ 0 h 27"/>
                    <a:gd name="T12" fmla="*/ 1 w 71"/>
                    <a:gd name="T13" fmla="*/ 0 h 27"/>
                    <a:gd name="T14" fmla="*/ 0 w 71"/>
                    <a:gd name="T15" fmla="*/ 0 h 27"/>
                    <a:gd name="T16" fmla="*/ 0 w 71"/>
                    <a:gd name="T17" fmla="*/ 0 h 2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1"/>
                    <a:gd name="T28" fmla="*/ 0 h 27"/>
                    <a:gd name="T29" fmla="*/ 71 w 71"/>
                    <a:gd name="T30" fmla="*/ 27 h 2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1" h="27">
                      <a:moveTo>
                        <a:pt x="0" y="0"/>
                      </a:moveTo>
                      <a:lnTo>
                        <a:pt x="49" y="0"/>
                      </a:lnTo>
                      <a:lnTo>
                        <a:pt x="51" y="2"/>
                      </a:lnTo>
                      <a:lnTo>
                        <a:pt x="55" y="12"/>
                      </a:lnTo>
                      <a:lnTo>
                        <a:pt x="71" y="27"/>
                      </a:lnTo>
                      <a:lnTo>
                        <a:pt x="17" y="27"/>
                      </a:lnTo>
                      <a:lnTo>
                        <a:pt x="8" y="20"/>
                      </a:lnTo>
                      <a:lnTo>
                        <a:pt x="0" y="6"/>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46" name="Freeform 2194"/>
                <p:cNvSpPr>
                  <a:spLocks/>
                </p:cNvSpPr>
                <p:nvPr/>
              </p:nvSpPr>
              <p:spPr bwMode="auto">
                <a:xfrm>
                  <a:off x="828" y="354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8"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947" name="Group 2195"/>
                <p:cNvGrpSpPr>
                  <a:grpSpLocks/>
                </p:cNvGrpSpPr>
                <p:nvPr/>
              </p:nvGrpSpPr>
              <p:grpSpPr bwMode="auto">
                <a:xfrm>
                  <a:off x="832" y="3547"/>
                  <a:ext cx="49" cy="23"/>
                  <a:chOff x="832" y="3547"/>
                  <a:chExt cx="49" cy="23"/>
                </a:xfrm>
              </p:grpSpPr>
              <p:sp>
                <p:nvSpPr>
                  <p:cNvPr id="2273" name="Freeform 2196"/>
                  <p:cNvSpPr>
                    <a:spLocks/>
                  </p:cNvSpPr>
                  <p:nvPr/>
                </p:nvSpPr>
                <p:spPr bwMode="auto">
                  <a:xfrm>
                    <a:off x="832" y="354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74" name="Freeform 2197"/>
                  <p:cNvSpPr>
                    <a:spLocks/>
                  </p:cNvSpPr>
                  <p:nvPr/>
                </p:nvSpPr>
                <p:spPr bwMode="auto">
                  <a:xfrm>
                    <a:off x="837" y="3548"/>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75" name="Freeform 2198"/>
                  <p:cNvSpPr>
                    <a:spLocks/>
                  </p:cNvSpPr>
                  <p:nvPr/>
                </p:nvSpPr>
                <p:spPr bwMode="auto">
                  <a:xfrm>
                    <a:off x="840" y="355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48" name="Group 2199"/>
                <p:cNvGrpSpPr>
                  <a:grpSpLocks/>
                </p:cNvGrpSpPr>
                <p:nvPr/>
              </p:nvGrpSpPr>
              <p:grpSpPr bwMode="auto">
                <a:xfrm>
                  <a:off x="844" y="3560"/>
                  <a:ext cx="49" cy="22"/>
                  <a:chOff x="844" y="3560"/>
                  <a:chExt cx="49" cy="22"/>
                </a:xfrm>
              </p:grpSpPr>
              <p:sp>
                <p:nvSpPr>
                  <p:cNvPr id="2270" name="Freeform 2200"/>
                  <p:cNvSpPr>
                    <a:spLocks/>
                  </p:cNvSpPr>
                  <p:nvPr/>
                </p:nvSpPr>
                <p:spPr bwMode="auto">
                  <a:xfrm>
                    <a:off x="844" y="3560"/>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71" name="Freeform 2201"/>
                  <p:cNvSpPr>
                    <a:spLocks/>
                  </p:cNvSpPr>
                  <p:nvPr/>
                </p:nvSpPr>
                <p:spPr bwMode="auto">
                  <a:xfrm>
                    <a:off x="849" y="3560"/>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72" name="Freeform 2202"/>
                  <p:cNvSpPr>
                    <a:spLocks/>
                  </p:cNvSpPr>
                  <p:nvPr/>
                </p:nvSpPr>
                <p:spPr bwMode="auto">
                  <a:xfrm>
                    <a:off x="853" y="3571"/>
                    <a:ext cx="40" cy="11"/>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6"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49" name="Group 2203"/>
                <p:cNvGrpSpPr>
                  <a:grpSpLocks/>
                </p:cNvGrpSpPr>
                <p:nvPr/>
              </p:nvGrpSpPr>
              <p:grpSpPr bwMode="auto">
                <a:xfrm>
                  <a:off x="857" y="3572"/>
                  <a:ext cx="50" cy="23"/>
                  <a:chOff x="857" y="3572"/>
                  <a:chExt cx="50" cy="23"/>
                </a:xfrm>
              </p:grpSpPr>
              <p:sp>
                <p:nvSpPr>
                  <p:cNvPr id="2267" name="Freeform 2204"/>
                  <p:cNvSpPr>
                    <a:spLocks/>
                  </p:cNvSpPr>
                  <p:nvPr/>
                </p:nvSpPr>
                <p:spPr bwMode="auto">
                  <a:xfrm>
                    <a:off x="857" y="3572"/>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5"/>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68" name="Freeform 2205"/>
                  <p:cNvSpPr>
                    <a:spLocks/>
                  </p:cNvSpPr>
                  <p:nvPr/>
                </p:nvSpPr>
                <p:spPr bwMode="auto">
                  <a:xfrm>
                    <a:off x="862" y="3573"/>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69" name="Freeform 2206"/>
                  <p:cNvSpPr>
                    <a:spLocks/>
                  </p:cNvSpPr>
                  <p:nvPr/>
                </p:nvSpPr>
                <p:spPr bwMode="auto">
                  <a:xfrm>
                    <a:off x="865" y="358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50" name="Group 2207"/>
                <p:cNvGrpSpPr>
                  <a:grpSpLocks/>
                </p:cNvGrpSpPr>
                <p:nvPr/>
              </p:nvGrpSpPr>
              <p:grpSpPr bwMode="auto">
                <a:xfrm>
                  <a:off x="870" y="3585"/>
                  <a:ext cx="48" cy="23"/>
                  <a:chOff x="870" y="3585"/>
                  <a:chExt cx="48" cy="23"/>
                </a:xfrm>
              </p:grpSpPr>
              <p:sp>
                <p:nvSpPr>
                  <p:cNvPr id="2264" name="Freeform 2208"/>
                  <p:cNvSpPr>
                    <a:spLocks/>
                  </p:cNvSpPr>
                  <p:nvPr/>
                </p:nvSpPr>
                <p:spPr bwMode="auto">
                  <a:xfrm>
                    <a:off x="870" y="358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6"/>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65" name="Freeform 2209"/>
                  <p:cNvSpPr>
                    <a:spLocks/>
                  </p:cNvSpPr>
                  <p:nvPr/>
                </p:nvSpPr>
                <p:spPr bwMode="auto">
                  <a:xfrm>
                    <a:off x="874" y="3586"/>
                    <a:ext cx="38" cy="10"/>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66" name="Freeform 2210"/>
                  <p:cNvSpPr>
                    <a:spLocks/>
                  </p:cNvSpPr>
                  <p:nvPr/>
                </p:nvSpPr>
                <p:spPr bwMode="auto">
                  <a:xfrm>
                    <a:off x="878"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6"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51" name="Group 2211"/>
                <p:cNvGrpSpPr>
                  <a:grpSpLocks/>
                </p:cNvGrpSpPr>
                <p:nvPr/>
              </p:nvGrpSpPr>
              <p:grpSpPr bwMode="auto">
                <a:xfrm>
                  <a:off x="882" y="3600"/>
                  <a:ext cx="100" cy="73"/>
                  <a:chOff x="882" y="3600"/>
                  <a:chExt cx="100" cy="73"/>
                </a:xfrm>
              </p:grpSpPr>
              <p:grpSp>
                <p:nvGrpSpPr>
                  <p:cNvPr id="2244" name="Group 2212"/>
                  <p:cNvGrpSpPr>
                    <a:grpSpLocks/>
                  </p:cNvGrpSpPr>
                  <p:nvPr/>
                </p:nvGrpSpPr>
                <p:grpSpPr bwMode="auto">
                  <a:xfrm>
                    <a:off x="882" y="3600"/>
                    <a:ext cx="49" cy="23"/>
                    <a:chOff x="882" y="3600"/>
                    <a:chExt cx="49" cy="23"/>
                  </a:xfrm>
                </p:grpSpPr>
                <p:sp>
                  <p:nvSpPr>
                    <p:cNvPr id="2261" name="Freeform 2213"/>
                    <p:cNvSpPr>
                      <a:spLocks/>
                    </p:cNvSpPr>
                    <p:nvPr/>
                  </p:nvSpPr>
                  <p:spPr bwMode="auto">
                    <a:xfrm>
                      <a:off x="882" y="3600"/>
                      <a:ext cx="12" cy="23"/>
                    </a:xfrm>
                    <a:custGeom>
                      <a:avLst/>
                      <a:gdLst>
                        <a:gd name="T0" fmla="*/ 1 w 23"/>
                        <a:gd name="T1" fmla="*/ 0 h 70"/>
                        <a:gd name="T2" fmla="*/ 0 w 23"/>
                        <a:gd name="T3" fmla="*/ 0 h 70"/>
                        <a:gd name="T4" fmla="*/ 1 w 23"/>
                        <a:gd name="T5" fmla="*/ 0 h 70"/>
                        <a:gd name="T6" fmla="*/ 1 w 23"/>
                        <a:gd name="T7" fmla="*/ 0 h 70"/>
                        <a:gd name="T8" fmla="*/ 1 w 23"/>
                        <a:gd name="T9" fmla="*/ 0 h 70"/>
                        <a:gd name="T10" fmla="*/ 0 60000 65536"/>
                        <a:gd name="T11" fmla="*/ 0 60000 65536"/>
                        <a:gd name="T12" fmla="*/ 0 60000 65536"/>
                        <a:gd name="T13" fmla="*/ 0 60000 65536"/>
                        <a:gd name="T14" fmla="*/ 0 60000 65536"/>
                        <a:gd name="T15" fmla="*/ 0 w 23"/>
                        <a:gd name="T16" fmla="*/ 0 h 70"/>
                        <a:gd name="T17" fmla="*/ 23 w 23"/>
                        <a:gd name="T18" fmla="*/ 70 h 70"/>
                      </a:gdLst>
                      <a:ahLst/>
                      <a:cxnLst>
                        <a:cxn ang="T10">
                          <a:pos x="T0" y="T1"/>
                        </a:cxn>
                        <a:cxn ang="T11">
                          <a:pos x="T2" y="T3"/>
                        </a:cxn>
                        <a:cxn ang="T12">
                          <a:pos x="T4" y="T5"/>
                        </a:cxn>
                        <a:cxn ang="T13">
                          <a:pos x="T6" y="T7"/>
                        </a:cxn>
                        <a:cxn ang="T14">
                          <a:pos x="T8" y="T9"/>
                        </a:cxn>
                      </a:cxnLst>
                      <a:rect l="T15" t="T16" r="T17" b="T18"/>
                      <a:pathLst>
                        <a:path w="23" h="70">
                          <a:moveTo>
                            <a:pt x="13" y="70"/>
                          </a:moveTo>
                          <a:lnTo>
                            <a:pt x="0" y="27"/>
                          </a:lnTo>
                          <a:lnTo>
                            <a:pt x="9" y="0"/>
                          </a:lnTo>
                          <a:lnTo>
                            <a:pt x="23"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62" name="Freeform 2214"/>
                    <p:cNvSpPr>
                      <a:spLocks/>
                    </p:cNvSpPr>
                    <p:nvPr/>
                  </p:nvSpPr>
                  <p:spPr bwMode="auto">
                    <a:xfrm>
                      <a:off x="887" y="3600"/>
                      <a:ext cx="37" cy="11"/>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50" y="0"/>
                          </a:lnTo>
                          <a:lnTo>
                            <a:pt x="51"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63" name="Freeform 2215"/>
                    <p:cNvSpPr>
                      <a:spLocks/>
                    </p:cNvSpPr>
                    <p:nvPr/>
                  </p:nvSpPr>
                  <p:spPr bwMode="auto">
                    <a:xfrm>
                      <a:off x="890" y="3611"/>
                      <a:ext cx="41" cy="12"/>
                    </a:xfrm>
                    <a:custGeom>
                      <a:avLst/>
                      <a:gdLst>
                        <a:gd name="T0" fmla="*/ 0 w 83"/>
                        <a:gd name="T1" fmla="*/ 0 h 38"/>
                        <a:gd name="T2" fmla="*/ 0 w 83"/>
                        <a:gd name="T3" fmla="*/ 0 h 38"/>
                        <a:gd name="T4" fmla="*/ 0 w 83"/>
                        <a:gd name="T5" fmla="*/ 0 h 38"/>
                        <a:gd name="T6" fmla="*/ 0 w 83"/>
                        <a:gd name="T7" fmla="*/ 0 h 38"/>
                        <a:gd name="T8" fmla="*/ 0 w 83"/>
                        <a:gd name="T9" fmla="*/ 0 h 38"/>
                        <a:gd name="T10" fmla="*/ 0 w 83"/>
                        <a:gd name="T11" fmla="*/ 0 h 38"/>
                        <a:gd name="T12" fmla="*/ 0 w 83"/>
                        <a:gd name="T13" fmla="*/ 0 h 38"/>
                        <a:gd name="T14" fmla="*/ 0 60000 65536"/>
                        <a:gd name="T15" fmla="*/ 0 60000 65536"/>
                        <a:gd name="T16" fmla="*/ 0 60000 65536"/>
                        <a:gd name="T17" fmla="*/ 0 60000 65536"/>
                        <a:gd name="T18" fmla="*/ 0 60000 65536"/>
                        <a:gd name="T19" fmla="*/ 0 60000 65536"/>
                        <a:gd name="T20" fmla="*/ 0 60000 65536"/>
                        <a:gd name="T21" fmla="*/ 0 w 83"/>
                        <a:gd name="T22" fmla="*/ 0 h 38"/>
                        <a:gd name="T23" fmla="*/ 83 w 83"/>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8">
                          <a:moveTo>
                            <a:pt x="0" y="38"/>
                          </a:moveTo>
                          <a:lnTo>
                            <a:pt x="1" y="22"/>
                          </a:lnTo>
                          <a:lnTo>
                            <a:pt x="8" y="8"/>
                          </a:lnTo>
                          <a:lnTo>
                            <a:pt x="12" y="0"/>
                          </a:lnTo>
                          <a:lnTo>
                            <a:pt x="68" y="0"/>
                          </a:lnTo>
                          <a:lnTo>
                            <a:pt x="83"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45" name="Group 2216"/>
                  <p:cNvGrpSpPr>
                    <a:grpSpLocks/>
                  </p:cNvGrpSpPr>
                  <p:nvPr/>
                </p:nvGrpSpPr>
                <p:grpSpPr bwMode="auto">
                  <a:xfrm>
                    <a:off x="894" y="3612"/>
                    <a:ext cx="49" cy="23"/>
                    <a:chOff x="894" y="3612"/>
                    <a:chExt cx="49" cy="23"/>
                  </a:xfrm>
                </p:grpSpPr>
                <p:sp>
                  <p:nvSpPr>
                    <p:cNvPr id="2258" name="Freeform 2217"/>
                    <p:cNvSpPr>
                      <a:spLocks/>
                    </p:cNvSpPr>
                    <p:nvPr/>
                  </p:nvSpPr>
                  <p:spPr bwMode="auto">
                    <a:xfrm>
                      <a:off x="894" y="3612"/>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9"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59" name="Freeform 2218"/>
                    <p:cNvSpPr>
                      <a:spLocks/>
                    </p:cNvSpPr>
                    <p:nvPr/>
                  </p:nvSpPr>
                  <p:spPr bwMode="auto">
                    <a:xfrm>
                      <a:off x="899" y="3613"/>
                      <a:ext cx="37" cy="10"/>
                    </a:xfrm>
                    <a:custGeom>
                      <a:avLst/>
                      <a:gdLst>
                        <a:gd name="T0" fmla="*/ 0 w 75"/>
                        <a:gd name="T1" fmla="*/ 0 h 32"/>
                        <a:gd name="T2" fmla="*/ 0 w 75"/>
                        <a:gd name="T3" fmla="*/ 0 h 32"/>
                        <a:gd name="T4" fmla="*/ 0 w 75"/>
                        <a:gd name="T5" fmla="*/ 0 h 32"/>
                        <a:gd name="T6" fmla="*/ 0 w 75"/>
                        <a:gd name="T7" fmla="*/ 0 h 32"/>
                        <a:gd name="T8" fmla="*/ 0 w 75"/>
                        <a:gd name="T9" fmla="*/ 0 h 32"/>
                        <a:gd name="T10" fmla="*/ 0 w 75"/>
                        <a:gd name="T11" fmla="*/ 0 h 32"/>
                        <a:gd name="T12" fmla="*/ 0 w 75"/>
                        <a:gd name="T13" fmla="*/ 0 h 32"/>
                        <a:gd name="T14" fmla="*/ 0 w 75"/>
                        <a:gd name="T15" fmla="*/ 0 h 32"/>
                        <a:gd name="T16" fmla="*/ 0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2" y="0"/>
                          </a:moveTo>
                          <a:lnTo>
                            <a:pt x="50" y="0"/>
                          </a:lnTo>
                          <a:lnTo>
                            <a:pt x="52" y="3"/>
                          </a:lnTo>
                          <a:lnTo>
                            <a:pt x="57" y="15"/>
                          </a:lnTo>
                          <a:lnTo>
                            <a:pt x="75" y="32"/>
                          </a:lnTo>
                          <a:lnTo>
                            <a:pt x="19" y="32"/>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60" name="Freeform 2219"/>
                    <p:cNvSpPr>
                      <a:spLocks/>
                    </p:cNvSpPr>
                    <p:nvPr/>
                  </p:nvSpPr>
                  <p:spPr bwMode="auto">
                    <a:xfrm>
                      <a:off x="902" y="362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1"/>
                          </a:lnTo>
                          <a:lnTo>
                            <a:pt x="5" y="8"/>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46" name="Group 2220"/>
                  <p:cNvGrpSpPr>
                    <a:grpSpLocks/>
                  </p:cNvGrpSpPr>
                  <p:nvPr/>
                </p:nvGrpSpPr>
                <p:grpSpPr bwMode="auto">
                  <a:xfrm>
                    <a:off x="907" y="3625"/>
                    <a:ext cx="49" cy="23"/>
                    <a:chOff x="907" y="3625"/>
                    <a:chExt cx="49" cy="23"/>
                  </a:xfrm>
                </p:grpSpPr>
                <p:sp>
                  <p:nvSpPr>
                    <p:cNvPr id="2255" name="Freeform 2221"/>
                    <p:cNvSpPr>
                      <a:spLocks/>
                    </p:cNvSpPr>
                    <p:nvPr/>
                  </p:nvSpPr>
                  <p:spPr bwMode="auto">
                    <a:xfrm>
                      <a:off x="907" y="3625"/>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56" name="Freeform 2222"/>
                    <p:cNvSpPr>
                      <a:spLocks/>
                    </p:cNvSpPr>
                    <p:nvPr/>
                  </p:nvSpPr>
                  <p:spPr bwMode="auto">
                    <a:xfrm>
                      <a:off x="912" y="3626"/>
                      <a:ext cx="36" cy="9"/>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57" name="Freeform 2223"/>
                    <p:cNvSpPr>
                      <a:spLocks/>
                    </p:cNvSpPr>
                    <p:nvPr/>
                  </p:nvSpPr>
                  <p:spPr bwMode="auto">
                    <a:xfrm>
                      <a:off x="914" y="363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47" name="Group 2224"/>
                  <p:cNvGrpSpPr>
                    <a:grpSpLocks/>
                  </p:cNvGrpSpPr>
                  <p:nvPr/>
                </p:nvGrpSpPr>
                <p:grpSpPr bwMode="auto">
                  <a:xfrm>
                    <a:off x="919" y="3638"/>
                    <a:ext cx="49" cy="22"/>
                    <a:chOff x="919" y="3638"/>
                    <a:chExt cx="49" cy="22"/>
                  </a:xfrm>
                </p:grpSpPr>
                <p:sp>
                  <p:nvSpPr>
                    <p:cNvPr id="2252" name="Freeform 2225"/>
                    <p:cNvSpPr>
                      <a:spLocks/>
                    </p:cNvSpPr>
                    <p:nvPr/>
                  </p:nvSpPr>
                  <p:spPr bwMode="auto">
                    <a:xfrm>
                      <a:off x="919" y="3638"/>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53" name="Freeform 2226"/>
                    <p:cNvSpPr>
                      <a:spLocks/>
                    </p:cNvSpPr>
                    <p:nvPr/>
                  </p:nvSpPr>
                  <p:spPr bwMode="auto">
                    <a:xfrm>
                      <a:off x="924" y="363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48" y="0"/>
                          </a:lnTo>
                          <a:lnTo>
                            <a:pt x="52" y="3"/>
                          </a:lnTo>
                          <a:lnTo>
                            <a:pt x="56" y="12"/>
                          </a:lnTo>
                          <a:lnTo>
                            <a:pt x="73"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54" name="Freeform 2227"/>
                    <p:cNvSpPr>
                      <a:spLocks/>
                    </p:cNvSpPr>
                    <p:nvPr/>
                  </p:nvSpPr>
                  <p:spPr bwMode="auto">
                    <a:xfrm>
                      <a:off x="928" y="364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48" name="Group 2228"/>
                  <p:cNvGrpSpPr>
                    <a:grpSpLocks/>
                  </p:cNvGrpSpPr>
                  <p:nvPr/>
                </p:nvGrpSpPr>
                <p:grpSpPr bwMode="auto">
                  <a:xfrm>
                    <a:off x="932" y="3651"/>
                    <a:ext cx="50" cy="22"/>
                    <a:chOff x="932" y="3651"/>
                    <a:chExt cx="50" cy="22"/>
                  </a:xfrm>
                </p:grpSpPr>
                <p:sp>
                  <p:nvSpPr>
                    <p:cNvPr id="2249" name="Freeform 2229"/>
                    <p:cNvSpPr>
                      <a:spLocks/>
                    </p:cNvSpPr>
                    <p:nvPr/>
                  </p:nvSpPr>
                  <p:spPr bwMode="auto">
                    <a:xfrm>
                      <a:off x="932" y="36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11" y="0"/>
                          </a:lnTo>
                          <a:lnTo>
                            <a:pt x="24"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50" name="Freeform 2230"/>
                    <p:cNvSpPr>
                      <a:spLocks/>
                    </p:cNvSpPr>
                    <p:nvPr/>
                  </p:nvSpPr>
                  <p:spPr bwMode="auto">
                    <a:xfrm>
                      <a:off x="937" y="3651"/>
                      <a:ext cx="37"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51" name="Freeform 2231"/>
                    <p:cNvSpPr>
                      <a:spLocks/>
                    </p:cNvSpPr>
                    <p:nvPr/>
                  </p:nvSpPr>
                  <p:spPr bwMode="auto">
                    <a:xfrm>
                      <a:off x="940" y="3662"/>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52" name="Group 2232"/>
                <p:cNvGrpSpPr>
                  <a:grpSpLocks/>
                </p:cNvGrpSpPr>
                <p:nvPr/>
              </p:nvGrpSpPr>
              <p:grpSpPr bwMode="auto">
                <a:xfrm>
                  <a:off x="944" y="3665"/>
                  <a:ext cx="99" cy="74"/>
                  <a:chOff x="944" y="3665"/>
                  <a:chExt cx="99" cy="74"/>
                </a:xfrm>
              </p:grpSpPr>
              <p:grpSp>
                <p:nvGrpSpPr>
                  <p:cNvPr id="2224" name="Group 2233"/>
                  <p:cNvGrpSpPr>
                    <a:grpSpLocks/>
                  </p:cNvGrpSpPr>
                  <p:nvPr/>
                </p:nvGrpSpPr>
                <p:grpSpPr bwMode="auto">
                  <a:xfrm>
                    <a:off x="944" y="3665"/>
                    <a:ext cx="49" cy="23"/>
                    <a:chOff x="944" y="3665"/>
                    <a:chExt cx="49" cy="23"/>
                  </a:xfrm>
                </p:grpSpPr>
                <p:sp>
                  <p:nvSpPr>
                    <p:cNvPr id="2241" name="Freeform 2234"/>
                    <p:cNvSpPr>
                      <a:spLocks/>
                    </p:cNvSpPr>
                    <p:nvPr/>
                  </p:nvSpPr>
                  <p:spPr bwMode="auto">
                    <a:xfrm>
                      <a:off x="944" y="3665"/>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42" name="Freeform 2235"/>
                    <p:cNvSpPr>
                      <a:spLocks/>
                    </p:cNvSpPr>
                    <p:nvPr/>
                  </p:nvSpPr>
                  <p:spPr bwMode="auto">
                    <a:xfrm>
                      <a:off x="949" y="3666"/>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4"/>
                          </a:lnTo>
                          <a:lnTo>
                            <a:pt x="57" y="13"/>
                          </a:lnTo>
                          <a:lnTo>
                            <a:pt x="75" y="31"/>
                          </a:lnTo>
                          <a:lnTo>
                            <a:pt x="19" y="31"/>
                          </a:lnTo>
                          <a:lnTo>
                            <a:pt x="11"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43" name="Freeform 2236"/>
                    <p:cNvSpPr>
                      <a:spLocks/>
                    </p:cNvSpPr>
                    <p:nvPr/>
                  </p:nvSpPr>
                  <p:spPr bwMode="auto">
                    <a:xfrm>
                      <a:off x="953" y="367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25" name="Group 2237"/>
                  <p:cNvGrpSpPr>
                    <a:grpSpLocks/>
                  </p:cNvGrpSpPr>
                  <p:nvPr/>
                </p:nvGrpSpPr>
                <p:grpSpPr bwMode="auto">
                  <a:xfrm>
                    <a:off x="957" y="3678"/>
                    <a:ext cx="48" cy="23"/>
                    <a:chOff x="957" y="3678"/>
                    <a:chExt cx="48" cy="23"/>
                  </a:xfrm>
                </p:grpSpPr>
                <p:sp>
                  <p:nvSpPr>
                    <p:cNvPr id="2238" name="Freeform 2238"/>
                    <p:cNvSpPr>
                      <a:spLocks/>
                    </p:cNvSpPr>
                    <p:nvPr/>
                  </p:nvSpPr>
                  <p:spPr bwMode="auto">
                    <a:xfrm>
                      <a:off x="957" y="3678"/>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3" y="70"/>
                          </a:moveTo>
                          <a:lnTo>
                            <a:pt x="0" y="27"/>
                          </a:lnTo>
                          <a:lnTo>
                            <a:pt x="9" y="0"/>
                          </a:lnTo>
                          <a:lnTo>
                            <a:pt x="24"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39" name="Freeform 2239"/>
                    <p:cNvSpPr>
                      <a:spLocks/>
                    </p:cNvSpPr>
                    <p:nvPr/>
                  </p:nvSpPr>
                  <p:spPr bwMode="auto">
                    <a:xfrm>
                      <a:off x="961" y="3678"/>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3"/>
                          </a:lnTo>
                          <a:lnTo>
                            <a:pt x="56" y="12"/>
                          </a:lnTo>
                          <a:lnTo>
                            <a:pt x="74"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40" name="Freeform 2240"/>
                    <p:cNvSpPr>
                      <a:spLocks/>
                    </p:cNvSpPr>
                    <p:nvPr/>
                  </p:nvSpPr>
                  <p:spPr bwMode="auto">
                    <a:xfrm>
                      <a:off x="964" y="3688"/>
                      <a:ext cx="41"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1"/>
                          </a:lnTo>
                          <a:lnTo>
                            <a:pt x="7" y="8"/>
                          </a:lnTo>
                          <a:lnTo>
                            <a:pt x="11" y="0"/>
                          </a:lnTo>
                          <a:lnTo>
                            <a:pt x="68"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26" name="Group 2241"/>
                  <p:cNvGrpSpPr>
                    <a:grpSpLocks/>
                  </p:cNvGrpSpPr>
                  <p:nvPr/>
                </p:nvGrpSpPr>
                <p:grpSpPr bwMode="auto">
                  <a:xfrm>
                    <a:off x="969" y="3690"/>
                    <a:ext cx="49" cy="23"/>
                    <a:chOff x="969" y="3690"/>
                    <a:chExt cx="49" cy="23"/>
                  </a:xfrm>
                </p:grpSpPr>
                <p:sp>
                  <p:nvSpPr>
                    <p:cNvPr id="2235" name="Freeform 2242"/>
                    <p:cNvSpPr>
                      <a:spLocks/>
                    </p:cNvSpPr>
                    <p:nvPr/>
                  </p:nvSpPr>
                  <p:spPr bwMode="auto">
                    <a:xfrm>
                      <a:off x="969" y="369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9"/>
                          </a:lnTo>
                          <a:lnTo>
                            <a:pt x="9" y="0"/>
                          </a:lnTo>
                          <a:lnTo>
                            <a:pt x="25" y="33"/>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36" name="Freeform 2243"/>
                    <p:cNvSpPr>
                      <a:spLocks/>
                    </p:cNvSpPr>
                    <p:nvPr/>
                  </p:nvSpPr>
                  <p:spPr bwMode="auto">
                    <a:xfrm>
                      <a:off x="974" y="3691"/>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9"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37" name="Freeform 2244"/>
                    <p:cNvSpPr>
                      <a:spLocks/>
                    </p:cNvSpPr>
                    <p:nvPr/>
                  </p:nvSpPr>
                  <p:spPr bwMode="auto">
                    <a:xfrm>
                      <a:off x="977" y="370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6" y="7"/>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27" name="Group 2245"/>
                  <p:cNvGrpSpPr>
                    <a:grpSpLocks/>
                  </p:cNvGrpSpPr>
                  <p:nvPr/>
                </p:nvGrpSpPr>
                <p:grpSpPr bwMode="auto">
                  <a:xfrm>
                    <a:off x="982" y="3703"/>
                    <a:ext cx="49" cy="23"/>
                    <a:chOff x="982" y="3703"/>
                    <a:chExt cx="49" cy="23"/>
                  </a:xfrm>
                </p:grpSpPr>
                <p:sp>
                  <p:nvSpPr>
                    <p:cNvPr id="2232" name="Freeform 2246"/>
                    <p:cNvSpPr>
                      <a:spLocks/>
                    </p:cNvSpPr>
                    <p:nvPr/>
                  </p:nvSpPr>
                  <p:spPr bwMode="auto">
                    <a:xfrm>
                      <a:off x="982"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33" name="Freeform 2247"/>
                    <p:cNvSpPr>
                      <a:spLocks/>
                    </p:cNvSpPr>
                    <p:nvPr/>
                  </p:nvSpPr>
                  <p:spPr bwMode="auto">
                    <a:xfrm>
                      <a:off x="987" y="3703"/>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34" name="Freeform 2248"/>
                    <p:cNvSpPr>
                      <a:spLocks/>
                    </p:cNvSpPr>
                    <p:nvPr/>
                  </p:nvSpPr>
                  <p:spPr bwMode="auto">
                    <a:xfrm>
                      <a:off x="989" y="3714"/>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28" name="Group 2249"/>
                  <p:cNvGrpSpPr>
                    <a:grpSpLocks/>
                  </p:cNvGrpSpPr>
                  <p:nvPr/>
                </p:nvGrpSpPr>
                <p:grpSpPr bwMode="auto">
                  <a:xfrm>
                    <a:off x="995" y="3716"/>
                    <a:ext cx="48" cy="23"/>
                    <a:chOff x="995" y="3716"/>
                    <a:chExt cx="48" cy="23"/>
                  </a:xfrm>
                </p:grpSpPr>
                <p:sp>
                  <p:nvSpPr>
                    <p:cNvPr id="2229" name="Freeform 2250"/>
                    <p:cNvSpPr>
                      <a:spLocks/>
                    </p:cNvSpPr>
                    <p:nvPr/>
                  </p:nvSpPr>
                  <p:spPr bwMode="auto">
                    <a:xfrm>
                      <a:off x="995" y="3716"/>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0"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30" name="Freeform 2251"/>
                    <p:cNvSpPr>
                      <a:spLocks/>
                    </p:cNvSpPr>
                    <p:nvPr/>
                  </p:nvSpPr>
                  <p:spPr bwMode="auto">
                    <a:xfrm>
                      <a:off x="999" y="3717"/>
                      <a:ext cx="38"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2" y="3"/>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31" name="Freeform 2252"/>
                    <p:cNvSpPr>
                      <a:spLocks/>
                    </p:cNvSpPr>
                    <p:nvPr/>
                  </p:nvSpPr>
                  <p:spPr bwMode="auto">
                    <a:xfrm>
                      <a:off x="1003" y="3727"/>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5" y="7"/>
                          </a:lnTo>
                          <a:lnTo>
                            <a:pt x="11"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53" name="Group 2253"/>
                <p:cNvGrpSpPr>
                  <a:grpSpLocks/>
                </p:cNvGrpSpPr>
                <p:nvPr/>
              </p:nvGrpSpPr>
              <p:grpSpPr bwMode="auto">
                <a:xfrm>
                  <a:off x="1005" y="3727"/>
                  <a:ext cx="49" cy="23"/>
                  <a:chOff x="1005" y="3727"/>
                  <a:chExt cx="49" cy="23"/>
                </a:xfrm>
              </p:grpSpPr>
              <p:sp>
                <p:nvSpPr>
                  <p:cNvPr id="2221" name="Freeform 2254"/>
                  <p:cNvSpPr>
                    <a:spLocks/>
                  </p:cNvSpPr>
                  <p:nvPr/>
                </p:nvSpPr>
                <p:spPr bwMode="auto">
                  <a:xfrm>
                    <a:off x="1005" y="372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2"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22" name="Freeform 2255"/>
                  <p:cNvSpPr>
                    <a:spLocks/>
                  </p:cNvSpPr>
                  <p:nvPr/>
                </p:nvSpPr>
                <p:spPr bwMode="auto">
                  <a:xfrm>
                    <a:off x="1010"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8" y="0"/>
                        </a:lnTo>
                        <a:lnTo>
                          <a:pt x="51" y="4"/>
                        </a:lnTo>
                        <a:lnTo>
                          <a:pt x="56" y="13"/>
                        </a:lnTo>
                        <a:lnTo>
                          <a:pt x="73" y="31"/>
                        </a:lnTo>
                        <a:lnTo>
                          <a:pt x="18" y="31"/>
                        </a:lnTo>
                        <a:lnTo>
                          <a:pt x="9"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23" name="Freeform 2256"/>
                  <p:cNvSpPr>
                    <a:spLocks/>
                  </p:cNvSpPr>
                  <p:nvPr/>
                </p:nvSpPr>
                <p:spPr bwMode="auto">
                  <a:xfrm>
                    <a:off x="1013"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54" name="Group 2257"/>
                <p:cNvGrpSpPr>
                  <a:grpSpLocks/>
                </p:cNvGrpSpPr>
                <p:nvPr/>
              </p:nvGrpSpPr>
              <p:grpSpPr bwMode="auto">
                <a:xfrm>
                  <a:off x="1018" y="3740"/>
                  <a:ext cx="49" cy="22"/>
                  <a:chOff x="1018" y="3740"/>
                  <a:chExt cx="49" cy="22"/>
                </a:xfrm>
              </p:grpSpPr>
              <p:sp>
                <p:nvSpPr>
                  <p:cNvPr id="2218" name="Freeform 2258"/>
                  <p:cNvSpPr>
                    <a:spLocks/>
                  </p:cNvSpPr>
                  <p:nvPr/>
                </p:nvSpPr>
                <p:spPr bwMode="auto">
                  <a:xfrm>
                    <a:off x="1018" y="374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19" name="Freeform 2259"/>
                  <p:cNvSpPr>
                    <a:spLocks/>
                  </p:cNvSpPr>
                  <p:nvPr/>
                </p:nvSpPr>
                <p:spPr bwMode="auto">
                  <a:xfrm>
                    <a:off x="1022" y="3740"/>
                    <a:ext cx="38"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49" y="0"/>
                        </a:lnTo>
                        <a:lnTo>
                          <a:pt x="51" y="4"/>
                        </a:lnTo>
                        <a:lnTo>
                          <a:pt x="57"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20" name="Freeform 2260"/>
                  <p:cNvSpPr>
                    <a:spLocks/>
                  </p:cNvSpPr>
                  <p:nvPr/>
                </p:nvSpPr>
                <p:spPr bwMode="auto">
                  <a:xfrm>
                    <a:off x="1026" y="3750"/>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55" name="Group 2261"/>
                <p:cNvGrpSpPr>
                  <a:grpSpLocks/>
                </p:cNvGrpSpPr>
                <p:nvPr/>
              </p:nvGrpSpPr>
              <p:grpSpPr bwMode="auto">
                <a:xfrm>
                  <a:off x="1030" y="3753"/>
                  <a:ext cx="49" cy="23"/>
                  <a:chOff x="1030" y="3753"/>
                  <a:chExt cx="49" cy="23"/>
                </a:xfrm>
              </p:grpSpPr>
              <p:sp>
                <p:nvSpPr>
                  <p:cNvPr id="2215" name="Freeform 2262"/>
                  <p:cNvSpPr>
                    <a:spLocks/>
                  </p:cNvSpPr>
                  <p:nvPr/>
                </p:nvSpPr>
                <p:spPr bwMode="auto">
                  <a:xfrm>
                    <a:off x="1030" y="375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2"/>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16" name="Freeform 2263"/>
                  <p:cNvSpPr>
                    <a:spLocks/>
                  </p:cNvSpPr>
                  <p:nvPr/>
                </p:nvSpPr>
                <p:spPr bwMode="auto">
                  <a:xfrm>
                    <a:off x="1035" y="3753"/>
                    <a:ext cx="37" cy="11"/>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1" y="0"/>
                        </a:lnTo>
                        <a:lnTo>
                          <a:pt x="52" y="4"/>
                        </a:lnTo>
                        <a:lnTo>
                          <a:pt x="56"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17" name="Freeform 2264"/>
                  <p:cNvSpPr>
                    <a:spLocks/>
                  </p:cNvSpPr>
                  <p:nvPr/>
                </p:nvSpPr>
                <p:spPr bwMode="auto">
                  <a:xfrm>
                    <a:off x="1039" y="3764"/>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7"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956" name="Freeform 2265"/>
                <p:cNvSpPr>
                  <a:spLocks/>
                </p:cNvSpPr>
                <p:nvPr/>
              </p:nvSpPr>
              <p:spPr bwMode="auto">
                <a:xfrm>
                  <a:off x="778" y="353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3" y="68"/>
                      </a:moveTo>
                      <a:lnTo>
                        <a:pt x="0" y="27"/>
                      </a:lnTo>
                      <a:lnTo>
                        <a:pt x="9" y="0"/>
                      </a:lnTo>
                      <a:lnTo>
                        <a:pt x="24"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57" name="Freeform 2266"/>
                <p:cNvSpPr>
                  <a:spLocks/>
                </p:cNvSpPr>
                <p:nvPr/>
              </p:nvSpPr>
              <p:spPr bwMode="auto">
                <a:xfrm>
                  <a:off x="783" y="3535"/>
                  <a:ext cx="36" cy="11"/>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50" y="0"/>
                      </a:lnTo>
                      <a:lnTo>
                        <a:pt x="51" y="4"/>
                      </a:lnTo>
                      <a:lnTo>
                        <a:pt x="57" y="13"/>
                      </a:lnTo>
                      <a:lnTo>
                        <a:pt x="72" y="31"/>
                      </a:lnTo>
                      <a:lnTo>
                        <a:pt x="18" y="31"/>
                      </a:lnTo>
                      <a:lnTo>
                        <a:pt x="9" y="22"/>
                      </a:lnTo>
                      <a:lnTo>
                        <a:pt x="0" y="7"/>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58" name="Freeform 2267"/>
                <p:cNvSpPr>
                  <a:spLocks/>
                </p:cNvSpPr>
                <p:nvPr/>
              </p:nvSpPr>
              <p:spPr bwMode="auto">
                <a:xfrm>
                  <a:off x="786" y="3546"/>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1"/>
                      </a:lnTo>
                      <a:lnTo>
                        <a:pt x="7" y="8"/>
                      </a:lnTo>
                      <a:lnTo>
                        <a:pt x="12"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959" name="Group 2268"/>
                <p:cNvGrpSpPr>
                  <a:grpSpLocks/>
                </p:cNvGrpSpPr>
                <p:nvPr/>
              </p:nvGrpSpPr>
              <p:grpSpPr bwMode="auto">
                <a:xfrm>
                  <a:off x="790" y="3547"/>
                  <a:ext cx="49" cy="23"/>
                  <a:chOff x="790" y="3547"/>
                  <a:chExt cx="49" cy="23"/>
                </a:xfrm>
              </p:grpSpPr>
              <p:sp>
                <p:nvSpPr>
                  <p:cNvPr id="2212" name="Freeform 2269"/>
                  <p:cNvSpPr>
                    <a:spLocks/>
                  </p:cNvSpPr>
                  <p:nvPr/>
                </p:nvSpPr>
                <p:spPr bwMode="auto">
                  <a:xfrm>
                    <a:off x="790" y="3547"/>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13" name="Freeform 2270"/>
                  <p:cNvSpPr>
                    <a:spLocks/>
                  </p:cNvSpPr>
                  <p:nvPr/>
                </p:nvSpPr>
                <p:spPr bwMode="auto">
                  <a:xfrm>
                    <a:off x="795" y="3548"/>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14" name="Freeform 2271"/>
                  <p:cNvSpPr>
                    <a:spLocks/>
                  </p:cNvSpPr>
                  <p:nvPr/>
                </p:nvSpPr>
                <p:spPr bwMode="auto">
                  <a:xfrm>
                    <a:off x="798" y="355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60" name="Group 2272"/>
                <p:cNvGrpSpPr>
                  <a:grpSpLocks/>
                </p:cNvGrpSpPr>
                <p:nvPr/>
              </p:nvGrpSpPr>
              <p:grpSpPr bwMode="auto">
                <a:xfrm>
                  <a:off x="803" y="3560"/>
                  <a:ext cx="49" cy="22"/>
                  <a:chOff x="803" y="3560"/>
                  <a:chExt cx="49" cy="22"/>
                </a:xfrm>
              </p:grpSpPr>
              <p:sp>
                <p:nvSpPr>
                  <p:cNvPr id="2209" name="Freeform 2273"/>
                  <p:cNvSpPr>
                    <a:spLocks/>
                  </p:cNvSpPr>
                  <p:nvPr/>
                </p:nvSpPr>
                <p:spPr bwMode="auto">
                  <a:xfrm>
                    <a:off x="803" y="3560"/>
                    <a:ext cx="12" cy="22"/>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10" name="Freeform 2274"/>
                  <p:cNvSpPr>
                    <a:spLocks/>
                  </p:cNvSpPr>
                  <p:nvPr/>
                </p:nvSpPr>
                <p:spPr bwMode="auto">
                  <a:xfrm>
                    <a:off x="808" y="356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11" name="Freeform 2275"/>
                  <p:cNvSpPr>
                    <a:spLocks/>
                  </p:cNvSpPr>
                  <p:nvPr/>
                </p:nvSpPr>
                <p:spPr bwMode="auto">
                  <a:xfrm>
                    <a:off x="811" y="3571"/>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2"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61" name="Group 2276"/>
                <p:cNvGrpSpPr>
                  <a:grpSpLocks/>
                </p:cNvGrpSpPr>
                <p:nvPr/>
              </p:nvGrpSpPr>
              <p:grpSpPr bwMode="auto">
                <a:xfrm>
                  <a:off x="815" y="3572"/>
                  <a:ext cx="50" cy="23"/>
                  <a:chOff x="815" y="3572"/>
                  <a:chExt cx="50" cy="23"/>
                </a:xfrm>
              </p:grpSpPr>
              <p:sp>
                <p:nvSpPr>
                  <p:cNvPr id="2206" name="Freeform 2277"/>
                  <p:cNvSpPr>
                    <a:spLocks/>
                  </p:cNvSpPr>
                  <p:nvPr/>
                </p:nvSpPr>
                <p:spPr bwMode="auto">
                  <a:xfrm>
                    <a:off x="815" y="3572"/>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0"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07" name="Freeform 2278"/>
                  <p:cNvSpPr>
                    <a:spLocks/>
                  </p:cNvSpPr>
                  <p:nvPr/>
                </p:nvSpPr>
                <p:spPr bwMode="auto">
                  <a:xfrm>
                    <a:off x="820" y="3573"/>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08" name="Freeform 2279"/>
                  <p:cNvSpPr>
                    <a:spLocks/>
                  </p:cNvSpPr>
                  <p:nvPr/>
                </p:nvSpPr>
                <p:spPr bwMode="auto">
                  <a:xfrm>
                    <a:off x="824" y="3583"/>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6" y="7"/>
                        </a:lnTo>
                        <a:lnTo>
                          <a:pt x="10"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62" name="Group 2280"/>
                <p:cNvGrpSpPr>
                  <a:grpSpLocks/>
                </p:cNvGrpSpPr>
                <p:nvPr/>
              </p:nvGrpSpPr>
              <p:grpSpPr bwMode="auto">
                <a:xfrm>
                  <a:off x="828" y="3585"/>
                  <a:ext cx="49" cy="23"/>
                  <a:chOff x="828" y="3585"/>
                  <a:chExt cx="49" cy="23"/>
                </a:xfrm>
              </p:grpSpPr>
              <p:sp>
                <p:nvSpPr>
                  <p:cNvPr id="2203" name="Freeform 2281"/>
                  <p:cNvSpPr>
                    <a:spLocks/>
                  </p:cNvSpPr>
                  <p:nvPr/>
                </p:nvSpPr>
                <p:spPr bwMode="auto">
                  <a:xfrm>
                    <a:off x="828" y="358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9"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04" name="Freeform 2282"/>
                  <p:cNvSpPr>
                    <a:spLocks/>
                  </p:cNvSpPr>
                  <p:nvPr/>
                </p:nvSpPr>
                <p:spPr bwMode="auto">
                  <a:xfrm>
                    <a:off x="833" y="358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05" name="Freeform 2283"/>
                  <p:cNvSpPr>
                    <a:spLocks/>
                  </p:cNvSpPr>
                  <p:nvPr/>
                </p:nvSpPr>
                <p:spPr bwMode="auto">
                  <a:xfrm>
                    <a:off x="837"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5"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63" name="Group 2284"/>
                <p:cNvGrpSpPr>
                  <a:grpSpLocks/>
                </p:cNvGrpSpPr>
                <p:nvPr/>
              </p:nvGrpSpPr>
              <p:grpSpPr bwMode="auto">
                <a:xfrm>
                  <a:off x="840" y="3600"/>
                  <a:ext cx="100" cy="73"/>
                  <a:chOff x="840" y="3600"/>
                  <a:chExt cx="100" cy="73"/>
                </a:xfrm>
              </p:grpSpPr>
              <p:grpSp>
                <p:nvGrpSpPr>
                  <p:cNvPr id="2183" name="Group 2285"/>
                  <p:cNvGrpSpPr>
                    <a:grpSpLocks/>
                  </p:cNvGrpSpPr>
                  <p:nvPr/>
                </p:nvGrpSpPr>
                <p:grpSpPr bwMode="auto">
                  <a:xfrm>
                    <a:off x="840" y="3600"/>
                    <a:ext cx="49" cy="23"/>
                    <a:chOff x="840" y="3600"/>
                    <a:chExt cx="49" cy="23"/>
                  </a:xfrm>
                </p:grpSpPr>
                <p:sp>
                  <p:nvSpPr>
                    <p:cNvPr id="2200" name="Freeform 2286"/>
                    <p:cNvSpPr>
                      <a:spLocks/>
                    </p:cNvSpPr>
                    <p:nvPr/>
                  </p:nvSpPr>
                  <p:spPr bwMode="auto">
                    <a:xfrm>
                      <a:off x="840" y="360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7"/>
                          </a:lnTo>
                          <a:lnTo>
                            <a:pt x="10" y="0"/>
                          </a:lnTo>
                          <a:lnTo>
                            <a:pt x="25" y="31"/>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01" name="Freeform 2287"/>
                    <p:cNvSpPr>
                      <a:spLocks/>
                    </p:cNvSpPr>
                    <p:nvPr/>
                  </p:nvSpPr>
                  <p:spPr bwMode="auto">
                    <a:xfrm>
                      <a:off x="845" y="3600"/>
                      <a:ext cx="37" cy="11"/>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02" name="Freeform 2288"/>
                    <p:cNvSpPr>
                      <a:spLocks/>
                    </p:cNvSpPr>
                    <p:nvPr/>
                  </p:nvSpPr>
                  <p:spPr bwMode="auto">
                    <a:xfrm>
                      <a:off x="848" y="3611"/>
                      <a:ext cx="41" cy="12"/>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8"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84" name="Group 2289"/>
                  <p:cNvGrpSpPr>
                    <a:grpSpLocks/>
                  </p:cNvGrpSpPr>
                  <p:nvPr/>
                </p:nvGrpSpPr>
                <p:grpSpPr bwMode="auto">
                  <a:xfrm>
                    <a:off x="853" y="3612"/>
                    <a:ext cx="48" cy="23"/>
                    <a:chOff x="853" y="3612"/>
                    <a:chExt cx="48" cy="23"/>
                  </a:xfrm>
                </p:grpSpPr>
                <p:sp>
                  <p:nvSpPr>
                    <p:cNvPr id="2197" name="Freeform 2290"/>
                    <p:cNvSpPr>
                      <a:spLocks/>
                    </p:cNvSpPr>
                    <p:nvPr/>
                  </p:nvSpPr>
                  <p:spPr bwMode="auto">
                    <a:xfrm>
                      <a:off x="853"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10"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98" name="Freeform 2291"/>
                    <p:cNvSpPr>
                      <a:spLocks/>
                    </p:cNvSpPr>
                    <p:nvPr/>
                  </p:nvSpPr>
                  <p:spPr bwMode="auto">
                    <a:xfrm>
                      <a:off x="857" y="3613"/>
                      <a:ext cx="37" cy="10"/>
                    </a:xfrm>
                    <a:custGeom>
                      <a:avLst/>
                      <a:gdLst>
                        <a:gd name="T0" fmla="*/ 1 w 73"/>
                        <a:gd name="T1" fmla="*/ 0 h 32"/>
                        <a:gd name="T2" fmla="*/ 1 w 73"/>
                        <a:gd name="T3" fmla="*/ 0 h 32"/>
                        <a:gd name="T4" fmla="*/ 1 w 73"/>
                        <a:gd name="T5" fmla="*/ 0 h 32"/>
                        <a:gd name="T6" fmla="*/ 1 w 73"/>
                        <a:gd name="T7" fmla="*/ 0 h 32"/>
                        <a:gd name="T8" fmla="*/ 1 w 73"/>
                        <a:gd name="T9" fmla="*/ 0 h 32"/>
                        <a:gd name="T10" fmla="*/ 1 w 73"/>
                        <a:gd name="T11" fmla="*/ 0 h 32"/>
                        <a:gd name="T12" fmla="*/ 1 w 73"/>
                        <a:gd name="T13" fmla="*/ 0 h 32"/>
                        <a:gd name="T14" fmla="*/ 0 w 73"/>
                        <a:gd name="T15" fmla="*/ 0 h 32"/>
                        <a:gd name="T16" fmla="*/ 1 w 73"/>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2"/>
                        <a:gd name="T29" fmla="*/ 73 w 73"/>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2">
                          <a:moveTo>
                            <a:pt x="1" y="0"/>
                          </a:moveTo>
                          <a:lnTo>
                            <a:pt x="50" y="0"/>
                          </a:lnTo>
                          <a:lnTo>
                            <a:pt x="51" y="3"/>
                          </a:lnTo>
                          <a:lnTo>
                            <a:pt x="56" y="15"/>
                          </a:lnTo>
                          <a:lnTo>
                            <a:pt x="73" y="32"/>
                          </a:lnTo>
                          <a:lnTo>
                            <a:pt x="18" y="32"/>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99" name="Freeform 2292"/>
                    <p:cNvSpPr>
                      <a:spLocks/>
                    </p:cNvSpPr>
                    <p:nvPr/>
                  </p:nvSpPr>
                  <p:spPr bwMode="auto">
                    <a:xfrm>
                      <a:off x="860" y="362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85" name="Group 2293"/>
                  <p:cNvGrpSpPr>
                    <a:grpSpLocks/>
                  </p:cNvGrpSpPr>
                  <p:nvPr/>
                </p:nvGrpSpPr>
                <p:grpSpPr bwMode="auto">
                  <a:xfrm>
                    <a:off x="865" y="3625"/>
                    <a:ext cx="49" cy="23"/>
                    <a:chOff x="865" y="3625"/>
                    <a:chExt cx="49" cy="23"/>
                  </a:xfrm>
                </p:grpSpPr>
                <p:sp>
                  <p:nvSpPr>
                    <p:cNvPr id="2194" name="Freeform 2294"/>
                    <p:cNvSpPr>
                      <a:spLocks/>
                    </p:cNvSpPr>
                    <p:nvPr/>
                  </p:nvSpPr>
                  <p:spPr bwMode="auto">
                    <a:xfrm>
                      <a:off x="865" y="362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95" name="Freeform 2295"/>
                    <p:cNvSpPr>
                      <a:spLocks/>
                    </p:cNvSpPr>
                    <p:nvPr/>
                  </p:nvSpPr>
                  <p:spPr bwMode="auto">
                    <a:xfrm>
                      <a:off x="870"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2"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96" name="Freeform 2296"/>
                    <p:cNvSpPr>
                      <a:spLocks/>
                    </p:cNvSpPr>
                    <p:nvPr/>
                  </p:nvSpPr>
                  <p:spPr bwMode="auto">
                    <a:xfrm>
                      <a:off x="873" y="363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86" name="Group 2297"/>
                  <p:cNvGrpSpPr>
                    <a:grpSpLocks/>
                  </p:cNvGrpSpPr>
                  <p:nvPr/>
                </p:nvGrpSpPr>
                <p:grpSpPr bwMode="auto">
                  <a:xfrm>
                    <a:off x="878" y="3638"/>
                    <a:ext cx="49" cy="22"/>
                    <a:chOff x="878" y="3638"/>
                    <a:chExt cx="49" cy="22"/>
                  </a:xfrm>
                </p:grpSpPr>
                <p:sp>
                  <p:nvSpPr>
                    <p:cNvPr id="2191" name="Freeform 2298"/>
                    <p:cNvSpPr>
                      <a:spLocks/>
                    </p:cNvSpPr>
                    <p:nvPr/>
                  </p:nvSpPr>
                  <p:spPr bwMode="auto">
                    <a:xfrm>
                      <a:off x="878"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92" name="Freeform 2299"/>
                    <p:cNvSpPr>
                      <a:spLocks/>
                    </p:cNvSpPr>
                    <p:nvPr/>
                  </p:nvSpPr>
                  <p:spPr bwMode="auto">
                    <a:xfrm>
                      <a:off x="883"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6" y="12"/>
                          </a:lnTo>
                          <a:lnTo>
                            <a:pt x="72"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93" name="Freeform 2300"/>
                    <p:cNvSpPr>
                      <a:spLocks/>
                    </p:cNvSpPr>
                    <p:nvPr/>
                  </p:nvSpPr>
                  <p:spPr bwMode="auto">
                    <a:xfrm>
                      <a:off x="886" y="364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87" name="Group 2301"/>
                  <p:cNvGrpSpPr>
                    <a:grpSpLocks/>
                  </p:cNvGrpSpPr>
                  <p:nvPr/>
                </p:nvGrpSpPr>
                <p:grpSpPr bwMode="auto">
                  <a:xfrm>
                    <a:off x="890" y="3651"/>
                    <a:ext cx="50" cy="22"/>
                    <a:chOff x="890" y="3651"/>
                    <a:chExt cx="50" cy="22"/>
                  </a:xfrm>
                </p:grpSpPr>
                <p:sp>
                  <p:nvSpPr>
                    <p:cNvPr id="2188" name="Freeform 2302"/>
                    <p:cNvSpPr>
                      <a:spLocks/>
                    </p:cNvSpPr>
                    <p:nvPr/>
                  </p:nvSpPr>
                  <p:spPr bwMode="auto">
                    <a:xfrm>
                      <a:off x="890" y="3651"/>
                      <a:ext cx="13" cy="22"/>
                    </a:xfrm>
                    <a:custGeom>
                      <a:avLst/>
                      <a:gdLst>
                        <a:gd name="T0" fmla="*/ 1 w 25"/>
                        <a:gd name="T1" fmla="*/ 0 h 67"/>
                        <a:gd name="T2" fmla="*/ 0 w 25"/>
                        <a:gd name="T3" fmla="*/ 0 h 67"/>
                        <a:gd name="T4" fmla="*/ 1 w 25"/>
                        <a:gd name="T5" fmla="*/ 0 h 67"/>
                        <a:gd name="T6" fmla="*/ 1 w 25"/>
                        <a:gd name="T7" fmla="*/ 0 h 67"/>
                        <a:gd name="T8" fmla="*/ 1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6" y="67"/>
                          </a:moveTo>
                          <a:lnTo>
                            <a:pt x="0" y="26"/>
                          </a:lnTo>
                          <a:lnTo>
                            <a:pt x="12" y="0"/>
                          </a:lnTo>
                          <a:lnTo>
                            <a:pt x="25" y="30"/>
                          </a:lnTo>
                          <a:lnTo>
                            <a:pt x="16"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89" name="Freeform 2303"/>
                    <p:cNvSpPr>
                      <a:spLocks/>
                    </p:cNvSpPr>
                    <p:nvPr/>
                  </p:nvSpPr>
                  <p:spPr bwMode="auto">
                    <a:xfrm>
                      <a:off x="895" y="3651"/>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8" y="0"/>
                          </a:lnTo>
                          <a:lnTo>
                            <a:pt x="51" y="2"/>
                          </a:lnTo>
                          <a:lnTo>
                            <a:pt x="56" y="11"/>
                          </a:lnTo>
                          <a:lnTo>
                            <a:pt x="73" y="29"/>
                          </a:lnTo>
                          <a:lnTo>
                            <a:pt x="18"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90" name="Freeform 2304"/>
                    <p:cNvSpPr>
                      <a:spLocks/>
                    </p:cNvSpPr>
                    <p:nvPr/>
                  </p:nvSpPr>
                  <p:spPr bwMode="auto">
                    <a:xfrm>
                      <a:off x="899" y="3662"/>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64" name="Group 2305"/>
                <p:cNvGrpSpPr>
                  <a:grpSpLocks/>
                </p:cNvGrpSpPr>
                <p:nvPr/>
              </p:nvGrpSpPr>
              <p:grpSpPr bwMode="auto">
                <a:xfrm>
                  <a:off x="903" y="3665"/>
                  <a:ext cx="99" cy="74"/>
                  <a:chOff x="903" y="3665"/>
                  <a:chExt cx="99" cy="74"/>
                </a:xfrm>
              </p:grpSpPr>
              <p:grpSp>
                <p:nvGrpSpPr>
                  <p:cNvPr id="2163" name="Group 2306"/>
                  <p:cNvGrpSpPr>
                    <a:grpSpLocks/>
                  </p:cNvGrpSpPr>
                  <p:nvPr/>
                </p:nvGrpSpPr>
                <p:grpSpPr bwMode="auto">
                  <a:xfrm>
                    <a:off x="903" y="3665"/>
                    <a:ext cx="49" cy="23"/>
                    <a:chOff x="903" y="3665"/>
                    <a:chExt cx="49" cy="23"/>
                  </a:xfrm>
                </p:grpSpPr>
                <p:sp>
                  <p:nvSpPr>
                    <p:cNvPr id="2180" name="Freeform 2307"/>
                    <p:cNvSpPr>
                      <a:spLocks/>
                    </p:cNvSpPr>
                    <p:nvPr/>
                  </p:nvSpPr>
                  <p:spPr bwMode="auto">
                    <a:xfrm>
                      <a:off x="903"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0"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81" name="Freeform 2308"/>
                    <p:cNvSpPr>
                      <a:spLocks/>
                    </p:cNvSpPr>
                    <p:nvPr/>
                  </p:nvSpPr>
                  <p:spPr bwMode="auto">
                    <a:xfrm>
                      <a:off x="907" y="3666"/>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9" y="0"/>
                          </a:lnTo>
                          <a:lnTo>
                            <a:pt x="51" y="4"/>
                          </a:lnTo>
                          <a:lnTo>
                            <a:pt x="56" y="13"/>
                          </a:lnTo>
                          <a:lnTo>
                            <a:pt x="73"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82" name="Freeform 2309"/>
                    <p:cNvSpPr>
                      <a:spLocks/>
                    </p:cNvSpPr>
                    <p:nvPr/>
                  </p:nvSpPr>
                  <p:spPr bwMode="auto">
                    <a:xfrm>
                      <a:off x="911" y="367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64" name="Group 2310"/>
                  <p:cNvGrpSpPr>
                    <a:grpSpLocks/>
                  </p:cNvGrpSpPr>
                  <p:nvPr/>
                </p:nvGrpSpPr>
                <p:grpSpPr bwMode="auto">
                  <a:xfrm>
                    <a:off x="914" y="3678"/>
                    <a:ext cx="49" cy="23"/>
                    <a:chOff x="914" y="3678"/>
                    <a:chExt cx="49" cy="23"/>
                  </a:xfrm>
                </p:grpSpPr>
                <p:sp>
                  <p:nvSpPr>
                    <p:cNvPr id="2177" name="Freeform 2311"/>
                    <p:cNvSpPr>
                      <a:spLocks/>
                    </p:cNvSpPr>
                    <p:nvPr/>
                  </p:nvSpPr>
                  <p:spPr bwMode="auto">
                    <a:xfrm>
                      <a:off x="914"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78" name="Freeform 2312"/>
                    <p:cNvSpPr>
                      <a:spLocks/>
                    </p:cNvSpPr>
                    <p:nvPr/>
                  </p:nvSpPr>
                  <p:spPr bwMode="auto">
                    <a:xfrm>
                      <a:off x="919" y="3678"/>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7" y="12"/>
                          </a:lnTo>
                          <a:lnTo>
                            <a:pt x="75" y="30"/>
                          </a:lnTo>
                          <a:lnTo>
                            <a:pt x="19" y="30"/>
                          </a:lnTo>
                          <a:lnTo>
                            <a:pt x="11"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79" name="Freeform 2313"/>
                    <p:cNvSpPr>
                      <a:spLocks/>
                    </p:cNvSpPr>
                    <p:nvPr/>
                  </p:nvSpPr>
                  <p:spPr bwMode="auto">
                    <a:xfrm>
                      <a:off x="922" y="3688"/>
                      <a:ext cx="41" cy="13"/>
                    </a:xfrm>
                    <a:custGeom>
                      <a:avLst/>
                      <a:gdLst>
                        <a:gd name="T0" fmla="*/ 0 w 81"/>
                        <a:gd name="T1" fmla="*/ 0 h 38"/>
                        <a:gd name="T2" fmla="*/ 1 w 81"/>
                        <a:gd name="T3" fmla="*/ 0 h 38"/>
                        <a:gd name="T4" fmla="*/ 1 w 81"/>
                        <a:gd name="T5" fmla="*/ 0 h 38"/>
                        <a:gd name="T6" fmla="*/ 1 w 81"/>
                        <a:gd name="T7" fmla="*/ 0 h 38"/>
                        <a:gd name="T8" fmla="*/ 1 w 81"/>
                        <a:gd name="T9" fmla="*/ 0 h 38"/>
                        <a:gd name="T10" fmla="*/ 1 w 81"/>
                        <a:gd name="T11" fmla="*/ 0 h 38"/>
                        <a:gd name="T12" fmla="*/ 0 w 81"/>
                        <a:gd name="T13" fmla="*/ 0 h 38"/>
                        <a:gd name="T14" fmla="*/ 0 60000 65536"/>
                        <a:gd name="T15" fmla="*/ 0 60000 65536"/>
                        <a:gd name="T16" fmla="*/ 0 60000 65536"/>
                        <a:gd name="T17" fmla="*/ 0 60000 65536"/>
                        <a:gd name="T18" fmla="*/ 0 60000 65536"/>
                        <a:gd name="T19" fmla="*/ 0 60000 65536"/>
                        <a:gd name="T20" fmla="*/ 0 60000 65536"/>
                        <a:gd name="T21" fmla="*/ 0 w 81"/>
                        <a:gd name="T22" fmla="*/ 0 h 38"/>
                        <a:gd name="T23" fmla="*/ 81 w 81"/>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8">
                          <a:moveTo>
                            <a:pt x="0" y="38"/>
                          </a:moveTo>
                          <a:lnTo>
                            <a:pt x="2" y="21"/>
                          </a:lnTo>
                          <a:lnTo>
                            <a:pt x="8" y="8"/>
                          </a:lnTo>
                          <a:lnTo>
                            <a:pt x="12" y="0"/>
                          </a:lnTo>
                          <a:lnTo>
                            <a:pt x="68" y="0"/>
                          </a:lnTo>
                          <a:lnTo>
                            <a:pt x="81"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65" name="Group 2314"/>
                  <p:cNvGrpSpPr>
                    <a:grpSpLocks/>
                  </p:cNvGrpSpPr>
                  <p:nvPr/>
                </p:nvGrpSpPr>
                <p:grpSpPr bwMode="auto">
                  <a:xfrm>
                    <a:off x="928" y="3690"/>
                    <a:ext cx="48" cy="23"/>
                    <a:chOff x="928" y="3690"/>
                    <a:chExt cx="48" cy="23"/>
                  </a:xfrm>
                </p:grpSpPr>
                <p:sp>
                  <p:nvSpPr>
                    <p:cNvPr id="2174" name="Freeform 2315"/>
                    <p:cNvSpPr>
                      <a:spLocks/>
                    </p:cNvSpPr>
                    <p:nvPr/>
                  </p:nvSpPr>
                  <p:spPr bwMode="auto">
                    <a:xfrm>
                      <a:off x="928" y="369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9"/>
                          </a:lnTo>
                          <a:lnTo>
                            <a:pt x="9" y="0"/>
                          </a:lnTo>
                          <a:lnTo>
                            <a:pt x="25" y="33"/>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75" name="Freeform 2316"/>
                    <p:cNvSpPr>
                      <a:spLocks/>
                    </p:cNvSpPr>
                    <p:nvPr/>
                  </p:nvSpPr>
                  <p:spPr bwMode="auto">
                    <a:xfrm>
                      <a:off x="932"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76" name="Freeform 2317"/>
                    <p:cNvSpPr>
                      <a:spLocks/>
                    </p:cNvSpPr>
                    <p:nvPr/>
                  </p:nvSpPr>
                  <p:spPr bwMode="auto">
                    <a:xfrm>
                      <a:off x="935" y="3701"/>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8" y="7"/>
                          </a:lnTo>
                          <a:lnTo>
                            <a:pt x="13"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66" name="Group 2318"/>
                  <p:cNvGrpSpPr>
                    <a:grpSpLocks/>
                  </p:cNvGrpSpPr>
                  <p:nvPr/>
                </p:nvGrpSpPr>
                <p:grpSpPr bwMode="auto">
                  <a:xfrm>
                    <a:off x="940" y="3703"/>
                    <a:ext cx="49" cy="23"/>
                    <a:chOff x="940" y="3703"/>
                    <a:chExt cx="49" cy="23"/>
                  </a:xfrm>
                </p:grpSpPr>
                <p:sp>
                  <p:nvSpPr>
                    <p:cNvPr id="2171" name="Freeform 2319"/>
                    <p:cNvSpPr>
                      <a:spLocks/>
                    </p:cNvSpPr>
                    <p:nvPr/>
                  </p:nvSpPr>
                  <p:spPr bwMode="auto">
                    <a:xfrm>
                      <a:off x="940"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72" name="Freeform 2320"/>
                    <p:cNvSpPr>
                      <a:spLocks/>
                    </p:cNvSpPr>
                    <p:nvPr/>
                  </p:nvSpPr>
                  <p:spPr bwMode="auto">
                    <a:xfrm>
                      <a:off x="945" y="3703"/>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2" y="0"/>
                          </a:lnTo>
                          <a:lnTo>
                            <a:pt x="53" y="3"/>
                          </a:lnTo>
                          <a:lnTo>
                            <a:pt x="57" y="12"/>
                          </a:lnTo>
                          <a:lnTo>
                            <a:pt x="75"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73" name="Freeform 2321"/>
                    <p:cNvSpPr>
                      <a:spLocks/>
                    </p:cNvSpPr>
                    <p:nvPr/>
                  </p:nvSpPr>
                  <p:spPr bwMode="auto">
                    <a:xfrm>
                      <a:off x="948" y="3714"/>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67" name="Group 2322"/>
                  <p:cNvGrpSpPr>
                    <a:grpSpLocks/>
                  </p:cNvGrpSpPr>
                  <p:nvPr/>
                </p:nvGrpSpPr>
                <p:grpSpPr bwMode="auto">
                  <a:xfrm>
                    <a:off x="953" y="3716"/>
                    <a:ext cx="49" cy="23"/>
                    <a:chOff x="953" y="3716"/>
                    <a:chExt cx="49" cy="23"/>
                  </a:xfrm>
                </p:grpSpPr>
                <p:sp>
                  <p:nvSpPr>
                    <p:cNvPr id="2168" name="Freeform 2323"/>
                    <p:cNvSpPr>
                      <a:spLocks/>
                    </p:cNvSpPr>
                    <p:nvPr/>
                  </p:nvSpPr>
                  <p:spPr bwMode="auto">
                    <a:xfrm>
                      <a:off x="953" y="3716"/>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69" name="Freeform 2324"/>
                    <p:cNvSpPr>
                      <a:spLocks/>
                    </p:cNvSpPr>
                    <p:nvPr/>
                  </p:nvSpPr>
                  <p:spPr bwMode="auto">
                    <a:xfrm>
                      <a:off x="958" y="3717"/>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3"/>
                          </a:lnTo>
                          <a:lnTo>
                            <a:pt x="56" y="11"/>
                          </a:lnTo>
                          <a:lnTo>
                            <a:pt x="75"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70" name="Freeform 2325"/>
                    <p:cNvSpPr>
                      <a:spLocks/>
                    </p:cNvSpPr>
                    <p:nvPr/>
                  </p:nvSpPr>
                  <p:spPr bwMode="auto">
                    <a:xfrm>
                      <a:off x="961" y="372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65" name="Group 2326"/>
                <p:cNvGrpSpPr>
                  <a:grpSpLocks/>
                </p:cNvGrpSpPr>
                <p:nvPr/>
              </p:nvGrpSpPr>
              <p:grpSpPr bwMode="auto">
                <a:xfrm>
                  <a:off x="963" y="3727"/>
                  <a:ext cx="49" cy="23"/>
                  <a:chOff x="963" y="3727"/>
                  <a:chExt cx="49" cy="23"/>
                </a:xfrm>
              </p:grpSpPr>
              <p:sp>
                <p:nvSpPr>
                  <p:cNvPr id="2160" name="Freeform 2327"/>
                  <p:cNvSpPr>
                    <a:spLocks/>
                  </p:cNvSpPr>
                  <p:nvPr/>
                </p:nvSpPr>
                <p:spPr bwMode="auto">
                  <a:xfrm>
                    <a:off x="963" y="372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61" name="Freeform 2328"/>
                  <p:cNvSpPr>
                    <a:spLocks/>
                  </p:cNvSpPr>
                  <p:nvPr/>
                </p:nvSpPr>
                <p:spPr bwMode="auto">
                  <a:xfrm>
                    <a:off x="968"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8" y="0"/>
                        </a:lnTo>
                        <a:lnTo>
                          <a:pt x="50"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62" name="Freeform 2329"/>
                  <p:cNvSpPr>
                    <a:spLocks/>
                  </p:cNvSpPr>
                  <p:nvPr/>
                </p:nvSpPr>
                <p:spPr bwMode="auto">
                  <a:xfrm>
                    <a:off x="972" y="373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66" name="Group 2330"/>
                <p:cNvGrpSpPr>
                  <a:grpSpLocks/>
                </p:cNvGrpSpPr>
                <p:nvPr/>
              </p:nvGrpSpPr>
              <p:grpSpPr bwMode="auto">
                <a:xfrm>
                  <a:off x="976" y="3740"/>
                  <a:ext cx="50" cy="22"/>
                  <a:chOff x="976" y="3740"/>
                  <a:chExt cx="50" cy="22"/>
                </a:xfrm>
              </p:grpSpPr>
              <p:sp>
                <p:nvSpPr>
                  <p:cNvPr id="2157" name="Freeform 2331"/>
                  <p:cNvSpPr>
                    <a:spLocks/>
                  </p:cNvSpPr>
                  <p:nvPr/>
                </p:nvSpPr>
                <p:spPr bwMode="auto">
                  <a:xfrm>
                    <a:off x="976" y="3740"/>
                    <a:ext cx="12" cy="22"/>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10" y="0"/>
                        </a:lnTo>
                        <a:lnTo>
                          <a:pt x="23"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58" name="Freeform 2332"/>
                  <p:cNvSpPr>
                    <a:spLocks/>
                  </p:cNvSpPr>
                  <p:nvPr/>
                </p:nvSpPr>
                <p:spPr bwMode="auto">
                  <a:xfrm>
                    <a:off x="980" y="374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4" y="0"/>
                        </a:moveTo>
                        <a:lnTo>
                          <a:pt x="52" y="0"/>
                        </a:lnTo>
                        <a:lnTo>
                          <a:pt x="53" y="4"/>
                        </a:lnTo>
                        <a:lnTo>
                          <a:pt x="60" y="13"/>
                        </a:lnTo>
                        <a:lnTo>
                          <a:pt x="75" y="31"/>
                        </a:lnTo>
                        <a:lnTo>
                          <a:pt x="19" y="31"/>
                        </a:lnTo>
                        <a:lnTo>
                          <a:pt x="12" y="22"/>
                        </a:lnTo>
                        <a:lnTo>
                          <a:pt x="0" y="7"/>
                        </a:lnTo>
                        <a:lnTo>
                          <a:pt x="4"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59" name="Freeform 2333"/>
                  <p:cNvSpPr>
                    <a:spLocks/>
                  </p:cNvSpPr>
                  <p:nvPr/>
                </p:nvSpPr>
                <p:spPr bwMode="auto">
                  <a:xfrm>
                    <a:off x="984" y="375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1"/>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67" name="Group 2334"/>
                <p:cNvGrpSpPr>
                  <a:grpSpLocks/>
                </p:cNvGrpSpPr>
                <p:nvPr/>
              </p:nvGrpSpPr>
              <p:grpSpPr bwMode="auto">
                <a:xfrm>
                  <a:off x="761" y="3560"/>
                  <a:ext cx="50" cy="22"/>
                  <a:chOff x="761" y="3560"/>
                  <a:chExt cx="50" cy="22"/>
                </a:xfrm>
              </p:grpSpPr>
              <p:sp>
                <p:nvSpPr>
                  <p:cNvPr id="2154" name="Freeform 2335"/>
                  <p:cNvSpPr>
                    <a:spLocks/>
                  </p:cNvSpPr>
                  <p:nvPr/>
                </p:nvSpPr>
                <p:spPr bwMode="auto">
                  <a:xfrm>
                    <a:off x="761" y="356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55" name="Freeform 2336"/>
                  <p:cNvSpPr>
                    <a:spLocks/>
                  </p:cNvSpPr>
                  <p:nvPr/>
                </p:nvSpPr>
                <p:spPr bwMode="auto">
                  <a:xfrm>
                    <a:off x="767" y="3560"/>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9" y="0"/>
                        </a:lnTo>
                        <a:lnTo>
                          <a:pt x="50" y="2"/>
                        </a:lnTo>
                        <a:lnTo>
                          <a:pt x="55" y="11"/>
                        </a:lnTo>
                        <a:lnTo>
                          <a:pt x="73" y="29"/>
                        </a:lnTo>
                        <a:lnTo>
                          <a:pt x="17" y="29"/>
                        </a:lnTo>
                        <a:lnTo>
                          <a:pt x="8"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56" name="Freeform 2337"/>
                  <p:cNvSpPr>
                    <a:spLocks/>
                  </p:cNvSpPr>
                  <p:nvPr/>
                </p:nvSpPr>
                <p:spPr bwMode="auto">
                  <a:xfrm>
                    <a:off x="769" y="3571"/>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8"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68" name="Group 2338"/>
                <p:cNvGrpSpPr>
                  <a:grpSpLocks/>
                </p:cNvGrpSpPr>
                <p:nvPr/>
              </p:nvGrpSpPr>
              <p:grpSpPr bwMode="auto">
                <a:xfrm>
                  <a:off x="774" y="3572"/>
                  <a:ext cx="49" cy="23"/>
                  <a:chOff x="774" y="3572"/>
                  <a:chExt cx="49" cy="23"/>
                </a:xfrm>
              </p:grpSpPr>
              <p:sp>
                <p:nvSpPr>
                  <p:cNvPr id="2151" name="Freeform 2339"/>
                  <p:cNvSpPr>
                    <a:spLocks/>
                  </p:cNvSpPr>
                  <p:nvPr/>
                </p:nvSpPr>
                <p:spPr bwMode="auto">
                  <a:xfrm>
                    <a:off x="774" y="3572"/>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5"/>
                        </a:lnTo>
                        <a:lnTo>
                          <a:pt x="9" y="0"/>
                        </a:lnTo>
                        <a:lnTo>
                          <a:pt x="25"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52" name="Freeform 2340"/>
                  <p:cNvSpPr>
                    <a:spLocks/>
                  </p:cNvSpPr>
                  <p:nvPr/>
                </p:nvSpPr>
                <p:spPr bwMode="auto">
                  <a:xfrm>
                    <a:off x="778" y="3573"/>
                    <a:ext cx="38" cy="9"/>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53" name="Freeform 2341"/>
                  <p:cNvSpPr>
                    <a:spLocks/>
                  </p:cNvSpPr>
                  <p:nvPr/>
                </p:nvSpPr>
                <p:spPr bwMode="auto">
                  <a:xfrm>
                    <a:off x="782" y="358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69" name="Group 2342"/>
                <p:cNvGrpSpPr>
                  <a:grpSpLocks/>
                </p:cNvGrpSpPr>
                <p:nvPr/>
              </p:nvGrpSpPr>
              <p:grpSpPr bwMode="auto">
                <a:xfrm>
                  <a:off x="787" y="3585"/>
                  <a:ext cx="49" cy="23"/>
                  <a:chOff x="787" y="3585"/>
                  <a:chExt cx="49" cy="23"/>
                </a:xfrm>
              </p:grpSpPr>
              <p:sp>
                <p:nvSpPr>
                  <p:cNvPr id="2148" name="Freeform 2343"/>
                  <p:cNvSpPr>
                    <a:spLocks/>
                  </p:cNvSpPr>
                  <p:nvPr/>
                </p:nvSpPr>
                <p:spPr bwMode="auto">
                  <a:xfrm>
                    <a:off x="787" y="358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6"/>
                        </a:lnTo>
                        <a:lnTo>
                          <a:pt x="9"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49" name="Freeform 2344"/>
                  <p:cNvSpPr>
                    <a:spLocks/>
                  </p:cNvSpPr>
                  <p:nvPr/>
                </p:nvSpPr>
                <p:spPr bwMode="auto">
                  <a:xfrm>
                    <a:off x="792" y="3586"/>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2"/>
                        </a:lnTo>
                        <a:lnTo>
                          <a:pt x="55" y="11"/>
                        </a:lnTo>
                        <a:lnTo>
                          <a:pt x="74" y="29"/>
                        </a:lnTo>
                        <a:lnTo>
                          <a:pt x="19"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50" name="Freeform 2345"/>
                  <p:cNvSpPr>
                    <a:spLocks/>
                  </p:cNvSpPr>
                  <p:nvPr/>
                </p:nvSpPr>
                <p:spPr bwMode="auto">
                  <a:xfrm>
                    <a:off x="795" y="3596"/>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6"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70" name="Group 2346"/>
                <p:cNvGrpSpPr>
                  <a:grpSpLocks/>
                </p:cNvGrpSpPr>
                <p:nvPr/>
              </p:nvGrpSpPr>
              <p:grpSpPr bwMode="auto">
                <a:xfrm>
                  <a:off x="799" y="3600"/>
                  <a:ext cx="99" cy="73"/>
                  <a:chOff x="799" y="3600"/>
                  <a:chExt cx="99" cy="73"/>
                </a:xfrm>
              </p:grpSpPr>
              <p:grpSp>
                <p:nvGrpSpPr>
                  <p:cNvPr id="2128" name="Group 2347"/>
                  <p:cNvGrpSpPr>
                    <a:grpSpLocks/>
                  </p:cNvGrpSpPr>
                  <p:nvPr/>
                </p:nvGrpSpPr>
                <p:grpSpPr bwMode="auto">
                  <a:xfrm>
                    <a:off x="799" y="3600"/>
                    <a:ext cx="48" cy="23"/>
                    <a:chOff x="799" y="3600"/>
                    <a:chExt cx="48" cy="23"/>
                  </a:xfrm>
                </p:grpSpPr>
                <p:sp>
                  <p:nvSpPr>
                    <p:cNvPr id="2145" name="Freeform 2348"/>
                    <p:cNvSpPr>
                      <a:spLocks/>
                    </p:cNvSpPr>
                    <p:nvPr/>
                  </p:nvSpPr>
                  <p:spPr bwMode="auto">
                    <a:xfrm>
                      <a:off x="799" y="360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46" name="Freeform 2349"/>
                    <p:cNvSpPr>
                      <a:spLocks/>
                    </p:cNvSpPr>
                    <p:nvPr/>
                  </p:nvSpPr>
                  <p:spPr bwMode="auto">
                    <a:xfrm>
                      <a:off x="803" y="3600"/>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1"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47" name="Freeform 2350"/>
                    <p:cNvSpPr>
                      <a:spLocks/>
                    </p:cNvSpPr>
                    <p:nvPr/>
                  </p:nvSpPr>
                  <p:spPr bwMode="auto">
                    <a:xfrm>
                      <a:off x="807" y="3611"/>
                      <a:ext cx="40" cy="12"/>
                    </a:xfrm>
                    <a:custGeom>
                      <a:avLst/>
                      <a:gdLst>
                        <a:gd name="T0" fmla="*/ 0 w 82"/>
                        <a:gd name="T1" fmla="*/ 0 h 38"/>
                        <a:gd name="T2" fmla="*/ 0 w 82"/>
                        <a:gd name="T3" fmla="*/ 0 h 38"/>
                        <a:gd name="T4" fmla="*/ 0 w 82"/>
                        <a:gd name="T5" fmla="*/ 0 h 38"/>
                        <a:gd name="T6" fmla="*/ 0 w 82"/>
                        <a:gd name="T7" fmla="*/ 0 h 38"/>
                        <a:gd name="T8" fmla="*/ 0 w 82"/>
                        <a:gd name="T9" fmla="*/ 0 h 38"/>
                        <a:gd name="T10" fmla="*/ 0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7"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29" name="Group 2351"/>
                  <p:cNvGrpSpPr>
                    <a:grpSpLocks/>
                  </p:cNvGrpSpPr>
                  <p:nvPr/>
                </p:nvGrpSpPr>
                <p:grpSpPr bwMode="auto">
                  <a:xfrm>
                    <a:off x="811" y="3612"/>
                    <a:ext cx="48" cy="23"/>
                    <a:chOff x="811" y="3612"/>
                    <a:chExt cx="48" cy="23"/>
                  </a:xfrm>
                </p:grpSpPr>
                <p:sp>
                  <p:nvSpPr>
                    <p:cNvPr id="2142" name="Freeform 2352"/>
                    <p:cNvSpPr>
                      <a:spLocks/>
                    </p:cNvSpPr>
                    <p:nvPr/>
                  </p:nvSpPr>
                  <p:spPr bwMode="auto">
                    <a:xfrm>
                      <a:off x="811"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11"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43" name="Freeform 2353"/>
                    <p:cNvSpPr>
                      <a:spLocks/>
                    </p:cNvSpPr>
                    <p:nvPr/>
                  </p:nvSpPr>
                  <p:spPr bwMode="auto">
                    <a:xfrm>
                      <a:off x="815" y="3613"/>
                      <a:ext cx="38" cy="10"/>
                    </a:xfrm>
                    <a:custGeom>
                      <a:avLst/>
                      <a:gdLst>
                        <a:gd name="T0" fmla="*/ 1 w 75"/>
                        <a:gd name="T1" fmla="*/ 0 h 32"/>
                        <a:gd name="T2" fmla="*/ 1 w 75"/>
                        <a:gd name="T3" fmla="*/ 0 h 32"/>
                        <a:gd name="T4" fmla="*/ 1 w 75"/>
                        <a:gd name="T5" fmla="*/ 0 h 32"/>
                        <a:gd name="T6" fmla="*/ 1 w 75"/>
                        <a:gd name="T7" fmla="*/ 0 h 32"/>
                        <a:gd name="T8" fmla="*/ 1 w 75"/>
                        <a:gd name="T9" fmla="*/ 0 h 32"/>
                        <a:gd name="T10" fmla="*/ 1 w 75"/>
                        <a:gd name="T11" fmla="*/ 0 h 32"/>
                        <a:gd name="T12" fmla="*/ 1 w 75"/>
                        <a:gd name="T13" fmla="*/ 0 h 32"/>
                        <a:gd name="T14" fmla="*/ 0 w 75"/>
                        <a:gd name="T15" fmla="*/ 0 h 32"/>
                        <a:gd name="T16" fmla="*/ 1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3" y="0"/>
                          </a:moveTo>
                          <a:lnTo>
                            <a:pt x="52" y="0"/>
                          </a:lnTo>
                          <a:lnTo>
                            <a:pt x="53" y="3"/>
                          </a:lnTo>
                          <a:lnTo>
                            <a:pt x="57" y="15"/>
                          </a:lnTo>
                          <a:lnTo>
                            <a:pt x="75" y="32"/>
                          </a:lnTo>
                          <a:lnTo>
                            <a:pt x="19" y="32"/>
                          </a:lnTo>
                          <a:lnTo>
                            <a:pt x="10"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44" name="Freeform 2354"/>
                    <p:cNvSpPr>
                      <a:spLocks/>
                    </p:cNvSpPr>
                    <p:nvPr/>
                  </p:nvSpPr>
                  <p:spPr bwMode="auto">
                    <a:xfrm>
                      <a:off x="819"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1"/>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30" name="Group 2355"/>
                  <p:cNvGrpSpPr>
                    <a:grpSpLocks/>
                  </p:cNvGrpSpPr>
                  <p:nvPr/>
                </p:nvGrpSpPr>
                <p:grpSpPr bwMode="auto">
                  <a:xfrm>
                    <a:off x="823" y="3625"/>
                    <a:ext cx="49" cy="23"/>
                    <a:chOff x="823" y="3625"/>
                    <a:chExt cx="49" cy="23"/>
                  </a:xfrm>
                </p:grpSpPr>
                <p:sp>
                  <p:nvSpPr>
                    <p:cNvPr id="2139" name="Freeform 2356"/>
                    <p:cNvSpPr>
                      <a:spLocks/>
                    </p:cNvSpPr>
                    <p:nvPr/>
                  </p:nvSpPr>
                  <p:spPr bwMode="auto">
                    <a:xfrm>
                      <a:off x="823" y="362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40" name="Freeform 2357"/>
                    <p:cNvSpPr>
                      <a:spLocks/>
                    </p:cNvSpPr>
                    <p:nvPr/>
                  </p:nvSpPr>
                  <p:spPr bwMode="auto">
                    <a:xfrm>
                      <a:off x="828"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41" name="Freeform 2358"/>
                    <p:cNvSpPr>
                      <a:spLocks/>
                    </p:cNvSpPr>
                    <p:nvPr/>
                  </p:nvSpPr>
                  <p:spPr bwMode="auto">
                    <a:xfrm>
                      <a:off x="832" y="363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31" name="Group 2359"/>
                  <p:cNvGrpSpPr>
                    <a:grpSpLocks/>
                  </p:cNvGrpSpPr>
                  <p:nvPr/>
                </p:nvGrpSpPr>
                <p:grpSpPr bwMode="auto">
                  <a:xfrm>
                    <a:off x="836" y="3638"/>
                    <a:ext cx="50" cy="22"/>
                    <a:chOff x="836" y="3638"/>
                    <a:chExt cx="50" cy="22"/>
                  </a:xfrm>
                </p:grpSpPr>
                <p:sp>
                  <p:nvSpPr>
                    <p:cNvPr id="2136" name="Freeform 2360"/>
                    <p:cNvSpPr>
                      <a:spLocks/>
                    </p:cNvSpPr>
                    <p:nvPr/>
                  </p:nvSpPr>
                  <p:spPr bwMode="auto">
                    <a:xfrm>
                      <a:off x="836"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37" name="Freeform 2361"/>
                    <p:cNvSpPr>
                      <a:spLocks/>
                    </p:cNvSpPr>
                    <p:nvPr/>
                  </p:nvSpPr>
                  <p:spPr bwMode="auto">
                    <a:xfrm>
                      <a:off x="842"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5" y="12"/>
                          </a:lnTo>
                          <a:lnTo>
                            <a:pt x="72" y="30"/>
                          </a:lnTo>
                          <a:lnTo>
                            <a:pt x="17" y="30"/>
                          </a:lnTo>
                          <a:lnTo>
                            <a:pt x="8"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38" name="Freeform 2362"/>
                    <p:cNvSpPr>
                      <a:spLocks/>
                    </p:cNvSpPr>
                    <p:nvPr/>
                  </p:nvSpPr>
                  <p:spPr bwMode="auto">
                    <a:xfrm>
                      <a:off x="844" y="3648"/>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32" name="Group 2363"/>
                  <p:cNvGrpSpPr>
                    <a:grpSpLocks/>
                  </p:cNvGrpSpPr>
                  <p:nvPr/>
                </p:nvGrpSpPr>
                <p:grpSpPr bwMode="auto">
                  <a:xfrm>
                    <a:off x="849" y="3651"/>
                    <a:ext cx="49" cy="22"/>
                    <a:chOff x="849" y="3651"/>
                    <a:chExt cx="49" cy="22"/>
                  </a:xfrm>
                </p:grpSpPr>
                <p:sp>
                  <p:nvSpPr>
                    <p:cNvPr id="2133" name="Freeform 2364"/>
                    <p:cNvSpPr>
                      <a:spLocks/>
                    </p:cNvSpPr>
                    <p:nvPr/>
                  </p:nvSpPr>
                  <p:spPr bwMode="auto">
                    <a:xfrm>
                      <a:off x="849" y="3651"/>
                      <a:ext cx="12" cy="22"/>
                    </a:xfrm>
                    <a:custGeom>
                      <a:avLst/>
                      <a:gdLst>
                        <a:gd name="T0" fmla="*/ 0 w 25"/>
                        <a:gd name="T1" fmla="*/ 0 h 67"/>
                        <a:gd name="T2" fmla="*/ 0 w 25"/>
                        <a:gd name="T3" fmla="*/ 0 h 67"/>
                        <a:gd name="T4" fmla="*/ 0 w 25"/>
                        <a:gd name="T5" fmla="*/ 0 h 67"/>
                        <a:gd name="T6" fmla="*/ 0 w 25"/>
                        <a:gd name="T7" fmla="*/ 0 h 67"/>
                        <a:gd name="T8" fmla="*/ 0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5" y="67"/>
                          </a:moveTo>
                          <a:lnTo>
                            <a:pt x="0" y="26"/>
                          </a:lnTo>
                          <a:lnTo>
                            <a:pt x="10" y="0"/>
                          </a:lnTo>
                          <a:lnTo>
                            <a:pt x="25"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34" name="Freeform 2365"/>
                    <p:cNvSpPr>
                      <a:spLocks/>
                    </p:cNvSpPr>
                    <p:nvPr/>
                  </p:nvSpPr>
                  <p:spPr bwMode="auto">
                    <a:xfrm>
                      <a:off x="854"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7" y="11"/>
                          </a:lnTo>
                          <a:lnTo>
                            <a:pt x="74"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35" name="Freeform 2366"/>
                    <p:cNvSpPr>
                      <a:spLocks/>
                    </p:cNvSpPr>
                    <p:nvPr/>
                  </p:nvSpPr>
                  <p:spPr bwMode="auto">
                    <a:xfrm>
                      <a:off x="857" y="36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71" name="Group 2367"/>
                <p:cNvGrpSpPr>
                  <a:grpSpLocks/>
                </p:cNvGrpSpPr>
                <p:nvPr/>
              </p:nvGrpSpPr>
              <p:grpSpPr bwMode="auto">
                <a:xfrm>
                  <a:off x="861" y="3665"/>
                  <a:ext cx="99" cy="74"/>
                  <a:chOff x="861" y="3665"/>
                  <a:chExt cx="99" cy="74"/>
                </a:xfrm>
              </p:grpSpPr>
              <p:grpSp>
                <p:nvGrpSpPr>
                  <p:cNvPr id="2108" name="Group 2368"/>
                  <p:cNvGrpSpPr>
                    <a:grpSpLocks/>
                  </p:cNvGrpSpPr>
                  <p:nvPr/>
                </p:nvGrpSpPr>
                <p:grpSpPr bwMode="auto">
                  <a:xfrm>
                    <a:off x="861" y="3665"/>
                    <a:ext cx="50" cy="23"/>
                    <a:chOff x="861" y="3665"/>
                    <a:chExt cx="50" cy="23"/>
                  </a:xfrm>
                </p:grpSpPr>
                <p:sp>
                  <p:nvSpPr>
                    <p:cNvPr id="2125" name="Freeform 2369"/>
                    <p:cNvSpPr>
                      <a:spLocks/>
                    </p:cNvSpPr>
                    <p:nvPr/>
                  </p:nvSpPr>
                  <p:spPr bwMode="auto">
                    <a:xfrm>
                      <a:off x="861"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26" name="Freeform 2370"/>
                    <p:cNvSpPr>
                      <a:spLocks/>
                    </p:cNvSpPr>
                    <p:nvPr/>
                  </p:nvSpPr>
                  <p:spPr bwMode="auto">
                    <a:xfrm>
                      <a:off x="865" y="3666"/>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4"/>
                          </a:lnTo>
                          <a:lnTo>
                            <a:pt x="57" y="13"/>
                          </a:lnTo>
                          <a:lnTo>
                            <a:pt x="75" y="31"/>
                          </a:lnTo>
                          <a:lnTo>
                            <a:pt x="19" y="31"/>
                          </a:lnTo>
                          <a:lnTo>
                            <a:pt x="11"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27" name="Freeform 2371"/>
                    <p:cNvSpPr>
                      <a:spLocks/>
                    </p:cNvSpPr>
                    <p:nvPr/>
                  </p:nvSpPr>
                  <p:spPr bwMode="auto">
                    <a:xfrm>
                      <a:off x="869"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09" name="Group 2372"/>
                  <p:cNvGrpSpPr>
                    <a:grpSpLocks/>
                  </p:cNvGrpSpPr>
                  <p:nvPr/>
                </p:nvGrpSpPr>
                <p:grpSpPr bwMode="auto">
                  <a:xfrm>
                    <a:off x="873" y="3678"/>
                    <a:ext cx="49" cy="23"/>
                    <a:chOff x="873" y="3678"/>
                    <a:chExt cx="49" cy="23"/>
                  </a:xfrm>
                </p:grpSpPr>
                <p:sp>
                  <p:nvSpPr>
                    <p:cNvPr id="2122" name="Freeform 2373"/>
                    <p:cNvSpPr>
                      <a:spLocks/>
                    </p:cNvSpPr>
                    <p:nvPr/>
                  </p:nvSpPr>
                  <p:spPr bwMode="auto">
                    <a:xfrm>
                      <a:off x="873"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7"/>
                          </a:lnTo>
                          <a:lnTo>
                            <a:pt x="9" y="0"/>
                          </a:lnTo>
                          <a:lnTo>
                            <a:pt x="25"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23" name="Freeform 2374"/>
                    <p:cNvSpPr>
                      <a:spLocks/>
                    </p:cNvSpPr>
                    <p:nvPr/>
                  </p:nvSpPr>
                  <p:spPr bwMode="auto">
                    <a:xfrm>
                      <a:off x="878" y="3678"/>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0" y="0"/>
                          </a:lnTo>
                          <a:lnTo>
                            <a:pt x="52" y="3"/>
                          </a:lnTo>
                          <a:lnTo>
                            <a:pt x="57" y="12"/>
                          </a:lnTo>
                          <a:lnTo>
                            <a:pt x="75"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24" name="Freeform 2375"/>
                    <p:cNvSpPr>
                      <a:spLocks/>
                    </p:cNvSpPr>
                    <p:nvPr/>
                  </p:nvSpPr>
                  <p:spPr bwMode="auto">
                    <a:xfrm>
                      <a:off x="880" y="3688"/>
                      <a:ext cx="42"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4" y="21"/>
                          </a:lnTo>
                          <a:lnTo>
                            <a:pt x="8" y="8"/>
                          </a:lnTo>
                          <a:lnTo>
                            <a:pt x="13"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10" name="Group 2376"/>
                  <p:cNvGrpSpPr>
                    <a:grpSpLocks/>
                  </p:cNvGrpSpPr>
                  <p:nvPr/>
                </p:nvGrpSpPr>
                <p:grpSpPr bwMode="auto">
                  <a:xfrm>
                    <a:off x="886" y="3690"/>
                    <a:ext cx="49" cy="23"/>
                    <a:chOff x="886" y="3690"/>
                    <a:chExt cx="49" cy="23"/>
                  </a:xfrm>
                </p:grpSpPr>
                <p:sp>
                  <p:nvSpPr>
                    <p:cNvPr id="2119" name="Freeform 2377"/>
                    <p:cNvSpPr>
                      <a:spLocks/>
                    </p:cNvSpPr>
                    <p:nvPr/>
                  </p:nvSpPr>
                  <p:spPr bwMode="auto">
                    <a:xfrm>
                      <a:off x="886" y="3690"/>
                      <a:ext cx="12" cy="23"/>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4" y="70"/>
                          </a:moveTo>
                          <a:lnTo>
                            <a:pt x="0" y="29"/>
                          </a:lnTo>
                          <a:lnTo>
                            <a:pt x="10" y="0"/>
                          </a:lnTo>
                          <a:lnTo>
                            <a:pt x="24" y="33"/>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20" name="Freeform 2378"/>
                    <p:cNvSpPr>
                      <a:spLocks/>
                    </p:cNvSpPr>
                    <p:nvPr/>
                  </p:nvSpPr>
                  <p:spPr bwMode="auto">
                    <a:xfrm>
                      <a:off x="890"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2"/>
                          </a:lnTo>
                          <a:lnTo>
                            <a:pt x="57" y="11"/>
                          </a:lnTo>
                          <a:lnTo>
                            <a:pt x="75" y="31"/>
                          </a:lnTo>
                          <a:lnTo>
                            <a:pt x="19" y="31"/>
                          </a:lnTo>
                          <a:lnTo>
                            <a:pt x="10" y="22"/>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21" name="Freeform 2379"/>
                    <p:cNvSpPr>
                      <a:spLocks/>
                    </p:cNvSpPr>
                    <p:nvPr/>
                  </p:nvSpPr>
                  <p:spPr bwMode="auto">
                    <a:xfrm>
                      <a:off x="893" y="3701"/>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8" y="7"/>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11" name="Group 2380"/>
                  <p:cNvGrpSpPr>
                    <a:grpSpLocks/>
                  </p:cNvGrpSpPr>
                  <p:nvPr/>
                </p:nvGrpSpPr>
                <p:grpSpPr bwMode="auto">
                  <a:xfrm>
                    <a:off x="899" y="3703"/>
                    <a:ext cx="48" cy="23"/>
                    <a:chOff x="899" y="3703"/>
                    <a:chExt cx="48" cy="23"/>
                  </a:xfrm>
                </p:grpSpPr>
                <p:sp>
                  <p:nvSpPr>
                    <p:cNvPr id="2116" name="Freeform 2381"/>
                    <p:cNvSpPr>
                      <a:spLocks/>
                    </p:cNvSpPr>
                    <p:nvPr/>
                  </p:nvSpPr>
                  <p:spPr bwMode="auto">
                    <a:xfrm>
                      <a:off x="899" y="3703"/>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10"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17" name="Freeform 2382"/>
                    <p:cNvSpPr>
                      <a:spLocks/>
                    </p:cNvSpPr>
                    <p:nvPr/>
                  </p:nvSpPr>
                  <p:spPr bwMode="auto">
                    <a:xfrm>
                      <a:off x="903" y="3703"/>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6" y="12"/>
                          </a:lnTo>
                          <a:lnTo>
                            <a:pt x="75"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18" name="Freeform 2383"/>
                    <p:cNvSpPr>
                      <a:spLocks/>
                    </p:cNvSpPr>
                    <p:nvPr/>
                  </p:nvSpPr>
                  <p:spPr bwMode="auto">
                    <a:xfrm>
                      <a:off x="907" y="3714"/>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5"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12" name="Group 2384"/>
                  <p:cNvGrpSpPr>
                    <a:grpSpLocks/>
                  </p:cNvGrpSpPr>
                  <p:nvPr/>
                </p:nvGrpSpPr>
                <p:grpSpPr bwMode="auto">
                  <a:xfrm>
                    <a:off x="912" y="3716"/>
                    <a:ext cx="48" cy="23"/>
                    <a:chOff x="912" y="3716"/>
                    <a:chExt cx="48" cy="23"/>
                  </a:xfrm>
                </p:grpSpPr>
                <p:sp>
                  <p:nvSpPr>
                    <p:cNvPr id="2113" name="Freeform 2385"/>
                    <p:cNvSpPr>
                      <a:spLocks/>
                    </p:cNvSpPr>
                    <p:nvPr/>
                  </p:nvSpPr>
                  <p:spPr bwMode="auto">
                    <a:xfrm>
                      <a:off x="912" y="3716"/>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14" name="Freeform 2386"/>
                    <p:cNvSpPr>
                      <a:spLocks/>
                    </p:cNvSpPr>
                    <p:nvPr/>
                  </p:nvSpPr>
                  <p:spPr bwMode="auto">
                    <a:xfrm>
                      <a:off x="916" y="3717"/>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3"/>
                          </a:lnTo>
                          <a:lnTo>
                            <a:pt x="55" y="11"/>
                          </a:lnTo>
                          <a:lnTo>
                            <a:pt x="74" y="29"/>
                          </a:lnTo>
                          <a:lnTo>
                            <a:pt x="18" y="29"/>
                          </a:lnTo>
                          <a:lnTo>
                            <a:pt x="8"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15" name="Freeform 2387"/>
                    <p:cNvSpPr>
                      <a:spLocks/>
                    </p:cNvSpPr>
                    <p:nvPr/>
                  </p:nvSpPr>
                  <p:spPr bwMode="auto">
                    <a:xfrm>
                      <a:off x="919" y="3727"/>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1"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72" name="Group 2388"/>
                <p:cNvGrpSpPr>
                  <a:grpSpLocks/>
                </p:cNvGrpSpPr>
                <p:nvPr/>
              </p:nvGrpSpPr>
              <p:grpSpPr bwMode="auto">
                <a:xfrm>
                  <a:off x="922" y="3727"/>
                  <a:ext cx="49" cy="23"/>
                  <a:chOff x="922" y="3727"/>
                  <a:chExt cx="49" cy="23"/>
                </a:xfrm>
              </p:grpSpPr>
              <p:sp>
                <p:nvSpPr>
                  <p:cNvPr id="2105" name="Freeform 2389"/>
                  <p:cNvSpPr>
                    <a:spLocks/>
                  </p:cNvSpPr>
                  <p:nvPr/>
                </p:nvSpPr>
                <p:spPr bwMode="auto">
                  <a:xfrm>
                    <a:off x="922" y="3727"/>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1"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06" name="Freeform 2390"/>
                  <p:cNvSpPr>
                    <a:spLocks/>
                  </p:cNvSpPr>
                  <p:nvPr/>
                </p:nvSpPr>
                <p:spPr bwMode="auto">
                  <a:xfrm>
                    <a:off x="927" y="3728"/>
                    <a:ext cx="36" cy="10"/>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49" y="0"/>
                        </a:lnTo>
                        <a:lnTo>
                          <a:pt x="50" y="4"/>
                        </a:lnTo>
                        <a:lnTo>
                          <a:pt x="56" y="13"/>
                        </a:lnTo>
                        <a:lnTo>
                          <a:pt x="72"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07" name="Freeform 2391"/>
                  <p:cNvSpPr>
                    <a:spLocks/>
                  </p:cNvSpPr>
                  <p:nvPr/>
                </p:nvSpPr>
                <p:spPr bwMode="auto">
                  <a:xfrm>
                    <a:off x="930"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73" name="Group 2392"/>
                <p:cNvGrpSpPr>
                  <a:grpSpLocks/>
                </p:cNvGrpSpPr>
                <p:nvPr/>
              </p:nvGrpSpPr>
              <p:grpSpPr bwMode="auto">
                <a:xfrm>
                  <a:off x="895" y="3526"/>
                  <a:ext cx="44" cy="23"/>
                  <a:chOff x="895" y="3526"/>
                  <a:chExt cx="44" cy="23"/>
                </a:xfrm>
              </p:grpSpPr>
              <p:sp>
                <p:nvSpPr>
                  <p:cNvPr id="2102" name="Freeform 2393"/>
                  <p:cNvSpPr>
                    <a:spLocks/>
                  </p:cNvSpPr>
                  <p:nvPr/>
                </p:nvSpPr>
                <p:spPr bwMode="auto">
                  <a:xfrm>
                    <a:off x="895" y="3526"/>
                    <a:ext cx="19" cy="23"/>
                  </a:xfrm>
                  <a:custGeom>
                    <a:avLst/>
                    <a:gdLst>
                      <a:gd name="T0" fmla="*/ 1 w 38"/>
                      <a:gd name="T1" fmla="*/ 0 h 69"/>
                      <a:gd name="T2" fmla="*/ 0 w 38"/>
                      <a:gd name="T3" fmla="*/ 0 h 69"/>
                      <a:gd name="T4" fmla="*/ 1 w 38"/>
                      <a:gd name="T5" fmla="*/ 0 h 69"/>
                      <a:gd name="T6" fmla="*/ 1 w 38"/>
                      <a:gd name="T7" fmla="*/ 0 h 69"/>
                      <a:gd name="T8" fmla="*/ 1 w 38"/>
                      <a:gd name="T9" fmla="*/ 0 h 69"/>
                      <a:gd name="T10" fmla="*/ 0 60000 65536"/>
                      <a:gd name="T11" fmla="*/ 0 60000 65536"/>
                      <a:gd name="T12" fmla="*/ 0 60000 65536"/>
                      <a:gd name="T13" fmla="*/ 0 60000 65536"/>
                      <a:gd name="T14" fmla="*/ 0 60000 65536"/>
                      <a:gd name="T15" fmla="*/ 0 w 38"/>
                      <a:gd name="T16" fmla="*/ 0 h 69"/>
                      <a:gd name="T17" fmla="*/ 38 w 38"/>
                      <a:gd name="T18" fmla="*/ 69 h 69"/>
                    </a:gdLst>
                    <a:ahLst/>
                    <a:cxnLst>
                      <a:cxn ang="T10">
                        <a:pos x="T0" y="T1"/>
                      </a:cxn>
                      <a:cxn ang="T11">
                        <a:pos x="T2" y="T3"/>
                      </a:cxn>
                      <a:cxn ang="T12">
                        <a:pos x="T4" y="T5"/>
                      </a:cxn>
                      <a:cxn ang="T13">
                        <a:pos x="T6" y="T7"/>
                      </a:cxn>
                      <a:cxn ang="T14">
                        <a:pos x="T8" y="T9"/>
                      </a:cxn>
                    </a:cxnLst>
                    <a:rect l="T15" t="T16" r="T17" b="T18"/>
                    <a:pathLst>
                      <a:path w="38" h="69">
                        <a:moveTo>
                          <a:pt x="22" y="69"/>
                        </a:moveTo>
                        <a:lnTo>
                          <a:pt x="0" y="34"/>
                        </a:lnTo>
                        <a:lnTo>
                          <a:pt x="11" y="0"/>
                        </a:lnTo>
                        <a:lnTo>
                          <a:pt x="38"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03" name="Freeform 2394"/>
                  <p:cNvSpPr>
                    <a:spLocks/>
                  </p:cNvSpPr>
                  <p:nvPr/>
                </p:nvSpPr>
                <p:spPr bwMode="auto">
                  <a:xfrm>
                    <a:off x="901" y="3526"/>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0" y="0"/>
                        </a:lnTo>
                        <a:lnTo>
                          <a:pt x="64" y="35"/>
                        </a:lnTo>
                        <a:lnTo>
                          <a:pt x="23"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04" name="Freeform 2395"/>
                  <p:cNvSpPr>
                    <a:spLocks/>
                  </p:cNvSpPr>
                  <p:nvPr/>
                </p:nvSpPr>
                <p:spPr bwMode="auto">
                  <a:xfrm>
                    <a:off x="907" y="3538"/>
                    <a:ext cx="32" cy="11"/>
                  </a:xfrm>
                  <a:custGeom>
                    <a:avLst/>
                    <a:gdLst>
                      <a:gd name="T0" fmla="*/ 0 w 65"/>
                      <a:gd name="T1" fmla="*/ 0 h 31"/>
                      <a:gd name="T2" fmla="*/ 0 w 65"/>
                      <a:gd name="T3" fmla="*/ 0 h 31"/>
                      <a:gd name="T4" fmla="*/ 0 w 65"/>
                      <a:gd name="T5" fmla="*/ 0 h 31"/>
                      <a:gd name="T6" fmla="*/ 0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3" y="0"/>
                        </a:lnTo>
                        <a:lnTo>
                          <a:pt x="54"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74" name="Group 2396"/>
                <p:cNvGrpSpPr>
                  <a:grpSpLocks/>
                </p:cNvGrpSpPr>
                <p:nvPr/>
              </p:nvGrpSpPr>
              <p:grpSpPr bwMode="auto">
                <a:xfrm>
                  <a:off x="907" y="3540"/>
                  <a:ext cx="45" cy="22"/>
                  <a:chOff x="907" y="3540"/>
                  <a:chExt cx="45" cy="22"/>
                </a:xfrm>
              </p:grpSpPr>
              <p:sp>
                <p:nvSpPr>
                  <p:cNvPr id="2099" name="Freeform 2397"/>
                  <p:cNvSpPr>
                    <a:spLocks/>
                  </p:cNvSpPr>
                  <p:nvPr/>
                </p:nvSpPr>
                <p:spPr bwMode="auto">
                  <a:xfrm>
                    <a:off x="907" y="3540"/>
                    <a:ext cx="20" cy="22"/>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4"/>
                        </a:lnTo>
                        <a:lnTo>
                          <a:pt x="11" y="0"/>
                        </a:lnTo>
                        <a:lnTo>
                          <a:pt x="39" y="34"/>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00" name="Freeform 2398"/>
                  <p:cNvSpPr>
                    <a:spLocks/>
                  </p:cNvSpPr>
                  <p:nvPr/>
                </p:nvSpPr>
                <p:spPr bwMode="auto">
                  <a:xfrm>
                    <a:off x="914" y="3540"/>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01" name="Freeform 2399"/>
                  <p:cNvSpPr>
                    <a:spLocks/>
                  </p:cNvSpPr>
                  <p:nvPr/>
                </p:nvSpPr>
                <p:spPr bwMode="auto">
                  <a:xfrm>
                    <a:off x="919" y="3552"/>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75" name="Group 2400"/>
                <p:cNvGrpSpPr>
                  <a:grpSpLocks/>
                </p:cNvGrpSpPr>
                <p:nvPr/>
              </p:nvGrpSpPr>
              <p:grpSpPr bwMode="auto">
                <a:xfrm>
                  <a:off x="920" y="3553"/>
                  <a:ext cx="45" cy="23"/>
                  <a:chOff x="920" y="3553"/>
                  <a:chExt cx="45" cy="23"/>
                </a:xfrm>
              </p:grpSpPr>
              <p:sp>
                <p:nvSpPr>
                  <p:cNvPr id="2096" name="Freeform 2401"/>
                  <p:cNvSpPr>
                    <a:spLocks/>
                  </p:cNvSpPr>
                  <p:nvPr/>
                </p:nvSpPr>
                <p:spPr bwMode="auto">
                  <a:xfrm>
                    <a:off x="920" y="3553"/>
                    <a:ext cx="20" cy="23"/>
                  </a:xfrm>
                  <a:custGeom>
                    <a:avLst/>
                    <a:gdLst>
                      <a:gd name="T0" fmla="*/ 0 w 41"/>
                      <a:gd name="T1" fmla="*/ 0 h 68"/>
                      <a:gd name="T2" fmla="*/ 0 w 41"/>
                      <a:gd name="T3" fmla="*/ 0 h 68"/>
                      <a:gd name="T4" fmla="*/ 0 w 41"/>
                      <a:gd name="T5" fmla="*/ 0 h 68"/>
                      <a:gd name="T6" fmla="*/ 0 w 41"/>
                      <a:gd name="T7" fmla="*/ 0 h 68"/>
                      <a:gd name="T8" fmla="*/ 0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4"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97" name="Freeform 2402"/>
                  <p:cNvSpPr>
                    <a:spLocks/>
                  </p:cNvSpPr>
                  <p:nvPr/>
                </p:nvSpPr>
                <p:spPr bwMode="auto">
                  <a:xfrm>
                    <a:off x="927" y="3554"/>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39"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98" name="Freeform 2403"/>
                  <p:cNvSpPr>
                    <a:spLocks/>
                  </p:cNvSpPr>
                  <p:nvPr/>
                </p:nvSpPr>
                <p:spPr bwMode="auto">
                  <a:xfrm>
                    <a:off x="932" y="3566"/>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3"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76" name="Group 2404"/>
                <p:cNvGrpSpPr>
                  <a:grpSpLocks/>
                </p:cNvGrpSpPr>
                <p:nvPr/>
              </p:nvGrpSpPr>
              <p:grpSpPr bwMode="auto">
                <a:xfrm>
                  <a:off x="934" y="3566"/>
                  <a:ext cx="44" cy="23"/>
                  <a:chOff x="934" y="3566"/>
                  <a:chExt cx="44" cy="23"/>
                </a:xfrm>
              </p:grpSpPr>
              <p:sp>
                <p:nvSpPr>
                  <p:cNvPr id="2093" name="Freeform 2405"/>
                  <p:cNvSpPr>
                    <a:spLocks/>
                  </p:cNvSpPr>
                  <p:nvPr/>
                </p:nvSpPr>
                <p:spPr bwMode="auto">
                  <a:xfrm>
                    <a:off x="934" y="356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2" y="68"/>
                        </a:moveTo>
                        <a:lnTo>
                          <a:pt x="0" y="33"/>
                        </a:lnTo>
                        <a:lnTo>
                          <a:pt x="12" y="0"/>
                        </a:lnTo>
                        <a:lnTo>
                          <a:pt x="40"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94" name="Freeform 2406"/>
                  <p:cNvSpPr>
                    <a:spLocks/>
                  </p:cNvSpPr>
                  <p:nvPr/>
                </p:nvSpPr>
                <p:spPr bwMode="auto">
                  <a:xfrm>
                    <a:off x="940" y="3567"/>
                    <a:ext cx="32" cy="11"/>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1"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95" name="Freeform 2407"/>
                  <p:cNvSpPr>
                    <a:spLocks/>
                  </p:cNvSpPr>
                  <p:nvPr/>
                </p:nvSpPr>
                <p:spPr bwMode="auto">
                  <a:xfrm>
                    <a:off x="945" y="3579"/>
                    <a:ext cx="33" cy="9"/>
                  </a:xfrm>
                  <a:custGeom>
                    <a:avLst/>
                    <a:gdLst>
                      <a:gd name="T0" fmla="*/ 0 w 65"/>
                      <a:gd name="T1" fmla="*/ 0 h 28"/>
                      <a:gd name="T2" fmla="*/ 1 w 65"/>
                      <a:gd name="T3" fmla="*/ 0 h 28"/>
                      <a:gd name="T4" fmla="*/ 1 w 65"/>
                      <a:gd name="T5" fmla="*/ 0 h 28"/>
                      <a:gd name="T6" fmla="*/ 1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3" y="0"/>
                        </a:lnTo>
                        <a:lnTo>
                          <a:pt x="54"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77" name="Group 2408"/>
                <p:cNvGrpSpPr>
                  <a:grpSpLocks/>
                </p:cNvGrpSpPr>
                <p:nvPr/>
              </p:nvGrpSpPr>
              <p:grpSpPr bwMode="auto">
                <a:xfrm>
                  <a:off x="949" y="3579"/>
                  <a:ext cx="83" cy="63"/>
                  <a:chOff x="949" y="3579"/>
                  <a:chExt cx="83" cy="63"/>
                </a:xfrm>
              </p:grpSpPr>
              <p:grpSp>
                <p:nvGrpSpPr>
                  <p:cNvPr id="2077" name="Group 2409"/>
                  <p:cNvGrpSpPr>
                    <a:grpSpLocks/>
                  </p:cNvGrpSpPr>
                  <p:nvPr/>
                </p:nvGrpSpPr>
                <p:grpSpPr bwMode="auto">
                  <a:xfrm>
                    <a:off x="949" y="3579"/>
                    <a:ext cx="44" cy="23"/>
                    <a:chOff x="949" y="3579"/>
                    <a:chExt cx="44" cy="23"/>
                  </a:xfrm>
                </p:grpSpPr>
                <p:sp>
                  <p:nvSpPr>
                    <p:cNvPr id="2090" name="Freeform 2410"/>
                    <p:cNvSpPr>
                      <a:spLocks/>
                    </p:cNvSpPr>
                    <p:nvPr/>
                  </p:nvSpPr>
                  <p:spPr bwMode="auto">
                    <a:xfrm>
                      <a:off x="949" y="3579"/>
                      <a:ext cx="19" cy="23"/>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2"/>
                          </a:lnTo>
                          <a:lnTo>
                            <a:pt x="11" y="0"/>
                          </a:lnTo>
                          <a:lnTo>
                            <a:pt x="38" y="32"/>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91" name="Freeform 2411"/>
                    <p:cNvSpPr>
                      <a:spLocks/>
                    </p:cNvSpPr>
                    <p:nvPr/>
                  </p:nvSpPr>
                  <p:spPr bwMode="auto">
                    <a:xfrm>
                      <a:off x="955" y="3579"/>
                      <a:ext cx="32" cy="11"/>
                    </a:xfrm>
                    <a:custGeom>
                      <a:avLst/>
                      <a:gdLst>
                        <a:gd name="T0" fmla="*/ 0 w 66"/>
                        <a:gd name="T1" fmla="*/ 0 h 32"/>
                        <a:gd name="T2" fmla="*/ 0 w 66"/>
                        <a:gd name="T3" fmla="*/ 0 h 32"/>
                        <a:gd name="T4" fmla="*/ 0 w 66"/>
                        <a:gd name="T5" fmla="*/ 0 h 32"/>
                        <a:gd name="T6" fmla="*/ 0 w 66"/>
                        <a:gd name="T7" fmla="*/ 0 h 32"/>
                        <a:gd name="T8" fmla="*/ 0 w 66"/>
                        <a:gd name="T9" fmla="*/ 0 h 32"/>
                        <a:gd name="T10" fmla="*/ 0 60000 65536"/>
                        <a:gd name="T11" fmla="*/ 0 60000 65536"/>
                        <a:gd name="T12" fmla="*/ 0 60000 65536"/>
                        <a:gd name="T13" fmla="*/ 0 60000 65536"/>
                        <a:gd name="T14" fmla="*/ 0 60000 65536"/>
                        <a:gd name="T15" fmla="*/ 0 w 66"/>
                        <a:gd name="T16" fmla="*/ 0 h 32"/>
                        <a:gd name="T17" fmla="*/ 66 w 66"/>
                        <a:gd name="T18" fmla="*/ 32 h 32"/>
                      </a:gdLst>
                      <a:ahLst/>
                      <a:cxnLst>
                        <a:cxn ang="T10">
                          <a:pos x="T0" y="T1"/>
                        </a:cxn>
                        <a:cxn ang="T11">
                          <a:pos x="T2" y="T3"/>
                        </a:cxn>
                        <a:cxn ang="T12">
                          <a:pos x="T4" y="T5"/>
                        </a:cxn>
                        <a:cxn ang="T13">
                          <a:pos x="T6" y="T7"/>
                        </a:cxn>
                        <a:cxn ang="T14">
                          <a:pos x="T8" y="T9"/>
                        </a:cxn>
                      </a:cxnLst>
                      <a:rect l="T15" t="T16" r="T17" b="T18"/>
                      <a:pathLst>
                        <a:path w="66" h="32">
                          <a:moveTo>
                            <a:pt x="0" y="0"/>
                          </a:moveTo>
                          <a:lnTo>
                            <a:pt x="42" y="0"/>
                          </a:lnTo>
                          <a:lnTo>
                            <a:pt x="66" y="32"/>
                          </a:lnTo>
                          <a:lnTo>
                            <a:pt x="25"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92" name="Freeform 2412"/>
                    <p:cNvSpPr>
                      <a:spLocks/>
                    </p:cNvSpPr>
                    <p:nvPr/>
                  </p:nvSpPr>
                  <p:spPr bwMode="auto">
                    <a:xfrm>
                      <a:off x="960" y="3591"/>
                      <a:ext cx="33" cy="10"/>
                    </a:xfrm>
                    <a:custGeom>
                      <a:avLst/>
                      <a:gdLst>
                        <a:gd name="T0" fmla="*/ 0 w 65"/>
                        <a:gd name="T1" fmla="*/ 0 h 31"/>
                        <a:gd name="T2" fmla="*/ 1 w 65"/>
                        <a:gd name="T3" fmla="*/ 0 h 31"/>
                        <a:gd name="T4" fmla="*/ 1 w 65"/>
                        <a:gd name="T5" fmla="*/ 0 h 31"/>
                        <a:gd name="T6" fmla="*/ 1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4" y="0"/>
                          </a:lnTo>
                          <a:lnTo>
                            <a:pt x="55"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78" name="Group 2413"/>
                  <p:cNvGrpSpPr>
                    <a:grpSpLocks/>
                  </p:cNvGrpSpPr>
                  <p:nvPr/>
                </p:nvGrpSpPr>
                <p:grpSpPr bwMode="auto">
                  <a:xfrm>
                    <a:off x="961" y="3592"/>
                    <a:ext cx="45" cy="23"/>
                    <a:chOff x="961" y="3592"/>
                    <a:chExt cx="45" cy="23"/>
                  </a:xfrm>
                </p:grpSpPr>
                <p:sp>
                  <p:nvSpPr>
                    <p:cNvPr id="2087" name="Freeform 2414"/>
                    <p:cNvSpPr>
                      <a:spLocks/>
                    </p:cNvSpPr>
                    <p:nvPr/>
                  </p:nvSpPr>
                  <p:spPr bwMode="auto">
                    <a:xfrm>
                      <a:off x="961" y="3592"/>
                      <a:ext cx="20" cy="23"/>
                    </a:xfrm>
                    <a:custGeom>
                      <a:avLst/>
                      <a:gdLst>
                        <a:gd name="T0" fmla="*/ 1 w 40"/>
                        <a:gd name="T1" fmla="*/ 0 h 69"/>
                        <a:gd name="T2" fmla="*/ 0 w 40"/>
                        <a:gd name="T3" fmla="*/ 0 h 69"/>
                        <a:gd name="T4" fmla="*/ 1 w 40"/>
                        <a:gd name="T5" fmla="*/ 0 h 69"/>
                        <a:gd name="T6" fmla="*/ 1 w 40"/>
                        <a:gd name="T7" fmla="*/ 0 h 69"/>
                        <a:gd name="T8" fmla="*/ 1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3"/>
                          </a:lnTo>
                          <a:lnTo>
                            <a:pt x="12" y="0"/>
                          </a:lnTo>
                          <a:lnTo>
                            <a:pt x="40"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88" name="Freeform 2415"/>
                    <p:cNvSpPr>
                      <a:spLocks/>
                    </p:cNvSpPr>
                    <p:nvPr/>
                  </p:nvSpPr>
                  <p:spPr bwMode="auto">
                    <a:xfrm>
                      <a:off x="968" y="3593"/>
                      <a:ext cx="33" cy="11"/>
                    </a:xfrm>
                    <a:custGeom>
                      <a:avLst/>
                      <a:gdLst>
                        <a:gd name="T0" fmla="*/ 0 w 66"/>
                        <a:gd name="T1" fmla="*/ 0 h 35"/>
                        <a:gd name="T2" fmla="*/ 1 w 66"/>
                        <a:gd name="T3" fmla="*/ 0 h 35"/>
                        <a:gd name="T4" fmla="*/ 1 w 66"/>
                        <a:gd name="T5" fmla="*/ 0 h 35"/>
                        <a:gd name="T6" fmla="*/ 1 w 66"/>
                        <a:gd name="T7" fmla="*/ 0 h 35"/>
                        <a:gd name="T8" fmla="*/ 0 w 66"/>
                        <a:gd name="T9" fmla="*/ 0 h 35"/>
                        <a:gd name="T10" fmla="*/ 0 60000 65536"/>
                        <a:gd name="T11" fmla="*/ 0 60000 65536"/>
                        <a:gd name="T12" fmla="*/ 0 60000 65536"/>
                        <a:gd name="T13" fmla="*/ 0 60000 65536"/>
                        <a:gd name="T14" fmla="*/ 0 60000 65536"/>
                        <a:gd name="T15" fmla="*/ 0 w 66"/>
                        <a:gd name="T16" fmla="*/ 0 h 35"/>
                        <a:gd name="T17" fmla="*/ 66 w 66"/>
                        <a:gd name="T18" fmla="*/ 35 h 35"/>
                      </a:gdLst>
                      <a:ahLst/>
                      <a:cxnLst>
                        <a:cxn ang="T10">
                          <a:pos x="T0" y="T1"/>
                        </a:cxn>
                        <a:cxn ang="T11">
                          <a:pos x="T2" y="T3"/>
                        </a:cxn>
                        <a:cxn ang="T12">
                          <a:pos x="T4" y="T5"/>
                        </a:cxn>
                        <a:cxn ang="T13">
                          <a:pos x="T6" y="T7"/>
                        </a:cxn>
                        <a:cxn ang="T14">
                          <a:pos x="T8" y="T9"/>
                        </a:cxn>
                      </a:cxnLst>
                      <a:rect l="T15" t="T16" r="T17" b="T18"/>
                      <a:pathLst>
                        <a:path w="66" h="35">
                          <a:moveTo>
                            <a:pt x="0" y="0"/>
                          </a:moveTo>
                          <a:lnTo>
                            <a:pt x="41" y="0"/>
                          </a:lnTo>
                          <a:lnTo>
                            <a:pt x="66"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89" name="Freeform 2416"/>
                    <p:cNvSpPr>
                      <a:spLocks/>
                    </p:cNvSpPr>
                    <p:nvPr/>
                  </p:nvSpPr>
                  <p:spPr bwMode="auto">
                    <a:xfrm>
                      <a:off x="973" y="3605"/>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3" y="0"/>
                          </a:lnTo>
                          <a:lnTo>
                            <a:pt x="55"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79" name="Group 2417"/>
                  <p:cNvGrpSpPr>
                    <a:grpSpLocks/>
                  </p:cNvGrpSpPr>
                  <p:nvPr/>
                </p:nvGrpSpPr>
                <p:grpSpPr bwMode="auto">
                  <a:xfrm>
                    <a:off x="974" y="3606"/>
                    <a:ext cx="44" cy="23"/>
                    <a:chOff x="974" y="3606"/>
                    <a:chExt cx="44" cy="23"/>
                  </a:xfrm>
                </p:grpSpPr>
                <p:sp>
                  <p:nvSpPr>
                    <p:cNvPr id="2084" name="Freeform 2418"/>
                    <p:cNvSpPr>
                      <a:spLocks/>
                    </p:cNvSpPr>
                    <p:nvPr/>
                  </p:nvSpPr>
                  <p:spPr bwMode="auto">
                    <a:xfrm>
                      <a:off x="974" y="360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5"/>
                          </a:lnTo>
                          <a:lnTo>
                            <a:pt x="12" y="0"/>
                          </a:lnTo>
                          <a:lnTo>
                            <a:pt x="40" y="35"/>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85" name="Freeform 2419"/>
                    <p:cNvSpPr>
                      <a:spLocks/>
                    </p:cNvSpPr>
                    <p:nvPr/>
                  </p:nvSpPr>
                  <p:spPr bwMode="auto">
                    <a:xfrm>
                      <a:off x="980" y="3606"/>
                      <a:ext cx="32" cy="12"/>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2"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86" name="Freeform 2420"/>
                    <p:cNvSpPr>
                      <a:spLocks/>
                    </p:cNvSpPr>
                    <p:nvPr/>
                  </p:nvSpPr>
                  <p:spPr bwMode="auto">
                    <a:xfrm>
                      <a:off x="986" y="3619"/>
                      <a:ext cx="32" cy="9"/>
                    </a:xfrm>
                    <a:custGeom>
                      <a:avLst/>
                      <a:gdLst>
                        <a:gd name="T0" fmla="*/ 0 w 65"/>
                        <a:gd name="T1" fmla="*/ 0 h 29"/>
                        <a:gd name="T2" fmla="*/ 0 w 65"/>
                        <a:gd name="T3" fmla="*/ 0 h 29"/>
                        <a:gd name="T4" fmla="*/ 0 w 65"/>
                        <a:gd name="T5" fmla="*/ 0 h 29"/>
                        <a:gd name="T6" fmla="*/ 0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2"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80" name="Group 2421"/>
                  <p:cNvGrpSpPr>
                    <a:grpSpLocks/>
                  </p:cNvGrpSpPr>
                  <p:nvPr/>
                </p:nvGrpSpPr>
                <p:grpSpPr bwMode="auto">
                  <a:xfrm>
                    <a:off x="987" y="3619"/>
                    <a:ext cx="45" cy="23"/>
                    <a:chOff x="987" y="3619"/>
                    <a:chExt cx="45" cy="23"/>
                  </a:xfrm>
                </p:grpSpPr>
                <p:sp>
                  <p:nvSpPr>
                    <p:cNvPr id="2081" name="Freeform 2422"/>
                    <p:cNvSpPr>
                      <a:spLocks/>
                    </p:cNvSpPr>
                    <p:nvPr/>
                  </p:nvSpPr>
                  <p:spPr bwMode="auto">
                    <a:xfrm>
                      <a:off x="987" y="3619"/>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3"/>
                          </a:lnTo>
                          <a:lnTo>
                            <a:pt x="12" y="0"/>
                          </a:lnTo>
                          <a:lnTo>
                            <a:pt x="39"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82" name="Freeform 2423"/>
                    <p:cNvSpPr>
                      <a:spLocks/>
                    </p:cNvSpPr>
                    <p:nvPr/>
                  </p:nvSpPr>
                  <p:spPr bwMode="auto">
                    <a:xfrm>
                      <a:off x="994" y="3620"/>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5"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83" name="Freeform 2424"/>
                    <p:cNvSpPr>
                      <a:spLocks/>
                    </p:cNvSpPr>
                    <p:nvPr/>
                  </p:nvSpPr>
                  <p:spPr bwMode="auto">
                    <a:xfrm>
                      <a:off x="999" y="3632"/>
                      <a:ext cx="33" cy="9"/>
                    </a:xfrm>
                    <a:custGeom>
                      <a:avLst/>
                      <a:gdLst>
                        <a:gd name="T0" fmla="*/ 0 w 65"/>
                        <a:gd name="T1" fmla="*/ 0 h 29"/>
                        <a:gd name="T2" fmla="*/ 1 w 65"/>
                        <a:gd name="T3" fmla="*/ 0 h 29"/>
                        <a:gd name="T4" fmla="*/ 1 w 65"/>
                        <a:gd name="T5" fmla="*/ 0 h 29"/>
                        <a:gd name="T6" fmla="*/ 1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4"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78" name="Group 2425"/>
                <p:cNvGrpSpPr>
                  <a:grpSpLocks/>
                </p:cNvGrpSpPr>
                <p:nvPr/>
              </p:nvGrpSpPr>
              <p:grpSpPr bwMode="auto">
                <a:xfrm>
                  <a:off x="1002" y="3632"/>
                  <a:ext cx="83" cy="63"/>
                  <a:chOff x="1002" y="3632"/>
                  <a:chExt cx="83" cy="63"/>
                </a:xfrm>
              </p:grpSpPr>
              <p:grpSp>
                <p:nvGrpSpPr>
                  <p:cNvPr id="2061" name="Group 2426"/>
                  <p:cNvGrpSpPr>
                    <a:grpSpLocks/>
                  </p:cNvGrpSpPr>
                  <p:nvPr/>
                </p:nvGrpSpPr>
                <p:grpSpPr bwMode="auto">
                  <a:xfrm>
                    <a:off x="1002" y="3632"/>
                    <a:ext cx="44" cy="22"/>
                    <a:chOff x="1002" y="3632"/>
                    <a:chExt cx="44" cy="22"/>
                  </a:xfrm>
                </p:grpSpPr>
                <p:sp>
                  <p:nvSpPr>
                    <p:cNvPr id="2074" name="Freeform 2427"/>
                    <p:cNvSpPr>
                      <a:spLocks/>
                    </p:cNvSpPr>
                    <p:nvPr/>
                  </p:nvSpPr>
                  <p:spPr bwMode="auto">
                    <a:xfrm>
                      <a:off x="1002" y="3632"/>
                      <a:ext cx="19" cy="22"/>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3"/>
                          </a:lnTo>
                          <a:lnTo>
                            <a:pt x="10" y="0"/>
                          </a:lnTo>
                          <a:lnTo>
                            <a:pt x="38" y="33"/>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75" name="Freeform 2428"/>
                    <p:cNvSpPr>
                      <a:spLocks/>
                    </p:cNvSpPr>
                    <p:nvPr/>
                  </p:nvSpPr>
                  <p:spPr bwMode="auto">
                    <a:xfrm>
                      <a:off x="1008" y="3632"/>
                      <a:ext cx="33" cy="12"/>
                    </a:xfrm>
                    <a:custGeom>
                      <a:avLst/>
                      <a:gdLst>
                        <a:gd name="T0" fmla="*/ 0 w 65"/>
                        <a:gd name="T1" fmla="*/ 0 h 35"/>
                        <a:gd name="T2" fmla="*/ 1 w 65"/>
                        <a:gd name="T3" fmla="*/ 0 h 35"/>
                        <a:gd name="T4" fmla="*/ 1 w 65"/>
                        <a:gd name="T5" fmla="*/ 0 h 35"/>
                        <a:gd name="T6" fmla="*/ 1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0"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76" name="Freeform 2429"/>
                    <p:cNvSpPr>
                      <a:spLocks/>
                    </p:cNvSpPr>
                    <p:nvPr/>
                  </p:nvSpPr>
                  <p:spPr bwMode="auto">
                    <a:xfrm>
                      <a:off x="1013" y="3644"/>
                      <a:ext cx="33" cy="10"/>
                    </a:xfrm>
                    <a:custGeom>
                      <a:avLst/>
                      <a:gdLst>
                        <a:gd name="T0" fmla="*/ 0 w 66"/>
                        <a:gd name="T1" fmla="*/ 0 h 28"/>
                        <a:gd name="T2" fmla="*/ 1 w 66"/>
                        <a:gd name="T3" fmla="*/ 0 h 28"/>
                        <a:gd name="T4" fmla="*/ 1 w 66"/>
                        <a:gd name="T5" fmla="*/ 0 h 28"/>
                        <a:gd name="T6" fmla="*/ 1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3" y="0"/>
                          </a:lnTo>
                          <a:lnTo>
                            <a:pt x="55"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62" name="Group 2430"/>
                  <p:cNvGrpSpPr>
                    <a:grpSpLocks/>
                  </p:cNvGrpSpPr>
                  <p:nvPr/>
                </p:nvGrpSpPr>
                <p:grpSpPr bwMode="auto">
                  <a:xfrm>
                    <a:off x="1014" y="3645"/>
                    <a:ext cx="44" cy="23"/>
                    <a:chOff x="1014" y="3645"/>
                    <a:chExt cx="44" cy="23"/>
                  </a:xfrm>
                </p:grpSpPr>
                <p:sp>
                  <p:nvSpPr>
                    <p:cNvPr id="2071" name="Freeform 2431"/>
                    <p:cNvSpPr>
                      <a:spLocks/>
                    </p:cNvSpPr>
                    <p:nvPr/>
                  </p:nvSpPr>
                  <p:spPr bwMode="auto">
                    <a:xfrm>
                      <a:off x="1014" y="3645"/>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4"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72" name="Freeform 2432"/>
                    <p:cNvSpPr>
                      <a:spLocks/>
                    </p:cNvSpPr>
                    <p:nvPr/>
                  </p:nvSpPr>
                  <p:spPr bwMode="auto">
                    <a:xfrm>
                      <a:off x="1021" y="3646"/>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41"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73" name="Freeform 2433"/>
                    <p:cNvSpPr>
                      <a:spLocks/>
                    </p:cNvSpPr>
                    <p:nvPr/>
                  </p:nvSpPr>
                  <p:spPr bwMode="auto">
                    <a:xfrm>
                      <a:off x="1026" y="3658"/>
                      <a:ext cx="32" cy="10"/>
                    </a:xfrm>
                    <a:custGeom>
                      <a:avLst/>
                      <a:gdLst>
                        <a:gd name="T0" fmla="*/ 0 w 65"/>
                        <a:gd name="T1" fmla="*/ 0 h 30"/>
                        <a:gd name="T2" fmla="*/ 0 w 65"/>
                        <a:gd name="T3" fmla="*/ 0 h 30"/>
                        <a:gd name="T4" fmla="*/ 0 w 65"/>
                        <a:gd name="T5" fmla="*/ 0 h 30"/>
                        <a:gd name="T6" fmla="*/ 0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2"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63" name="Group 2434"/>
                  <p:cNvGrpSpPr>
                    <a:grpSpLocks/>
                  </p:cNvGrpSpPr>
                  <p:nvPr/>
                </p:nvGrpSpPr>
                <p:grpSpPr bwMode="auto">
                  <a:xfrm>
                    <a:off x="1027" y="3659"/>
                    <a:ext cx="45" cy="23"/>
                    <a:chOff x="1027" y="3659"/>
                    <a:chExt cx="45" cy="23"/>
                  </a:xfrm>
                </p:grpSpPr>
                <p:sp>
                  <p:nvSpPr>
                    <p:cNvPr id="2068" name="Freeform 2435"/>
                    <p:cNvSpPr>
                      <a:spLocks/>
                    </p:cNvSpPr>
                    <p:nvPr/>
                  </p:nvSpPr>
                  <p:spPr bwMode="auto">
                    <a:xfrm>
                      <a:off x="1027" y="3659"/>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2" y="70"/>
                          </a:moveTo>
                          <a:lnTo>
                            <a:pt x="0" y="34"/>
                          </a:lnTo>
                          <a:lnTo>
                            <a:pt x="12" y="0"/>
                          </a:lnTo>
                          <a:lnTo>
                            <a:pt x="39" y="34"/>
                          </a:lnTo>
                          <a:lnTo>
                            <a:pt x="22"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69" name="Freeform 2436"/>
                    <p:cNvSpPr>
                      <a:spLocks/>
                    </p:cNvSpPr>
                    <p:nvPr/>
                  </p:nvSpPr>
                  <p:spPr bwMode="auto">
                    <a:xfrm>
                      <a:off x="1033" y="3659"/>
                      <a:ext cx="33"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70" name="Freeform 2437"/>
                    <p:cNvSpPr>
                      <a:spLocks/>
                    </p:cNvSpPr>
                    <p:nvPr/>
                  </p:nvSpPr>
                  <p:spPr bwMode="auto">
                    <a:xfrm>
                      <a:off x="1039" y="3671"/>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64" name="Group 2438"/>
                  <p:cNvGrpSpPr>
                    <a:grpSpLocks/>
                  </p:cNvGrpSpPr>
                  <p:nvPr/>
                </p:nvGrpSpPr>
                <p:grpSpPr bwMode="auto">
                  <a:xfrm>
                    <a:off x="1040" y="3672"/>
                    <a:ext cx="45" cy="23"/>
                    <a:chOff x="1040" y="3672"/>
                    <a:chExt cx="45" cy="23"/>
                  </a:xfrm>
                </p:grpSpPr>
                <p:sp>
                  <p:nvSpPr>
                    <p:cNvPr id="2065" name="Freeform 2439"/>
                    <p:cNvSpPr>
                      <a:spLocks/>
                    </p:cNvSpPr>
                    <p:nvPr/>
                  </p:nvSpPr>
                  <p:spPr bwMode="auto">
                    <a:xfrm>
                      <a:off x="1040" y="3672"/>
                      <a:ext cx="20" cy="23"/>
                    </a:xfrm>
                    <a:custGeom>
                      <a:avLst/>
                      <a:gdLst>
                        <a:gd name="T0" fmla="*/ 0 w 41"/>
                        <a:gd name="T1" fmla="*/ 0 h 70"/>
                        <a:gd name="T2" fmla="*/ 0 w 41"/>
                        <a:gd name="T3" fmla="*/ 0 h 70"/>
                        <a:gd name="T4" fmla="*/ 0 w 41"/>
                        <a:gd name="T5" fmla="*/ 0 h 70"/>
                        <a:gd name="T6" fmla="*/ 0 w 41"/>
                        <a:gd name="T7" fmla="*/ 0 h 70"/>
                        <a:gd name="T8" fmla="*/ 0 w 41"/>
                        <a:gd name="T9" fmla="*/ 0 h 70"/>
                        <a:gd name="T10" fmla="*/ 0 60000 65536"/>
                        <a:gd name="T11" fmla="*/ 0 60000 65536"/>
                        <a:gd name="T12" fmla="*/ 0 60000 65536"/>
                        <a:gd name="T13" fmla="*/ 0 60000 65536"/>
                        <a:gd name="T14" fmla="*/ 0 60000 65536"/>
                        <a:gd name="T15" fmla="*/ 0 w 41"/>
                        <a:gd name="T16" fmla="*/ 0 h 70"/>
                        <a:gd name="T17" fmla="*/ 41 w 41"/>
                        <a:gd name="T18" fmla="*/ 70 h 70"/>
                      </a:gdLst>
                      <a:ahLst/>
                      <a:cxnLst>
                        <a:cxn ang="T10">
                          <a:pos x="T0" y="T1"/>
                        </a:cxn>
                        <a:cxn ang="T11">
                          <a:pos x="T2" y="T3"/>
                        </a:cxn>
                        <a:cxn ang="T12">
                          <a:pos x="T4" y="T5"/>
                        </a:cxn>
                        <a:cxn ang="T13">
                          <a:pos x="T6" y="T7"/>
                        </a:cxn>
                        <a:cxn ang="T14">
                          <a:pos x="T8" y="T9"/>
                        </a:cxn>
                      </a:cxnLst>
                      <a:rect l="T15" t="T16" r="T17" b="T18"/>
                      <a:pathLst>
                        <a:path w="41" h="70">
                          <a:moveTo>
                            <a:pt x="24" y="70"/>
                          </a:moveTo>
                          <a:lnTo>
                            <a:pt x="0" y="35"/>
                          </a:lnTo>
                          <a:lnTo>
                            <a:pt x="13" y="0"/>
                          </a:lnTo>
                          <a:lnTo>
                            <a:pt x="41" y="35"/>
                          </a:lnTo>
                          <a:lnTo>
                            <a:pt x="24"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66" name="Freeform 2440"/>
                    <p:cNvSpPr>
                      <a:spLocks/>
                    </p:cNvSpPr>
                    <p:nvPr/>
                  </p:nvSpPr>
                  <p:spPr bwMode="auto">
                    <a:xfrm>
                      <a:off x="1047" y="3672"/>
                      <a:ext cx="32" cy="12"/>
                    </a:xfrm>
                    <a:custGeom>
                      <a:avLst/>
                      <a:gdLst>
                        <a:gd name="T0" fmla="*/ 0 w 65"/>
                        <a:gd name="T1" fmla="*/ 0 h 34"/>
                        <a:gd name="T2" fmla="*/ 0 w 65"/>
                        <a:gd name="T3" fmla="*/ 0 h 34"/>
                        <a:gd name="T4" fmla="*/ 0 w 65"/>
                        <a:gd name="T5" fmla="*/ 0 h 34"/>
                        <a:gd name="T6" fmla="*/ 0 w 65"/>
                        <a:gd name="T7" fmla="*/ 0 h 34"/>
                        <a:gd name="T8" fmla="*/ 0 w 65"/>
                        <a:gd name="T9" fmla="*/ 0 h 34"/>
                        <a:gd name="T10" fmla="*/ 0 60000 65536"/>
                        <a:gd name="T11" fmla="*/ 0 60000 65536"/>
                        <a:gd name="T12" fmla="*/ 0 60000 65536"/>
                        <a:gd name="T13" fmla="*/ 0 60000 65536"/>
                        <a:gd name="T14" fmla="*/ 0 60000 65536"/>
                        <a:gd name="T15" fmla="*/ 0 w 65"/>
                        <a:gd name="T16" fmla="*/ 0 h 34"/>
                        <a:gd name="T17" fmla="*/ 65 w 65"/>
                        <a:gd name="T18" fmla="*/ 34 h 34"/>
                      </a:gdLst>
                      <a:ahLst/>
                      <a:cxnLst>
                        <a:cxn ang="T10">
                          <a:pos x="T0" y="T1"/>
                        </a:cxn>
                        <a:cxn ang="T11">
                          <a:pos x="T2" y="T3"/>
                        </a:cxn>
                        <a:cxn ang="T12">
                          <a:pos x="T4" y="T5"/>
                        </a:cxn>
                        <a:cxn ang="T13">
                          <a:pos x="T6" y="T7"/>
                        </a:cxn>
                        <a:cxn ang="T14">
                          <a:pos x="T8" y="T9"/>
                        </a:cxn>
                      </a:cxnLst>
                      <a:rect l="T15" t="T16" r="T17" b="T18"/>
                      <a:pathLst>
                        <a:path w="65" h="34">
                          <a:moveTo>
                            <a:pt x="0" y="0"/>
                          </a:moveTo>
                          <a:lnTo>
                            <a:pt x="41" y="0"/>
                          </a:lnTo>
                          <a:lnTo>
                            <a:pt x="65" y="34"/>
                          </a:lnTo>
                          <a:lnTo>
                            <a:pt x="2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67" name="Freeform 2441"/>
                    <p:cNvSpPr>
                      <a:spLocks/>
                    </p:cNvSpPr>
                    <p:nvPr/>
                  </p:nvSpPr>
                  <p:spPr bwMode="auto">
                    <a:xfrm>
                      <a:off x="1053" y="3685"/>
                      <a:ext cx="32" cy="9"/>
                    </a:xfrm>
                    <a:custGeom>
                      <a:avLst/>
                      <a:gdLst>
                        <a:gd name="T0" fmla="*/ 0 w 66"/>
                        <a:gd name="T1" fmla="*/ 0 h 28"/>
                        <a:gd name="T2" fmla="*/ 0 w 66"/>
                        <a:gd name="T3" fmla="*/ 0 h 28"/>
                        <a:gd name="T4" fmla="*/ 0 w 66"/>
                        <a:gd name="T5" fmla="*/ 0 h 28"/>
                        <a:gd name="T6" fmla="*/ 0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2" y="0"/>
                          </a:lnTo>
                          <a:lnTo>
                            <a:pt x="54"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79" name="Group 2442"/>
                <p:cNvGrpSpPr>
                  <a:grpSpLocks/>
                </p:cNvGrpSpPr>
                <p:nvPr/>
              </p:nvGrpSpPr>
              <p:grpSpPr bwMode="auto">
                <a:xfrm>
                  <a:off x="1054" y="3685"/>
                  <a:ext cx="45" cy="23"/>
                  <a:chOff x="1054" y="3685"/>
                  <a:chExt cx="45" cy="23"/>
                </a:xfrm>
              </p:grpSpPr>
              <p:sp>
                <p:nvSpPr>
                  <p:cNvPr id="2058" name="Freeform 2443"/>
                  <p:cNvSpPr>
                    <a:spLocks/>
                  </p:cNvSpPr>
                  <p:nvPr/>
                </p:nvSpPr>
                <p:spPr bwMode="auto">
                  <a:xfrm>
                    <a:off x="1054" y="3685"/>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3" y="70"/>
                        </a:moveTo>
                        <a:lnTo>
                          <a:pt x="0" y="34"/>
                        </a:lnTo>
                        <a:lnTo>
                          <a:pt x="13" y="0"/>
                        </a:lnTo>
                        <a:lnTo>
                          <a:pt x="39" y="34"/>
                        </a:lnTo>
                        <a:lnTo>
                          <a:pt x="23"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59" name="Freeform 2444"/>
                  <p:cNvSpPr>
                    <a:spLocks/>
                  </p:cNvSpPr>
                  <p:nvPr/>
                </p:nvSpPr>
                <p:spPr bwMode="auto">
                  <a:xfrm>
                    <a:off x="1061" y="3685"/>
                    <a:ext cx="32" cy="12"/>
                  </a:xfrm>
                  <a:custGeom>
                    <a:avLst/>
                    <a:gdLst>
                      <a:gd name="T0" fmla="*/ 0 w 63"/>
                      <a:gd name="T1" fmla="*/ 0 h 35"/>
                      <a:gd name="T2" fmla="*/ 1 w 63"/>
                      <a:gd name="T3" fmla="*/ 0 h 35"/>
                      <a:gd name="T4" fmla="*/ 1 w 63"/>
                      <a:gd name="T5" fmla="*/ 0 h 35"/>
                      <a:gd name="T6" fmla="*/ 1 w 63"/>
                      <a:gd name="T7" fmla="*/ 0 h 35"/>
                      <a:gd name="T8" fmla="*/ 0 w 63"/>
                      <a:gd name="T9" fmla="*/ 0 h 35"/>
                      <a:gd name="T10" fmla="*/ 0 60000 65536"/>
                      <a:gd name="T11" fmla="*/ 0 60000 65536"/>
                      <a:gd name="T12" fmla="*/ 0 60000 65536"/>
                      <a:gd name="T13" fmla="*/ 0 60000 65536"/>
                      <a:gd name="T14" fmla="*/ 0 60000 65536"/>
                      <a:gd name="T15" fmla="*/ 0 w 63"/>
                      <a:gd name="T16" fmla="*/ 0 h 35"/>
                      <a:gd name="T17" fmla="*/ 63 w 63"/>
                      <a:gd name="T18" fmla="*/ 35 h 35"/>
                    </a:gdLst>
                    <a:ahLst/>
                    <a:cxnLst>
                      <a:cxn ang="T10">
                        <a:pos x="T0" y="T1"/>
                      </a:cxn>
                      <a:cxn ang="T11">
                        <a:pos x="T2" y="T3"/>
                      </a:cxn>
                      <a:cxn ang="T12">
                        <a:pos x="T4" y="T5"/>
                      </a:cxn>
                      <a:cxn ang="T13">
                        <a:pos x="T6" y="T7"/>
                      </a:cxn>
                      <a:cxn ang="T14">
                        <a:pos x="T8" y="T9"/>
                      </a:cxn>
                    </a:cxnLst>
                    <a:rect l="T15" t="T16" r="T17" b="T18"/>
                    <a:pathLst>
                      <a:path w="63" h="35">
                        <a:moveTo>
                          <a:pt x="0" y="0"/>
                        </a:moveTo>
                        <a:lnTo>
                          <a:pt x="41" y="0"/>
                        </a:lnTo>
                        <a:lnTo>
                          <a:pt x="63"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60" name="Freeform 2445"/>
                  <p:cNvSpPr>
                    <a:spLocks/>
                  </p:cNvSpPr>
                  <p:nvPr/>
                </p:nvSpPr>
                <p:spPr bwMode="auto">
                  <a:xfrm>
                    <a:off x="1066" y="3697"/>
                    <a:ext cx="33" cy="10"/>
                  </a:xfrm>
                  <a:custGeom>
                    <a:avLst/>
                    <a:gdLst>
                      <a:gd name="T0" fmla="*/ 0 w 64"/>
                      <a:gd name="T1" fmla="*/ 0 h 30"/>
                      <a:gd name="T2" fmla="*/ 1 w 64"/>
                      <a:gd name="T3" fmla="*/ 0 h 30"/>
                      <a:gd name="T4" fmla="*/ 1 w 64"/>
                      <a:gd name="T5" fmla="*/ 0 h 30"/>
                      <a:gd name="T6" fmla="*/ 1 w 64"/>
                      <a:gd name="T7" fmla="*/ 0 h 30"/>
                      <a:gd name="T8" fmla="*/ 0 w 64"/>
                      <a:gd name="T9" fmla="*/ 0 h 30"/>
                      <a:gd name="T10" fmla="*/ 0 60000 65536"/>
                      <a:gd name="T11" fmla="*/ 0 60000 65536"/>
                      <a:gd name="T12" fmla="*/ 0 60000 65536"/>
                      <a:gd name="T13" fmla="*/ 0 60000 65536"/>
                      <a:gd name="T14" fmla="*/ 0 60000 65536"/>
                      <a:gd name="T15" fmla="*/ 0 w 64"/>
                      <a:gd name="T16" fmla="*/ 0 h 30"/>
                      <a:gd name="T17" fmla="*/ 64 w 64"/>
                      <a:gd name="T18" fmla="*/ 30 h 30"/>
                    </a:gdLst>
                    <a:ahLst/>
                    <a:cxnLst>
                      <a:cxn ang="T10">
                        <a:pos x="T0" y="T1"/>
                      </a:cxn>
                      <a:cxn ang="T11">
                        <a:pos x="T2" y="T3"/>
                      </a:cxn>
                      <a:cxn ang="T12">
                        <a:pos x="T4" y="T5"/>
                      </a:cxn>
                      <a:cxn ang="T13">
                        <a:pos x="T6" y="T7"/>
                      </a:cxn>
                      <a:cxn ang="T14">
                        <a:pos x="T8" y="T9"/>
                      </a:cxn>
                    </a:cxnLst>
                    <a:rect l="T15" t="T16" r="T17" b="T18"/>
                    <a:pathLst>
                      <a:path w="64" h="30">
                        <a:moveTo>
                          <a:pt x="0" y="30"/>
                        </a:moveTo>
                        <a:lnTo>
                          <a:pt x="13" y="0"/>
                        </a:lnTo>
                        <a:lnTo>
                          <a:pt x="52" y="0"/>
                        </a:lnTo>
                        <a:lnTo>
                          <a:pt x="64"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80" name="Group 2446"/>
                <p:cNvGrpSpPr>
                  <a:grpSpLocks/>
                </p:cNvGrpSpPr>
                <p:nvPr/>
              </p:nvGrpSpPr>
              <p:grpSpPr bwMode="auto">
                <a:xfrm>
                  <a:off x="1067" y="3698"/>
                  <a:ext cx="45" cy="23"/>
                  <a:chOff x="1067" y="3698"/>
                  <a:chExt cx="45" cy="23"/>
                </a:xfrm>
              </p:grpSpPr>
              <p:sp>
                <p:nvSpPr>
                  <p:cNvPr id="2055" name="Freeform 2447"/>
                  <p:cNvSpPr>
                    <a:spLocks/>
                  </p:cNvSpPr>
                  <p:nvPr/>
                </p:nvSpPr>
                <p:spPr bwMode="auto">
                  <a:xfrm>
                    <a:off x="1067" y="3698"/>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2" y="69"/>
                        </a:moveTo>
                        <a:lnTo>
                          <a:pt x="0" y="34"/>
                        </a:lnTo>
                        <a:lnTo>
                          <a:pt x="12" y="0"/>
                        </a:lnTo>
                        <a:lnTo>
                          <a:pt x="39"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56" name="Freeform 2448"/>
                  <p:cNvSpPr>
                    <a:spLocks/>
                  </p:cNvSpPr>
                  <p:nvPr/>
                </p:nvSpPr>
                <p:spPr bwMode="auto">
                  <a:xfrm>
                    <a:off x="1074" y="3699"/>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57" name="Freeform 2449"/>
                  <p:cNvSpPr>
                    <a:spLocks/>
                  </p:cNvSpPr>
                  <p:nvPr/>
                </p:nvSpPr>
                <p:spPr bwMode="auto">
                  <a:xfrm>
                    <a:off x="1079" y="3711"/>
                    <a:ext cx="33" cy="10"/>
                  </a:xfrm>
                  <a:custGeom>
                    <a:avLst/>
                    <a:gdLst>
                      <a:gd name="T0" fmla="*/ 0 w 65"/>
                      <a:gd name="T1" fmla="*/ 0 h 30"/>
                      <a:gd name="T2" fmla="*/ 1 w 65"/>
                      <a:gd name="T3" fmla="*/ 0 h 30"/>
                      <a:gd name="T4" fmla="*/ 1 w 65"/>
                      <a:gd name="T5" fmla="*/ 0 h 30"/>
                      <a:gd name="T6" fmla="*/ 1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1"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81" name="Group 2450"/>
                <p:cNvGrpSpPr>
                  <a:grpSpLocks/>
                </p:cNvGrpSpPr>
                <p:nvPr/>
              </p:nvGrpSpPr>
              <p:grpSpPr bwMode="auto">
                <a:xfrm>
                  <a:off x="1079" y="3712"/>
                  <a:ext cx="44" cy="23"/>
                  <a:chOff x="1079" y="3712"/>
                  <a:chExt cx="44" cy="23"/>
                </a:xfrm>
              </p:grpSpPr>
              <p:sp>
                <p:nvSpPr>
                  <p:cNvPr id="2052" name="Freeform 2451"/>
                  <p:cNvSpPr>
                    <a:spLocks/>
                  </p:cNvSpPr>
                  <p:nvPr/>
                </p:nvSpPr>
                <p:spPr bwMode="auto">
                  <a:xfrm>
                    <a:off x="1079" y="3712"/>
                    <a:ext cx="21" cy="23"/>
                  </a:xfrm>
                  <a:custGeom>
                    <a:avLst/>
                    <a:gdLst>
                      <a:gd name="T0" fmla="*/ 1 w 41"/>
                      <a:gd name="T1" fmla="*/ 0 h 68"/>
                      <a:gd name="T2" fmla="*/ 0 w 41"/>
                      <a:gd name="T3" fmla="*/ 0 h 68"/>
                      <a:gd name="T4" fmla="*/ 1 w 41"/>
                      <a:gd name="T5" fmla="*/ 0 h 68"/>
                      <a:gd name="T6" fmla="*/ 1 w 41"/>
                      <a:gd name="T7" fmla="*/ 0 h 68"/>
                      <a:gd name="T8" fmla="*/ 1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3"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53" name="Freeform 2452"/>
                  <p:cNvSpPr>
                    <a:spLocks/>
                  </p:cNvSpPr>
                  <p:nvPr/>
                </p:nvSpPr>
                <p:spPr bwMode="auto">
                  <a:xfrm>
                    <a:off x="1087" y="3713"/>
                    <a:ext cx="31" cy="10"/>
                  </a:xfrm>
                  <a:custGeom>
                    <a:avLst/>
                    <a:gdLst>
                      <a:gd name="T0" fmla="*/ 0 w 63"/>
                      <a:gd name="T1" fmla="*/ 0 h 32"/>
                      <a:gd name="T2" fmla="*/ 0 w 63"/>
                      <a:gd name="T3" fmla="*/ 0 h 32"/>
                      <a:gd name="T4" fmla="*/ 0 w 63"/>
                      <a:gd name="T5" fmla="*/ 0 h 32"/>
                      <a:gd name="T6" fmla="*/ 0 w 63"/>
                      <a:gd name="T7" fmla="*/ 0 h 32"/>
                      <a:gd name="T8" fmla="*/ 0 w 63"/>
                      <a:gd name="T9" fmla="*/ 0 h 32"/>
                      <a:gd name="T10" fmla="*/ 0 60000 65536"/>
                      <a:gd name="T11" fmla="*/ 0 60000 65536"/>
                      <a:gd name="T12" fmla="*/ 0 60000 65536"/>
                      <a:gd name="T13" fmla="*/ 0 60000 65536"/>
                      <a:gd name="T14" fmla="*/ 0 60000 65536"/>
                      <a:gd name="T15" fmla="*/ 0 w 63"/>
                      <a:gd name="T16" fmla="*/ 0 h 32"/>
                      <a:gd name="T17" fmla="*/ 63 w 63"/>
                      <a:gd name="T18" fmla="*/ 32 h 32"/>
                    </a:gdLst>
                    <a:ahLst/>
                    <a:cxnLst>
                      <a:cxn ang="T10">
                        <a:pos x="T0" y="T1"/>
                      </a:cxn>
                      <a:cxn ang="T11">
                        <a:pos x="T2" y="T3"/>
                      </a:cxn>
                      <a:cxn ang="T12">
                        <a:pos x="T4" y="T5"/>
                      </a:cxn>
                      <a:cxn ang="T13">
                        <a:pos x="T6" y="T7"/>
                      </a:cxn>
                      <a:cxn ang="T14">
                        <a:pos x="T8" y="T9"/>
                      </a:cxn>
                    </a:cxnLst>
                    <a:rect l="T15" t="T16" r="T17" b="T18"/>
                    <a:pathLst>
                      <a:path w="63" h="32">
                        <a:moveTo>
                          <a:pt x="0" y="0"/>
                        </a:moveTo>
                        <a:lnTo>
                          <a:pt x="40" y="0"/>
                        </a:lnTo>
                        <a:lnTo>
                          <a:pt x="63" y="32"/>
                        </a:lnTo>
                        <a:lnTo>
                          <a:pt x="23"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54" name="Freeform 2453"/>
                  <p:cNvSpPr>
                    <a:spLocks/>
                  </p:cNvSpPr>
                  <p:nvPr/>
                </p:nvSpPr>
                <p:spPr bwMode="auto">
                  <a:xfrm>
                    <a:off x="1092" y="3724"/>
                    <a:ext cx="31" cy="11"/>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2"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82" name="Group 2454"/>
                <p:cNvGrpSpPr>
                  <a:grpSpLocks/>
                </p:cNvGrpSpPr>
                <p:nvPr/>
              </p:nvGrpSpPr>
              <p:grpSpPr bwMode="auto">
                <a:xfrm>
                  <a:off x="1093" y="3725"/>
                  <a:ext cx="45" cy="23"/>
                  <a:chOff x="1093" y="3725"/>
                  <a:chExt cx="45" cy="23"/>
                </a:xfrm>
              </p:grpSpPr>
              <p:sp>
                <p:nvSpPr>
                  <p:cNvPr id="2049" name="Freeform 2455"/>
                  <p:cNvSpPr>
                    <a:spLocks/>
                  </p:cNvSpPr>
                  <p:nvPr/>
                </p:nvSpPr>
                <p:spPr bwMode="auto">
                  <a:xfrm>
                    <a:off x="1093" y="3725"/>
                    <a:ext cx="20" cy="23"/>
                  </a:xfrm>
                  <a:custGeom>
                    <a:avLst/>
                    <a:gdLst>
                      <a:gd name="T0" fmla="*/ 1 w 40"/>
                      <a:gd name="T1" fmla="*/ 0 h 68"/>
                      <a:gd name="T2" fmla="*/ 0 w 40"/>
                      <a:gd name="T3" fmla="*/ 0 h 68"/>
                      <a:gd name="T4" fmla="*/ 1 w 40"/>
                      <a:gd name="T5" fmla="*/ 0 h 68"/>
                      <a:gd name="T6" fmla="*/ 1 w 40"/>
                      <a:gd name="T7" fmla="*/ 0 h 68"/>
                      <a:gd name="T8" fmla="*/ 1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2"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50" name="Freeform 2456"/>
                  <p:cNvSpPr>
                    <a:spLocks/>
                  </p:cNvSpPr>
                  <p:nvPr/>
                </p:nvSpPr>
                <p:spPr bwMode="auto">
                  <a:xfrm>
                    <a:off x="1100" y="3726"/>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51" name="Freeform 2457"/>
                  <p:cNvSpPr>
                    <a:spLocks/>
                  </p:cNvSpPr>
                  <p:nvPr/>
                </p:nvSpPr>
                <p:spPr bwMode="auto">
                  <a:xfrm>
                    <a:off x="1106" y="3738"/>
                    <a:ext cx="32" cy="9"/>
                  </a:xfrm>
                  <a:custGeom>
                    <a:avLst/>
                    <a:gdLst>
                      <a:gd name="T0" fmla="*/ 0 w 65"/>
                      <a:gd name="T1" fmla="*/ 0 h 28"/>
                      <a:gd name="T2" fmla="*/ 0 w 65"/>
                      <a:gd name="T3" fmla="*/ 0 h 28"/>
                      <a:gd name="T4" fmla="*/ 0 w 65"/>
                      <a:gd name="T5" fmla="*/ 0 h 28"/>
                      <a:gd name="T6" fmla="*/ 0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2" y="0"/>
                        </a:lnTo>
                        <a:lnTo>
                          <a:pt x="53"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83" name="Group 2458"/>
                <p:cNvGrpSpPr>
                  <a:grpSpLocks/>
                </p:cNvGrpSpPr>
                <p:nvPr/>
              </p:nvGrpSpPr>
              <p:grpSpPr bwMode="auto">
                <a:xfrm>
                  <a:off x="1108" y="3739"/>
                  <a:ext cx="44" cy="23"/>
                  <a:chOff x="1108" y="3739"/>
                  <a:chExt cx="44" cy="23"/>
                </a:xfrm>
              </p:grpSpPr>
              <p:sp>
                <p:nvSpPr>
                  <p:cNvPr id="2046" name="Freeform 2459"/>
                  <p:cNvSpPr>
                    <a:spLocks/>
                  </p:cNvSpPr>
                  <p:nvPr/>
                </p:nvSpPr>
                <p:spPr bwMode="auto">
                  <a:xfrm>
                    <a:off x="1108" y="3739"/>
                    <a:ext cx="19" cy="23"/>
                  </a:xfrm>
                  <a:custGeom>
                    <a:avLst/>
                    <a:gdLst>
                      <a:gd name="T0" fmla="*/ 0 w 40"/>
                      <a:gd name="T1" fmla="*/ 0 h 69"/>
                      <a:gd name="T2" fmla="*/ 0 w 40"/>
                      <a:gd name="T3" fmla="*/ 0 h 69"/>
                      <a:gd name="T4" fmla="*/ 0 w 40"/>
                      <a:gd name="T5" fmla="*/ 0 h 69"/>
                      <a:gd name="T6" fmla="*/ 0 w 40"/>
                      <a:gd name="T7" fmla="*/ 0 h 69"/>
                      <a:gd name="T8" fmla="*/ 0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4"/>
                        </a:lnTo>
                        <a:lnTo>
                          <a:pt x="12" y="0"/>
                        </a:lnTo>
                        <a:lnTo>
                          <a:pt x="40" y="34"/>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47" name="Freeform 2460"/>
                  <p:cNvSpPr>
                    <a:spLocks/>
                  </p:cNvSpPr>
                  <p:nvPr/>
                </p:nvSpPr>
                <p:spPr bwMode="auto">
                  <a:xfrm>
                    <a:off x="1114" y="3740"/>
                    <a:ext cx="32" cy="11"/>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2" y="0"/>
                        </a:lnTo>
                        <a:lnTo>
                          <a:pt x="64"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48" name="Freeform 2461"/>
                  <p:cNvSpPr>
                    <a:spLocks/>
                  </p:cNvSpPr>
                  <p:nvPr/>
                </p:nvSpPr>
                <p:spPr bwMode="auto">
                  <a:xfrm>
                    <a:off x="1120" y="3752"/>
                    <a:ext cx="32" cy="10"/>
                  </a:xfrm>
                  <a:custGeom>
                    <a:avLst/>
                    <a:gdLst>
                      <a:gd name="T0" fmla="*/ 0 w 66"/>
                      <a:gd name="T1" fmla="*/ 0 h 30"/>
                      <a:gd name="T2" fmla="*/ 0 w 66"/>
                      <a:gd name="T3" fmla="*/ 0 h 30"/>
                      <a:gd name="T4" fmla="*/ 0 w 66"/>
                      <a:gd name="T5" fmla="*/ 0 h 30"/>
                      <a:gd name="T6" fmla="*/ 0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5"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84" name="Group 2462"/>
                <p:cNvGrpSpPr>
                  <a:grpSpLocks/>
                </p:cNvGrpSpPr>
                <p:nvPr/>
              </p:nvGrpSpPr>
              <p:grpSpPr bwMode="auto">
                <a:xfrm>
                  <a:off x="1121" y="3753"/>
                  <a:ext cx="45" cy="23"/>
                  <a:chOff x="1121" y="3753"/>
                  <a:chExt cx="45" cy="23"/>
                </a:xfrm>
              </p:grpSpPr>
              <p:sp>
                <p:nvSpPr>
                  <p:cNvPr id="2043" name="Freeform 2463"/>
                  <p:cNvSpPr>
                    <a:spLocks/>
                  </p:cNvSpPr>
                  <p:nvPr/>
                </p:nvSpPr>
                <p:spPr bwMode="auto">
                  <a:xfrm>
                    <a:off x="1121" y="3753"/>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5"/>
                        </a:lnTo>
                        <a:lnTo>
                          <a:pt x="12" y="0"/>
                        </a:lnTo>
                        <a:lnTo>
                          <a:pt x="39" y="35"/>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44" name="Freeform 2464"/>
                  <p:cNvSpPr>
                    <a:spLocks/>
                  </p:cNvSpPr>
                  <p:nvPr/>
                </p:nvSpPr>
                <p:spPr bwMode="auto">
                  <a:xfrm>
                    <a:off x="1127" y="3753"/>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39" y="0"/>
                        </a:lnTo>
                        <a:lnTo>
                          <a:pt x="64"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45" name="Freeform 2465"/>
                  <p:cNvSpPr>
                    <a:spLocks/>
                  </p:cNvSpPr>
                  <p:nvPr/>
                </p:nvSpPr>
                <p:spPr bwMode="auto">
                  <a:xfrm>
                    <a:off x="1133" y="3766"/>
                    <a:ext cx="33" cy="9"/>
                  </a:xfrm>
                  <a:custGeom>
                    <a:avLst/>
                    <a:gdLst>
                      <a:gd name="T0" fmla="*/ 0 w 66"/>
                      <a:gd name="T1" fmla="*/ 0 h 29"/>
                      <a:gd name="T2" fmla="*/ 1 w 66"/>
                      <a:gd name="T3" fmla="*/ 0 h 29"/>
                      <a:gd name="T4" fmla="*/ 1 w 66"/>
                      <a:gd name="T5" fmla="*/ 0 h 29"/>
                      <a:gd name="T6" fmla="*/ 1 w 66"/>
                      <a:gd name="T7" fmla="*/ 0 h 29"/>
                      <a:gd name="T8" fmla="*/ 0 w 66"/>
                      <a:gd name="T9" fmla="*/ 0 h 29"/>
                      <a:gd name="T10" fmla="*/ 0 60000 65536"/>
                      <a:gd name="T11" fmla="*/ 0 60000 65536"/>
                      <a:gd name="T12" fmla="*/ 0 60000 65536"/>
                      <a:gd name="T13" fmla="*/ 0 60000 65536"/>
                      <a:gd name="T14" fmla="*/ 0 60000 65536"/>
                      <a:gd name="T15" fmla="*/ 0 w 66"/>
                      <a:gd name="T16" fmla="*/ 0 h 29"/>
                      <a:gd name="T17" fmla="*/ 66 w 66"/>
                      <a:gd name="T18" fmla="*/ 29 h 29"/>
                    </a:gdLst>
                    <a:ahLst/>
                    <a:cxnLst>
                      <a:cxn ang="T10">
                        <a:pos x="T0" y="T1"/>
                      </a:cxn>
                      <a:cxn ang="T11">
                        <a:pos x="T2" y="T3"/>
                      </a:cxn>
                      <a:cxn ang="T12">
                        <a:pos x="T4" y="T5"/>
                      </a:cxn>
                      <a:cxn ang="T13">
                        <a:pos x="T6" y="T7"/>
                      </a:cxn>
                      <a:cxn ang="T14">
                        <a:pos x="T8" y="T9"/>
                      </a:cxn>
                    </a:cxnLst>
                    <a:rect l="T15" t="T16" r="T17" b="T18"/>
                    <a:pathLst>
                      <a:path w="66" h="29">
                        <a:moveTo>
                          <a:pt x="0" y="29"/>
                        </a:moveTo>
                        <a:lnTo>
                          <a:pt x="12" y="0"/>
                        </a:lnTo>
                        <a:lnTo>
                          <a:pt x="54" y="0"/>
                        </a:lnTo>
                        <a:lnTo>
                          <a:pt x="66"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85" name="Group 2466"/>
                <p:cNvGrpSpPr>
                  <a:grpSpLocks/>
                </p:cNvGrpSpPr>
                <p:nvPr/>
              </p:nvGrpSpPr>
              <p:grpSpPr bwMode="auto">
                <a:xfrm>
                  <a:off x="1133" y="3767"/>
                  <a:ext cx="44" cy="23"/>
                  <a:chOff x="1133" y="3767"/>
                  <a:chExt cx="44" cy="23"/>
                </a:xfrm>
              </p:grpSpPr>
              <p:sp>
                <p:nvSpPr>
                  <p:cNvPr id="2040" name="Freeform 2467"/>
                  <p:cNvSpPr>
                    <a:spLocks/>
                  </p:cNvSpPr>
                  <p:nvPr/>
                </p:nvSpPr>
                <p:spPr bwMode="auto">
                  <a:xfrm>
                    <a:off x="1133" y="3767"/>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3" y="69"/>
                        </a:moveTo>
                        <a:lnTo>
                          <a:pt x="0" y="33"/>
                        </a:lnTo>
                        <a:lnTo>
                          <a:pt x="12" y="0"/>
                        </a:lnTo>
                        <a:lnTo>
                          <a:pt x="39"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41" name="Freeform 2468"/>
                  <p:cNvSpPr>
                    <a:spLocks/>
                  </p:cNvSpPr>
                  <p:nvPr/>
                </p:nvSpPr>
                <p:spPr bwMode="auto">
                  <a:xfrm>
                    <a:off x="1140" y="3767"/>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3"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42" name="Freeform 2469"/>
                  <p:cNvSpPr>
                    <a:spLocks/>
                  </p:cNvSpPr>
                  <p:nvPr/>
                </p:nvSpPr>
                <p:spPr bwMode="auto">
                  <a:xfrm>
                    <a:off x="1146" y="3779"/>
                    <a:ext cx="31" cy="10"/>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1"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986" name="Freeform 2470"/>
                <p:cNvSpPr>
                  <a:spLocks/>
                </p:cNvSpPr>
                <p:nvPr/>
              </p:nvSpPr>
              <p:spPr bwMode="auto">
                <a:xfrm>
                  <a:off x="972" y="3556"/>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7"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87" name="Freeform 2471"/>
                <p:cNvSpPr>
                  <a:spLocks/>
                </p:cNvSpPr>
                <p:nvPr/>
              </p:nvSpPr>
              <p:spPr bwMode="auto">
                <a:xfrm>
                  <a:off x="993" y="3576"/>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88" name="Freeform 2472"/>
                <p:cNvSpPr>
                  <a:spLocks/>
                </p:cNvSpPr>
                <p:nvPr/>
              </p:nvSpPr>
              <p:spPr bwMode="auto">
                <a:xfrm>
                  <a:off x="1012" y="3594"/>
                  <a:ext cx="39" cy="12"/>
                </a:xfrm>
                <a:custGeom>
                  <a:avLst/>
                  <a:gdLst>
                    <a:gd name="T0" fmla="*/ 0 w 78"/>
                    <a:gd name="T1" fmla="*/ 0 h 36"/>
                    <a:gd name="T2" fmla="*/ 1 w 78"/>
                    <a:gd name="T3" fmla="*/ 0 h 36"/>
                    <a:gd name="T4" fmla="*/ 1 w 78"/>
                    <a:gd name="T5" fmla="*/ 0 h 36"/>
                    <a:gd name="T6" fmla="*/ 1 w 78"/>
                    <a:gd name="T7" fmla="*/ 0 h 36"/>
                    <a:gd name="T8" fmla="*/ 0 w 78"/>
                    <a:gd name="T9" fmla="*/ 0 h 36"/>
                    <a:gd name="T10" fmla="*/ 0 60000 65536"/>
                    <a:gd name="T11" fmla="*/ 0 60000 65536"/>
                    <a:gd name="T12" fmla="*/ 0 60000 65536"/>
                    <a:gd name="T13" fmla="*/ 0 60000 65536"/>
                    <a:gd name="T14" fmla="*/ 0 60000 65536"/>
                    <a:gd name="T15" fmla="*/ 0 w 78"/>
                    <a:gd name="T16" fmla="*/ 0 h 36"/>
                    <a:gd name="T17" fmla="*/ 78 w 78"/>
                    <a:gd name="T18" fmla="*/ 36 h 36"/>
                  </a:gdLst>
                  <a:ahLst/>
                  <a:cxnLst>
                    <a:cxn ang="T10">
                      <a:pos x="T0" y="T1"/>
                    </a:cxn>
                    <a:cxn ang="T11">
                      <a:pos x="T2" y="T3"/>
                    </a:cxn>
                    <a:cxn ang="T12">
                      <a:pos x="T4" y="T5"/>
                    </a:cxn>
                    <a:cxn ang="T13">
                      <a:pos x="T6" y="T7"/>
                    </a:cxn>
                    <a:cxn ang="T14">
                      <a:pos x="T8" y="T9"/>
                    </a:cxn>
                  </a:cxnLst>
                  <a:rect l="T15" t="T16" r="T17" b="T18"/>
                  <a:pathLst>
                    <a:path w="78" h="36">
                      <a:moveTo>
                        <a:pt x="0" y="0"/>
                      </a:moveTo>
                      <a:lnTo>
                        <a:pt x="27" y="36"/>
                      </a:lnTo>
                      <a:lnTo>
                        <a:pt x="78" y="36"/>
                      </a:lnTo>
                      <a:lnTo>
                        <a:pt x="49"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89" name="Freeform 2473"/>
                <p:cNvSpPr>
                  <a:spLocks/>
                </p:cNvSpPr>
                <p:nvPr/>
              </p:nvSpPr>
              <p:spPr bwMode="auto">
                <a:xfrm>
                  <a:off x="1032" y="3613"/>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90" name="Freeform 2474"/>
                <p:cNvSpPr>
                  <a:spLocks/>
                </p:cNvSpPr>
                <p:nvPr/>
              </p:nvSpPr>
              <p:spPr bwMode="auto">
                <a:xfrm>
                  <a:off x="1053" y="3632"/>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91" name="Freeform 2475"/>
                <p:cNvSpPr>
                  <a:spLocks/>
                </p:cNvSpPr>
                <p:nvPr/>
              </p:nvSpPr>
              <p:spPr bwMode="auto">
                <a:xfrm>
                  <a:off x="1074" y="3651"/>
                  <a:ext cx="40" cy="12"/>
                </a:xfrm>
                <a:custGeom>
                  <a:avLst/>
                  <a:gdLst>
                    <a:gd name="T0" fmla="*/ 0 w 79"/>
                    <a:gd name="T1" fmla="*/ 0 h 35"/>
                    <a:gd name="T2" fmla="*/ 1 w 79"/>
                    <a:gd name="T3" fmla="*/ 0 h 35"/>
                    <a:gd name="T4" fmla="*/ 1 w 79"/>
                    <a:gd name="T5" fmla="*/ 0 h 35"/>
                    <a:gd name="T6" fmla="*/ 1 w 79"/>
                    <a:gd name="T7" fmla="*/ 0 h 35"/>
                    <a:gd name="T8" fmla="*/ 0 w 79"/>
                    <a:gd name="T9" fmla="*/ 0 h 35"/>
                    <a:gd name="T10" fmla="*/ 0 60000 65536"/>
                    <a:gd name="T11" fmla="*/ 0 60000 65536"/>
                    <a:gd name="T12" fmla="*/ 0 60000 65536"/>
                    <a:gd name="T13" fmla="*/ 0 60000 65536"/>
                    <a:gd name="T14" fmla="*/ 0 60000 65536"/>
                    <a:gd name="T15" fmla="*/ 0 w 79"/>
                    <a:gd name="T16" fmla="*/ 0 h 35"/>
                    <a:gd name="T17" fmla="*/ 79 w 79"/>
                    <a:gd name="T18" fmla="*/ 35 h 35"/>
                  </a:gdLst>
                  <a:ahLst/>
                  <a:cxnLst>
                    <a:cxn ang="T10">
                      <a:pos x="T0" y="T1"/>
                    </a:cxn>
                    <a:cxn ang="T11">
                      <a:pos x="T2" y="T3"/>
                    </a:cxn>
                    <a:cxn ang="T12">
                      <a:pos x="T4" y="T5"/>
                    </a:cxn>
                    <a:cxn ang="T13">
                      <a:pos x="T6" y="T7"/>
                    </a:cxn>
                    <a:cxn ang="T14">
                      <a:pos x="T8" y="T9"/>
                    </a:cxn>
                  </a:cxnLst>
                  <a:rect l="T15" t="T16" r="T17" b="T18"/>
                  <a:pathLst>
                    <a:path w="79" h="35">
                      <a:moveTo>
                        <a:pt x="0" y="0"/>
                      </a:moveTo>
                      <a:lnTo>
                        <a:pt x="28" y="35"/>
                      </a:lnTo>
                      <a:lnTo>
                        <a:pt x="79" y="35"/>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92" name="Freeform 2476"/>
                <p:cNvSpPr>
                  <a:spLocks/>
                </p:cNvSpPr>
                <p:nvPr/>
              </p:nvSpPr>
              <p:spPr bwMode="auto">
                <a:xfrm>
                  <a:off x="1095" y="3669"/>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8"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93" name="Freeform 2477"/>
                <p:cNvSpPr>
                  <a:spLocks/>
                </p:cNvSpPr>
                <p:nvPr/>
              </p:nvSpPr>
              <p:spPr bwMode="auto">
                <a:xfrm>
                  <a:off x="1115" y="3688"/>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94" name="Freeform 2478"/>
                <p:cNvSpPr>
                  <a:spLocks/>
                </p:cNvSpPr>
                <p:nvPr/>
              </p:nvSpPr>
              <p:spPr bwMode="auto">
                <a:xfrm>
                  <a:off x="1134" y="3707"/>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95" name="Freeform 2479"/>
                <p:cNvSpPr>
                  <a:spLocks/>
                </p:cNvSpPr>
                <p:nvPr/>
              </p:nvSpPr>
              <p:spPr bwMode="auto">
                <a:xfrm>
                  <a:off x="1154" y="3726"/>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96" name="Freeform 2480"/>
                <p:cNvSpPr>
                  <a:spLocks/>
                </p:cNvSpPr>
                <p:nvPr/>
              </p:nvSpPr>
              <p:spPr bwMode="auto">
                <a:xfrm>
                  <a:off x="1175" y="3745"/>
                  <a:ext cx="40" cy="12"/>
                </a:xfrm>
                <a:custGeom>
                  <a:avLst/>
                  <a:gdLst>
                    <a:gd name="T0" fmla="*/ 0 w 81"/>
                    <a:gd name="T1" fmla="*/ 0 h 36"/>
                    <a:gd name="T2" fmla="*/ 0 w 81"/>
                    <a:gd name="T3" fmla="*/ 0 h 36"/>
                    <a:gd name="T4" fmla="*/ 0 w 81"/>
                    <a:gd name="T5" fmla="*/ 0 h 36"/>
                    <a:gd name="T6" fmla="*/ 0 w 81"/>
                    <a:gd name="T7" fmla="*/ 0 h 36"/>
                    <a:gd name="T8" fmla="*/ 0 w 81"/>
                    <a:gd name="T9" fmla="*/ 0 h 36"/>
                    <a:gd name="T10" fmla="*/ 0 60000 65536"/>
                    <a:gd name="T11" fmla="*/ 0 60000 65536"/>
                    <a:gd name="T12" fmla="*/ 0 60000 65536"/>
                    <a:gd name="T13" fmla="*/ 0 60000 65536"/>
                    <a:gd name="T14" fmla="*/ 0 60000 65536"/>
                    <a:gd name="T15" fmla="*/ 0 w 81"/>
                    <a:gd name="T16" fmla="*/ 0 h 36"/>
                    <a:gd name="T17" fmla="*/ 81 w 81"/>
                    <a:gd name="T18" fmla="*/ 36 h 36"/>
                  </a:gdLst>
                  <a:ahLst/>
                  <a:cxnLst>
                    <a:cxn ang="T10">
                      <a:pos x="T0" y="T1"/>
                    </a:cxn>
                    <a:cxn ang="T11">
                      <a:pos x="T2" y="T3"/>
                    </a:cxn>
                    <a:cxn ang="T12">
                      <a:pos x="T4" y="T5"/>
                    </a:cxn>
                    <a:cxn ang="T13">
                      <a:pos x="T6" y="T7"/>
                    </a:cxn>
                    <a:cxn ang="T14">
                      <a:pos x="T8" y="T9"/>
                    </a:cxn>
                  </a:cxnLst>
                  <a:rect l="T15" t="T16" r="T17" b="T18"/>
                  <a:pathLst>
                    <a:path w="81" h="36">
                      <a:moveTo>
                        <a:pt x="0" y="0"/>
                      </a:moveTo>
                      <a:lnTo>
                        <a:pt x="28" y="36"/>
                      </a:lnTo>
                      <a:lnTo>
                        <a:pt x="81" y="36"/>
                      </a:lnTo>
                      <a:lnTo>
                        <a:pt x="52"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997" name="Group 2481"/>
                <p:cNvGrpSpPr>
                  <a:grpSpLocks/>
                </p:cNvGrpSpPr>
                <p:nvPr/>
              </p:nvGrpSpPr>
              <p:grpSpPr bwMode="auto">
                <a:xfrm>
                  <a:off x="700" y="3535"/>
                  <a:ext cx="49" cy="24"/>
                  <a:chOff x="700" y="3535"/>
                  <a:chExt cx="49" cy="24"/>
                </a:xfrm>
              </p:grpSpPr>
              <p:sp>
                <p:nvSpPr>
                  <p:cNvPr id="2037" name="Freeform 2482"/>
                  <p:cNvSpPr>
                    <a:spLocks/>
                  </p:cNvSpPr>
                  <p:nvPr/>
                </p:nvSpPr>
                <p:spPr bwMode="auto">
                  <a:xfrm>
                    <a:off x="700" y="3535"/>
                    <a:ext cx="12" cy="24"/>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10"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38" name="Freeform 2483"/>
                  <p:cNvSpPr>
                    <a:spLocks/>
                  </p:cNvSpPr>
                  <p:nvPr/>
                </p:nvSpPr>
                <p:spPr bwMode="auto">
                  <a:xfrm>
                    <a:off x="705" y="3536"/>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2" y="4"/>
                        </a:lnTo>
                        <a:lnTo>
                          <a:pt x="56" y="12"/>
                        </a:lnTo>
                        <a:lnTo>
                          <a:pt x="73"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39" name="Freeform 2484"/>
                  <p:cNvSpPr>
                    <a:spLocks/>
                  </p:cNvSpPr>
                  <p:nvPr/>
                </p:nvSpPr>
                <p:spPr bwMode="auto">
                  <a:xfrm>
                    <a:off x="708" y="354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6"/>
                        </a:lnTo>
                        <a:lnTo>
                          <a:pt x="11" y="0"/>
                        </a:lnTo>
                        <a:lnTo>
                          <a:pt x="67"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98" name="Group 2485"/>
                <p:cNvGrpSpPr>
                  <a:grpSpLocks/>
                </p:cNvGrpSpPr>
                <p:nvPr/>
              </p:nvGrpSpPr>
              <p:grpSpPr bwMode="auto">
                <a:xfrm>
                  <a:off x="714" y="3551"/>
                  <a:ext cx="49" cy="22"/>
                  <a:chOff x="714" y="3551"/>
                  <a:chExt cx="49" cy="22"/>
                </a:xfrm>
              </p:grpSpPr>
              <p:sp>
                <p:nvSpPr>
                  <p:cNvPr id="2034" name="Freeform 2486"/>
                  <p:cNvSpPr>
                    <a:spLocks/>
                  </p:cNvSpPr>
                  <p:nvPr/>
                </p:nvSpPr>
                <p:spPr bwMode="auto">
                  <a:xfrm>
                    <a:off x="714" y="35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9" y="0"/>
                        </a:lnTo>
                        <a:lnTo>
                          <a:pt x="24" y="30"/>
                        </a:lnTo>
                        <a:lnTo>
                          <a:pt x="15"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35" name="Freeform 2487"/>
                  <p:cNvSpPr>
                    <a:spLocks/>
                  </p:cNvSpPr>
                  <p:nvPr/>
                </p:nvSpPr>
                <p:spPr bwMode="auto">
                  <a:xfrm>
                    <a:off x="719" y="3551"/>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50" y="0"/>
                        </a:lnTo>
                        <a:lnTo>
                          <a:pt x="52" y="2"/>
                        </a:lnTo>
                        <a:lnTo>
                          <a:pt x="57" y="13"/>
                        </a:lnTo>
                        <a:lnTo>
                          <a:pt x="74" y="29"/>
                        </a:lnTo>
                        <a:lnTo>
                          <a:pt x="19" y="29"/>
                        </a:lnTo>
                        <a:lnTo>
                          <a:pt x="9"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36" name="Freeform 2488"/>
                  <p:cNvSpPr>
                    <a:spLocks/>
                  </p:cNvSpPr>
                  <p:nvPr/>
                </p:nvSpPr>
                <p:spPr bwMode="auto">
                  <a:xfrm>
                    <a:off x="722" y="35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99" name="Group 2489"/>
                <p:cNvGrpSpPr>
                  <a:grpSpLocks/>
                </p:cNvGrpSpPr>
                <p:nvPr/>
              </p:nvGrpSpPr>
              <p:grpSpPr bwMode="auto">
                <a:xfrm>
                  <a:off x="728" y="3564"/>
                  <a:ext cx="48" cy="23"/>
                  <a:chOff x="728" y="3564"/>
                  <a:chExt cx="48" cy="23"/>
                </a:xfrm>
              </p:grpSpPr>
              <p:sp>
                <p:nvSpPr>
                  <p:cNvPr id="2031" name="Freeform 2490"/>
                  <p:cNvSpPr>
                    <a:spLocks/>
                  </p:cNvSpPr>
                  <p:nvPr/>
                </p:nvSpPr>
                <p:spPr bwMode="auto">
                  <a:xfrm>
                    <a:off x="728" y="3564"/>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32" name="Freeform 2491"/>
                  <p:cNvSpPr>
                    <a:spLocks/>
                  </p:cNvSpPr>
                  <p:nvPr/>
                </p:nvSpPr>
                <p:spPr bwMode="auto">
                  <a:xfrm>
                    <a:off x="732" y="3565"/>
                    <a:ext cx="37"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50" y="0"/>
                        </a:lnTo>
                        <a:lnTo>
                          <a:pt x="51" y="3"/>
                        </a:lnTo>
                        <a:lnTo>
                          <a:pt x="56" y="12"/>
                        </a:lnTo>
                        <a:lnTo>
                          <a:pt x="72"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33" name="Freeform 2492"/>
                  <p:cNvSpPr>
                    <a:spLocks/>
                  </p:cNvSpPr>
                  <p:nvPr/>
                </p:nvSpPr>
                <p:spPr bwMode="auto">
                  <a:xfrm>
                    <a:off x="735" y="3575"/>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00" name="Group 2493"/>
                <p:cNvGrpSpPr>
                  <a:grpSpLocks/>
                </p:cNvGrpSpPr>
                <p:nvPr/>
              </p:nvGrpSpPr>
              <p:grpSpPr bwMode="auto">
                <a:xfrm>
                  <a:off x="742" y="3582"/>
                  <a:ext cx="49" cy="23"/>
                  <a:chOff x="742" y="3582"/>
                  <a:chExt cx="49" cy="23"/>
                </a:xfrm>
              </p:grpSpPr>
              <p:sp>
                <p:nvSpPr>
                  <p:cNvPr id="2028" name="Freeform 2494"/>
                  <p:cNvSpPr>
                    <a:spLocks/>
                  </p:cNvSpPr>
                  <p:nvPr/>
                </p:nvSpPr>
                <p:spPr bwMode="auto">
                  <a:xfrm>
                    <a:off x="742" y="3582"/>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6"/>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29" name="Freeform 2495"/>
                  <p:cNvSpPr>
                    <a:spLocks/>
                  </p:cNvSpPr>
                  <p:nvPr/>
                </p:nvSpPr>
                <p:spPr bwMode="auto">
                  <a:xfrm>
                    <a:off x="747" y="3582"/>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8" y="0"/>
                        </a:lnTo>
                        <a:lnTo>
                          <a:pt x="50" y="3"/>
                        </a:lnTo>
                        <a:lnTo>
                          <a:pt x="56" y="12"/>
                        </a:lnTo>
                        <a:lnTo>
                          <a:pt x="72" y="30"/>
                        </a:lnTo>
                        <a:lnTo>
                          <a:pt x="17" y="30"/>
                        </a:lnTo>
                        <a:lnTo>
                          <a:pt x="8" y="21"/>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30" name="Freeform 2496"/>
                  <p:cNvSpPr>
                    <a:spLocks/>
                  </p:cNvSpPr>
                  <p:nvPr/>
                </p:nvSpPr>
                <p:spPr bwMode="auto">
                  <a:xfrm>
                    <a:off x="750" y="359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01" name="Group 2497"/>
                <p:cNvGrpSpPr>
                  <a:grpSpLocks/>
                </p:cNvGrpSpPr>
                <p:nvPr/>
              </p:nvGrpSpPr>
              <p:grpSpPr bwMode="auto">
                <a:xfrm>
                  <a:off x="752" y="3597"/>
                  <a:ext cx="133" cy="106"/>
                  <a:chOff x="752" y="3597"/>
                  <a:chExt cx="133" cy="106"/>
                </a:xfrm>
              </p:grpSpPr>
              <p:sp>
                <p:nvSpPr>
                  <p:cNvPr id="2025" name="Freeform 2498"/>
                  <p:cNvSpPr>
                    <a:spLocks/>
                  </p:cNvSpPr>
                  <p:nvPr/>
                </p:nvSpPr>
                <p:spPr bwMode="auto">
                  <a:xfrm>
                    <a:off x="752" y="3598"/>
                    <a:ext cx="91" cy="105"/>
                  </a:xfrm>
                  <a:custGeom>
                    <a:avLst/>
                    <a:gdLst>
                      <a:gd name="T0" fmla="*/ 1 w 182"/>
                      <a:gd name="T1" fmla="*/ 0 h 314"/>
                      <a:gd name="T2" fmla="*/ 0 w 182"/>
                      <a:gd name="T3" fmla="*/ 0 h 314"/>
                      <a:gd name="T4" fmla="*/ 1 w 182"/>
                      <a:gd name="T5" fmla="*/ 0 h 314"/>
                      <a:gd name="T6" fmla="*/ 1 w 182"/>
                      <a:gd name="T7" fmla="*/ 0 h 314"/>
                      <a:gd name="T8" fmla="*/ 1 w 182"/>
                      <a:gd name="T9" fmla="*/ 0 h 314"/>
                      <a:gd name="T10" fmla="*/ 0 60000 65536"/>
                      <a:gd name="T11" fmla="*/ 0 60000 65536"/>
                      <a:gd name="T12" fmla="*/ 0 60000 65536"/>
                      <a:gd name="T13" fmla="*/ 0 60000 65536"/>
                      <a:gd name="T14" fmla="*/ 0 60000 65536"/>
                      <a:gd name="T15" fmla="*/ 0 w 182"/>
                      <a:gd name="T16" fmla="*/ 0 h 314"/>
                      <a:gd name="T17" fmla="*/ 182 w 182"/>
                      <a:gd name="T18" fmla="*/ 314 h 314"/>
                    </a:gdLst>
                    <a:ahLst/>
                    <a:cxnLst>
                      <a:cxn ang="T10">
                        <a:pos x="T0" y="T1"/>
                      </a:cxn>
                      <a:cxn ang="T11">
                        <a:pos x="T2" y="T3"/>
                      </a:cxn>
                      <a:cxn ang="T12">
                        <a:pos x="T4" y="T5"/>
                      </a:cxn>
                      <a:cxn ang="T13">
                        <a:pos x="T6" y="T7"/>
                      </a:cxn>
                      <a:cxn ang="T14">
                        <a:pos x="T8" y="T9"/>
                      </a:cxn>
                    </a:cxnLst>
                    <a:rect l="T15" t="T16" r="T17" b="T18"/>
                    <a:pathLst>
                      <a:path w="182" h="314">
                        <a:moveTo>
                          <a:pt x="171" y="314"/>
                        </a:moveTo>
                        <a:lnTo>
                          <a:pt x="0" y="27"/>
                        </a:lnTo>
                        <a:lnTo>
                          <a:pt x="13" y="0"/>
                        </a:lnTo>
                        <a:lnTo>
                          <a:pt x="182" y="278"/>
                        </a:lnTo>
                        <a:lnTo>
                          <a:pt x="171" y="31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26" name="Freeform 2499"/>
                  <p:cNvSpPr>
                    <a:spLocks/>
                  </p:cNvSpPr>
                  <p:nvPr/>
                </p:nvSpPr>
                <p:spPr bwMode="auto">
                  <a:xfrm>
                    <a:off x="759" y="3597"/>
                    <a:ext cx="118" cy="94"/>
                  </a:xfrm>
                  <a:custGeom>
                    <a:avLst/>
                    <a:gdLst>
                      <a:gd name="T0" fmla="*/ 1 w 235"/>
                      <a:gd name="T1" fmla="*/ 0 h 281"/>
                      <a:gd name="T2" fmla="*/ 1 w 235"/>
                      <a:gd name="T3" fmla="*/ 0 h 281"/>
                      <a:gd name="T4" fmla="*/ 1 w 235"/>
                      <a:gd name="T5" fmla="*/ 0 h 281"/>
                      <a:gd name="T6" fmla="*/ 1 w 235"/>
                      <a:gd name="T7" fmla="*/ 0 h 281"/>
                      <a:gd name="T8" fmla="*/ 2 w 235"/>
                      <a:gd name="T9" fmla="*/ 0 h 281"/>
                      <a:gd name="T10" fmla="*/ 2 w 235"/>
                      <a:gd name="T11" fmla="*/ 0 h 281"/>
                      <a:gd name="T12" fmla="*/ 1 w 235"/>
                      <a:gd name="T13" fmla="*/ 0 h 281"/>
                      <a:gd name="T14" fmla="*/ 0 w 235"/>
                      <a:gd name="T15" fmla="*/ 0 h 281"/>
                      <a:gd name="T16" fmla="*/ 1 w 235"/>
                      <a:gd name="T17" fmla="*/ 0 h 28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35"/>
                      <a:gd name="T28" fmla="*/ 0 h 281"/>
                      <a:gd name="T29" fmla="*/ 235 w 235"/>
                      <a:gd name="T30" fmla="*/ 281 h 28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35" h="281">
                        <a:moveTo>
                          <a:pt x="1" y="0"/>
                        </a:moveTo>
                        <a:lnTo>
                          <a:pt x="56" y="0"/>
                        </a:lnTo>
                        <a:lnTo>
                          <a:pt x="58" y="0"/>
                        </a:lnTo>
                        <a:lnTo>
                          <a:pt x="65" y="10"/>
                        </a:lnTo>
                        <a:lnTo>
                          <a:pt x="235" y="281"/>
                        </a:lnTo>
                        <a:lnTo>
                          <a:pt x="165" y="277"/>
                        </a:lnTo>
                        <a:lnTo>
                          <a:pt x="9" y="19"/>
                        </a:lnTo>
                        <a:lnTo>
                          <a:pt x="0" y="4"/>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27" name="Freeform 2500"/>
                  <p:cNvSpPr>
                    <a:spLocks/>
                  </p:cNvSpPr>
                  <p:nvPr/>
                </p:nvSpPr>
                <p:spPr bwMode="auto">
                  <a:xfrm>
                    <a:off x="838" y="3691"/>
                    <a:ext cx="47" cy="12"/>
                  </a:xfrm>
                  <a:custGeom>
                    <a:avLst/>
                    <a:gdLst>
                      <a:gd name="T0" fmla="*/ 0 w 95"/>
                      <a:gd name="T1" fmla="*/ 0 h 36"/>
                      <a:gd name="T2" fmla="*/ 0 w 95"/>
                      <a:gd name="T3" fmla="*/ 0 h 36"/>
                      <a:gd name="T4" fmla="*/ 0 w 95"/>
                      <a:gd name="T5" fmla="*/ 0 h 36"/>
                      <a:gd name="T6" fmla="*/ 0 w 95"/>
                      <a:gd name="T7" fmla="*/ 0 h 36"/>
                      <a:gd name="T8" fmla="*/ 0 w 95"/>
                      <a:gd name="T9" fmla="*/ 0 h 36"/>
                      <a:gd name="T10" fmla="*/ 0 w 95"/>
                      <a:gd name="T11" fmla="*/ 0 h 36"/>
                      <a:gd name="T12" fmla="*/ 0 w 95"/>
                      <a:gd name="T13" fmla="*/ 0 h 36"/>
                      <a:gd name="T14" fmla="*/ 0 60000 65536"/>
                      <a:gd name="T15" fmla="*/ 0 60000 65536"/>
                      <a:gd name="T16" fmla="*/ 0 60000 65536"/>
                      <a:gd name="T17" fmla="*/ 0 60000 65536"/>
                      <a:gd name="T18" fmla="*/ 0 60000 65536"/>
                      <a:gd name="T19" fmla="*/ 0 60000 65536"/>
                      <a:gd name="T20" fmla="*/ 0 60000 65536"/>
                      <a:gd name="T21" fmla="*/ 0 w 95"/>
                      <a:gd name="T22" fmla="*/ 0 h 36"/>
                      <a:gd name="T23" fmla="*/ 95 w 95"/>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95" h="36">
                        <a:moveTo>
                          <a:pt x="0" y="36"/>
                        </a:moveTo>
                        <a:lnTo>
                          <a:pt x="2" y="19"/>
                        </a:lnTo>
                        <a:lnTo>
                          <a:pt x="8" y="7"/>
                        </a:lnTo>
                        <a:lnTo>
                          <a:pt x="12" y="0"/>
                        </a:lnTo>
                        <a:lnTo>
                          <a:pt x="76" y="0"/>
                        </a:lnTo>
                        <a:lnTo>
                          <a:pt x="95"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02" name="Group 2501"/>
                <p:cNvGrpSpPr>
                  <a:grpSpLocks/>
                </p:cNvGrpSpPr>
                <p:nvPr/>
              </p:nvGrpSpPr>
              <p:grpSpPr bwMode="auto">
                <a:xfrm>
                  <a:off x="844" y="3694"/>
                  <a:ext cx="48" cy="23"/>
                  <a:chOff x="844" y="3694"/>
                  <a:chExt cx="48" cy="23"/>
                </a:xfrm>
              </p:grpSpPr>
              <p:sp>
                <p:nvSpPr>
                  <p:cNvPr id="2022" name="Freeform 2502"/>
                  <p:cNvSpPr>
                    <a:spLocks/>
                  </p:cNvSpPr>
                  <p:nvPr/>
                </p:nvSpPr>
                <p:spPr bwMode="auto">
                  <a:xfrm>
                    <a:off x="844" y="3694"/>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9" y="0"/>
                        </a:lnTo>
                        <a:lnTo>
                          <a:pt x="24" y="32"/>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23" name="Freeform 2503"/>
                  <p:cNvSpPr>
                    <a:spLocks/>
                  </p:cNvSpPr>
                  <p:nvPr/>
                </p:nvSpPr>
                <p:spPr bwMode="auto">
                  <a:xfrm>
                    <a:off x="848" y="369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1" y="3"/>
                        </a:lnTo>
                        <a:lnTo>
                          <a:pt x="57" y="12"/>
                        </a:lnTo>
                        <a:lnTo>
                          <a:pt x="74" y="30"/>
                        </a:lnTo>
                        <a:lnTo>
                          <a:pt x="19" y="30"/>
                        </a:lnTo>
                        <a:lnTo>
                          <a:pt x="9" y="21"/>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24" name="Freeform 2504"/>
                  <p:cNvSpPr>
                    <a:spLocks/>
                  </p:cNvSpPr>
                  <p:nvPr/>
                </p:nvSpPr>
                <p:spPr bwMode="auto">
                  <a:xfrm>
                    <a:off x="851" y="3706"/>
                    <a:ext cx="41" cy="11"/>
                  </a:xfrm>
                  <a:custGeom>
                    <a:avLst/>
                    <a:gdLst>
                      <a:gd name="T0" fmla="*/ 0 w 81"/>
                      <a:gd name="T1" fmla="*/ 0 h 34"/>
                      <a:gd name="T2" fmla="*/ 1 w 81"/>
                      <a:gd name="T3" fmla="*/ 0 h 34"/>
                      <a:gd name="T4" fmla="*/ 1 w 81"/>
                      <a:gd name="T5" fmla="*/ 0 h 34"/>
                      <a:gd name="T6" fmla="*/ 1 w 81"/>
                      <a:gd name="T7" fmla="*/ 0 h 34"/>
                      <a:gd name="T8" fmla="*/ 1 w 81"/>
                      <a:gd name="T9" fmla="*/ 0 h 34"/>
                      <a:gd name="T10" fmla="*/ 1 w 81"/>
                      <a:gd name="T11" fmla="*/ 0 h 34"/>
                      <a:gd name="T12" fmla="*/ 0 w 81"/>
                      <a:gd name="T13" fmla="*/ 0 h 34"/>
                      <a:gd name="T14" fmla="*/ 0 60000 65536"/>
                      <a:gd name="T15" fmla="*/ 0 60000 65536"/>
                      <a:gd name="T16" fmla="*/ 0 60000 65536"/>
                      <a:gd name="T17" fmla="*/ 0 60000 65536"/>
                      <a:gd name="T18" fmla="*/ 0 60000 65536"/>
                      <a:gd name="T19" fmla="*/ 0 60000 65536"/>
                      <a:gd name="T20" fmla="*/ 0 60000 65536"/>
                      <a:gd name="T21" fmla="*/ 0 w 81"/>
                      <a:gd name="T22" fmla="*/ 0 h 34"/>
                      <a:gd name="T23" fmla="*/ 81 w 81"/>
                      <a:gd name="T24" fmla="*/ 34 h 3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4">
                        <a:moveTo>
                          <a:pt x="0" y="34"/>
                        </a:moveTo>
                        <a:lnTo>
                          <a:pt x="1" y="19"/>
                        </a:lnTo>
                        <a:lnTo>
                          <a:pt x="5" y="6"/>
                        </a:lnTo>
                        <a:lnTo>
                          <a:pt x="10" y="0"/>
                        </a:lnTo>
                        <a:lnTo>
                          <a:pt x="67" y="0"/>
                        </a:lnTo>
                        <a:lnTo>
                          <a:pt x="81" y="34"/>
                        </a:lnTo>
                        <a:lnTo>
                          <a:pt x="0" y="34"/>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03" name="Group 2505"/>
                <p:cNvGrpSpPr>
                  <a:grpSpLocks/>
                </p:cNvGrpSpPr>
                <p:nvPr/>
              </p:nvGrpSpPr>
              <p:grpSpPr bwMode="auto">
                <a:xfrm>
                  <a:off x="857" y="3710"/>
                  <a:ext cx="49" cy="22"/>
                  <a:chOff x="857" y="3710"/>
                  <a:chExt cx="49" cy="22"/>
                </a:xfrm>
              </p:grpSpPr>
              <p:sp>
                <p:nvSpPr>
                  <p:cNvPr id="2019" name="Freeform 2506"/>
                  <p:cNvSpPr>
                    <a:spLocks/>
                  </p:cNvSpPr>
                  <p:nvPr/>
                </p:nvSpPr>
                <p:spPr bwMode="auto">
                  <a:xfrm>
                    <a:off x="857" y="3710"/>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20" name="Freeform 2507"/>
                  <p:cNvSpPr>
                    <a:spLocks/>
                  </p:cNvSpPr>
                  <p:nvPr/>
                </p:nvSpPr>
                <p:spPr bwMode="auto">
                  <a:xfrm>
                    <a:off x="862" y="371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21" name="Freeform 2508"/>
                  <p:cNvSpPr>
                    <a:spLocks/>
                  </p:cNvSpPr>
                  <p:nvPr/>
                </p:nvSpPr>
                <p:spPr bwMode="auto">
                  <a:xfrm>
                    <a:off x="865" y="3720"/>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04" name="Group 2509"/>
                <p:cNvGrpSpPr>
                  <a:grpSpLocks/>
                </p:cNvGrpSpPr>
                <p:nvPr/>
              </p:nvGrpSpPr>
              <p:grpSpPr bwMode="auto">
                <a:xfrm>
                  <a:off x="1086" y="3766"/>
                  <a:ext cx="49" cy="23"/>
                  <a:chOff x="1086" y="3766"/>
                  <a:chExt cx="49" cy="23"/>
                </a:xfrm>
              </p:grpSpPr>
              <p:sp>
                <p:nvSpPr>
                  <p:cNvPr id="2016" name="Freeform 2510"/>
                  <p:cNvSpPr>
                    <a:spLocks/>
                  </p:cNvSpPr>
                  <p:nvPr/>
                </p:nvSpPr>
                <p:spPr bwMode="auto">
                  <a:xfrm>
                    <a:off x="1086" y="3766"/>
                    <a:ext cx="11" cy="23"/>
                  </a:xfrm>
                  <a:custGeom>
                    <a:avLst/>
                    <a:gdLst>
                      <a:gd name="T0" fmla="*/ 1 w 22"/>
                      <a:gd name="T1" fmla="*/ 0 h 69"/>
                      <a:gd name="T2" fmla="*/ 0 w 22"/>
                      <a:gd name="T3" fmla="*/ 0 h 69"/>
                      <a:gd name="T4" fmla="*/ 1 w 22"/>
                      <a:gd name="T5" fmla="*/ 0 h 69"/>
                      <a:gd name="T6" fmla="*/ 1 w 22"/>
                      <a:gd name="T7" fmla="*/ 0 h 69"/>
                      <a:gd name="T8" fmla="*/ 1 w 22"/>
                      <a:gd name="T9" fmla="*/ 0 h 69"/>
                      <a:gd name="T10" fmla="*/ 0 60000 65536"/>
                      <a:gd name="T11" fmla="*/ 0 60000 65536"/>
                      <a:gd name="T12" fmla="*/ 0 60000 65536"/>
                      <a:gd name="T13" fmla="*/ 0 60000 65536"/>
                      <a:gd name="T14" fmla="*/ 0 60000 65536"/>
                      <a:gd name="T15" fmla="*/ 0 w 22"/>
                      <a:gd name="T16" fmla="*/ 0 h 69"/>
                      <a:gd name="T17" fmla="*/ 22 w 22"/>
                      <a:gd name="T18" fmla="*/ 69 h 69"/>
                    </a:gdLst>
                    <a:ahLst/>
                    <a:cxnLst>
                      <a:cxn ang="T10">
                        <a:pos x="T0" y="T1"/>
                      </a:cxn>
                      <a:cxn ang="T11">
                        <a:pos x="T2" y="T3"/>
                      </a:cxn>
                      <a:cxn ang="T12">
                        <a:pos x="T4" y="T5"/>
                      </a:cxn>
                      <a:cxn ang="T13">
                        <a:pos x="T6" y="T7"/>
                      </a:cxn>
                      <a:cxn ang="T14">
                        <a:pos x="T8" y="T9"/>
                      </a:cxn>
                    </a:cxnLst>
                    <a:rect l="T15" t="T16" r="T17" b="T18"/>
                    <a:pathLst>
                      <a:path w="22" h="69">
                        <a:moveTo>
                          <a:pt x="13" y="69"/>
                        </a:moveTo>
                        <a:lnTo>
                          <a:pt x="0" y="27"/>
                        </a:lnTo>
                        <a:lnTo>
                          <a:pt x="9" y="0"/>
                        </a:lnTo>
                        <a:lnTo>
                          <a:pt x="22" y="32"/>
                        </a:lnTo>
                        <a:lnTo>
                          <a:pt x="13" y="69"/>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17" name="Freeform 2511"/>
                  <p:cNvSpPr>
                    <a:spLocks/>
                  </p:cNvSpPr>
                  <p:nvPr/>
                </p:nvSpPr>
                <p:spPr bwMode="auto">
                  <a:xfrm>
                    <a:off x="1090" y="3767"/>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3" y="0"/>
                        </a:moveTo>
                        <a:lnTo>
                          <a:pt x="51" y="0"/>
                        </a:lnTo>
                        <a:lnTo>
                          <a:pt x="53" y="4"/>
                        </a:lnTo>
                        <a:lnTo>
                          <a:pt x="56" y="13"/>
                        </a:lnTo>
                        <a:lnTo>
                          <a:pt x="74" y="31"/>
                        </a:lnTo>
                        <a:lnTo>
                          <a:pt x="18" y="31"/>
                        </a:lnTo>
                        <a:lnTo>
                          <a:pt x="9" y="22"/>
                        </a:lnTo>
                        <a:lnTo>
                          <a:pt x="0" y="6"/>
                        </a:lnTo>
                        <a:lnTo>
                          <a:pt x="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18" name="Freeform 2512"/>
                  <p:cNvSpPr>
                    <a:spLocks/>
                  </p:cNvSpPr>
                  <p:nvPr/>
                </p:nvSpPr>
                <p:spPr bwMode="auto">
                  <a:xfrm>
                    <a:off x="1093" y="3777"/>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6"/>
                        </a:lnTo>
                        <a:lnTo>
                          <a:pt x="11" y="0"/>
                        </a:lnTo>
                        <a:lnTo>
                          <a:pt x="68"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05" name="Group 2513"/>
                <p:cNvGrpSpPr>
                  <a:grpSpLocks/>
                </p:cNvGrpSpPr>
                <p:nvPr/>
              </p:nvGrpSpPr>
              <p:grpSpPr bwMode="auto">
                <a:xfrm>
                  <a:off x="934" y="3740"/>
                  <a:ext cx="48" cy="23"/>
                  <a:chOff x="934" y="3740"/>
                  <a:chExt cx="48" cy="23"/>
                </a:xfrm>
              </p:grpSpPr>
              <p:sp>
                <p:nvSpPr>
                  <p:cNvPr id="2013" name="Freeform 2514"/>
                  <p:cNvSpPr>
                    <a:spLocks/>
                  </p:cNvSpPr>
                  <p:nvPr/>
                </p:nvSpPr>
                <p:spPr bwMode="auto">
                  <a:xfrm>
                    <a:off x="934" y="3740"/>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9"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14" name="Freeform 2515"/>
                  <p:cNvSpPr>
                    <a:spLocks/>
                  </p:cNvSpPr>
                  <p:nvPr/>
                </p:nvSpPr>
                <p:spPr bwMode="auto">
                  <a:xfrm>
                    <a:off x="938" y="3741"/>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4"/>
                        </a:lnTo>
                        <a:lnTo>
                          <a:pt x="57" y="13"/>
                        </a:lnTo>
                        <a:lnTo>
                          <a:pt x="74" y="30"/>
                        </a:lnTo>
                        <a:lnTo>
                          <a:pt x="19" y="30"/>
                        </a:lnTo>
                        <a:lnTo>
                          <a:pt x="9" y="22"/>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15" name="Freeform 2516"/>
                  <p:cNvSpPr>
                    <a:spLocks/>
                  </p:cNvSpPr>
                  <p:nvPr/>
                </p:nvSpPr>
                <p:spPr bwMode="auto">
                  <a:xfrm>
                    <a:off x="941" y="375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6"/>
                        </a:lnTo>
                        <a:lnTo>
                          <a:pt x="10" y="0"/>
                        </a:lnTo>
                        <a:lnTo>
                          <a:pt x="67" y="0"/>
                        </a:lnTo>
                        <a:lnTo>
                          <a:pt x="81"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06" name="Group 2517"/>
                <p:cNvGrpSpPr>
                  <a:grpSpLocks/>
                </p:cNvGrpSpPr>
                <p:nvPr/>
              </p:nvGrpSpPr>
              <p:grpSpPr bwMode="auto">
                <a:xfrm>
                  <a:off x="943" y="3754"/>
                  <a:ext cx="49" cy="23"/>
                  <a:chOff x="943" y="3754"/>
                  <a:chExt cx="49" cy="23"/>
                </a:xfrm>
              </p:grpSpPr>
              <p:sp>
                <p:nvSpPr>
                  <p:cNvPr id="2010" name="Freeform 2518"/>
                  <p:cNvSpPr>
                    <a:spLocks/>
                  </p:cNvSpPr>
                  <p:nvPr/>
                </p:nvSpPr>
                <p:spPr bwMode="auto">
                  <a:xfrm>
                    <a:off x="943" y="3754"/>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11" name="Freeform 2519"/>
                  <p:cNvSpPr>
                    <a:spLocks/>
                  </p:cNvSpPr>
                  <p:nvPr/>
                </p:nvSpPr>
                <p:spPr bwMode="auto">
                  <a:xfrm>
                    <a:off x="948" y="375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1" y="0"/>
                        </a:moveTo>
                        <a:lnTo>
                          <a:pt x="49" y="0"/>
                        </a:lnTo>
                        <a:lnTo>
                          <a:pt x="50" y="3"/>
                        </a:lnTo>
                        <a:lnTo>
                          <a:pt x="57" y="12"/>
                        </a:lnTo>
                        <a:lnTo>
                          <a:pt x="74"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12" name="Freeform 2520"/>
                  <p:cNvSpPr>
                    <a:spLocks/>
                  </p:cNvSpPr>
                  <p:nvPr/>
                </p:nvSpPr>
                <p:spPr bwMode="auto">
                  <a:xfrm>
                    <a:off x="951" y="3765"/>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007" name="Freeform 2521"/>
                <p:cNvSpPr>
                  <a:spLocks/>
                </p:cNvSpPr>
                <p:nvPr/>
              </p:nvSpPr>
              <p:spPr bwMode="auto">
                <a:xfrm>
                  <a:off x="987" y="3753"/>
                  <a:ext cx="25" cy="43"/>
                </a:xfrm>
                <a:custGeom>
                  <a:avLst/>
                  <a:gdLst>
                    <a:gd name="T0" fmla="*/ 0 w 51"/>
                    <a:gd name="T1" fmla="*/ 0 h 128"/>
                    <a:gd name="T2" fmla="*/ 0 w 51"/>
                    <a:gd name="T3" fmla="*/ 0 h 128"/>
                    <a:gd name="T4" fmla="*/ 0 w 51"/>
                    <a:gd name="T5" fmla="*/ 0 h 128"/>
                    <a:gd name="T6" fmla="*/ 0 w 51"/>
                    <a:gd name="T7" fmla="*/ 0 h 128"/>
                    <a:gd name="T8" fmla="*/ 0 w 51"/>
                    <a:gd name="T9" fmla="*/ 0 h 128"/>
                    <a:gd name="T10" fmla="*/ 0 w 51"/>
                    <a:gd name="T11" fmla="*/ 0 h 128"/>
                    <a:gd name="T12" fmla="*/ 0 w 51"/>
                    <a:gd name="T13" fmla="*/ 0 h 128"/>
                    <a:gd name="T14" fmla="*/ 0 60000 65536"/>
                    <a:gd name="T15" fmla="*/ 0 60000 65536"/>
                    <a:gd name="T16" fmla="*/ 0 60000 65536"/>
                    <a:gd name="T17" fmla="*/ 0 60000 65536"/>
                    <a:gd name="T18" fmla="*/ 0 60000 65536"/>
                    <a:gd name="T19" fmla="*/ 0 60000 65536"/>
                    <a:gd name="T20" fmla="*/ 0 60000 65536"/>
                    <a:gd name="T21" fmla="*/ 0 w 51"/>
                    <a:gd name="T22" fmla="*/ 0 h 128"/>
                    <a:gd name="T23" fmla="*/ 51 w 51"/>
                    <a:gd name="T24" fmla="*/ 128 h 12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1" h="128">
                      <a:moveTo>
                        <a:pt x="40" y="128"/>
                      </a:moveTo>
                      <a:lnTo>
                        <a:pt x="0" y="29"/>
                      </a:lnTo>
                      <a:lnTo>
                        <a:pt x="0" y="20"/>
                      </a:lnTo>
                      <a:lnTo>
                        <a:pt x="2" y="11"/>
                      </a:lnTo>
                      <a:lnTo>
                        <a:pt x="10" y="0"/>
                      </a:lnTo>
                      <a:lnTo>
                        <a:pt x="51" y="91"/>
                      </a:lnTo>
                      <a:lnTo>
                        <a:pt x="40" y="12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08" name="Freeform 2522"/>
                <p:cNvSpPr>
                  <a:spLocks/>
                </p:cNvSpPr>
                <p:nvPr/>
              </p:nvSpPr>
              <p:spPr bwMode="auto">
                <a:xfrm>
                  <a:off x="992" y="3753"/>
                  <a:ext cx="91" cy="29"/>
                </a:xfrm>
                <a:custGeom>
                  <a:avLst/>
                  <a:gdLst>
                    <a:gd name="T0" fmla="*/ 0 w 183"/>
                    <a:gd name="T1" fmla="*/ 0 h 85"/>
                    <a:gd name="T2" fmla="*/ 0 w 183"/>
                    <a:gd name="T3" fmla="*/ 0 h 85"/>
                    <a:gd name="T4" fmla="*/ 0 w 183"/>
                    <a:gd name="T5" fmla="*/ 0 h 85"/>
                    <a:gd name="T6" fmla="*/ 0 w 183"/>
                    <a:gd name="T7" fmla="*/ 0 h 85"/>
                    <a:gd name="T8" fmla="*/ 0 w 183"/>
                    <a:gd name="T9" fmla="*/ 0 h 85"/>
                    <a:gd name="T10" fmla="*/ 1 w 183"/>
                    <a:gd name="T11" fmla="*/ 0 h 85"/>
                    <a:gd name="T12" fmla="*/ 1 w 183"/>
                    <a:gd name="T13" fmla="*/ 0 h 85"/>
                    <a:gd name="T14" fmla="*/ 1 w 183"/>
                    <a:gd name="T15" fmla="*/ 0 h 85"/>
                    <a:gd name="T16" fmla="*/ 1 w 183"/>
                    <a:gd name="T17" fmla="*/ 0 h 85"/>
                    <a:gd name="T18" fmla="*/ 0 w 183"/>
                    <a:gd name="T19" fmla="*/ 0 h 85"/>
                    <a:gd name="T20" fmla="*/ 0 w 183"/>
                    <a:gd name="T21" fmla="*/ 0 h 85"/>
                    <a:gd name="T22" fmla="*/ 0 w 183"/>
                    <a:gd name="T23" fmla="*/ 0 h 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83"/>
                    <a:gd name="T37" fmla="*/ 0 h 85"/>
                    <a:gd name="T38" fmla="*/ 183 w 183"/>
                    <a:gd name="T39" fmla="*/ 85 h 8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83" h="85">
                      <a:moveTo>
                        <a:pt x="0" y="0"/>
                      </a:moveTo>
                      <a:lnTo>
                        <a:pt x="64" y="0"/>
                      </a:lnTo>
                      <a:lnTo>
                        <a:pt x="67" y="13"/>
                      </a:lnTo>
                      <a:lnTo>
                        <a:pt x="75" y="28"/>
                      </a:lnTo>
                      <a:lnTo>
                        <a:pt x="84" y="42"/>
                      </a:lnTo>
                      <a:lnTo>
                        <a:pt x="158" y="42"/>
                      </a:lnTo>
                      <a:lnTo>
                        <a:pt x="163" y="55"/>
                      </a:lnTo>
                      <a:lnTo>
                        <a:pt x="172" y="67"/>
                      </a:lnTo>
                      <a:lnTo>
                        <a:pt x="183" y="85"/>
                      </a:lnTo>
                      <a:lnTo>
                        <a:pt x="64" y="85"/>
                      </a:lnTo>
                      <a:lnTo>
                        <a:pt x="41" y="85"/>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09" name="Freeform 2523"/>
                <p:cNvSpPr>
                  <a:spLocks/>
                </p:cNvSpPr>
                <p:nvPr/>
              </p:nvSpPr>
              <p:spPr bwMode="auto">
                <a:xfrm>
                  <a:off x="1008" y="3782"/>
                  <a:ext cx="81" cy="12"/>
                </a:xfrm>
                <a:custGeom>
                  <a:avLst/>
                  <a:gdLst>
                    <a:gd name="T0" fmla="*/ 0 w 160"/>
                    <a:gd name="T1" fmla="*/ 0 h 36"/>
                    <a:gd name="T2" fmla="*/ 1 w 160"/>
                    <a:gd name="T3" fmla="*/ 0 h 36"/>
                    <a:gd name="T4" fmla="*/ 1 w 160"/>
                    <a:gd name="T5" fmla="*/ 0 h 36"/>
                    <a:gd name="T6" fmla="*/ 1 w 160"/>
                    <a:gd name="T7" fmla="*/ 0 h 36"/>
                    <a:gd name="T8" fmla="*/ 2 w 160"/>
                    <a:gd name="T9" fmla="*/ 0 h 36"/>
                    <a:gd name="T10" fmla="*/ 2 w 160"/>
                    <a:gd name="T11" fmla="*/ 0 h 36"/>
                    <a:gd name="T12" fmla="*/ 0 w 160"/>
                    <a:gd name="T13" fmla="*/ 0 h 36"/>
                    <a:gd name="T14" fmla="*/ 0 60000 65536"/>
                    <a:gd name="T15" fmla="*/ 0 60000 65536"/>
                    <a:gd name="T16" fmla="*/ 0 60000 65536"/>
                    <a:gd name="T17" fmla="*/ 0 60000 65536"/>
                    <a:gd name="T18" fmla="*/ 0 60000 65536"/>
                    <a:gd name="T19" fmla="*/ 0 60000 65536"/>
                    <a:gd name="T20" fmla="*/ 0 60000 65536"/>
                    <a:gd name="T21" fmla="*/ 0 w 160"/>
                    <a:gd name="T22" fmla="*/ 0 h 36"/>
                    <a:gd name="T23" fmla="*/ 160 w 16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60" h="36">
                      <a:moveTo>
                        <a:pt x="0" y="36"/>
                      </a:moveTo>
                      <a:lnTo>
                        <a:pt x="1" y="20"/>
                      </a:lnTo>
                      <a:lnTo>
                        <a:pt x="7" y="8"/>
                      </a:lnTo>
                      <a:lnTo>
                        <a:pt x="10" y="0"/>
                      </a:lnTo>
                      <a:lnTo>
                        <a:pt x="150" y="0"/>
                      </a:lnTo>
                      <a:lnTo>
                        <a:pt x="160"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04" name="Group 2524"/>
              <p:cNvGrpSpPr>
                <a:grpSpLocks/>
              </p:cNvGrpSpPr>
              <p:nvPr/>
            </p:nvGrpSpPr>
            <p:grpSpPr bwMode="auto">
              <a:xfrm>
                <a:off x="920" y="3821"/>
                <a:ext cx="413" cy="50"/>
                <a:chOff x="920" y="3821"/>
                <a:chExt cx="413" cy="50"/>
              </a:xfrm>
            </p:grpSpPr>
            <p:sp>
              <p:nvSpPr>
                <p:cNvPr id="1925" name="Freeform 2525"/>
                <p:cNvSpPr>
                  <a:spLocks/>
                </p:cNvSpPr>
                <p:nvPr/>
              </p:nvSpPr>
              <p:spPr bwMode="auto">
                <a:xfrm>
                  <a:off x="920" y="3821"/>
                  <a:ext cx="413" cy="50"/>
                </a:xfrm>
                <a:custGeom>
                  <a:avLst/>
                  <a:gdLst>
                    <a:gd name="T0" fmla="*/ 1 w 825"/>
                    <a:gd name="T1" fmla="*/ 0 h 151"/>
                    <a:gd name="T2" fmla="*/ 1 w 825"/>
                    <a:gd name="T3" fmla="*/ 0 h 151"/>
                    <a:gd name="T4" fmla="*/ 1 w 825"/>
                    <a:gd name="T5" fmla="*/ 0 h 151"/>
                    <a:gd name="T6" fmla="*/ 0 w 825"/>
                    <a:gd name="T7" fmla="*/ 0 h 151"/>
                    <a:gd name="T8" fmla="*/ 1 w 825"/>
                    <a:gd name="T9" fmla="*/ 0 h 151"/>
                    <a:gd name="T10" fmla="*/ 1 w 825"/>
                    <a:gd name="T11" fmla="*/ 0 h 151"/>
                    <a:gd name="T12" fmla="*/ 1 w 825"/>
                    <a:gd name="T13" fmla="*/ 0 h 151"/>
                    <a:gd name="T14" fmla="*/ 7 w 825"/>
                    <a:gd name="T15" fmla="*/ 0 h 151"/>
                    <a:gd name="T16" fmla="*/ 7 w 825"/>
                    <a:gd name="T17" fmla="*/ 0 h 151"/>
                    <a:gd name="T18" fmla="*/ 7 w 825"/>
                    <a:gd name="T19" fmla="*/ 0 h 151"/>
                    <a:gd name="T20" fmla="*/ 7 w 825"/>
                    <a:gd name="T21" fmla="*/ 0 h 151"/>
                    <a:gd name="T22" fmla="*/ 7 w 825"/>
                    <a:gd name="T23" fmla="*/ 0 h 151"/>
                    <a:gd name="T24" fmla="*/ 7 w 825"/>
                    <a:gd name="T25" fmla="*/ 0 h 151"/>
                    <a:gd name="T26" fmla="*/ 7 w 825"/>
                    <a:gd name="T27" fmla="*/ 0 h 151"/>
                    <a:gd name="T28" fmla="*/ 1 w 825"/>
                    <a:gd name="T29" fmla="*/ 0 h 15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825"/>
                    <a:gd name="T46" fmla="*/ 0 h 151"/>
                    <a:gd name="T47" fmla="*/ 825 w 825"/>
                    <a:gd name="T48" fmla="*/ 151 h 15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825" h="151">
                      <a:moveTo>
                        <a:pt x="35" y="13"/>
                      </a:moveTo>
                      <a:lnTo>
                        <a:pt x="17" y="27"/>
                      </a:lnTo>
                      <a:lnTo>
                        <a:pt x="9" y="48"/>
                      </a:lnTo>
                      <a:lnTo>
                        <a:pt x="0" y="97"/>
                      </a:lnTo>
                      <a:lnTo>
                        <a:pt x="4" y="124"/>
                      </a:lnTo>
                      <a:lnTo>
                        <a:pt x="13" y="138"/>
                      </a:lnTo>
                      <a:lnTo>
                        <a:pt x="26" y="151"/>
                      </a:lnTo>
                      <a:lnTo>
                        <a:pt x="783" y="142"/>
                      </a:lnTo>
                      <a:lnTo>
                        <a:pt x="807" y="128"/>
                      </a:lnTo>
                      <a:lnTo>
                        <a:pt x="816" y="107"/>
                      </a:lnTo>
                      <a:lnTo>
                        <a:pt x="825" y="61"/>
                      </a:lnTo>
                      <a:lnTo>
                        <a:pt x="821" y="27"/>
                      </a:lnTo>
                      <a:lnTo>
                        <a:pt x="806" y="9"/>
                      </a:lnTo>
                      <a:lnTo>
                        <a:pt x="785" y="0"/>
                      </a:lnTo>
                      <a:lnTo>
                        <a:pt x="35" y="13"/>
                      </a:lnTo>
                      <a:close/>
                    </a:path>
                  </a:pathLst>
                </a:custGeom>
                <a:solidFill>
                  <a:srgbClr val="202020"/>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26" name="Freeform 2526"/>
                <p:cNvSpPr>
                  <a:spLocks/>
                </p:cNvSpPr>
                <p:nvPr/>
              </p:nvSpPr>
              <p:spPr bwMode="auto">
                <a:xfrm>
                  <a:off x="972" y="3833"/>
                  <a:ext cx="330" cy="27"/>
                </a:xfrm>
                <a:custGeom>
                  <a:avLst/>
                  <a:gdLst>
                    <a:gd name="T0" fmla="*/ 1 w 658"/>
                    <a:gd name="T1" fmla="*/ 0 h 79"/>
                    <a:gd name="T2" fmla="*/ 0 w 658"/>
                    <a:gd name="T3" fmla="*/ 0 h 79"/>
                    <a:gd name="T4" fmla="*/ 2 w 658"/>
                    <a:gd name="T5" fmla="*/ 0 h 79"/>
                    <a:gd name="T6" fmla="*/ 2 w 658"/>
                    <a:gd name="T7" fmla="*/ 0 h 79"/>
                    <a:gd name="T8" fmla="*/ 4 w 658"/>
                    <a:gd name="T9" fmla="*/ 0 h 79"/>
                    <a:gd name="T10" fmla="*/ 4 w 658"/>
                    <a:gd name="T11" fmla="*/ 0 h 79"/>
                    <a:gd name="T12" fmla="*/ 6 w 658"/>
                    <a:gd name="T13" fmla="*/ 0 h 79"/>
                    <a:gd name="T14" fmla="*/ 6 w 658"/>
                    <a:gd name="T15" fmla="*/ 0 h 79"/>
                    <a:gd name="T16" fmla="*/ 4 w 658"/>
                    <a:gd name="T17" fmla="*/ 0 h 79"/>
                    <a:gd name="T18" fmla="*/ 4 w 658"/>
                    <a:gd name="T19" fmla="*/ 0 h 79"/>
                    <a:gd name="T20" fmla="*/ 2 w 658"/>
                    <a:gd name="T21" fmla="*/ 0 h 79"/>
                    <a:gd name="T22" fmla="*/ 2 w 658"/>
                    <a:gd name="T23" fmla="*/ 0 h 79"/>
                    <a:gd name="T24" fmla="*/ 1 w 658"/>
                    <a:gd name="T25" fmla="*/ 0 h 7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658"/>
                    <a:gd name="T40" fmla="*/ 0 h 79"/>
                    <a:gd name="T41" fmla="*/ 658 w 658"/>
                    <a:gd name="T42" fmla="*/ 79 h 7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658" h="79">
                      <a:moveTo>
                        <a:pt x="4" y="23"/>
                      </a:moveTo>
                      <a:lnTo>
                        <a:pt x="0" y="50"/>
                      </a:lnTo>
                      <a:lnTo>
                        <a:pt x="153" y="50"/>
                      </a:lnTo>
                      <a:lnTo>
                        <a:pt x="153" y="79"/>
                      </a:lnTo>
                      <a:lnTo>
                        <a:pt x="500" y="73"/>
                      </a:lnTo>
                      <a:lnTo>
                        <a:pt x="500" y="50"/>
                      </a:lnTo>
                      <a:lnTo>
                        <a:pt x="656" y="50"/>
                      </a:lnTo>
                      <a:lnTo>
                        <a:pt x="658" y="23"/>
                      </a:lnTo>
                      <a:lnTo>
                        <a:pt x="504" y="23"/>
                      </a:lnTo>
                      <a:lnTo>
                        <a:pt x="504" y="0"/>
                      </a:lnTo>
                      <a:lnTo>
                        <a:pt x="153" y="8"/>
                      </a:lnTo>
                      <a:lnTo>
                        <a:pt x="153" y="23"/>
                      </a:lnTo>
                      <a:lnTo>
                        <a:pt x="4"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27" name="Rectangle 2527"/>
                <p:cNvSpPr>
                  <a:spLocks noChangeArrowheads="1"/>
                </p:cNvSpPr>
                <p:nvPr/>
              </p:nvSpPr>
              <p:spPr bwMode="auto">
                <a:xfrm>
                  <a:off x="982" y="3856"/>
                  <a:ext cx="26" cy="7"/>
                </a:xfrm>
                <a:prstGeom prst="rect">
                  <a:avLst/>
                </a:prstGeom>
                <a:solidFill>
                  <a:srgbClr val="00A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928" name="Rectangle 2528"/>
                <p:cNvSpPr>
                  <a:spLocks noChangeArrowheads="1"/>
                </p:cNvSpPr>
                <p:nvPr/>
              </p:nvSpPr>
              <p:spPr bwMode="auto">
                <a:xfrm>
                  <a:off x="1237" y="3855"/>
                  <a:ext cx="53" cy="6"/>
                </a:xfrm>
                <a:prstGeom prst="rect">
                  <a:avLst/>
                </a:prstGeom>
                <a:solidFill>
                  <a:srgbClr val="202020"/>
                </a:solidFill>
                <a:ln w="7938">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05" name="Group 2529"/>
              <p:cNvGrpSpPr>
                <a:grpSpLocks/>
              </p:cNvGrpSpPr>
              <p:nvPr/>
            </p:nvGrpSpPr>
            <p:grpSpPr bwMode="auto">
              <a:xfrm>
                <a:off x="1227" y="3477"/>
                <a:ext cx="508" cy="321"/>
                <a:chOff x="1227" y="3477"/>
                <a:chExt cx="508" cy="321"/>
              </a:xfrm>
            </p:grpSpPr>
            <p:sp>
              <p:nvSpPr>
                <p:cNvPr id="1906" name="Freeform 2530"/>
                <p:cNvSpPr>
                  <a:spLocks/>
                </p:cNvSpPr>
                <p:nvPr/>
              </p:nvSpPr>
              <p:spPr bwMode="auto">
                <a:xfrm>
                  <a:off x="1640" y="3731"/>
                  <a:ext cx="95" cy="66"/>
                </a:xfrm>
                <a:custGeom>
                  <a:avLst/>
                  <a:gdLst>
                    <a:gd name="T0" fmla="*/ 0 w 191"/>
                    <a:gd name="T1" fmla="*/ 0 h 200"/>
                    <a:gd name="T2" fmla="*/ 0 w 191"/>
                    <a:gd name="T3" fmla="*/ 0 h 200"/>
                    <a:gd name="T4" fmla="*/ 0 w 191"/>
                    <a:gd name="T5" fmla="*/ 0 h 200"/>
                    <a:gd name="T6" fmla="*/ 0 w 191"/>
                    <a:gd name="T7" fmla="*/ 0 h 200"/>
                    <a:gd name="T8" fmla="*/ 0 w 191"/>
                    <a:gd name="T9" fmla="*/ 0 h 200"/>
                    <a:gd name="T10" fmla="*/ 0 w 191"/>
                    <a:gd name="T11" fmla="*/ 0 h 200"/>
                    <a:gd name="T12" fmla="*/ 0 w 191"/>
                    <a:gd name="T13" fmla="*/ 0 h 200"/>
                    <a:gd name="T14" fmla="*/ 0 w 191"/>
                    <a:gd name="T15" fmla="*/ 0 h 200"/>
                    <a:gd name="T16" fmla="*/ 1 w 191"/>
                    <a:gd name="T17" fmla="*/ 0 h 200"/>
                    <a:gd name="T18" fmla="*/ 1 w 191"/>
                    <a:gd name="T19" fmla="*/ 0 h 200"/>
                    <a:gd name="T20" fmla="*/ 1 w 191"/>
                    <a:gd name="T21" fmla="*/ 0 h 200"/>
                    <a:gd name="T22" fmla="*/ 0 w 191"/>
                    <a:gd name="T23" fmla="*/ 0 h 20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91"/>
                    <a:gd name="T37" fmla="*/ 0 h 200"/>
                    <a:gd name="T38" fmla="*/ 191 w 191"/>
                    <a:gd name="T39" fmla="*/ 200 h 200"/>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91" h="200">
                      <a:moveTo>
                        <a:pt x="126" y="9"/>
                      </a:moveTo>
                      <a:lnTo>
                        <a:pt x="93" y="0"/>
                      </a:lnTo>
                      <a:lnTo>
                        <a:pt x="59" y="5"/>
                      </a:lnTo>
                      <a:lnTo>
                        <a:pt x="32" y="17"/>
                      </a:lnTo>
                      <a:lnTo>
                        <a:pt x="9" y="45"/>
                      </a:lnTo>
                      <a:lnTo>
                        <a:pt x="0" y="94"/>
                      </a:lnTo>
                      <a:lnTo>
                        <a:pt x="0" y="137"/>
                      </a:lnTo>
                      <a:lnTo>
                        <a:pt x="0" y="200"/>
                      </a:lnTo>
                      <a:lnTo>
                        <a:pt x="191" y="200"/>
                      </a:lnTo>
                      <a:lnTo>
                        <a:pt x="181" y="81"/>
                      </a:lnTo>
                      <a:lnTo>
                        <a:pt x="157" y="30"/>
                      </a:lnTo>
                      <a:lnTo>
                        <a:pt x="126" y="9"/>
                      </a:lnTo>
                      <a:close/>
                    </a:path>
                  </a:pathLst>
                </a:custGeom>
                <a:solidFill>
                  <a:schemeClr val="bg2"/>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07" name="Freeform 2531"/>
                <p:cNvSpPr>
                  <a:spLocks/>
                </p:cNvSpPr>
                <p:nvPr/>
              </p:nvSpPr>
              <p:spPr bwMode="auto">
                <a:xfrm>
                  <a:off x="1227" y="3477"/>
                  <a:ext cx="429" cy="264"/>
                </a:xfrm>
                <a:custGeom>
                  <a:avLst/>
                  <a:gdLst>
                    <a:gd name="T0" fmla="*/ 0 w 860"/>
                    <a:gd name="T1" fmla="*/ 0 h 791"/>
                    <a:gd name="T2" fmla="*/ 6 w 860"/>
                    <a:gd name="T3" fmla="*/ 0 h 791"/>
                    <a:gd name="T4" fmla="*/ 6 w 860"/>
                    <a:gd name="T5" fmla="*/ 0 h 791"/>
                    <a:gd name="T6" fmla="*/ 6 w 860"/>
                    <a:gd name="T7" fmla="*/ 0 h 791"/>
                    <a:gd name="T8" fmla="*/ 0 w 860"/>
                    <a:gd name="T9" fmla="*/ 0 h 791"/>
                    <a:gd name="T10" fmla="*/ 0 60000 65536"/>
                    <a:gd name="T11" fmla="*/ 0 60000 65536"/>
                    <a:gd name="T12" fmla="*/ 0 60000 65536"/>
                    <a:gd name="T13" fmla="*/ 0 60000 65536"/>
                    <a:gd name="T14" fmla="*/ 0 60000 65536"/>
                    <a:gd name="T15" fmla="*/ 0 w 860"/>
                    <a:gd name="T16" fmla="*/ 0 h 791"/>
                    <a:gd name="T17" fmla="*/ 860 w 860"/>
                    <a:gd name="T18" fmla="*/ 791 h 791"/>
                  </a:gdLst>
                  <a:ahLst/>
                  <a:cxnLst>
                    <a:cxn ang="T10">
                      <a:pos x="T0" y="T1"/>
                    </a:cxn>
                    <a:cxn ang="T11">
                      <a:pos x="T2" y="T3"/>
                    </a:cxn>
                    <a:cxn ang="T12">
                      <a:pos x="T4" y="T5"/>
                    </a:cxn>
                    <a:cxn ang="T13">
                      <a:pos x="T6" y="T7"/>
                    </a:cxn>
                    <a:cxn ang="T14">
                      <a:pos x="T8" y="T9"/>
                    </a:cxn>
                  </a:cxnLst>
                  <a:rect l="T15" t="T16" r="T17" b="T18"/>
                  <a:pathLst>
                    <a:path w="860" h="791">
                      <a:moveTo>
                        <a:pt x="0" y="0"/>
                      </a:moveTo>
                      <a:lnTo>
                        <a:pt x="860" y="764"/>
                      </a:lnTo>
                      <a:lnTo>
                        <a:pt x="849" y="777"/>
                      </a:lnTo>
                      <a:lnTo>
                        <a:pt x="838" y="791"/>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08" name="Freeform 2532"/>
                <p:cNvSpPr>
                  <a:spLocks/>
                </p:cNvSpPr>
                <p:nvPr/>
              </p:nvSpPr>
              <p:spPr bwMode="auto">
                <a:xfrm>
                  <a:off x="1521" y="3650"/>
                  <a:ext cx="141" cy="122"/>
                </a:xfrm>
                <a:custGeom>
                  <a:avLst/>
                  <a:gdLst>
                    <a:gd name="T0" fmla="*/ 1 w 281"/>
                    <a:gd name="T1" fmla="*/ 0 h 366"/>
                    <a:gd name="T2" fmla="*/ 1 w 281"/>
                    <a:gd name="T3" fmla="*/ 0 h 366"/>
                    <a:gd name="T4" fmla="*/ 1 w 281"/>
                    <a:gd name="T5" fmla="*/ 0 h 366"/>
                    <a:gd name="T6" fmla="*/ 1 w 281"/>
                    <a:gd name="T7" fmla="*/ 0 h 366"/>
                    <a:gd name="T8" fmla="*/ 1 w 281"/>
                    <a:gd name="T9" fmla="*/ 0 h 366"/>
                    <a:gd name="T10" fmla="*/ 2 w 281"/>
                    <a:gd name="T11" fmla="*/ 0 h 366"/>
                    <a:gd name="T12" fmla="*/ 3 w 281"/>
                    <a:gd name="T13" fmla="*/ 0 h 366"/>
                    <a:gd name="T14" fmla="*/ 3 w 281"/>
                    <a:gd name="T15" fmla="*/ 0 h 366"/>
                    <a:gd name="T16" fmla="*/ 2 w 281"/>
                    <a:gd name="T17" fmla="*/ 0 h 366"/>
                    <a:gd name="T18" fmla="*/ 2 w 281"/>
                    <a:gd name="T19" fmla="*/ 0 h 366"/>
                    <a:gd name="T20" fmla="*/ 2 w 281"/>
                    <a:gd name="T21" fmla="*/ 0 h 366"/>
                    <a:gd name="T22" fmla="*/ 2 w 281"/>
                    <a:gd name="T23" fmla="*/ 0 h 366"/>
                    <a:gd name="T24" fmla="*/ 2 w 281"/>
                    <a:gd name="T25" fmla="*/ 0 h 366"/>
                    <a:gd name="T26" fmla="*/ 2 w 281"/>
                    <a:gd name="T27" fmla="*/ 0 h 366"/>
                    <a:gd name="T28" fmla="*/ 2 w 281"/>
                    <a:gd name="T29" fmla="*/ 0 h 366"/>
                    <a:gd name="T30" fmla="*/ 0 w 281"/>
                    <a:gd name="T31" fmla="*/ 0 h 366"/>
                    <a:gd name="T32" fmla="*/ 0 w 281"/>
                    <a:gd name="T33" fmla="*/ 0 h 366"/>
                    <a:gd name="T34" fmla="*/ 1 w 281"/>
                    <a:gd name="T35" fmla="*/ 0 h 36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81"/>
                    <a:gd name="T55" fmla="*/ 0 h 366"/>
                    <a:gd name="T56" fmla="*/ 281 w 281"/>
                    <a:gd name="T57" fmla="*/ 366 h 36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81" h="366">
                      <a:moveTo>
                        <a:pt x="4" y="95"/>
                      </a:moveTo>
                      <a:lnTo>
                        <a:pt x="24" y="62"/>
                      </a:lnTo>
                      <a:lnTo>
                        <a:pt x="54" y="43"/>
                      </a:lnTo>
                      <a:lnTo>
                        <a:pt x="78" y="42"/>
                      </a:lnTo>
                      <a:lnTo>
                        <a:pt x="128" y="43"/>
                      </a:lnTo>
                      <a:lnTo>
                        <a:pt x="132" y="0"/>
                      </a:lnTo>
                      <a:lnTo>
                        <a:pt x="281" y="130"/>
                      </a:lnTo>
                      <a:lnTo>
                        <a:pt x="272" y="179"/>
                      </a:lnTo>
                      <a:lnTo>
                        <a:pt x="228" y="170"/>
                      </a:lnTo>
                      <a:lnTo>
                        <a:pt x="191" y="184"/>
                      </a:lnTo>
                      <a:lnTo>
                        <a:pt x="158" y="210"/>
                      </a:lnTo>
                      <a:lnTo>
                        <a:pt x="150" y="232"/>
                      </a:lnTo>
                      <a:lnTo>
                        <a:pt x="149" y="295"/>
                      </a:lnTo>
                      <a:lnTo>
                        <a:pt x="149" y="338"/>
                      </a:lnTo>
                      <a:lnTo>
                        <a:pt x="150" y="366"/>
                      </a:lnTo>
                      <a:lnTo>
                        <a:pt x="0" y="229"/>
                      </a:lnTo>
                      <a:lnTo>
                        <a:pt x="0" y="139"/>
                      </a:lnTo>
                      <a:lnTo>
                        <a:pt x="4" y="95"/>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09" name="Line 2533"/>
                <p:cNvSpPr>
                  <a:spLocks noChangeShapeType="1"/>
                </p:cNvSpPr>
                <p:nvPr/>
              </p:nvSpPr>
              <p:spPr bwMode="auto">
                <a:xfrm>
                  <a:off x="1586" y="3665"/>
                  <a:ext cx="76" cy="44"/>
                </a:xfrm>
                <a:prstGeom prst="line">
                  <a:avLst/>
                </a:prstGeom>
                <a:noFill/>
                <a:ln w="793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0" name="Freeform 2534"/>
                <p:cNvSpPr>
                  <a:spLocks/>
                </p:cNvSpPr>
                <p:nvPr/>
              </p:nvSpPr>
              <p:spPr bwMode="auto">
                <a:xfrm>
                  <a:off x="1242" y="3486"/>
                  <a:ext cx="111" cy="96"/>
                </a:xfrm>
                <a:custGeom>
                  <a:avLst/>
                  <a:gdLst>
                    <a:gd name="T0" fmla="*/ 1 w 222"/>
                    <a:gd name="T1" fmla="*/ 0 h 289"/>
                    <a:gd name="T2" fmla="*/ 1 w 222"/>
                    <a:gd name="T3" fmla="*/ 0 h 289"/>
                    <a:gd name="T4" fmla="*/ 1 w 222"/>
                    <a:gd name="T5" fmla="*/ 0 h 289"/>
                    <a:gd name="T6" fmla="*/ 1 w 222"/>
                    <a:gd name="T7" fmla="*/ 0 h 289"/>
                    <a:gd name="T8" fmla="*/ 2 w 222"/>
                    <a:gd name="T9" fmla="*/ 0 h 289"/>
                    <a:gd name="T10" fmla="*/ 2 w 222"/>
                    <a:gd name="T11" fmla="*/ 0 h 289"/>
                    <a:gd name="T12" fmla="*/ 2 w 222"/>
                    <a:gd name="T13" fmla="*/ 0 h 289"/>
                    <a:gd name="T14" fmla="*/ 2 w 222"/>
                    <a:gd name="T15" fmla="*/ 0 h 289"/>
                    <a:gd name="T16" fmla="*/ 2 w 222"/>
                    <a:gd name="T17" fmla="*/ 0 h 289"/>
                    <a:gd name="T18" fmla="*/ 2 w 222"/>
                    <a:gd name="T19" fmla="*/ 0 h 289"/>
                    <a:gd name="T20" fmla="*/ 2 w 222"/>
                    <a:gd name="T21" fmla="*/ 0 h 289"/>
                    <a:gd name="T22" fmla="*/ 1 w 222"/>
                    <a:gd name="T23" fmla="*/ 0 h 289"/>
                    <a:gd name="T24" fmla="*/ 1 w 222"/>
                    <a:gd name="T25" fmla="*/ 0 h 289"/>
                    <a:gd name="T26" fmla="*/ 1 w 222"/>
                    <a:gd name="T27" fmla="*/ 0 h 289"/>
                    <a:gd name="T28" fmla="*/ 1 w 222"/>
                    <a:gd name="T29" fmla="*/ 0 h 289"/>
                    <a:gd name="T30" fmla="*/ 0 w 222"/>
                    <a:gd name="T31" fmla="*/ 0 h 289"/>
                    <a:gd name="T32" fmla="*/ 1 w 222"/>
                    <a:gd name="T33" fmla="*/ 0 h 289"/>
                    <a:gd name="T34" fmla="*/ 1 w 222"/>
                    <a:gd name="T35" fmla="*/ 0 h 2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22"/>
                    <a:gd name="T55" fmla="*/ 0 h 289"/>
                    <a:gd name="T56" fmla="*/ 222 w 222"/>
                    <a:gd name="T57" fmla="*/ 289 h 2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22" h="289">
                      <a:moveTo>
                        <a:pt x="10" y="98"/>
                      </a:moveTo>
                      <a:lnTo>
                        <a:pt x="27" y="64"/>
                      </a:lnTo>
                      <a:lnTo>
                        <a:pt x="53" y="45"/>
                      </a:lnTo>
                      <a:lnTo>
                        <a:pt x="81" y="41"/>
                      </a:lnTo>
                      <a:lnTo>
                        <a:pt x="131" y="42"/>
                      </a:lnTo>
                      <a:lnTo>
                        <a:pt x="135" y="0"/>
                      </a:lnTo>
                      <a:lnTo>
                        <a:pt x="222" y="80"/>
                      </a:lnTo>
                      <a:lnTo>
                        <a:pt x="218" y="120"/>
                      </a:lnTo>
                      <a:lnTo>
                        <a:pt x="190" y="118"/>
                      </a:lnTo>
                      <a:lnTo>
                        <a:pt x="168" y="116"/>
                      </a:lnTo>
                      <a:lnTo>
                        <a:pt x="135" y="125"/>
                      </a:lnTo>
                      <a:lnTo>
                        <a:pt x="118" y="137"/>
                      </a:lnTo>
                      <a:lnTo>
                        <a:pt x="102" y="161"/>
                      </a:lnTo>
                      <a:lnTo>
                        <a:pt x="98" y="192"/>
                      </a:lnTo>
                      <a:lnTo>
                        <a:pt x="93" y="289"/>
                      </a:lnTo>
                      <a:lnTo>
                        <a:pt x="0" y="197"/>
                      </a:lnTo>
                      <a:lnTo>
                        <a:pt x="4" y="138"/>
                      </a:lnTo>
                      <a:lnTo>
                        <a:pt x="10" y="98"/>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1" name="Freeform 2535"/>
                <p:cNvSpPr>
                  <a:spLocks/>
                </p:cNvSpPr>
                <p:nvPr/>
              </p:nvSpPr>
              <p:spPr bwMode="auto">
                <a:xfrm>
                  <a:off x="1456" y="3626"/>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5"/>
                      </a:moveTo>
                      <a:lnTo>
                        <a:pt x="59" y="0"/>
                      </a:lnTo>
                      <a:lnTo>
                        <a:pt x="30" y="14"/>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2" name="Freeform 2536"/>
                <p:cNvSpPr>
                  <a:spLocks/>
                </p:cNvSpPr>
                <p:nvPr/>
              </p:nvSpPr>
              <p:spPr bwMode="auto">
                <a:xfrm>
                  <a:off x="1440" y="3615"/>
                  <a:ext cx="63" cy="61"/>
                </a:xfrm>
                <a:custGeom>
                  <a:avLst/>
                  <a:gdLst>
                    <a:gd name="T0" fmla="*/ 1 w 126"/>
                    <a:gd name="T1" fmla="*/ 0 h 185"/>
                    <a:gd name="T2" fmla="*/ 1 w 126"/>
                    <a:gd name="T3" fmla="*/ 0 h 185"/>
                    <a:gd name="T4" fmla="*/ 1 w 126"/>
                    <a:gd name="T5" fmla="*/ 0 h 185"/>
                    <a:gd name="T6" fmla="*/ 1 w 126"/>
                    <a:gd name="T7" fmla="*/ 0 h 185"/>
                    <a:gd name="T8" fmla="*/ 0 w 126"/>
                    <a:gd name="T9" fmla="*/ 0 h 185"/>
                    <a:gd name="T10" fmla="*/ 0 w 126"/>
                    <a:gd name="T11" fmla="*/ 0 h 185"/>
                    <a:gd name="T12" fmla="*/ 0 w 126"/>
                    <a:gd name="T13" fmla="*/ 0 h 185"/>
                    <a:gd name="T14" fmla="*/ 0 60000 65536"/>
                    <a:gd name="T15" fmla="*/ 0 60000 65536"/>
                    <a:gd name="T16" fmla="*/ 0 60000 65536"/>
                    <a:gd name="T17" fmla="*/ 0 60000 65536"/>
                    <a:gd name="T18" fmla="*/ 0 60000 65536"/>
                    <a:gd name="T19" fmla="*/ 0 60000 65536"/>
                    <a:gd name="T20" fmla="*/ 0 60000 65536"/>
                    <a:gd name="T21" fmla="*/ 0 w 126"/>
                    <a:gd name="T22" fmla="*/ 0 h 185"/>
                    <a:gd name="T23" fmla="*/ 126 w 126"/>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5">
                      <a:moveTo>
                        <a:pt x="126" y="3"/>
                      </a:moveTo>
                      <a:lnTo>
                        <a:pt x="59" y="0"/>
                      </a:lnTo>
                      <a:lnTo>
                        <a:pt x="24" y="15"/>
                      </a:lnTo>
                      <a:lnTo>
                        <a:pt x="9" y="39"/>
                      </a:lnTo>
                      <a:lnTo>
                        <a:pt x="0" y="88"/>
                      </a:lnTo>
                      <a:lnTo>
                        <a:pt x="0" y="185"/>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3" name="Freeform 2537"/>
                <p:cNvSpPr>
                  <a:spLocks/>
                </p:cNvSpPr>
                <p:nvPr/>
              </p:nvSpPr>
              <p:spPr bwMode="auto">
                <a:xfrm>
                  <a:off x="1422" y="3604"/>
                  <a:ext cx="64" cy="62"/>
                </a:xfrm>
                <a:custGeom>
                  <a:avLst/>
                  <a:gdLst>
                    <a:gd name="T0" fmla="*/ 1 w 127"/>
                    <a:gd name="T1" fmla="*/ 0 h 185"/>
                    <a:gd name="T2" fmla="*/ 1 w 127"/>
                    <a:gd name="T3" fmla="*/ 0 h 185"/>
                    <a:gd name="T4" fmla="*/ 1 w 127"/>
                    <a:gd name="T5" fmla="*/ 0 h 185"/>
                    <a:gd name="T6" fmla="*/ 1 w 127"/>
                    <a:gd name="T7" fmla="*/ 0 h 185"/>
                    <a:gd name="T8" fmla="*/ 0 w 127"/>
                    <a:gd name="T9" fmla="*/ 0 h 185"/>
                    <a:gd name="T10" fmla="*/ 0 w 127"/>
                    <a:gd name="T11" fmla="*/ 0 h 185"/>
                    <a:gd name="T12" fmla="*/ 0 w 127"/>
                    <a:gd name="T13" fmla="*/ 0 h 185"/>
                    <a:gd name="T14" fmla="*/ 0 60000 65536"/>
                    <a:gd name="T15" fmla="*/ 0 60000 65536"/>
                    <a:gd name="T16" fmla="*/ 0 60000 65536"/>
                    <a:gd name="T17" fmla="*/ 0 60000 65536"/>
                    <a:gd name="T18" fmla="*/ 0 60000 65536"/>
                    <a:gd name="T19" fmla="*/ 0 60000 65536"/>
                    <a:gd name="T20" fmla="*/ 0 60000 65536"/>
                    <a:gd name="T21" fmla="*/ 0 w 127"/>
                    <a:gd name="T22" fmla="*/ 0 h 185"/>
                    <a:gd name="T23" fmla="*/ 127 w 127"/>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5">
                      <a:moveTo>
                        <a:pt x="127" y="5"/>
                      </a:moveTo>
                      <a:lnTo>
                        <a:pt x="59" y="0"/>
                      </a:lnTo>
                      <a:lnTo>
                        <a:pt x="30" y="14"/>
                      </a:lnTo>
                      <a:lnTo>
                        <a:pt x="9" y="39"/>
                      </a:lnTo>
                      <a:lnTo>
                        <a:pt x="0" y="88"/>
                      </a:lnTo>
                      <a:lnTo>
                        <a:pt x="0" y="185"/>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4" name="Freeform 2538"/>
                <p:cNvSpPr>
                  <a:spLocks/>
                </p:cNvSpPr>
                <p:nvPr/>
              </p:nvSpPr>
              <p:spPr bwMode="auto">
                <a:xfrm>
                  <a:off x="1401" y="3594"/>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2" y="10"/>
                      </a:lnTo>
                      <a:lnTo>
                        <a:pt x="9" y="39"/>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5" name="Freeform 2539"/>
                <p:cNvSpPr>
                  <a:spLocks/>
                </p:cNvSpPr>
                <p:nvPr/>
              </p:nvSpPr>
              <p:spPr bwMode="auto">
                <a:xfrm>
                  <a:off x="1383" y="3583"/>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4"/>
                      </a:moveTo>
                      <a:lnTo>
                        <a:pt x="59" y="0"/>
                      </a:lnTo>
                      <a:lnTo>
                        <a:pt x="32" y="13"/>
                      </a:lnTo>
                      <a:lnTo>
                        <a:pt x="9" y="40"/>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6" name="Freeform 2540"/>
                <p:cNvSpPr>
                  <a:spLocks/>
                </p:cNvSpPr>
                <p:nvPr/>
              </p:nvSpPr>
              <p:spPr bwMode="auto">
                <a:xfrm>
                  <a:off x="1365" y="3570"/>
                  <a:ext cx="63" cy="62"/>
                </a:xfrm>
                <a:custGeom>
                  <a:avLst/>
                  <a:gdLst>
                    <a:gd name="T0" fmla="*/ 1 w 126"/>
                    <a:gd name="T1" fmla="*/ 0 h 186"/>
                    <a:gd name="T2" fmla="*/ 1 w 126"/>
                    <a:gd name="T3" fmla="*/ 0 h 186"/>
                    <a:gd name="T4" fmla="*/ 1 w 126"/>
                    <a:gd name="T5" fmla="*/ 0 h 186"/>
                    <a:gd name="T6" fmla="*/ 1 w 126"/>
                    <a:gd name="T7" fmla="*/ 0 h 186"/>
                    <a:gd name="T8" fmla="*/ 0 w 126"/>
                    <a:gd name="T9" fmla="*/ 0 h 186"/>
                    <a:gd name="T10" fmla="*/ 0 w 126"/>
                    <a:gd name="T11" fmla="*/ 0 h 186"/>
                    <a:gd name="T12" fmla="*/ 0 w 126"/>
                    <a:gd name="T13" fmla="*/ 0 h 186"/>
                    <a:gd name="T14" fmla="*/ 0 60000 65536"/>
                    <a:gd name="T15" fmla="*/ 0 60000 65536"/>
                    <a:gd name="T16" fmla="*/ 0 60000 65536"/>
                    <a:gd name="T17" fmla="*/ 0 60000 65536"/>
                    <a:gd name="T18" fmla="*/ 0 60000 65536"/>
                    <a:gd name="T19" fmla="*/ 0 60000 65536"/>
                    <a:gd name="T20" fmla="*/ 0 60000 65536"/>
                    <a:gd name="T21" fmla="*/ 0 w 126"/>
                    <a:gd name="T22" fmla="*/ 0 h 186"/>
                    <a:gd name="T23" fmla="*/ 126 w 126"/>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6">
                      <a:moveTo>
                        <a:pt x="126" y="4"/>
                      </a:moveTo>
                      <a:lnTo>
                        <a:pt x="58" y="0"/>
                      </a:lnTo>
                      <a:lnTo>
                        <a:pt x="31" y="14"/>
                      </a:lnTo>
                      <a:lnTo>
                        <a:pt x="8"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7" name="Freeform 2541"/>
                <p:cNvSpPr>
                  <a:spLocks/>
                </p:cNvSpPr>
                <p:nvPr/>
              </p:nvSpPr>
              <p:spPr bwMode="auto">
                <a:xfrm>
                  <a:off x="1349" y="3558"/>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3" y="16"/>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8" name="Freeform 2542"/>
                <p:cNvSpPr>
                  <a:spLocks/>
                </p:cNvSpPr>
                <p:nvPr/>
              </p:nvSpPr>
              <p:spPr bwMode="auto">
                <a:xfrm>
                  <a:off x="1331" y="3550"/>
                  <a:ext cx="63" cy="62"/>
                </a:xfrm>
                <a:custGeom>
                  <a:avLst/>
                  <a:gdLst>
                    <a:gd name="T0" fmla="*/ 0 w 127"/>
                    <a:gd name="T1" fmla="*/ 0 h 186"/>
                    <a:gd name="T2" fmla="*/ 0 w 127"/>
                    <a:gd name="T3" fmla="*/ 0 h 186"/>
                    <a:gd name="T4" fmla="*/ 0 w 127"/>
                    <a:gd name="T5" fmla="*/ 0 h 186"/>
                    <a:gd name="T6" fmla="*/ 0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4"/>
                      </a:moveTo>
                      <a:lnTo>
                        <a:pt x="59" y="0"/>
                      </a:lnTo>
                      <a:lnTo>
                        <a:pt x="32" y="13"/>
                      </a:lnTo>
                      <a:lnTo>
                        <a:pt x="10" y="39"/>
                      </a:lnTo>
                      <a:lnTo>
                        <a:pt x="0" y="88"/>
                      </a:lnTo>
                      <a:lnTo>
                        <a:pt x="0" y="186"/>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9" name="Freeform 2543"/>
                <p:cNvSpPr>
                  <a:spLocks/>
                </p:cNvSpPr>
                <p:nvPr/>
              </p:nvSpPr>
              <p:spPr bwMode="auto">
                <a:xfrm>
                  <a:off x="1308" y="3501"/>
                  <a:ext cx="47" cy="25"/>
                </a:xfrm>
                <a:custGeom>
                  <a:avLst/>
                  <a:gdLst>
                    <a:gd name="T0" fmla="*/ 0 w 96"/>
                    <a:gd name="T1" fmla="*/ 0 h 74"/>
                    <a:gd name="T2" fmla="*/ 0 w 96"/>
                    <a:gd name="T3" fmla="*/ 0 h 74"/>
                    <a:gd name="T4" fmla="*/ 0 w 96"/>
                    <a:gd name="T5" fmla="*/ 0 h 74"/>
                    <a:gd name="T6" fmla="*/ 0 w 96"/>
                    <a:gd name="T7" fmla="*/ 0 h 74"/>
                    <a:gd name="T8" fmla="*/ 0 60000 65536"/>
                    <a:gd name="T9" fmla="*/ 0 60000 65536"/>
                    <a:gd name="T10" fmla="*/ 0 60000 65536"/>
                    <a:gd name="T11" fmla="*/ 0 60000 65536"/>
                    <a:gd name="T12" fmla="*/ 0 w 96"/>
                    <a:gd name="T13" fmla="*/ 0 h 74"/>
                    <a:gd name="T14" fmla="*/ 96 w 96"/>
                    <a:gd name="T15" fmla="*/ 74 h 74"/>
                  </a:gdLst>
                  <a:ahLst/>
                  <a:cxnLst>
                    <a:cxn ang="T8">
                      <a:pos x="T0" y="T1"/>
                    </a:cxn>
                    <a:cxn ang="T9">
                      <a:pos x="T2" y="T3"/>
                    </a:cxn>
                    <a:cxn ang="T10">
                      <a:pos x="T4" y="T5"/>
                    </a:cxn>
                    <a:cxn ang="T11">
                      <a:pos x="T6" y="T7"/>
                    </a:cxn>
                  </a:cxnLst>
                  <a:rect l="T12" t="T13" r="T14" b="T15"/>
                  <a:pathLst>
                    <a:path w="96" h="74">
                      <a:moveTo>
                        <a:pt x="0" y="0"/>
                      </a:moveTo>
                      <a:lnTo>
                        <a:pt x="89" y="74"/>
                      </a:lnTo>
                      <a:lnTo>
                        <a:pt x="96" y="74"/>
                      </a:lnTo>
                      <a:lnTo>
                        <a:pt x="93" y="74"/>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20" name="Oval 2544"/>
                <p:cNvSpPr>
                  <a:spLocks noChangeArrowheads="1"/>
                </p:cNvSpPr>
                <p:nvPr/>
              </p:nvSpPr>
              <p:spPr bwMode="auto">
                <a:xfrm>
                  <a:off x="1339" y="3772"/>
                  <a:ext cx="78" cy="26"/>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921" name="Oval 2545"/>
                <p:cNvSpPr>
                  <a:spLocks noChangeArrowheads="1"/>
                </p:cNvSpPr>
                <p:nvPr/>
              </p:nvSpPr>
              <p:spPr bwMode="auto">
                <a:xfrm>
                  <a:off x="1432" y="3771"/>
                  <a:ext cx="78"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922" name="Freeform 2546"/>
                <p:cNvSpPr>
                  <a:spLocks/>
                </p:cNvSpPr>
                <p:nvPr/>
              </p:nvSpPr>
              <p:spPr bwMode="auto">
                <a:xfrm>
                  <a:off x="1511" y="3785"/>
                  <a:ext cx="94" cy="8"/>
                </a:xfrm>
                <a:custGeom>
                  <a:avLst/>
                  <a:gdLst>
                    <a:gd name="T0" fmla="*/ 0 w 188"/>
                    <a:gd name="T1" fmla="*/ 0 h 25"/>
                    <a:gd name="T2" fmla="*/ 1 w 188"/>
                    <a:gd name="T3" fmla="*/ 0 h 25"/>
                    <a:gd name="T4" fmla="*/ 1 w 188"/>
                    <a:gd name="T5" fmla="*/ 0 h 25"/>
                    <a:gd name="T6" fmla="*/ 1 w 188"/>
                    <a:gd name="T7" fmla="*/ 0 h 25"/>
                    <a:gd name="T8" fmla="*/ 0 w 188"/>
                    <a:gd name="T9" fmla="*/ 0 h 25"/>
                    <a:gd name="T10" fmla="*/ 0 60000 65536"/>
                    <a:gd name="T11" fmla="*/ 0 60000 65536"/>
                    <a:gd name="T12" fmla="*/ 0 60000 65536"/>
                    <a:gd name="T13" fmla="*/ 0 60000 65536"/>
                    <a:gd name="T14" fmla="*/ 0 60000 65536"/>
                    <a:gd name="T15" fmla="*/ 0 w 188"/>
                    <a:gd name="T16" fmla="*/ 0 h 25"/>
                    <a:gd name="T17" fmla="*/ 188 w 188"/>
                    <a:gd name="T18" fmla="*/ 25 h 25"/>
                  </a:gdLst>
                  <a:ahLst/>
                  <a:cxnLst>
                    <a:cxn ang="T10">
                      <a:pos x="T0" y="T1"/>
                    </a:cxn>
                    <a:cxn ang="T11">
                      <a:pos x="T2" y="T3"/>
                    </a:cxn>
                    <a:cxn ang="T12">
                      <a:pos x="T4" y="T5"/>
                    </a:cxn>
                    <a:cxn ang="T13">
                      <a:pos x="T6" y="T7"/>
                    </a:cxn>
                    <a:cxn ang="T14">
                      <a:pos x="T8" y="T9"/>
                    </a:cxn>
                  </a:cxnLst>
                  <a:rect l="T15" t="T16" r="T17" b="T18"/>
                  <a:pathLst>
                    <a:path w="188" h="25">
                      <a:moveTo>
                        <a:pt x="0" y="25"/>
                      </a:moveTo>
                      <a:lnTo>
                        <a:pt x="6" y="0"/>
                      </a:lnTo>
                      <a:lnTo>
                        <a:pt x="175" y="0"/>
                      </a:lnTo>
                      <a:lnTo>
                        <a:pt x="188" y="19"/>
                      </a:lnTo>
                      <a:lnTo>
                        <a:pt x="0" y="25"/>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23" name="Oval 2547"/>
                <p:cNvSpPr>
                  <a:spLocks noChangeArrowheads="1"/>
                </p:cNvSpPr>
                <p:nvPr/>
              </p:nvSpPr>
              <p:spPr bwMode="auto">
                <a:xfrm>
                  <a:off x="1338" y="3767"/>
                  <a:ext cx="78" cy="27"/>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924" name="Oval 2548"/>
                <p:cNvSpPr>
                  <a:spLocks noChangeArrowheads="1"/>
                </p:cNvSpPr>
                <p:nvPr/>
              </p:nvSpPr>
              <p:spPr bwMode="auto">
                <a:xfrm>
                  <a:off x="1431" y="3766"/>
                  <a:ext cx="77"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343" name="Group 2096"/>
            <p:cNvGrpSpPr>
              <a:grpSpLocks/>
            </p:cNvGrpSpPr>
            <p:nvPr/>
          </p:nvGrpSpPr>
          <p:grpSpPr bwMode="auto">
            <a:xfrm>
              <a:off x="5003800" y="333375"/>
              <a:ext cx="431800" cy="328613"/>
              <a:chOff x="624" y="2968"/>
              <a:chExt cx="1331" cy="920"/>
            </a:xfrm>
          </p:grpSpPr>
          <p:sp>
            <p:nvSpPr>
              <p:cNvPr id="2344" name="Freeform 2097"/>
              <p:cNvSpPr>
                <a:spLocks/>
              </p:cNvSpPr>
              <p:nvPr/>
            </p:nvSpPr>
            <p:spPr bwMode="auto">
              <a:xfrm>
                <a:off x="1238" y="2968"/>
                <a:ext cx="713" cy="770"/>
              </a:xfrm>
              <a:custGeom>
                <a:avLst/>
                <a:gdLst>
                  <a:gd name="T0" fmla="*/ 7 w 1426"/>
                  <a:gd name="T1" fmla="*/ 1 h 2309"/>
                  <a:gd name="T2" fmla="*/ 7 w 1426"/>
                  <a:gd name="T3" fmla="*/ 1 h 2309"/>
                  <a:gd name="T4" fmla="*/ 0 w 1426"/>
                  <a:gd name="T5" fmla="*/ 1 h 2309"/>
                  <a:gd name="T6" fmla="*/ 3 w 1426"/>
                  <a:gd name="T7" fmla="*/ 0 h 2309"/>
                  <a:gd name="T8" fmla="*/ 3 w 1426"/>
                  <a:gd name="T9" fmla="*/ 0 h 2309"/>
                  <a:gd name="T10" fmla="*/ 3 w 1426"/>
                  <a:gd name="T11" fmla="*/ 0 h 2309"/>
                  <a:gd name="T12" fmla="*/ 3 w 1426"/>
                  <a:gd name="T13" fmla="*/ 0 h 2309"/>
                  <a:gd name="T14" fmla="*/ 11 w 1426"/>
                  <a:gd name="T15" fmla="*/ 0 h 2309"/>
                  <a:gd name="T16" fmla="*/ 11 w 1426"/>
                  <a:gd name="T17" fmla="*/ 0 h 2309"/>
                  <a:gd name="T18" fmla="*/ 11 w 1426"/>
                  <a:gd name="T19" fmla="*/ 0 h 2309"/>
                  <a:gd name="T20" fmla="*/ 11 w 1426"/>
                  <a:gd name="T21" fmla="*/ 0 h 2309"/>
                  <a:gd name="T22" fmla="*/ 7 w 1426"/>
                  <a:gd name="T23" fmla="*/ 1 h 2309"/>
                  <a:gd name="T24" fmla="*/ 7 w 1426"/>
                  <a:gd name="T25" fmla="*/ 1 h 230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2309"/>
                  <a:gd name="T41" fmla="*/ 1426 w 1426"/>
                  <a:gd name="T42" fmla="*/ 2309 h 230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2309">
                    <a:moveTo>
                      <a:pt x="992" y="2292"/>
                    </a:moveTo>
                    <a:lnTo>
                      <a:pt x="964" y="2309"/>
                    </a:lnTo>
                    <a:lnTo>
                      <a:pt x="0" y="1462"/>
                    </a:lnTo>
                    <a:lnTo>
                      <a:pt x="326" y="59"/>
                    </a:lnTo>
                    <a:lnTo>
                      <a:pt x="369" y="18"/>
                    </a:lnTo>
                    <a:lnTo>
                      <a:pt x="414" y="0"/>
                    </a:lnTo>
                    <a:lnTo>
                      <a:pt x="457" y="9"/>
                    </a:lnTo>
                    <a:lnTo>
                      <a:pt x="1381" y="400"/>
                    </a:lnTo>
                    <a:lnTo>
                      <a:pt x="1411" y="421"/>
                    </a:lnTo>
                    <a:lnTo>
                      <a:pt x="1422" y="425"/>
                    </a:lnTo>
                    <a:lnTo>
                      <a:pt x="1426" y="445"/>
                    </a:lnTo>
                    <a:lnTo>
                      <a:pt x="1017" y="2306"/>
                    </a:lnTo>
                    <a:lnTo>
                      <a:pt x="992" y="2292"/>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45" name="Freeform 2098"/>
              <p:cNvSpPr>
                <a:spLocks/>
              </p:cNvSpPr>
              <p:nvPr/>
            </p:nvSpPr>
            <p:spPr bwMode="auto">
              <a:xfrm>
                <a:off x="1668" y="3087"/>
                <a:ext cx="286" cy="660"/>
              </a:xfrm>
              <a:custGeom>
                <a:avLst/>
                <a:gdLst>
                  <a:gd name="T0" fmla="*/ 4 w 573"/>
                  <a:gd name="T1" fmla="*/ 0 h 1980"/>
                  <a:gd name="T2" fmla="*/ 4 w 573"/>
                  <a:gd name="T3" fmla="*/ 0 h 1980"/>
                  <a:gd name="T4" fmla="*/ 1 w 573"/>
                  <a:gd name="T5" fmla="*/ 1 h 1980"/>
                  <a:gd name="T6" fmla="*/ 1 w 573"/>
                  <a:gd name="T7" fmla="*/ 1 h 1980"/>
                  <a:gd name="T8" fmla="*/ 1 w 573"/>
                  <a:gd name="T9" fmla="*/ 1 h 1980"/>
                  <a:gd name="T10" fmla="*/ 0 w 573"/>
                  <a:gd name="T11" fmla="*/ 1 h 1980"/>
                  <a:gd name="T12" fmla="*/ 0 w 573"/>
                  <a:gd name="T13" fmla="*/ 1 h 1980"/>
                  <a:gd name="T14" fmla="*/ 0 w 573"/>
                  <a:gd name="T15" fmla="*/ 1 h 1980"/>
                  <a:gd name="T16" fmla="*/ 0 w 573"/>
                  <a:gd name="T17" fmla="*/ 1 h 1980"/>
                  <a:gd name="T18" fmla="*/ 3 w 573"/>
                  <a:gd name="T19" fmla="*/ 0 h 1980"/>
                  <a:gd name="T20" fmla="*/ 3 w 573"/>
                  <a:gd name="T21" fmla="*/ 0 h 1980"/>
                  <a:gd name="T22" fmla="*/ 3 w 573"/>
                  <a:gd name="T23" fmla="*/ 0 h 1980"/>
                  <a:gd name="T24" fmla="*/ 3 w 573"/>
                  <a:gd name="T25" fmla="*/ 0 h 1980"/>
                  <a:gd name="T26" fmla="*/ 4 w 573"/>
                  <a:gd name="T27" fmla="*/ 0 h 1980"/>
                  <a:gd name="T28" fmla="*/ 4 w 573"/>
                  <a:gd name="T29" fmla="*/ 0 h 1980"/>
                  <a:gd name="T30" fmla="*/ 4 w 573"/>
                  <a:gd name="T31" fmla="*/ 0 h 19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573"/>
                  <a:gd name="T49" fmla="*/ 0 h 1980"/>
                  <a:gd name="T50" fmla="*/ 573 w 573"/>
                  <a:gd name="T51" fmla="*/ 1980 h 19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573" h="1980">
                    <a:moveTo>
                      <a:pt x="573" y="86"/>
                    </a:moveTo>
                    <a:lnTo>
                      <a:pt x="568" y="132"/>
                    </a:lnTo>
                    <a:lnTo>
                      <a:pt x="155" y="1923"/>
                    </a:lnTo>
                    <a:lnTo>
                      <a:pt x="151" y="1955"/>
                    </a:lnTo>
                    <a:lnTo>
                      <a:pt x="140" y="1972"/>
                    </a:lnTo>
                    <a:lnTo>
                      <a:pt x="125" y="1980"/>
                    </a:lnTo>
                    <a:lnTo>
                      <a:pt x="111" y="1975"/>
                    </a:lnTo>
                    <a:lnTo>
                      <a:pt x="86" y="1955"/>
                    </a:lnTo>
                    <a:lnTo>
                      <a:pt x="0" y="1880"/>
                    </a:lnTo>
                    <a:lnTo>
                      <a:pt x="425" y="39"/>
                    </a:lnTo>
                    <a:lnTo>
                      <a:pt x="420" y="27"/>
                    </a:lnTo>
                    <a:lnTo>
                      <a:pt x="396" y="0"/>
                    </a:lnTo>
                    <a:lnTo>
                      <a:pt x="445" y="20"/>
                    </a:lnTo>
                    <a:lnTo>
                      <a:pt x="541" y="61"/>
                    </a:lnTo>
                    <a:lnTo>
                      <a:pt x="559" y="75"/>
                    </a:lnTo>
                    <a:lnTo>
                      <a:pt x="573" y="86"/>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46" name="Freeform 2099"/>
              <p:cNvSpPr>
                <a:spLocks/>
              </p:cNvSpPr>
              <p:nvPr/>
            </p:nvSpPr>
            <p:spPr bwMode="auto">
              <a:xfrm>
                <a:off x="1432" y="2970"/>
                <a:ext cx="523" cy="147"/>
              </a:xfrm>
              <a:custGeom>
                <a:avLst/>
                <a:gdLst>
                  <a:gd name="T0" fmla="*/ 0 w 1045"/>
                  <a:gd name="T1" fmla="*/ 0 h 441"/>
                  <a:gd name="T2" fmla="*/ 1 w 1045"/>
                  <a:gd name="T3" fmla="*/ 0 h 441"/>
                  <a:gd name="T4" fmla="*/ 1 w 1045"/>
                  <a:gd name="T5" fmla="*/ 0 h 441"/>
                  <a:gd name="T6" fmla="*/ 8 w 1045"/>
                  <a:gd name="T7" fmla="*/ 0 h 441"/>
                  <a:gd name="T8" fmla="*/ 9 w 1045"/>
                  <a:gd name="T9" fmla="*/ 0 h 441"/>
                  <a:gd name="T10" fmla="*/ 9 w 1045"/>
                  <a:gd name="T11" fmla="*/ 0 h 441"/>
                  <a:gd name="T12" fmla="*/ 0 w 1045"/>
                  <a:gd name="T13" fmla="*/ 0 h 441"/>
                  <a:gd name="T14" fmla="*/ 0 60000 65536"/>
                  <a:gd name="T15" fmla="*/ 0 60000 65536"/>
                  <a:gd name="T16" fmla="*/ 0 60000 65536"/>
                  <a:gd name="T17" fmla="*/ 0 60000 65536"/>
                  <a:gd name="T18" fmla="*/ 0 60000 65536"/>
                  <a:gd name="T19" fmla="*/ 0 60000 65536"/>
                  <a:gd name="T20" fmla="*/ 0 60000 65536"/>
                  <a:gd name="T21" fmla="*/ 0 w 1045"/>
                  <a:gd name="T22" fmla="*/ 0 h 441"/>
                  <a:gd name="T23" fmla="*/ 1045 w 1045"/>
                  <a:gd name="T24" fmla="*/ 441 h 44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45" h="441">
                    <a:moveTo>
                      <a:pt x="0" y="0"/>
                    </a:moveTo>
                    <a:lnTo>
                      <a:pt x="31" y="1"/>
                    </a:lnTo>
                    <a:lnTo>
                      <a:pt x="62" y="10"/>
                    </a:lnTo>
                    <a:lnTo>
                      <a:pt x="1005" y="409"/>
                    </a:lnTo>
                    <a:lnTo>
                      <a:pt x="1037" y="427"/>
                    </a:lnTo>
                    <a:lnTo>
                      <a:pt x="1045" y="441"/>
                    </a:lnTo>
                    <a:lnTo>
                      <a:pt x="0" y="0"/>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47" name="Freeform 2100"/>
              <p:cNvSpPr>
                <a:spLocks/>
              </p:cNvSpPr>
              <p:nvPr/>
            </p:nvSpPr>
            <p:spPr bwMode="auto">
              <a:xfrm>
                <a:off x="1315" y="3056"/>
                <a:ext cx="478" cy="573"/>
              </a:xfrm>
              <a:custGeom>
                <a:avLst/>
                <a:gdLst>
                  <a:gd name="T0" fmla="*/ 5 w 955"/>
                  <a:gd name="T1" fmla="*/ 1 h 1719"/>
                  <a:gd name="T2" fmla="*/ 0 w 955"/>
                  <a:gd name="T3" fmla="*/ 1 h 1719"/>
                  <a:gd name="T4" fmla="*/ 3 w 955"/>
                  <a:gd name="T5" fmla="*/ 0 h 1719"/>
                  <a:gd name="T6" fmla="*/ 8 w 955"/>
                  <a:gd name="T7" fmla="*/ 0 h 1719"/>
                  <a:gd name="T8" fmla="*/ 5 w 955"/>
                  <a:gd name="T9" fmla="*/ 1 h 1719"/>
                  <a:gd name="T10" fmla="*/ 0 60000 65536"/>
                  <a:gd name="T11" fmla="*/ 0 60000 65536"/>
                  <a:gd name="T12" fmla="*/ 0 60000 65536"/>
                  <a:gd name="T13" fmla="*/ 0 60000 65536"/>
                  <a:gd name="T14" fmla="*/ 0 60000 65536"/>
                  <a:gd name="T15" fmla="*/ 0 w 955"/>
                  <a:gd name="T16" fmla="*/ 0 h 1719"/>
                  <a:gd name="T17" fmla="*/ 955 w 955"/>
                  <a:gd name="T18" fmla="*/ 1719 h 1719"/>
                </a:gdLst>
                <a:ahLst/>
                <a:cxnLst>
                  <a:cxn ang="T10">
                    <a:pos x="T0" y="T1"/>
                  </a:cxn>
                  <a:cxn ang="T11">
                    <a:pos x="T2" y="T3"/>
                  </a:cxn>
                  <a:cxn ang="T12">
                    <a:pos x="T4" y="T5"/>
                  </a:cxn>
                  <a:cxn ang="T13">
                    <a:pos x="T6" y="T7"/>
                  </a:cxn>
                  <a:cxn ang="T14">
                    <a:pos x="T8" y="T9"/>
                  </a:cxn>
                </a:cxnLst>
                <a:rect l="T15" t="T16" r="T17" b="T18"/>
                <a:pathLst>
                  <a:path w="955" h="1719">
                    <a:moveTo>
                      <a:pt x="619" y="1719"/>
                    </a:moveTo>
                    <a:lnTo>
                      <a:pt x="0" y="1212"/>
                    </a:lnTo>
                    <a:lnTo>
                      <a:pt x="290" y="0"/>
                    </a:lnTo>
                    <a:lnTo>
                      <a:pt x="955" y="313"/>
                    </a:lnTo>
                    <a:lnTo>
                      <a:pt x="619" y="1719"/>
                    </a:lnTo>
                    <a:close/>
                  </a:path>
                </a:pathLst>
              </a:custGeom>
              <a:solidFill>
                <a:srgbClr val="000000"/>
              </a:solidFill>
              <a:ln w="7938">
                <a:solidFill>
                  <a:srgbClr val="80808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48" name="Freeform 2101"/>
              <p:cNvSpPr>
                <a:spLocks/>
              </p:cNvSpPr>
              <p:nvPr/>
            </p:nvSpPr>
            <p:spPr bwMode="auto">
              <a:xfrm>
                <a:off x="1337" y="3076"/>
                <a:ext cx="431" cy="529"/>
              </a:xfrm>
              <a:custGeom>
                <a:avLst/>
                <a:gdLst>
                  <a:gd name="T0" fmla="*/ 5 w 862"/>
                  <a:gd name="T1" fmla="*/ 1 h 1587"/>
                  <a:gd name="T2" fmla="*/ 0 w 862"/>
                  <a:gd name="T3" fmla="*/ 1 h 1587"/>
                  <a:gd name="T4" fmla="*/ 3 w 862"/>
                  <a:gd name="T5" fmla="*/ 0 h 1587"/>
                  <a:gd name="T6" fmla="*/ 7 w 862"/>
                  <a:gd name="T7" fmla="*/ 0 h 1587"/>
                  <a:gd name="T8" fmla="*/ 5 w 862"/>
                  <a:gd name="T9" fmla="*/ 1 h 1587"/>
                  <a:gd name="T10" fmla="*/ 0 60000 65536"/>
                  <a:gd name="T11" fmla="*/ 0 60000 65536"/>
                  <a:gd name="T12" fmla="*/ 0 60000 65536"/>
                  <a:gd name="T13" fmla="*/ 0 60000 65536"/>
                  <a:gd name="T14" fmla="*/ 0 60000 65536"/>
                  <a:gd name="T15" fmla="*/ 0 w 862"/>
                  <a:gd name="T16" fmla="*/ 0 h 1587"/>
                  <a:gd name="T17" fmla="*/ 862 w 862"/>
                  <a:gd name="T18" fmla="*/ 1587 h 1587"/>
                </a:gdLst>
                <a:ahLst/>
                <a:cxnLst>
                  <a:cxn ang="T10">
                    <a:pos x="T0" y="T1"/>
                  </a:cxn>
                  <a:cxn ang="T11">
                    <a:pos x="T2" y="T3"/>
                  </a:cxn>
                  <a:cxn ang="T12">
                    <a:pos x="T4" y="T5"/>
                  </a:cxn>
                  <a:cxn ang="T13">
                    <a:pos x="T6" y="T7"/>
                  </a:cxn>
                  <a:cxn ang="T14">
                    <a:pos x="T8" y="T9"/>
                  </a:cxn>
                </a:cxnLst>
                <a:rect l="T15" t="T16" r="T17" b="T18"/>
                <a:pathLst>
                  <a:path w="862" h="1587">
                    <a:moveTo>
                      <a:pt x="546" y="1587"/>
                    </a:moveTo>
                    <a:lnTo>
                      <a:pt x="0" y="1134"/>
                    </a:lnTo>
                    <a:lnTo>
                      <a:pt x="272" y="0"/>
                    </a:lnTo>
                    <a:lnTo>
                      <a:pt x="862" y="268"/>
                    </a:lnTo>
                    <a:lnTo>
                      <a:pt x="546" y="1587"/>
                    </a:lnTo>
                    <a:close/>
                  </a:path>
                </a:pathLst>
              </a:custGeom>
              <a:solidFill>
                <a:srgbClr val="C7C7C7"/>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49" name="Freeform 2102"/>
              <p:cNvSpPr>
                <a:spLocks/>
              </p:cNvSpPr>
              <p:nvPr/>
            </p:nvSpPr>
            <p:spPr bwMode="auto">
              <a:xfrm>
                <a:off x="1233" y="2968"/>
                <a:ext cx="203" cy="494"/>
              </a:xfrm>
              <a:custGeom>
                <a:avLst/>
                <a:gdLst>
                  <a:gd name="T0" fmla="*/ 3 w 408"/>
                  <a:gd name="T1" fmla="*/ 0 h 1480"/>
                  <a:gd name="T2" fmla="*/ 2 w 408"/>
                  <a:gd name="T3" fmla="*/ 0 h 1480"/>
                  <a:gd name="T4" fmla="*/ 2 w 408"/>
                  <a:gd name="T5" fmla="*/ 0 h 1480"/>
                  <a:gd name="T6" fmla="*/ 2 w 408"/>
                  <a:gd name="T7" fmla="*/ 0 h 1480"/>
                  <a:gd name="T8" fmla="*/ 2 w 408"/>
                  <a:gd name="T9" fmla="*/ 0 h 1480"/>
                  <a:gd name="T10" fmla="*/ 2 w 408"/>
                  <a:gd name="T11" fmla="*/ 0 h 1480"/>
                  <a:gd name="T12" fmla="*/ 0 w 408"/>
                  <a:gd name="T13" fmla="*/ 1 h 1480"/>
                  <a:gd name="T14" fmla="*/ 0 w 408"/>
                  <a:gd name="T15" fmla="*/ 1 h 1480"/>
                  <a:gd name="T16" fmla="*/ 2 w 408"/>
                  <a:gd name="T17" fmla="*/ 0 h 1480"/>
                  <a:gd name="T18" fmla="*/ 2 w 408"/>
                  <a:gd name="T19" fmla="*/ 0 h 1480"/>
                  <a:gd name="T20" fmla="*/ 2 w 408"/>
                  <a:gd name="T21" fmla="*/ 0 h 1480"/>
                  <a:gd name="T22" fmla="*/ 2 w 408"/>
                  <a:gd name="T23" fmla="*/ 0 h 1480"/>
                  <a:gd name="T24" fmla="*/ 2 w 408"/>
                  <a:gd name="T25" fmla="*/ 0 h 1480"/>
                  <a:gd name="T26" fmla="*/ 3 w 408"/>
                  <a:gd name="T27" fmla="*/ 0 h 1480"/>
                  <a:gd name="T28" fmla="*/ 3 w 408"/>
                  <a:gd name="T29" fmla="*/ 0 h 1480"/>
                  <a:gd name="T30" fmla="*/ 3 w 408"/>
                  <a:gd name="T31" fmla="*/ 0 h 14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408"/>
                  <a:gd name="T49" fmla="*/ 0 h 1480"/>
                  <a:gd name="T50" fmla="*/ 408 w 408"/>
                  <a:gd name="T51" fmla="*/ 1480 h 14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408" h="1480">
                    <a:moveTo>
                      <a:pt x="393" y="0"/>
                    </a:moveTo>
                    <a:lnTo>
                      <a:pt x="370" y="11"/>
                    </a:lnTo>
                    <a:lnTo>
                      <a:pt x="356" y="19"/>
                    </a:lnTo>
                    <a:lnTo>
                      <a:pt x="338" y="37"/>
                    </a:lnTo>
                    <a:lnTo>
                      <a:pt x="325" y="59"/>
                    </a:lnTo>
                    <a:lnTo>
                      <a:pt x="320" y="77"/>
                    </a:lnTo>
                    <a:lnTo>
                      <a:pt x="0" y="1459"/>
                    </a:lnTo>
                    <a:lnTo>
                      <a:pt x="12" y="1480"/>
                    </a:lnTo>
                    <a:lnTo>
                      <a:pt x="337" y="77"/>
                    </a:lnTo>
                    <a:lnTo>
                      <a:pt x="346" y="57"/>
                    </a:lnTo>
                    <a:lnTo>
                      <a:pt x="355" y="43"/>
                    </a:lnTo>
                    <a:lnTo>
                      <a:pt x="368" y="30"/>
                    </a:lnTo>
                    <a:lnTo>
                      <a:pt x="384" y="19"/>
                    </a:lnTo>
                    <a:lnTo>
                      <a:pt x="400" y="12"/>
                    </a:lnTo>
                    <a:lnTo>
                      <a:pt x="408" y="5"/>
                    </a:lnTo>
                    <a:lnTo>
                      <a:pt x="393" y="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50" name="Freeform 2103"/>
              <p:cNvSpPr>
                <a:spLocks/>
              </p:cNvSpPr>
              <p:nvPr/>
            </p:nvSpPr>
            <p:spPr bwMode="auto">
              <a:xfrm>
                <a:off x="1204" y="3479"/>
                <a:ext cx="532" cy="321"/>
              </a:xfrm>
              <a:custGeom>
                <a:avLst/>
                <a:gdLst>
                  <a:gd name="T0" fmla="*/ 8 w 1065"/>
                  <a:gd name="T1" fmla="*/ 0 h 963"/>
                  <a:gd name="T2" fmla="*/ 8 w 1065"/>
                  <a:gd name="T3" fmla="*/ 0 h 963"/>
                  <a:gd name="T4" fmla="*/ 7 w 1065"/>
                  <a:gd name="T5" fmla="*/ 0 h 963"/>
                  <a:gd name="T6" fmla="*/ 1 w 1065"/>
                  <a:gd name="T7" fmla="*/ 0 h 963"/>
                  <a:gd name="T8" fmla="*/ 0 w 1065"/>
                  <a:gd name="T9" fmla="*/ 0 h 963"/>
                  <a:gd name="T10" fmla="*/ 0 w 1065"/>
                  <a:gd name="T11" fmla="*/ 0 h 963"/>
                  <a:gd name="T12" fmla="*/ 0 w 1065"/>
                  <a:gd name="T13" fmla="*/ 0 h 963"/>
                  <a:gd name="T14" fmla="*/ 0 w 1065"/>
                  <a:gd name="T15" fmla="*/ 0 h 963"/>
                  <a:gd name="T16" fmla="*/ 6 w 1065"/>
                  <a:gd name="T17" fmla="*/ 0 h 963"/>
                  <a:gd name="T18" fmla="*/ 8 w 1065"/>
                  <a:gd name="T19" fmla="*/ 0 h 96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065"/>
                  <a:gd name="T31" fmla="*/ 0 h 963"/>
                  <a:gd name="T32" fmla="*/ 1065 w 1065"/>
                  <a:gd name="T33" fmla="*/ 963 h 963"/>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065" h="963">
                    <a:moveTo>
                      <a:pt x="1065" y="963"/>
                    </a:moveTo>
                    <a:lnTo>
                      <a:pt x="1047" y="833"/>
                    </a:lnTo>
                    <a:lnTo>
                      <a:pt x="1015" y="776"/>
                    </a:lnTo>
                    <a:lnTo>
                      <a:pt x="137" y="3"/>
                    </a:lnTo>
                    <a:lnTo>
                      <a:pt x="96" y="0"/>
                    </a:lnTo>
                    <a:lnTo>
                      <a:pt x="59" y="3"/>
                    </a:lnTo>
                    <a:lnTo>
                      <a:pt x="32" y="42"/>
                    </a:lnTo>
                    <a:lnTo>
                      <a:pt x="0" y="145"/>
                    </a:lnTo>
                    <a:lnTo>
                      <a:pt x="865" y="954"/>
                    </a:lnTo>
                    <a:lnTo>
                      <a:pt x="1065" y="963"/>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51" name="Freeform 2104"/>
              <p:cNvSpPr>
                <a:spLocks/>
              </p:cNvSpPr>
              <p:nvPr/>
            </p:nvSpPr>
            <p:spPr bwMode="auto">
              <a:xfrm>
                <a:off x="642" y="3519"/>
                <a:ext cx="985" cy="288"/>
              </a:xfrm>
              <a:custGeom>
                <a:avLst/>
                <a:gdLst>
                  <a:gd name="T0" fmla="*/ 0 w 1969"/>
                  <a:gd name="T1" fmla="*/ 0 h 862"/>
                  <a:gd name="T2" fmla="*/ 9 w 1969"/>
                  <a:gd name="T3" fmla="*/ 0 h 862"/>
                  <a:gd name="T4" fmla="*/ 16 w 1969"/>
                  <a:gd name="T5" fmla="*/ 0 h 862"/>
                  <a:gd name="T6" fmla="*/ 4 w 1969"/>
                  <a:gd name="T7" fmla="*/ 0 h 862"/>
                  <a:gd name="T8" fmla="*/ 0 w 1969"/>
                  <a:gd name="T9" fmla="*/ 0 h 862"/>
                  <a:gd name="T10" fmla="*/ 0 60000 65536"/>
                  <a:gd name="T11" fmla="*/ 0 60000 65536"/>
                  <a:gd name="T12" fmla="*/ 0 60000 65536"/>
                  <a:gd name="T13" fmla="*/ 0 60000 65536"/>
                  <a:gd name="T14" fmla="*/ 0 60000 65536"/>
                  <a:gd name="T15" fmla="*/ 0 w 1969"/>
                  <a:gd name="T16" fmla="*/ 0 h 862"/>
                  <a:gd name="T17" fmla="*/ 1969 w 1969"/>
                  <a:gd name="T18" fmla="*/ 862 h 862"/>
                </a:gdLst>
                <a:ahLst/>
                <a:cxnLst>
                  <a:cxn ang="T10">
                    <a:pos x="T0" y="T1"/>
                  </a:cxn>
                  <a:cxn ang="T11">
                    <a:pos x="T2" y="T3"/>
                  </a:cxn>
                  <a:cxn ang="T12">
                    <a:pos x="T4" y="T5"/>
                  </a:cxn>
                  <a:cxn ang="T13">
                    <a:pos x="T6" y="T7"/>
                  </a:cxn>
                  <a:cxn ang="T14">
                    <a:pos x="T8" y="T9"/>
                  </a:cxn>
                </a:cxnLst>
                <a:rect l="T15" t="T16" r="T17" b="T18"/>
                <a:pathLst>
                  <a:path w="1969" h="862">
                    <a:moveTo>
                      <a:pt x="0" y="0"/>
                    </a:moveTo>
                    <a:lnTo>
                      <a:pt x="1121" y="24"/>
                    </a:lnTo>
                    <a:lnTo>
                      <a:pt x="1969" y="814"/>
                    </a:lnTo>
                    <a:lnTo>
                      <a:pt x="478" y="862"/>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52" name="Freeform 2105"/>
              <p:cNvSpPr>
                <a:spLocks/>
              </p:cNvSpPr>
              <p:nvPr/>
            </p:nvSpPr>
            <p:spPr bwMode="auto">
              <a:xfrm>
                <a:off x="852" y="3789"/>
                <a:ext cx="889" cy="99"/>
              </a:xfrm>
              <a:custGeom>
                <a:avLst/>
                <a:gdLst>
                  <a:gd name="T0" fmla="*/ 1 w 1777"/>
                  <a:gd name="T1" fmla="*/ 0 h 297"/>
                  <a:gd name="T2" fmla="*/ 0 w 1777"/>
                  <a:gd name="T3" fmla="*/ 0 h 297"/>
                  <a:gd name="T4" fmla="*/ 14 w 1777"/>
                  <a:gd name="T5" fmla="*/ 0 h 297"/>
                  <a:gd name="T6" fmla="*/ 14 w 1777"/>
                  <a:gd name="T7" fmla="*/ 0 h 297"/>
                  <a:gd name="T8" fmla="*/ 14 w 1777"/>
                  <a:gd name="T9" fmla="*/ 0 h 297"/>
                  <a:gd name="T10" fmla="*/ 14 w 1777"/>
                  <a:gd name="T11" fmla="*/ 0 h 297"/>
                  <a:gd name="T12" fmla="*/ 1 w 1777"/>
                  <a:gd name="T13" fmla="*/ 0 h 297"/>
                  <a:gd name="T14" fmla="*/ 0 60000 65536"/>
                  <a:gd name="T15" fmla="*/ 0 60000 65536"/>
                  <a:gd name="T16" fmla="*/ 0 60000 65536"/>
                  <a:gd name="T17" fmla="*/ 0 60000 65536"/>
                  <a:gd name="T18" fmla="*/ 0 60000 65536"/>
                  <a:gd name="T19" fmla="*/ 0 60000 65536"/>
                  <a:gd name="T20" fmla="*/ 0 60000 65536"/>
                  <a:gd name="T21" fmla="*/ 0 w 1777"/>
                  <a:gd name="T22" fmla="*/ 0 h 297"/>
                  <a:gd name="T23" fmla="*/ 1777 w 1777"/>
                  <a:gd name="T24" fmla="*/ 297 h 29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77" h="297">
                    <a:moveTo>
                      <a:pt x="54" y="52"/>
                    </a:moveTo>
                    <a:lnTo>
                      <a:pt x="0" y="297"/>
                    </a:lnTo>
                    <a:lnTo>
                      <a:pt x="1759" y="257"/>
                    </a:lnTo>
                    <a:lnTo>
                      <a:pt x="1777" y="173"/>
                    </a:lnTo>
                    <a:lnTo>
                      <a:pt x="1773" y="74"/>
                    </a:lnTo>
                    <a:lnTo>
                      <a:pt x="1768" y="0"/>
                    </a:lnTo>
                    <a:lnTo>
                      <a:pt x="54" y="52"/>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53" name="Freeform 2106"/>
              <p:cNvSpPr>
                <a:spLocks/>
              </p:cNvSpPr>
              <p:nvPr/>
            </p:nvSpPr>
            <p:spPr bwMode="auto">
              <a:xfrm>
                <a:off x="624" y="3519"/>
                <a:ext cx="256" cy="369"/>
              </a:xfrm>
              <a:custGeom>
                <a:avLst/>
                <a:gdLst>
                  <a:gd name="T0" fmla="*/ 0 w 513"/>
                  <a:gd name="T1" fmla="*/ 0 h 1106"/>
                  <a:gd name="T2" fmla="*/ 0 w 513"/>
                  <a:gd name="T3" fmla="*/ 0 h 1106"/>
                  <a:gd name="T4" fmla="*/ 3 w 513"/>
                  <a:gd name="T5" fmla="*/ 1 h 1106"/>
                  <a:gd name="T6" fmla="*/ 4 w 513"/>
                  <a:gd name="T7" fmla="*/ 0 h 1106"/>
                  <a:gd name="T8" fmla="*/ 0 w 513"/>
                  <a:gd name="T9" fmla="*/ 0 h 1106"/>
                  <a:gd name="T10" fmla="*/ 0 60000 65536"/>
                  <a:gd name="T11" fmla="*/ 0 60000 65536"/>
                  <a:gd name="T12" fmla="*/ 0 60000 65536"/>
                  <a:gd name="T13" fmla="*/ 0 60000 65536"/>
                  <a:gd name="T14" fmla="*/ 0 60000 65536"/>
                  <a:gd name="T15" fmla="*/ 0 w 513"/>
                  <a:gd name="T16" fmla="*/ 0 h 1106"/>
                  <a:gd name="T17" fmla="*/ 513 w 513"/>
                  <a:gd name="T18" fmla="*/ 1106 h 1106"/>
                </a:gdLst>
                <a:ahLst/>
                <a:cxnLst>
                  <a:cxn ang="T10">
                    <a:pos x="T0" y="T1"/>
                  </a:cxn>
                  <a:cxn ang="T11">
                    <a:pos x="T2" y="T3"/>
                  </a:cxn>
                  <a:cxn ang="T12">
                    <a:pos x="T4" y="T5"/>
                  </a:cxn>
                  <a:cxn ang="T13">
                    <a:pos x="T6" y="T7"/>
                  </a:cxn>
                  <a:cxn ang="T14">
                    <a:pos x="T8" y="T9"/>
                  </a:cxn>
                </a:cxnLst>
                <a:rect l="T15" t="T16" r="T17" b="T18"/>
                <a:pathLst>
                  <a:path w="513" h="1106">
                    <a:moveTo>
                      <a:pt x="37" y="0"/>
                    </a:moveTo>
                    <a:lnTo>
                      <a:pt x="0" y="200"/>
                    </a:lnTo>
                    <a:lnTo>
                      <a:pt x="457" y="1106"/>
                    </a:lnTo>
                    <a:lnTo>
                      <a:pt x="513" y="862"/>
                    </a:lnTo>
                    <a:lnTo>
                      <a:pt x="37"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54" name="Freeform 2107"/>
              <p:cNvSpPr>
                <a:spLocks/>
              </p:cNvSpPr>
              <p:nvPr/>
            </p:nvSpPr>
            <p:spPr bwMode="auto">
              <a:xfrm>
                <a:off x="1206" y="3791"/>
                <a:ext cx="132" cy="8"/>
              </a:xfrm>
              <a:custGeom>
                <a:avLst/>
                <a:gdLst>
                  <a:gd name="T0" fmla="*/ 1 w 262"/>
                  <a:gd name="T1" fmla="*/ 0 h 25"/>
                  <a:gd name="T2" fmla="*/ 0 w 262"/>
                  <a:gd name="T3" fmla="*/ 0 h 25"/>
                  <a:gd name="T4" fmla="*/ 2 w 262"/>
                  <a:gd name="T5" fmla="*/ 0 h 25"/>
                  <a:gd name="T6" fmla="*/ 3 w 262"/>
                  <a:gd name="T7" fmla="*/ 0 h 25"/>
                  <a:gd name="T8" fmla="*/ 1 w 262"/>
                  <a:gd name="T9" fmla="*/ 0 h 25"/>
                  <a:gd name="T10" fmla="*/ 0 60000 65536"/>
                  <a:gd name="T11" fmla="*/ 0 60000 65536"/>
                  <a:gd name="T12" fmla="*/ 0 60000 65536"/>
                  <a:gd name="T13" fmla="*/ 0 60000 65536"/>
                  <a:gd name="T14" fmla="*/ 0 60000 65536"/>
                  <a:gd name="T15" fmla="*/ 0 w 262"/>
                  <a:gd name="T16" fmla="*/ 0 h 25"/>
                  <a:gd name="T17" fmla="*/ 262 w 262"/>
                  <a:gd name="T18" fmla="*/ 25 h 25"/>
                </a:gdLst>
                <a:ahLst/>
                <a:cxnLst>
                  <a:cxn ang="T10">
                    <a:pos x="T0" y="T1"/>
                  </a:cxn>
                  <a:cxn ang="T11">
                    <a:pos x="T2" y="T3"/>
                  </a:cxn>
                  <a:cxn ang="T12">
                    <a:pos x="T4" y="T5"/>
                  </a:cxn>
                  <a:cxn ang="T13">
                    <a:pos x="T6" y="T7"/>
                  </a:cxn>
                  <a:cxn ang="T14">
                    <a:pos x="T8" y="T9"/>
                  </a:cxn>
                </a:cxnLst>
                <a:rect l="T15" t="T16" r="T17" b="T18"/>
                <a:pathLst>
                  <a:path w="262" h="25">
                    <a:moveTo>
                      <a:pt x="2" y="25"/>
                    </a:moveTo>
                    <a:lnTo>
                      <a:pt x="0" y="0"/>
                    </a:lnTo>
                    <a:lnTo>
                      <a:pt x="249" y="0"/>
                    </a:lnTo>
                    <a:lnTo>
                      <a:pt x="262" y="19"/>
                    </a:lnTo>
                    <a:lnTo>
                      <a:pt x="2" y="2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55" name="Freeform 2108"/>
              <p:cNvSpPr>
                <a:spLocks/>
              </p:cNvSpPr>
              <p:nvPr/>
            </p:nvSpPr>
            <p:spPr bwMode="auto">
              <a:xfrm>
                <a:off x="927" y="3521"/>
                <a:ext cx="281" cy="279"/>
              </a:xfrm>
              <a:custGeom>
                <a:avLst/>
                <a:gdLst>
                  <a:gd name="T0" fmla="*/ 5 w 561"/>
                  <a:gd name="T1" fmla="*/ 0 h 836"/>
                  <a:gd name="T2" fmla="*/ 0 w 561"/>
                  <a:gd name="T3" fmla="*/ 0 h 836"/>
                  <a:gd name="T4" fmla="*/ 5 w 561"/>
                  <a:gd name="T5" fmla="*/ 0 h 836"/>
                  <a:gd name="T6" fmla="*/ 5 w 561"/>
                  <a:gd name="T7" fmla="*/ 0 h 836"/>
                  <a:gd name="T8" fmla="*/ 0 60000 65536"/>
                  <a:gd name="T9" fmla="*/ 0 60000 65536"/>
                  <a:gd name="T10" fmla="*/ 0 60000 65536"/>
                  <a:gd name="T11" fmla="*/ 0 60000 65536"/>
                  <a:gd name="T12" fmla="*/ 0 w 561"/>
                  <a:gd name="T13" fmla="*/ 0 h 836"/>
                  <a:gd name="T14" fmla="*/ 561 w 561"/>
                  <a:gd name="T15" fmla="*/ 836 h 836"/>
                </a:gdLst>
                <a:ahLst/>
                <a:cxnLst>
                  <a:cxn ang="T8">
                    <a:pos x="T0" y="T1"/>
                  </a:cxn>
                  <a:cxn ang="T9">
                    <a:pos x="T2" y="T3"/>
                  </a:cxn>
                  <a:cxn ang="T10">
                    <a:pos x="T4" y="T5"/>
                  </a:cxn>
                  <a:cxn ang="T11">
                    <a:pos x="T6" y="T7"/>
                  </a:cxn>
                </a:cxnLst>
                <a:rect l="T12" t="T13" r="T14" b="T15"/>
                <a:pathLst>
                  <a:path w="561" h="836">
                    <a:moveTo>
                      <a:pt x="557" y="801"/>
                    </a:moveTo>
                    <a:lnTo>
                      <a:pt x="0" y="0"/>
                    </a:lnTo>
                    <a:lnTo>
                      <a:pt x="561" y="836"/>
                    </a:lnTo>
                    <a:lnTo>
                      <a:pt x="557" y="801"/>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356" name="Group 2109"/>
              <p:cNvGrpSpPr>
                <a:grpSpLocks/>
              </p:cNvGrpSpPr>
              <p:nvPr/>
            </p:nvGrpSpPr>
            <p:grpSpPr bwMode="auto">
              <a:xfrm>
                <a:off x="700" y="3526"/>
                <a:ext cx="515" cy="270"/>
                <a:chOff x="700" y="3526"/>
                <a:chExt cx="515" cy="270"/>
              </a:xfrm>
            </p:grpSpPr>
            <p:grpSp>
              <p:nvGrpSpPr>
                <p:cNvPr id="2382" name="Group 2110"/>
                <p:cNvGrpSpPr>
                  <a:grpSpLocks/>
                </p:cNvGrpSpPr>
                <p:nvPr/>
              </p:nvGrpSpPr>
              <p:grpSpPr bwMode="auto">
                <a:xfrm>
                  <a:off x="737" y="3534"/>
                  <a:ext cx="49" cy="23"/>
                  <a:chOff x="737" y="3534"/>
                  <a:chExt cx="49" cy="23"/>
                </a:xfrm>
              </p:grpSpPr>
              <p:sp>
                <p:nvSpPr>
                  <p:cNvPr id="2798" name="Freeform 2111"/>
                  <p:cNvSpPr>
                    <a:spLocks/>
                  </p:cNvSpPr>
                  <p:nvPr/>
                </p:nvSpPr>
                <p:spPr bwMode="auto">
                  <a:xfrm>
                    <a:off x="737" y="3534"/>
                    <a:ext cx="11" cy="23"/>
                  </a:xfrm>
                  <a:custGeom>
                    <a:avLst/>
                    <a:gdLst>
                      <a:gd name="T0" fmla="*/ 1 w 22"/>
                      <a:gd name="T1" fmla="*/ 0 h 67"/>
                      <a:gd name="T2" fmla="*/ 0 w 22"/>
                      <a:gd name="T3" fmla="*/ 0 h 67"/>
                      <a:gd name="T4" fmla="*/ 1 w 22"/>
                      <a:gd name="T5" fmla="*/ 0 h 67"/>
                      <a:gd name="T6" fmla="*/ 1 w 22"/>
                      <a:gd name="T7" fmla="*/ 0 h 67"/>
                      <a:gd name="T8" fmla="*/ 1 w 22"/>
                      <a:gd name="T9" fmla="*/ 0 h 67"/>
                      <a:gd name="T10" fmla="*/ 0 60000 65536"/>
                      <a:gd name="T11" fmla="*/ 0 60000 65536"/>
                      <a:gd name="T12" fmla="*/ 0 60000 65536"/>
                      <a:gd name="T13" fmla="*/ 0 60000 65536"/>
                      <a:gd name="T14" fmla="*/ 0 60000 65536"/>
                      <a:gd name="T15" fmla="*/ 0 w 22"/>
                      <a:gd name="T16" fmla="*/ 0 h 67"/>
                      <a:gd name="T17" fmla="*/ 22 w 22"/>
                      <a:gd name="T18" fmla="*/ 67 h 67"/>
                    </a:gdLst>
                    <a:ahLst/>
                    <a:cxnLst>
                      <a:cxn ang="T10">
                        <a:pos x="T0" y="T1"/>
                      </a:cxn>
                      <a:cxn ang="T11">
                        <a:pos x="T2" y="T3"/>
                      </a:cxn>
                      <a:cxn ang="T12">
                        <a:pos x="T4" y="T5"/>
                      </a:cxn>
                      <a:cxn ang="T13">
                        <a:pos x="T6" y="T7"/>
                      </a:cxn>
                      <a:cxn ang="T14">
                        <a:pos x="T8" y="T9"/>
                      </a:cxn>
                    </a:cxnLst>
                    <a:rect l="T15" t="T16" r="T17" b="T18"/>
                    <a:pathLst>
                      <a:path w="22" h="67">
                        <a:moveTo>
                          <a:pt x="13" y="67"/>
                        </a:moveTo>
                        <a:lnTo>
                          <a:pt x="0" y="26"/>
                        </a:lnTo>
                        <a:lnTo>
                          <a:pt x="9" y="0"/>
                        </a:lnTo>
                        <a:lnTo>
                          <a:pt x="22" y="30"/>
                        </a:lnTo>
                        <a:lnTo>
                          <a:pt x="13"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99" name="Freeform 2112"/>
                  <p:cNvSpPr>
                    <a:spLocks/>
                  </p:cNvSpPr>
                  <p:nvPr/>
                </p:nvSpPr>
                <p:spPr bwMode="auto">
                  <a:xfrm>
                    <a:off x="742" y="3535"/>
                    <a:ext cx="36" cy="9"/>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2" y="2"/>
                        </a:lnTo>
                        <a:lnTo>
                          <a:pt x="55" y="11"/>
                        </a:lnTo>
                        <a:lnTo>
                          <a:pt x="73" y="29"/>
                        </a:lnTo>
                        <a:lnTo>
                          <a:pt x="17" y="29"/>
                        </a:lnTo>
                        <a:lnTo>
                          <a:pt x="8"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0" name="Freeform 2113"/>
                  <p:cNvSpPr>
                    <a:spLocks/>
                  </p:cNvSpPr>
                  <p:nvPr/>
                </p:nvSpPr>
                <p:spPr bwMode="auto">
                  <a:xfrm>
                    <a:off x="744" y="3545"/>
                    <a:ext cx="42"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7"/>
                        </a:lnTo>
                        <a:lnTo>
                          <a:pt x="10" y="0"/>
                        </a:lnTo>
                        <a:lnTo>
                          <a:pt x="67" y="0"/>
                        </a:lnTo>
                        <a:lnTo>
                          <a:pt x="82"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83" name="Group 2114"/>
                <p:cNvGrpSpPr>
                  <a:grpSpLocks/>
                </p:cNvGrpSpPr>
                <p:nvPr/>
              </p:nvGrpSpPr>
              <p:grpSpPr bwMode="auto">
                <a:xfrm>
                  <a:off x="748" y="3547"/>
                  <a:ext cx="50" cy="23"/>
                  <a:chOff x="748" y="3547"/>
                  <a:chExt cx="50" cy="23"/>
                </a:xfrm>
              </p:grpSpPr>
              <p:sp>
                <p:nvSpPr>
                  <p:cNvPr id="2795" name="Freeform 2115"/>
                  <p:cNvSpPr>
                    <a:spLocks/>
                  </p:cNvSpPr>
                  <p:nvPr/>
                </p:nvSpPr>
                <p:spPr bwMode="auto">
                  <a:xfrm>
                    <a:off x="748"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96" name="Freeform 2116"/>
                  <p:cNvSpPr>
                    <a:spLocks/>
                  </p:cNvSpPr>
                  <p:nvPr/>
                </p:nvSpPr>
                <p:spPr bwMode="auto">
                  <a:xfrm>
                    <a:off x="753" y="3548"/>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97" name="Freeform 2117"/>
                  <p:cNvSpPr>
                    <a:spLocks/>
                  </p:cNvSpPr>
                  <p:nvPr/>
                </p:nvSpPr>
                <p:spPr bwMode="auto">
                  <a:xfrm>
                    <a:off x="757" y="3558"/>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384" name="Freeform 2118"/>
                <p:cNvSpPr>
                  <a:spLocks/>
                </p:cNvSpPr>
                <p:nvPr/>
              </p:nvSpPr>
              <p:spPr bwMode="auto">
                <a:xfrm>
                  <a:off x="952" y="3538"/>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85" name="Freeform 2119"/>
                <p:cNvSpPr>
                  <a:spLocks/>
                </p:cNvSpPr>
                <p:nvPr/>
              </p:nvSpPr>
              <p:spPr bwMode="auto">
                <a:xfrm>
                  <a:off x="861" y="3535"/>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86" name="Freeform 2120"/>
                <p:cNvSpPr>
                  <a:spLocks/>
                </p:cNvSpPr>
                <p:nvPr/>
              </p:nvSpPr>
              <p:spPr bwMode="auto">
                <a:xfrm>
                  <a:off x="867" y="3535"/>
                  <a:ext cx="34" cy="10"/>
                </a:xfrm>
                <a:custGeom>
                  <a:avLst/>
                  <a:gdLst>
                    <a:gd name="T0" fmla="*/ 0 w 70"/>
                    <a:gd name="T1" fmla="*/ 0 h 30"/>
                    <a:gd name="T2" fmla="*/ 0 w 70"/>
                    <a:gd name="T3" fmla="*/ 0 h 30"/>
                    <a:gd name="T4" fmla="*/ 0 w 70"/>
                    <a:gd name="T5" fmla="*/ 0 h 30"/>
                    <a:gd name="T6" fmla="*/ 0 w 70"/>
                    <a:gd name="T7" fmla="*/ 0 h 30"/>
                    <a:gd name="T8" fmla="*/ 0 w 70"/>
                    <a:gd name="T9" fmla="*/ 0 h 30"/>
                    <a:gd name="T10" fmla="*/ 0 w 70"/>
                    <a:gd name="T11" fmla="*/ 0 h 30"/>
                    <a:gd name="T12" fmla="*/ 0 w 70"/>
                    <a:gd name="T13" fmla="*/ 0 h 30"/>
                    <a:gd name="T14" fmla="*/ 0 w 70"/>
                    <a:gd name="T15" fmla="*/ 0 h 30"/>
                    <a:gd name="T16" fmla="*/ 0 w 70"/>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0"/>
                    <a:gd name="T28" fmla="*/ 0 h 30"/>
                    <a:gd name="T29" fmla="*/ 70 w 70"/>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0" h="30">
                      <a:moveTo>
                        <a:pt x="0" y="0"/>
                      </a:moveTo>
                      <a:lnTo>
                        <a:pt x="49" y="0"/>
                      </a:lnTo>
                      <a:lnTo>
                        <a:pt x="50" y="3"/>
                      </a:lnTo>
                      <a:lnTo>
                        <a:pt x="54" y="13"/>
                      </a:lnTo>
                      <a:lnTo>
                        <a:pt x="70" y="30"/>
                      </a:lnTo>
                      <a:lnTo>
                        <a:pt x="16" y="30"/>
                      </a:lnTo>
                      <a:lnTo>
                        <a:pt x="7" y="21"/>
                      </a:lnTo>
                      <a:lnTo>
                        <a:pt x="0" y="7"/>
                      </a:lnTo>
                      <a:lnTo>
                        <a:pt x="0"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87" name="Freeform 2121"/>
                <p:cNvSpPr>
                  <a:spLocks/>
                </p:cNvSpPr>
                <p:nvPr/>
              </p:nvSpPr>
              <p:spPr bwMode="auto">
                <a:xfrm>
                  <a:off x="868" y="354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388" name="Group 2122"/>
                <p:cNvGrpSpPr>
                  <a:grpSpLocks/>
                </p:cNvGrpSpPr>
                <p:nvPr/>
              </p:nvGrpSpPr>
              <p:grpSpPr bwMode="auto">
                <a:xfrm>
                  <a:off x="872" y="3547"/>
                  <a:ext cx="50" cy="23"/>
                  <a:chOff x="872" y="3547"/>
                  <a:chExt cx="50" cy="23"/>
                </a:xfrm>
              </p:grpSpPr>
              <p:sp>
                <p:nvSpPr>
                  <p:cNvPr id="2792" name="Freeform 2123"/>
                  <p:cNvSpPr>
                    <a:spLocks/>
                  </p:cNvSpPr>
                  <p:nvPr/>
                </p:nvSpPr>
                <p:spPr bwMode="auto">
                  <a:xfrm>
                    <a:off x="872"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93" name="Freeform 2124"/>
                  <p:cNvSpPr>
                    <a:spLocks/>
                  </p:cNvSpPr>
                  <p:nvPr/>
                </p:nvSpPr>
                <p:spPr bwMode="auto">
                  <a:xfrm>
                    <a:off x="878" y="3547"/>
                    <a:ext cx="36" cy="10"/>
                  </a:xfrm>
                  <a:custGeom>
                    <a:avLst/>
                    <a:gdLst>
                      <a:gd name="T0" fmla="*/ 0 w 73"/>
                      <a:gd name="T1" fmla="*/ 0 h 30"/>
                      <a:gd name="T2" fmla="*/ 0 w 73"/>
                      <a:gd name="T3" fmla="*/ 0 h 30"/>
                      <a:gd name="T4" fmla="*/ 0 w 73"/>
                      <a:gd name="T5" fmla="*/ 0 h 30"/>
                      <a:gd name="T6" fmla="*/ 0 w 73"/>
                      <a:gd name="T7" fmla="*/ 0 h 30"/>
                      <a:gd name="T8" fmla="*/ 0 w 73"/>
                      <a:gd name="T9" fmla="*/ 0 h 30"/>
                      <a:gd name="T10" fmla="*/ 0 w 73"/>
                      <a:gd name="T11" fmla="*/ 0 h 30"/>
                      <a:gd name="T12" fmla="*/ 0 w 73"/>
                      <a:gd name="T13" fmla="*/ 0 h 30"/>
                      <a:gd name="T14" fmla="*/ 0 w 73"/>
                      <a:gd name="T15" fmla="*/ 0 h 30"/>
                      <a:gd name="T16" fmla="*/ 0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2" y="0"/>
                        </a:moveTo>
                        <a:lnTo>
                          <a:pt x="49" y="0"/>
                        </a:lnTo>
                        <a:lnTo>
                          <a:pt x="50" y="3"/>
                        </a:lnTo>
                        <a:lnTo>
                          <a:pt x="57" y="12"/>
                        </a:lnTo>
                        <a:lnTo>
                          <a:pt x="73"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94" name="Freeform 2125"/>
                  <p:cNvSpPr>
                    <a:spLocks/>
                  </p:cNvSpPr>
                  <p:nvPr/>
                </p:nvSpPr>
                <p:spPr bwMode="auto">
                  <a:xfrm>
                    <a:off x="880" y="3558"/>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89" name="Group 2126"/>
                <p:cNvGrpSpPr>
                  <a:grpSpLocks/>
                </p:cNvGrpSpPr>
                <p:nvPr/>
              </p:nvGrpSpPr>
              <p:grpSpPr bwMode="auto">
                <a:xfrm>
                  <a:off x="885" y="3559"/>
                  <a:ext cx="50" cy="23"/>
                  <a:chOff x="885" y="3559"/>
                  <a:chExt cx="50" cy="23"/>
                </a:xfrm>
              </p:grpSpPr>
              <p:sp>
                <p:nvSpPr>
                  <p:cNvPr id="2789" name="Freeform 2127"/>
                  <p:cNvSpPr>
                    <a:spLocks/>
                  </p:cNvSpPr>
                  <p:nvPr/>
                </p:nvSpPr>
                <p:spPr bwMode="auto">
                  <a:xfrm>
                    <a:off x="885" y="3559"/>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90" name="Freeform 2128"/>
                  <p:cNvSpPr>
                    <a:spLocks/>
                  </p:cNvSpPr>
                  <p:nvPr/>
                </p:nvSpPr>
                <p:spPr bwMode="auto">
                  <a:xfrm>
                    <a:off x="890" y="3560"/>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3" y="0"/>
                        </a:moveTo>
                        <a:lnTo>
                          <a:pt x="49" y="0"/>
                        </a:lnTo>
                        <a:lnTo>
                          <a:pt x="52" y="3"/>
                        </a:lnTo>
                        <a:lnTo>
                          <a:pt x="57" y="12"/>
                        </a:lnTo>
                        <a:lnTo>
                          <a:pt x="74" y="30"/>
                        </a:lnTo>
                        <a:lnTo>
                          <a:pt x="19" y="30"/>
                        </a:lnTo>
                        <a:lnTo>
                          <a:pt x="10"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91" name="Freeform 2129"/>
                  <p:cNvSpPr>
                    <a:spLocks/>
                  </p:cNvSpPr>
                  <p:nvPr/>
                </p:nvSpPr>
                <p:spPr bwMode="auto">
                  <a:xfrm>
                    <a:off x="893" y="357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90" name="Group 2130"/>
                <p:cNvGrpSpPr>
                  <a:grpSpLocks/>
                </p:cNvGrpSpPr>
                <p:nvPr/>
              </p:nvGrpSpPr>
              <p:grpSpPr bwMode="auto">
                <a:xfrm>
                  <a:off x="898" y="3571"/>
                  <a:ext cx="49" cy="23"/>
                  <a:chOff x="898" y="3571"/>
                  <a:chExt cx="49" cy="23"/>
                </a:xfrm>
              </p:grpSpPr>
              <p:sp>
                <p:nvSpPr>
                  <p:cNvPr id="2786" name="Freeform 2131"/>
                  <p:cNvSpPr>
                    <a:spLocks/>
                  </p:cNvSpPr>
                  <p:nvPr/>
                </p:nvSpPr>
                <p:spPr bwMode="auto">
                  <a:xfrm>
                    <a:off x="898" y="3571"/>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87" name="Freeform 2132"/>
                  <p:cNvSpPr>
                    <a:spLocks/>
                  </p:cNvSpPr>
                  <p:nvPr/>
                </p:nvSpPr>
                <p:spPr bwMode="auto">
                  <a:xfrm>
                    <a:off x="903" y="3572"/>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2"/>
                        </a:lnTo>
                        <a:lnTo>
                          <a:pt x="57" y="11"/>
                        </a:lnTo>
                        <a:lnTo>
                          <a:pt x="75" y="29"/>
                        </a:lnTo>
                        <a:lnTo>
                          <a:pt x="19" y="29"/>
                        </a:lnTo>
                        <a:lnTo>
                          <a:pt x="11"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88" name="Freeform 2133"/>
                  <p:cNvSpPr>
                    <a:spLocks/>
                  </p:cNvSpPr>
                  <p:nvPr/>
                </p:nvSpPr>
                <p:spPr bwMode="auto">
                  <a:xfrm>
                    <a:off x="907" y="3582"/>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91" name="Group 2134"/>
                <p:cNvGrpSpPr>
                  <a:grpSpLocks/>
                </p:cNvGrpSpPr>
                <p:nvPr/>
              </p:nvGrpSpPr>
              <p:grpSpPr bwMode="auto">
                <a:xfrm>
                  <a:off x="911" y="3585"/>
                  <a:ext cx="49" cy="23"/>
                  <a:chOff x="911" y="3585"/>
                  <a:chExt cx="49" cy="23"/>
                </a:xfrm>
              </p:grpSpPr>
              <p:sp>
                <p:nvSpPr>
                  <p:cNvPr id="2783" name="Freeform 2135"/>
                  <p:cNvSpPr>
                    <a:spLocks/>
                  </p:cNvSpPr>
                  <p:nvPr/>
                </p:nvSpPr>
                <p:spPr bwMode="auto">
                  <a:xfrm>
                    <a:off x="911" y="3585"/>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0"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84" name="Freeform 2136"/>
                  <p:cNvSpPr>
                    <a:spLocks/>
                  </p:cNvSpPr>
                  <p:nvPr/>
                </p:nvSpPr>
                <p:spPr bwMode="auto">
                  <a:xfrm>
                    <a:off x="915" y="3585"/>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2" y="0"/>
                        </a:lnTo>
                        <a:lnTo>
                          <a:pt x="53" y="3"/>
                        </a:lnTo>
                        <a:lnTo>
                          <a:pt x="57" y="12"/>
                        </a:lnTo>
                        <a:lnTo>
                          <a:pt x="75" y="30"/>
                        </a:lnTo>
                        <a:lnTo>
                          <a:pt x="19" y="30"/>
                        </a:lnTo>
                        <a:lnTo>
                          <a:pt x="11"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85" name="Freeform 2137"/>
                  <p:cNvSpPr>
                    <a:spLocks/>
                  </p:cNvSpPr>
                  <p:nvPr/>
                </p:nvSpPr>
                <p:spPr bwMode="auto">
                  <a:xfrm>
                    <a:off x="919" y="359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92" name="Group 2138"/>
                <p:cNvGrpSpPr>
                  <a:grpSpLocks/>
                </p:cNvGrpSpPr>
                <p:nvPr/>
              </p:nvGrpSpPr>
              <p:grpSpPr bwMode="auto">
                <a:xfrm>
                  <a:off x="923" y="3600"/>
                  <a:ext cx="99" cy="73"/>
                  <a:chOff x="923" y="3600"/>
                  <a:chExt cx="99" cy="73"/>
                </a:xfrm>
              </p:grpSpPr>
              <p:grpSp>
                <p:nvGrpSpPr>
                  <p:cNvPr id="2763" name="Group 2139"/>
                  <p:cNvGrpSpPr>
                    <a:grpSpLocks/>
                  </p:cNvGrpSpPr>
                  <p:nvPr/>
                </p:nvGrpSpPr>
                <p:grpSpPr bwMode="auto">
                  <a:xfrm>
                    <a:off x="923" y="3600"/>
                    <a:ext cx="49" cy="23"/>
                    <a:chOff x="923" y="3600"/>
                    <a:chExt cx="49" cy="23"/>
                  </a:xfrm>
                </p:grpSpPr>
                <p:sp>
                  <p:nvSpPr>
                    <p:cNvPr id="2780" name="Freeform 2140"/>
                    <p:cNvSpPr>
                      <a:spLocks/>
                    </p:cNvSpPr>
                    <p:nvPr/>
                  </p:nvSpPr>
                  <p:spPr bwMode="auto">
                    <a:xfrm>
                      <a:off x="923" y="3600"/>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0"/>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81" name="Freeform 2141"/>
                    <p:cNvSpPr>
                      <a:spLocks/>
                    </p:cNvSpPr>
                    <p:nvPr/>
                  </p:nvSpPr>
                  <p:spPr bwMode="auto">
                    <a:xfrm>
                      <a:off x="928" y="3600"/>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3"/>
                          </a:lnTo>
                          <a:lnTo>
                            <a:pt x="57" y="12"/>
                          </a:lnTo>
                          <a:lnTo>
                            <a:pt x="75" y="29"/>
                          </a:lnTo>
                          <a:lnTo>
                            <a:pt x="19" y="29"/>
                          </a:lnTo>
                          <a:lnTo>
                            <a:pt x="9"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82" name="Freeform 2142"/>
                    <p:cNvSpPr>
                      <a:spLocks/>
                    </p:cNvSpPr>
                    <p:nvPr/>
                  </p:nvSpPr>
                  <p:spPr bwMode="auto">
                    <a:xfrm>
                      <a:off x="930" y="3610"/>
                      <a:ext cx="42" cy="13"/>
                    </a:xfrm>
                    <a:custGeom>
                      <a:avLst/>
                      <a:gdLst>
                        <a:gd name="T0" fmla="*/ 0 w 82"/>
                        <a:gd name="T1" fmla="*/ 0 h 37"/>
                        <a:gd name="T2" fmla="*/ 1 w 82"/>
                        <a:gd name="T3" fmla="*/ 0 h 37"/>
                        <a:gd name="T4" fmla="*/ 1 w 82"/>
                        <a:gd name="T5" fmla="*/ 0 h 37"/>
                        <a:gd name="T6" fmla="*/ 1 w 82"/>
                        <a:gd name="T7" fmla="*/ 0 h 37"/>
                        <a:gd name="T8" fmla="*/ 1 w 82"/>
                        <a:gd name="T9" fmla="*/ 0 h 37"/>
                        <a:gd name="T10" fmla="*/ 1 w 82"/>
                        <a:gd name="T11" fmla="*/ 0 h 37"/>
                        <a:gd name="T12" fmla="*/ 0 w 82"/>
                        <a:gd name="T13" fmla="*/ 0 h 37"/>
                        <a:gd name="T14" fmla="*/ 0 60000 65536"/>
                        <a:gd name="T15" fmla="*/ 0 60000 65536"/>
                        <a:gd name="T16" fmla="*/ 0 60000 65536"/>
                        <a:gd name="T17" fmla="*/ 0 60000 65536"/>
                        <a:gd name="T18" fmla="*/ 0 60000 65536"/>
                        <a:gd name="T19" fmla="*/ 0 60000 65536"/>
                        <a:gd name="T20" fmla="*/ 0 60000 65536"/>
                        <a:gd name="T21" fmla="*/ 0 w 82"/>
                        <a:gd name="T22" fmla="*/ 0 h 37"/>
                        <a:gd name="T23" fmla="*/ 82 w 82"/>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7">
                          <a:moveTo>
                            <a:pt x="0" y="37"/>
                          </a:moveTo>
                          <a:lnTo>
                            <a:pt x="2" y="22"/>
                          </a:lnTo>
                          <a:lnTo>
                            <a:pt x="7" y="7"/>
                          </a:lnTo>
                          <a:lnTo>
                            <a:pt x="13" y="0"/>
                          </a:lnTo>
                          <a:lnTo>
                            <a:pt x="69" y="0"/>
                          </a:lnTo>
                          <a:lnTo>
                            <a:pt x="82"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64" name="Group 2143"/>
                  <p:cNvGrpSpPr>
                    <a:grpSpLocks/>
                  </p:cNvGrpSpPr>
                  <p:nvPr/>
                </p:nvGrpSpPr>
                <p:grpSpPr bwMode="auto">
                  <a:xfrm>
                    <a:off x="935" y="3612"/>
                    <a:ext cx="48" cy="23"/>
                    <a:chOff x="935" y="3612"/>
                    <a:chExt cx="48" cy="23"/>
                  </a:xfrm>
                </p:grpSpPr>
                <p:sp>
                  <p:nvSpPr>
                    <p:cNvPr id="2777" name="Freeform 2144"/>
                    <p:cNvSpPr>
                      <a:spLocks/>
                    </p:cNvSpPr>
                    <p:nvPr/>
                  </p:nvSpPr>
                  <p:spPr bwMode="auto">
                    <a:xfrm>
                      <a:off x="935"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78" name="Freeform 2145"/>
                    <p:cNvSpPr>
                      <a:spLocks/>
                    </p:cNvSpPr>
                    <p:nvPr/>
                  </p:nvSpPr>
                  <p:spPr bwMode="auto">
                    <a:xfrm>
                      <a:off x="939" y="3612"/>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3" y="3"/>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79" name="Freeform 2146"/>
                    <p:cNvSpPr>
                      <a:spLocks/>
                    </p:cNvSpPr>
                    <p:nvPr/>
                  </p:nvSpPr>
                  <p:spPr bwMode="auto">
                    <a:xfrm>
                      <a:off x="943"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65" name="Group 2147"/>
                  <p:cNvGrpSpPr>
                    <a:grpSpLocks/>
                  </p:cNvGrpSpPr>
                  <p:nvPr/>
                </p:nvGrpSpPr>
                <p:grpSpPr bwMode="auto">
                  <a:xfrm>
                    <a:off x="947" y="3625"/>
                    <a:ext cx="50" cy="22"/>
                    <a:chOff x="947" y="3625"/>
                    <a:chExt cx="50" cy="22"/>
                  </a:xfrm>
                </p:grpSpPr>
                <p:sp>
                  <p:nvSpPr>
                    <p:cNvPr id="2774" name="Freeform 2148"/>
                    <p:cNvSpPr>
                      <a:spLocks/>
                    </p:cNvSpPr>
                    <p:nvPr/>
                  </p:nvSpPr>
                  <p:spPr bwMode="auto">
                    <a:xfrm>
                      <a:off x="947" y="3625"/>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75" name="Freeform 2149"/>
                    <p:cNvSpPr>
                      <a:spLocks/>
                    </p:cNvSpPr>
                    <p:nvPr/>
                  </p:nvSpPr>
                  <p:spPr bwMode="auto">
                    <a:xfrm>
                      <a:off x="953" y="3625"/>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1" y="2"/>
                          </a:lnTo>
                          <a:lnTo>
                            <a:pt x="57" y="11"/>
                          </a:lnTo>
                          <a:lnTo>
                            <a:pt x="73" y="29"/>
                          </a:lnTo>
                          <a:lnTo>
                            <a:pt x="19"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76" name="Freeform 2150"/>
                    <p:cNvSpPr>
                      <a:spLocks/>
                    </p:cNvSpPr>
                    <p:nvPr/>
                  </p:nvSpPr>
                  <p:spPr bwMode="auto">
                    <a:xfrm>
                      <a:off x="955" y="363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0"/>
                          </a:lnTo>
                          <a:lnTo>
                            <a:pt x="7" y="8"/>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66" name="Group 2151"/>
                  <p:cNvGrpSpPr>
                    <a:grpSpLocks/>
                  </p:cNvGrpSpPr>
                  <p:nvPr/>
                </p:nvGrpSpPr>
                <p:grpSpPr bwMode="auto">
                  <a:xfrm>
                    <a:off x="960" y="3637"/>
                    <a:ext cx="50" cy="23"/>
                    <a:chOff x="960" y="3637"/>
                    <a:chExt cx="50" cy="23"/>
                  </a:xfrm>
                </p:grpSpPr>
                <p:sp>
                  <p:nvSpPr>
                    <p:cNvPr id="2771" name="Freeform 2152"/>
                    <p:cNvSpPr>
                      <a:spLocks/>
                    </p:cNvSpPr>
                    <p:nvPr/>
                  </p:nvSpPr>
                  <p:spPr bwMode="auto">
                    <a:xfrm>
                      <a:off x="960" y="363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7"/>
                          </a:lnTo>
                          <a:lnTo>
                            <a:pt x="12"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72" name="Freeform 2153"/>
                    <p:cNvSpPr>
                      <a:spLocks/>
                    </p:cNvSpPr>
                    <p:nvPr/>
                  </p:nvSpPr>
                  <p:spPr bwMode="auto">
                    <a:xfrm>
                      <a:off x="965" y="3638"/>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3" y="0"/>
                          </a:moveTo>
                          <a:lnTo>
                            <a:pt x="49" y="0"/>
                          </a:lnTo>
                          <a:lnTo>
                            <a:pt x="53" y="2"/>
                          </a:lnTo>
                          <a:lnTo>
                            <a:pt x="57" y="11"/>
                          </a:lnTo>
                          <a:lnTo>
                            <a:pt x="74" y="29"/>
                          </a:lnTo>
                          <a:lnTo>
                            <a:pt x="19"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73" name="Freeform 2154"/>
                    <p:cNvSpPr>
                      <a:spLocks/>
                    </p:cNvSpPr>
                    <p:nvPr/>
                  </p:nvSpPr>
                  <p:spPr bwMode="auto">
                    <a:xfrm>
                      <a:off x="968" y="3648"/>
                      <a:ext cx="42" cy="12"/>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1" y="19"/>
                          </a:lnTo>
                          <a:lnTo>
                            <a:pt x="6" y="7"/>
                          </a:lnTo>
                          <a:lnTo>
                            <a:pt x="10"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67" name="Group 2155"/>
                  <p:cNvGrpSpPr>
                    <a:grpSpLocks/>
                  </p:cNvGrpSpPr>
                  <p:nvPr/>
                </p:nvGrpSpPr>
                <p:grpSpPr bwMode="auto">
                  <a:xfrm>
                    <a:off x="973" y="3650"/>
                    <a:ext cx="49" cy="23"/>
                    <a:chOff x="973" y="3650"/>
                    <a:chExt cx="49" cy="23"/>
                  </a:xfrm>
                </p:grpSpPr>
                <p:sp>
                  <p:nvSpPr>
                    <p:cNvPr id="2768" name="Freeform 2156"/>
                    <p:cNvSpPr>
                      <a:spLocks/>
                    </p:cNvSpPr>
                    <p:nvPr/>
                  </p:nvSpPr>
                  <p:spPr bwMode="auto">
                    <a:xfrm>
                      <a:off x="973" y="3650"/>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69" name="Freeform 2157"/>
                    <p:cNvSpPr>
                      <a:spLocks/>
                    </p:cNvSpPr>
                    <p:nvPr/>
                  </p:nvSpPr>
                  <p:spPr bwMode="auto">
                    <a:xfrm>
                      <a:off x="978"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49" y="0"/>
                          </a:lnTo>
                          <a:lnTo>
                            <a:pt x="50" y="2"/>
                          </a:lnTo>
                          <a:lnTo>
                            <a:pt x="57" y="11"/>
                          </a:lnTo>
                          <a:lnTo>
                            <a:pt x="74" y="29"/>
                          </a:lnTo>
                          <a:lnTo>
                            <a:pt x="19" y="29"/>
                          </a:lnTo>
                          <a:lnTo>
                            <a:pt x="10"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70" name="Freeform 2158"/>
                    <p:cNvSpPr>
                      <a:spLocks/>
                    </p:cNvSpPr>
                    <p:nvPr/>
                  </p:nvSpPr>
                  <p:spPr bwMode="auto">
                    <a:xfrm>
                      <a:off x="982" y="3661"/>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5"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393" name="Group 2159"/>
                <p:cNvGrpSpPr>
                  <a:grpSpLocks/>
                </p:cNvGrpSpPr>
                <p:nvPr/>
              </p:nvGrpSpPr>
              <p:grpSpPr bwMode="auto">
                <a:xfrm>
                  <a:off x="985" y="3665"/>
                  <a:ext cx="100" cy="73"/>
                  <a:chOff x="985" y="3665"/>
                  <a:chExt cx="100" cy="73"/>
                </a:xfrm>
              </p:grpSpPr>
              <p:grpSp>
                <p:nvGrpSpPr>
                  <p:cNvPr id="2743" name="Group 2160"/>
                  <p:cNvGrpSpPr>
                    <a:grpSpLocks/>
                  </p:cNvGrpSpPr>
                  <p:nvPr/>
                </p:nvGrpSpPr>
                <p:grpSpPr bwMode="auto">
                  <a:xfrm>
                    <a:off x="985" y="3665"/>
                    <a:ext cx="50" cy="23"/>
                    <a:chOff x="985" y="3665"/>
                    <a:chExt cx="50" cy="23"/>
                  </a:xfrm>
                </p:grpSpPr>
                <p:sp>
                  <p:nvSpPr>
                    <p:cNvPr id="2760" name="Freeform 2161"/>
                    <p:cNvSpPr>
                      <a:spLocks/>
                    </p:cNvSpPr>
                    <p:nvPr/>
                  </p:nvSpPr>
                  <p:spPr bwMode="auto">
                    <a:xfrm>
                      <a:off x="985" y="366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61" name="Freeform 2162"/>
                    <p:cNvSpPr>
                      <a:spLocks/>
                    </p:cNvSpPr>
                    <p:nvPr/>
                  </p:nvSpPr>
                  <p:spPr bwMode="auto">
                    <a:xfrm>
                      <a:off x="989" y="3665"/>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62" name="Freeform 2163"/>
                    <p:cNvSpPr>
                      <a:spLocks/>
                    </p:cNvSpPr>
                    <p:nvPr/>
                  </p:nvSpPr>
                  <p:spPr bwMode="auto">
                    <a:xfrm>
                      <a:off x="993"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44" name="Group 2164"/>
                  <p:cNvGrpSpPr>
                    <a:grpSpLocks/>
                  </p:cNvGrpSpPr>
                  <p:nvPr/>
                </p:nvGrpSpPr>
                <p:grpSpPr bwMode="auto">
                  <a:xfrm>
                    <a:off x="997" y="3677"/>
                    <a:ext cx="49" cy="23"/>
                    <a:chOff x="997" y="3677"/>
                    <a:chExt cx="49" cy="23"/>
                  </a:xfrm>
                </p:grpSpPr>
                <p:sp>
                  <p:nvSpPr>
                    <p:cNvPr id="2757" name="Freeform 2165"/>
                    <p:cNvSpPr>
                      <a:spLocks/>
                    </p:cNvSpPr>
                    <p:nvPr/>
                  </p:nvSpPr>
                  <p:spPr bwMode="auto">
                    <a:xfrm>
                      <a:off x="997" y="367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1"/>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58" name="Freeform 2166"/>
                    <p:cNvSpPr>
                      <a:spLocks/>
                    </p:cNvSpPr>
                    <p:nvPr/>
                  </p:nvSpPr>
                  <p:spPr bwMode="auto">
                    <a:xfrm>
                      <a:off x="1002" y="367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10"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59" name="Freeform 2167"/>
                    <p:cNvSpPr>
                      <a:spLocks/>
                    </p:cNvSpPr>
                    <p:nvPr/>
                  </p:nvSpPr>
                  <p:spPr bwMode="auto">
                    <a:xfrm>
                      <a:off x="1005" y="3688"/>
                      <a:ext cx="41" cy="12"/>
                    </a:xfrm>
                    <a:custGeom>
                      <a:avLst/>
                      <a:gdLst>
                        <a:gd name="T0" fmla="*/ 0 w 83"/>
                        <a:gd name="T1" fmla="*/ 0 h 37"/>
                        <a:gd name="T2" fmla="*/ 0 w 83"/>
                        <a:gd name="T3" fmla="*/ 0 h 37"/>
                        <a:gd name="T4" fmla="*/ 0 w 83"/>
                        <a:gd name="T5" fmla="*/ 0 h 37"/>
                        <a:gd name="T6" fmla="*/ 0 w 83"/>
                        <a:gd name="T7" fmla="*/ 0 h 37"/>
                        <a:gd name="T8" fmla="*/ 0 w 83"/>
                        <a:gd name="T9" fmla="*/ 0 h 37"/>
                        <a:gd name="T10" fmla="*/ 0 w 83"/>
                        <a:gd name="T11" fmla="*/ 0 h 37"/>
                        <a:gd name="T12" fmla="*/ 0 w 83"/>
                        <a:gd name="T13" fmla="*/ 0 h 37"/>
                        <a:gd name="T14" fmla="*/ 0 60000 65536"/>
                        <a:gd name="T15" fmla="*/ 0 60000 65536"/>
                        <a:gd name="T16" fmla="*/ 0 60000 65536"/>
                        <a:gd name="T17" fmla="*/ 0 60000 65536"/>
                        <a:gd name="T18" fmla="*/ 0 60000 65536"/>
                        <a:gd name="T19" fmla="*/ 0 60000 65536"/>
                        <a:gd name="T20" fmla="*/ 0 60000 65536"/>
                        <a:gd name="T21" fmla="*/ 0 w 83"/>
                        <a:gd name="T22" fmla="*/ 0 h 37"/>
                        <a:gd name="T23" fmla="*/ 83 w 83"/>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7">
                          <a:moveTo>
                            <a:pt x="0" y="37"/>
                          </a:moveTo>
                          <a:lnTo>
                            <a:pt x="4" y="19"/>
                          </a:lnTo>
                          <a:lnTo>
                            <a:pt x="8" y="8"/>
                          </a:lnTo>
                          <a:lnTo>
                            <a:pt x="13" y="0"/>
                          </a:lnTo>
                          <a:lnTo>
                            <a:pt x="68" y="0"/>
                          </a:lnTo>
                          <a:lnTo>
                            <a:pt x="83"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45" name="Group 2168"/>
                  <p:cNvGrpSpPr>
                    <a:grpSpLocks/>
                  </p:cNvGrpSpPr>
                  <p:nvPr/>
                </p:nvGrpSpPr>
                <p:grpSpPr bwMode="auto">
                  <a:xfrm>
                    <a:off x="1010" y="3690"/>
                    <a:ext cx="48" cy="23"/>
                    <a:chOff x="1010" y="3690"/>
                    <a:chExt cx="48" cy="23"/>
                  </a:xfrm>
                </p:grpSpPr>
                <p:sp>
                  <p:nvSpPr>
                    <p:cNvPr id="2754" name="Freeform 2169"/>
                    <p:cNvSpPr>
                      <a:spLocks/>
                    </p:cNvSpPr>
                    <p:nvPr/>
                  </p:nvSpPr>
                  <p:spPr bwMode="auto">
                    <a:xfrm>
                      <a:off x="1010" y="3690"/>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55" name="Freeform 2170"/>
                    <p:cNvSpPr>
                      <a:spLocks/>
                    </p:cNvSpPr>
                    <p:nvPr/>
                  </p:nvSpPr>
                  <p:spPr bwMode="auto">
                    <a:xfrm>
                      <a:off x="1014" y="369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3"/>
                          </a:lnTo>
                          <a:lnTo>
                            <a:pt x="56" y="12"/>
                          </a:lnTo>
                          <a:lnTo>
                            <a:pt x="75" y="31"/>
                          </a:lnTo>
                          <a:lnTo>
                            <a:pt x="18" y="31"/>
                          </a:lnTo>
                          <a:lnTo>
                            <a:pt x="9" y="22"/>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56" name="Freeform 2171"/>
                    <p:cNvSpPr>
                      <a:spLocks/>
                    </p:cNvSpPr>
                    <p:nvPr/>
                  </p:nvSpPr>
                  <p:spPr bwMode="auto">
                    <a:xfrm>
                      <a:off x="1018" y="3701"/>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8" y="7"/>
                          </a:lnTo>
                          <a:lnTo>
                            <a:pt x="12" y="0"/>
                          </a:lnTo>
                          <a:lnTo>
                            <a:pt x="69"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46" name="Group 2172"/>
                  <p:cNvGrpSpPr>
                    <a:grpSpLocks/>
                  </p:cNvGrpSpPr>
                  <p:nvPr/>
                </p:nvGrpSpPr>
                <p:grpSpPr bwMode="auto">
                  <a:xfrm>
                    <a:off x="1023" y="3703"/>
                    <a:ext cx="49" cy="22"/>
                    <a:chOff x="1023" y="3703"/>
                    <a:chExt cx="49" cy="22"/>
                  </a:xfrm>
                </p:grpSpPr>
                <p:sp>
                  <p:nvSpPr>
                    <p:cNvPr id="2751" name="Freeform 2173"/>
                    <p:cNvSpPr>
                      <a:spLocks/>
                    </p:cNvSpPr>
                    <p:nvPr/>
                  </p:nvSpPr>
                  <p:spPr bwMode="auto">
                    <a:xfrm>
                      <a:off x="1023" y="3703"/>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3" y="68"/>
                          </a:moveTo>
                          <a:lnTo>
                            <a:pt x="0" y="27"/>
                          </a:lnTo>
                          <a:lnTo>
                            <a:pt x="9" y="0"/>
                          </a:lnTo>
                          <a:lnTo>
                            <a:pt x="25"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52" name="Freeform 2174"/>
                    <p:cNvSpPr>
                      <a:spLocks/>
                    </p:cNvSpPr>
                    <p:nvPr/>
                  </p:nvSpPr>
                  <p:spPr bwMode="auto">
                    <a:xfrm>
                      <a:off x="1028" y="3703"/>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53" name="Freeform 2175"/>
                    <p:cNvSpPr>
                      <a:spLocks/>
                    </p:cNvSpPr>
                    <p:nvPr/>
                  </p:nvSpPr>
                  <p:spPr bwMode="auto">
                    <a:xfrm>
                      <a:off x="1030" y="371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3" y="0"/>
                          </a:lnTo>
                          <a:lnTo>
                            <a:pt x="70"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47" name="Group 2176"/>
                  <p:cNvGrpSpPr>
                    <a:grpSpLocks/>
                  </p:cNvGrpSpPr>
                  <p:nvPr/>
                </p:nvGrpSpPr>
                <p:grpSpPr bwMode="auto">
                  <a:xfrm>
                    <a:off x="1036" y="3716"/>
                    <a:ext cx="49" cy="22"/>
                    <a:chOff x="1036" y="3716"/>
                    <a:chExt cx="49" cy="22"/>
                  </a:xfrm>
                </p:grpSpPr>
                <p:sp>
                  <p:nvSpPr>
                    <p:cNvPr id="2748" name="Freeform 2177"/>
                    <p:cNvSpPr>
                      <a:spLocks/>
                    </p:cNvSpPr>
                    <p:nvPr/>
                  </p:nvSpPr>
                  <p:spPr bwMode="auto">
                    <a:xfrm>
                      <a:off x="1036" y="3716"/>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49" name="Freeform 2178"/>
                    <p:cNvSpPr>
                      <a:spLocks/>
                    </p:cNvSpPr>
                    <p:nvPr/>
                  </p:nvSpPr>
                  <p:spPr bwMode="auto">
                    <a:xfrm>
                      <a:off x="1040" y="371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3" y="0"/>
                          </a:moveTo>
                          <a:lnTo>
                            <a:pt x="51" y="0"/>
                          </a:lnTo>
                          <a:lnTo>
                            <a:pt x="53" y="2"/>
                          </a:lnTo>
                          <a:lnTo>
                            <a:pt x="57" y="11"/>
                          </a:lnTo>
                          <a:lnTo>
                            <a:pt x="75" y="29"/>
                          </a:lnTo>
                          <a:lnTo>
                            <a:pt x="18"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50" name="Freeform 2179"/>
                    <p:cNvSpPr>
                      <a:spLocks/>
                    </p:cNvSpPr>
                    <p:nvPr/>
                  </p:nvSpPr>
                  <p:spPr bwMode="auto">
                    <a:xfrm>
                      <a:off x="1043" y="3726"/>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6" y="8"/>
                          </a:lnTo>
                          <a:lnTo>
                            <a:pt x="10"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394" name="Group 2180"/>
                <p:cNvGrpSpPr>
                  <a:grpSpLocks/>
                </p:cNvGrpSpPr>
                <p:nvPr/>
              </p:nvGrpSpPr>
              <p:grpSpPr bwMode="auto">
                <a:xfrm>
                  <a:off x="1046" y="3727"/>
                  <a:ext cx="49" cy="23"/>
                  <a:chOff x="1046" y="3727"/>
                  <a:chExt cx="49" cy="23"/>
                </a:xfrm>
              </p:grpSpPr>
              <p:sp>
                <p:nvSpPr>
                  <p:cNvPr id="2740" name="Freeform 2181"/>
                  <p:cNvSpPr>
                    <a:spLocks/>
                  </p:cNvSpPr>
                  <p:nvPr/>
                </p:nvSpPr>
                <p:spPr bwMode="auto">
                  <a:xfrm>
                    <a:off x="1046" y="372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2"/>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41" name="Freeform 2182"/>
                  <p:cNvSpPr>
                    <a:spLocks/>
                  </p:cNvSpPr>
                  <p:nvPr/>
                </p:nvSpPr>
                <p:spPr bwMode="auto">
                  <a:xfrm>
                    <a:off x="1051" y="3727"/>
                    <a:ext cx="36" cy="11"/>
                  </a:xfrm>
                  <a:custGeom>
                    <a:avLst/>
                    <a:gdLst>
                      <a:gd name="T0" fmla="*/ 0 w 73"/>
                      <a:gd name="T1" fmla="*/ 0 h 31"/>
                      <a:gd name="T2" fmla="*/ 0 w 73"/>
                      <a:gd name="T3" fmla="*/ 0 h 31"/>
                      <a:gd name="T4" fmla="*/ 0 w 73"/>
                      <a:gd name="T5" fmla="*/ 0 h 31"/>
                      <a:gd name="T6" fmla="*/ 0 w 73"/>
                      <a:gd name="T7" fmla="*/ 0 h 31"/>
                      <a:gd name="T8" fmla="*/ 0 w 73"/>
                      <a:gd name="T9" fmla="*/ 0 h 31"/>
                      <a:gd name="T10" fmla="*/ 0 w 73"/>
                      <a:gd name="T11" fmla="*/ 0 h 31"/>
                      <a:gd name="T12" fmla="*/ 0 w 73"/>
                      <a:gd name="T13" fmla="*/ 0 h 31"/>
                      <a:gd name="T14" fmla="*/ 0 w 73"/>
                      <a:gd name="T15" fmla="*/ 0 h 31"/>
                      <a:gd name="T16" fmla="*/ 0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9" y="0"/>
                        </a:lnTo>
                        <a:lnTo>
                          <a:pt x="50" y="4"/>
                        </a:lnTo>
                        <a:lnTo>
                          <a:pt x="57" y="13"/>
                        </a:lnTo>
                        <a:lnTo>
                          <a:pt x="73" y="31"/>
                        </a:lnTo>
                        <a:lnTo>
                          <a:pt x="17"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42" name="Freeform 2183"/>
                  <p:cNvSpPr>
                    <a:spLocks/>
                  </p:cNvSpPr>
                  <p:nvPr/>
                </p:nvSpPr>
                <p:spPr bwMode="auto">
                  <a:xfrm>
                    <a:off x="1054" y="3738"/>
                    <a:ext cx="41"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6"/>
                        </a:lnTo>
                        <a:lnTo>
                          <a:pt x="10"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95" name="Group 2184"/>
                <p:cNvGrpSpPr>
                  <a:grpSpLocks/>
                </p:cNvGrpSpPr>
                <p:nvPr/>
              </p:nvGrpSpPr>
              <p:grpSpPr bwMode="auto">
                <a:xfrm>
                  <a:off x="1058" y="3739"/>
                  <a:ext cx="50" cy="23"/>
                  <a:chOff x="1058" y="3739"/>
                  <a:chExt cx="50" cy="23"/>
                </a:xfrm>
              </p:grpSpPr>
              <p:sp>
                <p:nvSpPr>
                  <p:cNvPr id="2737" name="Freeform 2185"/>
                  <p:cNvSpPr>
                    <a:spLocks/>
                  </p:cNvSpPr>
                  <p:nvPr/>
                </p:nvSpPr>
                <p:spPr bwMode="auto">
                  <a:xfrm>
                    <a:off x="1058" y="3739"/>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38" name="Freeform 2186"/>
                  <p:cNvSpPr>
                    <a:spLocks/>
                  </p:cNvSpPr>
                  <p:nvPr/>
                </p:nvSpPr>
                <p:spPr bwMode="auto">
                  <a:xfrm>
                    <a:off x="1063" y="3740"/>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0" y="0"/>
                        </a:lnTo>
                        <a:lnTo>
                          <a:pt x="51" y="3"/>
                        </a:lnTo>
                        <a:lnTo>
                          <a:pt x="58" y="12"/>
                        </a:lnTo>
                        <a:lnTo>
                          <a:pt x="75" y="30"/>
                        </a:lnTo>
                        <a:lnTo>
                          <a:pt x="18" y="30"/>
                        </a:lnTo>
                        <a:lnTo>
                          <a:pt x="11" y="21"/>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39" name="Freeform 2187"/>
                  <p:cNvSpPr>
                    <a:spLocks/>
                  </p:cNvSpPr>
                  <p:nvPr/>
                </p:nvSpPr>
                <p:spPr bwMode="auto">
                  <a:xfrm>
                    <a:off x="1067" y="3750"/>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96" name="Group 2188"/>
                <p:cNvGrpSpPr>
                  <a:grpSpLocks/>
                </p:cNvGrpSpPr>
                <p:nvPr/>
              </p:nvGrpSpPr>
              <p:grpSpPr bwMode="auto">
                <a:xfrm>
                  <a:off x="1072" y="3753"/>
                  <a:ext cx="48" cy="22"/>
                  <a:chOff x="1072" y="3753"/>
                  <a:chExt cx="48" cy="22"/>
                </a:xfrm>
              </p:grpSpPr>
              <p:sp>
                <p:nvSpPr>
                  <p:cNvPr id="2734" name="Freeform 2189"/>
                  <p:cNvSpPr>
                    <a:spLocks/>
                  </p:cNvSpPr>
                  <p:nvPr/>
                </p:nvSpPr>
                <p:spPr bwMode="auto">
                  <a:xfrm>
                    <a:off x="1072" y="3753"/>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9"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35" name="Freeform 2190"/>
                  <p:cNvSpPr>
                    <a:spLocks/>
                  </p:cNvSpPr>
                  <p:nvPr/>
                </p:nvSpPr>
                <p:spPr bwMode="auto">
                  <a:xfrm>
                    <a:off x="1076" y="3753"/>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0" y="0"/>
                        </a:lnTo>
                        <a:lnTo>
                          <a:pt x="52" y="4"/>
                        </a:lnTo>
                        <a:lnTo>
                          <a:pt x="57" y="13"/>
                        </a:lnTo>
                        <a:lnTo>
                          <a:pt x="74" y="31"/>
                        </a:lnTo>
                        <a:lnTo>
                          <a:pt x="19" y="31"/>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36" name="Freeform 2191"/>
                  <p:cNvSpPr>
                    <a:spLocks/>
                  </p:cNvSpPr>
                  <p:nvPr/>
                </p:nvSpPr>
                <p:spPr bwMode="auto">
                  <a:xfrm>
                    <a:off x="1079" y="376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3" y="20"/>
                        </a:lnTo>
                        <a:lnTo>
                          <a:pt x="6"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397" name="Freeform 2192"/>
                <p:cNvSpPr>
                  <a:spLocks/>
                </p:cNvSpPr>
                <p:nvPr/>
              </p:nvSpPr>
              <p:spPr bwMode="auto">
                <a:xfrm>
                  <a:off x="820" y="3535"/>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1"/>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98" name="Freeform 2193"/>
                <p:cNvSpPr>
                  <a:spLocks/>
                </p:cNvSpPr>
                <p:nvPr/>
              </p:nvSpPr>
              <p:spPr bwMode="auto">
                <a:xfrm>
                  <a:off x="825" y="3535"/>
                  <a:ext cx="36" cy="9"/>
                </a:xfrm>
                <a:custGeom>
                  <a:avLst/>
                  <a:gdLst>
                    <a:gd name="T0" fmla="*/ 0 w 71"/>
                    <a:gd name="T1" fmla="*/ 0 h 27"/>
                    <a:gd name="T2" fmla="*/ 1 w 71"/>
                    <a:gd name="T3" fmla="*/ 0 h 27"/>
                    <a:gd name="T4" fmla="*/ 1 w 71"/>
                    <a:gd name="T5" fmla="*/ 0 h 27"/>
                    <a:gd name="T6" fmla="*/ 1 w 71"/>
                    <a:gd name="T7" fmla="*/ 0 h 27"/>
                    <a:gd name="T8" fmla="*/ 1 w 71"/>
                    <a:gd name="T9" fmla="*/ 0 h 27"/>
                    <a:gd name="T10" fmla="*/ 1 w 71"/>
                    <a:gd name="T11" fmla="*/ 0 h 27"/>
                    <a:gd name="T12" fmla="*/ 1 w 71"/>
                    <a:gd name="T13" fmla="*/ 0 h 27"/>
                    <a:gd name="T14" fmla="*/ 0 w 71"/>
                    <a:gd name="T15" fmla="*/ 0 h 27"/>
                    <a:gd name="T16" fmla="*/ 0 w 71"/>
                    <a:gd name="T17" fmla="*/ 0 h 2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1"/>
                    <a:gd name="T28" fmla="*/ 0 h 27"/>
                    <a:gd name="T29" fmla="*/ 71 w 71"/>
                    <a:gd name="T30" fmla="*/ 27 h 2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1" h="27">
                      <a:moveTo>
                        <a:pt x="0" y="0"/>
                      </a:moveTo>
                      <a:lnTo>
                        <a:pt x="49" y="0"/>
                      </a:lnTo>
                      <a:lnTo>
                        <a:pt x="51" y="2"/>
                      </a:lnTo>
                      <a:lnTo>
                        <a:pt x="55" y="12"/>
                      </a:lnTo>
                      <a:lnTo>
                        <a:pt x="71" y="27"/>
                      </a:lnTo>
                      <a:lnTo>
                        <a:pt x="17" y="27"/>
                      </a:lnTo>
                      <a:lnTo>
                        <a:pt x="8" y="20"/>
                      </a:lnTo>
                      <a:lnTo>
                        <a:pt x="0" y="6"/>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99" name="Freeform 2194"/>
                <p:cNvSpPr>
                  <a:spLocks/>
                </p:cNvSpPr>
                <p:nvPr/>
              </p:nvSpPr>
              <p:spPr bwMode="auto">
                <a:xfrm>
                  <a:off x="828" y="354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8"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400" name="Group 2195"/>
                <p:cNvGrpSpPr>
                  <a:grpSpLocks/>
                </p:cNvGrpSpPr>
                <p:nvPr/>
              </p:nvGrpSpPr>
              <p:grpSpPr bwMode="auto">
                <a:xfrm>
                  <a:off x="832" y="3547"/>
                  <a:ext cx="49" cy="23"/>
                  <a:chOff x="832" y="3547"/>
                  <a:chExt cx="49" cy="23"/>
                </a:xfrm>
              </p:grpSpPr>
              <p:sp>
                <p:nvSpPr>
                  <p:cNvPr id="2726" name="Freeform 2196"/>
                  <p:cNvSpPr>
                    <a:spLocks/>
                  </p:cNvSpPr>
                  <p:nvPr/>
                </p:nvSpPr>
                <p:spPr bwMode="auto">
                  <a:xfrm>
                    <a:off x="832" y="354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32" name="Freeform 2197"/>
                  <p:cNvSpPr>
                    <a:spLocks/>
                  </p:cNvSpPr>
                  <p:nvPr/>
                </p:nvSpPr>
                <p:spPr bwMode="auto">
                  <a:xfrm>
                    <a:off x="837" y="3548"/>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33" name="Freeform 2198"/>
                  <p:cNvSpPr>
                    <a:spLocks/>
                  </p:cNvSpPr>
                  <p:nvPr/>
                </p:nvSpPr>
                <p:spPr bwMode="auto">
                  <a:xfrm>
                    <a:off x="840" y="355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01" name="Group 2199"/>
                <p:cNvGrpSpPr>
                  <a:grpSpLocks/>
                </p:cNvGrpSpPr>
                <p:nvPr/>
              </p:nvGrpSpPr>
              <p:grpSpPr bwMode="auto">
                <a:xfrm>
                  <a:off x="844" y="3560"/>
                  <a:ext cx="49" cy="22"/>
                  <a:chOff x="844" y="3560"/>
                  <a:chExt cx="49" cy="22"/>
                </a:xfrm>
              </p:grpSpPr>
              <p:sp>
                <p:nvSpPr>
                  <p:cNvPr id="2723" name="Freeform 2200"/>
                  <p:cNvSpPr>
                    <a:spLocks/>
                  </p:cNvSpPr>
                  <p:nvPr/>
                </p:nvSpPr>
                <p:spPr bwMode="auto">
                  <a:xfrm>
                    <a:off x="844" y="3560"/>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24" name="Freeform 2201"/>
                  <p:cNvSpPr>
                    <a:spLocks/>
                  </p:cNvSpPr>
                  <p:nvPr/>
                </p:nvSpPr>
                <p:spPr bwMode="auto">
                  <a:xfrm>
                    <a:off x="849" y="3560"/>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25" name="Freeform 2202"/>
                  <p:cNvSpPr>
                    <a:spLocks/>
                  </p:cNvSpPr>
                  <p:nvPr/>
                </p:nvSpPr>
                <p:spPr bwMode="auto">
                  <a:xfrm>
                    <a:off x="853" y="3571"/>
                    <a:ext cx="40" cy="11"/>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6"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02" name="Group 2203"/>
                <p:cNvGrpSpPr>
                  <a:grpSpLocks/>
                </p:cNvGrpSpPr>
                <p:nvPr/>
              </p:nvGrpSpPr>
              <p:grpSpPr bwMode="auto">
                <a:xfrm>
                  <a:off x="857" y="3572"/>
                  <a:ext cx="50" cy="23"/>
                  <a:chOff x="857" y="3572"/>
                  <a:chExt cx="50" cy="23"/>
                </a:xfrm>
              </p:grpSpPr>
              <p:sp>
                <p:nvSpPr>
                  <p:cNvPr id="2720" name="Freeform 2204"/>
                  <p:cNvSpPr>
                    <a:spLocks/>
                  </p:cNvSpPr>
                  <p:nvPr/>
                </p:nvSpPr>
                <p:spPr bwMode="auto">
                  <a:xfrm>
                    <a:off x="857" y="3572"/>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5"/>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21" name="Freeform 2205"/>
                  <p:cNvSpPr>
                    <a:spLocks/>
                  </p:cNvSpPr>
                  <p:nvPr/>
                </p:nvSpPr>
                <p:spPr bwMode="auto">
                  <a:xfrm>
                    <a:off x="862" y="3573"/>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22" name="Freeform 2206"/>
                  <p:cNvSpPr>
                    <a:spLocks/>
                  </p:cNvSpPr>
                  <p:nvPr/>
                </p:nvSpPr>
                <p:spPr bwMode="auto">
                  <a:xfrm>
                    <a:off x="865" y="358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03" name="Group 2207"/>
                <p:cNvGrpSpPr>
                  <a:grpSpLocks/>
                </p:cNvGrpSpPr>
                <p:nvPr/>
              </p:nvGrpSpPr>
              <p:grpSpPr bwMode="auto">
                <a:xfrm>
                  <a:off x="870" y="3585"/>
                  <a:ext cx="48" cy="23"/>
                  <a:chOff x="870" y="3585"/>
                  <a:chExt cx="48" cy="23"/>
                </a:xfrm>
              </p:grpSpPr>
              <p:sp>
                <p:nvSpPr>
                  <p:cNvPr id="2717" name="Freeform 2208"/>
                  <p:cNvSpPr>
                    <a:spLocks/>
                  </p:cNvSpPr>
                  <p:nvPr/>
                </p:nvSpPr>
                <p:spPr bwMode="auto">
                  <a:xfrm>
                    <a:off x="870" y="358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6"/>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18" name="Freeform 2209"/>
                  <p:cNvSpPr>
                    <a:spLocks/>
                  </p:cNvSpPr>
                  <p:nvPr/>
                </p:nvSpPr>
                <p:spPr bwMode="auto">
                  <a:xfrm>
                    <a:off x="874" y="3586"/>
                    <a:ext cx="38" cy="10"/>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19" name="Freeform 2210"/>
                  <p:cNvSpPr>
                    <a:spLocks/>
                  </p:cNvSpPr>
                  <p:nvPr/>
                </p:nvSpPr>
                <p:spPr bwMode="auto">
                  <a:xfrm>
                    <a:off x="878"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6"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04" name="Group 2211"/>
                <p:cNvGrpSpPr>
                  <a:grpSpLocks/>
                </p:cNvGrpSpPr>
                <p:nvPr/>
              </p:nvGrpSpPr>
              <p:grpSpPr bwMode="auto">
                <a:xfrm>
                  <a:off x="882" y="3600"/>
                  <a:ext cx="100" cy="73"/>
                  <a:chOff x="882" y="3600"/>
                  <a:chExt cx="100" cy="73"/>
                </a:xfrm>
              </p:grpSpPr>
              <p:grpSp>
                <p:nvGrpSpPr>
                  <p:cNvPr id="2697" name="Group 2212"/>
                  <p:cNvGrpSpPr>
                    <a:grpSpLocks/>
                  </p:cNvGrpSpPr>
                  <p:nvPr/>
                </p:nvGrpSpPr>
                <p:grpSpPr bwMode="auto">
                  <a:xfrm>
                    <a:off x="882" y="3600"/>
                    <a:ext cx="49" cy="23"/>
                    <a:chOff x="882" y="3600"/>
                    <a:chExt cx="49" cy="23"/>
                  </a:xfrm>
                </p:grpSpPr>
                <p:sp>
                  <p:nvSpPr>
                    <p:cNvPr id="2714" name="Freeform 2213"/>
                    <p:cNvSpPr>
                      <a:spLocks/>
                    </p:cNvSpPr>
                    <p:nvPr/>
                  </p:nvSpPr>
                  <p:spPr bwMode="auto">
                    <a:xfrm>
                      <a:off x="882" y="3600"/>
                      <a:ext cx="12" cy="23"/>
                    </a:xfrm>
                    <a:custGeom>
                      <a:avLst/>
                      <a:gdLst>
                        <a:gd name="T0" fmla="*/ 1 w 23"/>
                        <a:gd name="T1" fmla="*/ 0 h 70"/>
                        <a:gd name="T2" fmla="*/ 0 w 23"/>
                        <a:gd name="T3" fmla="*/ 0 h 70"/>
                        <a:gd name="T4" fmla="*/ 1 w 23"/>
                        <a:gd name="T5" fmla="*/ 0 h 70"/>
                        <a:gd name="T6" fmla="*/ 1 w 23"/>
                        <a:gd name="T7" fmla="*/ 0 h 70"/>
                        <a:gd name="T8" fmla="*/ 1 w 23"/>
                        <a:gd name="T9" fmla="*/ 0 h 70"/>
                        <a:gd name="T10" fmla="*/ 0 60000 65536"/>
                        <a:gd name="T11" fmla="*/ 0 60000 65536"/>
                        <a:gd name="T12" fmla="*/ 0 60000 65536"/>
                        <a:gd name="T13" fmla="*/ 0 60000 65536"/>
                        <a:gd name="T14" fmla="*/ 0 60000 65536"/>
                        <a:gd name="T15" fmla="*/ 0 w 23"/>
                        <a:gd name="T16" fmla="*/ 0 h 70"/>
                        <a:gd name="T17" fmla="*/ 23 w 23"/>
                        <a:gd name="T18" fmla="*/ 70 h 70"/>
                      </a:gdLst>
                      <a:ahLst/>
                      <a:cxnLst>
                        <a:cxn ang="T10">
                          <a:pos x="T0" y="T1"/>
                        </a:cxn>
                        <a:cxn ang="T11">
                          <a:pos x="T2" y="T3"/>
                        </a:cxn>
                        <a:cxn ang="T12">
                          <a:pos x="T4" y="T5"/>
                        </a:cxn>
                        <a:cxn ang="T13">
                          <a:pos x="T6" y="T7"/>
                        </a:cxn>
                        <a:cxn ang="T14">
                          <a:pos x="T8" y="T9"/>
                        </a:cxn>
                      </a:cxnLst>
                      <a:rect l="T15" t="T16" r="T17" b="T18"/>
                      <a:pathLst>
                        <a:path w="23" h="70">
                          <a:moveTo>
                            <a:pt x="13" y="70"/>
                          </a:moveTo>
                          <a:lnTo>
                            <a:pt x="0" y="27"/>
                          </a:lnTo>
                          <a:lnTo>
                            <a:pt x="9" y="0"/>
                          </a:lnTo>
                          <a:lnTo>
                            <a:pt x="23"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15" name="Freeform 2214"/>
                    <p:cNvSpPr>
                      <a:spLocks/>
                    </p:cNvSpPr>
                    <p:nvPr/>
                  </p:nvSpPr>
                  <p:spPr bwMode="auto">
                    <a:xfrm>
                      <a:off x="887" y="3600"/>
                      <a:ext cx="37" cy="11"/>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50" y="0"/>
                          </a:lnTo>
                          <a:lnTo>
                            <a:pt x="51"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16" name="Freeform 2215"/>
                    <p:cNvSpPr>
                      <a:spLocks/>
                    </p:cNvSpPr>
                    <p:nvPr/>
                  </p:nvSpPr>
                  <p:spPr bwMode="auto">
                    <a:xfrm>
                      <a:off x="890" y="3611"/>
                      <a:ext cx="41" cy="12"/>
                    </a:xfrm>
                    <a:custGeom>
                      <a:avLst/>
                      <a:gdLst>
                        <a:gd name="T0" fmla="*/ 0 w 83"/>
                        <a:gd name="T1" fmla="*/ 0 h 38"/>
                        <a:gd name="T2" fmla="*/ 0 w 83"/>
                        <a:gd name="T3" fmla="*/ 0 h 38"/>
                        <a:gd name="T4" fmla="*/ 0 w 83"/>
                        <a:gd name="T5" fmla="*/ 0 h 38"/>
                        <a:gd name="T6" fmla="*/ 0 w 83"/>
                        <a:gd name="T7" fmla="*/ 0 h 38"/>
                        <a:gd name="T8" fmla="*/ 0 w 83"/>
                        <a:gd name="T9" fmla="*/ 0 h 38"/>
                        <a:gd name="T10" fmla="*/ 0 w 83"/>
                        <a:gd name="T11" fmla="*/ 0 h 38"/>
                        <a:gd name="T12" fmla="*/ 0 w 83"/>
                        <a:gd name="T13" fmla="*/ 0 h 38"/>
                        <a:gd name="T14" fmla="*/ 0 60000 65536"/>
                        <a:gd name="T15" fmla="*/ 0 60000 65536"/>
                        <a:gd name="T16" fmla="*/ 0 60000 65536"/>
                        <a:gd name="T17" fmla="*/ 0 60000 65536"/>
                        <a:gd name="T18" fmla="*/ 0 60000 65536"/>
                        <a:gd name="T19" fmla="*/ 0 60000 65536"/>
                        <a:gd name="T20" fmla="*/ 0 60000 65536"/>
                        <a:gd name="T21" fmla="*/ 0 w 83"/>
                        <a:gd name="T22" fmla="*/ 0 h 38"/>
                        <a:gd name="T23" fmla="*/ 83 w 83"/>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8">
                          <a:moveTo>
                            <a:pt x="0" y="38"/>
                          </a:moveTo>
                          <a:lnTo>
                            <a:pt x="1" y="22"/>
                          </a:lnTo>
                          <a:lnTo>
                            <a:pt x="8" y="8"/>
                          </a:lnTo>
                          <a:lnTo>
                            <a:pt x="12" y="0"/>
                          </a:lnTo>
                          <a:lnTo>
                            <a:pt x="68" y="0"/>
                          </a:lnTo>
                          <a:lnTo>
                            <a:pt x="83"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98" name="Group 2216"/>
                  <p:cNvGrpSpPr>
                    <a:grpSpLocks/>
                  </p:cNvGrpSpPr>
                  <p:nvPr/>
                </p:nvGrpSpPr>
                <p:grpSpPr bwMode="auto">
                  <a:xfrm>
                    <a:off x="894" y="3612"/>
                    <a:ext cx="49" cy="23"/>
                    <a:chOff x="894" y="3612"/>
                    <a:chExt cx="49" cy="23"/>
                  </a:xfrm>
                </p:grpSpPr>
                <p:sp>
                  <p:nvSpPr>
                    <p:cNvPr id="2711" name="Freeform 2217"/>
                    <p:cNvSpPr>
                      <a:spLocks/>
                    </p:cNvSpPr>
                    <p:nvPr/>
                  </p:nvSpPr>
                  <p:spPr bwMode="auto">
                    <a:xfrm>
                      <a:off x="894" y="3612"/>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9"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12" name="Freeform 2218"/>
                    <p:cNvSpPr>
                      <a:spLocks/>
                    </p:cNvSpPr>
                    <p:nvPr/>
                  </p:nvSpPr>
                  <p:spPr bwMode="auto">
                    <a:xfrm>
                      <a:off x="899" y="3613"/>
                      <a:ext cx="37" cy="10"/>
                    </a:xfrm>
                    <a:custGeom>
                      <a:avLst/>
                      <a:gdLst>
                        <a:gd name="T0" fmla="*/ 0 w 75"/>
                        <a:gd name="T1" fmla="*/ 0 h 32"/>
                        <a:gd name="T2" fmla="*/ 0 w 75"/>
                        <a:gd name="T3" fmla="*/ 0 h 32"/>
                        <a:gd name="T4" fmla="*/ 0 w 75"/>
                        <a:gd name="T5" fmla="*/ 0 h 32"/>
                        <a:gd name="T6" fmla="*/ 0 w 75"/>
                        <a:gd name="T7" fmla="*/ 0 h 32"/>
                        <a:gd name="T8" fmla="*/ 0 w 75"/>
                        <a:gd name="T9" fmla="*/ 0 h 32"/>
                        <a:gd name="T10" fmla="*/ 0 w 75"/>
                        <a:gd name="T11" fmla="*/ 0 h 32"/>
                        <a:gd name="T12" fmla="*/ 0 w 75"/>
                        <a:gd name="T13" fmla="*/ 0 h 32"/>
                        <a:gd name="T14" fmla="*/ 0 w 75"/>
                        <a:gd name="T15" fmla="*/ 0 h 32"/>
                        <a:gd name="T16" fmla="*/ 0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2" y="0"/>
                          </a:moveTo>
                          <a:lnTo>
                            <a:pt x="50" y="0"/>
                          </a:lnTo>
                          <a:lnTo>
                            <a:pt x="52" y="3"/>
                          </a:lnTo>
                          <a:lnTo>
                            <a:pt x="57" y="15"/>
                          </a:lnTo>
                          <a:lnTo>
                            <a:pt x="75" y="32"/>
                          </a:lnTo>
                          <a:lnTo>
                            <a:pt x="19" y="32"/>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13" name="Freeform 2219"/>
                    <p:cNvSpPr>
                      <a:spLocks/>
                    </p:cNvSpPr>
                    <p:nvPr/>
                  </p:nvSpPr>
                  <p:spPr bwMode="auto">
                    <a:xfrm>
                      <a:off x="902" y="362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1"/>
                          </a:lnTo>
                          <a:lnTo>
                            <a:pt x="5" y="8"/>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99" name="Group 2220"/>
                  <p:cNvGrpSpPr>
                    <a:grpSpLocks/>
                  </p:cNvGrpSpPr>
                  <p:nvPr/>
                </p:nvGrpSpPr>
                <p:grpSpPr bwMode="auto">
                  <a:xfrm>
                    <a:off x="907" y="3625"/>
                    <a:ext cx="49" cy="23"/>
                    <a:chOff x="907" y="3625"/>
                    <a:chExt cx="49" cy="23"/>
                  </a:xfrm>
                </p:grpSpPr>
                <p:sp>
                  <p:nvSpPr>
                    <p:cNvPr id="2708" name="Freeform 2221"/>
                    <p:cNvSpPr>
                      <a:spLocks/>
                    </p:cNvSpPr>
                    <p:nvPr/>
                  </p:nvSpPr>
                  <p:spPr bwMode="auto">
                    <a:xfrm>
                      <a:off x="907" y="3625"/>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09" name="Freeform 2222"/>
                    <p:cNvSpPr>
                      <a:spLocks/>
                    </p:cNvSpPr>
                    <p:nvPr/>
                  </p:nvSpPr>
                  <p:spPr bwMode="auto">
                    <a:xfrm>
                      <a:off x="912" y="3626"/>
                      <a:ext cx="36" cy="9"/>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10" name="Freeform 2223"/>
                    <p:cNvSpPr>
                      <a:spLocks/>
                    </p:cNvSpPr>
                    <p:nvPr/>
                  </p:nvSpPr>
                  <p:spPr bwMode="auto">
                    <a:xfrm>
                      <a:off x="914" y="363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00" name="Group 2224"/>
                  <p:cNvGrpSpPr>
                    <a:grpSpLocks/>
                  </p:cNvGrpSpPr>
                  <p:nvPr/>
                </p:nvGrpSpPr>
                <p:grpSpPr bwMode="auto">
                  <a:xfrm>
                    <a:off x="919" y="3638"/>
                    <a:ext cx="49" cy="22"/>
                    <a:chOff x="919" y="3638"/>
                    <a:chExt cx="49" cy="22"/>
                  </a:xfrm>
                </p:grpSpPr>
                <p:sp>
                  <p:nvSpPr>
                    <p:cNvPr id="2705" name="Freeform 2225"/>
                    <p:cNvSpPr>
                      <a:spLocks/>
                    </p:cNvSpPr>
                    <p:nvPr/>
                  </p:nvSpPr>
                  <p:spPr bwMode="auto">
                    <a:xfrm>
                      <a:off x="919" y="3638"/>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06" name="Freeform 2226"/>
                    <p:cNvSpPr>
                      <a:spLocks/>
                    </p:cNvSpPr>
                    <p:nvPr/>
                  </p:nvSpPr>
                  <p:spPr bwMode="auto">
                    <a:xfrm>
                      <a:off x="924" y="363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48" y="0"/>
                          </a:lnTo>
                          <a:lnTo>
                            <a:pt x="52" y="3"/>
                          </a:lnTo>
                          <a:lnTo>
                            <a:pt x="56" y="12"/>
                          </a:lnTo>
                          <a:lnTo>
                            <a:pt x="73"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07" name="Freeform 2227"/>
                    <p:cNvSpPr>
                      <a:spLocks/>
                    </p:cNvSpPr>
                    <p:nvPr/>
                  </p:nvSpPr>
                  <p:spPr bwMode="auto">
                    <a:xfrm>
                      <a:off x="928" y="364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01" name="Group 2228"/>
                  <p:cNvGrpSpPr>
                    <a:grpSpLocks/>
                  </p:cNvGrpSpPr>
                  <p:nvPr/>
                </p:nvGrpSpPr>
                <p:grpSpPr bwMode="auto">
                  <a:xfrm>
                    <a:off x="932" y="3651"/>
                    <a:ext cx="50" cy="22"/>
                    <a:chOff x="932" y="3651"/>
                    <a:chExt cx="50" cy="22"/>
                  </a:xfrm>
                </p:grpSpPr>
                <p:sp>
                  <p:nvSpPr>
                    <p:cNvPr id="2702" name="Freeform 2229"/>
                    <p:cNvSpPr>
                      <a:spLocks/>
                    </p:cNvSpPr>
                    <p:nvPr/>
                  </p:nvSpPr>
                  <p:spPr bwMode="auto">
                    <a:xfrm>
                      <a:off x="932" y="36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11" y="0"/>
                          </a:lnTo>
                          <a:lnTo>
                            <a:pt x="24"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03" name="Freeform 2230"/>
                    <p:cNvSpPr>
                      <a:spLocks/>
                    </p:cNvSpPr>
                    <p:nvPr/>
                  </p:nvSpPr>
                  <p:spPr bwMode="auto">
                    <a:xfrm>
                      <a:off x="937" y="3651"/>
                      <a:ext cx="37"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04" name="Freeform 2231"/>
                    <p:cNvSpPr>
                      <a:spLocks/>
                    </p:cNvSpPr>
                    <p:nvPr/>
                  </p:nvSpPr>
                  <p:spPr bwMode="auto">
                    <a:xfrm>
                      <a:off x="940" y="3662"/>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405" name="Group 2232"/>
                <p:cNvGrpSpPr>
                  <a:grpSpLocks/>
                </p:cNvGrpSpPr>
                <p:nvPr/>
              </p:nvGrpSpPr>
              <p:grpSpPr bwMode="auto">
                <a:xfrm>
                  <a:off x="944" y="3665"/>
                  <a:ext cx="99" cy="74"/>
                  <a:chOff x="944" y="3665"/>
                  <a:chExt cx="99" cy="74"/>
                </a:xfrm>
              </p:grpSpPr>
              <p:grpSp>
                <p:nvGrpSpPr>
                  <p:cNvPr id="2677" name="Group 2233"/>
                  <p:cNvGrpSpPr>
                    <a:grpSpLocks/>
                  </p:cNvGrpSpPr>
                  <p:nvPr/>
                </p:nvGrpSpPr>
                <p:grpSpPr bwMode="auto">
                  <a:xfrm>
                    <a:off x="944" y="3665"/>
                    <a:ext cx="49" cy="23"/>
                    <a:chOff x="944" y="3665"/>
                    <a:chExt cx="49" cy="23"/>
                  </a:xfrm>
                </p:grpSpPr>
                <p:sp>
                  <p:nvSpPr>
                    <p:cNvPr id="2694" name="Freeform 2234"/>
                    <p:cNvSpPr>
                      <a:spLocks/>
                    </p:cNvSpPr>
                    <p:nvPr/>
                  </p:nvSpPr>
                  <p:spPr bwMode="auto">
                    <a:xfrm>
                      <a:off x="944" y="3665"/>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95" name="Freeform 2235"/>
                    <p:cNvSpPr>
                      <a:spLocks/>
                    </p:cNvSpPr>
                    <p:nvPr/>
                  </p:nvSpPr>
                  <p:spPr bwMode="auto">
                    <a:xfrm>
                      <a:off x="949" y="3666"/>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4"/>
                          </a:lnTo>
                          <a:lnTo>
                            <a:pt x="57" y="13"/>
                          </a:lnTo>
                          <a:lnTo>
                            <a:pt x="75" y="31"/>
                          </a:lnTo>
                          <a:lnTo>
                            <a:pt x="19" y="31"/>
                          </a:lnTo>
                          <a:lnTo>
                            <a:pt x="11"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96" name="Freeform 2236"/>
                    <p:cNvSpPr>
                      <a:spLocks/>
                    </p:cNvSpPr>
                    <p:nvPr/>
                  </p:nvSpPr>
                  <p:spPr bwMode="auto">
                    <a:xfrm>
                      <a:off x="953" y="367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78" name="Group 2237"/>
                  <p:cNvGrpSpPr>
                    <a:grpSpLocks/>
                  </p:cNvGrpSpPr>
                  <p:nvPr/>
                </p:nvGrpSpPr>
                <p:grpSpPr bwMode="auto">
                  <a:xfrm>
                    <a:off x="957" y="3678"/>
                    <a:ext cx="48" cy="23"/>
                    <a:chOff x="957" y="3678"/>
                    <a:chExt cx="48" cy="23"/>
                  </a:xfrm>
                </p:grpSpPr>
                <p:sp>
                  <p:nvSpPr>
                    <p:cNvPr id="2691" name="Freeform 2238"/>
                    <p:cNvSpPr>
                      <a:spLocks/>
                    </p:cNvSpPr>
                    <p:nvPr/>
                  </p:nvSpPr>
                  <p:spPr bwMode="auto">
                    <a:xfrm>
                      <a:off x="957" y="3678"/>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3" y="70"/>
                          </a:moveTo>
                          <a:lnTo>
                            <a:pt x="0" y="27"/>
                          </a:lnTo>
                          <a:lnTo>
                            <a:pt x="9" y="0"/>
                          </a:lnTo>
                          <a:lnTo>
                            <a:pt x="24"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92" name="Freeform 2239"/>
                    <p:cNvSpPr>
                      <a:spLocks/>
                    </p:cNvSpPr>
                    <p:nvPr/>
                  </p:nvSpPr>
                  <p:spPr bwMode="auto">
                    <a:xfrm>
                      <a:off x="961" y="3678"/>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3"/>
                          </a:lnTo>
                          <a:lnTo>
                            <a:pt x="56" y="12"/>
                          </a:lnTo>
                          <a:lnTo>
                            <a:pt x="74"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93" name="Freeform 2240"/>
                    <p:cNvSpPr>
                      <a:spLocks/>
                    </p:cNvSpPr>
                    <p:nvPr/>
                  </p:nvSpPr>
                  <p:spPr bwMode="auto">
                    <a:xfrm>
                      <a:off x="964" y="3688"/>
                      <a:ext cx="41"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1"/>
                          </a:lnTo>
                          <a:lnTo>
                            <a:pt x="7" y="8"/>
                          </a:lnTo>
                          <a:lnTo>
                            <a:pt x="11" y="0"/>
                          </a:lnTo>
                          <a:lnTo>
                            <a:pt x="68"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79" name="Group 2241"/>
                  <p:cNvGrpSpPr>
                    <a:grpSpLocks/>
                  </p:cNvGrpSpPr>
                  <p:nvPr/>
                </p:nvGrpSpPr>
                <p:grpSpPr bwMode="auto">
                  <a:xfrm>
                    <a:off x="969" y="3690"/>
                    <a:ext cx="49" cy="23"/>
                    <a:chOff x="969" y="3690"/>
                    <a:chExt cx="49" cy="23"/>
                  </a:xfrm>
                </p:grpSpPr>
                <p:sp>
                  <p:nvSpPr>
                    <p:cNvPr id="2688" name="Freeform 2242"/>
                    <p:cNvSpPr>
                      <a:spLocks/>
                    </p:cNvSpPr>
                    <p:nvPr/>
                  </p:nvSpPr>
                  <p:spPr bwMode="auto">
                    <a:xfrm>
                      <a:off x="969" y="369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9"/>
                          </a:lnTo>
                          <a:lnTo>
                            <a:pt x="9" y="0"/>
                          </a:lnTo>
                          <a:lnTo>
                            <a:pt x="25" y="33"/>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89" name="Freeform 2243"/>
                    <p:cNvSpPr>
                      <a:spLocks/>
                    </p:cNvSpPr>
                    <p:nvPr/>
                  </p:nvSpPr>
                  <p:spPr bwMode="auto">
                    <a:xfrm>
                      <a:off x="974" y="3691"/>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9"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90" name="Freeform 2244"/>
                    <p:cNvSpPr>
                      <a:spLocks/>
                    </p:cNvSpPr>
                    <p:nvPr/>
                  </p:nvSpPr>
                  <p:spPr bwMode="auto">
                    <a:xfrm>
                      <a:off x="977" y="370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6" y="7"/>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80" name="Group 2245"/>
                  <p:cNvGrpSpPr>
                    <a:grpSpLocks/>
                  </p:cNvGrpSpPr>
                  <p:nvPr/>
                </p:nvGrpSpPr>
                <p:grpSpPr bwMode="auto">
                  <a:xfrm>
                    <a:off x="982" y="3703"/>
                    <a:ext cx="49" cy="23"/>
                    <a:chOff x="982" y="3703"/>
                    <a:chExt cx="49" cy="23"/>
                  </a:xfrm>
                </p:grpSpPr>
                <p:sp>
                  <p:nvSpPr>
                    <p:cNvPr id="2685" name="Freeform 2246"/>
                    <p:cNvSpPr>
                      <a:spLocks/>
                    </p:cNvSpPr>
                    <p:nvPr/>
                  </p:nvSpPr>
                  <p:spPr bwMode="auto">
                    <a:xfrm>
                      <a:off x="982"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86" name="Freeform 2247"/>
                    <p:cNvSpPr>
                      <a:spLocks/>
                    </p:cNvSpPr>
                    <p:nvPr/>
                  </p:nvSpPr>
                  <p:spPr bwMode="auto">
                    <a:xfrm>
                      <a:off x="987" y="3703"/>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87" name="Freeform 2248"/>
                    <p:cNvSpPr>
                      <a:spLocks/>
                    </p:cNvSpPr>
                    <p:nvPr/>
                  </p:nvSpPr>
                  <p:spPr bwMode="auto">
                    <a:xfrm>
                      <a:off x="989" y="3714"/>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81" name="Group 2249"/>
                  <p:cNvGrpSpPr>
                    <a:grpSpLocks/>
                  </p:cNvGrpSpPr>
                  <p:nvPr/>
                </p:nvGrpSpPr>
                <p:grpSpPr bwMode="auto">
                  <a:xfrm>
                    <a:off x="995" y="3716"/>
                    <a:ext cx="48" cy="23"/>
                    <a:chOff x="995" y="3716"/>
                    <a:chExt cx="48" cy="23"/>
                  </a:xfrm>
                </p:grpSpPr>
                <p:sp>
                  <p:nvSpPr>
                    <p:cNvPr id="2682" name="Freeform 2250"/>
                    <p:cNvSpPr>
                      <a:spLocks/>
                    </p:cNvSpPr>
                    <p:nvPr/>
                  </p:nvSpPr>
                  <p:spPr bwMode="auto">
                    <a:xfrm>
                      <a:off x="995" y="3716"/>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0"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83" name="Freeform 2251"/>
                    <p:cNvSpPr>
                      <a:spLocks/>
                    </p:cNvSpPr>
                    <p:nvPr/>
                  </p:nvSpPr>
                  <p:spPr bwMode="auto">
                    <a:xfrm>
                      <a:off x="999" y="3717"/>
                      <a:ext cx="38"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2" y="3"/>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84" name="Freeform 2252"/>
                    <p:cNvSpPr>
                      <a:spLocks/>
                    </p:cNvSpPr>
                    <p:nvPr/>
                  </p:nvSpPr>
                  <p:spPr bwMode="auto">
                    <a:xfrm>
                      <a:off x="1003" y="3727"/>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5" y="7"/>
                          </a:lnTo>
                          <a:lnTo>
                            <a:pt x="11"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406" name="Group 2253"/>
                <p:cNvGrpSpPr>
                  <a:grpSpLocks/>
                </p:cNvGrpSpPr>
                <p:nvPr/>
              </p:nvGrpSpPr>
              <p:grpSpPr bwMode="auto">
                <a:xfrm>
                  <a:off x="1005" y="3727"/>
                  <a:ext cx="49" cy="23"/>
                  <a:chOff x="1005" y="3727"/>
                  <a:chExt cx="49" cy="23"/>
                </a:xfrm>
              </p:grpSpPr>
              <p:sp>
                <p:nvSpPr>
                  <p:cNvPr id="2674" name="Freeform 2254"/>
                  <p:cNvSpPr>
                    <a:spLocks/>
                  </p:cNvSpPr>
                  <p:nvPr/>
                </p:nvSpPr>
                <p:spPr bwMode="auto">
                  <a:xfrm>
                    <a:off x="1005" y="372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2"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75" name="Freeform 2255"/>
                  <p:cNvSpPr>
                    <a:spLocks/>
                  </p:cNvSpPr>
                  <p:nvPr/>
                </p:nvSpPr>
                <p:spPr bwMode="auto">
                  <a:xfrm>
                    <a:off x="1010"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8" y="0"/>
                        </a:lnTo>
                        <a:lnTo>
                          <a:pt x="51" y="4"/>
                        </a:lnTo>
                        <a:lnTo>
                          <a:pt x="56" y="13"/>
                        </a:lnTo>
                        <a:lnTo>
                          <a:pt x="73" y="31"/>
                        </a:lnTo>
                        <a:lnTo>
                          <a:pt x="18" y="31"/>
                        </a:lnTo>
                        <a:lnTo>
                          <a:pt x="9"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76" name="Freeform 2256"/>
                  <p:cNvSpPr>
                    <a:spLocks/>
                  </p:cNvSpPr>
                  <p:nvPr/>
                </p:nvSpPr>
                <p:spPr bwMode="auto">
                  <a:xfrm>
                    <a:off x="1013"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07" name="Group 2257"/>
                <p:cNvGrpSpPr>
                  <a:grpSpLocks/>
                </p:cNvGrpSpPr>
                <p:nvPr/>
              </p:nvGrpSpPr>
              <p:grpSpPr bwMode="auto">
                <a:xfrm>
                  <a:off x="1018" y="3740"/>
                  <a:ext cx="49" cy="22"/>
                  <a:chOff x="1018" y="3740"/>
                  <a:chExt cx="49" cy="22"/>
                </a:xfrm>
              </p:grpSpPr>
              <p:sp>
                <p:nvSpPr>
                  <p:cNvPr id="2671" name="Freeform 2258"/>
                  <p:cNvSpPr>
                    <a:spLocks/>
                  </p:cNvSpPr>
                  <p:nvPr/>
                </p:nvSpPr>
                <p:spPr bwMode="auto">
                  <a:xfrm>
                    <a:off x="1018" y="374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72" name="Freeform 2259"/>
                  <p:cNvSpPr>
                    <a:spLocks/>
                  </p:cNvSpPr>
                  <p:nvPr/>
                </p:nvSpPr>
                <p:spPr bwMode="auto">
                  <a:xfrm>
                    <a:off x="1022" y="3740"/>
                    <a:ext cx="38"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49" y="0"/>
                        </a:lnTo>
                        <a:lnTo>
                          <a:pt x="51" y="4"/>
                        </a:lnTo>
                        <a:lnTo>
                          <a:pt x="57"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73" name="Freeform 2260"/>
                  <p:cNvSpPr>
                    <a:spLocks/>
                  </p:cNvSpPr>
                  <p:nvPr/>
                </p:nvSpPr>
                <p:spPr bwMode="auto">
                  <a:xfrm>
                    <a:off x="1026" y="3750"/>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08" name="Group 2261"/>
                <p:cNvGrpSpPr>
                  <a:grpSpLocks/>
                </p:cNvGrpSpPr>
                <p:nvPr/>
              </p:nvGrpSpPr>
              <p:grpSpPr bwMode="auto">
                <a:xfrm>
                  <a:off x="1030" y="3753"/>
                  <a:ext cx="49" cy="23"/>
                  <a:chOff x="1030" y="3753"/>
                  <a:chExt cx="49" cy="23"/>
                </a:xfrm>
              </p:grpSpPr>
              <p:sp>
                <p:nvSpPr>
                  <p:cNvPr id="2668" name="Freeform 2262"/>
                  <p:cNvSpPr>
                    <a:spLocks/>
                  </p:cNvSpPr>
                  <p:nvPr/>
                </p:nvSpPr>
                <p:spPr bwMode="auto">
                  <a:xfrm>
                    <a:off x="1030" y="375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2"/>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69" name="Freeform 2263"/>
                  <p:cNvSpPr>
                    <a:spLocks/>
                  </p:cNvSpPr>
                  <p:nvPr/>
                </p:nvSpPr>
                <p:spPr bwMode="auto">
                  <a:xfrm>
                    <a:off x="1035" y="3753"/>
                    <a:ext cx="37" cy="11"/>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1" y="0"/>
                        </a:lnTo>
                        <a:lnTo>
                          <a:pt x="52" y="4"/>
                        </a:lnTo>
                        <a:lnTo>
                          <a:pt x="56"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70" name="Freeform 2264"/>
                  <p:cNvSpPr>
                    <a:spLocks/>
                  </p:cNvSpPr>
                  <p:nvPr/>
                </p:nvSpPr>
                <p:spPr bwMode="auto">
                  <a:xfrm>
                    <a:off x="1039" y="3764"/>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7"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409" name="Freeform 2265"/>
                <p:cNvSpPr>
                  <a:spLocks/>
                </p:cNvSpPr>
                <p:nvPr/>
              </p:nvSpPr>
              <p:spPr bwMode="auto">
                <a:xfrm>
                  <a:off x="778" y="353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3" y="68"/>
                      </a:moveTo>
                      <a:lnTo>
                        <a:pt x="0" y="27"/>
                      </a:lnTo>
                      <a:lnTo>
                        <a:pt x="9" y="0"/>
                      </a:lnTo>
                      <a:lnTo>
                        <a:pt x="24"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10" name="Freeform 2266"/>
                <p:cNvSpPr>
                  <a:spLocks/>
                </p:cNvSpPr>
                <p:nvPr/>
              </p:nvSpPr>
              <p:spPr bwMode="auto">
                <a:xfrm>
                  <a:off x="783" y="3535"/>
                  <a:ext cx="36" cy="11"/>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50" y="0"/>
                      </a:lnTo>
                      <a:lnTo>
                        <a:pt x="51" y="4"/>
                      </a:lnTo>
                      <a:lnTo>
                        <a:pt x="57" y="13"/>
                      </a:lnTo>
                      <a:lnTo>
                        <a:pt x="72" y="31"/>
                      </a:lnTo>
                      <a:lnTo>
                        <a:pt x="18" y="31"/>
                      </a:lnTo>
                      <a:lnTo>
                        <a:pt x="9" y="22"/>
                      </a:lnTo>
                      <a:lnTo>
                        <a:pt x="0" y="7"/>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11" name="Freeform 2267"/>
                <p:cNvSpPr>
                  <a:spLocks/>
                </p:cNvSpPr>
                <p:nvPr/>
              </p:nvSpPr>
              <p:spPr bwMode="auto">
                <a:xfrm>
                  <a:off x="786" y="3546"/>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1"/>
                      </a:lnTo>
                      <a:lnTo>
                        <a:pt x="7" y="8"/>
                      </a:lnTo>
                      <a:lnTo>
                        <a:pt x="12"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412" name="Group 2268"/>
                <p:cNvGrpSpPr>
                  <a:grpSpLocks/>
                </p:cNvGrpSpPr>
                <p:nvPr/>
              </p:nvGrpSpPr>
              <p:grpSpPr bwMode="auto">
                <a:xfrm>
                  <a:off x="790" y="3547"/>
                  <a:ext cx="49" cy="23"/>
                  <a:chOff x="790" y="3547"/>
                  <a:chExt cx="49" cy="23"/>
                </a:xfrm>
              </p:grpSpPr>
              <p:sp>
                <p:nvSpPr>
                  <p:cNvPr id="2665" name="Freeform 2269"/>
                  <p:cNvSpPr>
                    <a:spLocks/>
                  </p:cNvSpPr>
                  <p:nvPr/>
                </p:nvSpPr>
                <p:spPr bwMode="auto">
                  <a:xfrm>
                    <a:off x="790" y="3547"/>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66" name="Freeform 2270"/>
                  <p:cNvSpPr>
                    <a:spLocks/>
                  </p:cNvSpPr>
                  <p:nvPr/>
                </p:nvSpPr>
                <p:spPr bwMode="auto">
                  <a:xfrm>
                    <a:off x="795" y="3548"/>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67" name="Freeform 2271"/>
                  <p:cNvSpPr>
                    <a:spLocks/>
                  </p:cNvSpPr>
                  <p:nvPr/>
                </p:nvSpPr>
                <p:spPr bwMode="auto">
                  <a:xfrm>
                    <a:off x="798" y="355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13" name="Group 2272"/>
                <p:cNvGrpSpPr>
                  <a:grpSpLocks/>
                </p:cNvGrpSpPr>
                <p:nvPr/>
              </p:nvGrpSpPr>
              <p:grpSpPr bwMode="auto">
                <a:xfrm>
                  <a:off x="803" y="3560"/>
                  <a:ext cx="49" cy="22"/>
                  <a:chOff x="803" y="3560"/>
                  <a:chExt cx="49" cy="22"/>
                </a:xfrm>
              </p:grpSpPr>
              <p:sp>
                <p:nvSpPr>
                  <p:cNvPr id="2662" name="Freeform 2273"/>
                  <p:cNvSpPr>
                    <a:spLocks/>
                  </p:cNvSpPr>
                  <p:nvPr/>
                </p:nvSpPr>
                <p:spPr bwMode="auto">
                  <a:xfrm>
                    <a:off x="803" y="3560"/>
                    <a:ext cx="12" cy="22"/>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63" name="Freeform 2274"/>
                  <p:cNvSpPr>
                    <a:spLocks/>
                  </p:cNvSpPr>
                  <p:nvPr/>
                </p:nvSpPr>
                <p:spPr bwMode="auto">
                  <a:xfrm>
                    <a:off x="808" y="356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64" name="Freeform 2275"/>
                  <p:cNvSpPr>
                    <a:spLocks/>
                  </p:cNvSpPr>
                  <p:nvPr/>
                </p:nvSpPr>
                <p:spPr bwMode="auto">
                  <a:xfrm>
                    <a:off x="811" y="3571"/>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2"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14" name="Group 2276"/>
                <p:cNvGrpSpPr>
                  <a:grpSpLocks/>
                </p:cNvGrpSpPr>
                <p:nvPr/>
              </p:nvGrpSpPr>
              <p:grpSpPr bwMode="auto">
                <a:xfrm>
                  <a:off x="815" y="3572"/>
                  <a:ext cx="50" cy="23"/>
                  <a:chOff x="815" y="3572"/>
                  <a:chExt cx="50" cy="23"/>
                </a:xfrm>
              </p:grpSpPr>
              <p:sp>
                <p:nvSpPr>
                  <p:cNvPr id="2659" name="Freeform 2277"/>
                  <p:cNvSpPr>
                    <a:spLocks/>
                  </p:cNvSpPr>
                  <p:nvPr/>
                </p:nvSpPr>
                <p:spPr bwMode="auto">
                  <a:xfrm>
                    <a:off x="815" y="3572"/>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0"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60" name="Freeform 2278"/>
                  <p:cNvSpPr>
                    <a:spLocks/>
                  </p:cNvSpPr>
                  <p:nvPr/>
                </p:nvSpPr>
                <p:spPr bwMode="auto">
                  <a:xfrm>
                    <a:off x="820" y="3573"/>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61" name="Freeform 2279"/>
                  <p:cNvSpPr>
                    <a:spLocks/>
                  </p:cNvSpPr>
                  <p:nvPr/>
                </p:nvSpPr>
                <p:spPr bwMode="auto">
                  <a:xfrm>
                    <a:off x="824" y="3583"/>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6" y="7"/>
                        </a:lnTo>
                        <a:lnTo>
                          <a:pt x="10"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15" name="Group 2280"/>
                <p:cNvGrpSpPr>
                  <a:grpSpLocks/>
                </p:cNvGrpSpPr>
                <p:nvPr/>
              </p:nvGrpSpPr>
              <p:grpSpPr bwMode="auto">
                <a:xfrm>
                  <a:off x="828" y="3585"/>
                  <a:ext cx="49" cy="23"/>
                  <a:chOff x="828" y="3585"/>
                  <a:chExt cx="49" cy="23"/>
                </a:xfrm>
              </p:grpSpPr>
              <p:sp>
                <p:nvSpPr>
                  <p:cNvPr id="2656" name="Freeform 2281"/>
                  <p:cNvSpPr>
                    <a:spLocks/>
                  </p:cNvSpPr>
                  <p:nvPr/>
                </p:nvSpPr>
                <p:spPr bwMode="auto">
                  <a:xfrm>
                    <a:off x="828" y="358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9"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57" name="Freeform 2282"/>
                  <p:cNvSpPr>
                    <a:spLocks/>
                  </p:cNvSpPr>
                  <p:nvPr/>
                </p:nvSpPr>
                <p:spPr bwMode="auto">
                  <a:xfrm>
                    <a:off x="833" y="358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58" name="Freeform 2283"/>
                  <p:cNvSpPr>
                    <a:spLocks/>
                  </p:cNvSpPr>
                  <p:nvPr/>
                </p:nvSpPr>
                <p:spPr bwMode="auto">
                  <a:xfrm>
                    <a:off x="837"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5"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16" name="Group 2284"/>
                <p:cNvGrpSpPr>
                  <a:grpSpLocks/>
                </p:cNvGrpSpPr>
                <p:nvPr/>
              </p:nvGrpSpPr>
              <p:grpSpPr bwMode="auto">
                <a:xfrm>
                  <a:off x="840" y="3600"/>
                  <a:ext cx="100" cy="73"/>
                  <a:chOff x="840" y="3600"/>
                  <a:chExt cx="100" cy="73"/>
                </a:xfrm>
              </p:grpSpPr>
              <p:grpSp>
                <p:nvGrpSpPr>
                  <p:cNvPr id="2636" name="Group 2285"/>
                  <p:cNvGrpSpPr>
                    <a:grpSpLocks/>
                  </p:cNvGrpSpPr>
                  <p:nvPr/>
                </p:nvGrpSpPr>
                <p:grpSpPr bwMode="auto">
                  <a:xfrm>
                    <a:off x="840" y="3600"/>
                    <a:ext cx="49" cy="23"/>
                    <a:chOff x="840" y="3600"/>
                    <a:chExt cx="49" cy="23"/>
                  </a:xfrm>
                </p:grpSpPr>
                <p:sp>
                  <p:nvSpPr>
                    <p:cNvPr id="2653" name="Freeform 2286"/>
                    <p:cNvSpPr>
                      <a:spLocks/>
                    </p:cNvSpPr>
                    <p:nvPr/>
                  </p:nvSpPr>
                  <p:spPr bwMode="auto">
                    <a:xfrm>
                      <a:off x="840" y="360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7"/>
                          </a:lnTo>
                          <a:lnTo>
                            <a:pt x="10" y="0"/>
                          </a:lnTo>
                          <a:lnTo>
                            <a:pt x="25" y="31"/>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54" name="Freeform 2287"/>
                    <p:cNvSpPr>
                      <a:spLocks/>
                    </p:cNvSpPr>
                    <p:nvPr/>
                  </p:nvSpPr>
                  <p:spPr bwMode="auto">
                    <a:xfrm>
                      <a:off x="845" y="3600"/>
                      <a:ext cx="37" cy="11"/>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55" name="Freeform 2288"/>
                    <p:cNvSpPr>
                      <a:spLocks/>
                    </p:cNvSpPr>
                    <p:nvPr/>
                  </p:nvSpPr>
                  <p:spPr bwMode="auto">
                    <a:xfrm>
                      <a:off x="848" y="3611"/>
                      <a:ext cx="41" cy="12"/>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8"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37" name="Group 2289"/>
                  <p:cNvGrpSpPr>
                    <a:grpSpLocks/>
                  </p:cNvGrpSpPr>
                  <p:nvPr/>
                </p:nvGrpSpPr>
                <p:grpSpPr bwMode="auto">
                  <a:xfrm>
                    <a:off x="853" y="3612"/>
                    <a:ext cx="48" cy="23"/>
                    <a:chOff x="853" y="3612"/>
                    <a:chExt cx="48" cy="23"/>
                  </a:xfrm>
                </p:grpSpPr>
                <p:sp>
                  <p:nvSpPr>
                    <p:cNvPr id="2650" name="Freeform 2290"/>
                    <p:cNvSpPr>
                      <a:spLocks/>
                    </p:cNvSpPr>
                    <p:nvPr/>
                  </p:nvSpPr>
                  <p:spPr bwMode="auto">
                    <a:xfrm>
                      <a:off x="853"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10"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51" name="Freeform 2291"/>
                    <p:cNvSpPr>
                      <a:spLocks/>
                    </p:cNvSpPr>
                    <p:nvPr/>
                  </p:nvSpPr>
                  <p:spPr bwMode="auto">
                    <a:xfrm>
                      <a:off x="857" y="3613"/>
                      <a:ext cx="37" cy="10"/>
                    </a:xfrm>
                    <a:custGeom>
                      <a:avLst/>
                      <a:gdLst>
                        <a:gd name="T0" fmla="*/ 1 w 73"/>
                        <a:gd name="T1" fmla="*/ 0 h 32"/>
                        <a:gd name="T2" fmla="*/ 1 w 73"/>
                        <a:gd name="T3" fmla="*/ 0 h 32"/>
                        <a:gd name="T4" fmla="*/ 1 w 73"/>
                        <a:gd name="T5" fmla="*/ 0 h 32"/>
                        <a:gd name="T6" fmla="*/ 1 w 73"/>
                        <a:gd name="T7" fmla="*/ 0 h 32"/>
                        <a:gd name="T8" fmla="*/ 1 w 73"/>
                        <a:gd name="T9" fmla="*/ 0 h 32"/>
                        <a:gd name="T10" fmla="*/ 1 w 73"/>
                        <a:gd name="T11" fmla="*/ 0 h 32"/>
                        <a:gd name="T12" fmla="*/ 1 w 73"/>
                        <a:gd name="T13" fmla="*/ 0 h 32"/>
                        <a:gd name="T14" fmla="*/ 0 w 73"/>
                        <a:gd name="T15" fmla="*/ 0 h 32"/>
                        <a:gd name="T16" fmla="*/ 1 w 73"/>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2"/>
                        <a:gd name="T29" fmla="*/ 73 w 73"/>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2">
                          <a:moveTo>
                            <a:pt x="1" y="0"/>
                          </a:moveTo>
                          <a:lnTo>
                            <a:pt x="50" y="0"/>
                          </a:lnTo>
                          <a:lnTo>
                            <a:pt x="51" y="3"/>
                          </a:lnTo>
                          <a:lnTo>
                            <a:pt x="56" y="15"/>
                          </a:lnTo>
                          <a:lnTo>
                            <a:pt x="73" y="32"/>
                          </a:lnTo>
                          <a:lnTo>
                            <a:pt x="18" y="32"/>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52" name="Freeform 2292"/>
                    <p:cNvSpPr>
                      <a:spLocks/>
                    </p:cNvSpPr>
                    <p:nvPr/>
                  </p:nvSpPr>
                  <p:spPr bwMode="auto">
                    <a:xfrm>
                      <a:off x="860" y="362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38" name="Group 2293"/>
                  <p:cNvGrpSpPr>
                    <a:grpSpLocks/>
                  </p:cNvGrpSpPr>
                  <p:nvPr/>
                </p:nvGrpSpPr>
                <p:grpSpPr bwMode="auto">
                  <a:xfrm>
                    <a:off x="865" y="3625"/>
                    <a:ext cx="49" cy="23"/>
                    <a:chOff x="865" y="3625"/>
                    <a:chExt cx="49" cy="23"/>
                  </a:xfrm>
                </p:grpSpPr>
                <p:sp>
                  <p:nvSpPr>
                    <p:cNvPr id="2647" name="Freeform 2294"/>
                    <p:cNvSpPr>
                      <a:spLocks/>
                    </p:cNvSpPr>
                    <p:nvPr/>
                  </p:nvSpPr>
                  <p:spPr bwMode="auto">
                    <a:xfrm>
                      <a:off x="865" y="362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48" name="Freeform 2295"/>
                    <p:cNvSpPr>
                      <a:spLocks/>
                    </p:cNvSpPr>
                    <p:nvPr/>
                  </p:nvSpPr>
                  <p:spPr bwMode="auto">
                    <a:xfrm>
                      <a:off x="870"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2"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49" name="Freeform 2296"/>
                    <p:cNvSpPr>
                      <a:spLocks/>
                    </p:cNvSpPr>
                    <p:nvPr/>
                  </p:nvSpPr>
                  <p:spPr bwMode="auto">
                    <a:xfrm>
                      <a:off x="873" y="363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39" name="Group 2297"/>
                  <p:cNvGrpSpPr>
                    <a:grpSpLocks/>
                  </p:cNvGrpSpPr>
                  <p:nvPr/>
                </p:nvGrpSpPr>
                <p:grpSpPr bwMode="auto">
                  <a:xfrm>
                    <a:off x="878" y="3638"/>
                    <a:ext cx="49" cy="22"/>
                    <a:chOff x="878" y="3638"/>
                    <a:chExt cx="49" cy="22"/>
                  </a:xfrm>
                </p:grpSpPr>
                <p:sp>
                  <p:nvSpPr>
                    <p:cNvPr id="2644" name="Freeform 2298"/>
                    <p:cNvSpPr>
                      <a:spLocks/>
                    </p:cNvSpPr>
                    <p:nvPr/>
                  </p:nvSpPr>
                  <p:spPr bwMode="auto">
                    <a:xfrm>
                      <a:off x="878"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45" name="Freeform 2299"/>
                    <p:cNvSpPr>
                      <a:spLocks/>
                    </p:cNvSpPr>
                    <p:nvPr/>
                  </p:nvSpPr>
                  <p:spPr bwMode="auto">
                    <a:xfrm>
                      <a:off x="883"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6" y="12"/>
                          </a:lnTo>
                          <a:lnTo>
                            <a:pt x="72"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46" name="Freeform 2300"/>
                    <p:cNvSpPr>
                      <a:spLocks/>
                    </p:cNvSpPr>
                    <p:nvPr/>
                  </p:nvSpPr>
                  <p:spPr bwMode="auto">
                    <a:xfrm>
                      <a:off x="886" y="364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40" name="Group 2301"/>
                  <p:cNvGrpSpPr>
                    <a:grpSpLocks/>
                  </p:cNvGrpSpPr>
                  <p:nvPr/>
                </p:nvGrpSpPr>
                <p:grpSpPr bwMode="auto">
                  <a:xfrm>
                    <a:off x="890" y="3651"/>
                    <a:ext cx="50" cy="22"/>
                    <a:chOff x="890" y="3651"/>
                    <a:chExt cx="50" cy="22"/>
                  </a:xfrm>
                </p:grpSpPr>
                <p:sp>
                  <p:nvSpPr>
                    <p:cNvPr id="2641" name="Freeform 2302"/>
                    <p:cNvSpPr>
                      <a:spLocks/>
                    </p:cNvSpPr>
                    <p:nvPr/>
                  </p:nvSpPr>
                  <p:spPr bwMode="auto">
                    <a:xfrm>
                      <a:off x="890" y="3651"/>
                      <a:ext cx="13" cy="22"/>
                    </a:xfrm>
                    <a:custGeom>
                      <a:avLst/>
                      <a:gdLst>
                        <a:gd name="T0" fmla="*/ 1 w 25"/>
                        <a:gd name="T1" fmla="*/ 0 h 67"/>
                        <a:gd name="T2" fmla="*/ 0 w 25"/>
                        <a:gd name="T3" fmla="*/ 0 h 67"/>
                        <a:gd name="T4" fmla="*/ 1 w 25"/>
                        <a:gd name="T5" fmla="*/ 0 h 67"/>
                        <a:gd name="T6" fmla="*/ 1 w 25"/>
                        <a:gd name="T7" fmla="*/ 0 h 67"/>
                        <a:gd name="T8" fmla="*/ 1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6" y="67"/>
                          </a:moveTo>
                          <a:lnTo>
                            <a:pt x="0" y="26"/>
                          </a:lnTo>
                          <a:lnTo>
                            <a:pt x="12" y="0"/>
                          </a:lnTo>
                          <a:lnTo>
                            <a:pt x="25" y="30"/>
                          </a:lnTo>
                          <a:lnTo>
                            <a:pt x="16"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42" name="Freeform 2303"/>
                    <p:cNvSpPr>
                      <a:spLocks/>
                    </p:cNvSpPr>
                    <p:nvPr/>
                  </p:nvSpPr>
                  <p:spPr bwMode="auto">
                    <a:xfrm>
                      <a:off x="895" y="3651"/>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8" y="0"/>
                          </a:lnTo>
                          <a:lnTo>
                            <a:pt x="51" y="2"/>
                          </a:lnTo>
                          <a:lnTo>
                            <a:pt x="56" y="11"/>
                          </a:lnTo>
                          <a:lnTo>
                            <a:pt x="73" y="29"/>
                          </a:lnTo>
                          <a:lnTo>
                            <a:pt x="18"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43" name="Freeform 2304"/>
                    <p:cNvSpPr>
                      <a:spLocks/>
                    </p:cNvSpPr>
                    <p:nvPr/>
                  </p:nvSpPr>
                  <p:spPr bwMode="auto">
                    <a:xfrm>
                      <a:off x="899" y="3662"/>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417" name="Group 2305"/>
                <p:cNvGrpSpPr>
                  <a:grpSpLocks/>
                </p:cNvGrpSpPr>
                <p:nvPr/>
              </p:nvGrpSpPr>
              <p:grpSpPr bwMode="auto">
                <a:xfrm>
                  <a:off x="903" y="3665"/>
                  <a:ext cx="99" cy="74"/>
                  <a:chOff x="903" y="3665"/>
                  <a:chExt cx="99" cy="74"/>
                </a:xfrm>
              </p:grpSpPr>
              <p:grpSp>
                <p:nvGrpSpPr>
                  <p:cNvPr id="2616" name="Group 2306"/>
                  <p:cNvGrpSpPr>
                    <a:grpSpLocks/>
                  </p:cNvGrpSpPr>
                  <p:nvPr/>
                </p:nvGrpSpPr>
                <p:grpSpPr bwMode="auto">
                  <a:xfrm>
                    <a:off x="903" y="3665"/>
                    <a:ext cx="49" cy="23"/>
                    <a:chOff x="903" y="3665"/>
                    <a:chExt cx="49" cy="23"/>
                  </a:xfrm>
                </p:grpSpPr>
                <p:sp>
                  <p:nvSpPr>
                    <p:cNvPr id="2633" name="Freeform 2307"/>
                    <p:cNvSpPr>
                      <a:spLocks/>
                    </p:cNvSpPr>
                    <p:nvPr/>
                  </p:nvSpPr>
                  <p:spPr bwMode="auto">
                    <a:xfrm>
                      <a:off x="903"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0"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34" name="Freeform 2308"/>
                    <p:cNvSpPr>
                      <a:spLocks/>
                    </p:cNvSpPr>
                    <p:nvPr/>
                  </p:nvSpPr>
                  <p:spPr bwMode="auto">
                    <a:xfrm>
                      <a:off x="907" y="3666"/>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9" y="0"/>
                          </a:lnTo>
                          <a:lnTo>
                            <a:pt x="51" y="4"/>
                          </a:lnTo>
                          <a:lnTo>
                            <a:pt x="56" y="13"/>
                          </a:lnTo>
                          <a:lnTo>
                            <a:pt x="73"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35" name="Freeform 2309"/>
                    <p:cNvSpPr>
                      <a:spLocks/>
                    </p:cNvSpPr>
                    <p:nvPr/>
                  </p:nvSpPr>
                  <p:spPr bwMode="auto">
                    <a:xfrm>
                      <a:off x="911" y="367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17" name="Group 2310"/>
                  <p:cNvGrpSpPr>
                    <a:grpSpLocks/>
                  </p:cNvGrpSpPr>
                  <p:nvPr/>
                </p:nvGrpSpPr>
                <p:grpSpPr bwMode="auto">
                  <a:xfrm>
                    <a:off x="914" y="3678"/>
                    <a:ext cx="49" cy="23"/>
                    <a:chOff x="914" y="3678"/>
                    <a:chExt cx="49" cy="23"/>
                  </a:xfrm>
                </p:grpSpPr>
                <p:sp>
                  <p:nvSpPr>
                    <p:cNvPr id="2630" name="Freeform 2311"/>
                    <p:cNvSpPr>
                      <a:spLocks/>
                    </p:cNvSpPr>
                    <p:nvPr/>
                  </p:nvSpPr>
                  <p:spPr bwMode="auto">
                    <a:xfrm>
                      <a:off x="914"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31" name="Freeform 2312"/>
                    <p:cNvSpPr>
                      <a:spLocks/>
                    </p:cNvSpPr>
                    <p:nvPr/>
                  </p:nvSpPr>
                  <p:spPr bwMode="auto">
                    <a:xfrm>
                      <a:off x="919" y="3678"/>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7" y="12"/>
                          </a:lnTo>
                          <a:lnTo>
                            <a:pt x="75" y="30"/>
                          </a:lnTo>
                          <a:lnTo>
                            <a:pt x="19" y="30"/>
                          </a:lnTo>
                          <a:lnTo>
                            <a:pt x="11"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32" name="Freeform 2313"/>
                    <p:cNvSpPr>
                      <a:spLocks/>
                    </p:cNvSpPr>
                    <p:nvPr/>
                  </p:nvSpPr>
                  <p:spPr bwMode="auto">
                    <a:xfrm>
                      <a:off x="922" y="3688"/>
                      <a:ext cx="41" cy="13"/>
                    </a:xfrm>
                    <a:custGeom>
                      <a:avLst/>
                      <a:gdLst>
                        <a:gd name="T0" fmla="*/ 0 w 81"/>
                        <a:gd name="T1" fmla="*/ 0 h 38"/>
                        <a:gd name="T2" fmla="*/ 1 w 81"/>
                        <a:gd name="T3" fmla="*/ 0 h 38"/>
                        <a:gd name="T4" fmla="*/ 1 w 81"/>
                        <a:gd name="T5" fmla="*/ 0 h 38"/>
                        <a:gd name="T6" fmla="*/ 1 w 81"/>
                        <a:gd name="T7" fmla="*/ 0 h 38"/>
                        <a:gd name="T8" fmla="*/ 1 w 81"/>
                        <a:gd name="T9" fmla="*/ 0 h 38"/>
                        <a:gd name="T10" fmla="*/ 1 w 81"/>
                        <a:gd name="T11" fmla="*/ 0 h 38"/>
                        <a:gd name="T12" fmla="*/ 0 w 81"/>
                        <a:gd name="T13" fmla="*/ 0 h 38"/>
                        <a:gd name="T14" fmla="*/ 0 60000 65536"/>
                        <a:gd name="T15" fmla="*/ 0 60000 65536"/>
                        <a:gd name="T16" fmla="*/ 0 60000 65536"/>
                        <a:gd name="T17" fmla="*/ 0 60000 65536"/>
                        <a:gd name="T18" fmla="*/ 0 60000 65536"/>
                        <a:gd name="T19" fmla="*/ 0 60000 65536"/>
                        <a:gd name="T20" fmla="*/ 0 60000 65536"/>
                        <a:gd name="T21" fmla="*/ 0 w 81"/>
                        <a:gd name="T22" fmla="*/ 0 h 38"/>
                        <a:gd name="T23" fmla="*/ 81 w 81"/>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8">
                          <a:moveTo>
                            <a:pt x="0" y="38"/>
                          </a:moveTo>
                          <a:lnTo>
                            <a:pt x="2" y="21"/>
                          </a:lnTo>
                          <a:lnTo>
                            <a:pt x="8" y="8"/>
                          </a:lnTo>
                          <a:lnTo>
                            <a:pt x="12" y="0"/>
                          </a:lnTo>
                          <a:lnTo>
                            <a:pt x="68" y="0"/>
                          </a:lnTo>
                          <a:lnTo>
                            <a:pt x="81"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18" name="Group 2314"/>
                  <p:cNvGrpSpPr>
                    <a:grpSpLocks/>
                  </p:cNvGrpSpPr>
                  <p:nvPr/>
                </p:nvGrpSpPr>
                <p:grpSpPr bwMode="auto">
                  <a:xfrm>
                    <a:off x="928" y="3690"/>
                    <a:ext cx="48" cy="23"/>
                    <a:chOff x="928" y="3690"/>
                    <a:chExt cx="48" cy="23"/>
                  </a:xfrm>
                </p:grpSpPr>
                <p:sp>
                  <p:nvSpPr>
                    <p:cNvPr id="2627" name="Freeform 2315"/>
                    <p:cNvSpPr>
                      <a:spLocks/>
                    </p:cNvSpPr>
                    <p:nvPr/>
                  </p:nvSpPr>
                  <p:spPr bwMode="auto">
                    <a:xfrm>
                      <a:off x="928" y="369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9"/>
                          </a:lnTo>
                          <a:lnTo>
                            <a:pt x="9" y="0"/>
                          </a:lnTo>
                          <a:lnTo>
                            <a:pt x="25" y="33"/>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28" name="Freeform 2316"/>
                    <p:cNvSpPr>
                      <a:spLocks/>
                    </p:cNvSpPr>
                    <p:nvPr/>
                  </p:nvSpPr>
                  <p:spPr bwMode="auto">
                    <a:xfrm>
                      <a:off x="932"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29" name="Freeform 2317"/>
                    <p:cNvSpPr>
                      <a:spLocks/>
                    </p:cNvSpPr>
                    <p:nvPr/>
                  </p:nvSpPr>
                  <p:spPr bwMode="auto">
                    <a:xfrm>
                      <a:off x="935" y="3701"/>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8" y="7"/>
                          </a:lnTo>
                          <a:lnTo>
                            <a:pt x="13"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19" name="Group 2318"/>
                  <p:cNvGrpSpPr>
                    <a:grpSpLocks/>
                  </p:cNvGrpSpPr>
                  <p:nvPr/>
                </p:nvGrpSpPr>
                <p:grpSpPr bwMode="auto">
                  <a:xfrm>
                    <a:off x="940" y="3703"/>
                    <a:ext cx="49" cy="23"/>
                    <a:chOff x="940" y="3703"/>
                    <a:chExt cx="49" cy="23"/>
                  </a:xfrm>
                </p:grpSpPr>
                <p:sp>
                  <p:nvSpPr>
                    <p:cNvPr id="2624" name="Freeform 2319"/>
                    <p:cNvSpPr>
                      <a:spLocks/>
                    </p:cNvSpPr>
                    <p:nvPr/>
                  </p:nvSpPr>
                  <p:spPr bwMode="auto">
                    <a:xfrm>
                      <a:off x="940"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25" name="Freeform 2320"/>
                    <p:cNvSpPr>
                      <a:spLocks/>
                    </p:cNvSpPr>
                    <p:nvPr/>
                  </p:nvSpPr>
                  <p:spPr bwMode="auto">
                    <a:xfrm>
                      <a:off x="945" y="3703"/>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2" y="0"/>
                          </a:lnTo>
                          <a:lnTo>
                            <a:pt x="53" y="3"/>
                          </a:lnTo>
                          <a:lnTo>
                            <a:pt x="57" y="12"/>
                          </a:lnTo>
                          <a:lnTo>
                            <a:pt x="75"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26" name="Freeform 2321"/>
                    <p:cNvSpPr>
                      <a:spLocks/>
                    </p:cNvSpPr>
                    <p:nvPr/>
                  </p:nvSpPr>
                  <p:spPr bwMode="auto">
                    <a:xfrm>
                      <a:off x="948" y="3714"/>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20" name="Group 2322"/>
                  <p:cNvGrpSpPr>
                    <a:grpSpLocks/>
                  </p:cNvGrpSpPr>
                  <p:nvPr/>
                </p:nvGrpSpPr>
                <p:grpSpPr bwMode="auto">
                  <a:xfrm>
                    <a:off x="953" y="3716"/>
                    <a:ext cx="49" cy="23"/>
                    <a:chOff x="953" y="3716"/>
                    <a:chExt cx="49" cy="23"/>
                  </a:xfrm>
                </p:grpSpPr>
                <p:sp>
                  <p:nvSpPr>
                    <p:cNvPr id="2621" name="Freeform 2323"/>
                    <p:cNvSpPr>
                      <a:spLocks/>
                    </p:cNvSpPr>
                    <p:nvPr/>
                  </p:nvSpPr>
                  <p:spPr bwMode="auto">
                    <a:xfrm>
                      <a:off x="953" y="3716"/>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22" name="Freeform 2324"/>
                    <p:cNvSpPr>
                      <a:spLocks/>
                    </p:cNvSpPr>
                    <p:nvPr/>
                  </p:nvSpPr>
                  <p:spPr bwMode="auto">
                    <a:xfrm>
                      <a:off x="958" y="3717"/>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3"/>
                          </a:lnTo>
                          <a:lnTo>
                            <a:pt x="56" y="11"/>
                          </a:lnTo>
                          <a:lnTo>
                            <a:pt x="75"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23" name="Freeform 2325"/>
                    <p:cNvSpPr>
                      <a:spLocks/>
                    </p:cNvSpPr>
                    <p:nvPr/>
                  </p:nvSpPr>
                  <p:spPr bwMode="auto">
                    <a:xfrm>
                      <a:off x="961" y="372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418" name="Group 2326"/>
                <p:cNvGrpSpPr>
                  <a:grpSpLocks/>
                </p:cNvGrpSpPr>
                <p:nvPr/>
              </p:nvGrpSpPr>
              <p:grpSpPr bwMode="auto">
                <a:xfrm>
                  <a:off x="963" y="3727"/>
                  <a:ext cx="49" cy="23"/>
                  <a:chOff x="963" y="3727"/>
                  <a:chExt cx="49" cy="23"/>
                </a:xfrm>
              </p:grpSpPr>
              <p:sp>
                <p:nvSpPr>
                  <p:cNvPr id="2613" name="Freeform 2327"/>
                  <p:cNvSpPr>
                    <a:spLocks/>
                  </p:cNvSpPr>
                  <p:nvPr/>
                </p:nvSpPr>
                <p:spPr bwMode="auto">
                  <a:xfrm>
                    <a:off x="963" y="372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14" name="Freeform 2328"/>
                  <p:cNvSpPr>
                    <a:spLocks/>
                  </p:cNvSpPr>
                  <p:nvPr/>
                </p:nvSpPr>
                <p:spPr bwMode="auto">
                  <a:xfrm>
                    <a:off x="968"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8" y="0"/>
                        </a:lnTo>
                        <a:lnTo>
                          <a:pt x="50"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15" name="Freeform 2329"/>
                  <p:cNvSpPr>
                    <a:spLocks/>
                  </p:cNvSpPr>
                  <p:nvPr/>
                </p:nvSpPr>
                <p:spPr bwMode="auto">
                  <a:xfrm>
                    <a:off x="972" y="373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19" name="Group 2330"/>
                <p:cNvGrpSpPr>
                  <a:grpSpLocks/>
                </p:cNvGrpSpPr>
                <p:nvPr/>
              </p:nvGrpSpPr>
              <p:grpSpPr bwMode="auto">
                <a:xfrm>
                  <a:off x="976" y="3740"/>
                  <a:ext cx="50" cy="22"/>
                  <a:chOff x="976" y="3740"/>
                  <a:chExt cx="50" cy="22"/>
                </a:xfrm>
              </p:grpSpPr>
              <p:sp>
                <p:nvSpPr>
                  <p:cNvPr id="2610" name="Freeform 2331"/>
                  <p:cNvSpPr>
                    <a:spLocks/>
                  </p:cNvSpPr>
                  <p:nvPr/>
                </p:nvSpPr>
                <p:spPr bwMode="auto">
                  <a:xfrm>
                    <a:off x="976" y="3740"/>
                    <a:ext cx="12" cy="22"/>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10" y="0"/>
                        </a:lnTo>
                        <a:lnTo>
                          <a:pt x="23"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11" name="Freeform 2332"/>
                  <p:cNvSpPr>
                    <a:spLocks/>
                  </p:cNvSpPr>
                  <p:nvPr/>
                </p:nvSpPr>
                <p:spPr bwMode="auto">
                  <a:xfrm>
                    <a:off x="980" y="374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4" y="0"/>
                        </a:moveTo>
                        <a:lnTo>
                          <a:pt x="52" y="0"/>
                        </a:lnTo>
                        <a:lnTo>
                          <a:pt x="53" y="4"/>
                        </a:lnTo>
                        <a:lnTo>
                          <a:pt x="60" y="13"/>
                        </a:lnTo>
                        <a:lnTo>
                          <a:pt x="75" y="31"/>
                        </a:lnTo>
                        <a:lnTo>
                          <a:pt x="19" y="31"/>
                        </a:lnTo>
                        <a:lnTo>
                          <a:pt x="12" y="22"/>
                        </a:lnTo>
                        <a:lnTo>
                          <a:pt x="0" y="7"/>
                        </a:lnTo>
                        <a:lnTo>
                          <a:pt x="4"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12" name="Freeform 2333"/>
                  <p:cNvSpPr>
                    <a:spLocks/>
                  </p:cNvSpPr>
                  <p:nvPr/>
                </p:nvSpPr>
                <p:spPr bwMode="auto">
                  <a:xfrm>
                    <a:off x="984" y="375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1"/>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20" name="Group 2334"/>
                <p:cNvGrpSpPr>
                  <a:grpSpLocks/>
                </p:cNvGrpSpPr>
                <p:nvPr/>
              </p:nvGrpSpPr>
              <p:grpSpPr bwMode="auto">
                <a:xfrm>
                  <a:off x="761" y="3560"/>
                  <a:ext cx="50" cy="22"/>
                  <a:chOff x="761" y="3560"/>
                  <a:chExt cx="50" cy="22"/>
                </a:xfrm>
              </p:grpSpPr>
              <p:sp>
                <p:nvSpPr>
                  <p:cNvPr id="2607" name="Freeform 2335"/>
                  <p:cNvSpPr>
                    <a:spLocks/>
                  </p:cNvSpPr>
                  <p:nvPr/>
                </p:nvSpPr>
                <p:spPr bwMode="auto">
                  <a:xfrm>
                    <a:off x="761" y="356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08" name="Freeform 2336"/>
                  <p:cNvSpPr>
                    <a:spLocks/>
                  </p:cNvSpPr>
                  <p:nvPr/>
                </p:nvSpPr>
                <p:spPr bwMode="auto">
                  <a:xfrm>
                    <a:off x="767" y="3560"/>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9" y="0"/>
                        </a:lnTo>
                        <a:lnTo>
                          <a:pt x="50" y="2"/>
                        </a:lnTo>
                        <a:lnTo>
                          <a:pt x="55" y="11"/>
                        </a:lnTo>
                        <a:lnTo>
                          <a:pt x="73" y="29"/>
                        </a:lnTo>
                        <a:lnTo>
                          <a:pt x="17" y="29"/>
                        </a:lnTo>
                        <a:lnTo>
                          <a:pt x="8"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09" name="Freeform 2337"/>
                  <p:cNvSpPr>
                    <a:spLocks/>
                  </p:cNvSpPr>
                  <p:nvPr/>
                </p:nvSpPr>
                <p:spPr bwMode="auto">
                  <a:xfrm>
                    <a:off x="769" y="3571"/>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8"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21" name="Group 2338"/>
                <p:cNvGrpSpPr>
                  <a:grpSpLocks/>
                </p:cNvGrpSpPr>
                <p:nvPr/>
              </p:nvGrpSpPr>
              <p:grpSpPr bwMode="auto">
                <a:xfrm>
                  <a:off x="774" y="3572"/>
                  <a:ext cx="49" cy="23"/>
                  <a:chOff x="774" y="3572"/>
                  <a:chExt cx="49" cy="23"/>
                </a:xfrm>
              </p:grpSpPr>
              <p:sp>
                <p:nvSpPr>
                  <p:cNvPr id="2604" name="Freeform 2339"/>
                  <p:cNvSpPr>
                    <a:spLocks/>
                  </p:cNvSpPr>
                  <p:nvPr/>
                </p:nvSpPr>
                <p:spPr bwMode="auto">
                  <a:xfrm>
                    <a:off x="774" y="3572"/>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5"/>
                        </a:lnTo>
                        <a:lnTo>
                          <a:pt x="9" y="0"/>
                        </a:lnTo>
                        <a:lnTo>
                          <a:pt x="25"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05" name="Freeform 2340"/>
                  <p:cNvSpPr>
                    <a:spLocks/>
                  </p:cNvSpPr>
                  <p:nvPr/>
                </p:nvSpPr>
                <p:spPr bwMode="auto">
                  <a:xfrm>
                    <a:off x="778" y="3573"/>
                    <a:ext cx="38" cy="9"/>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06" name="Freeform 2341"/>
                  <p:cNvSpPr>
                    <a:spLocks/>
                  </p:cNvSpPr>
                  <p:nvPr/>
                </p:nvSpPr>
                <p:spPr bwMode="auto">
                  <a:xfrm>
                    <a:off x="782" y="358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22" name="Group 2342"/>
                <p:cNvGrpSpPr>
                  <a:grpSpLocks/>
                </p:cNvGrpSpPr>
                <p:nvPr/>
              </p:nvGrpSpPr>
              <p:grpSpPr bwMode="auto">
                <a:xfrm>
                  <a:off x="787" y="3585"/>
                  <a:ext cx="49" cy="23"/>
                  <a:chOff x="787" y="3585"/>
                  <a:chExt cx="49" cy="23"/>
                </a:xfrm>
              </p:grpSpPr>
              <p:sp>
                <p:nvSpPr>
                  <p:cNvPr id="2601" name="Freeform 2343"/>
                  <p:cNvSpPr>
                    <a:spLocks/>
                  </p:cNvSpPr>
                  <p:nvPr/>
                </p:nvSpPr>
                <p:spPr bwMode="auto">
                  <a:xfrm>
                    <a:off x="787" y="358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6"/>
                        </a:lnTo>
                        <a:lnTo>
                          <a:pt x="9"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02" name="Freeform 2344"/>
                  <p:cNvSpPr>
                    <a:spLocks/>
                  </p:cNvSpPr>
                  <p:nvPr/>
                </p:nvSpPr>
                <p:spPr bwMode="auto">
                  <a:xfrm>
                    <a:off x="792" y="3586"/>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2"/>
                        </a:lnTo>
                        <a:lnTo>
                          <a:pt x="55" y="11"/>
                        </a:lnTo>
                        <a:lnTo>
                          <a:pt x="74" y="29"/>
                        </a:lnTo>
                        <a:lnTo>
                          <a:pt x="19"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03" name="Freeform 2345"/>
                  <p:cNvSpPr>
                    <a:spLocks/>
                  </p:cNvSpPr>
                  <p:nvPr/>
                </p:nvSpPr>
                <p:spPr bwMode="auto">
                  <a:xfrm>
                    <a:off x="795" y="3596"/>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6"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23" name="Group 2346"/>
                <p:cNvGrpSpPr>
                  <a:grpSpLocks/>
                </p:cNvGrpSpPr>
                <p:nvPr/>
              </p:nvGrpSpPr>
              <p:grpSpPr bwMode="auto">
                <a:xfrm>
                  <a:off x="799" y="3600"/>
                  <a:ext cx="99" cy="73"/>
                  <a:chOff x="799" y="3600"/>
                  <a:chExt cx="99" cy="73"/>
                </a:xfrm>
              </p:grpSpPr>
              <p:grpSp>
                <p:nvGrpSpPr>
                  <p:cNvPr id="2581" name="Group 2347"/>
                  <p:cNvGrpSpPr>
                    <a:grpSpLocks/>
                  </p:cNvGrpSpPr>
                  <p:nvPr/>
                </p:nvGrpSpPr>
                <p:grpSpPr bwMode="auto">
                  <a:xfrm>
                    <a:off x="799" y="3600"/>
                    <a:ext cx="48" cy="23"/>
                    <a:chOff x="799" y="3600"/>
                    <a:chExt cx="48" cy="23"/>
                  </a:xfrm>
                </p:grpSpPr>
                <p:sp>
                  <p:nvSpPr>
                    <p:cNvPr id="2598" name="Freeform 2348"/>
                    <p:cNvSpPr>
                      <a:spLocks/>
                    </p:cNvSpPr>
                    <p:nvPr/>
                  </p:nvSpPr>
                  <p:spPr bwMode="auto">
                    <a:xfrm>
                      <a:off x="799" y="360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99" name="Freeform 2349"/>
                    <p:cNvSpPr>
                      <a:spLocks/>
                    </p:cNvSpPr>
                    <p:nvPr/>
                  </p:nvSpPr>
                  <p:spPr bwMode="auto">
                    <a:xfrm>
                      <a:off x="803" y="3600"/>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1"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00" name="Freeform 2350"/>
                    <p:cNvSpPr>
                      <a:spLocks/>
                    </p:cNvSpPr>
                    <p:nvPr/>
                  </p:nvSpPr>
                  <p:spPr bwMode="auto">
                    <a:xfrm>
                      <a:off x="807" y="3611"/>
                      <a:ext cx="40" cy="12"/>
                    </a:xfrm>
                    <a:custGeom>
                      <a:avLst/>
                      <a:gdLst>
                        <a:gd name="T0" fmla="*/ 0 w 82"/>
                        <a:gd name="T1" fmla="*/ 0 h 38"/>
                        <a:gd name="T2" fmla="*/ 0 w 82"/>
                        <a:gd name="T3" fmla="*/ 0 h 38"/>
                        <a:gd name="T4" fmla="*/ 0 w 82"/>
                        <a:gd name="T5" fmla="*/ 0 h 38"/>
                        <a:gd name="T6" fmla="*/ 0 w 82"/>
                        <a:gd name="T7" fmla="*/ 0 h 38"/>
                        <a:gd name="T8" fmla="*/ 0 w 82"/>
                        <a:gd name="T9" fmla="*/ 0 h 38"/>
                        <a:gd name="T10" fmla="*/ 0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7"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82" name="Group 2351"/>
                  <p:cNvGrpSpPr>
                    <a:grpSpLocks/>
                  </p:cNvGrpSpPr>
                  <p:nvPr/>
                </p:nvGrpSpPr>
                <p:grpSpPr bwMode="auto">
                  <a:xfrm>
                    <a:off x="811" y="3612"/>
                    <a:ext cx="48" cy="23"/>
                    <a:chOff x="811" y="3612"/>
                    <a:chExt cx="48" cy="23"/>
                  </a:xfrm>
                </p:grpSpPr>
                <p:sp>
                  <p:nvSpPr>
                    <p:cNvPr id="2595" name="Freeform 2352"/>
                    <p:cNvSpPr>
                      <a:spLocks/>
                    </p:cNvSpPr>
                    <p:nvPr/>
                  </p:nvSpPr>
                  <p:spPr bwMode="auto">
                    <a:xfrm>
                      <a:off x="811"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11"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96" name="Freeform 2353"/>
                    <p:cNvSpPr>
                      <a:spLocks/>
                    </p:cNvSpPr>
                    <p:nvPr/>
                  </p:nvSpPr>
                  <p:spPr bwMode="auto">
                    <a:xfrm>
                      <a:off x="815" y="3613"/>
                      <a:ext cx="38" cy="10"/>
                    </a:xfrm>
                    <a:custGeom>
                      <a:avLst/>
                      <a:gdLst>
                        <a:gd name="T0" fmla="*/ 1 w 75"/>
                        <a:gd name="T1" fmla="*/ 0 h 32"/>
                        <a:gd name="T2" fmla="*/ 1 w 75"/>
                        <a:gd name="T3" fmla="*/ 0 h 32"/>
                        <a:gd name="T4" fmla="*/ 1 w 75"/>
                        <a:gd name="T5" fmla="*/ 0 h 32"/>
                        <a:gd name="T6" fmla="*/ 1 w 75"/>
                        <a:gd name="T7" fmla="*/ 0 h 32"/>
                        <a:gd name="T8" fmla="*/ 1 w 75"/>
                        <a:gd name="T9" fmla="*/ 0 h 32"/>
                        <a:gd name="T10" fmla="*/ 1 w 75"/>
                        <a:gd name="T11" fmla="*/ 0 h 32"/>
                        <a:gd name="T12" fmla="*/ 1 w 75"/>
                        <a:gd name="T13" fmla="*/ 0 h 32"/>
                        <a:gd name="T14" fmla="*/ 0 w 75"/>
                        <a:gd name="T15" fmla="*/ 0 h 32"/>
                        <a:gd name="T16" fmla="*/ 1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3" y="0"/>
                          </a:moveTo>
                          <a:lnTo>
                            <a:pt x="52" y="0"/>
                          </a:lnTo>
                          <a:lnTo>
                            <a:pt x="53" y="3"/>
                          </a:lnTo>
                          <a:lnTo>
                            <a:pt x="57" y="15"/>
                          </a:lnTo>
                          <a:lnTo>
                            <a:pt x="75" y="32"/>
                          </a:lnTo>
                          <a:lnTo>
                            <a:pt x="19" y="32"/>
                          </a:lnTo>
                          <a:lnTo>
                            <a:pt x="10"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97" name="Freeform 2354"/>
                    <p:cNvSpPr>
                      <a:spLocks/>
                    </p:cNvSpPr>
                    <p:nvPr/>
                  </p:nvSpPr>
                  <p:spPr bwMode="auto">
                    <a:xfrm>
                      <a:off x="819"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1"/>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83" name="Group 2355"/>
                  <p:cNvGrpSpPr>
                    <a:grpSpLocks/>
                  </p:cNvGrpSpPr>
                  <p:nvPr/>
                </p:nvGrpSpPr>
                <p:grpSpPr bwMode="auto">
                  <a:xfrm>
                    <a:off x="823" y="3625"/>
                    <a:ext cx="49" cy="23"/>
                    <a:chOff x="823" y="3625"/>
                    <a:chExt cx="49" cy="23"/>
                  </a:xfrm>
                </p:grpSpPr>
                <p:sp>
                  <p:nvSpPr>
                    <p:cNvPr id="2592" name="Freeform 2356"/>
                    <p:cNvSpPr>
                      <a:spLocks/>
                    </p:cNvSpPr>
                    <p:nvPr/>
                  </p:nvSpPr>
                  <p:spPr bwMode="auto">
                    <a:xfrm>
                      <a:off x="823" y="362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93" name="Freeform 2357"/>
                    <p:cNvSpPr>
                      <a:spLocks/>
                    </p:cNvSpPr>
                    <p:nvPr/>
                  </p:nvSpPr>
                  <p:spPr bwMode="auto">
                    <a:xfrm>
                      <a:off x="828"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94" name="Freeform 2358"/>
                    <p:cNvSpPr>
                      <a:spLocks/>
                    </p:cNvSpPr>
                    <p:nvPr/>
                  </p:nvSpPr>
                  <p:spPr bwMode="auto">
                    <a:xfrm>
                      <a:off x="832" y="363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84" name="Group 2359"/>
                  <p:cNvGrpSpPr>
                    <a:grpSpLocks/>
                  </p:cNvGrpSpPr>
                  <p:nvPr/>
                </p:nvGrpSpPr>
                <p:grpSpPr bwMode="auto">
                  <a:xfrm>
                    <a:off x="836" y="3638"/>
                    <a:ext cx="50" cy="22"/>
                    <a:chOff x="836" y="3638"/>
                    <a:chExt cx="50" cy="22"/>
                  </a:xfrm>
                </p:grpSpPr>
                <p:sp>
                  <p:nvSpPr>
                    <p:cNvPr id="2589" name="Freeform 2360"/>
                    <p:cNvSpPr>
                      <a:spLocks/>
                    </p:cNvSpPr>
                    <p:nvPr/>
                  </p:nvSpPr>
                  <p:spPr bwMode="auto">
                    <a:xfrm>
                      <a:off x="836"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90" name="Freeform 2361"/>
                    <p:cNvSpPr>
                      <a:spLocks/>
                    </p:cNvSpPr>
                    <p:nvPr/>
                  </p:nvSpPr>
                  <p:spPr bwMode="auto">
                    <a:xfrm>
                      <a:off x="842"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5" y="12"/>
                          </a:lnTo>
                          <a:lnTo>
                            <a:pt x="72" y="30"/>
                          </a:lnTo>
                          <a:lnTo>
                            <a:pt x="17" y="30"/>
                          </a:lnTo>
                          <a:lnTo>
                            <a:pt x="8"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91" name="Freeform 2362"/>
                    <p:cNvSpPr>
                      <a:spLocks/>
                    </p:cNvSpPr>
                    <p:nvPr/>
                  </p:nvSpPr>
                  <p:spPr bwMode="auto">
                    <a:xfrm>
                      <a:off x="844" y="3648"/>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85" name="Group 2363"/>
                  <p:cNvGrpSpPr>
                    <a:grpSpLocks/>
                  </p:cNvGrpSpPr>
                  <p:nvPr/>
                </p:nvGrpSpPr>
                <p:grpSpPr bwMode="auto">
                  <a:xfrm>
                    <a:off x="849" y="3651"/>
                    <a:ext cx="49" cy="22"/>
                    <a:chOff x="849" y="3651"/>
                    <a:chExt cx="49" cy="22"/>
                  </a:xfrm>
                </p:grpSpPr>
                <p:sp>
                  <p:nvSpPr>
                    <p:cNvPr id="2586" name="Freeform 2364"/>
                    <p:cNvSpPr>
                      <a:spLocks/>
                    </p:cNvSpPr>
                    <p:nvPr/>
                  </p:nvSpPr>
                  <p:spPr bwMode="auto">
                    <a:xfrm>
                      <a:off x="849" y="3651"/>
                      <a:ext cx="12" cy="22"/>
                    </a:xfrm>
                    <a:custGeom>
                      <a:avLst/>
                      <a:gdLst>
                        <a:gd name="T0" fmla="*/ 0 w 25"/>
                        <a:gd name="T1" fmla="*/ 0 h 67"/>
                        <a:gd name="T2" fmla="*/ 0 w 25"/>
                        <a:gd name="T3" fmla="*/ 0 h 67"/>
                        <a:gd name="T4" fmla="*/ 0 w 25"/>
                        <a:gd name="T5" fmla="*/ 0 h 67"/>
                        <a:gd name="T6" fmla="*/ 0 w 25"/>
                        <a:gd name="T7" fmla="*/ 0 h 67"/>
                        <a:gd name="T8" fmla="*/ 0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5" y="67"/>
                          </a:moveTo>
                          <a:lnTo>
                            <a:pt x="0" y="26"/>
                          </a:lnTo>
                          <a:lnTo>
                            <a:pt x="10" y="0"/>
                          </a:lnTo>
                          <a:lnTo>
                            <a:pt x="25"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87" name="Freeform 2365"/>
                    <p:cNvSpPr>
                      <a:spLocks/>
                    </p:cNvSpPr>
                    <p:nvPr/>
                  </p:nvSpPr>
                  <p:spPr bwMode="auto">
                    <a:xfrm>
                      <a:off x="854"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7" y="11"/>
                          </a:lnTo>
                          <a:lnTo>
                            <a:pt x="74"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88" name="Freeform 2366"/>
                    <p:cNvSpPr>
                      <a:spLocks/>
                    </p:cNvSpPr>
                    <p:nvPr/>
                  </p:nvSpPr>
                  <p:spPr bwMode="auto">
                    <a:xfrm>
                      <a:off x="857" y="36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424" name="Group 2367"/>
                <p:cNvGrpSpPr>
                  <a:grpSpLocks/>
                </p:cNvGrpSpPr>
                <p:nvPr/>
              </p:nvGrpSpPr>
              <p:grpSpPr bwMode="auto">
                <a:xfrm>
                  <a:off x="861" y="3665"/>
                  <a:ext cx="99" cy="74"/>
                  <a:chOff x="861" y="3665"/>
                  <a:chExt cx="99" cy="74"/>
                </a:xfrm>
              </p:grpSpPr>
              <p:grpSp>
                <p:nvGrpSpPr>
                  <p:cNvPr id="2561" name="Group 2368"/>
                  <p:cNvGrpSpPr>
                    <a:grpSpLocks/>
                  </p:cNvGrpSpPr>
                  <p:nvPr/>
                </p:nvGrpSpPr>
                <p:grpSpPr bwMode="auto">
                  <a:xfrm>
                    <a:off x="861" y="3665"/>
                    <a:ext cx="50" cy="23"/>
                    <a:chOff x="861" y="3665"/>
                    <a:chExt cx="50" cy="23"/>
                  </a:xfrm>
                </p:grpSpPr>
                <p:sp>
                  <p:nvSpPr>
                    <p:cNvPr id="2578" name="Freeform 2369"/>
                    <p:cNvSpPr>
                      <a:spLocks/>
                    </p:cNvSpPr>
                    <p:nvPr/>
                  </p:nvSpPr>
                  <p:spPr bwMode="auto">
                    <a:xfrm>
                      <a:off x="861"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79" name="Freeform 2370"/>
                    <p:cNvSpPr>
                      <a:spLocks/>
                    </p:cNvSpPr>
                    <p:nvPr/>
                  </p:nvSpPr>
                  <p:spPr bwMode="auto">
                    <a:xfrm>
                      <a:off x="865" y="3666"/>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4"/>
                          </a:lnTo>
                          <a:lnTo>
                            <a:pt x="57" y="13"/>
                          </a:lnTo>
                          <a:lnTo>
                            <a:pt x="75" y="31"/>
                          </a:lnTo>
                          <a:lnTo>
                            <a:pt x="19" y="31"/>
                          </a:lnTo>
                          <a:lnTo>
                            <a:pt x="11"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80" name="Freeform 2371"/>
                    <p:cNvSpPr>
                      <a:spLocks/>
                    </p:cNvSpPr>
                    <p:nvPr/>
                  </p:nvSpPr>
                  <p:spPr bwMode="auto">
                    <a:xfrm>
                      <a:off x="869"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62" name="Group 2372"/>
                  <p:cNvGrpSpPr>
                    <a:grpSpLocks/>
                  </p:cNvGrpSpPr>
                  <p:nvPr/>
                </p:nvGrpSpPr>
                <p:grpSpPr bwMode="auto">
                  <a:xfrm>
                    <a:off x="873" y="3678"/>
                    <a:ext cx="49" cy="23"/>
                    <a:chOff x="873" y="3678"/>
                    <a:chExt cx="49" cy="23"/>
                  </a:xfrm>
                </p:grpSpPr>
                <p:sp>
                  <p:nvSpPr>
                    <p:cNvPr id="2575" name="Freeform 2373"/>
                    <p:cNvSpPr>
                      <a:spLocks/>
                    </p:cNvSpPr>
                    <p:nvPr/>
                  </p:nvSpPr>
                  <p:spPr bwMode="auto">
                    <a:xfrm>
                      <a:off x="873"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7"/>
                          </a:lnTo>
                          <a:lnTo>
                            <a:pt x="9" y="0"/>
                          </a:lnTo>
                          <a:lnTo>
                            <a:pt x="25"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76" name="Freeform 2374"/>
                    <p:cNvSpPr>
                      <a:spLocks/>
                    </p:cNvSpPr>
                    <p:nvPr/>
                  </p:nvSpPr>
                  <p:spPr bwMode="auto">
                    <a:xfrm>
                      <a:off x="878" y="3678"/>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0" y="0"/>
                          </a:lnTo>
                          <a:lnTo>
                            <a:pt x="52" y="3"/>
                          </a:lnTo>
                          <a:lnTo>
                            <a:pt x="57" y="12"/>
                          </a:lnTo>
                          <a:lnTo>
                            <a:pt x="75"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77" name="Freeform 2375"/>
                    <p:cNvSpPr>
                      <a:spLocks/>
                    </p:cNvSpPr>
                    <p:nvPr/>
                  </p:nvSpPr>
                  <p:spPr bwMode="auto">
                    <a:xfrm>
                      <a:off x="880" y="3688"/>
                      <a:ext cx="42"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4" y="21"/>
                          </a:lnTo>
                          <a:lnTo>
                            <a:pt x="8" y="8"/>
                          </a:lnTo>
                          <a:lnTo>
                            <a:pt x="13"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63" name="Group 2376"/>
                  <p:cNvGrpSpPr>
                    <a:grpSpLocks/>
                  </p:cNvGrpSpPr>
                  <p:nvPr/>
                </p:nvGrpSpPr>
                <p:grpSpPr bwMode="auto">
                  <a:xfrm>
                    <a:off x="886" y="3690"/>
                    <a:ext cx="49" cy="23"/>
                    <a:chOff x="886" y="3690"/>
                    <a:chExt cx="49" cy="23"/>
                  </a:xfrm>
                </p:grpSpPr>
                <p:sp>
                  <p:nvSpPr>
                    <p:cNvPr id="2572" name="Freeform 2377"/>
                    <p:cNvSpPr>
                      <a:spLocks/>
                    </p:cNvSpPr>
                    <p:nvPr/>
                  </p:nvSpPr>
                  <p:spPr bwMode="auto">
                    <a:xfrm>
                      <a:off x="886" y="3690"/>
                      <a:ext cx="12" cy="23"/>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4" y="70"/>
                          </a:moveTo>
                          <a:lnTo>
                            <a:pt x="0" y="29"/>
                          </a:lnTo>
                          <a:lnTo>
                            <a:pt x="10" y="0"/>
                          </a:lnTo>
                          <a:lnTo>
                            <a:pt x="24" y="33"/>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73" name="Freeform 2378"/>
                    <p:cNvSpPr>
                      <a:spLocks/>
                    </p:cNvSpPr>
                    <p:nvPr/>
                  </p:nvSpPr>
                  <p:spPr bwMode="auto">
                    <a:xfrm>
                      <a:off x="890"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2"/>
                          </a:lnTo>
                          <a:lnTo>
                            <a:pt x="57" y="11"/>
                          </a:lnTo>
                          <a:lnTo>
                            <a:pt x="75" y="31"/>
                          </a:lnTo>
                          <a:lnTo>
                            <a:pt x="19" y="31"/>
                          </a:lnTo>
                          <a:lnTo>
                            <a:pt x="10" y="22"/>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74" name="Freeform 2379"/>
                    <p:cNvSpPr>
                      <a:spLocks/>
                    </p:cNvSpPr>
                    <p:nvPr/>
                  </p:nvSpPr>
                  <p:spPr bwMode="auto">
                    <a:xfrm>
                      <a:off x="893" y="3701"/>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8" y="7"/>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64" name="Group 2380"/>
                  <p:cNvGrpSpPr>
                    <a:grpSpLocks/>
                  </p:cNvGrpSpPr>
                  <p:nvPr/>
                </p:nvGrpSpPr>
                <p:grpSpPr bwMode="auto">
                  <a:xfrm>
                    <a:off x="899" y="3703"/>
                    <a:ext cx="48" cy="23"/>
                    <a:chOff x="899" y="3703"/>
                    <a:chExt cx="48" cy="23"/>
                  </a:xfrm>
                </p:grpSpPr>
                <p:sp>
                  <p:nvSpPr>
                    <p:cNvPr id="2569" name="Freeform 2381"/>
                    <p:cNvSpPr>
                      <a:spLocks/>
                    </p:cNvSpPr>
                    <p:nvPr/>
                  </p:nvSpPr>
                  <p:spPr bwMode="auto">
                    <a:xfrm>
                      <a:off x="899" y="3703"/>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10"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70" name="Freeform 2382"/>
                    <p:cNvSpPr>
                      <a:spLocks/>
                    </p:cNvSpPr>
                    <p:nvPr/>
                  </p:nvSpPr>
                  <p:spPr bwMode="auto">
                    <a:xfrm>
                      <a:off x="903" y="3703"/>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6" y="12"/>
                          </a:lnTo>
                          <a:lnTo>
                            <a:pt x="75"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71" name="Freeform 2383"/>
                    <p:cNvSpPr>
                      <a:spLocks/>
                    </p:cNvSpPr>
                    <p:nvPr/>
                  </p:nvSpPr>
                  <p:spPr bwMode="auto">
                    <a:xfrm>
                      <a:off x="907" y="3714"/>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5"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65" name="Group 2384"/>
                  <p:cNvGrpSpPr>
                    <a:grpSpLocks/>
                  </p:cNvGrpSpPr>
                  <p:nvPr/>
                </p:nvGrpSpPr>
                <p:grpSpPr bwMode="auto">
                  <a:xfrm>
                    <a:off x="912" y="3716"/>
                    <a:ext cx="48" cy="23"/>
                    <a:chOff x="912" y="3716"/>
                    <a:chExt cx="48" cy="23"/>
                  </a:xfrm>
                </p:grpSpPr>
                <p:sp>
                  <p:nvSpPr>
                    <p:cNvPr id="2566" name="Freeform 2385"/>
                    <p:cNvSpPr>
                      <a:spLocks/>
                    </p:cNvSpPr>
                    <p:nvPr/>
                  </p:nvSpPr>
                  <p:spPr bwMode="auto">
                    <a:xfrm>
                      <a:off x="912" y="3716"/>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67" name="Freeform 2386"/>
                    <p:cNvSpPr>
                      <a:spLocks/>
                    </p:cNvSpPr>
                    <p:nvPr/>
                  </p:nvSpPr>
                  <p:spPr bwMode="auto">
                    <a:xfrm>
                      <a:off x="916" y="3717"/>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3"/>
                          </a:lnTo>
                          <a:lnTo>
                            <a:pt x="55" y="11"/>
                          </a:lnTo>
                          <a:lnTo>
                            <a:pt x="74" y="29"/>
                          </a:lnTo>
                          <a:lnTo>
                            <a:pt x="18" y="29"/>
                          </a:lnTo>
                          <a:lnTo>
                            <a:pt x="8"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68" name="Freeform 2387"/>
                    <p:cNvSpPr>
                      <a:spLocks/>
                    </p:cNvSpPr>
                    <p:nvPr/>
                  </p:nvSpPr>
                  <p:spPr bwMode="auto">
                    <a:xfrm>
                      <a:off x="919" y="3727"/>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1"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425" name="Group 2388"/>
                <p:cNvGrpSpPr>
                  <a:grpSpLocks/>
                </p:cNvGrpSpPr>
                <p:nvPr/>
              </p:nvGrpSpPr>
              <p:grpSpPr bwMode="auto">
                <a:xfrm>
                  <a:off x="922" y="3727"/>
                  <a:ext cx="49" cy="23"/>
                  <a:chOff x="922" y="3727"/>
                  <a:chExt cx="49" cy="23"/>
                </a:xfrm>
              </p:grpSpPr>
              <p:sp>
                <p:nvSpPr>
                  <p:cNvPr id="2558" name="Freeform 2389"/>
                  <p:cNvSpPr>
                    <a:spLocks/>
                  </p:cNvSpPr>
                  <p:nvPr/>
                </p:nvSpPr>
                <p:spPr bwMode="auto">
                  <a:xfrm>
                    <a:off x="922" y="3727"/>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1"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59" name="Freeform 2390"/>
                  <p:cNvSpPr>
                    <a:spLocks/>
                  </p:cNvSpPr>
                  <p:nvPr/>
                </p:nvSpPr>
                <p:spPr bwMode="auto">
                  <a:xfrm>
                    <a:off x="927" y="3728"/>
                    <a:ext cx="36" cy="10"/>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49" y="0"/>
                        </a:lnTo>
                        <a:lnTo>
                          <a:pt x="50" y="4"/>
                        </a:lnTo>
                        <a:lnTo>
                          <a:pt x="56" y="13"/>
                        </a:lnTo>
                        <a:lnTo>
                          <a:pt x="72"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60" name="Freeform 2391"/>
                  <p:cNvSpPr>
                    <a:spLocks/>
                  </p:cNvSpPr>
                  <p:nvPr/>
                </p:nvSpPr>
                <p:spPr bwMode="auto">
                  <a:xfrm>
                    <a:off x="930"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26" name="Group 2392"/>
                <p:cNvGrpSpPr>
                  <a:grpSpLocks/>
                </p:cNvGrpSpPr>
                <p:nvPr/>
              </p:nvGrpSpPr>
              <p:grpSpPr bwMode="auto">
                <a:xfrm>
                  <a:off x="895" y="3526"/>
                  <a:ext cx="44" cy="23"/>
                  <a:chOff x="895" y="3526"/>
                  <a:chExt cx="44" cy="23"/>
                </a:xfrm>
              </p:grpSpPr>
              <p:sp>
                <p:nvSpPr>
                  <p:cNvPr id="2555" name="Freeform 2393"/>
                  <p:cNvSpPr>
                    <a:spLocks/>
                  </p:cNvSpPr>
                  <p:nvPr/>
                </p:nvSpPr>
                <p:spPr bwMode="auto">
                  <a:xfrm>
                    <a:off x="895" y="3526"/>
                    <a:ext cx="19" cy="23"/>
                  </a:xfrm>
                  <a:custGeom>
                    <a:avLst/>
                    <a:gdLst>
                      <a:gd name="T0" fmla="*/ 1 w 38"/>
                      <a:gd name="T1" fmla="*/ 0 h 69"/>
                      <a:gd name="T2" fmla="*/ 0 w 38"/>
                      <a:gd name="T3" fmla="*/ 0 h 69"/>
                      <a:gd name="T4" fmla="*/ 1 w 38"/>
                      <a:gd name="T5" fmla="*/ 0 h 69"/>
                      <a:gd name="T6" fmla="*/ 1 w 38"/>
                      <a:gd name="T7" fmla="*/ 0 h 69"/>
                      <a:gd name="T8" fmla="*/ 1 w 38"/>
                      <a:gd name="T9" fmla="*/ 0 h 69"/>
                      <a:gd name="T10" fmla="*/ 0 60000 65536"/>
                      <a:gd name="T11" fmla="*/ 0 60000 65536"/>
                      <a:gd name="T12" fmla="*/ 0 60000 65536"/>
                      <a:gd name="T13" fmla="*/ 0 60000 65536"/>
                      <a:gd name="T14" fmla="*/ 0 60000 65536"/>
                      <a:gd name="T15" fmla="*/ 0 w 38"/>
                      <a:gd name="T16" fmla="*/ 0 h 69"/>
                      <a:gd name="T17" fmla="*/ 38 w 38"/>
                      <a:gd name="T18" fmla="*/ 69 h 69"/>
                    </a:gdLst>
                    <a:ahLst/>
                    <a:cxnLst>
                      <a:cxn ang="T10">
                        <a:pos x="T0" y="T1"/>
                      </a:cxn>
                      <a:cxn ang="T11">
                        <a:pos x="T2" y="T3"/>
                      </a:cxn>
                      <a:cxn ang="T12">
                        <a:pos x="T4" y="T5"/>
                      </a:cxn>
                      <a:cxn ang="T13">
                        <a:pos x="T6" y="T7"/>
                      </a:cxn>
                      <a:cxn ang="T14">
                        <a:pos x="T8" y="T9"/>
                      </a:cxn>
                    </a:cxnLst>
                    <a:rect l="T15" t="T16" r="T17" b="T18"/>
                    <a:pathLst>
                      <a:path w="38" h="69">
                        <a:moveTo>
                          <a:pt x="22" y="69"/>
                        </a:moveTo>
                        <a:lnTo>
                          <a:pt x="0" y="34"/>
                        </a:lnTo>
                        <a:lnTo>
                          <a:pt x="11" y="0"/>
                        </a:lnTo>
                        <a:lnTo>
                          <a:pt x="38"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56" name="Freeform 2394"/>
                  <p:cNvSpPr>
                    <a:spLocks/>
                  </p:cNvSpPr>
                  <p:nvPr/>
                </p:nvSpPr>
                <p:spPr bwMode="auto">
                  <a:xfrm>
                    <a:off x="901" y="3526"/>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0" y="0"/>
                        </a:lnTo>
                        <a:lnTo>
                          <a:pt x="64" y="35"/>
                        </a:lnTo>
                        <a:lnTo>
                          <a:pt x="23"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57" name="Freeform 2395"/>
                  <p:cNvSpPr>
                    <a:spLocks/>
                  </p:cNvSpPr>
                  <p:nvPr/>
                </p:nvSpPr>
                <p:spPr bwMode="auto">
                  <a:xfrm>
                    <a:off x="907" y="3538"/>
                    <a:ext cx="32" cy="11"/>
                  </a:xfrm>
                  <a:custGeom>
                    <a:avLst/>
                    <a:gdLst>
                      <a:gd name="T0" fmla="*/ 0 w 65"/>
                      <a:gd name="T1" fmla="*/ 0 h 31"/>
                      <a:gd name="T2" fmla="*/ 0 w 65"/>
                      <a:gd name="T3" fmla="*/ 0 h 31"/>
                      <a:gd name="T4" fmla="*/ 0 w 65"/>
                      <a:gd name="T5" fmla="*/ 0 h 31"/>
                      <a:gd name="T6" fmla="*/ 0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3" y="0"/>
                        </a:lnTo>
                        <a:lnTo>
                          <a:pt x="54"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27" name="Group 2396"/>
                <p:cNvGrpSpPr>
                  <a:grpSpLocks/>
                </p:cNvGrpSpPr>
                <p:nvPr/>
              </p:nvGrpSpPr>
              <p:grpSpPr bwMode="auto">
                <a:xfrm>
                  <a:off x="907" y="3540"/>
                  <a:ext cx="45" cy="22"/>
                  <a:chOff x="907" y="3540"/>
                  <a:chExt cx="45" cy="22"/>
                </a:xfrm>
              </p:grpSpPr>
              <p:sp>
                <p:nvSpPr>
                  <p:cNvPr id="2552" name="Freeform 2397"/>
                  <p:cNvSpPr>
                    <a:spLocks/>
                  </p:cNvSpPr>
                  <p:nvPr/>
                </p:nvSpPr>
                <p:spPr bwMode="auto">
                  <a:xfrm>
                    <a:off x="907" y="3540"/>
                    <a:ext cx="20" cy="22"/>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4"/>
                        </a:lnTo>
                        <a:lnTo>
                          <a:pt x="11" y="0"/>
                        </a:lnTo>
                        <a:lnTo>
                          <a:pt x="39" y="34"/>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53" name="Freeform 2398"/>
                  <p:cNvSpPr>
                    <a:spLocks/>
                  </p:cNvSpPr>
                  <p:nvPr/>
                </p:nvSpPr>
                <p:spPr bwMode="auto">
                  <a:xfrm>
                    <a:off x="914" y="3540"/>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54" name="Freeform 2399"/>
                  <p:cNvSpPr>
                    <a:spLocks/>
                  </p:cNvSpPr>
                  <p:nvPr/>
                </p:nvSpPr>
                <p:spPr bwMode="auto">
                  <a:xfrm>
                    <a:off x="919" y="3552"/>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28" name="Group 2400"/>
                <p:cNvGrpSpPr>
                  <a:grpSpLocks/>
                </p:cNvGrpSpPr>
                <p:nvPr/>
              </p:nvGrpSpPr>
              <p:grpSpPr bwMode="auto">
                <a:xfrm>
                  <a:off x="920" y="3553"/>
                  <a:ext cx="45" cy="23"/>
                  <a:chOff x="920" y="3553"/>
                  <a:chExt cx="45" cy="23"/>
                </a:xfrm>
              </p:grpSpPr>
              <p:sp>
                <p:nvSpPr>
                  <p:cNvPr id="2549" name="Freeform 2401"/>
                  <p:cNvSpPr>
                    <a:spLocks/>
                  </p:cNvSpPr>
                  <p:nvPr/>
                </p:nvSpPr>
                <p:spPr bwMode="auto">
                  <a:xfrm>
                    <a:off x="920" y="3553"/>
                    <a:ext cx="20" cy="23"/>
                  </a:xfrm>
                  <a:custGeom>
                    <a:avLst/>
                    <a:gdLst>
                      <a:gd name="T0" fmla="*/ 0 w 41"/>
                      <a:gd name="T1" fmla="*/ 0 h 68"/>
                      <a:gd name="T2" fmla="*/ 0 w 41"/>
                      <a:gd name="T3" fmla="*/ 0 h 68"/>
                      <a:gd name="T4" fmla="*/ 0 w 41"/>
                      <a:gd name="T5" fmla="*/ 0 h 68"/>
                      <a:gd name="T6" fmla="*/ 0 w 41"/>
                      <a:gd name="T7" fmla="*/ 0 h 68"/>
                      <a:gd name="T8" fmla="*/ 0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4"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50" name="Freeform 2402"/>
                  <p:cNvSpPr>
                    <a:spLocks/>
                  </p:cNvSpPr>
                  <p:nvPr/>
                </p:nvSpPr>
                <p:spPr bwMode="auto">
                  <a:xfrm>
                    <a:off x="927" y="3554"/>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39"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51" name="Freeform 2403"/>
                  <p:cNvSpPr>
                    <a:spLocks/>
                  </p:cNvSpPr>
                  <p:nvPr/>
                </p:nvSpPr>
                <p:spPr bwMode="auto">
                  <a:xfrm>
                    <a:off x="932" y="3566"/>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3"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29" name="Group 2404"/>
                <p:cNvGrpSpPr>
                  <a:grpSpLocks/>
                </p:cNvGrpSpPr>
                <p:nvPr/>
              </p:nvGrpSpPr>
              <p:grpSpPr bwMode="auto">
                <a:xfrm>
                  <a:off x="934" y="3566"/>
                  <a:ext cx="44" cy="23"/>
                  <a:chOff x="934" y="3566"/>
                  <a:chExt cx="44" cy="23"/>
                </a:xfrm>
              </p:grpSpPr>
              <p:sp>
                <p:nvSpPr>
                  <p:cNvPr id="2546" name="Freeform 2405"/>
                  <p:cNvSpPr>
                    <a:spLocks/>
                  </p:cNvSpPr>
                  <p:nvPr/>
                </p:nvSpPr>
                <p:spPr bwMode="auto">
                  <a:xfrm>
                    <a:off x="934" y="356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2" y="68"/>
                        </a:moveTo>
                        <a:lnTo>
                          <a:pt x="0" y="33"/>
                        </a:lnTo>
                        <a:lnTo>
                          <a:pt x="12" y="0"/>
                        </a:lnTo>
                        <a:lnTo>
                          <a:pt x="40"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47" name="Freeform 2406"/>
                  <p:cNvSpPr>
                    <a:spLocks/>
                  </p:cNvSpPr>
                  <p:nvPr/>
                </p:nvSpPr>
                <p:spPr bwMode="auto">
                  <a:xfrm>
                    <a:off x="940" y="3567"/>
                    <a:ext cx="32" cy="11"/>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1"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48" name="Freeform 2407"/>
                  <p:cNvSpPr>
                    <a:spLocks/>
                  </p:cNvSpPr>
                  <p:nvPr/>
                </p:nvSpPr>
                <p:spPr bwMode="auto">
                  <a:xfrm>
                    <a:off x="945" y="3579"/>
                    <a:ext cx="33" cy="9"/>
                  </a:xfrm>
                  <a:custGeom>
                    <a:avLst/>
                    <a:gdLst>
                      <a:gd name="T0" fmla="*/ 0 w 65"/>
                      <a:gd name="T1" fmla="*/ 0 h 28"/>
                      <a:gd name="T2" fmla="*/ 1 w 65"/>
                      <a:gd name="T3" fmla="*/ 0 h 28"/>
                      <a:gd name="T4" fmla="*/ 1 w 65"/>
                      <a:gd name="T5" fmla="*/ 0 h 28"/>
                      <a:gd name="T6" fmla="*/ 1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3" y="0"/>
                        </a:lnTo>
                        <a:lnTo>
                          <a:pt x="54"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30" name="Group 2408"/>
                <p:cNvGrpSpPr>
                  <a:grpSpLocks/>
                </p:cNvGrpSpPr>
                <p:nvPr/>
              </p:nvGrpSpPr>
              <p:grpSpPr bwMode="auto">
                <a:xfrm>
                  <a:off x="949" y="3579"/>
                  <a:ext cx="83" cy="63"/>
                  <a:chOff x="949" y="3579"/>
                  <a:chExt cx="83" cy="63"/>
                </a:xfrm>
              </p:grpSpPr>
              <p:grpSp>
                <p:nvGrpSpPr>
                  <p:cNvPr id="2530" name="Group 2409"/>
                  <p:cNvGrpSpPr>
                    <a:grpSpLocks/>
                  </p:cNvGrpSpPr>
                  <p:nvPr/>
                </p:nvGrpSpPr>
                <p:grpSpPr bwMode="auto">
                  <a:xfrm>
                    <a:off x="949" y="3579"/>
                    <a:ext cx="44" cy="23"/>
                    <a:chOff x="949" y="3579"/>
                    <a:chExt cx="44" cy="23"/>
                  </a:xfrm>
                </p:grpSpPr>
                <p:sp>
                  <p:nvSpPr>
                    <p:cNvPr id="2543" name="Freeform 2410"/>
                    <p:cNvSpPr>
                      <a:spLocks/>
                    </p:cNvSpPr>
                    <p:nvPr/>
                  </p:nvSpPr>
                  <p:spPr bwMode="auto">
                    <a:xfrm>
                      <a:off x="949" y="3579"/>
                      <a:ext cx="19" cy="23"/>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2"/>
                          </a:lnTo>
                          <a:lnTo>
                            <a:pt x="11" y="0"/>
                          </a:lnTo>
                          <a:lnTo>
                            <a:pt x="38" y="32"/>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44" name="Freeform 2411"/>
                    <p:cNvSpPr>
                      <a:spLocks/>
                    </p:cNvSpPr>
                    <p:nvPr/>
                  </p:nvSpPr>
                  <p:spPr bwMode="auto">
                    <a:xfrm>
                      <a:off x="955" y="3579"/>
                      <a:ext cx="32" cy="11"/>
                    </a:xfrm>
                    <a:custGeom>
                      <a:avLst/>
                      <a:gdLst>
                        <a:gd name="T0" fmla="*/ 0 w 66"/>
                        <a:gd name="T1" fmla="*/ 0 h 32"/>
                        <a:gd name="T2" fmla="*/ 0 w 66"/>
                        <a:gd name="T3" fmla="*/ 0 h 32"/>
                        <a:gd name="T4" fmla="*/ 0 w 66"/>
                        <a:gd name="T5" fmla="*/ 0 h 32"/>
                        <a:gd name="T6" fmla="*/ 0 w 66"/>
                        <a:gd name="T7" fmla="*/ 0 h 32"/>
                        <a:gd name="T8" fmla="*/ 0 w 66"/>
                        <a:gd name="T9" fmla="*/ 0 h 32"/>
                        <a:gd name="T10" fmla="*/ 0 60000 65536"/>
                        <a:gd name="T11" fmla="*/ 0 60000 65536"/>
                        <a:gd name="T12" fmla="*/ 0 60000 65536"/>
                        <a:gd name="T13" fmla="*/ 0 60000 65536"/>
                        <a:gd name="T14" fmla="*/ 0 60000 65536"/>
                        <a:gd name="T15" fmla="*/ 0 w 66"/>
                        <a:gd name="T16" fmla="*/ 0 h 32"/>
                        <a:gd name="T17" fmla="*/ 66 w 66"/>
                        <a:gd name="T18" fmla="*/ 32 h 32"/>
                      </a:gdLst>
                      <a:ahLst/>
                      <a:cxnLst>
                        <a:cxn ang="T10">
                          <a:pos x="T0" y="T1"/>
                        </a:cxn>
                        <a:cxn ang="T11">
                          <a:pos x="T2" y="T3"/>
                        </a:cxn>
                        <a:cxn ang="T12">
                          <a:pos x="T4" y="T5"/>
                        </a:cxn>
                        <a:cxn ang="T13">
                          <a:pos x="T6" y="T7"/>
                        </a:cxn>
                        <a:cxn ang="T14">
                          <a:pos x="T8" y="T9"/>
                        </a:cxn>
                      </a:cxnLst>
                      <a:rect l="T15" t="T16" r="T17" b="T18"/>
                      <a:pathLst>
                        <a:path w="66" h="32">
                          <a:moveTo>
                            <a:pt x="0" y="0"/>
                          </a:moveTo>
                          <a:lnTo>
                            <a:pt x="42" y="0"/>
                          </a:lnTo>
                          <a:lnTo>
                            <a:pt x="66" y="32"/>
                          </a:lnTo>
                          <a:lnTo>
                            <a:pt x="25"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45" name="Freeform 2412"/>
                    <p:cNvSpPr>
                      <a:spLocks/>
                    </p:cNvSpPr>
                    <p:nvPr/>
                  </p:nvSpPr>
                  <p:spPr bwMode="auto">
                    <a:xfrm>
                      <a:off x="960" y="3591"/>
                      <a:ext cx="33" cy="10"/>
                    </a:xfrm>
                    <a:custGeom>
                      <a:avLst/>
                      <a:gdLst>
                        <a:gd name="T0" fmla="*/ 0 w 65"/>
                        <a:gd name="T1" fmla="*/ 0 h 31"/>
                        <a:gd name="T2" fmla="*/ 1 w 65"/>
                        <a:gd name="T3" fmla="*/ 0 h 31"/>
                        <a:gd name="T4" fmla="*/ 1 w 65"/>
                        <a:gd name="T5" fmla="*/ 0 h 31"/>
                        <a:gd name="T6" fmla="*/ 1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4" y="0"/>
                          </a:lnTo>
                          <a:lnTo>
                            <a:pt x="55"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31" name="Group 2413"/>
                  <p:cNvGrpSpPr>
                    <a:grpSpLocks/>
                  </p:cNvGrpSpPr>
                  <p:nvPr/>
                </p:nvGrpSpPr>
                <p:grpSpPr bwMode="auto">
                  <a:xfrm>
                    <a:off x="961" y="3592"/>
                    <a:ext cx="45" cy="23"/>
                    <a:chOff x="961" y="3592"/>
                    <a:chExt cx="45" cy="23"/>
                  </a:xfrm>
                </p:grpSpPr>
                <p:sp>
                  <p:nvSpPr>
                    <p:cNvPr id="2540" name="Freeform 2414"/>
                    <p:cNvSpPr>
                      <a:spLocks/>
                    </p:cNvSpPr>
                    <p:nvPr/>
                  </p:nvSpPr>
                  <p:spPr bwMode="auto">
                    <a:xfrm>
                      <a:off x="961" y="3592"/>
                      <a:ext cx="20" cy="23"/>
                    </a:xfrm>
                    <a:custGeom>
                      <a:avLst/>
                      <a:gdLst>
                        <a:gd name="T0" fmla="*/ 1 w 40"/>
                        <a:gd name="T1" fmla="*/ 0 h 69"/>
                        <a:gd name="T2" fmla="*/ 0 w 40"/>
                        <a:gd name="T3" fmla="*/ 0 h 69"/>
                        <a:gd name="T4" fmla="*/ 1 w 40"/>
                        <a:gd name="T5" fmla="*/ 0 h 69"/>
                        <a:gd name="T6" fmla="*/ 1 w 40"/>
                        <a:gd name="T7" fmla="*/ 0 h 69"/>
                        <a:gd name="T8" fmla="*/ 1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3"/>
                          </a:lnTo>
                          <a:lnTo>
                            <a:pt x="12" y="0"/>
                          </a:lnTo>
                          <a:lnTo>
                            <a:pt x="40"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41" name="Freeform 2415"/>
                    <p:cNvSpPr>
                      <a:spLocks/>
                    </p:cNvSpPr>
                    <p:nvPr/>
                  </p:nvSpPr>
                  <p:spPr bwMode="auto">
                    <a:xfrm>
                      <a:off x="968" y="3593"/>
                      <a:ext cx="33" cy="11"/>
                    </a:xfrm>
                    <a:custGeom>
                      <a:avLst/>
                      <a:gdLst>
                        <a:gd name="T0" fmla="*/ 0 w 66"/>
                        <a:gd name="T1" fmla="*/ 0 h 35"/>
                        <a:gd name="T2" fmla="*/ 1 w 66"/>
                        <a:gd name="T3" fmla="*/ 0 h 35"/>
                        <a:gd name="T4" fmla="*/ 1 w 66"/>
                        <a:gd name="T5" fmla="*/ 0 h 35"/>
                        <a:gd name="T6" fmla="*/ 1 w 66"/>
                        <a:gd name="T7" fmla="*/ 0 h 35"/>
                        <a:gd name="T8" fmla="*/ 0 w 66"/>
                        <a:gd name="T9" fmla="*/ 0 h 35"/>
                        <a:gd name="T10" fmla="*/ 0 60000 65536"/>
                        <a:gd name="T11" fmla="*/ 0 60000 65536"/>
                        <a:gd name="T12" fmla="*/ 0 60000 65536"/>
                        <a:gd name="T13" fmla="*/ 0 60000 65536"/>
                        <a:gd name="T14" fmla="*/ 0 60000 65536"/>
                        <a:gd name="T15" fmla="*/ 0 w 66"/>
                        <a:gd name="T16" fmla="*/ 0 h 35"/>
                        <a:gd name="T17" fmla="*/ 66 w 66"/>
                        <a:gd name="T18" fmla="*/ 35 h 35"/>
                      </a:gdLst>
                      <a:ahLst/>
                      <a:cxnLst>
                        <a:cxn ang="T10">
                          <a:pos x="T0" y="T1"/>
                        </a:cxn>
                        <a:cxn ang="T11">
                          <a:pos x="T2" y="T3"/>
                        </a:cxn>
                        <a:cxn ang="T12">
                          <a:pos x="T4" y="T5"/>
                        </a:cxn>
                        <a:cxn ang="T13">
                          <a:pos x="T6" y="T7"/>
                        </a:cxn>
                        <a:cxn ang="T14">
                          <a:pos x="T8" y="T9"/>
                        </a:cxn>
                      </a:cxnLst>
                      <a:rect l="T15" t="T16" r="T17" b="T18"/>
                      <a:pathLst>
                        <a:path w="66" h="35">
                          <a:moveTo>
                            <a:pt x="0" y="0"/>
                          </a:moveTo>
                          <a:lnTo>
                            <a:pt x="41" y="0"/>
                          </a:lnTo>
                          <a:lnTo>
                            <a:pt x="66"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42" name="Freeform 2416"/>
                    <p:cNvSpPr>
                      <a:spLocks/>
                    </p:cNvSpPr>
                    <p:nvPr/>
                  </p:nvSpPr>
                  <p:spPr bwMode="auto">
                    <a:xfrm>
                      <a:off x="973" y="3605"/>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3" y="0"/>
                          </a:lnTo>
                          <a:lnTo>
                            <a:pt x="55"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32" name="Group 2417"/>
                  <p:cNvGrpSpPr>
                    <a:grpSpLocks/>
                  </p:cNvGrpSpPr>
                  <p:nvPr/>
                </p:nvGrpSpPr>
                <p:grpSpPr bwMode="auto">
                  <a:xfrm>
                    <a:off x="974" y="3606"/>
                    <a:ext cx="44" cy="23"/>
                    <a:chOff x="974" y="3606"/>
                    <a:chExt cx="44" cy="23"/>
                  </a:xfrm>
                </p:grpSpPr>
                <p:sp>
                  <p:nvSpPr>
                    <p:cNvPr id="2537" name="Freeform 2418"/>
                    <p:cNvSpPr>
                      <a:spLocks/>
                    </p:cNvSpPr>
                    <p:nvPr/>
                  </p:nvSpPr>
                  <p:spPr bwMode="auto">
                    <a:xfrm>
                      <a:off x="974" y="360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5"/>
                          </a:lnTo>
                          <a:lnTo>
                            <a:pt x="12" y="0"/>
                          </a:lnTo>
                          <a:lnTo>
                            <a:pt x="40" y="35"/>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38" name="Freeform 2419"/>
                    <p:cNvSpPr>
                      <a:spLocks/>
                    </p:cNvSpPr>
                    <p:nvPr/>
                  </p:nvSpPr>
                  <p:spPr bwMode="auto">
                    <a:xfrm>
                      <a:off x="980" y="3606"/>
                      <a:ext cx="32" cy="12"/>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2"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39" name="Freeform 2420"/>
                    <p:cNvSpPr>
                      <a:spLocks/>
                    </p:cNvSpPr>
                    <p:nvPr/>
                  </p:nvSpPr>
                  <p:spPr bwMode="auto">
                    <a:xfrm>
                      <a:off x="986" y="3619"/>
                      <a:ext cx="32" cy="9"/>
                    </a:xfrm>
                    <a:custGeom>
                      <a:avLst/>
                      <a:gdLst>
                        <a:gd name="T0" fmla="*/ 0 w 65"/>
                        <a:gd name="T1" fmla="*/ 0 h 29"/>
                        <a:gd name="T2" fmla="*/ 0 w 65"/>
                        <a:gd name="T3" fmla="*/ 0 h 29"/>
                        <a:gd name="T4" fmla="*/ 0 w 65"/>
                        <a:gd name="T5" fmla="*/ 0 h 29"/>
                        <a:gd name="T6" fmla="*/ 0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2"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33" name="Group 2421"/>
                  <p:cNvGrpSpPr>
                    <a:grpSpLocks/>
                  </p:cNvGrpSpPr>
                  <p:nvPr/>
                </p:nvGrpSpPr>
                <p:grpSpPr bwMode="auto">
                  <a:xfrm>
                    <a:off x="987" y="3619"/>
                    <a:ext cx="45" cy="23"/>
                    <a:chOff x="987" y="3619"/>
                    <a:chExt cx="45" cy="23"/>
                  </a:xfrm>
                </p:grpSpPr>
                <p:sp>
                  <p:nvSpPr>
                    <p:cNvPr id="2534" name="Freeform 2422"/>
                    <p:cNvSpPr>
                      <a:spLocks/>
                    </p:cNvSpPr>
                    <p:nvPr/>
                  </p:nvSpPr>
                  <p:spPr bwMode="auto">
                    <a:xfrm>
                      <a:off x="987" y="3619"/>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3"/>
                          </a:lnTo>
                          <a:lnTo>
                            <a:pt x="12" y="0"/>
                          </a:lnTo>
                          <a:lnTo>
                            <a:pt x="39"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35" name="Freeform 2423"/>
                    <p:cNvSpPr>
                      <a:spLocks/>
                    </p:cNvSpPr>
                    <p:nvPr/>
                  </p:nvSpPr>
                  <p:spPr bwMode="auto">
                    <a:xfrm>
                      <a:off x="994" y="3620"/>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5"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36" name="Freeform 2424"/>
                    <p:cNvSpPr>
                      <a:spLocks/>
                    </p:cNvSpPr>
                    <p:nvPr/>
                  </p:nvSpPr>
                  <p:spPr bwMode="auto">
                    <a:xfrm>
                      <a:off x="999" y="3632"/>
                      <a:ext cx="33" cy="9"/>
                    </a:xfrm>
                    <a:custGeom>
                      <a:avLst/>
                      <a:gdLst>
                        <a:gd name="T0" fmla="*/ 0 w 65"/>
                        <a:gd name="T1" fmla="*/ 0 h 29"/>
                        <a:gd name="T2" fmla="*/ 1 w 65"/>
                        <a:gd name="T3" fmla="*/ 0 h 29"/>
                        <a:gd name="T4" fmla="*/ 1 w 65"/>
                        <a:gd name="T5" fmla="*/ 0 h 29"/>
                        <a:gd name="T6" fmla="*/ 1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4"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431" name="Group 2425"/>
                <p:cNvGrpSpPr>
                  <a:grpSpLocks/>
                </p:cNvGrpSpPr>
                <p:nvPr/>
              </p:nvGrpSpPr>
              <p:grpSpPr bwMode="auto">
                <a:xfrm>
                  <a:off x="1002" y="3632"/>
                  <a:ext cx="83" cy="63"/>
                  <a:chOff x="1002" y="3632"/>
                  <a:chExt cx="83" cy="63"/>
                </a:xfrm>
              </p:grpSpPr>
              <p:grpSp>
                <p:nvGrpSpPr>
                  <p:cNvPr id="2514" name="Group 2426"/>
                  <p:cNvGrpSpPr>
                    <a:grpSpLocks/>
                  </p:cNvGrpSpPr>
                  <p:nvPr/>
                </p:nvGrpSpPr>
                <p:grpSpPr bwMode="auto">
                  <a:xfrm>
                    <a:off x="1002" y="3632"/>
                    <a:ext cx="44" cy="22"/>
                    <a:chOff x="1002" y="3632"/>
                    <a:chExt cx="44" cy="22"/>
                  </a:xfrm>
                </p:grpSpPr>
                <p:sp>
                  <p:nvSpPr>
                    <p:cNvPr id="2527" name="Freeform 2427"/>
                    <p:cNvSpPr>
                      <a:spLocks/>
                    </p:cNvSpPr>
                    <p:nvPr/>
                  </p:nvSpPr>
                  <p:spPr bwMode="auto">
                    <a:xfrm>
                      <a:off x="1002" y="3632"/>
                      <a:ext cx="19" cy="22"/>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3"/>
                          </a:lnTo>
                          <a:lnTo>
                            <a:pt x="10" y="0"/>
                          </a:lnTo>
                          <a:lnTo>
                            <a:pt x="38" y="33"/>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28" name="Freeform 2428"/>
                    <p:cNvSpPr>
                      <a:spLocks/>
                    </p:cNvSpPr>
                    <p:nvPr/>
                  </p:nvSpPr>
                  <p:spPr bwMode="auto">
                    <a:xfrm>
                      <a:off x="1008" y="3632"/>
                      <a:ext cx="33" cy="12"/>
                    </a:xfrm>
                    <a:custGeom>
                      <a:avLst/>
                      <a:gdLst>
                        <a:gd name="T0" fmla="*/ 0 w 65"/>
                        <a:gd name="T1" fmla="*/ 0 h 35"/>
                        <a:gd name="T2" fmla="*/ 1 w 65"/>
                        <a:gd name="T3" fmla="*/ 0 h 35"/>
                        <a:gd name="T4" fmla="*/ 1 w 65"/>
                        <a:gd name="T5" fmla="*/ 0 h 35"/>
                        <a:gd name="T6" fmla="*/ 1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0"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29" name="Freeform 2429"/>
                    <p:cNvSpPr>
                      <a:spLocks/>
                    </p:cNvSpPr>
                    <p:nvPr/>
                  </p:nvSpPr>
                  <p:spPr bwMode="auto">
                    <a:xfrm>
                      <a:off x="1013" y="3644"/>
                      <a:ext cx="33" cy="10"/>
                    </a:xfrm>
                    <a:custGeom>
                      <a:avLst/>
                      <a:gdLst>
                        <a:gd name="T0" fmla="*/ 0 w 66"/>
                        <a:gd name="T1" fmla="*/ 0 h 28"/>
                        <a:gd name="T2" fmla="*/ 1 w 66"/>
                        <a:gd name="T3" fmla="*/ 0 h 28"/>
                        <a:gd name="T4" fmla="*/ 1 w 66"/>
                        <a:gd name="T5" fmla="*/ 0 h 28"/>
                        <a:gd name="T6" fmla="*/ 1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3" y="0"/>
                          </a:lnTo>
                          <a:lnTo>
                            <a:pt x="55"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15" name="Group 2430"/>
                  <p:cNvGrpSpPr>
                    <a:grpSpLocks/>
                  </p:cNvGrpSpPr>
                  <p:nvPr/>
                </p:nvGrpSpPr>
                <p:grpSpPr bwMode="auto">
                  <a:xfrm>
                    <a:off x="1014" y="3645"/>
                    <a:ext cx="44" cy="23"/>
                    <a:chOff x="1014" y="3645"/>
                    <a:chExt cx="44" cy="23"/>
                  </a:xfrm>
                </p:grpSpPr>
                <p:sp>
                  <p:nvSpPr>
                    <p:cNvPr id="2524" name="Freeform 2431"/>
                    <p:cNvSpPr>
                      <a:spLocks/>
                    </p:cNvSpPr>
                    <p:nvPr/>
                  </p:nvSpPr>
                  <p:spPr bwMode="auto">
                    <a:xfrm>
                      <a:off x="1014" y="3645"/>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4"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25" name="Freeform 2432"/>
                    <p:cNvSpPr>
                      <a:spLocks/>
                    </p:cNvSpPr>
                    <p:nvPr/>
                  </p:nvSpPr>
                  <p:spPr bwMode="auto">
                    <a:xfrm>
                      <a:off x="1021" y="3646"/>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41"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26" name="Freeform 2433"/>
                    <p:cNvSpPr>
                      <a:spLocks/>
                    </p:cNvSpPr>
                    <p:nvPr/>
                  </p:nvSpPr>
                  <p:spPr bwMode="auto">
                    <a:xfrm>
                      <a:off x="1026" y="3658"/>
                      <a:ext cx="32" cy="10"/>
                    </a:xfrm>
                    <a:custGeom>
                      <a:avLst/>
                      <a:gdLst>
                        <a:gd name="T0" fmla="*/ 0 w 65"/>
                        <a:gd name="T1" fmla="*/ 0 h 30"/>
                        <a:gd name="T2" fmla="*/ 0 w 65"/>
                        <a:gd name="T3" fmla="*/ 0 h 30"/>
                        <a:gd name="T4" fmla="*/ 0 w 65"/>
                        <a:gd name="T5" fmla="*/ 0 h 30"/>
                        <a:gd name="T6" fmla="*/ 0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2"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16" name="Group 2434"/>
                  <p:cNvGrpSpPr>
                    <a:grpSpLocks/>
                  </p:cNvGrpSpPr>
                  <p:nvPr/>
                </p:nvGrpSpPr>
                <p:grpSpPr bwMode="auto">
                  <a:xfrm>
                    <a:off x="1027" y="3659"/>
                    <a:ext cx="45" cy="23"/>
                    <a:chOff x="1027" y="3659"/>
                    <a:chExt cx="45" cy="23"/>
                  </a:xfrm>
                </p:grpSpPr>
                <p:sp>
                  <p:nvSpPr>
                    <p:cNvPr id="2521" name="Freeform 2435"/>
                    <p:cNvSpPr>
                      <a:spLocks/>
                    </p:cNvSpPr>
                    <p:nvPr/>
                  </p:nvSpPr>
                  <p:spPr bwMode="auto">
                    <a:xfrm>
                      <a:off x="1027" y="3659"/>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2" y="70"/>
                          </a:moveTo>
                          <a:lnTo>
                            <a:pt x="0" y="34"/>
                          </a:lnTo>
                          <a:lnTo>
                            <a:pt x="12" y="0"/>
                          </a:lnTo>
                          <a:lnTo>
                            <a:pt x="39" y="34"/>
                          </a:lnTo>
                          <a:lnTo>
                            <a:pt x="22"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22" name="Freeform 2436"/>
                    <p:cNvSpPr>
                      <a:spLocks/>
                    </p:cNvSpPr>
                    <p:nvPr/>
                  </p:nvSpPr>
                  <p:spPr bwMode="auto">
                    <a:xfrm>
                      <a:off x="1033" y="3659"/>
                      <a:ext cx="33"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23" name="Freeform 2437"/>
                    <p:cNvSpPr>
                      <a:spLocks/>
                    </p:cNvSpPr>
                    <p:nvPr/>
                  </p:nvSpPr>
                  <p:spPr bwMode="auto">
                    <a:xfrm>
                      <a:off x="1039" y="3671"/>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17" name="Group 2438"/>
                  <p:cNvGrpSpPr>
                    <a:grpSpLocks/>
                  </p:cNvGrpSpPr>
                  <p:nvPr/>
                </p:nvGrpSpPr>
                <p:grpSpPr bwMode="auto">
                  <a:xfrm>
                    <a:off x="1040" y="3672"/>
                    <a:ext cx="45" cy="23"/>
                    <a:chOff x="1040" y="3672"/>
                    <a:chExt cx="45" cy="23"/>
                  </a:xfrm>
                </p:grpSpPr>
                <p:sp>
                  <p:nvSpPr>
                    <p:cNvPr id="2518" name="Freeform 2439"/>
                    <p:cNvSpPr>
                      <a:spLocks/>
                    </p:cNvSpPr>
                    <p:nvPr/>
                  </p:nvSpPr>
                  <p:spPr bwMode="auto">
                    <a:xfrm>
                      <a:off x="1040" y="3672"/>
                      <a:ext cx="20" cy="23"/>
                    </a:xfrm>
                    <a:custGeom>
                      <a:avLst/>
                      <a:gdLst>
                        <a:gd name="T0" fmla="*/ 0 w 41"/>
                        <a:gd name="T1" fmla="*/ 0 h 70"/>
                        <a:gd name="T2" fmla="*/ 0 w 41"/>
                        <a:gd name="T3" fmla="*/ 0 h 70"/>
                        <a:gd name="T4" fmla="*/ 0 w 41"/>
                        <a:gd name="T5" fmla="*/ 0 h 70"/>
                        <a:gd name="T6" fmla="*/ 0 w 41"/>
                        <a:gd name="T7" fmla="*/ 0 h 70"/>
                        <a:gd name="T8" fmla="*/ 0 w 41"/>
                        <a:gd name="T9" fmla="*/ 0 h 70"/>
                        <a:gd name="T10" fmla="*/ 0 60000 65536"/>
                        <a:gd name="T11" fmla="*/ 0 60000 65536"/>
                        <a:gd name="T12" fmla="*/ 0 60000 65536"/>
                        <a:gd name="T13" fmla="*/ 0 60000 65536"/>
                        <a:gd name="T14" fmla="*/ 0 60000 65536"/>
                        <a:gd name="T15" fmla="*/ 0 w 41"/>
                        <a:gd name="T16" fmla="*/ 0 h 70"/>
                        <a:gd name="T17" fmla="*/ 41 w 41"/>
                        <a:gd name="T18" fmla="*/ 70 h 70"/>
                      </a:gdLst>
                      <a:ahLst/>
                      <a:cxnLst>
                        <a:cxn ang="T10">
                          <a:pos x="T0" y="T1"/>
                        </a:cxn>
                        <a:cxn ang="T11">
                          <a:pos x="T2" y="T3"/>
                        </a:cxn>
                        <a:cxn ang="T12">
                          <a:pos x="T4" y="T5"/>
                        </a:cxn>
                        <a:cxn ang="T13">
                          <a:pos x="T6" y="T7"/>
                        </a:cxn>
                        <a:cxn ang="T14">
                          <a:pos x="T8" y="T9"/>
                        </a:cxn>
                      </a:cxnLst>
                      <a:rect l="T15" t="T16" r="T17" b="T18"/>
                      <a:pathLst>
                        <a:path w="41" h="70">
                          <a:moveTo>
                            <a:pt x="24" y="70"/>
                          </a:moveTo>
                          <a:lnTo>
                            <a:pt x="0" y="35"/>
                          </a:lnTo>
                          <a:lnTo>
                            <a:pt x="13" y="0"/>
                          </a:lnTo>
                          <a:lnTo>
                            <a:pt x="41" y="35"/>
                          </a:lnTo>
                          <a:lnTo>
                            <a:pt x="24"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19" name="Freeform 2440"/>
                    <p:cNvSpPr>
                      <a:spLocks/>
                    </p:cNvSpPr>
                    <p:nvPr/>
                  </p:nvSpPr>
                  <p:spPr bwMode="auto">
                    <a:xfrm>
                      <a:off x="1047" y="3672"/>
                      <a:ext cx="32" cy="12"/>
                    </a:xfrm>
                    <a:custGeom>
                      <a:avLst/>
                      <a:gdLst>
                        <a:gd name="T0" fmla="*/ 0 w 65"/>
                        <a:gd name="T1" fmla="*/ 0 h 34"/>
                        <a:gd name="T2" fmla="*/ 0 w 65"/>
                        <a:gd name="T3" fmla="*/ 0 h 34"/>
                        <a:gd name="T4" fmla="*/ 0 w 65"/>
                        <a:gd name="T5" fmla="*/ 0 h 34"/>
                        <a:gd name="T6" fmla="*/ 0 w 65"/>
                        <a:gd name="T7" fmla="*/ 0 h 34"/>
                        <a:gd name="T8" fmla="*/ 0 w 65"/>
                        <a:gd name="T9" fmla="*/ 0 h 34"/>
                        <a:gd name="T10" fmla="*/ 0 60000 65536"/>
                        <a:gd name="T11" fmla="*/ 0 60000 65536"/>
                        <a:gd name="T12" fmla="*/ 0 60000 65536"/>
                        <a:gd name="T13" fmla="*/ 0 60000 65536"/>
                        <a:gd name="T14" fmla="*/ 0 60000 65536"/>
                        <a:gd name="T15" fmla="*/ 0 w 65"/>
                        <a:gd name="T16" fmla="*/ 0 h 34"/>
                        <a:gd name="T17" fmla="*/ 65 w 65"/>
                        <a:gd name="T18" fmla="*/ 34 h 34"/>
                      </a:gdLst>
                      <a:ahLst/>
                      <a:cxnLst>
                        <a:cxn ang="T10">
                          <a:pos x="T0" y="T1"/>
                        </a:cxn>
                        <a:cxn ang="T11">
                          <a:pos x="T2" y="T3"/>
                        </a:cxn>
                        <a:cxn ang="T12">
                          <a:pos x="T4" y="T5"/>
                        </a:cxn>
                        <a:cxn ang="T13">
                          <a:pos x="T6" y="T7"/>
                        </a:cxn>
                        <a:cxn ang="T14">
                          <a:pos x="T8" y="T9"/>
                        </a:cxn>
                      </a:cxnLst>
                      <a:rect l="T15" t="T16" r="T17" b="T18"/>
                      <a:pathLst>
                        <a:path w="65" h="34">
                          <a:moveTo>
                            <a:pt x="0" y="0"/>
                          </a:moveTo>
                          <a:lnTo>
                            <a:pt x="41" y="0"/>
                          </a:lnTo>
                          <a:lnTo>
                            <a:pt x="65" y="34"/>
                          </a:lnTo>
                          <a:lnTo>
                            <a:pt x="2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20" name="Freeform 2441"/>
                    <p:cNvSpPr>
                      <a:spLocks/>
                    </p:cNvSpPr>
                    <p:nvPr/>
                  </p:nvSpPr>
                  <p:spPr bwMode="auto">
                    <a:xfrm>
                      <a:off x="1053" y="3685"/>
                      <a:ext cx="32" cy="9"/>
                    </a:xfrm>
                    <a:custGeom>
                      <a:avLst/>
                      <a:gdLst>
                        <a:gd name="T0" fmla="*/ 0 w 66"/>
                        <a:gd name="T1" fmla="*/ 0 h 28"/>
                        <a:gd name="T2" fmla="*/ 0 w 66"/>
                        <a:gd name="T3" fmla="*/ 0 h 28"/>
                        <a:gd name="T4" fmla="*/ 0 w 66"/>
                        <a:gd name="T5" fmla="*/ 0 h 28"/>
                        <a:gd name="T6" fmla="*/ 0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2" y="0"/>
                          </a:lnTo>
                          <a:lnTo>
                            <a:pt x="54"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432" name="Group 2442"/>
                <p:cNvGrpSpPr>
                  <a:grpSpLocks/>
                </p:cNvGrpSpPr>
                <p:nvPr/>
              </p:nvGrpSpPr>
              <p:grpSpPr bwMode="auto">
                <a:xfrm>
                  <a:off x="1054" y="3685"/>
                  <a:ext cx="45" cy="23"/>
                  <a:chOff x="1054" y="3685"/>
                  <a:chExt cx="45" cy="23"/>
                </a:xfrm>
              </p:grpSpPr>
              <p:sp>
                <p:nvSpPr>
                  <p:cNvPr id="2511" name="Freeform 2443"/>
                  <p:cNvSpPr>
                    <a:spLocks/>
                  </p:cNvSpPr>
                  <p:nvPr/>
                </p:nvSpPr>
                <p:spPr bwMode="auto">
                  <a:xfrm>
                    <a:off x="1054" y="3685"/>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3" y="70"/>
                        </a:moveTo>
                        <a:lnTo>
                          <a:pt x="0" y="34"/>
                        </a:lnTo>
                        <a:lnTo>
                          <a:pt x="13" y="0"/>
                        </a:lnTo>
                        <a:lnTo>
                          <a:pt x="39" y="34"/>
                        </a:lnTo>
                        <a:lnTo>
                          <a:pt x="23"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12" name="Freeform 2444"/>
                  <p:cNvSpPr>
                    <a:spLocks/>
                  </p:cNvSpPr>
                  <p:nvPr/>
                </p:nvSpPr>
                <p:spPr bwMode="auto">
                  <a:xfrm>
                    <a:off x="1061" y="3685"/>
                    <a:ext cx="32" cy="12"/>
                  </a:xfrm>
                  <a:custGeom>
                    <a:avLst/>
                    <a:gdLst>
                      <a:gd name="T0" fmla="*/ 0 w 63"/>
                      <a:gd name="T1" fmla="*/ 0 h 35"/>
                      <a:gd name="T2" fmla="*/ 1 w 63"/>
                      <a:gd name="T3" fmla="*/ 0 h 35"/>
                      <a:gd name="T4" fmla="*/ 1 w 63"/>
                      <a:gd name="T5" fmla="*/ 0 h 35"/>
                      <a:gd name="T6" fmla="*/ 1 w 63"/>
                      <a:gd name="T7" fmla="*/ 0 h 35"/>
                      <a:gd name="T8" fmla="*/ 0 w 63"/>
                      <a:gd name="T9" fmla="*/ 0 h 35"/>
                      <a:gd name="T10" fmla="*/ 0 60000 65536"/>
                      <a:gd name="T11" fmla="*/ 0 60000 65536"/>
                      <a:gd name="T12" fmla="*/ 0 60000 65536"/>
                      <a:gd name="T13" fmla="*/ 0 60000 65536"/>
                      <a:gd name="T14" fmla="*/ 0 60000 65536"/>
                      <a:gd name="T15" fmla="*/ 0 w 63"/>
                      <a:gd name="T16" fmla="*/ 0 h 35"/>
                      <a:gd name="T17" fmla="*/ 63 w 63"/>
                      <a:gd name="T18" fmla="*/ 35 h 35"/>
                    </a:gdLst>
                    <a:ahLst/>
                    <a:cxnLst>
                      <a:cxn ang="T10">
                        <a:pos x="T0" y="T1"/>
                      </a:cxn>
                      <a:cxn ang="T11">
                        <a:pos x="T2" y="T3"/>
                      </a:cxn>
                      <a:cxn ang="T12">
                        <a:pos x="T4" y="T5"/>
                      </a:cxn>
                      <a:cxn ang="T13">
                        <a:pos x="T6" y="T7"/>
                      </a:cxn>
                      <a:cxn ang="T14">
                        <a:pos x="T8" y="T9"/>
                      </a:cxn>
                    </a:cxnLst>
                    <a:rect l="T15" t="T16" r="T17" b="T18"/>
                    <a:pathLst>
                      <a:path w="63" h="35">
                        <a:moveTo>
                          <a:pt x="0" y="0"/>
                        </a:moveTo>
                        <a:lnTo>
                          <a:pt x="41" y="0"/>
                        </a:lnTo>
                        <a:lnTo>
                          <a:pt x="63"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13" name="Freeform 2445"/>
                  <p:cNvSpPr>
                    <a:spLocks/>
                  </p:cNvSpPr>
                  <p:nvPr/>
                </p:nvSpPr>
                <p:spPr bwMode="auto">
                  <a:xfrm>
                    <a:off x="1066" y="3697"/>
                    <a:ext cx="33" cy="10"/>
                  </a:xfrm>
                  <a:custGeom>
                    <a:avLst/>
                    <a:gdLst>
                      <a:gd name="T0" fmla="*/ 0 w 64"/>
                      <a:gd name="T1" fmla="*/ 0 h 30"/>
                      <a:gd name="T2" fmla="*/ 1 w 64"/>
                      <a:gd name="T3" fmla="*/ 0 h 30"/>
                      <a:gd name="T4" fmla="*/ 1 w 64"/>
                      <a:gd name="T5" fmla="*/ 0 h 30"/>
                      <a:gd name="T6" fmla="*/ 1 w 64"/>
                      <a:gd name="T7" fmla="*/ 0 h 30"/>
                      <a:gd name="T8" fmla="*/ 0 w 64"/>
                      <a:gd name="T9" fmla="*/ 0 h 30"/>
                      <a:gd name="T10" fmla="*/ 0 60000 65536"/>
                      <a:gd name="T11" fmla="*/ 0 60000 65536"/>
                      <a:gd name="T12" fmla="*/ 0 60000 65536"/>
                      <a:gd name="T13" fmla="*/ 0 60000 65536"/>
                      <a:gd name="T14" fmla="*/ 0 60000 65536"/>
                      <a:gd name="T15" fmla="*/ 0 w 64"/>
                      <a:gd name="T16" fmla="*/ 0 h 30"/>
                      <a:gd name="T17" fmla="*/ 64 w 64"/>
                      <a:gd name="T18" fmla="*/ 30 h 30"/>
                    </a:gdLst>
                    <a:ahLst/>
                    <a:cxnLst>
                      <a:cxn ang="T10">
                        <a:pos x="T0" y="T1"/>
                      </a:cxn>
                      <a:cxn ang="T11">
                        <a:pos x="T2" y="T3"/>
                      </a:cxn>
                      <a:cxn ang="T12">
                        <a:pos x="T4" y="T5"/>
                      </a:cxn>
                      <a:cxn ang="T13">
                        <a:pos x="T6" y="T7"/>
                      </a:cxn>
                      <a:cxn ang="T14">
                        <a:pos x="T8" y="T9"/>
                      </a:cxn>
                    </a:cxnLst>
                    <a:rect l="T15" t="T16" r="T17" b="T18"/>
                    <a:pathLst>
                      <a:path w="64" h="30">
                        <a:moveTo>
                          <a:pt x="0" y="30"/>
                        </a:moveTo>
                        <a:lnTo>
                          <a:pt x="13" y="0"/>
                        </a:lnTo>
                        <a:lnTo>
                          <a:pt x="52" y="0"/>
                        </a:lnTo>
                        <a:lnTo>
                          <a:pt x="64"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33" name="Group 2446"/>
                <p:cNvGrpSpPr>
                  <a:grpSpLocks/>
                </p:cNvGrpSpPr>
                <p:nvPr/>
              </p:nvGrpSpPr>
              <p:grpSpPr bwMode="auto">
                <a:xfrm>
                  <a:off x="1067" y="3698"/>
                  <a:ext cx="45" cy="23"/>
                  <a:chOff x="1067" y="3698"/>
                  <a:chExt cx="45" cy="23"/>
                </a:xfrm>
              </p:grpSpPr>
              <p:sp>
                <p:nvSpPr>
                  <p:cNvPr id="2508" name="Freeform 2447"/>
                  <p:cNvSpPr>
                    <a:spLocks/>
                  </p:cNvSpPr>
                  <p:nvPr/>
                </p:nvSpPr>
                <p:spPr bwMode="auto">
                  <a:xfrm>
                    <a:off x="1067" y="3698"/>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2" y="69"/>
                        </a:moveTo>
                        <a:lnTo>
                          <a:pt x="0" y="34"/>
                        </a:lnTo>
                        <a:lnTo>
                          <a:pt x="12" y="0"/>
                        </a:lnTo>
                        <a:lnTo>
                          <a:pt x="39"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09" name="Freeform 2448"/>
                  <p:cNvSpPr>
                    <a:spLocks/>
                  </p:cNvSpPr>
                  <p:nvPr/>
                </p:nvSpPr>
                <p:spPr bwMode="auto">
                  <a:xfrm>
                    <a:off x="1074" y="3699"/>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10" name="Freeform 2449"/>
                  <p:cNvSpPr>
                    <a:spLocks/>
                  </p:cNvSpPr>
                  <p:nvPr/>
                </p:nvSpPr>
                <p:spPr bwMode="auto">
                  <a:xfrm>
                    <a:off x="1079" y="3711"/>
                    <a:ext cx="33" cy="10"/>
                  </a:xfrm>
                  <a:custGeom>
                    <a:avLst/>
                    <a:gdLst>
                      <a:gd name="T0" fmla="*/ 0 w 65"/>
                      <a:gd name="T1" fmla="*/ 0 h 30"/>
                      <a:gd name="T2" fmla="*/ 1 w 65"/>
                      <a:gd name="T3" fmla="*/ 0 h 30"/>
                      <a:gd name="T4" fmla="*/ 1 w 65"/>
                      <a:gd name="T5" fmla="*/ 0 h 30"/>
                      <a:gd name="T6" fmla="*/ 1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1"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34" name="Group 2450"/>
                <p:cNvGrpSpPr>
                  <a:grpSpLocks/>
                </p:cNvGrpSpPr>
                <p:nvPr/>
              </p:nvGrpSpPr>
              <p:grpSpPr bwMode="auto">
                <a:xfrm>
                  <a:off x="1079" y="3712"/>
                  <a:ext cx="44" cy="23"/>
                  <a:chOff x="1079" y="3712"/>
                  <a:chExt cx="44" cy="23"/>
                </a:xfrm>
              </p:grpSpPr>
              <p:sp>
                <p:nvSpPr>
                  <p:cNvPr id="2505" name="Freeform 2451"/>
                  <p:cNvSpPr>
                    <a:spLocks/>
                  </p:cNvSpPr>
                  <p:nvPr/>
                </p:nvSpPr>
                <p:spPr bwMode="auto">
                  <a:xfrm>
                    <a:off x="1079" y="3712"/>
                    <a:ext cx="21" cy="23"/>
                  </a:xfrm>
                  <a:custGeom>
                    <a:avLst/>
                    <a:gdLst>
                      <a:gd name="T0" fmla="*/ 1 w 41"/>
                      <a:gd name="T1" fmla="*/ 0 h 68"/>
                      <a:gd name="T2" fmla="*/ 0 w 41"/>
                      <a:gd name="T3" fmla="*/ 0 h 68"/>
                      <a:gd name="T4" fmla="*/ 1 w 41"/>
                      <a:gd name="T5" fmla="*/ 0 h 68"/>
                      <a:gd name="T6" fmla="*/ 1 w 41"/>
                      <a:gd name="T7" fmla="*/ 0 h 68"/>
                      <a:gd name="T8" fmla="*/ 1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3"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06" name="Freeform 2452"/>
                  <p:cNvSpPr>
                    <a:spLocks/>
                  </p:cNvSpPr>
                  <p:nvPr/>
                </p:nvSpPr>
                <p:spPr bwMode="auto">
                  <a:xfrm>
                    <a:off x="1087" y="3713"/>
                    <a:ext cx="31" cy="10"/>
                  </a:xfrm>
                  <a:custGeom>
                    <a:avLst/>
                    <a:gdLst>
                      <a:gd name="T0" fmla="*/ 0 w 63"/>
                      <a:gd name="T1" fmla="*/ 0 h 32"/>
                      <a:gd name="T2" fmla="*/ 0 w 63"/>
                      <a:gd name="T3" fmla="*/ 0 h 32"/>
                      <a:gd name="T4" fmla="*/ 0 w 63"/>
                      <a:gd name="T5" fmla="*/ 0 h 32"/>
                      <a:gd name="T6" fmla="*/ 0 w 63"/>
                      <a:gd name="T7" fmla="*/ 0 h 32"/>
                      <a:gd name="T8" fmla="*/ 0 w 63"/>
                      <a:gd name="T9" fmla="*/ 0 h 32"/>
                      <a:gd name="T10" fmla="*/ 0 60000 65536"/>
                      <a:gd name="T11" fmla="*/ 0 60000 65536"/>
                      <a:gd name="T12" fmla="*/ 0 60000 65536"/>
                      <a:gd name="T13" fmla="*/ 0 60000 65536"/>
                      <a:gd name="T14" fmla="*/ 0 60000 65536"/>
                      <a:gd name="T15" fmla="*/ 0 w 63"/>
                      <a:gd name="T16" fmla="*/ 0 h 32"/>
                      <a:gd name="T17" fmla="*/ 63 w 63"/>
                      <a:gd name="T18" fmla="*/ 32 h 32"/>
                    </a:gdLst>
                    <a:ahLst/>
                    <a:cxnLst>
                      <a:cxn ang="T10">
                        <a:pos x="T0" y="T1"/>
                      </a:cxn>
                      <a:cxn ang="T11">
                        <a:pos x="T2" y="T3"/>
                      </a:cxn>
                      <a:cxn ang="T12">
                        <a:pos x="T4" y="T5"/>
                      </a:cxn>
                      <a:cxn ang="T13">
                        <a:pos x="T6" y="T7"/>
                      </a:cxn>
                      <a:cxn ang="T14">
                        <a:pos x="T8" y="T9"/>
                      </a:cxn>
                    </a:cxnLst>
                    <a:rect l="T15" t="T16" r="T17" b="T18"/>
                    <a:pathLst>
                      <a:path w="63" h="32">
                        <a:moveTo>
                          <a:pt x="0" y="0"/>
                        </a:moveTo>
                        <a:lnTo>
                          <a:pt x="40" y="0"/>
                        </a:lnTo>
                        <a:lnTo>
                          <a:pt x="63" y="32"/>
                        </a:lnTo>
                        <a:lnTo>
                          <a:pt x="23"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07" name="Freeform 2453"/>
                  <p:cNvSpPr>
                    <a:spLocks/>
                  </p:cNvSpPr>
                  <p:nvPr/>
                </p:nvSpPr>
                <p:spPr bwMode="auto">
                  <a:xfrm>
                    <a:off x="1092" y="3724"/>
                    <a:ext cx="31" cy="11"/>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2"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35" name="Group 2454"/>
                <p:cNvGrpSpPr>
                  <a:grpSpLocks/>
                </p:cNvGrpSpPr>
                <p:nvPr/>
              </p:nvGrpSpPr>
              <p:grpSpPr bwMode="auto">
                <a:xfrm>
                  <a:off x="1093" y="3725"/>
                  <a:ext cx="45" cy="23"/>
                  <a:chOff x="1093" y="3725"/>
                  <a:chExt cx="45" cy="23"/>
                </a:xfrm>
              </p:grpSpPr>
              <p:sp>
                <p:nvSpPr>
                  <p:cNvPr id="2502" name="Freeform 2455"/>
                  <p:cNvSpPr>
                    <a:spLocks/>
                  </p:cNvSpPr>
                  <p:nvPr/>
                </p:nvSpPr>
                <p:spPr bwMode="auto">
                  <a:xfrm>
                    <a:off x="1093" y="3725"/>
                    <a:ext cx="20" cy="23"/>
                  </a:xfrm>
                  <a:custGeom>
                    <a:avLst/>
                    <a:gdLst>
                      <a:gd name="T0" fmla="*/ 1 w 40"/>
                      <a:gd name="T1" fmla="*/ 0 h 68"/>
                      <a:gd name="T2" fmla="*/ 0 w 40"/>
                      <a:gd name="T3" fmla="*/ 0 h 68"/>
                      <a:gd name="T4" fmla="*/ 1 w 40"/>
                      <a:gd name="T5" fmla="*/ 0 h 68"/>
                      <a:gd name="T6" fmla="*/ 1 w 40"/>
                      <a:gd name="T7" fmla="*/ 0 h 68"/>
                      <a:gd name="T8" fmla="*/ 1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2"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03" name="Freeform 2456"/>
                  <p:cNvSpPr>
                    <a:spLocks/>
                  </p:cNvSpPr>
                  <p:nvPr/>
                </p:nvSpPr>
                <p:spPr bwMode="auto">
                  <a:xfrm>
                    <a:off x="1100" y="3726"/>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04" name="Freeform 2457"/>
                  <p:cNvSpPr>
                    <a:spLocks/>
                  </p:cNvSpPr>
                  <p:nvPr/>
                </p:nvSpPr>
                <p:spPr bwMode="auto">
                  <a:xfrm>
                    <a:off x="1106" y="3738"/>
                    <a:ext cx="32" cy="9"/>
                  </a:xfrm>
                  <a:custGeom>
                    <a:avLst/>
                    <a:gdLst>
                      <a:gd name="T0" fmla="*/ 0 w 65"/>
                      <a:gd name="T1" fmla="*/ 0 h 28"/>
                      <a:gd name="T2" fmla="*/ 0 w 65"/>
                      <a:gd name="T3" fmla="*/ 0 h 28"/>
                      <a:gd name="T4" fmla="*/ 0 w 65"/>
                      <a:gd name="T5" fmla="*/ 0 h 28"/>
                      <a:gd name="T6" fmla="*/ 0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2" y="0"/>
                        </a:lnTo>
                        <a:lnTo>
                          <a:pt x="53"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36" name="Group 2458"/>
                <p:cNvGrpSpPr>
                  <a:grpSpLocks/>
                </p:cNvGrpSpPr>
                <p:nvPr/>
              </p:nvGrpSpPr>
              <p:grpSpPr bwMode="auto">
                <a:xfrm>
                  <a:off x="1108" y="3739"/>
                  <a:ext cx="44" cy="23"/>
                  <a:chOff x="1108" y="3739"/>
                  <a:chExt cx="44" cy="23"/>
                </a:xfrm>
              </p:grpSpPr>
              <p:sp>
                <p:nvSpPr>
                  <p:cNvPr id="2499" name="Freeform 2459"/>
                  <p:cNvSpPr>
                    <a:spLocks/>
                  </p:cNvSpPr>
                  <p:nvPr/>
                </p:nvSpPr>
                <p:spPr bwMode="auto">
                  <a:xfrm>
                    <a:off x="1108" y="3739"/>
                    <a:ext cx="19" cy="23"/>
                  </a:xfrm>
                  <a:custGeom>
                    <a:avLst/>
                    <a:gdLst>
                      <a:gd name="T0" fmla="*/ 0 w 40"/>
                      <a:gd name="T1" fmla="*/ 0 h 69"/>
                      <a:gd name="T2" fmla="*/ 0 w 40"/>
                      <a:gd name="T3" fmla="*/ 0 h 69"/>
                      <a:gd name="T4" fmla="*/ 0 w 40"/>
                      <a:gd name="T5" fmla="*/ 0 h 69"/>
                      <a:gd name="T6" fmla="*/ 0 w 40"/>
                      <a:gd name="T7" fmla="*/ 0 h 69"/>
                      <a:gd name="T8" fmla="*/ 0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4"/>
                        </a:lnTo>
                        <a:lnTo>
                          <a:pt x="12" y="0"/>
                        </a:lnTo>
                        <a:lnTo>
                          <a:pt x="40" y="34"/>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00" name="Freeform 2460"/>
                  <p:cNvSpPr>
                    <a:spLocks/>
                  </p:cNvSpPr>
                  <p:nvPr/>
                </p:nvSpPr>
                <p:spPr bwMode="auto">
                  <a:xfrm>
                    <a:off x="1114" y="3740"/>
                    <a:ext cx="32" cy="11"/>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2" y="0"/>
                        </a:lnTo>
                        <a:lnTo>
                          <a:pt x="64"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01" name="Freeform 2461"/>
                  <p:cNvSpPr>
                    <a:spLocks/>
                  </p:cNvSpPr>
                  <p:nvPr/>
                </p:nvSpPr>
                <p:spPr bwMode="auto">
                  <a:xfrm>
                    <a:off x="1120" y="3752"/>
                    <a:ext cx="32" cy="10"/>
                  </a:xfrm>
                  <a:custGeom>
                    <a:avLst/>
                    <a:gdLst>
                      <a:gd name="T0" fmla="*/ 0 w 66"/>
                      <a:gd name="T1" fmla="*/ 0 h 30"/>
                      <a:gd name="T2" fmla="*/ 0 w 66"/>
                      <a:gd name="T3" fmla="*/ 0 h 30"/>
                      <a:gd name="T4" fmla="*/ 0 w 66"/>
                      <a:gd name="T5" fmla="*/ 0 h 30"/>
                      <a:gd name="T6" fmla="*/ 0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5"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37" name="Group 2462"/>
                <p:cNvGrpSpPr>
                  <a:grpSpLocks/>
                </p:cNvGrpSpPr>
                <p:nvPr/>
              </p:nvGrpSpPr>
              <p:grpSpPr bwMode="auto">
                <a:xfrm>
                  <a:off x="1121" y="3753"/>
                  <a:ext cx="45" cy="23"/>
                  <a:chOff x="1121" y="3753"/>
                  <a:chExt cx="45" cy="23"/>
                </a:xfrm>
              </p:grpSpPr>
              <p:sp>
                <p:nvSpPr>
                  <p:cNvPr id="2496" name="Freeform 2463"/>
                  <p:cNvSpPr>
                    <a:spLocks/>
                  </p:cNvSpPr>
                  <p:nvPr/>
                </p:nvSpPr>
                <p:spPr bwMode="auto">
                  <a:xfrm>
                    <a:off x="1121" y="3753"/>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5"/>
                        </a:lnTo>
                        <a:lnTo>
                          <a:pt x="12" y="0"/>
                        </a:lnTo>
                        <a:lnTo>
                          <a:pt x="39" y="35"/>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97" name="Freeform 2464"/>
                  <p:cNvSpPr>
                    <a:spLocks/>
                  </p:cNvSpPr>
                  <p:nvPr/>
                </p:nvSpPr>
                <p:spPr bwMode="auto">
                  <a:xfrm>
                    <a:off x="1127" y="3753"/>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39" y="0"/>
                        </a:lnTo>
                        <a:lnTo>
                          <a:pt x="64"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98" name="Freeform 2465"/>
                  <p:cNvSpPr>
                    <a:spLocks/>
                  </p:cNvSpPr>
                  <p:nvPr/>
                </p:nvSpPr>
                <p:spPr bwMode="auto">
                  <a:xfrm>
                    <a:off x="1133" y="3766"/>
                    <a:ext cx="33" cy="9"/>
                  </a:xfrm>
                  <a:custGeom>
                    <a:avLst/>
                    <a:gdLst>
                      <a:gd name="T0" fmla="*/ 0 w 66"/>
                      <a:gd name="T1" fmla="*/ 0 h 29"/>
                      <a:gd name="T2" fmla="*/ 1 w 66"/>
                      <a:gd name="T3" fmla="*/ 0 h 29"/>
                      <a:gd name="T4" fmla="*/ 1 w 66"/>
                      <a:gd name="T5" fmla="*/ 0 h 29"/>
                      <a:gd name="T6" fmla="*/ 1 w 66"/>
                      <a:gd name="T7" fmla="*/ 0 h 29"/>
                      <a:gd name="T8" fmla="*/ 0 w 66"/>
                      <a:gd name="T9" fmla="*/ 0 h 29"/>
                      <a:gd name="T10" fmla="*/ 0 60000 65536"/>
                      <a:gd name="T11" fmla="*/ 0 60000 65536"/>
                      <a:gd name="T12" fmla="*/ 0 60000 65536"/>
                      <a:gd name="T13" fmla="*/ 0 60000 65536"/>
                      <a:gd name="T14" fmla="*/ 0 60000 65536"/>
                      <a:gd name="T15" fmla="*/ 0 w 66"/>
                      <a:gd name="T16" fmla="*/ 0 h 29"/>
                      <a:gd name="T17" fmla="*/ 66 w 66"/>
                      <a:gd name="T18" fmla="*/ 29 h 29"/>
                    </a:gdLst>
                    <a:ahLst/>
                    <a:cxnLst>
                      <a:cxn ang="T10">
                        <a:pos x="T0" y="T1"/>
                      </a:cxn>
                      <a:cxn ang="T11">
                        <a:pos x="T2" y="T3"/>
                      </a:cxn>
                      <a:cxn ang="T12">
                        <a:pos x="T4" y="T5"/>
                      </a:cxn>
                      <a:cxn ang="T13">
                        <a:pos x="T6" y="T7"/>
                      </a:cxn>
                      <a:cxn ang="T14">
                        <a:pos x="T8" y="T9"/>
                      </a:cxn>
                    </a:cxnLst>
                    <a:rect l="T15" t="T16" r="T17" b="T18"/>
                    <a:pathLst>
                      <a:path w="66" h="29">
                        <a:moveTo>
                          <a:pt x="0" y="29"/>
                        </a:moveTo>
                        <a:lnTo>
                          <a:pt x="12" y="0"/>
                        </a:lnTo>
                        <a:lnTo>
                          <a:pt x="54" y="0"/>
                        </a:lnTo>
                        <a:lnTo>
                          <a:pt x="66"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38" name="Group 2466"/>
                <p:cNvGrpSpPr>
                  <a:grpSpLocks/>
                </p:cNvGrpSpPr>
                <p:nvPr/>
              </p:nvGrpSpPr>
              <p:grpSpPr bwMode="auto">
                <a:xfrm>
                  <a:off x="1133" y="3767"/>
                  <a:ext cx="44" cy="23"/>
                  <a:chOff x="1133" y="3767"/>
                  <a:chExt cx="44" cy="23"/>
                </a:xfrm>
              </p:grpSpPr>
              <p:sp>
                <p:nvSpPr>
                  <p:cNvPr id="2493" name="Freeform 2467"/>
                  <p:cNvSpPr>
                    <a:spLocks/>
                  </p:cNvSpPr>
                  <p:nvPr/>
                </p:nvSpPr>
                <p:spPr bwMode="auto">
                  <a:xfrm>
                    <a:off x="1133" y="3767"/>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3" y="69"/>
                        </a:moveTo>
                        <a:lnTo>
                          <a:pt x="0" y="33"/>
                        </a:lnTo>
                        <a:lnTo>
                          <a:pt x="12" y="0"/>
                        </a:lnTo>
                        <a:lnTo>
                          <a:pt x="39"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94" name="Freeform 2468"/>
                  <p:cNvSpPr>
                    <a:spLocks/>
                  </p:cNvSpPr>
                  <p:nvPr/>
                </p:nvSpPr>
                <p:spPr bwMode="auto">
                  <a:xfrm>
                    <a:off x="1140" y="3767"/>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3"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95" name="Freeform 2469"/>
                  <p:cNvSpPr>
                    <a:spLocks/>
                  </p:cNvSpPr>
                  <p:nvPr/>
                </p:nvSpPr>
                <p:spPr bwMode="auto">
                  <a:xfrm>
                    <a:off x="1146" y="3779"/>
                    <a:ext cx="31" cy="10"/>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1"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439" name="Freeform 2470"/>
                <p:cNvSpPr>
                  <a:spLocks/>
                </p:cNvSpPr>
                <p:nvPr/>
              </p:nvSpPr>
              <p:spPr bwMode="auto">
                <a:xfrm>
                  <a:off x="972" y="3556"/>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7"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0" name="Freeform 2471"/>
                <p:cNvSpPr>
                  <a:spLocks/>
                </p:cNvSpPr>
                <p:nvPr/>
              </p:nvSpPr>
              <p:spPr bwMode="auto">
                <a:xfrm>
                  <a:off x="993" y="3576"/>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1" name="Freeform 2472"/>
                <p:cNvSpPr>
                  <a:spLocks/>
                </p:cNvSpPr>
                <p:nvPr/>
              </p:nvSpPr>
              <p:spPr bwMode="auto">
                <a:xfrm>
                  <a:off x="1012" y="3594"/>
                  <a:ext cx="39" cy="12"/>
                </a:xfrm>
                <a:custGeom>
                  <a:avLst/>
                  <a:gdLst>
                    <a:gd name="T0" fmla="*/ 0 w 78"/>
                    <a:gd name="T1" fmla="*/ 0 h 36"/>
                    <a:gd name="T2" fmla="*/ 1 w 78"/>
                    <a:gd name="T3" fmla="*/ 0 h 36"/>
                    <a:gd name="T4" fmla="*/ 1 w 78"/>
                    <a:gd name="T5" fmla="*/ 0 h 36"/>
                    <a:gd name="T6" fmla="*/ 1 w 78"/>
                    <a:gd name="T7" fmla="*/ 0 h 36"/>
                    <a:gd name="T8" fmla="*/ 0 w 78"/>
                    <a:gd name="T9" fmla="*/ 0 h 36"/>
                    <a:gd name="T10" fmla="*/ 0 60000 65536"/>
                    <a:gd name="T11" fmla="*/ 0 60000 65536"/>
                    <a:gd name="T12" fmla="*/ 0 60000 65536"/>
                    <a:gd name="T13" fmla="*/ 0 60000 65536"/>
                    <a:gd name="T14" fmla="*/ 0 60000 65536"/>
                    <a:gd name="T15" fmla="*/ 0 w 78"/>
                    <a:gd name="T16" fmla="*/ 0 h 36"/>
                    <a:gd name="T17" fmla="*/ 78 w 78"/>
                    <a:gd name="T18" fmla="*/ 36 h 36"/>
                  </a:gdLst>
                  <a:ahLst/>
                  <a:cxnLst>
                    <a:cxn ang="T10">
                      <a:pos x="T0" y="T1"/>
                    </a:cxn>
                    <a:cxn ang="T11">
                      <a:pos x="T2" y="T3"/>
                    </a:cxn>
                    <a:cxn ang="T12">
                      <a:pos x="T4" y="T5"/>
                    </a:cxn>
                    <a:cxn ang="T13">
                      <a:pos x="T6" y="T7"/>
                    </a:cxn>
                    <a:cxn ang="T14">
                      <a:pos x="T8" y="T9"/>
                    </a:cxn>
                  </a:cxnLst>
                  <a:rect l="T15" t="T16" r="T17" b="T18"/>
                  <a:pathLst>
                    <a:path w="78" h="36">
                      <a:moveTo>
                        <a:pt x="0" y="0"/>
                      </a:moveTo>
                      <a:lnTo>
                        <a:pt x="27" y="36"/>
                      </a:lnTo>
                      <a:lnTo>
                        <a:pt x="78" y="36"/>
                      </a:lnTo>
                      <a:lnTo>
                        <a:pt x="49"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2" name="Freeform 2473"/>
                <p:cNvSpPr>
                  <a:spLocks/>
                </p:cNvSpPr>
                <p:nvPr/>
              </p:nvSpPr>
              <p:spPr bwMode="auto">
                <a:xfrm>
                  <a:off x="1032" y="3613"/>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3" name="Freeform 2474"/>
                <p:cNvSpPr>
                  <a:spLocks/>
                </p:cNvSpPr>
                <p:nvPr/>
              </p:nvSpPr>
              <p:spPr bwMode="auto">
                <a:xfrm>
                  <a:off x="1053" y="3632"/>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4" name="Freeform 2475"/>
                <p:cNvSpPr>
                  <a:spLocks/>
                </p:cNvSpPr>
                <p:nvPr/>
              </p:nvSpPr>
              <p:spPr bwMode="auto">
                <a:xfrm>
                  <a:off x="1074" y="3651"/>
                  <a:ext cx="40" cy="12"/>
                </a:xfrm>
                <a:custGeom>
                  <a:avLst/>
                  <a:gdLst>
                    <a:gd name="T0" fmla="*/ 0 w 79"/>
                    <a:gd name="T1" fmla="*/ 0 h 35"/>
                    <a:gd name="T2" fmla="*/ 1 w 79"/>
                    <a:gd name="T3" fmla="*/ 0 h 35"/>
                    <a:gd name="T4" fmla="*/ 1 w 79"/>
                    <a:gd name="T5" fmla="*/ 0 h 35"/>
                    <a:gd name="T6" fmla="*/ 1 w 79"/>
                    <a:gd name="T7" fmla="*/ 0 h 35"/>
                    <a:gd name="T8" fmla="*/ 0 w 79"/>
                    <a:gd name="T9" fmla="*/ 0 h 35"/>
                    <a:gd name="T10" fmla="*/ 0 60000 65536"/>
                    <a:gd name="T11" fmla="*/ 0 60000 65536"/>
                    <a:gd name="T12" fmla="*/ 0 60000 65536"/>
                    <a:gd name="T13" fmla="*/ 0 60000 65536"/>
                    <a:gd name="T14" fmla="*/ 0 60000 65536"/>
                    <a:gd name="T15" fmla="*/ 0 w 79"/>
                    <a:gd name="T16" fmla="*/ 0 h 35"/>
                    <a:gd name="T17" fmla="*/ 79 w 79"/>
                    <a:gd name="T18" fmla="*/ 35 h 35"/>
                  </a:gdLst>
                  <a:ahLst/>
                  <a:cxnLst>
                    <a:cxn ang="T10">
                      <a:pos x="T0" y="T1"/>
                    </a:cxn>
                    <a:cxn ang="T11">
                      <a:pos x="T2" y="T3"/>
                    </a:cxn>
                    <a:cxn ang="T12">
                      <a:pos x="T4" y="T5"/>
                    </a:cxn>
                    <a:cxn ang="T13">
                      <a:pos x="T6" y="T7"/>
                    </a:cxn>
                    <a:cxn ang="T14">
                      <a:pos x="T8" y="T9"/>
                    </a:cxn>
                  </a:cxnLst>
                  <a:rect l="T15" t="T16" r="T17" b="T18"/>
                  <a:pathLst>
                    <a:path w="79" h="35">
                      <a:moveTo>
                        <a:pt x="0" y="0"/>
                      </a:moveTo>
                      <a:lnTo>
                        <a:pt x="28" y="35"/>
                      </a:lnTo>
                      <a:lnTo>
                        <a:pt x="79" y="35"/>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5" name="Freeform 2476"/>
                <p:cNvSpPr>
                  <a:spLocks/>
                </p:cNvSpPr>
                <p:nvPr/>
              </p:nvSpPr>
              <p:spPr bwMode="auto">
                <a:xfrm>
                  <a:off x="1095" y="3669"/>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8"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6" name="Freeform 2477"/>
                <p:cNvSpPr>
                  <a:spLocks/>
                </p:cNvSpPr>
                <p:nvPr/>
              </p:nvSpPr>
              <p:spPr bwMode="auto">
                <a:xfrm>
                  <a:off x="1115" y="3688"/>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7" name="Freeform 2478"/>
                <p:cNvSpPr>
                  <a:spLocks/>
                </p:cNvSpPr>
                <p:nvPr/>
              </p:nvSpPr>
              <p:spPr bwMode="auto">
                <a:xfrm>
                  <a:off x="1134" y="3707"/>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8" name="Freeform 2479"/>
                <p:cNvSpPr>
                  <a:spLocks/>
                </p:cNvSpPr>
                <p:nvPr/>
              </p:nvSpPr>
              <p:spPr bwMode="auto">
                <a:xfrm>
                  <a:off x="1154" y="3726"/>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9" name="Freeform 2480"/>
                <p:cNvSpPr>
                  <a:spLocks/>
                </p:cNvSpPr>
                <p:nvPr/>
              </p:nvSpPr>
              <p:spPr bwMode="auto">
                <a:xfrm>
                  <a:off x="1175" y="3745"/>
                  <a:ext cx="40" cy="12"/>
                </a:xfrm>
                <a:custGeom>
                  <a:avLst/>
                  <a:gdLst>
                    <a:gd name="T0" fmla="*/ 0 w 81"/>
                    <a:gd name="T1" fmla="*/ 0 h 36"/>
                    <a:gd name="T2" fmla="*/ 0 w 81"/>
                    <a:gd name="T3" fmla="*/ 0 h 36"/>
                    <a:gd name="T4" fmla="*/ 0 w 81"/>
                    <a:gd name="T5" fmla="*/ 0 h 36"/>
                    <a:gd name="T6" fmla="*/ 0 w 81"/>
                    <a:gd name="T7" fmla="*/ 0 h 36"/>
                    <a:gd name="T8" fmla="*/ 0 w 81"/>
                    <a:gd name="T9" fmla="*/ 0 h 36"/>
                    <a:gd name="T10" fmla="*/ 0 60000 65536"/>
                    <a:gd name="T11" fmla="*/ 0 60000 65536"/>
                    <a:gd name="T12" fmla="*/ 0 60000 65536"/>
                    <a:gd name="T13" fmla="*/ 0 60000 65536"/>
                    <a:gd name="T14" fmla="*/ 0 60000 65536"/>
                    <a:gd name="T15" fmla="*/ 0 w 81"/>
                    <a:gd name="T16" fmla="*/ 0 h 36"/>
                    <a:gd name="T17" fmla="*/ 81 w 81"/>
                    <a:gd name="T18" fmla="*/ 36 h 36"/>
                  </a:gdLst>
                  <a:ahLst/>
                  <a:cxnLst>
                    <a:cxn ang="T10">
                      <a:pos x="T0" y="T1"/>
                    </a:cxn>
                    <a:cxn ang="T11">
                      <a:pos x="T2" y="T3"/>
                    </a:cxn>
                    <a:cxn ang="T12">
                      <a:pos x="T4" y="T5"/>
                    </a:cxn>
                    <a:cxn ang="T13">
                      <a:pos x="T6" y="T7"/>
                    </a:cxn>
                    <a:cxn ang="T14">
                      <a:pos x="T8" y="T9"/>
                    </a:cxn>
                  </a:cxnLst>
                  <a:rect l="T15" t="T16" r="T17" b="T18"/>
                  <a:pathLst>
                    <a:path w="81" h="36">
                      <a:moveTo>
                        <a:pt x="0" y="0"/>
                      </a:moveTo>
                      <a:lnTo>
                        <a:pt x="28" y="36"/>
                      </a:lnTo>
                      <a:lnTo>
                        <a:pt x="81" y="36"/>
                      </a:lnTo>
                      <a:lnTo>
                        <a:pt x="52"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450" name="Group 2481"/>
                <p:cNvGrpSpPr>
                  <a:grpSpLocks/>
                </p:cNvGrpSpPr>
                <p:nvPr/>
              </p:nvGrpSpPr>
              <p:grpSpPr bwMode="auto">
                <a:xfrm>
                  <a:off x="700" y="3535"/>
                  <a:ext cx="49" cy="24"/>
                  <a:chOff x="700" y="3535"/>
                  <a:chExt cx="49" cy="24"/>
                </a:xfrm>
              </p:grpSpPr>
              <p:sp>
                <p:nvSpPr>
                  <p:cNvPr id="2490" name="Freeform 2482"/>
                  <p:cNvSpPr>
                    <a:spLocks/>
                  </p:cNvSpPr>
                  <p:nvPr/>
                </p:nvSpPr>
                <p:spPr bwMode="auto">
                  <a:xfrm>
                    <a:off x="700" y="3535"/>
                    <a:ext cx="12" cy="24"/>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10"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91" name="Freeform 2483"/>
                  <p:cNvSpPr>
                    <a:spLocks/>
                  </p:cNvSpPr>
                  <p:nvPr/>
                </p:nvSpPr>
                <p:spPr bwMode="auto">
                  <a:xfrm>
                    <a:off x="705" y="3536"/>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2" y="4"/>
                        </a:lnTo>
                        <a:lnTo>
                          <a:pt x="56" y="12"/>
                        </a:lnTo>
                        <a:lnTo>
                          <a:pt x="73"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92" name="Freeform 2484"/>
                  <p:cNvSpPr>
                    <a:spLocks/>
                  </p:cNvSpPr>
                  <p:nvPr/>
                </p:nvSpPr>
                <p:spPr bwMode="auto">
                  <a:xfrm>
                    <a:off x="708" y="354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6"/>
                        </a:lnTo>
                        <a:lnTo>
                          <a:pt x="11" y="0"/>
                        </a:lnTo>
                        <a:lnTo>
                          <a:pt x="67"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1" name="Group 2485"/>
                <p:cNvGrpSpPr>
                  <a:grpSpLocks/>
                </p:cNvGrpSpPr>
                <p:nvPr/>
              </p:nvGrpSpPr>
              <p:grpSpPr bwMode="auto">
                <a:xfrm>
                  <a:off x="714" y="3551"/>
                  <a:ext cx="49" cy="22"/>
                  <a:chOff x="714" y="3551"/>
                  <a:chExt cx="49" cy="22"/>
                </a:xfrm>
              </p:grpSpPr>
              <p:sp>
                <p:nvSpPr>
                  <p:cNvPr id="2487" name="Freeform 2486"/>
                  <p:cNvSpPr>
                    <a:spLocks/>
                  </p:cNvSpPr>
                  <p:nvPr/>
                </p:nvSpPr>
                <p:spPr bwMode="auto">
                  <a:xfrm>
                    <a:off x="714" y="35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9" y="0"/>
                        </a:lnTo>
                        <a:lnTo>
                          <a:pt x="24" y="30"/>
                        </a:lnTo>
                        <a:lnTo>
                          <a:pt x="15"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88" name="Freeform 2487"/>
                  <p:cNvSpPr>
                    <a:spLocks/>
                  </p:cNvSpPr>
                  <p:nvPr/>
                </p:nvSpPr>
                <p:spPr bwMode="auto">
                  <a:xfrm>
                    <a:off x="719" y="3551"/>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50" y="0"/>
                        </a:lnTo>
                        <a:lnTo>
                          <a:pt x="52" y="2"/>
                        </a:lnTo>
                        <a:lnTo>
                          <a:pt x="57" y="13"/>
                        </a:lnTo>
                        <a:lnTo>
                          <a:pt x="74" y="29"/>
                        </a:lnTo>
                        <a:lnTo>
                          <a:pt x="19" y="29"/>
                        </a:lnTo>
                        <a:lnTo>
                          <a:pt x="9"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89" name="Freeform 2488"/>
                  <p:cNvSpPr>
                    <a:spLocks/>
                  </p:cNvSpPr>
                  <p:nvPr/>
                </p:nvSpPr>
                <p:spPr bwMode="auto">
                  <a:xfrm>
                    <a:off x="722" y="35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2" name="Group 2489"/>
                <p:cNvGrpSpPr>
                  <a:grpSpLocks/>
                </p:cNvGrpSpPr>
                <p:nvPr/>
              </p:nvGrpSpPr>
              <p:grpSpPr bwMode="auto">
                <a:xfrm>
                  <a:off x="728" y="3564"/>
                  <a:ext cx="48" cy="23"/>
                  <a:chOff x="728" y="3564"/>
                  <a:chExt cx="48" cy="23"/>
                </a:xfrm>
              </p:grpSpPr>
              <p:sp>
                <p:nvSpPr>
                  <p:cNvPr id="2484" name="Freeform 2490"/>
                  <p:cNvSpPr>
                    <a:spLocks/>
                  </p:cNvSpPr>
                  <p:nvPr/>
                </p:nvSpPr>
                <p:spPr bwMode="auto">
                  <a:xfrm>
                    <a:off x="728" y="3564"/>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85" name="Freeform 2491"/>
                  <p:cNvSpPr>
                    <a:spLocks/>
                  </p:cNvSpPr>
                  <p:nvPr/>
                </p:nvSpPr>
                <p:spPr bwMode="auto">
                  <a:xfrm>
                    <a:off x="732" y="3565"/>
                    <a:ext cx="37"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50" y="0"/>
                        </a:lnTo>
                        <a:lnTo>
                          <a:pt x="51" y="3"/>
                        </a:lnTo>
                        <a:lnTo>
                          <a:pt x="56" y="12"/>
                        </a:lnTo>
                        <a:lnTo>
                          <a:pt x="72"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86" name="Freeform 2492"/>
                  <p:cNvSpPr>
                    <a:spLocks/>
                  </p:cNvSpPr>
                  <p:nvPr/>
                </p:nvSpPr>
                <p:spPr bwMode="auto">
                  <a:xfrm>
                    <a:off x="735" y="3575"/>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3" name="Group 2493"/>
                <p:cNvGrpSpPr>
                  <a:grpSpLocks/>
                </p:cNvGrpSpPr>
                <p:nvPr/>
              </p:nvGrpSpPr>
              <p:grpSpPr bwMode="auto">
                <a:xfrm>
                  <a:off x="742" y="3582"/>
                  <a:ext cx="49" cy="23"/>
                  <a:chOff x="742" y="3582"/>
                  <a:chExt cx="49" cy="23"/>
                </a:xfrm>
              </p:grpSpPr>
              <p:sp>
                <p:nvSpPr>
                  <p:cNvPr id="2481" name="Freeform 2494"/>
                  <p:cNvSpPr>
                    <a:spLocks/>
                  </p:cNvSpPr>
                  <p:nvPr/>
                </p:nvSpPr>
                <p:spPr bwMode="auto">
                  <a:xfrm>
                    <a:off x="742" y="3582"/>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6"/>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82" name="Freeform 2495"/>
                  <p:cNvSpPr>
                    <a:spLocks/>
                  </p:cNvSpPr>
                  <p:nvPr/>
                </p:nvSpPr>
                <p:spPr bwMode="auto">
                  <a:xfrm>
                    <a:off x="747" y="3582"/>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8" y="0"/>
                        </a:lnTo>
                        <a:lnTo>
                          <a:pt x="50" y="3"/>
                        </a:lnTo>
                        <a:lnTo>
                          <a:pt x="56" y="12"/>
                        </a:lnTo>
                        <a:lnTo>
                          <a:pt x="72" y="30"/>
                        </a:lnTo>
                        <a:lnTo>
                          <a:pt x="17" y="30"/>
                        </a:lnTo>
                        <a:lnTo>
                          <a:pt x="8" y="21"/>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83" name="Freeform 2496"/>
                  <p:cNvSpPr>
                    <a:spLocks/>
                  </p:cNvSpPr>
                  <p:nvPr/>
                </p:nvSpPr>
                <p:spPr bwMode="auto">
                  <a:xfrm>
                    <a:off x="750" y="359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4" name="Group 2497"/>
                <p:cNvGrpSpPr>
                  <a:grpSpLocks/>
                </p:cNvGrpSpPr>
                <p:nvPr/>
              </p:nvGrpSpPr>
              <p:grpSpPr bwMode="auto">
                <a:xfrm>
                  <a:off x="752" y="3597"/>
                  <a:ext cx="133" cy="106"/>
                  <a:chOff x="752" y="3597"/>
                  <a:chExt cx="133" cy="106"/>
                </a:xfrm>
              </p:grpSpPr>
              <p:sp>
                <p:nvSpPr>
                  <p:cNvPr id="2478" name="Freeform 2498"/>
                  <p:cNvSpPr>
                    <a:spLocks/>
                  </p:cNvSpPr>
                  <p:nvPr/>
                </p:nvSpPr>
                <p:spPr bwMode="auto">
                  <a:xfrm>
                    <a:off x="752" y="3598"/>
                    <a:ext cx="91" cy="105"/>
                  </a:xfrm>
                  <a:custGeom>
                    <a:avLst/>
                    <a:gdLst>
                      <a:gd name="T0" fmla="*/ 1 w 182"/>
                      <a:gd name="T1" fmla="*/ 0 h 314"/>
                      <a:gd name="T2" fmla="*/ 0 w 182"/>
                      <a:gd name="T3" fmla="*/ 0 h 314"/>
                      <a:gd name="T4" fmla="*/ 1 w 182"/>
                      <a:gd name="T5" fmla="*/ 0 h 314"/>
                      <a:gd name="T6" fmla="*/ 1 w 182"/>
                      <a:gd name="T7" fmla="*/ 0 h 314"/>
                      <a:gd name="T8" fmla="*/ 1 w 182"/>
                      <a:gd name="T9" fmla="*/ 0 h 314"/>
                      <a:gd name="T10" fmla="*/ 0 60000 65536"/>
                      <a:gd name="T11" fmla="*/ 0 60000 65536"/>
                      <a:gd name="T12" fmla="*/ 0 60000 65536"/>
                      <a:gd name="T13" fmla="*/ 0 60000 65536"/>
                      <a:gd name="T14" fmla="*/ 0 60000 65536"/>
                      <a:gd name="T15" fmla="*/ 0 w 182"/>
                      <a:gd name="T16" fmla="*/ 0 h 314"/>
                      <a:gd name="T17" fmla="*/ 182 w 182"/>
                      <a:gd name="T18" fmla="*/ 314 h 314"/>
                    </a:gdLst>
                    <a:ahLst/>
                    <a:cxnLst>
                      <a:cxn ang="T10">
                        <a:pos x="T0" y="T1"/>
                      </a:cxn>
                      <a:cxn ang="T11">
                        <a:pos x="T2" y="T3"/>
                      </a:cxn>
                      <a:cxn ang="T12">
                        <a:pos x="T4" y="T5"/>
                      </a:cxn>
                      <a:cxn ang="T13">
                        <a:pos x="T6" y="T7"/>
                      </a:cxn>
                      <a:cxn ang="T14">
                        <a:pos x="T8" y="T9"/>
                      </a:cxn>
                    </a:cxnLst>
                    <a:rect l="T15" t="T16" r="T17" b="T18"/>
                    <a:pathLst>
                      <a:path w="182" h="314">
                        <a:moveTo>
                          <a:pt x="171" y="314"/>
                        </a:moveTo>
                        <a:lnTo>
                          <a:pt x="0" y="27"/>
                        </a:lnTo>
                        <a:lnTo>
                          <a:pt x="13" y="0"/>
                        </a:lnTo>
                        <a:lnTo>
                          <a:pt x="182" y="278"/>
                        </a:lnTo>
                        <a:lnTo>
                          <a:pt x="171" y="31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79" name="Freeform 2499"/>
                  <p:cNvSpPr>
                    <a:spLocks/>
                  </p:cNvSpPr>
                  <p:nvPr/>
                </p:nvSpPr>
                <p:spPr bwMode="auto">
                  <a:xfrm>
                    <a:off x="759" y="3597"/>
                    <a:ext cx="118" cy="94"/>
                  </a:xfrm>
                  <a:custGeom>
                    <a:avLst/>
                    <a:gdLst>
                      <a:gd name="T0" fmla="*/ 1 w 235"/>
                      <a:gd name="T1" fmla="*/ 0 h 281"/>
                      <a:gd name="T2" fmla="*/ 1 w 235"/>
                      <a:gd name="T3" fmla="*/ 0 h 281"/>
                      <a:gd name="T4" fmla="*/ 1 w 235"/>
                      <a:gd name="T5" fmla="*/ 0 h 281"/>
                      <a:gd name="T6" fmla="*/ 1 w 235"/>
                      <a:gd name="T7" fmla="*/ 0 h 281"/>
                      <a:gd name="T8" fmla="*/ 2 w 235"/>
                      <a:gd name="T9" fmla="*/ 0 h 281"/>
                      <a:gd name="T10" fmla="*/ 2 w 235"/>
                      <a:gd name="T11" fmla="*/ 0 h 281"/>
                      <a:gd name="T12" fmla="*/ 1 w 235"/>
                      <a:gd name="T13" fmla="*/ 0 h 281"/>
                      <a:gd name="T14" fmla="*/ 0 w 235"/>
                      <a:gd name="T15" fmla="*/ 0 h 281"/>
                      <a:gd name="T16" fmla="*/ 1 w 235"/>
                      <a:gd name="T17" fmla="*/ 0 h 28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35"/>
                      <a:gd name="T28" fmla="*/ 0 h 281"/>
                      <a:gd name="T29" fmla="*/ 235 w 235"/>
                      <a:gd name="T30" fmla="*/ 281 h 28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35" h="281">
                        <a:moveTo>
                          <a:pt x="1" y="0"/>
                        </a:moveTo>
                        <a:lnTo>
                          <a:pt x="56" y="0"/>
                        </a:lnTo>
                        <a:lnTo>
                          <a:pt x="58" y="0"/>
                        </a:lnTo>
                        <a:lnTo>
                          <a:pt x="65" y="10"/>
                        </a:lnTo>
                        <a:lnTo>
                          <a:pt x="235" y="281"/>
                        </a:lnTo>
                        <a:lnTo>
                          <a:pt x="165" y="277"/>
                        </a:lnTo>
                        <a:lnTo>
                          <a:pt x="9" y="19"/>
                        </a:lnTo>
                        <a:lnTo>
                          <a:pt x="0" y="4"/>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80" name="Freeform 2500"/>
                  <p:cNvSpPr>
                    <a:spLocks/>
                  </p:cNvSpPr>
                  <p:nvPr/>
                </p:nvSpPr>
                <p:spPr bwMode="auto">
                  <a:xfrm>
                    <a:off x="838" y="3691"/>
                    <a:ext cx="47" cy="12"/>
                  </a:xfrm>
                  <a:custGeom>
                    <a:avLst/>
                    <a:gdLst>
                      <a:gd name="T0" fmla="*/ 0 w 95"/>
                      <a:gd name="T1" fmla="*/ 0 h 36"/>
                      <a:gd name="T2" fmla="*/ 0 w 95"/>
                      <a:gd name="T3" fmla="*/ 0 h 36"/>
                      <a:gd name="T4" fmla="*/ 0 w 95"/>
                      <a:gd name="T5" fmla="*/ 0 h 36"/>
                      <a:gd name="T6" fmla="*/ 0 w 95"/>
                      <a:gd name="T7" fmla="*/ 0 h 36"/>
                      <a:gd name="T8" fmla="*/ 0 w 95"/>
                      <a:gd name="T9" fmla="*/ 0 h 36"/>
                      <a:gd name="T10" fmla="*/ 0 w 95"/>
                      <a:gd name="T11" fmla="*/ 0 h 36"/>
                      <a:gd name="T12" fmla="*/ 0 w 95"/>
                      <a:gd name="T13" fmla="*/ 0 h 36"/>
                      <a:gd name="T14" fmla="*/ 0 60000 65536"/>
                      <a:gd name="T15" fmla="*/ 0 60000 65536"/>
                      <a:gd name="T16" fmla="*/ 0 60000 65536"/>
                      <a:gd name="T17" fmla="*/ 0 60000 65536"/>
                      <a:gd name="T18" fmla="*/ 0 60000 65536"/>
                      <a:gd name="T19" fmla="*/ 0 60000 65536"/>
                      <a:gd name="T20" fmla="*/ 0 60000 65536"/>
                      <a:gd name="T21" fmla="*/ 0 w 95"/>
                      <a:gd name="T22" fmla="*/ 0 h 36"/>
                      <a:gd name="T23" fmla="*/ 95 w 95"/>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95" h="36">
                        <a:moveTo>
                          <a:pt x="0" y="36"/>
                        </a:moveTo>
                        <a:lnTo>
                          <a:pt x="2" y="19"/>
                        </a:lnTo>
                        <a:lnTo>
                          <a:pt x="8" y="7"/>
                        </a:lnTo>
                        <a:lnTo>
                          <a:pt x="12" y="0"/>
                        </a:lnTo>
                        <a:lnTo>
                          <a:pt x="76" y="0"/>
                        </a:lnTo>
                        <a:lnTo>
                          <a:pt x="95"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5" name="Group 2501"/>
                <p:cNvGrpSpPr>
                  <a:grpSpLocks/>
                </p:cNvGrpSpPr>
                <p:nvPr/>
              </p:nvGrpSpPr>
              <p:grpSpPr bwMode="auto">
                <a:xfrm>
                  <a:off x="844" y="3694"/>
                  <a:ext cx="48" cy="23"/>
                  <a:chOff x="844" y="3694"/>
                  <a:chExt cx="48" cy="23"/>
                </a:xfrm>
              </p:grpSpPr>
              <p:sp>
                <p:nvSpPr>
                  <p:cNvPr id="2475" name="Freeform 2502"/>
                  <p:cNvSpPr>
                    <a:spLocks/>
                  </p:cNvSpPr>
                  <p:nvPr/>
                </p:nvSpPr>
                <p:spPr bwMode="auto">
                  <a:xfrm>
                    <a:off x="844" y="3694"/>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9" y="0"/>
                        </a:lnTo>
                        <a:lnTo>
                          <a:pt x="24" y="32"/>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76" name="Freeform 2503"/>
                  <p:cNvSpPr>
                    <a:spLocks/>
                  </p:cNvSpPr>
                  <p:nvPr/>
                </p:nvSpPr>
                <p:spPr bwMode="auto">
                  <a:xfrm>
                    <a:off x="848" y="369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1" y="3"/>
                        </a:lnTo>
                        <a:lnTo>
                          <a:pt x="57" y="12"/>
                        </a:lnTo>
                        <a:lnTo>
                          <a:pt x="74" y="30"/>
                        </a:lnTo>
                        <a:lnTo>
                          <a:pt x="19" y="30"/>
                        </a:lnTo>
                        <a:lnTo>
                          <a:pt x="9" y="21"/>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77" name="Freeform 2504"/>
                  <p:cNvSpPr>
                    <a:spLocks/>
                  </p:cNvSpPr>
                  <p:nvPr/>
                </p:nvSpPr>
                <p:spPr bwMode="auto">
                  <a:xfrm>
                    <a:off x="851" y="3706"/>
                    <a:ext cx="41" cy="11"/>
                  </a:xfrm>
                  <a:custGeom>
                    <a:avLst/>
                    <a:gdLst>
                      <a:gd name="T0" fmla="*/ 0 w 81"/>
                      <a:gd name="T1" fmla="*/ 0 h 34"/>
                      <a:gd name="T2" fmla="*/ 1 w 81"/>
                      <a:gd name="T3" fmla="*/ 0 h 34"/>
                      <a:gd name="T4" fmla="*/ 1 w 81"/>
                      <a:gd name="T5" fmla="*/ 0 h 34"/>
                      <a:gd name="T6" fmla="*/ 1 w 81"/>
                      <a:gd name="T7" fmla="*/ 0 h 34"/>
                      <a:gd name="T8" fmla="*/ 1 w 81"/>
                      <a:gd name="T9" fmla="*/ 0 h 34"/>
                      <a:gd name="T10" fmla="*/ 1 w 81"/>
                      <a:gd name="T11" fmla="*/ 0 h 34"/>
                      <a:gd name="T12" fmla="*/ 0 w 81"/>
                      <a:gd name="T13" fmla="*/ 0 h 34"/>
                      <a:gd name="T14" fmla="*/ 0 60000 65536"/>
                      <a:gd name="T15" fmla="*/ 0 60000 65536"/>
                      <a:gd name="T16" fmla="*/ 0 60000 65536"/>
                      <a:gd name="T17" fmla="*/ 0 60000 65536"/>
                      <a:gd name="T18" fmla="*/ 0 60000 65536"/>
                      <a:gd name="T19" fmla="*/ 0 60000 65536"/>
                      <a:gd name="T20" fmla="*/ 0 60000 65536"/>
                      <a:gd name="T21" fmla="*/ 0 w 81"/>
                      <a:gd name="T22" fmla="*/ 0 h 34"/>
                      <a:gd name="T23" fmla="*/ 81 w 81"/>
                      <a:gd name="T24" fmla="*/ 34 h 3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4">
                        <a:moveTo>
                          <a:pt x="0" y="34"/>
                        </a:moveTo>
                        <a:lnTo>
                          <a:pt x="1" y="19"/>
                        </a:lnTo>
                        <a:lnTo>
                          <a:pt x="5" y="6"/>
                        </a:lnTo>
                        <a:lnTo>
                          <a:pt x="10" y="0"/>
                        </a:lnTo>
                        <a:lnTo>
                          <a:pt x="67" y="0"/>
                        </a:lnTo>
                        <a:lnTo>
                          <a:pt x="81" y="34"/>
                        </a:lnTo>
                        <a:lnTo>
                          <a:pt x="0" y="34"/>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6" name="Group 2505"/>
                <p:cNvGrpSpPr>
                  <a:grpSpLocks/>
                </p:cNvGrpSpPr>
                <p:nvPr/>
              </p:nvGrpSpPr>
              <p:grpSpPr bwMode="auto">
                <a:xfrm>
                  <a:off x="857" y="3710"/>
                  <a:ext cx="49" cy="22"/>
                  <a:chOff x="857" y="3710"/>
                  <a:chExt cx="49" cy="22"/>
                </a:xfrm>
              </p:grpSpPr>
              <p:sp>
                <p:nvSpPr>
                  <p:cNvPr id="2472" name="Freeform 2506"/>
                  <p:cNvSpPr>
                    <a:spLocks/>
                  </p:cNvSpPr>
                  <p:nvPr/>
                </p:nvSpPr>
                <p:spPr bwMode="auto">
                  <a:xfrm>
                    <a:off x="857" y="3710"/>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73" name="Freeform 2507"/>
                  <p:cNvSpPr>
                    <a:spLocks/>
                  </p:cNvSpPr>
                  <p:nvPr/>
                </p:nvSpPr>
                <p:spPr bwMode="auto">
                  <a:xfrm>
                    <a:off x="862" y="371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74" name="Freeform 2508"/>
                  <p:cNvSpPr>
                    <a:spLocks/>
                  </p:cNvSpPr>
                  <p:nvPr/>
                </p:nvSpPr>
                <p:spPr bwMode="auto">
                  <a:xfrm>
                    <a:off x="865" y="3720"/>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7" name="Group 2509"/>
                <p:cNvGrpSpPr>
                  <a:grpSpLocks/>
                </p:cNvGrpSpPr>
                <p:nvPr/>
              </p:nvGrpSpPr>
              <p:grpSpPr bwMode="auto">
                <a:xfrm>
                  <a:off x="1086" y="3766"/>
                  <a:ext cx="49" cy="23"/>
                  <a:chOff x="1086" y="3766"/>
                  <a:chExt cx="49" cy="23"/>
                </a:xfrm>
              </p:grpSpPr>
              <p:sp>
                <p:nvSpPr>
                  <p:cNvPr id="2469" name="Freeform 2510"/>
                  <p:cNvSpPr>
                    <a:spLocks/>
                  </p:cNvSpPr>
                  <p:nvPr/>
                </p:nvSpPr>
                <p:spPr bwMode="auto">
                  <a:xfrm>
                    <a:off x="1086" y="3766"/>
                    <a:ext cx="11" cy="23"/>
                  </a:xfrm>
                  <a:custGeom>
                    <a:avLst/>
                    <a:gdLst>
                      <a:gd name="T0" fmla="*/ 1 w 22"/>
                      <a:gd name="T1" fmla="*/ 0 h 69"/>
                      <a:gd name="T2" fmla="*/ 0 w 22"/>
                      <a:gd name="T3" fmla="*/ 0 h 69"/>
                      <a:gd name="T4" fmla="*/ 1 w 22"/>
                      <a:gd name="T5" fmla="*/ 0 h 69"/>
                      <a:gd name="T6" fmla="*/ 1 w 22"/>
                      <a:gd name="T7" fmla="*/ 0 h 69"/>
                      <a:gd name="T8" fmla="*/ 1 w 22"/>
                      <a:gd name="T9" fmla="*/ 0 h 69"/>
                      <a:gd name="T10" fmla="*/ 0 60000 65536"/>
                      <a:gd name="T11" fmla="*/ 0 60000 65536"/>
                      <a:gd name="T12" fmla="*/ 0 60000 65536"/>
                      <a:gd name="T13" fmla="*/ 0 60000 65536"/>
                      <a:gd name="T14" fmla="*/ 0 60000 65536"/>
                      <a:gd name="T15" fmla="*/ 0 w 22"/>
                      <a:gd name="T16" fmla="*/ 0 h 69"/>
                      <a:gd name="T17" fmla="*/ 22 w 22"/>
                      <a:gd name="T18" fmla="*/ 69 h 69"/>
                    </a:gdLst>
                    <a:ahLst/>
                    <a:cxnLst>
                      <a:cxn ang="T10">
                        <a:pos x="T0" y="T1"/>
                      </a:cxn>
                      <a:cxn ang="T11">
                        <a:pos x="T2" y="T3"/>
                      </a:cxn>
                      <a:cxn ang="T12">
                        <a:pos x="T4" y="T5"/>
                      </a:cxn>
                      <a:cxn ang="T13">
                        <a:pos x="T6" y="T7"/>
                      </a:cxn>
                      <a:cxn ang="T14">
                        <a:pos x="T8" y="T9"/>
                      </a:cxn>
                    </a:cxnLst>
                    <a:rect l="T15" t="T16" r="T17" b="T18"/>
                    <a:pathLst>
                      <a:path w="22" h="69">
                        <a:moveTo>
                          <a:pt x="13" y="69"/>
                        </a:moveTo>
                        <a:lnTo>
                          <a:pt x="0" y="27"/>
                        </a:lnTo>
                        <a:lnTo>
                          <a:pt x="9" y="0"/>
                        </a:lnTo>
                        <a:lnTo>
                          <a:pt x="22" y="32"/>
                        </a:lnTo>
                        <a:lnTo>
                          <a:pt x="13" y="69"/>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70" name="Freeform 2511"/>
                  <p:cNvSpPr>
                    <a:spLocks/>
                  </p:cNvSpPr>
                  <p:nvPr/>
                </p:nvSpPr>
                <p:spPr bwMode="auto">
                  <a:xfrm>
                    <a:off x="1090" y="3767"/>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3" y="0"/>
                        </a:moveTo>
                        <a:lnTo>
                          <a:pt x="51" y="0"/>
                        </a:lnTo>
                        <a:lnTo>
                          <a:pt x="53" y="4"/>
                        </a:lnTo>
                        <a:lnTo>
                          <a:pt x="56" y="13"/>
                        </a:lnTo>
                        <a:lnTo>
                          <a:pt x="74" y="31"/>
                        </a:lnTo>
                        <a:lnTo>
                          <a:pt x="18" y="31"/>
                        </a:lnTo>
                        <a:lnTo>
                          <a:pt x="9" y="22"/>
                        </a:lnTo>
                        <a:lnTo>
                          <a:pt x="0" y="6"/>
                        </a:lnTo>
                        <a:lnTo>
                          <a:pt x="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71" name="Freeform 2512"/>
                  <p:cNvSpPr>
                    <a:spLocks/>
                  </p:cNvSpPr>
                  <p:nvPr/>
                </p:nvSpPr>
                <p:spPr bwMode="auto">
                  <a:xfrm>
                    <a:off x="1093" y="3777"/>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6"/>
                        </a:lnTo>
                        <a:lnTo>
                          <a:pt x="11" y="0"/>
                        </a:lnTo>
                        <a:lnTo>
                          <a:pt x="68"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8" name="Group 2513"/>
                <p:cNvGrpSpPr>
                  <a:grpSpLocks/>
                </p:cNvGrpSpPr>
                <p:nvPr/>
              </p:nvGrpSpPr>
              <p:grpSpPr bwMode="auto">
                <a:xfrm>
                  <a:off x="934" y="3740"/>
                  <a:ext cx="48" cy="23"/>
                  <a:chOff x="934" y="3740"/>
                  <a:chExt cx="48" cy="23"/>
                </a:xfrm>
              </p:grpSpPr>
              <p:sp>
                <p:nvSpPr>
                  <p:cNvPr id="2466" name="Freeform 2514"/>
                  <p:cNvSpPr>
                    <a:spLocks/>
                  </p:cNvSpPr>
                  <p:nvPr/>
                </p:nvSpPr>
                <p:spPr bwMode="auto">
                  <a:xfrm>
                    <a:off x="934" y="3740"/>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9"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67" name="Freeform 2515"/>
                  <p:cNvSpPr>
                    <a:spLocks/>
                  </p:cNvSpPr>
                  <p:nvPr/>
                </p:nvSpPr>
                <p:spPr bwMode="auto">
                  <a:xfrm>
                    <a:off x="938" y="3741"/>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4"/>
                        </a:lnTo>
                        <a:lnTo>
                          <a:pt x="57" y="13"/>
                        </a:lnTo>
                        <a:lnTo>
                          <a:pt x="74" y="30"/>
                        </a:lnTo>
                        <a:lnTo>
                          <a:pt x="19" y="30"/>
                        </a:lnTo>
                        <a:lnTo>
                          <a:pt x="9" y="22"/>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68" name="Freeform 2516"/>
                  <p:cNvSpPr>
                    <a:spLocks/>
                  </p:cNvSpPr>
                  <p:nvPr/>
                </p:nvSpPr>
                <p:spPr bwMode="auto">
                  <a:xfrm>
                    <a:off x="941" y="375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6"/>
                        </a:lnTo>
                        <a:lnTo>
                          <a:pt x="10" y="0"/>
                        </a:lnTo>
                        <a:lnTo>
                          <a:pt x="67" y="0"/>
                        </a:lnTo>
                        <a:lnTo>
                          <a:pt x="81"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9" name="Group 2517"/>
                <p:cNvGrpSpPr>
                  <a:grpSpLocks/>
                </p:cNvGrpSpPr>
                <p:nvPr/>
              </p:nvGrpSpPr>
              <p:grpSpPr bwMode="auto">
                <a:xfrm>
                  <a:off x="943" y="3754"/>
                  <a:ext cx="49" cy="23"/>
                  <a:chOff x="943" y="3754"/>
                  <a:chExt cx="49" cy="23"/>
                </a:xfrm>
              </p:grpSpPr>
              <p:sp>
                <p:nvSpPr>
                  <p:cNvPr id="2463" name="Freeform 2518"/>
                  <p:cNvSpPr>
                    <a:spLocks/>
                  </p:cNvSpPr>
                  <p:nvPr/>
                </p:nvSpPr>
                <p:spPr bwMode="auto">
                  <a:xfrm>
                    <a:off x="943" y="3754"/>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64" name="Freeform 2519"/>
                  <p:cNvSpPr>
                    <a:spLocks/>
                  </p:cNvSpPr>
                  <p:nvPr/>
                </p:nvSpPr>
                <p:spPr bwMode="auto">
                  <a:xfrm>
                    <a:off x="948" y="375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1" y="0"/>
                        </a:moveTo>
                        <a:lnTo>
                          <a:pt x="49" y="0"/>
                        </a:lnTo>
                        <a:lnTo>
                          <a:pt x="50" y="3"/>
                        </a:lnTo>
                        <a:lnTo>
                          <a:pt x="57" y="12"/>
                        </a:lnTo>
                        <a:lnTo>
                          <a:pt x="74"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65" name="Freeform 2520"/>
                  <p:cNvSpPr>
                    <a:spLocks/>
                  </p:cNvSpPr>
                  <p:nvPr/>
                </p:nvSpPr>
                <p:spPr bwMode="auto">
                  <a:xfrm>
                    <a:off x="951" y="3765"/>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460" name="Freeform 2521"/>
                <p:cNvSpPr>
                  <a:spLocks/>
                </p:cNvSpPr>
                <p:nvPr/>
              </p:nvSpPr>
              <p:spPr bwMode="auto">
                <a:xfrm>
                  <a:off x="987" y="3753"/>
                  <a:ext cx="25" cy="43"/>
                </a:xfrm>
                <a:custGeom>
                  <a:avLst/>
                  <a:gdLst>
                    <a:gd name="T0" fmla="*/ 0 w 51"/>
                    <a:gd name="T1" fmla="*/ 0 h 128"/>
                    <a:gd name="T2" fmla="*/ 0 w 51"/>
                    <a:gd name="T3" fmla="*/ 0 h 128"/>
                    <a:gd name="T4" fmla="*/ 0 w 51"/>
                    <a:gd name="T5" fmla="*/ 0 h 128"/>
                    <a:gd name="T6" fmla="*/ 0 w 51"/>
                    <a:gd name="T7" fmla="*/ 0 h 128"/>
                    <a:gd name="T8" fmla="*/ 0 w 51"/>
                    <a:gd name="T9" fmla="*/ 0 h 128"/>
                    <a:gd name="T10" fmla="*/ 0 w 51"/>
                    <a:gd name="T11" fmla="*/ 0 h 128"/>
                    <a:gd name="T12" fmla="*/ 0 w 51"/>
                    <a:gd name="T13" fmla="*/ 0 h 128"/>
                    <a:gd name="T14" fmla="*/ 0 60000 65536"/>
                    <a:gd name="T15" fmla="*/ 0 60000 65536"/>
                    <a:gd name="T16" fmla="*/ 0 60000 65536"/>
                    <a:gd name="T17" fmla="*/ 0 60000 65536"/>
                    <a:gd name="T18" fmla="*/ 0 60000 65536"/>
                    <a:gd name="T19" fmla="*/ 0 60000 65536"/>
                    <a:gd name="T20" fmla="*/ 0 60000 65536"/>
                    <a:gd name="T21" fmla="*/ 0 w 51"/>
                    <a:gd name="T22" fmla="*/ 0 h 128"/>
                    <a:gd name="T23" fmla="*/ 51 w 51"/>
                    <a:gd name="T24" fmla="*/ 128 h 12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1" h="128">
                      <a:moveTo>
                        <a:pt x="40" y="128"/>
                      </a:moveTo>
                      <a:lnTo>
                        <a:pt x="0" y="29"/>
                      </a:lnTo>
                      <a:lnTo>
                        <a:pt x="0" y="20"/>
                      </a:lnTo>
                      <a:lnTo>
                        <a:pt x="2" y="11"/>
                      </a:lnTo>
                      <a:lnTo>
                        <a:pt x="10" y="0"/>
                      </a:lnTo>
                      <a:lnTo>
                        <a:pt x="51" y="91"/>
                      </a:lnTo>
                      <a:lnTo>
                        <a:pt x="40" y="12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61" name="Freeform 2522"/>
                <p:cNvSpPr>
                  <a:spLocks/>
                </p:cNvSpPr>
                <p:nvPr/>
              </p:nvSpPr>
              <p:spPr bwMode="auto">
                <a:xfrm>
                  <a:off x="992" y="3753"/>
                  <a:ext cx="91" cy="29"/>
                </a:xfrm>
                <a:custGeom>
                  <a:avLst/>
                  <a:gdLst>
                    <a:gd name="T0" fmla="*/ 0 w 183"/>
                    <a:gd name="T1" fmla="*/ 0 h 85"/>
                    <a:gd name="T2" fmla="*/ 0 w 183"/>
                    <a:gd name="T3" fmla="*/ 0 h 85"/>
                    <a:gd name="T4" fmla="*/ 0 w 183"/>
                    <a:gd name="T5" fmla="*/ 0 h 85"/>
                    <a:gd name="T6" fmla="*/ 0 w 183"/>
                    <a:gd name="T7" fmla="*/ 0 h 85"/>
                    <a:gd name="T8" fmla="*/ 0 w 183"/>
                    <a:gd name="T9" fmla="*/ 0 h 85"/>
                    <a:gd name="T10" fmla="*/ 1 w 183"/>
                    <a:gd name="T11" fmla="*/ 0 h 85"/>
                    <a:gd name="T12" fmla="*/ 1 w 183"/>
                    <a:gd name="T13" fmla="*/ 0 h 85"/>
                    <a:gd name="T14" fmla="*/ 1 w 183"/>
                    <a:gd name="T15" fmla="*/ 0 h 85"/>
                    <a:gd name="T16" fmla="*/ 1 w 183"/>
                    <a:gd name="T17" fmla="*/ 0 h 85"/>
                    <a:gd name="T18" fmla="*/ 0 w 183"/>
                    <a:gd name="T19" fmla="*/ 0 h 85"/>
                    <a:gd name="T20" fmla="*/ 0 w 183"/>
                    <a:gd name="T21" fmla="*/ 0 h 85"/>
                    <a:gd name="T22" fmla="*/ 0 w 183"/>
                    <a:gd name="T23" fmla="*/ 0 h 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83"/>
                    <a:gd name="T37" fmla="*/ 0 h 85"/>
                    <a:gd name="T38" fmla="*/ 183 w 183"/>
                    <a:gd name="T39" fmla="*/ 85 h 8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83" h="85">
                      <a:moveTo>
                        <a:pt x="0" y="0"/>
                      </a:moveTo>
                      <a:lnTo>
                        <a:pt x="64" y="0"/>
                      </a:lnTo>
                      <a:lnTo>
                        <a:pt x="67" y="13"/>
                      </a:lnTo>
                      <a:lnTo>
                        <a:pt x="75" y="28"/>
                      </a:lnTo>
                      <a:lnTo>
                        <a:pt x="84" y="42"/>
                      </a:lnTo>
                      <a:lnTo>
                        <a:pt x="158" y="42"/>
                      </a:lnTo>
                      <a:lnTo>
                        <a:pt x="163" y="55"/>
                      </a:lnTo>
                      <a:lnTo>
                        <a:pt x="172" y="67"/>
                      </a:lnTo>
                      <a:lnTo>
                        <a:pt x="183" y="85"/>
                      </a:lnTo>
                      <a:lnTo>
                        <a:pt x="64" y="85"/>
                      </a:lnTo>
                      <a:lnTo>
                        <a:pt x="41" y="85"/>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62" name="Freeform 2523"/>
                <p:cNvSpPr>
                  <a:spLocks/>
                </p:cNvSpPr>
                <p:nvPr/>
              </p:nvSpPr>
              <p:spPr bwMode="auto">
                <a:xfrm>
                  <a:off x="1008" y="3782"/>
                  <a:ext cx="81" cy="12"/>
                </a:xfrm>
                <a:custGeom>
                  <a:avLst/>
                  <a:gdLst>
                    <a:gd name="T0" fmla="*/ 0 w 160"/>
                    <a:gd name="T1" fmla="*/ 0 h 36"/>
                    <a:gd name="T2" fmla="*/ 1 w 160"/>
                    <a:gd name="T3" fmla="*/ 0 h 36"/>
                    <a:gd name="T4" fmla="*/ 1 w 160"/>
                    <a:gd name="T5" fmla="*/ 0 h 36"/>
                    <a:gd name="T6" fmla="*/ 1 w 160"/>
                    <a:gd name="T7" fmla="*/ 0 h 36"/>
                    <a:gd name="T8" fmla="*/ 2 w 160"/>
                    <a:gd name="T9" fmla="*/ 0 h 36"/>
                    <a:gd name="T10" fmla="*/ 2 w 160"/>
                    <a:gd name="T11" fmla="*/ 0 h 36"/>
                    <a:gd name="T12" fmla="*/ 0 w 160"/>
                    <a:gd name="T13" fmla="*/ 0 h 36"/>
                    <a:gd name="T14" fmla="*/ 0 60000 65536"/>
                    <a:gd name="T15" fmla="*/ 0 60000 65536"/>
                    <a:gd name="T16" fmla="*/ 0 60000 65536"/>
                    <a:gd name="T17" fmla="*/ 0 60000 65536"/>
                    <a:gd name="T18" fmla="*/ 0 60000 65536"/>
                    <a:gd name="T19" fmla="*/ 0 60000 65536"/>
                    <a:gd name="T20" fmla="*/ 0 60000 65536"/>
                    <a:gd name="T21" fmla="*/ 0 w 160"/>
                    <a:gd name="T22" fmla="*/ 0 h 36"/>
                    <a:gd name="T23" fmla="*/ 160 w 16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60" h="36">
                      <a:moveTo>
                        <a:pt x="0" y="36"/>
                      </a:moveTo>
                      <a:lnTo>
                        <a:pt x="1" y="20"/>
                      </a:lnTo>
                      <a:lnTo>
                        <a:pt x="7" y="8"/>
                      </a:lnTo>
                      <a:lnTo>
                        <a:pt x="10" y="0"/>
                      </a:lnTo>
                      <a:lnTo>
                        <a:pt x="150" y="0"/>
                      </a:lnTo>
                      <a:lnTo>
                        <a:pt x="160"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57" name="Group 2524"/>
              <p:cNvGrpSpPr>
                <a:grpSpLocks/>
              </p:cNvGrpSpPr>
              <p:nvPr/>
            </p:nvGrpSpPr>
            <p:grpSpPr bwMode="auto">
              <a:xfrm>
                <a:off x="920" y="3821"/>
                <a:ext cx="413" cy="50"/>
                <a:chOff x="920" y="3821"/>
                <a:chExt cx="413" cy="50"/>
              </a:xfrm>
            </p:grpSpPr>
            <p:sp>
              <p:nvSpPr>
                <p:cNvPr id="2378" name="Freeform 2525"/>
                <p:cNvSpPr>
                  <a:spLocks/>
                </p:cNvSpPr>
                <p:nvPr/>
              </p:nvSpPr>
              <p:spPr bwMode="auto">
                <a:xfrm>
                  <a:off x="920" y="3821"/>
                  <a:ext cx="413" cy="50"/>
                </a:xfrm>
                <a:custGeom>
                  <a:avLst/>
                  <a:gdLst>
                    <a:gd name="T0" fmla="*/ 1 w 825"/>
                    <a:gd name="T1" fmla="*/ 0 h 151"/>
                    <a:gd name="T2" fmla="*/ 1 w 825"/>
                    <a:gd name="T3" fmla="*/ 0 h 151"/>
                    <a:gd name="T4" fmla="*/ 1 w 825"/>
                    <a:gd name="T5" fmla="*/ 0 h 151"/>
                    <a:gd name="T6" fmla="*/ 0 w 825"/>
                    <a:gd name="T7" fmla="*/ 0 h 151"/>
                    <a:gd name="T8" fmla="*/ 1 w 825"/>
                    <a:gd name="T9" fmla="*/ 0 h 151"/>
                    <a:gd name="T10" fmla="*/ 1 w 825"/>
                    <a:gd name="T11" fmla="*/ 0 h 151"/>
                    <a:gd name="T12" fmla="*/ 1 w 825"/>
                    <a:gd name="T13" fmla="*/ 0 h 151"/>
                    <a:gd name="T14" fmla="*/ 7 w 825"/>
                    <a:gd name="T15" fmla="*/ 0 h 151"/>
                    <a:gd name="T16" fmla="*/ 7 w 825"/>
                    <a:gd name="T17" fmla="*/ 0 h 151"/>
                    <a:gd name="T18" fmla="*/ 7 w 825"/>
                    <a:gd name="T19" fmla="*/ 0 h 151"/>
                    <a:gd name="T20" fmla="*/ 7 w 825"/>
                    <a:gd name="T21" fmla="*/ 0 h 151"/>
                    <a:gd name="T22" fmla="*/ 7 w 825"/>
                    <a:gd name="T23" fmla="*/ 0 h 151"/>
                    <a:gd name="T24" fmla="*/ 7 w 825"/>
                    <a:gd name="T25" fmla="*/ 0 h 151"/>
                    <a:gd name="T26" fmla="*/ 7 w 825"/>
                    <a:gd name="T27" fmla="*/ 0 h 151"/>
                    <a:gd name="T28" fmla="*/ 1 w 825"/>
                    <a:gd name="T29" fmla="*/ 0 h 15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825"/>
                    <a:gd name="T46" fmla="*/ 0 h 151"/>
                    <a:gd name="T47" fmla="*/ 825 w 825"/>
                    <a:gd name="T48" fmla="*/ 151 h 15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825" h="151">
                      <a:moveTo>
                        <a:pt x="35" y="13"/>
                      </a:moveTo>
                      <a:lnTo>
                        <a:pt x="17" y="27"/>
                      </a:lnTo>
                      <a:lnTo>
                        <a:pt x="9" y="48"/>
                      </a:lnTo>
                      <a:lnTo>
                        <a:pt x="0" y="97"/>
                      </a:lnTo>
                      <a:lnTo>
                        <a:pt x="4" y="124"/>
                      </a:lnTo>
                      <a:lnTo>
                        <a:pt x="13" y="138"/>
                      </a:lnTo>
                      <a:lnTo>
                        <a:pt x="26" y="151"/>
                      </a:lnTo>
                      <a:lnTo>
                        <a:pt x="783" y="142"/>
                      </a:lnTo>
                      <a:lnTo>
                        <a:pt x="807" y="128"/>
                      </a:lnTo>
                      <a:lnTo>
                        <a:pt x="816" y="107"/>
                      </a:lnTo>
                      <a:lnTo>
                        <a:pt x="825" y="61"/>
                      </a:lnTo>
                      <a:lnTo>
                        <a:pt x="821" y="27"/>
                      </a:lnTo>
                      <a:lnTo>
                        <a:pt x="806" y="9"/>
                      </a:lnTo>
                      <a:lnTo>
                        <a:pt x="785" y="0"/>
                      </a:lnTo>
                      <a:lnTo>
                        <a:pt x="35" y="13"/>
                      </a:lnTo>
                      <a:close/>
                    </a:path>
                  </a:pathLst>
                </a:custGeom>
                <a:solidFill>
                  <a:srgbClr val="202020"/>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79" name="Freeform 2526"/>
                <p:cNvSpPr>
                  <a:spLocks/>
                </p:cNvSpPr>
                <p:nvPr/>
              </p:nvSpPr>
              <p:spPr bwMode="auto">
                <a:xfrm>
                  <a:off x="972" y="3833"/>
                  <a:ext cx="330" cy="27"/>
                </a:xfrm>
                <a:custGeom>
                  <a:avLst/>
                  <a:gdLst>
                    <a:gd name="T0" fmla="*/ 1 w 658"/>
                    <a:gd name="T1" fmla="*/ 0 h 79"/>
                    <a:gd name="T2" fmla="*/ 0 w 658"/>
                    <a:gd name="T3" fmla="*/ 0 h 79"/>
                    <a:gd name="T4" fmla="*/ 2 w 658"/>
                    <a:gd name="T5" fmla="*/ 0 h 79"/>
                    <a:gd name="T6" fmla="*/ 2 w 658"/>
                    <a:gd name="T7" fmla="*/ 0 h 79"/>
                    <a:gd name="T8" fmla="*/ 4 w 658"/>
                    <a:gd name="T9" fmla="*/ 0 h 79"/>
                    <a:gd name="T10" fmla="*/ 4 w 658"/>
                    <a:gd name="T11" fmla="*/ 0 h 79"/>
                    <a:gd name="T12" fmla="*/ 6 w 658"/>
                    <a:gd name="T13" fmla="*/ 0 h 79"/>
                    <a:gd name="T14" fmla="*/ 6 w 658"/>
                    <a:gd name="T15" fmla="*/ 0 h 79"/>
                    <a:gd name="T16" fmla="*/ 4 w 658"/>
                    <a:gd name="T17" fmla="*/ 0 h 79"/>
                    <a:gd name="T18" fmla="*/ 4 w 658"/>
                    <a:gd name="T19" fmla="*/ 0 h 79"/>
                    <a:gd name="T20" fmla="*/ 2 w 658"/>
                    <a:gd name="T21" fmla="*/ 0 h 79"/>
                    <a:gd name="T22" fmla="*/ 2 w 658"/>
                    <a:gd name="T23" fmla="*/ 0 h 79"/>
                    <a:gd name="T24" fmla="*/ 1 w 658"/>
                    <a:gd name="T25" fmla="*/ 0 h 7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658"/>
                    <a:gd name="T40" fmla="*/ 0 h 79"/>
                    <a:gd name="T41" fmla="*/ 658 w 658"/>
                    <a:gd name="T42" fmla="*/ 79 h 7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658" h="79">
                      <a:moveTo>
                        <a:pt x="4" y="23"/>
                      </a:moveTo>
                      <a:lnTo>
                        <a:pt x="0" y="50"/>
                      </a:lnTo>
                      <a:lnTo>
                        <a:pt x="153" y="50"/>
                      </a:lnTo>
                      <a:lnTo>
                        <a:pt x="153" y="79"/>
                      </a:lnTo>
                      <a:lnTo>
                        <a:pt x="500" y="73"/>
                      </a:lnTo>
                      <a:lnTo>
                        <a:pt x="500" y="50"/>
                      </a:lnTo>
                      <a:lnTo>
                        <a:pt x="656" y="50"/>
                      </a:lnTo>
                      <a:lnTo>
                        <a:pt x="658" y="23"/>
                      </a:lnTo>
                      <a:lnTo>
                        <a:pt x="504" y="23"/>
                      </a:lnTo>
                      <a:lnTo>
                        <a:pt x="504" y="0"/>
                      </a:lnTo>
                      <a:lnTo>
                        <a:pt x="153" y="8"/>
                      </a:lnTo>
                      <a:lnTo>
                        <a:pt x="153" y="23"/>
                      </a:lnTo>
                      <a:lnTo>
                        <a:pt x="4"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80" name="Rectangle 2527"/>
                <p:cNvSpPr>
                  <a:spLocks noChangeArrowheads="1"/>
                </p:cNvSpPr>
                <p:nvPr/>
              </p:nvSpPr>
              <p:spPr bwMode="auto">
                <a:xfrm>
                  <a:off x="982" y="3856"/>
                  <a:ext cx="26" cy="7"/>
                </a:xfrm>
                <a:prstGeom prst="rect">
                  <a:avLst/>
                </a:prstGeom>
                <a:solidFill>
                  <a:srgbClr val="00A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2381" name="Rectangle 2528"/>
                <p:cNvSpPr>
                  <a:spLocks noChangeArrowheads="1"/>
                </p:cNvSpPr>
                <p:nvPr/>
              </p:nvSpPr>
              <p:spPr bwMode="auto">
                <a:xfrm>
                  <a:off x="1237" y="3855"/>
                  <a:ext cx="53" cy="6"/>
                </a:xfrm>
                <a:prstGeom prst="rect">
                  <a:avLst/>
                </a:prstGeom>
                <a:solidFill>
                  <a:srgbClr val="202020"/>
                </a:solidFill>
                <a:ln w="7938">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58" name="Group 2529"/>
              <p:cNvGrpSpPr>
                <a:grpSpLocks/>
              </p:cNvGrpSpPr>
              <p:nvPr/>
            </p:nvGrpSpPr>
            <p:grpSpPr bwMode="auto">
              <a:xfrm>
                <a:off x="1227" y="3477"/>
                <a:ext cx="508" cy="321"/>
                <a:chOff x="1227" y="3477"/>
                <a:chExt cx="508" cy="321"/>
              </a:xfrm>
            </p:grpSpPr>
            <p:sp>
              <p:nvSpPr>
                <p:cNvPr id="2359" name="Freeform 2530"/>
                <p:cNvSpPr>
                  <a:spLocks/>
                </p:cNvSpPr>
                <p:nvPr/>
              </p:nvSpPr>
              <p:spPr bwMode="auto">
                <a:xfrm>
                  <a:off x="1640" y="3731"/>
                  <a:ext cx="95" cy="66"/>
                </a:xfrm>
                <a:custGeom>
                  <a:avLst/>
                  <a:gdLst>
                    <a:gd name="T0" fmla="*/ 0 w 191"/>
                    <a:gd name="T1" fmla="*/ 0 h 200"/>
                    <a:gd name="T2" fmla="*/ 0 w 191"/>
                    <a:gd name="T3" fmla="*/ 0 h 200"/>
                    <a:gd name="T4" fmla="*/ 0 w 191"/>
                    <a:gd name="T5" fmla="*/ 0 h 200"/>
                    <a:gd name="T6" fmla="*/ 0 w 191"/>
                    <a:gd name="T7" fmla="*/ 0 h 200"/>
                    <a:gd name="T8" fmla="*/ 0 w 191"/>
                    <a:gd name="T9" fmla="*/ 0 h 200"/>
                    <a:gd name="T10" fmla="*/ 0 w 191"/>
                    <a:gd name="T11" fmla="*/ 0 h 200"/>
                    <a:gd name="T12" fmla="*/ 0 w 191"/>
                    <a:gd name="T13" fmla="*/ 0 h 200"/>
                    <a:gd name="T14" fmla="*/ 0 w 191"/>
                    <a:gd name="T15" fmla="*/ 0 h 200"/>
                    <a:gd name="T16" fmla="*/ 1 w 191"/>
                    <a:gd name="T17" fmla="*/ 0 h 200"/>
                    <a:gd name="T18" fmla="*/ 1 w 191"/>
                    <a:gd name="T19" fmla="*/ 0 h 200"/>
                    <a:gd name="T20" fmla="*/ 1 w 191"/>
                    <a:gd name="T21" fmla="*/ 0 h 200"/>
                    <a:gd name="T22" fmla="*/ 0 w 191"/>
                    <a:gd name="T23" fmla="*/ 0 h 20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91"/>
                    <a:gd name="T37" fmla="*/ 0 h 200"/>
                    <a:gd name="T38" fmla="*/ 191 w 191"/>
                    <a:gd name="T39" fmla="*/ 200 h 200"/>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91" h="200">
                      <a:moveTo>
                        <a:pt x="126" y="9"/>
                      </a:moveTo>
                      <a:lnTo>
                        <a:pt x="93" y="0"/>
                      </a:lnTo>
                      <a:lnTo>
                        <a:pt x="59" y="5"/>
                      </a:lnTo>
                      <a:lnTo>
                        <a:pt x="32" y="17"/>
                      </a:lnTo>
                      <a:lnTo>
                        <a:pt x="9" y="45"/>
                      </a:lnTo>
                      <a:lnTo>
                        <a:pt x="0" y="94"/>
                      </a:lnTo>
                      <a:lnTo>
                        <a:pt x="0" y="137"/>
                      </a:lnTo>
                      <a:lnTo>
                        <a:pt x="0" y="200"/>
                      </a:lnTo>
                      <a:lnTo>
                        <a:pt x="191" y="200"/>
                      </a:lnTo>
                      <a:lnTo>
                        <a:pt x="181" y="81"/>
                      </a:lnTo>
                      <a:lnTo>
                        <a:pt x="157" y="30"/>
                      </a:lnTo>
                      <a:lnTo>
                        <a:pt x="126" y="9"/>
                      </a:lnTo>
                      <a:close/>
                    </a:path>
                  </a:pathLst>
                </a:custGeom>
                <a:solidFill>
                  <a:schemeClr val="bg2"/>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0" name="Freeform 2531"/>
                <p:cNvSpPr>
                  <a:spLocks/>
                </p:cNvSpPr>
                <p:nvPr/>
              </p:nvSpPr>
              <p:spPr bwMode="auto">
                <a:xfrm>
                  <a:off x="1227" y="3477"/>
                  <a:ext cx="429" cy="264"/>
                </a:xfrm>
                <a:custGeom>
                  <a:avLst/>
                  <a:gdLst>
                    <a:gd name="T0" fmla="*/ 0 w 860"/>
                    <a:gd name="T1" fmla="*/ 0 h 791"/>
                    <a:gd name="T2" fmla="*/ 6 w 860"/>
                    <a:gd name="T3" fmla="*/ 0 h 791"/>
                    <a:gd name="T4" fmla="*/ 6 w 860"/>
                    <a:gd name="T5" fmla="*/ 0 h 791"/>
                    <a:gd name="T6" fmla="*/ 6 w 860"/>
                    <a:gd name="T7" fmla="*/ 0 h 791"/>
                    <a:gd name="T8" fmla="*/ 0 w 860"/>
                    <a:gd name="T9" fmla="*/ 0 h 791"/>
                    <a:gd name="T10" fmla="*/ 0 60000 65536"/>
                    <a:gd name="T11" fmla="*/ 0 60000 65536"/>
                    <a:gd name="T12" fmla="*/ 0 60000 65536"/>
                    <a:gd name="T13" fmla="*/ 0 60000 65536"/>
                    <a:gd name="T14" fmla="*/ 0 60000 65536"/>
                    <a:gd name="T15" fmla="*/ 0 w 860"/>
                    <a:gd name="T16" fmla="*/ 0 h 791"/>
                    <a:gd name="T17" fmla="*/ 860 w 860"/>
                    <a:gd name="T18" fmla="*/ 791 h 791"/>
                  </a:gdLst>
                  <a:ahLst/>
                  <a:cxnLst>
                    <a:cxn ang="T10">
                      <a:pos x="T0" y="T1"/>
                    </a:cxn>
                    <a:cxn ang="T11">
                      <a:pos x="T2" y="T3"/>
                    </a:cxn>
                    <a:cxn ang="T12">
                      <a:pos x="T4" y="T5"/>
                    </a:cxn>
                    <a:cxn ang="T13">
                      <a:pos x="T6" y="T7"/>
                    </a:cxn>
                    <a:cxn ang="T14">
                      <a:pos x="T8" y="T9"/>
                    </a:cxn>
                  </a:cxnLst>
                  <a:rect l="T15" t="T16" r="T17" b="T18"/>
                  <a:pathLst>
                    <a:path w="860" h="791">
                      <a:moveTo>
                        <a:pt x="0" y="0"/>
                      </a:moveTo>
                      <a:lnTo>
                        <a:pt x="860" y="764"/>
                      </a:lnTo>
                      <a:lnTo>
                        <a:pt x="849" y="777"/>
                      </a:lnTo>
                      <a:lnTo>
                        <a:pt x="838" y="791"/>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1" name="Freeform 2532"/>
                <p:cNvSpPr>
                  <a:spLocks/>
                </p:cNvSpPr>
                <p:nvPr/>
              </p:nvSpPr>
              <p:spPr bwMode="auto">
                <a:xfrm>
                  <a:off x="1521" y="3650"/>
                  <a:ext cx="141" cy="122"/>
                </a:xfrm>
                <a:custGeom>
                  <a:avLst/>
                  <a:gdLst>
                    <a:gd name="T0" fmla="*/ 1 w 281"/>
                    <a:gd name="T1" fmla="*/ 0 h 366"/>
                    <a:gd name="T2" fmla="*/ 1 w 281"/>
                    <a:gd name="T3" fmla="*/ 0 h 366"/>
                    <a:gd name="T4" fmla="*/ 1 w 281"/>
                    <a:gd name="T5" fmla="*/ 0 h 366"/>
                    <a:gd name="T6" fmla="*/ 1 w 281"/>
                    <a:gd name="T7" fmla="*/ 0 h 366"/>
                    <a:gd name="T8" fmla="*/ 1 w 281"/>
                    <a:gd name="T9" fmla="*/ 0 h 366"/>
                    <a:gd name="T10" fmla="*/ 2 w 281"/>
                    <a:gd name="T11" fmla="*/ 0 h 366"/>
                    <a:gd name="T12" fmla="*/ 3 w 281"/>
                    <a:gd name="T13" fmla="*/ 0 h 366"/>
                    <a:gd name="T14" fmla="*/ 3 w 281"/>
                    <a:gd name="T15" fmla="*/ 0 h 366"/>
                    <a:gd name="T16" fmla="*/ 2 w 281"/>
                    <a:gd name="T17" fmla="*/ 0 h 366"/>
                    <a:gd name="T18" fmla="*/ 2 w 281"/>
                    <a:gd name="T19" fmla="*/ 0 h 366"/>
                    <a:gd name="T20" fmla="*/ 2 w 281"/>
                    <a:gd name="T21" fmla="*/ 0 h 366"/>
                    <a:gd name="T22" fmla="*/ 2 w 281"/>
                    <a:gd name="T23" fmla="*/ 0 h 366"/>
                    <a:gd name="T24" fmla="*/ 2 w 281"/>
                    <a:gd name="T25" fmla="*/ 0 h 366"/>
                    <a:gd name="T26" fmla="*/ 2 w 281"/>
                    <a:gd name="T27" fmla="*/ 0 h 366"/>
                    <a:gd name="T28" fmla="*/ 2 w 281"/>
                    <a:gd name="T29" fmla="*/ 0 h 366"/>
                    <a:gd name="T30" fmla="*/ 0 w 281"/>
                    <a:gd name="T31" fmla="*/ 0 h 366"/>
                    <a:gd name="T32" fmla="*/ 0 w 281"/>
                    <a:gd name="T33" fmla="*/ 0 h 366"/>
                    <a:gd name="T34" fmla="*/ 1 w 281"/>
                    <a:gd name="T35" fmla="*/ 0 h 36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81"/>
                    <a:gd name="T55" fmla="*/ 0 h 366"/>
                    <a:gd name="T56" fmla="*/ 281 w 281"/>
                    <a:gd name="T57" fmla="*/ 366 h 36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81" h="366">
                      <a:moveTo>
                        <a:pt x="4" y="95"/>
                      </a:moveTo>
                      <a:lnTo>
                        <a:pt x="24" y="62"/>
                      </a:lnTo>
                      <a:lnTo>
                        <a:pt x="54" y="43"/>
                      </a:lnTo>
                      <a:lnTo>
                        <a:pt x="78" y="42"/>
                      </a:lnTo>
                      <a:lnTo>
                        <a:pt x="128" y="43"/>
                      </a:lnTo>
                      <a:lnTo>
                        <a:pt x="132" y="0"/>
                      </a:lnTo>
                      <a:lnTo>
                        <a:pt x="281" y="130"/>
                      </a:lnTo>
                      <a:lnTo>
                        <a:pt x="272" y="179"/>
                      </a:lnTo>
                      <a:lnTo>
                        <a:pt x="228" y="170"/>
                      </a:lnTo>
                      <a:lnTo>
                        <a:pt x="191" y="184"/>
                      </a:lnTo>
                      <a:lnTo>
                        <a:pt x="158" y="210"/>
                      </a:lnTo>
                      <a:lnTo>
                        <a:pt x="150" y="232"/>
                      </a:lnTo>
                      <a:lnTo>
                        <a:pt x="149" y="295"/>
                      </a:lnTo>
                      <a:lnTo>
                        <a:pt x="149" y="338"/>
                      </a:lnTo>
                      <a:lnTo>
                        <a:pt x="150" y="366"/>
                      </a:lnTo>
                      <a:lnTo>
                        <a:pt x="0" y="229"/>
                      </a:lnTo>
                      <a:lnTo>
                        <a:pt x="0" y="139"/>
                      </a:lnTo>
                      <a:lnTo>
                        <a:pt x="4" y="95"/>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2" name="Line 2533"/>
                <p:cNvSpPr>
                  <a:spLocks noChangeShapeType="1"/>
                </p:cNvSpPr>
                <p:nvPr/>
              </p:nvSpPr>
              <p:spPr bwMode="auto">
                <a:xfrm>
                  <a:off x="1586" y="3665"/>
                  <a:ext cx="76" cy="44"/>
                </a:xfrm>
                <a:prstGeom prst="line">
                  <a:avLst/>
                </a:prstGeom>
                <a:noFill/>
                <a:ln w="793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3" name="Freeform 2534"/>
                <p:cNvSpPr>
                  <a:spLocks/>
                </p:cNvSpPr>
                <p:nvPr/>
              </p:nvSpPr>
              <p:spPr bwMode="auto">
                <a:xfrm>
                  <a:off x="1242" y="3486"/>
                  <a:ext cx="111" cy="96"/>
                </a:xfrm>
                <a:custGeom>
                  <a:avLst/>
                  <a:gdLst>
                    <a:gd name="T0" fmla="*/ 1 w 222"/>
                    <a:gd name="T1" fmla="*/ 0 h 289"/>
                    <a:gd name="T2" fmla="*/ 1 w 222"/>
                    <a:gd name="T3" fmla="*/ 0 h 289"/>
                    <a:gd name="T4" fmla="*/ 1 w 222"/>
                    <a:gd name="T5" fmla="*/ 0 h 289"/>
                    <a:gd name="T6" fmla="*/ 1 w 222"/>
                    <a:gd name="T7" fmla="*/ 0 h 289"/>
                    <a:gd name="T8" fmla="*/ 2 w 222"/>
                    <a:gd name="T9" fmla="*/ 0 h 289"/>
                    <a:gd name="T10" fmla="*/ 2 w 222"/>
                    <a:gd name="T11" fmla="*/ 0 h 289"/>
                    <a:gd name="T12" fmla="*/ 2 w 222"/>
                    <a:gd name="T13" fmla="*/ 0 h 289"/>
                    <a:gd name="T14" fmla="*/ 2 w 222"/>
                    <a:gd name="T15" fmla="*/ 0 h 289"/>
                    <a:gd name="T16" fmla="*/ 2 w 222"/>
                    <a:gd name="T17" fmla="*/ 0 h 289"/>
                    <a:gd name="T18" fmla="*/ 2 w 222"/>
                    <a:gd name="T19" fmla="*/ 0 h 289"/>
                    <a:gd name="T20" fmla="*/ 2 w 222"/>
                    <a:gd name="T21" fmla="*/ 0 h 289"/>
                    <a:gd name="T22" fmla="*/ 1 w 222"/>
                    <a:gd name="T23" fmla="*/ 0 h 289"/>
                    <a:gd name="T24" fmla="*/ 1 w 222"/>
                    <a:gd name="T25" fmla="*/ 0 h 289"/>
                    <a:gd name="T26" fmla="*/ 1 w 222"/>
                    <a:gd name="T27" fmla="*/ 0 h 289"/>
                    <a:gd name="T28" fmla="*/ 1 w 222"/>
                    <a:gd name="T29" fmla="*/ 0 h 289"/>
                    <a:gd name="T30" fmla="*/ 0 w 222"/>
                    <a:gd name="T31" fmla="*/ 0 h 289"/>
                    <a:gd name="T32" fmla="*/ 1 w 222"/>
                    <a:gd name="T33" fmla="*/ 0 h 289"/>
                    <a:gd name="T34" fmla="*/ 1 w 222"/>
                    <a:gd name="T35" fmla="*/ 0 h 2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22"/>
                    <a:gd name="T55" fmla="*/ 0 h 289"/>
                    <a:gd name="T56" fmla="*/ 222 w 222"/>
                    <a:gd name="T57" fmla="*/ 289 h 2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22" h="289">
                      <a:moveTo>
                        <a:pt x="10" y="98"/>
                      </a:moveTo>
                      <a:lnTo>
                        <a:pt x="27" y="64"/>
                      </a:lnTo>
                      <a:lnTo>
                        <a:pt x="53" y="45"/>
                      </a:lnTo>
                      <a:lnTo>
                        <a:pt x="81" y="41"/>
                      </a:lnTo>
                      <a:lnTo>
                        <a:pt x="131" y="42"/>
                      </a:lnTo>
                      <a:lnTo>
                        <a:pt x="135" y="0"/>
                      </a:lnTo>
                      <a:lnTo>
                        <a:pt x="222" y="80"/>
                      </a:lnTo>
                      <a:lnTo>
                        <a:pt x="218" y="120"/>
                      </a:lnTo>
                      <a:lnTo>
                        <a:pt x="190" y="118"/>
                      </a:lnTo>
                      <a:lnTo>
                        <a:pt x="168" y="116"/>
                      </a:lnTo>
                      <a:lnTo>
                        <a:pt x="135" y="125"/>
                      </a:lnTo>
                      <a:lnTo>
                        <a:pt x="118" y="137"/>
                      </a:lnTo>
                      <a:lnTo>
                        <a:pt x="102" y="161"/>
                      </a:lnTo>
                      <a:lnTo>
                        <a:pt x="98" y="192"/>
                      </a:lnTo>
                      <a:lnTo>
                        <a:pt x="93" y="289"/>
                      </a:lnTo>
                      <a:lnTo>
                        <a:pt x="0" y="197"/>
                      </a:lnTo>
                      <a:lnTo>
                        <a:pt x="4" y="138"/>
                      </a:lnTo>
                      <a:lnTo>
                        <a:pt x="10" y="98"/>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4" name="Freeform 2535"/>
                <p:cNvSpPr>
                  <a:spLocks/>
                </p:cNvSpPr>
                <p:nvPr/>
              </p:nvSpPr>
              <p:spPr bwMode="auto">
                <a:xfrm>
                  <a:off x="1456" y="3626"/>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5"/>
                      </a:moveTo>
                      <a:lnTo>
                        <a:pt x="59" y="0"/>
                      </a:lnTo>
                      <a:lnTo>
                        <a:pt x="30" y="14"/>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5" name="Freeform 2536"/>
                <p:cNvSpPr>
                  <a:spLocks/>
                </p:cNvSpPr>
                <p:nvPr/>
              </p:nvSpPr>
              <p:spPr bwMode="auto">
                <a:xfrm>
                  <a:off x="1440" y="3615"/>
                  <a:ext cx="63" cy="61"/>
                </a:xfrm>
                <a:custGeom>
                  <a:avLst/>
                  <a:gdLst>
                    <a:gd name="T0" fmla="*/ 1 w 126"/>
                    <a:gd name="T1" fmla="*/ 0 h 185"/>
                    <a:gd name="T2" fmla="*/ 1 w 126"/>
                    <a:gd name="T3" fmla="*/ 0 h 185"/>
                    <a:gd name="T4" fmla="*/ 1 w 126"/>
                    <a:gd name="T5" fmla="*/ 0 h 185"/>
                    <a:gd name="T6" fmla="*/ 1 w 126"/>
                    <a:gd name="T7" fmla="*/ 0 h 185"/>
                    <a:gd name="T8" fmla="*/ 0 w 126"/>
                    <a:gd name="T9" fmla="*/ 0 h 185"/>
                    <a:gd name="T10" fmla="*/ 0 w 126"/>
                    <a:gd name="T11" fmla="*/ 0 h 185"/>
                    <a:gd name="T12" fmla="*/ 0 w 126"/>
                    <a:gd name="T13" fmla="*/ 0 h 185"/>
                    <a:gd name="T14" fmla="*/ 0 60000 65536"/>
                    <a:gd name="T15" fmla="*/ 0 60000 65536"/>
                    <a:gd name="T16" fmla="*/ 0 60000 65536"/>
                    <a:gd name="T17" fmla="*/ 0 60000 65536"/>
                    <a:gd name="T18" fmla="*/ 0 60000 65536"/>
                    <a:gd name="T19" fmla="*/ 0 60000 65536"/>
                    <a:gd name="T20" fmla="*/ 0 60000 65536"/>
                    <a:gd name="T21" fmla="*/ 0 w 126"/>
                    <a:gd name="T22" fmla="*/ 0 h 185"/>
                    <a:gd name="T23" fmla="*/ 126 w 126"/>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5">
                      <a:moveTo>
                        <a:pt x="126" y="3"/>
                      </a:moveTo>
                      <a:lnTo>
                        <a:pt x="59" y="0"/>
                      </a:lnTo>
                      <a:lnTo>
                        <a:pt x="24" y="15"/>
                      </a:lnTo>
                      <a:lnTo>
                        <a:pt x="9" y="39"/>
                      </a:lnTo>
                      <a:lnTo>
                        <a:pt x="0" y="88"/>
                      </a:lnTo>
                      <a:lnTo>
                        <a:pt x="0" y="185"/>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6" name="Freeform 2537"/>
                <p:cNvSpPr>
                  <a:spLocks/>
                </p:cNvSpPr>
                <p:nvPr/>
              </p:nvSpPr>
              <p:spPr bwMode="auto">
                <a:xfrm>
                  <a:off x="1422" y="3604"/>
                  <a:ext cx="64" cy="62"/>
                </a:xfrm>
                <a:custGeom>
                  <a:avLst/>
                  <a:gdLst>
                    <a:gd name="T0" fmla="*/ 1 w 127"/>
                    <a:gd name="T1" fmla="*/ 0 h 185"/>
                    <a:gd name="T2" fmla="*/ 1 w 127"/>
                    <a:gd name="T3" fmla="*/ 0 h 185"/>
                    <a:gd name="T4" fmla="*/ 1 w 127"/>
                    <a:gd name="T5" fmla="*/ 0 h 185"/>
                    <a:gd name="T6" fmla="*/ 1 w 127"/>
                    <a:gd name="T7" fmla="*/ 0 h 185"/>
                    <a:gd name="T8" fmla="*/ 0 w 127"/>
                    <a:gd name="T9" fmla="*/ 0 h 185"/>
                    <a:gd name="T10" fmla="*/ 0 w 127"/>
                    <a:gd name="T11" fmla="*/ 0 h 185"/>
                    <a:gd name="T12" fmla="*/ 0 w 127"/>
                    <a:gd name="T13" fmla="*/ 0 h 185"/>
                    <a:gd name="T14" fmla="*/ 0 60000 65536"/>
                    <a:gd name="T15" fmla="*/ 0 60000 65536"/>
                    <a:gd name="T16" fmla="*/ 0 60000 65536"/>
                    <a:gd name="T17" fmla="*/ 0 60000 65536"/>
                    <a:gd name="T18" fmla="*/ 0 60000 65536"/>
                    <a:gd name="T19" fmla="*/ 0 60000 65536"/>
                    <a:gd name="T20" fmla="*/ 0 60000 65536"/>
                    <a:gd name="T21" fmla="*/ 0 w 127"/>
                    <a:gd name="T22" fmla="*/ 0 h 185"/>
                    <a:gd name="T23" fmla="*/ 127 w 127"/>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5">
                      <a:moveTo>
                        <a:pt x="127" y="5"/>
                      </a:moveTo>
                      <a:lnTo>
                        <a:pt x="59" y="0"/>
                      </a:lnTo>
                      <a:lnTo>
                        <a:pt x="30" y="14"/>
                      </a:lnTo>
                      <a:lnTo>
                        <a:pt x="9" y="39"/>
                      </a:lnTo>
                      <a:lnTo>
                        <a:pt x="0" y="88"/>
                      </a:lnTo>
                      <a:lnTo>
                        <a:pt x="0" y="185"/>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7" name="Freeform 2538"/>
                <p:cNvSpPr>
                  <a:spLocks/>
                </p:cNvSpPr>
                <p:nvPr/>
              </p:nvSpPr>
              <p:spPr bwMode="auto">
                <a:xfrm>
                  <a:off x="1401" y="3594"/>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2" y="10"/>
                      </a:lnTo>
                      <a:lnTo>
                        <a:pt x="9" y="39"/>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8" name="Freeform 2539"/>
                <p:cNvSpPr>
                  <a:spLocks/>
                </p:cNvSpPr>
                <p:nvPr/>
              </p:nvSpPr>
              <p:spPr bwMode="auto">
                <a:xfrm>
                  <a:off x="1383" y="3583"/>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4"/>
                      </a:moveTo>
                      <a:lnTo>
                        <a:pt x="59" y="0"/>
                      </a:lnTo>
                      <a:lnTo>
                        <a:pt x="32" y="13"/>
                      </a:lnTo>
                      <a:lnTo>
                        <a:pt x="9" y="40"/>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9" name="Freeform 2540"/>
                <p:cNvSpPr>
                  <a:spLocks/>
                </p:cNvSpPr>
                <p:nvPr/>
              </p:nvSpPr>
              <p:spPr bwMode="auto">
                <a:xfrm>
                  <a:off x="1365" y="3570"/>
                  <a:ext cx="63" cy="62"/>
                </a:xfrm>
                <a:custGeom>
                  <a:avLst/>
                  <a:gdLst>
                    <a:gd name="T0" fmla="*/ 1 w 126"/>
                    <a:gd name="T1" fmla="*/ 0 h 186"/>
                    <a:gd name="T2" fmla="*/ 1 w 126"/>
                    <a:gd name="T3" fmla="*/ 0 h 186"/>
                    <a:gd name="T4" fmla="*/ 1 w 126"/>
                    <a:gd name="T5" fmla="*/ 0 h 186"/>
                    <a:gd name="T6" fmla="*/ 1 w 126"/>
                    <a:gd name="T7" fmla="*/ 0 h 186"/>
                    <a:gd name="T8" fmla="*/ 0 w 126"/>
                    <a:gd name="T9" fmla="*/ 0 h 186"/>
                    <a:gd name="T10" fmla="*/ 0 w 126"/>
                    <a:gd name="T11" fmla="*/ 0 h 186"/>
                    <a:gd name="T12" fmla="*/ 0 w 126"/>
                    <a:gd name="T13" fmla="*/ 0 h 186"/>
                    <a:gd name="T14" fmla="*/ 0 60000 65536"/>
                    <a:gd name="T15" fmla="*/ 0 60000 65536"/>
                    <a:gd name="T16" fmla="*/ 0 60000 65536"/>
                    <a:gd name="T17" fmla="*/ 0 60000 65536"/>
                    <a:gd name="T18" fmla="*/ 0 60000 65536"/>
                    <a:gd name="T19" fmla="*/ 0 60000 65536"/>
                    <a:gd name="T20" fmla="*/ 0 60000 65536"/>
                    <a:gd name="T21" fmla="*/ 0 w 126"/>
                    <a:gd name="T22" fmla="*/ 0 h 186"/>
                    <a:gd name="T23" fmla="*/ 126 w 126"/>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6">
                      <a:moveTo>
                        <a:pt x="126" y="4"/>
                      </a:moveTo>
                      <a:lnTo>
                        <a:pt x="58" y="0"/>
                      </a:lnTo>
                      <a:lnTo>
                        <a:pt x="31" y="14"/>
                      </a:lnTo>
                      <a:lnTo>
                        <a:pt x="8"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70" name="Freeform 2541"/>
                <p:cNvSpPr>
                  <a:spLocks/>
                </p:cNvSpPr>
                <p:nvPr/>
              </p:nvSpPr>
              <p:spPr bwMode="auto">
                <a:xfrm>
                  <a:off x="1349" y="3558"/>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3" y="16"/>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71" name="Freeform 2542"/>
                <p:cNvSpPr>
                  <a:spLocks/>
                </p:cNvSpPr>
                <p:nvPr/>
              </p:nvSpPr>
              <p:spPr bwMode="auto">
                <a:xfrm>
                  <a:off x="1331" y="3550"/>
                  <a:ext cx="63" cy="62"/>
                </a:xfrm>
                <a:custGeom>
                  <a:avLst/>
                  <a:gdLst>
                    <a:gd name="T0" fmla="*/ 0 w 127"/>
                    <a:gd name="T1" fmla="*/ 0 h 186"/>
                    <a:gd name="T2" fmla="*/ 0 w 127"/>
                    <a:gd name="T3" fmla="*/ 0 h 186"/>
                    <a:gd name="T4" fmla="*/ 0 w 127"/>
                    <a:gd name="T5" fmla="*/ 0 h 186"/>
                    <a:gd name="T6" fmla="*/ 0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4"/>
                      </a:moveTo>
                      <a:lnTo>
                        <a:pt x="59" y="0"/>
                      </a:lnTo>
                      <a:lnTo>
                        <a:pt x="32" y="13"/>
                      </a:lnTo>
                      <a:lnTo>
                        <a:pt x="10" y="39"/>
                      </a:lnTo>
                      <a:lnTo>
                        <a:pt x="0" y="88"/>
                      </a:lnTo>
                      <a:lnTo>
                        <a:pt x="0" y="186"/>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72" name="Freeform 2543"/>
                <p:cNvSpPr>
                  <a:spLocks/>
                </p:cNvSpPr>
                <p:nvPr/>
              </p:nvSpPr>
              <p:spPr bwMode="auto">
                <a:xfrm>
                  <a:off x="1308" y="3501"/>
                  <a:ext cx="47" cy="25"/>
                </a:xfrm>
                <a:custGeom>
                  <a:avLst/>
                  <a:gdLst>
                    <a:gd name="T0" fmla="*/ 0 w 96"/>
                    <a:gd name="T1" fmla="*/ 0 h 74"/>
                    <a:gd name="T2" fmla="*/ 0 w 96"/>
                    <a:gd name="T3" fmla="*/ 0 h 74"/>
                    <a:gd name="T4" fmla="*/ 0 w 96"/>
                    <a:gd name="T5" fmla="*/ 0 h 74"/>
                    <a:gd name="T6" fmla="*/ 0 w 96"/>
                    <a:gd name="T7" fmla="*/ 0 h 74"/>
                    <a:gd name="T8" fmla="*/ 0 60000 65536"/>
                    <a:gd name="T9" fmla="*/ 0 60000 65536"/>
                    <a:gd name="T10" fmla="*/ 0 60000 65536"/>
                    <a:gd name="T11" fmla="*/ 0 60000 65536"/>
                    <a:gd name="T12" fmla="*/ 0 w 96"/>
                    <a:gd name="T13" fmla="*/ 0 h 74"/>
                    <a:gd name="T14" fmla="*/ 96 w 96"/>
                    <a:gd name="T15" fmla="*/ 74 h 74"/>
                  </a:gdLst>
                  <a:ahLst/>
                  <a:cxnLst>
                    <a:cxn ang="T8">
                      <a:pos x="T0" y="T1"/>
                    </a:cxn>
                    <a:cxn ang="T9">
                      <a:pos x="T2" y="T3"/>
                    </a:cxn>
                    <a:cxn ang="T10">
                      <a:pos x="T4" y="T5"/>
                    </a:cxn>
                    <a:cxn ang="T11">
                      <a:pos x="T6" y="T7"/>
                    </a:cxn>
                  </a:cxnLst>
                  <a:rect l="T12" t="T13" r="T14" b="T15"/>
                  <a:pathLst>
                    <a:path w="96" h="74">
                      <a:moveTo>
                        <a:pt x="0" y="0"/>
                      </a:moveTo>
                      <a:lnTo>
                        <a:pt x="89" y="74"/>
                      </a:lnTo>
                      <a:lnTo>
                        <a:pt x="96" y="74"/>
                      </a:lnTo>
                      <a:lnTo>
                        <a:pt x="93" y="74"/>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73" name="Oval 2544"/>
                <p:cNvSpPr>
                  <a:spLocks noChangeArrowheads="1"/>
                </p:cNvSpPr>
                <p:nvPr/>
              </p:nvSpPr>
              <p:spPr bwMode="auto">
                <a:xfrm>
                  <a:off x="1339" y="3772"/>
                  <a:ext cx="78" cy="26"/>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2374" name="Oval 2545"/>
                <p:cNvSpPr>
                  <a:spLocks noChangeArrowheads="1"/>
                </p:cNvSpPr>
                <p:nvPr/>
              </p:nvSpPr>
              <p:spPr bwMode="auto">
                <a:xfrm>
                  <a:off x="1432" y="3771"/>
                  <a:ext cx="78"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2375" name="Freeform 2546"/>
                <p:cNvSpPr>
                  <a:spLocks/>
                </p:cNvSpPr>
                <p:nvPr/>
              </p:nvSpPr>
              <p:spPr bwMode="auto">
                <a:xfrm>
                  <a:off x="1511" y="3785"/>
                  <a:ext cx="94" cy="8"/>
                </a:xfrm>
                <a:custGeom>
                  <a:avLst/>
                  <a:gdLst>
                    <a:gd name="T0" fmla="*/ 0 w 188"/>
                    <a:gd name="T1" fmla="*/ 0 h 25"/>
                    <a:gd name="T2" fmla="*/ 1 w 188"/>
                    <a:gd name="T3" fmla="*/ 0 h 25"/>
                    <a:gd name="T4" fmla="*/ 1 w 188"/>
                    <a:gd name="T5" fmla="*/ 0 h 25"/>
                    <a:gd name="T6" fmla="*/ 1 w 188"/>
                    <a:gd name="T7" fmla="*/ 0 h 25"/>
                    <a:gd name="T8" fmla="*/ 0 w 188"/>
                    <a:gd name="T9" fmla="*/ 0 h 25"/>
                    <a:gd name="T10" fmla="*/ 0 60000 65536"/>
                    <a:gd name="T11" fmla="*/ 0 60000 65536"/>
                    <a:gd name="T12" fmla="*/ 0 60000 65536"/>
                    <a:gd name="T13" fmla="*/ 0 60000 65536"/>
                    <a:gd name="T14" fmla="*/ 0 60000 65536"/>
                    <a:gd name="T15" fmla="*/ 0 w 188"/>
                    <a:gd name="T16" fmla="*/ 0 h 25"/>
                    <a:gd name="T17" fmla="*/ 188 w 188"/>
                    <a:gd name="T18" fmla="*/ 25 h 25"/>
                  </a:gdLst>
                  <a:ahLst/>
                  <a:cxnLst>
                    <a:cxn ang="T10">
                      <a:pos x="T0" y="T1"/>
                    </a:cxn>
                    <a:cxn ang="T11">
                      <a:pos x="T2" y="T3"/>
                    </a:cxn>
                    <a:cxn ang="T12">
                      <a:pos x="T4" y="T5"/>
                    </a:cxn>
                    <a:cxn ang="T13">
                      <a:pos x="T6" y="T7"/>
                    </a:cxn>
                    <a:cxn ang="T14">
                      <a:pos x="T8" y="T9"/>
                    </a:cxn>
                  </a:cxnLst>
                  <a:rect l="T15" t="T16" r="T17" b="T18"/>
                  <a:pathLst>
                    <a:path w="188" h="25">
                      <a:moveTo>
                        <a:pt x="0" y="25"/>
                      </a:moveTo>
                      <a:lnTo>
                        <a:pt x="6" y="0"/>
                      </a:lnTo>
                      <a:lnTo>
                        <a:pt x="175" y="0"/>
                      </a:lnTo>
                      <a:lnTo>
                        <a:pt x="188" y="19"/>
                      </a:lnTo>
                      <a:lnTo>
                        <a:pt x="0" y="25"/>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76" name="Oval 2547"/>
                <p:cNvSpPr>
                  <a:spLocks noChangeArrowheads="1"/>
                </p:cNvSpPr>
                <p:nvPr/>
              </p:nvSpPr>
              <p:spPr bwMode="auto">
                <a:xfrm>
                  <a:off x="1338" y="3767"/>
                  <a:ext cx="78" cy="27"/>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2377" name="Oval 2548"/>
                <p:cNvSpPr>
                  <a:spLocks noChangeArrowheads="1"/>
                </p:cNvSpPr>
                <p:nvPr/>
              </p:nvSpPr>
              <p:spPr bwMode="auto">
                <a:xfrm>
                  <a:off x="1431" y="3766"/>
                  <a:ext cx="77"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01" name="Group 2096"/>
            <p:cNvGrpSpPr>
              <a:grpSpLocks/>
            </p:cNvGrpSpPr>
            <p:nvPr/>
          </p:nvGrpSpPr>
          <p:grpSpPr bwMode="auto">
            <a:xfrm>
              <a:off x="5940425" y="2060575"/>
              <a:ext cx="431800" cy="330200"/>
              <a:chOff x="624" y="2968"/>
              <a:chExt cx="1331" cy="920"/>
            </a:xfrm>
          </p:grpSpPr>
          <p:sp>
            <p:nvSpPr>
              <p:cNvPr id="2802" name="Freeform 2097"/>
              <p:cNvSpPr>
                <a:spLocks/>
              </p:cNvSpPr>
              <p:nvPr/>
            </p:nvSpPr>
            <p:spPr bwMode="auto">
              <a:xfrm>
                <a:off x="1238" y="2968"/>
                <a:ext cx="713" cy="770"/>
              </a:xfrm>
              <a:custGeom>
                <a:avLst/>
                <a:gdLst>
                  <a:gd name="T0" fmla="*/ 7 w 1426"/>
                  <a:gd name="T1" fmla="*/ 1 h 2309"/>
                  <a:gd name="T2" fmla="*/ 7 w 1426"/>
                  <a:gd name="T3" fmla="*/ 1 h 2309"/>
                  <a:gd name="T4" fmla="*/ 0 w 1426"/>
                  <a:gd name="T5" fmla="*/ 1 h 2309"/>
                  <a:gd name="T6" fmla="*/ 3 w 1426"/>
                  <a:gd name="T7" fmla="*/ 0 h 2309"/>
                  <a:gd name="T8" fmla="*/ 3 w 1426"/>
                  <a:gd name="T9" fmla="*/ 0 h 2309"/>
                  <a:gd name="T10" fmla="*/ 3 w 1426"/>
                  <a:gd name="T11" fmla="*/ 0 h 2309"/>
                  <a:gd name="T12" fmla="*/ 3 w 1426"/>
                  <a:gd name="T13" fmla="*/ 0 h 2309"/>
                  <a:gd name="T14" fmla="*/ 11 w 1426"/>
                  <a:gd name="T15" fmla="*/ 0 h 2309"/>
                  <a:gd name="T16" fmla="*/ 11 w 1426"/>
                  <a:gd name="T17" fmla="*/ 0 h 2309"/>
                  <a:gd name="T18" fmla="*/ 11 w 1426"/>
                  <a:gd name="T19" fmla="*/ 0 h 2309"/>
                  <a:gd name="T20" fmla="*/ 11 w 1426"/>
                  <a:gd name="T21" fmla="*/ 0 h 2309"/>
                  <a:gd name="T22" fmla="*/ 7 w 1426"/>
                  <a:gd name="T23" fmla="*/ 1 h 2309"/>
                  <a:gd name="T24" fmla="*/ 7 w 1426"/>
                  <a:gd name="T25" fmla="*/ 1 h 230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2309"/>
                  <a:gd name="T41" fmla="*/ 1426 w 1426"/>
                  <a:gd name="T42" fmla="*/ 2309 h 230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2309">
                    <a:moveTo>
                      <a:pt x="992" y="2292"/>
                    </a:moveTo>
                    <a:lnTo>
                      <a:pt x="964" y="2309"/>
                    </a:lnTo>
                    <a:lnTo>
                      <a:pt x="0" y="1462"/>
                    </a:lnTo>
                    <a:lnTo>
                      <a:pt x="326" y="59"/>
                    </a:lnTo>
                    <a:lnTo>
                      <a:pt x="369" y="18"/>
                    </a:lnTo>
                    <a:lnTo>
                      <a:pt x="414" y="0"/>
                    </a:lnTo>
                    <a:lnTo>
                      <a:pt x="457" y="9"/>
                    </a:lnTo>
                    <a:lnTo>
                      <a:pt x="1381" y="400"/>
                    </a:lnTo>
                    <a:lnTo>
                      <a:pt x="1411" y="421"/>
                    </a:lnTo>
                    <a:lnTo>
                      <a:pt x="1422" y="425"/>
                    </a:lnTo>
                    <a:lnTo>
                      <a:pt x="1426" y="445"/>
                    </a:lnTo>
                    <a:lnTo>
                      <a:pt x="1017" y="2306"/>
                    </a:lnTo>
                    <a:lnTo>
                      <a:pt x="992" y="2292"/>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3" name="Freeform 2098"/>
              <p:cNvSpPr>
                <a:spLocks/>
              </p:cNvSpPr>
              <p:nvPr/>
            </p:nvSpPr>
            <p:spPr bwMode="auto">
              <a:xfrm>
                <a:off x="1668" y="3087"/>
                <a:ext cx="286" cy="660"/>
              </a:xfrm>
              <a:custGeom>
                <a:avLst/>
                <a:gdLst>
                  <a:gd name="T0" fmla="*/ 4 w 573"/>
                  <a:gd name="T1" fmla="*/ 0 h 1980"/>
                  <a:gd name="T2" fmla="*/ 4 w 573"/>
                  <a:gd name="T3" fmla="*/ 0 h 1980"/>
                  <a:gd name="T4" fmla="*/ 1 w 573"/>
                  <a:gd name="T5" fmla="*/ 1 h 1980"/>
                  <a:gd name="T6" fmla="*/ 1 w 573"/>
                  <a:gd name="T7" fmla="*/ 1 h 1980"/>
                  <a:gd name="T8" fmla="*/ 1 w 573"/>
                  <a:gd name="T9" fmla="*/ 1 h 1980"/>
                  <a:gd name="T10" fmla="*/ 0 w 573"/>
                  <a:gd name="T11" fmla="*/ 1 h 1980"/>
                  <a:gd name="T12" fmla="*/ 0 w 573"/>
                  <a:gd name="T13" fmla="*/ 1 h 1980"/>
                  <a:gd name="T14" fmla="*/ 0 w 573"/>
                  <a:gd name="T15" fmla="*/ 1 h 1980"/>
                  <a:gd name="T16" fmla="*/ 0 w 573"/>
                  <a:gd name="T17" fmla="*/ 1 h 1980"/>
                  <a:gd name="T18" fmla="*/ 3 w 573"/>
                  <a:gd name="T19" fmla="*/ 0 h 1980"/>
                  <a:gd name="T20" fmla="*/ 3 w 573"/>
                  <a:gd name="T21" fmla="*/ 0 h 1980"/>
                  <a:gd name="T22" fmla="*/ 3 w 573"/>
                  <a:gd name="T23" fmla="*/ 0 h 1980"/>
                  <a:gd name="T24" fmla="*/ 3 w 573"/>
                  <a:gd name="T25" fmla="*/ 0 h 1980"/>
                  <a:gd name="T26" fmla="*/ 4 w 573"/>
                  <a:gd name="T27" fmla="*/ 0 h 1980"/>
                  <a:gd name="T28" fmla="*/ 4 w 573"/>
                  <a:gd name="T29" fmla="*/ 0 h 1980"/>
                  <a:gd name="T30" fmla="*/ 4 w 573"/>
                  <a:gd name="T31" fmla="*/ 0 h 19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573"/>
                  <a:gd name="T49" fmla="*/ 0 h 1980"/>
                  <a:gd name="T50" fmla="*/ 573 w 573"/>
                  <a:gd name="T51" fmla="*/ 1980 h 19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573" h="1980">
                    <a:moveTo>
                      <a:pt x="573" y="86"/>
                    </a:moveTo>
                    <a:lnTo>
                      <a:pt x="568" y="132"/>
                    </a:lnTo>
                    <a:lnTo>
                      <a:pt x="155" y="1923"/>
                    </a:lnTo>
                    <a:lnTo>
                      <a:pt x="151" y="1955"/>
                    </a:lnTo>
                    <a:lnTo>
                      <a:pt x="140" y="1972"/>
                    </a:lnTo>
                    <a:lnTo>
                      <a:pt x="125" y="1980"/>
                    </a:lnTo>
                    <a:lnTo>
                      <a:pt x="111" y="1975"/>
                    </a:lnTo>
                    <a:lnTo>
                      <a:pt x="86" y="1955"/>
                    </a:lnTo>
                    <a:lnTo>
                      <a:pt x="0" y="1880"/>
                    </a:lnTo>
                    <a:lnTo>
                      <a:pt x="425" y="39"/>
                    </a:lnTo>
                    <a:lnTo>
                      <a:pt x="420" y="27"/>
                    </a:lnTo>
                    <a:lnTo>
                      <a:pt x="396" y="0"/>
                    </a:lnTo>
                    <a:lnTo>
                      <a:pt x="445" y="20"/>
                    </a:lnTo>
                    <a:lnTo>
                      <a:pt x="541" y="61"/>
                    </a:lnTo>
                    <a:lnTo>
                      <a:pt x="559" y="75"/>
                    </a:lnTo>
                    <a:lnTo>
                      <a:pt x="573" y="86"/>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4" name="Freeform 2099"/>
              <p:cNvSpPr>
                <a:spLocks/>
              </p:cNvSpPr>
              <p:nvPr/>
            </p:nvSpPr>
            <p:spPr bwMode="auto">
              <a:xfrm>
                <a:off x="1432" y="2970"/>
                <a:ext cx="523" cy="147"/>
              </a:xfrm>
              <a:custGeom>
                <a:avLst/>
                <a:gdLst>
                  <a:gd name="T0" fmla="*/ 0 w 1045"/>
                  <a:gd name="T1" fmla="*/ 0 h 441"/>
                  <a:gd name="T2" fmla="*/ 1 w 1045"/>
                  <a:gd name="T3" fmla="*/ 0 h 441"/>
                  <a:gd name="T4" fmla="*/ 1 w 1045"/>
                  <a:gd name="T5" fmla="*/ 0 h 441"/>
                  <a:gd name="T6" fmla="*/ 8 w 1045"/>
                  <a:gd name="T7" fmla="*/ 0 h 441"/>
                  <a:gd name="T8" fmla="*/ 9 w 1045"/>
                  <a:gd name="T9" fmla="*/ 0 h 441"/>
                  <a:gd name="T10" fmla="*/ 9 w 1045"/>
                  <a:gd name="T11" fmla="*/ 0 h 441"/>
                  <a:gd name="T12" fmla="*/ 0 w 1045"/>
                  <a:gd name="T13" fmla="*/ 0 h 441"/>
                  <a:gd name="T14" fmla="*/ 0 60000 65536"/>
                  <a:gd name="T15" fmla="*/ 0 60000 65536"/>
                  <a:gd name="T16" fmla="*/ 0 60000 65536"/>
                  <a:gd name="T17" fmla="*/ 0 60000 65536"/>
                  <a:gd name="T18" fmla="*/ 0 60000 65536"/>
                  <a:gd name="T19" fmla="*/ 0 60000 65536"/>
                  <a:gd name="T20" fmla="*/ 0 60000 65536"/>
                  <a:gd name="T21" fmla="*/ 0 w 1045"/>
                  <a:gd name="T22" fmla="*/ 0 h 441"/>
                  <a:gd name="T23" fmla="*/ 1045 w 1045"/>
                  <a:gd name="T24" fmla="*/ 441 h 44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45" h="441">
                    <a:moveTo>
                      <a:pt x="0" y="0"/>
                    </a:moveTo>
                    <a:lnTo>
                      <a:pt x="31" y="1"/>
                    </a:lnTo>
                    <a:lnTo>
                      <a:pt x="62" y="10"/>
                    </a:lnTo>
                    <a:lnTo>
                      <a:pt x="1005" y="409"/>
                    </a:lnTo>
                    <a:lnTo>
                      <a:pt x="1037" y="427"/>
                    </a:lnTo>
                    <a:lnTo>
                      <a:pt x="1045" y="441"/>
                    </a:lnTo>
                    <a:lnTo>
                      <a:pt x="0" y="0"/>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5" name="Freeform 2100"/>
              <p:cNvSpPr>
                <a:spLocks/>
              </p:cNvSpPr>
              <p:nvPr/>
            </p:nvSpPr>
            <p:spPr bwMode="auto">
              <a:xfrm>
                <a:off x="1315" y="3056"/>
                <a:ext cx="478" cy="573"/>
              </a:xfrm>
              <a:custGeom>
                <a:avLst/>
                <a:gdLst>
                  <a:gd name="T0" fmla="*/ 5 w 955"/>
                  <a:gd name="T1" fmla="*/ 1 h 1719"/>
                  <a:gd name="T2" fmla="*/ 0 w 955"/>
                  <a:gd name="T3" fmla="*/ 1 h 1719"/>
                  <a:gd name="T4" fmla="*/ 3 w 955"/>
                  <a:gd name="T5" fmla="*/ 0 h 1719"/>
                  <a:gd name="T6" fmla="*/ 8 w 955"/>
                  <a:gd name="T7" fmla="*/ 0 h 1719"/>
                  <a:gd name="T8" fmla="*/ 5 w 955"/>
                  <a:gd name="T9" fmla="*/ 1 h 1719"/>
                  <a:gd name="T10" fmla="*/ 0 60000 65536"/>
                  <a:gd name="T11" fmla="*/ 0 60000 65536"/>
                  <a:gd name="T12" fmla="*/ 0 60000 65536"/>
                  <a:gd name="T13" fmla="*/ 0 60000 65536"/>
                  <a:gd name="T14" fmla="*/ 0 60000 65536"/>
                  <a:gd name="T15" fmla="*/ 0 w 955"/>
                  <a:gd name="T16" fmla="*/ 0 h 1719"/>
                  <a:gd name="T17" fmla="*/ 955 w 955"/>
                  <a:gd name="T18" fmla="*/ 1719 h 1719"/>
                </a:gdLst>
                <a:ahLst/>
                <a:cxnLst>
                  <a:cxn ang="T10">
                    <a:pos x="T0" y="T1"/>
                  </a:cxn>
                  <a:cxn ang="T11">
                    <a:pos x="T2" y="T3"/>
                  </a:cxn>
                  <a:cxn ang="T12">
                    <a:pos x="T4" y="T5"/>
                  </a:cxn>
                  <a:cxn ang="T13">
                    <a:pos x="T6" y="T7"/>
                  </a:cxn>
                  <a:cxn ang="T14">
                    <a:pos x="T8" y="T9"/>
                  </a:cxn>
                </a:cxnLst>
                <a:rect l="T15" t="T16" r="T17" b="T18"/>
                <a:pathLst>
                  <a:path w="955" h="1719">
                    <a:moveTo>
                      <a:pt x="619" y="1719"/>
                    </a:moveTo>
                    <a:lnTo>
                      <a:pt x="0" y="1212"/>
                    </a:lnTo>
                    <a:lnTo>
                      <a:pt x="290" y="0"/>
                    </a:lnTo>
                    <a:lnTo>
                      <a:pt x="955" y="313"/>
                    </a:lnTo>
                    <a:lnTo>
                      <a:pt x="619" y="1719"/>
                    </a:lnTo>
                    <a:close/>
                  </a:path>
                </a:pathLst>
              </a:custGeom>
              <a:solidFill>
                <a:srgbClr val="000000"/>
              </a:solidFill>
              <a:ln w="7938">
                <a:solidFill>
                  <a:srgbClr val="80808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6" name="Freeform 2101"/>
              <p:cNvSpPr>
                <a:spLocks/>
              </p:cNvSpPr>
              <p:nvPr/>
            </p:nvSpPr>
            <p:spPr bwMode="auto">
              <a:xfrm>
                <a:off x="1337" y="3076"/>
                <a:ext cx="431" cy="529"/>
              </a:xfrm>
              <a:custGeom>
                <a:avLst/>
                <a:gdLst>
                  <a:gd name="T0" fmla="*/ 5 w 862"/>
                  <a:gd name="T1" fmla="*/ 1 h 1587"/>
                  <a:gd name="T2" fmla="*/ 0 w 862"/>
                  <a:gd name="T3" fmla="*/ 1 h 1587"/>
                  <a:gd name="T4" fmla="*/ 3 w 862"/>
                  <a:gd name="T5" fmla="*/ 0 h 1587"/>
                  <a:gd name="T6" fmla="*/ 7 w 862"/>
                  <a:gd name="T7" fmla="*/ 0 h 1587"/>
                  <a:gd name="T8" fmla="*/ 5 w 862"/>
                  <a:gd name="T9" fmla="*/ 1 h 1587"/>
                  <a:gd name="T10" fmla="*/ 0 60000 65536"/>
                  <a:gd name="T11" fmla="*/ 0 60000 65536"/>
                  <a:gd name="T12" fmla="*/ 0 60000 65536"/>
                  <a:gd name="T13" fmla="*/ 0 60000 65536"/>
                  <a:gd name="T14" fmla="*/ 0 60000 65536"/>
                  <a:gd name="T15" fmla="*/ 0 w 862"/>
                  <a:gd name="T16" fmla="*/ 0 h 1587"/>
                  <a:gd name="T17" fmla="*/ 862 w 862"/>
                  <a:gd name="T18" fmla="*/ 1587 h 1587"/>
                </a:gdLst>
                <a:ahLst/>
                <a:cxnLst>
                  <a:cxn ang="T10">
                    <a:pos x="T0" y="T1"/>
                  </a:cxn>
                  <a:cxn ang="T11">
                    <a:pos x="T2" y="T3"/>
                  </a:cxn>
                  <a:cxn ang="T12">
                    <a:pos x="T4" y="T5"/>
                  </a:cxn>
                  <a:cxn ang="T13">
                    <a:pos x="T6" y="T7"/>
                  </a:cxn>
                  <a:cxn ang="T14">
                    <a:pos x="T8" y="T9"/>
                  </a:cxn>
                </a:cxnLst>
                <a:rect l="T15" t="T16" r="T17" b="T18"/>
                <a:pathLst>
                  <a:path w="862" h="1587">
                    <a:moveTo>
                      <a:pt x="546" y="1587"/>
                    </a:moveTo>
                    <a:lnTo>
                      <a:pt x="0" y="1134"/>
                    </a:lnTo>
                    <a:lnTo>
                      <a:pt x="272" y="0"/>
                    </a:lnTo>
                    <a:lnTo>
                      <a:pt x="862" y="268"/>
                    </a:lnTo>
                    <a:lnTo>
                      <a:pt x="546" y="1587"/>
                    </a:lnTo>
                    <a:close/>
                  </a:path>
                </a:pathLst>
              </a:custGeom>
              <a:solidFill>
                <a:srgbClr val="C7C7C7"/>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7" name="Freeform 2102"/>
              <p:cNvSpPr>
                <a:spLocks/>
              </p:cNvSpPr>
              <p:nvPr/>
            </p:nvSpPr>
            <p:spPr bwMode="auto">
              <a:xfrm>
                <a:off x="1233" y="2968"/>
                <a:ext cx="203" cy="494"/>
              </a:xfrm>
              <a:custGeom>
                <a:avLst/>
                <a:gdLst>
                  <a:gd name="T0" fmla="*/ 3 w 408"/>
                  <a:gd name="T1" fmla="*/ 0 h 1480"/>
                  <a:gd name="T2" fmla="*/ 2 w 408"/>
                  <a:gd name="T3" fmla="*/ 0 h 1480"/>
                  <a:gd name="T4" fmla="*/ 2 w 408"/>
                  <a:gd name="T5" fmla="*/ 0 h 1480"/>
                  <a:gd name="T6" fmla="*/ 2 w 408"/>
                  <a:gd name="T7" fmla="*/ 0 h 1480"/>
                  <a:gd name="T8" fmla="*/ 2 w 408"/>
                  <a:gd name="T9" fmla="*/ 0 h 1480"/>
                  <a:gd name="T10" fmla="*/ 2 w 408"/>
                  <a:gd name="T11" fmla="*/ 0 h 1480"/>
                  <a:gd name="T12" fmla="*/ 0 w 408"/>
                  <a:gd name="T13" fmla="*/ 1 h 1480"/>
                  <a:gd name="T14" fmla="*/ 0 w 408"/>
                  <a:gd name="T15" fmla="*/ 1 h 1480"/>
                  <a:gd name="T16" fmla="*/ 2 w 408"/>
                  <a:gd name="T17" fmla="*/ 0 h 1480"/>
                  <a:gd name="T18" fmla="*/ 2 w 408"/>
                  <a:gd name="T19" fmla="*/ 0 h 1480"/>
                  <a:gd name="T20" fmla="*/ 2 w 408"/>
                  <a:gd name="T21" fmla="*/ 0 h 1480"/>
                  <a:gd name="T22" fmla="*/ 2 w 408"/>
                  <a:gd name="T23" fmla="*/ 0 h 1480"/>
                  <a:gd name="T24" fmla="*/ 2 w 408"/>
                  <a:gd name="T25" fmla="*/ 0 h 1480"/>
                  <a:gd name="T26" fmla="*/ 3 w 408"/>
                  <a:gd name="T27" fmla="*/ 0 h 1480"/>
                  <a:gd name="T28" fmla="*/ 3 w 408"/>
                  <a:gd name="T29" fmla="*/ 0 h 1480"/>
                  <a:gd name="T30" fmla="*/ 3 w 408"/>
                  <a:gd name="T31" fmla="*/ 0 h 14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408"/>
                  <a:gd name="T49" fmla="*/ 0 h 1480"/>
                  <a:gd name="T50" fmla="*/ 408 w 408"/>
                  <a:gd name="T51" fmla="*/ 1480 h 14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408" h="1480">
                    <a:moveTo>
                      <a:pt x="393" y="0"/>
                    </a:moveTo>
                    <a:lnTo>
                      <a:pt x="370" y="11"/>
                    </a:lnTo>
                    <a:lnTo>
                      <a:pt x="356" y="19"/>
                    </a:lnTo>
                    <a:lnTo>
                      <a:pt x="338" y="37"/>
                    </a:lnTo>
                    <a:lnTo>
                      <a:pt x="325" y="59"/>
                    </a:lnTo>
                    <a:lnTo>
                      <a:pt x="320" y="77"/>
                    </a:lnTo>
                    <a:lnTo>
                      <a:pt x="0" y="1459"/>
                    </a:lnTo>
                    <a:lnTo>
                      <a:pt x="12" y="1480"/>
                    </a:lnTo>
                    <a:lnTo>
                      <a:pt x="337" y="77"/>
                    </a:lnTo>
                    <a:lnTo>
                      <a:pt x="346" y="57"/>
                    </a:lnTo>
                    <a:lnTo>
                      <a:pt x="355" y="43"/>
                    </a:lnTo>
                    <a:lnTo>
                      <a:pt x="368" y="30"/>
                    </a:lnTo>
                    <a:lnTo>
                      <a:pt x="384" y="19"/>
                    </a:lnTo>
                    <a:lnTo>
                      <a:pt x="400" y="12"/>
                    </a:lnTo>
                    <a:lnTo>
                      <a:pt x="408" y="5"/>
                    </a:lnTo>
                    <a:lnTo>
                      <a:pt x="393" y="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8" name="Freeform 2103"/>
              <p:cNvSpPr>
                <a:spLocks/>
              </p:cNvSpPr>
              <p:nvPr/>
            </p:nvSpPr>
            <p:spPr bwMode="auto">
              <a:xfrm>
                <a:off x="1204" y="3479"/>
                <a:ext cx="532" cy="321"/>
              </a:xfrm>
              <a:custGeom>
                <a:avLst/>
                <a:gdLst>
                  <a:gd name="T0" fmla="*/ 8 w 1065"/>
                  <a:gd name="T1" fmla="*/ 0 h 963"/>
                  <a:gd name="T2" fmla="*/ 8 w 1065"/>
                  <a:gd name="T3" fmla="*/ 0 h 963"/>
                  <a:gd name="T4" fmla="*/ 7 w 1065"/>
                  <a:gd name="T5" fmla="*/ 0 h 963"/>
                  <a:gd name="T6" fmla="*/ 1 w 1065"/>
                  <a:gd name="T7" fmla="*/ 0 h 963"/>
                  <a:gd name="T8" fmla="*/ 0 w 1065"/>
                  <a:gd name="T9" fmla="*/ 0 h 963"/>
                  <a:gd name="T10" fmla="*/ 0 w 1065"/>
                  <a:gd name="T11" fmla="*/ 0 h 963"/>
                  <a:gd name="T12" fmla="*/ 0 w 1065"/>
                  <a:gd name="T13" fmla="*/ 0 h 963"/>
                  <a:gd name="T14" fmla="*/ 0 w 1065"/>
                  <a:gd name="T15" fmla="*/ 0 h 963"/>
                  <a:gd name="T16" fmla="*/ 6 w 1065"/>
                  <a:gd name="T17" fmla="*/ 0 h 963"/>
                  <a:gd name="T18" fmla="*/ 8 w 1065"/>
                  <a:gd name="T19" fmla="*/ 0 h 96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065"/>
                  <a:gd name="T31" fmla="*/ 0 h 963"/>
                  <a:gd name="T32" fmla="*/ 1065 w 1065"/>
                  <a:gd name="T33" fmla="*/ 963 h 963"/>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065" h="963">
                    <a:moveTo>
                      <a:pt x="1065" y="963"/>
                    </a:moveTo>
                    <a:lnTo>
                      <a:pt x="1047" y="833"/>
                    </a:lnTo>
                    <a:lnTo>
                      <a:pt x="1015" y="776"/>
                    </a:lnTo>
                    <a:lnTo>
                      <a:pt x="137" y="3"/>
                    </a:lnTo>
                    <a:lnTo>
                      <a:pt x="96" y="0"/>
                    </a:lnTo>
                    <a:lnTo>
                      <a:pt x="59" y="3"/>
                    </a:lnTo>
                    <a:lnTo>
                      <a:pt x="32" y="42"/>
                    </a:lnTo>
                    <a:lnTo>
                      <a:pt x="0" y="145"/>
                    </a:lnTo>
                    <a:lnTo>
                      <a:pt x="865" y="954"/>
                    </a:lnTo>
                    <a:lnTo>
                      <a:pt x="1065" y="963"/>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9" name="Freeform 2104"/>
              <p:cNvSpPr>
                <a:spLocks/>
              </p:cNvSpPr>
              <p:nvPr/>
            </p:nvSpPr>
            <p:spPr bwMode="auto">
              <a:xfrm>
                <a:off x="642" y="3519"/>
                <a:ext cx="985" cy="288"/>
              </a:xfrm>
              <a:custGeom>
                <a:avLst/>
                <a:gdLst>
                  <a:gd name="T0" fmla="*/ 0 w 1969"/>
                  <a:gd name="T1" fmla="*/ 0 h 862"/>
                  <a:gd name="T2" fmla="*/ 9 w 1969"/>
                  <a:gd name="T3" fmla="*/ 0 h 862"/>
                  <a:gd name="T4" fmla="*/ 16 w 1969"/>
                  <a:gd name="T5" fmla="*/ 0 h 862"/>
                  <a:gd name="T6" fmla="*/ 4 w 1969"/>
                  <a:gd name="T7" fmla="*/ 0 h 862"/>
                  <a:gd name="T8" fmla="*/ 0 w 1969"/>
                  <a:gd name="T9" fmla="*/ 0 h 862"/>
                  <a:gd name="T10" fmla="*/ 0 60000 65536"/>
                  <a:gd name="T11" fmla="*/ 0 60000 65536"/>
                  <a:gd name="T12" fmla="*/ 0 60000 65536"/>
                  <a:gd name="T13" fmla="*/ 0 60000 65536"/>
                  <a:gd name="T14" fmla="*/ 0 60000 65536"/>
                  <a:gd name="T15" fmla="*/ 0 w 1969"/>
                  <a:gd name="T16" fmla="*/ 0 h 862"/>
                  <a:gd name="T17" fmla="*/ 1969 w 1969"/>
                  <a:gd name="T18" fmla="*/ 862 h 862"/>
                </a:gdLst>
                <a:ahLst/>
                <a:cxnLst>
                  <a:cxn ang="T10">
                    <a:pos x="T0" y="T1"/>
                  </a:cxn>
                  <a:cxn ang="T11">
                    <a:pos x="T2" y="T3"/>
                  </a:cxn>
                  <a:cxn ang="T12">
                    <a:pos x="T4" y="T5"/>
                  </a:cxn>
                  <a:cxn ang="T13">
                    <a:pos x="T6" y="T7"/>
                  </a:cxn>
                  <a:cxn ang="T14">
                    <a:pos x="T8" y="T9"/>
                  </a:cxn>
                </a:cxnLst>
                <a:rect l="T15" t="T16" r="T17" b="T18"/>
                <a:pathLst>
                  <a:path w="1969" h="862">
                    <a:moveTo>
                      <a:pt x="0" y="0"/>
                    </a:moveTo>
                    <a:lnTo>
                      <a:pt x="1121" y="24"/>
                    </a:lnTo>
                    <a:lnTo>
                      <a:pt x="1969" y="814"/>
                    </a:lnTo>
                    <a:lnTo>
                      <a:pt x="478" y="862"/>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10" name="Freeform 2105"/>
              <p:cNvSpPr>
                <a:spLocks/>
              </p:cNvSpPr>
              <p:nvPr/>
            </p:nvSpPr>
            <p:spPr bwMode="auto">
              <a:xfrm>
                <a:off x="852" y="3789"/>
                <a:ext cx="889" cy="99"/>
              </a:xfrm>
              <a:custGeom>
                <a:avLst/>
                <a:gdLst>
                  <a:gd name="T0" fmla="*/ 1 w 1777"/>
                  <a:gd name="T1" fmla="*/ 0 h 297"/>
                  <a:gd name="T2" fmla="*/ 0 w 1777"/>
                  <a:gd name="T3" fmla="*/ 0 h 297"/>
                  <a:gd name="T4" fmla="*/ 14 w 1777"/>
                  <a:gd name="T5" fmla="*/ 0 h 297"/>
                  <a:gd name="T6" fmla="*/ 14 w 1777"/>
                  <a:gd name="T7" fmla="*/ 0 h 297"/>
                  <a:gd name="T8" fmla="*/ 14 w 1777"/>
                  <a:gd name="T9" fmla="*/ 0 h 297"/>
                  <a:gd name="T10" fmla="*/ 14 w 1777"/>
                  <a:gd name="T11" fmla="*/ 0 h 297"/>
                  <a:gd name="T12" fmla="*/ 1 w 1777"/>
                  <a:gd name="T13" fmla="*/ 0 h 297"/>
                  <a:gd name="T14" fmla="*/ 0 60000 65536"/>
                  <a:gd name="T15" fmla="*/ 0 60000 65536"/>
                  <a:gd name="T16" fmla="*/ 0 60000 65536"/>
                  <a:gd name="T17" fmla="*/ 0 60000 65536"/>
                  <a:gd name="T18" fmla="*/ 0 60000 65536"/>
                  <a:gd name="T19" fmla="*/ 0 60000 65536"/>
                  <a:gd name="T20" fmla="*/ 0 60000 65536"/>
                  <a:gd name="T21" fmla="*/ 0 w 1777"/>
                  <a:gd name="T22" fmla="*/ 0 h 297"/>
                  <a:gd name="T23" fmla="*/ 1777 w 1777"/>
                  <a:gd name="T24" fmla="*/ 297 h 29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77" h="297">
                    <a:moveTo>
                      <a:pt x="54" y="52"/>
                    </a:moveTo>
                    <a:lnTo>
                      <a:pt x="0" y="297"/>
                    </a:lnTo>
                    <a:lnTo>
                      <a:pt x="1759" y="257"/>
                    </a:lnTo>
                    <a:lnTo>
                      <a:pt x="1777" y="173"/>
                    </a:lnTo>
                    <a:lnTo>
                      <a:pt x="1773" y="74"/>
                    </a:lnTo>
                    <a:lnTo>
                      <a:pt x="1768" y="0"/>
                    </a:lnTo>
                    <a:lnTo>
                      <a:pt x="54" y="52"/>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11" name="Freeform 2106"/>
              <p:cNvSpPr>
                <a:spLocks/>
              </p:cNvSpPr>
              <p:nvPr/>
            </p:nvSpPr>
            <p:spPr bwMode="auto">
              <a:xfrm>
                <a:off x="624" y="3519"/>
                <a:ext cx="256" cy="369"/>
              </a:xfrm>
              <a:custGeom>
                <a:avLst/>
                <a:gdLst>
                  <a:gd name="T0" fmla="*/ 0 w 513"/>
                  <a:gd name="T1" fmla="*/ 0 h 1106"/>
                  <a:gd name="T2" fmla="*/ 0 w 513"/>
                  <a:gd name="T3" fmla="*/ 0 h 1106"/>
                  <a:gd name="T4" fmla="*/ 3 w 513"/>
                  <a:gd name="T5" fmla="*/ 1 h 1106"/>
                  <a:gd name="T6" fmla="*/ 4 w 513"/>
                  <a:gd name="T7" fmla="*/ 0 h 1106"/>
                  <a:gd name="T8" fmla="*/ 0 w 513"/>
                  <a:gd name="T9" fmla="*/ 0 h 1106"/>
                  <a:gd name="T10" fmla="*/ 0 60000 65536"/>
                  <a:gd name="T11" fmla="*/ 0 60000 65536"/>
                  <a:gd name="T12" fmla="*/ 0 60000 65536"/>
                  <a:gd name="T13" fmla="*/ 0 60000 65536"/>
                  <a:gd name="T14" fmla="*/ 0 60000 65536"/>
                  <a:gd name="T15" fmla="*/ 0 w 513"/>
                  <a:gd name="T16" fmla="*/ 0 h 1106"/>
                  <a:gd name="T17" fmla="*/ 513 w 513"/>
                  <a:gd name="T18" fmla="*/ 1106 h 1106"/>
                </a:gdLst>
                <a:ahLst/>
                <a:cxnLst>
                  <a:cxn ang="T10">
                    <a:pos x="T0" y="T1"/>
                  </a:cxn>
                  <a:cxn ang="T11">
                    <a:pos x="T2" y="T3"/>
                  </a:cxn>
                  <a:cxn ang="T12">
                    <a:pos x="T4" y="T5"/>
                  </a:cxn>
                  <a:cxn ang="T13">
                    <a:pos x="T6" y="T7"/>
                  </a:cxn>
                  <a:cxn ang="T14">
                    <a:pos x="T8" y="T9"/>
                  </a:cxn>
                </a:cxnLst>
                <a:rect l="T15" t="T16" r="T17" b="T18"/>
                <a:pathLst>
                  <a:path w="513" h="1106">
                    <a:moveTo>
                      <a:pt x="37" y="0"/>
                    </a:moveTo>
                    <a:lnTo>
                      <a:pt x="0" y="200"/>
                    </a:lnTo>
                    <a:lnTo>
                      <a:pt x="457" y="1106"/>
                    </a:lnTo>
                    <a:lnTo>
                      <a:pt x="513" y="862"/>
                    </a:lnTo>
                    <a:lnTo>
                      <a:pt x="37"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12" name="Freeform 2107"/>
              <p:cNvSpPr>
                <a:spLocks/>
              </p:cNvSpPr>
              <p:nvPr/>
            </p:nvSpPr>
            <p:spPr bwMode="auto">
              <a:xfrm>
                <a:off x="1206" y="3791"/>
                <a:ext cx="132" cy="8"/>
              </a:xfrm>
              <a:custGeom>
                <a:avLst/>
                <a:gdLst>
                  <a:gd name="T0" fmla="*/ 1 w 262"/>
                  <a:gd name="T1" fmla="*/ 0 h 25"/>
                  <a:gd name="T2" fmla="*/ 0 w 262"/>
                  <a:gd name="T3" fmla="*/ 0 h 25"/>
                  <a:gd name="T4" fmla="*/ 2 w 262"/>
                  <a:gd name="T5" fmla="*/ 0 h 25"/>
                  <a:gd name="T6" fmla="*/ 3 w 262"/>
                  <a:gd name="T7" fmla="*/ 0 h 25"/>
                  <a:gd name="T8" fmla="*/ 1 w 262"/>
                  <a:gd name="T9" fmla="*/ 0 h 25"/>
                  <a:gd name="T10" fmla="*/ 0 60000 65536"/>
                  <a:gd name="T11" fmla="*/ 0 60000 65536"/>
                  <a:gd name="T12" fmla="*/ 0 60000 65536"/>
                  <a:gd name="T13" fmla="*/ 0 60000 65536"/>
                  <a:gd name="T14" fmla="*/ 0 60000 65536"/>
                  <a:gd name="T15" fmla="*/ 0 w 262"/>
                  <a:gd name="T16" fmla="*/ 0 h 25"/>
                  <a:gd name="T17" fmla="*/ 262 w 262"/>
                  <a:gd name="T18" fmla="*/ 25 h 25"/>
                </a:gdLst>
                <a:ahLst/>
                <a:cxnLst>
                  <a:cxn ang="T10">
                    <a:pos x="T0" y="T1"/>
                  </a:cxn>
                  <a:cxn ang="T11">
                    <a:pos x="T2" y="T3"/>
                  </a:cxn>
                  <a:cxn ang="T12">
                    <a:pos x="T4" y="T5"/>
                  </a:cxn>
                  <a:cxn ang="T13">
                    <a:pos x="T6" y="T7"/>
                  </a:cxn>
                  <a:cxn ang="T14">
                    <a:pos x="T8" y="T9"/>
                  </a:cxn>
                </a:cxnLst>
                <a:rect l="T15" t="T16" r="T17" b="T18"/>
                <a:pathLst>
                  <a:path w="262" h="25">
                    <a:moveTo>
                      <a:pt x="2" y="25"/>
                    </a:moveTo>
                    <a:lnTo>
                      <a:pt x="0" y="0"/>
                    </a:lnTo>
                    <a:lnTo>
                      <a:pt x="249" y="0"/>
                    </a:lnTo>
                    <a:lnTo>
                      <a:pt x="262" y="19"/>
                    </a:lnTo>
                    <a:lnTo>
                      <a:pt x="2" y="2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13" name="Freeform 2108"/>
              <p:cNvSpPr>
                <a:spLocks/>
              </p:cNvSpPr>
              <p:nvPr/>
            </p:nvSpPr>
            <p:spPr bwMode="auto">
              <a:xfrm>
                <a:off x="927" y="3521"/>
                <a:ext cx="281" cy="279"/>
              </a:xfrm>
              <a:custGeom>
                <a:avLst/>
                <a:gdLst>
                  <a:gd name="T0" fmla="*/ 5 w 561"/>
                  <a:gd name="T1" fmla="*/ 0 h 836"/>
                  <a:gd name="T2" fmla="*/ 0 w 561"/>
                  <a:gd name="T3" fmla="*/ 0 h 836"/>
                  <a:gd name="T4" fmla="*/ 5 w 561"/>
                  <a:gd name="T5" fmla="*/ 0 h 836"/>
                  <a:gd name="T6" fmla="*/ 5 w 561"/>
                  <a:gd name="T7" fmla="*/ 0 h 836"/>
                  <a:gd name="T8" fmla="*/ 0 60000 65536"/>
                  <a:gd name="T9" fmla="*/ 0 60000 65536"/>
                  <a:gd name="T10" fmla="*/ 0 60000 65536"/>
                  <a:gd name="T11" fmla="*/ 0 60000 65536"/>
                  <a:gd name="T12" fmla="*/ 0 w 561"/>
                  <a:gd name="T13" fmla="*/ 0 h 836"/>
                  <a:gd name="T14" fmla="*/ 561 w 561"/>
                  <a:gd name="T15" fmla="*/ 836 h 836"/>
                </a:gdLst>
                <a:ahLst/>
                <a:cxnLst>
                  <a:cxn ang="T8">
                    <a:pos x="T0" y="T1"/>
                  </a:cxn>
                  <a:cxn ang="T9">
                    <a:pos x="T2" y="T3"/>
                  </a:cxn>
                  <a:cxn ang="T10">
                    <a:pos x="T4" y="T5"/>
                  </a:cxn>
                  <a:cxn ang="T11">
                    <a:pos x="T6" y="T7"/>
                  </a:cxn>
                </a:cxnLst>
                <a:rect l="T12" t="T13" r="T14" b="T15"/>
                <a:pathLst>
                  <a:path w="561" h="836">
                    <a:moveTo>
                      <a:pt x="557" y="801"/>
                    </a:moveTo>
                    <a:lnTo>
                      <a:pt x="0" y="0"/>
                    </a:lnTo>
                    <a:lnTo>
                      <a:pt x="561" y="836"/>
                    </a:lnTo>
                    <a:lnTo>
                      <a:pt x="557" y="801"/>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814" name="Group 2109"/>
              <p:cNvGrpSpPr>
                <a:grpSpLocks/>
              </p:cNvGrpSpPr>
              <p:nvPr/>
            </p:nvGrpSpPr>
            <p:grpSpPr bwMode="auto">
              <a:xfrm>
                <a:off x="700" y="3526"/>
                <a:ext cx="515" cy="270"/>
                <a:chOff x="700" y="3526"/>
                <a:chExt cx="515" cy="270"/>
              </a:xfrm>
            </p:grpSpPr>
            <p:grpSp>
              <p:nvGrpSpPr>
                <p:cNvPr id="2840" name="Group 2110"/>
                <p:cNvGrpSpPr>
                  <a:grpSpLocks/>
                </p:cNvGrpSpPr>
                <p:nvPr/>
              </p:nvGrpSpPr>
              <p:grpSpPr bwMode="auto">
                <a:xfrm>
                  <a:off x="737" y="3534"/>
                  <a:ext cx="49" cy="23"/>
                  <a:chOff x="737" y="3534"/>
                  <a:chExt cx="49" cy="23"/>
                </a:xfrm>
              </p:grpSpPr>
              <p:sp>
                <p:nvSpPr>
                  <p:cNvPr id="3251" name="Freeform 2111"/>
                  <p:cNvSpPr>
                    <a:spLocks/>
                  </p:cNvSpPr>
                  <p:nvPr/>
                </p:nvSpPr>
                <p:spPr bwMode="auto">
                  <a:xfrm>
                    <a:off x="737" y="3534"/>
                    <a:ext cx="11" cy="23"/>
                  </a:xfrm>
                  <a:custGeom>
                    <a:avLst/>
                    <a:gdLst>
                      <a:gd name="T0" fmla="*/ 1 w 22"/>
                      <a:gd name="T1" fmla="*/ 0 h 67"/>
                      <a:gd name="T2" fmla="*/ 0 w 22"/>
                      <a:gd name="T3" fmla="*/ 0 h 67"/>
                      <a:gd name="T4" fmla="*/ 1 w 22"/>
                      <a:gd name="T5" fmla="*/ 0 h 67"/>
                      <a:gd name="T6" fmla="*/ 1 w 22"/>
                      <a:gd name="T7" fmla="*/ 0 h 67"/>
                      <a:gd name="T8" fmla="*/ 1 w 22"/>
                      <a:gd name="T9" fmla="*/ 0 h 67"/>
                      <a:gd name="T10" fmla="*/ 0 60000 65536"/>
                      <a:gd name="T11" fmla="*/ 0 60000 65536"/>
                      <a:gd name="T12" fmla="*/ 0 60000 65536"/>
                      <a:gd name="T13" fmla="*/ 0 60000 65536"/>
                      <a:gd name="T14" fmla="*/ 0 60000 65536"/>
                      <a:gd name="T15" fmla="*/ 0 w 22"/>
                      <a:gd name="T16" fmla="*/ 0 h 67"/>
                      <a:gd name="T17" fmla="*/ 22 w 22"/>
                      <a:gd name="T18" fmla="*/ 67 h 67"/>
                    </a:gdLst>
                    <a:ahLst/>
                    <a:cxnLst>
                      <a:cxn ang="T10">
                        <a:pos x="T0" y="T1"/>
                      </a:cxn>
                      <a:cxn ang="T11">
                        <a:pos x="T2" y="T3"/>
                      </a:cxn>
                      <a:cxn ang="T12">
                        <a:pos x="T4" y="T5"/>
                      </a:cxn>
                      <a:cxn ang="T13">
                        <a:pos x="T6" y="T7"/>
                      </a:cxn>
                      <a:cxn ang="T14">
                        <a:pos x="T8" y="T9"/>
                      </a:cxn>
                    </a:cxnLst>
                    <a:rect l="T15" t="T16" r="T17" b="T18"/>
                    <a:pathLst>
                      <a:path w="22" h="67">
                        <a:moveTo>
                          <a:pt x="13" y="67"/>
                        </a:moveTo>
                        <a:lnTo>
                          <a:pt x="0" y="26"/>
                        </a:lnTo>
                        <a:lnTo>
                          <a:pt x="9" y="0"/>
                        </a:lnTo>
                        <a:lnTo>
                          <a:pt x="22" y="30"/>
                        </a:lnTo>
                        <a:lnTo>
                          <a:pt x="13"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52" name="Freeform 2112"/>
                  <p:cNvSpPr>
                    <a:spLocks/>
                  </p:cNvSpPr>
                  <p:nvPr/>
                </p:nvSpPr>
                <p:spPr bwMode="auto">
                  <a:xfrm>
                    <a:off x="742" y="3535"/>
                    <a:ext cx="36" cy="9"/>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2" y="2"/>
                        </a:lnTo>
                        <a:lnTo>
                          <a:pt x="55" y="11"/>
                        </a:lnTo>
                        <a:lnTo>
                          <a:pt x="73" y="29"/>
                        </a:lnTo>
                        <a:lnTo>
                          <a:pt x="17" y="29"/>
                        </a:lnTo>
                        <a:lnTo>
                          <a:pt x="8"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53" name="Freeform 2113"/>
                  <p:cNvSpPr>
                    <a:spLocks/>
                  </p:cNvSpPr>
                  <p:nvPr/>
                </p:nvSpPr>
                <p:spPr bwMode="auto">
                  <a:xfrm>
                    <a:off x="744" y="3545"/>
                    <a:ext cx="42"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7"/>
                        </a:lnTo>
                        <a:lnTo>
                          <a:pt x="10" y="0"/>
                        </a:lnTo>
                        <a:lnTo>
                          <a:pt x="67" y="0"/>
                        </a:lnTo>
                        <a:lnTo>
                          <a:pt x="82"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41" name="Group 2114"/>
                <p:cNvGrpSpPr>
                  <a:grpSpLocks/>
                </p:cNvGrpSpPr>
                <p:nvPr/>
              </p:nvGrpSpPr>
              <p:grpSpPr bwMode="auto">
                <a:xfrm>
                  <a:off x="748" y="3547"/>
                  <a:ext cx="50" cy="23"/>
                  <a:chOff x="748" y="3547"/>
                  <a:chExt cx="50" cy="23"/>
                </a:xfrm>
              </p:grpSpPr>
              <p:sp>
                <p:nvSpPr>
                  <p:cNvPr id="3248" name="Freeform 2115"/>
                  <p:cNvSpPr>
                    <a:spLocks/>
                  </p:cNvSpPr>
                  <p:nvPr/>
                </p:nvSpPr>
                <p:spPr bwMode="auto">
                  <a:xfrm>
                    <a:off x="748"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49" name="Freeform 2116"/>
                  <p:cNvSpPr>
                    <a:spLocks/>
                  </p:cNvSpPr>
                  <p:nvPr/>
                </p:nvSpPr>
                <p:spPr bwMode="auto">
                  <a:xfrm>
                    <a:off x="753" y="3548"/>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50" name="Freeform 2117"/>
                  <p:cNvSpPr>
                    <a:spLocks/>
                  </p:cNvSpPr>
                  <p:nvPr/>
                </p:nvSpPr>
                <p:spPr bwMode="auto">
                  <a:xfrm>
                    <a:off x="757" y="3558"/>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842" name="Freeform 2118"/>
                <p:cNvSpPr>
                  <a:spLocks/>
                </p:cNvSpPr>
                <p:nvPr/>
              </p:nvSpPr>
              <p:spPr bwMode="auto">
                <a:xfrm>
                  <a:off x="952" y="3538"/>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43" name="Freeform 2119"/>
                <p:cNvSpPr>
                  <a:spLocks/>
                </p:cNvSpPr>
                <p:nvPr/>
              </p:nvSpPr>
              <p:spPr bwMode="auto">
                <a:xfrm>
                  <a:off x="861" y="3535"/>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44" name="Freeform 2120"/>
                <p:cNvSpPr>
                  <a:spLocks/>
                </p:cNvSpPr>
                <p:nvPr/>
              </p:nvSpPr>
              <p:spPr bwMode="auto">
                <a:xfrm>
                  <a:off x="867" y="3535"/>
                  <a:ext cx="34" cy="10"/>
                </a:xfrm>
                <a:custGeom>
                  <a:avLst/>
                  <a:gdLst>
                    <a:gd name="T0" fmla="*/ 0 w 70"/>
                    <a:gd name="T1" fmla="*/ 0 h 30"/>
                    <a:gd name="T2" fmla="*/ 0 w 70"/>
                    <a:gd name="T3" fmla="*/ 0 h 30"/>
                    <a:gd name="T4" fmla="*/ 0 w 70"/>
                    <a:gd name="T5" fmla="*/ 0 h 30"/>
                    <a:gd name="T6" fmla="*/ 0 w 70"/>
                    <a:gd name="T7" fmla="*/ 0 h 30"/>
                    <a:gd name="T8" fmla="*/ 0 w 70"/>
                    <a:gd name="T9" fmla="*/ 0 h 30"/>
                    <a:gd name="T10" fmla="*/ 0 w 70"/>
                    <a:gd name="T11" fmla="*/ 0 h 30"/>
                    <a:gd name="T12" fmla="*/ 0 w 70"/>
                    <a:gd name="T13" fmla="*/ 0 h 30"/>
                    <a:gd name="T14" fmla="*/ 0 w 70"/>
                    <a:gd name="T15" fmla="*/ 0 h 30"/>
                    <a:gd name="T16" fmla="*/ 0 w 70"/>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0"/>
                    <a:gd name="T28" fmla="*/ 0 h 30"/>
                    <a:gd name="T29" fmla="*/ 70 w 70"/>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0" h="30">
                      <a:moveTo>
                        <a:pt x="0" y="0"/>
                      </a:moveTo>
                      <a:lnTo>
                        <a:pt x="49" y="0"/>
                      </a:lnTo>
                      <a:lnTo>
                        <a:pt x="50" y="3"/>
                      </a:lnTo>
                      <a:lnTo>
                        <a:pt x="54" y="13"/>
                      </a:lnTo>
                      <a:lnTo>
                        <a:pt x="70" y="30"/>
                      </a:lnTo>
                      <a:lnTo>
                        <a:pt x="16" y="30"/>
                      </a:lnTo>
                      <a:lnTo>
                        <a:pt x="7" y="21"/>
                      </a:lnTo>
                      <a:lnTo>
                        <a:pt x="0" y="7"/>
                      </a:lnTo>
                      <a:lnTo>
                        <a:pt x="0"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45" name="Freeform 2121"/>
                <p:cNvSpPr>
                  <a:spLocks/>
                </p:cNvSpPr>
                <p:nvPr/>
              </p:nvSpPr>
              <p:spPr bwMode="auto">
                <a:xfrm>
                  <a:off x="868" y="354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846" name="Group 2122"/>
                <p:cNvGrpSpPr>
                  <a:grpSpLocks/>
                </p:cNvGrpSpPr>
                <p:nvPr/>
              </p:nvGrpSpPr>
              <p:grpSpPr bwMode="auto">
                <a:xfrm>
                  <a:off x="872" y="3547"/>
                  <a:ext cx="50" cy="23"/>
                  <a:chOff x="872" y="3547"/>
                  <a:chExt cx="50" cy="23"/>
                </a:xfrm>
              </p:grpSpPr>
              <p:sp>
                <p:nvSpPr>
                  <p:cNvPr id="3245" name="Freeform 2123"/>
                  <p:cNvSpPr>
                    <a:spLocks/>
                  </p:cNvSpPr>
                  <p:nvPr/>
                </p:nvSpPr>
                <p:spPr bwMode="auto">
                  <a:xfrm>
                    <a:off x="872"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46" name="Freeform 2124"/>
                  <p:cNvSpPr>
                    <a:spLocks/>
                  </p:cNvSpPr>
                  <p:nvPr/>
                </p:nvSpPr>
                <p:spPr bwMode="auto">
                  <a:xfrm>
                    <a:off x="878" y="3547"/>
                    <a:ext cx="36" cy="10"/>
                  </a:xfrm>
                  <a:custGeom>
                    <a:avLst/>
                    <a:gdLst>
                      <a:gd name="T0" fmla="*/ 0 w 73"/>
                      <a:gd name="T1" fmla="*/ 0 h 30"/>
                      <a:gd name="T2" fmla="*/ 0 w 73"/>
                      <a:gd name="T3" fmla="*/ 0 h 30"/>
                      <a:gd name="T4" fmla="*/ 0 w 73"/>
                      <a:gd name="T5" fmla="*/ 0 h 30"/>
                      <a:gd name="T6" fmla="*/ 0 w 73"/>
                      <a:gd name="T7" fmla="*/ 0 h 30"/>
                      <a:gd name="T8" fmla="*/ 0 w 73"/>
                      <a:gd name="T9" fmla="*/ 0 h 30"/>
                      <a:gd name="T10" fmla="*/ 0 w 73"/>
                      <a:gd name="T11" fmla="*/ 0 h 30"/>
                      <a:gd name="T12" fmla="*/ 0 w 73"/>
                      <a:gd name="T13" fmla="*/ 0 h 30"/>
                      <a:gd name="T14" fmla="*/ 0 w 73"/>
                      <a:gd name="T15" fmla="*/ 0 h 30"/>
                      <a:gd name="T16" fmla="*/ 0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2" y="0"/>
                        </a:moveTo>
                        <a:lnTo>
                          <a:pt x="49" y="0"/>
                        </a:lnTo>
                        <a:lnTo>
                          <a:pt x="50" y="3"/>
                        </a:lnTo>
                        <a:lnTo>
                          <a:pt x="57" y="12"/>
                        </a:lnTo>
                        <a:lnTo>
                          <a:pt x="73"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47" name="Freeform 2125"/>
                  <p:cNvSpPr>
                    <a:spLocks/>
                  </p:cNvSpPr>
                  <p:nvPr/>
                </p:nvSpPr>
                <p:spPr bwMode="auto">
                  <a:xfrm>
                    <a:off x="880" y="3558"/>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47" name="Group 2126"/>
                <p:cNvGrpSpPr>
                  <a:grpSpLocks/>
                </p:cNvGrpSpPr>
                <p:nvPr/>
              </p:nvGrpSpPr>
              <p:grpSpPr bwMode="auto">
                <a:xfrm>
                  <a:off x="885" y="3559"/>
                  <a:ext cx="50" cy="23"/>
                  <a:chOff x="885" y="3559"/>
                  <a:chExt cx="50" cy="23"/>
                </a:xfrm>
              </p:grpSpPr>
              <p:sp>
                <p:nvSpPr>
                  <p:cNvPr id="3242" name="Freeform 2127"/>
                  <p:cNvSpPr>
                    <a:spLocks/>
                  </p:cNvSpPr>
                  <p:nvPr/>
                </p:nvSpPr>
                <p:spPr bwMode="auto">
                  <a:xfrm>
                    <a:off x="885" y="3559"/>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43" name="Freeform 2128"/>
                  <p:cNvSpPr>
                    <a:spLocks/>
                  </p:cNvSpPr>
                  <p:nvPr/>
                </p:nvSpPr>
                <p:spPr bwMode="auto">
                  <a:xfrm>
                    <a:off x="890" y="3560"/>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3" y="0"/>
                        </a:moveTo>
                        <a:lnTo>
                          <a:pt x="49" y="0"/>
                        </a:lnTo>
                        <a:lnTo>
                          <a:pt x="52" y="3"/>
                        </a:lnTo>
                        <a:lnTo>
                          <a:pt x="57" y="12"/>
                        </a:lnTo>
                        <a:lnTo>
                          <a:pt x="74" y="30"/>
                        </a:lnTo>
                        <a:lnTo>
                          <a:pt x="19" y="30"/>
                        </a:lnTo>
                        <a:lnTo>
                          <a:pt x="10"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44" name="Freeform 2129"/>
                  <p:cNvSpPr>
                    <a:spLocks/>
                  </p:cNvSpPr>
                  <p:nvPr/>
                </p:nvSpPr>
                <p:spPr bwMode="auto">
                  <a:xfrm>
                    <a:off x="893" y="357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48" name="Group 2130"/>
                <p:cNvGrpSpPr>
                  <a:grpSpLocks/>
                </p:cNvGrpSpPr>
                <p:nvPr/>
              </p:nvGrpSpPr>
              <p:grpSpPr bwMode="auto">
                <a:xfrm>
                  <a:off x="898" y="3571"/>
                  <a:ext cx="49" cy="23"/>
                  <a:chOff x="898" y="3571"/>
                  <a:chExt cx="49" cy="23"/>
                </a:xfrm>
              </p:grpSpPr>
              <p:sp>
                <p:nvSpPr>
                  <p:cNvPr id="3239" name="Freeform 2131"/>
                  <p:cNvSpPr>
                    <a:spLocks/>
                  </p:cNvSpPr>
                  <p:nvPr/>
                </p:nvSpPr>
                <p:spPr bwMode="auto">
                  <a:xfrm>
                    <a:off x="898" y="3571"/>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40" name="Freeform 2132"/>
                  <p:cNvSpPr>
                    <a:spLocks/>
                  </p:cNvSpPr>
                  <p:nvPr/>
                </p:nvSpPr>
                <p:spPr bwMode="auto">
                  <a:xfrm>
                    <a:off x="903" y="3572"/>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2"/>
                        </a:lnTo>
                        <a:lnTo>
                          <a:pt x="57" y="11"/>
                        </a:lnTo>
                        <a:lnTo>
                          <a:pt x="75" y="29"/>
                        </a:lnTo>
                        <a:lnTo>
                          <a:pt x="19" y="29"/>
                        </a:lnTo>
                        <a:lnTo>
                          <a:pt x="11"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41" name="Freeform 2133"/>
                  <p:cNvSpPr>
                    <a:spLocks/>
                  </p:cNvSpPr>
                  <p:nvPr/>
                </p:nvSpPr>
                <p:spPr bwMode="auto">
                  <a:xfrm>
                    <a:off x="907" y="3582"/>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49" name="Group 2134"/>
                <p:cNvGrpSpPr>
                  <a:grpSpLocks/>
                </p:cNvGrpSpPr>
                <p:nvPr/>
              </p:nvGrpSpPr>
              <p:grpSpPr bwMode="auto">
                <a:xfrm>
                  <a:off x="911" y="3585"/>
                  <a:ext cx="49" cy="23"/>
                  <a:chOff x="911" y="3585"/>
                  <a:chExt cx="49" cy="23"/>
                </a:xfrm>
              </p:grpSpPr>
              <p:sp>
                <p:nvSpPr>
                  <p:cNvPr id="3236" name="Freeform 2135"/>
                  <p:cNvSpPr>
                    <a:spLocks/>
                  </p:cNvSpPr>
                  <p:nvPr/>
                </p:nvSpPr>
                <p:spPr bwMode="auto">
                  <a:xfrm>
                    <a:off x="911" y="3585"/>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0"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37" name="Freeform 2136"/>
                  <p:cNvSpPr>
                    <a:spLocks/>
                  </p:cNvSpPr>
                  <p:nvPr/>
                </p:nvSpPr>
                <p:spPr bwMode="auto">
                  <a:xfrm>
                    <a:off x="915" y="3585"/>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2" y="0"/>
                        </a:lnTo>
                        <a:lnTo>
                          <a:pt x="53" y="3"/>
                        </a:lnTo>
                        <a:lnTo>
                          <a:pt x="57" y="12"/>
                        </a:lnTo>
                        <a:lnTo>
                          <a:pt x="75" y="30"/>
                        </a:lnTo>
                        <a:lnTo>
                          <a:pt x="19" y="30"/>
                        </a:lnTo>
                        <a:lnTo>
                          <a:pt x="11"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38" name="Freeform 2137"/>
                  <p:cNvSpPr>
                    <a:spLocks/>
                  </p:cNvSpPr>
                  <p:nvPr/>
                </p:nvSpPr>
                <p:spPr bwMode="auto">
                  <a:xfrm>
                    <a:off x="919" y="359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50" name="Group 2138"/>
                <p:cNvGrpSpPr>
                  <a:grpSpLocks/>
                </p:cNvGrpSpPr>
                <p:nvPr/>
              </p:nvGrpSpPr>
              <p:grpSpPr bwMode="auto">
                <a:xfrm>
                  <a:off x="923" y="3600"/>
                  <a:ext cx="99" cy="73"/>
                  <a:chOff x="923" y="3600"/>
                  <a:chExt cx="99" cy="73"/>
                </a:xfrm>
              </p:grpSpPr>
              <p:grpSp>
                <p:nvGrpSpPr>
                  <p:cNvPr id="3216" name="Group 2139"/>
                  <p:cNvGrpSpPr>
                    <a:grpSpLocks/>
                  </p:cNvGrpSpPr>
                  <p:nvPr/>
                </p:nvGrpSpPr>
                <p:grpSpPr bwMode="auto">
                  <a:xfrm>
                    <a:off x="923" y="3600"/>
                    <a:ext cx="49" cy="23"/>
                    <a:chOff x="923" y="3600"/>
                    <a:chExt cx="49" cy="23"/>
                  </a:xfrm>
                </p:grpSpPr>
                <p:sp>
                  <p:nvSpPr>
                    <p:cNvPr id="3233" name="Freeform 2140"/>
                    <p:cNvSpPr>
                      <a:spLocks/>
                    </p:cNvSpPr>
                    <p:nvPr/>
                  </p:nvSpPr>
                  <p:spPr bwMode="auto">
                    <a:xfrm>
                      <a:off x="923" y="3600"/>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0"/>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34" name="Freeform 2141"/>
                    <p:cNvSpPr>
                      <a:spLocks/>
                    </p:cNvSpPr>
                    <p:nvPr/>
                  </p:nvSpPr>
                  <p:spPr bwMode="auto">
                    <a:xfrm>
                      <a:off x="928" y="3600"/>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3"/>
                          </a:lnTo>
                          <a:lnTo>
                            <a:pt x="57" y="12"/>
                          </a:lnTo>
                          <a:lnTo>
                            <a:pt x="75" y="29"/>
                          </a:lnTo>
                          <a:lnTo>
                            <a:pt x="19" y="29"/>
                          </a:lnTo>
                          <a:lnTo>
                            <a:pt x="9"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35" name="Freeform 2142"/>
                    <p:cNvSpPr>
                      <a:spLocks/>
                    </p:cNvSpPr>
                    <p:nvPr/>
                  </p:nvSpPr>
                  <p:spPr bwMode="auto">
                    <a:xfrm>
                      <a:off x="930" y="3610"/>
                      <a:ext cx="42" cy="13"/>
                    </a:xfrm>
                    <a:custGeom>
                      <a:avLst/>
                      <a:gdLst>
                        <a:gd name="T0" fmla="*/ 0 w 82"/>
                        <a:gd name="T1" fmla="*/ 0 h 37"/>
                        <a:gd name="T2" fmla="*/ 1 w 82"/>
                        <a:gd name="T3" fmla="*/ 0 h 37"/>
                        <a:gd name="T4" fmla="*/ 1 w 82"/>
                        <a:gd name="T5" fmla="*/ 0 h 37"/>
                        <a:gd name="T6" fmla="*/ 1 w 82"/>
                        <a:gd name="T7" fmla="*/ 0 h 37"/>
                        <a:gd name="T8" fmla="*/ 1 w 82"/>
                        <a:gd name="T9" fmla="*/ 0 h 37"/>
                        <a:gd name="T10" fmla="*/ 1 w 82"/>
                        <a:gd name="T11" fmla="*/ 0 h 37"/>
                        <a:gd name="T12" fmla="*/ 0 w 82"/>
                        <a:gd name="T13" fmla="*/ 0 h 37"/>
                        <a:gd name="T14" fmla="*/ 0 60000 65536"/>
                        <a:gd name="T15" fmla="*/ 0 60000 65536"/>
                        <a:gd name="T16" fmla="*/ 0 60000 65536"/>
                        <a:gd name="T17" fmla="*/ 0 60000 65536"/>
                        <a:gd name="T18" fmla="*/ 0 60000 65536"/>
                        <a:gd name="T19" fmla="*/ 0 60000 65536"/>
                        <a:gd name="T20" fmla="*/ 0 60000 65536"/>
                        <a:gd name="T21" fmla="*/ 0 w 82"/>
                        <a:gd name="T22" fmla="*/ 0 h 37"/>
                        <a:gd name="T23" fmla="*/ 82 w 82"/>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7">
                          <a:moveTo>
                            <a:pt x="0" y="37"/>
                          </a:moveTo>
                          <a:lnTo>
                            <a:pt x="2" y="22"/>
                          </a:lnTo>
                          <a:lnTo>
                            <a:pt x="7" y="7"/>
                          </a:lnTo>
                          <a:lnTo>
                            <a:pt x="13" y="0"/>
                          </a:lnTo>
                          <a:lnTo>
                            <a:pt x="69" y="0"/>
                          </a:lnTo>
                          <a:lnTo>
                            <a:pt x="82"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17" name="Group 2143"/>
                  <p:cNvGrpSpPr>
                    <a:grpSpLocks/>
                  </p:cNvGrpSpPr>
                  <p:nvPr/>
                </p:nvGrpSpPr>
                <p:grpSpPr bwMode="auto">
                  <a:xfrm>
                    <a:off x="935" y="3612"/>
                    <a:ext cx="48" cy="23"/>
                    <a:chOff x="935" y="3612"/>
                    <a:chExt cx="48" cy="23"/>
                  </a:xfrm>
                </p:grpSpPr>
                <p:sp>
                  <p:nvSpPr>
                    <p:cNvPr id="3230" name="Freeform 2144"/>
                    <p:cNvSpPr>
                      <a:spLocks/>
                    </p:cNvSpPr>
                    <p:nvPr/>
                  </p:nvSpPr>
                  <p:spPr bwMode="auto">
                    <a:xfrm>
                      <a:off x="935"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31" name="Freeform 2145"/>
                    <p:cNvSpPr>
                      <a:spLocks/>
                    </p:cNvSpPr>
                    <p:nvPr/>
                  </p:nvSpPr>
                  <p:spPr bwMode="auto">
                    <a:xfrm>
                      <a:off x="939" y="3612"/>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3" y="3"/>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32" name="Freeform 2146"/>
                    <p:cNvSpPr>
                      <a:spLocks/>
                    </p:cNvSpPr>
                    <p:nvPr/>
                  </p:nvSpPr>
                  <p:spPr bwMode="auto">
                    <a:xfrm>
                      <a:off x="943"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18" name="Group 2147"/>
                  <p:cNvGrpSpPr>
                    <a:grpSpLocks/>
                  </p:cNvGrpSpPr>
                  <p:nvPr/>
                </p:nvGrpSpPr>
                <p:grpSpPr bwMode="auto">
                  <a:xfrm>
                    <a:off x="947" y="3625"/>
                    <a:ext cx="50" cy="22"/>
                    <a:chOff x="947" y="3625"/>
                    <a:chExt cx="50" cy="22"/>
                  </a:xfrm>
                </p:grpSpPr>
                <p:sp>
                  <p:nvSpPr>
                    <p:cNvPr id="3227" name="Freeform 2148"/>
                    <p:cNvSpPr>
                      <a:spLocks/>
                    </p:cNvSpPr>
                    <p:nvPr/>
                  </p:nvSpPr>
                  <p:spPr bwMode="auto">
                    <a:xfrm>
                      <a:off x="947" y="3625"/>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28" name="Freeform 2149"/>
                    <p:cNvSpPr>
                      <a:spLocks/>
                    </p:cNvSpPr>
                    <p:nvPr/>
                  </p:nvSpPr>
                  <p:spPr bwMode="auto">
                    <a:xfrm>
                      <a:off x="953" y="3625"/>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1" y="2"/>
                          </a:lnTo>
                          <a:lnTo>
                            <a:pt x="57" y="11"/>
                          </a:lnTo>
                          <a:lnTo>
                            <a:pt x="73" y="29"/>
                          </a:lnTo>
                          <a:lnTo>
                            <a:pt x="19"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29" name="Freeform 2150"/>
                    <p:cNvSpPr>
                      <a:spLocks/>
                    </p:cNvSpPr>
                    <p:nvPr/>
                  </p:nvSpPr>
                  <p:spPr bwMode="auto">
                    <a:xfrm>
                      <a:off x="955" y="363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0"/>
                          </a:lnTo>
                          <a:lnTo>
                            <a:pt x="7" y="8"/>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19" name="Group 2151"/>
                  <p:cNvGrpSpPr>
                    <a:grpSpLocks/>
                  </p:cNvGrpSpPr>
                  <p:nvPr/>
                </p:nvGrpSpPr>
                <p:grpSpPr bwMode="auto">
                  <a:xfrm>
                    <a:off x="960" y="3637"/>
                    <a:ext cx="50" cy="23"/>
                    <a:chOff x="960" y="3637"/>
                    <a:chExt cx="50" cy="23"/>
                  </a:xfrm>
                </p:grpSpPr>
                <p:sp>
                  <p:nvSpPr>
                    <p:cNvPr id="3224" name="Freeform 2152"/>
                    <p:cNvSpPr>
                      <a:spLocks/>
                    </p:cNvSpPr>
                    <p:nvPr/>
                  </p:nvSpPr>
                  <p:spPr bwMode="auto">
                    <a:xfrm>
                      <a:off x="960" y="363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7"/>
                          </a:lnTo>
                          <a:lnTo>
                            <a:pt x="12"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25" name="Freeform 2153"/>
                    <p:cNvSpPr>
                      <a:spLocks/>
                    </p:cNvSpPr>
                    <p:nvPr/>
                  </p:nvSpPr>
                  <p:spPr bwMode="auto">
                    <a:xfrm>
                      <a:off x="965" y="3638"/>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3" y="0"/>
                          </a:moveTo>
                          <a:lnTo>
                            <a:pt x="49" y="0"/>
                          </a:lnTo>
                          <a:lnTo>
                            <a:pt x="53" y="2"/>
                          </a:lnTo>
                          <a:lnTo>
                            <a:pt x="57" y="11"/>
                          </a:lnTo>
                          <a:lnTo>
                            <a:pt x="74" y="29"/>
                          </a:lnTo>
                          <a:lnTo>
                            <a:pt x="19"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26" name="Freeform 2154"/>
                    <p:cNvSpPr>
                      <a:spLocks/>
                    </p:cNvSpPr>
                    <p:nvPr/>
                  </p:nvSpPr>
                  <p:spPr bwMode="auto">
                    <a:xfrm>
                      <a:off x="968" y="3648"/>
                      <a:ext cx="42" cy="12"/>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1" y="19"/>
                          </a:lnTo>
                          <a:lnTo>
                            <a:pt x="6" y="7"/>
                          </a:lnTo>
                          <a:lnTo>
                            <a:pt x="10"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20" name="Group 2155"/>
                  <p:cNvGrpSpPr>
                    <a:grpSpLocks/>
                  </p:cNvGrpSpPr>
                  <p:nvPr/>
                </p:nvGrpSpPr>
                <p:grpSpPr bwMode="auto">
                  <a:xfrm>
                    <a:off x="973" y="3650"/>
                    <a:ext cx="49" cy="23"/>
                    <a:chOff x="973" y="3650"/>
                    <a:chExt cx="49" cy="23"/>
                  </a:xfrm>
                </p:grpSpPr>
                <p:sp>
                  <p:nvSpPr>
                    <p:cNvPr id="3221" name="Freeform 2156"/>
                    <p:cNvSpPr>
                      <a:spLocks/>
                    </p:cNvSpPr>
                    <p:nvPr/>
                  </p:nvSpPr>
                  <p:spPr bwMode="auto">
                    <a:xfrm>
                      <a:off x="973" y="3650"/>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22" name="Freeform 2157"/>
                    <p:cNvSpPr>
                      <a:spLocks/>
                    </p:cNvSpPr>
                    <p:nvPr/>
                  </p:nvSpPr>
                  <p:spPr bwMode="auto">
                    <a:xfrm>
                      <a:off x="978"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49" y="0"/>
                          </a:lnTo>
                          <a:lnTo>
                            <a:pt x="50" y="2"/>
                          </a:lnTo>
                          <a:lnTo>
                            <a:pt x="57" y="11"/>
                          </a:lnTo>
                          <a:lnTo>
                            <a:pt x="74" y="29"/>
                          </a:lnTo>
                          <a:lnTo>
                            <a:pt x="19" y="29"/>
                          </a:lnTo>
                          <a:lnTo>
                            <a:pt x="10"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23" name="Freeform 2158"/>
                    <p:cNvSpPr>
                      <a:spLocks/>
                    </p:cNvSpPr>
                    <p:nvPr/>
                  </p:nvSpPr>
                  <p:spPr bwMode="auto">
                    <a:xfrm>
                      <a:off x="982" y="3661"/>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5"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51" name="Group 2159"/>
                <p:cNvGrpSpPr>
                  <a:grpSpLocks/>
                </p:cNvGrpSpPr>
                <p:nvPr/>
              </p:nvGrpSpPr>
              <p:grpSpPr bwMode="auto">
                <a:xfrm>
                  <a:off x="985" y="3665"/>
                  <a:ext cx="100" cy="73"/>
                  <a:chOff x="985" y="3665"/>
                  <a:chExt cx="100" cy="73"/>
                </a:xfrm>
              </p:grpSpPr>
              <p:grpSp>
                <p:nvGrpSpPr>
                  <p:cNvPr id="3196" name="Group 2160"/>
                  <p:cNvGrpSpPr>
                    <a:grpSpLocks/>
                  </p:cNvGrpSpPr>
                  <p:nvPr/>
                </p:nvGrpSpPr>
                <p:grpSpPr bwMode="auto">
                  <a:xfrm>
                    <a:off x="985" y="3665"/>
                    <a:ext cx="50" cy="23"/>
                    <a:chOff x="985" y="3665"/>
                    <a:chExt cx="50" cy="23"/>
                  </a:xfrm>
                </p:grpSpPr>
                <p:sp>
                  <p:nvSpPr>
                    <p:cNvPr id="3213" name="Freeform 2161"/>
                    <p:cNvSpPr>
                      <a:spLocks/>
                    </p:cNvSpPr>
                    <p:nvPr/>
                  </p:nvSpPr>
                  <p:spPr bwMode="auto">
                    <a:xfrm>
                      <a:off x="985" y="366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14" name="Freeform 2162"/>
                    <p:cNvSpPr>
                      <a:spLocks/>
                    </p:cNvSpPr>
                    <p:nvPr/>
                  </p:nvSpPr>
                  <p:spPr bwMode="auto">
                    <a:xfrm>
                      <a:off x="989" y="3665"/>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15" name="Freeform 2163"/>
                    <p:cNvSpPr>
                      <a:spLocks/>
                    </p:cNvSpPr>
                    <p:nvPr/>
                  </p:nvSpPr>
                  <p:spPr bwMode="auto">
                    <a:xfrm>
                      <a:off x="993"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97" name="Group 2164"/>
                  <p:cNvGrpSpPr>
                    <a:grpSpLocks/>
                  </p:cNvGrpSpPr>
                  <p:nvPr/>
                </p:nvGrpSpPr>
                <p:grpSpPr bwMode="auto">
                  <a:xfrm>
                    <a:off x="997" y="3677"/>
                    <a:ext cx="49" cy="23"/>
                    <a:chOff x="997" y="3677"/>
                    <a:chExt cx="49" cy="23"/>
                  </a:xfrm>
                </p:grpSpPr>
                <p:sp>
                  <p:nvSpPr>
                    <p:cNvPr id="3210" name="Freeform 2165"/>
                    <p:cNvSpPr>
                      <a:spLocks/>
                    </p:cNvSpPr>
                    <p:nvPr/>
                  </p:nvSpPr>
                  <p:spPr bwMode="auto">
                    <a:xfrm>
                      <a:off x="997" y="367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1"/>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11" name="Freeform 2166"/>
                    <p:cNvSpPr>
                      <a:spLocks/>
                    </p:cNvSpPr>
                    <p:nvPr/>
                  </p:nvSpPr>
                  <p:spPr bwMode="auto">
                    <a:xfrm>
                      <a:off x="1002" y="367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10"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12" name="Freeform 2167"/>
                    <p:cNvSpPr>
                      <a:spLocks/>
                    </p:cNvSpPr>
                    <p:nvPr/>
                  </p:nvSpPr>
                  <p:spPr bwMode="auto">
                    <a:xfrm>
                      <a:off x="1005" y="3688"/>
                      <a:ext cx="41" cy="12"/>
                    </a:xfrm>
                    <a:custGeom>
                      <a:avLst/>
                      <a:gdLst>
                        <a:gd name="T0" fmla="*/ 0 w 83"/>
                        <a:gd name="T1" fmla="*/ 0 h 37"/>
                        <a:gd name="T2" fmla="*/ 0 w 83"/>
                        <a:gd name="T3" fmla="*/ 0 h 37"/>
                        <a:gd name="T4" fmla="*/ 0 w 83"/>
                        <a:gd name="T5" fmla="*/ 0 h 37"/>
                        <a:gd name="T6" fmla="*/ 0 w 83"/>
                        <a:gd name="T7" fmla="*/ 0 h 37"/>
                        <a:gd name="T8" fmla="*/ 0 w 83"/>
                        <a:gd name="T9" fmla="*/ 0 h 37"/>
                        <a:gd name="T10" fmla="*/ 0 w 83"/>
                        <a:gd name="T11" fmla="*/ 0 h 37"/>
                        <a:gd name="T12" fmla="*/ 0 w 83"/>
                        <a:gd name="T13" fmla="*/ 0 h 37"/>
                        <a:gd name="T14" fmla="*/ 0 60000 65536"/>
                        <a:gd name="T15" fmla="*/ 0 60000 65536"/>
                        <a:gd name="T16" fmla="*/ 0 60000 65536"/>
                        <a:gd name="T17" fmla="*/ 0 60000 65536"/>
                        <a:gd name="T18" fmla="*/ 0 60000 65536"/>
                        <a:gd name="T19" fmla="*/ 0 60000 65536"/>
                        <a:gd name="T20" fmla="*/ 0 60000 65536"/>
                        <a:gd name="T21" fmla="*/ 0 w 83"/>
                        <a:gd name="T22" fmla="*/ 0 h 37"/>
                        <a:gd name="T23" fmla="*/ 83 w 83"/>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7">
                          <a:moveTo>
                            <a:pt x="0" y="37"/>
                          </a:moveTo>
                          <a:lnTo>
                            <a:pt x="4" y="19"/>
                          </a:lnTo>
                          <a:lnTo>
                            <a:pt x="8" y="8"/>
                          </a:lnTo>
                          <a:lnTo>
                            <a:pt x="13" y="0"/>
                          </a:lnTo>
                          <a:lnTo>
                            <a:pt x="68" y="0"/>
                          </a:lnTo>
                          <a:lnTo>
                            <a:pt x="83"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98" name="Group 2168"/>
                  <p:cNvGrpSpPr>
                    <a:grpSpLocks/>
                  </p:cNvGrpSpPr>
                  <p:nvPr/>
                </p:nvGrpSpPr>
                <p:grpSpPr bwMode="auto">
                  <a:xfrm>
                    <a:off x="1010" y="3690"/>
                    <a:ext cx="48" cy="23"/>
                    <a:chOff x="1010" y="3690"/>
                    <a:chExt cx="48" cy="23"/>
                  </a:xfrm>
                </p:grpSpPr>
                <p:sp>
                  <p:nvSpPr>
                    <p:cNvPr id="3207" name="Freeform 2169"/>
                    <p:cNvSpPr>
                      <a:spLocks/>
                    </p:cNvSpPr>
                    <p:nvPr/>
                  </p:nvSpPr>
                  <p:spPr bwMode="auto">
                    <a:xfrm>
                      <a:off x="1010" y="3690"/>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08" name="Freeform 2170"/>
                    <p:cNvSpPr>
                      <a:spLocks/>
                    </p:cNvSpPr>
                    <p:nvPr/>
                  </p:nvSpPr>
                  <p:spPr bwMode="auto">
                    <a:xfrm>
                      <a:off x="1014" y="369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3"/>
                          </a:lnTo>
                          <a:lnTo>
                            <a:pt x="56" y="12"/>
                          </a:lnTo>
                          <a:lnTo>
                            <a:pt x="75" y="31"/>
                          </a:lnTo>
                          <a:lnTo>
                            <a:pt x="18" y="31"/>
                          </a:lnTo>
                          <a:lnTo>
                            <a:pt x="9" y="22"/>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09" name="Freeform 2171"/>
                    <p:cNvSpPr>
                      <a:spLocks/>
                    </p:cNvSpPr>
                    <p:nvPr/>
                  </p:nvSpPr>
                  <p:spPr bwMode="auto">
                    <a:xfrm>
                      <a:off x="1018" y="3701"/>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8" y="7"/>
                          </a:lnTo>
                          <a:lnTo>
                            <a:pt x="12" y="0"/>
                          </a:lnTo>
                          <a:lnTo>
                            <a:pt x="69"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99" name="Group 2172"/>
                  <p:cNvGrpSpPr>
                    <a:grpSpLocks/>
                  </p:cNvGrpSpPr>
                  <p:nvPr/>
                </p:nvGrpSpPr>
                <p:grpSpPr bwMode="auto">
                  <a:xfrm>
                    <a:off x="1023" y="3703"/>
                    <a:ext cx="49" cy="22"/>
                    <a:chOff x="1023" y="3703"/>
                    <a:chExt cx="49" cy="22"/>
                  </a:xfrm>
                </p:grpSpPr>
                <p:sp>
                  <p:nvSpPr>
                    <p:cNvPr id="3204" name="Freeform 2173"/>
                    <p:cNvSpPr>
                      <a:spLocks/>
                    </p:cNvSpPr>
                    <p:nvPr/>
                  </p:nvSpPr>
                  <p:spPr bwMode="auto">
                    <a:xfrm>
                      <a:off x="1023" y="3703"/>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3" y="68"/>
                          </a:moveTo>
                          <a:lnTo>
                            <a:pt x="0" y="27"/>
                          </a:lnTo>
                          <a:lnTo>
                            <a:pt x="9" y="0"/>
                          </a:lnTo>
                          <a:lnTo>
                            <a:pt x="25"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05" name="Freeform 2174"/>
                    <p:cNvSpPr>
                      <a:spLocks/>
                    </p:cNvSpPr>
                    <p:nvPr/>
                  </p:nvSpPr>
                  <p:spPr bwMode="auto">
                    <a:xfrm>
                      <a:off x="1028" y="3703"/>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06" name="Freeform 2175"/>
                    <p:cNvSpPr>
                      <a:spLocks/>
                    </p:cNvSpPr>
                    <p:nvPr/>
                  </p:nvSpPr>
                  <p:spPr bwMode="auto">
                    <a:xfrm>
                      <a:off x="1030" y="371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3" y="0"/>
                          </a:lnTo>
                          <a:lnTo>
                            <a:pt x="70"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00" name="Group 2176"/>
                  <p:cNvGrpSpPr>
                    <a:grpSpLocks/>
                  </p:cNvGrpSpPr>
                  <p:nvPr/>
                </p:nvGrpSpPr>
                <p:grpSpPr bwMode="auto">
                  <a:xfrm>
                    <a:off x="1036" y="3716"/>
                    <a:ext cx="49" cy="22"/>
                    <a:chOff x="1036" y="3716"/>
                    <a:chExt cx="49" cy="22"/>
                  </a:xfrm>
                </p:grpSpPr>
                <p:sp>
                  <p:nvSpPr>
                    <p:cNvPr id="3201" name="Freeform 2177"/>
                    <p:cNvSpPr>
                      <a:spLocks/>
                    </p:cNvSpPr>
                    <p:nvPr/>
                  </p:nvSpPr>
                  <p:spPr bwMode="auto">
                    <a:xfrm>
                      <a:off x="1036" y="3716"/>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02" name="Freeform 2178"/>
                    <p:cNvSpPr>
                      <a:spLocks/>
                    </p:cNvSpPr>
                    <p:nvPr/>
                  </p:nvSpPr>
                  <p:spPr bwMode="auto">
                    <a:xfrm>
                      <a:off x="1040" y="371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3" y="0"/>
                          </a:moveTo>
                          <a:lnTo>
                            <a:pt x="51" y="0"/>
                          </a:lnTo>
                          <a:lnTo>
                            <a:pt x="53" y="2"/>
                          </a:lnTo>
                          <a:lnTo>
                            <a:pt x="57" y="11"/>
                          </a:lnTo>
                          <a:lnTo>
                            <a:pt x="75" y="29"/>
                          </a:lnTo>
                          <a:lnTo>
                            <a:pt x="18"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03" name="Freeform 2179"/>
                    <p:cNvSpPr>
                      <a:spLocks/>
                    </p:cNvSpPr>
                    <p:nvPr/>
                  </p:nvSpPr>
                  <p:spPr bwMode="auto">
                    <a:xfrm>
                      <a:off x="1043" y="3726"/>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6" y="8"/>
                          </a:lnTo>
                          <a:lnTo>
                            <a:pt x="10"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52" name="Group 2180"/>
                <p:cNvGrpSpPr>
                  <a:grpSpLocks/>
                </p:cNvGrpSpPr>
                <p:nvPr/>
              </p:nvGrpSpPr>
              <p:grpSpPr bwMode="auto">
                <a:xfrm>
                  <a:off x="1046" y="3727"/>
                  <a:ext cx="49" cy="23"/>
                  <a:chOff x="1046" y="3727"/>
                  <a:chExt cx="49" cy="23"/>
                </a:xfrm>
              </p:grpSpPr>
              <p:sp>
                <p:nvSpPr>
                  <p:cNvPr id="3193" name="Freeform 2181"/>
                  <p:cNvSpPr>
                    <a:spLocks/>
                  </p:cNvSpPr>
                  <p:nvPr/>
                </p:nvSpPr>
                <p:spPr bwMode="auto">
                  <a:xfrm>
                    <a:off x="1046" y="372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2"/>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94" name="Freeform 2182"/>
                  <p:cNvSpPr>
                    <a:spLocks/>
                  </p:cNvSpPr>
                  <p:nvPr/>
                </p:nvSpPr>
                <p:spPr bwMode="auto">
                  <a:xfrm>
                    <a:off x="1051" y="3727"/>
                    <a:ext cx="36" cy="11"/>
                  </a:xfrm>
                  <a:custGeom>
                    <a:avLst/>
                    <a:gdLst>
                      <a:gd name="T0" fmla="*/ 0 w 73"/>
                      <a:gd name="T1" fmla="*/ 0 h 31"/>
                      <a:gd name="T2" fmla="*/ 0 w 73"/>
                      <a:gd name="T3" fmla="*/ 0 h 31"/>
                      <a:gd name="T4" fmla="*/ 0 w 73"/>
                      <a:gd name="T5" fmla="*/ 0 h 31"/>
                      <a:gd name="T6" fmla="*/ 0 w 73"/>
                      <a:gd name="T7" fmla="*/ 0 h 31"/>
                      <a:gd name="T8" fmla="*/ 0 w 73"/>
                      <a:gd name="T9" fmla="*/ 0 h 31"/>
                      <a:gd name="T10" fmla="*/ 0 w 73"/>
                      <a:gd name="T11" fmla="*/ 0 h 31"/>
                      <a:gd name="T12" fmla="*/ 0 w 73"/>
                      <a:gd name="T13" fmla="*/ 0 h 31"/>
                      <a:gd name="T14" fmla="*/ 0 w 73"/>
                      <a:gd name="T15" fmla="*/ 0 h 31"/>
                      <a:gd name="T16" fmla="*/ 0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9" y="0"/>
                        </a:lnTo>
                        <a:lnTo>
                          <a:pt x="50" y="4"/>
                        </a:lnTo>
                        <a:lnTo>
                          <a:pt x="57" y="13"/>
                        </a:lnTo>
                        <a:lnTo>
                          <a:pt x="73" y="31"/>
                        </a:lnTo>
                        <a:lnTo>
                          <a:pt x="17"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95" name="Freeform 2183"/>
                  <p:cNvSpPr>
                    <a:spLocks/>
                  </p:cNvSpPr>
                  <p:nvPr/>
                </p:nvSpPr>
                <p:spPr bwMode="auto">
                  <a:xfrm>
                    <a:off x="1054" y="3738"/>
                    <a:ext cx="41"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6"/>
                        </a:lnTo>
                        <a:lnTo>
                          <a:pt x="10"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53" name="Group 2184"/>
                <p:cNvGrpSpPr>
                  <a:grpSpLocks/>
                </p:cNvGrpSpPr>
                <p:nvPr/>
              </p:nvGrpSpPr>
              <p:grpSpPr bwMode="auto">
                <a:xfrm>
                  <a:off x="1058" y="3739"/>
                  <a:ext cx="50" cy="23"/>
                  <a:chOff x="1058" y="3739"/>
                  <a:chExt cx="50" cy="23"/>
                </a:xfrm>
              </p:grpSpPr>
              <p:sp>
                <p:nvSpPr>
                  <p:cNvPr id="3190" name="Freeform 2185"/>
                  <p:cNvSpPr>
                    <a:spLocks/>
                  </p:cNvSpPr>
                  <p:nvPr/>
                </p:nvSpPr>
                <p:spPr bwMode="auto">
                  <a:xfrm>
                    <a:off x="1058" y="3739"/>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91" name="Freeform 2186"/>
                  <p:cNvSpPr>
                    <a:spLocks/>
                  </p:cNvSpPr>
                  <p:nvPr/>
                </p:nvSpPr>
                <p:spPr bwMode="auto">
                  <a:xfrm>
                    <a:off x="1063" y="3740"/>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0" y="0"/>
                        </a:lnTo>
                        <a:lnTo>
                          <a:pt x="51" y="3"/>
                        </a:lnTo>
                        <a:lnTo>
                          <a:pt x="58" y="12"/>
                        </a:lnTo>
                        <a:lnTo>
                          <a:pt x="75" y="30"/>
                        </a:lnTo>
                        <a:lnTo>
                          <a:pt x="18" y="30"/>
                        </a:lnTo>
                        <a:lnTo>
                          <a:pt x="11" y="21"/>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92" name="Freeform 2187"/>
                  <p:cNvSpPr>
                    <a:spLocks/>
                  </p:cNvSpPr>
                  <p:nvPr/>
                </p:nvSpPr>
                <p:spPr bwMode="auto">
                  <a:xfrm>
                    <a:off x="1067" y="3750"/>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54" name="Group 2188"/>
                <p:cNvGrpSpPr>
                  <a:grpSpLocks/>
                </p:cNvGrpSpPr>
                <p:nvPr/>
              </p:nvGrpSpPr>
              <p:grpSpPr bwMode="auto">
                <a:xfrm>
                  <a:off x="1072" y="3753"/>
                  <a:ext cx="48" cy="22"/>
                  <a:chOff x="1072" y="3753"/>
                  <a:chExt cx="48" cy="22"/>
                </a:xfrm>
              </p:grpSpPr>
              <p:sp>
                <p:nvSpPr>
                  <p:cNvPr id="3187" name="Freeform 2189"/>
                  <p:cNvSpPr>
                    <a:spLocks/>
                  </p:cNvSpPr>
                  <p:nvPr/>
                </p:nvSpPr>
                <p:spPr bwMode="auto">
                  <a:xfrm>
                    <a:off x="1072" y="3753"/>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9"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88" name="Freeform 2190"/>
                  <p:cNvSpPr>
                    <a:spLocks/>
                  </p:cNvSpPr>
                  <p:nvPr/>
                </p:nvSpPr>
                <p:spPr bwMode="auto">
                  <a:xfrm>
                    <a:off x="1076" y="3753"/>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0" y="0"/>
                        </a:lnTo>
                        <a:lnTo>
                          <a:pt x="52" y="4"/>
                        </a:lnTo>
                        <a:lnTo>
                          <a:pt x="57" y="13"/>
                        </a:lnTo>
                        <a:lnTo>
                          <a:pt x="74" y="31"/>
                        </a:lnTo>
                        <a:lnTo>
                          <a:pt x="19" y="31"/>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89" name="Freeform 2191"/>
                  <p:cNvSpPr>
                    <a:spLocks/>
                  </p:cNvSpPr>
                  <p:nvPr/>
                </p:nvSpPr>
                <p:spPr bwMode="auto">
                  <a:xfrm>
                    <a:off x="1079" y="376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3" y="20"/>
                        </a:lnTo>
                        <a:lnTo>
                          <a:pt x="6"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855" name="Freeform 2192"/>
                <p:cNvSpPr>
                  <a:spLocks/>
                </p:cNvSpPr>
                <p:nvPr/>
              </p:nvSpPr>
              <p:spPr bwMode="auto">
                <a:xfrm>
                  <a:off x="820" y="3535"/>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1"/>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56" name="Freeform 2193"/>
                <p:cNvSpPr>
                  <a:spLocks/>
                </p:cNvSpPr>
                <p:nvPr/>
              </p:nvSpPr>
              <p:spPr bwMode="auto">
                <a:xfrm>
                  <a:off x="825" y="3535"/>
                  <a:ext cx="36" cy="9"/>
                </a:xfrm>
                <a:custGeom>
                  <a:avLst/>
                  <a:gdLst>
                    <a:gd name="T0" fmla="*/ 0 w 71"/>
                    <a:gd name="T1" fmla="*/ 0 h 27"/>
                    <a:gd name="T2" fmla="*/ 1 w 71"/>
                    <a:gd name="T3" fmla="*/ 0 h 27"/>
                    <a:gd name="T4" fmla="*/ 1 w 71"/>
                    <a:gd name="T5" fmla="*/ 0 h 27"/>
                    <a:gd name="T6" fmla="*/ 1 w 71"/>
                    <a:gd name="T7" fmla="*/ 0 h 27"/>
                    <a:gd name="T8" fmla="*/ 1 w 71"/>
                    <a:gd name="T9" fmla="*/ 0 h 27"/>
                    <a:gd name="T10" fmla="*/ 1 w 71"/>
                    <a:gd name="T11" fmla="*/ 0 h 27"/>
                    <a:gd name="T12" fmla="*/ 1 w 71"/>
                    <a:gd name="T13" fmla="*/ 0 h 27"/>
                    <a:gd name="T14" fmla="*/ 0 w 71"/>
                    <a:gd name="T15" fmla="*/ 0 h 27"/>
                    <a:gd name="T16" fmla="*/ 0 w 71"/>
                    <a:gd name="T17" fmla="*/ 0 h 2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1"/>
                    <a:gd name="T28" fmla="*/ 0 h 27"/>
                    <a:gd name="T29" fmla="*/ 71 w 71"/>
                    <a:gd name="T30" fmla="*/ 27 h 2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1" h="27">
                      <a:moveTo>
                        <a:pt x="0" y="0"/>
                      </a:moveTo>
                      <a:lnTo>
                        <a:pt x="49" y="0"/>
                      </a:lnTo>
                      <a:lnTo>
                        <a:pt x="51" y="2"/>
                      </a:lnTo>
                      <a:lnTo>
                        <a:pt x="55" y="12"/>
                      </a:lnTo>
                      <a:lnTo>
                        <a:pt x="71" y="27"/>
                      </a:lnTo>
                      <a:lnTo>
                        <a:pt x="17" y="27"/>
                      </a:lnTo>
                      <a:lnTo>
                        <a:pt x="8" y="20"/>
                      </a:lnTo>
                      <a:lnTo>
                        <a:pt x="0" y="6"/>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57" name="Freeform 2194"/>
                <p:cNvSpPr>
                  <a:spLocks/>
                </p:cNvSpPr>
                <p:nvPr/>
              </p:nvSpPr>
              <p:spPr bwMode="auto">
                <a:xfrm>
                  <a:off x="828" y="354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8"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858" name="Group 2195"/>
                <p:cNvGrpSpPr>
                  <a:grpSpLocks/>
                </p:cNvGrpSpPr>
                <p:nvPr/>
              </p:nvGrpSpPr>
              <p:grpSpPr bwMode="auto">
                <a:xfrm>
                  <a:off x="832" y="3547"/>
                  <a:ext cx="49" cy="23"/>
                  <a:chOff x="832" y="3547"/>
                  <a:chExt cx="49" cy="23"/>
                </a:xfrm>
              </p:grpSpPr>
              <p:sp>
                <p:nvSpPr>
                  <p:cNvPr id="3184" name="Freeform 2196"/>
                  <p:cNvSpPr>
                    <a:spLocks/>
                  </p:cNvSpPr>
                  <p:nvPr/>
                </p:nvSpPr>
                <p:spPr bwMode="auto">
                  <a:xfrm>
                    <a:off x="832" y="354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85" name="Freeform 2197"/>
                  <p:cNvSpPr>
                    <a:spLocks/>
                  </p:cNvSpPr>
                  <p:nvPr/>
                </p:nvSpPr>
                <p:spPr bwMode="auto">
                  <a:xfrm>
                    <a:off x="837" y="3548"/>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86" name="Freeform 2198"/>
                  <p:cNvSpPr>
                    <a:spLocks/>
                  </p:cNvSpPr>
                  <p:nvPr/>
                </p:nvSpPr>
                <p:spPr bwMode="auto">
                  <a:xfrm>
                    <a:off x="840" y="355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59" name="Group 2199"/>
                <p:cNvGrpSpPr>
                  <a:grpSpLocks/>
                </p:cNvGrpSpPr>
                <p:nvPr/>
              </p:nvGrpSpPr>
              <p:grpSpPr bwMode="auto">
                <a:xfrm>
                  <a:off x="844" y="3560"/>
                  <a:ext cx="49" cy="22"/>
                  <a:chOff x="844" y="3560"/>
                  <a:chExt cx="49" cy="22"/>
                </a:xfrm>
              </p:grpSpPr>
              <p:sp>
                <p:nvSpPr>
                  <p:cNvPr id="3181" name="Freeform 2200"/>
                  <p:cNvSpPr>
                    <a:spLocks/>
                  </p:cNvSpPr>
                  <p:nvPr/>
                </p:nvSpPr>
                <p:spPr bwMode="auto">
                  <a:xfrm>
                    <a:off x="844" y="3560"/>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82" name="Freeform 2201"/>
                  <p:cNvSpPr>
                    <a:spLocks/>
                  </p:cNvSpPr>
                  <p:nvPr/>
                </p:nvSpPr>
                <p:spPr bwMode="auto">
                  <a:xfrm>
                    <a:off x="849" y="3560"/>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83" name="Freeform 2202"/>
                  <p:cNvSpPr>
                    <a:spLocks/>
                  </p:cNvSpPr>
                  <p:nvPr/>
                </p:nvSpPr>
                <p:spPr bwMode="auto">
                  <a:xfrm>
                    <a:off x="853" y="3571"/>
                    <a:ext cx="40" cy="11"/>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6"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60" name="Group 2203"/>
                <p:cNvGrpSpPr>
                  <a:grpSpLocks/>
                </p:cNvGrpSpPr>
                <p:nvPr/>
              </p:nvGrpSpPr>
              <p:grpSpPr bwMode="auto">
                <a:xfrm>
                  <a:off x="857" y="3572"/>
                  <a:ext cx="50" cy="23"/>
                  <a:chOff x="857" y="3572"/>
                  <a:chExt cx="50" cy="23"/>
                </a:xfrm>
              </p:grpSpPr>
              <p:sp>
                <p:nvSpPr>
                  <p:cNvPr id="3178" name="Freeform 2204"/>
                  <p:cNvSpPr>
                    <a:spLocks/>
                  </p:cNvSpPr>
                  <p:nvPr/>
                </p:nvSpPr>
                <p:spPr bwMode="auto">
                  <a:xfrm>
                    <a:off x="857" y="3572"/>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5"/>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79" name="Freeform 2205"/>
                  <p:cNvSpPr>
                    <a:spLocks/>
                  </p:cNvSpPr>
                  <p:nvPr/>
                </p:nvSpPr>
                <p:spPr bwMode="auto">
                  <a:xfrm>
                    <a:off x="862" y="3573"/>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80" name="Freeform 2206"/>
                  <p:cNvSpPr>
                    <a:spLocks/>
                  </p:cNvSpPr>
                  <p:nvPr/>
                </p:nvSpPr>
                <p:spPr bwMode="auto">
                  <a:xfrm>
                    <a:off x="865" y="358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61" name="Group 2207"/>
                <p:cNvGrpSpPr>
                  <a:grpSpLocks/>
                </p:cNvGrpSpPr>
                <p:nvPr/>
              </p:nvGrpSpPr>
              <p:grpSpPr bwMode="auto">
                <a:xfrm>
                  <a:off x="870" y="3585"/>
                  <a:ext cx="48" cy="23"/>
                  <a:chOff x="870" y="3585"/>
                  <a:chExt cx="48" cy="23"/>
                </a:xfrm>
              </p:grpSpPr>
              <p:sp>
                <p:nvSpPr>
                  <p:cNvPr id="3175" name="Freeform 2208"/>
                  <p:cNvSpPr>
                    <a:spLocks/>
                  </p:cNvSpPr>
                  <p:nvPr/>
                </p:nvSpPr>
                <p:spPr bwMode="auto">
                  <a:xfrm>
                    <a:off x="870" y="358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6"/>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76" name="Freeform 2209"/>
                  <p:cNvSpPr>
                    <a:spLocks/>
                  </p:cNvSpPr>
                  <p:nvPr/>
                </p:nvSpPr>
                <p:spPr bwMode="auto">
                  <a:xfrm>
                    <a:off x="874" y="3586"/>
                    <a:ext cx="38" cy="10"/>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77" name="Freeform 2210"/>
                  <p:cNvSpPr>
                    <a:spLocks/>
                  </p:cNvSpPr>
                  <p:nvPr/>
                </p:nvSpPr>
                <p:spPr bwMode="auto">
                  <a:xfrm>
                    <a:off x="878"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6"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62" name="Group 2211"/>
                <p:cNvGrpSpPr>
                  <a:grpSpLocks/>
                </p:cNvGrpSpPr>
                <p:nvPr/>
              </p:nvGrpSpPr>
              <p:grpSpPr bwMode="auto">
                <a:xfrm>
                  <a:off x="882" y="3600"/>
                  <a:ext cx="100" cy="73"/>
                  <a:chOff x="882" y="3600"/>
                  <a:chExt cx="100" cy="73"/>
                </a:xfrm>
              </p:grpSpPr>
              <p:grpSp>
                <p:nvGrpSpPr>
                  <p:cNvPr id="3155" name="Group 2212"/>
                  <p:cNvGrpSpPr>
                    <a:grpSpLocks/>
                  </p:cNvGrpSpPr>
                  <p:nvPr/>
                </p:nvGrpSpPr>
                <p:grpSpPr bwMode="auto">
                  <a:xfrm>
                    <a:off x="882" y="3600"/>
                    <a:ext cx="49" cy="23"/>
                    <a:chOff x="882" y="3600"/>
                    <a:chExt cx="49" cy="23"/>
                  </a:xfrm>
                </p:grpSpPr>
                <p:sp>
                  <p:nvSpPr>
                    <p:cNvPr id="3172" name="Freeform 2213"/>
                    <p:cNvSpPr>
                      <a:spLocks/>
                    </p:cNvSpPr>
                    <p:nvPr/>
                  </p:nvSpPr>
                  <p:spPr bwMode="auto">
                    <a:xfrm>
                      <a:off x="882" y="3600"/>
                      <a:ext cx="12" cy="23"/>
                    </a:xfrm>
                    <a:custGeom>
                      <a:avLst/>
                      <a:gdLst>
                        <a:gd name="T0" fmla="*/ 1 w 23"/>
                        <a:gd name="T1" fmla="*/ 0 h 70"/>
                        <a:gd name="T2" fmla="*/ 0 w 23"/>
                        <a:gd name="T3" fmla="*/ 0 h 70"/>
                        <a:gd name="T4" fmla="*/ 1 w 23"/>
                        <a:gd name="T5" fmla="*/ 0 h 70"/>
                        <a:gd name="T6" fmla="*/ 1 w 23"/>
                        <a:gd name="T7" fmla="*/ 0 h 70"/>
                        <a:gd name="T8" fmla="*/ 1 w 23"/>
                        <a:gd name="T9" fmla="*/ 0 h 70"/>
                        <a:gd name="T10" fmla="*/ 0 60000 65536"/>
                        <a:gd name="T11" fmla="*/ 0 60000 65536"/>
                        <a:gd name="T12" fmla="*/ 0 60000 65536"/>
                        <a:gd name="T13" fmla="*/ 0 60000 65536"/>
                        <a:gd name="T14" fmla="*/ 0 60000 65536"/>
                        <a:gd name="T15" fmla="*/ 0 w 23"/>
                        <a:gd name="T16" fmla="*/ 0 h 70"/>
                        <a:gd name="T17" fmla="*/ 23 w 23"/>
                        <a:gd name="T18" fmla="*/ 70 h 70"/>
                      </a:gdLst>
                      <a:ahLst/>
                      <a:cxnLst>
                        <a:cxn ang="T10">
                          <a:pos x="T0" y="T1"/>
                        </a:cxn>
                        <a:cxn ang="T11">
                          <a:pos x="T2" y="T3"/>
                        </a:cxn>
                        <a:cxn ang="T12">
                          <a:pos x="T4" y="T5"/>
                        </a:cxn>
                        <a:cxn ang="T13">
                          <a:pos x="T6" y="T7"/>
                        </a:cxn>
                        <a:cxn ang="T14">
                          <a:pos x="T8" y="T9"/>
                        </a:cxn>
                      </a:cxnLst>
                      <a:rect l="T15" t="T16" r="T17" b="T18"/>
                      <a:pathLst>
                        <a:path w="23" h="70">
                          <a:moveTo>
                            <a:pt x="13" y="70"/>
                          </a:moveTo>
                          <a:lnTo>
                            <a:pt x="0" y="27"/>
                          </a:lnTo>
                          <a:lnTo>
                            <a:pt x="9" y="0"/>
                          </a:lnTo>
                          <a:lnTo>
                            <a:pt x="23"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73" name="Freeform 2214"/>
                    <p:cNvSpPr>
                      <a:spLocks/>
                    </p:cNvSpPr>
                    <p:nvPr/>
                  </p:nvSpPr>
                  <p:spPr bwMode="auto">
                    <a:xfrm>
                      <a:off x="887" y="3600"/>
                      <a:ext cx="37" cy="11"/>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50" y="0"/>
                          </a:lnTo>
                          <a:lnTo>
                            <a:pt x="51"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74" name="Freeform 2215"/>
                    <p:cNvSpPr>
                      <a:spLocks/>
                    </p:cNvSpPr>
                    <p:nvPr/>
                  </p:nvSpPr>
                  <p:spPr bwMode="auto">
                    <a:xfrm>
                      <a:off x="890" y="3611"/>
                      <a:ext cx="41" cy="12"/>
                    </a:xfrm>
                    <a:custGeom>
                      <a:avLst/>
                      <a:gdLst>
                        <a:gd name="T0" fmla="*/ 0 w 83"/>
                        <a:gd name="T1" fmla="*/ 0 h 38"/>
                        <a:gd name="T2" fmla="*/ 0 w 83"/>
                        <a:gd name="T3" fmla="*/ 0 h 38"/>
                        <a:gd name="T4" fmla="*/ 0 w 83"/>
                        <a:gd name="T5" fmla="*/ 0 h 38"/>
                        <a:gd name="T6" fmla="*/ 0 w 83"/>
                        <a:gd name="T7" fmla="*/ 0 h 38"/>
                        <a:gd name="T8" fmla="*/ 0 w 83"/>
                        <a:gd name="T9" fmla="*/ 0 h 38"/>
                        <a:gd name="T10" fmla="*/ 0 w 83"/>
                        <a:gd name="T11" fmla="*/ 0 h 38"/>
                        <a:gd name="T12" fmla="*/ 0 w 83"/>
                        <a:gd name="T13" fmla="*/ 0 h 38"/>
                        <a:gd name="T14" fmla="*/ 0 60000 65536"/>
                        <a:gd name="T15" fmla="*/ 0 60000 65536"/>
                        <a:gd name="T16" fmla="*/ 0 60000 65536"/>
                        <a:gd name="T17" fmla="*/ 0 60000 65536"/>
                        <a:gd name="T18" fmla="*/ 0 60000 65536"/>
                        <a:gd name="T19" fmla="*/ 0 60000 65536"/>
                        <a:gd name="T20" fmla="*/ 0 60000 65536"/>
                        <a:gd name="T21" fmla="*/ 0 w 83"/>
                        <a:gd name="T22" fmla="*/ 0 h 38"/>
                        <a:gd name="T23" fmla="*/ 83 w 83"/>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8">
                          <a:moveTo>
                            <a:pt x="0" y="38"/>
                          </a:moveTo>
                          <a:lnTo>
                            <a:pt x="1" y="22"/>
                          </a:lnTo>
                          <a:lnTo>
                            <a:pt x="8" y="8"/>
                          </a:lnTo>
                          <a:lnTo>
                            <a:pt x="12" y="0"/>
                          </a:lnTo>
                          <a:lnTo>
                            <a:pt x="68" y="0"/>
                          </a:lnTo>
                          <a:lnTo>
                            <a:pt x="83"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56" name="Group 2216"/>
                  <p:cNvGrpSpPr>
                    <a:grpSpLocks/>
                  </p:cNvGrpSpPr>
                  <p:nvPr/>
                </p:nvGrpSpPr>
                <p:grpSpPr bwMode="auto">
                  <a:xfrm>
                    <a:off x="894" y="3612"/>
                    <a:ext cx="49" cy="23"/>
                    <a:chOff x="894" y="3612"/>
                    <a:chExt cx="49" cy="23"/>
                  </a:xfrm>
                </p:grpSpPr>
                <p:sp>
                  <p:nvSpPr>
                    <p:cNvPr id="3169" name="Freeform 2217"/>
                    <p:cNvSpPr>
                      <a:spLocks/>
                    </p:cNvSpPr>
                    <p:nvPr/>
                  </p:nvSpPr>
                  <p:spPr bwMode="auto">
                    <a:xfrm>
                      <a:off x="894" y="3612"/>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9"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70" name="Freeform 2218"/>
                    <p:cNvSpPr>
                      <a:spLocks/>
                    </p:cNvSpPr>
                    <p:nvPr/>
                  </p:nvSpPr>
                  <p:spPr bwMode="auto">
                    <a:xfrm>
                      <a:off x="899" y="3613"/>
                      <a:ext cx="37" cy="10"/>
                    </a:xfrm>
                    <a:custGeom>
                      <a:avLst/>
                      <a:gdLst>
                        <a:gd name="T0" fmla="*/ 0 w 75"/>
                        <a:gd name="T1" fmla="*/ 0 h 32"/>
                        <a:gd name="T2" fmla="*/ 0 w 75"/>
                        <a:gd name="T3" fmla="*/ 0 h 32"/>
                        <a:gd name="T4" fmla="*/ 0 w 75"/>
                        <a:gd name="T5" fmla="*/ 0 h 32"/>
                        <a:gd name="T6" fmla="*/ 0 w 75"/>
                        <a:gd name="T7" fmla="*/ 0 h 32"/>
                        <a:gd name="T8" fmla="*/ 0 w 75"/>
                        <a:gd name="T9" fmla="*/ 0 h 32"/>
                        <a:gd name="T10" fmla="*/ 0 w 75"/>
                        <a:gd name="T11" fmla="*/ 0 h 32"/>
                        <a:gd name="T12" fmla="*/ 0 w 75"/>
                        <a:gd name="T13" fmla="*/ 0 h 32"/>
                        <a:gd name="T14" fmla="*/ 0 w 75"/>
                        <a:gd name="T15" fmla="*/ 0 h 32"/>
                        <a:gd name="T16" fmla="*/ 0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2" y="0"/>
                          </a:moveTo>
                          <a:lnTo>
                            <a:pt x="50" y="0"/>
                          </a:lnTo>
                          <a:lnTo>
                            <a:pt x="52" y="3"/>
                          </a:lnTo>
                          <a:lnTo>
                            <a:pt x="57" y="15"/>
                          </a:lnTo>
                          <a:lnTo>
                            <a:pt x="75" y="32"/>
                          </a:lnTo>
                          <a:lnTo>
                            <a:pt x="19" y="32"/>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71" name="Freeform 2219"/>
                    <p:cNvSpPr>
                      <a:spLocks/>
                    </p:cNvSpPr>
                    <p:nvPr/>
                  </p:nvSpPr>
                  <p:spPr bwMode="auto">
                    <a:xfrm>
                      <a:off x="902" y="362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1"/>
                          </a:lnTo>
                          <a:lnTo>
                            <a:pt x="5" y="8"/>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57" name="Group 2220"/>
                  <p:cNvGrpSpPr>
                    <a:grpSpLocks/>
                  </p:cNvGrpSpPr>
                  <p:nvPr/>
                </p:nvGrpSpPr>
                <p:grpSpPr bwMode="auto">
                  <a:xfrm>
                    <a:off x="907" y="3625"/>
                    <a:ext cx="49" cy="23"/>
                    <a:chOff x="907" y="3625"/>
                    <a:chExt cx="49" cy="23"/>
                  </a:xfrm>
                </p:grpSpPr>
                <p:sp>
                  <p:nvSpPr>
                    <p:cNvPr id="3166" name="Freeform 2221"/>
                    <p:cNvSpPr>
                      <a:spLocks/>
                    </p:cNvSpPr>
                    <p:nvPr/>
                  </p:nvSpPr>
                  <p:spPr bwMode="auto">
                    <a:xfrm>
                      <a:off x="907" y="3625"/>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67" name="Freeform 2222"/>
                    <p:cNvSpPr>
                      <a:spLocks/>
                    </p:cNvSpPr>
                    <p:nvPr/>
                  </p:nvSpPr>
                  <p:spPr bwMode="auto">
                    <a:xfrm>
                      <a:off x="912" y="3626"/>
                      <a:ext cx="36" cy="9"/>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68" name="Freeform 2223"/>
                    <p:cNvSpPr>
                      <a:spLocks/>
                    </p:cNvSpPr>
                    <p:nvPr/>
                  </p:nvSpPr>
                  <p:spPr bwMode="auto">
                    <a:xfrm>
                      <a:off x="914" y="363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58" name="Group 2224"/>
                  <p:cNvGrpSpPr>
                    <a:grpSpLocks/>
                  </p:cNvGrpSpPr>
                  <p:nvPr/>
                </p:nvGrpSpPr>
                <p:grpSpPr bwMode="auto">
                  <a:xfrm>
                    <a:off x="919" y="3638"/>
                    <a:ext cx="49" cy="22"/>
                    <a:chOff x="919" y="3638"/>
                    <a:chExt cx="49" cy="22"/>
                  </a:xfrm>
                </p:grpSpPr>
                <p:sp>
                  <p:nvSpPr>
                    <p:cNvPr id="3163" name="Freeform 2225"/>
                    <p:cNvSpPr>
                      <a:spLocks/>
                    </p:cNvSpPr>
                    <p:nvPr/>
                  </p:nvSpPr>
                  <p:spPr bwMode="auto">
                    <a:xfrm>
                      <a:off x="919" y="3638"/>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64" name="Freeform 2226"/>
                    <p:cNvSpPr>
                      <a:spLocks/>
                    </p:cNvSpPr>
                    <p:nvPr/>
                  </p:nvSpPr>
                  <p:spPr bwMode="auto">
                    <a:xfrm>
                      <a:off x="924" y="363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48" y="0"/>
                          </a:lnTo>
                          <a:lnTo>
                            <a:pt x="52" y="3"/>
                          </a:lnTo>
                          <a:lnTo>
                            <a:pt x="56" y="12"/>
                          </a:lnTo>
                          <a:lnTo>
                            <a:pt x="73"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65" name="Freeform 2227"/>
                    <p:cNvSpPr>
                      <a:spLocks/>
                    </p:cNvSpPr>
                    <p:nvPr/>
                  </p:nvSpPr>
                  <p:spPr bwMode="auto">
                    <a:xfrm>
                      <a:off x="928" y="364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59" name="Group 2228"/>
                  <p:cNvGrpSpPr>
                    <a:grpSpLocks/>
                  </p:cNvGrpSpPr>
                  <p:nvPr/>
                </p:nvGrpSpPr>
                <p:grpSpPr bwMode="auto">
                  <a:xfrm>
                    <a:off x="932" y="3651"/>
                    <a:ext cx="50" cy="22"/>
                    <a:chOff x="932" y="3651"/>
                    <a:chExt cx="50" cy="22"/>
                  </a:xfrm>
                </p:grpSpPr>
                <p:sp>
                  <p:nvSpPr>
                    <p:cNvPr id="3160" name="Freeform 2229"/>
                    <p:cNvSpPr>
                      <a:spLocks/>
                    </p:cNvSpPr>
                    <p:nvPr/>
                  </p:nvSpPr>
                  <p:spPr bwMode="auto">
                    <a:xfrm>
                      <a:off x="932" y="36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11" y="0"/>
                          </a:lnTo>
                          <a:lnTo>
                            <a:pt x="24"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61" name="Freeform 2230"/>
                    <p:cNvSpPr>
                      <a:spLocks/>
                    </p:cNvSpPr>
                    <p:nvPr/>
                  </p:nvSpPr>
                  <p:spPr bwMode="auto">
                    <a:xfrm>
                      <a:off x="937" y="3651"/>
                      <a:ext cx="37"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62" name="Freeform 2231"/>
                    <p:cNvSpPr>
                      <a:spLocks/>
                    </p:cNvSpPr>
                    <p:nvPr/>
                  </p:nvSpPr>
                  <p:spPr bwMode="auto">
                    <a:xfrm>
                      <a:off x="940" y="3662"/>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63" name="Group 2232"/>
                <p:cNvGrpSpPr>
                  <a:grpSpLocks/>
                </p:cNvGrpSpPr>
                <p:nvPr/>
              </p:nvGrpSpPr>
              <p:grpSpPr bwMode="auto">
                <a:xfrm>
                  <a:off x="944" y="3665"/>
                  <a:ext cx="99" cy="74"/>
                  <a:chOff x="944" y="3665"/>
                  <a:chExt cx="99" cy="74"/>
                </a:xfrm>
              </p:grpSpPr>
              <p:grpSp>
                <p:nvGrpSpPr>
                  <p:cNvPr id="3135" name="Group 2233"/>
                  <p:cNvGrpSpPr>
                    <a:grpSpLocks/>
                  </p:cNvGrpSpPr>
                  <p:nvPr/>
                </p:nvGrpSpPr>
                <p:grpSpPr bwMode="auto">
                  <a:xfrm>
                    <a:off x="944" y="3665"/>
                    <a:ext cx="49" cy="23"/>
                    <a:chOff x="944" y="3665"/>
                    <a:chExt cx="49" cy="23"/>
                  </a:xfrm>
                </p:grpSpPr>
                <p:sp>
                  <p:nvSpPr>
                    <p:cNvPr id="3152" name="Freeform 2234"/>
                    <p:cNvSpPr>
                      <a:spLocks/>
                    </p:cNvSpPr>
                    <p:nvPr/>
                  </p:nvSpPr>
                  <p:spPr bwMode="auto">
                    <a:xfrm>
                      <a:off x="944" y="3665"/>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53" name="Freeform 2235"/>
                    <p:cNvSpPr>
                      <a:spLocks/>
                    </p:cNvSpPr>
                    <p:nvPr/>
                  </p:nvSpPr>
                  <p:spPr bwMode="auto">
                    <a:xfrm>
                      <a:off x="949" y="3666"/>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4"/>
                          </a:lnTo>
                          <a:lnTo>
                            <a:pt x="57" y="13"/>
                          </a:lnTo>
                          <a:lnTo>
                            <a:pt x="75" y="31"/>
                          </a:lnTo>
                          <a:lnTo>
                            <a:pt x="19" y="31"/>
                          </a:lnTo>
                          <a:lnTo>
                            <a:pt x="11"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54" name="Freeform 2236"/>
                    <p:cNvSpPr>
                      <a:spLocks/>
                    </p:cNvSpPr>
                    <p:nvPr/>
                  </p:nvSpPr>
                  <p:spPr bwMode="auto">
                    <a:xfrm>
                      <a:off x="953" y="367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36" name="Group 2237"/>
                  <p:cNvGrpSpPr>
                    <a:grpSpLocks/>
                  </p:cNvGrpSpPr>
                  <p:nvPr/>
                </p:nvGrpSpPr>
                <p:grpSpPr bwMode="auto">
                  <a:xfrm>
                    <a:off x="957" y="3678"/>
                    <a:ext cx="48" cy="23"/>
                    <a:chOff x="957" y="3678"/>
                    <a:chExt cx="48" cy="23"/>
                  </a:xfrm>
                </p:grpSpPr>
                <p:sp>
                  <p:nvSpPr>
                    <p:cNvPr id="3149" name="Freeform 2238"/>
                    <p:cNvSpPr>
                      <a:spLocks/>
                    </p:cNvSpPr>
                    <p:nvPr/>
                  </p:nvSpPr>
                  <p:spPr bwMode="auto">
                    <a:xfrm>
                      <a:off x="957" y="3678"/>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3" y="70"/>
                          </a:moveTo>
                          <a:lnTo>
                            <a:pt x="0" y="27"/>
                          </a:lnTo>
                          <a:lnTo>
                            <a:pt x="9" y="0"/>
                          </a:lnTo>
                          <a:lnTo>
                            <a:pt x="24"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50" name="Freeform 2239"/>
                    <p:cNvSpPr>
                      <a:spLocks/>
                    </p:cNvSpPr>
                    <p:nvPr/>
                  </p:nvSpPr>
                  <p:spPr bwMode="auto">
                    <a:xfrm>
                      <a:off x="961" y="3678"/>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3"/>
                          </a:lnTo>
                          <a:lnTo>
                            <a:pt x="56" y="12"/>
                          </a:lnTo>
                          <a:lnTo>
                            <a:pt x="74"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51" name="Freeform 2240"/>
                    <p:cNvSpPr>
                      <a:spLocks/>
                    </p:cNvSpPr>
                    <p:nvPr/>
                  </p:nvSpPr>
                  <p:spPr bwMode="auto">
                    <a:xfrm>
                      <a:off x="964" y="3688"/>
                      <a:ext cx="41"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1"/>
                          </a:lnTo>
                          <a:lnTo>
                            <a:pt x="7" y="8"/>
                          </a:lnTo>
                          <a:lnTo>
                            <a:pt x="11" y="0"/>
                          </a:lnTo>
                          <a:lnTo>
                            <a:pt x="68"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37" name="Group 2241"/>
                  <p:cNvGrpSpPr>
                    <a:grpSpLocks/>
                  </p:cNvGrpSpPr>
                  <p:nvPr/>
                </p:nvGrpSpPr>
                <p:grpSpPr bwMode="auto">
                  <a:xfrm>
                    <a:off x="969" y="3690"/>
                    <a:ext cx="49" cy="23"/>
                    <a:chOff x="969" y="3690"/>
                    <a:chExt cx="49" cy="23"/>
                  </a:xfrm>
                </p:grpSpPr>
                <p:sp>
                  <p:nvSpPr>
                    <p:cNvPr id="3146" name="Freeform 2242"/>
                    <p:cNvSpPr>
                      <a:spLocks/>
                    </p:cNvSpPr>
                    <p:nvPr/>
                  </p:nvSpPr>
                  <p:spPr bwMode="auto">
                    <a:xfrm>
                      <a:off x="969" y="369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9"/>
                          </a:lnTo>
                          <a:lnTo>
                            <a:pt x="9" y="0"/>
                          </a:lnTo>
                          <a:lnTo>
                            <a:pt x="25" y="33"/>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47" name="Freeform 2243"/>
                    <p:cNvSpPr>
                      <a:spLocks/>
                    </p:cNvSpPr>
                    <p:nvPr/>
                  </p:nvSpPr>
                  <p:spPr bwMode="auto">
                    <a:xfrm>
                      <a:off x="974" y="3691"/>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9"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48" name="Freeform 2244"/>
                    <p:cNvSpPr>
                      <a:spLocks/>
                    </p:cNvSpPr>
                    <p:nvPr/>
                  </p:nvSpPr>
                  <p:spPr bwMode="auto">
                    <a:xfrm>
                      <a:off x="977" y="370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6" y="7"/>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38" name="Group 2245"/>
                  <p:cNvGrpSpPr>
                    <a:grpSpLocks/>
                  </p:cNvGrpSpPr>
                  <p:nvPr/>
                </p:nvGrpSpPr>
                <p:grpSpPr bwMode="auto">
                  <a:xfrm>
                    <a:off x="982" y="3703"/>
                    <a:ext cx="49" cy="23"/>
                    <a:chOff x="982" y="3703"/>
                    <a:chExt cx="49" cy="23"/>
                  </a:xfrm>
                </p:grpSpPr>
                <p:sp>
                  <p:nvSpPr>
                    <p:cNvPr id="3143" name="Freeform 2246"/>
                    <p:cNvSpPr>
                      <a:spLocks/>
                    </p:cNvSpPr>
                    <p:nvPr/>
                  </p:nvSpPr>
                  <p:spPr bwMode="auto">
                    <a:xfrm>
                      <a:off x="982"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44" name="Freeform 2247"/>
                    <p:cNvSpPr>
                      <a:spLocks/>
                    </p:cNvSpPr>
                    <p:nvPr/>
                  </p:nvSpPr>
                  <p:spPr bwMode="auto">
                    <a:xfrm>
                      <a:off x="987" y="3703"/>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45" name="Freeform 2248"/>
                    <p:cNvSpPr>
                      <a:spLocks/>
                    </p:cNvSpPr>
                    <p:nvPr/>
                  </p:nvSpPr>
                  <p:spPr bwMode="auto">
                    <a:xfrm>
                      <a:off x="989" y="3714"/>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39" name="Group 2249"/>
                  <p:cNvGrpSpPr>
                    <a:grpSpLocks/>
                  </p:cNvGrpSpPr>
                  <p:nvPr/>
                </p:nvGrpSpPr>
                <p:grpSpPr bwMode="auto">
                  <a:xfrm>
                    <a:off x="995" y="3716"/>
                    <a:ext cx="48" cy="23"/>
                    <a:chOff x="995" y="3716"/>
                    <a:chExt cx="48" cy="23"/>
                  </a:xfrm>
                </p:grpSpPr>
                <p:sp>
                  <p:nvSpPr>
                    <p:cNvPr id="3140" name="Freeform 2250"/>
                    <p:cNvSpPr>
                      <a:spLocks/>
                    </p:cNvSpPr>
                    <p:nvPr/>
                  </p:nvSpPr>
                  <p:spPr bwMode="auto">
                    <a:xfrm>
                      <a:off x="995" y="3716"/>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0"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41" name="Freeform 2251"/>
                    <p:cNvSpPr>
                      <a:spLocks/>
                    </p:cNvSpPr>
                    <p:nvPr/>
                  </p:nvSpPr>
                  <p:spPr bwMode="auto">
                    <a:xfrm>
                      <a:off x="999" y="3717"/>
                      <a:ext cx="38"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2" y="3"/>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42" name="Freeform 2252"/>
                    <p:cNvSpPr>
                      <a:spLocks/>
                    </p:cNvSpPr>
                    <p:nvPr/>
                  </p:nvSpPr>
                  <p:spPr bwMode="auto">
                    <a:xfrm>
                      <a:off x="1003" y="3727"/>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5" y="7"/>
                          </a:lnTo>
                          <a:lnTo>
                            <a:pt x="11"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64" name="Group 2253"/>
                <p:cNvGrpSpPr>
                  <a:grpSpLocks/>
                </p:cNvGrpSpPr>
                <p:nvPr/>
              </p:nvGrpSpPr>
              <p:grpSpPr bwMode="auto">
                <a:xfrm>
                  <a:off x="1005" y="3727"/>
                  <a:ext cx="49" cy="23"/>
                  <a:chOff x="1005" y="3727"/>
                  <a:chExt cx="49" cy="23"/>
                </a:xfrm>
              </p:grpSpPr>
              <p:sp>
                <p:nvSpPr>
                  <p:cNvPr id="3132" name="Freeform 2254"/>
                  <p:cNvSpPr>
                    <a:spLocks/>
                  </p:cNvSpPr>
                  <p:nvPr/>
                </p:nvSpPr>
                <p:spPr bwMode="auto">
                  <a:xfrm>
                    <a:off x="1005" y="372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2"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33" name="Freeform 2255"/>
                  <p:cNvSpPr>
                    <a:spLocks/>
                  </p:cNvSpPr>
                  <p:nvPr/>
                </p:nvSpPr>
                <p:spPr bwMode="auto">
                  <a:xfrm>
                    <a:off x="1010"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8" y="0"/>
                        </a:lnTo>
                        <a:lnTo>
                          <a:pt x="51" y="4"/>
                        </a:lnTo>
                        <a:lnTo>
                          <a:pt x="56" y="13"/>
                        </a:lnTo>
                        <a:lnTo>
                          <a:pt x="73" y="31"/>
                        </a:lnTo>
                        <a:lnTo>
                          <a:pt x="18" y="31"/>
                        </a:lnTo>
                        <a:lnTo>
                          <a:pt x="9"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34" name="Freeform 2256"/>
                  <p:cNvSpPr>
                    <a:spLocks/>
                  </p:cNvSpPr>
                  <p:nvPr/>
                </p:nvSpPr>
                <p:spPr bwMode="auto">
                  <a:xfrm>
                    <a:off x="1013"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65" name="Group 2257"/>
                <p:cNvGrpSpPr>
                  <a:grpSpLocks/>
                </p:cNvGrpSpPr>
                <p:nvPr/>
              </p:nvGrpSpPr>
              <p:grpSpPr bwMode="auto">
                <a:xfrm>
                  <a:off x="1018" y="3740"/>
                  <a:ext cx="49" cy="22"/>
                  <a:chOff x="1018" y="3740"/>
                  <a:chExt cx="49" cy="22"/>
                </a:xfrm>
              </p:grpSpPr>
              <p:sp>
                <p:nvSpPr>
                  <p:cNvPr id="3129" name="Freeform 2258"/>
                  <p:cNvSpPr>
                    <a:spLocks/>
                  </p:cNvSpPr>
                  <p:nvPr/>
                </p:nvSpPr>
                <p:spPr bwMode="auto">
                  <a:xfrm>
                    <a:off x="1018" y="374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30" name="Freeform 2259"/>
                  <p:cNvSpPr>
                    <a:spLocks/>
                  </p:cNvSpPr>
                  <p:nvPr/>
                </p:nvSpPr>
                <p:spPr bwMode="auto">
                  <a:xfrm>
                    <a:off x="1022" y="3740"/>
                    <a:ext cx="38"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49" y="0"/>
                        </a:lnTo>
                        <a:lnTo>
                          <a:pt x="51" y="4"/>
                        </a:lnTo>
                        <a:lnTo>
                          <a:pt x="57"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31" name="Freeform 2260"/>
                  <p:cNvSpPr>
                    <a:spLocks/>
                  </p:cNvSpPr>
                  <p:nvPr/>
                </p:nvSpPr>
                <p:spPr bwMode="auto">
                  <a:xfrm>
                    <a:off x="1026" y="3750"/>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66" name="Group 2261"/>
                <p:cNvGrpSpPr>
                  <a:grpSpLocks/>
                </p:cNvGrpSpPr>
                <p:nvPr/>
              </p:nvGrpSpPr>
              <p:grpSpPr bwMode="auto">
                <a:xfrm>
                  <a:off x="1030" y="3753"/>
                  <a:ext cx="49" cy="23"/>
                  <a:chOff x="1030" y="3753"/>
                  <a:chExt cx="49" cy="23"/>
                </a:xfrm>
              </p:grpSpPr>
              <p:sp>
                <p:nvSpPr>
                  <p:cNvPr id="3126" name="Freeform 2262"/>
                  <p:cNvSpPr>
                    <a:spLocks/>
                  </p:cNvSpPr>
                  <p:nvPr/>
                </p:nvSpPr>
                <p:spPr bwMode="auto">
                  <a:xfrm>
                    <a:off x="1030" y="375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2"/>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27" name="Freeform 2263"/>
                  <p:cNvSpPr>
                    <a:spLocks/>
                  </p:cNvSpPr>
                  <p:nvPr/>
                </p:nvSpPr>
                <p:spPr bwMode="auto">
                  <a:xfrm>
                    <a:off x="1035" y="3753"/>
                    <a:ext cx="37" cy="11"/>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1" y="0"/>
                        </a:lnTo>
                        <a:lnTo>
                          <a:pt x="52" y="4"/>
                        </a:lnTo>
                        <a:lnTo>
                          <a:pt x="56"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28" name="Freeform 2264"/>
                  <p:cNvSpPr>
                    <a:spLocks/>
                  </p:cNvSpPr>
                  <p:nvPr/>
                </p:nvSpPr>
                <p:spPr bwMode="auto">
                  <a:xfrm>
                    <a:off x="1039" y="3764"/>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7"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867" name="Freeform 2265"/>
                <p:cNvSpPr>
                  <a:spLocks/>
                </p:cNvSpPr>
                <p:nvPr/>
              </p:nvSpPr>
              <p:spPr bwMode="auto">
                <a:xfrm>
                  <a:off x="778" y="353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3" y="68"/>
                      </a:moveTo>
                      <a:lnTo>
                        <a:pt x="0" y="27"/>
                      </a:lnTo>
                      <a:lnTo>
                        <a:pt x="9" y="0"/>
                      </a:lnTo>
                      <a:lnTo>
                        <a:pt x="24"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68" name="Freeform 2266"/>
                <p:cNvSpPr>
                  <a:spLocks/>
                </p:cNvSpPr>
                <p:nvPr/>
              </p:nvSpPr>
              <p:spPr bwMode="auto">
                <a:xfrm>
                  <a:off x="783" y="3535"/>
                  <a:ext cx="36" cy="11"/>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50" y="0"/>
                      </a:lnTo>
                      <a:lnTo>
                        <a:pt x="51" y="4"/>
                      </a:lnTo>
                      <a:lnTo>
                        <a:pt x="57" y="13"/>
                      </a:lnTo>
                      <a:lnTo>
                        <a:pt x="72" y="31"/>
                      </a:lnTo>
                      <a:lnTo>
                        <a:pt x="18" y="31"/>
                      </a:lnTo>
                      <a:lnTo>
                        <a:pt x="9" y="22"/>
                      </a:lnTo>
                      <a:lnTo>
                        <a:pt x="0" y="7"/>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69" name="Freeform 2267"/>
                <p:cNvSpPr>
                  <a:spLocks/>
                </p:cNvSpPr>
                <p:nvPr/>
              </p:nvSpPr>
              <p:spPr bwMode="auto">
                <a:xfrm>
                  <a:off x="786" y="3546"/>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1"/>
                      </a:lnTo>
                      <a:lnTo>
                        <a:pt x="7" y="8"/>
                      </a:lnTo>
                      <a:lnTo>
                        <a:pt x="12"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870" name="Group 2268"/>
                <p:cNvGrpSpPr>
                  <a:grpSpLocks/>
                </p:cNvGrpSpPr>
                <p:nvPr/>
              </p:nvGrpSpPr>
              <p:grpSpPr bwMode="auto">
                <a:xfrm>
                  <a:off x="790" y="3547"/>
                  <a:ext cx="49" cy="23"/>
                  <a:chOff x="790" y="3547"/>
                  <a:chExt cx="49" cy="23"/>
                </a:xfrm>
              </p:grpSpPr>
              <p:sp>
                <p:nvSpPr>
                  <p:cNvPr id="3123" name="Freeform 2269"/>
                  <p:cNvSpPr>
                    <a:spLocks/>
                  </p:cNvSpPr>
                  <p:nvPr/>
                </p:nvSpPr>
                <p:spPr bwMode="auto">
                  <a:xfrm>
                    <a:off x="790" y="3547"/>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24" name="Freeform 2270"/>
                  <p:cNvSpPr>
                    <a:spLocks/>
                  </p:cNvSpPr>
                  <p:nvPr/>
                </p:nvSpPr>
                <p:spPr bwMode="auto">
                  <a:xfrm>
                    <a:off x="795" y="3548"/>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25" name="Freeform 2271"/>
                  <p:cNvSpPr>
                    <a:spLocks/>
                  </p:cNvSpPr>
                  <p:nvPr/>
                </p:nvSpPr>
                <p:spPr bwMode="auto">
                  <a:xfrm>
                    <a:off x="798" y="355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71" name="Group 2272"/>
                <p:cNvGrpSpPr>
                  <a:grpSpLocks/>
                </p:cNvGrpSpPr>
                <p:nvPr/>
              </p:nvGrpSpPr>
              <p:grpSpPr bwMode="auto">
                <a:xfrm>
                  <a:off x="803" y="3560"/>
                  <a:ext cx="49" cy="22"/>
                  <a:chOff x="803" y="3560"/>
                  <a:chExt cx="49" cy="22"/>
                </a:xfrm>
              </p:grpSpPr>
              <p:sp>
                <p:nvSpPr>
                  <p:cNvPr id="3120" name="Freeform 2273"/>
                  <p:cNvSpPr>
                    <a:spLocks/>
                  </p:cNvSpPr>
                  <p:nvPr/>
                </p:nvSpPr>
                <p:spPr bwMode="auto">
                  <a:xfrm>
                    <a:off x="803" y="3560"/>
                    <a:ext cx="12" cy="22"/>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21" name="Freeform 2274"/>
                  <p:cNvSpPr>
                    <a:spLocks/>
                  </p:cNvSpPr>
                  <p:nvPr/>
                </p:nvSpPr>
                <p:spPr bwMode="auto">
                  <a:xfrm>
                    <a:off x="808" y="356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22" name="Freeform 2275"/>
                  <p:cNvSpPr>
                    <a:spLocks/>
                  </p:cNvSpPr>
                  <p:nvPr/>
                </p:nvSpPr>
                <p:spPr bwMode="auto">
                  <a:xfrm>
                    <a:off x="811" y="3571"/>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2"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72" name="Group 2276"/>
                <p:cNvGrpSpPr>
                  <a:grpSpLocks/>
                </p:cNvGrpSpPr>
                <p:nvPr/>
              </p:nvGrpSpPr>
              <p:grpSpPr bwMode="auto">
                <a:xfrm>
                  <a:off x="815" y="3572"/>
                  <a:ext cx="50" cy="23"/>
                  <a:chOff x="815" y="3572"/>
                  <a:chExt cx="50" cy="23"/>
                </a:xfrm>
              </p:grpSpPr>
              <p:sp>
                <p:nvSpPr>
                  <p:cNvPr id="3117" name="Freeform 2277"/>
                  <p:cNvSpPr>
                    <a:spLocks/>
                  </p:cNvSpPr>
                  <p:nvPr/>
                </p:nvSpPr>
                <p:spPr bwMode="auto">
                  <a:xfrm>
                    <a:off x="815" y="3572"/>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0"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18" name="Freeform 2278"/>
                  <p:cNvSpPr>
                    <a:spLocks/>
                  </p:cNvSpPr>
                  <p:nvPr/>
                </p:nvSpPr>
                <p:spPr bwMode="auto">
                  <a:xfrm>
                    <a:off x="820" y="3573"/>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19" name="Freeform 2279"/>
                  <p:cNvSpPr>
                    <a:spLocks/>
                  </p:cNvSpPr>
                  <p:nvPr/>
                </p:nvSpPr>
                <p:spPr bwMode="auto">
                  <a:xfrm>
                    <a:off x="824" y="3583"/>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6" y="7"/>
                        </a:lnTo>
                        <a:lnTo>
                          <a:pt x="10"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73" name="Group 2280"/>
                <p:cNvGrpSpPr>
                  <a:grpSpLocks/>
                </p:cNvGrpSpPr>
                <p:nvPr/>
              </p:nvGrpSpPr>
              <p:grpSpPr bwMode="auto">
                <a:xfrm>
                  <a:off x="828" y="3585"/>
                  <a:ext cx="49" cy="23"/>
                  <a:chOff x="828" y="3585"/>
                  <a:chExt cx="49" cy="23"/>
                </a:xfrm>
              </p:grpSpPr>
              <p:sp>
                <p:nvSpPr>
                  <p:cNvPr id="3114" name="Freeform 2281"/>
                  <p:cNvSpPr>
                    <a:spLocks/>
                  </p:cNvSpPr>
                  <p:nvPr/>
                </p:nvSpPr>
                <p:spPr bwMode="auto">
                  <a:xfrm>
                    <a:off x="828" y="358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9"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15" name="Freeform 2282"/>
                  <p:cNvSpPr>
                    <a:spLocks/>
                  </p:cNvSpPr>
                  <p:nvPr/>
                </p:nvSpPr>
                <p:spPr bwMode="auto">
                  <a:xfrm>
                    <a:off x="833" y="358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16" name="Freeform 2283"/>
                  <p:cNvSpPr>
                    <a:spLocks/>
                  </p:cNvSpPr>
                  <p:nvPr/>
                </p:nvSpPr>
                <p:spPr bwMode="auto">
                  <a:xfrm>
                    <a:off x="837"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5"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74" name="Group 2284"/>
                <p:cNvGrpSpPr>
                  <a:grpSpLocks/>
                </p:cNvGrpSpPr>
                <p:nvPr/>
              </p:nvGrpSpPr>
              <p:grpSpPr bwMode="auto">
                <a:xfrm>
                  <a:off x="840" y="3600"/>
                  <a:ext cx="100" cy="73"/>
                  <a:chOff x="840" y="3600"/>
                  <a:chExt cx="100" cy="73"/>
                </a:xfrm>
              </p:grpSpPr>
              <p:grpSp>
                <p:nvGrpSpPr>
                  <p:cNvPr id="3094" name="Group 2285"/>
                  <p:cNvGrpSpPr>
                    <a:grpSpLocks/>
                  </p:cNvGrpSpPr>
                  <p:nvPr/>
                </p:nvGrpSpPr>
                <p:grpSpPr bwMode="auto">
                  <a:xfrm>
                    <a:off x="840" y="3600"/>
                    <a:ext cx="49" cy="23"/>
                    <a:chOff x="840" y="3600"/>
                    <a:chExt cx="49" cy="23"/>
                  </a:xfrm>
                </p:grpSpPr>
                <p:sp>
                  <p:nvSpPr>
                    <p:cNvPr id="3111" name="Freeform 2286"/>
                    <p:cNvSpPr>
                      <a:spLocks/>
                    </p:cNvSpPr>
                    <p:nvPr/>
                  </p:nvSpPr>
                  <p:spPr bwMode="auto">
                    <a:xfrm>
                      <a:off x="840" y="360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7"/>
                          </a:lnTo>
                          <a:lnTo>
                            <a:pt x="10" y="0"/>
                          </a:lnTo>
                          <a:lnTo>
                            <a:pt x="25" y="31"/>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12" name="Freeform 2287"/>
                    <p:cNvSpPr>
                      <a:spLocks/>
                    </p:cNvSpPr>
                    <p:nvPr/>
                  </p:nvSpPr>
                  <p:spPr bwMode="auto">
                    <a:xfrm>
                      <a:off x="845" y="3600"/>
                      <a:ext cx="37" cy="11"/>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13" name="Freeform 2288"/>
                    <p:cNvSpPr>
                      <a:spLocks/>
                    </p:cNvSpPr>
                    <p:nvPr/>
                  </p:nvSpPr>
                  <p:spPr bwMode="auto">
                    <a:xfrm>
                      <a:off x="848" y="3611"/>
                      <a:ext cx="41" cy="12"/>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8"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95" name="Group 2289"/>
                  <p:cNvGrpSpPr>
                    <a:grpSpLocks/>
                  </p:cNvGrpSpPr>
                  <p:nvPr/>
                </p:nvGrpSpPr>
                <p:grpSpPr bwMode="auto">
                  <a:xfrm>
                    <a:off x="853" y="3612"/>
                    <a:ext cx="48" cy="23"/>
                    <a:chOff x="853" y="3612"/>
                    <a:chExt cx="48" cy="23"/>
                  </a:xfrm>
                </p:grpSpPr>
                <p:sp>
                  <p:nvSpPr>
                    <p:cNvPr id="3108" name="Freeform 2290"/>
                    <p:cNvSpPr>
                      <a:spLocks/>
                    </p:cNvSpPr>
                    <p:nvPr/>
                  </p:nvSpPr>
                  <p:spPr bwMode="auto">
                    <a:xfrm>
                      <a:off x="853"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10"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09" name="Freeform 2291"/>
                    <p:cNvSpPr>
                      <a:spLocks/>
                    </p:cNvSpPr>
                    <p:nvPr/>
                  </p:nvSpPr>
                  <p:spPr bwMode="auto">
                    <a:xfrm>
                      <a:off x="857" y="3613"/>
                      <a:ext cx="37" cy="10"/>
                    </a:xfrm>
                    <a:custGeom>
                      <a:avLst/>
                      <a:gdLst>
                        <a:gd name="T0" fmla="*/ 1 w 73"/>
                        <a:gd name="T1" fmla="*/ 0 h 32"/>
                        <a:gd name="T2" fmla="*/ 1 w 73"/>
                        <a:gd name="T3" fmla="*/ 0 h 32"/>
                        <a:gd name="T4" fmla="*/ 1 w 73"/>
                        <a:gd name="T5" fmla="*/ 0 h 32"/>
                        <a:gd name="T6" fmla="*/ 1 w 73"/>
                        <a:gd name="T7" fmla="*/ 0 h 32"/>
                        <a:gd name="T8" fmla="*/ 1 w 73"/>
                        <a:gd name="T9" fmla="*/ 0 h 32"/>
                        <a:gd name="T10" fmla="*/ 1 w 73"/>
                        <a:gd name="T11" fmla="*/ 0 h 32"/>
                        <a:gd name="T12" fmla="*/ 1 w 73"/>
                        <a:gd name="T13" fmla="*/ 0 h 32"/>
                        <a:gd name="T14" fmla="*/ 0 w 73"/>
                        <a:gd name="T15" fmla="*/ 0 h 32"/>
                        <a:gd name="T16" fmla="*/ 1 w 73"/>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2"/>
                        <a:gd name="T29" fmla="*/ 73 w 73"/>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2">
                          <a:moveTo>
                            <a:pt x="1" y="0"/>
                          </a:moveTo>
                          <a:lnTo>
                            <a:pt x="50" y="0"/>
                          </a:lnTo>
                          <a:lnTo>
                            <a:pt x="51" y="3"/>
                          </a:lnTo>
                          <a:lnTo>
                            <a:pt x="56" y="15"/>
                          </a:lnTo>
                          <a:lnTo>
                            <a:pt x="73" y="32"/>
                          </a:lnTo>
                          <a:lnTo>
                            <a:pt x="18" y="32"/>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10" name="Freeform 2292"/>
                    <p:cNvSpPr>
                      <a:spLocks/>
                    </p:cNvSpPr>
                    <p:nvPr/>
                  </p:nvSpPr>
                  <p:spPr bwMode="auto">
                    <a:xfrm>
                      <a:off x="860" y="362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96" name="Group 2293"/>
                  <p:cNvGrpSpPr>
                    <a:grpSpLocks/>
                  </p:cNvGrpSpPr>
                  <p:nvPr/>
                </p:nvGrpSpPr>
                <p:grpSpPr bwMode="auto">
                  <a:xfrm>
                    <a:off x="865" y="3625"/>
                    <a:ext cx="49" cy="23"/>
                    <a:chOff x="865" y="3625"/>
                    <a:chExt cx="49" cy="23"/>
                  </a:xfrm>
                </p:grpSpPr>
                <p:sp>
                  <p:nvSpPr>
                    <p:cNvPr id="3105" name="Freeform 2294"/>
                    <p:cNvSpPr>
                      <a:spLocks/>
                    </p:cNvSpPr>
                    <p:nvPr/>
                  </p:nvSpPr>
                  <p:spPr bwMode="auto">
                    <a:xfrm>
                      <a:off x="865" y="362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06" name="Freeform 2295"/>
                    <p:cNvSpPr>
                      <a:spLocks/>
                    </p:cNvSpPr>
                    <p:nvPr/>
                  </p:nvSpPr>
                  <p:spPr bwMode="auto">
                    <a:xfrm>
                      <a:off x="870"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2"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07" name="Freeform 2296"/>
                    <p:cNvSpPr>
                      <a:spLocks/>
                    </p:cNvSpPr>
                    <p:nvPr/>
                  </p:nvSpPr>
                  <p:spPr bwMode="auto">
                    <a:xfrm>
                      <a:off x="873" y="363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97" name="Group 2297"/>
                  <p:cNvGrpSpPr>
                    <a:grpSpLocks/>
                  </p:cNvGrpSpPr>
                  <p:nvPr/>
                </p:nvGrpSpPr>
                <p:grpSpPr bwMode="auto">
                  <a:xfrm>
                    <a:off x="878" y="3638"/>
                    <a:ext cx="49" cy="22"/>
                    <a:chOff x="878" y="3638"/>
                    <a:chExt cx="49" cy="22"/>
                  </a:xfrm>
                </p:grpSpPr>
                <p:sp>
                  <p:nvSpPr>
                    <p:cNvPr id="3102" name="Freeform 2298"/>
                    <p:cNvSpPr>
                      <a:spLocks/>
                    </p:cNvSpPr>
                    <p:nvPr/>
                  </p:nvSpPr>
                  <p:spPr bwMode="auto">
                    <a:xfrm>
                      <a:off x="878"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03" name="Freeform 2299"/>
                    <p:cNvSpPr>
                      <a:spLocks/>
                    </p:cNvSpPr>
                    <p:nvPr/>
                  </p:nvSpPr>
                  <p:spPr bwMode="auto">
                    <a:xfrm>
                      <a:off x="883"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6" y="12"/>
                          </a:lnTo>
                          <a:lnTo>
                            <a:pt x="72"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04" name="Freeform 2300"/>
                    <p:cNvSpPr>
                      <a:spLocks/>
                    </p:cNvSpPr>
                    <p:nvPr/>
                  </p:nvSpPr>
                  <p:spPr bwMode="auto">
                    <a:xfrm>
                      <a:off x="886" y="364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98" name="Group 2301"/>
                  <p:cNvGrpSpPr>
                    <a:grpSpLocks/>
                  </p:cNvGrpSpPr>
                  <p:nvPr/>
                </p:nvGrpSpPr>
                <p:grpSpPr bwMode="auto">
                  <a:xfrm>
                    <a:off x="890" y="3651"/>
                    <a:ext cx="50" cy="22"/>
                    <a:chOff x="890" y="3651"/>
                    <a:chExt cx="50" cy="22"/>
                  </a:xfrm>
                </p:grpSpPr>
                <p:sp>
                  <p:nvSpPr>
                    <p:cNvPr id="3099" name="Freeform 2302"/>
                    <p:cNvSpPr>
                      <a:spLocks/>
                    </p:cNvSpPr>
                    <p:nvPr/>
                  </p:nvSpPr>
                  <p:spPr bwMode="auto">
                    <a:xfrm>
                      <a:off x="890" y="3651"/>
                      <a:ext cx="13" cy="22"/>
                    </a:xfrm>
                    <a:custGeom>
                      <a:avLst/>
                      <a:gdLst>
                        <a:gd name="T0" fmla="*/ 1 w 25"/>
                        <a:gd name="T1" fmla="*/ 0 h 67"/>
                        <a:gd name="T2" fmla="*/ 0 w 25"/>
                        <a:gd name="T3" fmla="*/ 0 h 67"/>
                        <a:gd name="T4" fmla="*/ 1 w 25"/>
                        <a:gd name="T5" fmla="*/ 0 h 67"/>
                        <a:gd name="T6" fmla="*/ 1 w 25"/>
                        <a:gd name="T7" fmla="*/ 0 h 67"/>
                        <a:gd name="T8" fmla="*/ 1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6" y="67"/>
                          </a:moveTo>
                          <a:lnTo>
                            <a:pt x="0" y="26"/>
                          </a:lnTo>
                          <a:lnTo>
                            <a:pt x="12" y="0"/>
                          </a:lnTo>
                          <a:lnTo>
                            <a:pt x="25" y="30"/>
                          </a:lnTo>
                          <a:lnTo>
                            <a:pt x="16"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00" name="Freeform 2303"/>
                    <p:cNvSpPr>
                      <a:spLocks/>
                    </p:cNvSpPr>
                    <p:nvPr/>
                  </p:nvSpPr>
                  <p:spPr bwMode="auto">
                    <a:xfrm>
                      <a:off x="895" y="3651"/>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8" y="0"/>
                          </a:lnTo>
                          <a:lnTo>
                            <a:pt x="51" y="2"/>
                          </a:lnTo>
                          <a:lnTo>
                            <a:pt x="56" y="11"/>
                          </a:lnTo>
                          <a:lnTo>
                            <a:pt x="73" y="29"/>
                          </a:lnTo>
                          <a:lnTo>
                            <a:pt x="18"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01" name="Freeform 2304"/>
                    <p:cNvSpPr>
                      <a:spLocks/>
                    </p:cNvSpPr>
                    <p:nvPr/>
                  </p:nvSpPr>
                  <p:spPr bwMode="auto">
                    <a:xfrm>
                      <a:off x="899" y="3662"/>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75" name="Group 2305"/>
                <p:cNvGrpSpPr>
                  <a:grpSpLocks/>
                </p:cNvGrpSpPr>
                <p:nvPr/>
              </p:nvGrpSpPr>
              <p:grpSpPr bwMode="auto">
                <a:xfrm>
                  <a:off x="903" y="3665"/>
                  <a:ext cx="99" cy="74"/>
                  <a:chOff x="903" y="3665"/>
                  <a:chExt cx="99" cy="74"/>
                </a:xfrm>
              </p:grpSpPr>
              <p:grpSp>
                <p:nvGrpSpPr>
                  <p:cNvPr id="3074" name="Group 2306"/>
                  <p:cNvGrpSpPr>
                    <a:grpSpLocks/>
                  </p:cNvGrpSpPr>
                  <p:nvPr/>
                </p:nvGrpSpPr>
                <p:grpSpPr bwMode="auto">
                  <a:xfrm>
                    <a:off x="903" y="3665"/>
                    <a:ext cx="49" cy="23"/>
                    <a:chOff x="903" y="3665"/>
                    <a:chExt cx="49" cy="23"/>
                  </a:xfrm>
                </p:grpSpPr>
                <p:sp>
                  <p:nvSpPr>
                    <p:cNvPr id="3091" name="Freeform 2307"/>
                    <p:cNvSpPr>
                      <a:spLocks/>
                    </p:cNvSpPr>
                    <p:nvPr/>
                  </p:nvSpPr>
                  <p:spPr bwMode="auto">
                    <a:xfrm>
                      <a:off x="903"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0"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92" name="Freeform 2308"/>
                    <p:cNvSpPr>
                      <a:spLocks/>
                    </p:cNvSpPr>
                    <p:nvPr/>
                  </p:nvSpPr>
                  <p:spPr bwMode="auto">
                    <a:xfrm>
                      <a:off x="907" y="3666"/>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9" y="0"/>
                          </a:lnTo>
                          <a:lnTo>
                            <a:pt x="51" y="4"/>
                          </a:lnTo>
                          <a:lnTo>
                            <a:pt x="56" y="13"/>
                          </a:lnTo>
                          <a:lnTo>
                            <a:pt x="73"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93" name="Freeform 2309"/>
                    <p:cNvSpPr>
                      <a:spLocks/>
                    </p:cNvSpPr>
                    <p:nvPr/>
                  </p:nvSpPr>
                  <p:spPr bwMode="auto">
                    <a:xfrm>
                      <a:off x="911" y="367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75" name="Group 2310"/>
                  <p:cNvGrpSpPr>
                    <a:grpSpLocks/>
                  </p:cNvGrpSpPr>
                  <p:nvPr/>
                </p:nvGrpSpPr>
                <p:grpSpPr bwMode="auto">
                  <a:xfrm>
                    <a:off x="914" y="3678"/>
                    <a:ext cx="49" cy="23"/>
                    <a:chOff x="914" y="3678"/>
                    <a:chExt cx="49" cy="23"/>
                  </a:xfrm>
                </p:grpSpPr>
                <p:sp>
                  <p:nvSpPr>
                    <p:cNvPr id="3088" name="Freeform 2311"/>
                    <p:cNvSpPr>
                      <a:spLocks/>
                    </p:cNvSpPr>
                    <p:nvPr/>
                  </p:nvSpPr>
                  <p:spPr bwMode="auto">
                    <a:xfrm>
                      <a:off x="914"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89" name="Freeform 2312"/>
                    <p:cNvSpPr>
                      <a:spLocks/>
                    </p:cNvSpPr>
                    <p:nvPr/>
                  </p:nvSpPr>
                  <p:spPr bwMode="auto">
                    <a:xfrm>
                      <a:off x="919" y="3678"/>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7" y="12"/>
                          </a:lnTo>
                          <a:lnTo>
                            <a:pt x="75" y="30"/>
                          </a:lnTo>
                          <a:lnTo>
                            <a:pt x="19" y="30"/>
                          </a:lnTo>
                          <a:lnTo>
                            <a:pt x="11"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90" name="Freeform 2313"/>
                    <p:cNvSpPr>
                      <a:spLocks/>
                    </p:cNvSpPr>
                    <p:nvPr/>
                  </p:nvSpPr>
                  <p:spPr bwMode="auto">
                    <a:xfrm>
                      <a:off x="922" y="3688"/>
                      <a:ext cx="41" cy="13"/>
                    </a:xfrm>
                    <a:custGeom>
                      <a:avLst/>
                      <a:gdLst>
                        <a:gd name="T0" fmla="*/ 0 w 81"/>
                        <a:gd name="T1" fmla="*/ 0 h 38"/>
                        <a:gd name="T2" fmla="*/ 1 w 81"/>
                        <a:gd name="T3" fmla="*/ 0 h 38"/>
                        <a:gd name="T4" fmla="*/ 1 w 81"/>
                        <a:gd name="T5" fmla="*/ 0 h 38"/>
                        <a:gd name="T6" fmla="*/ 1 w 81"/>
                        <a:gd name="T7" fmla="*/ 0 h 38"/>
                        <a:gd name="T8" fmla="*/ 1 w 81"/>
                        <a:gd name="T9" fmla="*/ 0 h 38"/>
                        <a:gd name="T10" fmla="*/ 1 w 81"/>
                        <a:gd name="T11" fmla="*/ 0 h 38"/>
                        <a:gd name="T12" fmla="*/ 0 w 81"/>
                        <a:gd name="T13" fmla="*/ 0 h 38"/>
                        <a:gd name="T14" fmla="*/ 0 60000 65536"/>
                        <a:gd name="T15" fmla="*/ 0 60000 65536"/>
                        <a:gd name="T16" fmla="*/ 0 60000 65536"/>
                        <a:gd name="T17" fmla="*/ 0 60000 65536"/>
                        <a:gd name="T18" fmla="*/ 0 60000 65536"/>
                        <a:gd name="T19" fmla="*/ 0 60000 65536"/>
                        <a:gd name="T20" fmla="*/ 0 60000 65536"/>
                        <a:gd name="T21" fmla="*/ 0 w 81"/>
                        <a:gd name="T22" fmla="*/ 0 h 38"/>
                        <a:gd name="T23" fmla="*/ 81 w 81"/>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8">
                          <a:moveTo>
                            <a:pt x="0" y="38"/>
                          </a:moveTo>
                          <a:lnTo>
                            <a:pt x="2" y="21"/>
                          </a:lnTo>
                          <a:lnTo>
                            <a:pt x="8" y="8"/>
                          </a:lnTo>
                          <a:lnTo>
                            <a:pt x="12" y="0"/>
                          </a:lnTo>
                          <a:lnTo>
                            <a:pt x="68" y="0"/>
                          </a:lnTo>
                          <a:lnTo>
                            <a:pt x="81"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76" name="Group 2314"/>
                  <p:cNvGrpSpPr>
                    <a:grpSpLocks/>
                  </p:cNvGrpSpPr>
                  <p:nvPr/>
                </p:nvGrpSpPr>
                <p:grpSpPr bwMode="auto">
                  <a:xfrm>
                    <a:off x="928" y="3690"/>
                    <a:ext cx="48" cy="23"/>
                    <a:chOff x="928" y="3690"/>
                    <a:chExt cx="48" cy="23"/>
                  </a:xfrm>
                </p:grpSpPr>
                <p:sp>
                  <p:nvSpPr>
                    <p:cNvPr id="3085" name="Freeform 2315"/>
                    <p:cNvSpPr>
                      <a:spLocks/>
                    </p:cNvSpPr>
                    <p:nvPr/>
                  </p:nvSpPr>
                  <p:spPr bwMode="auto">
                    <a:xfrm>
                      <a:off x="928" y="369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9"/>
                          </a:lnTo>
                          <a:lnTo>
                            <a:pt x="9" y="0"/>
                          </a:lnTo>
                          <a:lnTo>
                            <a:pt x="25" y="33"/>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86" name="Freeform 2316"/>
                    <p:cNvSpPr>
                      <a:spLocks/>
                    </p:cNvSpPr>
                    <p:nvPr/>
                  </p:nvSpPr>
                  <p:spPr bwMode="auto">
                    <a:xfrm>
                      <a:off x="932"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87" name="Freeform 2317"/>
                    <p:cNvSpPr>
                      <a:spLocks/>
                    </p:cNvSpPr>
                    <p:nvPr/>
                  </p:nvSpPr>
                  <p:spPr bwMode="auto">
                    <a:xfrm>
                      <a:off x="935" y="3701"/>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8" y="7"/>
                          </a:lnTo>
                          <a:lnTo>
                            <a:pt x="13"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77" name="Group 2318"/>
                  <p:cNvGrpSpPr>
                    <a:grpSpLocks/>
                  </p:cNvGrpSpPr>
                  <p:nvPr/>
                </p:nvGrpSpPr>
                <p:grpSpPr bwMode="auto">
                  <a:xfrm>
                    <a:off x="940" y="3703"/>
                    <a:ext cx="49" cy="23"/>
                    <a:chOff x="940" y="3703"/>
                    <a:chExt cx="49" cy="23"/>
                  </a:xfrm>
                </p:grpSpPr>
                <p:sp>
                  <p:nvSpPr>
                    <p:cNvPr id="3082" name="Freeform 2319"/>
                    <p:cNvSpPr>
                      <a:spLocks/>
                    </p:cNvSpPr>
                    <p:nvPr/>
                  </p:nvSpPr>
                  <p:spPr bwMode="auto">
                    <a:xfrm>
                      <a:off x="940"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83" name="Freeform 2320"/>
                    <p:cNvSpPr>
                      <a:spLocks/>
                    </p:cNvSpPr>
                    <p:nvPr/>
                  </p:nvSpPr>
                  <p:spPr bwMode="auto">
                    <a:xfrm>
                      <a:off x="945" y="3703"/>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2" y="0"/>
                          </a:lnTo>
                          <a:lnTo>
                            <a:pt x="53" y="3"/>
                          </a:lnTo>
                          <a:lnTo>
                            <a:pt x="57" y="12"/>
                          </a:lnTo>
                          <a:lnTo>
                            <a:pt x="75"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84" name="Freeform 2321"/>
                    <p:cNvSpPr>
                      <a:spLocks/>
                    </p:cNvSpPr>
                    <p:nvPr/>
                  </p:nvSpPr>
                  <p:spPr bwMode="auto">
                    <a:xfrm>
                      <a:off x="948" y="3714"/>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78" name="Group 2322"/>
                  <p:cNvGrpSpPr>
                    <a:grpSpLocks/>
                  </p:cNvGrpSpPr>
                  <p:nvPr/>
                </p:nvGrpSpPr>
                <p:grpSpPr bwMode="auto">
                  <a:xfrm>
                    <a:off x="953" y="3716"/>
                    <a:ext cx="49" cy="23"/>
                    <a:chOff x="953" y="3716"/>
                    <a:chExt cx="49" cy="23"/>
                  </a:xfrm>
                </p:grpSpPr>
                <p:sp>
                  <p:nvSpPr>
                    <p:cNvPr id="3079" name="Freeform 2323"/>
                    <p:cNvSpPr>
                      <a:spLocks/>
                    </p:cNvSpPr>
                    <p:nvPr/>
                  </p:nvSpPr>
                  <p:spPr bwMode="auto">
                    <a:xfrm>
                      <a:off x="953" y="3716"/>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80" name="Freeform 2324"/>
                    <p:cNvSpPr>
                      <a:spLocks/>
                    </p:cNvSpPr>
                    <p:nvPr/>
                  </p:nvSpPr>
                  <p:spPr bwMode="auto">
                    <a:xfrm>
                      <a:off x="958" y="3717"/>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3"/>
                          </a:lnTo>
                          <a:lnTo>
                            <a:pt x="56" y="11"/>
                          </a:lnTo>
                          <a:lnTo>
                            <a:pt x="75"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81" name="Freeform 2325"/>
                    <p:cNvSpPr>
                      <a:spLocks/>
                    </p:cNvSpPr>
                    <p:nvPr/>
                  </p:nvSpPr>
                  <p:spPr bwMode="auto">
                    <a:xfrm>
                      <a:off x="961" y="372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76" name="Group 2326"/>
                <p:cNvGrpSpPr>
                  <a:grpSpLocks/>
                </p:cNvGrpSpPr>
                <p:nvPr/>
              </p:nvGrpSpPr>
              <p:grpSpPr bwMode="auto">
                <a:xfrm>
                  <a:off x="963" y="3727"/>
                  <a:ext cx="49" cy="23"/>
                  <a:chOff x="963" y="3727"/>
                  <a:chExt cx="49" cy="23"/>
                </a:xfrm>
              </p:grpSpPr>
              <p:sp>
                <p:nvSpPr>
                  <p:cNvPr id="3071" name="Freeform 2327"/>
                  <p:cNvSpPr>
                    <a:spLocks/>
                  </p:cNvSpPr>
                  <p:nvPr/>
                </p:nvSpPr>
                <p:spPr bwMode="auto">
                  <a:xfrm>
                    <a:off x="963" y="372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72" name="Freeform 2328"/>
                  <p:cNvSpPr>
                    <a:spLocks/>
                  </p:cNvSpPr>
                  <p:nvPr/>
                </p:nvSpPr>
                <p:spPr bwMode="auto">
                  <a:xfrm>
                    <a:off x="968"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8" y="0"/>
                        </a:lnTo>
                        <a:lnTo>
                          <a:pt x="50"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73" name="Freeform 2329"/>
                  <p:cNvSpPr>
                    <a:spLocks/>
                  </p:cNvSpPr>
                  <p:nvPr/>
                </p:nvSpPr>
                <p:spPr bwMode="auto">
                  <a:xfrm>
                    <a:off x="972" y="373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77" name="Group 2330"/>
                <p:cNvGrpSpPr>
                  <a:grpSpLocks/>
                </p:cNvGrpSpPr>
                <p:nvPr/>
              </p:nvGrpSpPr>
              <p:grpSpPr bwMode="auto">
                <a:xfrm>
                  <a:off x="976" y="3740"/>
                  <a:ext cx="50" cy="22"/>
                  <a:chOff x="976" y="3740"/>
                  <a:chExt cx="50" cy="22"/>
                </a:xfrm>
              </p:grpSpPr>
              <p:sp>
                <p:nvSpPr>
                  <p:cNvPr id="3068" name="Freeform 2331"/>
                  <p:cNvSpPr>
                    <a:spLocks/>
                  </p:cNvSpPr>
                  <p:nvPr/>
                </p:nvSpPr>
                <p:spPr bwMode="auto">
                  <a:xfrm>
                    <a:off x="976" y="3740"/>
                    <a:ext cx="12" cy="22"/>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10" y="0"/>
                        </a:lnTo>
                        <a:lnTo>
                          <a:pt x="23"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69" name="Freeform 2332"/>
                  <p:cNvSpPr>
                    <a:spLocks/>
                  </p:cNvSpPr>
                  <p:nvPr/>
                </p:nvSpPr>
                <p:spPr bwMode="auto">
                  <a:xfrm>
                    <a:off x="980" y="374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4" y="0"/>
                        </a:moveTo>
                        <a:lnTo>
                          <a:pt x="52" y="0"/>
                        </a:lnTo>
                        <a:lnTo>
                          <a:pt x="53" y="4"/>
                        </a:lnTo>
                        <a:lnTo>
                          <a:pt x="60" y="13"/>
                        </a:lnTo>
                        <a:lnTo>
                          <a:pt x="75" y="31"/>
                        </a:lnTo>
                        <a:lnTo>
                          <a:pt x="19" y="31"/>
                        </a:lnTo>
                        <a:lnTo>
                          <a:pt x="12" y="22"/>
                        </a:lnTo>
                        <a:lnTo>
                          <a:pt x="0" y="7"/>
                        </a:lnTo>
                        <a:lnTo>
                          <a:pt x="4"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70" name="Freeform 2333"/>
                  <p:cNvSpPr>
                    <a:spLocks/>
                  </p:cNvSpPr>
                  <p:nvPr/>
                </p:nvSpPr>
                <p:spPr bwMode="auto">
                  <a:xfrm>
                    <a:off x="984" y="375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1"/>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78" name="Group 2334"/>
                <p:cNvGrpSpPr>
                  <a:grpSpLocks/>
                </p:cNvGrpSpPr>
                <p:nvPr/>
              </p:nvGrpSpPr>
              <p:grpSpPr bwMode="auto">
                <a:xfrm>
                  <a:off x="761" y="3560"/>
                  <a:ext cx="50" cy="22"/>
                  <a:chOff x="761" y="3560"/>
                  <a:chExt cx="50" cy="22"/>
                </a:xfrm>
              </p:grpSpPr>
              <p:sp>
                <p:nvSpPr>
                  <p:cNvPr id="3065" name="Freeform 2335"/>
                  <p:cNvSpPr>
                    <a:spLocks/>
                  </p:cNvSpPr>
                  <p:nvPr/>
                </p:nvSpPr>
                <p:spPr bwMode="auto">
                  <a:xfrm>
                    <a:off x="761" y="356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66" name="Freeform 2336"/>
                  <p:cNvSpPr>
                    <a:spLocks/>
                  </p:cNvSpPr>
                  <p:nvPr/>
                </p:nvSpPr>
                <p:spPr bwMode="auto">
                  <a:xfrm>
                    <a:off x="767" y="3560"/>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9" y="0"/>
                        </a:lnTo>
                        <a:lnTo>
                          <a:pt x="50" y="2"/>
                        </a:lnTo>
                        <a:lnTo>
                          <a:pt x="55" y="11"/>
                        </a:lnTo>
                        <a:lnTo>
                          <a:pt x="73" y="29"/>
                        </a:lnTo>
                        <a:lnTo>
                          <a:pt x="17" y="29"/>
                        </a:lnTo>
                        <a:lnTo>
                          <a:pt x="8"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67" name="Freeform 2337"/>
                  <p:cNvSpPr>
                    <a:spLocks/>
                  </p:cNvSpPr>
                  <p:nvPr/>
                </p:nvSpPr>
                <p:spPr bwMode="auto">
                  <a:xfrm>
                    <a:off x="769" y="3571"/>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8"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79" name="Group 2338"/>
                <p:cNvGrpSpPr>
                  <a:grpSpLocks/>
                </p:cNvGrpSpPr>
                <p:nvPr/>
              </p:nvGrpSpPr>
              <p:grpSpPr bwMode="auto">
                <a:xfrm>
                  <a:off x="774" y="3572"/>
                  <a:ext cx="49" cy="23"/>
                  <a:chOff x="774" y="3572"/>
                  <a:chExt cx="49" cy="23"/>
                </a:xfrm>
              </p:grpSpPr>
              <p:sp>
                <p:nvSpPr>
                  <p:cNvPr id="3062" name="Freeform 2339"/>
                  <p:cNvSpPr>
                    <a:spLocks/>
                  </p:cNvSpPr>
                  <p:nvPr/>
                </p:nvSpPr>
                <p:spPr bwMode="auto">
                  <a:xfrm>
                    <a:off x="774" y="3572"/>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5"/>
                        </a:lnTo>
                        <a:lnTo>
                          <a:pt x="9" y="0"/>
                        </a:lnTo>
                        <a:lnTo>
                          <a:pt x="25"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63" name="Freeform 2340"/>
                  <p:cNvSpPr>
                    <a:spLocks/>
                  </p:cNvSpPr>
                  <p:nvPr/>
                </p:nvSpPr>
                <p:spPr bwMode="auto">
                  <a:xfrm>
                    <a:off x="778" y="3573"/>
                    <a:ext cx="38" cy="9"/>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64" name="Freeform 2341"/>
                  <p:cNvSpPr>
                    <a:spLocks/>
                  </p:cNvSpPr>
                  <p:nvPr/>
                </p:nvSpPr>
                <p:spPr bwMode="auto">
                  <a:xfrm>
                    <a:off x="782" y="358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80" name="Group 2342"/>
                <p:cNvGrpSpPr>
                  <a:grpSpLocks/>
                </p:cNvGrpSpPr>
                <p:nvPr/>
              </p:nvGrpSpPr>
              <p:grpSpPr bwMode="auto">
                <a:xfrm>
                  <a:off x="787" y="3585"/>
                  <a:ext cx="49" cy="23"/>
                  <a:chOff x="787" y="3585"/>
                  <a:chExt cx="49" cy="23"/>
                </a:xfrm>
              </p:grpSpPr>
              <p:sp>
                <p:nvSpPr>
                  <p:cNvPr id="3059" name="Freeform 2343"/>
                  <p:cNvSpPr>
                    <a:spLocks/>
                  </p:cNvSpPr>
                  <p:nvPr/>
                </p:nvSpPr>
                <p:spPr bwMode="auto">
                  <a:xfrm>
                    <a:off x="787" y="358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6"/>
                        </a:lnTo>
                        <a:lnTo>
                          <a:pt x="9"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60" name="Freeform 2344"/>
                  <p:cNvSpPr>
                    <a:spLocks/>
                  </p:cNvSpPr>
                  <p:nvPr/>
                </p:nvSpPr>
                <p:spPr bwMode="auto">
                  <a:xfrm>
                    <a:off x="792" y="3586"/>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2"/>
                        </a:lnTo>
                        <a:lnTo>
                          <a:pt x="55" y="11"/>
                        </a:lnTo>
                        <a:lnTo>
                          <a:pt x="74" y="29"/>
                        </a:lnTo>
                        <a:lnTo>
                          <a:pt x="19"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61" name="Freeform 2345"/>
                  <p:cNvSpPr>
                    <a:spLocks/>
                  </p:cNvSpPr>
                  <p:nvPr/>
                </p:nvSpPr>
                <p:spPr bwMode="auto">
                  <a:xfrm>
                    <a:off x="795" y="3596"/>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6"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81" name="Group 2346"/>
                <p:cNvGrpSpPr>
                  <a:grpSpLocks/>
                </p:cNvGrpSpPr>
                <p:nvPr/>
              </p:nvGrpSpPr>
              <p:grpSpPr bwMode="auto">
                <a:xfrm>
                  <a:off x="799" y="3600"/>
                  <a:ext cx="99" cy="73"/>
                  <a:chOff x="799" y="3600"/>
                  <a:chExt cx="99" cy="73"/>
                </a:xfrm>
              </p:grpSpPr>
              <p:grpSp>
                <p:nvGrpSpPr>
                  <p:cNvPr id="3039" name="Group 2347"/>
                  <p:cNvGrpSpPr>
                    <a:grpSpLocks/>
                  </p:cNvGrpSpPr>
                  <p:nvPr/>
                </p:nvGrpSpPr>
                <p:grpSpPr bwMode="auto">
                  <a:xfrm>
                    <a:off x="799" y="3600"/>
                    <a:ext cx="48" cy="23"/>
                    <a:chOff x="799" y="3600"/>
                    <a:chExt cx="48" cy="23"/>
                  </a:xfrm>
                </p:grpSpPr>
                <p:sp>
                  <p:nvSpPr>
                    <p:cNvPr id="3056" name="Freeform 2348"/>
                    <p:cNvSpPr>
                      <a:spLocks/>
                    </p:cNvSpPr>
                    <p:nvPr/>
                  </p:nvSpPr>
                  <p:spPr bwMode="auto">
                    <a:xfrm>
                      <a:off x="799" y="360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57" name="Freeform 2349"/>
                    <p:cNvSpPr>
                      <a:spLocks/>
                    </p:cNvSpPr>
                    <p:nvPr/>
                  </p:nvSpPr>
                  <p:spPr bwMode="auto">
                    <a:xfrm>
                      <a:off x="803" y="3600"/>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1"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58" name="Freeform 2350"/>
                    <p:cNvSpPr>
                      <a:spLocks/>
                    </p:cNvSpPr>
                    <p:nvPr/>
                  </p:nvSpPr>
                  <p:spPr bwMode="auto">
                    <a:xfrm>
                      <a:off x="807" y="3611"/>
                      <a:ext cx="40" cy="12"/>
                    </a:xfrm>
                    <a:custGeom>
                      <a:avLst/>
                      <a:gdLst>
                        <a:gd name="T0" fmla="*/ 0 w 82"/>
                        <a:gd name="T1" fmla="*/ 0 h 38"/>
                        <a:gd name="T2" fmla="*/ 0 w 82"/>
                        <a:gd name="T3" fmla="*/ 0 h 38"/>
                        <a:gd name="T4" fmla="*/ 0 w 82"/>
                        <a:gd name="T5" fmla="*/ 0 h 38"/>
                        <a:gd name="T6" fmla="*/ 0 w 82"/>
                        <a:gd name="T7" fmla="*/ 0 h 38"/>
                        <a:gd name="T8" fmla="*/ 0 w 82"/>
                        <a:gd name="T9" fmla="*/ 0 h 38"/>
                        <a:gd name="T10" fmla="*/ 0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7"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40" name="Group 2351"/>
                  <p:cNvGrpSpPr>
                    <a:grpSpLocks/>
                  </p:cNvGrpSpPr>
                  <p:nvPr/>
                </p:nvGrpSpPr>
                <p:grpSpPr bwMode="auto">
                  <a:xfrm>
                    <a:off x="811" y="3612"/>
                    <a:ext cx="48" cy="23"/>
                    <a:chOff x="811" y="3612"/>
                    <a:chExt cx="48" cy="23"/>
                  </a:xfrm>
                </p:grpSpPr>
                <p:sp>
                  <p:nvSpPr>
                    <p:cNvPr id="3053" name="Freeform 2352"/>
                    <p:cNvSpPr>
                      <a:spLocks/>
                    </p:cNvSpPr>
                    <p:nvPr/>
                  </p:nvSpPr>
                  <p:spPr bwMode="auto">
                    <a:xfrm>
                      <a:off x="811"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11"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54" name="Freeform 2353"/>
                    <p:cNvSpPr>
                      <a:spLocks/>
                    </p:cNvSpPr>
                    <p:nvPr/>
                  </p:nvSpPr>
                  <p:spPr bwMode="auto">
                    <a:xfrm>
                      <a:off x="815" y="3613"/>
                      <a:ext cx="38" cy="10"/>
                    </a:xfrm>
                    <a:custGeom>
                      <a:avLst/>
                      <a:gdLst>
                        <a:gd name="T0" fmla="*/ 1 w 75"/>
                        <a:gd name="T1" fmla="*/ 0 h 32"/>
                        <a:gd name="T2" fmla="*/ 1 w 75"/>
                        <a:gd name="T3" fmla="*/ 0 h 32"/>
                        <a:gd name="T4" fmla="*/ 1 w 75"/>
                        <a:gd name="T5" fmla="*/ 0 h 32"/>
                        <a:gd name="T6" fmla="*/ 1 w 75"/>
                        <a:gd name="T7" fmla="*/ 0 h 32"/>
                        <a:gd name="T8" fmla="*/ 1 w 75"/>
                        <a:gd name="T9" fmla="*/ 0 h 32"/>
                        <a:gd name="T10" fmla="*/ 1 w 75"/>
                        <a:gd name="T11" fmla="*/ 0 h 32"/>
                        <a:gd name="T12" fmla="*/ 1 w 75"/>
                        <a:gd name="T13" fmla="*/ 0 h 32"/>
                        <a:gd name="T14" fmla="*/ 0 w 75"/>
                        <a:gd name="T15" fmla="*/ 0 h 32"/>
                        <a:gd name="T16" fmla="*/ 1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3" y="0"/>
                          </a:moveTo>
                          <a:lnTo>
                            <a:pt x="52" y="0"/>
                          </a:lnTo>
                          <a:lnTo>
                            <a:pt x="53" y="3"/>
                          </a:lnTo>
                          <a:lnTo>
                            <a:pt x="57" y="15"/>
                          </a:lnTo>
                          <a:lnTo>
                            <a:pt x="75" y="32"/>
                          </a:lnTo>
                          <a:lnTo>
                            <a:pt x="19" y="32"/>
                          </a:lnTo>
                          <a:lnTo>
                            <a:pt x="10"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55" name="Freeform 2354"/>
                    <p:cNvSpPr>
                      <a:spLocks/>
                    </p:cNvSpPr>
                    <p:nvPr/>
                  </p:nvSpPr>
                  <p:spPr bwMode="auto">
                    <a:xfrm>
                      <a:off x="819"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1"/>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41" name="Group 2355"/>
                  <p:cNvGrpSpPr>
                    <a:grpSpLocks/>
                  </p:cNvGrpSpPr>
                  <p:nvPr/>
                </p:nvGrpSpPr>
                <p:grpSpPr bwMode="auto">
                  <a:xfrm>
                    <a:off x="823" y="3625"/>
                    <a:ext cx="49" cy="23"/>
                    <a:chOff x="823" y="3625"/>
                    <a:chExt cx="49" cy="23"/>
                  </a:xfrm>
                </p:grpSpPr>
                <p:sp>
                  <p:nvSpPr>
                    <p:cNvPr id="3050" name="Freeform 2356"/>
                    <p:cNvSpPr>
                      <a:spLocks/>
                    </p:cNvSpPr>
                    <p:nvPr/>
                  </p:nvSpPr>
                  <p:spPr bwMode="auto">
                    <a:xfrm>
                      <a:off x="823" y="362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51" name="Freeform 2357"/>
                    <p:cNvSpPr>
                      <a:spLocks/>
                    </p:cNvSpPr>
                    <p:nvPr/>
                  </p:nvSpPr>
                  <p:spPr bwMode="auto">
                    <a:xfrm>
                      <a:off x="828"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52" name="Freeform 2358"/>
                    <p:cNvSpPr>
                      <a:spLocks/>
                    </p:cNvSpPr>
                    <p:nvPr/>
                  </p:nvSpPr>
                  <p:spPr bwMode="auto">
                    <a:xfrm>
                      <a:off x="832" y="363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42" name="Group 2359"/>
                  <p:cNvGrpSpPr>
                    <a:grpSpLocks/>
                  </p:cNvGrpSpPr>
                  <p:nvPr/>
                </p:nvGrpSpPr>
                <p:grpSpPr bwMode="auto">
                  <a:xfrm>
                    <a:off x="836" y="3638"/>
                    <a:ext cx="50" cy="22"/>
                    <a:chOff x="836" y="3638"/>
                    <a:chExt cx="50" cy="22"/>
                  </a:xfrm>
                </p:grpSpPr>
                <p:sp>
                  <p:nvSpPr>
                    <p:cNvPr id="3047" name="Freeform 2360"/>
                    <p:cNvSpPr>
                      <a:spLocks/>
                    </p:cNvSpPr>
                    <p:nvPr/>
                  </p:nvSpPr>
                  <p:spPr bwMode="auto">
                    <a:xfrm>
                      <a:off x="836"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48" name="Freeform 2361"/>
                    <p:cNvSpPr>
                      <a:spLocks/>
                    </p:cNvSpPr>
                    <p:nvPr/>
                  </p:nvSpPr>
                  <p:spPr bwMode="auto">
                    <a:xfrm>
                      <a:off x="842"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5" y="12"/>
                          </a:lnTo>
                          <a:lnTo>
                            <a:pt x="72" y="30"/>
                          </a:lnTo>
                          <a:lnTo>
                            <a:pt x="17" y="30"/>
                          </a:lnTo>
                          <a:lnTo>
                            <a:pt x="8"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49" name="Freeform 2362"/>
                    <p:cNvSpPr>
                      <a:spLocks/>
                    </p:cNvSpPr>
                    <p:nvPr/>
                  </p:nvSpPr>
                  <p:spPr bwMode="auto">
                    <a:xfrm>
                      <a:off x="844" y="3648"/>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43" name="Group 2363"/>
                  <p:cNvGrpSpPr>
                    <a:grpSpLocks/>
                  </p:cNvGrpSpPr>
                  <p:nvPr/>
                </p:nvGrpSpPr>
                <p:grpSpPr bwMode="auto">
                  <a:xfrm>
                    <a:off x="849" y="3651"/>
                    <a:ext cx="49" cy="22"/>
                    <a:chOff x="849" y="3651"/>
                    <a:chExt cx="49" cy="22"/>
                  </a:xfrm>
                </p:grpSpPr>
                <p:sp>
                  <p:nvSpPr>
                    <p:cNvPr id="3044" name="Freeform 2364"/>
                    <p:cNvSpPr>
                      <a:spLocks/>
                    </p:cNvSpPr>
                    <p:nvPr/>
                  </p:nvSpPr>
                  <p:spPr bwMode="auto">
                    <a:xfrm>
                      <a:off x="849" y="3651"/>
                      <a:ext cx="12" cy="22"/>
                    </a:xfrm>
                    <a:custGeom>
                      <a:avLst/>
                      <a:gdLst>
                        <a:gd name="T0" fmla="*/ 0 w 25"/>
                        <a:gd name="T1" fmla="*/ 0 h 67"/>
                        <a:gd name="T2" fmla="*/ 0 w 25"/>
                        <a:gd name="T3" fmla="*/ 0 h 67"/>
                        <a:gd name="T4" fmla="*/ 0 w 25"/>
                        <a:gd name="T5" fmla="*/ 0 h 67"/>
                        <a:gd name="T6" fmla="*/ 0 w 25"/>
                        <a:gd name="T7" fmla="*/ 0 h 67"/>
                        <a:gd name="T8" fmla="*/ 0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5" y="67"/>
                          </a:moveTo>
                          <a:lnTo>
                            <a:pt x="0" y="26"/>
                          </a:lnTo>
                          <a:lnTo>
                            <a:pt x="10" y="0"/>
                          </a:lnTo>
                          <a:lnTo>
                            <a:pt x="25"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45" name="Freeform 2365"/>
                    <p:cNvSpPr>
                      <a:spLocks/>
                    </p:cNvSpPr>
                    <p:nvPr/>
                  </p:nvSpPr>
                  <p:spPr bwMode="auto">
                    <a:xfrm>
                      <a:off x="854"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7" y="11"/>
                          </a:lnTo>
                          <a:lnTo>
                            <a:pt x="74"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46" name="Freeform 2366"/>
                    <p:cNvSpPr>
                      <a:spLocks/>
                    </p:cNvSpPr>
                    <p:nvPr/>
                  </p:nvSpPr>
                  <p:spPr bwMode="auto">
                    <a:xfrm>
                      <a:off x="857" y="36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82" name="Group 2367"/>
                <p:cNvGrpSpPr>
                  <a:grpSpLocks/>
                </p:cNvGrpSpPr>
                <p:nvPr/>
              </p:nvGrpSpPr>
              <p:grpSpPr bwMode="auto">
                <a:xfrm>
                  <a:off x="861" y="3665"/>
                  <a:ext cx="99" cy="74"/>
                  <a:chOff x="861" y="3665"/>
                  <a:chExt cx="99" cy="74"/>
                </a:xfrm>
              </p:grpSpPr>
              <p:grpSp>
                <p:nvGrpSpPr>
                  <p:cNvPr id="3019" name="Group 2368"/>
                  <p:cNvGrpSpPr>
                    <a:grpSpLocks/>
                  </p:cNvGrpSpPr>
                  <p:nvPr/>
                </p:nvGrpSpPr>
                <p:grpSpPr bwMode="auto">
                  <a:xfrm>
                    <a:off x="861" y="3665"/>
                    <a:ext cx="50" cy="23"/>
                    <a:chOff x="861" y="3665"/>
                    <a:chExt cx="50" cy="23"/>
                  </a:xfrm>
                </p:grpSpPr>
                <p:sp>
                  <p:nvSpPr>
                    <p:cNvPr id="3036" name="Freeform 2369"/>
                    <p:cNvSpPr>
                      <a:spLocks/>
                    </p:cNvSpPr>
                    <p:nvPr/>
                  </p:nvSpPr>
                  <p:spPr bwMode="auto">
                    <a:xfrm>
                      <a:off x="861"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37" name="Freeform 2370"/>
                    <p:cNvSpPr>
                      <a:spLocks/>
                    </p:cNvSpPr>
                    <p:nvPr/>
                  </p:nvSpPr>
                  <p:spPr bwMode="auto">
                    <a:xfrm>
                      <a:off x="865" y="3666"/>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4"/>
                          </a:lnTo>
                          <a:lnTo>
                            <a:pt x="57" y="13"/>
                          </a:lnTo>
                          <a:lnTo>
                            <a:pt x="75" y="31"/>
                          </a:lnTo>
                          <a:lnTo>
                            <a:pt x="19" y="31"/>
                          </a:lnTo>
                          <a:lnTo>
                            <a:pt x="11"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38" name="Freeform 2371"/>
                    <p:cNvSpPr>
                      <a:spLocks/>
                    </p:cNvSpPr>
                    <p:nvPr/>
                  </p:nvSpPr>
                  <p:spPr bwMode="auto">
                    <a:xfrm>
                      <a:off x="869"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20" name="Group 2372"/>
                  <p:cNvGrpSpPr>
                    <a:grpSpLocks/>
                  </p:cNvGrpSpPr>
                  <p:nvPr/>
                </p:nvGrpSpPr>
                <p:grpSpPr bwMode="auto">
                  <a:xfrm>
                    <a:off x="873" y="3678"/>
                    <a:ext cx="49" cy="23"/>
                    <a:chOff x="873" y="3678"/>
                    <a:chExt cx="49" cy="23"/>
                  </a:xfrm>
                </p:grpSpPr>
                <p:sp>
                  <p:nvSpPr>
                    <p:cNvPr id="3033" name="Freeform 2373"/>
                    <p:cNvSpPr>
                      <a:spLocks/>
                    </p:cNvSpPr>
                    <p:nvPr/>
                  </p:nvSpPr>
                  <p:spPr bwMode="auto">
                    <a:xfrm>
                      <a:off x="873"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7"/>
                          </a:lnTo>
                          <a:lnTo>
                            <a:pt x="9" y="0"/>
                          </a:lnTo>
                          <a:lnTo>
                            <a:pt x="25"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34" name="Freeform 2374"/>
                    <p:cNvSpPr>
                      <a:spLocks/>
                    </p:cNvSpPr>
                    <p:nvPr/>
                  </p:nvSpPr>
                  <p:spPr bwMode="auto">
                    <a:xfrm>
                      <a:off x="878" y="3678"/>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0" y="0"/>
                          </a:lnTo>
                          <a:lnTo>
                            <a:pt x="52" y="3"/>
                          </a:lnTo>
                          <a:lnTo>
                            <a:pt x="57" y="12"/>
                          </a:lnTo>
                          <a:lnTo>
                            <a:pt x="75"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35" name="Freeform 2375"/>
                    <p:cNvSpPr>
                      <a:spLocks/>
                    </p:cNvSpPr>
                    <p:nvPr/>
                  </p:nvSpPr>
                  <p:spPr bwMode="auto">
                    <a:xfrm>
                      <a:off x="880" y="3688"/>
                      <a:ext cx="42"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4" y="21"/>
                          </a:lnTo>
                          <a:lnTo>
                            <a:pt x="8" y="8"/>
                          </a:lnTo>
                          <a:lnTo>
                            <a:pt x="13"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21" name="Group 2376"/>
                  <p:cNvGrpSpPr>
                    <a:grpSpLocks/>
                  </p:cNvGrpSpPr>
                  <p:nvPr/>
                </p:nvGrpSpPr>
                <p:grpSpPr bwMode="auto">
                  <a:xfrm>
                    <a:off x="886" y="3690"/>
                    <a:ext cx="49" cy="23"/>
                    <a:chOff x="886" y="3690"/>
                    <a:chExt cx="49" cy="23"/>
                  </a:xfrm>
                </p:grpSpPr>
                <p:sp>
                  <p:nvSpPr>
                    <p:cNvPr id="3030" name="Freeform 2377"/>
                    <p:cNvSpPr>
                      <a:spLocks/>
                    </p:cNvSpPr>
                    <p:nvPr/>
                  </p:nvSpPr>
                  <p:spPr bwMode="auto">
                    <a:xfrm>
                      <a:off x="886" y="3690"/>
                      <a:ext cx="12" cy="23"/>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4" y="70"/>
                          </a:moveTo>
                          <a:lnTo>
                            <a:pt x="0" y="29"/>
                          </a:lnTo>
                          <a:lnTo>
                            <a:pt x="10" y="0"/>
                          </a:lnTo>
                          <a:lnTo>
                            <a:pt x="24" y="33"/>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31" name="Freeform 2378"/>
                    <p:cNvSpPr>
                      <a:spLocks/>
                    </p:cNvSpPr>
                    <p:nvPr/>
                  </p:nvSpPr>
                  <p:spPr bwMode="auto">
                    <a:xfrm>
                      <a:off x="890"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2"/>
                          </a:lnTo>
                          <a:lnTo>
                            <a:pt x="57" y="11"/>
                          </a:lnTo>
                          <a:lnTo>
                            <a:pt x="75" y="31"/>
                          </a:lnTo>
                          <a:lnTo>
                            <a:pt x="19" y="31"/>
                          </a:lnTo>
                          <a:lnTo>
                            <a:pt x="10" y="22"/>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32" name="Freeform 2379"/>
                    <p:cNvSpPr>
                      <a:spLocks/>
                    </p:cNvSpPr>
                    <p:nvPr/>
                  </p:nvSpPr>
                  <p:spPr bwMode="auto">
                    <a:xfrm>
                      <a:off x="893" y="3701"/>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8" y="7"/>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22" name="Group 2380"/>
                  <p:cNvGrpSpPr>
                    <a:grpSpLocks/>
                  </p:cNvGrpSpPr>
                  <p:nvPr/>
                </p:nvGrpSpPr>
                <p:grpSpPr bwMode="auto">
                  <a:xfrm>
                    <a:off x="899" y="3703"/>
                    <a:ext cx="48" cy="23"/>
                    <a:chOff x="899" y="3703"/>
                    <a:chExt cx="48" cy="23"/>
                  </a:xfrm>
                </p:grpSpPr>
                <p:sp>
                  <p:nvSpPr>
                    <p:cNvPr id="3027" name="Freeform 2381"/>
                    <p:cNvSpPr>
                      <a:spLocks/>
                    </p:cNvSpPr>
                    <p:nvPr/>
                  </p:nvSpPr>
                  <p:spPr bwMode="auto">
                    <a:xfrm>
                      <a:off x="899" y="3703"/>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10"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28" name="Freeform 2382"/>
                    <p:cNvSpPr>
                      <a:spLocks/>
                    </p:cNvSpPr>
                    <p:nvPr/>
                  </p:nvSpPr>
                  <p:spPr bwMode="auto">
                    <a:xfrm>
                      <a:off x="903" y="3703"/>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6" y="12"/>
                          </a:lnTo>
                          <a:lnTo>
                            <a:pt x="75"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29" name="Freeform 2383"/>
                    <p:cNvSpPr>
                      <a:spLocks/>
                    </p:cNvSpPr>
                    <p:nvPr/>
                  </p:nvSpPr>
                  <p:spPr bwMode="auto">
                    <a:xfrm>
                      <a:off x="907" y="3714"/>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5"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23" name="Group 2384"/>
                  <p:cNvGrpSpPr>
                    <a:grpSpLocks/>
                  </p:cNvGrpSpPr>
                  <p:nvPr/>
                </p:nvGrpSpPr>
                <p:grpSpPr bwMode="auto">
                  <a:xfrm>
                    <a:off x="912" y="3716"/>
                    <a:ext cx="48" cy="23"/>
                    <a:chOff x="912" y="3716"/>
                    <a:chExt cx="48" cy="23"/>
                  </a:xfrm>
                </p:grpSpPr>
                <p:sp>
                  <p:nvSpPr>
                    <p:cNvPr id="3024" name="Freeform 2385"/>
                    <p:cNvSpPr>
                      <a:spLocks/>
                    </p:cNvSpPr>
                    <p:nvPr/>
                  </p:nvSpPr>
                  <p:spPr bwMode="auto">
                    <a:xfrm>
                      <a:off x="912" y="3716"/>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25" name="Freeform 2386"/>
                    <p:cNvSpPr>
                      <a:spLocks/>
                    </p:cNvSpPr>
                    <p:nvPr/>
                  </p:nvSpPr>
                  <p:spPr bwMode="auto">
                    <a:xfrm>
                      <a:off x="916" y="3717"/>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3"/>
                          </a:lnTo>
                          <a:lnTo>
                            <a:pt x="55" y="11"/>
                          </a:lnTo>
                          <a:lnTo>
                            <a:pt x="74" y="29"/>
                          </a:lnTo>
                          <a:lnTo>
                            <a:pt x="18" y="29"/>
                          </a:lnTo>
                          <a:lnTo>
                            <a:pt x="8"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26" name="Freeform 2387"/>
                    <p:cNvSpPr>
                      <a:spLocks/>
                    </p:cNvSpPr>
                    <p:nvPr/>
                  </p:nvSpPr>
                  <p:spPr bwMode="auto">
                    <a:xfrm>
                      <a:off x="919" y="3727"/>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1"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83" name="Group 2388"/>
                <p:cNvGrpSpPr>
                  <a:grpSpLocks/>
                </p:cNvGrpSpPr>
                <p:nvPr/>
              </p:nvGrpSpPr>
              <p:grpSpPr bwMode="auto">
                <a:xfrm>
                  <a:off x="922" y="3727"/>
                  <a:ext cx="49" cy="23"/>
                  <a:chOff x="922" y="3727"/>
                  <a:chExt cx="49" cy="23"/>
                </a:xfrm>
              </p:grpSpPr>
              <p:sp>
                <p:nvSpPr>
                  <p:cNvPr id="3016" name="Freeform 2389"/>
                  <p:cNvSpPr>
                    <a:spLocks/>
                  </p:cNvSpPr>
                  <p:nvPr/>
                </p:nvSpPr>
                <p:spPr bwMode="auto">
                  <a:xfrm>
                    <a:off x="922" y="3727"/>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1"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17" name="Freeform 2390"/>
                  <p:cNvSpPr>
                    <a:spLocks/>
                  </p:cNvSpPr>
                  <p:nvPr/>
                </p:nvSpPr>
                <p:spPr bwMode="auto">
                  <a:xfrm>
                    <a:off x="927" y="3728"/>
                    <a:ext cx="36" cy="10"/>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49" y="0"/>
                        </a:lnTo>
                        <a:lnTo>
                          <a:pt x="50" y="4"/>
                        </a:lnTo>
                        <a:lnTo>
                          <a:pt x="56" y="13"/>
                        </a:lnTo>
                        <a:lnTo>
                          <a:pt x="72"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18" name="Freeform 2391"/>
                  <p:cNvSpPr>
                    <a:spLocks/>
                  </p:cNvSpPr>
                  <p:nvPr/>
                </p:nvSpPr>
                <p:spPr bwMode="auto">
                  <a:xfrm>
                    <a:off x="930"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84" name="Group 2392"/>
                <p:cNvGrpSpPr>
                  <a:grpSpLocks/>
                </p:cNvGrpSpPr>
                <p:nvPr/>
              </p:nvGrpSpPr>
              <p:grpSpPr bwMode="auto">
                <a:xfrm>
                  <a:off x="895" y="3526"/>
                  <a:ext cx="44" cy="23"/>
                  <a:chOff x="895" y="3526"/>
                  <a:chExt cx="44" cy="23"/>
                </a:xfrm>
              </p:grpSpPr>
              <p:sp>
                <p:nvSpPr>
                  <p:cNvPr id="3013" name="Freeform 2393"/>
                  <p:cNvSpPr>
                    <a:spLocks/>
                  </p:cNvSpPr>
                  <p:nvPr/>
                </p:nvSpPr>
                <p:spPr bwMode="auto">
                  <a:xfrm>
                    <a:off x="895" y="3526"/>
                    <a:ext cx="19" cy="23"/>
                  </a:xfrm>
                  <a:custGeom>
                    <a:avLst/>
                    <a:gdLst>
                      <a:gd name="T0" fmla="*/ 1 w 38"/>
                      <a:gd name="T1" fmla="*/ 0 h 69"/>
                      <a:gd name="T2" fmla="*/ 0 w 38"/>
                      <a:gd name="T3" fmla="*/ 0 h 69"/>
                      <a:gd name="T4" fmla="*/ 1 w 38"/>
                      <a:gd name="T5" fmla="*/ 0 h 69"/>
                      <a:gd name="T6" fmla="*/ 1 w 38"/>
                      <a:gd name="T7" fmla="*/ 0 h 69"/>
                      <a:gd name="T8" fmla="*/ 1 w 38"/>
                      <a:gd name="T9" fmla="*/ 0 h 69"/>
                      <a:gd name="T10" fmla="*/ 0 60000 65536"/>
                      <a:gd name="T11" fmla="*/ 0 60000 65536"/>
                      <a:gd name="T12" fmla="*/ 0 60000 65536"/>
                      <a:gd name="T13" fmla="*/ 0 60000 65536"/>
                      <a:gd name="T14" fmla="*/ 0 60000 65536"/>
                      <a:gd name="T15" fmla="*/ 0 w 38"/>
                      <a:gd name="T16" fmla="*/ 0 h 69"/>
                      <a:gd name="T17" fmla="*/ 38 w 38"/>
                      <a:gd name="T18" fmla="*/ 69 h 69"/>
                    </a:gdLst>
                    <a:ahLst/>
                    <a:cxnLst>
                      <a:cxn ang="T10">
                        <a:pos x="T0" y="T1"/>
                      </a:cxn>
                      <a:cxn ang="T11">
                        <a:pos x="T2" y="T3"/>
                      </a:cxn>
                      <a:cxn ang="T12">
                        <a:pos x="T4" y="T5"/>
                      </a:cxn>
                      <a:cxn ang="T13">
                        <a:pos x="T6" y="T7"/>
                      </a:cxn>
                      <a:cxn ang="T14">
                        <a:pos x="T8" y="T9"/>
                      </a:cxn>
                    </a:cxnLst>
                    <a:rect l="T15" t="T16" r="T17" b="T18"/>
                    <a:pathLst>
                      <a:path w="38" h="69">
                        <a:moveTo>
                          <a:pt x="22" y="69"/>
                        </a:moveTo>
                        <a:lnTo>
                          <a:pt x="0" y="34"/>
                        </a:lnTo>
                        <a:lnTo>
                          <a:pt x="11" y="0"/>
                        </a:lnTo>
                        <a:lnTo>
                          <a:pt x="38"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14" name="Freeform 2394"/>
                  <p:cNvSpPr>
                    <a:spLocks/>
                  </p:cNvSpPr>
                  <p:nvPr/>
                </p:nvSpPr>
                <p:spPr bwMode="auto">
                  <a:xfrm>
                    <a:off x="901" y="3526"/>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0" y="0"/>
                        </a:lnTo>
                        <a:lnTo>
                          <a:pt x="64" y="35"/>
                        </a:lnTo>
                        <a:lnTo>
                          <a:pt x="23"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15" name="Freeform 2395"/>
                  <p:cNvSpPr>
                    <a:spLocks/>
                  </p:cNvSpPr>
                  <p:nvPr/>
                </p:nvSpPr>
                <p:spPr bwMode="auto">
                  <a:xfrm>
                    <a:off x="907" y="3538"/>
                    <a:ext cx="32" cy="11"/>
                  </a:xfrm>
                  <a:custGeom>
                    <a:avLst/>
                    <a:gdLst>
                      <a:gd name="T0" fmla="*/ 0 w 65"/>
                      <a:gd name="T1" fmla="*/ 0 h 31"/>
                      <a:gd name="T2" fmla="*/ 0 w 65"/>
                      <a:gd name="T3" fmla="*/ 0 h 31"/>
                      <a:gd name="T4" fmla="*/ 0 w 65"/>
                      <a:gd name="T5" fmla="*/ 0 h 31"/>
                      <a:gd name="T6" fmla="*/ 0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3" y="0"/>
                        </a:lnTo>
                        <a:lnTo>
                          <a:pt x="54"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85" name="Group 2396"/>
                <p:cNvGrpSpPr>
                  <a:grpSpLocks/>
                </p:cNvGrpSpPr>
                <p:nvPr/>
              </p:nvGrpSpPr>
              <p:grpSpPr bwMode="auto">
                <a:xfrm>
                  <a:off x="907" y="3540"/>
                  <a:ext cx="45" cy="22"/>
                  <a:chOff x="907" y="3540"/>
                  <a:chExt cx="45" cy="22"/>
                </a:xfrm>
              </p:grpSpPr>
              <p:sp>
                <p:nvSpPr>
                  <p:cNvPr id="3010" name="Freeform 2397"/>
                  <p:cNvSpPr>
                    <a:spLocks/>
                  </p:cNvSpPr>
                  <p:nvPr/>
                </p:nvSpPr>
                <p:spPr bwMode="auto">
                  <a:xfrm>
                    <a:off x="907" y="3540"/>
                    <a:ext cx="20" cy="22"/>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4"/>
                        </a:lnTo>
                        <a:lnTo>
                          <a:pt x="11" y="0"/>
                        </a:lnTo>
                        <a:lnTo>
                          <a:pt x="39" y="34"/>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11" name="Freeform 2398"/>
                  <p:cNvSpPr>
                    <a:spLocks/>
                  </p:cNvSpPr>
                  <p:nvPr/>
                </p:nvSpPr>
                <p:spPr bwMode="auto">
                  <a:xfrm>
                    <a:off x="914" y="3540"/>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12" name="Freeform 2399"/>
                  <p:cNvSpPr>
                    <a:spLocks/>
                  </p:cNvSpPr>
                  <p:nvPr/>
                </p:nvSpPr>
                <p:spPr bwMode="auto">
                  <a:xfrm>
                    <a:off x="919" y="3552"/>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86" name="Group 2400"/>
                <p:cNvGrpSpPr>
                  <a:grpSpLocks/>
                </p:cNvGrpSpPr>
                <p:nvPr/>
              </p:nvGrpSpPr>
              <p:grpSpPr bwMode="auto">
                <a:xfrm>
                  <a:off x="920" y="3553"/>
                  <a:ext cx="45" cy="23"/>
                  <a:chOff x="920" y="3553"/>
                  <a:chExt cx="45" cy="23"/>
                </a:xfrm>
              </p:grpSpPr>
              <p:sp>
                <p:nvSpPr>
                  <p:cNvPr id="3007" name="Freeform 2401"/>
                  <p:cNvSpPr>
                    <a:spLocks/>
                  </p:cNvSpPr>
                  <p:nvPr/>
                </p:nvSpPr>
                <p:spPr bwMode="auto">
                  <a:xfrm>
                    <a:off x="920" y="3553"/>
                    <a:ext cx="20" cy="23"/>
                  </a:xfrm>
                  <a:custGeom>
                    <a:avLst/>
                    <a:gdLst>
                      <a:gd name="T0" fmla="*/ 0 w 41"/>
                      <a:gd name="T1" fmla="*/ 0 h 68"/>
                      <a:gd name="T2" fmla="*/ 0 w 41"/>
                      <a:gd name="T3" fmla="*/ 0 h 68"/>
                      <a:gd name="T4" fmla="*/ 0 w 41"/>
                      <a:gd name="T5" fmla="*/ 0 h 68"/>
                      <a:gd name="T6" fmla="*/ 0 w 41"/>
                      <a:gd name="T7" fmla="*/ 0 h 68"/>
                      <a:gd name="T8" fmla="*/ 0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4"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08" name="Freeform 2402"/>
                  <p:cNvSpPr>
                    <a:spLocks/>
                  </p:cNvSpPr>
                  <p:nvPr/>
                </p:nvSpPr>
                <p:spPr bwMode="auto">
                  <a:xfrm>
                    <a:off x="927" y="3554"/>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39"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09" name="Freeform 2403"/>
                  <p:cNvSpPr>
                    <a:spLocks/>
                  </p:cNvSpPr>
                  <p:nvPr/>
                </p:nvSpPr>
                <p:spPr bwMode="auto">
                  <a:xfrm>
                    <a:off x="932" y="3566"/>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3"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87" name="Group 2404"/>
                <p:cNvGrpSpPr>
                  <a:grpSpLocks/>
                </p:cNvGrpSpPr>
                <p:nvPr/>
              </p:nvGrpSpPr>
              <p:grpSpPr bwMode="auto">
                <a:xfrm>
                  <a:off x="934" y="3566"/>
                  <a:ext cx="44" cy="23"/>
                  <a:chOff x="934" y="3566"/>
                  <a:chExt cx="44" cy="23"/>
                </a:xfrm>
              </p:grpSpPr>
              <p:sp>
                <p:nvSpPr>
                  <p:cNvPr id="3004" name="Freeform 2405"/>
                  <p:cNvSpPr>
                    <a:spLocks/>
                  </p:cNvSpPr>
                  <p:nvPr/>
                </p:nvSpPr>
                <p:spPr bwMode="auto">
                  <a:xfrm>
                    <a:off x="934" y="356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2" y="68"/>
                        </a:moveTo>
                        <a:lnTo>
                          <a:pt x="0" y="33"/>
                        </a:lnTo>
                        <a:lnTo>
                          <a:pt x="12" y="0"/>
                        </a:lnTo>
                        <a:lnTo>
                          <a:pt x="40"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05" name="Freeform 2406"/>
                  <p:cNvSpPr>
                    <a:spLocks/>
                  </p:cNvSpPr>
                  <p:nvPr/>
                </p:nvSpPr>
                <p:spPr bwMode="auto">
                  <a:xfrm>
                    <a:off x="940" y="3567"/>
                    <a:ext cx="32" cy="11"/>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1"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06" name="Freeform 2407"/>
                  <p:cNvSpPr>
                    <a:spLocks/>
                  </p:cNvSpPr>
                  <p:nvPr/>
                </p:nvSpPr>
                <p:spPr bwMode="auto">
                  <a:xfrm>
                    <a:off x="945" y="3579"/>
                    <a:ext cx="33" cy="9"/>
                  </a:xfrm>
                  <a:custGeom>
                    <a:avLst/>
                    <a:gdLst>
                      <a:gd name="T0" fmla="*/ 0 w 65"/>
                      <a:gd name="T1" fmla="*/ 0 h 28"/>
                      <a:gd name="T2" fmla="*/ 1 w 65"/>
                      <a:gd name="T3" fmla="*/ 0 h 28"/>
                      <a:gd name="T4" fmla="*/ 1 w 65"/>
                      <a:gd name="T5" fmla="*/ 0 h 28"/>
                      <a:gd name="T6" fmla="*/ 1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3" y="0"/>
                        </a:lnTo>
                        <a:lnTo>
                          <a:pt x="54"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88" name="Group 2408"/>
                <p:cNvGrpSpPr>
                  <a:grpSpLocks/>
                </p:cNvGrpSpPr>
                <p:nvPr/>
              </p:nvGrpSpPr>
              <p:grpSpPr bwMode="auto">
                <a:xfrm>
                  <a:off x="949" y="3579"/>
                  <a:ext cx="83" cy="63"/>
                  <a:chOff x="949" y="3579"/>
                  <a:chExt cx="83" cy="63"/>
                </a:xfrm>
              </p:grpSpPr>
              <p:grpSp>
                <p:nvGrpSpPr>
                  <p:cNvPr id="2988" name="Group 2409"/>
                  <p:cNvGrpSpPr>
                    <a:grpSpLocks/>
                  </p:cNvGrpSpPr>
                  <p:nvPr/>
                </p:nvGrpSpPr>
                <p:grpSpPr bwMode="auto">
                  <a:xfrm>
                    <a:off x="949" y="3579"/>
                    <a:ext cx="44" cy="23"/>
                    <a:chOff x="949" y="3579"/>
                    <a:chExt cx="44" cy="23"/>
                  </a:xfrm>
                </p:grpSpPr>
                <p:sp>
                  <p:nvSpPr>
                    <p:cNvPr id="3001" name="Freeform 2410"/>
                    <p:cNvSpPr>
                      <a:spLocks/>
                    </p:cNvSpPr>
                    <p:nvPr/>
                  </p:nvSpPr>
                  <p:spPr bwMode="auto">
                    <a:xfrm>
                      <a:off x="949" y="3579"/>
                      <a:ext cx="19" cy="23"/>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2"/>
                          </a:lnTo>
                          <a:lnTo>
                            <a:pt x="11" y="0"/>
                          </a:lnTo>
                          <a:lnTo>
                            <a:pt x="38" y="32"/>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02" name="Freeform 2411"/>
                    <p:cNvSpPr>
                      <a:spLocks/>
                    </p:cNvSpPr>
                    <p:nvPr/>
                  </p:nvSpPr>
                  <p:spPr bwMode="auto">
                    <a:xfrm>
                      <a:off x="955" y="3579"/>
                      <a:ext cx="32" cy="11"/>
                    </a:xfrm>
                    <a:custGeom>
                      <a:avLst/>
                      <a:gdLst>
                        <a:gd name="T0" fmla="*/ 0 w 66"/>
                        <a:gd name="T1" fmla="*/ 0 h 32"/>
                        <a:gd name="T2" fmla="*/ 0 w 66"/>
                        <a:gd name="T3" fmla="*/ 0 h 32"/>
                        <a:gd name="T4" fmla="*/ 0 w 66"/>
                        <a:gd name="T5" fmla="*/ 0 h 32"/>
                        <a:gd name="T6" fmla="*/ 0 w 66"/>
                        <a:gd name="T7" fmla="*/ 0 h 32"/>
                        <a:gd name="T8" fmla="*/ 0 w 66"/>
                        <a:gd name="T9" fmla="*/ 0 h 32"/>
                        <a:gd name="T10" fmla="*/ 0 60000 65536"/>
                        <a:gd name="T11" fmla="*/ 0 60000 65536"/>
                        <a:gd name="T12" fmla="*/ 0 60000 65536"/>
                        <a:gd name="T13" fmla="*/ 0 60000 65536"/>
                        <a:gd name="T14" fmla="*/ 0 60000 65536"/>
                        <a:gd name="T15" fmla="*/ 0 w 66"/>
                        <a:gd name="T16" fmla="*/ 0 h 32"/>
                        <a:gd name="T17" fmla="*/ 66 w 66"/>
                        <a:gd name="T18" fmla="*/ 32 h 32"/>
                      </a:gdLst>
                      <a:ahLst/>
                      <a:cxnLst>
                        <a:cxn ang="T10">
                          <a:pos x="T0" y="T1"/>
                        </a:cxn>
                        <a:cxn ang="T11">
                          <a:pos x="T2" y="T3"/>
                        </a:cxn>
                        <a:cxn ang="T12">
                          <a:pos x="T4" y="T5"/>
                        </a:cxn>
                        <a:cxn ang="T13">
                          <a:pos x="T6" y="T7"/>
                        </a:cxn>
                        <a:cxn ang="T14">
                          <a:pos x="T8" y="T9"/>
                        </a:cxn>
                      </a:cxnLst>
                      <a:rect l="T15" t="T16" r="T17" b="T18"/>
                      <a:pathLst>
                        <a:path w="66" h="32">
                          <a:moveTo>
                            <a:pt x="0" y="0"/>
                          </a:moveTo>
                          <a:lnTo>
                            <a:pt x="42" y="0"/>
                          </a:lnTo>
                          <a:lnTo>
                            <a:pt x="66" y="32"/>
                          </a:lnTo>
                          <a:lnTo>
                            <a:pt x="25"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03" name="Freeform 2412"/>
                    <p:cNvSpPr>
                      <a:spLocks/>
                    </p:cNvSpPr>
                    <p:nvPr/>
                  </p:nvSpPr>
                  <p:spPr bwMode="auto">
                    <a:xfrm>
                      <a:off x="960" y="3591"/>
                      <a:ext cx="33" cy="10"/>
                    </a:xfrm>
                    <a:custGeom>
                      <a:avLst/>
                      <a:gdLst>
                        <a:gd name="T0" fmla="*/ 0 w 65"/>
                        <a:gd name="T1" fmla="*/ 0 h 31"/>
                        <a:gd name="T2" fmla="*/ 1 w 65"/>
                        <a:gd name="T3" fmla="*/ 0 h 31"/>
                        <a:gd name="T4" fmla="*/ 1 w 65"/>
                        <a:gd name="T5" fmla="*/ 0 h 31"/>
                        <a:gd name="T6" fmla="*/ 1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4" y="0"/>
                          </a:lnTo>
                          <a:lnTo>
                            <a:pt x="55"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89" name="Group 2413"/>
                  <p:cNvGrpSpPr>
                    <a:grpSpLocks/>
                  </p:cNvGrpSpPr>
                  <p:nvPr/>
                </p:nvGrpSpPr>
                <p:grpSpPr bwMode="auto">
                  <a:xfrm>
                    <a:off x="961" y="3592"/>
                    <a:ext cx="45" cy="23"/>
                    <a:chOff x="961" y="3592"/>
                    <a:chExt cx="45" cy="23"/>
                  </a:xfrm>
                </p:grpSpPr>
                <p:sp>
                  <p:nvSpPr>
                    <p:cNvPr id="2998" name="Freeform 2414"/>
                    <p:cNvSpPr>
                      <a:spLocks/>
                    </p:cNvSpPr>
                    <p:nvPr/>
                  </p:nvSpPr>
                  <p:spPr bwMode="auto">
                    <a:xfrm>
                      <a:off x="961" y="3592"/>
                      <a:ext cx="20" cy="23"/>
                    </a:xfrm>
                    <a:custGeom>
                      <a:avLst/>
                      <a:gdLst>
                        <a:gd name="T0" fmla="*/ 1 w 40"/>
                        <a:gd name="T1" fmla="*/ 0 h 69"/>
                        <a:gd name="T2" fmla="*/ 0 w 40"/>
                        <a:gd name="T3" fmla="*/ 0 h 69"/>
                        <a:gd name="T4" fmla="*/ 1 w 40"/>
                        <a:gd name="T5" fmla="*/ 0 h 69"/>
                        <a:gd name="T6" fmla="*/ 1 w 40"/>
                        <a:gd name="T7" fmla="*/ 0 h 69"/>
                        <a:gd name="T8" fmla="*/ 1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3"/>
                          </a:lnTo>
                          <a:lnTo>
                            <a:pt x="12" y="0"/>
                          </a:lnTo>
                          <a:lnTo>
                            <a:pt x="40"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99" name="Freeform 2415"/>
                    <p:cNvSpPr>
                      <a:spLocks/>
                    </p:cNvSpPr>
                    <p:nvPr/>
                  </p:nvSpPr>
                  <p:spPr bwMode="auto">
                    <a:xfrm>
                      <a:off x="968" y="3593"/>
                      <a:ext cx="33" cy="11"/>
                    </a:xfrm>
                    <a:custGeom>
                      <a:avLst/>
                      <a:gdLst>
                        <a:gd name="T0" fmla="*/ 0 w 66"/>
                        <a:gd name="T1" fmla="*/ 0 h 35"/>
                        <a:gd name="T2" fmla="*/ 1 w 66"/>
                        <a:gd name="T3" fmla="*/ 0 h 35"/>
                        <a:gd name="T4" fmla="*/ 1 w 66"/>
                        <a:gd name="T5" fmla="*/ 0 h 35"/>
                        <a:gd name="T6" fmla="*/ 1 w 66"/>
                        <a:gd name="T7" fmla="*/ 0 h 35"/>
                        <a:gd name="T8" fmla="*/ 0 w 66"/>
                        <a:gd name="T9" fmla="*/ 0 h 35"/>
                        <a:gd name="T10" fmla="*/ 0 60000 65536"/>
                        <a:gd name="T11" fmla="*/ 0 60000 65536"/>
                        <a:gd name="T12" fmla="*/ 0 60000 65536"/>
                        <a:gd name="T13" fmla="*/ 0 60000 65536"/>
                        <a:gd name="T14" fmla="*/ 0 60000 65536"/>
                        <a:gd name="T15" fmla="*/ 0 w 66"/>
                        <a:gd name="T16" fmla="*/ 0 h 35"/>
                        <a:gd name="T17" fmla="*/ 66 w 66"/>
                        <a:gd name="T18" fmla="*/ 35 h 35"/>
                      </a:gdLst>
                      <a:ahLst/>
                      <a:cxnLst>
                        <a:cxn ang="T10">
                          <a:pos x="T0" y="T1"/>
                        </a:cxn>
                        <a:cxn ang="T11">
                          <a:pos x="T2" y="T3"/>
                        </a:cxn>
                        <a:cxn ang="T12">
                          <a:pos x="T4" y="T5"/>
                        </a:cxn>
                        <a:cxn ang="T13">
                          <a:pos x="T6" y="T7"/>
                        </a:cxn>
                        <a:cxn ang="T14">
                          <a:pos x="T8" y="T9"/>
                        </a:cxn>
                      </a:cxnLst>
                      <a:rect l="T15" t="T16" r="T17" b="T18"/>
                      <a:pathLst>
                        <a:path w="66" h="35">
                          <a:moveTo>
                            <a:pt x="0" y="0"/>
                          </a:moveTo>
                          <a:lnTo>
                            <a:pt x="41" y="0"/>
                          </a:lnTo>
                          <a:lnTo>
                            <a:pt x="66"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00" name="Freeform 2416"/>
                    <p:cNvSpPr>
                      <a:spLocks/>
                    </p:cNvSpPr>
                    <p:nvPr/>
                  </p:nvSpPr>
                  <p:spPr bwMode="auto">
                    <a:xfrm>
                      <a:off x="973" y="3605"/>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3" y="0"/>
                          </a:lnTo>
                          <a:lnTo>
                            <a:pt x="55"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90" name="Group 2417"/>
                  <p:cNvGrpSpPr>
                    <a:grpSpLocks/>
                  </p:cNvGrpSpPr>
                  <p:nvPr/>
                </p:nvGrpSpPr>
                <p:grpSpPr bwMode="auto">
                  <a:xfrm>
                    <a:off x="974" y="3606"/>
                    <a:ext cx="44" cy="23"/>
                    <a:chOff x="974" y="3606"/>
                    <a:chExt cx="44" cy="23"/>
                  </a:xfrm>
                </p:grpSpPr>
                <p:sp>
                  <p:nvSpPr>
                    <p:cNvPr id="2995" name="Freeform 2418"/>
                    <p:cNvSpPr>
                      <a:spLocks/>
                    </p:cNvSpPr>
                    <p:nvPr/>
                  </p:nvSpPr>
                  <p:spPr bwMode="auto">
                    <a:xfrm>
                      <a:off x="974" y="360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5"/>
                          </a:lnTo>
                          <a:lnTo>
                            <a:pt x="12" y="0"/>
                          </a:lnTo>
                          <a:lnTo>
                            <a:pt x="40" y="35"/>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96" name="Freeform 2419"/>
                    <p:cNvSpPr>
                      <a:spLocks/>
                    </p:cNvSpPr>
                    <p:nvPr/>
                  </p:nvSpPr>
                  <p:spPr bwMode="auto">
                    <a:xfrm>
                      <a:off x="980" y="3606"/>
                      <a:ext cx="32" cy="12"/>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2"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97" name="Freeform 2420"/>
                    <p:cNvSpPr>
                      <a:spLocks/>
                    </p:cNvSpPr>
                    <p:nvPr/>
                  </p:nvSpPr>
                  <p:spPr bwMode="auto">
                    <a:xfrm>
                      <a:off x="986" y="3619"/>
                      <a:ext cx="32" cy="9"/>
                    </a:xfrm>
                    <a:custGeom>
                      <a:avLst/>
                      <a:gdLst>
                        <a:gd name="T0" fmla="*/ 0 w 65"/>
                        <a:gd name="T1" fmla="*/ 0 h 29"/>
                        <a:gd name="T2" fmla="*/ 0 w 65"/>
                        <a:gd name="T3" fmla="*/ 0 h 29"/>
                        <a:gd name="T4" fmla="*/ 0 w 65"/>
                        <a:gd name="T5" fmla="*/ 0 h 29"/>
                        <a:gd name="T6" fmla="*/ 0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2"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91" name="Group 2421"/>
                  <p:cNvGrpSpPr>
                    <a:grpSpLocks/>
                  </p:cNvGrpSpPr>
                  <p:nvPr/>
                </p:nvGrpSpPr>
                <p:grpSpPr bwMode="auto">
                  <a:xfrm>
                    <a:off x="987" y="3619"/>
                    <a:ext cx="45" cy="23"/>
                    <a:chOff x="987" y="3619"/>
                    <a:chExt cx="45" cy="23"/>
                  </a:xfrm>
                </p:grpSpPr>
                <p:sp>
                  <p:nvSpPr>
                    <p:cNvPr id="2992" name="Freeform 2422"/>
                    <p:cNvSpPr>
                      <a:spLocks/>
                    </p:cNvSpPr>
                    <p:nvPr/>
                  </p:nvSpPr>
                  <p:spPr bwMode="auto">
                    <a:xfrm>
                      <a:off x="987" y="3619"/>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3"/>
                          </a:lnTo>
                          <a:lnTo>
                            <a:pt x="12" y="0"/>
                          </a:lnTo>
                          <a:lnTo>
                            <a:pt x="39"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93" name="Freeform 2423"/>
                    <p:cNvSpPr>
                      <a:spLocks/>
                    </p:cNvSpPr>
                    <p:nvPr/>
                  </p:nvSpPr>
                  <p:spPr bwMode="auto">
                    <a:xfrm>
                      <a:off x="994" y="3620"/>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5"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94" name="Freeform 2424"/>
                    <p:cNvSpPr>
                      <a:spLocks/>
                    </p:cNvSpPr>
                    <p:nvPr/>
                  </p:nvSpPr>
                  <p:spPr bwMode="auto">
                    <a:xfrm>
                      <a:off x="999" y="3632"/>
                      <a:ext cx="33" cy="9"/>
                    </a:xfrm>
                    <a:custGeom>
                      <a:avLst/>
                      <a:gdLst>
                        <a:gd name="T0" fmla="*/ 0 w 65"/>
                        <a:gd name="T1" fmla="*/ 0 h 29"/>
                        <a:gd name="T2" fmla="*/ 1 w 65"/>
                        <a:gd name="T3" fmla="*/ 0 h 29"/>
                        <a:gd name="T4" fmla="*/ 1 w 65"/>
                        <a:gd name="T5" fmla="*/ 0 h 29"/>
                        <a:gd name="T6" fmla="*/ 1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4"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89" name="Group 2425"/>
                <p:cNvGrpSpPr>
                  <a:grpSpLocks/>
                </p:cNvGrpSpPr>
                <p:nvPr/>
              </p:nvGrpSpPr>
              <p:grpSpPr bwMode="auto">
                <a:xfrm>
                  <a:off x="1002" y="3632"/>
                  <a:ext cx="83" cy="63"/>
                  <a:chOff x="1002" y="3632"/>
                  <a:chExt cx="83" cy="63"/>
                </a:xfrm>
              </p:grpSpPr>
              <p:grpSp>
                <p:nvGrpSpPr>
                  <p:cNvPr id="2972" name="Group 2426"/>
                  <p:cNvGrpSpPr>
                    <a:grpSpLocks/>
                  </p:cNvGrpSpPr>
                  <p:nvPr/>
                </p:nvGrpSpPr>
                <p:grpSpPr bwMode="auto">
                  <a:xfrm>
                    <a:off x="1002" y="3632"/>
                    <a:ext cx="44" cy="22"/>
                    <a:chOff x="1002" y="3632"/>
                    <a:chExt cx="44" cy="22"/>
                  </a:xfrm>
                </p:grpSpPr>
                <p:sp>
                  <p:nvSpPr>
                    <p:cNvPr id="2985" name="Freeform 2427"/>
                    <p:cNvSpPr>
                      <a:spLocks/>
                    </p:cNvSpPr>
                    <p:nvPr/>
                  </p:nvSpPr>
                  <p:spPr bwMode="auto">
                    <a:xfrm>
                      <a:off x="1002" y="3632"/>
                      <a:ext cx="19" cy="22"/>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3"/>
                          </a:lnTo>
                          <a:lnTo>
                            <a:pt x="10" y="0"/>
                          </a:lnTo>
                          <a:lnTo>
                            <a:pt x="38" y="33"/>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86" name="Freeform 2428"/>
                    <p:cNvSpPr>
                      <a:spLocks/>
                    </p:cNvSpPr>
                    <p:nvPr/>
                  </p:nvSpPr>
                  <p:spPr bwMode="auto">
                    <a:xfrm>
                      <a:off x="1008" y="3632"/>
                      <a:ext cx="33" cy="12"/>
                    </a:xfrm>
                    <a:custGeom>
                      <a:avLst/>
                      <a:gdLst>
                        <a:gd name="T0" fmla="*/ 0 w 65"/>
                        <a:gd name="T1" fmla="*/ 0 h 35"/>
                        <a:gd name="T2" fmla="*/ 1 w 65"/>
                        <a:gd name="T3" fmla="*/ 0 h 35"/>
                        <a:gd name="T4" fmla="*/ 1 w 65"/>
                        <a:gd name="T5" fmla="*/ 0 h 35"/>
                        <a:gd name="T6" fmla="*/ 1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0"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87" name="Freeform 2429"/>
                    <p:cNvSpPr>
                      <a:spLocks/>
                    </p:cNvSpPr>
                    <p:nvPr/>
                  </p:nvSpPr>
                  <p:spPr bwMode="auto">
                    <a:xfrm>
                      <a:off x="1013" y="3644"/>
                      <a:ext cx="33" cy="10"/>
                    </a:xfrm>
                    <a:custGeom>
                      <a:avLst/>
                      <a:gdLst>
                        <a:gd name="T0" fmla="*/ 0 w 66"/>
                        <a:gd name="T1" fmla="*/ 0 h 28"/>
                        <a:gd name="T2" fmla="*/ 1 w 66"/>
                        <a:gd name="T3" fmla="*/ 0 h 28"/>
                        <a:gd name="T4" fmla="*/ 1 w 66"/>
                        <a:gd name="T5" fmla="*/ 0 h 28"/>
                        <a:gd name="T6" fmla="*/ 1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3" y="0"/>
                          </a:lnTo>
                          <a:lnTo>
                            <a:pt x="55"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73" name="Group 2430"/>
                  <p:cNvGrpSpPr>
                    <a:grpSpLocks/>
                  </p:cNvGrpSpPr>
                  <p:nvPr/>
                </p:nvGrpSpPr>
                <p:grpSpPr bwMode="auto">
                  <a:xfrm>
                    <a:off x="1014" y="3645"/>
                    <a:ext cx="44" cy="23"/>
                    <a:chOff x="1014" y="3645"/>
                    <a:chExt cx="44" cy="23"/>
                  </a:xfrm>
                </p:grpSpPr>
                <p:sp>
                  <p:nvSpPr>
                    <p:cNvPr id="2982" name="Freeform 2431"/>
                    <p:cNvSpPr>
                      <a:spLocks/>
                    </p:cNvSpPr>
                    <p:nvPr/>
                  </p:nvSpPr>
                  <p:spPr bwMode="auto">
                    <a:xfrm>
                      <a:off x="1014" y="3645"/>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4"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83" name="Freeform 2432"/>
                    <p:cNvSpPr>
                      <a:spLocks/>
                    </p:cNvSpPr>
                    <p:nvPr/>
                  </p:nvSpPr>
                  <p:spPr bwMode="auto">
                    <a:xfrm>
                      <a:off x="1021" y="3646"/>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41"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84" name="Freeform 2433"/>
                    <p:cNvSpPr>
                      <a:spLocks/>
                    </p:cNvSpPr>
                    <p:nvPr/>
                  </p:nvSpPr>
                  <p:spPr bwMode="auto">
                    <a:xfrm>
                      <a:off x="1026" y="3658"/>
                      <a:ext cx="32" cy="10"/>
                    </a:xfrm>
                    <a:custGeom>
                      <a:avLst/>
                      <a:gdLst>
                        <a:gd name="T0" fmla="*/ 0 w 65"/>
                        <a:gd name="T1" fmla="*/ 0 h 30"/>
                        <a:gd name="T2" fmla="*/ 0 w 65"/>
                        <a:gd name="T3" fmla="*/ 0 h 30"/>
                        <a:gd name="T4" fmla="*/ 0 w 65"/>
                        <a:gd name="T5" fmla="*/ 0 h 30"/>
                        <a:gd name="T6" fmla="*/ 0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2"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74" name="Group 2434"/>
                  <p:cNvGrpSpPr>
                    <a:grpSpLocks/>
                  </p:cNvGrpSpPr>
                  <p:nvPr/>
                </p:nvGrpSpPr>
                <p:grpSpPr bwMode="auto">
                  <a:xfrm>
                    <a:off x="1027" y="3659"/>
                    <a:ext cx="45" cy="23"/>
                    <a:chOff x="1027" y="3659"/>
                    <a:chExt cx="45" cy="23"/>
                  </a:xfrm>
                </p:grpSpPr>
                <p:sp>
                  <p:nvSpPr>
                    <p:cNvPr id="2979" name="Freeform 2435"/>
                    <p:cNvSpPr>
                      <a:spLocks/>
                    </p:cNvSpPr>
                    <p:nvPr/>
                  </p:nvSpPr>
                  <p:spPr bwMode="auto">
                    <a:xfrm>
                      <a:off x="1027" y="3659"/>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2" y="70"/>
                          </a:moveTo>
                          <a:lnTo>
                            <a:pt x="0" y="34"/>
                          </a:lnTo>
                          <a:lnTo>
                            <a:pt x="12" y="0"/>
                          </a:lnTo>
                          <a:lnTo>
                            <a:pt x="39" y="34"/>
                          </a:lnTo>
                          <a:lnTo>
                            <a:pt x="22"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80" name="Freeform 2436"/>
                    <p:cNvSpPr>
                      <a:spLocks/>
                    </p:cNvSpPr>
                    <p:nvPr/>
                  </p:nvSpPr>
                  <p:spPr bwMode="auto">
                    <a:xfrm>
                      <a:off x="1033" y="3659"/>
                      <a:ext cx="33"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81" name="Freeform 2437"/>
                    <p:cNvSpPr>
                      <a:spLocks/>
                    </p:cNvSpPr>
                    <p:nvPr/>
                  </p:nvSpPr>
                  <p:spPr bwMode="auto">
                    <a:xfrm>
                      <a:off x="1039" y="3671"/>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75" name="Group 2438"/>
                  <p:cNvGrpSpPr>
                    <a:grpSpLocks/>
                  </p:cNvGrpSpPr>
                  <p:nvPr/>
                </p:nvGrpSpPr>
                <p:grpSpPr bwMode="auto">
                  <a:xfrm>
                    <a:off x="1040" y="3672"/>
                    <a:ext cx="45" cy="23"/>
                    <a:chOff x="1040" y="3672"/>
                    <a:chExt cx="45" cy="23"/>
                  </a:xfrm>
                </p:grpSpPr>
                <p:sp>
                  <p:nvSpPr>
                    <p:cNvPr id="2976" name="Freeform 2439"/>
                    <p:cNvSpPr>
                      <a:spLocks/>
                    </p:cNvSpPr>
                    <p:nvPr/>
                  </p:nvSpPr>
                  <p:spPr bwMode="auto">
                    <a:xfrm>
                      <a:off x="1040" y="3672"/>
                      <a:ext cx="20" cy="23"/>
                    </a:xfrm>
                    <a:custGeom>
                      <a:avLst/>
                      <a:gdLst>
                        <a:gd name="T0" fmla="*/ 0 w 41"/>
                        <a:gd name="T1" fmla="*/ 0 h 70"/>
                        <a:gd name="T2" fmla="*/ 0 w 41"/>
                        <a:gd name="T3" fmla="*/ 0 h 70"/>
                        <a:gd name="T4" fmla="*/ 0 w 41"/>
                        <a:gd name="T5" fmla="*/ 0 h 70"/>
                        <a:gd name="T6" fmla="*/ 0 w 41"/>
                        <a:gd name="T7" fmla="*/ 0 h 70"/>
                        <a:gd name="T8" fmla="*/ 0 w 41"/>
                        <a:gd name="T9" fmla="*/ 0 h 70"/>
                        <a:gd name="T10" fmla="*/ 0 60000 65536"/>
                        <a:gd name="T11" fmla="*/ 0 60000 65536"/>
                        <a:gd name="T12" fmla="*/ 0 60000 65536"/>
                        <a:gd name="T13" fmla="*/ 0 60000 65536"/>
                        <a:gd name="T14" fmla="*/ 0 60000 65536"/>
                        <a:gd name="T15" fmla="*/ 0 w 41"/>
                        <a:gd name="T16" fmla="*/ 0 h 70"/>
                        <a:gd name="T17" fmla="*/ 41 w 41"/>
                        <a:gd name="T18" fmla="*/ 70 h 70"/>
                      </a:gdLst>
                      <a:ahLst/>
                      <a:cxnLst>
                        <a:cxn ang="T10">
                          <a:pos x="T0" y="T1"/>
                        </a:cxn>
                        <a:cxn ang="T11">
                          <a:pos x="T2" y="T3"/>
                        </a:cxn>
                        <a:cxn ang="T12">
                          <a:pos x="T4" y="T5"/>
                        </a:cxn>
                        <a:cxn ang="T13">
                          <a:pos x="T6" y="T7"/>
                        </a:cxn>
                        <a:cxn ang="T14">
                          <a:pos x="T8" y="T9"/>
                        </a:cxn>
                      </a:cxnLst>
                      <a:rect l="T15" t="T16" r="T17" b="T18"/>
                      <a:pathLst>
                        <a:path w="41" h="70">
                          <a:moveTo>
                            <a:pt x="24" y="70"/>
                          </a:moveTo>
                          <a:lnTo>
                            <a:pt x="0" y="35"/>
                          </a:lnTo>
                          <a:lnTo>
                            <a:pt x="13" y="0"/>
                          </a:lnTo>
                          <a:lnTo>
                            <a:pt x="41" y="35"/>
                          </a:lnTo>
                          <a:lnTo>
                            <a:pt x="24"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77" name="Freeform 2440"/>
                    <p:cNvSpPr>
                      <a:spLocks/>
                    </p:cNvSpPr>
                    <p:nvPr/>
                  </p:nvSpPr>
                  <p:spPr bwMode="auto">
                    <a:xfrm>
                      <a:off x="1047" y="3672"/>
                      <a:ext cx="32" cy="12"/>
                    </a:xfrm>
                    <a:custGeom>
                      <a:avLst/>
                      <a:gdLst>
                        <a:gd name="T0" fmla="*/ 0 w 65"/>
                        <a:gd name="T1" fmla="*/ 0 h 34"/>
                        <a:gd name="T2" fmla="*/ 0 w 65"/>
                        <a:gd name="T3" fmla="*/ 0 h 34"/>
                        <a:gd name="T4" fmla="*/ 0 w 65"/>
                        <a:gd name="T5" fmla="*/ 0 h 34"/>
                        <a:gd name="T6" fmla="*/ 0 w 65"/>
                        <a:gd name="T7" fmla="*/ 0 h 34"/>
                        <a:gd name="T8" fmla="*/ 0 w 65"/>
                        <a:gd name="T9" fmla="*/ 0 h 34"/>
                        <a:gd name="T10" fmla="*/ 0 60000 65536"/>
                        <a:gd name="T11" fmla="*/ 0 60000 65536"/>
                        <a:gd name="T12" fmla="*/ 0 60000 65536"/>
                        <a:gd name="T13" fmla="*/ 0 60000 65536"/>
                        <a:gd name="T14" fmla="*/ 0 60000 65536"/>
                        <a:gd name="T15" fmla="*/ 0 w 65"/>
                        <a:gd name="T16" fmla="*/ 0 h 34"/>
                        <a:gd name="T17" fmla="*/ 65 w 65"/>
                        <a:gd name="T18" fmla="*/ 34 h 34"/>
                      </a:gdLst>
                      <a:ahLst/>
                      <a:cxnLst>
                        <a:cxn ang="T10">
                          <a:pos x="T0" y="T1"/>
                        </a:cxn>
                        <a:cxn ang="T11">
                          <a:pos x="T2" y="T3"/>
                        </a:cxn>
                        <a:cxn ang="T12">
                          <a:pos x="T4" y="T5"/>
                        </a:cxn>
                        <a:cxn ang="T13">
                          <a:pos x="T6" y="T7"/>
                        </a:cxn>
                        <a:cxn ang="T14">
                          <a:pos x="T8" y="T9"/>
                        </a:cxn>
                      </a:cxnLst>
                      <a:rect l="T15" t="T16" r="T17" b="T18"/>
                      <a:pathLst>
                        <a:path w="65" h="34">
                          <a:moveTo>
                            <a:pt x="0" y="0"/>
                          </a:moveTo>
                          <a:lnTo>
                            <a:pt x="41" y="0"/>
                          </a:lnTo>
                          <a:lnTo>
                            <a:pt x="65" y="34"/>
                          </a:lnTo>
                          <a:lnTo>
                            <a:pt x="2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78" name="Freeform 2441"/>
                    <p:cNvSpPr>
                      <a:spLocks/>
                    </p:cNvSpPr>
                    <p:nvPr/>
                  </p:nvSpPr>
                  <p:spPr bwMode="auto">
                    <a:xfrm>
                      <a:off x="1053" y="3685"/>
                      <a:ext cx="32" cy="9"/>
                    </a:xfrm>
                    <a:custGeom>
                      <a:avLst/>
                      <a:gdLst>
                        <a:gd name="T0" fmla="*/ 0 w 66"/>
                        <a:gd name="T1" fmla="*/ 0 h 28"/>
                        <a:gd name="T2" fmla="*/ 0 w 66"/>
                        <a:gd name="T3" fmla="*/ 0 h 28"/>
                        <a:gd name="T4" fmla="*/ 0 w 66"/>
                        <a:gd name="T5" fmla="*/ 0 h 28"/>
                        <a:gd name="T6" fmla="*/ 0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2" y="0"/>
                          </a:lnTo>
                          <a:lnTo>
                            <a:pt x="54"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90" name="Group 2442"/>
                <p:cNvGrpSpPr>
                  <a:grpSpLocks/>
                </p:cNvGrpSpPr>
                <p:nvPr/>
              </p:nvGrpSpPr>
              <p:grpSpPr bwMode="auto">
                <a:xfrm>
                  <a:off x="1054" y="3685"/>
                  <a:ext cx="45" cy="23"/>
                  <a:chOff x="1054" y="3685"/>
                  <a:chExt cx="45" cy="23"/>
                </a:xfrm>
              </p:grpSpPr>
              <p:sp>
                <p:nvSpPr>
                  <p:cNvPr id="2969" name="Freeform 2443"/>
                  <p:cNvSpPr>
                    <a:spLocks/>
                  </p:cNvSpPr>
                  <p:nvPr/>
                </p:nvSpPr>
                <p:spPr bwMode="auto">
                  <a:xfrm>
                    <a:off x="1054" y="3685"/>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3" y="70"/>
                        </a:moveTo>
                        <a:lnTo>
                          <a:pt x="0" y="34"/>
                        </a:lnTo>
                        <a:lnTo>
                          <a:pt x="13" y="0"/>
                        </a:lnTo>
                        <a:lnTo>
                          <a:pt x="39" y="34"/>
                        </a:lnTo>
                        <a:lnTo>
                          <a:pt x="23"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70" name="Freeform 2444"/>
                  <p:cNvSpPr>
                    <a:spLocks/>
                  </p:cNvSpPr>
                  <p:nvPr/>
                </p:nvSpPr>
                <p:spPr bwMode="auto">
                  <a:xfrm>
                    <a:off x="1061" y="3685"/>
                    <a:ext cx="32" cy="12"/>
                  </a:xfrm>
                  <a:custGeom>
                    <a:avLst/>
                    <a:gdLst>
                      <a:gd name="T0" fmla="*/ 0 w 63"/>
                      <a:gd name="T1" fmla="*/ 0 h 35"/>
                      <a:gd name="T2" fmla="*/ 1 w 63"/>
                      <a:gd name="T3" fmla="*/ 0 h 35"/>
                      <a:gd name="T4" fmla="*/ 1 w 63"/>
                      <a:gd name="T5" fmla="*/ 0 h 35"/>
                      <a:gd name="T6" fmla="*/ 1 w 63"/>
                      <a:gd name="T7" fmla="*/ 0 h 35"/>
                      <a:gd name="T8" fmla="*/ 0 w 63"/>
                      <a:gd name="T9" fmla="*/ 0 h 35"/>
                      <a:gd name="T10" fmla="*/ 0 60000 65536"/>
                      <a:gd name="T11" fmla="*/ 0 60000 65536"/>
                      <a:gd name="T12" fmla="*/ 0 60000 65536"/>
                      <a:gd name="T13" fmla="*/ 0 60000 65536"/>
                      <a:gd name="T14" fmla="*/ 0 60000 65536"/>
                      <a:gd name="T15" fmla="*/ 0 w 63"/>
                      <a:gd name="T16" fmla="*/ 0 h 35"/>
                      <a:gd name="T17" fmla="*/ 63 w 63"/>
                      <a:gd name="T18" fmla="*/ 35 h 35"/>
                    </a:gdLst>
                    <a:ahLst/>
                    <a:cxnLst>
                      <a:cxn ang="T10">
                        <a:pos x="T0" y="T1"/>
                      </a:cxn>
                      <a:cxn ang="T11">
                        <a:pos x="T2" y="T3"/>
                      </a:cxn>
                      <a:cxn ang="T12">
                        <a:pos x="T4" y="T5"/>
                      </a:cxn>
                      <a:cxn ang="T13">
                        <a:pos x="T6" y="T7"/>
                      </a:cxn>
                      <a:cxn ang="T14">
                        <a:pos x="T8" y="T9"/>
                      </a:cxn>
                    </a:cxnLst>
                    <a:rect l="T15" t="T16" r="T17" b="T18"/>
                    <a:pathLst>
                      <a:path w="63" h="35">
                        <a:moveTo>
                          <a:pt x="0" y="0"/>
                        </a:moveTo>
                        <a:lnTo>
                          <a:pt x="41" y="0"/>
                        </a:lnTo>
                        <a:lnTo>
                          <a:pt x="63"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71" name="Freeform 2445"/>
                  <p:cNvSpPr>
                    <a:spLocks/>
                  </p:cNvSpPr>
                  <p:nvPr/>
                </p:nvSpPr>
                <p:spPr bwMode="auto">
                  <a:xfrm>
                    <a:off x="1066" y="3697"/>
                    <a:ext cx="33" cy="10"/>
                  </a:xfrm>
                  <a:custGeom>
                    <a:avLst/>
                    <a:gdLst>
                      <a:gd name="T0" fmla="*/ 0 w 64"/>
                      <a:gd name="T1" fmla="*/ 0 h 30"/>
                      <a:gd name="T2" fmla="*/ 1 w 64"/>
                      <a:gd name="T3" fmla="*/ 0 h 30"/>
                      <a:gd name="T4" fmla="*/ 1 w 64"/>
                      <a:gd name="T5" fmla="*/ 0 h 30"/>
                      <a:gd name="T6" fmla="*/ 1 w 64"/>
                      <a:gd name="T7" fmla="*/ 0 h 30"/>
                      <a:gd name="T8" fmla="*/ 0 w 64"/>
                      <a:gd name="T9" fmla="*/ 0 h 30"/>
                      <a:gd name="T10" fmla="*/ 0 60000 65536"/>
                      <a:gd name="T11" fmla="*/ 0 60000 65536"/>
                      <a:gd name="T12" fmla="*/ 0 60000 65536"/>
                      <a:gd name="T13" fmla="*/ 0 60000 65536"/>
                      <a:gd name="T14" fmla="*/ 0 60000 65536"/>
                      <a:gd name="T15" fmla="*/ 0 w 64"/>
                      <a:gd name="T16" fmla="*/ 0 h 30"/>
                      <a:gd name="T17" fmla="*/ 64 w 64"/>
                      <a:gd name="T18" fmla="*/ 30 h 30"/>
                    </a:gdLst>
                    <a:ahLst/>
                    <a:cxnLst>
                      <a:cxn ang="T10">
                        <a:pos x="T0" y="T1"/>
                      </a:cxn>
                      <a:cxn ang="T11">
                        <a:pos x="T2" y="T3"/>
                      </a:cxn>
                      <a:cxn ang="T12">
                        <a:pos x="T4" y="T5"/>
                      </a:cxn>
                      <a:cxn ang="T13">
                        <a:pos x="T6" y="T7"/>
                      </a:cxn>
                      <a:cxn ang="T14">
                        <a:pos x="T8" y="T9"/>
                      </a:cxn>
                    </a:cxnLst>
                    <a:rect l="T15" t="T16" r="T17" b="T18"/>
                    <a:pathLst>
                      <a:path w="64" h="30">
                        <a:moveTo>
                          <a:pt x="0" y="30"/>
                        </a:moveTo>
                        <a:lnTo>
                          <a:pt x="13" y="0"/>
                        </a:lnTo>
                        <a:lnTo>
                          <a:pt x="52" y="0"/>
                        </a:lnTo>
                        <a:lnTo>
                          <a:pt x="64"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91" name="Group 2446"/>
                <p:cNvGrpSpPr>
                  <a:grpSpLocks/>
                </p:cNvGrpSpPr>
                <p:nvPr/>
              </p:nvGrpSpPr>
              <p:grpSpPr bwMode="auto">
                <a:xfrm>
                  <a:off x="1067" y="3698"/>
                  <a:ext cx="45" cy="23"/>
                  <a:chOff x="1067" y="3698"/>
                  <a:chExt cx="45" cy="23"/>
                </a:xfrm>
              </p:grpSpPr>
              <p:sp>
                <p:nvSpPr>
                  <p:cNvPr id="2966" name="Freeform 2447"/>
                  <p:cNvSpPr>
                    <a:spLocks/>
                  </p:cNvSpPr>
                  <p:nvPr/>
                </p:nvSpPr>
                <p:spPr bwMode="auto">
                  <a:xfrm>
                    <a:off x="1067" y="3698"/>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2" y="69"/>
                        </a:moveTo>
                        <a:lnTo>
                          <a:pt x="0" y="34"/>
                        </a:lnTo>
                        <a:lnTo>
                          <a:pt x="12" y="0"/>
                        </a:lnTo>
                        <a:lnTo>
                          <a:pt x="39"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67" name="Freeform 2448"/>
                  <p:cNvSpPr>
                    <a:spLocks/>
                  </p:cNvSpPr>
                  <p:nvPr/>
                </p:nvSpPr>
                <p:spPr bwMode="auto">
                  <a:xfrm>
                    <a:off x="1074" y="3699"/>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68" name="Freeform 2449"/>
                  <p:cNvSpPr>
                    <a:spLocks/>
                  </p:cNvSpPr>
                  <p:nvPr/>
                </p:nvSpPr>
                <p:spPr bwMode="auto">
                  <a:xfrm>
                    <a:off x="1079" y="3711"/>
                    <a:ext cx="33" cy="10"/>
                  </a:xfrm>
                  <a:custGeom>
                    <a:avLst/>
                    <a:gdLst>
                      <a:gd name="T0" fmla="*/ 0 w 65"/>
                      <a:gd name="T1" fmla="*/ 0 h 30"/>
                      <a:gd name="T2" fmla="*/ 1 w 65"/>
                      <a:gd name="T3" fmla="*/ 0 h 30"/>
                      <a:gd name="T4" fmla="*/ 1 w 65"/>
                      <a:gd name="T5" fmla="*/ 0 h 30"/>
                      <a:gd name="T6" fmla="*/ 1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1"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92" name="Group 2450"/>
                <p:cNvGrpSpPr>
                  <a:grpSpLocks/>
                </p:cNvGrpSpPr>
                <p:nvPr/>
              </p:nvGrpSpPr>
              <p:grpSpPr bwMode="auto">
                <a:xfrm>
                  <a:off x="1079" y="3712"/>
                  <a:ext cx="44" cy="23"/>
                  <a:chOff x="1079" y="3712"/>
                  <a:chExt cx="44" cy="23"/>
                </a:xfrm>
              </p:grpSpPr>
              <p:sp>
                <p:nvSpPr>
                  <p:cNvPr id="2963" name="Freeform 2451"/>
                  <p:cNvSpPr>
                    <a:spLocks/>
                  </p:cNvSpPr>
                  <p:nvPr/>
                </p:nvSpPr>
                <p:spPr bwMode="auto">
                  <a:xfrm>
                    <a:off x="1079" y="3712"/>
                    <a:ext cx="21" cy="23"/>
                  </a:xfrm>
                  <a:custGeom>
                    <a:avLst/>
                    <a:gdLst>
                      <a:gd name="T0" fmla="*/ 1 w 41"/>
                      <a:gd name="T1" fmla="*/ 0 h 68"/>
                      <a:gd name="T2" fmla="*/ 0 w 41"/>
                      <a:gd name="T3" fmla="*/ 0 h 68"/>
                      <a:gd name="T4" fmla="*/ 1 w 41"/>
                      <a:gd name="T5" fmla="*/ 0 h 68"/>
                      <a:gd name="T6" fmla="*/ 1 w 41"/>
                      <a:gd name="T7" fmla="*/ 0 h 68"/>
                      <a:gd name="T8" fmla="*/ 1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3"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64" name="Freeform 2452"/>
                  <p:cNvSpPr>
                    <a:spLocks/>
                  </p:cNvSpPr>
                  <p:nvPr/>
                </p:nvSpPr>
                <p:spPr bwMode="auto">
                  <a:xfrm>
                    <a:off x="1087" y="3713"/>
                    <a:ext cx="31" cy="10"/>
                  </a:xfrm>
                  <a:custGeom>
                    <a:avLst/>
                    <a:gdLst>
                      <a:gd name="T0" fmla="*/ 0 w 63"/>
                      <a:gd name="T1" fmla="*/ 0 h 32"/>
                      <a:gd name="T2" fmla="*/ 0 w 63"/>
                      <a:gd name="T3" fmla="*/ 0 h 32"/>
                      <a:gd name="T4" fmla="*/ 0 w 63"/>
                      <a:gd name="T5" fmla="*/ 0 h 32"/>
                      <a:gd name="T6" fmla="*/ 0 w 63"/>
                      <a:gd name="T7" fmla="*/ 0 h 32"/>
                      <a:gd name="T8" fmla="*/ 0 w 63"/>
                      <a:gd name="T9" fmla="*/ 0 h 32"/>
                      <a:gd name="T10" fmla="*/ 0 60000 65536"/>
                      <a:gd name="T11" fmla="*/ 0 60000 65536"/>
                      <a:gd name="T12" fmla="*/ 0 60000 65536"/>
                      <a:gd name="T13" fmla="*/ 0 60000 65536"/>
                      <a:gd name="T14" fmla="*/ 0 60000 65536"/>
                      <a:gd name="T15" fmla="*/ 0 w 63"/>
                      <a:gd name="T16" fmla="*/ 0 h 32"/>
                      <a:gd name="T17" fmla="*/ 63 w 63"/>
                      <a:gd name="T18" fmla="*/ 32 h 32"/>
                    </a:gdLst>
                    <a:ahLst/>
                    <a:cxnLst>
                      <a:cxn ang="T10">
                        <a:pos x="T0" y="T1"/>
                      </a:cxn>
                      <a:cxn ang="T11">
                        <a:pos x="T2" y="T3"/>
                      </a:cxn>
                      <a:cxn ang="T12">
                        <a:pos x="T4" y="T5"/>
                      </a:cxn>
                      <a:cxn ang="T13">
                        <a:pos x="T6" y="T7"/>
                      </a:cxn>
                      <a:cxn ang="T14">
                        <a:pos x="T8" y="T9"/>
                      </a:cxn>
                    </a:cxnLst>
                    <a:rect l="T15" t="T16" r="T17" b="T18"/>
                    <a:pathLst>
                      <a:path w="63" h="32">
                        <a:moveTo>
                          <a:pt x="0" y="0"/>
                        </a:moveTo>
                        <a:lnTo>
                          <a:pt x="40" y="0"/>
                        </a:lnTo>
                        <a:lnTo>
                          <a:pt x="63" y="32"/>
                        </a:lnTo>
                        <a:lnTo>
                          <a:pt x="23"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65" name="Freeform 2453"/>
                  <p:cNvSpPr>
                    <a:spLocks/>
                  </p:cNvSpPr>
                  <p:nvPr/>
                </p:nvSpPr>
                <p:spPr bwMode="auto">
                  <a:xfrm>
                    <a:off x="1092" y="3724"/>
                    <a:ext cx="31" cy="11"/>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2"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93" name="Group 2454"/>
                <p:cNvGrpSpPr>
                  <a:grpSpLocks/>
                </p:cNvGrpSpPr>
                <p:nvPr/>
              </p:nvGrpSpPr>
              <p:grpSpPr bwMode="auto">
                <a:xfrm>
                  <a:off x="1093" y="3725"/>
                  <a:ext cx="45" cy="23"/>
                  <a:chOff x="1093" y="3725"/>
                  <a:chExt cx="45" cy="23"/>
                </a:xfrm>
              </p:grpSpPr>
              <p:sp>
                <p:nvSpPr>
                  <p:cNvPr id="2960" name="Freeform 2455"/>
                  <p:cNvSpPr>
                    <a:spLocks/>
                  </p:cNvSpPr>
                  <p:nvPr/>
                </p:nvSpPr>
                <p:spPr bwMode="auto">
                  <a:xfrm>
                    <a:off x="1093" y="3725"/>
                    <a:ext cx="20" cy="23"/>
                  </a:xfrm>
                  <a:custGeom>
                    <a:avLst/>
                    <a:gdLst>
                      <a:gd name="T0" fmla="*/ 1 w 40"/>
                      <a:gd name="T1" fmla="*/ 0 h 68"/>
                      <a:gd name="T2" fmla="*/ 0 w 40"/>
                      <a:gd name="T3" fmla="*/ 0 h 68"/>
                      <a:gd name="T4" fmla="*/ 1 w 40"/>
                      <a:gd name="T5" fmla="*/ 0 h 68"/>
                      <a:gd name="T6" fmla="*/ 1 w 40"/>
                      <a:gd name="T7" fmla="*/ 0 h 68"/>
                      <a:gd name="T8" fmla="*/ 1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2"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61" name="Freeform 2456"/>
                  <p:cNvSpPr>
                    <a:spLocks/>
                  </p:cNvSpPr>
                  <p:nvPr/>
                </p:nvSpPr>
                <p:spPr bwMode="auto">
                  <a:xfrm>
                    <a:off x="1100" y="3726"/>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62" name="Freeform 2457"/>
                  <p:cNvSpPr>
                    <a:spLocks/>
                  </p:cNvSpPr>
                  <p:nvPr/>
                </p:nvSpPr>
                <p:spPr bwMode="auto">
                  <a:xfrm>
                    <a:off x="1106" y="3738"/>
                    <a:ext cx="32" cy="9"/>
                  </a:xfrm>
                  <a:custGeom>
                    <a:avLst/>
                    <a:gdLst>
                      <a:gd name="T0" fmla="*/ 0 w 65"/>
                      <a:gd name="T1" fmla="*/ 0 h 28"/>
                      <a:gd name="T2" fmla="*/ 0 w 65"/>
                      <a:gd name="T3" fmla="*/ 0 h 28"/>
                      <a:gd name="T4" fmla="*/ 0 w 65"/>
                      <a:gd name="T5" fmla="*/ 0 h 28"/>
                      <a:gd name="T6" fmla="*/ 0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2" y="0"/>
                        </a:lnTo>
                        <a:lnTo>
                          <a:pt x="53"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94" name="Group 2458"/>
                <p:cNvGrpSpPr>
                  <a:grpSpLocks/>
                </p:cNvGrpSpPr>
                <p:nvPr/>
              </p:nvGrpSpPr>
              <p:grpSpPr bwMode="auto">
                <a:xfrm>
                  <a:off x="1108" y="3739"/>
                  <a:ext cx="44" cy="23"/>
                  <a:chOff x="1108" y="3739"/>
                  <a:chExt cx="44" cy="23"/>
                </a:xfrm>
              </p:grpSpPr>
              <p:sp>
                <p:nvSpPr>
                  <p:cNvPr id="2957" name="Freeform 2459"/>
                  <p:cNvSpPr>
                    <a:spLocks/>
                  </p:cNvSpPr>
                  <p:nvPr/>
                </p:nvSpPr>
                <p:spPr bwMode="auto">
                  <a:xfrm>
                    <a:off x="1108" y="3739"/>
                    <a:ext cx="19" cy="23"/>
                  </a:xfrm>
                  <a:custGeom>
                    <a:avLst/>
                    <a:gdLst>
                      <a:gd name="T0" fmla="*/ 0 w 40"/>
                      <a:gd name="T1" fmla="*/ 0 h 69"/>
                      <a:gd name="T2" fmla="*/ 0 w 40"/>
                      <a:gd name="T3" fmla="*/ 0 h 69"/>
                      <a:gd name="T4" fmla="*/ 0 w 40"/>
                      <a:gd name="T5" fmla="*/ 0 h 69"/>
                      <a:gd name="T6" fmla="*/ 0 w 40"/>
                      <a:gd name="T7" fmla="*/ 0 h 69"/>
                      <a:gd name="T8" fmla="*/ 0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4"/>
                        </a:lnTo>
                        <a:lnTo>
                          <a:pt x="12" y="0"/>
                        </a:lnTo>
                        <a:lnTo>
                          <a:pt x="40" y="34"/>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58" name="Freeform 2460"/>
                  <p:cNvSpPr>
                    <a:spLocks/>
                  </p:cNvSpPr>
                  <p:nvPr/>
                </p:nvSpPr>
                <p:spPr bwMode="auto">
                  <a:xfrm>
                    <a:off x="1114" y="3740"/>
                    <a:ext cx="32" cy="11"/>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2" y="0"/>
                        </a:lnTo>
                        <a:lnTo>
                          <a:pt x="64"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59" name="Freeform 2461"/>
                  <p:cNvSpPr>
                    <a:spLocks/>
                  </p:cNvSpPr>
                  <p:nvPr/>
                </p:nvSpPr>
                <p:spPr bwMode="auto">
                  <a:xfrm>
                    <a:off x="1120" y="3752"/>
                    <a:ext cx="32" cy="10"/>
                  </a:xfrm>
                  <a:custGeom>
                    <a:avLst/>
                    <a:gdLst>
                      <a:gd name="T0" fmla="*/ 0 w 66"/>
                      <a:gd name="T1" fmla="*/ 0 h 30"/>
                      <a:gd name="T2" fmla="*/ 0 w 66"/>
                      <a:gd name="T3" fmla="*/ 0 h 30"/>
                      <a:gd name="T4" fmla="*/ 0 w 66"/>
                      <a:gd name="T5" fmla="*/ 0 h 30"/>
                      <a:gd name="T6" fmla="*/ 0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5"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95" name="Group 2462"/>
                <p:cNvGrpSpPr>
                  <a:grpSpLocks/>
                </p:cNvGrpSpPr>
                <p:nvPr/>
              </p:nvGrpSpPr>
              <p:grpSpPr bwMode="auto">
                <a:xfrm>
                  <a:off x="1121" y="3753"/>
                  <a:ext cx="45" cy="23"/>
                  <a:chOff x="1121" y="3753"/>
                  <a:chExt cx="45" cy="23"/>
                </a:xfrm>
              </p:grpSpPr>
              <p:sp>
                <p:nvSpPr>
                  <p:cNvPr id="2954" name="Freeform 2463"/>
                  <p:cNvSpPr>
                    <a:spLocks/>
                  </p:cNvSpPr>
                  <p:nvPr/>
                </p:nvSpPr>
                <p:spPr bwMode="auto">
                  <a:xfrm>
                    <a:off x="1121" y="3753"/>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5"/>
                        </a:lnTo>
                        <a:lnTo>
                          <a:pt x="12" y="0"/>
                        </a:lnTo>
                        <a:lnTo>
                          <a:pt x="39" y="35"/>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55" name="Freeform 2464"/>
                  <p:cNvSpPr>
                    <a:spLocks/>
                  </p:cNvSpPr>
                  <p:nvPr/>
                </p:nvSpPr>
                <p:spPr bwMode="auto">
                  <a:xfrm>
                    <a:off x="1127" y="3753"/>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39" y="0"/>
                        </a:lnTo>
                        <a:lnTo>
                          <a:pt x="64"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56" name="Freeform 2465"/>
                  <p:cNvSpPr>
                    <a:spLocks/>
                  </p:cNvSpPr>
                  <p:nvPr/>
                </p:nvSpPr>
                <p:spPr bwMode="auto">
                  <a:xfrm>
                    <a:off x="1133" y="3766"/>
                    <a:ext cx="33" cy="9"/>
                  </a:xfrm>
                  <a:custGeom>
                    <a:avLst/>
                    <a:gdLst>
                      <a:gd name="T0" fmla="*/ 0 w 66"/>
                      <a:gd name="T1" fmla="*/ 0 h 29"/>
                      <a:gd name="T2" fmla="*/ 1 w 66"/>
                      <a:gd name="T3" fmla="*/ 0 h 29"/>
                      <a:gd name="T4" fmla="*/ 1 w 66"/>
                      <a:gd name="T5" fmla="*/ 0 h 29"/>
                      <a:gd name="T6" fmla="*/ 1 w 66"/>
                      <a:gd name="T7" fmla="*/ 0 h 29"/>
                      <a:gd name="T8" fmla="*/ 0 w 66"/>
                      <a:gd name="T9" fmla="*/ 0 h 29"/>
                      <a:gd name="T10" fmla="*/ 0 60000 65536"/>
                      <a:gd name="T11" fmla="*/ 0 60000 65536"/>
                      <a:gd name="T12" fmla="*/ 0 60000 65536"/>
                      <a:gd name="T13" fmla="*/ 0 60000 65536"/>
                      <a:gd name="T14" fmla="*/ 0 60000 65536"/>
                      <a:gd name="T15" fmla="*/ 0 w 66"/>
                      <a:gd name="T16" fmla="*/ 0 h 29"/>
                      <a:gd name="T17" fmla="*/ 66 w 66"/>
                      <a:gd name="T18" fmla="*/ 29 h 29"/>
                    </a:gdLst>
                    <a:ahLst/>
                    <a:cxnLst>
                      <a:cxn ang="T10">
                        <a:pos x="T0" y="T1"/>
                      </a:cxn>
                      <a:cxn ang="T11">
                        <a:pos x="T2" y="T3"/>
                      </a:cxn>
                      <a:cxn ang="T12">
                        <a:pos x="T4" y="T5"/>
                      </a:cxn>
                      <a:cxn ang="T13">
                        <a:pos x="T6" y="T7"/>
                      </a:cxn>
                      <a:cxn ang="T14">
                        <a:pos x="T8" y="T9"/>
                      </a:cxn>
                    </a:cxnLst>
                    <a:rect l="T15" t="T16" r="T17" b="T18"/>
                    <a:pathLst>
                      <a:path w="66" h="29">
                        <a:moveTo>
                          <a:pt x="0" y="29"/>
                        </a:moveTo>
                        <a:lnTo>
                          <a:pt x="12" y="0"/>
                        </a:lnTo>
                        <a:lnTo>
                          <a:pt x="54" y="0"/>
                        </a:lnTo>
                        <a:lnTo>
                          <a:pt x="66"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96" name="Group 2466"/>
                <p:cNvGrpSpPr>
                  <a:grpSpLocks/>
                </p:cNvGrpSpPr>
                <p:nvPr/>
              </p:nvGrpSpPr>
              <p:grpSpPr bwMode="auto">
                <a:xfrm>
                  <a:off x="1133" y="3767"/>
                  <a:ext cx="44" cy="23"/>
                  <a:chOff x="1133" y="3767"/>
                  <a:chExt cx="44" cy="23"/>
                </a:xfrm>
              </p:grpSpPr>
              <p:sp>
                <p:nvSpPr>
                  <p:cNvPr id="2951" name="Freeform 2467"/>
                  <p:cNvSpPr>
                    <a:spLocks/>
                  </p:cNvSpPr>
                  <p:nvPr/>
                </p:nvSpPr>
                <p:spPr bwMode="auto">
                  <a:xfrm>
                    <a:off x="1133" y="3767"/>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3" y="69"/>
                        </a:moveTo>
                        <a:lnTo>
                          <a:pt x="0" y="33"/>
                        </a:lnTo>
                        <a:lnTo>
                          <a:pt x="12" y="0"/>
                        </a:lnTo>
                        <a:lnTo>
                          <a:pt x="39"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52" name="Freeform 2468"/>
                  <p:cNvSpPr>
                    <a:spLocks/>
                  </p:cNvSpPr>
                  <p:nvPr/>
                </p:nvSpPr>
                <p:spPr bwMode="auto">
                  <a:xfrm>
                    <a:off x="1140" y="3767"/>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3"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53" name="Freeform 2469"/>
                  <p:cNvSpPr>
                    <a:spLocks/>
                  </p:cNvSpPr>
                  <p:nvPr/>
                </p:nvSpPr>
                <p:spPr bwMode="auto">
                  <a:xfrm>
                    <a:off x="1146" y="3779"/>
                    <a:ext cx="31" cy="10"/>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1"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897" name="Freeform 2470"/>
                <p:cNvSpPr>
                  <a:spLocks/>
                </p:cNvSpPr>
                <p:nvPr/>
              </p:nvSpPr>
              <p:spPr bwMode="auto">
                <a:xfrm>
                  <a:off x="972" y="3556"/>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7"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98" name="Freeform 2471"/>
                <p:cNvSpPr>
                  <a:spLocks/>
                </p:cNvSpPr>
                <p:nvPr/>
              </p:nvSpPr>
              <p:spPr bwMode="auto">
                <a:xfrm>
                  <a:off x="993" y="3576"/>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99" name="Freeform 2472"/>
                <p:cNvSpPr>
                  <a:spLocks/>
                </p:cNvSpPr>
                <p:nvPr/>
              </p:nvSpPr>
              <p:spPr bwMode="auto">
                <a:xfrm>
                  <a:off x="1012" y="3594"/>
                  <a:ext cx="39" cy="12"/>
                </a:xfrm>
                <a:custGeom>
                  <a:avLst/>
                  <a:gdLst>
                    <a:gd name="T0" fmla="*/ 0 w 78"/>
                    <a:gd name="T1" fmla="*/ 0 h 36"/>
                    <a:gd name="T2" fmla="*/ 1 w 78"/>
                    <a:gd name="T3" fmla="*/ 0 h 36"/>
                    <a:gd name="T4" fmla="*/ 1 w 78"/>
                    <a:gd name="T5" fmla="*/ 0 h 36"/>
                    <a:gd name="T6" fmla="*/ 1 w 78"/>
                    <a:gd name="T7" fmla="*/ 0 h 36"/>
                    <a:gd name="T8" fmla="*/ 0 w 78"/>
                    <a:gd name="T9" fmla="*/ 0 h 36"/>
                    <a:gd name="T10" fmla="*/ 0 60000 65536"/>
                    <a:gd name="T11" fmla="*/ 0 60000 65536"/>
                    <a:gd name="T12" fmla="*/ 0 60000 65536"/>
                    <a:gd name="T13" fmla="*/ 0 60000 65536"/>
                    <a:gd name="T14" fmla="*/ 0 60000 65536"/>
                    <a:gd name="T15" fmla="*/ 0 w 78"/>
                    <a:gd name="T16" fmla="*/ 0 h 36"/>
                    <a:gd name="T17" fmla="*/ 78 w 78"/>
                    <a:gd name="T18" fmla="*/ 36 h 36"/>
                  </a:gdLst>
                  <a:ahLst/>
                  <a:cxnLst>
                    <a:cxn ang="T10">
                      <a:pos x="T0" y="T1"/>
                    </a:cxn>
                    <a:cxn ang="T11">
                      <a:pos x="T2" y="T3"/>
                    </a:cxn>
                    <a:cxn ang="T12">
                      <a:pos x="T4" y="T5"/>
                    </a:cxn>
                    <a:cxn ang="T13">
                      <a:pos x="T6" y="T7"/>
                    </a:cxn>
                    <a:cxn ang="T14">
                      <a:pos x="T8" y="T9"/>
                    </a:cxn>
                  </a:cxnLst>
                  <a:rect l="T15" t="T16" r="T17" b="T18"/>
                  <a:pathLst>
                    <a:path w="78" h="36">
                      <a:moveTo>
                        <a:pt x="0" y="0"/>
                      </a:moveTo>
                      <a:lnTo>
                        <a:pt x="27" y="36"/>
                      </a:lnTo>
                      <a:lnTo>
                        <a:pt x="78" y="36"/>
                      </a:lnTo>
                      <a:lnTo>
                        <a:pt x="49"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0" name="Freeform 2473"/>
                <p:cNvSpPr>
                  <a:spLocks/>
                </p:cNvSpPr>
                <p:nvPr/>
              </p:nvSpPr>
              <p:spPr bwMode="auto">
                <a:xfrm>
                  <a:off x="1032" y="3613"/>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1" name="Freeform 2474"/>
                <p:cNvSpPr>
                  <a:spLocks/>
                </p:cNvSpPr>
                <p:nvPr/>
              </p:nvSpPr>
              <p:spPr bwMode="auto">
                <a:xfrm>
                  <a:off x="1053" y="3632"/>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2" name="Freeform 2475"/>
                <p:cNvSpPr>
                  <a:spLocks/>
                </p:cNvSpPr>
                <p:nvPr/>
              </p:nvSpPr>
              <p:spPr bwMode="auto">
                <a:xfrm>
                  <a:off x="1074" y="3651"/>
                  <a:ext cx="40" cy="12"/>
                </a:xfrm>
                <a:custGeom>
                  <a:avLst/>
                  <a:gdLst>
                    <a:gd name="T0" fmla="*/ 0 w 79"/>
                    <a:gd name="T1" fmla="*/ 0 h 35"/>
                    <a:gd name="T2" fmla="*/ 1 w 79"/>
                    <a:gd name="T3" fmla="*/ 0 h 35"/>
                    <a:gd name="T4" fmla="*/ 1 w 79"/>
                    <a:gd name="T5" fmla="*/ 0 h 35"/>
                    <a:gd name="T6" fmla="*/ 1 w 79"/>
                    <a:gd name="T7" fmla="*/ 0 h 35"/>
                    <a:gd name="T8" fmla="*/ 0 w 79"/>
                    <a:gd name="T9" fmla="*/ 0 h 35"/>
                    <a:gd name="T10" fmla="*/ 0 60000 65536"/>
                    <a:gd name="T11" fmla="*/ 0 60000 65536"/>
                    <a:gd name="T12" fmla="*/ 0 60000 65536"/>
                    <a:gd name="T13" fmla="*/ 0 60000 65536"/>
                    <a:gd name="T14" fmla="*/ 0 60000 65536"/>
                    <a:gd name="T15" fmla="*/ 0 w 79"/>
                    <a:gd name="T16" fmla="*/ 0 h 35"/>
                    <a:gd name="T17" fmla="*/ 79 w 79"/>
                    <a:gd name="T18" fmla="*/ 35 h 35"/>
                  </a:gdLst>
                  <a:ahLst/>
                  <a:cxnLst>
                    <a:cxn ang="T10">
                      <a:pos x="T0" y="T1"/>
                    </a:cxn>
                    <a:cxn ang="T11">
                      <a:pos x="T2" y="T3"/>
                    </a:cxn>
                    <a:cxn ang="T12">
                      <a:pos x="T4" y="T5"/>
                    </a:cxn>
                    <a:cxn ang="T13">
                      <a:pos x="T6" y="T7"/>
                    </a:cxn>
                    <a:cxn ang="T14">
                      <a:pos x="T8" y="T9"/>
                    </a:cxn>
                  </a:cxnLst>
                  <a:rect l="T15" t="T16" r="T17" b="T18"/>
                  <a:pathLst>
                    <a:path w="79" h="35">
                      <a:moveTo>
                        <a:pt x="0" y="0"/>
                      </a:moveTo>
                      <a:lnTo>
                        <a:pt x="28" y="35"/>
                      </a:lnTo>
                      <a:lnTo>
                        <a:pt x="79" y="35"/>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3" name="Freeform 2476"/>
                <p:cNvSpPr>
                  <a:spLocks/>
                </p:cNvSpPr>
                <p:nvPr/>
              </p:nvSpPr>
              <p:spPr bwMode="auto">
                <a:xfrm>
                  <a:off x="1095" y="3669"/>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8"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4" name="Freeform 2477"/>
                <p:cNvSpPr>
                  <a:spLocks/>
                </p:cNvSpPr>
                <p:nvPr/>
              </p:nvSpPr>
              <p:spPr bwMode="auto">
                <a:xfrm>
                  <a:off x="1115" y="3688"/>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5" name="Freeform 2478"/>
                <p:cNvSpPr>
                  <a:spLocks/>
                </p:cNvSpPr>
                <p:nvPr/>
              </p:nvSpPr>
              <p:spPr bwMode="auto">
                <a:xfrm>
                  <a:off x="1134" y="3707"/>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6" name="Freeform 2479"/>
                <p:cNvSpPr>
                  <a:spLocks/>
                </p:cNvSpPr>
                <p:nvPr/>
              </p:nvSpPr>
              <p:spPr bwMode="auto">
                <a:xfrm>
                  <a:off x="1154" y="3726"/>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7" name="Freeform 2480"/>
                <p:cNvSpPr>
                  <a:spLocks/>
                </p:cNvSpPr>
                <p:nvPr/>
              </p:nvSpPr>
              <p:spPr bwMode="auto">
                <a:xfrm>
                  <a:off x="1175" y="3745"/>
                  <a:ext cx="40" cy="12"/>
                </a:xfrm>
                <a:custGeom>
                  <a:avLst/>
                  <a:gdLst>
                    <a:gd name="T0" fmla="*/ 0 w 81"/>
                    <a:gd name="T1" fmla="*/ 0 h 36"/>
                    <a:gd name="T2" fmla="*/ 0 w 81"/>
                    <a:gd name="T3" fmla="*/ 0 h 36"/>
                    <a:gd name="T4" fmla="*/ 0 w 81"/>
                    <a:gd name="T5" fmla="*/ 0 h 36"/>
                    <a:gd name="T6" fmla="*/ 0 w 81"/>
                    <a:gd name="T7" fmla="*/ 0 h 36"/>
                    <a:gd name="T8" fmla="*/ 0 w 81"/>
                    <a:gd name="T9" fmla="*/ 0 h 36"/>
                    <a:gd name="T10" fmla="*/ 0 60000 65536"/>
                    <a:gd name="T11" fmla="*/ 0 60000 65536"/>
                    <a:gd name="T12" fmla="*/ 0 60000 65536"/>
                    <a:gd name="T13" fmla="*/ 0 60000 65536"/>
                    <a:gd name="T14" fmla="*/ 0 60000 65536"/>
                    <a:gd name="T15" fmla="*/ 0 w 81"/>
                    <a:gd name="T16" fmla="*/ 0 h 36"/>
                    <a:gd name="T17" fmla="*/ 81 w 81"/>
                    <a:gd name="T18" fmla="*/ 36 h 36"/>
                  </a:gdLst>
                  <a:ahLst/>
                  <a:cxnLst>
                    <a:cxn ang="T10">
                      <a:pos x="T0" y="T1"/>
                    </a:cxn>
                    <a:cxn ang="T11">
                      <a:pos x="T2" y="T3"/>
                    </a:cxn>
                    <a:cxn ang="T12">
                      <a:pos x="T4" y="T5"/>
                    </a:cxn>
                    <a:cxn ang="T13">
                      <a:pos x="T6" y="T7"/>
                    </a:cxn>
                    <a:cxn ang="T14">
                      <a:pos x="T8" y="T9"/>
                    </a:cxn>
                  </a:cxnLst>
                  <a:rect l="T15" t="T16" r="T17" b="T18"/>
                  <a:pathLst>
                    <a:path w="81" h="36">
                      <a:moveTo>
                        <a:pt x="0" y="0"/>
                      </a:moveTo>
                      <a:lnTo>
                        <a:pt x="28" y="36"/>
                      </a:lnTo>
                      <a:lnTo>
                        <a:pt x="81" y="36"/>
                      </a:lnTo>
                      <a:lnTo>
                        <a:pt x="52"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908" name="Group 2481"/>
                <p:cNvGrpSpPr>
                  <a:grpSpLocks/>
                </p:cNvGrpSpPr>
                <p:nvPr/>
              </p:nvGrpSpPr>
              <p:grpSpPr bwMode="auto">
                <a:xfrm>
                  <a:off x="700" y="3535"/>
                  <a:ext cx="49" cy="24"/>
                  <a:chOff x="700" y="3535"/>
                  <a:chExt cx="49" cy="24"/>
                </a:xfrm>
              </p:grpSpPr>
              <p:sp>
                <p:nvSpPr>
                  <p:cNvPr id="2948" name="Freeform 2482"/>
                  <p:cNvSpPr>
                    <a:spLocks/>
                  </p:cNvSpPr>
                  <p:nvPr/>
                </p:nvSpPr>
                <p:spPr bwMode="auto">
                  <a:xfrm>
                    <a:off x="700" y="3535"/>
                    <a:ext cx="12" cy="24"/>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10"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49" name="Freeform 2483"/>
                  <p:cNvSpPr>
                    <a:spLocks/>
                  </p:cNvSpPr>
                  <p:nvPr/>
                </p:nvSpPr>
                <p:spPr bwMode="auto">
                  <a:xfrm>
                    <a:off x="705" y="3536"/>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2" y="4"/>
                        </a:lnTo>
                        <a:lnTo>
                          <a:pt x="56" y="12"/>
                        </a:lnTo>
                        <a:lnTo>
                          <a:pt x="73"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50" name="Freeform 2484"/>
                  <p:cNvSpPr>
                    <a:spLocks/>
                  </p:cNvSpPr>
                  <p:nvPr/>
                </p:nvSpPr>
                <p:spPr bwMode="auto">
                  <a:xfrm>
                    <a:off x="708" y="354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6"/>
                        </a:lnTo>
                        <a:lnTo>
                          <a:pt x="11" y="0"/>
                        </a:lnTo>
                        <a:lnTo>
                          <a:pt x="67"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09" name="Group 2485"/>
                <p:cNvGrpSpPr>
                  <a:grpSpLocks/>
                </p:cNvGrpSpPr>
                <p:nvPr/>
              </p:nvGrpSpPr>
              <p:grpSpPr bwMode="auto">
                <a:xfrm>
                  <a:off x="714" y="3551"/>
                  <a:ext cx="49" cy="22"/>
                  <a:chOff x="714" y="3551"/>
                  <a:chExt cx="49" cy="22"/>
                </a:xfrm>
              </p:grpSpPr>
              <p:sp>
                <p:nvSpPr>
                  <p:cNvPr id="2945" name="Freeform 2486"/>
                  <p:cNvSpPr>
                    <a:spLocks/>
                  </p:cNvSpPr>
                  <p:nvPr/>
                </p:nvSpPr>
                <p:spPr bwMode="auto">
                  <a:xfrm>
                    <a:off x="714" y="35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9" y="0"/>
                        </a:lnTo>
                        <a:lnTo>
                          <a:pt x="24" y="30"/>
                        </a:lnTo>
                        <a:lnTo>
                          <a:pt x="15"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46" name="Freeform 2487"/>
                  <p:cNvSpPr>
                    <a:spLocks/>
                  </p:cNvSpPr>
                  <p:nvPr/>
                </p:nvSpPr>
                <p:spPr bwMode="auto">
                  <a:xfrm>
                    <a:off x="719" y="3551"/>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50" y="0"/>
                        </a:lnTo>
                        <a:lnTo>
                          <a:pt x="52" y="2"/>
                        </a:lnTo>
                        <a:lnTo>
                          <a:pt x="57" y="13"/>
                        </a:lnTo>
                        <a:lnTo>
                          <a:pt x="74" y="29"/>
                        </a:lnTo>
                        <a:lnTo>
                          <a:pt x="19" y="29"/>
                        </a:lnTo>
                        <a:lnTo>
                          <a:pt x="9"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47" name="Freeform 2488"/>
                  <p:cNvSpPr>
                    <a:spLocks/>
                  </p:cNvSpPr>
                  <p:nvPr/>
                </p:nvSpPr>
                <p:spPr bwMode="auto">
                  <a:xfrm>
                    <a:off x="722" y="35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10" name="Group 2489"/>
                <p:cNvGrpSpPr>
                  <a:grpSpLocks/>
                </p:cNvGrpSpPr>
                <p:nvPr/>
              </p:nvGrpSpPr>
              <p:grpSpPr bwMode="auto">
                <a:xfrm>
                  <a:off x="728" y="3564"/>
                  <a:ext cx="48" cy="23"/>
                  <a:chOff x="728" y="3564"/>
                  <a:chExt cx="48" cy="23"/>
                </a:xfrm>
              </p:grpSpPr>
              <p:sp>
                <p:nvSpPr>
                  <p:cNvPr id="2942" name="Freeform 2490"/>
                  <p:cNvSpPr>
                    <a:spLocks/>
                  </p:cNvSpPr>
                  <p:nvPr/>
                </p:nvSpPr>
                <p:spPr bwMode="auto">
                  <a:xfrm>
                    <a:off x="728" y="3564"/>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43" name="Freeform 2491"/>
                  <p:cNvSpPr>
                    <a:spLocks/>
                  </p:cNvSpPr>
                  <p:nvPr/>
                </p:nvSpPr>
                <p:spPr bwMode="auto">
                  <a:xfrm>
                    <a:off x="732" y="3565"/>
                    <a:ext cx="37"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50" y="0"/>
                        </a:lnTo>
                        <a:lnTo>
                          <a:pt x="51" y="3"/>
                        </a:lnTo>
                        <a:lnTo>
                          <a:pt x="56" y="12"/>
                        </a:lnTo>
                        <a:lnTo>
                          <a:pt x="72"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44" name="Freeform 2492"/>
                  <p:cNvSpPr>
                    <a:spLocks/>
                  </p:cNvSpPr>
                  <p:nvPr/>
                </p:nvSpPr>
                <p:spPr bwMode="auto">
                  <a:xfrm>
                    <a:off x="735" y="3575"/>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11" name="Group 2493"/>
                <p:cNvGrpSpPr>
                  <a:grpSpLocks/>
                </p:cNvGrpSpPr>
                <p:nvPr/>
              </p:nvGrpSpPr>
              <p:grpSpPr bwMode="auto">
                <a:xfrm>
                  <a:off x="742" y="3582"/>
                  <a:ext cx="49" cy="23"/>
                  <a:chOff x="742" y="3582"/>
                  <a:chExt cx="49" cy="23"/>
                </a:xfrm>
              </p:grpSpPr>
              <p:sp>
                <p:nvSpPr>
                  <p:cNvPr id="2939" name="Freeform 2494"/>
                  <p:cNvSpPr>
                    <a:spLocks/>
                  </p:cNvSpPr>
                  <p:nvPr/>
                </p:nvSpPr>
                <p:spPr bwMode="auto">
                  <a:xfrm>
                    <a:off x="742" y="3582"/>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6"/>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40" name="Freeform 2495"/>
                  <p:cNvSpPr>
                    <a:spLocks/>
                  </p:cNvSpPr>
                  <p:nvPr/>
                </p:nvSpPr>
                <p:spPr bwMode="auto">
                  <a:xfrm>
                    <a:off x="747" y="3582"/>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8" y="0"/>
                        </a:lnTo>
                        <a:lnTo>
                          <a:pt x="50" y="3"/>
                        </a:lnTo>
                        <a:lnTo>
                          <a:pt x="56" y="12"/>
                        </a:lnTo>
                        <a:lnTo>
                          <a:pt x="72" y="30"/>
                        </a:lnTo>
                        <a:lnTo>
                          <a:pt x="17" y="30"/>
                        </a:lnTo>
                        <a:lnTo>
                          <a:pt x="8" y="21"/>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41" name="Freeform 2496"/>
                  <p:cNvSpPr>
                    <a:spLocks/>
                  </p:cNvSpPr>
                  <p:nvPr/>
                </p:nvSpPr>
                <p:spPr bwMode="auto">
                  <a:xfrm>
                    <a:off x="750" y="359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12" name="Group 2497"/>
                <p:cNvGrpSpPr>
                  <a:grpSpLocks/>
                </p:cNvGrpSpPr>
                <p:nvPr/>
              </p:nvGrpSpPr>
              <p:grpSpPr bwMode="auto">
                <a:xfrm>
                  <a:off x="752" y="3597"/>
                  <a:ext cx="133" cy="106"/>
                  <a:chOff x="752" y="3597"/>
                  <a:chExt cx="133" cy="106"/>
                </a:xfrm>
              </p:grpSpPr>
              <p:sp>
                <p:nvSpPr>
                  <p:cNvPr id="2936" name="Freeform 2498"/>
                  <p:cNvSpPr>
                    <a:spLocks/>
                  </p:cNvSpPr>
                  <p:nvPr/>
                </p:nvSpPr>
                <p:spPr bwMode="auto">
                  <a:xfrm>
                    <a:off x="752" y="3598"/>
                    <a:ext cx="91" cy="105"/>
                  </a:xfrm>
                  <a:custGeom>
                    <a:avLst/>
                    <a:gdLst>
                      <a:gd name="T0" fmla="*/ 1 w 182"/>
                      <a:gd name="T1" fmla="*/ 0 h 314"/>
                      <a:gd name="T2" fmla="*/ 0 w 182"/>
                      <a:gd name="T3" fmla="*/ 0 h 314"/>
                      <a:gd name="T4" fmla="*/ 1 w 182"/>
                      <a:gd name="T5" fmla="*/ 0 h 314"/>
                      <a:gd name="T6" fmla="*/ 1 w 182"/>
                      <a:gd name="T7" fmla="*/ 0 h 314"/>
                      <a:gd name="T8" fmla="*/ 1 w 182"/>
                      <a:gd name="T9" fmla="*/ 0 h 314"/>
                      <a:gd name="T10" fmla="*/ 0 60000 65536"/>
                      <a:gd name="T11" fmla="*/ 0 60000 65536"/>
                      <a:gd name="T12" fmla="*/ 0 60000 65536"/>
                      <a:gd name="T13" fmla="*/ 0 60000 65536"/>
                      <a:gd name="T14" fmla="*/ 0 60000 65536"/>
                      <a:gd name="T15" fmla="*/ 0 w 182"/>
                      <a:gd name="T16" fmla="*/ 0 h 314"/>
                      <a:gd name="T17" fmla="*/ 182 w 182"/>
                      <a:gd name="T18" fmla="*/ 314 h 314"/>
                    </a:gdLst>
                    <a:ahLst/>
                    <a:cxnLst>
                      <a:cxn ang="T10">
                        <a:pos x="T0" y="T1"/>
                      </a:cxn>
                      <a:cxn ang="T11">
                        <a:pos x="T2" y="T3"/>
                      </a:cxn>
                      <a:cxn ang="T12">
                        <a:pos x="T4" y="T5"/>
                      </a:cxn>
                      <a:cxn ang="T13">
                        <a:pos x="T6" y="T7"/>
                      </a:cxn>
                      <a:cxn ang="T14">
                        <a:pos x="T8" y="T9"/>
                      </a:cxn>
                    </a:cxnLst>
                    <a:rect l="T15" t="T16" r="T17" b="T18"/>
                    <a:pathLst>
                      <a:path w="182" h="314">
                        <a:moveTo>
                          <a:pt x="171" y="314"/>
                        </a:moveTo>
                        <a:lnTo>
                          <a:pt x="0" y="27"/>
                        </a:lnTo>
                        <a:lnTo>
                          <a:pt x="13" y="0"/>
                        </a:lnTo>
                        <a:lnTo>
                          <a:pt x="182" y="278"/>
                        </a:lnTo>
                        <a:lnTo>
                          <a:pt x="171" y="31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37" name="Freeform 2499"/>
                  <p:cNvSpPr>
                    <a:spLocks/>
                  </p:cNvSpPr>
                  <p:nvPr/>
                </p:nvSpPr>
                <p:spPr bwMode="auto">
                  <a:xfrm>
                    <a:off x="759" y="3597"/>
                    <a:ext cx="118" cy="94"/>
                  </a:xfrm>
                  <a:custGeom>
                    <a:avLst/>
                    <a:gdLst>
                      <a:gd name="T0" fmla="*/ 1 w 235"/>
                      <a:gd name="T1" fmla="*/ 0 h 281"/>
                      <a:gd name="T2" fmla="*/ 1 w 235"/>
                      <a:gd name="T3" fmla="*/ 0 h 281"/>
                      <a:gd name="T4" fmla="*/ 1 w 235"/>
                      <a:gd name="T5" fmla="*/ 0 h 281"/>
                      <a:gd name="T6" fmla="*/ 1 w 235"/>
                      <a:gd name="T7" fmla="*/ 0 h 281"/>
                      <a:gd name="T8" fmla="*/ 2 w 235"/>
                      <a:gd name="T9" fmla="*/ 0 h 281"/>
                      <a:gd name="T10" fmla="*/ 2 w 235"/>
                      <a:gd name="T11" fmla="*/ 0 h 281"/>
                      <a:gd name="T12" fmla="*/ 1 w 235"/>
                      <a:gd name="T13" fmla="*/ 0 h 281"/>
                      <a:gd name="T14" fmla="*/ 0 w 235"/>
                      <a:gd name="T15" fmla="*/ 0 h 281"/>
                      <a:gd name="T16" fmla="*/ 1 w 235"/>
                      <a:gd name="T17" fmla="*/ 0 h 28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35"/>
                      <a:gd name="T28" fmla="*/ 0 h 281"/>
                      <a:gd name="T29" fmla="*/ 235 w 235"/>
                      <a:gd name="T30" fmla="*/ 281 h 28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35" h="281">
                        <a:moveTo>
                          <a:pt x="1" y="0"/>
                        </a:moveTo>
                        <a:lnTo>
                          <a:pt x="56" y="0"/>
                        </a:lnTo>
                        <a:lnTo>
                          <a:pt x="58" y="0"/>
                        </a:lnTo>
                        <a:lnTo>
                          <a:pt x="65" y="10"/>
                        </a:lnTo>
                        <a:lnTo>
                          <a:pt x="235" y="281"/>
                        </a:lnTo>
                        <a:lnTo>
                          <a:pt x="165" y="277"/>
                        </a:lnTo>
                        <a:lnTo>
                          <a:pt x="9" y="19"/>
                        </a:lnTo>
                        <a:lnTo>
                          <a:pt x="0" y="4"/>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38" name="Freeform 2500"/>
                  <p:cNvSpPr>
                    <a:spLocks/>
                  </p:cNvSpPr>
                  <p:nvPr/>
                </p:nvSpPr>
                <p:spPr bwMode="auto">
                  <a:xfrm>
                    <a:off x="838" y="3691"/>
                    <a:ext cx="47" cy="12"/>
                  </a:xfrm>
                  <a:custGeom>
                    <a:avLst/>
                    <a:gdLst>
                      <a:gd name="T0" fmla="*/ 0 w 95"/>
                      <a:gd name="T1" fmla="*/ 0 h 36"/>
                      <a:gd name="T2" fmla="*/ 0 w 95"/>
                      <a:gd name="T3" fmla="*/ 0 h 36"/>
                      <a:gd name="T4" fmla="*/ 0 w 95"/>
                      <a:gd name="T5" fmla="*/ 0 h 36"/>
                      <a:gd name="T6" fmla="*/ 0 w 95"/>
                      <a:gd name="T7" fmla="*/ 0 h 36"/>
                      <a:gd name="T8" fmla="*/ 0 w 95"/>
                      <a:gd name="T9" fmla="*/ 0 h 36"/>
                      <a:gd name="T10" fmla="*/ 0 w 95"/>
                      <a:gd name="T11" fmla="*/ 0 h 36"/>
                      <a:gd name="T12" fmla="*/ 0 w 95"/>
                      <a:gd name="T13" fmla="*/ 0 h 36"/>
                      <a:gd name="T14" fmla="*/ 0 60000 65536"/>
                      <a:gd name="T15" fmla="*/ 0 60000 65536"/>
                      <a:gd name="T16" fmla="*/ 0 60000 65536"/>
                      <a:gd name="T17" fmla="*/ 0 60000 65536"/>
                      <a:gd name="T18" fmla="*/ 0 60000 65536"/>
                      <a:gd name="T19" fmla="*/ 0 60000 65536"/>
                      <a:gd name="T20" fmla="*/ 0 60000 65536"/>
                      <a:gd name="T21" fmla="*/ 0 w 95"/>
                      <a:gd name="T22" fmla="*/ 0 h 36"/>
                      <a:gd name="T23" fmla="*/ 95 w 95"/>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95" h="36">
                        <a:moveTo>
                          <a:pt x="0" y="36"/>
                        </a:moveTo>
                        <a:lnTo>
                          <a:pt x="2" y="19"/>
                        </a:lnTo>
                        <a:lnTo>
                          <a:pt x="8" y="7"/>
                        </a:lnTo>
                        <a:lnTo>
                          <a:pt x="12" y="0"/>
                        </a:lnTo>
                        <a:lnTo>
                          <a:pt x="76" y="0"/>
                        </a:lnTo>
                        <a:lnTo>
                          <a:pt x="95"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13" name="Group 2501"/>
                <p:cNvGrpSpPr>
                  <a:grpSpLocks/>
                </p:cNvGrpSpPr>
                <p:nvPr/>
              </p:nvGrpSpPr>
              <p:grpSpPr bwMode="auto">
                <a:xfrm>
                  <a:off x="844" y="3694"/>
                  <a:ext cx="48" cy="23"/>
                  <a:chOff x="844" y="3694"/>
                  <a:chExt cx="48" cy="23"/>
                </a:xfrm>
              </p:grpSpPr>
              <p:sp>
                <p:nvSpPr>
                  <p:cNvPr id="2933" name="Freeform 2502"/>
                  <p:cNvSpPr>
                    <a:spLocks/>
                  </p:cNvSpPr>
                  <p:nvPr/>
                </p:nvSpPr>
                <p:spPr bwMode="auto">
                  <a:xfrm>
                    <a:off x="844" y="3694"/>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9" y="0"/>
                        </a:lnTo>
                        <a:lnTo>
                          <a:pt x="24" y="32"/>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34" name="Freeform 2503"/>
                  <p:cNvSpPr>
                    <a:spLocks/>
                  </p:cNvSpPr>
                  <p:nvPr/>
                </p:nvSpPr>
                <p:spPr bwMode="auto">
                  <a:xfrm>
                    <a:off x="848" y="369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1" y="3"/>
                        </a:lnTo>
                        <a:lnTo>
                          <a:pt x="57" y="12"/>
                        </a:lnTo>
                        <a:lnTo>
                          <a:pt x="74" y="30"/>
                        </a:lnTo>
                        <a:lnTo>
                          <a:pt x="19" y="30"/>
                        </a:lnTo>
                        <a:lnTo>
                          <a:pt x="9" y="21"/>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35" name="Freeform 2504"/>
                  <p:cNvSpPr>
                    <a:spLocks/>
                  </p:cNvSpPr>
                  <p:nvPr/>
                </p:nvSpPr>
                <p:spPr bwMode="auto">
                  <a:xfrm>
                    <a:off x="851" y="3706"/>
                    <a:ext cx="41" cy="11"/>
                  </a:xfrm>
                  <a:custGeom>
                    <a:avLst/>
                    <a:gdLst>
                      <a:gd name="T0" fmla="*/ 0 w 81"/>
                      <a:gd name="T1" fmla="*/ 0 h 34"/>
                      <a:gd name="T2" fmla="*/ 1 w 81"/>
                      <a:gd name="T3" fmla="*/ 0 h 34"/>
                      <a:gd name="T4" fmla="*/ 1 w 81"/>
                      <a:gd name="T5" fmla="*/ 0 h 34"/>
                      <a:gd name="T6" fmla="*/ 1 w 81"/>
                      <a:gd name="T7" fmla="*/ 0 h 34"/>
                      <a:gd name="T8" fmla="*/ 1 w 81"/>
                      <a:gd name="T9" fmla="*/ 0 h 34"/>
                      <a:gd name="T10" fmla="*/ 1 w 81"/>
                      <a:gd name="T11" fmla="*/ 0 h 34"/>
                      <a:gd name="T12" fmla="*/ 0 w 81"/>
                      <a:gd name="T13" fmla="*/ 0 h 34"/>
                      <a:gd name="T14" fmla="*/ 0 60000 65536"/>
                      <a:gd name="T15" fmla="*/ 0 60000 65536"/>
                      <a:gd name="T16" fmla="*/ 0 60000 65536"/>
                      <a:gd name="T17" fmla="*/ 0 60000 65536"/>
                      <a:gd name="T18" fmla="*/ 0 60000 65536"/>
                      <a:gd name="T19" fmla="*/ 0 60000 65536"/>
                      <a:gd name="T20" fmla="*/ 0 60000 65536"/>
                      <a:gd name="T21" fmla="*/ 0 w 81"/>
                      <a:gd name="T22" fmla="*/ 0 h 34"/>
                      <a:gd name="T23" fmla="*/ 81 w 81"/>
                      <a:gd name="T24" fmla="*/ 34 h 3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4">
                        <a:moveTo>
                          <a:pt x="0" y="34"/>
                        </a:moveTo>
                        <a:lnTo>
                          <a:pt x="1" y="19"/>
                        </a:lnTo>
                        <a:lnTo>
                          <a:pt x="5" y="6"/>
                        </a:lnTo>
                        <a:lnTo>
                          <a:pt x="10" y="0"/>
                        </a:lnTo>
                        <a:lnTo>
                          <a:pt x="67" y="0"/>
                        </a:lnTo>
                        <a:lnTo>
                          <a:pt x="81" y="34"/>
                        </a:lnTo>
                        <a:lnTo>
                          <a:pt x="0" y="34"/>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14" name="Group 2505"/>
                <p:cNvGrpSpPr>
                  <a:grpSpLocks/>
                </p:cNvGrpSpPr>
                <p:nvPr/>
              </p:nvGrpSpPr>
              <p:grpSpPr bwMode="auto">
                <a:xfrm>
                  <a:off x="857" y="3710"/>
                  <a:ext cx="49" cy="22"/>
                  <a:chOff x="857" y="3710"/>
                  <a:chExt cx="49" cy="22"/>
                </a:xfrm>
              </p:grpSpPr>
              <p:sp>
                <p:nvSpPr>
                  <p:cNvPr id="2930" name="Freeform 2506"/>
                  <p:cNvSpPr>
                    <a:spLocks/>
                  </p:cNvSpPr>
                  <p:nvPr/>
                </p:nvSpPr>
                <p:spPr bwMode="auto">
                  <a:xfrm>
                    <a:off x="857" y="3710"/>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31" name="Freeform 2507"/>
                  <p:cNvSpPr>
                    <a:spLocks/>
                  </p:cNvSpPr>
                  <p:nvPr/>
                </p:nvSpPr>
                <p:spPr bwMode="auto">
                  <a:xfrm>
                    <a:off x="862" y="371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32" name="Freeform 2508"/>
                  <p:cNvSpPr>
                    <a:spLocks/>
                  </p:cNvSpPr>
                  <p:nvPr/>
                </p:nvSpPr>
                <p:spPr bwMode="auto">
                  <a:xfrm>
                    <a:off x="865" y="3720"/>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15" name="Group 2509"/>
                <p:cNvGrpSpPr>
                  <a:grpSpLocks/>
                </p:cNvGrpSpPr>
                <p:nvPr/>
              </p:nvGrpSpPr>
              <p:grpSpPr bwMode="auto">
                <a:xfrm>
                  <a:off x="1086" y="3766"/>
                  <a:ext cx="49" cy="23"/>
                  <a:chOff x="1086" y="3766"/>
                  <a:chExt cx="49" cy="23"/>
                </a:xfrm>
              </p:grpSpPr>
              <p:sp>
                <p:nvSpPr>
                  <p:cNvPr id="2927" name="Freeform 2510"/>
                  <p:cNvSpPr>
                    <a:spLocks/>
                  </p:cNvSpPr>
                  <p:nvPr/>
                </p:nvSpPr>
                <p:spPr bwMode="auto">
                  <a:xfrm>
                    <a:off x="1086" y="3766"/>
                    <a:ext cx="11" cy="23"/>
                  </a:xfrm>
                  <a:custGeom>
                    <a:avLst/>
                    <a:gdLst>
                      <a:gd name="T0" fmla="*/ 1 w 22"/>
                      <a:gd name="T1" fmla="*/ 0 h 69"/>
                      <a:gd name="T2" fmla="*/ 0 w 22"/>
                      <a:gd name="T3" fmla="*/ 0 h 69"/>
                      <a:gd name="T4" fmla="*/ 1 w 22"/>
                      <a:gd name="T5" fmla="*/ 0 h 69"/>
                      <a:gd name="T6" fmla="*/ 1 w 22"/>
                      <a:gd name="T7" fmla="*/ 0 h 69"/>
                      <a:gd name="T8" fmla="*/ 1 w 22"/>
                      <a:gd name="T9" fmla="*/ 0 h 69"/>
                      <a:gd name="T10" fmla="*/ 0 60000 65536"/>
                      <a:gd name="T11" fmla="*/ 0 60000 65536"/>
                      <a:gd name="T12" fmla="*/ 0 60000 65536"/>
                      <a:gd name="T13" fmla="*/ 0 60000 65536"/>
                      <a:gd name="T14" fmla="*/ 0 60000 65536"/>
                      <a:gd name="T15" fmla="*/ 0 w 22"/>
                      <a:gd name="T16" fmla="*/ 0 h 69"/>
                      <a:gd name="T17" fmla="*/ 22 w 22"/>
                      <a:gd name="T18" fmla="*/ 69 h 69"/>
                    </a:gdLst>
                    <a:ahLst/>
                    <a:cxnLst>
                      <a:cxn ang="T10">
                        <a:pos x="T0" y="T1"/>
                      </a:cxn>
                      <a:cxn ang="T11">
                        <a:pos x="T2" y="T3"/>
                      </a:cxn>
                      <a:cxn ang="T12">
                        <a:pos x="T4" y="T5"/>
                      </a:cxn>
                      <a:cxn ang="T13">
                        <a:pos x="T6" y="T7"/>
                      </a:cxn>
                      <a:cxn ang="T14">
                        <a:pos x="T8" y="T9"/>
                      </a:cxn>
                    </a:cxnLst>
                    <a:rect l="T15" t="T16" r="T17" b="T18"/>
                    <a:pathLst>
                      <a:path w="22" h="69">
                        <a:moveTo>
                          <a:pt x="13" y="69"/>
                        </a:moveTo>
                        <a:lnTo>
                          <a:pt x="0" y="27"/>
                        </a:lnTo>
                        <a:lnTo>
                          <a:pt x="9" y="0"/>
                        </a:lnTo>
                        <a:lnTo>
                          <a:pt x="22" y="32"/>
                        </a:lnTo>
                        <a:lnTo>
                          <a:pt x="13" y="69"/>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28" name="Freeform 2511"/>
                  <p:cNvSpPr>
                    <a:spLocks/>
                  </p:cNvSpPr>
                  <p:nvPr/>
                </p:nvSpPr>
                <p:spPr bwMode="auto">
                  <a:xfrm>
                    <a:off x="1090" y="3767"/>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3" y="0"/>
                        </a:moveTo>
                        <a:lnTo>
                          <a:pt x="51" y="0"/>
                        </a:lnTo>
                        <a:lnTo>
                          <a:pt x="53" y="4"/>
                        </a:lnTo>
                        <a:lnTo>
                          <a:pt x="56" y="13"/>
                        </a:lnTo>
                        <a:lnTo>
                          <a:pt x="74" y="31"/>
                        </a:lnTo>
                        <a:lnTo>
                          <a:pt x="18" y="31"/>
                        </a:lnTo>
                        <a:lnTo>
                          <a:pt x="9" y="22"/>
                        </a:lnTo>
                        <a:lnTo>
                          <a:pt x="0" y="6"/>
                        </a:lnTo>
                        <a:lnTo>
                          <a:pt x="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29" name="Freeform 2512"/>
                  <p:cNvSpPr>
                    <a:spLocks/>
                  </p:cNvSpPr>
                  <p:nvPr/>
                </p:nvSpPr>
                <p:spPr bwMode="auto">
                  <a:xfrm>
                    <a:off x="1093" y="3777"/>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6"/>
                        </a:lnTo>
                        <a:lnTo>
                          <a:pt x="11" y="0"/>
                        </a:lnTo>
                        <a:lnTo>
                          <a:pt x="68"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16" name="Group 2513"/>
                <p:cNvGrpSpPr>
                  <a:grpSpLocks/>
                </p:cNvGrpSpPr>
                <p:nvPr/>
              </p:nvGrpSpPr>
              <p:grpSpPr bwMode="auto">
                <a:xfrm>
                  <a:off x="934" y="3740"/>
                  <a:ext cx="48" cy="23"/>
                  <a:chOff x="934" y="3740"/>
                  <a:chExt cx="48" cy="23"/>
                </a:xfrm>
              </p:grpSpPr>
              <p:sp>
                <p:nvSpPr>
                  <p:cNvPr id="2924" name="Freeform 2514"/>
                  <p:cNvSpPr>
                    <a:spLocks/>
                  </p:cNvSpPr>
                  <p:nvPr/>
                </p:nvSpPr>
                <p:spPr bwMode="auto">
                  <a:xfrm>
                    <a:off x="934" y="3740"/>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9"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25" name="Freeform 2515"/>
                  <p:cNvSpPr>
                    <a:spLocks/>
                  </p:cNvSpPr>
                  <p:nvPr/>
                </p:nvSpPr>
                <p:spPr bwMode="auto">
                  <a:xfrm>
                    <a:off x="938" y="3741"/>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4"/>
                        </a:lnTo>
                        <a:lnTo>
                          <a:pt x="57" y="13"/>
                        </a:lnTo>
                        <a:lnTo>
                          <a:pt x="74" y="30"/>
                        </a:lnTo>
                        <a:lnTo>
                          <a:pt x="19" y="30"/>
                        </a:lnTo>
                        <a:lnTo>
                          <a:pt x="9" y="22"/>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26" name="Freeform 2516"/>
                  <p:cNvSpPr>
                    <a:spLocks/>
                  </p:cNvSpPr>
                  <p:nvPr/>
                </p:nvSpPr>
                <p:spPr bwMode="auto">
                  <a:xfrm>
                    <a:off x="941" y="375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6"/>
                        </a:lnTo>
                        <a:lnTo>
                          <a:pt x="10" y="0"/>
                        </a:lnTo>
                        <a:lnTo>
                          <a:pt x="67" y="0"/>
                        </a:lnTo>
                        <a:lnTo>
                          <a:pt x="81"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17" name="Group 2517"/>
                <p:cNvGrpSpPr>
                  <a:grpSpLocks/>
                </p:cNvGrpSpPr>
                <p:nvPr/>
              </p:nvGrpSpPr>
              <p:grpSpPr bwMode="auto">
                <a:xfrm>
                  <a:off x="943" y="3754"/>
                  <a:ext cx="49" cy="23"/>
                  <a:chOff x="943" y="3754"/>
                  <a:chExt cx="49" cy="23"/>
                </a:xfrm>
              </p:grpSpPr>
              <p:sp>
                <p:nvSpPr>
                  <p:cNvPr id="2921" name="Freeform 2518"/>
                  <p:cNvSpPr>
                    <a:spLocks/>
                  </p:cNvSpPr>
                  <p:nvPr/>
                </p:nvSpPr>
                <p:spPr bwMode="auto">
                  <a:xfrm>
                    <a:off x="943" y="3754"/>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22" name="Freeform 2519"/>
                  <p:cNvSpPr>
                    <a:spLocks/>
                  </p:cNvSpPr>
                  <p:nvPr/>
                </p:nvSpPr>
                <p:spPr bwMode="auto">
                  <a:xfrm>
                    <a:off x="948" y="375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1" y="0"/>
                        </a:moveTo>
                        <a:lnTo>
                          <a:pt x="49" y="0"/>
                        </a:lnTo>
                        <a:lnTo>
                          <a:pt x="50" y="3"/>
                        </a:lnTo>
                        <a:lnTo>
                          <a:pt x="57" y="12"/>
                        </a:lnTo>
                        <a:lnTo>
                          <a:pt x="74"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23" name="Freeform 2520"/>
                  <p:cNvSpPr>
                    <a:spLocks/>
                  </p:cNvSpPr>
                  <p:nvPr/>
                </p:nvSpPr>
                <p:spPr bwMode="auto">
                  <a:xfrm>
                    <a:off x="951" y="3765"/>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918" name="Freeform 2521"/>
                <p:cNvSpPr>
                  <a:spLocks/>
                </p:cNvSpPr>
                <p:nvPr/>
              </p:nvSpPr>
              <p:spPr bwMode="auto">
                <a:xfrm>
                  <a:off x="987" y="3753"/>
                  <a:ext cx="25" cy="43"/>
                </a:xfrm>
                <a:custGeom>
                  <a:avLst/>
                  <a:gdLst>
                    <a:gd name="T0" fmla="*/ 0 w 51"/>
                    <a:gd name="T1" fmla="*/ 0 h 128"/>
                    <a:gd name="T2" fmla="*/ 0 w 51"/>
                    <a:gd name="T3" fmla="*/ 0 h 128"/>
                    <a:gd name="T4" fmla="*/ 0 w 51"/>
                    <a:gd name="T5" fmla="*/ 0 h 128"/>
                    <a:gd name="T6" fmla="*/ 0 w 51"/>
                    <a:gd name="T7" fmla="*/ 0 h 128"/>
                    <a:gd name="T8" fmla="*/ 0 w 51"/>
                    <a:gd name="T9" fmla="*/ 0 h 128"/>
                    <a:gd name="T10" fmla="*/ 0 w 51"/>
                    <a:gd name="T11" fmla="*/ 0 h 128"/>
                    <a:gd name="T12" fmla="*/ 0 w 51"/>
                    <a:gd name="T13" fmla="*/ 0 h 128"/>
                    <a:gd name="T14" fmla="*/ 0 60000 65536"/>
                    <a:gd name="T15" fmla="*/ 0 60000 65536"/>
                    <a:gd name="T16" fmla="*/ 0 60000 65536"/>
                    <a:gd name="T17" fmla="*/ 0 60000 65536"/>
                    <a:gd name="T18" fmla="*/ 0 60000 65536"/>
                    <a:gd name="T19" fmla="*/ 0 60000 65536"/>
                    <a:gd name="T20" fmla="*/ 0 60000 65536"/>
                    <a:gd name="T21" fmla="*/ 0 w 51"/>
                    <a:gd name="T22" fmla="*/ 0 h 128"/>
                    <a:gd name="T23" fmla="*/ 51 w 51"/>
                    <a:gd name="T24" fmla="*/ 128 h 12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1" h="128">
                      <a:moveTo>
                        <a:pt x="40" y="128"/>
                      </a:moveTo>
                      <a:lnTo>
                        <a:pt x="0" y="29"/>
                      </a:lnTo>
                      <a:lnTo>
                        <a:pt x="0" y="20"/>
                      </a:lnTo>
                      <a:lnTo>
                        <a:pt x="2" y="11"/>
                      </a:lnTo>
                      <a:lnTo>
                        <a:pt x="10" y="0"/>
                      </a:lnTo>
                      <a:lnTo>
                        <a:pt x="51" y="91"/>
                      </a:lnTo>
                      <a:lnTo>
                        <a:pt x="40" y="12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19" name="Freeform 2522"/>
                <p:cNvSpPr>
                  <a:spLocks/>
                </p:cNvSpPr>
                <p:nvPr/>
              </p:nvSpPr>
              <p:spPr bwMode="auto">
                <a:xfrm>
                  <a:off x="992" y="3753"/>
                  <a:ext cx="91" cy="29"/>
                </a:xfrm>
                <a:custGeom>
                  <a:avLst/>
                  <a:gdLst>
                    <a:gd name="T0" fmla="*/ 0 w 183"/>
                    <a:gd name="T1" fmla="*/ 0 h 85"/>
                    <a:gd name="T2" fmla="*/ 0 w 183"/>
                    <a:gd name="T3" fmla="*/ 0 h 85"/>
                    <a:gd name="T4" fmla="*/ 0 w 183"/>
                    <a:gd name="T5" fmla="*/ 0 h 85"/>
                    <a:gd name="T6" fmla="*/ 0 w 183"/>
                    <a:gd name="T7" fmla="*/ 0 h 85"/>
                    <a:gd name="T8" fmla="*/ 0 w 183"/>
                    <a:gd name="T9" fmla="*/ 0 h 85"/>
                    <a:gd name="T10" fmla="*/ 1 w 183"/>
                    <a:gd name="T11" fmla="*/ 0 h 85"/>
                    <a:gd name="T12" fmla="*/ 1 w 183"/>
                    <a:gd name="T13" fmla="*/ 0 h 85"/>
                    <a:gd name="T14" fmla="*/ 1 w 183"/>
                    <a:gd name="T15" fmla="*/ 0 h 85"/>
                    <a:gd name="T16" fmla="*/ 1 w 183"/>
                    <a:gd name="T17" fmla="*/ 0 h 85"/>
                    <a:gd name="T18" fmla="*/ 0 w 183"/>
                    <a:gd name="T19" fmla="*/ 0 h 85"/>
                    <a:gd name="T20" fmla="*/ 0 w 183"/>
                    <a:gd name="T21" fmla="*/ 0 h 85"/>
                    <a:gd name="T22" fmla="*/ 0 w 183"/>
                    <a:gd name="T23" fmla="*/ 0 h 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83"/>
                    <a:gd name="T37" fmla="*/ 0 h 85"/>
                    <a:gd name="T38" fmla="*/ 183 w 183"/>
                    <a:gd name="T39" fmla="*/ 85 h 8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83" h="85">
                      <a:moveTo>
                        <a:pt x="0" y="0"/>
                      </a:moveTo>
                      <a:lnTo>
                        <a:pt x="64" y="0"/>
                      </a:lnTo>
                      <a:lnTo>
                        <a:pt x="67" y="13"/>
                      </a:lnTo>
                      <a:lnTo>
                        <a:pt x="75" y="28"/>
                      </a:lnTo>
                      <a:lnTo>
                        <a:pt x="84" y="42"/>
                      </a:lnTo>
                      <a:lnTo>
                        <a:pt x="158" y="42"/>
                      </a:lnTo>
                      <a:lnTo>
                        <a:pt x="163" y="55"/>
                      </a:lnTo>
                      <a:lnTo>
                        <a:pt x="172" y="67"/>
                      </a:lnTo>
                      <a:lnTo>
                        <a:pt x="183" y="85"/>
                      </a:lnTo>
                      <a:lnTo>
                        <a:pt x="64" y="85"/>
                      </a:lnTo>
                      <a:lnTo>
                        <a:pt x="41" y="85"/>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20" name="Freeform 2523"/>
                <p:cNvSpPr>
                  <a:spLocks/>
                </p:cNvSpPr>
                <p:nvPr/>
              </p:nvSpPr>
              <p:spPr bwMode="auto">
                <a:xfrm>
                  <a:off x="1008" y="3782"/>
                  <a:ext cx="81" cy="12"/>
                </a:xfrm>
                <a:custGeom>
                  <a:avLst/>
                  <a:gdLst>
                    <a:gd name="T0" fmla="*/ 0 w 160"/>
                    <a:gd name="T1" fmla="*/ 0 h 36"/>
                    <a:gd name="T2" fmla="*/ 1 w 160"/>
                    <a:gd name="T3" fmla="*/ 0 h 36"/>
                    <a:gd name="T4" fmla="*/ 1 w 160"/>
                    <a:gd name="T5" fmla="*/ 0 h 36"/>
                    <a:gd name="T6" fmla="*/ 1 w 160"/>
                    <a:gd name="T7" fmla="*/ 0 h 36"/>
                    <a:gd name="T8" fmla="*/ 2 w 160"/>
                    <a:gd name="T9" fmla="*/ 0 h 36"/>
                    <a:gd name="T10" fmla="*/ 2 w 160"/>
                    <a:gd name="T11" fmla="*/ 0 h 36"/>
                    <a:gd name="T12" fmla="*/ 0 w 160"/>
                    <a:gd name="T13" fmla="*/ 0 h 36"/>
                    <a:gd name="T14" fmla="*/ 0 60000 65536"/>
                    <a:gd name="T15" fmla="*/ 0 60000 65536"/>
                    <a:gd name="T16" fmla="*/ 0 60000 65536"/>
                    <a:gd name="T17" fmla="*/ 0 60000 65536"/>
                    <a:gd name="T18" fmla="*/ 0 60000 65536"/>
                    <a:gd name="T19" fmla="*/ 0 60000 65536"/>
                    <a:gd name="T20" fmla="*/ 0 60000 65536"/>
                    <a:gd name="T21" fmla="*/ 0 w 160"/>
                    <a:gd name="T22" fmla="*/ 0 h 36"/>
                    <a:gd name="T23" fmla="*/ 160 w 16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60" h="36">
                      <a:moveTo>
                        <a:pt x="0" y="36"/>
                      </a:moveTo>
                      <a:lnTo>
                        <a:pt x="1" y="20"/>
                      </a:lnTo>
                      <a:lnTo>
                        <a:pt x="7" y="8"/>
                      </a:lnTo>
                      <a:lnTo>
                        <a:pt x="10" y="0"/>
                      </a:lnTo>
                      <a:lnTo>
                        <a:pt x="150" y="0"/>
                      </a:lnTo>
                      <a:lnTo>
                        <a:pt x="160"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15" name="Group 2524"/>
              <p:cNvGrpSpPr>
                <a:grpSpLocks/>
              </p:cNvGrpSpPr>
              <p:nvPr/>
            </p:nvGrpSpPr>
            <p:grpSpPr bwMode="auto">
              <a:xfrm>
                <a:off x="920" y="3821"/>
                <a:ext cx="413" cy="50"/>
                <a:chOff x="920" y="3821"/>
                <a:chExt cx="413" cy="50"/>
              </a:xfrm>
            </p:grpSpPr>
            <p:sp>
              <p:nvSpPr>
                <p:cNvPr id="2836" name="Freeform 2525"/>
                <p:cNvSpPr>
                  <a:spLocks/>
                </p:cNvSpPr>
                <p:nvPr/>
              </p:nvSpPr>
              <p:spPr bwMode="auto">
                <a:xfrm>
                  <a:off x="920" y="3821"/>
                  <a:ext cx="413" cy="50"/>
                </a:xfrm>
                <a:custGeom>
                  <a:avLst/>
                  <a:gdLst>
                    <a:gd name="T0" fmla="*/ 1 w 825"/>
                    <a:gd name="T1" fmla="*/ 0 h 151"/>
                    <a:gd name="T2" fmla="*/ 1 w 825"/>
                    <a:gd name="T3" fmla="*/ 0 h 151"/>
                    <a:gd name="T4" fmla="*/ 1 w 825"/>
                    <a:gd name="T5" fmla="*/ 0 h 151"/>
                    <a:gd name="T6" fmla="*/ 0 w 825"/>
                    <a:gd name="T7" fmla="*/ 0 h 151"/>
                    <a:gd name="T8" fmla="*/ 1 w 825"/>
                    <a:gd name="T9" fmla="*/ 0 h 151"/>
                    <a:gd name="T10" fmla="*/ 1 w 825"/>
                    <a:gd name="T11" fmla="*/ 0 h 151"/>
                    <a:gd name="T12" fmla="*/ 1 w 825"/>
                    <a:gd name="T13" fmla="*/ 0 h 151"/>
                    <a:gd name="T14" fmla="*/ 7 w 825"/>
                    <a:gd name="T15" fmla="*/ 0 h 151"/>
                    <a:gd name="T16" fmla="*/ 7 w 825"/>
                    <a:gd name="T17" fmla="*/ 0 h 151"/>
                    <a:gd name="T18" fmla="*/ 7 w 825"/>
                    <a:gd name="T19" fmla="*/ 0 h 151"/>
                    <a:gd name="T20" fmla="*/ 7 w 825"/>
                    <a:gd name="T21" fmla="*/ 0 h 151"/>
                    <a:gd name="T22" fmla="*/ 7 w 825"/>
                    <a:gd name="T23" fmla="*/ 0 h 151"/>
                    <a:gd name="T24" fmla="*/ 7 w 825"/>
                    <a:gd name="T25" fmla="*/ 0 h 151"/>
                    <a:gd name="T26" fmla="*/ 7 w 825"/>
                    <a:gd name="T27" fmla="*/ 0 h 151"/>
                    <a:gd name="T28" fmla="*/ 1 w 825"/>
                    <a:gd name="T29" fmla="*/ 0 h 15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825"/>
                    <a:gd name="T46" fmla="*/ 0 h 151"/>
                    <a:gd name="T47" fmla="*/ 825 w 825"/>
                    <a:gd name="T48" fmla="*/ 151 h 15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825" h="151">
                      <a:moveTo>
                        <a:pt x="35" y="13"/>
                      </a:moveTo>
                      <a:lnTo>
                        <a:pt x="17" y="27"/>
                      </a:lnTo>
                      <a:lnTo>
                        <a:pt x="9" y="48"/>
                      </a:lnTo>
                      <a:lnTo>
                        <a:pt x="0" y="97"/>
                      </a:lnTo>
                      <a:lnTo>
                        <a:pt x="4" y="124"/>
                      </a:lnTo>
                      <a:lnTo>
                        <a:pt x="13" y="138"/>
                      </a:lnTo>
                      <a:lnTo>
                        <a:pt x="26" y="151"/>
                      </a:lnTo>
                      <a:lnTo>
                        <a:pt x="783" y="142"/>
                      </a:lnTo>
                      <a:lnTo>
                        <a:pt x="807" y="128"/>
                      </a:lnTo>
                      <a:lnTo>
                        <a:pt x="816" y="107"/>
                      </a:lnTo>
                      <a:lnTo>
                        <a:pt x="825" y="61"/>
                      </a:lnTo>
                      <a:lnTo>
                        <a:pt x="821" y="27"/>
                      </a:lnTo>
                      <a:lnTo>
                        <a:pt x="806" y="9"/>
                      </a:lnTo>
                      <a:lnTo>
                        <a:pt x="785" y="0"/>
                      </a:lnTo>
                      <a:lnTo>
                        <a:pt x="35" y="13"/>
                      </a:lnTo>
                      <a:close/>
                    </a:path>
                  </a:pathLst>
                </a:custGeom>
                <a:solidFill>
                  <a:srgbClr val="202020"/>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37" name="Freeform 2526"/>
                <p:cNvSpPr>
                  <a:spLocks/>
                </p:cNvSpPr>
                <p:nvPr/>
              </p:nvSpPr>
              <p:spPr bwMode="auto">
                <a:xfrm>
                  <a:off x="972" y="3833"/>
                  <a:ext cx="330" cy="27"/>
                </a:xfrm>
                <a:custGeom>
                  <a:avLst/>
                  <a:gdLst>
                    <a:gd name="T0" fmla="*/ 1 w 658"/>
                    <a:gd name="T1" fmla="*/ 0 h 79"/>
                    <a:gd name="T2" fmla="*/ 0 w 658"/>
                    <a:gd name="T3" fmla="*/ 0 h 79"/>
                    <a:gd name="T4" fmla="*/ 2 w 658"/>
                    <a:gd name="T5" fmla="*/ 0 h 79"/>
                    <a:gd name="T6" fmla="*/ 2 w 658"/>
                    <a:gd name="T7" fmla="*/ 0 h 79"/>
                    <a:gd name="T8" fmla="*/ 4 w 658"/>
                    <a:gd name="T9" fmla="*/ 0 h 79"/>
                    <a:gd name="T10" fmla="*/ 4 w 658"/>
                    <a:gd name="T11" fmla="*/ 0 h 79"/>
                    <a:gd name="T12" fmla="*/ 6 w 658"/>
                    <a:gd name="T13" fmla="*/ 0 h 79"/>
                    <a:gd name="T14" fmla="*/ 6 w 658"/>
                    <a:gd name="T15" fmla="*/ 0 h 79"/>
                    <a:gd name="T16" fmla="*/ 4 w 658"/>
                    <a:gd name="T17" fmla="*/ 0 h 79"/>
                    <a:gd name="T18" fmla="*/ 4 w 658"/>
                    <a:gd name="T19" fmla="*/ 0 h 79"/>
                    <a:gd name="T20" fmla="*/ 2 w 658"/>
                    <a:gd name="T21" fmla="*/ 0 h 79"/>
                    <a:gd name="T22" fmla="*/ 2 w 658"/>
                    <a:gd name="T23" fmla="*/ 0 h 79"/>
                    <a:gd name="T24" fmla="*/ 1 w 658"/>
                    <a:gd name="T25" fmla="*/ 0 h 7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658"/>
                    <a:gd name="T40" fmla="*/ 0 h 79"/>
                    <a:gd name="T41" fmla="*/ 658 w 658"/>
                    <a:gd name="T42" fmla="*/ 79 h 7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658" h="79">
                      <a:moveTo>
                        <a:pt x="4" y="23"/>
                      </a:moveTo>
                      <a:lnTo>
                        <a:pt x="0" y="50"/>
                      </a:lnTo>
                      <a:lnTo>
                        <a:pt x="153" y="50"/>
                      </a:lnTo>
                      <a:lnTo>
                        <a:pt x="153" y="79"/>
                      </a:lnTo>
                      <a:lnTo>
                        <a:pt x="500" y="73"/>
                      </a:lnTo>
                      <a:lnTo>
                        <a:pt x="500" y="50"/>
                      </a:lnTo>
                      <a:lnTo>
                        <a:pt x="656" y="50"/>
                      </a:lnTo>
                      <a:lnTo>
                        <a:pt x="658" y="23"/>
                      </a:lnTo>
                      <a:lnTo>
                        <a:pt x="504" y="23"/>
                      </a:lnTo>
                      <a:lnTo>
                        <a:pt x="504" y="0"/>
                      </a:lnTo>
                      <a:lnTo>
                        <a:pt x="153" y="8"/>
                      </a:lnTo>
                      <a:lnTo>
                        <a:pt x="153" y="23"/>
                      </a:lnTo>
                      <a:lnTo>
                        <a:pt x="4"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38" name="Rectangle 2527"/>
                <p:cNvSpPr>
                  <a:spLocks noChangeArrowheads="1"/>
                </p:cNvSpPr>
                <p:nvPr/>
              </p:nvSpPr>
              <p:spPr bwMode="auto">
                <a:xfrm>
                  <a:off x="982" y="3856"/>
                  <a:ext cx="26" cy="7"/>
                </a:xfrm>
                <a:prstGeom prst="rect">
                  <a:avLst/>
                </a:prstGeom>
                <a:solidFill>
                  <a:srgbClr val="00A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2839" name="Rectangle 2528"/>
                <p:cNvSpPr>
                  <a:spLocks noChangeArrowheads="1"/>
                </p:cNvSpPr>
                <p:nvPr/>
              </p:nvSpPr>
              <p:spPr bwMode="auto">
                <a:xfrm>
                  <a:off x="1237" y="3855"/>
                  <a:ext cx="53" cy="6"/>
                </a:xfrm>
                <a:prstGeom prst="rect">
                  <a:avLst/>
                </a:prstGeom>
                <a:solidFill>
                  <a:srgbClr val="202020"/>
                </a:solidFill>
                <a:ln w="7938">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16" name="Group 2529"/>
              <p:cNvGrpSpPr>
                <a:grpSpLocks/>
              </p:cNvGrpSpPr>
              <p:nvPr/>
            </p:nvGrpSpPr>
            <p:grpSpPr bwMode="auto">
              <a:xfrm>
                <a:off x="1227" y="3477"/>
                <a:ext cx="508" cy="321"/>
                <a:chOff x="1227" y="3477"/>
                <a:chExt cx="508" cy="321"/>
              </a:xfrm>
            </p:grpSpPr>
            <p:sp>
              <p:nvSpPr>
                <p:cNvPr id="2817" name="Freeform 2530"/>
                <p:cNvSpPr>
                  <a:spLocks/>
                </p:cNvSpPr>
                <p:nvPr/>
              </p:nvSpPr>
              <p:spPr bwMode="auto">
                <a:xfrm>
                  <a:off x="1640" y="3731"/>
                  <a:ext cx="95" cy="66"/>
                </a:xfrm>
                <a:custGeom>
                  <a:avLst/>
                  <a:gdLst>
                    <a:gd name="T0" fmla="*/ 0 w 191"/>
                    <a:gd name="T1" fmla="*/ 0 h 200"/>
                    <a:gd name="T2" fmla="*/ 0 w 191"/>
                    <a:gd name="T3" fmla="*/ 0 h 200"/>
                    <a:gd name="T4" fmla="*/ 0 w 191"/>
                    <a:gd name="T5" fmla="*/ 0 h 200"/>
                    <a:gd name="T6" fmla="*/ 0 w 191"/>
                    <a:gd name="T7" fmla="*/ 0 h 200"/>
                    <a:gd name="T8" fmla="*/ 0 w 191"/>
                    <a:gd name="T9" fmla="*/ 0 h 200"/>
                    <a:gd name="T10" fmla="*/ 0 w 191"/>
                    <a:gd name="T11" fmla="*/ 0 h 200"/>
                    <a:gd name="T12" fmla="*/ 0 w 191"/>
                    <a:gd name="T13" fmla="*/ 0 h 200"/>
                    <a:gd name="T14" fmla="*/ 0 w 191"/>
                    <a:gd name="T15" fmla="*/ 0 h 200"/>
                    <a:gd name="T16" fmla="*/ 1 w 191"/>
                    <a:gd name="T17" fmla="*/ 0 h 200"/>
                    <a:gd name="T18" fmla="*/ 1 w 191"/>
                    <a:gd name="T19" fmla="*/ 0 h 200"/>
                    <a:gd name="T20" fmla="*/ 1 w 191"/>
                    <a:gd name="T21" fmla="*/ 0 h 200"/>
                    <a:gd name="T22" fmla="*/ 0 w 191"/>
                    <a:gd name="T23" fmla="*/ 0 h 20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91"/>
                    <a:gd name="T37" fmla="*/ 0 h 200"/>
                    <a:gd name="T38" fmla="*/ 191 w 191"/>
                    <a:gd name="T39" fmla="*/ 200 h 200"/>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91" h="200">
                      <a:moveTo>
                        <a:pt x="126" y="9"/>
                      </a:moveTo>
                      <a:lnTo>
                        <a:pt x="93" y="0"/>
                      </a:lnTo>
                      <a:lnTo>
                        <a:pt x="59" y="5"/>
                      </a:lnTo>
                      <a:lnTo>
                        <a:pt x="32" y="17"/>
                      </a:lnTo>
                      <a:lnTo>
                        <a:pt x="9" y="45"/>
                      </a:lnTo>
                      <a:lnTo>
                        <a:pt x="0" y="94"/>
                      </a:lnTo>
                      <a:lnTo>
                        <a:pt x="0" y="137"/>
                      </a:lnTo>
                      <a:lnTo>
                        <a:pt x="0" y="200"/>
                      </a:lnTo>
                      <a:lnTo>
                        <a:pt x="191" y="200"/>
                      </a:lnTo>
                      <a:lnTo>
                        <a:pt x="181" y="81"/>
                      </a:lnTo>
                      <a:lnTo>
                        <a:pt x="157" y="30"/>
                      </a:lnTo>
                      <a:lnTo>
                        <a:pt x="126" y="9"/>
                      </a:lnTo>
                      <a:close/>
                    </a:path>
                  </a:pathLst>
                </a:custGeom>
                <a:solidFill>
                  <a:schemeClr val="bg2"/>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18" name="Freeform 2531"/>
                <p:cNvSpPr>
                  <a:spLocks/>
                </p:cNvSpPr>
                <p:nvPr/>
              </p:nvSpPr>
              <p:spPr bwMode="auto">
                <a:xfrm>
                  <a:off x="1227" y="3477"/>
                  <a:ext cx="429" cy="264"/>
                </a:xfrm>
                <a:custGeom>
                  <a:avLst/>
                  <a:gdLst>
                    <a:gd name="T0" fmla="*/ 0 w 860"/>
                    <a:gd name="T1" fmla="*/ 0 h 791"/>
                    <a:gd name="T2" fmla="*/ 6 w 860"/>
                    <a:gd name="T3" fmla="*/ 0 h 791"/>
                    <a:gd name="T4" fmla="*/ 6 w 860"/>
                    <a:gd name="T5" fmla="*/ 0 h 791"/>
                    <a:gd name="T6" fmla="*/ 6 w 860"/>
                    <a:gd name="T7" fmla="*/ 0 h 791"/>
                    <a:gd name="T8" fmla="*/ 0 w 860"/>
                    <a:gd name="T9" fmla="*/ 0 h 791"/>
                    <a:gd name="T10" fmla="*/ 0 60000 65536"/>
                    <a:gd name="T11" fmla="*/ 0 60000 65536"/>
                    <a:gd name="T12" fmla="*/ 0 60000 65536"/>
                    <a:gd name="T13" fmla="*/ 0 60000 65536"/>
                    <a:gd name="T14" fmla="*/ 0 60000 65536"/>
                    <a:gd name="T15" fmla="*/ 0 w 860"/>
                    <a:gd name="T16" fmla="*/ 0 h 791"/>
                    <a:gd name="T17" fmla="*/ 860 w 860"/>
                    <a:gd name="T18" fmla="*/ 791 h 791"/>
                  </a:gdLst>
                  <a:ahLst/>
                  <a:cxnLst>
                    <a:cxn ang="T10">
                      <a:pos x="T0" y="T1"/>
                    </a:cxn>
                    <a:cxn ang="T11">
                      <a:pos x="T2" y="T3"/>
                    </a:cxn>
                    <a:cxn ang="T12">
                      <a:pos x="T4" y="T5"/>
                    </a:cxn>
                    <a:cxn ang="T13">
                      <a:pos x="T6" y="T7"/>
                    </a:cxn>
                    <a:cxn ang="T14">
                      <a:pos x="T8" y="T9"/>
                    </a:cxn>
                  </a:cxnLst>
                  <a:rect l="T15" t="T16" r="T17" b="T18"/>
                  <a:pathLst>
                    <a:path w="860" h="791">
                      <a:moveTo>
                        <a:pt x="0" y="0"/>
                      </a:moveTo>
                      <a:lnTo>
                        <a:pt x="860" y="764"/>
                      </a:lnTo>
                      <a:lnTo>
                        <a:pt x="849" y="777"/>
                      </a:lnTo>
                      <a:lnTo>
                        <a:pt x="838" y="791"/>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19" name="Freeform 2532"/>
                <p:cNvSpPr>
                  <a:spLocks/>
                </p:cNvSpPr>
                <p:nvPr/>
              </p:nvSpPr>
              <p:spPr bwMode="auto">
                <a:xfrm>
                  <a:off x="1521" y="3650"/>
                  <a:ext cx="141" cy="122"/>
                </a:xfrm>
                <a:custGeom>
                  <a:avLst/>
                  <a:gdLst>
                    <a:gd name="T0" fmla="*/ 1 w 281"/>
                    <a:gd name="T1" fmla="*/ 0 h 366"/>
                    <a:gd name="T2" fmla="*/ 1 w 281"/>
                    <a:gd name="T3" fmla="*/ 0 h 366"/>
                    <a:gd name="T4" fmla="*/ 1 w 281"/>
                    <a:gd name="T5" fmla="*/ 0 h 366"/>
                    <a:gd name="T6" fmla="*/ 1 w 281"/>
                    <a:gd name="T7" fmla="*/ 0 h 366"/>
                    <a:gd name="T8" fmla="*/ 1 w 281"/>
                    <a:gd name="T9" fmla="*/ 0 h 366"/>
                    <a:gd name="T10" fmla="*/ 2 w 281"/>
                    <a:gd name="T11" fmla="*/ 0 h 366"/>
                    <a:gd name="T12" fmla="*/ 3 w 281"/>
                    <a:gd name="T13" fmla="*/ 0 h 366"/>
                    <a:gd name="T14" fmla="*/ 3 w 281"/>
                    <a:gd name="T15" fmla="*/ 0 h 366"/>
                    <a:gd name="T16" fmla="*/ 2 w 281"/>
                    <a:gd name="T17" fmla="*/ 0 h 366"/>
                    <a:gd name="T18" fmla="*/ 2 w 281"/>
                    <a:gd name="T19" fmla="*/ 0 h 366"/>
                    <a:gd name="T20" fmla="*/ 2 w 281"/>
                    <a:gd name="T21" fmla="*/ 0 h 366"/>
                    <a:gd name="T22" fmla="*/ 2 w 281"/>
                    <a:gd name="T23" fmla="*/ 0 h 366"/>
                    <a:gd name="T24" fmla="*/ 2 w 281"/>
                    <a:gd name="T25" fmla="*/ 0 h 366"/>
                    <a:gd name="T26" fmla="*/ 2 w 281"/>
                    <a:gd name="T27" fmla="*/ 0 h 366"/>
                    <a:gd name="T28" fmla="*/ 2 w 281"/>
                    <a:gd name="T29" fmla="*/ 0 h 366"/>
                    <a:gd name="T30" fmla="*/ 0 w 281"/>
                    <a:gd name="T31" fmla="*/ 0 h 366"/>
                    <a:gd name="T32" fmla="*/ 0 w 281"/>
                    <a:gd name="T33" fmla="*/ 0 h 366"/>
                    <a:gd name="T34" fmla="*/ 1 w 281"/>
                    <a:gd name="T35" fmla="*/ 0 h 36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81"/>
                    <a:gd name="T55" fmla="*/ 0 h 366"/>
                    <a:gd name="T56" fmla="*/ 281 w 281"/>
                    <a:gd name="T57" fmla="*/ 366 h 36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81" h="366">
                      <a:moveTo>
                        <a:pt x="4" y="95"/>
                      </a:moveTo>
                      <a:lnTo>
                        <a:pt x="24" y="62"/>
                      </a:lnTo>
                      <a:lnTo>
                        <a:pt x="54" y="43"/>
                      </a:lnTo>
                      <a:lnTo>
                        <a:pt x="78" y="42"/>
                      </a:lnTo>
                      <a:lnTo>
                        <a:pt x="128" y="43"/>
                      </a:lnTo>
                      <a:lnTo>
                        <a:pt x="132" y="0"/>
                      </a:lnTo>
                      <a:lnTo>
                        <a:pt x="281" y="130"/>
                      </a:lnTo>
                      <a:lnTo>
                        <a:pt x="272" y="179"/>
                      </a:lnTo>
                      <a:lnTo>
                        <a:pt x="228" y="170"/>
                      </a:lnTo>
                      <a:lnTo>
                        <a:pt x="191" y="184"/>
                      </a:lnTo>
                      <a:lnTo>
                        <a:pt x="158" y="210"/>
                      </a:lnTo>
                      <a:lnTo>
                        <a:pt x="150" y="232"/>
                      </a:lnTo>
                      <a:lnTo>
                        <a:pt x="149" y="295"/>
                      </a:lnTo>
                      <a:lnTo>
                        <a:pt x="149" y="338"/>
                      </a:lnTo>
                      <a:lnTo>
                        <a:pt x="150" y="366"/>
                      </a:lnTo>
                      <a:lnTo>
                        <a:pt x="0" y="229"/>
                      </a:lnTo>
                      <a:lnTo>
                        <a:pt x="0" y="139"/>
                      </a:lnTo>
                      <a:lnTo>
                        <a:pt x="4" y="95"/>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0" name="Line 2533"/>
                <p:cNvSpPr>
                  <a:spLocks noChangeShapeType="1"/>
                </p:cNvSpPr>
                <p:nvPr/>
              </p:nvSpPr>
              <p:spPr bwMode="auto">
                <a:xfrm>
                  <a:off x="1586" y="3665"/>
                  <a:ext cx="76" cy="44"/>
                </a:xfrm>
                <a:prstGeom prst="line">
                  <a:avLst/>
                </a:prstGeom>
                <a:noFill/>
                <a:ln w="793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1" name="Freeform 2534"/>
                <p:cNvSpPr>
                  <a:spLocks/>
                </p:cNvSpPr>
                <p:nvPr/>
              </p:nvSpPr>
              <p:spPr bwMode="auto">
                <a:xfrm>
                  <a:off x="1242" y="3486"/>
                  <a:ext cx="111" cy="96"/>
                </a:xfrm>
                <a:custGeom>
                  <a:avLst/>
                  <a:gdLst>
                    <a:gd name="T0" fmla="*/ 1 w 222"/>
                    <a:gd name="T1" fmla="*/ 0 h 289"/>
                    <a:gd name="T2" fmla="*/ 1 w 222"/>
                    <a:gd name="T3" fmla="*/ 0 h 289"/>
                    <a:gd name="T4" fmla="*/ 1 w 222"/>
                    <a:gd name="T5" fmla="*/ 0 h 289"/>
                    <a:gd name="T6" fmla="*/ 1 w 222"/>
                    <a:gd name="T7" fmla="*/ 0 h 289"/>
                    <a:gd name="T8" fmla="*/ 2 w 222"/>
                    <a:gd name="T9" fmla="*/ 0 h 289"/>
                    <a:gd name="T10" fmla="*/ 2 w 222"/>
                    <a:gd name="T11" fmla="*/ 0 h 289"/>
                    <a:gd name="T12" fmla="*/ 2 w 222"/>
                    <a:gd name="T13" fmla="*/ 0 h 289"/>
                    <a:gd name="T14" fmla="*/ 2 w 222"/>
                    <a:gd name="T15" fmla="*/ 0 h 289"/>
                    <a:gd name="T16" fmla="*/ 2 w 222"/>
                    <a:gd name="T17" fmla="*/ 0 h 289"/>
                    <a:gd name="T18" fmla="*/ 2 w 222"/>
                    <a:gd name="T19" fmla="*/ 0 h 289"/>
                    <a:gd name="T20" fmla="*/ 2 w 222"/>
                    <a:gd name="T21" fmla="*/ 0 h 289"/>
                    <a:gd name="T22" fmla="*/ 1 w 222"/>
                    <a:gd name="T23" fmla="*/ 0 h 289"/>
                    <a:gd name="T24" fmla="*/ 1 w 222"/>
                    <a:gd name="T25" fmla="*/ 0 h 289"/>
                    <a:gd name="T26" fmla="*/ 1 w 222"/>
                    <a:gd name="T27" fmla="*/ 0 h 289"/>
                    <a:gd name="T28" fmla="*/ 1 w 222"/>
                    <a:gd name="T29" fmla="*/ 0 h 289"/>
                    <a:gd name="T30" fmla="*/ 0 w 222"/>
                    <a:gd name="T31" fmla="*/ 0 h 289"/>
                    <a:gd name="T32" fmla="*/ 1 w 222"/>
                    <a:gd name="T33" fmla="*/ 0 h 289"/>
                    <a:gd name="T34" fmla="*/ 1 w 222"/>
                    <a:gd name="T35" fmla="*/ 0 h 2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22"/>
                    <a:gd name="T55" fmla="*/ 0 h 289"/>
                    <a:gd name="T56" fmla="*/ 222 w 222"/>
                    <a:gd name="T57" fmla="*/ 289 h 2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22" h="289">
                      <a:moveTo>
                        <a:pt x="10" y="98"/>
                      </a:moveTo>
                      <a:lnTo>
                        <a:pt x="27" y="64"/>
                      </a:lnTo>
                      <a:lnTo>
                        <a:pt x="53" y="45"/>
                      </a:lnTo>
                      <a:lnTo>
                        <a:pt x="81" y="41"/>
                      </a:lnTo>
                      <a:lnTo>
                        <a:pt x="131" y="42"/>
                      </a:lnTo>
                      <a:lnTo>
                        <a:pt x="135" y="0"/>
                      </a:lnTo>
                      <a:lnTo>
                        <a:pt x="222" y="80"/>
                      </a:lnTo>
                      <a:lnTo>
                        <a:pt x="218" y="120"/>
                      </a:lnTo>
                      <a:lnTo>
                        <a:pt x="190" y="118"/>
                      </a:lnTo>
                      <a:lnTo>
                        <a:pt x="168" y="116"/>
                      </a:lnTo>
                      <a:lnTo>
                        <a:pt x="135" y="125"/>
                      </a:lnTo>
                      <a:lnTo>
                        <a:pt x="118" y="137"/>
                      </a:lnTo>
                      <a:lnTo>
                        <a:pt x="102" y="161"/>
                      </a:lnTo>
                      <a:lnTo>
                        <a:pt x="98" y="192"/>
                      </a:lnTo>
                      <a:lnTo>
                        <a:pt x="93" y="289"/>
                      </a:lnTo>
                      <a:lnTo>
                        <a:pt x="0" y="197"/>
                      </a:lnTo>
                      <a:lnTo>
                        <a:pt x="4" y="138"/>
                      </a:lnTo>
                      <a:lnTo>
                        <a:pt x="10" y="98"/>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2" name="Freeform 2535"/>
                <p:cNvSpPr>
                  <a:spLocks/>
                </p:cNvSpPr>
                <p:nvPr/>
              </p:nvSpPr>
              <p:spPr bwMode="auto">
                <a:xfrm>
                  <a:off x="1456" y="3626"/>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5"/>
                      </a:moveTo>
                      <a:lnTo>
                        <a:pt x="59" y="0"/>
                      </a:lnTo>
                      <a:lnTo>
                        <a:pt x="30" y="14"/>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3" name="Freeform 2536"/>
                <p:cNvSpPr>
                  <a:spLocks/>
                </p:cNvSpPr>
                <p:nvPr/>
              </p:nvSpPr>
              <p:spPr bwMode="auto">
                <a:xfrm>
                  <a:off x="1440" y="3615"/>
                  <a:ext cx="63" cy="61"/>
                </a:xfrm>
                <a:custGeom>
                  <a:avLst/>
                  <a:gdLst>
                    <a:gd name="T0" fmla="*/ 1 w 126"/>
                    <a:gd name="T1" fmla="*/ 0 h 185"/>
                    <a:gd name="T2" fmla="*/ 1 w 126"/>
                    <a:gd name="T3" fmla="*/ 0 h 185"/>
                    <a:gd name="T4" fmla="*/ 1 w 126"/>
                    <a:gd name="T5" fmla="*/ 0 h 185"/>
                    <a:gd name="T6" fmla="*/ 1 w 126"/>
                    <a:gd name="T7" fmla="*/ 0 h 185"/>
                    <a:gd name="T8" fmla="*/ 0 w 126"/>
                    <a:gd name="T9" fmla="*/ 0 h 185"/>
                    <a:gd name="T10" fmla="*/ 0 w 126"/>
                    <a:gd name="T11" fmla="*/ 0 h 185"/>
                    <a:gd name="T12" fmla="*/ 0 w 126"/>
                    <a:gd name="T13" fmla="*/ 0 h 185"/>
                    <a:gd name="T14" fmla="*/ 0 60000 65536"/>
                    <a:gd name="T15" fmla="*/ 0 60000 65536"/>
                    <a:gd name="T16" fmla="*/ 0 60000 65536"/>
                    <a:gd name="T17" fmla="*/ 0 60000 65536"/>
                    <a:gd name="T18" fmla="*/ 0 60000 65536"/>
                    <a:gd name="T19" fmla="*/ 0 60000 65536"/>
                    <a:gd name="T20" fmla="*/ 0 60000 65536"/>
                    <a:gd name="T21" fmla="*/ 0 w 126"/>
                    <a:gd name="T22" fmla="*/ 0 h 185"/>
                    <a:gd name="T23" fmla="*/ 126 w 126"/>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5">
                      <a:moveTo>
                        <a:pt x="126" y="3"/>
                      </a:moveTo>
                      <a:lnTo>
                        <a:pt x="59" y="0"/>
                      </a:lnTo>
                      <a:lnTo>
                        <a:pt x="24" y="15"/>
                      </a:lnTo>
                      <a:lnTo>
                        <a:pt x="9" y="39"/>
                      </a:lnTo>
                      <a:lnTo>
                        <a:pt x="0" y="88"/>
                      </a:lnTo>
                      <a:lnTo>
                        <a:pt x="0" y="185"/>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4" name="Freeform 2537"/>
                <p:cNvSpPr>
                  <a:spLocks/>
                </p:cNvSpPr>
                <p:nvPr/>
              </p:nvSpPr>
              <p:spPr bwMode="auto">
                <a:xfrm>
                  <a:off x="1422" y="3604"/>
                  <a:ext cx="64" cy="62"/>
                </a:xfrm>
                <a:custGeom>
                  <a:avLst/>
                  <a:gdLst>
                    <a:gd name="T0" fmla="*/ 1 w 127"/>
                    <a:gd name="T1" fmla="*/ 0 h 185"/>
                    <a:gd name="T2" fmla="*/ 1 w 127"/>
                    <a:gd name="T3" fmla="*/ 0 h 185"/>
                    <a:gd name="T4" fmla="*/ 1 w 127"/>
                    <a:gd name="T5" fmla="*/ 0 h 185"/>
                    <a:gd name="T6" fmla="*/ 1 w 127"/>
                    <a:gd name="T7" fmla="*/ 0 h 185"/>
                    <a:gd name="T8" fmla="*/ 0 w 127"/>
                    <a:gd name="T9" fmla="*/ 0 h 185"/>
                    <a:gd name="T10" fmla="*/ 0 w 127"/>
                    <a:gd name="T11" fmla="*/ 0 h 185"/>
                    <a:gd name="T12" fmla="*/ 0 w 127"/>
                    <a:gd name="T13" fmla="*/ 0 h 185"/>
                    <a:gd name="T14" fmla="*/ 0 60000 65536"/>
                    <a:gd name="T15" fmla="*/ 0 60000 65536"/>
                    <a:gd name="T16" fmla="*/ 0 60000 65536"/>
                    <a:gd name="T17" fmla="*/ 0 60000 65536"/>
                    <a:gd name="T18" fmla="*/ 0 60000 65536"/>
                    <a:gd name="T19" fmla="*/ 0 60000 65536"/>
                    <a:gd name="T20" fmla="*/ 0 60000 65536"/>
                    <a:gd name="T21" fmla="*/ 0 w 127"/>
                    <a:gd name="T22" fmla="*/ 0 h 185"/>
                    <a:gd name="T23" fmla="*/ 127 w 127"/>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5">
                      <a:moveTo>
                        <a:pt x="127" y="5"/>
                      </a:moveTo>
                      <a:lnTo>
                        <a:pt x="59" y="0"/>
                      </a:lnTo>
                      <a:lnTo>
                        <a:pt x="30" y="14"/>
                      </a:lnTo>
                      <a:lnTo>
                        <a:pt x="9" y="39"/>
                      </a:lnTo>
                      <a:lnTo>
                        <a:pt x="0" y="88"/>
                      </a:lnTo>
                      <a:lnTo>
                        <a:pt x="0" y="185"/>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5" name="Freeform 2538"/>
                <p:cNvSpPr>
                  <a:spLocks/>
                </p:cNvSpPr>
                <p:nvPr/>
              </p:nvSpPr>
              <p:spPr bwMode="auto">
                <a:xfrm>
                  <a:off x="1401" y="3594"/>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2" y="10"/>
                      </a:lnTo>
                      <a:lnTo>
                        <a:pt x="9" y="39"/>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6" name="Freeform 2539"/>
                <p:cNvSpPr>
                  <a:spLocks/>
                </p:cNvSpPr>
                <p:nvPr/>
              </p:nvSpPr>
              <p:spPr bwMode="auto">
                <a:xfrm>
                  <a:off x="1383" y="3583"/>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4"/>
                      </a:moveTo>
                      <a:lnTo>
                        <a:pt x="59" y="0"/>
                      </a:lnTo>
                      <a:lnTo>
                        <a:pt x="32" y="13"/>
                      </a:lnTo>
                      <a:lnTo>
                        <a:pt x="9" y="40"/>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7" name="Freeform 2540"/>
                <p:cNvSpPr>
                  <a:spLocks/>
                </p:cNvSpPr>
                <p:nvPr/>
              </p:nvSpPr>
              <p:spPr bwMode="auto">
                <a:xfrm>
                  <a:off x="1365" y="3570"/>
                  <a:ext cx="63" cy="62"/>
                </a:xfrm>
                <a:custGeom>
                  <a:avLst/>
                  <a:gdLst>
                    <a:gd name="T0" fmla="*/ 1 w 126"/>
                    <a:gd name="T1" fmla="*/ 0 h 186"/>
                    <a:gd name="T2" fmla="*/ 1 w 126"/>
                    <a:gd name="T3" fmla="*/ 0 h 186"/>
                    <a:gd name="T4" fmla="*/ 1 w 126"/>
                    <a:gd name="T5" fmla="*/ 0 h 186"/>
                    <a:gd name="T6" fmla="*/ 1 w 126"/>
                    <a:gd name="T7" fmla="*/ 0 h 186"/>
                    <a:gd name="T8" fmla="*/ 0 w 126"/>
                    <a:gd name="T9" fmla="*/ 0 h 186"/>
                    <a:gd name="T10" fmla="*/ 0 w 126"/>
                    <a:gd name="T11" fmla="*/ 0 h 186"/>
                    <a:gd name="T12" fmla="*/ 0 w 126"/>
                    <a:gd name="T13" fmla="*/ 0 h 186"/>
                    <a:gd name="T14" fmla="*/ 0 60000 65536"/>
                    <a:gd name="T15" fmla="*/ 0 60000 65536"/>
                    <a:gd name="T16" fmla="*/ 0 60000 65536"/>
                    <a:gd name="T17" fmla="*/ 0 60000 65536"/>
                    <a:gd name="T18" fmla="*/ 0 60000 65536"/>
                    <a:gd name="T19" fmla="*/ 0 60000 65536"/>
                    <a:gd name="T20" fmla="*/ 0 60000 65536"/>
                    <a:gd name="T21" fmla="*/ 0 w 126"/>
                    <a:gd name="T22" fmla="*/ 0 h 186"/>
                    <a:gd name="T23" fmla="*/ 126 w 126"/>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6">
                      <a:moveTo>
                        <a:pt x="126" y="4"/>
                      </a:moveTo>
                      <a:lnTo>
                        <a:pt x="58" y="0"/>
                      </a:lnTo>
                      <a:lnTo>
                        <a:pt x="31" y="14"/>
                      </a:lnTo>
                      <a:lnTo>
                        <a:pt x="8"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8" name="Freeform 2541"/>
                <p:cNvSpPr>
                  <a:spLocks/>
                </p:cNvSpPr>
                <p:nvPr/>
              </p:nvSpPr>
              <p:spPr bwMode="auto">
                <a:xfrm>
                  <a:off x="1349" y="3558"/>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3" y="16"/>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9" name="Freeform 2542"/>
                <p:cNvSpPr>
                  <a:spLocks/>
                </p:cNvSpPr>
                <p:nvPr/>
              </p:nvSpPr>
              <p:spPr bwMode="auto">
                <a:xfrm>
                  <a:off x="1331" y="3550"/>
                  <a:ext cx="63" cy="62"/>
                </a:xfrm>
                <a:custGeom>
                  <a:avLst/>
                  <a:gdLst>
                    <a:gd name="T0" fmla="*/ 0 w 127"/>
                    <a:gd name="T1" fmla="*/ 0 h 186"/>
                    <a:gd name="T2" fmla="*/ 0 w 127"/>
                    <a:gd name="T3" fmla="*/ 0 h 186"/>
                    <a:gd name="T4" fmla="*/ 0 w 127"/>
                    <a:gd name="T5" fmla="*/ 0 h 186"/>
                    <a:gd name="T6" fmla="*/ 0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4"/>
                      </a:moveTo>
                      <a:lnTo>
                        <a:pt x="59" y="0"/>
                      </a:lnTo>
                      <a:lnTo>
                        <a:pt x="32" y="13"/>
                      </a:lnTo>
                      <a:lnTo>
                        <a:pt x="10" y="39"/>
                      </a:lnTo>
                      <a:lnTo>
                        <a:pt x="0" y="88"/>
                      </a:lnTo>
                      <a:lnTo>
                        <a:pt x="0" y="186"/>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30" name="Freeform 2543"/>
                <p:cNvSpPr>
                  <a:spLocks/>
                </p:cNvSpPr>
                <p:nvPr/>
              </p:nvSpPr>
              <p:spPr bwMode="auto">
                <a:xfrm>
                  <a:off x="1308" y="3501"/>
                  <a:ext cx="47" cy="25"/>
                </a:xfrm>
                <a:custGeom>
                  <a:avLst/>
                  <a:gdLst>
                    <a:gd name="T0" fmla="*/ 0 w 96"/>
                    <a:gd name="T1" fmla="*/ 0 h 74"/>
                    <a:gd name="T2" fmla="*/ 0 w 96"/>
                    <a:gd name="T3" fmla="*/ 0 h 74"/>
                    <a:gd name="T4" fmla="*/ 0 w 96"/>
                    <a:gd name="T5" fmla="*/ 0 h 74"/>
                    <a:gd name="T6" fmla="*/ 0 w 96"/>
                    <a:gd name="T7" fmla="*/ 0 h 74"/>
                    <a:gd name="T8" fmla="*/ 0 60000 65536"/>
                    <a:gd name="T9" fmla="*/ 0 60000 65536"/>
                    <a:gd name="T10" fmla="*/ 0 60000 65536"/>
                    <a:gd name="T11" fmla="*/ 0 60000 65536"/>
                    <a:gd name="T12" fmla="*/ 0 w 96"/>
                    <a:gd name="T13" fmla="*/ 0 h 74"/>
                    <a:gd name="T14" fmla="*/ 96 w 96"/>
                    <a:gd name="T15" fmla="*/ 74 h 74"/>
                  </a:gdLst>
                  <a:ahLst/>
                  <a:cxnLst>
                    <a:cxn ang="T8">
                      <a:pos x="T0" y="T1"/>
                    </a:cxn>
                    <a:cxn ang="T9">
                      <a:pos x="T2" y="T3"/>
                    </a:cxn>
                    <a:cxn ang="T10">
                      <a:pos x="T4" y="T5"/>
                    </a:cxn>
                    <a:cxn ang="T11">
                      <a:pos x="T6" y="T7"/>
                    </a:cxn>
                  </a:cxnLst>
                  <a:rect l="T12" t="T13" r="T14" b="T15"/>
                  <a:pathLst>
                    <a:path w="96" h="74">
                      <a:moveTo>
                        <a:pt x="0" y="0"/>
                      </a:moveTo>
                      <a:lnTo>
                        <a:pt x="89" y="74"/>
                      </a:lnTo>
                      <a:lnTo>
                        <a:pt x="96" y="74"/>
                      </a:lnTo>
                      <a:lnTo>
                        <a:pt x="93" y="74"/>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31" name="Oval 2544"/>
                <p:cNvSpPr>
                  <a:spLocks noChangeArrowheads="1"/>
                </p:cNvSpPr>
                <p:nvPr/>
              </p:nvSpPr>
              <p:spPr bwMode="auto">
                <a:xfrm>
                  <a:off x="1339" y="3772"/>
                  <a:ext cx="78" cy="26"/>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2832" name="Oval 2545"/>
                <p:cNvSpPr>
                  <a:spLocks noChangeArrowheads="1"/>
                </p:cNvSpPr>
                <p:nvPr/>
              </p:nvSpPr>
              <p:spPr bwMode="auto">
                <a:xfrm>
                  <a:off x="1432" y="3771"/>
                  <a:ext cx="78"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2833" name="Freeform 2546"/>
                <p:cNvSpPr>
                  <a:spLocks/>
                </p:cNvSpPr>
                <p:nvPr/>
              </p:nvSpPr>
              <p:spPr bwMode="auto">
                <a:xfrm>
                  <a:off x="1511" y="3785"/>
                  <a:ext cx="94" cy="8"/>
                </a:xfrm>
                <a:custGeom>
                  <a:avLst/>
                  <a:gdLst>
                    <a:gd name="T0" fmla="*/ 0 w 188"/>
                    <a:gd name="T1" fmla="*/ 0 h 25"/>
                    <a:gd name="T2" fmla="*/ 1 w 188"/>
                    <a:gd name="T3" fmla="*/ 0 h 25"/>
                    <a:gd name="T4" fmla="*/ 1 w 188"/>
                    <a:gd name="T5" fmla="*/ 0 h 25"/>
                    <a:gd name="T6" fmla="*/ 1 w 188"/>
                    <a:gd name="T7" fmla="*/ 0 h 25"/>
                    <a:gd name="T8" fmla="*/ 0 w 188"/>
                    <a:gd name="T9" fmla="*/ 0 h 25"/>
                    <a:gd name="T10" fmla="*/ 0 60000 65536"/>
                    <a:gd name="T11" fmla="*/ 0 60000 65536"/>
                    <a:gd name="T12" fmla="*/ 0 60000 65536"/>
                    <a:gd name="T13" fmla="*/ 0 60000 65536"/>
                    <a:gd name="T14" fmla="*/ 0 60000 65536"/>
                    <a:gd name="T15" fmla="*/ 0 w 188"/>
                    <a:gd name="T16" fmla="*/ 0 h 25"/>
                    <a:gd name="T17" fmla="*/ 188 w 188"/>
                    <a:gd name="T18" fmla="*/ 25 h 25"/>
                  </a:gdLst>
                  <a:ahLst/>
                  <a:cxnLst>
                    <a:cxn ang="T10">
                      <a:pos x="T0" y="T1"/>
                    </a:cxn>
                    <a:cxn ang="T11">
                      <a:pos x="T2" y="T3"/>
                    </a:cxn>
                    <a:cxn ang="T12">
                      <a:pos x="T4" y="T5"/>
                    </a:cxn>
                    <a:cxn ang="T13">
                      <a:pos x="T6" y="T7"/>
                    </a:cxn>
                    <a:cxn ang="T14">
                      <a:pos x="T8" y="T9"/>
                    </a:cxn>
                  </a:cxnLst>
                  <a:rect l="T15" t="T16" r="T17" b="T18"/>
                  <a:pathLst>
                    <a:path w="188" h="25">
                      <a:moveTo>
                        <a:pt x="0" y="25"/>
                      </a:moveTo>
                      <a:lnTo>
                        <a:pt x="6" y="0"/>
                      </a:lnTo>
                      <a:lnTo>
                        <a:pt x="175" y="0"/>
                      </a:lnTo>
                      <a:lnTo>
                        <a:pt x="188" y="19"/>
                      </a:lnTo>
                      <a:lnTo>
                        <a:pt x="0" y="25"/>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34" name="Oval 2547"/>
                <p:cNvSpPr>
                  <a:spLocks noChangeArrowheads="1"/>
                </p:cNvSpPr>
                <p:nvPr/>
              </p:nvSpPr>
              <p:spPr bwMode="auto">
                <a:xfrm>
                  <a:off x="1338" y="3767"/>
                  <a:ext cx="78" cy="27"/>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2835" name="Oval 2548"/>
                <p:cNvSpPr>
                  <a:spLocks noChangeArrowheads="1"/>
                </p:cNvSpPr>
                <p:nvPr/>
              </p:nvSpPr>
              <p:spPr bwMode="auto">
                <a:xfrm>
                  <a:off x="1431" y="3766"/>
                  <a:ext cx="77"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graphicFrame>
          <p:nvGraphicFramePr>
            <p:cNvPr id="3254" name="Object 58"/>
            <p:cNvGraphicFramePr>
              <a:graphicFrameLocks noChangeAspect="1"/>
            </p:cNvGraphicFramePr>
            <p:nvPr>
              <p:extLst>
                <p:ext uri="{D42A27DB-BD31-4B8C-83A1-F6EECF244321}">
                  <p14:modId xmlns:p14="http://schemas.microsoft.com/office/powerpoint/2010/main" val="918967931"/>
                </p:ext>
              </p:extLst>
            </p:nvPr>
          </p:nvGraphicFramePr>
          <p:xfrm>
            <a:off x="1979613" y="3213100"/>
            <a:ext cx="1390650" cy="1008063"/>
          </p:xfrm>
          <a:graphic>
            <a:graphicData uri="http://schemas.openxmlformats.org/presentationml/2006/ole">
              <mc:AlternateContent xmlns:mc="http://schemas.openxmlformats.org/markup-compatibility/2006">
                <mc:Choice xmlns:v="urn:schemas-microsoft-com:vml" Requires="v">
                  <p:oleObj name="VISIO" r:id="rId7" imgW="1687068" imgH="964692" progId="">
                    <p:embed/>
                  </p:oleObj>
                </mc:Choice>
                <mc:Fallback>
                  <p:oleObj name="VISIO" r:id="rId7" imgW="1687068" imgH="964692" progId="">
                    <p:embed/>
                    <p:pic>
                      <p:nvPicPr>
                        <p:cNvPr id="0" name="Picture 99"/>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979613" y="3213100"/>
                          <a:ext cx="1390650" cy="1008063"/>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3255" name="Object 58"/>
            <p:cNvGraphicFramePr>
              <a:graphicFrameLocks noChangeAspect="1"/>
            </p:cNvGraphicFramePr>
            <p:nvPr>
              <p:extLst>
                <p:ext uri="{D42A27DB-BD31-4B8C-83A1-F6EECF244321}">
                  <p14:modId xmlns:p14="http://schemas.microsoft.com/office/powerpoint/2010/main" val="924752059"/>
                </p:ext>
              </p:extLst>
            </p:nvPr>
          </p:nvGraphicFramePr>
          <p:xfrm>
            <a:off x="6227763" y="3500438"/>
            <a:ext cx="1292225" cy="936625"/>
          </p:xfrm>
          <a:graphic>
            <a:graphicData uri="http://schemas.openxmlformats.org/presentationml/2006/ole">
              <mc:AlternateContent xmlns:mc="http://schemas.openxmlformats.org/markup-compatibility/2006">
                <mc:Choice xmlns:v="urn:schemas-microsoft-com:vml" Requires="v">
                  <p:oleObj name="VISIO" r:id="rId7" imgW="1687068" imgH="964692" progId="">
                    <p:embed/>
                  </p:oleObj>
                </mc:Choice>
                <mc:Fallback>
                  <p:oleObj name="VISIO" r:id="rId7" imgW="1687068" imgH="964692" progId="">
                    <p:embed/>
                    <p:pic>
                      <p:nvPicPr>
                        <p:cNvPr id="0" name="Picture 100"/>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227763" y="3500438"/>
                          <a:ext cx="1292225" cy="936625"/>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3256" name="Object 58"/>
            <p:cNvGraphicFramePr>
              <a:graphicFrameLocks noChangeAspect="1"/>
            </p:cNvGraphicFramePr>
            <p:nvPr>
              <p:extLst>
                <p:ext uri="{D42A27DB-BD31-4B8C-83A1-F6EECF244321}">
                  <p14:modId xmlns:p14="http://schemas.microsoft.com/office/powerpoint/2010/main" val="2328851165"/>
                </p:ext>
              </p:extLst>
            </p:nvPr>
          </p:nvGraphicFramePr>
          <p:xfrm>
            <a:off x="3132138" y="2636838"/>
            <a:ext cx="658812" cy="477837"/>
          </p:xfrm>
          <a:graphic>
            <a:graphicData uri="http://schemas.openxmlformats.org/presentationml/2006/ole">
              <mc:AlternateContent xmlns:mc="http://schemas.openxmlformats.org/markup-compatibility/2006">
                <mc:Choice xmlns:v="urn:schemas-microsoft-com:vml" Requires="v">
                  <p:oleObj name="VISIO" r:id="rId8" imgW="1687068" imgH="964692" progId="">
                    <p:embed/>
                  </p:oleObj>
                </mc:Choice>
                <mc:Fallback>
                  <p:oleObj name="VISIO" r:id="rId8" imgW="1687068" imgH="964692" progId="">
                    <p:embed/>
                    <p:pic>
                      <p:nvPicPr>
                        <p:cNvPr id="0" name="Picture 101"/>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132138" y="2636838"/>
                          <a:ext cx="658812" cy="47783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cxnSp>
          <p:nvCxnSpPr>
            <p:cNvPr id="3257" name="直接连接符 8018"/>
            <p:cNvCxnSpPr>
              <a:cxnSpLocks noChangeShapeType="1"/>
              <a:stCxn id="517" idx="6"/>
            </p:cNvCxnSpPr>
            <p:nvPr/>
          </p:nvCxnSpPr>
          <p:spPr bwMode="auto">
            <a:xfrm flipV="1">
              <a:off x="2195513" y="2852738"/>
              <a:ext cx="1008062" cy="107950"/>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3258" name="直接连接符 8020"/>
            <p:cNvCxnSpPr>
              <a:cxnSpLocks noChangeShapeType="1"/>
            </p:cNvCxnSpPr>
            <p:nvPr/>
          </p:nvCxnSpPr>
          <p:spPr bwMode="auto">
            <a:xfrm>
              <a:off x="3708400" y="2924175"/>
              <a:ext cx="647700" cy="288925"/>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sp>
          <p:nvSpPr>
            <p:cNvPr id="3259" name="Text Box 1189"/>
            <p:cNvSpPr txBox="1">
              <a:spLocks noChangeArrowheads="1"/>
            </p:cNvSpPr>
            <p:nvPr/>
          </p:nvSpPr>
          <p:spPr bwMode="auto">
            <a:xfrm>
              <a:off x="7729538" y="295276"/>
              <a:ext cx="1009277" cy="4548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dirty="0">
                  <a:latin typeface="微软雅黑 Light" panose="020B0502040204020203" pitchFamily="34" charset="-122"/>
                  <a:ea typeface="微软雅黑 Light" panose="020B0502040204020203" pitchFamily="34" charset="-122"/>
                </a:rPr>
                <a:t>覆盖网络</a:t>
              </a:r>
            </a:p>
          </p:txBody>
        </p:sp>
        <p:sp>
          <p:nvSpPr>
            <p:cNvPr id="3260" name="Text Box 1189"/>
            <p:cNvSpPr txBox="1">
              <a:spLocks noChangeArrowheads="1"/>
            </p:cNvSpPr>
            <p:nvPr/>
          </p:nvSpPr>
          <p:spPr bwMode="auto">
            <a:xfrm>
              <a:off x="7775574" y="2597150"/>
              <a:ext cx="963240" cy="7581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dirty="0">
                  <a:latin typeface="微软雅黑 Light" panose="020B0502040204020203" pitchFamily="34" charset="-122"/>
                  <a:ea typeface="微软雅黑 Light" panose="020B0502040204020203" pitchFamily="34" charset="-122"/>
                </a:rPr>
                <a:t>实际网络</a:t>
              </a:r>
            </a:p>
          </p:txBody>
        </p:sp>
        <p:sp>
          <p:nvSpPr>
            <p:cNvPr id="3261" name="Text Box 3475"/>
            <p:cNvSpPr txBox="1">
              <a:spLocks noChangeArrowheads="1"/>
            </p:cNvSpPr>
            <p:nvPr/>
          </p:nvSpPr>
          <p:spPr bwMode="auto">
            <a:xfrm>
              <a:off x="533400" y="4211638"/>
              <a:ext cx="348263"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A</a:t>
              </a:r>
              <a:endParaRPr lang="en-US" altLang="zh-CN" sz="1100" i="1" dirty="0">
                <a:latin typeface="微软雅黑 Light" panose="020B0502040204020203" pitchFamily="34" charset="-122"/>
                <a:ea typeface="微软雅黑 Light" panose="020B0502040204020203" pitchFamily="34" charset="-122"/>
              </a:endParaRPr>
            </a:p>
          </p:txBody>
        </p:sp>
        <p:sp>
          <p:nvSpPr>
            <p:cNvPr id="3262" name="Text Box 3475"/>
            <p:cNvSpPr txBox="1">
              <a:spLocks noChangeArrowheads="1"/>
            </p:cNvSpPr>
            <p:nvPr/>
          </p:nvSpPr>
          <p:spPr bwMode="auto">
            <a:xfrm>
              <a:off x="6804025" y="2781300"/>
              <a:ext cx="346276"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C</a:t>
              </a:r>
              <a:endParaRPr lang="en-US" altLang="zh-CN" sz="1100" i="1" dirty="0">
                <a:latin typeface="微软雅黑 Light" panose="020B0502040204020203" pitchFamily="34" charset="-122"/>
                <a:ea typeface="微软雅黑 Light" panose="020B0502040204020203" pitchFamily="34" charset="-122"/>
              </a:endParaRPr>
            </a:p>
          </p:txBody>
        </p:sp>
        <p:sp>
          <p:nvSpPr>
            <p:cNvPr id="3263" name="Text Box 3475"/>
            <p:cNvSpPr txBox="1">
              <a:spLocks noChangeArrowheads="1"/>
            </p:cNvSpPr>
            <p:nvPr/>
          </p:nvSpPr>
          <p:spPr bwMode="auto">
            <a:xfrm>
              <a:off x="5413374" y="4189413"/>
              <a:ext cx="332361"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B</a:t>
              </a:r>
              <a:endParaRPr lang="en-US" altLang="zh-CN" sz="1100" i="1" dirty="0">
                <a:latin typeface="微软雅黑 Light" panose="020B0502040204020203" pitchFamily="34" charset="-122"/>
                <a:ea typeface="微软雅黑 Light" panose="020B0502040204020203" pitchFamily="34" charset="-122"/>
              </a:endParaRPr>
            </a:p>
          </p:txBody>
        </p:sp>
        <p:sp>
          <p:nvSpPr>
            <p:cNvPr id="3264" name="Text Box 3475"/>
            <p:cNvSpPr txBox="1">
              <a:spLocks noChangeArrowheads="1"/>
            </p:cNvSpPr>
            <p:nvPr/>
          </p:nvSpPr>
          <p:spPr bwMode="auto">
            <a:xfrm>
              <a:off x="2843214" y="4292599"/>
              <a:ext cx="356214"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D</a:t>
              </a:r>
            </a:p>
          </p:txBody>
        </p:sp>
      </p:grpSp>
      <p:sp>
        <p:nvSpPr>
          <p:cNvPr id="4" name="标题 3">
            <a:extLst>
              <a:ext uri="{FF2B5EF4-FFF2-40B4-BE49-F238E27FC236}">
                <a16:creationId xmlns:a16="http://schemas.microsoft.com/office/drawing/2014/main" id="{556A4BC4-9DD9-1AF2-C9F8-95C8D0AC332E}"/>
              </a:ext>
            </a:extLst>
          </p:cNvPr>
          <p:cNvSpPr>
            <a:spLocks noGrp="1"/>
          </p:cNvSpPr>
          <p:nvPr>
            <p:ph type="title"/>
          </p:nvPr>
        </p:nvSpPr>
        <p:spPr>
          <a:xfrm>
            <a:off x="485999" y="174482"/>
            <a:ext cx="8171999" cy="338554"/>
          </a:xfrm>
        </p:spPr>
        <p:txBody>
          <a:bodyPr/>
          <a:lstStyle/>
          <a:p>
            <a:r>
              <a:rPr lang="en-US" altLang="zh-CN" dirty="0"/>
              <a:t>6.9.2 </a:t>
            </a:r>
            <a:r>
              <a:rPr lang="zh-CN" altLang="en-US" dirty="0"/>
              <a:t>全分布式结构 </a:t>
            </a:r>
            <a:r>
              <a:rPr lang="en-US" altLang="zh-CN" dirty="0"/>
              <a:t>– </a:t>
            </a:r>
            <a:r>
              <a:rPr lang="zh-CN" altLang="en-US" dirty="0"/>
              <a:t> </a:t>
            </a:r>
            <a:r>
              <a:rPr lang="en-US" altLang="zh-CN" dirty="0"/>
              <a:t>BT</a:t>
            </a:r>
            <a:endParaRPr lang="zh-CN" altLang="en-US" dirty="0"/>
          </a:p>
        </p:txBody>
      </p:sp>
      <p:sp>
        <p:nvSpPr>
          <p:cNvPr id="5" name="内容占位符 4">
            <a:extLst>
              <a:ext uri="{FF2B5EF4-FFF2-40B4-BE49-F238E27FC236}">
                <a16:creationId xmlns:a16="http://schemas.microsoft.com/office/drawing/2014/main" id="{0D0EE75A-CE12-2913-6D59-51077FF99ED8}"/>
              </a:ext>
            </a:extLst>
          </p:cNvPr>
          <p:cNvSpPr>
            <a:spLocks noGrp="1"/>
          </p:cNvSpPr>
          <p:nvPr>
            <p:ph sz="quarter" idx="11"/>
          </p:nvPr>
        </p:nvSpPr>
        <p:spPr>
          <a:xfrm>
            <a:off x="486000" y="687518"/>
            <a:ext cx="8172000" cy="4079035"/>
          </a:xfrm>
        </p:spPr>
        <p:txBody>
          <a:bodyPr/>
          <a:lstStyle/>
          <a:p>
            <a:r>
              <a:rPr lang="zh-CN" altLang="en-US" dirty="0"/>
              <a:t>相邻关系是逻辑的，对等方的数目是动态变化的</a:t>
            </a:r>
          </a:p>
          <a:p>
            <a:endParaRPr lang="zh-CN" altLang="en-US" dirty="0"/>
          </a:p>
        </p:txBody>
      </p:sp>
    </p:spTree>
    <p:extLst>
      <p:ext uri="{BB962C8B-B14F-4D97-AF65-F5344CB8AC3E}">
        <p14:creationId xmlns:p14="http://schemas.microsoft.com/office/powerpoint/2010/main" val="27550046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A2B8629C-CFA4-2850-518E-2047B724CAC4}"/>
              </a:ext>
            </a:extLst>
          </p:cNvPr>
          <p:cNvSpPr>
            <a:spLocks noGrp="1"/>
          </p:cNvSpPr>
          <p:nvPr>
            <p:ph type="title"/>
          </p:nvPr>
        </p:nvSpPr>
        <p:spPr>
          <a:xfrm>
            <a:off x="485999" y="174482"/>
            <a:ext cx="8171999" cy="338554"/>
          </a:xfrm>
        </p:spPr>
        <p:txBody>
          <a:bodyPr/>
          <a:lstStyle/>
          <a:p>
            <a:r>
              <a:rPr lang="en-US" altLang="zh-CN" dirty="0"/>
              <a:t>6.9.2 </a:t>
            </a:r>
            <a:r>
              <a:rPr lang="zh-CN" altLang="en-US" dirty="0"/>
              <a:t>全分布式结构 </a:t>
            </a:r>
            <a:r>
              <a:rPr lang="en-US" altLang="zh-CN" dirty="0"/>
              <a:t>– </a:t>
            </a:r>
            <a:r>
              <a:rPr lang="zh-CN" altLang="en-US" dirty="0"/>
              <a:t> </a:t>
            </a:r>
            <a:r>
              <a:rPr lang="en-US" altLang="zh-CN" dirty="0"/>
              <a:t>BT</a:t>
            </a:r>
            <a:endParaRPr lang="zh-CN" altLang="en-US" dirty="0"/>
          </a:p>
        </p:txBody>
      </p:sp>
      <p:sp>
        <p:nvSpPr>
          <p:cNvPr id="5" name="内容占位符 4">
            <a:extLst>
              <a:ext uri="{FF2B5EF4-FFF2-40B4-BE49-F238E27FC236}">
                <a16:creationId xmlns:a16="http://schemas.microsoft.com/office/drawing/2014/main" id="{3637A2F4-702E-24BA-01AD-F9CF4E900F3A}"/>
              </a:ext>
            </a:extLst>
          </p:cNvPr>
          <p:cNvSpPr>
            <a:spLocks noGrp="1"/>
          </p:cNvSpPr>
          <p:nvPr>
            <p:ph sz="quarter" idx="11"/>
          </p:nvPr>
        </p:nvSpPr>
        <p:spPr>
          <a:xfrm>
            <a:off x="486000" y="687518"/>
            <a:ext cx="8172000" cy="4079035"/>
          </a:xfrm>
        </p:spPr>
        <p:txBody>
          <a:bodyPr/>
          <a:lstStyle/>
          <a:p>
            <a:r>
              <a:rPr lang="zh-CN" altLang="en-US"/>
              <a:t>每个对等方拥有的文件快不尽相同</a:t>
            </a:r>
            <a:endParaRPr lang="en-US" altLang="zh-CN"/>
          </a:p>
          <a:p>
            <a:r>
              <a:rPr lang="zh-CN" altLang="en-US"/>
              <a:t>对等方通过</a:t>
            </a:r>
            <a:r>
              <a:rPr lang="en-US" altLang="zh-CN"/>
              <a:t>TCP</a:t>
            </a:r>
            <a:r>
              <a:rPr lang="zh-CN" altLang="en-US"/>
              <a:t>周期性的向对等方索取文件块列表，并据此向对等方请求自己缺失的文件块，最后组装称完整的文件</a:t>
            </a:r>
            <a:endParaRPr lang="en-US" altLang="zh-CN"/>
          </a:p>
          <a:p>
            <a:r>
              <a:rPr lang="zh-CN" altLang="en-US"/>
              <a:t>核心</a:t>
            </a:r>
            <a:endParaRPr lang="en-US" altLang="zh-CN"/>
          </a:p>
          <a:p>
            <a:pPr lvl="1"/>
            <a:r>
              <a:rPr lang="zh-CN" altLang="en-US"/>
              <a:t>请求？</a:t>
            </a:r>
            <a:endParaRPr lang="en-US" altLang="zh-CN"/>
          </a:p>
          <a:p>
            <a:pPr lvl="1"/>
            <a:r>
              <a:rPr lang="zh-CN" altLang="en-US"/>
              <a:t>响应？</a:t>
            </a:r>
            <a:endParaRPr lang="en-US" altLang="zh-CN"/>
          </a:p>
          <a:p>
            <a:pPr lvl="1"/>
            <a:endParaRPr lang="zh-CN" altLang="en-US"/>
          </a:p>
          <a:p>
            <a:endParaRPr lang="zh-CN" altLang="en-US" dirty="0"/>
          </a:p>
        </p:txBody>
      </p:sp>
      <p:sp>
        <p:nvSpPr>
          <p:cNvPr id="64" name="Rectangle 303"/>
          <p:cNvSpPr>
            <a:spLocks noChangeArrowheads="1"/>
          </p:cNvSpPr>
          <p:nvPr/>
        </p:nvSpPr>
        <p:spPr bwMode="auto">
          <a:xfrm>
            <a:off x="2187660" y="3170631"/>
            <a:ext cx="1905000" cy="348480"/>
          </a:xfrm>
          <a:prstGeom prst="rect">
            <a:avLst/>
          </a:prstGeom>
          <a:solidFill>
            <a:schemeClr val="bg1"/>
          </a:solidFill>
          <a:ln w="19050">
            <a:solidFill>
              <a:schemeClr val="tx1"/>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5" name="Rectangle 304"/>
          <p:cNvSpPr>
            <a:spLocks noChangeArrowheads="1"/>
          </p:cNvSpPr>
          <p:nvPr/>
        </p:nvSpPr>
        <p:spPr bwMode="auto">
          <a:xfrm>
            <a:off x="5003878" y="3170631"/>
            <a:ext cx="1905000" cy="348480"/>
          </a:xfrm>
          <a:prstGeom prst="rect">
            <a:avLst/>
          </a:prstGeom>
          <a:solidFill>
            <a:schemeClr val="bg1"/>
          </a:solidFill>
          <a:ln w="19050">
            <a:solidFill>
              <a:srgbClr val="000000"/>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6" name="Rectangle 305"/>
          <p:cNvSpPr>
            <a:spLocks noChangeArrowheads="1"/>
          </p:cNvSpPr>
          <p:nvPr/>
        </p:nvSpPr>
        <p:spPr bwMode="auto">
          <a:xfrm>
            <a:off x="3597275" y="4201243"/>
            <a:ext cx="1905000" cy="348480"/>
          </a:xfrm>
          <a:prstGeom prst="rect">
            <a:avLst/>
          </a:prstGeom>
          <a:solidFill>
            <a:schemeClr val="bg1"/>
          </a:solidFill>
          <a:ln w="19050">
            <a:solidFill>
              <a:srgbClr val="000000"/>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0" name="Rectangle 305"/>
          <p:cNvSpPr>
            <a:spLocks noChangeArrowheads="1"/>
          </p:cNvSpPr>
          <p:nvPr/>
        </p:nvSpPr>
        <p:spPr bwMode="auto">
          <a:xfrm>
            <a:off x="3651250" y="2293613"/>
            <a:ext cx="1905000" cy="348480"/>
          </a:xfrm>
          <a:prstGeom prst="rect">
            <a:avLst/>
          </a:prstGeom>
          <a:solidFill>
            <a:schemeClr val="bg1"/>
          </a:solidFill>
          <a:ln w="19050">
            <a:solidFill>
              <a:srgbClr val="000000"/>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32" name="Rectangle 260"/>
          <p:cNvSpPr>
            <a:spLocks noChangeArrowheads="1"/>
          </p:cNvSpPr>
          <p:nvPr/>
        </p:nvSpPr>
        <p:spPr bwMode="auto">
          <a:xfrm>
            <a:off x="2340060"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1</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33" name="Rectangle 261"/>
          <p:cNvSpPr>
            <a:spLocks noChangeArrowheads="1"/>
          </p:cNvSpPr>
          <p:nvPr/>
        </p:nvSpPr>
        <p:spPr bwMode="auto">
          <a:xfrm>
            <a:off x="2644860" y="3189101"/>
            <a:ext cx="10800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3</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35" name="Rectangle 263"/>
          <p:cNvSpPr>
            <a:spLocks noChangeArrowheads="1"/>
          </p:cNvSpPr>
          <p:nvPr/>
        </p:nvSpPr>
        <p:spPr bwMode="auto">
          <a:xfrm>
            <a:off x="2901535" y="3189101"/>
            <a:ext cx="10800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4</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37" name="Rectangle 266"/>
          <p:cNvSpPr>
            <a:spLocks noChangeArrowheads="1"/>
          </p:cNvSpPr>
          <p:nvPr/>
        </p:nvSpPr>
        <p:spPr bwMode="auto">
          <a:xfrm>
            <a:off x="3406860"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6</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38" name="Rectangle 267"/>
          <p:cNvSpPr>
            <a:spLocks noChangeArrowheads="1"/>
          </p:cNvSpPr>
          <p:nvPr/>
        </p:nvSpPr>
        <p:spPr bwMode="auto">
          <a:xfrm>
            <a:off x="3803735"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8</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39" name="Rectangle 268"/>
          <p:cNvSpPr>
            <a:spLocks noChangeArrowheads="1"/>
          </p:cNvSpPr>
          <p:nvPr/>
        </p:nvSpPr>
        <p:spPr bwMode="auto">
          <a:xfrm>
            <a:off x="5048328"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0</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0" name="Rectangle 269"/>
          <p:cNvSpPr>
            <a:spLocks noChangeArrowheads="1"/>
          </p:cNvSpPr>
          <p:nvPr/>
        </p:nvSpPr>
        <p:spPr bwMode="auto">
          <a:xfrm>
            <a:off x="5227715"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1</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1" name="Rectangle 270"/>
          <p:cNvSpPr>
            <a:spLocks noChangeArrowheads="1"/>
          </p:cNvSpPr>
          <p:nvPr/>
        </p:nvSpPr>
        <p:spPr bwMode="auto">
          <a:xfrm>
            <a:off x="5765878"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4</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2" name="Rectangle 271"/>
          <p:cNvSpPr>
            <a:spLocks noChangeArrowheads="1"/>
          </p:cNvSpPr>
          <p:nvPr/>
        </p:nvSpPr>
        <p:spPr bwMode="auto">
          <a:xfrm>
            <a:off x="6208790"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7</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3" name="Rectangle 272"/>
          <p:cNvSpPr>
            <a:spLocks noChangeArrowheads="1"/>
          </p:cNvSpPr>
          <p:nvPr/>
        </p:nvSpPr>
        <p:spPr bwMode="auto">
          <a:xfrm>
            <a:off x="6475490"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8</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5" name="Rectangle 274"/>
          <p:cNvSpPr>
            <a:spLocks noChangeArrowheads="1"/>
          </p:cNvSpPr>
          <p:nvPr/>
        </p:nvSpPr>
        <p:spPr bwMode="auto">
          <a:xfrm>
            <a:off x="6731078"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9</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7" name="Rectangle 276"/>
          <p:cNvSpPr>
            <a:spLocks noChangeArrowheads="1"/>
          </p:cNvSpPr>
          <p:nvPr/>
        </p:nvSpPr>
        <p:spPr bwMode="auto">
          <a:xfrm>
            <a:off x="4064000"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3</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8" name="Rectangle 277"/>
          <p:cNvSpPr>
            <a:spLocks noChangeArrowheads="1"/>
          </p:cNvSpPr>
          <p:nvPr/>
        </p:nvSpPr>
        <p:spPr bwMode="auto">
          <a:xfrm>
            <a:off x="4359275"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5</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9" name="Rectangle 278"/>
          <p:cNvSpPr>
            <a:spLocks noChangeArrowheads="1"/>
          </p:cNvSpPr>
          <p:nvPr/>
        </p:nvSpPr>
        <p:spPr bwMode="auto">
          <a:xfrm>
            <a:off x="3641725"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0</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1" name="Rectangle 280"/>
          <p:cNvSpPr>
            <a:spLocks noChangeArrowheads="1"/>
          </p:cNvSpPr>
          <p:nvPr/>
        </p:nvSpPr>
        <p:spPr bwMode="auto">
          <a:xfrm>
            <a:off x="4999000"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7</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2" name="Rectangle 281"/>
          <p:cNvSpPr>
            <a:spLocks noChangeArrowheads="1"/>
          </p:cNvSpPr>
          <p:nvPr/>
        </p:nvSpPr>
        <p:spPr bwMode="auto">
          <a:xfrm>
            <a:off x="5165225"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8</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3" name="Text Box 284"/>
          <p:cNvSpPr txBox="1">
            <a:spLocks noChangeArrowheads="1"/>
          </p:cNvSpPr>
          <p:nvPr/>
        </p:nvSpPr>
        <p:spPr bwMode="auto">
          <a:xfrm>
            <a:off x="1197060" y="3200213"/>
            <a:ext cx="80823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itchFamily="34" charset="0"/>
                <a:ea typeface="宋体" pitchFamily="2" charset="-122"/>
              </a:defRPr>
            </a:lvl1pPr>
            <a:lvl2pPr marL="742950" indent="-285750" eaLnBrk="0" hangingPunct="0">
              <a:defRPr>
                <a:solidFill>
                  <a:schemeClr val="tx1"/>
                </a:solidFill>
                <a:latin typeface="Arial" pitchFamily="34" charset="0"/>
                <a:ea typeface="宋体" pitchFamily="2" charset="-122"/>
              </a:defRPr>
            </a:lvl2pPr>
            <a:lvl3pPr marL="1143000" indent="-228600" eaLnBrk="0" hangingPunct="0">
              <a:defRPr>
                <a:solidFill>
                  <a:schemeClr val="tx1"/>
                </a:solidFill>
                <a:latin typeface="Arial" pitchFamily="34" charset="0"/>
                <a:ea typeface="宋体" pitchFamily="2" charset="-122"/>
              </a:defRPr>
            </a:lvl3pPr>
            <a:lvl4pPr marL="1600200" indent="-228600" eaLnBrk="0" hangingPunct="0">
              <a:defRPr>
                <a:solidFill>
                  <a:schemeClr val="tx1"/>
                </a:solidFill>
                <a:latin typeface="Arial" pitchFamily="34" charset="0"/>
                <a:ea typeface="宋体" pitchFamily="2" charset="-122"/>
              </a:defRPr>
            </a:lvl4pPr>
            <a:lvl5pPr marL="2057400" indent="-228600" eaLnBrk="0" hangingPunct="0">
              <a:defRPr>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itchFamily="34" charset="0"/>
                <a:ea typeface="宋体" pitchFamily="2" charset="-122"/>
              </a:defRPr>
            </a:lvl9pPr>
          </a:lstStyle>
          <a:p>
            <a:pPr eaLnBrk="1" hangingPunct="1"/>
            <a:r>
              <a:rPr lang="zh-CN" altLang="en-US" sz="1200" dirty="0">
                <a:latin typeface="Montserrat" panose="00000500000000000000" pitchFamily="2" charset="0"/>
                <a:ea typeface="微软雅黑 Light" panose="020B0502040204020203" pitchFamily="34" charset="-122"/>
              </a:rPr>
              <a:t>对等方 </a:t>
            </a:r>
            <a:r>
              <a:rPr lang="en-US" altLang="zh-CN" sz="1200" dirty="0">
                <a:latin typeface="Montserrat" panose="00000500000000000000" pitchFamily="2" charset="0"/>
                <a:ea typeface="微软雅黑 Light" panose="020B0502040204020203" pitchFamily="34" charset="-122"/>
              </a:rPr>
              <a:t>A</a:t>
            </a:r>
          </a:p>
        </p:txBody>
      </p:sp>
      <p:sp>
        <p:nvSpPr>
          <p:cNvPr id="54" name="Text Box 287"/>
          <p:cNvSpPr txBox="1">
            <a:spLocks noChangeArrowheads="1"/>
          </p:cNvSpPr>
          <p:nvPr/>
        </p:nvSpPr>
        <p:spPr bwMode="auto">
          <a:xfrm>
            <a:off x="6919990" y="3168463"/>
            <a:ext cx="79701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itchFamily="34" charset="0"/>
                <a:ea typeface="宋体" pitchFamily="2" charset="-122"/>
              </a:defRPr>
            </a:lvl1pPr>
            <a:lvl2pPr marL="742950" indent="-285750" eaLnBrk="0" hangingPunct="0">
              <a:defRPr>
                <a:solidFill>
                  <a:schemeClr val="tx1"/>
                </a:solidFill>
                <a:latin typeface="Arial" pitchFamily="34" charset="0"/>
                <a:ea typeface="宋体" pitchFamily="2" charset="-122"/>
              </a:defRPr>
            </a:lvl2pPr>
            <a:lvl3pPr marL="1143000" indent="-228600" eaLnBrk="0" hangingPunct="0">
              <a:defRPr>
                <a:solidFill>
                  <a:schemeClr val="tx1"/>
                </a:solidFill>
                <a:latin typeface="Arial" pitchFamily="34" charset="0"/>
                <a:ea typeface="宋体" pitchFamily="2" charset="-122"/>
              </a:defRPr>
            </a:lvl3pPr>
            <a:lvl4pPr marL="1600200" indent="-228600" eaLnBrk="0" hangingPunct="0">
              <a:defRPr>
                <a:solidFill>
                  <a:schemeClr val="tx1"/>
                </a:solidFill>
                <a:latin typeface="Arial" pitchFamily="34" charset="0"/>
                <a:ea typeface="宋体" pitchFamily="2" charset="-122"/>
              </a:defRPr>
            </a:lvl4pPr>
            <a:lvl5pPr marL="2057400" indent="-228600" eaLnBrk="0" hangingPunct="0">
              <a:defRPr>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itchFamily="34" charset="0"/>
                <a:ea typeface="宋体" pitchFamily="2" charset="-122"/>
              </a:defRPr>
            </a:lvl9pPr>
          </a:lstStyle>
          <a:p>
            <a:pPr eaLnBrk="1" hangingPunct="1"/>
            <a:r>
              <a:rPr lang="zh-CN" altLang="en-US" sz="1200" dirty="0">
                <a:latin typeface="Montserrat" panose="00000500000000000000" pitchFamily="2" charset="0"/>
                <a:ea typeface="微软雅黑 Light" panose="020B0502040204020203" pitchFamily="34" charset="-122"/>
              </a:rPr>
              <a:t>对等方 </a:t>
            </a:r>
            <a:r>
              <a:rPr lang="en-US" altLang="zh-CN" sz="1200" dirty="0">
                <a:latin typeface="Montserrat" panose="00000500000000000000" pitchFamily="2" charset="0"/>
                <a:ea typeface="微软雅黑 Light" panose="020B0502040204020203" pitchFamily="34" charset="-122"/>
              </a:rPr>
              <a:t>C</a:t>
            </a:r>
          </a:p>
        </p:txBody>
      </p:sp>
      <p:sp>
        <p:nvSpPr>
          <p:cNvPr id="55" name="Text Box 290"/>
          <p:cNvSpPr txBox="1">
            <a:spLocks noChangeArrowheads="1"/>
          </p:cNvSpPr>
          <p:nvPr/>
        </p:nvSpPr>
        <p:spPr bwMode="auto">
          <a:xfrm>
            <a:off x="2584450" y="4293283"/>
            <a:ext cx="814647"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itchFamily="34" charset="0"/>
                <a:ea typeface="宋体" pitchFamily="2" charset="-122"/>
              </a:defRPr>
            </a:lvl1pPr>
            <a:lvl2pPr marL="742950" indent="-285750" eaLnBrk="0" hangingPunct="0">
              <a:defRPr>
                <a:solidFill>
                  <a:schemeClr val="tx1"/>
                </a:solidFill>
                <a:latin typeface="Arial" pitchFamily="34" charset="0"/>
                <a:ea typeface="宋体" pitchFamily="2" charset="-122"/>
              </a:defRPr>
            </a:lvl2pPr>
            <a:lvl3pPr marL="1143000" indent="-228600" eaLnBrk="0" hangingPunct="0">
              <a:defRPr>
                <a:solidFill>
                  <a:schemeClr val="tx1"/>
                </a:solidFill>
                <a:latin typeface="Arial" pitchFamily="34" charset="0"/>
                <a:ea typeface="宋体" pitchFamily="2" charset="-122"/>
              </a:defRPr>
            </a:lvl3pPr>
            <a:lvl4pPr marL="1600200" indent="-228600" eaLnBrk="0" hangingPunct="0">
              <a:defRPr>
                <a:solidFill>
                  <a:schemeClr val="tx1"/>
                </a:solidFill>
                <a:latin typeface="Arial" pitchFamily="34" charset="0"/>
                <a:ea typeface="宋体" pitchFamily="2" charset="-122"/>
              </a:defRPr>
            </a:lvl4pPr>
            <a:lvl5pPr marL="2057400" indent="-228600" eaLnBrk="0" hangingPunct="0">
              <a:defRPr>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itchFamily="34" charset="0"/>
                <a:ea typeface="宋体" pitchFamily="2" charset="-122"/>
              </a:defRPr>
            </a:lvl9pPr>
          </a:lstStyle>
          <a:p>
            <a:pPr eaLnBrk="1" hangingPunct="1"/>
            <a:r>
              <a:rPr lang="zh-CN" altLang="en-US" sz="1200" dirty="0">
                <a:latin typeface="Montserrat" panose="00000500000000000000" pitchFamily="2" charset="0"/>
                <a:ea typeface="微软雅黑 Light" panose="020B0502040204020203" pitchFamily="34" charset="-122"/>
              </a:rPr>
              <a:t>对等方 </a:t>
            </a:r>
            <a:r>
              <a:rPr lang="en-US" altLang="zh-CN" sz="1200" dirty="0">
                <a:latin typeface="Montserrat" panose="00000500000000000000" pitchFamily="2" charset="0"/>
                <a:ea typeface="微软雅黑 Light" panose="020B0502040204020203" pitchFamily="34" charset="-122"/>
              </a:rPr>
              <a:t>D</a:t>
            </a:r>
          </a:p>
        </p:txBody>
      </p:sp>
      <p:sp>
        <p:nvSpPr>
          <p:cNvPr id="57" name="Line 294"/>
          <p:cNvSpPr>
            <a:spLocks noChangeShapeType="1"/>
          </p:cNvSpPr>
          <p:nvPr/>
        </p:nvSpPr>
        <p:spPr bwMode="auto">
          <a:xfrm>
            <a:off x="4565650" y="2642093"/>
            <a:ext cx="0" cy="1574990"/>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8" name="Line 295"/>
          <p:cNvSpPr>
            <a:spLocks noChangeShapeType="1"/>
          </p:cNvSpPr>
          <p:nvPr/>
        </p:nvSpPr>
        <p:spPr bwMode="auto">
          <a:xfrm flipH="1">
            <a:off x="3263984" y="2659071"/>
            <a:ext cx="647615" cy="50939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9" name="Line 296"/>
          <p:cNvSpPr>
            <a:spLocks noChangeShapeType="1"/>
          </p:cNvSpPr>
          <p:nvPr/>
        </p:nvSpPr>
        <p:spPr bwMode="auto">
          <a:xfrm>
            <a:off x="5327650" y="2659071"/>
            <a:ext cx="685800" cy="50939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0" name="Line 298"/>
          <p:cNvSpPr>
            <a:spLocks noChangeShapeType="1"/>
          </p:cNvSpPr>
          <p:nvPr/>
        </p:nvSpPr>
        <p:spPr bwMode="auto">
          <a:xfrm flipH="1">
            <a:off x="4087869" y="3357668"/>
            <a:ext cx="930353" cy="0"/>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1" name="Line 300"/>
          <p:cNvSpPr>
            <a:spLocks noChangeShapeType="1"/>
          </p:cNvSpPr>
          <p:nvPr/>
        </p:nvSpPr>
        <p:spPr bwMode="auto">
          <a:xfrm flipH="1" flipV="1">
            <a:off x="3263983" y="3519111"/>
            <a:ext cx="592741" cy="70060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2" name="Line 301"/>
          <p:cNvSpPr>
            <a:spLocks noChangeShapeType="1"/>
          </p:cNvSpPr>
          <p:nvPr/>
        </p:nvSpPr>
        <p:spPr bwMode="auto">
          <a:xfrm flipV="1">
            <a:off x="5099050" y="3519111"/>
            <a:ext cx="571500" cy="69797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3" name="Line 302"/>
          <p:cNvSpPr>
            <a:spLocks noChangeShapeType="1"/>
          </p:cNvSpPr>
          <p:nvPr/>
        </p:nvSpPr>
        <p:spPr bwMode="auto">
          <a:xfrm flipH="1">
            <a:off x="5335665" y="3519111"/>
            <a:ext cx="582613" cy="68213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6" name="Rectangle 278"/>
          <p:cNvSpPr>
            <a:spLocks noChangeArrowheads="1"/>
          </p:cNvSpPr>
          <p:nvPr/>
        </p:nvSpPr>
        <p:spPr bwMode="auto">
          <a:xfrm>
            <a:off x="3695700" y="2312083"/>
            <a:ext cx="10800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0</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9" name="Rectangle 281"/>
          <p:cNvSpPr>
            <a:spLocks noChangeArrowheads="1"/>
          </p:cNvSpPr>
          <p:nvPr/>
        </p:nvSpPr>
        <p:spPr bwMode="auto">
          <a:xfrm>
            <a:off x="5267325" y="231208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8</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2" name="Rectangle 278"/>
          <p:cNvSpPr>
            <a:spLocks noChangeArrowheads="1"/>
          </p:cNvSpPr>
          <p:nvPr/>
        </p:nvSpPr>
        <p:spPr bwMode="auto">
          <a:xfrm>
            <a:off x="4229100" y="2312083"/>
            <a:ext cx="10800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3</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4" name="Rectangle 269"/>
          <p:cNvSpPr>
            <a:spLocks noChangeArrowheads="1"/>
          </p:cNvSpPr>
          <p:nvPr/>
        </p:nvSpPr>
        <p:spPr bwMode="auto">
          <a:xfrm>
            <a:off x="5380115"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2</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5" name="Rectangle 281"/>
          <p:cNvSpPr>
            <a:spLocks noChangeArrowheads="1"/>
          </p:cNvSpPr>
          <p:nvPr/>
        </p:nvSpPr>
        <p:spPr bwMode="auto">
          <a:xfrm>
            <a:off x="5099050" y="231208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7</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6" name="Rectangle 281"/>
          <p:cNvSpPr>
            <a:spLocks noChangeArrowheads="1"/>
          </p:cNvSpPr>
          <p:nvPr/>
        </p:nvSpPr>
        <p:spPr bwMode="auto">
          <a:xfrm>
            <a:off x="5419725" y="231208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9</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7" name="Rectangle 270"/>
          <p:cNvSpPr>
            <a:spLocks noChangeArrowheads="1"/>
          </p:cNvSpPr>
          <p:nvPr/>
        </p:nvSpPr>
        <p:spPr bwMode="auto">
          <a:xfrm>
            <a:off x="5918278"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5</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9" name="Rectangle 281"/>
          <p:cNvSpPr>
            <a:spLocks noChangeArrowheads="1"/>
          </p:cNvSpPr>
          <p:nvPr/>
        </p:nvSpPr>
        <p:spPr bwMode="auto">
          <a:xfrm>
            <a:off x="5327650"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9</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 name="Text Box 293">
            <a:extLst>
              <a:ext uri="{FF2B5EF4-FFF2-40B4-BE49-F238E27FC236}">
                <a16:creationId xmlns:a16="http://schemas.microsoft.com/office/drawing/2014/main" id="{15603266-E788-DE6E-ACC4-5E91FA289F97}"/>
              </a:ext>
            </a:extLst>
          </p:cNvPr>
          <p:cNvSpPr txBox="1">
            <a:spLocks noChangeArrowheads="1"/>
          </p:cNvSpPr>
          <p:nvPr/>
        </p:nvSpPr>
        <p:spPr bwMode="auto">
          <a:xfrm>
            <a:off x="2850345" y="2372837"/>
            <a:ext cx="80182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sz="1200">
                <a:latin typeface="Montserrat" panose="00000500000000000000" pitchFamily="2" charset="0"/>
                <a:ea typeface="微软雅黑 Light" panose="020B0502040204020203" pitchFamily="34" charset="-122"/>
              </a:defRPr>
            </a:lvl1pPr>
            <a:lvl2pPr marL="742950" indent="-285750" eaLnBrk="0" hangingPunct="0">
              <a:defRPr>
                <a:latin typeface="Arial" pitchFamily="34" charset="0"/>
                <a:ea typeface="宋体" pitchFamily="2" charset="-122"/>
              </a:defRPr>
            </a:lvl2pPr>
            <a:lvl3pPr marL="1143000" indent="-228600" eaLnBrk="0" hangingPunct="0">
              <a:defRPr>
                <a:latin typeface="Arial" pitchFamily="34" charset="0"/>
                <a:ea typeface="宋体" pitchFamily="2" charset="-122"/>
              </a:defRPr>
            </a:lvl3pPr>
            <a:lvl4pPr marL="1600200" indent="-228600" eaLnBrk="0" hangingPunct="0">
              <a:defRPr>
                <a:latin typeface="Arial" pitchFamily="34" charset="0"/>
                <a:ea typeface="宋体" pitchFamily="2" charset="-122"/>
              </a:defRPr>
            </a:lvl4pPr>
            <a:lvl5pPr marL="2057400" indent="-228600" eaLnBrk="0" hangingPunct="0">
              <a:defRPr>
                <a:latin typeface="Arial" pitchFamily="34" charset="0"/>
                <a:ea typeface="宋体" pitchFamily="2" charset="-122"/>
              </a:defRPr>
            </a:lvl5pPr>
            <a:lvl6pPr marL="2514600" indent="-228600" eaLnBrk="0" fontAlgn="base" hangingPunct="0">
              <a:spcBef>
                <a:spcPct val="0"/>
              </a:spcBef>
              <a:spcAft>
                <a:spcPct val="0"/>
              </a:spcAft>
              <a:defRPr>
                <a:latin typeface="Arial" pitchFamily="34" charset="0"/>
                <a:ea typeface="宋体" pitchFamily="2" charset="-122"/>
              </a:defRPr>
            </a:lvl6pPr>
            <a:lvl7pPr marL="2971800" indent="-228600" eaLnBrk="0" fontAlgn="base" hangingPunct="0">
              <a:spcBef>
                <a:spcPct val="0"/>
              </a:spcBef>
              <a:spcAft>
                <a:spcPct val="0"/>
              </a:spcAft>
              <a:defRPr>
                <a:latin typeface="Arial" pitchFamily="34" charset="0"/>
                <a:ea typeface="宋体" pitchFamily="2" charset="-122"/>
              </a:defRPr>
            </a:lvl7pPr>
            <a:lvl8pPr marL="3429000" indent="-228600" eaLnBrk="0" fontAlgn="base" hangingPunct="0">
              <a:spcBef>
                <a:spcPct val="0"/>
              </a:spcBef>
              <a:spcAft>
                <a:spcPct val="0"/>
              </a:spcAft>
              <a:defRPr>
                <a:latin typeface="Arial" pitchFamily="34" charset="0"/>
                <a:ea typeface="宋体" pitchFamily="2" charset="-122"/>
              </a:defRPr>
            </a:lvl8pPr>
            <a:lvl9pPr marL="3886200" indent="-228600" eaLnBrk="0" fontAlgn="base" hangingPunct="0">
              <a:spcBef>
                <a:spcPct val="0"/>
              </a:spcBef>
              <a:spcAft>
                <a:spcPct val="0"/>
              </a:spcAft>
              <a:defRPr>
                <a:latin typeface="Arial" pitchFamily="34" charset="0"/>
                <a:ea typeface="宋体" pitchFamily="2" charset="-122"/>
              </a:defRPr>
            </a:lvl9pPr>
          </a:lstStyle>
          <a:p>
            <a:r>
              <a:rPr lang="zh-CN" altLang="en-US" dirty="0"/>
              <a:t>对等方 </a:t>
            </a:r>
            <a:r>
              <a:rPr lang="en-US" altLang="zh-CN" dirty="0"/>
              <a:t>B</a:t>
            </a:r>
          </a:p>
        </p:txBody>
      </p:sp>
    </p:spTree>
    <p:extLst>
      <p:ext uri="{BB962C8B-B14F-4D97-AF65-F5344CB8AC3E}">
        <p14:creationId xmlns:p14="http://schemas.microsoft.com/office/powerpoint/2010/main" val="15266971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C898A66-2148-D6E1-F7FA-C9441D0F3384}"/>
              </a:ext>
            </a:extLst>
          </p:cNvPr>
          <p:cNvSpPr>
            <a:spLocks noGrp="1"/>
          </p:cNvSpPr>
          <p:nvPr>
            <p:ph type="title"/>
          </p:nvPr>
        </p:nvSpPr>
        <p:spPr>
          <a:xfrm>
            <a:off x="485999" y="174482"/>
            <a:ext cx="8171999" cy="338554"/>
          </a:xfrm>
        </p:spPr>
        <p:txBody>
          <a:bodyPr/>
          <a:lstStyle/>
          <a:p>
            <a:r>
              <a:rPr lang="en-US" altLang="zh-CN" dirty="0"/>
              <a:t>6.9.2 </a:t>
            </a:r>
            <a:r>
              <a:rPr lang="zh-CN" altLang="en-US" dirty="0"/>
              <a:t>全分布式结构 </a:t>
            </a:r>
            <a:r>
              <a:rPr lang="en-US" altLang="zh-CN" dirty="0"/>
              <a:t>– </a:t>
            </a:r>
            <a:r>
              <a:rPr lang="zh-CN" altLang="en-US" dirty="0"/>
              <a:t> </a:t>
            </a:r>
            <a:r>
              <a:rPr lang="en-US" altLang="zh-CN" dirty="0"/>
              <a:t>BT</a:t>
            </a:r>
            <a:endParaRPr lang="zh-CN" altLang="en-US" dirty="0"/>
          </a:p>
        </p:txBody>
      </p:sp>
      <p:sp>
        <p:nvSpPr>
          <p:cNvPr id="3" name="内容占位符 2">
            <a:extLst>
              <a:ext uri="{FF2B5EF4-FFF2-40B4-BE49-F238E27FC236}">
                <a16:creationId xmlns:a16="http://schemas.microsoft.com/office/drawing/2014/main" id="{61A63A1C-FDB3-79D9-D895-55493289035D}"/>
              </a:ext>
            </a:extLst>
          </p:cNvPr>
          <p:cNvSpPr>
            <a:spLocks noGrp="1"/>
          </p:cNvSpPr>
          <p:nvPr>
            <p:ph sz="quarter" idx="11"/>
          </p:nvPr>
        </p:nvSpPr>
        <p:spPr>
          <a:xfrm>
            <a:off x="486000" y="687518"/>
            <a:ext cx="8172000" cy="4079035"/>
          </a:xfrm>
        </p:spPr>
        <p:txBody>
          <a:bodyPr/>
          <a:lstStyle/>
          <a:p>
            <a:r>
              <a:rPr lang="zh-CN" altLang="en-US" dirty="0"/>
              <a:t>请求</a:t>
            </a:r>
            <a:endParaRPr lang="en-US" altLang="zh-CN" dirty="0"/>
          </a:p>
          <a:p>
            <a:pPr lvl="1"/>
            <a:r>
              <a:rPr lang="zh-CN" altLang="en-US" dirty="0"/>
              <a:t>最稀有优先</a:t>
            </a:r>
            <a:r>
              <a:rPr lang="en-US" altLang="zh-CN" dirty="0"/>
              <a:t> rarest first</a:t>
            </a:r>
            <a:r>
              <a:rPr lang="zh-CN" altLang="en-US" dirty="0"/>
              <a:t>：优先请求副本少的文件快</a:t>
            </a:r>
            <a:endParaRPr lang="en-US" altLang="zh-CN" dirty="0"/>
          </a:p>
          <a:p>
            <a:pPr lvl="1"/>
            <a:r>
              <a:rPr lang="en-US" altLang="zh-CN" dirty="0"/>
              <a:t>A</a:t>
            </a:r>
            <a:r>
              <a:rPr lang="zh-CN" altLang="en-US" dirty="0"/>
              <a:t>向</a:t>
            </a:r>
            <a:r>
              <a:rPr lang="en-US" altLang="zh-CN" dirty="0"/>
              <a:t>C</a:t>
            </a:r>
            <a:r>
              <a:rPr lang="zh-CN" altLang="en-US" dirty="0"/>
              <a:t>请求稀有文件块</a:t>
            </a:r>
            <a:r>
              <a:rPr lang="en-US" altLang="zh-CN" dirty="0"/>
              <a:t>2</a:t>
            </a:r>
          </a:p>
          <a:p>
            <a:r>
              <a:rPr lang="zh-CN" altLang="en-US" dirty="0"/>
              <a:t>响应</a:t>
            </a:r>
            <a:endParaRPr lang="en-US" altLang="zh-CN" dirty="0"/>
          </a:p>
          <a:p>
            <a:pPr lvl="1"/>
            <a:r>
              <a:rPr lang="zh-CN" altLang="en-US" dirty="0"/>
              <a:t>最高速率优先：凡当前以最高数据率向 </a:t>
            </a:r>
            <a:r>
              <a:rPr lang="en-US" altLang="zh-CN" dirty="0"/>
              <a:t>A </a:t>
            </a:r>
            <a:r>
              <a:rPr lang="zh-CN" altLang="en-US" dirty="0"/>
              <a:t>传送文件块的某相邻对等方，</a:t>
            </a:r>
            <a:r>
              <a:rPr lang="en-US" altLang="zh-CN" dirty="0"/>
              <a:t>A </a:t>
            </a:r>
            <a:r>
              <a:rPr lang="zh-CN" altLang="en-US" dirty="0"/>
              <a:t>就优先把所请求的文件块传送给它</a:t>
            </a:r>
          </a:p>
        </p:txBody>
      </p:sp>
      <p:sp>
        <p:nvSpPr>
          <p:cNvPr id="43" name="Rectangle 303">
            <a:extLst>
              <a:ext uri="{FF2B5EF4-FFF2-40B4-BE49-F238E27FC236}">
                <a16:creationId xmlns:a16="http://schemas.microsoft.com/office/drawing/2014/main" id="{AB04FE15-A2C9-F3F3-FA0B-B535054BF142}"/>
              </a:ext>
            </a:extLst>
          </p:cNvPr>
          <p:cNvSpPr>
            <a:spLocks noChangeArrowheads="1"/>
          </p:cNvSpPr>
          <p:nvPr/>
        </p:nvSpPr>
        <p:spPr bwMode="auto">
          <a:xfrm>
            <a:off x="2187660" y="3170631"/>
            <a:ext cx="1905000" cy="348480"/>
          </a:xfrm>
          <a:prstGeom prst="rect">
            <a:avLst/>
          </a:prstGeom>
          <a:solidFill>
            <a:schemeClr val="bg1"/>
          </a:solidFill>
          <a:ln w="19050">
            <a:solidFill>
              <a:schemeClr val="tx1"/>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4" name="Rectangle 304">
            <a:extLst>
              <a:ext uri="{FF2B5EF4-FFF2-40B4-BE49-F238E27FC236}">
                <a16:creationId xmlns:a16="http://schemas.microsoft.com/office/drawing/2014/main" id="{61CBD03C-17E3-D23E-2E43-4FA005778F52}"/>
              </a:ext>
            </a:extLst>
          </p:cNvPr>
          <p:cNvSpPr>
            <a:spLocks noChangeArrowheads="1"/>
          </p:cNvSpPr>
          <p:nvPr/>
        </p:nvSpPr>
        <p:spPr bwMode="auto">
          <a:xfrm>
            <a:off x="5003878" y="3170631"/>
            <a:ext cx="1905000" cy="348480"/>
          </a:xfrm>
          <a:prstGeom prst="rect">
            <a:avLst/>
          </a:prstGeom>
          <a:solidFill>
            <a:schemeClr val="bg1"/>
          </a:solidFill>
          <a:ln w="19050">
            <a:solidFill>
              <a:srgbClr val="000000"/>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5" name="Rectangle 305">
            <a:extLst>
              <a:ext uri="{FF2B5EF4-FFF2-40B4-BE49-F238E27FC236}">
                <a16:creationId xmlns:a16="http://schemas.microsoft.com/office/drawing/2014/main" id="{58D3639B-59FD-725A-7FA8-F4DC4AB8C214}"/>
              </a:ext>
            </a:extLst>
          </p:cNvPr>
          <p:cNvSpPr>
            <a:spLocks noChangeArrowheads="1"/>
          </p:cNvSpPr>
          <p:nvPr/>
        </p:nvSpPr>
        <p:spPr bwMode="auto">
          <a:xfrm>
            <a:off x="3597275" y="4201243"/>
            <a:ext cx="1905000" cy="348480"/>
          </a:xfrm>
          <a:prstGeom prst="rect">
            <a:avLst/>
          </a:prstGeom>
          <a:solidFill>
            <a:schemeClr val="bg1"/>
          </a:solidFill>
          <a:ln w="19050">
            <a:solidFill>
              <a:srgbClr val="000000"/>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6" name="Rectangle 305">
            <a:extLst>
              <a:ext uri="{FF2B5EF4-FFF2-40B4-BE49-F238E27FC236}">
                <a16:creationId xmlns:a16="http://schemas.microsoft.com/office/drawing/2014/main" id="{2F8E2247-695B-7FB0-C388-664EFF0A01F7}"/>
              </a:ext>
            </a:extLst>
          </p:cNvPr>
          <p:cNvSpPr>
            <a:spLocks noChangeArrowheads="1"/>
          </p:cNvSpPr>
          <p:nvPr/>
        </p:nvSpPr>
        <p:spPr bwMode="auto">
          <a:xfrm>
            <a:off x="3651250" y="2293613"/>
            <a:ext cx="1905000" cy="348480"/>
          </a:xfrm>
          <a:prstGeom prst="rect">
            <a:avLst/>
          </a:prstGeom>
          <a:solidFill>
            <a:schemeClr val="bg1"/>
          </a:solidFill>
          <a:ln w="19050">
            <a:solidFill>
              <a:srgbClr val="000000"/>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7" name="Rectangle 260">
            <a:extLst>
              <a:ext uri="{FF2B5EF4-FFF2-40B4-BE49-F238E27FC236}">
                <a16:creationId xmlns:a16="http://schemas.microsoft.com/office/drawing/2014/main" id="{8A279E91-745B-5CC1-CDD5-AF213E81E67D}"/>
              </a:ext>
            </a:extLst>
          </p:cNvPr>
          <p:cNvSpPr>
            <a:spLocks noChangeArrowheads="1"/>
          </p:cNvSpPr>
          <p:nvPr/>
        </p:nvSpPr>
        <p:spPr bwMode="auto">
          <a:xfrm>
            <a:off x="2340060"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1</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8" name="Rectangle 261">
            <a:extLst>
              <a:ext uri="{FF2B5EF4-FFF2-40B4-BE49-F238E27FC236}">
                <a16:creationId xmlns:a16="http://schemas.microsoft.com/office/drawing/2014/main" id="{31FE5320-63AA-B086-A686-F79604741F4E}"/>
              </a:ext>
            </a:extLst>
          </p:cNvPr>
          <p:cNvSpPr>
            <a:spLocks noChangeArrowheads="1"/>
          </p:cNvSpPr>
          <p:nvPr/>
        </p:nvSpPr>
        <p:spPr bwMode="auto">
          <a:xfrm>
            <a:off x="2644860" y="3189101"/>
            <a:ext cx="10800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3</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9" name="Rectangle 263">
            <a:extLst>
              <a:ext uri="{FF2B5EF4-FFF2-40B4-BE49-F238E27FC236}">
                <a16:creationId xmlns:a16="http://schemas.microsoft.com/office/drawing/2014/main" id="{CBCE224A-1B12-527B-7405-E8729ED9BE35}"/>
              </a:ext>
            </a:extLst>
          </p:cNvPr>
          <p:cNvSpPr>
            <a:spLocks noChangeArrowheads="1"/>
          </p:cNvSpPr>
          <p:nvPr/>
        </p:nvSpPr>
        <p:spPr bwMode="auto">
          <a:xfrm>
            <a:off x="2901535" y="3189101"/>
            <a:ext cx="10800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4</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0" name="Rectangle 266">
            <a:extLst>
              <a:ext uri="{FF2B5EF4-FFF2-40B4-BE49-F238E27FC236}">
                <a16:creationId xmlns:a16="http://schemas.microsoft.com/office/drawing/2014/main" id="{1250FD5E-113A-8E91-D83E-6A92254CCE26}"/>
              </a:ext>
            </a:extLst>
          </p:cNvPr>
          <p:cNvSpPr>
            <a:spLocks noChangeArrowheads="1"/>
          </p:cNvSpPr>
          <p:nvPr/>
        </p:nvSpPr>
        <p:spPr bwMode="auto">
          <a:xfrm>
            <a:off x="3406860"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6</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1" name="Rectangle 267">
            <a:extLst>
              <a:ext uri="{FF2B5EF4-FFF2-40B4-BE49-F238E27FC236}">
                <a16:creationId xmlns:a16="http://schemas.microsoft.com/office/drawing/2014/main" id="{116C6D84-1E16-29EB-B624-FBDD89224BBD}"/>
              </a:ext>
            </a:extLst>
          </p:cNvPr>
          <p:cNvSpPr>
            <a:spLocks noChangeArrowheads="1"/>
          </p:cNvSpPr>
          <p:nvPr/>
        </p:nvSpPr>
        <p:spPr bwMode="auto">
          <a:xfrm>
            <a:off x="3803735"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8</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2" name="Rectangle 268">
            <a:extLst>
              <a:ext uri="{FF2B5EF4-FFF2-40B4-BE49-F238E27FC236}">
                <a16:creationId xmlns:a16="http://schemas.microsoft.com/office/drawing/2014/main" id="{4B9A34E4-756A-5508-2556-17A202EE704F}"/>
              </a:ext>
            </a:extLst>
          </p:cNvPr>
          <p:cNvSpPr>
            <a:spLocks noChangeArrowheads="1"/>
          </p:cNvSpPr>
          <p:nvPr/>
        </p:nvSpPr>
        <p:spPr bwMode="auto">
          <a:xfrm>
            <a:off x="5048328"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0</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3" name="Rectangle 269">
            <a:extLst>
              <a:ext uri="{FF2B5EF4-FFF2-40B4-BE49-F238E27FC236}">
                <a16:creationId xmlns:a16="http://schemas.microsoft.com/office/drawing/2014/main" id="{505C0315-090E-6F54-D5E2-808359A4AF5B}"/>
              </a:ext>
            </a:extLst>
          </p:cNvPr>
          <p:cNvSpPr>
            <a:spLocks noChangeArrowheads="1"/>
          </p:cNvSpPr>
          <p:nvPr/>
        </p:nvSpPr>
        <p:spPr bwMode="auto">
          <a:xfrm>
            <a:off x="5227715"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1</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4" name="Rectangle 270">
            <a:extLst>
              <a:ext uri="{FF2B5EF4-FFF2-40B4-BE49-F238E27FC236}">
                <a16:creationId xmlns:a16="http://schemas.microsoft.com/office/drawing/2014/main" id="{93E6C0FE-BA8F-36A0-1822-DD4124B5B444}"/>
              </a:ext>
            </a:extLst>
          </p:cNvPr>
          <p:cNvSpPr>
            <a:spLocks noChangeArrowheads="1"/>
          </p:cNvSpPr>
          <p:nvPr/>
        </p:nvSpPr>
        <p:spPr bwMode="auto">
          <a:xfrm>
            <a:off x="5765878"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4</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5" name="Rectangle 271">
            <a:extLst>
              <a:ext uri="{FF2B5EF4-FFF2-40B4-BE49-F238E27FC236}">
                <a16:creationId xmlns:a16="http://schemas.microsoft.com/office/drawing/2014/main" id="{1FBC60A8-7B5B-5E43-3121-920A6BD8E155}"/>
              </a:ext>
            </a:extLst>
          </p:cNvPr>
          <p:cNvSpPr>
            <a:spLocks noChangeArrowheads="1"/>
          </p:cNvSpPr>
          <p:nvPr/>
        </p:nvSpPr>
        <p:spPr bwMode="auto">
          <a:xfrm>
            <a:off x="6208790"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7</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6" name="Rectangle 272">
            <a:extLst>
              <a:ext uri="{FF2B5EF4-FFF2-40B4-BE49-F238E27FC236}">
                <a16:creationId xmlns:a16="http://schemas.microsoft.com/office/drawing/2014/main" id="{CAEB2215-7A6F-CADC-9A7A-674CDCE2C059}"/>
              </a:ext>
            </a:extLst>
          </p:cNvPr>
          <p:cNvSpPr>
            <a:spLocks noChangeArrowheads="1"/>
          </p:cNvSpPr>
          <p:nvPr/>
        </p:nvSpPr>
        <p:spPr bwMode="auto">
          <a:xfrm>
            <a:off x="6475490"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8</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7" name="Rectangle 274">
            <a:extLst>
              <a:ext uri="{FF2B5EF4-FFF2-40B4-BE49-F238E27FC236}">
                <a16:creationId xmlns:a16="http://schemas.microsoft.com/office/drawing/2014/main" id="{4A2B58EE-8B7A-86DE-D3F2-45A0979B4157}"/>
              </a:ext>
            </a:extLst>
          </p:cNvPr>
          <p:cNvSpPr>
            <a:spLocks noChangeArrowheads="1"/>
          </p:cNvSpPr>
          <p:nvPr/>
        </p:nvSpPr>
        <p:spPr bwMode="auto">
          <a:xfrm>
            <a:off x="6731078"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9</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8" name="Rectangle 276">
            <a:extLst>
              <a:ext uri="{FF2B5EF4-FFF2-40B4-BE49-F238E27FC236}">
                <a16:creationId xmlns:a16="http://schemas.microsoft.com/office/drawing/2014/main" id="{6DC05042-B1CA-0D52-90A3-7C2634BFB49F}"/>
              </a:ext>
            </a:extLst>
          </p:cNvPr>
          <p:cNvSpPr>
            <a:spLocks noChangeArrowheads="1"/>
          </p:cNvSpPr>
          <p:nvPr/>
        </p:nvSpPr>
        <p:spPr bwMode="auto">
          <a:xfrm>
            <a:off x="4064000"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3</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9" name="Rectangle 277">
            <a:extLst>
              <a:ext uri="{FF2B5EF4-FFF2-40B4-BE49-F238E27FC236}">
                <a16:creationId xmlns:a16="http://schemas.microsoft.com/office/drawing/2014/main" id="{26D36F6D-80A9-2853-4338-62E124250687}"/>
              </a:ext>
            </a:extLst>
          </p:cNvPr>
          <p:cNvSpPr>
            <a:spLocks noChangeArrowheads="1"/>
          </p:cNvSpPr>
          <p:nvPr/>
        </p:nvSpPr>
        <p:spPr bwMode="auto">
          <a:xfrm>
            <a:off x="4359275"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5</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0" name="Rectangle 278">
            <a:extLst>
              <a:ext uri="{FF2B5EF4-FFF2-40B4-BE49-F238E27FC236}">
                <a16:creationId xmlns:a16="http://schemas.microsoft.com/office/drawing/2014/main" id="{F8E612DD-A168-1B91-0373-D0B43594A16B}"/>
              </a:ext>
            </a:extLst>
          </p:cNvPr>
          <p:cNvSpPr>
            <a:spLocks noChangeArrowheads="1"/>
          </p:cNvSpPr>
          <p:nvPr/>
        </p:nvSpPr>
        <p:spPr bwMode="auto">
          <a:xfrm>
            <a:off x="3641725"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0</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1" name="Rectangle 280">
            <a:extLst>
              <a:ext uri="{FF2B5EF4-FFF2-40B4-BE49-F238E27FC236}">
                <a16:creationId xmlns:a16="http://schemas.microsoft.com/office/drawing/2014/main" id="{736C56C1-0BF7-794B-E24B-81913E11FDEF}"/>
              </a:ext>
            </a:extLst>
          </p:cNvPr>
          <p:cNvSpPr>
            <a:spLocks noChangeArrowheads="1"/>
          </p:cNvSpPr>
          <p:nvPr/>
        </p:nvSpPr>
        <p:spPr bwMode="auto">
          <a:xfrm>
            <a:off x="4999000"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7</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2" name="Rectangle 281">
            <a:extLst>
              <a:ext uri="{FF2B5EF4-FFF2-40B4-BE49-F238E27FC236}">
                <a16:creationId xmlns:a16="http://schemas.microsoft.com/office/drawing/2014/main" id="{F7535D28-0902-11B6-0A0F-FDF86AF7B132}"/>
              </a:ext>
            </a:extLst>
          </p:cNvPr>
          <p:cNvSpPr>
            <a:spLocks noChangeArrowheads="1"/>
          </p:cNvSpPr>
          <p:nvPr/>
        </p:nvSpPr>
        <p:spPr bwMode="auto">
          <a:xfrm>
            <a:off x="5165225"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8</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3" name="Text Box 284">
            <a:extLst>
              <a:ext uri="{FF2B5EF4-FFF2-40B4-BE49-F238E27FC236}">
                <a16:creationId xmlns:a16="http://schemas.microsoft.com/office/drawing/2014/main" id="{3C96A873-7772-E9E6-B501-6B0D0231AD0A}"/>
              </a:ext>
            </a:extLst>
          </p:cNvPr>
          <p:cNvSpPr txBox="1">
            <a:spLocks noChangeArrowheads="1"/>
          </p:cNvSpPr>
          <p:nvPr/>
        </p:nvSpPr>
        <p:spPr bwMode="auto">
          <a:xfrm>
            <a:off x="1197060" y="3200213"/>
            <a:ext cx="80823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itchFamily="34" charset="0"/>
                <a:ea typeface="宋体" pitchFamily="2" charset="-122"/>
              </a:defRPr>
            </a:lvl1pPr>
            <a:lvl2pPr marL="742950" indent="-285750" eaLnBrk="0" hangingPunct="0">
              <a:defRPr>
                <a:solidFill>
                  <a:schemeClr val="tx1"/>
                </a:solidFill>
                <a:latin typeface="Arial" pitchFamily="34" charset="0"/>
                <a:ea typeface="宋体" pitchFamily="2" charset="-122"/>
              </a:defRPr>
            </a:lvl2pPr>
            <a:lvl3pPr marL="1143000" indent="-228600" eaLnBrk="0" hangingPunct="0">
              <a:defRPr>
                <a:solidFill>
                  <a:schemeClr val="tx1"/>
                </a:solidFill>
                <a:latin typeface="Arial" pitchFamily="34" charset="0"/>
                <a:ea typeface="宋体" pitchFamily="2" charset="-122"/>
              </a:defRPr>
            </a:lvl3pPr>
            <a:lvl4pPr marL="1600200" indent="-228600" eaLnBrk="0" hangingPunct="0">
              <a:defRPr>
                <a:solidFill>
                  <a:schemeClr val="tx1"/>
                </a:solidFill>
                <a:latin typeface="Arial" pitchFamily="34" charset="0"/>
                <a:ea typeface="宋体" pitchFamily="2" charset="-122"/>
              </a:defRPr>
            </a:lvl4pPr>
            <a:lvl5pPr marL="2057400" indent="-228600" eaLnBrk="0" hangingPunct="0">
              <a:defRPr>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itchFamily="34" charset="0"/>
                <a:ea typeface="宋体" pitchFamily="2" charset="-122"/>
              </a:defRPr>
            </a:lvl9pPr>
          </a:lstStyle>
          <a:p>
            <a:pPr eaLnBrk="1" hangingPunct="1"/>
            <a:r>
              <a:rPr lang="zh-CN" altLang="en-US" sz="1200" dirty="0">
                <a:latin typeface="Montserrat" panose="00000500000000000000" pitchFamily="2" charset="0"/>
                <a:ea typeface="微软雅黑 Light" panose="020B0502040204020203" pitchFamily="34" charset="-122"/>
              </a:rPr>
              <a:t>对等方 </a:t>
            </a:r>
            <a:r>
              <a:rPr lang="en-US" altLang="zh-CN" sz="1200" dirty="0">
                <a:latin typeface="Montserrat" panose="00000500000000000000" pitchFamily="2" charset="0"/>
                <a:ea typeface="微软雅黑 Light" panose="020B0502040204020203" pitchFamily="34" charset="-122"/>
              </a:rPr>
              <a:t>A</a:t>
            </a:r>
          </a:p>
        </p:txBody>
      </p:sp>
      <p:sp>
        <p:nvSpPr>
          <p:cNvPr id="64" name="Text Box 287">
            <a:extLst>
              <a:ext uri="{FF2B5EF4-FFF2-40B4-BE49-F238E27FC236}">
                <a16:creationId xmlns:a16="http://schemas.microsoft.com/office/drawing/2014/main" id="{18F4C919-9372-B5A2-E19C-CD3D222EA4BE}"/>
              </a:ext>
            </a:extLst>
          </p:cNvPr>
          <p:cNvSpPr txBox="1">
            <a:spLocks noChangeArrowheads="1"/>
          </p:cNvSpPr>
          <p:nvPr/>
        </p:nvSpPr>
        <p:spPr bwMode="auto">
          <a:xfrm>
            <a:off x="6919990" y="3168463"/>
            <a:ext cx="79701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itchFamily="34" charset="0"/>
                <a:ea typeface="宋体" pitchFamily="2" charset="-122"/>
              </a:defRPr>
            </a:lvl1pPr>
            <a:lvl2pPr marL="742950" indent="-285750" eaLnBrk="0" hangingPunct="0">
              <a:defRPr>
                <a:solidFill>
                  <a:schemeClr val="tx1"/>
                </a:solidFill>
                <a:latin typeface="Arial" pitchFamily="34" charset="0"/>
                <a:ea typeface="宋体" pitchFamily="2" charset="-122"/>
              </a:defRPr>
            </a:lvl2pPr>
            <a:lvl3pPr marL="1143000" indent="-228600" eaLnBrk="0" hangingPunct="0">
              <a:defRPr>
                <a:solidFill>
                  <a:schemeClr val="tx1"/>
                </a:solidFill>
                <a:latin typeface="Arial" pitchFamily="34" charset="0"/>
                <a:ea typeface="宋体" pitchFamily="2" charset="-122"/>
              </a:defRPr>
            </a:lvl3pPr>
            <a:lvl4pPr marL="1600200" indent="-228600" eaLnBrk="0" hangingPunct="0">
              <a:defRPr>
                <a:solidFill>
                  <a:schemeClr val="tx1"/>
                </a:solidFill>
                <a:latin typeface="Arial" pitchFamily="34" charset="0"/>
                <a:ea typeface="宋体" pitchFamily="2" charset="-122"/>
              </a:defRPr>
            </a:lvl4pPr>
            <a:lvl5pPr marL="2057400" indent="-228600" eaLnBrk="0" hangingPunct="0">
              <a:defRPr>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itchFamily="34" charset="0"/>
                <a:ea typeface="宋体" pitchFamily="2" charset="-122"/>
              </a:defRPr>
            </a:lvl9pPr>
          </a:lstStyle>
          <a:p>
            <a:pPr eaLnBrk="1" hangingPunct="1"/>
            <a:r>
              <a:rPr lang="zh-CN" altLang="en-US" sz="1200" dirty="0">
                <a:latin typeface="Montserrat" panose="00000500000000000000" pitchFamily="2" charset="0"/>
                <a:ea typeface="微软雅黑 Light" panose="020B0502040204020203" pitchFamily="34" charset="-122"/>
              </a:rPr>
              <a:t>对等方 </a:t>
            </a:r>
            <a:r>
              <a:rPr lang="en-US" altLang="zh-CN" sz="1200" dirty="0">
                <a:latin typeface="Montserrat" panose="00000500000000000000" pitchFamily="2" charset="0"/>
                <a:ea typeface="微软雅黑 Light" panose="020B0502040204020203" pitchFamily="34" charset="-122"/>
              </a:rPr>
              <a:t>C</a:t>
            </a:r>
          </a:p>
        </p:txBody>
      </p:sp>
      <p:sp>
        <p:nvSpPr>
          <p:cNvPr id="65" name="Text Box 290">
            <a:extLst>
              <a:ext uri="{FF2B5EF4-FFF2-40B4-BE49-F238E27FC236}">
                <a16:creationId xmlns:a16="http://schemas.microsoft.com/office/drawing/2014/main" id="{7697C110-48D2-FC86-A6B0-9115DD69E15E}"/>
              </a:ext>
            </a:extLst>
          </p:cNvPr>
          <p:cNvSpPr txBox="1">
            <a:spLocks noChangeArrowheads="1"/>
          </p:cNvSpPr>
          <p:nvPr/>
        </p:nvSpPr>
        <p:spPr bwMode="auto">
          <a:xfrm>
            <a:off x="2584450" y="4293283"/>
            <a:ext cx="814647"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itchFamily="34" charset="0"/>
                <a:ea typeface="宋体" pitchFamily="2" charset="-122"/>
              </a:defRPr>
            </a:lvl1pPr>
            <a:lvl2pPr marL="742950" indent="-285750" eaLnBrk="0" hangingPunct="0">
              <a:defRPr>
                <a:solidFill>
                  <a:schemeClr val="tx1"/>
                </a:solidFill>
                <a:latin typeface="Arial" pitchFamily="34" charset="0"/>
                <a:ea typeface="宋体" pitchFamily="2" charset="-122"/>
              </a:defRPr>
            </a:lvl2pPr>
            <a:lvl3pPr marL="1143000" indent="-228600" eaLnBrk="0" hangingPunct="0">
              <a:defRPr>
                <a:solidFill>
                  <a:schemeClr val="tx1"/>
                </a:solidFill>
                <a:latin typeface="Arial" pitchFamily="34" charset="0"/>
                <a:ea typeface="宋体" pitchFamily="2" charset="-122"/>
              </a:defRPr>
            </a:lvl3pPr>
            <a:lvl4pPr marL="1600200" indent="-228600" eaLnBrk="0" hangingPunct="0">
              <a:defRPr>
                <a:solidFill>
                  <a:schemeClr val="tx1"/>
                </a:solidFill>
                <a:latin typeface="Arial" pitchFamily="34" charset="0"/>
                <a:ea typeface="宋体" pitchFamily="2" charset="-122"/>
              </a:defRPr>
            </a:lvl4pPr>
            <a:lvl5pPr marL="2057400" indent="-228600" eaLnBrk="0" hangingPunct="0">
              <a:defRPr>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itchFamily="34" charset="0"/>
                <a:ea typeface="宋体" pitchFamily="2" charset="-122"/>
              </a:defRPr>
            </a:lvl9pPr>
          </a:lstStyle>
          <a:p>
            <a:pPr eaLnBrk="1" hangingPunct="1"/>
            <a:r>
              <a:rPr lang="zh-CN" altLang="en-US" sz="1200" dirty="0">
                <a:latin typeface="Montserrat" panose="00000500000000000000" pitchFamily="2" charset="0"/>
                <a:ea typeface="微软雅黑 Light" panose="020B0502040204020203" pitchFamily="34" charset="-122"/>
              </a:rPr>
              <a:t>对等方 </a:t>
            </a:r>
            <a:r>
              <a:rPr lang="en-US" altLang="zh-CN" sz="1200" dirty="0">
                <a:latin typeface="Montserrat" panose="00000500000000000000" pitchFamily="2" charset="0"/>
                <a:ea typeface="微软雅黑 Light" panose="020B0502040204020203" pitchFamily="34" charset="-122"/>
              </a:rPr>
              <a:t>D</a:t>
            </a:r>
          </a:p>
        </p:txBody>
      </p:sp>
      <p:sp>
        <p:nvSpPr>
          <p:cNvPr id="67" name="Line 294">
            <a:extLst>
              <a:ext uri="{FF2B5EF4-FFF2-40B4-BE49-F238E27FC236}">
                <a16:creationId xmlns:a16="http://schemas.microsoft.com/office/drawing/2014/main" id="{FAD95091-C0A4-4016-1F95-81A2C2F95429}"/>
              </a:ext>
            </a:extLst>
          </p:cNvPr>
          <p:cNvSpPr>
            <a:spLocks noChangeShapeType="1"/>
          </p:cNvSpPr>
          <p:nvPr/>
        </p:nvSpPr>
        <p:spPr bwMode="auto">
          <a:xfrm>
            <a:off x="4565650" y="2642093"/>
            <a:ext cx="0" cy="1574990"/>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8" name="Line 295">
            <a:extLst>
              <a:ext uri="{FF2B5EF4-FFF2-40B4-BE49-F238E27FC236}">
                <a16:creationId xmlns:a16="http://schemas.microsoft.com/office/drawing/2014/main" id="{1231D6BE-237B-07DF-F6FD-FD78C179428B}"/>
              </a:ext>
            </a:extLst>
          </p:cNvPr>
          <p:cNvSpPr>
            <a:spLocks noChangeShapeType="1"/>
          </p:cNvSpPr>
          <p:nvPr/>
        </p:nvSpPr>
        <p:spPr bwMode="auto">
          <a:xfrm flipH="1">
            <a:off x="3263984" y="2659071"/>
            <a:ext cx="647615" cy="50939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9" name="Line 296">
            <a:extLst>
              <a:ext uri="{FF2B5EF4-FFF2-40B4-BE49-F238E27FC236}">
                <a16:creationId xmlns:a16="http://schemas.microsoft.com/office/drawing/2014/main" id="{2869C29C-E1C1-B0DB-98B4-96296848C16E}"/>
              </a:ext>
            </a:extLst>
          </p:cNvPr>
          <p:cNvSpPr>
            <a:spLocks noChangeShapeType="1"/>
          </p:cNvSpPr>
          <p:nvPr/>
        </p:nvSpPr>
        <p:spPr bwMode="auto">
          <a:xfrm>
            <a:off x="5327650" y="2659071"/>
            <a:ext cx="685800" cy="50939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0" name="Line 298">
            <a:extLst>
              <a:ext uri="{FF2B5EF4-FFF2-40B4-BE49-F238E27FC236}">
                <a16:creationId xmlns:a16="http://schemas.microsoft.com/office/drawing/2014/main" id="{D57713DE-CE04-D4F1-DFE1-5C1A88FD69E6}"/>
              </a:ext>
            </a:extLst>
          </p:cNvPr>
          <p:cNvSpPr>
            <a:spLocks noChangeShapeType="1"/>
          </p:cNvSpPr>
          <p:nvPr/>
        </p:nvSpPr>
        <p:spPr bwMode="auto">
          <a:xfrm flipH="1">
            <a:off x="4087869" y="3357668"/>
            <a:ext cx="930353" cy="0"/>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1" name="Line 300">
            <a:extLst>
              <a:ext uri="{FF2B5EF4-FFF2-40B4-BE49-F238E27FC236}">
                <a16:creationId xmlns:a16="http://schemas.microsoft.com/office/drawing/2014/main" id="{A0747F82-1911-3F3F-41A8-816493027C55}"/>
              </a:ext>
            </a:extLst>
          </p:cNvPr>
          <p:cNvSpPr>
            <a:spLocks noChangeShapeType="1"/>
          </p:cNvSpPr>
          <p:nvPr/>
        </p:nvSpPr>
        <p:spPr bwMode="auto">
          <a:xfrm flipH="1" flipV="1">
            <a:off x="3263983" y="3519111"/>
            <a:ext cx="592741" cy="70060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2" name="Line 301">
            <a:extLst>
              <a:ext uri="{FF2B5EF4-FFF2-40B4-BE49-F238E27FC236}">
                <a16:creationId xmlns:a16="http://schemas.microsoft.com/office/drawing/2014/main" id="{B5311DB6-8F20-20DA-4A2A-CAE85048BA5E}"/>
              </a:ext>
            </a:extLst>
          </p:cNvPr>
          <p:cNvSpPr>
            <a:spLocks noChangeShapeType="1"/>
          </p:cNvSpPr>
          <p:nvPr/>
        </p:nvSpPr>
        <p:spPr bwMode="auto">
          <a:xfrm flipV="1">
            <a:off x="5099050" y="3519111"/>
            <a:ext cx="571500" cy="69797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3" name="Line 302">
            <a:extLst>
              <a:ext uri="{FF2B5EF4-FFF2-40B4-BE49-F238E27FC236}">
                <a16:creationId xmlns:a16="http://schemas.microsoft.com/office/drawing/2014/main" id="{B1C0CFAE-CA4E-0DC6-B757-964D511291CF}"/>
              </a:ext>
            </a:extLst>
          </p:cNvPr>
          <p:cNvSpPr>
            <a:spLocks noChangeShapeType="1"/>
          </p:cNvSpPr>
          <p:nvPr/>
        </p:nvSpPr>
        <p:spPr bwMode="auto">
          <a:xfrm flipH="1">
            <a:off x="5335665" y="3519111"/>
            <a:ext cx="582613" cy="68213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6" name="Rectangle 278">
            <a:extLst>
              <a:ext uri="{FF2B5EF4-FFF2-40B4-BE49-F238E27FC236}">
                <a16:creationId xmlns:a16="http://schemas.microsoft.com/office/drawing/2014/main" id="{C7768B5F-C28A-8B87-0D5B-B82A1398C3F6}"/>
              </a:ext>
            </a:extLst>
          </p:cNvPr>
          <p:cNvSpPr>
            <a:spLocks noChangeArrowheads="1"/>
          </p:cNvSpPr>
          <p:nvPr/>
        </p:nvSpPr>
        <p:spPr bwMode="auto">
          <a:xfrm>
            <a:off x="3695700" y="2312083"/>
            <a:ext cx="10800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0</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7" name="Rectangle 281">
            <a:extLst>
              <a:ext uri="{FF2B5EF4-FFF2-40B4-BE49-F238E27FC236}">
                <a16:creationId xmlns:a16="http://schemas.microsoft.com/office/drawing/2014/main" id="{DEF6C1F1-E03E-6CEA-E384-1423442E480E}"/>
              </a:ext>
            </a:extLst>
          </p:cNvPr>
          <p:cNvSpPr>
            <a:spLocks noChangeArrowheads="1"/>
          </p:cNvSpPr>
          <p:nvPr/>
        </p:nvSpPr>
        <p:spPr bwMode="auto">
          <a:xfrm>
            <a:off x="5267325" y="231208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8</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8" name="Rectangle 278">
            <a:extLst>
              <a:ext uri="{FF2B5EF4-FFF2-40B4-BE49-F238E27FC236}">
                <a16:creationId xmlns:a16="http://schemas.microsoft.com/office/drawing/2014/main" id="{E6D4B0FF-F61F-42C6-0015-C0FA6944CE98}"/>
              </a:ext>
            </a:extLst>
          </p:cNvPr>
          <p:cNvSpPr>
            <a:spLocks noChangeArrowheads="1"/>
          </p:cNvSpPr>
          <p:nvPr/>
        </p:nvSpPr>
        <p:spPr bwMode="auto">
          <a:xfrm>
            <a:off x="4229100" y="2312083"/>
            <a:ext cx="10800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3</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9" name="Rectangle 269">
            <a:extLst>
              <a:ext uri="{FF2B5EF4-FFF2-40B4-BE49-F238E27FC236}">
                <a16:creationId xmlns:a16="http://schemas.microsoft.com/office/drawing/2014/main" id="{24E4BD34-0F17-1E87-85F2-5334B48FF136}"/>
              </a:ext>
            </a:extLst>
          </p:cNvPr>
          <p:cNvSpPr>
            <a:spLocks noChangeArrowheads="1"/>
          </p:cNvSpPr>
          <p:nvPr/>
        </p:nvSpPr>
        <p:spPr bwMode="auto">
          <a:xfrm>
            <a:off x="5380115" y="3189101"/>
            <a:ext cx="107950" cy="304800"/>
          </a:xfrm>
          <a:prstGeom prst="rect">
            <a:avLst/>
          </a:prstGeom>
          <a:solidFill>
            <a:srgbClr val="FF000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2</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0" name="Rectangle 281">
            <a:extLst>
              <a:ext uri="{FF2B5EF4-FFF2-40B4-BE49-F238E27FC236}">
                <a16:creationId xmlns:a16="http://schemas.microsoft.com/office/drawing/2014/main" id="{DA87C271-E76A-2F9A-EF60-25AA1F3788B4}"/>
              </a:ext>
            </a:extLst>
          </p:cNvPr>
          <p:cNvSpPr>
            <a:spLocks noChangeArrowheads="1"/>
          </p:cNvSpPr>
          <p:nvPr/>
        </p:nvSpPr>
        <p:spPr bwMode="auto">
          <a:xfrm>
            <a:off x="5099050" y="231208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7</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1" name="Rectangle 281">
            <a:extLst>
              <a:ext uri="{FF2B5EF4-FFF2-40B4-BE49-F238E27FC236}">
                <a16:creationId xmlns:a16="http://schemas.microsoft.com/office/drawing/2014/main" id="{78A09744-DD45-6F72-6E85-0CD3ED67EF7C}"/>
              </a:ext>
            </a:extLst>
          </p:cNvPr>
          <p:cNvSpPr>
            <a:spLocks noChangeArrowheads="1"/>
          </p:cNvSpPr>
          <p:nvPr/>
        </p:nvSpPr>
        <p:spPr bwMode="auto">
          <a:xfrm>
            <a:off x="5419725" y="231208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9</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2" name="Rectangle 270">
            <a:extLst>
              <a:ext uri="{FF2B5EF4-FFF2-40B4-BE49-F238E27FC236}">
                <a16:creationId xmlns:a16="http://schemas.microsoft.com/office/drawing/2014/main" id="{7A7EB626-E42A-2A99-A002-1C2933B70A30}"/>
              </a:ext>
            </a:extLst>
          </p:cNvPr>
          <p:cNvSpPr>
            <a:spLocks noChangeArrowheads="1"/>
          </p:cNvSpPr>
          <p:nvPr/>
        </p:nvSpPr>
        <p:spPr bwMode="auto">
          <a:xfrm>
            <a:off x="5918278"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5</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3" name="Rectangle 281">
            <a:extLst>
              <a:ext uri="{FF2B5EF4-FFF2-40B4-BE49-F238E27FC236}">
                <a16:creationId xmlns:a16="http://schemas.microsoft.com/office/drawing/2014/main" id="{BBE63429-BD7B-212B-A96E-BD1E3D8BEC6E}"/>
              </a:ext>
            </a:extLst>
          </p:cNvPr>
          <p:cNvSpPr>
            <a:spLocks noChangeArrowheads="1"/>
          </p:cNvSpPr>
          <p:nvPr/>
        </p:nvSpPr>
        <p:spPr bwMode="auto">
          <a:xfrm>
            <a:off x="5327650"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9</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6" name="Text Box 293">
            <a:extLst>
              <a:ext uri="{FF2B5EF4-FFF2-40B4-BE49-F238E27FC236}">
                <a16:creationId xmlns:a16="http://schemas.microsoft.com/office/drawing/2014/main" id="{8939B652-41B4-92AD-51BC-AAF9925E2A48}"/>
              </a:ext>
            </a:extLst>
          </p:cNvPr>
          <p:cNvSpPr txBox="1">
            <a:spLocks noChangeArrowheads="1"/>
          </p:cNvSpPr>
          <p:nvPr/>
        </p:nvSpPr>
        <p:spPr bwMode="auto">
          <a:xfrm>
            <a:off x="2850345" y="2372837"/>
            <a:ext cx="80182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sz="1200">
                <a:latin typeface="Montserrat" panose="00000500000000000000" pitchFamily="2" charset="0"/>
                <a:ea typeface="微软雅黑 Light" panose="020B0502040204020203" pitchFamily="34" charset="-122"/>
              </a:defRPr>
            </a:lvl1pPr>
            <a:lvl2pPr marL="742950" indent="-285750" eaLnBrk="0" hangingPunct="0">
              <a:defRPr>
                <a:latin typeface="Arial" pitchFamily="34" charset="0"/>
                <a:ea typeface="宋体" pitchFamily="2" charset="-122"/>
              </a:defRPr>
            </a:lvl2pPr>
            <a:lvl3pPr marL="1143000" indent="-228600" eaLnBrk="0" hangingPunct="0">
              <a:defRPr>
                <a:latin typeface="Arial" pitchFamily="34" charset="0"/>
                <a:ea typeface="宋体" pitchFamily="2" charset="-122"/>
              </a:defRPr>
            </a:lvl3pPr>
            <a:lvl4pPr marL="1600200" indent="-228600" eaLnBrk="0" hangingPunct="0">
              <a:defRPr>
                <a:latin typeface="Arial" pitchFamily="34" charset="0"/>
                <a:ea typeface="宋体" pitchFamily="2" charset="-122"/>
              </a:defRPr>
            </a:lvl4pPr>
            <a:lvl5pPr marL="2057400" indent="-228600" eaLnBrk="0" hangingPunct="0">
              <a:defRPr>
                <a:latin typeface="Arial" pitchFamily="34" charset="0"/>
                <a:ea typeface="宋体" pitchFamily="2" charset="-122"/>
              </a:defRPr>
            </a:lvl5pPr>
            <a:lvl6pPr marL="2514600" indent="-228600" eaLnBrk="0" fontAlgn="base" hangingPunct="0">
              <a:spcBef>
                <a:spcPct val="0"/>
              </a:spcBef>
              <a:spcAft>
                <a:spcPct val="0"/>
              </a:spcAft>
              <a:defRPr>
                <a:latin typeface="Arial" pitchFamily="34" charset="0"/>
                <a:ea typeface="宋体" pitchFamily="2" charset="-122"/>
              </a:defRPr>
            </a:lvl6pPr>
            <a:lvl7pPr marL="2971800" indent="-228600" eaLnBrk="0" fontAlgn="base" hangingPunct="0">
              <a:spcBef>
                <a:spcPct val="0"/>
              </a:spcBef>
              <a:spcAft>
                <a:spcPct val="0"/>
              </a:spcAft>
              <a:defRPr>
                <a:latin typeface="Arial" pitchFamily="34" charset="0"/>
                <a:ea typeface="宋体" pitchFamily="2" charset="-122"/>
              </a:defRPr>
            </a:lvl7pPr>
            <a:lvl8pPr marL="3429000" indent="-228600" eaLnBrk="0" fontAlgn="base" hangingPunct="0">
              <a:spcBef>
                <a:spcPct val="0"/>
              </a:spcBef>
              <a:spcAft>
                <a:spcPct val="0"/>
              </a:spcAft>
              <a:defRPr>
                <a:latin typeface="Arial" pitchFamily="34" charset="0"/>
                <a:ea typeface="宋体" pitchFamily="2" charset="-122"/>
              </a:defRPr>
            </a:lvl8pPr>
            <a:lvl9pPr marL="3886200" indent="-228600" eaLnBrk="0" fontAlgn="base" hangingPunct="0">
              <a:spcBef>
                <a:spcPct val="0"/>
              </a:spcBef>
              <a:spcAft>
                <a:spcPct val="0"/>
              </a:spcAft>
              <a:defRPr>
                <a:latin typeface="Arial" pitchFamily="34" charset="0"/>
                <a:ea typeface="宋体" pitchFamily="2" charset="-122"/>
              </a:defRPr>
            </a:lvl9pPr>
          </a:lstStyle>
          <a:p>
            <a:r>
              <a:rPr lang="zh-CN" altLang="en-US" dirty="0"/>
              <a:t>对等方 </a:t>
            </a:r>
            <a:r>
              <a:rPr lang="en-US" altLang="zh-CN" dirty="0"/>
              <a:t>B</a:t>
            </a:r>
          </a:p>
        </p:txBody>
      </p:sp>
    </p:spTree>
    <p:extLst>
      <p:ext uri="{BB962C8B-B14F-4D97-AF65-F5344CB8AC3E}">
        <p14:creationId xmlns:p14="http://schemas.microsoft.com/office/powerpoint/2010/main" val="24808180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E7F1B0C-8E8F-BEC4-96E1-3CE77023D31A}"/>
              </a:ext>
            </a:extLst>
          </p:cNvPr>
          <p:cNvSpPr>
            <a:spLocks noGrp="1"/>
          </p:cNvSpPr>
          <p:nvPr>
            <p:ph type="title"/>
          </p:nvPr>
        </p:nvSpPr>
        <p:spPr>
          <a:xfrm>
            <a:off x="485999" y="174482"/>
            <a:ext cx="8171999" cy="338554"/>
          </a:xfrm>
        </p:spPr>
        <p:txBody>
          <a:bodyPr/>
          <a:lstStyle/>
          <a:p>
            <a:r>
              <a:rPr lang="en-US" altLang="zh-CN" dirty="0"/>
              <a:t>6.9.3  </a:t>
            </a:r>
            <a:r>
              <a:rPr lang="zh-CN" altLang="en-US" dirty="0"/>
              <a:t>文件分发</a:t>
            </a:r>
          </a:p>
        </p:txBody>
      </p:sp>
      <p:sp>
        <p:nvSpPr>
          <p:cNvPr id="5" name="内容占位符 4">
            <a:extLst>
              <a:ext uri="{FF2B5EF4-FFF2-40B4-BE49-F238E27FC236}">
                <a16:creationId xmlns:a16="http://schemas.microsoft.com/office/drawing/2014/main" id="{2E207823-3345-461D-A794-9078130A1D46}"/>
              </a:ext>
            </a:extLst>
          </p:cNvPr>
          <p:cNvSpPr>
            <a:spLocks noGrp="1"/>
          </p:cNvSpPr>
          <p:nvPr>
            <p:ph sz="quarter" idx="11"/>
          </p:nvPr>
        </p:nvSpPr>
        <p:spPr>
          <a:xfrm>
            <a:off x="486000" y="687518"/>
            <a:ext cx="8172000" cy="4079035"/>
          </a:xfrm>
        </p:spPr>
        <p:txBody>
          <a:bodyPr/>
          <a:lstStyle/>
          <a:p>
            <a:r>
              <a:rPr lang="zh-CN" altLang="en-US" dirty="0"/>
              <a:t>传输速率 </a:t>
            </a:r>
            <a:r>
              <a:rPr lang="en-US" altLang="zh-CN" dirty="0"/>
              <a:t>bit/s</a:t>
            </a:r>
          </a:p>
          <a:p>
            <a:pPr lvl="1"/>
            <a:r>
              <a:rPr lang="zh-CN" altLang="en-US" dirty="0"/>
              <a:t>下载 </a:t>
            </a:r>
            <a:r>
              <a:rPr lang="en-US" altLang="zh-CN" dirty="0"/>
              <a:t>download</a:t>
            </a:r>
            <a:r>
              <a:rPr lang="zh-CN" altLang="en-US" dirty="0"/>
              <a:t>：从互联网传送数据到主机</a:t>
            </a:r>
          </a:p>
          <a:p>
            <a:pPr lvl="1"/>
            <a:r>
              <a:rPr lang="zh-CN" altLang="en-US" dirty="0"/>
              <a:t>上传 </a:t>
            </a:r>
            <a:r>
              <a:rPr lang="en-US" altLang="zh-CN" dirty="0"/>
              <a:t>upload</a:t>
            </a:r>
            <a:r>
              <a:rPr lang="zh-CN" altLang="en-US" dirty="0"/>
              <a:t>：从主机向互联网传送，也称上载</a:t>
            </a:r>
          </a:p>
          <a:p>
            <a:r>
              <a:rPr lang="zh-CN" altLang="en-US" dirty="0"/>
              <a:t>有 </a:t>
            </a:r>
            <a:r>
              <a:rPr lang="en-US" altLang="zh-CN" i="1" dirty="0"/>
              <a:t>N</a:t>
            </a:r>
            <a:r>
              <a:rPr lang="en-US" altLang="zh-CN" dirty="0"/>
              <a:t> </a:t>
            </a:r>
            <a:r>
              <a:rPr lang="zh-CN" altLang="en-US" dirty="0"/>
              <a:t>台主机从服务器下载一个大文件 </a:t>
            </a:r>
            <a:r>
              <a:rPr lang="en-US" altLang="zh-CN" i="1" dirty="0"/>
              <a:t>F</a:t>
            </a:r>
            <a:r>
              <a:rPr lang="en-US" altLang="zh-CN" dirty="0"/>
              <a:t> bit</a:t>
            </a:r>
            <a:r>
              <a:rPr lang="zh-CN" altLang="en-US" dirty="0"/>
              <a:t>；上传速率和下载速率分别为 </a:t>
            </a:r>
            <a:r>
              <a:rPr lang="en-US" altLang="zh-CN" i="1" dirty="0" err="1"/>
              <a:t>u</a:t>
            </a:r>
            <a:r>
              <a:rPr lang="en-US" altLang="zh-CN" baseline="-25000" dirty="0" err="1"/>
              <a:t>i</a:t>
            </a:r>
            <a:r>
              <a:rPr lang="en-US" altLang="zh-CN" dirty="0"/>
              <a:t> </a:t>
            </a:r>
            <a:r>
              <a:rPr lang="zh-CN" altLang="en-US" dirty="0"/>
              <a:t>和 </a:t>
            </a:r>
            <a:r>
              <a:rPr lang="en-US" altLang="zh-CN" i="1" dirty="0"/>
              <a:t>d</a:t>
            </a:r>
            <a:r>
              <a:rPr lang="en-US" altLang="zh-CN" baseline="-25000" dirty="0"/>
              <a:t>i</a:t>
            </a:r>
            <a:r>
              <a:rPr lang="en-US" altLang="zh-CN" dirty="0"/>
              <a:t> </a:t>
            </a:r>
            <a:endParaRPr lang="zh-CN" altLang="en-US" dirty="0"/>
          </a:p>
          <a:p>
            <a:endParaRPr lang="zh-CN" altLang="en-US" dirty="0"/>
          </a:p>
        </p:txBody>
      </p:sp>
      <p:sp>
        <p:nvSpPr>
          <p:cNvPr id="4" name="云形 3">
            <a:extLst>
              <a:ext uri="{FF2B5EF4-FFF2-40B4-BE49-F238E27FC236}">
                <a16:creationId xmlns:a16="http://schemas.microsoft.com/office/drawing/2014/main" id="{27F77133-6D31-FCAE-E395-7E14EFDCC3B1}"/>
              </a:ext>
            </a:extLst>
          </p:cNvPr>
          <p:cNvSpPr/>
          <p:nvPr/>
        </p:nvSpPr>
        <p:spPr>
          <a:xfrm>
            <a:off x="3346391" y="2570930"/>
            <a:ext cx="2636266" cy="1348590"/>
          </a:xfrm>
          <a:prstGeom prst="cloud">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zh-CN" altLang="en-US" sz="1400" dirty="0">
                <a:solidFill>
                  <a:sysClr val="windowText" lastClr="000000"/>
                </a:solidFill>
                <a:latin typeface="Montserrat" panose="00000500000000000000" pitchFamily="2" charset="0"/>
                <a:ea typeface="微软雅黑 Light" panose="020B0502040204020203" pitchFamily="34" charset="-122"/>
              </a:rPr>
              <a:t>互联网</a:t>
            </a:r>
          </a:p>
        </p:txBody>
      </p:sp>
      <p:pic>
        <p:nvPicPr>
          <p:cNvPr id="6" name="图片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661076" y="2914746"/>
            <a:ext cx="485811" cy="680135"/>
          </a:xfrm>
          <a:prstGeom prst="rect">
            <a:avLst/>
          </a:prstGeom>
        </p:spPr>
      </p:pic>
      <p:pic>
        <p:nvPicPr>
          <p:cNvPr id="7"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66064" y="2786235"/>
            <a:ext cx="359999" cy="360000"/>
          </a:xfrm>
          <a:prstGeom prst="rect">
            <a:avLst/>
          </a:prstGeom>
          <a:noFill/>
          <a:extLst>
            <a:ext uri="{909E8E84-426E-40DD-AFC4-6F175D3DCCD1}">
              <a14:hiddenFill xmlns:a14="http://schemas.microsoft.com/office/drawing/2010/main">
                <a:solidFill>
                  <a:srgbClr val="FFFFFF"/>
                </a:solidFill>
              </a14:hiddenFill>
            </a:ext>
          </a:extLst>
        </p:spPr>
      </p:pic>
      <p:sp>
        <p:nvSpPr>
          <p:cNvPr id="37" name="Line 479"/>
          <p:cNvSpPr>
            <a:spLocks noChangeShapeType="1"/>
          </p:cNvSpPr>
          <p:nvPr/>
        </p:nvSpPr>
        <p:spPr bwMode="auto">
          <a:xfrm>
            <a:off x="2305013" y="2988162"/>
            <a:ext cx="820078" cy="172699"/>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srgbClr val="000099"/>
              </a:solidFill>
              <a:latin typeface="Montserrat" panose="00000500000000000000" pitchFamily="2" charset="0"/>
              <a:ea typeface="微软雅黑 Light" panose="020B0502040204020203" pitchFamily="34" charset="-122"/>
            </a:endParaRPr>
          </a:p>
        </p:txBody>
      </p:sp>
      <p:sp>
        <p:nvSpPr>
          <p:cNvPr id="38" name="Line 480"/>
          <p:cNvSpPr>
            <a:spLocks noChangeShapeType="1"/>
          </p:cNvSpPr>
          <p:nvPr/>
        </p:nvSpPr>
        <p:spPr bwMode="auto">
          <a:xfrm rot="10800000">
            <a:off x="2202220" y="3074989"/>
            <a:ext cx="872038" cy="17269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srgbClr val="000099"/>
              </a:solidFill>
              <a:latin typeface="Montserrat" panose="00000500000000000000" pitchFamily="2" charset="0"/>
              <a:ea typeface="微软雅黑 Light" panose="020B0502040204020203" pitchFamily="34" charset="-122"/>
            </a:endParaRPr>
          </a:p>
        </p:txBody>
      </p:sp>
      <p:sp>
        <p:nvSpPr>
          <p:cNvPr id="39" name="Text Box 482"/>
          <p:cNvSpPr txBox="1">
            <a:spLocks noChangeArrowheads="1"/>
          </p:cNvSpPr>
          <p:nvPr/>
        </p:nvSpPr>
        <p:spPr bwMode="auto">
          <a:xfrm>
            <a:off x="6556775" y="356899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zh-CN" altLang="en-US" sz="1200" dirty="0">
                <a:solidFill>
                  <a:sysClr val="windowText" lastClr="000000"/>
                </a:solidFill>
                <a:latin typeface="Montserrat" panose="00000500000000000000" pitchFamily="2" charset="0"/>
                <a:ea typeface="微软雅黑 Light" panose="020B0502040204020203" pitchFamily="34" charset="-122"/>
              </a:rPr>
              <a:t>服务器</a:t>
            </a:r>
          </a:p>
        </p:txBody>
      </p:sp>
      <p:sp>
        <p:nvSpPr>
          <p:cNvPr id="40" name="Text Box 2748"/>
          <p:cNvSpPr txBox="1">
            <a:spLocks noChangeArrowheads="1"/>
          </p:cNvSpPr>
          <p:nvPr/>
        </p:nvSpPr>
        <p:spPr bwMode="auto">
          <a:xfrm>
            <a:off x="4456868" y="2055019"/>
            <a:ext cx="36420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dirty="0">
                <a:solidFill>
                  <a:srgbClr val="0000FF"/>
                </a:solidFill>
                <a:latin typeface="Montserrat" panose="00000500000000000000" pitchFamily="2" charset="0"/>
                <a:ea typeface="微软雅黑 Light" panose="020B0502040204020203" pitchFamily="34" charset="-122"/>
                <a:sym typeface="Symbol" pitchFamily="18" charset="2"/>
              </a:rPr>
              <a:t></a:t>
            </a:r>
          </a:p>
        </p:txBody>
      </p:sp>
      <p:sp>
        <p:nvSpPr>
          <p:cNvPr id="41" name="Line 2750"/>
          <p:cNvSpPr>
            <a:spLocks noChangeShapeType="1"/>
          </p:cNvSpPr>
          <p:nvPr/>
        </p:nvSpPr>
        <p:spPr bwMode="auto">
          <a:xfrm rot="816166">
            <a:off x="3521441" y="2357986"/>
            <a:ext cx="820078" cy="172699"/>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42" name="Line 2751"/>
          <p:cNvSpPr>
            <a:spLocks noChangeShapeType="1"/>
          </p:cNvSpPr>
          <p:nvPr/>
        </p:nvSpPr>
        <p:spPr bwMode="auto">
          <a:xfrm rot="11616166">
            <a:off x="3396058" y="2427639"/>
            <a:ext cx="872038" cy="17269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43" name="Line 2753"/>
          <p:cNvSpPr>
            <a:spLocks noChangeShapeType="1"/>
          </p:cNvSpPr>
          <p:nvPr/>
        </p:nvSpPr>
        <p:spPr bwMode="auto">
          <a:xfrm rot="18950026">
            <a:off x="2869804" y="3792498"/>
            <a:ext cx="820078" cy="172698"/>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44" name="Line 2754"/>
          <p:cNvSpPr>
            <a:spLocks noChangeShapeType="1"/>
          </p:cNvSpPr>
          <p:nvPr/>
        </p:nvSpPr>
        <p:spPr bwMode="auto">
          <a:xfrm rot="8150026">
            <a:off x="2860767" y="3900314"/>
            <a:ext cx="872038" cy="172699"/>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45" name="Line 2756"/>
          <p:cNvSpPr>
            <a:spLocks noChangeShapeType="1"/>
          </p:cNvSpPr>
          <p:nvPr/>
        </p:nvSpPr>
        <p:spPr bwMode="auto">
          <a:xfrm rot="13567995">
            <a:off x="4447699" y="4096731"/>
            <a:ext cx="692701" cy="204455"/>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46" name="Line 2757"/>
          <p:cNvSpPr>
            <a:spLocks noChangeShapeType="1"/>
          </p:cNvSpPr>
          <p:nvPr/>
        </p:nvSpPr>
        <p:spPr bwMode="auto">
          <a:xfrm rot="2767995">
            <a:off x="4553397" y="4083373"/>
            <a:ext cx="736591" cy="204454"/>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47" name="Line 2759"/>
          <p:cNvSpPr>
            <a:spLocks noChangeShapeType="1"/>
          </p:cNvSpPr>
          <p:nvPr/>
        </p:nvSpPr>
        <p:spPr bwMode="auto">
          <a:xfrm rot="18997895">
            <a:off x="5565779" y="2390709"/>
            <a:ext cx="820078" cy="172699"/>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48" name="Line 2760"/>
          <p:cNvSpPr>
            <a:spLocks noChangeShapeType="1"/>
          </p:cNvSpPr>
          <p:nvPr/>
        </p:nvSpPr>
        <p:spPr bwMode="auto">
          <a:xfrm rot="8197895">
            <a:off x="5651582" y="2500293"/>
            <a:ext cx="704860" cy="140257"/>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49" name="Line 2762"/>
          <p:cNvSpPr>
            <a:spLocks noChangeShapeType="1"/>
          </p:cNvSpPr>
          <p:nvPr/>
        </p:nvSpPr>
        <p:spPr bwMode="auto">
          <a:xfrm rot="1048487">
            <a:off x="5636154" y="3781048"/>
            <a:ext cx="820078" cy="17269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50" name="Line 2763"/>
          <p:cNvSpPr>
            <a:spLocks noChangeShapeType="1"/>
          </p:cNvSpPr>
          <p:nvPr/>
        </p:nvSpPr>
        <p:spPr bwMode="auto">
          <a:xfrm rot="11848487">
            <a:off x="5506251" y="3844021"/>
            <a:ext cx="872038" cy="172698"/>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51" name="Line 2764"/>
          <p:cNvSpPr>
            <a:spLocks noChangeShapeType="1"/>
          </p:cNvSpPr>
          <p:nvPr/>
        </p:nvSpPr>
        <p:spPr bwMode="auto">
          <a:xfrm rot="10046881">
            <a:off x="5886921" y="3185114"/>
            <a:ext cx="769247" cy="129762"/>
          </a:xfrm>
          <a:prstGeom prst="line">
            <a:avLst/>
          </a:prstGeom>
          <a:noFill/>
          <a:ln w="5715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52" name="Text Box 2765"/>
          <p:cNvSpPr txBox="1">
            <a:spLocks noChangeArrowheads="1"/>
          </p:cNvSpPr>
          <p:nvPr/>
        </p:nvSpPr>
        <p:spPr bwMode="auto">
          <a:xfrm>
            <a:off x="6543639" y="2634417"/>
            <a:ext cx="59022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zh-CN" altLang="en-US" sz="1200" dirty="0">
                <a:solidFill>
                  <a:sysClr val="windowText" lastClr="000000"/>
                </a:solidFill>
                <a:latin typeface="Montserrat" panose="00000500000000000000" pitchFamily="2" charset="0"/>
                <a:ea typeface="微软雅黑 Light" panose="020B0502040204020203" pitchFamily="34" charset="-122"/>
              </a:rPr>
              <a:t>文件</a:t>
            </a:r>
            <a:r>
              <a:rPr kumimoji="1" lang="en-US" altLang="zh-CN" sz="1200" i="1" dirty="0">
                <a:solidFill>
                  <a:sysClr val="windowText" lastClr="000000"/>
                </a:solidFill>
                <a:latin typeface="Montserrat" panose="00000500000000000000" pitchFamily="2" charset="0"/>
                <a:ea typeface="微软雅黑 Light" panose="020B0502040204020203" pitchFamily="34" charset="-122"/>
              </a:rPr>
              <a:t>F</a:t>
            </a:r>
          </a:p>
        </p:txBody>
      </p:sp>
      <p:sp>
        <p:nvSpPr>
          <p:cNvPr id="53" name="Text Box 2766"/>
          <p:cNvSpPr txBox="1">
            <a:spLocks noChangeArrowheads="1"/>
          </p:cNvSpPr>
          <p:nvPr/>
        </p:nvSpPr>
        <p:spPr bwMode="auto">
          <a:xfrm>
            <a:off x="6162539" y="2914694"/>
            <a:ext cx="36420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b="1" i="1" dirty="0">
                <a:solidFill>
                  <a:srgbClr val="FF00FF"/>
                </a:solidFill>
                <a:latin typeface="Montserrat" panose="00000500000000000000" pitchFamily="2" charset="0"/>
                <a:ea typeface="微软雅黑 Light" panose="020B0502040204020203" pitchFamily="34" charset="-122"/>
              </a:rPr>
              <a:t>u</a:t>
            </a:r>
            <a:r>
              <a:rPr kumimoji="1" lang="en-US" altLang="zh-CN" sz="1400" b="1" i="1" baseline="-25000" dirty="0">
                <a:solidFill>
                  <a:srgbClr val="FF00FF"/>
                </a:solidFill>
                <a:latin typeface="Montserrat" panose="00000500000000000000" pitchFamily="2" charset="0"/>
                <a:ea typeface="微软雅黑 Light" panose="020B0502040204020203" pitchFamily="34" charset="-122"/>
              </a:rPr>
              <a:t>s</a:t>
            </a:r>
          </a:p>
        </p:txBody>
      </p:sp>
      <p:sp>
        <p:nvSpPr>
          <p:cNvPr id="54" name="Text Box 2767"/>
          <p:cNvSpPr txBox="1">
            <a:spLocks noChangeArrowheads="1"/>
          </p:cNvSpPr>
          <p:nvPr/>
        </p:nvSpPr>
        <p:spPr bwMode="auto">
          <a:xfrm>
            <a:off x="5957863" y="2464752"/>
            <a:ext cx="40267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err="1">
                <a:latin typeface="Montserrat" panose="00000500000000000000" pitchFamily="2" charset="0"/>
                <a:ea typeface="微软雅黑 Light" panose="020B0502040204020203" pitchFamily="34" charset="-122"/>
              </a:rPr>
              <a:t>u</a:t>
            </a:r>
            <a:r>
              <a:rPr kumimoji="1" lang="en-US" altLang="zh-CN" sz="1400" i="1" baseline="-25000" dirty="0" err="1">
                <a:latin typeface="Montserrat" panose="00000500000000000000" pitchFamily="2" charset="0"/>
                <a:ea typeface="微软雅黑 Light" panose="020B0502040204020203" pitchFamily="34" charset="-122"/>
              </a:rPr>
              <a:t>N</a:t>
            </a:r>
            <a:endParaRPr kumimoji="1" lang="en-US" altLang="zh-CN" sz="1400" i="1" baseline="-25000" dirty="0">
              <a:latin typeface="Montserrat" panose="00000500000000000000" pitchFamily="2" charset="0"/>
              <a:ea typeface="微软雅黑 Light" panose="020B0502040204020203" pitchFamily="34" charset="-122"/>
            </a:endParaRPr>
          </a:p>
        </p:txBody>
      </p:sp>
      <p:sp>
        <p:nvSpPr>
          <p:cNvPr id="55" name="Text Box 2768"/>
          <p:cNvSpPr txBox="1">
            <a:spLocks noChangeArrowheads="1"/>
          </p:cNvSpPr>
          <p:nvPr/>
        </p:nvSpPr>
        <p:spPr bwMode="auto">
          <a:xfrm>
            <a:off x="5686984" y="3823030"/>
            <a:ext cx="3722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u</a:t>
            </a:r>
            <a:r>
              <a:rPr kumimoji="1" lang="en-US" altLang="zh-CN" sz="1400" baseline="-25000" dirty="0">
                <a:latin typeface="Montserrat" panose="00000500000000000000" pitchFamily="2" charset="0"/>
                <a:ea typeface="微软雅黑 Light" panose="020B0502040204020203" pitchFamily="34" charset="-122"/>
              </a:rPr>
              <a:t>5</a:t>
            </a:r>
          </a:p>
        </p:txBody>
      </p:sp>
      <p:sp>
        <p:nvSpPr>
          <p:cNvPr id="56" name="Text Box 2769"/>
          <p:cNvSpPr txBox="1">
            <a:spLocks noChangeArrowheads="1"/>
          </p:cNvSpPr>
          <p:nvPr/>
        </p:nvSpPr>
        <p:spPr bwMode="auto">
          <a:xfrm>
            <a:off x="4495652" y="4082554"/>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u</a:t>
            </a:r>
            <a:r>
              <a:rPr kumimoji="1" lang="en-US" altLang="zh-CN" sz="1400" baseline="-25000" dirty="0">
                <a:latin typeface="Montserrat" panose="00000500000000000000" pitchFamily="2" charset="0"/>
                <a:ea typeface="微软雅黑 Light" panose="020B0502040204020203" pitchFamily="34" charset="-122"/>
              </a:rPr>
              <a:t>4</a:t>
            </a:r>
          </a:p>
        </p:txBody>
      </p:sp>
      <p:sp>
        <p:nvSpPr>
          <p:cNvPr id="57" name="Text Box 2770"/>
          <p:cNvSpPr txBox="1">
            <a:spLocks noChangeArrowheads="1"/>
          </p:cNvSpPr>
          <p:nvPr/>
        </p:nvSpPr>
        <p:spPr bwMode="auto">
          <a:xfrm>
            <a:off x="3022298" y="3592684"/>
            <a:ext cx="3722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u</a:t>
            </a:r>
            <a:r>
              <a:rPr kumimoji="1" lang="en-US" altLang="zh-CN" sz="1400" baseline="-25000" dirty="0">
                <a:latin typeface="Montserrat" panose="00000500000000000000" pitchFamily="2" charset="0"/>
                <a:ea typeface="微软雅黑 Light" panose="020B0502040204020203" pitchFamily="34" charset="-122"/>
              </a:rPr>
              <a:t>3</a:t>
            </a:r>
          </a:p>
        </p:txBody>
      </p:sp>
      <p:sp>
        <p:nvSpPr>
          <p:cNvPr id="58" name="Text Box 2771"/>
          <p:cNvSpPr txBox="1">
            <a:spLocks noChangeArrowheads="1"/>
          </p:cNvSpPr>
          <p:nvPr/>
        </p:nvSpPr>
        <p:spPr bwMode="auto">
          <a:xfrm>
            <a:off x="2510596" y="2782147"/>
            <a:ext cx="3722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u</a:t>
            </a:r>
            <a:r>
              <a:rPr kumimoji="1" lang="en-US" altLang="zh-CN" sz="1400" baseline="-25000" dirty="0">
                <a:latin typeface="Montserrat" panose="00000500000000000000" pitchFamily="2" charset="0"/>
                <a:ea typeface="微软雅黑 Light" panose="020B0502040204020203" pitchFamily="34" charset="-122"/>
              </a:rPr>
              <a:t>2</a:t>
            </a:r>
          </a:p>
        </p:txBody>
      </p:sp>
      <p:sp>
        <p:nvSpPr>
          <p:cNvPr id="59" name="Text Box 2772"/>
          <p:cNvSpPr txBox="1">
            <a:spLocks noChangeArrowheads="1"/>
          </p:cNvSpPr>
          <p:nvPr/>
        </p:nvSpPr>
        <p:spPr bwMode="auto">
          <a:xfrm>
            <a:off x="3716859" y="2150621"/>
            <a:ext cx="34817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u</a:t>
            </a:r>
            <a:r>
              <a:rPr kumimoji="1" lang="en-US" altLang="zh-CN" sz="1400" baseline="-25000" dirty="0">
                <a:latin typeface="Montserrat" panose="00000500000000000000" pitchFamily="2" charset="0"/>
                <a:ea typeface="微软雅黑 Light" panose="020B0502040204020203" pitchFamily="34" charset="-122"/>
              </a:rPr>
              <a:t>1</a:t>
            </a:r>
          </a:p>
        </p:txBody>
      </p:sp>
      <p:sp>
        <p:nvSpPr>
          <p:cNvPr id="60" name="Text Box 2773"/>
          <p:cNvSpPr txBox="1">
            <a:spLocks noChangeArrowheads="1"/>
          </p:cNvSpPr>
          <p:nvPr/>
        </p:nvSpPr>
        <p:spPr bwMode="auto">
          <a:xfrm>
            <a:off x="5675890" y="2179130"/>
            <a:ext cx="40427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err="1">
                <a:latin typeface="Montserrat" panose="00000500000000000000" pitchFamily="2" charset="0"/>
                <a:ea typeface="微软雅黑 Light" panose="020B0502040204020203" pitchFamily="34" charset="-122"/>
              </a:rPr>
              <a:t>d</a:t>
            </a:r>
            <a:r>
              <a:rPr kumimoji="1" lang="en-US" altLang="zh-CN" sz="1400" i="1" baseline="-25000" dirty="0" err="1">
                <a:latin typeface="Montserrat" panose="00000500000000000000" pitchFamily="2" charset="0"/>
                <a:ea typeface="微软雅黑 Light" panose="020B0502040204020203" pitchFamily="34" charset="-122"/>
              </a:rPr>
              <a:t>N</a:t>
            </a:r>
            <a:endParaRPr kumimoji="1" lang="en-US" altLang="zh-CN" sz="1400" i="1" baseline="-25000" dirty="0">
              <a:latin typeface="Montserrat" panose="00000500000000000000" pitchFamily="2" charset="0"/>
              <a:ea typeface="微软雅黑 Light" panose="020B0502040204020203" pitchFamily="34" charset="-122"/>
            </a:endParaRPr>
          </a:p>
        </p:txBody>
      </p:sp>
      <p:sp>
        <p:nvSpPr>
          <p:cNvPr id="61" name="Text Box 2774"/>
          <p:cNvSpPr txBox="1">
            <a:spLocks noChangeArrowheads="1"/>
          </p:cNvSpPr>
          <p:nvPr/>
        </p:nvSpPr>
        <p:spPr bwMode="auto">
          <a:xfrm>
            <a:off x="3465555" y="2422073"/>
            <a:ext cx="34977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d</a:t>
            </a:r>
            <a:r>
              <a:rPr kumimoji="1" lang="en-US" altLang="zh-CN" sz="1400" baseline="-25000" dirty="0">
                <a:latin typeface="Montserrat" panose="00000500000000000000" pitchFamily="2" charset="0"/>
                <a:ea typeface="微软雅黑 Light" panose="020B0502040204020203" pitchFamily="34" charset="-122"/>
              </a:rPr>
              <a:t>1</a:t>
            </a:r>
          </a:p>
        </p:txBody>
      </p:sp>
      <p:sp>
        <p:nvSpPr>
          <p:cNvPr id="62" name="Text Box 2775"/>
          <p:cNvSpPr txBox="1">
            <a:spLocks noChangeArrowheads="1"/>
          </p:cNvSpPr>
          <p:nvPr/>
        </p:nvSpPr>
        <p:spPr bwMode="auto">
          <a:xfrm>
            <a:off x="5909727" y="3606441"/>
            <a:ext cx="3738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d</a:t>
            </a:r>
            <a:r>
              <a:rPr kumimoji="1" lang="en-US" altLang="zh-CN" sz="1400" baseline="-25000" dirty="0">
                <a:latin typeface="Montserrat" panose="00000500000000000000" pitchFamily="2" charset="0"/>
                <a:ea typeface="微软雅黑 Light" panose="020B0502040204020203" pitchFamily="34" charset="-122"/>
              </a:rPr>
              <a:t>5</a:t>
            </a:r>
          </a:p>
        </p:txBody>
      </p:sp>
      <p:sp>
        <p:nvSpPr>
          <p:cNvPr id="63" name="Text Box 2776"/>
          <p:cNvSpPr txBox="1">
            <a:spLocks noChangeArrowheads="1"/>
          </p:cNvSpPr>
          <p:nvPr/>
        </p:nvSpPr>
        <p:spPr bwMode="auto">
          <a:xfrm>
            <a:off x="4866907" y="3996682"/>
            <a:ext cx="38504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d</a:t>
            </a:r>
            <a:r>
              <a:rPr kumimoji="1" lang="en-US" altLang="zh-CN" sz="1400" baseline="-25000" dirty="0">
                <a:latin typeface="Montserrat" panose="00000500000000000000" pitchFamily="2" charset="0"/>
                <a:ea typeface="微软雅黑 Light" panose="020B0502040204020203" pitchFamily="34" charset="-122"/>
              </a:rPr>
              <a:t>4</a:t>
            </a:r>
          </a:p>
        </p:txBody>
      </p:sp>
      <p:sp>
        <p:nvSpPr>
          <p:cNvPr id="64" name="Text Box 2777"/>
          <p:cNvSpPr txBox="1">
            <a:spLocks noChangeArrowheads="1"/>
          </p:cNvSpPr>
          <p:nvPr/>
        </p:nvSpPr>
        <p:spPr bwMode="auto">
          <a:xfrm>
            <a:off x="3238104" y="3875110"/>
            <a:ext cx="3738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d</a:t>
            </a:r>
            <a:r>
              <a:rPr kumimoji="1" lang="en-US" altLang="zh-CN" sz="1400" baseline="-25000" dirty="0">
                <a:latin typeface="Montserrat" panose="00000500000000000000" pitchFamily="2" charset="0"/>
                <a:ea typeface="微软雅黑 Light" panose="020B0502040204020203" pitchFamily="34" charset="-122"/>
              </a:rPr>
              <a:t>3</a:t>
            </a:r>
          </a:p>
        </p:txBody>
      </p:sp>
      <p:sp>
        <p:nvSpPr>
          <p:cNvPr id="65" name="Text Box 2778"/>
          <p:cNvSpPr txBox="1">
            <a:spLocks noChangeArrowheads="1"/>
          </p:cNvSpPr>
          <p:nvPr/>
        </p:nvSpPr>
        <p:spPr bwMode="auto">
          <a:xfrm>
            <a:off x="2458636" y="3138281"/>
            <a:ext cx="3738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d</a:t>
            </a:r>
            <a:r>
              <a:rPr kumimoji="1" lang="en-US" altLang="zh-CN" sz="1400" baseline="-25000" dirty="0">
                <a:latin typeface="Montserrat" panose="00000500000000000000" pitchFamily="2" charset="0"/>
                <a:ea typeface="微软雅黑 Light" panose="020B0502040204020203" pitchFamily="34" charset="-122"/>
              </a:rPr>
              <a:t>2</a:t>
            </a:r>
          </a:p>
        </p:txBody>
      </p:sp>
      <p:pic>
        <p:nvPicPr>
          <p:cNvPr id="16" name="Picture 197" descr="jisuanji">
            <a:extLst>
              <a:ext uri="{FF2B5EF4-FFF2-40B4-BE49-F238E27FC236}">
                <a16:creationId xmlns:a16="http://schemas.microsoft.com/office/drawing/2014/main" id="{BD7DA092-00BC-19D1-67B7-93A3A215A8E1}"/>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155812" y="2015113"/>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197" descr="jisuanji">
            <a:extLst>
              <a:ext uri="{FF2B5EF4-FFF2-40B4-BE49-F238E27FC236}">
                <a16:creationId xmlns:a16="http://schemas.microsoft.com/office/drawing/2014/main" id="{6B753E24-FDF7-49C4-4B00-6DD45FB88ECA}"/>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19201" y="4114413"/>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197" descr="jisuanji">
            <a:extLst>
              <a:ext uri="{FF2B5EF4-FFF2-40B4-BE49-F238E27FC236}">
                <a16:creationId xmlns:a16="http://schemas.microsoft.com/office/drawing/2014/main" id="{15800CB5-B3CE-117C-9E33-34D494080E99}"/>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15820" y="4474234"/>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197" descr="jisuanji">
            <a:extLst>
              <a:ext uri="{FF2B5EF4-FFF2-40B4-BE49-F238E27FC236}">
                <a16:creationId xmlns:a16="http://schemas.microsoft.com/office/drawing/2014/main" id="{3769B697-E37B-A938-6835-D5359D153793}"/>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84096" y="2019565"/>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20" name="Picture 197" descr="jisuanji">
            <a:extLst>
              <a:ext uri="{FF2B5EF4-FFF2-40B4-BE49-F238E27FC236}">
                <a16:creationId xmlns:a16="http://schemas.microsoft.com/office/drawing/2014/main" id="{E0312FB0-363C-6F3D-5FAA-AE61FEDDA818}"/>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60119" y="4069590"/>
            <a:ext cx="359999" cy="360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852479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D469056-631D-93EA-90A0-B53F848B492E}"/>
              </a:ext>
            </a:extLst>
          </p:cNvPr>
          <p:cNvSpPr>
            <a:spLocks noGrp="1"/>
          </p:cNvSpPr>
          <p:nvPr>
            <p:ph type="title"/>
          </p:nvPr>
        </p:nvSpPr>
        <p:spPr>
          <a:xfrm>
            <a:off x="485999" y="174482"/>
            <a:ext cx="8171999" cy="338554"/>
          </a:xfrm>
        </p:spPr>
        <p:txBody>
          <a:bodyPr/>
          <a:lstStyle/>
          <a:p>
            <a:r>
              <a:rPr lang="en-US" altLang="zh-CN" dirty="0"/>
              <a:t>6.9.3  </a:t>
            </a:r>
            <a:r>
              <a:rPr lang="zh-CN" altLang="en-US" dirty="0"/>
              <a:t>文件分发 </a:t>
            </a:r>
            <a:r>
              <a:rPr lang="en-US" altLang="zh-CN" dirty="0"/>
              <a:t>- C/S</a:t>
            </a:r>
            <a:endParaRPr lang="zh-CN" altLang="en-US" dirty="0"/>
          </a:p>
        </p:txBody>
      </p:sp>
      <p:sp>
        <p:nvSpPr>
          <p:cNvPr id="9" name="内容占位符 8">
            <a:extLst>
              <a:ext uri="{FF2B5EF4-FFF2-40B4-BE49-F238E27FC236}">
                <a16:creationId xmlns:a16="http://schemas.microsoft.com/office/drawing/2014/main" id="{457D4780-FC0A-4EA4-EF14-583C7CAE20E9}"/>
              </a:ext>
            </a:extLst>
          </p:cNvPr>
          <p:cNvSpPr>
            <a:spLocks noGrp="1"/>
          </p:cNvSpPr>
          <p:nvPr>
            <p:ph sz="quarter" idx="11"/>
          </p:nvPr>
        </p:nvSpPr>
        <p:spPr>
          <a:xfrm>
            <a:off x="486000" y="687518"/>
            <a:ext cx="8172000" cy="4079035"/>
          </a:xfrm>
        </p:spPr>
        <p:txBody>
          <a:bodyPr/>
          <a:lstStyle/>
          <a:p>
            <a:r>
              <a:rPr lang="zh-CN" altLang="en-US" dirty="0"/>
              <a:t>服务器是</a:t>
            </a:r>
            <a:r>
              <a:rPr lang="zh-CN" altLang="en-US" b="1" dirty="0">
                <a:solidFill>
                  <a:srgbClr val="FF0000"/>
                </a:solidFill>
              </a:rPr>
              <a:t>唯一数据源</a:t>
            </a:r>
            <a:r>
              <a:rPr lang="zh-CN" altLang="en-US" dirty="0"/>
              <a:t>，必须为每个客户端发送完整文件 </a:t>
            </a:r>
            <a:r>
              <a:rPr lang="en-US" altLang="zh-CN" i="1" dirty="0"/>
              <a:t>F</a:t>
            </a:r>
          </a:p>
          <a:p>
            <a:pPr lvl="1"/>
            <a:r>
              <a:rPr lang="zh-CN" altLang="en-US" dirty="0"/>
              <a:t>总发送量就是</a:t>
            </a:r>
            <a:r>
              <a:rPr lang="en-US" altLang="zh-CN" dirty="0"/>
              <a:t>N</a:t>
            </a:r>
            <a:r>
              <a:rPr lang="zh-CN" altLang="en-US" dirty="0"/>
              <a:t>倍的文件大小 </a:t>
            </a:r>
            <a:r>
              <a:rPr lang="en-US" altLang="zh-CN" i="1" dirty="0"/>
              <a:t>NF</a:t>
            </a:r>
          </a:p>
          <a:p>
            <a:pPr lvl="1"/>
            <a:r>
              <a:rPr lang="zh-CN" altLang="en-US" dirty="0"/>
              <a:t>从服务器端考虑，所有客户端分发完毕的最短时间 </a:t>
            </a:r>
            <a:r>
              <a:rPr lang="en-US" altLang="zh-CN" i="1" dirty="0" err="1"/>
              <a:t>T</a:t>
            </a:r>
            <a:r>
              <a:rPr lang="en-US" altLang="zh-CN" baseline="-25000" dirty="0" err="1"/>
              <a:t>cs</a:t>
            </a:r>
            <a:r>
              <a:rPr lang="en-US" altLang="zh-CN" dirty="0"/>
              <a:t>  </a:t>
            </a:r>
            <a:r>
              <a:rPr lang="zh-CN" altLang="en-US" dirty="0"/>
              <a:t>≥ </a:t>
            </a:r>
            <a:r>
              <a:rPr lang="en-US" altLang="zh-CN" i="1" dirty="0"/>
              <a:t>NF</a:t>
            </a:r>
            <a:r>
              <a:rPr lang="en-US" altLang="zh-CN" dirty="0"/>
              <a:t>/</a:t>
            </a:r>
            <a:r>
              <a:rPr lang="en-US" altLang="zh-CN" i="1" dirty="0"/>
              <a:t>u</a:t>
            </a:r>
            <a:r>
              <a:rPr lang="en-US" altLang="zh-CN" baseline="-25000" dirty="0"/>
              <a:t>s</a:t>
            </a:r>
            <a:r>
              <a:rPr lang="en-US" altLang="zh-CN" dirty="0"/>
              <a:t> </a:t>
            </a:r>
            <a:endParaRPr lang="zh-CN" altLang="en-US" dirty="0"/>
          </a:p>
          <a:p>
            <a:r>
              <a:rPr lang="zh-CN" altLang="en-US" dirty="0"/>
              <a:t>各客户端</a:t>
            </a:r>
          </a:p>
          <a:p>
            <a:pPr lvl="1"/>
            <a:r>
              <a:rPr lang="zh-CN" altLang="en-US" dirty="0"/>
              <a:t>最慢的下载速率为 </a:t>
            </a:r>
            <a:r>
              <a:rPr lang="en-US" altLang="zh-CN" i="1" dirty="0" err="1"/>
              <a:t>d</a:t>
            </a:r>
            <a:r>
              <a:rPr lang="en-US" altLang="zh-CN" baseline="-25000" dirty="0" err="1"/>
              <a:t>min</a:t>
            </a:r>
            <a:r>
              <a:rPr lang="zh-CN" altLang="en-US" dirty="0"/>
              <a:t>，则 </a:t>
            </a:r>
            <a:r>
              <a:rPr lang="en-US" altLang="zh-CN" i="1" dirty="0" err="1"/>
              <a:t>T</a:t>
            </a:r>
            <a:r>
              <a:rPr lang="en-US" altLang="zh-CN" baseline="-25000" dirty="0" err="1"/>
              <a:t>cs</a:t>
            </a:r>
            <a:r>
              <a:rPr lang="en-US" altLang="zh-CN" dirty="0"/>
              <a:t>  </a:t>
            </a:r>
            <a:r>
              <a:rPr lang="zh-CN" altLang="en-US" dirty="0"/>
              <a:t>≥  </a:t>
            </a:r>
            <a:r>
              <a:rPr lang="en-US" altLang="zh-CN" i="1" dirty="0"/>
              <a:t>F</a:t>
            </a:r>
            <a:r>
              <a:rPr lang="en-US" altLang="zh-CN" dirty="0"/>
              <a:t>/</a:t>
            </a:r>
            <a:r>
              <a:rPr lang="en-US" altLang="zh-CN" i="1" dirty="0" err="1"/>
              <a:t>d</a:t>
            </a:r>
            <a:r>
              <a:rPr lang="en-US" altLang="zh-CN" baseline="-25000" dirty="0" err="1"/>
              <a:t>min</a:t>
            </a:r>
            <a:r>
              <a:rPr lang="en-US" altLang="zh-CN" dirty="0"/>
              <a:t>  </a:t>
            </a:r>
            <a:endParaRPr lang="zh-CN" altLang="en-US" dirty="0"/>
          </a:p>
          <a:p>
            <a:pPr lvl="1"/>
            <a:r>
              <a:rPr lang="zh-CN" altLang="en-US" dirty="0"/>
              <a:t>无论客户端下载速率 </a:t>
            </a:r>
            <a:r>
              <a:rPr lang="en-US" altLang="zh-CN" i="1" dirty="0" err="1"/>
              <a:t>d</a:t>
            </a:r>
            <a:r>
              <a:rPr lang="en-US" altLang="zh-CN" baseline="-25000" dirty="0" err="1"/>
              <a:t>n</a:t>
            </a:r>
            <a:r>
              <a:rPr lang="zh-CN" altLang="en-US" dirty="0"/>
              <a:t> 多大，服务器始终是</a:t>
            </a:r>
            <a:r>
              <a:rPr lang="zh-CN" altLang="en-US" b="1" dirty="0">
                <a:solidFill>
                  <a:srgbClr val="FF0000"/>
                </a:solidFill>
              </a:rPr>
              <a:t>瓶颈</a:t>
            </a:r>
            <a:r>
              <a:rPr lang="zh-CN" altLang="en-US" dirty="0"/>
              <a:t>，所有主机都下载完文件 </a:t>
            </a:r>
            <a:r>
              <a:rPr lang="en-US" altLang="zh-CN" i="1" dirty="0"/>
              <a:t>F</a:t>
            </a:r>
            <a:r>
              <a:rPr lang="en-US" altLang="zh-CN" dirty="0"/>
              <a:t> </a:t>
            </a:r>
            <a:r>
              <a:rPr lang="zh-CN" altLang="en-US" dirty="0"/>
              <a:t>的最少时间是：</a:t>
            </a:r>
          </a:p>
          <a:p>
            <a:endParaRPr lang="zh-CN" altLang="en-US" dirty="0"/>
          </a:p>
        </p:txBody>
      </p:sp>
      <p:pic>
        <p:nvPicPr>
          <p:cNvPr id="7" name="图片 6">
            <a:extLst>
              <a:ext uri="{FF2B5EF4-FFF2-40B4-BE49-F238E27FC236}">
                <a16:creationId xmlns:a16="http://schemas.microsoft.com/office/drawing/2014/main" id="{60356DCC-29E0-304C-D02E-B010FB807FB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976958" y="2967263"/>
            <a:ext cx="1681267" cy="1800000"/>
          </a:xfrm>
          <a:prstGeom prst="rect">
            <a:avLst/>
          </a:prstGeom>
        </p:spPr>
      </p:pic>
      <p:sp>
        <p:nvSpPr>
          <p:cNvPr id="16" name="文本框 15">
            <a:extLst>
              <a:ext uri="{FF2B5EF4-FFF2-40B4-BE49-F238E27FC236}">
                <a16:creationId xmlns:a16="http://schemas.microsoft.com/office/drawing/2014/main" id="{210C6FFC-86DB-CE5E-0DF7-32FCD5DEEFE3}"/>
              </a:ext>
            </a:extLst>
          </p:cNvPr>
          <p:cNvSpPr txBox="1"/>
          <p:nvPr/>
        </p:nvSpPr>
        <p:spPr>
          <a:xfrm>
            <a:off x="3158793" y="2576943"/>
            <a:ext cx="2826415" cy="400110"/>
          </a:xfrm>
          <a:prstGeom prst="rect">
            <a:avLst/>
          </a:prstGeom>
          <a:solidFill>
            <a:schemeClr val="bg1">
              <a:lumMod val="95000"/>
            </a:schemeClr>
          </a:solidFill>
        </p:spPr>
        <p:txBody>
          <a:bodyPr wrap="none" rtlCol="0">
            <a:spAutoFit/>
          </a:bodyPr>
          <a:lstStyle/>
          <a:p>
            <a:pPr algn="ctr"/>
            <a:r>
              <a:rPr lang="en-US" altLang="zh-CN" sz="2000" i="1" dirty="0" err="1">
                <a:latin typeface="Times New Roman" panose="02020603050405020304" pitchFamily="18" charset="0"/>
                <a:ea typeface="微软雅黑 Light" panose="020B0502040204020203" pitchFamily="34" charset="-122"/>
                <a:cs typeface="Times New Roman" panose="02020603050405020304" pitchFamily="18" charset="0"/>
              </a:rPr>
              <a:t>T</a:t>
            </a:r>
            <a:r>
              <a:rPr lang="en-US" altLang="zh-CN" sz="2000" baseline="-25000" dirty="0" err="1">
                <a:latin typeface="Times New Roman" panose="02020603050405020304" pitchFamily="18" charset="0"/>
                <a:ea typeface="微软雅黑 Light" panose="020B0502040204020203" pitchFamily="34" charset="-122"/>
                <a:cs typeface="Times New Roman" panose="02020603050405020304" pitchFamily="18" charset="0"/>
              </a:rPr>
              <a:t>cs</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 max(</a:t>
            </a:r>
            <a:r>
              <a:rPr lang="zh-CN" altLang="en-US" sz="2000" dirty="0">
                <a:latin typeface="Times New Roman" panose="02020603050405020304" pitchFamily="18" charset="0"/>
                <a:ea typeface="微软雅黑 Light" panose="020B0502040204020203" pitchFamily="34" charset="-122"/>
                <a:cs typeface="Times New Roman" panose="02020603050405020304" pitchFamily="18" charset="0"/>
              </a:rPr>
              <a:t> </a:t>
            </a:r>
            <a:r>
              <a:rPr lang="en-US" altLang="zh-CN" sz="2000" i="1" dirty="0">
                <a:latin typeface="Times New Roman" panose="02020603050405020304" pitchFamily="18" charset="0"/>
                <a:ea typeface="微软雅黑 Light" panose="020B0502040204020203" pitchFamily="34" charset="-122"/>
                <a:cs typeface="Times New Roman" panose="02020603050405020304" pitchFamily="18" charset="0"/>
              </a:rPr>
              <a:t>NF</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a:t>
            </a:r>
            <a:r>
              <a:rPr lang="en-US" altLang="zh-CN" sz="2000" i="1" dirty="0">
                <a:latin typeface="Times New Roman" panose="02020603050405020304" pitchFamily="18" charset="0"/>
                <a:ea typeface="微软雅黑 Light" panose="020B0502040204020203" pitchFamily="34" charset="-122"/>
                <a:cs typeface="Times New Roman" panose="02020603050405020304" pitchFamily="18" charset="0"/>
              </a:rPr>
              <a:t>u</a:t>
            </a:r>
            <a:r>
              <a:rPr lang="en-US" altLang="zh-CN" sz="2000" baseline="-25000" dirty="0">
                <a:latin typeface="Times New Roman" panose="02020603050405020304" pitchFamily="18" charset="0"/>
                <a:ea typeface="微软雅黑 Light" panose="020B0502040204020203" pitchFamily="34" charset="-122"/>
                <a:cs typeface="Times New Roman" panose="02020603050405020304" pitchFamily="18" charset="0"/>
              </a:rPr>
              <a:t>s</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 </a:t>
            </a:r>
            <a:r>
              <a:rPr lang="en-US" altLang="zh-CN" sz="2000" i="1" dirty="0">
                <a:latin typeface="Times New Roman" panose="02020603050405020304" pitchFamily="18" charset="0"/>
                <a:ea typeface="微软雅黑 Light" panose="020B0502040204020203" pitchFamily="34" charset="-122"/>
                <a:cs typeface="Times New Roman" panose="02020603050405020304" pitchFamily="18" charset="0"/>
              </a:rPr>
              <a:t>F</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a:t>
            </a:r>
            <a:r>
              <a:rPr lang="en-US" altLang="zh-CN" sz="2000" i="1" dirty="0" err="1">
                <a:latin typeface="Times New Roman" panose="02020603050405020304" pitchFamily="18" charset="0"/>
                <a:ea typeface="微软雅黑 Light" panose="020B0502040204020203" pitchFamily="34" charset="-122"/>
                <a:cs typeface="Times New Roman" panose="02020603050405020304" pitchFamily="18" charset="0"/>
              </a:rPr>
              <a:t>d</a:t>
            </a:r>
            <a:r>
              <a:rPr lang="en-US" altLang="zh-CN" sz="2000" baseline="-25000" dirty="0" err="1">
                <a:latin typeface="Times New Roman" panose="02020603050405020304" pitchFamily="18" charset="0"/>
                <a:ea typeface="微软雅黑 Light" panose="020B0502040204020203" pitchFamily="34" charset="-122"/>
                <a:cs typeface="Times New Roman" panose="02020603050405020304" pitchFamily="18" charset="0"/>
              </a:rPr>
              <a:t>min</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 )</a:t>
            </a:r>
            <a:r>
              <a:rPr lang="zh-CN" altLang="en-US" sz="2000" dirty="0">
                <a:latin typeface="Times New Roman" panose="02020603050405020304" pitchFamily="18" charset="0"/>
                <a:ea typeface="微软雅黑 Light" panose="020B0502040204020203" pitchFamily="34" charset="-122"/>
                <a:cs typeface="Times New Roman" panose="02020603050405020304" pitchFamily="18" charset="0"/>
              </a:rPr>
              <a:t> </a:t>
            </a:r>
          </a:p>
        </p:txBody>
      </p:sp>
    </p:spTree>
    <p:extLst>
      <p:ext uri="{BB962C8B-B14F-4D97-AF65-F5344CB8AC3E}">
        <p14:creationId xmlns:p14="http://schemas.microsoft.com/office/powerpoint/2010/main" val="4043951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7D85D3F-54CE-C6FF-A406-1992F3F6A409}"/>
              </a:ext>
            </a:extLst>
          </p:cNvPr>
          <p:cNvSpPr>
            <a:spLocks noGrp="1"/>
          </p:cNvSpPr>
          <p:nvPr>
            <p:ph type="title"/>
          </p:nvPr>
        </p:nvSpPr>
        <p:spPr>
          <a:xfrm>
            <a:off x="485999" y="174482"/>
            <a:ext cx="8171999" cy="338554"/>
          </a:xfrm>
        </p:spPr>
        <p:txBody>
          <a:bodyPr/>
          <a:lstStyle/>
          <a:p>
            <a:r>
              <a:rPr lang="en-US" altLang="zh-CN" dirty="0"/>
              <a:t>6.9.3  </a:t>
            </a:r>
            <a:r>
              <a:rPr lang="zh-CN" altLang="en-US" dirty="0"/>
              <a:t>文件分发 </a:t>
            </a:r>
            <a:r>
              <a:rPr lang="en-US" altLang="zh-CN" dirty="0"/>
              <a:t>- C/S</a:t>
            </a:r>
            <a:endParaRPr lang="zh-CN" altLang="en-US" dirty="0"/>
          </a:p>
        </p:txBody>
      </p:sp>
      <p:sp>
        <p:nvSpPr>
          <p:cNvPr id="3" name="内容占位符 2">
            <a:extLst>
              <a:ext uri="{FF2B5EF4-FFF2-40B4-BE49-F238E27FC236}">
                <a16:creationId xmlns:a16="http://schemas.microsoft.com/office/drawing/2014/main" id="{6DDD8501-D1C9-E49D-A5A0-AF29FA0B3EF7}"/>
              </a:ext>
            </a:extLst>
          </p:cNvPr>
          <p:cNvSpPr>
            <a:spLocks noGrp="1"/>
          </p:cNvSpPr>
          <p:nvPr>
            <p:ph sz="quarter" idx="11"/>
          </p:nvPr>
        </p:nvSpPr>
        <p:spPr>
          <a:xfrm>
            <a:off x="486000" y="687518"/>
            <a:ext cx="8172000" cy="4079035"/>
          </a:xfrm>
        </p:spPr>
        <p:txBody>
          <a:bodyPr/>
          <a:lstStyle/>
          <a:p>
            <a:r>
              <a:rPr lang="en-US" altLang="zh-CN" i="1" dirty="0"/>
              <a:t>u</a:t>
            </a:r>
            <a:r>
              <a:rPr lang="en-US" altLang="zh-CN" baseline="-25000" dirty="0"/>
              <a:t>s</a:t>
            </a:r>
            <a:r>
              <a:rPr lang="en-US" altLang="zh-CN" dirty="0"/>
              <a:t> =30Mbps</a:t>
            </a:r>
          </a:p>
          <a:p>
            <a:r>
              <a:rPr lang="en-US" altLang="zh-CN" i="1" dirty="0"/>
              <a:t>N </a:t>
            </a:r>
            <a:r>
              <a:rPr lang="en-US" altLang="zh-CN" dirty="0"/>
              <a:t>= 10</a:t>
            </a:r>
            <a:r>
              <a:rPr lang="zh-CN" altLang="en-US" dirty="0"/>
              <a:t>，其中 </a:t>
            </a:r>
            <a:r>
              <a:rPr lang="en-US" altLang="zh-CN" dirty="0"/>
              <a:t>9 </a:t>
            </a:r>
            <a:r>
              <a:rPr lang="zh-CN" altLang="en-US" dirty="0"/>
              <a:t>个客户端 </a:t>
            </a:r>
            <a:r>
              <a:rPr lang="en-US" altLang="zh-CN" i="1" dirty="0"/>
              <a:t>d </a:t>
            </a:r>
            <a:r>
              <a:rPr lang="en-US" altLang="zh-CN" dirty="0"/>
              <a:t>= 100Mbps</a:t>
            </a:r>
            <a:r>
              <a:rPr lang="zh-CN" altLang="en-US" dirty="0"/>
              <a:t>，</a:t>
            </a:r>
            <a:r>
              <a:rPr lang="en-US" altLang="zh-CN" dirty="0"/>
              <a:t>1 </a:t>
            </a:r>
            <a:r>
              <a:rPr lang="zh-CN" altLang="en-US" dirty="0"/>
              <a:t>个客户端 </a:t>
            </a:r>
            <a:r>
              <a:rPr lang="en-US" altLang="zh-CN" i="1" dirty="0"/>
              <a:t>d </a:t>
            </a:r>
            <a:r>
              <a:rPr lang="en-US" altLang="zh-CN" dirty="0"/>
              <a:t>= 2Mbps</a:t>
            </a:r>
          </a:p>
          <a:p>
            <a:r>
              <a:rPr lang="zh-CN" altLang="en-US" dirty="0"/>
              <a:t>文件 </a:t>
            </a:r>
            <a:r>
              <a:rPr lang="en-US" altLang="zh-CN" i="1" dirty="0"/>
              <a:t>F </a:t>
            </a:r>
            <a:r>
              <a:rPr lang="en-US" altLang="zh-CN" dirty="0"/>
              <a:t>= 15Gb</a:t>
            </a:r>
          </a:p>
          <a:p>
            <a:r>
              <a:rPr lang="zh-CN" altLang="en-US" dirty="0"/>
              <a:t>则：</a:t>
            </a:r>
          </a:p>
          <a:p>
            <a:pPr lvl="1"/>
            <a:r>
              <a:rPr lang="zh-CN" altLang="en-US" dirty="0"/>
              <a:t>服务器总上传时间：</a:t>
            </a:r>
            <a:r>
              <a:rPr lang="en-US" altLang="zh-CN" dirty="0"/>
              <a:t>10×15Gb/30Mbps=5000s</a:t>
            </a:r>
          </a:p>
          <a:p>
            <a:pPr lvl="1"/>
            <a:r>
              <a:rPr lang="zh-CN" altLang="en-US" dirty="0"/>
              <a:t>最慢客户端下载时间：</a:t>
            </a:r>
            <a:r>
              <a:rPr lang="en-US" altLang="zh-CN" dirty="0"/>
              <a:t>15Gb/2Mbps=7500s</a:t>
            </a:r>
          </a:p>
          <a:p>
            <a:pPr lvl="1"/>
            <a:r>
              <a:rPr lang="zh-CN" altLang="en-US" dirty="0"/>
              <a:t>整体完成时间 </a:t>
            </a:r>
            <a:r>
              <a:rPr lang="en-US" altLang="zh-CN" dirty="0"/>
              <a:t>= max(5000s, 7500 s) = 7500s</a:t>
            </a:r>
            <a:r>
              <a:rPr lang="zh-CN" altLang="en-US" dirty="0"/>
              <a:t>，因为那个慢客户端拖后腿</a:t>
            </a:r>
          </a:p>
        </p:txBody>
      </p:sp>
    </p:spTree>
    <p:extLst>
      <p:ext uri="{BB962C8B-B14F-4D97-AF65-F5344CB8AC3E}">
        <p14:creationId xmlns:p14="http://schemas.microsoft.com/office/powerpoint/2010/main" val="14612439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2BF84F3-F739-07DA-D341-DB7E8727DFB0}"/>
              </a:ext>
            </a:extLst>
          </p:cNvPr>
          <p:cNvSpPr>
            <a:spLocks noGrp="1"/>
          </p:cNvSpPr>
          <p:nvPr>
            <p:ph type="title"/>
          </p:nvPr>
        </p:nvSpPr>
        <p:spPr>
          <a:xfrm>
            <a:off x="485999" y="174482"/>
            <a:ext cx="8171999" cy="338554"/>
          </a:xfrm>
        </p:spPr>
        <p:txBody>
          <a:bodyPr/>
          <a:lstStyle/>
          <a:p>
            <a:r>
              <a:rPr lang="en-US" altLang="zh-CN" dirty="0"/>
              <a:t>6.9.3  </a:t>
            </a:r>
            <a:r>
              <a:rPr lang="zh-CN" altLang="en-US" dirty="0"/>
              <a:t>文件分发 </a:t>
            </a:r>
            <a:r>
              <a:rPr lang="en-US" altLang="zh-CN" dirty="0"/>
              <a:t>- P2P</a:t>
            </a:r>
            <a:endParaRPr lang="zh-CN" altLang="en-US" dirty="0"/>
          </a:p>
        </p:txBody>
      </p:sp>
      <p:sp>
        <p:nvSpPr>
          <p:cNvPr id="8" name="内容占位符 7">
            <a:extLst>
              <a:ext uri="{FF2B5EF4-FFF2-40B4-BE49-F238E27FC236}">
                <a16:creationId xmlns:a16="http://schemas.microsoft.com/office/drawing/2014/main" id="{7B203C10-B39F-5475-67AB-31BEA611A652}"/>
              </a:ext>
            </a:extLst>
          </p:cNvPr>
          <p:cNvSpPr>
            <a:spLocks noGrp="1"/>
          </p:cNvSpPr>
          <p:nvPr>
            <p:ph sz="quarter" idx="11"/>
          </p:nvPr>
        </p:nvSpPr>
        <p:spPr>
          <a:xfrm>
            <a:off x="486000" y="687518"/>
            <a:ext cx="8172000" cy="4079035"/>
          </a:xfrm>
        </p:spPr>
        <p:txBody>
          <a:bodyPr/>
          <a:lstStyle/>
          <a:p>
            <a:r>
              <a:rPr lang="zh-CN" altLang="en-US" dirty="0"/>
              <a:t>服务器：文件分发的最少时间 </a:t>
            </a:r>
            <a:r>
              <a:rPr lang="en-US" altLang="zh-CN" i="1" dirty="0"/>
              <a:t>F</a:t>
            </a:r>
            <a:r>
              <a:rPr lang="en-US" altLang="zh-CN" dirty="0"/>
              <a:t>/</a:t>
            </a:r>
            <a:r>
              <a:rPr lang="en-US" altLang="zh-CN" i="1" dirty="0"/>
              <a:t>u</a:t>
            </a:r>
            <a:r>
              <a:rPr lang="en-US" altLang="zh-CN" baseline="-25000" dirty="0"/>
              <a:t>s</a:t>
            </a:r>
            <a:r>
              <a:rPr lang="en-US" altLang="zh-CN" dirty="0"/>
              <a:t> </a:t>
            </a:r>
            <a:endParaRPr lang="zh-CN" altLang="en-US" dirty="0"/>
          </a:p>
          <a:p>
            <a:r>
              <a:rPr lang="zh-CN" altLang="en-US" dirty="0"/>
              <a:t>最慢主机：下载文件的最少时间 </a:t>
            </a:r>
            <a:r>
              <a:rPr lang="en-US" altLang="zh-CN" i="1" dirty="0"/>
              <a:t>F</a:t>
            </a:r>
            <a:r>
              <a:rPr lang="en-US" altLang="zh-CN" dirty="0"/>
              <a:t>/</a:t>
            </a:r>
            <a:r>
              <a:rPr lang="en-US" altLang="zh-CN" i="1" dirty="0" err="1"/>
              <a:t>d</a:t>
            </a:r>
            <a:r>
              <a:rPr lang="en-US" altLang="zh-CN" baseline="-25000" dirty="0" err="1"/>
              <a:t>min</a:t>
            </a:r>
            <a:r>
              <a:rPr lang="en-US" altLang="zh-CN" dirty="0"/>
              <a:t> </a:t>
            </a:r>
          </a:p>
          <a:p>
            <a:r>
              <a:rPr lang="zh-CN" altLang="en-US" dirty="0"/>
              <a:t>要让 </a:t>
            </a:r>
            <a:r>
              <a:rPr lang="en-US" altLang="zh-CN" i="1" dirty="0"/>
              <a:t>N </a:t>
            </a:r>
            <a:r>
              <a:rPr lang="zh-CN" altLang="en-US" dirty="0"/>
              <a:t>个主机都收到完整的文件 </a:t>
            </a:r>
            <a:r>
              <a:rPr lang="en-US" altLang="zh-CN" i="1" dirty="0"/>
              <a:t>F</a:t>
            </a:r>
            <a:r>
              <a:rPr lang="zh-CN" altLang="en-US" dirty="0"/>
              <a:t>，整个系统至少需要产生 </a:t>
            </a:r>
            <a:r>
              <a:rPr lang="en-US" altLang="zh-CN" i="1" dirty="0"/>
              <a:t>NF</a:t>
            </a:r>
            <a:r>
              <a:rPr lang="en-US" altLang="zh-CN" dirty="0"/>
              <a:t>  </a:t>
            </a:r>
            <a:r>
              <a:rPr lang="zh-CN" altLang="en-US" dirty="0"/>
              <a:t>的数据量</a:t>
            </a:r>
            <a:endParaRPr lang="en-US" altLang="zh-CN" dirty="0"/>
          </a:p>
          <a:p>
            <a:pPr lvl="1"/>
            <a:r>
              <a:rPr lang="zh-CN" altLang="en-US" dirty="0"/>
              <a:t>所有主机都可参与上传 </a:t>
            </a:r>
            <a:r>
              <a:rPr lang="en-US" altLang="zh-CN" dirty="0"/>
              <a:t>-</a:t>
            </a:r>
            <a:r>
              <a:rPr lang="zh-CN" altLang="en-US" dirty="0"/>
              <a:t> </a:t>
            </a:r>
            <a:r>
              <a:rPr lang="zh-CN" altLang="en-US" b="1" dirty="0">
                <a:solidFill>
                  <a:srgbClr val="FF0000"/>
                </a:solidFill>
              </a:rPr>
              <a:t>多个数据源</a:t>
            </a:r>
            <a:r>
              <a:rPr lang="zh-CN" altLang="en-US" dirty="0"/>
              <a:t>，系统总上传能力为服务器和各主机上传能力之和</a:t>
            </a:r>
            <a:endParaRPr lang="en-US" altLang="zh-CN" dirty="0"/>
          </a:p>
          <a:p>
            <a:pPr lvl="1"/>
            <a:r>
              <a:rPr lang="en-US" altLang="zh-CN" i="1" dirty="0" err="1"/>
              <a:t>u</a:t>
            </a:r>
            <a:r>
              <a:rPr lang="en-US" altLang="zh-CN" baseline="-25000" dirty="0" err="1"/>
              <a:t>T</a:t>
            </a:r>
            <a:r>
              <a:rPr lang="en-US" altLang="zh-CN" dirty="0"/>
              <a:t> = </a:t>
            </a:r>
            <a:r>
              <a:rPr lang="en-US" altLang="zh-CN" i="1" dirty="0"/>
              <a:t>u</a:t>
            </a:r>
            <a:r>
              <a:rPr lang="en-US" altLang="zh-CN" baseline="-25000" dirty="0"/>
              <a:t>s</a:t>
            </a:r>
            <a:r>
              <a:rPr lang="en-US" altLang="zh-CN" dirty="0"/>
              <a:t> + </a:t>
            </a:r>
            <a:r>
              <a:rPr lang="en-US" altLang="zh-CN" i="1" dirty="0"/>
              <a:t>u</a:t>
            </a:r>
            <a:r>
              <a:rPr lang="en-US" altLang="zh-CN" baseline="-25000" dirty="0"/>
              <a:t>1</a:t>
            </a:r>
            <a:r>
              <a:rPr lang="en-US" altLang="zh-CN" dirty="0"/>
              <a:t> + </a:t>
            </a:r>
            <a:r>
              <a:rPr lang="en-US" altLang="zh-CN" i="1" dirty="0"/>
              <a:t>u</a:t>
            </a:r>
            <a:r>
              <a:rPr lang="en-US" altLang="zh-CN" baseline="-25000" dirty="0"/>
              <a:t>2</a:t>
            </a:r>
            <a:r>
              <a:rPr lang="en-US" altLang="zh-CN" dirty="0"/>
              <a:t> + … +</a:t>
            </a:r>
            <a:r>
              <a:rPr lang="en-US" altLang="zh-CN" i="1" dirty="0" err="1"/>
              <a:t>u</a:t>
            </a:r>
            <a:r>
              <a:rPr lang="en-US" altLang="zh-CN" baseline="-25000" dirty="0" err="1"/>
              <a:t>N</a:t>
            </a:r>
            <a:endParaRPr lang="zh-CN" altLang="en-US" baseline="-25000" dirty="0"/>
          </a:p>
          <a:p>
            <a:pPr lvl="1"/>
            <a:r>
              <a:rPr lang="zh-CN" altLang="en-US" dirty="0"/>
              <a:t>上传文件分发的最少时间不可能小于 </a:t>
            </a:r>
            <a:r>
              <a:rPr lang="en-US" altLang="zh-CN" i="1" dirty="0"/>
              <a:t>NF</a:t>
            </a:r>
            <a:r>
              <a:rPr lang="en-US" altLang="zh-CN" dirty="0"/>
              <a:t>/</a:t>
            </a:r>
            <a:r>
              <a:rPr lang="en-US" altLang="zh-CN" i="1" dirty="0" err="1"/>
              <a:t>u</a:t>
            </a:r>
            <a:r>
              <a:rPr lang="en-US" altLang="zh-CN" baseline="-25000" dirty="0" err="1"/>
              <a:t>T</a:t>
            </a:r>
            <a:r>
              <a:rPr lang="en-US" altLang="zh-CN" dirty="0"/>
              <a:t> </a:t>
            </a:r>
          </a:p>
          <a:p>
            <a:r>
              <a:rPr lang="zh-CN" altLang="en-US" dirty="0"/>
              <a:t>所有主机都下载完文件 </a:t>
            </a:r>
            <a:r>
              <a:rPr lang="en-US" altLang="zh-CN" i="1" dirty="0"/>
              <a:t>F</a:t>
            </a:r>
            <a:r>
              <a:rPr lang="en-US" altLang="zh-CN" dirty="0"/>
              <a:t>  </a:t>
            </a:r>
            <a:r>
              <a:rPr lang="zh-CN" altLang="en-US" dirty="0"/>
              <a:t>的最少时间的下限</a:t>
            </a:r>
          </a:p>
          <a:p>
            <a:endParaRPr lang="zh-CN" altLang="en-US" dirty="0"/>
          </a:p>
        </p:txBody>
      </p:sp>
      <p:sp>
        <p:nvSpPr>
          <p:cNvPr id="14" name="文本框 13">
            <a:extLst>
              <a:ext uri="{FF2B5EF4-FFF2-40B4-BE49-F238E27FC236}">
                <a16:creationId xmlns:a16="http://schemas.microsoft.com/office/drawing/2014/main" id="{45C7BC58-D0B2-EF01-E710-5B9919312D23}"/>
              </a:ext>
            </a:extLst>
          </p:cNvPr>
          <p:cNvSpPr txBox="1"/>
          <p:nvPr/>
        </p:nvSpPr>
        <p:spPr>
          <a:xfrm>
            <a:off x="2715498" y="2884180"/>
            <a:ext cx="3713004" cy="400110"/>
          </a:xfrm>
          <a:prstGeom prst="rect">
            <a:avLst/>
          </a:prstGeom>
          <a:solidFill>
            <a:schemeClr val="bg1">
              <a:lumMod val="95000"/>
            </a:schemeClr>
          </a:solidFill>
        </p:spPr>
        <p:txBody>
          <a:bodyPr wrap="none" rtlCol="0">
            <a:spAutoFit/>
          </a:bodyPr>
          <a:lstStyle/>
          <a:p>
            <a:pPr algn="ctr"/>
            <a:r>
              <a:rPr lang="en-US" altLang="zh-CN" sz="2000" i="1" dirty="0">
                <a:latin typeface="Times New Roman" panose="02020603050405020304" pitchFamily="18" charset="0"/>
                <a:ea typeface="微软雅黑 Light" panose="020B0502040204020203" pitchFamily="34" charset="-122"/>
                <a:cs typeface="Times New Roman" panose="02020603050405020304" pitchFamily="18" charset="0"/>
              </a:rPr>
              <a:t>T</a:t>
            </a:r>
            <a:r>
              <a:rPr lang="en-US" altLang="zh-CN" sz="2000" baseline="-25000" dirty="0">
                <a:latin typeface="Times New Roman" panose="02020603050405020304" pitchFamily="18" charset="0"/>
                <a:ea typeface="微软雅黑 Light" panose="020B0502040204020203" pitchFamily="34" charset="-122"/>
                <a:cs typeface="Times New Roman" panose="02020603050405020304" pitchFamily="18" charset="0"/>
              </a:rPr>
              <a:t>p2p</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 ≥ max(</a:t>
            </a:r>
            <a:r>
              <a:rPr lang="zh-CN" altLang="en-US" sz="2000" dirty="0">
                <a:latin typeface="Times New Roman" panose="02020603050405020304" pitchFamily="18" charset="0"/>
                <a:ea typeface="微软雅黑 Light" panose="020B0502040204020203" pitchFamily="34" charset="-122"/>
                <a:cs typeface="Times New Roman" panose="02020603050405020304" pitchFamily="18" charset="0"/>
              </a:rPr>
              <a:t> </a:t>
            </a:r>
            <a:r>
              <a:rPr lang="en-US" altLang="zh-CN" sz="2000" i="1" dirty="0">
                <a:latin typeface="Times New Roman" panose="02020603050405020304" pitchFamily="18" charset="0"/>
                <a:ea typeface="微软雅黑 Light" panose="020B0502040204020203" pitchFamily="34" charset="-122"/>
                <a:cs typeface="Times New Roman" panose="02020603050405020304" pitchFamily="18" charset="0"/>
              </a:rPr>
              <a:t>F</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a:t>
            </a:r>
            <a:r>
              <a:rPr lang="en-US" altLang="zh-CN" sz="2000" i="1" dirty="0">
                <a:latin typeface="Times New Roman" panose="02020603050405020304" pitchFamily="18" charset="0"/>
                <a:ea typeface="微软雅黑 Light" panose="020B0502040204020203" pitchFamily="34" charset="-122"/>
                <a:cs typeface="Times New Roman" panose="02020603050405020304" pitchFamily="18" charset="0"/>
              </a:rPr>
              <a:t>u</a:t>
            </a:r>
            <a:r>
              <a:rPr lang="en-US" altLang="zh-CN" sz="2000" baseline="-25000" dirty="0">
                <a:latin typeface="Times New Roman" panose="02020603050405020304" pitchFamily="18" charset="0"/>
                <a:ea typeface="微软雅黑 Light" panose="020B0502040204020203" pitchFamily="34" charset="-122"/>
                <a:cs typeface="Times New Roman" panose="02020603050405020304" pitchFamily="18" charset="0"/>
              </a:rPr>
              <a:t>s</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 , </a:t>
            </a:r>
            <a:r>
              <a:rPr lang="zh-CN" altLang="en-US" sz="2000" dirty="0">
                <a:latin typeface="Times New Roman" panose="02020603050405020304" pitchFamily="18" charset="0"/>
                <a:ea typeface="微软雅黑 Light" panose="020B0502040204020203" pitchFamily="34" charset="-122"/>
                <a:cs typeface="Times New Roman" panose="02020603050405020304" pitchFamily="18" charset="0"/>
              </a:rPr>
              <a:t> </a:t>
            </a:r>
            <a:r>
              <a:rPr lang="en-US" altLang="zh-CN" sz="2000" i="1" dirty="0">
                <a:latin typeface="Times New Roman" panose="02020603050405020304" pitchFamily="18" charset="0"/>
                <a:ea typeface="微软雅黑 Light" panose="020B0502040204020203" pitchFamily="34" charset="-122"/>
                <a:cs typeface="Times New Roman" panose="02020603050405020304" pitchFamily="18" charset="0"/>
              </a:rPr>
              <a:t>F</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a:t>
            </a:r>
            <a:r>
              <a:rPr lang="en-US" altLang="zh-CN" sz="2000" i="1" dirty="0" err="1">
                <a:latin typeface="Times New Roman" panose="02020603050405020304" pitchFamily="18" charset="0"/>
                <a:ea typeface="微软雅黑 Light" panose="020B0502040204020203" pitchFamily="34" charset="-122"/>
                <a:cs typeface="Times New Roman" panose="02020603050405020304" pitchFamily="18" charset="0"/>
              </a:rPr>
              <a:t>d</a:t>
            </a:r>
            <a:r>
              <a:rPr lang="en-US" altLang="zh-CN" sz="2000" baseline="-25000" dirty="0" err="1">
                <a:latin typeface="Times New Roman" panose="02020603050405020304" pitchFamily="18" charset="0"/>
                <a:ea typeface="微软雅黑 Light" panose="020B0502040204020203" pitchFamily="34" charset="-122"/>
                <a:cs typeface="Times New Roman" panose="02020603050405020304" pitchFamily="18" charset="0"/>
              </a:rPr>
              <a:t>min</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 </a:t>
            </a:r>
            <a:r>
              <a:rPr lang="zh-CN" altLang="en-US" sz="2000" dirty="0">
                <a:latin typeface="Times New Roman" panose="02020603050405020304" pitchFamily="18" charset="0"/>
                <a:ea typeface="微软雅黑 Light" panose="020B0502040204020203" pitchFamily="34" charset="-122"/>
                <a:cs typeface="Times New Roman" panose="02020603050405020304" pitchFamily="18" charset="0"/>
              </a:rPr>
              <a:t> </a:t>
            </a:r>
            <a:r>
              <a:rPr lang="en-US" altLang="zh-CN" sz="2000" i="1" dirty="0">
                <a:latin typeface="Times New Roman" panose="02020603050405020304" pitchFamily="18" charset="0"/>
                <a:ea typeface="微软雅黑 Light" panose="020B0502040204020203" pitchFamily="34" charset="-122"/>
                <a:cs typeface="Times New Roman" panose="02020603050405020304" pitchFamily="18" charset="0"/>
              </a:rPr>
              <a:t>NF</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a:t>
            </a:r>
            <a:r>
              <a:rPr lang="en-US" altLang="zh-CN" sz="2000" i="1" dirty="0" err="1">
                <a:latin typeface="Times New Roman" panose="02020603050405020304" pitchFamily="18" charset="0"/>
                <a:ea typeface="微软雅黑 Light" panose="020B0502040204020203" pitchFamily="34" charset="-122"/>
                <a:cs typeface="Times New Roman" panose="02020603050405020304" pitchFamily="18" charset="0"/>
              </a:rPr>
              <a:t>u</a:t>
            </a:r>
            <a:r>
              <a:rPr lang="en-US" altLang="zh-CN" sz="2000" baseline="-25000" dirty="0" err="1">
                <a:latin typeface="Times New Roman" panose="02020603050405020304" pitchFamily="18" charset="0"/>
                <a:ea typeface="微软雅黑 Light" panose="020B0502040204020203" pitchFamily="34" charset="-122"/>
                <a:cs typeface="Times New Roman" panose="02020603050405020304" pitchFamily="18" charset="0"/>
              </a:rPr>
              <a:t>T</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 )</a:t>
            </a:r>
            <a:endParaRPr lang="zh-CN" altLang="en-US" sz="2000" dirty="0">
              <a:latin typeface="Times New Roman" panose="02020603050405020304" pitchFamily="18" charset="0"/>
              <a:ea typeface="微软雅黑 Light" panose="020B0502040204020203" pitchFamily="34" charset="-122"/>
              <a:cs typeface="Times New Roman" panose="02020603050405020304" pitchFamily="18" charset="0"/>
            </a:endParaRPr>
          </a:p>
        </p:txBody>
      </p:sp>
      <p:cxnSp>
        <p:nvCxnSpPr>
          <p:cNvPr id="20" name="直接箭头连接符 19">
            <a:extLst>
              <a:ext uri="{FF2B5EF4-FFF2-40B4-BE49-F238E27FC236}">
                <a16:creationId xmlns:a16="http://schemas.microsoft.com/office/drawing/2014/main" id="{837A2E42-46D6-397E-F418-1028FC27251C}"/>
              </a:ext>
            </a:extLst>
          </p:cNvPr>
          <p:cNvCxnSpPr>
            <a:cxnSpLocks/>
          </p:cNvCxnSpPr>
          <p:nvPr/>
        </p:nvCxnSpPr>
        <p:spPr>
          <a:xfrm>
            <a:off x="4250131" y="3416197"/>
            <a:ext cx="0" cy="21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E92993D7-602D-8FD0-39C8-516878AF6C1A}"/>
              </a:ext>
            </a:extLst>
          </p:cNvPr>
          <p:cNvCxnSpPr>
            <a:cxnSpLocks/>
          </p:cNvCxnSpPr>
          <p:nvPr/>
        </p:nvCxnSpPr>
        <p:spPr>
          <a:xfrm>
            <a:off x="4921909" y="3416197"/>
            <a:ext cx="0" cy="468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直接箭头连接符 21">
            <a:extLst>
              <a:ext uri="{FF2B5EF4-FFF2-40B4-BE49-F238E27FC236}">
                <a16:creationId xmlns:a16="http://schemas.microsoft.com/office/drawing/2014/main" id="{C6DF82AC-AAFE-0721-27D3-FE5288E37FF9}"/>
              </a:ext>
            </a:extLst>
          </p:cNvPr>
          <p:cNvCxnSpPr>
            <a:cxnSpLocks/>
          </p:cNvCxnSpPr>
          <p:nvPr/>
        </p:nvCxnSpPr>
        <p:spPr>
          <a:xfrm>
            <a:off x="5761935" y="3416197"/>
            <a:ext cx="0" cy="828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3" name="文本框 22">
            <a:extLst>
              <a:ext uri="{FF2B5EF4-FFF2-40B4-BE49-F238E27FC236}">
                <a16:creationId xmlns:a16="http://schemas.microsoft.com/office/drawing/2014/main" id="{8A2D3309-7288-D565-31FF-2E6C0E1549BD}"/>
              </a:ext>
            </a:extLst>
          </p:cNvPr>
          <p:cNvSpPr txBox="1"/>
          <p:nvPr/>
        </p:nvSpPr>
        <p:spPr>
          <a:xfrm>
            <a:off x="3929171" y="3621023"/>
            <a:ext cx="646331" cy="276999"/>
          </a:xfrm>
          <a:prstGeom prst="rect">
            <a:avLst/>
          </a:prstGeom>
          <a:noFill/>
        </p:spPr>
        <p:txBody>
          <a:bodyPr wrap="none" rtlCol="0">
            <a:spAutoFit/>
          </a:bodyPr>
          <a:lstStyle/>
          <a:p>
            <a:pPr algn="l"/>
            <a:r>
              <a:rPr lang="zh-CN" altLang="en-US" sz="1200" dirty="0">
                <a:latin typeface="Montserrat" panose="00000500000000000000" pitchFamily="2" charset="0"/>
                <a:ea typeface="微软雅黑 Light" panose="020B0502040204020203" pitchFamily="34" charset="-122"/>
              </a:rPr>
              <a:t>源瓶颈</a:t>
            </a:r>
          </a:p>
        </p:txBody>
      </p:sp>
      <p:sp>
        <p:nvSpPr>
          <p:cNvPr id="24" name="文本框 23">
            <a:extLst>
              <a:ext uri="{FF2B5EF4-FFF2-40B4-BE49-F238E27FC236}">
                <a16:creationId xmlns:a16="http://schemas.microsoft.com/office/drawing/2014/main" id="{97DAE0BC-30B9-843D-EBD3-D70C06DF2FC5}"/>
              </a:ext>
            </a:extLst>
          </p:cNvPr>
          <p:cNvSpPr txBox="1"/>
          <p:nvPr/>
        </p:nvSpPr>
        <p:spPr>
          <a:xfrm>
            <a:off x="4447734" y="3931429"/>
            <a:ext cx="954107" cy="276999"/>
          </a:xfrm>
          <a:prstGeom prst="rect">
            <a:avLst/>
          </a:prstGeom>
          <a:noFill/>
        </p:spPr>
        <p:txBody>
          <a:bodyPr wrap="none" rtlCol="0">
            <a:spAutoFit/>
          </a:bodyPr>
          <a:lstStyle/>
          <a:p>
            <a:pPr algn="l"/>
            <a:r>
              <a:rPr lang="zh-CN" altLang="en-US" sz="1200" dirty="0">
                <a:latin typeface="Montserrat" panose="00000500000000000000" pitchFamily="2" charset="0"/>
                <a:ea typeface="微软雅黑 Light" panose="020B0502040204020203" pitchFamily="34" charset="-122"/>
              </a:rPr>
              <a:t>接收者瓶颈</a:t>
            </a:r>
          </a:p>
        </p:txBody>
      </p:sp>
      <p:sp>
        <p:nvSpPr>
          <p:cNvPr id="25" name="文本框 24">
            <a:extLst>
              <a:ext uri="{FF2B5EF4-FFF2-40B4-BE49-F238E27FC236}">
                <a16:creationId xmlns:a16="http://schemas.microsoft.com/office/drawing/2014/main" id="{DAF7BD9A-FA8F-026F-5B04-FC6A85F0B6C8}"/>
              </a:ext>
            </a:extLst>
          </p:cNvPr>
          <p:cNvSpPr txBox="1"/>
          <p:nvPr/>
        </p:nvSpPr>
        <p:spPr>
          <a:xfrm>
            <a:off x="5059237" y="4241835"/>
            <a:ext cx="1415772" cy="276999"/>
          </a:xfrm>
          <a:prstGeom prst="rect">
            <a:avLst/>
          </a:prstGeom>
          <a:noFill/>
        </p:spPr>
        <p:txBody>
          <a:bodyPr wrap="none" rtlCol="0">
            <a:spAutoFit/>
          </a:bodyPr>
          <a:lstStyle/>
          <a:p>
            <a:pPr algn="l"/>
            <a:r>
              <a:rPr lang="zh-CN" altLang="en-US" sz="1200" dirty="0">
                <a:latin typeface="Montserrat" panose="00000500000000000000" pitchFamily="2" charset="0"/>
                <a:ea typeface="微软雅黑 Light" panose="020B0502040204020203" pitchFamily="34" charset="-122"/>
              </a:rPr>
              <a:t>系统上传能力瓶颈</a:t>
            </a:r>
          </a:p>
        </p:txBody>
      </p:sp>
    </p:spTree>
    <p:extLst>
      <p:ext uri="{BB962C8B-B14F-4D97-AF65-F5344CB8AC3E}">
        <p14:creationId xmlns:p14="http://schemas.microsoft.com/office/powerpoint/2010/main" val="37433967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78C11E7-83D5-88BB-46F1-4D9EB936CEB7}"/>
              </a:ext>
            </a:extLst>
          </p:cNvPr>
          <p:cNvSpPr>
            <a:spLocks noGrp="1"/>
          </p:cNvSpPr>
          <p:nvPr>
            <p:ph type="title"/>
          </p:nvPr>
        </p:nvSpPr>
        <p:spPr>
          <a:xfrm>
            <a:off x="485999" y="174482"/>
            <a:ext cx="8171999" cy="338554"/>
          </a:xfrm>
        </p:spPr>
        <p:txBody>
          <a:bodyPr/>
          <a:lstStyle/>
          <a:p>
            <a:r>
              <a:rPr lang="en-US" altLang="zh-CN" dirty="0"/>
              <a:t>6.9.3  </a:t>
            </a:r>
            <a:r>
              <a:rPr lang="zh-CN" altLang="en-US" dirty="0"/>
              <a:t>文件分发 </a:t>
            </a:r>
            <a:r>
              <a:rPr lang="en-US" altLang="zh-CN" dirty="0"/>
              <a:t>- </a:t>
            </a:r>
            <a:r>
              <a:rPr lang="zh-CN" altLang="en-US" dirty="0"/>
              <a:t>时间比较</a:t>
            </a:r>
          </a:p>
        </p:txBody>
      </p:sp>
      <p:sp>
        <p:nvSpPr>
          <p:cNvPr id="8" name="内容占位符 7">
            <a:extLst>
              <a:ext uri="{FF2B5EF4-FFF2-40B4-BE49-F238E27FC236}">
                <a16:creationId xmlns:a16="http://schemas.microsoft.com/office/drawing/2014/main" id="{0B01E838-F66B-9CA8-63B7-A26812A732B4}"/>
              </a:ext>
            </a:extLst>
          </p:cNvPr>
          <p:cNvSpPr>
            <a:spLocks noGrp="1"/>
          </p:cNvSpPr>
          <p:nvPr>
            <p:ph sz="quarter" idx="11"/>
          </p:nvPr>
        </p:nvSpPr>
        <p:spPr>
          <a:xfrm>
            <a:off x="486000" y="687518"/>
            <a:ext cx="8172000" cy="4079035"/>
          </a:xfrm>
        </p:spPr>
        <p:txBody>
          <a:bodyPr/>
          <a:lstStyle/>
          <a:p>
            <a:r>
              <a:rPr lang="zh-CN" altLang="en-US" dirty="0"/>
              <a:t>设所有的对等方的上传速率都是 </a:t>
            </a:r>
            <a:r>
              <a:rPr lang="en-US" altLang="zh-CN" i="1" dirty="0"/>
              <a:t>u</a:t>
            </a:r>
            <a:r>
              <a:rPr lang="zh-CN" altLang="en-US" dirty="0"/>
              <a:t>，并且 </a:t>
            </a:r>
            <a:r>
              <a:rPr lang="en-US" altLang="zh-CN" i="1" dirty="0"/>
              <a:t>F</a:t>
            </a:r>
            <a:r>
              <a:rPr lang="en-US" altLang="zh-CN" dirty="0"/>
              <a:t>/</a:t>
            </a:r>
            <a:r>
              <a:rPr lang="en-US" altLang="zh-CN" i="1" dirty="0"/>
              <a:t>u</a:t>
            </a:r>
            <a:r>
              <a:rPr lang="en-US" altLang="zh-CN" dirty="0"/>
              <a:t> = 1 </a:t>
            </a:r>
            <a:r>
              <a:rPr lang="zh-CN" altLang="en-US" dirty="0"/>
              <a:t>小时</a:t>
            </a:r>
            <a:endParaRPr lang="en-US" altLang="zh-CN" dirty="0"/>
          </a:p>
          <a:p>
            <a:r>
              <a:rPr lang="zh-CN" altLang="en-US" dirty="0"/>
              <a:t>设服务器的上传速率 </a:t>
            </a:r>
            <a:r>
              <a:rPr lang="en-US" altLang="zh-CN" i="1" dirty="0"/>
              <a:t>u</a:t>
            </a:r>
            <a:r>
              <a:rPr lang="en-US" altLang="zh-CN" baseline="-25000" dirty="0"/>
              <a:t>s</a:t>
            </a:r>
            <a:r>
              <a:rPr lang="en-US" altLang="zh-CN" dirty="0"/>
              <a:t> = 10</a:t>
            </a:r>
            <a:r>
              <a:rPr lang="en-US" altLang="zh-CN" i="1" dirty="0"/>
              <a:t>u</a:t>
            </a:r>
          </a:p>
          <a:p>
            <a:r>
              <a:rPr lang="zh-CN" altLang="en-US" dirty="0"/>
              <a:t>当 </a:t>
            </a:r>
            <a:r>
              <a:rPr lang="en-US" altLang="zh-CN" i="1" dirty="0"/>
              <a:t>N</a:t>
            </a:r>
            <a:r>
              <a:rPr lang="en-US" altLang="zh-CN" dirty="0"/>
              <a:t> = 30</a:t>
            </a:r>
          </a:p>
          <a:p>
            <a:pPr lvl="1"/>
            <a:r>
              <a:rPr lang="en-US" altLang="zh-CN" dirty="0"/>
              <a:t>C/S</a:t>
            </a:r>
            <a:r>
              <a:rPr lang="zh-CN" altLang="en-US" dirty="0"/>
              <a:t>：最少时间是 </a:t>
            </a:r>
            <a:r>
              <a:rPr lang="en-US" altLang="zh-CN" dirty="0"/>
              <a:t>3 </a:t>
            </a:r>
            <a:r>
              <a:rPr lang="zh-CN" altLang="en-US" dirty="0"/>
              <a:t>小时</a:t>
            </a:r>
          </a:p>
          <a:p>
            <a:pPr lvl="1"/>
            <a:r>
              <a:rPr lang="en-US" altLang="zh-CN" dirty="0"/>
              <a:t>P2P</a:t>
            </a:r>
            <a:r>
              <a:rPr lang="zh-CN" altLang="en-US" dirty="0"/>
              <a:t>：最少时间的下限是 </a:t>
            </a:r>
            <a:r>
              <a:rPr lang="en-US" altLang="zh-CN" dirty="0"/>
              <a:t>0.75 </a:t>
            </a:r>
            <a:r>
              <a:rPr lang="zh-CN" altLang="en-US" dirty="0"/>
              <a:t>小时 </a:t>
            </a:r>
            <a:r>
              <a:rPr lang="en-US" altLang="zh-CN" dirty="0"/>
              <a:t>&lt; 1 </a:t>
            </a:r>
            <a:r>
              <a:rPr lang="zh-CN" altLang="en-US" dirty="0"/>
              <a:t>小时（不管 </a:t>
            </a:r>
            <a:r>
              <a:rPr lang="en-US" altLang="zh-CN" i="1" dirty="0"/>
              <a:t>N</a:t>
            </a:r>
            <a:r>
              <a:rPr lang="en-US" altLang="zh-CN" dirty="0"/>
              <a:t> </a:t>
            </a:r>
            <a:r>
              <a:rPr lang="zh-CN" altLang="en-US" dirty="0"/>
              <a:t>多大）</a:t>
            </a:r>
            <a:endParaRPr lang="en-US" altLang="zh-CN" dirty="0"/>
          </a:p>
          <a:p>
            <a:endParaRPr lang="zh-CN" altLang="en-US" dirty="0"/>
          </a:p>
        </p:txBody>
      </p:sp>
    </p:spTree>
    <p:extLst>
      <p:ext uri="{BB962C8B-B14F-4D97-AF65-F5344CB8AC3E}">
        <p14:creationId xmlns:p14="http://schemas.microsoft.com/office/powerpoint/2010/main" val="38737194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823D81-E1AD-F8DC-2FE4-BEEC93F82FA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B31847B-6261-84CA-B158-2EEED0FB843D}"/>
              </a:ext>
            </a:extLst>
          </p:cNvPr>
          <p:cNvSpPr>
            <a:spLocks noGrp="1"/>
          </p:cNvSpPr>
          <p:nvPr>
            <p:ph type="title"/>
          </p:nvPr>
        </p:nvSpPr>
        <p:spPr/>
        <p:txBody>
          <a:bodyPr/>
          <a:lstStyle/>
          <a:p>
            <a:r>
              <a:rPr lang="en-US" altLang="zh-CN" dirty="0"/>
              <a:t>P333 6-51</a:t>
            </a:r>
            <a:endParaRPr lang="zh-CN" altLang="en-US" dirty="0"/>
          </a:p>
        </p:txBody>
      </p:sp>
      <p:sp>
        <p:nvSpPr>
          <p:cNvPr id="3" name="内容占位符 2">
            <a:extLst>
              <a:ext uri="{FF2B5EF4-FFF2-40B4-BE49-F238E27FC236}">
                <a16:creationId xmlns:a16="http://schemas.microsoft.com/office/drawing/2014/main" id="{00BE96BE-BDEA-15AF-A8C8-F8D761B9D4DB}"/>
              </a:ext>
            </a:extLst>
          </p:cNvPr>
          <p:cNvSpPr>
            <a:spLocks noGrp="1"/>
          </p:cNvSpPr>
          <p:nvPr>
            <p:ph sz="quarter" idx="11"/>
          </p:nvPr>
        </p:nvSpPr>
        <p:spPr>
          <a:xfrm>
            <a:off x="486000" y="687518"/>
            <a:ext cx="8172000" cy="4079035"/>
          </a:xfrm>
        </p:spPr>
        <p:txBody>
          <a:bodyPr/>
          <a:lstStyle/>
          <a:p>
            <a:r>
              <a:rPr lang="en-US" altLang="zh-CN" i="1" dirty="0"/>
              <a:t>F</a:t>
            </a:r>
            <a:r>
              <a:rPr lang="en-US" altLang="zh-CN" dirty="0"/>
              <a:t> = 15 Gb</a:t>
            </a:r>
          </a:p>
          <a:p>
            <a:r>
              <a:rPr lang="zh-CN" altLang="en-US" dirty="0"/>
              <a:t>服务器 </a:t>
            </a:r>
            <a:r>
              <a:rPr lang="en-US" altLang="zh-CN" i="1" dirty="0"/>
              <a:t>u</a:t>
            </a:r>
            <a:r>
              <a:rPr lang="en-US" altLang="zh-CN" baseline="-25000" dirty="0"/>
              <a:t>s</a:t>
            </a:r>
            <a:r>
              <a:rPr lang="en-US" altLang="zh-CN" dirty="0"/>
              <a:t> = 30 Mbps</a:t>
            </a:r>
          </a:p>
          <a:p>
            <a:r>
              <a:rPr lang="zh-CN" altLang="en-US" dirty="0"/>
              <a:t>对等方 </a:t>
            </a:r>
            <a:r>
              <a:rPr lang="en-US" altLang="zh-CN" i="1" dirty="0"/>
              <a:t>d</a:t>
            </a:r>
            <a:r>
              <a:rPr lang="en-US" altLang="zh-CN" dirty="0"/>
              <a:t> = 2M bps, </a:t>
            </a:r>
            <a:r>
              <a:rPr lang="en-US" altLang="zh-CN" i="1" dirty="0"/>
              <a:t>u</a:t>
            </a:r>
            <a:r>
              <a:rPr lang="en-US" altLang="zh-CN" dirty="0"/>
              <a:t> = 300 Mbps</a:t>
            </a:r>
          </a:p>
          <a:p>
            <a:r>
              <a:rPr lang="en-US" altLang="zh-CN" i="1" dirty="0"/>
              <a:t>N</a:t>
            </a:r>
            <a:r>
              <a:rPr lang="en-US" altLang="zh-CN" dirty="0"/>
              <a:t> =10</a:t>
            </a:r>
          </a:p>
        </p:txBody>
      </p:sp>
      <p:sp>
        <p:nvSpPr>
          <p:cNvPr id="4" name="文本框 3">
            <a:extLst>
              <a:ext uri="{FF2B5EF4-FFF2-40B4-BE49-F238E27FC236}">
                <a16:creationId xmlns:a16="http://schemas.microsoft.com/office/drawing/2014/main" id="{C937B5C7-1E17-C59D-7DCB-E8C35BED43F7}"/>
              </a:ext>
            </a:extLst>
          </p:cNvPr>
          <p:cNvSpPr txBox="1"/>
          <p:nvPr/>
        </p:nvSpPr>
        <p:spPr>
          <a:xfrm>
            <a:off x="486000" y="2626157"/>
            <a:ext cx="3071675" cy="461665"/>
          </a:xfrm>
          <a:prstGeom prst="rect">
            <a:avLst/>
          </a:prstGeom>
          <a:solidFill>
            <a:schemeClr val="bg1">
              <a:lumMod val="95000"/>
            </a:schemeClr>
          </a:solidFill>
        </p:spPr>
        <p:txBody>
          <a:bodyPr wrap="none" rtlCol="0">
            <a:spAutoFit/>
          </a:bodyPr>
          <a:lstStyle/>
          <a:p>
            <a:r>
              <a:rPr lang="en-US" altLang="zh-CN" sz="1200" i="1" dirty="0">
                <a:latin typeface="Montserrat" panose="00000500000000000000" pitchFamily="2" charset="0"/>
                <a:ea typeface="微软雅黑 Light" panose="020B0502040204020203" pitchFamily="34" charset="-122"/>
              </a:rPr>
              <a:t>N</a:t>
            </a:r>
            <a:r>
              <a:rPr lang="en-US" altLang="zh-CN" sz="1200" dirty="0">
                <a:latin typeface="Montserrat" panose="00000500000000000000" pitchFamily="2" charset="0"/>
                <a:ea typeface="微软雅黑 Light" panose="020B0502040204020203" pitchFamily="34" charset="-122"/>
              </a:rPr>
              <a:t> = 10</a:t>
            </a:r>
          </a:p>
          <a:p>
            <a:r>
              <a:rPr lang="en-US" altLang="zh-CN" sz="1200" i="1" dirty="0" err="1">
                <a:latin typeface="Montserrat" panose="00000500000000000000" pitchFamily="2" charset="0"/>
                <a:ea typeface="微软雅黑 Light" panose="020B0502040204020203" pitchFamily="34" charset="-122"/>
              </a:rPr>
              <a:t>T</a:t>
            </a:r>
            <a:r>
              <a:rPr lang="en-US" altLang="zh-CN" sz="1200" baseline="-25000" dirty="0" err="1">
                <a:latin typeface="Montserrat" panose="00000500000000000000" pitchFamily="2" charset="0"/>
                <a:ea typeface="微软雅黑 Light" panose="020B0502040204020203" pitchFamily="34" charset="-122"/>
              </a:rPr>
              <a:t>cs</a:t>
            </a:r>
            <a:r>
              <a:rPr lang="en-US" altLang="zh-CN" sz="1200" dirty="0">
                <a:latin typeface="Montserrat" panose="00000500000000000000" pitchFamily="2" charset="0"/>
                <a:ea typeface="微软雅黑 Light" panose="020B0502040204020203" pitchFamily="34" charset="-122"/>
              </a:rPr>
              <a:t> = 10</a:t>
            </a:r>
            <a:r>
              <a:rPr lang="en-US" altLang="zh-CN" sz="1200" i="1" dirty="0">
                <a:latin typeface="Montserrat" panose="00000500000000000000" pitchFamily="2" charset="0"/>
                <a:ea typeface="微软雅黑 Light" panose="020B0502040204020203" pitchFamily="34" charset="-122"/>
              </a:rPr>
              <a:t>F</a:t>
            </a:r>
            <a:r>
              <a:rPr lang="en-US" altLang="zh-CN" sz="1200" dirty="0">
                <a:latin typeface="Montserrat" panose="00000500000000000000" pitchFamily="2" charset="0"/>
                <a:ea typeface="微软雅黑 Light" panose="020B0502040204020203" pitchFamily="34" charset="-122"/>
              </a:rPr>
              <a:t>/</a:t>
            </a:r>
            <a:r>
              <a:rPr lang="en-US" altLang="zh-CN" sz="1200" i="1" dirty="0">
                <a:latin typeface="Montserrat" panose="00000500000000000000" pitchFamily="2" charset="0"/>
                <a:ea typeface="微软雅黑 Light" panose="020B0502040204020203" pitchFamily="34" charset="-122"/>
              </a:rPr>
              <a:t>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 10*15Gb/30Mbps = 5000s</a:t>
            </a:r>
            <a:endParaRPr lang="zh-CN" altLang="en-US" sz="1200" dirty="0">
              <a:latin typeface="Montserrat" panose="00000500000000000000" pitchFamily="2" charset="0"/>
              <a:ea typeface="微软雅黑 Light" panose="020B0502040204020203" pitchFamily="34" charset="-122"/>
            </a:endParaRPr>
          </a:p>
        </p:txBody>
      </p:sp>
      <p:sp>
        <p:nvSpPr>
          <p:cNvPr id="5" name="文本框 4">
            <a:extLst>
              <a:ext uri="{FF2B5EF4-FFF2-40B4-BE49-F238E27FC236}">
                <a16:creationId xmlns:a16="http://schemas.microsoft.com/office/drawing/2014/main" id="{0E921B5D-6617-2FE2-A174-61C93B247739}"/>
              </a:ext>
            </a:extLst>
          </p:cNvPr>
          <p:cNvSpPr txBox="1"/>
          <p:nvPr/>
        </p:nvSpPr>
        <p:spPr>
          <a:xfrm>
            <a:off x="486000" y="3363773"/>
            <a:ext cx="6341801" cy="1015663"/>
          </a:xfrm>
          <a:prstGeom prst="rect">
            <a:avLst/>
          </a:prstGeom>
          <a:solidFill>
            <a:schemeClr val="bg1">
              <a:lumMod val="95000"/>
            </a:schemeClr>
          </a:solidFill>
        </p:spPr>
        <p:txBody>
          <a:bodyPr wrap="none" rtlCol="0">
            <a:spAutoFit/>
          </a:bodyPr>
          <a:lstStyle/>
          <a:p>
            <a:r>
              <a:rPr lang="en-US" altLang="zh-CN" sz="1200" i="1" dirty="0">
                <a:latin typeface="Montserrat" panose="00000500000000000000" pitchFamily="2" charset="0"/>
                <a:ea typeface="微软雅黑 Light" panose="020B0502040204020203" pitchFamily="34" charset="-122"/>
              </a:rPr>
              <a:t>N</a:t>
            </a:r>
            <a:r>
              <a:rPr lang="en-US" altLang="zh-CN" sz="1200" dirty="0">
                <a:latin typeface="Montserrat" panose="00000500000000000000" pitchFamily="2" charset="0"/>
                <a:ea typeface="微软雅黑 Light" panose="020B0502040204020203" pitchFamily="34" charset="-122"/>
              </a:rPr>
              <a:t> = 10</a:t>
            </a:r>
          </a:p>
          <a:p>
            <a:r>
              <a:rPr lang="en-US" altLang="zh-CN" sz="1200" i="1" dirty="0">
                <a:latin typeface="Montserrat" panose="00000500000000000000" pitchFamily="2" charset="0"/>
                <a:ea typeface="微软雅黑 Light" panose="020B0502040204020203" pitchFamily="34" charset="-122"/>
              </a:rPr>
              <a:t>F</a:t>
            </a:r>
            <a:r>
              <a:rPr lang="en-US" altLang="zh-CN" sz="1200" dirty="0">
                <a:latin typeface="Montserrat" panose="00000500000000000000" pitchFamily="2" charset="0"/>
                <a:ea typeface="微软雅黑 Light" panose="020B0502040204020203" pitchFamily="34" charset="-122"/>
              </a:rPr>
              <a:t>/</a:t>
            </a:r>
            <a:r>
              <a:rPr lang="en-US" altLang="zh-CN" sz="1200" i="1" dirty="0">
                <a:latin typeface="Montserrat" panose="00000500000000000000" pitchFamily="2" charset="0"/>
                <a:ea typeface="微软雅黑 Light" panose="020B0502040204020203" pitchFamily="34" charset="-122"/>
              </a:rPr>
              <a:t>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 15Gb/30Mbps = 500s </a:t>
            </a:r>
          </a:p>
          <a:p>
            <a:r>
              <a:rPr lang="en-US" altLang="zh-CN" sz="1200" i="1" dirty="0">
                <a:latin typeface="Montserrat" panose="00000500000000000000" pitchFamily="2" charset="0"/>
                <a:ea typeface="微软雅黑 Light" panose="020B0502040204020203" pitchFamily="34" charset="-122"/>
              </a:rPr>
              <a:t>F</a:t>
            </a:r>
            <a:r>
              <a:rPr lang="en-US" altLang="zh-CN" sz="1200" dirty="0">
                <a:latin typeface="Montserrat" panose="00000500000000000000" pitchFamily="2" charset="0"/>
                <a:ea typeface="微软雅黑 Light" panose="020B0502040204020203" pitchFamily="34" charset="-122"/>
              </a:rPr>
              <a:t>/</a:t>
            </a:r>
            <a:r>
              <a:rPr lang="en-US" altLang="zh-CN" sz="1200" i="1" dirty="0">
                <a:latin typeface="Montserrat" panose="00000500000000000000" pitchFamily="2" charset="0"/>
                <a:ea typeface="微软雅黑 Light" panose="020B0502040204020203" pitchFamily="34" charset="-122"/>
              </a:rPr>
              <a:t>d</a:t>
            </a:r>
            <a:r>
              <a:rPr lang="en-US" altLang="zh-CN" sz="1200" dirty="0">
                <a:latin typeface="Montserrat" panose="00000500000000000000" pitchFamily="2" charset="0"/>
                <a:ea typeface="微软雅黑 Light" panose="020B0502040204020203" pitchFamily="34" charset="-122"/>
              </a:rPr>
              <a:t> = 15Gb/2Mbps = 7500s</a:t>
            </a:r>
          </a:p>
          <a:p>
            <a:r>
              <a:rPr lang="en-US" altLang="zh-CN" sz="1200" i="1" dirty="0">
                <a:latin typeface="Montserrat" panose="00000500000000000000" pitchFamily="2" charset="0"/>
                <a:ea typeface="微软雅黑 Light" panose="020B0502040204020203" pitchFamily="34" charset="-122"/>
              </a:rPr>
              <a:t>NF</a:t>
            </a:r>
            <a:r>
              <a:rPr lang="en-US" altLang="zh-CN" sz="1200" dirty="0">
                <a:latin typeface="Montserrat" panose="00000500000000000000" pitchFamily="2" charset="0"/>
                <a:ea typeface="微软雅黑 Light" panose="020B0502040204020203" pitchFamily="34" charset="-122"/>
              </a:rPr>
              <a:t>/(</a:t>
            </a:r>
            <a:r>
              <a:rPr lang="en-US" altLang="zh-CN" sz="1200" i="1" dirty="0">
                <a:latin typeface="Montserrat" panose="00000500000000000000" pitchFamily="2" charset="0"/>
                <a:ea typeface="微软雅黑 Light" panose="020B0502040204020203" pitchFamily="34" charset="-122"/>
              </a:rPr>
              <a:t>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 </a:t>
            </a:r>
            <a:r>
              <a:rPr lang="en-US" altLang="zh-CN" sz="1200" i="1" dirty="0">
                <a:latin typeface="Montserrat" panose="00000500000000000000" pitchFamily="2" charset="0"/>
                <a:ea typeface="微软雅黑 Light" panose="020B0502040204020203" pitchFamily="34" charset="-122"/>
              </a:rPr>
              <a:t>Nu</a:t>
            </a:r>
            <a:r>
              <a:rPr lang="en-US" altLang="zh-CN" sz="1200" dirty="0">
                <a:latin typeface="Montserrat" panose="00000500000000000000" pitchFamily="2" charset="0"/>
                <a:ea typeface="微软雅黑 Light" panose="020B0502040204020203" pitchFamily="34" charset="-122"/>
              </a:rPr>
              <a:t>) = 10*15Gbps/(30Mbps + 10*300Mbps) = 10*15Gbps/3030Mbps </a:t>
            </a:r>
            <a:r>
              <a:rPr lang="zh-CN" altLang="en-US" sz="1200" dirty="0">
                <a:latin typeface="Montserrat" panose="00000500000000000000" pitchFamily="2" charset="0"/>
                <a:ea typeface="微软雅黑 Light" panose="020B0502040204020203" pitchFamily="34" charset="-122"/>
              </a:rPr>
              <a:t>≈</a:t>
            </a:r>
            <a:r>
              <a:rPr lang="en-US" altLang="zh-CN" sz="1200" dirty="0">
                <a:latin typeface="Montserrat" panose="00000500000000000000" pitchFamily="2" charset="0"/>
                <a:ea typeface="微软雅黑 Light" panose="020B0502040204020203" pitchFamily="34" charset="-122"/>
              </a:rPr>
              <a:t> 49.5s </a:t>
            </a:r>
          </a:p>
          <a:p>
            <a:r>
              <a:rPr lang="en-US" altLang="zh-CN" sz="1200" i="1" dirty="0" err="1">
                <a:latin typeface="Montserrat" panose="00000500000000000000" pitchFamily="2" charset="0"/>
                <a:ea typeface="微软雅黑 Light" panose="020B0502040204020203" pitchFamily="34" charset="-122"/>
              </a:rPr>
              <a:t>T</a:t>
            </a:r>
            <a:r>
              <a:rPr lang="en-US" altLang="zh-CN" sz="1200" baseline="-25000" dirty="0" err="1">
                <a:latin typeface="Montserrat" panose="00000500000000000000" pitchFamily="2" charset="0"/>
                <a:ea typeface="微软雅黑 Light" panose="020B0502040204020203" pitchFamily="34" charset="-122"/>
              </a:rPr>
              <a:t>cs</a:t>
            </a:r>
            <a:r>
              <a:rPr lang="en-US" altLang="zh-CN" sz="1200" dirty="0">
                <a:latin typeface="Montserrat" panose="00000500000000000000" pitchFamily="2" charset="0"/>
                <a:ea typeface="微软雅黑 Light" panose="020B0502040204020203" pitchFamily="34" charset="-122"/>
              </a:rPr>
              <a:t> = 7500s</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5363896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0BA0F13-F79D-F93D-9F88-9A0C493F2769}"/>
              </a:ext>
            </a:extLst>
          </p:cNvPr>
          <p:cNvSpPr>
            <a:spLocks noGrp="1"/>
          </p:cNvSpPr>
          <p:nvPr>
            <p:ph type="title"/>
          </p:nvPr>
        </p:nvSpPr>
        <p:spPr/>
        <p:txBody>
          <a:bodyPr/>
          <a:lstStyle/>
          <a:p>
            <a:r>
              <a:rPr lang="en-US" altLang="zh-CN" dirty="0"/>
              <a:t>P333 6-51</a:t>
            </a:r>
            <a:endParaRPr lang="zh-CN" altLang="en-US" dirty="0"/>
          </a:p>
        </p:txBody>
      </p:sp>
      <p:sp>
        <p:nvSpPr>
          <p:cNvPr id="3" name="内容占位符 2">
            <a:extLst>
              <a:ext uri="{FF2B5EF4-FFF2-40B4-BE49-F238E27FC236}">
                <a16:creationId xmlns:a16="http://schemas.microsoft.com/office/drawing/2014/main" id="{592B30CA-5DA6-F4AD-B64D-7FEAE6AE1AA9}"/>
              </a:ext>
            </a:extLst>
          </p:cNvPr>
          <p:cNvSpPr>
            <a:spLocks noGrp="1"/>
          </p:cNvSpPr>
          <p:nvPr>
            <p:ph sz="quarter" idx="11"/>
          </p:nvPr>
        </p:nvSpPr>
        <p:spPr>
          <a:xfrm>
            <a:off x="486000" y="687518"/>
            <a:ext cx="8172000" cy="4079035"/>
          </a:xfrm>
        </p:spPr>
        <p:txBody>
          <a:bodyPr/>
          <a:lstStyle/>
          <a:p>
            <a:r>
              <a:rPr lang="en-US" altLang="zh-CN" i="1" dirty="0"/>
              <a:t>F</a:t>
            </a:r>
            <a:r>
              <a:rPr lang="en-US" altLang="zh-CN" dirty="0"/>
              <a:t> = 15 Gb</a:t>
            </a:r>
          </a:p>
          <a:p>
            <a:r>
              <a:rPr lang="zh-CN" altLang="en-US" dirty="0"/>
              <a:t>服务器 </a:t>
            </a:r>
            <a:r>
              <a:rPr lang="en-US" altLang="zh-CN" i="1" dirty="0"/>
              <a:t>u</a:t>
            </a:r>
            <a:r>
              <a:rPr lang="en-US" altLang="zh-CN" baseline="-25000" dirty="0"/>
              <a:t>s</a:t>
            </a:r>
            <a:r>
              <a:rPr lang="en-US" altLang="zh-CN" dirty="0"/>
              <a:t> = 30 Mbps</a:t>
            </a:r>
          </a:p>
          <a:p>
            <a:r>
              <a:rPr lang="zh-CN" altLang="en-US" dirty="0"/>
              <a:t>对等方 </a:t>
            </a:r>
            <a:r>
              <a:rPr lang="en-US" altLang="zh-CN" i="1" dirty="0"/>
              <a:t>d</a:t>
            </a:r>
            <a:r>
              <a:rPr lang="en-US" altLang="zh-CN" dirty="0"/>
              <a:t> = 2M bps, </a:t>
            </a:r>
            <a:r>
              <a:rPr lang="en-US" altLang="zh-CN" i="1" dirty="0"/>
              <a:t>u</a:t>
            </a:r>
            <a:r>
              <a:rPr lang="en-US" altLang="zh-CN" dirty="0"/>
              <a:t> = 300 Mbps</a:t>
            </a:r>
          </a:p>
          <a:p>
            <a:r>
              <a:rPr lang="en-US" altLang="zh-CN" i="1" dirty="0"/>
              <a:t>N</a:t>
            </a:r>
            <a:r>
              <a:rPr lang="en-US" altLang="zh-CN" dirty="0"/>
              <a:t> = 1000</a:t>
            </a:r>
            <a:endParaRPr lang="zh-CN" altLang="en-US" dirty="0"/>
          </a:p>
        </p:txBody>
      </p:sp>
      <p:sp>
        <p:nvSpPr>
          <p:cNvPr id="4" name="文本框 3">
            <a:extLst>
              <a:ext uri="{FF2B5EF4-FFF2-40B4-BE49-F238E27FC236}">
                <a16:creationId xmlns:a16="http://schemas.microsoft.com/office/drawing/2014/main" id="{339F22D4-B2F1-59C9-F9AA-3C8CDD17908B}"/>
              </a:ext>
            </a:extLst>
          </p:cNvPr>
          <p:cNvSpPr txBox="1"/>
          <p:nvPr/>
        </p:nvSpPr>
        <p:spPr>
          <a:xfrm>
            <a:off x="486000" y="2626157"/>
            <a:ext cx="3687228" cy="461665"/>
          </a:xfrm>
          <a:prstGeom prst="rect">
            <a:avLst/>
          </a:prstGeom>
          <a:solidFill>
            <a:schemeClr val="bg1">
              <a:lumMod val="95000"/>
            </a:schemeClr>
          </a:solidFill>
        </p:spPr>
        <p:txBody>
          <a:bodyPr wrap="none" rtlCol="0">
            <a:spAutoFit/>
          </a:bodyPr>
          <a:lstStyle/>
          <a:p>
            <a:r>
              <a:rPr lang="en-US" altLang="zh-CN" sz="1200" i="1" dirty="0">
                <a:latin typeface="Montserrat" panose="00000500000000000000" pitchFamily="2" charset="0"/>
                <a:ea typeface="微软雅黑 Light" panose="020B0502040204020203" pitchFamily="34" charset="-122"/>
              </a:rPr>
              <a:t>N</a:t>
            </a:r>
            <a:r>
              <a:rPr lang="en-US" altLang="zh-CN" sz="1200" dirty="0">
                <a:latin typeface="Montserrat" panose="00000500000000000000" pitchFamily="2" charset="0"/>
                <a:ea typeface="微软雅黑 Light" panose="020B0502040204020203" pitchFamily="34" charset="-122"/>
              </a:rPr>
              <a:t> = 1000</a:t>
            </a:r>
          </a:p>
          <a:p>
            <a:r>
              <a:rPr lang="en-US" altLang="zh-CN" sz="1200" i="1" dirty="0" err="1">
                <a:latin typeface="Montserrat" panose="00000500000000000000" pitchFamily="2" charset="0"/>
                <a:ea typeface="微软雅黑 Light" panose="020B0502040204020203" pitchFamily="34" charset="-122"/>
              </a:rPr>
              <a:t>T</a:t>
            </a:r>
            <a:r>
              <a:rPr lang="en-US" altLang="zh-CN" sz="1200" baseline="-25000" dirty="0" err="1">
                <a:latin typeface="Montserrat" panose="00000500000000000000" pitchFamily="2" charset="0"/>
                <a:ea typeface="微软雅黑 Light" panose="020B0502040204020203" pitchFamily="34" charset="-122"/>
              </a:rPr>
              <a:t>cs</a:t>
            </a:r>
            <a:r>
              <a:rPr lang="en-US" altLang="zh-CN" sz="1200" dirty="0">
                <a:latin typeface="Montserrat" panose="00000500000000000000" pitchFamily="2" charset="0"/>
                <a:ea typeface="微软雅黑 Light" panose="020B0502040204020203" pitchFamily="34" charset="-122"/>
              </a:rPr>
              <a:t> = 1000</a:t>
            </a:r>
            <a:r>
              <a:rPr lang="en-US" altLang="zh-CN" sz="1200" i="1" dirty="0">
                <a:latin typeface="Montserrat" panose="00000500000000000000" pitchFamily="2" charset="0"/>
                <a:ea typeface="微软雅黑 Light" panose="020B0502040204020203" pitchFamily="34" charset="-122"/>
              </a:rPr>
              <a:t>F</a:t>
            </a:r>
            <a:r>
              <a:rPr lang="en-US" altLang="zh-CN" sz="1200" dirty="0">
                <a:latin typeface="Montserrat" panose="00000500000000000000" pitchFamily="2" charset="0"/>
                <a:ea typeface="微软雅黑 Light" panose="020B0502040204020203" pitchFamily="34" charset="-122"/>
              </a:rPr>
              <a:t>/</a:t>
            </a:r>
            <a:r>
              <a:rPr lang="en-US" altLang="zh-CN" sz="1200" i="1" dirty="0">
                <a:latin typeface="Montserrat" panose="00000500000000000000" pitchFamily="2" charset="0"/>
                <a:ea typeface="微软雅黑 Light" panose="020B0502040204020203" pitchFamily="34" charset="-122"/>
              </a:rPr>
              <a:t>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 1000*15Gb/30Mbps = 500000s</a:t>
            </a:r>
            <a:endParaRPr lang="zh-CN" altLang="en-US" sz="1200" dirty="0">
              <a:latin typeface="Montserrat" panose="00000500000000000000" pitchFamily="2" charset="0"/>
              <a:ea typeface="微软雅黑 Light" panose="020B0502040204020203" pitchFamily="34" charset="-122"/>
            </a:endParaRPr>
          </a:p>
        </p:txBody>
      </p:sp>
      <p:sp>
        <p:nvSpPr>
          <p:cNvPr id="5" name="文本框 4">
            <a:extLst>
              <a:ext uri="{FF2B5EF4-FFF2-40B4-BE49-F238E27FC236}">
                <a16:creationId xmlns:a16="http://schemas.microsoft.com/office/drawing/2014/main" id="{A1198B7A-C026-5246-2E49-4BC338988A4D}"/>
              </a:ext>
            </a:extLst>
          </p:cNvPr>
          <p:cNvSpPr txBox="1"/>
          <p:nvPr/>
        </p:nvSpPr>
        <p:spPr>
          <a:xfrm>
            <a:off x="486000" y="3363773"/>
            <a:ext cx="7162538" cy="1015663"/>
          </a:xfrm>
          <a:prstGeom prst="rect">
            <a:avLst/>
          </a:prstGeom>
          <a:solidFill>
            <a:schemeClr val="bg1">
              <a:lumMod val="95000"/>
            </a:schemeClr>
          </a:solidFill>
        </p:spPr>
        <p:txBody>
          <a:bodyPr wrap="none" rtlCol="0">
            <a:spAutoFit/>
          </a:bodyPr>
          <a:lstStyle/>
          <a:p>
            <a:r>
              <a:rPr lang="en-US" altLang="zh-CN" sz="1200" i="1" dirty="0">
                <a:latin typeface="Montserrat" panose="00000500000000000000" pitchFamily="2" charset="0"/>
                <a:ea typeface="微软雅黑 Light" panose="020B0502040204020203" pitchFamily="34" charset="-122"/>
              </a:rPr>
              <a:t>N</a:t>
            </a:r>
            <a:r>
              <a:rPr lang="en-US" altLang="zh-CN" sz="1200" dirty="0">
                <a:latin typeface="Montserrat" panose="00000500000000000000" pitchFamily="2" charset="0"/>
                <a:ea typeface="微软雅黑 Light" panose="020B0502040204020203" pitchFamily="34" charset="-122"/>
              </a:rPr>
              <a:t> = 1000</a:t>
            </a:r>
          </a:p>
          <a:p>
            <a:r>
              <a:rPr lang="en-US" altLang="zh-CN" sz="1200" i="1" dirty="0">
                <a:latin typeface="Montserrat" panose="00000500000000000000" pitchFamily="2" charset="0"/>
                <a:ea typeface="微软雅黑 Light" panose="020B0502040204020203" pitchFamily="34" charset="-122"/>
              </a:rPr>
              <a:t>F</a:t>
            </a:r>
            <a:r>
              <a:rPr lang="en-US" altLang="zh-CN" sz="1200" dirty="0">
                <a:latin typeface="Montserrat" panose="00000500000000000000" pitchFamily="2" charset="0"/>
                <a:ea typeface="微软雅黑 Light" panose="020B0502040204020203" pitchFamily="34" charset="-122"/>
              </a:rPr>
              <a:t>/</a:t>
            </a:r>
            <a:r>
              <a:rPr lang="en-US" altLang="zh-CN" sz="1200" i="1" dirty="0">
                <a:latin typeface="Montserrat" panose="00000500000000000000" pitchFamily="2" charset="0"/>
                <a:ea typeface="微软雅黑 Light" panose="020B0502040204020203" pitchFamily="34" charset="-122"/>
              </a:rPr>
              <a:t>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 15Gb/30Mbps = 500s </a:t>
            </a:r>
          </a:p>
          <a:p>
            <a:r>
              <a:rPr lang="en-US" altLang="zh-CN" sz="1200" i="1" dirty="0">
                <a:latin typeface="Montserrat" panose="00000500000000000000" pitchFamily="2" charset="0"/>
                <a:ea typeface="微软雅黑 Light" panose="020B0502040204020203" pitchFamily="34" charset="-122"/>
              </a:rPr>
              <a:t>F</a:t>
            </a:r>
            <a:r>
              <a:rPr lang="en-US" altLang="zh-CN" sz="1200" dirty="0">
                <a:latin typeface="Montserrat" panose="00000500000000000000" pitchFamily="2" charset="0"/>
                <a:ea typeface="微软雅黑 Light" panose="020B0502040204020203" pitchFamily="34" charset="-122"/>
              </a:rPr>
              <a:t>/</a:t>
            </a:r>
            <a:r>
              <a:rPr lang="en-US" altLang="zh-CN" sz="1200" i="1" dirty="0">
                <a:latin typeface="Montserrat" panose="00000500000000000000" pitchFamily="2" charset="0"/>
                <a:ea typeface="微软雅黑 Light" panose="020B0502040204020203" pitchFamily="34" charset="-122"/>
              </a:rPr>
              <a:t>d</a:t>
            </a:r>
            <a:r>
              <a:rPr lang="en-US" altLang="zh-CN" sz="1200" dirty="0">
                <a:latin typeface="Montserrat" panose="00000500000000000000" pitchFamily="2" charset="0"/>
                <a:ea typeface="微软雅黑 Light" panose="020B0502040204020203" pitchFamily="34" charset="-122"/>
              </a:rPr>
              <a:t> = 15Gb/2Mbps = 7500s</a:t>
            </a:r>
          </a:p>
          <a:p>
            <a:r>
              <a:rPr lang="en-US" altLang="zh-CN" sz="1200" i="1" dirty="0">
                <a:latin typeface="Montserrat" panose="00000500000000000000" pitchFamily="2" charset="0"/>
                <a:ea typeface="微软雅黑 Light" panose="020B0502040204020203" pitchFamily="34" charset="-122"/>
              </a:rPr>
              <a:t>NF</a:t>
            </a:r>
            <a:r>
              <a:rPr lang="en-US" altLang="zh-CN" sz="1200" dirty="0">
                <a:latin typeface="Montserrat" panose="00000500000000000000" pitchFamily="2" charset="0"/>
                <a:ea typeface="微软雅黑 Light" panose="020B0502040204020203" pitchFamily="34" charset="-122"/>
              </a:rPr>
              <a:t>/(</a:t>
            </a:r>
            <a:r>
              <a:rPr lang="en-US" altLang="zh-CN" sz="1200" i="1" dirty="0">
                <a:latin typeface="Montserrat" panose="00000500000000000000" pitchFamily="2" charset="0"/>
                <a:ea typeface="微软雅黑 Light" panose="020B0502040204020203" pitchFamily="34" charset="-122"/>
              </a:rPr>
              <a:t>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 </a:t>
            </a:r>
            <a:r>
              <a:rPr lang="en-US" altLang="zh-CN" sz="1200" i="1" dirty="0">
                <a:latin typeface="Montserrat" panose="00000500000000000000" pitchFamily="2" charset="0"/>
                <a:ea typeface="微软雅黑 Light" panose="020B0502040204020203" pitchFamily="34" charset="-122"/>
              </a:rPr>
              <a:t>Nu</a:t>
            </a:r>
            <a:r>
              <a:rPr lang="en-US" altLang="zh-CN" sz="1200" dirty="0">
                <a:latin typeface="Montserrat" panose="00000500000000000000" pitchFamily="2" charset="0"/>
                <a:ea typeface="微软雅黑 Light" panose="020B0502040204020203" pitchFamily="34" charset="-122"/>
              </a:rPr>
              <a:t>) = 1000*15Gbps/(30Mbps + 1000*300Mbps) = 1000*15Gbps/300030Mbps </a:t>
            </a:r>
            <a:r>
              <a:rPr lang="zh-CN" altLang="en-US" sz="1200" dirty="0">
                <a:latin typeface="Montserrat" panose="00000500000000000000" pitchFamily="2" charset="0"/>
                <a:ea typeface="微软雅黑 Light" panose="020B0502040204020203" pitchFamily="34" charset="-122"/>
              </a:rPr>
              <a:t>≈</a:t>
            </a:r>
            <a:r>
              <a:rPr lang="en-US" altLang="zh-CN" sz="1200" dirty="0">
                <a:latin typeface="Montserrat" panose="00000500000000000000" pitchFamily="2" charset="0"/>
                <a:ea typeface="微软雅黑 Light" panose="020B0502040204020203" pitchFamily="34" charset="-122"/>
              </a:rPr>
              <a:t> 50s </a:t>
            </a:r>
          </a:p>
          <a:p>
            <a:r>
              <a:rPr lang="en-US" altLang="zh-CN" sz="1200" i="1" dirty="0" err="1">
                <a:latin typeface="Montserrat" panose="00000500000000000000" pitchFamily="2" charset="0"/>
                <a:ea typeface="微软雅黑 Light" panose="020B0502040204020203" pitchFamily="34" charset="-122"/>
              </a:rPr>
              <a:t>T</a:t>
            </a:r>
            <a:r>
              <a:rPr lang="en-US" altLang="zh-CN" sz="1200" baseline="-25000" dirty="0" err="1">
                <a:latin typeface="Montserrat" panose="00000500000000000000" pitchFamily="2" charset="0"/>
                <a:ea typeface="微软雅黑 Light" panose="020B0502040204020203" pitchFamily="34" charset="-122"/>
              </a:rPr>
              <a:t>cs</a:t>
            </a:r>
            <a:r>
              <a:rPr lang="en-US" altLang="zh-CN" sz="1200" dirty="0">
                <a:latin typeface="Montserrat" panose="00000500000000000000" pitchFamily="2" charset="0"/>
                <a:ea typeface="微软雅黑 Light" panose="020B0502040204020203" pitchFamily="34" charset="-122"/>
              </a:rPr>
              <a:t> = 7500s</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603259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7D7EB060-6C5F-3A43-C0AC-E4AC06A9FC2F}"/>
              </a:ext>
            </a:extLst>
          </p:cNvPr>
          <p:cNvSpPr>
            <a:spLocks noGrp="1"/>
          </p:cNvSpPr>
          <p:nvPr>
            <p:ph type="title"/>
          </p:nvPr>
        </p:nvSpPr>
        <p:spPr>
          <a:xfrm>
            <a:off x="485999" y="174482"/>
            <a:ext cx="8171999" cy="338554"/>
          </a:xfrm>
        </p:spPr>
        <p:txBody>
          <a:bodyPr/>
          <a:lstStyle/>
          <a:p>
            <a:r>
              <a:rPr lang="en-US" altLang="zh-CN" dirty="0"/>
              <a:t>6.9.3  </a:t>
            </a:r>
            <a:r>
              <a:rPr lang="zh-CN" altLang="en-US" dirty="0"/>
              <a:t>文件分发 </a:t>
            </a:r>
            <a:r>
              <a:rPr lang="en-US" altLang="zh-CN" dirty="0"/>
              <a:t>– </a:t>
            </a:r>
            <a:r>
              <a:rPr lang="zh-CN" altLang="en-US" dirty="0"/>
              <a:t>总结</a:t>
            </a:r>
          </a:p>
        </p:txBody>
      </p:sp>
      <p:sp>
        <p:nvSpPr>
          <p:cNvPr id="3" name="内容占位符 2">
            <a:extLst>
              <a:ext uri="{FF2B5EF4-FFF2-40B4-BE49-F238E27FC236}">
                <a16:creationId xmlns:a16="http://schemas.microsoft.com/office/drawing/2014/main" id="{3ECB1466-FAC5-B0CC-1BFF-5426E4137123}"/>
              </a:ext>
            </a:extLst>
          </p:cNvPr>
          <p:cNvSpPr>
            <a:spLocks noGrp="1"/>
          </p:cNvSpPr>
          <p:nvPr>
            <p:ph sz="quarter" idx="11"/>
          </p:nvPr>
        </p:nvSpPr>
        <p:spPr>
          <a:xfrm>
            <a:off x="486000" y="687518"/>
            <a:ext cx="8172000" cy="4079035"/>
          </a:xfrm>
        </p:spPr>
        <p:txBody>
          <a:bodyPr/>
          <a:lstStyle/>
          <a:p>
            <a:r>
              <a:rPr lang="zh-CN" altLang="en-US" dirty="0"/>
              <a:t>无论是 </a:t>
            </a:r>
            <a:r>
              <a:rPr lang="en-US" altLang="zh-CN" dirty="0"/>
              <a:t>C/S </a:t>
            </a:r>
            <a:r>
              <a:rPr lang="zh-CN" altLang="en-US" dirty="0"/>
              <a:t>还是 </a:t>
            </a:r>
            <a:r>
              <a:rPr lang="en-US" altLang="zh-CN" dirty="0"/>
              <a:t>P2P </a:t>
            </a:r>
            <a:r>
              <a:rPr lang="zh-CN" altLang="en-US" dirty="0"/>
              <a:t>模型，整个分发过程的完成时间 </a:t>
            </a:r>
            <a:r>
              <a:rPr lang="en-US" altLang="zh-CN" dirty="0"/>
              <a:t>= </a:t>
            </a:r>
            <a:r>
              <a:rPr lang="zh-CN" altLang="en-US" dirty="0"/>
              <a:t>最后一个 </a:t>
            </a:r>
            <a:r>
              <a:rPr lang="en-US" altLang="zh-CN" dirty="0"/>
              <a:t>peer </a:t>
            </a:r>
            <a:r>
              <a:rPr lang="zh-CN" altLang="en-US" dirty="0"/>
              <a:t>收到完整文件的时间</a:t>
            </a:r>
          </a:p>
        </p:txBody>
      </p:sp>
      <p:pic>
        <p:nvPicPr>
          <p:cNvPr id="9" name="图片 8">
            <a:extLst>
              <a:ext uri="{FF2B5EF4-FFF2-40B4-BE49-F238E27FC236}">
                <a16:creationId xmlns:a16="http://schemas.microsoft.com/office/drawing/2014/main" id="{E09C1A27-9952-D541-97E7-A71983077A5B}"/>
              </a:ext>
            </a:extLst>
          </p:cNvPr>
          <p:cNvPicPr>
            <a:picLocks noChangeAspect="1"/>
          </p:cNvPicPr>
          <p:nvPr/>
        </p:nvPicPr>
        <p:blipFill>
          <a:blip r:embed="rId2"/>
          <a:stretch>
            <a:fillRect/>
          </a:stretch>
        </p:blipFill>
        <p:spPr>
          <a:xfrm>
            <a:off x="2191047" y="1548503"/>
            <a:ext cx="4761905" cy="1285714"/>
          </a:xfrm>
          <a:prstGeom prst="rect">
            <a:avLst/>
          </a:prstGeom>
        </p:spPr>
      </p:pic>
      <p:pic>
        <p:nvPicPr>
          <p:cNvPr id="11" name="图片 10">
            <a:extLst>
              <a:ext uri="{FF2B5EF4-FFF2-40B4-BE49-F238E27FC236}">
                <a16:creationId xmlns:a16="http://schemas.microsoft.com/office/drawing/2014/main" id="{25841785-D5B7-ACB4-270F-61C06188B6E0}"/>
              </a:ext>
            </a:extLst>
          </p:cNvPr>
          <p:cNvPicPr>
            <a:picLocks noChangeAspect="1"/>
          </p:cNvPicPr>
          <p:nvPr/>
        </p:nvPicPr>
        <p:blipFill>
          <a:blip r:embed="rId3"/>
          <a:stretch>
            <a:fillRect/>
          </a:stretch>
        </p:blipFill>
        <p:spPr>
          <a:xfrm>
            <a:off x="2191047" y="2923760"/>
            <a:ext cx="4761905" cy="1285714"/>
          </a:xfrm>
          <a:prstGeom prst="rect">
            <a:avLst/>
          </a:prstGeom>
        </p:spPr>
      </p:pic>
    </p:spTree>
    <p:extLst>
      <p:ext uri="{BB962C8B-B14F-4D97-AF65-F5344CB8AC3E}">
        <p14:creationId xmlns:p14="http://schemas.microsoft.com/office/powerpoint/2010/main" val="20140287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F72E1166-815F-6CE3-8B75-E5E3152B22FE}"/>
              </a:ext>
            </a:extLst>
          </p:cNvPr>
          <p:cNvSpPr>
            <a:spLocks noGrp="1"/>
          </p:cNvSpPr>
          <p:nvPr>
            <p:ph type="title"/>
          </p:nvPr>
        </p:nvSpPr>
        <p:spPr>
          <a:xfrm>
            <a:off x="485999" y="174482"/>
            <a:ext cx="8171999" cy="338554"/>
          </a:xfrm>
        </p:spPr>
        <p:txBody>
          <a:bodyPr/>
          <a:lstStyle/>
          <a:p>
            <a:r>
              <a:rPr lang="en-US" altLang="zh-CN" dirty="0"/>
              <a:t>6.9.4  </a:t>
            </a:r>
            <a:r>
              <a:rPr lang="zh-CN" altLang="en-US" dirty="0"/>
              <a:t>在 </a:t>
            </a:r>
            <a:r>
              <a:rPr lang="en-US" altLang="zh-CN" dirty="0"/>
              <a:t>P2P </a:t>
            </a:r>
            <a:r>
              <a:rPr lang="zh-CN" altLang="en-US" dirty="0"/>
              <a:t>对等方中搜索对象</a:t>
            </a:r>
          </a:p>
        </p:txBody>
      </p:sp>
      <p:sp>
        <p:nvSpPr>
          <p:cNvPr id="6" name="内容占位符 5">
            <a:extLst>
              <a:ext uri="{FF2B5EF4-FFF2-40B4-BE49-F238E27FC236}">
                <a16:creationId xmlns:a16="http://schemas.microsoft.com/office/drawing/2014/main" id="{90AB59D4-DD3B-7E4B-A858-C15897867FFF}"/>
              </a:ext>
            </a:extLst>
          </p:cNvPr>
          <p:cNvSpPr>
            <a:spLocks noGrp="1"/>
          </p:cNvSpPr>
          <p:nvPr>
            <p:ph sz="quarter" idx="11"/>
          </p:nvPr>
        </p:nvSpPr>
        <p:spPr>
          <a:xfrm>
            <a:off x="486000" y="687518"/>
            <a:ext cx="8172000" cy="4079035"/>
          </a:xfrm>
        </p:spPr>
        <p:txBody>
          <a:bodyPr/>
          <a:lstStyle/>
          <a:p>
            <a:r>
              <a:rPr lang="en-US" altLang="zh-CN" dirty="0"/>
              <a:t>Napster </a:t>
            </a:r>
            <a:r>
              <a:rPr lang="zh-CN" altLang="en-US" dirty="0"/>
              <a:t>在一个集中式目录服务器中构建查找数据库，简单，但性能上有瓶颈</a:t>
            </a:r>
          </a:p>
          <a:p>
            <a:r>
              <a:rPr lang="en-US" altLang="zh-CN" dirty="0"/>
              <a:t>Gnutella </a:t>
            </a:r>
            <a:r>
              <a:rPr lang="zh-CN" altLang="en-US" dirty="0"/>
              <a:t>是一种采用全分布方法定位内容的 </a:t>
            </a:r>
            <a:r>
              <a:rPr lang="en-US" altLang="zh-CN" dirty="0"/>
              <a:t>P2P </a:t>
            </a:r>
            <a:r>
              <a:rPr lang="zh-CN" altLang="en-US" dirty="0"/>
              <a:t>文件共享应用程序，它解决了集中式目录服务器所造成的瓶颈问题。但 </a:t>
            </a:r>
            <a:r>
              <a:rPr lang="en-US" altLang="zh-CN" dirty="0"/>
              <a:t>Gnutella </a:t>
            </a:r>
            <a:r>
              <a:rPr lang="zh-CN" altLang="en-US" dirty="0"/>
              <a:t>是在非结构化的覆盖网络中采用查询洪泛的方法进行查找，因此查找的效率较低</a:t>
            </a:r>
          </a:p>
          <a:p>
            <a:endParaRPr lang="zh-CN" altLang="en-US" dirty="0"/>
          </a:p>
        </p:txBody>
      </p:sp>
    </p:spTree>
    <p:extLst>
      <p:ext uri="{BB962C8B-B14F-4D97-AF65-F5344CB8AC3E}">
        <p14:creationId xmlns:p14="http://schemas.microsoft.com/office/powerpoint/2010/main" val="38732697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05BC21B-877E-FB3D-B231-D9B09B981E39}"/>
              </a:ext>
            </a:extLst>
          </p:cNvPr>
          <p:cNvSpPr>
            <a:spLocks noGrp="1"/>
          </p:cNvSpPr>
          <p:nvPr>
            <p:ph type="title"/>
          </p:nvPr>
        </p:nvSpPr>
        <p:spPr>
          <a:xfrm>
            <a:off x="485999" y="174482"/>
            <a:ext cx="8171999" cy="338554"/>
          </a:xfrm>
        </p:spPr>
        <p:txBody>
          <a:bodyPr/>
          <a:lstStyle/>
          <a:p>
            <a:r>
              <a:rPr lang="en-US" altLang="zh-CN" dirty="0"/>
              <a:t>6.9.4  </a:t>
            </a:r>
            <a:r>
              <a:rPr lang="zh-CN" altLang="en-US" dirty="0"/>
              <a:t>在 </a:t>
            </a:r>
            <a:r>
              <a:rPr lang="en-US" altLang="zh-CN" dirty="0"/>
              <a:t>P2P </a:t>
            </a:r>
            <a:r>
              <a:rPr lang="zh-CN" altLang="en-US" dirty="0"/>
              <a:t>对等方中搜索对象</a:t>
            </a:r>
          </a:p>
        </p:txBody>
      </p:sp>
      <p:sp>
        <p:nvSpPr>
          <p:cNvPr id="6" name="内容占位符 5">
            <a:extLst>
              <a:ext uri="{FF2B5EF4-FFF2-40B4-BE49-F238E27FC236}">
                <a16:creationId xmlns:a16="http://schemas.microsoft.com/office/drawing/2014/main" id="{39C8D10B-BFF2-0777-D87B-2935C2E68769}"/>
              </a:ext>
            </a:extLst>
          </p:cNvPr>
          <p:cNvSpPr>
            <a:spLocks noGrp="1"/>
          </p:cNvSpPr>
          <p:nvPr>
            <p:ph sz="quarter" idx="11"/>
          </p:nvPr>
        </p:nvSpPr>
        <p:spPr>
          <a:xfrm>
            <a:off x="486000" y="687518"/>
            <a:ext cx="8172000" cy="4079035"/>
          </a:xfrm>
        </p:spPr>
        <p:txBody>
          <a:bodyPr/>
          <a:lstStyle/>
          <a:p>
            <a:r>
              <a:rPr lang="zh-CN" altLang="en-US" dirty="0"/>
              <a:t>现在广泛使用的索引和查找技术叫做分布式散列表 </a:t>
            </a:r>
            <a:r>
              <a:rPr lang="en-US" altLang="zh-CN" dirty="0"/>
              <a:t>DHT (Distributed Hash Table)</a:t>
            </a:r>
          </a:p>
          <a:p>
            <a:r>
              <a:rPr lang="en-US" altLang="zh-CN" dirty="0"/>
              <a:t>DHT </a:t>
            </a:r>
            <a:r>
              <a:rPr lang="zh-CN" altLang="en-US" dirty="0"/>
              <a:t>也可译为分布式哈希表，由大量对等方共同维护</a:t>
            </a:r>
          </a:p>
          <a:p>
            <a:r>
              <a:rPr lang="zh-CN" altLang="en-US" dirty="0"/>
              <a:t>广泛使用的 </a:t>
            </a:r>
            <a:r>
              <a:rPr lang="en-US" altLang="zh-CN" dirty="0"/>
              <a:t>Chord </a:t>
            </a:r>
            <a:r>
              <a:rPr lang="zh-CN" altLang="en-US" dirty="0"/>
              <a:t>算法是美国麻省理工大学于 </a:t>
            </a:r>
            <a:r>
              <a:rPr lang="en-US" altLang="zh-CN" dirty="0"/>
              <a:t>2001 </a:t>
            </a:r>
            <a:r>
              <a:rPr lang="zh-CN" altLang="en-US" dirty="0"/>
              <a:t>年提出的</a:t>
            </a:r>
          </a:p>
          <a:p>
            <a:endParaRPr lang="zh-CN" altLang="en-US" dirty="0"/>
          </a:p>
        </p:txBody>
      </p:sp>
    </p:spTree>
    <p:extLst>
      <p:ext uri="{BB962C8B-B14F-4D97-AF65-F5344CB8AC3E}">
        <p14:creationId xmlns:p14="http://schemas.microsoft.com/office/powerpoint/2010/main" val="29119176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776762F-05F7-ECBD-CD61-6BE878ECCC31}"/>
              </a:ext>
            </a:extLst>
          </p:cNvPr>
          <p:cNvSpPr>
            <a:spLocks noGrp="1"/>
          </p:cNvSpPr>
          <p:nvPr>
            <p:ph type="title"/>
          </p:nvPr>
        </p:nvSpPr>
        <p:spPr>
          <a:xfrm>
            <a:off x="485999" y="174482"/>
            <a:ext cx="8171999" cy="338554"/>
          </a:xfrm>
        </p:spPr>
        <p:txBody>
          <a:bodyPr/>
          <a:lstStyle/>
          <a:p>
            <a:r>
              <a:rPr lang="zh-CN" altLang="en-US" dirty="0"/>
              <a:t>基于 </a:t>
            </a:r>
            <a:r>
              <a:rPr lang="en-US" altLang="zh-CN" dirty="0"/>
              <a:t>DHT </a:t>
            </a:r>
            <a:r>
              <a:rPr lang="zh-CN" altLang="en-US" dirty="0"/>
              <a:t>的 </a:t>
            </a:r>
            <a:r>
              <a:rPr lang="en-US" altLang="zh-CN" dirty="0"/>
              <a:t>Chord </a:t>
            </a:r>
            <a:r>
              <a:rPr lang="zh-CN" altLang="en-US" dirty="0"/>
              <a:t>环</a:t>
            </a:r>
          </a:p>
        </p:txBody>
      </p:sp>
      <p:sp>
        <p:nvSpPr>
          <p:cNvPr id="3" name="内容占位符 2">
            <a:extLst>
              <a:ext uri="{FF2B5EF4-FFF2-40B4-BE49-F238E27FC236}">
                <a16:creationId xmlns:a16="http://schemas.microsoft.com/office/drawing/2014/main" id="{BD98E397-A2B5-F854-34AF-DAAF9AD378F6}"/>
              </a:ext>
            </a:extLst>
          </p:cNvPr>
          <p:cNvSpPr>
            <a:spLocks noGrp="1"/>
          </p:cNvSpPr>
          <p:nvPr>
            <p:ph sz="quarter" idx="11"/>
          </p:nvPr>
        </p:nvSpPr>
        <p:spPr>
          <a:xfrm>
            <a:off x="486000" y="687518"/>
            <a:ext cx="8172000" cy="4079035"/>
          </a:xfrm>
        </p:spPr>
        <p:txBody>
          <a:bodyPr/>
          <a:lstStyle/>
          <a:p>
            <a:r>
              <a:rPr lang="zh-CN" altLang="en-US" dirty="0"/>
              <a:t>分布式散列表 </a:t>
            </a:r>
            <a:r>
              <a:rPr lang="en-US" altLang="zh-CN" dirty="0"/>
              <a:t>DHT </a:t>
            </a:r>
            <a:r>
              <a:rPr lang="zh-CN" altLang="en-US" dirty="0"/>
              <a:t>利用散列函数，把资源名 </a:t>
            </a:r>
            <a:r>
              <a:rPr lang="en-US" altLang="zh-CN" dirty="0"/>
              <a:t>K </a:t>
            </a:r>
            <a:r>
              <a:rPr lang="zh-CN" altLang="en-US" dirty="0"/>
              <a:t>及其存放的结点 </a:t>
            </a:r>
            <a:r>
              <a:rPr lang="en-US" altLang="zh-CN" dirty="0"/>
              <a:t>IP </a:t>
            </a:r>
            <a:r>
              <a:rPr lang="zh-CN" altLang="en-US" dirty="0"/>
              <a:t>地址 </a:t>
            </a:r>
            <a:r>
              <a:rPr lang="en-US" altLang="zh-CN" dirty="0"/>
              <a:t>N </a:t>
            </a:r>
            <a:r>
              <a:rPr lang="zh-CN" altLang="en-US" dirty="0"/>
              <a:t>都分别映射为资源名标识符 </a:t>
            </a:r>
            <a:r>
              <a:rPr lang="en-US" altLang="zh-CN" dirty="0"/>
              <a:t>KID </a:t>
            </a:r>
            <a:r>
              <a:rPr lang="zh-CN" altLang="en-US" dirty="0"/>
              <a:t>和结点标识符 </a:t>
            </a:r>
            <a:r>
              <a:rPr lang="en-US" altLang="zh-CN" dirty="0"/>
              <a:t>NID</a:t>
            </a:r>
            <a:endParaRPr lang="zh-CN" altLang="en-US" dirty="0"/>
          </a:p>
          <a:p>
            <a:r>
              <a:rPr lang="en-US" altLang="zh-CN" dirty="0"/>
              <a:t>Chord </a:t>
            </a:r>
            <a:r>
              <a:rPr lang="zh-CN" altLang="en-US" dirty="0"/>
              <a:t>把结点按标识符数值从小到大沿顺时针排列成一个环形覆盖网络</a:t>
            </a:r>
            <a:endParaRPr lang="en-US" altLang="zh-CN" dirty="0"/>
          </a:p>
          <a:p>
            <a:r>
              <a:rPr lang="zh-CN" altLang="en-US" dirty="0"/>
              <a:t>每个资源由 </a:t>
            </a:r>
            <a:r>
              <a:rPr lang="en-US" altLang="zh-CN" dirty="0"/>
              <a:t>Chord </a:t>
            </a:r>
            <a:r>
              <a:rPr lang="zh-CN" altLang="en-US" dirty="0"/>
              <a:t>环上与其标识符值最接近的下一个结点提供服务</a:t>
            </a:r>
          </a:p>
          <a:p>
            <a:endParaRPr lang="zh-CN" altLang="en-US" dirty="0"/>
          </a:p>
        </p:txBody>
      </p:sp>
    </p:spTree>
    <p:extLst>
      <p:ext uri="{BB962C8B-B14F-4D97-AF65-F5344CB8AC3E}">
        <p14:creationId xmlns:p14="http://schemas.microsoft.com/office/powerpoint/2010/main" val="39653722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p:cNvGrpSpPr/>
          <p:nvPr/>
        </p:nvGrpSpPr>
        <p:grpSpPr>
          <a:xfrm>
            <a:off x="1109307" y="1075764"/>
            <a:ext cx="6889473" cy="2859560"/>
            <a:chOff x="168275" y="411163"/>
            <a:chExt cx="8839200" cy="3637998"/>
          </a:xfrm>
        </p:grpSpPr>
        <p:sp>
          <p:nvSpPr>
            <p:cNvPr id="8" name="Text Box 47"/>
            <p:cNvSpPr txBox="1">
              <a:spLocks noChangeArrowheads="1"/>
            </p:cNvSpPr>
            <p:nvPr/>
          </p:nvSpPr>
          <p:spPr bwMode="auto">
            <a:xfrm>
              <a:off x="7902575" y="3162300"/>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N13</a:t>
              </a:r>
            </a:p>
          </p:txBody>
        </p:sp>
        <p:sp>
          <p:nvSpPr>
            <p:cNvPr id="9" name="Text Box 81"/>
            <p:cNvSpPr txBox="1">
              <a:spLocks noChangeArrowheads="1"/>
            </p:cNvSpPr>
            <p:nvPr/>
          </p:nvSpPr>
          <p:spPr bwMode="auto">
            <a:xfrm>
              <a:off x="3810001" y="533399"/>
              <a:ext cx="715963"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zh-CN" altLang="en-US" sz="1100" b="1" dirty="0">
                  <a:latin typeface="微软雅黑 Light" panose="020B0502040204020203" pitchFamily="34" charset="-122"/>
                  <a:ea typeface="微软雅黑 Light" panose="020B0502040204020203" pitchFamily="34" charset="-122"/>
                </a:rPr>
                <a:t>图例：</a:t>
              </a:r>
            </a:p>
          </p:txBody>
        </p:sp>
        <p:sp>
          <p:nvSpPr>
            <p:cNvPr id="10" name="Text Box 47"/>
            <p:cNvSpPr txBox="1">
              <a:spLocks noChangeArrowheads="1"/>
            </p:cNvSpPr>
            <p:nvPr/>
          </p:nvSpPr>
          <p:spPr bwMode="auto">
            <a:xfrm>
              <a:off x="737454" y="3657600"/>
              <a:ext cx="3156851" cy="3915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(a) KID </a:t>
              </a:r>
              <a:r>
                <a:rPr kumimoji="1" lang="zh-CN" altLang="en-US" sz="1400" b="1" dirty="0">
                  <a:latin typeface="微软雅黑 Light" panose="020B0502040204020203" pitchFamily="34" charset="-122"/>
                  <a:ea typeface="微软雅黑 Light" panose="020B0502040204020203" pitchFamily="34" charset="-122"/>
                </a:rPr>
                <a:t>和 </a:t>
              </a:r>
              <a:r>
                <a:rPr kumimoji="1" lang="en-US" altLang="zh-CN" sz="1400" b="1" dirty="0">
                  <a:latin typeface="微软雅黑 Light" panose="020B0502040204020203" pitchFamily="34" charset="-122"/>
                  <a:ea typeface="微软雅黑 Light" panose="020B0502040204020203" pitchFamily="34" charset="-122"/>
                </a:rPr>
                <a:t>NID </a:t>
              </a:r>
              <a:r>
                <a:rPr kumimoji="1" lang="zh-CN" altLang="en-US" sz="1400" b="1" dirty="0">
                  <a:latin typeface="微软雅黑 Light" panose="020B0502040204020203" pitchFamily="34" charset="-122"/>
                  <a:ea typeface="微软雅黑 Light" panose="020B0502040204020203" pitchFamily="34" charset="-122"/>
                </a:rPr>
                <a:t>映射在环上</a:t>
              </a:r>
              <a:r>
                <a:rPr kumimoji="1" lang="en-US" altLang="zh-CN" sz="1400" b="1" dirty="0">
                  <a:latin typeface="微软雅黑 Light" panose="020B0502040204020203" pitchFamily="34" charset="-122"/>
                  <a:ea typeface="微软雅黑 Light" panose="020B0502040204020203" pitchFamily="34" charset="-122"/>
                </a:rPr>
                <a:t> </a:t>
              </a:r>
            </a:p>
          </p:txBody>
        </p:sp>
        <p:sp>
          <p:nvSpPr>
            <p:cNvPr id="11" name="Text Box 47"/>
            <p:cNvSpPr txBox="1">
              <a:spLocks noChangeArrowheads="1"/>
            </p:cNvSpPr>
            <p:nvPr/>
          </p:nvSpPr>
          <p:spPr bwMode="auto">
            <a:xfrm>
              <a:off x="4708524" y="533399"/>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NID</a:t>
              </a:r>
            </a:p>
          </p:txBody>
        </p:sp>
        <p:sp>
          <p:nvSpPr>
            <p:cNvPr id="12" name="Oval 53"/>
            <p:cNvSpPr>
              <a:spLocks noChangeArrowheads="1"/>
            </p:cNvSpPr>
            <p:nvPr/>
          </p:nvSpPr>
          <p:spPr bwMode="auto">
            <a:xfrm>
              <a:off x="4457700" y="625475"/>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 name="Text Box 71"/>
            <p:cNvSpPr txBox="1">
              <a:spLocks noChangeArrowheads="1"/>
            </p:cNvSpPr>
            <p:nvPr/>
          </p:nvSpPr>
          <p:spPr bwMode="auto">
            <a:xfrm>
              <a:off x="4435475" y="860424"/>
              <a:ext cx="190500" cy="205570"/>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endParaRPr kumimoji="1" lang="en-US" altLang="zh-CN" sz="1050" b="1" dirty="0">
                <a:latin typeface="微软雅黑 Light" panose="020B0502040204020203" pitchFamily="34" charset="-122"/>
                <a:ea typeface="微软雅黑 Light" panose="020B0502040204020203" pitchFamily="34" charset="-122"/>
              </a:endParaRPr>
            </a:p>
          </p:txBody>
        </p:sp>
        <p:sp>
          <p:nvSpPr>
            <p:cNvPr id="14" name="Text Box 47"/>
            <p:cNvSpPr txBox="1">
              <a:spLocks noChangeArrowheads="1"/>
            </p:cNvSpPr>
            <p:nvPr/>
          </p:nvSpPr>
          <p:spPr bwMode="auto">
            <a:xfrm>
              <a:off x="4724398" y="806814"/>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KID</a:t>
              </a:r>
            </a:p>
          </p:txBody>
        </p:sp>
        <p:sp>
          <p:nvSpPr>
            <p:cNvPr id="15" name="矩形 14"/>
            <p:cNvSpPr/>
            <p:nvPr/>
          </p:nvSpPr>
          <p:spPr>
            <a:xfrm>
              <a:off x="3886200" y="517525"/>
              <a:ext cx="1295400" cy="62547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200" b="1" dirty="0">
                <a:latin typeface="微软雅黑 Light" panose="020B0502040204020203" pitchFamily="34" charset="-122"/>
                <a:ea typeface="微软雅黑 Light" panose="020B0502040204020203" pitchFamily="34" charset="-122"/>
              </a:endParaRPr>
            </a:p>
          </p:txBody>
        </p:sp>
        <p:sp>
          <p:nvSpPr>
            <p:cNvPr id="16" name="Oval 20"/>
            <p:cNvSpPr>
              <a:spLocks noChangeArrowheads="1"/>
            </p:cNvSpPr>
            <p:nvPr/>
          </p:nvSpPr>
          <p:spPr bwMode="auto">
            <a:xfrm>
              <a:off x="685800" y="654050"/>
              <a:ext cx="2819400" cy="28194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7" name="Text Box 31"/>
            <p:cNvSpPr txBox="1">
              <a:spLocks noChangeArrowheads="1"/>
            </p:cNvSpPr>
            <p:nvPr/>
          </p:nvSpPr>
          <p:spPr bwMode="auto">
            <a:xfrm>
              <a:off x="1962150" y="654049"/>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0</a:t>
              </a:r>
            </a:p>
          </p:txBody>
        </p:sp>
        <p:sp>
          <p:nvSpPr>
            <p:cNvPr id="18" name="Text Box 33"/>
            <p:cNvSpPr txBox="1">
              <a:spLocks noChangeArrowheads="1"/>
            </p:cNvSpPr>
            <p:nvPr/>
          </p:nvSpPr>
          <p:spPr bwMode="auto">
            <a:xfrm>
              <a:off x="2217738" y="67627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a:t>
              </a:r>
            </a:p>
          </p:txBody>
        </p:sp>
        <p:sp>
          <p:nvSpPr>
            <p:cNvPr id="19" name="Text Box 34"/>
            <p:cNvSpPr txBox="1">
              <a:spLocks noChangeArrowheads="1"/>
            </p:cNvSpPr>
            <p:nvPr/>
          </p:nvSpPr>
          <p:spPr bwMode="auto">
            <a:xfrm>
              <a:off x="2452688" y="72866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a:t>
              </a:r>
            </a:p>
          </p:txBody>
        </p:sp>
        <p:sp>
          <p:nvSpPr>
            <p:cNvPr id="20" name="Text Box 35"/>
            <p:cNvSpPr txBox="1">
              <a:spLocks noChangeArrowheads="1"/>
            </p:cNvSpPr>
            <p:nvPr/>
          </p:nvSpPr>
          <p:spPr bwMode="auto">
            <a:xfrm>
              <a:off x="2695574" y="8524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3</a:t>
              </a:r>
            </a:p>
          </p:txBody>
        </p:sp>
        <p:sp>
          <p:nvSpPr>
            <p:cNvPr id="21" name="Text Box 36"/>
            <p:cNvSpPr txBox="1">
              <a:spLocks noChangeArrowheads="1"/>
            </p:cNvSpPr>
            <p:nvPr/>
          </p:nvSpPr>
          <p:spPr bwMode="auto">
            <a:xfrm>
              <a:off x="2851150" y="10287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4</a:t>
              </a:r>
            </a:p>
          </p:txBody>
        </p:sp>
        <p:sp>
          <p:nvSpPr>
            <p:cNvPr id="22" name="Text Box 37"/>
            <p:cNvSpPr txBox="1">
              <a:spLocks noChangeArrowheads="1"/>
            </p:cNvSpPr>
            <p:nvPr/>
          </p:nvSpPr>
          <p:spPr bwMode="auto">
            <a:xfrm>
              <a:off x="3001963" y="11763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5</a:t>
              </a:r>
            </a:p>
          </p:txBody>
        </p:sp>
        <p:sp>
          <p:nvSpPr>
            <p:cNvPr id="23" name="Text Box 38"/>
            <p:cNvSpPr txBox="1">
              <a:spLocks noChangeArrowheads="1"/>
            </p:cNvSpPr>
            <p:nvPr/>
          </p:nvSpPr>
          <p:spPr bwMode="auto">
            <a:xfrm>
              <a:off x="3133725" y="13604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6</a:t>
              </a:r>
            </a:p>
          </p:txBody>
        </p:sp>
        <p:sp>
          <p:nvSpPr>
            <p:cNvPr id="24" name="Text Box 39"/>
            <p:cNvSpPr txBox="1">
              <a:spLocks noChangeArrowheads="1"/>
            </p:cNvSpPr>
            <p:nvPr/>
          </p:nvSpPr>
          <p:spPr bwMode="auto">
            <a:xfrm>
              <a:off x="3200400" y="1635124"/>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7</a:t>
              </a:r>
            </a:p>
          </p:txBody>
        </p:sp>
        <p:sp>
          <p:nvSpPr>
            <p:cNvPr id="25" name="Text Box 40"/>
            <p:cNvSpPr txBox="1">
              <a:spLocks noChangeArrowheads="1"/>
            </p:cNvSpPr>
            <p:nvPr/>
          </p:nvSpPr>
          <p:spPr bwMode="auto">
            <a:xfrm>
              <a:off x="3241675" y="18494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8</a:t>
              </a:r>
            </a:p>
          </p:txBody>
        </p:sp>
        <p:sp>
          <p:nvSpPr>
            <p:cNvPr id="26" name="Text Box 41"/>
            <p:cNvSpPr txBox="1">
              <a:spLocks noChangeArrowheads="1"/>
            </p:cNvSpPr>
            <p:nvPr/>
          </p:nvSpPr>
          <p:spPr bwMode="auto">
            <a:xfrm>
              <a:off x="3236913" y="20970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9</a:t>
              </a:r>
            </a:p>
          </p:txBody>
        </p:sp>
        <p:sp>
          <p:nvSpPr>
            <p:cNvPr id="27" name="Text Box 42"/>
            <p:cNvSpPr txBox="1">
              <a:spLocks noChangeArrowheads="1"/>
            </p:cNvSpPr>
            <p:nvPr/>
          </p:nvSpPr>
          <p:spPr bwMode="auto">
            <a:xfrm>
              <a:off x="3178175" y="2344739"/>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10</a:t>
              </a:r>
            </a:p>
          </p:txBody>
        </p:sp>
        <p:sp>
          <p:nvSpPr>
            <p:cNvPr id="28" name="Text Box 43"/>
            <p:cNvSpPr txBox="1">
              <a:spLocks noChangeArrowheads="1"/>
            </p:cNvSpPr>
            <p:nvPr/>
          </p:nvSpPr>
          <p:spPr bwMode="auto">
            <a:xfrm>
              <a:off x="3055938" y="257016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11</a:t>
              </a:r>
            </a:p>
          </p:txBody>
        </p:sp>
        <p:sp>
          <p:nvSpPr>
            <p:cNvPr id="29" name="Text Box 44"/>
            <p:cNvSpPr txBox="1">
              <a:spLocks noChangeArrowheads="1"/>
            </p:cNvSpPr>
            <p:nvPr/>
          </p:nvSpPr>
          <p:spPr bwMode="auto">
            <a:xfrm>
              <a:off x="2878138" y="27955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12</a:t>
              </a:r>
            </a:p>
          </p:txBody>
        </p:sp>
        <p:sp>
          <p:nvSpPr>
            <p:cNvPr id="30" name="Text Box 45"/>
            <p:cNvSpPr txBox="1">
              <a:spLocks noChangeArrowheads="1"/>
            </p:cNvSpPr>
            <p:nvPr/>
          </p:nvSpPr>
          <p:spPr bwMode="auto">
            <a:xfrm>
              <a:off x="2709863" y="2932113"/>
              <a:ext cx="230187"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13</a:t>
              </a:r>
            </a:p>
          </p:txBody>
        </p:sp>
        <p:sp>
          <p:nvSpPr>
            <p:cNvPr id="31" name="Text Box 46"/>
            <p:cNvSpPr txBox="1">
              <a:spLocks noChangeArrowheads="1"/>
            </p:cNvSpPr>
            <p:nvPr/>
          </p:nvSpPr>
          <p:spPr bwMode="auto">
            <a:xfrm>
              <a:off x="2500314" y="30607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14</a:t>
              </a:r>
            </a:p>
          </p:txBody>
        </p:sp>
        <p:sp>
          <p:nvSpPr>
            <p:cNvPr id="32" name="Text Box 47"/>
            <p:cNvSpPr txBox="1">
              <a:spLocks noChangeArrowheads="1"/>
            </p:cNvSpPr>
            <p:nvPr/>
          </p:nvSpPr>
          <p:spPr bwMode="auto">
            <a:xfrm>
              <a:off x="2233613" y="3133726"/>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15</a:t>
              </a:r>
            </a:p>
          </p:txBody>
        </p:sp>
        <p:sp>
          <p:nvSpPr>
            <p:cNvPr id="33" name="Oval 48"/>
            <p:cNvSpPr>
              <a:spLocks noChangeArrowheads="1"/>
            </p:cNvSpPr>
            <p:nvPr/>
          </p:nvSpPr>
          <p:spPr bwMode="auto">
            <a:xfrm>
              <a:off x="3009900" y="996950"/>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34" name="Oval 49"/>
            <p:cNvSpPr>
              <a:spLocks noChangeArrowheads="1"/>
            </p:cNvSpPr>
            <p:nvPr/>
          </p:nvSpPr>
          <p:spPr bwMode="auto">
            <a:xfrm>
              <a:off x="1028700" y="2987675"/>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35" name="Oval 50"/>
            <p:cNvSpPr>
              <a:spLocks noChangeArrowheads="1"/>
            </p:cNvSpPr>
            <p:nvPr/>
          </p:nvSpPr>
          <p:spPr bwMode="auto">
            <a:xfrm>
              <a:off x="714375" y="1454150"/>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36" name="Oval 51"/>
            <p:cNvSpPr>
              <a:spLocks noChangeArrowheads="1"/>
            </p:cNvSpPr>
            <p:nvPr/>
          </p:nvSpPr>
          <p:spPr bwMode="auto">
            <a:xfrm>
              <a:off x="2609850" y="7302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37" name="Oval 52"/>
            <p:cNvSpPr>
              <a:spLocks noChangeArrowheads="1"/>
            </p:cNvSpPr>
            <p:nvPr/>
          </p:nvSpPr>
          <p:spPr bwMode="auto">
            <a:xfrm>
              <a:off x="3332163" y="2541588"/>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38" name="Oval 53"/>
            <p:cNvSpPr>
              <a:spLocks noChangeArrowheads="1"/>
            </p:cNvSpPr>
            <p:nvPr/>
          </p:nvSpPr>
          <p:spPr bwMode="auto">
            <a:xfrm>
              <a:off x="1495425" y="682625"/>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39" name="Oval 54"/>
            <p:cNvSpPr>
              <a:spLocks noChangeArrowheads="1"/>
            </p:cNvSpPr>
            <p:nvPr/>
          </p:nvSpPr>
          <p:spPr bwMode="auto">
            <a:xfrm>
              <a:off x="3352800" y="14922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0" name="Oval 55"/>
            <p:cNvSpPr>
              <a:spLocks noChangeArrowheads="1"/>
            </p:cNvSpPr>
            <p:nvPr/>
          </p:nvSpPr>
          <p:spPr bwMode="auto">
            <a:xfrm>
              <a:off x="3467100" y="2016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1" name="Oval 56"/>
            <p:cNvSpPr>
              <a:spLocks noChangeArrowheads="1"/>
            </p:cNvSpPr>
            <p:nvPr/>
          </p:nvSpPr>
          <p:spPr bwMode="auto">
            <a:xfrm>
              <a:off x="3057525" y="30162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2" name="Oval 57"/>
            <p:cNvSpPr>
              <a:spLocks noChangeArrowheads="1"/>
            </p:cNvSpPr>
            <p:nvPr/>
          </p:nvSpPr>
          <p:spPr bwMode="auto">
            <a:xfrm>
              <a:off x="2590800" y="3321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3" name="Oval 58"/>
            <p:cNvSpPr>
              <a:spLocks noChangeArrowheads="1"/>
            </p:cNvSpPr>
            <p:nvPr/>
          </p:nvSpPr>
          <p:spPr bwMode="auto">
            <a:xfrm>
              <a:off x="2066925" y="34353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4" name="Oval 59"/>
            <p:cNvSpPr>
              <a:spLocks noChangeArrowheads="1"/>
            </p:cNvSpPr>
            <p:nvPr/>
          </p:nvSpPr>
          <p:spPr bwMode="auto">
            <a:xfrm>
              <a:off x="1524000" y="33305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5" name="Oval 60"/>
            <p:cNvSpPr>
              <a:spLocks noChangeArrowheads="1"/>
            </p:cNvSpPr>
            <p:nvPr/>
          </p:nvSpPr>
          <p:spPr bwMode="auto">
            <a:xfrm>
              <a:off x="762000" y="2559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6" name="Oval 61"/>
            <p:cNvSpPr>
              <a:spLocks noChangeArrowheads="1"/>
            </p:cNvSpPr>
            <p:nvPr/>
          </p:nvSpPr>
          <p:spPr bwMode="auto">
            <a:xfrm>
              <a:off x="647700" y="2016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7" name="Oval 62"/>
            <p:cNvSpPr>
              <a:spLocks noChangeArrowheads="1"/>
            </p:cNvSpPr>
            <p:nvPr/>
          </p:nvSpPr>
          <p:spPr bwMode="auto">
            <a:xfrm>
              <a:off x="1066800" y="1035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8" name="Oval 51"/>
            <p:cNvSpPr>
              <a:spLocks noChangeArrowheads="1"/>
            </p:cNvSpPr>
            <p:nvPr/>
          </p:nvSpPr>
          <p:spPr bwMode="auto">
            <a:xfrm>
              <a:off x="2335213" y="654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9" name="Oval 51"/>
            <p:cNvSpPr>
              <a:spLocks noChangeArrowheads="1"/>
            </p:cNvSpPr>
            <p:nvPr/>
          </p:nvSpPr>
          <p:spPr bwMode="auto">
            <a:xfrm>
              <a:off x="2846388" y="8604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0" name="Oval 51"/>
            <p:cNvSpPr>
              <a:spLocks noChangeArrowheads="1"/>
            </p:cNvSpPr>
            <p:nvPr/>
          </p:nvSpPr>
          <p:spPr bwMode="auto">
            <a:xfrm>
              <a:off x="1276350" y="8604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1" name="Oval 51"/>
            <p:cNvSpPr>
              <a:spLocks noChangeArrowheads="1"/>
            </p:cNvSpPr>
            <p:nvPr/>
          </p:nvSpPr>
          <p:spPr bwMode="auto">
            <a:xfrm>
              <a:off x="1779588" y="6461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2" name="Oval 51"/>
            <p:cNvSpPr>
              <a:spLocks noChangeArrowheads="1"/>
            </p:cNvSpPr>
            <p:nvPr/>
          </p:nvSpPr>
          <p:spPr bwMode="auto">
            <a:xfrm>
              <a:off x="3235325" y="12636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3" name="Oval 51"/>
            <p:cNvSpPr>
              <a:spLocks noChangeArrowheads="1"/>
            </p:cNvSpPr>
            <p:nvPr/>
          </p:nvSpPr>
          <p:spPr bwMode="auto">
            <a:xfrm>
              <a:off x="1801813" y="3413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4" name="Oval 51"/>
            <p:cNvSpPr>
              <a:spLocks noChangeArrowheads="1"/>
            </p:cNvSpPr>
            <p:nvPr/>
          </p:nvSpPr>
          <p:spPr bwMode="auto">
            <a:xfrm>
              <a:off x="1252538" y="31988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5" name="Oval 51"/>
            <p:cNvSpPr>
              <a:spLocks noChangeArrowheads="1"/>
            </p:cNvSpPr>
            <p:nvPr/>
          </p:nvSpPr>
          <p:spPr bwMode="auto">
            <a:xfrm>
              <a:off x="666750" y="17430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6" name="Oval 51"/>
            <p:cNvSpPr>
              <a:spLocks noChangeArrowheads="1"/>
            </p:cNvSpPr>
            <p:nvPr/>
          </p:nvSpPr>
          <p:spPr bwMode="auto">
            <a:xfrm>
              <a:off x="879475" y="12477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7" name="Oval 51"/>
            <p:cNvSpPr>
              <a:spLocks noChangeArrowheads="1"/>
            </p:cNvSpPr>
            <p:nvPr/>
          </p:nvSpPr>
          <p:spPr bwMode="auto">
            <a:xfrm>
              <a:off x="2319338" y="3413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8" name="Oval 51"/>
            <p:cNvSpPr>
              <a:spLocks noChangeArrowheads="1"/>
            </p:cNvSpPr>
            <p:nvPr/>
          </p:nvSpPr>
          <p:spPr bwMode="auto">
            <a:xfrm>
              <a:off x="2846388" y="31908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9" name="Oval 51"/>
            <p:cNvSpPr>
              <a:spLocks noChangeArrowheads="1"/>
            </p:cNvSpPr>
            <p:nvPr/>
          </p:nvSpPr>
          <p:spPr bwMode="auto">
            <a:xfrm>
              <a:off x="3440113" y="22844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60" name="Oval 51"/>
            <p:cNvSpPr>
              <a:spLocks noChangeArrowheads="1"/>
            </p:cNvSpPr>
            <p:nvPr/>
          </p:nvSpPr>
          <p:spPr bwMode="auto">
            <a:xfrm>
              <a:off x="3219450" y="28098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61" name="Oval 51"/>
            <p:cNvSpPr>
              <a:spLocks noChangeArrowheads="1"/>
            </p:cNvSpPr>
            <p:nvPr/>
          </p:nvSpPr>
          <p:spPr bwMode="auto">
            <a:xfrm>
              <a:off x="673100" y="23002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62" name="Oval 51"/>
            <p:cNvSpPr>
              <a:spLocks noChangeArrowheads="1"/>
            </p:cNvSpPr>
            <p:nvPr/>
          </p:nvSpPr>
          <p:spPr bwMode="auto">
            <a:xfrm>
              <a:off x="871538" y="28035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63" name="Oval 51"/>
            <p:cNvSpPr>
              <a:spLocks noChangeArrowheads="1"/>
            </p:cNvSpPr>
            <p:nvPr/>
          </p:nvSpPr>
          <p:spPr bwMode="auto">
            <a:xfrm>
              <a:off x="2060575" y="6238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64" name="Text Box 47"/>
            <p:cNvSpPr txBox="1">
              <a:spLocks noChangeArrowheads="1"/>
            </p:cNvSpPr>
            <p:nvPr/>
          </p:nvSpPr>
          <p:spPr bwMode="auto">
            <a:xfrm>
              <a:off x="2005013" y="3168649"/>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16</a:t>
              </a:r>
            </a:p>
          </p:txBody>
        </p:sp>
        <p:sp>
          <p:nvSpPr>
            <p:cNvPr id="65" name="Text Box 47"/>
            <p:cNvSpPr txBox="1">
              <a:spLocks noChangeArrowheads="1"/>
            </p:cNvSpPr>
            <p:nvPr/>
          </p:nvSpPr>
          <p:spPr bwMode="auto">
            <a:xfrm>
              <a:off x="1762125" y="314801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17</a:t>
              </a:r>
            </a:p>
          </p:txBody>
        </p:sp>
        <p:sp>
          <p:nvSpPr>
            <p:cNvPr id="66" name="Text Box 47"/>
            <p:cNvSpPr txBox="1">
              <a:spLocks noChangeArrowheads="1"/>
            </p:cNvSpPr>
            <p:nvPr/>
          </p:nvSpPr>
          <p:spPr bwMode="auto">
            <a:xfrm>
              <a:off x="1517650" y="30876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18</a:t>
              </a:r>
            </a:p>
          </p:txBody>
        </p:sp>
        <p:sp>
          <p:nvSpPr>
            <p:cNvPr id="67" name="Text Box 47"/>
            <p:cNvSpPr txBox="1">
              <a:spLocks noChangeArrowheads="1"/>
            </p:cNvSpPr>
            <p:nvPr/>
          </p:nvSpPr>
          <p:spPr bwMode="auto">
            <a:xfrm>
              <a:off x="1296988" y="2987674"/>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19</a:t>
              </a:r>
            </a:p>
          </p:txBody>
        </p:sp>
        <p:sp>
          <p:nvSpPr>
            <p:cNvPr id="68" name="Text Box 47"/>
            <p:cNvSpPr txBox="1">
              <a:spLocks noChangeArrowheads="1"/>
            </p:cNvSpPr>
            <p:nvPr/>
          </p:nvSpPr>
          <p:spPr bwMode="auto">
            <a:xfrm>
              <a:off x="1181100" y="27511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20</a:t>
              </a:r>
            </a:p>
          </p:txBody>
        </p:sp>
        <p:sp>
          <p:nvSpPr>
            <p:cNvPr id="69" name="Text Box 47"/>
            <p:cNvSpPr txBox="1">
              <a:spLocks noChangeArrowheads="1"/>
            </p:cNvSpPr>
            <p:nvPr/>
          </p:nvSpPr>
          <p:spPr bwMode="auto">
            <a:xfrm>
              <a:off x="990600" y="2636839"/>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21</a:t>
              </a:r>
            </a:p>
          </p:txBody>
        </p:sp>
        <p:sp>
          <p:nvSpPr>
            <p:cNvPr id="70" name="Text Box 47"/>
            <p:cNvSpPr txBox="1">
              <a:spLocks noChangeArrowheads="1"/>
            </p:cNvSpPr>
            <p:nvPr/>
          </p:nvSpPr>
          <p:spPr bwMode="auto">
            <a:xfrm>
              <a:off x="876300" y="24384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22</a:t>
              </a:r>
            </a:p>
          </p:txBody>
        </p:sp>
        <p:sp>
          <p:nvSpPr>
            <p:cNvPr id="71" name="Text Box 47"/>
            <p:cNvSpPr txBox="1">
              <a:spLocks noChangeArrowheads="1"/>
            </p:cNvSpPr>
            <p:nvPr/>
          </p:nvSpPr>
          <p:spPr bwMode="auto">
            <a:xfrm>
              <a:off x="762000" y="218757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23</a:t>
              </a:r>
            </a:p>
          </p:txBody>
        </p:sp>
        <p:sp>
          <p:nvSpPr>
            <p:cNvPr id="72" name="Text Box 47"/>
            <p:cNvSpPr txBox="1">
              <a:spLocks noChangeArrowheads="1"/>
            </p:cNvSpPr>
            <p:nvPr/>
          </p:nvSpPr>
          <p:spPr bwMode="auto">
            <a:xfrm>
              <a:off x="762000" y="19050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24</a:t>
              </a:r>
            </a:p>
          </p:txBody>
        </p:sp>
        <p:sp>
          <p:nvSpPr>
            <p:cNvPr id="73" name="Text Box 47"/>
            <p:cNvSpPr txBox="1">
              <a:spLocks noChangeArrowheads="1"/>
            </p:cNvSpPr>
            <p:nvPr/>
          </p:nvSpPr>
          <p:spPr bwMode="auto">
            <a:xfrm>
              <a:off x="762000" y="1646239"/>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25</a:t>
              </a:r>
            </a:p>
          </p:txBody>
        </p:sp>
        <p:sp>
          <p:nvSpPr>
            <p:cNvPr id="74" name="Text Box 47"/>
            <p:cNvSpPr txBox="1">
              <a:spLocks noChangeArrowheads="1"/>
            </p:cNvSpPr>
            <p:nvPr/>
          </p:nvSpPr>
          <p:spPr bwMode="auto">
            <a:xfrm>
              <a:off x="860425" y="142557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26</a:t>
              </a:r>
            </a:p>
          </p:txBody>
        </p:sp>
        <p:sp>
          <p:nvSpPr>
            <p:cNvPr id="75" name="Text Box 47"/>
            <p:cNvSpPr txBox="1">
              <a:spLocks noChangeArrowheads="1"/>
            </p:cNvSpPr>
            <p:nvPr/>
          </p:nvSpPr>
          <p:spPr bwMode="auto">
            <a:xfrm>
              <a:off x="966787" y="124936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27</a:t>
              </a:r>
            </a:p>
          </p:txBody>
        </p:sp>
        <p:sp>
          <p:nvSpPr>
            <p:cNvPr id="76" name="Text Box 47"/>
            <p:cNvSpPr txBox="1">
              <a:spLocks noChangeArrowheads="1"/>
            </p:cNvSpPr>
            <p:nvPr/>
          </p:nvSpPr>
          <p:spPr bwMode="auto">
            <a:xfrm>
              <a:off x="1058863" y="104457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28</a:t>
              </a:r>
            </a:p>
          </p:txBody>
        </p:sp>
        <p:sp>
          <p:nvSpPr>
            <p:cNvPr id="77" name="Text Box 47"/>
            <p:cNvSpPr txBox="1">
              <a:spLocks noChangeArrowheads="1"/>
            </p:cNvSpPr>
            <p:nvPr/>
          </p:nvSpPr>
          <p:spPr bwMode="auto">
            <a:xfrm>
              <a:off x="1271588" y="89217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29</a:t>
              </a:r>
            </a:p>
          </p:txBody>
        </p:sp>
        <p:sp>
          <p:nvSpPr>
            <p:cNvPr id="78" name="Text Box 47"/>
            <p:cNvSpPr txBox="1">
              <a:spLocks noChangeArrowheads="1"/>
            </p:cNvSpPr>
            <p:nvPr/>
          </p:nvSpPr>
          <p:spPr bwMode="auto">
            <a:xfrm>
              <a:off x="1485900" y="78422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30</a:t>
              </a:r>
            </a:p>
          </p:txBody>
        </p:sp>
        <p:sp>
          <p:nvSpPr>
            <p:cNvPr id="79" name="Text Box 47"/>
            <p:cNvSpPr txBox="1">
              <a:spLocks noChangeArrowheads="1"/>
            </p:cNvSpPr>
            <p:nvPr/>
          </p:nvSpPr>
          <p:spPr bwMode="auto">
            <a:xfrm>
              <a:off x="1760538" y="669926"/>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31</a:t>
              </a:r>
            </a:p>
          </p:txBody>
        </p:sp>
        <p:sp>
          <p:nvSpPr>
            <p:cNvPr id="80" name="Text Box 71"/>
            <p:cNvSpPr txBox="1">
              <a:spLocks noChangeArrowheads="1"/>
            </p:cNvSpPr>
            <p:nvPr/>
          </p:nvSpPr>
          <p:spPr bwMode="auto">
            <a:xfrm>
              <a:off x="3733801" y="2286000"/>
              <a:ext cx="381001"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K8</a:t>
              </a:r>
            </a:p>
          </p:txBody>
        </p:sp>
        <p:sp>
          <p:nvSpPr>
            <p:cNvPr id="81" name="Oval 53"/>
            <p:cNvSpPr>
              <a:spLocks noChangeArrowheads="1"/>
            </p:cNvSpPr>
            <p:nvPr/>
          </p:nvSpPr>
          <p:spPr bwMode="auto">
            <a:xfrm>
              <a:off x="3390900" y="1706563"/>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82" name="Text Box 47"/>
            <p:cNvSpPr txBox="1">
              <a:spLocks noChangeArrowheads="1"/>
            </p:cNvSpPr>
            <p:nvPr/>
          </p:nvSpPr>
          <p:spPr bwMode="auto">
            <a:xfrm>
              <a:off x="3581399" y="1600201"/>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N7</a:t>
              </a:r>
            </a:p>
          </p:txBody>
        </p:sp>
        <p:sp>
          <p:nvSpPr>
            <p:cNvPr id="83" name="Text Box 47"/>
            <p:cNvSpPr txBox="1">
              <a:spLocks noChangeArrowheads="1"/>
            </p:cNvSpPr>
            <p:nvPr/>
          </p:nvSpPr>
          <p:spPr bwMode="auto">
            <a:xfrm>
              <a:off x="3521075" y="2498725"/>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N10</a:t>
              </a:r>
            </a:p>
          </p:txBody>
        </p:sp>
        <p:sp>
          <p:nvSpPr>
            <p:cNvPr id="84" name="Text Box 47"/>
            <p:cNvSpPr txBox="1">
              <a:spLocks noChangeArrowheads="1"/>
            </p:cNvSpPr>
            <p:nvPr/>
          </p:nvSpPr>
          <p:spPr bwMode="auto">
            <a:xfrm>
              <a:off x="3200400" y="884238"/>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N4</a:t>
              </a:r>
            </a:p>
          </p:txBody>
        </p:sp>
        <p:sp>
          <p:nvSpPr>
            <p:cNvPr id="85" name="Text Box 47"/>
            <p:cNvSpPr txBox="1">
              <a:spLocks noChangeArrowheads="1"/>
            </p:cNvSpPr>
            <p:nvPr/>
          </p:nvSpPr>
          <p:spPr bwMode="auto">
            <a:xfrm>
              <a:off x="1265237" y="419100"/>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N30</a:t>
              </a:r>
            </a:p>
          </p:txBody>
        </p:sp>
        <p:sp>
          <p:nvSpPr>
            <p:cNvPr id="86" name="Text Box 47"/>
            <p:cNvSpPr txBox="1">
              <a:spLocks noChangeArrowheads="1"/>
            </p:cNvSpPr>
            <p:nvPr/>
          </p:nvSpPr>
          <p:spPr bwMode="auto">
            <a:xfrm>
              <a:off x="647701" y="2987674"/>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N20</a:t>
              </a:r>
            </a:p>
          </p:txBody>
        </p:sp>
        <p:sp>
          <p:nvSpPr>
            <p:cNvPr id="87" name="Text Box 47"/>
            <p:cNvSpPr txBox="1">
              <a:spLocks noChangeArrowheads="1"/>
            </p:cNvSpPr>
            <p:nvPr/>
          </p:nvSpPr>
          <p:spPr bwMode="auto">
            <a:xfrm>
              <a:off x="304799" y="1295400"/>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N26</a:t>
              </a:r>
            </a:p>
          </p:txBody>
        </p:sp>
        <p:sp>
          <p:nvSpPr>
            <p:cNvPr id="88" name="Text Box 71"/>
            <p:cNvSpPr txBox="1">
              <a:spLocks noChangeArrowheads="1"/>
            </p:cNvSpPr>
            <p:nvPr/>
          </p:nvSpPr>
          <p:spPr bwMode="auto">
            <a:xfrm>
              <a:off x="2735264" y="419100"/>
              <a:ext cx="358775"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K31</a:t>
              </a:r>
            </a:p>
          </p:txBody>
        </p:sp>
        <p:sp>
          <p:nvSpPr>
            <p:cNvPr id="89" name="Text Box 71"/>
            <p:cNvSpPr txBox="1">
              <a:spLocks noChangeArrowheads="1"/>
            </p:cNvSpPr>
            <p:nvPr/>
          </p:nvSpPr>
          <p:spPr bwMode="auto">
            <a:xfrm>
              <a:off x="708024" y="701675"/>
              <a:ext cx="396875"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K29</a:t>
              </a:r>
            </a:p>
          </p:txBody>
        </p:sp>
        <p:sp>
          <p:nvSpPr>
            <p:cNvPr id="90" name="Text Box 71"/>
            <p:cNvSpPr txBox="1">
              <a:spLocks noChangeArrowheads="1"/>
            </p:cNvSpPr>
            <p:nvPr/>
          </p:nvSpPr>
          <p:spPr bwMode="auto">
            <a:xfrm>
              <a:off x="3124200" y="457200"/>
              <a:ext cx="358775"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K2</a:t>
              </a:r>
            </a:p>
          </p:txBody>
        </p:sp>
        <p:sp>
          <p:nvSpPr>
            <p:cNvPr id="91" name="Text Box 71"/>
            <p:cNvSpPr txBox="1">
              <a:spLocks noChangeArrowheads="1"/>
            </p:cNvSpPr>
            <p:nvPr/>
          </p:nvSpPr>
          <p:spPr bwMode="auto">
            <a:xfrm>
              <a:off x="715963" y="3336925"/>
              <a:ext cx="357187"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K12</a:t>
              </a:r>
            </a:p>
          </p:txBody>
        </p:sp>
        <p:sp>
          <p:nvSpPr>
            <p:cNvPr id="92" name="Text Box 71"/>
            <p:cNvSpPr txBox="1">
              <a:spLocks noChangeArrowheads="1"/>
            </p:cNvSpPr>
            <p:nvPr/>
          </p:nvSpPr>
          <p:spPr bwMode="auto">
            <a:xfrm>
              <a:off x="168275" y="1684338"/>
              <a:ext cx="357188"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K23</a:t>
              </a:r>
            </a:p>
          </p:txBody>
        </p:sp>
        <p:cxnSp>
          <p:nvCxnSpPr>
            <p:cNvPr id="93" name="直接箭头连接符 92"/>
            <p:cNvCxnSpPr>
              <a:stCxn id="80" idx="1"/>
            </p:cNvCxnSpPr>
            <p:nvPr/>
          </p:nvCxnSpPr>
          <p:spPr bwMode="auto">
            <a:xfrm flipH="1">
              <a:off x="3459165" y="2393680"/>
              <a:ext cx="274636" cy="174896"/>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4" name="直接箭头连接符 93"/>
            <p:cNvCxnSpPr/>
            <p:nvPr/>
          </p:nvCxnSpPr>
          <p:spPr bwMode="auto">
            <a:xfrm>
              <a:off x="2933700" y="685800"/>
              <a:ext cx="139700" cy="315913"/>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5" name="直接箭头连接符 94"/>
            <p:cNvCxnSpPr/>
            <p:nvPr/>
          </p:nvCxnSpPr>
          <p:spPr bwMode="auto">
            <a:xfrm flipH="1">
              <a:off x="3132138" y="719138"/>
              <a:ext cx="198437" cy="27940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6" name="直接箭头连接符 95"/>
            <p:cNvCxnSpPr/>
            <p:nvPr/>
          </p:nvCxnSpPr>
          <p:spPr bwMode="auto">
            <a:xfrm flipV="1">
              <a:off x="525463" y="1577975"/>
              <a:ext cx="190500" cy="10795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7" name="直接箭头连接符 96"/>
            <p:cNvCxnSpPr/>
            <p:nvPr/>
          </p:nvCxnSpPr>
          <p:spPr bwMode="auto">
            <a:xfrm flipV="1">
              <a:off x="998538" y="3132138"/>
              <a:ext cx="68262" cy="212725"/>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8" name="直接箭头连接符 97"/>
            <p:cNvCxnSpPr/>
            <p:nvPr/>
          </p:nvCxnSpPr>
          <p:spPr bwMode="auto">
            <a:xfrm flipV="1">
              <a:off x="1150938" y="746125"/>
              <a:ext cx="342900" cy="55563"/>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99" name="Oval 20"/>
            <p:cNvSpPr>
              <a:spLocks noChangeArrowheads="1"/>
            </p:cNvSpPr>
            <p:nvPr/>
          </p:nvSpPr>
          <p:spPr bwMode="auto">
            <a:xfrm>
              <a:off x="5638800" y="646113"/>
              <a:ext cx="2819400" cy="28194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00" name="Text Box 31"/>
            <p:cNvSpPr txBox="1">
              <a:spLocks noChangeArrowheads="1"/>
            </p:cNvSpPr>
            <p:nvPr/>
          </p:nvSpPr>
          <p:spPr bwMode="auto">
            <a:xfrm>
              <a:off x="6915150" y="64611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0</a:t>
              </a:r>
            </a:p>
          </p:txBody>
        </p:sp>
        <p:sp>
          <p:nvSpPr>
            <p:cNvPr id="101" name="Text Box 33"/>
            <p:cNvSpPr txBox="1">
              <a:spLocks noChangeArrowheads="1"/>
            </p:cNvSpPr>
            <p:nvPr/>
          </p:nvSpPr>
          <p:spPr bwMode="auto">
            <a:xfrm>
              <a:off x="7170738" y="6683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a:t>
              </a:r>
            </a:p>
          </p:txBody>
        </p:sp>
        <p:sp>
          <p:nvSpPr>
            <p:cNvPr id="102" name="Text Box 34"/>
            <p:cNvSpPr txBox="1">
              <a:spLocks noChangeArrowheads="1"/>
            </p:cNvSpPr>
            <p:nvPr/>
          </p:nvSpPr>
          <p:spPr bwMode="auto">
            <a:xfrm>
              <a:off x="7405688" y="72072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a:t>
              </a:r>
            </a:p>
          </p:txBody>
        </p:sp>
        <p:sp>
          <p:nvSpPr>
            <p:cNvPr id="103" name="Text Box 35"/>
            <p:cNvSpPr txBox="1">
              <a:spLocks noChangeArrowheads="1"/>
            </p:cNvSpPr>
            <p:nvPr/>
          </p:nvSpPr>
          <p:spPr bwMode="auto">
            <a:xfrm>
              <a:off x="7648575" y="84455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3</a:t>
              </a:r>
            </a:p>
          </p:txBody>
        </p:sp>
        <p:sp>
          <p:nvSpPr>
            <p:cNvPr id="104" name="Text Box 36"/>
            <p:cNvSpPr txBox="1">
              <a:spLocks noChangeArrowheads="1"/>
            </p:cNvSpPr>
            <p:nvPr/>
          </p:nvSpPr>
          <p:spPr bwMode="auto">
            <a:xfrm>
              <a:off x="7804150" y="102076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4</a:t>
              </a:r>
            </a:p>
          </p:txBody>
        </p:sp>
        <p:sp>
          <p:nvSpPr>
            <p:cNvPr id="105" name="Text Box 37"/>
            <p:cNvSpPr txBox="1">
              <a:spLocks noChangeArrowheads="1"/>
            </p:cNvSpPr>
            <p:nvPr/>
          </p:nvSpPr>
          <p:spPr bwMode="auto">
            <a:xfrm>
              <a:off x="7954964" y="11684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5</a:t>
              </a:r>
            </a:p>
          </p:txBody>
        </p:sp>
        <p:sp>
          <p:nvSpPr>
            <p:cNvPr id="106" name="Text Box 38"/>
            <p:cNvSpPr txBox="1">
              <a:spLocks noChangeArrowheads="1"/>
            </p:cNvSpPr>
            <p:nvPr/>
          </p:nvSpPr>
          <p:spPr bwMode="auto">
            <a:xfrm>
              <a:off x="8086726" y="135255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6</a:t>
              </a:r>
            </a:p>
          </p:txBody>
        </p:sp>
        <p:sp>
          <p:nvSpPr>
            <p:cNvPr id="107" name="Text Box 39"/>
            <p:cNvSpPr txBox="1">
              <a:spLocks noChangeArrowheads="1"/>
            </p:cNvSpPr>
            <p:nvPr/>
          </p:nvSpPr>
          <p:spPr bwMode="auto">
            <a:xfrm>
              <a:off x="8153399" y="16271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7</a:t>
              </a:r>
            </a:p>
          </p:txBody>
        </p:sp>
        <p:sp>
          <p:nvSpPr>
            <p:cNvPr id="108" name="Text Box 40"/>
            <p:cNvSpPr txBox="1">
              <a:spLocks noChangeArrowheads="1"/>
            </p:cNvSpPr>
            <p:nvPr/>
          </p:nvSpPr>
          <p:spPr bwMode="auto">
            <a:xfrm>
              <a:off x="8194675" y="1841501"/>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8</a:t>
              </a:r>
            </a:p>
          </p:txBody>
        </p:sp>
        <p:sp>
          <p:nvSpPr>
            <p:cNvPr id="109" name="Text Box 41"/>
            <p:cNvSpPr txBox="1">
              <a:spLocks noChangeArrowheads="1"/>
            </p:cNvSpPr>
            <p:nvPr/>
          </p:nvSpPr>
          <p:spPr bwMode="auto">
            <a:xfrm>
              <a:off x="8189913" y="208915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9</a:t>
              </a:r>
            </a:p>
          </p:txBody>
        </p:sp>
        <p:sp>
          <p:nvSpPr>
            <p:cNvPr id="110" name="Text Box 42"/>
            <p:cNvSpPr txBox="1">
              <a:spLocks noChangeArrowheads="1"/>
            </p:cNvSpPr>
            <p:nvPr/>
          </p:nvSpPr>
          <p:spPr bwMode="auto">
            <a:xfrm>
              <a:off x="8131175" y="23368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10</a:t>
              </a:r>
            </a:p>
          </p:txBody>
        </p:sp>
        <p:sp>
          <p:nvSpPr>
            <p:cNvPr id="111" name="Text Box 43"/>
            <p:cNvSpPr txBox="1">
              <a:spLocks noChangeArrowheads="1"/>
            </p:cNvSpPr>
            <p:nvPr/>
          </p:nvSpPr>
          <p:spPr bwMode="auto">
            <a:xfrm>
              <a:off x="8008938" y="256222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11</a:t>
              </a:r>
            </a:p>
          </p:txBody>
        </p:sp>
        <p:sp>
          <p:nvSpPr>
            <p:cNvPr id="112" name="Text Box 44"/>
            <p:cNvSpPr txBox="1">
              <a:spLocks noChangeArrowheads="1"/>
            </p:cNvSpPr>
            <p:nvPr/>
          </p:nvSpPr>
          <p:spPr bwMode="auto">
            <a:xfrm>
              <a:off x="7831138" y="278765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12</a:t>
              </a:r>
            </a:p>
          </p:txBody>
        </p:sp>
        <p:sp>
          <p:nvSpPr>
            <p:cNvPr id="113" name="Text Box 45"/>
            <p:cNvSpPr txBox="1">
              <a:spLocks noChangeArrowheads="1"/>
            </p:cNvSpPr>
            <p:nvPr/>
          </p:nvSpPr>
          <p:spPr bwMode="auto">
            <a:xfrm>
              <a:off x="7662864" y="2924175"/>
              <a:ext cx="230187"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13</a:t>
              </a:r>
            </a:p>
          </p:txBody>
        </p:sp>
        <p:sp>
          <p:nvSpPr>
            <p:cNvPr id="114" name="Text Box 46"/>
            <p:cNvSpPr txBox="1">
              <a:spLocks noChangeArrowheads="1"/>
            </p:cNvSpPr>
            <p:nvPr/>
          </p:nvSpPr>
          <p:spPr bwMode="auto">
            <a:xfrm>
              <a:off x="7453313" y="305276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14</a:t>
              </a:r>
            </a:p>
          </p:txBody>
        </p:sp>
        <p:sp>
          <p:nvSpPr>
            <p:cNvPr id="115" name="Text Box 47"/>
            <p:cNvSpPr txBox="1">
              <a:spLocks noChangeArrowheads="1"/>
            </p:cNvSpPr>
            <p:nvPr/>
          </p:nvSpPr>
          <p:spPr bwMode="auto">
            <a:xfrm>
              <a:off x="7186614" y="31257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15</a:t>
              </a:r>
            </a:p>
          </p:txBody>
        </p:sp>
        <p:sp>
          <p:nvSpPr>
            <p:cNvPr id="116" name="Oval 48"/>
            <p:cNvSpPr>
              <a:spLocks noChangeArrowheads="1"/>
            </p:cNvSpPr>
            <p:nvPr/>
          </p:nvSpPr>
          <p:spPr bwMode="auto">
            <a:xfrm>
              <a:off x="7962900" y="989013"/>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17" name="Oval 49"/>
            <p:cNvSpPr>
              <a:spLocks noChangeArrowheads="1"/>
            </p:cNvSpPr>
            <p:nvPr/>
          </p:nvSpPr>
          <p:spPr bwMode="auto">
            <a:xfrm>
              <a:off x="5981700" y="2979738"/>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18" name="Oval 51"/>
            <p:cNvSpPr>
              <a:spLocks noChangeArrowheads="1"/>
            </p:cNvSpPr>
            <p:nvPr/>
          </p:nvSpPr>
          <p:spPr bwMode="auto">
            <a:xfrm>
              <a:off x="7562850" y="7223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19" name="Oval 52"/>
            <p:cNvSpPr>
              <a:spLocks noChangeArrowheads="1"/>
            </p:cNvSpPr>
            <p:nvPr/>
          </p:nvSpPr>
          <p:spPr bwMode="auto">
            <a:xfrm>
              <a:off x="8285163" y="2533650"/>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0" name="Oval 53"/>
            <p:cNvSpPr>
              <a:spLocks noChangeArrowheads="1"/>
            </p:cNvSpPr>
            <p:nvPr/>
          </p:nvSpPr>
          <p:spPr bwMode="auto">
            <a:xfrm>
              <a:off x="6448425" y="674688"/>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1" name="Oval 54"/>
            <p:cNvSpPr>
              <a:spLocks noChangeArrowheads="1"/>
            </p:cNvSpPr>
            <p:nvPr/>
          </p:nvSpPr>
          <p:spPr bwMode="auto">
            <a:xfrm>
              <a:off x="8305800" y="14843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2" name="Oval 55"/>
            <p:cNvSpPr>
              <a:spLocks noChangeArrowheads="1"/>
            </p:cNvSpPr>
            <p:nvPr/>
          </p:nvSpPr>
          <p:spPr bwMode="auto">
            <a:xfrm>
              <a:off x="8420100" y="20081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3" name="Oval 56"/>
            <p:cNvSpPr>
              <a:spLocks noChangeArrowheads="1"/>
            </p:cNvSpPr>
            <p:nvPr/>
          </p:nvSpPr>
          <p:spPr bwMode="auto">
            <a:xfrm>
              <a:off x="8010525" y="30083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4" name="Oval 57"/>
            <p:cNvSpPr>
              <a:spLocks noChangeArrowheads="1"/>
            </p:cNvSpPr>
            <p:nvPr/>
          </p:nvSpPr>
          <p:spPr bwMode="auto">
            <a:xfrm>
              <a:off x="7543800" y="33131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5" name="Oval 58"/>
            <p:cNvSpPr>
              <a:spLocks noChangeArrowheads="1"/>
            </p:cNvSpPr>
            <p:nvPr/>
          </p:nvSpPr>
          <p:spPr bwMode="auto">
            <a:xfrm>
              <a:off x="7019925" y="34274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6" name="Oval 59"/>
            <p:cNvSpPr>
              <a:spLocks noChangeArrowheads="1"/>
            </p:cNvSpPr>
            <p:nvPr/>
          </p:nvSpPr>
          <p:spPr bwMode="auto">
            <a:xfrm>
              <a:off x="6477000" y="332263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7" name="Oval 60"/>
            <p:cNvSpPr>
              <a:spLocks noChangeArrowheads="1"/>
            </p:cNvSpPr>
            <p:nvPr/>
          </p:nvSpPr>
          <p:spPr bwMode="auto">
            <a:xfrm>
              <a:off x="5715000" y="25511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8" name="Oval 61"/>
            <p:cNvSpPr>
              <a:spLocks noChangeArrowheads="1"/>
            </p:cNvSpPr>
            <p:nvPr/>
          </p:nvSpPr>
          <p:spPr bwMode="auto">
            <a:xfrm>
              <a:off x="5600700" y="20081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9" name="Oval 62"/>
            <p:cNvSpPr>
              <a:spLocks noChangeArrowheads="1"/>
            </p:cNvSpPr>
            <p:nvPr/>
          </p:nvSpPr>
          <p:spPr bwMode="auto">
            <a:xfrm>
              <a:off x="6019800" y="10271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0" name="Oval 51"/>
            <p:cNvSpPr>
              <a:spLocks noChangeArrowheads="1"/>
            </p:cNvSpPr>
            <p:nvPr/>
          </p:nvSpPr>
          <p:spPr bwMode="auto">
            <a:xfrm>
              <a:off x="7288213" y="6461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1" name="Oval 51"/>
            <p:cNvSpPr>
              <a:spLocks noChangeArrowheads="1"/>
            </p:cNvSpPr>
            <p:nvPr/>
          </p:nvSpPr>
          <p:spPr bwMode="auto">
            <a:xfrm>
              <a:off x="7799388" y="8524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2" name="Oval 51"/>
            <p:cNvSpPr>
              <a:spLocks noChangeArrowheads="1"/>
            </p:cNvSpPr>
            <p:nvPr/>
          </p:nvSpPr>
          <p:spPr bwMode="auto">
            <a:xfrm>
              <a:off x="6229350" y="8524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3" name="Oval 51"/>
            <p:cNvSpPr>
              <a:spLocks noChangeArrowheads="1"/>
            </p:cNvSpPr>
            <p:nvPr/>
          </p:nvSpPr>
          <p:spPr bwMode="auto">
            <a:xfrm>
              <a:off x="6732588" y="6381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4" name="Oval 51"/>
            <p:cNvSpPr>
              <a:spLocks noChangeArrowheads="1"/>
            </p:cNvSpPr>
            <p:nvPr/>
          </p:nvSpPr>
          <p:spPr bwMode="auto">
            <a:xfrm>
              <a:off x="8188325" y="12557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5" name="Oval 51"/>
            <p:cNvSpPr>
              <a:spLocks noChangeArrowheads="1"/>
            </p:cNvSpPr>
            <p:nvPr/>
          </p:nvSpPr>
          <p:spPr bwMode="auto">
            <a:xfrm>
              <a:off x="6754813" y="34051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6" name="Oval 51"/>
            <p:cNvSpPr>
              <a:spLocks noChangeArrowheads="1"/>
            </p:cNvSpPr>
            <p:nvPr/>
          </p:nvSpPr>
          <p:spPr bwMode="auto">
            <a:xfrm>
              <a:off x="6205538" y="31908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7" name="Oval 51"/>
            <p:cNvSpPr>
              <a:spLocks noChangeArrowheads="1"/>
            </p:cNvSpPr>
            <p:nvPr/>
          </p:nvSpPr>
          <p:spPr bwMode="auto">
            <a:xfrm>
              <a:off x="5619750" y="173513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8" name="Oval 51"/>
            <p:cNvSpPr>
              <a:spLocks noChangeArrowheads="1"/>
            </p:cNvSpPr>
            <p:nvPr/>
          </p:nvSpPr>
          <p:spPr bwMode="auto">
            <a:xfrm>
              <a:off x="5832475" y="123983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9" name="Oval 51"/>
            <p:cNvSpPr>
              <a:spLocks noChangeArrowheads="1"/>
            </p:cNvSpPr>
            <p:nvPr/>
          </p:nvSpPr>
          <p:spPr bwMode="auto">
            <a:xfrm>
              <a:off x="7272338" y="34051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40" name="Oval 51"/>
            <p:cNvSpPr>
              <a:spLocks noChangeArrowheads="1"/>
            </p:cNvSpPr>
            <p:nvPr/>
          </p:nvSpPr>
          <p:spPr bwMode="auto">
            <a:xfrm>
              <a:off x="8393113" y="22764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41" name="Oval 51"/>
            <p:cNvSpPr>
              <a:spLocks noChangeArrowheads="1"/>
            </p:cNvSpPr>
            <p:nvPr/>
          </p:nvSpPr>
          <p:spPr bwMode="auto">
            <a:xfrm>
              <a:off x="8172450" y="280193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42" name="Oval 51"/>
            <p:cNvSpPr>
              <a:spLocks noChangeArrowheads="1"/>
            </p:cNvSpPr>
            <p:nvPr/>
          </p:nvSpPr>
          <p:spPr bwMode="auto">
            <a:xfrm>
              <a:off x="5626100" y="22923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43" name="Oval 51"/>
            <p:cNvSpPr>
              <a:spLocks noChangeArrowheads="1"/>
            </p:cNvSpPr>
            <p:nvPr/>
          </p:nvSpPr>
          <p:spPr bwMode="auto">
            <a:xfrm>
              <a:off x="5824538" y="27955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44" name="Oval 51"/>
            <p:cNvSpPr>
              <a:spLocks noChangeArrowheads="1"/>
            </p:cNvSpPr>
            <p:nvPr/>
          </p:nvSpPr>
          <p:spPr bwMode="auto">
            <a:xfrm>
              <a:off x="7013575" y="6159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45" name="Text Box 47"/>
            <p:cNvSpPr txBox="1">
              <a:spLocks noChangeArrowheads="1"/>
            </p:cNvSpPr>
            <p:nvPr/>
          </p:nvSpPr>
          <p:spPr bwMode="auto">
            <a:xfrm>
              <a:off x="6958012" y="316071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16</a:t>
              </a:r>
            </a:p>
          </p:txBody>
        </p:sp>
        <p:sp>
          <p:nvSpPr>
            <p:cNvPr id="146" name="Text Box 47"/>
            <p:cNvSpPr txBox="1">
              <a:spLocks noChangeArrowheads="1"/>
            </p:cNvSpPr>
            <p:nvPr/>
          </p:nvSpPr>
          <p:spPr bwMode="auto">
            <a:xfrm>
              <a:off x="6715125" y="314007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17</a:t>
              </a:r>
            </a:p>
          </p:txBody>
        </p:sp>
        <p:sp>
          <p:nvSpPr>
            <p:cNvPr id="147" name="Text Box 47"/>
            <p:cNvSpPr txBox="1">
              <a:spLocks noChangeArrowheads="1"/>
            </p:cNvSpPr>
            <p:nvPr/>
          </p:nvSpPr>
          <p:spPr bwMode="auto">
            <a:xfrm>
              <a:off x="6470650" y="307975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18</a:t>
              </a:r>
            </a:p>
          </p:txBody>
        </p:sp>
        <p:sp>
          <p:nvSpPr>
            <p:cNvPr id="148" name="Text Box 47"/>
            <p:cNvSpPr txBox="1">
              <a:spLocks noChangeArrowheads="1"/>
            </p:cNvSpPr>
            <p:nvPr/>
          </p:nvSpPr>
          <p:spPr bwMode="auto">
            <a:xfrm>
              <a:off x="6249988" y="29797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19</a:t>
              </a:r>
            </a:p>
          </p:txBody>
        </p:sp>
        <p:sp>
          <p:nvSpPr>
            <p:cNvPr id="149" name="Text Box 47"/>
            <p:cNvSpPr txBox="1">
              <a:spLocks noChangeArrowheads="1"/>
            </p:cNvSpPr>
            <p:nvPr/>
          </p:nvSpPr>
          <p:spPr bwMode="auto">
            <a:xfrm>
              <a:off x="6134099" y="27432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20</a:t>
              </a:r>
            </a:p>
          </p:txBody>
        </p:sp>
        <p:sp>
          <p:nvSpPr>
            <p:cNvPr id="150" name="Text Box 47"/>
            <p:cNvSpPr txBox="1">
              <a:spLocks noChangeArrowheads="1"/>
            </p:cNvSpPr>
            <p:nvPr/>
          </p:nvSpPr>
          <p:spPr bwMode="auto">
            <a:xfrm>
              <a:off x="5943600" y="26289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21</a:t>
              </a:r>
            </a:p>
          </p:txBody>
        </p:sp>
        <p:sp>
          <p:nvSpPr>
            <p:cNvPr id="151" name="Text Box 47"/>
            <p:cNvSpPr txBox="1">
              <a:spLocks noChangeArrowheads="1"/>
            </p:cNvSpPr>
            <p:nvPr/>
          </p:nvSpPr>
          <p:spPr bwMode="auto">
            <a:xfrm>
              <a:off x="5829301" y="2430464"/>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22</a:t>
              </a:r>
            </a:p>
          </p:txBody>
        </p:sp>
        <p:sp>
          <p:nvSpPr>
            <p:cNvPr id="152" name="Text Box 47"/>
            <p:cNvSpPr txBox="1">
              <a:spLocks noChangeArrowheads="1"/>
            </p:cNvSpPr>
            <p:nvPr/>
          </p:nvSpPr>
          <p:spPr bwMode="auto">
            <a:xfrm>
              <a:off x="5715001" y="21796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23</a:t>
              </a:r>
            </a:p>
          </p:txBody>
        </p:sp>
        <p:sp>
          <p:nvSpPr>
            <p:cNvPr id="153" name="Text Box 47"/>
            <p:cNvSpPr txBox="1">
              <a:spLocks noChangeArrowheads="1"/>
            </p:cNvSpPr>
            <p:nvPr/>
          </p:nvSpPr>
          <p:spPr bwMode="auto">
            <a:xfrm>
              <a:off x="5715001" y="1897062"/>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24</a:t>
              </a:r>
            </a:p>
          </p:txBody>
        </p:sp>
        <p:sp>
          <p:nvSpPr>
            <p:cNvPr id="154" name="Text Box 47"/>
            <p:cNvSpPr txBox="1">
              <a:spLocks noChangeArrowheads="1"/>
            </p:cNvSpPr>
            <p:nvPr/>
          </p:nvSpPr>
          <p:spPr bwMode="auto">
            <a:xfrm>
              <a:off x="5715001" y="16383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25</a:t>
              </a:r>
            </a:p>
          </p:txBody>
        </p:sp>
        <p:sp>
          <p:nvSpPr>
            <p:cNvPr id="155" name="Text Box 47"/>
            <p:cNvSpPr txBox="1">
              <a:spLocks noChangeArrowheads="1"/>
            </p:cNvSpPr>
            <p:nvPr/>
          </p:nvSpPr>
          <p:spPr bwMode="auto">
            <a:xfrm>
              <a:off x="5813425" y="14176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26</a:t>
              </a:r>
            </a:p>
          </p:txBody>
        </p:sp>
        <p:sp>
          <p:nvSpPr>
            <p:cNvPr id="156" name="Text Box 47"/>
            <p:cNvSpPr txBox="1">
              <a:spLocks noChangeArrowheads="1"/>
            </p:cNvSpPr>
            <p:nvPr/>
          </p:nvSpPr>
          <p:spPr bwMode="auto">
            <a:xfrm>
              <a:off x="5919788" y="124142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27</a:t>
              </a:r>
            </a:p>
          </p:txBody>
        </p:sp>
        <p:sp>
          <p:nvSpPr>
            <p:cNvPr id="157" name="Text Box 47"/>
            <p:cNvSpPr txBox="1">
              <a:spLocks noChangeArrowheads="1"/>
            </p:cNvSpPr>
            <p:nvPr/>
          </p:nvSpPr>
          <p:spPr bwMode="auto">
            <a:xfrm>
              <a:off x="6011863" y="10366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28</a:t>
              </a:r>
            </a:p>
          </p:txBody>
        </p:sp>
        <p:sp>
          <p:nvSpPr>
            <p:cNvPr id="158" name="Text Box 47"/>
            <p:cNvSpPr txBox="1">
              <a:spLocks noChangeArrowheads="1"/>
            </p:cNvSpPr>
            <p:nvPr/>
          </p:nvSpPr>
          <p:spPr bwMode="auto">
            <a:xfrm>
              <a:off x="6224588" y="8842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29</a:t>
              </a:r>
            </a:p>
          </p:txBody>
        </p:sp>
        <p:sp>
          <p:nvSpPr>
            <p:cNvPr id="159" name="Text Box 47"/>
            <p:cNvSpPr txBox="1">
              <a:spLocks noChangeArrowheads="1"/>
            </p:cNvSpPr>
            <p:nvPr/>
          </p:nvSpPr>
          <p:spPr bwMode="auto">
            <a:xfrm>
              <a:off x="6438900" y="7762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30</a:t>
              </a:r>
            </a:p>
          </p:txBody>
        </p:sp>
        <p:sp>
          <p:nvSpPr>
            <p:cNvPr id="160" name="Text Box 47"/>
            <p:cNvSpPr txBox="1">
              <a:spLocks noChangeArrowheads="1"/>
            </p:cNvSpPr>
            <p:nvPr/>
          </p:nvSpPr>
          <p:spPr bwMode="auto">
            <a:xfrm>
              <a:off x="6713539" y="6619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31</a:t>
              </a:r>
            </a:p>
          </p:txBody>
        </p:sp>
        <p:sp>
          <p:nvSpPr>
            <p:cNvPr id="161" name="Text Box 71"/>
            <p:cNvSpPr txBox="1">
              <a:spLocks noChangeArrowheads="1"/>
            </p:cNvSpPr>
            <p:nvPr/>
          </p:nvSpPr>
          <p:spPr bwMode="auto">
            <a:xfrm>
              <a:off x="8702675" y="2239963"/>
              <a:ext cx="304800"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K8</a:t>
              </a:r>
            </a:p>
          </p:txBody>
        </p:sp>
        <p:sp>
          <p:nvSpPr>
            <p:cNvPr id="162" name="Oval 53"/>
            <p:cNvSpPr>
              <a:spLocks noChangeArrowheads="1"/>
            </p:cNvSpPr>
            <p:nvPr/>
          </p:nvSpPr>
          <p:spPr bwMode="auto">
            <a:xfrm>
              <a:off x="8343900" y="1698625"/>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63" name="Text Box 47"/>
            <p:cNvSpPr txBox="1">
              <a:spLocks noChangeArrowheads="1"/>
            </p:cNvSpPr>
            <p:nvPr/>
          </p:nvSpPr>
          <p:spPr bwMode="auto">
            <a:xfrm>
              <a:off x="8534400" y="1592263"/>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N7</a:t>
              </a:r>
            </a:p>
          </p:txBody>
        </p:sp>
        <p:sp>
          <p:nvSpPr>
            <p:cNvPr id="164" name="Text Box 47"/>
            <p:cNvSpPr txBox="1">
              <a:spLocks noChangeArrowheads="1"/>
            </p:cNvSpPr>
            <p:nvPr/>
          </p:nvSpPr>
          <p:spPr bwMode="auto">
            <a:xfrm>
              <a:off x="8474075" y="2506663"/>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N10</a:t>
              </a:r>
            </a:p>
          </p:txBody>
        </p:sp>
        <p:sp>
          <p:nvSpPr>
            <p:cNvPr id="165" name="Text Box 47"/>
            <p:cNvSpPr txBox="1">
              <a:spLocks noChangeArrowheads="1"/>
            </p:cNvSpPr>
            <p:nvPr/>
          </p:nvSpPr>
          <p:spPr bwMode="auto">
            <a:xfrm>
              <a:off x="8153399" y="876301"/>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N4</a:t>
              </a:r>
            </a:p>
          </p:txBody>
        </p:sp>
        <p:sp>
          <p:nvSpPr>
            <p:cNvPr id="166" name="Text Box 47"/>
            <p:cNvSpPr txBox="1">
              <a:spLocks noChangeArrowheads="1"/>
            </p:cNvSpPr>
            <p:nvPr/>
          </p:nvSpPr>
          <p:spPr bwMode="auto">
            <a:xfrm>
              <a:off x="6218238" y="411163"/>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N30</a:t>
              </a:r>
            </a:p>
          </p:txBody>
        </p:sp>
        <p:sp>
          <p:nvSpPr>
            <p:cNvPr id="167" name="Text Box 47"/>
            <p:cNvSpPr txBox="1">
              <a:spLocks noChangeArrowheads="1"/>
            </p:cNvSpPr>
            <p:nvPr/>
          </p:nvSpPr>
          <p:spPr bwMode="auto">
            <a:xfrm>
              <a:off x="5600699" y="2979738"/>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N20</a:t>
              </a:r>
            </a:p>
          </p:txBody>
        </p:sp>
        <p:sp>
          <p:nvSpPr>
            <p:cNvPr id="168" name="Text Box 71"/>
            <p:cNvSpPr txBox="1">
              <a:spLocks noChangeArrowheads="1"/>
            </p:cNvSpPr>
            <p:nvPr/>
          </p:nvSpPr>
          <p:spPr bwMode="auto">
            <a:xfrm>
              <a:off x="7688263" y="411163"/>
              <a:ext cx="358775"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K31</a:t>
              </a:r>
            </a:p>
          </p:txBody>
        </p:sp>
        <p:sp>
          <p:nvSpPr>
            <p:cNvPr id="169" name="Text Box 71"/>
            <p:cNvSpPr txBox="1">
              <a:spLocks noChangeArrowheads="1"/>
            </p:cNvSpPr>
            <p:nvPr/>
          </p:nvSpPr>
          <p:spPr bwMode="auto">
            <a:xfrm>
              <a:off x="5661023" y="693738"/>
              <a:ext cx="396875"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K29</a:t>
              </a:r>
            </a:p>
          </p:txBody>
        </p:sp>
        <p:sp>
          <p:nvSpPr>
            <p:cNvPr id="170" name="Text Box 71"/>
            <p:cNvSpPr txBox="1">
              <a:spLocks noChangeArrowheads="1"/>
            </p:cNvSpPr>
            <p:nvPr/>
          </p:nvSpPr>
          <p:spPr bwMode="auto">
            <a:xfrm>
              <a:off x="8077200" y="449264"/>
              <a:ext cx="358775"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K2</a:t>
              </a:r>
            </a:p>
          </p:txBody>
        </p:sp>
        <p:sp>
          <p:nvSpPr>
            <p:cNvPr id="171" name="Text Box 71"/>
            <p:cNvSpPr txBox="1">
              <a:spLocks noChangeArrowheads="1"/>
            </p:cNvSpPr>
            <p:nvPr/>
          </p:nvSpPr>
          <p:spPr bwMode="auto">
            <a:xfrm>
              <a:off x="8305800" y="3047999"/>
              <a:ext cx="357188"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K12</a:t>
              </a:r>
            </a:p>
          </p:txBody>
        </p:sp>
        <p:sp>
          <p:nvSpPr>
            <p:cNvPr id="172" name="Text Box 71"/>
            <p:cNvSpPr txBox="1">
              <a:spLocks noChangeArrowheads="1"/>
            </p:cNvSpPr>
            <p:nvPr/>
          </p:nvSpPr>
          <p:spPr bwMode="auto">
            <a:xfrm>
              <a:off x="5426076" y="968375"/>
              <a:ext cx="357188"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K23</a:t>
              </a:r>
            </a:p>
          </p:txBody>
        </p:sp>
        <p:cxnSp>
          <p:nvCxnSpPr>
            <p:cNvPr id="173" name="直接箭头连接符 172"/>
            <p:cNvCxnSpPr>
              <a:endCxn id="119" idx="7"/>
            </p:cNvCxnSpPr>
            <p:nvPr/>
          </p:nvCxnSpPr>
          <p:spPr bwMode="auto">
            <a:xfrm flipH="1">
              <a:off x="8415338" y="2430463"/>
              <a:ext cx="287337" cy="125412"/>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74" name="直接箭头连接符 173"/>
            <p:cNvCxnSpPr/>
            <p:nvPr/>
          </p:nvCxnSpPr>
          <p:spPr bwMode="auto">
            <a:xfrm>
              <a:off x="7886700" y="677863"/>
              <a:ext cx="139700" cy="315912"/>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75" name="直接箭头连接符 174"/>
            <p:cNvCxnSpPr/>
            <p:nvPr/>
          </p:nvCxnSpPr>
          <p:spPr bwMode="auto">
            <a:xfrm flipH="1">
              <a:off x="8085138" y="711200"/>
              <a:ext cx="198437" cy="27940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76" name="直接箭头连接符 175"/>
            <p:cNvCxnSpPr/>
            <p:nvPr/>
          </p:nvCxnSpPr>
          <p:spPr bwMode="auto">
            <a:xfrm flipV="1">
              <a:off x="5768975" y="762000"/>
              <a:ext cx="708025" cy="296863"/>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77" name="直接箭头连接符 176"/>
            <p:cNvCxnSpPr>
              <a:stCxn id="171" idx="1"/>
            </p:cNvCxnSpPr>
            <p:nvPr/>
          </p:nvCxnSpPr>
          <p:spPr bwMode="auto">
            <a:xfrm flipH="1">
              <a:off x="7902576" y="3155679"/>
              <a:ext cx="403224" cy="74884"/>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78" name="直接箭头连接符 177"/>
            <p:cNvCxnSpPr/>
            <p:nvPr/>
          </p:nvCxnSpPr>
          <p:spPr bwMode="auto">
            <a:xfrm flipV="1">
              <a:off x="6103938" y="738188"/>
              <a:ext cx="342900" cy="55562"/>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79" name="Text Box 47"/>
            <p:cNvSpPr txBox="1">
              <a:spLocks noChangeArrowheads="1"/>
            </p:cNvSpPr>
            <p:nvPr/>
          </p:nvSpPr>
          <p:spPr bwMode="auto">
            <a:xfrm>
              <a:off x="5797294" y="3657600"/>
              <a:ext cx="2630707" cy="3915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(b) N13 </a:t>
              </a:r>
              <a:r>
                <a:rPr kumimoji="1" lang="zh-CN" altLang="en-US" sz="1400" b="1" dirty="0">
                  <a:latin typeface="微软雅黑 Light" panose="020B0502040204020203" pitchFamily="34" charset="-122"/>
                  <a:ea typeface="微软雅黑 Light" panose="020B0502040204020203" pitchFamily="34" charset="-122"/>
                </a:rPr>
                <a:t>加入，</a:t>
              </a:r>
              <a:r>
                <a:rPr kumimoji="1" lang="en-US" altLang="zh-CN" sz="1400" b="1" dirty="0">
                  <a:latin typeface="微软雅黑 Light" panose="020B0502040204020203" pitchFamily="34" charset="-122"/>
                  <a:ea typeface="微软雅黑 Light" panose="020B0502040204020203" pitchFamily="34" charset="-122"/>
                </a:rPr>
                <a:t>N26 </a:t>
              </a:r>
              <a:r>
                <a:rPr kumimoji="1" lang="zh-CN" altLang="en-US" sz="1400" b="1" dirty="0">
                  <a:latin typeface="微软雅黑 Light" panose="020B0502040204020203" pitchFamily="34" charset="-122"/>
                  <a:ea typeface="微软雅黑 Light" panose="020B0502040204020203" pitchFamily="34" charset="-122"/>
                </a:rPr>
                <a:t>退出</a:t>
              </a:r>
              <a:r>
                <a:rPr kumimoji="1" lang="en-US" altLang="zh-CN" sz="1400" b="1" dirty="0">
                  <a:latin typeface="微软雅黑 Light" panose="020B0502040204020203" pitchFamily="34" charset="-122"/>
                  <a:ea typeface="微软雅黑 Light" panose="020B0502040204020203" pitchFamily="34" charset="-122"/>
                </a:rPr>
                <a:t> </a:t>
              </a:r>
            </a:p>
          </p:txBody>
        </p:sp>
        <p:sp>
          <p:nvSpPr>
            <p:cNvPr id="180" name="Oval 52"/>
            <p:cNvSpPr>
              <a:spLocks noChangeArrowheads="1"/>
            </p:cNvSpPr>
            <p:nvPr/>
          </p:nvSpPr>
          <p:spPr bwMode="auto">
            <a:xfrm>
              <a:off x="7764463" y="3162300"/>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81" name="Oval 51"/>
            <p:cNvSpPr>
              <a:spLocks noChangeArrowheads="1"/>
            </p:cNvSpPr>
            <p:nvPr/>
          </p:nvSpPr>
          <p:spPr bwMode="auto">
            <a:xfrm>
              <a:off x="5707063" y="149383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grpSp>
      <p:sp>
        <p:nvSpPr>
          <p:cNvPr id="4" name="标题 3">
            <a:extLst>
              <a:ext uri="{FF2B5EF4-FFF2-40B4-BE49-F238E27FC236}">
                <a16:creationId xmlns:a16="http://schemas.microsoft.com/office/drawing/2014/main" id="{AA72AC49-D838-05AA-1E03-D39F3D60BF82}"/>
              </a:ext>
            </a:extLst>
          </p:cNvPr>
          <p:cNvSpPr>
            <a:spLocks noGrp="1"/>
          </p:cNvSpPr>
          <p:nvPr>
            <p:ph type="title"/>
          </p:nvPr>
        </p:nvSpPr>
        <p:spPr>
          <a:xfrm>
            <a:off x="485999" y="174482"/>
            <a:ext cx="8171999" cy="338554"/>
          </a:xfrm>
        </p:spPr>
        <p:txBody>
          <a:bodyPr/>
          <a:lstStyle/>
          <a:p>
            <a:r>
              <a:rPr lang="zh-CN" altLang="en-US" dirty="0"/>
              <a:t>基于 </a:t>
            </a:r>
            <a:r>
              <a:rPr lang="en-US" altLang="zh-CN" dirty="0"/>
              <a:t>DHT </a:t>
            </a:r>
            <a:r>
              <a:rPr lang="zh-CN" altLang="en-US" dirty="0"/>
              <a:t>的 </a:t>
            </a:r>
            <a:r>
              <a:rPr lang="en-US" altLang="zh-CN" dirty="0"/>
              <a:t>Chord </a:t>
            </a:r>
            <a:r>
              <a:rPr lang="zh-CN" altLang="en-US" dirty="0"/>
              <a:t>环</a:t>
            </a:r>
          </a:p>
        </p:txBody>
      </p:sp>
      <p:sp>
        <p:nvSpPr>
          <p:cNvPr id="182" name="内容占位符 181">
            <a:extLst>
              <a:ext uri="{FF2B5EF4-FFF2-40B4-BE49-F238E27FC236}">
                <a16:creationId xmlns:a16="http://schemas.microsoft.com/office/drawing/2014/main" id="{6DEBBB9C-64C2-7A00-580B-B75A5A1756B5}"/>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261381533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68"/>
          <p:cNvSpPr>
            <a:spLocks noChangeArrowheads="1"/>
          </p:cNvSpPr>
          <p:nvPr/>
        </p:nvSpPr>
        <p:spPr bwMode="auto">
          <a:xfrm>
            <a:off x="367334" y="1022889"/>
            <a:ext cx="2457313" cy="320857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73050" indent="-273050" eaLnBrk="0" hangingPunct="0">
              <a:lnSpc>
                <a:spcPts val="2700"/>
              </a:lnSpc>
              <a:buClr>
                <a:srgbClr val="0070C0"/>
              </a:buClr>
              <a:buFont typeface="Wingdings" pitchFamily="2" charset="2"/>
              <a:buChar char="l"/>
            </a:pPr>
            <a:r>
              <a:rPr lang="zh-CN" altLang="en-US" sz="1600" b="1" dirty="0">
                <a:latin typeface="微软雅黑 Light" panose="020B0502040204020203" pitchFamily="34" charset="-122"/>
                <a:ea typeface="微软雅黑 Light" panose="020B0502040204020203" pitchFamily="34" charset="-122"/>
              </a:rPr>
              <a:t>为了加速查找，在 </a:t>
            </a:r>
            <a:r>
              <a:rPr lang="en-US" altLang="zh-CN" sz="1600" b="1" dirty="0">
                <a:latin typeface="微软雅黑 Light" panose="020B0502040204020203" pitchFamily="34" charset="-122"/>
                <a:ea typeface="微软雅黑 Light" panose="020B0502040204020203" pitchFamily="34" charset="-122"/>
              </a:rPr>
              <a:t>Chord </a:t>
            </a:r>
            <a:r>
              <a:rPr lang="zh-CN" altLang="en-US" sz="1600" b="1" dirty="0">
                <a:latin typeface="微软雅黑 Light" panose="020B0502040204020203" pitchFamily="34" charset="-122"/>
                <a:ea typeface="微软雅黑 Light" panose="020B0502040204020203" pitchFamily="34" charset="-122"/>
              </a:rPr>
              <a:t>环上可以增加一些</a:t>
            </a:r>
            <a:r>
              <a:rPr lang="zh-CN" altLang="en-US" sz="1600" b="1" dirty="0">
                <a:solidFill>
                  <a:srgbClr val="0000FF"/>
                </a:solidFill>
                <a:latin typeface="微软雅黑 Light" panose="020B0502040204020203" pitchFamily="34" charset="-122"/>
                <a:ea typeface="微软雅黑 Light" panose="020B0502040204020203" pitchFamily="34" charset="-122"/>
              </a:rPr>
              <a:t>指针表</a:t>
            </a:r>
            <a:r>
              <a:rPr lang="en-US" altLang="zh-CN" sz="1600" b="1" dirty="0">
                <a:latin typeface="微软雅黑 Light" panose="020B0502040204020203" pitchFamily="34" charset="-122"/>
                <a:ea typeface="微软雅黑 Light" panose="020B0502040204020203" pitchFamily="34" charset="-122"/>
              </a:rPr>
              <a:t>(finger table)</a:t>
            </a:r>
            <a:r>
              <a:rPr lang="zh-CN" altLang="en-US" sz="1600" b="1" dirty="0">
                <a:latin typeface="微软雅黑 Light" panose="020B0502040204020203" pitchFamily="34" charset="-122"/>
                <a:ea typeface="微软雅黑 Light" panose="020B0502040204020203" pitchFamily="34" charset="-122"/>
              </a:rPr>
              <a:t>，又称为</a:t>
            </a:r>
            <a:r>
              <a:rPr lang="zh-CN" altLang="en-US" sz="1600" b="1" dirty="0">
                <a:solidFill>
                  <a:srgbClr val="0000FF"/>
                </a:solidFill>
                <a:latin typeface="微软雅黑 Light" panose="020B0502040204020203" pitchFamily="34" charset="-122"/>
                <a:ea typeface="微软雅黑 Light" panose="020B0502040204020203" pitchFamily="34" charset="-122"/>
              </a:rPr>
              <a:t>路由表</a:t>
            </a:r>
            <a:r>
              <a:rPr lang="zh-CN" altLang="en-US" sz="1600" b="1" dirty="0">
                <a:latin typeface="微软雅黑 Light" panose="020B0502040204020203" pitchFamily="34" charset="-122"/>
                <a:ea typeface="微软雅黑 Light" panose="020B0502040204020203" pitchFamily="34" charset="-122"/>
              </a:rPr>
              <a:t>或</a:t>
            </a:r>
            <a:r>
              <a:rPr lang="zh-CN" altLang="en-US" sz="1600" b="1" dirty="0">
                <a:solidFill>
                  <a:srgbClr val="0000FF"/>
                </a:solidFill>
                <a:latin typeface="微软雅黑 Light" panose="020B0502040204020203" pitchFamily="34" charset="-122"/>
                <a:ea typeface="微软雅黑 Light" panose="020B0502040204020203" pitchFamily="34" charset="-122"/>
              </a:rPr>
              <a:t>查找器表。</a:t>
            </a:r>
          </a:p>
          <a:p>
            <a:pPr marL="273050" indent="-273050" eaLnBrk="0" hangingPunct="0">
              <a:lnSpc>
                <a:spcPts val="2700"/>
              </a:lnSpc>
              <a:buClr>
                <a:srgbClr val="0070C0"/>
              </a:buClr>
              <a:buFont typeface="Wingdings" pitchFamily="2" charset="2"/>
              <a:buChar char="l"/>
            </a:pPr>
            <a:r>
              <a:rPr lang="zh-CN" altLang="en-US" sz="1600" b="1" dirty="0">
                <a:latin typeface="微软雅黑 Light" panose="020B0502040204020203" pitchFamily="34" charset="-122"/>
                <a:ea typeface="微软雅黑 Light" panose="020B0502040204020203" pitchFamily="34" charset="-122"/>
              </a:rPr>
              <a:t>对于结点 </a:t>
            </a:r>
            <a:r>
              <a:rPr lang="en-US" altLang="zh-CN" sz="1600" b="1" dirty="0">
                <a:latin typeface="微软雅黑 Light" panose="020B0502040204020203" pitchFamily="34" charset="-122"/>
                <a:ea typeface="微软雅黑 Light" panose="020B0502040204020203" pitchFamily="34" charset="-122"/>
              </a:rPr>
              <a:t>N4</a:t>
            </a:r>
            <a:r>
              <a:rPr lang="zh-CN" altLang="en-US" sz="1600" b="1" dirty="0">
                <a:latin typeface="微软雅黑 Light" panose="020B0502040204020203" pitchFamily="34" charset="-122"/>
                <a:ea typeface="微软雅黑 Light" panose="020B0502040204020203" pitchFamily="34" charset="-122"/>
              </a:rPr>
              <a:t>，其指针表的第 </a:t>
            </a:r>
            <a:r>
              <a:rPr lang="en-US" altLang="zh-CN" sz="1600" b="1" dirty="0">
                <a:latin typeface="微软雅黑 Light" panose="020B0502040204020203" pitchFamily="34" charset="-122"/>
                <a:ea typeface="微软雅黑 Light" panose="020B0502040204020203" pitchFamily="34" charset="-122"/>
              </a:rPr>
              <a:t>2 </a:t>
            </a:r>
            <a:r>
              <a:rPr lang="zh-CN" altLang="en-US" sz="1600" b="1" dirty="0">
                <a:latin typeface="微软雅黑 Light" panose="020B0502040204020203" pitchFamily="34" charset="-122"/>
                <a:ea typeface="微软雅黑 Light" panose="020B0502040204020203" pitchFamily="34" charset="-122"/>
              </a:rPr>
              <a:t>列第 </a:t>
            </a:r>
            <a:r>
              <a:rPr lang="en-US" altLang="zh-CN" sz="1600" b="1" i="1" dirty="0" err="1">
                <a:latin typeface="微软雅黑 Light" panose="020B0502040204020203" pitchFamily="34" charset="-122"/>
                <a:ea typeface="微软雅黑 Light" panose="020B0502040204020203" pitchFamily="34" charset="-122"/>
              </a:rPr>
              <a:t>i</a:t>
            </a:r>
            <a:r>
              <a:rPr lang="en-US" altLang="zh-CN" sz="1600" b="1" i="1" dirty="0">
                <a:latin typeface="微软雅黑 Light" panose="020B0502040204020203" pitchFamily="34" charset="-122"/>
                <a:ea typeface="微软雅黑 Light" panose="020B0502040204020203" pitchFamily="34" charset="-122"/>
              </a:rPr>
              <a:t>  </a:t>
            </a:r>
            <a:r>
              <a:rPr lang="zh-CN" altLang="en-US" sz="1600" b="1" dirty="0">
                <a:latin typeface="微软雅黑 Light" panose="020B0502040204020203" pitchFamily="34" charset="-122"/>
                <a:ea typeface="微软雅黑 Light" panose="020B0502040204020203" pitchFamily="34" charset="-122"/>
              </a:rPr>
              <a:t>行根据（</a:t>
            </a:r>
            <a:r>
              <a:rPr lang="en-US" altLang="zh-CN" sz="1600" b="1" dirty="0">
                <a:latin typeface="微软雅黑 Light" panose="020B0502040204020203" pitchFamily="34" charset="-122"/>
                <a:ea typeface="微软雅黑 Light" panose="020B0502040204020203" pitchFamily="34" charset="-122"/>
              </a:rPr>
              <a:t>N4 + 2</a:t>
            </a:r>
            <a:r>
              <a:rPr lang="en-US" altLang="zh-CN" sz="1600" b="1" i="1" baseline="30000" dirty="0">
                <a:latin typeface="微软雅黑 Light" panose="020B0502040204020203" pitchFamily="34" charset="-122"/>
                <a:ea typeface="微软雅黑 Light" panose="020B0502040204020203" pitchFamily="34" charset="-122"/>
              </a:rPr>
              <a:t>i – 1</a:t>
            </a:r>
            <a:r>
              <a:rPr lang="zh-CN" altLang="en-US" sz="1600" b="1" dirty="0">
                <a:latin typeface="微软雅黑 Light" panose="020B0502040204020203" pitchFamily="34" charset="-122"/>
                <a:ea typeface="微软雅黑 Light" panose="020B0502040204020203" pitchFamily="34" charset="-122"/>
              </a:rPr>
              <a:t>）计算得出其</a:t>
            </a:r>
            <a:r>
              <a:rPr lang="zh-CN" altLang="en-US" sz="1600" b="1" dirty="0">
                <a:solidFill>
                  <a:srgbClr val="0000FF"/>
                </a:solidFill>
                <a:latin typeface="微软雅黑 Light" panose="020B0502040204020203" pitchFamily="34" charset="-122"/>
                <a:ea typeface="微软雅黑 Light" panose="020B0502040204020203" pitchFamily="34" charset="-122"/>
              </a:rPr>
              <a:t>后继结点。</a:t>
            </a:r>
          </a:p>
        </p:txBody>
      </p:sp>
      <p:grpSp>
        <p:nvGrpSpPr>
          <p:cNvPr id="6" name="组合 5"/>
          <p:cNvGrpSpPr/>
          <p:nvPr/>
        </p:nvGrpSpPr>
        <p:grpSpPr>
          <a:xfrm>
            <a:off x="2951985" y="1278383"/>
            <a:ext cx="5653754" cy="2840854"/>
            <a:chOff x="152399" y="419100"/>
            <a:chExt cx="7000772" cy="3554168"/>
          </a:xfrm>
        </p:grpSpPr>
        <p:sp>
          <p:nvSpPr>
            <p:cNvPr id="8" name="任意多边形 7"/>
            <p:cNvSpPr/>
            <p:nvPr/>
          </p:nvSpPr>
          <p:spPr>
            <a:xfrm>
              <a:off x="1703388" y="2362200"/>
              <a:ext cx="628650" cy="1282700"/>
            </a:xfrm>
            <a:custGeom>
              <a:avLst/>
              <a:gdLst>
                <a:gd name="connsiteX0" fmla="*/ 0 w 629174"/>
                <a:gd name="connsiteY0" fmla="*/ 0 h 1283516"/>
                <a:gd name="connsiteX1" fmla="*/ 629174 w 629174"/>
                <a:gd name="connsiteY1" fmla="*/ 700481 h 1283516"/>
                <a:gd name="connsiteX2" fmla="*/ 0 w 629174"/>
                <a:gd name="connsiteY2" fmla="*/ 1283516 h 1283516"/>
                <a:gd name="connsiteX3" fmla="*/ 0 w 629174"/>
                <a:gd name="connsiteY3" fmla="*/ 0 h 1283516"/>
              </a:gdLst>
              <a:ahLst/>
              <a:cxnLst>
                <a:cxn ang="0">
                  <a:pos x="connsiteX0" y="connsiteY0"/>
                </a:cxn>
                <a:cxn ang="0">
                  <a:pos x="connsiteX1" y="connsiteY1"/>
                </a:cxn>
                <a:cxn ang="0">
                  <a:pos x="connsiteX2" y="connsiteY2"/>
                </a:cxn>
                <a:cxn ang="0">
                  <a:pos x="connsiteX3" y="connsiteY3"/>
                </a:cxn>
              </a:cxnLst>
              <a:rect l="l" t="t" r="r" b="b"/>
              <a:pathLst>
                <a:path w="629174" h="1283516">
                  <a:moveTo>
                    <a:pt x="0" y="0"/>
                  </a:moveTo>
                  <a:lnTo>
                    <a:pt x="629174" y="700481"/>
                  </a:lnTo>
                  <a:lnTo>
                    <a:pt x="0" y="1283516"/>
                  </a:lnTo>
                  <a:lnTo>
                    <a:pt x="0" y="0"/>
                  </a:lnTo>
                  <a:close/>
                </a:path>
              </a:pathLst>
            </a:custGeom>
            <a:gradFill flip="none" rotWithShape="1">
              <a:gsLst>
                <a:gs pos="0">
                  <a:schemeClr val="bg2">
                    <a:lumMod val="20000"/>
                    <a:lumOff val="80000"/>
                    <a:shade val="30000"/>
                    <a:satMod val="115000"/>
                  </a:schemeClr>
                </a:gs>
                <a:gs pos="50000">
                  <a:schemeClr val="bg2">
                    <a:lumMod val="20000"/>
                    <a:lumOff val="80000"/>
                    <a:shade val="67500"/>
                    <a:satMod val="115000"/>
                  </a:schemeClr>
                </a:gs>
                <a:gs pos="100000">
                  <a:schemeClr val="bg2">
                    <a:lumMod val="20000"/>
                    <a:lumOff val="80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050" b="1" dirty="0">
                <a:latin typeface="微软雅黑 Light" panose="020B0502040204020203" pitchFamily="34" charset="-122"/>
                <a:ea typeface="微软雅黑 Light" panose="020B0502040204020203" pitchFamily="34" charset="-122"/>
              </a:endParaRPr>
            </a:p>
          </p:txBody>
        </p:sp>
        <p:sp>
          <p:nvSpPr>
            <p:cNvPr id="9" name="Text Box 81"/>
            <p:cNvSpPr txBox="1">
              <a:spLocks noChangeArrowheads="1"/>
            </p:cNvSpPr>
            <p:nvPr/>
          </p:nvSpPr>
          <p:spPr bwMode="auto">
            <a:xfrm>
              <a:off x="228600" y="533400"/>
              <a:ext cx="715963"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zh-CN" altLang="en-US" sz="1000" b="1" dirty="0">
                  <a:latin typeface="微软雅黑 Light" panose="020B0502040204020203" pitchFamily="34" charset="-122"/>
                  <a:ea typeface="微软雅黑 Light" panose="020B0502040204020203" pitchFamily="34" charset="-122"/>
                </a:rPr>
                <a:t>图例：</a:t>
              </a:r>
            </a:p>
          </p:txBody>
        </p:sp>
        <p:sp>
          <p:nvSpPr>
            <p:cNvPr id="10" name="Text Box 47"/>
            <p:cNvSpPr txBox="1">
              <a:spLocks noChangeArrowheads="1"/>
            </p:cNvSpPr>
            <p:nvPr/>
          </p:nvSpPr>
          <p:spPr bwMode="auto">
            <a:xfrm>
              <a:off x="1127125" y="533400"/>
              <a:ext cx="381000"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NID</a:t>
              </a:r>
            </a:p>
          </p:txBody>
        </p:sp>
        <p:sp>
          <p:nvSpPr>
            <p:cNvPr id="11" name="Oval 53"/>
            <p:cNvSpPr>
              <a:spLocks noChangeArrowheads="1"/>
            </p:cNvSpPr>
            <p:nvPr/>
          </p:nvSpPr>
          <p:spPr bwMode="auto">
            <a:xfrm>
              <a:off x="876300" y="625475"/>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2" name="Text Box 71"/>
            <p:cNvSpPr txBox="1">
              <a:spLocks noChangeArrowheads="1"/>
            </p:cNvSpPr>
            <p:nvPr/>
          </p:nvSpPr>
          <p:spPr bwMode="auto">
            <a:xfrm>
              <a:off x="854076" y="860425"/>
              <a:ext cx="190500" cy="173275"/>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endParaRPr kumimoji="1" lang="en-US" altLang="zh-CN" sz="900" b="1" dirty="0">
                <a:latin typeface="微软雅黑 Light" panose="020B0502040204020203" pitchFamily="34" charset="-122"/>
                <a:ea typeface="微软雅黑 Light" panose="020B0502040204020203" pitchFamily="34" charset="-122"/>
              </a:endParaRPr>
            </a:p>
          </p:txBody>
        </p:sp>
        <p:sp>
          <p:nvSpPr>
            <p:cNvPr id="13" name="Text Box 47"/>
            <p:cNvSpPr txBox="1">
              <a:spLocks noChangeArrowheads="1"/>
            </p:cNvSpPr>
            <p:nvPr/>
          </p:nvSpPr>
          <p:spPr bwMode="auto">
            <a:xfrm>
              <a:off x="1143001" y="819400"/>
              <a:ext cx="380999"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KID</a:t>
              </a:r>
            </a:p>
          </p:txBody>
        </p:sp>
        <p:sp>
          <p:nvSpPr>
            <p:cNvPr id="14" name="矩形 13"/>
            <p:cNvSpPr/>
            <p:nvPr/>
          </p:nvSpPr>
          <p:spPr bwMode="auto">
            <a:xfrm>
              <a:off x="266700" y="519113"/>
              <a:ext cx="1295400" cy="62547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050" b="1" dirty="0">
                <a:latin typeface="微软雅黑 Light" panose="020B0502040204020203" pitchFamily="34" charset="-122"/>
                <a:ea typeface="微软雅黑 Light" panose="020B0502040204020203" pitchFamily="34" charset="-122"/>
              </a:endParaRPr>
            </a:p>
          </p:txBody>
        </p:sp>
        <p:sp>
          <p:nvSpPr>
            <p:cNvPr id="15" name="Oval 20"/>
            <p:cNvSpPr>
              <a:spLocks noChangeArrowheads="1"/>
            </p:cNvSpPr>
            <p:nvPr/>
          </p:nvSpPr>
          <p:spPr bwMode="auto">
            <a:xfrm>
              <a:off x="1987550" y="654050"/>
              <a:ext cx="2819400" cy="28194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6" name="Text Box 31"/>
            <p:cNvSpPr txBox="1">
              <a:spLocks noChangeArrowheads="1"/>
            </p:cNvSpPr>
            <p:nvPr/>
          </p:nvSpPr>
          <p:spPr bwMode="auto">
            <a:xfrm>
              <a:off x="3263900" y="654050"/>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0</a:t>
              </a:r>
            </a:p>
          </p:txBody>
        </p:sp>
        <p:sp>
          <p:nvSpPr>
            <p:cNvPr id="17" name="Text Box 33"/>
            <p:cNvSpPr txBox="1">
              <a:spLocks noChangeArrowheads="1"/>
            </p:cNvSpPr>
            <p:nvPr/>
          </p:nvSpPr>
          <p:spPr bwMode="auto">
            <a:xfrm>
              <a:off x="3519487" y="676276"/>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a:t>
              </a:r>
            </a:p>
          </p:txBody>
        </p:sp>
        <p:sp>
          <p:nvSpPr>
            <p:cNvPr id="18" name="Text Box 34"/>
            <p:cNvSpPr txBox="1">
              <a:spLocks noChangeArrowheads="1"/>
            </p:cNvSpPr>
            <p:nvPr/>
          </p:nvSpPr>
          <p:spPr bwMode="auto">
            <a:xfrm>
              <a:off x="3754438" y="728664"/>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a:t>
              </a:r>
            </a:p>
          </p:txBody>
        </p:sp>
        <p:sp>
          <p:nvSpPr>
            <p:cNvPr id="19" name="Text Box 35"/>
            <p:cNvSpPr txBox="1">
              <a:spLocks noChangeArrowheads="1"/>
            </p:cNvSpPr>
            <p:nvPr/>
          </p:nvSpPr>
          <p:spPr bwMode="auto">
            <a:xfrm>
              <a:off x="3997325" y="852488"/>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3</a:t>
              </a:r>
            </a:p>
          </p:txBody>
        </p:sp>
        <p:sp>
          <p:nvSpPr>
            <p:cNvPr id="20" name="Text Box 36"/>
            <p:cNvSpPr txBox="1">
              <a:spLocks noChangeArrowheads="1"/>
            </p:cNvSpPr>
            <p:nvPr/>
          </p:nvSpPr>
          <p:spPr bwMode="auto">
            <a:xfrm>
              <a:off x="4152898" y="1028699"/>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4</a:t>
              </a:r>
            </a:p>
          </p:txBody>
        </p:sp>
        <p:sp>
          <p:nvSpPr>
            <p:cNvPr id="21" name="Text Box 37"/>
            <p:cNvSpPr txBox="1">
              <a:spLocks noChangeArrowheads="1"/>
            </p:cNvSpPr>
            <p:nvPr/>
          </p:nvSpPr>
          <p:spPr bwMode="auto">
            <a:xfrm>
              <a:off x="4303712" y="1176339"/>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5</a:t>
              </a:r>
            </a:p>
          </p:txBody>
        </p:sp>
        <p:sp>
          <p:nvSpPr>
            <p:cNvPr id="22" name="Text Box 38"/>
            <p:cNvSpPr txBox="1">
              <a:spLocks noChangeArrowheads="1"/>
            </p:cNvSpPr>
            <p:nvPr/>
          </p:nvSpPr>
          <p:spPr bwMode="auto">
            <a:xfrm>
              <a:off x="4435474" y="1360487"/>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6</a:t>
              </a:r>
            </a:p>
          </p:txBody>
        </p:sp>
        <p:sp>
          <p:nvSpPr>
            <p:cNvPr id="23" name="Text Box 39"/>
            <p:cNvSpPr txBox="1">
              <a:spLocks noChangeArrowheads="1"/>
            </p:cNvSpPr>
            <p:nvPr/>
          </p:nvSpPr>
          <p:spPr bwMode="auto">
            <a:xfrm>
              <a:off x="4502150" y="1635125"/>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7</a:t>
              </a:r>
            </a:p>
          </p:txBody>
        </p:sp>
        <p:sp>
          <p:nvSpPr>
            <p:cNvPr id="24" name="Text Box 40"/>
            <p:cNvSpPr txBox="1">
              <a:spLocks noChangeArrowheads="1"/>
            </p:cNvSpPr>
            <p:nvPr/>
          </p:nvSpPr>
          <p:spPr bwMode="auto">
            <a:xfrm>
              <a:off x="4543426" y="1849438"/>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8</a:t>
              </a:r>
            </a:p>
          </p:txBody>
        </p:sp>
        <p:sp>
          <p:nvSpPr>
            <p:cNvPr id="25" name="Text Box 41"/>
            <p:cNvSpPr txBox="1">
              <a:spLocks noChangeArrowheads="1"/>
            </p:cNvSpPr>
            <p:nvPr/>
          </p:nvSpPr>
          <p:spPr bwMode="auto">
            <a:xfrm>
              <a:off x="4538665" y="2097086"/>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9</a:t>
              </a:r>
            </a:p>
          </p:txBody>
        </p:sp>
        <p:sp>
          <p:nvSpPr>
            <p:cNvPr id="26" name="Text Box 42"/>
            <p:cNvSpPr txBox="1">
              <a:spLocks noChangeArrowheads="1"/>
            </p:cNvSpPr>
            <p:nvPr/>
          </p:nvSpPr>
          <p:spPr bwMode="auto">
            <a:xfrm>
              <a:off x="4479926" y="2344739"/>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10</a:t>
              </a:r>
            </a:p>
          </p:txBody>
        </p:sp>
        <p:sp>
          <p:nvSpPr>
            <p:cNvPr id="27" name="Text Box 43"/>
            <p:cNvSpPr txBox="1">
              <a:spLocks noChangeArrowheads="1"/>
            </p:cNvSpPr>
            <p:nvPr/>
          </p:nvSpPr>
          <p:spPr bwMode="auto">
            <a:xfrm>
              <a:off x="4357688" y="2570161"/>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11</a:t>
              </a:r>
            </a:p>
          </p:txBody>
        </p:sp>
        <p:sp>
          <p:nvSpPr>
            <p:cNvPr id="28" name="Text Box 44"/>
            <p:cNvSpPr txBox="1">
              <a:spLocks noChangeArrowheads="1"/>
            </p:cNvSpPr>
            <p:nvPr/>
          </p:nvSpPr>
          <p:spPr bwMode="auto">
            <a:xfrm>
              <a:off x="4179888" y="2795586"/>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12</a:t>
              </a:r>
            </a:p>
          </p:txBody>
        </p:sp>
        <p:sp>
          <p:nvSpPr>
            <p:cNvPr id="29" name="Text Box 45"/>
            <p:cNvSpPr txBox="1">
              <a:spLocks noChangeArrowheads="1"/>
            </p:cNvSpPr>
            <p:nvPr/>
          </p:nvSpPr>
          <p:spPr bwMode="auto">
            <a:xfrm>
              <a:off x="4011614" y="2932111"/>
              <a:ext cx="230186"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13</a:t>
              </a:r>
            </a:p>
          </p:txBody>
        </p:sp>
        <p:sp>
          <p:nvSpPr>
            <p:cNvPr id="30" name="Text Box 46"/>
            <p:cNvSpPr txBox="1">
              <a:spLocks noChangeArrowheads="1"/>
            </p:cNvSpPr>
            <p:nvPr/>
          </p:nvSpPr>
          <p:spPr bwMode="auto">
            <a:xfrm>
              <a:off x="3802062" y="3060701"/>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14</a:t>
              </a:r>
            </a:p>
          </p:txBody>
        </p:sp>
        <p:sp>
          <p:nvSpPr>
            <p:cNvPr id="31" name="Text Box 47"/>
            <p:cNvSpPr txBox="1">
              <a:spLocks noChangeArrowheads="1"/>
            </p:cNvSpPr>
            <p:nvPr/>
          </p:nvSpPr>
          <p:spPr bwMode="auto">
            <a:xfrm>
              <a:off x="3535362" y="3133726"/>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15</a:t>
              </a:r>
            </a:p>
          </p:txBody>
        </p:sp>
        <p:sp>
          <p:nvSpPr>
            <p:cNvPr id="32" name="Oval 48"/>
            <p:cNvSpPr>
              <a:spLocks noChangeArrowheads="1"/>
            </p:cNvSpPr>
            <p:nvPr/>
          </p:nvSpPr>
          <p:spPr bwMode="auto">
            <a:xfrm>
              <a:off x="4311650" y="996950"/>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3" name="Oval 49"/>
            <p:cNvSpPr>
              <a:spLocks noChangeArrowheads="1"/>
            </p:cNvSpPr>
            <p:nvPr/>
          </p:nvSpPr>
          <p:spPr bwMode="auto">
            <a:xfrm>
              <a:off x="2330450" y="2987675"/>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 name="Oval 50"/>
            <p:cNvSpPr>
              <a:spLocks noChangeArrowheads="1"/>
            </p:cNvSpPr>
            <p:nvPr/>
          </p:nvSpPr>
          <p:spPr bwMode="auto">
            <a:xfrm>
              <a:off x="2016125" y="1454150"/>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5" name="Oval 51"/>
            <p:cNvSpPr>
              <a:spLocks noChangeArrowheads="1"/>
            </p:cNvSpPr>
            <p:nvPr/>
          </p:nvSpPr>
          <p:spPr bwMode="auto">
            <a:xfrm>
              <a:off x="3911600" y="7302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6" name="Oval 52"/>
            <p:cNvSpPr>
              <a:spLocks noChangeArrowheads="1"/>
            </p:cNvSpPr>
            <p:nvPr/>
          </p:nvSpPr>
          <p:spPr bwMode="auto">
            <a:xfrm>
              <a:off x="4633913" y="2541588"/>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 name="Oval 53"/>
            <p:cNvSpPr>
              <a:spLocks noChangeArrowheads="1"/>
            </p:cNvSpPr>
            <p:nvPr/>
          </p:nvSpPr>
          <p:spPr bwMode="auto">
            <a:xfrm>
              <a:off x="2797175" y="682625"/>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 name="Oval 54"/>
            <p:cNvSpPr>
              <a:spLocks noChangeArrowheads="1"/>
            </p:cNvSpPr>
            <p:nvPr/>
          </p:nvSpPr>
          <p:spPr bwMode="auto">
            <a:xfrm>
              <a:off x="4654550" y="14922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9" name="Oval 55"/>
            <p:cNvSpPr>
              <a:spLocks noChangeArrowheads="1"/>
            </p:cNvSpPr>
            <p:nvPr/>
          </p:nvSpPr>
          <p:spPr bwMode="auto">
            <a:xfrm>
              <a:off x="4768850" y="2016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0" name="Oval 56"/>
            <p:cNvSpPr>
              <a:spLocks noChangeArrowheads="1"/>
            </p:cNvSpPr>
            <p:nvPr/>
          </p:nvSpPr>
          <p:spPr bwMode="auto">
            <a:xfrm>
              <a:off x="4359275" y="30162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1" name="Oval 57"/>
            <p:cNvSpPr>
              <a:spLocks noChangeArrowheads="1"/>
            </p:cNvSpPr>
            <p:nvPr/>
          </p:nvSpPr>
          <p:spPr bwMode="auto">
            <a:xfrm>
              <a:off x="3892550" y="3321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2" name="Oval 58"/>
            <p:cNvSpPr>
              <a:spLocks noChangeArrowheads="1"/>
            </p:cNvSpPr>
            <p:nvPr/>
          </p:nvSpPr>
          <p:spPr bwMode="auto">
            <a:xfrm>
              <a:off x="3368675" y="34353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3" name="Oval 59"/>
            <p:cNvSpPr>
              <a:spLocks noChangeArrowheads="1"/>
            </p:cNvSpPr>
            <p:nvPr/>
          </p:nvSpPr>
          <p:spPr bwMode="auto">
            <a:xfrm>
              <a:off x="2825750" y="33305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4" name="Oval 60"/>
            <p:cNvSpPr>
              <a:spLocks noChangeArrowheads="1"/>
            </p:cNvSpPr>
            <p:nvPr/>
          </p:nvSpPr>
          <p:spPr bwMode="auto">
            <a:xfrm>
              <a:off x="2063750" y="2559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5" name="Oval 61"/>
            <p:cNvSpPr>
              <a:spLocks noChangeArrowheads="1"/>
            </p:cNvSpPr>
            <p:nvPr/>
          </p:nvSpPr>
          <p:spPr bwMode="auto">
            <a:xfrm>
              <a:off x="1949450" y="2016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6" name="Oval 62"/>
            <p:cNvSpPr>
              <a:spLocks noChangeArrowheads="1"/>
            </p:cNvSpPr>
            <p:nvPr/>
          </p:nvSpPr>
          <p:spPr bwMode="auto">
            <a:xfrm>
              <a:off x="2368550" y="1035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7" name="Oval 51"/>
            <p:cNvSpPr>
              <a:spLocks noChangeArrowheads="1"/>
            </p:cNvSpPr>
            <p:nvPr/>
          </p:nvSpPr>
          <p:spPr bwMode="auto">
            <a:xfrm>
              <a:off x="3636963" y="654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8" name="Oval 51"/>
            <p:cNvSpPr>
              <a:spLocks noChangeArrowheads="1"/>
            </p:cNvSpPr>
            <p:nvPr/>
          </p:nvSpPr>
          <p:spPr bwMode="auto">
            <a:xfrm>
              <a:off x="4148138" y="8604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9" name="Oval 51"/>
            <p:cNvSpPr>
              <a:spLocks noChangeArrowheads="1"/>
            </p:cNvSpPr>
            <p:nvPr/>
          </p:nvSpPr>
          <p:spPr bwMode="auto">
            <a:xfrm>
              <a:off x="2578100" y="8604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0" name="Oval 51"/>
            <p:cNvSpPr>
              <a:spLocks noChangeArrowheads="1"/>
            </p:cNvSpPr>
            <p:nvPr/>
          </p:nvSpPr>
          <p:spPr bwMode="auto">
            <a:xfrm>
              <a:off x="3081338" y="6461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1" name="Oval 51"/>
            <p:cNvSpPr>
              <a:spLocks noChangeArrowheads="1"/>
            </p:cNvSpPr>
            <p:nvPr/>
          </p:nvSpPr>
          <p:spPr bwMode="auto">
            <a:xfrm>
              <a:off x="4537075" y="12636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2" name="Oval 51"/>
            <p:cNvSpPr>
              <a:spLocks noChangeArrowheads="1"/>
            </p:cNvSpPr>
            <p:nvPr/>
          </p:nvSpPr>
          <p:spPr bwMode="auto">
            <a:xfrm>
              <a:off x="3103563" y="3413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3" name="Oval 51"/>
            <p:cNvSpPr>
              <a:spLocks noChangeArrowheads="1"/>
            </p:cNvSpPr>
            <p:nvPr/>
          </p:nvSpPr>
          <p:spPr bwMode="auto">
            <a:xfrm>
              <a:off x="2554288" y="31988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4" name="Oval 51"/>
            <p:cNvSpPr>
              <a:spLocks noChangeArrowheads="1"/>
            </p:cNvSpPr>
            <p:nvPr/>
          </p:nvSpPr>
          <p:spPr bwMode="auto">
            <a:xfrm>
              <a:off x="1968500" y="17430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5" name="Oval 51"/>
            <p:cNvSpPr>
              <a:spLocks noChangeArrowheads="1"/>
            </p:cNvSpPr>
            <p:nvPr/>
          </p:nvSpPr>
          <p:spPr bwMode="auto">
            <a:xfrm>
              <a:off x="2181225" y="12477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6" name="Oval 51"/>
            <p:cNvSpPr>
              <a:spLocks noChangeArrowheads="1"/>
            </p:cNvSpPr>
            <p:nvPr/>
          </p:nvSpPr>
          <p:spPr bwMode="auto">
            <a:xfrm>
              <a:off x="3621088" y="3413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7" name="Oval 51"/>
            <p:cNvSpPr>
              <a:spLocks noChangeArrowheads="1"/>
            </p:cNvSpPr>
            <p:nvPr/>
          </p:nvSpPr>
          <p:spPr bwMode="auto">
            <a:xfrm>
              <a:off x="4148138" y="31908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8" name="Oval 51"/>
            <p:cNvSpPr>
              <a:spLocks noChangeArrowheads="1"/>
            </p:cNvSpPr>
            <p:nvPr/>
          </p:nvSpPr>
          <p:spPr bwMode="auto">
            <a:xfrm>
              <a:off x="4741863" y="22844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9" name="Oval 51"/>
            <p:cNvSpPr>
              <a:spLocks noChangeArrowheads="1"/>
            </p:cNvSpPr>
            <p:nvPr/>
          </p:nvSpPr>
          <p:spPr bwMode="auto">
            <a:xfrm>
              <a:off x="4521200" y="28098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60" name="Oval 51"/>
            <p:cNvSpPr>
              <a:spLocks noChangeArrowheads="1"/>
            </p:cNvSpPr>
            <p:nvPr/>
          </p:nvSpPr>
          <p:spPr bwMode="auto">
            <a:xfrm>
              <a:off x="1974850" y="23002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61" name="Oval 51"/>
            <p:cNvSpPr>
              <a:spLocks noChangeArrowheads="1"/>
            </p:cNvSpPr>
            <p:nvPr/>
          </p:nvSpPr>
          <p:spPr bwMode="auto">
            <a:xfrm>
              <a:off x="2173288" y="28035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62" name="Oval 51"/>
            <p:cNvSpPr>
              <a:spLocks noChangeArrowheads="1"/>
            </p:cNvSpPr>
            <p:nvPr/>
          </p:nvSpPr>
          <p:spPr bwMode="auto">
            <a:xfrm>
              <a:off x="3362325" y="6238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63" name="Text Box 47"/>
            <p:cNvSpPr txBox="1">
              <a:spLocks noChangeArrowheads="1"/>
            </p:cNvSpPr>
            <p:nvPr/>
          </p:nvSpPr>
          <p:spPr bwMode="auto">
            <a:xfrm>
              <a:off x="3306763" y="3168649"/>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16</a:t>
              </a:r>
            </a:p>
          </p:txBody>
        </p:sp>
        <p:sp>
          <p:nvSpPr>
            <p:cNvPr id="64" name="Text Box 47"/>
            <p:cNvSpPr txBox="1">
              <a:spLocks noChangeArrowheads="1"/>
            </p:cNvSpPr>
            <p:nvPr/>
          </p:nvSpPr>
          <p:spPr bwMode="auto">
            <a:xfrm>
              <a:off x="3063876" y="3148011"/>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17</a:t>
              </a:r>
            </a:p>
          </p:txBody>
        </p:sp>
        <p:sp>
          <p:nvSpPr>
            <p:cNvPr id="65" name="Text Box 47"/>
            <p:cNvSpPr txBox="1">
              <a:spLocks noChangeArrowheads="1"/>
            </p:cNvSpPr>
            <p:nvPr/>
          </p:nvSpPr>
          <p:spPr bwMode="auto">
            <a:xfrm>
              <a:off x="2819401" y="3087687"/>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18</a:t>
              </a:r>
            </a:p>
          </p:txBody>
        </p:sp>
        <p:sp>
          <p:nvSpPr>
            <p:cNvPr id="66" name="Text Box 47"/>
            <p:cNvSpPr txBox="1">
              <a:spLocks noChangeArrowheads="1"/>
            </p:cNvSpPr>
            <p:nvPr/>
          </p:nvSpPr>
          <p:spPr bwMode="auto">
            <a:xfrm>
              <a:off x="2598739" y="2987674"/>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19</a:t>
              </a:r>
            </a:p>
          </p:txBody>
        </p:sp>
        <p:sp>
          <p:nvSpPr>
            <p:cNvPr id="67" name="Text Box 47"/>
            <p:cNvSpPr txBox="1">
              <a:spLocks noChangeArrowheads="1"/>
            </p:cNvSpPr>
            <p:nvPr/>
          </p:nvSpPr>
          <p:spPr bwMode="auto">
            <a:xfrm>
              <a:off x="2482851" y="2751136"/>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20</a:t>
              </a:r>
            </a:p>
          </p:txBody>
        </p:sp>
        <p:sp>
          <p:nvSpPr>
            <p:cNvPr id="68" name="Text Box 47"/>
            <p:cNvSpPr txBox="1">
              <a:spLocks noChangeArrowheads="1"/>
            </p:cNvSpPr>
            <p:nvPr/>
          </p:nvSpPr>
          <p:spPr bwMode="auto">
            <a:xfrm>
              <a:off x="2292351" y="2636838"/>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21</a:t>
              </a:r>
            </a:p>
          </p:txBody>
        </p:sp>
        <p:sp>
          <p:nvSpPr>
            <p:cNvPr id="69" name="Text Box 47"/>
            <p:cNvSpPr txBox="1">
              <a:spLocks noChangeArrowheads="1"/>
            </p:cNvSpPr>
            <p:nvPr/>
          </p:nvSpPr>
          <p:spPr bwMode="auto">
            <a:xfrm>
              <a:off x="2178050" y="2438397"/>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22</a:t>
              </a:r>
            </a:p>
          </p:txBody>
        </p:sp>
        <p:sp>
          <p:nvSpPr>
            <p:cNvPr id="70" name="Text Box 47"/>
            <p:cNvSpPr txBox="1">
              <a:spLocks noChangeArrowheads="1"/>
            </p:cNvSpPr>
            <p:nvPr/>
          </p:nvSpPr>
          <p:spPr bwMode="auto">
            <a:xfrm>
              <a:off x="2063749" y="2187575"/>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23</a:t>
              </a:r>
            </a:p>
          </p:txBody>
        </p:sp>
        <p:sp>
          <p:nvSpPr>
            <p:cNvPr id="71" name="Text Box 47"/>
            <p:cNvSpPr txBox="1">
              <a:spLocks noChangeArrowheads="1"/>
            </p:cNvSpPr>
            <p:nvPr/>
          </p:nvSpPr>
          <p:spPr bwMode="auto">
            <a:xfrm>
              <a:off x="2063749" y="1904997"/>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24</a:t>
              </a:r>
            </a:p>
          </p:txBody>
        </p:sp>
        <p:sp>
          <p:nvSpPr>
            <p:cNvPr id="72" name="Text Box 47"/>
            <p:cNvSpPr txBox="1">
              <a:spLocks noChangeArrowheads="1"/>
            </p:cNvSpPr>
            <p:nvPr/>
          </p:nvSpPr>
          <p:spPr bwMode="auto">
            <a:xfrm>
              <a:off x="2063749" y="1646237"/>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25</a:t>
              </a:r>
            </a:p>
          </p:txBody>
        </p:sp>
        <p:sp>
          <p:nvSpPr>
            <p:cNvPr id="73" name="Text Box 47"/>
            <p:cNvSpPr txBox="1">
              <a:spLocks noChangeArrowheads="1"/>
            </p:cNvSpPr>
            <p:nvPr/>
          </p:nvSpPr>
          <p:spPr bwMode="auto">
            <a:xfrm>
              <a:off x="2162175" y="1425574"/>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26</a:t>
              </a:r>
            </a:p>
          </p:txBody>
        </p:sp>
        <p:sp>
          <p:nvSpPr>
            <p:cNvPr id="74" name="Text Box 47"/>
            <p:cNvSpPr txBox="1">
              <a:spLocks noChangeArrowheads="1"/>
            </p:cNvSpPr>
            <p:nvPr/>
          </p:nvSpPr>
          <p:spPr bwMode="auto">
            <a:xfrm>
              <a:off x="2268538" y="1249362"/>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27</a:t>
              </a:r>
            </a:p>
          </p:txBody>
        </p:sp>
        <p:sp>
          <p:nvSpPr>
            <p:cNvPr id="75" name="Text Box 47"/>
            <p:cNvSpPr txBox="1">
              <a:spLocks noChangeArrowheads="1"/>
            </p:cNvSpPr>
            <p:nvPr/>
          </p:nvSpPr>
          <p:spPr bwMode="auto">
            <a:xfrm>
              <a:off x="2360613" y="1044574"/>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28</a:t>
              </a:r>
            </a:p>
          </p:txBody>
        </p:sp>
        <p:sp>
          <p:nvSpPr>
            <p:cNvPr id="76" name="Text Box 47"/>
            <p:cNvSpPr txBox="1">
              <a:spLocks noChangeArrowheads="1"/>
            </p:cNvSpPr>
            <p:nvPr/>
          </p:nvSpPr>
          <p:spPr bwMode="auto">
            <a:xfrm>
              <a:off x="2573338" y="892175"/>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29</a:t>
              </a:r>
            </a:p>
          </p:txBody>
        </p:sp>
        <p:sp>
          <p:nvSpPr>
            <p:cNvPr id="77" name="Text Box 47"/>
            <p:cNvSpPr txBox="1">
              <a:spLocks noChangeArrowheads="1"/>
            </p:cNvSpPr>
            <p:nvPr/>
          </p:nvSpPr>
          <p:spPr bwMode="auto">
            <a:xfrm>
              <a:off x="2787651" y="784226"/>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30</a:t>
              </a:r>
            </a:p>
          </p:txBody>
        </p:sp>
        <p:sp>
          <p:nvSpPr>
            <p:cNvPr id="78" name="Text Box 47"/>
            <p:cNvSpPr txBox="1">
              <a:spLocks noChangeArrowheads="1"/>
            </p:cNvSpPr>
            <p:nvPr/>
          </p:nvSpPr>
          <p:spPr bwMode="auto">
            <a:xfrm>
              <a:off x="3062287" y="669926"/>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31</a:t>
              </a:r>
            </a:p>
          </p:txBody>
        </p:sp>
        <p:sp>
          <p:nvSpPr>
            <p:cNvPr id="79" name="Text Box 71"/>
            <p:cNvSpPr txBox="1">
              <a:spLocks noChangeArrowheads="1"/>
            </p:cNvSpPr>
            <p:nvPr/>
          </p:nvSpPr>
          <p:spPr bwMode="auto">
            <a:xfrm>
              <a:off x="5013325" y="2285999"/>
              <a:ext cx="454029" cy="19252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wrap="square" lIns="0" tIns="0" rIns="0" bIns="0">
              <a:spAutoFit/>
            </a:bodyPr>
            <a:lstStyle/>
            <a:p>
              <a:pPr algn="ctr">
                <a:defRPr/>
              </a:pPr>
              <a:r>
                <a:rPr kumimoji="1" lang="en-US" altLang="zh-CN" sz="1000" b="1" dirty="0">
                  <a:latin typeface="微软雅黑 Light" panose="020B0502040204020203" pitchFamily="34" charset="-122"/>
                  <a:ea typeface="微软雅黑 Light" panose="020B0502040204020203" pitchFamily="34" charset="-122"/>
                </a:rPr>
                <a:t>K8</a:t>
              </a:r>
            </a:p>
          </p:txBody>
        </p:sp>
        <p:sp>
          <p:nvSpPr>
            <p:cNvPr id="80" name="Oval 53"/>
            <p:cNvSpPr>
              <a:spLocks noChangeArrowheads="1"/>
            </p:cNvSpPr>
            <p:nvPr/>
          </p:nvSpPr>
          <p:spPr bwMode="auto">
            <a:xfrm>
              <a:off x="4692650" y="1706563"/>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81" name="Text Box 47"/>
            <p:cNvSpPr txBox="1">
              <a:spLocks noChangeArrowheads="1"/>
            </p:cNvSpPr>
            <p:nvPr/>
          </p:nvSpPr>
          <p:spPr bwMode="auto">
            <a:xfrm>
              <a:off x="4883149" y="1600198"/>
              <a:ext cx="381000"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N7</a:t>
              </a:r>
            </a:p>
          </p:txBody>
        </p:sp>
        <p:sp>
          <p:nvSpPr>
            <p:cNvPr id="82" name="Text Box 47"/>
            <p:cNvSpPr txBox="1">
              <a:spLocks noChangeArrowheads="1"/>
            </p:cNvSpPr>
            <p:nvPr/>
          </p:nvSpPr>
          <p:spPr bwMode="auto">
            <a:xfrm>
              <a:off x="4822825" y="2498724"/>
              <a:ext cx="476146"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N10</a:t>
              </a:r>
            </a:p>
          </p:txBody>
        </p:sp>
        <p:sp>
          <p:nvSpPr>
            <p:cNvPr id="83" name="Text Box 47"/>
            <p:cNvSpPr txBox="1">
              <a:spLocks noChangeArrowheads="1"/>
            </p:cNvSpPr>
            <p:nvPr/>
          </p:nvSpPr>
          <p:spPr bwMode="auto">
            <a:xfrm>
              <a:off x="4533900" y="769939"/>
              <a:ext cx="471485"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N4</a:t>
              </a:r>
            </a:p>
          </p:txBody>
        </p:sp>
        <p:sp>
          <p:nvSpPr>
            <p:cNvPr id="84" name="Text Box 47"/>
            <p:cNvSpPr txBox="1">
              <a:spLocks noChangeArrowheads="1"/>
            </p:cNvSpPr>
            <p:nvPr/>
          </p:nvSpPr>
          <p:spPr bwMode="auto">
            <a:xfrm>
              <a:off x="2590007" y="419268"/>
              <a:ext cx="514349"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N30</a:t>
              </a:r>
            </a:p>
          </p:txBody>
        </p:sp>
        <p:sp>
          <p:nvSpPr>
            <p:cNvPr id="85" name="Text Box 47"/>
            <p:cNvSpPr txBox="1">
              <a:spLocks noChangeArrowheads="1"/>
            </p:cNvSpPr>
            <p:nvPr/>
          </p:nvSpPr>
          <p:spPr bwMode="auto">
            <a:xfrm>
              <a:off x="1976438" y="3109914"/>
              <a:ext cx="438151"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N20</a:t>
              </a:r>
            </a:p>
          </p:txBody>
        </p:sp>
        <p:sp>
          <p:nvSpPr>
            <p:cNvPr id="86" name="Text Box 47"/>
            <p:cNvSpPr txBox="1">
              <a:spLocks noChangeArrowheads="1"/>
            </p:cNvSpPr>
            <p:nvPr/>
          </p:nvSpPr>
          <p:spPr bwMode="auto">
            <a:xfrm>
              <a:off x="1641693" y="1295401"/>
              <a:ext cx="479426"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N26</a:t>
              </a:r>
            </a:p>
          </p:txBody>
        </p:sp>
        <p:sp>
          <p:nvSpPr>
            <p:cNvPr id="87" name="Text Box 71"/>
            <p:cNvSpPr txBox="1">
              <a:spLocks noChangeArrowheads="1"/>
            </p:cNvSpPr>
            <p:nvPr/>
          </p:nvSpPr>
          <p:spPr bwMode="auto">
            <a:xfrm>
              <a:off x="3968751" y="419100"/>
              <a:ext cx="427037" cy="19252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wrap="square" lIns="0" tIns="0" rIns="0" bIns="0">
              <a:spAutoFit/>
            </a:bodyPr>
            <a:lstStyle/>
            <a:p>
              <a:pPr algn="ctr">
                <a:defRPr/>
              </a:pPr>
              <a:r>
                <a:rPr kumimoji="1" lang="en-US" altLang="zh-CN" sz="1000" b="1" dirty="0">
                  <a:latin typeface="微软雅黑 Light" panose="020B0502040204020203" pitchFamily="34" charset="-122"/>
                  <a:ea typeface="微软雅黑 Light" panose="020B0502040204020203" pitchFamily="34" charset="-122"/>
                </a:rPr>
                <a:t>K31</a:t>
              </a:r>
            </a:p>
          </p:txBody>
        </p:sp>
        <p:sp>
          <p:nvSpPr>
            <p:cNvPr id="88" name="Text Box 71"/>
            <p:cNvSpPr txBox="1">
              <a:spLocks noChangeArrowheads="1"/>
            </p:cNvSpPr>
            <p:nvPr/>
          </p:nvSpPr>
          <p:spPr bwMode="auto">
            <a:xfrm>
              <a:off x="1968500" y="701675"/>
              <a:ext cx="438153" cy="19252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wrap="square" lIns="0" tIns="0" rIns="0" bIns="0">
              <a:spAutoFit/>
            </a:bodyPr>
            <a:lstStyle/>
            <a:p>
              <a:pPr algn="ctr">
                <a:defRPr/>
              </a:pPr>
              <a:r>
                <a:rPr kumimoji="1" lang="en-US" altLang="zh-CN" sz="1000" b="1" dirty="0">
                  <a:latin typeface="微软雅黑 Light" panose="020B0502040204020203" pitchFamily="34" charset="-122"/>
                  <a:ea typeface="微软雅黑 Light" panose="020B0502040204020203" pitchFamily="34" charset="-122"/>
                </a:rPr>
                <a:t>K29</a:t>
              </a:r>
            </a:p>
          </p:txBody>
        </p:sp>
        <p:sp>
          <p:nvSpPr>
            <p:cNvPr id="89" name="Text Box 71"/>
            <p:cNvSpPr txBox="1">
              <a:spLocks noChangeArrowheads="1"/>
            </p:cNvSpPr>
            <p:nvPr/>
          </p:nvSpPr>
          <p:spPr bwMode="auto">
            <a:xfrm>
              <a:off x="4425950" y="457198"/>
              <a:ext cx="419099" cy="19252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wrap="square" lIns="0" tIns="0" rIns="0" bIns="0">
              <a:spAutoFit/>
            </a:bodyPr>
            <a:lstStyle/>
            <a:p>
              <a:pPr algn="ctr">
                <a:defRPr/>
              </a:pPr>
              <a:r>
                <a:rPr kumimoji="1" lang="en-US" altLang="zh-CN" sz="1000" b="1" dirty="0">
                  <a:latin typeface="微软雅黑 Light" panose="020B0502040204020203" pitchFamily="34" charset="-122"/>
                  <a:ea typeface="微软雅黑 Light" panose="020B0502040204020203" pitchFamily="34" charset="-122"/>
                </a:rPr>
                <a:t>K2</a:t>
              </a:r>
            </a:p>
          </p:txBody>
        </p:sp>
        <p:sp>
          <p:nvSpPr>
            <p:cNvPr id="90" name="Text Box 71"/>
            <p:cNvSpPr txBox="1">
              <a:spLocks noChangeArrowheads="1"/>
            </p:cNvSpPr>
            <p:nvPr/>
          </p:nvSpPr>
          <p:spPr bwMode="auto">
            <a:xfrm>
              <a:off x="2262024" y="3352795"/>
              <a:ext cx="512764" cy="19252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wrap="square" lIns="0" tIns="0" rIns="0" bIns="0">
              <a:spAutoFit/>
            </a:bodyPr>
            <a:lstStyle/>
            <a:p>
              <a:pPr algn="ctr">
                <a:defRPr/>
              </a:pPr>
              <a:r>
                <a:rPr kumimoji="1" lang="en-US" altLang="zh-CN" sz="1000" b="1" dirty="0">
                  <a:latin typeface="微软雅黑 Light" panose="020B0502040204020203" pitchFamily="34" charset="-122"/>
                  <a:ea typeface="微软雅黑 Light" panose="020B0502040204020203" pitchFamily="34" charset="-122"/>
                </a:rPr>
                <a:t>K12</a:t>
              </a:r>
            </a:p>
          </p:txBody>
        </p:sp>
        <p:sp>
          <p:nvSpPr>
            <p:cNvPr id="91" name="Text Box 71"/>
            <p:cNvSpPr txBox="1">
              <a:spLocks noChangeArrowheads="1"/>
            </p:cNvSpPr>
            <p:nvPr/>
          </p:nvSpPr>
          <p:spPr bwMode="auto">
            <a:xfrm>
              <a:off x="1262063" y="1592263"/>
              <a:ext cx="466728" cy="19252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wrap="square" lIns="0" tIns="0" rIns="0" bIns="0">
              <a:spAutoFit/>
            </a:bodyPr>
            <a:lstStyle/>
            <a:p>
              <a:pPr algn="ctr">
                <a:defRPr/>
              </a:pPr>
              <a:r>
                <a:rPr kumimoji="1" lang="en-US" altLang="zh-CN" sz="1000" b="1" dirty="0">
                  <a:latin typeface="微软雅黑 Light" panose="020B0502040204020203" pitchFamily="34" charset="-122"/>
                  <a:ea typeface="微软雅黑 Light" panose="020B0502040204020203" pitchFamily="34" charset="-122"/>
                </a:rPr>
                <a:t>K23</a:t>
              </a:r>
            </a:p>
          </p:txBody>
        </p:sp>
        <p:cxnSp>
          <p:nvCxnSpPr>
            <p:cNvPr id="92" name="直接箭头连接符 91"/>
            <p:cNvCxnSpPr/>
            <p:nvPr/>
          </p:nvCxnSpPr>
          <p:spPr bwMode="auto">
            <a:xfrm flipH="1">
              <a:off x="4776788" y="2408238"/>
              <a:ext cx="214312" cy="166687"/>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3" name="直接箭头连接符 92"/>
            <p:cNvCxnSpPr/>
            <p:nvPr/>
          </p:nvCxnSpPr>
          <p:spPr bwMode="auto">
            <a:xfrm>
              <a:off x="4235450" y="685800"/>
              <a:ext cx="139700" cy="315913"/>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4" name="直接箭头连接符 93"/>
            <p:cNvCxnSpPr/>
            <p:nvPr/>
          </p:nvCxnSpPr>
          <p:spPr bwMode="auto">
            <a:xfrm flipH="1">
              <a:off x="4433888" y="719138"/>
              <a:ext cx="198437" cy="27940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5" name="直接箭头连接符 94"/>
            <p:cNvCxnSpPr/>
            <p:nvPr/>
          </p:nvCxnSpPr>
          <p:spPr bwMode="auto">
            <a:xfrm flipV="1">
              <a:off x="1744663" y="1577975"/>
              <a:ext cx="273050" cy="136525"/>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6" name="直接箭头连接符 95"/>
            <p:cNvCxnSpPr/>
            <p:nvPr/>
          </p:nvCxnSpPr>
          <p:spPr bwMode="auto">
            <a:xfrm flipH="1" flipV="1">
              <a:off x="2392363" y="3140075"/>
              <a:ext cx="144462" cy="220663"/>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7" name="直接箭头连接符 96"/>
            <p:cNvCxnSpPr/>
            <p:nvPr/>
          </p:nvCxnSpPr>
          <p:spPr bwMode="auto">
            <a:xfrm flipV="1">
              <a:off x="2452688" y="746125"/>
              <a:ext cx="342900" cy="55563"/>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98" name="TextBox 176"/>
            <p:cNvSpPr txBox="1">
              <a:spLocks noChangeArrowheads="1"/>
            </p:cNvSpPr>
            <p:nvPr/>
          </p:nvSpPr>
          <p:spPr bwMode="auto">
            <a:xfrm>
              <a:off x="5576890" y="764925"/>
              <a:ext cx="1576281" cy="1623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N4 + 1      N7</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N4 + 2      N7</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N4 + 4      N10</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N4 + 8      N20</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N4 + 16    N20</a:t>
              </a:r>
            </a:p>
            <a:p>
              <a:pPr eaLnBrk="1" hangingPunct="1">
                <a:lnSpc>
                  <a:spcPts val="1600"/>
                </a:lnSpc>
              </a:pPr>
              <a:endParaRPr lang="zh-CN" altLang="en-US" sz="1000" b="1" dirty="0">
                <a:latin typeface="微软雅黑 Light" panose="020B0502040204020203" pitchFamily="34" charset="-122"/>
                <a:ea typeface="微软雅黑 Light" panose="020B0502040204020203" pitchFamily="34" charset="-122"/>
                <a:cs typeface="Times New Roman" panose="02020603050405020304" pitchFamily="18" charset="0"/>
              </a:endParaRPr>
            </a:p>
          </p:txBody>
        </p:sp>
        <p:cxnSp>
          <p:nvCxnSpPr>
            <p:cNvPr id="99" name="直接连接符 98"/>
            <p:cNvCxnSpPr/>
            <p:nvPr/>
          </p:nvCxnSpPr>
          <p:spPr>
            <a:xfrm flipV="1">
              <a:off x="5578475" y="1058863"/>
              <a:ext cx="1363663" cy="793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0" name="直接连接符 99"/>
            <p:cNvCxnSpPr/>
            <p:nvPr/>
          </p:nvCxnSpPr>
          <p:spPr>
            <a:xfrm flipV="1">
              <a:off x="5570538" y="1303338"/>
              <a:ext cx="1363662" cy="635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1" name="直接连接符 100"/>
            <p:cNvCxnSpPr/>
            <p:nvPr/>
          </p:nvCxnSpPr>
          <p:spPr>
            <a:xfrm flipV="1">
              <a:off x="5562600" y="1554163"/>
              <a:ext cx="1363663" cy="793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2" name="直接连接符 101"/>
            <p:cNvCxnSpPr/>
            <p:nvPr/>
          </p:nvCxnSpPr>
          <p:spPr>
            <a:xfrm flipV="1">
              <a:off x="5562600" y="1812925"/>
              <a:ext cx="1363663" cy="793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3" name="直接连接符 102"/>
            <p:cNvCxnSpPr/>
            <p:nvPr/>
          </p:nvCxnSpPr>
          <p:spPr>
            <a:xfrm flipV="1">
              <a:off x="6461125" y="838200"/>
              <a:ext cx="15875" cy="122713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04" name="TextBox 200"/>
            <p:cNvSpPr txBox="1">
              <a:spLocks noChangeArrowheads="1"/>
            </p:cNvSpPr>
            <p:nvPr/>
          </p:nvSpPr>
          <p:spPr bwMode="auto">
            <a:xfrm>
              <a:off x="152399" y="2327024"/>
              <a:ext cx="1833561" cy="16462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N20 + 1      N26</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N20 + 2      N26</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N20 + 4      N26</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N20 + 8      N30</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N20 + 16    N4</a:t>
              </a:r>
            </a:p>
            <a:p>
              <a:pPr eaLnBrk="1" hangingPunct="1">
                <a:lnSpc>
                  <a:spcPts val="1600"/>
                </a:lnSpc>
              </a:pPr>
              <a:endParaRPr lang="zh-CN" altLang="en-US" sz="1000" b="1" dirty="0">
                <a:latin typeface="微软雅黑 Light" panose="020B0502040204020203" pitchFamily="34" charset="-122"/>
                <a:ea typeface="微软雅黑 Light" panose="020B0502040204020203" pitchFamily="34" charset="-122"/>
                <a:cs typeface="Times New Roman" panose="02020603050405020304" pitchFamily="18" charset="0"/>
              </a:endParaRPr>
            </a:p>
          </p:txBody>
        </p:sp>
        <p:sp>
          <p:nvSpPr>
            <p:cNvPr id="105" name="矩形 104"/>
            <p:cNvSpPr/>
            <p:nvPr/>
          </p:nvSpPr>
          <p:spPr>
            <a:xfrm>
              <a:off x="195263" y="2362200"/>
              <a:ext cx="1489075" cy="127317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050" b="1" dirty="0">
                <a:latin typeface="微软雅黑 Light" panose="020B0502040204020203" pitchFamily="34" charset="-122"/>
                <a:ea typeface="微软雅黑 Light" panose="020B0502040204020203" pitchFamily="34" charset="-122"/>
              </a:endParaRPr>
            </a:p>
          </p:txBody>
        </p:sp>
        <p:grpSp>
          <p:nvGrpSpPr>
            <p:cNvPr id="106" name="组合 115"/>
            <p:cNvGrpSpPr>
              <a:grpSpLocks/>
            </p:cNvGrpSpPr>
            <p:nvPr/>
          </p:nvGrpSpPr>
          <p:grpSpPr bwMode="auto">
            <a:xfrm>
              <a:off x="176213" y="2636838"/>
              <a:ext cx="1508125" cy="762000"/>
              <a:chOff x="304800" y="2636838"/>
              <a:chExt cx="1379538" cy="762000"/>
            </a:xfrm>
          </p:grpSpPr>
          <p:cxnSp>
            <p:nvCxnSpPr>
              <p:cNvPr id="107" name="直接连接符 106"/>
              <p:cNvCxnSpPr/>
              <p:nvPr/>
            </p:nvCxnSpPr>
            <p:spPr>
              <a:xfrm flipV="1">
                <a:off x="320773" y="2636838"/>
                <a:ext cx="1363565" cy="793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8" name="直接连接符 107"/>
              <p:cNvCxnSpPr/>
              <p:nvPr/>
            </p:nvCxnSpPr>
            <p:spPr>
              <a:xfrm flipV="1">
                <a:off x="312060" y="2887663"/>
                <a:ext cx="1365017" cy="793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9" name="直接连接符 108"/>
              <p:cNvCxnSpPr/>
              <p:nvPr/>
            </p:nvCxnSpPr>
            <p:spPr>
              <a:xfrm flipV="1">
                <a:off x="304800" y="3132138"/>
                <a:ext cx="1363564" cy="793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0" name="直接连接符 109"/>
              <p:cNvCxnSpPr/>
              <p:nvPr/>
            </p:nvCxnSpPr>
            <p:spPr>
              <a:xfrm flipV="1">
                <a:off x="304800" y="3390900"/>
                <a:ext cx="1363564" cy="793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11" name="直接连接符 110"/>
            <p:cNvCxnSpPr/>
            <p:nvPr/>
          </p:nvCxnSpPr>
          <p:spPr>
            <a:xfrm flipV="1">
              <a:off x="1082675" y="2370138"/>
              <a:ext cx="14288" cy="127158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12" name="Text Box 47"/>
            <p:cNvSpPr txBox="1">
              <a:spLocks noChangeArrowheads="1"/>
            </p:cNvSpPr>
            <p:nvPr/>
          </p:nvSpPr>
          <p:spPr bwMode="auto">
            <a:xfrm>
              <a:off x="5576890" y="534950"/>
              <a:ext cx="1365247" cy="327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N4 </a:t>
              </a:r>
              <a:r>
                <a:rPr kumimoji="1" lang="zh-CN" altLang="en-US" sz="1100" b="1" dirty="0">
                  <a:latin typeface="微软雅黑 Light" panose="020B0502040204020203" pitchFamily="34" charset="-122"/>
                  <a:ea typeface="微软雅黑 Light" panose="020B0502040204020203" pitchFamily="34" charset="-122"/>
                </a:rPr>
                <a:t>的指针表</a:t>
              </a:r>
              <a:endParaRPr kumimoji="1" lang="en-US" altLang="zh-CN" sz="1100" b="1" dirty="0">
                <a:latin typeface="微软雅黑 Light" panose="020B0502040204020203" pitchFamily="34" charset="-122"/>
                <a:ea typeface="微软雅黑 Light" panose="020B0502040204020203" pitchFamily="34" charset="-122"/>
              </a:endParaRPr>
            </a:p>
          </p:txBody>
        </p:sp>
        <p:sp>
          <p:nvSpPr>
            <p:cNvPr id="113" name="Text Box 47"/>
            <p:cNvSpPr txBox="1">
              <a:spLocks noChangeArrowheads="1"/>
            </p:cNvSpPr>
            <p:nvPr/>
          </p:nvSpPr>
          <p:spPr bwMode="auto">
            <a:xfrm>
              <a:off x="212005" y="2060559"/>
              <a:ext cx="1418361" cy="327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N20 </a:t>
              </a:r>
              <a:r>
                <a:rPr kumimoji="1" lang="zh-CN" altLang="en-US" sz="1100" b="1" dirty="0">
                  <a:latin typeface="微软雅黑 Light" panose="020B0502040204020203" pitchFamily="34" charset="-122"/>
                  <a:ea typeface="微软雅黑 Light" panose="020B0502040204020203" pitchFamily="34" charset="-122"/>
                </a:rPr>
                <a:t>的指针表</a:t>
              </a:r>
              <a:endParaRPr kumimoji="1" lang="en-US" altLang="zh-CN" sz="1100" b="1" dirty="0">
                <a:latin typeface="微软雅黑 Light" panose="020B0502040204020203" pitchFamily="34" charset="-122"/>
                <a:ea typeface="微软雅黑 Light" panose="020B0502040204020203" pitchFamily="34" charset="-122"/>
              </a:endParaRPr>
            </a:p>
          </p:txBody>
        </p:sp>
        <p:cxnSp>
          <p:nvCxnSpPr>
            <p:cNvPr id="114" name="直接箭头连接符 113"/>
            <p:cNvCxnSpPr/>
            <p:nvPr/>
          </p:nvCxnSpPr>
          <p:spPr bwMode="auto">
            <a:xfrm>
              <a:off x="4397375" y="1158875"/>
              <a:ext cx="250825" cy="141605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5" name="直接箭头连接符 114"/>
            <p:cNvCxnSpPr/>
            <p:nvPr/>
          </p:nvCxnSpPr>
          <p:spPr bwMode="auto">
            <a:xfrm>
              <a:off x="4427538" y="1135063"/>
              <a:ext cx="288925" cy="617537"/>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6" name="直接箭头连接符 115"/>
            <p:cNvCxnSpPr/>
            <p:nvPr/>
          </p:nvCxnSpPr>
          <p:spPr bwMode="auto">
            <a:xfrm flipH="1">
              <a:off x="2492375" y="1176950"/>
              <a:ext cx="1881188" cy="1904999"/>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7" name="直接箭头连接符 116"/>
            <p:cNvCxnSpPr/>
            <p:nvPr/>
          </p:nvCxnSpPr>
          <p:spPr bwMode="auto">
            <a:xfrm flipH="1" flipV="1">
              <a:off x="2149475" y="1584325"/>
              <a:ext cx="220663" cy="1417638"/>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8" name="直接箭头连接符 117"/>
            <p:cNvCxnSpPr/>
            <p:nvPr/>
          </p:nvCxnSpPr>
          <p:spPr bwMode="auto">
            <a:xfrm flipV="1">
              <a:off x="2422525" y="846138"/>
              <a:ext cx="442913" cy="2155825"/>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9" name="直接箭头连接符 118"/>
            <p:cNvCxnSpPr/>
            <p:nvPr/>
          </p:nvCxnSpPr>
          <p:spPr bwMode="auto">
            <a:xfrm flipV="1">
              <a:off x="2397107" y="1085238"/>
              <a:ext cx="1897062" cy="1904999"/>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20" name="矩形 119"/>
            <p:cNvSpPr/>
            <p:nvPr/>
          </p:nvSpPr>
          <p:spPr>
            <a:xfrm>
              <a:off x="5562600" y="830263"/>
              <a:ext cx="1371600" cy="1243012"/>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050" b="1" dirty="0">
                <a:latin typeface="微软雅黑 Light" panose="020B0502040204020203" pitchFamily="34" charset="-122"/>
                <a:ea typeface="微软雅黑 Light" panose="020B0502040204020203" pitchFamily="34" charset="-122"/>
              </a:endParaRPr>
            </a:p>
          </p:txBody>
        </p:sp>
        <p:sp>
          <p:nvSpPr>
            <p:cNvPr id="121" name="任意多边形 120"/>
            <p:cNvSpPr/>
            <p:nvPr/>
          </p:nvSpPr>
          <p:spPr>
            <a:xfrm>
              <a:off x="4479925" y="838200"/>
              <a:ext cx="1060450" cy="1241425"/>
            </a:xfrm>
            <a:custGeom>
              <a:avLst/>
              <a:gdLst>
                <a:gd name="connsiteX0" fmla="*/ 0 w 1082040"/>
                <a:gd name="connsiteY0" fmla="*/ 236220 h 1257300"/>
                <a:gd name="connsiteX1" fmla="*/ 0 w 1082040"/>
                <a:gd name="connsiteY1" fmla="*/ 236220 h 1257300"/>
                <a:gd name="connsiteX2" fmla="*/ 1074420 w 1082040"/>
                <a:gd name="connsiteY2" fmla="*/ 0 h 1257300"/>
                <a:gd name="connsiteX3" fmla="*/ 1082040 w 1082040"/>
                <a:gd name="connsiteY3" fmla="*/ 1257300 h 1257300"/>
                <a:gd name="connsiteX4" fmla="*/ 0 w 1082040"/>
                <a:gd name="connsiteY4" fmla="*/ 236220 h 12573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82040" h="1257300">
                  <a:moveTo>
                    <a:pt x="0" y="236220"/>
                  </a:moveTo>
                  <a:lnTo>
                    <a:pt x="0" y="236220"/>
                  </a:lnTo>
                  <a:lnTo>
                    <a:pt x="1074420" y="0"/>
                  </a:lnTo>
                  <a:lnTo>
                    <a:pt x="1082040" y="1257300"/>
                  </a:lnTo>
                  <a:lnTo>
                    <a:pt x="0" y="236220"/>
                  </a:lnTo>
                  <a:close/>
                </a:path>
              </a:pathLst>
            </a:custGeom>
            <a:gradFill flip="none" rotWithShape="1">
              <a:gsLst>
                <a:gs pos="0">
                  <a:schemeClr val="bg1">
                    <a:shade val="30000"/>
                    <a:satMod val="115000"/>
                  </a:schemeClr>
                </a:gs>
                <a:gs pos="50000">
                  <a:schemeClr val="bg1">
                    <a:shade val="67500"/>
                    <a:satMod val="115000"/>
                  </a:schemeClr>
                </a:gs>
                <a:gs pos="100000">
                  <a:schemeClr val="bg1">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050" b="1" dirty="0">
                <a:latin typeface="微软雅黑 Light" panose="020B0502040204020203" pitchFamily="34" charset="-122"/>
                <a:ea typeface="微软雅黑 Light" panose="020B0502040204020203" pitchFamily="34" charset="-122"/>
              </a:endParaRPr>
            </a:p>
          </p:txBody>
        </p:sp>
      </p:grpSp>
      <p:sp>
        <p:nvSpPr>
          <p:cNvPr id="2" name="标题 1">
            <a:extLst>
              <a:ext uri="{FF2B5EF4-FFF2-40B4-BE49-F238E27FC236}">
                <a16:creationId xmlns:a16="http://schemas.microsoft.com/office/drawing/2014/main" id="{AF775248-4CFE-5CC2-A2EA-063BEF60F8D8}"/>
              </a:ext>
            </a:extLst>
          </p:cNvPr>
          <p:cNvSpPr>
            <a:spLocks noGrp="1"/>
          </p:cNvSpPr>
          <p:nvPr>
            <p:ph type="title"/>
          </p:nvPr>
        </p:nvSpPr>
        <p:spPr>
          <a:xfrm>
            <a:off x="485999" y="174482"/>
            <a:ext cx="8171999" cy="338554"/>
          </a:xfrm>
        </p:spPr>
        <p:txBody>
          <a:bodyPr/>
          <a:lstStyle/>
          <a:p>
            <a:r>
              <a:rPr lang="zh-CN" altLang="en-US" dirty="0"/>
              <a:t>通过指针表加速 </a:t>
            </a:r>
            <a:r>
              <a:rPr lang="en-US" altLang="zh-CN" dirty="0"/>
              <a:t>Chord </a:t>
            </a:r>
            <a:r>
              <a:rPr lang="zh-CN" altLang="en-US" dirty="0"/>
              <a:t>表查找</a:t>
            </a:r>
          </a:p>
        </p:txBody>
      </p:sp>
      <p:sp>
        <p:nvSpPr>
          <p:cNvPr id="123" name="内容占位符 122">
            <a:extLst>
              <a:ext uri="{FF2B5EF4-FFF2-40B4-BE49-F238E27FC236}">
                <a16:creationId xmlns:a16="http://schemas.microsoft.com/office/drawing/2014/main" id="{E57784CD-2911-2245-B1F7-8C8D51B292BC}"/>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21461170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theme/theme1.xml><?xml version="1.0" encoding="utf-8"?>
<a:theme xmlns:a="http://schemas.openxmlformats.org/drawingml/2006/main" name="network">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solidFill>
          <a:schemeClr val="bg1">
            <a:lumMod val="95000"/>
          </a:schemeClr>
        </a:solidFill>
      </a:spPr>
      <a:bodyPr wrap="none" rtlCol="0">
        <a:spAutoFit/>
      </a:bodyPr>
      <a:lstStyle>
        <a:defPPr algn="l">
          <a:defRPr sz="1200" dirty="0" smtClean="0">
            <a:latin typeface="Montserrat" panose="00000500000000000000" pitchFamily="2" charset="0"/>
            <a:ea typeface="微软雅黑 Light" panose="020B0502040204020203" pitchFamily="34" charset="-122"/>
          </a:defRPr>
        </a:defPPr>
      </a:lstStyle>
    </a:txDef>
  </a:objectDefaults>
  <a:extraClrSchemeLst/>
  <a:extLst>
    <a:ext uri="{05A4C25C-085E-4340-85A3-A5531E510DB2}">
      <thm15:themeFamily xmlns:thm15="http://schemas.microsoft.com/office/thememl/2012/main" name="network" id="{46C81808-7570-4E78-AC57-F45B83BAC375}" vid="{FD5715C9-145D-4F64-B972-3961662C6374}"/>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network</Template>
  <TotalTime>10401</TotalTime>
  <Words>20566</Words>
  <Application>Microsoft Office PowerPoint</Application>
  <PresentationFormat>全屏显示(16:9)</PresentationFormat>
  <Paragraphs>4796</Paragraphs>
  <Slides>271</Slides>
  <Notes>38</Notes>
  <HiddenSlides>0</HiddenSlides>
  <MMClips>0</MMClips>
  <ScaleCrop>false</ScaleCrop>
  <HeadingPairs>
    <vt:vector size="8" baseType="variant">
      <vt:variant>
        <vt:lpstr>已用的字体</vt:lpstr>
      </vt:variant>
      <vt:variant>
        <vt:i4>6</vt:i4>
      </vt:variant>
      <vt:variant>
        <vt:lpstr>主题</vt:lpstr>
      </vt:variant>
      <vt:variant>
        <vt:i4>1</vt:i4>
      </vt:variant>
      <vt:variant>
        <vt:lpstr>嵌入 OLE 服务器</vt:lpstr>
      </vt:variant>
      <vt:variant>
        <vt:i4>3</vt:i4>
      </vt:variant>
      <vt:variant>
        <vt:lpstr>幻灯片标题</vt:lpstr>
      </vt:variant>
      <vt:variant>
        <vt:i4>271</vt:i4>
      </vt:variant>
    </vt:vector>
  </HeadingPairs>
  <TitlesOfParts>
    <vt:vector size="281" baseType="lpstr">
      <vt:lpstr>Montserrat</vt:lpstr>
      <vt:lpstr>微软雅黑 Light</vt:lpstr>
      <vt:lpstr>Times New Roman</vt:lpstr>
      <vt:lpstr>微软雅黑</vt:lpstr>
      <vt:lpstr>Wingdings</vt:lpstr>
      <vt:lpstr>Arial</vt:lpstr>
      <vt:lpstr>network</vt:lpstr>
      <vt:lpstr>VISIO</vt:lpstr>
      <vt:lpstr>Visio</vt:lpstr>
      <vt:lpstr>Microsoft ClipArt Gallery</vt:lpstr>
      <vt:lpstr>PowerPoint 演示文稿</vt:lpstr>
      <vt:lpstr>PowerPoint 演示文稿</vt:lpstr>
      <vt:lpstr>PowerPoint 演示文稿</vt:lpstr>
      <vt:lpstr>计算机网络体系结构</vt:lpstr>
      <vt:lpstr>6 应用层协议</vt:lpstr>
      <vt:lpstr>6 应用层协议</vt:lpstr>
      <vt:lpstr>PowerPoint 演示文稿</vt:lpstr>
      <vt:lpstr>PowerPoint 演示文稿</vt:lpstr>
      <vt:lpstr>PowerPoint 演示文稿</vt:lpstr>
      <vt:lpstr>6.1.1  域名系统</vt:lpstr>
      <vt:lpstr>6.1.1  域名系统</vt:lpstr>
      <vt:lpstr>域名解析过程要点</vt:lpstr>
      <vt:lpstr>6.1.2   互联网的域名结构</vt:lpstr>
      <vt:lpstr>6.1.2   互联网的域名结构</vt:lpstr>
      <vt:lpstr>PowerPoint 演示文稿</vt:lpstr>
      <vt:lpstr>PowerPoint 演示文稿</vt:lpstr>
      <vt:lpstr>互联网的域名空间结构</vt:lpstr>
      <vt:lpstr>6.1.3  域名服务器</vt:lpstr>
      <vt:lpstr>PowerPoint 演示文稿</vt:lpstr>
      <vt:lpstr>PowerPoint 演示文稿</vt:lpstr>
      <vt:lpstr>6.1.3  域名服务器 - 类型</vt:lpstr>
      <vt:lpstr>6.1.3  域名服务器 - 根域名服务器</vt:lpstr>
      <vt:lpstr>6.1.3  域名服务器 - 根域名服务器</vt:lpstr>
      <vt:lpstr>6.1.3  域名服务器 - 根域名服务器</vt:lpstr>
      <vt:lpstr>6.1.3  域名服务器 - 顶级域名服务器</vt:lpstr>
      <vt:lpstr>6.1.3  域名服务器 - 权限域名服务器</vt:lpstr>
      <vt:lpstr>6.1.3  域名服务器 - 本地域名服务器</vt:lpstr>
      <vt:lpstr>6.1.3  域名服务器 - 提高域名服务器的可靠性</vt:lpstr>
      <vt:lpstr>域名解析过程</vt:lpstr>
      <vt:lpstr>递归查询</vt:lpstr>
      <vt:lpstr>迭代查询</vt:lpstr>
      <vt:lpstr>8个报文</vt:lpstr>
      <vt:lpstr>6.1.3  域名服务器 - 高速缓存</vt:lpstr>
      <vt:lpstr>PowerPoint 演示文稿</vt:lpstr>
      <vt:lpstr>PowerPoint 演示文稿</vt:lpstr>
      <vt:lpstr>6.2.1  FTP 概述</vt:lpstr>
      <vt:lpstr>6.2.1  FTP 概述</vt:lpstr>
      <vt:lpstr>6.2.2  FTP 的基本工作原理</vt:lpstr>
      <vt:lpstr>6.2.2  FTP 的基本工作原理</vt:lpstr>
      <vt:lpstr>FTP 特点</vt:lpstr>
      <vt:lpstr>FTP 主进程的工作步骤</vt:lpstr>
      <vt:lpstr>FTP 客户和服务器之间的两个从属进程和两个 TCP 连接</vt:lpstr>
      <vt:lpstr>FTP 使用两个不同的端口号</vt:lpstr>
      <vt:lpstr>NFS 采用的思路</vt:lpstr>
      <vt:lpstr>6.2.3  简单文件传送协议 TFTP</vt:lpstr>
      <vt:lpstr>6.2.3  简单文件传送协议 TFTP - 特点</vt:lpstr>
      <vt:lpstr>TFTP 的工作很像停止等待协议</vt:lpstr>
      <vt:lpstr>6.2.3  简单文件传送协议 TFTP - 工作过程</vt:lpstr>
      <vt:lpstr>PowerPoint 演示文稿</vt:lpstr>
      <vt:lpstr>6.3  远程终端协议 TELNET</vt:lpstr>
      <vt:lpstr>6.3  远程终端协议 TELNET</vt:lpstr>
      <vt:lpstr>6.3  网络虚拟终端 </vt:lpstr>
      <vt:lpstr>6.3  网络虚拟终端 </vt:lpstr>
      <vt:lpstr>PowerPoint 演示文稿</vt:lpstr>
      <vt:lpstr>6.4.1  万维网</vt:lpstr>
      <vt:lpstr>6.4.1  万维网</vt:lpstr>
      <vt:lpstr>6.4.1  万维网</vt:lpstr>
      <vt:lpstr>6.4.1  万维网</vt:lpstr>
      <vt:lpstr>6.4.1  万维网</vt:lpstr>
      <vt:lpstr>6.4.2  统一资源定位符 URL</vt:lpstr>
      <vt:lpstr>6.4.2  统一资源定位符 URL</vt:lpstr>
      <vt:lpstr>6.4.2  统一资源定位符 URL</vt:lpstr>
      <vt:lpstr>PowerPoint 演示文稿</vt:lpstr>
      <vt:lpstr>6.4.3  超文本传送协议 HTTP</vt:lpstr>
      <vt:lpstr>6.4.3  超文本传送协议 HTTP – 基本过程</vt:lpstr>
      <vt:lpstr>1.  HTTP 的操作过程</vt:lpstr>
      <vt:lpstr>6.4.3  超文本传送协议 HTTP – 基本过程</vt:lpstr>
      <vt:lpstr>6.4.3  超文本传送协议 HTTP – 基本过程</vt:lpstr>
      <vt:lpstr>6.4.3  超文本传送协议 HTTP – 基本过程</vt:lpstr>
      <vt:lpstr>6.4.3  超文本传送协议 HTTP – HTTP/1.0</vt:lpstr>
      <vt:lpstr>6.4.3  超文本传送协议 HTTP – HTTP/1.1</vt:lpstr>
      <vt:lpstr>6.4.3  超文本传送协议 HTTP – HTTP/1.1</vt:lpstr>
      <vt:lpstr>6.4.3  超文本传送协议 HTTP – HTTP/1.1</vt:lpstr>
      <vt:lpstr>6.4.3  超文本传送协议 HTTP – HTTP/2</vt:lpstr>
      <vt:lpstr>6.4.3  超文本传送协议 HTTP - 代理服务器</vt:lpstr>
      <vt:lpstr>6.4.3  超文本传送协议 HTTP - 代理服务器</vt:lpstr>
      <vt:lpstr>6.4.3  超文本传送协议 HTTP - 代理服务器</vt:lpstr>
      <vt:lpstr>6.4.3  超文本传送协议 HTTP - 代理服务器</vt:lpstr>
      <vt:lpstr>6.4.3  超文本传送协议 HTTP - 代理服务器</vt:lpstr>
      <vt:lpstr>6.4.3  超文本传送协议 HTTP - 代理服务器</vt:lpstr>
      <vt:lpstr>6.4.3  超文本传送协议 HTTP - 代理服务器</vt:lpstr>
      <vt:lpstr>6.4.3  超文本传送协议 HTTP - HTTP 的报文结构</vt:lpstr>
      <vt:lpstr>HTTP 的报文结构（请求报文）</vt:lpstr>
      <vt:lpstr>PowerPoint 演示文稿</vt:lpstr>
      <vt:lpstr>PowerPoint 演示文稿</vt:lpstr>
      <vt:lpstr>PowerPoint 演示文稿</vt:lpstr>
      <vt:lpstr>PowerPoint 演示文稿</vt:lpstr>
      <vt:lpstr>PowerPoint 演示文稿</vt:lpstr>
      <vt:lpstr>HTTP 的报文结构（响应报文）</vt:lpstr>
      <vt:lpstr>PowerPoint 演示文稿</vt:lpstr>
      <vt:lpstr>4. 在服务器上存放用户的信息</vt:lpstr>
      <vt:lpstr>6.4.4  万维网的文档</vt:lpstr>
      <vt:lpstr>6.4.4  万维网的文档 - 超文本标记语言 HTML</vt:lpstr>
      <vt:lpstr>6.4.4  万维网的文档 - 超文本标记语言 HTML</vt:lpstr>
      <vt:lpstr>6.4.4  万维网的文档 - 超文本标记语言 HTML – 标签</vt:lpstr>
      <vt:lpstr>6.4.4  万维网的文档 - 超文本标记语言 HTML – 标签</vt:lpstr>
      <vt:lpstr>6.4.4  万维网的文档 - XML</vt:lpstr>
      <vt:lpstr>6.4.4  万维网的文档 - XHTML</vt:lpstr>
      <vt:lpstr>6.4.4  万维网的文档 - CSS</vt:lpstr>
      <vt:lpstr>6.4.4  万维网的文档 - JavaScript</vt:lpstr>
      <vt:lpstr>6.4.4  万维网的文档 - 动态万维网文档</vt:lpstr>
      <vt:lpstr>6.4.4  万维网的文档 - 动态万维网文档</vt:lpstr>
      <vt:lpstr>6.4.4  万维网的文档 - 动态万维网文档</vt:lpstr>
      <vt:lpstr>6.4.4  万维网的文档 - 动态万维网文档 - CGI</vt:lpstr>
      <vt:lpstr>6.4.4  万维网的文档 - 动态万维网文档 - CGI</vt:lpstr>
      <vt:lpstr>6.4.4  万维网的文档 - 活动万维网文档</vt:lpstr>
      <vt:lpstr>6.4.4  万维网的文档 - 活动万维网文档</vt:lpstr>
      <vt:lpstr>6.4.4  万维网的文档 - 活动万维网文档</vt:lpstr>
      <vt:lpstr>6.4.5  万维网的信息检索系统</vt:lpstr>
      <vt:lpstr>6.4.5  万维网的信息检索系统 - 搜索引擎</vt:lpstr>
      <vt:lpstr>6.4.5  万维网的信息检索系统 - 搜索引擎</vt:lpstr>
      <vt:lpstr>6.4.5  万维网的信息检索系统 - 搜索引擎</vt:lpstr>
      <vt:lpstr>6.4.5  万维网的信息检索系统 - 垂直搜索引擎</vt:lpstr>
      <vt:lpstr>6.4.5  万维网的信息检索系统 - 元搜索引擎</vt:lpstr>
      <vt:lpstr>6.4.5  万维网的信息检索系统 - Google 搜索技术的特点</vt:lpstr>
      <vt:lpstr>6.4.6  博客和微博</vt:lpstr>
      <vt:lpstr>6.4.7  社交网站</vt:lpstr>
      <vt:lpstr>PowerPoint 演示文稿</vt:lpstr>
      <vt:lpstr>6.5.1  电子邮件 - 概述</vt:lpstr>
      <vt:lpstr>6.5.1  电子邮件 – 组成</vt:lpstr>
      <vt:lpstr>6.5.1 电子邮件 - 发送和接收</vt:lpstr>
      <vt:lpstr>6.5.1 电子邮件 - 发送和接收</vt:lpstr>
      <vt:lpstr>6.5.1 电子邮件 - 发送和接收</vt:lpstr>
      <vt:lpstr>6.5.1 电子邮件 - 发送和接收</vt:lpstr>
      <vt:lpstr>6.5.1 电子邮件 - 发送和接收</vt:lpstr>
      <vt:lpstr>6.5.1 电子邮件 - 发送和接收</vt:lpstr>
      <vt:lpstr>6.5.1 电子邮件 - 电子邮件的组成</vt:lpstr>
      <vt:lpstr>6.5.1 电子邮件 - 电子邮件地址的格式</vt:lpstr>
      <vt:lpstr>6.5.2  简单邮件传送协议 SMTP</vt:lpstr>
      <vt:lpstr>6.5.2  简单邮件传送协议 SMTP</vt:lpstr>
      <vt:lpstr>6.5.2  简单邮件传送协议 SMTP</vt:lpstr>
      <vt:lpstr>6.5.2  简单邮件传送协议 SMTP – 三个阶段</vt:lpstr>
      <vt:lpstr>6.5.2  简单邮件传送协议 SMTP – 三个阶段 – 连接建立</vt:lpstr>
      <vt:lpstr>6.5.2  简单邮件传送协议 SMTP – 三个阶段 – 邮件传送</vt:lpstr>
      <vt:lpstr>6.5.2  简单邮件传送协议 SMTP – 三个阶段 – 连接释放</vt:lpstr>
      <vt:lpstr>PowerPoint 演示文稿</vt:lpstr>
      <vt:lpstr>PowerPoint 演示文稿</vt:lpstr>
      <vt:lpstr>6.5.4  邮件读取协议</vt:lpstr>
      <vt:lpstr>6.5.4  邮件读取协议 - POP3</vt:lpstr>
      <vt:lpstr>6.5.4  邮件读取协议 - IMAP</vt:lpstr>
      <vt:lpstr>PowerPoint 演示文稿</vt:lpstr>
      <vt:lpstr>PowerPoint 演示文稿</vt:lpstr>
      <vt:lpstr>PowerPoint 演示文稿</vt:lpstr>
      <vt:lpstr>6.5.5  基于万维网的电子邮件</vt:lpstr>
      <vt:lpstr>6.5.5  基于万维网的电子邮件</vt:lpstr>
      <vt:lpstr>6.5.6  通用互联网邮件扩充 MIME</vt:lpstr>
      <vt:lpstr>6.5.6  通用互联网邮件扩充 MIME</vt:lpstr>
      <vt:lpstr>6.5.6  通用互联网邮件扩充 MIME – 首部</vt:lpstr>
      <vt:lpstr>6.5.6  通用互联网邮件扩充 MIME – 首部</vt:lpstr>
      <vt:lpstr>6.5.6  通用互联网邮件扩充 MIME – 首部</vt:lpstr>
      <vt:lpstr>6.5.6  通用互联网邮件扩充 MIME - 内容传送编码</vt:lpstr>
      <vt:lpstr>6.5.6  通用互联网邮件扩充 MIME - 内容传送编码</vt:lpstr>
      <vt:lpstr>6.5.6  通用互联网邮件扩充 MIME - 内容传送编码 - Quoted-printable</vt:lpstr>
      <vt:lpstr>6.5.6  通用互联网邮件扩充 MIME - 内容传送编码 - Base64</vt:lpstr>
      <vt:lpstr>6.5.6  通用互联网邮件扩充 MIME - 内容传送编码 - Base64</vt:lpstr>
      <vt:lpstr>6.5.6  通用互联网邮件扩充 MIME - 内容传送编码 - Base64</vt:lpstr>
      <vt:lpstr>6.5.6  通用互联网邮件扩充 MIME - 内容传送编码 - Base64</vt:lpstr>
      <vt:lpstr>6.5.6  通用互联网邮件扩充 MIME - 内容传送编码 - Base64</vt:lpstr>
      <vt:lpstr>6.5.6  通用互联网邮件扩充 MIME - 内容类型 </vt:lpstr>
      <vt:lpstr>6.5.6  通用互联网邮件扩充 MIME - 内容类型 </vt:lpstr>
      <vt:lpstr>6.5.6  通用互联网邮件扩充 MIME - 内容传送编码 - Base64</vt:lpstr>
      <vt:lpstr>PowerPoint 演示文稿</vt:lpstr>
      <vt:lpstr>6.6 动态主机配置协议 DHCP</vt:lpstr>
      <vt:lpstr>6.6 动态主机配置协议 DHCP</vt:lpstr>
      <vt:lpstr>DHCP 使用客户服务器方式</vt:lpstr>
      <vt:lpstr>DHCP 工作方式</vt:lpstr>
      <vt:lpstr>DHCP 工作方式</vt:lpstr>
      <vt:lpstr>DHCP 工作方式</vt:lpstr>
      <vt:lpstr>DHCP 中继代理</vt:lpstr>
      <vt:lpstr>DHCP 中继代理</vt:lpstr>
      <vt:lpstr>租用期 Lease Period</vt:lpstr>
      <vt:lpstr>DHCP 协议的工作过程</vt:lpstr>
      <vt:lpstr>DHCP 协议的工作过程</vt:lpstr>
      <vt:lpstr>DHCP 协议的工作过程</vt:lpstr>
      <vt:lpstr>DHCP 协议的工作过程</vt:lpstr>
      <vt:lpstr>DHCP 协议的工作过程</vt:lpstr>
      <vt:lpstr>DHCP 协议的工作过程</vt:lpstr>
      <vt:lpstr>DHCP 协议的工作过程</vt:lpstr>
      <vt:lpstr>DHCP 协议的工作过程</vt:lpstr>
      <vt:lpstr>DHCP 协议的工作过程</vt:lpstr>
      <vt:lpstr>DHCP 协议的工作过程</vt:lpstr>
      <vt:lpstr>DHCP 协议的工作过程</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6.9.0 P2P</vt:lpstr>
      <vt:lpstr>6.9.0 P2P – 应用</vt:lpstr>
      <vt:lpstr>6.9.1 集中目录服务器</vt:lpstr>
      <vt:lpstr>6.9.1 集中目录服务器 - 工作过程</vt:lpstr>
      <vt:lpstr>6.9.1 集中目录服务器 - 缺点</vt:lpstr>
      <vt:lpstr>6.9.2 全分布式结构</vt:lpstr>
      <vt:lpstr>6.9.2 全分布式结构 – 应用</vt:lpstr>
      <vt:lpstr>6.9.2 全分布式结构 –  BT</vt:lpstr>
      <vt:lpstr>6.9.2 全分布式结构 –  BT</vt:lpstr>
      <vt:lpstr>6.9.2 全分布式结构 –  BT</vt:lpstr>
      <vt:lpstr>6.9.2 全分布式结构 –  BT</vt:lpstr>
      <vt:lpstr>6.9.3  文件分发</vt:lpstr>
      <vt:lpstr>6.9.3  文件分发 - C/S</vt:lpstr>
      <vt:lpstr>6.9.3  文件分发 - C/S</vt:lpstr>
      <vt:lpstr>6.9.3  文件分发 - P2P</vt:lpstr>
      <vt:lpstr>6.9.3  文件分发 - 时间比较</vt:lpstr>
      <vt:lpstr>P333 6-51</vt:lpstr>
      <vt:lpstr>P333 6-51</vt:lpstr>
      <vt:lpstr>6.9.3  文件分发 – 总结</vt:lpstr>
      <vt:lpstr>6.9.4  在 P2P 对等方中搜索对象</vt:lpstr>
      <vt:lpstr>6.9.4  在 P2P 对等方中搜索对象</vt:lpstr>
      <vt:lpstr>基于 DHT 的 Chord 环</vt:lpstr>
      <vt:lpstr>基于 DHT 的 Chord 环</vt:lpstr>
      <vt:lpstr>通过指针表加速 Chord 表查找</vt:lpstr>
    </vt:vector>
  </TitlesOfParts>
  <Manager>PLA</Manager>
  <Company>54414</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Network</dc:title>
  <dc:creator>glplaman.github.io</dc:creator>
  <cp:lastModifiedBy>cn plaman</cp:lastModifiedBy>
  <cp:revision>905</cp:revision>
  <dcterms:created xsi:type="dcterms:W3CDTF">2018-07-18T08:51:30Z</dcterms:created>
  <dcterms:modified xsi:type="dcterms:W3CDTF">2025-12-04T01:22:44Z</dcterms:modified>
</cp:coreProperties>
</file>